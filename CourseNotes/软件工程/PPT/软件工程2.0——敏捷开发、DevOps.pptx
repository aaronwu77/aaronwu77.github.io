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2.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3.xml" ContentType="application/vnd.openxmlformats-officedocument.presentationml.tags+xml"/>
  <Override PartName="/ppt/notesSlides/notesSlide18.xml" ContentType="application/vnd.openxmlformats-officedocument.presentationml.notesSlide+xml"/>
  <Override PartName="/ppt/tags/tag4.xml" ContentType="application/vnd.openxmlformats-officedocument.presentationml.tags+xml"/>
  <Override PartName="/ppt/notesSlides/notesSlide19.xml" ContentType="application/vnd.openxmlformats-officedocument.presentationml.notesSlide+xml"/>
  <Override PartName="/ppt/tags/tag5.xml" ContentType="application/vnd.openxmlformats-officedocument.presentationml.tags+xml"/>
  <Override PartName="/ppt/notesSlides/notesSlide20.xml" ContentType="application/vnd.openxmlformats-officedocument.presentationml.notesSlide+xml"/>
  <Override PartName="/ppt/tags/tag6.xml" ContentType="application/vnd.openxmlformats-officedocument.presentationml.tags+xml"/>
  <Override PartName="/ppt/notesSlides/notesSlide21.xml" ContentType="application/vnd.openxmlformats-officedocument.presentationml.notesSlide+xml"/>
  <Override PartName="/ppt/tags/tag7.xml" ContentType="application/vnd.openxmlformats-officedocument.presentationml.tags+xml"/>
  <Override PartName="/ppt/notesSlides/notesSlide22.xml" ContentType="application/vnd.openxmlformats-officedocument.presentationml.notesSlide+xml"/>
  <Override PartName="/ppt/tags/tag8.xml" ContentType="application/vnd.openxmlformats-officedocument.presentationml.tags+xml"/>
  <Override PartName="/ppt/notesSlides/notesSlide23.xml" ContentType="application/vnd.openxmlformats-officedocument.presentationml.notesSlide+xml"/>
  <Override PartName="/ppt/tags/tag9.xml" ContentType="application/vnd.openxmlformats-officedocument.presentationml.tags+xml"/>
  <Override PartName="/ppt/notesSlides/notesSlide24.xml" ContentType="application/vnd.openxmlformats-officedocument.presentationml.notesSlide+xml"/>
  <Override PartName="/ppt/tags/tag10.xml" ContentType="application/vnd.openxmlformats-officedocument.presentationml.tags+xml"/>
  <Override PartName="/ppt/notesSlides/notesSlide25.xml" ContentType="application/vnd.openxmlformats-officedocument.presentationml.notesSlide+xml"/>
  <Override PartName="/ppt/tags/tag11.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8" r:id="rId2"/>
  </p:sldMasterIdLst>
  <p:notesMasterIdLst>
    <p:notesMasterId r:id="rId117"/>
  </p:notesMasterIdLst>
  <p:handoutMasterIdLst>
    <p:handoutMasterId r:id="rId118"/>
  </p:handoutMasterIdLst>
  <p:sldIdLst>
    <p:sldId id="269" r:id="rId3"/>
    <p:sldId id="323" r:id="rId4"/>
    <p:sldId id="399" r:id="rId5"/>
    <p:sldId id="378" r:id="rId6"/>
    <p:sldId id="376" r:id="rId7"/>
    <p:sldId id="421" r:id="rId8"/>
    <p:sldId id="425" r:id="rId9"/>
    <p:sldId id="422" r:id="rId10"/>
    <p:sldId id="423" r:id="rId11"/>
    <p:sldId id="424" r:id="rId12"/>
    <p:sldId id="426" r:id="rId13"/>
    <p:sldId id="379" r:id="rId14"/>
    <p:sldId id="380" r:id="rId15"/>
    <p:sldId id="381" r:id="rId16"/>
    <p:sldId id="382" r:id="rId17"/>
    <p:sldId id="383" r:id="rId18"/>
    <p:sldId id="427" r:id="rId19"/>
    <p:sldId id="384" r:id="rId20"/>
    <p:sldId id="387" r:id="rId21"/>
    <p:sldId id="388" r:id="rId22"/>
    <p:sldId id="389" r:id="rId23"/>
    <p:sldId id="386" r:id="rId24"/>
    <p:sldId id="385" r:id="rId25"/>
    <p:sldId id="390" r:id="rId26"/>
    <p:sldId id="392" r:id="rId27"/>
    <p:sldId id="391" r:id="rId28"/>
    <p:sldId id="259" r:id="rId29"/>
    <p:sldId id="428" r:id="rId30"/>
    <p:sldId id="429" r:id="rId31"/>
    <p:sldId id="430" r:id="rId32"/>
    <p:sldId id="337" r:id="rId33"/>
    <p:sldId id="431" r:id="rId34"/>
    <p:sldId id="432" r:id="rId35"/>
    <p:sldId id="433" r:id="rId36"/>
    <p:sldId id="367" r:id="rId37"/>
    <p:sldId id="368" r:id="rId38"/>
    <p:sldId id="369" r:id="rId39"/>
    <p:sldId id="370" r:id="rId40"/>
    <p:sldId id="371" r:id="rId41"/>
    <p:sldId id="372" r:id="rId42"/>
    <p:sldId id="434" r:id="rId43"/>
    <p:sldId id="374" r:id="rId44"/>
    <p:sldId id="373" r:id="rId45"/>
    <p:sldId id="375" r:id="rId46"/>
    <p:sldId id="377" r:id="rId47"/>
    <p:sldId id="358" r:id="rId48"/>
    <p:sldId id="359" r:id="rId49"/>
    <p:sldId id="360" r:id="rId50"/>
    <p:sldId id="361" r:id="rId51"/>
    <p:sldId id="362" r:id="rId52"/>
    <p:sldId id="363" r:id="rId53"/>
    <p:sldId id="364" r:id="rId54"/>
    <p:sldId id="365" r:id="rId55"/>
    <p:sldId id="442" r:id="rId56"/>
    <p:sldId id="443" r:id="rId57"/>
    <p:sldId id="444" r:id="rId58"/>
    <p:sldId id="312" r:id="rId59"/>
    <p:sldId id="445" r:id="rId60"/>
    <p:sldId id="338" r:id="rId61"/>
    <p:sldId id="339" r:id="rId62"/>
    <p:sldId id="353" r:id="rId63"/>
    <p:sldId id="398" r:id="rId64"/>
    <p:sldId id="446" r:id="rId65"/>
    <p:sldId id="356" r:id="rId66"/>
    <p:sldId id="447" r:id="rId67"/>
    <p:sldId id="357" r:id="rId68"/>
    <p:sldId id="294" r:id="rId69"/>
    <p:sldId id="347" r:id="rId70"/>
    <p:sldId id="348" r:id="rId71"/>
    <p:sldId id="349" r:id="rId72"/>
    <p:sldId id="448" r:id="rId73"/>
    <p:sldId id="449" r:id="rId74"/>
    <p:sldId id="400" r:id="rId75"/>
    <p:sldId id="450" r:id="rId76"/>
    <p:sldId id="401" r:id="rId77"/>
    <p:sldId id="451" r:id="rId78"/>
    <p:sldId id="452" r:id="rId79"/>
    <p:sldId id="453" r:id="rId80"/>
    <p:sldId id="454" r:id="rId81"/>
    <p:sldId id="455" r:id="rId82"/>
    <p:sldId id="456" r:id="rId83"/>
    <p:sldId id="350" r:id="rId84"/>
    <p:sldId id="457" r:id="rId85"/>
    <p:sldId id="396" r:id="rId86"/>
    <p:sldId id="395" r:id="rId87"/>
    <p:sldId id="393" r:id="rId88"/>
    <p:sldId id="458" r:id="rId89"/>
    <p:sldId id="296" r:id="rId90"/>
    <p:sldId id="397" r:id="rId91"/>
    <p:sldId id="351" r:id="rId92"/>
    <p:sldId id="459" r:id="rId93"/>
    <p:sldId id="460" r:id="rId94"/>
    <p:sldId id="461" r:id="rId95"/>
    <p:sldId id="462" r:id="rId96"/>
    <p:sldId id="463" r:id="rId97"/>
    <p:sldId id="464" r:id="rId98"/>
    <p:sldId id="465" r:id="rId99"/>
    <p:sldId id="466" r:id="rId100"/>
    <p:sldId id="467" r:id="rId101"/>
    <p:sldId id="468" r:id="rId102"/>
    <p:sldId id="469" r:id="rId103"/>
    <p:sldId id="470" r:id="rId104"/>
    <p:sldId id="471" r:id="rId105"/>
    <p:sldId id="472" r:id="rId106"/>
    <p:sldId id="473" r:id="rId107"/>
    <p:sldId id="474" r:id="rId108"/>
    <p:sldId id="475" r:id="rId109"/>
    <p:sldId id="476" r:id="rId110"/>
    <p:sldId id="478" r:id="rId111"/>
    <p:sldId id="366" r:id="rId112"/>
    <p:sldId id="479" r:id="rId113"/>
    <p:sldId id="480" r:id="rId114"/>
    <p:sldId id="481" r:id="rId115"/>
    <p:sldId id="482" r:id="rId116"/>
  </p:sldIdLst>
  <p:sldSz cx="12192000" cy="6858000"/>
  <p:notesSz cx="6858000" cy="9144000"/>
  <p:custDataLst>
    <p:tags r:id="rId11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40" userDrawn="1">
          <p15:clr>
            <a:srgbClr val="A4A3A4"/>
          </p15:clr>
        </p15:guide>
        <p15:guide id="2" pos="3306" userDrawn="1">
          <p15:clr>
            <a:srgbClr val="A4A3A4"/>
          </p15:clr>
        </p15:guide>
        <p15:guide id="3" orient="horz" pos="3703"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F88"/>
    <a:srgbClr val="000000"/>
    <a:srgbClr val="F6B72C"/>
    <a:srgbClr val="F9C099"/>
    <a:srgbClr val="F17116"/>
    <a:srgbClr val="FFDE75"/>
    <a:srgbClr val="FFFFFF"/>
    <a:srgbClr val="B01F24"/>
    <a:srgbClr val="979797"/>
    <a:srgbClr val="61616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535" autoAdjust="0"/>
    <p:restoredTop sz="83752" autoAdjust="0"/>
  </p:normalViewPr>
  <p:slideViewPr>
    <p:cSldViewPr snapToGrid="0" showGuides="1">
      <p:cViewPr varScale="1">
        <p:scale>
          <a:sx n="115" d="100"/>
          <a:sy n="115" d="100"/>
        </p:scale>
        <p:origin x="224" y="208"/>
      </p:cViewPr>
      <p:guideLst>
        <p:guide orient="horz" pos="740"/>
        <p:guide pos="3306"/>
        <p:guide orient="horz" pos="3703"/>
      </p:guideLst>
    </p:cSldViewPr>
  </p:slideViewPr>
  <p:notesTextViewPr>
    <p:cViewPr>
      <p:scale>
        <a:sx n="1" d="1"/>
        <a:sy n="1" d="1"/>
      </p:scale>
      <p:origin x="0" y="0"/>
    </p:cViewPr>
  </p:notesTextViewPr>
  <p:notesViewPr>
    <p:cSldViewPr snapToGrid="0">
      <p:cViewPr varScale="1">
        <p:scale>
          <a:sx n="53" d="100"/>
          <a:sy n="53" d="100"/>
        </p:scale>
        <p:origin x="2094" y="9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notesMaster" Target="notesMasters/notesMaster1.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tableStyles" Target="tableStyles.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handoutMaster" Target="handoutMasters/handoutMaster1.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tags" Target="tags/tag1.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viewProps" Target="viewProps.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55FFE6F-297C-4684-988E-C091981F5DF7}" type="doc">
      <dgm:prSet loTypeId="urn:microsoft.com/office/officeart/2005/8/layout/vList5" loCatId="list" qsTypeId="urn:microsoft.com/office/officeart/2005/8/quickstyle/simple1" qsCatId="simple" csTypeId="urn:microsoft.com/office/officeart/2005/8/colors/accent0_3" csCatId="mainScheme" phldr="1"/>
      <dgm:spPr/>
      <dgm:t>
        <a:bodyPr/>
        <a:lstStyle/>
        <a:p>
          <a:endParaRPr lang="zh-CN" altLang="en-US"/>
        </a:p>
      </dgm:t>
    </dgm:pt>
    <dgm:pt modelId="{66292534-51D4-4A3A-B456-B756F4812F3A}">
      <dgm:prSet phldrT="[文本]"/>
      <dgm:spPr/>
      <dgm:t>
        <a:bodyPr/>
        <a:lstStyle/>
        <a:p>
          <a:r>
            <a:rPr lang="en-US" altLang="zh-CN" dirty="0"/>
            <a:t>DevOps </a:t>
          </a:r>
          <a:r>
            <a:rPr lang="zh-CN" altLang="en-US" dirty="0"/>
            <a:t>不是一套自动化工具</a:t>
          </a:r>
        </a:p>
      </dgm:t>
    </dgm:pt>
    <dgm:pt modelId="{137C4B9A-721A-40A1-896A-D6164A721AE3}" type="parTrans" cxnId="{DB4F7E7B-BD03-45E8-A465-05046CBABD97}">
      <dgm:prSet/>
      <dgm:spPr/>
      <dgm:t>
        <a:bodyPr/>
        <a:lstStyle/>
        <a:p>
          <a:endParaRPr lang="zh-CN" altLang="en-US"/>
        </a:p>
      </dgm:t>
    </dgm:pt>
    <dgm:pt modelId="{22593D22-B40D-40D1-A9D1-E999EE0652A0}" type="sibTrans" cxnId="{DB4F7E7B-BD03-45E8-A465-05046CBABD97}">
      <dgm:prSet/>
      <dgm:spPr/>
      <dgm:t>
        <a:bodyPr/>
        <a:lstStyle/>
        <a:p>
          <a:endParaRPr lang="zh-CN" altLang="en-US"/>
        </a:p>
      </dgm:t>
    </dgm:pt>
    <dgm:pt modelId="{EEA0E75B-604B-400F-A766-6922BBB83596}">
      <dgm:prSet phldrT="[文本]"/>
      <dgm:spPr/>
      <dgm:t>
        <a:bodyPr/>
        <a:lstStyle/>
        <a:p>
          <a:r>
            <a:rPr lang="en-US" altLang="en-US" dirty="0"/>
            <a:t>DevOps </a:t>
          </a:r>
          <a:r>
            <a:rPr lang="zh-CN" altLang="en-US" dirty="0"/>
            <a:t>不是一套自动化工具。协作、持续交付、持续测试和持续集成不是实现工具。相反，它们是需要在项目中采用的实践。尽管确实有很多工具，比如</a:t>
          </a:r>
          <a:r>
            <a:rPr lang="en-US" altLang="en-US" dirty="0"/>
            <a:t>GitHub </a:t>
          </a:r>
          <a:r>
            <a:rPr lang="zh-CN" altLang="en-US" dirty="0"/>
            <a:t>和 </a:t>
          </a:r>
          <a:r>
            <a:rPr lang="en-US" altLang="en-US" dirty="0"/>
            <a:t>Docker</a:t>
          </a:r>
          <a:r>
            <a:rPr lang="zh-CN" altLang="en-US" dirty="0"/>
            <a:t>，它们通常都有助于 </a:t>
          </a:r>
          <a:r>
            <a:rPr lang="en-US" altLang="en-US" dirty="0"/>
            <a:t>DevOps </a:t>
          </a:r>
          <a:r>
            <a:rPr lang="zh-CN" altLang="en-US" dirty="0"/>
            <a:t>实践的实现，但是只有当团队成员知道如何优化并将它们引入到工作方法中时，它们才是有效的。</a:t>
          </a:r>
        </a:p>
      </dgm:t>
    </dgm:pt>
    <dgm:pt modelId="{C3A7A32E-7C97-4837-A367-54E1B4B697FB}" type="parTrans" cxnId="{19BE45D4-0A6C-4022-B1ED-3478ECDD8350}">
      <dgm:prSet/>
      <dgm:spPr/>
      <dgm:t>
        <a:bodyPr/>
        <a:lstStyle/>
        <a:p>
          <a:endParaRPr lang="zh-CN" altLang="en-US"/>
        </a:p>
      </dgm:t>
    </dgm:pt>
    <dgm:pt modelId="{B7CBDA19-E914-48E1-921C-0FFDCC8E184F}" type="sibTrans" cxnId="{19BE45D4-0A6C-4022-B1ED-3478ECDD8350}">
      <dgm:prSet/>
      <dgm:spPr/>
      <dgm:t>
        <a:bodyPr/>
        <a:lstStyle/>
        <a:p>
          <a:endParaRPr lang="zh-CN" altLang="en-US"/>
        </a:p>
      </dgm:t>
    </dgm:pt>
    <dgm:pt modelId="{09A75571-70FF-42A9-A665-315C113CBD6A}">
      <dgm:prSet phldrT="[文本]"/>
      <dgm:spPr/>
      <dgm:t>
        <a:bodyPr/>
        <a:lstStyle/>
        <a:p>
          <a:r>
            <a:rPr lang="en-US" altLang="zh-CN" dirty="0"/>
            <a:t>DevOps </a:t>
          </a:r>
          <a:r>
            <a:rPr lang="zh-CN" altLang="en-US" dirty="0"/>
            <a:t>没有取消 </a:t>
          </a:r>
          <a:r>
            <a:rPr lang="en-US" altLang="zh-CN" dirty="0"/>
            <a:t>IT </a:t>
          </a:r>
          <a:r>
            <a:rPr lang="zh-CN" altLang="en-US" dirty="0"/>
            <a:t>运维</a:t>
          </a:r>
        </a:p>
      </dgm:t>
    </dgm:pt>
    <dgm:pt modelId="{F2C18A2D-2D49-4E7D-B17A-CEC27B3F31A1}" type="parTrans" cxnId="{3E45C537-32DF-4645-B1DC-6304ECDD0922}">
      <dgm:prSet/>
      <dgm:spPr/>
      <dgm:t>
        <a:bodyPr/>
        <a:lstStyle/>
        <a:p>
          <a:endParaRPr lang="zh-CN" altLang="en-US"/>
        </a:p>
      </dgm:t>
    </dgm:pt>
    <dgm:pt modelId="{A76015B8-CA0B-43A0-8A03-6E109B48659D}" type="sibTrans" cxnId="{3E45C537-32DF-4645-B1DC-6304ECDD0922}">
      <dgm:prSet/>
      <dgm:spPr/>
      <dgm:t>
        <a:bodyPr/>
        <a:lstStyle/>
        <a:p>
          <a:endParaRPr lang="zh-CN" altLang="en-US"/>
        </a:p>
      </dgm:t>
    </dgm:pt>
    <dgm:pt modelId="{56060F77-14BC-48F4-AC72-B298DB8FCC8D}">
      <dgm:prSet phldrT="[文本]"/>
      <dgm:spPr/>
      <dgm:t>
        <a:bodyPr/>
        <a:lstStyle/>
        <a:p>
          <a:r>
            <a:rPr lang="zh-CN" altLang="en-US" dirty="0"/>
            <a:t>根据无运维（</a:t>
          </a:r>
          <a:r>
            <a:rPr lang="en-US" altLang="zh-CN" dirty="0" err="1"/>
            <a:t>NoOps</a:t>
          </a:r>
          <a:r>
            <a:rPr lang="zh-CN" altLang="en-US" dirty="0"/>
            <a:t>）的概念，</a:t>
          </a:r>
          <a:r>
            <a:rPr lang="en-US" altLang="zh-CN" dirty="0"/>
            <a:t>IT </a:t>
          </a:r>
          <a:r>
            <a:rPr lang="zh-CN" altLang="en-US" dirty="0"/>
            <a:t>行业将变得非常自动化，不需要任何内部团队来管理软件。然而，无论服务变得多么自动化，运维总是需要的。尽管这些运维的工作可能会有一些变化，但它们在 </a:t>
          </a:r>
          <a:r>
            <a:rPr lang="en-US" altLang="zh-CN" dirty="0"/>
            <a:t>DevOps </a:t>
          </a:r>
          <a:r>
            <a:rPr lang="zh-CN" altLang="en-US" dirty="0"/>
            <a:t>中仍然具有重要意义。</a:t>
          </a:r>
        </a:p>
      </dgm:t>
    </dgm:pt>
    <dgm:pt modelId="{D62AF65D-9F05-420C-8F15-30DA25370987}" type="parTrans" cxnId="{D51D2693-614C-420E-80EE-77AE10397093}">
      <dgm:prSet/>
      <dgm:spPr/>
      <dgm:t>
        <a:bodyPr/>
        <a:lstStyle/>
        <a:p>
          <a:endParaRPr lang="zh-CN" altLang="en-US"/>
        </a:p>
      </dgm:t>
    </dgm:pt>
    <dgm:pt modelId="{EB2DA826-941B-4ED7-A1C9-5D6A13EF07CA}" type="sibTrans" cxnId="{D51D2693-614C-420E-80EE-77AE10397093}">
      <dgm:prSet/>
      <dgm:spPr/>
      <dgm:t>
        <a:bodyPr/>
        <a:lstStyle/>
        <a:p>
          <a:endParaRPr lang="zh-CN" altLang="en-US"/>
        </a:p>
      </dgm:t>
    </dgm:pt>
    <dgm:pt modelId="{B589BF56-E430-4B90-8ECF-E57D91E7D83A}">
      <dgm:prSet phldrT="[文本]"/>
      <dgm:spPr/>
      <dgm:t>
        <a:bodyPr/>
        <a:lstStyle/>
        <a:p>
          <a:r>
            <a:rPr lang="en-US" altLang="zh-CN" dirty="0"/>
            <a:t>DevOps </a:t>
          </a:r>
          <a:r>
            <a:rPr lang="zh-CN" altLang="en-US" dirty="0"/>
            <a:t>不等同于持续交付</a:t>
          </a:r>
        </a:p>
      </dgm:t>
    </dgm:pt>
    <dgm:pt modelId="{8F538D5F-25DA-4793-8339-6C312BFE12CB}" type="parTrans" cxnId="{76E8EF81-0331-49F2-9D2C-9F9A55C57D1D}">
      <dgm:prSet/>
      <dgm:spPr/>
      <dgm:t>
        <a:bodyPr/>
        <a:lstStyle/>
        <a:p>
          <a:endParaRPr lang="zh-CN" altLang="en-US"/>
        </a:p>
      </dgm:t>
    </dgm:pt>
    <dgm:pt modelId="{72E94662-028A-4BE3-A011-28A9DDEB98F5}" type="sibTrans" cxnId="{76E8EF81-0331-49F2-9D2C-9F9A55C57D1D}">
      <dgm:prSet/>
      <dgm:spPr/>
      <dgm:t>
        <a:bodyPr/>
        <a:lstStyle/>
        <a:p>
          <a:endParaRPr lang="zh-CN" altLang="en-US"/>
        </a:p>
      </dgm:t>
    </dgm:pt>
    <dgm:pt modelId="{C196EDF5-45FD-44D8-8A6C-8244379C41F8}">
      <dgm:prSet phldrT="[文本]"/>
      <dgm:spPr/>
      <dgm:t>
        <a:bodyPr/>
        <a:lstStyle/>
        <a:p>
          <a:pPr algn="just"/>
          <a:r>
            <a:rPr lang="zh-CN" altLang="en-US" dirty="0"/>
            <a:t>尽管软件的持续交付表明企业已经实现了 </a:t>
          </a:r>
          <a:r>
            <a:rPr lang="en-US" altLang="zh-CN" dirty="0"/>
            <a:t>DevOps </a:t>
          </a:r>
          <a:r>
            <a:rPr lang="zh-CN" altLang="en-US" dirty="0"/>
            <a:t>的重要组件，但这两项服务并不能完全等同。</a:t>
          </a:r>
          <a:r>
            <a:rPr lang="en-US" altLang="zh-CN" dirty="0"/>
            <a:t>DevOps </a:t>
          </a:r>
          <a:r>
            <a:rPr lang="zh-CN" altLang="en-US" dirty="0"/>
            <a:t>的主要关注点应该是改进工作文化，维护基础设施和软件。此外，它还必须支持销售和市场部门。</a:t>
          </a:r>
        </a:p>
      </dgm:t>
    </dgm:pt>
    <dgm:pt modelId="{AAB8F18F-D1A0-49B9-9A8D-0FB2BB5E9FA1}" type="parTrans" cxnId="{3E0ADF99-6886-4E94-BB16-61BCE1F28BBC}">
      <dgm:prSet/>
      <dgm:spPr/>
      <dgm:t>
        <a:bodyPr/>
        <a:lstStyle/>
        <a:p>
          <a:endParaRPr lang="zh-CN" altLang="en-US"/>
        </a:p>
      </dgm:t>
    </dgm:pt>
    <dgm:pt modelId="{8246A5B9-E8AB-4368-B31E-8631A89054FA}" type="sibTrans" cxnId="{3E0ADF99-6886-4E94-BB16-61BCE1F28BBC}">
      <dgm:prSet/>
      <dgm:spPr/>
      <dgm:t>
        <a:bodyPr/>
        <a:lstStyle/>
        <a:p>
          <a:endParaRPr lang="zh-CN" altLang="en-US"/>
        </a:p>
      </dgm:t>
    </dgm:pt>
    <dgm:pt modelId="{8988E280-05A0-4EB3-AF81-D2814DD258FC}" type="pres">
      <dgm:prSet presAssocID="{855FFE6F-297C-4684-988E-C091981F5DF7}" presName="Name0" presStyleCnt="0">
        <dgm:presLayoutVars>
          <dgm:dir/>
          <dgm:animLvl val="lvl"/>
          <dgm:resizeHandles val="exact"/>
        </dgm:presLayoutVars>
      </dgm:prSet>
      <dgm:spPr/>
    </dgm:pt>
    <dgm:pt modelId="{B811A405-08F9-4CE3-A64F-D8534864F080}" type="pres">
      <dgm:prSet presAssocID="{66292534-51D4-4A3A-B456-B756F4812F3A}" presName="linNode" presStyleCnt="0"/>
      <dgm:spPr/>
    </dgm:pt>
    <dgm:pt modelId="{45F02109-4385-49EC-8BA6-BCB8B86A66FB}" type="pres">
      <dgm:prSet presAssocID="{66292534-51D4-4A3A-B456-B756F4812F3A}" presName="parentText" presStyleLbl="node1" presStyleIdx="0" presStyleCnt="3" custScaleX="82052">
        <dgm:presLayoutVars>
          <dgm:chMax val="1"/>
          <dgm:bulletEnabled val="1"/>
        </dgm:presLayoutVars>
      </dgm:prSet>
      <dgm:spPr/>
    </dgm:pt>
    <dgm:pt modelId="{40D6E4F5-9C73-42BD-B0DC-A450F91E91AF}" type="pres">
      <dgm:prSet presAssocID="{66292534-51D4-4A3A-B456-B756F4812F3A}" presName="descendantText" presStyleLbl="alignAccFollowNode1" presStyleIdx="0" presStyleCnt="3">
        <dgm:presLayoutVars>
          <dgm:bulletEnabled val="1"/>
        </dgm:presLayoutVars>
      </dgm:prSet>
      <dgm:spPr/>
    </dgm:pt>
    <dgm:pt modelId="{6ED6C8CB-D9C0-4237-82A2-D9F0E2EEC3EB}" type="pres">
      <dgm:prSet presAssocID="{22593D22-B40D-40D1-A9D1-E999EE0652A0}" presName="sp" presStyleCnt="0"/>
      <dgm:spPr/>
    </dgm:pt>
    <dgm:pt modelId="{D9D13F96-CF36-4775-9FB4-32FF9A862482}" type="pres">
      <dgm:prSet presAssocID="{09A75571-70FF-42A9-A665-315C113CBD6A}" presName="linNode" presStyleCnt="0"/>
      <dgm:spPr/>
    </dgm:pt>
    <dgm:pt modelId="{88E9130A-CB81-4FEE-B97A-018EE73FB64D}" type="pres">
      <dgm:prSet presAssocID="{09A75571-70FF-42A9-A665-315C113CBD6A}" presName="parentText" presStyleLbl="node1" presStyleIdx="1" presStyleCnt="3" custScaleX="82052">
        <dgm:presLayoutVars>
          <dgm:chMax val="1"/>
          <dgm:bulletEnabled val="1"/>
        </dgm:presLayoutVars>
      </dgm:prSet>
      <dgm:spPr/>
    </dgm:pt>
    <dgm:pt modelId="{E9E38168-228D-42C5-B3D9-DAAF9F271C63}" type="pres">
      <dgm:prSet presAssocID="{09A75571-70FF-42A9-A665-315C113CBD6A}" presName="descendantText" presStyleLbl="alignAccFollowNode1" presStyleIdx="1" presStyleCnt="3">
        <dgm:presLayoutVars>
          <dgm:bulletEnabled val="1"/>
        </dgm:presLayoutVars>
      </dgm:prSet>
      <dgm:spPr/>
    </dgm:pt>
    <dgm:pt modelId="{704E775E-51ED-42A3-906F-F4D345C8FFB1}" type="pres">
      <dgm:prSet presAssocID="{A76015B8-CA0B-43A0-8A03-6E109B48659D}" presName="sp" presStyleCnt="0"/>
      <dgm:spPr/>
    </dgm:pt>
    <dgm:pt modelId="{C55FD998-3382-46E2-A6B9-663641868D61}" type="pres">
      <dgm:prSet presAssocID="{B589BF56-E430-4B90-8ECF-E57D91E7D83A}" presName="linNode" presStyleCnt="0"/>
      <dgm:spPr/>
    </dgm:pt>
    <dgm:pt modelId="{89B22E02-F503-47EF-8F1D-C12C390B5FC0}" type="pres">
      <dgm:prSet presAssocID="{B589BF56-E430-4B90-8ECF-E57D91E7D83A}" presName="parentText" presStyleLbl="node1" presStyleIdx="2" presStyleCnt="3" custScaleX="82052">
        <dgm:presLayoutVars>
          <dgm:chMax val="1"/>
          <dgm:bulletEnabled val="1"/>
        </dgm:presLayoutVars>
      </dgm:prSet>
      <dgm:spPr/>
    </dgm:pt>
    <dgm:pt modelId="{D8BAF8B1-BA52-416C-A946-0F836FA5B70D}" type="pres">
      <dgm:prSet presAssocID="{B589BF56-E430-4B90-8ECF-E57D91E7D83A}" presName="descendantText" presStyleLbl="alignAccFollowNode1" presStyleIdx="2" presStyleCnt="3">
        <dgm:presLayoutVars>
          <dgm:bulletEnabled val="1"/>
        </dgm:presLayoutVars>
      </dgm:prSet>
      <dgm:spPr/>
    </dgm:pt>
  </dgm:ptLst>
  <dgm:cxnLst>
    <dgm:cxn modelId="{E7C5B012-926F-4715-8679-AC0FE060D6A2}" type="presOf" srcId="{EEA0E75B-604B-400F-A766-6922BBB83596}" destId="{40D6E4F5-9C73-42BD-B0DC-A450F91E91AF}" srcOrd="0" destOrd="0" presId="urn:microsoft.com/office/officeart/2005/8/layout/vList5"/>
    <dgm:cxn modelId="{3E45C537-32DF-4645-B1DC-6304ECDD0922}" srcId="{855FFE6F-297C-4684-988E-C091981F5DF7}" destId="{09A75571-70FF-42A9-A665-315C113CBD6A}" srcOrd="1" destOrd="0" parTransId="{F2C18A2D-2D49-4E7D-B17A-CEC27B3F31A1}" sibTransId="{A76015B8-CA0B-43A0-8A03-6E109B48659D}"/>
    <dgm:cxn modelId="{DD6CB169-118B-420F-8B53-5FE659244DD4}" type="presOf" srcId="{855FFE6F-297C-4684-988E-C091981F5DF7}" destId="{8988E280-05A0-4EB3-AF81-D2814DD258FC}" srcOrd="0" destOrd="0" presId="urn:microsoft.com/office/officeart/2005/8/layout/vList5"/>
    <dgm:cxn modelId="{DB4F7E7B-BD03-45E8-A465-05046CBABD97}" srcId="{855FFE6F-297C-4684-988E-C091981F5DF7}" destId="{66292534-51D4-4A3A-B456-B756F4812F3A}" srcOrd="0" destOrd="0" parTransId="{137C4B9A-721A-40A1-896A-D6164A721AE3}" sibTransId="{22593D22-B40D-40D1-A9D1-E999EE0652A0}"/>
    <dgm:cxn modelId="{76E8EF81-0331-49F2-9D2C-9F9A55C57D1D}" srcId="{855FFE6F-297C-4684-988E-C091981F5DF7}" destId="{B589BF56-E430-4B90-8ECF-E57D91E7D83A}" srcOrd="2" destOrd="0" parTransId="{8F538D5F-25DA-4793-8339-6C312BFE12CB}" sibTransId="{72E94662-028A-4BE3-A011-28A9DDEB98F5}"/>
    <dgm:cxn modelId="{D51D2693-614C-420E-80EE-77AE10397093}" srcId="{09A75571-70FF-42A9-A665-315C113CBD6A}" destId="{56060F77-14BC-48F4-AC72-B298DB8FCC8D}" srcOrd="0" destOrd="0" parTransId="{D62AF65D-9F05-420C-8F15-30DA25370987}" sibTransId="{EB2DA826-941B-4ED7-A1C9-5D6A13EF07CA}"/>
    <dgm:cxn modelId="{3E0ADF99-6886-4E94-BB16-61BCE1F28BBC}" srcId="{B589BF56-E430-4B90-8ECF-E57D91E7D83A}" destId="{C196EDF5-45FD-44D8-8A6C-8244379C41F8}" srcOrd="0" destOrd="0" parTransId="{AAB8F18F-D1A0-49B9-9A8D-0FB2BB5E9FA1}" sibTransId="{8246A5B9-E8AB-4368-B31E-8631A89054FA}"/>
    <dgm:cxn modelId="{59BB1EA4-BDB7-4522-9C49-FABD25941727}" type="presOf" srcId="{B589BF56-E430-4B90-8ECF-E57D91E7D83A}" destId="{89B22E02-F503-47EF-8F1D-C12C390B5FC0}" srcOrd="0" destOrd="0" presId="urn:microsoft.com/office/officeart/2005/8/layout/vList5"/>
    <dgm:cxn modelId="{8D6641AC-A46F-491A-A29F-2F56D44AC883}" type="presOf" srcId="{09A75571-70FF-42A9-A665-315C113CBD6A}" destId="{88E9130A-CB81-4FEE-B97A-018EE73FB64D}" srcOrd="0" destOrd="0" presId="urn:microsoft.com/office/officeart/2005/8/layout/vList5"/>
    <dgm:cxn modelId="{19BE45D4-0A6C-4022-B1ED-3478ECDD8350}" srcId="{66292534-51D4-4A3A-B456-B756F4812F3A}" destId="{EEA0E75B-604B-400F-A766-6922BBB83596}" srcOrd="0" destOrd="0" parTransId="{C3A7A32E-7C97-4837-A367-54E1B4B697FB}" sibTransId="{B7CBDA19-E914-48E1-921C-0FFDCC8E184F}"/>
    <dgm:cxn modelId="{A1653EE1-C611-4F79-B3D4-68268B74CBD9}" type="presOf" srcId="{C196EDF5-45FD-44D8-8A6C-8244379C41F8}" destId="{D8BAF8B1-BA52-416C-A946-0F836FA5B70D}" srcOrd="0" destOrd="0" presId="urn:microsoft.com/office/officeart/2005/8/layout/vList5"/>
    <dgm:cxn modelId="{6338EAE6-8F01-436E-8DE2-4BA6087DBE6D}" type="presOf" srcId="{66292534-51D4-4A3A-B456-B756F4812F3A}" destId="{45F02109-4385-49EC-8BA6-BCB8B86A66FB}" srcOrd="0" destOrd="0" presId="urn:microsoft.com/office/officeart/2005/8/layout/vList5"/>
    <dgm:cxn modelId="{48A26BEF-182C-4F77-BC79-0756E82D8EA5}" type="presOf" srcId="{56060F77-14BC-48F4-AC72-B298DB8FCC8D}" destId="{E9E38168-228D-42C5-B3D9-DAAF9F271C63}" srcOrd="0" destOrd="0" presId="urn:microsoft.com/office/officeart/2005/8/layout/vList5"/>
    <dgm:cxn modelId="{71A8B8AB-C43E-4314-80A3-3AE71F1AECF7}" type="presParOf" srcId="{8988E280-05A0-4EB3-AF81-D2814DD258FC}" destId="{B811A405-08F9-4CE3-A64F-D8534864F080}" srcOrd="0" destOrd="0" presId="urn:microsoft.com/office/officeart/2005/8/layout/vList5"/>
    <dgm:cxn modelId="{3EB9B453-A2EB-4A68-97F8-C5780697F19D}" type="presParOf" srcId="{B811A405-08F9-4CE3-A64F-D8534864F080}" destId="{45F02109-4385-49EC-8BA6-BCB8B86A66FB}" srcOrd="0" destOrd="0" presId="urn:microsoft.com/office/officeart/2005/8/layout/vList5"/>
    <dgm:cxn modelId="{3FCDC5AE-CD5A-4C92-9462-49DC3F0A31E0}" type="presParOf" srcId="{B811A405-08F9-4CE3-A64F-D8534864F080}" destId="{40D6E4F5-9C73-42BD-B0DC-A450F91E91AF}" srcOrd="1" destOrd="0" presId="urn:microsoft.com/office/officeart/2005/8/layout/vList5"/>
    <dgm:cxn modelId="{6012E04B-1B7F-44A4-BB95-6791C278448E}" type="presParOf" srcId="{8988E280-05A0-4EB3-AF81-D2814DD258FC}" destId="{6ED6C8CB-D9C0-4237-82A2-D9F0E2EEC3EB}" srcOrd="1" destOrd="0" presId="urn:microsoft.com/office/officeart/2005/8/layout/vList5"/>
    <dgm:cxn modelId="{879630BB-B4C6-4E8E-B78C-BB72CCF9D4DC}" type="presParOf" srcId="{8988E280-05A0-4EB3-AF81-D2814DD258FC}" destId="{D9D13F96-CF36-4775-9FB4-32FF9A862482}" srcOrd="2" destOrd="0" presId="urn:microsoft.com/office/officeart/2005/8/layout/vList5"/>
    <dgm:cxn modelId="{CC793836-A628-46B2-8119-0459D37F348D}" type="presParOf" srcId="{D9D13F96-CF36-4775-9FB4-32FF9A862482}" destId="{88E9130A-CB81-4FEE-B97A-018EE73FB64D}" srcOrd="0" destOrd="0" presId="urn:microsoft.com/office/officeart/2005/8/layout/vList5"/>
    <dgm:cxn modelId="{5D270847-D6EC-4651-8362-9BD016E017C8}" type="presParOf" srcId="{D9D13F96-CF36-4775-9FB4-32FF9A862482}" destId="{E9E38168-228D-42C5-B3D9-DAAF9F271C63}" srcOrd="1" destOrd="0" presId="urn:microsoft.com/office/officeart/2005/8/layout/vList5"/>
    <dgm:cxn modelId="{4DF53873-179E-4EC1-8DEB-B6BF78F698D3}" type="presParOf" srcId="{8988E280-05A0-4EB3-AF81-D2814DD258FC}" destId="{704E775E-51ED-42A3-906F-F4D345C8FFB1}" srcOrd="3" destOrd="0" presId="urn:microsoft.com/office/officeart/2005/8/layout/vList5"/>
    <dgm:cxn modelId="{A72A8109-E8DC-4492-9F64-8B17D83C78D9}" type="presParOf" srcId="{8988E280-05A0-4EB3-AF81-D2814DD258FC}" destId="{C55FD998-3382-46E2-A6B9-663641868D61}" srcOrd="4" destOrd="0" presId="urn:microsoft.com/office/officeart/2005/8/layout/vList5"/>
    <dgm:cxn modelId="{5F0858DF-604A-418A-9538-E3C759F0F40B}" type="presParOf" srcId="{C55FD998-3382-46E2-A6B9-663641868D61}" destId="{89B22E02-F503-47EF-8F1D-C12C390B5FC0}" srcOrd="0" destOrd="0" presId="urn:microsoft.com/office/officeart/2005/8/layout/vList5"/>
    <dgm:cxn modelId="{7CAE6F07-E8E4-4813-A265-81C5C60440DB}" type="presParOf" srcId="{C55FD998-3382-46E2-A6B9-663641868D61}" destId="{D8BAF8B1-BA52-416C-A946-0F836FA5B70D}"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93A7175-6A48-44EE-924E-3B9DEA0850C1}" type="doc">
      <dgm:prSet loTypeId="urn:microsoft.com/office/officeart/2005/8/layout/process1" loCatId="process" qsTypeId="urn:microsoft.com/office/officeart/2005/8/quickstyle/simple1" qsCatId="simple" csTypeId="urn:microsoft.com/office/officeart/2005/8/colors/accent2_2" csCatId="accent2" phldr="1"/>
      <dgm:spPr/>
    </dgm:pt>
    <dgm:pt modelId="{EF1D8A9B-FCF5-472F-A0F3-4193870C4809}">
      <dgm:prSet phldrT="[文本]"/>
      <dgm:spPr/>
      <dgm:t>
        <a:bodyPr/>
        <a:lstStyle/>
        <a:p>
          <a:r>
            <a:rPr lang="zh-CN" altLang="en-US" b="0" i="0" dirty="0">
              <a:effectLst/>
              <a:latin typeface="Arial" panose="020B0604020202020204" pitchFamily="34" charset="0"/>
            </a:rPr>
            <a:t>统一的分支策略</a:t>
          </a:r>
          <a:endParaRPr lang="zh-CN" altLang="en-US" dirty="0"/>
        </a:p>
      </dgm:t>
    </dgm:pt>
    <dgm:pt modelId="{B325508E-0120-4FFB-B3EA-56B059495FBC}" type="parTrans" cxnId="{0C4B1B66-6572-4E71-9ED6-C3B53B0B4545}">
      <dgm:prSet/>
      <dgm:spPr/>
      <dgm:t>
        <a:bodyPr/>
        <a:lstStyle/>
        <a:p>
          <a:endParaRPr lang="zh-CN" altLang="en-US"/>
        </a:p>
      </dgm:t>
    </dgm:pt>
    <dgm:pt modelId="{0112AFD2-85D7-48B3-9C1B-8E67B6CEF72F}" type="sibTrans" cxnId="{0C4B1B66-6572-4E71-9ED6-C3B53B0B4545}">
      <dgm:prSet/>
      <dgm:spPr/>
      <dgm:t>
        <a:bodyPr/>
        <a:lstStyle/>
        <a:p>
          <a:endParaRPr lang="zh-CN" altLang="en-US"/>
        </a:p>
      </dgm:t>
    </dgm:pt>
    <dgm:pt modelId="{B87F479E-55F7-4E14-984D-44F18A4027B1}">
      <dgm:prSet phldrT="[文本]"/>
      <dgm:spPr/>
      <dgm:t>
        <a:bodyPr/>
        <a:lstStyle/>
        <a:p>
          <a:r>
            <a:rPr lang="zh-CN" altLang="en-US" b="0" i="0" dirty="0">
              <a:effectLst/>
              <a:latin typeface="Arial" panose="020B0604020202020204" pitchFamily="34" charset="0"/>
            </a:rPr>
            <a:t>清晰的集成规则</a:t>
          </a:r>
          <a:endParaRPr lang="zh-CN" altLang="en-US" dirty="0"/>
        </a:p>
      </dgm:t>
    </dgm:pt>
    <dgm:pt modelId="{B5601FB7-E11C-4C43-B7C2-F07BB9DBBDA5}" type="parTrans" cxnId="{864D2132-30DC-47B3-86BB-1C871357E2C5}">
      <dgm:prSet/>
      <dgm:spPr/>
      <dgm:t>
        <a:bodyPr/>
        <a:lstStyle/>
        <a:p>
          <a:endParaRPr lang="zh-CN" altLang="en-US"/>
        </a:p>
      </dgm:t>
    </dgm:pt>
    <dgm:pt modelId="{A3DCE3A9-3CE2-493E-9B2F-EAFEB0904907}" type="sibTrans" cxnId="{864D2132-30DC-47B3-86BB-1C871357E2C5}">
      <dgm:prSet/>
      <dgm:spPr/>
      <dgm:t>
        <a:bodyPr/>
        <a:lstStyle/>
        <a:p>
          <a:endParaRPr lang="zh-CN" altLang="en-US"/>
        </a:p>
      </dgm:t>
    </dgm:pt>
    <dgm:pt modelId="{C34715A1-EFDF-4E67-BA88-3D9D2D91DF37}">
      <dgm:prSet phldrT="[文本]"/>
      <dgm:spPr/>
      <dgm:t>
        <a:bodyPr/>
        <a:lstStyle/>
        <a:p>
          <a:r>
            <a:rPr lang="zh-CN" altLang="en-US" b="0" i="0" dirty="0">
              <a:effectLst/>
              <a:latin typeface="Arial" panose="020B0604020202020204" pitchFamily="34" charset="0"/>
            </a:rPr>
            <a:t>标准化的资源池</a:t>
          </a:r>
          <a:endParaRPr lang="zh-CN" altLang="en-US" dirty="0"/>
        </a:p>
      </dgm:t>
    </dgm:pt>
    <dgm:pt modelId="{05B2EC27-24A7-46D2-8124-90B25F2EE1A8}" type="parTrans" cxnId="{E5934E97-DB40-460A-9BAF-79AED5151CC7}">
      <dgm:prSet/>
      <dgm:spPr/>
      <dgm:t>
        <a:bodyPr/>
        <a:lstStyle/>
        <a:p>
          <a:endParaRPr lang="zh-CN" altLang="en-US"/>
        </a:p>
      </dgm:t>
    </dgm:pt>
    <dgm:pt modelId="{873D7693-3D2A-4DCC-B8AE-31199C0F53F9}" type="sibTrans" cxnId="{E5934E97-DB40-460A-9BAF-79AED5151CC7}">
      <dgm:prSet/>
      <dgm:spPr/>
      <dgm:t>
        <a:bodyPr/>
        <a:lstStyle/>
        <a:p>
          <a:endParaRPr lang="zh-CN" altLang="en-US"/>
        </a:p>
      </dgm:t>
    </dgm:pt>
    <dgm:pt modelId="{A527FCD0-6332-4FD1-AFF9-28F110CD4042}">
      <dgm:prSet phldrT="[文本]"/>
      <dgm:spPr/>
      <dgm:t>
        <a:bodyPr/>
        <a:lstStyle/>
        <a:p>
          <a:r>
            <a:rPr lang="zh-CN" altLang="en-US" b="0" i="0">
              <a:effectLst/>
              <a:latin typeface="Arial" panose="020B0604020202020204" pitchFamily="34" charset="0"/>
            </a:rPr>
            <a:t>足够快的反馈周期</a:t>
          </a:r>
          <a:endParaRPr lang="zh-CN" altLang="en-US" dirty="0"/>
        </a:p>
      </dgm:t>
    </dgm:pt>
    <dgm:pt modelId="{7C8B24D1-0EC8-4EE2-9E30-F5E4E48F1EAA}" type="parTrans" cxnId="{8771B9DE-A43A-4F34-B016-A48858C66A12}">
      <dgm:prSet/>
      <dgm:spPr/>
      <dgm:t>
        <a:bodyPr/>
        <a:lstStyle/>
        <a:p>
          <a:endParaRPr lang="zh-CN" altLang="en-US"/>
        </a:p>
      </dgm:t>
    </dgm:pt>
    <dgm:pt modelId="{1A22C2F6-80D4-4AA9-BD76-5875830E8366}" type="sibTrans" cxnId="{8771B9DE-A43A-4F34-B016-A48858C66A12}">
      <dgm:prSet/>
      <dgm:spPr/>
      <dgm:t>
        <a:bodyPr/>
        <a:lstStyle/>
        <a:p>
          <a:endParaRPr lang="zh-CN" altLang="en-US"/>
        </a:p>
      </dgm:t>
    </dgm:pt>
    <dgm:pt modelId="{4855F5A0-5698-48A8-AD96-2631C9AEF2BD}" type="pres">
      <dgm:prSet presAssocID="{D93A7175-6A48-44EE-924E-3B9DEA0850C1}" presName="Name0" presStyleCnt="0">
        <dgm:presLayoutVars>
          <dgm:dir/>
          <dgm:resizeHandles val="exact"/>
        </dgm:presLayoutVars>
      </dgm:prSet>
      <dgm:spPr/>
    </dgm:pt>
    <dgm:pt modelId="{CD4B1C1F-D2A0-454F-9D11-4874B243F150}" type="pres">
      <dgm:prSet presAssocID="{EF1D8A9B-FCF5-472F-A0F3-4193870C4809}" presName="node" presStyleLbl="node1" presStyleIdx="0" presStyleCnt="4">
        <dgm:presLayoutVars>
          <dgm:bulletEnabled val="1"/>
        </dgm:presLayoutVars>
      </dgm:prSet>
      <dgm:spPr/>
    </dgm:pt>
    <dgm:pt modelId="{C8CDB72D-EF83-489F-A9AF-CFC322F0F7E8}" type="pres">
      <dgm:prSet presAssocID="{0112AFD2-85D7-48B3-9C1B-8E67B6CEF72F}" presName="sibTrans" presStyleLbl="sibTrans2D1" presStyleIdx="0" presStyleCnt="3"/>
      <dgm:spPr/>
    </dgm:pt>
    <dgm:pt modelId="{BB40FA9C-6449-48E7-940F-767D80C2AE22}" type="pres">
      <dgm:prSet presAssocID="{0112AFD2-85D7-48B3-9C1B-8E67B6CEF72F}" presName="connectorText" presStyleLbl="sibTrans2D1" presStyleIdx="0" presStyleCnt="3"/>
      <dgm:spPr/>
    </dgm:pt>
    <dgm:pt modelId="{2D4E3701-045F-40A0-82D4-275BB4A5CCFF}" type="pres">
      <dgm:prSet presAssocID="{B87F479E-55F7-4E14-984D-44F18A4027B1}" presName="node" presStyleLbl="node1" presStyleIdx="1" presStyleCnt="4">
        <dgm:presLayoutVars>
          <dgm:bulletEnabled val="1"/>
        </dgm:presLayoutVars>
      </dgm:prSet>
      <dgm:spPr/>
    </dgm:pt>
    <dgm:pt modelId="{A6F462CC-247B-42CE-A414-3702430F182C}" type="pres">
      <dgm:prSet presAssocID="{A3DCE3A9-3CE2-493E-9B2F-EAFEB0904907}" presName="sibTrans" presStyleLbl="sibTrans2D1" presStyleIdx="1" presStyleCnt="3"/>
      <dgm:spPr/>
    </dgm:pt>
    <dgm:pt modelId="{550E6820-7D35-47C5-8FEE-3E1FA0E1F2BE}" type="pres">
      <dgm:prSet presAssocID="{A3DCE3A9-3CE2-493E-9B2F-EAFEB0904907}" presName="connectorText" presStyleLbl="sibTrans2D1" presStyleIdx="1" presStyleCnt="3"/>
      <dgm:spPr/>
    </dgm:pt>
    <dgm:pt modelId="{BA765493-A5F3-4D02-8F1F-45EB7B165741}" type="pres">
      <dgm:prSet presAssocID="{C34715A1-EFDF-4E67-BA88-3D9D2D91DF37}" presName="node" presStyleLbl="node1" presStyleIdx="2" presStyleCnt="4">
        <dgm:presLayoutVars>
          <dgm:bulletEnabled val="1"/>
        </dgm:presLayoutVars>
      </dgm:prSet>
      <dgm:spPr/>
    </dgm:pt>
    <dgm:pt modelId="{741C46E1-86D6-46CE-959D-5AD6AC04460A}" type="pres">
      <dgm:prSet presAssocID="{873D7693-3D2A-4DCC-B8AE-31199C0F53F9}" presName="sibTrans" presStyleLbl="sibTrans2D1" presStyleIdx="2" presStyleCnt="3"/>
      <dgm:spPr/>
    </dgm:pt>
    <dgm:pt modelId="{F4A73E50-F61A-4F4F-818E-507710A46C31}" type="pres">
      <dgm:prSet presAssocID="{873D7693-3D2A-4DCC-B8AE-31199C0F53F9}" presName="connectorText" presStyleLbl="sibTrans2D1" presStyleIdx="2" presStyleCnt="3"/>
      <dgm:spPr/>
    </dgm:pt>
    <dgm:pt modelId="{A40624BE-EC87-472B-BFCE-317348926242}" type="pres">
      <dgm:prSet presAssocID="{A527FCD0-6332-4FD1-AFF9-28F110CD4042}" presName="node" presStyleLbl="node1" presStyleIdx="3" presStyleCnt="4">
        <dgm:presLayoutVars>
          <dgm:bulletEnabled val="1"/>
        </dgm:presLayoutVars>
      </dgm:prSet>
      <dgm:spPr/>
    </dgm:pt>
  </dgm:ptLst>
  <dgm:cxnLst>
    <dgm:cxn modelId="{5D3A9B13-0B79-432D-BC69-8ECA200AA884}" type="presOf" srcId="{C34715A1-EFDF-4E67-BA88-3D9D2D91DF37}" destId="{BA765493-A5F3-4D02-8F1F-45EB7B165741}" srcOrd="0" destOrd="0" presId="urn:microsoft.com/office/officeart/2005/8/layout/process1"/>
    <dgm:cxn modelId="{864D2132-30DC-47B3-86BB-1C871357E2C5}" srcId="{D93A7175-6A48-44EE-924E-3B9DEA0850C1}" destId="{B87F479E-55F7-4E14-984D-44F18A4027B1}" srcOrd="1" destOrd="0" parTransId="{B5601FB7-E11C-4C43-B7C2-F07BB9DBBDA5}" sibTransId="{A3DCE3A9-3CE2-493E-9B2F-EAFEB0904907}"/>
    <dgm:cxn modelId="{21D07B4B-7B22-4E54-BFB3-B6ED3138CCD3}" type="presOf" srcId="{D93A7175-6A48-44EE-924E-3B9DEA0850C1}" destId="{4855F5A0-5698-48A8-AD96-2631C9AEF2BD}" srcOrd="0" destOrd="0" presId="urn:microsoft.com/office/officeart/2005/8/layout/process1"/>
    <dgm:cxn modelId="{95189459-6C8F-438A-BF57-C42F1D5E044E}" type="presOf" srcId="{A3DCE3A9-3CE2-493E-9B2F-EAFEB0904907}" destId="{A6F462CC-247B-42CE-A414-3702430F182C}" srcOrd="0" destOrd="0" presId="urn:microsoft.com/office/officeart/2005/8/layout/process1"/>
    <dgm:cxn modelId="{7CA6EE5C-87E4-444F-8F4A-2EACA8220BF0}" type="presOf" srcId="{EF1D8A9B-FCF5-472F-A0F3-4193870C4809}" destId="{CD4B1C1F-D2A0-454F-9D11-4874B243F150}" srcOrd="0" destOrd="0" presId="urn:microsoft.com/office/officeart/2005/8/layout/process1"/>
    <dgm:cxn modelId="{0C4B1B66-6572-4E71-9ED6-C3B53B0B4545}" srcId="{D93A7175-6A48-44EE-924E-3B9DEA0850C1}" destId="{EF1D8A9B-FCF5-472F-A0F3-4193870C4809}" srcOrd="0" destOrd="0" parTransId="{B325508E-0120-4FFB-B3EA-56B059495FBC}" sibTransId="{0112AFD2-85D7-48B3-9C1B-8E67B6CEF72F}"/>
    <dgm:cxn modelId="{B338226A-57FA-44B1-A7B8-47116ED5B20F}" type="presOf" srcId="{0112AFD2-85D7-48B3-9C1B-8E67B6CEF72F}" destId="{C8CDB72D-EF83-489F-A9AF-CFC322F0F7E8}" srcOrd="0" destOrd="0" presId="urn:microsoft.com/office/officeart/2005/8/layout/process1"/>
    <dgm:cxn modelId="{CEEEF675-4F01-4235-8E98-231F0E1B55E1}" type="presOf" srcId="{B87F479E-55F7-4E14-984D-44F18A4027B1}" destId="{2D4E3701-045F-40A0-82D4-275BB4A5CCFF}" srcOrd="0" destOrd="0" presId="urn:microsoft.com/office/officeart/2005/8/layout/process1"/>
    <dgm:cxn modelId="{E5934E97-DB40-460A-9BAF-79AED5151CC7}" srcId="{D93A7175-6A48-44EE-924E-3B9DEA0850C1}" destId="{C34715A1-EFDF-4E67-BA88-3D9D2D91DF37}" srcOrd="2" destOrd="0" parTransId="{05B2EC27-24A7-46D2-8124-90B25F2EE1A8}" sibTransId="{873D7693-3D2A-4DCC-B8AE-31199C0F53F9}"/>
    <dgm:cxn modelId="{FEE604A7-ADB9-48A3-B038-3CD5AEAADE80}" type="presOf" srcId="{A527FCD0-6332-4FD1-AFF9-28F110CD4042}" destId="{A40624BE-EC87-472B-BFCE-317348926242}" srcOrd="0" destOrd="0" presId="urn:microsoft.com/office/officeart/2005/8/layout/process1"/>
    <dgm:cxn modelId="{DC865BB3-F394-4172-980E-A2245025E874}" type="presOf" srcId="{873D7693-3D2A-4DCC-B8AE-31199C0F53F9}" destId="{F4A73E50-F61A-4F4F-818E-507710A46C31}" srcOrd="1" destOrd="0" presId="urn:microsoft.com/office/officeart/2005/8/layout/process1"/>
    <dgm:cxn modelId="{DA636ED7-8BBC-45A3-9D3B-500E2BB55CE4}" type="presOf" srcId="{873D7693-3D2A-4DCC-B8AE-31199C0F53F9}" destId="{741C46E1-86D6-46CE-959D-5AD6AC04460A}" srcOrd="0" destOrd="0" presId="urn:microsoft.com/office/officeart/2005/8/layout/process1"/>
    <dgm:cxn modelId="{D916B3D9-1C23-42A5-A28E-C939D6CD9FBE}" type="presOf" srcId="{A3DCE3A9-3CE2-493E-9B2F-EAFEB0904907}" destId="{550E6820-7D35-47C5-8FEE-3E1FA0E1F2BE}" srcOrd="1" destOrd="0" presId="urn:microsoft.com/office/officeart/2005/8/layout/process1"/>
    <dgm:cxn modelId="{8771B9DE-A43A-4F34-B016-A48858C66A12}" srcId="{D93A7175-6A48-44EE-924E-3B9DEA0850C1}" destId="{A527FCD0-6332-4FD1-AFF9-28F110CD4042}" srcOrd="3" destOrd="0" parTransId="{7C8B24D1-0EC8-4EE2-9E30-F5E4E48F1EAA}" sibTransId="{1A22C2F6-80D4-4AA9-BD76-5875830E8366}"/>
    <dgm:cxn modelId="{A2C605EE-6AA4-4ED9-9832-9B041821D33E}" type="presOf" srcId="{0112AFD2-85D7-48B3-9C1B-8E67B6CEF72F}" destId="{BB40FA9C-6449-48E7-940F-767D80C2AE22}" srcOrd="1" destOrd="0" presId="urn:microsoft.com/office/officeart/2005/8/layout/process1"/>
    <dgm:cxn modelId="{7C639B5C-4ADF-467C-8298-43D16114E25E}" type="presParOf" srcId="{4855F5A0-5698-48A8-AD96-2631C9AEF2BD}" destId="{CD4B1C1F-D2A0-454F-9D11-4874B243F150}" srcOrd="0" destOrd="0" presId="urn:microsoft.com/office/officeart/2005/8/layout/process1"/>
    <dgm:cxn modelId="{98FB055D-C30A-47EE-9EC2-26E98AB2AC76}" type="presParOf" srcId="{4855F5A0-5698-48A8-AD96-2631C9AEF2BD}" destId="{C8CDB72D-EF83-489F-A9AF-CFC322F0F7E8}" srcOrd="1" destOrd="0" presId="urn:microsoft.com/office/officeart/2005/8/layout/process1"/>
    <dgm:cxn modelId="{B429521E-004C-4714-8035-D7A643516C05}" type="presParOf" srcId="{C8CDB72D-EF83-489F-A9AF-CFC322F0F7E8}" destId="{BB40FA9C-6449-48E7-940F-767D80C2AE22}" srcOrd="0" destOrd="0" presId="urn:microsoft.com/office/officeart/2005/8/layout/process1"/>
    <dgm:cxn modelId="{8635E02C-0BCA-4F2D-B38A-B811F92AF016}" type="presParOf" srcId="{4855F5A0-5698-48A8-AD96-2631C9AEF2BD}" destId="{2D4E3701-045F-40A0-82D4-275BB4A5CCFF}" srcOrd="2" destOrd="0" presId="urn:microsoft.com/office/officeart/2005/8/layout/process1"/>
    <dgm:cxn modelId="{49671DAD-02DD-4F13-BB6A-21E096070A4F}" type="presParOf" srcId="{4855F5A0-5698-48A8-AD96-2631C9AEF2BD}" destId="{A6F462CC-247B-42CE-A414-3702430F182C}" srcOrd="3" destOrd="0" presId="urn:microsoft.com/office/officeart/2005/8/layout/process1"/>
    <dgm:cxn modelId="{91565D76-F988-4EFD-B515-B75218084B06}" type="presParOf" srcId="{A6F462CC-247B-42CE-A414-3702430F182C}" destId="{550E6820-7D35-47C5-8FEE-3E1FA0E1F2BE}" srcOrd="0" destOrd="0" presId="urn:microsoft.com/office/officeart/2005/8/layout/process1"/>
    <dgm:cxn modelId="{3B6B288F-9FDA-43BE-8568-28DBE7F2E7D9}" type="presParOf" srcId="{4855F5A0-5698-48A8-AD96-2631C9AEF2BD}" destId="{BA765493-A5F3-4D02-8F1F-45EB7B165741}" srcOrd="4" destOrd="0" presId="urn:microsoft.com/office/officeart/2005/8/layout/process1"/>
    <dgm:cxn modelId="{0519CF33-67F7-4635-9F91-10BE7F5BD606}" type="presParOf" srcId="{4855F5A0-5698-48A8-AD96-2631C9AEF2BD}" destId="{741C46E1-86D6-46CE-959D-5AD6AC04460A}" srcOrd="5" destOrd="0" presId="urn:microsoft.com/office/officeart/2005/8/layout/process1"/>
    <dgm:cxn modelId="{7B3D193C-30B9-4041-A098-1540F397BD10}" type="presParOf" srcId="{741C46E1-86D6-46CE-959D-5AD6AC04460A}" destId="{F4A73E50-F61A-4F4F-818E-507710A46C31}" srcOrd="0" destOrd="0" presId="urn:microsoft.com/office/officeart/2005/8/layout/process1"/>
    <dgm:cxn modelId="{57876628-F9E6-4C39-B524-5578E85C938F}" type="presParOf" srcId="{4855F5A0-5698-48A8-AD96-2631C9AEF2BD}" destId="{A40624BE-EC87-472B-BFCE-317348926242}" srcOrd="6"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C335EF2-2ED9-4D49-8E9C-429615503F4E}"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F19611DE-8B58-46F0-8EB9-93CE603C5111}">
      <dgm:prSet custT="1"/>
      <dgm:spPr>
        <a:solidFill>
          <a:schemeClr val="tx2"/>
        </a:solidFill>
      </dgm:spPr>
      <dgm:t>
        <a:bodyPr/>
        <a:lstStyle/>
        <a:p>
          <a:r>
            <a:rPr lang="en" altLang="zh-CN" sz="2200" b="0" i="0" dirty="0">
              <a:solidFill>
                <a:schemeClr val="bg1"/>
              </a:solidFill>
              <a:effectLst/>
              <a:latin typeface="+mn-ea"/>
            </a:rPr>
            <a:t>Jenkins</a:t>
          </a:r>
          <a:endParaRPr lang="en-US" sz="2200" dirty="0">
            <a:solidFill>
              <a:schemeClr val="bg1"/>
            </a:solidFill>
          </a:endParaRPr>
        </a:p>
      </dgm:t>
    </dgm:pt>
    <dgm:pt modelId="{843B3204-E510-42EF-8F84-970142B95D95}" type="parTrans" cxnId="{47216663-FE47-4676-893D-A25E729E7012}">
      <dgm:prSet/>
      <dgm:spPr/>
      <dgm:t>
        <a:bodyPr/>
        <a:lstStyle/>
        <a:p>
          <a:endParaRPr lang="en-US"/>
        </a:p>
      </dgm:t>
    </dgm:pt>
    <dgm:pt modelId="{52FC67A8-A801-420A-99EB-DDC59FC587AA}" type="sibTrans" cxnId="{47216663-FE47-4676-893D-A25E729E7012}">
      <dgm:prSet/>
      <dgm:spPr/>
      <dgm:t>
        <a:bodyPr/>
        <a:lstStyle/>
        <a:p>
          <a:endParaRPr lang="en-US"/>
        </a:p>
      </dgm:t>
    </dgm:pt>
    <dgm:pt modelId="{C56CDE80-D105-423F-B756-B2A291500C95}">
      <dgm:prSet custT="1"/>
      <dgm:spPr>
        <a:solidFill>
          <a:schemeClr val="accent2"/>
        </a:solidFill>
      </dgm:spPr>
      <dgm:t>
        <a:bodyPr/>
        <a:lstStyle/>
        <a:p>
          <a:r>
            <a:rPr lang="en" altLang="zh-CN" sz="2200" b="0" i="0" dirty="0">
              <a:solidFill>
                <a:schemeClr val="bg1"/>
              </a:solidFill>
              <a:effectLst/>
              <a:latin typeface="+mn-ea"/>
            </a:rPr>
            <a:t>Travis CI</a:t>
          </a:r>
          <a:endParaRPr lang="en-US" sz="2200" dirty="0">
            <a:solidFill>
              <a:schemeClr val="bg1"/>
            </a:solidFill>
          </a:endParaRPr>
        </a:p>
      </dgm:t>
    </dgm:pt>
    <dgm:pt modelId="{E18CC46B-54C1-4B9A-8F55-FD3C7502C738}" type="parTrans" cxnId="{C23F4D1F-4821-4B82-B6C1-C082EA33280A}">
      <dgm:prSet/>
      <dgm:spPr/>
      <dgm:t>
        <a:bodyPr/>
        <a:lstStyle/>
        <a:p>
          <a:endParaRPr lang="en-US"/>
        </a:p>
      </dgm:t>
    </dgm:pt>
    <dgm:pt modelId="{B6EADED9-B4A1-433F-90C2-FA140964FA6C}" type="sibTrans" cxnId="{C23F4D1F-4821-4B82-B6C1-C082EA33280A}">
      <dgm:prSet/>
      <dgm:spPr/>
      <dgm:t>
        <a:bodyPr/>
        <a:lstStyle/>
        <a:p>
          <a:endParaRPr lang="en-US"/>
        </a:p>
      </dgm:t>
    </dgm:pt>
    <dgm:pt modelId="{1D5B5EEC-527F-4739-8953-5EDF9897F01E}">
      <dgm:prSet custT="1"/>
      <dgm:spPr>
        <a:solidFill>
          <a:schemeClr val="accent2">
            <a:lumMod val="40000"/>
            <a:lumOff val="60000"/>
          </a:schemeClr>
        </a:solidFill>
      </dgm:spPr>
      <dgm:t>
        <a:bodyPr/>
        <a:lstStyle/>
        <a:p>
          <a:r>
            <a:rPr lang="en" altLang="zh-CN" sz="2200" b="0" i="0" dirty="0">
              <a:solidFill>
                <a:schemeClr val="bg1"/>
              </a:solidFill>
              <a:effectLst/>
              <a:latin typeface="+mn-ea"/>
            </a:rPr>
            <a:t>Circle CI</a:t>
          </a:r>
          <a:endParaRPr lang="en-US" sz="2200" dirty="0">
            <a:solidFill>
              <a:schemeClr val="bg1"/>
            </a:solidFill>
          </a:endParaRPr>
        </a:p>
      </dgm:t>
    </dgm:pt>
    <dgm:pt modelId="{7CEF9F79-E9ED-405A-B962-FFDF21933D00}" type="parTrans" cxnId="{D38F94B1-C8F4-4E9F-AD9F-6C30E97B3BA7}">
      <dgm:prSet/>
      <dgm:spPr/>
      <dgm:t>
        <a:bodyPr/>
        <a:lstStyle/>
        <a:p>
          <a:endParaRPr lang="en-US"/>
        </a:p>
      </dgm:t>
    </dgm:pt>
    <dgm:pt modelId="{E35C5FE7-B061-43E6-8917-D267C28869BE}" type="sibTrans" cxnId="{D38F94B1-C8F4-4E9F-AD9F-6C30E97B3BA7}">
      <dgm:prSet/>
      <dgm:spPr/>
      <dgm:t>
        <a:bodyPr/>
        <a:lstStyle/>
        <a:p>
          <a:endParaRPr lang="en-US"/>
        </a:p>
      </dgm:t>
    </dgm:pt>
    <dgm:pt modelId="{B2A267DF-7C1E-4E3F-82CB-226E78F362AF}">
      <dgm:prSet custT="1"/>
      <dgm:spPr>
        <a:solidFill>
          <a:schemeClr val="tx2">
            <a:lumMod val="40000"/>
            <a:lumOff val="60000"/>
          </a:schemeClr>
        </a:solidFill>
      </dgm:spPr>
      <dgm:t>
        <a:bodyPr/>
        <a:lstStyle/>
        <a:p>
          <a:r>
            <a:rPr lang="en" altLang="zh-CN" sz="2200" b="0" i="0" dirty="0">
              <a:solidFill>
                <a:schemeClr val="bg1"/>
              </a:solidFill>
              <a:effectLst/>
              <a:latin typeface="+mn-ea"/>
            </a:rPr>
            <a:t>TeamCity</a:t>
          </a:r>
          <a:endParaRPr lang="en-US" sz="2200" dirty="0">
            <a:solidFill>
              <a:schemeClr val="bg1"/>
            </a:solidFill>
          </a:endParaRPr>
        </a:p>
      </dgm:t>
    </dgm:pt>
    <dgm:pt modelId="{1B41529B-E0F9-43C1-B348-A34FE0749925}" type="parTrans" cxnId="{C6E721F2-DA5C-4B34-90D9-9795D32D0DD5}">
      <dgm:prSet/>
      <dgm:spPr/>
      <dgm:t>
        <a:bodyPr/>
        <a:lstStyle/>
        <a:p>
          <a:endParaRPr lang="en-US"/>
        </a:p>
      </dgm:t>
    </dgm:pt>
    <dgm:pt modelId="{24F62A03-9EA8-4737-95FF-2721FCAB6671}" type="sibTrans" cxnId="{C6E721F2-DA5C-4B34-90D9-9795D32D0DD5}">
      <dgm:prSet/>
      <dgm:spPr/>
      <dgm:t>
        <a:bodyPr/>
        <a:lstStyle/>
        <a:p>
          <a:endParaRPr lang="en-US"/>
        </a:p>
      </dgm:t>
    </dgm:pt>
    <dgm:pt modelId="{564744D0-4A79-44F8-8083-7F631E9B3D55}">
      <dgm:prSet custT="1"/>
      <dgm:spPr>
        <a:solidFill>
          <a:schemeClr val="accent3">
            <a:lumMod val="60000"/>
            <a:lumOff val="40000"/>
          </a:schemeClr>
        </a:solidFill>
      </dgm:spPr>
      <dgm:t>
        <a:bodyPr/>
        <a:lstStyle/>
        <a:p>
          <a:r>
            <a:rPr lang="en" altLang="zh-CN" sz="2200" b="0" i="0" dirty="0" err="1">
              <a:solidFill>
                <a:schemeClr val="bg1"/>
              </a:solidFill>
              <a:effectLst/>
              <a:latin typeface="+mn-ea"/>
            </a:rPr>
            <a:t>Codeship</a:t>
          </a:r>
          <a:endParaRPr lang="en-US" sz="2200" dirty="0">
            <a:solidFill>
              <a:schemeClr val="bg1"/>
            </a:solidFill>
          </a:endParaRPr>
        </a:p>
      </dgm:t>
    </dgm:pt>
    <dgm:pt modelId="{91FC9AB8-7145-421D-B324-FBCCC5B70FCC}" type="parTrans" cxnId="{DC0D7D2F-D4E1-4ADE-AE11-7D19501A38AE}">
      <dgm:prSet/>
      <dgm:spPr/>
      <dgm:t>
        <a:bodyPr/>
        <a:lstStyle/>
        <a:p>
          <a:endParaRPr lang="en-US"/>
        </a:p>
      </dgm:t>
    </dgm:pt>
    <dgm:pt modelId="{CD6BAD80-DC41-4860-8439-AAEA6E21212D}" type="sibTrans" cxnId="{DC0D7D2F-D4E1-4ADE-AE11-7D19501A38AE}">
      <dgm:prSet/>
      <dgm:spPr/>
      <dgm:t>
        <a:bodyPr/>
        <a:lstStyle/>
        <a:p>
          <a:endParaRPr lang="en-US"/>
        </a:p>
      </dgm:t>
    </dgm:pt>
    <dgm:pt modelId="{1F57335C-6A90-4ECF-920A-5C231F63EF24}">
      <dgm:prSet custT="1"/>
      <dgm:spPr>
        <a:solidFill>
          <a:schemeClr val="accent3">
            <a:lumMod val="40000"/>
            <a:lumOff val="60000"/>
          </a:schemeClr>
        </a:solidFill>
      </dgm:spPr>
      <dgm:t>
        <a:bodyPr/>
        <a:lstStyle/>
        <a:p>
          <a:r>
            <a:rPr lang="en" altLang="zh-CN" sz="2200" b="0" i="0" dirty="0">
              <a:solidFill>
                <a:schemeClr val="bg1"/>
              </a:solidFill>
              <a:effectLst/>
              <a:latin typeface="+mn-ea"/>
            </a:rPr>
            <a:t>GitLab CI</a:t>
          </a:r>
          <a:endParaRPr lang="en-US" sz="2200" dirty="0">
            <a:solidFill>
              <a:schemeClr val="bg1"/>
            </a:solidFill>
          </a:endParaRPr>
        </a:p>
      </dgm:t>
    </dgm:pt>
    <dgm:pt modelId="{830F7194-0058-4FBD-8296-7D00A4A06849}" type="parTrans" cxnId="{C673BD30-E274-4F53-87F7-70E6A036AB86}">
      <dgm:prSet/>
      <dgm:spPr/>
      <dgm:t>
        <a:bodyPr/>
        <a:lstStyle/>
        <a:p>
          <a:endParaRPr lang="en-US"/>
        </a:p>
      </dgm:t>
    </dgm:pt>
    <dgm:pt modelId="{1E0E623D-B6AA-42D5-B9DB-2BA497139C50}" type="sibTrans" cxnId="{C673BD30-E274-4F53-87F7-70E6A036AB86}">
      <dgm:prSet/>
      <dgm:spPr/>
      <dgm:t>
        <a:bodyPr/>
        <a:lstStyle/>
        <a:p>
          <a:endParaRPr lang="en-US"/>
        </a:p>
      </dgm:t>
    </dgm:pt>
    <dgm:pt modelId="{39BA683B-3A40-4EDC-9145-1C845E87DB2B}">
      <dgm:prSet custT="1"/>
      <dgm:spPr>
        <a:solidFill>
          <a:schemeClr val="accent3">
            <a:lumMod val="60000"/>
            <a:lumOff val="40000"/>
          </a:schemeClr>
        </a:solidFill>
      </dgm:spPr>
      <dgm:t>
        <a:bodyPr/>
        <a:lstStyle/>
        <a:p>
          <a:r>
            <a:rPr lang="en" altLang="zh-CN" sz="2200" b="0" i="0" dirty="0">
              <a:solidFill>
                <a:schemeClr val="bg1"/>
              </a:solidFill>
              <a:effectLst/>
              <a:latin typeface="+mn-ea"/>
            </a:rPr>
            <a:t>Bamboo</a:t>
          </a:r>
          <a:endParaRPr lang="en-US" sz="2200" dirty="0">
            <a:solidFill>
              <a:schemeClr val="bg1"/>
            </a:solidFill>
          </a:endParaRPr>
        </a:p>
      </dgm:t>
    </dgm:pt>
    <dgm:pt modelId="{EE192739-F5AD-4C1F-83B6-7E918DD8305B}" type="parTrans" cxnId="{5A0F89E6-857D-4340-8D8B-8C339FA6333B}">
      <dgm:prSet/>
      <dgm:spPr/>
      <dgm:t>
        <a:bodyPr/>
        <a:lstStyle/>
        <a:p>
          <a:endParaRPr lang="en-US"/>
        </a:p>
      </dgm:t>
    </dgm:pt>
    <dgm:pt modelId="{EAA52FC9-1376-45D8-9DC9-89650AB7F3D9}" type="sibTrans" cxnId="{5A0F89E6-857D-4340-8D8B-8C339FA6333B}">
      <dgm:prSet/>
      <dgm:spPr/>
      <dgm:t>
        <a:bodyPr/>
        <a:lstStyle/>
        <a:p>
          <a:endParaRPr lang="en-US"/>
        </a:p>
      </dgm:t>
    </dgm:pt>
    <dgm:pt modelId="{7076F156-D50A-41DC-94FC-003F4C4EAB91}">
      <dgm:prSet custT="1"/>
      <dgm:spPr>
        <a:solidFill>
          <a:srgbClr val="FF0000"/>
        </a:solidFill>
      </dgm:spPr>
      <dgm:t>
        <a:bodyPr/>
        <a:lstStyle/>
        <a:p>
          <a:r>
            <a:rPr lang="en-US" altLang="zh-CN" sz="2200" b="0" i="0" dirty="0">
              <a:solidFill>
                <a:schemeClr val="bg1"/>
              </a:solidFill>
            </a:rPr>
            <a:t>GitHub</a:t>
          </a:r>
          <a:r>
            <a:rPr lang="zh-CN" altLang="en-US" sz="2200" b="0" i="0" dirty="0">
              <a:solidFill>
                <a:schemeClr val="bg1"/>
              </a:solidFill>
            </a:rPr>
            <a:t> </a:t>
          </a:r>
          <a:r>
            <a:rPr lang="en-US" altLang="zh-CN" sz="2200" b="0" i="0" dirty="0">
              <a:solidFill>
                <a:schemeClr val="bg1"/>
              </a:solidFill>
            </a:rPr>
            <a:t>CI</a:t>
          </a:r>
          <a:endParaRPr lang="en-US" sz="2200" dirty="0">
            <a:solidFill>
              <a:schemeClr val="bg1"/>
            </a:solidFill>
          </a:endParaRPr>
        </a:p>
      </dgm:t>
    </dgm:pt>
    <dgm:pt modelId="{BB2366C3-5B29-4117-8FEA-C18960603E35}" type="parTrans" cxnId="{41739C16-9B3D-48C4-9E26-A1738E44838B}">
      <dgm:prSet/>
      <dgm:spPr/>
      <dgm:t>
        <a:bodyPr/>
        <a:lstStyle/>
        <a:p>
          <a:endParaRPr lang="en-US"/>
        </a:p>
      </dgm:t>
    </dgm:pt>
    <dgm:pt modelId="{159F3C09-3E5B-4871-8EEB-D29C21F880B6}" type="sibTrans" cxnId="{41739C16-9B3D-48C4-9E26-A1738E44838B}">
      <dgm:prSet/>
      <dgm:spPr/>
      <dgm:t>
        <a:bodyPr/>
        <a:lstStyle/>
        <a:p>
          <a:endParaRPr lang="en-US"/>
        </a:p>
      </dgm:t>
    </dgm:pt>
    <dgm:pt modelId="{E072FFC0-96A5-4BAF-9A74-2E762D5DB43F}" type="pres">
      <dgm:prSet presAssocID="{5C335EF2-2ED9-4D49-8E9C-429615503F4E}" presName="diagram" presStyleCnt="0">
        <dgm:presLayoutVars>
          <dgm:dir/>
          <dgm:resizeHandles val="exact"/>
        </dgm:presLayoutVars>
      </dgm:prSet>
      <dgm:spPr/>
    </dgm:pt>
    <dgm:pt modelId="{718CDC42-8E03-4FA6-A0F8-0E6448EF3B37}" type="pres">
      <dgm:prSet presAssocID="{F19611DE-8B58-46F0-8EB9-93CE603C5111}" presName="node" presStyleLbl="node1" presStyleIdx="0" presStyleCnt="8">
        <dgm:presLayoutVars>
          <dgm:bulletEnabled val="1"/>
        </dgm:presLayoutVars>
      </dgm:prSet>
      <dgm:spPr/>
    </dgm:pt>
    <dgm:pt modelId="{F0C38081-3FCF-4D39-BDDC-F3F8A7DE82C9}" type="pres">
      <dgm:prSet presAssocID="{52FC67A8-A801-420A-99EB-DDC59FC587AA}" presName="sibTrans" presStyleCnt="0"/>
      <dgm:spPr/>
    </dgm:pt>
    <dgm:pt modelId="{B3742F96-B0EE-445B-897B-F86F344ED112}" type="pres">
      <dgm:prSet presAssocID="{C56CDE80-D105-423F-B756-B2A291500C95}" presName="node" presStyleLbl="node1" presStyleIdx="1" presStyleCnt="8">
        <dgm:presLayoutVars>
          <dgm:bulletEnabled val="1"/>
        </dgm:presLayoutVars>
      </dgm:prSet>
      <dgm:spPr/>
    </dgm:pt>
    <dgm:pt modelId="{C9E38FE0-6374-4F69-BF93-5CF22CAA569F}" type="pres">
      <dgm:prSet presAssocID="{B6EADED9-B4A1-433F-90C2-FA140964FA6C}" presName="sibTrans" presStyleCnt="0"/>
      <dgm:spPr/>
    </dgm:pt>
    <dgm:pt modelId="{8CED9FF1-8C6F-417A-A2E4-8504331A90AE}" type="pres">
      <dgm:prSet presAssocID="{1D5B5EEC-527F-4739-8953-5EDF9897F01E}" presName="node" presStyleLbl="node1" presStyleIdx="2" presStyleCnt="8">
        <dgm:presLayoutVars>
          <dgm:bulletEnabled val="1"/>
        </dgm:presLayoutVars>
      </dgm:prSet>
      <dgm:spPr/>
    </dgm:pt>
    <dgm:pt modelId="{8F8B2758-8C33-4142-A81F-AE723A40E999}" type="pres">
      <dgm:prSet presAssocID="{E35C5FE7-B061-43E6-8917-D267C28869BE}" presName="sibTrans" presStyleCnt="0"/>
      <dgm:spPr/>
    </dgm:pt>
    <dgm:pt modelId="{47DB15A9-9B8C-4BC3-9DEB-C923BF0C1808}" type="pres">
      <dgm:prSet presAssocID="{B2A267DF-7C1E-4E3F-82CB-226E78F362AF}" presName="node" presStyleLbl="node1" presStyleIdx="3" presStyleCnt="8">
        <dgm:presLayoutVars>
          <dgm:bulletEnabled val="1"/>
        </dgm:presLayoutVars>
      </dgm:prSet>
      <dgm:spPr/>
    </dgm:pt>
    <dgm:pt modelId="{B29437E4-798D-4AB6-974C-412B8B9CD810}" type="pres">
      <dgm:prSet presAssocID="{24F62A03-9EA8-4737-95FF-2721FCAB6671}" presName="sibTrans" presStyleCnt="0"/>
      <dgm:spPr/>
    </dgm:pt>
    <dgm:pt modelId="{5D9E12CC-0587-4297-83D4-4CAB3D3795C4}" type="pres">
      <dgm:prSet presAssocID="{564744D0-4A79-44F8-8083-7F631E9B3D55}" presName="node" presStyleLbl="node1" presStyleIdx="4" presStyleCnt="8">
        <dgm:presLayoutVars>
          <dgm:bulletEnabled val="1"/>
        </dgm:presLayoutVars>
      </dgm:prSet>
      <dgm:spPr/>
    </dgm:pt>
    <dgm:pt modelId="{F54028B7-0418-454A-99BF-4A1B1D7076AB}" type="pres">
      <dgm:prSet presAssocID="{CD6BAD80-DC41-4860-8439-AAEA6E21212D}" presName="sibTrans" presStyleCnt="0"/>
      <dgm:spPr/>
    </dgm:pt>
    <dgm:pt modelId="{DE5E9512-042C-43A7-9EFE-4F09E62DDBF0}" type="pres">
      <dgm:prSet presAssocID="{1F57335C-6A90-4ECF-920A-5C231F63EF24}" presName="node" presStyleLbl="node1" presStyleIdx="5" presStyleCnt="8">
        <dgm:presLayoutVars>
          <dgm:bulletEnabled val="1"/>
        </dgm:presLayoutVars>
      </dgm:prSet>
      <dgm:spPr/>
    </dgm:pt>
    <dgm:pt modelId="{8655A22D-9FD6-4190-B296-BD1E2A1649DD}" type="pres">
      <dgm:prSet presAssocID="{1E0E623D-B6AA-42D5-B9DB-2BA497139C50}" presName="sibTrans" presStyleCnt="0"/>
      <dgm:spPr/>
    </dgm:pt>
    <dgm:pt modelId="{C435D5FE-E413-4A4C-89DA-DAA204FA8681}" type="pres">
      <dgm:prSet presAssocID="{39BA683B-3A40-4EDC-9145-1C845E87DB2B}" presName="node" presStyleLbl="node1" presStyleIdx="6" presStyleCnt="8">
        <dgm:presLayoutVars>
          <dgm:bulletEnabled val="1"/>
        </dgm:presLayoutVars>
      </dgm:prSet>
      <dgm:spPr/>
    </dgm:pt>
    <dgm:pt modelId="{09BE7720-EDDC-4568-B23E-F7F4EE8D40A9}" type="pres">
      <dgm:prSet presAssocID="{EAA52FC9-1376-45D8-9DC9-89650AB7F3D9}" presName="sibTrans" presStyleCnt="0"/>
      <dgm:spPr/>
    </dgm:pt>
    <dgm:pt modelId="{A820CB14-F438-4600-9646-DCA8F5D31245}" type="pres">
      <dgm:prSet presAssocID="{7076F156-D50A-41DC-94FC-003F4C4EAB91}" presName="node" presStyleLbl="node1" presStyleIdx="7" presStyleCnt="8">
        <dgm:presLayoutVars>
          <dgm:bulletEnabled val="1"/>
        </dgm:presLayoutVars>
      </dgm:prSet>
      <dgm:spPr/>
    </dgm:pt>
  </dgm:ptLst>
  <dgm:cxnLst>
    <dgm:cxn modelId="{EA013E00-1831-4832-A413-3CC760D4526D}" type="presOf" srcId="{7076F156-D50A-41DC-94FC-003F4C4EAB91}" destId="{A820CB14-F438-4600-9646-DCA8F5D31245}" srcOrd="0" destOrd="0" presId="urn:microsoft.com/office/officeart/2005/8/layout/default"/>
    <dgm:cxn modelId="{69509E0B-2ADA-46F6-8F04-54C895924861}" type="presOf" srcId="{564744D0-4A79-44F8-8083-7F631E9B3D55}" destId="{5D9E12CC-0587-4297-83D4-4CAB3D3795C4}" srcOrd="0" destOrd="0" presId="urn:microsoft.com/office/officeart/2005/8/layout/default"/>
    <dgm:cxn modelId="{41739C16-9B3D-48C4-9E26-A1738E44838B}" srcId="{5C335EF2-2ED9-4D49-8E9C-429615503F4E}" destId="{7076F156-D50A-41DC-94FC-003F4C4EAB91}" srcOrd="7" destOrd="0" parTransId="{BB2366C3-5B29-4117-8FEA-C18960603E35}" sibTransId="{159F3C09-3E5B-4871-8EEB-D29C21F880B6}"/>
    <dgm:cxn modelId="{C23F4D1F-4821-4B82-B6C1-C082EA33280A}" srcId="{5C335EF2-2ED9-4D49-8E9C-429615503F4E}" destId="{C56CDE80-D105-423F-B756-B2A291500C95}" srcOrd="1" destOrd="0" parTransId="{E18CC46B-54C1-4B9A-8F55-FD3C7502C738}" sibTransId="{B6EADED9-B4A1-433F-90C2-FA140964FA6C}"/>
    <dgm:cxn modelId="{DC0D7D2F-D4E1-4ADE-AE11-7D19501A38AE}" srcId="{5C335EF2-2ED9-4D49-8E9C-429615503F4E}" destId="{564744D0-4A79-44F8-8083-7F631E9B3D55}" srcOrd="4" destOrd="0" parTransId="{91FC9AB8-7145-421D-B324-FBCCC5B70FCC}" sibTransId="{CD6BAD80-DC41-4860-8439-AAEA6E21212D}"/>
    <dgm:cxn modelId="{C673BD30-E274-4F53-87F7-70E6A036AB86}" srcId="{5C335EF2-2ED9-4D49-8E9C-429615503F4E}" destId="{1F57335C-6A90-4ECF-920A-5C231F63EF24}" srcOrd="5" destOrd="0" parTransId="{830F7194-0058-4FBD-8296-7D00A4A06849}" sibTransId="{1E0E623D-B6AA-42D5-B9DB-2BA497139C50}"/>
    <dgm:cxn modelId="{B4EAC533-315D-41CE-99FC-48F5DEC9E79B}" type="presOf" srcId="{1D5B5EEC-527F-4739-8953-5EDF9897F01E}" destId="{8CED9FF1-8C6F-417A-A2E4-8504331A90AE}" srcOrd="0" destOrd="0" presId="urn:microsoft.com/office/officeart/2005/8/layout/default"/>
    <dgm:cxn modelId="{47216663-FE47-4676-893D-A25E729E7012}" srcId="{5C335EF2-2ED9-4D49-8E9C-429615503F4E}" destId="{F19611DE-8B58-46F0-8EB9-93CE603C5111}" srcOrd="0" destOrd="0" parTransId="{843B3204-E510-42EF-8F84-970142B95D95}" sibTransId="{52FC67A8-A801-420A-99EB-DDC59FC587AA}"/>
    <dgm:cxn modelId="{C170A765-347A-44DE-8CF4-FFED2CAEA222}" type="presOf" srcId="{39BA683B-3A40-4EDC-9145-1C845E87DB2B}" destId="{C435D5FE-E413-4A4C-89DA-DAA204FA8681}" srcOrd="0" destOrd="0" presId="urn:microsoft.com/office/officeart/2005/8/layout/default"/>
    <dgm:cxn modelId="{F29C217F-28D1-49BF-846C-44A6473BEF44}" type="presOf" srcId="{5C335EF2-2ED9-4D49-8E9C-429615503F4E}" destId="{E072FFC0-96A5-4BAF-9A74-2E762D5DB43F}" srcOrd="0" destOrd="0" presId="urn:microsoft.com/office/officeart/2005/8/layout/default"/>
    <dgm:cxn modelId="{C833A5A0-A9FC-43C0-9A34-6D60C8F9F4DC}" type="presOf" srcId="{F19611DE-8B58-46F0-8EB9-93CE603C5111}" destId="{718CDC42-8E03-4FA6-A0F8-0E6448EF3B37}" srcOrd="0" destOrd="0" presId="urn:microsoft.com/office/officeart/2005/8/layout/default"/>
    <dgm:cxn modelId="{D38F94B1-C8F4-4E9F-AD9F-6C30E97B3BA7}" srcId="{5C335EF2-2ED9-4D49-8E9C-429615503F4E}" destId="{1D5B5EEC-527F-4739-8953-5EDF9897F01E}" srcOrd="2" destOrd="0" parTransId="{7CEF9F79-E9ED-405A-B962-FFDF21933D00}" sibTransId="{E35C5FE7-B061-43E6-8917-D267C28869BE}"/>
    <dgm:cxn modelId="{A2ECC1C4-ED71-4863-BEF8-86EBD12FFBC9}" type="presOf" srcId="{B2A267DF-7C1E-4E3F-82CB-226E78F362AF}" destId="{47DB15A9-9B8C-4BC3-9DEB-C923BF0C1808}" srcOrd="0" destOrd="0" presId="urn:microsoft.com/office/officeart/2005/8/layout/default"/>
    <dgm:cxn modelId="{5A0F89E6-857D-4340-8D8B-8C339FA6333B}" srcId="{5C335EF2-2ED9-4D49-8E9C-429615503F4E}" destId="{39BA683B-3A40-4EDC-9145-1C845E87DB2B}" srcOrd="6" destOrd="0" parTransId="{EE192739-F5AD-4C1F-83B6-7E918DD8305B}" sibTransId="{EAA52FC9-1376-45D8-9DC9-89650AB7F3D9}"/>
    <dgm:cxn modelId="{3C9A00EE-5448-47BE-8BCA-8EED7487629E}" type="presOf" srcId="{1F57335C-6A90-4ECF-920A-5C231F63EF24}" destId="{DE5E9512-042C-43A7-9EFE-4F09E62DDBF0}" srcOrd="0" destOrd="0" presId="urn:microsoft.com/office/officeart/2005/8/layout/default"/>
    <dgm:cxn modelId="{C6E721F2-DA5C-4B34-90D9-9795D32D0DD5}" srcId="{5C335EF2-2ED9-4D49-8E9C-429615503F4E}" destId="{B2A267DF-7C1E-4E3F-82CB-226E78F362AF}" srcOrd="3" destOrd="0" parTransId="{1B41529B-E0F9-43C1-B348-A34FE0749925}" sibTransId="{24F62A03-9EA8-4737-95FF-2721FCAB6671}"/>
    <dgm:cxn modelId="{26072EF7-C4E6-4C27-A979-F8CE1A058FA1}" type="presOf" srcId="{C56CDE80-D105-423F-B756-B2A291500C95}" destId="{B3742F96-B0EE-445B-897B-F86F344ED112}" srcOrd="0" destOrd="0" presId="urn:microsoft.com/office/officeart/2005/8/layout/default"/>
    <dgm:cxn modelId="{D5B904A4-DFCA-435E-852F-A2AD1033B3AB}" type="presParOf" srcId="{E072FFC0-96A5-4BAF-9A74-2E762D5DB43F}" destId="{718CDC42-8E03-4FA6-A0F8-0E6448EF3B37}" srcOrd="0" destOrd="0" presId="urn:microsoft.com/office/officeart/2005/8/layout/default"/>
    <dgm:cxn modelId="{F256DD66-13FD-440B-8BE7-4AF5185D4CDE}" type="presParOf" srcId="{E072FFC0-96A5-4BAF-9A74-2E762D5DB43F}" destId="{F0C38081-3FCF-4D39-BDDC-F3F8A7DE82C9}" srcOrd="1" destOrd="0" presId="urn:microsoft.com/office/officeart/2005/8/layout/default"/>
    <dgm:cxn modelId="{9ECDAF04-1745-43C3-A03D-45CF7CF58D6D}" type="presParOf" srcId="{E072FFC0-96A5-4BAF-9A74-2E762D5DB43F}" destId="{B3742F96-B0EE-445B-897B-F86F344ED112}" srcOrd="2" destOrd="0" presId="urn:microsoft.com/office/officeart/2005/8/layout/default"/>
    <dgm:cxn modelId="{0F41B063-D97A-44DB-90F0-E00C16AD113D}" type="presParOf" srcId="{E072FFC0-96A5-4BAF-9A74-2E762D5DB43F}" destId="{C9E38FE0-6374-4F69-BF93-5CF22CAA569F}" srcOrd="3" destOrd="0" presId="urn:microsoft.com/office/officeart/2005/8/layout/default"/>
    <dgm:cxn modelId="{48BFB2E0-4633-46BC-A763-C57C30E6BB09}" type="presParOf" srcId="{E072FFC0-96A5-4BAF-9A74-2E762D5DB43F}" destId="{8CED9FF1-8C6F-417A-A2E4-8504331A90AE}" srcOrd="4" destOrd="0" presId="urn:microsoft.com/office/officeart/2005/8/layout/default"/>
    <dgm:cxn modelId="{FCF414D3-214B-41D5-AF62-9798CEEA6B8A}" type="presParOf" srcId="{E072FFC0-96A5-4BAF-9A74-2E762D5DB43F}" destId="{8F8B2758-8C33-4142-A81F-AE723A40E999}" srcOrd="5" destOrd="0" presId="urn:microsoft.com/office/officeart/2005/8/layout/default"/>
    <dgm:cxn modelId="{9F8005C2-454E-40A5-A8D8-30090FE9BE4C}" type="presParOf" srcId="{E072FFC0-96A5-4BAF-9A74-2E762D5DB43F}" destId="{47DB15A9-9B8C-4BC3-9DEB-C923BF0C1808}" srcOrd="6" destOrd="0" presId="urn:microsoft.com/office/officeart/2005/8/layout/default"/>
    <dgm:cxn modelId="{26671EB1-A77F-498C-87CB-D8FB905C16E2}" type="presParOf" srcId="{E072FFC0-96A5-4BAF-9A74-2E762D5DB43F}" destId="{B29437E4-798D-4AB6-974C-412B8B9CD810}" srcOrd="7" destOrd="0" presId="urn:microsoft.com/office/officeart/2005/8/layout/default"/>
    <dgm:cxn modelId="{EC993D6A-C4F2-40A6-AD1D-5EADADF8546D}" type="presParOf" srcId="{E072FFC0-96A5-4BAF-9A74-2E762D5DB43F}" destId="{5D9E12CC-0587-4297-83D4-4CAB3D3795C4}" srcOrd="8" destOrd="0" presId="urn:microsoft.com/office/officeart/2005/8/layout/default"/>
    <dgm:cxn modelId="{5FC2B757-7DDC-4DCF-9E15-8570210C662C}" type="presParOf" srcId="{E072FFC0-96A5-4BAF-9A74-2E762D5DB43F}" destId="{F54028B7-0418-454A-99BF-4A1B1D7076AB}" srcOrd="9" destOrd="0" presId="urn:microsoft.com/office/officeart/2005/8/layout/default"/>
    <dgm:cxn modelId="{BDCE421B-817B-4785-B5B8-F7FD558119C8}" type="presParOf" srcId="{E072FFC0-96A5-4BAF-9A74-2E762D5DB43F}" destId="{DE5E9512-042C-43A7-9EFE-4F09E62DDBF0}" srcOrd="10" destOrd="0" presId="urn:microsoft.com/office/officeart/2005/8/layout/default"/>
    <dgm:cxn modelId="{71A991AD-E9B2-462B-B340-E905B8F3A1F2}" type="presParOf" srcId="{E072FFC0-96A5-4BAF-9A74-2E762D5DB43F}" destId="{8655A22D-9FD6-4190-B296-BD1E2A1649DD}" srcOrd="11" destOrd="0" presId="urn:microsoft.com/office/officeart/2005/8/layout/default"/>
    <dgm:cxn modelId="{39757214-0F74-4B01-ADD6-15135C9D40ED}" type="presParOf" srcId="{E072FFC0-96A5-4BAF-9A74-2E762D5DB43F}" destId="{C435D5FE-E413-4A4C-89DA-DAA204FA8681}" srcOrd="12" destOrd="0" presId="urn:microsoft.com/office/officeart/2005/8/layout/default"/>
    <dgm:cxn modelId="{F410163F-092F-4B61-88CD-415591E33EBA}" type="presParOf" srcId="{E072FFC0-96A5-4BAF-9A74-2E762D5DB43F}" destId="{09BE7720-EDDC-4568-B23E-F7F4EE8D40A9}" srcOrd="13" destOrd="0" presId="urn:microsoft.com/office/officeart/2005/8/layout/default"/>
    <dgm:cxn modelId="{1CB38624-93B8-424B-9AF7-73D27C07DBC2}" type="presParOf" srcId="{E072FFC0-96A5-4BAF-9A74-2E762D5DB43F}" destId="{A820CB14-F438-4600-9646-DCA8F5D31245}" srcOrd="1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C335EF2-2ED9-4D49-8E9C-429615503F4E}" type="doc">
      <dgm:prSet loTypeId="urn:microsoft.com/office/officeart/2005/8/layout/default" loCatId="list" qsTypeId="urn:microsoft.com/office/officeart/2005/8/quickstyle/simple1" qsCatId="simple" csTypeId="urn:microsoft.com/office/officeart/2005/8/colors/colorful3" csCatId="colorful" phldr="1"/>
      <dgm:spPr/>
      <dgm:t>
        <a:bodyPr/>
        <a:lstStyle/>
        <a:p>
          <a:endParaRPr lang="en-US"/>
        </a:p>
      </dgm:t>
    </dgm:pt>
    <dgm:pt modelId="{F19611DE-8B58-46F0-8EB9-93CE603C5111}">
      <dgm:prSet custT="1"/>
      <dgm:spPr/>
      <dgm:t>
        <a:bodyPr/>
        <a:lstStyle/>
        <a:p>
          <a:r>
            <a:rPr lang="en" altLang="zh-CN" sz="2200" b="0" i="0">
              <a:effectLst/>
              <a:latin typeface="Times New Roman" panose="02020603050405020304" pitchFamily="18" charset="0"/>
              <a:cs typeface="Times New Roman" panose="02020603050405020304" pitchFamily="18" charset="0"/>
            </a:rPr>
            <a:t>OPTIONAL Install apt addons</a:t>
          </a:r>
          <a:endParaRPr lang="en-US" sz="2200" dirty="0">
            <a:latin typeface="Times New Roman" panose="02020603050405020304" pitchFamily="18" charset="0"/>
            <a:cs typeface="Times New Roman" panose="02020603050405020304" pitchFamily="18" charset="0"/>
          </a:endParaRPr>
        </a:p>
      </dgm:t>
    </dgm:pt>
    <dgm:pt modelId="{843B3204-E510-42EF-8F84-970142B95D95}" type="parTrans" cxnId="{47216663-FE47-4676-893D-A25E729E7012}">
      <dgm:prSet/>
      <dgm:spPr/>
      <dgm:t>
        <a:bodyPr/>
        <a:lstStyle/>
        <a:p>
          <a:endParaRPr lang="en-US"/>
        </a:p>
      </dgm:t>
    </dgm:pt>
    <dgm:pt modelId="{52FC67A8-A801-420A-99EB-DDC59FC587AA}" type="sibTrans" cxnId="{47216663-FE47-4676-893D-A25E729E7012}">
      <dgm:prSet/>
      <dgm:spPr/>
      <dgm:t>
        <a:bodyPr/>
        <a:lstStyle/>
        <a:p>
          <a:endParaRPr lang="en-US"/>
        </a:p>
      </dgm:t>
    </dgm:pt>
    <dgm:pt modelId="{C56CDE80-D105-423F-B756-B2A291500C95}">
      <dgm:prSet custT="1"/>
      <dgm:spPr/>
      <dgm:t>
        <a:bodyPr/>
        <a:lstStyle/>
        <a:p>
          <a:r>
            <a:rPr lang="en" altLang="zh-CN" sz="2200" b="0" i="0">
              <a:effectLst/>
              <a:latin typeface="Times New Roman" panose="02020603050405020304" pitchFamily="18" charset="0"/>
              <a:cs typeface="Times New Roman" panose="02020603050405020304" pitchFamily="18" charset="0"/>
            </a:rPr>
            <a:t>OPTIONAL Install cache components</a:t>
          </a:r>
          <a:endParaRPr lang="en-US" sz="2200" dirty="0">
            <a:latin typeface="Times New Roman" panose="02020603050405020304" pitchFamily="18" charset="0"/>
            <a:cs typeface="Times New Roman" panose="02020603050405020304" pitchFamily="18" charset="0"/>
          </a:endParaRPr>
        </a:p>
      </dgm:t>
    </dgm:pt>
    <dgm:pt modelId="{E18CC46B-54C1-4B9A-8F55-FD3C7502C738}" type="parTrans" cxnId="{C23F4D1F-4821-4B82-B6C1-C082EA33280A}">
      <dgm:prSet/>
      <dgm:spPr/>
      <dgm:t>
        <a:bodyPr/>
        <a:lstStyle/>
        <a:p>
          <a:endParaRPr lang="en-US"/>
        </a:p>
      </dgm:t>
    </dgm:pt>
    <dgm:pt modelId="{B6EADED9-B4A1-433F-90C2-FA140964FA6C}" type="sibTrans" cxnId="{C23F4D1F-4821-4B82-B6C1-C082EA33280A}">
      <dgm:prSet/>
      <dgm:spPr/>
      <dgm:t>
        <a:bodyPr/>
        <a:lstStyle/>
        <a:p>
          <a:endParaRPr lang="en-US"/>
        </a:p>
      </dgm:t>
    </dgm:pt>
    <dgm:pt modelId="{1D5B5EEC-527F-4739-8953-5EDF9897F01E}">
      <dgm:prSet custT="1"/>
      <dgm:spPr/>
      <dgm:t>
        <a:bodyPr/>
        <a:lstStyle/>
        <a:p>
          <a:r>
            <a:rPr lang="en" altLang="zh-CN" sz="2200" b="0" i="0">
              <a:effectLst/>
              <a:latin typeface="Times New Roman" panose="02020603050405020304" pitchFamily="18" charset="0"/>
              <a:cs typeface="Times New Roman" panose="02020603050405020304" pitchFamily="18" charset="0"/>
            </a:rPr>
            <a:t>before_install</a:t>
          </a:r>
          <a:endParaRPr lang="en-US" sz="2200" dirty="0">
            <a:latin typeface="Times New Roman" panose="02020603050405020304" pitchFamily="18" charset="0"/>
            <a:cs typeface="Times New Roman" panose="02020603050405020304" pitchFamily="18" charset="0"/>
          </a:endParaRPr>
        </a:p>
      </dgm:t>
    </dgm:pt>
    <dgm:pt modelId="{7CEF9F79-E9ED-405A-B962-FFDF21933D00}" type="parTrans" cxnId="{D38F94B1-C8F4-4E9F-AD9F-6C30E97B3BA7}">
      <dgm:prSet/>
      <dgm:spPr/>
      <dgm:t>
        <a:bodyPr/>
        <a:lstStyle/>
        <a:p>
          <a:endParaRPr lang="en-US"/>
        </a:p>
      </dgm:t>
    </dgm:pt>
    <dgm:pt modelId="{E35C5FE7-B061-43E6-8917-D267C28869BE}" type="sibTrans" cxnId="{D38F94B1-C8F4-4E9F-AD9F-6C30E97B3BA7}">
      <dgm:prSet/>
      <dgm:spPr/>
      <dgm:t>
        <a:bodyPr/>
        <a:lstStyle/>
        <a:p>
          <a:endParaRPr lang="en-US"/>
        </a:p>
      </dgm:t>
    </dgm:pt>
    <dgm:pt modelId="{B2A267DF-7C1E-4E3F-82CB-226E78F362AF}">
      <dgm:prSet custT="1"/>
      <dgm:spPr/>
      <dgm:t>
        <a:bodyPr/>
        <a:lstStyle/>
        <a:p>
          <a:r>
            <a:rPr lang="en" altLang="zh-CN" sz="2200" b="0" i="0">
              <a:effectLst/>
              <a:latin typeface="Times New Roman" panose="02020603050405020304" pitchFamily="18" charset="0"/>
              <a:cs typeface="Times New Roman" panose="02020603050405020304" pitchFamily="18" charset="0"/>
            </a:rPr>
            <a:t>install</a:t>
          </a:r>
          <a:endParaRPr lang="en-US" sz="2200" dirty="0">
            <a:latin typeface="Times New Roman" panose="02020603050405020304" pitchFamily="18" charset="0"/>
            <a:cs typeface="Times New Roman" panose="02020603050405020304" pitchFamily="18" charset="0"/>
          </a:endParaRPr>
        </a:p>
      </dgm:t>
    </dgm:pt>
    <dgm:pt modelId="{1B41529B-E0F9-43C1-B348-A34FE0749925}" type="parTrans" cxnId="{C6E721F2-DA5C-4B34-90D9-9795D32D0DD5}">
      <dgm:prSet/>
      <dgm:spPr/>
      <dgm:t>
        <a:bodyPr/>
        <a:lstStyle/>
        <a:p>
          <a:endParaRPr lang="en-US"/>
        </a:p>
      </dgm:t>
    </dgm:pt>
    <dgm:pt modelId="{24F62A03-9EA8-4737-95FF-2721FCAB6671}" type="sibTrans" cxnId="{C6E721F2-DA5C-4B34-90D9-9795D32D0DD5}">
      <dgm:prSet/>
      <dgm:spPr/>
      <dgm:t>
        <a:bodyPr/>
        <a:lstStyle/>
        <a:p>
          <a:endParaRPr lang="en-US"/>
        </a:p>
      </dgm:t>
    </dgm:pt>
    <dgm:pt modelId="{564744D0-4A79-44F8-8083-7F631E9B3D55}">
      <dgm:prSet custT="1"/>
      <dgm:spPr/>
      <dgm:t>
        <a:bodyPr/>
        <a:lstStyle/>
        <a:p>
          <a:r>
            <a:rPr lang="en" altLang="zh-CN" sz="2200" b="0" i="0">
              <a:effectLst/>
              <a:latin typeface="Times New Roman" panose="02020603050405020304" pitchFamily="18" charset="0"/>
              <a:cs typeface="Times New Roman" panose="02020603050405020304" pitchFamily="18" charset="0"/>
            </a:rPr>
            <a:t>before_script</a:t>
          </a:r>
          <a:endParaRPr lang="en-US" sz="2200" dirty="0">
            <a:latin typeface="Times New Roman" panose="02020603050405020304" pitchFamily="18" charset="0"/>
            <a:cs typeface="Times New Roman" panose="02020603050405020304" pitchFamily="18" charset="0"/>
          </a:endParaRPr>
        </a:p>
      </dgm:t>
    </dgm:pt>
    <dgm:pt modelId="{91FC9AB8-7145-421D-B324-FBCCC5B70FCC}" type="parTrans" cxnId="{DC0D7D2F-D4E1-4ADE-AE11-7D19501A38AE}">
      <dgm:prSet/>
      <dgm:spPr/>
      <dgm:t>
        <a:bodyPr/>
        <a:lstStyle/>
        <a:p>
          <a:endParaRPr lang="en-US"/>
        </a:p>
      </dgm:t>
    </dgm:pt>
    <dgm:pt modelId="{CD6BAD80-DC41-4860-8439-AAEA6E21212D}" type="sibTrans" cxnId="{DC0D7D2F-D4E1-4ADE-AE11-7D19501A38AE}">
      <dgm:prSet/>
      <dgm:spPr/>
      <dgm:t>
        <a:bodyPr/>
        <a:lstStyle/>
        <a:p>
          <a:endParaRPr lang="en-US"/>
        </a:p>
      </dgm:t>
    </dgm:pt>
    <dgm:pt modelId="{1F57335C-6A90-4ECF-920A-5C231F63EF24}">
      <dgm:prSet custT="1"/>
      <dgm:spPr/>
      <dgm:t>
        <a:bodyPr/>
        <a:lstStyle/>
        <a:p>
          <a:r>
            <a:rPr lang="en-US" altLang="zh-CN" sz="2200" b="0" i="0" dirty="0">
              <a:effectLst/>
              <a:latin typeface="Times New Roman" panose="02020603050405020304" pitchFamily="18" charset="0"/>
              <a:cs typeface="Times New Roman" panose="02020603050405020304" pitchFamily="18" charset="0"/>
            </a:rPr>
            <a:t>S</a:t>
          </a:r>
          <a:r>
            <a:rPr lang="en" altLang="zh-CN" sz="2200" b="0" i="0" dirty="0">
              <a:effectLst/>
              <a:latin typeface="Times New Roman" panose="02020603050405020304" pitchFamily="18" charset="0"/>
              <a:cs typeface="Times New Roman" panose="02020603050405020304" pitchFamily="18" charset="0"/>
            </a:rPr>
            <a:t>cript</a:t>
          </a:r>
          <a:endParaRPr lang="en-US" sz="2200" dirty="0">
            <a:latin typeface="Times New Roman" panose="02020603050405020304" pitchFamily="18" charset="0"/>
            <a:cs typeface="Times New Roman" panose="02020603050405020304" pitchFamily="18" charset="0"/>
          </a:endParaRPr>
        </a:p>
      </dgm:t>
    </dgm:pt>
    <dgm:pt modelId="{830F7194-0058-4FBD-8296-7D00A4A06849}" type="parTrans" cxnId="{C673BD30-E274-4F53-87F7-70E6A036AB86}">
      <dgm:prSet/>
      <dgm:spPr/>
      <dgm:t>
        <a:bodyPr/>
        <a:lstStyle/>
        <a:p>
          <a:endParaRPr lang="en-US"/>
        </a:p>
      </dgm:t>
    </dgm:pt>
    <dgm:pt modelId="{1E0E623D-B6AA-42D5-B9DB-2BA497139C50}" type="sibTrans" cxnId="{C673BD30-E274-4F53-87F7-70E6A036AB86}">
      <dgm:prSet/>
      <dgm:spPr/>
      <dgm:t>
        <a:bodyPr/>
        <a:lstStyle/>
        <a:p>
          <a:endParaRPr lang="en-US"/>
        </a:p>
      </dgm:t>
    </dgm:pt>
    <dgm:pt modelId="{EAAB55A9-25EB-4BAC-A176-87D944CAFC10}">
      <dgm:prSet custT="1"/>
      <dgm:spPr/>
      <dgm:t>
        <a:bodyPr spcFirstLastPara="0" vert="horz" wrap="square" lIns="99060" tIns="99060" rIns="99060" bIns="99060" numCol="1" spcCol="1270" anchor="ctr" anchorCtr="0"/>
        <a:lstStyle/>
        <a:p>
          <a:pPr>
            <a:buNone/>
          </a:pPr>
          <a:r>
            <a:rPr lang="en" altLang="zh-CN" sz="2200" b="0" i="0">
              <a:effectLst/>
              <a:latin typeface="Times New Roman" panose="02020603050405020304" pitchFamily="18" charset="0"/>
              <a:ea typeface="Microsoft YaHei"/>
              <a:cs typeface="Times New Roman" panose="02020603050405020304" pitchFamily="18" charset="0"/>
            </a:rPr>
            <a:t>before_cache</a:t>
          </a:r>
          <a:endParaRPr lang="en-US" sz="2200" dirty="0">
            <a:latin typeface="Times New Roman" panose="02020603050405020304" pitchFamily="18" charset="0"/>
            <a:cs typeface="Times New Roman" panose="02020603050405020304" pitchFamily="18" charset="0"/>
          </a:endParaRPr>
        </a:p>
      </dgm:t>
    </dgm:pt>
    <dgm:pt modelId="{4C769E7E-25F7-484F-914D-BAEAC9D04D95}" type="parTrans" cxnId="{4C391462-852A-4587-9143-3977A9E1AC90}">
      <dgm:prSet/>
      <dgm:spPr/>
      <dgm:t>
        <a:bodyPr/>
        <a:lstStyle/>
        <a:p>
          <a:endParaRPr lang="zh-CN" altLang="en-US"/>
        </a:p>
      </dgm:t>
    </dgm:pt>
    <dgm:pt modelId="{70A38F58-84C3-4995-94A4-06761189A8B2}" type="sibTrans" cxnId="{4C391462-852A-4587-9143-3977A9E1AC90}">
      <dgm:prSet/>
      <dgm:spPr/>
      <dgm:t>
        <a:bodyPr/>
        <a:lstStyle/>
        <a:p>
          <a:endParaRPr lang="zh-CN" altLang="en-US"/>
        </a:p>
      </dgm:t>
    </dgm:pt>
    <dgm:pt modelId="{200AC083-8F83-4851-AF46-C331BC0C2775}">
      <dgm:prSet/>
      <dgm:spPr/>
      <dgm:t>
        <a:bodyPr/>
        <a:lstStyle/>
        <a:p>
          <a:r>
            <a:rPr lang="en" altLang="zh-CN" b="0" i="0">
              <a:effectLst/>
              <a:latin typeface="Times New Roman" panose="02020603050405020304" pitchFamily="18" charset="0"/>
              <a:ea typeface="Microsoft YaHei"/>
              <a:cs typeface="Times New Roman" panose="02020603050405020304" pitchFamily="18" charset="0"/>
            </a:rPr>
            <a:t>after</a:t>
          </a:r>
          <a:r>
            <a:rPr lang="en" altLang="zh-CN" b="0" i="0">
              <a:effectLst/>
              <a:latin typeface="Times New Roman" panose="02020603050405020304" pitchFamily="18" charset="0"/>
              <a:cs typeface="Times New Roman" panose="02020603050405020304" pitchFamily="18" charset="0"/>
            </a:rPr>
            <a:t>_success</a:t>
          </a:r>
          <a:endParaRPr lang="en-US" dirty="0">
            <a:latin typeface="Times New Roman" panose="02020603050405020304" pitchFamily="18" charset="0"/>
            <a:cs typeface="Times New Roman" panose="02020603050405020304" pitchFamily="18" charset="0"/>
          </a:endParaRPr>
        </a:p>
      </dgm:t>
    </dgm:pt>
    <dgm:pt modelId="{F7FC325E-993E-42CC-B739-2CD331F72EC6}" type="parTrans" cxnId="{C750D084-8792-419B-9ACE-1B3D6B4B4346}">
      <dgm:prSet/>
      <dgm:spPr/>
      <dgm:t>
        <a:bodyPr/>
        <a:lstStyle/>
        <a:p>
          <a:endParaRPr lang="zh-CN" altLang="en-US"/>
        </a:p>
      </dgm:t>
    </dgm:pt>
    <dgm:pt modelId="{DA8E01E4-F3F3-4607-A89F-7FCB3A17C6CB}" type="sibTrans" cxnId="{C750D084-8792-419B-9ACE-1B3D6B4B4346}">
      <dgm:prSet/>
      <dgm:spPr/>
      <dgm:t>
        <a:bodyPr/>
        <a:lstStyle/>
        <a:p>
          <a:endParaRPr lang="zh-CN" altLang="en-US"/>
        </a:p>
      </dgm:t>
    </dgm:pt>
    <dgm:pt modelId="{391EAD22-E300-4348-9F3D-76ECBBFD81D6}">
      <dgm:prSet/>
      <dgm:spPr/>
      <dgm:t>
        <a:bodyPr/>
        <a:lstStyle/>
        <a:p>
          <a:r>
            <a:rPr lang="en" altLang="zh-CN" b="0" i="0">
              <a:effectLst/>
              <a:latin typeface="Times New Roman" panose="02020603050405020304" pitchFamily="18" charset="0"/>
              <a:cs typeface="Times New Roman" panose="02020603050405020304" pitchFamily="18" charset="0"/>
            </a:rPr>
            <a:t>after_failure</a:t>
          </a:r>
          <a:endParaRPr lang="en-US" dirty="0">
            <a:latin typeface="Times New Roman" panose="02020603050405020304" pitchFamily="18" charset="0"/>
            <a:cs typeface="Times New Roman" panose="02020603050405020304" pitchFamily="18" charset="0"/>
          </a:endParaRPr>
        </a:p>
      </dgm:t>
    </dgm:pt>
    <dgm:pt modelId="{DFF12E39-C5E6-41BA-858E-005C01B0CAFE}" type="parTrans" cxnId="{F08D0789-AF8A-4E88-AA4D-487FE7D7F4F3}">
      <dgm:prSet/>
      <dgm:spPr/>
      <dgm:t>
        <a:bodyPr/>
        <a:lstStyle/>
        <a:p>
          <a:endParaRPr lang="zh-CN" altLang="en-US"/>
        </a:p>
      </dgm:t>
    </dgm:pt>
    <dgm:pt modelId="{CFF64040-8E91-4ADC-A591-0147BB59531E}" type="sibTrans" cxnId="{F08D0789-AF8A-4E88-AA4D-487FE7D7F4F3}">
      <dgm:prSet/>
      <dgm:spPr/>
      <dgm:t>
        <a:bodyPr/>
        <a:lstStyle/>
        <a:p>
          <a:endParaRPr lang="zh-CN" altLang="en-US"/>
        </a:p>
      </dgm:t>
    </dgm:pt>
    <dgm:pt modelId="{E90D4713-0DC7-4604-9BD9-DB2CA544A92E}">
      <dgm:prSet/>
      <dgm:spPr/>
      <dgm:t>
        <a:bodyPr/>
        <a:lstStyle/>
        <a:p>
          <a:r>
            <a:rPr lang="en" altLang="zh-CN" b="0" i="0">
              <a:effectLst/>
              <a:latin typeface="Times New Roman" panose="02020603050405020304" pitchFamily="18" charset="0"/>
              <a:cs typeface="Times New Roman" panose="02020603050405020304" pitchFamily="18" charset="0"/>
            </a:rPr>
            <a:t>before_deploy</a:t>
          </a:r>
          <a:endParaRPr lang="en-US" dirty="0">
            <a:latin typeface="Times New Roman" panose="02020603050405020304" pitchFamily="18" charset="0"/>
            <a:cs typeface="Times New Roman" panose="02020603050405020304" pitchFamily="18" charset="0"/>
          </a:endParaRPr>
        </a:p>
      </dgm:t>
    </dgm:pt>
    <dgm:pt modelId="{7CBADA0B-8F3C-42ED-8EA8-7BF5B63E7691}" type="parTrans" cxnId="{3E42250A-8898-492C-BEE3-BEE90FE8C7B6}">
      <dgm:prSet/>
      <dgm:spPr/>
      <dgm:t>
        <a:bodyPr/>
        <a:lstStyle/>
        <a:p>
          <a:endParaRPr lang="zh-CN" altLang="en-US"/>
        </a:p>
      </dgm:t>
    </dgm:pt>
    <dgm:pt modelId="{5B67C133-7398-42DF-BE07-1AFB6D363F0C}" type="sibTrans" cxnId="{3E42250A-8898-492C-BEE3-BEE90FE8C7B6}">
      <dgm:prSet/>
      <dgm:spPr/>
      <dgm:t>
        <a:bodyPr/>
        <a:lstStyle/>
        <a:p>
          <a:endParaRPr lang="zh-CN" altLang="en-US"/>
        </a:p>
      </dgm:t>
    </dgm:pt>
    <dgm:pt modelId="{0DCA492A-4ACA-4B7F-B397-37C910B462FE}">
      <dgm:prSet/>
      <dgm:spPr/>
      <dgm:t>
        <a:bodyPr/>
        <a:lstStyle/>
        <a:p>
          <a:r>
            <a:rPr lang="en" altLang="zh-CN" b="0" i="0">
              <a:effectLst/>
              <a:latin typeface="Times New Roman" panose="02020603050405020304" pitchFamily="18" charset="0"/>
              <a:cs typeface="Times New Roman" panose="02020603050405020304" pitchFamily="18" charset="0"/>
            </a:rPr>
            <a:t>deploy</a:t>
          </a:r>
          <a:endParaRPr lang="en-US" dirty="0">
            <a:latin typeface="Times New Roman" panose="02020603050405020304" pitchFamily="18" charset="0"/>
            <a:cs typeface="Times New Roman" panose="02020603050405020304" pitchFamily="18" charset="0"/>
          </a:endParaRPr>
        </a:p>
      </dgm:t>
    </dgm:pt>
    <dgm:pt modelId="{116F7524-A672-47E5-96E6-6DB91C842978}" type="parTrans" cxnId="{5DC8F552-2F3E-44EC-8CD2-07F751345276}">
      <dgm:prSet/>
      <dgm:spPr/>
      <dgm:t>
        <a:bodyPr/>
        <a:lstStyle/>
        <a:p>
          <a:endParaRPr lang="zh-CN" altLang="en-US"/>
        </a:p>
      </dgm:t>
    </dgm:pt>
    <dgm:pt modelId="{813C1E11-883C-4A82-9FA5-41EBB3466DB9}" type="sibTrans" cxnId="{5DC8F552-2F3E-44EC-8CD2-07F751345276}">
      <dgm:prSet/>
      <dgm:spPr/>
      <dgm:t>
        <a:bodyPr/>
        <a:lstStyle/>
        <a:p>
          <a:endParaRPr lang="zh-CN" altLang="en-US"/>
        </a:p>
      </dgm:t>
    </dgm:pt>
    <dgm:pt modelId="{7E27C39E-6CF1-4ED6-B40E-98B19F602FF7}">
      <dgm:prSet/>
      <dgm:spPr/>
      <dgm:t>
        <a:bodyPr/>
        <a:lstStyle/>
        <a:p>
          <a:r>
            <a:rPr lang="en" altLang="zh-CN" b="0" i="0">
              <a:effectLst/>
              <a:latin typeface="Times New Roman" panose="02020603050405020304" pitchFamily="18" charset="0"/>
              <a:cs typeface="Times New Roman" panose="02020603050405020304" pitchFamily="18" charset="0"/>
            </a:rPr>
            <a:t>after_deploy</a:t>
          </a:r>
          <a:endParaRPr lang="en-US" dirty="0">
            <a:latin typeface="Times New Roman" panose="02020603050405020304" pitchFamily="18" charset="0"/>
            <a:cs typeface="Times New Roman" panose="02020603050405020304" pitchFamily="18" charset="0"/>
          </a:endParaRPr>
        </a:p>
      </dgm:t>
    </dgm:pt>
    <dgm:pt modelId="{FB5DF22E-C2EF-4CB3-A69D-B342B16F2C6F}" type="parTrans" cxnId="{D2ACE9FE-AD6D-4279-9B82-423B7BDA7565}">
      <dgm:prSet/>
      <dgm:spPr/>
      <dgm:t>
        <a:bodyPr/>
        <a:lstStyle/>
        <a:p>
          <a:endParaRPr lang="zh-CN" altLang="en-US"/>
        </a:p>
      </dgm:t>
    </dgm:pt>
    <dgm:pt modelId="{D417E3C1-3316-4E8F-840E-9823EFAA4AC0}" type="sibTrans" cxnId="{D2ACE9FE-AD6D-4279-9B82-423B7BDA7565}">
      <dgm:prSet/>
      <dgm:spPr/>
      <dgm:t>
        <a:bodyPr/>
        <a:lstStyle/>
        <a:p>
          <a:endParaRPr lang="zh-CN" altLang="en-US"/>
        </a:p>
      </dgm:t>
    </dgm:pt>
    <dgm:pt modelId="{A54FB5EB-E1BE-4C5D-83CC-04EBD5269DAD}">
      <dgm:prSet/>
      <dgm:spPr/>
      <dgm:t>
        <a:bodyPr/>
        <a:lstStyle/>
        <a:p>
          <a:r>
            <a:rPr lang="en" altLang="zh-CN" b="0" i="0">
              <a:effectLst/>
              <a:latin typeface="Times New Roman" panose="02020603050405020304" pitchFamily="18" charset="0"/>
              <a:cs typeface="Times New Roman" panose="02020603050405020304" pitchFamily="18" charset="0"/>
            </a:rPr>
            <a:t>after_script</a:t>
          </a:r>
          <a:endParaRPr lang="en-US" dirty="0">
            <a:latin typeface="Times New Roman" panose="02020603050405020304" pitchFamily="18" charset="0"/>
            <a:cs typeface="Times New Roman" panose="02020603050405020304" pitchFamily="18" charset="0"/>
          </a:endParaRPr>
        </a:p>
      </dgm:t>
    </dgm:pt>
    <dgm:pt modelId="{50763CB3-245F-4166-822B-0971DA5D8A2F}" type="parTrans" cxnId="{1E5A3CA8-BEB8-4344-B050-03C334612900}">
      <dgm:prSet/>
      <dgm:spPr/>
      <dgm:t>
        <a:bodyPr/>
        <a:lstStyle/>
        <a:p>
          <a:endParaRPr lang="zh-CN" altLang="en-US"/>
        </a:p>
      </dgm:t>
    </dgm:pt>
    <dgm:pt modelId="{52A1D19D-A8D7-4AF8-9CB7-2101DCC66B29}" type="sibTrans" cxnId="{1E5A3CA8-BEB8-4344-B050-03C334612900}">
      <dgm:prSet/>
      <dgm:spPr/>
      <dgm:t>
        <a:bodyPr/>
        <a:lstStyle/>
        <a:p>
          <a:endParaRPr lang="zh-CN" altLang="en-US"/>
        </a:p>
      </dgm:t>
    </dgm:pt>
    <dgm:pt modelId="{E072FFC0-96A5-4BAF-9A74-2E762D5DB43F}" type="pres">
      <dgm:prSet presAssocID="{5C335EF2-2ED9-4D49-8E9C-429615503F4E}" presName="diagram" presStyleCnt="0">
        <dgm:presLayoutVars>
          <dgm:dir/>
          <dgm:resizeHandles val="exact"/>
        </dgm:presLayoutVars>
      </dgm:prSet>
      <dgm:spPr/>
    </dgm:pt>
    <dgm:pt modelId="{718CDC42-8E03-4FA6-A0F8-0E6448EF3B37}" type="pres">
      <dgm:prSet presAssocID="{F19611DE-8B58-46F0-8EB9-93CE603C5111}" presName="node" presStyleLbl="node1" presStyleIdx="0" presStyleCnt="13">
        <dgm:presLayoutVars>
          <dgm:bulletEnabled val="1"/>
        </dgm:presLayoutVars>
      </dgm:prSet>
      <dgm:spPr/>
    </dgm:pt>
    <dgm:pt modelId="{F0C38081-3FCF-4D39-BDDC-F3F8A7DE82C9}" type="pres">
      <dgm:prSet presAssocID="{52FC67A8-A801-420A-99EB-DDC59FC587AA}" presName="sibTrans" presStyleCnt="0"/>
      <dgm:spPr/>
    </dgm:pt>
    <dgm:pt modelId="{B3742F96-B0EE-445B-897B-F86F344ED112}" type="pres">
      <dgm:prSet presAssocID="{C56CDE80-D105-423F-B756-B2A291500C95}" presName="node" presStyleLbl="node1" presStyleIdx="1" presStyleCnt="13">
        <dgm:presLayoutVars>
          <dgm:bulletEnabled val="1"/>
        </dgm:presLayoutVars>
      </dgm:prSet>
      <dgm:spPr/>
    </dgm:pt>
    <dgm:pt modelId="{C9E38FE0-6374-4F69-BF93-5CF22CAA569F}" type="pres">
      <dgm:prSet presAssocID="{B6EADED9-B4A1-433F-90C2-FA140964FA6C}" presName="sibTrans" presStyleCnt="0"/>
      <dgm:spPr/>
    </dgm:pt>
    <dgm:pt modelId="{8CED9FF1-8C6F-417A-A2E4-8504331A90AE}" type="pres">
      <dgm:prSet presAssocID="{1D5B5EEC-527F-4739-8953-5EDF9897F01E}" presName="node" presStyleLbl="node1" presStyleIdx="2" presStyleCnt="13">
        <dgm:presLayoutVars>
          <dgm:bulletEnabled val="1"/>
        </dgm:presLayoutVars>
      </dgm:prSet>
      <dgm:spPr/>
    </dgm:pt>
    <dgm:pt modelId="{8F8B2758-8C33-4142-A81F-AE723A40E999}" type="pres">
      <dgm:prSet presAssocID="{E35C5FE7-B061-43E6-8917-D267C28869BE}" presName="sibTrans" presStyleCnt="0"/>
      <dgm:spPr/>
    </dgm:pt>
    <dgm:pt modelId="{47DB15A9-9B8C-4BC3-9DEB-C923BF0C1808}" type="pres">
      <dgm:prSet presAssocID="{B2A267DF-7C1E-4E3F-82CB-226E78F362AF}" presName="node" presStyleLbl="node1" presStyleIdx="3" presStyleCnt="13">
        <dgm:presLayoutVars>
          <dgm:bulletEnabled val="1"/>
        </dgm:presLayoutVars>
      </dgm:prSet>
      <dgm:spPr/>
    </dgm:pt>
    <dgm:pt modelId="{B29437E4-798D-4AB6-974C-412B8B9CD810}" type="pres">
      <dgm:prSet presAssocID="{24F62A03-9EA8-4737-95FF-2721FCAB6671}" presName="sibTrans" presStyleCnt="0"/>
      <dgm:spPr/>
    </dgm:pt>
    <dgm:pt modelId="{5D9E12CC-0587-4297-83D4-4CAB3D3795C4}" type="pres">
      <dgm:prSet presAssocID="{564744D0-4A79-44F8-8083-7F631E9B3D55}" presName="node" presStyleLbl="node1" presStyleIdx="4" presStyleCnt="13">
        <dgm:presLayoutVars>
          <dgm:bulletEnabled val="1"/>
        </dgm:presLayoutVars>
      </dgm:prSet>
      <dgm:spPr/>
    </dgm:pt>
    <dgm:pt modelId="{F54028B7-0418-454A-99BF-4A1B1D7076AB}" type="pres">
      <dgm:prSet presAssocID="{CD6BAD80-DC41-4860-8439-AAEA6E21212D}" presName="sibTrans" presStyleCnt="0"/>
      <dgm:spPr/>
    </dgm:pt>
    <dgm:pt modelId="{DE5E9512-042C-43A7-9EFE-4F09E62DDBF0}" type="pres">
      <dgm:prSet presAssocID="{1F57335C-6A90-4ECF-920A-5C231F63EF24}" presName="node" presStyleLbl="node1" presStyleIdx="5" presStyleCnt="13">
        <dgm:presLayoutVars>
          <dgm:bulletEnabled val="1"/>
        </dgm:presLayoutVars>
      </dgm:prSet>
      <dgm:spPr/>
    </dgm:pt>
    <dgm:pt modelId="{0765F51E-0A89-4FC7-AC61-60BE7513F2E3}" type="pres">
      <dgm:prSet presAssocID="{1E0E623D-B6AA-42D5-B9DB-2BA497139C50}" presName="sibTrans" presStyleCnt="0"/>
      <dgm:spPr/>
    </dgm:pt>
    <dgm:pt modelId="{CED0D659-64C8-489C-98D9-BC9EB19CF907}" type="pres">
      <dgm:prSet presAssocID="{EAAB55A9-25EB-4BAC-A176-87D944CAFC10}" presName="node" presStyleLbl="node1" presStyleIdx="6" presStyleCnt="13">
        <dgm:presLayoutVars>
          <dgm:bulletEnabled val="1"/>
        </dgm:presLayoutVars>
      </dgm:prSet>
      <dgm:spPr>
        <a:prstGeom prst="rect">
          <a:avLst/>
        </a:prstGeom>
      </dgm:spPr>
    </dgm:pt>
    <dgm:pt modelId="{27DD7369-F467-48C6-98FA-3FA57DB7C07C}" type="pres">
      <dgm:prSet presAssocID="{70A38F58-84C3-4995-94A4-06761189A8B2}" presName="sibTrans" presStyleCnt="0"/>
      <dgm:spPr/>
    </dgm:pt>
    <dgm:pt modelId="{F2926C71-FDCD-4070-8D61-70747190AF11}" type="pres">
      <dgm:prSet presAssocID="{200AC083-8F83-4851-AF46-C331BC0C2775}" presName="node" presStyleLbl="node1" presStyleIdx="7" presStyleCnt="13">
        <dgm:presLayoutVars>
          <dgm:bulletEnabled val="1"/>
        </dgm:presLayoutVars>
      </dgm:prSet>
      <dgm:spPr/>
    </dgm:pt>
    <dgm:pt modelId="{5535449D-F97C-49E2-A14F-D9C169114BF6}" type="pres">
      <dgm:prSet presAssocID="{DA8E01E4-F3F3-4607-A89F-7FCB3A17C6CB}" presName="sibTrans" presStyleCnt="0"/>
      <dgm:spPr/>
    </dgm:pt>
    <dgm:pt modelId="{D79454EB-EAB7-4C41-84FD-B856D4E885D8}" type="pres">
      <dgm:prSet presAssocID="{391EAD22-E300-4348-9F3D-76ECBBFD81D6}" presName="node" presStyleLbl="node1" presStyleIdx="8" presStyleCnt="13">
        <dgm:presLayoutVars>
          <dgm:bulletEnabled val="1"/>
        </dgm:presLayoutVars>
      </dgm:prSet>
      <dgm:spPr/>
    </dgm:pt>
    <dgm:pt modelId="{F3AA9072-1116-4F33-89C3-127019ABB78A}" type="pres">
      <dgm:prSet presAssocID="{CFF64040-8E91-4ADC-A591-0147BB59531E}" presName="sibTrans" presStyleCnt="0"/>
      <dgm:spPr/>
    </dgm:pt>
    <dgm:pt modelId="{A1D16406-138E-4C62-BC77-74F5C66978FF}" type="pres">
      <dgm:prSet presAssocID="{E90D4713-0DC7-4604-9BD9-DB2CA544A92E}" presName="node" presStyleLbl="node1" presStyleIdx="9" presStyleCnt="13">
        <dgm:presLayoutVars>
          <dgm:bulletEnabled val="1"/>
        </dgm:presLayoutVars>
      </dgm:prSet>
      <dgm:spPr/>
    </dgm:pt>
    <dgm:pt modelId="{F89005ED-BAC3-42F3-BB02-E98D9B9FCC03}" type="pres">
      <dgm:prSet presAssocID="{5B67C133-7398-42DF-BE07-1AFB6D363F0C}" presName="sibTrans" presStyleCnt="0"/>
      <dgm:spPr/>
    </dgm:pt>
    <dgm:pt modelId="{BB81B29A-9F02-4AF1-9E7F-A5B91ADBAC35}" type="pres">
      <dgm:prSet presAssocID="{0DCA492A-4ACA-4B7F-B397-37C910B462FE}" presName="node" presStyleLbl="node1" presStyleIdx="10" presStyleCnt="13">
        <dgm:presLayoutVars>
          <dgm:bulletEnabled val="1"/>
        </dgm:presLayoutVars>
      </dgm:prSet>
      <dgm:spPr/>
    </dgm:pt>
    <dgm:pt modelId="{F1CEA2E3-386C-4E67-88C6-72ADEEA30891}" type="pres">
      <dgm:prSet presAssocID="{813C1E11-883C-4A82-9FA5-41EBB3466DB9}" presName="sibTrans" presStyleCnt="0"/>
      <dgm:spPr/>
    </dgm:pt>
    <dgm:pt modelId="{B92AB82A-58C3-4551-8FC8-F805FE7A4D44}" type="pres">
      <dgm:prSet presAssocID="{7E27C39E-6CF1-4ED6-B40E-98B19F602FF7}" presName="node" presStyleLbl="node1" presStyleIdx="11" presStyleCnt="13">
        <dgm:presLayoutVars>
          <dgm:bulletEnabled val="1"/>
        </dgm:presLayoutVars>
      </dgm:prSet>
      <dgm:spPr/>
    </dgm:pt>
    <dgm:pt modelId="{7077A2CF-252D-4039-9116-3B78ED2EAF2B}" type="pres">
      <dgm:prSet presAssocID="{D417E3C1-3316-4E8F-840E-9823EFAA4AC0}" presName="sibTrans" presStyleCnt="0"/>
      <dgm:spPr/>
    </dgm:pt>
    <dgm:pt modelId="{FD34DEE1-FE0F-49C6-867E-08CD90154034}" type="pres">
      <dgm:prSet presAssocID="{A54FB5EB-E1BE-4C5D-83CC-04EBD5269DAD}" presName="node" presStyleLbl="node1" presStyleIdx="12" presStyleCnt="13">
        <dgm:presLayoutVars>
          <dgm:bulletEnabled val="1"/>
        </dgm:presLayoutVars>
      </dgm:prSet>
      <dgm:spPr/>
    </dgm:pt>
  </dgm:ptLst>
  <dgm:cxnLst>
    <dgm:cxn modelId="{3E42250A-8898-492C-BEE3-BEE90FE8C7B6}" srcId="{5C335EF2-2ED9-4D49-8E9C-429615503F4E}" destId="{E90D4713-0DC7-4604-9BD9-DB2CA544A92E}" srcOrd="9" destOrd="0" parTransId="{7CBADA0B-8F3C-42ED-8EA8-7BF5B63E7691}" sibTransId="{5B67C133-7398-42DF-BE07-1AFB6D363F0C}"/>
    <dgm:cxn modelId="{69509E0B-2ADA-46F6-8F04-54C895924861}" type="presOf" srcId="{564744D0-4A79-44F8-8083-7F631E9B3D55}" destId="{5D9E12CC-0587-4297-83D4-4CAB3D3795C4}" srcOrd="0" destOrd="0" presId="urn:microsoft.com/office/officeart/2005/8/layout/default"/>
    <dgm:cxn modelId="{C23F4D1F-4821-4B82-B6C1-C082EA33280A}" srcId="{5C335EF2-2ED9-4D49-8E9C-429615503F4E}" destId="{C56CDE80-D105-423F-B756-B2A291500C95}" srcOrd="1" destOrd="0" parTransId="{E18CC46B-54C1-4B9A-8F55-FD3C7502C738}" sibTransId="{B6EADED9-B4A1-433F-90C2-FA140964FA6C}"/>
    <dgm:cxn modelId="{F8657D28-B31B-4018-911D-59ABC52C8D81}" type="presOf" srcId="{E90D4713-0DC7-4604-9BD9-DB2CA544A92E}" destId="{A1D16406-138E-4C62-BC77-74F5C66978FF}" srcOrd="0" destOrd="0" presId="urn:microsoft.com/office/officeart/2005/8/layout/default"/>
    <dgm:cxn modelId="{DC0D7D2F-D4E1-4ADE-AE11-7D19501A38AE}" srcId="{5C335EF2-2ED9-4D49-8E9C-429615503F4E}" destId="{564744D0-4A79-44F8-8083-7F631E9B3D55}" srcOrd="4" destOrd="0" parTransId="{91FC9AB8-7145-421D-B324-FBCCC5B70FCC}" sibTransId="{CD6BAD80-DC41-4860-8439-AAEA6E21212D}"/>
    <dgm:cxn modelId="{C673BD30-E274-4F53-87F7-70E6A036AB86}" srcId="{5C335EF2-2ED9-4D49-8E9C-429615503F4E}" destId="{1F57335C-6A90-4ECF-920A-5C231F63EF24}" srcOrd="5" destOrd="0" parTransId="{830F7194-0058-4FBD-8296-7D00A4A06849}" sibTransId="{1E0E623D-B6AA-42D5-B9DB-2BA497139C50}"/>
    <dgm:cxn modelId="{6B05D332-0662-482F-A357-0B3B996844C4}" type="presOf" srcId="{0DCA492A-4ACA-4B7F-B397-37C910B462FE}" destId="{BB81B29A-9F02-4AF1-9E7F-A5B91ADBAC35}" srcOrd="0" destOrd="0" presId="urn:microsoft.com/office/officeart/2005/8/layout/default"/>
    <dgm:cxn modelId="{B4EAC533-315D-41CE-99FC-48F5DEC9E79B}" type="presOf" srcId="{1D5B5EEC-527F-4739-8953-5EDF9897F01E}" destId="{8CED9FF1-8C6F-417A-A2E4-8504331A90AE}" srcOrd="0" destOrd="0" presId="urn:microsoft.com/office/officeart/2005/8/layout/default"/>
    <dgm:cxn modelId="{F508BA39-6E4B-4F55-A0B7-CF07320436E8}" type="presOf" srcId="{EAAB55A9-25EB-4BAC-A176-87D944CAFC10}" destId="{CED0D659-64C8-489C-98D9-BC9EB19CF907}" srcOrd="0" destOrd="0" presId="urn:microsoft.com/office/officeart/2005/8/layout/default"/>
    <dgm:cxn modelId="{5DC8F552-2F3E-44EC-8CD2-07F751345276}" srcId="{5C335EF2-2ED9-4D49-8E9C-429615503F4E}" destId="{0DCA492A-4ACA-4B7F-B397-37C910B462FE}" srcOrd="10" destOrd="0" parTransId="{116F7524-A672-47E5-96E6-6DB91C842978}" sibTransId="{813C1E11-883C-4A82-9FA5-41EBB3466DB9}"/>
    <dgm:cxn modelId="{4C391462-852A-4587-9143-3977A9E1AC90}" srcId="{5C335EF2-2ED9-4D49-8E9C-429615503F4E}" destId="{EAAB55A9-25EB-4BAC-A176-87D944CAFC10}" srcOrd="6" destOrd="0" parTransId="{4C769E7E-25F7-484F-914D-BAEAC9D04D95}" sibTransId="{70A38F58-84C3-4995-94A4-06761189A8B2}"/>
    <dgm:cxn modelId="{47216663-FE47-4676-893D-A25E729E7012}" srcId="{5C335EF2-2ED9-4D49-8E9C-429615503F4E}" destId="{F19611DE-8B58-46F0-8EB9-93CE603C5111}" srcOrd="0" destOrd="0" parTransId="{843B3204-E510-42EF-8F84-970142B95D95}" sibTransId="{52FC67A8-A801-420A-99EB-DDC59FC587AA}"/>
    <dgm:cxn modelId="{1D334E6E-1991-4D74-9B56-A249487C50E2}" type="presOf" srcId="{200AC083-8F83-4851-AF46-C331BC0C2775}" destId="{F2926C71-FDCD-4070-8D61-70747190AF11}" srcOrd="0" destOrd="0" presId="urn:microsoft.com/office/officeart/2005/8/layout/default"/>
    <dgm:cxn modelId="{9727C07E-3C63-4E3C-BE3F-1F9C39083801}" type="presOf" srcId="{391EAD22-E300-4348-9F3D-76ECBBFD81D6}" destId="{D79454EB-EAB7-4C41-84FD-B856D4E885D8}" srcOrd="0" destOrd="0" presId="urn:microsoft.com/office/officeart/2005/8/layout/default"/>
    <dgm:cxn modelId="{F29C217F-28D1-49BF-846C-44A6473BEF44}" type="presOf" srcId="{5C335EF2-2ED9-4D49-8E9C-429615503F4E}" destId="{E072FFC0-96A5-4BAF-9A74-2E762D5DB43F}" srcOrd="0" destOrd="0" presId="urn:microsoft.com/office/officeart/2005/8/layout/default"/>
    <dgm:cxn modelId="{C750D084-8792-419B-9ACE-1B3D6B4B4346}" srcId="{5C335EF2-2ED9-4D49-8E9C-429615503F4E}" destId="{200AC083-8F83-4851-AF46-C331BC0C2775}" srcOrd="7" destOrd="0" parTransId="{F7FC325E-993E-42CC-B739-2CD331F72EC6}" sibTransId="{DA8E01E4-F3F3-4607-A89F-7FCB3A17C6CB}"/>
    <dgm:cxn modelId="{F08D0789-AF8A-4E88-AA4D-487FE7D7F4F3}" srcId="{5C335EF2-2ED9-4D49-8E9C-429615503F4E}" destId="{391EAD22-E300-4348-9F3D-76ECBBFD81D6}" srcOrd="8" destOrd="0" parTransId="{DFF12E39-C5E6-41BA-858E-005C01B0CAFE}" sibTransId="{CFF64040-8E91-4ADC-A591-0147BB59531E}"/>
    <dgm:cxn modelId="{C833A5A0-A9FC-43C0-9A34-6D60C8F9F4DC}" type="presOf" srcId="{F19611DE-8B58-46F0-8EB9-93CE603C5111}" destId="{718CDC42-8E03-4FA6-A0F8-0E6448EF3B37}" srcOrd="0" destOrd="0" presId="urn:microsoft.com/office/officeart/2005/8/layout/default"/>
    <dgm:cxn modelId="{1E5A3CA8-BEB8-4344-B050-03C334612900}" srcId="{5C335EF2-2ED9-4D49-8E9C-429615503F4E}" destId="{A54FB5EB-E1BE-4C5D-83CC-04EBD5269DAD}" srcOrd="12" destOrd="0" parTransId="{50763CB3-245F-4166-822B-0971DA5D8A2F}" sibTransId="{52A1D19D-A8D7-4AF8-9CB7-2101DCC66B29}"/>
    <dgm:cxn modelId="{D38F94B1-C8F4-4E9F-AD9F-6C30E97B3BA7}" srcId="{5C335EF2-2ED9-4D49-8E9C-429615503F4E}" destId="{1D5B5EEC-527F-4739-8953-5EDF9897F01E}" srcOrd="2" destOrd="0" parTransId="{7CEF9F79-E9ED-405A-B962-FFDF21933D00}" sibTransId="{E35C5FE7-B061-43E6-8917-D267C28869BE}"/>
    <dgm:cxn modelId="{A2ECC1C4-ED71-4863-BEF8-86EBD12FFBC9}" type="presOf" srcId="{B2A267DF-7C1E-4E3F-82CB-226E78F362AF}" destId="{47DB15A9-9B8C-4BC3-9DEB-C923BF0C1808}" srcOrd="0" destOrd="0" presId="urn:microsoft.com/office/officeart/2005/8/layout/default"/>
    <dgm:cxn modelId="{1352FDC8-8E0D-4AD4-8471-E69DD1A4922B}" type="presOf" srcId="{7E27C39E-6CF1-4ED6-B40E-98B19F602FF7}" destId="{B92AB82A-58C3-4551-8FC8-F805FE7A4D44}" srcOrd="0" destOrd="0" presId="urn:microsoft.com/office/officeart/2005/8/layout/default"/>
    <dgm:cxn modelId="{6F2070D9-2B0B-4D54-84AB-A7FE5ED2571E}" type="presOf" srcId="{A54FB5EB-E1BE-4C5D-83CC-04EBD5269DAD}" destId="{FD34DEE1-FE0F-49C6-867E-08CD90154034}" srcOrd="0" destOrd="0" presId="urn:microsoft.com/office/officeart/2005/8/layout/default"/>
    <dgm:cxn modelId="{3C9A00EE-5448-47BE-8BCA-8EED7487629E}" type="presOf" srcId="{1F57335C-6A90-4ECF-920A-5C231F63EF24}" destId="{DE5E9512-042C-43A7-9EFE-4F09E62DDBF0}" srcOrd="0" destOrd="0" presId="urn:microsoft.com/office/officeart/2005/8/layout/default"/>
    <dgm:cxn modelId="{C6E721F2-DA5C-4B34-90D9-9795D32D0DD5}" srcId="{5C335EF2-2ED9-4D49-8E9C-429615503F4E}" destId="{B2A267DF-7C1E-4E3F-82CB-226E78F362AF}" srcOrd="3" destOrd="0" parTransId="{1B41529B-E0F9-43C1-B348-A34FE0749925}" sibTransId="{24F62A03-9EA8-4737-95FF-2721FCAB6671}"/>
    <dgm:cxn modelId="{26072EF7-C4E6-4C27-A979-F8CE1A058FA1}" type="presOf" srcId="{C56CDE80-D105-423F-B756-B2A291500C95}" destId="{B3742F96-B0EE-445B-897B-F86F344ED112}" srcOrd="0" destOrd="0" presId="urn:microsoft.com/office/officeart/2005/8/layout/default"/>
    <dgm:cxn modelId="{D2ACE9FE-AD6D-4279-9B82-423B7BDA7565}" srcId="{5C335EF2-2ED9-4D49-8E9C-429615503F4E}" destId="{7E27C39E-6CF1-4ED6-B40E-98B19F602FF7}" srcOrd="11" destOrd="0" parTransId="{FB5DF22E-C2EF-4CB3-A69D-B342B16F2C6F}" sibTransId="{D417E3C1-3316-4E8F-840E-9823EFAA4AC0}"/>
    <dgm:cxn modelId="{D5B904A4-DFCA-435E-852F-A2AD1033B3AB}" type="presParOf" srcId="{E072FFC0-96A5-4BAF-9A74-2E762D5DB43F}" destId="{718CDC42-8E03-4FA6-A0F8-0E6448EF3B37}" srcOrd="0" destOrd="0" presId="urn:microsoft.com/office/officeart/2005/8/layout/default"/>
    <dgm:cxn modelId="{F256DD66-13FD-440B-8BE7-4AF5185D4CDE}" type="presParOf" srcId="{E072FFC0-96A5-4BAF-9A74-2E762D5DB43F}" destId="{F0C38081-3FCF-4D39-BDDC-F3F8A7DE82C9}" srcOrd="1" destOrd="0" presId="urn:microsoft.com/office/officeart/2005/8/layout/default"/>
    <dgm:cxn modelId="{9ECDAF04-1745-43C3-A03D-45CF7CF58D6D}" type="presParOf" srcId="{E072FFC0-96A5-4BAF-9A74-2E762D5DB43F}" destId="{B3742F96-B0EE-445B-897B-F86F344ED112}" srcOrd="2" destOrd="0" presId="urn:microsoft.com/office/officeart/2005/8/layout/default"/>
    <dgm:cxn modelId="{0F41B063-D97A-44DB-90F0-E00C16AD113D}" type="presParOf" srcId="{E072FFC0-96A5-4BAF-9A74-2E762D5DB43F}" destId="{C9E38FE0-6374-4F69-BF93-5CF22CAA569F}" srcOrd="3" destOrd="0" presId="urn:microsoft.com/office/officeart/2005/8/layout/default"/>
    <dgm:cxn modelId="{48BFB2E0-4633-46BC-A763-C57C30E6BB09}" type="presParOf" srcId="{E072FFC0-96A5-4BAF-9A74-2E762D5DB43F}" destId="{8CED9FF1-8C6F-417A-A2E4-8504331A90AE}" srcOrd="4" destOrd="0" presId="urn:microsoft.com/office/officeart/2005/8/layout/default"/>
    <dgm:cxn modelId="{FCF414D3-214B-41D5-AF62-9798CEEA6B8A}" type="presParOf" srcId="{E072FFC0-96A5-4BAF-9A74-2E762D5DB43F}" destId="{8F8B2758-8C33-4142-A81F-AE723A40E999}" srcOrd="5" destOrd="0" presId="urn:microsoft.com/office/officeart/2005/8/layout/default"/>
    <dgm:cxn modelId="{9F8005C2-454E-40A5-A8D8-30090FE9BE4C}" type="presParOf" srcId="{E072FFC0-96A5-4BAF-9A74-2E762D5DB43F}" destId="{47DB15A9-9B8C-4BC3-9DEB-C923BF0C1808}" srcOrd="6" destOrd="0" presId="urn:microsoft.com/office/officeart/2005/8/layout/default"/>
    <dgm:cxn modelId="{26671EB1-A77F-498C-87CB-D8FB905C16E2}" type="presParOf" srcId="{E072FFC0-96A5-4BAF-9A74-2E762D5DB43F}" destId="{B29437E4-798D-4AB6-974C-412B8B9CD810}" srcOrd="7" destOrd="0" presId="urn:microsoft.com/office/officeart/2005/8/layout/default"/>
    <dgm:cxn modelId="{EC993D6A-C4F2-40A6-AD1D-5EADADF8546D}" type="presParOf" srcId="{E072FFC0-96A5-4BAF-9A74-2E762D5DB43F}" destId="{5D9E12CC-0587-4297-83D4-4CAB3D3795C4}" srcOrd="8" destOrd="0" presId="urn:microsoft.com/office/officeart/2005/8/layout/default"/>
    <dgm:cxn modelId="{5FC2B757-7DDC-4DCF-9E15-8570210C662C}" type="presParOf" srcId="{E072FFC0-96A5-4BAF-9A74-2E762D5DB43F}" destId="{F54028B7-0418-454A-99BF-4A1B1D7076AB}" srcOrd="9" destOrd="0" presId="urn:microsoft.com/office/officeart/2005/8/layout/default"/>
    <dgm:cxn modelId="{BDCE421B-817B-4785-B5B8-F7FD558119C8}" type="presParOf" srcId="{E072FFC0-96A5-4BAF-9A74-2E762D5DB43F}" destId="{DE5E9512-042C-43A7-9EFE-4F09E62DDBF0}" srcOrd="10" destOrd="0" presId="urn:microsoft.com/office/officeart/2005/8/layout/default"/>
    <dgm:cxn modelId="{E1673351-8504-4DAA-BC71-76068EDCBA1A}" type="presParOf" srcId="{E072FFC0-96A5-4BAF-9A74-2E762D5DB43F}" destId="{0765F51E-0A89-4FC7-AC61-60BE7513F2E3}" srcOrd="11" destOrd="0" presId="urn:microsoft.com/office/officeart/2005/8/layout/default"/>
    <dgm:cxn modelId="{37402082-1C5C-4D73-8BA0-12DABB27C931}" type="presParOf" srcId="{E072FFC0-96A5-4BAF-9A74-2E762D5DB43F}" destId="{CED0D659-64C8-489C-98D9-BC9EB19CF907}" srcOrd="12" destOrd="0" presId="urn:microsoft.com/office/officeart/2005/8/layout/default"/>
    <dgm:cxn modelId="{87EE3925-4BDB-42D5-A22A-B02F9971CBAB}" type="presParOf" srcId="{E072FFC0-96A5-4BAF-9A74-2E762D5DB43F}" destId="{27DD7369-F467-48C6-98FA-3FA57DB7C07C}" srcOrd="13" destOrd="0" presId="urn:microsoft.com/office/officeart/2005/8/layout/default"/>
    <dgm:cxn modelId="{8C75233A-EA83-4588-A226-D587A2CCFD0F}" type="presParOf" srcId="{E072FFC0-96A5-4BAF-9A74-2E762D5DB43F}" destId="{F2926C71-FDCD-4070-8D61-70747190AF11}" srcOrd="14" destOrd="0" presId="urn:microsoft.com/office/officeart/2005/8/layout/default"/>
    <dgm:cxn modelId="{DADFC279-1261-4B2C-B16A-5B32E75708F9}" type="presParOf" srcId="{E072FFC0-96A5-4BAF-9A74-2E762D5DB43F}" destId="{5535449D-F97C-49E2-A14F-D9C169114BF6}" srcOrd="15" destOrd="0" presId="urn:microsoft.com/office/officeart/2005/8/layout/default"/>
    <dgm:cxn modelId="{C2732FB9-75DE-44DC-AD50-C07725F2197F}" type="presParOf" srcId="{E072FFC0-96A5-4BAF-9A74-2E762D5DB43F}" destId="{D79454EB-EAB7-4C41-84FD-B856D4E885D8}" srcOrd="16" destOrd="0" presId="urn:microsoft.com/office/officeart/2005/8/layout/default"/>
    <dgm:cxn modelId="{4C5D37D2-6BEA-4302-A0C0-6AB95F39BD28}" type="presParOf" srcId="{E072FFC0-96A5-4BAF-9A74-2E762D5DB43F}" destId="{F3AA9072-1116-4F33-89C3-127019ABB78A}" srcOrd="17" destOrd="0" presId="urn:microsoft.com/office/officeart/2005/8/layout/default"/>
    <dgm:cxn modelId="{A6BAD27B-E73D-4167-AF18-9FB41CF13313}" type="presParOf" srcId="{E072FFC0-96A5-4BAF-9A74-2E762D5DB43F}" destId="{A1D16406-138E-4C62-BC77-74F5C66978FF}" srcOrd="18" destOrd="0" presId="urn:microsoft.com/office/officeart/2005/8/layout/default"/>
    <dgm:cxn modelId="{4270EC6A-61D2-4879-8985-DD3B9478E1E5}" type="presParOf" srcId="{E072FFC0-96A5-4BAF-9A74-2E762D5DB43F}" destId="{F89005ED-BAC3-42F3-BB02-E98D9B9FCC03}" srcOrd="19" destOrd="0" presId="urn:microsoft.com/office/officeart/2005/8/layout/default"/>
    <dgm:cxn modelId="{2EBF8470-ADF5-490C-89CC-0243E454B883}" type="presParOf" srcId="{E072FFC0-96A5-4BAF-9A74-2E762D5DB43F}" destId="{BB81B29A-9F02-4AF1-9E7F-A5B91ADBAC35}" srcOrd="20" destOrd="0" presId="urn:microsoft.com/office/officeart/2005/8/layout/default"/>
    <dgm:cxn modelId="{96571495-897D-4556-9054-43EE21627065}" type="presParOf" srcId="{E072FFC0-96A5-4BAF-9A74-2E762D5DB43F}" destId="{F1CEA2E3-386C-4E67-88C6-72ADEEA30891}" srcOrd="21" destOrd="0" presId="urn:microsoft.com/office/officeart/2005/8/layout/default"/>
    <dgm:cxn modelId="{EC5DDDAB-7F1D-4D10-935A-6B811A9D9B41}" type="presParOf" srcId="{E072FFC0-96A5-4BAF-9A74-2E762D5DB43F}" destId="{B92AB82A-58C3-4551-8FC8-F805FE7A4D44}" srcOrd="22" destOrd="0" presId="urn:microsoft.com/office/officeart/2005/8/layout/default"/>
    <dgm:cxn modelId="{2D6F8F85-6DD2-4ABF-9D3B-3C1D857AFDA8}" type="presParOf" srcId="{E072FFC0-96A5-4BAF-9A74-2E762D5DB43F}" destId="{7077A2CF-252D-4039-9116-3B78ED2EAF2B}" srcOrd="23" destOrd="0" presId="urn:microsoft.com/office/officeart/2005/8/layout/default"/>
    <dgm:cxn modelId="{2620A6D6-8CED-4B6B-B31F-5FD0A580D5F7}" type="presParOf" srcId="{E072FFC0-96A5-4BAF-9A74-2E762D5DB43F}" destId="{FD34DEE1-FE0F-49C6-867E-08CD90154034}" srcOrd="2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D6E4F5-9C73-42BD-B0DC-A450F91E91AF}">
      <dsp:nvSpPr>
        <dsp:cNvPr id="0" name=""/>
        <dsp:cNvSpPr/>
      </dsp:nvSpPr>
      <dsp:spPr>
        <a:xfrm rot="5400000">
          <a:off x="6165383" y="-2680198"/>
          <a:ext cx="963175" cy="6568016"/>
        </a:xfrm>
        <a:prstGeom prst="round2Same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20955" rIns="41910" bIns="20955" numCol="1" spcCol="1270" anchor="ctr" anchorCtr="0">
          <a:noAutofit/>
        </a:bodyPr>
        <a:lstStyle/>
        <a:p>
          <a:pPr marL="57150" lvl="1" indent="-57150" algn="l" defTabSz="488950">
            <a:lnSpc>
              <a:spcPct val="90000"/>
            </a:lnSpc>
            <a:spcBef>
              <a:spcPct val="0"/>
            </a:spcBef>
            <a:spcAft>
              <a:spcPct val="15000"/>
            </a:spcAft>
            <a:buChar char="•"/>
          </a:pPr>
          <a:r>
            <a:rPr lang="en-US" altLang="en-US" sz="1100" kern="1200" dirty="0"/>
            <a:t>DevOps </a:t>
          </a:r>
          <a:r>
            <a:rPr lang="zh-CN" altLang="en-US" sz="1100" kern="1200" dirty="0"/>
            <a:t>不是一套自动化工具。协作、持续交付、持续测试和持续集成不是实现工具。相反，它们是需要在项目中采用的实践。尽管确实有很多工具，比如</a:t>
          </a:r>
          <a:r>
            <a:rPr lang="en-US" altLang="en-US" sz="1100" kern="1200" dirty="0"/>
            <a:t>GitHub </a:t>
          </a:r>
          <a:r>
            <a:rPr lang="zh-CN" altLang="en-US" sz="1100" kern="1200" dirty="0"/>
            <a:t>和 </a:t>
          </a:r>
          <a:r>
            <a:rPr lang="en-US" altLang="en-US" sz="1100" kern="1200" dirty="0"/>
            <a:t>Docker</a:t>
          </a:r>
          <a:r>
            <a:rPr lang="zh-CN" altLang="en-US" sz="1100" kern="1200" dirty="0"/>
            <a:t>，它们通常都有助于 </a:t>
          </a:r>
          <a:r>
            <a:rPr lang="en-US" altLang="en-US" sz="1100" kern="1200" dirty="0"/>
            <a:t>DevOps </a:t>
          </a:r>
          <a:r>
            <a:rPr lang="zh-CN" altLang="en-US" sz="1100" kern="1200" dirty="0"/>
            <a:t>实践的实现，但是只有当团队成员知道如何优化并将它们引入到工作方法中时，它们才是有效的。</a:t>
          </a:r>
        </a:p>
      </dsp:txBody>
      <dsp:txXfrm rot="-5400000">
        <a:off x="3362963" y="169240"/>
        <a:ext cx="6520998" cy="869139"/>
      </dsp:txXfrm>
    </dsp:sp>
    <dsp:sp modelId="{45F02109-4385-49EC-8BA6-BCB8B86A66FB}">
      <dsp:nvSpPr>
        <dsp:cNvPr id="0" name=""/>
        <dsp:cNvSpPr/>
      </dsp:nvSpPr>
      <dsp:spPr>
        <a:xfrm>
          <a:off x="331545" y="1824"/>
          <a:ext cx="3031418" cy="1203969"/>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altLang="zh-CN" sz="2400" kern="1200" dirty="0"/>
            <a:t>DevOps </a:t>
          </a:r>
          <a:r>
            <a:rPr lang="zh-CN" altLang="en-US" sz="2400" kern="1200" dirty="0"/>
            <a:t>不是一套自动化工具</a:t>
          </a:r>
        </a:p>
      </dsp:txBody>
      <dsp:txXfrm>
        <a:off x="390318" y="60597"/>
        <a:ext cx="2913872" cy="1086423"/>
      </dsp:txXfrm>
    </dsp:sp>
    <dsp:sp modelId="{E9E38168-228D-42C5-B3D9-DAAF9F271C63}">
      <dsp:nvSpPr>
        <dsp:cNvPr id="0" name=""/>
        <dsp:cNvSpPr/>
      </dsp:nvSpPr>
      <dsp:spPr>
        <a:xfrm rot="5400000">
          <a:off x="6165383" y="-1416030"/>
          <a:ext cx="963175" cy="6568016"/>
        </a:xfrm>
        <a:prstGeom prst="round2Same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20955" rIns="41910" bIns="20955" numCol="1" spcCol="1270" anchor="ctr" anchorCtr="0">
          <a:noAutofit/>
        </a:bodyPr>
        <a:lstStyle/>
        <a:p>
          <a:pPr marL="57150" lvl="1" indent="-57150" algn="l" defTabSz="488950">
            <a:lnSpc>
              <a:spcPct val="90000"/>
            </a:lnSpc>
            <a:spcBef>
              <a:spcPct val="0"/>
            </a:spcBef>
            <a:spcAft>
              <a:spcPct val="15000"/>
            </a:spcAft>
            <a:buChar char="•"/>
          </a:pPr>
          <a:r>
            <a:rPr lang="zh-CN" altLang="en-US" sz="1100" kern="1200" dirty="0"/>
            <a:t>根据无运维（</a:t>
          </a:r>
          <a:r>
            <a:rPr lang="en-US" altLang="zh-CN" sz="1100" kern="1200" dirty="0" err="1"/>
            <a:t>NoOps</a:t>
          </a:r>
          <a:r>
            <a:rPr lang="zh-CN" altLang="en-US" sz="1100" kern="1200" dirty="0"/>
            <a:t>）的概念，</a:t>
          </a:r>
          <a:r>
            <a:rPr lang="en-US" altLang="zh-CN" sz="1100" kern="1200" dirty="0"/>
            <a:t>IT </a:t>
          </a:r>
          <a:r>
            <a:rPr lang="zh-CN" altLang="en-US" sz="1100" kern="1200" dirty="0"/>
            <a:t>行业将变得非常自动化，不需要任何内部团队来管理软件。然而，无论服务变得多么自动化，运维总是需要的。尽管这些运维的工作可能会有一些变化，但它们在 </a:t>
          </a:r>
          <a:r>
            <a:rPr lang="en-US" altLang="zh-CN" sz="1100" kern="1200" dirty="0"/>
            <a:t>DevOps </a:t>
          </a:r>
          <a:r>
            <a:rPr lang="zh-CN" altLang="en-US" sz="1100" kern="1200" dirty="0"/>
            <a:t>中仍然具有重要意义。</a:t>
          </a:r>
        </a:p>
      </dsp:txBody>
      <dsp:txXfrm rot="-5400000">
        <a:off x="3362963" y="1433408"/>
        <a:ext cx="6520998" cy="869139"/>
      </dsp:txXfrm>
    </dsp:sp>
    <dsp:sp modelId="{88E9130A-CB81-4FEE-B97A-018EE73FB64D}">
      <dsp:nvSpPr>
        <dsp:cNvPr id="0" name=""/>
        <dsp:cNvSpPr/>
      </dsp:nvSpPr>
      <dsp:spPr>
        <a:xfrm>
          <a:off x="331545" y="1265992"/>
          <a:ext cx="3031418" cy="1203969"/>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altLang="zh-CN" sz="2400" kern="1200" dirty="0"/>
            <a:t>DevOps </a:t>
          </a:r>
          <a:r>
            <a:rPr lang="zh-CN" altLang="en-US" sz="2400" kern="1200" dirty="0"/>
            <a:t>没有取消 </a:t>
          </a:r>
          <a:r>
            <a:rPr lang="en-US" altLang="zh-CN" sz="2400" kern="1200" dirty="0"/>
            <a:t>IT </a:t>
          </a:r>
          <a:r>
            <a:rPr lang="zh-CN" altLang="en-US" sz="2400" kern="1200" dirty="0"/>
            <a:t>运维</a:t>
          </a:r>
        </a:p>
      </dsp:txBody>
      <dsp:txXfrm>
        <a:off x="390318" y="1324765"/>
        <a:ext cx="2913872" cy="1086423"/>
      </dsp:txXfrm>
    </dsp:sp>
    <dsp:sp modelId="{D8BAF8B1-BA52-416C-A946-0F836FA5B70D}">
      <dsp:nvSpPr>
        <dsp:cNvPr id="0" name=""/>
        <dsp:cNvSpPr/>
      </dsp:nvSpPr>
      <dsp:spPr>
        <a:xfrm rot="5400000">
          <a:off x="6165383" y="-151862"/>
          <a:ext cx="963175" cy="6568016"/>
        </a:xfrm>
        <a:prstGeom prst="round2Same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20955" rIns="41910" bIns="20955" numCol="1" spcCol="1270" anchor="ctr" anchorCtr="0">
          <a:noAutofit/>
        </a:bodyPr>
        <a:lstStyle/>
        <a:p>
          <a:pPr marL="57150" lvl="1" indent="-57150" algn="just" defTabSz="488950">
            <a:lnSpc>
              <a:spcPct val="90000"/>
            </a:lnSpc>
            <a:spcBef>
              <a:spcPct val="0"/>
            </a:spcBef>
            <a:spcAft>
              <a:spcPct val="15000"/>
            </a:spcAft>
            <a:buChar char="•"/>
          </a:pPr>
          <a:r>
            <a:rPr lang="zh-CN" altLang="en-US" sz="1100" kern="1200" dirty="0"/>
            <a:t>尽管软件的持续交付表明企业已经实现了 </a:t>
          </a:r>
          <a:r>
            <a:rPr lang="en-US" altLang="zh-CN" sz="1100" kern="1200" dirty="0"/>
            <a:t>DevOps </a:t>
          </a:r>
          <a:r>
            <a:rPr lang="zh-CN" altLang="en-US" sz="1100" kern="1200" dirty="0"/>
            <a:t>的重要组件，但这两项服务并不能完全等同。</a:t>
          </a:r>
          <a:r>
            <a:rPr lang="en-US" altLang="zh-CN" sz="1100" kern="1200" dirty="0"/>
            <a:t>DevOps </a:t>
          </a:r>
          <a:r>
            <a:rPr lang="zh-CN" altLang="en-US" sz="1100" kern="1200" dirty="0"/>
            <a:t>的主要关注点应该是改进工作文化，维护基础设施和软件。此外，它还必须支持销售和市场部门。</a:t>
          </a:r>
        </a:p>
      </dsp:txBody>
      <dsp:txXfrm rot="-5400000">
        <a:off x="3362963" y="2697576"/>
        <a:ext cx="6520998" cy="869139"/>
      </dsp:txXfrm>
    </dsp:sp>
    <dsp:sp modelId="{89B22E02-F503-47EF-8F1D-C12C390B5FC0}">
      <dsp:nvSpPr>
        <dsp:cNvPr id="0" name=""/>
        <dsp:cNvSpPr/>
      </dsp:nvSpPr>
      <dsp:spPr>
        <a:xfrm>
          <a:off x="331545" y="2530160"/>
          <a:ext cx="3031418" cy="1203969"/>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altLang="zh-CN" sz="2400" kern="1200" dirty="0"/>
            <a:t>DevOps </a:t>
          </a:r>
          <a:r>
            <a:rPr lang="zh-CN" altLang="en-US" sz="2400" kern="1200" dirty="0"/>
            <a:t>不等同于持续交付</a:t>
          </a:r>
        </a:p>
      </dsp:txBody>
      <dsp:txXfrm>
        <a:off x="390318" y="2588933"/>
        <a:ext cx="2913872" cy="108642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4B1C1F-D2A0-454F-9D11-4874B243F150}">
      <dsp:nvSpPr>
        <dsp:cNvPr id="0" name=""/>
        <dsp:cNvSpPr/>
      </dsp:nvSpPr>
      <dsp:spPr>
        <a:xfrm>
          <a:off x="4566" y="776623"/>
          <a:ext cx="1996622" cy="1197973"/>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zh-CN" altLang="en-US" sz="2300" b="0" i="0" kern="1200" dirty="0">
              <a:effectLst/>
              <a:latin typeface="Arial" panose="020B0604020202020204" pitchFamily="34" charset="0"/>
            </a:rPr>
            <a:t>统一的分支策略</a:t>
          </a:r>
          <a:endParaRPr lang="zh-CN" altLang="en-US" sz="2300" kern="1200" dirty="0"/>
        </a:p>
      </dsp:txBody>
      <dsp:txXfrm>
        <a:off x="39653" y="811710"/>
        <a:ext cx="1926448" cy="1127799"/>
      </dsp:txXfrm>
    </dsp:sp>
    <dsp:sp modelId="{C8CDB72D-EF83-489F-A9AF-CFC322F0F7E8}">
      <dsp:nvSpPr>
        <dsp:cNvPr id="0" name=""/>
        <dsp:cNvSpPr/>
      </dsp:nvSpPr>
      <dsp:spPr>
        <a:xfrm>
          <a:off x="2200851" y="1128029"/>
          <a:ext cx="423283" cy="495162"/>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zh-CN" altLang="en-US" sz="1900" kern="1200"/>
        </a:p>
      </dsp:txBody>
      <dsp:txXfrm>
        <a:off x="2200851" y="1227061"/>
        <a:ext cx="296298" cy="297098"/>
      </dsp:txXfrm>
    </dsp:sp>
    <dsp:sp modelId="{2D4E3701-045F-40A0-82D4-275BB4A5CCFF}">
      <dsp:nvSpPr>
        <dsp:cNvPr id="0" name=""/>
        <dsp:cNvSpPr/>
      </dsp:nvSpPr>
      <dsp:spPr>
        <a:xfrm>
          <a:off x="2799838" y="776623"/>
          <a:ext cx="1996622" cy="1197973"/>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zh-CN" altLang="en-US" sz="2300" b="0" i="0" kern="1200" dirty="0">
              <a:effectLst/>
              <a:latin typeface="Arial" panose="020B0604020202020204" pitchFamily="34" charset="0"/>
            </a:rPr>
            <a:t>清晰的集成规则</a:t>
          </a:r>
          <a:endParaRPr lang="zh-CN" altLang="en-US" sz="2300" kern="1200" dirty="0"/>
        </a:p>
      </dsp:txBody>
      <dsp:txXfrm>
        <a:off x="2834925" y="811710"/>
        <a:ext cx="1926448" cy="1127799"/>
      </dsp:txXfrm>
    </dsp:sp>
    <dsp:sp modelId="{A6F462CC-247B-42CE-A414-3702430F182C}">
      <dsp:nvSpPr>
        <dsp:cNvPr id="0" name=""/>
        <dsp:cNvSpPr/>
      </dsp:nvSpPr>
      <dsp:spPr>
        <a:xfrm>
          <a:off x="4996122" y="1128029"/>
          <a:ext cx="423283" cy="495162"/>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zh-CN" altLang="en-US" sz="1900" kern="1200"/>
        </a:p>
      </dsp:txBody>
      <dsp:txXfrm>
        <a:off x="4996122" y="1227061"/>
        <a:ext cx="296298" cy="297098"/>
      </dsp:txXfrm>
    </dsp:sp>
    <dsp:sp modelId="{BA765493-A5F3-4D02-8F1F-45EB7B165741}">
      <dsp:nvSpPr>
        <dsp:cNvPr id="0" name=""/>
        <dsp:cNvSpPr/>
      </dsp:nvSpPr>
      <dsp:spPr>
        <a:xfrm>
          <a:off x="5595109" y="776623"/>
          <a:ext cx="1996622" cy="1197973"/>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zh-CN" altLang="en-US" sz="2300" b="0" i="0" kern="1200" dirty="0">
              <a:effectLst/>
              <a:latin typeface="Arial" panose="020B0604020202020204" pitchFamily="34" charset="0"/>
            </a:rPr>
            <a:t>标准化的资源池</a:t>
          </a:r>
          <a:endParaRPr lang="zh-CN" altLang="en-US" sz="2300" kern="1200" dirty="0"/>
        </a:p>
      </dsp:txBody>
      <dsp:txXfrm>
        <a:off x="5630196" y="811710"/>
        <a:ext cx="1926448" cy="1127799"/>
      </dsp:txXfrm>
    </dsp:sp>
    <dsp:sp modelId="{741C46E1-86D6-46CE-959D-5AD6AC04460A}">
      <dsp:nvSpPr>
        <dsp:cNvPr id="0" name=""/>
        <dsp:cNvSpPr/>
      </dsp:nvSpPr>
      <dsp:spPr>
        <a:xfrm>
          <a:off x="7791394" y="1128029"/>
          <a:ext cx="423283" cy="495162"/>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zh-CN" altLang="en-US" sz="1900" kern="1200"/>
        </a:p>
      </dsp:txBody>
      <dsp:txXfrm>
        <a:off x="7791394" y="1227061"/>
        <a:ext cx="296298" cy="297098"/>
      </dsp:txXfrm>
    </dsp:sp>
    <dsp:sp modelId="{A40624BE-EC87-472B-BFCE-317348926242}">
      <dsp:nvSpPr>
        <dsp:cNvPr id="0" name=""/>
        <dsp:cNvSpPr/>
      </dsp:nvSpPr>
      <dsp:spPr>
        <a:xfrm>
          <a:off x="8390380" y="776623"/>
          <a:ext cx="1996622" cy="1197973"/>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zh-CN" altLang="en-US" sz="2300" b="0" i="0" kern="1200">
              <a:effectLst/>
              <a:latin typeface="Arial" panose="020B0604020202020204" pitchFamily="34" charset="0"/>
            </a:rPr>
            <a:t>足够快的反馈周期</a:t>
          </a:r>
          <a:endParaRPr lang="zh-CN" altLang="en-US" sz="2300" kern="1200" dirty="0"/>
        </a:p>
      </dsp:txBody>
      <dsp:txXfrm>
        <a:off x="8425467" y="811710"/>
        <a:ext cx="1926448" cy="112779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8CDC42-8E03-4FA6-A0F8-0E6448EF3B37}">
      <dsp:nvSpPr>
        <dsp:cNvPr id="0" name=""/>
        <dsp:cNvSpPr/>
      </dsp:nvSpPr>
      <dsp:spPr>
        <a:xfrm>
          <a:off x="700929" y="1687"/>
          <a:ext cx="2187352" cy="1312411"/>
        </a:xfrm>
        <a:prstGeom prst="rect">
          <a:avLst/>
        </a:prstGeom>
        <a:solidFill>
          <a:schemeClr val="tx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 altLang="zh-CN" sz="2200" b="0" i="0" kern="1200" dirty="0">
              <a:solidFill>
                <a:schemeClr val="bg1"/>
              </a:solidFill>
              <a:effectLst/>
              <a:latin typeface="+mn-ea"/>
            </a:rPr>
            <a:t>Jenkins</a:t>
          </a:r>
          <a:endParaRPr lang="en-US" sz="2200" kern="1200" dirty="0">
            <a:solidFill>
              <a:schemeClr val="bg1"/>
            </a:solidFill>
          </a:endParaRPr>
        </a:p>
      </dsp:txBody>
      <dsp:txXfrm>
        <a:off x="700929" y="1687"/>
        <a:ext cx="2187352" cy="1312411"/>
      </dsp:txXfrm>
    </dsp:sp>
    <dsp:sp modelId="{B3742F96-B0EE-445B-897B-F86F344ED112}">
      <dsp:nvSpPr>
        <dsp:cNvPr id="0" name=""/>
        <dsp:cNvSpPr/>
      </dsp:nvSpPr>
      <dsp:spPr>
        <a:xfrm>
          <a:off x="3107017" y="1687"/>
          <a:ext cx="2187352" cy="1312411"/>
        </a:xfrm>
        <a:prstGeom prst="rect">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 altLang="zh-CN" sz="2200" b="0" i="0" kern="1200" dirty="0">
              <a:solidFill>
                <a:schemeClr val="bg1"/>
              </a:solidFill>
              <a:effectLst/>
              <a:latin typeface="+mn-ea"/>
            </a:rPr>
            <a:t>Travis CI</a:t>
          </a:r>
          <a:endParaRPr lang="en-US" sz="2200" kern="1200" dirty="0">
            <a:solidFill>
              <a:schemeClr val="bg1"/>
            </a:solidFill>
          </a:endParaRPr>
        </a:p>
      </dsp:txBody>
      <dsp:txXfrm>
        <a:off x="3107017" y="1687"/>
        <a:ext cx="2187352" cy="1312411"/>
      </dsp:txXfrm>
    </dsp:sp>
    <dsp:sp modelId="{8CED9FF1-8C6F-417A-A2E4-8504331A90AE}">
      <dsp:nvSpPr>
        <dsp:cNvPr id="0" name=""/>
        <dsp:cNvSpPr/>
      </dsp:nvSpPr>
      <dsp:spPr>
        <a:xfrm>
          <a:off x="5513105" y="1687"/>
          <a:ext cx="2187352" cy="1312411"/>
        </a:xfrm>
        <a:prstGeom prst="rect">
          <a:avLst/>
        </a:prstGeom>
        <a:solidFill>
          <a:schemeClr val="accent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 altLang="zh-CN" sz="2200" b="0" i="0" kern="1200" dirty="0">
              <a:solidFill>
                <a:schemeClr val="bg1"/>
              </a:solidFill>
              <a:effectLst/>
              <a:latin typeface="+mn-ea"/>
            </a:rPr>
            <a:t>Circle CI</a:t>
          </a:r>
          <a:endParaRPr lang="en-US" sz="2200" kern="1200" dirty="0">
            <a:solidFill>
              <a:schemeClr val="bg1"/>
            </a:solidFill>
          </a:endParaRPr>
        </a:p>
      </dsp:txBody>
      <dsp:txXfrm>
        <a:off x="5513105" y="1687"/>
        <a:ext cx="2187352" cy="1312411"/>
      </dsp:txXfrm>
    </dsp:sp>
    <dsp:sp modelId="{47DB15A9-9B8C-4BC3-9DEB-C923BF0C1808}">
      <dsp:nvSpPr>
        <dsp:cNvPr id="0" name=""/>
        <dsp:cNvSpPr/>
      </dsp:nvSpPr>
      <dsp:spPr>
        <a:xfrm>
          <a:off x="7919193" y="1687"/>
          <a:ext cx="2187352" cy="1312411"/>
        </a:xfrm>
        <a:prstGeom prst="rect">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 altLang="zh-CN" sz="2200" b="0" i="0" kern="1200" dirty="0">
              <a:solidFill>
                <a:schemeClr val="bg1"/>
              </a:solidFill>
              <a:effectLst/>
              <a:latin typeface="+mn-ea"/>
            </a:rPr>
            <a:t>TeamCity</a:t>
          </a:r>
          <a:endParaRPr lang="en-US" sz="2200" kern="1200" dirty="0">
            <a:solidFill>
              <a:schemeClr val="bg1"/>
            </a:solidFill>
          </a:endParaRPr>
        </a:p>
      </dsp:txBody>
      <dsp:txXfrm>
        <a:off x="7919193" y="1687"/>
        <a:ext cx="2187352" cy="1312411"/>
      </dsp:txXfrm>
    </dsp:sp>
    <dsp:sp modelId="{5D9E12CC-0587-4297-83D4-4CAB3D3795C4}">
      <dsp:nvSpPr>
        <dsp:cNvPr id="0" name=""/>
        <dsp:cNvSpPr/>
      </dsp:nvSpPr>
      <dsp:spPr>
        <a:xfrm>
          <a:off x="700929" y="1532834"/>
          <a:ext cx="2187352" cy="1312411"/>
        </a:xfrm>
        <a:prstGeom prst="rect">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 altLang="zh-CN" sz="2200" b="0" i="0" kern="1200" dirty="0" err="1">
              <a:solidFill>
                <a:schemeClr val="bg1"/>
              </a:solidFill>
              <a:effectLst/>
              <a:latin typeface="+mn-ea"/>
            </a:rPr>
            <a:t>Codeship</a:t>
          </a:r>
          <a:endParaRPr lang="en-US" sz="2200" kern="1200" dirty="0">
            <a:solidFill>
              <a:schemeClr val="bg1"/>
            </a:solidFill>
          </a:endParaRPr>
        </a:p>
      </dsp:txBody>
      <dsp:txXfrm>
        <a:off x="700929" y="1532834"/>
        <a:ext cx="2187352" cy="1312411"/>
      </dsp:txXfrm>
    </dsp:sp>
    <dsp:sp modelId="{DE5E9512-042C-43A7-9EFE-4F09E62DDBF0}">
      <dsp:nvSpPr>
        <dsp:cNvPr id="0" name=""/>
        <dsp:cNvSpPr/>
      </dsp:nvSpPr>
      <dsp:spPr>
        <a:xfrm>
          <a:off x="3107017" y="1532834"/>
          <a:ext cx="2187352" cy="1312411"/>
        </a:xfrm>
        <a:prstGeom prst="rect">
          <a:avLst/>
        </a:prstGeom>
        <a:solidFill>
          <a:schemeClr val="accent3">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 altLang="zh-CN" sz="2200" b="0" i="0" kern="1200" dirty="0">
              <a:solidFill>
                <a:schemeClr val="bg1"/>
              </a:solidFill>
              <a:effectLst/>
              <a:latin typeface="+mn-ea"/>
            </a:rPr>
            <a:t>GitLab CI</a:t>
          </a:r>
          <a:endParaRPr lang="en-US" sz="2200" kern="1200" dirty="0">
            <a:solidFill>
              <a:schemeClr val="bg1"/>
            </a:solidFill>
          </a:endParaRPr>
        </a:p>
      </dsp:txBody>
      <dsp:txXfrm>
        <a:off x="3107017" y="1532834"/>
        <a:ext cx="2187352" cy="1312411"/>
      </dsp:txXfrm>
    </dsp:sp>
    <dsp:sp modelId="{C435D5FE-E413-4A4C-89DA-DAA204FA8681}">
      <dsp:nvSpPr>
        <dsp:cNvPr id="0" name=""/>
        <dsp:cNvSpPr/>
      </dsp:nvSpPr>
      <dsp:spPr>
        <a:xfrm>
          <a:off x="5513105" y="1532834"/>
          <a:ext cx="2187352" cy="1312411"/>
        </a:xfrm>
        <a:prstGeom prst="rect">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 altLang="zh-CN" sz="2200" b="0" i="0" kern="1200" dirty="0">
              <a:solidFill>
                <a:schemeClr val="bg1"/>
              </a:solidFill>
              <a:effectLst/>
              <a:latin typeface="+mn-ea"/>
            </a:rPr>
            <a:t>Bamboo</a:t>
          </a:r>
          <a:endParaRPr lang="en-US" sz="2200" kern="1200" dirty="0">
            <a:solidFill>
              <a:schemeClr val="bg1"/>
            </a:solidFill>
          </a:endParaRPr>
        </a:p>
      </dsp:txBody>
      <dsp:txXfrm>
        <a:off x="5513105" y="1532834"/>
        <a:ext cx="2187352" cy="1312411"/>
      </dsp:txXfrm>
    </dsp:sp>
    <dsp:sp modelId="{A820CB14-F438-4600-9646-DCA8F5D31245}">
      <dsp:nvSpPr>
        <dsp:cNvPr id="0" name=""/>
        <dsp:cNvSpPr/>
      </dsp:nvSpPr>
      <dsp:spPr>
        <a:xfrm>
          <a:off x="7919193" y="1532834"/>
          <a:ext cx="2187352" cy="1312411"/>
        </a:xfrm>
        <a:prstGeom prst="rect">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altLang="zh-CN" sz="2200" b="0" i="0" kern="1200" dirty="0">
              <a:solidFill>
                <a:schemeClr val="bg1"/>
              </a:solidFill>
            </a:rPr>
            <a:t>GitHub</a:t>
          </a:r>
          <a:r>
            <a:rPr lang="zh-CN" altLang="en-US" sz="2200" b="0" i="0" kern="1200" dirty="0">
              <a:solidFill>
                <a:schemeClr val="bg1"/>
              </a:solidFill>
            </a:rPr>
            <a:t> </a:t>
          </a:r>
          <a:r>
            <a:rPr lang="en-US" altLang="zh-CN" sz="2200" b="0" i="0" kern="1200" dirty="0">
              <a:solidFill>
                <a:schemeClr val="bg1"/>
              </a:solidFill>
            </a:rPr>
            <a:t>CI</a:t>
          </a:r>
          <a:endParaRPr lang="en-US" sz="2200" kern="1200" dirty="0">
            <a:solidFill>
              <a:schemeClr val="bg1"/>
            </a:solidFill>
          </a:endParaRPr>
        </a:p>
      </dsp:txBody>
      <dsp:txXfrm>
        <a:off x="7919193" y="1532834"/>
        <a:ext cx="2187352" cy="131241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8CDC42-8E03-4FA6-A0F8-0E6448EF3B37}">
      <dsp:nvSpPr>
        <dsp:cNvPr id="0" name=""/>
        <dsp:cNvSpPr/>
      </dsp:nvSpPr>
      <dsp:spPr>
        <a:xfrm>
          <a:off x="416889" y="1100"/>
          <a:ext cx="1846980" cy="1108188"/>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 altLang="zh-CN" sz="2200" b="0" i="0" kern="1200">
              <a:effectLst/>
              <a:latin typeface="Times New Roman" panose="02020603050405020304" pitchFamily="18" charset="0"/>
              <a:cs typeface="Times New Roman" panose="02020603050405020304" pitchFamily="18" charset="0"/>
            </a:rPr>
            <a:t>OPTIONAL Install apt addons</a:t>
          </a:r>
          <a:endParaRPr lang="en-US" sz="2200" kern="1200" dirty="0">
            <a:latin typeface="Times New Roman" panose="02020603050405020304" pitchFamily="18" charset="0"/>
            <a:cs typeface="Times New Roman" panose="02020603050405020304" pitchFamily="18" charset="0"/>
          </a:endParaRPr>
        </a:p>
      </dsp:txBody>
      <dsp:txXfrm>
        <a:off x="416889" y="1100"/>
        <a:ext cx="1846980" cy="1108188"/>
      </dsp:txXfrm>
    </dsp:sp>
    <dsp:sp modelId="{B3742F96-B0EE-445B-897B-F86F344ED112}">
      <dsp:nvSpPr>
        <dsp:cNvPr id="0" name=""/>
        <dsp:cNvSpPr/>
      </dsp:nvSpPr>
      <dsp:spPr>
        <a:xfrm>
          <a:off x="2448568" y="1100"/>
          <a:ext cx="1846980" cy="1108188"/>
        </a:xfrm>
        <a:prstGeom prst="rect">
          <a:avLst/>
        </a:prstGeom>
        <a:solidFill>
          <a:schemeClr val="accent3">
            <a:hueOff val="-1789654"/>
            <a:satOff val="-5838"/>
            <a:lumOff val="-21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 altLang="zh-CN" sz="2200" b="0" i="0" kern="1200">
              <a:effectLst/>
              <a:latin typeface="Times New Roman" panose="02020603050405020304" pitchFamily="18" charset="0"/>
              <a:cs typeface="Times New Roman" panose="02020603050405020304" pitchFamily="18" charset="0"/>
            </a:rPr>
            <a:t>OPTIONAL Install cache components</a:t>
          </a:r>
          <a:endParaRPr lang="en-US" sz="2200" kern="1200" dirty="0">
            <a:latin typeface="Times New Roman" panose="02020603050405020304" pitchFamily="18" charset="0"/>
            <a:cs typeface="Times New Roman" panose="02020603050405020304" pitchFamily="18" charset="0"/>
          </a:endParaRPr>
        </a:p>
      </dsp:txBody>
      <dsp:txXfrm>
        <a:off x="2448568" y="1100"/>
        <a:ext cx="1846980" cy="1108188"/>
      </dsp:txXfrm>
    </dsp:sp>
    <dsp:sp modelId="{8CED9FF1-8C6F-417A-A2E4-8504331A90AE}">
      <dsp:nvSpPr>
        <dsp:cNvPr id="0" name=""/>
        <dsp:cNvSpPr/>
      </dsp:nvSpPr>
      <dsp:spPr>
        <a:xfrm>
          <a:off x="4480247" y="1100"/>
          <a:ext cx="1846980" cy="1108188"/>
        </a:xfrm>
        <a:prstGeom prst="rect">
          <a:avLst/>
        </a:prstGeom>
        <a:solidFill>
          <a:schemeClr val="accent3">
            <a:hueOff val="-3579309"/>
            <a:satOff val="-11675"/>
            <a:lumOff val="-42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 altLang="zh-CN" sz="2200" b="0" i="0" kern="1200">
              <a:effectLst/>
              <a:latin typeface="Times New Roman" panose="02020603050405020304" pitchFamily="18" charset="0"/>
              <a:cs typeface="Times New Roman" panose="02020603050405020304" pitchFamily="18" charset="0"/>
            </a:rPr>
            <a:t>before_install</a:t>
          </a:r>
          <a:endParaRPr lang="en-US" sz="2200" kern="1200" dirty="0">
            <a:latin typeface="Times New Roman" panose="02020603050405020304" pitchFamily="18" charset="0"/>
            <a:cs typeface="Times New Roman" panose="02020603050405020304" pitchFamily="18" charset="0"/>
          </a:endParaRPr>
        </a:p>
      </dsp:txBody>
      <dsp:txXfrm>
        <a:off x="4480247" y="1100"/>
        <a:ext cx="1846980" cy="1108188"/>
      </dsp:txXfrm>
    </dsp:sp>
    <dsp:sp modelId="{47DB15A9-9B8C-4BC3-9DEB-C923BF0C1808}">
      <dsp:nvSpPr>
        <dsp:cNvPr id="0" name=""/>
        <dsp:cNvSpPr/>
      </dsp:nvSpPr>
      <dsp:spPr>
        <a:xfrm>
          <a:off x="6511925" y="1100"/>
          <a:ext cx="1846980" cy="1108188"/>
        </a:xfrm>
        <a:prstGeom prst="rect">
          <a:avLst/>
        </a:prstGeom>
        <a:solidFill>
          <a:schemeClr val="accent3">
            <a:hueOff val="-5368963"/>
            <a:satOff val="-17513"/>
            <a:lumOff val="-63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 altLang="zh-CN" sz="2200" b="0" i="0" kern="1200">
              <a:effectLst/>
              <a:latin typeface="Times New Roman" panose="02020603050405020304" pitchFamily="18" charset="0"/>
              <a:cs typeface="Times New Roman" panose="02020603050405020304" pitchFamily="18" charset="0"/>
            </a:rPr>
            <a:t>install</a:t>
          </a:r>
          <a:endParaRPr lang="en-US" sz="2200" kern="1200" dirty="0">
            <a:latin typeface="Times New Roman" panose="02020603050405020304" pitchFamily="18" charset="0"/>
            <a:cs typeface="Times New Roman" panose="02020603050405020304" pitchFamily="18" charset="0"/>
          </a:endParaRPr>
        </a:p>
      </dsp:txBody>
      <dsp:txXfrm>
        <a:off x="6511925" y="1100"/>
        <a:ext cx="1846980" cy="1108188"/>
      </dsp:txXfrm>
    </dsp:sp>
    <dsp:sp modelId="{5D9E12CC-0587-4297-83D4-4CAB3D3795C4}">
      <dsp:nvSpPr>
        <dsp:cNvPr id="0" name=""/>
        <dsp:cNvSpPr/>
      </dsp:nvSpPr>
      <dsp:spPr>
        <a:xfrm>
          <a:off x="8543604" y="1100"/>
          <a:ext cx="1846980" cy="1108188"/>
        </a:xfrm>
        <a:prstGeom prst="rect">
          <a:avLst/>
        </a:prstGeom>
        <a:solidFill>
          <a:schemeClr val="accent3">
            <a:hueOff val="-7158617"/>
            <a:satOff val="-23350"/>
            <a:lumOff val="-85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 altLang="zh-CN" sz="2200" b="0" i="0" kern="1200">
              <a:effectLst/>
              <a:latin typeface="Times New Roman" panose="02020603050405020304" pitchFamily="18" charset="0"/>
              <a:cs typeface="Times New Roman" panose="02020603050405020304" pitchFamily="18" charset="0"/>
            </a:rPr>
            <a:t>before_script</a:t>
          </a:r>
          <a:endParaRPr lang="en-US" sz="2200" kern="1200" dirty="0">
            <a:latin typeface="Times New Roman" panose="02020603050405020304" pitchFamily="18" charset="0"/>
            <a:cs typeface="Times New Roman" panose="02020603050405020304" pitchFamily="18" charset="0"/>
          </a:endParaRPr>
        </a:p>
      </dsp:txBody>
      <dsp:txXfrm>
        <a:off x="8543604" y="1100"/>
        <a:ext cx="1846980" cy="1108188"/>
      </dsp:txXfrm>
    </dsp:sp>
    <dsp:sp modelId="{DE5E9512-042C-43A7-9EFE-4F09E62DDBF0}">
      <dsp:nvSpPr>
        <dsp:cNvPr id="0" name=""/>
        <dsp:cNvSpPr/>
      </dsp:nvSpPr>
      <dsp:spPr>
        <a:xfrm>
          <a:off x="416889" y="1293986"/>
          <a:ext cx="1846980" cy="1108188"/>
        </a:xfrm>
        <a:prstGeom prst="rect">
          <a:avLst/>
        </a:prstGeom>
        <a:solidFill>
          <a:schemeClr val="accent3">
            <a:hueOff val="-8948271"/>
            <a:satOff val="-29188"/>
            <a:lumOff val="-106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altLang="zh-CN" sz="2200" b="0" i="0" kern="1200" dirty="0">
              <a:effectLst/>
              <a:latin typeface="Times New Roman" panose="02020603050405020304" pitchFamily="18" charset="0"/>
              <a:cs typeface="Times New Roman" panose="02020603050405020304" pitchFamily="18" charset="0"/>
            </a:rPr>
            <a:t>S</a:t>
          </a:r>
          <a:r>
            <a:rPr lang="en" altLang="zh-CN" sz="2200" b="0" i="0" kern="1200" dirty="0">
              <a:effectLst/>
              <a:latin typeface="Times New Roman" panose="02020603050405020304" pitchFamily="18" charset="0"/>
              <a:cs typeface="Times New Roman" panose="02020603050405020304" pitchFamily="18" charset="0"/>
            </a:rPr>
            <a:t>cript</a:t>
          </a:r>
          <a:endParaRPr lang="en-US" sz="2200" kern="1200" dirty="0">
            <a:latin typeface="Times New Roman" panose="02020603050405020304" pitchFamily="18" charset="0"/>
            <a:cs typeface="Times New Roman" panose="02020603050405020304" pitchFamily="18" charset="0"/>
          </a:endParaRPr>
        </a:p>
      </dsp:txBody>
      <dsp:txXfrm>
        <a:off x="416889" y="1293986"/>
        <a:ext cx="1846980" cy="1108188"/>
      </dsp:txXfrm>
    </dsp:sp>
    <dsp:sp modelId="{CED0D659-64C8-489C-98D9-BC9EB19CF907}">
      <dsp:nvSpPr>
        <dsp:cNvPr id="0" name=""/>
        <dsp:cNvSpPr/>
      </dsp:nvSpPr>
      <dsp:spPr>
        <a:xfrm>
          <a:off x="2448568" y="1293986"/>
          <a:ext cx="1846980" cy="1108188"/>
        </a:xfrm>
        <a:prstGeom prst="rect">
          <a:avLst/>
        </a:prstGeom>
        <a:solidFill>
          <a:schemeClr val="accent3">
            <a:hueOff val="-10737925"/>
            <a:satOff val="-35026"/>
            <a:lumOff val="-127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977900">
            <a:lnSpc>
              <a:spcPct val="90000"/>
            </a:lnSpc>
            <a:spcBef>
              <a:spcPct val="0"/>
            </a:spcBef>
            <a:spcAft>
              <a:spcPct val="35000"/>
            </a:spcAft>
            <a:buNone/>
          </a:pPr>
          <a:r>
            <a:rPr lang="en" altLang="zh-CN" sz="2200" b="0" i="0" kern="1200">
              <a:effectLst/>
              <a:latin typeface="Times New Roman" panose="02020603050405020304" pitchFamily="18" charset="0"/>
              <a:ea typeface="Microsoft YaHei"/>
              <a:cs typeface="Times New Roman" panose="02020603050405020304" pitchFamily="18" charset="0"/>
            </a:rPr>
            <a:t>before_cache</a:t>
          </a:r>
          <a:endParaRPr lang="en-US" sz="2200" kern="1200" dirty="0">
            <a:latin typeface="Times New Roman" panose="02020603050405020304" pitchFamily="18" charset="0"/>
            <a:cs typeface="Times New Roman" panose="02020603050405020304" pitchFamily="18" charset="0"/>
          </a:endParaRPr>
        </a:p>
      </dsp:txBody>
      <dsp:txXfrm>
        <a:off x="2448568" y="1293986"/>
        <a:ext cx="1846980" cy="1108188"/>
      </dsp:txXfrm>
    </dsp:sp>
    <dsp:sp modelId="{F2926C71-FDCD-4070-8D61-70747190AF11}">
      <dsp:nvSpPr>
        <dsp:cNvPr id="0" name=""/>
        <dsp:cNvSpPr/>
      </dsp:nvSpPr>
      <dsp:spPr>
        <a:xfrm>
          <a:off x="4480247" y="1293986"/>
          <a:ext cx="1846980" cy="1108188"/>
        </a:xfrm>
        <a:prstGeom prst="rect">
          <a:avLst/>
        </a:prstGeom>
        <a:solidFill>
          <a:schemeClr val="accent3">
            <a:hueOff val="-12527579"/>
            <a:satOff val="-40863"/>
            <a:lumOff val="-148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 altLang="zh-CN" sz="2200" b="0" i="0" kern="1200">
              <a:effectLst/>
              <a:latin typeface="Times New Roman" panose="02020603050405020304" pitchFamily="18" charset="0"/>
              <a:ea typeface="Microsoft YaHei"/>
              <a:cs typeface="Times New Roman" panose="02020603050405020304" pitchFamily="18" charset="0"/>
            </a:rPr>
            <a:t>after</a:t>
          </a:r>
          <a:r>
            <a:rPr lang="en" altLang="zh-CN" sz="2200" b="0" i="0" kern="1200">
              <a:effectLst/>
              <a:latin typeface="Times New Roman" panose="02020603050405020304" pitchFamily="18" charset="0"/>
              <a:cs typeface="Times New Roman" panose="02020603050405020304" pitchFamily="18" charset="0"/>
            </a:rPr>
            <a:t>_success</a:t>
          </a:r>
          <a:endParaRPr lang="en-US" sz="2200" kern="1200" dirty="0">
            <a:latin typeface="Times New Roman" panose="02020603050405020304" pitchFamily="18" charset="0"/>
            <a:cs typeface="Times New Roman" panose="02020603050405020304" pitchFamily="18" charset="0"/>
          </a:endParaRPr>
        </a:p>
      </dsp:txBody>
      <dsp:txXfrm>
        <a:off x="4480247" y="1293986"/>
        <a:ext cx="1846980" cy="1108188"/>
      </dsp:txXfrm>
    </dsp:sp>
    <dsp:sp modelId="{D79454EB-EAB7-4C41-84FD-B856D4E885D8}">
      <dsp:nvSpPr>
        <dsp:cNvPr id="0" name=""/>
        <dsp:cNvSpPr/>
      </dsp:nvSpPr>
      <dsp:spPr>
        <a:xfrm>
          <a:off x="6511925" y="1293986"/>
          <a:ext cx="1846980" cy="1108188"/>
        </a:xfrm>
        <a:prstGeom prst="rect">
          <a:avLst/>
        </a:prstGeom>
        <a:solidFill>
          <a:schemeClr val="accent3">
            <a:hueOff val="-14317234"/>
            <a:satOff val="-46701"/>
            <a:lumOff val="-169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 altLang="zh-CN" sz="2200" b="0" i="0" kern="1200">
              <a:effectLst/>
              <a:latin typeface="Times New Roman" panose="02020603050405020304" pitchFamily="18" charset="0"/>
              <a:cs typeface="Times New Roman" panose="02020603050405020304" pitchFamily="18" charset="0"/>
            </a:rPr>
            <a:t>after_failure</a:t>
          </a:r>
          <a:endParaRPr lang="en-US" sz="2200" kern="1200" dirty="0">
            <a:latin typeface="Times New Roman" panose="02020603050405020304" pitchFamily="18" charset="0"/>
            <a:cs typeface="Times New Roman" panose="02020603050405020304" pitchFamily="18" charset="0"/>
          </a:endParaRPr>
        </a:p>
      </dsp:txBody>
      <dsp:txXfrm>
        <a:off x="6511925" y="1293986"/>
        <a:ext cx="1846980" cy="1108188"/>
      </dsp:txXfrm>
    </dsp:sp>
    <dsp:sp modelId="{A1D16406-138E-4C62-BC77-74F5C66978FF}">
      <dsp:nvSpPr>
        <dsp:cNvPr id="0" name=""/>
        <dsp:cNvSpPr/>
      </dsp:nvSpPr>
      <dsp:spPr>
        <a:xfrm>
          <a:off x="8543604" y="1293986"/>
          <a:ext cx="1846980" cy="1108188"/>
        </a:xfrm>
        <a:prstGeom prst="rect">
          <a:avLst/>
        </a:prstGeom>
        <a:solidFill>
          <a:schemeClr val="accent3">
            <a:hueOff val="-16106887"/>
            <a:satOff val="-52538"/>
            <a:lumOff val="-191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 altLang="zh-CN" sz="2200" b="0" i="0" kern="1200">
              <a:effectLst/>
              <a:latin typeface="Times New Roman" panose="02020603050405020304" pitchFamily="18" charset="0"/>
              <a:cs typeface="Times New Roman" panose="02020603050405020304" pitchFamily="18" charset="0"/>
            </a:rPr>
            <a:t>before_deploy</a:t>
          </a:r>
          <a:endParaRPr lang="en-US" sz="2200" kern="1200" dirty="0">
            <a:latin typeface="Times New Roman" panose="02020603050405020304" pitchFamily="18" charset="0"/>
            <a:cs typeface="Times New Roman" panose="02020603050405020304" pitchFamily="18" charset="0"/>
          </a:endParaRPr>
        </a:p>
      </dsp:txBody>
      <dsp:txXfrm>
        <a:off x="8543604" y="1293986"/>
        <a:ext cx="1846980" cy="1108188"/>
      </dsp:txXfrm>
    </dsp:sp>
    <dsp:sp modelId="{BB81B29A-9F02-4AF1-9E7F-A5B91ADBAC35}">
      <dsp:nvSpPr>
        <dsp:cNvPr id="0" name=""/>
        <dsp:cNvSpPr/>
      </dsp:nvSpPr>
      <dsp:spPr>
        <a:xfrm>
          <a:off x="2448568" y="2586873"/>
          <a:ext cx="1846980" cy="1108188"/>
        </a:xfrm>
        <a:prstGeom prst="rect">
          <a:avLst/>
        </a:prstGeom>
        <a:solidFill>
          <a:schemeClr val="accent3">
            <a:hueOff val="-17896542"/>
            <a:satOff val="-58376"/>
            <a:lumOff val="-212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 altLang="zh-CN" sz="2200" b="0" i="0" kern="1200">
              <a:effectLst/>
              <a:latin typeface="Times New Roman" panose="02020603050405020304" pitchFamily="18" charset="0"/>
              <a:cs typeface="Times New Roman" panose="02020603050405020304" pitchFamily="18" charset="0"/>
            </a:rPr>
            <a:t>deploy</a:t>
          </a:r>
          <a:endParaRPr lang="en-US" sz="2200" kern="1200" dirty="0">
            <a:latin typeface="Times New Roman" panose="02020603050405020304" pitchFamily="18" charset="0"/>
            <a:cs typeface="Times New Roman" panose="02020603050405020304" pitchFamily="18" charset="0"/>
          </a:endParaRPr>
        </a:p>
      </dsp:txBody>
      <dsp:txXfrm>
        <a:off x="2448568" y="2586873"/>
        <a:ext cx="1846980" cy="1108188"/>
      </dsp:txXfrm>
    </dsp:sp>
    <dsp:sp modelId="{B92AB82A-58C3-4551-8FC8-F805FE7A4D44}">
      <dsp:nvSpPr>
        <dsp:cNvPr id="0" name=""/>
        <dsp:cNvSpPr/>
      </dsp:nvSpPr>
      <dsp:spPr>
        <a:xfrm>
          <a:off x="4480247" y="2586873"/>
          <a:ext cx="1846980" cy="1108188"/>
        </a:xfrm>
        <a:prstGeom prst="rect">
          <a:avLst/>
        </a:prstGeom>
        <a:solidFill>
          <a:schemeClr val="accent3">
            <a:hueOff val="-19686196"/>
            <a:satOff val="-64213"/>
            <a:lumOff val="-233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 altLang="zh-CN" sz="2200" b="0" i="0" kern="1200">
              <a:effectLst/>
              <a:latin typeface="Times New Roman" panose="02020603050405020304" pitchFamily="18" charset="0"/>
              <a:cs typeface="Times New Roman" panose="02020603050405020304" pitchFamily="18" charset="0"/>
            </a:rPr>
            <a:t>after_deploy</a:t>
          </a:r>
          <a:endParaRPr lang="en-US" sz="2200" kern="1200" dirty="0">
            <a:latin typeface="Times New Roman" panose="02020603050405020304" pitchFamily="18" charset="0"/>
            <a:cs typeface="Times New Roman" panose="02020603050405020304" pitchFamily="18" charset="0"/>
          </a:endParaRPr>
        </a:p>
      </dsp:txBody>
      <dsp:txXfrm>
        <a:off x="4480247" y="2586873"/>
        <a:ext cx="1846980" cy="1108188"/>
      </dsp:txXfrm>
    </dsp:sp>
    <dsp:sp modelId="{FD34DEE1-FE0F-49C6-867E-08CD90154034}">
      <dsp:nvSpPr>
        <dsp:cNvPr id="0" name=""/>
        <dsp:cNvSpPr/>
      </dsp:nvSpPr>
      <dsp:spPr>
        <a:xfrm>
          <a:off x="6511925" y="2586873"/>
          <a:ext cx="1846980" cy="1108188"/>
        </a:xfrm>
        <a:prstGeom prst="rect">
          <a:avLst/>
        </a:prstGeom>
        <a:solidFill>
          <a:schemeClr val="accent3">
            <a:hueOff val="-21475851"/>
            <a:satOff val="-70051"/>
            <a:lumOff val="-254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 altLang="zh-CN" sz="2200" b="0" i="0" kern="1200">
              <a:effectLst/>
              <a:latin typeface="Times New Roman" panose="02020603050405020304" pitchFamily="18" charset="0"/>
              <a:cs typeface="Times New Roman" panose="02020603050405020304" pitchFamily="18" charset="0"/>
            </a:rPr>
            <a:t>after_script</a:t>
          </a:r>
          <a:endParaRPr lang="en-US" sz="2200" kern="1200" dirty="0">
            <a:latin typeface="Times New Roman" panose="02020603050405020304" pitchFamily="18" charset="0"/>
            <a:cs typeface="Times New Roman" panose="02020603050405020304" pitchFamily="18" charset="0"/>
          </a:endParaRPr>
        </a:p>
      </dsp:txBody>
      <dsp:txXfrm>
        <a:off x="6511925" y="2586873"/>
        <a:ext cx="1846980" cy="1108188"/>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5F75DDE-432B-40AD-BE9E-FA049E10C62E}" type="datetimeFigureOut">
              <a:rPr lang="zh-CN" altLang="en-US" smtClean="0"/>
              <a:t>2026/5/22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45043C7-7D10-4A62-95D6-8659B3D82170}"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58BEAD-3BFB-4E74-94BA-8E573EEB3C07}" type="datetimeFigureOut">
              <a:rPr lang="zh-CN" altLang="en-US" smtClean="0"/>
              <a:t>2026/5/22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538A16-44D0-4638-ACD6-43A88F095A2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3" Type="http://schemas.openxmlformats.org/officeDocument/2006/relationships/hyperlink" Target="https://zhuanlan.zhihu.com/p/250534172" TargetMode="External"/><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我们先简单介绍一下敏捷开发出现的背景</a:t>
            </a:r>
          </a:p>
        </p:txBody>
      </p:sp>
      <p:sp>
        <p:nvSpPr>
          <p:cNvPr id="4" name="灯片编号占位符 3"/>
          <p:cNvSpPr>
            <a:spLocks noGrp="1"/>
          </p:cNvSpPr>
          <p:nvPr>
            <p:ph type="sldNum" sz="quarter" idx="5"/>
          </p:nvPr>
        </p:nvSpPr>
        <p:spPr/>
        <p:txBody>
          <a:bodyPr/>
          <a:lstStyle/>
          <a:p>
            <a:fld id="{8C538A16-44D0-4638-ACD6-43A88F095A25}"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我们现在可以给敏捷开发下一个简单的定义</a:t>
            </a:r>
          </a:p>
        </p:txBody>
      </p:sp>
      <p:sp>
        <p:nvSpPr>
          <p:cNvPr id="4" name="灯片编号占位符 3"/>
          <p:cNvSpPr>
            <a:spLocks noGrp="1"/>
          </p:cNvSpPr>
          <p:nvPr>
            <p:ph type="sldNum" sz="quarter" idx="5"/>
          </p:nvPr>
        </p:nvSpPr>
        <p:spPr/>
        <p:txBody>
          <a:bodyPr/>
          <a:lstStyle/>
          <a:p>
            <a:fld id="{8C538A16-44D0-4638-ACD6-43A88F095A25}"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4D5156"/>
                </a:solidFill>
                <a:effectLst/>
                <a:latin typeface="Arial" panose="020B0604020202020204" pitchFamily="34" charset="0"/>
              </a:rPr>
              <a:t>2001</a:t>
            </a:r>
            <a:r>
              <a:rPr lang="zh-CN" altLang="en-US" b="0" i="0" dirty="0">
                <a:solidFill>
                  <a:srgbClr val="4D5156"/>
                </a:solidFill>
                <a:effectLst/>
                <a:latin typeface="Arial" panose="020B0604020202020204" pitchFamily="34" charset="0"/>
              </a:rPr>
              <a:t>年，</a:t>
            </a:r>
            <a:r>
              <a:rPr lang="en-US" altLang="zh-CN" b="0" i="0" dirty="0">
                <a:solidFill>
                  <a:srgbClr val="4D5156"/>
                </a:solidFill>
                <a:effectLst/>
                <a:latin typeface="Arial" panose="020B0604020202020204" pitchFamily="34" charset="0"/>
              </a:rPr>
              <a:t>17</a:t>
            </a:r>
            <a:r>
              <a:rPr lang="zh-CN" altLang="en-US" b="0" i="0" dirty="0">
                <a:solidFill>
                  <a:srgbClr val="4D5156"/>
                </a:solidFill>
                <a:effectLst/>
                <a:latin typeface="Arial" panose="020B0604020202020204" pitchFamily="34" charset="0"/>
              </a:rPr>
              <a:t>位</a:t>
            </a:r>
            <a:r>
              <a:rPr lang="zh-CN" altLang="en-US" b="0" i="0" dirty="0">
                <a:solidFill>
                  <a:srgbClr val="EA4335"/>
                </a:solidFill>
                <a:effectLst/>
                <a:latin typeface="Arial" panose="020B0604020202020204" pitchFamily="34" charset="0"/>
              </a:rPr>
              <a:t>软件</a:t>
            </a:r>
            <a:r>
              <a:rPr lang="zh-CN" altLang="en-US" b="0" i="0" dirty="0">
                <a:solidFill>
                  <a:srgbClr val="4D5156"/>
                </a:solidFill>
                <a:effectLst/>
                <a:latin typeface="Arial" panose="020B0604020202020204" pitchFamily="34" charset="0"/>
              </a:rPr>
              <a:t>行业思想领袖共同发表了</a:t>
            </a:r>
            <a:r>
              <a:rPr lang="en-US" altLang="zh-CN" b="0" i="0" dirty="0">
                <a:solidFill>
                  <a:srgbClr val="4D5156"/>
                </a:solidFill>
                <a:effectLst/>
                <a:latin typeface="Arial" panose="020B0604020202020204" pitchFamily="34" charset="0"/>
              </a:rPr>
              <a:t>《</a:t>
            </a:r>
            <a:r>
              <a:rPr lang="zh-CN" altLang="en-US" b="0" i="0" dirty="0">
                <a:solidFill>
                  <a:srgbClr val="4D5156"/>
                </a:solidFill>
                <a:effectLst/>
                <a:latin typeface="Arial" panose="020B0604020202020204" pitchFamily="34" charset="0"/>
              </a:rPr>
              <a:t>敏捷软件开发宣言</a:t>
            </a:r>
            <a:r>
              <a:rPr lang="en-US" altLang="zh-CN" b="0" i="0" dirty="0">
                <a:solidFill>
                  <a:srgbClr val="4D5156"/>
                </a:solidFill>
                <a:effectLst/>
                <a:latin typeface="Arial" panose="020B0604020202020204" pitchFamily="34" charset="0"/>
              </a:rPr>
              <a:t>》</a:t>
            </a:r>
            <a:r>
              <a:rPr lang="zh-CN" altLang="en-US" b="0" i="0" dirty="0">
                <a:solidFill>
                  <a:srgbClr val="4D5156"/>
                </a:solidFill>
                <a:effectLst/>
                <a:latin typeface="Arial" panose="020B0604020202020204" pitchFamily="34" charset="0"/>
              </a:rPr>
              <a:t>，包括四条主要的价值观</a:t>
            </a:r>
            <a:endParaRPr lang="en-US" altLang="zh-CN" b="0" i="0" dirty="0">
              <a:solidFill>
                <a:srgbClr val="4D5156"/>
              </a:solidFill>
              <a:effectLst/>
              <a:latin typeface="Arial" panose="020B0604020202020204" pitchFamily="34" charset="0"/>
            </a:endParaRPr>
          </a:p>
          <a:p>
            <a:r>
              <a:rPr lang="zh-CN" altLang="en-US" b="0" i="0" dirty="0">
                <a:solidFill>
                  <a:srgbClr val="4D5156"/>
                </a:solidFill>
                <a:effectLst/>
                <a:latin typeface="Arial" panose="020B0604020202020204" pitchFamily="34" charset="0"/>
              </a:rPr>
              <a:t>首先是第一条，</a:t>
            </a:r>
            <a:endParaRPr lang="en-US" altLang="zh-CN" b="0" i="0" dirty="0">
              <a:solidFill>
                <a:srgbClr val="4D5156"/>
              </a:solidFill>
              <a:effectLst/>
              <a:latin typeface="Arial" panose="020B0604020202020204" pitchFamily="34" charset="0"/>
            </a:endParaRPr>
          </a:p>
          <a:p>
            <a:pPr algn="l"/>
            <a:r>
              <a:rPr lang="zh-CN" altLang="en-US" b="1" i="0" dirty="0">
                <a:solidFill>
                  <a:srgbClr val="303030"/>
                </a:solidFill>
                <a:effectLst/>
                <a:latin typeface="Gudea"/>
              </a:rPr>
              <a:t>个人和交互胜过流程和工具</a:t>
            </a:r>
            <a:endParaRPr lang="zh-CN" altLang="en-US" b="0" i="0" dirty="0">
              <a:solidFill>
                <a:srgbClr val="303030"/>
              </a:solidFill>
              <a:effectLst/>
              <a:latin typeface="Gudea"/>
            </a:endParaRPr>
          </a:p>
          <a:p>
            <a:pPr algn="l"/>
            <a:r>
              <a:rPr lang="zh-CN" altLang="en-US" b="0" i="0" dirty="0">
                <a:solidFill>
                  <a:srgbClr val="303030"/>
                </a:solidFill>
                <a:effectLst/>
                <a:latin typeface="Gudea"/>
              </a:rPr>
              <a:t>当时，团队花费了大量的精力来遵循一些流程规范。这些思想领袖决定从人开始。他们认为在团队中找到合适的人（</a:t>
            </a:r>
            <a:r>
              <a:rPr lang="zh-CN" altLang="en-US" b="1" i="0" dirty="0">
                <a:solidFill>
                  <a:srgbClr val="303030"/>
                </a:solidFill>
                <a:effectLst/>
                <a:latin typeface="Gudea"/>
              </a:rPr>
              <a:t>个人</a:t>
            </a:r>
            <a:r>
              <a:rPr lang="zh-CN" altLang="en-US" b="0" i="0" dirty="0">
                <a:solidFill>
                  <a:srgbClr val="303030"/>
                </a:solidFill>
                <a:effectLst/>
                <a:latin typeface="Gudea"/>
              </a:rPr>
              <a:t>）并帮助他们一起工作</a:t>
            </a:r>
            <a:r>
              <a:rPr lang="zh-CN" altLang="en-US" b="1" i="0" dirty="0">
                <a:solidFill>
                  <a:srgbClr val="303030"/>
                </a:solidFill>
                <a:effectLst/>
                <a:latin typeface="Gudea"/>
              </a:rPr>
              <a:t>（互动）</a:t>
            </a:r>
            <a:r>
              <a:rPr lang="zh-CN" altLang="en-US" b="0" i="0" dirty="0">
                <a:solidFill>
                  <a:srgbClr val="303030"/>
                </a:solidFill>
                <a:effectLst/>
                <a:latin typeface="Gudea"/>
              </a:rPr>
              <a:t>比遵循任何特定流程和</a:t>
            </a:r>
            <a:r>
              <a:rPr lang="en-US" altLang="zh-CN" b="0" i="0" dirty="0">
                <a:solidFill>
                  <a:srgbClr val="303030"/>
                </a:solidFill>
                <a:effectLst/>
                <a:latin typeface="Gudea"/>
              </a:rPr>
              <a:t>/</a:t>
            </a:r>
            <a:r>
              <a:rPr lang="zh-CN" altLang="en-US" b="0" i="0" dirty="0">
                <a:solidFill>
                  <a:srgbClr val="303030"/>
                </a:solidFill>
                <a:effectLst/>
                <a:latin typeface="Gudea"/>
              </a:rPr>
              <a:t>或使用特定工具重要得多。</a:t>
            </a:r>
            <a:endParaRPr lang="en-US" altLang="zh-CN" b="0" i="0" dirty="0">
              <a:solidFill>
                <a:srgbClr val="303030"/>
              </a:solidFill>
              <a:effectLst/>
              <a:latin typeface="Gudea"/>
            </a:endParaRPr>
          </a:p>
          <a:p>
            <a:pPr algn="l"/>
            <a:endParaRPr lang="zh-CN" altLang="en-US" b="0" i="0" dirty="0">
              <a:solidFill>
                <a:srgbClr val="303030"/>
              </a:solidFill>
              <a:effectLst/>
              <a:latin typeface="Gudea"/>
            </a:endParaRPr>
          </a:p>
          <a:p>
            <a:pPr algn="l"/>
            <a:r>
              <a:rPr lang="zh-CN" altLang="en-US" b="1" i="0" dirty="0">
                <a:solidFill>
                  <a:srgbClr val="303030"/>
                </a:solidFill>
                <a:effectLst/>
                <a:latin typeface="Gudea"/>
              </a:rPr>
              <a:t>工作软件优于综合文档</a:t>
            </a:r>
            <a:endParaRPr lang="zh-CN" altLang="en-US" b="0" i="0" dirty="0">
              <a:solidFill>
                <a:srgbClr val="303030"/>
              </a:solidFill>
              <a:effectLst/>
              <a:latin typeface="Gudea"/>
            </a:endParaRPr>
          </a:p>
          <a:p>
            <a:pPr algn="l"/>
            <a:r>
              <a:rPr lang="zh-CN" altLang="en-US" b="0" i="0" dirty="0">
                <a:solidFill>
                  <a:srgbClr val="303030"/>
                </a:solidFill>
                <a:effectLst/>
                <a:latin typeface="Gudea"/>
              </a:rPr>
              <a:t>在软件开发的传统或瀑布方法中，团队会花费大量时间收集需求并开发设计和规范，直到生命周期的后期才真正构建某些东西。宣言的作者认为，获得一个有效的解决方案比拥有一堆描述解决方案如何工作的书更重要。</a:t>
            </a:r>
            <a:endParaRPr lang="en-US" altLang="zh-CN" b="0" i="0" dirty="0">
              <a:solidFill>
                <a:srgbClr val="303030"/>
              </a:solidFill>
              <a:effectLst/>
              <a:latin typeface="Gudea"/>
            </a:endParaRPr>
          </a:p>
          <a:p>
            <a:pPr algn="l"/>
            <a:endParaRPr lang="zh-CN" altLang="en-US" b="0" i="0" dirty="0">
              <a:solidFill>
                <a:srgbClr val="303030"/>
              </a:solidFill>
              <a:effectLst/>
              <a:latin typeface="Gudea"/>
            </a:endParaRPr>
          </a:p>
          <a:p>
            <a:pPr algn="l"/>
            <a:r>
              <a:rPr lang="zh-CN" altLang="en-US" b="1" i="0" dirty="0">
                <a:solidFill>
                  <a:srgbClr val="303030"/>
                </a:solidFill>
                <a:effectLst/>
                <a:latin typeface="Gudea"/>
              </a:rPr>
              <a:t>合同谈判中的客户协作</a:t>
            </a:r>
            <a:endParaRPr lang="zh-CN" altLang="en-US" b="0" i="0" dirty="0">
              <a:solidFill>
                <a:srgbClr val="303030"/>
              </a:solidFill>
              <a:effectLst/>
              <a:latin typeface="Gudea"/>
            </a:endParaRPr>
          </a:p>
          <a:p>
            <a:pPr algn="l"/>
            <a:r>
              <a:rPr lang="zh-CN" altLang="en-US" b="0" i="0" dirty="0">
                <a:solidFill>
                  <a:srgbClr val="303030"/>
                </a:solidFill>
                <a:effectLst/>
                <a:latin typeface="Gudea"/>
              </a:rPr>
              <a:t>第三个价值是客户协作而不是合同谈判，合同谈判意味着会产生大量的争论，比如说，“这不是需求文档中提出的内容”，这就是合同谈判。这些思想领袖认为与我们的客户合作以获得他们需要的解决方案更为重要。</a:t>
            </a:r>
            <a:endParaRPr lang="en-US" altLang="zh-CN" b="0" i="0" dirty="0">
              <a:solidFill>
                <a:srgbClr val="303030"/>
              </a:solidFill>
              <a:effectLst/>
              <a:latin typeface="Gudea"/>
            </a:endParaRPr>
          </a:p>
          <a:p>
            <a:pPr algn="l"/>
            <a:endParaRPr lang="zh-CN" altLang="en-US" b="0" i="0" dirty="0">
              <a:solidFill>
                <a:srgbClr val="303030"/>
              </a:solidFill>
              <a:effectLst/>
              <a:latin typeface="Gudea"/>
            </a:endParaRPr>
          </a:p>
          <a:p>
            <a:pPr algn="l"/>
            <a:r>
              <a:rPr lang="zh-CN" altLang="en-US" b="1" i="0" dirty="0">
                <a:solidFill>
                  <a:srgbClr val="303030"/>
                </a:solidFill>
                <a:effectLst/>
                <a:latin typeface="Gudea"/>
              </a:rPr>
              <a:t>响应变化而不是遵循计划</a:t>
            </a:r>
            <a:endParaRPr lang="zh-CN" altLang="en-US" b="0" i="0" dirty="0">
              <a:solidFill>
                <a:srgbClr val="303030"/>
              </a:solidFill>
              <a:effectLst/>
              <a:latin typeface="Gudea"/>
            </a:endParaRPr>
          </a:p>
          <a:p>
            <a:pPr algn="l"/>
            <a:r>
              <a:rPr lang="zh-CN" altLang="en-US" b="0" i="0" dirty="0">
                <a:solidFill>
                  <a:srgbClr val="303030"/>
                </a:solidFill>
                <a:effectLst/>
                <a:latin typeface="Gudea"/>
              </a:rPr>
              <a:t>第四个也是最后一个敏捷价值是响应变化而不是遵循计划。作者同意计划很重要，事实上，敏捷团队实际上做了很多计划。只是这些思想领袖认为，能够对不可避免的变化做出反应比遵循在项目开始时制定的计划更重要，而此时您的信息很少</a:t>
            </a:r>
          </a:p>
          <a:p>
            <a:pPr algn="l"/>
            <a:r>
              <a:rPr lang="zh-CN" altLang="en-US" b="0" i="0" dirty="0">
                <a:solidFill>
                  <a:srgbClr val="303030"/>
                </a:solidFill>
                <a:effectLst/>
                <a:latin typeface="Gudea"/>
              </a:rPr>
              <a:t>宣言中的所有这些值都很重要，但左侧的那些项目比右侧的项目具有更高的优先级。</a:t>
            </a:r>
          </a:p>
          <a:p>
            <a:endParaRPr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mj-lt"/>
              <a:buAutoNum type="arabicPeriod"/>
            </a:pPr>
            <a:r>
              <a:rPr lang="zh-CN" altLang="en-US" b="0" i="0" dirty="0">
                <a:solidFill>
                  <a:srgbClr val="303030"/>
                </a:solidFill>
                <a:effectLst/>
                <a:latin typeface="Gudea"/>
              </a:rPr>
              <a:t> 第一个原则，也是</a:t>
            </a:r>
            <a:r>
              <a:rPr lang="zh-CN" altLang="en-US" b="1" i="0" dirty="0">
                <a:solidFill>
                  <a:srgbClr val="303030"/>
                </a:solidFill>
                <a:effectLst/>
                <a:latin typeface="Gudea"/>
              </a:rPr>
              <a:t>最优先的</a:t>
            </a:r>
            <a:r>
              <a:rPr lang="zh-CN" altLang="en-US" b="0" i="0" dirty="0">
                <a:solidFill>
                  <a:srgbClr val="303030"/>
                </a:solidFill>
                <a:effectLst/>
                <a:latin typeface="Gudea"/>
              </a:rPr>
              <a:t>原则，通过尽早的、持续的交付有价值的软件</a:t>
            </a:r>
            <a:r>
              <a:rPr lang="zh-CN" altLang="en-US" b="1" i="0" dirty="0">
                <a:solidFill>
                  <a:srgbClr val="303030"/>
                </a:solidFill>
                <a:effectLst/>
                <a:latin typeface="Gudea"/>
              </a:rPr>
              <a:t>来满足客户</a:t>
            </a:r>
            <a:r>
              <a:rPr lang="zh-CN" altLang="en-US" b="0" i="0" dirty="0">
                <a:solidFill>
                  <a:srgbClr val="303030"/>
                </a:solidFill>
                <a:effectLst/>
                <a:latin typeface="Gudea"/>
              </a:rPr>
              <a:t>。</a:t>
            </a:r>
            <a:endParaRPr lang="en-US" altLang="zh-CN" b="0" i="0" dirty="0">
              <a:solidFill>
                <a:srgbClr val="303030"/>
              </a:solidFill>
              <a:effectLst/>
              <a:latin typeface="Gudea"/>
            </a:endParaRPr>
          </a:p>
          <a:p>
            <a:pPr algn="l">
              <a:buFont typeface="+mj-lt"/>
              <a:buAutoNum type="arabicPeriod"/>
            </a:pPr>
            <a:endParaRPr lang="zh-CN" altLang="en-US" b="0" i="0" dirty="0">
              <a:solidFill>
                <a:srgbClr val="303030"/>
              </a:solidFill>
              <a:effectLst/>
              <a:latin typeface="Gudea"/>
            </a:endParaRPr>
          </a:p>
          <a:p>
            <a:pPr algn="l">
              <a:buFont typeface="+mj-lt"/>
              <a:buAutoNum type="arabicPeriod"/>
            </a:pPr>
            <a:r>
              <a:rPr lang="zh-CN" altLang="en-US" b="0" i="0" dirty="0">
                <a:solidFill>
                  <a:srgbClr val="303030"/>
                </a:solidFill>
                <a:effectLst/>
                <a:latin typeface="Gudea"/>
              </a:rPr>
              <a:t> 第二个原则是即使在开发后期也</a:t>
            </a:r>
            <a:r>
              <a:rPr lang="zh-CN" altLang="en-US" b="1" i="0" dirty="0">
                <a:solidFill>
                  <a:srgbClr val="303030"/>
                </a:solidFill>
                <a:effectLst/>
                <a:latin typeface="Gudea"/>
              </a:rPr>
              <a:t>欢迎不断变化的需求</a:t>
            </a:r>
            <a:r>
              <a:rPr lang="zh-CN" altLang="en-US" b="0" i="0" dirty="0">
                <a:solidFill>
                  <a:srgbClr val="303030"/>
                </a:solidFill>
                <a:effectLst/>
                <a:latin typeface="Gudea"/>
              </a:rPr>
              <a:t>。大多数人都专注于控制变更或管理“范围蔓延”。 但现实是，改变是不可避免的。通过敏捷流程缩短开发周期，并支持对请求的及时分析。这允许敏捷团队以低成本快速更改，这也是为什么敏捷工作方式能获得竞争优势的关键。</a:t>
            </a:r>
            <a:endParaRPr lang="en-US" altLang="zh-CN" b="0" i="0" dirty="0">
              <a:solidFill>
                <a:srgbClr val="303030"/>
              </a:solidFill>
              <a:effectLst/>
              <a:latin typeface="Gudea"/>
            </a:endParaRPr>
          </a:p>
          <a:p>
            <a:pPr algn="l">
              <a:buFont typeface="+mj-lt"/>
              <a:buAutoNum type="arabicPeriod"/>
            </a:pPr>
            <a:endParaRPr lang="zh-CN" altLang="en-US" b="0" i="0" dirty="0">
              <a:solidFill>
                <a:srgbClr val="303030"/>
              </a:solidFill>
              <a:effectLst/>
              <a:latin typeface="Gudea"/>
            </a:endParaRPr>
          </a:p>
          <a:p>
            <a:pPr algn="l">
              <a:buFont typeface="+mj-lt"/>
              <a:buAutoNum type="arabicPeriod"/>
            </a:pPr>
            <a:r>
              <a:rPr lang="zh-CN" altLang="en-US" b="0" i="0" dirty="0">
                <a:solidFill>
                  <a:srgbClr val="303030"/>
                </a:solidFill>
                <a:effectLst/>
                <a:latin typeface="Gudea"/>
              </a:rPr>
              <a:t> 第三个原则是</a:t>
            </a:r>
            <a:r>
              <a:rPr lang="zh-CN" altLang="en-US" b="1" i="0" dirty="0">
                <a:solidFill>
                  <a:srgbClr val="303030"/>
                </a:solidFill>
                <a:effectLst/>
                <a:latin typeface="Gudea"/>
              </a:rPr>
              <a:t>频繁</a:t>
            </a:r>
            <a:r>
              <a:rPr lang="zh-CN" altLang="en-US" b="0" i="0" dirty="0">
                <a:solidFill>
                  <a:srgbClr val="303030"/>
                </a:solidFill>
                <a:effectLst/>
                <a:latin typeface="Gudea"/>
              </a:rPr>
              <a:t>地</a:t>
            </a:r>
            <a:r>
              <a:rPr lang="zh-CN" altLang="en-US" b="1" i="0" dirty="0">
                <a:solidFill>
                  <a:srgbClr val="303030"/>
                </a:solidFill>
                <a:effectLst/>
                <a:latin typeface="Gudea"/>
              </a:rPr>
              <a:t>交付可工作的软件</a:t>
            </a:r>
            <a:r>
              <a:rPr lang="zh-CN" altLang="en-US" b="0" i="0" dirty="0">
                <a:solidFill>
                  <a:srgbClr val="303030"/>
                </a:solidFill>
                <a:effectLst/>
                <a:latin typeface="Gudea"/>
              </a:rPr>
              <a:t>，这个周期从几周到几个月不等，并且倾向于更短的时间范围。频繁交付的主要好处之一是获得反馈以确保我们的开发走在正确的轨道上，以确保我们构建的软件确实是客户需要的。</a:t>
            </a:r>
            <a:endParaRPr lang="en-US" altLang="zh-CN" b="0" i="0" dirty="0">
              <a:solidFill>
                <a:srgbClr val="303030"/>
              </a:solidFill>
              <a:effectLst/>
              <a:latin typeface="Gudea"/>
            </a:endParaRPr>
          </a:p>
          <a:p>
            <a:endParaRPr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mj-lt"/>
              <a:buNone/>
            </a:pPr>
            <a:endParaRPr lang="zh-CN" altLang="en-US" b="0" i="0" dirty="0">
              <a:solidFill>
                <a:srgbClr val="303030"/>
              </a:solidFill>
              <a:effectLst/>
              <a:latin typeface="Gudea"/>
            </a:endParaRPr>
          </a:p>
          <a:p>
            <a:pPr algn="l">
              <a:buFont typeface="+mj-lt"/>
              <a:buNone/>
            </a:pPr>
            <a:r>
              <a:rPr lang="en-US" altLang="zh-CN" b="0" i="0" dirty="0">
                <a:solidFill>
                  <a:srgbClr val="303030"/>
                </a:solidFill>
                <a:effectLst/>
                <a:latin typeface="Gudea"/>
              </a:rPr>
              <a:t>4.</a:t>
            </a:r>
            <a:r>
              <a:rPr lang="zh-CN" altLang="en-US" b="0" i="0" dirty="0">
                <a:solidFill>
                  <a:srgbClr val="303030"/>
                </a:solidFill>
                <a:effectLst/>
                <a:latin typeface="Gudea"/>
              </a:rPr>
              <a:t> 第四个敏捷原则是关于</a:t>
            </a:r>
            <a:r>
              <a:rPr lang="zh-CN" altLang="en-US" b="1" i="0" dirty="0">
                <a:solidFill>
                  <a:srgbClr val="303030"/>
                </a:solidFill>
                <a:effectLst/>
                <a:latin typeface="Gudea"/>
              </a:rPr>
              <a:t>业务人员和开发人员在</a:t>
            </a:r>
            <a:r>
              <a:rPr lang="zh-CN" altLang="en-US" b="0" i="0" dirty="0">
                <a:solidFill>
                  <a:srgbClr val="303030"/>
                </a:solidFill>
                <a:effectLst/>
                <a:latin typeface="Gudea"/>
              </a:rPr>
              <a:t>整个项目中</a:t>
            </a:r>
            <a:r>
              <a:rPr lang="zh-CN" altLang="en-US" b="1" i="0" dirty="0">
                <a:solidFill>
                  <a:srgbClr val="303030"/>
                </a:solidFill>
                <a:effectLst/>
                <a:latin typeface="Gudea"/>
              </a:rPr>
              <a:t>每天一起工作</a:t>
            </a:r>
            <a:r>
              <a:rPr lang="zh-CN" altLang="en-US" b="0" i="0" dirty="0">
                <a:solidFill>
                  <a:srgbClr val="303030"/>
                </a:solidFill>
                <a:effectLst/>
                <a:latin typeface="Gudea"/>
              </a:rPr>
              <a:t>。业务人员通常会创建需求文档并且直接扔给开发人员。经过数月的努力，开发人员会将开发的软件给到用户进行最终测试，然后才知道该解决方案的表述有误、构建不当或不再需要。这条原则的重点是针对构建者和使用解决方案的人进行协作以避免这些结果。</a:t>
            </a:r>
            <a:endParaRPr lang="en-US" altLang="zh-CN" b="0" i="0" dirty="0">
              <a:solidFill>
                <a:srgbClr val="303030"/>
              </a:solidFill>
              <a:effectLst/>
              <a:latin typeface="Gudea"/>
            </a:endParaRPr>
          </a:p>
          <a:p>
            <a:pPr algn="l">
              <a:buFont typeface="+mj-lt"/>
              <a:buAutoNum type="arabicPeriod"/>
            </a:pPr>
            <a:endParaRPr lang="zh-CN" altLang="en-US" b="0" i="0" dirty="0">
              <a:solidFill>
                <a:srgbClr val="303030"/>
              </a:solidFill>
              <a:effectLst/>
              <a:latin typeface="Gudea"/>
            </a:endParaRPr>
          </a:p>
          <a:p>
            <a:pPr algn="l">
              <a:buFont typeface="+mj-lt"/>
              <a:buNone/>
            </a:pPr>
            <a:r>
              <a:rPr lang="en-US" altLang="zh-CN" b="0" i="0" dirty="0">
                <a:solidFill>
                  <a:srgbClr val="303030"/>
                </a:solidFill>
                <a:effectLst/>
                <a:latin typeface="Gudea"/>
              </a:rPr>
              <a:t>5.</a:t>
            </a:r>
            <a:r>
              <a:rPr lang="zh-CN" altLang="en-US" b="0" i="0" dirty="0">
                <a:solidFill>
                  <a:srgbClr val="303030"/>
                </a:solidFill>
                <a:effectLst/>
                <a:latin typeface="Gudea"/>
              </a:rPr>
              <a:t> 第五个敏捷原则是</a:t>
            </a:r>
            <a:r>
              <a:rPr lang="zh-CN" altLang="en-US" b="1" i="0" dirty="0">
                <a:solidFill>
                  <a:srgbClr val="303030"/>
                </a:solidFill>
                <a:effectLst/>
                <a:latin typeface="Gudea"/>
              </a:rPr>
              <a:t>围绕积极进取的个人构建项目</a:t>
            </a:r>
            <a:r>
              <a:rPr lang="zh-CN" altLang="en-US" b="0" i="0" dirty="0">
                <a:solidFill>
                  <a:srgbClr val="303030"/>
                </a:solidFill>
                <a:effectLst/>
                <a:latin typeface="Gudea"/>
              </a:rPr>
              <a:t>，为他们提供所需的环境和支持，并相信他们能够完成工作。它是关于让人们有动力，赋予他们权力并信任他们。</a:t>
            </a:r>
            <a:endParaRPr lang="en-US" altLang="zh-CN" b="0" i="0" dirty="0">
              <a:solidFill>
                <a:srgbClr val="303030"/>
              </a:solidFill>
              <a:effectLst/>
              <a:latin typeface="Gudea"/>
            </a:endParaRPr>
          </a:p>
          <a:p>
            <a:pPr algn="l">
              <a:buFont typeface="+mj-lt"/>
              <a:buAutoNum type="arabicPeriod"/>
            </a:pPr>
            <a:endParaRPr lang="zh-CN" altLang="en-US" b="0" i="0" dirty="0">
              <a:solidFill>
                <a:srgbClr val="303030"/>
              </a:solidFill>
              <a:effectLst/>
              <a:latin typeface="Gudea"/>
            </a:endParaRPr>
          </a:p>
          <a:p>
            <a:pPr algn="l">
              <a:buFont typeface="+mj-lt"/>
              <a:buNone/>
            </a:pPr>
            <a:r>
              <a:rPr lang="en-US" altLang="zh-CN" b="0" i="0" dirty="0">
                <a:solidFill>
                  <a:srgbClr val="303030"/>
                </a:solidFill>
                <a:effectLst/>
                <a:latin typeface="Gudea"/>
              </a:rPr>
              <a:t>6.</a:t>
            </a:r>
            <a:r>
              <a:rPr lang="zh-CN" altLang="en-US" b="0" i="0" dirty="0">
                <a:solidFill>
                  <a:srgbClr val="303030"/>
                </a:solidFill>
                <a:effectLst/>
                <a:latin typeface="Gudea"/>
              </a:rPr>
              <a:t> 第六个敏捷原则，敏捷流程促进</a:t>
            </a:r>
            <a:r>
              <a:rPr lang="zh-CN" altLang="en-US" b="1" i="0" dirty="0">
                <a:solidFill>
                  <a:srgbClr val="303030"/>
                </a:solidFill>
                <a:effectLst/>
                <a:latin typeface="Gudea"/>
              </a:rPr>
              <a:t>可持续发展。</a:t>
            </a:r>
            <a:r>
              <a:rPr lang="zh-CN" altLang="en-US" b="0" i="0" dirty="0">
                <a:solidFill>
                  <a:srgbClr val="303030"/>
                </a:solidFill>
                <a:effectLst/>
                <a:latin typeface="Gudea"/>
              </a:rPr>
              <a:t>开发速度不会随着迭代的任务不同而不同，开发者应该能够无限期地保持恒定的步伐，而不能为了完成任务而突击赶工。</a:t>
            </a:r>
            <a:endParaRPr lang="en-US" altLang="zh-CN" b="0" i="0" dirty="0">
              <a:solidFill>
                <a:srgbClr val="303030"/>
              </a:solidFill>
              <a:effectLst/>
              <a:latin typeface="Gudea"/>
            </a:endParaRPr>
          </a:p>
          <a:p>
            <a:endParaRPr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mj-lt"/>
              <a:buNone/>
            </a:pPr>
            <a:endParaRPr lang="zh-CN" altLang="en-US" b="0" i="0" dirty="0">
              <a:solidFill>
                <a:srgbClr val="303030"/>
              </a:solidFill>
              <a:effectLst/>
              <a:latin typeface="Gudea"/>
            </a:endParaRPr>
          </a:p>
          <a:p>
            <a:pPr algn="l">
              <a:buFont typeface="+mj-lt"/>
              <a:buNone/>
            </a:pPr>
            <a:r>
              <a:rPr lang="en-US" altLang="zh-CN" b="0" i="0" dirty="0">
                <a:solidFill>
                  <a:srgbClr val="303030"/>
                </a:solidFill>
                <a:effectLst/>
                <a:latin typeface="Gudea"/>
              </a:rPr>
              <a:t>7.</a:t>
            </a:r>
            <a:r>
              <a:rPr lang="zh-CN" altLang="en-US" b="0" i="0" dirty="0">
                <a:solidFill>
                  <a:srgbClr val="303030"/>
                </a:solidFill>
                <a:effectLst/>
                <a:latin typeface="Gudea"/>
              </a:rPr>
              <a:t> 原则七是</a:t>
            </a:r>
            <a:r>
              <a:rPr lang="zh-CN" altLang="en-US" b="1" i="0" dirty="0">
                <a:solidFill>
                  <a:srgbClr val="303030"/>
                </a:solidFill>
                <a:effectLst/>
                <a:latin typeface="Gudea"/>
              </a:rPr>
              <a:t>可以工作的软件</a:t>
            </a:r>
            <a:r>
              <a:rPr lang="zh-CN" altLang="en-US" b="0" i="0" dirty="0">
                <a:solidFill>
                  <a:srgbClr val="303030"/>
                </a:solidFill>
                <a:effectLst/>
                <a:latin typeface="Gudea"/>
              </a:rPr>
              <a:t>是进度的主要衡量标准。传统上，完成百分比用于衡量项目的进度。完成百分比非常不可靠，因为人们很难确定百分比。 敏捷团队不是使用完成百分比，而是将工作分解为特性或功能，将它们分解成小块，然后再构建成小块。他们跟踪这些小块是否完成并避免完成百分比。</a:t>
            </a:r>
            <a:endParaRPr lang="en-US" altLang="zh-CN" b="0" i="0" dirty="0">
              <a:solidFill>
                <a:srgbClr val="303030"/>
              </a:solidFill>
              <a:effectLst/>
              <a:latin typeface="Gudea"/>
            </a:endParaRPr>
          </a:p>
          <a:p>
            <a:pPr algn="l">
              <a:buFont typeface="+mj-lt"/>
              <a:buAutoNum type="arabicPeriod"/>
            </a:pPr>
            <a:endParaRPr lang="zh-CN" altLang="en-US" b="0" i="0" dirty="0">
              <a:solidFill>
                <a:srgbClr val="303030"/>
              </a:solidFill>
              <a:effectLst/>
              <a:latin typeface="Gudea"/>
            </a:endParaRPr>
          </a:p>
          <a:p>
            <a:pPr algn="l">
              <a:buFont typeface="+mj-lt"/>
              <a:buNone/>
            </a:pPr>
            <a:r>
              <a:rPr lang="en-US" altLang="zh-CN" b="0" i="0" dirty="0">
                <a:solidFill>
                  <a:srgbClr val="303030"/>
                </a:solidFill>
                <a:effectLst/>
                <a:latin typeface="Gudea"/>
              </a:rPr>
              <a:t>8.</a:t>
            </a:r>
            <a:r>
              <a:rPr lang="zh-CN" altLang="en-US" b="0" i="0" dirty="0">
                <a:solidFill>
                  <a:srgbClr val="303030"/>
                </a:solidFill>
                <a:effectLst/>
                <a:latin typeface="Gudea"/>
              </a:rPr>
              <a:t> 第八个是向开发团队和在开发团队内部传达信息的最有效和最高效的方法是</a:t>
            </a:r>
            <a:r>
              <a:rPr lang="zh-CN" altLang="en-US" b="1" i="0" dirty="0">
                <a:solidFill>
                  <a:srgbClr val="303030"/>
                </a:solidFill>
                <a:effectLst/>
                <a:latin typeface="Gudea"/>
              </a:rPr>
              <a:t>面对面的交谈</a:t>
            </a:r>
            <a:r>
              <a:rPr lang="zh-CN" altLang="en-US" b="0" i="0" dirty="0">
                <a:solidFill>
                  <a:srgbClr val="303030"/>
                </a:solidFill>
                <a:effectLst/>
                <a:latin typeface="Gudea"/>
              </a:rPr>
              <a:t>。如果无法面对面，可以使用视频会议或电话会议。事实证明，当我们阅读其他人的文档时，会有很大的误解空间。为了真正的共享理解，必须将人们聚集在一起。</a:t>
            </a:r>
            <a:endParaRPr lang="en-US" altLang="zh-CN" b="0" i="0" dirty="0">
              <a:solidFill>
                <a:srgbClr val="303030"/>
              </a:solidFill>
              <a:effectLst/>
              <a:latin typeface="Gudea"/>
            </a:endParaRPr>
          </a:p>
          <a:p>
            <a:pPr algn="l">
              <a:buFont typeface="+mj-lt"/>
              <a:buAutoNum type="arabicPeriod"/>
            </a:pPr>
            <a:endParaRPr lang="zh-CN" altLang="en-US" b="0" i="0" dirty="0">
              <a:solidFill>
                <a:srgbClr val="303030"/>
              </a:solidFill>
              <a:effectLst/>
              <a:latin typeface="Gudea"/>
            </a:endParaRPr>
          </a:p>
          <a:p>
            <a:pPr algn="l">
              <a:buFont typeface="+mj-lt"/>
              <a:buNone/>
            </a:pPr>
            <a:r>
              <a:rPr lang="en-US" altLang="zh-CN" b="0" i="0" dirty="0">
                <a:solidFill>
                  <a:srgbClr val="303030"/>
                </a:solidFill>
                <a:effectLst/>
                <a:latin typeface="Gudea"/>
              </a:rPr>
              <a:t>9.</a:t>
            </a:r>
            <a:r>
              <a:rPr lang="zh-CN" altLang="en-US" b="0" i="0" dirty="0">
                <a:solidFill>
                  <a:srgbClr val="303030"/>
                </a:solidFill>
                <a:effectLst/>
                <a:latin typeface="Gudea"/>
              </a:rPr>
              <a:t> 第九条敏捷原则是</a:t>
            </a:r>
            <a:r>
              <a:rPr lang="zh-CN" altLang="en-US" b="1" i="0" dirty="0">
                <a:solidFill>
                  <a:srgbClr val="303030"/>
                </a:solidFill>
                <a:effectLst/>
                <a:latin typeface="Gudea"/>
              </a:rPr>
              <a:t>持续关注优秀的技能和良好的设计</a:t>
            </a:r>
            <a:r>
              <a:rPr lang="zh-CN" altLang="en-US" b="0" i="0" dirty="0">
                <a:solidFill>
                  <a:srgbClr val="303030"/>
                </a:solidFill>
                <a:effectLst/>
                <a:latin typeface="Gudea"/>
              </a:rPr>
              <a:t>可以增强敏捷性。这条原则的重点是避免建立技术债务的捷径或技术。不要做一些在短期内让它变得更快，但从长远来看这实际上成本更高的事情。如果我们继续积累技术债务，这些技术债务将不断拖慢我们的速度，整体来看将不会有太多的敏捷性！</a:t>
            </a:r>
            <a:endParaRPr lang="en-US" altLang="zh-CN" b="0" i="0" dirty="0">
              <a:solidFill>
                <a:srgbClr val="303030"/>
              </a:solidFill>
              <a:effectLst/>
              <a:latin typeface="Gudea"/>
            </a:endParaRPr>
          </a:p>
          <a:p>
            <a:endParaRPr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mj-lt"/>
              <a:buNone/>
            </a:pPr>
            <a:endParaRPr lang="zh-CN" altLang="en-US" b="0" i="0" dirty="0">
              <a:solidFill>
                <a:srgbClr val="303030"/>
              </a:solidFill>
              <a:effectLst/>
              <a:latin typeface="Gudea"/>
            </a:endParaRPr>
          </a:p>
          <a:p>
            <a:pPr algn="l">
              <a:buFont typeface="+mj-lt"/>
              <a:buNone/>
            </a:pPr>
            <a:r>
              <a:rPr lang="en-US" altLang="zh-CN" b="0" i="0" dirty="0">
                <a:solidFill>
                  <a:srgbClr val="303030"/>
                </a:solidFill>
                <a:effectLst/>
                <a:latin typeface="Gudea"/>
              </a:rPr>
              <a:t>10.</a:t>
            </a:r>
            <a:r>
              <a:rPr lang="zh-CN" altLang="en-US" b="0" i="0" dirty="0">
                <a:solidFill>
                  <a:srgbClr val="303030"/>
                </a:solidFill>
                <a:effectLst/>
                <a:latin typeface="Gudea"/>
              </a:rPr>
              <a:t> 原则 </a:t>
            </a:r>
            <a:r>
              <a:rPr lang="en-US" altLang="zh-CN" b="0" i="0" dirty="0">
                <a:solidFill>
                  <a:srgbClr val="303030"/>
                </a:solidFill>
                <a:effectLst/>
                <a:latin typeface="Gudea"/>
              </a:rPr>
              <a:t>10 </a:t>
            </a:r>
            <a:r>
              <a:rPr lang="zh-CN" altLang="en-US" b="0" i="0" dirty="0">
                <a:solidFill>
                  <a:srgbClr val="303030"/>
                </a:solidFill>
                <a:effectLst/>
                <a:latin typeface="Gudea"/>
              </a:rPr>
              <a:t>是关于保持简单并消除不必要的工作。</a:t>
            </a:r>
            <a:r>
              <a:rPr lang="zh-CN" altLang="en-US" b="1" i="0" dirty="0">
                <a:solidFill>
                  <a:srgbClr val="303030"/>
                </a:solidFill>
                <a:effectLst/>
                <a:latin typeface="Gudea"/>
              </a:rPr>
              <a:t>简单性是必不可少的</a:t>
            </a:r>
            <a:r>
              <a:rPr lang="zh-CN" altLang="en-US" b="0" i="0" dirty="0">
                <a:solidFill>
                  <a:srgbClr val="303030"/>
                </a:solidFill>
                <a:effectLst/>
                <a:latin typeface="Gudea"/>
              </a:rPr>
              <a:t>。也就是说，我们应该审视我们的流程并消除任何对客户没有价值的东西，从而最大限度地提高未完成的工作，同时仍提供所需的内容</a:t>
            </a:r>
            <a:endParaRPr lang="en-US" altLang="zh-CN" b="0" i="0" dirty="0">
              <a:solidFill>
                <a:srgbClr val="303030"/>
              </a:solidFill>
              <a:effectLst/>
              <a:latin typeface="Gudea"/>
            </a:endParaRPr>
          </a:p>
          <a:p>
            <a:pPr algn="l">
              <a:buFont typeface="+mj-lt"/>
              <a:buAutoNum type="arabicPeriod"/>
            </a:pPr>
            <a:endParaRPr lang="en-US" altLang="zh-CN" b="0" i="0" dirty="0">
              <a:solidFill>
                <a:srgbClr val="303030"/>
              </a:solidFill>
              <a:effectLst/>
              <a:latin typeface="Gudea"/>
            </a:endParaRPr>
          </a:p>
          <a:p>
            <a:pPr algn="l">
              <a:buFont typeface="+mj-lt"/>
              <a:buNone/>
            </a:pPr>
            <a:r>
              <a:rPr lang="en-US" altLang="zh-CN" b="0" i="0" dirty="0">
                <a:solidFill>
                  <a:srgbClr val="303030"/>
                </a:solidFill>
                <a:effectLst/>
                <a:latin typeface="Gudea"/>
              </a:rPr>
              <a:t>11. </a:t>
            </a:r>
            <a:r>
              <a:rPr lang="zh-CN" altLang="en-US" b="0" i="0" dirty="0">
                <a:solidFill>
                  <a:srgbClr val="303030"/>
                </a:solidFill>
                <a:effectLst/>
                <a:latin typeface="Gudea"/>
              </a:rPr>
              <a:t>原则 </a:t>
            </a:r>
            <a:r>
              <a:rPr lang="en-US" altLang="zh-CN" b="0" i="0" dirty="0">
                <a:solidFill>
                  <a:srgbClr val="303030"/>
                </a:solidFill>
                <a:effectLst/>
                <a:latin typeface="Gudea"/>
              </a:rPr>
              <a:t>11</a:t>
            </a:r>
            <a:r>
              <a:rPr lang="zh-CN" altLang="en-US" b="0" i="0" dirty="0">
                <a:solidFill>
                  <a:srgbClr val="303030"/>
                </a:solidFill>
                <a:effectLst/>
                <a:latin typeface="Gudea"/>
              </a:rPr>
              <a:t>是关于自组织团队。最好的架构、需求和设计来自</a:t>
            </a:r>
            <a:r>
              <a:rPr lang="zh-CN" altLang="en-US" b="1" i="0" dirty="0">
                <a:solidFill>
                  <a:srgbClr val="303030"/>
                </a:solidFill>
                <a:effectLst/>
                <a:latin typeface="Gudea"/>
              </a:rPr>
              <a:t>自组织的团队。 </a:t>
            </a:r>
            <a:r>
              <a:rPr lang="zh-CN" altLang="en-US" b="0" i="0" dirty="0">
                <a:solidFill>
                  <a:srgbClr val="303030"/>
                </a:solidFill>
                <a:effectLst/>
                <a:latin typeface="Gudea"/>
              </a:rPr>
              <a:t>我们应该让最接近工作的人决定如何最好地完成它，这是这一原则的精髓。</a:t>
            </a:r>
            <a:endParaRPr lang="en-US" altLang="zh-CN" b="0" i="0" dirty="0">
              <a:solidFill>
                <a:srgbClr val="303030"/>
              </a:solidFill>
              <a:effectLst/>
              <a:latin typeface="Gudea"/>
            </a:endParaRPr>
          </a:p>
          <a:p>
            <a:pPr algn="l">
              <a:buFont typeface="+mj-lt"/>
              <a:buAutoNum type="arabicPeriod"/>
            </a:pPr>
            <a:endParaRPr lang="zh-CN" altLang="en-US" b="0" i="0" dirty="0">
              <a:solidFill>
                <a:srgbClr val="303030"/>
              </a:solidFill>
              <a:effectLst/>
              <a:latin typeface="Gudea"/>
            </a:endParaRPr>
          </a:p>
          <a:p>
            <a:pPr algn="l">
              <a:buFont typeface="+mj-lt"/>
              <a:buNone/>
            </a:pPr>
            <a:r>
              <a:rPr lang="en-US" altLang="zh-CN" b="0" i="0" dirty="0">
                <a:solidFill>
                  <a:srgbClr val="303030"/>
                </a:solidFill>
                <a:effectLst/>
                <a:latin typeface="Gudea"/>
              </a:rPr>
              <a:t>12.</a:t>
            </a:r>
            <a:r>
              <a:rPr lang="zh-CN" altLang="en-US" b="0" i="0" dirty="0">
                <a:solidFill>
                  <a:srgbClr val="303030"/>
                </a:solidFill>
                <a:effectLst/>
                <a:latin typeface="Gudea"/>
              </a:rPr>
              <a:t> 最后，第 </a:t>
            </a:r>
            <a:r>
              <a:rPr lang="en-US" altLang="zh-CN" b="0" i="0" dirty="0">
                <a:solidFill>
                  <a:srgbClr val="303030"/>
                </a:solidFill>
                <a:effectLst/>
                <a:latin typeface="Gudea"/>
              </a:rPr>
              <a:t>12 </a:t>
            </a:r>
            <a:r>
              <a:rPr lang="zh-CN" altLang="en-US" b="0" i="0" dirty="0">
                <a:solidFill>
                  <a:srgbClr val="303030"/>
                </a:solidFill>
                <a:effectLst/>
                <a:latin typeface="Gudea"/>
              </a:rPr>
              <a:t>条原则是关于回顾的。团队定期反思如何变得更有效，然后</a:t>
            </a:r>
            <a:r>
              <a:rPr lang="zh-CN" altLang="en-US" b="1" i="0" dirty="0">
                <a:solidFill>
                  <a:srgbClr val="303030"/>
                </a:solidFill>
                <a:effectLst/>
                <a:latin typeface="Gudea"/>
              </a:rPr>
              <a:t>相应</a:t>
            </a:r>
            <a:r>
              <a:rPr lang="zh-CN" altLang="en-US" b="0" i="0" dirty="0">
                <a:solidFill>
                  <a:srgbClr val="303030"/>
                </a:solidFill>
                <a:effectLst/>
                <a:latin typeface="Gudea"/>
              </a:rPr>
              <a:t>地</a:t>
            </a:r>
            <a:r>
              <a:rPr lang="zh-CN" altLang="en-US" b="1" i="0" dirty="0">
                <a:solidFill>
                  <a:srgbClr val="303030"/>
                </a:solidFill>
                <a:effectLst/>
                <a:latin typeface="Gudea"/>
              </a:rPr>
              <a:t>调整和调整</a:t>
            </a:r>
            <a:r>
              <a:rPr lang="zh-CN" altLang="en-US" b="0" i="0" dirty="0">
                <a:solidFill>
                  <a:srgbClr val="303030"/>
                </a:solidFill>
                <a:effectLst/>
                <a:latin typeface="Gudea"/>
              </a:rPr>
              <a:t>其行为。</a:t>
            </a:r>
          </a:p>
          <a:p>
            <a:endParaRPr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11</a:t>
            </a:fld>
            <a:endParaRPr lang="zh-CN" altLang="en-US"/>
          </a:p>
        </p:txBody>
      </p:sp>
    </p:spTree>
    <p:extLst>
      <p:ext uri="{BB962C8B-B14F-4D97-AF65-F5344CB8AC3E}">
        <p14:creationId xmlns:p14="http://schemas.microsoft.com/office/powerpoint/2010/main" val="33478333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完成需求分析之后，就是产品设计</a:t>
            </a:r>
          </a:p>
        </p:txBody>
      </p:sp>
      <p:sp>
        <p:nvSpPr>
          <p:cNvPr id="4" name="灯片编号占位符 3"/>
          <p:cNvSpPr>
            <a:spLocks noGrp="1"/>
          </p:cNvSpPr>
          <p:nvPr>
            <p:ph type="sldNum" sz="quarter" idx="5"/>
          </p:nvPr>
        </p:nvSpPr>
        <p:spPr/>
        <p:txBody>
          <a:bodyPr/>
          <a:lstStyle/>
          <a:p>
            <a:fld id="{8C538A16-44D0-4638-ACD6-43A88F095A25}"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产品设计完成之后，就是编码实现</a:t>
            </a:r>
          </a:p>
        </p:txBody>
      </p:sp>
      <p:sp>
        <p:nvSpPr>
          <p:cNvPr id="4" name="灯片编号占位符 3"/>
          <p:cNvSpPr>
            <a:spLocks noGrp="1"/>
          </p:cNvSpPr>
          <p:nvPr>
            <p:ph type="sldNum" sz="quarter" idx="5"/>
          </p:nvPr>
        </p:nvSpPr>
        <p:spPr/>
        <p:txBody>
          <a:bodyPr/>
          <a:lstStyle/>
          <a:p>
            <a:fld id="{8C538A16-44D0-4638-ACD6-43A88F095A25}"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编码实现完成之后，我们要对这些功能进行测试</a:t>
            </a:r>
          </a:p>
        </p:txBody>
      </p:sp>
      <p:sp>
        <p:nvSpPr>
          <p:cNvPr id="4" name="灯片编号占位符 3"/>
          <p:cNvSpPr>
            <a:spLocks noGrp="1"/>
          </p:cNvSpPr>
          <p:nvPr>
            <p:ph type="sldNum" sz="quarter" idx="5"/>
          </p:nvPr>
        </p:nvSpPr>
        <p:spPr/>
        <p:txBody>
          <a:bodyPr/>
          <a:lstStyle/>
          <a:p>
            <a:fld id="{8C538A16-44D0-4638-ACD6-43A88F095A25}"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最后是部署评估</a:t>
            </a:r>
          </a:p>
        </p:txBody>
      </p:sp>
      <p:sp>
        <p:nvSpPr>
          <p:cNvPr id="4" name="灯片编号占位符 3"/>
          <p:cNvSpPr>
            <a:spLocks noGrp="1"/>
          </p:cNvSpPr>
          <p:nvPr>
            <p:ph type="sldNum" sz="quarter" idx="5"/>
          </p:nvPr>
        </p:nvSpPr>
        <p:spPr/>
        <p:txBody>
          <a:bodyPr/>
          <a:lstStyle/>
          <a:p>
            <a:fld id="{8C538A16-44D0-4638-ACD6-43A88F095A25}"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17</a:t>
            </a:fld>
            <a:endParaRPr lang="zh-CN" altLang="en-US"/>
          </a:p>
        </p:txBody>
      </p:sp>
    </p:spTree>
    <p:extLst>
      <p:ext uri="{BB962C8B-B14F-4D97-AF65-F5344CB8AC3E}">
        <p14:creationId xmlns:p14="http://schemas.microsoft.com/office/powerpoint/2010/main" val="34724729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敏捷开发最流行的一种方法是</a:t>
            </a:r>
            <a:r>
              <a:rPr lang="en-US" altLang="zh-CN" dirty="0"/>
              <a:t>Scrum</a:t>
            </a:r>
            <a:endParaRPr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流程管理人，另一个常见的叫法是敏捷教练，如果大家有关注过相关的技术大会，应该会看到有些人会说自己是某公司的敏捷教练</a:t>
            </a:r>
          </a:p>
        </p:txBody>
      </p:sp>
      <p:sp>
        <p:nvSpPr>
          <p:cNvPr id="4" name="灯片编号占位符 3"/>
          <p:cNvSpPr>
            <a:spLocks noGrp="1"/>
          </p:cNvSpPr>
          <p:nvPr>
            <p:ph type="sldNum" sz="quarter" idx="5"/>
          </p:nvPr>
        </p:nvSpPr>
        <p:spPr/>
        <p:txBody>
          <a:bodyPr/>
          <a:lstStyle/>
          <a:p>
            <a:fld id="{8C538A16-44D0-4638-ACD6-43A88F095A25}"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需要注意的是每日站会不是工作汇报，只是简单的了解下工作进展，以及是否遇到什么问题，及时发现问题和解决问题</a:t>
            </a:r>
          </a:p>
        </p:txBody>
      </p:sp>
      <p:sp>
        <p:nvSpPr>
          <p:cNvPr id="4" name="灯片编号占位符 3"/>
          <p:cNvSpPr>
            <a:spLocks noGrp="1"/>
          </p:cNvSpPr>
          <p:nvPr>
            <p:ph type="sldNum" sz="quarter" idx="5"/>
          </p:nvPr>
        </p:nvSpPr>
        <p:spPr/>
        <p:txBody>
          <a:bodyPr/>
          <a:lstStyle/>
          <a:p>
            <a:fld id="{8C538A16-44D0-4638-ACD6-43A88F095A25}"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27</a:t>
            </a:fld>
            <a:endParaRPr lang="zh-CN" altLang="en-US"/>
          </a:p>
        </p:txBody>
      </p:sp>
    </p:spTree>
    <p:extLst>
      <p:ext uri="{BB962C8B-B14F-4D97-AF65-F5344CB8AC3E}">
        <p14:creationId xmlns:p14="http://schemas.microsoft.com/office/powerpoint/2010/main" val="302354257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28</a:t>
            </a:fld>
            <a:endParaRPr lang="zh-CN" altLang="en-US"/>
          </a:p>
        </p:txBody>
      </p:sp>
    </p:spTree>
    <p:extLst>
      <p:ext uri="{BB962C8B-B14F-4D97-AF65-F5344CB8AC3E}">
        <p14:creationId xmlns:p14="http://schemas.microsoft.com/office/powerpoint/2010/main" val="37949817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分成以下四个方面展开，首先介绍</a:t>
            </a:r>
            <a:r>
              <a:rPr lang="en-US" altLang="zh-CN" dirty="0"/>
              <a:t>DevOps</a:t>
            </a:r>
            <a:r>
              <a:rPr lang="zh-CN" altLang="en-US" dirty="0"/>
              <a:t>的基本概念，我们首先要搞清楚什么是</a:t>
            </a:r>
            <a:r>
              <a:rPr lang="en-US" altLang="zh-CN" dirty="0"/>
              <a:t>DevOps</a:t>
            </a:r>
            <a:r>
              <a:rPr lang="zh-CN" altLang="en-US" dirty="0"/>
              <a:t>，其次，介绍</a:t>
            </a:r>
            <a:r>
              <a:rPr lang="en-US" altLang="zh-CN" dirty="0"/>
              <a:t>DevOps</a:t>
            </a:r>
            <a:r>
              <a:rPr lang="zh-CN" altLang="en-US" dirty="0"/>
              <a:t>的发展历史，通过了解他的历史，可以帮助我们进一步理解</a:t>
            </a:r>
            <a:r>
              <a:rPr lang="en-US" altLang="zh-CN" dirty="0"/>
              <a:t>DevOps</a:t>
            </a:r>
            <a:r>
              <a:rPr lang="zh-CN" altLang="en-US" dirty="0"/>
              <a:t>的来源，然后，介绍</a:t>
            </a:r>
            <a:r>
              <a:rPr lang="en-US" altLang="zh-CN" dirty="0"/>
              <a:t>DevOps</a:t>
            </a:r>
            <a:r>
              <a:rPr lang="zh-CN" altLang="en-US" dirty="0"/>
              <a:t>的标准能力，哪些能力是</a:t>
            </a:r>
            <a:r>
              <a:rPr lang="en-US" altLang="zh-CN" dirty="0"/>
              <a:t>DevOps</a:t>
            </a:r>
            <a:r>
              <a:rPr lang="zh-CN" altLang="en-US" dirty="0"/>
              <a:t>必备的基础能力，最后，介绍以下</a:t>
            </a:r>
            <a:r>
              <a:rPr lang="en-US" altLang="zh-CN" dirty="0"/>
              <a:t>DevOps</a:t>
            </a:r>
            <a:r>
              <a:rPr lang="zh-CN" altLang="en-US" dirty="0"/>
              <a:t>目前的发展现状和趋势</a:t>
            </a:r>
          </a:p>
        </p:txBody>
      </p:sp>
      <p:sp>
        <p:nvSpPr>
          <p:cNvPr id="4" name="灯片编号占位符 3"/>
          <p:cNvSpPr>
            <a:spLocks noGrp="1"/>
          </p:cNvSpPr>
          <p:nvPr>
            <p:ph type="sldNum" sz="quarter" idx="5"/>
          </p:nvPr>
        </p:nvSpPr>
        <p:spPr/>
        <p:txBody>
          <a:bodyPr/>
          <a:lstStyle/>
          <a:p>
            <a:fld id="{8C538A16-44D0-4638-ACD6-43A88F095A25}" type="slidenum">
              <a:rPr lang="zh-CN" altLang="en-US" smtClean="0"/>
              <a:t>29</a:t>
            </a:fld>
            <a:endParaRPr lang="zh-CN" altLang="en-US"/>
          </a:p>
        </p:txBody>
      </p:sp>
    </p:spTree>
    <p:extLst>
      <p:ext uri="{BB962C8B-B14F-4D97-AF65-F5344CB8AC3E}">
        <p14:creationId xmlns:p14="http://schemas.microsoft.com/office/powerpoint/2010/main" val="36618618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30</a:t>
            </a:fld>
            <a:endParaRPr lang="zh-CN" altLang="en-US"/>
          </a:p>
        </p:txBody>
      </p:sp>
    </p:spTree>
    <p:extLst>
      <p:ext uri="{BB962C8B-B14F-4D97-AF65-F5344CB8AC3E}">
        <p14:creationId xmlns:p14="http://schemas.microsoft.com/office/powerpoint/2010/main" val="102067696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其实，大家目前对于</a:t>
            </a:r>
            <a:r>
              <a:rPr lang="en-US" altLang="zh-CN" dirty="0"/>
              <a:t>DevOps</a:t>
            </a:r>
            <a:r>
              <a:rPr lang="zh-CN" altLang="en-US" dirty="0"/>
              <a:t>还没有公认的定义，我这里找到了两个比较常见的定义</a:t>
            </a:r>
            <a:endParaRPr lang="en-US" altLang="zh-CN" dirty="0"/>
          </a:p>
          <a:p>
            <a:r>
              <a:rPr lang="zh-CN" altLang="en-US" dirty="0"/>
              <a:t>首先是维基百科的定义</a:t>
            </a:r>
            <a:endParaRPr lang="en-US" altLang="zh-CN" dirty="0"/>
          </a:p>
          <a:p>
            <a:r>
              <a:rPr lang="zh-CN" altLang="en-US" dirty="0"/>
              <a:t>然后是云计算开源产业联盟的定义</a:t>
            </a:r>
            <a:endParaRPr lang="en-US" altLang="zh-CN" dirty="0"/>
          </a:p>
          <a:p>
            <a:endParaRPr lang="en-US" altLang="zh-CN" dirty="0"/>
          </a:p>
          <a:p>
            <a:r>
              <a:rPr lang="zh-CN" altLang="en-US" dirty="0"/>
              <a:t>我们可以对比来看一下，首先</a:t>
            </a:r>
            <a:r>
              <a:rPr lang="en-US" altLang="zh-CN" dirty="0"/>
              <a:t>DevOps</a:t>
            </a:r>
            <a:r>
              <a:rPr lang="zh-CN" altLang="en-US" dirty="0"/>
              <a:t>是 </a:t>
            </a:r>
            <a:r>
              <a:rPr lang="en-US" altLang="zh-CN" dirty="0"/>
              <a:t>Development </a:t>
            </a:r>
            <a:r>
              <a:rPr lang="zh-CN" altLang="en-US" dirty="0"/>
              <a:t>和 </a:t>
            </a:r>
            <a:r>
              <a:rPr lang="en-US" altLang="zh-CN" dirty="0"/>
              <a:t>Operations </a:t>
            </a:r>
            <a:r>
              <a:rPr lang="zh-CN" altLang="en-US" dirty="0"/>
              <a:t>的合成词，这个是没有问题的，然后，维基百科里面是说</a:t>
            </a:r>
            <a:r>
              <a:rPr lang="zh-CN" altLang="en-US" sz="1200" dirty="0"/>
              <a:t>“软件开发人员（</a:t>
            </a:r>
            <a:r>
              <a:rPr lang="en-US" altLang="zh-CN" sz="1200" dirty="0"/>
              <a:t>Dev</a:t>
            </a:r>
            <a:r>
              <a:rPr lang="zh-CN" altLang="en-US" sz="1200" dirty="0"/>
              <a:t>）”和“</a:t>
            </a:r>
            <a:r>
              <a:rPr lang="en-US" altLang="zh-CN" sz="1200" dirty="0"/>
              <a:t>IT</a:t>
            </a:r>
            <a:r>
              <a:rPr lang="zh-CN" altLang="en-US" sz="1200" dirty="0"/>
              <a:t>运维技术人员（</a:t>
            </a:r>
            <a:r>
              <a:rPr lang="en-US" altLang="zh-CN" sz="1200" dirty="0"/>
              <a:t>Ops</a:t>
            </a:r>
            <a:r>
              <a:rPr lang="zh-CN" altLang="en-US" sz="1200" dirty="0"/>
              <a:t>）”之间沟通合作，但是云计算产业联盟里面是</a:t>
            </a:r>
            <a:r>
              <a:rPr lang="zh-CN" altLang="en-US" dirty="0"/>
              <a:t>开发（应用程序</a:t>
            </a:r>
            <a:r>
              <a:rPr lang="en-US" altLang="zh-CN" dirty="0"/>
              <a:t>/</a:t>
            </a:r>
            <a:r>
              <a:rPr lang="zh-CN" altLang="en-US" dirty="0"/>
              <a:t>软件工程）、技术运营和质量保障（</a:t>
            </a:r>
            <a:r>
              <a:rPr lang="en-US" altLang="zh-CN" dirty="0"/>
              <a:t>QA</a:t>
            </a:r>
            <a:r>
              <a:rPr lang="zh-CN" altLang="en-US" dirty="0"/>
              <a:t>）部门之间的沟通、协作与整合，所以云计算产业联盟的定义里对于</a:t>
            </a:r>
            <a:r>
              <a:rPr lang="en-US" altLang="zh-CN" dirty="0"/>
              <a:t>DevOps</a:t>
            </a:r>
            <a:r>
              <a:rPr lang="zh-CN" altLang="en-US" dirty="0"/>
              <a:t>涉及的人员范围更广，然后，维基百科说</a:t>
            </a:r>
            <a:r>
              <a:rPr lang="en-US" altLang="zh-CN" dirty="0"/>
              <a:t>DevOps</a:t>
            </a:r>
            <a:r>
              <a:rPr lang="zh-CN" altLang="en-US" dirty="0"/>
              <a:t>是一种</a:t>
            </a:r>
            <a:r>
              <a:rPr lang="zh-CN" altLang="en-US" sz="1200" b="1" dirty="0">
                <a:solidFill>
                  <a:srgbClr val="C00000"/>
                </a:solidFill>
              </a:rPr>
              <a:t>文化、运动或惯例，而</a:t>
            </a:r>
            <a:r>
              <a:rPr lang="zh-CN" altLang="en-US" dirty="0"/>
              <a:t>云计算产业联盟说</a:t>
            </a:r>
            <a:r>
              <a:rPr lang="en-US" altLang="zh-CN" dirty="0"/>
              <a:t>DevOps</a:t>
            </a:r>
            <a:r>
              <a:rPr lang="zh-CN" altLang="en-US" dirty="0"/>
              <a:t>是</a:t>
            </a:r>
            <a:r>
              <a:rPr lang="zh-CN" altLang="en-US" b="1" dirty="0">
                <a:solidFill>
                  <a:srgbClr val="C00000"/>
                </a:solidFill>
              </a:rPr>
              <a:t>一组过程、方法与系统的统称</a:t>
            </a:r>
            <a:r>
              <a:rPr lang="zh-CN" altLang="en-US" dirty="0"/>
              <a:t>，所以，对于</a:t>
            </a:r>
            <a:r>
              <a:rPr lang="en-US" altLang="zh-CN" dirty="0"/>
              <a:t>DevOps</a:t>
            </a:r>
            <a:r>
              <a:rPr lang="zh-CN" altLang="en-US" dirty="0"/>
              <a:t>的内涵，云计算开源产业联盟也更广，这里就涉及到一个争论，对于</a:t>
            </a:r>
            <a:r>
              <a:rPr lang="en-US" altLang="zh-CN" dirty="0"/>
              <a:t>DevOps</a:t>
            </a:r>
            <a:r>
              <a:rPr lang="zh-CN" altLang="en-US" dirty="0"/>
              <a:t>而言，到底是文化更重要，还是工具更重要，感兴趣的同学可以去了解一下。最后，对于</a:t>
            </a:r>
            <a:r>
              <a:rPr lang="en-US" altLang="zh-CN" dirty="0"/>
              <a:t>DevOps</a:t>
            </a:r>
            <a:r>
              <a:rPr lang="zh-CN" altLang="en-US" dirty="0"/>
              <a:t>的目标</a:t>
            </a:r>
            <a:endParaRPr lang="en-US" altLang="zh-CN"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由于</a:t>
            </a:r>
            <a:r>
              <a:rPr lang="en-US" altLang="zh-CN" dirty="0"/>
              <a:t>DevOps</a:t>
            </a:r>
            <a:r>
              <a:rPr lang="zh-CN" altLang="en-US" dirty="0"/>
              <a:t>不存在公认的定义，所以人民对于</a:t>
            </a:r>
            <a:r>
              <a:rPr lang="en-US" altLang="zh-CN" dirty="0"/>
              <a:t>DevOps</a:t>
            </a:r>
            <a:r>
              <a:rPr lang="zh-CN" altLang="en-US" dirty="0"/>
              <a:t>的理解还是经常有出入的，这里是一些对于</a:t>
            </a:r>
            <a:r>
              <a:rPr lang="en-US" altLang="zh-CN" dirty="0"/>
              <a:t>DevOps</a:t>
            </a:r>
            <a:r>
              <a:rPr lang="zh-CN" altLang="en-US" dirty="0"/>
              <a:t>的常见误解</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首先，</a:t>
            </a:r>
            <a:r>
              <a:rPr lang="en-US" altLang="zh-CN" dirty="0"/>
              <a:t>DevOps </a:t>
            </a:r>
            <a:r>
              <a:rPr lang="zh-CN" altLang="en-US" dirty="0"/>
              <a:t>不是一套自动化工具。协作、持续交付、持续测试和持续集成不是实现工具。。。也就是说，</a:t>
            </a:r>
            <a:r>
              <a:rPr lang="en-US" altLang="zh-CN" dirty="0"/>
              <a:t>DevOps</a:t>
            </a:r>
            <a:r>
              <a:rPr lang="zh-CN" altLang="en-US" dirty="0"/>
              <a:t>并不是实现一套自动化工具就完了，必须让你的团队成员知道如何使用他们，并且将这些工具真正融入到工作中</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其次，</a:t>
            </a:r>
            <a:r>
              <a:rPr lang="en-US" altLang="zh-CN" dirty="0"/>
              <a:t>DevOps </a:t>
            </a:r>
            <a:r>
              <a:rPr lang="zh-CN" altLang="en-US" dirty="0"/>
              <a:t>没有取消 </a:t>
            </a:r>
            <a:r>
              <a:rPr lang="en-US" altLang="zh-CN" dirty="0"/>
              <a:t>IT </a:t>
            </a:r>
            <a:r>
              <a:rPr lang="zh-CN" altLang="en-US" dirty="0"/>
              <a:t>运维，并不是说有了</a:t>
            </a:r>
            <a:r>
              <a:rPr lang="en-US" altLang="zh-CN" dirty="0"/>
              <a:t>DevOps</a:t>
            </a:r>
            <a:r>
              <a:rPr lang="zh-CN" altLang="en-US" dirty="0"/>
              <a:t>，就可以把运维人员开除了，或者让运维人员转岗去做开发。之所以出现这种误解，可能是因为有些人认为</a:t>
            </a:r>
            <a:r>
              <a:rPr lang="en-US" altLang="zh-CN" dirty="0"/>
              <a:t>DevOps</a:t>
            </a:r>
            <a:r>
              <a:rPr lang="zh-CN" altLang="en-US" dirty="0"/>
              <a:t>的终点就是</a:t>
            </a:r>
            <a:r>
              <a:rPr lang="en-US" altLang="zh-CN" dirty="0" err="1"/>
              <a:t>NoOps</a:t>
            </a:r>
            <a:r>
              <a:rPr lang="zh-CN" altLang="en-US" dirty="0"/>
              <a:t>。根据无运维（</a:t>
            </a:r>
            <a:r>
              <a:rPr lang="en-US" altLang="zh-CN" dirty="0" err="1"/>
              <a:t>NoOps</a:t>
            </a:r>
            <a:r>
              <a:rPr lang="zh-CN" altLang="en-US" dirty="0"/>
              <a:t>）的概念，</a:t>
            </a:r>
            <a:r>
              <a:rPr lang="en-US" altLang="zh-CN" dirty="0"/>
              <a:t>IT </a:t>
            </a:r>
            <a:r>
              <a:rPr lang="zh-CN" altLang="en-US" dirty="0"/>
              <a:t>行业将变得非常自动化。。。</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最后，</a:t>
            </a:r>
            <a:r>
              <a:rPr lang="en-US" altLang="zh-CN" dirty="0"/>
              <a:t>DevOps</a:t>
            </a:r>
            <a:r>
              <a:rPr lang="zh-CN" altLang="en-US" dirty="0"/>
              <a:t>不等同于持续交付。。。</a:t>
            </a:r>
          </a:p>
        </p:txBody>
      </p:sp>
      <p:sp>
        <p:nvSpPr>
          <p:cNvPr id="4" name="灯片编号占位符 3"/>
          <p:cNvSpPr>
            <a:spLocks noGrp="1"/>
          </p:cNvSpPr>
          <p:nvPr>
            <p:ph type="sldNum" sz="quarter" idx="5"/>
          </p:nvPr>
        </p:nvSpPr>
        <p:spPr/>
        <p:txBody>
          <a:bodyPr/>
          <a:lstStyle/>
          <a:p>
            <a:fld id="{8C538A16-44D0-4638-ACD6-43A88F095A25}" type="slidenum">
              <a:rPr lang="zh-CN" altLang="en-US" smtClean="0"/>
              <a:t>32</a:t>
            </a:fld>
            <a:endParaRPr lang="zh-CN" altLang="en-US"/>
          </a:p>
        </p:txBody>
      </p:sp>
    </p:spTree>
    <p:extLst>
      <p:ext uri="{BB962C8B-B14F-4D97-AF65-F5344CB8AC3E}">
        <p14:creationId xmlns:p14="http://schemas.microsoft.com/office/powerpoint/2010/main" val="97399130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除了最原始的</a:t>
            </a:r>
            <a:r>
              <a:rPr lang="en-US" altLang="zh-CN" dirty="0"/>
              <a:t>DevOps</a:t>
            </a:r>
            <a:r>
              <a:rPr lang="zh-CN" altLang="en-US" dirty="0"/>
              <a:t>之外，随着</a:t>
            </a:r>
            <a:r>
              <a:rPr lang="en-US" altLang="zh-CN" dirty="0"/>
              <a:t>DevOps</a:t>
            </a:r>
            <a:r>
              <a:rPr lang="zh-CN" altLang="en-US" dirty="0"/>
              <a:t>的发展，他的内涵越来越广，涉及到的人员种类越来越多，注解形成了一些新的形态</a:t>
            </a:r>
            <a:endParaRPr lang="en-US" altLang="zh-CN" dirty="0"/>
          </a:p>
          <a:p>
            <a:r>
              <a:rPr lang="zh-CN" altLang="en-US" dirty="0"/>
              <a:t>比如， </a:t>
            </a:r>
            <a:r>
              <a:rPr lang="en-US" altLang="zh-CN" dirty="0" err="1"/>
              <a:t>BizDevOps</a:t>
            </a:r>
            <a:r>
              <a:rPr lang="zh-CN" altLang="en-US" dirty="0"/>
              <a:t>就是引入了业务人员。。。其实，他的主要出发点是这样的，不管你的</a:t>
            </a:r>
            <a:r>
              <a:rPr lang="en-US" altLang="zh-CN" dirty="0"/>
              <a:t>IT</a:t>
            </a:r>
            <a:r>
              <a:rPr lang="zh-CN" altLang="en-US" dirty="0"/>
              <a:t>人员工作方式如何变化，最终都是为了快速实现业务需求，支撑企业实现商业价值，所以为了避免沟通问题产生的协作问题，干脆把业务人员也直接引入进来。</a:t>
            </a:r>
            <a:endParaRPr lang="en-US" altLang="zh-CN" dirty="0"/>
          </a:p>
          <a:p>
            <a:r>
              <a:rPr lang="en-US" altLang="zh-CN" dirty="0" err="1"/>
              <a:t>DevSecOps</a:t>
            </a:r>
            <a:r>
              <a:rPr lang="zh-CN" altLang="en-US" dirty="0"/>
              <a:t>就是引入了安全人员。。。</a:t>
            </a:r>
          </a:p>
        </p:txBody>
      </p:sp>
      <p:sp>
        <p:nvSpPr>
          <p:cNvPr id="4" name="灯片编号占位符 3"/>
          <p:cNvSpPr>
            <a:spLocks noGrp="1"/>
          </p:cNvSpPr>
          <p:nvPr>
            <p:ph type="sldNum" sz="quarter" idx="5"/>
          </p:nvPr>
        </p:nvSpPr>
        <p:spPr/>
        <p:txBody>
          <a:bodyPr/>
          <a:lstStyle/>
          <a:p>
            <a:fld id="{8C538A16-44D0-4638-ACD6-43A88F095A25}" type="slidenum">
              <a:rPr lang="zh-CN" altLang="en-US" smtClean="0"/>
              <a:t>33</a:t>
            </a:fld>
            <a:endParaRPr lang="zh-CN" altLang="en-US"/>
          </a:p>
        </p:txBody>
      </p:sp>
    </p:spTree>
    <p:extLst>
      <p:ext uri="{BB962C8B-B14F-4D97-AF65-F5344CB8AC3E}">
        <p14:creationId xmlns:p14="http://schemas.microsoft.com/office/powerpoint/2010/main" val="36803633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前面讲了很多概念，大家可能觉得有点枯燥，现在讲一些有意思的内容</a:t>
            </a:r>
          </a:p>
        </p:txBody>
      </p:sp>
      <p:sp>
        <p:nvSpPr>
          <p:cNvPr id="4" name="灯片编号占位符 3"/>
          <p:cNvSpPr>
            <a:spLocks noGrp="1"/>
          </p:cNvSpPr>
          <p:nvPr>
            <p:ph type="sldNum" sz="quarter" idx="5"/>
          </p:nvPr>
        </p:nvSpPr>
        <p:spPr/>
        <p:txBody>
          <a:bodyPr/>
          <a:lstStyle/>
          <a:p>
            <a:fld id="{8C538A16-44D0-4638-ACD6-43A88F095A25}" type="slidenum">
              <a:rPr lang="zh-CN" altLang="en-US" smtClean="0"/>
              <a:t>34</a:t>
            </a:fld>
            <a:endParaRPr lang="zh-CN" altLang="en-US"/>
          </a:p>
        </p:txBody>
      </p:sp>
    </p:spTree>
    <p:extLst>
      <p:ext uri="{BB962C8B-B14F-4D97-AF65-F5344CB8AC3E}">
        <p14:creationId xmlns:p14="http://schemas.microsoft.com/office/powerpoint/2010/main" val="219031355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solidFill>
                  <a:srgbClr val="494949"/>
                </a:solidFill>
                <a:latin typeface="HiddenHorzOCR"/>
              </a:rPr>
              <a:t>DevOps</a:t>
            </a:r>
            <a:r>
              <a:rPr lang="zh-CN" altLang="en-US" sz="1800" b="0" i="0" u="none" strike="noStrike" baseline="0" dirty="0">
                <a:solidFill>
                  <a:srgbClr val="494949"/>
                </a:solidFill>
                <a:latin typeface="HiddenHorzOCR"/>
              </a:rPr>
              <a:t>的发展可以分成几个阶段，首先第一个阶段是</a:t>
            </a:r>
            <a:r>
              <a:rPr lang="en-US" altLang="zh-CN" sz="1800" b="0" i="0" u="none" strike="noStrike" baseline="0" dirty="0">
                <a:solidFill>
                  <a:srgbClr val="494949"/>
                </a:solidFill>
                <a:latin typeface="HiddenHorzOCR"/>
              </a:rPr>
              <a:t>2007</a:t>
            </a:r>
            <a:r>
              <a:rPr lang="zh-CN" altLang="en-US" sz="1800" b="0" i="0" u="none" strike="noStrike" baseline="0" dirty="0">
                <a:solidFill>
                  <a:srgbClr val="494949"/>
                </a:solidFill>
                <a:latin typeface="HiddenHorzOCR"/>
              </a:rPr>
              <a:t>年到</a:t>
            </a:r>
            <a:r>
              <a:rPr lang="en-US" altLang="zh-CN" sz="1800" b="0" i="0" u="none" strike="noStrike" baseline="0" dirty="0">
                <a:solidFill>
                  <a:srgbClr val="494949"/>
                </a:solidFill>
                <a:latin typeface="HiddenHorzOCR"/>
              </a:rPr>
              <a:t>2008</a:t>
            </a:r>
            <a:r>
              <a:rPr lang="zh-CN" altLang="en-US" sz="1800" b="0" i="0" u="none" strike="noStrike" baseline="0" dirty="0">
                <a:solidFill>
                  <a:srgbClr val="494949"/>
                </a:solidFill>
                <a:latin typeface="HiddenHorzOCR"/>
              </a:rPr>
              <a:t>年的萌芽阶段，</a:t>
            </a:r>
            <a:endParaRPr lang="en-US" altLang="zh-CN" sz="1800" b="0" i="0" u="none" strike="noStrike" baseline="0" dirty="0">
              <a:solidFill>
                <a:srgbClr val="494949"/>
              </a:solidFill>
              <a:latin typeface="HiddenHorzOCR"/>
            </a:endParaRPr>
          </a:p>
          <a:p>
            <a:pPr algn="l"/>
            <a:r>
              <a:rPr lang="en-US" altLang="zh-CN" sz="1800" b="0" i="0" u="none" strike="noStrike" baseline="0" dirty="0">
                <a:solidFill>
                  <a:srgbClr val="494949"/>
                </a:solidFill>
                <a:latin typeface="HiddenHorzOCR"/>
              </a:rPr>
              <a:t>2007 </a:t>
            </a:r>
            <a:r>
              <a:rPr lang="zh-CN" altLang="en-US" sz="1800" b="0" i="0" u="none" strike="noStrike" baseline="0" dirty="0">
                <a:solidFill>
                  <a:srgbClr val="494949"/>
                </a:solidFill>
                <a:latin typeface="HiddenHorzOCR"/>
              </a:rPr>
              <a:t>年，比利时的独立</a:t>
            </a:r>
            <a:r>
              <a:rPr lang="en-US" altLang="zh-CN" sz="1800" b="0" i="0" u="none" strike="noStrike" baseline="0" dirty="0">
                <a:solidFill>
                  <a:srgbClr val="494949"/>
                </a:solidFill>
                <a:latin typeface="HiddenHorzOCR"/>
              </a:rPr>
              <a:t>IT </a:t>
            </a:r>
            <a:r>
              <a:rPr lang="zh-CN" altLang="en-US" sz="1800" b="0" i="0" u="none" strike="noStrike" baseline="0" dirty="0">
                <a:solidFill>
                  <a:srgbClr val="494949"/>
                </a:solidFill>
                <a:latin typeface="HiddenHorzOCR"/>
              </a:rPr>
              <a:t>咨询师</a:t>
            </a:r>
            <a:r>
              <a:rPr lang="en-US" altLang="zh-CN" sz="1800" b="0" i="0" u="none" strike="noStrike" baseline="0" dirty="0">
                <a:solidFill>
                  <a:srgbClr val="494949"/>
                </a:solidFill>
                <a:latin typeface="HiddenHorzOCR"/>
              </a:rPr>
              <a:t>Patr</a:t>
            </a:r>
            <a:r>
              <a:rPr lang="en-US" altLang="zh-CN" sz="1800" b="0" i="0" u="none" strike="noStrike" baseline="0" dirty="0">
                <a:solidFill>
                  <a:srgbClr val="232323"/>
                </a:solidFill>
                <a:latin typeface="HiddenHorzOCR"/>
              </a:rPr>
              <a:t>i</a:t>
            </a:r>
            <a:r>
              <a:rPr lang="en-US" altLang="zh-CN" sz="1800" b="0" i="0" u="none" strike="noStrike" baseline="0" dirty="0">
                <a:solidFill>
                  <a:srgbClr val="494949"/>
                </a:solidFill>
                <a:latin typeface="HiddenHorzOCR"/>
              </a:rPr>
              <a:t>ck </a:t>
            </a:r>
            <a:r>
              <a:rPr lang="en-US" altLang="zh-CN" sz="1800" b="0" i="0" u="none" strike="noStrike" baseline="0" dirty="0" err="1">
                <a:solidFill>
                  <a:srgbClr val="323232"/>
                </a:solidFill>
                <a:latin typeface="HiddenHorzOCR"/>
              </a:rPr>
              <a:t>Debois</a:t>
            </a:r>
            <a:r>
              <a:rPr lang="en-US" altLang="zh-CN" sz="1800" b="0" i="0" u="none" strike="noStrike" baseline="0" dirty="0">
                <a:solidFill>
                  <a:srgbClr val="323232"/>
                </a:solidFill>
                <a:latin typeface="HiddenHorzOCR"/>
              </a:rPr>
              <a:t> </a:t>
            </a:r>
            <a:r>
              <a:rPr lang="zh-CN" altLang="en-US" sz="1800" b="0" i="0" u="none" strike="noStrike" baseline="0" dirty="0">
                <a:solidFill>
                  <a:srgbClr val="323232"/>
                </a:solidFill>
                <a:latin typeface="HiddenHorzOCR"/>
              </a:rPr>
              <a:t>开始注</a:t>
            </a:r>
            <a:r>
              <a:rPr lang="zh-CN" altLang="en-US" sz="1800" b="0" i="0" u="none" strike="noStrike" baseline="0" dirty="0">
                <a:solidFill>
                  <a:srgbClr val="5D5D5D"/>
                </a:solidFill>
                <a:latin typeface="HiddenHorzOCR"/>
              </a:rPr>
              <a:t>意开发团队（ </a:t>
            </a:r>
            <a:r>
              <a:rPr lang="en-US" altLang="zh-CN" sz="1800" b="0" i="0" u="none" strike="noStrike" baseline="0" dirty="0">
                <a:solidFill>
                  <a:srgbClr val="5D5D5D"/>
                </a:solidFill>
                <a:latin typeface="HiddenHorzOCR"/>
              </a:rPr>
              <a:t>Dev </a:t>
            </a:r>
            <a:r>
              <a:rPr lang="zh-CN" altLang="en-US" sz="1800" b="0" i="0" u="none" strike="noStrike" baseline="0" dirty="0">
                <a:solidFill>
                  <a:srgbClr val="5D5D5D"/>
                </a:solidFill>
                <a:latin typeface="HiddenHorzOCR"/>
              </a:rPr>
              <a:t>）和运维团队（ </a:t>
            </a:r>
            <a:r>
              <a:rPr lang="en-US" altLang="zh-CN" sz="1800" b="0" i="0" u="none" strike="noStrike" baseline="0" dirty="0">
                <a:solidFill>
                  <a:srgbClr val="5D5D5D"/>
                </a:solidFill>
                <a:latin typeface="HiddenHorzOCR"/>
              </a:rPr>
              <a:t>Ops </a:t>
            </a:r>
            <a:r>
              <a:rPr lang="zh-CN" altLang="en-US" sz="1800" b="0" i="0" u="none" strike="noStrike" baseline="0" dirty="0">
                <a:solidFill>
                  <a:srgbClr val="5D5D5D"/>
                </a:solidFill>
                <a:latin typeface="HiddenHorzOCR"/>
              </a:rPr>
              <a:t>）之间的问题</a:t>
            </a:r>
            <a:r>
              <a:rPr lang="zh-CN" altLang="en-US" sz="1800" b="0" i="0" u="none" strike="noStrike" baseline="0" dirty="0">
                <a:solidFill>
                  <a:srgbClr val="919191"/>
                </a:solidFill>
                <a:latin typeface="HiddenHorzOCR"/>
              </a:rPr>
              <a:t>。</a:t>
            </a:r>
            <a:r>
              <a:rPr lang="zh-CN" altLang="en-US" sz="1800" b="0" i="0" u="none" strike="noStrike" baseline="0" dirty="0">
                <a:solidFill>
                  <a:srgbClr val="5D5D5D"/>
                </a:solidFill>
                <a:latin typeface="HiddenHorzOCR"/>
              </a:rPr>
              <a:t>当时，他参与了比利时政府一个下属部门的大型数据中心迁移</a:t>
            </a:r>
            <a:r>
              <a:rPr lang="zh-CN" altLang="en-US" sz="1800" b="0" i="0" u="none" strike="noStrike" baseline="0" dirty="0">
                <a:solidFill>
                  <a:srgbClr val="494949"/>
                </a:solidFill>
                <a:latin typeface="HiddenHorzOCR"/>
              </a:rPr>
              <a:t>的项目，在这个项目中，他负责测试和验证工作，所以他不光要和</a:t>
            </a:r>
            <a:r>
              <a:rPr lang="en-US" altLang="zh-CN" sz="1800" b="0" i="0" u="none" strike="noStrike" baseline="0" dirty="0">
                <a:solidFill>
                  <a:srgbClr val="494949"/>
                </a:solidFill>
                <a:latin typeface="HiddenHorzOCR"/>
              </a:rPr>
              <a:t>Dev </a:t>
            </a:r>
            <a:r>
              <a:rPr lang="zh-CN" altLang="en-US" sz="1800" b="0" i="0" u="none" strike="noStrike" baseline="0" dirty="0">
                <a:solidFill>
                  <a:srgbClr val="494949"/>
                </a:solidFill>
                <a:latin typeface="HiddenHorzOCR"/>
              </a:rPr>
              <a:t>一起工作，也要和</a:t>
            </a:r>
            <a:r>
              <a:rPr lang="en-US" altLang="zh-CN" sz="1800" b="0" i="0" u="none" strike="noStrike" baseline="0" dirty="0">
                <a:solidFill>
                  <a:srgbClr val="494949"/>
                </a:solidFill>
                <a:latin typeface="HiddenHorzOCR"/>
              </a:rPr>
              <a:t>Ops </a:t>
            </a:r>
            <a:r>
              <a:rPr lang="zh-CN" altLang="en-US" sz="1800" b="0" i="0" u="none" strike="noStrike" baseline="0" dirty="0">
                <a:solidFill>
                  <a:srgbClr val="494949"/>
                </a:solidFill>
                <a:latin typeface="HiddenHorzOCR"/>
              </a:rPr>
              <a:t>一起工作</a:t>
            </a:r>
            <a:r>
              <a:rPr lang="zh-CN" altLang="en-US" sz="1800" b="0" i="0" u="none" strike="noStrike" baseline="0" dirty="0">
                <a:solidFill>
                  <a:srgbClr val="7A7A7A"/>
                </a:solidFill>
                <a:latin typeface="HiddenHorzOCR"/>
              </a:rPr>
              <a:t>。</a:t>
            </a:r>
            <a:r>
              <a:rPr lang="zh-CN" altLang="en-US" sz="1800" b="0" i="0" u="none" strike="noStrike" baseline="0" dirty="0">
                <a:solidFill>
                  <a:srgbClr val="494949"/>
                </a:solidFill>
                <a:latin typeface="HiddenHorzOCR"/>
              </a:rPr>
              <a:t>他第一天在开发团队跟随敏捷的节奏，第二天又要以传统的方式像消防队员那样维护这些系统，这种在两种工作氛围的切换令他十分沮丧</a:t>
            </a:r>
            <a:r>
              <a:rPr lang="zh-CN" altLang="en-US" sz="1800" b="0" i="0" u="none" strike="noStrike" baseline="0" dirty="0">
                <a:solidFill>
                  <a:srgbClr val="7A7A7A"/>
                </a:solidFill>
                <a:latin typeface="HiddenHorzOCR"/>
              </a:rPr>
              <a:t>。</a:t>
            </a:r>
            <a:r>
              <a:rPr lang="zh-CN" altLang="en-US" sz="1800" b="0" i="0" u="none" strike="noStrike" baseline="0" dirty="0">
                <a:solidFill>
                  <a:srgbClr val="5D5D5D"/>
                </a:solidFill>
                <a:latin typeface="HiddenHorzOCR"/>
              </a:rPr>
              <a:t>他</a:t>
            </a:r>
            <a:r>
              <a:rPr lang="zh-CN" altLang="en-US" sz="1800" b="0" i="0" u="none" strike="noStrike" baseline="0" dirty="0">
                <a:solidFill>
                  <a:srgbClr val="7A7A7A"/>
                </a:solidFill>
                <a:latin typeface="HiddenHorzOCR"/>
              </a:rPr>
              <a:t>意</a:t>
            </a:r>
            <a:r>
              <a:rPr lang="zh-CN" altLang="en-US" sz="1800" b="0" i="0" u="none" strike="noStrike" baseline="0" dirty="0">
                <a:solidFill>
                  <a:srgbClr val="5D5D5D"/>
                </a:solidFill>
                <a:latin typeface="HiddenHorzOCR"/>
              </a:rPr>
              <a:t>识到开发团</a:t>
            </a:r>
            <a:r>
              <a:rPr lang="zh-CN" altLang="en-US" sz="1800" b="0" i="0" u="none" strike="noStrike" baseline="0" dirty="0">
                <a:solidFill>
                  <a:srgbClr val="494949"/>
                </a:solidFill>
                <a:latin typeface="HiddenHorzOCR"/>
              </a:rPr>
              <a:t>队与运维团队的工作方式和思维方式有巨大的差异：开发团队和运维团队生活在两个不同的世界。开发团队要求敏捷开发、持续变更、从而快速响应用户需求，运维团队要求稳定压倒一切，拒绝频繁变更，所以在这两个团队就经常发送冲突。作为一个敏捷的簇拥者，他开始思考如何在这种状况下改进自己的工作，怎么把敏捷的思想引入到系统运维中</a:t>
            </a:r>
            <a:endParaRPr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35</a:t>
            </a:fld>
            <a:endParaRPr lang="zh-CN" altLang="en-US"/>
          </a:p>
        </p:txBody>
      </p:sp>
    </p:spTree>
    <p:extLst>
      <p:ext uri="{BB962C8B-B14F-4D97-AF65-F5344CB8AC3E}">
        <p14:creationId xmlns:p14="http://schemas.microsoft.com/office/powerpoint/2010/main" val="61707158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00" dirty="0">
                <a:solidFill>
                  <a:schemeClr val="tx1"/>
                </a:solidFill>
                <a:effectLst/>
                <a:latin typeface="+mn-ea"/>
                <a:cs typeface="Times New Roman" panose="02020603050405020304" pitchFamily="18" charset="0"/>
              </a:rPr>
              <a:t>随后，在</a:t>
            </a:r>
            <a:r>
              <a:rPr lang="en-US" altLang="zh-CN" sz="1200" kern="100" dirty="0">
                <a:solidFill>
                  <a:schemeClr val="tx1"/>
                </a:solidFill>
                <a:effectLst/>
                <a:latin typeface="+mn-ea"/>
                <a:cs typeface="Times New Roman" panose="02020603050405020304" pitchFamily="18" charset="0"/>
              </a:rPr>
              <a:t>2008</a:t>
            </a:r>
            <a:r>
              <a:rPr lang="zh-CN" altLang="en-US" sz="1200" kern="100" dirty="0">
                <a:solidFill>
                  <a:schemeClr val="tx1"/>
                </a:solidFill>
                <a:effectLst/>
                <a:latin typeface="+mn-ea"/>
                <a:cs typeface="Times New Roman" panose="02020603050405020304" pitchFamily="18" charset="0"/>
              </a:rPr>
              <a:t>年，</a:t>
            </a:r>
            <a:r>
              <a:rPr lang="en-US" altLang="zh-CN" sz="1200" kern="100" dirty="0">
                <a:solidFill>
                  <a:schemeClr val="tx1"/>
                </a:solidFill>
                <a:effectLst/>
                <a:latin typeface="+mn-ea"/>
                <a:cs typeface="Times New Roman" panose="02020603050405020304" pitchFamily="18" charset="0"/>
              </a:rPr>
              <a:t>Patrick</a:t>
            </a:r>
            <a:r>
              <a:rPr lang="zh-CN" altLang="en-US" sz="1200" kern="100" dirty="0">
                <a:solidFill>
                  <a:schemeClr val="tx1"/>
                </a:solidFill>
                <a:effectLst/>
                <a:latin typeface="+mn-ea"/>
                <a:cs typeface="Times New Roman" panose="02020603050405020304" pitchFamily="18" charset="0"/>
              </a:rPr>
              <a:t>在加拿大多伦多的</a:t>
            </a:r>
            <a:r>
              <a:rPr lang="en-US" altLang="zh-CN" sz="1200" kern="100" dirty="0">
                <a:solidFill>
                  <a:schemeClr val="tx1"/>
                </a:solidFill>
                <a:effectLst/>
                <a:latin typeface="+mn-ea"/>
                <a:cs typeface="Times New Roman" panose="02020603050405020304" pitchFamily="18" charset="0"/>
              </a:rPr>
              <a:t>Agile Conference 2008</a:t>
            </a:r>
            <a:r>
              <a:rPr lang="zh-CN" altLang="en-US" sz="1200" kern="100" dirty="0">
                <a:solidFill>
                  <a:schemeClr val="tx1"/>
                </a:solidFill>
                <a:effectLst/>
                <a:latin typeface="+mn-ea"/>
                <a:cs typeface="Times New Roman" panose="02020603050405020304" pitchFamily="18" charset="0"/>
              </a:rPr>
              <a:t>上遇到了</a:t>
            </a:r>
            <a:r>
              <a:rPr lang="en-US" altLang="zh-CN" sz="1200" kern="100" dirty="0">
                <a:solidFill>
                  <a:schemeClr val="tx1"/>
                </a:solidFill>
                <a:effectLst/>
                <a:latin typeface="+mn-ea"/>
                <a:cs typeface="Times New Roman" panose="02020603050405020304" pitchFamily="18" charset="0"/>
              </a:rPr>
              <a:t>Andrew Shafer </a:t>
            </a:r>
            <a:r>
              <a:rPr lang="zh-CN" altLang="en-US" sz="1200" kern="100" dirty="0">
                <a:solidFill>
                  <a:schemeClr val="tx1"/>
                </a:solidFill>
                <a:effectLst/>
                <a:latin typeface="+mn-ea"/>
                <a:cs typeface="Times New Roman" panose="02020603050405020304" pitchFamily="18" charset="0"/>
              </a:rPr>
              <a:t>，两人后来建立了一个叫</a:t>
            </a:r>
            <a:r>
              <a:rPr lang="en-US" altLang="zh-CN" sz="1200" kern="100" dirty="0">
                <a:solidFill>
                  <a:schemeClr val="tx1"/>
                </a:solidFill>
                <a:effectLst/>
                <a:latin typeface="+mn-ea"/>
                <a:cs typeface="Times New Roman" panose="02020603050405020304" pitchFamily="18" charset="0"/>
              </a:rPr>
              <a:t>Agile System Administration </a:t>
            </a:r>
            <a:r>
              <a:rPr lang="zh-CN" altLang="en-US" sz="1200" kern="100" dirty="0">
                <a:solidFill>
                  <a:schemeClr val="tx1"/>
                </a:solidFill>
                <a:effectLst/>
                <a:latin typeface="+mn-ea"/>
                <a:cs typeface="Times New Roman" panose="02020603050405020304" pitchFamily="18" charset="0"/>
              </a:rPr>
              <a:t>的</a:t>
            </a:r>
            <a:r>
              <a:rPr lang="en-US" altLang="zh-CN" sz="1200" kern="100" dirty="0">
                <a:solidFill>
                  <a:schemeClr val="tx1"/>
                </a:solidFill>
                <a:effectLst/>
                <a:latin typeface="+mn-ea"/>
                <a:cs typeface="Times New Roman" panose="02020603050405020304" pitchFamily="18" charset="0"/>
              </a:rPr>
              <a:t>Google</a:t>
            </a:r>
            <a:r>
              <a:rPr lang="zh-CN" altLang="en-US" sz="1200" kern="100" dirty="0">
                <a:solidFill>
                  <a:schemeClr val="tx1"/>
                </a:solidFill>
                <a:effectLst/>
                <a:latin typeface="+mn-ea"/>
                <a:cs typeface="Times New Roman" panose="02020603050405020304" pitchFamily="18" charset="0"/>
              </a:rPr>
              <a:t>讨论组。</a:t>
            </a:r>
            <a:endParaRPr lang="zh-CN" altLang="zh-CN" sz="1200" kern="100" dirty="0">
              <a:solidFill>
                <a:schemeClr val="tx1"/>
              </a:solidFill>
              <a:effectLst/>
              <a:latin typeface="+mn-ea"/>
              <a:cs typeface="Times New Roman" panose="02020603050405020304" pitchFamily="18" charset="0"/>
            </a:endParaRPr>
          </a:p>
          <a:p>
            <a:pPr algn="l"/>
            <a:endParaRPr lang="en-US" altLang="zh-CN" dirty="0"/>
          </a:p>
          <a:p>
            <a:pPr algn="l"/>
            <a:r>
              <a:rPr lang="zh-CN" altLang="en-US" dirty="0"/>
              <a:t>总之，在萌芽阶段，大家开始意识到研发和运维之间的冲突，尝试将敏捷思想引入到运维中</a:t>
            </a:r>
          </a:p>
        </p:txBody>
      </p:sp>
      <p:sp>
        <p:nvSpPr>
          <p:cNvPr id="4" name="灯片编号占位符 3"/>
          <p:cNvSpPr>
            <a:spLocks noGrp="1"/>
          </p:cNvSpPr>
          <p:nvPr>
            <p:ph type="sldNum" sz="quarter" idx="5"/>
          </p:nvPr>
        </p:nvSpPr>
        <p:spPr/>
        <p:txBody>
          <a:bodyPr/>
          <a:lstStyle/>
          <a:p>
            <a:fld id="{8C538A16-44D0-4638-ACD6-43A88F095A25}" type="slidenum">
              <a:rPr lang="zh-CN" altLang="en-US" smtClean="0"/>
              <a:t>36</a:t>
            </a:fld>
            <a:endParaRPr lang="zh-CN" altLang="en-US"/>
          </a:p>
        </p:txBody>
      </p:sp>
    </p:spTree>
    <p:extLst>
      <p:ext uri="{BB962C8B-B14F-4D97-AF65-F5344CB8AC3E}">
        <p14:creationId xmlns:p14="http://schemas.microsoft.com/office/powerpoint/2010/main" val="212664219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00" dirty="0">
                <a:solidFill>
                  <a:schemeClr val="tx1"/>
                </a:solidFill>
                <a:effectLst/>
                <a:latin typeface="+mn-ea"/>
                <a:cs typeface="Times New Roman" panose="02020603050405020304" pitchFamily="18" charset="0"/>
              </a:rPr>
              <a:t>然后来到了</a:t>
            </a:r>
            <a:r>
              <a:rPr lang="en-US" altLang="zh-CN" sz="1200" kern="100" dirty="0">
                <a:solidFill>
                  <a:schemeClr val="tx1"/>
                </a:solidFill>
                <a:effectLst/>
                <a:latin typeface="+mn-ea"/>
                <a:cs typeface="Times New Roman" panose="02020603050405020304" pitchFamily="18" charset="0"/>
              </a:rPr>
              <a:t>DevOps</a:t>
            </a:r>
            <a:r>
              <a:rPr lang="zh-CN" altLang="en-US" sz="1200" kern="100" dirty="0">
                <a:solidFill>
                  <a:schemeClr val="tx1"/>
                </a:solidFill>
                <a:effectLst/>
                <a:latin typeface="+mn-ea"/>
                <a:cs typeface="Times New Roman" panose="02020603050405020304" pitchFamily="18" charset="0"/>
              </a:rPr>
              <a:t>的第二个阶段，</a:t>
            </a:r>
            <a:r>
              <a:rPr lang="en-US" altLang="zh-CN" sz="1200" kern="100" dirty="0">
                <a:solidFill>
                  <a:schemeClr val="tx1"/>
                </a:solidFill>
                <a:effectLst/>
                <a:latin typeface="+mn-ea"/>
                <a:cs typeface="Times New Roman" panose="02020603050405020304" pitchFamily="18" charset="0"/>
              </a:rPr>
              <a:t>2009</a:t>
            </a:r>
            <a:r>
              <a:rPr lang="zh-CN" altLang="en-US" sz="1200" kern="100" dirty="0">
                <a:solidFill>
                  <a:schemeClr val="tx1"/>
                </a:solidFill>
                <a:effectLst/>
                <a:latin typeface="+mn-ea"/>
                <a:cs typeface="Times New Roman" panose="02020603050405020304" pitchFamily="18" charset="0"/>
              </a:rPr>
              <a:t>年到</a:t>
            </a:r>
            <a:r>
              <a:rPr lang="en-US" altLang="zh-CN" sz="1200" kern="100" dirty="0">
                <a:solidFill>
                  <a:schemeClr val="tx1"/>
                </a:solidFill>
                <a:effectLst/>
                <a:latin typeface="+mn-ea"/>
                <a:cs typeface="Times New Roman" panose="02020603050405020304" pitchFamily="18" charset="0"/>
              </a:rPr>
              <a:t>2020</a:t>
            </a:r>
            <a:r>
              <a:rPr lang="zh-CN" altLang="en-US" sz="1200" kern="100" dirty="0">
                <a:solidFill>
                  <a:schemeClr val="tx1"/>
                </a:solidFill>
                <a:effectLst/>
                <a:latin typeface="+mn-ea"/>
                <a:cs typeface="Times New Roman" panose="02020603050405020304" pitchFamily="18" charset="0"/>
              </a:rPr>
              <a:t>年的社区确立阶段</a:t>
            </a:r>
            <a:endParaRPr lang="en-US" altLang="zh-CN" sz="1200" kern="100" dirty="0">
              <a:solidFill>
                <a:schemeClr val="tx1"/>
              </a:solidFill>
              <a:effectLst/>
              <a:latin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00" dirty="0">
              <a:solidFill>
                <a:schemeClr val="tx1"/>
              </a:solidFill>
              <a:effectLst/>
              <a:latin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a:solidFill>
                  <a:schemeClr val="tx1"/>
                </a:solidFill>
                <a:effectLst/>
                <a:latin typeface="+mn-ea"/>
                <a:cs typeface="Times New Roman" panose="02020603050405020304" pitchFamily="18" charset="0"/>
              </a:rPr>
              <a:t>2009 </a:t>
            </a:r>
            <a:r>
              <a:rPr lang="zh-CN" altLang="en-US" sz="1200" kern="100" dirty="0">
                <a:solidFill>
                  <a:schemeClr val="tx1"/>
                </a:solidFill>
                <a:effectLst/>
                <a:latin typeface="+mn-ea"/>
                <a:cs typeface="Times New Roman" panose="02020603050405020304" pitchFamily="18" charset="0"/>
              </a:rPr>
              <a:t>年</a:t>
            </a:r>
            <a:r>
              <a:rPr lang="en-US" altLang="zh-CN" sz="1200" kern="100" dirty="0">
                <a:solidFill>
                  <a:schemeClr val="tx1"/>
                </a:solidFill>
                <a:effectLst/>
                <a:latin typeface="+mn-ea"/>
                <a:cs typeface="Times New Roman" panose="02020603050405020304" pitchFamily="18" charset="0"/>
              </a:rPr>
              <a:t>6 </a:t>
            </a:r>
            <a:r>
              <a:rPr lang="zh-CN" altLang="en-US" sz="1200" kern="100" dirty="0">
                <a:solidFill>
                  <a:schemeClr val="tx1"/>
                </a:solidFill>
                <a:effectLst/>
                <a:latin typeface="+mn-ea"/>
                <a:cs typeface="Times New Roman" panose="02020603050405020304" pitchFamily="18" charset="0"/>
              </a:rPr>
              <a:t>月，第二届</a:t>
            </a:r>
            <a:r>
              <a:rPr lang="en-US" altLang="zh-CN" sz="1200" kern="100" dirty="0">
                <a:solidFill>
                  <a:schemeClr val="tx1"/>
                </a:solidFill>
                <a:effectLst/>
                <a:latin typeface="+mn-ea"/>
                <a:cs typeface="Times New Roman" panose="02020603050405020304" pitchFamily="18" charset="0"/>
              </a:rPr>
              <a:t>Velocity</a:t>
            </a:r>
            <a:r>
              <a:rPr lang="zh-CN" altLang="en-US" sz="1200" kern="100" dirty="0">
                <a:solidFill>
                  <a:schemeClr val="tx1"/>
                </a:solidFill>
                <a:effectLst/>
                <a:latin typeface="+mn-ea"/>
                <a:cs typeface="Times New Roman" panose="02020603050405020304" pitchFamily="18" charset="0"/>
              </a:rPr>
              <a:t>大会在美国圣荷西召开，当时的</a:t>
            </a:r>
            <a:r>
              <a:rPr lang="en-US" altLang="zh-CN" sz="1200" kern="100" dirty="0">
                <a:solidFill>
                  <a:schemeClr val="tx1"/>
                </a:solidFill>
                <a:effectLst/>
                <a:latin typeface="+mn-ea"/>
                <a:cs typeface="Times New Roman" panose="02020603050405020304" pitchFamily="18" charset="0"/>
              </a:rPr>
              <a:t>Flickr </a:t>
            </a:r>
            <a:r>
              <a:rPr lang="zh-CN" altLang="en-US" sz="1200" kern="100" dirty="0">
                <a:solidFill>
                  <a:schemeClr val="tx1"/>
                </a:solidFill>
                <a:effectLst/>
                <a:latin typeface="+mn-ea"/>
                <a:cs typeface="Times New Roman" panose="02020603050405020304" pitchFamily="18" charset="0"/>
              </a:rPr>
              <a:t>技术运维资深副总裁</a:t>
            </a:r>
            <a:r>
              <a:rPr lang="en-US" altLang="zh-CN" sz="1200" kern="100" dirty="0">
                <a:solidFill>
                  <a:schemeClr val="tx1"/>
                </a:solidFill>
                <a:effectLst/>
                <a:latin typeface="+mn-ea"/>
                <a:cs typeface="Times New Roman" panose="02020603050405020304" pitchFamily="18" charset="0"/>
              </a:rPr>
              <a:t>John </a:t>
            </a:r>
            <a:r>
              <a:rPr lang="en-US" altLang="zh-CN" sz="1200" kern="100" dirty="0" err="1">
                <a:solidFill>
                  <a:schemeClr val="tx1"/>
                </a:solidFill>
                <a:effectLst/>
                <a:latin typeface="+mn-ea"/>
                <a:cs typeface="Times New Roman" panose="02020603050405020304" pitchFamily="18" charset="0"/>
              </a:rPr>
              <a:t>Allspaw</a:t>
            </a:r>
            <a:r>
              <a:rPr lang="zh-CN" altLang="en-US" sz="1200" kern="100" dirty="0">
                <a:solidFill>
                  <a:schemeClr val="tx1"/>
                </a:solidFill>
                <a:effectLst/>
                <a:latin typeface="+mn-ea"/>
                <a:cs typeface="Times New Roman" panose="02020603050405020304" pitchFamily="18" charset="0"/>
              </a:rPr>
              <a:t>和工程总监</a:t>
            </a:r>
            <a:r>
              <a:rPr lang="en-US" altLang="zh-CN" sz="1200" kern="100" dirty="0">
                <a:solidFill>
                  <a:schemeClr val="tx1"/>
                </a:solidFill>
                <a:effectLst/>
                <a:latin typeface="+mn-ea"/>
                <a:cs typeface="Times New Roman" panose="02020603050405020304" pitchFamily="18" charset="0"/>
              </a:rPr>
              <a:t>Paul Hammond</a:t>
            </a:r>
            <a:r>
              <a:rPr lang="zh-CN" altLang="en-US" sz="1200" kern="100" dirty="0">
                <a:solidFill>
                  <a:schemeClr val="tx1"/>
                </a:solidFill>
                <a:effectLst/>
                <a:latin typeface="+mn-ea"/>
                <a:cs typeface="Times New Roman" panose="02020603050405020304" pitchFamily="18" charset="0"/>
              </a:rPr>
              <a:t>一起在大会上做了一个题目为“</a:t>
            </a:r>
            <a:r>
              <a:rPr lang="en-US" altLang="zh-CN" sz="1200" kern="100" dirty="0">
                <a:solidFill>
                  <a:schemeClr val="tx1"/>
                </a:solidFill>
                <a:effectLst/>
                <a:latin typeface="+mn-ea"/>
                <a:cs typeface="Times New Roman" panose="02020603050405020304" pitchFamily="18" charset="0"/>
              </a:rPr>
              <a:t>10+ Deploys per Day: Dev and Ops Cooperation at Flickr ” </a:t>
            </a:r>
            <a:r>
              <a:rPr lang="zh-CN" altLang="en-US" sz="1200" kern="100" dirty="0">
                <a:solidFill>
                  <a:schemeClr val="tx1"/>
                </a:solidFill>
                <a:effectLst/>
                <a:latin typeface="+mn-ea"/>
                <a:cs typeface="Times New Roman" panose="02020603050405020304" pitchFamily="18" charset="0"/>
              </a:rPr>
              <a:t>的演讲，翻译一下就是，演讲后来轰动了业界，有力地证明了</a:t>
            </a:r>
            <a:r>
              <a:rPr lang="en-US" altLang="zh-CN" sz="1200" kern="100" dirty="0">
                <a:solidFill>
                  <a:schemeClr val="tx1"/>
                </a:solidFill>
                <a:effectLst/>
                <a:latin typeface="+mn-ea"/>
                <a:cs typeface="Times New Roman" panose="02020603050405020304" pitchFamily="18" charset="0"/>
              </a:rPr>
              <a:t>Dev </a:t>
            </a:r>
            <a:r>
              <a:rPr lang="zh-CN" altLang="en-US" sz="1200" kern="100" dirty="0">
                <a:solidFill>
                  <a:schemeClr val="tx1"/>
                </a:solidFill>
                <a:effectLst/>
                <a:latin typeface="+mn-ea"/>
                <a:cs typeface="Times New Roman" panose="02020603050405020304" pitchFamily="18" charset="0"/>
              </a:rPr>
              <a:t>和</a:t>
            </a:r>
            <a:r>
              <a:rPr lang="en-US" altLang="zh-CN" sz="1200" kern="100" dirty="0">
                <a:solidFill>
                  <a:schemeClr val="tx1"/>
                </a:solidFill>
                <a:effectLst/>
                <a:latin typeface="+mn-ea"/>
                <a:cs typeface="Times New Roman" panose="02020603050405020304" pitchFamily="18" charset="0"/>
              </a:rPr>
              <a:t>Ops </a:t>
            </a:r>
            <a:r>
              <a:rPr lang="zh-CN" altLang="en-US" sz="1200" kern="100" dirty="0">
                <a:solidFill>
                  <a:schemeClr val="tx1"/>
                </a:solidFill>
                <a:effectLst/>
                <a:latin typeface="+mn-ea"/>
                <a:cs typeface="Times New Roman" panose="02020603050405020304" pitchFamily="18" charset="0"/>
              </a:rPr>
              <a:t>可以有效工作在一起从而提高软件部署的可能性。</a:t>
            </a:r>
            <a:endParaRPr lang="en-US" altLang="zh-CN" sz="1200" kern="100" dirty="0">
              <a:solidFill>
                <a:schemeClr val="tx1"/>
              </a:solidFill>
              <a:effectLst/>
              <a:latin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00" dirty="0">
                <a:solidFill>
                  <a:schemeClr val="tx1"/>
                </a:solidFill>
                <a:effectLst/>
                <a:latin typeface="+mn-ea"/>
                <a:cs typeface="Times New Roman" panose="02020603050405020304" pitchFamily="18" charset="0"/>
              </a:rPr>
              <a:t>不知道同学们知不知道</a:t>
            </a:r>
            <a:r>
              <a:rPr lang="en-US" altLang="zh-CN" sz="1200" kern="100" dirty="0">
                <a:solidFill>
                  <a:schemeClr val="tx1"/>
                </a:solidFill>
                <a:effectLst/>
                <a:latin typeface="+mn-ea"/>
                <a:cs typeface="Times New Roman" panose="02020603050405020304" pitchFamily="18" charset="0"/>
              </a:rPr>
              <a:t>Flickr</a:t>
            </a:r>
            <a:r>
              <a:rPr lang="zh-CN" altLang="en-US" sz="1200" kern="100" dirty="0">
                <a:solidFill>
                  <a:schemeClr val="tx1"/>
                </a:solidFill>
                <a:effectLst/>
                <a:latin typeface="+mn-ea"/>
                <a:cs typeface="Times New Roman" panose="02020603050405020304" pitchFamily="18" charset="0"/>
              </a:rPr>
              <a:t>，他是一个网络相册平台，在二零零几年的时候也很火，他们的技术水平在当时也是行业领先的</a:t>
            </a:r>
            <a:endParaRPr lang="en-US" altLang="zh-CN" sz="1200" kern="100" dirty="0">
              <a:solidFill>
                <a:schemeClr val="tx1"/>
              </a:solidFill>
              <a:effectLst/>
              <a:latin typeface="+mn-ea"/>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8C538A16-44D0-4638-ACD6-43A88F095A25}" type="slidenum">
              <a:rPr lang="zh-CN" altLang="en-US" smtClean="0"/>
              <a:t>37</a:t>
            </a:fld>
            <a:endParaRPr lang="zh-CN" altLang="en-US"/>
          </a:p>
        </p:txBody>
      </p:sp>
    </p:spTree>
    <p:extLst>
      <p:ext uri="{BB962C8B-B14F-4D97-AF65-F5344CB8AC3E}">
        <p14:creationId xmlns:p14="http://schemas.microsoft.com/office/powerpoint/2010/main" val="238444757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solidFill>
                  <a:srgbClr val="494949"/>
                </a:solidFill>
                <a:latin typeface="HiddenHorzOCR"/>
              </a:rPr>
              <a:t>Pat</a:t>
            </a:r>
            <a:r>
              <a:rPr lang="en-US" altLang="zh-CN" sz="1800" b="0" i="0" u="none" strike="noStrike" baseline="0" dirty="0">
                <a:solidFill>
                  <a:srgbClr val="232323"/>
                </a:solidFill>
                <a:latin typeface="HiddenHorzOCR"/>
              </a:rPr>
              <a:t>ri</a:t>
            </a:r>
            <a:r>
              <a:rPr lang="en-US" altLang="zh-CN" sz="1800" b="0" i="0" u="none" strike="noStrike" baseline="0" dirty="0">
                <a:solidFill>
                  <a:srgbClr val="494949"/>
                </a:solidFill>
                <a:latin typeface="HiddenHorzOCR"/>
              </a:rPr>
              <a:t>ck </a:t>
            </a:r>
            <a:r>
              <a:rPr lang="zh-CN" altLang="en-US" sz="1800" b="0" i="0" u="none" strike="noStrike" baseline="0" dirty="0">
                <a:solidFill>
                  <a:srgbClr val="494949"/>
                </a:solidFill>
                <a:latin typeface="HiddenHorzOCR"/>
              </a:rPr>
              <a:t>在网上看到这个演讲后非常激动，受此大会的启发，他在比利时也发起了</a:t>
            </a:r>
            <a:r>
              <a:rPr lang="zh-CN" altLang="en-US" sz="1800" b="0" i="0" u="none" strike="noStrike" baseline="0" dirty="0">
                <a:solidFill>
                  <a:srgbClr val="5D5D5D"/>
                </a:solidFill>
                <a:latin typeface="HiddenHorzOCR"/>
              </a:rPr>
              <a:t>名为</a:t>
            </a:r>
            <a:r>
              <a:rPr lang="en-US" altLang="zh-CN" sz="1800" b="0" i="0" u="none" strike="noStrike" baseline="0" dirty="0" err="1">
                <a:solidFill>
                  <a:srgbClr val="5D5D5D"/>
                </a:solidFill>
                <a:latin typeface="HiddenHorzOCR"/>
              </a:rPr>
              <a:t>DevO</a:t>
            </a:r>
            <a:r>
              <a:rPr lang="en-US" altLang="zh-CN" sz="1800" b="0" i="0" u="none" strike="noStrike" baseline="0" dirty="0" err="1">
                <a:solidFill>
                  <a:srgbClr val="323232"/>
                </a:solidFill>
                <a:latin typeface="HiddenHorzOCR"/>
              </a:rPr>
              <a:t>psDa</a:t>
            </a:r>
            <a:r>
              <a:rPr lang="en-US" altLang="zh-CN" sz="1800" b="0" i="0" u="none" strike="noStrike" baseline="0" dirty="0" err="1">
                <a:solidFill>
                  <a:srgbClr val="5D5D5D"/>
                </a:solidFill>
                <a:latin typeface="HiddenHorzOCR"/>
              </a:rPr>
              <a:t>ys</a:t>
            </a:r>
            <a:r>
              <a:rPr lang="zh-CN" altLang="en-US" sz="1800" b="0" i="0" u="none" strike="noStrike" baseline="0" dirty="0">
                <a:solidFill>
                  <a:srgbClr val="5D5D5D"/>
                </a:solidFill>
                <a:latin typeface="HiddenHorzOCR"/>
              </a:rPr>
              <a:t>的会议</a:t>
            </a:r>
            <a:endParaRPr lang="en-US" altLang="zh-CN" sz="1200" kern="100" dirty="0">
              <a:solidFill>
                <a:schemeClr val="tx1"/>
              </a:solidFill>
              <a:effectLst/>
              <a:latin typeface="+mn-ea"/>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8C538A16-44D0-4638-ACD6-43A88F095A25}" type="slidenum">
              <a:rPr lang="zh-CN" altLang="en-US" smtClean="0"/>
              <a:t>38</a:t>
            </a:fld>
            <a:endParaRPr lang="zh-CN" altLang="en-US"/>
          </a:p>
        </p:txBody>
      </p:sp>
    </p:spTree>
    <p:extLst>
      <p:ext uri="{BB962C8B-B14F-4D97-AF65-F5344CB8AC3E}">
        <p14:creationId xmlns:p14="http://schemas.microsoft.com/office/powerpoint/2010/main" val="350633684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solidFill>
                  <a:srgbClr val="5D5D5D"/>
                </a:solidFill>
                <a:latin typeface="HiddenHorzOCR"/>
              </a:rPr>
              <a:t>最后大会出奇地成功，以至于大家在</a:t>
            </a:r>
            <a:r>
              <a:rPr lang="en-US" altLang="zh-CN" sz="1800" b="0" i="0" u="none" strike="noStrike" baseline="0" dirty="0">
                <a:solidFill>
                  <a:srgbClr val="5D5D5D"/>
                </a:solidFill>
                <a:latin typeface="HiddenHorzOCR"/>
              </a:rPr>
              <a:t>Tw</a:t>
            </a:r>
            <a:r>
              <a:rPr lang="en-US" altLang="zh-CN" sz="1800" b="0" i="0" u="none" strike="noStrike" baseline="0" dirty="0">
                <a:solidFill>
                  <a:srgbClr val="323232"/>
                </a:solidFill>
                <a:latin typeface="HiddenHorzOCR"/>
              </a:rPr>
              <a:t>itter</a:t>
            </a:r>
            <a:r>
              <a:rPr lang="zh-CN" altLang="en-US" sz="1800" b="0" i="0" u="none" strike="noStrike" baseline="0" dirty="0">
                <a:solidFill>
                  <a:srgbClr val="323232"/>
                </a:solidFill>
                <a:latin typeface="HiddenHorzOCR"/>
              </a:rPr>
              <a:t>上的</a:t>
            </a:r>
            <a:r>
              <a:rPr lang="zh-CN" altLang="en-US" sz="1800" b="0" i="0" u="none" strike="noStrike" baseline="0" dirty="0">
                <a:solidFill>
                  <a:srgbClr val="494949"/>
                </a:solidFill>
                <a:latin typeface="HiddenHorzOCR"/>
              </a:rPr>
              <a:t>讨论热情不减</a:t>
            </a:r>
            <a:r>
              <a:rPr lang="zh-CN" altLang="en-US" sz="1800" b="0" i="0" u="none" strike="noStrike" baseline="0" dirty="0">
                <a:solidFill>
                  <a:srgbClr val="7A7A7A"/>
                </a:solidFill>
                <a:latin typeface="HiddenHorzOCR"/>
              </a:rPr>
              <a:t>。</a:t>
            </a:r>
            <a:r>
              <a:rPr lang="zh-CN" altLang="en-US" sz="1800" b="0" i="0" u="none" strike="noStrike" baseline="0" dirty="0">
                <a:solidFill>
                  <a:srgbClr val="5D5D5D"/>
                </a:solidFill>
                <a:latin typeface="HiddenHorzOCR"/>
              </a:rPr>
              <a:t>受限于</a:t>
            </a:r>
            <a:r>
              <a:rPr lang="en-US" altLang="zh-CN" sz="1800" b="0" i="0" u="none" strike="noStrike" baseline="0" dirty="0">
                <a:solidFill>
                  <a:srgbClr val="5D5D5D"/>
                </a:solidFill>
                <a:latin typeface="HiddenHorzOCR"/>
              </a:rPr>
              <a:t>Tw</a:t>
            </a:r>
            <a:r>
              <a:rPr lang="en-US" altLang="zh-CN" sz="1800" b="0" i="0" u="none" strike="noStrike" baseline="0" dirty="0">
                <a:solidFill>
                  <a:srgbClr val="323232"/>
                </a:solidFill>
                <a:latin typeface="HiddenHorzOCR"/>
              </a:rPr>
              <a:t>itter</a:t>
            </a:r>
            <a:r>
              <a:rPr lang="zh-CN" altLang="en-US" sz="1800" b="0" i="0" u="none" strike="noStrike" baseline="0" dirty="0">
                <a:solidFill>
                  <a:srgbClr val="323232"/>
                </a:solidFill>
                <a:latin typeface="HiddenHorzOCR"/>
              </a:rPr>
              <a:t>上</a:t>
            </a:r>
            <a:r>
              <a:rPr lang="zh-CN" altLang="en-US" sz="1800" b="0" i="0" u="none" strike="noStrike" baseline="0" dirty="0">
                <a:solidFill>
                  <a:srgbClr val="5D5D5D"/>
                </a:solidFill>
                <a:latin typeface="HiddenHorzOCR"/>
              </a:rPr>
              <a:t>字符的长度，为了精简，大家就把</a:t>
            </a:r>
            <a:r>
              <a:rPr lang="en-US" altLang="zh-CN" sz="1800" b="0" i="0" u="none" strike="noStrike" baseline="0" dirty="0">
                <a:solidFill>
                  <a:srgbClr val="5D5D5D"/>
                </a:solidFill>
                <a:latin typeface="HiddenHorzOCR"/>
              </a:rPr>
              <a:t>Twi</a:t>
            </a:r>
            <a:r>
              <a:rPr lang="en-US" altLang="zh-CN" sz="1800" b="0" i="0" u="none" strike="noStrike" baseline="0" dirty="0">
                <a:solidFill>
                  <a:srgbClr val="323232"/>
                </a:solidFill>
                <a:latin typeface="HiddenHorzOCR"/>
              </a:rPr>
              <a:t>tter </a:t>
            </a:r>
            <a:r>
              <a:rPr lang="zh-CN" altLang="en-US" sz="1800" b="0" i="0" u="none" strike="noStrike" baseline="0" dirty="0">
                <a:solidFill>
                  <a:srgbClr val="323232"/>
                </a:solidFill>
                <a:latin typeface="HiddenHorzOCR"/>
              </a:rPr>
              <a:t>上的话</a:t>
            </a:r>
            <a:r>
              <a:rPr lang="zh-CN" altLang="en-US" sz="1800" b="0" i="0" u="none" strike="noStrike" baseline="0" dirty="0">
                <a:solidFill>
                  <a:srgbClr val="5D5D5D"/>
                </a:solidFill>
                <a:latin typeface="HiddenHorzOCR"/>
              </a:rPr>
              <a:t>题</a:t>
            </a:r>
            <a:r>
              <a:rPr lang="en-US" altLang="zh-CN" sz="1800" b="0" i="0" u="none" strike="noStrike" baseline="0" dirty="0">
                <a:solidFill>
                  <a:srgbClr val="323232"/>
                </a:solidFill>
                <a:latin typeface="HiddenHorzOCR"/>
              </a:rPr>
              <a:t>#DevOpsdays </a:t>
            </a:r>
            <a:r>
              <a:rPr lang="zh-CN" altLang="en-US" sz="1800" b="0" i="0" u="none" strike="noStrike" baseline="0" dirty="0">
                <a:solidFill>
                  <a:srgbClr val="323232"/>
                </a:solidFill>
                <a:latin typeface="HiddenHorzOCR"/>
              </a:rPr>
              <a:t>简</a:t>
            </a:r>
            <a:r>
              <a:rPr lang="zh-CN" altLang="en-US" sz="1800" b="0" i="0" u="none" strike="noStrike" baseline="0" dirty="0">
                <a:solidFill>
                  <a:srgbClr val="5D5D5D"/>
                </a:solidFill>
                <a:latin typeface="HiddenHorzOCR"/>
              </a:rPr>
              <a:t>写成＃</a:t>
            </a:r>
            <a:r>
              <a:rPr lang="en-US" altLang="zh-CN" sz="1800" b="0" i="0" u="none" strike="noStrike" baseline="0" dirty="0">
                <a:solidFill>
                  <a:srgbClr val="5D5D5D"/>
                </a:solidFill>
                <a:latin typeface="HiddenHorzOCR"/>
              </a:rPr>
              <a:t>DevOps </a:t>
            </a:r>
            <a:r>
              <a:rPr lang="zh-CN" altLang="en-US" sz="1800" b="0" i="0" u="none" strike="noStrike" baseline="0" dirty="0">
                <a:solidFill>
                  <a:srgbClr val="5D5D5D"/>
                </a:solidFill>
                <a:latin typeface="HiddenHorzOCR"/>
              </a:rPr>
              <a:t>了，于是</a:t>
            </a:r>
            <a:r>
              <a:rPr lang="en-US" altLang="zh-CN" sz="1800" b="0" i="0" u="none" strike="noStrike" baseline="0" dirty="0">
                <a:solidFill>
                  <a:srgbClr val="5D5D5D"/>
                </a:solidFill>
                <a:latin typeface="HiddenHorzOCR"/>
              </a:rPr>
              <a:t>DevO</a:t>
            </a:r>
            <a:r>
              <a:rPr lang="en-US" altLang="zh-CN" sz="1800" b="0" i="0" u="none" strike="noStrike" baseline="0" dirty="0">
                <a:solidFill>
                  <a:srgbClr val="323232"/>
                </a:solidFill>
                <a:latin typeface="HiddenHorzOCR"/>
              </a:rPr>
              <a:t>ps </a:t>
            </a:r>
            <a:r>
              <a:rPr lang="zh-CN" altLang="en-US" sz="1800" b="0" i="0" u="none" strike="noStrike" baseline="0" dirty="0">
                <a:solidFill>
                  <a:srgbClr val="323232"/>
                </a:solidFill>
                <a:latin typeface="HiddenHorzOCR"/>
              </a:rPr>
              <a:t>一词便</a:t>
            </a:r>
            <a:r>
              <a:rPr lang="zh-CN" altLang="en-US" sz="1800" b="0" i="0" u="none" strike="noStrike" baseline="0" dirty="0">
                <a:solidFill>
                  <a:srgbClr val="5D5D5D"/>
                </a:solidFill>
                <a:latin typeface="HiddenHorzOCR"/>
              </a:rPr>
              <a:t>在社区中慢慢确立了下来</a:t>
            </a:r>
            <a:r>
              <a:rPr lang="zh-CN" altLang="en-US" sz="1800" b="0" i="0" u="none" strike="noStrike" baseline="0" dirty="0">
                <a:solidFill>
                  <a:srgbClr val="7A7A7A"/>
                </a:solidFill>
                <a:latin typeface="HiddenHorzOCR"/>
              </a:rPr>
              <a:t>。</a:t>
            </a:r>
            <a:endParaRPr lang="en-US" altLang="zh-CN" sz="1200" kern="100" dirty="0">
              <a:solidFill>
                <a:schemeClr val="tx1"/>
              </a:solidFill>
              <a:effectLst/>
              <a:latin typeface="+mn-ea"/>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8C538A16-44D0-4638-ACD6-43A88F095A25}" type="slidenum">
              <a:rPr lang="zh-CN" altLang="en-US" smtClean="0"/>
              <a:t>39</a:t>
            </a:fld>
            <a:endParaRPr lang="zh-CN" altLang="en-US"/>
          </a:p>
        </p:txBody>
      </p:sp>
    </p:spTree>
    <p:extLst>
      <p:ext uri="{BB962C8B-B14F-4D97-AF65-F5344CB8AC3E}">
        <p14:creationId xmlns:p14="http://schemas.microsoft.com/office/powerpoint/2010/main" val="314096120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00" dirty="0">
                <a:solidFill>
                  <a:schemeClr val="tx1"/>
                </a:solidFill>
                <a:effectLst/>
                <a:latin typeface="+mn-ea"/>
                <a:cs typeface="Times New Roman" panose="02020603050405020304" pitchFamily="18" charset="0"/>
              </a:rPr>
              <a:t>随后，</a:t>
            </a:r>
            <a:r>
              <a:rPr lang="en-US" altLang="zh-CN" sz="1200" kern="100" dirty="0">
                <a:solidFill>
                  <a:schemeClr val="tx1"/>
                </a:solidFill>
                <a:effectLst/>
                <a:latin typeface="+mn-ea"/>
                <a:cs typeface="Times New Roman" panose="02020603050405020304" pitchFamily="18" charset="0"/>
              </a:rPr>
              <a:t>DevOps</a:t>
            </a:r>
            <a:r>
              <a:rPr lang="zh-CN" altLang="en-US" sz="1200" kern="100" dirty="0">
                <a:solidFill>
                  <a:schemeClr val="tx1"/>
                </a:solidFill>
                <a:effectLst/>
                <a:latin typeface="+mn-ea"/>
                <a:cs typeface="Times New Roman" panose="02020603050405020304" pitchFamily="18" charset="0"/>
              </a:rPr>
              <a:t>得到了越来越多的关注，频繁出现在各类技术活动上。</a:t>
            </a:r>
            <a:endParaRPr lang="en-US" altLang="zh-CN" sz="1200" kern="100" dirty="0">
              <a:solidFill>
                <a:schemeClr val="tx1"/>
              </a:solidFill>
              <a:effectLst/>
              <a:latin typeface="+mn-ea"/>
              <a:cs typeface="Times New Roman" panose="02020603050405020304" pitchFamily="18" charset="0"/>
            </a:endParaRPr>
          </a:p>
          <a:p>
            <a:pPr algn="l"/>
            <a:endParaRPr lang="en-US" altLang="zh-CN" sz="1200" kern="100" dirty="0">
              <a:solidFill>
                <a:schemeClr val="tx1"/>
              </a:solidFill>
              <a:effectLst/>
              <a:latin typeface="+mn-ea"/>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8C538A16-44D0-4638-ACD6-43A88F095A25}" type="slidenum">
              <a:rPr lang="zh-CN" altLang="en-US" smtClean="0"/>
              <a:t>40</a:t>
            </a:fld>
            <a:endParaRPr lang="zh-CN" altLang="en-US"/>
          </a:p>
        </p:txBody>
      </p:sp>
    </p:spTree>
    <p:extLst>
      <p:ext uri="{BB962C8B-B14F-4D97-AF65-F5344CB8AC3E}">
        <p14:creationId xmlns:p14="http://schemas.microsoft.com/office/powerpoint/2010/main" val="250692627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200" kern="100" dirty="0">
                <a:solidFill>
                  <a:schemeClr val="tx1"/>
                </a:solidFill>
                <a:effectLst/>
                <a:latin typeface="+mn-ea"/>
                <a:cs typeface="Times New Roman" panose="02020603050405020304" pitchFamily="18" charset="0"/>
              </a:rPr>
              <a:t>包括一些技术文章和播客</a:t>
            </a:r>
            <a:endParaRPr lang="en-US" altLang="zh-CN" sz="1200" kern="100" dirty="0">
              <a:solidFill>
                <a:schemeClr val="tx1"/>
              </a:solidFill>
              <a:effectLst/>
              <a:latin typeface="+mn-ea"/>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8C538A16-44D0-4638-ACD6-43A88F095A25}" type="slidenum">
              <a:rPr lang="zh-CN" altLang="en-US" smtClean="0"/>
              <a:t>41</a:t>
            </a:fld>
            <a:endParaRPr lang="zh-CN" altLang="en-US"/>
          </a:p>
        </p:txBody>
      </p:sp>
    </p:spTree>
    <p:extLst>
      <p:ext uri="{BB962C8B-B14F-4D97-AF65-F5344CB8AC3E}">
        <p14:creationId xmlns:p14="http://schemas.microsoft.com/office/powerpoint/2010/main" val="221590797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200" kern="100" dirty="0">
                <a:solidFill>
                  <a:schemeClr val="tx1"/>
                </a:solidFill>
                <a:effectLst/>
                <a:latin typeface="+mn-ea"/>
                <a:cs typeface="Times New Roman" panose="02020603050405020304" pitchFamily="18" charset="0"/>
              </a:rPr>
              <a:t>然后来到了</a:t>
            </a:r>
            <a:r>
              <a:rPr lang="en-US" altLang="zh-CN" sz="1200" kern="100" dirty="0">
                <a:solidFill>
                  <a:schemeClr val="tx1"/>
                </a:solidFill>
                <a:effectLst/>
                <a:latin typeface="+mn-ea"/>
                <a:cs typeface="Times New Roman" panose="02020603050405020304" pitchFamily="18" charset="0"/>
              </a:rPr>
              <a:t>DevOps</a:t>
            </a:r>
            <a:r>
              <a:rPr lang="zh-CN" altLang="en-US" sz="1200" kern="100" dirty="0">
                <a:solidFill>
                  <a:schemeClr val="tx1"/>
                </a:solidFill>
                <a:effectLst/>
                <a:latin typeface="+mn-ea"/>
                <a:cs typeface="Times New Roman" panose="02020603050405020304" pitchFamily="18" charset="0"/>
              </a:rPr>
              <a:t>的第三个阶段，</a:t>
            </a:r>
            <a:r>
              <a:rPr lang="en-US" altLang="zh-CN" sz="1200" kern="100" dirty="0">
                <a:solidFill>
                  <a:schemeClr val="tx1"/>
                </a:solidFill>
                <a:effectLst/>
                <a:latin typeface="+mn-ea"/>
                <a:cs typeface="Times New Roman" panose="02020603050405020304" pitchFamily="18" charset="0"/>
              </a:rPr>
              <a:t>2011</a:t>
            </a:r>
            <a:r>
              <a:rPr lang="zh-CN" altLang="en-US" sz="1200" kern="100" dirty="0">
                <a:solidFill>
                  <a:schemeClr val="tx1"/>
                </a:solidFill>
                <a:effectLst/>
                <a:latin typeface="+mn-ea"/>
                <a:cs typeface="Times New Roman" panose="02020603050405020304" pitchFamily="18" charset="0"/>
              </a:rPr>
              <a:t>年到</a:t>
            </a:r>
            <a:r>
              <a:rPr lang="en-US" altLang="zh-CN" sz="1200" kern="100" dirty="0">
                <a:solidFill>
                  <a:schemeClr val="tx1"/>
                </a:solidFill>
                <a:effectLst/>
                <a:latin typeface="+mn-ea"/>
                <a:cs typeface="Times New Roman" panose="02020603050405020304" pitchFamily="18" charset="0"/>
              </a:rPr>
              <a:t>2012</a:t>
            </a:r>
            <a:r>
              <a:rPr lang="zh-CN" altLang="en-US" sz="1200" kern="100" dirty="0">
                <a:solidFill>
                  <a:schemeClr val="tx1"/>
                </a:solidFill>
                <a:effectLst/>
                <a:latin typeface="+mn-ea"/>
                <a:cs typeface="Times New Roman" panose="02020603050405020304" pitchFamily="18" charset="0"/>
              </a:rPr>
              <a:t>年的产业关注阶段，</a:t>
            </a:r>
            <a:endParaRPr lang="en-US" altLang="zh-CN" sz="1200" kern="100" dirty="0">
              <a:solidFill>
                <a:schemeClr val="tx1"/>
              </a:solidFill>
              <a:effectLst/>
              <a:latin typeface="+mn-ea"/>
              <a:cs typeface="Times New Roman" panose="02020603050405020304" pitchFamily="18" charset="0"/>
            </a:endParaRPr>
          </a:p>
          <a:p>
            <a:pPr algn="l"/>
            <a:endParaRPr lang="en-US" altLang="zh-CN" sz="1200" kern="100" dirty="0">
              <a:solidFill>
                <a:schemeClr val="tx1"/>
              </a:solidFill>
              <a:effectLst/>
              <a:latin typeface="+mn-ea"/>
              <a:cs typeface="Times New Roman" panose="02020603050405020304" pitchFamily="18" charset="0"/>
            </a:endParaRPr>
          </a:p>
          <a:p>
            <a:pPr algn="l"/>
            <a:r>
              <a:rPr lang="zh-CN" altLang="en-US" sz="1200" kern="100" dirty="0">
                <a:solidFill>
                  <a:schemeClr val="tx1"/>
                </a:solidFill>
                <a:effectLst/>
                <a:latin typeface="+mn-ea"/>
                <a:cs typeface="Times New Roman" panose="02020603050405020304" pitchFamily="18" charset="0"/>
              </a:rPr>
              <a:t>不知道大家有没有听说过</a:t>
            </a:r>
            <a:r>
              <a:rPr lang="en-US" altLang="zh-CN" sz="1200" kern="100" dirty="0">
                <a:solidFill>
                  <a:schemeClr val="tx1"/>
                </a:solidFill>
                <a:effectLst/>
                <a:latin typeface="+mn-ea"/>
                <a:cs typeface="Times New Roman" panose="02020603050405020304" pitchFamily="18" charset="0"/>
              </a:rPr>
              <a:t>Gartner</a:t>
            </a:r>
            <a:r>
              <a:rPr lang="zh-CN" altLang="en-US" sz="1200" kern="100" dirty="0">
                <a:solidFill>
                  <a:schemeClr val="tx1"/>
                </a:solidFill>
                <a:effectLst/>
                <a:latin typeface="+mn-ea"/>
                <a:cs typeface="Times New Roman" panose="02020603050405020304" pitchFamily="18" charset="0"/>
              </a:rPr>
              <a:t>，他们对行业的报告还是挺有参考价值的，他们每年都会预测下一年的技术发展趋势，可以去看一看</a:t>
            </a:r>
            <a:endParaRPr lang="en-US" altLang="zh-CN" sz="1200" kern="100" dirty="0">
              <a:solidFill>
                <a:schemeClr val="tx1"/>
              </a:solidFill>
              <a:effectLst/>
              <a:latin typeface="+mn-ea"/>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8C538A16-44D0-4638-ACD6-43A88F095A25}" type="slidenum">
              <a:rPr lang="zh-CN" altLang="en-US" smtClean="0"/>
              <a:t>42</a:t>
            </a:fld>
            <a:endParaRPr lang="zh-CN" altLang="en-US"/>
          </a:p>
        </p:txBody>
      </p:sp>
    </p:spTree>
    <p:extLst>
      <p:ext uri="{BB962C8B-B14F-4D97-AF65-F5344CB8AC3E}">
        <p14:creationId xmlns:p14="http://schemas.microsoft.com/office/powerpoint/2010/main" val="212490140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solidFill>
                  <a:srgbClr val="353535"/>
                </a:solidFill>
                <a:latin typeface="MicrosoftYaHei"/>
              </a:rPr>
              <a:t>最后就来到了，</a:t>
            </a:r>
            <a:r>
              <a:rPr lang="en-US" altLang="zh-CN" sz="1800" b="0" i="0" u="none" strike="noStrike" baseline="0" dirty="0" err="1">
                <a:solidFill>
                  <a:srgbClr val="353535"/>
                </a:solidFill>
                <a:latin typeface="MicrosoftYaHei"/>
              </a:rPr>
              <a:t>Devops</a:t>
            </a:r>
            <a:r>
              <a:rPr lang="zh-CN" altLang="en-US" sz="1800" b="0" i="0" u="none" strike="noStrike" baseline="0" dirty="0">
                <a:solidFill>
                  <a:srgbClr val="353535"/>
                </a:solidFill>
                <a:latin typeface="MicrosoftYaHei"/>
              </a:rPr>
              <a:t>的蓬勃发展阶段</a:t>
            </a:r>
            <a:endParaRPr lang="en-US" altLang="zh-CN" sz="1800" b="0" i="0" u="none" strike="noStrike" baseline="0" dirty="0">
              <a:solidFill>
                <a:srgbClr val="353535"/>
              </a:solidFill>
              <a:latin typeface="MicrosoftYaHei"/>
            </a:endParaRPr>
          </a:p>
          <a:p>
            <a:pPr algn="l"/>
            <a:r>
              <a:rPr lang="zh-CN" altLang="en-US" sz="1800" b="0" i="0" u="none" strike="noStrike" baseline="0" dirty="0">
                <a:solidFill>
                  <a:srgbClr val="353535"/>
                </a:solidFill>
                <a:latin typeface="MicrosoftYaHei"/>
              </a:rPr>
              <a:t>随着 </a:t>
            </a:r>
            <a:r>
              <a:rPr lang="en-US" altLang="zh-CN" sz="1800" b="0" i="0" u="none" strike="noStrike" baseline="0" dirty="0">
                <a:solidFill>
                  <a:srgbClr val="353535"/>
                </a:solidFill>
                <a:latin typeface="MicrosoftYaHei"/>
              </a:rPr>
              <a:t>DevOps </a:t>
            </a:r>
            <a:r>
              <a:rPr lang="zh-CN" altLang="en-US" sz="1800" b="0" i="0" u="none" strike="noStrike" baseline="0" dirty="0">
                <a:solidFill>
                  <a:srgbClr val="353535"/>
                </a:solidFill>
                <a:latin typeface="MicrosoftYaHei"/>
              </a:rPr>
              <a:t>理念的深入人心，各种以</a:t>
            </a:r>
            <a:r>
              <a:rPr lang="en-US" altLang="zh-CN" sz="1800" b="0" i="0" u="none" strike="noStrike" baseline="0" dirty="0">
                <a:solidFill>
                  <a:srgbClr val="353535"/>
                </a:solidFill>
                <a:latin typeface="MicrosoftYaHei"/>
              </a:rPr>
              <a:t>DevOps </a:t>
            </a:r>
            <a:r>
              <a:rPr lang="zh-CN" altLang="en-US" sz="1800" b="0" i="0" u="none" strike="noStrike" baseline="0" dirty="0">
                <a:solidFill>
                  <a:srgbClr val="353535"/>
                </a:solidFill>
                <a:latin typeface="MicrosoftYaHei"/>
              </a:rPr>
              <a:t>工具如雨后春笋般出现在我们身边，甚至有很多老牌工具，为了顺应 </a:t>
            </a:r>
            <a:r>
              <a:rPr lang="en-US" altLang="zh-CN" sz="1800" b="0" i="0" u="none" strike="noStrike" baseline="0" dirty="0">
                <a:solidFill>
                  <a:srgbClr val="353535"/>
                </a:solidFill>
                <a:latin typeface="MicrosoftYaHei"/>
              </a:rPr>
              <a:t>DevOps </a:t>
            </a:r>
            <a:r>
              <a:rPr lang="zh-CN" altLang="en-US" sz="1800" b="0" i="0" u="none" strike="noStrike" baseline="0" dirty="0">
                <a:solidFill>
                  <a:srgbClr val="353535"/>
                </a:solidFill>
                <a:latin typeface="MicrosoftYaHei"/>
              </a:rPr>
              <a:t>时代的发展，主动将产品名称改为</a:t>
            </a:r>
            <a:r>
              <a:rPr lang="en-US" altLang="zh-CN" sz="1800" b="0" i="0" u="none" strike="noStrike" baseline="0" dirty="0">
                <a:solidFill>
                  <a:srgbClr val="353535"/>
                </a:solidFill>
                <a:latin typeface="MicrosoftYaHei"/>
              </a:rPr>
              <a:t>DevOps</a:t>
            </a:r>
            <a:r>
              <a:rPr lang="zh-CN" altLang="en-US" sz="1800" b="0" i="0" u="none" strike="noStrike" baseline="0" dirty="0">
                <a:solidFill>
                  <a:srgbClr val="353535"/>
                </a:solidFill>
                <a:latin typeface="MicrosoftYaHei"/>
              </a:rPr>
              <a:t>。最具代表性的，就是去年 </a:t>
            </a:r>
            <a:r>
              <a:rPr lang="en-US" altLang="zh-CN" sz="1800" b="0" i="0" u="none" strike="noStrike" baseline="0" dirty="0">
                <a:solidFill>
                  <a:srgbClr val="353535"/>
                </a:solidFill>
                <a:latin typeface="MicrosoftYaHei"/>
              </a:rPr>
              <a:t>9 </a:t>
            </a:r>
            <a:r>
              <a:rPr lang="zh-CN" altLang="en-US" sz="1800" b="0" i="0" u="none" strike="noStrike" baseline="0" dirty="0">
                <a:solidFill>
                  <a:srgbClr val="353535"/>
                </a:solidFill>
                <a:latin typeface="MicrosoftYaHei"/>
              </a:rPr>
              <a:t>月份微软研发协作平台 </a:t>
            </a:r>
            <a:r>
              <a:rPr lang="en-US" altLang="zh-CN" sz="1800" b="0" i="0" u="none" strike="noStrike" baseline="0" dirty="0">
                <a:solidFill>
                  <a:srgbClr val="353535"/>
                </a:solidFill>
                <a:latin typeface="MicrosoftYaHei"/>
              </a:rPr>
              <a:t>VSTS</a:t>
            </a:r>
            <a:r>
              <a:rPr lang="zh-CN" altLang="en-US" sz="1800" b="0" i="0" u="none" strike="noStrike" baseline="0" dirty="0">
                <a:solidFill>
                  <a:srgbClr val="353535"/>
                </a:solidFill>
                <a:latin typeface="MicrosoftYaHei"/>
              </a:rPr>
              <a:t>（</a:t>
            </a:r>
            <a:r>
              <a:rPr lang="en-US" altLang="zh-CN" sz="1800" b="0" i="0" u="none" strike="noStrike" baseline="0" dirty="0">
                <a:solidFill>
                  <a:srgbClr val="353535"/>
                </a:solidFill>
                <a:latin typeface="MicrosoftYaHei"/>
              </a:rPr>
              <a:t>Visual Studio Team Services</a:t>
            </a:r>
            <a:r>
              <a:rPr lang="zh-CN" altLang="en-US" sz="1800" b="0" i="0" u="none" strike="noStrike" baseline="0" dirty="0">
                <a:solidFill>
                  <a:srgbClr val="353535"/>
                </a:solidFill>
                <a:latin typeface="MicrosoftYaHei"/>
              </a:rPr>
              <a:t>）正式更名为 </a:t>
            </a:r>
            <a:r>
              <a:rPr lang="en-US" altLang="zh-CN" sz="1800" b="0" i="0" u="none" strike="noStrike" baseline="0" dirty="0">
                <a:solidFill>
                  <a:srgbClr val="353535"/>
                </a:solidFill>
                <a:latin typeface="MicrosoftYaHei"/>
              </a:rPr>
              <a:t>Azure DevOps</a:t>
            </a:r>
            <a:r>
              <a:rPr lang="zh-CN" altLang="en-US" sz="1800" b="0" i="0" u="none" strike="noStrike" baseline="0" dirty="0">
                <a:solidFill>
                  <a:srgbClr val="353535"/>
                </a:solidFill>
                <a:latin typeface="MicrosoftYaHei"/>
              </a:rPr>
              <a:t>，这也进一步地印证，</a:t>
            </a:r>
            <a:r>
              <a:rPr lang="en-US" altLang="zh-CN" sz="1800" b="0" i="0" u="none" strike="noStrike" baseline="0" dirty="0">
                <a:solidFill>
                  <a:srgbClr val="353535"/>
                </a:solidFill>
                <a:latin typeface="MicrosoftYaHei"/>
              </a:rPr>
              <a:t>DevOps </a:t>
            </a:r>
            <a:r>
              <a:rPr lang="zh-CN" altLang="en-US" sz="1800" b="0" i="0" u="none" strike="noStrike" baseline="0" dirty="0">
                <a:solidFill>
                  <a:srgbClr val="353535"/>
                </a:solidFill>
                <a:latin typeface="MicrosoftYaHei"/>
              </a:rPr>
              <a:t>已经成为了各类工具平台建设的核心理念。</a:t>
            </a:r>
            <a:endParaRPr lang="en-US" altLang="zh-CN" sz="1200" kern="100" dirty="0">
              <a:solidFill>
                <a:schemeClr val="tx1"/>
              </a:solidFill>
              <a:effectLst/>
              <a:latin typeface="+mn-ea"/>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8C538A16-44D0-4638-ACD6-43A88F095A25}" type="slidenum">
              <a:rPr lang="zh-CN" altLang="en-US" smtClean="0"/>
              <a:t>43</a:t>
            </a:fld>
            <a:endParaRPr lang="zh-CN" altLang="en-US"/>
          </a:p>
        </p:txBody>
      </p:sp>
    </p:spTree>
    <p:extLst>
      <p:ext uri="{BB962C8B-B14F-4D97-AF65-F5344CB8AC3E}">
        <p14:creationId xmlns:p14="http://schemas.microsoft.com/office/powerpoint/2010/main" val="415048189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en-US" altLang="zh-CN" sz="1200" kern="100" dirty="0">
              <a:solidFill>
                <a:schemeClr val="tx1"/>
              </a:solidFill>
              <a:effectLst/>
              <a:latin typeface="+mn-ea"/>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8C538A16-44D0-4638-ACD6-43A88F095A25}" type="slidenum">
              <a:rPr lang="zh-CN" altLang="en-US" smtClean="0"/>
              <a:t>44</a:t>
            </a:fld>
            <a:endParaRPr lang="zh-CN" altLang="en-US"/>
          </a:p>
        </p:txBody>
      </p:sp>
    </p:spTree>
    <p:extLst>
      <p:ext uri="{BB962C8B-B14F-4D97-AF65-F5344CB8AC3E}">
        <p14:creationId xmlns:p14="http://schemas.microsoft.com/office/powerpoint/2010/main" val="394836665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45</a:t>
            </a:fld>
            <a:endParaRPr lang="zh-CN" altLang="en-US"/>
          </a:p>
        </p:txBody>
      </p:sp>
    </p:spTree>
    <p:extLst>
      <p:ext uri="{BB962C8B-B14F-4D97-AF65-F5344CB8AC3E}">
        <p14:creationId xmlns:p14="http://schemas.microsoft.com/office/powerpoint/2010/main" val="422366391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各种各样的工具涌现出来</a:t>
            </a:r>
            <a:endParaRPr lang="en-US" altLang="zh-CN" dirty="0"/>
          </a:p>
          <a:p>
            <a:r>
              <a:rPr lang="en-US" altLang="zh-CN" dirty="0"/>
              <a:t>DevOps</a:t>
            </a:r>
            <a:r>
              <a:rPr lang="zh-CN" altLang="en-US" dirty="0"/>
              <a:t>的每一个环节都有很多不同的工具可以选择</a:t>
            </a:r>
            <a:endParaRPr lang="en-US" altLang="zh-CN" dirty="0"/>
          </a:p>
          <a:p>
            <a:r>
              <a:rPr lang="zh-CN" altLang="en-US" dirty="0"/>
              <a:t>实际上这上面列举的每一个工具，想要完全用明白都要花费很多功夫，不仅要保证每个工具能够正常运行，还要保证各个工具之间能够正常协作</a:t>
            </a:r>
            <a:endParaRPr lang="en-US" altLang="zh-CN" dirty="0"/>
          </a:p>
          <a:p>
            <a:r>
              <a:rPr lang="zh-CN" altLang="en-US" dirty="0"/>
              <a:t>为了减少负担，就出现另一类一站式</a:t>
            </a:r>
            <a:r>
              <a:rPr lang="en-US" altLang="zh-CN" dirty="0"/>
              <a:t>DevOps</a:t>
            </a:r>
            <a:r>
              <a:rPr lang="zh-CN" altLang="en-US" dirty="0"/>
              <a:t>平台</a:t>
            </a:r>
          </a:p>
        </p:txBody>
      </p:sp>
      <p:sp>
        <p:nvSpPr>
          <p:cNvPr id="4" name="灯片编号占位符 3"/>
          <p:cNvSpPr>
            <a:spLocks noGrp="1"/>
          </p:cNvSpPr>
          <p:nvPr>
            <p:ph type="sldNum" sz="quarter" idx="5"/>
          </p:nvPr>
        </p:nvSpPr>
        <p:spPr/>
        <p:txBody>
          <a:bodyPr/>
          <a:lstStyle/>
          <a:p>
            <a:fld id="{8C538A16-44D0-4638-ACD6-43A88F095A25}" type="slidenum">
              <a:rPr lang="zh-CN" altLang="en-US" smtClean="0"/>
              <a:t>46</a:t>
            </a:fld>
            <a:endParaRPr lang="zh-CN" altLang="en-US"/>
          </a:p>
        </p:txBody>
      </p:sp>
    </p:spTree>
    <p:extLst>
      <p:ext uri="{BB962C8B-B14F-4D97-AF65-F5344CB8AC3E}">
        <p14:creationId xmlns:p14="http://schemas.microsoft.com/office/powerpoint/2010/main" val="71155750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47</a:t>
            </a:fld>
            <a:endParaRPr lang="zh-CN" altLang="en-US"/>
          </a:p>
        </p:txBody>
      </p:sp>
    </p:spTree>
    <p:extLst>
      <p:ext uri="{BB962C8B-B14F-4D97-AF65-F5344CB8AC3E}">
        <p14:creationId xmlns:p14="http://schemas.microsoft.com/office/powerpoint/2010/main" val="119734094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48</a:t>
            </a:fld>
            <a:endParaRPr lang="zh-CN" altLang="en-US"/>
          </a:p>
        </p:txBody>
      </p:sp>
    </p:spTree>
    <p:extLst>
      <p:ext uri="{BB962C8B-B14F-4D97-AF65-F5344CB8AC3E}">
        <p14:creationId xmlns:p14="http://schemas.microsoft.com/office/powerpoint/2010/main" val="206167495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各种各样的工具涌现出来</a:t>
            </a:r>
          </a:p>
        </p:txBody>
      </p:sp>
      <p:sp>
        <p:nvSpPr>
          <p:cNvPr id="4" name="灯片编号占位符 3"/>
          <p:cNvSpPr>
            <a:spLocks noGrp="1"/>
          </p:cNvSpPr>
          <p:nvPr>
            <p:ph type="sldNum" sz="quarter" idx="5"/>
          </p:nvPr>
        </p:nvSpPr>
        <p:spPr/>
        <p:txBody>
          <a:bodyPr/>
          <a:lstStyle/>
          <a:p>
            <a:fld id="{8C538A16-44D0-4638-ACD6-43A88F095A25}" type="slidenum">
              <a:rPr lang="zh-CN" altLang="en-US" smtClean="0"/>
              <a:t>49</a:t>
            </a:fld>
            <a:endParaRPr lang="zh-CN" altLang="en-US"/>
          </a:p>
        </p:txBody>
      </p:sp>
    </p:spTree>
    <p:extLst>
      <p:ext uri="{BB962C8B-B14F-4D97-AF65-F5344CB8AC3E}">
        <p14:creationId xmlns:p14="http://schemas.microsoft.com/office/powerpoint/2010/main" val="355452239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各种各样的工具涌现出来</a:t>
            </a:r>
          </a:p>
        </p:txBody>
      </p:sp>
      <p:sp>
        <p:nvSpPr>
          <p:cNvPr id="4" name="灯片编号占位符 3"/>
          <p:cNvSpPr>
            <a:spLocks noGrp="1"/>
          </p:cNvSpPr>
          <p:nvPr>
            <p:ph type="sldNum" sz="quarter" idx="5"/>
          </p:nvPr>
        </p:nvSpPr>
        <p:spPr/>
        <p:txBody>
          <a:bodyPr/>
          <a:lstStyle/>
          <a:p>
            <a:fld id="{8C538A16-44D0-4638-ACD6-43A88F095A25}" type="slidenum">
              <a:rPr lang="zh-CN" altLang="en-US" smtClean="0"/>
              <a:t>50</a:t>
            </a:fld>
            <a:endParaRPr lang="zh-CN" altLang="en-US"/>
          </a:p>
        </p:txBody>
      </p:sp>
    </p:spTree>
    <p:extLst>
      <p:ext uri="{BB962C8B-B14F-4D97-AF65-F5344CB8AC3E}">
        <p14:creationId xmlns:p14="http://schemas.microsoft.com/office/powerpoint/2010/main" val="149136712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各种各样的工具涌现出来</a:t>
            </a:r>
          </a:p>
        </p:txBody>
      </p:sp>
      <p:sp>
        <p:nvSpPr>
          <p:cNvPr id="4" name="灯片编号占位符 3"/>
          <p:cNvSpPr>
            <a:spLocks noGrp="1"/>
          </p:cNvSpPr>
          <p:nvPr>
            <p:ph type="sldNum" sz="quarter" idx="5"/>
          </p:nvPr>
        </p:nvSpPr>
        <p:spPr/>
        <p:txBody>
          <a:bodyPr/>
          <a:lstStyle/>
          <a:p>
            <a:fld id="{8C538A16-44D0-4638-ACD6-43A88F095A25}" type="slidenum">
              <a:rPr lang="zh-CN" altLang="en-US" smtClean="0"/>
              <a:t>51</a:t>
            </a:fld>
            <a:endParaRPr lang="zh-CN" altLang="en-US"/>
          </a:p>
        </p:txBody>
      </p:sp>
    </p:spTree>
    <p:extLst>
      <p:ext uri="{BB962C8B-B14F-4D97-AF65-F5344CB8AC3E}">
        <p14:creationId xmlns:p14="http://schemas.microsoft.com/office/powerpoint/2010/main" val="320894311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各种各样的工具涌现出来</a:t>
            </a:r>
          </a:p>
        </p:txBody>
      </p:sp>
      <p:sp>
        <p:nvSpPr>
          <p:cNvPr id="4" name="灯片编号占位符 3"/>
          <p:cNvSpPr>
            <a:spLocks noGrp="1"/>
          </p:cNvSpPr>
          <p:nvPr>
            <p:ph type="sldNum" sz="quarter" idx="5"/>
          </p:nvPr>
        </p:nvSpPr>
        <p:spPr/>
        <p:txBody>
          <a:bodyPr/>
          <a:lstStyle/>
          <a:p>
            <a:fld id="{8C538A16-44D0-4638-ACD6-43A88F095A25}" type="slidenum">
              <a:rPr lang="zh-CN" altLang="en-US" smtClean="0"/>
              <a:t>52</a:t>
            </a:fld>
            <a:endParaRPr lang="zh-CN" altLang="en-US"/>
          </a:p>
        </p:txBody>
      </p:sp>
    </p:spTree>
    <p:extLst>
      <p:ext uri="{BB962C8B-B14F-4D97-AF65-F5344CB8AC3E}">
        <p14:creationId xmlns:p14="http://schemas.microsoft.com/office/powerpoint/2010/main" val="123453729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安全能力也是必不可少的</a:t>
            </a:r>
            <a:endParaRPr lang="en-US" altLang="zh-CN" dirty="0"/>
          </a:p>
          <a:p>
            <a:r>
              <a:rPr lang="en-US" altLang="zh-CN" dirty="0"/>
              <a:t>DevOps</a:t>
            </a:r>
            <a:r>
              <a:rPr lang="zh-CN" altLang="en-US" dirty="0"/>
              <a:t>平台可以访问很多核心数据，如代码和日志，这些数据一旦泄露，会对企业带来极大的损失</a:t>
            </a:r>
            <a:endParaRPr lang="en-US" altLang="zh-CN" dirty="0"/>
          </a:p>
          <a:p>
            <a:r>
              <a:rPr lang="zh-CN" altLang="en-US" dirty="0"/>
              <a:t>这里需要提醒一下大家，往开源平台上提交代码的时候要小心泄露密钥信息，我之前就有亲身经历，我研一的时候写了个邮件服务，然后提交到</a:t>
            </a:r>
            <a:r>
              <a:rPr lang="en-US" altLang="zh-CN" dirty="0"/>
              <a:t>GitHub</a:t>
            </a:r>
            <a:r>
              <a:rPr lang="zh-CN" altLang="en-US" dirty="0"/>
              <a:t>上了，第二天</a:t>
            </a:r>
            <a:r>
              <a:rPr lang="en-US" altLang="zh-CN" dirty="0"/>
              <a:t>ZJU</a:t>
            </a:r>
            <a:r>
              <a:rPr lang="zh-CN" altLang="en-US" dirty="0"/>
              <a:t>邮箱就被盗号了</a:t>
            </a:r>
          </a:p>
        </p:txBody>
      </p:sp>
      <p:sp>
        <p:nvSpPr>
          <p:cNvPr id="4" name="灯片编号占位符 3"/>
          <p:cNvSpPr>
            <a:spLocks noGrp="1"/>
          </p:cNvSpPr>
          <p:nvPr>
            <p:ph type="sldNum" sz="quarter" idx="5"/>
          </p:nvPr>
        </p:nvSpPr>
        <p:spPr/>
        <p:txBody>
          <a:bodyPr/>
          <a:lstStyle/>
          <a:p>
            <a:fld id="{8C538A16-44D0-4638-ACD6-43A88F095A25}" type="slidenum">
              <a:rPr lang="zh-CN" altLang="en-US" smtClean="0"/>
              <a:t>53</a:t>
            </a:fld>
            <a:endParaRPr lang="zh-CN" altLang="en-US"/>
          </a:p>
        </p:txBody>
      </p:sp>
    </p:spTree>
    <p:extLst>
      <p:ext uri="{BB962C8B-B14F-4D97-AF65-F5344CB8AC3E}">
        <p14:creationId xmlns:p14="http://schemas.microsoft.com/office/powerpoint/2010/main" val="413052105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C538A16-44D0-4638-ACD6-43A88F095A25}" type="slidenum">
              <a:rPr lang="zh-CN" altLang="en-US" smtClean="0"/>
              <a:t>55</a:t>
            </a:fld>
            <a:endParaRPr lang="zh-CN" altLang="en-US"/>
          </a:p>
        </p:txBody>
      </p:sp>
    </p:spTree>
    <p:extLst>
      <p:ext uri="{BB962C8B-B14F-4D97-AF65-F5344CB8AC3E}">
        <p14:creationId xmlns:p14="http://schemas.microsoft.com/office/powerpoint/2010/main" val="379498173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C538A16-44D0-4638-ACD6-43A88F095A25}" type="slidenum">
              <a:rPr lang="zh-CN" altLang="en-US" smtClean="0"/>
              <a:t>56</a:t>
            </a:fld>
            <a:endParaRPr lang="zh-CN" altLang="en-US"/>
          </a:p>
        </p:txBody>
      </p:sp>
    </p:spTree>
    <p:extLst>
      <p:ext uri="{BB962C8B-B14F-4D97-AF65-F5344CB8AC3E}">
        <p14:creationId xmlns:p14="http://schemas.microsoft.com/office/powerpoint/2010/main" val="366186186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C538A16-44D0-4638-ACD6-43A88F095A25}" type="slidenum">
              <a:rPr lang="zh-CN" altLang="en-US" smtClean="0"/>
              <a:t>57</a:t>
            </a:fld>
            <a:endParaRPr lang="zh-CN" altLang="en-US"/>
          </a:p>
        </p:txBody>
      </p:sp>
    </p:spTree>
    <p:extLst>
      <p:ext uri="{BB962C8B-B14F-4D97-AF65-F5344CB8AC3E}">
        <p14:creationId xmlns:p14="http://schemas.microsoft.com/office/powerpoint/2010/main" val="261573074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C538A16-44D0-4638-ACD6-43A88F095A25}" type="slidenum">
              <a:rPr lang="zh-CN" altLang="en-US" smtClean="0"/>
              <a:t>58</a:t>
            </a:fld>
            <a:endParaRPr lang="zh-CN" altLang="en-US"/>
          </a:p>
        </p:txBody>
      </p:sp>
    </p:spTree>
    <p:extLst>
      <p:ext uri="{BB962C8B-B14F-4D97-AF65-F5344CB8AC3E}">
        <p14:creationId xmlns:p14="http://schemas.microsoft.com/office/powerpoint/2010/main" val="75650580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457200">
              <a:spcAft>
                <a:spcPts val="600"/>
              </a:spcAft>
            </a:pPr>
            <a:r>
              <a:rPr lang="zh-CN" altLang="en-US" dirty="0"/>
              <a:t>第一个阶段的关键词是：</a:t>
            </a:r>
            <a:r>
              <a:rPr lang="zh-CN" altLang="en-US" b="1" dirty="0"/>
              <a:t>快速集成</a:t>
            </a:r>
            <a:r>
              <a:rPr lang="zh-CN" altLang="en-US" dirty="0"/>
              <a:t>。这是对 CI 核心理念的最好诠释，也就是集成速度做到极致，每次变更都会触发 CI。</a:t>
            </a:r>
          </a:p>
          <a:p>
            <a:pPr indent="457200">
              <a:spcAft>
                <a:spcPts val="600"/>
              </a:spcAft>
            </a:pPr>
            <a:r>
              <a:rPr lang="zh-CN" altLang="en-US" dirty="0"/>
              <a:t>这里的变更有可能是代码变更，也有可能是配置、环境、数据变更。之所以要将一切都纳入版本控制，是因为这样，所有的元数据变更都会被版本管理系统捕获，并通过事件或者 Webhook 的方式通知持续集成平台。</a:t>
            </a:r>
          </a:p>
          <a:p>
            <a:pPr indent="457200">
              <a:spcAft>
                <a:spcPts val="600"/>
              </a:spcAft>
            </a:pPr>
            <a:r>
              <a:rPr lang="zh-CN" altLang="en-US" dirty="0"/>
              <a:t>对于现代的持续集成平台，比如常用的 Jenkins，默认支持多种触发方式，比如定时触发、轮询触发或者 Webhook 触发。那么，如果想做到每次提交都触发持续集成的话，首先就需要打通版本控制系统和持续集成系统，比如 GitLab 和 Jenkins 的集成，网上已经有很多现成的材料。但是，只要打通两个系统就足够了吗？显然没有这么简单。实施提交触发流水线，还需要一些前置条件：</a:t>
            </a:r>
            <a:endParaRPr lang="en-US" altLang="zh-CN" dirty="0"/>
          </a:p>
          <a:p>
            <a:pPr marL="742950" lvl="1" indent="-285750">
              <a:spcAft>
                <a:spcPts val="600"/>
              </a:spcAft>
              <a:buFont typeface="Arial" panose="020B0604020202020204" pitchFamily="34" charset="0"/>
              <a:buChar char="•"/>
            </a:pPr>
            <a:r>
              <a:rPr lang="zh-CN" altLang="en-US" b="0" i="0" dirty="0">
                <a:effectLst/>
                <a:latin typeface="Arial" panose="020B0604020202020204" pitchFamily="34" charset="0"/>
              </a:rPr>
              <a:t>统一的分支策略。</a:t>
            </a:r>
            <a:endParaRPr lang="en-US" altLang="zh-CN" b="0" i="0" dirty="0">
              <a:effectLst/>
              <a:latin typeface="Arial" panose="020B0604020202020204" pitchFamily="34" charset="0"/>
            </a:endParaRPr>
          </a:p>
          <a:p>
            <a:pPr marL="742950" lvl="1" indent="-285750">
              <a:spcAft>
                <a:spcPts val="600"/>
              </a:spcAft>
              <a:buFont typeface="Arial" panose="020B0604020202020204" pitchFamily="34" charset="0"/>
              <a:buChar char="•"/>
            </a:pPr>
            <a:r>
              <a:rPr lang="zh-CN" altLang="en-US" b="0" i="0" dirty="0">
                <a:effectLst/>
                <a:latin typeface="Arial" panose="020B0604020202020204" pitchFamily="34" charset="0"/>
              </a:rPr>
              <a:t>清晰的集成规则。</a:t>
            </a:r>
            <a:endParaRPr lang="en-US" altLang="zh-CN" dirty="0">
              <a:latin typeface="Arial" panose="020B0604020202020204" pitchFamily="34" charset="0"/>
            </a:endParaRPr>
          </a:p>
          <a:p>
            <a:pPr marL="742950" lvl="1" indent="-285750">
              <a:spcAft>
                <a:spcPts val="600"/>
              </a:spcAft>
              <a:buFont typeface="Arial" panose="020B0604020202020204" pitchFamily="34" charset="0"/>
              <a:buChar char="•"/>
            </a:pPr>
            <a:r>
              <a:rPr lang="zh-CN" altLang="en-US" b="0" i="0" dirty="0">
                <a:effectLst/>
                <a:latin typeface="Arial" panose="020B0604020202020204" pitchFamily="34" charset="0"/>
              </a:rPr>
              <a:t>标准化的资源池。</a:t>
            </a:r>
            <a:endParaRPr lang="en-US" altLang="zh-CN" b="0" i="0" dirty="0">
              <a:effectLst/>
              <a:latin typeface="Arial" panose="020B0604020202020204" pitchFamily="34" charset="0"/>
            </a:endParaRPr>
          </a:p>
          <a:p>
            <a:pPr marL="742950" lvl="1" indent="-285750">
              <a:spcAft>
                <a:spcPts val="600"/>
              </a:spcAft>
              <a:buFont typeface="Arial" panose="020B0604020202020204" pitchFamily="34" charset="0"/>
              <a:buChar char="•"/>
            </a:pPr>
            <a:r>
              <a:rPr lang="zh-CN" altLang="en-US" b="0" i="0" dirty="0">
                <a:effectLst/>
                <a:latin typeface="Arial" panose="020B0604020202020204" pitchFamily="34" charset="0"/>
              </a:rPr>
              <a:t>足够快的反馈周期。</a:t>
            </a:r>
            <a:endParaRPr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61</a:t>
            </a:fld>
            <a:endParaRPr lang="zh-CN" altLang="en-US"/>
          </a:p>
        </p:txBody>
      </p:sp>
    </p:spTree>
    <p:extLst>
      <p:ext uri="{BB962C8B-B14F-4D97-AF65-F5344CB8AC3E}">
        <p14:creationId xmlns:p14="http://schemas.microsoft.com/office/powerpoint/2010/main" val="148867052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85750" indent="-285750">
              <a:spcAft>
                <a:spcPts val="600"/>
              </a:spcAft>
              <a:buFont typeface="Arial" panose="020B0604020202020204" pitchFamily="34" charset="0"/>
              <a:buChar char="•"/>
            </a:pPr>
            <a:r>
              <a:rPr lang="zh-CN" altLang="en-US" b="0" i="0" dirty="0">
                <a:effectLst/>
                <a:latin typeface="Arial" panose="020B0604020202020204" pitchFamily="34" charset="0"/>
              </a:rPr>
              <a:t>统一的分支策略。</a:t>
            </a:r>
            <a:endParaRPr lang="en-US" altLang="zh-CN" b="0" i="0" dirty="0">
              <a:effectLst/>
              <a:latin typeface="Arial" panose="020B0604020202020204" pitchFamily="34" charset="0"/>
            </a:endParaRPr>
          </a:p>
          <a:p>
            <a:pPr indent="457200">
              <a:spcAft>
                <a:spcPts val="600"/>
              </a:spcAft>
            </a:pPr>
            <a:r>
              <a:rPr lang="zh-CN" altLang="en-US" b="0" i="0" dirty="0">
                <a:effectLst/>
                <a:latin typeface="Arial" panose="020B0604020202020204" pitchFamily="34" charset="0"/>
              </a:rPr>
              <a:t>既然 </a:t>
            </a:r>
            <a:r>
              <a:rPr lang="en" altLang="zh-CN" b="0" i="0" dirty="0">
                <a:effectLst/>
                <a:latin typeface="Arial" panose="020B0604020202020204" pitchFamily="34" charset="0"/>
              </a:rPr>
              <a:t>CI </a:t>
            </a:r>
            <a:r>
              <a:rPr lang="zh-CN" altLang="en-US" b="0" i="0" dirty="0">
                <a:effectLst/>
                <a:latin typeface="Arial" panose="020B0604020202020204" pitchFamily="34" charset="0"/>
              </a:rPr>
              <a:t>的目的是集成，那么首先就需要有一条以集成为目的的分支。这条分支可以是研发主线，也可以是专门的集成分支，一旦这条分支上发生任何变更，就会触发相应的 </a:t>
            </a:r>
            <a:r>
              <a:rPr lang="en" altLang="zh-CN" b="0" i="0" dirty="0">
                <a:effectLst/>
                <a:latin typeface="Arial" panose="020B0604020202020204" pitchFamily="34" charset="0"/>
              </a:rPr>
              <a:t>CI </a:t>
            </a:r>
            <a:r>
              <a:rPr lang="zh-CN" altLang="en-US" b="0" i="0" dirty="0">
                <a:effectLst/>
                <a:latin typeface="Arial" panose="020B0604020202020204" pitchFamily="34" charset="0"/>
              </a:rPr>
              <a:t>过程。那么，很多时候开发都是在特性分支或者版本分支上进行的，难道这些分支上的提交就不要经过 </a:t>
            </a:r>
            <a:r>
              <a:rPr lang="en" altLang="zh-CN" b="0" i="0" dirty="0">
                <a:effectLst/>
                <a:latin typeface="Arial" panose="020B0604020202020204" pitchFamily="34" charset="0"/>
              </a:rPr>
              <a:t>CI </a:t>
            </a:r>
            <a:r>
              <a:rPr lang="zh-CN" altLang="en-US" b="0" i="0" dirty="0">
                <a:effectLst/>
                <a:latin typeface="Arial" panose="020B0604020202020204" pitchFamily="34" charset="0"/>
              </a:rPr>
              <a:t>环节了吗？这就引出了第 </a:t>
            </a:r>
            <a:r>
              <a:rPr lang="en-US" altLang="zh-CN" b="0" i="0" dirty="0">
                <a:effectLst/>
                <a:latin typeface="Arial" panose="020B0604020202020204" pitchFamily="34" charset="0"/>
              </a:rPr>
              <a:t>2 </a:t>
            </a:r>
            <a:r>
              <a:rPr lang="zh-CN" altLang="en-US" b="0" i="0" dirty="0">
                <a:effectLst/>
                <a:latin typeface="Arial" panose="020B0604020202020204" pitchFamily="34" charset="0"/>
              </a:rPr>
              <a:t>个前置条件。</a:t>
            </a:r>
            <a:endParaRPr lang="en-US" altLang="zh-CN" b="0" i="0" dirty="0">
              <a:effectLst/>
              <a:latin typeface="Arial" panose="020B0604020202020204" pitchFamily="34" charset="0"/>
            </a:endParaRPr>
          </a:p>
          <a:p>
            <a:pPr marL="285750" indent="-285750">
              <a:spcAft>
                <a:spcPts val="600"/>
              </a:spcAft>
              <a:buFont typeface="Arial" panose="020B0604020202020204" pitchFamily="34" charset="0"/>
              <a:buChar char="•"/>
            </a:pPr>
            <a:r>
              <a:rPr lang="zh-CN" altLang="en-US" dirty="0">
                <a:latin typeface="Arial" panose="020B0604020202020204" pitchFamily="34" charset="0"/>
              </a:rPr>
              <a:t>清晰的集成规则。</a:t>
            </a:r>
          </a:p>
          <a:p>
            <a:pPr indent="457200">
              <a:spcAft>
                <a:spcPts val="600"/>
              </a:spcAft>
            </a:pPr>
            <a:r>
              <a:rPr lang="zh-CN" altLang="en-US" dirty="0"/>
              <a:t>对于一个大中型团队来说，每天的提交量是非常惊人的，这就要求持续集成具备足够的吞吐率，能够及时处理这些请求。而对于不同分支来说，持续集成的步骤和要求也不尽相同。不同分支的集成目的不同，相应的环节自然也不相同。</a:t>
            </a:r>
          </a:p>
          <a:p>
            <a:pPr indent="457200">
              <a:spcAft>
                <a:spcPts val="600"/>
              </a:spcAft>
            </a:pPr>
            <a:r>
              <a:rPr lang="zh-CN" altLang="en-US" dirty="0"/>
              <a:t>比如，对于研发特性分支而言，目的主要是快速验证和反馈，那么速度就是不可忽视的因素，所以这个层面的持续集成，主要以验证打包和代码质量为主；而对于系统集成分支而言，它的目的不仅是验证打包和代码质量，还要关注接口和业务层面的正确性，所以集成的步骤会更加复杂，成本也会随之上升。所以，根据分支策略选择合适的集成规则，对于 CI的有效运转来说非常重要。</a:t>
            </a:r>
          </a:p>
          <a:p>
            <a:pPr marL="285750" indent="-285750">
              <a:spcAft>
                <a:spcPts val="600"/>
              </a:spcAft>
              <a:buFont typeface="Arial" panose="020B0604020202020204" pitchFamily="34" charset="0"/>
              <a:buChar char="•"/>
            </a:pPr>
            <a:r>
              <a:rPr lang="zh-CN" altLang="en-US" b="0" i="0" dirty="0">
                <a:effectLst/>
                <a:latin typeface="Arial" panose="020B0604020202020204" pitchFamily="34" charset="0"/>
              </a:rPr>
              <a:t>标准化的资源池。</a:t>
            </a:r>
            <a:endParaRPr lang="en-US" altLang="zh-CN" dirty="0">
              <a:latin typeface="Arial" panose="020B0604020202020204" pitchFamily="34" charset="0"/>
            </a:endParaRPr>
          </a:p>
          <a:p>
            <a:pPr indent="457200">
              <a:spcAft>
                <a:spcPts val="600"/>
              </a:spcAft>
            </a:pPr>
            <a:r>
              <a:rPr lang="zh-CN" altLang="en-US" dirty="0">
                <a:latin typeface="Arial" panose="020B0604020202020204" pitchFamily="34" charset="0"/>
              </a:rPr>
              <a:t>资源池作为 </a:t>
            </a:r>
            <a:r>
              <a:rPr lang="en" altLang="zh-CN" dirty="0">
                <a:latin typeface="Arial" panose="020B0604020202020204" pitchFamily="34" charset="0"/>
              </a:rPr>
              <a:t>CI </a:t>
            </a:r>
            <a:r>
              <a:rPr lang="zh-CN" altLang="en-US" dirty="0">
                <a:latin typeface="Arial" panose="020B0604020202020204" pitchFamily="34" charset="0"/>
              </a:rPr>
              <a:t>的基础设施，重要性不言而喻。首先，资源池需要实现环境标准化，也就是任何任务在任何节点都具备可运行的能力，这个能力就包括了工具、配置等一系列要素。如果 </a:t>
            </a:r>
            <a:r>
              <a:rPr lang="en" altLang="zh-CN" dirty="0">
                <a:latin typeface="Arial" panose="020B0604020202020204" pitchFamily="34" charset="0"/>
              </a:rPr>
              <a:t>CI </a:t>
            </a:r>
            <a:r>
              <a:rPr lang="zh-CN" altLang="en-US" dirty="0">
                <a:latin typeface="Arial" panose="020B0604020202020204" pitchFamily="34" charset="0"/>
              </a:rPr>
              <a:t>任务在一个节点可以运行，跑到另外一个节点就运行失败，那么 </a:t>
            </a:r>
            <a:r>
              <a:rPr lang="en" altLang="zh-CN" dirty="0">
                <a:latin typeface="Arial" panose="020B0604020202020204" pitchFamily="34" charset="0"/>
              </a:rPr>
              <a:t>CI </a:t>
            </a:r>
            <a:r>
              <a:rPr lang="zh-CN" altLang="en-US" dirty="0">
                <a:latin typeface="Arial" panose="020B0604020202020204" pitchFamily="34" charset="0"/>
              </a:rPr>
              <a:t>的公信力就会受到影响。</a:t>
            </a:r>
            <a:endParaRPr lang="en-US" altLang="zh-CN" dirty="0">
              <a:latin typeface="Arial" panose="020B0604020202020204" pitchFamily="34" charset="0"/>
            </a:endParaRPr>
          </a:p>
          <a:p>
            <a:pPr indent="457200">
              <a:spcAft>
                <a:spcPts val="600"/>
              </a:spcAft>
            </a:pPr>
            <a:r>
              <a:rPr lang="zh-CN" altLang="en-US" dirty="0">
                <a:latin typeface="Arial" panose="020B0604020202020204" pitchFamily="34" charset="0"/>
              </a:rPr>
              <a:t>另外，资源池的并发吞吐量应该可以满足集中提交的场景，可以动态按需初始化的资源池就成了最佳选择。当然，同时还要兼顾成本因素，因为大量资源的投入如果没有被有效利用，那么造成的浪费是巨大的。</a:t>
            </a:r>
            <a:endParaRPr lang="en-US" altLang="zh-CN" dirty="0"/>
          </a:p>
          <a:p>
            <a:pPr marL="285750" indent="-285750">
              <a:spcAft>
                <a:spcPts val="600"/>
              </a:spcAft>
              <a:buFont typeface="Arial" panose="020B0604020202020204" pitchFamily="34" charset="0"/>
              <a:buChar char="•"/>
            </a:pPr>
            <a:r>
              <a:rPr lang="zh-CN" altLang="en-US" b="0" i="0" dirty="0">
                <a:effectLst/>
                <a:latin typeface="Arial" panose="020B0604020202020204" pitchFamily="34" charset="0"/>
              </a:rPr>
              <a:t>足够快的反馈周期。</a:t>
            </a:r>
            <a:endParaRPr lang="en-US" altLang="zh-CN" b="0" i="0" dirty="0">
              <a:effectLst/>
              <a:latin typeface="Arial" panose="020B0604020202020204" pitchFamily="34" charset="0"/>
            </a:endParaRPr>
          </a:p>
          <a:p>
            <a:pPr indent="457200">
              <a:spcAft>
                <a:spcPts val="600"/>
              </a:spcAft>
            </a:pPr>
            <a:r>
              <a:rPr lang="zh-CN" altLang="en-US" b="0" i="0" dirty="0">
                <a:effectLst/>
                <a:latin typeface="Arial" panose="020B0604020202020204" pitchFamily="34" charset="0"/>
              </a:rPr>
              <a:t>越是初级 </a:t>
            </a:r>
            <a:r>
              <a:rPr lang="en" altLang="zh-CN" b="0" i="0" dirty="0">
                <a:effectLst/>
                <a:latin typeface="Arial" panose="020B0604020202020204" pitchFamily="34" charset="0"/>
              </a:rPr>
              <a:t>CI</a:t>
            </a:r>
            <a:r>
              <a:rPr lang="zh-CN" altLang="en" b="0" i="0" dirty="0">
                <a:effectLst/>
                <a:latin typeface="Arial" panose="020B0604020202020204" pitchFamily="34" charset="0"/>
              </a:rPr>
              <a:t>，</a:t>
            </a:r>
            <a:r>
              <a:rPr lang="zh-CN" altLang="en-US" b="0" i="0" dirty="0">
                <a:effectLst/>
                <a:latin typeface="Arial" panose="020B0604020202020204" pitchFamily="34" charset="0"/>
              </a:rPr>
              <a:t>对速度的敏感性就越强。一般来讲，如果 </a:t>
            </a:r>
            <a:r>
              <a:rPr lang="en" altLang="zh-CN" b="0" i="0" dirty="0">
                <a:effectLst/>
                <a:latin typeface="Arial" panose="020B0604020202020204" pitchFamily="34" charset="0"/>
              </a:rPr>
              <a:t>CI </a:t>
            </a:r>
            <a:r>
              <a:rPr lang="zh-CN" altLang="en-US" b="0" i="0" dirty="0">
                <a:effectLst/>
                <a:latin typeface="Arial" panose="020B0604020202020204" pitchFamily="34" charset="0"/>
              </a:rPr>
              <a:t>环节超过 </a:t>
            </a:r>
            <a:r>
              <a:rPr lang="en-US" altLang="zh-CN" b="0" i="0" dirty="0">
                <a:effectLst/>
                <a:latin typeface="Arial" panose="020B0604020202020204" pitchFamily="34" charset="0"/>
              </a:rPr>
              <a:t>10</a:t>
            </a:r>
            <a:r>
              <a:rPr lang="zh-CN" altLang="en-US" b="0" i="0" dirty="0">
                <a:effectLst/>
                <a:latin typeface="Arial" panose="020B0604020202020204" pitchFamily="34" charset="0"/>
              </a:rPr>
              <a:t>～</a:t>
            </a:r>
            <a:r>
              <a:rPr lang="en-US" altLang="zh-CN" b="0" i="0" dirty="0">
                <a:effectLst/>
                <a:latin typeface="Arial" panose="020B0604020202020204" pitchFamily="34" charset="0"/>
              </a:rPr>
              <a:t>15 </a:t>
            </a:r>
            <a:r>
              <a:rPr lang="zh-CN" altLang="en-US" b="0" i="0" dirty="0">
                <a:effectLst/>
                <a:latin typeface="Arial" panose="020B0604020202020204" pitchFamily="34" charset="0"/>
              </a:rPr>
              <a:t>分钟还没有反馈结果，那么研发人员就会失去耐心，所以 </a:t>
            </a:r>
            <a:r>
              <a:rPr lang="en" altLang="zh-CN" b="0" i="0" dirty="0">
                <a:effectLst/>
                <a:latin typeface="Arial" panose="020B0604020202020204" pitchFamily="34" charset="0"/>
              </a:rPr>
              <a:t>CI </a:t>
            </a:r>
            <a:r>
              <a:rPr lang="zh-CN" altLang="en-US" b="0" i="0" dirty="0">
                <a:effectLst/>
                <a:latin typeface="Arial" panose="020B0604020202020204" pitchFamily="34" charset="0"/>
              </a:rPr>
              <a:t>的运行速度是一个需要纳入监控的重要指标。对于不同的系统而言，要约定能够容忍的 </a:t>
            </a:r>
            <a:r>
              <a:rPr lang="en" altLang="zh-CN" b="0" i="0" dirty="0">
                <a:effectLst/>
                <a:latin typeface="Arial" panose="020B0604020202020204" pitchFamily="34" charset="0"/>
              </a:rPr>
              <a:t>CI </a:t>
            </a:r>
            <a:r>
              <a:rPr lang="zh-CN" altLang="en-US" b="0" i="0" dirty="0">
                <a:effectLst/>
                <a:latin typeface="Arial" panose="020B0604020202020204" pitchFamily="34" charset="0"/>
              </a:rPr>
              <a:t>最大时长，如果超过这个时长，同样会导致 </a:t>
            </a:r>
            <a:r>
              <a:rPr lang="en" altLang="zh-CN" b="0" i="0" dirty="0">
                <a:effectLst/>
                <a:latin typeface="Arial" panose="020B0604020202020204" pitchFamily="34" charset="0"/>
              </a:rPr>
              <a:t>CI </a:t>
            </a:r>
            <a:r>
              <a:rPr lang="zh-CN" altLang="en-US" b="0" i="0" dirty="0">
                <a:effectLst/>
                <a:latin typeface="Arial" panose="020B0604020202020204" pitchFamily="34" charset="0"/>
              </a:rPr>
              <a:t>失败。所以，这就需要环境、平台、开发团队共同维护。</a:t>
            </a:r>
            <a:endParaRPr lang="en-US" altLang="zh-CN" b="0" i="0" dirty="0">
              <a:effectLst/>
              <a:latin typeface="Arial" panose="020B0604020202020204" pitchFamily="34" charset="0"/>
            </a:endParaRPr>
          </a:p>
          <a:p>
            <a:pPr indent="457200">
              <a:spcAft>
                <a:spcPts val="600"/>
              </a:spcAft>
            </a:pPr>
            <a:r>
              <a:rPr lang="zh-CN" altLang="en-US" b="0" i="0" dirty="0">
                <a:effectLst/>
                <a:latin typeface="Arial" panose="020B0604020202020204" pitchFamily="34" charset="0"/>
              </a:rPr>
              <a:t>一套基本可用的 </a:t>
            </a:r>
            <a:r>
              <a:rPr lang="en" altLang="zh-CN" b="0" i="0" dirty="0">
                <a:effectLst/>
                <a:latin typeface="Arial" panose="020B0604020202020204" pitchFamily="34" charset="0"/>
              </a:rPr>
              <a:t>CI </a:t>
            </a:r>
            <a:r>
              <a:rPr lang="zh-CN" altLang="en-US" b="0" i="0" dirty="0">
                <a:effectLst/>
                <a:latin typeface="Arial" panose="020B0604020202020204" pitchFamily="34" charset="0"/>
              </a:rPr>
              <a:t>所依赖的条件远不止这些，核心还是为了能够在最短的时间内完成集成动作并给出反馈。</a:t>
            </a:r>
            <a:endParaRPr lang="en-US" altLang="zh-CN" b="0" i="0" dirty="0">
              <a:effectLst/>
              <a:latin typeface="Arial" panose="020B0604020202020204" pitchFamily="34" charset="0"/>
            </a:endParaRPr>
          </a:p>
          <a:p>
            <a:pPr indent="0">
              <a:spcAft>
                <a:spcPts val="600"/>
              </a:spcAft>
            </a:pPr>
            <a:endParaRPr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62</a:t>
            </a:fld>
            <a:endParaRPr lang="zh-CN" altLang="en-US"/>
          </a:p>
        </p:txBody>
      </p:sp>
    </p:spTree>
    <p:extLst>
      <p:ext uri="{BB962C8B-B14F-4D97-AF65-F5344CB8AC3E}">
        <p14:creationId xmlns:p14="http://schemas.microsoft.com/office/powerpoint/2010/main" val="246110464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457200">
              <a:spcAft>
                <a:spcPts val="600"/>
              </a:spcAft>
            </a:pPr>
            <a:r>
              <a:rPr lang="zh-CN" altLang="en-US" b="0" i="0" dirty="0">
                <a:effectLst/>
                <a:latin typeface="Arial" panose="020B0604020202020204" pitchFamily="34" charset="0"/>
              </a:rPr>
              <a:t>第二个阶段的关键词是：质量内建。关于质量内建。实际上，</a:t>
            </a:r>
            <a:r>
              <a:rPr lang="en" altLang="zh-CN" b="0" i="0" dirty="0">
                <a:effectLst/>
                <a:latin typeface="Arial" panose="020B0604020202020204" pitchFamily="34" charset="0"/>
              </a:rPr>
              <a:t>CI </a:t>
            </a:r>
            <a:r>
              <a:rPr lang="zh-CN" altLang="en-US" b="0" i="0" dirty="0">
                <a:effectLst/>
                <a:latin typeface="Arial" panose="020B0604020202020204" pitchFamily="34" charset="0"/>
              </a:rPr>
              <a:t>的目的是尽早发现问题，这些问题既包括构建失败，也包括质量不达标，比如测试不通过，或者代码规约静态扫描等不符合标准。</a:t>
            </a:r>
            <a:endParaRPr lang="en-US" altLang="zh-CN" b="0" i="0" dirty="0">
              <a:effectLst/>
              <a:latin typeface="Arial" panose="020B0604020202020204" pitchFamily="34" charset="0"/>
            </a:endParaRPr>
          </a:p>
          <a:p>
            <a:pPr marL="285750" indent="-285750">
              <a:spcAft>
                <a:spcPts val="600"/>
              </a:spcAft>
              <a:buFont typeface="Arial" panose="020B0604020202020204" pitchFamily="34" charset="0"/>
              <a:buChar char="•"/>
            </a:pPr>
            <a:r>
              <a:rPr lang="zh-CN" altLang="en-US" b="0" i="0" dirty="0">
                <a:effectLst/>
                <a:latin typeface="Arial" panose="020B0604020202020204" pitchFamily="34" charset="0"/>
              </a:rPr>
              <a:t>匹配合适的测试活动。</a:t>
            </a:r>
            <a:endParaRPr lang="en-US" altLang="zh-CN" b="0" i="0" dirty="0">
              <a:effectLst/>
              <a:latin typeface="Arial" panose="020B0604020202020204" pitchFamily="34" charset="0"/>
            </a:endParaRPr>
          </a:p>
          <a:p>
            <a:pPr indent="457200">
              <a:spcAft>
                <a:spcPts val="600"/>
              </a:spcAft>
            </a:pPr>
            <a:r>
              <a:rPr lang="zh-CN" altLang="en-US" b="0" i="0" dirty="0">
                <a:effectLst/>
                <a:latin typeface="Arial" panose="020B0604020202020204" pitchFamily="34" charset="0"/>
              </a:rPr>
              <a:t>对于不同层级的 </a:t>
            </a:r>
            <a:r>
              <a:rPr lang="en" altLang="zh-CN" b="0" i="0" dirty="0">
                <a:effectLst/>
                <a:latin typeface="Arial" panose="020B0604020202020204" pitchFamily="34" charset="0"/>
              </a:rPr>
              <a:t>CI </a:t>
            </a:r>
            <a:r>
              <a:rPr lang="zh-CN" altLang="en-US" b="0" i="0" dirty="0">
                <a:effectLst/>
                <a:latin typeface="Arial" panose="020B0604020202020204" pitchFamily="34" charset="0"/>
              </a:rPr>
              <a:t>而言，同样需要根据集成规则来确定需要注入的质量活动。比如，最初级的提交集成就不适合那些运行过于复杂、时间太长的测试活动，快速的代码检查和冒烟测试就足以证明这个版本已经达到了最基本的要求。而对于系统层的集成来说，质量要求会更高，这样一来，一些接口测试、</a:t>
            </a:r>
            <a:r>
              <a:rPr lang="en" altLang="zh-CN" b="0" i="0" dirty="0">
                <a:effectLst/>
                <a:latin typeface="Arial" panose="020B0604020202020204" pitchFamily="34" charset="0"/>
              </a:rPr>
              <a:t>UI </a:t>
            </a:r>
            <a:r>
              <a:rPr lang="zh-CN" altLang="en-US" b="0" i="0" dirty="0">
                <a:effectLst/>
                <a:latin typeface="Arial" panose="020B0604020202020204" pitchFamily="34" charset="0"/>
              </a:rPr>
              <a:t>测试等就可以纳入到 </a:t>
            </a:r>
            <a:r>
              <a:rPr lang="en" altLang="zh-CN" b="0" i="0" dirty="0">
                <a:effectLst/>
                <a:latin typeface="Arial" panose="020B0604020202020204" pitchFamily="34" charset="0"/>
              </a:rPr>
              <a:t>CI </a:t>
            </a:r>
            <a:r>
              <a:rPr lang="zh-CN" altLang="en-US" b="0" i="0" dirty="0">
                <a:effectLst/>
                <a:latin typeface="Arial" panose="020B0604020202020204" pitchFamily="34" charset="0"/>
              </a:rPr>
              <a:t>里面来。</a:t>
            </a:r>
            <a:endParaRPr lang="en-US" altLang="zh-CN" b="0" i="0" dirty="0">
              <a:effectLst/>
              <a:latin typeface="Arial" panose="020B0604020202020204" pitchFamily="34" charset="0"/>
            </a:endParaRPr>
          </a:p>
          <a:p>
            <a:pPr marL="285750" indent="-285750">
              <a:spcAft>
                <a:spcPts val="600"/>
              </a:spcAft>
              <a:buFont typeface="Arial" panose="020B0604020202020204" pitchFamily="34" charset="0"/>
              <a:buChar char="•"/>
            </a:pPr>
            <a:r>
              <a:rPr lang="zh-CN" altLang="en-US" b="0" i="0" dirty="0">
                <a:effectLst/>
                <a:latin typeface="Arial" panose="020B0604020202020204" pitchFamily="34" charset="0"/>
              </a:rPr>
              <a:t>树立测试结果的公信度。</a:t>
            </a:r>
            <a:endParaRPr lang="en-US" altLang="zh-CN" b="0" i="0" dirty="0">
              <a:effectLst/>
              <a:latin typeface="Arial" panose="020B0604020202020204" pitchFamily="34" charset="0"/>
            </a:endParaRPr>
          </a:p>
          <a:p>
            <a:pPr indent="457200">
              <a:spcAft>
                <a:spcPts val="600"/>
              </a:spcAft>
            </a:pPr>
            <a:r>
              <a:rPr lang="zh-CN" altLang="en-US" b="0" i="0" dirty="0">
                <a:effectLst/>
                <a:latin typeface="Arial" panose="020B0604020202020204" pitchFamily="34" charset="0"/>
              </a:rPr>
              <a:t>自动化测试的目标是帮助研发提前发现问题，但是，如果因为自动化测试能力自身的缺陷或者环境不稳定等因素，造成了 </a:t>
            </a:r>
            <a:r>
              <a:rPr lang="en" altLang="zh-CN" b="0" i="0" dirty="0">
                <a:effectLst/>
                <a:latin typeface="Arial" panose="020B0604020202020204" pitchFamily="34" charset="0"/>
              </a:rPr>
              <a:t>CI </a:t>
            </a:r>
            <a:r>
              <a:rPr lang="zh-CN" altLang="en-US" b="0" i="0" dirty="0">
                <a:effectLst/>
                <a:latin typeface="Arial" panose="020B0604020202020204" pitchFamily="34" charset="0"/>
              </a:rPr>
              <a:t>的大量失败，那么，这个 </a:t>
            </a:r>
            <a:r>
              <a:rPr lang="en" altLang="zh-CN" b="0" i="0" dirty="0">
                <a:effectLst/>
                <a:latin typeface="Arial" panose="020B0604020202020204" pitchFamily="34" charset="0"/>
              </a:rPr>
              <a:t>CI </a:t>
            </a:r>
            <a:r>
              <a:rPr lang="zh-CN" altLang="en-US" b="0" i="0" dirty="0">
                <a:effectLst/>
                <a:latin typeface="Arial" panose="020B0604020202020204" pitchFamily="34" charset="0"/>
              </a:rPr>
              <a:t>对于研发来说就可有可无了。所以，我们要对 </a:t>
            </a:r>
            <a:r>
              <a:rPr lang="en" altLang="zh-CN" b="0" i="0" dirty="0">
                <a:effectLst/>
                <a:latin typeface="Arial" panose="020B0604020202020204" pitchFamily="34" charset="0"/>
              </a:rPr>
              <a:t>CI </a:t>
            </a:r>
            <a:r>
              <a:rPr lang="zh-CN" altLang="en-US" b="0" i="0" dirty="0">
                <a:effectLst/>
                <a:latin typeface="Arial" panose="020B0604020202020204" pitchFamily="34" charset="0"/>
              </a:rPr>
              <a:t>失败进行分类分级，重点关注那些异常和误报的情况，并进行相应的持续优化和改善。</a:t>
            </a:r>
            <a:endParaRPr lang="en-US" altLang="zh-CN" dirty="0">
              <a:latin typeface="Arial" panose="020B0604020202020204" pitchFamily="34" charset="0"/>
            </a:endParaRPr>
          </a:p>
          <a:p>
            <a:pPr marL="285750" indent="-285750">
              <a:spcAft>
                <a:spcPts val="600"/>
              </a:spcAft>
              <a:buFont typeface="Arial" panose="020B0604020202020204" pitchFamily="34" charset="0"/>
              <a:buChar char="•"/>
            </a:pPr>
            <a:r>
              <a:rPr lang="zh-CN" altLang="en-US" b="0" i="0" dirty="0">
                <a:effectLst/>
                <a:latin typeface="Arial" panose="020B0604020202020204" pitchFamily="34" charset="0"/>
              </a:rPr>
              <a:t>提升测试活动的有效性。</a:t>
            </a:r>
            <a:endParaRPr lang="en-US" altLang="zh-CN" b="0" i="0" dirty="0">
              <a:effectLst/>
              <a:latin typeface="Arial" panose="020B0604020202020204" pitchFamily="34" charset="0"/>
            </a:endParaRPr>
          </a:p>
          <a:p>
            <a:pPr indent="457200">
              <a:spcAft>
                <a:spcPts val="600"/>
              </a:spcAft>
            </a:pPr>
            <a:r>
              <a:rPr lang="zh-CN" altLang="en-US" b="0" i="0" dirty="0">
                <a:effectLst/>
                <a:latin typeface="Arial" panose="020B0604020202020204" pitchFamily="34" charset="0"/>
              </a:rPr>
              <a:t>考虑到 </a:t>
            </a:r>
            <a:r>
              <a:rPr lang="en" altLang="zh-CN" b="0" i="0" dirty="0">
                <a:effectLst/>
                <a:latin typeface="Arial" panose="020B0604020202020204" pitchFamily="34" charset="0"/>
              </a:rPr>
              <a:t>CI </a:t>
            </a:r>
            <a:r>
              <a:rPr lang="zh-CN" altLang="en-US" b="0" i="0" dirty="0">
                <a:effectLst/>
                <a:latin typeface="Arial" panose="020B0604020202020204" pitchFamily="34" charset="0"/>
              </a:rPr>
              <a:t>对于速度的敏感性，那么如何在最短的时间内运行最有效的测试任务，就成了一个关键问题。显然，大而全的测试套件是不合时宜的，只有在基础功能验证的基础上，结合与本次 </a:t>
            </a:r>
            <a:r>
              <a:rPr lang="en" altLang="zh-CN" b="0" i="0" dirty="0">
                <a:effectLst/>
                <a:latin typeface="Arial" panose="020B0604020202020204" pitchFamily="34" charset="0"/>
              </a:rPr>
              <a:t>CI </a:t>
            </a:r>
            <a:r>
              <a:rPr lang="zh-CN" altLang="en-US" b="0" i="0" dirty="0">
                <a:effectLst/>
                <a:latin typeface="Arial" panose="020B0604020202020204" pitchFamily="34" charset="0"/>
              </a:rPr>
              <a:t>的变更点相关的测试任务，发现问题的概率才会大大提升。</a:t>
            </a:r>
            <a:endParaRPr lang="en-US" altLang="zh-CN" b="0" i="0" dirty="0">
              <a:effectLst/>
              <a:latin typeface="Arial" panose="020B0604020202020204" pitchFamily="34" charset="0"/>
            </a:endParaRPr>
          </a:p>
          <a:p>
            <a:pPr indent="457200">
              <a:spcAft>
                <a:spcPts val="600"/>
              </a:spcAft>
            </a:pP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63</a:t>
            </a:fld>
            <a:endParaRPr lang="zh-CN" altLang="en-US"/>
          </a:p>
        </p:txBody>
      </p:sp>
    </p:spTree>
    <p:extLst>
      <p:ext uri="{BB962C8B-B14F-4D97-AF65-F5344CB8AC3E}">
        <p14:creationId xmlns:p14="http://schemas.microsoft.com/office/powerpoint/2010/main" val="40353757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457200">
              <a:spcAft>
                <a:spcPts val="600"/>
              </a:spcAft>
            </a:pPr>
            <a:r>
              <a:rPr lang="zh-CN" altLang="en-US" b="0" i="0" dirty="0">
                <a:effectLst/>
                <a:latin typeface="Arial" panose="020B0604020202020204" pitchFamily="34" charset="0"/>
              </a:rPr>
              <a:t>硅谷的很多公司都有一种不成文的规定，那就是员工每天下班前要先确认持续集成是正常的，然后再离开公司，同时，公司也不建议在深夜或者周末上线代码，因为一旦出了问题，很难在第一时间修复，造成的影响难以估计。</a:t>
            </a:r>
            <a:endParaRPr lang="en-US" altLang="zh-CN" b="0" i="0" dirty="0">
              <a:effectLst/>
              <a:latin typeface="Arial" panose="020B0604020202020204" pitchFamily="34" charset="0"/>
            </a:endParaRPr>
          </a:p>
          <a:p>
            <a:pPr indent="457200">
              <a:spcAft>
                <a:spcPts val="600"/>
              </a:spcAft>
            </a:pPr>
            <a:r>
              <a:rPr lang="zh-CN" altLang="en-US" b="0" i="0" dirty="0">
                <a:effectLst/>
                <a:latin typeface="Arial" panose="020B0604020202020204" pitchFamily="34" charset="0"/>
              </a:rPr>
              <a:t>其实，很多企业并不知道他们花费大量人力、物力建设 </a:t>
            </a:r>
            <a:r>
              <a:rPr lang="en" altLang="zh-CN" b="0" i="0" dirty="0">
                <a:effectLst/>
                <a:latin typeface="Arial" panose="020B0604020202020204" pitchFamily="34" charset="0"/>
              </a:rPr>
              <a:t>CI </a:t>
            </a:r>
            <a:r>
              <a:rPr lang="zh-CN" altLang="en-US" b="0" i="0" dirty="0">
                <a:effectLst/>
                <a:latin typeface="Arial" panose="020B0604020202020204" pitchFamily="34" charset="0"/>
              </a:rPr>
              <a:t>的平均修复时长是多少，也缺乏这方面的数据统计。就现状而言，有些时候，他们可以做到在 </a:t>
            </a:r>
            <a:r>
              <a:rPr lang="en-US" altLang="zh-CN" b="0" i="0" dirty="0">
                <a:effectLst/>
                <a:latin typeface="Arial" panose="020B0604020202020204" pitchFamily="34" charset="0"/>
              </a:rPr>
              <a:t>10 </a:t>
            </a:r>
            <a:r>
              <a:rPr lang="zh-CN" altLang="en-US" b="0" i="0" dirty="0">
                <a:effectLst/>
                <a:latin typeface="Arial" panose="020B0604020202020204" pitchFamily="34" charset="0"/>
              </a:rPr>
              <a:t>分钟内修复，而有些时候就需要几个小时，原因可能是负责人出去开会了，或者是赶上了午休的时间。</a:t>
            </a:r>
            <a:endParaRPr lang="en-US" altLang="zh-CN" b="0" i="0" dirty="0">
              <a:effectLst/>
              <a:latin typeface="Arial" panose="020B0604020202020204" pitchFamily="34" charset="0"/>
            </a:endParaRPr>
          </a:p>
          <a:p>
            <a:pPr indent="457200">
              <a:spcAft>
                <a:spcPts val="600"/>
              </a:spcAft>
            </a:pPr>
            <a:r>
              <a:rPr lang="zh-CN" altLang="en-US" b="0" i="0" dirty="0">
                <a:effectLst/>
                <a:latin typeface="Arial" panose="020B0604020202020204" pitchFamily="34" charset="0"/>
              </a:rPr>
              <a:t>当然，也有一些企业质疑 </a:t>
            </a:r>
            <a:r>
              <a:rPr lang="en-US" altLang="zh-CN" b="0" i="0" dirty="0">
                <a:effectLst/>
                <a:latin typeface="Arial" panose="020B0604020202020204" pitchFamily="34" charset="0"/>
              </a:rPr>
              <a:t>10 </a:t>
            </a:r>
            <a:r>
              <a:rPr lang="zh-CN" altLang="en-US" b="0" i="0" dirty="0">
                <a:effectLst/>
                <a:latin typeface="Arial" panose="020B0604020202020204" pitchFamily="34" charset="0"/>
              </a:rPr>
              <a:t>分钟这个时间长度，因为软件项目的特殊性，很有可能每次集成周期就远大于 </a:t>
            </a:r>
            <a:r>
              <a:rPr lang="en-US" altLang="zh-CN" b="0" i="0" dirty="0">
                <a:effectLst/>
                <a:latin typeface="Arial" panose="020B0604020202020204" pitchFamily="34" charset="0"/>
              </a:rPr>
              <a:t>10 </a:t>
            </a:r>
            <a:r>
              <a:rPr lang="zh-CN" altLang="en-US" b="0" i="0" dirty="0">
                <a:effectLst/>
                <a:latin typeface="Arial" panose="020B0604020202020204" pitchFamily="34" charset="0"/>
              </a:rPr>
              <a:t>分钟。如果你也是这样想的，那你可能就误解 </a:t>
            </a:r>
            <a:r>
              <a:rPr lang="en" altLang="zh-CN" b="0" i="0" dirty="0">
                <a:effectLst/>
                <a:latin typeface="Arial" panose="020B0604020202020204" pitchFamily="34" charset="0"/>
              </a:rPr>
              <a:t>CI </a:t>
            </a:r>
            <a:r>
              <a:rPr lang="zh-CN" altLang="en-US" b="0" i="0" dirty="0">
                <a:effectLst/>
                <a:latin typeface="Arial" panose="020B0604020202020204" pitchFamily="34" charset="0"/>
              </a:rPr>
              <a:t>的理念和初衷了，毕竟我也不相信马丁</a:t>
            </a:r>
            <a:r>
              <a:rPr lang="en-US" altLang="zh-CN" b="0" i="0" dirty="0">
                <a:effectLst/>
                <a:latin typeface="Arial" panose="020B0604020202020204" pitchFamily="34" charset="0"/>
              </a:rPr>
              <a:t>·</a:t>
            </a:r>
            <a:r>
              <a:rPr lang="zh-CN" altLang="en-US" b="0" i="0" dirty="0">
                <a:effectLst/>
                <a:latin typeface="Arial" panose="020B0604020202020204" pitchFamily="34" charset="0"/>
              </a:rPr>
              <a:t>福勒能够保证在 </a:t>
            </a:r>
            <a:r>
              <a:rPr lang="en-US" altLang="zh-CN" b="0" i="0" dirty="0">
                <a:effectLst/>
                <a:latin typeface="Arial" panose="020B0604020202020204" pitchFamily="34" charset="0"/>
              </a:rPr>
              <a:t>10 </a:t>
            </a:r>
            <a:r>
              <a:rPr lang="zh-CN" altLang="en-US" b="0" i="0" dirty="0">
                <a:effectLst/>
                <a:latin typeface="Arial" panose="020B0604020202020204" pitchFamily="34" charset="0"/>
              </a:rPr>
              <a:t>分钟内修复问题。在这么短的时间里，人为因素其实并不可控，所以，人不是关键，建立机制才是关键。</a:t>
            </a:r>
            <a:endParaRPr lang="en-US" altLang="zh-CN" b="0" i="0" dirty="0">
              <a:effectLst/>
              <a:latin typeface="Arial" panose="020B0604020202020204" pitchFamily="34" charset="0"/>
            </a:endParaRPr>
          </a:p>
          <a:p>
            <a:pPr indent="457200">
              <a:spcAft>
                <a:spcPts val="600"/>
              </a:spcAft>
            </a:pPr>
            <a:r>
              <a:rPr lang="zh-CN" altLang="en-US" b="0" i="0" dirty="0">
                <a:effectLst/>
                <a:latin typeface="Arial" panose="020B0604020202020204" pitchFamily="34" charset="0"/>
              </a:rPr>
              <a:t>什么是机制呢？机制就是一种约定，人们愿意遵守这样的行为，并且做了会得到好处。对于</a:t>
            </a:r>
            <a:r>
              <a:rPr lang="en" altLang="zh-CN" b="0" i="0" dirty="0">
                <a:effectLst/>
                <a:latin typeface="Arial" panose="020B0604020202020204" pitchFamily="34" charset="0"/>
              </a:rPr>
              <a:t>CI </a:t>
            </a:r>
            <a:r>
              <a:rPr lang="zh-CN" altLang="en-US" b="0" i="0" dirty="0">
                <a:effectLst/>
                <a:latin typeface="Arial" panose="020B0604020202020204" pitchFamily="34" charset="0"/>
              </a:rPr>
              <a:t>而言，保证集成主线的可用性，其实就是团队成员间的一种约定。这不在于谁出的问题谁去修复，而在于我们是否能够保证 </a:t>
            </a:r>
            <a:r>
              <a:rPr lang="en" altLang="zh-CN" b="0" i="0" dirty="0">
                <a:effectLst/>
                <a:latin typeface="Arial" panose="020B0604020202020204" pitchFamily="34" charset="0"/>
              </a:rPr>
              <a:t>CI </a:t>
            </a:r>
            <a:r>
              <a:rPr lang="zh-CN" altLang="en-US" b="0" i="0" dirty="0">
                <a:effectLst/>
                <a:latin typeface="Arial" panose="020B0604020202020204" pitchFamily="34" charset="0"/>
              </a:rPr>
              <a:t>的稳定性，足够清楚问题的降级路径，并且主动关注、分析和推动问题解决</a:t>
            </a:r>
            <a:endParaRPr lang="en-US" altLang="zh-CN" b="0" i="0" dirty="0">
              <a:effectLst/>
              <a:latin typeface="Arial" panose="020B0604020202020204" pitchFamily="34" charset="0"/>
            </a:endParaRPr>
          </a:p>
          <a:p>
            <a:pPr indent="457200">
              <a:spcAft>
                <a:spcPts val="600"/>
              </a:spcAft>
            </a:pPr>
            <a:r>
              <a:rPr lang="zh-CN" altLang="en-US" b="0" i="0" dirty="0">
                <a:effectLst/>
                <a:latin typeface="Arial" panose="020B0604020202020204" pitchFamily="34" charset="0"/>
              </a:rPr>
              <a:t>另外，团队要建立清晰的规则，比如 </a:t>
            </a:r>
            <a:r>
              <a:rPr lang="en-US" altLang="zh-CN" b="0" i="0" dirty="0">
                <a:effectLst/>
                <a:latin typeface="Arial" panose="020B0604020202020204" pitchFamily="34" charset="0"/>
              </a:rPr>
              <a:t>10 </a:t>
            </a:r>
            <a:r>
              <a:rPr lang="zh-CN" altLang="en-US" b="0" i="0" dirty="0">
                <a:effectLst/>
                <a:latin typeface="Arial" panose="020B0604020202020204" pitchFamily="34" charset="0"/>
              </a:rPr>
              <a:t>分钟内没有修复则自动回滚代码，比如当 </a:t>
            </a:r>
            <a:r>
              <a:rPr lang="en" altLang="zh-CN" b="0" i="0" dirty="0">
                <a:effectLst/>
                <a:latin typeface="Arial" panose="020B0604020202020204" pitchFamily="34" charset="0"/>
              </a:rPr>
              <a:t>CI</a:t>
            </a:r>
            <a:r>
              <a:rPr lang="zh-CN" altLang="en-US" b="0" i="0" dirty="0">
                <a:effectLst/>
                <a:latin typeface="Arial" panose="020B0604020202020204" pitchFamily="34" charset="0"/>
              </a:rPr>
              <a:t>“亮红灯”的时候，团队不再提交新的代码，因为在错误的基础上没有办法验证新的提交，这时需要集体放下手中的工作，共同恢复 </a:t>
            </a:r>
            <a:r>
              <a:rPr lang="en" altLang="zh-CN" b="0" i="0" dirty="0">
                <a:effectLst/>
                <a:latin typeface="Arial" panose="020B0604020202020204" pitchFamily="34" charset="0"/>
              </a:rPr>
              <a:t>CI </a:t>
            </a:r>
            <a:r>
              <a:rPr lang="zh-CN" altLang="en-US" b="0" i="0" dirty="0">
                <a:effectLst/>
                <a:latin typeface="Arial" panose="020B0604020202020204" pitchFamily="34" charset="0"/>
              </a:rPr>
              <a:t>的状态。</a:t>
            </a:r>
            <a:endParaRPr lang="en-US" altLang="zh-CN" b="0" i="0" dirty="0">
              <a:effectLst/>
              <a:latin typeface="Arial" panose="020B0604020202020204" pitchFamily="34" charset="0"/>
            </a:endParaRPr>
          </a:p>
          <a:p>
            <a:endParaRPr kumimoji="1"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64</a:t>
            </a:fld>
            <a:endParaRPr lang="zh-CN" altLang="en-US"/>
          </a:p>
        </p:txBody>
      </p:sp>
    </p:spTree>
    <p:extLst>
      <p:ext uri="{BB962C8B-B14F-4D97-AF65-F5344CB8AC3E}">
        <p14:creationId xmlns:p14="http://schemas.microsoft.com/office/powerpoint/2010/main" val="293423646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457200">
              <a:spcAft>
                <a:spcPts val="600"/>
              </a:spcAft>
            </a:pPr>
            <a:r>
              <a:rPr lang="zh-CN" altLang="en-US" dirty="0">
                <a:effectLst/>
                <a:latin typeface="Helvetica" pitchFamily="2" charset="0"/>
              </a:rPr>
              <a:t>对特续集成的一个常见误区</a:t>
            </a:r>
            <a:r>
              <a:rPr lang="zh-CN" altLang="en-US" dirty="0">
                <a:latin typeface="Helvetica" pitchFamily="2" charset="0"/>
              </a:rPr>
              <a:t>是</a:t>
            </a:r>
            <a:r>
              <a:rPr lang="zh-CN" altLang="en-US" dirty="0">
                <a:effectLst/>
                <a:latin typeface="Helvetica" pitchFamily="2" charset="0"/>
              </a:rPr>
              <a:t>，做形式主义的持续集成。比如，每人每天都必须把代码改动提交到集成分支。</a:t>
            </a:r>
          </a:p>
          <a:p>
            <a:pPr indent="457200">
              <a:spcAft>
                <a:spcPts val="600"/>
              </a:spcAft>
            </a:pPr>
            <a:r>
              <a:rPr lang="zh-CN" altLang="en-US" dirty="0">
                <a:latin typeface="Helvetica" pitchFamily="2" charset="0"/>
              </a:rPr>
              <a:t>假定</a:t>
            </a:r>
            <a:r>
              <a:rPr lang="zh-CN" altLang="en-US" dirty="0">
                <a:effectLst/>
                <a:latin typeface="Helvetica" pitchFamily="2" charset="0"/>
              </a:rPr>
              <a:t>你是一名程序员，忙了一天，快下班了，但是手头的代码改动、编泽还没通过。此时，你是否应该提交？不应该提交。如果你现在把代码改动提交到集成分支，则集成分支就编译不通过，会给别人带来很大的困扰。</a:t>
            </a:r>
          </a:p>
          <a:p>
            <a:pPr indent="457200">
              <a:spcAft>
                <a:spcPts val="600"/>
              </a:spcAft>
            </a:pPr>
            <a:r>
              <a:rPr lang="zh-CN" altLang="en-US" dirty="0">
                <a:effectLst/>
                <a:latin typeface="Helvetica" pitchFamily="2" charset="0"/>
              </a:rPr>
              <a:t>如果编译能通过，但是代码改动还没有完成，这时是否应该提交？最好也不提交。因为每一个代码改动都应该具有完整的逻辑意义，所以需要你完成一个具有逻辑意义的完整改动后再提交。</a:t>
            </a:r>
            <a:endParaRPr lang="en-US" altLang="zh-CN" dirty="0">
              <a:latin typeface="Helvetica" pitchFamily="2" charset="0"/>
            </a:endParaRPr>
          </a:p>
          <a:p>
            <a:pPr indent="457200">
              <a:spcAft>
                <a:spcPts val="600"/>
              </a:spcAft>
            </a:pPr>
            <a:r>
              <a:rPr lang="zh-CN" altLang="en-US" dirty="0">
                <a:effectLst/>
                <a:latin typeface="Helvetica" pitchFamily="2" charset="0"/>
              </a:rPr>
              <a:t>还有的时候，我们把每日提交解释成：它是统计意义上的，应该做到差不多每天都有</a:t>
            </a:r>
            <a:r>
              <a:rPr lang="zh-CN" altLang="en-US" dirty="0">
                <a:latin typeface="Helvetica" pitchFamily="2" charset="0"/>
              </a:rPr>
              <a:t>一</a:t>
            </a:r>
            <a:r>
              <a:rPr lang="zh-CN" altLang="en-US" dirty="0">
                <a:effectLst/>
                <a:latin typeface="Helvetica" pitchFamily="2" charset="0"/>
              </a:rPr>
              <a:t>个改动提交。这个说法就好多了，不那么教条了，但其实还是不一定。</a:t>
            </a:r>
            <a:endParaRPr lang="en-US" altLang="zh-CN" dirty="0">
              <a:effectLst/>
              <a:latin typeface="Helvetica" pitchFamily="2" charset="0"/>
            </a:endParaRPr>
          </a:p>
          <a:p>
            <a:pPr indent="457200">
              <a:spcAft>
                <a:spcPts val="600"/>
              </a:spcAft>
            </a:pPr>
            <a:r>
              <a:rPr lang="zh-CN" altLang="en-US" dirty="0">
                <a:effectLst/>
                <a:latin typeface="Helvetica" pitchFamily="2" charset="0"/>
              </a:rPr>
              <a:t>假定为了实现一个用户故事，为它拉出了一条特性分支，开发了三五天把这个用户故事特性实现后，再把这个特性分支合并到集成分支上，这样做挺好的。这就意味着，在开发这个特性期间，不会因为一时质量低或改动尚未完成而打扰到别人。还有一个好处是，在特性分支合并到集成分支后，如果因为业务的原因，本次不想发布这个用户故事了，只要用一行命令就可以把它从集成分支上摘除。因此，将用户故事作为整体，用三五天开发完才把它提交上去，也挺好。</a:t>
            </a:r>
          </a:p>
          <a:p>
            <a:pPr indent="457200">
              <a:spcAft>
                <a:spcPts val="600"/>
              </a:spcAft>
            </a:pPr>
            <a:r>
              <a:rPr lang="zh-CN" altLang="en-US" dirty="0">
                <a:effectLst/>
                <a:latin typeface="Helvetica" pitchFamily="2" charset="0"/>
              </a:rPr>
              <a:t>持续集成的本质是要做持续地集成，并不是说必须每天都要提交。只要能够保证当改动提交上去时，不会造成很大的合并冲突，不会引起很多的问题，就己经做到了持续地提交、持续地集成。这就是我们追求的比较好的状态。</a:t>
            </a:r>
          </a:p>
          <a:p>
            <a:endParaRPr kumimoji="1"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65</a:t>
            </a:fld>
            <a:endParaRPr lang="zh-CN" altLang="en-US"/>
          </a:p>
        </p:txBody>
      </p:sp>
    </p:spTree>
    <p:extLst>
      <p:ext uri="{BB962C8B-B14F-4D97-AF65-F5344CB8AC3E}">
        <p14:creationId xmlns:p14="http://schemas.microsoft.com/office/powerpoint/2010/main" val="334761962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457200">
              <a:spcAft>
                <a:spcPts val="600"/>
              </a:spcAft>
            </a:pPr>
            <a:r>
              <a:rPr lang="zh-CN" altLang="en-US" dirty="0">
                <a:effectLst/>
                <a:latin typeface="Helvetica" pitchFamily="2" charset="0"/>
              </a:rPr>
              <a:t>传统的开发方式：先把每个需求拆分成在多个代码库中的开发任务：然后在每个代码库中，不断集成</a:t>
            </a:r>
            <a:r>
              <a:rPr lang="zh-CN" altLang="en-US" dirty="0">
                <a:latin typeface="Helvetica" pitchFamily="2" charset="0"/>
              </a:rPr>
              <a:t>多个开发</a:t>
            </a:r>
            <a:r>
              <a:rPr lang="zh-CN" altLang="en-US" dirty="0">
                <a:effectLst/>
                <a:latin typeface="Helvetica" pitchFamily="2" charset="0"/>
              </a:rPr>
              <a:t>任务，它们属于不同的需求；最后，代码库之间再进行总的集成，放到一起看看各个需求是否能被正确实现。显然这种方式有不少改进空间，因为一个需求完成得怎么样，要过很久才能知道。</a:t>
            </a:r>
          </a:p>
          <a:p>
            <a:pPr indent="457200">
              <a:spcAft>
                <a:spcPts val="600"/>
              </a:spcAft>
            </a:pPr>
            <a:r>
              <a:rPr lang="zh-CN" altLang="en-US" dirty="0">
                <a:effectLst/>
                <a:latin typeface="Helvetica" pitchFamily="2" charset="0"/>
              </a:rPr>
              <a:t>有两个改进的方案在比选：一是，每当开发完一个任务就提交到它所在的代码库，并随即触发进行整个系统的一次集成，这是经典的持续集成方案。</a:t>
            </a:r>
          </a:p>
          <a:p>
            <a:pPr indent="457200">
              <a:spcAft>
                <a:spcPts val="600"/>
              </a:spcAft>
            </a:pPr>
            <a:r>
              <a:rPr lang="zh-CN" altLang="en-US" dirty="0">
                <a:effectLst/>
                <a:latin typeface="Helvetica" pitchFamily="2" charset="0"/>
              </a:rPr>
              <a:t>二是，先进行每个需求内部的集成，完成一个需求后，就把它集成到整个系统中。具体来说，先在这个需求涉及的各个代码库中，拉出相同名称的特性分支，把与该需求对应的开发任务的代码改动提交到这些特性分支进行集成，直到完成需求。然后再把这些特性分支合并到各个代码库的集成分支，与其他需求汇合进行总的集成。</a:t>
            </a:r>
          </a:p>
          <a:p>
            <a:pPr indent="457200">
              <a:spcAft>
                <a:spcPts val="600"/>
              </a:spcAft>
            </a:pPr>
            <a:r>
              <a:rPr lang="zh-CN" altLang="en-US" dirty="0">
                <a:latin typeface="Helvetica" pitchFamily="2" charset="0"/>
              </a:rPr>
              <a:t>第二个方案并</a:t>
            </a:r>
            <a:r>
              <a:rPr lang="zh-CN" altLang="en-US" dirty="0">
                <a:effectLst/>
                <a:latin typeface="Helvetica" pitchFamily="2" charset="0"/>
              </a:rPr>
              <a:t>不太在意这个方案是不是符合大家所认为的持续集成的定义。由于每个需求都是在完成初步验证后才合入集成分支的，因此不会因为功能做了一半或者质量很差而干扰到集成分支。如果将来有问题，则很容易用 </a:t>
            </a:r>
            <a:r>
              <a:rPr lang="en" altLang="zh-CN" dirty="0">
                <a:effectLst/>
                <a:latin typeface="Helvetica" pitchFamily="2" charset="0"/>
              </a:rPr>
              <a:t>Git </a:t>
            </a:r>
            <a:r>
              <a:rPr lang="zh-CN" altLang="en-US" dirty="0">
                <a:effectLst/>
                <a:latin typeface="Helvetica" pitchFamily="2" charset="0"/>
              </a:rPr>
              <a:t>命令从集成分支上把整个需求摘除。</a:t>
            </a:r>
          </a:p>
          <a:p>
            <a:pPr indent="457200">
              <a:spcAft>
                <a:spcPts val="600"/>
              </a:spcAft>
            </a:pPr>
            <a:r>
              <a:rPr lang="zh-CN" altLang="en-US" dirty="0">
                <a:effectLst/>
                <a:latin typeface="Helvetica" pitchFamily="2" charset="0"/>
              </a:rPr>
              <a:t>虽然这个方案二有一个明显的弱点：需要等整个需求完成才能提交，这就不持续了。这样会遇到很多合并冲突，产生很多质量问题</a:t>
            </a:r>
            <a:r>
              <a:rPr lang="zh-CN" altLang="en-US" dirty="0">
                <a:latin typeface="Helvetica" pitchFamily="2" charset="0"/>
              </a:rPr>
              <a:t>。但是</a:t>
            </a:r>
            <a:r>
              <a:rPr lang="zh-CN" altLang="en-US" dirty="0">
                <a:effectLst/>
                <a:latin typeface="Helvetica" pitchFamily="2" charset="0"/>
              </a:rPr>
              <a:t>结果，方案二运转得很顺畅。</a:t>
            </a:r>
          </a:p>
          <a:p>
            <a:endParaRPr kumimoji="1"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66</a:t>
            </a:fld>
            <a:endParaRPr lang="zh-CN" altLang="en-US"/>
          </a:p>
        </p:txBody>
      </p:sp>
    </p:spTree>
    <p:extLst>
      <p:ext uri="{BB962C8B-B14F-4D97-AF65-F5344CB8AC3E}">
        <p14:creationId xmlns:p14="http://schemas.microsoft.com/office/powerpoint/2010/main" val="54522938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538A16-44D0-4638-ACD6-43A88F095A2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29189097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C538A16-44D0-4638-ACD6-43A88F095A25}" type="slidenum">
              <a:rPr lang="zh-CN" altLang="en-US" smtClean="0"/>
              <a:t>68</a:t>
            </a:fld>
            <a:endParaRPr lang="zh-CN" altLang="en-US"/>
          </a:p>
        </p:txBody>
      </p:sp>
    </p:spTree>
    <p:extLst>
      <p:ext uri="{BB962C8B-B14F-4D97-AF65-F5344CB8AC3E}">
        <p14:creationId xmlns:p14="http://schemas.microsoft.com/office/powerpoint/2010/main" val="220145539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C538A16-44D0-4638-ACD6-43A88F095A25}" type="slidenum">
              <a:rPr lang="zh-CN" altLang="en-US" smtClean="0"/>
              <a:t>69</a:t>
            </a:fld>
            <a:endParaRPr lang="zh-CN" altLang="en-US"/>
          </a:p>
        </p:txBody>
      </p:sp>
    </p:spTree>
    <p:extLst>
      <p:ext uri="{BB962C8B-B14F-4D97-AF65-F5344CB8AC3E}">
        <p14:creationId xmlns:p14="http://schemas.microsoft.com/office/powerpoint/2010/main" val="105420472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a:p>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538A16-44D0-4638-ACD6-43A88F095A2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0608001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8C538A16-44D0-4638-ACD6-43A88F095A25}" type="slidenum">
              <a:rPr lang="zh-CN" altLang="en-US" smtClean="0"/>
              <a:t>71</a:t>
            </a:fld>
            <a:endParaRPr lang="zh-CN" altLang="en-US"/>
          </a:p>
        </p:txBody>
      </p:sp>
    </p:spTree>
    <p:extLst>
      <p:ext uri="{BB962C8B-B14F-4D97-AF65-F5344CB8AC3E}">
        <p14:creationId xmlns:p14="http://schemas.microsoft.com/office/powerpoint/2010/main" val="2212320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顾名思议，“主干开发，主干发布”是指工程师向主干上提交代码</a:t>
            </a:r>
            <a:r>
              <a:rPr kumimoji="1" lang="en-US" altLang="zh-CN" dirty="0"/>
              <a:t>(</a:t>
            </a:r>
            <a:r>
              <a:rPr kumimoji="1" lang="zh-CN" altLang="en-US" dirty="0"/>
              <a:t>或者每个分支的生存周期很短，如数小时，或少于</a:t>
            </a:r>
            <a:r>
              <a:rPr kumimoji="1" lang="en-US" altLang="zh-CN" dirty="0"/>
              <a:t>1</a:t>
            </a:r>
            <a:r>
              <a:rPr kumimoji="1" lang="zh-CN" altLang="en-US" dirty="0"/>
              <a:t>天</a:t>
            </a:r>
            <a:r>
              <a:rPr kumimoji="1" lang="en-US" altLang="zh-CN" dirty="0"/>
              <a:t>)</a:t>
            </a:r>
            <a:r>
              <a:rPr kumimoji="1" lang="zh-CN" altLang="en-US" dirty="0"/>
              <a:t>，并用主干代码进行软件交付 </a:t>
            </a:r>
            <a:r>
              <a:rPr kumimoji="1" lang="en-US" altLang="zh-CN" dirty="0"/>
              <a:t>(</a:t>
            </a:r>
            <a:r>
              <a:rPr kumimoji="1" lang="zh-CN" altLang="en-US" dirty="0"/>
              <a:t>如上图所示</a:t>
            </a:r>
            <a:r>
              <a:rPr kumimoji="1" lang="en-US" altLang="zh-CN" dirty="0"/>
              <a:t>)</a:t>
            </a:r>
            <a:r>
              <a:rPr kumimoji="1" lang="zh-CN" altLang="en-US" dirty="0"/>
              <a:t>。也就是说，所有新特性的开发，代码均提交到主干 </a:t>
            </a:r>
            <a:r>
              <a:rPr kumimoji="1" lang="en-US" altLang="zh-CN" dirty="0"/>
              <a:t>(trunk) </a:t>
            </a:r>
            <a:r>
              <a:rPr kumimoji="1" lang="zh-CN" altLang="en-US" dirty="0"/>
              <a:t>上：当需要发布新功能时，直接将主干上的代码部署到生产环境上。</a:t>
            </a:r>
            <a:endParaRPr kumimoji="1" lang="en-US" altLang="zh-CN" dirty="0"/>
          </a:p>
          <a:p>
            <a:r>
              <a:rPr kumimoji="1" lang="zh-CN" altLang="en-US" dirty="0"/>
              <a:t>根据交付频率不同，可以分为低频交付和高频交付两类。</a:t>
            </a:r>
            <a:endParaRPr kumimoji="1" lang="en-US" altLang="zh-CN" dirty="0"/>
          </a:p>
          <a:p>
            <a:endParaRPr kumimoji="1" lang="en-US" altLang="zh-CN" dirty="0"/>
          </a:p>
          <a:p>
            <a:r>
              <a:rPr kumimoji="1" lang="zh-CN" altLang="en-US" dirty="0"/>
              <a:t>低频交付类型常见于一些周期比较长的大型软件开发项目，也是一种最古老的软件开发模式，当时的</a:t>
            </a:r>
            <a:r>
              <a:rPr kumimoji="1" lang="en-US" altLang="zh-CN" dirty="0"/>
              <a:t>IT</a:t>
            </a:r>
            <a:r>
              <a:rPr kumimoji="1" lang="zh-CN" altLang="en-US" dirty="0"/>
              <a:t>行业是以数年或数月为一个交付周期。在低频工作模式下，其主干代码总是长时间处于不可用状态，只有在项目内所有功能的代码开发完成后，才开始进行软件联调和集成测试工作。在开发期间，版本控制系统的作用仅仅是确保代码不丢失，是纯粹的代码备份仓库。</a:t>
            </a:r>
            <a:endParaRPr kumimoji="1" lang="en-US" altLang="zh-CN" dirty="0"/>
          </a:p>
          <a:p>
            <a:endParaRPr kumimoji="1" lang="en-US" altLang="zh-CN" dirty="0"/>
          </a:p>
          <a:p>
            <a:r>
              <a:rPr kumimoji="1" lang="zh-CN" altLang="en-US" dirty="0"/>
              <a:t>高频交付类型是指代码库中的代码发布频率较高，通常每天都会发布一次，甚至多次。高频交付子类型常见于具有比较完备的交付基础设施</a:t>
            </a:r>
            <a:r>
              <a:rPr kumimoji="1" lang="en-US" altLang="zh-CN" dirty="0"/>
              <a:t>(</a:t>
            </a:r>
            <a:r>
              <a:rPr kumimoji="1" lang="zh-CN" altLang="en-US" dirty="0"/>
              <a:t>自动化配置构建、自动化测试自动化运维、自动化监控与报警等</a:t>
            </a:r>
            <a:r>
              <a:rPr kumimoji="1" lang="en-US" altLang="zh-CN" dirty="0"/>
              <a:t>) </a:t>
            </a:r>
            <a:r>
              <a:rPr kumimoji="1" lang="zh-CN" altLang="en-US" dirty="0"/>
              <a:t>的互联网产品团队，通常也有快速缺陷修复能力，尤其适用于后台服务端产品形态 </a:t>
            </a:r>
            <a:r>
              <a:rPr kumimoji="1" lang="en-US" altLang="zh-CN" dirty="0"/>
              <a:t>(</a:t>
            </a:r>
            <a:r>
              <a:rPr kumimoji="1" lang="zh-CN" altLang="en-US" dirty="0"/>
              <a:t>如</a:t>
            </a:r>
            <a:r>
              <a:rPr kumimoji="1" lang="en-US" altLang="zh-CN" dirty="0"/>
              <a:t>Web</a:t>
            </a:r>
            <a:r>
              <a:rPr kumimoji="1" lang="zh-CN" altLang="en-US" dirty="0"/>
              <a:t>网站或</a:t>
            </a:r>
            <a:r>
              <a:rPr kumimoji="1" lang="en-US" altLang="zh-CN" dirty="0"/>
              <a:t>SaaS</a:t>
            </a:r>
            <a:r>
              <a:rPr kumimoji="1" lang="zh-CN" altLang="en-US" dirty="0"/>
              <a:t>软件的后台服务</a:t>
            </a:r>
            <a:r>
              <a:rPr kumimoji="1" lang="en-US" altLang="zh-CN" dirty="0"/>
              <a:t>)</a:t>
            </a:r>
            <a:r>
              <a:rPr kumimoji="1" lang="zh-CN" altLang="en-US" dirty="0"/>
              <a:t>。</a:t>
            </a:r>
            <a:endParaRPr kumimoji="1" lang="en-US" altLang="zh-CN" dirty="0"/>
          </a:p>
          <a:p>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72</a:t>
            </a:fld>
            <a:endParaRPr lang="zh-CN" altLang="en-US"/>
          </a:p>
        </p:txBody>
      </p:sp>
    </p:spTree>
    <p:extLst>
      <p:ext uri="{BB962C8B-B14F-4D97-AF65-F5344CB8AC3E}">
        <p14:creationId xmlns:p14="http://schemas.microsoft.com/office/powerpoint/2010/main" val="274188751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a:p>
            <a:r>
              <a:rPr kumimoji="1" lang="zh-CN" altLang="en-US" dirty="0"/>
              <a:t>这种模式的优点在于分支方式简单，因此分支管理工作量较少</a:t>
            </a:r>
            <a:r>
              <a:rPr kumimoji="1" lang="en-US" altLang="zh-CN" dirty="0"/>
              <a:t>(</a:t>
            </a:r>
            <a:r>
              <a:rPr kumimoji="1" lang="zh-CN" altLang="en-US" dirty="0"/>
              <a:t>如代码合并成本</a:t>
            </a:r>
            <a:r>
              <a:rPr kumimoji="1" lang="en-US" altLang="zh-CN" dirty="0"/>
              <a:t>)</a:t>
            </a:r>
            <a:r>
              <a:rPr kumimoji="1" lang="zh-CN" altLang="en-US" dirty="0"/>
              <a:t>，但也存在弱点。</a:t>
            </a:r>
            <a:endParaRPr kumimoji="1" lang="en-US" altLang="zh-CN" dirty="0"/>
          </a:p>
          <a:p>
            <a:endParaRPr kumimoji="1" lang="en-US" altLang="zh-CN" dirty="0"/>
          </a:p>
          <a:p>
            <a:r>
              <a:rPr kumimoji="1" lang="zh-CN" altLang="en-US" dirty="0"/>
              <a:t>例如，针对低频交付模式，其项目后期的缺陷修复阶段，并不是团队所有人都需要做缺陷修复，会有一定的资源浪费。</a:t>
            </a:r>
            <a:endParaRPr kumimoji="1" lang="en-US" altLang="zh-CN" dirty="0"/>
          </a:p>
          <a:p>
            <a:endParaRPr kumimoji="1" lang="en-US" altLang="zh-CN" dirty="0"/>
          </a:p>
          <a:p>
            <a:r>
              <a:rPr kumimoji="1" lang="zh-CN" altLang="en-US" dirty="0"/>
              <a:t>针对高频交付模式，由于多人向主干上频繁提交代码，其代码变动非常快。假如某个开发人员拉出一个私有开发分支，并在该开发分支上进行开发，开发完成后再合并回主干。此时，他只有两种工作方式。一是每天从主干上更新代码到他自己的分支上。此时该开发人员很可能每天需要一两个小时将主干上的代码与自己分支上的代码进行合并。二是不做每日更新，而是一段时间后 </a:t>
            </a:r>
            <a:r>
              <a:rPr kumimoji="1" lang="en-US" altLang="zh-CN" dirty="0"/>
              <a:t>(</a:t>
            </a:r>
            <a:r>
              <a:rPr kumimoji="1" lang="zh-CN" altLang="en-US" dirty="0"/>
              <a:t>例如在分支上开发完成特性</a:t>
            </a:r>
            <a:r>
              <a:rPr kumimoji="1" lang="en-US" altLang="zh-CN" dirty="0"/>
              <a:t>) </a:t>
            </a:r>
            <a:r>
              <a:rPr kumimoji="1" lang="zh-CN" altLang="en-US" dirty="0"/>
              <a:t>之后，再向主干合并。此时很可能由于主干上的代码变化太大，导致自己这个分支上的代码已经无法再合并回去了</a:t>
            </a:r>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73</a:t>
            </a:fld>
            <a:endParaRPr lang="zh-CN" altLang="en-US"/>
          </a:p>
        </p:txBody>
      </p:sp>
    </p:spTree>
    <p:extLst>
      <p:ext uri="{BB962C8B-B14F-4D97-AF65-F5344CB8AC3E}">
        <p14:creationId xmlns:p14="http://schemas.microsoft.com/office/powerpoint/2010/main" val="89263582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这种开发模式是指：</a:t>
            </a:r>
            <a:endParaRPr kumimoji="1" lang="en-US" altLang="zh-CN" dirty="0"/>
          </a:p>
          <a:p>
            <a:r>
              <a:rPr kumimoji="1" lang="zh-CN" altLang="en-US" dirty="0"/>
              <a:t>开发人员将写好的代码提交到主干</a:t>
            </a:r>
            <a:r>
              <a:rPr kumimoji="1" lang="en-US" altLang="zh-CN" dirty="0"/>
              <a:t>;</a:t>
            </a:r>
          </a:p>
          <a:p>
            <a:r>
              <a:rPr kumimoji="1" lang="zh-CN" altLang="en-US" dirty="0"/>
              <a:t>当新版本的功能全部开发完成或者已经接近版本发布时间点的时候，从主干上拉出一个新的分支</a:t>
            </a:r>
            <a:r>
              <a:rPr kumimoji="1" lang="en-US" altLang="zh-CN" dirty="0"/>
              <a:t>;</a:t>
            </a:r>
          </a:p>
          <a:p>
            <a:r>
              <a:rPr kumimoji="1" lang="zh-CN" altLang="en-US" dirty="0"/>
              <a:t>在这个新的分支上进行集成测试，并修复缺陷，进行版本质量打磨。当质量达标后，再对外发布该版本。</a:t>
            </a:r>
            <a:endParaRPr kumimoji="1" lang="en-US" altLang="zh-CN" dirty="0"/>
          </a:p>
          <a:p>
            <a:endParaRPr kumimoji="1" lang="en-US" altLang="zh-CN" dirty="0"/>
          </a:p>
          <a:p>
            <a:r>
              <a:rPr kumimoji="1" lang="zh-CN" altLang="en-US" dirty="0"/>
              <a:t>这种开发模式的特点是：主干代码提交活动频繁，对保障主干代码质量有较大的挑战</a:t>
            </a:r>
            <a:r>
              <a:rPr kumimoji="1" lang="en-US" altLang="zh-CN" dirty="0"/>
              <a:t>;</a:t>
            </a:r>
          </a:p>
          <a:p>
            <a:r>
              <a:rPr kumimoji="1" lang="zh-CN" altLang="en-US" dirty="0"/>
              <a:t>分支只修复缺陷，不增加新功能</a:t>
            </a:r>
            <a:r>
              <a:rPr kumimoji="1" lang="en-US" altLang="zh-CN" dirty="0"/>
              <a:t>;</a:t>
            </a:r>
          </a:p>
          <a:p>
            <a:r>
              <a:rPr kumimoji="1" lang="zh-CN" altLang="en-US" dirty="0"/>
              <a:t>新版本发布后，如果发现严重缺陷，而且必须立即修复的话，只要在该版本所属的分支上修复后，再次发布补丁版本，然后将分支上的修改合并回主干即可。也可以在主干上修复缺陷，然后将针对该缺陷的修复代码挑出来 </a:t>
            </a:r>
            <a:r>
              <a:rPr kumimoji="1" lang="en-US" altLang="zh-CN" dirty="0"/>
              <a:t>(cherry-pick)</a:t>
            </a:r>
            <a:r>
              <a:rPr kumimoji="1" lang="zh-CN" altLang="en-US" dirty="0"/>
              <a:t>合并到该缺陷所在的分支上。</a:t>
            </a:r>
            <a:r>
              <a:rPr kumimoji="1" lang="en-US" altLang="zh-CN" dirty="0"/>
              <a:t>Facebook</a:t>
            </a:r>
            <a:r>
              <a:rPr kumimoji="1" lang="zh-CN" altLang="en-US" dirty="0"/>
              <a:t>的移动端产品开发流程就使用后面这种方式。</a:t>
            </a:r>
            <a:endParaRPr kumimoji="1" lang="en-US" altLang="zh-CN" dirty="0"/>
          </a:p>
          <a:p>
            <a:endParaRPr kumimoji="1" lang="en-US" altLang="zh-CN"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74</a:t>
            </a:fld>
            <a:endParaRPr lang="zh-CN" altLang="en-US"/>
          </a:p>
        </p:txBody>
      </p:sp>
    </p:spTree>
    <p:extLst>
      <p:ext uri="{BB962C8B-B14F-4D97-AF65-F5344CB8AC3E}">
        <p14:creationId xmlns:p14="http://schemas.microsoft.com/office/powerpoint/2010/main" val="410590085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该模式的优势在于：与将要发布的新功能无关的人员可以持续工作在开发主干上，不受版本发布的影响</a:t>
            </a:r>
            <a:r>
              <a:rPr kumimoji="1" lang="en-US" altLang="zh-CN" dirty="0"/>
              <a:t>;</a:t>
            </a:r>
          </a:p>
          <a:p>
            <a:r>
              <a:rPr kumimoji="1" lang="zh-CN" altLang="en-US" dirty="0"/>
              <a:t>新发布的版本出现缺陷后，可以直接在其自己的版本发布分支上进行修复，简单便捷。即使当前开发主干上的代码已经发生了较大的变化，该分支也不会受到影响。</a:t>
            </a:r>
            <a:endParaRPr kumimoji="1" lang="en-US" altLang="zh-CN" dirty="0"/>
          </a:p>
          <a:p>
            <a:endParaRPr kumimoji="1" lang="en-US" altLang="zh-CN" dirty="0"/>
          </a:p>
          <a:p>
            <a:r>
              <a:rPr kumimoji="1" lang="zh-CN" altLang="en-US" dirty="0"/>
              <a:t>其不足在于</a:t>
            </a:r>
            <a:r>
              <a:rPr kumimoji="1" lang="en-US" altLang="zh-CN" dirty="0"/>
              <a:t>:</a:t>
            </a:r>
          </a:p>
          <a:p>
            <a:r>
              <a:rPr kumimoji="1" lang="zh-CN" altLang="en-US" dirty="0"/>
              <a:t>主干上的代码通常只能针对下一个新发布版本的功能开发。只要新发布版本的任何功能在主干上还没有开发完成，就不能创建版本发布分支，否则很有可能影响下一个发布的开发计划，开源项目在发布时间点以及特性功能方面的压力小一些因此常常采用这种分支方式</a:t>
            </a:r>
            <a:r>
              <a:rPr kumimoji="1" lang="en-US" altLang="zh-CN" dirty="0"/>
              <a:t>;</a:t>
            </a:r>
          </a:p>
          <a:p>
            <a:r>
              <a:rPr kumimoji="1" lang="zh-CN" altLang="en-US" dirty="0"/>
              <a:t>使用这种开发模式，对发布分支的数量不加约束，并且分支周期较长，很容易出现“分支地狱”倾向，这种倾向常见于“系列化产品簇</a:t>
            </a:r>
            <a:r>
              <a:rPr kumimoji="1" lang="en-US" altLang="zh-CN" dirty="0"/>
              <a:t>+</a:t>
            </a:r>
            <a:r>
              <a:rPr kumimoji="1" lang="zh-CN" altLang="en-US" dirty="0"/>
              <a:t>个性化定制”的项目</a:t>
            </a:r>
          </a:p>
        </p:txBody>
      </p:sp>
      <p:sp>
        <p:nvSpPr>
          <p:cNvPr id="4" name="灯片编号占位符 3"/>
          <p:cNvSpPr>
            <a:spLocks noGrp="1"/>
          </p:cNvSpPr>
          <p:nvPr>
            <p:ph type="sldNum" sz="quarter" idx="5"/>
          </p:nvPr>
        </p:nvSpPr>
        <p:spPr/>
        <p:txBody>
          <a:bodyPr/>
          <a:lstStyle/>
          <a:p>
            <a:fld id="{8C538A16-44D0-4638-ACD6-43A88F095A25}" type="slidenum">
              <a:rPr lang="zh-CN" altLang="en-US" smtClean="0"/>
              <a:t>75</a:t>
            </a:fld>
            <a:endParaRPr lang="zh-CN" altLang="en-US"/>
          </a:p>
        </p:txBody>
      </p:sp>
    </p:spTree>
    <p:extLst>
      <p:ext uri="{BB962C8B-B14F-4D97-AF65-F5344CB8AC3E}">
        <p14:creationId xmlns:p14="http://schemas.microsoft.com/office/powerpoint/2010/main" val="147774450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该硬件设备最初只有一种类型，其类别定义为</a:t>
            </a:r>
            <a:r>
              <a:rPr kumimoji="1" lang="en-US" altLang="zh-CN" dirty="0"/>
              <a:t>A</a:t>
            </a:r>
            <a:r>
              <a:rPr kumimoji="1" lang="zh-CN" altLang="en-US" dirty="0"/>
              <a:t>，型号是</a:t>
            </a:r>
            <a:r>
              <a:rPr kumimoji="1" lang="en-US" altLang="zh-CN" dirty="0"/>
              <a:t>x</a:t>
            </a:r>
            <a:r>
              <a:rPr kumimoji="1" lang="zh-CN" altLang="en-US" dirty="0"/>
              <a:t>，对应软件的发布版本为</a:t>
            </a:r>
            <a:r>
              <a:rPr kumimoji="1" lang="en-US" altLang="zh-CN" dirty="0"/>
              <a:t>Ax1.0</a:t>
            </a:r>
            <a:r>
              <a:rPr kumimoji="1" lang="zh-CN" altLang="en-US" dirty="0"/>
              <a:t>。发布以后，客户提出了同类别不同型号的紧急需求，公司为了能够快速响应客户需求，从</a:t>
            </a:r>
            <a:r>
              <a:rPr kumimoji="1" lang="en-US" altLang="zh-CN" dirty="0"/>
              <a:t>Ax1.0</a:t>
            </a:r>
            <a:r>
              <a:rPr kumimoji="1" lang="zh-CN" altLang="en-US" dirty="0"/>
              <a:t>的产品分支上又拉出一个产品分支，名为</a:t>
            </a:r>
            <a:r>
              <a:rPr kumimoji="1" lang="en-US" altLang="zh-CN" dirty="0"/>
              <a:t>Ay</a:t>
            </a:r>
            <a:r>
              <a:rPr kumimoji="1" lang="zh-CN" altLang="en-US" dirty="0"/>
              <a:t>分支，其发布版本为</a:t>
            </a:r>
            <a:r>
              <a:rPr kumimoji="1" lang="en-US" altLang="zh-CN" dirty="0"/>
              <a:t>Ay2.0</a:t>
            </a:r>
            <a:r>
              <a:rPr kumimoji="1" lang="zh-CN" altLang="en-US" dirty="0"/>
              <a:t>。然后又在</a:t>
            </a:r>
            <a:r>
              <a:rPr kumimoji="1" lang="en-US" altLang="zh-CN" dirty="0"/>
              <a:t>Ay</a:t>
            </a:r>
            <a:r>
              <a:rPr kumimoji="1" lang="zh-CN" altLang="en-US" dirty="0"/>
              <a:t>的基础上开发了一个增强版</a:t>
            </a:r>
            <a:r>
              <a:rPr kumimoji="1" lang="en-US" altLang="zh-CN" dirty="0"/>
              <a:t>Az</a:t>
            </a:r>
            <a:r>
              <a:rPr kumimoji="1" lang="zh-CN" altLang="en-US" dirty="0"/>
              <a:t>，对应的分支及时间点如图</a:t>
            </a:r>
            <a:r>
              <a:rPr kumimoji="1" lang="en-US" altLang="zh-CN" dirty="0"/>
              <a:t>8-6</a:t>
            </a:r>
            <a:r>
              <a:rPr kumimoji="1" lang="zh-CN" altLang="en-US" dirty="0"/>
              <a:t>所示。随后在</a:t>
            </a:r>
            <a:r>
              <a:rPr kumimoji="1" lang="en-US" altLang="zh-CN" dirty="0"/>
              <a:t>Ax1.0</a:t>
            </a:r>
            <a:r>
              <a:rPr kumimoji="1" lang="zh-CN" altLang="en-US" dirty="0"/>
              <a:t>上发现了一个严重缺陷，需要增发</a:t>
            </a:r>
            <a:r>
              <a:rPr kumimoji="1" lang="en-US" altLang="zh-CN" dirty="0"/>
              <a:t>A1.01</a:t>
            </a:r>
            <a:r>
              <a:rPr kumimoji="1" lang="zh-CN" altLang="en-US" dirty="0"/>
              <a:t>补丁版本。该缺陷在</a:t>
            </a:r>
            <a:r>
              <a:rPr kumimoji="1" lang="en-US" altLang="zh-CN" dirty="0"/>
              <a:t>Ay</a:t>
            </a:r>
            <a:r>
              <a:rPr kumimoji="1" lang="zh-CN" altLang="en-US" dirty="0"/>
              <a:t>分支和</a:t>
            </a:r>
            <a:r>
              <a:rPr kumimoji="1" lang="en-US" altLang="zh-CN" dirty="0"/>
              <a:t>Az</a:t>
            </a:r>
            <a:r>
              <a:rPr kumimoji="1" lang="zh-CN" altLang="en-US" dirty="0"/>
              <a:t>分支上也同时存在。因此就要将修复缺陷的代码移植到主于及</a:t>
            </a:r>
            <a:r>
              <a:rPr kumimoji="1" lang="en-US" altLang="zh-CN" dirty="0"/>
              <a:t>Ay</a:t>
            </a:r>
            <a:r>
              <a:rPr kumimoji="1" lang="zh-CN" altLang="en-US" dirty="0"/>
              <a:t>和</a:t>
            </a:r>
            <a:r>
              <a:rPr kumimoji="1" lang="en-US" altLang="zh-CN" dirty="0"/>
              <a:t>Az</a:t>
            </a:r>
            <a:r>
              <a:rPr kumimoji="1" lang="zh-CN" altLang="en-US" dirty="0"/>
              <a:t>两个分支。</a:t>
            </a:r>
            <a:endParaRPr kumimoji="1" lang="en-US" altLang="zh-CN" dirty="0"/>
          </a:p>
          <a:p>
            <a:endParaRPr kumimoji="1" lang="en-US" altLang="zh-CN" dirty="0"/>
          </a:p>
          <a:p>
            <a:r>
              <a:rPr kumimoji="1" lang="zh-CN" altLang="en-US" dirty="0"/>
              <a:t>该公司以这种管理模式支持了更多类别和型号的产品。如上图中，公司开发了硬件产品</a:t>
            </a:r>
            <a:r>
              <a:rPr kumimoji="1" lang="en-US" altLang="zh-CN" dirty="0"/>
              <a:t>B</a:t>
            </a:r>
            <a:r>
              <a:rPr kumimoji="1" lang="zh-CN" altLang="en-US" dirty="0"/>
              <a:t>，而其软件版本是从主干分支上拉出，并先后发布了</a:t>
            </a:r>
            <a:r>
              <a:rPr kumimoji="1" lang="en-US" altLang="zh-CN" dirty="0"/>
              <a:t>B1.0</a:t>
            </a:r>
            <a:r>
              <a:rPr kumimoji="1" lang="zh-CN" altLang="en-US" dirty="0"/>
              <a:t>和</a:t>
            </a:r>
            <a:r>
              <a:rPr kumimoji="1" lang="en-US" altLang="zh-CN" dirty="0"/>
              <a:t>B1.01</a:t>
            </a:r>
            <a:r>
              <a:rPr kumimoji="1" lang="zh-CN" altLang="en-US" dirty="0"/>
              <a:t>。客户需要在</a:t>
            </a:r>
            <a:r>
              <a:rPr kumimoji="1" lang="en-US" altLang="zh-CN" dirty="0"/>
              <a:t>B</a:t>
            </a:r>
            <a:r>
              <a:rPr kumimoji="1" lang="zh-CN" altLang="en-US" dirty="0"/>
              <a:t>类型上也具有</a:t>
            </a:r>
            <a:r>
              <a:rPr kumimoji="1" lang="en-US" altLang="zh-CN" dirty="0"/>
              <a:t>Ay2</a:t>
            </a:r>
            <a:r>
              <a:rPr kumimoji="1" lang="zh-CN" altLang="en-US" dirty="0"/>
              <a:t>和</a:t>
            </a:r>
            <a:r>
              <a:rPr kumimoji="1" lang="en-US" altLang="zh-CN" dirty="0"/>
              <a:t>Az3</a:t>
            </a:r>
            <a:r>
              <a:rPr kumimoji="1" lang="zh-CN" altLang="en-US" dirty="0"/>
              <a:t>上的部分新功能特性，于是，公司决定从</a:t>
            </a:r>
            <a:r>
              <a:rPr kumimoji="1" lang="en-US" altLang="zh-CN" dirty="0"/>
              <a:t>Ay2.01</a:t>
            </a:r>
            <a:r>
              <a:rPr kumimoji="1" lang="zh-CN" altLang="en-US" dirty="0"/>
              <a:t>和</a:t>
            </a:r>
            <a:r>
              <a:rPr kumimoji="1" lang="en-US" altLang="zh-CN" dirty="0"/>
              <a:t>Az3.0</a:t>
            </a:r>
            <a:r>
              <a:rPr kumimoji="1" lang="zh-CN" altLang="en-US" dirty="0"/>
              <a:t>的分支上移植该新功能的代码到</a:t>
            </a:r>
            <a:r>
              <a:rPr kumimoji="1" lang="en-US" altLang="zh-CN" dirty="0"/>
              <a:t>B</a:t>
            </a:r>
            <a:r>
              <a:rPr kumimoji="1" lang="zh-CN" altLang="en-US" dirty="0"/>
              <a:t>分支上。</a:t>
            </a:r>
            <a:endParaRPr kumimoji="1" lang="en-US" altLang="zh-CN" dirty="0"/>
          </a:p>
          <a:p>
            <a:endParaRPr kumimoji="1" lang="en-US" altLang="zh-CN" dirty="0"/>
          </a:p>
          <a:p>
            <a:r>
              <a:rPr kumimoji="1" lang="zh-CN" altLang="en-US" dirty="0"/>
              <a:t>随着硬件类别和型号的不断衍生，研发团队效率越来越差。如上图的虚线处所示，团队终将疲于在分支间移植代码和测试。</a:t>
            </a:r>
            <a:endParaRPr kumimoji="1" lang="en-US" altLang="zh-CN" dirty="0"/>
          </a:p>
          <a:p>
            <a:endParaRPr kumimoji="1" lang="en-US" altLang="zh-CN" dirty="0"/>
          </a:p>
          <a:p>
            <a:r>
              <a:rPr kumimoji="1" lang="zh-CN" altLang="en-US" dirty="0"/>
              <a:t>这与</a:t>
            </a:r>
            <a:r>
              <a:rPr kumimoji="1" lang="en-US" altLang="zh-CN" dirty="0"/>
              <a:t>《</a:t>
            </a:r>
            <a:r>
              <a:rPr kumimoji="1" lang="zh-CN" altLang="en-US" dirty="0"/>
              <a:t>大规模敏捷开发实践</a:t>
            </a:r>
            <a:r>
              <a:rPr kumimoji="1" lang="en-US" altLang="zh-CN" dirty="0"/>
              <a:t>:</a:t>
            </a:r>
            <a:r>
              <a:rPr kumimoji="1" lang="en-US" altLang="zh-CN" dirty="0" err="1"/>
              <a:t>HPLaserJet</a:t>
            </a:r>
            <a:r>
              <a:rPr kumimoji="1" lang="zh-CN" altLang="en-US" dirty="0"/>
              <a:t>产品线敏捷转型的成功经验</a:t>
            </a:r>
            <a:r>
              <a:rPr kumimoji="1" lang="en-US" altLang="zh-CN" dirty="0"/>
              <a:t>》</a:t>
            </a:r>
            <a:r>
              <a:rPr kumimoji="1" lang="zh-CN" altLang="en-US" dirty="0"/>
              <a:t>一书中描述的</a:t>
            </a:r>
            <a:r>
              <a:rPr kumimoji="1" lang="en-US" altLang="zh-CN" dirty="0"/>
              <a:t>HP</a:t>
            </a:r>
            <a:r>
              <a:rPr kumimoji="1" lang="zh-CN" altLang="en-US" dirty="0"/>
              <a:t>激光打印机固件团队在</a:t>
            </a:r>
            <a:r>
              <a:rPr kumimoji="1" lang="en-US" altLang="zh-CN" dirty="0"/>
              <a:t>2008</a:t>
            </a:r>
            <a:r>
              <a:rPr kumimoji="1" lang="zh-CN" altLang="en-US" dirty="0"/>
              <a:t>年的状态相似。该团队仅有</a:t>
            </a:r>
            <a:r>
              <a:rPr kumimoji="1" lang="en-US" altLang="zh-CN" dirty="0"/>
              <a:t>5%</a:t>
            </a:r>
            <a:r>
              <a:rPr kumimoji="1" lang="zh-CN" altLang="en-US" dirty="0"/>
              <a:t>的资源用于新功能的开发而各分支间移植代码会占用团队</a:t>
            </a:r>
            <a:r>
              <a:rPr kumimoji="1" lang="en-US" altLang="zh-CN" dirty="0"/>
              <a:t>25%</a:t>
            </a:r>
            <a:r>
              <a:rPr kumimoji="1" lang="zh-CN" altLang="en-US" dirty="0"/>
              <a:t>的时间，如图</a:t>
            </a:r>
            <a:r>
              <a:rPr kumimoji="1" lang="en-US" altLang="zh-CN" dirty="0"/>
              <a:t>8-7</a:t>
            </a:r>
            <a:r>
              <a:rPr kumimoji="1" lang="zh-CN" altLang="en-US" dirty="0"/>
              <a:t>所示。</a:t>
            </a:r>
          </a:p>
        </p:txBody>
      </p:sp>
      <p:sp>
        <p:nvSpPr>
          <p:cNvPr id="4" name="灯片编号占位符 3"/>
          <p:cNvSpPr>
            <a:spLocks noGrp="1"/>
          </p:cNvSpPr>
          <p:nvPr>
            <p:ph type="sldNum" sz="quarter" idx="5"/>
          </p:nvPr>
        </p:nvSpPr>
        <p:spPr/>
        <p:txBody>
          <a:bodyPr/>
          <a:lstStyle/>
          <a:p>
            <a:fld id="{8C538A16-44D0-4638-ACD6-43A88F095A25}" type="slidenum">
              <a:rPr lang="zh-CN" altLang="en-US" smtClean="0"/>
              <a:t>76</a:t>
            </a:fld>
            <a:endParaRPr lang="zh-CN" altLang="en-US"/>
          </a:p>
        </p:txBody>
      </p:sp>
    </p:spTree>
    <p:extLst>
      <p:ext uri="{BB962C8B-B14F-4D97-AF65-F5344CB8AC3E}">
        <p14:creationId xmlns:p14="http://schemas.microsoft.com/office/powerpoint/2010/main" val="368210732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当前最为广泛使用的一种方式</a:t>
            </a:r>
            <a:endParaRPr kumimoji="1" lang="en-US" altLang="zh-CN" dirty="0"/>
          </a:p>
          <a:p>
            <a:r>
              <a:rPr kumimoji="1" lang="zh-CN" altLang="en-US" dirty="0"/>
              <a:t>这种模式是指：</a:t>
            </a:r>
            <a:endParaRPr kumimoji="1" lang="en-US" altLang="zh-CN" dirty="0"/>
          </a:p>
          <a:p>
            <a:r>
              <a:rPr kumimoji="1" lang="zh-CN" altLang="en-US" dirty="0"/>
              <a:t>团队从主干上拉出分支，并在分支上开发软件新功能或修复缺陷</a:t>
            </a:r>
            <a:r>
              <a:rPr kumimoji="1" lang="en-US" altLang="zh-CN" dirty="0"/>
              <a:t>;</a:t>
            </a:r>
          </a:p>
          <a:p>
            <a:r>
              <a:rPr kumimoji="1" lang="zh-CN" altLang="en-US" dirty="0"/>
              <a:t>当某个分支</a:t>
            </a:r>
            <a:r>
              <a:rPr kumimoji="1" lang="en-US" altLang="zh-CN" dirty="0"/>
              <a:t>(</a:t>
            </a:r>
            <a:r>
              <a:rPr kumimoji="1" lang="zh-CN" altLang="en-US" dirty="0"/>
              <a:t>或多个分支</a:t>
            </a:r>
            <a:r>
              <a:rPr kumimoji="1" lang="en-US" altLang="zh-CN" dirty="0"/>
              <a:t>)</a:t>
            </a:r>
            <a:r>
              <a:rPr kumimoji="1" lang="zh-CN" altLang="en-US" dirty="0"/>
              <a:t>上的功能开发完成后要对外发布版本时，才合入主干；</a:t>
            </a:r>
            <a:endParaRPr kumimoji="1" lang="en-US" altLang="zh-CN" dirty="0"/>
          </a:p>
          <a:p>
            <a:r>
              <a:rPr kumimoji="1" lang="zh-CN" altLang="en-US" dirty="0"/>
              <a:t>通常在主干上进行缺陷修复，质量达标后，再将主干上的代码打包发布。</a:t>
            </a:r>
            <a:endParaRPr kumimoji="1" lang="en-US" altLang="zh-CN" dirty="0"/>
          </a:p>
          <a:p>
            <a:endParaRPr kumimoji="1" lang="en-US" altLang="zh-CN" dirty="0"/>
          </a:p>
          <a:p>
            <a:r>
              <a:rPr kumimoji="1" lang="zh-CN" altLang="en-US" dirty="0"/>
              <a:t>这种模式的优势在于</a:t>
            </a:r>
            <a:r>
              <a:rPr kumimoji="1" lang="en-US" altLang="zh-CN" dirty="0"/>
              <a:t>:</a:t>
            </a:r>
            <a:r>
              <a:rPr kumimoji="1" lang="zh-CN" altLang="en-US" dirty="0"/>
              <a:t>在分支合并之前，每个分支之间的开发活动互相不受影响</a:t>
            </a:r>
            <a:r>
              <a:rPr kumimoji="1" lang="en-US" altLang="zh-CN" dirty="0"/>
              <a:t>;</a:t>
            </a:r>
          </a:p>
          <a:p>
            <a:r>
              <a:rPr kumimoji="1" lang="zh-CN" altLang="en-US" dirty="0"/>
              <a:t>团队可以自由选择发布哪个分支上的特性</a:t>
            </a:r>
            <a:r>
              <a:rPr kumimoji="1" lang="en-US" altLang="zh-CN" dirty="0"/>
              <a:t>;</a:t>
            </a:r>
          </a:p>
          <a:p>
            <a:r>
              <a:rPr kumimoji="1" lang="zh-CN" altLang="en-US" dirty="0"/>
              <a:t>如果新版本出现缺陷，可以直接在主干上进行修复或者使用</a:t>
            </a:r>
            <a:r>
              <a:rPr kumimoji="1" lang="en-US" altLang="zh-CN" dirty="0"/>
              <a:t>hotfix</a:t>
            </a:r>
            <a:r>
              <a:rPr kumimoji="1" lang="zh-CN" altLang="en-US" dirty="0"/>
              <a:t>分支修复，简单便捷，无须考虑其他分支。</a:t>
            </a:r>
            <a:endParaRPr kumimoji="1" lang="en-US" altLang="zh-CN" dirty="0"/>
          </a:p>
          <a:p>
            <a:endParaRPr kumimoji="1" lang="en-US" altLang="zh-CN" dirty="0"/>
          </a:p>
          <a:p>
            <a:endParaRPr kumimoji="1" lang="en-US" altLang="zh-CN" dirty="0"/>
          </a:p>
          <a:p>
            <a:r>
              <a:rPr kumimoji="1" lang="zh-CN" altLang="en-US" dirty="0"/>
              <a:t>若想成功使用这种模式，其关键点在于</a:t>
            </a:r>
            <a:r>
              <a:rPr kumimoji="1" lang="en-US" altLang="zh-CN" dirty="0"/>
              <a:t>:</a:t>
            </a:r>
            <a:r>
              <a:rPr kumimoji="1" lang="zh-CN" altLang="en-US" dirty="0"/>
              <a:t>让主干尽可能一直保持在可发布状态</a:t>
            </a:r>
            <a:r>
              <a:rPr kumimoji="1" lang="en-US" altLang="zh-CN" dirty="0"/>
              <a:t>;</a:t>
            </a:r>
            <a:r>
              <a:rPr kumimoji="1" lang="zh-CN" altLang="en-US" dirty="0"/>
              <a:t>每个分支的生命周期应该尽可能短</a:t>
            </a:r>
            <a:r>
              <a:rPr kumimoji="1" lang="en-US" altLang="zh-CN" dirty="0"/>
              <a:t>;</a:t>
            </a:r>
            <a:r>
              <a:rPr kumimoji="1" lang="zh-CN" altLang="en-US" dirty="0"/>
              <a:t>主干代码尽早与分支同步，一切以主干代码为准，尽可能不要在各特性分支之间合并代码。</a:t>
            </a:r>
          </a:p>
        </p:txBody>
      </p:sp>
      <p:sp>
        <p:nvSpPr>
          <p:cNvPr id="4" name="灯片编号占位符 3"/>
          <p:cNvSpPr>
            <a:spLocks noGrp="1"/>
          </p:cNvSpPr>
          <p:nvPr>
            <p:ph type="sldNum" sz="quarter" idx="5"/>
          </p:nvPr>
        </p:nvSpPr>
        <p:spPr/>
        <p:txBody>
          <a:bodyPr/>
          <a:lstStyle/>
          <a:p>
            <a:fld id="{8C538A16-44D0-4638-ACD6-43A88F095A25}" type="slidenum">
              <a:rPr lang="zh-CN" altLang="en-US" smtClean="0"/>
              <a:t>77</a:t>
            </a:fld>
            <a:endParaRPr lang="zh-CN" altLang="en-US"/>
          </a:p>
        </p:txBody>
      </p:sp>
    </p:spTree>
    <p:extLst>
      <p:ext uri="{BB962C8B-B14F-4D97-AF65-F5344CB8AC3E}">
        <p14:creationId xmlns:p14="http://schemas.microsoft.com/office/powerpoint/2010/main" val="368175730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按照分支存在的周期和目的，这种发布模式，还可以分成特性分支模式和团队分支模式</a:t>
            </a:r>
            <a:endParaRPr kumimoji="1" lang="en-US" altLang="zh-CN" dirty="0"/>
          </a:p>
          <a:p>
            <a:endParaRPr kumimoji="1" lang="en-US" altLang="zh-CN" dirty="0"/>
          </a:p>
          <a:p>
            <a:r>
              <a:rPr kumimoji="1" lang="zh-CN" altLang="en-US" dirty="0"/>
              <a:t>特性分支模式，是在开发过程中，允许多个开发分支同时存在，且每个分支对应一个功能特性的开发工作。当该特性开发完成后，立即合入主干，其他尚未合入主干的特性分支需要从主干拉取主干代码，与自己的分支上的代码合并后，才能再合回主干。</a:t>
            </a:r>
            <a:endParaRPr kumimoji="1" lang="en-US" altLang="zh-CN" dirty="0"/>
          </a:p>
          <a:p>
            <a:endParaRPr kumimoji="1" lang="en-US" altLang="zh-CN" dirty="0"/>
          </a:p>
          <a:p>
            <a:r>
              <a:rPr kumimoji="1" lang="zh-CN" altLang="en-US" dirty="0"/>
              <a:t>该模式的目的是：让团队更容易在“特性”这个层次上并行工作，同时保持主干的稳定可发布状态。其优势在于每次发布的内容调整起来比较容易。假如某个新功能或者缺陷在版本发布时间点之前无法完成，则不必合入主于中，也不会影响其他功能的发布时间点。</a:t>
            </a:r>
            <a:endParaRPr kumimoji="1" lang="en-US" altLang="zh-CN" dirty="0"/>
          </a:p>
          <a:p>
            <a:endParaRPr kumimoji="1" lang="en-US" altLang="zh-CN" dirty="0"/>
          </a:p>
          <a:p>
            <a:r>
              <a:rPr kumimoji="1" lang="zh-CN" altLang="en-US" dirty="0"/>
              <a:t>但这种模式也有不足：如果特性分支过多，会带来比较多的合并成本。例如，每当某个特性分支开发完成打算合入主干时，都需要与主干的代码合并，并进行质量验证。一旦主干代码的质量验证通过，其他分支此时都应该从主干上拉取最近的通过质量验证的新代码。否则，如果在特性开发完成后再与主干合并，那么这种一次性合并会带来较大的工作量和质量验证工作。比如上面这张图中所示，特性</a:t>
            </a:r>
            <a:r>
              <a:rPr kumimoji="1" lang="en-US" altLang="zh-CN" dirty="0"/>
              <a:t>2</a:t>
            </a:r>
            <a:r>
              <a:rPr kumimoji="1" lang="zh-CN" altLang="en-US" dirty="0"/>
              <a:t>分支需要合并特性</a:t>
            </a:r>
            <a:r>
              <a:rPr kumimoji="1" lang="en-US" altLang="zh-CN" dirty="0"/>
              <a:t>1</a:t>
            </a:r>
            <a:r>
              <a:rPr kumimoji="1" lang="zh-CN" altLang="en-US" dirty="0"/>
              <a:t>、</a:t>
            </a:r>
            <a:r>
              <a:rPr kumimoji="1" lang="en-US" altLang="zh-CN" dirty="0"/>
              <a:t>3</a:t>
            </a:r>
            <a:r>
              <a:rPr kumimoji="1" lang="zh-CN" altLang="en-US" dirty="0"/>
              <a:t>和</a:t>
            </a:r>
            <a:r>
              <a:rPr kumimoji="1" lang="en-US" altLang="zh-CN" dirty="0"/>
              <a:t>4</a:t>
            </a:r>
            <a:r>
              <a:rPr kumimoji="1" lang="zh-CN" altLang="en-US" dirty="0"/>
              <a:t>的代码。</a:t>
            </a:r>
            <a:endParaRPr kumimoji="1" lang="en-US" altLang="zh-CN" dirty="0"/>
          </a:p>
          <a:p>
            <a:endParaRPr kumimoji="1" lang="en-US" altLang="zh-CN" dirty="0"/>
          </a:p>
          <a:p>
            <a:r>
              <a:rPr kumimoji="1" lang="zh-CN" altLang="en-US" dirty="0"/>
              <a:t>如果想让特性分支方式更好地工作，需要做好下面的管理。</a:t>
            </a:r>
            <a:endParaRPr kumimoji="1" lang="en-US" altLang="zh-CN" dirty="0"/>
          </a:p>
          <a:p>
            <a:r>
              <a:rPr kumimoji="1" lang="en-US" altLang="zh-CN" dirty="0"/>
              <a:t>(1)</a:t>
            </a:r>
            <a:r>
              <a:rPr kumimoji="1" lang="zh-CN" altLang="en-US" dirty="0"/>
              <a:t>每个特性分支的生命周期都应该很短，分支上的开发和测试工作尽量在</a:t>
            </a:r>
            <a:r>
              <a:rPr kumimoji="1" lang="en-US" altLang="zh-CN" dirty="0"/>
              <a:t>3</a:t>
            </a:r>
            <a:r>
              <a:rPr kumimoji="1" lang="zh-CN" altLang="en-US" dirty="0"/>
              <a:t>天内完成。这要求尽可能将“特性”拆分成小需求。 </a:t>
            </a:r>
            <a:endParaRPr kumimoji="1" lang="en-US" altLang="zh-CN" dirty="0"/>
          </a:p>
          <a:p>
            <a:r>
              <a:rPr kumimoji="1" lang="en-US" altLang="zh-CN" dirty="0"/>
              <a:t>(2)</a:t>
            </a:r>
            <a:r>
              <a:rPr kumimoji="1" lang="zh-CN" altLang="en-US" dirty="0"/>
              <a:t>开发人员每天从主干上拉取最新的可交付代码，与自己的分支合并。</a:t>
            </a:r>
            <a:endParaRPr kumimoji="1" lang="en-US" altLang="zh-CN" dirty="0"/>
          </a:p>
          <a:p>
            <a:r>
              <a:rPr kumimoji="1" lang="en-US" altLang="zh-CN" dirty="0"/>
              <a:t>(3)</a:t>
            </a:r>
            <a:r>
              <a:rPr kumimoji="1" lang="zh-CN" altLang="en-US" dirty="0"/>
              <a:t>不要从其他特性分支上拉取代码。</a:t>
            </a:r>
            <a:endParaRPr kumimoji="1" lang="en-US" altLang="zh-CN"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78</a:t>
            </a:fld>
            <a:endParaRPr lang="zh-CN" altLang="en-US"/>
          </a:p>
        </p:txBody>
      </p:sp>
    </p:spTree>
    <p:extLst>
      <p:ext uri="{BB962C8B-B14F-4D97-AF65-F5344CB8AC3E}">
        <p14:creationId xmlns:p14="http://schemas.microsoft.com/office/powerpoint/2010/main" val="92210809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按照分支存在的周期和目的，这种发布模式，还可以分成特性分支模式和团队分支模式</a:t>
            </a:r>
            <a:endParaRPr kumimoji="1" lang="en-US" altLang="zh-CN" dirty="0"/>
          </a:p>
          <a:p>
            <a:endParaRPr kumimoji="1" lang="en-US" altLang="zh-CN" dirty="0"/>
          </a:p>
          <a:p>
            <a:endParaRPr kumimoji="1" lang="en-US" altLang="zh-CN" dirty="0"/>
          </a:p>
          <a:p>
            <a:r>
              <a:rPr kumimoji="1" lang="zh-CN" altLang="en-US" dirty="0"/>
              <a:t>团队分支模式通常出现于规模较大的团队 </a:t>
            </a:r>
            <a:r>
              <a:rPr kumimoji="1" lang="en-US" altLang="zh-CN" dirty="0"/>
              <a:t>(40</a:t>
            </a:r>
            <a:r>
              <a:rPr kumimoji="1" lang="zh-CN" altLang="en-US" dirty="0"/>
              <a:t>人以上</a:t>
            </a:r>
            <a:r>
              <a:rPr kumimoji="1" lang="en-US" altLang="zh-CN" dirty="0"/>
              <a:t>)</a:t>
            </a:r>
            <a:r>
              <a:rPr kumimoji="1" lang="zh-CN" altLang="en-US" dirty="0"/>
              <a:t>共同开发同一款产品，团队被分成多个组，每组开发不同的系统组件。只有当一系列功能特性开发完成后，才对外发布新的软件版本，很容易成为典型的瀑布开发流程</a:t>
            </a:r>
            <a:endParaRPr kumimoji="1" lang="en-US" altLang="zh-CN" dirty="0"/>
          </a:p>
          <a:p>
            <a:endParaRPr kumimoji="1" lang="en-US" altLang="zh-CN" dirty="0"/>
          </a:p>
          <a:p>
            <a:r>
              <a:rPr kumimoji="1" lang="zh-CN" altLang="en-US" dirty="0"/>
              <a:t>团队分支模式在通信公司的产品研发或大型客户端软件产品研发中比较常见。成功应用这种模式的关键在于</a:t>
            </a:r>
            <a:r>
              <a:rPr kumimoji="1" lang="en-US" altLang="zh-CN" dirty="0"/>
              <a:t>:</a:t>
            </a:r>
          </a:p>
          <a:p>
            <a:r>
              <a:rPr kumimoji="1" lang="en-US" altLang="zh-CN" dirty="0"/>
              <a:t>(1)</a:t>
            </a:r>
            <a:r>
              <a:rPr kumimoji="1" lang="zh-CN" altLang="en-US" dirty="0"/>
              <a:t>每个团队尽早向主干合入高质量的代码，即使不马上发布</a:t>
            </a:r>
            <a:r>
              <a:rPr kumimoji="1" lang="en-US" altLang="zh-CN" dirty="0"/>
              <a:t>;</a:t>
            </a:r>
          </a:p>
          <a:p>
            <a:r>
              <a:rPr kumimoji="1" lang="en-US" altLang="zh-CN" dirty="0"/>
              <a:t>(2)</a:t>
            </a:r>
            <a:r>
              <a:rPr kumimoji="1" lang="zh-CN" altLang="en-US" dirty="0"/>
              <a:t>向主干合入代码后，尽快使其达到可交付状态</a:t>
            </a:r>
            <a:r>
              <a:rPr kumimoji="1" lang="en-US" altLang="zh-CN" dirty="0"/>
              <a:t>;</a:t>
            </a:r>
          </a:p>
          <a:p>
            <a:r>
              <a:rPr kumimoji="1" lang="en-US" altLang="zh-CN" dirty="0"/>
              <a:t>(3)</a:t>
            </a:r>
            <a:r>
              <a:rPr kumimoji="1" lang="zh-CN" altLang="en-US" dirty="0"/>
              <a:t>其他团队尽早从主干拉取可交付状态的代码，与自己分支上的代码合并</a:t>
            </a:r>
          </a:p>
        </p:txBody>
      </p:sp>
      <p:sp>
        <p:nvSpPr>
          <p:cNvPr id="4" name="灯片编号占位符 3"/>
          <p:cNvSpPr>
            <a:spLocks noGrp="1"/>
          </p:cNvSpPr>
          <p:nvPr>
            <p:ph type="sldNum" sz="quarter" idx="5"/>
          </p:nvPr>
        </p:nvSpPr>
        <p:spPr/>
        <p:txBody>
          <a:bodyPr/>
          <a:lstStyle/>
          <a:p>
            <a:fld id="{8C538A16-44D0-4638-ACD6-43A88F095A25}" type="slidenum">
              <a:rPr lang="zh-CN" altLang="en-US" smtClean="0"/>
              <a:t>79</a:t>
            </a:fld>
            <a:endParaRPr lang="zh-CN" altLang="en-US"/>
          </a:p>
        </p:txBody>
      </p:sp>
    </p:spTree>
    <p:extLst>
      <p:ext uri="{BB962C8B-B14F-4D97-AF65-F5344CB8AC3E}">
        <p14:creationId xmlns:p14="http://schemas.microsoft.com/office/powerpoint/2010/main" val="132621284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驾马车分支模式是指软件开发团队仅维护</a:t>
            </a:r>
            <a:r>
              <a:rPr kumimoji="1" lang="en-US" altLang="zh-CN" dirty="0"/>
              <a:t>3</a:t>
            </a:r>
            <a:r>
              <a:rPr kumimoji="1" lang="zh-CN" altLang="en-US" dirty="0"/>
              <a:t>个分支，分别是开发分支、预发布分支和发布分支，在</a:t>
            </a:r>
            <a:r>
              <a:rPr kumimoji="1" lang="en-US" altLang="zh-CN" dirty="0"/>
              <a:t>2010</a:t>
            </a:r>
            <a:r>
              <a:rPr kumimoji="1" lang="zh-CN" altLang="en-US" dirty="0"/>
              <a:t>年时，</a:t>
            </a:r>
            <a:r>
              <a:rPr kumimoji="1" lang="en-US" altLang="zh-CN" dirty="0"/>
              <a:t>Chrome</a:t>
            </a:r>
            <a:r>
              <a:rPr kumimoji="1" lang="zh-CN" altLang="en-US" dirty="0"/>
              <a:t>浏览器就使用这种分支开发模式。</a:t>
            </a:r>
            <a:endParaRPr kumimoji="1" lang="en-US" altLang="zh-CN" dirty="0"/>
          </a:p>
          <a:p>
            <a:endParaRPr kumimoji="1" lang="en-US" altLang="zh-CN" dirty="0"/>
          </a:p>
          <a:p>
            <a:r>
              <a:rPr kumimoji="1" lang="zh-CN" altLang="en-US" dirty="0"/>
              <a:t>开发分支就是所有开发人员提交代码的目标分支。当开发分支上有足够多的新功能</a:t>
            </a:r>
            <a:r>
              <a:rPr kumimoji="1" lang="en-US" altLang="zh-CN" dirty="0"/>
              <a:t>(</a:t>
            </a:r>
            <a:r>
              <a:rPr kumimoji="1" lang="zh-CN" altLang="en-US" dirty="0"/>
              <a:t>或者即将接近既定的发布日</a:t>
            </a:r>
            <a:r>
              <a:rPr kumimoji="1" lang="en-US" altLang="zh-CN" dirty="0"/>
              <a:t>)</a:t>
            </a:r>
            <a:r>
              <a:rPr kumimoji="1" lang="zh-CN" altLang="en-US" dirty="0"/>
              <a:t>时，将该分支中准备发布的那些功能分捡到</a:t>
            </a:r>
            <a:r>
              <a:rPr kumimoji="1" lang="en-US" altLang="zh-CN" dirty="0"/>
              <a:t>(Cherry Pick)</a:t>
            </a:r>
            <a:r>
              <a:rPr kumimoji="1" lang="zh-CN" altLang="en-US" dirty="0"/>
              <a:t>预发布分支上。在这个预发布分支上只做缺陷修复、文档生成及与发布相关的工作，不做新功能开发。当团队认为该分支代码达到</a:t>
            </a:r>
            <a:r>
              <a:rPr kumimoji="1" lang="en-US" altLang="zh-CN" dirty="0"/>
              <a:t>Alpha</a:t>
            </a:r>
            <a:r>
              <a:rPr kumimoji="1" lang="zh-CN" altLang="en-US" dirty="0"/>
              <a:t>版本发布质量时，会发布一个</a:t>
            </a:r>
            <a:r>
              <a:rPr kumimoji="1" lang="en-US" altLang="zh-CN" dirty="0"/>
              <a:t>Alpha</a:t>
            </a:r>
            <a:r>
              <a:rPr kumimoji="1" lang="zh-CN" altLang="en-US" dirty="0"/>
              <a:t>版本</a:t>
            </a:r>
            <a:r>
              <a:rPr kumimoji="1" lang="en-US" altLang="zh-CN" dirty="0"/>
              <a:t>Alpha</a:t>
            </a:r>
            <a:r>
              <a:rPr kumimoji="1" lang="zh-CN" altLang="en-US" dirty="0"/>
              <a:t>版本只给极少用户进行体验。然后再进一步发布</a:t>
            </a:r>
            <a:r>
              <a:rPr kumimoji="1" lang="en-US" altLang="zh-CN" dirty="0"/>
              <a:t>Beta</a:t>
            </a:r>
            <a:r>
              <a:rPr kumimoji="1" lang="zh-CN" altLang="en-US" dirty="0"/>
              <a:t>版本，它主要是为了让尝鲜用户进行版本体验，以便尽早发现存在的质量问题，及时修正。当预发布分支上发布的</a:t>
            </a:r>
            <a:r>
              <a:rPr kumimoji="1" lang="en-US" altLang="zh-CN" dirty="0"/>
              <a:t>Beta</a:t>
            </a:r>
            <a:r>
              <a:rPr kumimoji="1" lang="zh-CN" altLang="en-US" dirty="0"/>
              <a:t>版本代码基本稳定后即将这部分代码合入发布分支并发布一个</a:t>
            </a:r>
            <a:r>
              <a:rPr kumimoji="1" lang="en-US" altLang="zh-CN" dirty="0"/>
              <a:t>RC</a:t>
            </a:r>
            <a:r>
              <a:rPr kumimoji="1" lang="zh-CN" altLang="en-US" dirty="0"/>
              <a:t>版本（</a:t>
            </a:r>
            <a:r>
              <a:rPr kumimoji="1" lang="en-US" altLang="zh-CN" dirty="0" err="1"/>
              <a:t>ReleaseCandidate</a:t>
            </a:r>
            <a:r>
              <a:rPr kumimoji="1" lang="zh-CN" altLang="en-US" dirty="0"/>
              <a:t>）给一部分用户。如果</a:t>
            </a:r>
            <a:r>
              <a:rPr kumimoji="1" lang="en-US" altLang="zh-CN" dirty="0"/>
              <a:t>RC</a:t>
            </a:r>
            <a:r>
              <a:rPr kumimoji="1" lang="zh-CN" altLang="en-US" dirty="0"/>
              <a:t>版本质量稳定，即可作为正式版本发布。</a:t>
            </a:r>
          </a:p>
        </p:txBody>
      </p:sp>
      <p:sp>
        <p:nvSpPr>
          <p:cNvPr id="4" name="灯片编号占位符 3"/>
          <p:cNvSpPr>
            <a:spLocks noGrp="1"/>
          </p:cNvSpPr>
          <p:nvPr>
            <p:ph type="sldNum" sz="quarter" idx="5"/>
          </p:nvPr>
        </p:nvSpPr>
        <p:spPr/>
        <p:txBody>
          <a:bodyPr/>
          <a:lstStyle/>
          <a:p>
            <a:fld id="{8C538A16-44D0-4638-ACD6-43A88F095A25}" type="slidenum">
              <a:rPr lang="zh-CN" altLang="en-US" smtClean="0"/>
              <a:t>80</a:t>
            </a:fld>
            <a:endParaRPr lang="zh-CN" altLang="en-US"/>
          </a:p>
        </p:txBody>
      </p:sp>
    </p:spTree>
    <p:extLst>
      <p:ext uri="{BB962C8B-B14F-4D97-AF65-F5344CB8AC3E}">
        <p14:creationId xmlns:p14="http://schemas.microsoft.com/office/powerpoint/2010/main" val="111342343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err="1"/>
              <a:t>Gitflow</a:t>
            </a:r>
            <a:r>
              <a:rPr kumimoji="1" lang="zh-CN" altLang="en-US" dirty="0"/>
              <a:t>分支模式是目前很多企业所应用的分支模式，如图所示。</a:t>
            </a:r>
            <a:endParaRPr kumimoji="1" lang="en-US" altLang="zh-CN" dirty="0"/>
          </a:p>
          <a:p>
            <a:r>
              <a:rPr kumimoji="1" lang="en-US" altLang="zh-CN" dirty="0"/>
              <a:t>(1)Master</a:t>
            </a:r>
            <a:r>
              <a:rPr kumimoji="1" lang="zh-CN" altLang="en-US" dirty="0"/>
              <a:t>分支是正式版本的发布分支。</a:t>
            </a:r>
            <a:endParaRPr kumimoji="1" lang="en-US" altLang="zh-CN" dirty="0"/>
          </a:p>
          <a:p>
            <a:r>
              <a:rPr kumimoji="1" lang="en-US" altLang="zh-CN" dirty="0"/>
              <a:t>(2)Release</a:t>
            </a:r>
            <a:r>
              <a:rPr kumimoji="1" lang="zh-CN" altLang="en-US" dirty="0"/>
              <a:t>分支是用于质量打磨的预发布分支。如果</a:t>
            </a:r>
            <a:r>
              <a:rPr kumimoji="1" lang="en-US" altLang="zh-CN" dirty="0"/>
              <a:t>Release</a:t>
            </a:r>
            <a:r>
              <a:rPr kumimoji="1" lang="zh-CN" altLang="en-US" dirty="0"/>
              <a:t>分支的质量达标，就可以将其合入</a:t>
            </a:r>
            <a:r>
              <a:rPr kumimoji="1" lang="en-US" altLang="zh-CN" dirty="0"/>
              <a:t>Master</a:t>
            </a:r>
            <a:r>
              <a:rPr kumimoji="1" lang="zh-CN" altLang="en-US" dirty="0"/>
              <a:t>分支，同时也需要将代码合入</a:t>
            </a:r>
            <a:r>
              <a:rPr kumimoji="1" lang="en-US" altLang="zh-CN" dirty="0"/>
              <a:t>Development</a:t>
            </a:r>
            <a:r>
              <a:rPr kumimoji="1" lang="zh-CN" altLang="en-US" dirty="0"/>
              <a:t>分支</a:t>
            </a:r>
            <a:endParaRPr kumimoji="1" lang="en-US" altLang="zh-CN" dirty="0"/>
          </a:p>
          <a:p>
            <a:r>
              <a:rPr kumimoji="1" lang="en-US" altLang="zh-CN" dirty="0"/>
              <a:t>(3)Development</a:t>
            </a:r>
            <a:r>
              <a:rPr kumimoji="1" lang="zh-CN" altLang="en-US" dirty="0"/>
              <a:t>分支是对新功能进行集成的分支。</a:t>
            </a:r>
            <a:endParaRPr kumimoji="1" lang="en-US" altLang="zh-CN" dirty="0"/>
          </a:p>
          <a:p>
            <a:r>
              <a:rPr kumimoji="1" lang="en-US" altLang="zh-CN" dirty="0"/>
              <a:t>(4)Feature</a:t>
            </a:r>
            <a:r>
              <a:rPr kumimoji="1" lang="zh-CN" altLang="en-US" dirty="0"/>
              <a:t>分支是为了开发某一功能特性，开发人员从</a:t>
            </a:r>
            <a:r>
              <a:rPr kumimoji="1" lang="en-US" altLang="zh-CN" dirty="0"/>
              <a:t>Development</a:t>
            </a:r>
            <a:r>
              <a:rPr kumimoji="1" lang="zh-CN" altLang="en-US" dirty="0"/>
              <a:t>分支上拉出的分支。当特性开发完成后，合入</a:t>
            </a:r>
            <a:r>
              <a:rPr kumimoji="1" lang="en-US" altLang="zh-CN" dirty="0"/>
              <a:t>Development</a:t>
            </a:r>
            <a:r>
              <a:rPr kumimoji="1" lang="zh-CN" altLang="en-US" dirty="0"/>
              <a:t>分支。</a:t>
            </a:r>
            <a:endParaRPr kumimoji="1" lang="en-US" altLang="zh-CN" dirty="0"/>
          </a:p>
          <a:p>
            <a:r>
              <a:rPr kumimoji="1" lang="zh-CN" altLang="en-US" dirty="0"/>
              <a:t>。</a:t>
            </a:r>
            <a:r>
              <a:rPr kumimoji="1" lang="en-US" altLang="zh-CN" dirty="0"/>
              <a:t>(5)</a:t>
            </a:r>
            <a:r>
              <a:rPr kumimoji="1" lang="zh-CN" altLang="en-US" dirty="0"/>
              <a:t>如果已经发布的版本</a:t>
            </a:r>
            <a:r>
              <a:rPr kumimoji="1" lang="en-US" altLang="zh-CN" dirty="0"/>
              <a:t>(</a:t>
            </a:r>
            <a:r>
              <a:rPr kumimoji="1" lang="zh-CN" altLang="en-US" dirty="0"/>
              <a:t>如</a:t>
            </a:r>
            <a:r>
              <a:rPr kumimoji="1" lang="en-US" altLang="zh-CN" dirty="0"/>
              <a:t>V0.1)</a:t>
            </a:r>
            <a:r>
              <a:rPr kumimoji="1" lang="zh-CN" altLang="en-US" dirty="0"/>
              <a:t>出现了严重的缺陷，从</a:t>
            </a:r>
            <a:r>
              <a:rPr kumimoji="1" lang="en-US" altLang="zh-CN" dirty="0"/>
              <a:t>Master</a:t>
            </a:r>
            <a:r>
              <a:rPr kumimoji="1" lang="zh-CN" altLang="en-US" dirty="0"/>
              <a:t>分支上</a:t>
            </a:r>
            <a:r>
              <a:rPr kumimoji="1" lang="en-US" altLang="zh-CN" dirty="0"/>
              <a:t>V0.1</a:t>
            </a:r>
            <a:r>
              <a:rPr kumimoji="1" lang="zh-CN" altLang="en-US" dirty="0"/>
              <a:t>版本标签处拉出</a:t>
            </a:r>
            <a:r>
              <a:rPr kumimoji="1" lang="en-US" altLang="zh-CN" dirty="0"/>
              <a:t>Hotfix</a:t>
            </a:r>
            <a:r>
              <a:rPr kumimoji="1" lang="zh-CN" altLang="en-US" dirty="0"/>
              <a:t>分支，在这个分支上修复缺陷，验证后再次合人</a:t>
            </a:r>
            <a:r>
              <a:rPr kumimoji="1" lang="en-US" altLang="zh-CN" dirty="0"/>
              <a:t>Master</a:t>
            </a:r>
            <a:r>
              <a:rPr kumimoji="1" lang="zh-CN" altLang="en-US" dirty="0"/>
              <a:t>分支，并发布新的补丁版本</a:t>
            </a:r>
            <a:r>
              <a:rPr kumimoji="1" lang="en-US" altLang="zh-CN" dirty="0"/>
              <a:t>V0.2</a:t>
            </a:r>
            <a:r>
              <a:rPr kumimoji="1" lang="zh-CN" altLang="en-US" dirty="0"/>
              <a:t>。与此同时，由于</a:t>
            </a:r>
            <a:r>
              <a:rPr kumimoji="1" lang="en-US" altLang="zh-CN" dirty="0"/>
              <a:t>Development</a:t>
            </a:r>
            <a:r>
              <a:rPr kumimoji="1" lang="zh-CN" altLang="en-US" dirty="0"/>
              <a:t>支上也有同样的缺陷存在，因此开发人员还要将</a:t>
            </a:r>
            <a:r>
              <a:rPr kumimoji="1" lang="en-US" altLang="zh-CN" dirty="0"/>
              <a:t>Hotfix</a:t>
            </a:r>
            <a:r>
              <a:rPr kumimoji="1" lang="zh-CN" altLang="en-US" dirty="0"/>
              <a:t>分支的代码移植到</a:t>
            </a:r>
            <a:r>
              <a:rPr kumimoji="1" lang="en-US" altLang="zh-CN" dirty="0"/>
              <a:t>Development</a:t>
            </a:r>
            <a:r>
              <a:rPr kumimoji="1" lang="zh-CN" altLang="en-US" dirty="0"/>
              <a:t>分支上，以修复</a:t>
            </a:r>
            <a:r>
              <a:rPr kumimoji="1" lang="en-US" altLang="zh-CN" dirty="0"/>
              <a:t>Development</a:t>
            </a:r>
            <a:r>
              <a:rPr kumimoji="1" lang="zh-CN" altLang="en-US" dirty="0"/>
              <a:t>分支上的缺陷。</a:t>
            </a:r>
            <a:endParaRPr kumimoji="1" lang="en-US" altLang="zh-CN" dirty="0"/>
          </a:p>
          <a:p>
            <a:endParaRPr kumimoji="1" lang="en-US" altLang="zh-CN" dirty="0"/>
          </a:p>
          <a:p>
            <a:endParaRPr kumimoji="1" lang="en-US" altLang="zh-CN" dirty="0"/>
          </a:p>
          <a:p>
            <a:r>
              <a:rPr kumimoji="1" lang="en-US" altLang="zh-CN" dirty="0" err="1"/>
              <a:t>Gitflow</a:t>
            </a:r>
            <a:r>
              <a:rPr kumimoji="1" lang="zh-CN" altLang="en-US" dirty="0"/>
              <a:t>分支模式是特性分支模式和三驾马车分支模式的组合。它的优点是每个分支的定义都明确且清晰，而带来的问题是分支较多，具有特性分支的不足。</a:t>
            </a:r>
          </a:p>
        </p:txBody>
      </p:sp>
      <p:sp>
        <p:nvSpPr>
          <p:cNvPr id="4" name="灯片编号占位符 3"/>
          <p:cNvSpPr>
            <a:spLocks noGrp="1"/>
          </p:cNvSpPr>
          <p:nvPr>
            <p:ph type="sldNum" sz="quarter" idx="5"/>
          </p:nvPr>
        </p:nvSpPr>
        <p:spPr/>
        <p:txBody>
          <a:bodyPr/>
          <a:lstStyle/>
          <a:p>
            <a:fld id="{8C538A16-44D0-4638-ACD6-43A88F095A25}" type="slidenum">
              <a:rPr lang="zh-CN" altLang="en-US" smtClean="0"/>
              <a:t>81</a:t>
            </a:fld>
            <a:endParaRPr lang="zh-CN" altLang="en-US"/>
          </a:p>
        </p:txBody>
      </p:sp>
    </p:spTree>
    <p:extLst>
      <p:ext uri="{BB962C8B-B14F-4D97-AF65-F5344CB8AC3E}">
        <p14:creationId xmlns:p14="http://schemas.microsoft.com/office/powerpoint/2010/main" val="423708654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C538A16-44D0-4638-ACD6-43A88F095A25}" type="slidenum">
              <a:rPr lang="zh-CN" altLang="en-US" smtClean="0"/>
              <a:t>82</a:t>
            </a:fld>
            <a:endParaRPr lang="zh-CN" altLang="en-US"/>
          </a:p>
        </p:txBody>
      </p:sp>
    </p:spTree>
    <p:extLst>
      <p:ext uri="{BB962C8B-B14F-4D97-AF65-F5344CB8AC3E}">
        <p14:creationId xmlns:p14="http://schemas.microsoft.com/office/powerpoint/2010/main" val="264590176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C538A16-44D0-4638-ACD6-43A88F095A25}" type="slidenum">
              <a:rPr lang="zh-CN" altLang="en-US" smtClean="0"/>
              <a:t>83</a:t>
            </a:fld>
            <a:endParaRPr lang="zh-CN" altLang="en-US"/>
          </a:p>
        </p:txBody>
      </p:sp>
    </p:spTree>
    <p:extLst>
      <p:ext uri="{BB962C8B-B14F-4D97-AF65-F5344CB8AC3E}">
        <p14:creationId xmlns:p14="http://schemas.microsoft.com/office/powerpoint/2010/main" val="58234079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121212"/>
                </a:solidFill>
                <a:effectLst/>
                <a:latin typeface="-apple-system"/>
              </a:rPr>
              <a:t>直接将新的版本覆盖掉老的版本。其优点就是简单而且成本较低，但缺点同样很明显，就是发布过程中通常会导致服务中断进而导致用户受到影响，这种方式比较适应于开发环境或者测试环境或者是公司内部系统这种对可用性要求不高的场景，有些小的公司资源稀缺</a:t>
            </a:r>
            <a:r>
              <a:rPr lang="en-US" altLang="zh-CN" b="0" i="0" dirty="0">
                <a:solidFill>
                  <a:srgbClr val="121212"/>
                </a:solidFill>
                <a:effectLst/>
                <a:latin typeface="-apple-system"/>
              </a:rPr>
              <a:t>(</a:t>
            </a:r>
            <a:r>
              <a:rPr lang="zh-CN" altLang="en-US" b="0" i="0" dirty="0">
                <a:solidFill>
                  <a:srgbClr val="121212"/>
                </a:solidFill>
                <a:effectLst/>
                <a:latin typeface="-apple-system"/>
              </a:rPr>
              <a:t>服务器资源，基础设施等</a:t>
            </a:r>
            <a:r>
              <a:rPr lang="en-US" altLang="zh-CN" b="0" i="0" dirty="0">
                <a:solidFill>
                  <a:srgbClr val="121212"/>
                </a:solidFill>
                <a:effectLst/>
                <a:latin typeface="-apple-system"/>
              </a:rPr>
              <a:t>)</a:t>
            </a:r>
            <a:r>
              <a:rPr lang="zh-CN" altLang="en-US" b="0" i="0" dirty="0">
                <a:solidFill>
                  <a:srgbClr val="121212"/>
                </a:solidFill>
                <a:effectLst/>
                <a:latin typeface="-apple-system"/>
              </a:rPr>
              <a:t>的时候也会采用这种方式。</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84</a:t>
            </a:fld>
            <a:endParaRPr lang="zh-CN" altLang="en-US"/>
          </a:p>
        </p:txBody>
      </p:sp>
    </p:spTree>
    <p:extLst>
      <p:ext uri="{BB962C8B-B14F-4D97-AF65-F5344CB8AC3E}">
        <p14:creationId xmlns:p14="http://schemas.microsoft.com/office/powerpoint/2010/main" val="67820258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121212"/>
                </a:solidFill>
                <a:effectLst/>
                <a:latin typeface="-apple-system"/>
              </a:rPr>
              <a:t>金丝雀发布是灰度发布的一种。灰度发布是指在黑与白之间，能够平滑过渡的一种发布方式。即在发布过程中一部分用户继续使用老版本，一部分用户使用新版本，不断地扩大新版本的访问流量。最终实现老版本到新版本的过度。由于金丝雀对瓦斯极其敏感，因此以前旷工开矿下矿洞前，先会放一只金丝雀进去探是否有有毒气体，看金丝雀能否活下来，金丝雀发布由此得名。</a:t>
            </a:r>
            <a:endParaRPr lang="en-US" altLang="zh-CN" b="0" i="0" dirty="0">
              <a:solidFill>
                <a:srgbClr val="121212"/>
              </a:solidFill>
              <a:effectLst/>
              <a:latin typeface="-apple-system"/>
            </a:endParaRPr>
          </a:p>
          <a:p>
            <a:r>
              <a:rPr lang="zh-CN" altLang="en-US" b="0" i="0" dirty="0">
                <a:solidFill>
                  <a:srgbClr val="121212"/>
                </a:solidFill>
                <a:effectLst/>
                <a:latin typeface="-apple-system"/>
              </a:rPr>
              <a:t>发布过程中，先发一台或者一小部分比例的机器作为金丝雀，用于流量验证。如果金丝雀验证通过则把剩余机器全部发掉。如果金丝雀验证失败，则直接回退金丝雀。金丝雀发布的优势在于可以用少量用户来验证新版本功能，这样即使有问题所影响的也是很小的一部分客户。如果对新版本功能或性能缺乏足够信心那么就可以采用这种方式。这种方式也有其缺点，金丝雀发布本质上仍然是一次性的全量发布，发布过程中用户体验并不平滑，有些隐藏深处的</a:t>
            </a:r>
            <a:r>
              <a:rPr lang="en-US" altLang="zh-CN" b="0" i="0" dirty="0">
                <a:solidFill>
                  <a:srgbClr val="121212"/>
                </a:solidFill>
                <a:effectLst/>
                <a:latin typeface="-apple-system"/>
              </a:rPr>
              <a:t>bug</a:t>
            </a:r>
            <a:r>
              <a:rPr lang="zh-CN" altLang="en-US" b="0" i="0" dirty="0">
                <a:solidFill>
                  <a:srgbClr val="121212"/>
                </a:solidFill>
                <a:effectLst/>
                <a:latin typeface="-apple-system"/>
              </a:rPr>
              <a:t>少量用户可能并不能验证出来问题，需要逐步扩大流量才可以。</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85</a:t>
            </a:fld>
            <a:endParaRPr lang="zh-CN" altLang="en-US"/>
          </a:p>
        </p:txBody>
      </p:sp>
    </p:spTree>
    <p:extLst>
      <p:ext uri="{BB962C8B-B14F-4D97-AF65-F5344CB8AC3E}">
        <p14:creationId xmlns:p14="http://schemas.microsoft.com/office/powerpoint/2010/main" val="287823912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121212"/>
                </a:solidFill>
                <a:effectLst/>
                <a:latin typeface="-apple-system"/>
              </a:rPr>
              <a:t>滚动发布是在金丝雀发布基础上进行改进的一种发布方式。相比于金丝雀发布，先发金丝雀，然后全发的方式，滚动发布则是整个发布过程中按批次进行发布。每个批次拉入后都可作为金丝雀进行验证，这样流量逐步放大直至结束。</a:t>
            </a:r>
            <a:endParaRPr lang="en-US" altLang="zh-CN" b="0" i="0" dirty="0">
              <a:solidFill>
                <a:srgbClr val="121212"/>
              </a:solidFill>
              <a:effectLst/>
              <a:latin typeface="-apple-system"/>
            </a:endParaRPr>
          </a:p>
          <a:p>
            <a:r>
              <a:rPr lang="zh-CN" altLang="en-US" b="0" i="0" dirty="0">
                <a:solidFill>
                  <a:srgbClr val="121212"/>
                </a:solidFill>
                <a:effectLst/>
                <a:latin typeface="-apple-system"/>
              </a:rPr>
              <a:t>这种方式的优点就是对用户的影响小，体验平滑，但同样也有很多缺点，首先就是发布和回退时间慢，其次发布工具复杂，负载均衡设备需要具有平滑的拉入拉出能力，一般公司并没有资源投入研发这种复杂的发布工具。再者，发布过程中新老版本同时运行，需要注意兼容性问题。</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86</a:t>
            </a:fld>
            <a:endParaRPr lang="zh-CN" altLang="en-US"/>
          </a:p>
        </p:txBody>
      </p:sp>
    </p:spTree>
    <p:extLst>
      <p:ext uri="{BB962C8B-B14F-4D97-AF65-F5344CB8AC3E}">
        <p14:creationId xmlns:p14="http://schemas.microsoft.com/office/powerpoint/2010/main" val="2305136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121212"/>
                </a:solidFill>
                <a:effectLst/>
                <a:latin typeface="-apple-system"/>
              </a:rPr>
              <a:t>蓝绿部署，是采用两个分开的集群对软件版本进行升级的一种方式。它的部署模型中包括一个蓝色集群 </a:t>
            </a:r>
            <a:r>
              <a:rPr lang="en-US" altLang="zh-CN" b="0" i="0" dirty="0">
                <a:solidFill>
                  <a:srgbClr val="121212"/>
                </a:solidFill>
                <a:effectLst/>
                <a:latin typeface="-apple-system"/>
              </a:rPr>
              <a:t>Group1 </a:t>
            </a:r>
            <a:r>
              <a:rPr lang="zh-CN" altLang="en-US" b="0" i="0" dirty="0">
                <a:solidFill>
                  <a:srgbClr val="121212"/>
                </a:solidFill>
                <a:effectLst/>
                <a:latin typeface="-apple-system"/>
              </a:rPr>
              <a:t>和一个绿色集群 </a:t>
            </a:r>
            <a:r>
              <a:rPr lang="en-US" altLang="zh-CN" b="0" i="0" dirty="0">
                <a:solidFill>
                  <a:srgbClr val="121212"/>
                </a:solidFill>
                <a:effectLst/>
                <a:latin typeface="-apple-system"/>
              </a:rPr>
              <a:t>Group2</a:t>
            </a:r>
            <a:r>
              <a:rPr lang="zh-CN" altLang="en-US" b="0" i="0" dirty="0">
                <a:solidFill>
                  <a:srgbClr val="121212"/>
                </a:solidFill>
                <a:effectLst/>
                <a:latin typeface="-apple-system"/>
              </a:rPr>
              <a:t>，在没有新版本上线的情况下，两个集群上运行的版本是一致的，同时对外提供服务。</a:t>
            </a:r>
          </a:p>
          <a:p>
            <a:pPr algn="l"/>
            <a:r>
              <a:rPr lang="zh-CN" altLang="en-US" b="0" i="0" dirty="0">
                <a:solidFill>
                  <a:srgbClr val="121212"/>
                </a:solidFill>
                <a:effectLst/>
                <a:latin typeface="-apple-system"/>
              </a:rPr>
              <a:t>系统升级时，蓝绿部署的流程是：</a:t>
            </a:r>
          </a:p>
          <a:p>
            <a:pPr algn="l">
              <a:buFont typeface="Arial" panose="020B0604020202020204" pitchFamily="34" charset="0"/>
              <a:buChar char="•"/>
            </a:pPr>
            <a:r>
              <a:rPr lang="zh-CN" altLang="en-US" b="0" i="0" dirty="0">
                <a:solidFill>
                  <a:srgbClr val="121212"/>
                </a:solidFill>
                <a:effectLst/>
                <a:latin typeface="-apple-system"/>
              </a:rPr>
              <a:t>从负载均衡器列表中删除集群</a:t>
            </a:r>
            <a:r>
              <a:rPr lang="en-US" altLang="zh-CN" b="0" i="0" dirty="0">
                <a:solidFill>
                  <a:srgbClr val="121212"/>
                </a:solidFill>
                <a:effectLst/>
                <a:latin typeface="-apple-system"/>
              </a:rPr>
              <a:t>Group1</a:t>
            </a:r>
            <a:r>
              <a:rPr lang="zh-CN" altLang="en-US" b="0" i="0" dirty="0">
                <a:solidFill>
                  <a:srgbClr val="121212"/>
                </a:solidFill>
                <a:effectLst/>
                <a:latin typeface="-apple-system"/>
              </a:rPr>
              <a:t>，让集群 </a:t>
            </a:r>
            <a:r>
              <a:rPr lang="en-US" altLang="zh-CN" b="0" i="0" dirty="0">
                <a:solidFill>
                  <a:srgbClr val="121212"/>
                </a:solidFill>
                <a:effectLst/>
                <a:latin typeface="-apple-system"/>
              </a:rPr>
              <a:t>Group2 </a:t>
            </a:r>
            <a:r>
              <a:rPr lang="zh-CN" altLang="en-US" b="0" i="0" dirty="0">
                <a:solidFill>
                  <a:srgbClr val="121212"/>
                </a:solidFill>
                <a:effectLst/>
                <a:latin typeface="-apple-system"/>
              </a:rPr>
              <a:t>单独提供服务。</a:t>
            </a:r>
          </a:p>
          <a:p>
            <a:pPr algn="l">
              <a:buFont typeface="Arial" panose="020B0604020202020204" pitchFamily="34" charset="0"/>
              <a:buChar char="•"/>
            </a:pPr>
            <a:r>
              <a:rPr lang="zh-CN" altLang="en-US" b="0" i="0" dirty="0">
                <a:solidFill>
                  <a:srgbClr val="121212"/>
                </a:solidFill>
                <a:effectLst/>
                <a:latin typeface="-apple-system"/>
              </a:rPr>
              <a:t>在集群 </a:t>
            </a:r>
            <a:r>
              <a:rPr lang="en-US" altLang="zh-CN" b="0" i="0" dirty="0">
                <a:solidFill>
                  <a:srgbClr val="121212"/>
                </a:solidFill>
                <a:effectLst/>
                <a:latin typeface="-apple-system"/>
              </a:rPr>
              <a:t>Group1 </a:t>
            </a:r>
            <a:r>
              <a:rPr lang="zh-CN" altLang="en-US" b="0" i="0" dirty="0">
                <a:solidFill>
                  <a:srgbClr val="121212"/>
                </a:solidFill>
                <a:effectLst/>
                <a:latin typeface="-apple-system"/>
              </a:rPr>
              <a:t>上部署新版本。</a:t>
            </a:r>
          </a:p>
          <a:p>
            <a:pPr algn="l">
              <a:buFont typeface="Arial" panose="020B0604020202020204" pitchFamily="34" charset="0"/>
              <a:buChar char="•"/>
            </a:pPr>
            <a:r>
              <a:rPr lang="zh-CN" altLang="en-US" b="0" i="0" dirty="0">
                <a:solidFill>
                  <a:srgbClr val="121212"/>
                </a:solidFill>
                <a:effectLst/>
                <a:latin typeface="-apple-system"/>
              </a:rPr>
              <a:t>集群 </a:t>
            </a:r>
            <a:r>
              <a:rPr lang="en-US" altLang="zh-CN" b="0" i="0" dirty="0">
                <a:solidFill>
                  <a:srgbClr val="121212"/>
                </a:solidFill>
                <a:effectLst/>
                <a:latin typeface="-apple-system"/>
              </a:rPr>
              <a:t>Group1 </a:t>
            </a:r>
            <a:r>
              <a:rPr lang="zh-CN" altLang="en-US" b="0" i="0" dirty="0">
                <a:solidFill>
                  <a:srgbClr val="121212"/>
                </a:solidFill>
                <a:effectLst/>
                <a:latin typeface="-apple-system"/>
              </a:rPr>
              <a:t>升级完毕后，把负载均衡列表全部指向 </a:t>
            </a:r>
            <a:r>
              <a:rPr lang="en-US" altLang="zh-CN" b="0" i="0" dirty="0">
                <a:solidFill>
                  <a:srgbClr val="121212"/>
                </a:solidFill>
                <a:effectLst/>
                <a:latin typeface="-apple-system"/>
              </a:rPr>
              <a:t>Group1</a:t>
            </a:r>
            <a:r>
              <a:rPr lang="zh-CN" altLang="en-US" b="0" i="0" dirty="0">
                <a:solidFill>
                  <a:srgbClr val="121212"/>
                </a:solidFill>
                <a:effectLst/>
                <a:latin typeface="-apple-system"/>
              </a:rPr>
              <a:t>，并删除集群 </a:t>
            </a:r>
            <a:r>
              <a:rPr lang="en-US" altLang="zh-CN" b="0" i="0" dirty="0">
                <a:solidFill>
                  <a:srgbClr val="121212"/>
                </a:solidFill>
                <a:effectLst/>
                <a:latin typeface="-apple-system"/>
              </a:rPr>
              <a:t>Group2 </a:t>
            </a:r>
            <a:r>
              <a:rPr lang="zh-CN" altLang="en-US" b="0" i="0" dirty="0">
                <a:solidFill>
                  <a:srgbClr val="121212"/>
                </a:solidFill>
                <a:effectLst/>
                <a:latin typeface="-apple-system"/>
              </a:rPr>
              <a:t>，由 </a:t>
            </a:r>
            <a:r>
              <a:rPr lang="en-US" altLang="zh-CN" b="0" i="0" dirty="0">
                <a:solidFill>
                  <a:srgbClr val="121212"/>
                </a:solidFill>
                <a:effectLst/>
                <a:latin typeface="-apple-system"/>
              </a:rPr>
              <a:t>Group1 </a:t>
            </a:r>
            <a:r>
              <a:rPr lang="zh-CN" altLang="en-US" b="0" i="0" dirty="0">
                <a:solidFill>
                  <a:srgbClr val="121212"/>
                </a:solidFill>
                <a:effectLst/>
                <a:latin typeface="-apple-system"/>
              </a:rPr>
              <a:t>单独提供服务。</a:t>
            </a:r>
          </a:p>
          <a:p>
            <a:pPr algn="l">
              <a:buFont typeface="Arial" panose="020B0604020202020204" pitchFamily="34" charset="0"/>
              <a:buChar char="•"/>
            </a:pPr>
            <a:r>
              <a:rPr lang="zh-CN" altLang="en-US" b="0" i="0" dirty="0">
                <a:solidFill>
                  <a:srgbClr val="121212"/>
                </a:solidFill>
                <a:effectLst/>
                <a:latin typeface="-apple-system"/>
              </a:rPr>
              <a:t>在集群 </a:t>
            </a:r>
            <a:r>
              <a:rPr lang="en-US" altLang="zh-CN" b="0" i="0" dirty="0">
                <a:solidFill>
                  <a:srgbClr val="121212"/>
                </a:solidFill>
                <a:effectLst/>
                <a:latin typeface="-apple-system"/>
              </a:rPr>
              <a:t>Group2 </a:t>
            </a:r>
            <a:r>
              <a:rPr lang="zh-CN" altLang="en-US" b="0" i="0" dirty="0">
                <a:solidFill>
                  <a:srgbClr val="121212"/>
                </a:solidFill>
                <a:effectLst/>
                <a:latin typeface="-apple-system"/>
              </a:rPr>
              <a:t>上部署完新版本后，再把它添加回负载均衡列表中。</a:t>
            </a:r>
          </a:p>
          <a:p>
            <a:r>
              <a:rPr lang="zh-CN" altLang="en-US" b="0" i="0" dirty="0">
                <a:solidFill>
                  <a:srgbClr val="121212"/>
                </a:solidFill>
                <a:effectLst/>
                <a:latin typeface="-apple-system"/>
              </a:rPr>
              <a:t>蓝绿部署的优点是升级和回退速度非常快，缺点是全量升级，如果</a:t>
            </a:r>
            <a:r>
              <a:rPr lang="en-US" altLang="zh-CN" b="0" i="0" dirty="0">
                <a:solidFill>
                  <a:srgbClr val="121212"/>
                </a:solidFill>
                <a:effectLst/>
                <a:latin typeface="-apple-system"/>
              </a:rPr>
              <a:t>V2</a:t>
            </a:r>
            <a:r>
              <a:rPr lang="zh-CN" altLang="en-US" b="0" i="0" dirty="0">
                <a:solidFill>
                  <a:srgbClr val="121212"/>
                </a:solidFill>
                <a:effectLst/>
                <a:latin typeface="-apple-system"/>
              </a:rPr>
              <a:t>版本有问题，对用户影响大再者由于升级过程中会服务器资源会减少一半，有可能产生服务器过载问题，因此这种发布方式也不适用于在业务高峰期使用。</a:t>
            </a:r>
            <a:br>
              <a:rPr lang="zh-CN" altLang="en-US" dirty="0"/>
            </a:b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87</a:t>
            </a:fld>
            <a:endParaRPr lang="zh-CN" altLang="en-US"/>
          </a:p>
        </p:txBody>
      </p:sp>
    </p:spTree>
    <p:extLst>
      <p:ext uri="{BB962C8B-B14F-4D97-AF65-F5344CB8AC3E}">
        <p14:creationId xmlns:p14="http://schemas.microsoft.com/office/powerpoint/2010/main" val="328564082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C538A16-44D0-4638-ACD6-43A88F095A25}" type="slidenum">
              <a:rPr lang="zh-CN" altLang="en-US" smtClean="0"/>
              <a:t>88</a:t>
            </a:fld>
            <a:endParaRPr lang="zh-CN" altLang="en-US"/>
          </a:p>
        </p:txBody>
      </p:sp>
    </p:spTree>
    <p:extLst>
      <p:ext uri="{BB962C8B-B14F-4D97-AF65-F5344CB8AC3E}">
        <p14:creationId xmlns:p14="http://schemas.microsoft.com/office/powerpoint/2010/main" val="1632523222"/>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85750" indent="-285750" algn="l">
              <a:lnSpc>
                <a:spcPct val="120000"/>
              </a:lnSpc>
              <a:spcAft>
                <a:spcPts val="600"/>
              </a:spcAft>
              <a:buFont typeface="Arial" panose="020B0604020202020204" pitchFamily="34" charset="0"/>
              <a:buChar char="•"/>
            </a:pPr>
            <a:r>
              <a:rPr lang="en" altLang="zh-CN" b="0" i="0" dirty="0">
                <a:solidFill>
                  <a:srgbClr val="111111"/>
                </a:solidFill>
                <a:effectLst/>
                <a:latin typeface="+mn-ea"/>
              </a:rPr>
              <a:t>Jenkins</a:t>
            </a:r>
            <a:r>
              <a:rPr lang="zh-CN" altLang="en" b="0" i="0" dirty="0">
                <a:solidFill>
                  <a:srgbClr val="111111"/>
                </a:solidFill>
                <a:effectLst/>
                <a:latin typeface="+mn-ea"/>
              </a:rPr>
              <a:t>：</a:t>
            </a:r>
            <a:r>
              <a:rPr lang="zh-CN" altLang="en-US" b="0" i="0" dirty="0">
                <a:solidFill>
                  <a:srgbClr val="111111"/>
                </a:solidFill>
                <a:effectLst/>
                <a:latin typeface="+mn-ea"/>
              </a:rPr>
              <a:t>一款开源的、可扩展的、跨平台的</a:t>
            </a:r>
            <a:r>
              <a:rPr lang="en" altLang="zh-CN" b="0" i="0" dirty="0">
                <a:solidFill>
                  <a:srgbClr val="111111"/>
                </a:solidFill>
                <a:effectLst/>
                <a:latin typeface="+mn-ea"/>
              </a:rPr>
              <a:t>CI/CD</a:t>
            </a:r>
            <a:r>
              <a:rPr lang="zh-CN" altLang="en-US" b="0" i="0" dirty="0">
                <a:solidFill>
                  <a:srgbClr val="111111"/>
                </a:solidFill>
                <a:effectLst/>
                <a:latin typeface="+mn-ea"/>
              </a:rPr>
              <a:t>工具，支持多种语言和插件，可以与各种工具和服务集成，适合定制化需求较高的团队。</a:t>
            </a:r>
          </a:p>
          <a:p>
            <a:pPr marL="285750" indent="-285750" algn="l">
              <a:lnSpc>
                <a:spcPct val="120000"/>
              </a:lnSpc>
              <a:spcAft>
                <a:spcPts val="600"/>
              </a:spcAft>
              <a:buFont typeface="Arial" panose="020B0604020202020204" pitchFamily="34" charset="0"/>
              <a:buChar char="•"/>
            </a:pPr>
            <a:r>
              <a:rPr lang="en" altLang="zh-CN" b="0" i="0" dirty="0">
                <a:solidFill>
                  <a:srgbClr val="111111"/>
                </a:solidFill>
                <a:effectLst/>
                <a:latin typeface="+mn-ea"/>
              </a:rPr>
              <a:t>Travis CI</a:t>
            </a:r>
            <a:r>
              <a:rPr lang="zh-CN" altLang="en" b="0" i="0" dirty="0">
                <a:solidFill>
                  <a:srgbClr val="111111"/>
                </a:solidFill>
                <a:effectLst/>
                <a:latin typeface="+mn-ea"/>
              </a:rPr>
              <a:t>：</a:t>
            </a:r>
            <a:r>
              <a:rPr lang="zh-CN" altLang="en-US" b="0" i="0" dirty="0">
                <a:solidFill>
                  <a:srgbClr val="111111"/>
                </a:solidFill>
                <a:effectLst/>
                <a:latin typeface="+mn-ea"/>
              </a:rPr>
              <a:t>一款基于云的、与</a:t>
            </a:r>
            <a:r>
              <a:rPr lang="en" altLang="zh-CN" b="0" i="0" dirty="0">
                <a:solidFill>
                  <a:srgbClr val="111111"/>
                </a:solidFill>
                <a:effectLst/>
                <a:latin typeface="+mn-ea"/>
              </a:rPr>
              <a:t>GitHub</a:t>
            </a:r>
            <a:r>
              <a:rPr lang="zh-CN" altLang="en-US" b="0" i="0" dirty="0">
                <a:solidFill>
                  <a:srgbClr val="111111"/>
                </a:solidFill>
                <a:effectLst/>
                <a:latin typeface="+mn-ea"/>
              </a:rPr>
              <a:t>紧密集成的</a:t>
            </a:r>
            <a:r>
              <a:rPr lang="en" altLang="zh-CN" b="0" i="0" dirty="0">
                <a:solidFill>
                  <a:srgbClr val="111111"/>
                </a:solidFill>
                <a:effectLst/>
                <a:latin typeface="+mn-ea"/>
              </a:rPr>
              <a:t>CI/CD</a:t>
            </a:r>
            <a:r>
              <a:rPr lang="zh-CN" altLang="en-US" b="0" i="0" dirty="0">
                <a:solidFill>
                  <a:srgbClr val="111111"/>
                </a:solidFill>
                <a:effectLst/>
                <a:latin typeface="+mn-ea"/>
              </a:rPr>
              <a:t>工具，专注于快速测试代码的每个更改，支持多种语言和容器，为开源项目提供免费支持。</a:t>
            </a:r>
          </a:p>
          <a:p>
            <a:pPr marL="285750" indent="-285750" algn="l">
              <a:lnSpc>
                <a:spcPct val="120000"/>
              </a:lnSpc>
              <a:spcAft>
                <a:spcPts val="600"/>
              </a:spcAft>
              <a:buFont typeface="Arial" panose="020B0604020202020204" pitchFamily="34" charset="0"/>
              <a:buChar char="•"/>
            </a:pPr>
            <a:r>
              <a:rPr lang="en" altLang="zh-CN" b="0" i="0" dirty="0">
                <a:solidFill>
                  <a:srgbClr val="111111"/>
                </a:solidFill>
                <a:effectLst/>
                <a:latin typeface="+mn-ea"/>
              </a:rPr>
              <a:t>GitLab CI</a:t>
            </a:r>
            <a:r>
              <a:rPr lang="zh-CN" altLang="en" b="0" i="0" dirty="0">
                <a:solidFill>
                  <a:srgbClr val="111111"/>
                </a:solidFill>
                <a:effectLst/>
                <a:latin typeface="+mn-ea"/>
              </a:rPr>
              <a:t>：</a:t>
            </a:r>
            <a:r>
              <a:rPr lang="zh-CN" altLang="en-US" b="0" i="0" dirty="0">
                <a:solidFill>
                  <a:srgbClr val="111111"/>
                </a:solidFill>
                <a:effectLst/>
                <a:latin typeface="+mn-ea"/>
              </a:rPr>
              <a:t>一款与</a:t>
            </a:r>
            <a:r>
              <a:rPr lang="en" altLang="zh-CN" b="0" i="0" dirty="0">
                <a:solidFill>
                  <a:srgbClr val="111111"/>
                </a:solidFill>
                <a:effectLst/>
                <a:latin typeface="+mn-ea"/>
              </a:rPr>
              <a:t>GitLab</a:t>
            </a:r>
            <a:r>
              <a:rPr lang="zh-CN" altLang="en-US" b="0" i="0" dirty="0">
                <a:solidFill>
                  <a:srgbClr val="111111"/>
                </a:solidFill>
                <a:effectLst/>
                <a:latin typeface="+mn-ea"/>
              </a:rPr>
              <a:t>紧密集成的</a:t>
            </a:r>
            <a:r>
              <a:rPr lang="en" altLang="zh-CN" b="0" i="0" dirty="0">
                <a:solidFill>
                  <a:srgbClr val="111111"/>
                </a:solidFill>
                <a:effectLst/>
                <a:latin typeface="+mn-ea"/>
              </a:rPr>
              <a:t>CI/CD</a:t>
            </a:r>
            <a:r>
              <a:rPr lang="zh-CN" altLang="en-US" b="0" i="0" dirty="0">
                <a:solidFill>
                  <a:srgbClr val="111111"/>
                </a:solidFill>
                <a:effectLst/>
                <a:latin typeface="+mn-ea"/>
              </a:rPr>
              <a:t>工具，使用</a:t>
            </a:r>
            <a:r>
              <a:rPr lang="en" altLang="zh-CN" b="0" i="0" dirty="0">
                <a:solidFill>
                  <a:srgbClr val="111111"/>
                </a:solidFill>
                <a:effectLst/>
                <a:latin typeface="+mn-ea"/>
              </a:rPr>
              <a:t>YAML</a:t>
            </a:r>
            <a:r>
              <a:rPr lang="zh-CN" altLang="en-US" b="0" i="0" dirty="0">
                <a:solidFill>
                  <a:srgbClr val="111111"/>
                </a:solidFill>
                <a:effectLst/>
                <a:latin typeface="+mn-ea"/>
              </a:rPr>
              <a:t>文件来描述整个管道，支持多云环境和容器技术，提供</a:t>
            </a:r>
            <a:r>
              <a:rPr lang="en" altLang="zh-CN" b="0" i="0" dirty="0">
                <a:solidFill>
                  <a:srgbClr val="111111"/>
                </a:solidFill>
                <a:effectLst/>
                <a:latin typeface="+mn-ea"/>
              </a:rPr>
              <a:t>Auto DevOps</a:t>
            </a:r>
            <a:r>
              <a:rPr lang="zh-CN" altLang="en-US" b="0" i="0" dirty="0">
                <a:solidFill>
                  <a:srgbClr val="111111"/>
                </a:solidFill>
                <a:effectLst/>
                <a:latin typeface="+mn-ea"/>
              </a:rPr>
              <a:t>功能，可以实现云原生应用的快速交付和部署。</a:t>
            </a:r>
          </a:p>
          <a:p>
            <a:pPr marL="285750" indent="-285750" algn="l" defTabSz="914400" rtl="0" eaLnBrk="1" latinLnBrk="0" hangingPunct="1">
              <a:lnSpc>
                <a:spcPct val="120000"/>
              </a:lnSpc>
              <a:spcAft>
                <a:spcPts val="600"/>
              </a:spcAft>
              <a:buFont typeface="Arial" panose="020B0604020202020204" pitchFamily="34" charset="0"/>
              <a:buChar char="•"/>
            </a:pPr>
            <a:r>
              <a:rPr lang="en" altLang="zh-CN" sz="1200" b="0" i="0" u="sng" kern="1200" dirty="0">
                <a:solidFill>
                  <a:srgbClr val="111111"/>
                </a:solidFill>
                <a:effectLst/>
                <a:latin typeface="+mn-ea"/>
                <a:ea typeface="+mn-ea"/>
                <a:cs typeface="+mn-cs"/>
                <a:hlinkClick r:id="rId3">
                  <a:extLst>
                    <a:ext uri="{A12FA001-AC4F-418D-AE19-62706E023703}">
                      <ahyp:hlinkClr xmlns:ahyp="http://schemas.microsoft.com/office/drawing/2018/hyperlinkcolor" val="tx"/>
                    </a:ext>
                  </a:extLst>
                </a:hlinkClick>
              </a:rPr>
              <a:t>GitHub CI</a:t>
            </a:r>
            <a:r>
              <a:rPr lang="zh-CN" altLang="en-US" sz="1200" b="0" i="0" u="sng" kern="1200" dirty="0">
                <a:solidFill>
                  <a:srgbClr val="111111"/>
                </a:solidFill>
                <a:effectLst/>
                <a:latin typeface="+mn-ea"/>
                <a:ea typeface="+mn-ea"/>
                <a:cs typeface="+mn-cs"/>
                <a:hlinkClick r:id="rId3">
                  <a:extLst>
                    <a:ext uri="{A12FA001-AC4F-418D-AE19-62706E023703}">
                      <ahyp:hlinkClr xmlns:ahyp="http://schemas.microsoft.com/office/drawing/2018/hyperlinkcolor" val="tx"/>
                    </a:ext>
                  </a:extLst>
                </a:hlinkClick>
              </a:rPr>
              <a:t>：</a:t>
            </a:r>
            <a:r>
              <a:rPr lang="en" altLang="zh-CN" sz="1200" b="0" i="0" u="sng" kern="1200" dirty="0">
                <a:solidFill>
                  <a:srgbClr val="111111"/>
                </a:solidFill>
                <a:effectLst/>
                <a:latin typeface="+mn-ea"/>
                <a:ea typeface="+mn-ea"/>
                <a:cs typeface="+mn-cs"/>
                <a:hlinkClick r:id="rId3">
                  <a:extLst>
                    <a:ext uri="{A12FA001-AC4F-418D-AE19-62706E023703}">
                      <ahyp:hlinkClr xmlns:ahyp="http://schemas.microsoft.com/office/drawing/2018/hyperlinkcolor" val="tx"/>
                    </a:ext>
                  </a:extLst>
                </a:hlinkClick>
              </a:rPr>
              <a:t> </a:t>
            </a:r>
            <a:r>
              <a:rPr lang="zh-CN" altLang="en-US" sz="1200" b="0" i="0" u="sng" kern="1200" dirty="0">
                <a:solidFill>
                  <a:srgbClr val="111111"/>
                </a:solidFill>
                <a:effectLst/>
                <a:latin typeface="+mn-ea"/>
                <a:ea typeface="+mn-ea"/>
                <a:cs typeface="+mn-cs"/>
                <a:hlinkClick r:id="rId3">
                  <a:extLst>
                    <a:ext uri="{A12FA001-AC4F-418D-AE19-62706E023703}">
                      <ahyp:hlinkClr xmlns:ahyp="http://schemas.microsoft.com/office/drawing/2018/hyperlinkcolor" val="tx"/>
                    </a:ext>
                  </a:extLst>
                </a:hlinkClick>
              </a:rPr>
              <a:t>是 </a:t>
            </a:r>
            <a:r>
              <a:rPr lang="en" altLang="zh-CN" sz="1200" b="0" i="0" u="sng" kern="1200" dirty="0">
                <a:solidFill>
                  <a:srgbClr val="111111"/>
                </a:solidFill>
                <a:effectLst/>
                <a:latin typeface="+mn-ea"/>
                <a:ea typeface="+mn-ea"/>
                <a:cs typeface="+mn-cs"/>
                <a:hlinkClick r:id="rId3">
                  <a:extLst>
                    <a:ext uri="{A12FA001-AC4F-418D-AE19-62706E023703}">
                      <ahyp:hlinkClr xmlns:ahyp="http://schemas.microsoft.com/office/drawing/2018/hyperlinkcolor" val="tx"/>
                    </a:ext>
                  </a:extLst>
                </a:hlinkClick>
              </a:rPr>
              <a:t>GitHub </a:t>
            </a:r>
            <a:r>
              <a:rPr lang="zh-CN" altLang="en-US" sz="1200" b="0" i="0" u="sng" kern="1200" dirty="0">
                <a:solidFill>
                  <a:srgbClr val="111111"/>
                </a:solidFill>
                <a:effectLst/>
                <a:latin typeface="+mn-ea"/>
                <a:ea typeface="+mn-ea"/>
                <a:cs typeface="+mn-cs"/>
                <a:hlinkClick r:id="rId3">
                  <a:extLst>
                    <a:ext uri="{A12FA001-AC4F-418D-AE19-62706E023703}">
                      <ahyp:hlinkClr xmlns:ahyp="http://schemas.microsoft.com/office/drawing/2018/hyperlinkcolor" val="tx"/>
                    </a:ext>
                  </a:extLst>
                </a:hlinkClick>
              </a:rPr>
              <a:t>提供的一个持续集成 </a:t>
            </a:r>
            <a:r>
              <a:rPr lang="en-US" altLang="zh-CN" sz="1200" b="0" i="0" u="sng" kern="1200" dirty="0">
                <a:solidFill>
                  <a:srgbClr val="111111"/>
                </a:solidFill>
                <a:effectLst/>
                <a:latin typeface="+mn-ea"/>
                <a:ea typeface="+mn-ea"/>
                <a:cs typeface="+mn-cs"/>
                <a:hlinkClick r:id="rId3">
                  <a:extLst>
                    <a:ext uri="{A12FA001-AC4F-418D-AE19-62706E023703}">
                      <ahyp:hlinkClr xmlns:ahyp="http://schemas.microsoft.com/office/drawing/2018/hyperlinkcolor" val="tx"/>
                    </a:ext>
                  </a:extLst>
                </a:hlinkClick>
              </a:rPr>
              <a:t>(</a:t>
            </a:r>
            <a:r>
              <a:rPr lang="en" altLang="zh-CN" sz="1200" b="0" i="0" u="sng" kern="1200" dirty="0">
                <a:solidFill>
                  <a:srgbClr val="111111"/>
                </a:solidFill>
                <a:effectLst/>
                <a:latin typeface="+mn-ea"/>
                <a:ea typeface="+mn-ea"/>
                <a:cs typeface="+mn-cs"/>
                <a:hlinkClick r:id="rId3">
                  <a:extLst>
                    <a:ext uri="{A12FA001-AC4F-418D-AE19-62706E023703}">
                      <ahyp:hlinkClr xmlns:ahyp="http://schemas.microsoft.com/office/drawing/2018/hyperlinkcolor" val="tx"/>
                    </a:ext>
                  </a:extLst>
                </a:hlinkClick>
              </a:rPr>
              <a:t>Con­tin­u­ous in­te­gra­tion</a:t>
            </a:r>
            <a:r>
              <a:rPr lang="zh-CN" altLang="en" sz="1200" b="0" i="0" u="sng" kern="1200" dirty="0">
                <a:solidFill>
                  <a:srgbClr val="111111"/>
                </a:solidFill>
                <a:effectLst/>
                <a:latin typeface="+mn-ea"/>
                <a:ea typeface="+mn-ea"/>
                <a:cs typeface="+mn-cs"/>
                <a:hlinkClick r:id="rId3">
                  <a:extLst>
                    <a:ext uri="{A12FA001-AC4F-418D-AE19-62706E023703}">
                      <ahyp:hlinkClr xmlns:ahyp="http://schemas.microsoft.com/office/drawing/2018/hyperlinkcolor" val="tx"/>
                    </a:ext>
                  </a:extLst>
                </a:hlinkClick>
              </a:rPr>
              <a:t>，</a:t>
            </a:r>
            <a:r>
              <a:rPr lang="zh-CN" altLang="en-US" sz="1200" b="0" i="0" u="sng" kern="1200" dirty="0">
                <a:solidFill>
                  <a:srgbClr val="111111"/>
                </a:solidFill>
                <a:effectLst/>
                <a:latin typeface="+mn-ea"/>
                <a:ea typeface="+mn-ea"/>
                <a:cs typeface="+mn-cs"/>
                <a:hlinkClick r:id="rId3">
                  <a:extLst>
                    <a:ext uri="{A12FA001-AC4F-418D-AE19-62706E023703}">
                      <ahyp:hlinkClr xmlns:ahyp="http://schemas.microsoft.com/office/drawing/2018/hyperlinkcolor" val="tx"/>
                    </a:ext>
                  </a:extLst>
                </a:hlinkClick>
              </a:rPr>
              <a:t>简称 </a:t>
            </a:r>
            <a:r>
              <a:rPr lang="en" altLang="zh-CN" sz="1200" b="0" i="0" u="sng" kern="1200" dirty="0">
                <a:solidFill>
                  <a:srgbClr val="111111"/>
                </a:solidFill>
                <a:effectLst/>
                <a:latin typeface="+mn-ea"/>
                <a:ea typeface="+mn-ea"/>
                <a:cs typeface="+mn-cs"/>
                <a:hlinkClick r:id="rId3">
                  <a:extLst>
                    <a:ext uri="{A12FA001-AC4F-418D-AE19-62706E023703}">
                      <ahyp:hlinkClr xmlns:ahyp="http://schemas.microsoft.com/office/drawing/2018/hyperlinkcolor" val="tx"/>
                    </a:ext>
                  </a:extLst>
                </a:hlinkClick>
              </a:rPr>
              <a:t>CI) </a:t>
            </a:r>
            <a:r>
              <a:rPr lang="zh-CN" altLang="en-US" sz="1200" b="0" i="0" u="sng" kern="1200" dirty="0">
                <a:solidFill>
                  <a:srgbClr val="111111"/>
                </a:solidFill>
                <a:effectLst/>
                <a:latin typeface="+mn-ea"/>
                <a:ea typeface="+mn-ea"/>
                <a:cs typeface="+mn-cs"/>
                <a:hlinkClick r:id="rId3">
                  <a:extLst>
                    <a:ext uri="{A12FA001-AC4F-418D-AE19-62706E023703}">
                      <ahyp:hlinkClr xmlns:ahyp="http://schemas.microsoft.com/office/drawing/2018/hyperlinkcolor" val="tx"/>
                    </a:ext>
                  </a:extLst>
                </a:hlinkClick>
              </a:rPr>
              <a:t>服务，它可以根据 </a:t>
            </a:r>
            <a:r>
              <a:rPr lang="en" altLang="zh-CN" sz="1200" b="0" i="0" u="sng" kern="1200" dirty="0">
                <a:solidFill>
                  <a:srgbClr val="111111"/>
                </a:solidFill>
                <a:effectLst/>
                <a:latin typeface="+mn-ea"/>
                <a:ea typeface="+mn-ea"/>
                <a:cs typeface="+mn-cs"/>
                <a:hlinkClick r:id="rId3">
                  <a:extLst>
                    <a:ext uri="{A12FA001-AC4F-418D-AE19-62706E023703}">
                      <ahyp:hlinkClr xmlns:ahyp="http://schemas.microsoft.com/office/drawing/2018/hyperlinkcolor" val="tx"/>
                    </a:ext>
                  </a:extLst>
                </a:hlinkClick>
              </a:rPr>
              <a:t>GitHub </a:t>
            </a:r>
            <a:r>
              <a:rPr lang="zh-CN" altLang="en-US" sz="1200" b="0" i="0" u="sng" kern="1200" dirty="0">
                <a:solidFill>
                  <a:srgbClr val="111111"/>
                </a:solidFill>
                <a:effectLst/>
                <a:latin typeface="+mn-ea"/>
                <a:ea typeface="+mn-ea"/>
                <a:cs typeface="+mn-cs"/>
                <a:hlinkClick r:id="rId3">
                  <a:extLst>
                    <a:ext uri="{A12FA001-AC4F-418D-AE19-62706E023703}">
                      <ahyp:hlinkClr xmlns:ahyp="http://schemas.microsoft.com/office/drawing/2018/hyperlinkcolor" val="tx"/>
                    </a:ext>
                  </a:extLst>
                </a:hlinkClick>
              </a:rPr>
              <a:t>上的代码仓库的事件（如 </a:t>
            </a:r>
            <a:r>
              <a:rPr lang="en" altLang="zh-CN" sz="1200" b="0" i="0" u="sng" kern="1200" dirty="0">
                <a:solidFill>
                  <a:srgbClr val="111111"/>
                </a:solidFill>
                <a:effectLst/>
                <a:latin typeface="+mn-ea"/>
                <a:ea typeface="+mn-ea"/>
                <a:cs typeface="+mn-cs"/>
                <a:hlinkClick r:id="rId3">
                  <a:extLst>
                    <a:ext uri="{A12FA001-AC4F-418D-AE19-62706E023703}">
                      <ahyp:hlinkClr xmlns:ahyp="http://schemas.microsoft.com/office/drawing/2018/hyperlinkcolor" val="tx"/>
                    </a:ext>
                  </a:extLst>
                </a:hlinkClick>
              </a:rPr>
              <a:t>push</a:t>
            </a:r>
            <a:r>
              <a:rPr lang="zh-CN" altLang="en" sz="1200" b="0" i="0" u="sng" kern="1200" dirty="0">
                <a:solidFill>
                  <a:srgbClr val="111111"/>
                </a:solidFill>
                <a:effectLst/>
                <a:latin typeface="+mn-ea"/>
                <a:ea typeface="+mn-ea"/>
                <a:cs typeface="+mn-cs"/>
                <a:hlinkClick r:id="rId3">
                  <a:extLst>
                    <a:ext uri="{A12FA001-AC4F-418D-AE19-62706E023703}">
                      <ahyp:hlinkClr xmlns:ahyp="http://schemas.microsoft.com/office/drawing/2018/hyperlinkcolor" val="tx"/>
                    </a:ext>
                  </a:extLst>
                </a:hlinkClick>
              </a:rPr>
              <a:t>、</a:t>
            </a:r>
            <a:r>
              <a:rPr lang="en" altLang="zh-CN" sz="1200" b="0" i="0" u="sng" kern="1200" dirty="0">
                <a:solidFill>
                  <a:srgbClr val="111111"/>
                </a:solidFill>
                <a:effectLst/>
                <a:latin typeface="+mn-ea"/>
                <a:ea typeface="+mn-ea"/>
                <a:cs typeface="+mn-cs"/>
                <a:hlinkClick r:id="rId3">
                  <a:extLst>
                    <a:ext uri="{A12FA001-AC4F-418D-AE19-62706E023703}">
                      <ahyp:hlinkClr xmlns:ahyp="http://schemas.microsoft.com/office/drawing/2018/hyperlinkcolor" val="tx"/>
                    </a:ext>
                  </a:extLst>
                </a:hlinkClick>
              </a:rPr>
              <a:t>pull request </a:t>
            </a:r>
            <a:r>
              <a:rPr lang="zh-CN" altLang="en-US" sz="1200" b="0" i="0" u="sng" kern="1200" dirty="0">
                <a:solidFill>
                  <a:srgbClr val="111111"/>
                </a:solidFill>
                <a:effectLst/>
                <a:latin typeface="+mn-ea"/>
                <a:ea typeface="+mn-ea"/>
                <a:cs typeface="+mn-cs"/>
                <a:hlinkClick r:id="rId3">
                  <a:extLst>
                    <a:ext uri="{A12FA001-AC4F-418D-AE19-62706E023703}">
                      <ahyp:hlinkClr xmlns:ahyp="http://schemas.microsoft.com/office/drawing/2018/hyperlinkcolor" val="tx"/>
                    </a:ext>
                  </a:extLst>
                </a:hlinkClick>
              </a:rPr>
              <a:t>等）触发一系列的自动化操作，比如构建、测试、打包、部署项目等</a:t>
            </a:r>
            <a:endParaRPr lang="zh-CN" altLang="en-US" sz="1200" b="0" i="0" u="sng" kern="1200" dirty="0">
              <a:solidFill>
                <a:srgbClr val="111111"/>
              </a:solidFill>
              <a:effectLst/>
              <a:latin typeface="+mn-ea"/>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t>89</a:t>
            </a:fld>
            <a:endParaRPr lang="zh-CN" altLang="en-US"/>
          </a:p>
        </p:txBody>
      </p:sp>
    </p:spTree>
    <p:extLst>
      <p:ext uri="{BB962C8B-B14F-4D97-AF65-F5344CB8AC3E}">
        <p14:creationId xmlns:p14="http://schemas.microsoft.com/office/powerpoint/2010/main" val="216839239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12</a:t>
            </a:r>
            <a:r>
              <a:rPr lang="zh-CN" altLang="en-US" dirty="0"/>
              <a:t>个阶段，接下来逐一介绍</a:t>
            </a:r>
          </a:p>
        </p:txBody>
      </p:sp>
      <p:sp>
        <p:nvSpPr>
          <p:cNvPr id="4" name="灯片编号占位符 3"/>
          <p:cNvSpPr>
            <a:spLocks noGrp="1"/>
          </p:cNvSpPr>
          <p:nvPr>
            <p:ph type="sldNum" sz="quarter" idx="5"/>
          </p:nvPr>
        </p:nvSpPr>
        <p:spPr/>
        <p:txBody>
          <a:bodyPr/>
          <a:lstStyle/>
          <a:p>
            <a:fld id="{8C538A16-44D0-4638-ACD6-43A88F095A25}" type="slidenum">
              <a:rPr lang="zh-CN" altLang="en-US" smtClean="0"/>
              <a:t>95</a:t>
            </a:fld>
            <a:endParaRPr lang="zh-CN" altLang="en-US"/>
          </a:p>
        </p:txBody>
      </p:sp>
    </p:spTree>
    <p:extLst>
      <p:ext uri="{BB962C8B-B14F-4D97-AF65-F5344CB8AC3E}">
        <p14:creationId xmlns:p14="http://schemas.microsoft.com/office/powerpoint/2010/main" val="31848809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4" name="图片占位符 3"/>
          <p:cNvSpPr>
            <a:spLocks noGrp="1"/>
          </p:cNvSpPr>
          <p:nvPr>
            <p:ph type="pic" sz="quarter" idx="10"/>
          </p:nvPr>
        </p:nvSpPr>
        <p:spPr>
          <a:xfrm>
            <a:off x="0" y="0"/>
            <a:ext cx="12192000" cy="6858000"/>
          </a:xfrm>
          <a:prstGeom prst="rect">
            <a:avLst/>
          </a:prstGeom>
        </p:spPr>
        <p:txBody>
          <a:bodyPr/>
          <a:lstStyle/>
          <a:p>
            <a:endParaRPr lang="zh-CN" altLang="en-US" dirty="0"/>
          </a:p>
        </p:txBody>
      </p:sp>
      <p:sp>
        <p:nvSpPr>
          <p:cNvPr id="5" name="任意多边形: 形状 4"/>
          <p:cNvSpPr/>
          <p:nvPr userDrawn="1"/>
        </p:nvSpPr>
        <p:spPr>
          <a:xfrm>
            <a:off x="0" y="2820188"/>
            <a:ext cx="12192000" cy="4037813"/>
          </a:xfrm>
          <a:custGeom>
            <a:avLst/>
            <a:gdLst>
              <a:gd name="connsiteX0" fmla="*/ 0 w 12192000"/>
              <a:gd name="connsiteY0" fmla="*/ 0 h 4037813"/>
              <a:gd name="connsiteX1" fmla="*/ 106773 w 12192000"/>
              <a:gd name="connsiteY1" fmla="*/ 36445 h 4037813"/>
              <a:gd name="connsiteX2" fmla="*/ 6096001 w 12192000"/>
              <a:gd name="connsiteY2" fmla="*/ 883678 h 4037813"/>
              <a:gd name="connsiteX3" fmla="*/ 12085229 w 12192000"/>
              <a:gd name="connsiteY3" fmla="*/ 36445 h 4037813"/>
              <a:gd name="connsiteX4" fmla="*/ 12192000 w 12192000"/>
              <a:gd name="connsiteY4" fmla="*/ 1 h 4037813"/>
              <a:gd name="connsiteX5" fmla="*/ 12192000 w 12192000"/>
              <a:gd name="connsiteY5" fmla="*/ 4037813 h 4037813"/>
              <a:gd name="connsiteX6" fmla="*/ 0 w 12192000"/>
              <a:gd name="connsiteY6" fmla="*/ 4037813 h 4037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4037813">
                <a:moveTo>
                  <a:pt x="0" y="0"/>
                </a:moveTo>
                <a:lnTo>
                  <a:pt x="106773" y="36445"/>
                </a:lnTo>
                <a:cubicBezTo>
                  <a:pt x="1734353" y="565729"/>
                  <a:pt x="3820949" y="883678"/>
                  <a:pt x="6096001" y="883678"/>
                </a:cubicBezTo>
                <a:cubicBezTo>
                  <a:pt x="8371054" y="883678"/>
                  <a:pt x="10457649" y="565729"/>
                  <a:pt x="12085229" y="36445"/>
                </a:cubicBezTo>
                <a:lnTo>
                  <a:pt x="12192000" y="1"/>
                </a:lnTo>
                <a:lnTo>
                  <a:pt x="12192000" y="4037813"/>
                </a:lnTo>
                <a:lnTo>
                  <a:pt x="0" y="4037813"/>
                </a:lnTo>
                <a:close/>
              </a:path>
            </a:pathLst>
          </a:custGeom>
          <a:solidFill>
            <a:srgbClr val="0442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00"/>
              </a:spcAft>
            </a:pPr>
            <a:endParaRPr lang="zh-CN" altLang="en-US"/>
          </a:p>
        </p:txBody>
      </p:sp>
      <p:grpSp>
        <p:nvGrpSpPr>
          <p:cNvPr id="6" name="Group 74"/>
          <p:cNvGrpSpPr>
            <a:grpSpLocks noChangeAspect="1"/>
          </p:cNvGrpSpPr>
          <p:nvPr userDrawn="1"/>
        </p:nvGrpSpPr>
        <p:grpSpPr bwMode="auto">
          <a:xfrm>
            <a:off x="5159308" y="4066426"/>
            <a:ext cx="1873384" cy="521122"/>
            <a:chOff x="954" y="660"/>
            <a:chExt cx="1269" cy="353"/>
          </a:xfrm>
          <a:solidFill>
            <a:schemeClr val="bg1"/>
          </a:solidFill>
        </p:grpSpPr>
        <p:sp>
          <p:nvSpPr>
            <p:cNvPr id="7" name="Freeform 75"/>
            <p:cNvSpPr/>
            <p:nvPr userDrawn="1"/>
          </p:nvSpPr>
          <p:spPr bwMode="auto">
            <a:xfrm>
              <a:off x="1968" y="833"/>
              <a:ext cx="45" cy="46"/>
            </a:xfrm>
            <a:custGeom>
              <a:avLst/>
              <a:gdLst>
                <a:gd name="T0" fmla="*/ 10 w 36"/>
                <a:gd name="T1" fmla="*/ 35 h 37"/>
                <a:gd name="T2" fmla="*/ 6 w 36"/>
                <a:gd name="T3" fmla="*/ 25 h 37"/>
                <a:gd name="T4" fmla="*/ 0 w 36"/>
                <a:gd name="T5" fmla="*/ 11 h 37"/>
                <a:gd name="T6" fmla="*/ 23 w 36"/>
                <a:gd name="T7" fmla="*/ 4 h 37"/>
                <a:gd name="T8" fmla="*/ 28 w 36"/>
                <a:gd name="T9" fmla="*/ 9 h 37"/>
                <a:gd name="T10" fmla="*/ 30 w 36"/>
                <a:gd name="T11" fmla="*/ 29 h 37"/>
                <a:gd name="T12" fmla="*/ 10 w 36"/>
                <a:gd name="T13" fmla="*/ 35 h 37"/>
              </a:gdLst>
              <a:ahLst/>
              <a:cxnLst>
                <a:cxn ang="0">
                  <a:pos x="T0" y="T1"/>
                </a:cxn>
                <a:cxn ang="0">
                  <a:pos x="T2" y="T3"/>
                </a:cxn>
                <a:cxn ang="0">
                  <a:pos x="T4" y="T5"/>
                </a:cxn>
                <a:cxn ang="0">
                  <a:pos x="T6" y="T7"/>
                </a:cxn>
                <a:cxn ang="0">
                  <a:pos x="T8" y="T9"/>
                </a:cxn>
                <a:cxn ang="0">
                  <a:pos x="T10" y="T11"/>
                </a:cxn>
                <a:cxn ang="0">
                  <a:pos x="T12" y="T13"/>
                </a:cxn>
              </a:cxnLst>
              <a:rect l="0" t="0" r="r" b="b"/>
              <a:pathLst>
                <a:path w="36" h="37">
                  <a:moveTo>
                    <a:pt x="10" y="35"/>
                  </a:moveTo>
                  <a:cubicBezTo>
                    <a:pt x="3" y="34"/>
                    <a:pt x="7" y="31"/>
                    <a:pt x="6" y="25"/>
                  </a:cubicBezTo>
                  <a:cubicBezTo>
                    <a:pt x="5" y="20"/>
                    <a:pt x="0" y="14"/>
                    <a:pt x="0" y="11"/>
                  </a:cubicBezTo>
                  <a:cubicBezTo>
                    <a:pt x="1" y="0"/>
                    <a:pt x="15" y="0"/>
                    <a:pt x="23" y="4"/>
                  </a:cubicBezTo>
                  <a:cubicBezTo>
                    <a:pt x="25" y="4"/>
                    <a:pt x="26" y="7"/>
                    <a:pt x="28" y="9"/>
                  </a:cubicBezTo>
                  <a:cubicBezTo>
                    <a:pt x="32" y="14"/>
                    <a:pt x="36" y="23"/>
                    <a:pt x="30" y="29"/>
                  </a:cubicBezTo>
                  <a:cubicBezTo>
                    <a:pt x="25" y="34"/>
                    <a:pt x="17" y="37"/>
                    <a:pt x="10" y="3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8" name="Freeform 76"/>
            <p:cNvSpPr/>
            <p:nvPr userDrawn="1"/>
          </p:nvSpPr>
          <p:spPr bwMode="auto">
            <a:xfrm>
              <a:off x="1837" y="698"/>
              <a:ext cx="160" cy="165"/>
            </a:xfrm>
            <a:custGeom>
              <a:avLst/>
              <a:gdLst>
                <a:gd name="T0" fmla="*/ 33 w 129"/>
                <a:gd name="T1" fmla="*/ 133 h 133"/>
                <a:gd name="T2" fmla="*/ 32 w 129"/>
                <a:gd name="T3" fmla="*/ 133 h 133"/>
                <a:gd name="T4" fmla="*/ 33 w 129"/>
                <a:gd name="T5" fmla="*/ 130 h 133"/>
                <a:gd name="T6" fmla="*/ 55 w 129"/>
                <a:gd name="T7" fmla="*/ 116 h 133"/>
                <a:gd name="T8" fmla="*/ 67 w 129"/>
                <a:gd name="T9" fmla="*/ 99 h 133"/>
                <a:gd name="T10" fmla="*/ 25 w 129"/>
                <a:gd name="T11" fmla="*/ 115 h 133"/>
                <a:gd name="T12" fmla="*/ 8 w 129"/>
                <a:gd name="T13" fmla="*/ 108 h 133"/>
                <a:gd name="T14" fmla="*/ 8 w 129"/>
                <a:gd name="T15" fmla="*/ 107 h 133"/>
                <a:gd name="T16" fmla="*/ 8 w 129"/>
                <a:gd name="T17" fmla="*/ 92 h 133"/>
                <a:gd name="T18" fmla="*/ 60 w 129"/>
                <a:gd name="T19" fmla="*/ 80 h 133"/>
                <a:gd name="T20" fmla="*/ 75 w 129"/>
                <a:gd name="T21" fmla="*/ 72 h 133"/>
                <a:gd name="T22" fmla="*/ 77 w 129"/>
                <a:gd name="T23" fmla="*/ 14 h 133"/>
                <a:gd name="T24" fmla="*/ 99 w 129"/>
                <a:gd name="T25" fmla="*/ 16 h 133"/>
                <a:gd name="T26" fmla="*/ 103 w 129"/>
                <a:gd name="T27" fmla="*/ 21 h 133"/>
                <a:gd name="T28" fmla="*/ 104 w 129"/>
                <a:gd name="T29" fmla="*/ 21 h 133"/>
                <a:gd name="T30" fmla="*/ 103 w 129"/>
                <a:gd name="T31" fmla="*/ 35 h 133"/>
                <a:gd name="T32" fmla="*/ 98 w 129"/>
                <a:gd name="T33" fmla="*/ 65 h 133"/>
                <a:gd name="T34" fmla="*/ 126 w 129"/>
                <a:gd name="T35" fmla="*/ 54 h 133"/>
                <a:gd name="T36" fmla="*/ 123 w 129"/>
                <a:gd name="T37" fmla="*/ 69 h 133"/>
                <a:gd name="T38" fmla="*/ 95 w 129"/>
                <a:gd name="T39" fmla="*/ 81 h 133"/>
                <a:gd name="T40" fmla="*/ 82 w 129"/>
                <a:gd name="T41" fmla="*/ 111 h 133"/>
                <a:gd name="T42" fmla="*/ 75 w 129"/>
                <a:gd name="T43" fmla="*/ 118 h 133"/>
                <a:gd name="T44" fmla="*/ 56 w 129"/>
                <a:gd name="T45" fmla="*/ 128 h 133"/>
                <a:gd name="T46" fmla="*/ 33 w 129"/>
                <a:gd name="T47" fmla="*/ 13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9" h="133">
                  <a:moveTo>
                    <a:pt x="33" y="133"/>
                  </a:moveTo>
                  <a:cubicBezTo>
                    <a:pt x="33" y="133"/>
                    <a:pt x="33" y="133"/>
                    <a:pt x="32" y="133"/>
                  </a:cubicBezTo>
                  <a:cubicBezTo>
                    <a:pt x="32" y="132"/>
                    <a:pt x="32" y="131"/>
                    <a:pt x="33" y="130"/>
                  </a:cubicBezTo>
                  <a:cubicBezTo>
                    <a:pt x="35" y="130"/>
                    <a:pt x="55" y="117"/>
                    <a:pt x="55" y="116"/>
                  </a:cubicBezTo>
                  <a:cubicBezTo>
                    <a:pt x="60" y="111"/>
                    <a:pt x="66" y="106"/>
                    <a:pt x="67" y="99"/>
                  </a:cubicBezTo>
                  <a:cubicBezTo>
                    <a:pt x="53" y="104"/>
                    <a:pt x="40" y="114"/>
                    <a:pt x="25" y="115"/>
                  </a:cubicBezTo>
                  <a:cubicBezTo>
                    <a:pt x="18" y="113"/>
                    <a:pt x="13" y="110"/>
                    <a:pt x="8" y="108"/>
                  </a:cubicBezTo>
                  <a:cubicBezTo>
                    <a:pt x="8" y="107"/>
                    <a:pt x="8" y="107"/>
                    <a:pt x="8" y="107"/>
                  </a:cubicBezTo>
                  <a:cubicBezTo>
                    <a:pt x="1" y="102"/>
                    <a:pt x="0" y="95"/>
                    <a:pt x="8" y="92"/>
                  </a:cubicBezTo>
                  <a:cubicBezTo>
                    <a:pt x="23" y="96"/>
                    <a:pt x="46" y="85"/>
                    <a:pt x="60" y="80"/>
                  </a:cubicBezTo>
                  <a:cubicBezTo>
                    <a:pt x="63" y="78"/>
                    <a:pt x="72" y="75"/>
                    <a:pt x="75" y="72"/>
                  </a:cubicBezTo>
                  <a:cubicBezTo>
                    <a:pt x="78" y="52"/>
                    <a:pt x="76" y="33"/>
                    <a:pt x="77" y="14"/>
                  </a:cubicBezTo>
                  <a:cubicBezTo>
                    <a:pt x="82" y="0"/>
                    <a:pt x="90" y="10"/>
                    <a:pt x="99" y="16"/>
                  </a:cubicBezTo>
                  <a:cubicBezTo>
                    <a:pt x="99" y="18"/>
                    <a:pt x="101" y="19"/>
                    <a:pt x="103" y="21"/>
                  </a:cubicBezTo>
                  <a:cubicBezTo>
                    <a:pt x="103" y="21"/>
                    <a:pt x="103" y="21"/>
                    <a:pt x="104" y="21"/>
                  </a:cubicBezTo>
                  <a:cubicBezTo>
                    <a:pt x="107" y="27"/>
                    <a:pt x="108" y="30"/>
                    <a:pt x="103" y="35"/>
                  </a:cubicBezTo>
                  <a:cubicBezTo>
                    <a:pt x="99" y="44"/>
                    <a:pt x="97" y="54"/>
                    <a:pt x="98" y="65"/>
                  </a:cubicBezTo>
                  <a:cubicBezTo>
                    <a:pt x="108" y="63"/>
                    <a:pt x="114" y="55"/>
                    <a:pt x="126" y="54"/>
                  </a:cubicBezTo>
                  <a:cubicBezTo>
                    <a:pt x="129" y="60"/>
                    <a:pt x="128" y="65"/>
                    <a:pt x="123" y="69"/>
                  </a:cubicBezTo>
                  <a:cubicBezTo>
                    <a:pt x="114" y="73"/>
                    <a:pt x="105" y="77"/>
                    <a:pt x="95" y="81"/>
                  </a:cubicBezTo>
                  <a:cubicBezTo>
                    <a:pt x="93" y="91"/>
                    <a:pt x="89" y="103"/>
                    <a:pt x="82" y="111"/>
                  </a:cubicBezTo>
                  <a:cubicBezTo>
                    <a:pt x="81" y="113"/>
                    <a:pt x="76" y="117"/>
                    <a:pt x="75" y="118"/>
                  </a:cubicBezTo>
                  <a:cubicBezTo>
                    <a:pt x="69" y="122"/>
                    <a:pt x="63" y="126"/>
                    <a:pt x="56" y="128"/>
                  </a:cubicBezTo>
                  <a:cubicBezTo>
                    <a:pt x="37" y="133"/>
                    <a:pt x="37" y="133"/>
                    <a:pt x="33" y="1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 name="Freeform 77"/>
            <p:cNvSpPr/>
            <p:nvPr userDrawn="1"/>
          </p:nvSpPr>
          <p:spPr bwMode="auto">
            <a:xfrm>
              <a:off x="1630" y="796"/>
              <a:ext cx="94" cy="110"/>
            </a:xfrm>
            <a:custGeom>
              <a:avLst/>
              <a:gdLst>
                <a:gd name="T0" fmla="*/ 17 w 76"/>
                <a:gd name="T1" fmla="*/ 88 h 88"/>
                <a:gd name="T2" fmla="*/ 0 w 76"/>
                <a:gd name="T3" fmla="*/ 70 h 88"/>
                <a:gd name="T4" fmla="*/ 2 w 76"/>
                <a:gd name="T5" fmla="*/ 65 h 88"/>
                <a:gd name="T6" fmla="*/ 50 w 76"/>
                <a:gd name="T7" fmla="*/ 26 h 88"/>
                <a:gd name="T8" fmla="*/ 65 w 76"/>
                <a:gd name="T9" fmla="*/ 5 h 88"/>
                <a:gd name="T10" fmla="*/ 66 w 76"/>
                <a:gd name="T11" fmla="*/ 4 h 88"/>
                <a:gd name="T12" fmla="*/ 66 w 76"/>
                <a:gd name="T13" fmla="*/ 4 h 88"/>
                <a:gd name="T14" fmla="*/ 76 w 76"/>
                <a:gd name="T15" fmla="*/ 5 h 88"/>
                <a:gd name="T16" fmla="*/ 65 w 76"/>
                <a:gd name="T17" fmla="*/ 19 h 88"/>
                <a:gd name="T18" fmla="*/ 54 w 76"/>
                <a:gd name="T19" fmla="*/ 43 h 88"/>
                <a:gd name="T20" fmla="*/ 48 w 76"/>
                <a:gd name="T21" fmla="*/ 54 h 88"/>
                <a:gd name="T22" fmla="*/ 35 w 76"/>
                <a:gd name="T23" fmla="*/ 72 h 88"/>
                <a:gd name="T24" fmla="*/ 21 w 76"/>
                <a:gd name="T25" fmla="*/ 87 h 88"/>
                <a:gd name="T26" fmla="*/ 17 w 76"/>
                <a:gd name="T27"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 h="88">
                  <a:moveTo>
                    <a:pt x="17" y="88"/>
                  </a:moveTo>
                  <a:cubicBezTo>
                    <a:pt x="10" y="84"/>
                    <a:pt x="3" y="76"/>
                    <a:pt x="0" y="70"/>
                  </a:cubicBezTo>
                  <a:cubicBezTo>
                    <a:pt x="0" y="69"/>
                    <a:pt x="1" y="67"/>
                    <a:pt x="2" y="65"/>
                  </a:cubicBezTo>
                  <a:cubicBezTo>
                    <a:pt x="18" y="52"/>
                    <a:pt x="35" y="41"/>
                    <a:pt x="50" y="26"/>
                  </a:cubicBezTo>
                  <a:cubicBezTo>
                    <a:pt x="54" y="19"/>
                    <a:pt x="60" y="12"/>
                    <a:pt x="65" y="5"/>
                  </a:cubicBezTo>
                  <a:cubicBezTo>
                    <a:pt x="65" y="5"/>
                    <a:pt x="66" y="5"/>
                    <a:pt x="66" y="4"/>
                  </a:cubicBezTo>
                  <a:cubicBezTo>
                    <a:pt x="66" y="4"/>
                    <a:pt x="66" y="4"/>
                    <a:pt x="66" y="4"/>
                  </a:cubicBezTo>
                  <a:cubicBezTo>
                    <a:pt x="70" y="0"/>
                    <a:pt x="72" y="0"/>
                    <a:pt x="76" y="5"/>
                  </a:cubicBezTo>
                  <a:cubicBezTo>
                    <a:pt x="76" y="10"/>
                    <a:pt x="68" y="14"/>
                    <a:pt x="65" y="19"/>
                  </a:cubicBezTo>
                  <a:cubicBezTo>
                    <a:pt x="62" y="27"/>
                    <a:pt x="58" y="35"/>
                    <a:pt x="54" y="43"/>
                  </a:cubicBezTo>
                  <a:cubicBezTo>
                    <a:pt x="53" y="45"/>
                    <a:pt x="53" y="45"/>
                    <a:pt x="48" y="54"/>
                  </a:cubicBezTo>
                  <a:cubicBezTo>
                    <a:pt x="43" y="57"/>
                    <a:pt x="37" y="66"/>
                    <a:pt x="35" y="72"/>
                  </a:cubicBezTo>
                  <a:cubicBezTo>
                    <a:pt x="29" y="75"/>
                    <a:pt x="27" y="84"/>
                    <a:pt x="21" y="87"/>
                  </a:cubicBezTo>
                  <a:cubicBezTo>
                    <a:pt x="19" y="87"/>
                    <a:pt x="18" y="87"/>
                    <a:pt x="17" y="8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 name="Freeform 78"/>
            <p:cNvSpPr/>
            <p:nvPr userDrawn="1"/>
          </p:nvSpPr>
          <p:spPr bwMode="auto">
            <a:xfrm>
              <a:off x="1749" y="791"/>
              <a:ext cx="53" cy="41"/>
            </a:xfrm>
            <a:custGeom>
              <a:avLst/>
              <a:gdLst>
                <a:gd name="T0" fmla="*/ 19 w 43"/>
                <a:gd name="T1" fmla="*/ 33 h 33"/>
                <a:gd name="T2" fmla="*/ 0 w 43"/>
                <a:gd name="T3" fmla="*/ 20 h 33"/>
                <a:gd name="T4" fmla="*/ 2 w 43"/>
                <a:gd name="T5" fmla="*/ 14 h 33"/>
                <a:gd name="T6" fmla="*/ 6 w 43"/>
                <a:gd name="T7" fmla="*/ 13 h 33"/>
                <a:gd name="T8" fmla="*/ 17 w 43"/>
                <a:gd name="T9" fmla="*/ 12 h 33"/>
                <a:gd name="T10" fmla="*/ 43 w 43"/>
                <a:gd name="T11" fmla="*/ 5 h 33"/>
                <a:gd name="T12" fmla="*/ 19 w 43"/>
                <a:gd name="T13" fmla="*/ 33 h 33"/>
              </a:gdLst>
              <a:ahLst/>
              <a:cxnLst>
                <a:cxn ang="0">
                  <a:pos x="T0" y="T1"/>
                </a:cxn>
                <a:cxn ang="0">
                  <a:pos x="T2" y="T3"/>
                </a:cxn>
                <a:cxn ang="0">
                  <a:pos x="T4" y="T5"/>
                </a:cxn>
                <a:cxn ang="0">
                  <a:pos x="T6" y="T7"/>
                </a:cxn>
                <a:cxn ang="0">
                  <a:pos x="T8" y="T9"/>
                </a:cxn>
                <a:cxn ang="0">
                  <a:pos x="T10" y="T11"/>
                </a:cxn>
                <a:cxn ang="0">
                  <a:pos x="T12" y="T13"/>
                </a:cxn>
              </a:cxnLst>
              <a:rect l="0" t="0" r="r" b="b"/>
              <a:pathLst>
                <a:path w="43" h="33">
                  <a:moveTo>
                    <a:pt x="19" y="33"/>
                  </a:moveTo>
                  <a:cubicBezTo>
                    <a:pt x="9" y="33"/>
                    <a:pt x="6" y="26"/>
                    <a:pt x="0" y="20"/>
                  </a:cubicBezTo>
                  <a:cubicBezTo>
                    <a:pt x="0" y="18"/>
                    <a:pt x="2" y="16"/>
                    <a:pt x="2" y="14"/>
                  </a:cubicBezTo>
                  <a:cubicBezTo>
                    <a:pt x="4" y="14"/>
                    <a:pt x="4" y="14"/>
                    <a:pt x="6" y="13"/>
                  </a:cubicBezTo>
                  <a:cubicBezTo>
                    <a:pt x="10" y="12"/>
                    <a:pt x="12" y="12"/>
                    <a:pt x="17" y="12"/>
                  </a:cubicBezTo>
                  <a:cubicBezTo>
                    <a:pt x="22" y="11"/>
                    <a:pt x="38" y="0"/>
                    <a:pt x="43" y="5"/>
                  </a:cubicBezTo>
                  <a:cubicBezTo>
                    <a:pt x="43" y="17"/>
                    <a:pt x="30" y="30"/>
                    <a:pt x="19"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 name="Freeform 79"/>
            <p:cNvSpPr/>
            <p:nvPr userDrawn="1"/>
          </p:nvSpPr>
          <p:spPr bwMode="auto">
            <a:xfrm>
              <a:off x="1668" y="766"/>
              <a:ext cx="36" cy="42"/>
            </a:xfrm>
            <a:custGeom>
              <a:avLst/>
              <a:gdLst>
                <a:gd name="T0" fmla="*/ 5 w 29"/>
                <a:gd name="T1" fmla="*/ 34 h 34"/>
                <a:gd name="T2" fmla="*/ 0 w 29"/>
                <a:gd name="T3" fmla="*/ 9 h 34"/>
                <a:gd name="T4" fmla="*/ 19 w 29"/>
                <a:gd name="T5" fmla="*/ 6 h 34"/>
                <a:gd name="T6" fmla="*/ 23 w 29"/>
                <a:gd name="T7" fmla="*/ 26 h 34"/>
                <a:gd name="T8" fmla="*/ 5 w 29"/>
                <a:gd name="T9" fmla="*/ 34 h 34"/>
              </a:gdLst>
              <a:ahLst/>
              <a:cxnLst>
                <a:cxn ang="0">
                  <a:pos x="T0" y="T1"/>
                </a:cxn>
                <a:cxn ang="0">
                  <a:pos x="T2" y="T3"/>
                </a:cxn>
                <a:cxn ang="0">
                  <a:pos x="T4" y="T5"/>
                </a:cxn>
                <a:cxn ang="0">
                  <a:pos x="T6" y="T7"/>
                </a:cxn>
                <a:cxn ang="0">
                  <a:pos x="T8" y="T9"/>
                </a:cxn>
              </a:cxnLst>
              <a:rect l="0" t="0" r="r" b="b"/>
              <a:pathLst>
                <a:path w="29" h="34">
                  <a:moveTo>
                    <a:pt x="5" y="34"/>
                  </a:moveTo>
                  <a:cubicBezTo>
                    <a:pt x="1" y="30"/>
                    <a:pt x="0" y="14"/>
                    <a:pt x="0" y="9"/>
                  </a:cubicBezTo>
                  <a:cubicBezTo>
                    <a:pt x="3" y="0"/>
                    <a:pt x="12" y="0"/>
                    <a:pt x="19" y="6"/>
                  </a:cubicBezTo>
                  <a:cubicBezTo>
                    <a:pt x="25" y="14"/>
                    <a:pt x="29" y="17"/>
                    <a:pt x="23" y="26"/>
                  </a:cubicBezTo>
                  <a:cubicBezTo>
                    <a:pt x="16" y="32"/>
                    <a:pt x="13" y="32"/>
                    <a:pt x="5" y="3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 name="Freeform 80"/>
            <p:cNvSpPr/>
            <p:nvPr userDrawn="1"/>
          </p:nvSpPr>
          <p:spPr bwMode="auto">
            <a:xfrm>
              <a:off x="1748" y="739"/>
              <a:ext cx="63" cy="60"/>
            </a:xfrm>
            <a:custGeom>
              <a:avLst/>
              <a:gdLst>
                <a:gd name="T0" fmla="*/ 17 w 51"/>
                <a:gd name="T1" fmla="*/ 48 h 48"/>
                <a:gd name="T2" fmla="*/ 21 w 51"/>
                <a:gd name="T3" fmla="*/ 30 h 48"/>
                <a:gd name="T4" fmla="*/ 13 w 51"/>
                <a:gd name="T5" fmla="*/ 32 h 48"/>
                <a:gd name="T6" fmla="*/ 3 w 51"/>
                <a:gd name="T7" fmla="*/ 15 h 48"/>
                <a:gd name="T8" fmla="*/ 13 w 51"/>
                <a:gd name="T9" fmla="*/ 11 h 48"/>
                <a:gd name="T10" fmla="*/ 33 w 51"/>
                <a:gd name="T11" fmla="*/ 2 h 48"/>
                <a:gd name="T12" fmla="*/ 51 w 51"/>
                <a:gd name="T13" fmla="*/ 18 h 48"/>
                <a:gd name="T14" fmla="*/ 39 w 51"/>
                <a:gd name="T15" fmla="*/ 36 h 48"/>
                <a:gd name="T16" fmla="*/ 22 w 51"/>
                <a:gd name="T17" fmla="*/ 47 h 48"/>
                <a:gd name="T18" fmla="*/ 17 w 51"/>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 h="48">
                  <a:moveTo>
                    <a:pt x="17" y="48"/>
                  </a:moveTo>
                  <a:cubicBezTo>
                    <a:pt x="16" y="43"/>
                    <a:pt x="23" y="33"/>
                    <a:pt x="21" y="30"/>
                  </a:cubicBezTo>
                  <a:cubicBezTo>
                    <a:pt x="18" y="31"/>
                    <a:pt x="16" y="32"/>
                    <a:pt x="13" y="32"/>
                  </a:cubicBezTo>
                  <a:cubicBezTo>
                    <a:pt x="7" y="29"/>
                    <a:pt x="0" y="21"/>
                    <a:pt x="3" y="15"/>
                  </a:cubicBezTo>
                  <a:cubicBezTo>
                    <a:pt x="7" y="10"/>
                    <a:pt x="6" y="12"/>
                    <a:pt x="13" y="11"/>
                  </a:cubicBezTo>
                  <a:cubicBezTo>
                    <a:pt x="19" y="8"/>
                    <a:pt x="26" y="5"/>
                    <a:pt x="33" y="2"/>
                  </a:cubicBezTo>
                  <a:cubicBezTo>
                    <a:pt x="45" y="0"/>
                    <a:pt x="50" y="6"/>
                    <a:pt x="51" y="18"/>
                  </a:cubicBezTo>
                  <a:cubicBezTo>
                    <a:pt x="49" y="25"/>
                    <a:pt x="44" y="31"/>
                    <a:pt x="39" y="36"/>
                  </a:cubicBezTo>
                  <a:cubicBezTo>
                    <a:pt x="33" y="40"/>
                    <a:pt x="27" y="44"/>
                    <a:pt x="22" y="47"/>
                  </a:cubicBezTo>
                  <a:cubicBezTo>
                    <a:pt x="20" y="47"/>
                    <a:pt x="19" y="48"/>
                    <a:pt x="17" y="4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 name="Freeform 81"/>
            <p:cNvSpPr/>
            <p:nvPr userDrawn="1"/>
          </p:nvSpPr>
          <p:spPr bwMode="auto">
            <a:xfrm>
              <a:off x="1687" y="715"/>
              <a:ext cx="38" cy="42"/>
            </a:xfrm>
            <a:custGeom>
              <a:avLst/>
              <a:gdLst>
                <a:gd name="T0" fmla="*/ 3 w 31"/>
                <a:gd name="T1" fmla="*/ 34 h 34"/>
                <a:gd name="T2" fmla="*/ 3 w 31"/>
                <a:gd name="T3" fmla="*/ 29 h 34"/>
                <a:gd name="T4" fmla="*/ 0 w 31"/>
                <a:gd name="T5" fmla="*/ 16 h 34"/>
                <a:gd name="T6" fmla="*/ 7 w 31"/>
                <a:gd name="T7" fmla="*/ 0 h 34"/>
                <a:gd name="T8" fmla="*/ 26 w 31"/>
                <a:gd name="T9" fmla="*/ 23 h 34"/>
                <a:gd name="T10" fmla="*/ 3 w 31"/>
                <a:gd name="T11" fmla="*/ 34 h 34"/>
              </a:gdLst>
              <a:ahLst/>
              <a:cxnLst>
                <a:cxn ang="0">
                  <a:pos x="T0" y="T1"/>
                </a:cxn>
                <a:cxn ang="0">
                  <a:pos x="T2" y="T3"/>
                </a:cxn>
                <a:cxn ang="0">
                  <a:pos x="T4" y="T5"/>
                </a:cxn>
                <a:cxn ang="0">
                  <a:pos x="T6" y="T7"/>
                </a:cxn>
                <a:cxn ang="0">
                  <a:pos x="T8" y="T9"/>
                </a:cxn>
                <a:cxn ang="0">
                  <a:pos x="T10" y="T11"/>
                </a:cxn>
              </a:cxnLst>
              <a:rect l="0" t="0" r="r" b="b"/>
              <a:pathLst>
                <a:path w="31" h="34">
                  <a:moveTo>
                    <a:pt x="3" y="34"/>
                  </a:moveTo>
                  <a:cubicBezTo>
                    <a:pt x="1" y="32"/>
                    <a:pt x="2" y="31"/>
                    <a:pt x="3" y="29"/>
                  </a:cubicBezTo>
                  <a:cubicBezTo>
                    <a:pt x="3" y="24"/>
                    <a:pt x="0" y="20"/>
                    <a:pt x="0" y="16"/>
                  </a:cubicBezTo>
                  <a:cubicBezTo>
                    <a:pt x="1" y="7"/>
                    <a:pt x="0" y="4"/>
                    <a:pt x="7" y="0"/>
                  </a:cubicBezTo>
                  <a:cubicBezTo>
                    <a:pt x="12" y="3"/>
                    <a:pt x="31" y="12"/>
                    <a:pt x="26" y="23"/>
                  </a:cubicBezTo>
                  <a:cubicBezTo>
                    <a:pt x="21" y="29"/>
                    <a:pt x="11" y="33"/>
                    <a:pt x="3" y="3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 name="Freeform 82"/>
            <p:cNvSpPr/>
            <p:nvPr userDrawn="1"/>
          </p:nvSpPr>
          <p:spPr bwMode="auto">
            <a:xfrm>
              <a:off x="1365" y="728"/>
              <a:ext cx="244" cy="186"/>
            </a:xfrm>
            <a:custGeom>
              <a:avLst/>
              <a:gdLst>
                <a:gd name="T0" fmla="*/ 20 w 197"/>
                <a:gd name="T1" fmla="*/ 150 h 150"/>
                <a:gd name="T2" fmla="*/ 13 w 197"/>
                <a:gd name="T3" fmla="*/ 119 h 150"/>
                <a:gd name="T4" fmla="*/ 17 w 197"/>
                <a:gd name="T5" fmla="*/ 114 h 150"/>
                <a:gd name="T6" fmla="*/ 17 w 197"/>
                <a:gd name="T7" fmla="*/ 113 h 150"/>
                <a:gd name="T8" fmla="*/ 44 w 197"/>
                <a:gd name="T9" fmla="*/ 77 h 150"/>
                <a:gd name="T10" fmla="*/ 52 w 197"/>
                <a:gd name="T11" fmla="*/ 67 h 150"/>
                <a:gd name="T12" fmla="*/ 53 w 197"/>
                <a:gd name="T13" fmla="*/ 78 h 150"/>
                <a:gd name="T14" fmla="*/ 60 w 197"/>
                <a:gd name="T15" fmla="*/ 77 h 150"/>
                <a:gd name="T16" fmla="*/ 85 w 197"/>
                <a:gd name="T17" fmla="*/ 58 h 150"/>
                <a:gd name="T18" fmla="*/ 87 w 197"/>
                <a:gd name="T19" fmla="*/ 48 h 150"/>
                <a:gd name="T20" fmla="*/ 68 w 197"/>
                <a:gd name="T21" fmla="*/ 44 h 150"/>
                <a:gd name="T22" fmla="*/ 88 w 197"/>
                <a:gd name="T23" fmla="*/ 29 h 150"/>
                <a:gd name="T24" fmla="*/ 92 w 197"/>
                <a:gd name="T25" fmla="*/ 9 h 150"/>
                <a:gd name="T26" fmla="*/ 109 w 197"/>
                <a:gd name="T27" fmla="*/ 22 h 150"/>
                <a:gd name="T28" fmla="*/ 110 w 197"/>
                <a:gd name="T29" fmla="*/ 37 h 150"/>
                <a:gd name="T30" fmla="*/ 108 w 197"/>
                <a:gd name="T31" fmla="*/ 46 h 150"/>
                <a:gd name="T32" fmla="*/ 111 w 197"/>
                <a:gd name="T33" fmla="*/ 46 h 150"/>
                <a:gd name="T34" fmla="*/ 131 w 197"/>
                <a:gd name="T35" fmla="*/ 32 h 150"/>
                <a:gd name="T36" fmla="*/ 140 w 197"/>
                <a:gd name="T37" fmla="*/ 5 h 150"/>
                <a:gd name="T38" fmla="*/ 163 w 197"/>
                <a:gd name="T39" fmla="*/ 11 h 150"/>
                <a:gd name="T40" fmla="*/ 176 w 197"/>
                <a:gd name="T41" fmla="*/ 5 h 150"/>
                <a:gd name="T42" fmla="*/ 182 w 197"/>
                <a:gd name="T43" fmla="*/ 4 h 150"/>
                <a:gd name="T44" fmla="*/ 184 w 197"/>
                <a:gd name="T45" fmla="*/ 13 h 150"/>
                <a:gd name="T46" fmla="*/ 157 w 197"/>
                <a:gd name="T47" fmla="*/ 39 h 150"/>
                <a:gd name="T48" fmla="*/ 166 w 197"/>
                <a:gd name="T49" fmla="*/ 29 h 150"/>
                <a:gd name="T50" fmla="*/ 190 w 197"/>
                <a:gd name="T51" fmla="*/ 34 h 150"/>
                <a:gd name="T52" fmla="*/ 184 w 197"/>
                <a:gd name="T53" fmla="*/ 50 h 150"/>
                <a:gd name="T54" fmla="*/ 182 w 197"/>
                <a:gd name="T55" fmla="*/ 54 h 150"/>
                <a:gd name="T56" fmla="*/ 182 w 197"/>
                <a:gd name="T57" fmla="*/ 93 h 150"/>
                <a:gd name="T58" fmla="*/ 173 w 197"/>
                <a:gd name="T59" fmla="*/ 107 h 150"/>
                <a:gd name="T60" fmla="*/ 173 w 197"/>
                <a:gd name="T61" fmla="*/ 107 h 150"/>
                <a:gd name="T62" fmla="*/ 172 w 197"/>
                <a:gd name="T63" fmla="*/ 107 h 150"/>
                <a:gd name="T64" fmla="*/ 158 w 197"/>
                <a:gd name="T65" fmla="*/ 113 h 150"/>
                <a:gd name="T66" fmla="*/ 158 w 197"/>
                <a:gd name="T67" fmla="*/ 58 h 150"/>
                <a:gd name="T68" fmla="*/ 157 w 197"/>
                <a:gd name="T69" fmla="*/ 58 h 150"/>
                <a:gd name="T70" fmla="*/ 139 w 197"/>
                <a:gd name="T71" fmla="*/ 89 h 150"/>
                <a:gd name="T72" fmla="*/ 124 w 197"/>
                <a:gd name="T73" fmla="*/ 80 h 150"/>
                <a:gd name="T74" fmla="*/ 128 w 197"/>
                <a:gd name="T75" fmla="*/ 76 h 150"/>
                <a:gd name="T76" fmla="*/ 130 w 197"/>
                <a:gd name="T77" fmla="*/ 45 h 150"/>
                <a:gd name="T78" fmla="*/ 111 w 197"/>
                <a:gd name="T79" fmla="*/ 64 h 150"/>
                <a:gd name="T80" fmla="*/ 102 w 197"/>
                <a:gd name="T81" fmla="*/ 70 h 150"/>
                <a:gd name="T82" fmla="*/ 97 w 197"/>
                <a:gd name="T83" fmla="*/ 91 h 150"/>
                <a:gd name="T84" fmla="*/ 92 w 197"/>
                <a:gd name="T85" fmla="*/ 101 h 150"/>
                <a:gd name="T86" fmla="*/ 91 w 197"/>
                <a:gd name="T87" fmla="*/ 102 h 150"/>
                <a:gd name="T88" fmla="*/ 74 w 197"/>
                <a:gd name="T89" fmla="*/ 110 h 150"/>
                <a:gd name="T90" fmla="*/ 74 w 197"/>
                <a:gd name="T91" fmla="*/ 107 h 150"/>
                <a:gd name="T92" fmla="*/ 82 w 197"/>
                <a:gd name="T93" fmla="*/ 85 h 150"/>
                <a:gd name="T94" fmla="*/ 63 w 197"/>
                <a:gd name="T95" fmla="*/ 94 h 150"/>
                <a:gd name="T96" fmla="*/ 53 w 197"/>
                <a:gd name="T97" fmla="*/ 91 h 150"/>
                <a:gd name="T98" fmla="*/ 52 w 197"/>
                <a:gd name="T99" fmla="*/ 90 h 150"/>
                <a:gd name="T100" fmla="*/ 48 w 197"/>
                <a:gd name="T101" fmla="*/ 88 h 150"/>
                <a:gd name="T102" fmla="*/ 44 w 197"/>
                <a:gd name="T103" fmla="*/ 100 h 150"/>
                <a:gd name="T104" fmla="*/ 27 w 197"/>
                <a:gd name="T105" fmla="*/ 147 h 150"/>
                <a:gd name="T106" fmla="*/ 20 w 197"/>
                <a:gd name="T107"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7" h="150">
                  <a:moveTo>
                    <a:pt x="20" y="150"/>
                  </a:moveTo>
                  <a:cubicBezTo>
                    <a:pt x="9" y="146"/>
                    <a:pt x="0" y="124"/>
                    <a:pt x="13" y="119"/>
                  </a:cubicBezTo>
                  <a:cubicBezTo>
                    <a:pt x="13" y="117"/>
                    <a:pt x="15" y="115"/>
                    <a:pt x="17" y="114"/>
                  </a:cubicBezTo>
                  <a:cubicBezTo>
                    <a:pt x="17" y="114"/>
                    <a:pt x="17" y="113"/>
                    <a:pt x="17" y="113"/>
                  </a:cubicBezTo>
                  <a:cubicBezTo>
                    <a:pt x="27" y="103"/>
                    <a:pt x="35" y="88"/>
                    <a:pt x="44" y="77"/>
                  </a:cubicBezTo>
                  <a:cubicBezTo>
                    <a:pt x="46" y="72"/>
                    <a:pt x="47" y="68"/>
                    <a:pt x="52" y="67"/>
                  </a:cubicBezTo>
                  <a:cubicBezTo>
                    <a:pt x="55" y="69"/>
                    <a:pt x="54" y="74"/>
                    <a:pt x="53" y="78"/>
                  </a:cubicBezTo>
                  <a:cubicBezTo>
                    <a:pt x="54" y="79"/>
                    <a:pt x="58" y="78"/>
                    <a:pt x="60" y="77"/>
                  </a:cubicBezTo>
                  <a:cubicBezTo>
                    <a:pt x="68" y="71"/>
                    <a:pt x="78" y="65"/>
                    <a:pt x="85" y="58"/>
                  </a:cubicBezTo>
                  <a:cubicBezTo>
                    <a:pt x="86" y="55"/>
                    <a:pt x="86" y="52"/>
                    <a:pt x="87" y="48"/>
                  </a:cubicBezTo>
                  <a:cubicBezTo>
                    <a:pt x="81" y="50"/>
                    <a:pt x="64" y="54"/>
                    <a:pt x="68" y="44"/>
                  </a:cubicBezTo>
                  <a:cubicBezTo>
                    <a:pt x="75" y="41"/>
                    <a:pt x="84" y="36"/>
                    <a:pt x="88" y="29"/>
                  </a:cubicBezTo>
                  <a:cubicBezTo>
                    <a:pt x="90" y="22"/>
                    <a:pt x="89" y="14"/>
                    <a:pt x="92" y="9"/>
                  </a:cubicBezTo>
                  <a:cubicBezTo>
                    <a:pt x="99" y="5"/>
                    <a:pt x="108" y="14"/>
                    <a:pt x="109" y="22"/>
                  </a:cubicBezTo>
                  <a:cubicBezTo>
                    <a:pt x="112" y="27"/>
                    <a:pt x="121" y="21"/>
                    <a:pt x="110" y="37"/>
                  </a:cubicBezTo>
                  <a:cubicBezTo>
                    <a:pt x="108" y="39"/>
                    <a:pt x="108" y="42"/>
                    <a:pt x="108" y="46"/>
                  </a:cubicBezTo>
                  <a:cubicBezTo>
                    <a:pt x="109" y="46"/>
                    <a:pt x="110" y="46"/>
                    <a:pt x="111" y="46"/>
                  </a:cubicBezTo>
                  <a:cubicBezTo>
                    <a:pt x="117" y="41"/>
                    <a:pt x="124" y="36"/>
                    <a:pt x="131" y="32"/>
                  </a:cubicBezTo>
                  <a:cubicBezTo>
                    <a:pt x="133" y="22"/>
                    <a:pt x="135" y="14"/>
                    <a:pt x="140" y="5"/>
                  </a:cubicBezTo>
                  <a:cubicBezTo>
                    <a:pt x="147" y="0"/>
                    <a:pt x="156" y="5"/>
                    <a:pt x="163" y="11"/>
                  </a:cubicBezTo>
                  <a:cubicBezTo>
                    <a:pt x="168" y="11"/>
                    <a:pt x="172" y="8"/>
                    <a:pt x="176" y="5"/>
                  </a:cubicBezTo>
                  <a:cubicBezTo>
                    <a:pt x="178" y="4"/>
                    <a:pt x="178" y="4"/>
                    <a:pt x="182" y="4"/>
                  </a:cubicBezTo>
                  <a:cubicBezTo>
                    <a:pt x="183" y="7"/>
                    <a:pt x="184" y="9"/>
                    <a:pt x="184" y="13"/>
                  </a:cubicBezTo>
                  <a:cubicBezTo>
                    <a:pt x="181" y="24"/>
                    <a:pt x="151" y="27"/>
                    <a:pt x="157" y="39"/>
                  </a:cubicBezTo>
                  <a:cubicBezTo>
                    <a:pt x="162" y="39"/>
                    <a:pt x="164" y="33"/>
                    <a:pt x="166" y="29"/>
                  </a:cubicBezTo>
                  <a:cubicBezTo>
                    <a:pt x="171" y="26"/>
                    <a:pt x="184" y="30"/>
                    <a:pt x="190" y="34"/>
                  </a:cubicBezTo>
                  <a:cubicBezTo>
                    <a:pt x="197" y="42"/>
                    <a:pt x="192" y="45"/>
                    <a:pt x="184" y="50"/>
                  </a:cubicBezTo>
                  <a:cubicBezTo>
                    <a:pt x="183" y="52"/>
                    <a:pt x="183" y="53"/>
                    <a:pt x="182" y="54"/>
                  </a:cubicBezTo>
                  <a:cubicBezTo>
                    <a:pt x="181" y="70"/>
                    <a:pt x="181" y="70"/>
                    <a:pt x="182" y="93"/>
                  </a:cubicBezTo>
                  <a:cubicBezTo>
                    <a:pt x="179" y="99"/>
                    <a:pt x="177" y="102"/>
                    <a:pt x="173" y="107"/>
                  </a:cubicBezTo>
                  <a:cubicBezTo>
                    <a:pt x="173" y="107"/>
                    <a:pt x="173" y="107"/>
                    <a:pt x="173" y="107"/>
                  </a:cubicBezTo>
                  <a:cubicBezTo>
                    <a:pt x="172" y="107"/>
                    <a:pt x="172" y="107"/>
                    <a:pt x="172" y="107"/>
                  </a:cubicBezTo>
                  <a:cubicBezTo>
                    <a:pt x="169" y="112"/>
                    <a:pt x="162" y="117"/>
                    <a:pt x="158" y="113"/>
                  </a:cubicBezTo>
                  <a:cubicBezTo>
                    <a:pt x="158" y="94"/>
                    <a:pt x="159" y="75"/>
                    <a:pt x="158" y="58"/>
                  </a:cubicBezTo>
                  <a:cubicBezTo>
                    <a:pt x="158" y="58"/>
                    <a:pt x="157" y="58"/>
                    <a:pt x="157" y="58"/>
                  </a:cubicBezTo>
                  <a:cubicBezTo>
                    <a:pt x="156" y="67"/>
                    <a:pt x="147" y="84"/>
                    <a:pt x="139" y="89"/>
                  </a:cubicBezTo>
                  <a:cubicBezTo>
                    <a:pt x="132" y="90"/>
                    <a:pt x="126" y="86"/>
                    <a:pt x="124" y="80"/>
                  </a:cubicBezTo>
                  <a:cubicBezTo>
                    <a:pt x="125" y="78"/>
                    <a:pt x="126" y="77"/>
                    <a:pt x="128" y="76"/>
                  </a:cubicBezTo>
                  <a:cubicBezTo>
                    <a:pt x="132" y="68"/>
                    <a:pt x="130" y="53"/>
                    <a:pt x="130" y="45"/>
                  </a:cubicBezTo>
                  <a:cubicBezTo>
                    <a:pt x="125" y="46"/>
                    <a:pt x="115" y="59"/>
                    <a:pt x="111" y="64"/>
                  </a:cubicBezTo>
                  <a:cubicBezTo>
                    <a:pt x="108" y="66"/>
                    <a:pt x="105" y="68"/>
                    <a:pt x="102" y="70"/>
                  </a:cubicBezTo>
                  <a:cubicBezTo>
                    <a:pt x="100" y="77"/>
                    <a:pt x="98" y="84"/>
                    <a:pt x="97" y="91"/>
                  </a:cubicBezTo>
                  <a:cubicBezTo>
                    <a:pt x="95" y="95"/>
                    <a:pt x="93" y="98"/>
                    <a:pt x="92" y="101"/>
                  </a:cubicBezTo>
                  <a:cubicBezTo>
                    <a:pt x="91" y="101"/>
                    <a:pt x="91" y="101"/>
                    <a:pt x="91" y="102"/>
                  </a:cubicBezTo>
                  <a:cubicBezTo>
                    <a:pt x="88" y="106"/>
                    <a:pt x="80" y="118"/>
                    <a:pt x="74" y="110"/>
                  </a:cubicBezTo>
                  <a:cubicBezTo>
                    <a:pt x="74" y="109"/>
                    <a:pt x="74" y="108"/>
                    <a:pt x="74" y="107"/>
                  </a:cubicBezTo>
                  <a:cubicBezTo>
                    <a:pt x="79" y="101"/>
                    <a:pt x="82" y="92"/>
                    <a:pt x="82" y="85"/>
                  </a:cubicBezTo>
                  <a:cubicBezTo>
                    <a:pt x="75" y="87"/>
                    <a:pt x="70" y="94"/>
                    <a:pt x="63" y="94"/>
                  </a:cubicBezTo>
                  <a:cubicBezTo>
                    <a:pt x="59" y="93"/>
                    <a:pt x="55" y="92"/>
                    <a:pt x="53" y="91"/>
                  </a:cubicBezTo>
                  <a:cubicBezTo>
                    <a:pt x="53" y="90"/>
                    <a:pt x="53" y="90"/>
                    <a:pt x="52" y="90"/>
                  </a:cubicBezTo>
                  <a:cubicBezTo>
                    <a:pt x="51" y="89"/>
                    <a:pt x="49" y="87"/>
                    <a:pt x="48" y="88"/>
                  </a:cubicBezTo>
                  <a:cubicBezTo>
                    <a:pt x="47" y="91"/>
                    <a:pt x="45" y="96"/>
                    <a:pt x="44" y="100"/>
                  </a:cubicBezTo>
                  <a:cubicBezTo>
                    <a:pt x="37" y="115"/>
                    <a:pt x="32" y="130"/>
                    <a:pt x="27" y="147"/>
                  </a:cubicBezTo>
                  <a:cubicBezTo>
                    <a:pt x="24" y="149"/>
                    <a:pt x="23" y="150"/>
                    <a:pt x="20" y="15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 name="Freeform 83"/>
            <p:cNvSpPr/>
            <p:nvPr userDrawn="1"/>
          </p:nvSpPr>
          <p:spPr bwMode="auto">
            <a:xfrm>
              <a:off x="1401" y="757"/>
              <a:ext cx="37" cy="49"/>
            </a:xfrm>
            <a:custGeom>
              <a:avLst/>
              <a:gdLst>
                <a:gd name="T0" fmla="*/ 5 w 30"/>
                <a:gd name="T1" fmla="*/ 39 h 39"/>
                <a:gd name="T2" fmla="*/ 6 w 30"/>
                <a:gd name="T3" fmla="*/ 28 h 39"/>
                <a:gd name="T4" fmla="*/ 6 w 30"/>
                <a:gd name="T5" fmla="*/ 1 h 39"/>
                <a:gd name="T6" fmla="*/ 10 w 30"/>
                <a:gd name="T7" fmla="*/ 0 h 39"/>
                <a:gd name="T8" fmla="*/ 25 w 30"/>
                <a:gd name="T9" fmla="*/ 17 h 39"/>
                <a:gd name="T10" fmla="*/ 5 w 30"/>
                <a:gd name="T11" fmla="*/ 39 h 39"/>
              </a:gdLst>
              <a:ahLst/>
              <a:cxnLst>
                <a:cxn ang="0">
                  <a:pos x="T0" y="T1"/>
                </a:cxn>
                <a:cxn ang="0">
                  <a:pos x="T2" y="T3"/>
                </a:cxn>
                <a:cxn ang="0">
                  <a:pos x="T4" y="T5"/>
                </a:cxn>
                <a:cxn ang="0">
                  <a:pos x="T6" y="T7"/>
                </a:cxn>
                <a:cxn ang="0">
                  <a:pos x="T8" y="T9"/>
                </a:cxn>
                <a:cxn ang="0">
                  <a:pos x="T10" y="T11"/>
                </a:cxn>
              </a:cxnLst>
              <a:rect l="0" t="0" r="r" b="b"/>
              <a:pathLst>
                <a:path w="30" h="39">
                  <a:moveTo>
                    <a:pt x="5" y="39"/>
                  </a:moveTo>
                  <a:cubicBezTo>
                    <a:pt x="3" y="35"/>
                    <a:pt x="6" y="31"/>
                    <a:pt x="6" y="28"/>
                  </a:cubicBezTo>
                  <a:cubicBezTo>
                    <a:pt x="3" y="17"/>
                    <a:pt x="0" y="9"/>
                    <a:pt x="6" y="1"/>
                  </a:cubicBezTo>
                  <a:cubicBezTo>
                    <a:pt x="7" y="0"/>
                    <a:pt x="9" y="0"/>
                    <a:pt x="10" y="0"/>
                  </a:cubicBezTo>
                  <a:cubicBezTo>
                    <a:pt x="14" y="4"/>
                    <a:pt x="21" y="11"/>
                    <a:pt x="25" y="17"/>
                  </a:cubicBezTo>
                  <a:cubicBezTo>
                    <a:pt x="30" y="29"/>
                    <a:pt x="14" y="35"/>
                    <a:pt x="5" y="39"/>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6" name="Freeform 84"/>
            <p:cNvSpPr/>
            <p:nvPr userDrawn="1"/>
          </p:nvSpPr>
          <p:spPr bwMode="auto">
            <a:xfrm>
              <a:off x="1411" y="708"/>
              <a:ext cx="46" cy="47"/>
            </a:xfrm>
            <a:custGeom>
              <a:avLst/>
              <a:gdLst>
                <a:gd name="T0" fmla="*/ 7 w 37"/>
                <a:gd name="T1" fmla="*/ 38 h 38"/>
                <a:gd name="T2" fmla="*/ 4 w 37"/>
                <a:gd name="T3" fmla="*/ 36 h 38"/>
                <a:gd name="T4" fmla="*/ 6 w 37"/>
                <a:gd name="T5" fmla="*/ 29 h 38"/>
                <a:gd name="T6" fmla="*/ 11 w 37"/>
                <a:gd name="T7" fmla="*/ 0 h 38"/>
                <a:gd name="T8" fmla="*/ 16 w 37"/>
                <a:gd name="T9" fmla="*/ 7 h 38"/>
                <a:gd name="T10" fmla="*/ 24 w 37"/>
                <a:gd name="T11" fmla="*/ 32 h 38"/>
                <a:gd name="T12" fmla="*/ 7 w 37"/>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37" h="38">
                  <a:moveTo>
                    <a:pt x="7" y="38"/>
                  </a:moveTo>
                  <a:cubicBezTo>
                    <a:pt x="5" y="37"/>
                    <a:pt x="5" y="37"/>
                    <a:pt x="4" y="36"/>
                  </a:cubicBezTo>
                  <a:cubicBezTo>
                    <a:pt x="6" y="33"/>
                    <a:pt x="7" y="32"/>
                    <a:pt x="6" y="29"/>
                  </a:cubicBezTo>
                  <a:cubicBezTo>
                    <a:pt x="0" y="20"/>
                    <a:pt x="0" y="5"/>
                    <a:pt x="11" y="0"/>
                  </a:cubicBezTo>
                  <a:cubicBezTo>
                    <a:pt x="14" y="0"/>
                    <a:pt x="15" y="3"/>
                    <a:pt x="16" y="7"/>
                  </a:cubicBezTo>
                  <a:cubicBezTo>
                    <a:pt x="23" y="14"/>
                    <a:pt x="37" y="23"/>
                    <a:pt x="24" y="32"/>
                  </a:cubicBezTo>
                  <a:cubicBezTo>
                    <a:pt x="18" y="35"/>
                    <a:pt x="13" y="36"/>
                    <a:pt x="7" y="3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7" name="Freeform 85"/>
            <p:cNvSpPr/>
            <p:nvPr userDrawn="1"/>
          </p:nvSpPr>
          <p:spPr bwMode="auto">
            <a:xfrm>
              <a:off x="2067" y="765"/>
              <a:ext cx="26" cy="39"/>
            </a:xfrm>
            <a:custGeom>
              <a:avLst/>
              <a:gdLst>
                <a:gd name="T0" fmla="*/ 10 w 21"/>
                <a:gd name="T1" fmla="*/ 31 h 31"/>
                <a:gd name="T2" fmla="*/ 3 w 21"/>
                <a:gd name="T3" fmla="*/ 4 h 31"/>
                <a:gd name="T4" fmla="*/ 21 w 21"/>
                <a:gd name="T5" fmla="*/ 18 h 31"/>
                <a:gd name="T6" fmla="*/ 10 w 21"/>
                <a:gd name="T7" fmla="*/ 31 h 31"/>
              </a:gdLst>
              <a:ahLst/>
              <a:cxnLst>
                <a:cxn ang="0">
                  <a:pos x="T0" y="T1"/>
                </a:cxn>
                <a:cxn ang="0">
                  <a:pos x="T2" y="T3"/>
                </a:cxn>
                <a:cxn ang="0">
                  <a:pos x="T4" y="T5"/>
                </a:cxn>
                <a:cxn ang="0">
                  <a:pos x="T6" y="T7"/>
                </a:cxn>
              </a:cxnLst>
              <a:rect l="0" t="0" r="r" b="b"/>
              <a:pathLst>
                <a:path w="21" h="31">
                  <a:moveTo>
                    <a:pt x="10" y="31"/>
                  </a:moveTo>
                  <a:cubicBezTo>
                    <a:pt x="0" y="27"/>
                    <a:pt x="2" y="11"/>
                    <a:pt x="3" y="4"/>
                  </a:cubicBezTo>
                  <a:cubicBezTo>
                    <a:pt x="11" y="0"/>
                    <a:pt x="20" y="9"/>
                    <a:pt x="21" y="18"/>
                  </a:cubicBezTo>
                  <a:cubicBezTo>
                    <a:pt x="19" y="27"/>
                    <a:pt x="19" y="29"/>
                    <a:pt x="10" y="3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8" name="Freeform 86"/>
            <p:cNvSpPr>
              <a:spLocks noEditPoints="1"/>
            </p:cNvSpPr>
            <p:nvPr userDrawn="1"/>
          </p:nvSpPr>
          <p:spPr bwMode="auto">
            <a:xfrm>
              <a:off x="2057" y="673"/>
              <a:ext cx="166" cy="224"/>
            </a:xfrm>
            <a:custGeom>
              <a:avLst/>
              <a:gdLst>
                <a:gd name="T0" fmla="*/ 71 w 134"/>
                <a:gd name="T1" fmla="*/ 180 h 180"/>
                <a:gd name="T2" fmla="*/ 34 w 134"/>
                <a:gd name="T3" fmla="*/ 173 h 180"/>
                <a:gd name="T4" fmla="*/ 56 w 134"/>
                <a:gd name="T5" fmla="*/ 148 h 180"/>
                <a:gd name="T6" fmla="*/ 0 w 134"/>
                <a:gd name="T7" fmla="*/ 147 h 180"/>
                <a:gd name="T8" fmla="*/ 56 w 134"/>
                <a:gd name="T9" fmla="*/ 124 h 180"/>
                <a:gd name="T10" fmla="*/ 75 w 134"/>
                <a:gd name="T11" fmla="*/ 108 h 180"/>
                <a:gd name="T12" fmla="*/ 91 w 134"/>
                <a:gd name="T13" fmla="*/ 96 h 180"/>
                <a:gd name="T14" fmla="*/ 32 w 134"/>
                <a:gd name="T15" fmla="*/ 119 h 180"/>
                <a:gd name="T16" fmla="*/ 34 w 134"/>
                <a:gd name="T17" fmla="*/ 108 h 180"/>
                <a:gd name="T18" fmla="*/ 73 w 134"/>
                <a:gd name="T19" fmla="*/ 81 h 180"/>
                <a:gd name="T20" fmla="*/ 71 w 134"/>
                <a:gd name="T21" fmla="*/ 78 h 180"/>
                <a:gd name="T22" fmla="*/ 39 w 134"/>
                <a:gd name="T23" fmla="*/ 93 h 180"/>
                <a:gd name="T24" fmla="*/ 27 w 134"/>
                <a:gd name="T25" fmla="*/ 61 h 180"/>
                <a:gd name="T26" fmla="*/ 33 w 134"/>
                <a:gd name="T27" fmla="*/ 44 h 180"/>
                <a:gd name="T28" fmla="*/ 46 w 134"/>
                <a:gd name="T29" fmla="*/ 56 h 180"/>
                <a:gd name="T30" fmla="*/ 60 w 134"/>
                <a:gd name="T31" fmla="*/ 66 h 180"/>
                <a:gd name="T32" fmla="*/ 68 w 134"/>
                <a:gd name="T33" fmla="*/ 55 h 180"/>
                <a:gd name="T34" fmla="*/ 64 w 134"/>
                <a:gd name="T35" fmla="*/ 45 h 180"/>
                <a:gd name="T36" fmla="*/ 84 w 134"/>
                <a:gd name="T37" fmla="*/ 25 h 180"/>
                <a:gd name="T38" fmla="*/ 111 w 134"/>
                <a:gd name="T39" fmla="*/ 20 h 180"/>
                <a:gd name="T40" fmla="*/ 110 w 134"/>
                <a:gd name="T41" fmla="*/ 29 h 180"/>
                <a:gd name="T42" fmla="*/ 132 w 134"/>
                <a:gd name="T43" fmla="*/ 44 h 180"/>
                <a:gd name="T44" fmla="*/ 115 w 134"/>
                <a:gd name="T45" fmla="*/ 77 h 180"/>
                <a:gd name="T46" fmla="*/ 120 w 134"/>
                <a:gd name="T47" fmla="*/ 94 h 180"/>
                <a:gd name="T48" fmla="*/ 78 w 134"/>
                <a:gd name="T49" fmla="*/ 114 h 180"/>
                <a:gd name="T50" fmla="*/ 92 w 134"/>
                <a:gd name="T51" fmla="*/ 119 h 180"/>
                <a:gd name="T52" fmla="*/ 81 w 134"/>
                <a:gd name="T53" fmla="*/ 140 h 180"/>
                <a:gd name="T54" fmla="*/ 72 w 134"/>
                <a:gd name="T55" fmla="*/ 180 h 180"/>
                <a:gd name="T56" fmla="*/ 106 w 134"/>
                <a:gd name="T57" fmla="*/ 53 h 180"/>
                <a:gd name="T58" fmla="*/ 87 w 134"/>
                <a:gd name="T59" fmla="*/ 59 h 180"/>
                <a:gd name="T60" fmla="*/ 87 w 134"/>
                <a:gd name="T61" fmla="*/ 60 h 180"/>
                <a:gd name="T62" fmla="*/ 92 w 134"/>
                <a:gd name="T63" fmla="*/ 58 h 180"/>
                <a:gd name="T64" fmla="*/ 99 w 134"/>
                <a:gd name="T65" fmla="*/ 67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4" h="180">
                  <a:moveTo>
                    <a:pt x="72" y="180"/>
                  </a:moveTo>
                  <a:cubicBezTo>
                    <a:pt x="71" y="180"/>
                    <a:pt x="71" y="180"/>
                    <a:pt x="71" y="180"/>
                  </a:cubicBezTo>
                  <a:cubicBezTo>
                    <a:pt x="58" y="180"/>
                    <a:pt x="46" y="179"/>
                    <a:pt x="34" y="175"/>
                  </a:cubicBezTo>
                  <a:cubicBezTo>
                    <a:pt x="34" y="174"/>
                    <a:pt x="34" y="174"/>
                    <a:pt x="34" y="173"/>
                  </a:cubicBezTo>
                  <a:cubicBezTo>
                    <a:pt x="41" y="169"/>
                    <a:pt x="50" y="170"/>
                    <a:pt x="55" y="163"/>
                  </a:cubicBezTo>
                  <a:cubicBezTo>
                    <a:pt x="56" y="157"/>
                    <a:pt x="57" y="152"/>
                    <a:pt x="56" y="148"/>
                  </a:cubicBezTo>
                  <a:cubicBezTo>
                    <a:pt x="43" y="148"/>
                    <a:pt x="37" y="157"/>
                    <a:pt x="27" y="161"/>
                  </a:cubicBezTo>
                  <a:cubicBezTo>
                    <a:pt x="18" y="162"/>
                    <a:pt x="3" y="154"/>
                    <a:pt x="0" y="147"/>
                  </a:cubicBezTo>
                  <a:cubicBezTo>
                    <a:pt x="0" y="136"/>
                    <a:pt x="3" y="141"/>
                    <a:pt x="14" y="140"/>
                  </a:cubicBezTo>
                  <a:cubicBezTo>
                    <a:pt x="28" y="138"/>
                    <a:pt x="43" y="130"/>
                    <a:pt x="56" y="124"/>
                  </a:cubicBezTo>
                  <a:cubicBezTo>
                    <a:pt x="59" y="121"/>
                    <a:pt x="59" y="121"/>
                    <a:pt x="61" y="121"/>
                  </a:cubicBezTo>
                  <a:cubicBezTo>
                    <a:pt x="64" y="112"/>
                    <a:pt x="66" y="110"/>
                    <a:pt x="75" y="108"/>
                  </a:cubicBezTo>
                  <a:cubicBezTo>
                    <a:pt x="79" y="106"/>
                    <a:pt x="79" y="106"/>
                    <a:pt x="90" y="100"/>
                  </a:cubicBezTo>
                  <a:cubicBezTo>
                    <a:pt x="90" y="99"/>
                    <a:pt x="91" y="98"/>
                    <a:pt x="91" y="96"/>
                  </a:cubicBezTo>
                  <a:cubicBezTo>
                    <a:pt x="74" y="98"/>
                    <a:pt x="61" y="112"/>
                    <a:pt x="48" y="121"/>
                  </a:cubicBezTo>
                  <a:cubicBezTo>
                    <a:pt x="41" y="122"/>
                    <a:pt x="36" y="121"/>
                    <a:pt x="32" y="119"/>
                  </a:cubicBezTo>
                  <a:cubicBezTo>
                    <a:pt x="29" y="120"/>
                    <a:pt x="12" y="123"/>
                    <a:pt x="20" y="116"/>
                  </a:cubicBezTo>
                  <a:cubicBezTo>
                    <a:pt x="25" y="114"/>
                    <a:pt x="29" y="111"/>
                    <a:pt x="34" y="108"/>
                  </a:cubicBezTo>
                  <a:cubicBezTo>
                    <a:pt x="47" y="100"/>
                    <a:pt x="61" y="93"/>
                    <a:pt x="74" y="85"/>
                  </a:cubicBezTo>
                  <a:cubicBezTo>
                    <a:pt x="74" y="83"/>
                    <a:pt x="73" y="82"/>
                    <a:pt x="73" y="81"/>
                  </a:cubicBezTo>
                  <a:cubicBezTo>
                    <a:pt x="73" y="79"/>
                    <a:pt x="74" y="77"/>
                    <a:pt x="74" y="75"/>
                  </a:cubicBezTo>
                  <a:cubicBezTo>
                    <a:pt x="72" y="76"/>
                    <a:pt x="71" y="76"/>
                    <a:pt x="71" y="78"/>
                  </a:cubicBezTo>
                  <a:cubicBezTo>
                    <a:pt x="63" y="81"/>
                    <a:pt x="59" y="88"/>
                    <a:pt x="53" y="81"/>
                  </a:cubicBezTo>
                  <a:cubicBezTo>
                    <a:pt x="51" y="88"/>
                    <a:pt x="46" y="93"/>
                    <a:pt x="39" y="93"/>
                  </a:cubicBezTo>
                  <a:cubicBezTo>
                    <a:pt x="32" y="89"/>
                    <a:pt x="32" y="77"/>
                    <a:pt x="31" y="72"/>
                  </a:cubicBezTo>
                  <a:cubicBezTo>
                    <a:pt x="30" y="71"/>
                    <a:pt x="29" y="67"/>
                    <a:pt x="27" y="61"/>
                  </a:cubicBezTo>
                  <a:cubicBezTo>
                    <a:pt x="24" y="55"/>
                    <a:pt x="18" y="47"/>
                    <a:pt x="22" y="42"/>
                  </a:cubicBezTo>
                  <a:cubicBezTo>
                    <a:pt x="27" y="38"/>
                    <a:pt x="29" y="37"/>
                    <a:pt x="33" y="44"/>
                  </a:cubicBezTo>
                  <a:cubicBezTo>
                    <a:pt x="37" y="47"/>
                    <a:pt x="42" y="51"/>
                    <a:pt x="45" y="56"/>
                  </a:cubicBezTo>
                  <a:cubicBezTo>
                    <a:pt x="45" y="56"/>
                    <a:pt x="46" y="56"/>
                    <a:pt x="46" y="56"/>
                  </a:cubicBezTo>
                  <a:cubicBezTo>
                    <a:pt x="48" y="62"/>
                    <a:pt x="54" y="69"/>
                    <a:pt x="53" y="77"/>
                  </a:cubicBezTo>
                  <a:cubicBezTo>
                    <a:pt x="57" y="75"/>
                    <a:pt x="62" y="71"/>
                    <a:pt x="60" y="66"/>
                  </a:cubicBezTo>
                  <a:cubicBezTo>
                    <a:pt x="53" y="63"/>
                    <a:pt x="57" y="57"/>
                    <a:pt x="61" y="55"/>
                  </a:cubicBezTo>
                  <a:cubicBezTo>
                    <a:pt x="64" y="55"/>
                    <a:pt x="64" y="55"/>
                    <a:pt x="68" y="55"/>
                  </a:cubicBezTo>
                  <a:cubicBezTo>
                    <a:pt x="68" y="53"/>
                    <a:pt x="68" y="53"/>
                    <a:pt x="67" y="52"/>
                  </a:cubicBezTo>
                  <a:cubicBezTo>
                    <a:pt x="62" y="50"/>
                    <a:pt x="63" y="49"/>
                    <a:pt x="64" y="45"/>
                  </a:cubicBezTo>
                  <a:cubicBezTo>
                    <a:pt x="58" y="43"/>
                    <a:pt x="56" y="37"/>
                    <a:pt x="58" y="32"/>
                  </a:cubicBezTo>
                  <a:cubicBezTo>
                    <a:pt x="76" y="28"/>
                    <a:pt x="76" y="28"/>
                    <a:pt x="84" y="25"/>
                  </a:cubicBezTo>
                  <a:cubicBezTo>
                    <a:pt x="89" y="19"/>
                    <a:pt x="95" y="0"/>
                    <a:pt x="106" y="4"/>
                  </a:cubicBezTo>
                  <a:cubicBezTo>
                    <a:pt x="109" y="7"/>
                    <a:pt x="111" y="14"/>
                    <a:pt x="111" y="20"/>
                  </a:cubicBezTo>
                  <a:cubicBezTo>
                    <a:pt x="109" y="23"/>
                    <a:pt x="107" y="25"/>
                    <a:pt x="107" y="28"/>
                  </a:cubicBezTo>
                  <a:cubicBezTo>
                    <a:pt x="108" y="28"/>
                    <a:pt x="109" y="28"/>
                    <a:pt x="110" y="29"/>
                  </a:cubicBezTo>
                  <a:cubicBezTo>
                    <a:pt x="117" y="25"/>
                    <a:pt x="121" y="21"/>
                    <a:pt x="125" y="31"/>
                  </a:cubicBezTo>
                  <a:cubicBezTo>
                    <a:pt x="132" y="35"/>
                    <a:pt x="134" y="34"/>
                    <a:pt x="132" y="44"/>
                  </a:cubicBezTo>
                  <a:cubicBezTo>
                    <a:pt x="127" y="55"/>
                    <a:pt x="121" y="66"/>
                    <a:pt x="115" y="76"/>
                  </a:cubicBezTo>
                  <a:cubicBezTo>
                    <a:pt x="115" y="76"/>
                    <a:pt x="115" y="77"/>
                    <a:pt x="115" y="77"/>
                  </a:cubicBezTo>
                  <a:cubicBezTo>
                    <a:pt x="117" y="77"/>
                    <a:pt x="118" y="78"/>
                    <a:pt x="119" y="78"/>
                  </a:cubicBezTo>
                  <a:cubicBezTo>
                    <a:pt x="120" y="83"/>
                    <a:pt x="120" y="88"/>
                    <a:pt x="120" y="94"/>
                  </a:cubicBezTo>
                  <a:cubicBezTo>
                    <a:pt x="116" y="100"/>
                    <a:pt x="110" y="100"/>
                    <a:pt x="103" y="101"/>
                  </a:cubicBezTo>
                  <a:cubicBezTo>
                    <a:pt x="94" y="106"/>
                    <a:pt x="86" y="109"/>
                    <a:pt x="78" y="114"/>
                  </a:cubicBezTo>
                  <a:cubicBezTo>
                    <a:pt x="78" y="116"/>
                    <a:pt x="78" y="118"/>
                    <a:pt x="79" y="120"/>
                  </a:cubicBezTo>
                  <a:cubicBezTo>
                    <a:pt x="83" y="120"/>
                    <a:pt x="87" y="120"/>
                    <a:pt x="92" y="119"/>
                  </a:cubicBezTo>
                  <a:cubicBezTo>
                    <a:pt x="96" y="123"/>
                    <a:pt x="96" y="131"/>
                    <a:pt x="93" y="136"/>
                  </a:cubicBezTo>
                  <a:cubicBezTo>
                    <a:pt x="88" y="137"/>
                    <a:pt x="85" y="138"/>
                    <a:pt x="81" y="140"/>
                  </a:cubicBezTo>
                  <a:cubicBezTo>
                    <a:pt x="81" y="142"/>
                    <a:pt x="81" y="144"/>
                    <a:pt x="80" y="147"/>
                  </a:cubicBezTo>
                  <a:cubicBezTo>
                    <a:pt x="81" y="156"/>
                    <a:pt x="85" y="178"/>
                    <a:pt x="72" y="180"/>
                  </a:cubicBezTo>
                  <a:moveTo>
                    <a:pt x="99" y="67"/>
                  </a:moveTo>
                  <a:cubicBezTo>
                    <a:pt x="103" y="63"/>
                    <a:pt x="106" y="58"/>
                    <a:pt x="106" y="53"/>
                  </a:cubicBezTo>
                  <a:cubicBezTo>
                    <a:pt x="102" y="49"/>
                    <a:pt x="96" y="49"/>
                    <a:pt x="92" y="49"/>
                  </a:cubicBezTo>
                  <a:cubicBezTo>
                    <a:pt x="92" y="51"/>
                    <a:pt x="92" y="51"/>
                    <a:pt x="87" y="59"/>
                  </a:cubicBezTo>
                  <a:cubicBezTo>
                    <a:pt x="88" y="59"/>
                    <a:pt x="88" y="59"/>
                    <a:pt x="89" y="59"/>
                  </a:cubicBezTo>
                  <a:cubicBezTo>
                    <a:pt x="88" y="60"/>
                    <a:pt x="88" y="60"/>
                    <a:pt x="87" y="60"/>
                  </a:cubicBezTo>
                  <a:cubicBezTo>
                    <a:pt x="87" y="60"/>
                    <a:pt x="88" y="60"/>
                    <a:pt x="88" y="61"/>
                  </a:cubicBezTo>
                  <a:cubicBezTo>
                    <a:pt x="90" y="61"/>
                    <a:pt x="91" y="59"/>
                    <a:pt x="92" y="58"/>
                  </a:cubicBezTo>
                  <a:cubicBezTo>
                    <a:pt x="98" y="57"/>
                    <a:pt x="98" y="59"/>
                    <a:pt x="98" y="67"/>
                  </a:cubicBezTo>
                  <a:cubicBezTo>
                    <a:pt x="98" y="67"/>
                    <a:pt x="98" y="67"/>
                    <a:pt x="99" y="6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9" name="Freeform 87"/>
            <p:cNvSpPr/>
            <p:nvPr userDrawn="1"/>
          </p:nvSpPr>
          <p:spPr bwMode="auto">
            <a:xfrm>
              <a:off x="1415" y="933"/>
              <a:ext cx="31" cy="40"/>
            </a:xfrm>
            <a:custGeom>
              <a:avLst/>
              <a:gdLst>
                <a:gd name="T0" fmla="*/ 0 w 31"/>
                <a:gd name="T1" fmla="*/ 35 h 40"/>
                <a:gd name="T2" fmla="*/ 24 w 31"/>
                <a:gd name="T3" fmla="*/ 5 h 40"/>
                <a:gd name="T4" fmla="*/ 2 w 31"/>
                <a:gd name="T5" fmla="*/ 5 h 40"/>
                <a:gd name="T6" fmla="*/ 2 w 31"/>
                <a:gd name="T7" fmla="*/ 3 h 40"/>
                <a:gd name="T8" fmla="*/ 2 w 31"/>
                <a:gd name="T9" fmla="*/ 0 h 40"/>
                <a:gd name="T10" fmla="*/ 31 w 31"/>
                <a:gd name="T11" fmla="*/ 0 h 40"/>
                <a:gd name="T12" fmla="*/ 31 w 31"/>
                <a:gd name="T13" fmla="*/ 3 h 40"/>
                <a:gd name="T14" fmla="*/ 31 w 31"/>
                <a:gd name="T15" fmla="*/ 5 h 40"/>
                <a:gd name="T16" fmla="*/ 6 w 31"/>
                <a:gd name="T17" fmla="*/ 35 h 40"/>
                <a:gd name="T18" fmla="*/ 31 w 31"/>
                <a:gd name="T19" fmla="*/ 35 h 40"/>
                <a:gd name="T20" fmla="*/ 31 w 31"/>
                <a:gd name="T21" fmla="*/ 37 h 40"/>
                <a:gd name="T22" fmla="*/ 31 w 31"/>
                <a:gd name="T23" fmla="*/ 40 h 40"/>
                <a:gd name="T24" fmla="*/ 0 w 31"/>
                <a:gd name="T25" fmla="*/ 40 h 40"/>
                <a:gd name="T26" fmla="*/ 0 w 31"/>
                <a:gd name="T27" fmla="*/ 37 h 40"/>
                <a:gd name="T28" fmla="*/ 0 w 31"/>
                <a:gd name="T29" fmla="*/ 3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0" y="35"/>
                  </a:moveTo>
                  <a:lnTo>
                    <a:pt x="24" y="5"/>
                  </a:lnTo>
                  <a:lnTo>
                    <a:pt x="2" y="5"/>
                  </a:lnTo>
                  <a:lnTo>
                    <a:pt x="2" y="3"/>
                  </a:lnTo>
                  <a:lnTo>
                    <a:pt x="2" y="0"/>
                  </a:lnTo>
                  <a:lnTo>
                    <a:pt x="31" y="0"/>
                  </a:lnTo>
                  <a:lnTo>
                    <a:pt x="31" y="3"/>
                  </a:lnTo>
                  <a:lnTo>
                    <a:pt x="31" y="5"/>
                  </a:lnTo>
                  <a:lnTo>
                    <a:pt x="6" y="35"/>
                  </a:lnTo>
                  <a:lnTo>
                    <a:pt x="31" y="35"/>
                  </a:lnTo>
                  <a:lnTo>
                    <a:pt x="31" y="37"/>
                  </a:lnTo>
                  <a:lnTo>
                    <a:pt x="31" y="40"/>
                  </a:lnTo>
                  <a:lnTo>
                    <a:pt x="0" y="40"/>
                  </a:lnTo>
                  <a:lnTo>
                    <a:pt x="0" y="37"/>
                  </a:lnTo>
                  <a:lnTo>
                    <a:pt x="0" y="3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0" name="Freeform 88"/>
            <p:cNvSpPr/>
            <p:nvPr userDrawn="1"/>
          </p:nvSpPr>
          <p:spPr bwMode="auto">
            <a:xfrm>
              <a:off x="1458" y="933"/>
              <a:ext cx="31" cy="40"/>
            </a:xfrm>
            <a:custGeom>
              <a:avLst/>
              <a:gdLst>
                <a:gd name="T0" fmla="*/ 0 w 31"/>
                <a:gd name="T1" fmla="*/ 0 h 40"/>
                <a:gd name="T2" fmla="*/ 2 w 31"/>
                <a:gd name="T3" fmla="*/ 0 h 40"/>
                <a:gd name="T4" fmla="*/ 5 w 31"/>
                <a:gd name="T5" fmla="*/ 0 h 40"/>
                <a:gd name="T6" fmla="*/ 5 w 31"/>
                <a:gd name="T7" fmla="*/ 16 h 40"/>
                <a:gd name="T8" fmla="*/ 26 w 31"/>
                <a:gd name="T9" fmla="*/ 16 h 40"/>
                <a:gd name="T10" fmla="*/ 26 w 31"/>
                <a:gd name="T11" fmla="*/ 0 h 40"/>
                <a:gd name="T12" fmla="*/ 28 w 31"/>
                <a:gd name="T13" fmla="*/ 0 h 40"/>
                <a:gd name="T14" fmla="*/ 31 w 31"/>
                <a:gd name="T15" fmla="*/ 0 h 40"/>
                <a:gd name="T16" fmla="*/ 31 w 31"/>
                <a:gd name="T17" fmla="*/ 40 h 40"/>
                <a:gd name="T18" fmla="*/ 28 w 31"/>
                <a:gd name="T19" fmla="*/ 40 h 40"/>
                <a:gd name="T20" fmla="*/ 26 w 31"/>
                <a:gd name="T21" fmla="*/ 40 h 40"/>
                <a:gd name="T22" fmla="*/ 26 w 31"/>
                <a:gd name="T23" fmla="*/ 21 h 40"/>
                <a:gd name="T24" fmla="*/ 5 w 31"/>
                <a:gd name="T25" fmla="*/ 21 h 40"/>
                <a:gd name="T26" fmla="*/ 5 w 31"/>
                <a:gd name="T27" fmla="*/ 40 h 40"/>
                <a:gd name="T28" fmla="*/ 2 w 31"/>
                <a:gd name="T29" fmla="*/ 40 h 40"/>
                <a:gd name="T30" fmla="*/ 0 w 31"/>
                <a:gd name="T31" fmla="*/ 40 h 40"/>
                <a:gd name="T32" fmla="*/ 0 w 31"/>
                <a:gd name="T3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40">
                  <a:moveTo>
                    <a:pt x="0" y="0"/>
                  </a:moveTo>
                  <a:lnTo>
                    <a:pt x="2" y="0"/>
                  </a:lnTo>
                  <a:lnTo>
                    <a:pt x="5" y="0"/>
                  </a:lnTo>
                  <a:lnTo>
                    <a:pt x="5" y="16"/>
                  </a:lnTo>
                  <a:lnTo>
                    <a:pt x="26" y="16"/>
                  </a:lnTo>
                  <a:lnTo>
                    <a:pt x="26" y="0"/>
                  </a:lnTo>
                  <a:lnTo>
                    <a:pt x="28" y="0"/>
                  </a:lnTo>
                  <a:lnTo>
                    <a:pt x="31" y="0"/>
                  </a:lnTo>
                  <a:lnTo>
                    <a:pt x="31" y="40"/>
                  </a:lnTo>
                  <a:lnTo>
                    <a:pt x="28" y="40"/>
                  </a:lnTo>
                  <a:lnTo>
                    <a:pt x="26" y="40"/>
                  </a:lnTo>
                  <a:lnTo>
                    <a:pt x="26" y="21"/>
                  </a:lnTo>
                  <a:lnTo>
                    <a:pt x="5" y="21"/>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1" name="Freeform 89"/>
            <p:cNvSpPr/>
            <p:nvPr userDrawn="1"/>
          </p:nvSpPr>
          <p:spPr bwMode="auto">
            <a:xfrm>
              <a:off x="1503" y="933"/>
              <a:ext cx="29" cy="40"/>
            </a:xfrm>
            <a:custGeom>
              <a:avLst/>
              <a:gdLst>
                <a:gd name="T0" fmla="*/ 0 w 29"/>
                <a:gd name="T1" fmla="*/ 40 h 40"/>
                <a:gd name="T2" fmla="*/ 0 w 29"/>
                <a:gd name="T3" fmla="*/ 0 h 40"/>
                <a:gd name="T4" fmla="*/ 29 w 29"/>
                <a:gd name="T5" fmla="*/ 0 h 40"/>
                <a:gd name="T6" fmla="*/ 29 w 29"/>
                <a:gd name="T7" fmla="*/ 3 h 40"/>
                <a:gd name="T8" fmla="*/ 29 w 29"/>
                <a:gd name="T9" fmla="*/ 5 h 40"/>
                <a:gd name="T10" fmla="*/ 6 w 29"/>
                <a:gd name="T11" fmla="*/ 5 h 40"/>
                <a:gd name="T12" fmla="*/ 6 w 29"/>
                <a:gd name="T13" fmla="*/ 16 h 40"/>
                <a:gd name="T14" fmla="*/ 27 w 29"/>
                <a:gd name="T15" fmla="*/ 16 h 40"/>
                <a:gd name="T16" fmla="*/ 27 w 29"/>
                <a:gd name="T17" fmla="*/ 19 h 40"/>
                <a:gd name="T18" fmla="*/ 27 w 29"/>
                <a:gd name="T19" fmla="*/ 21 h 40"/>
                <a:gd name="T20" fmla="*/ 6 w 29"/>
                <a:gd name="T21" fmla="*/ 21 h 40"/>
                <a:gd name="T22" fmla="*/ 6 w 29"/>
                <a:gd name="T23" fmla="*/ 35 h 40"/>
                <a:gd name="T24" fmla="*/ 29 w 29"/>
                <a:gd name="T25" fmla="*/ 35 h 40"/>
                <a:gd name="T26" fmla="*/ 29 w 29"/>
                <a:gd name="T27" fmla="*/ 37 h 40"/>
                <a:gd name="T28" fmla="*/ 29 w 29"/>
                <a:gd name="T29" fmla="*/ 40 h 40"/>
                <a:gd name="T30" fmla="*/ 0 w 29"/>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 h="40">
                  <a:moveTo>
                    <a:pt x="0" y="40"/>
                  </a:moveTo>
                  <a:lnTo>
                    <a:pt x="0" y="0"/>
                  </a:lnTo>
                  <a:lnTo>
                    <a:pt x="29" y="0"/>
                  </a:lnTo>
                  <a:lnTo>
                    <a:pt x="29" y="3"/>
                  </a:lnTo>
                  <a:lnTo>
                    <a:pt x="29" y="5"/>
                  </a:lnTo>
                  <a:lnTo>
                    <a:pt x="6" y="5"/>
                  </a:lnTo>
                  <a:lnTo>
                    <a:pt x="6" y="16"/>
                  </a:lnTo>
                  <a:lnTo>
                    <a:pt x="27" y="16"/>
                  </a:lnTo>
                  <a:lnTo>
                    <a:pt x="27" y="19"/>
                  </a:lnTo>
                  <a:lnTo>
                    <a:pt x="27" y="21"/>
                  </a:lnTo>
                  <a:lnTo>
                    <a:pt x="6" y="21"/>
                  </a:lnTo>
                  <a:lnTo>
                    <a:pt x="6" y="35"/>
                  </a:lnTo>
                  <a:lnTo>
                    <a:pt x="29" y="35"/>
                  </a:lnTo>
                  <a:lnTo>
                    <a:pt x="29" y="37"/>
                  </a:lnTo>
                  <a:lnTo>
                    <a:pt x="29" y="40"/>
                  </a:lnTo>
                  <a:lnTo>
                    <a:pt x="0"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2" name="Freeform 90"/>
            <p:cNvSpPr/>
            <p:nvPr userDrawn="1"/>
          </p:nvSpPr>
          <p:spPr bwMode="auto">
            <a:xfrm>
              <a:off x="1542" y="933"/>
              <a:ext cx="22" cy="40"/>
            </a:xfrm>
            <a:custGeom>
              <a:avLst/>
              <a:gdLst>
                <a:gd name="T0" fmla="*/ 14 w 18"/>
                <a:gd name="T1" fmla="*/ 0 h 32"/>
                <a:gd name="T2" fmla="*/ 16 w 18"/>
                <a:gd name="T3" fmla="*/ 0 h 32"/>
                <a:gd name="T4" fmla="*/ 18 w 18"/>
                <a:gd name="T5" fmla="*/ 0 h 32"/>
                <a:gd name="T6" fmla="*/ 18 w 18"/>
                <a:gd name="T7" fmla="*/ 23 h 32"/>
                <a:gd name="T8" fmla="*/ 16 w 18"/>
                <a:gd name="T9" fmla="*/ 30 h 32"/>
                <a:gd name="T10" fmla="*/ 9 w 18"/>
                <a:gd name="T11" fmla="*/ 32 h 32"/>
                <a:gd name="T12" fmla="*/ 2 w 18"/>
                <a:gd name="T13" fmla="*/ 30 h 32"/>
                <a:gd name="T14" fmla="*/ 0 w 18"/>
                <a:gd name="T15" fmla="*/ 23 h 32"/>
                <a:gd name="T16" fmla="*/ 0 w 18"/>
                <a:gd name="T17" fmla="*/ 21 h 32"/>
                <a:gd name="T18" fmla="*/ 4 w 18"/>
                <a:gd name="T19" fmla="*/ 21 h 32"/>
                <a:gd name="T20" fmla="*/ 4 w 18"/>
                <a:gd name="T21" fmla="*/ 23 h 32"/>
                <a:gd name="T22" fmla="*/ 6 w 18"/>
                <a:gd name="T23" fmla="*/ 27 h 32"/>
                <a:gd name="T24" fmla="*/ 9 w 18"/>
                <a:gd name="T25" fmla="*/ 29 h 32"/>
                <a:gd name="T26" fmla="*/ 13 w 18"/>
                <a:gd name="T27" fmla="*/ 27 h 32"/>
                <a:gd name="T28" fmla="*/ 14 w 18"/>
                <a:gd name="T29" fmla="*/ 23 h 32"/>
                <a:gd name="T30" fmla="*/ 14 w 18"/>
                <a:gd name="T31"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32">
                  <a:moveTo>
                    <a:pt x="14" y="0"/>
                  </a:moveTo>
                  <a:cubicBezTo>
                    <a:pt x="16" y="0"/>
                    <a:pt x="16" y="0"/>
                    <a:pt x="16" y="0"/>
                  </a:cubicBezTo>
                  <a:cubicBezTo>
                    <a:pt x="18" y="0"/>
                    <a:pt x="18" y="0"/>
                    <a:pt x="18" y="0"/>
                  </a:cubicBezTo>
                  <a:cubicBezTo>
                    <a:pt x="18" y="23"/>
                    <a:pt x="18" y="23"/>
                    <a:pt x="18" y="23"/>
                  </a:cubicBezTo>
                  <a:cubicBezTo>
                    <a:pt x="18" y="26"/>
                    <a:pt x="18" y="28"/>
                    <a:pt x="16" y="30"/>
                  </a:cubicBezTo>
                  <a:cubicBezTo>
                    <a:pt x="14" y="32"/>
                    <a:pt x="12" y="32"/>
                    <a:pt x="9" y="32"/>
                  </a:cubicBezTo>
                  <a:cubicBezTo>
                    <a:pt x="6" y="32"/>
                    <a:pt x="4" y="32"/>
                    <a:pt x="2" y="30"/>
                  </a:cubicBezTo>
                  <a:cubicBezTo>
                    <a:pt x="1" y="28"/>
                    <a:pt x="0" y="26"/>
                    <a:pt x="0" y="23"/>
                  </a:cubicBezTo>
                  <a:cubicBezTo>
                    <a:pt x="0" y="21"/>
                    <a:pt x="0" y="21"/>
                    <a:pt x="0" y="21"/>
                  </a:cubicBezTo>
                  <a:cubicBezTo>
                    <a:pt x="4" y="21"/>
                    <a:pt x="4" y="21"/>
                    <a:pt x="4" y="21"/>
                  </a:cubicBezTo>
                  <a:cubicBezTo>
                    <a:pt x="4" y="23"/>
                    <a:pt x="4" y="23"/>
                    <a:pt x="4" y="23"/>
                  </a:cubicBezTo>
                  <a:cubicBezTo>
                    <a:pt x="4" y="25"/>
                    <a:pt x="5" y="26"/>
                    <a:pt x="6" y="27"/>
                  </a:cubicBezTo>
                  <a:cubicBezTo>
                    <a:pt x="6" y="28"/>
                    <a:pt x="8" y="29"/>
                    <a:pt x="9" y="29"/>
                  </a:cubicBezTo>
                  <a:cubicBezTo>
                    <a:pt x="11" y="29"/>
                    <a:pt x="12" y="28"/>
                    <a:pt x="13" y="27"/>
                  </a:cubicBezTo>
                  <a:cubicBezTo>
                    <a:pt x="14" y="26"/>
                    <a:pt x="14" y="24"/>
                    <a:pt x="14" y="23"/>
                  </a:cubicBezTo>
                  <a:lnTo>
                    <a:pt x="14"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3" name="Freeform 91"/>
            <p:cNvSpPr/>
            <p:nvPr userDrawn="1"/>
          </p:nvSpPr>
          <p:spPr bwMode="auto">
            <a:xfrm>
              <a:off x="1579" y="933"/>
              <a:ext cx="5" cy="40"/>
            </a:xfrm>
            <a:custGeom>
              <a:avLst/>
              <a:gdLst>
                <a:gd name="T0" fmla="*/ 0 w 5"/>
                <a:gd name="T1" fmla="*/ 0 h 40"/>
                <a:gd name="T2" fmla="*/ 3 w 5"/>
                <a:gd name="T3" fmla="*/ 0 h 40"/>
                <a:gd name="T4" fmla="*/ 5 w 5"/>
                <a:gd name="T5" fmla="*/ 0 h 40"/>
                <a:gd name="T6" fmla="*/ 5 w 5"/>
                <a:gd name="T7" fmla="*/ 40 h 40"/>
                <a:gd name="T8" fmla="*/ 3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3" y="0"/>
                  </a:lnTo>
                  <a:lnTo>
                    <a:pt x="5" y="0"/>
                  </a:lnTo>
                  <a:lnTo>
                    <a:pt x="5" y="40"/>
                  </a:lnTo>
                  <a:lnTo>
                    <a:pt x="3"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4" name="Freeform 92"/>
            <p:cNvSpPr>
              <a:spLocks noEditPoints="1"/>
            </p:cNvSpPr>
            <p:nvPr userDrawn="1"/>
          </p:nvSpPr>
          <p:spPr bwMode="auto">
            <a:xfrm>
              <a:off x="1595" y="933"/>
              <a:ext cx="36" cy="40"/>
            </a:xfrm>
            <a:custGeom>
              <a:avLst/>
              <a:gdLst>
                <a:gd name="T0" fmla="*/ 15 w 36"/>
                <a:gd name="T1" fmla="*/ 0 h 40"/>
                <a:gd name="T2" fmla="*/ 19 w 36"/>
                <a:gd name="T3" fmla="*/ 0 h 40"/>
                <a:gd name="T4" fmla="*/ 21 w 36"/>
                <a:gd name="T5" fmla="*/ 0 h 40"/>
                <a:gd name="T6" fmla="*/ 36 w 36"/>
                <a:gd name="T7" fmla="*/ 40 h 40"/>
                <a:gd name="T8" fmla="*/ 33 w 36"/>
                <a:gd name="T9" fmla="*/ 40 h 40"/>
                <a:gd name="T10" fmla="*/ 30 w 36"/>
                <a:gd name="T11" fmla="*/ 40 h 40"/>
                <a:gd name="T12" fmla="*/ 26 w 36"/>
                <a:gd name="T13" fmla="*/ 27 h 40"/>
                <a:gd name="T14" fmla="*/ 10 w 36"/>
                <a:gd name="T15" fmla="*/ 27 h 40"/>
                <a:gd name="T16" fmla="*/ 7 w 36"/>
                <a:gd name="T17" fmla="*/ 40 h 40"/>
                <a:gd name="T18" fmla="*/ 4 w 36"/>
                <a:gd name="T19" fmla="*/ 40 h 40"/>
                <a:gd name="T20" fmla="*/ 0 w 36"/>
                <a:gd name="T21" fmla="*/ 40 h 40"/>
                <a:gd name="T22" fmla="*/ 15 w 36"/>
                <a:gd name="T23" fmla="*/ 0 h 40"/>
                <a:gd name="T24" fmla="*/ 12 w 36"/>
                <a:gd name="T25" fmla="*/ 24 h 40"/>
                <a:gd name="T26" fmla="*/ 24 w 36"/>
                <a:gd name="T27" fmla="*/ 24 h 40"/>
                <a:gd name="T28" fmla="*/ 19 w 36"/>
                <a:gd name="T29" fmla="*/ 5 h 40"/>
                <a:gd name="T30" fmla="*/ 19 w 36"/>
                <a:gd name="T31" fmla="*/ 5 h 40"/>
                <a:gd name="T32" fmla="*/ 12 w 36"/>
                <a:gd name="T33"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 h="40">
                  <a:moveTo>
                    <a:pt x="15" y="0"/>
                  </a:moveTo>
                  <a:lnTo>
                    <a:pt x="19" y="0"/>
                  </a:lnTo>
                  <a:lnTo>
                    <a:pt x="21" y="0"/>
                  </a:lnTo>
                  <a:lnTo>
                    <a:pt x="36" y="40"/>
                  </a:lnTo>
                  <a:lnTo>
                    <a:pt x="33" y="40"/>
                  </a:lnTo>
                  <a:lnTo>
                    <a:pt x="30" y="40"/>
                  </a:lnTo>
                  <a:lnTo>
                    <a:pt x="26" y="27"/>
                  </a:lnTo>
                  <a:lnTo>
                    <a:pt x="10" y="27"/>
                  </a:lnTo>
                  <a:lnTo>
                    <a:pt x="7" y="40"/>
                  </a:lnTo>
                  <a:lnTo>
                    <a:pt x="4" y="40"/>
                  </a:lnTo>
                  <a:lnTo>
                    <a:pt x="0" y="40"/>
                  </a:lnTo>
                  <a:lnTo>
                    <a:pt x="15" y="0"/>
                  </a:lnTo>
                  <a:close/>
                  <a:moveTo>
                    <a:pt x="12" y="24"/>
                  </a:moveTo>
                  <a:lnTo>
                    <a:pt x="24" y="24"/>
                  </a:lnTo>
                  <a:lnTo>
                    <a:pt x="19" y="5"/>
                  </a:lnTo>
                  <a:lnTo>
                    <a:pt x="19" y="5"/>
                  </a:lnTo>
                  <a:lnTo>
                    <a:pt x="12" y="2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5" name="Freeform 93"/>
            <p:cNvSpPr/>
            <p:nvPr userDrawn="1"/>
          </p:nvSpPr>
          <p:spPr bwMode="auto">
            <a:xfrm>
              <a:off x="1641" y="933"/>
              <a:ext cx="31" cy="40"/>
            </a:xfrm>
            <a:custGeom>
              <a:avLst/>
              <a:gdLst>
                <a:gd name="T0" fmla="*/ 5 w 31"/>
                <a:gd name="T1" fmla="*/ 40 h 40"/>
                <a:gd name="T2" fmla="*/ 3 w 31"/>
                <a:gd name="T3" fmla="*/ 40 h 40"/>
                <a:gd name="T4" fmla="*/ 0 w 31"/>
                <a:gd name="T5" fmla="*/ 40 h 40"/>
                <a:gd name="T6" fmla="*/ 0 w 31"/>
                <a:gd name="T7" fmla="*/ 0 h 40"/>
                <a:gd name="T8" fmla="*/ 4 w 31"/>
                <a:gd name="T9" fmla="*/ 0 h 40"/>
                <a:gd name="T10" fmla="*/ 6 w 31"/>
                <a:gd name="T11" fmla="*/ 0 h 40"/>
                <a:gd name="T12" fmla="*/ 26 w 31"/>
                <a:gd name="T13" fmla="*/ 32 h 40"/>
                <a:gd name="T14" fmla="*/ 26 w 31"/>
                <a:gd name="T15" fmla="*/ 0 h 40"/>
                <a:gd name="T16" fmla="*/ 29 w 31"/>
                <a:gd name="T17" fmla="*/ 0 h 40"/>
                <a:gd name="T18" fmla="*/ 31 w 31"/>
                <a:gd name="T19" fmla="*/ 0 h 40"/>
                <a:gd name="T20" fmla="*/ 31 w 31"/>
                <a:gd name="T21" fmla="*/ 40 h 40"/>
                <a:gd name="T22" fmla="*/ 29 w 31"/>
                <a:gd name="T23" fmla="*/ 40 h 40"/>
                <a:gd name="T24" fmla="*/ 26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3" y="40"/>
                  </a:lnTo>
                  <a:lnTo>
                    <a:pt x="0" y="40"/>
                  </a:lnTo>
                  <a:lnTo>
                    <a:pt x="0" y="0"/>
                  </a:lnTo>
                  <a:lnTo>
                    <a:pt x="4" y="0"/>
                  </a:lnTo>
                  <a:lnTo>
                    <a:pt x="6" y="0"/>
                  </a:lnTo>
                  <a:lnTo>
                    <a:pt x="26" y="32"/>
                  </a:lnTo>
                  <a:lnTo>
                    <a:pt x="26" y="0"/>
                  </a:lnTo>
                  <a:lnTo>
                    <a:pt x="29" y="0"/>
                  </a:lnTo>
                  <a:lnTo>
                    <a:pt x="31" y="0"/>
                  </a:lnTo>
                  <a:lnTo>
                    <a:pt x="31" y="40"/>
                  </a:lnTo>
                  <a:lnTo>
                    <a:pt x="29" y="40"/>
                  </a:lnTo>
                  <a:lnTo>
                    <a:pt x="26" y="40"/>
                  </a:lnTo>
                  <a:lnTo>
                    <a:pt x="5" y="8"/>
                  </a:lnTo>
                  <a:lnTo>
                    <a:pt x="5"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6" name="Freeform 94"/>
            <p:cNvSpPr/>
            <p:nvPr userDrawn="1"/>
          </p:nvSpPr>
          <p:spPr bwMode="auto">
            <a:xfrm>
              <a:off x="1687" y="932"/>
              <a:ext cx="36" cy="41"/>
            </a:xfrm>
            <a:custGeom>
              <a:avLst/>
              <a:gdLst>
                <a:gd name="T0" fmla="*/ 15 w 29"/>
                <a:gd name="T1" fmla="*/ 33 h 33"/>
                <a:gd name="T2" fmla="*/ 4 w 29"/>
                <a:gd name="T3" fmla="*/ 29 h 33"/>
                <a:gd name="T4" fmla="*/ 0 w 29"/>
                <a:gd name="T5" fmla="*/ 17 h 33"/>
                <a:gd name="T6" fmla="*/ 4 w 29"/>
                <a:gd name="T7" fmla="*/ 5 h 33"/>
                <a:gd name="T8" fmla="*/ 15 w 29"/>
                <a:gd name="T9" fmla="*/ 0 h 33"/>
                <a:gd name="T10" fmla="*/ 24 w 29"/>
                <a:gd name="T11" fmla="*/ 3 h 33"/>
                <a:gd name="T12" fmla="*/ 28 w 29"/>
                <a:gd name="T13" fmla="*/ 10 h 33"/>
                <a:gd name="T14" fmla="*/ 24 w 29"/>
                <a:gd name="T15" fmla="*/ 10 h 33"/>
                <a:gd name="T16" fmla="*/ 21 w 29"/>
                <a:gd name="T17" fmla="*/ 5 h 33"/>
                <a:gd name="T18" fmla="*/ 15 w 29"/>
                <a:gd name="T19" fmla="*/ 4 h 33"/>
                <a:gd name="T20" fmla="*/ 7 w 29"/>
                <a:gd name="T21" fmla="*/ 7 h 33"/>
                <a:gd name="T22" fmla="*/ 4 w 29"/>
                <a:gd name="T23" fmla="*/ 17 h 33"/>
                <a:gd name="T24" fmla="*/ 7 w 29"/>
                <a:gd name="T25" fmla="*/ 26 h 33"/>
                <a:gd name="T26" fmla="*/ 15 w 29"/>
                <a:gd name="T27" fmla="*/ 30 h 33"/>
                <a:gd name="T28" fmla="*/ 23 w 29"/>
                <a:gd name="T29" fmla="*/ 26 h 33"/>
                <a:gd name="T30" fmla="*/ 24 w 29"/>
                <a:gd name="T31" fmla="*/ 25 h 33"/>
                <a:gd name="T32" fmla="*/ 25 w 29"/>
                <a:gd name="T33" fmla="*/ 23 h 33"/>
                <a:gd name="T34" fmla="*/ 25 w 29"/>
                <a:gd name="T35" fmla="*/ 20 h 33"/>
                <a:gd name="T36" fmla="*/ 25 w 29"/>
                <a:gd name="T37" fmla="*/ 19 h 33"/>
                <a:gd name="T38" fmla="*/ 15 w 29"/>
                <a:gd name="T39" fmla="*/ 19 h 33"/>
                <a:gd name="T40" fmla="*/ 15 w 29"/>
                <a:gd name="T41" fmla="*/ 16 h 33"/>
                <a:gd name="T42" fmla="*/ 29 w 29"/>
                <a:gd name="T43" fmla="*/ 16 h 33"/>
                <a:gd name="T44" fmla="*/ 29 w 29"/>
                <a:gd name="T45" fmla="*/ 32 h 33"/>
                <a:gd name="T46" fmla="*/ 26 w 29"/>
                <a:gd name="T47" fmla="*/ 32 h 33"/>
                <a:gd name="T48" fmla="*/ 25 w 29"/>
                <a:gd name="T49" fmla="*/ 28 h 33"/>
                <a:gd name="T50" fmla="*/ 25 w 29"/>
                <a:gd name="T51" fmla="*/ 29 h 33"/>
                <a:gd name="T52" fmla="*/ 15 w 29"/>
                <a:gd name="T53"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 h="33">
                  <a:moveTo>
                    <a:pt x="15" y="33"/>
                  </a:moveTo>
                  <a:cubicBezTo>
                    <a:pt x="10" y="33"/>
                    <a:pt x="7" y="32"/>
                    <a:pt x="4" y="29"/>
                  </a:cubicBezTo>
                  <a:cubicBezTo>
                    <a:pt x="1" y="26"/>
                    <a:pt x="0" y="22"/>
                    <a:pt x="0" y="17"/>
                  </a:cubicBezTo>
                  <a:cubicBezTo>
                    <a:pt x="0" y="12"/>
                    <a:pt x="1" y="8"/>
                    <a:pt x="4" y="5"/>
                  </a:cubicBezTo>
                  <a:cubicBezTo>
                    <a:pt x="7" y="1"/>
                    <a:pt x="10" y="0"/>
                    <a:pt x="15" y="0"/>
                  </a:cubicBezTo>
                  <a:cubicBezTo>
                    <a:pt x="18" y="0"/>
                    <a:pt x="21" y="1"/>
                    <a:pt x="24" y="3"/>
                  </a:cubicBezTo>
                  <a:cubicBezTo>
                    <a:pt x="26" y="5"/>
                    <a:pt x="28" y="7"/>
                    <a:pt x="28" y="10"/>
                  </a:cubicBezTo>
                  <a:cubicBezTo>
                    <a:pt x="24" y="10"/>
                    <a:pt x="24" y="10"/>
                    <a:pt x="24" y="10"/>
                  </a:cubicBezTo>
                  <a:cubicBezTo>
                    <a:pt x="24" y="8"/>
                    <a:pt x="23" y="7"/>
                    <a:pt x="21" y="5"/>
                  </a:cubicBezTo>
                  <a:cubicBezTo>
                    <a:pt x="19" y="4"/>
                    <a:pt x="17" y="4"/>
                    <a:pt x="15" y="4"/>
                  </a:cubicBezTo>
                  <a:cubicBezTo>
                    <a:pt x="12" y="4"/>
                    <a:pt x="9" y="5"/>
                    <a:pt x="7" y="7"/>
                  </a:cubicBezTo>
                  <a:cubicBezTo>
                    <a:pt x="5" y="10"/>
                    <a:pt x="4" y="13"/>
                    <a:pt x="4" y="17"/>
                  </a:cubicBezTo>
                  <a:cubicBezTo>
                    <a:pt x="4" y="21"/>
                    <a:pt x="5" y="24"/>
                    <a:pt x="7" y="26"/>
                  </a:cubicBezTo>
                  <a:cubicBezTo>
                    <a:pt x="9" y="29"/>
                    <a:pt x="12" y="30"/>
                    <a:pt x="15" y="30"/>
                  </a:cubicBezTo>
                  <a:cubicBezTo>
                    <a:pt x="18" y="30"/>
                    <a:pt x="21" y="29"/>
                    <a:pt x="23" y="26"/>
                  </a:cubicBezTo>
                  <a:cubicBezTo>
                    <a:pt x="23" y="26"/>
                    <a:pt x="23" y="25"/>
                    <a:pt x="24" y="25"/>
                  </a:cubicBezTo>
                  <a:cubicBezTo>
                    <a:pt x="24" y="24"/>
                    <a:pt x="24" y="24"/>
                    <a:pt x="25" y="23"/>
                  </a:cubicBezTo>
                  <a:cubicBezTo>
                    <a:pt x="25" y="22"/>
                    <a:pt x="25" y="21"/>
                    <a:pt x="25" y="20"/>
                  </a:cubicBezTo>
                  <a:cubicBezTo>
                    <a:pt x="25" y="19"/>
                    <a:pt x="25" y="19"/>
                    <a:pt x="25" y="19"/>
                  </a:cubicBezTo>
                  <a:cubicBezTo>
                    <a:pt x="15" y="19"/>
                    <a:pt x="15" y="19"/>
                    <a:pt x="15" y="19"/>
                  </a:cubicBezTo>
                  <a:cubicBezTo>
                    <a:pt x="15" y="16"/>
                    <a:pt x="15" y="16"/>
                    <a:pt x="15" y="16"/>
                  </a:cubicBezTo>
                  <a:cubicBezTo>
                    <a:pt x="29" y="16"/>
                    <a:pt x="29" y="16"/>
                    <a:pt x="29" y="16"/>
                  </a:cubicBezTo>
                  <a:cubicBezTo>
                    <a:pt x="29" y="32"/>
                    <a:pt x="29" y="32"/>
                    <a:pt x="29" y="32"/>
                  </a:cubicBezTo>
                  <a:cubicBezTo>
                    <a:pt x="26" y="32"/>
                    <a:pt x="26" y="32"/>
                    <a:pt x="26" y="32"/>
                  </a:cubicBezTo>
                  <a:cubicBezTo>
                    <a:pt x="25" y="28"/>
                    <a:pt x="25" y="28"/>
                    <a:pt x="25" y="28"/>
                  </a:cubicBezTo>
                  <a:cubicBezTo>
                    <a:pt x="25" y="29"/>
                    <a:pt x="25" y="29"/>
                    <a:pt x="25" y="29"/>
                  </a:cubicBezTo>
                  <a:cubicBezTo>
                    <a:pt x="22" y="32"/>
                    <a:pt x="19" y="33"/>
                    <a:pt x="15"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7" name="Freeform 95"/>
            <p:cNvSpPr/>
            <p:nvPr userDrawn="1"/>
          </p:nvSpPr>
          <p:spPr bwMode="auto">
            <a:xfrm>
              <a:off x="1760" y="933"/>
              <a:ext cx="31" cy="40"/>
            </a:xfrm>
            <a:custGeom>
              <a:avLst/>
              <a:gdLst>
                <a:gd name="T0" fmla="*/ 25 w 25"/>
                <a:gd name="T1" fmla="*/ 20 h 32"/>
                <a:gd name="T2" fmla="*/ 21 w 25"/>
                <a:gd name="T3" fmla="*/ 29 h 32"/>
                <a:gd name="T4" fmla="*/ 12 w 25"/>
                <a:gd name="T5" fmla="*/ 32 h 32"/>
                <a:gd name="T6" fmla="*/ 3 w 25"/>
                <a:gd name="T7" fmla="*/ 29 h 32"/>
                <a:gd name="T8" fmla="*/ 0 w 25"/>
                <a:gd name="T9" fmla="*/ 20 h 32"/>
                <a:gd name="T10" fmla="*/ 0 w 25"/>
                <a:gd name="T11" fmla="*/ 0 h 32"/>
                <a:gd name="T12" fmla="*/ 2 w 25"/>
                <a:gd name="T13" fmla="*/ 0 h 32"/>
                <a:gd name="T14" fmla="*/ 4 w 25"/>
                <a:gd name="T15" fmla="*/ 0 h 32"/>
                <a:gd name="T16" fmla="*/ 4 w 25"/>
                <a:gd name="T17" fmla="*/ 20 h 32"/>
                <a:gd name="T18" fmla="*/ 6 w 25"/>
                <a:gd name="T19" fmla="*/ 26 h 32"/>
                <a:gd name="T20" fmla="*/ 12 w 25"/>
                <a:gd name="T21" fmla="*/ 29 h 32"/>
                <a:gd name="T22" fmla="*/ 18 w 25"/>
                <a:gd name="T23" fmla="*/ 26 h 32"/>
                <a:gd name="T24" fmla="*/ 20 w 25"/>
                <a:gd name="T25" fmla="*/ 20 h 32"/>
                <a:gd name="T26" fmla="*/ 20 w 25"/>
                <a:gd name="T27" fmla="*/ 0 h 32"/>
                <a:gd name="T28" fmla="*/ 22 w 25"/>
                <a:gd name="T29" fmla="*/ 0 h 32"/>
                <a:gd name="T30" fmla="*/ 25 w 25"/>
                <a:gd name="T31" fmla="*/ 0 h 32"/>
                <a:gd name="T32" fmla="*/ 25 w 25"/>
                <a:gd name="T33"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 h="32">
                  <a:moveTo>
                    <a:pt x="25" y="20"/>
                  </a:moveTo>
                  <a:cubicBezTo>
                    <a:pt x="25" y="24"/>
                    <a:pt x="23" y="27"/>
                    <a:pt x="21" y="29"/>
                  </a:cubicBezTo>
                  <a:cubicBezTo>
                    <a:pt x="19" y="31"/>
                    <a:pt x="16" y="32"/>
                    <a:pt x="12" y="32"/>
                  </a:cubicBezTo>
                  <a:cubicBezTo>
                    <a:pt x="8" y="32"/>
                    <a:pt x="5" y="31"/>
                    <a:pt x="3" y="29"/>
                  </a:cubicBezTo>
                  <a:cubicBezTo>
                    <a:pt x="1" y="27"/>
                    <a:pt x="0" y="24"/>
                    <a:pt x="0" y="20"/>
                  </a:cubicBezTo>
                  <a:cubicBezTo>
                    <a:pt x="0" y="0"/>
                    <a:pt x="0" y="0"/>
                    <a:pt x="0" y="0"/>
                  </a:cubicBezTo>
                  <a:cubicBezTo>
                    <a:pt x="2" y="0"/>
                    <a:pt x="2" y="0"/>
                    <a:pt x="2" y="0"/>
                  </a:cubicBezTo>
                  <a:cubicBezTo>
                    <a:pt x="4" y="0"/>
                    <a:pt x="4" y="0"/>
                    <a:pt x="4" y="0"/>
                  </a:cubicBezTo>
                  <a:cubicBezTo>
                    <a:pt x="4" y="20"/>
                    <a:pt x="4" y="20"/>
                    <a:pt x="4" y="20"/>
                  </a:cubicBezTo>
                  <a:cubicBezTo>
                    <a:pt x="4" y="23"/>
                    <a:pt x="5" y="25"/>
                    <a:pt x="6" y="26"/>
                  </a:cubicBezTo>
                  <a:cubicBezTo>
                    <a:pt x="7" y="28"/>
                    <a:pt x="9" y="29"/>
                    <a:pt x="12" y="29"/>
                  </a:cubicBezTo>
                  <a:cubicBezTo>
                    <a:pt x="15" y="29"/>
                    <a:pt x="17" y="28"/>
                    <a:pt x="18" y="26"/>
                  </a:cubicBezTo>
                  <a:cubicBezTo>
                    <a:pt x="20" y="25"/>
                    <a:pt x="20" y="23"/>
                    <a:pt x="20" y="20"/>
                  </a:cubicBezTo>
                  <a:cubicBezTo>
                    <a:pt x="20" y="0"/>
                    <a:pt x="20" y="0"/>
                    <a:pt x="20" y="0"/>
                  </a:cubicBezTo>
                  <a:cubicBezTo>
                    <a:pt x="22" y="0"/>
                    <a:pt x="22" y="0"/>
                    <a:pt x="22" y="0"/>
                  </a:cubicBezTo>
                  <a:cubicBezTo>
                    <a:pt x="25" y="0"/>
                    <a:pt x="25" y="0"/>
                    <a:pt x="25" y="0"/>
                  </a:cubicBezTo>
                  <a:lnTo>
                    <a:pt x="25" y="2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8" name="Freeform 96"/>
            <p:cNvSpPr/>
            <p:nvPr userDrawn="1"/>
          </p:nvSpPr>
          <p:spPr bwMode="auto">
            <a:xfrm>
              <a:off x="1806" y="933"/>
              <a:ext cx="31" cy="40"/>
            </a:xfrm>
            <a:custGeom>
              <a:avLst/>
              <a:gdLst>
                <a:gd name="T0" fmla="*/ 5 w 31"/>
                <a:gd name="T1" fmla="*/ 40 h 40"/>
                <a:gd name="T2" fmla="*/ 2 w 31"/>
                <a:gd name="T3" fmla="*/ 40 h 40"/>
                <a:gd name="T4" fmla="*/ 0 w 31"/>
                <a:gd name="T5" fmla="*/ 40 h 40"/>
                <a:gd name="T6" fmla="*/ 0 w 31"/>
                <a:gd name="T7" fmla="*/ 0 h 40"/>
                <a:gd name="T8" fmla="*/ 2 w 31"/>
                <a:gd name="T9" fmla="*/ 0 h 40"/>
                <a:gd name="T10" fmla="*/ 6 w 31"/>
                <a:gd name="T11" fmla="*/ 0 h 40"/>
                <a:gd name="T12" fmla="*/ 26 w 31"/>
                <a:gd name="T13" fmla="*/ 32 h 40"/>
                <a:gd name="T14" fmla="*/ 26 w 31"/>
                <a:gd name="T15" fmla="*/ 0 h 40"/>
                <a:gd name="T16" fmla="*/ 28 w 31"/>
                <a:gd name="T17" fmla="*/ 0 h 40"/>
                <a:gd name="T18" fmla="*/ 31 w 31"/>
                <a:gd name="T19" fmla="*/ 0 h 40"/>
                <a:gd name="T20" fmla="*/ 31 w 31"/>
                <a:gd name="T21" fmla="*/ 40 h 40"/>
                <a:gd name="T22" fmla="*/ 28 w 31"/>
                <a:gd name="T23" fmla="*/ 40 h 40"/>
                <a:gd name="T24" fmla="*/ 25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2" y="40"/>
                  </a:lnTo>
                  <a:lnTo>
                    <a:pt x="0" y="40"/>
                  </a:lnTo>
                  <a:lnTo>
                    <a:pt x="0" y="0"/>
                  </a:lnTo>
                  <a:lnTo>
                    <a:pt x="2" y="0"/>
                  </a:lnTo>
                  <a:lnTo>
                    <a:pt x="6" y="0"/>
                  </a:lnTo>
                  <a:lnTo>
                    <a:pt x="26" y="32"/>
                  </a:lnTo>
                  <a:lnTo>
                    <a:pt x="26" y="0"/>
                  </a:lnTo>
                  <a:lnTo>
                    <a:pt x="28" y="0"/>
                  </a:lnTo>
                  <a:lnTo>
                    <a:pt x="31" y="0"/>
                  </a:lnTo>
                  <a:lnTo>
                    <a:pt x="31" y="40"/>
                  </a:lnTo>
                  <a:lnTo>
                    <a:pt x="28" y="40"/>
                  </a:lnTo>
                  <a:lnTo>
                    <a:pt x="25" y="40"/>
                  </a:lnTo>
                  <a:lnTo>
                    <a:pt x="5" y="8"/>
                  </a:lnTo>
                  <a:lnTo>
                    <a:pt x="5"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9" name="Freeform 97"/>
            <p:cNvSpPr/>
            <p:nvPr userDrawn="1"/>
          </p:nvSpPr>
          <p:spPr bwMode="auto">
            <a:xfrm>
              <a:off x="1852"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30" name="Freeform 98"/>
            <p:cNvSpPr/>
            <p:nvPr userDrawn="1"/>
          </p:nvSpPr>
          <p:spPr bwMode="auto">
            <a:xfrm>
              <a:off x="1867" y="933"/>
              <a:ext cx="34" cy="40"/>
            </a:xfrm>
            <a:custGeom>
              <a:avLst/>
              <a:gdLst>
                <a:gd name="T0" fmla="*/ 0 w 34"/>
                <a:gd name="T1" fmla="*/ 0 h 40"/>
                <a:gd name="T2" fmla="*/ 3 w 34"/>
                <a:gd name="T3" fmla="*/ 0 h 40"/>
                <a:gd name="T4" fmla="*/ 6 w 34"/>
                <a:gd name="T5" fmla="*/ 0 h 40"/>
                <a:gd name="T6" fmla="*/ 17 w 34"/>
                <a:gd name="T7" fmla="*/ 34 h 40"/>
                <a:gd name="T8" fmla="*/ 17 w 34"/>
                <a:gd name="T9" fmla="*/ 34 h 40"/>
                <a:gd name="T10" fmla="*/ 28 w 34"/>
                <a:gd name="T11" fmla="*/ 0 h 40"/>
                <a:gd name="T12" fmla="*/ 32 w 34"/>
                <a:gd name="T13" fmla="*/ 0 h 40"/>
                <a:gd name="T14" fmla="*/ 34 w 34"/>
                <a:gd name="T15" fmla="*/ 0 h 40"/>
                <a:gd name="T16" fmla="*/ 21 w 34"/>
                <a:gd name="T17" fmla="*/ 40 h 40"/>
                <a:gd name="T18" fmla="*/ 17 w 34"/>
                <a:gd name="T19" fmla="*/ 40 h 40"/>
                <a:gd name="T20" fmla="*/ 15 w 34"/>
                <a:gd name="T21" fmla="*/ 40 h 40"/>
                <a:gd name="T22" fmla="*/ 0 w 34"/>
                <a:gd name="T2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40">
                  <a:moveTo>
                    <a:pt x="0" y="0"/>
                  </a:moveTo>
                  <a:lnTo>
                    <a:pt x="3" y="0"/>
                  </a:lnTo>
                  <a:lnTo>
                    <a:pt x="6" y="0"/>
                  </a:lnTo>
                  <a:lnTo>
                    <a:pt x="17" y="34"/>
                  </a:lnTo>
                  <a:lnTo>
                    <a:pt x="17" y="34"/>
                  </a:lnTo>
                  <a:lnTo>
                    <a:pt x="28" y="0"/>
                  </a:lnTo>
                  <a:lnTo>
                    <a:pt x="32" y="0"/>
                  </a:lnTo>
                  <a:lnTo>
                    <a:pt x="34" y="0"/>
                  </a:lnTo>
                  <a:lnTo>
                    <a:pt x="21" y="40"/>
                  </a:lnTo>
                  <a:lnTo>
                    <a:pt x="17" y="40"/>
                  </a:lnTo>
                  <a:lnTo>
                    <a:pt x="15"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31" name="Freeform 99"/>
            <p:cNvSpPr/>
            <p:nvPr userDrawn="1"/>
          </p:nvSpPr>
          <p:spPr bwMode="auto">
            <a:xfrm>
              <a:off x="1911" y="933"/>
              <a:ext cx="30" cy="40"/>
            </a:xfrm>
            <a:custGeom>
              <a:avLst/>
              <a:gdLst>
                <a:gd name="T0" fmla="*/ 0 w 30"/>
                <a:gd name="T1" fmla="*/ 40 h 40"/>
                <a:gd name="T2" fmla="*/ 0 w 30"/>
                <a:gd name="T3" fmla="*/ 0 h 40"/>
                <a:gd name="T4" fmla="*/ 30 w 30"/>
                <a:gd name="T5" fmla="*/ 0 h 40"/>
                <a:gd name="T6" fmla="*/ 30 w 30"/>
                <a:gd name="T7" fmla="*/ 3 h 40"/>
                <a:gd name="T8" fmla="*/ 30 w 30"/>
                <a:gd name="T9" fmla="*/ 5 h 40"/>
                <a:gd name="T10" fmla="*/ 6 w 30"/>
                <a:gd name="T11" fmla="*/ 5 h 40"/>
                <a:gd name="T12" fmla="*/ 6 w 30"/>
                <a:gd name="T13" fmla="*/ 16 h 40"/>
                <a:gd name="T14" fmla="*/ 27 w 30"/>
                <a:gd name="T15" fmla="*/ 16 h 40"/>
                <a:gd name="T16" fmla="*/ 27 w 30"/>
                <a:gd name="T17" fmla="*/ 19 h 40"/>
                <a:gd name="T18" fmla="*/ 27 w 30"/>
                <a:gd name="T19" fmla="*/ 21 h 40"/>
                <a:gd name="T20" fmla="*/ 6 w 30"/>
                <a:gd name="T21" fmla="*/ 21 h 40"/>
                <a:gd name="T22" fmla="*/ 6 w 30"/>
                <a:gd name="T23" fmla="*/ 35 h 40"/>
                <a:gd name="T24" fmla="*/ 30 w 30"/>
                <a:gd name="T25" fmla="*/ 35 h 40"/>
                <a:gd name="T26" fmla="*/ 30 w 30"/>
                <a:gd name="T27" fmla="*/ 37 h 40"/>
                <a:gd name="T28" fmla="*/ 30 w 30"/>
                <a:gd name="T29" fmla="*/ 40 h 40"/>
                <a:gd name="T30" fmla="*/ 0 w 30"/>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40">
                  <a:moveTo>
                    <a:pt x="0" y="40"/>
                  </a:moveTo>
                  <a:lnTo>
                    <a:pt x="0" y="0"/>
                  </a:lnTo>
                  <a:lnTo>
                    <a:pt x="30" y="0"/>
                  </a:lnTo>
                  <a:lnTo>
                    <a:pt x="30" y="3"/>
                  </a:lnTo>
                  <a:lnTo>
                    <a:pt x="30" y="5"/>
                  </a:lnTo>
                  <a:lnTo>
                    <a:pt x="6" y="5"/>
                  </a:lnTo>
                  <a:lnTo>
                    <a:pt x="6" y="16"/>
                  </a:lnTo>
                  <a:lnTo>
                    <a:pt x="27" y="16"/>
                  </a:lnTo>
                  <a:lnTo>
                    <a:pt x="27" y="19"/>
                  </a:lnTo>
                  <a:lnTo>
                    <a:pt x="27" y="21"/>
                  </a:lnTo>
                  <a:lnTo>
                    <a:pt x="6" y="21"/>
                  </a:lnTo>
                  <a:lnTo>
                    <a:pt x="6" y="35"/>
                  </a:lnTo>
                  <a:lnTo>
                    <a:pt x="30" y="35"/>
                  </a:lnTo>
                  <a:lnTo>
                    <a:pt x="30" y="37"/>
                  </a:lnTo>
                  <a:lnTo>
                    <a:pt x="30" y="40"/>
                  </a:lnTo>
                  <a:lnTo>
                    <a:pt x="0"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32" name="Freeform 100"/>
            <p:cNvSpPr>
              <a:spLocks noEditPoints="1"/>
            </p:cNvSpPr>
            <p:nvPr userDrawn="1"/>
          </p:nvSpPr>
          <p:spPr bwMode="auto">
            <a:xfrm>
              <a:off x="1955" y="933"/>
              <a:ext cx="33" cy="40"/>
            </a:xfrm>
            <a:custGeom>
              <a:avLst/>
              <a:gdLst>
                <a:gd name="T0" fmla="*/ 0 w 27"/>
                <a:gd name="T1" fmla="*/ 0 h 32"/>
                <a:gd name="T2" fmla="*/ 2 w 27"/>
                <a:gd name="T3" fmla="*/ 0 h 32"/>
                <a:gd name="T4" fmla="*/ 15 w 27"/>
                <a:gd name="T5" fmla="*/ 0 h 32"/>
                <a:gd name="T6" fmla="*/ 23 w 27"/>
                <a:gd name="T7" fmla="*/ 2 h 32"/>
                <a:gd name="T8" fmla="*/ 25 w 27"/>
                <a:gd name="T9" fmla="*/ 8 h 32"/>
                <a:gd name="T10" fmla="*/ 23 w 27"/>
                <a:gd name="T11" fmla="*/ 15 h 32"/>
                <a:gd name="T12" fmla="*/ 21 w 27"/>
                <a:gd name="T13" fmla="*/ 16 h 32"/>
                <a:gd name="T14" fmla="*/ 22 w 27"/>
                <a:gd name="T15" fmla="*/ 16 h 32"/>
                <a:gd name="T16" fmla="*/ 25 w 27"/>
                <a:gd name="T17" fmla="*/ 22 h 32"/>
                <a:gd name="T18" fmla="*/ 25 w 27"/>
                <a:gd name="T19" fmla="*/ 28 h 32"/>
                <a:gd name="T20" fmla="*/ 25 w 27"/>
                <a:gd name="T21" fmla="*/ 30 h 32"/>
                <a:gd name="T22" fmla="*/ 27 w 27"/>
                <a:gd name="T23" fmla="*/ 31 h 32"/>
                <a:gd name="T24" fmla="*/ 27 w 27"/>
                <a:gd name="T25" fmla="*/ 31 h 32"/>
                <a:gd name="T26" fmla="*/ 21 w 27"/>
                <a:gd name="T27" fmla="*/ 31 h 32"/>
                <a:gd name="T28" fmla="*/ 21 w 27"/>
                <a:gd name="T29" fmla="*/ 29 h 32"/>
                <a:gd name="T30" fmla="*/ 21 w 27"/>
                <a:gd name="T31" fmla="*/ 26 h 32"/>
                <a:gd name="T32" fmla="*/ 21 w 27"/>
                <a:gd name="T33" fmla="*/ 23 h 32"/>
                <a:gd name="T34" fmla="*/ 19 w 27"/>
                <a:gd name="T35" fmla="*/ 19 h 32"/>
                <a:gd name="T36" fmla="*/ 15 w 27"/>
                <a:gd name="T37" fmla="*/ 18 h 32"/>
                <a:gd name="T38" fmla="*/ 4 w 27"/>
                <a:gd name="T39" fmla="*/ 18 h 32"/>
                <a:gd name="T40" fmla="*/ 4 w 27"/>
                <a:gd name="T41" fmla="*/ 32 h 32"/>
                <a:gd name="T42" fmla="*/ 2 w 27"/>
                <a:gd name="T43" fmla="*/ 32 h 32"/>
                <a:gd name="T44" fmla="*/ 0 w 27"/>
                <a:gd name="T45" fmla="*/ 32 h 32"/>
                <a:gd name="T46" fmla="*/ 0 w 27"/>
                <a:gd name="T47" fmla="*/ 0 h 32"/>
                <a:gd name="T48" fmla="*/ 4 w 27"/>
                <a:gd name="T49" fmla="*/ 14 h 32"/>
                <a:gd name="T50" fmla="*/ 15 w 27"/>
                <a:gd name="T51" fmla="*/ 14 h 32"/>
                <a:gd name="T52" fmla="*/ 19 w 27"/>
                <a:gd name="T53" fmla="*/ 13 h 32"/>
                <a:gd name="T54" fmla="*/ 21 w 27"/>
                <a:gd name="T55" fmla="*/ 9 h 32"/>
                <a:gd name="T56" fmla="*/ 19 w 27"/>
                <a:gd name="T57" fmla="*/ 5 h 32"/>
                <a:gd name="T58" fmla="*/ 15 w 27"/>
                <a:gd name="T59" fmla="*/ 3 h 32"/>
                <a:gd name="T60" fmla="*/ 4 w 27"/>
                <a:gd name="T61" fmla="*/ 3 h 32"/>
                <a:gd name="T62" fmla="*/ 4 w 27"/>
                <a:gd name="T63" fmla="*/ 1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 h="32">
                  <a:moveTo>
                    <a:pt x="0" y="0"/>
                  </a:moveTo>
                  <a:cubicBezTo>
                    <a:pt x="2" y="0"/>
                    <a:pt x="2" y="0"/>
                    <a:pt x="2" y="0"/>
                  </a:cubicBezTo>
                  <a:cubicBezTo>
                    <a:pt x="15" y="0"/>
                    <a:pt x="15" y="0"/>
                    <a:pt x="15" y="0"/>
                  </a:cubicBezTo>
                  <a:cubicBezTo>
                    <a:pt x="18" y="0"/>
                    <a:pt x="21" y="1"/>
                    <a:pt x="23" y="2"/>
                  </a:cubicBezTo>
                  <a:cubicBezTo>
                    <a:pt x="24" y="3"/>
                    <a:pt x="25" y="6"/>
                    <a:pt x="25" y="8"/>
                  </a:cubicBezTo>
                  <a:cubicBezTo>
                    <a:pt x="25" y="11"/>
                    <a:pt x="24" y="13"/>
                    <a:pt x="23" y="15"/>
                  </a:cubicBezTo>
                  <a:cubicBezTo>
                    <a:pt x="22" y="15"/>
                    <a:pt x="22" y="16"/>
                    <a:pt x="21" y="16"/>
                  </a:cubicBezTo>
                  <a:cubicBezTo>
                    <a:pt x="22" y="16"/>
                    <a:pt x="22" y="16"/>
                    <a:pt x="22" y="16"/>
                  </a:cubicBezTo>
                  <a:cubicBezTo>
                    <a:pt x="24" y="17"/>
                    <a:pt x="25" y="19"/>
                    <a:pt x="25" y="22"/>
                  </a:cubicBezTo>
                  <a:cubicBezTo>
                    <a:pt x="25" y="28"/>
                    <a:pt x="25" y="28"/>
                    <a:pt x="25" y="28"/>
                  </a:cubicBezTo>
                  <a:cubicBezTo>
                    <a:pt x="25" y="29"/>
                    <a:pt x="25" y="29"/>
                    <a:pt x="25" y="30"/>
                  </a:cubicBezTo>
                  <a:cubicBezTo>
                    <a:pt x="26" y="30"/>
                    <a:pt x="26" y="30"/>
                    <a:pt x="27" y="31"/>
                  </a:cubicBezTo>
                  <a:cubicBezTo>
                    <a:pt x="27" y="31"/>
                    <a:pt x="27" y="31"/>
                    <a:pt x="27" y="31"/>
                  </a:cubicBezTo>
                  <a:cubicBezTo>
                    <a:pt x="21" y="31"/>
                    <a:pt x="21" y="31"/>
                    <a:pt x="21" y="31"/>
                  </a:cubicBezTo>
                  <a:cubicBezTo>
                    <a:pt x="21" y="31"/>
                    <a:pt x="21" y="31"/>
                    <a:pt x="21" y="29"/>
                  </a:cubicBezTo>
                  <a:cubicBezTo>
                    <a:pt x="21" y="28"/>
                    <a:pt x="21" y="27"/>
                    <a:pt x="21" y="26"/>
                  </a:cubicBezTo>
                  <a:cubicBezTo>
                    <a:pt x="21" y="23"/>
                    <a:pt x="21" y="23"/>
                    <a:pt x="21" y="23"/>
                  </a:cubicBezTo>
                  <a:cubicBezTo>
                    <a:pt x="21" y="21"/>
                    <a:pt x="20" y="20"/>
                    <a:pt x="19" y="19"/>
                  </a:cubicBezTo>
                  <a:cubicBezTo>
                    <a:pt x="18" y="18"/>
                    <a:pt x="17" y="18"/>
                    <a:pt x="15" y="18"/>
                  </a:cubicBezTo>
                  <a:cubicBezTo>
                    <a:pt x="4" y="18"/>
                    <a:pt x="4" y="18"/>
                    <a:pt x="4" y="18"/>
                  </a:cubicBezTo>
                  <a:cubicBezTo>
                    <a:pt x="4" y="32"/>
                    <a:pt x="4" y="32"/>
                    <a:pt x="4" y="32"/>
                  </a:cubicBezTo>
                  <a:cubicBezTo>
                    <a:pt x="2" y="32"/>
                    <a:pt x="2" y="32"/>
                    <a:pt x="2" y="32"/>
                  </a:cubicBezTo>
                  <a:cubicBezTo>
                    <a:pt x="0" y="32"/>
                    <a:pt x="0" y="32"/>
                    <a:pt x="0" y="32"/>
                  </a:cubicBezTo>
                  <a:lnTo>
                    <a:pt x="0" y="0"/>
                  </a:lnTo>
                  <a:close/>
                  <a:moveTo>
                    <a:pt x="4" y="14"/>
                  </a:moveTo>
                  <a:cubicBezTo>
                    <a:pt x="15" y="14"/>
                    <a:pt x="15" y="14"/>
                    <a:pt x="15" y="14"/>
                  </a:cubicBezTo>
                  <a:cubicBezTo>
                    <a:pt x="17" y="14"/>
                    <a:pt x="19" y="14"/>
                    <a:pt x="19" y="13"/>
                  </a:cubicBezTo>
                  <a:cubicBezTo>
                    <a:pt x="20" y="12"/>
                    <a:pt x="21" y="11"/>
                    <a:pt x="21" y="9"/>
                  </a:cubicBezTo>
                  <a:cubicBezTo>
                    <a:pt x="21" y="7"/>
                    <a:pt x="20" y="5"/>
                    <a:pt x="19" y="5"/>
                  </a:cubicBezTo>
                  <a:cubicBezTo>
                    <a:pt x="18" y="4"/>
                    <a:pt x="17" y="3"/>
                    <a:pt x="15" y="3"/>
                  </a:cubicBezTo>
                  <a:cubicBezTo>
                    <a:pt x="4" y="3"/>
                    <a:pt x="4" y="3"/>
                    <a:pt x="4" y="3"/>
                  </a:cubicBezTo>
                  <a:lnTo>
                    <a:pt x="4" y="1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33" name="Freeform 101"/>
            <p:cNvSpPr/>
            <p:nvPr userDrawn="1"/>
          </p:nvSpPr>
          <p:spPr bwMode="auto">
            <a:xfrm>
              <a:off x="1999" y="932"/>
              <a:ext cx="31" cy="41"/>
            </a:xfrm>
            <a:custGeom>
              <a:avLst/>
              <a:gdLst>
                <a:gd name="T0" fmla="*/ 20 w 25"/>
                <a:gd name="T1" fmla="*/ 10 h 33"/>
                <a:gd name="T2" fmla="*/ 18 w 25"/>
                <a:gd name="T3" fmla="*/ 5 h 33"/>
                <a:gd name="T4" fmla="*/ 12 w 25"/>
                <a:gd name="T5" fmla="*/ 4 h 33"/>
                <a:gd name="T6" fmla="*/ 7 w 25"/>
                <a:gd name="T7" fmla="*/ 5 h 33"/>
                <a:gd name="T8" fmla="*/ 5 w 25"/>
                <a:gd name="T9" fmla="*/ 9 h 33"/>
                <a:gd name="T10" fmla="*/ 6 w 25"/>
                <a:gd name="T11" fmla="*/ 12 h 33"/>
                <a:gd name="T12" fmla="*/ 11 w 25"/>
                <a:gd name="T13" fmla="*/ 14 h 33"/>
                <a:gd name="T14" fmla="*/ 17 w 25"/>
                <a:gd name="T15" fmla="*/ 15 h 33"/>
                <a:gd name="T16" fmla="*/ 23 w 25"/>
                <a:gd name="T17" fmla="*/ 18 h 33"/>
                <a:gd name="T18" fmla="*/ 25 w 25"/>
                <a:gd name="T19" fmla="*/ 24 h 33"/>
                <a:gd name="T20" fmla="*/ 22 w 25"/>
                <a:gd name="T21" fmla="*/ 31 h 33"/>
                <a:gd name="T22" fmla="*/ 13 w 25"/>
                <a:gd name="T23" fmla="*/ 33 h 33"/>
                <a:gd name="T24" fmla="*/ 3 w 25"/>
                <a:gd name="T25" fmla="*/ 30 h 33"/>
                <a:gd name="T26" fmla="*/ 0 w 25"/>
                <a:gd name="T27" fmla="*/ 23 h 33"/>
                <a:gd name="T28" fmla="*/ 0 w 25"/>
                <a:gd name="T29" fmla="*/ 22 h 33"/>
                <a:gd name="T30" fmla="*/ 4 w 25"/>
                <a:gd name="T31" fmla="*/ 22 h 33"/>
                <a:gd name="T32" fmla="*/ 6 w 25"/>
                <a:gd name="T33" fmla="*/ 28 h 33"/>
                <a:gd name="T34" fmla="*/ 13 w 25"/>
                <a:gd name="T35" fmla="*/ 30 h 33"/>
                <a:gd name="T36" fmla="*/ 19 w 25"/>
                <a:gd name="T37" fmla="*/ 28 h 33"/>
                <a:gd name="T38" fmla="*/ 21 w 25"/>
                <a:gd name="T39" fmla="*/ 24 h 33"/>
                <a:gd name="T40" fmla="*/ 20 w 25"/>
                <a:gd name="T41" fmla="*/ 21 h 33"/>
                <a:gd name="T42" fmla="*/ 14 w 25"/>
                <a:gd name="T43" fmla="*/ 19 h 33"/>
                <a:gd name="T44" fmla="*/ 9 w 25"/>
                <a:gd name="T45" fmla="*/ 17 h 33"/>
                <a:gd name="T46" fmla="*/ 3 w 25"/>
                <a:gd name="T47" fmla="*/ 15 h 33"/>
                <a:gd name="T48" fmla="*/ 1 w 25"/>
                <a:gd name="T49" fmla="*/ 10 h 33"/>
                <a:gd name="T50" fmla="*/ 4 w 25"/>
                <a:gd name="T51" fmla="*/ 3 h 33"/>
                <a:gd name="T52" fmla="*/ 12 w 25"/>
                <a:gd name="T53" fmla="*/ 0 h 33"/>
                <a:gd name="T54" fmla="*/ 21 w 25"/>
                <a:gd name="T55" fmla="*/ 3 h 33"/>
                <a:gd name="T56" fmla="*/ 24 w 25"/>
                <a:gd name="T57" fmla="*/ 10 h 33"/>
                <a:gd name="T58" fmla="*/ 20 w 25"/>
                <a:gd name="T59"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3">
                  <a:moveTo>
                    <a:pt x="20" y="10"/>
                  </a:moveTo>
                  <a:cubicBezTo>
                    <a:pt x="20" y="8"/>
                    <a:pt x="19" y="6"/>
                    <a:pt x="18" y="5"/>
                  </a:cubicBezTo>
                  <a:cubicBezTo>
                    <a:pt x="17" y="4"/>
                    <a:pt x="15" y="4"/>
                    <a:pt x="12" y="4"/>
                  </a:cubicBezTo>
                  <a:cubicBezTo>
                    <a:pt x="10" y="4"/>
                    <a:pt x="8" y="4"/>
                    <a:pt x="7" y="5"/>
                  </a:cubicBezTo>
                  <a:cubicBezTo>
                    <a:pt x="6" y="6"/>
                    <a:pt x="5" y="7"/>
                    <a:pt x="5" y="9"/>
                  </a:cubicBezTo>
                  <a:cubicBezTo>
                    <a:pt x="5" y="10"/>
                    <a:pt x="5" y="11"/>
                    <a:pt x="6" y="12"/>
                  </a:cubicBezTo>
                  <a:cubicBezTo>
                    <a:pt x="7" y="13"/>
                    <a:pt x="9" y="13"/>
                    <a:pt x="11" y="14"/>
                  </a:cubicBezTo>
                  <a:cubicBezTo>
                    <a:pt x="17" y="15"/>
                    <a:pt x="17" y="15"/>
                    <a:pt x="17" y="15"/>
                  </a:cubicBezTo>
                  <a:cubicBezTo>
                    <a:pt x="20" y="16"/>
                    <a:pt x="22" y="17"/>
                    <a:pt x="23" y="18"/>
                  </a:cubicBezTo>
                  <a:cubicBezTo>
                    <a:pt x="24" y="20"/>
                    <a:pt x="25" y="22"/>
                    <a:pt x="25" y="24"/>
                  </a:cubicBezTo>
                  <a:cubicBezTo>
                    <a:pt x="25" y="27"/>
                    <a:pt x="24" y="29"/>
                    <a:pt x="22" y="31"/>
                  </a:cubicBezTo>
                  <a:cubicBezTo>
                    <a:pt x="20" y="33"/>
                    <a:pt x="17" y="33"/>
                    <a:pt x="13" y="33"/>
                  </a:cubicBezTo>
                  <a:cubicBezTo>
                    <a:pt x="9" y="33"/>
                    <a:pt x="5" y="32"/>
                    <a:pt x="3" y="30"/>
                  </a:cubicBezTo>
                  <a:cubicBezTo>
                    <a:pt x="1" y="29"/>
                    <a:pt x="0" y="26"/>
                    <a:pt x="0" y="23"/>
                  </a:cubicBezTo>
                  <a:cubicBezTo>
                    <a:pt x="0" y="22"/>
                    <a:pt x="0" y="22"/>
                    <a:pt x="0" y="22"/>
                  </a:cubicBezTo>
                  <a:cubicBezTo>
                    <a:pt x="4" y="22"/>
                    <a:pt x="4" y="22"/>
                    <a:pt x="4" y="22"/>
                  </a:cubicBezTo>
                  <a:cubicBezTo>
                    <a:pt x="4" y="25"/>
                    <a:pt x="5" y="26"/>
                    <a:pt x="6" y="28"/>
                  </a:cubicBezTo>
                  <a:cubicBezTo>
                    <a:pt x="8" y="29"/>
                    <a:pt x="10" y="30"/>
                    <a:pt x="13" y="30"/>
                  </a:cubicBezTo>
                  <a:cubicBezTo>
                    <a:pt x="15" y="30"/>
                    <a:pt x="17" y="29"/>
                    <a:pt x="19" y="28"/>
                  </a:cubicBezTo>
                  <a:cubicBezTo>
                    <a:pt x="20" y="27"/>
                    <a:pt x="21" y="26"/>
                    <a:pt x="21" y="24"/>
                  </a:cubicBezTo>
                  <a:cubicBezTo>
                    <a:pt x="21" y="23"/>
                    <a:pt x="20" y="22"/>
                    <a:pt x="20" y="21"/>
                  </a:cubicBezTo>
                  <a:cubicBezTo>
                    <a:pt x="19" y="20"/>
                    <a:pt x="17" y="19"/>
                    <a:pt x="14" y="19"/>
                  </a:cubicBezTo>
                  <a:cubicBezTo>
                    <a:pt x="9" y="17"/>
                    <a:pt x="9" y="17"/>
                    <a:pt x="9" y="17"/>
                  </a:cubicBezTo>
                  <a:cubicBezTo>
                    <a:pt x="6" y="17"/>
                    <a:pt x="4" y="16"/>
                    <a:pt x="3" y="15"/>
                  </a:cubicBezTo>
                  <a:cubicBezTo>
                    <a:pt x="1" y="14"/>
                    <a:pt x="1" y="12"/>
                    <a:pt x="1" y="10"/>
                  </a:cubicBezTo>
                  <a:cubicBezTo>
                    <a:pt x="1" y="7"/>
                    <a:pt x="2" y="4"/>
                    <a:pt x="4" y="3"/>
                  </a:cubicBezTo>
                  <a:cubicBezTo>
                    <a:pt x="6" y="1"/>
                    <a:pt x="9" y="0"/>
                    <a:pt x="12" y="0"/>
                  </a:cubicBezTo>
                  <a:cubicBezTo>
                    <a:pt x="16" y="0"/>
                    <a:pt x="19" y="1"/>
                    <a:pt x="21" y="3"/>
                  </a:cubicBezTo>
                  <a:cubicBezTo>
                    <a:pt x="23" y="4"/>
                    <a:pt x="24" y="7"/>
                    <a:pt x="24" y="10"/>
                  </a:cubicBezTo>
                  <a:lnTo>
                    <a:pt x="20" y="1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34" name="Freeform 102"/>
            <p:cNvSpPr/>
            <p:nvPr userDrawn="1"/>
          </p:nvSpPr>
          <p:spPr bwMode="auto">
            <a:xfrm>
              <a:off x="2044"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35" name="Freeform 103"/>
            <p:cNvSpPr/>
            <p:nvPr userDrawn="1"/>
          </p:nvSpPr>
          <p:spPr bwMode="auto">
            <a:xfrm>
              <a:off x="2060" y="933"/>
              <a:ext cx="32" cy="40"/>
            </a:xfrm>
            <a:custGeom>
              <a:avLst/>
              <a:gdLst>
                <a:gd name="T0" fmla="*/ 13 w 32"/>
                <a:gd name="T1" fmla="*/ 5 h 40"/>
                <a:gd name="T2" fmla="*/ 0 w 32"/>
                <a:gd name="T3" fmla="*/ 5 h 40"/>
                <a:gd name="T4" fmla="*/ 0 w 32"/>
                <a:gd name="T5" fmla="*/ 3 h 40"/>
                <a:gd name="T6" fmla="*/ 0 w 32"/>
                <a:gd name="T7" fmla="*/ 0 h 40"/>
                <a:gd name="T8" fmla="*/ 32 w 32"/>
                <a:gd name="T9" fmla="*/ 0 h 40"/>
                <a:gd name="T10" fmla="*/ 32 w 32"/>
                <a:gd name="T11" fmla="*/ 3 h 40"/>
                <a:gd name="T12" fmla="*/ 32 w 32"/>
                <a:gd name="T13" fmla="*/ 5 h 40"/>
                <a:gd name="T14" fmla="*/ 18 w 32"/>
                <a:gd name="T15" fmla="*/ 5 h 40"/>
                <a:gd name="T16" fmla="*/ 18 w 32"/>
                <a:gd name="T17" fmla="*/ 40 h 40"/>
                <a:gd name="T18" fmla="*/ 16 w 32"/>
                <a:gd name="T19" fmla="*/ 40 h 40"/>
                <a:gd name="T20" fmla="*/ 13 w 32"/>
                <a:gd name="T21" fmla="*/ 40 h 40"/>
                <a:gd name="T22" fmla="*/ 13 w 32"/>
                <a:gd name="T23" fmla="*/ 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 h="40">
                  <a:moveTo>
                    <a:pt x="13" y="5"/>
                  </a:moveTo>
                  <a:lnTo>
                    <a:pt x="0" y="5"/>
                  </a:lnTo>
                  <a:lnTo>
                    <a:pt x="0" y="3"/>
                  </a:lnTo>
                  <a:lnTo>
                    <a:pt x="0" y="0"/>
                  </a:lnTo>
                  <a:lnTo>
                    <a:pt x="32" y="0"/>
                  </a:lnTo>
                  <a:lnTo>
                    <a:pt x="32" y="3"/>
                  </a:lnTo>
                  <a:lnTo>
                    <a:pt x="32" y="5"/>
                  </a:lnTo>
                  <a:lnTo>
                    <a:pt x="18" y="5"/>
                  </a:lnTo>
                  <a:lnTo>
                    <a:pt x="18" y="40"/>
                  </a:lnTo>
                  <a:lnTo>
                    <a:pt x="16" y="40"/>
                  </a:lnTo>
                  <a:lnTo>
                    <a:pt x="13" y="40"/>
                  </a:lnTo>
                  <a:lnTo>
                    <a:pt x="13" y="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36" name="Freeform 104"/>
            <p:cNvSpPr/>
            <p:nvPr userDrawn="1"/>
          </p:nvSpPr>
          <p:spPr bwMode="auto">
            <a:xfrm>
              <a:off x="2101" y="933"/>
              <a:ext cx="34" cy="40"/>
            </a:xfrm>
            <a:custGeom>
              <a:avLst/>
              <a:gdLst>
                <a:gd name="T0" fmla="*/ 15 w 34"/>
                <a:gd name="T1" fmla="*/ 24 h 40"/>
                <a:gd name="T2" fmla="*/ 0 w 34"/>
                <a:gd name="T3" fmla="*/ 0 h 40"/>
                <a:gd name="T4" fmla="*/ 3 w 34"/>
                <a:gd name="T5" fmla="*/ 0 h 40"/>
                <a:gd name="T6" fmla="*/ 6 w 34"/>
                <a:gd name="T7" fmla="*/ 0 h 40"/>
                <a:gd name="T8" fmla="*/ 17 w 34"/>
                <a:gd name="T9" fmla="*/ 19 h 40"/>
                <a:gd name="T10" fmla="*/ 17 w 34"/>
                <a:gd name="T11" fmla="*/ 19 h 40"/>
                <a:gd name="T12" fmla="*/ 28 w 34"/>
                <a:gd name="T13" fmla="*/ 0 h 40"/>
                <a:gd name="T14" fmla="*/ 32 w 34"/>
                <a:gd name="T15" fmla="*/ 0 h 40"/>
                <a:gd name="T16" fmla="*/ 34 w 34"/>
                <a:gd name="T17" fmla="*/ 0 h 40"/>
                <a:gd name="T18" fmla="*/ 20 w 34"/>
                <a:gd name="T19" fmla="*/ 24 h 40"/>
                <a:gd name="T20" fmla="*/ 20 w 34"/>
                <a:gd name="T21" fmla="*/ 40 h 40"/>
                <a:gd name="T22" fmla="*/ 17 w 34"/>
                <a:gd name="T23" fmla="*/ 40 h 40"/>
                <a:gd name="T24" fmla="*/ 15 w 34"/>
                <a:gd name="T25" fmla="*/ 40 h 40"/>
                <a:gd name="T26" fmla="*/ 15 w 34"/>
                <a:gd name="T27"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4" h="40">
                  <a:moveTo>
                    <a:pt x="15" y="24"/>
                  </a:moveTo>
                  <a:lnTo>
                    <a:pt x="0" y="0"/>
                  </a:lnTo>
                  <a:lnTo>
                    <a:pt x="3" y="0"/>
                  </a:lnTo>
                  <a:lnTo>
                    <a:pt x="6" y="0"/>
                  </a:lnTo>
                  <a:lnTo>
                    <a:pt x="17" y="19"/>
                  </a:lnTo>
                  <a:lnTo>
                    <a:pt x="17" y="19"/>
                  </a:lnTo>
                  <a:lnTo>
                    <a:pt x="28" y="0"/>
                  </a:lnTo>
                  <a:lnTo>
                    <a:pt x="32" y="0"/>
                  </a:lnTo>
                  <a:lnTo>
                    <a:pt x="34" y="0"/>
                  </a:lnTo>
                  <a:lnTo>
                    <a:pt x="20" y="24"/>
                  </a:lnTo>
                  <a:lnTo>
                    <a:pt x="20" y="40"/>
                  </a:lnTo>
                  <a:lnTo>
                    <a:pt x="17" y="40"/>
                  </a:lnTo>
                  <a:lnTo>
                    <a:pt x="15" y="40"/>
                  </a:lnTo>
                  <a:lnTo>
                    <a:pt x="15" y="2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37" name="Freeform 105"/>
            <p:cNvSpPr>
              <a:spLocks noEditPoints="1"/>
            </p:cNvSpPr>
            <p:nvPr userDrawn="1"/>
          </p:nvSpPr>
          <p:spPr bwMode="auto">
            <a:xfrm>
              <a:off x="954" y="660"/>
              <a:ext cx="350" cy="353"/>
            </a:xfrm>
            <a:custGeom>
              <a:avLst/>
              <a:gdLst>
                <a:gd name="T0" fmla="*/ 142 w 283"/>
                <a:gd name="T1" fmla="*/ 0 h 283"/>
                <a:gd name="T2" fmla="*/ 283 w 283"/>
                <a:gd name="T3" fmla="*/ 142 h 283"/>
                <a:gd name="T4" fmla="*/ 142 w 283"/>
                <a:gd name="T5" fmla="*/ 283 h 283"/>
                <a:gd name="T6" fmla="*/ 0 w 283"/>
                <a:gd name="T7" fmla="*/ 142 h 283"/>
                <a:gd name="T8" fmla="*/ 142 w 283"/>
                <a:gd name="T9" fmla="*/ 0 h 283"/>
                <a:gd name="T10" fmla="*/ 142 w 283"/>
                <a:gd name="T11" fmla="*/ 6 h 283"/>
                <a:gd name="T12" fmla="*/ 6 w 283"/>
                <a:gd name="T13" fmla="*/ 142 h 283"/>
                <a:gd name="T14" fmla="*/ 142 w 283"/>
                <a:gd name="T15" fmla="*/ 277 h 283"/>
                <a:gd name="T16" fmla="*/ 278 w 283"/>
                <a:gd name="T17" fmla="*/ 142 h 283"/>
                <a:gd name="T18" fmla="*/ 142 w 283"/>
                <a:gd name="T19" fmla="*/ 6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3" h="283">
                  <a:moveTo>
                    <a:pt x="142" y="0"/>
                  </a:moveTo>
                  <a:cubicBezTo>
                    <a:pt x="220" y="0"/>
                    <a:pt x="283" y="64"/>
                    <a:pt x="283" y="142"/>
                  </a:cubicBezTo>
                  <a:cubicBezTo>
                    <a:pt x="283" y="219"/>
                    <a:pt x="220" y="283"/>
                    <a:pt x="142" y="283"/>
                  </a:cubicBezTo>
                  <a:cubicBezTo>
                    <a:pt x="64" y="283"/>
                    <a:pt x="0" y="219"/>
                    <a:pt x="0" y="142"/>
                  </a:cubicBezTo>
                  <a:cubicBezTo>
                    <a:pt x="0" y="64"/>
                    <a:pt x="64" y="0"/>
                    <a:pt x="142" y="0"/>
                  </a:cubicBezTo>
                  <a:moveTo>
                    <a:pt x="142" y="6"/>
                  </a:moveTo>
                  <a:cubicBezTo>
                    <a:pt x="67" y="6"/>
                    <a:pt x="6" y="67"/>
                    <a:pt x="6" y="142"/>
                  </a:cubicBezTo>
                  <a:cubicBezTo>
                    <a:pt x="6" y="216"/>
                    <a:pt x="67" y="277"/>
                    <a:pt x="142" y="277"/>
                  </a:cubicBezTo>
                  <a:cubicBezTo>
                    <a:pt x="217" y="277"/>
                    <a:pt x="278" y="216"/>
                    <a:pt x="278" y="142"/>
                  </a:cubicBezTo>
                  <a:cubicBezTo>
                    <a:pt x="278" y="67"/>
                    <a:pt x="217" y="6"/>
                    <a:pt x="142" y="6"/>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38" name="Freeform 106"/>
            <p:cNvSpPr/>
            <p:nvPr userDrawn="1"/>
          </p:nvSpPr>
          <p:spPr bwMode="auto">
            <a:xfrm>
              <a:off x="1033" y="739"/>
              <a:ext cx="193" cy="173"/>
            </a:xfrm>
            <a:custGeom>
              <a:avLst/>
              <a:gdLst>
                <a:gd name="T0" fmla="*/ 28 w 156"/>
                <a:gd name="T1" fmla="*/ 139 h 139"/>
                <a:gd name="T2" fmla="*/ 7 w 156"/>
                <a:gd name="T3" fmla="*/ 112 h 139"/>
                <a:gd name="T4" fmla="*/ 0 w 156"/>
                <a:gd name="T5" fmla="*/ 79 h 139"/>
                <a:gd name="T6" fmla="*/ 78 w 156"/>
                <a:gd name="T7" fmla="*/ 0 h 139"/>
                <a:gd name="T8" fmla="*/ 156 w 156"/>
                <a:gd name="T9" fmla="*/ 79 h 139"/>
                <a:gd name="T10" fmla="*/ 149 w 156"/>
                <a:gd name="T11" fmla="*/ 112 h 139"/>
                <a:gd name="T12" fmla="*/ 128 w 156"/>
                <a:gd name="T13" fmla="*/ 139 h 139"/>
                <a:gd name="T14" fmla="*/ 126 w 156"/>
                <a:gd name="T15" fmla="*/ 137 h 139"/>
                <a:gd name="T16" fmla="*/ 146 w 156"/>
                <a:gd name="T17" fmla="*/ 111 h 139"/>
                <a:gd name="T18" fmla="*/ 153 w 156"/>
                <a:gd name="T19" fmla="*/ 79 h 139"/>
                <a:gd name="T20" fmla="*/ 78 w 156"/>
                <a:gd name="T21" fmla="*/ 3 h 139"/>
                <a:gd name="T22" fmla="*/ 3 w 156"/>
                <a:gd name="T23" fmla="*/ 79 h 139"/>
                <a:gd name="T24" fmla="*/ 10 w 156"/>
                <a:gd name="T25" fmla="*/ 111 h 139"/>
                <a:gd name="T26" fmla="*/ 30 w 156"/>
                <a:gd name="T27" fmla="*/ 137 h 139"/>
                <a:gd name="T28" fmla="*/ 28 w 156"/>
                <a:gd name="T29" fmla="*/ 13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6" h="139">
                  <a:moveTo>
                    <a:pt x="28" y="139"/>
                  </a:moveTo>
                  <a:cubicBezTo>
                    <a:pt x="19" y="132"/>
                    <a:pt x="12" y="122"/>
                    <a:pt x="7" y="112"/>
                  </a:cubicBezTo>
                  <a:cubicBezTo>
                    <a:pt x="2" y="102"/>
                    <a:pt x="0" y="90"/>
                    <a:pt x="0" y="79"/>
                  </a:cubicBezTo>
                  <a:cubicBezTo>
                    <a:pt x="0" y="36"/>
                    <a:pt x="35" y="0"/>
                    <a:pt x="78" y="0"/>
                  </a:cubicBezTo>
                  <a:cubicBezTo>
                    <a:pt x="121" y="0"/>
                    <a:pt x="156" y="36"/>
                    <a:pt x="156" y="79"/>
                  </a:cubicBezTo>
                  <a:cubicBezTo>
                    <a:pt x="156" y="90"/>
                    <a:pt x="153" y="102"/>
                    <a:pt x="149" y="112"/>
                  </a:cubicBezTo>
                  <a:cubicBezTo>
                    <a:pt x="144" y="122"/>
                    <a:pt x="136" y="132"/>
                    <a:pt x="128" y="139"/>
                  </a:cubicBezTo>
                  <a:cubicBezTo>
                    <a:pt x="126" y="137"/>
                    <a:pt x="126" y="137"/>
                    <a:pt x="126" y="137"/>
                  </a:cubicBezTo>
                  <a:cubicBezTo>
                    <a:pt x="134" y="130"/>
                    <a:pt x="141" y="121"/>
                    <a:pt x="146" y="111"/>
                  </a:cubicBezTo>
                  <a:cubicBezTo>
                    <a:pt x="151" y="101"/>
                    <a:pt x="153" y="90"/>
                    <a:pt x="153" y="79"/>
                  </a:cubicBezTo>
                  <a:cubicBezTo>
                    <a:pt x="153" y="37"/>
                    <a:pt x="119" y="3"/>
                    <a:pt x="78" y="3"/>
                  </a:cubicBezTo>
                  <a:cubicBezTo>
                    <a:pt x="36" y="3"/>
                    <a:pt x="3" y="37"/>
                    <a:pt x="3" y="79"/>
                  </a:cubicBezTo>
                  <a:cubicBezTo>
                    <a:pt x="3" y="90"/>
                    <a:pt x="5" y="101"/>
                    <a:pt x="10" y="111"/>
                  </a:cubicBezTo>
                  <a:cubicBezTo>
                    <a:pt x="14" y="121"/>
                    <a:pt x="21" y="130"/>
                    <a:pt x="30" y="137"/>
                  </a:cubicBezTo>
                  <a:lnTo>
                    <a:pt x="28" y="13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39" name="Freeform 107"/>
            <p:cNvSpPr/>
            <p:nvPr userDrawn="1"/>
          </p:nvSpPr>
          <p:spPr bwMode="auto">
            <a:xfrm>
              <a:off x="972" y="867"/>
              <a:ext cx="40" cy="29"/>
            </a:xfrm>
            <a:custGeom>
              <a:avLst/>
              <a:gdLst>
                <a:gd name="T0" fmla="*/ 8 w 40"/>
                <a:gd name="T1" fmla="*/ 29 h 29"/>
                <a:gd name="T2" fmla="*/ 0 w 40"/>
                <a:gd name="T3" fmla="*/ 10 h 29"/>
                <a:gd name="T4" fmla="*/ 4 w 40"/>
                <a:gd name="T5" fmla="*/ 9 h 29"/>
                <a:gd name="T6" fmla="*/ 35 w 40"/>
                <a:gd name="T7" fmla="*/ 14 h 29"/>
                <a:gd name="T8" fmla="*/ 30 w 40"/>
                <a:gd name="T9" fmla="*/ 1 h 29"/>
                <a:gd name="T10" fmla="*/ 34 w 40"/>
                <a:gd name="T11" fmla="*/ 0 h 29"/>
                <a:gd name="T12" fmla="*/ 40 w 40"/>
                <a:gd name="T13" fmla="*/ 16 h 29"/>
                <a:gd name="T14" fmla="*/ 36 w 40"/>
                <a:gd name="T15" fmla="*/ 17 h 29"/>
                <a:gd name="T16" fmla="*/ 7 w 40"/>
                <a:gd name="T17" fmla="*/ 14 h 29"/>
                <a:gd name="T18" fmla="*/ 12 w 40"/>
                <a:gd name="T19" fmla="*/ 27 h 29"/>
                <a:gd name="T20" fmla="*/ 8 w 40"/>
                <a:gd name="T21"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29">
                  <a:moveTo>
                    <a:pt x="8" y="29"/>
                  </a:moveTo>
                  <a:lnTo>
                    <a:pt x="0" y="10"/>
                  </a:lnTo>
                  <a:lnTo>
                    <a:pt x="4" y="9"/>
                  </a:lnTo>
                  <a:lnTo>
                    <a:pt x="35" y="14"/>
                  </a:lnTo>
                  <a:lnTo>
                    <a:pt x="30" y="1"/>
                  </a:lnTo>
                  <a:lnTo>
                    <a:pt x="34" y="0"/>
                  </a:lnTo>
                  <a:lnTo>
                    <a:pt x="40" y="16"/>
                  </a:lnTo>
                  <a:lnTo>
                    <a:pt x="36" y="17"/>
                  </a:lnTo>
                  <a:lnTo>
                    <a:pt x="7" y="14"/>
                  </a:lnTo>
                  <a:lnTo>
                    <a:pt x="12" y="27"/>
                  </a:lnTo>
                  <a:lnTo>
                    <a:pt x="8"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40" name="Freeform 108"/>
            <p:cNvSpPr/>
            <p:nvPr userDrawn="1"/>
          </p:nvSpPr>
          <p:spPr bwMode="auto">
            <a:xfrm>
              <a:off x="984" y="888"/>
              <a:ext cx="38" cy="31"/>
            </a:xfrm>
            <a:custGeom>
              <a:avLst/>
              <a:gdLst>
                <a:gd name="T0" fmla="*/ 7 w 38"/>
                <a:gd name="T1" fmla="*/ 31 h 31"/>
                <a:gd name="T2" fmla="*/ 6 w 38"/>
                <a:gd name="T3" fmla="*/ 28 h 31"/>
                <a:gd name="T4" fmla="*/ 19 w 38"/>
                <a:gd name="T5" fmla="*/ 21 h 31"/>
                <a:gd name="T6" fmla="*/ 14 w 38"/>
                <a:gd name="T7" fmla="*/ 11 h 31"/>
                <a:gd name="T8" fmla="*/ 1 w 38"/>
                <a:gd name="T9" fmla="*/ 19 h 31"/>
                <a:gd name="T10" fmla="*/ 0 w 38"/>
                <a:gd name="T11" fmla="*/ 15 h 31"/>
                <a:gd name="T12" fmla="*/ 29 w 38"/>
                <a:gd name="T13" fmla="*/ 0 h 31"/>
                <a:gd name="T14" fmla="*/ 32 w 38"/>
                <a:gd name="T15" fmla="*/ 4 h 31"/>
                <a:gd name="T16" fmla="*/ 18 w 38"/>
                <a:gd name="T17" fmla="*/ 10 h 31"/>
                <a:gd name="T18" fmla="*/ 23 w 38"/>
                <a:gd name="T19" fmla="*/ 19 h 31"/>
                <a:gd name="T20" fmla="*/ 35 w 38"/>
                <a:gd name="T21" fmla="*/ 13 h 31"/>
                <a:gd name="T22" fmla="*/ 38 w 38"/>
                <a:gd name="T23" fmla="*/ 16 h 31"/>
                <a:gd name="T24" fmla="*/ 7 w 38"/>
                <a:gd name="T25"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1">
                  <a:moveTo>
                    <a:pt x="7" y="31"/>
                  </a:moveTo>
                  <a:lnTo>
                    <a:pt x="6" y="28"/>
                  </a:lnTo>
                  <a:lnTo>
                    <a:pt x="19" y="21"/>
                  </a:lnTo>
                  <a:lnTo>
                    <a:pt x="14" y="11"/>
                  </a:lnTo>
                  <a:lnTo>
                    <a:pt x="1" y="19"/>
                  </a:lnTo>
                  <a:lnTo>
                    <a:pt x="0" y="15"/>
                  </a:lnTo>
                  <a:lnTo>
                    <a:pt x="29" y="0"/>
                  </a:lnTo>
                  <a:lnTo>
                    <a:pt x="32" y="4"/>
                  </a:lnTo>
                  <a:lnTo>
                    <a:pt x="18" y="10"/>
                  </a:lnTo>
                  <a:lnTo>
                    <a:pt x="23" y="19"/>
                  </a:lnTo>
                  <a:lnTo>
                    <a:pt x="35" y="13"/>
                  </a:lnTo>
                  <a:lnTo>
                    <a:pt x="38" y="16"/>
                  </a:lnTo>
                  <a:lnTo>
                    <a:pt x="7" y="3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41" name="Freeform 109"/>
            <p:cNvSpPr/>
            <p:nvPr userDrawn="1"/>
          </p:nvSpPr>
          <p:spPr bwMode="auto">
            <a:xfrm>
              <a:off x="995" y="906"/>
              <a:ext cx="38" cy="33"/>
            </a:xfrm>
            <a:custGeom>
              <a:avLst/>
              <a:gdLst>
                <a:gd name="T0" fmla="*/ 11 w 38"/>
                <a:gd name="T1" fmla="*/ 33 h 33"/>
                <a:gd name="T2" fmla="*/ 0 w 38"/>
                <a:gd name="T3" fmla="*/ 18 h 33"/>
                <a:gd name="T4" fmla="*/ 28 w 38"/>
                <a:gd name="T5" fmla="*/ 0 h 33"/>
                <a:gd name="T6" fmla="*/ 38 w 38"/>
                <a:gd name="T7" fmla="*/ 15 h 33"/>
                <a:gd name="T8" fmla="*/ 36 w 38"/>
                <a:gd name="T9" fmla="*/ 17 h 33"/>
                <a:gd name="T10" fmla="*/ 27 w 38"/>
                <a:gd name="T11" fmla="*/ 6 h 33"/>
                <a:gd name="T12" fmla="*/ 18 w 38"/>
                <a:gd name="T13" fmla="*/ 11 h 33"/>
                <a:gd name="T14" fmla="*/ 26 w 38"/>
                <a:gd name="T15" fmla="*/ 21 h 33"/>
                <a:gd name="T16" fmla="*/ 23 w 38"/>
                <a:gd name="T17" fmla="*/ 23 h 33"/>
                <a:gd name="T18" fmla="*/ 16 w 38"/>
                <a:gd name="T19" fmla="*/ 13 h 33"/>
                <a:gd name="T20" fmla="*/ 6 w 38"/>
                <a:gd name="T21" fmla="*/ 20 h 33"/>
                <a:gd name="T22" fmla="*/ 13 w 38"/>
                <a:gd name="T23" fmla="*/ 31 h 33"/>
                <a:gd name="T24" fmla="*/ 11 w 38"/>
                <a:gd name="T25"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3">
                  <a:moveTo>
                    <a:pt x="11" y="33"/>
                  </a:moveTo>
                  <a:lnTo>
                    <a:pt x="0" y="18"/>
                  </a:lnTo>
                  <a:lnTo>
                    <a:pt x="28" y="0"/>
                  </a:lnTo>
                  <a:lnTo>
                    <a:pt x="38" y="15"/>
                  </a:lnTo>
                  <a:lnTo>
                    <a:pt x="36" y="17"/>
                  </a:lnTo>
                  <a:lnTo>
                    <a:pt x="27" y="6"/>
                  </a:lnTo>
                  <a:lnTo>
                    <a:pt x="18" y="11"/>
                  </a:lnTo>
                  <a:lnTo>
                    <a:pt x="26" y="21"/>
                  </a:lnTo>
                  <a:lnTo>
                    <a:pt x="23" y="23"/>
                  </a:lnTo>
                  <a:lnTo>
                    <a:pt x="16" y="13"/>
                  </a:lnTo>
                  <a:lnTo>
                    <a:pt x="6" y="20"/>
                  </a:lnTo>
                  <a:lnTo>
                    <a:pt x="13" y="31"/>
                  </a:lnTo>
                  <a:lnTo>
                    <a:pt x="11" y="3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42" name="Freeform 110"/>
            <p:cNvSpPr/>
            <p:nvPr userDrawn="1"/>
          </p:nvSpPr>
          <p:spPr bwMode="auto">
            <a:xfrm>
              <a:off x="1026" y="934"/>
              <a:ext cx="24" cy="29"/>
            </a:xfrm>
            <a:custGeom>
              <a:avLst/>
              <a:gdLst>
                <a:gd name="T0" fmla="*/ 3 w 24"/>
                <a:gd name="T1" fmla="*/ 29 h 29"/>
                <a:gd name="T2" fmla="*/ 0 w 24"/>
                <a:gd name="T3" fmla="*/ 26 h 29"/>
                <a:gd name="T4" fmla="*/ 21 w 24"/>
                <a:gd name="T5" fmla="*/ 0 h 29"/>
                <a:gd name="T6" fmla="*/ 24 w 24"/>
                <a:gd name="T7" fmla="*/ 3 h 29"/>
                <a:gd name="T8" fmla="*/ 3 w 24"/>
                <a:gd name="T9" fmla="*/ 29 h 29"/>
              </a:gdLst>
              <a:ahLst/>
              <a:cxnLst>
                <a:cxn ang="0">
                  <a:pos x="T0" y="T1"/>
                </a:cxn>
                <a:cxn ang="0">
                  <a:pos x="T2" y="T3"/>
                </a:cxn>
                <a:cxn ang="0">
                  <a:pos x="T4" y="T5"/>
                </a:cxn>
                <a:cxn ang="0">
                  <a:pos x="T6" y="T7"/>
                </a:cxn>
                <a:cxn ang="0">
                  <a:pos x="T8" y="T9"/>
                </a:cxn>
              </a:cxnLst>
              <a:rect l="0" t="0" r="r" b="b"/>
              <a:pathLst>
                <a:path w="24" h="29">
                  <a:moveTo>
                    <a:pt x="3" y="29"/>
                  </a:moveTo>
                  <a:lnTo>
                    <a:pt x="0" y="26"/>
                  </a:lnTo>
                  <a:lnTo>
                    <a:pt x="21" y="0"/>
                  </a:lnTo>
                  <a:lnTo>
                    <a:pt x="24" y="3"/>
                  </a:lnTo>
                  <a:lnTo>
                    <a:pt x="3"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43" name="Freeform 111"/>
            <p:cNvSpPr>
              <a:spLocks noEditPoints="1"/>
            </p:cNvSpPr>
            <p:nvPr userDrawn="1"/>
          </p:nvSpPr>
          <p:spPr bwMode="auto">
            <a:xfrm>
              <a:off x="1034" y="942"/>
              <a:ext cx="29" cy="35"/>
            </a:xfrm>
            <a:custGeom>
              <a:avLst/>
              <a:gdLst>
                <a:gd name="T0" fmla="*/ 11 w 29"/>
                <a:gd name="T1" fmla="*/ 32 h 35"/>
                <a:gd name="T2" fmla="*/ 16 w 29"/>
                <a:gd name="T3" fmla="*/ 23 h 35"/>
                <a:gd name="T4" fmla="*/ 11 w 29"/>
                <a:gd name="T5" fmla="*/ 20 h 35"/>
                <a:gd name="T6" fmla="*/ 3 w 29"/>
                <a:gd name="T7" fmla="*/ 27 h 35"/>
                <a:gd name="T8" fmla="*/ 0 w 29"/>
                <a:gd name="T9" fmla="*/ 25 h 35"/>
                <a:gd name="T10" fmla="*/ 24 w 29"/>
                <a:gd name="T11" fmla="*/ 0 h 35"/>
                <a:gd name="T12" fmla="*/ 29 w 29"/>
                <a:gd name="T13" fmla="*/ 2 h 35"/>
                <a:gd name="T14" fmla="*/ 16 w 29"/>
                <a:gd name="T15" fmla="*/ 35 h 35"/>
                <a:gd name="T16" fmla="*/ 11 w 29"/>
                <a:gd name="T17" fmla="*/ 32 h 35"/>
                <a:gd name="T18" fmla="*/ 19 w 29"/>
                <a:gd name="T19" fmla="*/ 18 h 35"/>
                <a:gd name="T20" fmla="*/ 24 w 29"/>
                <a:gd name="T21" fmla="*/ 7 h 35"/>
                <a:gd name="T22" fmla="*/ 23 w 29"/>
                <a:gd name="T23" fmla="*/ 6 h 35"/>
                <a:gd name="T24" fmla="*/ 14 w 29"/>
                <a:gd name="T25" fmla="*/ 16 h 35"/>
                <a:gd name="T26" fmla="*/ 19 w 29"/>
                <a:gd name="T2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35">
                  <a:moveTo>
                    <a:pt x="11" y="32"/>
                  </a:moveTo>
                  <a:lnTo>
                    <a:pt x="16" y="23"/>
                  </a:lnTo>
                  <a:lnTo>
                    <a:pt x="11" y="20"/>
                  </a:lnTo>
                  <a:lnTo>
                    <a:pt x="3" y="27"/>
                  </a:lnTo>
                  <a:lnTo>
                    <a:pt x="0" y="25"/>
                  </a:lnTo>
                  <a:lnTo>
                    <a:pt x="24" y="0"/>
                  </a:lnTo>
                  <a:lnTo>
                    <a:pt x="29" y="2"/>
                  </a:lnTo>
                  <a:lnTo>
                    <a:pt x="16" y="35"/>
                  </a:lnTo>
                  <a:lnTo>
                    <a:pt x="11" y="32"/>
                  </a:lnTo>
                  <a:close/>
                  <a:moveTo>
                    <a:pt x="19" y="18"/>
                  </a:moveTo>
                  <a:lnTo>
                    <a:pt x="24" y="7"/>
                  </a:lnTo>
                  <a:lnTo>
                    <a:pt x="23" y="6"/>
                  </a:lnTo>
                  <a:lnTo>
                    <a:pt x="14" y="16"/>
                  </a:lnTo>
                  <a:lnTo>
                    <a:pt x="19" y="18"/>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44" name="Freeform 112"/>
            <p:cNvSpPr/>
            <p:nvPr userDrawn="1"/>
          </p:nvSpPr>
          <p:spPr bwMode="auto">
            <a:xfrm>
              <a:off x="1054" y="948"/>
              <a:ext cx="32" cy="39"/>
            </a:xfrm>
            <a:custGeom>
              <a:avLst/>
              <a:gdLst>
                <a:gd name="T0" fmla="*/ 16 w 32"/>
                <a:gd name="T1" fmla="*/ 39 h 39"/>
                <a:gd name="T2" fmla="*/ 13 w 32"/>
                <a:gd name="T3" fmla="*/ 36 h 39"/>
                <a:gd name="T4" fmla="*/ 15 w 32"/>
                <a:gd name="T5" fmla="*/ 12 h 39"/>
                <a:gd name="T6" fmla="*/ 5 w 32"/>
                <a:gd name="T7" fmla="*/ 32 h 39"/>
                <a:gd name="T8" fmla="*/ 0 w 32"/>
                <a:gd name="T9" fmla="*/ 30 h 39"/>
                <a:gd name="T10" fmla="*/ 16 w 32"/>
                <a:gd name="T11" fmla="*/ 0 h 39"/>
                <a:gd name="T12" fmla="*/ 20 w 32"/>
                <a:gd name="T13" fmla="*/ 1 h 39"/>
                <a:gd name="T14" fmla="*/ 19 w 32"/>
                <a:gd name="T15" fmla="*/ 25 h 39"/>
                <a:gd name="T16" fmla="*/ 29 w 32"/>
                <a:gd name="T17" fmla="*/ 5 h 39"/>
                <a:gd name="T18" fmla="*/ 32 w 32"/>
                <a:gd name="T19" fmla="*/ 7 h 39"/>
                <a:gd name="T20" fmla="*/ 16 w 32"/>
                <a:gd name="T21"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39">
                  <a:moveTo>
                    <a:pt x="16" y="39"/>
                  </a:moveTo>
                  <a:lnTo>
                    <a:pt x="13" y="36"/>
                  </a:lnTo>
                  <a:lnTo>
                    <a:pt x="15" y="12"/>
                  </a:lnTo>
                  <a:lnTo>
                    <a:pt x="5" y="32"/>
                  </a:lnTo>
                  <a:lnTo>
                    <a:pt x="0" y="30"/>
                  </a:lnTo>
                  <a:lnTo>
                    <a:pt x="16" y="0"/>
                  </a:lnTo>
                  <a:lnTo>
                    <a:pt x="20" y="1"/>
                  </a:lnTo>
                  <a:lnTo>
                    <a:pt x="19" y="25"/>
                  </a:lnTo>
                  <a:lnTo>
                    <a:pt x="29" y="5"/>
                  </a:lnTo>
                  <a:lnTo>
                    <a:pt x="32" y="7"/>
                  </a:lnTo>
                  <a:lnTo>
                    <a:pt x="16" y="3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45" name="Freeform 113"/>
            <p:cNvSpPr/>
            <p:nvPr userDrawn="1"/>
          </p:nvSpPr>
          <p:spPr bwMode="auto">
            <a:xfrm>
              <a:off x="1079" y="957"/>
              <a:ext cx="23" cy="36"/>
            </a:xfrm>
            <a:custGeom>
              <a:avLst/>
              <a:gdLst>
                <a:gd name="T0" fmla="*/ 12 w 19"/>
                <a:gd name="T1" fmla="*/ 29 h 29"/>
                <a:gd name="T2" fmla="*/ 10 w 19"/>
                <a:gd name="T3" fmla="*/ 29 h 29"/>
                <a:gd name="T4" fmla="*/ 10 w 19"/>
                <a:gd name="T5" fmla="*/ 26 h 29"/>
                <a:gd name="T6" fmla="*/ 8 w 19"/>
                <a:gd name="T7" fmla="*/ 27 h 29"/>
                <a:gd name="T8" fmla="*/ 5 w 19"/>
                <a:gd name="T9" fmla="*/ 27 h 29"/>
                <a:gd name="T10" fmla="*/ 1 w 19"/>
                <a:gd name="T11" fmla="*/ 23 h 29"/>
                <a:gd name="T12" fmla="*/ 1 w 19"/>
                <a:gd name="T13" fmla="*/ 13 h 29"/>
                <a:gd name="T14" fmla="*/ 6 w 19"/>
                <a:gd name="T15" fmla="*/ 3 h 29"/>
                <a:gd name="T16" fmla="*/ 14 w 19"/>
                <a:gd name="T17" fmla="*/ 1 h 29"/>
                <a:gd name="T18" fmla="*/ 18 w 19"/>
                <a:gd name="T19" fmla="*/ 11 h 29"/>
                <a:gd name="T20" fmla="*/ 15 w 19"/>
                <a:gd name="T21" fmla="*/ 11 h 29"/>
                <a:gd name="T22" fmla="*/ 13 w 19"/>
                <a:gd name="T23" fmla="*/ 4 h 29"/>
                <a:gd name="T24" fmla="*/ 8 w 19"/>
                <a:gd name="T25" fmla="*/ 6 h 29"/>
                <a:gd name="T26" fmla="*/ 5 w 19"/>
                <a:gd name="T27" fmla="*/ 14 h 29"/>
                <a:gd name="T28" fmla="*/ 4 w 19"/>
                <a:gd name="T29" fmla="*/ 21 h 29"/>
                <a:gd name="T30" fmla="*/ 6 w 19"/>
                <a:gd name="T31" fmla="*/ 24 h 29"/>
                <a:gd name="T32" fmla="*/ 9 w 19"/>
                <a:gd name="T33" fmla="*/ 24 h 29"/>
                <a:gd name="T34" fmla="*/ 12 w 19"/>
                <a:gd name="T35" fmla="*/ 20 h 29"/>
                <a:gd name="T36" fmla="*/ 12 w 19"/>
                <a:gd name="T37" fmla="*/ 18 h 29"/>
                <a:gd name="T38" fmla="*/ 8 w 19"/>
                <a:gd name="T39" fmla="*/ 17 h 29"/>
                <a:gd name="T40" fmla="*/ 9 w 19"/>
                <a:gd name="T41" fmla="*/ 14 h 29"/>
                <a:gd name="T42" fmla="*/ 16 w 19"/>
                <a:gd name="T43" fmla="*/ 17 h 29"/>
                <a:gd name="T44" fmla="*/ 12 w 19"/>
                <a:gd name="T45"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29">
                  <a:moveTo>
                    <a:pt x="12" y="29"/>
                  </a:moveTo>
                  <a:cubicBezTo>
                    <a:pt x="10" y="29"/>
                    <a:pt x="10" y="29"/>
                    <a:pt x="10" y="29"/>
                  </a:cubicBezTo>
                  <a:cubicBezTo>
                    <a:pt x="10" y="26"/>
                    <a:pt x="10" y="26"/>
                    <a:pt x="10" y="26"/>
                  </a:cubicBezTo>
                  <a:cubicBezTo>
                    <a:pt x="9" y="27"/>
                    <a:pt x="9" y="27"/>
                    <a:pt x="8" y="27"/>
                  </a:cubicBezTo>
                  <a:cubicBezTo>
                    <a:pt x="7" y="27"/>
                    <a:pt x="6" y="27"/>
                    <a:pt x="5" y="27"/>
                  </a:cubicBezTo>
                  <a:cubicBezTo>
                    <a:pt x="3" y="26"/>
                    <a:pt x="2" y="25"/>
                    <a:pt x="1" y="23"/>
                  </a:cubicBezTo>
                  <a:cubicBezTo>
                    <a:pt x="0" y="20"/>
                    <a:pt x="0" y="17"/>
                    <a:pt x="1" y="13"/>
                  </a:cubicBezTo>
                  <a:cubicBezTo>
                    <a:pt x="3" y="8"/>
                    <a:pt x="4" y="5"/>
                    <a:pt x="6" y="3"/>
                  </a:cubicBezTo>
                  <a:cubicBezTo>
                    <a:pt x="9" y="1"/>
                    <a:pt x="12" y="0"/>
                    <a:pt x="14" y="1"/>
                  </a:cubicBezTo>
                  <a:cubicBezTo>
                    <a:pt x="17" y="2"/>
                    <a:pt x="19" y="6"/>
                    <a:pt x="18" y="11"/>
                  </a:cubicBezTo>
                  <a:cubicBezTo>
                    <a:pt x="15" y="11"/>
                    <a:pt x="15" y="11"/>
                    <a:pt x="15" y="11"/>
                  </a:cubicBezTo>
                  <a:cubicBezTo>
                    <a:pt x="16" y="9"/>
                    <a:pt x="15" y="5"/>
                    <a:pt x="13" y="4"/>
                  </a:cubicBezTo>
                  <a:cubicBezTo>
                    <a:pt x="11" y="4"/>
                    <a:pt x="9" y="4"/>
                    <a:pt x="8" y="6"/>
                  </a:cubicBezTo>
                  <a:cubicBezTo>
                    <a:pt x="7" y="7"/>
                    <a:pt x="6" y="10"/>
                    <a:pt x="5" y="14"/>
                  </a:cubicBezTo>
                  <a:cubicBezTo>
                    <a:pt x="4" y="17"/>
                    <a:pt x="3" y="20"/>
                    <a:pt x="4" y="21"/>
                  </a:cubicBezTo>
                  <a:cubicBezTo>
                    <a:pt x="4" y="23"/>
                    <a:pt x="5" y="24"/>
                    <a:pt x="6" y="24"/>
                  </a:cubicBezTo>
                  <a:cubicBezTo>
                    <a:pt x="7" y="25"/>
                    <a:pt x="9" y="25"/>
                    <a:pt x="9" y="24"/>
                  </a:cubicBezTo>
                  <a:cubicBezTo>
                    <a:pt x="10" y="23"/>
                    <a:pt x="11" y="22"/>
                    <a:pt x="12" y="20"/>
                  </a:cubicBezTo>
                  <a:cubicBezTo>
                    <a:pt x="12" y="18"/>
                    <a:pt x="12" y="18"/>
                    <a:pt x="12" y="18"/>
                  </a:cubicBezTo>
                  <a:cubicBezTo>
                    <a:pt x="8" y="17"/>
                    <a:pt x="8" y="17"/>
                    <a:pt x="8" y="17"/>
                  </a:cubicBezTo>
                  <a:cubicBezTo>
                    <a:pt x="9" y="14"/>
                    <a:pt x="9" y="14"/>
                    <a:pt x="9" y="14"/>
                  </a:cubicBezTo>
                  <a:cubicBezTo>
                    <a:pt x="16" y="17"/>
                    <a:pt x="16" y="17"/>
                    <a:pt x="16" y="17"/>
                  </a:cubicBezTo>
                  <a:lnTo>
                    <a:pt x="12"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46" name="Freeform 114"/>
            <p:cNvSpPr/>
            <p:nvPr userDrawn="1"/>
          </p:nvSpPr>
          <p:spPr bwMode="auto">
            <a:xfrm>
              <a:off x="1121" y="962"/>
              <a:ext cx="19" cy="33"/>
            </a:xfrm>
            <a:custGeom>
              <a:avLst/>
              <a:gdLst>
                <a:gd name="T0" fmla="*/ 15 w 15"/>
                <a:gd name="T1" fmla="*/ 19 h 27"/>
                <a:gd name="T2" fmla="*/ 13 w 15"/>
                <a:gd name="T3" fmla="*/ 25 h 27"/>
                <a:gd name="T4" fmla="*/ 7 w 15"/>
                <a:gd name="T5" fmla="*/ 27 h 27"/>
                <a:gd name="T6" fmla="*/ 1 w 15"/>
                <a:gd name="T7" fmla="*/ 25 h 27"/>
                <a:gd name="T8" fmla="*/ 0 w 15"/>
                <a:gd name="T9" fmla="*/ 19 h 27"/>
                <a:gd name="T10" fmla="*/ 0 w 15"/>
                <a:gd name="T11" fmla="*/ 0 h 27"/>
                <a:gd name="T12" fmla="*/ 4 w 15"/>
                <a:gd name="T13" fmla="*/ 0 h 27"/>
                <a:gd name="T14" fmla="*/ 3 w 15"/>
                <a:gd name="T15" fmla="*/ 19 h 27"/>
                <a:gd name="T16" fmla="*/ 4 w 15"/>
                <a:gd name="T17" fmla="*/ 23 h 27"/>
                <a:gd name="T18" fmla="*/ 7 w 15"/>
                <a:gd name="T19" fmla="*/ 24 h 27"/>
                <a:gd name="T20" fmla="*/ 10 w 15"/>
                <a:gd name="T21" fmla="*/ 23 h 27"/>
                <a:gd name="T22" fmla="*/ 11 w 15"/>
                <a:gd name="T23" fmla="*/ 19 h 27"/>
                <a:gd name="T24" fmla="*/ 12 w 15"/>
                <a:gd name="T25" fmla="*/ 0 h 27"/>
                <a:gd name="T26" fmla="*/ 15 w 15"/>
                <a:gd name="T27" fmla="*/ 0 h 27"/>
                <a:gd name="T28" fmla="*/ 15 w 15"/>
                <a:gd name="T29"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7">
                  <a:moveTo>
                    <a:pt x="15" y="19"/>
                  </a:moveTo>
                  <a:cubicBezTo>
                    <a:pt x="15" y="22"/>
                    <a:pt x="14" y="24"/>
                    <a:pt x="13" y="25"/>
                  </a:cubicBezTo>
                  <a:cubicBezTo>
                    <a:pt x="11" y="27"/>
                    <a:pt x="10" y="27"/>
                    <a:pt x="7" y="27"/>
                  </a:cubicBezTo>
                  <a:cubicBezTo>
                    <a:pt x="4" y="27"/>
                    <a:pt x="2" y="26"/>
                    <a:pt x="1" y="25"/>
                  </a:cubicBezTo>
                  <a:cubicBezTo>
                    <a:pt x="0" y="23"/>
                    <a:pt x="0" y="21"/>
                    <a:pt x="0" y="19"/>
                  </a:cubicBezTo>
                  <a:cubicBezTo>
                    <a:pt x="0" y="0"/>
                    <a:pt x="0" y="0"/>
                    <a:pt x="0" y="0"/>
                  </a:cubicBezTo>
                  <a:cubicBezTo>
                    <a:pt x="4" y="0"/>
                    <a:pt x="4" y="0"/>
                    <a:pt x="4" y="0"/>
                  </a:cubicBezTo>
                  <a:cubicBezTo>
                    <a:pt x="3" y="19"/>
                    <a:pt x="3" y="19"/>
                    <a:pt x="3" y="19"/>
                  </a:cubicBezTo>
                  <a:cubicBezTo>
                    <a:pt x="3" y="21"/>
                    <a:pt x="3" y="22"/>
                    <a:pt x="4" y="23"/>
                  </a:cubicBezTo>
                  <a:cubicBezTo>
                    <a:pt x="5" y="24"/>
                    <a:pt x="6" y="24"/>
                    <a:pt x="7" y="24"/>
                  </a:cubicBezTo>
                  <a:cubicBezTo>
                    <a:pt x="8" y="24"/>
                    <a:pt x="9" y="24"/>
                    <a:pt x="10" y="23"/>
                  </a:cubicBezTo>
                  <a:cubicBezTo>
                    <a:pt x="11" y="22"/>
                    <a:pt x="11" y="21"/>
                    <a:pt x="11" y="19"/>
                  </a:cubicBezTo>
                  <a:cubicBezTo>
                    <a:pt x="12" y="0"/>
                    <a:pt x="12" y="0"/>
                    <a:pt x="12" y="0"/>
                  </a:cubicBezTo>
                  <a:cubicBezTo>
                    <a:pt x="15" y="0"/>
                    <a:pt x="15" y="0"/>
                    <a:pt x="15" y="0"/>
                  </a:cubicBezTo>
                  <a:lnTo>
                    <a:pt x="15" y="1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47" name="Freeform 115"/>
            <p:cNvSpPr/>
            <p:nvPr userDrawn="1"/>
          </p:nvSpPr>
          <p:spPr bwMode="auto">
            <a:xfrm>
              <a:off x="1142" y="959"/>
              <a:ext cx="21" cy="36"/>
            </a:xfrm>
            <a:custGeom>
              <a:avLst/>
              <a:gdLst>
                <a:gd name="T0" fmla="*/ 21 w 21"/>
                <a:gd name="T1" fmla="*/ 33 h 36"/>
                <a:gd name="T2" fmla="*/ 17 w 21"/>
                <a:gd name="T3" fmla="*/ 34 h 36"/>
                <a:gd name="T4" fmla="*/ 5 w 21"/>
                <a:gd name="T5" fmla="*/ 11 h 36"/>
                <a:gd name="T6" fmla="*/ 8 w 21"/>
                <a:gd name="T7" fmla="*/ 35 h 36"/>
                <a:gd name="T8" fmla="*/ 3 w 21"/>
                <a:gd name="T9" fmla="*/ 36 h 36"/>
                <a:gd name="T10" fmla="*/ 0 w 21"/>
                <a:gd name="T11" fmla="*/ 3 h 36"/>
                <a:gd name="T12" fmla="*/ 5 w 21"/>
                <a:gd name="T13" fmla="*/ 1 h 36"/>
                <a:gd name="T14" fmla="*/ 15 w 21"/>
                <a:gd name="T15" fmla="*/ 18 h 36"/>
                <a:gd name="T16" fmla="*/ 12 w 21"/>
                <a:gd name="T17" fmla="*/ 0 h 36"/>
                <a:gd name="T18" fmla="*/ 16 w 21"/>
                <a:gd name="T19" fmla="*/ 0 h 36"/>
                <a:gd name="T20" fmla="*/ 21 w 21"/>
                <a:gd name="T21" fmla="*/ 3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36">
                  <a:moveTo>
                    <a:pt x="21" y="33"/>
                  </a:moveTo>
                  <a:lnTo>
                    <a:pt x="17" y="34"/>
                  </a:lnTo>
                  <a:lnTo>
                    <a:pt x="5" y="11"/>
                  </a:lnTo>
                  <a:lnTo>
                    <a:pt x="8" y="35"/>
                  </a:lnTo>
                  <a:lnTo>
                    <a:pt x="3" y="36"/>
                  </a:lnTo>
                  <a:lnTo>
                    <a:pt x="0" y="3"/>
                  </a:lnTo>
                  <a:lnTo>
                    <a:pt x="5" y="1"/>
                  </a:lnTo>
                  <a:lnTo>
                    <a:pt x="15" y="18"/>
                  </a:lnTo>
                  <a:lnTo>
                    <a:pt x="12" y="0"/>
                  </a:lnTo>
                  <a:lnTo>
                    <a:pt x="16" y="0"/>
                  </a:lnTo>
                  <a:lnTo>
                    <a:pt x="21" y="3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48" name="Freeform 116"/>
            <p:cNvSpPr/>
            <p:nvPr userDrawn="1"/>
          </p:nvSpPr>
          <p:spPr bwMode="auto">
            <a:xfrm>
              <a:off x="1162" y="957"/>
              <a:ext cx="14" cy="33"/>
            </a:xfrm>
            <a:custGeom>
              <a:avLst/>
              <a:gdLst>
                <a:gd name="T0" fmla="*/ 14 w 14"/>
                <a:gd name="T1" fmla="*/ 31 h 33"/>
                <a:gd name="T2" fmla="*/ 9 w 14"/>
                <a:gd name="T3" fmla="*/ 33 h 33"/>
                <a:gd name="T4" fmla="*/ 0 w 14"/>
                <a:gd name="T5" fmla="*/ 1 h 33"/>
                <a:gd name="T6" fmla="*/ 4 w 14"/>
                <a:gd name="T7" fmla="*/ 0 h 33"/>
                <a:gd name="T8" fmla="*/ 14 w 14"/>
                <a:gd name="T9" fmla="*/ 31 h 33"/>
              </a:gdLst>
              <a:ahLst/>
              <a:cxnLst>
                <a:cxn ang="0">
                  <a:pos x="T0" y="T1"/>
                </a:cxn>
                <a:cxn ang="0">
                  <a:pos x="T2" y="T3"/>
                </a:cxn>
                <a:cxn ang="0">
                  <a:pos x="T4" y="T5"/>
                </a:cxn>
                <a:cxn ang="0">
                  <a:pos x="T6" y="T7"/>
                </a:cxn>
                <a:cxn ang="0">
                  <a:pos x="T8" y="T9"/>
                </a:cxn>
              </a:cxnLst>
              <a:rect l="0" t="0" r="r" b="b"/>
              <a:pathLst>
                <a:path w="14" h="33">
                  <a:moveTo>
                    <a:pt x="14" y="31"/>
                  </a:moveTo>
                  <a:lnTo>
                    <a:pt x="9" y="33"/>
                  </a:lnTo>
                  <a:lnTo>
                    <a:pt x="0" y="1"/>
                  </a:lnTo>
                  <a:lnTo>
                    <a:pt x="4" y="0"/>
                  </a:lnTo>
                  <a:lnTo>
                    <a:pt x="14" y="3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49" name="Freeform 117"/>
            <p:cNvSpPr/>
            <p:nvPr userDrawn="1"/>
          </p:nvSpPr>
          <p:spPr bwMode="auto">
            <a:xfrm>
              <a:off x="1169" y="948"/>
              <a:ext cx="23" cy="37"/>
            </a:xfrm>
            <a:custGeom>
              <a:avLst/>
              <a:gdLst>
                <a:gd name="T0" fmla="*/ 18 w 23"/>
                <a:gd name="T1" fmla="*/ 0 h 37"/>
                <a:gd name="T2" fmla="*/ 23 w 23"/>
                <a:gd name="T3" fmla="*/ 35 h 37"/>
                <a:gd name="T4" fmla="*/ 19 w 23"/>
                <a:gd name="T5" fmla="*/ 37 h 37"/>
                <a:gd name="T6" fmla="*/ 0 w 23"/>
                <a:gd name="T7" fmla="*/ 7 h 37"/>
                <a:gd name="T8" fmla="*/ 4 w 23"/>
                <a:gd name="T9" fmla="*/ 6 h 37"/>
                <a:gd name="T10" fmla="*/ 18 w 23"/>
                <a:gd name="T11" fmla="*/ 26 h 37"/>
                <a:gd name="T12" fmla="*/ 14 w 23"/>
                <a:gd name="T13" fmla="*/ 1 h 37"/>
                <a:gd name="T14" fmla="*/ 18 w 23"/>
                <a:gd name="T15" fmla="*/ 0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7">
                  <a:moveTo>
                    <a:pt x="18" y="0"/>
                  </a:moveTo>
                  <a:lnTo>
                    <a:pt x="23" y="35"/>
                  </a:lnTo>
                  <a:lnTo>
                    <a:pt x="19" y="37"/>
                  </a:lnTo>
                  <a:lnTo>
                    <a:pt x="0" y="7"/>
                  </a:lnTo>
                  <a:lnTo>
                    <a:pt x="4" y="6"/>
                  </a:lnTo>
                  <a:lnTo>
                    <a:pt x="18" y="26"/>
                  </a:lnTo>
                  <a:lnTo>
                    <a:pt x="14" y="1"/>
                  </a:lnTo>
                  <a:lnTo>
                    <a:pt x="18"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50" name="Freeform 118"/>
            <p:cNvSpPr/>
            <p:nvPr userDrawn="1"/>
          </p:nvSpPr>
          <p:spPr bwMode="auto">
            <a:xfrm>
              <a:off x="1188" y="939"/>
              <a:ext cx="33" cy="38"/>
            </a:xfrm>
            <a:custGeom>
              <a:avLst/>
              <a:gdLst>
                <a:gd name="T0" fmla="*/ 33 w 33"/>
                <a:gd name="T1" fmla="*/ 29 h 38"/>
                <a:gd name="T2" fmla="*/ 17 w 33"/>
                <a:gd name="T3" fmla="*/ 38 h 38"/>
                <a:gd name="T4" fmla="*/ 0 w 33"/>
                <a:gd name="T5" fmla="*/ 8 h 38"/>
                <a:gd name="T6" fmla="*/ 15 w 33"/>
                <a:gd name="T7" fmla="*/ 0 h 38"/>
                <a:gd name="T8" fmla="*/ 17 w 33"/>
                <a:gd name="T9" fmla="*/ 3 h 38"/>
                <a:gd name="T10" fmla="*/ 6 w 33"/>
                <a:gd name="T11" fmla="*/ 9 h 38"/>
                <a:gd name="T12" fmla="*/ 11 w 33"/>
                <a:gd name="T13" fmla="*/ 19 h 38"/>
                <a:gd name="T14" fmla="*/ 22 w 33"/>
                <a:gd name="T15" fmla="*/ 13 h 38"/>
                <a:gd name="T16" fmla="*/ 23 w 33"/>
                <a:gd name="T17" fmla="*/ 16 h 38"/>
                <a:gd name="T18" fmla="*/ 14 w 33"/>
                <a:gd name="T19" fmla="*/ 21 h 38"/>
                <a:gd name="T20" fmla="*/ 20 w 33"/>
                <a:gd name="T21" fmla="*/ 33 h 38"/>
                <a:gd name="T22" fmla="*/ 31 w 33"/>
                <a:gd name="T23" fmla="*/ 25 h 38"/>
                <a:gd name="T24" fmla="*/ 33 w 33"/>
                <a:gd name="T25" fmla="*/ 2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8">
                  <a:moveTo>
                    <a:pt x="33" y="29"/>
                  </a:moveTo>
                  <a:lnTo>
                    <a:pt x="17" y="38"/>
                  </a:lnTo>
                  <a:lnTo>
                    <a:pt x="0" y="8"/>
                  </a:lnTo>
                  <a:lnTo>
                    <a:pt x="15" y="0"/>
                  </a:lnTo>
                  <a:lnTo>
                    <a:pt x="17" y="3"/>
                  </a:lnTo>
                  <a:lnTo>
                    <a:pt x="6" y="9"/>
                  </a:lnTo>
                  <a:lnTo>
                    <a:pt x="11" y="19"/>
                  </a:lnTo>
                  <a:lnTo>
                    <a:pt x="22" y="13"/>
                  </a:lnTo>
                  <a:lnTo>
                    <a:pt x="23" y="16"/>
                  </a:lnTo>
                  <a:lnTo>
                    <a:pt x="14" y="21"/>
                  </a:lnTo>
                  <a:lnTo>
                    <a:pt x="20" y="33"/>
                  </a:lnTo>
                  <a:lnTo>
                    <a:pt x="31" y="25"/>
                  </a:lnTo>
                  <a:lnTo>
                    <a:pt x="33"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51" name="Freeform 119"/>
            <p:cNvSpPr>
              <a:spLocks noEditPoints="1"/>
            </p:cNvSpPr>
            <p:nvPr userDrawn="1"/>
          </p:nvSpPr>
          <p:spPr bwMode="auto">
            <a:xfrm>
              <a:off x="1205" y="931"/>
              <a:ext cx="34" cy="34"/>
            </a:xfrm>
            <a:custGeom>
              <a:avLst/>
              <a:gdLst>
                <a:gd name="T0" fmla="*/ 27 w 27"/>
                <a:gd name="T1" fmla="*/ 20 h 28"/>
                <a:gd name="T2" fmla="*/ 24 w 27"/>
                <a:gd name="T3" fmla="*/ 22 h 28"/>
                <a:gd name="T4" fmla="*/ 15 w 27"/>
                <a:gd name="T5" fmla="*/ 14 h 28"/>
                <a:gd name="T6" fmla="*/ 12 w 27"/>
                <a:gd name="T7" fmla="*/ 17 h 28"/>
                <a:gd name="T8" fmla="*/ 19 w 27"/>
                <a:gd name="T9" fmla="*/ 26 h 28"/>
                <a:gd name="T10" fmla="*/ 16 w 27"/>
                <a:gd name="T11" fmla="*/ 28 h 28"/>
                <a:gd name="T12" fmla="*/ 0 w 27"/>
                <a:gd name="T13" fmla="*/ 6 h 28"/>
                <a:gd name="T14" fmla="*/ 5 w 27"/>
                <a:gd name="T15" fmla="*/ 2 h 28"/>
                <a:gd name="T16" fmla="*/ 11 w 27"/>
                <a:gd name="T17" fmla="*/ 0 h 28"/>
                <a:gd name="T18" fmla="*/ 18 w 27"/>
                <a:gd name="T19" fmla="*/ 8 h 28"/>
                <a:gd name="T20" fmla="*/ 17 w 27"/>
                <a:gd name="T21" fmla="*/ 12 h 28"/>
                <a:gd name="T22" fmla="*/ 27 w 27"/>
                <a:gd name="T23" fmla="*/ 20 h 28"/>
                <a:gd name="T24" fmla="*/ 10 w 27"/>
                <a:gd name="T25" fmla="*/ 4 h 28"/>
                <a:gd name="T26" fmla="*/ 5 w 27"/>
                <a:gd name="T27" fmla="*/ 6 h 28"/>
                <a:gd name="T28" fmla="*/ 10 w 27"/>
                <a:gd name="T29" fmla="*/ 13 h 28"/>
                <a:gd name="T30" fmla="*/ 14 w 27"/>
                <a:gd name="T31" fmla="*/ 10 h 28"/>
                <a:gd name="T32" fmla="*/ 10 w 27"/>
                <a:gd name="T33"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8">
                  <a:moveTo>
                    <a:pt x="27" y="20"/>
                  </a:moveTo>
                  <a:cubicBezTo>
                    <a:pt x="24" y="22"/>
                    <a:pt x="24" y="22"/>
                    <a:pt x="24" y="22"/>
                  </a:cubicBezTo>
                  <a:cubicBezTo>
                    <a:pt x="15" y="14"/>
                    <a:pt x="15" y="14"/>
                    <a:pt x="15" y="14"/>
                  </a:cubicBezTo>
                  <a:cubicBezTo>
                    <a:pt x="12" y="17"/>
                    <a:pt x="12" y="17"/>
                    <a:pt x="12" y="17"/>
                  </a:cubicBezTo>
                  <a:cubicBezTo>
                    <a:pt x="19" y="26"/>
                    <a:pt x="19" y="26"/>
                    <a:pt x="19" y="26"/>
                  </a:cubicBezTo>
                  <a:cubicBezTo>
                    <a:pt x="16" y="28"/>
                    <a:pt x="16" y="28"/>
                    <a:pt x="16" y="28"/>
                  </a:cubicBezTo>
                  <a:cubicBezTo>
                    <a:pt x="0" y="6"/>
                    <a:pt x="0" y="6"/>
                    <a:pt x="0" y="6"/>
                  </a:cubicBezTo>
                  <a:cubicBezTo>
                    <a:pt x="5" y="2"/>
                    <a:pt x="5" y="2"/>
                    <a:pt x="5" y="2"/>
                  </a:cubicBezTo>
                  <a:cubicBezTo>
                    <a:pt x="7" y="1"/>
                    <a:pt x="9" y="0"/>
                    <a:pt x="11" y="0"/>
                  </a:cubicBezTo>
                  <a:cubicBezTo>
                    <a:pt x="16" y="1"/>
                    <a:pt x="18" y="4"/>
                    <a:pt x="18" y="8"/>
                  </a:cubicBezTo>
                  <a:cubicBezTo>
                    <a:pt x="18" y="9"/>
                    <a:pt x="18" y="11"/>
                    <a:pt x="17" y="12"/>
                  </a:cubicBezTo>
                  <a:lnTo>
                    <a:pt x="27" y="20"/>
                  </a:lnTo>
                  <a:close/>
                  <a:moveTo>
                    <a:pt x="10" y="4"/>
                  </a:moveTo>
                  <a:cubicBezTo>
                    <a:pt x="8" y="3"/>
                    <a:pt x="6" y="5"/>
                    <a:pt x="5" y="6"/>
                  </a:cubicBezTo>
                  <a:cubicBezTo>
                    <a:pt x="10" y="13"/>
                    <a:pt x="10" y="13"/>
                    <a:pt x="10" y="13"/>
                  </a:cubicBezTo>
                  <a:cubicBezTo>
                    <a:pt x="12" y="12"/>
                    <a:pt x="12" y="12"/>
                    <a:pt x="14" y="10"/>
                  </a:cubicBezTo>
                  <a:cubicBezTo>
                    <a:pt x="14" y="7"/>
                    <a:pt x="13" y="5"/>
                    <a:pt x="10" y="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52" name="Freeform 120"/>
            <p:cNvSpPr/>
            <p:nvPr userDrawn="1"/>
          </p:nvSpPr>
          <p:spPr bwMode="auto">
            <a:xfrm>
              <a:off x="1223" y="916"/>
              <a:ext cx="34" cy="29"/>
            </a:xfrm>
            <a:custGeom>
              <a:avLst/>
              <a:gdLst>
                <a:gd name="T0" fmla="*/ 22 w 28"/>
                <a:gd name="T1" fmla="*/ 10 h 24"/>
                <a:gd name="T2" fmla="*/ 19 w 28"/>
                <a:gd name="T3" fmla="*/ 24 h 24"/>
                <a:gd name="T4" fmla="*/ 14 w 28"/>
                <a:gd name="T5" fmla="*/ 23 h 24"/>
                <a:gd name="T6" fmla="*/ 15 w 28"/>
                <a:gd name="T7" fmla="*/ 20 h 24"/>
                <a:gd name="T8" fmla="*/ 18 w 28"/>
                <a:gd name="T9" fmla="*/ 21 h 24"/>
                <a:gd name="T10" fmla="*/ 20 w 28"/>
                <a:gd name="T11" fmla="*/ 13 h 24"/>
                <a:gd name="T12" fmla="*/ 17 w 28"/>
                <a:gd name="T13" fmla="*/ 12 h 24"/>
                <a:gd name="T14" fmla="*/ 8 w 28"/>
                <a:gd name="T15" fmla="*/ 15 h 24"/>
                <a:gd name="T16" fmla="*/ 0 w 28"/>
                <a:gd name="T17" fmla="*/ 9 h 24"/>
                <a:gd name="T18" fmla="*/ 2 w 28"/>
                <a:gd name="T19" fmla="*/ 4 h 24"/>
                <a:gd name="T20" fmla="*/ 11 w 28"/>
                <a:gd name="T21" fmla="*/ 2 h 24"/>
                <a:gd name="T22" fmla="*/ 10 w 28"/>
                <a:gd name="T23" fmla="*/ 5 h 24"/>
                <a:gd name="T24" fmla="*/ 4 w 28"/>
                <a:gd name="T25" fmla="*/ 6 h 24"/>
                <a:gd name="T26" fmla="*/ 3 w 28"/>
                <a:gd name="T27" fmla="*/ 9 h 24"/>
                <a:gd name="T28" fmla="*/ 7 w 28"/>
                <a:gd name="T29" fmla="*/ 12 h 24"/>
                <a:gd name="T30" fmla="*/ 17 w 28"/>
                <a:gd name="T31" fmla="*/ 9 h 24"/>
                <a:gd name="T32" fmla="*/ 22 w 28"/>
                <a:gd name="T33" fmla="*/ 1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 h="24">
                  <a:moveTo>
                    <a:pt x="22" y="10"/>
                  </a:moveTo>
                  <a:cubicBezTo>
                    <a:pt x="28" y="13"/>
                    <a:pt x="26" y="23"/>
                    <a:pt x="19" y="24"/>
                  </a:cubicBezTo>
                  <a:cubicBezTo>
                    <a:pt x="17" y="24"/>
                    <a:pt x="15" y="24"/>
                    <a:pt x="14" y="23"/>
                  </a:cubicBezTo>
                  <a:cubicBezTo>
                    <a:pt x="15" y="20"/>
                    <a:pt x="15" y="20"/>
                    <a:pt x="15" y="20"/>
                  </a:cubicBezTo>
                  <a:cubicBezTo>
                    <a:pt x="16" y="21"/>
                    <a:pt x="17" y="21"/>
                    <a:pt x="18" y="21"/>
                  </a:cubicBezTo>
                  <a:cubicBezTo>
                    <a:pt x="23" y="20"/>
                    <a:pt x="23" y="15"/>
                    <a:pt x="20" y="13"/>
                  </a:cubicBezTo>
                  <a:cubicBezTo>
                    <a:pt x="19" y="12"/>
                    <a:pt x="18" y="12"/>
                    <a:pt x="17" y="12"/>
                  </a:cubicBezTo>
                  <a:cubicBezTo>
                    <a:pt x="13" y="13"/>
                    <a:pt x="11" y="15"/>
                    <a:pt x="8" y="15"/>
                  </a:cubicBezTo>
                  <a:cubicBezTo>
                    <a:pt x="4" y="15"/>
                    <a:pt x="1" y="13"/>
                    <a:pt x="0" y="9"/>
                  </a:cubicBezTo>
                  <a:cubicBezTo>
                    <a:pt x="0" y="7"/>
                    <a:pt x="1" y="5"/>
                    <a:pt x="2" y="4"/>
                  </a:cubicBezTo>
                  <a:cubicBezTo>
                    <a:pt x="4" y="0"/>
                    <a:pt x="8" y="0"/>
                    <a:pt x="11" y="2"/>
                  </a:cubicBezTo>
                  <a:cubicBezTo>
                    <a:pt x="10" y="5"/>
                    <a:pt x="10" y="5"/>
                    <a:pt x="10" y="5"/>
                  </a:cubicBezTo>
                  <a:cubicBezTo>
                    <a:pt x="8" y="4"/>
                    <a:pt x="5" y="4"/>
                    <a:pt x="4" y="6"/>
                  </a:cubicBezTo>
                  <a:cubicBezTo>
                    <a:pt x="3" y="7"/>
                    <a:pt x="3" y="8"/>
                    <a:pt x="3" y="9"/>
                  </a:cubicBezTo>
                  <a:cubicBezTo>
                    <a:pt x="4" y="11"/>
                    <a:pt x="5" y="12"/>
                    <a:pt x="7" y="12"/>
                  </a:cubicBezTo>
                  <a:cubicBezTo>
                    <a:pt x="11" y="11"/>
                    <a:pt x="13" y="8"/>
                    <a:pt x="17" y="9"/>
                  </a:cubicBezTo>
                  <a:cubicBezTo>
                    <a:pt x="18" y="9"/>
                    <a:pt x="20" y="9"/>
                    <a:pt x="22" y="1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53" name="Freeform 121"/>
            <p:cNvSpPr/>
            <p:nvPr userDrawn="1"/>
          </p:nvSpPr>
          <p:spPr bwMode="auto">
            <a:xfrm>
              <a:off x="1234" y="906"/>
              <a:ext cx="31" cy="21"/>
            </a:xfrm>
            <a:custGeom>
              <a:avLst/>
              <a:gdLst>
                <a:gd name="T0" fmla="*/ 31 w 31"/>
                <a:gd name="T1" fmla="*/ 17 h 21"/>
                <a:gd name="T2" fmla="*/ 28 w 31"/>
                <a:gd name="T3" fmla="*/ 21 h 21"/>
                <a:gd name="T4" fmla="*/ 0 w 31"/>
                <a:gd name="T5" fmla="*/ 2 h 21"/>
                <a:gd name="T6" fmla="*/ 2 w 31"/>
                <a:gd name="T7" fmla="*/ 0 h 21"/>
                <a:gd name="T8" fmla="*/ 31 w 31"/>
                <a:gd name="T9" fmla="*/ 17 h 21"/>
              </a:gdLst>
              <a:ahLst/>
              <a:cxnLst>
                <a:cxn ang="0">
                  <a:pos x="T0" y="T1"/>
                </a:cxn>
                <a:cxn ang="0">
                  <a:pos x="T2" y="T3"/>
                </a:cxn>
                <a:cxn ang="0">
                  <a:pos x="T4" y="T5"/>
                </a:cxn>
                <a:cxn ang="0">
                  <a:pos x="T6" y="T7"/>
                </a:cxn>
                <a:cxn ang="0">
                  <a:pos x="T8" y="T9"/>
                </a:cxn>
              </a:cxnLst>
              <a:rect l="0" t="0" r="r" b="b"/>
              <a:pathLst>
                <a:path w="31" h="21">
                  <a:moveTo>
                    <a:pt x="31" y="17"/>
                  </a:moveTo>
                  <a:lnTo>
                    <a:pt x="28" y="21"/>
                  </a:lnTo>
                  <a:lnTo>
                    <a:pt x="0" y="2"/>
                  </a:lnTo>
                  <a:lnTo>
                    <a:pt x="2" y="0"/>
                  </a:lnTo>
                  <a:lnTo>
                    <a:pt x="31" y="17"/>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54" name="Freeform 122"/>
            <p:cNvSpPr/>
            <p:nvPr userDrawn="1"/>
          </p:nvSpPr>
          <p:spPr bwMode="auto">
            <a:xfrm>
              <a:off x="1239" y="884"/>
              <a:ext cx="36" cy="28"/>
            </a:xfrm>
            <a:custGeom>
              <a:avLst/>
              <a:gdLst>
                <a:gd name="T0" fmla="*/ 11 w 36"/>
                <a:gd name="T1" fmla="*/ 3 h 28"/>
                <a:gd name="T2" fmla="*/ 8 w 36"/>
                <a:gd name="T3" fmla="*/ 9 h 28"/>
                <a:gd name="T4" fmla="*/ 36 w 36"/>
                <a:gd name="T5" fmla="*/ 25 h 28"/>
                <a:gd name="T6" fmla="*/ 33 w 36"/>
                <a:gd name="T7" fmla="*/ 28 h 28"/>
                <a:gd name="T8" fmla="*/ 6 w 36"/>
                <a:gd name="T9" fmla="*/ 13 h 28"/>
                <a:gd name="T10" fmla="*/ 3 w 36"/>
                <a:gd name="T11" fmla="*/ 18 h 28"/>
                <a:gd name="T12" fmla="*/ 0 w 36"/>
                <a:gd name="T13" fmla="*/ 17 h 28"/>
                <a:gd name="T14" fmla="*/ 7 w 36"/>
                <a:gd name="T15" fmla="*/ 0 h 28"/>
                <a:gd name="T16" fmla="*/ 11 w 36"/>
                <a:gd name="T17"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28">
                  <a:moveTo>
                    <a:pt x="11" y="3"/>
                  </a:moveTo>
                  <a:lnTo>
                    <a:pt x="8" y="9"/>
                  </a:lnTo>
                  <a:lnTo>
                    <a:pt x="36" y="25"/>
                  </a:lnTo>
                  <a:lnTo>
                    <a:pt x="33" y="28"/>
                  </a:lnTo>
                  <a:lnTo>
                    <a:pt x="6" y="13"/>
                  </a:lnTo>
                  <a:lnTo>
                    <a:pt x="3" y="18"/>
                  </a:lnTo>
                  <a:lnTo>
                    <a:pt x="0" y="17"/>
                  </a:lnTo>
                  <a:lnTo>
                    <a:pt x="7" y="0"/>
                  </a:lnTo>
                  <a:lnTo>
                    <a:pt x="11" y="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55" name="Freeform 123"/>
            <p:cNvSpPr/>
            <p:nvPr userDrawn="1"/>
          </p:nvSpPr>
          <p:spPr bwMode="auto">
            <a:xfrm>
              <a:off x="1247" y="865"/>
              <a:ext cx="36" cy="23"/>
            </a:xfrm>
            <a:custGeom>
              <a:avLst/>
              <a:gdLst>
                <a:gd name="T0" fmla="*/ 8 w 36"/>
                <a:gd name="T1" fmla="*/ 0 h 23"/>
                <a:gd name="T2" fmla="*/ 25 w 36"/>
                <a:gd name="T3" fmla="*/ 14 h 23"/>
                <a:gd name="T4" fmla="*/ 36 w 36"/>
                <a:gd name="T5" fmla="*/ 19 h 23"/>
                <a:gd name="T6" fmla="*/ 34 w 36"/>
                <a:gd name="T7" fmla="*/ 23 h 23"/>
                <a:gd name="T8" fmla="*/ 24 w 36"/>
                <a:gd name="T9" fmla="*/ 18 h 23"/>
                <a:gd name="T10" fmla="*/ 0 w 36"/>
                <a:gd name="T11" fmla="*/ 18 h 23"/>
                <a:gd name="T12" fmla="*/ 2 w 36"/>
                <a:gd name="T13" fmla="*/ 14 h 23"/>
                <a:gd name="T14" fmla="*/ 18 w 36"/>
                <a:gd name="T15" fmla="*/ 14 h 23"/>
                <a:gd name="T16" fmla="*/ 7 w 36"/>
                <a:gd name="T17" fmla="*/ 5 h 23"/>
                <a:gd name="T18" fmla="*/ 8 w 36"/>
                <a:gd name="T1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23">
                  <a:moveTo>
                    <a:pt x="8" y="0"/>
                  </a:moveTo>
                  <a:lnTo>
                    <a:pt x="25" y="14"/>
                  </a:lnTo>
                  <a:lnTo>
                    <a:pt x="36" y="19"/>
                  </a:lnTo>
                  <a:lnTo>
                    <a:pt x="34" y="23"/>
                  </a:lnTo>
                  <a:lnTo>
                    <a:pt x="24" y="18"/>
                  </a:lnTo>
                  <a:lnTo>
                    <a:pt x="0" y="18"/>
                  </a:lnTo>
                  <a:lnTo>
                    <a:pt x="2" y="14"/>
                  </a:lnTo>
                  <a:lnTo>
                    <a:pt x="18" y="14"/>
                  </a:lnTo>
                  <a:lnTo>
                    <a:pt x="7" y="5"/>
                  </a:lnTo>
                  <a:lnTo>
                    <a:pt x="8"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56" name="Freeform 124"/>
            <p:cNvSpPr/>
            <p:nvPr userDrawn="1"/>
          </p:nvSpPr>
          <p:spPr bwMode="auto">
            <a:xfrm>
              <a:off x="1010" y="928"/>
              <a:ext cx="34" cy="25"/>
            </a:xfrm>
            <a:custGeom>
              <a:avLst/>
              <a:gdLst>
                <a:gd name="T0" fmla="*/ 14 w 28"/>
                <a:gd name="T1" fmla="*/ 16 h 20"/>
                <a:gd name="T2" fmla="*/ 8 w 28"/>
                <a:gd name="T3" fmla="*/ 20 h 20"/>
                <a:gd name="T4" fmla="*/ 2 w 28"/>
                <a:gd name="T5" fmla="*/ 17 h 20"/>
                <a:gd name="T6" fmla="*/ 0 w 28"/>
                <a:gd name="T7" fmla="*/ 12 h 20"/>
                <a:gd name="T8" fmla="*/ 1 w 28"/>
                <a:gd name="T9" fmla="*/ 9 h 20"/>
                <a:gd name="T10" fmla="*/ 4 w 28"/>
                <a:gd name="T11" fmla="*/ 10 h 20"/>
                <a:gd name="T12" fmla="*/ 3 w 28"/>
                <a:gd name="T13" fmla="*/ 12 h 20"/>
                <a:gd name="T14" fmla="*/ 4 w 28"/>
                <a:gd name="T15" fmla="*/ 15 h 20"/>
                <a:gd name="T16" fmla="*/ 8 w 28"/>
                <a:gd name="T17" fmla="*/ 16 h 20"/>
                <a:gd name="T18" fmla="*/ 12 w 28"/>
                <a:gd name="T19" fmla="*/ 14 h 20"/>
                <a:gd name="T20" fmla="*/ 25 w 28"/>
                <a:gd name="T21" fmla="*/ 0 h 20"/>
                <a:gd name="T22" fmla="*/ 28 w 28"/>
                <a:gd name="T23" fmla="*/ 3 h 20"/>
                <a:gd name="T24" fmla="*/ 14 w 28"/>
                <a:gd name="T25"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 h="20">
                  <a:moveTo>
                    <a:pt x="14" y="16"/>
                  </a:moveTo>
                  <a:cubicBezTo>
                    <a:pt x="12" y="18"/>
                    <a:pt x="10" y="20"/>
                    <a:pt x="8" y="20"/>
                  </a:cubicBezTo>
                  <a:cubicBezTo>
                    <a:pt x="6" y="20"/>
                    <a:pt x="4" y="19"/>
                    <a:pt x="2" y="17"/>
                  </a:cubicBezTo>
                  <a:cubicBezTo>
                    <a:pt x="1" y="16"/>
                    <a:pt x="0" y="14"/>
                    <a:pt x="0" y="12"/>
                  </a:cubicBezTo>
                  <a:cubicBezTo>
                    <a:pt x="0" y="11"/>
                    <a:pt x="0" y="10"/>
                    <a:pt x="1" y="9"/>
                  </a:cubicBezTo>
                  <a:cubicBezTo>
                    <a:pt x="4" y="10"/>
                    <a:pt x="4" y="10"/>
                    <a:pt x="4" y="10"/>
                  </a:cubicBezTo>
                  <a:cubicBezTo>
                    <a:pt x="3" y="11"/>
                    <a:pt x="3" y="11"/>
                    <a:pt x="3" y="12"/>
                  </a:cubicBezTo>
                  <a:cubicBezTo>
                    <a:pt x="3" y="13"/>
                    <a:pt x="4" y="14"/>
                    <a:pt x="4" y="15"/>
                  </a:cubicBezTo>
                  <a:cubicBezTo>
                    <a:pt x="5" y="16"/>
                    <a:pt x="6" y="16"/>
                    <a:pt x="8" y="16"/>
                  </a:cubicBezTo>
                  <a:cubicBezTo>
                    <a:pt x="9" y="16"/>
                    <a:pt x="10" y="15"/>
                    <a:pt x="12" y="14"/>
                  </a:cubicBezTo>
                  <a:cubicBezTo>
                    <a:pt x="25" y="0"/>
                    <a:pt x="25" y="0"/>
                    <a:pt x="25" y="0"/>
                  </a:cubicBezTo>
                  <a:cubicBezTo>
                    <a:pt x="28" y="3"/>
                    <a:pt x="28" y="3"/>
                    <a:pt x="28" y="3"/>
                  </a:cubicBezTo>
                  <a:lnTo>
                    <a:pt x="14" y="16"/>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57" name="Freeform 125"/>
            <p:cNvSpPr>
              <a:spLocks noEditPoints="1"/>
            </p:cNvSpPr>
            <p:nvPr userDrawn="1"/>
          </p:nvSpPr>
          <p:spPr bwMode="auto">
            <a:xfrm>
              <a:off x="1073" y="917"/>
              <a:ext cx="106" cy="33"/>
            </a:xfrm>
            <a:custGeom>
              <a:avLst/>
              <a:gdLst>
                <a:gd name="T0" fmla="*/ 0 w 86"/>
                <a:gd name="T1" fmla="*/ 15 h 27"/>
                <a:gd name="T2" fmla="*/ 4 w 86"/>
                <a:gd name="T3" fmla="*/ 15 h 27"/>
                <a:gd name="T4" fmla="*/ 6 w 86"/>
                <a:gd name="T5" fmla="*/ 3 h 27"/>
                <a:gd name="T6" fmla="*/ 10 w 86"/>
                <a:gd name="T7" fmla="*/ 3 h 27"/>
                <a:gd name="T8" fmla="*/ 14 w 86"/>
                <a:gd name="T9" fmla="*/ 4 h 27"/>
                <a:gd name="T10" fmla="*/ 10 w 86"/>
                <a:gd name="T11" fmla="*/ 19 h 27"/>
                <a:gd name="T12" fmla="*/ 37 w 86"/>
                <a:gd name="T13" fmla="*/ 14 h 27"/>
                <a:gd name="T14" fmla="*/ 33 w 86"/>
                <a:gd name="T15" fmla="*/ 11 h 27"/>
                <a:gd name="T16" fmla="*/ 28 w 86"/>
                <a:gd name="T17" fmla="*/ 13 h 27"/>
                <a:gd name="T18" fmla="*/ 30 w 86"/>
                <a:gd name="T19" fmla="*/ 16 h 27"/>
                <a:gd name="T20" fmla="*/ 34 w 86"/>
                <a:gd name="T21" fmla="*/ 17 h 27"/>
                <a:gd name="T22" fmla="*/ 37 w 86"/>
                <a:gd name="T23" fmla="*/ 14 h 27"/>
                <a:gd name="T24" fmla="*/ 36 w 86"/>
                <a:gd name="T25" fmla="*/ 21 h 27"/>
                <a:gd name="T26" fmla="*/ 32 w 86"/>
                <a:gd name="T27" fmla="*/ 19 h 27"/>
                <a:gd name="T28" fmla="*/ 27 w 86"/>
                <a:gd name="T29" fmla="*/ 19 h 27"/>
                <a:gd name="T30" fmla="*/ 27 w 86"/>
                <a:gd name="T31" fmla="*/ 24 h 27"/>
                <a:gd name="T32" fmla="*/ 34 w 86"/>
                <a:gd name="T33" fmla="*/ 25 h 27"/>
                <a:gd name="T34" fmla="*/ 30 w 86"/>
                <a:gd name="T35" fmla="*/ 27 h 27"/>
                <a:gd name="T36" fmla="*/ 24 w 86"/>
                <a:gd name="T37" fmla="*/ 25 h 27"/>
                <a:gd name="T38" fmla="*/ 23 w 86"/>
                <a:gd name="T39" fmla="*/ 21 h 27"/>
                <a:gd name="T40" fmla="*/ 28 w 86"/>
                <a:gd name="T41" fmla="*/ 17 h 27"/>
                <a:gd name="T42" fmla="*/ 25 w 86"/>
                <a:gd name="T43" fmla="*/ 15 h 27"/>
                <a:gd name="T44" fmla="*/ 28 w 86"/>
                <a:gd name="T45" fmla="*/ 10 h 27"/>
                <a:gd name="T46" fmla="*/ 39 w 86"/>
                <a:gd name="T47" fmla="*/ 11 h 27"/>
                <a:gd name="T48" fmla="*/ 39 w 86"/>
                <a:gd name="T49" fmla="*/ 17 h 27"/>
                <a:gd name="T50" fmla="*/ 36 w 86"/>
                <a:gd name="T51" fmla="*/ 18 h 27"/>
                <a:gd name="T52" fmla="*/ 39 w 86"/>
                <a:gd name="T53" fmla="*/ 23 h 27"/>
                <a:gd name="T54" fmla="*/ 30 w 86"/>
                <a:gd name="T55" fmla="*/ 27 h 27"/>
                <a:gd name="T56" fmla="*/ 62 w 86"/>
                <a:gd name="T57" fmla="*/ 14 h 27"/>
                <a:gd name="T58" fmla="*/ 59 w 86"/>
                <a:gd name="T59" fmla="*/ 11 h 27"/>
                <a:gd name="T60" fmla="*/ 54 w 86"/>
                <a:gd name="T61" fmla="*/ 12 h 27"/>
                <a:gd name="T62" fmla="*/ 53 w 86"/>
                <a:gd name="T63" fmla="*/ 17 h 27"/>
                <a:gd name="T64" fmla="*/ 56 w 86"/>
                <a:gd name="T65" fmla="*/ 19 h 27"/>
                <a:gd name="T66" fmla="*/ 60 w 86"/>
                <a:gd name="T67" fmla="*/ 18 h 27"/>
                <a:gd name="T68" fmla="*/ 63 w 86"/>
                <a:gd name="T69" fmla="*/ 17 h 27"/>
                <a:gd name="T70" fmla="*/ 50 w 86"/>
                <a:gd name="T71" fmla="*/ 15 h 27"/>
                <a:gd name="T72" fmla="*/ 52 w 86"/>
                <a:gd name="T73" fmla="*/ 11 h 27"/>
                <a:gd name="T74" fmla="*/ 58 w 86"/>
                <a:gd name="T75" fmla="*/ 9 h 27"/>
                <a:gd name="T76" fmla="*/ 63 w 86"/>
                <a:gd name="T77" fmla="*/ 11 h 27"/>
                <a:gd name="T78" fmla="*/ 66 w 86"/>
                <a:gd name="T79" fmla="*/ 17 h 27"/>
                <a:gd name="T80" fmla="*/ 63 w 86"/>
                <a:gd name="T81" fmla="*/ 24 h 27"/>
                <a:gd name="T82" fmla="*/ 55 w 86"/>
                <a:gd name="T83" fmla="*/ 27 h 27"/>
                <a:gd name="T84" fmla="*/ 52 w 86"/>
                <a:gd name="T85" fmla="*/ 27 h 27"/>
                <a:gd name="T86" fmla="*/ 52 w 86"/>
                <a:gd name="T87" fmla="*/ 25 h 27"/>
                <a:gd name="T88" fmla="*/ 55 w 86"/>
                <a:gd name="T89" fmla="*/ 25 h 27"/>
                <a:gd name="T90" fmla="*/ 62 w 86"/>
                <a:gd name="T91" fmla="*/ 19 h 27"/>
                <a:gd name="T92" fmla="*/ 57 w 86"/>
                <a:gd name="T93" fmla="*/ 21 h 27"/>
                <a:gd name="T94" fmla="*/ 52 w 86"/>
                <a:gd name="T95" fmla="*/ 20 h 27"/>
                <a:gd name="T96" fmla="*/ 50 w 86"/>
                <a:gd name="T97" fmla="*/ 15 h 27"/>
                <a:gd name="T98" fmla="*/ 86 w 86"/>
                <a:gd name="T99" fmla="*/ 18 h 27"/>
                <a:gd name="T100" fmla="*/ 83 w 86"/>
                <a:gd name="T101" fmla="*/ 3 h 27"/>
                <a:gd name="T102" fmla="*/ 72 w 86"/>
                <a:gd name="T103" fmla="*/ 6 h 27"/>
                <a:gd name="T104" fmla="*/ 86 w 86"/>
                <a:gd name="T105"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6" h="27">
                  <a:moveTo>
                    <a:pt x="9" y="20"/>
                  </a:moveTo>
                  <a:cubicBezTo>
                    <a:pt x="0" y="15"/>
                    <a:pt x="0" y="15"/>
                    <a:pt x="0" y="15"/>
                  </a:cubicBezTo>
                  <a:cubicBezTo>
                    <a:pt x="0" y="13"/>
                    <a:pt x="0" y="13"/>
                    <a:pt x="0" y="13"/>
                  </a:cubicBezTo>
                  <a:cubicBezTo>
                    <a:pt x="4" y="15"/>
                    <a:pt x="4" y="15"/>
                    <a:pt x="4" y="15"/>
                  </a:cubicBezTo>
                  <a:cubicBezTo>
                    <a:pt x="10" y="5"/>
                    <a:pt x="10" y="5"/>
                    <a:pt x="10" y="5"/>
                  </a:cubicBezTo>
                  <a:cubicBezTo>
                    <a:pt x="6" y="3"/>
                    <a:pt x="6" y="3"/>
                    <a:pt x="6" y="3"/>
                  </a:cubicBezTo>
                  <a:cubicBezTo>
                    <a:pt x="7" y="2"/>
                    <a:pt x="7" y="2"/>
                    <a:pt x="7" y="2"/>
                  </a:cubicBezTo>
                  <a:cubicBezTo>
                    <a:pt x="8" y="3"/>
                    <a:pt x="9" y="3"/>
                    <a:pt x="10" y="3"/>
                  </a:cubicBezTo>
                  <a:cubicBezTo>
                    <a:pt x="11" y="3"/>
                    <a:pt x="11" y="3"/>
                    <a:pt x="12" y="2"/>
                  </a:cubicBezTo>
                  <a:cubicBezTo>
                    <a:pt x="14" y="4"/>
                    <a:pt x="14" y="4"/>
                    <a:pt x="14" y="4"/>
                  </a:cubicBezTo>
                  <a:cubicBezTo>
                    <a:pt x="6" y="17"/>
                    <a:pt x="6" y="17"/>
                    <a:pt x="6" y="17"/>
                  </a:cubicBezTo>
                  <a:cubicBezTo>
                    <a:pt x="10" y="19"/>
                    <a:pt x="10" y="19"/>
                    <a:pt x="10" y="19"/>
                  </a:cubicBezTo>
                  <a:lnTo>
                    <a:pt x="9" y="20"/>
                  </a:lnTo>
                  <a:close/>
                  <a:moveTo>
                    <a:pt x="37" y="14"/>
                  </a:moveTo>
                  <a:cubicBezTo>
                    <a:pt x="37" y="14"/>
                    <a:pt x="37" y="13"/>
                    <a:pt x="36" y="12"/>
                  </a:cubicBezTo>
                  <a:cubicBezTo>
                    <a:pt x="36" y="12"/>
                    <a:pt x="35" y="11"/>
                    <a:pt x="33" y="11"/>
                  </a:cubicBezTo>
                  <a:cubicBezTo>
                    <a:pt x="32" y="11"/>
                    <a:pt x="31" y="11"/>
                    <a:pt x="30" y="11"/>
                  </a:cubicBezTo>
                  <a:cubicBezTo>
                    <a:pt x="29" y="12"/>
                    <a:pt x="29" y="12"/>
                    <a:pt x="28" y="13"/>
                  </a:cubicBezTo>
                  <a:cubicBezTo>
                    <a:pt x="28" y="14"/>
                    <a:pt x="28" y="14"/>
                    <a:pt x="29" y="15"/>
                  </a:cubicBezTo>
                  <a:cubicBezTo>
                    <a:pt x="29" y="15"/>
                    <a:pt x="30" y="15"/>
                    <a:pt x="30" y="16"/>
                  </a:cubicBezTo>
                  <a:cubicBezTo>
                    <a:pt x="31" y="16"/>
                    <a:pt x="31" y="16"/>
                    <a:pt x="32" y="17"/>
                  </a:cubicBezTo>
                  <a:cubicBezTo>
                    <a:pt x="33" y="17"/>
                    <a:pt x="33" y="17"/>
                    <a:pt x="34" y="17"/>
                  </a:cubicBezTo>
                  <a:cubicBezTo>
                    <a:pt x="35" y="17"/>
                    <a:pt x="36" y="17"/>
                    <a:pt x="36" y="16"/>
                  </a:cubicBezTo>
                  <a:cubicBezTo>
                    <a:pt x="37" y="16"/>
                    <a:pt x="37" y="15"/>
                    <a:pt x="37" y="14"/>
                  </a:cubicBezTo>
                  <a:moveTo>
                    <a:pt x="36" y="23"/>
                  </a:moveTo>
                  <a:cubicBezTo>
                    <a:pt x="36" y="22"/>
                    <a:pt x="36" y="22"/>
                    <a:pt x="36" y="21"/>
                  </a:cubicBezTo>
                  <a:cubicBezTo>
                    <a:pt x="35" y="21"/>
                    <a:pt x="34" y="20"/>
                    <a:pt x="33" y="20"/>
                  </a:cubicBezTo>
                  <a:cubicBezTo>
                    <a:pt x="33" y="19"/>
                    <a:pt x="33" y="19"/>
                    <a:pt x="32" y="19"/>
                  </a:cubicBezTo>
                  <a:cubicBezTo>
                    <a:pt x="31" y="19"/>
                    <a:pt x="31" y="18"/>
                    <a:pt x="30" y="18"/>
                  </a:cubicBezTo>
                  <a:cubicBezTo>
                    <a:pt x="29" y="18"/>
                    <a:pt x="28" y="19"/>
                    <a:pt x="27" y="19"/>
                  </a:cubicBezTo>
                  <a:cubicBezTo>
                    <a:pt x="27" y="20"/>
                    <a:pt x="26" y="20"/>
                    <a:pt x="26" y="21"/>
                  </a:cubicBezTo>
                  <a:cubicBezTo>
                    <a:pt x="26" y="22"/>
                    <a:pt x="26" y="23"/>
                    <a:pt x="27" y="24"/>
                  </a:cubicBezTo>
                  <a:cubicBezTo>
                    <a:pt x="28" y="25"/>
                    <a:pt x="29" y="25"/>
                    <a:pt x="30" y="25"/>
                  </a:cubicBezTo>
                  <a:cubicBezTo>
                    <a:pt x="32" y="26"/>
                    <a:pt x="33" y="25"/>
                    <a:pt x="34" y="25"/>
                  </a:cubicBezTo>
                  <a:cubicBezTo>
                    <a:pt x="35" y="24"/>
                    <a:pt x="36" y="24"/>
                    <a:pt x="36" y="23"/>
                  </a:cubicBezTo>
                  <a:moveTo>
                    <a:pt x="30" y="27"/>
                  </a:moveTo>
                  <a:cubicBezTo>
                    <a:pt x="29" y="27"/>
                    <a:pt x="28" y="27"/>
                    <a:pt x="27" y="26"/>
                  </a:cubicBezTo>
                  <a:cubicBezTo>
                    <a:pt x="26" y="26"/>
                    <a:pt x="25" y="25"/>
                    <a:pt x="24" y="25"/>
                  </a:cubicBezTo>
                  <a:cubicBezTo>
                    <a:pt x="23" y="24"/>
                    <a:pt x="23" y="24"/>
                    <a:pt x="23" y="23"/>
                  </a:cubicBezTo>
                  <a:cubicBezTo>
                    <a:pt x="23" y="22"/>
                    <a:pt x="22" y="21"/>
                    <a:pt x="23" y="21"/>
                  </a:cubicBezTo>
                  <a:cubicBezTo>
                    <a:pt x="23" y="20"/>
                    <a:pt x="23" y="19"/>
                    <a:pt x="24" y="18"/>
                  </a:cubicBezTo>
                  <a:cubicBezTo>
                    <a:pt x="25" y="18"/>
                    <a:pt x="26" y="17"/>
                    <a:pt x="28" y="17"/>
                  </a:cubicBezTo>
                  <a:cubicBezTo>
                    <a:pt x="28" y="17"/>
                    <a:pt x="28" y="17"/>
                    <a:pt x="28" y="17"/>
                  </a:cubicBezTo>
                  <a:cubicBezTo>
                    <a:pt x="27" y="16"/>
                    <a:pt x="26" y="16"/>
                    <a:pt x="25" y="15"/>
                  </a:cubicBezTo>
                  <a:cubicBezTo>
                    <a:pt x="25" y="14"/>
                    <a:pt x="25" y="14"/>
                    <a:pt x="25" y="13"/>
                  </a:cubicBezTo>
                  <a:cubicBezTo>
                    <a:pt x="25" y="12"/>
                    <a:pt x="26" y="11"/>
                    <a:pt x="28" y="10"/>
                  </a:cubicBezTo>
                  <a:cubicBezTo>
                    <a:pt x="29" y="9"/>
                    <a:pt x="31" y="9"/>
                    <a:pt x="34" y="10"/>
                  </a:cubicBezTo>
                  <a:cubicBezTo>
                    <a:pt x="36" y="10"/>
                    <a:pt x="38" y="10"/>
                    <a:pt x="39" y="11"/>
                  </a:cubicBezTo>
                  <a:cubicBezTo>
                    <a:pt x="40" y="12"/>
                    <a:pt x="41" y="14"/>
                    <a:pt x="40" y="15"/>
                  </a:cubicBezTo>
                  <a:cubicBezTo>
                    <a:pt x="40" y="16"/>
                    <a:pt x="40" y="16"/>
                    <a:pt x="39" y="17"/>
                  </a:cubicBezTo>
                  <a:cubicBezTo>
                    <a:pt x="38" y="18"/>
                    <a:pt x="37" y="18"/>
                    <a:pt x="36" y="18"/>
                  </a:cubicBezTo>
                  <a:cubicBezTo>
                    <a:pt x="36" y="18"/>
                    <a:pt x="36" y="18"/>
                    <a:pt x="36" y="18"/>
                  </a:cubicBezTo>
                  <a:cubicBezTo>
                    <a:pt x="37" y="19"/>
                    <a:pt x="38" y="20"/>
                    <a:pt x="39" y="20"/>
                  </a:cubicBezTo>
                  <a:cubicBezTo>
                    <a:pt x="39" y="21"/>
                    <a:pt x="40" y="22"/>
                    <a:pt x="39" y="23"/>
                  </a:cubicBezTo>
                  <a:cubicBezTo>
                    <a:pt x="39" y="25"/>
                    <a:pt x="38" y="26"/>
                    <a:pt x="36" y="26"/>
                  </a:cubicBezTo>
                  <a:cubicBezTo>
                    <a:pt x="34" y="27"/>
                    <a:pt x="32" y="27"/>
                    <a:pt x="30" y="27"/>
                  </a:cubicBezTo>
                  <a:moveTo>
                    <a:pt x="63" y="17"/>
                  </a:moveTo>
                  <a:cubicBezTo>
                    <a:pt x="63" y="15"/>
                    <a:pt x="62" y="15"/>
                    <a:pt x="62" y="14"/>
                  </a:cubicBezTo>
                  <a:cubicBezTo>
                    <a:pt x="62" y="13"/>
                    <a:pt x="61" y="13"/>
                    <a:pt x="61" y="12"/>
                  </a:cubicBezTo>
                  <a:cubicBezTo>
                    <a:pt x="60" y="12"/>
                    <a:pt x="60" y="12"/>
                    <a:pt x="59" y="11"/>
                  </a:cubicBezTo>
                  <a:cubicBezTo>
                    <a:pt x="59" y="11"/>
                    <a:pt x="58" y="11"/>
                    <a:pt x="58" y="11"/>
                  </a:cubicBezTo>
                  <a:cubicBezTo>
                    <a:pt x="56" y="11"/>
                    <a:pt x="55" y="12"/>
                    <a:pt x="54" y="12"/>
                  </a:cubicBezTo>
                  <a:cubicBezTo>
                    <a:pt x="53" y="13"/>
                    <a:pt x="53" y="14"/>
                    <a:pt x="53" y="15"/>
                  </a:cubicBezTo>
                  <a:cubicBezTo>
                    <a:pt x="53" y="16"/>
                    <a:pt x="53" y="16"/>
                    <a:pt x="53" y="17"/>
                  </a:cubicBezTo>
                  <a:cubicBezTo>
                    <a:pt x="54" y="17"/>
                    <a:pt x="54" y="18"/>
                    <a:pt x="55" y="18"/>
                  </a:cubicBezTo>
                  <a:cubicBezTo>
                    <a:pt x="55" y="18"/>
                    <a:pt x="56" y="18"/>
                    <a:pt x="56" y="19"/>
                  </a:cubicBezTo>
                  <a:cubicBezTo>
                    <a:pt x="57" y="19"/>
                    <a:pt x="57" y="19"/>
                    <a:pt x="58" y="19"/>
                  </a:cubicBezTo>
                  <a:cubicBezTo>
                    <a:pt x="59" y="19"/>
                    <a:pt x="59" y="19"/>
                    <a:pt x="60" y="18"/>
                  </a:cubicBezTo>
                  <a:cubicBezTo>
                    <a:pt x="61" y="18"/>
                    <a:pt x="62" y="18"/>
                    <a:pt x="62" y="18"/>
                  </a:cubicBezTo>
                  <a:cubicBezTo>
                    <a:pt x="63" y="18"/>
                    <a:pt x="63" y="17"/>
                    <a:pt x="63" y="17"/>
                  </a:cubicBezTo>
                  <a:cubicBezTo>
                    <a:pt x="63" y="17"/>
                    <a:pt x="63" y="17"/>
                    <a:pt x="63" y="17"/>
                  </a:cubicBezTo>
                  <a:moveTo>
                    <a:pt x="50" y="15"/>
                  </a:moveTo>
                  <a:cubicBezTo>
                    <a:pt x="50" y="14"/>
                    <a:pt x="50" y="14"/>
                    <a:pt x="50" y="13"/>
                  </a:cubicBezTo>
                  <a:cubicBezTo>
                    <a:pt x="51" y="12"/>
                    <a:pt x="51" y="11"/>
                    <a:pt x="52" y="11"/>
                  </a:cubicBezTo>
                  <a:cubicBezTo>
                    <a:pt x="53" y="10"/>
                    <a:pt x="53" y="10"/>
                    <a:pt x="55" y="10"/>
                  </a:cubicBezTo>
                  <a:cubicBezTo>
                    <a:pt x="56" y="9"/>
                    <a:pt x="57" y="9"/>
                    <a:pt x="58" y="9"/>
                  </a:cubicBezTo>
                  <a:cubicBezTo>
                    <a:pt x="59" y="9"/>
                    <a:pt x="60" y="9"/>
                    <a:pt x="61" y="10"/>
                  </a:cubicBezTo>
                  <a:cubicBezTo>
                    <a:pt x="62" y="10"/>
                    <a:pt x="63" y="10"/>
                    <a:pt x="63" y="11"/>
                  </a:cubicBezTo>
                  <a:cubicBezTo>
                    <a:pt x="64" y="11"/>
                    <a:pt x="65" y="12"/>
                    <a:pt x="65" y="13"/>
                  </a:cubicBezTo>
                  <a:cubicBezTo>
                    <a:pt x="66" y="14"/>
                    <a:pt x="66" y="16"/>
                    <a:pt x="66" y="17"/>
                  </a:cubicBezTo>
                  <a:cubicBezTo>
                    <a:pt x="66" y="19"/>
                    <a:pt x="66" y="20"/>
                    <a:pt x="65" y="21"/>
                  </a:cubicBezTo>
                  <a:cubicBezTo>
                    <a:pt x="65" y="22"/>
                    <a:pt x="64" y="23"/>
                    <a:pt x="63" y="24"/>
                  </a:cubicBezTo>
                  <a:cubicBezTo>
                    <a:pt x="62" y="25"/>
                    <a:pt x="61" y="26"/>
                    <a:pt x="60" y="26"/>
                  </a:cubicBezTo>
                  <a:cubicBezTo>
                    <a:pt x="58" y="27"/>
                    <a:pt x="57" y="27"/>
                    <a:pt x="55" y="27"/>
                  </a:cubicBezTo>
                  <a:cubicBezTo>
                    <a:pt x="54" y="27"/>
                    <a:pt x="54" y="27"/>
                    <a:pt x="53" y="27"/>
                  </a:cubicBezTo>
                  <a:cubicBezTo>
                    <a:pt x="53" y="27"/>
                    <a:pt x="52" y="27"/>
                    <a:pt x="52" y="27"/>
                  </a:cubicBezTo>
                  <a:cubicBezTo>
                    <a:pt x="52" y="25"/>
                    <a:pt x="52" y="25"/>
                    <a:pt x="52" y="25"/>
                  </a:cubicBezTo>
                  <a:cubicBezTo>
                    <a:pt x="52" y="25"/>
                    <a:pt x="52" y="25"/>
                    <a:pt x="52" y="25"/>
                  </a:cubicBezTo>
                  <a:cubicBezTo>
                    <a:pt x="52" y="25"/>
                    <a:pt x="53" y="25"/>
                    <a:pt x="53" y="25"/>
                  </a:cubicBezTo>
                  <a:cubicBezTo>
                    <a:pt x="54" y="25"/>
                    <a:pt x="54" y="25"/>
                    <a:pt x="55" y="25"/>
                  </a:cubicBezTo>
                  <a:cubicBezTo>
                    <a:pt x="57" y="25"/>
                    <a:pt x="59" y="25"/>
                    <a:pt x="60" y="24"/>
                  </a:cubicBezTo>
                  <a:cubicBezTo>
                    <a:pt x="62" y="23"/>
                    <a:pt x="62" y="21"/>
                    <a:pt x="62" y="19"/>
                  </a:cubicBezTo>
                  <a:cubicBezTo>
                    <a:pt x="62" y="20"/>
                    <a:pt x="61" y="20"/>
                    <a:pt x="60" y="20"/>
                  </a:cubicBezTo>
                  <a:cubicBezTo>
                    <a:pt x="59" y="20"/>
                    <a:pt x="58" y="21"/>
                    <a:pt x="57" y="21"/>
                  </a:cubicBezTo>
                  <a:cubicBezTo>
                    <a:pt x="56" y="21"/>
                    <a:pt x="55" y="20"/>
                    <a:pt x="55" y="20"/>
                  </a:cubicBezTo>
                  <a:cubicBezTo>
                    <a:pt x="54" y="20"/>
                    <a:pt x="53" y="20"/>
                    <a:pt x="52" y="20"/>
                  </a:cubicBezTo>
                  <a:cubicBezTo>
                    <a:pt x="51" y="19"/>
                    <a:pt x="51" y="18"/>
                    <a:pt x="50" y="18"/>
                  </a:cubicBezTo>
                  <a:cubicBezTo>
                    <a:pt x="50" y="17"/>
                    <a:pt x="50" y="16"/>
                    <a:pt x="50" y="15"/>
                  </a:cubicBezTo>
                  <a:moveTo>
                    <a:pt x="86" y="1"/>
                  </a:moveTo>
                  <a:cubicBezTo>
                    <a:pt x="86" y="18"/>
                    <a:pt x="86" y="18"/>
                    <a:pt x="86" y="18"/>
                  </a:cubicBezTo>
                  <a:cubicBezTo>
                    <a:pt x="83" y="20"/>
                    <a:pt x="83" y="20"/>
                    <a:pt x="83" y="20"/>
                  </a:cubicBezTo>
                  <a:cubicBezTo>
                    <a:pt x="83" y="3"/>
                    <a:pt x="83" y="3"/>
                    <a:pt x="83" y="3"/>
                  </a:cubicBezTo>
                  <a:cubicBezTo>
                    <a:pt x="73" y="8"/>
                    <a:pt x="73" y="8"/>
                    <a:pt x="73" y="8"/>
                  </a:cubicBezTo>
                  <a:cubicBezTo>
                    <a:pt x="72" y="6"/>
                    <a:pt x="72" y="6"/>
                    <a:pt x="72" y="6"/>
                  </a:cubicBezTo>
                  <a:cubicBezTo>
                    <a:pt x="85" y="0"/>
                    <a:pt x="85" y="0"/>
                    <a:pt x="85" y="0"/>
                  </a:cubicBezTo>
                  <a:lnTo>
                    <a:pt x="86" y="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58" name="Freeform 126"/>
            <p:cNvSpPr/>
            <p:nvPr userDrawn="1"/>
          </p:nvSpPr>
          <p:spPr bwMode="auto">
            <a:xfrm>
              <a:off x="1184" y="728"/>
              <a:ext cx="14" cy="14"/>
            </a:xfrm>
            <a:custGeom>
              <a:avLst/>
              <a:gdLst>
                <a:gd name="T0" fmla="*/ 2 w 11"/>
                <a:gd name="T1" fmla="*/ 12 h 12"/>
                <a:gd name="T2" fmla="*/ 2 w 11"/>
                <a:gd name="T3" fmla="*/ 8 h 12"/>
                <a:gd name="T4" fmla="*/ 1 w 11"/>
                <a:gd name="T5" fmla="*/ 3 h 12"/>
                <a:gd name="T6" fmla="*/ 8 w 11"/>
                <a:gd name="T7" fmla="*/ 3 h 12"/>
                <a:gd name="T8" fmla="*/ 9 w 11"/>
                <a:gd name="T9" fmla="*/ 5 h 12"/>
                <a:gd name="T10" fmla="*/ 8 w 11"/>
                <a:gd name="T11" fmla="*/ 11 h 12"/>
                <a:gd name="T12" fmla="*/ 2 w 11"/>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1" h="12">
                  <a:moveTo>
                    <a:pt x="2" y="12"/>
                  </a:moveTo>
                  <a:cubicBezTo>
                    <a:pt x="0" y="11"/>
                    <a:pt x="1" y="10"/>
                    <a:pt x="2" y="8"/>
                  </a:cubicBezTo>
                  <a:cubicBezTo>
                    <a:pt x="2" y="7"/>
                    <a:pt x="1" y="5"/>
                    <a:pt x="1" y="3"/>
                  </a:cubicBezTo>
                  <a:cubicBezTo>
                    <a:pt x="2" y="0"/>
                    <a:pt x="6" y="2"/>
                    <a:pt x="8" y="3"/>
                  </a:cubicBezTo>
                  <a:cubicBezTo>
                    <a:pt x="8" y="3"/>
                    <a:pt x="9" y="4"/>
                    <a:pt x="9" y="5"/>
                  </a:cubicBezTo>
                  <a:cubicBezTo>
                    <a:pt x="10" y="7"/>
                    <a:pt x="11" y="10"/>
                    <a:pt x="8" y="11"/>
                  </a:cubicBezTo>
                  <a:cubicBezTo>
                    <a:pt x="6" y="12"/>
                    <a:pt x="4" y="12"/>
                    <a:pt x="2" y="12"/>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59" name="Freeform 127"/>
            <p:cNvSpPr/>
            <p:nvPr userDrawn="1"/>
          </p:nvSpPr>
          <p:spPr bwMode="auto">
            <a:xfrm>
              <a:off x="1148" y="686"/>
              <a:ext cx="51" cy="45"/>
            </a:xfrm>
            <a:custGeom>
              <a:avLst/>
              <a:gdLst>
                <a:gd name="T0" fmla="*/ 7 w 41"/>
                <a:gd name="T1" fmla="*/ 35 h 36"/>
                <a:gd name="T2" fmla="*/ 7 w 41"/>
                <a:gd name="T3" fmla="*/ 35 h 36"/>
                <a:gd name="T4" fmla="*/ 7 w 41"/>
                <a:gd name="T5" fmla="*/ 34 h 36"/>
                <a:gd name="T6" fmla="*/ 15 w 41"/>
                <a:gd name="T7" fmla="*/ 32 h 36"/>
                <a:gd name="T8" fmla="*/ 20 w 41"/>
                <a:gd name="T9" fmla="*/ 28 h 36"/>
                <a:gd name="T10" fmla="*/ 6 w 41"/>
                <a:gd name="T11" fmla="*/ 29 h 36"/>
                <a:gd name="T12" fmla="*/ 2 w 41"/>
                <a:gd name="T13" fmla="*/ 26 h 36"/>
                <a:gd name="T14" fmla="*/ 2 w 41"/>
                <a:gd name="T15" fmla="*/ 26 h 36"/>
                <a:gd name="T16" fmla="*/ 3 w 41"/>
                <a:gd name="T17" fmla="*/ 21 h 36"/>
                <a:gd name="T18" fmla="*/ 19 w 41"/>
                <a:gd name="T19" fmla="*/ 21 h 36"/>
                <a:gd name="T20" fmla="*/ 24 w 41"/>
                <a:gd name="T21" fmla="*/ 20 h 36"/>
                <a:gd name="T22" fmla="*/ 29 w 41"/>
                <a:gd name="T23" fmla="*/ 3 h 36"/>
                <a:gd name="T24" fmla="*/ 35 w 41"/>
                <a:gd name="T25" fmla="*/ 6 h 36"/>
                <a:gd name="T26" fmla="*/ 36 w 41"/>
                <a:gd name="T27" fmla="*/ 7 h 36"/>
                <a:gd name="T28" fmla="*/ 36 w 41"/>
                <a:gd name="T29" fmla="*/ 7 h 36"/>
                <a:gd name="T30" fmla="*/ 35 w 41"/>
                <a:gd name="T31" fmla="*/ 11 h 36"/>
                <a:gd name="T32" fmla="*/ 31 w 41"/>
                <a:gd name="T33" fmla="*/ 20 h 36"/>
                <a:gd name="T34" fmla="*/ 40 w 41"/>
                <a:gd name="T35" fmla="*/ 19 h 36"/>
                <a:gd name="T36" fmla="*/ 38 w 41"/>
                <a:gd name="T37" fmla="*/ 23 h 36"/>
                <a:gd name="T38" fmla="*/ 29 w 41"/>
                <a:gd name="T39" fmla="*/ 24 h 36"/>
                <a:gd name="T40" fmla="*/ 23 w 41"/>
                <a:gd name="T41" fmla="*/ 32 h 36"/>
                <a:gd name="T42" fmla="*/ 21 w 41"/>
                <a:gd name="T43" fmla="*/ 34 h 36"/>
                <a:gd name="T44" fmla="*/ 14 w 41"/>
                <a:gd name="T45" fmla="*/ 35 h 36"/>
                <a:gd name="T46" fmla="*/ 7 w 41"/>
                <a:gd name="T47" fmla="*/ 3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36">
                  <a:moveTo>
                    <a:pt x="7" y="35"/>
                  </a:moveTo>
                  <a:cubicBezTo>
                    <a:pt x="7" y="35"/>
                    <a:pt x="7" y="35"/>
                    <a:pt x="7" y="35"/>
                  </a:cubicBezTo>
                  <a:cubicBezTo>
                    <a:pt x="7" y="35"/>
                    <a:pt x="7" y="35"/>
                    <a:pt x="7" y="34"/>
                  </a:cubicBezTo>
                  <a:cubicBezTo>
                    <a:pt x="8" y="34"/>
                    <a:pt x="15" y="32"/>
                    <a:pt x="15" y="32"/>
                  </a:cubicBezTo>
                  <a:cubicBezTo>
                    <a:pt x="17" y="31"/>
                    <a:pt x="19" y="30"/>
                    <a:pt x="20" y="28"/>
                  </a:cubicBezTo>
                  <a:cubicBezTo>
                    <a:pt x="15" y="28"/>
                    <a:pt x="11" y="30"/>
                    <a:pt x="6" y="29"/>
                  </a:cubicBezTo>
                  <a:cubicBezTo>
                    <a:pt x="4" y="28"/>
                    <a:pt x="3" y="27"/>
                    <a:pt x="2" y="26"/>
                  </a:cubicBezTo>
                  <a:cubicBezTo>
                    <a:pt x="2" y="26"/>
                    <a:pt x="2" y="26"/>
                    <a:pt x="2" y="26"/>
                  </a:cubicBezTo>
                  <a:cubicBezTo>
                    <a:pt x="0" y="24"/>
                    <a:pt x="0" y="22"/>
                    <a:pt x="3" y="21"/>
                  </a:cubicBezTo>
                  <a:cubicBezTo>
                    <a:pt x="7" y="23"/>
                    <a:pt x="15" y="22"/>
                    <a:pt x="19" y="21"/>
                  </a:cubicBezTo>
                  <a:cubicBezTo>
                    <a:pt x="20" y="21"/>
                    <a:pt x="23" y="21"/>
                    <a:pt x="24" y="20"/>
                  </a:cubicBezTo>
                  <a:cubicBezTo>
                    <a:pt x="26" y="15"/>
                    <a:pt x="27" y="9"/>
                    <a:pt x="29" y="3"/>
                  </a:cubicBezTo>
                  <a:cubicBezTo>
                    <a:pt x="31" y="0"/>
                    <a:pt x="33" y="3"/>
                    <a:pt x="35" y="6"/>
                  </a:cubicBezTo>
                  <a:cubicBezTo>
                    <a:pt x="35" y="6"/>
                    <a:pt x="36" y="6"/>
                    <a:pt x="36" y="7"/>
                  </a:cubicBezTo>
                  <a:cubicBezTo>
                    <a:pt x="36" y="7"/>
                    <a:pt x="36" y="7"/>
                    <a:pt x="36" y="7"/>
                  </a:cubicBezTo>
                  <a:cubicBezTo>
                    <a:pt x="37" y="9"/>
                    <a:pt x="37" y="10"/>
                    <a:pt x="35" y="11"/>
                  </a:cubicBezTo>
                  <a:cubicBezTo>
                    <a:pt x="33" y="14"/>
                    <a:pt x="32" y="17"/>
                    <a:pt x="31" y="20"/>
                  </a:cubicBezTo>
                  <a:cubicBezTo>
                    <a:pt x="34" y="20"/>
                    <a:pt x="37" y="18"/>
                    <a:pt x="40" y="19"/>
                  </a:cubicBezTo>
                  <a:cubicBezTo>
                    <a:pt x="41" y="21"/>
                    <a:pt x="40" y="22"/>
                    <a:pt x="38" y="23"/>
                  </a:cubicBezTo>
                  <a:cubicBezTo>
                    <a:pt x="36" y="23"/>
                    <a:pt x="33" y="24"/>
                    <a:pt x="29" y="24"/>
                  </a:cubicBezTo>
                  <a:cubicBezTo>
                    <a:pt x="28" y="27"/>
                    <a:pt x="26" y="30"/>
                    <a:pt x="23" y="32"/>
                  </a:cubicBezTo>
                  <a:cubicBezTo>
                    <a:pt x="23" y="33"/>
                    <a:pt x="21" y="34"/>
                    <a:pt x="21" y="34"/>
                  </a:cubicBezTo>
                  <a:cubicBezTo>
                    <a:pt x="19" y="34"/>
                    <a:pt x="17" y="35"/>
                    <a:pt x="14" y="35"/>
                  </a:cubicBezTo>
                  <a:cubicBezTo>
                    <a:pt x="8" y="36"/>
                    <a:pt x="8" y="35"/>
                    <a:pt x="7" y="3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60" name="Freeform 128"/>
            <p:cNvSpPr/>
            <p:nvPr userDrawn="1"/>
          </p:nvSpPr>
          <p:spPr bwMode="auto">
            <a:xfrm>
              <a:off x="1063" y="714"/>
              <a:ext cx="20" cy="41"/>
            </a:xfrm>
            <a:custGeom>
              <a:avLst/>
              <a:gdLst>
                <a:gd name="T0" fmla="*/ 7 w 16"/>
                <a:gd name="T1" fmla="*/ 33 h 33"/>
                <a:gd name="T2" fmla="*/ 0 w 16"/>
                <a:gd name="T3" fmla="*/ 30 h 33"/>
                <a:gd name="T4" fmla="*/ 0 w 16"/>
                <a:gd name="T5" fmla="*/ 28 h 33"/>
                <a:gd name="T6" fmla="*/ 10 w 16"/>
                <a:gd name="T7" fmla="*/ 11 h 33"/>
                <a:gd name="T8" fmla="*/ 12 w 16"/>
                <a:gd name="T9" fmla="*/ 3 h 33"/>
                <a:gd name="T10" fmla="*/ 12 w 16"/>
                <a:gd name="T11" fmla="*/ 2 h 33"/>
                <a:gd name="T12" fmla="*/ 12 w 16"/>
                <a:gd name="T13" fmla="*/ 2 h 33"/>
                <a:gd name="T14" fmla="*/ 15 w 16"/>
                <a:gd name="T15" fmla="*/ 2 h 33"/>
                <a:gd name="T16" fmla="*/ 14 w 16"/>
                <a:gd name="T17" fmla="*/ 7 h 33"/>
                <a:gd name="T18" fmla="*/ 13 w 16"/>
                <a:gd name="T19" fmla="*/ 16 h 33"/>
                <a:gd name="T20" fmla="*/ 13 w 16"/>
                <a:gd name="T21" fmla="*/ 19 h 33"/>
                <a:gd name="T22" fmla="*/ 11 w 16"/>
                <a:gd name="T23" fmla="*/ 26 h 33"/>
                <a:gd name="T24" fmla="*/ 9 w 16"/>
                <a:gd name="T25" fmla="*/ 33 h 33"/>
                <a:gd name="T26" fmla="*/ 7 w 16"/>
                <a:gd name="T27"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33">
                  <a:moveTo>
                    <a:pt x="7" y="33"/>
                  </a:moveTo>
                  <a:cubicBezTo>
                    <a:pt x="5" y="33"/>
                    <a:pt x="2" y="31"/>
                    <a:pt x="0" y="30"/>
                  </a:cubicBezTo>
                  <a:cubicBezTo>
                    <a:pt x="0" y="30"/>
                    <a:pt x="0" y="29"/>
                    <a:pt x="0" y="28"/>
                  </a:cubicBezTo>
                  <a:cubicBezTo>
                    <a:pt x="4" y="23"/>
                    <a:pt x="7" y="17"/>
                    <a:pt x="10" y="11"/>
                  </a:cubicBezTo>
                  <a:cubicBezTo>
                    <a:pt x="11" y="8"/>
                    <a:pt x="11" y="5"/>
                    <a:pt x="12" y="3"/>
                  </a:cubicBezTo>
                  <a:cubicBezTo>
                    <a:pt x="12" y="3"/>
                    <a:pt x="12" y="3"/>
                    <a:pt x="12" y="2"/>
                  </a:cubicBezTo>
                  <a:cubicBezTo>
                    <a:pt x="12" y="2"/>
                    <a:pt x="12" y="2"/>
                    <a:pt x="12" y="2"/>
                  </a:cubicBezTo>
                  <a:cubicBezTo>
                    <a:pt x="13" y="1"/>
                    <a:pt x="14" y="0"/>
                    <a:pt x="15" y="2"/>
                  </a:cubicBezTo>
                  <a:cubicBezTo>
                    <a:pt x="16" y="3"/>
                    <a:pt x="14" y="5"/>
                    <a:pt x="14" y="7"/>
                  </a:cubicBezTo>
                  <a:cubicBezTo>
                    <a:pt x="14" y="10"/>
                    <a:pt x="14" y="13"/>
                    <a:pt x="13" y="16"/>
                  </a:cubicBezTo>
                  <a:cubicBezTo>
                    <a:pt x="13" y="16"/>
                    <a:pt x="13" y="16"/>
                    <a:pt x="13" y="19"/>
                  </a:cubicBezTo>
                  <a:cubicBezTo>
                    <a:pt x="12" y="21"/>
                    <a:pt x="11" y="24"/>
                    <a:pt x="11" y="26"/>
                  </a:cubicBezTo>
                  <a:cubicBezTo>
                    <a:pt x="10" y="28"/>
                    <a:pt x="10" y="31"/>
                    <a:pt x="9" y="33"/>
                  </a:cubicBezTo>
                  <a:cubicBezTo>
                    <a:pt x="8" y="33"/>
                    <a:pt x="8" y="33"/>
                    <a:pt x="7"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61" name="Freeform 129"/>
            <p:cNvSpPr/>
            <p:nvPr userDrawn="1"/>
          </p:nvSpPr>
          <p:spPr bwMode="auto">
            <a:xfrm>
              <a:off x="1090" y="704"/>
              <a:ext cx="16" cy="16"/>
            </a:xfrm>
            <a:custGeom>
              <a:avLst/>
              <a:gdLst>
                <a:gd name="T0" fmla="*/ 8 w 13"/>
                <a:gd name="T1" fmla="*/ 12 h 13"/>
                <a:gd name="T2" fmla="*/ 1 w 13"/>
                <a:gd name="T3" fmla="*/ 10 h 13"/>
                <a:gd name="T4" fmla="*/ 1 w 13"/>
                <a:gd name="T5" fmla="*/ 8 h 13"/>
                <a:gd name="T6" fmla="*/ 2 w 13"/>
                <a:gd name="T7" fmla="*/ 7 h 13"/>
                <a:gd name="T8" fmla="*/ 5 w 13"/>
                <a:gd name="T9" fmla="*/ 6 h 13"/>
                <a:gd name="T10" fmla="*/ 12 w 13"/>
                <a:gd name="T11" fmla="*/ 1 h 13"/>
                <a:gd name="T12" fmla="*/ 8 w 13"/>
                <a:gd name="T13" fmla="*/ 12 h 13"/>
              </a:gdLst>
              <a:ahLst/>
              <a:cxnLst>
                <a:cxn ang="0">
                  <a:pos x="T0" y="T1"/>
                </a:cxn>
                <a:cxn ang="0">
                  <a:pos x="T2" y="T3"/>
                </a:cxn>
                <a:cxn ang="0">
                  <a:pos x="T4" y="T5"/>
                </a:cxn>
                <a:cxn ang="0">
                  <a:pos x="T6" y="T7"/>
                </a:cxn>
                <a:cxn ang="0">
                  <a:pos x="T8" y="T9"/>
                </a:cxn>
                <a:cxn ang="0">
                  <a:pos x="T10" y="T11"/>
                </a:cxn>
                <a:cxn ang="0">
                  <a:pos x="T12" y="T13"/>
                </a:cxn>
              </a:cxnLst>
              <a:rect l="0" t="0" r="r" b="b"/>
              <a:pathLst>
                <a:path w="13" h="13">
                  <a:moveTo>
                    <a:pt x="8" y="12"/>
                  </a:moveTo>
                  <a:cubicBezTo>
                    <a:pt x="5" y="13"/>
                    <a:pt x="3" y="12"/>
                    <a:pt x="1" y="10"/>
                  </a:cubicBezTo>
                  <a:cubicBezTo>
                    <a:pt x="0" y="10"/>
                    <a:pt x="1" y="9"/>
                    <a:pt x="1" y="8"/>
                  </a:cubicBezTo>
                  <a:cubicBezTo>
                    <a:pt x="1" y="8"/>
                    <a:pt x="1" y="8"/>
                    <a:pt x="2" y="7"/>
                  </a:cubicBezTo>
                  <a:cubicBezTo>
                    <a:pt x="3" y="7"/>
                    <a:pt x="3" y="7"/>
                    <a:pt x="5" y="6"/>
                  </a:cubicBezTo>
                  <a:cubicBezTo>
                    <a:pt x="6" y="5"/>
                    <a:pt x="10" y="0"/>
                    <a:pt x="12" y="1"/>
                  </a:cubicBezTo>
                  <a:cubicBezTo>
                    <a:pt x="13" y="4"/>
                    <a:pt x="11" y="10"/>
                    <a:pt x="8" y="12"/>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62" name="Freeform 130"/>
            <p:cNvSpPr/>
            <p:nvPr userDrawn="1"/>
          </p:nvSpPr>
          <p:spPr bwMode="auto">
            <a:xfrm>
              <a:off x="1062" y="710"/>
              <a:ext cx="12" cy="14"/>
            </a:xfrm>
            <a:custGeom>
              <a:avLst/>
              <a:gdLst>
                <a:gd name="T0" fmla="*/ 5 w 10"/>
                <a:gd name="T1" fmla="*/ 11 h 11"/>
                <a:gd name="T2" fmla="*/ 1 w 10"/>
                <a:gd name="T3" fmla="*/ 4 h 11"/>
                <a:gd name="T4" fmla="*/ 6 w 10"/>
                <a:gd name="T5" fmla="*/ 1 h 11"/>
                <a:gd name="T6" fmla="*/ 10 w 10"/>
                <a:gd name="T7" fmla="*/ 6 h 11"/>
                <a:gd name="T8" fmla="*/ 5 w 10"/>
                <a:gd name="T9" fmla="*/ 11 h 11"/>
              </a:gdLst>
              <a:ahLst/>
              <a:cxnLst>
                <a:cxn ang="0">
                  <a:pos x="T0" y="T1"/>
                </a:cxn>
                <a:cxn ang="0">
                  <a:pos x="T2" y="T3"/>
                </a:cxn>
                <a:cxn ang="0">
                  <a:pos x="T4" y="T5"/>
                </a:cxn>
                <a:cxn ang="0">
                  <a:pos x="T6" y="T7"/>
                </a:cxn>
                <a:cxn ang="0">
                  <a:pos x="T8" y="T9"/>
                </a:cxn>
              </a:cxnLst>
              <a:rect l="0" t="0" r="r" b="b"/>
              <a:pathLst>
                <a:path w="10" h="11">
                  <a:moveTo>
                    <a:pt x="5" y="11"/>
                  </a:moveTo>
                  <a:cubicBezTo>
                    <a:pt x="3" y="10"/>
                    <a:pt x="1" y="5"/>
                    <a:pt x="1" y="4"/>
                  </a:cubicBezTo>
                  <a:cubicBezTo>
                    <a:pt x="0" y="1"/>
                    <a:pt x="3" y="0"/>
                    <a:pt x="6" y="1"/>
                  </a:cubicBezTo>
                  <a:cubicBezTo>
                    <a:pt x="9" y="2"/>
                    <a:pt x="10" y="3"/>
                    <a:pt x="10" y="6"/>
                  </a:cubicBezTo>
                  <a:cubicBezTo>
                    <a:pt x="8" y="9"/>
                    <a:pt x="7" y="9"/>
                    <a:pt x="5" y="1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63" name="Freeform 131"/>
            <p:cNvSpPr/>
            <p:nvPr userDrawn="1"/>
          </p:nvSpPr>
          <p:spPr bwMode="auto">
            <a:xfrm>
              <a:off x="1085" y="688"/>
              <a:ext cx="19" cy="21"/>
            </a:xfrm>
            <a:custGeom>
              <a:avLst/>
              <a:gdLst>
                <a:gd name="T0" fmla="*/ 8 w 15"/>
                <a:gd name="T1" fmla="*/ 17 h 17"/>
                <a:gd name="T2" fmla="*/ 7 w 15"/>
                <a:gd name="T3" fmla="*/ 12 h 17"/>
                <a:gd name="T4" fmla="*/ 5 w 15"/>
                <a:gd name="T5" fmla="*/ 13 h 17"/>
                <a:gd name="T6" fmla="*/ 0 w 15"/>
                <a:gd name="T7" fmla="*/ 9 h 17"/>
                <a:gd name="T8" fmla="*/ 2 w 15"/>
                <a:gd name="T9" fmla="*/ 7 h 17"/>
                <a:gd name="T10" fmla="*/ 7 w 15"/>
                <a:gd name="T11" fmla="*/ 2 h 17"/>
                <a:gd name="T12" fmla="*/ 14 w 15"/>
                <a:gd name="T13" fmla="*/ 4 h 17"/>
                <a:gd name="T14" fmla="*/ 13 w 15"/>
                <a:gd name="T15" fmla="*/ 11 h 17"/>
                <a:gd name="T16" fmla="*/ 9 w 15"/>
                <a:gd name="T17" fmla="*/ 16 h 17"/>
                <a:gd name="T18" fmla="*/ 8 w 15"/>
                <a:gd name="T19"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7">
                  <a:moveTo>
                    <a:pt x="8" y="17"/>
                  </a:moveTo>
                  <a:cubicBezTo>
                    <a:pt x="7" y="16"/>
                    <a:pt x="8" y="12"/>
                    <a:pt x="7" y="12"/>
                  </a:cubicBezTo>
                  <a:cubicBezTo>
                    <a:pt x="6" y="12"/>
                    <a:pt x="6" y="13"/>
                    <a:pt x="5" y="13"/>
                  </a:cubicBezTo>
                  <a:cubicBezTo>
                    <a:pt x="3" y="13"/>
                    <a:pt x="0" y="11"/>
                    <a:pt x="0" y="9"/>
                  </a:cubicBezTo>
                  <a:cubicBezTo>
                    <a:pt x="1" y="7"/>
                    <a:pt x="0" y="8"/>
                    <a:pt x="2" y="7"/>
                  </a:cubicBezTo>
                  <a:cubicBezTo>
                    <a:pt x="4" y="5"/>
                    <a:pt x="6" y="3"/>
                    <a:pt x="7" y="2"/>
                  </a:cubicBezTo>
                  <a:cubicBezTo>
                    <a:pt x="11" y="0"/>
                    <a:pt x="13" y="1"/>
                    <a:pt x="14" y="4"/>
                  </a:cubicBezTo>
                  <a:cubicBezTo>
                    <a:pt x="15" y="7"/>
                    <a:pt x="14" y="9"/>
                    <a:pt x="13" y="11"/>
                  </a:cubicBezTo>
                  <a:cubicBezTo>
                    <a:pt x="12" y="13"/>
                    <a:pt x="10" y="15"/>
                    <a:pt x="9" y="16"/>
                  </a:cubicBezTo>
                  <a:cubicBezTo>
                    <a:pt x="9" y="17"/>
                    <a:pt x="8" y="17"/>
                    <a:pt x="8" y="1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64" name="Freeform 132"/>
            <p:cNvSpPr/>
            <p:nvPr userDrawn="1"/>
          </p:nvSpPr>
          <p:spPr bwMode="auto">
            <a:xfrm>
              <a:off x="1062" y="693"/>
              <a:ext cx="12" cy="13"/>
            </a:xfrm>
            <a:custGeom>
              <a:avLst/>
              <a:gdLst>
                <a:gd name="T0" fmla="*/ 4 w 10"/>
                <a:gd name="T1" fmla="*/ 11 h 11"/>
                <a:gd name="T2" fmla="*/ 3 w 10"/>
                <a:gd name="T3" fmla="*/ 9 h 11"/>
                <a:gd name="T4" fmla="*/ 1 w 10"/>
                <a:gd name="T5" fmla="*/ 6 h 11"/>
                <a:gd name="T6" fmla="*/ 1 w 10"/>
                <a:gd name="T7" fmla="*/ 0 h 11"/>
                <a:gd name="T8" fmla="*/ 10 w 10"/>
                <a:gd name="T9" fmla="*/ 5 h 11"/>
                <a:gd name="T10" fmla="*/ 4 w 10"/>
                <a:gd name="T11" fmla="*/ 11 h 11"/>
              </a:gdLst>
              <a:ahLst/>
              <a:cxnLst>
                <a:cxn ang="0">
                  <a:pos x="T0" y="T1"/>
                </a:cxn>
                <a:cxn ang="0">
                  <a:pos x="T2" y="T3"/>
                </a:cxn>
                <a:cxn ang="0">
                  <a:pos x="T4" y="T5"/>
                </a:cxn>
                <a:cxn ang="0">
                  <a:pos x="T6" y="T7"/>
                </a:cxn>
                <a:cxn ang="0">
                  <a:pos x="T8" y="T9"/>
                </a:cxn>
                <a:cxn ang="0">
                  <a:pos x="T10" y="T11"/>
                </a:cxn>
              </a:cxnLst>
              <a:rect l="0" t="0" r="r" b="b"/>
              <a:pathLst>
                <a:path w="10" h="11">
                  <a:moveTo>
                    <a:pt x="4" y="11"/>
                  </a:moveTo>
                  <a:cubicBezTo>
                    <a:pt x="3" y="11"/>
                    <a:pt x="3" y="10"/>
                    <a:pt x="3" y="9"/>
                  </a:cubicBezTo>
                  <a:cubicBezTo>
                    <a:pt x="3" y="8"/>
                    <a:pt x="2" y="7"/>
                    <a:pt x="1" y="6"/>
                  </a:cubicBezTo>
                  <a:cubicBezTo>
                    <a:pt x="0" y="3"/>
                    <a:pt x="0" y="2"/>
                    <a:pt x="1" y="0"/>
                  </a:cubicBezTo>
                  <a:cubicBezTo>
                    <a:pt x="3" y="0"/>
                    <a:pt x="10" y="1"/>
                    <a:pt x="10" y="5"/>
                  </a:cubicBezTo>
                  <a:cubicBezTo>
                    <a:pt x="9" y="7"/>
                    <a:pt x="6" y="10"/>
                    <a:pt x="4" y="1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65" name="Freeform 133"/>
            <p:cNvSpPr/>
            <p:nvPr userDrawn="1"/>
          </p:nvSpPr>
          <p:spPr bwMode="auto">
            <a:xfrm>
              <a:off x="996" y="742"/>
              <a:ext cx="47" cy="83"/>
            </a:xfrm>
            <a:custGeom>
              <a:avLst/>
              <a:gdLst>
                <a:gd name="T0" fmla="*/ 22 w 38"/>
                <a:gd name="T1" fmla="*/ 64 h 66"/>
                <a:gd name="T2" fmla="*/ 13 w 38"/>
                <a:gd name="T3" fmla="*/ 61 h 66"/>
                <a:gd name="T4" fmla="*/ 13 w 38"/>
                <a:gd name="T5" fmla="*/ 59 h 66"/>
                <a:gd name="T6" fmla="*/ 13 w 38"/>
                <a:gd name="T7" fmla="*/ 59 h 66"/>
                <a:gd name="T8" fmla="*/ 8 w 38"/>
                <a:gd name="T9" fmla="*/ 46 h 66"/>
                <a:gd name="T10" fmla="*/ 7 w 38"/>
                <a:gd name="T11" fmla="*/ 42 h 66"/>
                <a:gd name="T12" fmla="*/ 10 w 38"/>
                <a:gd name="T13" fmla="*/ 44 h 66"/>
                <a:gd name="T14" fmla="*/ 11 w 38"/>
                <a:gd name="T15" fmla="*/ 42 h 66"/>
                <a:gd name="T16" fmla="*/ 11 w 38"/>
                <a:gd name="T17" fmla="*/ 33 h 66"/>
                <a:gd name="T18" fmla="*/ 8 w 38"/>
                <a:gd name="T19" fmla="*/ 31 h 66"/>
                <a:gd name="T20" fmla="*/ 4 w 38"/>
                <a:gd name="T21" fmla="*/ 34 h 66"/>
                <a:gd name="T22" fmla="*/ 4 w 38"/>
                <a:gd name="T23" fmla="*/ 27 h 66"/>
                <a:gd name="T24" fmla="*/ 0 w 38"/>
                <a:gd name="T25" fmla="*/ 23 h 66"/>
                <a:gd name="T26" fmla="*/ 6 w 38"/>
                <a:gd name="T27" fmla="*/ 21 h 66"/>
                <a:gd name="T28" fmla="*/ 10 w 38"/>
                <a:gd name="T29" fmla="*/ 23 h 66"/>
                <a:gd name="T30" fmla="*/ 11 w 38"/>
                <a:gd name="T31" fmla="*/ 25 h 66"/>
                <a:gd name="T32" fmla="*/ 12 w 38"/>
                <a:gd name="T33" fmla="*/ 24 h 66"/>
                <a:gd name="T34" fmla="*/ 12 w 38"/>
                <a:gd name="T35" fmla="*/ 17 h 66"/>
                <a:gd name="T36" fmla="*/ 7 w 38"/>
                <a:gd name="T37" fmla="*/ 10 h 66"/>
                <a:gd name="T38" fmla="*/ 12 w 38"/>
                <a:gd name="T39" fmla="*/ 6 h 66"/>
                <a:gd name="T40" fmla="*/ 13 w 38"/>
                <a:gd name="T41" fmla="*/ 1 h 66"/>
                <a:gd name="T42" fmla="*/ 14 w 38"/>
                <a:gd name="T43" fmla="*/ 0 h 66"/>
                <a:gd name="T44" fmla="*/ 16 w 38"/>
                <a:gd name="T45" fmla="*/ 1 h 66"/>
                <a:gd name="T46" fmla="*/ 18 w 38"/>
                <a:gd name="T47" fmla="*/ 12 h 66"/>
                <a:gd name="T48" fmla="*/ 17 w 38"/>
                <a:gd name="T49" fmla="*/ 8 h 66"/>
                <a:gd name="T50" fmla="*/ 22 w 38"/>
                <a:gd name="T51" fmla="*/ 3 h 66"/>
                <a:gd name="T52" fmla="*/ 25 w 38"/>
                <a:gd name="T53" fmla="*/ 7 h 66"/>
                <a:gd name="T54" fmla="*/ 26 w 38"/>
                <a:gd name="T55" fmla="*/ 8 h 66"/>
                <a:gd name="T56" fmla="*/ 35 w 38"/>
                <a:gd name="T57" fmla="*/ 15 h 66"/>
                <a:gd name="T58" fmla="*/ 37 w 38"/>
                <a:gd name="T59" fmla="*/ 19 h 66"/>
                <a:gd name="T60" fmla="*/ 37 w 38"/>
                <a:gd name="T61" fmla="*/ 20 h 66"/>
                <a:gd name="T62" fmla="*/ 37 w 38"/>
                <a:gd name="T63" fmla="*/ 20 h 66"/>
                <a:gd name="T64" fmla="*/ 36 w 38"/>
                <a:gd name="T65" fmla="*/ 24 h 66"/>
                <a:gd name="T66" fmla="*/ 23 w 38"/>
                <a:gd name="T67" fmla="*/ 15 h 66"/>
                <a:gd name="T68" fmla="*/ 23 w 38"/>
                <a:gd name="T69" fmla="*/ 15 h 66"/>
                <a:gd name="T70" fmla="*/ 27 w 38"/>
                <a:gd name="T71" fmla="*/ 25 h 66"/>
                <a:gd name="T72" fmla="*/ 22 w 38"/>
                <a:gd name="T73" fmla="*/ 27 h 66"/>
                <a:gd name="T74" fmla="*/ 22 w 38"/>
                <a:gd name="T75" fmla="*/ 25 h 66"/>
                <a:gd name="T76" fmla="*/ 15 w 38"/>
                <a:gd name="T77" fmla="*/ 19 h 66"/>
                <a:gd name="T78" fmla="*/ 16 w 38"/>
                <a:gd name="T79" fmla="*/ 27 h 66"/>
                <a:gd name="T80" fmla="*/ 17 w 38"/>
                <a:gd name="T81" fmla="*/ 31 h 66"/>
                <a:gd name="T82" fmla="*/ 21 w 38"/>
                <a:gd name="T83" fmla="*/ 35 h 66"/>
                <a:gd name="T84" fmla="*/ 22 w 38"/>
                <a:gd name="T85" fmla="*/ 38 h 66"/>
                <a:gd name="T86" fmla="*/ 22 w 38"/>
                <a:gd name="T87" fmla="*/ 39 h 66"/>
                <a:gd name="T88" fmla="*/ 22 w 38"/>
                <a:gd name="T89" fmla="*/ 44 h 66"/>
                <a:gd name="T90" fmla="*/ 21 w 38"/>
                <a:gd name="T91" fmla="*/ 44 h 66"/>
                <a:gd name="T92" fmla="*/ 17 w 38"/>
                <a:gd name="T93" fmla="*/ 38 h 66"/>
                <a:gd name="T94" fmla="*/ 16 w 38"/>
                <a:gd name="T95" fmla="*/ 44 h 66"/>
                <a:gd name="T96" fmla="*/ 13 w 38"/>
                <a:gd name="T97" fmla="*/ 46 h 66"/>
                <a:gd name="T98" fmla="*/ 13 w 38"/>
                <a:gd name="T99" fmla="*/ 46 h 66"/>
                <a:gd name="T100" fmla="*/ 12 w 38"/>
                <a:gd name="T101" fmla="*/ 47 h 66"/>
                <a:gd name="T102" fmla="*/ 14 w 38"/>
                <a:gd name="T103" fmla="*/ 50 h 66"/>
                <a:gd name="T104" fmla="*/ 23 w 38"/>
                <a:gd name="T105" fmla="*/ 62 h 66"/>
                <a:gd name="T106" fmla="*/ 22 w 38"/>
                <a:gd name="T107" fmla="*/ 6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8" h="66">
                  <a:moveTo>
                    <a:pt x="22" y="64"/>
                  </a:moveTo>
                  <a:cubicBezTo>
                    <a:pt x="19" y="66"/>
                    <a:pt x="12" y="65"/>
                    <a:pt x="13" y="61"/>
                  </a:cubicBezTo>
                  <a:cubicBezTo>
                    <a:pt x="13" y="60"/>
                    <a:pt x="13" y="59"/>
                    <a:pt x="13" y="59"/>
                  </a:cubicBezTo>
                  <a:cubicBezTo>
                    <a:pt x="13" y="59"/>
                    <a:pt x="13" y="59"/>
                    <a:pt x="13" y="59"/>
                  </a:cubicBezTo>
                  <a:cubicBezTo>
                    <a:pt x="12" y="54"/>
                    <a:pt x="9" y="50"/>
                    <a:pt x="8" y="46"/>
                  </a:cubicBezTo>
                  <a:cubicBezTo>
                    <a:pt x="7" y="45"/>
                    <a:pt x="7" y="44"/>
                    <a:pt x="7" y="42"/>
                  </a:cubicBezTo>
                  <a:cubicBezTo>
                    <a:pt x="8" y="42"/>
                    <a:pt x="9" y="43"/>
                    <a:pt x="10" y="44"/>
                  </a:cubicBezTo>
                  <a:cubicBezTo>
                    <a:pt x="11" y="44"/>
                    <a:pt x="11" y="43"/>
                    <a:pt x="11" y="42"/>
                  </a:cubicBezTo>
                  <a:cubicBezTo>
                    <a:pt x="11" y="39"/>
                    <a:pt x="11" y="36"/>
                    <a:pt x="11" y="33"/>
                  </a:cubicBezTo>
                  <a:cubicBezTo>
                    <a:pt x="10" y="32"/>
                    <a:pt x="9" y="31"/>
                    <a:pt x="8" y="31"/>
                  </a:cubicBezTo>
                  <a:cubicBezTo>
                    <a:pt x="8" y="32"/>
                    <a:pt x="6" y="37"/>
                    <a:pt x="4" y="34"/>
                  </a:cubicBezTo>
                  <a:cubicBezTo>
                    <a:pt x="5" y="32"/>
                    <a:pt x="5" y="29"/>
                    <a:pt x="4" y="27"/>
                  </a:cubicBezTo>
                  <a:cubicBezTo>
                    <a:pt x="2" y="25"/>
                    <a:pt x="0" y="24"/>
                    <a:pt x="0" y="23"/>
                  </a:cubicBezTo>
                  <a:cubicBezTo>
                    <a:pt x="0" y="20"/>
                    <a:pt x="4" y="20"/>
                    <a:pt x="6" y="21"/>
                  </a:cubicBezTo>
                  <a:cubicBezTo>
                    <a:pt x="8" y="21"/>
                    <a:pt x="8" y="17"/>
                    <a:pt x="10" y="23"/>
                  </a:cubicBezTo>
                  <a:cubicBezTo>
                    <a:pt x="10" y="24"/>
                    <a:pt x="11" y="24"/>
                    <a:pt x="11" y="25"/>
                  </a:cubicBezTo>
                  <a:cubicBezTo>
                    <a:pt x="12" y="25"/>
                    <a:pt x="12" y="24"/>
                    <a:pt x="12" y="24"/>
                  </a:cubicBezTo>
                  <a:cubicBezTo>
                    <a:pt x="12" y="22"/>
                    <a:pt x="12" y="19"/>
                    <a:pt x="12" y="17"/>
                  </a:cubicBezTo>
                  <a:cubicBezTo>
                    <a:pt x="10" y="15"/>
                    <a:pt x="8" y="13"/>
                    <a:pt x="7" y="10"/>
                  </a:cubicBezTo>
                  <a:cubicBezTo>
                    <a:pt x="7" y="8"/>
                    <a:pt x="10" y="6"/>
                    <a:pt x="12" y="6"/>
                  </a:cubicBezTo>
                  <a:cubicBezTo>
                    <a:pt x="13" y="4"/>
                    <a:pt x="13" y="3"/>
                    <a:pt x="13" y="1"/>
                  </a:cubicBezTo>
                  <a:cubicBezTo>
                    <a:pt x="13" y="1"/>
                    <a:pt x="13" y="1"/>
                    <a:pt x="14" y="0"/>
                  </a:cubicBezTo>
                  <a:cubicBezTo>
                    <a:pt x="15" y="0"/>
                    <a:pt x="15" y="0"/>
                    <a:pt x="16" y="1"/>
                  </a:cubicBezTo>
                  <a:cubicBezTo>
                    <a:pt x="18" y="3"/>
                    <a:pt x="14" y="11"/>
                    <a:pt x="18" y="12"/>
                  </a:cubicBezTo>
                  <a:cubicBezTo>
                    <a:pt x="19" y="11"/>
                    <a:pt x="18" y="9"/>
                    <a:pt x="17" y="8"/>
                  </a:cubicBezTo>
                  <a:cubicBezTo>
                    <a:pt x="17" y="6"/>
                    <a:pt x="20" y="4"/>
                    <a:pt x="22" y="3"/>
                  </a:cubicBezTo>
                  <a:cubicBezTo>
                    <a:pt x="26" y="3"/>
                    <a:pt x="25" y="4"/>
                    <a:pt x="25" y="7"/>
                  </a:cubicBezTo>
                  <a:cubicBezTo>
                    <a:pt x="26" y="7"/>
                    <a:pt x="26" y="8"/>
                    <a:pt x="26" y="8"/>
                  </a:cubicBezTo>
                  <a:cubicBezTo>
                    <a:pt x="30" y="11"/>
                    <a:pt x="30" y="11"/>
                    <a:pt x="35" y="15"/>
                  </a:cubicBezTo>
                  <a:cubicBezTo>
                    <a:pt x="36" y="16"/>
                    <a:pt x="37" y="17"/>
                    <a:pt x="37" y="19"/>
                  </a:cubicBezTo>
                  <a:cubicBezTo>
                    <a:pt x="37" y="19"/>
                    <a:pt x="37" y="19"/>
                    <a:pt x="37" y="20"/>
                  </a:cubicBezTo>
                  <a:cubicBezTo>
                    <a:pt x="37" y="20"/>
                    <a:pt x="37" y="20"/>
                    <a:pt x="37" y="20"/>
                  </a:cubicBezTo>
                  <a:cubicBezTo>
                    <a:pt x="38" y="21"/>
                    <a:pt x="38" y="24"/>
                    <a:pt x="36" y="24"/>
                  </a:cubicBezTo>
                  <a:cubicBezTo>
                    <a:pt x="32" y="21"/>
                    <a:pt x="27" y="18"/>
                    <a:pt x="23" y="15"/>
                  </a:cubicBezTo>
                  <a:cubicBezTo>
                    <a:pt x="23" y="15"/>
                    <a:pt x="23" y="15"/>
                    <a:pt x="23" y="15"/>
                  </a:cubicBezTo>
                  <a:cubicBezTo>
                    <a:pt x="25" y="17"/>
                    <a:pt x="27" y="22"/>
                    <a:pt x="27" y="25"/>
                  </a:cubicBezTo>
                  <a:cubicBezTo>
                    <a:pt x="26" y="26"/>
                    <a:pt x="24" y="27"/>
                    <a:pt x="22" y="27"/>
                  </a:cubicBezTo>
                  <a:cubicBezTo>
                    <a:pt x="22" y="26"/>
                    <a:pt x="22" y="26"/>
                    <a:pt x="22" y="25"/>
                  </a:cubicBezTo>
                  <a:cubicBezTo>
                    <a:pt x="21" y="23"/>
                    <a:pt x="17" y="21"/>
                    <a:pt x="15" y="19"/>
                  </a:cubicBezTo>
                  <a:cubicBezTo>
                    <a:pt x="14" y="21"/>
                    <a:pt x="16" y="25"/>
                    <a:pt x="16" y="27"/>
                  </a:cubicBezTo>
                  <a:cubicBezTo>
                    <a:pt x="16" y="28"/>
                    <a:pt x="16" y="30"/>
                    <a:pt x="17" y="31"/>
                  </a:cubicBezTo>
                  <a:cubicBezTo>
                    <a:pt x="18" y="32"/>
                    <a:pt x="19" y="34"/>
                    <a:pt x="21" y="35"/>
                  </a:cubicBezTo>
                  <a:cubicBezTo>
                    <a:pt x="21" y="36"/>
                    <a:pt x="22" y="37"/>
                    <a:pt x="22" y="38"/>
                  </a:cubicBezTo>
                  <a:cubicBezTo>
                    <a:pt x="22" y="38"/>
                    <a:pt x="22" y="38"/>
                    <a:pt x="22" y="39"/>
                  </a:cubicBezTo>
                  <a:cubicBezTo>
                    <a:pt x="23" y="40"/>
                    <a:pt x="24" y="44"/>
                    <a:pt x="22" y="44"/>
                  </a:cubicBezTo>
                  <a:cubicBezTo>
                    <a:pt x="21" y="44"/>
                    <a:pt x="21" y="44"/>
                    <a:pt x="21" y="44"/>
                  </a:cubicBezTo>
                  <a:cubicBezTo>
                    <a:pt x="20" y="41"/>
                    <a:pt x="18" y="39"/>
                    <a:pt x="17" y="38"/>
                  </a:cubicBezTo>
                  <a:cubicBezTo>
                    <a:pt x="16" y="40"/>
                    <a:pt x="17" y="42"/>
                    <a:pt x="16" y="44"/>
                  </a:cubicBezTo>
                  <a:cubicBezTo>
                    <a:pt x="15" y="45"/>
                    <a:pt x="14" y="46"/>
                    <a:pt x="13" y="46"/>
                  </a:cubicBezTo>
                  <a:cubicBezTo>
                    <a:pt x="13" y="46"/>
                    <a:pt x="13" y="46"/>
                    <a:pt x="13" y="46"/>
                  </a:cubicBezTo>
                  <a:cubicBezTo>
                    <a:pt x="12" y="46"/>
                    <a:pt x="12" y="46"/>
                    <a:pt x="12" y="47"/>
                  </a:cubicBezTo>
                  <a:cubicBezTo>
                    <a:pt x="12" y="48"/>
                    <a:pt x="13" y="49"/>
                    <a:pt x="14" y="50"/>
                  </a:cubicBezTo>
                  <a:cubicBezTo>
                    <a:pt x="16" y="54"/>
                    <a:pt x="19" y="58"/>
                    <a:pt x="23" y="62"/>
                  </a:cubicBezTo>
                  <a:cubicBezTo>
                    <a:pt x="23" y="63"/>
                    <a:pt x="23" y="63"/>
                    <a:pt x="22" y="6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66" name="Freeform 134"/>
            <p:cNvSpPr/>
            <p:nvPr userDrawn="1"/>
          </p:nvSpPr>
          <p:spPr bwMode="auto">
            <a:xfrm>
              <a:off x="989" y="789"/>
              <a:ext cx="13" cy="11"/>
            </a:xfrm>
            <a:custGeom>
              <a:avLst/>
              <a:gdLst>
                <a:gd name="T0" fmla="*/ 9 w 11"/>
                <a:gd name="T1" fmla="*/ 9 h 9"/>
                <a:gd name="T2" fmla="*/ 7 w 11"/>
                <a:gd name="T3" fmla="*/ 7 h 9"/>
                <a:gd name="T4" fmla="*/ 0 w 11"/>
                <a:gd name="T5" fmla="*/ 2 h 9"/>
                <a:gd name="T6" fmla="*/ 0 w 11"/>
                <a:gd name="T7" fmla="*/ 1 h 9"/>
                <a:gd name="T8" fmla="*/ 7 w 11"/>
                <a:gd name="T9" fmla="*/ 0 h 9"/>
                <a:gd name="T10" fmla="*/ 9 w 11"/>
                <a:gd name="T11" fmla="*/ 9 h 9"/>
              </a:gdLst>
              <a:ahLst/>
              <a:cxnLst>
                <a:cxn ang="0">
                  <a:pos x="T0" y="T1"/>
                </a:cxn>
                <a:cxn ang="0">
                  <a:pos x="T2" y="T3"/>
                </a:cxn>
                <a:cxn ang="0">
                  <a:pos x="T4" y="T5"/>
                </a:cxn>
                <a:cxn ang="0">
                  <a:pos x="T6" y="T7"/>
                </a:cxn>
                <a:cxn ang="0">
                  <a:pos x="T8" y="T9"/>
                </a:cxn>
                <a:cxn ang="0">
                  <a:pos x="T10" y="T11"/>
                </a:cxn>
              </a:cxnLst>
              <a:rect l="0" t="0" r="r" b="b"/>
              <a:pathLst>
                <a:path w="11" h="9">
                  <a:moveTo>
                    <a:pt x="9" y="9"/>
                  </a:moveTo>
                  <a:cubicBezTo>
                    <a:pt x="8" y="9"/>
                    <a:pt x="7" y="8"/>
                    <a:pt x="7" y="7"/>
                  </a:cubicBezTo>
                  <a:cubicBezTo>
                    <a:pt x="3" y="6"/>
                    <a:pt x="1" y="5"/>
                    <a:pt x="0" y="2"/>
                  </a:cubicBezTo>
                  <a:cubicBezTo>
                    <a:pt x="0" y="2"/>
                    <a:pt x="0" y="2"/>
                    <a:pt x="0" y="1"/>
                  </a:cubicBezTo>
                  <a:cubicBezTo>
                    <a:pt x="2" y="1"/>
                    <a:pt x="5" y="0"/>
                    <a:pt x="7" y="0"/>
                  </a:cubicBezTo>
                  <a:cubicBezTo>
                    <a:pt x="11" y="1"/>
                    <a:pt x="10" y="6"/>
                    <a:pt x="9" y="9"/>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67" name="Freeform 135"/>
            <p:cNvSpPr/>
            <p:nvPr userDrawn="1"/>
          </p:nvSpPr>
          <p:spPr bwMode="auto">
            <a:xfrm>
              <a:off x="977" y="776"/>
              <a:ext cx="14" cy="13"/>
            </a:xfrm>
            <a:custGeom>
              <a:avLst/>
              <a:gdLst>
                <a:gd name="T0" fmla="*/ 10 w 11"/>
                <a:gd name="T1" fmla="*/ 10 h 10"/>
                <a:gd name="T2" fmla="*/ 9 w 11"/>
                <a:gd name="T3" fmla="*/ 10 h 10"/>
                <a:gd name="T4" fmla="*/ 8 w 11"/>
                <a:gd name="T5" fmla="*/ 8 h 10"/>
                <a:gd name="T6" fmla="*/ 1 w 11"/>
                <a:gd name="T7" fmla="*/ 2 h 10"/>
                <a:gd name="T8" fmla="*/ 4 w 11"/>
                <a:gd name="T9" fmla="*/ 2 h 10"/>
                <a:gd name="T10" fmla="*/ 11 w 11"/>
                <a:gd name="T11" fmla="*/ 5 h 10"/>
                <a:gd name="T12" fmla="*/ 10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10" y="10"/>
                  </a:moveTo>
                  <a:cubicBezTo>
                    <a:pt x="9" y="10"/>
                    <a:pt x="9" y="10"/>
                    <a:pt x="9" y="10"/>
                  </a:cubicBezTo>
                  <a:cubicBezTo>
                    <a:pt x="8" y="9"/>
                    <a:pt x="8" y="9"/>
                    <a:pt x="8" y="8"/>
                  </a:cubicBezTo>
                  <a:cubicBezTo>
                    <a:pt x="4" y="8"/>
                    <a:pt x="0" y="6"/>
                    <a:pt x="1" y="2"/>
                  </a:cubicBezTo>
                  <a:cubicBezTo>
                    <a:pt x="2" y="1"/>
                    <a:pt x="2" y="2"/>
                    <a:pt x="4" y="2"/>
                  </a:cubicBezTo>
                  <a:cubicBezTo>
                    <a:pt x="7" y="2"/>
                    <a:pt x="11" y="0"/>
                    <a:pt x="11" y="5"/>
                  </a:cubicBezTo>
                  <a:cubicBezTo>
                    <a:pt x="11" y="6"/>
                    <a:pt x="10" y="8"/>
                    <a:pt x="10" y="1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68" name="Freeform 136"/>
            <p:cNvSpPr/>
            <p:nvPr userDrawn="1"/>
          </p:nvSpPr>
          <p:spPr bwMode="auto">
            <a:xfrm>
              <a:off x="1048" y="786"/>
              <a:ext cx="163" cy="141"/>
            </a:xfrm>
            <a:custGeom>
              <a:avLst/>
              <a:gdLst>
                <a:gd name="T0" fmla="*/ 132 w 132"/>
                <a:gd name="T1" fmla="*/ 6 h 113"/>
                <a:gd name="T2" fmla="*/ 98 w 132"/>
                <a:gd name="T3" fmla="*/ 6 h 113"/>
                <a:gd name="T4" fmla="*/ 79 w 132"/>
                <a:gd name="T5" fmla="*/ 25 h 113"/>
                <a:gd name="T6" fmla="*/ 73 w 132"/>
                <a:gd name="T7" fmla="*/ 12 h 113"/>
                <a:gd name="T8" fmla="*/ 83 w 132"/>
                <a:gd name="T9" fmla="*/ 8 h 113"/>
                <a:gd name="T10" fmla="*/ 57 w 132"/>
                <a:gd name="T11" fmla="*/ 8 h 113"/>
                <a:gd name="T12" fmla="*/ 53 w 132"/>
                <a:gd name="T13" fmla="*/ 25 h 113"/>
                <a:gd name="T14" fmla="*/ 34 w 132"/>
                <a:gd name="T15" fmla="*/ 6 h 113"/>
                <a:gd name="T16" fmla="*/ 0 w 132"/>
                <a:gd name="T17" fmla="*/ 6 h 113"/>
                <a:gd name="T18" fmla="*/ 24 w 132"/>
                <a:gd name="T19" fmla="*/ 16 h 113"/>
                <a:gd name="T20" fmla="*/ 27 w 132"/>
                <a:gd name="T21" fmla="*/ 22 h 113"/>
                <a:gd name="T22" fmla="*/ 9 w 132"/>
                <a:gd name="T23" fmla="*/ 22 h 113"/>
                <a:gd name="T24" fmla="*/ 31 w 132"/>
                <a:gd name="T25" fmla="*/ 32 h 113"/>
                <a:gd name="T26" fmla="*/ 34 w 132"/>
                <a:gd name="T27" fmla="*/ 38 h 113"/>
                <a:gd name="T28" fmla="*/ 20 w 132"/>
                <a:gd name="T29" fmla="*/ 39 h 113"/>
                <a:gd name="T30" fmla="*/ 38 w 132"/>
                <a:gd name="T31" fmla="*/ 48 h 113"/>
                <a:gd name="T32" fmla="*/ 41 w 132"/>
                <a:gd name="T33" fmla="*/ 54 h 113"/>
                <a:gd name="T34" fmla="*/ 30 w 132"/>
                <a:gd name="T35" fmla="*/ 54 h 113"/>
                <a:gd name="T36" fmla="*/ 45 w 132"/>
                <a:gd name="T37" fmla="*/ 63 h 113"/>
                <a:gd name="T38" fmla="*/ 47 w 132"/>
                <a:gd name="T39" fmla="*/ 69 h 113"/>
                <a:gd name="T40" fmla="*/ 39 w 132"/>
                <a:gd name="T41" fmla="*/ 69 h 113"/>
                <a:gd name="T42" fmla="*/ 51 w 132"/>
                <a:gd name="T43" fmla="*/ 78 h 113"/>
                <a:gd name="T44" fmla="*/ 51 w 132"/>
                <a:gd name="T45" fmla="*/ 89 h 113"/>
                <a:gd name="T46" fmla="*/ 66 w 132"/>
                <a:gd name="T47" fmla="*/ 113 h 113"/>
                <a:gd name="T48" fmla="*/ 81 w 132"/>
                <a:gd name="T49" fmla="*/ 89 h 113"/>
                <a:gd name="T50" fmla="*/ 81 w 132"/>
                <a:gd name="T51" fmla="*/ 78 h 113"/>
                <a:gd name="T52" fmla="*/ 92 w 132"/>
                <a:gd name="T53" fmla="*/ 69 h 113"/>
                <a:gd name="T54" fmla="*/ 85 w 132"/>
                <a:gd name="T55" fmla="*/ 69 h 113"/>
                <a:gd name="T56" fmla="*/ 87 w 132"/>
                <a:gd name="T57" fmla="*/ 63 h 113"/>
                <a:gd name="T58" fmla="*/ 102 w 132"/>
                <a:gd name="T59" fmla="*/ 54 h 113"/>
                <a:gd name="T60" fmla="*/ 91 w 132"/>
                <a:gd name="T61" fmla="*/ 54 h 113"/>
                <a:gd name="T62" fmla="*/ 93 w 132"/>
                <a:gd name="T63" fmla="*/ 48 h 113"/>
                <a:gd name="T64" fmla="*/ 111 w 132"/>
                <a:gd name="T65" fmla="*/ 39 h 113"/>
                <a:gd name="T66" fmla="*/ 97 w 132"/>
                <a:gd name="T67" fmla="*/ 38 h 113"/>
                <a:gd name="T68" fmla="*/ 100 w 132"/>
                <a:gd name="T69" fmla="*/ 32 h 113"/>
                <a:gd name="T70" fmla="*/ 123 w 132"/>
                <a:gd name="T71" fmla="*/ 22 h 113"/>
                <a:gd name="T72" fmla="*/ 105 w 132"/>
                <a:gd name="T73" fmla="*/ 22 h 113"/>
                <a:gd name="T74" fmla="*/ 107 w 132"/>
                <a:gd name="T75" fmla="*/ 16 h 113"/>
                <a:gd name="T76" fmla="*/ 132 w 132"/>
                <a:gd name="T77" fmla="*/ 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2" h="113">
                  <a:moveTo>
                    <a:pt x="132" y="6"/>
                  </a:moveTo>
                  <a:cubicBezTo>
                    <a:pt x="98" y="6"/>
                    <a:pt x="98" y="6"/>
                    <a:pt x="98" y="6"/>
                  </a:cubicBezTo>
                  <a:cubicBezTo>
                    <a:pt x="88" y="6"/>
                    <a:pt x="83" y="16"/>
                    <a:pt x="79" y="25"/>
                  </a:cubicBezTo>
                  <a:cubicBezTo>
                    <a:pt x="73" y="12"/>
                    <a:pt x="73" y="12"/>
                    <a:pt x="73" y="12"/>
                  </a:cubicBezTo>
                  <a:cubicBezTo>
                    <a:pt x="83" y="8"/>
                    <a:pt x="83" y="8"/>
                    <a:pt x="83" y="8"/>
                  </a:cubicBezTo>
                  <a:cubicBezTo>
                    <a:pt x="77" y="3"/>
                    <a:pt x="59" y="0"/>
                    <a:pt x="57" y="8"/>
                  </a:cubicBezTo>
                  <a:cubicBezTo>
                    <a:pt x="53" y="25"/>
                    <a:pt x="53" y="25"/>
                    <a:pt x="53" y="25"/>
                  </a:cubicBezTo>
                  <a:cubicBezTo>
                    <a:pt x="50" y="17"/>
                    <a:pt x="45" y="6"/>
                    <a:pt x="34" y="6"/>
                  </a:cubicBezTo>
                  <a:cubicBezTo>
                    <a:pt x="0" y="6"/>
                    <a:pt x="0" y="6"/>
                    <a:pt x="0" y="6"/>
                  </a:cubicBezTo>
                  <a:cubicBezTo>
                    <a:pt x="4" y="14"/>
                    <a:pt x="8" y="17"/>
                    <a:pt x="24" y="16"/>
                  </a:cubicBezTo>
                  <a:cubicBezTo>
                    <a:pt x="27" y="22"/>
                    <a:pt x="27" y="22"/>
                    <a:pt x="27" y="22"/>
                  </a:cubicBezTo>
                  <a:cubicBezTo>
                    <a:pt x="9" y="22"/>
                    <a:pt x="9" y="22"/>
                    <a:pt x="9" y="22"/>
                  </a:cubicBezTo>
                  <a:cubicBezTo>
                    <a:pt x="14" y="32"/>
                    <a:pt x="17" y="32"/>
                    <a:pt x="31" y="32"/>
                  </a:cubicBezTo>
                  <a:cubicBezTo>
                    <a:pt x="34" y="38"/>
                    <a:pt x="34" y="38"/>
                    <a:pt x="34" y="38"/>
                  </a:cubicBezTo>
                  <a:cubicBezTo>
                    <a:pt x="20" y="39"/>
                    <a:pt x="20" y="39"/>
                    <a:pt x="20" y="39"/>
                  </a:cubicBezTo>
                  <a:cubicBezTo>
                    <a:pt x="23" y="45"/>
                    <a:pt x="27" y="48"/>
                    <a:pt x="38" y="48"/>
                  </a:cubicBezTo>
                  <a:cubicBezTo>
                    <a:pt x="41" y="54"/>
                    <a:pt x="41" y="54"/>
                    <a:pt x="41" y="54"/>
                  </a:cubicBezTo>
                  <a:cubicBezTo>
                    <a:pt x="30" y="54"/>
                    <a:pt x="30" y="54"/>
                    <a:pt x="30" y="54"/>
                  </a:cubicBezTo>
                  <a:cubicBezTo>
                    <a:pt x="34" y="61"/>
                    <a:pt x="36" y="64"/>
                    <a:pt x="45" y="63"/>
                  </a:cubicBezTo>
                  <a:cubicBezTo>
                    <a:pt x="47" y="69"/>
                    <a:pt x="47" y="69"/>
                    <a:pt x="47" y="69"/>
                  </a:cubicBezTo>
                  <a:cubicBezTo>
                    <a:pt x="39" y="69"/>
                    <a:pt x="39" y="69"/>
                    <a:pt x="39" y="69"/>
                  </a:cubicBezTo>
                  <a:cubicBezTo>
                    <a:pt x="43" y="77"/>
                    <a:pt x="46" y="77"/>
                    <a:pt x="51" y="78"/>
                  </a:cubicBezTo>
                  <a:cubicBezTo>
                    <a:pt x="55" y="78"/>
                    <a:pt x="56" y="86"/>
                    <a:pt x="51" y="89"/>
                  </a:cubicBezTo>
                  <a:cubicBezTo>
                    <a:pt x="66" y="113"/>
                    <a:pt x="66" y="113"/>
                    <a:pt x="66" y="113"/>
                  </a:cubicBezTo>
                  <a:cubicBezTo>
                    <a:pt x="81" y="89"/>
                    <a:pt x="81" y="89"/>
                    <a:pt x="81" y="89"/>
                  </a:cubicBezTo>
                  <a:cubicBezTo>
                    <a:pt x="76" y="86"/>
                    <a:pt x="76" y="78"/>
                    <a:pt x="81" y="78"/>
                  </a:cubicBezTo>
                  <a:cubicBezTo>
                    <a:pt x="85" y="77"/>
                    <a:pt x="89" y="77"/>
                    <a:pt x="92" y="69"/>
                  </a:cubicBezTo>
                  <a:cubicBezTo>
                    <a:pt x="85" y="69"/>
                    <a:pt x="85" y="69"/>
                    <a:pt x="85" y="69"/>
                  </a:cubicBezTo>
                  <a:cubicBezTo>
                    <a:pt x="87" y="63"/>
                    <a:pt x="87" y="63"/>
                    <a:pt x="87" y="63"/>
                  </a:cubicBezTo>
                  <a:cubicBezTo>
                    <a:pt x="96" y="64"/>
                    <a:pt x="98" y="60"/>
                    <a:pt x="102" y="54"/>
                  </a:cubicBezTo>
                  <a:cubicBezTo>
                    <a:pt x="91" y="54"/>
                    <a:pt x="91" y="54"/>
                    <a:pt x="91" y="54"/>
                  </a:cubicBezTo>
                  <a:cubicBezTo>
                    <a:pt x="93" y="48"/>
                    <a:pt x="93" y="48"/>
                    <a:pt x="93" y="48"/>
                  </a:cubicBezTo>
                  <a:cubicBezTo>
                    <a:pt x="105" y="48"/>
                    <a:pt x="108" y="45"/>
                    <a:pt x="111" y="39"/>
                  </a:cubicBezTo>
                  <a:cubicBezTo>
                    <a:pt x="97" y="38"/>
                    <a:pt x="97" y="38"/>
                    <a:pt x="97" y="38"/>
                  </a:cubicBezTo>
                  <a:cubicBezTo>
                    <a:pt x="100" y="32"/>
                    <a:pt x="100" y="32"/>
                    <a:pt x="100" y="32"/>
                  </a:cubicBezTo>
                  <a:cubicBezTo>
                    <a:pt x="115" y="32"/>
                    <a:pt x="118" y="32"/>
                    <a:pt x="123" y="22"/>
                  </a:cubicBezTo>
                  <a:cubicBezTo>
                    <a:pt x="105" y="22"/>
                    <a:pt x="105" y="22"/>
                    <a:pt x="105" y="22"/>
                  </a:cubicBezTo>
                  <a:cubicBezTo>
                    <a:pt x="107" y="16"/>
                    <a:pt x="107" y="16"/>
                    <a:pt x="107" y="16"/>
                  </a:cubicBezTo>
                  <a:cubicBezTo>
                    <a:pt x="123" y="17"/>
                    <a:pt x="128" y="14"/>
                    <a:pt x="132" y="6"/>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69" name="Freeform 137"/>
            <p:cNvSpPr>
              <a:spLocks noEditPoints="1"/>
            </p:cNvSpPr>
            <p:nvPr userDrawn="1"/>
          </p:nvSpPr>
          <p:spPr bwMode="auto">
            <a:xfrm>
              <a:off x="1214" y="757"/>
              <a:ext cx="64" cy="43"/>
            </a:xfrm>
            <a:custGeom>
              <a:avLst/>
              <a:gdLst>
                <a:gd name="T0" fmla="*/ 51 w 52"/>
                <a:gd name="T1" fmla="*/ 10 h 34"/>
                <a:gd name="T2" fmla="*/ 48 w 52"/>
                <a:gd name="T3" fmla="*/ 10 h 34"/>
                <a:gd name="T4" fmla="*/ 47 w 52"/>
                <a:gd name="T5" fmla="*/ 8 h 34"/>
                <a:gd name="T6" fmla="*/ 50 w 52"/>
                <a:gd name="T7" fmla="*/ 7 h 34"/>
                <a:gd name="T8" fmla="*/ 52 w 52"/>
                <a:gd name="T9" fmla="*/ 2 h 34"/>
                <a:gd name="T10" fmla="*/ 44 w 52"/>
                <a:gd name="T11" fmla="*/ 3 h 34"/>
                <a:gd name="T12" fmla="*/ 36 w 52"/>
                <a:gd name="T13" fmla="*/ 1 h 34"/>
                <a:gd name="T14" fmla="*/ 36 w 52"/>
                <a:gd name="T15" fmla="*/ 3 h 34"/>
                <a:gd name="T16" fmla="*/ 35 w 52"/>
                <a:gd name="T17" fmla="*/ 4 h 34"/>
                <a:gd name="T18" fmla="*/ 35 w 52"/>
                <a:gd name="T19" fmla="*/ 5 h 34"/>
                <a:gd name="T20" fmla="*/ 34 w 52"/>
                <a:gd name="T21" fmla="*/ 7 h 34"/>
                <a:gd name="T22" fmla="*/ 34 w 52"/>
                <a:gd name="T23" fmla="*/ 6 h 34"/>
                <a:gd name="T24" fmla="*/ 30 w 52"/>
                <a:gd name="T25" fmla="*/ 5 h 34"/>
                <a:gd name="T26" fmla="*/ 28 w 52"/>
                <a:gd name="T27" fmla="*/ 9 h 34"/>
                <a:gd name="T28" fmla="*/ 28 w 52"/>
                <a:gd name="T29" fmla="*/ 10 h 34"/>
                <a:gd name="T30" fmla="*/ 31 w 52"/>
                <a:gd name="T31" fmla="*/ 11 h 34"/>
                <a:gd name="T32" fmla="*/ 33 w 52"/>
                <a:gd name="T33" fmla="*/ 12 h 34"/>
                <a:gd name="T34" fmla="*/ 30 w 52"/>
                <a:gd name="T35" fmla="*/ 14 h 34"/>
                <a:gd name="T36" fmla="*/ 26 w 52"/>
                <a:gd name="T37" fmla="*/ 14 h 34"/>
                <a:gd name="T38" fmla="*/ 13 w 52"/>
                <a:gd name="T39" fmla="*/ 11 h 34"/>
                <a:gd name="T40" fmla="*/ 13 w 52"/>
                <a:gd name="T41" fmla="*/ 12 h 34"/>
                <a:gd name="T42" fmla="*/ 20 w 52"/>
                <a:gd name="T43" fmla="*/ 16 h 34"/>
                <a:gd name="T44" fmla="*/ 32 w 52"/>
                <a:gd name="T45" fmla="*/ 20 h 34"/>
                <a:gd name="T46" fmla="*/ 31 w 52"/>
                <a:gd name="T47" fmla="*/ 20 h 34"/>
                <a:gd name="T48" fmla="*/ 24 w 52"/>
                <a:gd name="T49" fmla="*/ 20 h 34"/>
                <a:gd name="T50" fmla="*/ 19 w 52"/>
                <a:gd name="T51" fmla="*/ 19 h 34"/>
                <a:gd name="T52" fmla="*/ 18 w 52"/>
                <a:gd name="T53" fmla="*/ 19 h 34"/>
                <a:gd name="T54" fmla="*/ 4 w 52"/>
                <a:gd name="T55" fmla="*/ 14 h 34"/>
                <a:gd name="T56" fmla="*/ 2 w 52"/>
                <a:gd name="T57" fmla="*/ 12 h 34"/>
                <a:gd name="T58" fmla="*/ 3 w 52"/>
                <a:gd name="T59" fmla="*/ 20 h 34"/>
                <a:gd name="T60" fmla="*/ 13 w 52"/>
                <a:gd name="T61" fmla="*/ 23 h 34"/>
                <a:gd name="T62" fmla="*/ 13 w 52"/>
                <a:gd name="T63" fmla="*/ 24 h 34"/>
                <a:gd name="T64" fmla="*/ 9 w 52"/>
                <a:gd name="T65" fmla="*/ 27 h 34"/>
                <a:gd name="T66" fmla="*/ 4 w 52"/>
                <a:gd name="T67" fmla="*/ 26 h 34"/>
                <a:gd name="T68" fmla="*/ 9 w 52"/>
                <a:gd name="T69" fmla="*/ 33 h 34"/>
                <a:gd name="T70" fmla="*/ 10 w 52"/>
                <a:gd name="T71" fmla="*/ 34 h 34"/>
                <a:gd name="T72" fmla="*/ 18 w 52"/>
                <a:gd name="T73" fmla="*/ 28 h 34"/>
                <a:gd name="T74" fmla="*/ 23 w 52"/>
                <a:gd name="T75" fmla="*/ 28 h 34"/>
                <a:gd name="T76" fmla="*/ 22 w 52"/>
                <a:gd name="T77" fmla="*/ 23 h 34"/>
                <a:gd name="T78" fmla="*/ 23 w 52"/>
                <a:gd name="T79" fmla="*/ 21 h 34"/>
                <a:gd name="T80" fmla="*/ 30 w 52"/>
                <a:gd name="T81" fmla="*/ 22 h 34"/>
                <a:gd name="T82" fmla="*/ 36 w 52"/>
                <a:gd name="T83" fmla="*/ 25 h 34"/>
                <a:gd name="T84" fmla="*/ 39 w 52"/>
                <a:gd name="T85" fmla="*/ 21 h 34"/>
                <a:gd name="T86" fmla="*/ 39 w 52"/>
                <a:gd name="T87" fmla="*/ 20 h 34"/>
                <a:gd name="T88" fmla="*/ 51 w 52"/>
                <a:gd name="T89" fmla="*/ 14 h 34"/>
                <a:gd name="T90" fmla="*/ 38 w 52"/>
                <a:gd name="T91" fmla="*/ 14 h 34"/>
                <a:gd name="T92" fmla="*/ 38 w 52"/>
                <a:gd name="T93" fmla="*/ 12 h 34"/>
                <a:gd name="T94" fmla="*/ 36 w 52"/>
                <a:gd name="T95" fmla="*/ 11 h 34"/>
                <a:gd name="T96" fmla="*/ 36 w 52"/>
                <a:gd name="T97" fmla="*/ 10 h 34"/>
                <a:gd name="T98" fmla="*/ 40 w 52"/>
                <a:gd name="T99" fmla="*/ 9 h 34"/>
                <a:gd name="T100" fmla="*/ 43 w 52"/>
                <a:gd name="T101" fmla="*/ 14 h 34"/>
                <a:gd name="T102" fmla="*/ 38 w 52"/>
                <a:gd name="T103" fmla="*/ 1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 h="34">
                  <a:moveTo>
                    <a:pt x="51" y="13"/>
                  </a:moveTo>
                  <a:cubicBezTo>
                    <a:pt x="51" y="12"/>
                    <a:pt x="51" y="12"/>
                    <a:pt x="51" y="12"/>
                  </a:cubicBezTo>
                  <a:cubicBezTo>
                    <a:pt x="51" y="11"/>
                    <a:pt x="51" y="11"/>
                    <a:pt x="51" y="10"/>
                  </a:cubicBezTo>
                  <a:cubicBezTo>
                    <a:pt x="51" y="10"/>
                    <a:pt x="50" y="10"/>
                    <a:pt x="50" y="10"/>
                  </a:cubicBezTo>
                  <a:cubicBezTo>
                    <a:pt x="49" y="10"/>
                    <a:pt x="49" y="10"/>
                    <a:pt x="49" y="10"/>
                  </a:cubicBezTo>
                  <a:cubicBezTo>
                    <a:pt x="48" y="10"/>
                    <a:pt x="48" y="10"/>
                    <a:pt x="48" y="10"/>
                  </a:cubicBezTo>
                  <a:cubicBezTo>
                    <a:pt x="48" y="9"/>
                    <a:pt x="48" y="9"/>
                    <a:pt x="48" y="9"/>
                  </a:cubicBezTo>
                  <a:cubicBezTo>
                    <a:pt x="48" y="9"/>
                    <a:pt x="48" y="9"/>
                    <a:pt x="48" y="9"/>
                  </a:cubicBezTo>
                  <a:cubicBezTo>
                    <a:pt x="47" y="8"/>
                    <a:pt x="47" y="8"/>
                    <a:pt x="47" y="8"/>
                  </a:cubicBezTo>
                  <a:cubicBezTo>
                    <a:pt x="47" y="8"/>
                    <a:pt x="47" y="8"/>
                    <a:pt x="47" y="8"/>
                  </a:cubicBezTo>
                  <a:cubicBezTo>
                    <a:pt x="48" y="8"/>
                    <a:pt x="48" y="8"/>
                    <a:pt x="48" y="8"/>
                  </a:cubicBezTo>
                  <a:cubicBezTo>
                    <a:pt x="48" y="7"/>
                    <a:pt x="49" y="7"/>
                    <a:pt x="50" y="7"/>
                  </a:cubicBezTo>
                  <a:cubicBezTo>
                    <a:pt x="50" y="7"/>
                    <a:pt x="50" y="7"/>
                    <a:pt x="50" y="7"/>
                  </a:cubicBezTo>
                  <a:cubicBezTo>
                    <a:pt x="50" y="7"/>
                    <a:pt x="50" y="7"/>
                    <a:pt x="50" y="7"/>
                  </a:cubicBezTo>
                  <a:cubicBezTo>
                    <a:pt x="51" y="6"/>
                    <a:pt x="52" y="4"/>
                    <a:pt x="52" y="2"/>
                  </a:cubicBezTo>
                  <a:cubicBezTo>
                    <a:pt x="52" y="2"/>
                    <a:pt x="51" y="2"/>
                    <a:pt x="50" y="2"/>
                  </a:cubicBezTo>
                  <a:cubicBezTo>
                    <a:pt x="49" y="2"/>
                    <a:pt x="48" y="2"/>
                    <a:pt x="46" y="3"/>
                  </a:cubicBezTo>
                  <a:cubicBezTo>
                    <a:pt x="46" y="3"/>
                    <a:pt x="45" y="3"/>
                    <a:pt x="44" y="3"/>
                  </a:cubicBezTo>
                  <a:cubicBezTo>
                    <a:pt x="43" y="3"/>
                    <a:pt x="43" y="3"/>
                    <a:pt x="43" y="3"/>
                  </a:cubicBezTo>
                  <a:cubicBezTo>
                    <a:pt x="41" y="2"/>
                    <a:pt x="41" y="2"/>
                    <a:pt x="36" y="0"/>
                  </a:cubicBezTo>
                  <a:cubicBezTo>
                    <a:pt x="36" y="0"/>
                    <a:pt x="36" y="0"/>
                    <a:pt x="36" y="1"/>
                  </a:cubicBezTo>
                  <a:cubicBezTo>
                    <a:pt x="35" y="1"/>
                    <a:pt x="35" y="2"/>
                    <a:pt x="36" y="3"/>
                  </a:cubicBezTo>
                  <a:cubicBezTo>
                    <a:pt x="36" y="3"/>
                    <a:pt x="36" y="3"/>
                    <a:pt x="36" y="3"/>
                  </a:cubicBezTo>
                  <a:cubicBezTo>
                    <a:pt x="36" y="3"/>
                    <a:pt x="36" y="3"/>
                    <a:pt x="36" y="3"/>
                  </a:cubicBezTo>
                  <a:cubicBezTo>
                    <a:pt x="36" y="3"/>
                    <a:pt x="36" y="3"/>
                    <a:pt x="36" y="3"/>
                  </a:cubicBezTo>
                  <a:cubicBezTo>
                    <a:pt x="35" y="4"/>
                    <a:pt x="35" y="4"/>
                    <a:pt x="35" y="4"/>
                  </a:cubicBezTo>
                  <a:cubicBezTo>
                    <a:pt x="35" y="4"/>
                    <a:pt x="35" y="4"/>
                    <a:pt x="35" y="4"/>
                  </a:cubicBezTo>
                  <a:cubicBezTo>
                    <a:pt x="35" y="4"/>
                    <a:pt x="35" y="4"/>
                    <a:pt x="35" y="4"/>
                  </a:cubicBezTo>
                  <a:cubicBezTo>
                    <a:pt x="35" y="4"/>
                    <a:pt x="35" y="4"/>
                    <a:pt x="35" y="4"/>
                  </a:cubicBezTo>
                  <a:cubicBezTo>
                    <a:pt x="35" y="4"/>
                    <a:pt x="35" y="5"/>
                    <a:pt x="35" y="5"/>
                  </a:cubicBezTo>
                  <a:cubicBezTo>
                    <a:pt x="35" y="5"/>
                    <a:pt x="35" y="5"/>
                    <a:pt x="35" y="5"/>
                  </a:cubicBezTo>
                  <a:cubicBezTo>
                    <a:pt x="35" y="6"/>
                    <a:pt x="35" y="6"/>
                    <a:pt x="35" y="6"/>
                  </a:cubicBezTo>
                  <a:cubicBezTo>
                    <a:pt x="34" y="7"/>
                    <a:pt x="34" y="7"/>
                    <a:pt x="34" y="7"/>
                  </a:cubicBezTo>
                  <a:cubicBezTo>
                    <a:pt x="34" y="7"/>
                    <a:pt x="34" y="7"/>
                    <a:pt x="34" y="7"/>
                  </a:cubicBezTo>
                  <a:cubicBezTo>
                    <a:pt x="34" y="7"/>
                    <a:pt x="34" y="7"/>
                    <a:pt x="34" y="7"/>
                  </a:cubicBezTo>
                  <a:cubicBezTo>
                    <a:pt x="34" y="6"/>
                    <a:pt x="34" y="6"/>
                    <a:pt x="34" y="6"/>
                  </a:cubicBezTo>
                  <a:cubicBezTo>
                    <a:pt x="33" y="6"/>
                    <a:pt x="33" y="6"/>
                    <a:pt x="32" y="5"/>
                  </a:cubicBezTo>
                  <a:cubicBezTo>
                    <a:pt x="32" y="5"/>
                    <a:pt x="32" y="5"/>
                    <a:pt x="32" y="5"/>
                  </a:cubicBezTo>
                  <a:cubicBezTo>
                    <a:pt x="31" y="5"/>
                    <a:pt x="31" y="5"/>
                    <a:pt x="30" y="5"/>
                  </a:cubicBezTo>
                  <a:cubicBezTo>
                    <a:pt x="30" y="6"/>
                    <a:pt x="30" y="6"/>
                    <a:pt x="30" y="6"/>
                  </a:cubicBezTo>
                  <a:cubicBezTo>
                    <a:pt x="30" y="7"/>
                    <a:pt x="30" y="7"/>
                    <a:pt x="30" y="7"/>
                  </a:cubicBezTo>
                  <a:cubicBezTo>
                    <a:pt x="30" y="7"/>
                    <a:pt x="30" y="8"/>
                    <a:pt x="28" y="9"/>
                  </a:cubicBezTo>
                  <a:cubicBezTo>
                    <a:pt x="27" y="8"/>
                    <a:pt x="27" y="8"/>
                    <a:pt x="27" y="8"/>
                  </a:cubicBezTo>
                  <a:cubicBezTo>
                    <a:pt x="26" y="8"/>
                    <a:pt x="26" y="9"/>
                    <a:pt x="26" y="9"/>
                  </a:cubicBezTo>
                  <a:cubicBezTo>
                    <a:pt x="26" y="10"/>
                    <a:pt x="26" y="10"/>
                    <a:pt x="28" y="10"/>
                  </a:cubicBezTo>
                  <a:cubicBezTo>
                    <a:pt x="29" y="10"/>
                    <a:pt x="29" y="11"/>
                    <a:pt x="30" y="11"/>
                  </a:cubicBezTo>
                  <a:cubicBezTo>
                    <a:pt x="30" y="11"/>
                    <a:pt x="30" y="11"/>
                    <a:pt x="30" y="11"/>
                  </a:cubicBezTo>
                  <a:cubicBezTo>
                    <a:pt x="31" y="11"/>
                    <a:pt x="31" y="11"/>
                    <a:pt x="31" y="11"/>
                  </a:cubicBezTo>
                  <a:cubicBezTo>
                    <a:pt x="32" y="11"/>
                    <a:pt x="32" y="11"/>
                    <a:pt x="32" y="11"/>
                  </a:cubicBezTo>
                  <a:cubicBezTo>
                    <a:pt x="33" y="11"/>
                    <a:pt x="33" y="11"/>
                    <a:pt x="33" y="11"/>
                  </a:cubicBezTo>
                  <a:cubicBezTo>
                    <a:pt x="33" y="12"/>
                    <a:pt x="33" y="12"/>
                    <a:pt x="33" y="12"/>
                  </a:cubicBezTo>
                  <a:cubicBezTo>
                    <a:pt x="31" y="12"/>
                    <a:pt x="31" y="12"/>
                    <a:pt x="31" y="12"/>
                  </a:cubicBezTo>
                  <a:cubicBezTo>
                    <a:pt x="31" y="12"/>
                    <a:pt x="31" y="13"/>
                    <a:pt x="30" y="13"/>
                  </a:cubicBezTo>
                  <a:cubicBezTo>
                    <a:pt x="30" y="14"/>
                    <a:pt x="30" y="14"/>
                    <a:pt x="30" y="14"/>
                  </a:cubicBezTo>
                  <a:cubicBezTo>
                    <a:pt x="29" y="15"/>
                    <a:pt x="29" y="15"/>
                    <a:pt x="29" y="15"/>
                  </a:cubicBezTo>
                  <a:cubicBezTo>
                    <a:pt x="29" y="14"/>
                    <a:pt x="29" y="14"/>
                    <a:pt x="29" y="14"/>
                  </a:cubicBezTo>
                  <a:cubicBezTo>
                    <a:pt x="28" y="14"/>
                    <a:pt x="27" y="14"/>
                    <a:pt x="26" y="14"/>
                  </a:cubicBezTo>
                  <a:cubicBezTo>
                    <a:pt x="24" y="13"/>
                    <a:pt x="24" y="13"/>
                    <a:pt x="24" y="13"/>
                  </a:cubicBezTo>
                  <a:cubicBezTo>
                    <a:pt x="22" y="13"/>
                    <a:pt x="18" y="12"/>
                    <a:pt x="15" y="11"/>
                  </a:cubicBezTo>
                  <a:cubicBezTo>
                    <a:pt x="15" y="11"/>
                    <a:pt x="14" y="11"/>
                    <a:pt x="13" y="11"/>
                  </a:cubicBezTo>
                  <a:cubicBezTo>
                    <a:pt x="12" y="10"/>
                    <a:pt x="12" y="10"/>
                    <a:pt x="12" y="10"/>
                  </a:cubicBezTo>
                  <a:cubicBezTo>
                    <a:pt x="11" y="11"/>
                    <a:pt x="11" y="11"/>
                    <a:pt x="11" y="11"/>
                  </a:cubicBezTo>
                  <a:cubicBezTo>
                    <a:pt x="12" y="11"/>
                    <a:pt x="12" y="12"/>
                    <a:pt x="13" y="12"/>
                  </a:cubicBezTo>
                  <a:cubicBezTo>
                    <a:pt x="13" y="12"/>
                    <a:pt x="13" y="12"/>
                    <a:pt x="13" y="12"/>
                  </a:cubicBezTo>
                  <a:cubicBezTo>
                    <a:pt x="14" y="13"/>
                    <a:pt x="14" y="15"/>
                    <a:pt x="16" y="16"/>
                  </a:cubicBezTo>
                  <a:cubicBezTo>
                    <a:pt x="17" y="16"/>
                    <a:pt x="18" y="16"/>
                    <a:pt x="20" y="16"/>
                  </a:cubicBezTo>
                  <a:cubicBezTo>
                    <a:pt x="23" y="16"/>
                    <a:pt x="28" y="17"/>
                    <a:pt x="31" y="19"/>
                  </a:cubicBezTo>
                  <a:cubicBezTo>
                    <a:pt x="32" y="20"/>
                    <a:pt x="32" y="20"/>
                    <a:pt x="32" y="20"/>
                  </a:cubicBezTo>
                  <a:cubicBezTo>
                    <a:pt x="32" y="20"/>
                    <a:pt x="32" y="20"/>
                    <a:pt x="32" y="20"/>
                  </a:cubicBezTo>
                  <a:cubicBezTo>
                    <a:pt x="32" y="20"/>
                    <a:pt x="32" y="20"/>
                    <a:pt x="32" y="20"/>
                  </a:cubicBezTo>
                  <a:cubicBezTo>
                    <a:pt x="32" y="20"/>
                    <a:pt x="32" y="20"/>
                    <a:pt x="32" y="20"/>
                  </a:cubicBezTo>
                  <a:cubicBezTo>
                    <a:pt x="31" y="20"/>
                    <a:pt x="31" y="20"/>
                    <a:pt x="31" y="20"/>
                  </a:cubicBezTo>
                  <a:cubicBezTo>
                    <a:pt x="30" y="20"/>
                    <a:pt x="30" y="21"/>
                    <a:pt x="30" y="21"/>
                  </a:cubicBezTo>
                  <a:cubicBezTo>
                    <a:pt x="29" y="21"/>
                    <a:pt x="29" y="21"/>
                    <a:pt x="29" y="21"/>
                  </a:cubicBezTo>
                  <a:cubicBezTo>
                    <a:pt x="26" y="20"/>
                    <a:pt x="26" y="20"/>
                    <a:pt x="24" y="20"/>
                  </a:cubicBezTo>
                  <a:cubicBezTo>
                    <a:pt x="23" y="19"/>
                    <a:pt x="22" y="18"/>
                    <a:pt x="21" y="18"/>
                  </a:cubicBezTo>
                  <a:cubicBezTo>
                    <a:pt x="21" y="18"/>
                    <a:pt x="20" y="19"/>
                    <a:pt x="19" y="19"/>
                  </a:cubicBezTo>
                  <a:cubicBezTo>
                    <a:pt x="19" y="19"/>
                    <a:pt x="19" y="19"/>
                    <a:pt x="19" y="19"/>
                  </a:cubicBezTo>
                  <a:cubicBezTo>
                    <a:pt x="19" y="19"/>
                    <a:pt x="19" y="19"/>
                    <a:pt x="19" y="19"/>
                  </a:cubicBezTo>
                  <a:cubicBezTo>
                    <a:pt x="19" y="20"/>
                    <a:pt x="19" y="20"/>
                    <a:pt x="19" y="20"/>
                  </a:cubicBezTo>
                  <a:cubicBezTo>
                    <a:pt x="18" y="19"/>
                    <a:pt x="18" y="19"/>
                    <a:pt x="18" y="19"/>
                  </a:cubicBezTo>
                  <a:cubicBezTo>
                    <a:pt x="18" y="19"/>
                    <a:pt x="18" y="19"/>
                    <a:pt x="17" y="19"/>
                  </a:cubicBezTo>
                  <a:cubicBezTo>
                    <a:pt x="16" y="19"/>
                    <a:pt x="15" y="18"/>
                    <a:pt x="14" y="18"/>
                  </a:cubicBezTo>
                  <a:cubicBezTo>
                    <a:pt x="10" y="17"/>
                    <a:pt x="7" y="16"/>
                    <a:pt x="4" y="14"/>
                  </a:cubicBezTo>
                  <a:cubicBezTo>
                    <a:pt x="3" y="13"/>
                    <a:pt x="3" y="13"/>
                    <a:pt x="2" y="12"/>
                  </a:cubicBezTo>
                  <a:cubicBezTo>
                    <a:pt x="2" y="12"/>
                    <a:pt x="2" y="12"/>
                    <a:pt x="2" y="12"/>
                  </a:cubicBezTo>
                  <a:cubicBezTo>
                    <a:pt x="2" y="12"/>
                    <a:pt x="2" y="12"/>
                    <a:pt x="2" y="12"/>
                  </a:cubicBezTo>
                  <a:cubicBezTo>
                    <a:pt x="2" y="11"/>
                    <a:pt x="2" y="11"/>
                    <a:pt x="2" y="11"/>
                  </a:cubicBezTo>
                  <a:cubicBezTo>
                    <a:pt x="1" y="11"/>
                    <a:pt x="1" y="12"/>
                    <a:pt x="0" y="12"/>
                  </a:cubicBezTo>
                  <a:cubicBezTo>
                    <a:pt x="0" y="14"/>
                    <a:pt x="2" y="19"/>
                    <a:pt x="3" y="20"/>
                  </a:cubicBezTo>
                  <a:cubicBezTo>
                    <a:pt x="4" y="20"/>
                    <a:pt x="5" y="21"/>
                    <a:pt x="6" y="21"/>
                  </a:cubicBezTo>
                  <a:cubicBezTo>
                    <a:pt x="8" y="21"/>
                    <a:pt x="11" y="22"/>
                    <a:pt x="12" y="23"/>
                  </a:cubicBezTo>
                  <a:cubicBezTo>
                    <a:pt x="13" y="23"/>
                    <a:pt x="13" y="23"/>
                    <a:pt x="13" y="23"/>
                  </a:cubicBezTo>
                  <a:cubicBezTo>
                    <a:pt x="13" y="23"/>
                    <a:pt x="13" y="23"/>
                    <a:pt x="13" y="23"/>
                  </a:cubicBezTo>
                  <a:cubicBezTo>
                    <a:pt x="13" y="23"/>
                    <a:pt x="13" y="23"/>
                    <a:pt x="13" y="23"/>
                  </a:cubicBezTo>
                  <a:cubicBezTo>
                    <a:pt x="13" y="24"/>
                    <a:pt x="13" y="24"/>
                    <a:pt x="13" y="24"/>
                  </a:cubicBezTo>
                  <a:cubicBezTo>
                    <a:pt x="12" y="25"/>
                    <a:pt x="11" y="26"/>
                    <a:pt x="10" y="26"/>
                  </a:cubicBezTo>
                  <a:cubicBezTo>
                    <a:pt x="10" y="27"/>
                    <a:pt x="10" y="27"/>
                    <a:pt x="10" y="27"/>
                  </a:cubicBezTo>
                  <a:cubicBezTo>
                    <a:pt x="10" y="27"/>
                    <a:pt x="9" y="27"/>
                    <a:pt x="9" y="27"/>
                  </a:cubicBezTo>
                  <a:cubicBezTo>
                    <a:pt x="9" y="27"/>
                    <a:pt x="9" y="27"/>
                    <a:pt x="9" y="27"/>
                  </a:cubicBezTo>
                  <a:cubicBezTo>
                    <a:pt x="9" y="28"/>
                    <a:pt x="8" y="28"/>
                    <a:pt x="8" y="28"/>
                  </a:cubicBezTo>
                  <a:cubicBezTo>
                    <a:pt x="7" y="28"/>
                    <a:pt x="5" y="27"/>
                    <a:pt x="4" y="26"/>
                  </a:cubicBezTo>
                  <a:cubicBezTo>
                    <a:pt x="4" y="26"/>
                    <a:pt x="3" y="26"/>
                    <a:pt x="3" y="26"/>
                  </a:cubicBezTo>
                  <a:cubicBezTo>
                    <a:pt x="3" y="26"/>
                    <a:pt x="3" y="26"/>
                    <a:pt x="3" y="26"/>
                  </a:cubicBezTo>
                  <a:cubicBezTo>
                    <a:pt x="4" y="29"/>
                    <a:pt x="6" y="31"/>
                    <a:pt x="9" y="33"/>
                  </a:cubicBezTo>
                  <a:cubicBezTo>
                    <a:pt x="9" y="34"/>
                    <a:pt x="9" y="34"/>
                    <a:pt x="9" y="34"/>
                  </a:cubicBezTo>
                  <a:cubicBezTo>
                    <a:pt x="10" y="34"/>
                    <a:pt x="10" y="34"/>
                    <a:pt x="10" y="34"/>
                  </a:cubicBezTo>
                  <a:cubicBezTo>
                    <a:pt x="10" y="34"/>
                    <a:pt x="10" y="34"/>
                    <a:pt x="10" y="34"/>
                  </a:cubicBezTo>
                  <a:cubicBezTo>
                    <a:pt x="12" y="34"/>
                    <a:pt x="15" y="31"/>
                    <a:pt x="16" y="29"/>
                  </a:cubicBezTo>
                  <a:cubicBezTo>
                    <a:pt x="16" y="29"/>
                    <a:pt x="17" y="28"/>
                    <a:pt x="17" y="28"/>
                  </a:cubicBezTo>
                  <a:cubicBezTo>
                    <a:pt x="18" y="28"/>
                    <a:pt x="18" y="28"/>
                    <a:pt x="18" y="28"/>
                  </a:cubicBezTo>
                  <a:cubicBezTo>
                    <a:pt x="19" y="27"/>
                    <a:pt x="19" y="27"/>
                    <a:pt x="19" y="27"/>
                  </a:cubicBezTo>
                  <a:cubicBezTo>
                    <a:pt x="19" y="27"/>
                    <a:pt x="19" y="27"/>
                    <a:pt x="19" y="27"/>
                  </a:cubicBezTo>
                  <a:cubicBezTo>
                    <a:pt x="21" y="27"/>
                    <a:pt x="22" y="27"/>
                    <a:pt x="23" y="28"/>
                  </a:cubicBezTo>
                  <a:cubicBezTo>
                    <a:pt x="24" y="28"/>
                    <a:pt x="25" y="26"/>
                    <a:pt x="25" y="25"/>
                  </a:cubicBezTo>
                  <a:cubicBezTo>
                    <a:pt x="25" y="25"/>
                    <a:pt x="25" y="25"/>
                    <a:pt x="25" y="25"/>
                  </a:cubicBezTo>
                  <a:cubicBezTo>
                    <a:pt x="24" y="24"/>
                    <a:pt x="23" y="23"/>
                    <a:pt x="22" y="23"/>
                  </a:cubicBezTo>
                  <a:cubicBezTo>
                    <a:pt x="22" y="23"/>
                    <a:pt x="22" y="23"/>
                    <a:pt x="22" y="23"/>
                  </a:cubicBezTo>
                  <a:cubicBezTo>
                    <a:pt x="22" y="22"/>
                    <a:pt x="22" y="22"/>
                    <a:pt x="22" y="22"/>
                  </a:cubicBezTo>
                  <a:cubicBezTo>
                    <a:pt x="23" y="21"/>
                    <a:pt x="23" y="21"/>
                    <a:pt x="23" y="21"/>
                  </a:cubicBezTo>
                  <a:cubicBezTo>
                    <a:pt x="23" y="20"/>
                    <a:pt x="23" y="20"/>
                    <a:pt x="23" y="20"/>
                  </a:cubicBezTo>
                  <a:cubicBezTo>
                    <a:pt x="24" y="20"/>
                    <a:pt x="24" y="20"/>
                    <a:pt x="24" y="20"/>
                  </a:cubicBezTo>
                  <a:cubicBezTo>
                    <a:pt x="26" y="21"/>
                    <a:pt x="28" y="22"/>
                    <a:pt x="30" y="22"/>
                  </a:cubicBezTo>
                  <a:cubicBezTo>
                    <a:pt x="32" y="23"/>
                    <a:pt x="32" y="23"/>
                    <a:pt x="32" y="23"/>
                  </a:cubicBezTo>
                  <a:cubicBezTo>
                    <a:pt x="33" y="23"/>
                    <a:pt x="33" y="23"/>
                    <a:pt x="33" y="23"/>
                  </a:cubicBezTo>
                  <a:cubicBezTo>
                    <a:pt x="34" y="24"/>
                    <a:pt x="35" y="25"/>
                    <a:pt x="36" y="25"/>
                  </a:cubicBezTo>
                  <a:cubicBezTo>
                    <a:pt x="36" y="25"/>
                    <a:pt x="37" y="25"/>
                    <a:pt x="37" y="25"/>
                  </a:cubicBezTo>
                  <a:cubicBezTo>
                    <a:pt x="38" y="23"/>
                    <a:pt x="39" y="22"/>
                    <a:pt x="39" y="21"/>
                  </a:cubicBezTo>
                  <a:cubicBezTo>
                    <a:pt x="39" y="21"/>
                    <a:pt x="39" y="21"/>
                    <a:pt x="39" y="21"/>
                  </a:cubicBezTo>
                  <a:cubicBezTo>
                    <a:pt x="39" y="21"/>
                    <a:pt x="40" y="21"/>
                    <a:pt x="40" y="21"/>
                  </a:cubicBezTo>
                  <a:cubicBezTo>
                    <a:pt x="39" y="21"/>
                    <a:pt x="39" y="21"/>
                    <a:pt x="39" y="21"/>
                  </a:cubicBezTo>
                  <a:cubicBezTo>
                    <a:pt x="39" y="20"/>
                    <a:pt x="39" y="20"/>
                    <a:pt x="39" y="20"/>
                  </a:cubicBezTo>
                  <a:cubicBezTo>
                    <a:pt x="39" y="20"/>
                    <a:pt x="40" y="20"/>
                    <a:pt x="40" y="20"/>
                  </a:cubicBezTo>
                  <a:cubicBezTo>
                    <a:pt x="43" y="19"/>
                    <a:pt x="47" y="17"/>
                    <a:pt x="50" y="16"/>
                  </a:cubicBezTo>
                  <a:cubicBezTo>
                    <a:pt x="51" y="15"/>
                    <a:pt x="52" y="15"/>
                    <a:pt x="51" y="14"/>
                  </a:cubicBezTo>
                  <a:cubicBezTo>
                    <a:pt x="51" y="13"/>
                    <a:pt x="51" y="13"/>
                    <a:pt x="51" y="13"/>
                  </a:cubicBezTo>
                  <a:moveTo>
                    <a:pt x="37" y="15"/>
                  </a:moveTo>
                  <a:cubicBezTo>
                    <a:pt x="38" y="14"/>
                    <a:pt x="38" y="14"/>
                    <a:pt x="38" y="14"/>
                  </a:cubicBezTo>
                  <a:cubicBezTo>
                    <a:pt x="39" y="13"/>
                    <a:pt x="39" y="13"/>
                    <a:pt x="39" y="13"/>
                  </a:cubicBezTo>
                  <a:cubicBezTo>
                    <a:pt x="39" y="13"/>
                    <a:pt x="39" y="12"/>
                    <a:pt x="38" y="12"/>
                  </a:cubicBezTo>
                  <a:cubicBezTo>
                    <a:pt x="38" y="12"/>
                    <a:pt x="38" y="12"/>
                    <a:pt x="38" y="12"/>
                  </a:cubicBezTo>
                  <a:cubicBezTo>
                    <a:pt x="38" y="12"/>
                    <a:pt x="38" y="12"/>
                    <a:pt x="38" y="12"/>
                  </a:cubicBezTo>
                  <a:cubicBezTo>
                    <a:pt x="37" y="12"/>
                    <a:pt x="37" y="12"/>
                    <a:pt x="37" y="12"/>
                  </a:cubicBezTo>
                  <a:cubicBezTo>
                    <a:pt x="36" y="11"/>
                    <a:pt x="36" y="11"/>
                    <a:pt x="36" y="11"/>
                  </a:cubicBezTo>
                  <a:cubicBezTo>
                    <a:pt x="36" y="11"/>
                    <a:pt x="36" y="11"/>
                    <a:pt x="36" y="11"/>
                  </a:cubicBezTo>
                  <a:cubicBezTo>
                    <a:pt x="37" y="10"/>
                    <a:pt x="37" y="10"/>
                    <a:pt x="37" y="10"/>
                  </a:cubicBezTo>
                  <a:cubicBezTo>
                    <a:pt x="36" y="10"/>
                    <a:pt x="36" y="10"/>
                    <a:pt x="36" y="10"/>
                  </a:cubicBezTo>
                  <a:cubicBezTo>
                    <a:pt x="37" y="10"/>
                    <a:pt x="37" y="10"/>
                    <a:pt x="37" y="10"/>
                  </a:cubicBezTo>
                  <a:cubicBezTo>
                    <a:pt x="40" y="9"/>
                    <a:pt x="40" y="9"/>
                    <a:pt x="40" y="9"/>
                  </a:cubicBezTo>
                  <a:cubicBezTo>
                    <a:pt x="40" y="9"/>
                    <a:pt x="40" y="9"/>
                    <a:pt x="40" y="9"/>
                  </a:cubicBezTo>
                  <a:cubicBezTo>
                    <a:pt x="41" y="9"/>
                    <a:pt x="41" y="9"/>
                    <a:pt x="41" y="9"/>
                  </a:cubicBezTo>
                  <a:cubicBezTo>
                    <a:pt x="41" y="10"/>
                    <a:pt x="43" y="11"/>
                    <a:pt x="43" y="13"/>
                  </a:cubicBezTo>
                  <a:cubicBezTo>
                    <a:pt x="43" y="14"/>
                    <a:pt x="43" y="14"/>
                    <a:pt x="43" y="14"/>
                  </a:cubicBezTo>
                  <a:cubicBezTo>
                    <a:pt x="42" y="15"/>
                    <a:pt x="40" y="16"/>
                    <a:pt x="38" y="16"/>
                  </a:cubicBezTo>
                  <a:cubicBezTo>
                    <a:pt x="38" y="16"/>
                    <a:pt x="38" y="16"/>
                    <a:pt x="38" y="16"/>
                  </a:cubicBezTo>
                  <a:cubicBezTo>
                    <a:pt x="38" y="15"/>
                    <a:pt x="38" y="15"/>
                    <a:pt x="38" y="15"/>
                  </a:cubicBezTo>
                  <a:cubicBezTo>
                    <a:pt x="37" y="15"/>
                    <a:pt x="37" y="15"/>
                    <a:pt x="37" y="15"/>
                  </a:cubicBez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70" name="Freeform 138"/>
            <p:cNvSpPr/>
            <p:nvPr userDrawn="1"/>
          </p:nvSpPr>
          <p:spPr bwMode="auto">
            <a:xfrm>
              <a:off x="1239" y="750"/>
              <a:ext cx="10" cy="19"/>
            </a:xfrm>
            <a:custGeom>
              <a:avLst/>
              <a:gdLst>
                <a:gd name="T0" fmla="*/ 2 w 8"/>
                <a:gd name="T1" fmla="*/ 15 h 15"/>
                <a:gd name="T2" fmla="*/ 0 w 8"/>
                <a:gd name="T3" fmla="*/ 14 h 15"/>
                <a:gd name="T4" fmla="*/ 2 w 8"/>
                <a:gd name="T5" fmla="*/ 9 h 15"/>
                <a:gd name="T6" fmla="*/ 3 w 8"/>
                <a:gd name="T7" fmla="*/ 8 h 15"/>
                <a:gd name="T8" fmla="*/ 3 w 8"/>
                <a:gd name="T9" fmla="*/ 8 h 15"/>
                <a:gd name="T10" fmla="*/ 3 w 8"/>
                <a:gd name="T11" fmla="*/ 7 h 15"/>
                <a:gd name="T12" fmla="*/ 4 w 8"/>
                <a:gd name="T13" fmla="*/ 5 h 15"/>
                <a:gd name="T14" fmla="*/ 5 w 8"/>
                <a:gd name="T15" fmla="*/ 4 h 15"/>
                <a:gd name="T16" fmla="*/ 7 w 8"/>
                <a:gd name="T17" fmla="*/ 0 h 15"/>
                <a:gd name="T18" fmla="*/ 8 w 8"/>
                <a:gd name="T19" fmla="*/ 1 h 15"/>
                <a:gd name="T20" fmla="*/ 8 w 8"/>
                <a:gd name="T21" fmla="*/ 2 h 15"/>
                <a:gd name="T22" fmla="*/ 8 w 8"/>
                <a:gd name="T23" fmla="*/ 2 h 15"/>
                <a:gd name="T24" fmla="*/ 8 w 8"/>
                <a:gd name="T25" fmla="*/ 3 h 15"/>
                <a:gd name="T26" fmla="*/ 8 w 8"/>
                <a:gd name="T27" fmla="*/ 7 h 15"/>
                <a:gd name="T28" fmla="*/ 8 w 8"/>
                <a:gd name="T29" fmla="*/ 8 h 15"/>
                <a:gd name="T30" fmla="*/ 8 w 8"/>
                <a:gd name="T31" fmla="*/ 9 h 15"/>
                <a:gd name="T32" fmla="*/ 6 w 8"/>
                <a:gd name="T33" fmla="*/ 13 h 15"/>
                <a:gd name="T34" fmla="*/ 5 w 8"/>
                <a:gd name="T35" fmla="*/ 14 h 15"/>
                <a:gd name="T36" fmla="*/ 5 w 8"/>
                <a:gd name="T37" fmla="*/ 14 h 15"/>
                <a:gd name="T38" fmla="*/ 3 w 8"/>
                <a:gd name="T39" fmla="*/ 15 h 15"/>
                <a:gd name="T40" fmla="*/ 2 w 8"/>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 h="15">
                  <a:moveTo>
                    <a:pt x="2" y="15"/>
                  </a:moveTo>
                  <a:cubicBezTo>
                    <a:pt x="2" y="15"/>
                    <a:pt x="1" y="14"/>
                    <a:pt x="0" y="14"/>
                  </a:cubicBezTo>
                  <a:cubicBezTo>
                    <a:pt x="0" y="12"/>
                    <a:pt x="1" y="11"/>
                    <a:pt x="2" y="9"/>
                  </a:cubicBezTo>
                  <a:cubicBezTo>
                    <a:pt x="2" y="9"/>
                    <a:pt x="3" y="8"/>
                    <a:pt x="3" y="8"/>
                  </a:cubicBezTo>
                  <a:cubicBezTo>
                    <a:pt x="3" y="8"/>
                    <a:pt x="3" y="8"/>
                    <a:pt x="3" y="8"/>
                  </a:cubicBezTo>
                  <a:cubicBezTo>
                    <a:pt x="3" y="7"/>
                    <a:pt x="3" y="7"/>
                    <a:pt x="3" y="7"/>
                  </a:cubicBezTo>
                  <a:cubicBezTo>
                    <a:pt x="4" y="7"/>
                    <a:pt x="4" y="6"/>
                    <a:pt x="4" y="5"/>
                  </a:cubicBezTo>
                  <a:cubicBezTo>
                    <a:pt x="4" y="5"/>
                    <a:pt x="4" y="4"/>
                    <a:pt x="5" y="4"/>
                  </a:cubicBezTo>
                  <a:cubicBezTo>
                    <a:pt x="5" y="2"/>
                    <a:pt x="6" y="0"/>
                    <a:pt x="7" y="0"/>
                  </a:cubicBezTo>
                  <a:cubicBezTo>
                    <a:pt x="7" y="0"/>
                    <a:pt x="8" y="0"/>
                    <a:pt x="8" y="1"/>
                  </a:cubicBezTo>
                  <a:cubicBezTo>
                    <a:pt x="8" y="1"/>
                    <a:pt x="8" y="1"/>
                    <a:pt x="8" y="2"/>
                  </a:cubicBezTo>
                  <a:cubicBezTo>
                    <a:pt x="8" y="2"/>
                    <a:pt x="8" y="2"/>
                    <a:pt x="8" y="2"/>
                  </a:cubicBezTo>
                  <a:cubicBezTo>
                    <a:pt x="8" y="3"/>
                    <a:pt x="8" y="3"/>
                    <a:pt x="8" y="3"/>
                  </a:cubicBezTo>
                  <a:cubicBezTo>
                    <a:pt x="8" y="5"/>
                    <a:pt x="8" y="6"/>
                    <a:pt x="8" y="7"/>
                  </a:cubicBezTo>
                  <a:cubicBezTo>
                    <a:pt x="8" y="8"/>
                    <a:pt x="8" y="8"/>
                    <a:pt x="8" y="8"/>
                  </a:cubicBezTo>
                  <a:cubicBezTo>
                    <a:pt x="8" y="8"/>
                    <a:pt x="8" y="9"/>
                    <a:pt x="8" y="9"/>
                  </a:cubicBezTo>
                  <a:cubicBezTo>
                    <a:pt x="7" y="11"/>
                    <a:pt x="7" y="12"/>
                    <a:pt x="6" y="13"/>
                  </a:cubicBezTo>
                  <a:cubicBezTo>
                    <a:pt x="5" y="14"/>
                    <a:pt x="5" y="14"/>
                    <a:pt x="5" y="14"/>
                  </a:cubicBezTo>
                  <a:cubicBezTo>
                    <a:pt x="5" y="14"/>
                    <a:pt x="5" y="14"/>
                    <a:pt x="5" y="14"/>
                  </a:cubicBezTo>
                  <a:cubicBezTo>
                    <a:pt x="4" y="14"/>
                    <a:pt x="3" y="15"/>
                    <a:pt x="3" y="15"/>
                  </a:cubicBezTo>
                  <a:lnTo>
                    <a:pt x="2" y="1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71" name="Freeform 139"/>
            <p:cNvSpPr/>
            <p:nvPr userDrawn="1"/>
          </p:nvSpPr>
          <p:spPr bwMode="auto">
            <a:xfrm>
              <a:off x="1239" y="750"/>
              <a:ext cx="10" cy="19"/>
            </a:xfrm>
            <a:custGeom>
              <a:avLst/>
              <a:gdLst>
                <a:gd name="T0" fmla="*/ 2 w 8"/>
                <a:gd name="T1" fmla="*/ 15 h 15"/>
                <a:gd name="T2" fmla="*/ 3 w 8"/>
                <a:gd name="T3" fmla="*/ 15 h 15"/>
                <a:gd name="T4" fmla="*/ 5 w 8"/>
                <a:gd name="T5" fmla="*/ 14 h 15"/>
                <a:gd name="T6" fmla="*/ 5 w 8"/>
                <a:gd name="T7" fmla="*/ 14 h 15"/>
                <a:gd name="T8" fmla="*/ 6 w 8"/>
                <a:gd name="T9" fmla="*/ 13 h 15"/>
                <a:gd name="T10" fmla="*/ 8 w 8"/>
                <a:gd name="T11" fmla="*/ 9 h 15"/>
                <a:gd name="T12" fmla="*/ 8 w 8"/>
                <a:gd name="T13" fmla="*/ 8 h 15"/>
                <a:gd name="T14" fmla="*/ 8 w 8"/>
                <a:gd name="T15" fmla="*/ 7 h 15"/>
                <a:gd name="T16" fmla="*/ 8 w 8"/>
                <a:gd name="T17" fmla="*/ 3 h 15"/>
                <a:gd name="T18" fmla="*/ 8 w 8"/>
                <a:gd name="T19" fmla="*/ 2 h 15"/>
                <a:gd name="T20" fmla="*/ 8 w 8"/>
                <a:gd name="T21" fmla="*/ 2 h 15"/>
                <a:gd name="T22" fmla="*/ 8 w 8"/>
                <a:gd name="T23" fmla="*/ 2 h 15"/>
                <a:gd name="T24" fmla="*/ 8 w 8"/>
                <a:gd name="T25" fmla="*/ 1 h 15"/>
                <a:gd name="T26" fmla="*/ 7 w 8"/>
                <a:gd name="T27" fmla="*/ 0 h 15"/>
                <a:gd name="T28" fmla="*/ 5 w 8"/>
                <a:gd name="T29" fmla="*/ 4 h 15"/>
                <a:gd name="T30" fmla="*/ 4 w 8"/>
                <a:gd name="T31" fmla="*/ 5 h 15"/>
                <a:gd name="T32" fmla="*/ 3 w 8"/>
                <a:gd name="T33" fmla="*/ 7 h 15"/>
                <a:gd name="T34" fmla="*/ 3 w 8"/>
                <a:gd name="T35" fmla="*/ 8 h 15"/>
                <a:gd name="T36" fmla="*/ 3 w 8"/>
                <a:gd name="T37" fmla="*/ 8 h 15"/>
                <a:gd name="T38" fmla="*/ 2 w 8"/>
                <a:gd name="T39" fmla="*/ 9 h 15"/>
                <a:gd name="T40" fmla="*/ 0 w 8"/>
                <a:gd name="T41" fmla="*/ 14 h 15"/>
                <a:gd name="T42" fmla="*/ 2 w 8"/>
                <a:gd name="T43"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 h="15">
                  <a:moveTo>
                    <a:pt x="2" y="15"/>
                  </a:moveTo>
                  <a:cubicBezTo>
                    <a:pt x="3" y="15"/>
                    <a:pt x="3" y="15"/>
                    <a:pt x="3" y="15"/>
                  </a:cubicBezTo>
                  <a:cubicBezTo>
                    <a:pt x="3" y="15"/>
                    <a:pt x="4" y="14"/>
                    <a:pt x="5" y="14"/>
                  </a:cubicBezTo>
                  <a:cubicBezTo>
                    <a:pt x="5" y="14"/>
                    <a:pt x="5" y="14"/>
                    <a:pt x="5" y="14"/>
                  </a:cubicBezTo>
                  <a:cubicBezTo>
                    <a:pt x="6" y="13"/>
                    <a:pt x="6" y="13"/>
                    <a:pt x="6" y="13"/>
                  </a:cubicBezTo>
                  <a:cubicBezTo>
                    <a:pt x="7" y="12"/>
                    <a:pt x="7" y="10"/>
                    <a:pt x="8" y="9"/>
                  </a:cubicBezTo>
                  <a:cubicBezTo>
                    <a:pt x="8" y="9"/>
                    <a:pt x="8" y="8"/>
                    <a:pt x="8" y="8"/>
                  </a:cubicBezTo>
                  <a:cubicBezTo>
                    <a:pt x="8" y="7"/>
                    <a:pt x="8" y="7"/>
                    <a:pt x="8" y="7"/>
                  </a:cubicBezTo>
                  <a:cubicBezTo>
                    <a:pt x="8" y="6"/>
                    <a:pt x="8" y="5"/>
                    <a:pt x="8" y="3"/>
                  </a:cubicBezTo>
                  <a:cubicBezTo>
                    <a:pt x="8" y="3"/>
                    <a:pt x="8" y="3"/>
                    <a:pt x="8" y="2"/>
                  </a:cubicBezTo>
                  <a:cubicBezTo>
                    <a:pt x="8" y="2"/>
                    <a:pt x="8" y="2"/>
                    <a:pt x="8" y="2"/>
                  </a:cubicBezTo>
                  <a:cubicBezTo>
                    <a:pt x="8" y="2"/>
                    <a:pt x="8" y="2"/>
                    <a:pt x="8" y="2"/>
                  </a:cubicBezTo>
                  <a:cubicBezTo>
                    <a:pt x="8" y="1"/>
                    <a:pt x="8" y="1"/>
                    <a:pt x="8" y="1"/>
                  </a:cubicBezTo>
                  <a:cubicBezTo>
                    <a:pt x="8" y="0"/>
                    <a:pt x="7" y="0"/>
                    <a:pt x="7" y="0"/>
                  </a:cubicBezTo>
                  <a:cubicBezTo>
                    <a:pt x="6" y="0"/>
                    <a:pt x="5" y="2"/>
                    <a:pt x="5" y="4"/>
                  </a:cubicBezTo>
                  <a:cubicBezTo>
                    <a:pt x="5" y="4"/>
                    <a:pt x="4" y="5"/>
                    <a:pt x="4" y="5"/>
                  </a:cubicBezTo>
                  <a:cubicBezTo>
                    <a:pt x="4" y="6"/>
                    <a:pt x="4" y="7"/>
                    <a:pt x="3" y="7"/>
                  </a:cubicBezTo>
                  <a:cubicBezTo>
                    <a:pt x="3" y="8"/>
                    <a:pt x="3" y="8"/>
                    <a:pt x="3" y="8"/>
                  </a:cubicBezTo>
                  <a:cubicBezTo>
                    <a:pt x="3" y="8"/>
                    <a:pt x="3" y="8"/>
                    <a:pt x="3" y="8"/>
                  </a:cubicBezTo>
                  <a:cubicBezTo>
                    <a:pt x="3" y="8"/>
                    <a:pt x="2" y="9"/>
                    <a:pt x="2" y="9"/>
                  </a:cubicBezTo>
                  <a:cubicBezTo>
                    <a:pt x="1" y="11"/>
                    <a:pt x="0" y="12"/>
                    <a:pt x="0" y="14"/>
                  </a:cubicBezTo>
                  <a:cubicBezTo>
                    <a:pt x="1" y="14"/>
                    <a:pt x="2" y="15"/>
                    <a:pt x="2" y="1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72" name="Freeform 140"/>
            <p:cNvSpPr/>
            <p:nvPr userDrawn="1"/>
          </p:nvSpPr>
          <p:spPr bwMode="auto">
            <a:xfrm>
              <a:off x="1229" y="757"/>
              <a:ext cx="7" cy="9"/>
            </a:xfrm>
            <a:custGeom>
              <a:avLst/>
              <a:gdLst>
                <a:gd name="T0" fmla="*/ 3 w 6"/>
                <a:gd name="T1" fmla="*/ 7 h 7"/>
                <a:gd name="T2" fmla="*/ 1 w 6"/>
                <a:gd name="T3" fmla="*/ 6 h 7"/>
                <a:gd name="T4" fmla="*/ 5 w 6"/>
                <a:gd name="T5" fmla="*/ 0 h 7"/>
                <a:gd name="T6" fmla="*/ 6 w 6"/>
                <a:gd name="T7" fmla="*/ 1 h 7"/>
                <a:gd name="T8" fmla="*/ 5 w 6"/>
                <a:gd name="T9" fmla="*/ 5 h 7"/>
                <a:gd name="T10" fmla="*/ 3 w 6"/>
                <a:gd name="T11" fmla="*/ 7 h 7"/>
              </a:gdLst>
              <a:ahLst/>
              <a:cxnLst>
                <a:cxn ang="0">
                  <a:pos x="T0" y="T1"/>
                </a:cxn>
                <a:cxn ang="0">
                  <a:pos x="T2" y="T3"/>
                </a:cxn>
                <a:cxn ang="0">
                  <a:pos x="T4" y="T5"/>
                </a:cxn>
                <a:cxn ang="0">
                  <a:pos x="T6" y="T7"/>
                </a:cxn>
                <a:cxn ang="0">
                  <a:pos x="T8" y="T9"/>
                </a:cxn>
                <a:cxn ang="0">
                  <a:pos x="T10" y="T11"/>
                </a:cxn>
              </a:cxnLst>
              <a:rect l="0" t="0" r="r" b="b"/>
              <a:pathLst>
                <a:path w="6" h="7">
                  <a:moveTo>
                    <a:pt x="3" y="7"/>
                  </a:moveTo>
                  <a:cubicBezTo>
                    <a:pt x="3" y="7"/>
                    <a:pt x="2" y="6"/>
                    <a:pt x="1" y="6"/>
                  </a:cubicBezTo>
                  <a:cubicBezTo>
                    <a:pt x="0" y="3"/>
                    <a:pt x="4" y="0"/>
                    <a:pt x="5" y="0"/>
                  </a:cubicBezTo>
                  <a:cubicBezTo>
                    <a:pt x="5" y="0"/>
                    <a:pt x="6" y="1"/>
                    <a:pt x="6" y="1"/>
                  </a:cubicBezTo>
                  <a:cubicBezTo>
                    <a:pt x="6" y="2"/>
                    <a:pt x="6" y="4"/>
                    <a:pt x="5" y="5"/>
                  </a:cubicBezTo>
                  <a:cubicBezTo>
                    <a:pt x="4" y="6"/>
                    <a:pt x="3" y="7"/>
                    <a:pt x="3" y="7"/>
                  </a:cubicBez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73" name="Freeform 141"/>
            <p:cNvSpPr/>
            <p:nvPr userDrawn="1"/>
          </p:nvSpPr>
          <p:spPr bwMode="auto">
            <a:xfrm>
              <a:off x="1229" y="757"/>
              <a:ext cx="7" cy="9"/>
            </a:xfrm>
            <a:custGeom>
              <a:avLst/>
              <a:gdLst>
                <a:gd name="T0" fmla="*/ 3 w 6"/>
                <a:gd name="T1" fmla="*/ 7 h 7"/>
                <a:gd name="T2" fmla="*/ 3 w 6"/>
                <a:gd name="T3" fmla="*/ 7 h 7"/>
                <a:gd name="T4" fmla="*/ 5 w 6"/>
                <a:gd name="T5" fmla="*/ 5 h 7"/>
                <a:gd name="T6" fmla="*/ 6 w 6"/>
                <a:gd name="T7" fmla="*/ 1 h 7"/>
                <a:gd name="T8" fmla="*/ 5 w 6"/>
                <a:gd name="T9" fmla="*/ 0 h 7"/>
                <a:gd name="T10" fmla="*/ 1 w 6"/>
                <a:gd name="T11" fmla="*/ 6 h 7"/>
                <a:gd name="T12" fmla="*/ 3 w 6"/>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6" h="7">
                  <a:moveTo>
                    <a:pt x="3" y="7"/>
                  </a:moveTo>
                  <a:cubicBezTo>
                    <a:pt x="3" y="7"/>
                    <a:pt x="3" y="7"/>
                    <a:pt x="3" y="7"/>
                  </a:cubicBezTo>
                  <a:cubicBezTo>
                    <a:pt x="3" y="7"/>
                    <a:pt x="4" y="6"/>
                    <a:pt x="5" y="5"/>
                  </a:cubicBezTo>
                  <a:cubicBezTo>
                    <a:pt x="6" y="4"/>
                    <a:pt x="6" y="2"/>
                    <a:pt x="6" y="1"/>
                  </a:cubicBezTo>
                  <a:cubicBezTo>
                    <a:pt x="6" y="1"/>
                    <a:pt x="5" y="0"/>
                    <a:pt x="5" y="0"/>
                  </a:cubicBezTo>
                  <a:cubicBezTo>
                    <a:pt x="4" y="0"/>
                    <a:pt x="0" y="3"/>
                    <a:pt x="1" y="6"/>
                  </a:cubicBezTo>
                  <a:cubicBezTo>
                    <a:pt x="2" y="6"/>
                    <a:pt x="3" y="7"/>
                    <a:pt x="3" y="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grpSp>
      <p:sp>
        <p:nvSpPr>
          <p:cNvPr id="74" name="矩形 73"/>
          <p:cNvSpPr/>
          <p:nvPr userDrawn="1"/>
        </p:nvSpPr>
        <p:spPr>
          <a:xfrm>
            <a:off x="2472519" y="5599273"/>
            <a:ext cx="7246963" cy="260008"/>
          </a:xfrm>
          <a:prstGeom prst="rect">
            <a:avLst/>
          </a:prstGeom>
        </p:spPr>
        <p:txBody>
          <a:bodyPr wrap="square" lIns="0" rIns="0">
            <a:spAutoFit/>
          </a:bodyPr>
          <a:lstStyle/>
          <a:p>
            <a:pPr marL="0" marR="0" lvl="0" indent="0" algn="dist" defTabSz="914400" rtl="0" eaLnBrk="1" fontAlgn="auto" latinLnBrk="0" hangingPunct="1">
              <a:lnSpc>
                <a:spcPct val="120000"/>
              </a:lnSpc>
              <a:spcAft>
                <a:spcPts val="100"/>
              </a:spcAft>
              <a:buClrTx/>
              <a:buSzTx/>
              <a:buFontTx/>
              <a:buNone/>
              <a:defRPr/>
            </a:pPr>
            <a:r>
              <a:rPr lang="en-US" altLang="zh-CN" sz="1000" b="1" kern="1200" dirty="0">
                <a:solidFill>
                  <a:schemeClr val="bg1">
                    <a:lumMod val="95000"/>
                  </a:schemeClr>
                </a:solidFill>
                <a:effectLst/>
                <a:latin typeface="+mn-lt"/>
                <a:ea typeface="+mn-ea"/>
                <a:cs typeface="+mn-cs"/>
              </a:rPr>
              <a:t>GRADUATION REPORT TEMPLE FOR ZHEJIANG UNIVERSITY</a:t>
            </a:r>
          </a:p>
        </p:txBody>
      </p:sp>
      <p:sp>
        <p:nvSpPr>
          <p:cNvPr id="78" name="文本占位符 77"/>
          <p:cNvSpPr>
            <a:spLocks noGrp="1"/>
          </p:cNvSpPr>
          <p:nvPr>
            <p:ph type="body" sz="quarter" idx="11" hasCustomPrompt="1"/>
          </p:nvPr>
        </p:nvSpPr>
        <p:spPr>
          <a:xfrm>
            <a:off x="2218800" y="4785148"/>
            <a:ext cx="7754400" cy="721821"/>
          </a:xfrm>
          <a:prstGeom prst="rect">
            <a:avLst/>
          </a:prstGeom>
        </p:spPr>
        <p:txBody>
          <a:bodyPr anchor="ctr"/>
          <a:lstStyle>
            <a:lvl1pPr marL="0" indent="0" algn="dist">
              <a:lnSpc>
                <a:spcPct val="100000"/>
              </a:lnSpc>
              <a:buNone/>
              <a:defRPr sz="4800" b="1">
                <a:solidFill>
                  <a:schemeClr val="bg1"/>
                </a:solidFill>
                <a:latin typeface="方正粗雅宋简体" panose="02000000000000000000" pitchFamily="2" charset="-122"/>
                <a:ea typeface="方正粗雅宋简体" panose="02000000000000000000"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单击此处编辑答辩报告题目</a:t>
            </a:r>
          </a:p>
        </p:txBody>
      </p:sp>
      <p:sp>
        <p:nvSpPr>
          <p:cNvPr id="75" name="文本占位符 63"/>
          <p:cNvSpPr>
            <a:spLocks noGrp="1"/>
          </p:cNvSpPr>
          <p:nvPr>
            <p:ph type="body" sz="quarter" idx="12" hasCustomPrompt="1"/>
          </p:nvPr>
        </p:nvSpPr>
        <p:spPr>
          <a:xfrm>
            <a:off x="5070522" y="5968126"/>
            <a:ext cx="2050956" cy="386321"/>
          </a:xfrm>
          <a:prstGeom prst="rect">
            <a:avLst/>
          </a:prstGeom>
        </p:spPr>
        <p:txBody>
          <a:bodyPr anchor="ctr"/>
          <a:lstStyle>
            <a:lvl1pPr marL="0" indent="0" algn="ctr">
              <a:buFontTx/>
              <a:buNone/>
              <a:defRPr sz="1600" b="1">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dirty="0"/>
              <a:t>答辩人信息</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61" name="文本占位符 77"/>
          <p:cNvSpPr>
            <a:spLocks noGrp="1"/>
          </p:cNvSpPr>
          <p:nvPr>
            <p:ph type="body" sz="quarter" idx="11" hasCustomPrompt="1"/>
          </p:nvPr>
        </p:nvSpPr>
        <p:spPr>
          <a:xfrm>
            <a:off x="2218800" y="3076522"/>
            <a:ext cx="7754400" cy="721821"/>
          </a:xfrm>
          <a:prstGeom prst="rect">
            <a:avLst/>
          </a:prstGeom>
        </p:spPr>
        <p:txBody>
          <a:bodyPr anchor="ctr"/>
          <a:lstStyle>
            <a:lvl1pPr marL="0" indent="0" algn="dist">
              <a:lnSpc>
                <a:spcPct val="100000"/>
              </a:lnSpc>
              <a:buNone/>
              <a:defRPr sz="4800" b="1">
                <a:solidFill>
                  <a:schemeClr val="bg1"/>
                </a:solidFill>
                <a:latin typeface="方正粗雅宋简体" panose="02000000000000000000" pitchFamily="2" charset="-122"/>
                <a:ea typeface="方正粗雅宋简体" panose="02000000000000000000"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单击此处编辑答辩报告题目</a:t>
            </a:r>
          </a:p>
        </p:txBody>
      </p:sp>
      <p:sp>
        <p:nvSpPr>
          <p:cNvPr id="64" name="文本占位符 63"/>
          <p:cNvSpPr>
            <a:spLocks noGrp="1"/>
          </p:cNvSpPr>
          <p:nvPr>
            <p:ph type="body" sz="quarter" idx="12" hasCustomPrompt="1"/>
          </p:nvPr>
        </p:nvSpPr>
        <p:spPr>
          <a:xfrm>
            <a:off x="5070522" y="5207653"/>
            <a:ext cx="2050956" cy="386321"/>
          </a:xfrm>
          <a:prstGeom prst="rect">
            <a:avLst/>
          </a:prstGeom>
        </p:spPr>
        <p:txBody>
          <a:bodyPr anchor="ctr"/>
          <a:lstStyle>
            <a:lvl1pPr marL="0" indent="0" algn="ctr">
              <a:buFontTx/>
              <a:buNone/>
              <a:defRPr sz="1600" b="1">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dirty="0"/>
              <a:t>答辩人信息</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81" name="副标题 2"/>
          <p:cNvSpPr txBox="1"/>
          <p:nvPr userDrawn="1"/>
        </p:nvSpPr>
        <p:spPr>
          <a:xfrm>
            <a:off x="1515340" y="3841753"/>
            <a:ext cx="3231227" cy="617036"/>
          </a:xfrm>
          <a:prstGeom prst="rect">
            <a:avLst/>
          </a:prstGeom>
        </p:spPr>
        <p:txBody>
          <a:bodyPr vert="horz" lIns="0" tIns="45720" rIns="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rgbClr val="04428A"/>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dist"/>
            <a:endParaRPr lang="zh-CN" altLang="zh-CN" sz="1200" b="1" kern="1200" dirty="0">
              <a:solidFill>
                <a:schemeClr val="tx1">
                  <a:lumMod val="75000"/>
                  <a:lumOff val="25000"/>
                </a:schemeClr>
              </a:solidFill>
              <a:effectLst/>
              <a:latin typeface="+mn-lt"/>
              <a:ea typeface="+mn-ea"/>
              <a:cs typeface="+mn-cs"/>
            </a:endParaRPr>
          </a:p>
        </p:txBody>
      </p:sp>
      <p:grpSp>
        <p:nvGrpSpPr>
          <p:cNvPr id="87" name="Group 74"/>
          <p:cNvGrpSpPr>
            <a:grpSpLocks noChangeAspect="1"/>
          </p:cNvGrpSpPr>
          <p:nvPr userDrawn="1"/>
        </p:nvGrpSpPr>
        <p:grpSpPr bwMode="auto">
          <a:xfrm>
            <a:off x="1514476" y="1047750"/>
            <a:ext cx="2014537" cy="560387"/>
            <a:chOff x="954" y="660"/>
            <a:chExt cx="1269" cy="353"/>
          </a:xfrm>
        </p:grpSpPr>
        <p:sp>
          <p:nvSpPr>
            <p:cNvPr id="89" name="Freeform 75"/>
            <p:cNvSpPr/>
            <p:nvPr userDrawn="1"/>
          </p:nvSpPr>
          <p:spPr bwMode="auto">
            <a:xfrm>
              <a:off x="1968" y="833"/>
              <a:ext cx="45" cy="46"/>
            </a:xfrm>
            <a:custGeom>
              <a:avLst/>
              <a:gdLst>
                <a:gd name="T0" fmla="*/ 10 w 36"/>
                <a:gd name="T1" fmla="*/ 35 h 37"/>
                <a:gd name="T2" fmla="*/ 6 w 36"/>
                <a:gd name="T3" fmla="*/ 25 h 37"/>
                <a:gd name="T4" fmla="*/ 0 w 36"/>
                <a:gd name="T5" fmla="*/ 11 h 37"/>
                <a:gd name="T6" fmla="*/ 23 w 36"/>
                <a:gd name="T7" fmla="*/ 4 h 37"/>
                <a:gd name="T8" fmla="*/ 28 w 36"/>
                <a:gd name="T9" fmla="*/ 9 h 37"/>
                <a:gd name="T10" fmla="*/ 30 w 36"/>
                <a:gd name="T11" fmla="*/ 29 h 37"/>
                <a:gd name="T12" fmla="*/ 10 w 36"/>
                <a:gd name="T13" fmla="*/ 35 h 37"/>
              </a:gdLst>
              <a:ahLst/>
              <a:cxnLst>
                <a:cxn ang="0">
                  <a:pos x="T0" y="T1"/>
                </a:cxn>
                <a:cxn ang="0">
                  <a:pos x="T2" y="T3"/>
                </a:cxn>
                <a:cxn ang="0">
                  <a:pos x="T4" y="T5"/>
                </a:cxn>
                <a:cxn ang="0">
                  <a:pos x="T6" y="T7"/>
                </a:cxn>
                <a:cxn ang="0">
                  <a:pos x="T8" y="T9"/>
                </a:cxn>
                <a:cxn ang="0">
                  <a:pos x="T10" y="T11"/>
                </a:cxn>
                <a:cxn ang="0">
                  <a:pos x="T12" y="T13"/>
                </a:cxn>
              </a:cxnLst>
              <a:rect l="0" t="0" r="r" b="b"/>
              <a:pathLst>
                <a:path w="36" h="37">
                  <a:moveTo>
                    <a:pt x="10" y="35"/>
                  </a:moveTo>
                  <a:cubicBezTo>
                    <a:pt x="3" y="34"/>
                    <a:pt x="7" y="31"/>
                    <a:pt x="6" y="25"/>
                  </a:cubicBezTo>
                  <a:cubicBezTo>
                    <a:pt x="5" y="20"/>
                    <a:pt x="0" y="14"/>
                    <a:pt x="0" y="11"/>
                  </a:cubicBezTo>
                  <a:cubicBezTo>
                    <a:pt x="1" y="0"/>
                    <a:pt x="15" y="0"/>
                    <a:pt x="23" y="4"/>
                  </a:cubicBezTo>
                  <a:cubicBezTo>
                    <a:pt x="25" y="4"/>
                    <a:pt x="26" y="7"/>
                    <a:pt x="28" y="9"/>
                  </a:cubicBezTo>
                  <a:cubicBezTo>
                    <a:pt x="32" y="14"/>
                    <a:pt x="36" y="23"/>
                    <a:pt x="30" y="29"/>
                  </a:cubicBezTo>
                  <a:cubicBezTo>
                    <a:pt x="25" y="34"/>
                    <a:pt x="17" y="37"/>
                    <a:pt x="10" y="35"/>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0" name="Freeform 76"/>
            <p:cNvSpPr/>
            <p:nvPr userDrawn="1"/>
          </p:nvSpPr>
          <p:spPr bwMode="auto">
            <a:xfrm>
              <a:off x="1837" y="698"/>
              <a:ext cx="160" cy="165"/>
            </a:xfrm>
            <a:custGeom>
              <a:avLst/>
              <a:gdLst>
                <a:gd name="T0" fmla="*/ 33 w 129"/>
                <a:gd name="T1" fmla="*/ 133 h 133"/>
                <a:gd name="T2" fmla="*/ 32 w 129"/>
                <a:gd name="T3" fmla="*/ 133 h 133"/>
                <a:gd name="T4" fmla="*/ 33 w 129"/>
                <a:gd name="T5" fmla="*/ 130 h 133"/>
                <a:gd name="T6" fmla="*/ 55 w 129"/>
                <a:gd name="T7" fmla="*/ 116 h 133"/>
                <a:gd name="T8" fmla="*/ 67 w 129"/>
                <a:gd name="T9" fmla="*/ 99 h 133"/>
                <a:gd name="T10" fmla="*/ 25 w 129"/>
                <a:gd name="T11" fmla="*/ 115 h 133"/>
                <a:gd name="T12" fmla="*/ 8 w 129"/>
                <a:gd name="T13" fmla="*/ 108 h 133"/>
                <a:gd name="T14" fmla="*/ 8 w 129"/>
                <a:gd name="T15" fmla="*/ 107 h 133"/>
                <a:gd name="T16" fmla="*/ 8 w 129"/>
                <a:gd name="T17" fmla="*/ 92 h 133"/>
                <a:gd name="T18" fmla="*/ 60 w 129"/>
                <a:gd name="T19" fmla="*/ 80 h 133"/>
                <a:gd name="T20" fmla="*/ 75 w 129"/>
                <a:gd name="T21" fmla="*/ 72 h 133"/>
                <a:gd name="T22" fmla="*/ 77 w 129"/>
                <a:gd name="T23" fmla="*/ 14 h 133"/>
                <a:gd name="T24" fmla="*/ 99 w 129"/>
                <a:gd name="T25" fmla="*/ 16 h 133"/>
                <a:gd name="T26" fmla="*/ 103 w 129"/>
                <a:gd name="T27" fmla="*/ 21 h 133"/>
                <a:gd name="T28" fmla="*/ 104 w 129"/>
                <a:gd name="T29" fmla="*/ 21 h 133"/>
                <a:gd name="T30" fmla="*/ 103 w 129"/>
                <a:gd name="T31" fmla="*/ 35 h 133"/>
                <a:gd name="T32" fmla="*/ 98 w 129"/>
                <a:gd name="T33" fmla="*/ 65 h 133"/>
                <a:gd name="T34" fmla="*/ 126 w 129"/>
                <a:gd name="T35" fmla="*/ 54 h 133"/>
                <a:gd name="T36" fmla="*/ 123 w 129"/>
                <a:gd name="T37" fmla="*/ 69 h 133"/>
                <a:gd name="T38" fmla="*/ 95 w 129"/>
                <a:gd name="T39" fmla="*/ 81 h 133"/>
                <a:gd name="T40" fmla="*/ 82 w 129"/>
                <a:gd name="T41" fmla="*/ 111 h 133"/>
                <a:gd name="T42" fmla="*/ 75 w 129"/>
                <a:gd name="T43" fmla="*/ 118 h 133"/>
                <a:gd name="T44" fmla="*/ 56 w 129"/>
                <a:gd name="T45" fmla="*/ 128 h 133"/>
                <a:gd name="T46" fmla="*/ 33 w 129"/>
                <a:gd name="T47" fmla="*/ 13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9" h="133">
                  <a:moveTo>
                    <a:pt x="33" y="133"/>
                  </a:moveTo>
                  <a:cubicBezTo>
                    <a:pt x="33" y="133"/>
                    <a:pt x="33" y="133"/>
                    <a:pt x="32" y="133"/>
                  </a:cubicBezTo>
                  <a:cubicBezTo>
                    <a:pt x="32" y="132"/>
                    <a:pt x="32" y="131"/>
                    <a:pt x="33" y="130"/>
                  </a:cubicBezTo>
                  <a:cubicBezTo>
                    <a:pt x="35" y="130"/>
                    <a:pt x="55" y="117"/>
                    <a:pt x="55" y="116"/>
                  </a:cubicBezTo>
                  <a:cubicBezTo>
                    <a:pt x="60" y="111"/>
                    <a:pt x="66" y="106"/>
                    <a:pt x="67" y="99"/>
                  </a:cubicBezTo>
                  <a:cubicBezTo>
                    <a:pt x="53" y="104"/>
                    <a:pt x="40" y="114"/>
                    <a:pt x="25" y="115"/>
                  </a:cubicBezTo>
                  <a:cubicBezTo>
                    <a:pt x="18" y="113"/>
                    <a:pt x="13" y="110"/>
                    <a:pt x="8" y="108"/>
                  </a:cubicBezTo>
                  <a:cubicBezTo>
                    <a:pt x="8" y="107"/>
                    <a:pt x="8" y="107"/>
                    <a:pt x="8" y="107"/>
                  </a:cubicBezTo>
                  <a:cubicBezTo>
                    <a:pt x="1" y="102"/>
                    <a:pt x="0" y="95"/>
                    <a:pt x="8" y="92"/>
                  </a:cubicBezTo>
                  <a:cubicBezTo>
                    <a:pt x="23" y="96"/>
                    <a:pt x="46" y="85"/>
                    <a:pt x="60" y="80"/>
                  </a:cubicBezTo>
                  <a:cubicBezTo>
                    <a:pt x="63" y="78"/>
                    <a:pt x="72" y="75"/>
                    <a:pt x="75" y="72"/>
                  </a:cubicBezTo>
                  <a:cubicBezTo>
                    <a:pt x="78" y="52"/>
                    <a:pt x="76" y="33"/>
                    <a:pt x="77" y="14"/>
                  </a:cubicBezTo>
                  <a:cubicBezTo>
                    <a:pt x="82" y="0"/>
                    <a:pt x="90" y="10"/>
                    <a:pt x="99" y="16"/>
                  </a:cubicBezTo>
                  <a:cubicBezTo>
                    <a:pt x="99" y="18"/>
                    <a:pt x="101" y="19"/>
                    <a:pt x="103" y="21"/>
                  </a:cubicBezTo>
                  <a:cubicBezTo>
                    <a:pt x="103" y="21"/>
                    <a:pt x="103" y="21"/>
                    <a:pt x="104" y="21"/>
                  </a:cubicBezTo>
                  <a:cubicBezTo>
                    <a:pt x="107" y="27"/>
                    <a:pt x="108" y="30"/>
                    <a:pt x="103" y="35"/>
                  </a:cubicBezTo>
                  <a:cubicBezTo>
                    <a:pt x="99" y="44"/>
                    <a:pt x="97" y="54"/>
                    <a:pt x="98" y="65"/>
                  </a:cubicBezTo>
                  <a:cubicBezTo>
                    <a:pt x="108" y="63"/>
                    <a:pt x="114" y="55"/>
                    <a:pt x="126" y="54"/>
                  </a:cubicBezTo>
                  <a:cubicBezTo>
                    <a:pt x="129" y="60"/>
                    <a:pt x="128" y="65"/>
                    <a:pt x="123" y="69"/>
                  </a:cubicBezTo>
                  <a:cubicBezTo>
                    <a:pt x="114" y="73"/>
                    <a:pt x="105" y="77"/>
                    <a:pt x="95" y="81"/>
                  </a:cubicBezTo>
                  <a:cubicBezTo>
                    <a:pt x="93" y="91"/>
                    <a:pt x="89" y="103"/>
                    <a:pt x="82" y="111"/>
                  </a:cubicBezTo>
                  <a:cubicBezTo>
                    <a:pt x="81" y="113"/>
                    <a:pt x="76" y="117"/>
                    <a:pt x="75" y="118"/>
                  </a:cubicBezTo>
                  <a:cubicBezTo>
                    <a:pt x="69" y="122"/>
                    <a:pt x="63" y="126"/>
                    <a:pt x="56" y="128"/>
                  </a:cubicBezTo>
                  <a:cubicBezTo>
                    <a:pt x="37" y="133"/>
                    <a:pt x="37" y="133"/>
                    <a:pt x="33" y="133"/>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1" name="Freeform 77"/>
            <p:cNvSpPr/>
            <p:nvPr userDrawn="1"/>
          </p:nvSpPr>
          <p:spPr bwMode="auto">
            <a:xfrm>
              <a:off x="1630" y="796"/>
              <a:ext cx="94" cy="110"/>
            </a:xfrm>
            <a:custGeom>
              <a:avLst/>
              <a:gdLst>
                <a:gd name="T0" fmla="*/ 17 w 76"/>
                <a:gd name="T1" fmla="*/ 88 h 88"/>
                <a:gd name="T2" fmla="*/ 0 w 76"/>
                <a:gd name="T3" fmla="*/ 70 h 88"/>
                <a:gd name="T4" fmla="*/ 2 w 76"/>
                <a:gd name="T5" fmla="*/ 65 h 88"/>
                <a:gd name="T6" fmla="*/ 50 w 76"/>
                <a:gd name="T7" fmla="*/ 26 h 88"/>
                <a:gd name="T8" fmla="*/ 65 w 76"/>
                <a:gd name="T9" fmla="*/ 5 h 88"/>
                <a:gd name="T10" fmla="*/ 66 w 76"/>
                <a:gd name="T11" fmla="*/ 4 h 88"/>
                <a:gd name="T12" fmla="*/ 66 w 76"/>
                <a:gd name="T13" fmla="*/ 4 h 88"/>
                <a:gd name="T14" fmla="*/ 76 w 76"/>
                <a:gd name="T15" fmla="*/ 5 h 88"/>
                <a:gd name="T16" fmla="*/ 65 w 76"/>
                <a:gd name="T17" fmla="*/ 19 h 88"/>
                <a:gd name="T18" fmla="*/ 54 w 76"/>
                <a:gd name="T19" fmla="*/ 43 h 88"/>
                <a:gd name="T20" fmla="*/ 48 w 76"/>
                <a:gd name="T21" fmla="*/ 54 h 88"/>
                <a:gd name="T22" fmla="*/ 35 w 76"/>
                <a:gd name="T23" fmla="*/ 72 h 88"/>
                <a:gd name="T24" fmla="*/ 21 w 76"/>
                <a:gd name="T25" fmla="*/ 87 h 88"/>
                <a:gd name="T26" fmla="*/ 17 w 76"/>
                <a:gd name="T27"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 h="88">
                  <a:moveTo>
                    <a:pt x="17" y="88"/>
                  </a:moveTo>
                  <a:cubicBezTo>
                    <a:pt x="10" y="84"/>
                    <a:pt x="3" y="76"/>
                    <a:pt x="0" y="70"/>
                  </a:cubicBezTo>
                  <a:cubicBezTo>
                    <a:pt x="0" y="69"/>
                    <a:pt x="1" y="67"/>
                    <a:pt x="2" y="65"/>
                  </a:cubicBezTo>
                  <a:cubicBezTo>
                    <a:pt x="18" y="52"/>
                    <a:pt x="35" y="41"/>
                    <a:pt x="50" y="26"/>
                  </a:cubicBezTo>
                  <a:cubicBezTo>
                    <a:pt x="54" y="19"/>
                    <a:pt x="60" y="12"/>
                    <a:pt x="65" y="5"/>
                  </a:cubicBezTo>
                  <a:cubicBezTo>
                    <a:pt x="65" y="5"/>
                    <a:pt x="66" y="5"/>
                    <a:pt x="66" y="4"/>
                  </a:cubicBezTo>
                  <a:cubicBezTo>
                    <a:pt x="66" y="4"/>
                    <a:pt x="66" y="4"/>
                    <a:pt x="66" y="4"/>
                  </a:cubicBezTo>
                  <a:cubicBezTo>
                    <a:pt x="70" y="0"/>
                    <a:pt x="72" y="0"/>
                    <a:pt x="76" y="5"/>
                  </a:cubicBezTo>
                  <a:cubicBezTo>
                    <a:pt x="76" y="10"/>
                    <a:pt x="68" y="14"/>
                    <a:pt x="65" y="19"/>
                  </a:cubicBezTo>
                  <a:cubicBezTo>
                    <a:pt x="62" y="27"/>
                    <a:pt x="58" y="35"/>
                    <a:pt x="54" y="43"/>
                  </a:cubicBezTo>
                  <a:cubicBezTo>
                    <a:pt x="53" y="45"/>
                    <a:pt x="53" y="45"/>
                    <a:pt x="48" y="54"/>
                  </a:cubicBezTo>
                  <a:cubicBezTo>
                    <a:pt x="43" y="57"/>
                    <a:pt x="37" y="66"/>
                    <a:pt x="35" y="72"/>
                  </a:cubicBezTo>
                  <a:cubicBezTo>
                    <a:pt x="29" y="75"/>
                    <a:pt x="27" y="84"/>
                    <a:pt x="21" y="87"/>
                  </a:cubicBezTo>
                  <a:cubicBezTo>
                    <a:pt x="19" y="87"/>
                    <a:pt x="18" y="87"/>
                    <a:pt x="17" y="88"/>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2" name="Freeform 78"/>
            <p:cNvSpPr/>
            <p:nvPr userDrawn="1"/>
          </p:nvSpPr>
          <p:spPr bwMode="auto">
            <a:xfrm>
              <a:off x="1749" y="791"/>
              <a:ext cx="53" cy="41"/>
            </a:xfrm>
            <a:custGeom>
              <a:avLst/>
              <a:gdLst>
                <a:gd name="T0" fmla="*/ 19 w 43"/>
                <a:gd name="T1" fmla="*/ 33 h 33"/>
                <a:gd name="T2" fmla="*/ 0 w 43"/>
                <a:gd name="T3" fmla="*/ 20 h 33"/>
                <a:gd name="T4" fmla="*/ 2 w 43"/>
                <a:gd name="T5" fmla="*/ 14 h 33"/>
                <a:gd name="T6" fmla="*/ 6 w 43"/>
                <a:gd name="T7" fmla="*/ 13 h 33"/>
                <a:gd name="T8" fmla="*/ 17 w 43"/>
                <a:gd name="T9" fmla="*/ 12 h 33"/>
                <a:gd name="T10" fmla="*/ 43 w 43"/>
                <a:gd name="T11" fmla="*/ 5 h 33"/>
                <a:gd name="T12" fmla="*/ 19 w 43"/>
                <a:gd name="T13" fmla="*/ 33 h 33"/>
              </a:gdLst>
              <a:ahLst/>
              <a:cxnLst>
                <a:cxn ang="0">
                  <a:pos x="T0" y="T1"/>
                </a:cxn>
                <a:cxn ang="0">
                  <a:pos x="T2" y="T3"/>
                </a:cxn>
                <a:cxn ang="0">
                  <a:pos x="T4" y="T5"/>
                </a:cxn>
                <a:cxn ang="0">
                  <a:pos x="T6" y="T7"/>
                </a:cxn>
                <a:cxn ang="0">
                  <a:pos x="T8" y="T9"/>
                </a:cxn>
                <a:cxn ang="0">
                  <a:pos x="T10" y="T11"/>
                </a:cxn>
                <a:cxn ang="0">
                  <a:pos x="T12" y="T13"/>
                </a:cxn>
              </a:cxnLst>
              <a:rect l="0" t="0" r="r" b="b"/>
              <a:pathLst>
                <a:path w="43" h="33">
                  <a:moveTo>
                    <a:pt x="19" y="33"/>
                  </a:moveTo>
                  <a:cubicBezTo>
                    <a:pt x="9" y="33"/>
                    <a:pt x="6" y="26"/>
                    <a:pt x="0" y="20"/>
                  </a:cubicBezTo>
                  <a:cubicBezTo>
                    <a:pt x="0" y="18"/>
                    <a:pt x="2" y="16"/>
                    <a:pt x="2" y="14"/>
                  </a:cubicBezTo>
                  <a:cubicBezTo>
                    <a:pt x="4" y="14"/>
                    <a:pt x="4" y="14"/>
                    <a:pt x="6" y="13"/>
                  </a:cubicBezTo>
                  <a:cubicBezTo>
                    <a:pt x="10" y="12"/>
                    <a:pt x="12" y="12"/>
                    <a:pt x="17" y="12"/>
                  </a:cubicBezTo>
                  <a:cubicBezTo>
                    <a:pt x="22" y="11"/>
                    <a:pt x="38" y="0"/>
                    <a:pt x="43" y="5"/>
                  </a:cubicBezTo>
                  <a:cubicBezTo>
                    <a:pt x="43" y="17"/>
                    <a:pt x="30" y="30"/>
                    <a:pt x="19" y="33"/>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3" name="Freeform 79"/>
            <p:cNvSpPr/>
            <p:nvPr userDrawn="1"/>
          </p:nvSpPr>
          <p:spPr bwMode="auto">
            <a:xfrm>
              <a:off x="1668" y="766"/>
              <a:ext cx="36" cy="42"/>
            </a:xfrm>
            <a:custGeom>
              <a:avLst/>
              <a:gdLst>
                <a:gd name="T0" fmla="*/ 5 w 29"/>
                <a:gd name="T1" fmla="*/ 34 h 34"/>
                <a:gd name="T2" fmla="*/ 0 w 29"/>
                <a:gd name="T3" fmla="*/ 9 h 34"/>
                <a:gd name="T4" fmla="*/ 19 w 29"/>
                <a:gd name="T5" fmla="*/ 6 h 34"/>
                <a:gd name="T6" fmla="*/ 23 w 29"/>
                <a:gd name="T7" fmla="*/ 26 h 34"/>
                <a:gd name="T8" fmla="*/ 5 w 29"/>
                <a:gd name="T9" fmla="*/ 34 h 34"/>
              </a:gdLst>
              <a:ahLst/>
              <a:cxnLst>
                <a:cxn ang="0">
                  <a:pos x="T0" y="T1"/>
                </a:cxn>
                <a:cxn ang="0">
                  <a:pos x="T2" y="T3"/>
                </a:cxn>
                <a:cxn ang="0">
                  <a:pos x="T4" y="T5"/>
                </a:cxn>
                <a:cxn ang="0">
                  <a:pos x="T6" y="T7"/>
                </a:cxn>
                <a:cxn ang="0">
                  <a:pos x="T8" y="T9"/>
                </a:cxn>
              </a:cxnLst>
              <a:rect l="0" t="0" r="r" b="b"/>
              <a:pathLst>
                <a:path w="29" h="34">
                  <a:moveTo>
                    <a:pt x="5" y="34"/>
                  </a:moveTo>
                  <a:cubicBezTo>
                    <a:pt x="1" y="30"/>
                    <a:pt x="0" y="14"/>
                    <a:pt x="0" y="9"/>
                  </a:cubicBezTo>
                  <a:cubicBezTo>
                    <a:pt x="3" y="0"/>
                    <a:pt x="12" y="0"/>
                    <a:pt x="19" y="6"/>
                  </a:cubicBezTo>
                  <a:cubicBezTo>
                    <a:pt x="25" y="14"/>
                    <a:pt x="29" y="17"/>
                    <a:pt x="23" y="26"/>
                  </a:cubicBezTo>
                  <a:cubicBezTo>
                    <a:pt x="16" y="32"/>
                    <a:pt x="13" y="32"/>
                    <a:pt x="5" y="34"/>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4" name="Freeform 80"/>
            <p:cNvSpPr/>
            <p:nvPr userDrawn="1"/>
          </p:nvSpPr>
          <p:spPr bwMode="auto">
            <a:xfrm>
              <a:off x="1748" y="739"/>
              <a:ext cx="63" cy="60"/>
            </a:xfrm>
            <a:custGeom>
              <a:avLst/>
              <a:gdLst>
                <a:gd name="T0" fmla="*/ 17 w 51"/>
                <a:gd name="T1" fmla="*/ 48 h 48"/>
                <a:gd name="T2" fmla="*/ 21 w 51"/>
                <a:gd name="T3" fmla="*/ 30 h 48"/>
                <a:gd name="T4" fmla="*/ 13 w 51"/>
                <a:gd name="T5" fmla="*/ 32 h 48"/>
                <a:gd name="T6" fmla="*/ 3 w 51"/>
                <a:gd name="T7" fmla="*/ 15 h 48"/>
                <a:gd name="T8" fmla="*/ 13 w 51"/>
                <a:gd name="T9" fmla="*/ 11 h 48"/>
                <a:gd name="T10" fmla="*/ 33 w 51"/>
                <a:gd name="T11" fmla="*/ 2 h 48"/>
                <a:gd name="T12" fmla="*/ 51 w 51"/>
                <a:gd name="T13" fmla="*/ 18 h 48"/>
                <a:gd name="T14" fmla="*/ 39 w 51"/>
                <a:gd name="T15" fmla="*/ 36 h 48"/>
                <a:gd name="T16" fmla="*/ 22 w 51"/>
                <a:gd name="T17" fmla="*/ 47 h 48"/>
                <a:gd name="T18" fmla="*/ 17 w 51"/>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 h="48">
                  <a:moveTo>
                    <a:pt x="17" y="48"/>
                  </a:moveTo>
                  <a:cubicBezTo>
                    <a:pt x="16" y="43"/>
                    <a:pt x="23" y="33"/>
                    <a:pt x="21" y="30"/>
                  </a:cubicBezTo>
                  <a:cubicBezTo>
                    <a:pt x="18" y="31"/>
                    <a:pt x="16" y="32"/>
                    <a:pt x="13" y="32"/>
                  </a:cubicBezTo>
                  <a:cubicBezTo>
                    <a:pt x="7" y="29"/>
                    <a:pt x="0" y="21"/>
                    <a:pt x="3" y="15"/>
                  </a:cubicBezTo>
                  <a:cubicBezTo>
                    <a:pt x="7" y="10"/>
                    <a:pt x="6" y="12"/>
                    <a:pt x="13" y="11"/>
                  </a:cubicBezTo>
                  <a:cubicBezTo>
                    <a:pt x="19" y="8"/>
                    <a:pt x="26" y="5"/>
                    <a:pt x="33" y="2"/>
                  </a:cubicBezTo>
                  <a:cubicBezTo>
                    <a:pt x="45" y="0"/>
                    <a:pt x="50" y="6"/>
                    <a:pt x="51" y="18"/>
                  </a:cubicBezTo>
                  <a:cubicBezTo>
                    <a:pt x="49" y="25"/>
                    <a:pt x="44" y="31"/>
                    <a:pt x="39" y="36"/>
                  </a:cubicBezTo>
                  <a:cubicBezTo>
                    <a:pt x="33" y="40"/>
                    <a:pt x="27" y="44"/>
                    <a:pt x="22" y="47"/>
                  </a:cubicBezTo>
                  <a:cubicBezTo>
                    <a:pt x="20" y="47"/>
                    <a:pt x="19" y="48"/>
                    <a:pt x="17" y="48"/>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5" name="Freeform 81"/>
            <p:cNvSpPr/>
            <p:nvPr userDrawn="1"/>
          </p:nvSpPr>
          <p:spPr bwMode="auto">
            <a:xfrm>
              <a:off x="1687" y="715"/>
              <a:ext cx="38" cy="42"/>
            </a:xfrm>
            <a:custGeom>
              <a:avLst/>
              <a:gdLst>
                <a:gd name="T0" fmla="*/ 3 w 31"/>
                <a:gd name="T1" fmla="*/ 34 h 34"/>
                <a:gd name="T2" fmla="*/ 3 w 31"/>
                <a:gd name="T3" fmla="*/ 29 h 34"/>
                <a:gd name="T4" fmla="*/ 0 w 31"/>
                <a:gd name="T5" fmla="*/ 16 h 34"/>
                <a:gd name="T6" fmla="*/ 7 w 31"/>
                <a:gd name="T7" fmla="*/ 0 h 34"/>
                <a:gd name="T8" fmla="*/ 26 w 31"/>
                <a:gd name="T9" fmla="*/ 23 h 34"/>
                <a:gd name="T10" fmla="*/ 3 w 31"/>
                <a:gd name="T11" fmla="*/ 34 h 34"/>
              </a:gdLst>
              <a:ahLst/>
              <a:cxnLst>
                <a:cxn ang="0">
                  <a:pos x="T0" y="T1"/>
                </a:cxn>
                <a:cxn ang="0">
                  <a:pos x="T2" y="T3"/>
                </a:cxn>
                <a:cxn ang="0">
                  <a:pos x="T4" y="T5"/>
                </a:cxn>
                <a:cxn ang="0">
                  <a:pos x="T6" y="T7"/>
                </a:cxn>
                <a:cxn ang="0">
                  <a:pos x="T8" y="T9"/>
                </a:cxn>
                <a:cxn ang="0">
                  <a:pos x="T10" y="T11"/>
                </a:cxn>
              </a:cxnLst>
              <a:rect l="0" t="0" r="r" b="b"/>
              <a:pathLst>
                <a:path w="31" h="34">
                  <a:moveTo>
                    <a:pt x="3" y="34"/>
                  </a:moveTo>
                  <a:cubicBezTo>
                    <a:pt x="1" y="32"/>
                    <a:pt x="2" y="31"/>
                    <a:pt x="3" y="29"/>
                  </a:cubicBezTo>
                  <a:cubicBezTo>
                    <a:pt x="3" y="24"/>
                    <a:pt x="0" y="20"/>
                    <a:pt x="0" y="16"/>
                  </a:cubicBezTo>
                  <a:cubicBezTo>
                    <a:pt x="1" y="7"/>
                    <a:pt x="0" y="4"/>
                    <a:pt x="7" y="0"/>
                  </a:cubicBezTo>
                  <a:cubicBezTo>
                    <a:pt x="12" y="3"/>
                    <a:pt x="31" y="12"/>
                    <a:pt x="26" y="23"/>
                  </a:cubicBezTo>
                  <a:cubicBezTo>
                    <a:pt x="21" y="29"/>
                    <a:pt x="11" y="33"/>
                    <a:pt x="3" y="34"/>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6" name="Freeform 82"/>
            <p:cNvSpPr/>
            <p:nvPr userDrawn="1"/>
          </p:nvSpPr>
          <p:spPr bwMode="auto">
            <a:xfrm>
              <a:off x="1365" y="728"/>
              <a:ext cx="244" cy="186"/>
            </a:xfrm>
            <a:custGeom>
              <a:avLst/>
              <a:gdLst>
                <a:gd name="T0" fmla="*/ 20 w 197"/>
                <a:gd name="T1" fmla="*/ 150 h 150"/>
                <a:gd name="T2" fmla="*/ 13 w 197"/>
                <a:gd name="T3" fmla="*/ 119 h 150"/>
                <a:gd name="T4" fmla="*/ 17 w 197"/>
                <a:gd name="T5" fmla="*/ 114 h 150"/>
                <a:gd name="T6" fmla="*/ 17 w 197"/>
                <a:gd name="T7" fmla="*/ 113 h 150"/>
                <a:gd name="T8" fmla="*/ 44 w 197"/>
                <a:gd name="T9" fmla="*/ 77 h 150"/>
                <a:gd name="T10" fmla="*/ 52 w 197"/>
                <a:gd name="T11" fmla="*/ 67 h 150"/>
                <a:gd name="T12" fmla="*/ 53 w 197"/>
                <a:gd name="T13" fmla="*/ 78 h 150"/>
                <a:gd name="T14" fmla="*/ 60 w 197"/>
                <a:gd name="T15" fmla="*/ 77 h 150"/>
                <a:gd name="T16" fmla="*/ 85 w 197"/>
                <a:gd name="T17" fmla="*/ 58 h 150"/>
                <a:gd name="T18" fmla="*/ 87 w 197"/>
                <a:gd name="T19" fmla="*/ 48 h 150"/>
                <a:gd name="T20" fmla="*/ 68 w 197"/>
                <a:gd name="T21" fmla="*/ 44 h 150"/>
                <a:gd name="T22" fmla="*/ 88 w 197"/>
                <a:gd name="T23" fmla="*/ 29 h 150"/>
                <a:gd name="T24" fmla="*/ 92 w 197"/>
                <a:gd name="T25" fmla="*/ 9 h 150"/>
                <a:gd name="T26" fmla="*/ 109 w 197"/>
                <a:gd name="T27" fmla="*/ 22 h 150"/>
                <a:gd name="T28" fmla="*/ 110 w 197"/>
                <a:gd name="T29" fmla="*/ 37 h 150"/>
                <a:gd name="T30" fmla="*/ 108 w 197"/>
                <a:gd name="T31" fmla="*/ 46 h 150"/>
                <a:gd name="T32" fmla="*/ 111 w 197"/>
                <a:gd name="T33" fmla="*/ 46 h 150"/>
                <a:gd name="T34" fmla="*/ 131 w 197"/>
                <a:gd name="T35" fmla="*/ 32 h 150"/>
                <a:gd name="T36" fmla="*/ 140 w 197"/>
                <a:gd name="T37" fmla="*/ 5 h 150"/>
                <a:gd name="T38" fmla="*/ 163 w 197"/>
                <a:gd name="T39" fmla="*/ 11 h 150"/>
                <a:gd name="T40" fmla="*/ 176 w 197"/>
                <a:gd name="T41" fmla="*/ 5 h 150"/>
                <a:gd name="T42" fmla="*/ 182 w 197"/>
                <a:gd name="T43" fmla="*/ 4 h 150"/>
                <a:gd name="T44" fmla="*/ 184 w 197"/>
                <a:gd name="T45" fmla="*/ 13 h 150"/>
                <a:gd name="T46" fmla="*/ 157 w 197"/>
                <a:gd name="T47" fmla="*/ 39 h 150"/>
                <a:gd name="T48" fmla="*/ 166 w 197"/>
                <a:gd name="T49" fmla="*/ 29 h 150"/>
                <a:gd name="T50" fmla="*/ 190 w 197"/>
                <a:gd name="T51" fmla="*/ 34 h 150"/>
                <a:gd name="T52" fmla="*/ 184 w 197"/>
                <a:gd name="T53" fmla="*/ 50 h 150"/>
                <a:gd name="T54" fmla="*/ 182 w 197"/>
                <a:gd name="T55" fmla="*/ 54 h 150"/>
                <a:gd name="T56" fmla="*/ 182 w 197"/>
                <a:gd name="T57" fmla="*/ 93 h 150"/>
                <a:gd name="T58" fmla="*/ 173 w 197"/>
                <a:gd name="T59" fmla="*/ 107 h 150"/>
                <a:gd name="T60" fmla="*/ 173 w 197"/>
                <a:gd name="T61" fmla="*/ 107 h 150"/>
                <a:gd name="T62" fmla="*/ 172 w 197"/>
                <a:gd name="T63" fmla="*/ 107 h 150"/>
                <a:gd name="T64" fmla="*/ 158 w 197"/>
                <a:gd name="T65" fmla="*/ 113 h 150"/>
                <a:gd name="T66" fmla="*/ 158 w 197"/>
                <a:gd name="T67" fmla="*/ 58 h 150"/>
                <a:gd name="T68" fmla="*/ 157 w 197"/>
                <a:gd name="T69" fmla="*/ 58 h 150"/>
                <a:gd name="T70" fmla="*/ 139 w 197"/>
                <a:gd name="T71" fmla="*/ 89 h 150"/>
                <a:gd name="T72" fmla="*/ 124 w 197"/>
                <a:gd name="T73" fmla="*/ 80 h 150"/>
                <a:gd name="T74" fmla="*/ 128 w 197"/>
                <a:gd name="T75" fmla="*/ 76 h 150"/>
                <a:gd name="T76" fmla="*/ 130 w 197"/>
                <a:gd name="T77" fmla="*/ 45 h 150"/>
                <a:gd name="T78" fmla="*/ 111 w 197"/>
                <a:gd name="T79" fmla="*/ 64 h 150"/>
                <a:gd name="T80" fmla="*/ 102 w 197"/>
                <a:gd name="T81" fmla="*/ 70 h 150"/>
                <a:gd name="T82" fmla="*/ 97 w 197"/>
                <a:gd name="T83" fmla="*/ 91 h 150"/>
                <a:gd name="T84" fmla="*/ 92 w 197"/>
                <a:gd name="T85" fmla="*/ 101 h 150"/>
                <a:gd name="T86" fmla="*/ 91 w 197"/>
                <a:gd name="T87" fmla="*/ 102 h 150"/>
                <a:gd name="T88" fmla="*/ 74 w 197"/>
                <a:gd name="T89" fmla="*/ 110 h 150"/>
                <a:gd name="T90" fmla="*/ 74 w 197"/>
                <a:gd name="T91" fmla="*/ 107 h 150"/>
                <a:gd name="T92" fmla="*/ 82 w 197"/>
                <a:gd name="T93" fmla="*/ 85 h 150"/>
                <a:gd name="T94" fmla="*/ 63 w 197"/>
                <a:gd name="T95" fmla="*/ 94 h 150"/>
                <a:gd name="T96" fmla="*/ 53 w 197"/>
                <a:gd name="T97" fmla="*/ 91 h 150"/>
                <a:gd name="T98" fmla="*/ 52 w 197"/>
                <a:gd name="T99" fmla="*/ 90 h 150"/>
                <a:gd name="T100" fmla="*/ 48 w 197"/>
                <a:gd name="T101" fmla="*/ 88 h 150"/>
                <a:gd name="T102" fmla="*/ 44 w 197"/>
                <a:gd name="T103" fmla="*/ 100 h 150"/>
                <a:gd name="T104" fmla="*/ 27 w 197"/>
                <a:gd name="T105" fmla="*/ 147 h 150"/>
                <a:gd name="T106" fmla="*/ 20 w 197"/>
                <a:gd name="T107"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7" h="150">
                  <a:moveTo>
                    <a:pt x="20" y="150"/>
                  </a:moveTo>
                  <a:cubicBezTo>
                    <a:pt x="9" y="146"/>
                    <a:pt x="0" y="124"/>
                    <a:pt x="13" y="119"/>
                  </a:cubicBezTo>
                  <a:cubicBezTo>
                    <a:pt x="13" y="117"/>
                    <a:pt x="15" y="115"/>
                    <a:pt x="17" y="114"/>
                  </a:cubicBezTo>
                  <a:cubicBezTo>
                    <a:pt x="17" y="114"/>
                    <a:pt x="17" y="113"/>
                    <a:pt x="17" y="113"/>
                  </a:cubicBezTo>
                  <a:cubicBezTo>
                    <a:pt x="27" y="103"/>
                    <a:pt x="35" y="88"/>
                    <a:pt x="44" y="77"/>
                  </a:cubicBezTo>
                  <a:cubicBezTo>
                    <a:pt x="46" y="72"/>
                    <a:pt x="47" y="68"/>
                    <a:pt x="52" y="67"/>
                  </a:cubicBezTo>
                  <a:cubicBezTo>
                    <a:pt x="55" y="69"/>
                    <a:pt x="54" y="74"/>
                    <a:pt x="53" y="78"/>
                  </a:cubicBezTo>
                  <a:cubicBezTo>
                    <a:pt x="54" y="79"/>
                    <a:pt x="58" y="78"/>
                    <a:pt x="60" y="77"/>
                  </a:cubicBezTo>
                  <a:cubicBezTo>
                    <a:pt x="68" y="71"/>
                    <a:pt x="78" y="65"/>
                    <a:pt x="85" y="58"/>
                  </a:cubicBezTo>
                  <a:cubicBezTo>
                    <a:pt x="86" y="55"/>
                    <a:pt x="86" y="52"/>
                    <a:pt x="87" y="48"/>
                  </a:cubicBezTo>
                  <a:cubicBezTo>
                    <a:pt x="81" y="50"/>
                    <a:pt x="64" y="54"/>
                    <a:pt x="68" y="44"/>
                  </a:cubicBezTo>
                  <a:cubicBezTo>
                    <a:pt x="75" y="41"/>
                    <a:pt x="84" y="36"/>
                    <a:pt x="88" y="29"/>
                  </a:cubicBezTo>
                  <a:cubicBezTo>
                    <a:pt x="90" y="22"/>
                    <a:pt x="89" y="14"/>
                    <a:pt x="92" y="9"/>
                  </a:cubicBezTo>
                  <a:cubicBezTo>
                    <a:pt x="99" y="5"/>
                    <a:pt x="108" y="14"/>
                    <a:pt x="109" y="22"/>
                  </a:cubicBezTo>
                  <a:cubicBezTo>
                    <a:pt x="112" y="27"/>
                    <a:pt x="121" y="21"/>
                    <a:pt x="110" y="37"/>
                  </a:cubicBezTo>
                  <a:cubicBezTo>
                    <a:pt x="108" y="39"/>
                    <a:pt x="108" y="42"/>
                    <a:pt x="108" y="46"/>
                  </a:cubicBezTo>
                  <a:cubicBezTo>
                    <a:pt x="109" y="46"/>
                    <a:pt x="110" y="46"/>
                    <a:pt x="111" y="46"/>
                  </a:cubicBezTo>
                  <a:cubicBezTo>
                    <a:pt x="117" y="41"/>
                    <a:pt x="124" y="36"/>
                    <a:pt x="131" y="32"/>
                  </a:cubicBezTo>
                  <a:cubicBezTo>
                    <a:pt x="133" y="22"/>
                    <a:pt x="135" y="14"/>
                    <a:pt x="140" y="5"/>
                  </a:cubicBezTo>
                  <a:cubicBezTo>
                    <a:pt x="147" y="0"/>
                    <a:pt x="156" y="5"/>
                    <a:pt x="163" y="11"/>
                  </a:cubicBezTo>
                  <a:cubicBezTo>
                    <a:pt x="168" y="11"/>
                    <a:pt x="172" y="8"/>
                    <a:pt x="176" y="5"/>
                  </a:cubicBezTo>
                  <a:cubicBezTo>
                    <a:pt x="178" y="4"/>
                    <a:pt x="178" y="4"/>
                    <a:pt x="182" y="4"/>
                  </a:cubicBezTo>
                  <a:cubicBezTo>
                    <a:pt x="183" y="7"/>
                    <a:pt x="184" y="9"/>
                    <a:pt x="184" y="13"/>
                  </a:cubicBezTo>
                  <a:cubicBezTo>
                    <a:pt x="181" y="24"/>
                    <a:pt x="151" y="27"/>
                    <a:pt x="157" y="39"/>
                  </a:cubicBezTo>
                  <a:cubicBezTo>
                    <a:pt x="162" y="39"/>
                    <a:pt x="164" y="33"/>
                    <a:pt x="166" y="29"/>
                  </a:cubicBezTo>
                  <a:cubicBezTo>
                    <a:pt x="171" y="26"/>
                    <a:pt x="184" y="30"/>
                    <a:pt x="190" y="34"/>
                  </a:cubicBezTo>
                  <a:cubicBezTo>
                    <a:pt x="197" y="42"/>
                    <a:pt x="192" y="45"/>
                    <a:pt x="184" y="50"/>
                  </a:cubicBezTo>
                  <a:cubicBezTo>
                    <a:pt x="183" y="52"/>
                    <a:pt x="183" y="53"/>
                    <a:pt x="182" y="54"/>
                  </a:cubicBezTo>
                  <a:cubicBezTo>
                    <a:pt x="181" y="70"/>
                    <a:pt x="181" y="70"/>
                    <a:pt x="182" y="93"/>
                  </a:cubicBezTo>
                  <a:cubicBezTo>
                    <a:pt x="179" y="99"/>
                    <a:pt x="177" y="102"/>
                    <a:pt x="173" y="107"/>
                  </a:cubicBezTo>
                  <a:cubicBezTo>
                    <a:pt x="173" y="107"/>
                    <a:pt x="173" y="107"/>
                    <a:pt x="173" y="107"/>
                  </a:cubicBezTo>
                  <a:cubicBezTo>
                    <a:pt x="172" y="107"/>
                    <a:pt x="172" y="107"/>
                    <a:pt x="172" y="107"/>
                  </a:cubicBezTo>
                  <a:cubicBezTo>
                    <a:pt x="169" y="112"/>
                    <a:pt x="162" y="117"/>
                    <a:pt x="158" y="113"/>
                  </a:cubicBezTo>
                  <a:cubicBezTo>
                    <a:pt x="158" y="94"/>
                    <a:pt x="159" y="75"/>
                    <a:pt x="158" y="58"/>
                  </a:cubicBezTo>
                  <a:cubicBezTo>
                    <a:pt x="158" y="58"/>
                    <a:pt x="157" y="58"/>
                    <a:pt x="157" y="58"/>
                  </a:cubicBezTo>
                  <a:cubicBezTo>
                    <a:pt x="156" y="67"/>
                    <a:pt x="147" y="84"/>
                    <a:pt x="139" y="89"/>
                  </a:cubicBezTo>
                  <a:cubicBezTo>
                    <a:pt x="132" y="90"/>
                    <a:pt x="126" y="86"/>
                    <a:pt x="124" y="80"/>
                  </a:cubicBezTo>
                  <a:cubicBezTo>
                    <a:pt x="125" y="78"/>
                    <a:pt x="126" y="77"/>
                    <a:pt x="128" y="76"/>
                  </a:cubicBezTo>
                  <a:cubicBezTo>
                    <a:pt x="132" y="68"/>
                    <a:pt x="130" y="53"/>
                    <a:pt x="130" y="45"/>
                  </a:cubicBezTo>
                  <a:cubicBezTo>
                    <a:pt x="125" y="46"/>
                    <a:pt x="115" y="59"/>
                    <a:pt x="111" y="64"/>
                  </a:cubicBezTo>
                  <a:cubicBezTo>
                    <a:pt x="108" y="66"/>
                    <a:pt x="105" y="68"/>
                    <a:pt x="102" y="70"/>
                  </a:cubicBezTo>
                  <a:cubicBezTo>
                    <a:pt x="100" y="77"/>
                    <a:pt x="98" y="84"/>
                    <a:pt x="97" y="91"/>
                  </a:cubicBezTo>
                  <a:cubicBezTo>
                    <a:pt x="95" y="95"/>
                    <a:pt x="93" y="98"/>
                    <a:pt x="92" y="101"/>
                  </a:cubicBezTo>
                  <a:cubicBezTo>
                    <a:pt x="91" y="101"/>
                    <a:pt x="91" y="101"/>
                    <a:pt x="91" y="102"/>
                  </a:cubicBezTo>
                  <a:cubicBezTo>
                    <a:pt x="88" y="106"/>
                    <a:pt x="80" y="118"/>
                    <a:pt x="74" y="110"/>
                  </a:cubicBezTo>
                  <a:cubicBezTo>
                    <a:pt x="74" y="109"/>
                    <a:pt x="74" y="108"/>
                    <a:pt x="74" y="107"/>
                  </a:cubicBezTo>
                  <a:cubicBezTo>
                    <a:pt x="79" y="101"/>
                    <a:pt x="82" y="92"/>
                    <a:pt x="82" y="85"/>
                  </a:cubicBezTo>
                  <a:cubicBezTo>
                    <a:pt x="75" y="87"/>
                    <a:pt x="70" y="94"/>
                    <a:pt x="63" y="94"/>
                  </a:cubicBezTo>
                  <a:cubicBezTo>
                    <a:pt x="59" y="93"/>
                    <a:pt x="55" y="92"/>
                    <a:pt x="53" y="91"/>
                  </a:cubicBezTo>
                  <a:cubicBezTo>
                    <a:pt x="53" y="90"/>
                    <a:pt x="53" y="90"/>
                    <a:pt x="52" y="90"/>
                  </a:cubicBezTo>
                  <a:cubicBezTo>
                    <a:pt x="51" y="89"/>
                    <a:pt x="49" y="87"/>
                    <a:pt x="48" y="88"/>
                  </a:cubicBezTo>
                  <a:cubicBezTo>
                    <a:pt x="47" y="91"/>
                    <a:pt x="45" y="96"/>
                    <a:pt x="44" y="100"/>
                  </a:cubicBezTo>
                  <a:cubicBezTo>
                    <a:pt x="37" y="115"/>
                    <a:pt x="32" y="130"/>
                    <a:pt x="27" y="147"/>
                  </a:cubicBezTo>
                  <a:cubicBezTo>
                    <a:pt x="24" y="149"/>
                    <a:pt x="23" y="150"/>
                    <a:pt x="20" y="150"/>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7" name="Freeform 83"/>
            <p:cNvSpPr/>
            <p:nvPr userDrawn="1"/>
          </p:nvSpPr>
          <p:spPr bwMode="auto">
            <a:xfrm>
              <a:off x="1401" y="757"/>
              <a:ext cx="37" cy="49"/>
            </a:xfrm>
            <a:custGeom>
              <a:avLst/>
              <a:gdLst>
                <a:gd name="T0" fmla="*/ 5 w 30"/>
                <a:gd name="T1" fmla="*/ 39 h 39"/>
                <a:gd name="T2" fmla="*/ 6 w 30"/>
                <a:gd name="T3" fmla="*/ 28 h 39"/>
                <a:gd name="T4" fmla="*/ 6 w 30"/>
                <a:gd name="T5" fmla="*/ 1 h 39"/>
                <a:gd name="T6" fmla="*/ 10 w 30"/>
                <a:gd name="T7" fmla="*/ 0 h 39"/>
                <a:gd name="T8" fmla="*/ 25 w 30"/>
                <a:gd name="T9" fmla="*/ 17 h 39"/>
                <a:gd name="T10" fmla="*/ 5 w 30"/>
                <a:gd name="T11" fmla="*/ 39 h 39"/>
              </a:gdLst>
              <a:ahLst/>
              <a:cxnLst>
                <a:cxn ang="0">
                  <a:pos x="T0" y="T1"/>
                </a:cxn>
                <a:cxn ang="0">
                  <a:pos x="T2" y="T3"/>
                </a:cxn>
                <a:cxn ang="0">
                  <a:pos x="T4" y="T5"/>
                </a:cxn>
                <a:cxn ang="0">
                  <a:pos x="T6" y="T7"/>
                </a:cxn>
                <a:cxn ang="0">
                  <a:pos x="T8" y="T9"/>
                </a:cxn>
                <a:cxn ang="0">
                  <a:pos x="T10" y="T11"/>
                </a:cxn>
              </a:cxnLst>
              <a:rect l="0" t="0" r="r" b="b"/>
              <a:pathLst>
                <a:path w="30" h="39">
                  <a:moveTo>
                    <a:pt x="5" y="39"/>
                  </a:moveTo>
                  <a:cubicBezTo>
                    <a:pt x="3" y="35"/>
                    <a:pt x="6" y="31"/>
                    <a:pt x="6" y="28"/>
                  </a:cubicBezTo>
                  <a:cubicBezTo>
                    <a:pt x="3" y="17"/>
                    <a:pt x="0" y="9"/>
                    <a:pt x="6" y="1"/>
                  </a:cubicBezTo>
                  <a:cubicBezTo>
                    <a:pt x="7" y="0"/>
                    <a:pt x="9" y="0"/>
                    <a:pt x="10" y="0"/>
                  </a:cubicBezTo>
                  <a:cubicBezTo>
                    <a:pt x="14" y="4"/>
                    <a:pt x="21" y="11"/>
                    <a:pt x="25" y="17"/>
                  </a:cubicBezTo>
                  <a:cubicBezTo>
                    <a:pt x="30" y="29"/>
                    <a:pt x="14" y="35"/>
                    <a:pt x="5" y="39"/>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8" name="Freeform 84"/>
            <p:cNvSpPr/>
            <p:nvPr userDrawn="1"/>
          </p:nvSpPr>
          <p:spPr bwMode="auto">
            <a:xfrm>
              <a:off x="1411" y="708"/>
              <a:ext cx="46" cy="47"/>
            </a:xfrm>
            <a:custGeom>
              <a:avLst/>
              <a:gdLst>
                <a:gd name="T0" fmla="*/ 7 w 37"/>
                <a:gd name="T1" fmla="*/ 38 h 38"/>
                <a:gd name="T2" fmla="*/ 4 w 37"/>
                <a:gd name="T3" fmla="*/ 36 h 38"/>
                <a:gd name="T4" fmla="*/ 6 w 37"/>
                <a:gd name="T5" fmla="*/ 29 h 38"/>
                <a:gd name="T6" fmla="*/ 11 w 37"/>
                <a:gd name="T7" fmla="*/ 0 h 38"/>
                <a:gd name="T8" fmla="*/ 16 w 37"/>
                <a:gd name="T9" fmla="*/ 7 h 38"/>
                <a:gd name="T10" fmla="*/ 24 w 37"/>
                <a:gd name="T11" fmla="*/ 32 h 38"/>
                <a:gd name="T12" fmla="*/ 7 w 37"/>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37" h="38">
                  <a:moveTo>
                    <a:pt x="7" y="38"/>
                  </a:moveTo>
                  <a:cubicBezTo>
                    <a:pt x="5" y="37"/>
                    <a:pt x="5" y="37"/>
                    <a:pt x="4" y="36"/>
                  </a:cubicBezTo>
                  <a:cubicBezTo>
                    <a:pt x="6" y="33"/>
                    <a:pt x="7" y="32"/>
                    <a:pt x="6" y="29"/>
                  </a:cubicBezTo>
                  <a:cubicBezTo>
                    <a:pt x="0" y="20"/>
                    <a:pt x="0" y="5"/>
                    <a:pt x="11" y="0"/>
                  </a:cubicBezTo>
                  <a:cubicBezTo>
                    <a:pt x="14" y="0"/>
                    <a:pt x="15" y="3"/>
                    <a:pt x="16" y="7"/>
                  </a:cubicBezTo>
                  <a:cubicBezTo>
                    <a:pt x="23" y="14"/>
                    <a:pt x="37" y="23"/>
                    <a:pt x="24" y="32"/>
                  </a:cubicBezTo>
                  <a:cubicBezTo>
                    <a:pt x="18" y="35"/>
                    <a:pt x="13" y="36"/>
                    <a:pt x="7" y="38"/>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9" name="Freeform 85"/>
            <p:cNvSpPr/>
            <p:nvPr userDrawn="1"/>
          </p:nvSpPr>
          <p:spPr bwMode="auto">
            <a:xfrm>
              <a:off x="2067" y="765"/>
              <a:ext cx="26" cy="39"/>
            </a:xfrm>
            <a:custGeom>
              <a:avLst/>
              <a:gdLst>
                <a:gd name="T0" fmla="*/ 10 w 21"/>
                <a:gd name="T1" fmla="*/ 31 h 31"/>
                <a:gd name="T2" fmla="*/ 3 w 21"/>
                <a:gd name="T3" fmla="*/ 4 h 31"/>
                <a:gd name="T4" fmla="*/ 21 w 21"/>
                <a:gd name="T5" fmla="*/ 18 h 31"/>
                <a:gd name="T6" fmla="*/ 10 w 21"/>
                <a:gd name="T7" fmla="*/ 31 h 31"/>
              </a:gdLst>
              <a:ahLst/>
              <a:cxnLst>
                <a:cxn ang="0">
                  <a:pos x="T0" y="T1"/>
                </a:cxn>
                <a:cxn ang="0">
                  <a:pos x="T2" y="T3"/>
                </a:cxn>
                <a:cxn ang="0">
                  <a:pos x="T4" y="T5"/>
                </a:cxn>
                <a:cxn ang="0">
                  <a:pos x="T6" y="T7"/>
                </a:cxn>
              </a:cxnLst>
              <a:rect l="0" t="0" r="r" b="b"/>
              <a:pathLst>
                <a:path w="21" h="31">
                  <a:moveTo>
                    <a:pt x="10" y="31"/>
                  </a:moveTo>
                  <a:cubicBezTo>
                    <a:pt x="0" y="27"/>
                    <a:pt x="2" y="11"/>
                    <a:pt x="3" y="4"/>
                  </a:cubicBezTo>
                  <a:cubicBezTo>
                    <a:pt x="11" y="0"/>
                    <a:pt x="20" y="9"/>
                    <a:pt x="21" y="18"/>
                  </a:cubicBezTo>
                  <a:cubicBezTo>
                    <a:pt x="19" y="27"/>
                    <a:pt x="19" y="29"/>
                    <a:pt x="10" y="31"/>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0" name="Freeform 86"/>
            <p:cNvSpPr>
              <a:spLocks noEditPoints="1"/>
            </p:cNvSpPr>
            <p:nvPr userDrawn="1"/>
          </p:nvSpPr>
          <p:spPr bwMode="auto">
            <a:xfrm>
              <a:off x="2057" y="673"/>
              <a:ext cx="166" cy="224"/>
            </a:xfrm>
            <a:custGeom>
              <a:avLst/>
              <a:gdLst>
                <a:gd name="T0" fmla="*/ 71 w 134"/>
                <a:gd name="T1" fmla="*/ 180 h 180"/>
                <a:gd name="T2" fmla="*/ 34 w 134"/>
                <a:gd name="T3" fmla="*/ 173 h 180"/>
                <a:gd name="T4" fmla="*/ 56 w 134"/>
                <a:gd name="T5" fmla="*/ 148 h 180"/>
                <a:gd name="T6" fmla="*/ 0 w 134"/>
                <a:gd name="T7" fmla="*/ 147 h 180"/>
                <a:gd name="T8" fmla="*/ 56 w 134"/>
                <a:gd name="T9" fmla="*/ 124 h 180"/>
                <a:gd name="T10" fmla="*/ 75 w 134"/>
                <a:gd name="T11" fmla="*/ 108 h 180"/>
                <a:gd name="T12" fmla="*/ 91 w 134"/>
                <a:gd name="T13" fmla="*/ 96 h 180"/>
                <a:gd name="T14" fmla="*/ 32 w 134"/>
                <a:gd name="T15" fmla="*/ 119 h 180"/>
                <a:gd name="T16" fmla="*/ 34 w 134"/>
                <a:gd name="T17" fmla="*/ 108 h 180"/>
                <a:gd name="T18" fmla="*/ 73 w 134"/>
                <a:gd name="T19" fmla="*/ 81 h 180"/>
                <a:gd name="T20" fmla="*/ 71 w 134"/>
                <a:gd name="T21" fmla="*/ 78 h 180"/>
                <a:gd name="T22" fmla="*/ 39 w 134"/>
                <a:gd name="T23" fmla="*/ 93 h 180"/>
                <a:gd name="T24" fmla="*/ 27 w 134"/>
                <a:gd name="T25" fmla="*/ 61 h 180"/>
                <a:gd name="T26" fmla="*/ 33 w 134"/>
                <a:gd name="T27" fmla="*/ 44 h 180"/>
                <a:gd name="T28" fmla="*/ 46 w 134"/>
                <a:gd name="T29" fmla="*/ 56 h 180"/>
                <a:gd name="T30" fmla="*/ 60 w 134"/>
                <a:gd name="T31" fmla="*/ 66 h 180"/>
                <a:gd name="T32" fmla="*/ 68 w 134"/>
                <a:gd name="T33" fmla="*/ 55 h 180"/>
                <a:gd name="T34" fmla="*/ 64 w 134"/>
                <a:gd name="T35" fmla="*/ 45 h 180"/>
                <a:gd name="T36" fmla="*/ 84 w 134"/>
                <a:gd name="T37" fmla="*/ 25 h 180"/>
                <a:gd name="T38" fmla="*/ 111 w 134"/>
                <a:gd name="T39" fmla="*/ 20 h 180"/>
                <a:gd name="T40" fmla="*/ 110 w 134"/>
                <a:gd name="T41" fmla="*/ 29 h 180"/>
                <a:gd name="T42" fmla="*/ 132 w 134"/>
                <a:gd name="T43" fmla="*/ 44 h 180"/>
                <a:gd name="T44" fmla="*/ 115 w 134"/>
                <a:gd name="T45" fmla="*/ 77 h 180"/>
                <a:gd name="T46" fmla="*/ 120 w 134"/>
                <a:gd name="T47" fmla="*/ 94 h 180"/>
                <a:gd name="T48" fmla="*/ 78 w 134"/>
                <a:gd name="T49" fmla="*/ 114 h 180"/>
                <a:gd name="T50" fmla="*/ 92 w 134"/>
                <a:gd name="T51" fmla="*/ 119 h 180"/>
                <a:gd name="T52" fmla="*/ 81 w 134"/>
                <a:gd name="T53" fmla="*/ 140 h 180"/>
                <a:gd name="T54" fmla="*/ 72 w 134"/>
                <a:gd name="T55" fmla="*/ 180 h 180"/>
                <a:gd name="T56" fmla="*/ 106 w 134"/>
                <a:gd name="T57" fmla="*/ 53 h 180"/>
                <a:gd name="T58" fmla="*/ 87 w 134"/>
                <a:gd name="T59" fmla="*/ 59 h 180"/>
                <a:gd name="T60" fmla="*/ 87 w 134"/>
                <a:gd name="T61" fmla="*/ 60 h 180"/>
                <a:gd name="T62" fmla="*/ 92 w 134"/>
                <a:gd name="T63" fmla="*/ 58 h 180"/>
                <a:gd name="T64" fmla="*/ 99 w 134"/>
                <a:gd name="T65" fmla="*/ 67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4" h="180">
                  <a:moveTo>
                    <a:pt x="72" y="180"/>
                  </a:moveTo>
                  <a:cubicBezTo>
                    <a:pt x="71" y="180"/>
                    <a:pt x="71" y="180"/>
                    <a:pt x="71" y="180"/>
                  </a:cubicBezTo>
                  <a:cubicBezTo>
                    <a:pt x="58" y="180"/>
                    <a:pt x="46" y="179"/>
                    <a:pt x="34" y="175"/>
                  </a:cubicBezTo>
                  <a:cubicBezTo>
                    <a:pt x="34" y="174"/>
                    <a:pt x="34" y="174"/>
                    <a:pt x="34" y="173"/>
                  </a:cubicBezTo>
                  <a:cubicBezTo>
                    <a:pt x="41" y="169"/>
                    <a:pt x="50" y="170"/>
                    <a:pt x="55" y="163"/>
                  </a:cubicBezTo>
                  <a:cubicBezTo>
                    <a:pt x="56" y="157"/>
                    <a:pt x="57" y="152"/>
                    <a:pt x="56" y="148"/>
                  </a:cubicBezTo>
                  <a:cubicBezTo>
                    <a:pt x="43" y="148"/>
                    <a:pt x="37" y="157"/>
                    <a:pt x="27" y="161"/>
                  </a:cubicBezTo>
                  <a:cubicBezTo>
                    <a:pt x="18" y="162"/>
                    <a:pt x="3" y="154"/>
                    <a:pt x="0" y="147"/>
                  </a:cubicBezTo>
                  <a:cubicBezTo>
                    <a:pt x="0" y="136"/>
                    <a:pt x="3" y="141"/>
                    <a:pt x="14" y="140"/>
                  </a:cubicBezTo>
                  <a:cubicBezTo>
                    <a:pt x="28" y="138"/>
                    <a:pt x="43" y="130"/>
                    <a:pt x="56" y="124"/>
                  </a:cubicBezTo>
                  <a:cubicBezTo>
                    <a:pt x="59" y="121"/>
                    <a:pt x="59" y="121"/>
                    <a:pt x="61" y="121"/>
                  </a:cubicBezTo>
                  <a:cubicBezTo>
                    <a:pt x="64" y="112"/>
                    <a:pt x="66" y="110"/>
                    <a:pt x="75" y="108"/>
                  </a:cubicBezTo>
                  <a:cubicBezTo>
                    <a:pt x="79" y="106"/>
                    <a:pt x="79" y="106"/>
                    <a:pt x="90" y="100"/>
                  </a:cubicBezTo>
                  <a:cubicBezTo>
                    <a:pt x="90" y="99"/>
                    <a:pt x="91" y="98"/>
                    <a:pt x="91" y="96"/>
                  </a:cubicBezTo>
                  <a:cubicBezTo>
                    <a:pt x="74" y="98"/>
                    <a:pt x="61" y="112"/>
                    <a:pt x="48" y="121"/>
                  </a:cubicBezTo>
                  <a:cubicBezTo>
                    <a:pt x="41" y="122"/>
                    <a:pt x="36" y="121"/>
                    <a:pt x="32" y="119"/>
                  </a:cubicBezTo>
                  <a:cubicBezTo>
                    <a:pt x="29" y="120"/>
                    <a:pt x="12" y="123"/>
                    <a:pt x="20" y="116"/>
                  </a:cubicBezTo>
                  <a:cubicBezTo>
                    <a:pt x="25" y="114"/>
                    <a:pt x="29" y="111"/>
                    <a:pt x="34" y="108"/>
                  </a:cubicBezTo>
                  <a:cubicBezTo>
                    <a:pt x="47" y="100"/>
                    <a:pt x="61" y="93"/>
                    <a:pt x="74" y="85"/>
                  </a:cubicBezTo>
                  <a:cubicBezTo>
                    <a:pt x="74" y="83"/>
                    <a:pt x="73" y="82"/>
                    <a:pt x="73" y="81"/>
                  </a:cubicBezTo>
                  <a:cubicBezTo>
                    <a:pt x="73" y="79"/>
                    <a:pt x="74" y="77"/>
                    <a:pt x="74" y="75"/>
                  </a:cubicBezTo>
                  <a:cubicBezTo>
                    <a:pt x="72" y="76"/>
                    <a:pt x="71" y="76"/>
                    <a:pt x="71" y="78"/>
                  </a:cubicBezTo>
                  <a:cubicBezTo>
                    <a:pt x="63" y="81"/>
                    <a:pt x="59" y="88"/>
                    <a:pt x="53" y="81"/>
                  </a:cubicBezTo>
                  <a:cubicBezTo>
                    <a:pt x="51" y="88"/>
                    <a:pt x="46" y="93"/>
                    <a:pt x="39" y="93"/>
                  </a:cubicBezTo>
                  <a:cubicBezTo>
                    <a:pt x="32" y="89"/>
                    <a:pt x="32" y="77"/>
                    <a:pt x="31" y="72"/>
                  </a:cubicBezTo>
                  <a:cubicBezTo>
                    <a:pt x="30" y="71"/>
                    <a:pt x="29" y="67"/>
                    <a:pt x="27" y="61"/>
                  </a:cubicBezTo>
                  <a:cubicBezTo>
                    <a:pt x="24" y="55"/>
                    <a:pt x="18" y="47"/>
                    <a:pt x="22" y="42"/>
                  </a:cubicBezTo>
                  <a:cubicBezTo>
                    <a:pt x="27" y="38"/>
                    <a:pt x="29" y="37"/>
                    <a:pt x="33" y="44"/>
                  </a:cubicBezTo>
                  <a:cubicBezTo>
                    <a:pt x="37" y="47"/>
                    <a:pt x="42" y="51"/>
                    <a:pt x="45" y="56"/>
                  </a:cubicBezTo>
                  <a:cubicBezTo>
                    <a:pt x="45" y="56"/>
                    <a:pt x="46" y="56"/>
                    <a:pt x="46" y="56"/>
                  </a:cubicBezTo>
                  <a:cubicBezTo>
                    <a:pt x="48" y="62"/>
                    <a:pt x="54" y="69"/>
                    <a:pt x="53" y="77"/>
                  </a:cubicBezTo>
                  <a:cubicBezTo>
                    <a:pt x="57" y="75"/>
                    <a:pt x="62" y="71"/>
                    <a:pt x="60" y="66"/>
                  </a:cubicBezTo>
                  <a:cubicBezTo>
                    <a:pt x="53" y="63"/>
                    <a:pt x="57" y="57"/>
                    <a:pt x="61" y="55"/>
                  </a:cubicBezTo>
                  <a:cubicBezTo>
                    <a:pt x="64" y="55"/>
                    <a:pt x="64" y="55"/>
                    <a:pt x="68" y="55"/>
                  </a:cubicBezTo>
                  <a:cubicBezTo>
                    <a:pt x="68" y="53"/>
                    <a:pt x="68" y="53"/>
                    <a:pt x="67" y="52"/>
                  </a:cubicBezTo>
                  <a:cubicBezTo>
                    <a:pt x="62" y="50"/>
                    <a:pt x="63" y="49"/>
                    <a:pt x="64" y="45"/>
                  </a:cubicBezTo>
                  <a:cubicBezTo>
                    <a:pt x="58" y="43"/>
                    <a:pt x="56" y="37"/>
                    <a:pt x="58" y="32"/>
                  </a:cubicBezTo>
                  <a:cubicBezTo>
                    <a:pt x="76" y="28"/>
                    <a:pt x="76" y="28"/>
                    <a:pt x="84" y="25"/>
                  </a:cubicBezTo>
                  <a:cubicBezTo>
                    <a:pt x="89" y="19"/>
                    <a:pt x="95" y="0"/>
                    <a:pt x="106" y="4"/>
                  </a:cubicBezTo>
                  <a:cubicBezTo>
                    <a:pt x="109" y="7"/>
                    <a:pt x="111" y="14"/>
                    <a:pt x="111" y="20"/>
                  </a:cubicBezTo>
                  <a:cubicBezTo>
                    <a:pt x="109" y="23"/>
                    <a:pt x="107" y="25"/>
                    <a:pt x="107" y="28"/>
                  </a:cubicBezTo>
                  <a:cubicBezTo>
                    <a:pt x="108" y="28"/>
                    <a:pt x="109" y="28"/>
                    <a:pt x="110" y="29"/>
                  </a:cubicBezTo>
                  <a:cubicBezTo>
                    <a:pt x="117" y="25"/>
                    <a:pt x="121" y="21"/>
                    <a:pt x="125" y="31"/>
                  </a:cubicBezTo>
                  <a:cubicBezTo>
                    <a:pt x="132" y="35"/>
                    <a:pt x="134" y="34"/>
                    <a:pt x="132" y="44"/>
                  </a:cubicBezTo>
                  <a:cubicBezTo>
                    <a:pt x="127" y="55"/>
                    <a:pt x="121" y="66"/>
                    <a:pt x="115" y="76"/>
                  </a:cubicBezTo>
                  <a:cubicBezTo>
                    <a:pt x="115" y="76"/>
                    <a:pt x="115" y="77"/>
                    <a:pt x="115" y="77"/>
                  </a:cubicBezTo>
                  <a:cubicBezTo>
                    <a:pt x="117" y="77"/>
                    <a:pt x="118" y="78"/>
                    <a:pt x="119" y="78"/>
                  </a:cubicBezTo>
                  <a:cubicBezTo>
                    <a:pt x="120" y="83"/>
                    <a:pt x="120" y="88"/>
                    <a:pt x="120" y="94"/>
                  </a:cubicBezTo>
                  <a:cubicBezTo>
                    <a:pt x="116" y="100"/>
                    <a:pt x="110" y="100"/>
                    <a:pt x="103" y="101"/>
                  </a:cubicBezTo>
                  <a:cubicBezTo>
                    <a:pt x="94" y="106"/>
                    <a:pt x="86" y="109"/>
                    <a:pt x="78" y="114"/>
                  </a:cubicBezTo>
                  <a:cubicBezTo>
                    <a:pt x="78" y="116"/>
                    <a:pt x="78" y="118"/>
                    <a:pt x="79" y="120"/>
                  </a:cubicBezTo>
                  <a:cubicBezTo>
                    <a:pt x="83" y="120"/>
                    <a:pt x="87" y="120"/>
                    <a:pt x="92" y="119"/>
                  </a:cubicBezTo>
                  <a:cubicBezTo>
                    <a:pt x="96" y="123"/>
                    <a:pt x="96" y="131"/>
                    <a:pt x="93" y="136"/>
                  </a:cubicBezTo>
                  <a:cubicBezTo>
                    <a:pt x="88" y="137"/>
                    <a:pt x="85" y="138"/>
                    <a:pt x="81" y="140"/>
                  </a:cubicBezTo>
                  <a:cubicBezTo>
                    <a:pt x="81" y="142"/>
                    <a:pt x="81" y="144"/>
                    <a:pt x="80" y="147"/>
                  </a:cubicBezTo>
                  <a:cubicBezTo>
                    <a:pt x="81" y="156"/>
                    <a:pt x="85" y="178"/>
                    <a:pt x="72" y="180"/>
                  </a:cubicBezTo>
                  <a:moveTo>
                    <a:pt x="99" y="67"/>
                  </a:moveTo>
                  <a:cubicBezTo>
                    <a:pt x="103" y="63"/>
                    <a:pt x="106" y="58"/>
                    <a:pt x="106" y="53"/>
                  </a:cubicBezTo>
                  <a:cubicBezTo>
                    <a:pt x="102" y="49"/>
                    <a:pt x="96" y="49"/>
                    <a:pt x="92" y="49"/>
                  </a:cubicBezTo>
                  <a:cubicBezTo>
                    <a:pt x="92" y="51"/>
                    <a:pt x="92" y="51"/>
                    <a:pt x="87" y="59"/>
                  </a:cubicBezTo>
                  <a:cubicBezTo>
                    <a:pt x="88" y="59"/>
                    <a:pt x="88" y="59"/>
                    <a:pt x="89" y="59"/>
                  </a:cubicBezTo>
                  <a:cubicBezTo>
                    <a:pt x="88" y="60"/>
                    <a:pt x="88" y="60"/>
                    <a:pt x="87" y="60"/>
                  </a:cubicBezTo>
                  <a:cubicBezTo>
                    <a:pt x="87" y="60"/>
                    <a:pt x="88" y="60"/>
                    <a:pt x="88" y="61"/>
                  </a:cubicBezTo>
                  <a:cubicBezTo>
                    <a:pt x="90" y="61"/>
                    <a:pt x="91" y="59"/>
                    <a:pt x="92" y="58"/>
                  </a:cubicBezTo>
                  <a:cubicBezTo>
                    <a:pt x="98" y="57"/>
                    <a:pt x="98" y="59"/>
                    <a:pt x="98" y="67"/>
                  </a:cubicBezTo>
                  <a:cubicBezTo>
                    <a:pt x="98" y="67"/>
                    <a:pt x="98" y="67"/>
                    <a:pt x="99" y="67"/>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1" name="Freeform 87"/>
            <p:cNvSpPr/>
            <p:nvPr userDrawn="1"/>
          </p:nvSpPr>
          <p:spPr bwMode="auto">
            <a:xfrm>
              <a:off x="1415" y="933"/>
              <a:ext cx="31" cy="40"/>
            </a:xfrm>
            <a:custGeom>
              <a:avLst/>
              <a:gdLst>
                <a:gd name="T0" fmla="*/ 0 w 31"/>
                <a:gd name="T1" fmla="*/ 35 h 40"/>
                <a:gd name="T2" fmla="*/ 24 w 31"/>
                <a:gd name="T3" fmla="*/ 5 h 40"/>
                <a:gd name="T4" fmla="*/ 2 w 31"/>
                <a:gd name="T5" fmla="*/ 5 h 40"/>
                <a:gd name="T6" fmla="*/ 2 w 31"/>
                <a:gd name="T7" fmla="*/ 3 h 40"/>
                <a:gd name="T8" fmla="*/ 2 w 31"/>
                <a:gd name="T9" fmla="*/ 0 h 40"/>
                <a:gd name="T10" fmla="*/ 31 w 31"/>
                <a:gd name="T11" fmla="*/ 0 h 40"/>
                <a:gd name="T12" fmla="*/ 31 w 31"/>
                <a:gd name="T13" fmla="*/ 3 h 40"/>
                <a:gd name="T14" fmla="*/ 31 w 31"/>
                <a:gd name="T15" fmla="*/ 5 h 40"/>
                <a:gd name="T16" fmla="*/ 6 w 31"/>
                <a:gd name="T17" fmla="*/ 35 h 40"/>
                <a:gd name="T18" fmla="*/ 31 w 31"/>
                <a:gd name="T19" fmla="*/ 35 h 40"/>
                <a:gd name="T20" fmla="*/ 31 w 31"/>
                <a:gd name="T21" fmla="*/ 37 h 40"/>
                <a:gd name="T22" fmla="*/ 31 w 31"/>
                <a:gd name="T23" fmla="*/ 40 h 40"/>
                <a:gd name="T24" fmla="*/ 0 w 31"/>
                <a:gd name="T25" fmla="*/ 40 h 40"/>
                <a:gd name="T26" fmla="*/ 0 w 31"/>
                <a:gd name="T27" fmla="*/ 37 h 40"/>
                <a:gd name="T28" fmla="*/ 0 w 31"/>
                <a:gd name="T29" fmla="*/ 3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0" y="35"/>
                  </a:moveTo>
                  <a:lnTo>
                    <a:pt x="24" y="5"/>
                  </a:lnTo>
                  <a:lnTo>
                    <a:pt x="2" y="5"/>
                  </a:lnTo>
                  <a:lnTo>
                    <a:pt x="2" y="3"/>
                  </a:lnTo>
                  <a:lnTo>
                    <a:pt x="2" y="0"/>
                  </a:lnTo>
                  <a:lnTo>
                    <a:pt x="31" y="0"/>
                  </a:lnTo>
                  <a:lnTo>
                    <a:pt x="31" y="3"/>
                  </a:lnTo>
                  <a:lnTo>
                    <a:pt x="31" y="5"/>
                  </a:lnTo>
                  <a:lnTo>
                    <a:pt x="6" y="35"/>
                  </a:lnTo>
                  <a:lnTo>
                    <a:pt x="31" y="35"/>
                  </a:lnTo>
                  <a:lnTo>
                    <a:pt x="31" y="37"/>
                  </a:lnTo>
                  <a:lnTo>
                    <a:pt x="31" y="40"/>
                  </a:lnTo>
                  <a:lnTo>
                    <a:pt x="0" y="40"/>
                  </a:lnTo>
                  <a:lnTo>
                    <a:pt x="0" y="37"/>
                  </a:lnTo>
                  <a:lnTo>
                    <a:pt x="0" y="35"/>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2" name="Freeform 88"/>
            <p:cNvSpPr/>
            <p:nvPr userDrawn="1"/>
          </p:nvSpPr>
          <p:spPr bwMode="auto">
            <a:xfrm>
              <a:off x="1458" y="933"/>
              <a:ext cx="31" cy="40"/>
            </a:xfrm>
            <a:custGeom>
              <a:avLst/>
              <a:gdLst>
                <a:gd name="T0" fmla="*/ 0 w 31"/>
                <a:gd name="T1" fmla="*/ 0 h 40"/>
                <a:gd name="T2" fmla="*/ 2 w 31"/>
                <a:gd name="T3" fmla="*/ 0 h 40"/>
                <a:gd name="T4" fmla="*/ 5 w 31"/>
                <a:gd name="T5" fmla="*/ 0 h 40"/>
                <a:gd name="T6" fmla="*/ 5 w 31"/>
                <a:gd name="T7" fmla="*/ 16 h 40"/>
                <a:gd name="T8" fmla="*/ 26 w 31"/>
                <a:gd name="T9" fmla="*/ 16 h 40"/>
                <a:gd name="T10" fmla="*/ 26 w 31"/>
                <a:gd name="T11" fmla="*/ 0 h 40"/>
                <a:gd name="T12" fmla="*/ 28 w 31"/>
                <a:gd name="T13" fmla="*/ 0 h 40"/>
                <a:gd name="T14" fmla="*/ 31 w 31"/>
                <a:gd name="T15" fmla="*/ 0 h 40"/>
                <a:gd name="T16" fmla="*/ 31 w 31"/>
                <a:gd name="T17" fmla="*/ 40 h 40"/>
                <a:gd name="T18" fmla="*/ 28 w 31"/>
                <a:gd name="T19" fmla="*/ 40 h 40"/>
                <a:gd name="T20" fmla="*/ 26 w 31"/>
                <a:gd name="T21" fmla="*/ 40 h 40"/>
                <a:gd name="T22" fmla="*/ 26 w 31"/>
                <a:gd name="T23" fmla="*/ 21 h 40"/>
                <a:gd name="T24" fmla="*/ 5 w 31"/>
                <a:gd name="T25" fmla="*/ 21 h 40"/>
                <a:gd name="T26" fmla="*/ 5 w 31"/>
                <a:gd name="T27" fmla="*/ 40 h 40"/>
                <a:gd name="T28" fmla="*/ 2 w 31"/>
                <a:gd name="T29" fmla="*/ 40 h 40"/>
                <a:gd name="T30" fmla="*/ 0 w 31"/>
                <a:gd name="T31" fmla="*/ 40 h 40"/>
                <a:gd name="T32" fmla="*/ 0 w 31"/>
                <a:gd name="T3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40">
                  <a:moveTo>
                    <a:pt x="0" y="0"/>
                  </a:moveTo>
                  <a:lnTo>
                    <a:pt x="2" y="0"/>
                  </a:lnTo>
                  <a:lnTo>
                    <a:pt x="5" y="0"/>
                  </a:lnTo>
                  <a:lnTo>
                    <a:pt x="5" y="16"/>
                  </a:lnTo>
                  <a:lnTo>
                    <a:pt x="26" y="16"/>
                  </a:lnTo>
                  <a:lnTo>
                    <a:pt x="26" y="0"/>
                  </a:lnTo>
                  <a:lnTo>
                    <a:pt x="28" y="0"/>
                  </a:lnTo>
                  <a:lnTo>
                    <a:pt x="31" y="0"/>
                  </a:lnTo>
                  <a:lnTo>
                    <a:pt x="31" y="40"/>
                  </a:lnTo>
                  <a:lnTo>
                    <a:pt x="28" y="40"/>
                  </a:lnTo>
                  <a:lnTo>
                    <a:pt x="26" y="40"/>
                  </a:lnTo>
                  <a:lnTo>
                    <a:pt x="26" y="21"/>
                  </a:lnTo>
                  <a:lnTo>
                    <a:pt x="5" y="21"/>
                  </a:lnTo>
                  <a:lnTo>
                    <a:pt x="5" y="40"/>
                  </a:lnTo>
                  <a:lnTo>
                    <a:pt x="2" y="40"/>
                  </a:lnTo>
                  <a:lnTo>
                    <a:pt x="0" y="40"/>
                  </a:lnTo>
                  <a:lnTo>
                    <a:pt x="0"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3" name="Freeform 89"/>
            <p:cNvSpPr/>
            <p:nvPr userDrawn="1"/>
          </p:nvSpPr>
          <p:spPr bwMode="auto">
            <a:xfrm>
              <a:off x="1503" y="933"/>
              <a:ext cx="29" cy="40"/>
            </a:xfrm>
            <a:custGeom>
              <a:avLst/>
              <a:gdLst>
                <a:gd name="T0" fmla="*/ 0 w 29"/>
                <a:gd name="T1" fmla="*/ 40 h 40"/>
                <a:gd name="T2" fmla="*/ 0 w 29"/>
                <a:gd name="T3" fmla="*/ 0 h 40"/>
                <a:gd name="T4" fmla="*/ 29 w 29"/>
                <a:gd name="T5" fmla="*/ 0 h 40"/>
                <a:gd name="T6" fmla="*/ 29 w 29"/>
                <a:gd name="T7" fmla="*/ 3 h 40"/>
                <a:gd name="T8" fmla="*/ 29 w 29"/>
                <a:gd name="T9" fmla="*/ 5 h 40"/>
                <a:gd name="T10" fmla="*/ 6 w 29"/>
                <a:gd name="T11" fmla="*/ 5 h 40"/>
                <a:gd name="T12" fmla="*/ 6 w 29"/>
                <a:gd name="T13" fmla="*/ 16 h 40"/>
                <a:gd name="T14" fmla="*/ 27 w 29"/>
                <a:gd name="T15" fmla="*/ 16 h 40"/>
                <a:gd name="T16" fmla="*/ 27 w 29"/>
                <a:gd name="T17" fmla="*/ 19 h 40"/>
                <a:gd name="T18" fmla="*/ 27 w 29"/>
                <a:gd name="T19" fmla="*/ 21 h 40"/>
                <a:gd name="T20" fmla="*/ 6 w 29"/>
                <a:gd name="T21" fmla="*/ 21 h 40"/>
                <a:gd name="T22" fmla="*/ 6 w 29"/>
                <a:gd name="T23" fmla="*/ 35 h 40"/>
                <a:gd name="T24" fmla="*/ 29 w 29"/>
                <a:gd name="T25" fmla="*/ 35 h 40"/>
                <a:gd name="T26" fmla="*/ 29 w 29"/>
                <a:gd name="T27" fmla="*/ 37 h 40"/>
                <a:gd name="T28" fmla="*/ 29 w 29"/>
                <a:gd name="T29" fmla="*/ 40 h 40"/>
                <a:gd name="T30" fmla="*/ 0 w 29"/>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 h="40">
                  <a:moveTo>
                    <a:pt x="0" y="40"/>
                  </a:moveTo>
                  <a:lnTo>
                    <a:pt x="0" y="0"/>
                  </a:lnTo>
                  <a:lnTo>
                    <a:pt x="29" y="0"/>
                  </a:lnTo>
                  <a:lnTo>
                    <a:pt x="29" y="3"/>
                  </a:lnTo>
                  <a:lnTo>
                    <a:pt x="29" y="5"/>
                  </a:lnTo>
                  <a:lnTo>
                    <a:pt x="6" y="5"/>
                  </a:lnTo>
                  <a:lnTo>
                    <a:pt x="6" y="16"/>
                  </a:lnTo>
                  <a:lnTo>
                    <a:pt x="27" y="16"/>
                  </a:lnTo>
                  <a:lnTo>
                    <a:pt x="27" y="19"/>
                  </a:lnTo>
                  <a:lnTo>
                    <a:pt x="27" y="21"/>
                  </a:lnTo>
                  <a:lnTo>
                    <a:pt x="6" y="21"/>
                  </a:lnTo>
                  <a:lnTo>
                    <a:pt x="6" y="35"/>
                  </a:lnTo>
                  <a:lnTo>
                    <a:pt x="29" y="35"/>
                  </a:lnTo>
                  <a:lnTo>
                    <a:pt x="29" y="37"/>
                  </a:lnTo>
                  <a:lnTo>
                    <a:pt x="29" y="40"/>
                  </a:lnTo>
                  <a:lnTo>
                    <a:pt x="0" y="4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4" name="Freeform 90"/>
            <p:cNvSpPr/>
            <p:nvPr userDrawn="1"/>
          </p:nvSpPr>
          <p:spPr bwMode="auto">
            <a:xfrm>
              <a:off x="1542" y="933"/>
              <a:ext cx="22" cy="40"/>
            </a:xfrm>
            <a:custGeom>
              <a:avLst/>
              <a:gdLst>
                <a:gd name="T0" fmla="*/ 14 w 18"/>
                <a:gd name="T1" fmla="*/ 0 h 32"/>
                <a:gd name="T2" fmla="*/ 16 w 18"/>
                <a:gd name="T3" fmla="*/ 0 h 32"/>
                <a:gd name="T4" fmla="*/ 18 w 18"/>
                <a:gd name="T5" fmla="*/ 0 h 32"/>
                <a:gd name="T6" fmla="*/ 18 w 18"/>
                <a:gd name="T7" fmla="*/ 23 h 32"/>
                <a:gd name="T8" fmla="*/ 16 w 18"/>
                <a:gd name="T9" fmla="*/ 30 h 32"/>
                <a:gd name="T10" fmla="*/ 9 w 18"/>
                <a:gd name="T11" fmla="*/ 32 h 32"/>
                <a:gd name="T12" fmla="*/ 2 w 18"/>
                <a:gd name="T13" fmla="*/ 30 h 32"/>
                <a:gd name="T14" fmla="*/ 0 w 18"/>
                <a:gd name="T15" fmla="*/ 23 h 32"/>
                <a:gd name="T16" fmla="*/ 0 w 18"/>
                <a:gd name="T17" fmla="*/ 21 h 32"/>
                <a:gd name="T18" fmla="*/ 4 w 18"/>
                <a:gd name="T19" fmla="*/ 21 h 32"/>
                <a:gd name="T20" fmla="*/ 4 w 18"/>
                <a:gd name="T21" fmla="*/ 23 h 32"/>
                <a:gd name="T22" fmla="*/ 6 w 18"/>
                <a:gd name="T23" fmla="*/ 27 h 32"/>
                <a:gd name="T24" fmla="*/ 9 w 18"/>
                <a:gd name="T25" fmla="*/ 29 h 32"/>
                <a:gd name="T26" fmla="*/ 13 w 18"/>
                <a:gd name="T27" fmla="*/ 27 h 32"/>
                <a:gd name="T28" fmla="*/ 14 w 18"/>
                <a:gd name="T29" fmla="*/ 23 h 32"/>
                <a:gd name="T30" fmla="*/ 14 w 18"/>
                <a:gd name="T31"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32">
                  <a:moveTo>
                    <a:pt x="14" y="0"/>
                  </a:moveTo>
                  <a:cubicBezTo>
                    <a:pt x="16" y="0"/>
                    <a:pt x="16" y="0"/>
                    <a:pt x="16" y="0"/>
                  </a:cubicBezTo>
                  <a:cubicBezTo>
                    <a:pt x="18" y="0"/>
                    <a:pt x="18" y="0"/>
                    <a:pt x="18" y="0"/>
                  </a:cubicBezTo>
                  <a:cubicBezTo>
                    <a:pt x="18" y="23"/>
                    <a:pt x="18" y="23"/>
                    <a:pt x="18" y="23"/>
                  </a:cubicBezTo>
                  <a:cubicBezTo>
                    <a:pt x="18" y="26"/>
                    <a:pt x="18" y="28"/>
                    <a:pt x="16" y="30"/>
                  </a:cubicBezTo>
                  <a:cubicBezTo>
                    <a:pt x="14" y="32"/>
                    <a:pt x="12" y="32"/>
                    <a:pt x="9" y="32"/>
                  </a:cubicBezTo>
                  <a:cubicBezTo>
                    <a:pt x="6" y="32"/>
                    <a:pt x="4" y="32"/>
                    <a:pt x="2" y="30"/>
                  </a:cubicBezTo>
                  <a:cubicBezTo>
                    <a:pt x="1" y="28"/>
                    <a:pt x="0" y="26"/>
                    <a:pt x="0" y="23"/>
                  </a:cubicBezTo>
                  <a:cubicBezTo>
                    <a:pt x="0" y="21"/>
                    <a:pt x="0" y="21"/>
                    <a:pt x="0" y="21"/>
                  </a:cubicBezTo>
                  <a:cubicBezTo>
                    <a:pt x="4" y="21"/>
                    <a:pt x="4" y="21"/>
                    <a:pt x="4" y="21"/>
                  </a:cubicBezTo>
                  <a:cubicBezTo>
                    <a:pt x="4" y="23"/>
                    <a:pt x="4" y="23"/>
                    <a:pt x="4" y="23"/>
                  </a:cubicBezTo>
                  <a:cubicBezTo>
                    <a:pt x="4" y="25"/>
                    <a:pt x="5" y="26"/>
                    <a:pt x="6" y="27"/>
                  </a:cubicBezTo>
                  <a:cubicBezTo>
                    <a:pt x="6" y="28"/>
                    <a:pt x="8" y="29"/>
                    <a:pt x="9" y="29"/>
                  </a:cubicBezTo>
                  <a:cubicBezTo>
                    <a:pt x="11" y="29"/>
                    <a:pt x="12" y="28"/>
                    <a:pt x="13" y="27"/>
                  </a:cubicBezTo>
                  <a:cubicBezTo>
                    <a:pt x="14" y="26"/>
                    <a:pt x="14" y="24"/>
                    <a:pt x="14" y="23"/>
                  </a:cubicBezTo>
                  <a:lnTo>
                    <a:pt x="14"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5" name="Freeform 91"/>
            <p:cNvSpPr/>
            <p:nvPr userDrawn="1"/>
          </p:nvSpPr>
          <p:spPr bwMode="auto">
            <a:xfrm>
              <a:off x="1579" y="933"/>
              <a:ext cx="5" cy="40"/>
            </a:xfrm>
            <a:custGeom>
              <a:avLst/>
              <a:gdLst>
                <a:gd name="T0" fmla="*/ 0 w 5"/>
                <a:gd name="T1" fmla="*/ 0 h 40"/>
                <a:gd name="T2" fmla="*/ 3 w 5"/>
                <a:gd name="T3" fmla="*/ 0 h 40"/>
                <a:gd name="T4" fmla="*/ 5 w 5"/>
                <a:gd name="T5" fmla="*/ 0 h 40"/>
                <a:gd name="T6" fmla="*/ 5 w 5"/>
                <a:gd name="T7" fmla="*/ 40 h 40"/>
                <a:gd name="T8" fmla="*/ 3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3" y="0"/>
                  </a:lnTo>
                  <a:lnTo>
                    <a:pt x="5" y="0"/>
                  </a:lnTo>
                  <a:lnTo>
                    <a:pt x="5" y="40"/>
                  </a:lnTo>
                  <a:lnTo>
                    <a:pt x="3" y="40"/>
                  </a:lnTo>
                  <a:lnTo>
                    <a:pt x="0" y="40"/>
                  </a:lnTo>
                  <a:lnTo>
                    <a:pt x="0"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6" name="Freeform 92"/>
            <p:cNvSpPr>
              <a:spLocks noEditPoints="1"/>
            </p:cNvSpPr>
            <p:nvPr userDrawn="1"/>
          </p:nvSpPr>
          <p:spPr bwMode="auto">
            <a:xfrm>
              <a:off x="1595" y="933"/>
              <a:ext cx="36" cy="40"/>
            </a:xfrm>
            <a:custGeom>
              <a:avLst/>
              <a:gdLst>
                <a:gd name="T0" fmla="*/ 15 w 36"/>
                <a:gd name="T1" fmla="*/ 0 h 40"/>
                <a:gd name="T2" fmla="*/ 19 w 36"/>
                <a:gd name="T3" fmla="*/ 0 h 40"/>
                <a:gd name="T4" fmla="*/ 21 w 36"/>
                <a:gd name="T5" fmla="*/ 0 h 40"/>
                <a:gd name="T6" fmla="*/ 36 w 36"/>
                <a:gd name="T7" fmla="*/ 40 h 40"/>
                <a:gd name="T8" fmla="*/ 33 w 36"/>
                <a:gd name="T9" fmla="*/ 40 h 40"/>
                <a:gd name="T10" fmla="*/ 30 w 36"/>
                <a:gd name="T11" fmla="*/ 40 h 40"/>
                <a:gd name="T12" fmla="*/ 26 w 36"/>
                <a:gd name="T13" fmla="*/ 27 h 40"/>
                <a:gd name="T14" fmla="*/ 10 w 36"/>
                <a:gd name="T15" fmla="*/ 27 h 40"/>
                <a:gd name="T16" fmla="*/ 7 w 36"/>
                <a:gd name="T17" fmla="*/ 40 h 40"/>
                <a:gd name="T18" fmla="*/ 4 w 36"/>
                <a:gd name="T19" fmla="*/ 40 h 40"/>
                <a:gd name="T20" fmla="*/ 0 w 36"/>
                <a:gd name="T21" fmla="*/ 40 h 40"/>
                <a:gd name="T22" fmla="*/ 15 w 36"/>
                <a:gd name="T23" fmla="*/ 0 h 40"/>
                <a:gd name="T24" fmla="*/ 12 w 36"/>
                <a:gd name="T25" fmla="*/ 24 h 40"/>
                <a:gd name="T26" fmla="*/ 24 w 36"/>
                <a:gd name="T27" fmla="*/ 24 h 40"/>
                <a:gd name="T28" fmla="*/ 19 w 36"/>
                <a:gd name="T29" fmla="*/ 5 h 40"/>
                <a:gd name="T30" fmla="*/ 19 w 36"/>
                <a:gd name="T31" fmla="*/ 5 h 40"/>
                <a:gd name="T32" fmla="*/ 12 w 36"/>
                <a:gd name="T33"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 h="40">
                  <a:moveTo>
                    <a:pt x="15" y="0"/>
                  </a:moveTo>
                  <a:lnTo>
                    <a:pt x="19" y="0"/>
                  </a:lnTo>
                  <a:lnTo>
                    <a:pt x="21" y="0"/>
                  </a:lnTo>
                  <a:lnTo>
                    <a:pt x="36" y="40"/>
                  </a:lnTo>
                  <a:lnTo>
                    <a:pt x="33" y="40"/>
                  </a:lnTo>
                  <a:lnTo>
                    <a:pt x="30" y="40"/>
                  </a:lnTo>
                  <a:lnTo>
                    <a:pt x="26" y="27"/>
                  </a:lnTo>
                  <a:lnTo>
                    <a:pt x="10" y="27"/>
                  </a:lnTo>
                  <a:lnTo>
                    <a:pt x="7" y="40"/>
                  </a:lnTo>
                  <a:lnTo>
                    <a:pt x="4" y="40"/>
                  </a:lnTo>
                  <a:lnTo>
                    <a:pt x="0" y="40"/>
                  </a:lnTo>
                  <a:lnTo>
                    <a:pt x="15" y="0"/>
                  </a:lnTo>
                  <a:close/>
                  <a:moveTo>
                    <a:pt x="12" y="24"/>
                  </a:moveTo>
                  <a:lnTo>
                    <a:pt x="24" y="24"/>
                  </a:lnTo>
                  <a:lnTo>
                    <a:pt x="19" y="5"/>
                  </a:lnTo>
                  <a:lnTo>
                    <a:pt x="19" y="5"/>
                  </a:lnTo>
                  <a:lnTo>
                    <a:pt x="12" y="24"/>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7" name="Freeform 93"/>
            <p:cNvSpPr/>
            <p:nvPr userDrawn="1"/>
          </p:nvSpPr>
          <p:spPr bwMode="auto">
            <a:xfrm>
              <a:off x="1641" y="933"/>
              <a:ext cx="31" cy="40"/>
            </a:xfrm>
            <a:custGeom>
              <a:avLst/>
              <a:gdLst>
                <a:gd name="T0" fmla="*/ 5 w 31"/>
                <a:gd name="T1" fmla="*/ 40 h 40"/>
                <a:gd name="T2" fmla="*/ 3 w 31"/>
                <a:gd name="T3" fmla="*/ 40 h 40"/>
                <a:gd name="T4" fmla="*/ 0 w 31"/>
                <a:gd name="T5" fmla="*/ 40 h 40"/>
                <a:gd name="T6" fmla="*/ 0 w 31"/>
                <a:gd name="T7" fmla="*/ 0 h 40"/>
                <a:gd name="T8" fmla="*/ 4 w 31"/>
                <a:gd name="T9" fmla="*/ 0 h 40"/>
                <a:gd name="T10" fmla="*/ 6 w 31"/>
                <a:gd name="T11" fmla="*/ 0 h 40"/>
                <a:gd name="T12" fmla="*/ 26 w 31"/>
                <a:gd name="T13" fmla="*/ 32 h 40"/>
                <a:gd name="T14" fmla="*/ 26 w 31"/>
                <a:gd name="T15" fmla="*/ 0 h 40"/>
                <a:gd name="T16" fmla="*/ 29 w 31"/>
                <a:gd name="T17" fmla="*/ 0 h 40"/>
                <a:gd name="T18" fmla="*/ 31 w 31"/>
                <a:gd name="T19" fmla="*/ 0 h 40"/>
                <a:gd name="T20" fmla="*/ 31 w 31"/>
                <a:gd name="T21" fmla="*/ 40 h 40"/>
                <a:gd name="T22" fmla="*/ 29 w 31"/>
                <a:gd name="T23" fmla="*/ 40 h 40"/>
                <a:gd name="T24" fmla="*/ 26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3" y="40"/>
                  </a:lnTo>
                  <a:lnTo>
                    <a:pt x="0" y="40"/>
                  </a:lnTo>
                  <a:lnTo>
                    <a:pt x="0" y="0"/>
                  </a:lnTo>
                  <a:lnTo>
                    <a:pt x="4" y="0"/>
                  </a:lnTo>
                  <a:lnTo>
                    <a:pt x="6" y="0"/>
                  </a:lnTo>
                  <a:lnTo>
                    <a:pt x="26" y="32"/>
                  </a:lnTo>
                  <a:lnTo>
                    <a:pt x="26" y="0"/>
                  </a:lnTo>
                  <a:lnTo>
                    <a:pt x="29" y="0"/>
                  </a:lnTo>
                  <a:lnTo>
                    <a:pt x="31" y="0"/>
                  </a:lnTo>
                  <a:lnTo>
                    <a:pt x="31" y="40"/>
                  </a:lnTo>
                  <a:lnTo>
                    <a:pt x="29" y="40"/>
                  </a:lnTo>
                  <a:lnTo>
                    <a:pt x="26" y="40"/>
                  </a:lnTo>
                  <a:lnTo>
                    <a:pt x="5" y="8"/>
                  </a:lnTo>
                  <a:lnTo>
                    <a:pt x="5" y="4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8" name="Freeform 94"/>
            <p:cNvSpPr/>
            <p:nvPr userDrawn="1"/>
          </p:nvSpPr>
          <p:spPr bwMode="auto">
            <a:xfrm>
              <a:off x="1687" y="932"/>
              <a:ext cx="36" cy="41"/>
            </a:xfrm>
            <a:custGeom>
              <a:avLst/>
              <a:gdLst>
                <a:gd name="T0" fmla="*/ 15 w 29"/>
                <a:gd name="T1" fmla="*/ 33 h 33"/>
                <a:gd name="T2" fmla="*/ 4 w 29"/>
                <a:gd name="T3" fmla="*/ 29 h 33"/>
                <a:gd name="T4" fmla="*/ 0 w 29"/>
                <a:gd name="T5" fmla="*/ 17 h 33"/>
                <a:gd name="T6" fmla="*/ 4 w 29"/>
                <a:gd name="T7" fmla="*/ 5 h 33"/>
                <a:gd name="T8" fmla="*/ 15 w 29"/>
                <a:gd name="T9" fmla="*/ 0 h 33"/>
                <a:gd name="T10" fmla="*/ 24 w 29"/>
                <a:gd name="T11" fmla="*/ 3 h 33"/>
                <a:gd name="T12" fmla="*/ 28 w 29"/>
                <a:gd name="T13" fmla="*/ 10 h 33"/>
                <a:gd name="T14" fmla="*/ 24 w 29"/>
                <a:gd name="T15" fmla="*/ 10 h 33"/>
                <a:gd name="T16" fmla="*/ 21 w 29"/>
                <a:gd name="T17" fmla="*/ 5 h 33"/>
                <a:gd name="T18" fmla="*/ 15 w 29"/>
                <a:gd name="T19" fmla="*/ 4 h 33"/>
                <a:gd name="T20" fmla="*/ 7 w 29"/>
                <a:gd name="T21" fmla="*/ 7 h 33"/>
                <a:gd name="T22" fmla="*/ 4 w 29"/>
                <a:gd name="T23" fmla="*/ 17 h 33"/>
                <a:gd name="T24" fmla="*/ 7 w 29"/>
                <a:gd name="T25" fmla="*/ 26 h 33"/>
                <a:gd name="T26" fmla="*/ 15 w 29"/>
                <a:gd name="T27" fmla="*/ 30 h 33"/>
                <a:gd name="T28" fmla="*/ 23 w 29"/>
                <a:gd name="T29" fmla="*/ 26 h 33"/>
                <a:gd name="T30" fmla="*/ 24 w 29"/>
                <a:gd name="T31" fmla="*/ 25 h 33"/>
                <a:gd name="T32" fmla="*/ 25 w 29"/>
                <a:gd name="T33" fmla="*/ 23 h 33"/>
                <a:gd name="T34" fmla="*/ 25 w 29"/>
                <a:gd name="T35" fmla="*/ 20 h 33"/>
                <a:gd name="T36" fmla="*/ 25 w 29"/>
                <a:gd name="T37" fmla="*/ 19 h 33"/>
                <a:gd name="T38" fmla="*/ 15 w 29"/>
                <a:gd name="T39" fmla="*/ 19 h 33"/>
                <a:gd name="T40" fmla="*/ 15 w 29"/>
                <a:gd name="T41" fmla="*/ 16 h 33"/>
                <a:gd name="T42" fmla="*/ 29 w 29"/>
                <a:gd name="T43" fmla="*/ 16 h 33"/>
                <a:gd name="T44" fmla="*/ 29 w 29"/>
                <a:gd name="T45" fmla="*/ 32 h 33"/>
                <a:gd name="T46" fmla="*/ 26 w 29"/>
                <a:gd name="T47" fmla="*/ 32 h 33"/>
                <a:gd name="T48" fmla="*/ 25 w 29"/>
                <a:gd name="T49" fmla="*/ 28 h 33"/>
                <a:gd name="T50" fmla="*/ 25 w 29"/>
                <a:gd name="T51" fmla="*/ 29 h 33"/>
                <a:gd name="T52" fmla="*/ 15 w 29"/>
                <a:gd name="T53"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 h="33">
                  <a:moveTo>
                    <a:pt x="15" y="33"/>
                  </a:moveTo>
                  <a:cubicBezTo>
                    <a:pt x="10" y="33"/>
                    <a:pt x="7" y="32"/>
                    <a:pt x="4" y="29"/>
                  </a:cubicBezTo>
                  <a:cubicBezTo>
                    <a:pt x="1" y="26"/>
                    <a:pt x="0" y="22"/>
                    <a:pt x="0" y="17"/>
                  </a:cubicBezTo>
                  <a:cubicBezTo>
                    <a:pt x="0" y="12"/>
                    <a:pt x="1" y="8"/>
                    <a:pt x="4" y="5"/>
                  </a:cubicBezTo>
                  <a:cubicBezTo>
                    <a:pt x="7" y="1"/>
                    <a:pt x="10" y="0"/>
                    <a:pt x="15" y="0"/>
                  </a:cubicBezTo>
                  <a:cubicBezTo>
                    <a:pt x="18" y="0"/>
                    <a:pt x="21" y="1"/>
                    <a:pt x="24" y="3"/>
                  </a:cubicBezTo>
                  <a:cubicBezTo>
                    <a:pt x="26" y="5"/>
                    <a:pt x="28" y="7"/>
                    <a:pt x="28" y="10"/>
                  </a:cubicBezTo>
                  <a:cubicBezTo>
                    <a:pt x="24" y="10"/>
                    <a:pt x="24" y="10"/>
                    <a:pt x="24" y="10"/>
                  </a:cubicBezTo>
                  <a:cubicBezTo>
                    <a:pt x="24" y="8"/>
                    <a:pt x="23" y="7"/>
                    <a:pt x="21" y="5"/>
                  </a:cubicBezTo>
                  <a:cubicBezTo>
                    <a:pt x="19" y="4"/>
                    <a:pt x="17" y="4"/>
                    <a:pt x="15" y="4"/>
                  </a:cubicBezTo>
                  <a:cubicBezTo>
                    <a:pt x="12" y="4"/>
                    <a:pt x="9" y="5"/>
                    <a:pt x="7" y="7"/>
                  </a:cubicBezTo>
                  <a:cubicBezTo>
                    <a:pt x="5" y="10"/>
                    <a:pt x="4" y="13"/>
                    <a:pt x="4" y="17"/>
                  </a:cubicBezTo>
                  <a:cubicBezTo>
                    <a:pt x="4" y="21"/>
                    <a:pt x="5" y="24"/>
                    <a:pt x="7" y="26"/>
                  </a:cubicBezTo>
                  <a:cubicBezTo>
                    <a:pt x="9" y="29"/>
                    <a:pt x="12" y="30"/>
                    <a:pt x="15" y="30"/>
                  </a:cubicBezTo>
                  <a:cubicBezTo>
                    <a:pt x="18" y="30"/>
                    <a:pt x="21" y="29"/>
                    <a:pt x="23" y="26"/>
                  </a:cubicBezTo>
                  <a:cubicBezTo>
                    <a:pt x="23" y="26"/>
                    <a:pt x="23" y="25"/>
                    <a:pt x="24" y="25"/>
                  </a:cubicBezTo>
                  <a:cubicBezTo>
                    <a:pt x="24" y="24"/>
                    <a:pt x="24" y="24"/>
                    <a:pt x="25" y="23"/>
                  </a:cubicBezTo>
                  <a:cubicBezTo>
                    <a:pt x="25" y="22"/>
                    <a:pt x="25" y="21"/>
                    <a:pt x="25" y="20"/>
                  </a:cubicBezTo>
                  <a:cubicBezTo>
                    <a:pt x="25" y="19"/>
                    <a:pt x="25" y="19"/>
                    <a:pt x="25" y="19"/>
                  </a:cubicBezTo>
                  <a:cubicBezTo>
                    <a:pt x="15" y="19"/>
                    <a:pt x="15" y="19"/>
                    <a:pt x="15" y="19"/>
                  </a:cubicBezTo>
                  <a:cubicBezTo>
                    <a:pt x="15" y="16"/>
                    <a:pt x="15" y="16"/>
                    <a:pt x="15" y="16"/>
                  </a:cubicBezTo>
                  <a:cubicBezTo>
                    <a:pt x="29" y="16"/>
                    <a:pt x="29" y="16"/>
                    <a:pt x="29" y="16"/>
                  </a:cubicBezTo>
                  <a:cubicBezTo>
                    <a:pt x="29" y="32"/>
                    <a:pt x="29" y="32"/>
                    <a:pt x="29" y="32"/>
                  </a:cubicBezTo>
                  <a:cubicBezTo>
                    <a:pt x="26" y="32"/>
                    <a:pt x="26" y="32"/>
                    <a:pt x="26" y="32"/>
                  </a:cubicBezTo>
                  <a:cubicBezTo>
                    <a:pt x="25" y="28"/>
                    <a:pt x="25" y="28"/>
                    <a:pt x="25" y="28"/>
                  </a:cubicBezTo>
                  <a:cubicBezTo>
                    <a:pt x="25" y="29"/>
                    <a:pt x="25" y="29"/>
                    <a:pt x="25" y="29"/>
                  </a:cubicBezTo>
                  <a:cubicBezTo>
                    <a:pt x="22" y="32"/>
                    <a:pt x="19" y="33"/>
                    <a:pt x="15" y="33"/>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9" name="Freeform 95"/>
            <p:cNvSpPr/>
            <p:nvPr userDrawn="1"/>
          </p:nvSpPr>
          <p:spPr bwMode="auto">
            <a:xfrm>
              <a:off x="1760" y="933"/>
              <a:ext cx="31" cy="40"/>
            </a:xfrm>
            <a:custGeom>
              <a:avLst/>
              <a:gdLst>
                <a:gd name="T0" fmla="*/ 25 w 25"/>
                <a:gd name="T1" fmla="*/ 20 h 32"/>
                <a:gd name="T2" fmla="*/ 21 w 25"/>
                <a:gd name="T3" fmla="*/ 29 h 32"/>
                <a:gd name="T4" fmla="*/ 12 w 25"/>
                <a:gd name="T5" fmla="*/ 32 h 32"/>
                <a:gd name="T6" fmla="*/ 3 w 25"/>
                <a:gd name="T7" fmla="*/ 29 h 32"/>
                <a:gd name="T8" fmla="*/ 0 w 25"/>
                <a:gd name="T9" fmla="*/ 20 h 32"/>
                <a:gd name="T10" fmla="*/ 0 w 25"/>
                <a:gd name="T11" fmla="*/ 0 h 32"/>
                <a:gd name="T12" fmla="*/ 2 w 25"/>
                <a:gd name="T13" fmla="*/ 0 h 32"/>
                <a:gd name="T14" fmla="*/ 4 w 25"/>
                <a:gd name="T15" fmla="*/ 0 h 32"/>
                <a:gd name="T16" fmla="*/ 4 w 25"/>
                <a:gd name="T17" fmla="*/ 20 h 32"/>
                <a:gd name="T18" fmla="*/ 6 w 25"/>
                <a:gd name="T19" fmla="*/ 26 h 32"/>
                <a:gd name="T20" fmla="*/ 12 w 25"/>
                <a:gd name="T21" fmla="*/ 29 h 32"/>
                <a:gd name="T22" fmla="*/ 18 w 25"/>
                <a:gd name="T23" fmla="*/ 26 h 32"/>
                <a:gd name="T24" fmla="*/ 20 w 25"/>
                <a:gd name="T25" fmla="*/ 20 h 32"/>
                <a:gd name="T26" fmla="*/ 20 w 25"/>
                <a:gd name="T27" fmla="*/ 0 h 32"/>
                <a:gd name="T28" fmla="*/ 22 w 25"/>
                <a:gd name="T29" fmla="*/ 0 h 32"/>
                <a:gd name="T30" fmla="*/ 25 w 25"/>
                <a:gd name="T31" fmla="*/ 0 h 32"/>
                <a:gd name="T32" fmla="*/ 25 w 25"/>
                <a:gd name="T33"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 h="32">
                  <a:moveTo>
                    <a:pt x="25" y="20"/>
                  </a:moveTo>
                  <a:cubicBezTo>
                    <a:pt x="25" y="24"/>
                    <a:pt x="23" y="27"/>
                    <a:pt x="21" y="29"/>
                  </a:cubicBezTo>
                  <a:cubicBezTo>
                    <a:pt x="19" y="31"/>
                    <a:pt x="16" y="32"/>
                    <a:pt x="12" y="32"/>
                  </a:cubicBezTo>
                  <a:cubicBezTo>
                    <a:pt x="8" y="32"/>
                    <a:pt x="5" y="31"/>
                    <a:pt x="3" y="29"/>
                  </a:cubicBezTo>
                  <a:cubicBezTo>
                    <a:pt x="1" y="27"/>
                    <a:pt x="0" y="24"/>
                    <a:pt x="0" y="20"/>
                  </a:cubicBezTo>
                  <a:cubicBezTo>
                    <a:pt x="0" y="0"/>
                    <a:pt x="0" y="0"/>
                    <a:pt x="0" y="0"/>
                  </a:cubicBezTo>
                  <a:cubicBezTo>
                    <a:pt x="2" y="0"/>
                    <a:pt x="2" y="0"/>
                    <a:pt x="2" y="0"/>
                  </a:cubicBezTo>
                  <a:cubicBezTo>
                    <a:pt x="4" y="0"/>
                    <a:pt x="4" y="0"/>
                    <a:pt x="4" y="0"/>
                  </a:cubicBezTo>
                  <a:cubicBezTo>
                    <a:pt x="4" y="20"/>
                    <a:pt x="4" y="20"/>
                    <a:pt x="4" y="20"/>
                  </a:cubicBezTo>
                  <a:cubicBezTo>
                    <a:pt x="4" y="23"/>
                    <a:pt x="5" y="25"/>
                    <a:pt x="6" y="26"/>
                  </a:cubicBezTo>
                  <a:cubicBezTo>
                    <a:pt x="7" y="28"/>
                    <a:pt x="9" y="29"/>
                    <a:pt x="12" y="29"/>
                  </a:cubicBezTo>
                  <a:cubicBezTo>
                    <a:pt x="15" y="29"/>
                    <a:pt x="17" y="28"/>
                    <a:pt x="18" y="26"/>
                  </a:cubicBezTo>
                  <a:cubicBezTo>
                    <a:pt x="20" y="25"/>
                    <a:pt x="20" y="23"/>
                    <a:pt x="20" y="20"/>
                  </a:cubicBezTo>
                  <a:cubicBezTo>
                    <a:pt x="20" y="0"/>
                    <a:pt x="20" y="0"/>
                    <a:pt x="20" y="0"/>
                  </a:cubicBezTo>
                  <a:cubicBezTo>
                    <a:pt x="22" y="0"/>
                    <a:pt x="22" y="0"/>
                    <a:pt x="22" y="0"/>
                  </a:cubicBezTo>
                  <a:cubicBezTo>
                    <a:pt x="25" y="0"/>
                    <a:pt x="25" y="0"/>
                    <a:pt x="25" y="0"/>
                  </a:cubicBezTo>
                  <a:lnTo>
                    <a:pt x="25" y="2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0" name="Freeform 96"/>
            <p:cNvSpPr/>
            <p:nvPr userDrawn="1"/>
          </p:nvSpPr>
          <p:spPr bwMode="auto">
            <a:xfrm>
              <a:off x="1806" y="933"/>
              <a:ext cx="31" cy="40"/>
            </a:xfrm>
            <a:custGeom>
              <a:avLst/>
              <a:gdLst>
                <a:gd name="T0" fmla="*/ 5 w 31"/>
                <a:gd name="T1" fmla="*/ 40 h 40"/>
                <a:gd name="T2" fmla="*/ 2 w 31"/>
                <a:gd name="T3" fmla="*/ 40 h 40"/>
                <a:gd name="T4" fmla="*/ 0 w 31"/>
                <a:gd name="T5" fmla="*/ 40 h 40"/>
                <a:gd name="T6" fmla="*/ 0 w 31"/>
                <a:gd name="T7" fmla="*/ 0 h 40"/>
                <a:gd name="T8" fmla="*/ 2 w 31"/>
                <a:gd name="T9" fmla="*/ 0 h 40"/>
                <a:gd name="T10" fmla="*/ 6 w 31"/>
                <a:gd name="T11" fmla="*/ 0 h 40"/>
                <a:gd name="T12" fmla="*/ 26 w 31"/>
                <a:gd name="T13" fmla="*/ 32 h 40"/>
                <a:gd name="T14" fmla="*/ 26 w 31"/>
                <a:gd name="T15" fmla="*/ 0 h 40"/>
                <a:gd name="T16" fmla="*/ 28 w 31"/>
                <a:gd name="T17" fmla="*/ 0 h 40"/>
                <a:gd name="T18" fmla="*/ 31 w 31"/>
                <a:gd name="T19" fmla="*/ 0 h 40"/>
                <a:gd name="T20" fmla="*/ 31 w 31"/>
                <a:gd name="T21" fmla="*/ 40 h 40"/>
                <a:gd name="T22" fmla="*/ 28 w 31"/>
                <a:gd name="T23" fmla="*/ 40 h 40"/>
                <a:gd name="T24" fmla="*/ 25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2" y="40"/>
                  </a:lnTo>
                  <a:lnTo>
                    <a:pt x="0" y="40"/>
                  </a:lnTo>
                  <a:lnTo>
                    <a:pt x="0" y="0"/>
                  </a:lnTo>
                  <a:lnTo>
                    <a:pt x="2" y="0"/>
                  </a:lnTo>
                  <a:lnTo>
                    <a:pt x="6" y="0"/>
                  </a:lnTo>
                  <a:lnTo>
                    <a:pt x="26" y="32"/>
                  </a:lnTo>
                  <a:lnTo>
                    <a:pt x="26" y="0"/>
                  </a:lnTo>
                  <a:lnTo>
                    <a:pt x="28" y="0"/>
                  </a:lnTo>
                  <a:lnTo>
                    <a:pt x="31" y="0"/>
                  </a:lnTo>
                  <a:lnTo>
                    <a:pt x="31" y="40"/>
                  </a:lnTo>
                  <a:lnTo>
                    <a:pt x="28" y="40"/>
                  </a:lnTo>
                  <a:lnTo>
                    <a:pt x="25" y="40"/>
                  </a:lnTo>
                  <a:lnTo>
                    <a:pt x="5" y="8"/>
                  </a:lnTo>
                  <a:lnTo>
                    <a:pt x="5" y="4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1" name="Freeform 97"/>
            <p:cNvSpPr/>
            <p:nvPr userDrawn="1"/>
          </p:nvSpPr>
          <p:spPr bwMode="auto">
            <a:xfrm>
              <a:off x="1852"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2" name="Freeform 98"/>
            <p:cNvSpPr/>
            <p:nvPr userDrawn="1"/>
          </p:nvSpPr>
          <p:spPr bwMode="auto">
            <a:xfrm>
              <a:off x="1867" y="933"/>
              <a:ext cx="34" cy="40"/>
            </a:xfrm>
            <a:custGeom>
              <a:avLst/>
              <a:gdLst>
                <a:gd name="T0" fmla="*/ 0 w 34"/>
                <a:gd name="T1" fmla="*/ 0 h 40"/>
                <a:gd name="T2" fmla="*/ 3 w 34"/>
                <a:gd name="T3" fmla="*/ 0 h 40"/>
                <a:gd name="T4" fmla="*/ 6 w 34"/>
                <a:gd name="T5" fmla="*/ 0 h 40"/>
                <a:gd name="T6" fmla="*/ 17 w 34"/>
                <a:gd name="T7" fmla="*/ 34 h 40"/>
                <a:gd name="T8" fmla="*/ 17 w 34"/>
                <a:gd name="T9" fmla="*/ 34 h 40"/>
                <a:gd name="T10" fmla="*/ 28 w 34"/>
                <a:gd name="T11" fmla="*/ 0 h 40"/>
                <a:gd name="T12" fmla="*/ 32 w 34"/>
                <a:gd name="T13" fmla="*/ 0 h 40"/>
                <a:gd name="T14" fmla="*/ 34 w 34"/>
                <a:gd name="T15" fmla="*/ 0 h 40"/>
                <a:gd name="T16" fmla="*/ 21 w 34"/>
                <a:gd name="T17" fmla="*/ 40 h 40"/>
                <a:gd name="T18" fmla="*/ 17 w 34"/>
                <a:gd name="T19" fmla="*/ 40 h 40"/>
                <a:gd name="T20" fmla="*/ 15 w 34"/>
                <a:gd name="T21" fmla="*/ 40 h 40"/>
                <a:gd name="T22" fmla="*/ 0 w 34"/>
                <a:gd name="T2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40">
                  <a:moveTo>
                    <a:pt x="0" y="0"/>
                  </a:moveTo>
                  <a:lnTo>
                    <a:pt x="3" y="0"/>
                  </a:lnTo>
                  <a:lnTo>
                    <a:pt x="6" y="0"/>
                  </a:lnTo>
                  <a:lnTo>
                    <a:pt x="17" y="34"/>
                  </a:lnTo>
                  <a:lnTo>
                    <a:pt x="17" y="34"/>
                  </a:lnTo>
                  <a:lnTo>
                    <a:pt x="28" y="0"/>
                  </a:lnTo>
                  <a:lnTo>
                    <a:pt x="32" y="0"/>
                  </a:lnTo>
                  <a:lnTo>
                    <a:pt x="34" y="0"/>
                  </a:lnTo>
                  <a:lnTo>
                    <a:pt x="21" y="40"/>
                  </a:lnTo>
                  <a:lnTo>
                    <a:pt x="17" y="40"/>
                  </a:lnTo>
                  <a:lnTo>
                    <a:pt x="15" y="40"/>
                  </a:lnTo>
                  <a:lnTo>
                    <a:pt x="0"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3" name="Freeform 99"/>
            <p:cNvSpPr/>
            <p:nvPr userDrawn="1"/>
          </p:nvSpPr>
          <p:spPr bwMode="auto">
            <a:xfrm>
              <a:off x="1911" y="933"/>
              <a:ext cx="30" cy="40"/>
            </a:xfrm>
            <a:custGeom>
              <a:avLst/>
              <a:gdLst>
                <a:gd name="T0" fmla="*/ 0 w 30"/>
                <a:gd name="T1" fmla="*/ 40 h 40"/>
                <a:gd name="T2" fmla="*/ 0 w 30"/>
                <a:gd name="T3" fmla="*/ 0 h 40"/>
                <a:gd name="T4" fmla="*/ 30 w 30"/>
                <a:gd name="T5" fmla="*/ 0 h 40"/>
                <a:gd name="T6" fmla="*/ 30 w 30"/>
                <a:gd name="T7" fmla="*/ 3 h 40"/>
                <a:gd name="T8" fmla="*/ 30 w 30"/>
                <a:gd name="T9" fmla="*/ 5 h 40"/>
                <a:gd name="T10" fmla="*/ 6 w 30"/>
                <a:gd name="T11" fmla="*/ 5 h 40"/>
                <a:gd name="T12" fmla="*/ 6 w 30"/>
                <a:gd name="T13" fmla="*/ 16 h 40"/>
                <a:gd name="T14" fmla="*/ 27 w 30"/>
                <a:gd name="T15" fmla="*/ 16 h 40"/>
                <a:gd name="T16" fmla="*/ 27 w 30"/>
                <a:gd name="T17" fmla="*/ 19 h 40"/>
                <a:gd name="T18" fmla="*/ 27 w 30"/>
                <a:gd name="T19" fmla="*/ 21 h 40"/>
                <a:gd name="T20" fmla="*/ 6 w 30"/>
                <a:gd name="T21" fmla="*/ 21 h 40"/>
                <a:gd name="T22" fmla="*/ 6 w 30"/>
                <a:gd name="T23" fmla="*/ 35 h 40"/>
                <a:gd name="T24" fmla="*/ 30 w 30"/>
                <a:gd name="T25" fmla="*/ 35 h 40"/>
                <a:gd name="T26" fmla="*/ 30 w 30"/>
                <a:gd name="T27" fmla="*/ 37 h 40"/>
                <a:gd name="T28" fmla="*/ 30 w 30"/>
                <a:gd name="T29" fmla="*/ 40 h 40"/>
                <a:gd name="T30" fmla="*/ 0 w 30"/>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40">
                  <a:moveTo>
                    <a:pt x="0" y="40"/>
                  </a:moveTo>
                  <a:lnTo>
                    <a:pt x="0" y="0"/>
                  </a:lnTo>
                  <a:lnTo>
                    <a:pt x="30" y="0"/>
                  </a:lnTo>
                  <a:lnTo>
                    <a:pt x="30" y="3"/>
                  </a:lnTo>
                  <a:lnTo>
                    <a:pt x="30" y="5"/>
                  </a:lnTo>
                  <a:lnTo>
                    <a:pt x="6" y="5"/>
                  </a:lnTo>
                  <a:lnTo>
                    <a:pt x="6" y="16"/>
                  </a:lnTo>
                  <a:lnTo>
                    <a:pt x="27" y="16"/>
                  </a:lnTo>
                  <a:lnTo>
                    <a:pt x="27" y="19"/>
                  </a:lnTo>
                  <a:lnTo>
                    <a:pt x="27" y="21"/>
                  </a:lnTo>
                  <a:lnTo>
                    <a:pt x="6" y="21"/>
                  </a:lnTo>
                  <a:lnTo>
                    <a:pt x="6" y="35"/>
                  </a:lnTo>
                  <a:lnTo>
                    <a:pt x="30" y="35"/>
                  </a:lnTo>
                  <a:lnTo>
                    <a:pt x="30" y="37"/>
                  </a:lnTo>
                  <a:lnTo>
                    <a:pt x="30" y="40"/>
                  </a:lnTo>
                  <a:lnTo>
                    <a:pt x="0" y="4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4" name="Freeform 100"/>
            <p:cNvSpPr>
              <a:spLocks noEditPoints="1"/>
            </p:cNvSpPr>
            <p:nvPr userDrawn="1"/>
          </p:nvSpPr>
          <p:spPr bwMode="auto">
            <a:xfrm>
              <a:off x="1955" y="933"/>
              <a:ext cx="33" cy="40"/>
            </a:xfrm>
            <a:custGeom>
              <a:avLst/>
              <a:gdLst>
                <a:gd name="T0" fmla="*/ 0 w 27"/>
                <a:gd name="T1" fmla="*/ 0 h 32"/>
                <a:gd name="T2" fmla="*/ 2 w 27"/>
                <a:gd name="T3" fmla="*/ 0 h 32"/>
                <a:gd name="T4" fmla="*/ 15 w 27"/>
                <a:gd name="T5" fmla="*/ 0 h 32"/>
                <a:gd name="T6" fmla="*/ 23 w 27"/>
                <a:gd name="T7" fmla="*/ 2 h 32"/>
                <a:gd name="T8" fmla="*/ 25 w 27"/>
                <a:gd name="T9" fmla="*/ 8 h 32"/>
                <a:gd name="T10" fmla="*/ 23 w 27"/>
                <a:gd name="T11" fmla="*/ 15 h 32"/>
                <a:gd name="T12" fmla="*/ 21 w 27"/>
                <a:gd name="T13" fmla="*/ 16 h 32"/>
                <a:gd name="T14" fmla="*/ 22 w 27"/>
                <a:gd name="T15" fmla="*/ 16 h 32"/>
                <a:gd name="T16" fmla="*/ 25 w 27"/>
                <a:gd name="T17" fmla="*/ 22 h 32"/>
                <a:gd name="T18" fmla="*/ 25 w 27"/>
                <a:gd name="T19" fmla="*/ 28 h 32"/>
                <a:gd name="T20" fmla="*/ 25 w 27"/>
                <a:gd name="T21" fmla="*/ 30 h 32"/>
                <a:gd name="T22" fmla="*/ 27 w 27"/>
                <a:gd name="T23" fmla="*/ 31 h 32"/>
                <a:gd name="T24" fmla="*/ 27 w 27"/>
                <a:gd name="T25" fmla="*/ 31 h 32"/>
                <a:gd name="T26" fmla="*/ 21 w 27"/>
                <a:gd name="T27" fmla="*/ 31 h 32"/>
                <a:gd name="T28" fmla="*/ 21 w 27"/>
                <a:gd name="T29" fmla="*/ 29 h 32"/>
                <a:gd name="T30" fmla="*/ 21 w 27"/>
                <a:gd name="T31" fmla="*/ 26 h 32"/>
                <a:gd name="T32" fmla="*/ 21 w 27"/>
                <a:gd name="T33" fmla="*/ 23 h 32"/>
                <a:gd name="T34" fmla="*/ 19 w 27"/>
                <a:gd name="T35" fmla="*/ 19 h 32"/>
                <a:gd name="T36" fmla="*/ 15 w 27"/>
                <a:gd name="T37" fmla="*/ 18 h 32"/>
                <a:gd name="T38" fmla="*/ 4 w 27"/>
                <a:gd name="T39" fmla="*/ 18 h 32"/>
                <a:gd name="T40" fmla="*/ 4 w 27"/>
                <a:gd name="T41" fmla="*/ 32 h 32"/>
                <a:gd name="T42" fmla="*/ 2 w 27"/>
                <a:gd name="T43" fmla="*/ 32 h 32"/>
                <a:gd name="T44" fmla="*/ 0 w 27"/>
                <a:gd name="T45" fmla="*/ 32 h 32"/>
                <a:gd name="T46" fmla="*/ 0 w 27"/>
                <a:gd name="T47" fmla="*/ 0 h 32"/>
                <a:gd name="T48" fmla="*/ 4 w 27"/>
                <a:gd name="T49" fmla="*/ 14 h 32"/>
                <a:gd name="T50" fmla="*/ 15 w 27"/>
                <a:gd name="T51" fmla="*/ 14 h 32"/>
                <a:gd name="T52" fmla="*/ 19 w 27"/>
                <a:gd name="T53" fmla="*/ 13 h 32"/>
                <a:gd name="T54" fmla="*/ 21 w 27"/>
                <a:gd name="T55" fmla="*/ 9 h 32"/>
                <a:gd name="T56" fmla="*/ 19 w 27"/>
                <a:gd name="T57" fmla="*/ 5 h 32"/>
                <a:gd name="T58" fmla="*/ 15 w 27"/>
                <a:gd name="T59" fmla="*/ 3 h 32"/>
                <a:gd name="T60" fmla="*/ 4 w 27"/>
                <a:gd name="T61" fmla="*/ 3 h 32"/>
                <a:gd name="T62" fmla="*/ 4 w 27"/>
                <a:gd name="T63" fmla="*/ 1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 h="32">
                  <a:moveTo>
                    <a:pt x="0" y="0"/>
                  </a:moveTo>
                  <a:cubicBezTo>
                    <a:pt x="2" y="0"/>
                    <a:pt x="2" y="0"/>
                    <a:pt x="2" y="0"/>
                  </a:cubicBezTo>
                  <a:cubicBezTo>
                    <a:pt x="15" y="0"/>
                    <a:pt x="15" y="0"/>
                    <a:pt x="15" y="0"/>
                  </a:cubicBezTo>
                  <a:cubicBezTo>
                    <a:pt x="18" y="0"/>
                    <a:pt x="21" y="1"/>
                    <a:pt x="23" y="2"/>
                  </a:cubicBezTo>
                  <a:cubicBezTo>
                    <a:pt x="24" y="3"/>
                    <a:pt x="25" y="6"/>
                    <a:pt x="25" y="8"/>
                  </a:cubicBezTo>
                  <a:cubicBezTo>
                    <a:pt x="25" y="11"/>
                    <a:pt x="24" y="13"/>
                    <a:pt x="23" y="15"/>
                  </a:cubicBezTo>
                  <a:cubicBezTo>
                    <a:pt x="22" y="15"/>
                    <a:pt x="22" y="16"/>
                    <a:pt x="21" y="16"/>
                  </a:cubicBezTo>
                  <a:cubicBezTo>
                    <a:pt x="22" y="16"/>
                    <a:pt x="22" y="16"/>
                    <a:pt x="22" y="16"/>
                  </a:cubicBezTo>
                  <a:cubicBezTo>
                    <a:pt x="24" y="17"/>
                    <a:pt x="25" y="19"/>
                    <a:pt x="25" y="22"/>
                  </a:cubicBezTo>
                  <a:cubicBezTo>
                    <a:pt x="25" y="28"/>
                    <a:pt x="25" y="28"/>
                    <a:pt x="25" y="28"/>
                  </a:cubicBezTo>
                  <a:cubicBezTo>
                    <a:pt x="25" y="29"/>
                    <a:pt x="25" y="29"/>
                    <a:pt x="25" y="30"/>
                  </a:cubicBezTo>
                  <a:cubicBezTo>
                    <a:pt x="26" y="30"/>
                    <a:pt x="26" y="30"/>
                    <a:pt x="27" y="31"/>
                  </a:cubicBezTo>
                  <a:cubicBezTo>
                    <a:pt x="27" y="31"/>
                    <a:pt x="27" y="31"/>
                    <a:pt x="27" y="31"/>
                  </a:cubicBezTo>
                  <a:cubicBezTo>
                    <a:pt x="21" y="31"/>
                    <a:pt x="21" y="31"/>
                    <a:pt x="21" y="31"/>
                  </a:cubicBezTo>
                  <a:cubicBezTo>
                    <a:pt x="21" y="31"/>
                    <a:pt x="21" y="31"/>
                    <a:pt x="21" y="29"/>
                  </a:cubicBezTo>
                  <a:cubicBezTo>
                    <a:pt x="21" y="28"/>
                    <a:pt x="21" y="27"/>
                    <a:pt x="21" y="26"/>
                  </a:cubicBezTo>
                  <a:cubicBezTo>
                    <a:pt x="21" y="23"/>
                    <a:pt x="21" y="23"/>
                    <a:pt x="21" y="23"/>
                  </a:cubicBezTo>
                  <a:cubicBezTo>
                    <a:pt x="21" y="21"/>
                    <a:pt x="20" y="20"/>
                    <a:pt x="19" y="19"/>
                  </a:cubicBezTo>
                  <a:cubicBezTo>
                    <a:pt x="18" y="18"/>
                    <a:pt x="17" y="18"/>
                    <a:pt x="15" y="18"/>
                  </a:cubicBezTo>
                  <a:cubicBezTo>
                    <a:pt x="4" y="18"/>
                    <a:pt x="4" y="18"/>
                    <a:pt x="4" y="18"/>
                  </a:cubicBezTo>
                  <a:cubicBezTo>
                    <a:pt x="4" y="32"/>
                    <a:pt x="4" y="32"/>
                    <a:pt x="4" y="32"/>
                  </a:cubicBezTo>
                  <a:cubicBezTo>
                    <a:pt x="2" y="32"/>
                    <a:pt x="2" y="32"/>
                    <a:pt x="2" y="32"/>
                  </a:cubicBezTo>
                  <a:cubicBezTo>
                    <a:pt x="0" y="32"/>
                    <a:pt x="0" y="32"/>
                    <a:pt x="0" y="32"/>
                  </a:cubicBezTo>
                  <a:lnTo>
                    <a:pt x="0" y="0"/>
                  </a:lnTo>
                  <a:close/>
                  <a:moveTo>
                    <a:pt x="4" y="14"/>
                  </a:moveTo>
                  <a:cubicBezTo>
                    <a:pt x="15" y="14"/>
                    <a:pt x="15" y="14"/>
                    <a:pt x="15" y="14"/>
                  </a:cubicBezTo>
                  <a:cubicBezTo>
                    <a:pt x="17" y="14"/>
                    <a:pt x="19" y="14"/>
                    <a:pt x="19" y="13"/>
                  </a:cubicBezTo>
                  <a:cubicBezTo>
                    <a:pt x="20" y="12"/>
                    <a:pt x="21" y="11"/>
                    <a:pt x="21" y="9"/>
                  </a:cubicBezTo>
                  <a:cubicBezTo>
                    <a:pt x="21" y="7"/>
                    <a:pt x="20" y="5"/>
                    <a:pt x="19" y="5"/>
                  </a:cubicBezTo>
                  <a:cubicBezTo>
                    <a:pt x="18" y="4"/>
                    <a:pt x="17" y="3"/>
                    <a:pt x="15" y="3"/>
                  </a:cubicBezTo>
                  <a:cubicBezTo>
                    <a:pt x="4" y="3"/>
                    <a:pt x="4" y="3"/>
                    <a:pt x="4" y="3"/>
                  </a:cubicBezTo>
                  <a:lnTo>
                    <a:pt x="4" y="14"/>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5" name="Freeform 101"/>
            <p:cNvSpPr/>
            <p:nvPr userDrawn="1"/>
          </p:nvSpPr>
          <p:spPr bwMode="auto">
            <a:xfrm>
              <a:off x="1999" y="932"/>
              <a:ext cx="31" cy="41"/>
            </a:xfrm>
            <a:custGeom>
              <a:avLst/>
              <a:gdLst>
                <a:gd name="T0" fmla="*/ 20 w 25"/>
                <a:gd name="T1" fmla="*/ 10 h 33"/>
                <a:gd name="T2" fmla="*/ 18 w 25"/>
                <a:gd name="T3" fmla="*/ 5 h 33"/>
                <a:gd name="T4" fmla="*/ 12 w 25"/>
                <a:gd name="T5" fmla="*/ 4 h 33"/>
                <a:gd name="T6" fmla="*/ 7 w 25"/>
                <a:gd name="T7" fmla="*/ 5 h 33"/>
                <a:gd name="T8" fmla="*/ 5 w 25"/>
                <a:gd name="T9" fmla="*/ 9 h 33"/>
                <a:gd name="T10" fmla="*/ 6 w 25"/>
                <a:gd name="T11" fmla="*/ 12 h 33"/>
                <a:gd name="T12" fmla="*/ 11 w 25"/>
                <a:gd name="T13" fmla="*/ 14 h 33"/>
                <a:gd name="T14" fmla="*/ 17 w 25"/>
                <a:gd name="T15" fmla="*/ 15 h 33"/>
                <a:gd name="T16" fmla="*/ 23 w 25"/>
                <a:gd name="T17" fmla="*/ 18 h 33"/>
                <a:gd name="T18" fmla="*/ 25 w 25"/>
                <a:gd name="T19" fmla="*/ 24 h 33"/>
                <a:gd name="T20" fmla="*/ 22 w 25"/>
                <a:gd name="T21" fmla="*/ 31 h 33"/>
                <a:gd name="T22" fmla="*/ 13 w 25"/>
                <a:gd name="T23" fmla="*/ 33 h 33"/>
                <a:gd name="T24" fmla="*/ 3 w 25"/>
                <a:gd name="T25" fmla="*/ 30 h 33"/>
                <a:gd name="T26" fmla="*/ 0 w 25"/>
                <a:gd name="T27" fmla="*/ 23 h 33"/>
                <a:gd name="T28" fmla="*/ 0 w 25"/>
                <a:gd name="T29" fmla="*/ 22 h 33"/>
                <a:gd name="T30" fmla="*/ 4 w 25"/>
                <a:gd name="T31" fmla="*/ 22 h 33"/>
                <a:gd name="T32" fmla="*/ 6 w 25"/>
                <a:gd name="T33" fmla="*/ 28 h 33"/>
                <a:gd name="T34" fmla="*/ 13 w 25"/>
                <a:gd name="T35" fmla="*/ 30 h 33"/>
                <a:gd name="T36" fmla="*/ 19 w 25"/>
                <a:gd name="T37" fmla="*/ 28 h 33"/>
                <a:gd name="T38" fmla="*/ 21 w 25"/>
                <a:gd name="T39" fmla="*/ 24 h 33"/>
                <a:gd name="T40" fmla="*/ 20 w 25"/>
                <a:gd name="T41" fmla="*/ 21 h 33"/>
                <a:gd name="T42" fmla="*/ 14 w 25"/>
                <a:gd name="T43" fmla="*/ 19 h 33"/>
                <a:gd name="T44" fmla="*/ 9 w 25"/>
                <a:gd name="T45" fmla="*/ 17 h 33"/>
                <a:gd name="T46" fmla="*/ 3 w 25"/>
                <a:gd name="T47" fmla="*/ 15 h 33"/>
                <a:gd name="T48" fmla="*/ 1 w 25"/>
                <a:gd name="T49" fmla="*/ 10 h 33"/>
                <a:gd name="T50" fmla="*/ 4 w 25"/>
                <a:gd name="T51" fmla="*/ 3 h 33"/>
                <a:gd name="T52" fmla="*/ 12 w 25"/>
                <a:gd name="T53" fmla="*/ 0 h 33"/>
                <a:gd name="T54" fmla="*/ 21 w 25"/>
                <a:gd name="T55" fmla="*/ 3 h 33"/>
                <a:gd name="T56" fmla="*/ 24 w 25"/>
                <a:gd name="T57" fmla="*/ 10 h 33"/>
                <a:gd name="T58" fmla="*/ 20 w 25"/>
                <a:gd name="T59"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3">
                  <a:moveTo>
                    <a:pt x="20" y="10"/>
                  </a:moveTo>
                  <a:cubicBezTo>
                    <a:pt x="20" y="8"/>
                    <a:pt x="19" y="6"/>
                    <a:pt x="18" y="5"/>
                  </a:cubicBezTo>
                  <a:cubicBezTo>
                    <a:pt x="17" y="4"/>
                    <a:pt x="15" y="4"/>
                    <a:pt x="12" y="4"/>
                  </a:cubicBezTo>
                  <a:cubicBezTo>
                    <a:pt x="10" y="4"/>
                    <a:pt x="8" y="4"/>
                    <a:pt x="7" y="5"/>
                  </a:cubicBezTo>
                  <a:cubicBezTo>
                    <a:pt x="6" y="6"/>
                    <a:pt x="5" y="7"/>
                    <a:pt x="5" y="9"/>
                  </a:cubicBezTo>
                  <a:cubicBezTo>
                    <a:pt x="5" y="10"/>
                    <a:pt x="5" y="11"/>
                    <a:pt x="6" y="12"/>
                  </a:cubicBezTo>
                  <a:cubicBezTo>
                    <a:pt x="7" y="13"/>
                    <a:pt x="9" y="13"/>
                    <a:pt x="11" y="14"/>
                  </a:cubicBezTo>
                  <a:cubicBezTo>
                    <a:pt x="17" y="15"/>
                    <a:pt x="17" y="15"/>
                    <a:pt x="17" y="15"/>
                  </a:cubicBezTo>
                  <a:cubicBezTo>
                    <a:pt x="20" y="16"/>
                    <a:pt x="22" y="17"/>
                    <a:pt x="23" y="18"/>
                  </a:cubicBezTo>
                  <a:cubicBezTo>
                    <a:pt x="24" y="20"/>
                    <a:pt x="25" y="22"/>
                    <a:pt x="25" y="24"/>
                  </a:cubicBezTo>
                  <a:cubicBezTo>
                    <a:pt x="25" y="27"/>
                    <a:pt x="24" y="29"/>
                    <a:pt x="22" y="31"/>
                  </a:cubicBezTo>
                  <a:cubicBezTo>
                    <a:pt x="20" y="33"/>
                    <a:pt x="17" y="33"/>
                    <a:pt x="13" y="33"/>
                  </a:cubicBezTo>
                  <a:cubicBezTo>
                    <a:pt x="9" y="33"/>
                    <a:pt x="5" y="32"/>
                    <a:pt x="3" y="30"/>
                  </a:cubicBezTo>
                  <a:cubicBezTo>
                    <a:pt x="1" y="29"/>
                    <a:pt x="0" y="26"/>
                    <a:pt x="0" y="23"/>
                  </a:cubicBezTo>
                  <a:cubicBezTo>
                    <a:pt x="0" y="22"/>
                    <a:pt x="0" y="22"/>
                    <a:pt x="0" y="22"/>
                  </a:cubicBezTo>
                  <a:cubicBezTo>
                    <a:pt x="4" y="22"/>
                    <a:pt x="4" y="22"/>
                    <a:pt x="4" y="22"/>
                  </a:cubicBezTo>
                  <a:cubicBezTo>
                    <a:pt x="4" y="25"/>
                    <a:pt x="5" y="26"/>
                    <a:pt x="6" y="28"/>
                  </a:cubicBezTo>
                  <a:cubicBezTo>
                    <a:pt x="8" y="29"/>
                    <a:pt x="10" y="30"/>
                    <a:pt x="13" y="30"/>
                  </a:cubicBezTo>
                  <a:cubicBezTo>
                    <a:pt x="15" y="30"/>
                    <a:pt x="17" y="29"/>
                    <a:pt x="19" y="28"/>
                  </a:cubicBezTo>
                  <a:cubicBezTo>
                    <a:pt x="20" y="27"/>
                    <a:pt x="21" y="26"/>
                    <a:pt x="21" y="24"/>
                  </a:cubicBezTo>
                  <a:cubicBezTo>
                    <a:pt x="21" y="23"/>
                    <a:pt x="20" y="22"/>
                    <a:pt x="20" y="21"/>
                  </a:cubicBezTo>
                  <a:cubicBezTo>
                    <a:pt x="19" y="20"/>
                    <a:pt x="17" y="19"/>
                    <a:pt x="14" y="19"/>
                  </a:cubicBezTo>
                  <a:cubicBezTo>
                    <a:pt x="9" y="17"/>
                    <a:pt x="9" y="17"/>
                    <a:pt x="9" y="17"/>
                  </a:cubicBezTo>
                  <a:cubicBezTo>
                    <a:pt x="6" y="17"/>
                    <a:pt x="4" y="16"/>
                    <a:pt x="3" y="15"/>
                  </a:cubicBezTo>
                  <a:cubicBezTo>
                    <a:pt x="1" y="14"/>
                    <a:pt x="1" y="12"/>
                    <a:pt x="1" y="10"/>
                  </a:cubicBezTo>
                  <a:cubicBezTo>
                    <a:pt x="1" y="7"/>
                    <a:pt x="2" y="4"/>
                    <a:pt x="4" y="3"/>
                  </a:cubicBezTo>
                  <a:cubicBezTo>
                    <a:pt x="6" y="1"/>
                    <a:pt x="9" y="0"/>
                    <a:pt x="12" y="0"/>
                  </a:cubicBezTo>
                  <a:cubicBezTo>
                    <a:pt x="16" y="0"/>
                    <a:pt x="19" y="1"/>
                    <a:pt x="21" y="3"/>
                  </a:cubicBezTo>
                  <a:cubicBezTo>
                    <a:pt x="23" y="4"/>
                    <a:pt x="24" y="7"/>
                    <a:pt x="24" y="10"/>
                  </a:cubicBezTo>
                  <a:lnTo>
                    <a:pt x="20" y="1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6" name="Freeform 102"/>
            <p:cNvSpPr/>
            <p:nvPr userDrawn="1"/>
          </p:nvSpPr>
          <p:spPr bwMode="auto">
            <a:xfrm>
              <a:off x="2044"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7" name="Freeform 103"/>
            <p:cNvSpPr/>
            <p:nvPr userDrawn="1"/>
          </p:nvSpPr>
          <p:spPr bwMode="auto">
            <a:xfrm>
              <a:off x="2060" y="933"/>
              <a:ext cx="32" cy="40"/>
            </a:xfrm>
            <a:custGeom>
              <a:avLst/>
              <a:gdLst>
                <a:gd name="T0" fmla="*/ 13 w 32"/>
                <a:gd name="T1" fmla="*/ 5 h 40"/>
                <a:gd name="T2" fmla="*/ 0 w 32"/>
                <a:gd name="T3" fmla="*/ 5 h 40"/>
                <a:gd name="T4" fmla="*/ 0 w 32"/>
                <a:gd name="T5" fmla="*/ 3 h 40"/>
                <a:gd name="T6" fmla="*/ 0 w 32"/>
                <a:gd name="T7" fmla="*/ 0 h 40"/>
                <a:gd name="T8" fmla="*/ 32 w 32"/>
                <a:gd name="T9" fmla="*/ 0 h 40"/>
                <a:gd name="T10" fmla="*/ 32 w 32"/>
                <a:gd name="T11" fmla="*/ 3 h 40"/>
                <a:gd name="T12" fmla="*/ 32 w 32"/>
                <a:gd name="T13" fmla="*/ 5 h 40"/>
                <a:gd name="T14" fmla="*/ 18 w 32"/>
                <a:gd name="T15" fmla="*/ 5 h 40"/>
                <a:gd name="T16" fmla="*/ 18 w 32"/>
                <a:gd name="T17" fmla="*/ 40 h 40"/>
                <a:gd name="T18" fmla="*/ 16 w 32"/>
                <a:gd name="T19" fmla="*/ 40 h 40"/>
                <a:gd name="T20" fmla="*/ 13 w 32"/>
                <a:gd name="T21" fmla="*/ 40 h 40"/>
                <a:gd name="T22" fmla="*/ 13 w 32"/>
                <a:gd name="T23" fmla="*/ 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 h="40">
                  <a:moveTo>
                    <a:pt x="13" y="5"/>
                  </a:moveTo>
                  <a:lnTo>
                    <a:pt x="0" y="5"/>
                  </a:lnTo>
                  <a:lnTo>
                    <a:pt x="0" y="3"/>
                  </a:lnTo>
                  <a:lnTo>
                    <a:pt x="0" y="0"/>
                  </a:lnTo>
                  <a:lnTo>
                    <a:pt x="32" y="0"/>
                  </a:lnTo>
                  <a:lnTo>
                    <a:pt x="32" y="3"/>
                  </a:lnTo>
                  <a:lnTo>
                    <a:pt x="32" y="5"/>
                  </a:lnTo>
                  <a:lnTo>
                    <a:pt x="18" y="5"/>
                  </a:lnTo>
                  <a:lnTo>
                    <a:pt x="18" y="40"/>
                  </a:lnTo>
                  <a:lnTo>
                    <a:pt x="16" y="40"/>
                  </a:lnTo>
                  <a:lnTo>
                    <a:pt x="13" y="40"/>
                  </a:lnTo>
                  <a:lnTo>
                    <a:pt x="13" y="5"/>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8" name="Freeform 104"/>
            <p:cNvSpPr/>
            <p:nvPr userDrawn="1"/>
          </p:nvSpPr>
          <p:spPr bwMode="auto">
            <a:xfrm>
              <a:off x="2101" y="933"/>
              <a:ext cx="34" cy="40"/>
            </a:xfrm>
            <a:custGeom>
              <a:avLst/>
              <a:gdLst>
                <a:gd name="T0" fmla="*/ 15 w 34"/>
                <a:gd name="T1" fmla="*/ 24 h 40"/>
                <a:gd name="T2" fmla="*/ 0 w 34"/>
                <a:gd name="T3" fmla="*/ 0 h 40"/>
                <a:gd name="T4" fmla="*/ 3 w 34"/>
                <a:gd name="T5" fmla="*/ 0 h 40"/>
                <a:gd name="T6" fmla="*/ 6 w 34"/>
                <a:gd name="T7" fmla="*/ 0 h 40"/>
                <a:gd name="T8" fmla="*/ 17 w 34"/>
                <a:gd name="T9" fmla="*/ 19 h 40"/>
                <a:gd name="T10" fmla="*/ 17 w 34"/>
                <a:gd name="T11" fmla="*/ 19 h 40"/>
                <a:gd name="T12" fmla="*/ 28 w 34"/>
                <a:gd name="T13" fmla="*/ 0 h 40"/>
                <a:gd name="T14" fmla="*/ 32 w 34"/>
                <a:gd name="T15" fmla="*/ 0 h 40"/>
                <a:gd name="T16" fmla="*/ 34 w 34"/>
                <a:gd name="T17" fmla="*/ 0 h 40"/>
                <a:gd name="T18" fmla="*/ 20 w 34"/>
                <a:gd name="T19" fmla="*/ 24 h 40"/>
                <a:gd name="T20" fmla="*/ 20 w 34"/>
                <a:gd name="T21" fmla="*/ 40 h 40"/>
                <a:gd name="T22" fmla="*/ 17 w 34"/>
                <a:gd name="T23" fmla="*/ 40 h 40"/>
                <a:gd name="T24" fmla="*/ 15 w 34"/>
                <a:gd name="T25" fmla="*/ 40 h 40"/>
                <a:gd name="T26" fmla="*/ 15 w 34"/>
                <a:gd name="T27"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4" h="40">
                  <a:moveTo>
                    <a:pt x="15" y="24"/>
                  </a:moveTo>
                  <a:lnTo>
                    <a:pt x="0" y="0"/>
                  </a:lnTo>
                  <a:lnTo>
                    <a:pt x="3" y="0"/>
                  </a:lnTo>
                  <a:lnTo>
                    <a:pt x="6" y="0"/>
                  </a:lnTo>
                  <a:lnTo>
                    <a:pt x="17" y="19"/>
                  </a:lnTo>
                  <a:lnTo>
                    <a:pt x="17" y="19"/>
                  </a:lnTo>
                  <a:lnTo>
                    <a:pt x="28" y="0"/>
                  </a:lnTo>
                  <a:lnTo>
                    <a:pt x="32" y="0"/>
                  </a:lnTo>
                  <a:lnTo>
                    <a:pt x="34" y="0"/>
                  </a:lnTo>
                  <a:lnTo>
                    <a:pt x="20" y="24"/>
                  </a:lnTo>
                  <a:lnTo>
                    <a:pt x="20" y="40"/>
                  </a:lnTo>
                  <a:lnTo>
                    <a:pt x="17" y="40"/>
                  </a:lnTo>
                  <a:lnTo>
                    <a:pt x="15" y="40"/>
                  </a:lnTo>
                  <a:lnTo>
                    <a:pt x="15" y="24"/>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9" name="Freeform 105"/>
            <p:cNvSpPr>
              <a:spLocks noEditPoints="1"/>
            </p:cNvSpPr>
            <p:nvPr userDrawn="1"/>
          </p:nvSpPr>
          <p:spPr bwMode="auto">
            <a:xfrm>
              <a:off x="954" y="660"/>
              <a:ext cx="350" cy="353"/>
            </a:xfrm>
            <a:custGeom>
              <a:avLst/>
              <a:gdLst>
                <a:gd name="T0" fmla="*/ 142 w 283"/>
                <a:gd name="T1" fmla="*/ 0 h 283"/>
                <a:gd name="T2" fmla="*/ 283 w 283"/>
                <a:gd name="T3" fmla="*/ 142 h 283"/>
                <a:gd name="T4" fmla="*/ 142 w 283"/>
                <a:gd name="T5" fmla="*/ 283 h 283"/>
                <a:gd name="T6" fmla="*/ 0 w 283"/>
                <a:gd name="T7" fmla="*/ 142 h 283"/>
                <a:gd name="T8" fmla="*/ 142 w 283"/>
                <a:gd name="T9" fmla="*/ 0 h 283"/>
                <a:gd name="T10" fmla="*/ 142 w 283"/>
                <a:gd name="T11" fmla="*/ 6 h 283"/>
                <a:gd name="T12" fmla="*/ 6 w 283"/>
                <a:gd name="T13" fmla="*/ 142 h 283"/>
                <a:gd name="T14" fmla="*/ 142 w 283"/>
                <a:gd name="T15" fmla="*/ 277 h 283"/>
                <a:gd name="T16" fmla="*/ 278 w 283"/>
                <a:gd name="T17" fmla="*/ 142 h 283"/>
                <a:gd name="T18" fmla="*/ 142 w 283"/>
                <a:gd name="T19" fmla="*/ 6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3" h="283">
                  <a:moveTo>
                    <a:pt x="142" y="0"/>
                  </a:moveTo>
                  <a:cubicBezTo>
                    <a:pt x="220" y="0"/>
                    <a:pt x="283" y="64"/>
                    <a:pt x="283" y="142"/>
                  </a:cubicBezTo>
                  <a:cubicBezTo>
                    <a:pt x="283" y="219"/>
                    <a:pt x="220" y="283"/>
                    <a:pt x="142" y="283"/>
                  </a:cubicBezTo>
                  <a:cubicBezTo>
                    <a:pt x="64" y="283"/>
                    <a:pt x="0" y="219"/>
                    <a:pt x="0" y="142"/>
                  </a:cubicBezTo>
                  <a:cubicBezTo>
                    <a:pt x="0" y="64"/>
                    <a:pt x="64" y="0"/>
                    <a:pt x="142" y="0"/>
                  </a:cubicBezTo>
                  <a:moveTo>
                    <a:pt x="142" y="6"/>
                  </a:moveTo>
                  <a:cubicBezTo>
                    <a:pt x="67" y="6"/>
                    <a:pt x="6" y="67"/>
                    <a:pt x="6" y="142"/>
                  </a:cubicBezTo>
                  <a:cubicBezTo>
                    <a:pt x="6" y="216"/>
                    <a:pt x="67" y="277"/>
                    <a:pt x="142" y="277"/>
                  </a:cubicBezTo>
                  <a:cubicBezTo>
                    <a:pt x="217" y="277"/>
                    <a:pt x="278" y="216"/>
                    <a:pt x="278" y="142"/>
                  </a:cubicBezTo>
                  <a:cubicBezTo>
                    <a:pt x="278" y="67"/>
                    <a:pt x="217" y="6"/>
                    <a:pt x="142" y="6"/>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0" name="Freeform 106"/>
            <p:cNvSpPr/>
            <p:nvPr userDrawn="1"/>
          </p:nvSpPr>
          <p:spPr bwMode="auto">
            <a:xfrm>
              <a:off x="1033" y="739"/>
              <a:ext cx="193" cy="173"/>
            </a:xfrm>
            <a:custGeom>
              <a:avLst/>
              <a:gdLst>
                <a:gd name="T0" fmla="*/ 28 w 156"/>
                <a:gd name="T1" fmla="*/ 139 h 139"/>
                <a:gd name="T2" fmla="*/ 7 w 156"/>
                <a:gd name="T3" fmla="*/ 112 h 139"/>
                <a:gd name="T4" fmla="*/ 0 w 156"/>
                <a:gd name="T5" fmla="*/ 79 h 139"/>
                <a:gd name="T6" fmla="*/ 78 w 156"/>
                <a:gd name="T7" fmla="*/ 0 h 139"/>
                <a:gd name="T8" fmla="*/ 156 w 156"/>
                <a:gd name="T9" fmla="*/ 79 h 139"/>
                <a:gd name="T10" fmla="*/ 149 w 156"/>
                <a:gd name="T11" fmla="*/ 112 h 139"/>
                <a:gd name="T12" fmla="*/ 128 w 156"/>
                <a:gd name="T13" fmla="*/ 139 h 139"/>
                <a:gd name="T14" fmla="*/ 126 w 156"/>
                <a:gd name="T15" fmla="*/ 137 h 139"/>
                <a:gd name="T16" fmla="*/ 146 w 156"/>
                <a:gd name="T17" fmla="*/ 111 h 139"/>
                <a:gd name="T18" fmla="*/ 153 w 156"/>
                <a:gd name="T19" fmla="*/ 79 h 139"/>
                <a:gd name="T20" fmla="*/ 78 w 156"/>
                <a:gd name="T21" fmla="*/ 3 h 139"/>
                <a:gd name="T22" fmla="*/ 3 w 156"/>
                <a:gd name="T23" fmla="*/ 79 h 139"/>
                <a:gd name="T24" fmla="*/ 10 w 156"/>
                <a:gd name="T25" fmla="*/ 111 h 139"/>
                <a:gd name="T26" fmla="*/ 30 w 156"/>
                <a:gd name="T27" fmla="*/ 137 h 139"/>
                <a:gd name="T28" fmla="*/ 28 w 156"/>
                <a:gd name="T29" fmla="*/ 13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6" h="139">
                  <a:moveTo>
                    <a:pt x="28" y="139"/>
                  </a:moveTo>
                  <a:cubicBezTo>
                    <a:pt x="19" y="132"/>
                    <a:pt x="12" y="122"/>
                    <a:pt x="7" y="112"/>
                  </a:cubicBezTo>
                  <a:cubicBezTo>
                    <a:pt x="2" y="102"/>
                    <a:pt x="0" y="90"/>
                    <a:pt x="0" y="79"/>
                  </a:cubicBezTo>
                  <a:cubicBezTo>
                    <a:pt x="0" y="36"/>
                    <a:pt x="35" y="0"/>
                    <a:pt x="78" y="0"/>
                  </a:cubicBezTo>
                  <a:cubicBezTo>
                    <a:pt x="121" y="0"/>
                    <a:pt x="156" y="36"/>
                    <a:pt x="156" y="79"/>
                  </a:cubicBezTo>
                  <a:cubicBezTo>
                    <a:pt x="156" y="90"/>
                    <a:pt x="153" y="102"/>
                    <a:pt x="149" y="112"/>
                  </a:cubicBezTo>
                  <a:cubicBezTo>
                    <a:pt x="144" y="122"/>
                    <a:pt x="136" y="132"/>
                    <a:pt x="128" y="139"/>
                  </a:cubicBezTo>
                  <a:cubicBezTo>
                    <a:pt x="126" y="137"/>
                    <a:pt x="126" y="137"/>
                    <a:pt x="126" y="137"/>
                  </a:cubicBezTo>
                  <a:cubicBezTo>
                    <a:pt x="134" y="130"/>
                    <a:pt x="141" y="121"/>
                    <a:pt x="146" y="111"/>
                  </a:cubicBezTo>
                  <a:cubicBezTo>
                    <a:pt x="151" y="101"/>
                    <a:pt x="153" y="90"/>
                    <a:pt x="153" y="79"/>
                  </a:cubicBezTo>
                  <a:cubicBezTo>
                    <a:pt x="153" y="37"/>
                    <a:pt x="119" y="3"/>
                    <a:pt x="78" y="3"/>
                  </a:cubicBezTo>
                  <a:cubicBezTo>
                    <a:pt x="36" y="3"/>
                    <a:pt x="3" y="37"/>
                    <a:pt x="3" y="79"/>
                  </a:cubicBezTo>
                  <a:cubicBezTo>
                    <a:pt x="3" y="90"/>
                    <a:pt x="5" y="101"/>
                    <a:pt x="10" y="111"/>
                  </a:cubicBezTo>
                  <a:cubicBezTo>
                    <a:pt x="14" y="121"/>
                    <a:pt x="21" y="130"/>
                    <a:pt x="30" y="137"/>
                  </a:cubicBezTo>
                  <a:lnTo>
                    <a:pt x="28" y="13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1" name="Freeform 107"/>
            <p:cNvSpPr/>
            <p:nvPr userDrawn="1"/>
          </p:nvSpPr>
          <p:spPr bwMode="auto">
            <a:xfrm>
              <a:off x="972" y="867"/>
              <a:ext cx="40" cy="29"/>
            </a:xfrm>
            <a:custGeom>
              <a:avLst/>
              <a:gdLst>
                <a:gd name="T0" fmla="*/ 8 w 40"/>
                <a:gd name="T1" fmla="*/ 29 h 29"/>
                <a:gd name="T2" fmla="*/ 0 w 40"/>
                <a:gd name="T3" fmla="*/ 10 h 29"/>
                <a:gd name="T4" fmla="*/ 4 w 40"/>
                <a:gd name="T5" fmla="*/ 9 h 29"/>
                <a:gd name="T6" fmla="*/ 35 w 40"/>
                <a:gd name="T7" fmla="*/ 14 h 29"/>
                <a:gd name="T8" fmla="*/ 30 w 40"/>
                <a:gd name="T9" fmla="*/ 1 h 29"/>
                <a:gd name="T10" fmla="*/ 34 w 40"/>
                <a:gd name="T11" fmla="*/ 0 h 29"/>
                <a:gd name="T12" fmla="*/ 40 w 40"/>
                <a:gd name="T13" fmla="*/ 16 h 29"/>
                <a:gd name="T14" fmla="*/ 36 w 40"/>
                <a:gd name="T15" fmla="*/ 17 h 29"/>
                <a:gd name="T16" fmla="*/ 7 w 40"/>
                <a:gd name="T17" fmla="*/ 14 h 29"/>
                <a:gd name="T18" fmla="*/ 12 w 40"/>
                <a:gd name="T19" fmla="*/ 27 h 29"/>
                <a:gd name="T20" fmla="*/ 8 w 40"/>
                <a:gd name="T21"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29">
                  <a:moveTo>
                    <a:pt x="8" y="29"/>
                  </a:moveTo>
                  <a:lnTo>
                    <a:pt x="0" y="10"/>
                  </a:lnTo>
                  <a:lnTo>
                    <a:pt x="4" y="9"/>
                  </a:lnTo>
                  <a:lnTo>
                    <a:pt x="35" y="14"/>
                  </a:lnTo>
                  <a:lnTo>
                    <a:pt x="30" y="1"/>
                  </a:lnTo>
                  <a:lnTo>
                    <a:pt x="34" y="0"/>
                  </a:lnTo>
                  <a:lnTo>
                    <a:pt x="40" y="16"/>
                  </a:lnTo>
                  <a:lnTo>
                    <a:pt x="36" y="17"/>
                  </a:lnTo>
                  <a:lnTo>
                    <a:pt x="7" y="14"/>
                  </a:lnTo>
                  <a:lnTo>
                    <a:pt x="12" y="27"/>
                  </a:lnTo>
                  <a:lnTo>
                    <a:pt x="8" y="2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2" name="Freeform 108"/>
            <p:cNvSpPr/>
            <p:nvPr userDrawn="1"/>
          </p:nvSpPr>
          <p:spPr bwMode="auto">
            <a:xfrm>
              <a:off x="984" y="888"/>
              <a:ext cx="38" cy="31"/>
            </a:xfrm>
            <a:custGeom>
              <a:avLst/>
              <a:gdLst>
                <a:gd name="T0" fmla="*/ 7 w 38"/>
                <a:gd name="T1" fmla="*/ 31 h 31"/>
                <a:gd name="T2" fmla="*/ 6 w 38"/>
                <a:gd name="T3" fmla="*/ 28 h 31"/>
                <a:gd name="T4" fmla="*/ 19 w 38"/>
                <a:gd name="T5" fmla="*/ 21 h 31"/>
                <a:gd name="T6" fmla="*/ 14 w 38"/>
                <a:gd name="T7" fmla="*/ 11 h 31"/>
                <a:gd name="T8" fmla="*/ 1 w 38"/>
                <a:gd name="T9" fmla="*/ 19 h 31"/>
                <a:gd name="T10" fmla="*/ 0 w 38"/>
                <a:gd name="T11" fmla="*/ 15 h 31"/>
                <a:gd name="T12" fmla="*/ 29 w 38"/>
                <a:gd name="T13" fmla="*/ 0 h 31"/>
                <a:gd name="T14" fmla="*/ 32 w 38"/>
                <a:gd name="T15" fmla="*/ 4 h 31"/>
                <a:gd name="T16" fmla="*/ 18 w 38"/>
                <a:gd name="T17" fmla="*/ 10 h 31"/>
                <a:gd name="T18" fmla="*/ 23 w 38"/>
                <a:gd name="T19" fmla="*/ 19 h 31"/>
                <a:gd name="T20" fmla="*/ 35 w 38"/>
                <a:gd name="T21" fmla="*/ 13 h 31"/>
                <a:gd name="T22" fmla="*/ 38 w 38"/>
                <a:gd name="T23" fmla="*/ 16 h 31"/>
                <a:gd name="T24" fmla="*/ 7 w 38"/>
                <a:gd name="T25"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1">
                  <a:moveTo>
                    <a:pt x="7" y="31"/>
                  </a:moveTo>
                  <a:lnTo>
                    <a:pt x="6" y="28"/>
                  </a:lnTo>
                  <a:lnTo>
                    <a:pt x="19" y="21"/>
                  </a:lnTo>
                  <a:lnTo>
                    <a:pt x="14" y="11"/>
                  </a:lnTo>
                  <a:lnTo>
                    <a:pt x="1" y="19"/>
                  </a:lnTo>
                  <a:lnTo>
                    <a:pt x="0" y="15"/>
                  </a:lnTo>
                  <a:lnTo>
                    <a:pt x="29" y="0"/>
                  </a:lnTo>
                  <a:lnTo>
                    <a:pt x="32" y="4"/>
                  </a:lnTo>
                  <a:lnTo>
                    <a:pt x="18" y="10"/>
                  </a:lnTo>
                  <a:lnTo>
                    <a:pt x="23" y="19"/>
                  </a:lnTo>
                  <a:lnTo>
                    <a:pt x="35" y="13"/>
                  </a:lnTo>
                  <a:lnTo>
                    <a:pt x="38" y="16"/>
                  </a:lnTo>
                  <a:lnTo>
                    <a:pt x="7" y="31"/>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3" name="Freeform 109"/>
            <p:cNvSpPr/>
            <p:nvPr userDrawn="1"/>
          </p:nvSpPr>
          <p:spPr bwMode="auto">
            <a:xfrm>
              <a:off x="995" y="906"/>
              <a:ext cx="38" cy="33"/>
            </a:xfrm>
            <a:custGeom>
              <a:avLst/>
              <a:gdLst>
                <a:gd name="T0" fmla="*/ 11 w 38"/>
                <a:gd name="T1" fmla="*/ 33 h 33"/>
                <a:gd name="T2" fmla="*/ 0 w 38"/>
                <a:gd name="T3" fmla="*/ 18 h 33"/>
                <a:gd name="T4" fmla="*/ 28 w 38"/>
                <a:gd name="T5" fmla="*/ 0 h 33"/>
                <a:gd name="T6" fmla="*/ 38 w 38"/>
                <a:gd name="T7" fmla="*/ 15 h 33"/>
                <a:gd name="T8" fmla="*/ 36 w 38"/>
                <a:gd name="T9" fmla="*/ 17 h 33"/>
                <a:gd name="T10" fmla="*/ 27 w 38"/>
                <a:gd name="T11" fmla="*/ 6 h 33"/>
                <a:gd name="T12" fmla="*/ 18 w 38"/>
                <a:gd name="T13" fmla="*/ 11 h 33"/>
                <a:gd name="T14" fmla="*/ 26 w 38"/>
                <a:gd name="T15" fmla="*/ 21 h 33"/>
                <a:gd name="T16" fmla="*/ 23 w 38"/>
                <a:gd name="T17" fmla="*/ 23 h 33"/>
                <a:gd name="T18" fmla="*/ 16 w 38"/>
                <a:gd name="T19" fmla="*/ 13 h 33"/>
                <a:gd name="T20" fmla="*/ 6 w 38"/>
                <a:gd name="T21" fmla="*/ 20 h 33"/>
                <a:gd name="T22" fmla="*/ 13 w 38"/>
                <a:gd name="T23" fmla="*/ 31 h 33"/>
                <a:gd name="T24" fmla="*/ 11 w 38"/>
                <a:gd name="T25"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3">
                  <a:moveTo>
                    <a:pt x="11" y="33"/>
                  </a:moveTo>
                  <a:lnTo>
                    <a:pt x="0" y="18"/>
                  </a:lnTo>
                  <a:lnTo>
                    <a:pt x="28" y="0"/>
                  </a:lnTo>
                  <a:lnTo>
                    <a:pt x="38" y="15"/>
                  </a:lnTo>
                  <a:lnTo>
                    <a:pt x="36" y="17"/>
                  </a:lnTo>
                  <a:lnTo>
                    <a:pt x="27" y="6"/>
                  </a:lnTo>
                  <a:lnTo>
                    <a:pt x="18" y="11"/>
                  </a:lnTo>
                  <a:lnTo>
                    <a:pt x="26" y="21"/>
                  </a:lnTo>
                  <a:lnTo>
                    <a:pt x="23" y="23"/>
                  </a:lnTo>
                  <a:lnTo>
                    <a:pt x="16" y="13"/>
                  </a:lnTo>
                  <a:lnTo>
                    <a:pt x="6" y="20"/>
                  </a:lnTo>
                  <a:lnTo>
                    <a:pt x="13" y="31"/>
                  </a:lnTo>
                  <a:lnTo>
                    <a:pt x="11" y="33"/>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4" name="Freeform 110"/>
            <p:cNvSpPr/>
            <p:nvPr userDrawn="1"/>
          </p:nvSpPr>
          <p:spPr bwMode="auto">
            <a:xfrm>
              <a:off x="1026" y="934"/>
              <a:ext cx="24" cy="29"/>
            </a:xfrm>
            <a:custGeom>
              <a:avLst/>
              <a:gdLst>
                <a:gd name="T0" fmla="*/ 3 w 24"/>
                <a:gd name="T1" fmla="*/ 29 h 29"/>
                <a:gd name="T2" fmla="*/ 0 w 24"/>
                <a:gd name="T3" fmla="*/ 26 h 29"/>
                <a:gd name="T4" fmla="*/ 21 w 24"/>
                <a:gd name="T5" fmla="*/ 0 h 29"/>
                <a:gd name="T6" fmla="*/ 24 w 24"/>
                <a:gd name="T7" fmla="*/ 3 h 29"/>
                <a:gd name="T8" fmla="*/ 3 w 24"/>
                <a:gd name="T9" fmla="*/ 29 h 29"/>
              </a:gdLst>
              <a:ahLst/>
              <a:cxnLst>
                <a:cxn ang="0">
                  <a:pos x="T0" y="T1"/>
                </a:cxn>
                <a:cxn ang="0">
                  <a:pos x="T2" y="T3"/>
                </a:cxn>
                <a:cxn ang="0">
                  <a:pos x="T4" y="T5"/>
                </a:cxn>
                <a:cxn ang="0">
                  <a:pos x="T6" y="T7"/>
                </a:cxn>
                <a:cxn ang="0">
                  <a:pos x="T8" y="T9"/>
                </a:cxn>
              </a:cxnLst>
              <a:rect l="0" t="0" r="r" b="b"/>
              <a:pathLst>
                <a:path w="24" h="29">
                  <a:moveTo>
                    <a:pt x="3" y="29"/>
                  </a:moveTo>
                  <a:lnTo>
                    <a:pt x="0" y="26"/>
                  </a:lnTo>
                  <a:lnTo>
                    <a:pt x="21" y="0"/>
                  </a:lnTo>
                  <a:lnTo>
                    <a:pt x="24" y="3"/>
                  </a:lnTo>
                  <a:lnTo>
                    <a:pt x="3" y="2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5" name="Freeform 111"/>
            <p:cNvSpPr>
              <a:spLocks noEditPoints="1"/>
            </p:cNvSpPr>
            <p:nvPr userDrawn="1"/>
          </p:nvSpPr>
          <p:spPr bwMode="auto">
            <a:xfrm>
              <a:off x="1034" y="942"/>
              <a:ext cx="29" cy="35"/>
            </a:xfrm>
            <a:custGeom>
              <a:avLst/>
              <a:gdLst>
                <a:gd name="T0" fmla="*/ 11 w 29"/>
                <a:gd name="T1" fmla="*/ 32 h 35"/>
                <a:gd name="T2" fmla="*/ 16 w 29"/>
                <a:gd name="T3" fmla="*/ 23 h 35"/>
                <a:gd name="T4" fmla="*/ 11 w 29"/>
                <a:gd name="T5" fmla="*/ 20 h 35"/>
                <a:gd name="T6" fmla="*/ 3 w 29"/>
                <a:gd name="T7" fmla="*/ 27 h 35"/>
                <a:gd name="T8" fmla="*/ 0 w 29"/>
                <a:gd name="T9" fmla="*/ 25 h 35"/>
                <a:gd name="T10" fmla="*/ 24 w 29"/>
                <a:gd name="T11" fmla="*/ 0 h 35"/>
                <a:gd name="T12" fmla="*/ 29 w 29"/>
                <a:gd name="T13" fmla="*/ 2 h 35"/>
                <a:gd name="T14" fmla="*/ 16 w 29"/>
                <a:gd name="T15" fmla="*/ 35 h 35"/>
                <a:gd name="T16" fmla="*/ 11 w 29"/>
                <a:gd name="T17" fmla="*/ 32 h 35"/>
                <a:gd name="T18" fmla="*/ 19 w 29"/>
                <a:gd name="T19" fmla="*/ 18 h 35"/>
                <a:gd name="T20" fmla="*/ 24 w 29"/>
                <a:gd name="T21" fmla="*/ 7 h 35"/>
                <a:gd name="T22" fmla="*/ 23 w 29"/>
                <a:gd name="T23" fmla="*/ 6 h 35"/>
                <a:gd name="T24" fmla="*/ 14 w 29"/>
                <a:gd name="T25" fmla="*/ 16 h 35"/>
                <a:gd name="T26" fmla="*/ 19 w 29"/>
                <a:gd name="T2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35">
                  <a:moveTo>
                    <a:pt x="11" y="32"/>
                  </a:moveTo>
                  <a:lnTo>
                    <a:pt x="16" y="23"/>
                  </a:lnTo>
                  <a:lnTo>
                    <a:pt x="11" y="20"/>
                  </a:lnTo>
                  <a:lnTo>
                    <a:pt x="3" y="27"/>
                  </a:lnTo>
                  <a:lnTo>
                    <a:pt x="0" y="25"/>
                  </a:lnTo>
                  <a:lnTo>
                    <a:pt x="24" y="0"/>
                  </a:lnTo>
                  <a:lnTo>
                    <a:pt x="29" y="2"/>
                  </a:lnTo>
                  <a:lnTo>
                    <a:pt x="16" y="35"/>
                  </a:lnTo>
                  <a:lnTo>
                    <a:pt x="11" y="32"/>
                  </a:lnTo>
                  <a:close/>
                  <a:moveTo>
                    <a:pt x="19" y="18"/>
                  </a:moveTo>
                  <a:lnTo>
                    <a:pt x="24" y="7"/>
                  </a:lnTo>
                  <a:lnTo>
                    <a:pt x="23" y="6"/>
                  </a:lnTo>
                  <a:lnTo>
                    <a:pt x="14" y="16"/>
                  </a:lnTo>
                  <a:lnTo>
                    <a:pt x="19" y="18"/>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6" name="Freeform 112"/>
            <p:cNvSpPr/>
            <p:nvPr userDrawn="1"/>
          </p:nvSpPr>
          <p:spPr bwMode="auto">
            <a:xfrm>
              <a:off x="1054" y="948"/>
              <a:ext cx="32" cy="39"/>
            </a:xfrm>
            <a:custGeom>
              <a:avLst/>
              <a:gdLst>
                <a:gd name="T0" fmla="*/ 16 w 32"/>
                <a:gd name="T1" fmla="*/ 39 h 39"/>
                <a:gd name="T2" fmla="*/ 13 w 32"/>
                <a:gd name="T3" fmla="*/ 36 h 39"/>
                <a:gd name="T4" fmla="*/ 15 w 32"/>
                <a:gd name="T5" fmla="*/ 12 h 39"/>
                <a:gd name="T6" fmla="*/ 5 w 32"/>
                <a:gd name="T7" fmla="*/ 32 h 39"/>
                <a:gd name="T8" fmla="*/ 0 w 32"/>
                <a:gd name="T9" fmla="*/ 30 h 39"/>
                <a:gd name="T10" fmla="*/ 16 w 32"/>
                <a:gd name="T11" fmla="*/ 0 h 39"/>
                <a:gd name="T12" fmla="*/ 20 w 32"/>
                <a:gd name="T13" fmla="*/ 1 h 39"/>
                <a:gd name="T14" fmla="*/ 19 w 32"/>
                <a:gd name="T15" fmla="*/ 25 h 39"/>
                <a:gd name="T16" fmla="*/ 29 w 32"/>
                <a:gd name="T17" fmla="*/ 5 h 39"/>
                <a:gd name="T18" fmla="*/ 32 w 32"/>
                <a:gd name="T19" fmla="*/ 7 h 39"/>
                <a:gd name="T20" fmla="*/ 16 w 32"/>
                <a:gd name="T21"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39">
                  <a:moveTo>
                    <a:pt x="16" y="39"/>
                  </a:moveTo>
                  <a:lnTo>
                    <a:pt x="13" y="36"/>
                  </a:lnTo>
                  <a:lnTo>
                    <a:pt x="15" y="12"/>
                  </a:lnTo>
                  <a:lnTo>
                    <a:pt x="5" y="32"/>
                  </a:lnTo>
                  <a:lnTo>
                    <a:pt x="0" y="30"/>
                  </a:lnTo>
                  <a:lnTo>
                    <a:pt x="16" y="0"/>
                  </a:lnTo>
                  <a:lnTo>
                    <a:pt x="20" y="1"/>
                  </a:lnTo>
                  <a:lnTo>
                    <a:pt x="19" y="25"/>
                  </a:lnTo>
                  <a:lnTo>
                    <a:pt x="29" y="5"/>
                  </a:lnTo>
                  <a:lnTo>
                    <a:pt x="32" y="7"/>
                  </a:lnTo>
                  <a:lnTo>
                    <a:pt x="16" y="3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7" name="Freeform 113"/>
            <p:cNvSpPr/>
            <p:nvPr userDrawn="1"/>
          </p:nvSpPr>
          <p:spPr bwMode="auto">
            <a:xfrm>
              <a:off x="1079" y="957"/>
              <a:ext cx="23" cy="36"/>
            </a:xfrm>
            <a:custGeom>
              <a:avLst/>
              <a:gdLst>
                <a:gd name="T0" fmla="*/ 12 w 19"/>
                <a:gd name="T1" fmla="*/ 29 h 29"/>
                <a:gd name="T2" fmla="*/ 10 w 19"/>
                <a:gd name="T3" fmla="*/ 29 h 29"/>
                <a:gd name="T4" fmla="*/ 10 w 19"/>
                <a:gd name="T5" fmla="*/ 26 h 29"/>
                <a:gd name="T6" fmla="*/ 8 w 19"/>
                <a:gd name="T7" fmla="*/ 27 h 29"/>
                <a:gd name="T8" fmla="*/ 5 w 19"/>
                <a:gd name="T9" fmla="*/ 27 h 29"/>
                <a:gd name="T10" fmla="*/ 1 w 19"/>
                <a:gd name="T11" fmla="*/ 23 h 29"/>
                <a:gd name="T12" fmla="*/ 1 w 19"/>
                <a:gd name="T13" fmla="*/ 13 h 29"/>
                <a:gd name="T14" fmla="*/ 6 w 19"/>
                <a:gd name="T15" fmla="*/ 3 h 29"/>
                <a:gd name="T16" fmla="*/ 14 w 19"/>
                <a:gd name="T17" fmla="*/ 1 h 29"/>
                <a:gd name="T18" fmla="*/ 18 w 19"/>
                <a:gd name="T19" fmla="*/ 11 h 29"/>
                <a:gd name="T20" fmla="*/ 15 w 19"/>
                <a:gd name="T21" fmla="*/ 11 h 29"/>
                <a:gd name="T22" fmla="*/ 13 w 19"/>
                <a:gd name="T23" fmla="*/ 4 h 29"/>
                <a:gd name="T24" fmla="*/ 8 w 19"/>
                <a:gd name="T25" fmla="*/ 6 h 29"/>
                <a:gd name="T26" fmla="*/ 5 w 19"/>
                <a:gd name="T27" fmla="*/ 14 h 29"/>
                <a:gd name="T28" fmla="*/ 4 w 19"/>
                <a:gd name="T29" fmla="*/ 21 h 29"/>
                <a:gd name="T30" fmla="*/ 6 w 19"/>
                <a:gd name="T31" fmla="*/ 24 h 29"/>
                <a:gd name="T32" fmla="*/ 9 w 19"/>
                <a:gd name="T33" fmla="*/ 24 h 29"/>
                <a:gd name="T34" fmla="*/ 12 w 19"/>
                <a:gd name="T35" fmla="*/ 20 h 29"/>
                <a:gd name="T36" fmla="*/ 12 w 19"/>
                <a:gd name="T37" fmla="*/ 18 h 29"/>
                <a:gd name="T38" fmla="*/ 8 w 19"/>
                <a:gd name="T39" fmla="*/ 17 h 29"/>
                <a:gd name="T40" fmla="*/ 9 w 19"/>
                <a:gd name="T41" fmla="*/ 14 h 29"/>
                <a:gd name="T42" fmla="*/ 16 w 19"/>
                <a:gd name="T43" fmla="*/ 17 h 29"/>
                <a:gd name="T44" fmla="*/ 12 w 19"/>
                <a:gd name="T45"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29">
                  <a:moveTo>
                    <a:pt x="12" y="29"/>
                  </a:moveTo>
                  <a:cubicBezTo>
                    <a:pt x="10" y="29"/>
                    <a:pt x="10" y="29"/>
                    <a:pt x="10" y="29"/>
                  </a:cubicBezTo>
                  <a:cubicBezTo>
                    <a:pt x="10" y="26"/>
                    <a:pt x="10" y="26"/>
                    <a:pt x="10" y="26"/>
                  </a:cubicBezTo>
                  <a:cubicBezTo>
                    <a:pt x="9" y="27"/>
                    <a:pt x="9" y="27"/>
                    <a:pt x="8" y="27"/>
                  </a:cubicBezTo>
                  <a:cubicBezTo>
                    <a:pt x="7" y="27"/>
                    <a:pt x="6" y="27"/>
                    <a:pt x="5" y="27"/>
                  </a:cubicBezTo>
                  <a:cubicBezTo>
                    <a:pt x="3" y="26"/>
                    <a:pt x="2" y="25"/>
                    <a:pt x="1" y="23"/>
                  </a:cubicBezTo>
                  <a:cubicBezTo>
                    <a:pt x="0" y="20"/>
                    <a:pt x="0" y="17"/>
                    <a:pt x="1" y="13"/>
                  </a:cubicBezTo>
                  <a:cubicBezTo>
                    <a:pt x="3" y="8"/>
                    <a:pt x="4" y="5"/>
                    <a:pt x="6" y="3"/>
                  </a:cubicBezTo>
                  <a:cubicBezTo>
                    <a:pt x="9" y="1"/>
                    <a:pt x="12" y="0"/>
                    <a:pt x="14" y="1"/>
                  </a:cubicBezTo>
                  <a:cubicBezTo>
                    <a:pt x="17" y="2"/>
                    <a:pt x="19" y="6"/>
                    <a:pt x="18" y="11"/>
                  </a:cubicBezTo>
                  <a:cubicBezTo>
                    <a:pt x="15" y="11"/>
                    <a:pt x="15" y="11"/>
                    <a:pt x="15" y="11"/>
                  </a:cubicBezTo>
                  <a:cubicBezTo>
                    <a:pt x="16" y="9"/>
                    <a:pt x="15" y="5"/>
                    <a:pt x="13" y="4"/>
                  </a:cubicBezTo>
                  <a:cubicBezTo>
                    <a:pt x="11" y="4"/>
                    <a:pt x="9" y="4"/>
                    <a:pt x="8" y="6"/>
                  </a:cubicBezTo>
                  <a:cubicBezTo>
                    <a:pt x="7" y="7"/>
                    <a:pt x="6" y="10"/>
                    <a:pt x="5" y="14"/>
                  </a:cubicBezTo>
                  <a:cubicBezTo>
                    <a:pt x="4" y="17"/>
                    <a:pt x="3" y="20"/>
                    <a:pt x="4" y="21"/>
                  </a:cubicBezTo>
                  <a:cubicBezTo>
                    <a:pt x="4" y="23"/>
                    <a:pt x="5" y="24"/>
                    <a:pt x="6" y="24"/>
                  </a:cubicBezTo>
                  <a:cubicBezTo>
                    <a:pt x="7" y="25"/>
                    <a:pt x="9" y="25"/>
                    <a:pt x="9" y="24"/>
                  </a:cubicBezTo>
                  <a:cubicBezTo>
                    <a:pt x="10" y="23"/>
                    <a:pt x="11" y="22"/>
                    <a:pt x="12" y="20"/>
                  </a:cubicBezTo>
                  <a:cubicBezTo>
                    <a:pt x="12" y="18"/>
                    <a:pt x="12" y="18"/>
                    <a:pt x="12" y="18"/>
                  </a:cubicBezTo>
                  <a:cubicBezTo>
                    <a:pt x="8" y="17"/>
                    <a:pt x="8" y="17"/>
                    <a:pt x="8" y="17"/>
                  </a:cubicBezTo>
                  <a:cubicBezTo>
                    <a:pt x="9" y="14"/>
                    <a:pt x="9" y="14"/>
                    <a:pt x="9" y="14"/>
                  </a:cubicBezTo>
                  <a:cubicBezTo>
                    <a:pt x="16" y="17"/>
                    <a:pt x="16" y="17"/>
                    <a:pt x="16" y="17"/>
                  </a:cubicBezTo>
                  <a:lnTo>
                    <a:pt x="12" y="2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8" name="Freeform 114"/>
            <p:cNvSpPr/>
            <p:nvPr userDrawn="1"/>
          </p:nvSpPr>
          <p:spPr bwMode="auto">
            <a:xfrm>
              <a:off x="1121" y="962"/>
              <a:ext cx="19" cy="33"/>
            </a:xfrm>
            <a:custGeom>
              <a:avLst/>
              <a:gdLst>
                <a:gd name="T0" fmla="*/ 15 w 15"/>
                <a:gd name="T1" fmla="*/ 19 h 27"/>
                <a:gd name="T2" fmla="*/ 13 w 15"/>
                <a:gd name="T3" fmla="*/ 25 h 27"/>
                <a:gd name="T4" fmla="*/ 7 w 15"/>
                <a:gd name="T5" fmla="*/ 27 h 27"/>
                <a:gd name="T6" fmla="*/ 1 w 15"/>
                <a:gd name="T7" fmla="*/ 25 h 27"/>
                <a:gd name="T8" fmla="*/ 0 w 15"/>
                <a:gd name="T9" fmla="*/ 19 h 27"/>
                <a:gd name="T10" fmla="*/ 0 w 15"/>
                <a:gd name="T11" fmla="*/ 0 h 27"/>
                <a:gd name="T12" fmla="*/ 4 w 15"/>
                <a:gd name="T13" fmla="*/ 0 h 27"/>
                <a:gd name="T14" fmla="*/ 3 w 15"/>
                <a:gd name="T15" fmla="*/ 19 h 27"/>
                <a:gd name="T16" fmla="*/ 4 w 15"/>
                <a:gd name="T17" fmla="*/ 23 h 27"/>
                <a:gd name="T18" fmla="*/ 7 w 15"/>
                <a:gd name="T19" fmla="*/ 24 h 27"/>
                <a:gd name="T20" fmla="*/ 10 w 15"/>
                <a:gd name="T21" fmla="*/ 23 h 27"/>
                <a:gd name="T22" fmla="*/ 11 w 15"/>
                <a:gd name="T23" fmla="*/ 19 h 27"/>
                <a:gd name="T24" fmla="*/ 12 w 15"/>
                <a:gd name="T25" fmla="*/ 0 h 27"/>
                <a:gd name="T26" fmla="*/ 15 w 15"/>
                <a:gd name="T27" fmla="*/ 0 h 27"/>
                <a:gd name="T28" fmla="*/ 15 w 15"/>
                <a:gd name="T29"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7">
                  <a:moveTo>
                    <a:pt x="15" y="19"/>
                  </a:moveTo>
                  <a:cubicBezTo>
                    <a:pt x="15" y="22"/>
                    <a:pt x="14" y="24"/>
                    <a:pt x="13" y="25"/>
                  </a:cubicBezTo>
                  <a:cubicBezTo>
                    <a:pt x="11" y="27"/>
                    <a:pt x="10" y="27"/>
                    <a:pt x="7" y="27"/>
                  </a:cubicBezTo>
                  <a:cubicBezTo>
                    <a:pt x="4" y="27"/>
                    <a:pt x="2" y="26"/>
                    <a:pt x="1" y="25"/>
                  </a:cubicBezTo>
                  <a:cubicBezTo>
                    <a:pt x="0" y="23"/>
                    <a:pt x="0" y="21"/>
                    <a:pt x="0" y="19"/>
                  </a:cubicBezTo>
                  <a:cubicBezTo>
                    <a:pt x="0" y="0"/>
                    <a:pt x="0" y="0"/>
                    <a:pt x="0" y="0"/>
                  </a:cubicBezTo>
                  <a:cubicBezTo>
                    <a:pt x="4" y="0"/>
                    <a:pt x="4" y="0"/>
                    <a:pt x="4" y="0"/>
                  </a:cubicBezTo>
                  <a:cubicBezTo>
                    <a:pt x="3" y="19"/>
                    <a:pt x="3" y="19"/>
                    <a:pt x="3" y="19"/>
                  </a:cubicBezTo>
                  <a:cubicBezTo>
                    <a:pt x="3" y="21"/>
                    <a:pt x="3" y="22"/>
                    <a:pt x="4" y="23"/>
                  </a:cubicBezTo>
                  <a:cubicBezTo>
                    <a:pt x="5" y="24"/>
                    <a:pt x="6" y="24"/>
                    <a:pt x="7" y="24"/>
                  </a:cubicBezTo>
                  <a:cubicBezTo>
                    <a:pt x="8" y="24"/>
                    <a:pt x="9" y="24"/>
                    <a:pt x="10" y="23"/>
                  </a:cubicBezTo>
                  <a:cubicBezTo>
                    <a:pt x="11" y="22"/>
                    <a:pt x="11" y="21"/>
                    <a:pt x="11" y="19"/>
                  </a:cubicBezTo>
                  <a:cubicBezTo>
                    <a:pt x="12" y="0"/>
                    <a:pt x="12" y="0"/>
                    <a:pt x="12" y="0"/>
                  </a:cubicBezTo>
                  <a:cubicBezTo>
                    <a:pt x="15" y="0"/>
                    <a:pt x="15" y="0"/>
                    <a:pt x="15" y="0"/>
                  </a:cubicBezTo>
                  <a:lnTo>
                    <a:pt x="15" y="1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9" name="Freeform 115"/>
            <p:cNvSpPr/>
            <p:nvPr userDrawn="1"/>
          </p:nvSpPr>
          <p:spPr bwMode="auto">
            <a:xfrm>
              <a:off x="1142" y="959"/>
              <a:ext cx="21" cy="36"/>
            </a:xfrm>
            <a:custGeom>
              <a:avLst/>
              <a:gdLst>
                <a:gd name="T0" fmla="*/ 21 w 21"/>
                <a:gd name="T1" fmla="*/ 33 h 36"/>
                <a:gd name="T2" fmla="*/ 17 w 21"/>
                <a:gd name="T3" fmla="*/ 34 h 36"/>
                <a:gd name="T4" fmla="*/ 5 w 21"/>
                <a:gd name="T5" fmla="*/ 11 h 36"/>
                <a:gd name="T6" fmla="*/ 8 w 21"/>
                <a:gd name="T7" fmla="*/ 35 h 36"/>
                <a:gd name="T8" fmla="*/ 3 w 21"/>
                <a:gd name="T9" fmla="*/ 36 h 36"/>
                <a:gd name="T10" fmla="*/ 0 w 21"/>
                <a:gd name="T11" fmla="*/ 3 h 36"/>
                <a:gd name="T12" fmla="*/ 5 w 21"/>
                <a:gd name="T13" fmla="*/ 1 h 36"/>
                <a:gd name="T14" fmla="*/ 15 w 21"/>
                <a:gd name="T15" fmla="*/ 18 h 36"/>
                <a:gd name="T16" fmla="*/ 12 w 21"/>
                <a:gd name="T17" fmla="*/ 0 h 36"/>
                <a:gd name="T18" fmla="*/ 16 w 21"/>
                <a:gd name="T19" fmla="*/ 0 h 36"/>
                <a:gd name="T20" fmla="*/ 21 w 21"/>
                <a:gd name="T21" fmla="*/ 3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36">
                  <a:moveTo>
                    <a:pt x="21" y="33"/>
                  </a:moveTo>
                  <a:lnTo>
                    <a:pt x="17" y="34"/>
                  </a:lnTo>
                  <a:lnTo>
                    <a:pt x="5" y="11"/>
                  </a:lnTo>
                  <a:lnTo>
                    <a:pt x="8" y="35"/>
                  </a:lnTo>
                  <a:lnTo>
                    <a:pt x="3" y="36"/>
                  </a:lnTo>
                  <a:lnTo>
                    <a:pt x="0" y="3"/>
                  </a:lnTo>
                  <a:lnTo>
                    <a:pt x="5" y="1"/>
                  </a:lnTo>
                  <a:lnTo>
                    <a:pt x="15" y="18"/>
                  </a:lnTo>
                  <a:lnTo>
                    <a:pt x="12" y="0"/>
                  </a:lnTo>
                  <a:lnTo>
                    <a:pt x="16" y="0"/>
                  </a:lnTo>
                  <a:lnTo>
                    <a:pt x="21" y="33"/>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0" name="Freeform 116"/>
            <p:cNvSpPr/>
            <p:nvPr userDrawn="1"/>
          </p:nvSpPr>
          <p:spPr bwMode="auto">
            <a:xfrm>
              <a:off x="1162" y="957"/>
              <a:ext cx="14" cy="33"/>
            </a:xfrm>
            <a:custGeom>
              <a:avLst/>
              <a:gdLst>
                <a:gd name="T0" fmla="*/ 14 w 14"/>
                <a:gd name="T1" fmla="*/ 31 h 33"/>
                <a:gd name="T2" fmla="*/ 9 w 14"/>
                <a:gd name="T3" fmla="*/ 33 h 33"/>
                <a:gd name="T4" fmla="*/ 0 w 14"/>
                <a:gd name="T5" fmla="*/ 1 h 33"/>
                <a:gd name="T6" fmla="*/ 4 w 14"/>
                <a:gd name="T7" fmla="*/ 0 h 33"/>
                <a:gd name="T8" fmla="*/ 14 w 14"/>
                <a:gd name="T9" fmla="*/ 31 h 33"/>
              </a:gdLst>
              <a:ahLst/>
              <a:cxnLst>
                <a:cxn ang="0">
                  <a:pos x="T0" y="T1"/>
                </a:cxn>
                <a:cxn ang="0">
                  <a:pos x="T2" y="T3"/>
                </a:cxn>
                <a:cxn ang="0">
                  <a:pos x="T4" y="T5"/>
                </a:cxn>
                <a:cxn ang="0">
                  <a:pos x="T6" y="T7"/>
                </a:cxn>
                <a:cxn ang="0">
                  <a:pos x="T8" y="T9"/>
                </a:cxn>
              </a:cxnLst>
              <a:rect l="0" t="0" r="r" b="b"/>
              <a:pathLst>
                <a:path w="14" h="33">
                  <a:moveTo>
                    <a:pt x="14" y="31"/>
                  </a:moveTo>
                  <a:lnTo>
                    <a:pt x="9" y="33"/>
                  </a:lnTo>
                  <a:lnTo>
                    <a:pt x="0" y="1"/>
                  </a:lnTo>
                  <a:lnTo>
                    <a:pt x="4" y="0"/>
                  </a:lnTo>
                  <a:lnTo>
                    <a:pt x="14" y="31"/>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1" name="Freeform 117"/>
            <p:cNvSpPr/>
            <p:nvPr userDrawn="1"/>
          </p:nvSpPr>
          <p:spPr bwMode="auto">
            <a:xfrm>
              <a:off x="1169" y="948"/>
              <a:ext cx="23" cy="37"/>
            </a:xfrm>
            <a:custGeom>
              <a:avLst/>
              <a:gdLst>
                <a:gd name="T0" fmla="*/ 18 w 23"/>
                <a:gd name="T1" fmla="*/ 0 h 37"/>
                <a:gd name="T2" fmla="*/ 23 w 23"/>
                <a:gd name="T3" fmla="*/ 35 h 37"/>
                <a:gd name="T4" fmla="*/ 19 w 23"/>
                <a:gd name="T5" fmla="*/ 37 h 37"/>
                <a:gd name="T6" fmla="*/ 0 w 23"/>
                <a:gd name="T7" fmla="*/ 7 h 37"/>
                <a:gd name="T8" fmla="*/ 4 w 23"/>
                <a:gd name="T9" fmla="*/ 6 h 37"/>
                <a:gd name="T10" fmla="*/ 18 w 23"/>
                <a:gd name="T11" fmla="*/ 26 h 37"/>
                <a:gd name="T12" fmla="*/ 14 w 23"/>
                <a:gd name="T13" fmla="*/ 1 h 37"/>
                <a:gd name="T14" fmla="*/ 18 w 23"/>
                <a:gd name="T15" fmla="*/ 0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7">
                  <a:moveTo>
                    <a:pt x="18" y="0"/>
                  </a:moveTo>
                  <a:lnTo>
                    <a:pt x="23" y="35"/>
                  </a:lnTo>
                  <a:lnTo>
                    <a:pt x="19" y="37"/>
                  </a:lnTo>
                  <a:lnTo>
                    <a:pt x="0" y="7"/>
                  </a:lnTo>
                  <a:lnTo>
                    <a:pt x="4" y="6"/>
                  </a:lnTo>
                  <a:lnTo>
                    <a:pt x="18" y="26"/>
                  </a:lnTo>
                  <a:lnTo>
                    <a:pt x="14" y="1"/>
                  </a:lnTo>
                  <a:lnTo>
                    <a:pt x="18"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2" name="Freeform 118"/>
            <p:cNvSpPr/>
            <p:nvPr userDrawn="1"/>
          </p:nvSpPr>
          <p:spPr bwMode="auto">
            <a:xfrm>
              <a:off x="1188" y="939"/>
              <a:ext cx="33" cy="38"/>
            </a:xfrm>
            <a:custGeom>
              <a:avLst/>
              <a:gdLst>
                <a:gd name="T0" fmla="*/ 33 w 33"/>
                <a:gd name="T1" fmla="*/ 29 h 38"/>
                <a:gd name="T2" fmla="*/ 17 w 33"/>
                <a:gd name="T3" fmla="*/ 38 h 38"/>
                <a:gd name="T4" fmla="*/ 0 w 33"/>
                <a:gd name="T5" fmla="*/ 8 h 38"/>
                <a:gd name="T6" fmla="*/ 15 w 33"/>
                <a:gd name="T7" fmla="*/ 0 h 38"/>
                <a:gd name="T8" fmla="*/ 17 w 33"/>
                <a:gd name="T9" fmla="*/ 3 h 38"/>
                <a:gd name="T10" fmla="*/ 6 w 33"/>
                <a:gd name="T11" fmla="*/ 9 h 38"/>
                <a:gd name="T12" fmla="*/ 11 w 33"/>
                <a:gd name="T13" fmla="*/ 19 h 38"/>
                <a:gd name="T14" fmla="*/ 22 w 33"/>
                <a:gd name="T15" fmla="*/ 13 h 38"/>
                <a:gd name="T16" fmla="*/ 23 w 33"/>
                <a:gd name="T17" fmla="*/ 16 h 38"/>
                <a:gd name="T18" fmla="*/ 14 w 33"/>
                <a:gd name="T19" fmla="*/ 21 h 38"/>
                <a:gd name="T20" fmla="*/ 20 w 33"/>
                <a:gd name="T21" fmla="*/ 33 h 38"/>
                <a:gd name="T22" fmla="*/ 31 w 33"/>
                <a:gd name="T23" fmla="*/ 25 h 38"/>
                <a:gd name="T24" fmla="*/ 33 w 33"/>
                <a:gd name="T25" fmla="*/ 2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8">
                  <a:moveTo>
                    <a:pt x="33" y="29"/>
                  </a:moveTo>
                  <a:lnTo>
                    <a:pt x="17" y="38"/>
                  </a:lnTo>
                  <a:lnTo>
                    <a:pt x="0" y="8"/>
                  </a:lnTo>
                  <a:lnTo>
                    <a:pt x="15" y="0"/>
                  </a:lnTo>
                  <a:lnTo>
                    <a:pt x="17" y="3"/>
                  </a:lnTo>
                  <a:lnTo>
                    <a:pt x="6" y="9"/>
                  </a:lnTo>
                  <a:lnTo>
                    <a:pt x="11" y="19"/>
                  </a:lnTo>
                  <a:lnTo>
                    <a:pt x="22" y="13"/>
                  </a:lnTo>
                  <a:lnTo>
                    <a:pt x="23" y="16"/>
                  </a:lnTo>
                  <a:lnTo>
                    <a:pt x="14" y="21"/>
                  </a:lnTo>
                  <a:lnTo>
                    <a:pt x="20" y="33"/>
                  </a:lnTo>
                  <a:lnTo>
                    <a:pt x="31" y="25"/>
                  </a:lnTo>
                  <a:lnTo>
                    <a:pt x="33" y="2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3" name="Freeform 119"/>
            <p:cNvSpPr>
              <a:spLocks noEditPoints="1"/>
            </p:cNvSpPr>
            <p:nvPr userDrawn="1"/>
          </p:nvSpPr>
          <p:spPr bwMode="auto">
            <a:xfrm>
              <a:off x="1205" y="931"/>
              <a:ext cx="34" cy="34"/>
            </a:xfrm>
            <a:custGeom>
              <a:avLst/>
              <a:gdLst>
                <a:gd name="T0" fmla="*/ 27 w 27"/>
                <a:gd name="T1" fmla="*/ 20 h 28"/>
                <a:gd name="T2" fmla="*/ 24 w 27"/>
                <a:gd name="T3" fmla="*/ 22 h 28"/>
                <a:gd name="T4" fmla="*/ 15 w 27"/>
                <a:gd name="T5" fmla="*/ 14 h 28"/>
                <a:gd name="T6" fmla="*/ 12 w 27"/>
                <a:gd name="T7" fmla="*/ 17 h 28"/>
                <a:gd name="T8" fmla="*/ 19 w 27"/>
                <a:gd name="T9" fmla="*/ 26 h 28"/>
                <a:gd name="T10" fmla="*/ 16 w 27"/>
                <a:gd name="T11" fmla="*/ 28 h 28"/>
                <a:gd name="T12" fmla="*/ 0 w 27"/>
                <a:gd name="T13" fmla="*/ 6 h 28"/>
                <a:gd name="T14" fmla="*/ 5 w 27"/>
                <a:gd name="T15" fmla="*/ 2 h 28"/>
                <a:gd name="T16" fmla="*/ 11 w 27"/>
                <a:gd name="T17" fmla="*/ 0 h 28"/>
                <a:gd name="T18" fmla="*/ 18 w 27"/>
                <a:gd name="T19" fmla="*/ 8 h 28"/>
                <a:gd name="T20" fmla="*/ 17 w 27"/>
                <a:gd name="T21" fmla="*/ 12 h 28"/>
                <a:gd name="T22" fmla="*/ 27 w 27"/>
                <a:gd name="T23" fmla="*/ 20 h 28"/>
                <a:gd name="T24" fmla="*/ 10 w 27"/>
                <a:gd name="T25" fmla="*/ 4 h 28"/>
                <a:gd name="T26" fmla="*/ 5 w 27"/>
                <a:gd name="T27" fmla="*/ 6 h 28"/>
                <a:gd name="T28" fmla="*/ 10 w 27"/>
                <a:gd name="T29" fmla="*/ 13 h 28"/>
                <a:gd name="T30" fmla="*/ 14 w 27"/>
                <a:gd name="T31" fmla="*/ 10 h 28"/>
                <a:gd name="T32" fmla="*/ 10 w 27"/>
                <a:gd name="T33"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8">
                  <a:moveTo>
                    <a:pt x="27" y="20"/>
                  </a:moveTo>
                  <a:cubicBezTo>
                    <a:pt x="24" y="22"/>
                    <a:pt x="24" y="22"/>
                    <a:pt x="24" y="22"/>
                  </a:cubicBezTo>
                  <a:cubicBezTo>
                    <a:pt x="15" y="14"/>
                    <a:pt x="15" y="14"/>
                    <a:pt x="15" y="14"/>
                  </a:cubicBezTo>
                  <a:cubicBezTo>
                    <a:pt x="12" y="17"/>
                    <a:pt x="12" y="17"/>
                    <a:pt x="12" y="17"/>
                  </a:cubicBezTo>
                  <a:cubicBezTo>
                    <a:pt x="19" y="26"/>
                    <a:pt x="19" y="26"/>
                    <a:pt x="19" y="26"/>
                  </a:cubicBezTo>
                  <a:cubicBezTo>
                    <a:pt x="16" y="28"/>
                    <a:pt x="16" y="28"/>
                    <a:pt x="16" y="28"/>
                  </a:cubicBezTo>
                  <a:cubicBezTo>
                    <a:pt x="0" y="6"/>
                    <a:pt x="0" y="6"/>
                    <a:pt x="0" y="6"/>
                  </a:cubicBezTo>
                  <a:cubicBezTo>
                    <a:pt x="5" y="2"/>
                    <a:pt x="5" y="2"/>
                    <a:pt x="5" y="2"/>
                  </a:cubicBezTo>
                  <a:cubicBezTo>
                    <a:pt x="7" y="1"/>
                    <a:pt x="9" y="0"/>
                    <a:pt x="11" y="0"/>
                  </a:cubicBezTo>
                  <a:cubicBezTo>
                    <a:pt x="16" y="1"/>
                    <a:pt x="18" y="4"/>
                    <a:pt x="18" y="8"/>
                  </a:cubicBezTo>
                  <a:cubicBezTo>
                    <a:pt x="18" y="9"/>
                    <a:pt x="18" y="11"/>
                    <a:pt x="17" y="12"/>
                  </a:cubicBezTo>
                  <a:lnTo>
                    <a:pt x="27" y="20"/>
                  </a:lnTo>
                  <a:close/>
                  <a:moveTo>
                    <a:pt x="10" y="4"/>
                  </a:moveTo>
                  <a:cubicBezTo>
                    <a:pt x="8" y="3"/>
                    <a:pt x="6" y="5"/>
                    <a:pt x="5" y="6"/>
                  </a:cubicBezTo>
                  <a:cubicBezTo>
                    <a:pt x="10" y="13"/>
                    <a:pt x="10" y="13"/>
                    <a:pt x="10" y="13"/>
                  </a:cubicBezTo>
                  <a:cubicBezTo>
                    <a:pt x="12" y="12"/>
                    <a:pt x="12" y="12"/>
                    <a:pt x="14" y="10"/>
                  </a:cubicBezTo>
                  <a:cubicBezTo>
                    <a:pt x="14" y="7"/>
                    <a:pt x="13" y="5"/>
                    <a:pt x="10" y="4"/>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4" name="Freeform 120"/>
            <p:cNvSpPr/>
            <p:nvPr userDrawn="1"/>
          </p:nvSpPr>
          <p:spPr bwMode="auto">
            <a:xfrm>
              <a:off x="1223" y="916"/>
              <a:ext cx="34" cy="29"/>
            </a:xfrm>
            <a:custGeom>
              <a:avLst/>
              <a:gdLst>
                <a:gd name="T0" fmla="*/ 22 w 28"/>
                <a:gd name="T1" fmla="*/ 10 h 24"/>
                <a:gd name="T2" fmla="*/ 19 w 28"/>
                <a:gd name="T3" fmla="*/ 24 h 24"/>
                <a:gd name="T4" fmla="*/ 14 w 28"/>
                <a:gd name="T5" fmla="*/ 23 h 24"/>
                <a:gd name="T6" fmla="*/ 15 w 28"/>
                <a:gd name="T7" fmla="*/ 20 h 24"/>
                <a:gd name="T8" fmla="*/ 18 w 28"/>
                <a:gd name="T9" fmla="*/ 21 h 24"/>
                <a:gd name="T10" fmla="*/ 20 w 28"/>
                <a:gd name="T11" fmla="*/ 13 h 24"/>
                <a:gd name="T12" fmla="*/ 17 w 28"/>
                <a:gd name="T13" fmla="*/ 12 h 24"/>
                <a:gd name="T14" fmla="*/ 8 w 28"/>
                <a:gd name="T15" fmla="*/ 15 h 24"/>
                <a:gd name="T16" fmla="*/ 0 w 28"/>
                <a:gd name="T17" fmla="*/ 9 h 24"/>
                <a:gd name="T18" fmla="*/ 2 w 28"/>
                <a:gd name="T19" fmla="*/ 4 h 24"/>
                <a:gd name="T20" fmla="*/ 11 w 28"/>
                <a:gd name="T21" fmla="*/ 2 h 24"/>
                <a:gd name="T22" fmla="*/ 10 w 28"/>
                <a:gd name="T23" fmla="*/ 5 h 24"/>
                <a:gd name="T24" fmla="*/ 4 w 28"/>
                <a:gd name="T25" fmla="*/ 6 h 24"/>
                <a:gd name="T26" fmla="*/ 3 w 28"/>
                <a:gd name="T27" fmla="*/ 9 h 24"/>
                <a:gd name="T28" fmla="*/ 7 w 28"/>
                <a:gd name="T29" fmla="*/ 12 h 24"/>
                <a:gd name="T30" fmla="*/ 17 w 28"/>
                <a:gd name="T31" fmla="*/ 9 h 24"/>
                <a:gd name="T32" fmla="*/ 22 w 28"/>
                <a:gd name="T33" fmla="*/ 1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 h="24">
                  <a:moveTo>
                    <a:pt x="22" y="10"/>
                  </a:moveTo>
                  <a:cubicBezTo>
                    <a:pt x="28" y="13"/>
                    <a:pt x="26" y="23"/>
                    <a:pt x="19" y="24"/>
                  </a:cubicBezTo>
                  <a:cubicBezTo>
                    <a:pt x="17" y="24"/>
                    <a:pt x="15" y="24"/>
                    <a:pt x="14" y="23"/>
                  </a:cubicBezTo>
                  <a:cubicBezTo>
                    <a:pt x="15" y="20"/>
                    <a:pt x="15" y="20"/>
                    <a:pt x="15" y="20"/>
                  </a:cubicBezTo>
                  <a:cubicBezTo>
                    <a:pt x="16" y="21"/>
                    <a:pt x="17" y="21"/>
                    <a:pt x="18" y="21"/>
                  </a:cubicBezTo>
                  <a:cubicBezTo>
                    <a:pt x="23" y="20"/>
                    <a:pt x="23" y="15"/>
                    <a:pt x="20" y="13"/>
                  </a:cubicBezTo>
                  <a:cubicBezTo>
                    <a:pt x="19" y="12"/>
                    <a:pt x="18" y="12"/>
                    <a:pt x="17" y="12"/>
                  </a:cubicBezTo>
                  <a:cubicBezTo>
                    <a:pt x="13" y="13"/>
                    <a:pt x="11" y="15"/>
                    <a:pt x="8" y="15"/>
                  </a:cubicBezTo>
                  <a:cubicBezTo>
                    <a:pt x="4" y="15"/>
                    <a:pt x="1" y="13"/>
                    <a:pt x="0" y="9"/>
                  </a:cubicBezTo>
                  <a:cubicBezTo>
                    <a:pt x="0" y="7"/>
                    <a:pt x="1" y="5"/>
                    <a:pt x="2" y="4"/>
                  </a:cubicBezTo>
                  <a:cubicBezTo>
                    <a:pt x="4" y="0"/>
                    <a:pt x="8" y="0"/>
                    <a:pt x="11" y="2"/>
                  </a:cubicBezTo>
                  <a:cubicBezTo>
                    <a:pt x="10" y="5"/>
                    <a:pt x="10" y="5"/>
                    <a:pt x="10" y="5"/>
                  </a:cubicBezTo>
                  <a:cubicBezTo>
                    <a:pt x="8" y="4"/>
                    <a:pt x="5" y="4"/>
                    <a:pt x="4" y="6"/>
                  </a:cubicBezTo>
                  <a:cubicBezTo>
                    <a:pt x="3" y="7"/>
                    <a:pt x="3" y="8"/>
                    <a:pt x="3" y="9"/>
                  </a:cubicBezTo>
                  <a:cubicBezTo>
                    <a:pt x="4" y="11"/>
                    <a:pt x="5" y="12"/>
                    <a:pt x="7" y="12"/>
                  </a:cubicBezTo>
                  <a:cubicBezTo>
                    <a:pt x="11" y="11"/>
                    <a:pt x="13" y="8"/>
                    <a:pt x="17" y="9"/>
                  </a:cubicBezTo>
                  <a:cubicBezTo>
                    <a:pt x="18" y="9"/>
                    <a:pt x="20" y="9"/>
                    <a:pt x="22" y="10"/>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5" name="Freeform 121"/>
            <p:cNvSpPr/>
            <p:nvPr userDrawn="1"/>
          </p:nvSpPr>
          <p:spPr bwMode="auto">
            <a:xfrm>
              <a:off x="1234" y="906"/>
              <a:ext cx="31" cy="21"/>
            </a:xfrm>
            <a:custGeom>
              <a:avLst/>
              <a:gdLst>
                <a:gd name="T0" fmla="*/ 31 w 31"/>
                <a:gd name="T1" fmla="*/ 17 h 21"/>
                <a:gd name="T2" fmla="*/ 28 w 31"/>
                <a:gd name="T3" fmla="*/ 21 h 21"/>
                <a:gd name="T4" fmla="*/ 0 w 31"/>
                <a:gd name="T5" fmla="*/ 2 h 21"/>
                <a:gd name="T6" fmla="*/ 2 w 31"/>
                <a:gd name="T7" fmla="*/ 0 h 21"/>
                <a:gd name="T8" fmla="*/ 31 w 31"/>
                <a:gd name="T9" fmla="*/ 17 h 21"/>
              </a:gdLst>
              <a:ahLst/>
              <a:cxnLst>
                <a:cxn ang="0">
                  <a:pos x="T0" y="T1"/>
                </a:cxn>
                <a:cxn ang="0">
                  <a:pos x="T2" y="T3"/>
                </a:cxn>
                <a:cxn ang="0">
                  <a:pos x="T4" y="T5"/>
                </a:cxn>
                <a:cxn ang="0">
                  <a:pos x="T6" y="T7"/>
                </a:cxn>
                <a:cxn ang="0">
                  <a:pos x="T8" y="T9"/>
                </a:cxn>
              </a:cxnLst>
              <a:rect l="0" t="0" r="r" b="b"/>
              <a:pathLst>
                <a:path w="31" h="21">
                  <a:moveTo>
                    <a:pt x="31" y="17"/>
                  </a:moveTo>
                  <a:lnTo>
                    <a:pt x="28" y="21"/>
                  </a:lnTo>
                  <a:lnTo>
                    <a:pt x="0" y="2"/>
                  </a:lnTo>
                  <a:lnTo>
                    <a:pt x="2" y="0"/>
                  </a:lnTo>
                  <a:lnTo>
                    <a:pt x="31" y="17"/>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6" name="Freeform 122"/>
            <p:cNvSpPr/>
            <p:nvPr userDrawn="1"/>
          </p:nvSpPr>
          <p:spPr bwMode="auto">
            <a:xfrm>
              <a:off x="1239" y="884"/>
              <a:ext cx="36" cy="28"/>
            </a:xfrm>
            <a:custGeom>
              <a:avLst/>
              <a:gdLst>
                <a:gd name="T0" fmla="*/ 11 w 36"/>
                <a:gd name="T1" fmla="*/ 3 h 28"/>
                <a:gd name="T2" fmla="*/ 8 w 36"/>
                <a:gd name="T3" fmla="*/ 9 h 28"/>
                <a:gd name="T4" fmla="*/ 36 w 36"/>
                <a:gd name="T5" fmla="*/ 25 h 28"/>
                <a:gd name="T6" fmla="*/ 33 w 36"/>
                <a:gd name="T7" fmla="*/ 28 h 28"/>
                <a:gd name="T8" fmla="*/ 6 w 36"/>
                <a:gd name="T9" fmla="*/ 13 h 28"/>
                <a:gd name="T10" fmla="*/ 3 w 36"/>
                <a:gd name="T11" fmla="*/ 18 h 28"/>
                <a:gd name="T12" fmla="*/ 0 w 36"/>
                <a:gd name="T13" fmla="*/ 17 h 28"/>
                <a:gd name="T14" fmla="*/ 7 w 36"/>
                <a:gd name="T15" fmla="*/ 0 h 28"/>
                <a:gd name="T16" fmla="*/ 11 w 36"/>
                <a:gd name="T17"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28">
                  <a:moveTo>
                    <a:pt x="11" y="3"/>
                  </a:moveTo>
                  <a:lnTo>
                    <a:pt x="8" y="9"/>
                  </a:lnTo>
                  <a:lnTo>
                    <a:pt x="36" y="25"/>
                  </a:lnTo>
                  <a:lnTo>
                    <a:pt x="33" y="28"/>
                  </a:lnTo>
                  <a:lnTo>
                    <a:pt x="6" y="13"/>
                  </a:lnTo>
                  <a:lnTo>
                    <a:pt x="3" y="18"/>
                  </a:lnTo>
                  <a:lnTo>
                    <a:pt x="0" y="17"/>
                  </a:lnTo>
                  <a:lnTo>
                    <a:pt x="7" y="0"/>
                  </a:lnTo>
                  <a:lnTo>
                    <a:pt x="11" y="3"/>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7" name="Freeform 123"/>
            <p:cNvSpPr/>
            <p:nvPr userDrawn="1"/>
          </p:nvSpPr>
          <p:spPr bwMode="auto">
            <a:xfrm>
              <a:off x="1247" y="865"/>
              <a:ext cx="36" cy="23"/>
            </a:xfrm>
            <a:custGeom>
              <a:avLst/>
              <a:gdLst>
                <a:gd name="T0" fmla="*/ 8 w 36"/>
                <a:gd name="T1" fmla="*/ 0 h 23"/>
                <a:gd name="T2" fmla="*/ 25 w 36"/>
                <a:gd name="T3" fmla="*/ 14 h 23"/>
                <a:gd name="T4" fmla="*/ 36 w 36"/>
                <a:gd name="T5" fmla="*/ 19 h 23"/>
                <a:gd name="T6" fmla="*/ 34 w 36"/>
                <a:gd name="T7" fmla="*/ 23 h 23"/>
                <a:gd name="T8" fmla="*/ 24 w 36"/>
                <a:gd name="T9" fmla="*/ 18 h 23"/>
                <a:gd name="T10" fmla="*/ 0 w 36"/>
                <a:gd name="T11" fmla="*/ 18 h 23"/>
                <a:gd name="T12" fmla="*/ 2 w 36"/>
                <a:gd name="T13" fmla="*/ 14 h 23"/>
                <a:gd name="T14" fmla="*/ 18 w 36"/>
                <a:gd name="T15" fmla="*/ 14 h 23"/>
                <a:gd name="T16" fmla="*/ 7 w 36"/>
                <a:gd name="T17" fmla="*/ 5 h 23"/>
                <a:gd name="T18" fmla="*/ 8 w 36"/>
                <a:gd name="T1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23">
                  <a:moveTo>
                    <a:pt x="8" y="0"/>
                  </a:moveTo>
                  <a:lnTo>
                    <a:pt x="25" y="14"/>
                  </a:lnTo>
                  <a:lnTo>
                    <a:pt x="36" y="19"/>
                  </a:lnTo>
                  <a:lnTo>
                    <a:pt x="34" y="23"/>
                  </a:lnTo>
                  <a:lnTo>
                    <a:pt x="24" y="18"/>
                  </a:lnTo>
                  <a:lnTo>
                    <a:pt x="0" y="18"/>
                  </a:lnTo>
                  <a:lnTo>
                    <a:pt x="2" y="14"/>
                  </a:lnTo>
                  <a:lnTo>
                    <a:pt x="18" y="14"/>
                  </a:lnTo>
                  <a:lnTo>
                    <a:pt x="7" y="5"/>
                  </a:lnTo>
                  <a:lnTo>
                    <a:pt x="8"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8" name="Freeform 124"/>
            <p:cNvSpPr/>
            <p:nvPr userDrawn="1"/>
          </p:nvSpPr>
          <p:spPr bwMode="auto">
            <a:xfrm>
              <a:off x="1010" y="928"/>
              <a:ext cx="34" cy="25"/>
            </a:xfrm>
            <a:custGeom>
              <a:avLst/>
              <a:gdLst>
                <a:gd name="T0" fmla="*/ 14 w 28"/>
                <a:gd name="T1" fmla="*/ 16 h 20"/>
                <a:gd name="T2" fmla="*/ 8 w 28"/>
                <a:gd name="T3" fmla="*/ 20 h 20"/>
                <a:gd name="T4" fmla="*/ 2 w 28"/>
                <a:gd name="T5" fmla="*/ 17 h 20"/>
                <a:gd name="T6" fmla="*/ 0 w 28"/>
                <a:gd name="T7" fmla="*/ 12 h 20"/>
                <a:gd name="T8" fmla="*/ 1 w 28"/>
                <a:gd name="T9" fmla="*/ 9 h 20"/>
                <a:gd name="T10" fmla="*/ 4 w 28"/>
                <a:gd name="T11" fmla="*/ 10 h 20"/>
                <a:gd name="T12" fmla="*/ 3 w 28"/>
                <a:gd name="T13" fmla="*/ 12 h 20"/>
                <a:gd name="T14" fmla="*/ 4 w 28"/>
                <a:gd name="T15" fmla="*/ 15 h 20"/>
                <a:gd name="T16" fmla="*/ 8 w 28"/>
                <a:gd name="T17" fmla="*/ 16 h 20"/>
                <a:gd name="T18" fmla="*/ 12 w 28"/>
                <a:gd name="T19" fmla="*/ 14 h 20"/>
                <a:gd name="T20" fmla="*/ 25 w 28"/>
                <a:gd name="T21" fmla="*/ 0 h 20"/>
                <a:gd name="T22" fmla="*/ 28 w 28"/>
                <a:gd name="T23" fmla="*/ 3 h 20"/>
                <a:gd name="T24" fmla="*/ 14 w 28"/>
                <a:gd name="T25"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 h="20">
                  <a:moveTo>
                    <a:pt x="14" y="16"/>
                  </a:moveTo>
                  <a:cubicBezTo>
                    <a:pt x="12" y="18"/>
                    <a:pt x="10" y="20"/>
                    <a:pt x="8" y="20"/>
                  </a:cubicBezTo>
                  <a:cubicBezTo>
                    <a:pt x="6" y="20"/>
                    <a:pt x="4" y="19"/>
                    <a:pt x="2" y="17"/>
                  </a:cubicBezTo>
                  <a:cubicBezTo>
                    <a:pt x="1" y="16"/>
                    <a:pt x="0" y="14"/>
                    <a:pt x="0" y="12"/>
                  </a:cubicBezTo>
                  <a:cubicBezTo>
                    <a:pt x="0" y="11"/>
                    <a:pt x="0" y="10"/>
                    <a:pt x="1" y="9"/>
                  </a:cubicBezTo>
                  <a:cubicBezTo>
                    <a:pt x="4" y="10"/>
                    <a:pt x="4" y="10"/>
                    <a:pt x="4" y="10"/>
                  </a:cubicBezTo>
                  <a:cubicBezTo>
                    <a:pt x="3" y="11"/>
                    <a:pt x="3" y="11"/>
                    <a:pt x="3" y="12"/>
                  </a:cubicBezTo>
                  <a:cubicBezTo>
                    <a:pt x="3" y="13"/>
                    <a:pt x="4" y="14"/>
                    <a:pt x="4" y="15"/>
                  </a:cubicBezTo>
                  <a:cubicBezTo>
                    <a:pt x="5" y="16"/>
                    <a:pt x="6" y="16"/>
                    <a:pt x="8" y="16"/>
                  </a:cubicBezTo>
                  <a:cubicBezTo>
                    <a:pt x="9" y="16"/>
                    <a:pt x="10" y="15"/>
                    <a:pt x="12" y="14"/>
                  </a:cubicBezTo>
                  <a:cubicBezTo>
                    <a:pt x="25" y="0"/>
                    <a:pt x="25" y="0"/>
                    <a:pt x="25" y="0"/>
                  </a:cubicBezTo>
                  <a:cubicBezTo>
                    <a:pt x="28" y="3"/>
                    <a:pt x="28" y="3"/>
                    <a:pt x="28" y="3"/>
                  </a:cubicBezTo>
                  <a:lnTo>
                    <a:pt x="14" y="16"/>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9" name="Freeform 125"/>
            <p:cNvSpPr>
              <a:spLocks noEditPoints="1"/>
            </p:cNvSpPr>
            <p:nvPr userDrawn="1"/>
          </p:nvSpPr>
          <p:spPr bwMode="auto">
            <a:xfrm>
              <a:off x="1073" y="917"/>
              <a:ext cx="106" cy="33"/>
            </a:xfrm>
            <a:custGeom>
              <a:avLst/>
              <a:gdLst>
                <a:gd name="T0" fmla="*/ 0 w 86"/>
                <a:gd name="T1" fmla="*/ 15 h 27"/>
                <a:gd name="T2" fmla="*/ 4 w 86"/>
                <a:gd name="T3" fmla="*/ 15 h 27"/>
                <a:gd name="T4" fmla="*/ 6 w 86"/>
                <a:gd name="T5" fmla="*/ 3 h 27"/>
                <a:gd name="T6" fmla="*/ 10 w 86"/>
                <a:gd name="T7" fmla="*/ 3 h 27"/>
                <a:gd name="T8" fmla="*/ 14 w 86"/>
                <a:gd name="T9" fmla="*/ 4 h 27"/>
                <a:gd name="T10" fmla="*/ 10 w 86"/>
                <a:gd name="T11" fmla="*/ 19 h 27"/>
                <a:gd name="T12" fmla="*/ 37 w 86"/>
                <a:gd name="T13" fmla="*/ 14 h 27"/>
                <a:gd name="T14" fmla="*/ 33 w 86"/>
                <a:gd name="T15" fmla="*/ 11 h 27"/>
                <a:gd name="T16" fmla="*/ 28 w 86"/>
                <a:gd name="T17" fmla="*/ 13 h 27"/>
                <a:gd name="T18" fmla="*/ 30 w 86"/>
                <a:gd name="T19" fmla="*/ 16 h 27"/>
                <a:gd name="T20" fmla="*/ 34 w 86"/>
                <a:gd name="T21" fmla="*/ 17 h 27"/>
                <a:gd name="T22" fmla="*/ 37 w 86"/>
                <a:gd name="T23" fmla="*/ 14 h 27"/>
                <a:gd name="T24" fmla="*/ 36 w 86"/>
                <a:gd name="T25" fmla="*/ 21 h 27"/>
                <a:gd name="T26" fmla="*/ 32 w 86"/>
                <a:gd name="T27" fmla="*/ 19 h 27"/>
                <a:gd name="T28" fmla="*/ 27 w 86"/>
                <a:gd name="T29" fmla="*/ 19 h 27"/>
                <a:gd name="T30" fmla="*/ 27 w 86"/>
                <a:gd name="T31" fmla="*/ 24 h 27"/>
                <a:gd name="T32" fmla="*/ 34 w 86"/>
                <a:gd name="T33" fmla="*/ 25 h 27"/>
                <a:gd name="T34" fmla="*/ 30 w 86"/>
                <a:gd name="T35" fmla="*/ 27 h 27"/>
                <a:gd name="T36" fmla="*/ 24 w 86"/>
                <a:gd name="T37" fmla="*/ 25 h 27"/>
                <a:gd name="T38" fmla="*/ 23 w 86"/>
                <a:gd name="T39" fmla="*/ 21 h 27"/>
                <a:gd name="T40" fmla="*/ 28 w 86"/>
                <a:gd name="T41" fmla="*/ 17 h 27"/>
                <a:gd name="T42" fmla="*/ 25 w 86"/>
                <a:gd name="T43" fmla="*/ 15 h 27"/>
                <a:gd name="T44" fmla="*/ 28 w 86"/>
                <a:gd name="T45" fmla="*/ 10 h 27"/>
                <a:gd name="T46" fmla="*/ 39 w 86"/>
                <a:gd name="T47" fmla="*/ 11 h 27"/>
                <a:gd name="T48" fmla="*/ 39 w 86"/>
                <a:gd name="T49" fmla="*/ 17 h 27"/>
                <a:gd name="T50" fmla="*/ 36 w 86"/>
                <a:gd name="T51" fmla="*/ 18 h 27"/>
                <a:gd name="T52" fmla="*/ 39 w 86"/>
                <a:gd name="T53" fmla="*/ 23 h 27"/>
                <a:gd name="T54" fmla="*/ 30 w 86"/>
                <a:gd name="T55" fmla="*/ 27 h 27"/>
                <a:gd name="T56" fmla="*/ 62 w 86"/>
                <a:gd name="T57" fmla="*/ 14 h 27"/>
                <a:gd name="T58" fmla="*/ 59 w 86"/>
                <a:gd name="T59" fmla="*/ 11 h 27"/>
                <a:gd name="T60" fmla="*/ 54 w 86"/>
                <a:gd name="T61" fmla="*/ 12 h 27"/>
                <a:gd name="T62" fmla="*/ 53 w 86"/>
                <a:gd name="T63" fmla="*/ 17 h 27"/>
                <a:gd name="T64" fmla="*/ 56 w 86"/>
                <a:gd name="T65" fmla="*/ 19 h 27"/>
                <a:gd name="T66" fmla="*/ 60 w 86"/>
                <a:gd name="T67" fmla="*/ 18 h 27"/>
                <a:gd name="T68" fmla="*/ 63 w 86"/>
                <a:gd name="T69" fmla="*/ 17 h 27"/>
                <a:gd name="T70" fmla="*/ 50 w 86"/>
                <a:gd name="T71" fmla="*/ 15 h 27"/>
                <a:gd name="T72" fmla="*/ 52 w 86"/>
                <a:gd name="T73" fmla="*/ 11 h 27"/>
                <a:gd name="T74" fmla="*/ 58 w 86"/>
                <a:gd name="T75" fmla="*/ 9 h 27"/>
                <a:gd name="T76" fmla="*/ 63 w 86"/>
                <a:gd name="T77" fmla="*/ 11 h 27"/>
                <a:gd name="T78" fmla="*/ 66 w 86"/>
                <a:gd name="T79" fmla="*/ 17 h 27"/>
                <a:gd name="T80" fmla="*/ 63 w 86"/>
                <a:gd name="T81" fmla="*/ 24 h 27"/>
                <a:gd name="T82" fmla="*/ 55 w 86"/>
                <a:gd name="T83" fmla="*/ 27 h 27"/>
                <a:gd name="T84" fmla="*/ 52 w 86"/>
                <a:gd name="T85" fmla="*/ 27 h 27"/>
                <a:gd name="T86" fmla="*/ 52 w 86"/>
                <a:gd name="T87" fmla="*/ 25 h 27"/>
                <a:gd name="T88" fmla="*/ 55 w 86"/>
                <a:gd name="T89" fmla="*/ 25 h 27"/>
                <a:gd name="T90" fmla="*/ 62 w 86"/>
                <a:gd name="T91" fmla="*/ 19 h 27"/>
                <a:gd name="T92" fmla="*/ 57 w 86"/>
                <a:gd name="T93" fmla="*/ 21 h 27"/>
                <a:gd name="T94" fmla="*/ 52 w 86"/>
                <a:gd name="T95" fmla="*/ 20 h 27"/>
                <a:gd name="T96" fmla="*/ 50 w 86"/>
                <a:gd name="T97" fmla="*/ 15 h 27"/>
                <a:gd name="T98" fmla="*/ 86 w 86"/>
                <a:gd name="T99" fmla="*/ 18 h 27"/>
                <a:gd name="T100" fmla="*/ 83 w 86"/>
                <a:gd name="T101" fmla="*/ 3 h 27"/>
                <a:gd name="T102" fmla="*/ 72 w 86"/>
                <a:gd name="T103" fmla="*/ 6 h 27"/>
                <a:gd name="T104" fmla="*/ 86 w 86"/>
                <a:gd name="T105"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6" h="27">
                  <a:moveTo>
                    <a:pt x="9" y="20"/>
                  </a:moveTo>
                  <a:cubicBezTo>
                    <a:pt x="0" y="15"/>
                    <a:pt x="0" y="15"/>
                    <a:pt x="0" y="15"/>
                  </a:cubicBezTo>
                  <a:cubicBezTo>
                    <a:pt x="0" y="13"/>
                    <a:pt x="0" y="13"/>
                    <a:pt x="0" y="13"/>
                  </a:cubicBezTo>
                  <a:cubicBezTo>
                    <a:pt x="4" y="15"/>
                    <a:pt x="4" y="15"/>
                    <a:pt x="4" y="15"/>
                  </a:cubicBezTo>
                  <a:cubicBezTo>
                    <a:pt x="10" y="5"/>
                    <a:pt x="10" y="5"/>
                    <a:pt x="10" y="5"/>
                  </a:cubicBezTo>
                  <a:cubicBezTo>
                    <a:pt x="6" y="3"/>
                    <a:pt x="6" y="3"/>
                    <a:pt x="6" y="3"/>
                  </a:cubicBezTo>
                  <a:cubicBezTo>
                    <a:pt x="7" y="2"/>
                    <a:pt x="7" y="2"/>
                    <a:pt x="7" y="2"/>
                  </a:cubicBezTo>
                  <a:cubicBezTo>
                    <a:pt x="8" y="3"/>
                    <a:pt x="9" y="3"/>
                    <a:pt x="10" y="3"/>
                  </a:cubicBezTo>
                  <a:cubicBezTo>
                    <a:pt x="11" y="3"/>
                    <a:pt x="11" y="3"/>
                    <a:pt x="12" y="2"/>
                  </a:cubicBezTo>
                  <a:cubicBezTo>
                    <a:pt x="14" y="4"/>
                    <a:pt x="14" y="4"/>
                    <a:pt x="14" y="4"/>
                  </a:cubicBezTo>
                  <a:cubicBezTo>
                    <a:pt x="6" y="17"/>
                    <a:pt x="6" y="17"/>
                    <a:pt x="6" y="17"/>
                  </a:cubicBezTo>
                  <a:cubicBezTo>
                    <a:pt x="10" y="19"/>
                    <a:pt x="10" y="19"/>
                    <a:pt x="10" y="19"/>
                  </a:cubicBezTo>
                  <a:lnTo>
                    <a:pt x="9" y="20"/>
                  </a:lnTo>
                  <a:close/>
                  <a:moveTo>
                    <a:pt x="37" y="14"/>
                  </a:moveTo>
                  <a:cubicBezTo>
                    <a:pt x="37" y="14"/>
                    <a:pt x="37" y="13"/>
                    <a:pt x="36" y="12"/>
                  </a:cubicBezTo>
                  <a:cubicBezTo>
                    <a:pt x="36" y="12"/>
                    <a:pt x="35" y="11"/>
                    <a:pt x="33" y="11"/>
                  </a:cubicBezTo>
                  <a:cubicBezTo>
                    <a:pt x="32" y="11"/>
                    <a:pt x="31" y="11"/>
                    <a:pt x="30" y="11"/>
                  </a:cubicBezTo>
                  <a:cubicBezTo>
                    <a:pt x="29" y="12"/>
                    <a:pt x="29" y="12"/>
                    <a:pt x="28" y="13"/>
                  </a:cubicBezTo>
                  <a:cubicBezTo>
                    <a:pt x="28" y="14"/>
                    <a:pt x="28" y="14"/>
                    <a:pt x="29" y="15"/>
                  </a:cubicBezTo>
                  <a:cubicBezTo>
                    <a:pt x="29" y="15"/>
                    <a:pt x="30" y="15"/>
                    <a:pt x="30" y="16"/>
                  </a:cubicBezTo>
                  <a:cubicBezTo>
                    <a:pt x="31" y="16"/>
                    <a:pt x="31" y="16"/>
                    <a:pt x="32" y="17"/>
                  </a:cubicBezTo>
                  <a:cubicBezTo>
                    <a:pt x="33" y="17"/>
                    <a:pt x="33" y="17"/>
                    <a:pt x="34" y="17"/>
                  </a:cubicBezTo>
                  <a:cubicBezTo>
                    <a:pt x="35" y="17"/>
                    <a:pt x="36" y="17"/>
                    <a:pt x="36" y="16"/>
                  </a:cubicBezTo>
                  <a:cubicBezTo>
                    <a:pt x="37" y="16"/>
                    <a:pt x="37" y="15"/>
                    <a:pt x="37" y="14"/>
                  </a:cubicBezTo>
                  <a:moveTo>
                    <a:pt x="36" y="23"/>
                  </a:moveTo>
                  <a:cubicBezTo>
                    <a:pt x="36" y="22"/>
                    <a:pt x="36" y="22"/>
                    <a:pt x="36" y="21"/>
                  </a:cubicBezTo>
                  <a:cubicBezTo>
                    <a:pt x="35" y="21"/>
                    <a:pt x="34" y="20"/>
                    <a:pt x="33" y="20"/>
                  </a:cubicBezTo>
                  <a:cubicBezTo>
                    <a:pt x="33" y="19"/>
                    <a:pt x="33" y="19"/>
                    <a:pt x="32" y="19"/>
                  </a:cubicBezTo>
                  <a:cubicBezTo>
                    <a:pt x="31" y="19"/>
                    <a:pt x="31" y="18"/>
                    <a:pt x="30" y="18"/>
                  </a:cubicBezTo>
                  <a:cubicBezTo>
                    <a:pt x="29" y="18"/>
                    <a:pt x="28" y="19"/>
                    <a:pt x="27" y="19"/>
                  </a:cubicBezTo>
                  <a:cubicBezTo>
                    <a:pt x="27" y="20"/>
                    <a:pt x="26" y="20"/>
                    <a:pt x="26" y="21"/>
                  </a:cubicBezTo>
                  <a:cubicBezTo>
                    <a:pt x="26" y="22"/>
                    <a:pt x="26" y="23"/>
                    <a:pt x="27" y="24"/>
                  </a:cubicBezTo>
                  <a:cubicBezTo>
                    <a:pt x="28" y="25"/>
                    <a:pt x="29" y="25"/>
                    <a:pt x="30" y="25"/>
                  </a:cubicBezTo>
                  <a:cubicBezTo>
                    <a:pt x="32" y="26"/>
                    <a:pt x="33" y="25"/>
                    <a:pt x="34" y="25"/>
                  </a:cubicBezTo>
                  <a:cubicBezTo>
                    <a:pt x="35" y="24"/>
                    <a:pt x="36" y="24"/>
                    <a:pt x="36" y="23"/>
                  </a:cubicBezTo>
                  <a:moveTo>
                    <a:pt x="30" y="27"/>
                  </a:moveTo>
                  <a:cubicBezTo>
                    <a:pt x="29" y="27"/>
                    <a:pt x="28" y="27"/>
                    <a:pt x="27" y="26"/>
                  </a:cubicBezTo>
                  <a:cubicBezTo>
                    <a:pt x="26" y="26"/>
                    <a:pt x="25" y="25"/>
                    <a:pt x="24" y="25"/>
                  </a:cubicBezTo>
                  <a:cubicBezTo>
                    <a:pt x="23" y="24"/>
                    <a:pt x="23" y="24"/>
                    <a:pt x="23" y="23"/>
                  </a:cubicBezTo>
                  <a:cubicBezTo>
                    <a:pt x="23" y="22"/>
                    <a:pt x="22" y="21"/>
                    <a:pt x="23" y="21"/>
                  </a:cubicBezTo>
                  <a:cubicBezTo>
                    <a:pt x="23" y="20"/>
                    <a:pt x="23" y="19"/>
                    <a:pt x="24" y="18"/>
                  </a:cubicBezTo>
                  <a:cubicBezTo>
                    <a:pt x="25" y="18"/>
                    <a:pt x="26" y="17"/>
                    <a:pt x="28" y="17"/>
                  </a:cubicBezTo>
                  <a:cubicBezTo>
                    <a:pt x="28" y="17"/>
                    <a:pt x="28" y="17"/>
                    <a:pt x="28" y="17"/>
                  </a:cubicBezTo>
                  <a:cubicBezTo>
                    <a:pt x="27" y="16"/>
                    <a:pt x="26" y="16"/>
                    <a:pt x="25" y="15"/>
                  </a:cubicBezTo>
                  <a:cubicBezTo>
                    <a:pt x="25" y="14"/>
                    <a:pt x="25" y="14"/>
                    <a:pt x="25" y="13"/>
                  </a:cubicBezTo>
                  <a:cubicBezTo>
                    <a:pt x="25" y="12"/>
                    <a:pt x="26" y="11"/>
                    <a:pt x="28" y="10"/>
                  </a:cubicBezTo>
                  <a:cubicBezTo>
                    <a:pt x="29" y="9"/>
                    <a:pt x="31" y="9"/>
                    <a:pt x="34" y="10"/>
                  </a:cubicBezTo>
                  <a:cubicBezTo>
                    <a:pt x="36" y="10"/>
                    <a:pt x="38" y="10"/>
                    <a:pt x="39" y="11"/>
                  </a:cubicBezTo>
                  <a:cubicBezTo>
                    <a:pt x="40" y="12"/>
                    <a:pt x="41" y="14"/>
                    <a:pt x="40" y="15"/>
                  </a:cubicBezTo>
                  <a:cubicBezTo>
                    <a:pt x="40" y="16"/>
                    <a:pt x="40" y="16"/>
                    <a:pt x="39" y="17"/>
                  </a:cubicBezTo>
                  <a:cubicBezTo>
                    <a:pt x="38" y="18"/>
                    <a:pt x="37" y="18"/>
                    <a:pt x="36" y="18"/>
                  </a:cubicBezTo>
                  <a:cubicBezTo>
                    <a:pt x="36" y="18"/>
                    <a:pt x="36" y="18"/>
                    <a:pt x="36" y="18"/>
                  </a:cubicBezTo>
                  <a:cubicBezTo>
                    <a:pt x="37" y="19"/>
                    <a:pt x="38" y="20"/>
                    <a:pt x="39" y="20"/>
                  </a:cubicBezTo>
                  <a:cubicBezTo>
                    <a:pt x="39" y="21"/>
                    <a:pt x="40" y="22"/>
                    <a:pt x="39" y="23"/>
                  </a:cubicBezTo>
                  <a:cubicBezTo>
                    <a:pt x="39" y="25"/>
                    <a:pt x="38" y="26"/>
                    <a:pt x="36" y="26"/>
                  </a:cubicBezTo>
                  <a:cubicBezTo>
                    <a:pt x="34" y="27"/>
                    <a:pt x="32" y="27"/>
                    <a:pt x="30" y="27"/>
                  </a:cubicBezTo>
                  <a:moveTo>
                    <a:pt x="63" y="17"/>
                  </a:moveTo>
                  <a:cubicBezTo>
                    <a:pt x="63" y="15"/>
                    <a:pt x="62" y="15"/>
                    <a:pt x="62" y="14"/>
                  </a:cubicBezTo>
                  <a:cubicBezTo>
                    <a:pt x="62" y="13"/>
                    <a:pt x="61" y="13"/>
                    <a:pt x="61" y="12"/>
                  </a:cubicBezTo>
                  <a:cubicBezTo>
                    <a:pt x="60" y="12"/>
                    <a:pt x="60" y="12"/>
                    <a:pt x="59" y="11"/>
                  </a:cubicBezTo>
                  <a:cubicBezTo>
                    <a:pt x="59" y="11"/>
                    <a:pt x="58" y="11"/>
                    <a:pt x="58" y="11"/>
                  </a:cubicBezTo>
                  <a:cubicBezTo>
                    <a:pt x="56" y="11"/>
                    <a:pt x="55" y="12"/>
                    <a:pt x="54" y="12"/>
                  </a:cubicBezTo>
                  <a:cubicBezTo>
                    <a:pt x="53" y="13"/>
                    <a:pt x="53" y="14"/>
                    <a:pt x="53" y="15"/>
                  </a:cubicBezTo>
                  <a:cubicBezTo>
                    <a:pt x="53" y="16"/>
                    <a:pt x="53" y="16"/>
                    <a:pt x="53" y="17"/>
                  </a:cubicBezTo>
                  <a:cubicBezTo>
                    <a:pt x="54" y="17"/>
                    <a:pt x="54" y="18"/>
                    <a:pt x="55" y="18"/>
                  </a:cubicBezTo>
                  <a:cubicBezTo>
                    <a:pt x="55" y="18"/>
                    <a:pt x="56" y="18"/>
                    <a:pt x="56" y="19"/>
                  </a:cubicBezTo>
                  <a:cubicBezTo>
                    <a:pt x="57" y="19"/>
                    <a:pt x="57" y="19"/>
                    <a:pt x="58" y="19"/>
                  </a:cubicBezTo>
                  <a:cubicBezTo>
                    <a:pt x="59" y="19"/>
                    <a:pt x="59" y="19"/>
                    <a:pt x="60" y="18"/>
                  </a:cubicBezTo>
                  <a:cubicBezTo>
                    <a:pt x="61" y="18"/>
                    <a:pt x="62" y="18"/>
                    <a:pt x="62" y="18"/>
                  </a:cubicBezTo>
                  <a:cubicBezTo>
                    <a:pt x="63" y="18"/>
                    <a:pt x="63" y="17"/>
                    <a:pt x="63" y="17"/>
                  </a:cubicBezTo>
                  <a:cubicBezTo>
                    <a:pt x="63" y="17"/>
                    <a:pt x="63" y="17"/>
                    <a:pt x="63" y="17"/>
                  </a:cubicBezTo>
                  <a:moveTo>
                    <a:pt x="50" y="15"/>
                  </a:moveTo>
                  <a:cubicBezTo>
                    <a:pt x="50" y="14"/>
                    <a:pt x="50" y="14"/>
                    <a:pt x="50" y="13"/>
                  </a:cubicBezTo>
                  <a:cubicBezTo>
                    <a:pt x="51" y="12"/>
                    <a:pt x="51" y="11"/>
                    <a:pt x="52" y="11"/>
                  </a:cubicBezTo>
                  <a:cubicBezTo>
                    <a:pt x="53" y="10"/>
                    <a:pt x="53" y="10"/>
                    <a:pt x="55" y="10"/>
                  </a:cubicBezTo>
                  <a:cubicBezTo>
                    <a:pt x="56" y="9"/>
                    <a:pt x="57" y="9"/>
                    <a:pt x="58" y="9"/>
                  </a:cubicBezTo>
                  <a:cubicBezTo>
                    <a:pt x="59" y="9"/>
                    <a:pt x="60" y="9"/>
                    <a:pt x="61" y="10"/>
                  </a:cubicBezTo>
                  <a:cubicBezTo>
                    <a:pt x="62" y="10"/>
                    <a:pt x="63" y="10"/>
                    <a:pt x="63" y="11"/>
                  </a:cubicBezTo>
                  <a:cubicBezTo>
                    <a:pt x="64" y="11"/>
                    <a:pt x="65" y="12"/>
                    <a:pt x="65" y="13"/>
                  </a:cubicBezTo>
                  <a:cubicBezTo>
                    <a:pt x="66" y="14"/>
                    <a:pt x="66" y="16"/>
                    <a:pt x="66" y="17"/>
                  </a:cubicBezTo>
                  <a:cubicBezTo>
                    <a:pt x="66" y="19"/>
                    <a:pt x="66" y="20"/>
                    <a:pt x="65" y="21"/>
                  </a:cubicBezTo>
                  <a:cubicBezTo>
                    <a:pt x="65" y="22"/>
                    <a:pt x="64" y="23"/>
                    <a:pt x="63" y="24"/>
                  </a:cubicBezTo>
                  <a:cubicBezTo>
                    <a:pt x="62" y="25"/>
                    <a:pt x="61" y="26"/>
                    <a:pt x="60" y="26"/>
                  </a:cubicBezTo>
                  <a:cubicBezTo>
                    <a:pt x="58" y="27"/>
                    <a:pt x="57" y="27"/>
                    <a:pt x="55" y="27"/>
                  </a:cubicBezTo>
                  <a:cubicBezTo>
                    <a:pt x="54" y="27"/>
                    <a:pt x="54" y="27"/>
                    <a:pt x="53" y="27"/>
                  </a:cubicBezTo>
                  <a:cubicBezTo>
                    <a:pt x="53" y="27"/>
                    <a:pt x="52" y="27"/>
                    <a:pt x="52" y="27"/>
                  </a:cubicBezTo>
                  <a:cubicBezTo>
                    <a:pt x="52" y="25"/>
                    <a:pt x="52" y="25"/>
                    <a:pt x="52" y="25"/>
                  </a:cubicBezTo>
                  <a:cubicBezTo>
                    <a:pt x="52" y="25"/>
                    <a:pt x="52" y="25"/>
                    <a:pt x="52" y="25"/>
                  </a:cubicBezTo>
                  <a:cubicBezTo>
                    <a:pt x="52" y="25"/>
                    <a:pt x="53" y="25"/>
                    <a:pt x="53" y="25"/>
                  </a:cubicBezTo>
                  <a:cubicBezTo>
                    <a:pt x="54" y="25"/>
                    <a:pt x="54" y="25"/>
                    <a:pt x="55" y="25"/>
                  </a:cubicBezTo>
                  <a:cubicBezTo>
                    <a:pt x="57" y="25"/>
                    <a:pt x="59" y="25"/>
                    <a:pt x="60" y="24"/>
                  </a:cubicBezTo>
                  <a:cubicBezTo>
                    <a:pt x="62" y="23"/>
                    <a:pt x="62" y="21"/>
                    <a:pt x="62" y="19"/>
                  </a:cubicBezTo>
                  <a:cubicBezTo>
                    <a:pt x="62" y="20"/>
                    <a:pt x="61" y="20"/>
                    <a:pt x="60" y="20"/>
                  </a:cubicBezTo>
                  <a:cubicBezTo>
                    <a:pt x="59" y="20"/>
                    <a:pt x="58" y="21"/>
                    <a:pt x="57" y="21"/>
                  </a:cubicBezTo>
                  <a:cubicBezTo>
                    <a:pt x="56" y="21"/>
                    <a:pt x="55" y="20"/>
                    <a:pt x="55" y="20"/>
                  </a:cubicBezTo>
                  <a:cubicBezTo>
                    <a:pt x="54" y="20"/>
                    <a:pt x="53" y="20"/>
                    <a:pt x="52" y="20"/>
                  </a:cubicBezTo>
                  <a:cubicBezTo>
                    <a:pt x="51" y="19"/>
                    <a:pt x="51" y="18"/>
                    <a:pt x="50" y="18"/>
                  </a:cubicBezTo>
                  <a:cubicBezTo>
                    <a:pt x="50" y="17"/>
                    <a:pt x="50" y="16"/>
                    <a:pt x="50" y="15"/>
                  </a:cubicBezTo>
                  <a:moveTo>
                    <a:pt x="86" y="1"/>
                  </a:moveTo>
                  <a:cubicBezTo>
                    <a:pt x="86" y="18"/>
                    <a:pt x="86" y="18"/>
                    <a:pt x="86" y="18"/>
                  </a:cubicBezTo>
                  <a:cubicBezTo>
                    <a:pt x="83" y="20"/>
                    <a:pt x="83" y="20"/>
                    <a:pt x="83" y="20"/>
                  </a:cubicBezTo>
                  <a:cubicBezTo>
                    <a:pt x="83" y="3"/>
                    <a:pt x="83" y="3"/>
                    <a:pt x="83" y="3"/>
                  </a:cubicBezTo>
                  <a:cubicBezTo>
                    <a:pt x="73" y="8"/>
                    <a:pt x="73" y="8"/>
                    <a:pt x="73" y="8"/>
                  </a:cubicBezTo>
                  <a:cubicBezTo>
                    <a:pt x="72" y="6"/>
                    <a:pt x="72" y="6"/>
                    <a:pt x="72" y="6"/>
                  </a:cubicBezTo>
                  <a:cubicBezTo>
                    <a:pt x="85" y="0"/>
                    <a:pt x="85" y="0"/>
                    <a:pt x="85" y="0"/>
                  </a:cubicBezTo>
                  <a:lnTo>
                    <a:pt x="86" y="1"/>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0" name="Freeform 126"/>
            <p:cNvSpPr/>
            <p:nvPr userDrawn="1"/>
          </p:nvSpPr>
          <p:spPr bwMode="auto">
            <a:xfrm>
              <a:off x="1184" y="728"/>
              <a:ext cx="14" cy="14"/>
            </a:xfrm>
            <a:custGeom>
              <a:avLst/>
              <a:gdLst>
                <a:gd name="T0" fmla="*/ 2 w 11"/>
                <a:gd name="T1" fmla="*/ 12 h 12"/>
                <a:gd name="T2" fmla="*/ 2 w 11"/>
                <a:gd name="T3" fmla="*/ 8 h 12"/>
                <a:gd name="T4" fmla="*/ 1 w 11"/>
                <a:gd name="T5" fmla="*/ 3 h 12"/>
                <a:gd name="T6" fmla="*/ 8 w 11"/>
                <a:gd name="T7" fmla="*/ 3 h 12"/>
                <a:gd name="T8" fmla="*/ 9 w 11"/>
                <a:gd name="T9" fmla="*/ 5 h 12"/>
                <a:gd name="T10" fmla="*/ 8 w 11"/>
                <a:gd name="T11" fmla="*/ 11 h 12"/>
                <a:gd name="T12" fmla="*/ 2 w 11"/>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1" h="12">
                  <a:moveTo>
                    <a:pt x="2" y="12"/>
                  </a:moveTo>
                  <a:cubicBezTo>
                    <a:pt x="0" y="11"/>
                    <a:pt x="1" y="10"/>
                    <a:pt x="2" y="8"/>
                  </a:cubicBezTo>
                  <a:cubicBezTo>
                    <a:pt x="2" y="7"/>
                    <a:pt x="1" y="5"/>
                    <a:pt x="1" y="3"/>
                  </a:cubicBezTo>
                  <a:cubicBezTo>
                    <a:pt x="2" y="0"/>
                    <a:pt x="6" y="2"/>
                    <a:pt x="8" y="3"/>
                  </a:cubicBezTo>
                  <a:cubicBezTo>
                    <a:pt x="8" y="3"/>
                    <a:pt x="9" y="4"/>
                    <a:pt x="9" y="5"/>
                  </a:cubicBezTo>
                  <a:cubicBezTo>
                    <a:pt x="10" y="7"/>
                    <a:pt x="11" y="10"/>
                    <a:pt x="8" y="11"/>
                  </a:cubicBezTo>
                  <a:cubicBezTo>
                    <a:pt x="6" y="12"/>
                    <a:pt x="4" y="12"/>
                    <a:pt x="2" y="12"/>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1" name="Freeform 127"/>
            <p:cNvSpPr/>
            <p:nvPr userDrawn="1"/>
          </p:nvSpPr>
          <p:spPr bwMode="auto">
            <a:xfrm>
              <a:off x="1148" y="686"/>
              <a:ext cx="51" cy="45"/>
            </a:xfrm>
            <a:custGeom>
              <a:avLst/>
              <a:gdLst>
                <a:gd name="T0" fmla="*/ 7 w 41"/>
                <a:gd name="T1" fmla="*/ 35 h 36"/>
                <a:gd name="T2" fmla="*/ 7 w 41"/>
                <a:gd name="T3" fmla="*/ 35 h 36"/>
                <a:gd name="T4" fmla="*/ 7 w 41"/>
                <a:gd name="T5" fmla="*/ 34 h 36"/>
                <a:gd name="T6" fmla="*/ 15 w 41"/>
                <a:gd name="T7" fmla="*/ 32 h 36"/>
                <a:gd name="T8" fmla="*/ 20 w 41"/>
                <a:gd name="T9" fmla="*/ 28 h 36"/>
                <a:gd name="T10" fmla="*/ 6 w 41"/>
                <a:gd name="T11" fmla="*/ 29 h 36"/>
                <a:gd name="T12" fmla="*/ 2 w 41"/>
                <a:gd name="T13" fmla="*/ 26 h 36"/>
                <a:gd name="T14" fmla="*/ 2 w 41"/>
                <a:gd name="T15" fmla="*/ 26 h 36"/>
                <a:gd name="T16" fmla="*/ 3 w 41"/>
                <a:gd name="T17" fmla="*/ 21 h 36"/>
                <a:gd name="T18" fmla="*/ 19 w 41"/>
                <a:gd name="T19" fmla="*/ 21 h 36"/>
                <a:gd name="T20" fmla="*/ 24 w 41"/>
                <a:gd name="T21" fmla="*/ 20 h 36"/>
                <a:gd name="T22" fmla="*/ 29 w 41"/>
                <a:gd name="T23" fmla="*/ 3 h 36"/>
                <a:gd name="T24" fmla="*/ 35 w 41"/>
                <a:gd name="T25" fmla="*/ 6 h 36"/>
                <a:gd name="T26" fmla="*/ 36 w 41"/>
                <a:gd name="T27" fmla="*/ 7 h 36"/>
                <a:gd name="T28" fmla="*/ 36 w 41"/>
                <a:gd name="T29" fmla="*/ 7 h 36"/>
                <a:gd name="T30" fmla="*/ 35 w 41"/>
                <a:gd name="T31" fmla="*/ 11 h 36"/>
                <a:gd name="T32" fmla="*/ 31 w 41"/>
                <a:gd name="T33" fmla="*/ 20 h 36"/>
                <a:gd name="T34" fmla="*/ 40 w 41"/>
                <a:gd name="T35" fmla="*/ 19 h 36"/>
                <a:gd name="T36" fmla="*/ 38 w 41"/>
                <a:gd name="T37" fmla="*/ 23 h 36"/>
                <a:gd name="T38" fmla="*/ 29 w 41"/>
                <a:gd name="T39" fmla="*/ 24 h 36"/>
                <a:gd name="T40" fmla="*/ 23 w 41"/>
                <a:gd name="T41" fmla="*/ 32 h 36"/>
                <a:gd name="T42" fmla="*/ 21 w 41"/>
                <a:gd name="T43" fmla="*/ 34 h 36"/>
                <a:gd name="T44" fmla="*/ 14 w 41"/>
                <a:gd name="T45" fmla="*/ 35 h 36"/>
                <a:gd name="T46" fmla="*/ 7 w 41"/>
                <a:gd name="T47" fmla="*/ 3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36">
                  <a:moveTo>
                    <a:pt x="7" y="35"/>
                  </a:moveTo>
                  <a:cubicBezTo>
                    <a:pt x="7" y="35"/>
                    <a:pt x="7" y="35"/>
                    <a:pt x="7" y="35"/>
                  </a:cubicBezTo>
                  <a:cubicBezTo>
                    <a:pt x="7" y="35"/>
                    <a:pt x="7" y="35"/>
                    <a:pt x="7" y="34"/>
                  </a:cubicBezTo>
                  <a:cubicBezTo>
                    <a:pt x="8" y="34"/>
                    <a:pt x="15" y="32"/>
                    <a:pt x="15" y="32"/>
                  </a:cubicBezTo>
                  <a:cubicBezTo>
                    <a:pt x="17" y="31"/>
                    <a:pt x="19" y="30"/>
                    <a:pt x="20" y="28"/>
                  </a:cubicBezTo>
                  <a:cubicBezTo>
                    <a:pt x="15" y="28"/>
                    <a:pt x="11" y="30"/>
                    <a:pt x="6" y="29"/>
                  </a:cubicBezTo>
                  <a:cubicBezTo>
                    <a:pt x="4" y="28"/>
                    <a:pt x="3" y="27"/>
                    <a:pt x="2" y="26"/>
                  </a:cubicBezTo>
                  <a:cubicBezTo>
                    <a:pt x="2" y="26"/>
                    <a:pt x="2" y="26"/>
                    <a:pt x="2" y="26"/>
                  </a:cubicBezTo>
                  <a:cubicBezTo>
                    <a:pt x="0" y="24"/>
                    <a:pt x="0" y="22"/>
                    <a:pt x="3" y="21"/>
                  </a:cubicBezTo>
                  <a:cubicBezTo>
                    <a:pt x="7" y="23"/>
                    <a:pt x="15" y="22"/>
                    <a:pt x="19" y="21"/>
                  </a:cubicBezTo>
                  <a:cubicBezTo>
                    <a:pt x="20" y="21"/>
                    <a:pt x="23" y="21"/>
                    <a:pt x="24" y="20"/>
                  </a:cubicBezTo>
                  <a:cubicBezTo>
                    <a:pt x="26" y="15"/>
                    <a:pt x="27" y="9"/>
                    <a:pt x="29" y="3"/>
                  </a:cubicBezTo>
                  <a:cubicBezTo>
                    <a:pt x="31" y="0"/>
                    <a:pt x="33" y="3"/>
                    <a:pt x="35" y="6"/>
                  </a:cubicBezTo>
                  <a:cubicBezTo>
                    <a:pt x="35" y="6"/>
                    <a:pt x="36" y="6"/>
                    <a:pt x="36" y="7"/>
                  </a:cubicBezTo>
                  <a:cubicBezTo>
                    <a:pt x="36" y="7"/>
                    <a:pt x="36" y="7"/>
                    <a:pt x="36" y="7"/>
                  </a:cubicBezTo>
                  <a:cubicBezTo>
                    <a:pt x="37" y="9"/>
                    <a:pt x="37" y="10"/>
                    <a:pt x="35" y="11"/>
                  </a:cubicBezTo>
                  <a:cubicBezTo>
                    <a:pt x="33" y="14"/>
                    <a:pt x="32" y="17"/>
                    <a:pt x="31" y="20"/>
                  </a:cubicBezTo>
                  <a:cubicBezTo>
                    <a:pt x="34" y="20"/>
                    <a:pt x="37" y="18"/>
                    <a:pt x="40" y="19"/>
                  </a:cubicBezTo>
                  <a:cubicBezTo>
                    <a:pt x="41" y="21"/>
                    <a:pt x="40" y="22"/>
                    <a:pt x="38" y="23"/>
                  </a:cubicBezTo>
                  <a:cubicBezTo>
                    <a:pt x="36" y="23"/>
                    <a:pt x="33" y="24"/>
                    <a:pt x="29" y="24"/>
                  </a:cubicBezTo>
                  <a:cubicBezTo>
                    <a:pt x="28" y="27"/>
                    <a:pt x="26" y="30"/>
                    <a:pt x="23" y="32"/>
                  </a:cubicBezTo>
                  <a:cubicBezTo>
                    <a:pt x="23" y="33"/>
                    <a:pt x="21" y="34"/>
                    <a:pt x="21" y="34"/>
                  </a:cubicBezTo>
                  <a:cubicBezTo>
                    <a:pt x="19" y="34"/>
                    <a:pt x="17" y="35"/>
                    <a:pt x="14" y="35"/>
                  </a:cubicBezTo>
                  <a:cubicBezTo>
                    <a:pt x="8" y="36"/>
                    <a:pt x="8" y="35"/>
                    <a:pt x="7" y="35"/>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2" name="Freeform 128"/>
            <p:cNvSpPr/>
            <p:nvPr userDrawn="1"/>
          </p:nvSpPr>
          <p:spPr bwMode="auto">
            <a:xfrm>
              <a:off x="1063" y="714"/>
              <a:ext cx="20" cy="41"/>
            </a:xfrm>
            <a:custGeom>
              <a:avLst/>
              <a:gdLst>
                <a:gd name="T0" fmla="*/ 7 w 16"/>
                <a:gd name="T1" fmla="*/ 33 h 33"/>
                <a:gd name="T2" fmla="*/ 0 w 16"/>
                <a:gd name="T3" fmla="*/ 30 h 33"/>
                <a:gd name="T4" fmla="*/ 0 w 16"/>
                <a:gd name="T5" fmla="*/ 28 h 33"/>
                <a:gd name="T6" fmla="*/ 10 w 16"/>
                <a:gd name="T7" fmla="*/ 11 h 33"/>
                <a:gd name="T8" fmla="*/ 12 w 16"/>
                <a:gd name="T9" fmla="*/ 3 h 33"/>
                <a:gd name="T10" fmla="*/ 12 w 16"/>
                <a:gd name="T11" fmla="*/ 2 h 33"/>
                <a:gd name="T12" fmla="*/ 12 w 16"/>
                <a:gd name="T13" fmla="*/ 2 h 33"/>
                <a:gd name="T14" fmla="*/ 15 w 16"/>
                <a:gd name="T15" fmla="*/ 2 h 33"/>
                <a:gd name="T16" fmla="*/ 14 w 16"/>
                <a:gd name="T17" fmla="*/ 7 h 33"/>
                <a:gd name="T18" fmla="*/ 13 w 16"/>
                <a:gd name="T19" fmla="*/ 16 h 33"/>
                <a:gd name="T20" fmla="*/ 13 w 16"/>
                <a:gd name="T21" fmla="*/ 19 h 33"/>
                <a:gd name="T22" fmla="*/ 11 w 16"/>
                <a:gd name="T23" fmla="*/ 26 h 33"/>
                <a:gd name="T24" fmla="*/ 9 w 16"/>
                <a:gd name="T25" fmla="*/ 33 h 33"/>
                <a:gd name="T26" fmla="*/ 7 w 16"/>
                <a:gd name="T27"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33">
                  <a:moveTo>
                    <a:pt x="7" y="33"/>
                  </a:moveTo>
                  <a:cubicBezTo>
                    <a:pt x="5" y="33"/>
                    <a:pt x="2" y="31"/>
                    <a:pt x="0" y="30"/>
                  </a:cubicBezTo>
                  <a:cubicBezTo>
                    <a:pt x="0" y="30"/>
                    <a:pt x="0" y="29"/>
                    <a:pt x="0" y="28"/>
                  </a:cubicBezTo>
                  <a:cubicBezTo>
                    <a:pt x="4" y="23"/>
                    <a:pt x="7" y="17"/>
                    <a:pt x="10" y="11"/>
                  </a:cubicBezTo>
                  <a:cubicBezTo>
                    <a:pt x="11" y="8"/>
                    <a:pt x="11" y="5"/>
                    <a:pt x="12" y="3"/>
                  </a:cubicBezTo>
                  <a:cubicBezTo>
                    <a:pt x="12" y="3"/>
                    <a:pt x="12" y="3"/>
                    <a:pt x="12" y="2"/>
                  </a:cubicBezTo>
                  <a:cubicBezTo>
                    <a:pt x="12" y="2"/>
                    <a:pt x="12" y="2"/>
                    <a:pt x="12" y="2"/>
                  </a:cubicBezTo>
                  <a:cubicBezTo>
                    <a:pt x="13" y="1"/>
                    <a:pt x="14" y="0"/>
                    <a:pt x="15" y="2"/>
                  </a:cubicBezTo>
                  <a:cubicBezTo>
                    <a:pt x="16" y="3"/>
                    <a:pt x="14" y="5"/>
                    <a:pt x="14" y="7"/>
                  </a:cubicBezTo>
                  <a:cubicBezTo>
                    <a:pt x="14" y="10"/>
                    <a:pt x="14" y="13"/>
                    <a:pt x="13" y="16"/>
                  </a:cubicBezTo>
                  <a:cubicBezTo>
                    <a:pt x="13" y="16"/>
                    <a:pt x="13" y="16"/>
                    <a:pt x="13" y="19"/>
                  </a:cubicBezTo>
                  <a:cubicBezTo>
                    <a:pt x="12" y="21"/>
                    <a:pt x="11" y="24"/>
                    <a:pt x="11" y="26"/>
                  </a:cubicBezTo>
                  <a:cubicBezTo>
                    <a:pt x="10" y="28"/>
                    <a:pt x="10" y="31"/>
                    <a:pt x="9" y="33"/>
                  </a:cubicBezTo>
                  <a:cubicBezTo>
                    <a:pt x="8" y="33"/>
                    <a:pt x="8" y="33"/>
                    <a:pt x="7" y="33"/>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3" name="Freeform 129"/>
            <p:cNvSpPr/>
            <p:nvPr userDrawn="1"/>
          </p:nvSpPr>
          <p:spPr bwMode="auto">
            <a:xfrm>
              <a:off x="1090" y="704"/>
              <a:ext cx="16" cy="16"/>
            </a:xfrm>
            <a:custGeom>
              <a:avLst/>
              <a:gdLst>
                <a:gd name="T0" fmla="*/ 8 w 13"/>
                <a:gd name="T1" fmla="*/ 12 h 13"/>
                <a:gd name="T2" fmla="*/ 1 w 13"/>
                <a:gd name="T3" fmla="*/ 10 h 13"/>
                <a:gd name="T4" fmla="*/ 1 w 13"/>
                <a:gd name="T5" fmla="*/ 8 h 13"/>
                <a:gd name="T6" fmla="*/ 2 w 13"/>
                <a:gd name="T7" fmla="*/ 7 h 13"/>
                <a:gd name="T8" fmla="*/ 5 w 13"/>
                <a:gd name="T9" fmla="*/ 6 h 13"/>
                <a:gd name="T10" fmla="*/ 12 w 13"/>
                <a:gd name="T11" fmla="*/ 1 h 13"/>
                <a:gd name="T12" fmla="*/ 8 w 13"/>
                <a:gd name="T13" fmla="*/ 12 h 13"/>
              </a:gdLst>
              <a:ahLst/>
              <a:cxnLst>
                <a:cxn ang="0">
                  <a:pos x="T0" y="T1"/>
                </a:cxn>
                <a:cxn ang="0">
                  <a:pos x="T2" y="T3"/>
                </a:cxn>
                <a:cxn ang="0">
                  <a:pos x="T4" y="T5"/>
                </a:cxn>
                <a:cxn ang="0">
                  <a:pos x="T6" y="T7"/>
                </a:cxn>
                <a:cxn ang="0">
                  <a:pos x="T8" y="T9"/>
                </a:cxn>
                <a:cxn ang="0">
                  <a:pos x="T10" y="T11"/>
                </a:cxn>
                <a:cxn ang="0">
                  <a:pos x="T12" y="T13"/>
                </a:cxn>
              </a:cxnLst>
              <a:rect l="0" t="0" r="r" b="b"/>
              <a:pathLst>
                <a:path w="13" h="13">
                  <a:moveTo>
                    <a:pt x="8" y="12"/>
                  </a:moveTo>
                  <a:cubicBezTo>
                    <a:pt x="5" y="13"/>
                    <a:pt x="3" y="12"/>
                    <a:pt x="1" y="10"/>
                  </a:cubicBezTo>
                  <a:cubicBezTo>
                    <a:pt x="0" y="10"/>
                    <a:pt x="1" y="9"/>
                    <a:pt x="1" y="8"/>
                  </a:cubicBezTo>
                  <a:cubicBezTo>
                    <a:pt x="1" y="8"/>
                    <a:pt x="1" y="8"/>
                    <a:pt x="2" y="7"/>
                  </a:cubicBezTo>
                  <a:cubicBezTo>
                    <a:pt x="3" y="7"/>
                    <a:pt x="3" y="7"/>
                    <a:pt x="5" y="6"/>
                  </a:cubicBezTo>
                  <a:cubicBezTo>
                    <a:pt x="6" y="5"/>
                    <a:pt x="10" y="0"/>
                    <a:pt x="12" y="1"/>
                  </a:cubicBezTo>
                  <a:cubicBezTo>
                    <a:pt x="13" y="4"/>
                    <a:pt x="11" y="10"/>
                    <a:pt x="8" y="12"/>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4" name="Freeform 130"/>
            <p:cNvSpPr/>
            <p:nvPr userDrawn="1"/>
          </p:nvSpPr>
          <p:spPr bwMode="auto">
            <a:xfrm>
              <a:off x="1062" y="710"/>
              <a:ext cx="12" cy="14"/>
            </a:xfrm>
            <a:custGeom>
              <a:avLst/>
              <a:gdLst>
                <a:gd name="T0" fmla="*/ 5 w 10"/>
                <a:gd name="T1" fmla="*/ 11 h 11"/>
                <a:gd name="T2" fmla="*/ 1 w 10"/>
                <a:gd name="T3" fmla="*/ 4 h 11"/>
                <a:gd name="T4" fmla="*/ 6 w 10"/>
                <a:gd name="T5" fmla="*/ 1 h 11"/>
                <a:gd name="T6" fmla="*/ 10 w 10"/>
                <a:gd name="T7" fmla="*/ 6 h 11"/>
                <a:gd name="T8" fmla="*/ 5 w 10"/>
                <a:gd name="T9" fmla="*/ 11 h 11"/>
              </a:gdLst>
              <a:ahLst/>
              <a:cxnLst>
                <a:cxn ang="0">
                  <a:pos x="T0" y="T1"/>
                </a:cxn>
                <a:cxn ang="0">
                  <a:pos x="T2" y="T3"/>
                </a:cxn>
                <a:cxn ang="0">
                  <a:pos x="T4" y="T5"/>
                </a:cxn>
                <a:cxn ang="0">
                  <a:pos x="T6" y="T7"/>
                </a:cxn>
                <a:cxn ang="0">
                  <a:pos x="T8" y="T9"/>
                </a:cxn>
              </a:cxnLst>
              <a:rect l="0" t="0" r="r" b="b"/>
              <a:pathLst>
                <a:path w="10" h="11">
                  <a:moveTo>
                    <a:pt x="5" y="11"/>
                  </a:moveTo>
                  <a:cubicBezTo>
                    <a:pt x="3" y="10"/>
                    <a:pt x="1" y="5"/>
                    <a:pt x="1" y="4"/>
                  </a:cubicBezTo>
                  <a:cubicBezTo>
                    <a:pt x="0" y="1"/>
                    <a:pt x="3" y="0"/>
                    <a:pt x="6" y="1"/>
                  </a:cubicBezTo>
                  <a:cubicBezTo>
                    <a:pt x="9" y="2"/>
                    <a:pt x="10" y="3"/>
                    <a:pt x="10" y="6"/>
                  </a:cubicBezTo>
                  <a:cubicBezTo>
                    <a:pt x="8" y="9"/>
                    <a:pt x="7" y="9"/>
                    <a:pt x="5" y="11"/>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5" name="Freeform 131"/>
            <p:cNvSpPr/>
            <p:nvPr userDrawn="1"/>
          </p:nvSpPr>
          <p:spPr bwMode="auto">
            <a:xfrm>
              <a:off x="1085" y="688"/>
              <a:ext cx="19" cy="21"/>
            </a:xfrm>
            <a:custGeom>
              <a:avLst/>
              <a:gdLst>
                <a:gd name="T0" fmla="*/ 8 w 15"/>
                <a:gd name="T1" fmla="*/ 17 h 17"/>
                <a:gd name="T2" fmla="*/ 7 w 15"/>
                <a:gd name="T3" fmla="*/ 12 h 17"/>
                <a:gd name="T4" fmla="*/ 5 w 15"/>
                <a:gd name="T5" fmla="*/ 13 h 17"/>
                <a:gd name="T6" fmla="*/ 0 w 15"/>
                <a:gd name="T7" fmla="*/ 9 h 17"/>
                <a:gd name="T8" fmla="*/ 2 w 15"/>
                <a:gd name="T9" fmla="*/ 7 h 17"/>
                <a:gd name="T10" fmla="*/ 7 w 15"/>
                <a:gd name="T11" fmla="*/ 2 h 17"/>
                <a:gd name="T12" fmla="*/ 14 w 15"/>
                <a:gd name="T13" fmla="*/ 4 h 17"/>
                <a:gd name="T14" fmla="*/ 13 w 15"/>
                <a:gd name="T15" fmla="*/ 11 h 17"/>
                <a:gd name="T16" fmla="*/ 9 w 15"/>
                <a:gd name="T17" fmla="*/ 16 h 17"/>
                <a:gd name="T18" fmla="*/ 8 w 15"/>
                <a:gd name="T19"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7">
                  <a:moveTo>
                    <a:pt x="8" y="17"/>
                  </a:moveTo>
                  <a:cubicBezTo>
                    <a:pt x="7" y="16"/>
                    <a:pt x="8" y="12"/>
                    <a:pt x="7" y="12"/>
                  </a:cubicBezTo>
                  <a:cubicBezTo>
                    <a:pt x="6" y="12"/>
                    <a:pt x="6" y="13"/>
                    <a:pt x="5" y="13"/>
                  </a:cubicBezTo>
                  <a:cubicBezTo>
                    <a:pt x="3" y="13"/>
                    <a:pt x="0" y="11"/>
                    <a:pt x="0" y="9"/>
                  </a:cubicBezTo>
                  <a:cubicBezTo>
                    <a:pt x="1" y="7"/>
                    <a:pt x="0" y="8"/>
                    <a:pt x="2" y="7"/>
                  </a:cubicBezTo>
                  <a:cubicBezTo>
                    <a:pt x="4" y="5"/>
                    <a:pt x="6" y="3"/>
                    <a:pt x="7" y="2"/>
                  </a:cubicBezTo>
                  <a:cubicBezTo>
                    <a:pt x="11" y="0"/>
                    <a:pt x="13" y="1"/>
                    <a:pt x="14" y="4"/>
                  </a:cubicBezTo>
                  <a:cubicBezTo>
                    <a:pt x="15" y="7"/>
                    <a:pt x="14" y="9"/>
                    <a:pt x="13" y="11"/>
                  </a:cubicBezTo>
                  <a:cubicBezTo>
                    <a:pt x="12" y="13"/>
                    <a:pt x="10" y="15"/>
                    <a:pt x="9" y="16"/>
                  </a:cubicBezTo>
                  <a:cubicBezTo>
                    <a:pt x="9" y="17"/>
                    <a:pt x="8" y="17"/>
                    <a:pt x="8" y="17"/>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6" name="Freeform 132"/>
            <p:cNvSpPr/>
            <p:nvPr userDrawn="1"/>
          </p:nvSpPr>
          <p:spPr bwMode="auto">
            <a:xfrm>
              <a:off x="1062" y="693"/>
              <a:ext cx="12" cy="13"/>
            </a:xfrm>
            <a:custGeom>
              <a:avLst/>
              <a:gdLst>
                <a:gd name="T0" fmla="*/ 4 w 10"/>
                <a:gd name="T1" fmla="*/ 11 h 11"/>
                <a:gd name="T2" fmla="*/ 3 w 10"/>
                <a:gd name="T3" fmla="*/ 9 h 11"/>
                <a:gd name="T4" fmla="*/ 1 w 10"/>
                <a:gd name="T5" fmla="*/ 6 h 11"/>
                <a:gd name="T6" fmla="*/ 1 w 10"/>
                <a:gd name="T7" fmla="*/ 0 h 11"/>
                <a:gd name="T8" fmla="*/ 10 w 10"/>
                <a:gd name="T9" fmla="*/ 5 h 11"/>
                <a:gd name="T10" fmla="*/ 4 w 10"/>
                <a:gd name="T11" fmla="*/ 11 h 11"/>
              </a:gdLst>
              <a:ahLst/>
              <a:cxnLst>
                <a:cxn ang="0">
                  <a:pos x="T0" y="T1"/>
                </a:cxn>
                <a:cxn ang="0">
                  <a:pos x="T2" y="T3"/>
                </a:cxn>
                <a:cxn ang="0">
                  <a:pos x="T4" y="T5"/>
                </a:cxn>
                <a:cxn ang="0">
                  <a:pos x="T6" y="T7"/>
                </a:cxn>
                <a:cxn ang="0">
                  <a:pos x="T8" y="T9"/>
                </a:cxn>
                <a:cxn ang="0">
                  <a:pos x="T10" y="T11"/>
                </a:cxn>
              </a:cxnLst>
              <a:rect l="0" t="0" r="r" b="b"/>
              <a:pathLst>
                <a:path w="10" h="11">
                  <a:moveTo>
                    <a:pt x="4" y="11"/>
                  </a:moveTo>
                  <a:cubicBezTo>
                    <a:pt x="3" y="11"/>
                    <a:pt x="3" y="10"/>
                    <a:pt x="3" y="9"/>
                  </a:cubicBezTo>
                  <a:cubicBezTo>
                    <a:pt x="3" y="8"/>
                    <a:pt x="2" y="7"/>
                    <a:pt x="1" y="6"/>
                  </a:cubicBezTo>
                  <a:cubicBezTo>
                    <a:pt x="0" y="3"/>
                    <a:pt x="0" y="2"/>
                    <a:pt x="1" y="0"/>
                  </a:cubicBezTo>
                  <a:cubicBezTo>
                    <a:pt x="3" y="0"/>
                    <a:pt x="10" y="1"/>
                    <a:pt x="10" y="5"/>
                  </a:cubicBezTo>
                  <a:cubicBezTo>
                    <a:pt x="9" y="7"/>
                    <a:pt x="6" y="10"/>
                    <a:pt x="4" y="11"/>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7" name="Freeform 133"/>
            <p:cNvSpPr/>
            <p:nvPr userDrawn="1"/>
          </p:nvSpPr>
          <p:spPr bwMode="auto">
            <a:xfrm>
              <a:off x="996" y="742"/>
              <a:ext cx="47" cy="83"/>
            </a:xfrm>
            <a:custGeom>
              <a:avLst/>
              <a:gdLst>
                <a:gd name="T0" fmla="*/ 22 w 38"/>
                <a:gd name="T1" fmla="*/ 64 h 66"/>
                <a:gd name="T2" fmla="*/ 13 w 38"/>
                <a:gd name="T3" fmla="*/ 61 h 66"/>
                <a:gd name="T4" fmla="*/ 13 w 38"/>
                <a:gd name="T5" fmla="*/ 59 h 66"/>
                <a:gd name="T6" fmla="*/ 13 w 38"/>
                <a:gd name="T7" fmla="*/ 59 h 66"/>
                <a:gd name="T8" fmla="*/ 8 w 38"/>
                <a:gd name="T9" fmla="*/ 46 h 66"/>
                <a:gd name="T10" fmla="*/ 7 w 38"/>
                <a:gd name="T11" fmla="*/ 42 h 66"/>
                <a:gd name="T12" fmla="*/ 10 w 38"/>
                <a:gd name="T13" fmla="*/ 44 h 66"/>
                <a:gd name="T14" fmla="*/ 11 w 38"/>
                <a:gd name="T15" fmla="*/ 42 h 66"/>
                <a:gd name="T16" fmla="*/ 11 w 38"/>
                <a:gd name="T17" fmla="*/ 33 h 66"/>
                <a:gd name="T18" fmla="*/ 8 w 38"/>
                <a:gd name="T19" fmla="*/ 31 h 66"/>
                <a:gd name="T20" fmla="*/ 4 w 38"/>
                <a:gd name="T21" fmla="*/ 34 h 66"/>
                <a:gd name="T22" fmla="*/ 4 w 38"/>
                <a:gd name="T23" fmla="*/ 27 h 66"/>
                <a:gd name="T24" fmla="*/ 0 w 38"/>
                <a:gd name="T25" fmla="*/ 23 h 66"/>
                <a:gd name="T26" fmla="*/ 6 w 38"/>
                <a:gd name="T27" fmla="*/ 21 h 66"/>
                <a:gd name="T28" fmla="*/ 10 w 38"/>
                <a:gd name="T29" fmla="*/ 23 h 66"/>
                <a:gd name="T30" fmla="*/ 11 w 38"/>
                <a:gd name="T31" fmla="*/ 25 h 66"/>
                <a:gd name="T32" fmla="*/ 12 w 38"/>
                <a:gd name="T33" fmla="*/ 24 h 66"/>
                <a:gd name="T34" fmla="*/ 12 w 38"/>
                <a:gd name="T35" fmla="*/ 17 h 66"/>
                <a:gd name="T36" fmla="*/ 7 w 38"/>
                <a:gd name="T37" fmla="*/ 10 h 66"/>
                <a:gd name="T38" fmla="*/ 12 w 38"/>
                <a:gd name="T39" fmla="*/ 6 h 66"/>
                <a:gd name="T40" fmla="*/ 13 w 38"/>
                <a:gd name="T41" fmla="*/ 1 h 66"/>
                <a:gd name="T42" fmla="*/ 14 w 38"/>
                <a:gd name="T43" fmla="*/ 0 h 66"/>
                <a:gd name="T44" fmla="*/ 16 w 38"/>
                <a:gd name="T45" fmla="*/ 1 h 66"/>
                <a:gd name="T46" fmla="*/ 18 w 38"/>
                <a:gd name="T47" fmla="*/ 12 h 66"/>
                <a:gd name="T48" fmla="*/ 17 w 38"/>
                <a:gd name="T49" fmla="*/ 8 h 66"/>
                <a:gd name="T50" fmla="*/ 22 w 38"/>
                <a:gd name="T51" fmla="*/ 3 h 66"/>
                <a:gd name="T52" fmla="*/ 25 w 38"/>
                <a:gd name="T53" fmla="*/ 7 h 66"/>
                <a:gd name="T54" fmla="*/ 26 w 38"/>
                <a:gd name="T55" fmla="*/ 8 h 66"/>
                <a:gd name="T56" fmla="*/ 35 w 38"/>
                <a:gd name="T57" fmla="*/ 15 h 66"/>
                <a:gd name="T58" fmla="*/ 37 w 38"/>
                <a:gd name="T59" fmla="*/ 19 h 66"/>
                <a:gd name="T60" fmla="*/ 37 w 38"/>
                <a:gd name="T61" fmla="*/ 20 h 66"/>
                <a:gd name="T62" fmla="*/ 37 w 38"/>
                <a:gd name="T63" fmla="*/ 20 h 66"/>
                <a:gd name="T64" fmla="*/ 36 w 38"/>
                <a:gd name="T65" fmla="*/ 24 h 66"/>
                <a:gd name="T66" fmla="*/ 23 w 38"/>
                <a:gd name="T67" fmla="*/ 15 h 66"/>
                <a:gd name="T68" fmla="*/ 23 w 38"/>
                <a:gd name="T69" fmla="*/ 15 h 66"/>
                <a:gd name="T70" fmla="*/ 27 w 38"/>
                <a:gd name="T71" fmla="*/ 25 h 66"/>
                <a:gd name="T72" fmla="*/ 22 w 38"/>
                <a:gd name="T73" fmla="*/ 27 h 66"/>
                <a:gd name="T74" fmla="*/ 22 w 38"/>
                <a:gd name="T75" fmla="*/ 25 h 66"/>
                <a:gd name="T76" fmla="*/ 15 w 38"/>
                <a:gd name="T77" fmla="*/ 19 h 66"/>
                <a:gd name="T78" fmla="*/ 16 w 38"/>
                <a:gd name="T79" fmla="*/ 27 h 66"/>
                <a:gd name="T80" fmla="*/ 17 w 38"/>
                <a:gd name="T81" fmla="*/ 31 h 66"/>
                <a:gd name="T82" fmla="*/ 21 w 38"/>
                <a:gd name="T83" fmla="*/ 35 h 66"/>
                <a:gd name="T84" fmla="*/ 22 w 38"/>
                <a:gd name="T85" fmla="*/ 38 h 66"/>
                <a:gd name="T86" fmla="*/ 22 w 38"/>
                <a:gd name="T87" fmla="*/ 39 h 66"/>
                <a:gd name="T88" fmla="*/ 22 w 38"/>
                <a:gd name="T89" fmla="*/ 44 h 66"/>
                <a:gd name="T90" fmla="*/ 21 w 38"/>
                <a:gd name="T91" fmla="*/ 44 h 66"/>
                <a:gd name="T92" fmla="*/ 17 w 38"/>
                <a:gd name="T93" fmla="*/ 38 h 66"/>
                <a:gd name="T94" fmla="*/ 16 w 38"/>
                <a:gd name="T95" fmla="*/ 44 h 66"/>
                <a:gd name="T96" fmla="*/ 13 w 38"/>
                <a:gd name="T97" fmla="*/ 46 h 66"/>
                <a:gd name="T98" fmla="*/ 13 w 38"/>
                <a:gd name="T99" fmla="*/ 46 h 66"/>
                <a:gd name="T100" fmla="*/ 12 w 38"/>
                <a:gd name="T101" fmla="*/ 47 h 66"/>
                <a:gd name="T102" fmla="*/ 14 w 38"/>
                <a:gd name="T103" fmla="*/ 50 h 66"/>
                <a:gd name="T104" fmla="*/ 23 w 38"/>
                <a:gd name="T105" fmla="*/ 62 h 66"/>
                <a:gd name="T106" fmla="*/ 22 w 38"/>
                <a:gd name="T107" fmla="*/ 6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8" h="66">
                  <a:moveTo>
                    <a:pt x="22" y="64"/>
                  </a:moveTo>
                  <a:cubicBezTo>
                    <a:pt x="19" y="66"/>
                    <a:pt x="12" y="65"/>
                    <a:pt x="13" y="61"/>
                  </a:cubicBezTo>
                  <a:cubicBezTo>
                    <a:pt x="13" y="60"/>
                    <a:pt x="13" y="59"/>
                    <a:pt x="13" y="59"/>
                  </a:cubicBezTo>
                  <a:cubicBezTo>
                    <a:pt x="13" y="59"/>
                    <a:pt x="13" y="59"/>
                    <a:pt x="13" y="59"/>
                  </a:cubicBezTo>
                  <a:cubicBezTo>
                    <a:pt x="12" y="54"/>
                    <a:pt x="9" y="50"/>
                    <a:pt x="8" y="46"/>
                  </a:cubicBezTo>
                  <a:cubicBezTo>
                    <a:pt x="7" y="45"/>
                    <a:pt x="7" y="44"/>
                    <a:pt x="7" y="42"/>
                  </a:cubicBezTo>
                  <a:cubicBezTo>
                    <a:pt x="8" y="42"/>
                    <a:pt x="9" y="43"/>
                    <a:pt x="10" y="44"/>
                  </a:cubicBezTo>
                  <a:cubicBezTo>
                    <a:pt x="11" y="44"/>
                    <a:pt x="11" y="43"/>
                    <a:pt x="11" y="42"/>
                  </a:cubicBezTo>
                  <a:cubicBezTo>
                    <a:pt x="11" y="39"/>
                    <a:pt x="11" y="36"/>
                    <a:pt x="11" y="33"/>
                  </a:cubicBezTo>
                  <a:cubicBezTo>
                    <a:pt x="10" y="32"/>
                    <a:pt x="9" y="31"/>
                    <a:pt x="8" y="31"/>
                  </a:cubicBezTo>
                  <a:cubicBezTo>
                    <a:pt x="8" y="32"/>
                    <a:pt x="6" y="37"/>
                    <a:pt x="4" y="34"/>
                  </a:cubicBezTo>
                  <a:cubicBezTo>
                    <a:pt x="5" y="32"/>
                    <a:pt x="5" y="29"/>
                    <a:pt x="4" y="27"/>
                  </a:cubicBezTo>
                  <a:cubicBezTo>
                    <a:pt x="2" y="25"/>
                    <a:pt x="0" y="24"/>
                    <a:pt x="0" y="23"/>
                  </a:cubicBezTo>
                  <a:cubicBezTo>
                    <a:pt x="0" y="20"/>
                    <a:pt x="4" y="20"/>
                    <a:pt x="6" y="21"/>
                  </a:cubicBezTo>
                  <a:cubicBezTo>
                    <a:pt x="8" y="21"/>
                    <a:pt x="8" y="17"/>
                    <a:pt x="10" y="23"/>
                  </a:cubicBezTo>
                  <a:cubicBezTo>
                    <a:pt x="10" y="24"/>
                    <a:pt x="11" y="24"/>
                    <a:pt x="11" y="25"/>
                  </a:cubicBezTo>
                  <a:cubicBezTo>
                    <a:pt x="12" y="25"/>
                    <a:pt x="12" y="24"/>
                    <a:pt x="12" y="24"/>
                  </a:cubicBezTo>
                  <a:cubicBezTo>
                    <a:pt x="12" y="22"/>
                    <a:pt x="12" y="19"/>
                    <a:pt x="12" y="17"/>
                  </a:cubicBezTo>
                  <a:cubicBezTo>
                    <a:pt x="10" y="15"/>
                    <a:pt x="8" y="13"/>
                    <a:pt x="7" y="10"/>
                  </a:cubicBezTo>
                  <a:cubicBezTo>
                    <a:pt x="7" y="8"/>
                    <a:pt x="10" y="6"/>
                    <a:pt x="12" y="6"/>
                  </a:cubicBezTo>
                  <a:cubicBezTo>
                    <a:pt x="13" y="4"/>
                    <a:pt x="13" y="3"/>
                    <a:pt x="13" y="1"/>
                  </a:cubicBezTo>
                  <a:cubicBezTo>
                    <a:pt x="13" y="1"/>
                    <a:pt x="13" y="1"/>
                    <a:pt x="14" y="0"/>
                  </a:cubicBezTo>
                  <a:cubicBezTo>
                    <a:pt x="15" y="0"/>
                    <a:pt x="15" y="0"/>
                    <a:pt x="16" y="1"/>
                  </a:cubicBezTo>
                  <a:cubicBezTo>
                    <a:pt x="18" y="3"/>
                    <a:pt x="14" y="11"/>
                    <a:pt x="18" y="12"/>
                  </a:cubicBezTo>
                  <a:cubicBezTo>
                    <a:pt x="19" y="11"/>
                    <a:pt x="18" y="9"/>
                    <a:pt x="17" y="8"/>
                  </a:cubicBezTo>
                  <a:cubicBezTo>
                    <a:pt x="17" y="6"/>
                    <a:pt x="20" y="4"/>
                    <a:pt x="22" y="3"/>
                  </a:cubicBezTo>
                  <a:cubicBezTo>
                    <a:pt x="26" y="3"/>
                    <a:pt x="25" y="4"/>
                    <a:pt x="25" y="7"/>
                  </a:cubicBezTo>
                  <a:cubicBezTo>
                    <a:pt x="26" y="7"/>
                    <a:pt x="26" y="8"/>
                    <a:pt x="26" y="8"/>
                  </a:cubicBezTo>
                  <a:cubicBezTo>
                    <a:pt x="30" y="11"/>
                    <a:pt x="30" y="11"/>
                    <a:pt x="35" y="15"/>
                  </a:cubicBezTo>
                  <a:cubicBezTo>
                    <a:pt x="36" y="16"/>
                    <a:pt x="37" y="17"/>
                    <a:pt x="37" y="19"/>
                  </a:cubicBezTo>
                  <a:cubicBezTo>
                    <a:pt x="37" y="19"/>
                    <a:pt x="37" y="19"/>
                    <a:pt x="37" y="20"/>
                  </a:cubicBezTo>
                  <a:cubicBezTo>
                    <a:pt x="37" y="20"/>
                    <a:pt x="37" y="20"/>
                    <a:pt x="37" y="20"/>
                  </a:cubicBezTo>
                  <a:cubicBezTo>
                    <a:pt x="38" y="21"/>
                    <a:pt x="38" y="24"/>
                    <a:pt x="36" y="24"/>
                  </a:cubicBezTo>
                  <a:cubicBezTo>
                    <a:pt x="32" y="21"/>
                    <a:pt x="27" y="18"/>
                    <a:pt x="23" y="15"/>
                  </a:cubicBezTo>
                  <a:cubicBezTo>
                    <a:pt x="23" y="15"/>
                    <a:pt x="23" y="15"/>
                    <a:pt x="23" y="15"/>
                  </a:cubicBezTo>
                  <a:cubicBezTo>
                    <a:pt x="25" y="17"/>
                    <a:pt x="27" y="22"/>
                    <a:pt x="27" y="25"/>
                  </a:cubicBezTo>
                  <a:cubicBezTo>
                    <a:pt x="26" y="26"/>
                    <a:pt x="24" y="27"/>
                    <a:pt x="22" y="27"/>
                  </a:cubicBezTo>
                  <a:cubicBezTo>
                    <a:pt x="22" y="26"/>
                    <a:pt x="22" y="26"/>
                    <a:pt x="22" y="25"/>
                  </a:cubicBezTo>
                  <a:cubicBezTo>
                    <a:pt x="21" y="23"/>
                    <a:pt x="17" y="21"/>
                    <a:pt x="15" y="19"/>
                  </a:cubicBezTo>
                  <a:cubicBezTo>
                    <a:pt x="14" y="21"/>
                    <a:pt x="16" y="25"/>
                    <a:pt x="16" y="27"/>
                  </a:cubicBezTo>
                  <a:cubicBezTo>
                    <a:pt x="16" y="28"/>
                    <a:pt x="16" y="30"/>
                    <a:pt x="17" y="31"/>
                  </a:cubicBezTo>
                  <a:cubicBezTo>
                    <a:pt x="18" y="32"/>
                    <a:pt x="19" y="34"/>
                    <a:pt x="21" y="35"/>
                  </a:cubicBezTo>
                  <a:cubicBezTo>
                    <a:pt x="21" y="36"/>
                    <a:pt x="22" y="37"/>
                    <a:pt x="22" y="38"/>
                  </a:cubicBezTo>
                  <a:cubicBezTo>
                    <a:pt x="22" y="38"/>
                    <a:pt x="22" y="38"/>
                    <a:pt x="22" y="39"/>
                  </a:cubicBezTo>
                  <a:cubicBezTo>
                    <a:pt x="23" y="40"/>
                    <a:pt x="24" y="44"/>
                    <a:pt x="22" y="44"/>
                  </a:cubicBezTo>
                  <a:cubicBezTo>
                    <a:pt x="21" y="44"/>
                    <a:pt x="21" y="44"/>
                    <a:pt x="21" y="44"/>
                  </a:cubicBezTo>
                  <a:cubicBezTo>
                    <a:pt x="20" y="41"/>
                    <a:pt x="18" y="39"/>
                    <a:pt x="17" y="38"/>
                  </a:cubicBezTo>
                  <a:cubicBezTo>
                    <a:pt x="16" y="40"/>
                    <a:pt x="17" y="42"/>
                    <a:pt x="16" y="44"/>
                  </a:cubicBezTo>
                  <a:cubicBezTo>
                    <a:pt x="15" y="45"/>
                    <a:pt x="14" y="46"/>
                    <a:pt x="13" y="46"/>
                  </a:cubicBezTo>
                  <a:cubicBezTo>
                    <a:pt x="13" y="46"/>
                    <a:pt x="13" y="46"/>
                    <a:pt x="13" y="46"/>
                  </a:cubicBezTo>
                  <a:cubicBezTo>
                    <a:pt x="12" y="46"/>
                    <a:pt x="12" y="46"/>
                    <a:pt x="12" y="47"/>
                  </a:cubicBezTo>
                  <a:cubicBezTo>
                    <a:pt x="12" y="48"/>
                    <a:pt x="13" y="49"/>
                    <a:pt x="14" y="50"/>
                  </a:cubicBezTo>
                  <a:cubicBezTo>
                    <a:pt x="16" y="54"/>
                    <a:pt x="19" y="58"/>
                    <a:pt x="23" y="62"/>
                  </a:cubicBezTo>
                  <a:cubicBezTo>
                    <a:pt x="23" y="63"/>
                    <a:pt x="23" y="63"/>
                    <a:pt x="22" y="64"/>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8" name="Freeform 134"/>
            <p:cNvSpPr/>
            <p:nvPr userDrawn="1"/>
          </p:nvSpPr>
          <p:spPr bwMode="auto">
            <a:xfrm>
              <a:off x="989" y="789"/>
              <a:ext cx="13" cy="11"/>
            </a:xfrm>
            <a:custGeom>
              <a:avLst/>
              <a:gdLst>
                <a:gd name="T0" fmla="*/ 9 w 11"/>
                <a:gd name="T1" fmla="*/ 9 h 9"/>
                <a:gd name="T2" fmla="*/ 7 w 11"/>
                <a:gd name="T3" fmla="*/ 7 h 9"/>
                <a:gd name="T4" fmla="*/ 0 w 11"/>
                <a:gd name="T5" fmla="*/ 2 h 9"/>
                <a:gd name="T6" fmla="*/ 0 w 11"/>
                <a:gd name="T7" fmla="*/ 1 h 9"/>
                <a:gd name="T8" fmla="*/ 7 w 11"/>
                <a:gd name="T9" fmla="*/ 0 h 9"/>
                <a:gd name="T10" fmla="*/ 9 w 11"/>
                <a:gd name="T11" fmla="*/ 9 h 9"/>
              </a:gdLst>
              <a:ahLst/>
              <a:cxnLst>
                <a:cxn ang="0">
                  <a:pos x="T0" y="T1"/>
                </a:cxn>
                <a:cxn ang="0">
                  <a:pos x="T2" y="T3"/>
                </a:cxn>
                <a:cxn ang="0">
                  <a:pos x="T4" y="T5"/>
                </a:cxn>
                <a:cxn ang="0">
                  <a:pos x="T6" y="T7"/>
                </a:cxn>
                <a:cxn ang="0">
                  <a:pos x="T8" y="T9"/>
                </a:cxn>
                <a:cxn ang="0">
                  <a:pos x="T10" y="T11"/>
                </a:cxn>
              </a:cxnLst>
              <a:rect l="0" t="0" r="r" b="b"/>
              <a:pathLst>
                <a:path w="11" h="9">
                  <a:moveTo>
                    <a:pt x="9" y="9"/>
                  </a:moveTo>
                  <a:cubicBezTo>
                    <a:pt x="8" y="9"/>
                    <a:pt x="7" y="8"/>
                    <a:pt x="7" y="7"/>
                  </a:cubicBezTo>
                  <a:cubicBezTo>
                    <a:pt x="3" y="6"/>
                    <a:pt x="1" y="5"/>
                    <a:pt x="0" y="2"/>
                  </a:cubicBezTo>
                  <a:cubicBezTo>
                    <a:pt x="0" y="2"/>
                    <a:pt x="0" y="2"/>
                    <a:pt x="0" y="1"/>
                  </a:cubicBezTo>
                  <a:cubicBezTo>
                    <a:pt x="2" y="1"/>
                    <a:pt x="5" y="0"/>
                    <a:pt x="7" y="0"/>
                  </a:cubicBezTo>
                  <a:cubicBezTo>
                    <a:pt x="11" y="1"/>
                    <a:pt x="10" y="6"/>
                    <a:pt x="9" y="9"/>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9" name="Freeform 135"/>
            <p:cNvSpPr/>
            <p:nvPr userDrawn="1"/>
          </p:nvSpPr>
          <p:spPr bwMode="auto">
            <a:xfrm>
              <a:off x="977" y="776"/>
              <a:ext cx="14" cy="13"/>
            </a:xfrm>
            <a:custGeom>
              <a:avLst/>
              <a:gdLst>
                <a:gd name="T0" fmla="*/ 10 w 11"/>
                <a:gd name="T1" fmla="*/ 10 h 10"/>
                <a:gd name="T2" fmla="*/ 9 w 11"/>
                <a:gd name="T3" fmla="*/ 10 h 10"/>
                <a:gd name="T4" fmla="*/ 8 w 11"/>
                <a:gd name="T5" fmla="*/ 8 h 10"/>
                <a:gd name="T6" fmla="*/ 1 w 11"/>
                <a:gd name="T7" fmla="*/ 2 h 10"/>
                <a:gd name="T8" fmla="*/ 4 w 11"/>
                <a:gd name="T9" fmla="*/ 2 h 10"/>
                <a:gd name="T10" fmla="*/ 11 w 11"/>
                <a:gd name="T11" fmla="*/ 5 h 10"/>
                <a:gd name="T12" fmla="*/ 10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10" y="10"/>
                  </a:moveTo>
                  <a:cubicBezTo>
                    <a:pt x="9" y="10"/>
                    <a:pt x="9" y="10"/>
                    <a:pt x="9" y="10"/>
                  </a:cubicBezTo>
                  <a:cubicBezTo>
                    <a:pt x="8" y="9"/>
                    <a:pt x="8" y="9"/>
                    <a:pt x="8" y="8"/>
                  </a:cubicBezTo>
                  <a:cubicBezTo>
                    <a:pt x="4" y="8"/>
                    <a:pt x="0" y="6"/>
                    <a:pt x="1" y="2"/>
                  </a:cubicBezTo>
                  <a:cubicBezTo>
                    <a:pt x="2" y="1"/>
                    <a:pt x="2" y="2"/>
                    <a:pt x="4" y="2"/>
                  </a:cubicBezTo>
                  <a:cubicBezTo>
                    <a:pt x="7" y="2"/>
                    <a:pt x="11" y="0"/>
                    <a:pt x="11" y="5"/>
                  </a:cubicBezTo>
                  <a:cubicBezTo>
                    <a:pt x="11" y="6"/>
                    <a:pt x="10" y="8"/>
                    <a:pt x="10" y="10"/>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50" name="Freeform 136"/>
            <p:cNvSpPr/>
            <p:nvPr userDrawn="1"/>
          </p:nvSpPr>
          <p:spPr bwMode="auto">
            <a:xfrm>
              <a:off x="1048" y="786"/>
              <a:ext cx="163" cy="141"/>
            </a:xfrm>
            <a:custGeom>
              <a:avLst/>
              <a:gdLst>
                <a:gd name="T0" fmla="*/ 132 w 132"/>
                <a:gd name="T1" fmla="*/ 6 h 113"/>
                <a:gd name="T2" fmla="*/ 98 w 132"/>
                <a:gd name="T3" fmla="*/ 6 h 113"/>
                <a:gd name="T4" fmla="*/ 79 w 132"/>
                <a:gd name="T5" fmla="*/ 25 h 113"/>
                <a:gd name="T6" fmla="*/ 73 w 132"/>
                <a:gd name="T7" fmla="*/ 12 h 113"/>
                <a:gd name="T8" fmla="*/ 83 w 132"/>
                <a:gd name="T9" fmla="*/ 8 h 113"/>
                <a:gd name="T10" fmla="*/ 57 w 132"/>
                <a:gd name="T11" fmla="*/ 8 h 113"/>
                <a:gd name="T12" fmla="*/ 53 w 132"/>
                <a:gd name="T13" fmla="*/ 25 h 113"/>
                <a:gd name="T14" fmla="*/ 34 w 132"/>
                <a:gd name="T15" fmla="*/ 6 h 113"/>
                <a:gd name="T16" fmla="*/ 0 w 132"/>
                <a:gd name="T17" fmla="*/ 6 h 113"/>
                <a:gd name="T18" fmla="*/ 24 w 132"/>
                <a:gd name="T19" fmla="*/ 16 h 113"/>
                <a:gd name="T20" fmla="*/ 27 w 132"/>
                <a:gd name="T21" fmla="*/ 22 h 113"/>
                <a:gd name="T22" fmla="*/ 9 w 132"/>
                <a:gd name="T23" fmla="*/ 22 h 113"/>
                <a:gd name="T24" fmla="*/ 31 w 132"/>
                <a:gd name="T25" fmla="*/ 32 h 113"/>
                <a:gd name="T26" fmla="*/ 34 w 132"/>
                <a:gd name="T27" fmla="*/ 38 h 113"/>
                <a:gd name="T28" fmla="*/ 20 w 132"/>
                <a:gd name="T29" fmla="*/ 39 h 113"/>
                <a:gd name="T30" fmla="*/ 38 w 132"/>
                <a:gd name="T31" fmla="*/ 48 h 113"/>
                <a:gd name="T32" fmla="*/ 41 w 132"/>
                <a:gd name="T33" fmla="*/ 54 h 113"/>
                <a:gd name="T34" fmla="*/ 30 w 132"/>
                <a:gd name="T35" fmla="*/ 54 h 113"/>
                <a:gd name="T36" fmla="*/ 45 w 132"/>
                <a:gd name="T37" fmla="*/ 63 h 113"/>
                <a:gd name="T38" fmla="*/ 47 w 132"/>
                <a:gd name="T39" fmla="*/ 69 h 113"/>
                <a:gd name="T40" fmla="*/ 39 w 132"/>
                <a:gd name="T41" fmla="*/ 69 h 113"/>
                <a:gd name="T42" fmla="*/ 51 w 132"/>
                <a:gd name="T43" fmla="*/ 78 h 113"/>
                <a:gd name="T44" fmla="*/ 51 w 132"/>
                <a:gd name="T45" fmla="*/ 89 h 113"/>
                <a:gd name="T46" fmla="*/ 66 w 132"/>
                <a:gd name="T47" fmla="*/ 113 h 113"/>
                <a:gd name="T48" fmla="*/ 81 w 132"/>
                <a:gd name="T49" fmla="*/ 89 h 113"/>
                <a:gd name="T50" fmla="*/ 81 w 132"/>
                <a:gd name="T51" fmla="*/ 78 h 113"/>
                <a:gd name="T52" fmla="*/ 92 w 132"/>
                <a:gd name="T53" fmla="*/ 69 h 113"/>
                <a:gd name="T54" fmla="*/ 85 w 132"/>
                <a:gd name="T55" fmla="*/ 69 h 113"/>
                <a:gd name="T56" fmla="*/ 87 w 132"/>
                <a:gd name="T57" fmla="*/ 63 h 113"/>
                <a:gd name="T58" fmla="*/ 102 w 132"/>
                <a:gd name="T59" fmla="*/ 54 h 113"/>
                <a:gd name="T60" fmla="*/ 91 w 132"/>
                <a:gd name="T61" fmla="*/ 54 h 113"/>
                <a:gd name="T62" fmla="*/ 93 w 132"/>
                <a:gd name="T63" fmla="*/ 48 h 113"/>
                <a:gd name="T64" fmla="*/ 111 w 132"/>
                <a:gd name="T65" fmla="*/ 39 h 113"/>
                <a:gd name="T66" fmla="*/ 97 w 132"/>
                <a:gd name="T67" fmla="*/ 38 h 113"/>
                <a:gd name="T68" fmla="*/ 100 w 132"/>
                <a:gd name="T69" fmla="*/ 32 h 113"/>
                <a:gd name="T70" fmla="*/ 123 w 132"/>
                <a:gd name="T71" fmla="*/ 22 h 113"/>
                <a:gd name="T72" fmla="*/ 105 w 132"/>
                <a:gd name="T73" fmla="*/ 22 h 113"/>
                <a:gd name="T74" fmla="*/ 107 w 132"/>
                <a:gd name="T75" fmla="*/ 16 h 113"/>
                <a:gd name="T76" fmla="*/ 132 w 132"/>
                <a:gd name="T77" fmla="*/ 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2" h="113">
                  <a:moveTo>
                    <a:pt x="132" y="6"/>
                  </a:moveTo>
                  <a:cubicBezTo>
                    <a:pt x="98" y="6"/>
                    <a:pt x="98" y="6"/>
                    <a:pt x="98" y="6"/>
                  </a:cubicBezTo>
                  <a:cubicBezTo>
                    <a:pt x="88" y="6"/>
                    <a:pt x="83" y="16"/>
                    <a:pt x="79" y="25"/>
                  </a:cubicBezTo>
                  <a:cubicBezTo>
                    <a:pt x="73" y="12"/>
                    <a:pt x="73" y="12"/>
                    <a:pt x="73" y="12"/>
                  </a:cubicBezTo>
                  <a:cubicBezTo>
                    <a:pt x="83" y="8"/>
                    <a:pt x="83" y="8"/>
                    <a:pt x="83" y="8"/>
                  </a:cubicBezTo>
                  <a:cubicBezTo>
                    <a:pt x="77" y="3"/>
                    <a:pt x="59" y="0"/>
                    <a:pt x="57" y="8"/>
                  </a:cubicBezTo>
                  <a:cubicBezTo>
                    <a:pt x="53" y="25"/>
                    <a:pt x="53" y="25"/>
                    <a:pt x="53" y="25"/>
                  </a:cubicBezTo>
                  <a:cubicBezTo>
                    <a:pt x="50" y="17"/>
                    <a:pt x="45" y="6"/>
                    <a:pt x="34" y="6"/>
                  </a:cubicBezTo>
                  <a:cubicBezTo>
                    <a:pt x="0" y="6"/>
                    <a:pt x="0" y="6"/>
                    <a:pt x="0" y="6"/>
                  </a:cubicBezTo>
                  <a:cubicBezTo>
                    <a:pt x="4" y="14"/>
                    <a:pt x="8" y="17"/>
                    <a:pt x="24" y="16"/>
                  </a:cubicBezTo>
                  <a:cubicBezTo>
                    <a:pt x="27" y="22"/>
                    <a:pt x="27" y="22"/>
                    <a:pt x="27" y="22"/>
                  </a:cubicBezTo>
                  <a:cubicBezTo>
                    <a:pt x="9" y="22"/>
                    <a:pt x="9" y="22"/>
                    <a:pt x="9" y="22"/>
                  </a:cubicBezTo>
                  <a:cubicBezTo>
                    <a:pt x="14" y="32"/>
                    <a:pt x="17" y="32"/>
                    <a:pt x="31" y="32"/>
                  </a:cubicBezTo>
                  <a:cubicBezTo>
                    <a:pt x="34" y="38"/>
                    <a:pt x="34" y="38"/>
                    <a:pt x="34" y="38"/>
                  </a:cubicBezTo>
                  <a:cubicBezTo>
                    <a:pt x="20" y="39"/>
                    <a:pt x="20" y="39"/>
                    <a:pt x="20" y="39"/>
                  </a:cubicBezTo>
                  <a:cubicBezTo>
                    <a:pt x="23" y="45"/>
                    <a:pt x="27" y="48"/>
                    <a:pt x="38" y="48"/>
                  </a:cubicBezTo>
                  <a:cubicBezTo>
                    <a:pt x="41" y="54"/>
                    <a:pt x="41" y="54"/>
                    <a:pt x="41" y="54"/>
                  </a:cubicBezTo>
                  <a:cubicBezTo>
                    <a:pt x="30" y="54"/>
                    <a:pt x="30" y="54"/>
                    <a:pt x="30" y="54"/>
                  </a:cubicBezTo>
                  <a:cubicBezTo>
                    <a:pt x="34" y="61"/>
                    <a:pt x="36" y="64"/>
                    <a:pt x="45" y="63"/>
                  </a:cubicBezTo>
                  <a:cubicBezTo>
                    <a:pt x="47" y="69"/>
                    <a:pt x="47" y="69"/>
                    <a:pt x="47" y="69"/>
                  </a:cubicBezTo>
                  <a:cubicBezTo>
                    <a:pt x="39" y="69"/>
                    <a:pt x="39" y="69"/>
                    <a:pt x="39" y="69"/>
                  </a:cubicBezTo>
                  <a:cubicBezTo>
                    <a:pt x="43" y="77"/>
                    <a:pt x="46" y="77"/>
                    <a:pt x="51" y="78"/>
                  </a:cubicBezTo>
                  <a:cubicBezTo>
                    <a:pt x="55" y="78"/>
                    <a:pt x="56" y="86"/>
                    <a:pt x="51" y="89"/>
                  </a:cubicBezTo>
                  <a:cubicBezTo>
                    <a:pt x="66" y="113"/>
                    <a:pt x="66" y="113"/>
                    <a:pt x="66" y="113"/>
                  </a:cubicBezTo>
                  <a:cubicBezTo>
                    <a:pt x="81" y="89"/>
                    <a:pt x="81" y="89"/>
                    <a:pt x="81" y="89"/>
                  </a:cubicBezTo>
                  <a:cubicBezTo>
                    <a:pt x="76" y="86"/>
                    <a:pt x="76" y="78"/>
                    <a:pt x="81" y="78"/>
                  </a:cubicBezTo>
                  <a:cubicBezTo>
                    <a:pt x="85" y="77"/>
                    <a:pt x="89" y="77"/>
                    <a:pt x="92" y="69"/>
                  </a:cubicBezTo>
                  <a:cubicBezTo>
                    <a:pt x="85" y="69"/>
                    <a:pt x="85" y="69"/>
                    <a:pt x="85" y="69"/>
                  </a:cubicBezTo>
                  <a:cubicBezTo>
                    <a:pt x="87" y="63"/>
                    <a:pt x="87" y="63"/>
                    <a:pt x="87" y="63"/>
                  </a:cubicBezTo>
                  <a:cubicBezTo>
                    <a:pt x="96" y="64"/>
                    <a:pt x="98" y="60"/>
                    <a:pt x="102" y="54"/>
                  </a:cubicBezTo>
                  <a:cubicBezTo>
                    <a:pt x="91" y="54"/>
                    <a:pt x="91" y="54"/>
                    <a:pt x="91" y="54"/>
                  </a:cubicBezTo>
                  <a:cubicBezTo>
                    <a:pt x="93" y="48"/>
                    <a:pt x="93" y="48"/>
                    <a:pt x="93" y="48"/>
                  </a:cubicBezTo>
                  <a:cubicBezTo>
                    <a:pt x="105" y="48"/>
                    <a:pt x="108" y="45"/>
                    <a:pt x="111" y="39"/>
                  </a:cubicBezTo>
                  <a:cubicBezTo>
                    <a:pt x="97" y="38"/>
                    <a:pt x="97" y="38"/>
                    <a:pt x="97" y="38"/>
                  </a:cubicBezTo>
                  <a:cubicBezTo>
                    <a:pt x="100" y="32"/>
                    <a:pt x="100" y="32"/>
                    <a:pt x="100" y="32"/>
                  </a:cubicBezTo>
                  <a:cubicBezTo>
                    <a:pt x="115" y="32"/>
                    <a:pt x="118" y="32"/>
                    <a:pt x="123" y="22"/>
                  </a:cubicBezTo>
                  <a:cubicBezTo>
                    <a:pt x="105" y="22"/>
                    <a:pt x="105" y="22"/>
                    <a:pt x="105" y="22"/>
                  </a:cubicBezTo>
                  <a:cubicBezTo>
                    <a:pt x="107" y="16"/>
                    <a:pt x="107" y="16"/>
                    <a:pt x="107" y="16"/>
                  </a:cubicBezTo>
                  <a:cubicBezTo>
                    <a:pt x="123" y="17"/>
                    <a:pt x="128" y="14"/>
                    <a:pt x="132" y="6"/>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51" name="Freeform 137"/>
            <p:cNvSpPr>
              <a:spLocks noEditPoints="1"/>
            </p:cNvSpPr>
            <p:nvPr userDrawn="1"/>
          </p:nvSpPr>
          <p:spPr bwMode="auto">
            <a:xfrm>
              <a:off x="1214" y="757"/>
              <a:ext cx="64" cy="43"/>
            </a:xfrm>
            <a:custGeom>
              <a:avLst/>
              <a:gdLst>
                <a:gd name="T0" fmla="*/ 51 w 52"/>
                <a:gd name="T1" fmla="*/ 10 h 34"/>
                <a:gd name="T2" fmla="*/ 48 w 52"/>
                <a:gd name="T3" fmla="*/ 10 h 34"/>
                <a:gd name="T4" fmla="*/ 47 w 52"/>
                <a:gd name="T5" fmla="*/ 8 h 34"/>
                <a:gd name="T6" fmla="*/ 50 w 52"/>
                <a:gd name="T7" fmla="*/ 7 h 34"/>
                <a:gd name="T8" fmla="*/ 52 w 52"/>
                <a:gd name="T9" fmla="*/ 2 h 34"/>
                <a:gd name="T10" fmla="*/ 44 w 52"/>
                <a:gd name="T11" fmla="*/ 3 h 34"/>
                <a:gd name="T12" fmla="*/ 36 w 52"/>
                <a:gd name="T13" fmla="*/ 1 h 34"/>
                <a:gd name="T14" fmla="*/ 36 w 52"/>
                <a:gd name="T15" fmla="*/ 3 h 34"/>
                <a:gd name="T16" fmla="*/ 35 w 52"/>
                <a:gd name="T17" fmla="*/ 4 h 34"/>
                <a:gd name="T18" fmla="*/ 35 w 52"/>
                <a:gd name="T19" fmla="*/ 5 h 34"/>
                <a:gd name="T20" fmla="*/ 34 w 52"/>
                <a:gd name="T21" fmla="*/ 7 h 34"/>
                <a:gd name="T22" fmla="*/ 34 w 52"/>
                <a:gd name="T23" fmla="*/ 6 h 34"/>
                <a:gd name="T24" fmla="*/ 30 w 52"/>
                <a:gd name="T25" fmla="*/ 5 h 34"/>
                <a:gd name="T26" fmla="*/ 28 w 52"/>
                <a:gd name="T27" fmla="*/ 9 h 34"/>
                <a:gd name="T28" fmla="*/ 28 w 52"/>
                <a:gd name="T29" fmla="*/ 10 h 34"/>
                <a:gd name="T30" fmla="*/ 31 w 52"/>
                <a:gd name="T31" fmla="*/ 11 h 34"/>
                <a:gd name="T32" fmla="*/ 33 w 52"/>
                <a:gd name="T33" fmla="*/ 12 h 34"/>
                <a:gd name="T34" fmla="*/ 30 w 52"/>
                <a:gd name="T35" fmla="*/ 14 h 34"/>
                <a:gd name="T36" fmla="*/ 26 w 52"/>
                <a:gd name="T37" fmla="*/ 14 h 34"/>
                <a:gd name="T38" fmla="*/ 13 w 52"/>
                <a:gd name="T39" fmla="*/ 11 h 34"/>
                <a:gd name="T40" fmla="*/ 13 w 52"/>
                <a:gd name="T41" fmla="*/ 12 h 34"/>
                <a:gd name="T42" fmla="*/ 20 w 52"/>
                <a:gd name="T43" fmla="*/ 16 h 34"/>
                <a:gd name="T44" fmla="*/ 32 w 52"/>
                <a:gd name="T45" fmla="*/ 20 h 34"/>
                <a:gd name="T46" fmla="*/ 31 w 52"/>
                <a:gd name="T47" fmla="*/ 20 h 34"/>
                <a:gd name="T48" fmla="*/ 24 w 52"/>
                <a:gd name="T49" fmla="*/ 20 h 34"/>
                <a:gd name="T50" fmla="*/ 19 w 52"/>
                <a:gd name="T51" fmla="*/ 19 h 34"/>
                <a:gd name="T52" fmla="*/ 18 w 52"/>
                <a:gd name="T53" fmla="*/ 19 h 34"/>
                <a:gd name="T54" fmla="*/ 4 w 52"/>
                <a:gd name="T55" fmla="*/ 14 h 34"/>
                <a:gd name="T56" fmla="*/ 2 w 52"/>
                <a:gd name="T57" fmla="*/ 12 h 34"/>
                <a:gd name="T58" fmla="*/ 3 w 52"/>
                <a:gd name="T59" fmla="*/ 20 h 34"/>
                <a:gd name="T60" fmla="*/ 13 w 52"/>
                <a:gd name="T61" fmla="*/ 23 h 34"/>
                <a:gd name="T62" fmla="*/ 13 w 52"/>
                <a:gd name="T63" fmla="*/ 24 h 34"/>
                <a:gd name="T64" fmla="*/ 9 w 52"/>
                <a:gd name="T65" fmla="*/ 27 h 34"/>
                <a:gd name="T66" fmla="*/ 4 w 52"/>
                <a:gd name="T67" fmla="*/ 26 h 34"/>
                <a:gd name="T68" fmla="*/ 9 w 52"/>
                <a:gd name="T69" fmla="*/ 33 h 34"/>
                <a:gd name="T70" fmla="*/ 10 w 52"/>
                <a:gd name="T71" fmla="*/ 34 h 34"/>
                <a:gd name="T72" fmla="*/ 18 w 52"/>
                <a:gd name="T73" fmla="*/ 28 h 34"/>
                <a:gd name="T74" fmla="*/ 23 w 52"/>
                <a:gd name="T75" fmla="*/ 28 h 34"/>
                <a:gd name="T76" fmla="*/ 22 w 52"/>
                <a:gd name="T77" fmla="*/ 23 h 34"/>
                <a:gd name="T78" fmla="*/ 23 w 52"/>
                <a:gd name="T79" fmla="*/ 21 h 34"/>
                <a:gd name="T80" fmla="*/ 30 w 52"/>
                <a:gd name="T81" fmla="*/ 22 h 34"/>
                <a:gd name="T82" fmla="*/ 36 w 52"/>
                <a:gd name="T83" fmla="*/ 25 h 34"/>
                <a:gd name="T84" fmla="*/ 39 w 52"/>
                <a:gd name="T85" fmla="*/ 21 h 34"/>
                <a:gd name="T86" fmla="*/ 39 w 52"/>
                <a:gd name="T87" fmla="*/ 20 h 34"/>
                <a:gd name="T88" fmla="*/ 51 w 52"/>
                <a:gd name="T89" fmla="*/ 14 h 34"/>
                <a:gd name="T90" fmla="*/ 38 w 52"/>
                <a:gd name="T91" fmla="*/ 14 h 34"/>
                <a:gd name="T92" fmla="*/ 38 w 52"/>
                <a:gd name="T93" fmla="*/ 12 h 34"/>
                <a:gd name="T94" fmla="*/ 36 w 52"/>
                <a:gd name="T95" fmla="*/ 11 h 34"/>
                <a:gd name="T96" fmla="*/ 36 w 52"/>
                <a:gd name="T97" fmla="*/ 10 h 34"/>
                <a:gd name="T98" fmla="*/ 40 w 52"/>
                <a:gd name="T99" fmla="*/ 9 h 34"/>
                <a:gd name="T100" fmla="*/ 43 w 52"/>
                <a:gd name="T101" fmla="*/ 14 h 34"/>
                <a:gd name="T102" fmla="*/ 38 w 52"/>
                <a:gd name="T103" fmla="*/ 1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 h="34">
                  <a:moveTo>
                    <a:pt x="51" y="13"/>
                  </a:moveTo>
                  <a:cubicBezTo>
                    <a:pt x="51" y="12"/>
                    <a:pt x="51" y="12"/>
                    <a:pt x="51" y="12"/>
                  </a:cubicBezTo>
                  <a:cubicBezTo>
                    <a:pt x="51" y="11"/>
                    <a:pt x="51" y="11"/>
                    <a:pt x="51" y="10"/>
                  </a:cubicBezTo>
                  <a:cubicBezTo>
                    <a:pt x="51" y="10"/>
                    <a:pt x="50" y="10"/>
                    <a:pt x="50" y="10"/>
                  </a:cubicBezTo>
                  <a:cubicBezTo>
                    <a:pt x="49" y="10"/>
                    <a:pt x="49" y="10"/>
                    <a:pt x="49" y="10"/>
                  </a:cubicBezTo>
                  <a:cubicBezTo>
                    <a:pt x="48" y="10"/>
                    <a:pt x="48" y="10"/>
                    <a:pt x="48" y="10"/>
                  </a:cubicBezTo>
                  <a:cubicBezTo>
                    <a:pt x="48" y="9"/>
                    <a:pt x="48" y="9"/>
                    <a:pt x="48" y="9"/>
                  </a:cubicBezTo>
                  <a:cubicBezTo>
                    <a:pt x="48" y="9"/>
                    <a:pt x="48" y="9"/>
                    <a:pt x="48" y="9"/>
                  </a:cubicBezTo>
                  <a:cubicBezTo>
                    <a:pt x="47" y="8"/>
                    <a:pt x="47" y="8"/>
                    <a:pt x="47" y="8"/>
                  </a:cubicBezTo>
                  <a:cubicBezTo>
                    <a:pt x="47" y="8"/>
                    <a:pt x="47" y="8"/>
                    <a:pt x="47" y="8"/>
                  </a:cubicBezTo>
                  <a:cubicBezTo>
                    <a:pt x="48" y="8"/>
                    <a:pt x="48" y="8"/>
                    <a:pt x="48" y="8"/>
                  </a:cubicBezTo>
                  <a:cubicBezTo>
                    <a:pt x="48" y="7"/>
                    <a:pt x="49" y="7"/>
                    <a:pt x="50" y="7"/>
                  </a:cubicBezTo>
                  <a:cubicBezTo>
                    <a:pt x="50" y="7"/>
                    <a:pt x="50" y="7"/>
                    <a:pt x="50" y="7"/>
                  </a:cubicBezTo>
                  <a:cubicBezTo>
                    <a:pt x="50" y="7"/>
                    <a:pt x="50" y="7"/>
                    <a:pt x="50" y="7"/>
                  </a:cubicBezTo>
                  <a:cubicBezTo>
                    <a:pt x="51" y="6"/>
                    <a:pt x="52" y="4"/>
                    <a:pt x="52" y="2"/>
                  </a:cubicBezTo>
                  <a:cubicBezTo>
                    <a:pt x="52" y="2"/>
                    <a:pt x="51" y="2"/>
                    <a:pt x="50" y="2"/>
                  </a:cubicBezTo>
                  <a:cubicBezTo>
                    <a:pt x="49" y="2"/>
                    <a:pt x="48" y="2"/>
                    <a:pt x="46" y="3"/>
                  </a:cubicBezTo>
                  <a:cubicBezTo>
                    <a:pt x="46" y="3"/>
                    <a:pt x="45" y="3"/>
                    <a:pt x="44" y="3"/>
                  </a:cubicBezTo>
                  <a:cubicBezTo>
                    <a:pt x="43" y="3"/>
                    <a:pt x="43" y="3"/>
                    <a:pt x="43" y="3"/>
                  </a:cubicBezTo>
                  <a:cubicBezTo>
                    <a:pt x="41" y="2"/>
                    <a:pt x="41" y="2"/>
                    <a:pt x="36" y="0"/>
                  </a:cubicBezTo>
                  <a:cubicBezTo>
                    <a:pt x="36" y="0"/>
                    <a:pt x="36" y="0"/>
                    <a:pt x="36" y="1"/>
                  </a:cubicBezTo>
                  <a:cubicBezTo>
                    <a:pt x="35" y="1"/>
                    <a:pt x="35" y="2"/>
                    <a:pt x="36" y="3"/>
                  </a:cubicBezTo>
                  <a:cubicBezTo>
                    <a:pt x="36" y="3"/>
                    <a:pt x="36" y="3"/>
                    <a:pt x="36" y="3"/>
                  </a:cubicBezTo>
                  <a:cubicBezTo>
                    <a:pt x="36" y="3"/>
                    <a:pt x="36" y="3"/>
                    <a:pt x="36" y="3"/>
                  </a:cubicBezTo>
                  <a:cubicBezTo>
                    <a:pt x="36" y="3"/>
                    <a:pt x="36" y="3"/>
                    <a:pt x="36" y="3"/>
                  </a:cubicBezTo>
                  <a:cubicBezTo>
                    <a:pt x="35" y="4"/>
                    <a:pt x="35" y="4"/>
                    <a:pt x="35" y="4"/>
                  </a:cubicBezTo>
                  <a:cubicBezTo>
                    <a:pt x="35" y="4"/>
                    <a:pt x="35" y="4"/>
                    <a:pt x="35" y="4"/>
                  </a:cubicBezTo>
                  <a:cubicBezTo>
                    <a:pt x="35" y="4"/>
                    <a:pt x="35" y="4"/>
                    <a:pt x="35" y="4"/>
                  </a:cubicBezTo>
                  <a:cubicBezTo>
                    <a:pt x="35" y="4"/>
                    <a:pt x="35" y="4"/>
                    <a:pt x="35" y="4"/>
                  </a:cubicBezTo>
                  <a:cubicBezTo>
                    <a:pt x="35" y="4"/>
                    <a:pt x="35" y="5"/>
                    <a:pt x="35" y="5"/>
                  </a:cubicBezTo>
                  <a:cubicBezTo>
                    <a:pt x="35" y="5"/>
                    <a:pt x="35" y="5"/>
                    <a:pt x="35" y="5"/>
                  </a:cubicBezTo>
                  <a:cubicBezTo>
                    <a:pt x="35" y="6"/>
                    <a:pt x="35" y="6"/>
                    <a:pt x="35" y="6"/>
                  </a:cubicBezTo>
                  <a:cubicBezTo>
                    <a:pt x="34" y="7"/>
                    <a:pt x="34" y="7"/>
                    <a:pt x="34" y="7"/>
                  </a:cubicBezTo>
                  <a:cubicBezTo>
                    <a:pt x="34" y="7"/>
                    <a:pt x="34" y="7"/>
                    <a:pt x="34" y="7"/>
                  </a:cubicBezTo>
                  <a:cubicBezTo>
                    <a:pt x="34" y="7"/>
                    <a:pt x="34" y="7"/>
                    <a:pt x="34" y="7"/>
                  </a:cubicBezTo>
                  <a:cubicBezTo>
                    <a:pt x="34" y="6"/>
                    <a:pt x="34" y="6"/>
                    <a:pt x="34" y="6"/>
                  </a:cubicBezTo>
                  <a:cubicBezTo>
                    <a:pt x="33" y="6"/>
                    <a:pt x="33" y="6"/>
                    <a:pt x="32" y="5"/>
                  </a:cubicBezTo>
                  <a:cubicBezTo>
                    <a:pt x="32" y="5"/>
                    <a:pt x="32" y="5"/>
                    <a:pt x="32" y="5"/>
                  </a:cubicBezTo>
                  <a:cubicBezTo>
                    <a:pt x="31" y="5"/>
                    <a:pt x="31" y="5"/>
                    <a:pt x="30" y="5"/>
                  </a:cubicBezTo>
                  <a:cubicBezTo>
                    <a:pt x="30" y="6"/>
                    <a:pt x="30" y="6"/>
                    <a:pt x="30" y="6"/>
                  </a:cubicBezTo>
                  <a:cubicBezTo>
                    <a:pt x="30" y="7"/>
                    <a:pt x="30" y="7"/>
                    <a:pt x="30" y="7"/>
                  </a:cubicBezTo>
                  <a:cubicBezTo>
                    <a:pt x="30" y="7"/>
                    <a:pt x="30" y="8"/>
                    <a:pt x="28" y="9"/>
                  </a:cubicBezTo>
                  <a:cubicBezTo>
                    <a:pt x="27" y="8"/>
                    <a:pt x="27" y="8"/>
                    <a:pt x="27" y="8"/>
                  </a:cubicBezTo>
                  <a:cubicBezTo>
                    <a:pt x="26" y="8"/>
                    <a:pt x="26" y="9"/>
                    <a:pt x="26" y="9"/>
                  </a:cubicBezTo>
                  <a:cubicBezTo>
                    <a:pt x="26" y="10"/>
                    <a:pt x="26" y="10"/>
                    <a:pt x="28" y="10"/>
                  </a:cubicBezTo>
                  <a:cubicBezTo>
                    <a:pt x="29" y="10"/>
                    <a:pt x="29" y="11"/>
                    <a:pt x="30" y="11"/>
                  </a:cubicBezTo>
                  <a:cubicBezTo>
                    <a:pt x="30" y="11"/>
                    <a:pt x="30" y="11"/>
                    <a:pt x="30" y="11"/>
                  </a:cubicBezTo>
                  <a:cubicBezTo>
                    <a:pt x="31" y="11"/>
                    <a:pt x="31" y="11"/>
                    <a:pt x="31" y="11"/>
                  </a:cubicBezTo>
                  <a:cubicBezTo>
                    <a:pt x="32" y="11"/>
                    <a:pt x="32" y="11"/>
                    <a:pt x="32" y="11"/>
                  </a:cubicBezTo>
                  <a:cubicBezTo>
                    <a:pt x="33" y="11"/>
                    <a:pt x="33" y="11"/>
                    <a:pt x="33" y="11"/>
                  </a:cubicBezTo>
                  <a:cubicBezTo>
                    <a:pt x="33" y="12"/>
                    <a:pt x="33" y="12"/>
                    <a:pt x="33" y="12"/>
                  </a:cubicBezTo>
                  <a:cubicBezTo>
                    <a:pt x="31" y="12"/>
                    <a:pt x="31" y="12"/>
                    <a:pt x="31" y="12"/>
                  </a:cubicBezTo>
                  <a:cubicBezTo>
                    <a:pt x="31" y="12"/>
                    <a:pt x="31" y="13"/>
                    <a:pt x="30" y="13"/>
                  </a:cubicBezTo>
                  <a:cubicBezTo>
                    <a:pt x="30" y="14"/>
                    <a:pt x="30" y="14"/>
                    <a:pt x="30" y="14"/>
                  </a:cubicBezTo>
                  <a:cubicBezTo>
                    <a:pt x="29" y="15"/>
                    <a:pt x="29" y="15"/>
                    <a:pt x="29" y="15"/>
                  </a:cubicBezTo>
                  <a:cubicBezTo>
                    <a:pt x="29" y="14"/>
                    <a:pt x="29" y="14"/>
                    <a:pt x="29" y="14"/>
                  </a:cubicBezTo>
                  <a:cubicBezTo>
                    <a:pt x="28" y="14"/>
                    <a:pt x="27" y="14"/>
                    <a:pt x="26" y="14"/>
                  </a:cubicBezTo>
                  <a:cubicBezTo>
                    <a:pt x="24" y="13"/>
                    <a:pt x="24" y="13"/>
                    <a:pt x="24" y="13"/>
                  </a:cubicBezTo>
                  <a:cubicBezTo>
                    <a:pt x="22" y="13"/>
                    <a:pt x="18" y="12"/>
                    <a:pt x="15" y="11"/>
                  </a:cubicBezTo>
                  <a:cubicBezTo>
                    <a:pt x="15" y="11"/>
                    <a:pt x="14" y="11"/>
                    <a:pt x="13" y="11"/>
                  </a:cubicBezTo>
                  <a:cubicBezTo>
                    <a:pt x="12" y="10"/>
                    <a:pt x="12" y="10"/>
                    <a:pt x="12" y="10"/>
                  </a:cubicBezTo>
                  <a:cubicBezTo>
                    <a:pt x="11" y="11"/>
                    <a:pt x="11" y="11"/>
                    <a:pt x="11" y="11"/>
                  </a:cubicBezTo>
                  <a:cubicBezTo>
                    <a:pt x="12" y="11"/>
                    <a:pt x="12" y="12"/>
                    <a:pt x="13" y="12"/>
                  </a:cubicBezTo>
                  <a:cubicBezTo>
                    <a:pt x="13" y="12"/>
                    <a:pt x="13" y="12"/>
                    <a:pt x="13" y="12"/>
                  </a:cubicBezTo>
                  <a:cubicBezTo>
                    <a:pt x="14" y="13"/>
                    <a:pt x="14" y="15"/>
                    <a:pt x="16" y="16"/>
                  </a:cubicBezTo>
                  <a:cubicBezTo>
                    <a:pt x="17" y="16"/>
                    <a:pt x="18" y="16"/>
                    <a:pt x="20" y="16"/>
                  </a:cubicBezTo>
                  <a:cubicBezTo>
                    <a:pt x="23" y="16"/>
                    <a:pt x="28" y="17"/>
                    <a:pt x="31" y="19"/>
                  </a:cubicBezTo>
                  <a:cubicBezTo>
                    <a:pt x="32" y="20"/>
                    <a:pt x="32" y="20"/>
                    <a:pt x="32" y="20"/>
                  </a:cubicBezTo>
                  <a:cubicBezTo>
                    <a:pt x="32" y="20"/>
                    <a:pt x="32" y="20"/>
                    <a:pt x="32" y="20"/>
                  </a:cubicBezTo>
                  <a:cubicBezTo>
                    <a:pt x="32" y="20"/>
                    <a:pt x="32" y="20"/>
                    <a:pt x="32" y="20"/>
                  </a:cubicBezTo>
                  <a:cubicBezTo>
                    <a:pt x="32" y="20"/>
                    <a:pt x="32" y="20"/>
                    <a:pt x="32" y="20"/>
                  </a:cubicBezTo>
                  <a:cubicBezTo>
                    <a:pt x="31" y="20"/>
                    <a:pt x="31" y="20"/>
                    <a:pt x="31" y="20"/>
                  </a:cubicBezTo>
                  <a:cubicBezTo>
                    <a:pt x="30" y="20"/>
                    <a:pt x="30" y="21"/>
                    <a:pt x="30" y="21"/>
                  </a:cubicBezTo>
                  <a:cubicBezTo>
                    <a:pt x="29" y="21"/>
                    <a:pt x="29" y="21"/>
                    <a:pt x="29" y="21"/>
                  </a:cubicBezTo>
                  <a:cubicBezTo>
                    <a:pt x="26" y="20"/>
                    <a:pt x="26" y="20"/>
                    <a:pt x="24" y="20"/>
                  </a:cubicBezTo>
                  <a:cubicBezTo>
                    <a:pt x="23" y="19"/>
                    <a:pt x="22" y="18"/>
                    <a:pt x="21" y="18"/>
                  </a:cubicBezTo>
                  <a:cubicBezTo>
                    <a:pt x="21" y="18"/>
                    <a:pt x="20" y="19"/>
                    <a:pt x="19" y="19"/>
                  </a:cubicBezTo>
                  <a:cubicBezTo>
                    <a:pt x="19" y="19"/>
                    <a:pt x="19" y="19"/>
                    <a:pt x="19" y="19"/>
                  </a:cubicBezTo>
                  <a:cubicBezTo>
                    <a:pt x="19" y="19"/>
                    <a:pt x="19" y="19"/>
                    <a:pt x="19" y="19"/>
                  </a:cubicBezTo>
                  <a:cubicBezTo>
                    <a:pt x="19" y="20"/>
                    <a:pt x="19" y="20"/>
                    <a:pt x="19" y="20"/>
                  </a:cubicBezTo>
                  <a:cubicBezTo>
                    <a:pt x="18" y="19"/>
                    <a:pt x="18" y="19"/>
                    <a:pt x="18" y="19"/>
                  </a:cubicBezTo>
                  <a:cubicBezTo>
                    <a:pt x="18" y="19"/>
                    <a:pt x="18" y="19"/>
                    <a:pt x="17" y="19"/>
                  </a:cubicBezTo>
                  <a:cubicBezTo>
                    <a:pt x="16" y="19"/>
                    <a:pt x="15" y="18"/>
                    <a:pt x="14" y="18"/>
                  </a:cubicBezTo>
                  <a:cubicBezTo>
                    <a:pt x="10" y="17"/>
                    <a:pt x="7" y="16"/>
                    <a:pt x="4" y="14"/>
                  </a:cubicBezTo>
                  <a:cubicBezTo>
                    <a:pt x="3" y="13"/>
                    <a:pt x="3" y="13"/>
                    <a:pt x="2" y="12"/>
                  </a:cubicBezTo>
                  <a:cubicBezTo>
                    <a:pt x="2" y="12"/>
                    <a:pt x="2" y="12"/>
                    <a:pt x="2" y="12"/>
                  </a:cubicBezTo>
                  <a:cubicBezTo>
                    <a:pt x="2" y="12"/>
                    <a:pt x="2" y="12"/>
                    <a:pt x="2" y="12"/>
                  </a:cubicBezTo>
                  <a:cubicBezTo>
                    <a:pt x="2" y="11"/>
                    <a:pt x="2" y="11"/>
                    <a:pt x="2" y="11"/>
                  </a:cubicBezTo>
                  <a:cubicBezTo>
                    <a:pt x="1" y="11"/>
                    <a:pt x="1" y="12"/>
                    <a:pt x="0" y="12"/>
                  </a:cubicBezTo>
                  <a:cubicBezTo>
                    <a:pt x="0" y="14"/>
                    <a:pt x="2" y="19"/>
                    <a:pt x="3" y="20"/>
                  </a:cubicBezTo>
                  <a:cubicBezTo>
                    <a:pt x="4" y="20"/>
                    <a:pt x="5" y="21"/>
                    <a:pt x="6" y="21"/>
                  </a:cubicBezTo>
                  <a:cubicBezTo>
                    <a:pt x="8" y="21"/>
                    <a:pt x="11" y="22"/>
                    <a:pt x="12" y="23"/>
                  </a:cubicBezTo>
                  <a:cubicBezTo>
                    <a:pt x="13" y="23"/>
                    <a:pt x="13" y="23"/>
                    <a:pt x="13" y="23"/>
                  </a:cubicBezTo>
                  <a:cubicBezTo>
                    <a:pt x="13" y="23"/>
                    <a:pt x="13" y="23"/>
                    <a:pt x="13" y="23"/>
                  </a:cubicBezTo>
                  <a:cubicBezTo>
                    <a:pt x="13" y="23"/>
                    <a:pt x="13" y="23"/>
                    <a:pt x="13" y="23"/>
                  </a:cubicBezTo>
                  <a:cubicBezTo>
                    <a:pt x="13" y="24"/>
                    <a:pt x="13" y="24"/>
                    <a:pt x="13" y="24"/>
                  </a:cubicBezTo>
                  <a:cubicBezTo>
                    <a:pt x="12" y="25"/>
                    <a:pt x="11" y="26"/>
                    <a:pt x="10" y="26"/>
                  </a:cubicBezTo>
                  <a:cubicBezTo>
                    <a:pt x="10" y="27"/>
                    <a:pt x="10" y="27"/>
                    <a:pt x="10" y="27"/>
                  </a:cubicBezTo>
                  <a:cubicBezTo>
                    <a:pt x="10" y="27"/>
                    <a:pt x="9" y="27"/>
                    <a:pt x="9" y="27"/>
                  </a:cubicBezTo>
                  <a:cubicBezTo>
                    <a:pt x="9" y="27"/>
                    <a:pt x="9" y="27"/>
                    <a:pt x="9" y="27"/>
                  </a:cubicBezTo>
                  <a:cubicBezTo>
                    <a:pt x="9" y="28"/>
                    <a:pt x="8" y="28"/>
                    <a:pt x="8" y="28"/>
                  </a:cubicBezTo>
                  <a:cubicBezTo>
                    <a:pt x="7" y="28"/>
                    <a:pt x="5" y="27"/>
                    <a:pt x="4" y="26"/>
                  </a:cubicBezTo>
                  <a:cubicBezTo>
                    <a:pt x="4" y="26"/>
                    <a:pt x="3" y="26"/>
                    <a:pt x="3" y="26"/>
                  </a:cubicBezTo>
                  <a:cubicBezTo>
                    <a:pt x="3" y="26"/>
                    <a:pt x="3" y="26"/>
                    <a:pt x="3" y="26"/>
                  </a:cubicBezTo>
                  <a:cubicBezTo>
                    <a:pt x="4" y="29"/>
                    <a:pt x="6" y="31"/>
                    <a:pt x="9" y="33"/>
                  </a:cubicBezTo>
                  <a:cubicBezTo>
                    <a:pt x="9" y="34"/>
                    <a:pt x="9" y="34"/>
                    <a:pt x="9" y="34"/>
                  </a:cubicBezTo>
                  <a:cubicBezTo>
                    <a:pt x="10" y="34"/>
                    <a:pt x="10" y="34"/>
                    <a:pt x="10" y="34"/>
                  </a:cubicBezTo>
                  <a:cubicBezTo>
                    <a:pt x="10" y="34"/>
                    <a:pt x="10" y="34"/>
                    <a:pt x="10" y="34"/>
                  </a:cubicBezTo>
                  <a:cubicBezTo>
                    <a:pt x="12" y="34"/>
                    <a:pt x="15" y="31"/>
                    <a:pt x="16" y="29"/>
                  </a:cubicBezTo>
                  <a:cubicBezTo>
                    <a:pt x="16" y="29"/>
                    <a:pt x="17" y="28"/>
                    <a:pt x="17" y="28"/>
                  </a:cubicBezTo>
                  <a:cubicBezTo>
                    <a:pt x="18" y="28"/>
                    <a:pt x="18" y="28"/>
                    <a:pt x="18" y="28"/>
                  </a:cubicBezTo>
                  <a:cubicBezTo>
                    <a:pt x="19" y="27"/>
                    <a:pt x="19" y="27"/>
                    <a:pt x="19" y="27"/>
                  </a:cubicBezTo>
                  <a:cubicBezTo>
                    <a:pt x="19" y="27"/>
                    <a:pt x="19" y="27"/>
                    <a:pt x="19" y="27"/>
                  </a:cubicBezTo>
                  <a:cubicBezTo>
                    <a:pt x="21" y="27"/>
                    <a:pt x="22" y="27"/>
                    <a:pt x="23" y="28"/>
                  </a:cubicBezTo>
                  <a:cubicBezTo>
                    <a:pt x="24" y="28"/>
                    <a:pt x="25" y="26"/>
                    <a:pt x="25" y="25"/>
                  </a:cubicBezTo>
                  <a:cubicBezTo>
                    <a:pt x="25" y="25"/>
                    <a:pt x="25" y="25"/>
                    <a:pt x="25" y="25"/>
                  </a:cubicBezTo>
                  <a:cubicBezTo>
                    <a:pt x="24" y="24"/>
                    <a:pt x="23" y="23"/>
                    <a:pt x="22" y="23"/>
                  </a:cubicBezTo>
                  <a:cubicBezTo>
                    <a:pt x="22" y="23"/>
                    <a:pt x="22" y="23"/>
                    <a:pt x="22" y="23"/>
                  </a:cubicBezTo>
                  <a:cubicBezTo>
                    <a:pt x="22" y="22"/>
                    <a:pt x="22" y="22"/>
                    <a:pt x="22" y="22"/>
                  </a:cubicBezTo>
                  <a:cubicBezTo>
                    <a:pt x="23" y="21"/>
                    <a:pt x="23" y="21"/>
                    <a:pt x="23" y="21"/>
                  </a:cubicBezTo>
                  <a:cubicBezTo>
                    <a:pt x="23" y="20"/>
                    <a:pt x="23" y="20"/>
                    <a:pt x="23" y="20"/>
                  </a:cubicBezTo>
                  <a:cubicBezTo>
                    <a:pt x="24" y="20"/>
                    <a:pt x="24" y="20"/>
                    <a:pt x="24" y="20"/>
                  </a:cubicBezTo>
                  <a:cubicBezTo>
                    <a:pt x="26" y="21"/>
                    <a:pt x="28" y="22"/>
                    <a:pt x="30" y="22"/>
                  </a:cubicBezTo>
                  <a:cubicBezTo>
                    <a:pt x="32" y="23"/>
                    <a:pt x="32" y="23"/>
                    <a:pt x="32" y="23"/>
                  </a:cubicBezTo>
                  <a:cubicBezTo>
                    <a:pt x="33" y="23"/>
                    <a:pt x="33" y="23"/>
                    <a:pt x="33" y="23"/>
                  </a:cubicBezTo>
                  <a:cubicBezTo>
                    <a:pt x="34" y="24"/>
                    <a:pt x="35" y="25"/>
                    <a:pt x="36" y="25"/>
                  </a:cubicBezTo>
                  <a:cubicBezTo>
                    <a:pt x="36" y="25"/>
                    <a:pt x="37" y="25"/>
                    <a:pt x="37" y="25"/>
                  </a:cubicBezTo>
                  <a:cubicBezTo>
                    <a:pt x="38" y="23"/>
                    <a:pt x="39" y="22"/>
                    <a:pt x="39" y="21"/>
                  </a:cubicBezTo>
                  <a:cubicBezTo>
                    <a:pt x="39" y="21"/>
                    <a:pt x="39" y="21"/>
                    <a:pt x="39" y="21"/>
                  </a:cubicBezTo>
                  <a:cubicBezTo>
                    <a:pt x="39" y="21"/>
                    <a:pt x="40" y="21"/>
                    <a:pt x="40" y="21"/>
                  </a:cubicBezTo>
                  <a:cubicBezTo>
                    <a:pt x="39" y="21"/>
                    <a:pt x="39" y="21"/>
                    <a:pt x="39" y="21"/>
                  </a:cubicBezTo>
                  <a:cubicBezTo>
                    <a:pt x="39" y="20"/>
                    <a:pt x="39" y="20"/>
                    <a:pt x="39" y="20"/>
                  </a:cubicBezTo>
                  <a:cubicBezTo>
                    <a:pt x="39" y="20"/>
                    <a:pt x="40" y="20"/>
                    <a:pt x="40" y="20"/>
                  </a:cubicBezTo>
                  <a:cubicBezTo>
                    <a:pt x="43" y="19"/>
                    <a:pt x="47" y="17"/>
                    <a:pt x="50" y="16"/>
                  </a:cubicBezTo>
                  <a:cubicBezTo>
                    <a:pt x="51" y="15"/>
                    <a:pt x="52" y="15"/>
                    <a:pt x="51" y="14"/>
                  </a:cubicBezTo>
                  <a:cubicBezTo>
                    <a:pt x="51" y="13"/>
                    <a:pt x="51" y="13"/>
                    <a:pt x="51" y="13"/>
                  </a:cubicBezTo>
                  <a:moveTo>
                    <a:pt x="37" y="15"/>
                  </a:moveTo>
                  <a:cubicBezTo>
                    <a:pt x="38" y="14"/>
                    <a:pt x="38" y="14"/>
                    <a:pt x="38" y="14"/>
                  </a:cubicBezTo>
                  <a:cubicBezTo>
                    <a:pt x="39" y="13"/>
                    <a:pt x="39" y="13"/>
                    <a:pt x="39" y="13"/>
                  </a:cubicBezTo>
                  <a:cubicBezTo>
                    <a:pt x="39" y="13"/>
                    <a:pt x="39" y="12"/>
                    <a:pt x="38" y="12"/>
                  </a:cubicBezTo>
                  <a:cubicBezTo>
                    <a:pt x="38" y="12"/>
                    <a:pt x="38" y="12"/>
                    <a:pt x="38" y="12"/>
                  </a:cubicBezTo>
                  <a:cubicBezTo>
                    <a:pt x="38" y="12"/>
                    <a:pt x="38" y="12"/>
                    <a:pt x="38" y="12"/>
                  </a:cubicBezTo>
                  <a:cubicBezTo>
                    <a:pt x="37" y="12"/>
                    <a:pt x="37" y="12"/>
                    <a:pt x="37" y="12"/>
                  </a:cubicBezTo>
                  <a:cubicBezTo>
                    <a:pt x="36" y="11"/>
                    <a:pt x="36" y="11"/>
                    <a:pt x="36" y="11"/>
                  </a:cubicBezTo>
                  <a:cubicBezTo>
                    <a:pt x="36" y="11"/>
                    <a:pt x="36" y="11"/>
                    <a:pt x="36" y="11"/>
                  </a:cubicBezTo>
                  <a:cubicBezTo>
                    <a:pt x="37" y="10"/>
                    <a:pt x="37" y="10"/>
                    <a:pt x="37" y="10"/>
                  </a:cubicBezTo>
                  <a:cubicBezTo>
                    <a:pt x="36" y="10"/>
                    <a:pt x="36" y="10"/>
                    <a:pt x="36" y="10"/>
                  </a:cubicBezTo>
                  <a:cubicBezTo>
                    <a:pt x="37" y="10"/>
                    <a:pt x="37" y="10"/>
                    <a:pt x="37" y="10"/>
                  </a:cubicBezTo>
                  <a:cubicBezTo>
                    <a:pt x="40" y="9"/>
                    <a:pt x="40" y="9"/>
                    <a:pt x="40" y="9"/>
                  </a:cubicBezTo>
                  <a:cubicBezTo>
                    <a:pt x="40" y="9"/>
                    <a:pt x="40" y="9"/>
                    <a:pt x="40" y="9"/>
                  </a:cubicBezTo>
                  <a:cubicBezTo>
                    <a:pt x="41" y="9"/>
                    <a:pt x="41" y="9"/>
                    <a:pt x="41" y="9"/>
                  </a:cubicBezTo>
                  <a:cubicBezTo>
                    <a:pt x="41" y="10"/>
                    <a:pt x="43" y="11"/>
                    <a:pt x="43" y="13"/>
                  </a:cubicBezTo>
                  <a:cubicBezTo>
                    <a:pt x="43" y="14"/>
                    <a:pt x="43" y="14"/>
                    <a:pt x="43" y="14"/>
                  </a:cubicBezTo>
                  <a:cubicBezTo>
                    <a:pt x="42" y="15"/>
                    <a:pt x="40" y="16"/>
                    <a:pt x="38" y="16"/>
                  </a:cubicBezTo>
                  <a:cubicBezTo>
                    <a:pt x="38" y="16"/>
                    <a:pt x="38" y="16"/>
                    <a:pt x="38" y="16"/>
                  </a:cubicBezTo>
                  <a:cubicBezTo>
                    <a:pt x="38" y="15"/>
                    <a:pt x="38" y="15"/>
                    <a:pt x="38" y="15"/>
                  </a:cubicBezTo>
                  <a:cubicBezTo>
                    <a:pt x="37" y="15"/>
                    <a:pt x="37" y="15"/>
                    <a:pt x="37" y="15"/>
                  </a:cubicBez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52" name="Freeform 138"/>
            <p:cNvSpPr/>
            <p:nvPr userDrawn="1"/>
          </p:nvSpPr>
          <p:spPr bwMode="auto">
            <a:xfrm>
              <a:off x="1239" y="750"/>
              <a:ext cx="10" cy="19"/>
            </a:xfrm>
            <a:custGeom>
              <a:avLst/>
              <a:gdLst>
                <a:gd name="T0" fmla="*/ 2 w 8"/>
                <a:gd name="T1" fmla="*/ 15 h 15"/>
                <a:gd name="T2" fmla="*/ 0 w 8"/>
                <a:gd name="T3" fmla="*/ 14 h 15"/>
                <a:gd name="T4" fmla="*/ 2 w 8"/>
                <a:gd name="T5" fmla="*/ 9 h 15"/>
                <a:gd name="T6" fmla="*/ 3 w 8"/>
                <a:gd name="T7" fmla="*/ 8 h 15"/>
                <a:gd name="T8" fmla="*/ 3 w 8"/>
                <a:gd name="T9" fmla="*/ 8 h 15"/>
                <a:gd name="T10" fmla="*/ 3 w 8"/>
                <a:gd name="T11" fmla="*/ 7 h 15"/>
                <a:gd name="T12" fmla="*/ 4 w 8"/>
                <a:gd name="T13" fmla="*/ 5 h 15"/>
                <a:gd name="T14" fmla="*/ 5 w 8"/>
                <a:gd name="T15" fmla="*/ 4 h 15"/>
                <a:gd name="T16" fmla="*/ 7 w 8"/>
                <a:gd name="T17" fmla="*/ 0 h 15"/>
                <a:gd name="T18" fmla="*/ 8 w 8"/>
                <a:gd name="T19" fmla="*/ 1 h 15"/>
                <a:gd name="T20" fmla="*/ 8 w 8"/>
                <a:gd name="T21" fmla="*/ 2 h 15"/>
                <a:gd name="T22" fmla="*/ 8 w 8"/>
                <a:gd name="T23" fmla="*/ 2 h 15"/>
                <a:gd name="T24" fmla="*/ 8 w 8"/>
                <a:gd name="T25" fmla="*/ 3 h 15"/>
                <a:gd name="T26" fmla="*/ 8 w 8"/>
                <a:gd name="T27" fmla="*/ 7 h 15"/>
                <a:gd name="T28" fmla="*/ 8 w 8"/>
                <a:gd name="T29" fmla="*/ 8 h 15"/>
                <a:gd name="T30" fmla="*/ 8 w 8"/>
                <a:gd name="T31" fmla="*/ 9 h 15"/>
                <a:gd name="T32" fmla="*/ 6 w 8"/>
                <a:gd name="T33" fmla="*/ 13 h 15"/>
                <a:gd name="T34" fmla="*/ 5 w 8"/>
                <a:gd name="T35" fmla="*/ 14 h 15"/>
                <a:gd name="T36" fmla="*/ 5 w 8"/>
                <a:gd name="T37" fmla="*/ 14 h 15"/>
                <a:gd name="T38" fmla="*/ 3 w 8"/>
                <a:gd name="T39" fmla="*/ 15 h 15"/>
                <a:gd name="T40" fmla="*/ 2 w 8"/>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 h="15">
                  <a:moveTo>
                    <a:pt x="2" y="15"/>
                  </a:moveTo>
                  <a:cubicBezTo>
                    <a:pt x="2" y="15"/>
                    <a:pt x="1" y="14"/>
                    <a:pt x="0" y="14"/>
                  </a:cubicBezTo>
                  <a:cubicBezTo>
                    <a:pt x="0" y="12"/>
                    <a:pt x="1" y="11"/>
                    <a:pt x="2" y="9"/>
                  </a:cubicBezTo>
                  <a:cubicBezTo>
                    <a:pt x="2" y="9"/>
                    <a:pt x="3" y="8"/>
                    <a:pt x="3" y="8"/>
                  </a:cubicBezTo>
                  <a:cubicBezTo>
                    <a:pt x="3" y="8"/>
                    <a:pt x="3" y="8"/>
                    <a:pt x="3" y="8"/>
                  </a:cubicBezTo>
                  <a:cubicBezTo>
                    <a:pt x="3" y="7"/>
                    <a:pt x="3" y="7"/>
                    <a:pt x="3" y="7"/>
                  </a:cubicBezTo>
                  <a:cubicBezTo>
                    <a:pt x="4" y="7"/>
                    <a:pt x="4" y="6"/>
                    <a:pt x="4" y="5"/>
                  </a:cubicBezTo>
                  <a:cubicBezTo>
                    <a:pt x="4" y="5"/>
                    <a:pt x="4" y="4"/>
                    <a:pt x="5" y="4"/>
                  </a:cubicBezTo>
                  <a:cubicBezTo>
                    <a:pt x="5" y="2"/>
                    <a:pt x="6" y="0"/>
                    <a:pt x="7" y="0"/>
                  </a:cubicBezTo>
                  <a:cubicBezTo>
                    <a:pt x="7" y="0"/>
                    <a:pt x="8" y="0"/>
                    <a:pt x="8" y="1"/>
                  </a:cubicBezTo>
                  <a:cubicBezTo>
                    <a:pt x="8" y="1"/>
                    <a:pt x="8" y="1"/>
                    <a:pt x="8" y="2"/>
                  </a:cubicBezTo>
                  <a:cubicBezTo>
                    <a:pt x="8" y="2"/>
                    <a:pt x="8" y="2"/>
                    <a:pt x="8" y="2"/>
                  </a:cubicBezTo>
                  <a:cubicBezTo>
                    <a:pt x="8" y="3"/>
                    <a:pt x="8" y="3"/>
                    <a:pt x="8" y="3"/>
                  </a:cubicBezTo>
                  <a:cubicBezTo>
                    <a:pt x="8" y="5"/>
                    <a:pt x="8" y="6"/>
                    <a:pt x="8" y="7"/>
                  </a:cubicBezTo>
                  <a:cubicBezTo>
                    <a:pt x="8" y="8"/>
                    <a:pt x="8" y="8"/>
                    <a:pt x="8" y="8"/>
                  </a:cubicBezTo>
                  <a:cubicBezTo>
                    <a:pt x="8" y="8"/>
                    <a:pt x="8" y="9"/>
                    <a:pt x="8" y="9"/>
                  </a:cubicBezTo>
                  <a:cubicBezTo>
                    <a:pt x="7" y="11"/>
                    <a:pt x="7" y="12"/>
                    <a:pt x="6" y="13"/>
                  </a:cubicBezTo>
                  <a:cubicBezTo>
                    <a:pt x="5" y="14"/>
                    <a:pt x="5" y="14"/>
                    <a:pt x="5" y="14"/>
                  </a:cubicBezTo>
                  <a:cubicBezTo>
                    <a:pt x="5" y="14"/>
                    <a:pt x="5" y="14"/>
                    <a:pt x="5" y="14"/>
                  </a:cubicBezTo>
                  <a:cubicBezTo>
                    <a:pt x="4" y="14"/>
                    <a:pt x="3" y="15"/>
                    <a:pt x="3" y="15"/>
                  </a:cubicBezTo>
                  <a:lnTo>
                    <a:pt x="2" y="15"/>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53" name="Freeform 139"/>
            <p:cNvSpPr/>
            <p:nvPr userDrawn="1"/>
          </p:nvSpPr>
          <p:spPr bwMode="auto">
            <a:xfrm>
              <a:off x="1239" y="750"/>
              <a:ext cx="10" cy="19"/>
            </a:xfrm>
            <a:custGeom>
              <a:avLst/>
              <a:gdLst>
                <a:gd name="T0" fmla="*/ 2 w 8"/>
                <a:gd name="T1" fmla="*/ 15 h 15"/>
                <a:gd name="T2" fmla="*/ 3 w 8"/>
                <a:gd name="T3" fmla="*/ 15 h 15"/>
                <a:gd name="T4" fmla="*/ 5 w 8"/>
                <a:gd name="T5" fmla="*/ 14 h 15"/>
                <a:gd name="T6" fmla="*/ 5 w 8"/>
                <a:gd name="T7" fmla="*/ 14 h 15"/>
                <a:gd name="T8" fmla="*/ 6 w 8"/>
                <a:gd name="T9" fmla="*/ 13 h 15"/>
                <a:gd name="T10" fmla="*/ 8 w 8"/>
                <a:gd name="T11" fmla="*/ 9 h 15"/>
                <a:gd name="T12" fmla="*/ 8 w 8"/>
                <a:gd name="T13" fmla="*/ 8 h 15"/>
                <a:gd name="T14" fmla="*/ 8 w 8"/>
                <a:gd name="T15" fmla="*/ 7 h 15"/>
                <a:gd name="T16" fmla="*/ 8 w 8"/>
                <a:gd name="T17" fmla="*/ 3 h 15"/>
                <a:gd name="T18" fmla="*/ 8 w 8"/>
                <a:gd name="T19" fmla="*/ 2 h 15"/>
                <a:gd name="T20" fmla="*/ 8 w 8"/>
                <a:gd name="T21" fmla="*/ 2 h 15"/>
                <a:gd name="T22" fmla="*/ 8 w 8"/>
                <a:gd name="T23" fmla="*/ 2 h 15"/>
                <a:gd name="T24" fmla="*/ 8 w 8"/>
                <a:gd name="T25" fmla="*/ 1 h 15"/>
                <a:gd name="T26" fmla="*/ 7 w 8"/>
                <a:gd name="T27" fmla="*/ 0 h 15"/>
                <a:gd name="T28" fmla="*/ 5 w 8"/>
                <a:gd name="T29" fmla="*/ 4 h 15"/>
                <a:gd name="T30" fmla="*/ 4 w 8"/>
                <a:gd name="T31" fmla="*/ 5 h 15"/>
                <a:gd name="T32" fmla="*/ 3 w 8"/>
                <a:gd name="T33" fmla="*/ 7 h 15"/>
                <a:gd name="T34" fmla="*/ 3 w 8"/>
                <a:gd name="T35" fmla="*/ 8 h 15"/>
                <a:gd name="T36" fmla="*/ 3 w 8"/>
                <a:gd name="T37" fmla="*/ 8 h 15"/>
                <a:gd name="T38" fmla="*/ 2 w 8"/>
                <a:gd name="T39" fmla="*/ 9 h 15"/>
                <a:gd name="T40" fmla="*/ 0 w 8"/>
                <a:gd name="T41" fmla="*/ 14 h 15"/>
                <a:gd name="T42" fmla="*/ 2 w 8"/>
                <a:gd name="T43"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 h="15">
                  <a:moveTo>
                    <a:pt x="2" y="15"/>
                  </a:moveTo>
                  <a:cubicBezTo>
                    <a:pt x="3" y="15"/>
                    <a:pt x="3" y="15"/>
                    <a:pt x="3" y="15"/>
                  </a:cubicBezTo>
                  <a:cubicBezTo>
                    <a:pt x="3" y="15"/>
                    <a:pt x="4" y="14"/>
                    <a:pt x="5" y="14"/>
                  </a:cubicBezTo>
                  <a:cubicBezTo>
                    <a:pt x="5" y="14"/>
                    <a:pt x="5" y="14"/>
                    <a:pt x="5" y="14"/>
                  </a:cubicBezTo>
                  <a:cubicBezTo>
                    <a:pt x="6" y="13"/>
                    <a:pt x="6" y="13"/>
                    <a:pt x="6" y="13"/>
                  </a:cubicBezTo>
                  <a:cubicBezTo>
                    <a:pt x="7" y="12"/>
                    <a:pt x="7" y="10"/>
                    <a:pt x="8" y="9"/>
                  </a:cubicBezTo>
                  <a:cubicBezTo>
                    <a:pt x="8" y="9"/>
                    <a:pt x="8" y="8"/>
                    <a:pt x="8" y="8"/>
                  </a:cubicBezTo>
                  <a:cubicBezTo>
                    <a:pt x="8" y="7"/>
                    <a:pt x="8" y="7"/>
                    <a:pt x="8" y="7"/>
                  </a:cubicBezTo>
                  <a:cubicBezTo>
                    <a:pt x="8" y="6"/>
                    <a:pt x="8" y="5"/>
                    <a:pt x="8" y="3"/>
                  </a:cubicBezTo>
                  <a:cubicBezTo>
                    <a:pt x="8" y="3"/>
                    <a:pt x="8" y="3"/>
                    <a:pt x="8" y="2"/>
                  </a:cubicBezTo>
                  <a:cubicBezTo>
                    <a:pt x="8" y="2"/>
                    <a:pt x="8" y="2"/>
                    <a:pt x="8" y="2"/>
                  </a:cubicBezTo>
                  <a:cubicBezTo>
                    <a:pt x="8" y="2"/>
                    <a:pt x="8" y="2"/>
                    <a:pt x="8" y="2"/>
                  </a:cubicBezTo>
                  <a:cubicBezTo>
                    <a:pt x="8" y="1"/>
                    <a:pt x="8" y="1"/>
                    <a:pt x="8" y="1"/>
                  </a:cubicBezTo>
                  <a:cubicBezTo>
                    <a:pt x="8" y="0"/>
                    <a:pt x="7" y="0"/>
                    <a:pt x="7" y="0"/>
                  </a:cubicBezTo>
                  <a:cubicBezTo>
                    <a:pt x="6" y="0"/>
                    <a:pt x="5" y="2"/>
                    <a:pt x="5" y="4"/>
                  </a:cubicBezTo>
                  <a:cubicBezTo>
                    <a:pt x="5" y="4"/>
                    <a:pt x="4" y="5"/>
                    <a:pt x="4" y="5"/>
                  </a:cubicBezTo>
                  <a:cubicBezTo>
                    <a:pt x="4" y="6"/>
                    <a:pt x="4" y="7"/>
                    <a:pt x="3" y="7"/>
                  </a:cubicBezTo>
                  <a:cubicBezTo>
                    <a:pt x="3" y="8"/>
                    <a:pt x="3" y="8"/>
                    <a:pt x="3" y="8"/>
                  </a:cubicBezTo>
                  <a:cubicBezTo>
                    <a:pt x="3" y="8"/>
                    <a:pt x="3" y="8"/>
                    <a:pt x="3" y="8"/>
                  </a:cubicBezTo>
                  <a:cubicBezTo>
                    <a:pt x="3" y="8"/>
                    <a:pt x="2" y="9"/>
                    <a:pt x="2" y="9"/>
                  </a:cubicBezTo>
                  <a:cubicBezTo>
                    <a:pt x="1" y="11"/>
                    <a:pt x="0" y="12"/>
                    <a:pt x="0" y="14"/>
                  </a:cubicBezTo>
                  <a:cubicBezTo>
                    <a:pt x="1" y="14"/>
                    <a:pt x="2" y="15"/>
                    <a:pt x="2" y="15"/>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54" name="Freeform 140"/>
            <p:cNvSpPr/>
            <p:nvPr userDrawn="1"/>
          </p:nvSpPr>
          <p:spPr bwMode="auto">
            <a:xfrm>
              <a:off x="1229" y="757"/>
              <a:ext cx="7" cy="9"/>
            </a:xfrm>
            <a:custGeom>
              <a:avLst/>
              <a:gdLst>
                <a:gd name="T0" fmla="*/ 3 w 6"/>
                <a:gd name="T1" fmla="*/ 7 h 7"/>
                <a:gd name="T2" fmla="*/ 1 w 6"/>
                <a:gd name="T3" fmla="*/ 6 h 7"/>
                <a:gd name="T4" fmla="*/ 5 w 6"/>
                <a:gd name="T5" fmla="*/ 0 h 7"/>
                <a:gd name="T6" fmla="*/ 6 w 6"/>
                <a:gd name="T7" fmla="*/ 1 h 7"/>
                <a:gd name="T8" fmla="*/ 5 w 6"/>
                <a:gd name="T9" fmla="*/ 5 h 7"/>
                <a:gd name="T10" fmla="*/ 3 w 6"/>
                <a:gd name="T11" fmla="*/ 7 h 7"/>
              </a:gdLst>
              <a:ahLst/>
              <a:cxnLst>
                <a:cxn ang="0">
                  <a:pos x="T0" y="T1"/>
                </a:cxn>
                <a:cxn ang="0">
                  <a:pos x="T2" y="T3"/>
                </a:cxn>
                <a:cxn ang="0">
                  <a:pos x="T4" y="T5"/>
                </a:cxn>
                <a:cxn ang="0">
                  <a:pos x="T6" y="T7"/>
                </a:cxn>
                <a:cxn ang="0">
                  <a:pos x="T8" y="T9"/>
                </a:cxn>
                <a:cxn ang="0">
                  <a:pos x="T10" y="T11"/>
                </a:cxn>
              </a:cxnLst>
              <a:rect l="0" t="0" r="r" b="b"/>
              <a:pathLst>
                <a:path w="6" h="7">
                  <a:moveTo>
                    <a:pt x="3" y="7"/>
                  </a:moveTo>
                  <a:cubicBezTo>
                    <a:pt x="3" y="7"/>
                    <a:pt x="2" y="6"/>
                    <a:pt x="1" y="6"/>
                  </a:cubicBezTo>
                  <a:cubicBezTo>
                    <a:pt x="0" y="3"/>
                    <a:pt x="4" y="0"/>
                    <a:pt x="5" y="0"/>
                  </a:cubicBezTo>
                  <a:cubicBezTo>
                    <a:pt x="5" y="0"/>
                    <a:pt x="6" y="1"/>
                    <a:pt x="6" y="1"/>
                  </a:cubicBezTo>
                  <a:cubicBezTo>
                    <a:pt x="6" y="2"/>
                    <a:pt x="6" y="4"/>
                    <a:pt x="5" y="5"/>
                  </a:cubicBezTo>
                  <a:cubicBezTo>
                    <a:pt x="4" y="6"/>
                    <a:pt x="3" y="7"/>
                    <a:pt x="3" y="7"/>
                  </a:cubicBez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55" name="Freeform 141"/>
            <p:cNvSpPr/>
            <p:nvPr userDrawn="1"/>
          </p:nvSpPr>
          <p:spPr bwMode="auto">
            <a:xfrm>
              <a:off x="1229" y="757"/>
              <a:ext cx="7" cy="9"/>
            </a:xfrm>
            <a:custGeom>
              <a:avLst/>
              <a:gdLst>
                <a:gd name="T0" fmla="*/ 3 w 6"/>
                <a:gd name="T1" fmla="*/ 7 h 7"/>
                <a:gd name="T2" fmla="*/ 3 w 6"/>
                <a:gd name="T3" fmla="*/ 7 h 7"/>
                <a:gd name="T4" fmla="*/ 5 w 6"/>
                <a:gd name="T5" fmla="*/ 5 h 7"/>
                <a:gd name="T6" fmla="*/ 6 w 6"/>
                <a:gd name="T7" fmla="*/ 1 h 7"/>
                <a:gd name="T8" fmla="*/ 5 w 6"/>
                <a:gd name="T9" fmla="*/ 0 h 7"/>
                <a:gd name="T10" fmla="*/ 1 w 6"/>
                <a:gd name="T11" fmla="*/ 6 h 7"/>
                <a:gd name="T12" fmla="*/ 3 w 6"/>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6" h="7">
                  <a:moveTo>
                    <a:pt x="3" y="7"/>
                  </a:moveTo>
                  <a:cubicBezTo>
                    <a:pt x="3" y="7"/>
                    <a:pt x="3" y="7"/>
                    <a:pt x="3" y="7"/>
                  </a:cubicBezTo>
                  <a:cubicBezTo>
                    <a:pt x="3" y="7"/>
                    <a:pt x="4" y="6"/>
                    <a:pt x="5" y="5"/>
                  </a:cubicBezTo>
                  <a:cubicBezTo>
                    <a:pt x="6" y="4"/>
                    <a:pt x="6" y="2"/>
                    <a:pt x="6" y="1"/>
                  </a:cubicBezTo>
                  <a:cubicBezTo>
                    <a:pt x="6" y="1"/>
                    <a:pt x="5" y="0"/>
                    <a:pt x="5" y="0"/>
                  </a:cubicBezTo>
                  <a:cubicBezTo>
                    <a:pt x="4" y="0"/>
                    <a:pt x="0" y="3"/>
                    <a:pt x="1" y="6"/>
                  </a:cubicBezTo>
                  <a:cubicBezTo>
                    <a:pt x="2" y="6"/>
                    <a:pt x="3" y="7"/>
                    <a:pt x="3" y="7"/>
                  </a:cubicBezTo>
                </a:path>
              </a:pathLst>
            </a:custGeom>
            <a:solidFill>
              <a:srgbClr val="003F88"/>
            </a:solidFill>
            <a:ln>
              <a:noFill/>
            </a:ln>
          </p:spPr>
          <p:txBody>
            <a:bodyPr vert="horz" wrap="square" lIns="91440" tIns="45720" rIns="91440" bIns="45720" numCol="1" anchor="t" anchorCtr="0" compatLnSpc="1"/>
            <a:lstStyle/>
            <a:p>
              <a:endParaRPr lang="zh-CN" altLang="en-US"/>
            </a:p>
          </p:txBody>
        </p:sp>
      </p:grpSp>
      <p:sp>
        <p:nvSpPr>
          <p:cNvPr id="77" name="文本占位符 77"/>
          <p:cNvSpPr>
            <a:spLocks noGrp="1"/>
          </p:cNvSpPr>
          <p:nvPr>
            <p:ph type="body" sz="quarter" idx="11" hasCustomPrompt="1"/>
          </p:nvPr>
        </p:nvSpPr>
        <p:spPr>
          <a:xfrm>
            <a:off x="1514476" y="2442615"/>
            <a:ext cx="7754400" cy="721821"/>
          </a:xfrm>
          <a:prstGeom prst="rect">
            <a:avLst/>
          </a:prstGeom>
        </p:spPr>
        <p:txBody>
          <a:bodyPr lIns="0" rIns="0" anchor="ctr"/>
          <a:lstStyle>
            <a:lvl1pPr marL="0" indent="0" algn="l">
              <a:lnSpc>
                <a:spcPct val="100000"/>
              </a:lnSpc>
              <a:buNone/>
              <a:defRPr sz="4800" b="1">
                <a:solidFill>
                  <a:schemeClr val="tx1"/>
                </a:solidFill>
                <a:latin typeface="方正粗雅宋简体" panose="02000000000000000000" pitchFamily="2" charset="-122"/>
                <a:ea typeface="方正粗雅宋简体" panose="02000000000000000000"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单击此处编辑答辩报告题目</a:t>
            </a:r>
          </a:p>
        </p:txBody>
      </p:sp>
      <p:sp>
        <p:nvSpPr>
          <p:cNvPr id="78" name="文本占位符 77"/>
          <p:cNvSpPr>
            <a:spLocks noGrp="1"/>
          </p:cNvSpPr>
          <p:nvPr>
            <p:ph type="body" sz="quarter" idx="15" hasCustomPrompt="1"/>
          </p:nvPr>
        </p:nvSpPr>
        <p:spPr>
          <a:xfrm>
            <a:off x="1514476" y="3343161"/>
            <a:ext cx="3231228" cy="485081"/>
          </a:xfrm>
          <a:prstGeom prst="rect">
            <a:avLst/>
          </a:prstGeom>
        </p:spPr>
        <p:txBody>
          <a:bodyPr lIns="0" rIns="0" anchor="ctr"/>
          <a:lstStyle>
            <a:lvl1pPr marL="0" indent="0" algn="dist">
              <a:lnSpc>
                <a:spcPct val="100000"/>
              </a:lnSpc>
              <a:buNone/>
              <a:defRPr sz="2400" b="1">
                <a:solidFill>
                  <a:schemeClr val="tx2"/>
                </a:solidFill>
                <a:latin typeface="方正粗雅宋简体" panose="02000000000000000000" pitchFamily="2" charset="-122"/>
                <a:ea typeface="方正粗雅宋简体" panose="02000000000000000000"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单击编辑答辩副标题</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a:xfrm>
            <a:off x="718218" y="202011"/>
            <a:ext cx="8655953" cy="601075"/>
          </a:xfrm>
          <a:prstGeom prst="rect">
            <a:avLst/>
          </a:prstGeom>
        </p:spPr>
        <p:txBody>
          <a:bodyPr lIns="0" rIns="0" anchor="ctr">
            <a:normAutofit/>
          </a:bodyPr>
          <a:lstStyle>
            <a:lvl1pPr>
              <a:defRPr sz="2800" b="1">
                <a:latin typeface="方正粗雅宋简体" panose="02000000000000000000" pitchFamily="2" charset="-122"/>
                <a:ea typeface="方正粗雅宋简体" panose="02000000000000000000" pitchFamily="2" charset="-122"/>
              </a:defRPr>
            </a:lvl1pPr>
          </a:lstStyle>
          <a:p>
            <a:r>
              <a:rPr lang="zh-CN" altLang="en-US" dirty="0"/>
              <a:t>单击此处编辑母版标题样式</a:t>
            </a:r>
          </a:p>
        </p:txBody>
      </p:sp>
      <p:sp>
        <p:nvSpPr>
          <p:cNvPr id="5" name="灯片编号占位符 4"/>
          <p:cNvSpPr>
            <a:spLocks noGrp="1"/>
          </p:cNvSpPr>
          <p:nvPr>
            <p:ph type="sldNum" sz="quarter" idx="12"/>
          </p:nvPr>
        </p:nvSpPr>
        <p:spPr>
          <a:xfrm>
            <a:off x="9137021" y="6494335"/>
            <a:ext cx="2743200" cy="341761"/>
          </a:xfrm>
          <a:prstGeom prst="rect">
            <a:avLst/>
          </a:prstGeom>
        </p:spPr>
        <p:txBody>
          <a:bodyPr/>
          <a:lstStyle>
            <a:lvl1pPr algn="r">
              <a:defRPr sz="1100" b="1" i="0">
                <a:solidFill>
                  <a:schemeClr val="accent1"/>
                </a:solidFill>
              </a:defRPr>
            </a:lvl1pPr>
          </a:lstStyle>
          <a:p>
            <a:fld id="{1AAC388E-FA9E-4A2C-95EA-1F6B3A07935A}" type="slidenum">
              <a:rPr lang="zh-CN" altLang="en-US" smtClean="0"/>
              <a:t>‹#›</a:t>
            </a:fld>
            <a:endParaRPr lang="zh-CN" altLang="en-US" dirty="0"/>
          </a:p>
        </p:txBody>
      </p:sp>
      <p:grpSp>
        <p:nvGrpSpPr>
          <p:cNvPr id="6" name="Group 74"/>
          <p:cNvGrpSpPr>
            <a:grpSpLocks noChangeAspect="1"/>
          </p:cNvGrpSpPr>
          <p:nvPr userDrawn="1"/>
        </p:nvGrpSpPr>
        <p:grpSpPr bwMode="auto">
          <a:xfrm>
            <a:off x="9961824" y="317195"/>
            <a:ext cx="1557337" cy="433207"/>
            <a:chOff x="954" y="660"/>
            <a:chExt cx="1269" cy="353"/>
          </a:xfrm>
        </p:grpSpPr>
        <p:sp>
          <p:nvSpPr>
            <p:cNvPr id="7" name="Freeform 75"/>
            <p:cNvSpPr/>
            <p:nvPr userDrawn="1"/>
          </p:nvSpPr>
          <p:spPr bwMode="auto">
            <a:xfrm>
              <a:off x="1968" y="833"/>
              <a:ext cx="45" cy="46"/>
            </a:xfrm>
            <a:custGeom>
              <a:avLst/>
              <a:gdLst>
                <a:gd name="T0" fmla="*/ 10 w 36"/>
                <a:gd name="T1" fmla="*/ 35 h 37"/>
                <a:gd name="T2" fmla="*/ 6 w 36"/>
                <a:gd name="T3" fmla="*/ 25 h 37"/>
                <a:gd name="T4" fmla="*/ 0 w 36"/>
                <a:gd name="T5" fmla="*/ 11 h 37"/>
                <a:gd name="T6" fmla="*/ 23 w 36"/>
                <a:gd name="T7" fmla="*/ 4 h 37"/>
                <a:gd name="T8" fmla="*/ 28 w 36"/>
                <a:gd name="T9" fmla="*/ 9 h 37"/>
                <a:gd name="T10" fmla="*/ 30 w 36"/>
                <a:gd name="T11" fmla="*/ 29 h 37"/>
                <a:gd name="T12" fmla="*/ 10 w 36"/>
                <a:gd name="T13" fmla="*/ 35 h 37"/>
              </a:gdLst>
              <a:ahLst/>
              <a:cxnLst>
                <a:cxn ang="0">
                  <a:pos x="T0" y="T1"/>
                </a:cxn>
                <a:cxn ang="0">
                  <a:pos x="T2" y="T3"/>
                </a:cxn>
                <a:cxn ang="0">
                  <a:pos x="T4" y="T5"/>
                </a:cxn>
                <a:cxn ang="0">
                  <a:pos x="T6" y="T7"/>
                </a:cxn>
                <a:cxn ang="0">
                  <a:pos x="T8" y="T9"/>
                </a:cxn>
                <a:cxn ang="0">
                  <a:pos x="T10" y="T11"/>
                </a:cxn>
                <a:cxn ang="0">
                  <a:pos x="T12" y="T13"/>
                </a:cxn>
              </a:cxnLst>
              <a:rect l="0" t="0" r="r" b="b"/>
              <a:pathLst>
                <a:path w="36" h="37">
                  <a:moveTo>
                    <a:pt x="10" y="35"/>
                  </a:moveTo>
                  <a:cubicBezTo>
                    <a:pt x="3" y="34"/>
                    <a:pt x="7" y="31"/>
                    <a:pt x="6" y="25"/>
                  </a:cubicBezTo>
                  <a:cubicBezTo>
                    <a:pt x="5" y="20"/>
                    <a:pt x="0" y="14"/>
                    <a:pt x="0" y="11"/>
                  </a:cubicBezTo>
                  <a:cubicBezTo>
                    <a:pt x="1" y="0"/>
                    <a:pt x="15" y="0"/>
                    <a:pt x="23" y="4"/>
                  </a:cubicBezTo>
                  <a:cubicBezTo>
                    <a:pt x="25" y="4"/>
                    <a:pt x="26" y="7"/>
                    <a:pt x="28" y="9"/>
                  </a:cubicBezTo>
                  <a:cubicBezTo>
                    <a:pt x="32" y="14"/>
                    <a:pt x="36" y="23"/>
                    <a:pt x="30" y="29"/>
                  </a:cubicBezTo>
                  <a:cubicBezTo>
                    <a:pt x="25" y="34"/>
                    <a:pt x="17" y="37"/>
                    <a:pt x="10" y="35"/>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8" name="Freeform 76"/>
            <p:cNvSpPr/>
            <p:nvPr userDrawn="1"/>
          </p:nvSpPr>
          <p:spPr bwMode="auto">
            <a:xfrm>
              <a:off x="1837" y="698"/>
              <a:ext cx="160" cy="165"/>
            </a:xfrm>
            <a:custGeom>
              <a:avLst/>
              <a:gdLst>
                <a:gd name="T0" fmla="*/ 33 w 129"/>
                <a:gd name="T1" fmla="*/ 133 h 133"/>
                <a:gd name="T2" fmla="*/ 32 w 129"/>
                <a:gd name="T3" fmla="*/ 133 h 133"/>
                <a:gd name="T4" fmla="*/ 33 w 129"/>
                <a:gd name="T5" fmla="*/ 130 h 133"/>
                <a:gd name="T6" fmla="*/ 55 w 129"/>
                <a:gd name="T7" fmla="*/ 116 h 133"/>
                <a:gd name="T8" fmla="*/ 67 w 129"/>
                <a:gd name="T9" fmla="*/ 99 h 133"/>
                <a:gd name="T10" fmla="*/ 25 w 129"/>
                <a:gd name="T11" fmla="*/ 115 h 133"/>
                <a:gd name="T12" fmla="*/ 8 w 129"/>
                <a:gd name="T13" fmla="*/ 108 h 133"/>
                <a:gd name="T14" fmla="*/ 8 w 129"/>
                <a:gd name="T15" fmla="*/ 107 h 133"/>
                <a:gd name="T16" fmla="*/ 8 w 129"/>
                <a:gd name="T17" fmla="*/ 92 h 133"/>
                <a:gd name="T18" fmla="*/ 60 w 129"/>
                <a:gd name="T19" fmla="*/ 80 h 133"/>
                <a:gd name="T20" fmla="*/ 75 w 129"/>
                <a:gd name="T21" fmla="*/ 72 h 133"/>
                <a:gd name="T22" fmla="*/ 77 w 129"/>
                <a:gd name="T23" fmla="*/ 14 h 133"/>
                <a:gd name="T24" fmla="*/ 99 w 129"/>
                <a:gd name="T25" fmla="*/ 16 h 133"/>
                <a:gd name="T26" fmla="*/ 103 w 129"/>
                <a:gd name="T27" fmla="*/ 21 h 133"/>
                <a:gd name="T28" fmla="*/ 104 w 129"/>
                <a:gd name="T29" fmla="*/ 21 h 133"/>
                <a:gd name="T30" fmla="*/ 103 w 129"/>
                <a:gd name="T31" fmla="*/ 35 h 133"/>
                <a:gd name="T32" fmla="*/ 98 w 129"/>
                <a:gd name="T33" fmla="*/ 65 h 133"/>
                <a:gd name="T34" fmla="*/ 126 w 129"/>
                <a:gd name="T35" fmla="*/ 54 h 133"/>
                <a:gd name="T36" fmla="*/ 123 w 129"/>
                <a:gd name="T37" fmla="*/ 69 h 133"/>
                <a:gd name="T38" fmla="*/ 95 w 129"/>
                <a:gd name="T39" fmla="*/ 81 h 133"/>
                <a:gd name="T40" fmla="*/ 82 w 129"/>
                <a:gd name="T41" fmla="*/ 111 h 133"/>
                <a:gd name="T42" fmla="*/ 75 w 129"/>
                <a:gd name="T43" fmla="*/ 118 h 133"/>
                <a:gd name="T44" fmla="*/ 56 w 129"/>
                <a:gd name="T45" fmla="*/ 128 h 133"/>
                <a:gd name="T46" fmla="*/ 33 w 129"/>
                <a:gd name="T47" fmla="*/ 13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9" h="133">
                  <a:moveTo>
                    <a:pt x="33" y="133"/>
                  </a:moveTo>
                  <a:cubicBezTo>
                    <a:pt x="33" y="133"/>
                    <a:pt x="33" y="133"/>
                    <a:pt x="32" y="133"/>
                  </a:cubicBezTo>
                  <a:cubicBezTo>
                    <a:pt x="32" y="132"/>
                    <a:pt x="32" y="131"/>
                    <a:pt x="33" y="130"/>
                  </a:cubicBezTo>
                  <a:cubicBezTo>
                    <a:pt x="35" y="130"/>
                    <a:pt x="55" y="117"/>
                    <a:pt x="55" y="116"/>
                  </a:cubicBezTo>
                  <a:cubicBezTo>
                    <a:pt x="60" y="111"/>
                    <a:pt x="66" y="106"/>
                    <a:pt x="67" y="99"/>
                  </a:cubicBezTo>
                  <a:cubicBezTo>
                    <a:pt x="53" y="104"/>
                    <a:pt x="40" y="114"/>
                    <a:pt x="25" y="115"/>
                  </a:cubicBezTo>
                  <a:cubicBezTo>
                    <a:pt x="18" y="113"/>
                    <a:pt x="13" y="110"/>
                    <a:pt x="8" y="108"/>
                  </a:cubicBezTo>
                  <a:cubicBezTo>
                    <a:pt x="8" y="107"/>
                    <a:pt x="8" y="107"/>
                    <a:pt x="8" y="107"/>
                  </a:cubicBezTo>
                  <a:cubicBezTo>
                    <a:pt x="1" y="102"/>
                    <a:pt x="0" y="95"/>
                    <a:pt x="8" y="92"/>
                  </a:cubicBezTo>
                  <a:cubicBezTo>
                    <a:pt x="23" y="96"/>
                    <a:pt x="46" y="85"/>
                    <a:pt x="60" y="80"/>
                  </a:cubicBezTo>
                  <a:cubicBezTo>
                    <a:pt x="63" y="78"/>
                    <a:pt x="72" y="75"/>
                    <a:pt x="75" y="72"/>
                  </a:cubicBezTo>
                  <a:cubicBezTo>
                    <a:pt x="78" y="52"/>
                    <a:pt x="76" y="33"/>
                    <a:pt x="77" y="14"/>
                  </a:cubicBezTo>
                  <a:cubicBezTo>
                    <a:pt x="82" y="0"/>
                    <a:pt x="90" y="10"/>
                    <a:pt x="99" y="16"/>
                  </a:cubicBezTo>
                  <a:cubicBezTo>
                    <a:pt x="99" y="18"/>
                    <a:pt x="101" y="19"/>
                    <a:pt x="103" y="21"/>
                  </a:cubicBezTo>
                  <a:cubicBezTo>
                    <a:pt x="103" y="21"/>
                    <a:pt x="103" y="21"/>
                    <a:pt x="104" y="21"/>
                  </a:cubicBezTo>
                  <a:cubicBezTo>
                    <a:pt x="107" y="27"/>
                    <a:pt x="108" y="30"/>
                    <a:pt x="103" y="35"/>
                  </a:cubicBezTo>
                  <a:cubicBezTo>
                    <a:pt x="99" y="44"/>
                    <a:pt x="97" y="54"/>
                    <a:pt x="98" y="65"/>
                  </a:cubicBezTo>
                  <a:cubicBezTo>
                    <a:pt x="108" y="63"/>
                    <a:pt x="114" y="55"/>
                    <a:pt x="126" y="54"/>
                  </a:cubicBezTo>
                  <a:cubicBezTo>
                    <a:pt x="129" y="60"/>
                    <a:pt x="128" y="65"/>
                    <a:pt x="123" y="69"/>
                  </a:cubicBezTo>
                  <a:cubicBezTo>
                    <a:pt x="114" y="73"/>
                    <a:pt x="105" y="77"/>
                    <a:pt x="95" y="81"/>
                  </a:cubicBezTo>
                  <a:cubicBezTo>
                    <a:pt x="93" y="91"/>
                    <a:pt x="89" y="103"/>
                    <a:pt x="82" y="111"/>
                  </a:cubicBezTo>
                  <a:cubicBezTo>
                    <a:pt x="81" y="113"/>
                    <a:pt x="76" y="117"/>
                    <a:pt x="75" y="118"/>
                  </a:cubicBezTo>
                  <a:cubicBezTo>
                    <a:pt x="69" y="122"/>
                    <a:pt x="63" y="126"/>
                    <a:pt x="56" y="128"/>
                  </a:cubicBezTo>
                  <a:cubicBezTo>
                    <a:pt x="37" y="133"/>
                    <a:pt x="37" y="133"/>
                    <a:pt x="33" y="133"/>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 name="Freeform 77"/>
            <p:cNvSpPr/>
            <p:nvPr userDrawn="1"/>
          </p:nvSpPr>
          <p:spPr bwMode="auto">
            <a:xfrm>
              <a:off x="1630" y="796"/>
              <a:ext cx="94" cy="110"/>
            </a:xfrm>
            <a:custGeom>
              <a:avLst/>
              <a:gdLst>
                <a:gd name="T0" fmla="*/ 17 w 76"/>
                <a:gd name="T1" fmla="*/ 88 h 88"/>
                <a:gd name="T2" fmla="*/ 0 w 76"/>
                <a:gd name="T3" fmla="*/ 70 h 88"/>
                <a:gd name="T4" fmla="*/ 2 w 76"/>
                <a:gd name="T5" fmla="*/ 65 h 88"/>
                <a:gd name="T6" fmla="*/ 50 w 76"/>
                <a:gd name="T7" fmla="*/ 26 h 88"/>
                <a:gd name="T8" fmla="*/ 65 w 76"/>
                <a:gd name="T9" fmla="*/ 5 h 88"/>
                <a:gd name="T10" fmla="*/ 66 w 76"/>
                <a:gd name="T11" fmla="*/ 4 h 88"/>
                <a:gd name="T12" fmla="*/ 66 w 76"/>
                <a:gd name="T13" fmla="*/ 4 h 88"/>
                <a:gd name="T14" fmla="*/ 76 w 76"/>
                <a:gd name="T15" fmla="*/ 5 h 88"/>
                <a:gd name="T16" fmla="*/ 65 w 76"/>
                <a:gd name="T17" fmla="*/ 19 h 88"/>
                <a:gd name="T18" fmla="*/ 54 w 76"/>
                <a:gd name="T19" fmla="*/ 43 h 88"/>
                <a:gd name="T20" fmla="*/ 48 w 76"/>
                <a:gd name="T21" fmla="*/ 54 h 88"/>
                <a:gd name="T22" fmla="*/ 35 w 76"/>
                <a:gd name="T23" fmla="*/ 72 h 88"/>
                <a:gd name="T24" fmla="*/ 21 w 76"/>
                <a:gd name="T25" fmla="*/ 87 h 88"/>
                <a:gd name="T26" fmla="*/ 17 w 76"/>
                <a:gd name="T27"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 h="88">
                  <a:moveTo>
                    <a:pt x="17" y="88"/>
                  </a:moveTo>
                  <a:cubicBezTo>
                    <a:pt x="10" y="84"/>
                    <a:pt x="3" y="76"/>
                    <a:pt x="0" y="70"/>
                  </a:cubicBezTo>
                  <a:cubicBezTo>
                    <a:pt x="0" y="69"/>
                    <a:pt x="1" y="67"/>
                    <a:pt x="2" y="65"/>
                  </a:cubicBezTo>
                  <a:cubicBezTo>
                    <a:pt x="18" y="52"/>
                    <a:pt x="35" y="41"/>
                    <a:pt x="50" y="26"/>
                  </a:cubicBezTo>
                  <a:cubicBezTo>
                    <a:pt x="54" y="19"/>
                    <a:pt x="60" y="12"/>
                    <a:pt x="65" y="5"/>
                  </a:cubicBezTo>
                  <a:cubicBezTo>
                    <a:pt x="65" y="5"/>
                    <a:pt x="66" y="5"/>
                    <a:pt x="66" y="4"/>
                  </a:cubicBezTo>
                  <a:cubicBezTo>
                    <a:pt x="66" y="4"/>
                    <a:pt x="66" y="4"/>
                    <a:pt x="66" y="4"/>
                  </a:cubicBezTo>
                  <a:cubicBezTo>
                    <a:pt x="70" y="0"/>
                    <a:pt x="72" y="0"/>
                    <a:pt x="76" y="5"/>
                  </a:cubicBezTo>
                  <a:cubicBezTo>
                    <a:pt x="76" y="10"/>
                    <a:pt x="68" y="14"/>
                    <a:pt x="65" y="19"/>
                  </a:cubicBezTo>
                  <a:cubicBezTo>
                    <a:pt x="62" y="27"/>
                    <a:pt x="58" y="35"/>
                    <a:pt x="54" y="43"/>
                  </a:cubicBezTo>
                  <a:cubicBezTo>
                    <a:pt x="53" y="45"/>
                    <a:pt x="53" y="45"/>
                    <a:pt x="48" y="54"/>
                  </a:cubicBezTo>
                  <a:cubicBezTo>
                    <a:pt x="43" y="57"/>
                    <a:pt x="37" y="66"/>
                    <a:pt x="35" y="72"/>
                  </a:cubicBezTo>
                  <a:cubicBezTo>
                    <a:pt x="29" y="75"/>
                    <a:pt x="27" y="84"/>
                    <a:pt x="21" y="87"/>
                  </a:cubicBezTo>
                  <a:cubicBezTo>
                    <a:pt x="19" y="87"/>
                    <a:pt x="18" y="87"/>
                    <a:pt x="17" y="88"/>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 name="Freeform 78"/>
            <p:cNvSpPr/>
            <p:nvPr userDrawn="1"/>
          </p:nvSpPr>
          <p:spPr bwMode="auto">
            <a:xfrm>
              <a:off x="1749" y="791"/>
              <a:ext cx="53" cy="41"/>
            </a:xfrm>
            <a:custGeom>
              <a:avLst/>
              <a:gdLst>
                <a:gd name="T0" fmla="*/ 19 w 43"/>
                <a:gd name="T1" fmla="*/ 33 h 33"/>
                <a:gd name="T2" fmla="*/ 0 w 43"/>
                <a:gd name="T3" fmla="*/ 20 h 33"/>
                <a:gd name="T4" fmla="*/ 2 w 43"/>
                <a:gd name="T5" fmla="*/ 14 h 33"/>
                <a:gd name="T6" fmla="*/ 6 w 43"/>
                <a:gd name="T7" fmla="*/ 13 h 33"/>
                <a:gd name="T8" fmla="*/ 17 w 43"/>
                <a:gd name="T9" fmla="*/ 12 h 33"/>
                <a:gd name="T10" fmla="*/ 43 w 43"/>
                <a:gd name="T11" fmla="*/ 5 h 33"/>
                <a:gd name="T12" fmla="*/ 19 w 43"/>
                <a:gd name="T13" fmla="*/ 33 h 33"/>
              </a:gdLst>
              <a:ahLst/>
              <a:cxnLst>
                <a:cxn ang="0">
                  <a:pos x="T0" y="T1"/>
                </a:cxn>
                <a:cxn ang="0">
                  <a:pos x="T2" y="T3"/>
                </a:cxn>
                <a:cxn ang="0">
                  <a:pos x="T4" y="T5"/>
                </a:cxn>
                <a:cxn ang="0">
                  <a:pos x="T6" y="T7"/>
                </a:cxn>
                <a:cxn ang="0">
                  <a:pos x="T8" y="T9"/>
                </a:cxn>
                <a:cxn ang="0">
                  <a:pos x="T10" y="T11"/>
                </a:cxn>
                <a:cxn ang="0">
                  <a:pos x="T12" y="T13"/>
                </a:cxn>
              </a:cxnLst>
              <a:rect l="0" t="0" r="r" b="b"/>
              <a:pathLst>
                <a:path w="43" h="33">
                  <a:moveTo>
                    <a:pt x="19" y="33"/>
                  </a:moveTo>
                  <a:cubicBezTo>
                    <a:pt x="9" y="33"/>
                    <a:pt x="6" y="26"/>
                    <a:pt x="0" y="20"/>
                  </a:cubicBezTo>
                  <a:cubicBezTo>
                    <a:pt x="0" y="18"/>
                    <a:pt x="2" y="16"/>
                    <a:pt x="2" y="14"/>
                  </a:cubicBezTo>
                  <a:cubicBezTo>
                    <a:pt x="4" y="14"/>
                    <a:pt x="4" y="14"/>
                    <a:pt x="6" y="13"/>
                  </a:cubicBezTo>
                  <a:cubicBezTo>
                    <a:pt x="10" y="12"/>
                    <a:pt x="12" y="12"/>
                    <a:pt x="17" y="12"/>
                  </a:cubicBezTo>
                  <a:cubicBezTo>
                    <a:pt x="22" y="11"/>
                    <a:pt x="38" y="0"/>
                    <a:pt x="43" y="5"/>
                  </a:cubicBezTo>
                  <a:cubicBezTo>
                    <a:pt x="43" y="17"/>
                    <a:pt x="30" y="30"/>
                    <a:pt x="19" y="33"/>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 name="Freeform 79"/>
            <p:cNvSpPr/>
            <p:nvPr userDrawn="1"/>
          </p:nvSpPr>
          <p:spPr bwMode="auto">
            <a:xfrm>
              <a:off x="1668" y="766"/>
              <a:ext cx="36" cy="42"/>
            </a:xfrm>
            <a:custGeom>
              <a:avLst/>
              <a:gdLst>
                <a:gd name="T0" fmla="*/ 5 w 29"/>
                <a:gd name="T1" fmla="*/ 34 h 34"/>
                <a:gd name="T2" fmla="*/ 0 w 29"/>
                <a:gd name="T3" fmla="*/ 9 h 34"/>
                <a:gd name="T4" fmla="*/ 19 w 29"/>
                <a:gd name="T5" fmla="*/ 6 h 34"/>
                <a:gd name="T6" fmla="*/ 23 w 29"/>
                <a:gd name="T7" fmla="*/ 26 h 34"/>
                <a:gd name="T8" fmla="*/ 5 w 29"/>
                <a:gd name="T9" fmla="*/ 34 h 34"/>
              </a:gdLst>
              <a:ahLst/>
              <a:cxnLst>
                <a:cxn ang="0">
                  <a:pos x="T0" y="T1"/>
                </a:cxn>
                <a:cxn ang="0">
                  <a:pos x="T2" y="T3"/>
                </a:cxn>
                <a:cxn ang="0">
                  <a:pos x="T4" y="T5"/>
                </a:cxn>
                <a:cxn ang="0">
                  <a:pos x="T6" y="T7"/>
                </a:cxn>
                <a:cxn ang="0">
                  <a:pos x="T8" y="T9"/>
                </a:cxn>
              </a:cxnLst>
              <a:rect l="0" t="0" r="r" b="b"/>
              <a:pathLst>
                <a:path w="29" h="34">
                  <a:moveTo>
                    <a:pt x="5" y="34"/>
                  </a:moveTo>
                  <a:cubicBezTo>
                    <a:pt x="1" y="30"/>
                    <a:pt x="0" y="14"/>
                    <a:pt x="0" y="9"/>
                  </a:cubicBezTo>
                  <a:cubicBezTo>
                    <a:pt x="3" y="0"/>
                    <a:pt x="12" y="0"/>
                    <a:pt x="19" y="6"/>
                  </a:cubicBezTo>
                  <a:cubicBezTo>
                    <a:pt x="25" y="14"/>
                    <a:pt x="29" y="17"/>
                    <a:pt x="23" y="26"/>
                  </a:cubicBezTo>
                  <a:cubicBezTo>
                    <a:pt x="16" y="32"/>
                    <a:pt x="13" y="32"/>
                    <a:pt x="5" y="34"/>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 name="Freeform 80"/>
            <p:cNvSpPr/>
            <p:nvPr userDrawn="1"/>
          </p:nvSpPr>
          <p:spPr bwMode="auto">
            <a:xfrm>
              <a:off x="1748" y="739"/>
              <a:ext cx="63" cy="60"/>
            </a:xfrm>
            <a:custGeom>
              <a:avLst/>
              <a:gdLst>
                <a:gd name="T0" fmla="*/ 17 w 51"/>
                <a:gd name="T1" fmla="*/ 48 h 48"/>
                <a:gd name="T2" fmla="*/ 21 w 51"/>
                <a:gd name="T3" fmla="*/ 30 h 48"/>
                <a:gd name="T4" fmla="*/ 13 w 51"/>
                <a:gd name="T5" fmla="*/ 32 h 48"/>
                <a:gd name="T6" fmla="*/ 3 w 51"/>
                <a:gd name="T7" fmla="*/ 15 h 48"/>
                <a:gd name="T8" fmla="*/ 13 w 51"/>
                <a:gd name="T9" fmla="*/ 11 h 48"/>
                <a:gd name="T10" fmla="*/ 33 w 51"/>
                <a:gd name="T11" fmla="*/ 2 h 48"/>
                <a:gd name="T12" fmla="*/ 51 w 51"/>
                <a:gd name="T13" fmla="*/ 18 h 48"/>
                <a:gd name="T14" fmla="*/ 39 w 51"/>
                <a:gd name="T15" fmla="*/ 36 h 48"/>
                <a:gd name="T16" fmla="*/ 22 w 51"/>
                <a:gd name="T17" fmla="*/ 47 h 48"/>
                <a:gd name="T18" fmla="*/ 17 w 51"/>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 h="48">
                  <a:moveTo>
                    <a:pt x="17" y="48"/>
                  </a:moveTo>
                  <a:cubicBezTo>
                    <a:pt x="16" y="43"/>
                    <a:pt x="23" y="33"/>
                    <a:pt x="21" y="30"/>
                  </a:cubicBezTo>
                  <a:cubicBezTo>
                    <a:pt x="18" y="31"/>
                    <a:pt x="16" y="32"/>
                    <a:pt x="13" y="32"/>
                  </a:cubicBezTo>
                  <a:cubicBezTo>
                    <a:pt x="7" y="29"/>
                    <a:pt x="0" y="21"/>
                    <a:pt x="3" y="15"/>
                  </a:cubicBezTo>
                  <a:cubicBezTo>
                    <a:pt x="7" y="10"/>
                    <a:pt x="6" y="12"/>
                    <a:pt x="13" y="11"/>
                  </a:cubicBezTo>
                  <a:cubicBezTo>
                    <a:pt x="19" y="8"/>
                    <a:pt x="26" y="5"/>
                    <a:pt x="33" y="2"/>
                  </a:cubicBezTo>
                  <a:cubicBezTo>
                    <a:pt x="45" y="0"/>
                    <a:pt x="50" y="6"/>
                    <a:pt x="51" y="18"/>
                  </a:cubicBezTo>
                  <a:cubicBezTo>
                    <a:pt x="49" y="25"/>
                    <a:pt x="44" y="31"/>
                    <a:pt x="39" y="36"/>
                  </a:cubicBezTo>
                  <a:cubicBezTo>
                    <a:pt x="33" y="40"/>
                    <a:pt x="27" y="44"/>
                    <a:pt x="22" y="47"/>
                  </a:cubicBezTo>
                  <a:cubicBezTo>
                    <a:pt x="20" y="47"/>
                    <a:pt x="19" y="48"/>
                    <a:pt x="17" y="48"/>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 name="Freeform 81"/>
            <p:cNvSpPr/>
            <p:nvPr userDrawn="1"/>
          </p:nvSpPr>
          <p:spPr bwMode="auto">
            <a:xfrm>
              <a:off x="1687" y="715"/>
              <a:ext cx="38" cy="42"/>
            </a:xfrm>
            <a:custGeom>
              <a:avLst/>
              <a:gdLst>
                <a:gd name="T0" fmla="*/ 3 w 31"/>
                <a:gd name="T1" fmla="*/ 34 h 34"/>
                <a:gd name="T2" fmla="*/ 3 w 31"/>
                <a:gd name="T3" fmla="*/ 29 h 34"/>
                <a:gd name="T4" fmla="*/ 0 w 31"/>
                <a:gd name="T5" fmla="*/ 16 h 34"/>
                <a:gd name="T6" fmla="*/ 7 w 31"/>
                <a:gd name="T7" fmla="*/ 0 h 34"/>
                <a:gd name="T8" fmla="*/ 26 w 31"/>
                <a:gd name="T9" fmla="*/ 23 h 34"/>
                <a:gd name="T10" fmla="*/ 3 w 31"/>
                <a:gd name="T11" fmla="*/ 34 h 34"/>
              </a:gdLst>
              <a:ahLst/>
              <a:cxnLst>
                <a:cxn ang="0">
                  <a:pos x="T0" y="T1"/>
                </a:cxn>
                <a:cxn ang="0">
                  <a:pos x="T2" y="T3"/>
                </a:cxn>
                <a:cxn ang="0">
                  <a:pos x="T4" y="T5"/>
                </a:cxn>
                <a:cxn ang="0">
                  <a:pos x="T6" y="T7"/>
                </a:cxn>
                <a:cxn ang="0">
                  <a:pos x="T8" y="T9"/>
                </a:cxn>
                <a:cxn ang="0">
                  <a:pos x="T10" y="T11"/>
                </a:cxn>
              </a:cxnLst>
              <a:rect l="0" t="0" r="r" b="b"/>
              <a:pathLst>
                <a:path w="31" h="34">
                  <a:moveTo>
                    <a:pt x="3" y="34"/>
                  </a:moveTo>
                  <a:cubicBezTo>
                    <a:pt x="1" y="32"/>
                    <a:pt x="2" y="31"/>
                    <a:pt x="3" y="29"/>
                  </a:cubicBezTo>
                  <a:cubicBezTo>
                    <a:pt x="3" y="24"/>
                    <a:pt x="0" y="20"/>
                    <a:pt x="0" y="16"/>
                  </a:cubicBezTo>
                  <a:cubicBezTo>
                    <a:pt x="1" y="7"/>
                    <a:pt x="0" y="4"/>
                    <a:pt x="7" y="0"/>
                  </a:cubicBezTo>
                  <a:cubicBezTo>
                    <a:pt x="12" y="3"/>
                    <a:pt x="31" y="12"/>
                    <a:pt x="26" y="23"/>
                  </a:cubicBezTo>
                  <a:cubicBezTo>
                    <a:pt x="21" y="29"/>
                    <a:pt x="11" y="33"/>
                    <a:pt x="3" y="34"/>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 name="Freeform 82"/>
            <p:cNvSpPr/>
            <p:nvPr userDrawn="1"/>
          </p:nvSpPr>
          <p:spPr bwMode="auto">
            <a:xfrm>
              <a:off x="1365" y="728"/>
              <a:ext cx="244" cy="186"/>
            </a:xfrm>
            <a:custGeom>
              <a:avLst/>
              <a:gdLst>
                <a:gd name="T0" fmla="*/ 20 w 197"/>
                <a:gd name="T1" fmla="*/ 150 h 150"/>
                <a:gd name="T2" fmla="*/ 13 w 197"/>
                <a:gd name="T3" fmla="*/ 119 h 150"/>
                <a:gd name="T4" fmla="*/ 17 w 197"/>
                <a:gd name="T5" fmla="*/ 114 h 150"/>
                <a:gd name="T6" fmla="*/ 17 w 197"/>
                <a:gd name="T7" fmla="*/ 113 h 150"/>
                <a:gd name="T8" fmla="*/ 44 w 197"/>
                <a:gd name="T9" fmla="*/ 77 h 150"/>
                <a:gd name="T10" fmla="*/ 52 w 197"/>
                <a:gd name="T11" fmla="*/ 67 h 150"/>
                <a:gd name="T12" fmla="*/ 53 w 197"/>
                <a:gd name="T13" fmla="*/ 78 h 150"/>
                <a:gd name="T14" fmla="*/ 60 w 197"/>
                <a:gd name="T15" fmla="*/ 77 h 150"/>
                <a:gd name="T16" fmla="*/ 85 w 197"/>
                <a:gd name="T17" fmla="*/ 58 h 150"/>
                <a:gd name="T18" fmla="*/ 87 w 197"/>
                <a:gd name="T19" fmla="*/ 48 h 150"/>
                <a:gd name="T20" fmla="*/ 68 w 197"/>
                <a:gd name="T21" fmla="*/ 44 h 150"/>
                <a:gd name="T22" fmla="*/ 88 w 197"/>
                <a:gd name="T23" fmla="*/ 29 h 150"/>
                <a:gd name="T24" fmla="*/ 92 w 197"/>
                <a:gd name="T25" fmla="*/ 9 h 150"/>
                <a:gd name="T26" fmla="*/ 109 w 197"/>
                <a:gd name="T27" fmla="*/ 22 h 150"/>
                <a:gd name="T28" fmla="*/ 110 w 197"/>
                <a:gd name="T29" fmla="*/ 37 h 150"/>
                <a:gd name="T30" fmla="*/ 108 w 197"/>
                <a:gd name="T31" fmla="*/ 46 h 150"/>
                <a:gd name="T32" fmla="*/ 111 w 197"/>
                <a:gd name="T33" fmla="*/ 46 h 150"/>
                <a:gd name="T34" fmla="*/ 131 w 197"/>
                <a:gd name="T35" fmla="*/ 32 h 150"/>
                <a:gd name="T36" fmla="*/ 140 w 197"/>
                <a:gd name="T37" fmla="*/ 5 h 150"/>
                <a:gd name="T38" fmla="*/ 163 w 197"/>
                <a:gd name="T39" fmla="*/ 11 h 150"/>
                <a:gd name="T40" fmla="*/ 176 w 197"/>
                <a:gd name="T41" fmla="*/ 5 h 150"/>
                <a:gd name="T42" fmla="*/ 182 w 197"/>
                <a:gd name="T43" fmla="*/ 4 h 150"/>
                <a:gd name="T44" fmla="*/ 184 w 197"/>
                <a:gd name="T45" fmla="*/ 13 h 150"/>
                <a:gd name="T46" fmla="*/ 157 w 197"/>
                <a:gd name="T47" fmla="*/ 39 h 150"/>
                <a:gd name="T48" fmla="*/ 166 w 197"/>
                <a:gd name="T49" fmla="*/ 29 h 150"/>
                <a:gd name="T50" fmla="*/ 190 w 197"/>
                <a:gd name="T51" fmla="*/ 34 h 150"/>
                <a:gd name="T52" fmla="*/ 184 w 197"/>
                <a:gd name="T53" fmla="*/ 50 h 150"/>
                <a:gd name="T54" fmla="*/ 182 w 197"/>
                <a:gd name="T55" fmla="*/ 54 h 150"/>
                <a:gd name="T56" fmla="*/ 182 w 197"/>
                <a:gd name="T57" fmla="*/ 93 h 150"/>
                <a:gd name="T58" fmla="*/ 173 w 197"/>
                <a:gd name="T59" fmla="*/ 107 h 150"/>
                <a:gd name="T60" fmla="*/ 173 w 197"/>
                <a:gd name="T61" fmla="*/ 107 h 150"/>
                <a:gd name="T62" fmla="*/ 172 w 197"/>
                <a:gd name="T63" fmla="*/ 107 h 150"/>
                <a:gd name="T64" fmla="*/ 158 w 197"/>
                <a:gd name="T65" fmla="*/ 113 h 150"/>
                <a:gd name="T66" fmla="*/ 158 w 197"/>
                <a:gd name="T67" fmla="*/ 58 h 150"/>
                <a:gd name="T68" fmla="*/ 157 w 197"/>
                <a:gd name="T69" fmla="*/ 58 h 150"/>
                <a:gd name="T70" fmla="*/ 139 w 197"/>
                <a:gd name="T71" fmla="*/ 89 h 150"/>
                <a:gd name="T72" fmla="*/ 124 w 197"/>
                <a:gd name="T73" fmla="*/ 80 h 150"/>
                <a:gd name="T74" fmla="*/ 128 w 197"/>
                <a:gd name="T75" fmla="*/ 76 h 150"/>
                <a:gd name="T76" fmla="*/ 130 w 197"/>
                <a:gd name="T77" fmla="*/ 45 h 150"/>
                <a:gd name="T78" fmla="*/ 111 w 197"/>
                <a:gd name="T79" fmla="*/ 64 h 150"/>
                <a:gd name="T80" fmla="*/ 102 w 197"/>
                <a:gd name="T81" fmla="*/ 70 h 150"/>
                <a:gd name="T82" fmla="*/ 97 w 197"/>
                <a:gd name="T83" fmla="*/ 91 h 150"/>
                <a:gd name="T84" fmla="*/ 92 w 197"/>
                <a:gd name="T85" fmla="*/ 101 h 150"/>
                <a:gd name="T86" fmla="*/ 91 w 197"/>
                <a:gd name="T87" fmla="*/ 102 h 150"/>
                <a:gd name="T88" fmla="*/ 74 w 197"/>
                <a:gd name="T89" fmla="*/ 110 h 150"/>
                <a:gd name="T90" fmla="*/ 74 w 197"/>
                <a:gd name="T91" fmla="*/ 107 h 150"/>
                <a:gd name="T92" fmla="*/ 82 w 197"/>
                <a:gd name="T93" fmla="*/ 85 h 150"/>
                <a:gd name="T94" fmla="*/ 63 w 197"/>
                <a:gd name="T95" fmla="*/ 94 h 150"/>
                <a:gd name="T96" fmla="*/ 53 w 197"/>
                <a:gd name="T97" fmla="*/ 91 h 150"/>
                <a:gd name="T98" fmla="*/ 52 w 197"/>
                <a:gd name="T99" fmla="*/ 90 h 150"/>
                <a:gd name="T100" fmla="*/ 48 w 197"/>
                <a:gd name="T101" fmla="*/ 88 h 150"/>
                <a:gd name="T102" fmla="*/ 44 w 197"/>
                <a:gd name="T103" fmla="*/ 100 h 150"/>
                <a:gd name="T104" fmla="*/ 27 w 197"/>
                <a:gd name="T105" fmla="*/ 147 h 150"/>
                <a:gd name="T106" fmla="*/ 20 w 197"/>
                <a:gd name="T107"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7" h="150">
                  <a:moveTo>
                    <a:pt x="20" y="150"/>
                  </a:moveTo>
                  <a:cubicBezTo>
                    <a:pt x="9" y="146"/>
                    <a:pt x="0" y="124"/>
                    <a:pt x="13" y="119"/>
                  </a:cubicBezTo>
                  <a:cubicBezTo>
                    <a:pt x="13" y="117"/>
                    <a:pt x="15" y="115"/>
                    <a:pt x="17" y="114"/>
                  </a:cubicBezTo>
                  <a:cubicBezTo>
                    <a:pt x="17" y="114"/>
                    <a:pt x="17" y="113"/>
                    <a:pt x="17" y="113"/>
                  </a:cubicBezTo>
                  <a:cubicBezTo>
                    <a:pt x="27" y="103"/>
                    <a:pt x="35" y="88"/>
                    <a:pt x="44" y="77"/>
                  </a:cubicBezTo>
                  <a:cubicBezTo>
                    <a:pt x="46" y="72"/>
                    <a:pt x="47" y="68"/>
                    <a:pt x="52" y="67"/>
                  </a:cubicBezTo>
                  <a:cubicBezTo>
                    <a:pt x="55" y="69"/>
                    <a:pt x="54" y="74"/>
                    <a:pt x="53" y="78"/>
                  </a:cubicBezTo>
                  <a:cubicBezTo>
                    <a:pt x="54" y="79"/>
                    <a:pt x="58" y="78"/>
                    <a:pt x="60" y="77"/>
                  </a:cubicBezTo>
                  <a:cubicBezTo>
                    <a:pt x="68" y="71"/>
                    <a:pt x="78" y="65"/>
                    <a:pt x="85" y="58"/>
                  </a:cubicBezTo>
                  <a:cubicBezTo>
                    <a:pt x="86" y="55"/>
                    <a:pt x="86" y="52"/>
                    <a:pt x="87" y="48"/>
                  </a:cubicBezTo>
                  <a:cubicBezTo>
                    <a:pt x="81" y="50"/>
                    <a:pt x="64" y="54"/>
                    <a:pt x="68" y="44"/>
                  </a:cubicBezTo>
                  <a:cubicBezTo>
                    <a:pt x="75" y="41"/>
                    <a:pt x="84" y="36"/>
                    <a:pt x="88" y="29"/>
                  </a:cubicBezTo>
                  <a:cubicBezTo>
                    <a:pt x="90" y="22"/>
                    <a:pt x="89" y="14"/>
                    <a:pt x="92" y="9"/>
                  </a:cubicBezTo>
                  <a:cubicBezTo>
                    <a:pt x="99" y="5"/>
                    <a:pt x="108" y="14"/>
                    <a:pt x="109" y="22"/>
                  </a:cubicBezTo>
                  <a:cubicBezTo>
                    <a:pt x="112" y="27"/>
                    <a:pt x="121" y="21"/>
                    <a:pt x="110" y="37"/>
                  </a:cubicBezTo>
                  <a:cubicBezTo>
                    <a:pt x="108" y="39"/>
                    <a:pt x="108" y="42"/>
                    <a:pt x="108" y="46"/>
                  </a:cubicBezTo>
                  <a:cubicBezTo>
                    <a:pt x="109" y="46"/>
                    <a:pt x="110" y="46"/>
                    <a:pt x="111" y="46"/>
                  </a:cubicBezTo>
                  <a:cubicBezTo>
                    <a:pt x="117" y="41"/>
                    <a:pt x="124" y="36"/>
                    <a:pt x="131" y="32"/>
                  </a:cubicBezTo>
                  <a:cubicBezTo>
                    <a:pt x="133" y="22"/>
                    <a:pt x="135" y="14"/>
                    <a:pt x="140" y="5"/>
                  </a:cubicBezTo>
                  <a:cubicBezTo>
                    <a:pt x="147" y="0"/>
                    <a:pt x="156" y="5"/>
                    <a:pt x="163" y="11"/>
                  </a:cubicBezTo>
                  <a:cubicBezTo>
                    <a:pt x="168" y="11"/>
                    <a:pt x="172" y="8"/>
                    <a:pt x="176" y="5"/>
                  </a:cubicBezTo>
                  <a:cubicBezTo>
                    <a:pt x="178" y="4"/>
                    <a:pt x="178" y="4"/>
                    <a:pt x="182" y="4"/>
                  </a:cubicBezTo>
                  <a:cubicBezTo>
                    <a:pt x="183" y="7"/>
                    <a:pt x="184" y="9"/>
                    <a:pt x="184" y="13"/>
                  </a:cubicBezTo>
                  <a:cubicBezTo>
                    <a:pt x="181" y="24"/>
                    <a:pt x="151" y="27"/>
                    <a:pt x="157" y="39"/>
                  </a:cubicBezTo>
                  <a:cubicBezTo>
                    <a:pt x="162" y="39"/>
                    <a:pt x="164" y="33"/>
                    <a:pt x="166" y="29"/>
                  </a:cubicBezTo>
                  <a:cubicBezTo>
                    <a:pt x="171" y="26"/>
                    <a:pt x="184" y="30"/>
                    <a:pt x="190" y="34"/>
                  </a:cubicBezTo>
                  <a:cubicBezTo>
                    <a:pt x="197" y="42"/>
                    <a:pt x="192" y="45"/>
                    <a:pt x="184" y="50"/>
                  </a:cubicBezTo>
                  <a:cubicBezTo>
                    <a:pt x="183" y="52"/>
                    <a:pt x="183" y="53"/>
                    <a:pt x="182" y="54"/>
                  </a:cubicBezTo>
                  <a:cubicBezTo>
                    <a:pt x="181" y="70"/>
                    <a:pt x="181" y="70"/>
                    <a:pt x="182" y="93"/>
                  </a:cubicBezTo>
                  <a:cubicBezTo>
                    <a:pt x="179" y="99"/>
                    <a:pt x="177" y="102"/>
                    <a:pt x="173" y="107"/>
                  </a:cubicBezTo>
                  <a:cubicBezTo>
                    <a:pt x="173" y="107"/>
                    <a:pt x="173" y="107"/>
                    <a:pt x="173" y="107"/>
                  </a:cubicBezTo>
                  <a:cubicBezTo>
                    <a:pt x="172" y="107"/>
                    <a:pt x="172" y="107"/>
                    <a:pt x="172" y="107"/>
                  </a:cubicBezTo>
                  <a:cubicBezTo>
                    <a:pt x="169" y="112"/>
                    <a:pt x="162" y="117"/>
                    <a:pt x="158" y="113"/>
                  </a:cubicBezTo>
                  <a:cubicBezTo>
                    <a:pt x="158" y="94"/>
                    <a:pt x="159" y="75"/>
                    <a:pt x="158" y="58"/>
                  </a:cubicBezTo>
                  <a:cubicBezTo>
                    <a:pt x="158" y="58"/>
                    <a:pt x="157" y="58"/>
                    <a:pt x="157" y="58"/>
                  </a:cubicBezTo>
                  <a:cubicBezTo>
                    <a:pt x="156" y="67"/>
                    <a:pt x="147" y="84"/>
                    <a:pt x="139" y="89"/>
                  </a:cubicBezTo>
                  <a:cubicBezTo>
                    <a:pt x="132" y="90"/>
                    <a:pt x="126" y="86"/>
                    <a:pt x="124" y="80"/>
                  </a:cubicBezTo>
                  <a:cubicBezTo>
                    <a:pt x="125" y="78"/>
                    <a:pt x="126" y="77"/>
                    <a:pt x="128" y="76"/>
                  </a:cubicBezTo>
                  <a:cubicBezTo>
                    <a:pt x="132" y="68"/>
                    <a:pt x="130" y="53"/>
                    <a:pt x="130" y="45"/>
                  </a:cubicBezTo>
                  <a:cubicBezTo>
                    <a:pt x="125" y="46"/>
                    <a:pt x="115" y="59"/>
                    <a:pt x="111" y="64"/>
                  </a:cubicBezTo>
                  <a:cubicBezTo>
                    <a:pt x="108" y="66"/>
                    <a:pt x="105" y="68"/>
                    <a:pt x="102" y="70"/>
                  </a:cubicBezTo>
                  <a:cubicBezTo>
                    <a:pt x="100" y="77"/>
                    <a:pt x="98" y="84"/>
                    <a:pt x="97" y="91"/>
                  </a:cubicBezTo>
                  <a:cubicBezTo>
                    <a:pt x="95" y="95"/>
                    <a:pt x="93" y="98"/>
                    <a:pt x="92" y="101"/>
                  </a:cubicBezTo>
                  <a:cubicBezTo>
                    <a:pt x="91" y="101"/>
                    <a:pt x="91" y="101"/>
                    <a:pt x="91" y="102"/>
                  </a:cubicBezTo>
                  <a:cubicBezTo>
                    <a:pt x="88" y="106"/>
                    <a:pt x="80" y="118"/>
                    <a:pt x="74" y="110"/>
                  </a:cubicBezTo>
                  <a:cubicBezTo>
                    <a:pt x="74" y="109"/>
                    <a:pt x="74" y="108"/>
                    <a:pt x="74" y="107"/>
                  </a:cubicBezTo>
                  <a:cubicBezTo>
                    <a:pt x="79" y="101"/>
                    <a:pt x="82" y="92"/>
                    <a:pt x="82" y="85"/>
                  </a:cubicBezTo>
                  <a:cubicBezTo>
                    <a:pt x="75" y="87"/>
                    <a:pt x="70" y="94"/>
                    <a:pt x="63" y="94"/>
                  </a:cubicBezTo>
                  <a:cubicBezTo>
                    <a:pt x="59" y="93"/>
                    <a:pt x="55" y="92"/>
                    <a:pt x="53" y="91"/>
                  </a:cubicBezTo>
                  <a:cubicBezTo>
                    <a:pt x="53" y="90"/>
                    <a:pt x="53" y="90"/>
                    <a:pt x="52" y="90"/>
                  </a:cubicBezTo>
                  <a:cubicBezTo>
                    <a:pt x="51" y="89"/>
                    <a:pt x="49" y="87"/>
                    <a:pt x="48" y="88"/>
                  </a:cubicBezTo>
                  <a:cubicBezTo>
                    <a:pt x="47" y="91"/>
                    <a:pt x="45" y="96"/>
                    <a:pt x="44" y="100"/>
                  </a:cubicBezTo>
                  <a:cubicBezTo>
                    <a:pt x="37" y="115"/>
                    <a:pt x="32" y="130"/>
                    <a:pt x="27" y="147"/>
                  </a:cubicBezTo>
                  <a:cubicBezTo>
                    <a:pt x="24" y="149"/>
                    <a:pt x="23" y="150"/>
                    <a:pt x="20" y="150"/>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5" name="Freeform 83"/>
            <p:cNvSpPr/>
            <p:nvPr userDrawn="1"/>
          </p:nvSpPr>
          <p:spPr bwMode="auto">
            <a:xfrm>
              <a:off x="1401" y="757"/>
              <a:ext cx="37" cy="49"/>
            </a:xfrm>
            <a:custGeom>
              <a:avLst/>
              <a:gdLst>
                <a:gd name="T0" fmla="*/ 5 w 30"/>
                <a:gd name="T1" fmla="*/ 39 h 39"/>
                <a:gd name="T2" fmla="*/ 6 w 30"/>
                <a:gd name="T3" fmla="*/ 28 h 39"/>
                <a:gd name="T4" fmla="*/ 6 w 30"/>
                <a:gd name="T5" fmla="*/ 1 h 39"/>
                <a:gd name="T6" fmla="*/ 10 w 30"/>
                <a:gd name="T7" fmla="*/ 0 h 39"/>
                <a:gd name="T8" fmla="*/ 25 w 30"/>
                <a:gd name="T9" fmla="*/ 17 h 39"/>
                <a:gd name="T10" fmla="*/ 5 w 30"/>
                <a:gd name="T11" fmla="*/ 39 h 39"/>
              </a:gdLst>
              <a:ahLst/>
              <a:cxnLst>
                <a:cxn ang="0">
                  <a:pos x="T0" y="T1"/>
                </a:cxn>
                <a:cxn ang="0">
                  <a:pos x="T2" y="T3"/>
                </a:cxn>
                <a:cxn ang="0">
                  <a:pos x="T4" y="T5"/>
                </a:cxn>
                <a:cxn ang="0">
                  <a:pos x="T6" y="T7"/>
                </a:cxn>
                <a:cxn ang="0">
                  <a:pos x="T8" y="T9"/>
                </a:cxn>
                <a:cxn ang="0">
                  <a:pos x="T10" y="T11"/>
                </a:cxn>
              </a:cxnLst>
              <a:rect l="0" t="0" r="r" b="b"/>
              <a:pathLst>
                <a:path w="30" h="39">
                  <a:moveTo>
                    <a:pt x="5" y="39"/>
                  </a:moveTo>
                  <a:cubicBezTo>
                    <a:pt x="3" y="35"/>
                    <a:pt x="6" y="31"/>
                    <a:pt x="6" y="28"/>
                  </a:cubicBezTo>
                  <a:cubicBezTo>
                    <a:pt x="3" y="17"/>
                    <a:pt x="0" y="9"/>
                    <a:pt x="6" y="1"/>
                  </a:cubicBezTo>
                  <a:cubicBezTo>
                    <a:pt x="7" y="0"/>
                    <a:pt x="9" y="0"/>
                    <a:pt x="10" y="0"/>
                  </a:cubicBezTo>
                  <a:cubicBezTo>
                    <a:pt x="14" y="4"/>
                    <a:pt x="21" y="11"/>
                    <a:pt x="25" y="17"/>
                  </a:cubicBezTo>
                  <a:cubicBezTo>
                    <a:pt x="30" y="29"/>
                    <a:pt x="14" y="35"/>
                    <a:pt x="5" y="39"/>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6" name="Freeform 84"/>
            <p:cNvSpPr/>
            <p:nvPr userDrawn="1"/>
          </p:nvSpPr>
          <p:spPr bwMode="auto">
            <a:xfrm>
              <a:off x="1411" y="708"/>
              <a:ext cx="46" cy="47"/>
            </a:xfrm>
            <a:custGeom>
              <a:avLst/>
              <a:gdLst>
                <a:gd name="T0" fmla="*/ 7 w 37"/>
                <a:gd name="T1" fmla="*/ 38 h 38"/>
                <a:gd name="T2" fmla="*/ 4 w 37"/>
                <a:gd name="T3" fmla="*/ 36 h 38"/>
                <a:gd name="T4" fmla="*/ 6 w 37"/>
                <a:gd name="T5" fmla="*/ 29 h 38"/>
                <a:gd name="T6" fmla="*/ 11 w 37"/>
                <a:gd name="T7" fmla="*/ 0 h 38"/>
                <a:gd name="T8" fmla="*/ 16 w 37"/>
                <a:gd name="T9" fmla="*/ 7 h 38"/>
                <a:gd name="T10" fmla="*/ 24 w 37"/>
                <a:gd name="T11" fmla="*/ 32 h 38"/>
                <a:gd name="T12" fmla="*/ 7 w 37"/>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37" h="38">
                  <a:moveTo>
                    <a:pt x="7" y="38"/>
                  </a:moveTo>
                  <a:cubicBezTo>
                    <a:pt x="5" y="37"/>
                    <a:pt x="5" y="37"/>
                    <a:pt x="4" y="36"/>
                  </a:cubicBezTo>
                  <a:cubicBezTo>
                    <a:pt x="6" y="33"/>
                    <a:pt x="7" y="32"/>
                    <a:pt x="6" y="29"/>
                  </a:cubicBezTo>
                  <a:cubicBezTo>
                    <a:pt x="0" y="20"/>
                    <a:pt x="0" y="5"/>
                    <a:pt x="11" y="0"/>
                  </a:cubicBezTo>
                  <a:cubicBezTo>
                    <a:pt x="14" y="0"/>
                    <a:pt x="15" y="3"/>
                    <a:pt x="16" y="7"/>
                  </a:cubicBezTo>
                  <a:cubicBezTo>
                    <a:pt x="23" y="14"/>
                    <a:pt x="37" y="23"/>
                    <a:pt x="24" y="32"/>
                  </a:cubicBezTo>
                  <a:cubicBezTo>
                    <a:pt x="18" y="35"/>
                    <a:pt x="13" y="36"/>
                    <a:pt x="7" y="38"/>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7" name="Freeform 85"/>
            <p:cNvSpPr/>
            <p:nvPr userDrawn="1"/>
          </p:nvSpPr>
          <p:spPr bwMode="auto">
            <a:xfrm>
              <a:off x="2067" y="765"/>
              <a:ext cx="26" cy="39"/>
            </a:xfrm>
            <a:custGeom>
              <a:avLst/>
              <a:gdLst>
                <a:gd name="T0" fmla="*/ 10 w 21"/>
                <a:gd name="T1" fmla="*/ 31 h 31"/>
                <a:gd name="T2" fmla="*/ 3 w 21"/>
                <a:gd name="T3" fmla="*/ 4 h 31"/>
                <a:gd name="T4" fmla="*/ 21 w 21"/>
                <a:gd name="T5" fmla="*/ 18 h 31"/>
                <a:gd name="T6" fmla="*/ 10 w 21"/>
                <a:gd name="T7" fmla="*/ 31 h 31"/>
              </a:gdLst>
              <a:ahLst/>
              <a:cxnLst>
                <a:cxn ang="0">
                  <a:pos x="T0" y="T1"/>
                </a:cxn>
                <a:cxn ang="0">
                  <a:pos x="T2" y="T3"/>
                </a:cxn>
                <a:cxn ang="0">
                  <a:pos x="T4" y="T5"/>
                </a:cxn>
                <a:cxn ang="0">
                  <a:pos x="T6" y="T7"/>
                </a:cxn>
              </a:cxnLst>
              <a:rect l="0" t="0" r="r" b="b"/>
              <a:pathLst>
                <a:path w="21" h="31">
                  <a:moveTo>
                    <a:pt x="10" y="31"/>
                  </a:moveTo>
                  <a:cubicBezTo>
                    <a:pt x="0" y="27"/>
                    <a:pt x="2" y="11"/>
                    <a:pt x="3" y="4"/>
                  </a:cubicBezTo>
                  <a:cubicBezTo>
                    <a:pt x="11" y="0"/>
                    <a:pt x="20" y="9"/>
                    <a:pt x="21" y="18"/>
                  </a:cubicBezTo>
                  <a:cubicBezTo>
                    <a:pt x="19" y="27"/>
                    <a:pt x="19" y="29"/>
                    <a:pt x="10" y="31"/>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8" name="Freeform 86"/>
            <p:cNvSpPr>
              <a:spLocks noEditPoints="1"/>
            </p:cNvSpPr>
            <p:nvPr userDrawn="1"/>
          </p:nvSpPr>
          <p:spPr bwMode="auto">
            <a:xfrm>
              <a:off x="2057" y="673"/>
              <a:ext cx="166" cy="224"/>
            </a:xfrm>
            <a:custGeom>
              <a:avLst/>
              <a:gdLst>
                <a:gd name="T0" fmla="*/ 71 w 134"/>
                <a:gd name="T1" fmla="*/ 180 h 180"/>
                <a:gd name="T2" fmla="*/ 34 w 134"/>
                <a:gd name="T3" fmla="*/ 173 h 180"/>
                <a:gd name="T4" fmla="*/ 56 w 134"/>
                <a:gd name="T5" fmla="*/ 148 h 180"/>
                <a:gd name="T6" fmla="*/ 0 w 134"/>
                <a:gd name="T7" fmla="*/ 147 h 180"/>
                <a:gd name="T8" fmla="*/ 56 w 134"/>
                <a:gd name="T9" fmla="*/ 124 h 180"/>
                <a:gd name="T10" fmla="*/ 75 w 134"/>
                <a:gd name="T11" fmla="*/ 108 h 180"/>
                <a:gd name="T12" fmla="*/ 91 w 134"/>
                <a:gd name="T13" fmla="*/ 96 h 180"/>
                <a:gd name="T14" fmla="*/ 32 w 134"/>
                <a:gd name="T15" fmla="*/ 119 h 180"/>
                <a:gd name="T16" fmla="*/ 34 w 134"/>
                <a:gd name="T17" fmla="*/ 108 h 180"/>
                <a:gd name="T18" fmla="*/ 73 w 134"/>
                <a:gd name="T19" fmla="*/ 81 h 180"/>
                <a:gd name="T20" fmla="*/ 71 w 134"/>
                <a:gd name="T21" fmla="*/ 78 h 180"/>
                <a:gd name="T22" fmla="*/ 39 w 134"/>
                <a:gd name="T23" fmla="*/ 93 h 180"/>
                <a:gd name="T24" fmla="*/ 27 w 134"/>
                <a:gd name="T25" fmla="*/ 61 h 180"/>
                <a:gd name="T26" fmla="*/ 33 w 134"/>
                <a:gd name="T27" fmla="*/ 44 h 180"/>
                <a:gd name="T28" fmla="*/ 46 w 134"/>
                <a:gd name="T29" fmla="*/ 56 h 180"/>
                <a:gd name="T30" fmla="*/ 60 w 134"/>
                <a:gd name="T31" fmla="*/ 66 h 180"/>
                <a:gd name="T32" fmla="*/ 68 w 134"/>
                <a:gd name="T33" fmla="*/ 55 h 180"/>
                <a:gd name="T34" fmla="*/ 64 w 134"/>
                <a:gd name="T35" fmla="*/ 45 h 180"/>
                <a:gd name="T36" fmla="*/ 84 w 134"/>
                <a:gd name="T37" fmla="*/ 25 h 180"/>
                <a:gd name="T38" fmla="*/ 111 w 134"/>
                <a:gd name="T39" fmla="*/ 20 h 180"/>
                <a:gd name="T40" fmla="*/ 110 w 134"/>
                <a:gd name="T41" fmla="*/ 29 h 180"/>
                <a:gd name="T42" fmla="*/ 132 w 134"/>
                <a:gd name="T43" fmla="*/ 44 h 180"/>
                <a:gd name="T44" fmla="*/ 115 w 134"/>
                <a:gd name="T45" fmla="*/ 77 h 180"/>
                <a:gd name="T46" fmla="*/ 120 w 134"/>
                <a:gd name="T47" fmla="*/ 94 h 180"/>
                <a:gd name="T48" fmla="*/ 78 w 134"/>
                <a:gd name="T49" fmla="*/ 114 h 180"/>
                <a:gd name="T50" fmla="*/ 92 w 134"/>
                <a:gd name="T51" fmla="*/ 119 h 180"/>
                <a:gd name="T52" fmla="*/ 81 w 134"/>
                <a:gd name="T53" fmla="*/ 140 h 180"/>
                <a:gd name="T54" fmla="*/ 72 w 134"/>
                <a:gd name="T55" fmla="*/ 180 h 180"/>
                <a:gd name="T56" fmla="*/ 106 w 134"/>
                <a:gd name="T57" fmla="*/ 53 h 180"/>
                <a:gd name="T58" fmla="*/ 87 w 134"/>
                <a:gd name="T59" fmla="*/ 59 h 180"/>
                <a:gd name="T60" fmla="*/ 87 w 134"/>
                <a:gd name="T61" fmla="*/ 60 h 180"/>
                <a:gd name="T62" fmla="*/ 92 w 134"/>
                <a:gd name="T63" fmla="*/ 58 h 180"/>
                <a:gd name="T64" fmla="*/ 99 w 134"/>
                <a:gd name="T65" fmla="*/ 67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4" h="180">
                  <a:moveTo>
                    <a:pt x="72" y="180"/>
                  </a:moveTo>
                  <a:cubicBezTo>
                    <a:pt x="71" y="180"/>
                    <a:pt x="71" y="180"/>
                    <a:pt x="71" y="180"/>
                  </a:cubicBezTo>
                  <a:cubicBezTo>
                    <a:pt x="58" y="180"/>
                    <a:pt x="46" y="179"/>
                    <a:pt x="34" y="175"/>
                  </a:cubicBezTo>
                  <a:cubicBezTo>
                    <a:pt x="34" y="174"/>
                    <a:pt x="34" y="174"/>
                    <a:pt x="34" y="173"/>
                  </a:cubicBezTo>
                  <a:cubicBezTo>
                    <a:pt x="41" y="169"/>
                    <a:pt x="50" y="170"/>
                    <a:pt x="55" y="163"/>
                  </a:cubicBezTo>
                  <a:cubicBezTo>
                    <a:pt x="56" y="157"/>
                    <a:pt x="57" y="152"/>
                    <a:pt x="56" y="148"/>
                  </a:cubicBezTo>
                  <a:cubicBezTo>
                    <a:pt x="43" y="148"/>
                    <a:pt x="37" y="157"/>
                    <a:pt x="27" y="161"/>
                  </a:cubicBezTo>
                  <a:cubicBezTo>
                    <a:pt x="18" y="162"/>
                    <a:pt x="3" y="154"/>
                    <a:pt x="0" y="147"/>
                  </a:cubicBezTo>
                  <a:cubicBezTo>
                    <a:pt x="0" y="136"/>
                    <a:pt x="3" y="141"/>
                    <a:pt x="14" y="140"/>
                  </a:cubicBezTo>
                  <a:cubicBezTo>
                    <a:pt x="28" y="138"/>
                    <a:pt x="43" y="130"/>
                    <a:pt x="56" y="124"/>
                  </a:cubicBezTo>
                  <a:cubicBezTo>
                    <a:pt x="59" y="121"/>
                    <a:pt x="59" y="121"/>
                    <a:pt x="61" y="121"/>
                  </a:cubicBezTo>
                  <a:cubicBezTo>
                    <a:pt x="64" y="112"/>
                    <a:pt x="66" y="110"/>
                    <a:pt x="75" y="108"/>
                  </a:cubicBezTo>
                  <a:cubicBezTo>
                    <a:pt x="79" y="106"/>
                    <a:pt x="79" y="106"/>
                    <a:pt x="90" y="100"/>
                  </a:cubicBezTo>
                  <a:cubicBezTo>
                    <a:pt x="90" y="99"/>
                    <a:pt x="91" y="98"/>
                    <a:pt x="91" y="96"/>
                  </a:cubicBezTo>
                  <a:cubicBezTo>
                    <a:pt x="74" y="98"/>
                    <a:pt x="61" y="112"/>
                    <a:pt x="48" y="121"/>
                  </a:cubicBezTo>
                  <a:cubicBezTo>
                    <a:pt x="41" y="122"/>
                    <a:pt x="36" y="121"/>
                    <a:pt x="32" y="119"/>
                  </a:cubicBezTo>
                  <a:cubicBezTo>
                    <a:pt x="29" y="120"/>
                    <a:pt x="12" y="123"/>
                    <a:pt x="20" y="116"/>
                  </a:cubicBezTo>
                  <a:cubicBezTo>
                    <a:pt x="25" y="114"/>
                    <a:pt x="29" y="111"/>
                    <a:pt x="34" y="108"/>
                  </a:cubicBezTo>
                  <a:cubicBezTo>
                    <a:pt x="47" y="100"/>
                    <a:pt x="61" y="93"/>
                    <a:pt x="74" y="85"/>
                  </a:cubicBezTo>
                  <a:cubicBezTo>
                    <a:pt x="74" y="83"/>
                    <a:pt x="73" y="82"/>
                    <a:pt x="73" y="81"/>
                  </a:cubicBezTo>
                  <a:cubicBezTo>
                    <a:pt x="73" y="79"/>
                    <a:pt x="74" y="77"/>
                    <a:pt x="74" y="75"/>
                  </a:cubicBezTo>
                  <a:cubicBezTo>
                    <a:pt x="72" y="76"/>
                    <a:pt x="71" y="76"/>
                    <a:pt x="71" y="78"/>
                  </a:cubicBezTo>
                  <a:cubicBezTo>
                    <a:pt x="63" y="81"/>
                    <a:pt x="59" y="88"/>
                    <a:pt x="53" y="81"/>
                  </a:cubicBezTo>
                  <a:cubicBezTo>
                    <a:pt x="51" y="88"/>
                    <a:pt x="46" y="93"/>
                    <a:pt x="39" y="93"/>
                  </a:cubicBezTo>
                  <a:cubicBezTo>
                    <a:pt x="32" y="89"/>
                    <a:pt x="32" y="77"/>
                    <a:pt x="31" y="72"/>
                  </a:cubicBezTo>
                  <a:cubicBezTo>
                    <a:pt x="30" y="71"/>
                    <a:pt x="29" y="67"/>
                    <a:pt x="27" y="61"/>
                  </a:cubicBezTo>
                  <a:cubicBezTo>
                    <a:pt x="24" y="55"/>
                    <a:pt x="18" y="47"/>
                    <a:pt x="22" y="42"/>
                  </a:cubicBezTo>
                  <a:cubicBezTo>
                    <a:pt x="27" y="38"/>
                    <a:pt x="29" y="37"/>
                    <a:pt x="33" y="44"/>
                  </a:cubicBezTo>
                  <a:cubicBezTo>
                    <a:pt x="37" y="47"/>
                    <a:pt x="42" y="51"/>
                    <a:pt x="45" y="56"/>
                  </a:cubicBezTo>
                  <a:cubicBezTo>
                    <a:pt x="45" y="56"/>
                    <a:pt x="46" y="56"/>
                    <a:pt x="46" y="56"/>
                  </a:cubicBezTo>
                  <a:cubicBezTo>
                    <a:pt x="48" y="62"/>
                    <a:pt x="54" y="69"/>
                    <a:pt x="53" y="77"/>
                  </a:cubicBezTo>
                  <a:cubicBezTo>
                    <a:pt x="57" y="75"/>
                    <a:pt x="62" y="71"/>
                    <a:pt x="60" y="66"/>
                  </a:cubicBezTo>
                  <a:cubicBezTo>
                    <a:pt x="53" y="63"/>
                    <a:pt x="57" y="57"/>
                    <a:pt x="61" y="55"/>
                  </a:cubicBezTo>
                  <a:cubicBezTo>
                    <a:pt x="64" y="55"/>
                    <a:pt x="64" y="55"/>
                    <a:pt x="68" y="55"/>
                  </a:cubicBezTo>
                  <a:cubicBezTo>
                    <a:pt x="68" y="53"/>
                    <a:pt x="68" y="53"/>
                    <a:pt x="67" y="52"/>
                  </a:cubicBezTo>
                  <a:cubicBezTo>
                    <a:pt x="62" y="50"/>
                    <a:pt x="63" y="49"/>
                    <a:pt x="64" y="45"/>
                  </a:cubicBezTo>
                  <a:cubicBezTo>
                    <a:pt x="58" y="43"/>
                    <a:pt x="56" y="37"/>
                    <a:pt x="58" y="32"/>
                  </a:cubicBezTo>
                  <a:cubicBezTo>
                    <a:pt x="76" y="28"/>
                    <a:pt x="76" y="28"/>
                    <a:pt x="84" y="25"/>
                  </a:cubicBezTo>
                  <a:cubicBezTo>
                    <a:pt x="89" y="19"/>
                    <a:pt x="95" y="0"/>
                    <a:pt x="106" y="4"/>
                  </a:cubicBezTo>
                  <a:cubicBezTo>
                    <a:pt x="109" y="7"/>
                    <a:pt x="111" y="14"/>
                    <a:pt x="111" y="20"/>
                  </a:cubicBezTo>
                  <a:cubicBezTo>
                    <a:pt x="109" y="23"/>
                    <a:pt x="107" y="25"/>
                    <a:pt x="107" y="28"/>
                  </a:cubicBezTo>
                  <a:cubicBezTo>
                    <a:pt x="108" y="28"/>
                    <a:pt x="109" y="28"/>
                    <a:pt x="110" y="29"/>
                  </a:cubicBezTo>
                  <a:cubicBezTo>
                    <a:pt x="117" y="25"/>
                    <a:pt x="121" y="21"/>
                    <a:pt x="125" y="31"/>
                  </a:cubicBezTo>
                  <a:cubicBezTo>
                    <a:pt x="132" y="35"/>
                    <a:pt x="134" y="34"/>
                    <a:pt x="132" y="44"/>
                  </a:cubicBezTo>
                  <a:cubicBezTo>
                    <a:pt x="127" y="55"/>
                    <a:pt x="121" y="66"/>
                    <a:pt x="115" y="76"/>
                  </a:cubicBezTo>
                  <a:cubicBezTo>
                    <a:pt x="115" y="76"/>
                    <a:pt x="115" y="77"/>
                    <a:pt x="115" y="77"/>
                  </a:cubicBezTo>
                  <a:cubicBezTo>
                    <a:pt x="117" y="77"/>
                    <a:pt x="118" y="78"/>
                    <a:pt x="119" y="78"/>
                  </a:cubicBezTo>
                  <a:cubicBezTo>
                    <a:pt x="120" y="83"/>
                    <a:pt x="120" y="88"/>
                    <a:pt x="120" y="94"/>
                  </a:cubicBezTo>
                  <a:cubicBezTo>
                    <a:pt x="116" y="100"/>
                    <a:pt x="110" y="100"/>
                    <a:pt x="103" y="101"/>
                  </a:cubicBezTo>
                  <a:cubicBezTo>
                    <a:pt x="94" y="106"/>
                    <a:pt x="86" y="109"/>
                    <a:pt x="78" y="114"/>
                  </a:cubicBezTo>
                  <a:cubicBezTo>
                    <a:pt x="78" y="116"/>
                    <a:pt x="78" y="118"/>
                    <a:pt x="79" y="120"/>
                  </a:cubicBezTo>
                  <a:cubicBezTo>
                    <a:pt x="83" y="120"/>
                    <a:pt x="87" y="120"/>
                    <a:pt x="92" y="119"/>
                  </a:cubicBezTo>
                  <a:cubicBezTo>
                    <a:pt x="96" y="123"/>
                    <a:pt x="96" y="131"/>
                    <a:pt x="93" y="136"/>
                  </a:cubicBezTo>
                  <a:cubicBezTo>
                    <a:pt x="88" y="137"/>
                    <a:pt x="85" y="138"/>
                    <a:pt x="81" y="140"/>
                  </a:cubicBezTo>
                  <a:cubicBezTo>
                    <a:pt x="81" y="142"/>
                    <a:pt x="81" y="144"/>
                    <a:pt x="80" y="147"/>
                  </a:cubicBezTo>
                  <a:cubicBezTo>
                    <a:pt x="81" y="156"/>
                    <a:pt x="85" y="178"/>
                    <a:pt x="72" y="180"/>
                  </a:cubicBezTo>
                  <a:moveTo>
                    <a:pt x="99" y="67"/>
                  </a:moveTo>
                  <a:cubicBezTo>
                    <a:pt x="103" y="63"/>
                    <a:pt x="106" y="58"/>
                    <a:pt x="106" y="53"/>
                  </a:cubicBezTo>
                  <a:cubicBezTo>
                    <a:pt x="102" y="49"/>
                    <a:pt x="96" y="49"/>
                    <a:pt x="92" y="49"/>
                  </a:cubicBezTo>
                  <a:cubicBezTo>
                    <a:pt x="92" y="51"/>
                    <a:pt x="92" y="51"/>
                    <a:pt x="87" y="59"/>
                  </a:cubicBezTo>
                  <a:cubicBezTo>
                    <a:pt x="88" y="59"/>
                    <a:pt x="88" y="59"/>
                    <a:pt x="89" y="59"/>
                  </a:cubicBezTo>
                  <a:cubicBezTo>
                    <a:pt x="88" y="60"/>
                    <a:pt x="88" y="60"/>
                    <a:pt x="87" y="60"/>
                  </a:cubicBezTo>
                  <a:cubicBezTo>
                    <a:pt x="87" y="60"/>
                    <a:pt x="88" y="60"/>
                    <a:pt x="88" y="61"/>
                  </a:cubicBezTo>
                  <a:cubicBezTo>
                    <a:pt x="90" y="61"/>
                    <a:pt x="91" y="59"/>
                    <a:pt x="92" y="58"/>
                  </a:cubicBezTo>
                  <a:cubicBezTo>
                    <a:pt x="98" y="57"/>
                    <a:pt x="98" y="59"/>
                    <a:pt x="98" y="67"/>
                  </a:cubicBezTo>
                  <a:cubicBezTo>
                    <a:pt x="98" y="67"/>
                    <a:pt x="98" y="67"/>
                    <a:pt x="99" y="67"/>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9" name="Freeform 87"/>
            <p:cNvSpPr/>
            <p:nvPr userDrawn="1"/>
          </p:nvSpPr>
          <p:spPr bwMode="auto">
            <a:xfrm>
              <a:off x="1415" y="933"/>
              <a:ext cx="31" cy="40"/>
            </a:xfrm>
            <a:custGeom>
              <a:avLst/>
              <a:gdLst>
                <a:gd name="T0" fmla="*/ 0 w 31"/>
                <a:gd name="T1" fmla="*/ 35 h 40"/>
                <a:gd name="T2" fmla="*/ 24 w 31"/>
                <a:gd name="T3" fmla="*/ 5 h 40"/>
                <a:gd name="T4" fmla="*/ 2 w 31"/>
                <a:gd name="T5" fmla="*/ 5 h 40"/>
                <a:gd name="T6" fmla="*/ 2 w 31"/>
                <a:gd name="T7" fmla="*/ 3 h 40"/>
                <a:gd name="T8" fmla="*/ 2 w 31"/>
                <a:gd name="T9" fmla="*/ 0 h 40"/>
                <a:gd name="T10" fmla="*/ 31 w 31"/>
                <a:gd name="T11" fmla="*/ 0 h 40"/>
                <a:gd name="T12" fmla="*/ 31 w 31"/>
                <a:gd name="T13" fmla="*/ 3 h 40"/>
                <a:gd name="T14" fmla="*/ 31 w 31"/>
                <a:gd name="T15" fmla="*/ 5 h 40"/>
                <a:gd name="T16" fmla="*/ 6 w 31"/>
                <a:gd name="T17" fmla="*/ 35 h 40"/>
                <a:gd name="T18" fmla="*/ 31 w 31"/>
                <a:gd name="T19" fmla="*/ 35 h 40"/>
                <a:gd name="T20" fmla="*/ 31 w 31"/>
                <a:gd name="T21" fmla="*/ 37 h 40"/>
                <a:gd name="T22" fmla="*/ 31 w 31"/>
                <a:gd name="T23" fmla="*/ 40 h 40"/>
                <a:gd name="T24" fmla="*/ 0 w 31"/>
                <a:gd name="T25" fmla="*/ 40 h 40"/>
                <a:gd name="T26" fmla="*/ 0 w 31"/>
                <a:gd name="T27" fmla="*/ 37 h 40"/>
                <a:gd name="T28" fmla="*/ 0 w 31"/>
                <a:gd name="T29" fmla="*/ 3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0" y="35"/>
                  </a:moveTo>
                  <a:lnTo>
                    <a:pt x="24" y="5"/>
                  </a:lnTo>
                  <a:lnTo>
                    <a:pt x="2" y="5"/>
                  </a:lnTo>
                  <a:lnTo>
                    <a:pt x="2" y="3"/>
                  </a:lnTo>
                  <a:lnTo>
                    <a:pt x="2" y="0"/>
                  </a:lnTo>
                  <a:lnTo>
                    <a:pt x="31" y="0"/>
                  </a:lnTo>
                  <a:lnTo>
                    <a:pt x="31" y="3"/>
                  </a:lnTo>
                  <a:lnTo>
                    <a:pt x="31" y="5"/>
                  </a:lnTo>
                  <a:lnTo>
                    <a:pt x="6" y="35"/>
                  </a:lnTo>
                  <a:lnTo>
                    <a:pt x="31" y="35"/>
                  </a:lnTo>
                  <a:lnTo>
                    <a:pt x="31" y="37"/>
                  </a:lnTo>
                  <a:lnTo>
                    <a:pt x="31" y="40"/>
                  </a:lnTo>
                  <a:lnTo>
                    <a:pt x="0" y="40"/>
                  </a:lnTo>
                  <a:lnTo>
                    <a:pt x="0" y="37"/>
                  </a:lnTo>
                  <a:lnTo>
                    <a:pt x="0" y="35"/>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20" name="Freeform 88"/>
            <p:cNvSpPr/>
            <p:nvPr userDrawn="1"/>
          </p:nvSpPr>
          <p:spPr bwMode="auto">
            <a:xfrm>
              <a:off x="1458" y="933"/>
              <a:ext cx="31" cy="40"/>
            </a:xfrm>
            <a:custGeom>
              <a:avLst/>
              <a:gdLst>
                <a:gd name="T0" fmla="*/ 0 w 31"/>
                <a:gd name="T1" fmla="*/ 0 h 40"/>
                <a:gd name="T2" fmla="*/ 2 w 31"/>
                <a:gd name="T3" fmla="*/ 0 h 40"/>
                <a:gd name="T4" fmla="*/ 5 w 31"/>
                <a:gd name="T5" fmla="*/ 0 h 40"/>
                <a:gd name="T6" fmla="*/ 5 w 31"/>
                <a:gd name="T7" fmla="*/ 16 h 40"/>
                <a:gd name="T8" fmla="*/ 26 w 31"/>
                <a:gd name="T9" fmla="*/ 16 h 40"/>
                <a:gd name="T10" fmla="*/ 26 w 31"/>
                <a:gd name="T11" fmla="*/ 0 h 40"/>
                <a:gd name="T12" fmla="*/ 28 w 31"/>
                <a:gd name="T13" fmla="*/ 0 h 40"/>
                <a:gd name="T14" fmla="*/ 31 w 31"/>
                <a:gd name="T15" fmla="*/ 0 h 40"/>
                <a:gd name="T16" fmla="*/ 31 w 31"/>
                <a:gd name="T17" fmla="*/ 40 h 40"/>
                <a:gd name="T18" fmla="*/ 28 w 31"/>
                <a:gd name="T19" fmla="*/ 40 h 40"/>
                <a:gd name="T20" fmla="*/ 26 w 31"/>
                <a:gd name="T21" fmla="*/ 40 h 40"/>
                <a:gd name="T22" fmla="*/ 26 w 31"/>
                <a:gd name="T23" fmla="*/ 21 h 40"/>
                <a:gd name="T24" fmla="*/ 5 w 31"/>
                <a:gd name="T25" fmla="*/ 21 h 40"/>
                <a:gd name="T26" fmla="*/ 5 w 31"/>
                <a:gd name="T27" fmla="*/ 40 h 40"/>
                <a:gd name="T28" fmla="*/ 2 w 31"/>
                <a:gd name="T29" fmla="*/ 40 h 40"/>
                <a:gd name="T30" fmla="*/ 0 w 31"/>
                <a:gd name="T31" fmla="*/ 40 h 40"/>
                <a:gd name="T32" fmla="*/ 0 w 31"/>
                <a:gd name="T3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40">
                  <a:moveTo>
                    <a:pt x="0" y="0"/>
                  </a:moveTo>
                  <a:lnTo>
                    <a:pt x="2" y="0"/>
                  </a:lnTo>
                  <a:lnTo>
                    <a:pt x="5" y="0"/>
                  </a:lnTo>
                  <a:lnTo>
                    <a:pt x="5" y="16"/>
                  </a:lnTo>
                  <a:lnTo>
                    <a:pt x="26" y="16"/>
                  </a:lnTo>
                  <a:lnTo>
                    <a:pt x="26" y="0"/>
                  </a:lnTo>
                  <a:lnTo>
                    <a:pt x="28" y="0"/>
                  </a:lnTo>
                  <a:lnTo>
                    <a:pt x="31" y="0"/>
                  </a:lnTo>
                  <a:lnTo>
                    <a:pt x="31" y="40"/>
                  </a:lnTo>
                  <a:lnTo>
                    <a:pt x="28" y="40"/>
                  </a:lnTo>
                  <a:lnTo>
                    <a:pt x="26" y="40"/>
                  </a:lnTo>
                  <a:lnTo>
                    <a:pt x="26" y="21"/>
                  </a:lnTo>
                  <a:lnTo>
                    <a:pt x="5" y="21"/>
                  </a:lnTo>
                  <a:lnTo>
                    <a:pt x="5" y="40"/>
                  </a:lnTo>
                  <a:lnTo>
                    <a:pt x="2" y="40"/>
                  </a:lnTo>
                  <a:lnTo>
                    <a:pt x="0" y="40"/>
                  </a:lnTo>
                  <a:lnTo>
                    <a:pt x="0"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21" name="Freeform 89"/>
            <p:cNvSpPr/>
            <p:nvPr userDrawn="1"/>
          </p:nvSpPr>
          <p:spPr bwMode="auto">
            <a:xfrm>
              <a:off x="1503" y="933"/>
              <a:ext cx="29" cy="40"/>
            </a:xfrm>
            <a:custGeom>
              <a:avLst/>
              <a:gdLst>
                <a:gd name="T0" fmla="*/ 0 w 29"/>
                <a:gd name="T1" fmla="*/ 40 h 40"/>
                <a:gd name="T2" fmla="*/ 0 w 29"/>
                <a:gd name="T3" fmla="*/ 0 h 40"/>
                <a:gd name="T4" fmla="*/ 29 w 29"/>
                <a:gd name="T5" fmla="*/ 0 h 40"/>
                <a:gd name="T6" fmla="*/ 29 w 29"/>
                <a:gd name="T7" fmla="*/ 3 h 40"/>
                <a:gd name="T8" fmla="*/ 29 w 29"/>
                <a:gd name="T9" fmla="*/ 5 h 40"/>
                <a:gd name="T10" fmla="*/ 6 w 29"/>
                <a:gd name="T11" fmla="*/ 5 h 40"/>
                <a:gd name="T12" fmla="*/ 6 w 29"/>
                <a:gd name="T13" fmla="*/ 16 h 40"/>
                <a:gd name="T14" fmla="*/ 27 w 29"/>
                <a:gd name="T15" fmla="*/ 16 h 40"/>
                <a:gd name="T16" fmla="*/ 27 w 29"/>
                <a:gd name="T17" fmla="*/ 19 h 40"/>
                <a:gd name="T18" fmla="*/ 27 w 29"/>
                <a:gd name="T19" fmla="*/ 21 h 40"/>
                <a:gd name="T20" fmla="*/ 6 w 29"/>
                <a:gd name="T21" fmla="*/ 21 h 40"/>
                <a:gd name="T22" fmla="*/ 6 w 29"/>
                <a:gd name="T23" fmla="*/ 35 h 40"/>
                <a:gd name="T24" fmla="*/ 29 w 29"/>
                <a:gd name="T25" fmla="*/ 35 h 40"/>
                <a:gd name="T26" fmla="*/ 29 w 29"/>
                <a:gd name="T27" fmla="*/ 37 h 40"/>
                <a:gd name="T28" fmla="*/ 29 w 29"/>
                <a:gd name="T29" fmla="*/ 40 h 40"/>
                <a:gd name="T30" fmla="*/ 0 w 29"/>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 h="40">
                  <a:moveTo>
                    <a:pt x="0" y="40"/>
                  </a:moveTo>
                  <a:lnTo>
                    <a:pt x="0" y="0"/>
                  </a:lnTo>
                  <a:lnTo>
                    <a:pt x="29" y="0"/>
                  </a:lnTo>
                  <a:lnTo>
                    <a:pt x="29" y="3"/>
                  </a:lnTo>
                  <a:lnTo>
                    <a:pt x="29" y="5"/>
                  </a:lnTo>
                  <a:lnTo>
                    <a:pt x="6" y="5"/>
                  </a:lnTo>
                  <a:lnTo>
                    <a:pt x="6" y="16"/>
                  </a:lnTo>
                  <a:lnTo>
                    <a:pt x="27" y="16"/>
                  </a:lnTo>
                  <a:lnTo>
                    <a:pt x="27" y="19"/>
                  </a:lnTo>
                  <a:lnTo>
                    <a:pt x="27" y="21"/>
                  </a:lnTo>
                  <a:lnTo>
                    <a:pt x="6" y="21"/>
                  </a:lnTo>
                  <a:lnTo>
                    <a:pt x="6" y="35"/>
                  </a:lnTo>
                  <a:lnTo>
                    <a:pt x="29" y="35"/>
                  </a:lnTo>
                  <a:lnTo>
                    <a:pt x="29" y="37"/>
                  </a:lnTo>
                  <a:lnTo>
                    <a:pt x="29" y="40"/>
                  </a:lnTo>
                  <a:lnTo>
                    <a:pt x="0" y="4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22" name="Freeform 90"/>
            <p:cNvSpPr/>
            <p:nvPr userDrawn="1"/>
          </p:nvSpPr>
          <p:spPr bwMode="auto">
            <a:xfrm>
              <a:off x="1542" y="933"/>
              <a:ext cx="22" cy="40"/>
            </a:xfrm>
            <a:custGeom>
              <a:avLst/>
              <a:gdLst>
                <a:gd name="T0" fmla="*/ 14 w 18"/>
                <a:gd name="T1" fmla="*/ 0 h 32"/>
                <a:gd name="T2" fmla="*/ 16 w 18"/>
                <a:gd name="T3" fmla="*/ 0 h 32"/>
                <a:gd name="T4" fmla="*/ 18 w 18"/>
                <a:gd name="T5" fmla="*/ 0 h 32"/>
                <a:gd name="T6" fmla="*/ 18 w 18"/>
                <a:gd name="T7" fmla="*/ 23 h 32"/>
                <a:gd name="T8" fmla="*/ 16 w 18"/>
                <a:gd name="T9" fmla="*/ 30 h 32"/>
                <a:gd name="T10" fmla="*/ 9 w 18"/>
                <a:gd name="T11" fmla="*/ 32 h 32"/>
                <a:gd name="T12" fmla="*/ 2 w 18"/>
                <a:gd name="T13" fmla="*/ 30 h 32"/>
                <a:gd name="T14" fmla="*/ 0 w 18"/>
                <a:gd name="T15" fmla="*/ 23 h 32"/>
                <a:gd name="T16" fmla="*/ 0 w 18"/>
                <a:gd name="T17" fmla="*/ 21 h 32"/>
                <a:gd name="T18" fmla="*/ 4 w 18"/>
                <a:gd name="T19" fmla="*/ 21 h 32"/>
                <a:gd name="T20" fmla="*/ 4 w 18"/>
                <a:gd name="T21" fmla="*/ 23 h 32"/>
                <a:gd name="T22" fmla="*/ 6 w 18"/>
                <a:gd name="T23" fmla="*/ 27 h 32"/>
                <a:gd name="T24" fmla="*/ 9 w 18"/>
                <a:gd name="T25" fmla="*/ 29 h 32"/>
                <a:gd name="T26" fmla="*/ 13 w 18"/>
                <a:gd name="T27" fmla="*/ 27 h 32"/>
                <a:gd name="T28" fmla="*/ 14 w 18"/>
                <a:gd name="T29" fmla="*/ 23 h 32"/>
                <a:gd name="T30" fmla="*/ 14 w 18"/>
                <a:gd name="T31"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32">
                  <a:moveTo>
                    <a:pt x="14" y="0"/>
                  </a:moveTo>
                  <a:cubicBezTo>
                    <a:pt x="16" y="0"/>
                    <a:pt x="16" y="0"/>
                    <a:pt x="16" y="0"/>
                  </a:cubicBezTo>
                  <a:cubicBezTo>
                    <a:pt x="18" y="0"/>
                    <a:pt x="18" y="0"/>
                    <a:pt x="18" y="0"/>
                  </a:cubicBezTo>
                  <a:cubicBezTo>
                    <a:pt x="18" y="23"/>
                    <a:pt x="18" y="23"/>
                    <a:pt x="18" y="23"/>
                  </a:cubicBezTo>
                  <a:cubicBezTo>
                    <a:pt x="18" y="26"/>
                    <a:pt x="18" y="28"/>
                    <a:pt x="16" y="30"/>
                  </a:cubicBezTo>
                  <a:cubicBezTo>
                    <a:pt x="14" y="32"/>
                    <a:pt x="12" y="32"/>
                    <a:pt x="9" y="32"/>
                  </a:cubicBezTo>
                  <a:cubicBezTo>
                    <a:pt x="6" y="32"/>
                    <a:pt x="4" y="32"/>
                    <a:pt x="2" y="30"/>
                  </a:cubicBezTo>
                  <a:cubicBezTo>
                    <a:pt x="1" y="28"/>
                    <a:pt x="0" y="26"/>
                    <a:pt x="0" y="23"/>
                  </a:cubicBezTo>
                  <a:cubicBezTo>
                    <a:pt x="0" y="21"/>
                    <a:pt x="0" y="21"/>
                    <a:pt x="0" y="21"/>
                  </a:cubicBezTo>
                  <a:cubicBezTo>
                    <a:pt x="4" y="21"/>
                    <a:pt x="4" y="21"/>
                    <a:pt x="4" y="21"/>
                  </a:cubicBezTo>
                  <a:cubicBezTo>
                    <a:pt x="4" y="23"/>
                    <a:pt x="4" y="23"/>
                    <a:pt x="4" y="23"/>
                  </a:cubicBezTo>
                  <a:cubicBezTo>
                    <a:pt x="4" y="25"/>
                    <a:pt x="5" y="26"/>
                    <a:pt x="6" y="27"/>
                  </a:cubicBezTo>
                  <a:cubicBezTo>
                    <a:pt x="6" y="28"/>
                    <a:pt x="8" y="29"/>
                    <a:pt x="9" y="29"/>
                  </a:cubicBezTo>
                  <a:cubicBezTo>
                    <a:pt x="11" y="29"/>
                    <a:pt x="12" y="28"/>
                    <a:pt x="13" y="27"/>
                  </a:cubicBezTo>
                  <a:cubicBezTo>
                    <a:pt x="14" y="26"/>
                    <a:pt x="14" y="24"/>
                    <a:pt x="14" y="23"/>
                  </a:cubicBezTo>
                  <a:lnTo>
                    <a:pt x="14"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23" name="Freeform 91"/>
            <p:cNvSpPr/>
            <p:nvPr userDrawn="1"/>
          </p:nvSpPr>
          <p:spPr bwMode="auto">
            <a:xfrm>
              <a:off x="1579" y="933"/>
              <a:ext cx="5" cy="40"/>
            </a:xfrm>
            <a:custGeom>
              <a:avLst/>
              <a:gdLst>
                <a:gd name="T0" fmla="*/ 0 w 5"/>
                <a:gd name="T1" fmla="*/ 0 h 40"/>
                <a:gd name="T2" fmla="*/ 3 w 5"/>
                <a:gd name="T3" fmla="*/ 0 h 40"/>
                <a:gd name="T4" fmla="*/ 5 w 5"/>
                <a:gd name="T5" fmla="*/ 0 h 40"/>
                <a:gd name="T6" fmla="*/ 5 w 5"/>
                <a:gd name="T7" fmla="*/ 40 h 40"/>
                <a:gd name="T8" fmla="*/ 3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3" y="0"/>
                  </a:lnTo>
                  <a:lnTo>
                    <a:pt x="5" y="0"/>
                  </a:lnTo>
                  <a:lnTo>
                    <a:pt x="5" y="40"/>
                  </a:lnTo>
                  <a:lnTo>
                    <a:pt x="3" y="40"/>
                  </a:lnTo>
                  <a:lnTo>
                    <a:pt x="0" y="40"/>
                  </a:lnTo>
                  <a:lnTo>
                    <a:pt x="0"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24" name="Freeform 92"/>
            <p:cNvSpPr>
              <a:spLocks noEditPoints="1"/>
            </p:cNvSpPr>
            <p:nvPr userDrawn="1"/>
          </p:nvSpPr>
          <p:spPr bwMode="auto">
            <a:xfrm>
              <a:off x="1595" y="933"/>
              <a:ext cx="36" cy="40"/>
            </a:xfrm>
            <a:custGeom>
              <a:avLst/>
              <a:gdLst>
                <a:gd name="T0" fmla="*/ 15 w 36"/>
                <a:gd name="T1" fmla="*/ 0 h 40"/>
                <a:gd name="T2" fmla="*/ 19 w 36"/>
                <a:gd name="T3" fmla="*/ 0 h 40"/>
                <a:gd name="T4" fmla="*/ 21 w 36"/>
                <a:gd name="T5" fmla="*/ 0 h 40"/>
                <a:gd name="T6" fmla="*/ 36 w 36"/>
                <a:gd name="T7" fmla="*/ 40 h 40"/>
                <a:gd name="T8" fmla="*/ 33 w 36"/>
                <a:gd name="T9" fmla="*/ 40 h 40"/>
                <a:gd name="T10" fmla="*/ 30 w 36"/>
                <a:gd name="T11" fmla="*/ 40 h 40"/>
                <a:gd name="T12" fmla="*/ 26 w 36"/>
                <a:gd name="T13" fmla="*/ 27 h 40"/>
                <a:gd name="T14" fmla="*/ 10 w 36"/>
                <a:gd name="T15" fmla="*/ 27 h 40"/>
                <a:gd name="T16" fmla="*/ 7 w 36"/>
                <a:gd name="T17" fmla="*/ 40 h 40"/>
                <a:gd name="T18" fmla="*/ 4 w 36"/>
                <a:gd name="T19" fmla="*/ 40 h 40"/>
                <a:gd name="T20" fmla="*/ 0 w 36"/>
                <a:gd name="T21" fmla="*/ 40 h 40"/>
                <a:gd name="T22" fmla="*/ 15 w 36"/>
                <a:gd name="T23" fmla="*/ 0 h 40"/>
                <a:gd name="T24" fmla="*/ 12 w 36"/>
                <a:gd name="T25" fmla="*/ 24 h 40"/>
                <a:gd name="T26" fmla="*/ 24 w 36"/>
                <a:gd name="T27" fmla="*/ 24 h 40"/>
                <a:gd name="T28" fmla="*/ 19 w 36"/>
                <a:gd name="T29" fmla="*/ 5 h 40"/>
                <a:gd name="T30" fmla="*/ 19 w 36"/>
                <a:gd name="T31" fmla="*/ 5 h 40"/>
                <a:gd name="T32" fmla="*/ 12 w 36"/>
                <a:gd name="T33"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 h="40">
                  <a:moveTo>
                    <a:pt x="15" y="0"/>
                  </a:moveTo>
                  <a:lnTo>
                    <a:pt x="19" y="0"/>
                  </a:lnTo>
                  <a:lnTo>
                    <a:pt x="21" y="0"/>
                  </a:lnTo>
                  <a:lnTo>
                    <a:pt x="36" y="40"/>
                  </a:lnTo>
                  <a:lnTo>
                    <a:pt x="33" y="40"/>
                  </a:lnTo>
                  <a:lnTo>
                    <a:pt x="30" y="40"/>
                  </a:lnTo>
                  <a:lnTo>
                    <a:pt x="26" y="27"/>
                  </a:lnTo>
                  <a:lnTo>
                    <a:pt x="10" y="27"/>
                  </a:lnTo>
                  <a:lnTo>
                    <a:pt x="7" y="40"/>
                  </a:lnTo>
                  <a:lnTo>
                    <a:pt x="4" y="40"/>
                  </a:lnTo>
                  <a:lnTo>
                    <a:pt x="0" y="40"/>
                  </a:lnTo>
                  <a:lnTo>
                    <a:pt x="15" y="0"/>
                  </a:lnTo>
                  <a:close/>
                  <a:moveTo>
                    <a:pt x="12" y="24"/>
                  </a:moveTo>
                  <a:lnTo>
                    <a:pt x="24" y="24"/>
                  </a:lnTo>
                  <a:lnTo>
                    <a:pt x="19" y="5"/>
                  </a:lnTo>
                  <a:lnTo>
                    <a:pt x="19" y="5"/>
                  </a:lnTo>
                  <a:lnTo>
                    <a:pt x="12" y="24"/>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25" name="Freeform 93"/>
            <p:cNvSpPr/>
            <p:nvPr userDrawn="1"/>
          </p:nvSpPr>
          <p:spPr bwMode="auto">
            <a:xfrm>
              <a:off x="1641" y="933"/>
              <a:ext cx="31" cy="40"/>
            </a:xfrm>
            <a:custGeom>
              <a:avLst/>
              <a:gdLst>
                <a:gd name="T0" fmla="*/ 5 w 31"/>
                <a:gd name="T1" fmla="*/ 40 h 40"/>
                <a:gd name="T2" fmla="*/ 3 w 31"/>
                <a:gd name="T3" fmla="*/ 40 h 40"/>
                <a:gd name="T4" fmla="*/ 0 w 31"/>
                <a:gd name="T5" fmla="*/ 40 h 40"/>
                <a:gd name="T6" fmla="*/ 0 w 31"/>
                <a:gd name="T7" fmla="*/ 0 h 40"/>
                <a:gd name="T8" fmla="*/ 4 w 31"/>
                <a:gd name="T9" fmla="*/ 0 h 40"/>
                <a:gd name="T10" fmla="*/ 6 w 31"/>
                <a:gd name="T11" fmla="*/ 0 h 40"/>
                <a:gd name="T12" fmla="*/ 26 w 31"/>
                <a:gd name="T13" fmla="*/ 32 h 40"/>
                <a:gd name="T14" fmla="*/ 26 w 31"/>
                <a:gd name="T15" fmla="*/ 0 h 40"/>
                <a:gd name="T16" fmla="*/ 29 w 31"/>
                <a:gd name="T17" fmla="*/ 0 h 40"/>
                <a:gd name="T18" fmla="*/ 31 w 31"/>
                <a:gd name="T19" fmla="*/ 0 h 40"/>
                <a:gd name="T20" fmla="*/ 31 w 31"/>
                <a:gd name="T21" fmla="*/ 40 h 40"/>
                <a:gd name="T22" fmla="*/ 29 w 31"/>
                <a:gd name="T23" fmla="*/ 40 h 40"/>
                <a:gd name="T24" fmla="*/ 26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3" y="40"/>
                  </a:lnTo>
                  <a:lnTo>
                    <a:pt x="0" y="40"/>
                  </a:lnTo>
                  <a:lnTo>
                    <a:pt x="0" y="0"/>
                  </a:lnTo>
                  <a:lnTo>
                    <a:pt x="4" y="0"/>
                  </a:lnTo>
                  <a:lnTo>
                    <a:pt x="6" y="0"/>
                  </a:lnTo>
                  <a:lnTo>
                    <a:pt x="26" y="32"/>
                  </a:lnTo>
                  <a:lnTo>
                    <a:pt x="26" y="0"/>
                  </a:lnTo>
                  <a:lnTo>
                    <a:pt x="29" y="0"/>
                  </a:lnTo>
                  <a:lnTo>
                    <a:pt x="31" y="0"/>
                  </a:lnTo>
                  <a:lnTo>
                    <a:pt x="31" y="40"/>
                  </a:lnTo>
                  <a:lnTo>
                    <a:pt x="29" y="40"/>
                  </a:lnTo>
                  <a:lnTo>
                    <a:pt x="26" y="40"/>
                  </a:lnTo>
                  <a:lnTo>
                    <a:pt x="5" y="8"/>
                  </a:lnTo>
                  <a:lnTo>
                    <a:pt x="5" y="4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26" name="Freeform 94"/>
            <p:cNvSpPr/>
            <p:nvPr userDrawn="1"/>
          </p:nvSpPr>
          <p:spPr bwMode="auto">
            <a:xfrm>
              <a:off x="1687" y="932"/>
              <a:ext cx="36" cy="41"/>
            </a:xfrm>
            <a:custGeom>
              <a:avLst/>
              <a:gdLst>
                <a:gd name="T0" fmla="*/ 15 w 29"/>
                <a:gd name="T1" fmla="*/ 33 h 33"/>
                <a:gd name="T2" fmla="*/ 4 w 29"/>
                <a:gd name="T3" fmla="*/ 29 h 33"/>
                <a:gd name="T4" fmla="*/ 0 w 29"/>
                <a:gd name="T5" fmla="*/ 17 h 33"/>
                <a:gd name="T6" fmla="*/ 4 w 29"/>
                <a:gd name="T7" fmla="*/ 5 h 33"/>
                <a:gd name="T8" fmla="*/ 15 w 29"/>
                <a:gd name="T9" fmla="*/ 0 h 33"/>
                <a:gd name="T10" fmla="*/ 24 w 29"/>
                <a:gd name="T11" fmla="*/ 3 h 33"/>
                <a:gd name="T12" fmla="*/ 28 w 29"/>
                <a:gd name="T13" fmla="*/ 10 h 33"/>
                <a:gd name="T14" fmla="*/ 24 w 29"/>
                <a:gd name="T15" fmla="*/ 10 h 33"/>
                <a:gd name="T16" fmla="*/ 21 w 29"/>
                <a:gd name="T17" fmla="*/ 5 h 33"/>
                <a:gd name="T18" fmla="*/ 15 w 29"/>
                <a:gd name="T19" fmla="*/ 4 h 33"/>
                <a:gd name="T20" fmla="*/ 7 w 29"/>
                <a:gd name="T21" fmla="*/ 7 h 33"/>
                <a:gd name="T22" fmla="*/ 4 w 29"/>
                <a:gd name="T23" fmla="*/ 17 h 33"/>
                <a:gd name="T24" fmla="*/ 7 w 29"/>
                <a:gd name="T25" fmla="*/ 26 h 33"/>
                <a:gd name="T26" fmla="*/ 15 w 29"/>
                <a:gd name="T27" fmla="*/ 30 h 33"/>
                <a:gd name="T28" fmla="*/ 23 w 29"/>
                <a:gd name="T29" fmla="*/ 26 h 33"/>
                <a:gd name="T30" fmla="*/ 24 w 29"/>
                <a:gd name="T31" fmla="*/ 25 h 33"/>
                <a:gd name="T32" fmla="*/ 25 w 29"/>
                <a:gd name="T33" fmla="*/ 23 h 33"/>
                <a:gd name="T34" fmla="*/ 25 w 29"/>
                <a:gd name="T35" fmla="*/ 20 h 33"/>
                <a:gd name="T36" fmla="*/ 25 w 29"/>
                <a:gd name="T37" fmla="*/ 19 h 33"/>
                <a:gd name="T38" fmla="*/ 15 w 29"/>
                <a:gd name="T39" fmla="*/ 19 h 33"/>
                <a:gd name="T40" fmla="*/ 15 w 29"/>
                <a:gd name="T41" fmla="*/ 16 h 33"/>
                <a:gd name="T42" fmla="*/ 29 w 29"/>
                <a:gd name="T43" fmla="*/ 16 h 33"/>
                <a:gd name="T44" fmla="*/ 29 w 29"/>
                <a:gd name="T45" fmla="*/ 32 h 33"/>
                <a:gd name="T46" fmla="*/ 26 w 29"/>
                <a:gd name="T47" fmla="*/ 32 h 33"/>
                <a:gd name="T48" fmla="*/ 25 w 29"/>
                <a:gd name="T49" fmla="*/ 28 h 33"/>
                <a:gd name="T50" fmla="*/ 25 w 29"/>
                <a:gd name="T51" fmla="*/ 29 h 33"/>
                <a:gd name="T52" fmla="*/ 15 w 29"/>
                <a:gd name="T53"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 h="33">
                  <a:moveTo>
                    <a:pt x="15" y="33"/>
                  </a:moveTo>
                  <a:cubicBezTo>
                    <a:pt x="10" y="33"/>
                    <a:pt x="7" y="32"/>
                    <a:pt x="4" y="29"/>
                  </a:cubicBezTo>
                  <a:cubicBezTo>
                    <a:pt x="1" y="26"/>
                    <a:pt x="0" y="22"/>
                    <a:pt x="0" y="17"/>
                  </a:cubicBezTo>
                  <a:cubicBezTo>
                    <a:pt x="0" y="12"/>
                    <a:pt x="1" y="8"/>
                    <a:pt x="4" y="5"/>
                  </a:cubicBezTo>
                  <a:cubicBezTo>
                    <a:pt x="7" y="1"/>
                    <a:pt x="10" y="0"/>
                    <a:pt x="15" y="0"/>
                  </a:cubicBezTo>
                  <a:cubicBezTo>
                    <a:pt x="18" y="0"/>
                    <a:pt x="21" y="1"/>
                    <a:pt x="24" y="3"/>
                  </a:cubicBezTo>
                  <a:cubicBezTo>
                    <a:pt x="26" y="5"/>
                    <a:pt x="28" y="7"/>
                    <a:pt x="28" y="10"/>
                  </a:cubicBezTo>
                  <a:cubicBezTo>
                    <a:pt x="24" y="10"/>
                    <a:pt x="24" y="10"/>
                    <a:pt x="24" y="10"/>
                  </a:cubicBezTo>
                  <a:cubicBezTo>
                    <a:pt x="24" y="8"/>
                    <a:pt x="23" y="7"/>
                    <a:pt x="21" y="5"/>
                  </a:cubicBezTo>
                  <a:cubicBezTo>
                    <a:pt x="19" y="4"/>
                    <a:pt x="17" y="4"/>
                    <a:pt x="15" y="4"/>
                  </a:cubicBezTo>
                  <a:cubicBezTo>
                    <a:pt x="12" y="4"/>
                    <a:pt x="9" y="5"/>
                    <a:pt x="7" y="7"/>
                  </a:cubicBezTo>
                  <a:cubicBezTo>
                    <a:pt x="5" y="10"/>
                    <a:pt x="4" y="13"/>
                    <a:pt x="4" y="17"/>
                  </a:cubicBezTo>
                  <a:cubicBezTo>
                    <a:pt x="4" y="21"/>
                    <a:pt x="5" y="24"/>
                    <a:pt x="7" y="26"/>
                  </a:cubicBezTo>
                  <a:cubicBezTo>
                    <a:pt x="9" y="29"/>
                    <a:pt x="12" y="30"/>
                    <a:pt x="15" y="30"/>
                  </a:cubicBezTo>
                  <a:cubicBezTo>
                    <a:pt x="18" y="30"/>
                    <a:pt x="21" y="29"/>
                    <a:pt x="23" y="26"/>
                  </a:cubicBezTo>
                  <a:cubicBezTo>
                    <a:pt x="23" y="26"/>
                    <a:pt x="23" y="25"/>
                    <a:pt x="24" y="25"/>
                  </a:cubicBezTo>
                  <a:cubicBezTo>
                    <a:pt x="24" y="24"/>
                    <a:pt x="24" y="24"/>
                    <a:pt x="25" y="23"/>
                  </a:cubicBezTo>
                  <a:cubicBezTo>
                    <a:pt x="25" y="22"/>
                    <a:pt x="25" y="21"/>
                    <a:pt x="25" y="20"/>
                  </a:cubicBezTo>
                  <a:cubicBezTo>
                    <a:pt x="25" y="19"/>
                    <a:pt x="25" y="19"/>
                    <a:pt x="25" y="19"/>
                  </a:cubicBezTo>
                  <a:cubicBezTo>
                    <a:pt x="15" y="19"/>
                    <a:pt x="15" y="19"/>
                    <a:pt x="15" y="19"/>
                  </a:cubicBezTo>
                  <a:cubicBezTo>
                    <a:pt x="15" y="16"/>
                    <a:pt x="15" y="16"/>
                    <a:pt x="15" y="16"/>
                  </a:cubicBezTo>
                  <a:cubicBezTo>
                    <a:pt x="29" y="16"/>
                    <a:pt x="29" y="16"/>
                    <a:pt x="29" y="16"/>
                  </a:cubicBezTo>
                  <a:cubicBezTo>
                    <a:pt x="29" y="32"/>
                    <a:pt x="29" y="32"/>
                    <a:pt x="29" y="32"/>
                  </a:cubicBezTo>
                  <a:cubicBezTo>
                    <a:pt x="26" y="32"/>
                    <a:pt x="26" y="32"/>
                    <a:pt x="26" y="32"/>
                  </a:cubicBezTo>
                  <a:cubicBezTo>
                    <a:pt x="25" y="28"/>
                    <a:pt x="25" y="28"/>
                    <a:pt x="25" y="28"/>
                  </a:cubicBezTo>
                  <a:cubicBezTo>
                    <a:pt x="25" y="29"/>
                    <a:pt x="25" y="29"/>
                    <a:pt x="25" y="29"/>
                  </a:cubicBezTo>
                  <a:cubicBezTo>
                    <a:pt x="22" y="32"/>
                    <a:pt x="19" y="33"/>
                    <a:pt x="15" y="33"/>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27" name="Freeform 95"/>
            <p:cNvSpPr/>
            <p:nvPr userDrawn="1"/>
          </p:nvSpPr>
          <p:spPr bwMode="auto">
            <a:xfrm>
              <a:off x="1760" y="933"/>
              <a:ext cx="31" cy="40"/>
            </a:xfrm>
            <a:custGeom>
              <a:avLst/>
              <a:gdLst>
                <a:gd name="T0" fmla="*/ 25 w 25"/>
                <a:gd name="T1" fmla="*/ 20 h 32"/>
                <a:gd name="T2" fmla="*/ 21 w 25"/>
                <a:gd name="T3" fmla="*/ 29 h 32"/>
                <a:gd name="T4" fmla="*/ 12 w 25"/>
                <a:gd name="T5" fmla="*/ 32 h 32"/>
                <a:gd name="T6" fmla="*/ 3 w 25"/>
                <a:gd name="T7" fmla="*/ 29 h 32"/>
                <a:gd name="T8" fmla="*/ 0 w 25"/>
                <a:gd name="T9" fmla="*/ 20 h 32"/>
                <a:gd name="T10" fmla="*/ 0 w 25"/>
                <a:gd name="T11" fmla="*/ 0 h 32"/>
                <a:gd name="T12" fmla="*/ 2 w 25"/>
                <a:gd name="T13" fmla="*/ 0 h 32"/>
                <a:gd name="T14" fmla="*/ 4 w 25"/>
                <a:gd name="T15" fmla="*/ 0 h 32"/>
                <a:gd name="T16" fmla="*/ 4 w 25"/>
                <a:gd name="T17" fmla="*/ 20 h 32"/>
                <a:gd name="T18" fmla="*/ 6 w 25"/>
                <a:gd name="T19" fmla="*/ 26 h 32"/>
                <a:gd name="T20" fmla="*/ 12 w 25"/>
                <a:gd name="T21" fmla="*/ 29 h 32"/>
                <a:gd name="T22" fmla="*/ 18 w 25"/>
                <a:gd name="T23" fmla="*/ 26 h 32"/>
                <a:gd name="T24" fmla="*/ 20 w 25"/>
                <a:gd name="T25" fmla="*/ 20 h 32"/>
                <a:gd name="T26" fmla="*/ 20 w 25"/>
                <a:gd name="T27" fmla="*/ 0 h 32"/>
                <a:gd name="T28" fmla="*/ 22 w 25"/>
                <a:gd name="T29" fmla="*/ 0 h 32"/>
                <a:gd name="T30" fmla="*/ 25 w 25"/>
                <a:gd name="T31" fmla="*/ 0 h 32"/>
                <a:gd name="T32" fmla="*/ 25 w 25"/>
                <a:gd name="T33"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 h="32">
                  <a:moveTo>
                    <a:pt x="25" y="20"/>
                  </a:moveTo>
                  <a:cubicBezTo>
                    <a:pt x="25" y="24"/>
                    <a:pt x="23" y="27"/>
                    <a:pt x="21" y="29"/>
                  </a:cubicBezTo>
                  <a:cubicBezTo>
                    <a:pt x="19" y="31"/>
                    <a:pt x="16" y="32"/>
                    <a:pt x="12" y="32"/>
                  </a:cubicBezTo>
                  <a:cubicBezTo>
                    <a:pt x="8" y="32"/>
                    <a:pt x="5" y="31"/>
                    <a:pt x="3" y="29"/>
                  </a:cubicBezTo>
                  <a:cubicBezTo>
                    <a:pt x="1" y="27"/>
                    <a:pt x="0" y="24"/>
                    <a:pt x="0" y="20"/>
                  </a:cubicBezTo>
                  <a:cubicBezTo>
                    <a:pt x="0" y="0"/>
                    <a:pt x="0" y="0"/>
                    <a:pt x="0" y="0"/>
                  </a:cubicBezTo>
                  <a:cubicBezTo>
                    <a:pt x="2" y="0"/>
                    <a:pt x="2" y="0"/>
                    <a:pt x="2" y="0"/>
                  </a:cubicBezTo>
                  <a:cubicBezTo>
                    <a:pt x="4" y="0"/>
                    <a:pt x="4" y="0"/>
                    <a:pt x="4" y="0"/>
                  </a:cubicBezTo>
                  <a:cubicBezTo>
                    <a:pt x="4" y="20"/>
                    <a:pt x="4" y="20"/>
                    <a:pt x="4" y="20"/>
                  </a:cubicBezTo>
                  <a:cubicBezTo>
                    <a:pt x="4" y="23"/>
                    <a:pt x="5" y="25"/>
                    <a:pt x="6" y="26"/>
                  </a:cubicBezTo>
                  <a:cubicBezTo>
                    <a:pt x="7" y="28"/>
                    <a:pt x="9" y="29"/>
                    <a:pt x="12" y="29"/>
                  </a:cubicBezTo>
                  <a:cubicBezTo>
                    <a:pt x="15" y="29"/>
                    <a:pt x="17" y="28"/>
                    <a:pt x="18" y="26"/>
                  </a:cubicBezTo>
                  <a:cubicBezTo>
                    <a:pt x="20" y="25"/>
                    <a:pt x="20" y="23"/>
                    <a:pt x="20" y="20"/>
                  </a:cubicBezTo>
                  <a:cubicBezTo>
                    <a:pt x="20" y="0"/>
                    <a:pt x="20" y="0"/>
                    <a:pt x="20" y="0"/>
                  </a:cubicBezTo>
                  <a:cubicBezTo>
                    <a:pt x="22" y="0"/>
                    <a:pt x="22" y="0"/>
                    <a:pt x="22" y="0"/>
                  </a:cubicBezTo>
                  <a:cubicBezTo>
                    <a:pt x="25" y="0"/>
                    <a:pt x="25" y="0"/>
                    <a:pt x="25" y="0"/>
                  </a:cubicBezTo>
                  <a:lnTo>
                    <a:pt x="25" y="2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28" name="Freeform 96"/>
            <p:cNvSpPr/>
            <p:nvPr userDrawn="1"/>
          </p:nvSpPr>
          <p:spPr bwMode="auto">
            <a:xfrm>
              <a:off x="1806" y="933"/>
              <a:ext cx="31" cy="40"/>
            </a:xfrm>
            <a:custGeom>
              <a:avLst/>
              <a:gdLst>
                <a:gd name="T0" fmla="*/ 5 w 31"/>
                <a:gd name="T1" fmla="*/ 40 h 40"/>
                <a:gd name="T2" fmla="*/ 2 w 31"/>
                <a:gd name="T3" fmla="*/ 40 h 40"/>
                <a:gd name="T4" fmla="*/ 0 w 31"/>
                <a:gd name="T5" fmla="*/ 40 h 40"/>
                <a:gd name="T6" fmla="*/ 0 w 31"/>
                <a:gd name="T7" fmla="*/ 0 h 40"/>
                <a:gd name="T8" fmla="*/ 2 w 31"/>
                <a:gd name="T9" fmla="*/ 0 h 40"/>
                <a:gd name="T10" fmla="*/ 6 w 31"/>
                <a:gd name="T11" fmla="*/ 0 h 40"/>
                <a:gd name="T12" fmla="*/ 26 w 31"/>
                <a:gd name="T13" fmla="*/ 32 h 40"/>
                <a:gd name="T14" fmla="*/ 26 w 31"/>
                <a:gd name="T15" fmla="*/ 0 h 40"/>
                <a:gd name="T16" fmla="*/ 28 w 31"/>
                <a:gd name="T17" fmla="*/ 0 h 40"/>
                <a:gd name="T18" fmla="*/ 31 w 31"/>
                <a:gd name="T19" fmla="*/ 0 h 40"/>
                <a:gd name="T20" fmla="*/ 31 w 31"/>
                <a:gd name="T21" fmla="*/ 40 h 40"/>
                <a:gd name="T22" fmla="*/ 28 w 31"/>
                <a:gd name="T23" fmla="*/ 40 h 40"/>
                <a:gd name="T24" fmla="*/ 25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2" y="40"/>
                  </a:lnTo>
                  <a:lnTo>
                    <a:pt x="0" y="40"/>
                  </a:lnTo>
                  <a:lnTo>
                    <a:pt x="0" y="0"/>
                  </a:lnTo>
                  <a:lnTo>
                    <a:pt x="2" y="0"/>
                  </a:lnTo>
                  <a:lnTo>
                    <a:pt x="6" y="0"/>
                  </a:lnTo>
                  <a:lnTo>
                    <a:pt x="26" y="32"/>
                  </a:lnTo>
                  <a:lnTo>
                    <a:pt x="26" y="0"/>
                  </a:lnTo>
                  <a:lnTo>
                    <a:pt x="28" y="0"/>
                  </a:lnTo>
                  <a:lnTo>
                    <a:pt x="31" y="0"/>
                  </a:lnTo>
                  <a:lnTo>
                    <a:pt x="31" y="40"/>
                  </a:lnTo>
                  <a:lnTo>
                    <a:pt x="28" y="40"/>
                  </a:lnTo>
                  <a:lnTo>
                    <a:pt x="25" y="40"/>
                  </a:lnTo>
                  <a:lnTo>
                    <a:pt x="5" y="8"/>
                  </a:lnTo>
                  <a:lnTo>
                    <a:pt x="5" y="4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29" name="Freeform 97"/>
            <p:cNvSpPr/>
            <p:nvPr userDrawn="1"/>
          </p:nvSpPr>
          <p:spPr bwMode="auto">
            <a:xfrm>
              <a:off x="1852"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30" name="Freeform 98"/>
            <p:cNvSpPr/>
            <p:nvPr userDrawn="1"/>
          </p:nvSpPr>
          <p:spPr bwMode="auto">
            <a:xfrm>
              <a:off x="1867" y="933"/>
              <a:ext cx="34" cy="40"/>
            </a:xfrm>
            <a:custGeom>
              <a:avLst/>
              <a:gdLst>
                <a:gd name="T0" fmla="*/ 0 w 34"/>
                <a:gd name="T1" fmla="*/ 0 h 40"/>
                <a:gd name="T2" fmla="*/ 3 w 34"/>
                <a:gd name="T3" fmla="*/ 0 h 40"/>
                <a:gd name="T4" fmla="*/ 6 w 34"/>
                <a:gd name="T5" fmla="*/ 0 h 40"/>
                <a:gd name="T6" fmla="*/ 17 w 34"/>
                <a:gd name="T7" fmla="*/ 34 h 40"/>
                <a:gd name="T8" fmla="*/ 17 w 34"/>
                <a:gd name="T9" fmla="*/ 34 h 40"/>
                <a:gd name="T10" fmla="*/ 28 w 34"/>
                <a:gd name="T11" fmla="*/ 0 h 40"/>
                <a:gd name="T12" fmla="*/ 32 w 34"/>
                <a:gd name="T13" fmla="*/ 0 h 40"/>
                <a:gd name="T14" fmla="*/ 34 w 34"/>
                <a:gd name="T15" fmla="*/ 0 h 40"/>
                <a:gd name="T16" fmla="*/ 21 w 34"/>
                <a:gd name="T17" fmla="*/ 40 h 40"/>
                <a:gd name="T18" fmla="*/ 17 w 34"/>
                <a:gd name="T19" fmla="*/ 40 h 40"/>
                <a:gd name="T20" fmla="*/ 15 w 34"/>
                <a:gd name="T21" fmla="*/ 40 h 40"/>
                <a:gd name="T22" fmla="*/ 0 w 34"/>
                <a:gd name="T2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40">
                  <a:moveTo>
                    <a:pt x="0" y="0"/>
                  </a:moveTo>
                  <a:lnTo>
                    <a:pt x="3" y="0"/>
                  </a:lnTo>
                  <a:lnTo>
                    <a:pt x="6" y="0"/>
                  </a:lnTo>
                  <a:lnTo>
                    <a:pt x="17" y="34"/>
                  </a:lnTo>
                  <a:lnTo>
                    <a:pt x="17" y="34"/>
                  </a:lnTo>
                  <a:lnTo>
                    <a:pt x="28" y="0"/>
                  </a:lnTo>
                  <a:lnTo>
                    <a:pt x="32" y="0"/>
                  </a:lnTo>
                  <a:lnTo>
                    <a:pt x="34" y="0"/>
                  </a:lnTo>
                  <a:lnTo>
                    <a:pt x="21" y="40"/>
                  </a:lnTo>
                  <a:lnTo>
                    <a:pt x="17" y="40"/>
                  </a:lnTo>
                  <a:lnTo>
                    <a:pt x="15" y="40"/>
                  </a:lnTo>
                  <a:lnTo>
                    <a:pt x="0"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31" name="Freeform 99"/>
            <p:cNvSpPr/>
            <p:nvPr userDrawn="1"/>
          </p:nvSpPr>
          <p:spPr bwMode="auto">
            <a:xfrm>
              <a:off x="1911" y="933"/>
              <a:ext cx="30" cy="40"/>
            </a:xfrm>
            <a:custGeom>
              <a:avLst/>
              <a:gdLst>
                <a:gd name="T0" fmla="*/ 0 w 30"/>
                <a:gd name="T1" fmla="*/ 40 h 40"/>
                <a:gd name="T2" fmla="*/ 0 w 30"/>
                <a:gd name="T3" fmla="*/ 0 h 40"/>
                <a:gd name="T4" fmla="*/ 30 w 30"/>
                <a:gd name="T5" fmla="*/ 0 h 40"/>
                <a:gd name="T6" fmla="*/ 30 w 30"/>
                <a:gd name="T7" fmla="*/ 3 h 40"/>
                <a:gd name="T8" fmla="*/ 30 w 30"/>
                <a:gd name="T9" fmla="*/ 5 h 40"/>
                <a:gd name="T10" fmla="*/ 6 w 30"/>
                <a:gd name="T11" fmla="*/ 5 h 40"/>
                <a:gd name="T12" fmla="*/ 6 w 30"/>
                <a:gd name="T13" fmla="*/ 16 h 40"/>
                <a:gd name="T14" fmla="*/ 27 w 30"/>
                <a:gd name="T15" fmla="*/ 16 h 40"/>
                <a:gd name="T16" fmla="*/ 27 w 30"/>
                <a:gd name="T17" fmla="*/ 19 h 40"/>
                <a:gd name="T18" fmla="*/ 27 w 30"/>
                <a:gd name="T19" fmla="*/ 21 h 40"/>
                <a:gd name="T20" fmla="*/ 6 w 30"/>
                <a:gd name="T21" fmla="*/ 21 h 40"/>
                <a:gd name="T22" fmla="*/ 6 w 30"/>
                <a:gd name="T23" fmla="*/ 35 h 40"/>
                <a:gd name="T24" fmla="*/ 30 w 30"/>
                <a:gd name="T25" fmla="*/ 35 h 40"/>
                <a:gd name="T26" fmla="*/ 30 w 30"/>
                <a:gd name="T27" fmla="*/ 37 h 40"/>
                <a:gd name="T28" fmla="*/ 30 w 30"/>
                <a:gd name="T29" fmla="*/ 40 h 40"/>
                <a:gd name="T30" fmla="*/ 0 w 30"/>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40">
                  <a:moveTo>
                    <a:pt x="0" y="40"/>
                  </a:moveTo>
                  <a:lnTo>
                    <a:pt x="0" y="0"/>
                  </a:lnTo>
                  <a:lnTo>
                    <a:pt x="30" y="0"/>
                  </a:lnTo>
                  <a:lnTo>
                    <a:pt x="30" y="3"/>
                  </a:lnTo>
                  <a:lnTo>
                    <a:pt x="30" y="5"/>
                  </a:lnTo>
                  <a:lnTo>
                    <a:pt x="6" y="5"/>
                  </a:lnTo>
                  <a:lnTo>
                    <a:pt x="6" y="16"/>
                  </a:lnTo>
                  <a:lnTo>
                    <a:pt x="27" y="16"/>
                  </a:lnTo>
                  <a:lnTo>
                    <a:pt x="27" y="19"/>
                  </a:lnTo>
                  <a:lnTo>
                    <a:pt x="27" y="21"/>
                  </a:lnTo>
                  <a:lnTo>
                    <a:pt x="6" y="21"/>
                  </a:lnTo>
                  <a:lnTo>
                    <a:pt x="6" y="35"/>
                  </a:lnTo>
                  <a:lnTo>
                    <a:pt x="30" y="35"/>
                  </a:lnTo>
                  <a:lnTo>
                    <a:pt x="30" y="37"/>
                  </a:lnTo>
                  <a:lnTo>
                    <a:pt x="30" y="40"/>
                  </a:lnTo>
                  <a:lnTo>
                    <a:pt x="0" y="4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32" name="Freeform 100"/>
            <p:cNvSpPr>
              <a:spLocks noEditPoints="1"/>
            </p:cNvSpPr>
            <p:nvPr userDrawn="1"/>
          </p:nvSpPr>
          <p:spPr bwMode="auto">
            <a:xfrm>
              <a:off x="1955" y="933"/>
              <a:ext cx="33" cy="40"/>
            </a:xfrm>
            <a:custGeom>
              <a:avLst/>
              <a:gdLst>
                <a:gd name="T0" fmla="*/ 0 w 27"/>
                <a:gd name="T1" fmla="*/ 0 h 32"/>
                <a:gd name="T2" fmla="*/ 2 w 27"/>
                <a:gd name="T3" fmla="*/ 0 h 32"/>
                <a:gd name="T4" fmla="*/ 15 w 27"/>
                <a:gd name="T5" fmla="*/ 0 h 32"/>
                <a:gd name="T6" fmla="*/ 23 w 27"/>
                <a:gd name="T7" fmla="*/ 2 h 32"/>
                <a:gd name="T8" fmla="*/ 25 w 27"/>
                <a:gd name="T9" fmla="*/ 8 h 32"/>
                <a:gd name="T10" fmla="*/ 23 w 27"/>
                <a:gd name="T11" fmla="*/ 15 h 32"/>
                <a:gd name="T12" fmla="*/ 21 w 27"/>
                <a:gd name="T13" fmla="*/ 16 h 32"/>
                <a:gd name="T14" fmla="*/ 22 w 27"/>
                <a:gd name="T15" fmla="*/ 16 h 32"/>
                <a:gd name="T16" fmla="*/ 25 w 27"/>
                <a:gd name="T17" fmla="*/ 22 h 32"/>
                <a:gd name="T18" fmla="*/ 25 w 27"/>
                <a:gd name="T19" fmla="*/ 28 h 32"/>
                <a:gd name="T20" fmla="*/ 25 w 27"/>
                <a:gd name="T21" fmla="*/ 30 h 32"/>
                <a:gd name="T22" fmla="*/ 27 w 27"/>
                <a:gd name="T23" fmla="*/ 31 h 32"/>
                <a:gd name="T24" fmla="*/ 27 w 27"/>
                <a:gd name="T25" fmla="*/ 31 h 32"/>
                <a:gd name="T26" fmla="*/ 21 w 27"/>
                <a:gd name="T27" fmla="*/ 31 h 32"/>
                <a:gd name="T28" fmla="*/ 21 w 27"/>
                <a:gd name="T29" fmla="*/ 29 h 32"/>
                <a:gd name="T30" fmla="*/ 21 w 27"/>
                <a:gd name="T31" fmla="*/ 26 h 32"/>
                <a:gd name="T32" fmla="*/ 21 w 27"/>
                <a:gd name="T33" fmla="*/ 23 h 32"/>
                <a:gd name="T34" fmla="*/ 19 w 27"/>
                <a:gd name="T35" fmla="*/ 19 h 32"/>
                <a:gd name="T36" fmla="*/ 15 w 27"/>
                <a:gd name="T37" fmla="*/ 18 h 32"/>
                <a:gd name="T38" fmla="*/ 4 w 27"/>
                <a:gd name="T39" fmla="*/ 18 h 32"/>
                <a:gd name="T40" fmla="*/ 4 w 27"/>
                <a:gd name="T41" fmla="*/ 32 h 32"/>
                <a:gd name="T42" fmla="*/ 2 w 27"/>
                <a:gd name="T43" fmla="*/ 32 h 32"/>
                <a:gd name="T44" fmla="*/ 0 w 27"/>
                <a:gd name="T45" fmla="*/ 32 h 32"/>
                <a:gd name="T46" fmla="*/ 0 w 27"/>
                <a:gd name="T47" fmla="*/ 0 h 32"/>
                <a:gd name="T48" fmla="*/ 4 w 27"/>
                <a:gd name="T49" fmla="*/ 14 h 32"/>
                <a:gd name="T50" fmla="*/ 15 w 27"/>
                <a:gd name="T51" fmla="*/ 14 h 32"/>
                <a:gd name="T52" fmla="*/ 19 w 27"/>
                <a:gd name="T53" fmla="*/ 13 h 32"/>
                <a:gd name="T54" fmla="*/ 21 w 27"/>
                <a:gd name="T55" fmla="*/ 9 h 32"/>
                <a:gd name="T56" fmla="*/ 19 w 27"/>
                <a:gd name="T57" fmla="*/ 5 h 32"/>
                <a:gd name="T58" fmla="*/ 15 w 27"/>
                <a:gd name="T59" fmla="*/ 3 h 32"/>
                <a:gd name="T60" fmla="*/ 4 w 27"/>
                <a:gd name="T61" fmla="*/ 3 h 32"/>
                <a:gd name="T62" fmla="*/ 4 w 27"/>
                <a:gd name="T63" fmla="*/ 1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 h="32">
                  <a:moveTo>
                    <a:pt x="0" y="0"/>
                  </a:moveTo>
                  <a:cubicBezTo>
                    <a:pt x="2" y="0"/>
                    <a:pt x="2" y="0"/>
                    <a:pt x="2" y="0"/>
                  </a:cubicBezTo>
                  <a:cubicBezTo>
                    <a:pt x="15" y="0"/>
                    <a:pt x="15" y="0"/>
                    <a:pt x="15" y="0"/>
                  </a:cubicBezTo>
                  <a:cubicBezTo>
                    <a:pt x="18" y="0"/>
                    <a:pt x="21" y="1"/>
                    <a:pt x="23" y="2"/>
                  </a:cubicBezTo>
                  <a:cubicBezTo>
                    <a:pt x="24" y="3"/>
                    <a:pt x="25" y="6"/>
                    <a:pt x="25" y="8"/>
                  </a:cubicBezTo>
                  <a:cubicBezTo>
                    <a:pt x="25" y="11"/>
                    <a:pt x="24" y="13"/>
                    <a:pt x="23" y="15"/>
                  </a:cubicBezTo>
                  <a:cubicBezTo>
                    <a:pt x="22" y="15"/>
                    <a:pt x="22" y="16"/>
                    <a:pt x="21" y="16"/>
                  </a:cubicBezTo>
                  <a:cubicBezTo>
                    <a:pt x="22" y="16"/>
                    <a:pt x="22" y="16"/>
                    <a:pt x="22" y="16"/>
                  </a:cubicBezTo>
                  <a:cubicBezTo>
                    <a:pt x="24" y="17"/>
                    <a:pt x="25" y="19"/>
                    <a:pt x="25" y="22"/>
                  </a:cubicBezTo>
                  <a:cubicBezTo>
                    <a:pt x="25" y="28"/>
                    <a:pt x="25" y="28"/>
                    <a:pt x="25" y="28"/>
                  </a:cubicBezTo>
                  <a:cubicBezTo>
                    <a:pt x="25" y="29"/>
                    <a:pt x="25" y="29"/>
                    <a:pt x="25" y="30"/>
                  </a:cubicBezTo>
                  <a:cubicBezTo>
                    <a:pt x="26" y="30"/>
                    <a:pt x="26" y="30"/>
                    <a:pt x="27" y="31"/>
                  </a:cubicBezTo>
                  <a:cubicBezTo>
                    <a:pt x="27" y="31"/>
                    <a:pt x="27" y="31"/>
                    <a:pt x="27" y="31"/>
                  </a:cubicBezTo>
                  <a:cubicBezTo>
                    <a:pt x="21" y="31"/>
                    <a:pt x="21" y="31"/>
                    <a:pt x="21" y="31"/>
                  </a:cubicBezTo>
                  <a:cubicBezTo>
                    <a:pt x="21" y="31"/>
                    <a:pt x="21" y="31"/>
                    <a:pt x="21" y="29"/>
                  </a:cubicBezTo>
                  <a:cubicBezTo>
                    <a:pt x="21" y="28"/>
                    <a:pt x="21" y="27"/>
                    <a:pt x="21" y="26"/>
                  </a:cubicBezTo>
                  <a:cubicBezTo>
                    <a:pt x="21" y="23"/>
                    <a:pt x="21" y="23"/>
                    <a:pt x="21" y="23"/>
                  </a:cubicBezTo>
                  <a:cubicBezTo>
                    <a:pt x="21" y="21"/>
                    <a:pt x="20" y="20"/>
                    <a:pt x="19" y="19"/>
                  </a:cubicBezTo>
                  <a:cubicBezTo>
                    <a:pt x="18" y="18"/>
                    <a:pt x="17" y="18"/>
                    <a:pt x="15" y="18"/>
                  </a:cubicBezTo>
                  <a:cubicBezTo>
                    <a:pt x="4" y="18"/>
                    <a:pt x="4" y="18"/>
                    <a:pt x="4" y="18"/>
                  </a:cubicBezTo>
                  <a:cubicBezTo>
                    <a:pt x="4" y="32"/>
                    <a:pt x="4" y="32"/>
                    <a:pt x="4" y="32"/>
                  </a:cubicBezTo>
                  <a:cubicBezTo>
                    <a:pt x="2" y="32"/>
                    <a:pt x="2" y="32"/>
                    <a:pt x="2" y="32"/>
                  </a:cubicBezTo>
                  <a:cubicBezTo>
                    <a:pt x="0" y="32"/>
                    <a:pt x="0" y="32"/>
                    <a:pt x="0" y="32"/>
                  </a:cubicBezTo>
                  <a:lnTo>
                    <a:pt x="0" y="0"/>
                  </a:lnTo>
                  <a:close/>
                  <a:moveTo>
                    <a:pt x="4" y="14"/>
                  </a:moveTo>
                  <a:cubicBezTo>
                    <a:pt x="15" y="14"/>
                    <a:pt x="15" y="14"/>
                    <a:pt x="15" y="14"/>
                  </a:cubicBezTo>
                  <a:cubicBezTo>
                    <a:pt x="17" y="14"/>
                    <a:pt x="19" y="14"/>
                    <a:pt x="19" y="13"/>
                  </a:cubicBezTo>
                  <a:cubicBezTo>
                    <a:pt x="20" y="12"/>
                    <a:pt x="21" y="11"/>
                    <a:pt x="21" y="9"/>
                  </a:cubicBezTo>
                  <a:cubicBezTo>
                    <a:pt x="21" y="7"/>
                    <a:pt x="20" y="5"/>
                    <a:pt x="19" y="5"/>
                  </a:cubicBezTo>
                  <a:cubicBezTo>
                    <a:pt x="18" y="4"/>
                    <a:pt x="17" y="3"/>
                    <a:pt x="15" y="3"/>
                  </a:cubicBezTo>
                  <a:cubicBezTo>
                    <a:pt x="4" y="3"/>
                    <a:pt x="4" y="3"/>
                    <a:pt x="4" y="3"/>
                  </a:cubicBezTo>
                  <a:lnTo>
                    <a:pt x="4" y="14"/>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33" name="Freeform 101"/>
            <p:cNvSpPr/>
            <p:nvPr userDrawn="1"/>
          </p:nvSpPr>
          <p:spPr bwMode="auto">
            <a:xfrm>
              <a:off x="1999" y="932"/>
              <a:ext cx="31" cy="41"/>
            </a:xfrm>
            <a:custGeom>
              <a:avLst/>
              <a:gdLst>
                <a:gd name="T0" fmla="*/ 20 w 25"/>
                <a:gd name="T1" fmla="*/ 10 h 33"/>
                <a:gd name="T2" fmla="*/ 18 w 25"/>
                <a:gd name="T3" fmla="*/ 5 h 33"/>
                <a:gd name="T4" fmla="*/ 12 w 25"/>
                <a:gd name="T5" fmla="*/ 4 h 33"/>
                <a:gd name="T6" fmla="*/ 7 w 25"/>
                <a:gd name="T7" fmla="*/ 5 h 33"/>
                <a:gd name="T8" fmla="*/ 5 w 25"/>
                <a:gd name="T9" fmla="*/ 9 h 33"/>
                <a:gd name="T10" fmla="*/ 6 w 25"/>
                <a:gd name="T11" fmla="*/ 12 h 33"/>
                <a:gd name="T12" fmla="*/ 11 w 25"/>
                <a:gd name="T13" fmla="*/ 14 h 33"/>
                <a:gd name="T14" fmla="*/ 17 w 25"/>
                <a:gd name="T15" fmla="*/ 15 h 33"/>
                <a:gd name="T16" fmla="*/ 23 w 25"/>
                <a:gd name="T17" fmla="*/ 18 h 33"/>
                <a:gd name="T18" fmla="*/ 25 w 25"/>
                <a:gd name="T19" fmla="*/ 24 h 33"/>
                <a:gd name="T20" fmla="*/ 22 w 25"/>
                <a:gd name="T21" fmla="*/ 31 h 33"/>
                <a:gd name="T22" fmla="*/ 13 w 25"/>
                <a:gd name="T23" fmla="*/ 33 h 33"/>
                <a:gd name="T24" fmla="*/ 3 w 25"/>
                <a:gd name="T25" fmla="*/ 30 h 33"/>
                <a:gd name="T26" fmla="*/ 0 w 25"/>
                <a:gd name="T27" fmla="*/ 23 h 33"/>
                <a:gd name="T28" fmla="*/ 0 w 25"/>
                <a:gd name="T29" fmla="*/ 22 h 33"/>
                <a:gd name="T30" fmla="*/ 4 w 25"/>
                <a:gd name="T31" fmla="*/ 22 h 33"/>
                <a:gd name="T32" fmla="*/ 6 w 25"/>
                <a:gd name="T33" fmla="*/ 28 h 33"/>
                <a:gd name="T34" fmla="*/ 13 w 25"/>
                <a:gd name="T35" fmla="*/ 30 h 33"/>
                <a:gd name="T36" fmla="*/ 19 w 25"/>
                <a:gd name="T37" fmla="*/ 28 h 33"/>
                <a:gd name="T38" fmla="*/ 21 w 25"/>
                <a:gd name="T39" fmla="*/ 24 h 33"/>
                <a:gd name="T40" fmla="*/ 20 w 25"/>
                <a:gd name="T41" fmla="*/ 21 h 33"/>
                <a:gd name="T42" fmla="*/ 14 w 25"/>
                <a:gd name="T43" fmla="*/ 19 h 33"/>
                <a:gd name="T44" fmla="*/ 9 w 25"/>
                <a:gd name="T45" fmla="*/ 17 h 33"/>
                <a:gd name="T46" fmla="*/ 3 w 25"/>
                <a:gd name="T47" fmla="*/ 15 h 33"/>
                <a:gd name="T48" fmla="*/ 1 w 25"/>
                <a:gd name="T49" fmla="*/ 10 h 33"/>
                <a:gd name="T50" fmla="*/ 4 w 25"/>
                <a:gd name="T51" fmla="*/ 3 h 33"/>
                <a:gd name="T52" fmla="*/ 12 w 25"/>
                <a:gd name="T53" fmla="*/ 0 h 33"/>
                <a:gd name="T54" fmla="*/ 21 w 25"/>
                <a:gd name="T55" fmla="*/ 3 h 33"/>
                <a:gd name="T56" fmla="*/ 24 w 25"/>
                <a:gd name="T57" fmla="*/ 10 h 33"/>
                <a:gd name="T58" fmla="*/ 20 w 25"/>
                <a:gd name="T59"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3">
                  <a:moveTo>
                    <a:pt x="20" y="10"/>
                  </a:moveTo>
                  <a:cubicBezTo>
                    <a:pt x="20" y="8"/>
                    <a:pt x="19" y="6"/>
                    <a:pt x="18" y="5"/>
                  </a:cubicBezTo>
                  <a:cubicBezTo>
                    <a:pt x="17" y="4"/>
                    <a:pt x="15" y="4"/>
                    <a:pt x="12" y="4"/>
                  </a:cubicBezTo>
                  <a:cubicBezTo>
                    <a:pt x="10" y="4"/>
                    <a:pt x="8" y="4"/>
                    <a:pt x="7" y="5"/>
                  </a:cubicBezTo>
                  <a:cubicBezTo>
                    <a:pt x="6" y="6"/>
                    <a:pt x="5" y="7"/>
                    <a:pt x="5" y="9"/>
                  </a:cubicBezTo>
                  <a:cubicBezTo>
                    <a:pt x="5" y="10"/>
                    <a:pt x="5" y="11"/>
                    <a:pt x="6" y="12"/>
                  </a:cubicBezTo>
                  <a:cubicBezTo>
                    <a:pt x="7" y="13"/>
                    <a:pt x="9" y="13"/>
                    <a:pt x="11" y="14"/>
                  </a:cubicBezTo>
                  <a:cubicBezTo>
                    <a:pt x="17" y="15"/>
                    <a:pt x="17" y="15"/>
                    <a:pt x="17" y="15"/>
                  </a:cubicBezTo>
                  <a:cubicBezTo>
                    <a:pt x="20" y="16"/>
                    <a:pt x="22" y="17"/>
                    <a:pt x="23" y="18"/>
                  </a:cubicBezTo>
                  <a:cubicBezTo>
                    <a:pt x="24" y="20"/>
                    <a:pt x="25" y="22"/>
                    <a:pt x="25" y="24"/>
                  </a:cubicBezTo>
                  <a:cubicBezTo>
                    <a:pt x="25" y="27"/>
                    <a:pt x="24" y="29"/>
                    <a:pt x="22" y="31"/>
                  </a:cubicBezTo>
                  <a:cubicBezTo>
                    <a:pt x="20" y="33"/>
                    <a:pt x="17" y="33"/>
                    <a:pt x="13" y="33"/>
                  </a:cubicBezTo>
                  <a:cubicBezTo>
                    <a:pt x="9" y="33"/>
                    <a:pt x="5" y="32"/>
                    <a:pt x="3" y="30"/>
                  </a:cubicBezTo>
                  <a:cubicBezTo>
                    <a:pt x="1" y="29"/>
                    <a:pt x="0" y="26"/>
                    <a:pt x="0" y="23"/>
                  </a:cubicBezTo>
                  <a:cubicBezTo>
                    <a:pt x="0" y="22"/>
                    <a:pt x="0" y="22"/>
                    <a:pt x="0" y="22"/>
                  </a:cubicBezTo>
                  <a:cubicBezTo>
                    <a:pt x="4" y="22"/>
                    <a:pt x="4" y="22"/>
                    <a:pt x="4" y="22"/>
                  </a:cubicBezTo>
                  <a:cubicBezTo>
                    <a:pt x="4" y="25"/>
                    <a:pt x="5" y="26"/>
                    <a:pt x="6" y="28"/>
                  </a:cubicBezTo>
                  <a:cubicBezTo>
                    <a:pt x="8" y="29"/>
                    <a:pt x="10" y="30"/>
                    <a:pt x="13" y="30"/>
                  </a:cubicBezTo>
                  <a:cubicBezTo>
                    <a:pt x="15" y="30"/>
                    <a:pt x="17" y="29"/>
                    <a:pt x="19" y="28"/>
                  </a:cubicBezTo>
                  <a:cubicBezTo>
                    <a:pt x="20" y="27"/>
                    <a:pt x="21" y="26"/>
                    <a:pt x="21" y="24"/>
                  </a:cubicBezTo>
                  <a:cubicBezTo>
                    <a:pt x="21" y="23"/>
                    <a:pt x="20" y="22"/>
                    <a:pt x="20" y="21"/>
                  </a:cubicBezTo>
                  <a:cubicBezTo>
                    <a:pt x="19" y="20"/>
                    <a:pt x="17" y="19"/>
                    <a:pt x="14" y="19"/>
                  </a:cubicBezTo>
                  <a:cubicBezTo>
                    <a:pt x="9" y="17"/>
                    <a:pt x="9" y="17"/>
                    <a:pt x="9" y="17"/>
                  </a:cubicBezTo>
                  <a:cubicBezTo>
                    <a:pt x="6" y="17"/>
                    <a:pt x="4" y="16"/>
                    <a:pt x="3" y="15"/>
                  </a:cubicBezTo>
                  <a:cubicBezTo>
                    <a:pt x="1" y="14"/>
                    <a:pt x="1" y="12"/>
                    <a:pt x="1" y="10"/>
                  </a:cubicBezTo>
                  <a:cubicBezTo>
                    <a:pt x="1" y="7"/>
                    <a:pt x="2" y="4"/>
                    <a:pt x="4" y="3"/>
                  </a:cubicBezTo>
                  <a:cubicBezTo>
                    <a:pt x="6" y="1"/>
                    <a:pt x="9" y="0"/>
                    <a:pt x="12" y="0"/>
                  </a:cubicBezTo>
                  <a:cubicBezTo>
                    <a:pt x="16" y="0"/>
                    <a:pt x="19" y="1"/>
                    <a:pt x="21" y="3"/>
                  </a:cubicBezTo>
                  <a:cubicBezTo>
                    <a:pt x="23" y="4"/>
                    <a:pt x="24" y="7"/>
                    <a:pt x="24" y="10"/>
                  </a:cubicBezTo>
                  <a:lnTo>
                    <a:pt x="20" y="1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34" name="Freeform 102"/>
            <p:cNvSpPr/>
            <p:nvPr userDrawn="1"/>
          </p:nvSpPr>
          <p:spPr bwMode="auto">
            <a:xfrm>
              <a:off x="2044"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35" name="Freeform 103"/>
            <p:cNvSpPr/>
            <p:nvPr userDrawn="1"/>
          </p:nvSpPr>
          <p:spPr bwMode="auto">
            <a:xfrm>
              <a:off x="2060" y="933"/>
              <a:ext cx="32" cy="40"/>
            </a:xfrm>
            <a:custGeom>
              <a:avLst/>
              <a:gdLst>
                <a:gd name="T0" fmla="*/ 13 w 32"/>
                <a:gd name="T1" fmla="*/ 5 h 40"/>
                <a:gd name="T2" fmla="*/ 0 w 32"/>
                <a:gd name="T3" fmla="*/ 5 h 40"/>
                <a:gd name="T4" fmla="*/ 0 w 32"/>
                <a:gd name="T5" fmla="*/ 3 h 40"/>
                <a:gd name="T6" fmla="*/ 0 w 32"/>
                <a:gd name="T7" fmla="*/ 0 h 40"/>
                <a:gd name="T8" fmla="*/ 32 w 32"/>
                <a:gd name="T9" fmla="*/ 0 h 40"/>
                <a:gd name="T10" fmla="*/ 32 w 32"/>
                <a:gd name="T11" fmla="*/ 3 h 40"/>
                <a:gd name="T12" fmla="*/ 32 w 32"/>
                <a:gd name="T13" fmla="*/ 5 h 40"/>
                <a:gd name="T14" fmla="*/ 18 w 32"/>
                <a:gd name="T15" fmla="*/ 5 h 40"/>
                <a:gd name="T16" fmla="*/ 18 w 32"/>
                <a:gd name="T17" fmla="*/ 40 h 40"/>
                <a:gd name="T18" fmla="*/ 16 w 32"/>
                <a:gd name="T19" fmla="*/ 40 h 40"/>
                <a:gd name="T20" fmla="*/ 13 w 32"/>
                <a:gd name="T21" fmla="*/ 40 h 40"/>
                <a:gd name="T22" fmla="*/ 13 w 32"/>
                <a:gd name="T23" fmla="*/ 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 h="40">
                  <a:moveTo>
                    <a:pt x="13" y="5"/>
                  </a:moveTo>
                  <a:lnTo>
                    <a:pt x="0" y="5"/>
                  </a:lnTo>
                  <a:lnTo>
                    <a:pt x="0" y="3"/>
                  </a:lnTo>
                  <a:lnTo>
                    <a:pt x="0" y="0"/>
                  </a:lnTo>
                  <a:lnTo>
                    <a:pt x="32" y="0"/>
                  </a:lnTo>
                  <a:lnTo>
                    <a:pt x="32" y="3"/>
                  </a:lnTo>
                  <a:lnTo>
                    <a:pt x="32" y="5"/>
                  </a:lnTo>
                  <a:lnTo>
                    <a:pt x="18" y="5"/>
                  </a:lnTo>
                  <a:lnTo>
                    <a:pt x="18" y="40"/>
                  </a:lnTo>
                  <a:lnTo>
                    <a:pt x="16" y="40"/>
                  </a:lnTo>
                  <a:lnTo>
                    <a:pt x="13" y="40"/>
                  </a:lnTo>
                  <a:lnTo>
                    <a:pt x="13" y="5"/>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36" name="Freeform 104"/>
            <p:cNvSpPr/>
            <p:nvPr userDrawn="1"/>
          </p:nvSpPr>
          <p:spPr bwMode="auto">
            <a:xfrm>
              <a:off x="2101" y="933"/>
              <a:ext cx="34" cy="40"/>
            </a:xfrm>
            <a:custGeom>
              <a:avLst/>
              <a:gdLst>
                <a:gd name="T0" fmla="*/ 15 w 34"/>
                <a:gd name="T1" fmla="*/ 24 h 40"/>
                <a:gd name="T2" fmla="*/ 0 w 34"/>
                <a:gd name="T3" fmla="*/ 0 h 40"/>
                <a:gd name="T4" fmla="*/ 3 w 34"/>
                <a:gd name="T5" fmla="*/ 0 h 40"/>
                <a:gd name="T6" fmla="*/ 6 w 34"/>
                <a:gd name="T7" fmla="*/ 0 h 40"/>
                <a:gd name="T8" fmla="*/ 17 w 34"/>
                <a:gd name="T9" fmla="*/ 19 h 40"/>
                <a:gd name="T10" fmla="*/ 17 w 34"/>
                <a:gd name="T11" fmla="*/ 19 h 40"/>
                <a:gd name="T12" fmla="*/ 28 w 34"/>
                <a:gd name="T13" fmla="*/ 0 h 40"/>
                <a:gd name="T14" fmla="*/ 32 w 34"/>
                <a:gd name="T15" fmla="*/ 0 h 40"/>
                <a:gd name="T16" fmla="*/ 34 w 34"/>
                <a:gd name="T17" fmla="*/ 0 h 40"/>
                <a:gd name="T18" fmla="*/ 20 w 34"/>
                <a:gd name="T19" fmla="*/ 24 h 40"/>
                <a:gd name="T20" fmla="*/ 20 w 34"/>
                <a:gd name="T21" fmla="*/ 40 h 40"/>
                <a:gd name="T22" fmla="*/ 17 w 34"/>
                <a:gd name="T23" fmla="*/ 40 h 40"/>
                <a:gd name="T24" fmla="*/ 15 w 34"/>
                <a:gd name="T25" fmla="*/ 40 h 40"/>
                <a:gd name="T26" fmla="*/ 15 w 34"/>
                <a:gd name="T27"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4" h="40">
                  <a:moveTo>
                    <a:pt x="15" y="24"/>
                  </a:moveTo>
                  <a:lnTo>
                    <a:pt x="0" y="0"/>
                  </a:lnTo>
                  <a:lnTo>
                    <a:pt x="3" y="0"/>
                  </a:lnTo>
                  <a:lnTo>
                    <a:pt x="6" y="0"/>
                  </a:lnTo>
                  <a:lnTo>
                    <a:pt x="17" y="19"/>
                  </a:lnTo>
                  <a:lnTo>
                    <a:pt x="17" y="19"/>
                  </a:lnTo>
                  <a:lnTo>
                    <a:pt x="28" y="0"/>
                  </a:lnTo>
                  <a:lnTo>
                    <a:pt x="32" y="0"/>
                  </a:lnTo>
                  <a:lnTo>
                    <a:pt x="34" y="0"/>
                  </a:lnTo>
                  <a:lnTo>
                    <a:pt x="20" y="24"/>
                  </a:lnTo>
                  <a:lnTo>
                    <a:pt x="20" y="40"/>
                  </a:lnTo>
                  <a:lnTo>
                    <a:pt x="17" y="40"/>
                  </a:lnTo>
                  <a:lnTo>
                    <a:pt x="15" y="40"/>
                  </a:lnTo>
                  <a:lnTo>
                    <a:pt x="15" y="24"/>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37" name="Freeform 105"/>
            <p:cNvSpPr>
              <a:spLocks noEditPoints="1"/>
            </p:cNvSpPr>
            <p:nvPr userDrawn="1"/>
          </p:nvSpPr>
          <p:spPr bwMode="auto">
            <a:xfrm>
              <a:off x="954" y="660"/>
              <a:ext cx="350" cy="353"/>
            </a:xfrm>
            <a:custGeom>
              <a:avLst/>
              <a:gdLst>
                <a:gd name="T0" fmla="*/ 142 w 283"/>
                <a:gd name="T1" fmla="*/ 0 h 283"/>
                <a:gd name="T2" fmla="*/ 283 w 283"/>
                <a:gd name="T3" fmla="*/ 142 h 283"/>
                <a:gd name="T4" fmla="*/ 142 w 283"/>
                <a:gd name="T5" fmla="*/ 283 h 283"/>
                <a:gd name="T6" fmla="*/ 0 w 283"/>
                <a:gd name="T7" fmla="*/ 142 h 283"/>
                <a:gd name="T8" fmla="*/ 142 w 283"/>
                <a:gd name="T9" fmla="*/ 0 h 283"/>
                <a:gd name="T10" fmla="*/ 142 w 283"/>
                <a:gd name="T11" fmla="*/ 6 h 283"/>
                <a:gd name="T12" fmla="*/ 6 w 283"/>
                <a:gd name="T13" fmla="*/ 142 h 283"/>
                <a:gd name="T14" fmla="*/ 142 w 283"/>
                <a:gd name="T15" fmla="*/ 277 h 283"/>
                <a:gd name="T16" fmla="*/ 278 w 283"/>
                <a:gd name="T17" fmla="*/ 142 h 283"/>
                <a:gd name="T18" fmla="*/ 142 w 283"/>
                <a:gd name="T19" fmla="*/ 6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3" h="283">
                  <a:moveTo>
                    <a:pt x="142" y="0"/>
                  </a:moveTo>
                  <a:cubicBezTo>
                    <a:pt x="220" y="0"/>
                    <a:pt x="283" y="64"/>
                    <a:pt x="283" y="142"/>
                  </a:cubicBezTo>
                  <a:cubicBezTo>
                    <a:pt x="283" y="219"/>
                    <a:pt x="220" y="283"/>
                    <a:pt x="142" y="283"/>
                  </a:cubicBezTo>
                  <a:cubicBezTo>
                    <a:pt x="64" y="283"/>
                    <a:pt x="0" y="219"/>
                    <a:pt x="0" y="142"/>
                  </a:cubicBezTo>
                  <a:cubicBezTo>
                    <a:pt x="0" y="64"/>
                    <a:pt x="64" y="0"/>
                    <a:pt x="142" y="0"/>
                  </a:cubicBezTo>
                  <a:moveTo>
                    <a:pt x="142" y="6"/>
                  </a:moveTo>
                  <a:cubicBezTo>
                    <a:pt x="67" y="6"/>
                    <a:pt x="6" y="67"/>
                    <a:pt x="6" y="142"/>
                  </a:cubicBezTo>
                  <a:cubicBezTo>
                    <a:pt x="6" y="216"/>
                    <a:pt x="67" y="277"/>
                    <a:pt x="142" y="277"/>
                  </a:cubicBezTo>
                  <a:cubicBezTo>
                    <a:pt x="217" y="277"/>
                    <a:pt x="278" y="216"/>
                    <a:pt x="278" y="142"/>
                  </a:cubicBezTo>
                  <a:cubicBezTo>
                    <a:pt x="278" y="67"/>
                    <a:pt x="217" y="6"/>
                    <a:pt x="142" y="6"/>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38" name="Freeform 106"/>
            <p:cNvSpPr/>
            <p:nvPr userDrawn="1"/>
          </p:nvSpPr>
          <p:spPr bwMode="auto">
            <a:xfrm>
              <a:off x="1033" y="739"/>
              <a:ext cx="193" cy="173"/>
            </a:xfrm>
            <a:custGeom>
              <a:avLst/>
              <a:gdLst>
                <a:gd name="T0" fmla="*/ 28 w 156"/>
                <a:gd name="T1" fmla="*/ 139 h 139"/>
                <a:gd name="T2" fmla="*/ 7 w 156"/>
                <a:gd name="T3" fmla="*/ 112 h 139"/>
                <a:gd name="T4" fmla="*/ 0 w 156"/>
                <a:gd name="T5" fmla="*/ 79 h 139"/>
                <a:gd name="T6" fmla="*/ 78 w 156"/>
                <a:gd name="T7" fmla="*/ 0 h 139"/>
                <a:gd name="T8" fmla="*/ 156 w 156"/>
                <a:gd name="T9" fmla="*/ 79 h 139"/>
                <a:gd name="T10" fmla="*/ 149 w 156"/>
                <a:gd name="T11" fmla="*/ 112 h 139"/>
                <a:gd name="T12" fmla="*/ 128 w 156"/>
                <a:gd name="T13" fmla="*/ 139 h 139"/>
                <a:gd name="T14" fmla="*/ 126 w 156"/>
                <a:gd name="T15" fmla="*/ 137 h 139"/>
                <a:gd name="T16" fmla="*/ 146 w 156"/>
                <a:gd name="T17" fmla="*/ 111 h 139"/>
                <a:gd name="T18" fmla="*/ 153 w 156"/>
                <a:gd name="T19" fmla="*/ 79 h 139"/>
                <a:gd name="T20" fmla="*/ 78 w 156"/>
                <a:gd name="T21" fmla="*/ 3 h 139"/>
                <a:gd name="T22" fmla="*/ 3 w 156"/>
                <a:gd name="T23" fmla="*/ 79 h 139"/>
                <a:gd name="T24" fmla="*/ 10 w 156"/>
                <a:gd name="T25" fmla="*/ 111 h 139"/>
                <a:gd name="T26" fmla="*/ 30 w 156"/>
                <a:gd name="T27" fmla="*/ 137 h 139"/>
                <a:gd name="T28" fmla="*/ 28 w 156"/>
                <a:gd name="T29" fmla="*/ 13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6" h="139">
                  <a:moveTo>
                    <a:pt x="28" y="139"/>
                  </a:moveTo>
                  <a:cubicBezTo>
                    <a:pt x="19" y="132"/>
                    <a:pt x="12" y="122"/>
                    <a:pt x="7" y="112"/>
                  </a:cubicBezTo>
                  <a:cubicBezTo>
                    <a:pt x="2" y="102"/>
                    <a:pt x="0" y="90"/>
                    <a:pt x="0" y="79"/>
                  </a:cubicBezTo>
                  <a:cubicBezTo>
                    <a:pt x="0" y="36"/>
                    <a:pt x="35" y="0"/>
                    <a:pt x="78" y="0"/>
                  </a:cubicBezTo>
                  <a:cubicBezTo>
                    <a:pt x="121" y="0"/>
                    <a:pt x="156" y="36"/>
                    <a:pt x="156" y="79"/>
                  </a:cubicBezTo>
                  <a:cubicBezTo>
                    <a:pt x="156" y="90"/>
                    <a:pt x="153" y="102"/>
                    <a:pt x="149" y="112"/>
                  </a:cubicBezTo>
                  <a:cubicBezTo>
                    <a:pt x="144" y="122"/>
                    <a:pt x="136" y="132"/>
                    <a:pt x="128" y="139"/>
                  </a:cubicBezTo>
                  <a:cubicBezTo>
                    <a:pt x="126" y="137"/>
                    <a:pt x="126" y="137"/>
                    <a:pt x="126" y="137"/>
                  </a:cubicBezTo>
                  <a:cubicBezTo>
                    <a:pt x="134" y="130"/>
                    <a:pt x="141" y="121"/>
                    <a:pt x="146" y="111"/>
                  </a:cubicBezTo>
                  <a:cubicBezTo>
                    <a:pt x="151" y="101"/>
                    <a:pt x="153" y="90"/>
                    <a:pt x="153" y="79"/>
                  </a:cubicBezTo>
                  <a:cubicBezTo>
                    <a:pt x="153" y="37"/>
                    <a:pt x="119" y="3"/>
                    <a:pt x="78" y="3"/>
                  </a:cubicBezTo>
                  <a:cubicBezTo>
                    <a:pt x="36" y="3"/>
                    <a:pt x="3" y="37"/>
                    <a:pt x="3" y="79"/>
                  </a:cubicBezTo>
                  <a:cubicBezTo>
                    <a:pt x="3" y="90"/>
                    <a:pt x="5" y="101"/>
                    <a:pt x="10" y="111"/>
                  </a:cubicBezTo>
                  <a:cubicBezTo>
                    <a:pt x="14" y="121"/>
                    <a:pt x="21" y="130"/>
                    <a:pt x="30" y="137"/>
                  </a:cubicBezTo>
                  <a:lnTo>
                    <a:pt x="28" y="13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39" name="Freeform 107"/>
            <p:cNvSpPr/>
            <p:nvPr userDrawn="1"/>
          </p:nvSpPr>
          <p:spPr bwMode="auto">
            <a:xfrm>
              <a:off x="972" y="867"/>
              <a:ext cx="40" cy="29"/>
            </a:xfrm>
            <a:custGeom>
              <a:avLst/>
              <a:gdLst>
                <a:gd name="T0" fmla="*/ 8 w 40"/>
                <a:gd name="T1" fmla="*/ 29 h 29"/>
                <a:gd name="T2" fmla="*/ 0 w 40"/>
                <a:gd name="T3" fmla="*/ 10 h 29"/>
                <a:gd name="T4" fmla="*/ 4 w 40"/>
                <a:gd name="T5" fmla="*/ 9 h 29"/>
                <a:gd name="T6" fmla="*/ 35 w 40"/>
                <a:gd name="T7" fmla="*/ 14 h 29"/>
                <a:gd name="T8" fmla="*/ 30 w 40"/>
                <a:gd name="T9" fmla="*/ 1 h 29"/>
                <a:gd name="T10" fmla="*/ 34 w 40"/>
                <a:gd name="T11" fmla="*/ 0 h 29"/>
                <a:gd name="T12" fmla="*/ 40 w 40"/>
                <a:gd name="T13" fmla="*/ 16 h 29"/>
                <a:gd name="T14" fmla="*/ 36 w 40"/>
                <a:gd name="T15" fmla="*/ 17 h 29"/>
                <a:gd name="T16" fmla="*/ 7 w 40"/>
                <a:gd name="T17" fmla="*/ 14 h 29"/>
                <a:gd name="T18" fmla="*/ 12 w 40"/>
                <a:gd name="T19" fmla="*/ 27 h 29"/>
                <a:gd name="T20" fmla="*/ 8 w 40"/>
                <a:gd name="T21"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29">
                  <a:moveTo>
                    <a:pt x="8" y="29"/>
                  </a:moveTo>
                  <a:lnTo>
                    <a:pt x="0" y="10"/>
                  </a:lnTo>
                  <a:lnTo>
                    <a:pt x="4" y="9"/>
                  </a:lnTo>
                  <a:lnTo>
                    <a:pt x="35" y="14"/>
                  </a:lnTo>
                  <a:lnTo>
                    <a:pt x="30" y="1"/>
                  </a:lnTo>
                  <a:lnTo>
                    <a:pt x="34" y="0"/>
                  </a:lnTo>
                  <a:lnTo>
                    <a:pt x="40" y="16"/>
                  </a:lnTo>
                  <a:lnTo>
                    <a:pt x="36" y="17"/>
                  </a:lnTo>
                  <a:lnTo>
                    <a:pt x="7" y="14"/>
                  </a:lnTo>
                  <a:lnTo>
                    <a:pt x="12" y="27"/>
                  </a:lnTo>
                  <a:lnTo>
                    <a:pt x="8" y="2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40" name="Freeform 108"/>
            <p:cNvSpPr/>
            <p:nvPr userDrawn="1"/>
          </p:nvSpPr>
          <p:spPr bwMode="auto">
            <a:xfrm>
              <a:off x="984" y="888"/>
              <a:ext cx="38" cy="31"/>
            </a:xfrm>
            <a:custGeom>
              <a:avLst/>
              <a:gdLst>
                <a:gd name="T0" fmla="*/ 7 w 38"/>
                <a:gd name="T1" fmla="*/ 31 h 31"/>
                <a:gd name="T2" fmla="*/ 6 w 38"/>
                <a:gd name="T3" fmla="*/ 28 h 31"/>
                <a:gd name="T4" fmla="*/ 19 w 38"/>
                <a:gd name="T5" fmla="*/ 21 h 31"/>
                <a:gd name="T6" fmla="*/ 14 w 38"/>
                <a:gd name="T7" fmla="*/ 11 h 31"/>
                <a:gd name="T8" fmla="*/ 1 w 38"/>
                <a:gd name="T9" fmla="*/ 19 h 31"/>
                <a:gd name="T10" fmla="*/ 0 w 38"/>
                <a:gd name="T11" fmla="*/ 15 h 31"/>
                <a:gd name="T12" fmla="*/ 29 w 38"/>
                <a:gd name="T13" fmla="*/ 0 h 31"/>
                <a:gd name="T14" fmla="*/ 32 w 38"/>
                <a:gd name="T15" fmla="*/ 4 h 31"/>
                <a:gd name="T16" fmla="*/ 18 w 38"/>
                <a:gd name="T17" fmla="*/ 10 h 31"/>
                <a:gd name="T18" fmla="*/ 23 w 38"/>
                <a:gd name="T19" fmla="*/ 19 h 31"/>
                <a:gd name="T20" fmla="*/ 35 w 38"/>
                <a:gd name="T21" fmla="*/ 13 h 31"/>
                <a:gd name="T22" fmla="*/ 38 w 38"/>
                <a:gd name="T23" fmla="*/ 16 h 31"/>
                <a:gd name="T24" fmla="*/ 7 w 38"/>
                <a:gd name="T25"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1">
                  <a:moveTo>
                    <a:pt x="7" y="31"/>
                  </a:moveTo>
                  <a:lnTo>
                    <a:pt x="6" y="28"/>
                  </a:lnTo>
                  <a:lnTo>
                    <a:pt x="19" y="21"/>
                  </a:lnTo>
                  <a:lnTo>
                    <a:pt x="14" y="11"/>
                  </a:lnTo>
                  <a:lnTo>
                    <a:pt x="1" y="19"/>
                  </a:lnTo>
                  <a:lnTo>
                    <a:pt x="0" y="15"/>
                  </a:lnTo>
                  <a:lnTo>
                    <a:pt x="29" y="0"/>
                  </a:lnTo>
                  <a:lnTo>
                    <a:pt x="32" y="4"/>
                  </a:lnTo>
                  <a:lnTo>
                    <a:pt x="18" y="10"/>
                  </a:lnTo>
                  <a:lnTo>
                    <a:pt x="23" y="19"/>
                  </a:lnTo>
                  <a:lnTo>
                    <a:pt x="35" y="13"/>
                  </a:lnTo>
                  <a:lnTo>
                    <a:pt x="38" y="16"/>
                  </a:lnTo>
                  <a:lnTo>
                    <a:pt x="7" y="31"/>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41" name="Freeform 109"/>
            <p:cNvSpPr/>
            <p:nvPr userDrawn="1"/>
          </p:nvSpPr>
          <p:spPr bwMode="auto">
            <a:xfrm>
              <a:off x="995" y="906"/>
              <a:ext cx="38" cy="33"/>
            </a:xfrm>
            <a:custGeom>
              <a:avLst/>
              <a:gdLst>
                <a:gd name="T0" fmla="*/ 11 w 38"/>
                <a:gd name="T1" fmla="*/ 33 h 33"/>
                <a:gd name="T2" fmla="*/ 0 w 38"/>
                <a:gd name="T3" fmla="*/ 18 h 33"/>
                <a:gd name="T4" fmla="*/ 28 w 38"/>
                <a:gd name="T5" fmla="*/ 0 h 33"/>
                <a:gd name="T6" fmla="*/ 38 w 38"/>
                <a:gd name="T7" fmla="*/ 15 h 33"/>
                <a:gd name="T8" fmla="*/ 36 w 38"/>
                <a:gd name="T9" fmla="*/ 17 h 33"/>
                <a:gd name="T10" fmla="*/ 27 w 38"/>
                <a:gd name="T11" fmla="*/ 6 h 33"/>
                <a:gd name="T12" fmla="*/ 18 w 38"/>
                <a:gd name="T13" fmla="*/ 11 h 33"/>
                <a:gd name="T14" fmla="*/ 26 w 38"/>
                <a:gd name="T15" fmla="*/ 21 h 33"/>
                <a:gd name="T16" fmla="*/ 23 w 38"/>
                <a:gd name="T17" fmla="*/ 23 h 33"/>
                <a:gd name="T18" fmla="*/ 16 w 38"/>
                <a:gd name="T19" fmla="*/ 13 h 33"/>
                <a:gd name="T20" fmla="*/ 6 w 38"/>
                <a:gd name="T21" fmla="*/ 20 h 33"/>
                <a:gd name="T22" fmla="*/ 13 w 38"/>
                <a:gd name="T23" fmla="*/ 31 h 33"/>
                <a:gd name="T24" fmla="*/ 11 w 38"/>
                <a:gd name="T25"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3">
                  <a:moveTo>
                    <a:pt x="11" y="33"/>
                  </a:moveTo>
                  <a:lnTo>
                    <a:pt x="0" y="18"/>
                  </a:lnTo>
                  <a:lnTo>
                    <a:pt x="28" y="0"/>
                  </a:lnTo>
                  <a:lnTo>
                    <a:pt x="38" y="15"/>
                  </a:lnTo>
                  <a:lnTo>
                    <a:pt x="36" y="17"/>
                  </a:lnTo>
                  <a:lnTo>
                    <a:pt x="27" y="6"/>
                  </a:lnTo>
                  <a:lnTo>
                    <a:pt x="18" y="11"/>
                  </a:lnTo>
                  <a:lnTo>
                    <a:pt x="26" y="21"/>
                  </a:lnTo>
                  <a:lnTo>
                    <a:pt x="23" y="23"/>
                  </a:lnTo>
                  <a:lnTo>
                    <a:pt x="16" y="13"/>
                  </a:lnTo>
                  <a:lnTo>
                    <a:pt x="6" y="20"/>
                  </a:lnTo>
                  <a:lnTo>
                    <a:pt x="13" y="31"/>
                  </a:lnTo>
                  <a:lnTo>
                    <a:pt x="11" y="33"/>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42" name="Freeform 110"/>
            <p:cNvSpPr/>
            <p:nvPr userDrawn="1"/>
          </p:nvSpPr>
          <p:spPr bwMode="auto">
            <a:xfrm>
              <a:off x="1026" y="934"/>
              <a:ext cx="24" cy="29"/>
            </a:xfrm>
            <a:custGeom>
              <a:avLst/>
              <a:gdLst>
                <a:gd name="T0" fmla="*/ 3 w 24"/>
                <a:gd name="T1" fmla="*/ 29 h 29"/>
                <a:gd name="T2" fmla="*/ 0 w 24"/>
                <a:gd name="T3" fmla="*/ 26 h 29"/>
                <a:gd name="T4" fmla="*/ 21 w 24"/>
                <a:gd name="T5" fmla="*/ 0 h 29"/>
                <a:gd name="T6" fmla="*/ 24 w 24"/>
                <a:gd name="T7" fmla="*/ 3 h 29"/>
                <a:gd name="T8" fmla="*/ 3 w 24"/>
                <a:gd name="T9" fmla="*/ 29 h 29"/>
              </a:gdLst>
              <a:ahLst/>
              <a:cxnLst>
                <a:cxn ang="0">
                  <a:pos x="T0" y="T1"/>
                </a:cxn>
                <a:cxn ang="0">
                  <a:pos x="T2" y="T3"/>
                </a:cxn>
                <a:cxn ang="0">
                  <a:pos x="T4" y="T5"/>
                </a:cxn>
                <a:cxn ang="0">
                  <a:pos x="T6" y="T7"/>
                </a:cxn>
                <a:cxn ang="0">
                  <a:pos x="T8" y="T9"/>
                </a:cxn>
              </a:cxnLst>
              <a:rect l="0" t="0" r="r" b="b"/>
              <a:pathLst>
                <a:path w="24" h="29">
                  <a:moveTo>
                    <a:pt x="3" y="29"/>
                  </a:moveTo>
                  <a:lnTo>
                    <a:pt x="0" y="26"/>
                  </a:lnTo>
                  <a:lnTo>
                    <a:pt x="21" y="0"/>
                  </a:lnTo>
                  <a:lnTo>
                    <a:pt x="24" y="3"/>
                  </a:lnTo>
                  <a:lnTo>
                    <a:pt x="3" y="2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43" name="Freeform 111"/>
            <p:cNvSpPr>
              <a:spLocks noEditPoints="1"/>
            </p:cNvSpPr>
            <p:nvPr userDrawn="1"/>
          </p:nvSpPr>
          <p:spPr bwMode="auto">
            <a:xfrm>
              <a:off x="1034" y="942"/>
              <a:ext cx="29" cy="35"/>
            </a:xfrm>
            <a:custGeom>
              <a:avLst/>
              <a:gdLst>
                <a:gd name="T0" fmla="*/ 11 w 29"/>
                <a:gd name="T1" fmla="*/ 32 h 35"/>
                <a:gd name="T2" fmla="*/ 16 w 29"/>
                <a:gd name="T3" fmla="*/ 23 h 35"/>
                <a:gd name="T4" fmla="*/ 11 w 29"/>
                <a:gd name="T5" fmla="*/ 20 h 35"/>
                <a:gd name="T6" fmla="*/ 3 w 29"/>
                <a:gd name="T7" fmla="*/ 27 h 35"/>
                <a:gd name="T8" fmla="*/ 0 w 29"/>
                <a:gd name="T9" fmla="*/ 25 h 35"/>
                <a:gd name="T10" fmla="*/ 24 w 29"/>
                <a:gd name="T11" fmla="*/ 0 h 35"/>
                <a:gd name="T12" fmla="*/ 29 w 29"/>
                <a:gd name="T13" fmla="*/ 2 h 35"/>
                <a:gd name="T14" fmla="*/ 16 w 29"/>
                <a:gd name="T15" fmla="*/ 35 h 35"/>
                <a:gd name="T16" fmla="*/ 11 w 29"/>
                <a:gd name="T17" fmla="*/ 32 h 35"/>
                <a:gd name="T18" fmla="*/ 19 w 29"/>
                <a:gd name="T19" fmla="*/ 18 h 35"/>
                <a:gd name="T20" fmla="*/ 24 w 29"/>
                <a:gd name="T21" fmla="*/ 7 h 35"/>
                <a:gd name="T22" fmla="*/ 23 w 29"/>
                <a:gd name="T23" fmla="*/ 6 h 35"/>
                <a:gd name="T24" fmla="*/ 14 w 29"/>
                <a:gd name="T25" fmla="*/ 16 h 35"/>
                <a:gd name="T26" fmla="*/ 19 w 29"/>
                <a:gd name="T2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35">
                  <a:moveTo>
                    <a:pt x="11" y="32"/>
                  </a:moveTo>
                  <a:lnTo>
                    <a:pt x="16" y="23"/>
                  </a:lnTo>
                  <a:lnTo>
                    <a:pt x="11" y="20"/>
                  </a:lnTo>
                  <a:lnTo>
                    <a:pt x="3" y="27"/>
                  </a:lnTo>
                  <a:lnTo>
                    <a:pt x="0" y="25"/>
                  </a:lnTo>
                  <a:lnTo>
                    <a:pt x="24" y="0"/>
                  </a:lnTo>
                  <a:lnTo>
                    <a:pt x="29" y="2"/>
                  </a:lnTo>
                  <a:lnTo>
                    <a:pt x="16" y="35"/>
                  </a:lnTo>
                  <a:lnTo>
                    <a:pt x="11" y="32"/>
                  </a:lnTo>
                  <a:close/>
                  <a:moveTo>
                    <a:pt x="19" y="18"/>
                  </a:moveTo>
                  <a:lnTo>
                    <a:pt x="24" y="7"/>
                  </a:lnTo>
                  <a:lnTo>
                    <a:pt x="23" y="6"/>
                  </a:lnTo>
                  <a:lnTo>
                    <a:pt x="14" y="16"/>
                  </a:lnTo>
                  <a:lnTo>
                    <a:pt x="19" y="18"/>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44" name="Freeform 112"/>
            <p:cNvSpPr/>
            <p:nvPr userDrawn="1"/>
          </p:nvSpPr>
          <p:spPr bwMode="auto">
            <a:xfrm>
              <a:off x="1054" y="948"/>
              <a:ext cx="32" cy="39"/>
            </a:xfrm>
            <a:custGeom>
              <a:avLst/>
              <a:gdLst>
                <a:gd name="T0" fmla="*/ 16 w 32"/>
                <a:gd name="T1" fmla="*/ 39 h 39"/>
                <a:gd name="T2" fmla="*/ 13 w 32"/>
                <a:gd name="T3" fmla="*/ 36 h 39"/>
                <a:gd name="T4" fmla="*/ 15 w 32"/>
                <a:gd name="T5" fmla="*/ 12 h 39"/>
                <a:gd name="T6" fmla="*/ 5 w 32"/>
                <a:gd name="T7" fmla="*/ 32 h 39"/>
                <a:gd name="T8" fmla="*/ 0 w 32"/>
                <a:gd name="T9" fmla="*/ 30 h 39"/>
                <a:gd name="T10" fmla="*/ 16 w 32"/>
                <a:gd name="T11" fmla="*/ 0 h 39"/>
                <a:gd name="T12" fmla="*/ 20 w 32"/>
                <a:gd name="T13" fmla="*/ 1 h 39"/>
                <a:gd name="T14" fmla="*/ 19 w 32"/>
                <a:gd name="T15" fmla="*/ 25 h 39"/>
                <a:gd name="T16" fmla="*/ 29 w 32"/>
                <a:gd name="T17" fmla="*/ 5 h 39"/>
                <a:gd name="T18" fmla="*/ 32 w 32"/>
                <a:gd name="T19" fmla="*/ 7 h 39"/>
                <a:gd name="T20" fmla="*/ 16 w 32"/>
                <a:gd name="T21"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39">
                  <a:moveTo>
                    <a:pt x="16" y="39"/>
                  </a:moveTo>
                  <a:lnTo>
                    <a:pt x="13" y="36"/>
                  </a:lnTo>
                  <a:lnTo>
                    <a:pt x="15" y="12"/>
                  </a:lnTo>
                  <a:lnTo>
                    <a:pt x="5" y="32"/>
                  </a:lnTo>
                  <a:lnTo>
                    <a:pt x="0" y="30"/>
                  </a:lnTo>
                  <a:lnTo>
                    <a:pt x="16" y="0"/>
                  </a:lnTo>
                  <a:lnTo>
                    <a:pt x="20" y="1"/>
                  </a:lnTo>
                  <a:lnTo>
                    <a:pt x="19" y="25"/>
                  </a:lnTo>
                  <a:lnTo>
                    <a:pt x="29" y="5"/>
                  </a:lnTo>
                  <a:lnTo>
                    <a:pt x="32" y="7"/>
                  </a:lnTo>
                  <a:lnTo>
                    <a:pt x="16" y="3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45" name="Freeform 113"/>
            <p:cNvSpPr/>
            <p:nvPr userDrawn="1"/>
          </p:nvSpPr>
          <p:spPr bwMode="auto">
            <a:xfrm>
              <a:off x="1079" y="957"/>
              <a:ext cx="23" cy="36"/>
            </a:xfrm>
            <a:custGeom>
              <a:avLst/>
              <a:gdLst>
                <a:gd name="T0" fmla="*/ 12 w 19"/>
                <a:gd name="T1" fmla="*/ 29 h 29"/>
                <a:gd name="T2" fmla="*/ 10 w 19"/>
                <a:gd name="T3" fmla="*/ 29 h 29"/>
                <a:gd name="T4" fmla="*/ 10 w 19"/>
                <a:gd name="T5" fmla="*/ 26 h 29"/>
                <a:gd name="T6" fmla="*/ 8 w 19"/>
                <a:gd name="T7" fmla="*/ 27 h 29"/>
                <a:gd name="T8" fmla="*/ 5 w 19"/>
                <a:gd name="T9" fmla="*/ 27 h 29"/>
                <a:gd name="T10" fmla="*/ 1 w 19"/>
                <a:gd name="T11" fmla="*/ 23 h 29"/>
                <a:gd name="T12" fmla="*/ 1 w 19"/>
                <a:gd name="T13" fmla="*/ 13 h 29"/>
                <a:gd name="T14" fmla="*/ 6 w 19"/>
                <a:gd name="T15" fmla="*/ 3 h 29"/>
                <a:gd name="T16" fmla="*/ 14 w 19"/>
                <a:gd name="T17" fmla="*/ 1 h 29"/>
                <a:gd name="T18" fmla="*/ 18 w 19"/>
                <a:gd name="T19" fmla="*/ 11 h 29"/>
                <a:gd name="T20" fmla="*/ 15 w 19"/>
                <a:gd name="T21" fmla="*/ 11 h 29"/>
                <a:gd name="T22" fmla="*/ 13 w 19"/>
                <a:gd name="T23" fmla="*/ 4 h 29"/>
                <a:gd name="T24" fmla="*/ 8 w 19"/>
                <a:gd name="T25" fmla="*/ 6 h 29"/>
                <a:gd name="T26" fmla="*/ 5 w 19"/>
                <a:gd name="T27" fmla="*/ 14 h 29"/>
                <a:gd name="T28" fmla="*/ 4 w 19"/>
                <a:gd name="T29" fmla="*/ 21 h 29"/>
                <a:gd name="T30" fmla="*/ 6 w 19"/>
                <a:gd name="T31" fmla="*/ 24 h 29"/>
                <a:gd name="T32" fmla="*/ 9 w 19"/>
                <a:gd name="T33" fmla="*/ 24 h 29"/>
                <a:gd name="T34" fmla="*/ 12 w 19"/>
                <a:gd name="T35" fmla="*/ 20 h 29"/>
                <a:gd name="T36" fmla="*/ 12 w 19"/>
                <a:gd name="T37" fmla="*/ 18 h 29"/>
                <a:gd name="T38" fmla="*/ 8 w 19"/>
                <a:gd name="T39" fmla="*/ 17 h 29"/>
                <a:gd name="T40" fmla="*/ 9 w 19"/>
                <a:gd name="T41" fmla="*/ 14 h 29"/>
                <a:gd name="T42" fmla="*/ 16 w 19"/>
                <a:gd name="T43" fmla="*/ 17 h 29"/>
                <a:gd name="T44" fmla="*/ 12 w 19"/>
                <a:gd name="T45"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29">
                  <a:moveTo>
                    <a:pt x="12" y="29"/>
                  </a:moveTo>
                  <a:cubicBezTo>
                    <a:pt x="10" y="29"/>
                    <a:pt x="10" y="29"/>
                    <a:pt x="10" y="29"/>
                  </a:cubicBezTo>
                  <a:cubicBezTo>
                    <a:pt x="10" y="26"/>
                    <a:pt x="10" y="26"/>
                    <a:pt x="10" y="26"/>
                  </a:cubicBezTo>
                  <a:cubicBezTo>
                    <a:pt x="9" y="27"/>
                    <a:pt x="9" y="27"/>
                    <a:pt x="8" y="27"/>
                  </a:cubicBezTo>
                  <a:cubicBezTo>
                    <a:pt x="7" y="27"/>
                    <a:pt x="6" y="27"/>
                    <a:pt x="5" y="27"/>
                  </a:cubicBezTo>
                  <a:cubicBezTo>
                    <a:pt x="3" y="26"/>
                    <a:pt x="2" y="25"/>
                    <a:pt x="1" y="23"/>
                  </a:cubicBezTo>
                  <a:cubicBezTo>
                    <a:pt x="0" y="20"/>
                    <a:pt x="0" y="17"/>
                    <a:pt x="1" y="13"/>
                  </a:cubicBezTo>
                  <a:cubicBezTo>
                    <a:pt x="3" y="8"/>
                    <a:pt x="4" y="5"/>
                    <a:pt x="6" y="3"/>
                  </a:cubicBezTo>
                  <a:cubicBezTo>
                    <a:pt x="9" y="1"/>
                    <a:pt x="12" y="0"/>
                    <a:pt x="14" y="1"/>
                  </a:cubicBezTo>
                  <a:cubicBezTo>
                    <a:pt x="17" y="2"/>
                    <a:pt x="19" y="6"/>
                    <a:pt x="18" y="11"/>
                  </a:cubicBezTo>
                  <a:cubicBezTo>
                    <a:pt x="15" y="11"/>
                    <a:pt x="15" y="11"/>
                    <a:pt x="15" y="11"/>
                  </a:cubicBezTo>
                  <a:cubicBezTo>
                    <a:pt x="16" y="9"/>
                    <a:pt x="15" y="5"/>
                    <a:pt x="13" y="4"/>
                  </a:cubicBezTo>
                  <a:cubicBezTo>
                    <a:pt x="11" y="4"/>
                    <a:pt x="9" y="4"/>
                    <a:pt x="8" y="6"/>
                  </a:cubicBezTo>
                  <a:cubicBezTo>
                    <a:pt x="7" y="7"/>
                    <a:pt x="6" y="10"/>
                    <a:pt x="5" y="14"/>
                  </a:cubicBezTo>
                  <a:cubicBezTo>
                    <a:pt x="4" y="17"/>
                    <a:pt x="3" y="20"/>
                    <a:pt x="4" y="21"/>
                  </a:cubicBezTo>
                  <a:cubicBezTo>
                    <a:pt x="4" y="23"/>
                    <a:pt x="5" y="24"/>
                    <a:pt x="6" y="24"/>
                  </a:cubicBezTo>
                  <a:cubicBezTo>
                    <a:pt x="7" y="25"/>
                    <a:pt x="9" y="25"/>
                    <a:pt x="9" y="24"/>
                  </a:cubicBezTo>
                  <a:cubicBezTo>
                    <a:pt x="10" y="23"/>
                    <a:pt x="11" y="22"/>
                    <a:pt x="12" y="20"/>
                  </a:cubicBezTo>
                  <a:cubicBezTo>
                    <a:pt x="12" y="18"/>
                    <a:pt x="12" y="18"/>
                    <a:pt x="12" y="18"/>
                  </a:cubicBezTo>
                  <a:cubicBezTo>
                    <a:pt x="8" y="17"/>
                    <a:pt x="8" y="17"/>
                    <a:pt x="8" y="17"/>
                  </a:cubicBezTo>
                  <a:cubicBezTo>
                    <a:pt x="9" y="14"/>
                    <a:pt x="9" y="14"/>
                    <a:pt x="9" y="14"/>
                  </a:cubicBezTo>
                  <a:cubicBezTo>
                    <a:pt x="16" y="17"/>
                    <a:pt x="16" y="17"/>
                    <a:pt x="16" y="17"/>
                  </a:cubicBezTo>
                  <a:lnTo>
                    <a:pt x="12" y="2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46" name="Freeform 114"/>
            <p:cNvSpPr/>
            <p:nvPr userDrawn="1"/>
          </p:nvSpPr>
          <p:spPr bwMode="auto">
            <a:xfrm>
              <a:off x="1121" y="962"/>
              <a:ext cx="19" cy="33"/>
            </a:xfrm>
            <a:custGeom>
              <a:avLst/>
              <a:gdLst>
                <a:gd name="T0" fmla="*/ 15 w 15"/>
                <a:gd name="T1" fmla="*/ 19 h 27"/>
                <a:gd name="T2" fmla="*/ 13 w 15"/>
                <a:gd name="T3" fmla="*/ 25 h 27"/>
                <a:gd name="T4" fmla="*/ 7 w 15"/>
                <a:gd name="T5" fmla="*/ 27 h 27"/>
                <a:gd name="T6" fmla="*/ 1 w 15"/>
                <a:gd name="T7" fmla="*/ 25 h 27"/>
                <a:gd name="T8" fmla="*/ 0 w 15"/>
                <a:gd name="T9" fmla="*/ 19 h 27"/>
                <a:gd name="T10" fmla="*/ 0 w 15"/>
                <a:gd name="T11" fmla="*/ 0 h 27"/>
                <a:gd name="T12" fmla="*/ 4 w 15"/>
                <a:gd name="T13" fmla="*/ 0 h 27"/>
                <a:gd name="T14" fmla="*/ 3 w 15"/>
                <a:gd name="T15" fmla="*/ 19 h 27"/>
                <a:gd name="T16" fmla="*/ 4 w 15"/>
                <a:gd name="T17" fmla="*/ 23 h 27"/>
                <a:gd name="T18" fmla="*/ 7 w 15"/>
                <a:gd name="T19" fmla="*/ 24 h 27"/>
                <a:gd name="T20" fmla="*/ 10 w 15"/>
                <a:gd name="T21" fmla="*/ 23 h 27"/>
                <a:gd name="T22" fmla="*/ 11 w 15"/>
                <a:gd name="T23" fmla="*/ 19 h 27"/>
                <a:gd name="T24" fmla="*/ 12 w 15"/>
                <a:gd name="T25" fmla="*/ 0 h 27"/>
                <a:gd name="T26" fmla="*/ 15 w 15"/>
                <a:gd name="T27" fmla="*/ 0 h 27"/>
                <a:gd name="T28" fmla="*/ 15 w 15"/>
                <a:gd name="T29"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7">
                  <a:moveTo>
                    <a:pt x="15" y="19"/>
                  </a:moveTo>
                  <a:cubicBezTo>
                    <a:pt x="15" y="22"/>
                    <a:pt x="14" y="24"/>
                    <a:pt x="13" y="25"/>
                  </a:cubicBezTo>
                  <a:cubicBezTo>
                    <a:pt x="11" y="27"/>
                    <a:pt x="10" y="27"/>
                    <a:pt x="7" y="27"/>
                  </a:cubicBezTo>
                  <a:cubicBezTo>
                    <a:pt x="4" y="27"/>
                    <a:pt x="2" y="26"/>
                    <a:pt x="1" y="25"/>
                  </a:cubicBezTo>
                  <a:cubicBezTo>
                    <a:pt x="0" y="23"/>
                    <a:pt x="0" y="21"/>
                    <a:pt x="0" y="19"/>
                  </a:cubicBezTo>
                  <a:cubicBezTo>
                    <a:pt x="0" y="0"/>
                    <a:pt x="0" y="0"/>
                    <a:pt x="0" y="0"/>
                  </a:cubicBezTo>
                  <a:cubicBezTo>
                    <a:pt x="4" y="0"/>
                    <a:pt x="4" y="0"/>
                    <a:pt x="4" y="0"/>
                  </a:cubicBezTo>
                  <a:cubicBezTo>
                    <a:pt x="3" y="19"/>
                    <a:pt x="3" y="19"/>
                    <a:pt x="3" y="19"/>
                  </a:cubicBezTo>
                  <a:cubicBezTo>
                    <a:pt x="3" y="21"/>
                    <a:pt x="3" y="22"/>
                    <a:pt x="4" y="23"/>
                  </a:cubicBezTo>
                  <a:cubicBezTo>
                    <a:pt x="5" y="24"/>
                    <a:pt x="6" y="24"/>
                    <a:pt x="7" y="24"/>
                  </a:cubicBezTo>
                  <a:cubicBezTo>
                    <a:pt x="8" y="24"/>
                    <a:pt x="9" y="24"/>
                    <a:pt x="10" y="23"/>
                  </a:cubicBezTo>
                  <a:cubicBezTo>
                    <a:pt x="11" y="22"/>
                    <a:pt x="11" y="21"/>
                    <a:pt x="11" y="19"/>
                  </a:cubicBezTo>
                  <a:cubicBezTo>
                    <a:pt x="12" y="0"/>
                    <a:pt x="12" y="0"/>
                    <a:pt x="12" y="0"/>
                  </a:cubicBezTo>
                  <a:cubicBezTo>
                    <a:pt x="15" y="0"/>
                    <a:pt x="15" y="0"/>
                    <a:pt x="15" y="0"/>
                  </a:cubicBezTo>
                  <a:lnTo>
                    <a:pt x="15" y="1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47" name="Freeform 115"/>
            <p:cNvSpPr/>
            <p:nvPr userDrawn="1"/>
          </p:nvSpPr>
          <p:spPr bwMode="auto">
            <a:xfrm>
              <a:off x="1142" y="959"/>
              <a:ext cx="21" cy="36"/>
            </a:xfrm>
            <a:custGeom>
              <a:avLst/>
              <a:gdLst>
                <a:gd name="T0" fmla="*/ 21 w 21"/>
                <a:gd name="T1" fmla="*/ 33 h 36"/>
                <a:gd name="T2" fmla="*/ 17 w 21"/>
                <a:gd name="T3" fmla="*/ 34 h 36"/>
                <a:gd name="T4" fmla="*/ 5 w 21"/>
                <a:gd name="T5" fmla="*/ 11 h 36"/>
                <a:gd name="T6" fmla="*/ 8 w 21"/>
                <a:gd name="T7" fmla="*/ 35 h 36"/>
                <a:gd name="T8" fmla="*/ 3 w 21"/>
                <a:gd name="T9" fmla="*/ 36 h 36"/>
                <a:gd name="T10" fmla="*/ 0 w 21"/>
                <a:gd name="T11" fmla="*/ 3 h 36"/>
                <a:gd name="T12" fmla="*/ 5 w 21"/>
                <a:gd name="T13" fmla="*/ 1 h 36"/>
                <a:gd name="T14" fmla="*/ 15 w 21"/>
                <a:gd name="T15" fmla="*/ 18 h 36"/>
                <a:gd name="T16" fmla="*/ 12 w 21"/>
                <a:gd name="T17" fmla="*/ 0 h 36"/>
                <a:gd name="T18" fmla="*/ 16 w 21"/>
                <a:gd name="T19" fmla="*/ 0 h 36"/>
                <a:gd name="T20" fmla="*/ 21 w 21"/>
                <a:gd name="T21" fmla="*/ 3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36">
                  <a:moveTo>
                    <a:pt x="21" y="33"/>
                  </a:moveTo>
                  <a:lnTo>
                    <a:pt x="17" y="34"/>
                  </a:lnTo>
                  <a:lnTo>
                    <a:pt x="5" y="11"/>
                  </a:lnTo>
                  <a:lnTo>
                    <a:pt x="8" y="35"/>
                  </a:lnTo>
                  <a:lnTo>
                    <a:pt x="3" y="36"/>
                  </a:lnTo>
                  <a:lnTo>
                    <a:pt x="0" y="3"/>
                  </a:lnTo>
                  <a:lnTo>
                    <a:pt x="5" y="1"/>
                  </a:lnTo>
                  <a:lnTo>
                    <a:pt x="15" y="18"/>
                  </a:lnTo>
                  <a:lnTo>
                    <a:pt x="12" y="0"/>
                  </a:lnTo>
                  <a:lnTo>
                    <a:pt x="16" y="0"/>
                  </a:lnTo>
                  <a:lnTo>
                    <a:pt x="21" y="33"/>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48" name="Freeform 116"/>
            <p:cNvSpPr/>
            <p:nvPr userDrawn="1"/>
          </p:nvSpPr>
          <p:spPr bwMode="auto">
            <a:xfrm>
              <a:off x="1162" y="957"/>
              <a:ext cx="14" cy="33"/>
            </a:xfrm>
            <a:custGeom>
              <a:avLst/>
              <a:gdLst>
                <a:gd name="T0" fmla="*/ 14 w 14"/>
                <a:gd name="T1" fmla="*/ 31 h 33"/>
                <a:gd name="T2" fmla="*/ 9 w 14"/>
                <a:gd name="T3" fmla="*/ 33 h 33"/>
                <a:gd name="T4" fmla="*/ 0 w 14"/>
                <a:gd name="T5" fmla="*/ 1 h 33"/>
                <a:gd name="T6" fmla="*/ 4 w 14"/>
                <a:gd name="T7" fmla="*/ 0 h 33"/>
                <a:gd name="T8" fmla="*/ 14 w 14"/>
                <a:gd name="T9" fmla="*/ 31 h 33"/>
              </a:gdLst>
              <a:ahLst/>
              <a:cxnLst>
                <a:cxn ang="0">
                  <a:pos x="T0" y="T1"/>
                </a:cxn>
                <a:cxn ang="0">
                  <a:pos x="T2" y="T3"/>
                </a:cxn>
                <a:cxn ang="0">
                  <a:pos x="T4" y="T5"/>
                </a:cxn>
                <a:cxn ang="0">
                  <a:pos x="T6" y="T7"/>
                </a:cxn>
                <a:cxn ang="0">
                  <a:pos x="T8" y="T9"/>
                </a:cxn>
              </a:cxnLst>
              <a:rect l="0" t="0" r="r" b="b"/>
              <a:pathLst>
                <a:path w="14" h="33">
                  <a:moveTo>
                    <a:pt x="14" y="31"/>
                  </a:moveTo>
                  <a:lnTo>
                    <a:pt x="9" y="33"/>
                  </a:lnTo>
                  <a:lnTo>
                    <a:pt x="0" y="1"/>
                  </a:lnTo>
                  <a:lnTo>
                    <a:pt x="4" y="0"/>
                  </a:lnTo>
                  <a:lnTo>
                    <a:pt x="14" y="31"/>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49" name="Freeform 117"/>
            <p:cNvSpPr/>
            <p:nvPr userDrawn="1"/>
          </p:nvSpPr>
          <p:spPr bwMode="auto">
            <a:xfrm>
              <a:off x="1169" y="948"/>
              <a:ext cx="23" cy="37"/>
            </a:xfrm>
            <a:custGeom>
              <a:avLst/>
              <a:gdLst>
                <a:gd name="T0" fmla="*/ 18 w 23"/>
                <a:gd name="T1" fmla="*/ 0 h 37"/>
                <a:gd name="T2" fmla="*/ 23 w 23"/>
                <a:gd name="T3" fmla="*/ 35 h 37"/>
                <a:gd name="T4" fmla="*/ 19 w 23"/>
                <a:gd name="T5" fmla="*/ 37 h 37"/>
                <a:gd name="T6" fmla="*/ 0 w 23"/>
                <a:gd name="T7" fmla="*/ 7 h 37"/>
                <a:gd name="T8" fmla="*/ 4 w 23"/>
                <a:gd name="T9" fmla="*/ 6 h 37"/>
                <a:gd name="T10" fmla="*/ 18 w 23"/>
                <a:gd name="T11" fmla="*/ 26 h 37"/>
                <a:gd name="T12" fmla="*/ 14 w 23"/>
                <a:gd name="T13" fmla="*/ 1 h 37"/>
                <a:gd name="T14" fmla="*/ 18 w 23"/>
                <a:gd name="T15" fmla="*/ 0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7">
                  <a:moveTo>
                    <a:pt x="18" y="0"/>
                  </a:moveTo>
                  <a:lnTo>
                    <a:pt x="23" y="35"/>
                  </a:lnTo>
                  <a:lnTo>
                    <a:pt x="19" y="37"/>
                  </a:lnTo>
                  <a:lnTo>
                    <a:pt x="0" y="7"/>
                  </a:lnTo>
                  <a:lnTo>
                    <a:pt x="4" y="6"/>
                  </a:lnTo>
                  <a:lnTo>
                    <a:pt x="18" y="26"/>
                  </a:lnTo>
                  <a:lnTo>
                    <a:pt x="14" y="1"/>
                  </a:lnTo>
                  <a:lnTo>
                    <a:pt x="18"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50" name="Freeform 118"/>
            <p:cNvSpPr/>
            <p:nvPr userDrawn="1"/>
          </p:nvSpPr>
          <p:spPr bwMode="auto">
            <a:xfrm>
              <a:off x="1188" y="939"/>
              <a:ext cx="33" cy="38"/>
            </a:xfrm>
            <a:custGeom>
              <a:avLst/>
              <a:gdLst>
                <a:gd name="T0" fmla="*/ 33 w 33"/>
                <a:gd name="T1" fmla="*/ 29 h 38"/>
                <a:gd name="T2" fmla="*/ 17 w 33"/>
                <a:gd name="T3" fmla="*/ 38 h 38"/>
                <a:gd name="T4" fmla="*/ 0 w 33"/>
                <a:gd name="T5" fmla="*/ 8 h 38"/>
                <a:gd name="T6" fmla="*/ 15 w 33"/>
                <a:gd name="T7" fmla="*/ 0 h 38"/>
                <a:gd name="T8" fmla="*/ 17 w 33"/>
                <a:gd name="T9" fmla="*/ 3 h 38"/>
                <a:gd name="T10" fmla="*/ 6 w 33"/>
                <a:gd name="T11" fmla="*/ 9 h 38"/>
                <a:gd name="T12" fmla="*/ 11 w 33"/>
                <a:gd name="T13" fmla="*/ 19 h 38"/>
                <a:gd name="T14" fmla="*/ 22 w 33"/>
                <a:gd name="T15" fmla="*/ 13 h 38"/>
                <a:gd name="T16" fmla="*/ 23 w 33"/>
                <a:gd name="T17" fmla="*/ 16 h 38"/>
                <a:gd name="T18" fmla="*/ 14 w 33"/>
                <a:gd name="T19" fmla="*/ 21 h 38"/>
                <a:gd name="T20" fmla="*/ 20 w 33"/>
                <a:gd name="T21" fmla="*/ 33 h 38"/>
                <a:gd name="T22" fmla="*/ 31 w 33"/>
                <a:gd name="T23" fmla="*/ 25 h 38"/>
                <a:gd name="T24" fmla="*/ 33 w 33"/>
                <a:gd name="T25" fmla="*/ 2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8">
                  <a:moveTo>
                    <a:pt x="33" y="29"/>
                  </a:moveTo>
                  <a:lnTo>
                    <a:pt x="17" y="38"/>
                  </a:lnTo>
                  <a:lnTo>
                    <a:pt x="0" y="8"/>
                  </a:lnTo>
                  <a:lnTo>
                    <a:pt x="15" y="0"/>
                  </a:lnTo>
                  <a:lnTo>
                    <a:pt x="17" y="3"/>
                  </a:lnTo>
                  <a:lnTo>
                    <a:pt x="6" y="9"/>
                  </a:lnTo>
                  <a:lnTo>
                    <a:pt x="11" y="19"/>
                  </a:lnTo>
                  <a:lnTo>
                    <a:pt x="22" y="13"/>
                  </a:lnTo>
                  <a:lnTo>
                    <a:pt x="23" y="16"/>
                  </a:lnTo>
                  <a:lnTo>
                    <a:pt x="14" y="21"/>
                  </a:lnTo>
                  <a:lnTo>
                    <a:pt x="20" y="33"/>
                  </a:lnTo>
                  <a:lnTo>
                    <a:pt x="31" y="25"/>
                  </a:lnTo>
                  <a:lnTo>
                    <a:pt x="33" y="2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51" name="Freeform 119"/>
            <p:cNvSpPr>
              <a:spLocks noEditPoints="1"/>
            </p:cNvSpPr>
            <p:nvPr userDrawn="1"/>
          </p:nvSpPr>
          <p:spPr bwMode="auto">
            <a:xfrm>
              <a:off x="1205" y="931"/>
              <a:ext cx="34" cy="34"/>
            </a:xfrm>
            <a:custGeom>
              <a:avLst/>
              <a:gdLst>
                <a:gd name="T0" fmla="*/ 27 w 27"/>
                <a:gd name="T1" fmla="*/ 20 h 28"/>
                <a:gd name="T2" fmla="*/ 24 w 27"/>
                <a:gd name="T3" fmla="*/ 22 h 28"/>
                <a:gd name="T4" fmla="*/ 15 w 27"/>
                <a:gd name="T5" fmla="*/ 14 h 28"/>
                <a:gd name="T6" fmla="*/ 12 w 27"/>
                <a:gd name="T7" fmla="*/ 17 h 28"/>
                <a:gd name="T8" fmla="*/ 19 w 27"/>
                <a:gd name="T9" fmla="*/ 26 h 28"/>
                <a:gd name="T10" fmla="*/ 16 w 27"/>
                <a:gd name="T11" fmla="*/ 28 h 28"/>
                <a:gd name="T12" fmla="*/ 0 w 27"/>
                <a:gd name="T13" fmla="*/ 6 h 28"/>
                <a:gd name="T14" fmla="*/ 5 w 27"/>
                <a:gd name="T15" fmla="*/ 2 h 28"/>
                <a:gd name="T16" fmla="*/ 11 w 27"/>
                <a:gd name="T17" fmla="*/ 0 h 28"/>
                <a:gd name="T18" fmla="*/ 18 w 27"/>
                <a:gd name="T19" fmla="*/ 8 h 28"/>
                <a:gd name="T20" fmla="*/ 17 w 27"/>
                <a:gd name="T21" fmla="*/ 12 h 28"/>
                <a:gd name="T22" fmla="*/ 27 w 27"/>
                <a:gd name="T23" fmla="*/ 20 h 28"/>
                <a:gd name="T24" fmla="*/ 10 w 27"/>
                <a:gd name="T25" fmla="*/ 4 h 28"/>
                <a:gd name="T26" fmla="*/ 5 w 27"/>
                <a:gd name="T27" fmla="*/ 6 h 28"/>
                <a:gd name="T28" fmla="*/ 10 w 27"/>
                <a:gd name="T29" fmla="*/ 13 h 28"/>
                <a:gd name="T30" fmla="*/ 14 w 27"/>
                <a:gd name="T31" fmla="*/ 10 h 28"/>
                <a:gd name="T32" fmla="*/ 10 w 27"/>
                <a:gd name="T33"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8">
                  <a:moveTo>
                    <a:pt x="27" y="20"/>
                  </a:moveTo>
                  <a:cubicBezTo>
                    <a:pt x="24" y="22"/>
                    <a:pt x="24" y="22"/>
                    <a:pt x="24" y="22"/>
                  </a:cubicBezTo>
                  <a:cubicBezTo>
                    <a:pt x="15" y="14"/>
                    <a:pt x="15" y="14"/>
                    <a:pt x="15" y="14"/>
                  </a:cubicBezTo>
                  <a:cubicBezTo>
                    <a:pt x="12" y="17"/>
                    <a:pt x="12" y="17"/>
                    <a:pt x="12" y="17"/>
                  </a:cubicBezTo>
                  <a:cubicBezTo>
                    <a:pt x="19" y="26"/>
                    <a:pt x="19" y="26"/>
                    <a:pt x="19" y="26"/>
                  </a:cubicBezTo>
                  <a:cubicBezTo>
                    <a:pt x="16" y="28"/>
                    <a:pt x="16" y="28"/>
                    <a:pt x="16" y="28"/>
                  </a:cubicBezTo>
                  <a:cubicBezTo>
                    <a:pt x="0" y="6"/>
                    <a:pt x="0" y="6"/>
                    <a:pt x="0" y="6"/>
                  </a:cubicBezTo>
                  <a:cubicBezTo>
                    <a:pt x="5" y="2"/>
                    <a:pt x="5" y="2"/>
                    <a:pt x="5" y="2"/>
                  </a:cubicBezTo>
                  <a:cubicBezTo>
                    <a:pt x="7" y="1"/>
                    <a:pt x="9" y="0"/>
                    <a:pt x="11" y="0"/>
                  </a:cubicBezTo>
                  <a:cubicBezTo>
                    <a:pt x="16" y="1"/>
                    <a:pt x="18" y="4"/>
                    <a:pt x="18" y="8"/>
                  </a:cubicBezTo>
                  <a:cubicBezTo>
                    <a:pt x="18" y="9"/>
                    <a:pt x="18" y="11"/>
                    <a:pt x="17" y="12"/>
                  </a:cubicBezTo>
                  <a:lnTo>
                    <a:pt x="27" y="20"/>
                  </a:lnTo>
                  <a:close/>
                  <a:moveTo>
                    <a:pt x="10" y="4"/>
                  </a:moveTo>
                  <a:cubicBezTo>
                    <a:pt x="8" y="3"/>
                    <a:pt x="6" y="5"/>
                    <a:pt x="5" y="6"/>
                  </a:cubicBezTo>
                  <a:cubicBezTo>
                    <a:pt x="10" y="13"/>
                    <a:pt x="10" y="13"/>
                    <a:pt x="10" y="13"/>
                  </a:cubicBezTo>
                  <a:cubicBezTo>
                    <a:pt x="12" y="12"/>
                    <a:pt x="12" y="12"/>
                    <a:pt x="14" y="10"/>
                  </a:cubicBezTo>
                  <a:cubicBezTo>
                    <a:pt x="14" y="7"/>
                    <a:pt x="13" y="5"/>
                    <a:pt x="10" y="4"/>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52" name="Freeform 120"/>
            <p:cNvSpPr/>
            <p:nvPr userDrawn="1"/>
          </p:nvSpPr>
          <p:spPr bwMode="auto">
            <a:xfrm>
              <a:off x="1223" y="916"/>
              <a:ext cx="34" cy="29"/>
            </a:xfrm>
            <a:custGeom>
              <a:avLst/>
              <a:gdLst>
                <a:gd name="T0" fmla="*/ 22 w 28"/>
                <a:gd name="T1" fmla="*/ 10 h 24"/>
                <a:gd name="T2" fmla="*/ 19 w 28"/>
                <a:gd name="T3" fmla="*/ 24 h 24"/>
                <a:gd name="T4" fmla="*/ 14 w 28"/>
                <a:gd name="T5" fmla="*/ 23 h 24"/>
                <a:gd name="T6" fmla="*/ 15 w 28"/>
                <a:gd name="T7" fmla="*/ 20 h 24"/>
                <a:gd name="T8" fmla="*/ 18 w 28"/>
                <a:gd name="T9" fmla="*/ 21 h 24"/>
                <a:gd name="T10" fmla="*/ 20 w 28"/>
                <a:gd name="T11" fmla="*/ 13 h 24"/>
                <a:gd name="T12" fmla="*/ 17 w 28"/>
                <a:gd name="T13" fmla="*/ 12 h 24"/>
                <a:gd name="T14" fmla="*/ 8 w 28"/>
                <a:gd name="T15" fmla="*/ 15 h 24"/>
                <a:gd name="T16" fmla="*/ 0 w 28"/>
                <a:gd name="T17" fmla="*/ 9 h 24"/>
                <a:gd name="T18" fmla="*/ 2 w 28"/>
                <a:gd name="T19" fmla="*/ 4 h 24"/>
                <a:gd name="T20" fmla="*/ 11 w 28"/>
                <a:gd name="T21" fmla="*/ 2 h 24"/>
                <a:gd name="T22" fmla="*/ 10 w 28"/>
                <a:gd name="T23" fmla="*/ 5 h 24"/>
                <a:gd name="T24" fmla="*/ 4 w 28"/>
                <a:gd name="T25" fmla="*/ 6 h 24"/>
                <a:gd name="T26" fmla="*/ 3 w 28"/>
                <a:gd name="T27" fmla="*/ 9 h 24"/>
                <a:gd name="T28" fmla="*/ 7 w 28"/>
                <a:gd name="T29" fmla="*/ 12 h 24"/>
                <a:gd name="T30" fmla="*/ 17 w 28"/>
                <a:gd name="T31" fmla="*/ 9 h 24"/>
                <a:gd name="T32" fmla="*/ 22 w 28"/>
                <a:gd name="T33" fmla="*/ 1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 h="24">
                  <a:moveTo>
                    <a:pt x="22" y="10"/>
                  </a:moveTo>
                  <a:cubicBezTo>
                    <a:pt x="28" y="13"/>
                    <a:pt x="26" y="23"/>
                    <a:pt x="19" y="24"/>
                  </a:cubicBezTo>
                  <a:cubicBezTo>
                    <a:pt x="17" y="24"/>
                    <a:pt x="15" y="24"/>
                    <a:pt x="14" y="23"/>
                  </a:cubicBezTo>
                  <a:cubicBezTo>
                    <a:pt x="15" y="20"/>
                    <a:pt x="15" y="20"/>
                    <a:pt x="15" y="20"/>
                  </a:cubicBezTo>
                  <a:cubicBezTo>
                    <a:pt x="16" y="21"/>
                    <a:pt x="17" y="21"/>
                    <a:pt x="18" y="21"/>
                  </a:cubicBezTo>
                  <a:cubicBezTo>
                    <a:pt x="23" y="20"/>
                    <a:pt x="23" y="15"/>
                    <a:pt x="20" y="13"/>
                  </a:cubicBezTo>
                  <a:cubicBezTo>
                    <a:pt x="19" y="12"/>
                    <a:pt x="18" y="12"/>
                    <a:pt x="17" y="12"/>
                  </a:cubicBezTo>
                  <a:cubicBezTo>
                    <a:pt x="13" y="13"/>
                    <a:pt x="11" y="15"/>
                    <a:pt x="8" y="15"/>
                  </a:cubicBezTo>
                  <a:cubicBezTo>
                    <a:pt x="4" y="15"/>
                    <a:pt x="1" y="13"/>
                    <a:pt x="0" y="9"/>
                  </a:cubicBezTo>
                  <a:cubicBezTo>
                    <a:pt x="0" y="7"/>
                    <a:pt x="1" y="5"/>
                    <a:pt x="2" y="4"/>
                  </a:cubicBezTo>
                  <a:cubicBezTo>
                    <a:pt x="4" y="0"/>
                    <a:pt x="8" y="0"/>
                    <a:pt x="11" y="2"/>
                  </a:cubicBezTo>
                  <a:cubicBezTo>
                    <a:pt x="10" y="5"/>
                    <a:pt x="10" y="5"/>
                    <a:pt x="10" y="5"/>
                  </a:cubicBezTo>
                  <a:cubicBezTo>
                    <a:pt x="8" y="4"/>
                    <a:pt x="5" y="4"/>
                    <a:pt x="4" y="6"/>
                  </a:cubicBezTo>
                  <a:cubicBezTo>
                    <a:pt x="3" y="7"/>
                    <a:pt x="3" y="8"/>
                    <a:pt x="3" y="9"/>
                  </a:cubicBezTo>
                  <a:cubicBezTo>
                    <a:pt x="4" y="11"/>
                    <a:pt x="5" y="12"/>
                    <a:pt x="7" y="12"/>
                  </a:cubicBezTo>
                  <a:cubicBezTo>
                    <a:pt x="11" y="11"/>
                    <a:pt x="13" y="8"/>
                    <a:pt x="17" y="9"/>
                  </a:cubicBezTo>
                  <a:cubicBezTo>
                    <a:pt x="18" y="9"/>
                    <a:pt x="20" y="9"/>
                    <a:pt x="22" y="10"/>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53" name="Freeform 121"/>
            <p:cNvSpPr/>
            <p:nvPr userDrawn="1"/>
          </p:nvSpPr>
          <p:spPr bwMode="auto">
            <a:xfrm>
              <a:off x="1234" y="906"/>
              <a:ext cx="31" cy="21"/>
            </a:xfrm>
            <a:custGeom>
              <a:avLst/>
              <a:gdLst>
                <a:gd name="T0" fmla="*/ 31 w 31"/>
                <a:gd name="T1" fmla="*/ 17 h 21"/>
                <a:gd name="T2" fmla="*/ 28 w 31"/>
                <a:gd name="T3" fmla="*/ 21 h 21"/>
                <a:gd name="T4" fmla="*/ 0 w 31"/>
                <a:gd name="T5" fmla="*/ 2 h 21"/>
                <a:gd name="T6" fmla="*/ 2 w 31"/>
                <a:gd name="T7" fmla="*/ 0 h 21"/>
                <a:gd name="T8" fmla="*/ 31 w 31"/>
                <a:gd name="T9" fmla="*/ 17 h 21"/>
              </a:gdLst>
              <a:ahLst/>
              <a:cxnLst>
                <a:cxn ang="0">
                  <a:pos x="T0" y="T1"/>
                </a:cxn>
                <a:cxn ang="0">
                  <a:pos x="T2" y="T3"/>
                </a:cxn>
                <a:cxn ang="0">
                  <a:pos x="T4" y="T5"/>
                </a:cxn>
                <a:cxn ang="0">
                  <a:pos x="T6" y="T7"/>
                </a:cxn>
                <a:cxn ang="0">
                  <a:pos x="T8" y="T9"/>
                </a:cxn>
              </a:cxnLst>
              <a:rect l="0" t="0" r="r" b="b"/>
              <a:pathLst>
                <a:path w="31" h="21">
                  <a:moveTo>
                    <a:pt x="31" y="17"/>
                  </a:moveTo>
                  <a:lnTo>
                    <a:pt x="28" y="21"/>
                  </a:lnTo>
                  <a:lnTo>
                    <a:pt x="0" y="2"/>
                  </a:lnTo>
                  <a:lnTo>
                    <a:pt x="2" y="0"/>
                  </a:lnTo>
                  <a:lnTo>
                    <a:pt x="31" y="17"/>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54" name="Freeform 122"/>
            <p:cNvSpPr/>
            <p:nvPr userDrawn="1"/>
          </p:nvSpPr>
          <p:spPr bwMode="auto">
            <a:xfrm>
              <a:off x="1239" y="884"/>
              <a:ext cx="36" cy="28"/>
            </a:xfrm>
            <a:custGeom>
              <a:avLst/>
              <a:gdLst>
                <a:gd name="T0" fmla="*/ 11 w 36"/>
                <a:gd name="T1" fmla="*/ 3 h 28"/>
                <a:gd name="T2" fmla="*/ 8 w 36"/>
                <a:gd name="T3" fmla="*/ 9 h 28"/>
                <a:gd name="T4" fmla="*/ 36 w 36"/>
                <a:gd name="T5" fmla="*/ 25 h 28"/>
                <a:gd name="T6" fmla="*/ 33 w 36"/>
                <a:gd name="T7" fmla="*/ 28 h 28"/>
                <a:gd name="T8" fmla="*/ 6 w 36"/>
                <a:gd name="T9" fmla="*/ 13 h 28"/>
                <a:gd name="T10" fmla="*/ 3 w 36"/>
                <a:gd name="T11" fmla="*/ 18 h 28"/>
                <a:gd name="T12" fmla="*/ 0 w 36"/>
                <a:gd name="T13" fmla="*/ 17 h 28"/>
                <a:gd name="T14" fmla="*/ 7 w 36"/>
                <a:gd name="T15" fmla="*/ 0 h 28"/>
                <a:gd name="T16" fmla="*/ 11 w 36"/>
                <a:gd name="T17"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28">
                  <a:moveTo>
                    <a:pt x="11" y="3"/>
                  </a:moveTo>
                  <a:lnTo>
                    <a:pt x="8" y="9"/>
                  </a:lnTo>
                  <a:lnTo>
                    <a:pt x="36" y="25"/>
                  </a:lnTo>
                  <a:lnTo>
                    <a:pt x="33" y="28"/>
                  </a:lnTo>
                  <a:lnTo>
                    <a:pt x="6" y="13"/>
                  </a:lnTo>
                  <a:lnTo>
                    <a:pt x="3" y="18"/>
                  </a:lnTo>
                  <a:lnTo>
                    <a:pt x="0" y="17"/>
                  </a:lnTo>
                  <a:lnTo>
                    <a:pt x="7" y="0"/>
                  </a:lnTo>
                  <a:lnTo>
                    <a:pt x="11" y="3"/>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55" name="Freeform 123"/>
            <p:cNvSpPr/>
            <p:nvPr userDrawn="1"/>
          </p:nvSpPr>
          <p:spPr bwMode="auto">
            <a:xfrm>
              <a:off x="1247" y="865"/>
              <a:ext cx="36" cy="23"/>
            </a:xfrm>
            <a:custGeom>
              <a:avLst/>
              <a:gdLst>
                <a:gd name="T0" fmla="*/ 8 w 36"/>
                <a:gd name="T1" fmla="*/ 0 h 23"/>
                <a:gd name="T2" fmla="*/ 25 w 36"/>
                <a:gd name="T3" fmla="*/ 14 h 23"/>
                <a:gd name="T4" fmla="*/ 36 w 36"/>
                <a:gd name="T5" fmla="*/ 19 h 23"/>
                <a:gd name="T6" fmla="*/ 34 w 36"/>
                <a:gd name="T7" fmla="*/ 23 h 23"/>
                <a:gd name="T8" fmla="*/ 24 w 36"/>
                <a:gd name="T9" fmla="*/ 18 h 23"/>
                <a:gd name="T10" fmla="*/ 0 w 36"/>
                <a:gd name="T11" fmla="*/ 18 h 23"/>
                <a:gd name="T12" fmla="*/ 2 w 36"/>
                <a:gd name="T13" fmla="*/ 14 h 23"/>
                <a:gd name="T14" fmla="*/ 18 w 36"/>
                <a:gd name="T15" fmla="*/ 14 h 23"/>
                <a:gd name="T16" fmla="*/ 7 w 36"/>
                <a:gd name="T17" fmla="*/ 5 h 23"/>
                <a:gd name="T18" fmla="*/ 8 w 36"/>
                <a:gd name="T1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23">
                  <a:moveTo>
                    <a:pt x="8" y="0"/>
                  </a:moveTo>
                  <a:lnTo>
                    <a:pt x="25" y="14"/>
                  </a:lnTo>
                  <a:lnTo>
                    <a:pt x="36" y="19"/>
                  </a:lnTo>
                  <a:lnTo>
                    <a:pt x="34" y="23"/>
                  </a:lnTo>
                  <a:lnTo>
                    <a:pt x="24" y="18"/>
                  </a:lnTo>
                  <a:lnTo>
                    <a:pt x="0" y="18"/>
                  </a:lnTo>
                  <a:lnTo>
                    <a:pt x="2" y="14"/>
                  </a:lnTo>
                  <a:lnTo>
                    <a:pt x="18" y="14"/>
                  </a:lnTo>
                  <a:lnTo>
                    <a:pt x="7" y="5"/>
                  </a:lnTo>
                  <a:lnTo>
                    <a:pt x="8"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56" name="Freeform 124"/>
            <p:cNvSpPr/>
            <p:nvPr userDrawn="1"/>
          </p:nvSpPr>
          <p:spPr bwMode="auto">
            <a:xfrm>
              <a:off x="1010" y="928"/>
              <a:ext cx="34" cy="25"/>
            </a:xfrm>
            <a:custGeom>
              <a:avLst/>
              <a:gdLst>
                <a:gd name="T0" fmla="*/ 14 w 28"/>
                <a:gd name="T1" fmla="*/ 16 h 20"/>
                <a:gd name="T2" fmla="*/ 8 w 28"/>
                <a:gd name="T3" fmla="*/ 20 h 20"/>
                <a:gd name="T4" fmla="*/ 2 w 28"/>
                <a:gd name="T5" fmla="*/ 17 h 20"/>
                <a:gd name="T6" fmla="*/ 0 w 28"/>
                <a:gd name="T7" fmla="*/ 12 h 20"/>
                <a:gd name="T8" fmla="*/ 1 w 28"/>
                <a:gd name="T9" fmla="*/ 9 h 20"/>
                <a:gd name="T10" fmla="*/ 4 w 28"/>
                <a:gd name="T11" fmla="*/ 10 h 20"/>
                <a:gd name="T12" fmla="*/ 3 w 28"/>
                <a:gd name="T13" fmla="*/ 12 h 20"/>
                <a:gd name="T14" fmla="*/ 4 w 28"/>
                <a:gd name="T15" fmla="*/ 15 h 20"/>
                <a:gd name="T16" fmla="*/ 8 w 28"/>
                <a:gd name="T17" fmla="*/ 16 h 20"/>
                <a:gd name="T18" fmla="*/ 12 w 28"/>
                <a:gd name="T19" fmla="*/ 14 h 20"/>
                <a:gd name="T20" fmla="*/ 25 w 28"/>
                <a:gd name="T21" fmla="*/ 0 h 20"/>
                <a:gd name="T22" fmla="*/ 28 w 28"/>
                <a:gd name="T23" fmla="*/ 3 h 20"/>
                <a:gd name="T24" fmla="*/ 14 w 28"/>
                <a:gd name="T25"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 h="20">
                  <a:moveTo>
                    <a:pt x="14" y="16"/>
                  </a:moveTo>
                  <a:cubicBezTo>
                    <a:pt x="12" y="18"/>
                    <a:pt x="10" y="20"/>
                    <a:pt x="8" y="20"/>
                  </a:cubicBezTo>
                  <a:cubicBezTo>
                    <a:pt x="6" y="20"/>
                    <a:pt x="4" y="19"/>
                    <a:pt x="2" y="17"/>
                  </a:cubicBezTo>
                  <a:cubicBezTo>
                    <a:pt x="1" y="16"/>
                    <a:pt x="0" y="14"/>
                    <a:pt x="0" y="12"/>
                  </a:cubicBezTo>
                  <a:cubicBezTo>
                    <a:pt x="0" y="11"/>
                    <a:pt x="0" y="10"/>
                    <a:pt x="1" y="9"/>
                  </a:cubicBezTo>
                  <a:cubicBezTo>
                    <a:pt x="4" y="10"/>
                    <a:pt x="4" y="10"/>
                    <a:pt x="4" y="10"/>
                  </a:cubicBezTo>
                  <a:cubicBezTo>
                    <a:pt x="3" y="11"/>
                    <a:pt x="3" y="11"/>
                    <a:pt x="3" y="12"/>
                  </a:cubicBezTo>
                  <a:cubicBezTo>
                    <a:pt x="3" y="13"/>
                    <a:pt x="4" y="14"/>
                    <a:pt x="4" y="15"/>
                  </a:cubicBezTo>
                  <a:cubicBezTo>
                    <a:pt x="5" y="16"/>
                    <a:pt x="6" y="16"/>
                    <a:pt x="8" y="16"/>
                  </a:cubicBezTo>
                  <a:cubicBezTo>
                    <a:pt x="9" y="16"/>
                    <a:pt x="10" y="15"/>
                    <a:pt x="12" y="14"/>
                  </a:cubicBezTo>
                  <a:cubicBezTo>
                    <a:pt x="25" y="0"/>
                    <a:pt x="25" y="0"/>
                    <a:pt x="25" y="0"/>
                  </a:cubicBezTo>
                  <a:cubicBezTo>
                    <a:pt x="28" y="3"/>
                    <a:pt x="28" y="3"/>
                    <a:pt x="28" y="3"/>
                  </a:cubicBezTo>
                  <a:lnTo>
                    <a:pt x="14" y="16"/>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57" name="Freeform 125"/>
            <p:cNvSpPr>
              <a:spLocks noEditPoints="1"/>
            </p:cNvSpPr>
            <p:nvPr userDrawn="1"/>
          </p:nvSpPr>
          <p:spPr bwMode="auto">
            <a:xfrm>
              <a:off x="1073" y="917"/>
              <a:ext cx="106" cy="33"/>
            </a:xfrm>
            <a:custGeom>
              <a:avLst/>
              <a:gdLst>
                <a:gd name="T0" fmla="*/ 0 w 86"/>
                <a:gd name="T1" fmla="*/ 15 h 27"/>
                <a:gd name="T2" fmla="*/ 4 w 86"/>
                <a:gd name="T3" fmla="*/ 15 h 27"/>
                <a:gd name="T4" fmla="*/ 6 w 86"/>
                <a:gd name="T5" fmla="*/ 3 h 27"/>
                <a:gd name="T6" fmla="*/ 10 w 86"/>
                <a:gd name="T7" fmla="*/ 3 h 27"/>
                <a:gd name="T8" fmla="*/ 14 w 86"/>
                <a:gd name="T9" fmla="*/ 4 h 27"/>
                <a:gd name="T10" fmla="*/ 10 w 86"/>
                <a:gd name="T11" fmla="*/ 19 h 27"/>
                <a:gd name="T12" fmla="*/ 37 w 86"/>
                <a:gd name="T13" fmla="*/ 14 h 27"/>
                <a:gd name="T14" fmla="*/ 33 w 86"/>
                <a:gd name="T15" fmla="*/ 11 h 27"/>
                <a:gd name="T16" fmla="*/ 28 w 86"/>
                <a:gd name="T17" fmla="*/ 13 h 27"/>
                <a:gd name="T18" fmla="*/ 30 w 86"/>
                <a:gd name="T19" fmla="*/ 16 h 27"/>
                <a:gd name="T20" fmla="*/ 34 w 86"/>
                <a:gd name="T21" fmla="*/ 17 h 27"/>
                <a:gd name="T22" fmla="*/ 37 w 86"/>
                <a:gd name="T23" fmla="*/ 14 h 27"/>
                <a:gd name="T24" fmla="*/ 36 w 86"/>
                <a:gd name="T25" fmla="*/ 21 h 27"/>
                <a:gd name="T26" fmla="*/ 32 w 86"/>
                <a:gd name="T27" fmla="*/ 19 h 27"/>
                <a:gd name="T28" fmla="*/ 27 w 86"/>
                <a:gd name="T29" fmla="*/ 19 h 27"/>
                <a:gd name="T30" fmla="*/ 27 w 86"/>
                <a:gd name="T31" fmla="*/ 24 h 27"/>
                <a:gd name="T32" fmla="*/ 34 w 86"/>
                <a:gd name="T33" fmla="*/ 25 h 27"/>
                <a:gd name="T34" fmla="*/ 30 w 86"/>
                <a:gd name="T35" fmla="*/ 27 h 27"/>
                <a:gd name="T36" fmla="*/ 24 w 86"/>
                <a:gd name="T37" fmla="*/ 25 h 27"/>
                <a:gd name="T38" fmla="*/ 23 w 86"/>
                <a:gd name="T39" fmla="*/ 21 h 27"/>
                <a:gd name="T40" fmla="*/ 28 w 86"/>
                <a:gd name="T41" fmla="*/ 17 h 27"/>
                <a:gd name="T42" fmla="*/ 25 w 86"/>
                <a:gd name="T43" fmla="*/ 15 h 27"/>
                <a:gd name="T44" fmla="*/ 28 w 86"/>
                <a:gd name="T45" fmla="*/ 10 h 27"/>
                <a:gd name="T46" fmla="*/ 39 w 86"/>
                <a:gd name="T47" fmla="*/ 11 h 27"/>
                <a:gd name="T48" fmla="*/ 39 w 86"/>
                <a:gd name="T49" fmla="*/ 17 h 27"/>
                <a:gd name="T50" fmla="*/ 36 w 86"/>
                <a:gd name="T51" fmla="*/ 18 h 27"/>
                <a:gd name="T52" fmla="*/ 39 w 86"/>
                <a:gd name="T53" fmla="*/ 23 h 27"/>
                <a:gd name="T54" fmla="*/ 30 w 86"/>
                <a:gd name="T55" fmla="*/ 27 h 27"/>
                <a:gd name="T56" fmla="*/ 62 w 86"/>
                <a:gd name="T57" fmla="*/ 14 h 27"/>
                <a:gd name="T58" fmla="*/ 59 w 86"/>
                <a:gd name="T59" fmla="*/ 11 h 27"/>
                <a:gd name="T60" fmla="*/ 54 w 86"/>
                <a:gd name="T61" fmla="*/ 12 h 27"/>
                <a:gd name="T62" fmla="*/ 53 w 86"/>
                <a:gd name="T63" fmla="*/ 17 h 27"/>
                <a:gd name="T64" fmla="*/ 56 w 86"/>
                <a:gd name="T65" fmla="*/ 19 h 27"/>
                <a:gd name="T66" fmla="*/ 60 w 86"/>
                <a:gd name="T67" fmla="*/ 18 h 27"/>
                <a:gd name="T68" fmla="*/ 63 w 86"/>
                <a:gd name="T69" fmla="*/ 17 h 27"/>
                <a:gd name="T70" fmla="*/ 50 w 86"/>
                <a:gd name="T71" fmla="*/ 15 h 27"/>
                <a:gd name="T72" fmla="*/ 52 w 86"/>
                <a:gd name="T73" fmla="*/ 11 h 27"/>
                <a:gd name="T74" fmla="*/ 58 w 86"/>
                <a:gd name="T75" fmla="*/ 9 h 27"/>
                <a:gd name="T76" fmla="*/ 63 w 86"/>
                <a:gd name="T77" fmla="*/ 11 h 27"/>
                <a:gd name="T78" fmla="*/ 66 w 86"/>
                <a:gd name="T79" fmla="*/ 17 h 27"/>
                <a:gd name="T80" fmla="*/ 63 w 86"/>
                <a:gd name="T81" fmla="*/ 24 h 27"/>
                <a:gd name="T82" fmla="*/ 55 w 86"/>
                <a:gd name="T83" fmla="*/ 27 h 27"/>
                <a:gd name="T84" fmla="*/ 52 w 86"/>
                <a:gd name="T85" fmla="*/ 27 h 27"/>
                <a:gd name="T86" fmla="*/ 52 w 86"/>
                <a:gd name="T87" fmla="*/ 25 h 27"/>
                <a:gd name="T88" fmla="*/ 55 w 86"/>
                <a:gd name="T89" fmla="*/ 25 h 27"/>
                <a:gd name="T90" fmla="*/ 62 w 86"/>
                <a:gd name="T91" fmla="*/ 19 h 27"/>
                <a:gd name="T92" fmla="*/ 57 w 86"/>
                <a:gd name="T93" fmla="*/ 21 h 27"/>
                <a:gd name="T94" fmla="*/ 52 w 86"/>
                <a:gd name="T95" fmla="*/ 20 h 27"/>
                <a:gd name="T96" fmla="*/ 50 w 86"/>
                <a:gd name="T97" fmla="*/ 15 h 27"/>
                <a:gd name="T98" fmla="*/ 86 w 86"/>
                <a:gd name="T99" fmla="*/ 18 h 27"/>
                <a:gd name="T100" fmla="*/ 83 w 86"/>
                <a:gd name="T101" fmla="*/ 3 h 27"/>
                <a:gd name="T102" fmla="*/ 72 w 86"/>
                <a:gd name="T103" fmla="*/ 6 h 27"/>
                <a:gd name="T104" fmla="*/ 86 w 86"/>
                <a:gd name="T105"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6" h="27">
                  <a:moveTo>
                    <a:pt x="9" y="20"/>
                  </a:moveTo>
                  <a:cubicBezTo>
                    <a:pt x="0" y="15"/>
                    <a:pt x="0" y="15"/>
                    <a:pt x="0" y="15"/>
                  </a:cubicBezTo>
                  <a:cubicBezTo>
                    <a:pt x="0" y="13"/>
                    <a:pt x="0" y="13"/>
                    <a:pt x="0" y="13"/>
                  </a:cubicBezTo>
                  <a:cubicBezTo>
                    <a:pt x="4" y="15"/>
                    <a:pt x="4" y="15"/>
                    <a:pt x="4" y="15"/>
                  </a:cubicBezTo>
                  <a:cubicBezTo>
                    <a:pt x="10" y="5"/>
                    <a:pt x="10" y="5"/>
                    <a:pt x="10" y="5"/>
                  </a:cubicBezTo>
                  <a:cubicBezTo>
                    <a:pt x="6" y="3"/>
                    <a:pt x="6" y="3"/>
                    <a:pt x="6" y="3"/>
                  </a:cubicBezTo>
                  <a:cubicBezTo>
                    <a:pt x="7" y="2"/>
                    <a:pt x="7" y="2"/>
                    <a:pt x="7" y="2"/>
                  </a:cubicBezTo>
                  <a:cubicBezTo>
                    <a:pt x="8" y="3"/>
                    <a:pt x="9" y="3"/>
                    <a:pt x="10" y="3"/>
                  </a:cubicBezTo>
                  <a:cubicBezTo>
                    <a:pt x="11" y="3"/>
                    <a:pt x="11" y="3"/>
                    <a:pt x="12" y="2"/>
                  </a:cubicBezTo>
                  <a:cubicBezTo>
                    <a:pt x="14" y="4"/>
                    <a:pt x="14" y="4"/>
                    <a:pt x="14" y="4"/>
                  </a:cubicBezTo>
                  <a:cubicBezTo>
                    <a:pt x="6" y="17"/>
                    <a:pt x="6" y="17"/>
                    <a:pt x="6" y="17"/>
                  </a:cubicBezTo>
                  <a:cubicBezTo>
                    <a:pt x="10" y="19"/>
                    <a:pt x="10" y="19"/>
                    <a:pt x="10" y="19"/>
                  </a:cubicBezTo>
                  <a:lnTo>
                    <a:pt x="9" y="20"/>
                  </a:lnTo>
                  <a:close/>
                  <a:moveTo>
                    <a:pt x="37" y="14"/>
                  </a:moveTo>
                  <a:cubicBezTo>
                    <a:pt x="37" y="14"/>
                    <a:pt x="37" y="13"/>
                    <a:pt x="36" y="12"/>
                  </a:cubicBezTo>
                  <a:cubicBezTo>
                    <a:pt x="36" y="12"/>
                    <a:pt x="35" y="11"/>
                    <a:pt x="33" y="11"/>
                  </a:cubicBezTo>
                  <a:cubicBezTo>
                    <a:pt x="32" y="11"/>
                    <a:pt x="31" y="11"/>
                    <a:pt x="30" y="11"/>
                  </a:cubicBezTo>
                  <a:cubicBezTo>
                    <a:pt x="29" y="12"/>
                    <a:pt x="29" y="12"/>
                    <a:pt x="28" y="13"/>
                  </a:cubicBezTo>
                  <a:cubicBezTo>
                    <a:pt x="28" y="14"/>
                    <a:pt x="28" y="14"/>
                    <a:pt x="29" y="15"/>
                  </a:cubicBezTo>
                  <a:cubicBezTo>
                    <a:pt x="29" y="15"/>
                    <a:pt x="30" y="15"/>
                    <a:pt x="30" y="16"/>
                  </a:cubicBezTo>
                  <a:cubicBezTo>
                    <a:pt x="31" y="16"/>
                    <a:pt x="31" y="16"/>
                    <a:pt x="32" y="17"/>
                  </a:cubicBezTo>
                  <a:cubicBezTo>
                    <a:pt x="33" y="17"/>
                    <a:pt x="33" y="17"/>
                    <a:pt x="34" y="17"/>
                  </a:cubicBezTo>
                  <a:cubicBezTo>
                    <a:pt x="35" y="17"/>
                    <a:pt x="36" y="17"/>
                    <a:pt x="36" y="16"/>
                  </a:cubicBezTo>
                  <a:cubicBezTo>
                    <a:pt x="37" y="16"/>
                    <a:pt x="37" y="15"/>
                    <a:pt x="37" y="14"/>
                  </a:cubicBezTo>
                  <a:moveTo>
                    <a:pt x="36" y="23"/>
                  </a:moveTo>
                  <a:cubicBezTo>
                    <a:pt x="36" y="22"/>
                    <a:pt x="36" y="22"/>
                    <a:pt x="36" y="21"/>
                  </a:cubicBezTo>
                  <a:cubicBezTo>
                    <a:pt x="35" y="21"/>
                    <a:pt x="34" y="20"/>
                    <a:pt x="33" y="20"/>
                  </a:cubicBezTo>
                  <a:cubicBezTo>
                    <a:pt x="33" y="19"/>
                    <a:pt x="33" y="19"/>
                    <a:pt x="32" y="19"/>
                  </a:cubicBezTo>
                  <a:cubicBezTo>
                    <a:pt x="31" y="19"/>
                    <a:pt x="31" y="18"/>
                    <a:pt x="30" y="18"/>
                  </a:cubicBezTo>
                  <a:cubicBezTo>
                    <a:pt x="29" y="18"/>
                    <a:pt x="28" y="19"/>
                    <a:pt x="27" y="19"/>
                  </a:cubicBezTo>
                  <a:cubicBezTo>
                    <a:pt x="27" y="20"/>
                    <a:pt x="26" y="20"/>
                    <a:pt x="26" y="21"/>
                  </a:cubicBezTo>
                  <a:cubicBezTo>
                    <a:pt x="26" y="22"/>
                    <a:pt x="26" y="23"/>
                    <a:pt x="27" y="24"/>
                  </a:cubicBezTo>
                  <a:cubicBezTo>
                    <a:pt x="28" y="25"/>
                    <a:pt x="29" y="25"/>
                    <a:pt x="30" y="25"/>
                  </a:cubicBezTo>
                  <a:cubicBezTo>
                    <a:pt x="32" y="26"/>
                    <a:pt x="33" y="25"/>
                    <a:pt x="34" y="25"/>
                  </a:cubicBezTo>
                  <a:cubicBezTo>
                    <a:pt x="35" y="24"/>
                    <a:pt x="36" y="24"/>
                    <a:pt x="36" y="23"/>
                  </a:cubicBezTo>
                  <a:moveTo>
                    <a:pt x="30" y="27"/>
                  </a:moveTo>
                  <a:cubicBezTo>
                    <a:pt x="29" y="27"/>
                    <a:pt x="28" y="27"/>
                    <a:pt x="27" y="26"/>
                  </a:cubicBezTo>
                  <a:cubicBezTo>
                    <a:pt x="26" y="26"/>
                    <a:pt x="25" y="25"/>
                    <a:pt x="24" y="25"/>
                  </a:cubicBezTo>
                  <a:cubicBezTo>
                    <a:pt x="23" y="24"/>
                    <a:pt x="23" y="24"/>
                    <a:pt x="23" y="23"/>
                  </a:cubicBezTo>
                  <a:cubicBezTo>
                    <a:pt x="23" y="22"/>
                    <a:pt x="22" y="21"/>
                    <a:pt x="23" y="21"/>
                  </a:cubicBezTo>
                  <a:cubicBezTo>
                    <a:pt x="23" y="20"/>
                    <a:pt x="23" y="19"/>
                    <a:pt x="24" y="18"/>
                  </a:cubicBezTo>
                  <a:cubicBezTo>
                    <a:pt x="25" y="18"/>
                    <a:pt x="26" y="17"/>
                    <a:pt x="28" y="17"/>
                  </a:cubicBezTo>
                  <a:cubicBezTo>
                    <a:pt x="28" y="17"/>
                    <a:pt x="28" y="17"/>
                    <a:pt x="28" y="17"/>
                  </a:cubicBezTo>
                  <a:cubicBezTo>
                    <a:pt x="27" y="16"/>
                    <a:pt x="26" y="16"/>
                    <a:pt x="25" y="15"/>
                  </a:cubicBezTo>
                  <a:cubicBezTo>
                    <a:pt x="25" y="14"/>
                    <a:pt x="25" y="14"/>
                    <a:pt x="25" y="13"/>
                  </a:cubicBezTo>
                  <a:cubicBezTo>
                    <a:pt x="25" y="12"/>
                    <a:pt x="26" y="11"/>
                    <a:pt x="28" y="10"/>
                  </a:cubicBezTo>
                  <a:cubicBezTo>
                    <a:pt x="29" y="9"/>
                    <a:pt x="31" y="9"/>
                    <a:pt x="34" y="10"/>
                  </a:cubicBezTo>
                  <a:cubicBezTo>
                    <a:pt x="36" y="10"/>
                    <a:pt x="38" y="10"/>
                    <a:pt x="39" y="11"/>
                  </a:cubicBezTo>
                  <a:cubicBezTo>
                    <a:pt x="40" y="12"/>
                    <a:pt x="41" y="14"/>
                    <a:pt x="40" y="15"/>
                  </a:cubicBezTo>
                  <a:cubicBezTo>
                    <a:pt x="40" y="16"/>
                    <a:pt x="40" y="16"/>
                    <a:pt x="39" y="17"/>
                  </a:cubicBezTo>
                  <a:cubicBezTo>
                    <a:pt x="38" y="18"/>
                    <a:pt x="37" y="18"/>
                    <a:pt x="36" y="18"/>
                  </a:cubicBezTo>
                  <a:cubicBezTo>
                    <a:pt x="36" y="18"/>
                    <a:pt x="36" y="18"/>
                    <a:pt x="36" y="18"/>
                  </a:cubicBezTo>
                  <a:cubicBezTo>
                    <a:pt x="37" y="19"/>
                    <a:pt x="38" y="20"/>
                    <a:pt x="39" y="20"/>
                  </a:cubicBezTo>
                  <a:cubicBezTo>
                    <a:pt x="39" y="21"/>
                    <a:pt x="40" y="22"/>
                    <a:pt x="39" y="23"/>
                  </a:cubicBezTo>
                  <a:cubicBezTo>
                    <a:pt x="39" y="25"/>
                    <a:pt x="38" y="26"/>
                    <a:pt x="36" y="26"/>
                  </a:cubicBezTo>
                  <a:cubicBezTo>
                    <a:pt x="34" y="27"/>
                    <a:pt x="32" y="27"/>
                    <a:pt x="30" y="27"/>
                  </a:cubicBezTo>
                  <a:moveTo>
                    <a:pt x="63" y="17"/>
                  </a:moveTo>
                  <a:cubicBezTo>
                    <a:pt x="63" y="15"/>
                    <a:pt x="62" y="15"/>
                    <a:pt x="62" y="14"/>
                  </a:cubicBezTo>
                  <a:cubicBezTo>
                    <a:pt x="62" y="13"/>
                    <a:pt x="61" y="13"/>
                    <a:pt x="61" y="12"/>
                  </a:cubicBezTo>
                  <a:cubicBezTo>
                    <a:pt x="60" y="12"/>
                    <a:pt x="60" y="12"/>
                    <a:pt x="59" y="11"/>
                  </a:cubicBezTo>
                  <a:cubicBezTo>
                    <a:pt x="59" y="11"/>
                    <a:pt x="58" y="11"/>
                    <a:pt x="58" y="11"/>
                  </a:cubicBezTo>
                  <a:cubicBezTo>
                    <a:pt x="56" y="11"/>
                    <a:pt x="55" y="12"/>
                    <a:pt x="54" y="12"/>
                  </a:cubicBezTo>
                  <a:cubicBezTo>
                    <a:pt x="53" y="13"/>
                    <a:pt x="53" y="14"/>
                    <a:pt x="53" y="15"/>
                  </a:cubicBezTo>
                  <a:cubicBezTo>
                    <a:pt x="53" y="16"/>
                    <a:pt x="53" y="16"/>
                    <a:pt x="53" y="17"/>
                  </a:cubicBezTo>
                  <a:cubicBezTo>
                    <a:pt x="54" y="17"/>
                    <a:pt x="54" y="18"/>
                    <a:pt x="55" y="18"/>
                  </a:cubicBezTo>
                  <a:cubicBezTo>
                    <a:pt x="55" y="18"/>
                    <a:pt x="56" y="18"/>
                    <a:pt x="56" y="19"/>
                  </a:cubicBezTo>
                  <a:cubicBezTo>
                    <a:pt x="57" y="19"/>
                    <a:pt x="57" y="19"/>
                    <a:pt x="58" y="19"/>
                  </a:cubicBezTo>
                  <a:cubicBezTo>
                    <a:pt x="59" y="19"/>
                    <a:pt x="59" y="19"/>
                    <a:pt x="60" y="18"/>
                  </a:cubicBezTo>
                  <a:cubicBezTo>
                    <a:pt x="61" y="18"/>
                    <a:pt x="62" y="18"/>
                    <a:pt x="62" y="18"/>
                  </a:cubicBezTo>
                  <a:cubicBezTo>
                    <a:pt x="63" y="18"/>
                    <a:pt x="63" y="17"/>
                    <a:pt x="63" y="17"/>
                  </a:cubicBezTo>
                  <a:cubicBezTo>
                    <a:pt x="63" y="17"/>
                    <a:pt x="63" y="17"/>
                    <a:pt x="63" y="17"/>
                  </a:cubicBezTo>
                  <a:moveTo>
                    <a:pt x="50" y="15"/>
                  </a:moveTo>
                  <a:cubicBezTo>
                    <a:pt x="50" y="14"/>
                    <a:pt x="50" y="14"/>
                    <a:pt x="50" y="13"/>
                  </a:cubicBezTo>
                  <a:cubicBezTo>
                    <a:pt x="51" y="12"/>
                    <a:pt x="51" y="11"/>
                    <a:pt x="52" y="11"/>
                  </a:cubicBezTo>
                  <a:cubicBezTo>
                    <a:pt x="53" y="10"/>
                    <a:pt x="53" y="10"/>
                    <a:pt x="55" y="10"/>
                  </a:cubicBezTo>
                  <a:cubicBezTo>
                    <a:pt x="56" y="9"/>
                    <a:pt x="57" y="9"/>
                    <a:pt x="58" y="9"/>
                  </a:cubicBezTo>
                  <a:cubicBezTo>
                    <a:pt x="59" y="9"/>
                    <a:pt x="60" y="9"/>
                    <a:pt x="61" y="10"/>
                  </a:cubicBezTo>
                  <a:cubicBezTo>
                    <a:pt x="62" y="10"/>
                    <a:pt x="63" y="10"/>
                    <a:pt x="63" y="11"/>
                  </a:cubicBezTo>
                  <a:cubicBezTo>
                    <a:pt x="64" y="11"/>
                    <a:pt x="65" y="12"/>
                    <a:pt x="65" y="13"/>
                  </a:cubicBezTo>
                  <a:cubicBezTo>
                    <a:pt x="66" y="14"/>
                    <a:pt x="66" y="16"/>
                    <a:pt x="66" y="17"/>
                  </a:cubicBezTo>
                  <a:cubicBezTo>
                    <a:pt x="66" y="19"/>
                    <a:pt x="66" y="20"/>
                    <a:pt x="65" y="21"/>
                  </a:cubicBezTo>
                  <a:cubicBezTo>
                    <a:pt x="65" y="22"/>
                    <a:pt x="64" y="23"/>
                    <a:pt x="63" y="24"/>
                  </a:cubicBezTo>
                  <a:cubicBezTo>
                    <a:pt x="62" y="25"/>
                    <a:pt x="61" y="26"/>
                    <a:pt x="60" y="26"/>
                  </a:cubicBezTo>
                  <a:cubicBezTo>
                    <a:pt x="58" y="27"/>
                    <a:pt x="57" y="27"/>
                    <a:pt x="55" y="27"/>
                  </a:cubicBezTo>
                  <a:cubicBezTo>
                    <a:pt x="54" y="27"/>
                    <a:pt x="54" y="27"/>
                    <a:pt x="53" y="27"/>
                  </a:cubicBezTo>
                  <a:cubicBezTo>
                    <a:pt x="53" y="27"/>
                    <a:pt x="52" y="27"/>
                    <a:pt x="52" y="27"/>
                  </a:cubicBezTo>
                  <a:cubicBezTo>
                    <a:pt x="52" y="25"/>
                    <a:pt x="52" y="25"/>
                    <a:pt x="52" y="25"/>
                  </a:cubicBezTo>
                  <a:cubicBezTo>
                    <a:pt x="52" y="25"/>
                    <a:pt x="52" y="25"/>
                    <a:pt x="52" y="25"/>
                  </a:cubicBezTo>
                  <a:cubicBezTo>
                    <a:pt x="52" y="25"/>
                    <a:pt x="53" y="25"/>
                    <a:pt x="53" y="25"/>
                  </a:cubicBezTo>
                  <a:cubicBezTo>
                    <a:pt x="54" y="25"/>
                    <a:pt x="54" y="25"/>
                    <a:pt x="55" y="25"/>
                  </a:cubicBezTo>
                  <a:cubicBezTo>
                    <a:pt x="57" y="25"/>
                    <a:pt x="59" y="25"/>
                    <a:pt x="60" y="24"/>
                  </a:cubicBezTo>
                  <a:cubicBezTo>
                    <a:pt x="62" y="23"/>
                    <a:pt x="62" y="21"/>
                    <a:pt x="62" y="19"/>
                  </a:cubicBezTo>
                  <a:cubicBezTo>
                    <a:pt x="62" y="20"/>
                    <a:pt x="61" y="20"/>
                    <a:pt x="60" y="20"/>
                  </a:cubicBezTo>
                  <a:cubicBezTo>
                    <a:pt x="59" y="20"/>
                    <a:pt x="58" y="21"/>
                    <a:pt x="57" y="21"/>
                  </a:cubicBezTo>
                  <a:cubicBezTo>
                    <a:pt x="56" y="21"/>
                    <a:pt x="55" y="20"/>
                    <a:pt x="55" y="20"/>
                  </a:cubicBezTo>
                  <a:cubicBezTo>
                    <a:pt x="54" y="20"/>
                    <a:pt x="53" y="20"/>
                    <a:pt x="52" y="20"/>
                  </a:cubicBezTo>
                  <a:cubicBezTo>
                    <a:pt x="51" y="19"/>
                    <a:pt x="51" y="18"/>
                    <a:pt x="50" y="18"/>
                  </a:cubicBezTo>
                  <a:cubicBezTo>
                    <a:pt x="50" y="17"/>
                    <a:pt x="50" y="16"/>
                    <a:pt x="50" y="15"/>
                  </a:cubicBezTo>
                  <a:moveTo>
                    <a:pt x="86" y="1"/>
                  </a:moveTo>
                  <a:cubicBezTo>
                    <a:pt x="86" y="18"/>
                    <a:pt x="86" y="18"/>
                    <a:pt x="86" y="18"/>
                  </a:cubicBezTo>
                  <a:cubicBezTo>
                    <a:pt x="83" y="20"/>
                    <a:pt x="83" y="20"/>
                    <a:pt x="83" y="20"/>
                  </a:cubicBezTo>
                  <a:cubicBezTo>
                    <a:pt x="83" y="3"/>
                    <a:pt x="83" y="3"/>
                    <a:pt x="83" y="3"/>
                  </a:cubicBezTo>
                  <a:cubicBezTo>
                    <a:pt x="73" y="8"/>
                    <a:pt x="73" y="8"/>
                    <a:pt x="73" y="8"/>
                  </a:cubicBezTo>
                  <a:cubicBezTo>
                    <a:pt x="72" y="6"/>
                    <a:pt x="72" y="6"/>
                    <a:pt x="72" y="6"/>
                  </a:cubicBezTo>
                  <a:cubicBezTo>
                    <a:pt x="85" y="0"/>
                    <a:pt x="85" y="0"/>
                    <a:pt x="85" y="0"/>
                  </a:cubicBezTo>
                  <a:lnTo>
                    <a:pt x="86" y="1"/>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58" name="Freeform 126"/>
            <p:cNvSpPr/>
            <p:nvPr userDrawn="1"/>
          </p:nvSpPr>
          <p:spPr bwMode="auto">
            <a:xfrm>
              <a:off x="1184" y="728"/>
              <a:ext cx="14" cy="14"/>
            </a:xfrm>
            <a:custGeom>
              <a:avLst/>
              <a:gdLst>
                <a:gd name="T0" fmla="*/ 2 w 11"/>
                <a:gd name="T1" fmla="*/ 12 h 12"/>
                <a:gd name="T2" fmla="*/ 2 w 11"/>
                <a:gd name="T3" fmla="*/ 8 h 12"/>
                <a:gd name="T4" fmla="*/ 1 w 11"/>
                <a:gd name="T5" fmla="*/ 3 h 12"/>
                <a:gd name="T6" fmla="*/ 8 w 11"/>
                <a:gd name="T7" fmla="*/ 3 h 12"/>
                <a:gd name="T8" fmla="*/ 9 w 11"/>
                <a:gd name="T9" fmla="*/ 5 h 12"/>
                <a:gd name="T10" fmla="*/ 8 w 11"/>
                <a:gd name="T11" fmla="*/ 11 h 12"/>
                <a:gd name="T12" fmla="*/ 2 w 11"/>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1" h="12">
                  <a:moveTo>
                    <a:pt x="2" y="12"/>
                  </a:moveTo>
                  <a:cubicBezTo>
                    <a:pt x="0" y="11"/>
                    <a:pt x="1" y="10"/>
                    <a:pt x="2" y="8"/>
                  </a:cubicBezTo>
                  <a:cubicBezTo>
                    <a:pt x="2" y="7"/>
                    <a:pt x="1" y="5"/>
                    <a:pt x="1" y="3"/>
                  </a:cubicBezTo>
                  <a:cubicBezTo>
                    <a:pt x="2" y="0"/>
                    <a:pt x="6" y="2"/>
                    <a:pt x="8" y="3"/>
                  </a:cubicBezTo>
                  <a:cubicBezTo>
                    <a:pt x="8" y="3"/>
                    <a:pt x="9" y="4"/>
                    <a:pt x="9" y="5"/>
                  </a:cubicBezTo>
                  <a:cubicBezTo>
                    <a:pt x="10" y="7"/>
                    <a:pt x="11" y="10"/>
                    <a:pt x="8" y="11"/>
                  </a:cubicBezTo>
                  <a:cubicBezTo>
                    <a:pt x="6" y="12"/>
                    <a:pt x="4" y="12"/>
                    <a:pt x="2" y="12"/>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59" name="Freeform 127"/>
            <p:cNvSpPr/>
            <p:nvPr userDrawn="1"/>
          </p:nvSpPr>
          <p:spPr bwMode="auto">
            <a:xfrm>
              <a:off x="1148" y="686"/>
              <a:ext cx="51" cy="45"/>
            </a:xfrm>
            <a:custGeom>
              <a:avLst/>
              <a:gdLst>
                <a:gd name="T0" fmla="*/ 7 w 41"/>
                <a:gd name="T1" fmla="*/ 35 h 36"/>
                <a:gd name="T2" fmla="*/ 7 w 41"/>
                <a:gd name="T3" fmla="*/ 35 h 36"/>
                <a:gd name="T4" fmla="*/ 7 w 41"/>
                <a:gd name="T5" fmla="*/ 34 h 36"/>
                <a:gd name="T6" fmla="*/ 15 w 41"/>
                <a:gd name="T7" fmla="*/ 32 h 36"/>
                <a:gd name="T8" fmla="*/ 20 w 41"/>
                <a:gd name="T9" fmla="*/ 28 h 36"/>
                <a:gd name="T10" fmla="*/ 6 w 41"/>
                <a:gd name="T11" fmla="*/ 29 h 36"/>
                <a:gd name="T12" fmla="*/ 2 w 41"/>
                <a:gd name="T13" fmla="*/ 26 h 36"/>
                <a:gd name="T14" fmla="*/ 2 w 41"/>
                <a:gd name="T15" fmla="*/ 26 h 36"/>
                <a:gd name="T16" fmla="*/ 3 w 41"/>
                <a:gd name="T17" fmla="*/ 21 h 36"/>
                <a:gd name="T18" fmla="*/ 19 w 41"/>
                <a:gd name="T19" fmla="*/ 21 h 36"/>
                <a:gd name="T20" fmla="*/ 24 w 41"/>
                <a:gd name="T21" fmla="*/ 20 h 36"/>
                <a:gd name="T22" fmla="*/ 29 w 41"/>
                <a:gd name="T23" fmla="*/ 3 h 36"/>
                <a:gd name="T24" fmla="*/ 35 w 41"/>
                <a:gd name="T25" fmla="*/ 6 h 36"/>
                <a:gd name="T26" fmla="*/ 36 w 41"/>
                <a:gd name="T27" fmla="*/ 7 h 36"/>
                <a:gd name="T28" fmla="*/ 36 w 41"/>
                <a:gd name="T29" fmla="*/ 7 h 36"/>
                <a:gd name="T30" fmla="*/ 35 w 41"/>
                <a:gd name="T31" fmla="*/ 11 h 36"/>
                <a:gd name="T32" fmla="*/ 31 w 41"/>
                <a:gd name="T33" fmla="*/ 20 h 36"/>
                <a:gd name="T34" fmla="*/ 40 w 41"/>
                <a:gd name="T35" fmla="*/ 19 h 36"/>
                <a:gd name="T36" fmla="*/ 38 w 41"/>
                <a:gd name="T37" fmla="*/ 23 h 36"/>
                <a:gd name="T38" fmla="*/ 29 w 41"/>
                <a:gd name="T39" fmla="*/ 24 h 36"/>
                <a:gd name="T40" fmla="*/ 23 w 41"/>
                <a:gd name="T41" fmla="*/ 32 h 36"/>
                <a:gd name="T42" fmla="*/ 21 w 41"/>
                <a:gd name="T43" fmla="*/ 34 h 36"/>
                <a:gd name="T44" fmla="*/ 14 w 41"/>
                <a:gd name="T45" fmla="*/ 35 h 36"/>
                <a:gd name="T46" fmla="*/ 7 w 41"/>
                <a:gd name="T47" fmla="*/ 3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36">
                  <a:moveTo>
                    <a:pt x="7" y="35"/>
                  </a:moveTo>
                  <a:cubicBezTo>
                    <a:pt x="7" y="35"/>
                    <a:pt x="7" y="35"/>
                    <a:pt x="7" y="35"/>
                  </a:cubicBezTo>
                  <a:cubicBezTo>
                    <a:pt x="7" y="35"/>
                    <a:pt x="7" y="35"/>
                    <a:pt x="7" y="34"/>
                  </a:cubicBezTo>
                  <a:cubicBezTo>
                    <a:pt x="8" y="34"/>
                    <a:pt x="15" y="32"/>
                    <a:pt x="15" y="32"/>
                  </a:cubicBezTo>
                  <a:cubicBezTo>
                    <a:pt x="17" y="31"/>
                    <a:pt x="19" y="30"/>
                    <a:pt x="20" y="28"/>
                  </a:cubicBezTo>
                  <a:cubicBezTo>
                    <a:pt x="15" y="28"/>
                    <a:pt x="11" y="30"/>
                    <a:pt x="6" y="29"/>
                  </a:cubicBezTo>
                  <a:cubicBezTo>
                    <a:pt x="4" y="28"/>
                    <a:pt x="3" y="27"/>
                    <a:pt x="2" y="26"/>
                  </a:cubicBezTo>
                  <a:cubicBezTo>
                    <a:pt x="2" y="26"/>
                    <a:pt x="2" y="26"/>
                    <a:pt x="2" y="26"/>
                  </a:cubicBezTo>
                  <a:cubicBezTo>
                    <a:pt x="0" y="24"/>
                    <a:pt x="0" y="22"/>
                    <a:pt x="3" y="21"/>
                  </a:cubicBezTo>
                  <a:cubicBezTo>
                    <a:pt x="7" y="23"/>
                    <a:pt x="15" y="22"/>
                    <a:pt x="19" y="21"/>
                  </a:cubicBezTo>
                  <a:cubicBezTo>
                    <a:pt x="20" y="21"/>
                    <a:pt x="23" y="21"/>
                    <a:pt x="24" y="20"/>
                  </a:cubicBezTo>
                  <a:cubicBezTo>
                    <a:pt x="26" y="15"/>
                    <a:pt x="27" y="9"/>
                    <a:pt x="29" y="3"/>
                  </a:cubicBezTo>
                  <a:cubicBezTo>
                    <a:pt x="31" y="0"/>
                    <a:pt x="33" y="3"/>
                    <a:pt x="35" y="6"/>
                  </a:cubicBezTo>
                  <a:cubicBezTo>
                    <a:pt x="35" y="6"/>
                    <a:pt x="36" y="6"/>
                    <a:pt x="36" y="7"/>
                  </a:cubicBezTo>
                  <a:cubicBezTo>
                    <a:pt x="36" y="7"/>
                    <a:pt x="36" y="7"/>
                    <a:pt x="36" y="7"/>
                  </a:cubicBezTo>
                  <a:cubicBezTo>
                    <a:pt x="37" y="9"/>
                    <a:pt x="37" y="10"/>
                    <a:pt x="35" y="11"/>
                  </a:cubicBezTo>
                  <a:cubicBezTo>
                    <a:pt x="33" y="14"/>
                    <a:pt x="32" y="17"/>
                    <a:pt x="31" y="20"/>
                  </a:cubicBezTo>
                  <a:cubicBezTo>
                    <a:pt x="34" y="20"/>
                    <a:pt x="37" y="18"/>
                    <a:pt x="40" y="19"/>
                  </a:cubicBezTo>
                  <a:cubicBezTo>
                    <a:pt x="41" y="21"/>
                    <a:pt x="40" y="22"/>
                    <a:pt x="38" y="23"/>
                  </a:cubicBezTo>
                  <a:cubicBezTo>
                    <a:pt x="36" y="23"/>
                    <a:pt x="33" y="24"/>
                    <a:pt x="29" y="24"/>
                  </a:cubicBezTo>
                  <a:cubicBezTo>
                    <a:pt x="28" y="27"/>
                    <a:pt x="26" y="30"/>
                    <a:pt x="23" y="32"/>
                  </a:cubicBezTo>
                  <a:cubicBezTo>
                    <a:pt x="23" y="33"/>
                    <a:pt x="21" y="34"/>
                    <a:pt x="21" y="34"/>
                  </a:cubicBezTo>
                  <a:cubicBezTo>
                    <a:pt x="19" y="34"/>
                    <a:pt x="17" y="35"/>
                    <a:pt x="14" y="35"/>
                  </a:cubicBezTo>
                  <a:cubicBezTo>
                    <a:pt x="8" y="36"/>
                    <a:pt x="8" y="35"/>
                    <a:pt x="7" y="35"/>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60" name="Freeform 128"/>
            <p:cNvSpPr/>
            <p:nvPr userDrawn="1"/>
          </p:nvSpPr>
          <p:spPr bwMode="auto">
            <a:xfrm>
              <a:off x="1063" y="714"/>
              <a:ext cx="20" cy="41"/>
            </a:xfrm>
            <a:custGeom>
              <a:avLst/>
              <a:gdLst>
                <a:gd name="T0" fmla="*/ 7 w 16"/>
                <a:gd name="T1" fmla="*/ 33 h 33"/>
                <a:gd name="T2" fmla="*/ 0 w 16"/>
                <a:gd name="T3" fmla="*/ 30 h 33"/>
                <a:gd name="T4" fmla="*/ 0 w 16"/>
                <a:gd name="T5" fmla="*/ 28 h 33"/>
                <a:gd name="T6" fmla="*/ 10 w 16"/>
                <a:gd name="T7" fmla="*/ 11 h 33"/>
                <a:gd name="T8" fmla="*/ 12 w 16"/>
                <a:gd name="T9" fmla="*/ 3 h 33"/>
                <a:gd name="T10" fmla="*/ 12 w 16"/>
                <a:gd name="T11" fmla="*/ 2 h 33"/>
                <a:gd name="T12" fmla="*/ 12 w 16"/>
                <a:gd name="T13" fmla="*/ 2 h 33"/>
                <a:gd name="T14" fmla="*/ 15 w 16"/>
                <a:gd name="T15" fmla="*/ 2 h 33"/>
                <a:gd name="T16" fmla="*/ 14 w 16"/>
                <a:gd name="T17" fmla="*/ 7 h 33"/>
                <a:gd name="T18" fmla="*/ 13 w 16"/>
                <a:gd name="T19" fmla="*/ 16 h 33"/>
                <a:gd name="T20" fmla="*/ 13 w 16"/>
                <a:gd name="T21" fmla="*/ 19 h 33"/>
                <a:gd name="T22" fmla="*/ 11 w 16"/>
                <a:gd name="T23" fmla="*/ 26 h 33"/>
                <a:gd name="T24" fmla="*/ 9 w 16"/>
                <a:gd name="T25" fmla="*/ 33 h 33"/>
                <a:gd name="T26" fmla="*/ 7 w 16"/>
                <a:gd name="T27"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33">
                  <a:moveTo>
                    <a:pt x="7" y="33"/>
                  </a:moveTo>
                  <a:cubicBezTo>
                    <a:pt x="5" y="33"/>
                    <a:pt x="2" y="31"/>
                    <a:pt x="0" y="30"/>
                  </a:cubicBezTo>
                  <a:cubicBezTo>
                    <a:pt x="0" y="30"/>
                    <a:pt x="0" y="29"/>
                    <a:pt x="0" y="28"/>
                  </a:cubicBezTo>
                  <a:cubicBezTo>
                    <a:pt x="4" y="23"/>
                    <a:pt x="7" y="17"/>
                    <a:pt x="10" y="11"/>
                  </a:cubicBezTo>
                  <a:cubicBezTo>
                    <a:pt x="11" y="8"/>
                    <a:pt x="11" y="5"/>
                    <a:pt x="12" y="3"/>
                  </a:cubicBezTo>
                  <a:cubicBezTo>
                    <a:pt x="12" y="3"/>
                    <a:pt x="12" y="3"/>
                    <a:pt x="12" y="2"/>
                  </a:cubicBezTo>
                  <a:cubicBezTo>
                    <a:pt x="12" y="2"/>
                    <a:pt x="12" y="2"/>
                    <a:pt x="12" y="2"/>
                  </a:cubicBezTo>
                  <a:cubicBezTo>
                    <a:pt x="13" y="1"/>
                    <a:pt x="14" y="0"/>
                    <a:pt x="15" y="2"/>
                  </a:cubicBezTo>
                  <a:cubicBezTo>
                    <a:pt x="16" y="3"/>
                    <a:pt x="14" y="5"/>
                    <a:pt x="14" y="7"/>
                  </a:cubicBezTo>
                  <a:cubicBezTo>
                    <a:pt x="14" y="10"/>
                    <a:pt x="14" y="13"/>
                    <a:pt x="13" y="16"/>
                  </a:cubicBezTo>
                  <a:cubicBezTo>
                    <a:pt x="13" y="16"/>
                    <a:pt x="13" y="16"/>
                    <a:pt x="13" y="19"/>
                  </a:cubicBezTo>
                  <a:cubicBezTo>
                    <a:pt x="12" y="21"/>
                    <a:pt x="11" y="24"/>
                    <a:pt x="11" y="26"/>
                  </a:cubicBezTo>
                  <a:cubicBezTo>
                    <a:pt x="10" y="28"/>
                    <a:pt x="10" y="31"/>
                    <a:pt x="9" y="33"/>
                  </a:cubicBezTo>
                  <a:cubicBezTo>
                    <a:pt x="8" y="33"/>
                    <a:pt x="8" y="33"/>
                    <a:pt x="7" y="33"/>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61" name="Freeform 129"/>
            <p:cNvSpPr/>
            <p:nvPr userDrawn="1"/>
          </p:nvSpPr>
          <p:spPr bwMode="auto">
            <a:xfrm>
              <a:off x="1090" y="704"/>
              <a:ext cx="16" cy="16"/>
            </a:xfrm>
            <a:custGeom>
              <a:avLst/>
              <a:gdLst>
                <a:gd name="T0" fmla="*/ 8 w 13"/>
                <a:gd name="T1" fmla="*/ 12 h 13"/>
                <a:gd name="T2" fmla="*/ 1 w 13"/>
                <a:gd name="T3" fmla="*/ 10 h 13"/>
                <a:gd name="T4" fmla="*/ 1 w 13"/>
                <a:gd name="T5" fmla="*/ 8 h 13"/>
                <a:gd name="T6" fmla="*/ 2 w 13"/>
                <a:gd name="T7" fmla="*/ 7 h 13"/>
                <a:gd name="T8" fmla="*/ 5 w 13"/>
                <a:gd name="T9" fmla="*/ 6 h 13"/>
                <a:gd name="T10" fmla="*/ 12 w 13"/>
                <a:gd name="T11" fmla="*/ 1 h 13"/>
                <a:gd name="T12" fmla="*/ 8 w 13"/>
                <a:gd name="T13" fmla="*/ 12 h 13"/>
              </a:gdLst>
              <a:ahLst/>
              <a:cxnLst>
                <a:cxn ang="0">
                  <a:pos x="T0" y="T1"/>
                </a:cxn>
                <a:cxn ang="0">
                  <a:pos x="T2" y="T3"/>
                </a:cxn>
                <a:cxn ang="0">
                  <a:pos x="T4" y="T5"/>
                </a:cxn>
                <a:cxn ang="0">
                  <a:pos x="T6" y="T7"/>
                </a:cxn>
                <a:cxn ang="0">
                  <a:pos x="T8" y="T9"/>
                </a:cxn>
                <a:cxn ang="0">
                  <a:pos x="T10" y="T11"/>
                </a:cxn>
                <a:cxn ang="0">
                  <a:pos x="T12" y="T13"/>
                </a:cxn>
              </a:cxnLst>
              <a:rect l="0" t="0" r="r" b="b"/>
              <a:pathLst>
                <a:path w="13" h="13">
                  <a:moveTo>
                    <a:pt x="8" y="12"/>
                  </a:moveTo>
                  <a:cubicBezTo>
                    <a:pt x="5" y="13"/>
                    <a:pt x="3" y="12"/>
                    <a:pt x="1" y="10"/>
                  </a:cubicBezTo>
                  <a:cubicBezTo>
                    <a:pt x="0" y="10"/>
                    <a:pt x="1" y="9"/>
                    <a:pt x="1" y="8"/>
                  </a:cubicBezTo>
                  <a:cubicBezTo>
                    <a:pt x="1" y="8"/>
                    <a:pt x="1" y="8"/>
                    <a:pt x="2" y="7"/>
                  </a:cubicBezTo>
                  <a:cubicBezTo>
                    <a:pt x="3" y="7"/>
                    <a:pt x="3" y="7"/>
                    <a:pt x="5" y="6"/>
                  </a:cubicBezTo>
                  <a:cubicBezTo>
                    <a:pt x="6" y="5"/>
                    <a:pt x="10" y="0"/>
                    <a:pt x="12" y="1"/>
                  </a:cubicBezTo>
                  <a:cubicBezTo>
                    <a:pt x="13" y="4"/>
                    <a:pt x="11" y="10"/>
                    <a:pt x="8" y="12"/>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62" name="Freeform 130"/>
            <p:cNvSpPr/>
            <p:nvPr userDrawn="1"/>
          </p:nvSpPr>
          <p:spPr bwMode="auto">
            <a:xfrm>
              <a:off x="1062" y="710"/>
              <a:ext cx="12" cy="14"/>
            </a:xfrm>
            <a:custGeom>
              <a:avLst/>
              <a:gdLst>
                <a:gd name="T0" fmla="*/ 5 w 10"/>
                <a:gd name="T1" fmla="*/ 11 h 11"/>
                <a:gd name="T2" fmla="*/ 1 w 10"/>
                <a:gd name="T3" fmla="*/ 4 h 11"/>
                <a:gd name="T4" fmla="*/ 6 w 10"/>
                <a:gd name="T5" fmla="*/ 1 h 11"/>
                <a:gd name="T6" fmla="*/ 10 w 10"/>
                <a:gd name="T7" fmla="*/ 6 h 11"/>
                <a:gd name="T8" fmla="*/ 5 w 10"/>
                <a:gd name="T9" fmla="*/ 11 h 11"/>
              </a:gdLst>
              <a:ahLst/>
              <a:cxnLst>
                <a:cxn ang="0">
                  <a:pos x="T0" y="T1"/>
                </a:cxn>
                <a:cxn ang="0">
                  <a:pos x="T2" y="T3"/>
                </a:cxn>
                <a:cxn ang="0">
                  <a:pos x="T4" y="T5"/>
                </a:cxn>
                <a:cxn ang="0">
                  <a:pos x="T6" y="T7"/>
                </a:cxn>
                <a:cxn ang="0">
                  <a:pos x="T8" y="T9"/>
                </a:cxn>
              </a:cxnLst>
              <a:rect l="0" t="0" r="r" b="b"/>
              <a:pathLst>
                <a:path w="10" h="11">
                  <a:moveTo>
                    <a:pt x="5" y="11"/>
                  </a:moveTo>
                  <a:cubicBezTo>
                    <a:pt x="3" y="10"/>
                    <a:pt x="1" y="5"/>
                    <a:pt x="1" y="4"/>
                  </a:cubicBezTo>
                  <a:cubicBezTo>
                    <a:pt x="0" y="1"/>
                    <a:pt x="3" y="0"/>
                    <a:pt x="6" y="1"/>
                  </a:cubicBezTo>
                  <a:cubicBezTo>
                    <a:pt x="9" y="2"/>
                    <a:pt x="10" y="3"/>
                    <a:pt x="10" y="6"/>
                  </a:cubicBezTo>
                  <a:cubicBezTo>
                    <a:pt x="8" y="9"/>
                    <a:pt x="7" y="9"/>
                    <a:pt x="5" y="11"/>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63" name="Freeform 131"/>
            <p:cNvSpPr/>
            <p:nvPr userDrawn="1"/>
          </p:nvSpPr>
          <p:spPr bwMode="auto">
            <a:xfrm>
              <a:off x="1085" y="688"/>
              <a:ext cx="19" cy="21"/>
            </a:xfrm>
            <a:custGeom>
              <a:avLst/>
              <a:gdLst>
                <a:gd name="T0" fmla="*/ 8 w 15"/>
                <a:gd name="T1" fmla="*/ 17 h 17"/>
                <a:gd name="T2" fmla="*/ 7 w 15"/>
                <a:gd name="T3" fmla="*/ 12 h 17"/>
                <a:gd name="T4" fmla="*/ 5 w 15"/>
                <a:gd name="T5" fmla="*/ 13 h 17"/>
                <a:gd name="T6" fmla="*/ 0 w 15"/>
                <a:gd name="T7" fmla="*/ 9 h 17"/>
                <a:gd name="T8" fmla="*/ 2 w 15"/>
                <a:gd name="T9" fmla="*/ 7 h 17"/>
                <a:gd name="T10" fmla="*/ 7 w 15"/>
                <a:gd name="T11" fmla="*/ 2 h 17"/>
                <a:gd name="T12" fmla="*/ 14 w 15"/>
                <a:gd name="T13" fmla="*/ 4 h 17"/>
                <a:gd name="T14" fmla="*/ 13 w 15"/>
                <a:gd name="T15" fmla="*/ 11 h 17"/>
                <a:gd name="T16" fmla="*/ 9 w 15"/>
                <a:gd name="T17" fmla="*/ 16 h 17"/>
                <a:gd name="T18" fmla="*/ 8 w 15"/>
                <a:gd name="T19"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7">
                  <a:moveTo>
                    <a:pt x="8" y="17"/>
                  </a:moveTo>
                  <a:cubicBezTo>
                    <a:pt x="7" y="16"/>
                    <a:pt x="8" y="12"/>
                    <a:pt x="7" y="12"/>
                  </a:cubicBezTo>
                  <a:cubicBezTo>
                    <a:pt x="6" y="12"/>
                    <a:pt x="6" y="13"/>
                    <a:pt x="5" y="13"/>
                  </a:cubicBezTo>
                  <a:cubicBezTo>
                    <a:pt x="3" y="13"/>
                    <a:pt x="0" y="11"/>
                    <a:pt x="0" y="9"/>
                  </a:cubicBezTo>
                  <a:cubicBezTo>
                    <a:pt x="1" y="7"/>
                    <a:pt x="0" y="8"/>
                    <a:pt x="2" y="7"/>
                  </a:cubicBezTo>
                  <a:cubicBezTo>
                    <a:pt x="4" y="5"/>
                    <a:pt x="6" y="3"/>
                    <a:pt x="7" y="2"/>
                  </a:cubicBezTo>
                  <a:cubicBezTo>
                    <a:pt x="11" y="0"/>
                    <a:pt x="13" y="1"/>
                    <a:pt x="14" y="4"/>
                  </a:cubicBezTo>
                  <a:cubicBezTo>
                    <a:pt x="15" y="7"/>
                    <a:pt x="14" y="9"/>
                    <a:pt x="13" y="11"/>
                  </a:cubicBezTo>
                  <a:cubicBezTo>
                    <a:pt x="12" y="13"/>
                    <a:pt x="10" y="15"/>
                    <a:pt x="9" y="16"/>
                  </a:cubicBezTo>
                  <a:cubicBezTo>
                    <a:pt x="9" y="17"/>
                    <a:pt x="8" y="17"/>
                    <a:pt x="8" y="17"/>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64" name="Freeform 132"/>
            <p:cNvSpPr/>
            <p:nvPr userDrawn="1"/>
          </p:nvSpPr>
          <p:spPr bwMode="auto">
            <a:xfrm>
              <a:off x="1062" y="693"/>
              <a:ext cx="12" cy="13"/>
            </a:xfrm>
            <a:custGeom>
              <a:avLst/>
              <a:gdLst>
                <a:gd name="T0" fmla="*/ 4 w 10"/>
                <a:gd name="T1" fmla="*/ 11 h 11"/>
                <a:gd name="T2" fmla="*/ 3 w 10"/>
                <a:gd name="T3" fmla="*/ 9 h 11"/>
                <a:gd name="T4" fmla="*/ 1 w 10"/>
                <a:gd name="T5" fmla="*/ 6 h 11"/>
                <a:gd name="T6" fmla="*/ 1 w 10"/>
                <a:gd name="T7" fmla="*/ 0 h 11"/>
                <a:gd name="T8" fmla="*/ 10 w 10"/>
                <a:gd name="T9" fmla="*/ 5 h 11"/>
                <a:gd name="T10" fmla="*/ 4 w 10"/>
                <a:gd name="T11" fmla="*/ 11 h 11"/>
              </a:gdLst>
              <a:ahLst/>
              <a:cxnLst>
                <a:cxn ang="0">
                  <a:pos x="T0" y="T1"/>
                </a:cxn>
                <a:cxn ang="0">
                  <a:pos x="T2" y="T3"/>
                </a:cxn>
                <a:cxn ang="0">
                  <a:pos x="T4" y="T5"/>
                </a:cxn>
                <a:cxn ang="0">
                  <a:pos x="T6" y="T7"/>
                </a:cxn>
                <a:cxn ang="0">
                  <a:pos x="T8" y="T9"/>
                </a:cxn>
                <a:cxn ang="0">
                  <a:pos x="T10" y="T11"/>
                </a:cxn>
              </a:cxnLst>
              <a:rect l="0" t="0" r="r" b="b"/>
              <a:pathLst>
                <a:path w="10" h="11">
                  <a:moveTo>
                    <a:pt x="4" y="11"/>
                  </a:moveTo>
                  <a:cubicBezTo>
                    <a:pt x="3" y="11"/>
                    <a:pt x="3" y="10"/>
                    <a:pt x="3" y="9"/>
                  </a:cubicBezTo>
                  <a:cubicBezTo>
                    <a:pt x="3" y="8"/>
                    <a:pt x="2" y="7"/>
                    <a:pt x="1" y="6"/>
                  </a:cubicBezTo>
                  <a:cubicBezTo>
                    <a:pt x="0" y="3"/>
                    <a:pt x="0" y="2"/>
                    <a:pt x="1" y="0"/>
                  </a:cubicBezTo>
                  <a:cubicBezTo>
                    <a:pt x="3" y="0"/>
                    <a:pt x="10" y="1"/>
                    <a:pt x="10" y="5"/>
                  </a:cubicBezTo>
                  <a:cubicBezTo>
                    <a:pt x="9" y="7"/>
                    <a:pt x="6" y="10"/>
                    <a:pt x="4" y="11"/>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65" name="Freeform 133"/>
            <p:cNvSpPr/>
            <p:nvPr userDrawn="1"/>
          </p:nvSpPr>
          <p:spPr bwMode="auto">
            <a:xfrm>
              <a:off x="996" y="742"/>
              <a:ext cx="47" cy="83"/>
            </a:xfrm>
            <a:custGeom>
              <a:avLst/>
              <a:gdLst>
                <a:gd name="T0" fmla="*/ 22 w 38"/>
                <a:gd name="T1" fmla="*/ 64 h 66"/>
                <a:gd name="T2" fmla="*/ 13 w 38"/>
                <a:gd name="T3" fmla="*/ 61 h 66"/>
                <a:gd name="T4" fmla="*/ 13 w 38"/>
                <a:gd name="T5" fmla="*/ 59 h 66"/>
                <a:gd name="T6" fmla="*/ 13 w 38"/>
                <a:gd name="T7" fmla="*/ 59 h 66"/>
                <a:gd name="T8" fmla="*/ 8 w 38"/>
                <a:gd name="T9" fmla="*/ 46 h 66"/>
                <a:gd name="T10" fmla="*/ 7 w 38"/>
                <a:gd name="T11" fmla="*/ 42 h 66"/>
                <a:gd name="T12" fmla="*/ 10 w 38"/>
                <a:gd name="T13" fmla="*/ 44 h 66"/>
                <a:gd name="T14" fmla="*/ 11 w 38"/>
                <a:gd name="T15" fmla="*/ 42 h 66"/>
                <a:gd name="T16" fmla="*/ 11 w 38"/>
                <a:gd name="T17" fmla="*/ 33 h 66"/>
                <a:gd name="T18" fmla="*/ 8 w 38"/>
                <a:gd name="T19" fmla="*/ 31 h 66"/>
                <a:gd name="T20" fmla="*/ 4 w 38"/>
                <a:gd name="T21" fmla="*/ 34 h 66"/>
                <a:gd name="T22" fmla="*/ 4 w 38"/>
                <a:gd name="T23" fmla="*/ 27 h 66"/>
                <a:gd name="T24" fmla="*/ 0 w 38"/>
                <a:gd name="T25" fmla="*/ 23 h 66"/>
                <a:gd name="T26" fmla="*/ 6 w 38"/>
                <a:gd name="T27" fmla="*/ 21 h 66"/>
                <a:gd name="T28" fmla="*/ 10 w 38"/>
                <a:gd name="T29" fmla="*/ 23 h 66"/>
                <a:gd name="T30" fmla="*/ 11 w 38"/>
                <a:gd name="T31" fmla="*/ 25 h 66"/>
                <a:gd name="T32" fmla="*/ 12 w 38"/>
                <a:gd name="T33" fmla="*/ 24 h 66"/>
                <a:gd name="T34" fmla="*/ 12 w 38"/>
                <a:gd name="T35" fmla="*/ 17 h 66"/>
                <a:gd name="T36" fmla="*/ 7 w 38"/>
                <a:gd name="T37" fmla="*/ 10 h 66"/>
                <a:gd name="T38" fmla="*/ 12 w 38"/>
                <a:gd name="T39" fmla="*/ 6 h 66"/>
                <a:gd name="T40" fmla="*/ 13 w 38"/>
                <a:gd name="T41" fmla="*/ 1 h 66"/>
                <a:gd name="T42" fmla="*/ 14 w 38"/>
                <a:gd name="T43" fmla="*/ 0 h 66"/>
                <a:gd name="T44" fmla="*/ 16 w 38"/>
                <a:gd name="T45" fmla="*/ 1 h 66"/>
                <a:gd name="T46" fmla="*/ 18 w 38"/>
                <a:gd name="T47" fmla="*/ 12 h 66"/>
                <a:gd name="T48" fmla="*/ 17 w 38"/>
                <a:gd name="T49" fmla="*/ 8 h 66"/>
                <a:gd name="T50" fmla="*/ 22 w 38"/>
                <a:gd name="T51" fmla="*/ 3 h 66"/>
                <a:gd name="T52" fmla="*/ 25 w 38"/>
                <a:gd name="T53" fmla="*/ 7 h 66"/>
                <a:gd name="T54" fmla="*/ 26 w 38"/>
                <a:gd name="T55" fmla="*/ 8 h 66"/>
                <a:gd name="T56" fmla="*/ 35 w 38"/>
                <a:gd name="T57" fmla="*/ 15 h 66"/>
                <a:gd name="T58" fmla="*/ 37 w 38"/>
                <a:gd name="T59" fmla="*/ 19 h 66"/>
                <a:gd name="T60" fmla="*/ 37 w 38"/>
                <a:gd name="T61" fmla="*/ 20 h 66"/>
                <a:gd name="T62" fmla="*/ 37 w 38"/>
                <a:gd name="T63" fmla="*/ 20 h 66"/>
                <a:gd name="T64" fmla="*/ 36 w 38"/>
                <a:gd name="T65" fmla="*/ 24 h 66"/>
                <a:gd name="T66" fmla="*/ 23 w 38"/>
                <a:gd name="T67" fmla="*/ 15 h 66"/>
                <a:gd name="T68" fmla="*/ 23 w 38"/>
                <a:gd name="T69" fmla="*/ 15 h 66"/>
                <a:gd name="T70" fmla="*/ 27 w 38"/>
                <a:gd name="T71" fmla="*/ 25 h 66"/>
                <a:gd name="T72" fmla="*/ 22 w 38"/>
                <a:gd name="T73" fmla="*/ 27 h 66"/>
                <a:gd name="T74" fmla="*/ 22 w 38"/>
                <a:gd name="T75" fmla="*/ 25 h 66"/>
                <a:gd name="T76" fmla="*/ 15 w 38"/>
                <a:gd name="T77" fmla="*/ 19 h 66"/>
                <a:gd name="T78" fmla="*/ 16 w 38"/>
                <a:gd name="T79" fmla="*/ 27 h 66"/>
                <a:gd name="T80" fmla="*/ 17 w 38"/>
                <a:gd name="T81" fmla="*/ 31 h 66"/>
                <a:gd name="T82" fmla="*/ 21 w 38"/>
                <a:gd name="T83" fmla="*/ 35 h 66"/>
                <a:gd name="T84" fmla="*/ 22 w 38"/>
                <a:gd name="T85" fmla="*/ 38 h 66"/>
                <a:gd name="T86" fmla="*/ 22 w 38"/>
                <a:gd name="T87" fmla="*/ 39 h 66"/>
                <a:gd name="T88" fmla="*/ 22 w 38"/>
                <a:gd name="T89" fmla="*/ 44 h 66"/>
                <a:gd name="T90" fmla="*/ 21 w 38"/>
                <a:gd name="T91" fmla="*/ 44 h 66"/>
                <a:gd name="T92" fmla="*/ 17 w 38"/>
                <a:gd name="T93" fmla="*/ 38 h 66"/>
                <a:gd name="T94" fmla="*/ 16 w 38"/>
                <a:gd name="T95" fmla="*/ 44 h 66"/>
                <a:gd name="T96" fmla="*/ 13 w 38"/>
                <a:gd name="T97" fmla="*/ 46 h 66"/>
                <a:gd name="T98" fmla="*/ 13 w 38"/>
                <a:gd name="T99" fmla="*/ 46 h 66"/>
                <a:gd name="T100" fmla="*/ 12 w 38"/>
                <a:gd name="T101" fmla="*/ 47 h 66"/>
                <a:gd name="T102" fmla="*/ 14 w 38"/>
                <a:gd name="T103" fmla="*/ 50 h 66"/>
                <a:gd name="T104" fmla="*/ 23 w 38"/>
                <a:gd name="T105" fmla="*/ 62 h 66"/>
                <a:gd name="T106" fmla="*/ 22 w 38"/>
                <a:gd name="T107" fmla="*/ 6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8" h="66">
                  <a:moveTo>
                    <a:pt x="22" y="64"/>
                  </a:moveTo>
                  <a:cubicBezTo>
                    <a:pt x="19" y="66"/>
                    <a:pt x="12" y="65"/>
                    <a:pt x="13" y="61"/>
                  </a:cubicBezTo>
                  <a:cubicBezTo>
                    <a:pt x="13" y="60"/>
                    <a:pt x="13" y="59"/>
                    <a:pt x="13" y="59"/>
                  </a:cubicBezTo>
                  <a:cubicBezTo>
                    <a:pt x="13" y="59"/>
                    <a:pt x="13" y="59"/>
                    <a:pt x="13" y="59"/>
                  </a:cubicBezTo>
                  <a:cubicBezTo>
                    <a:pt x="12" y="54"/>
                    <a:pt x="9" y="50"/>
                    <a:pt x="8" y="46"/>
                  </a:cubicBezTo>
                  <a:cubicBezTo>
                    <a:pt x="7" y="45"/>
                    <a:pt x="7" y="44"/>
                    <a:pt x="7" y="42"/>
                  </a:cubicBezTo>
                  <a:cubicBezTo>
                    <a:pt x="8" y="42"/>
                    <a:pt x="9" y="43"/>
                    <a:pt x="10" y="44"/>
                  </a:cubicBezTo>
                  <a:cubicBezTo>
                    <a:pt x="11" y="44"/>
                    <a:pt x="11" y="43"/>
                    <a:pt x="11" y="42"/>
                  </a:cubicBezTo>
                  <a:cubicBezTo>
                    <a:pt x="11" y="39"/>
                    <a:pt x="11" y="36"/>
                    <a:pt x="11" y="33"/>
                  </a:cubicBezTo>
                  <a:cubicBezTo>
                    <a:pt x="10" y="32"/>
                    <a:pt x="9" y="31"/>
                    <a:pt x="8" y="31"/>
                  </a:cubicBezTo>
                  <a:cubicBezTo>
                    <a:pt x="8" y="32"/>
                    <a:pt x="6" y="37"/>
                    <a:pt x="4" y="34"/>
                  </a:cubicBezTo>
                  <a:cubicBezTo>
                    <a:pt x="5" y="32"/>
                    <a:pt x="5" y="29"/>
                    <a:pt x="4" y="27"/>
                  </a:cubicBezTo>
                  <a:cubicBezTo>
                    <a:pt x="2" y="25"/>
                    <a:pt x="0" y="24"/>
                    <a:pt x="0" y="23"/>
                  </a:cubicBezTo>
                  <a:cubicBezTo>
                    <a:pt x="0" y="20"/>
                    <a:pt x="4" y="20"/>
                    <a:pt x="6" y="21"/>
                  </a:cubicBezTo>
                  <a:cubicBezTo>
                    <a:pt x="8" y="21"/>
                    <a:pt x="8" y="17"/>
                    <a:pt x="10" y="23"/>
                  </a:cubicBezTo>
                  <a:cubicBezTo>
                    <a:pt x="10" y="24"/>
                    <a:pt x="11" y="24"/>
                    <a:pt x="11" y="25"/>
                  </a:cubicBezTo>
                  <a:cubicBezTo>
                    <a:pt x="12" y="25"/>
                    <a:pt x="12" y="24"/>
                    <a:pt x="12" y="24"/>
                  </a:cubicBezTo>
                  <a:cubicBezTo>
                    <a:pt x="12" y="22"/>
                    <a:pt x="12" y="19"/>
                    <a:pt x="12" y="17"/>
                  </a:cubicBezTo>
                  <a:cubicBezTo>
                    <a:pt x="10" y="15"/>
                    <a:pt x="8" y="13"/>
                    <a:pt x="7" y="10"/>
                  </a:cubicBezTo>
                  <a:cubicBezTo>
                    <a:pt x="7" y="8"/>
                    <a:pt x="10" y="6"/>
                    <a:pt x="12" y="6"/>
                  </a:cubicBezTo>
                  <a:cubicBezTo>
                    <a:pt x="13" y="4"/>
                    <a:pt x="13" y="3"/>
                    <a:pt x="13" y="1"/>
                  </a:cubicBezTo>
                  <a:cubicBezTo>
                    <a:pt x="13" y="1"/>
                    <a:pt x="13" y="1"/>
                    <a:pt x="14" y="0"/>
                  </a:cubicBezTo>
                  <a:cubicBezTo>
                    <a:pt x="15" y="0"/>
                    <a:pt x="15" y="0"/>
                    <a:pt x="16" y="1"/>
                  </a:cubicBezTo>
                  <a:cubicBezTo>
                    <a:pt x="18" y="3"/>
                    <a:pt x="14" y="11"/>
                    <a:pt x="18" y="12"/>
                  </a:cubicBezTo>
                  <a:cubicBezTo>
                    <a:pt x="19" y="11"/>
                    <a:pt x="18" y="9"/>
                    <a:pt x="17" y="8"/>
                  </a:cubicBezTo>
                  <a:cubicBezTo>
                    <a:pt x="17" y="6"/>
                    <a:pt x="20" y="4"/>
                    <a:pt x="22" y="3"/>
                  </a:cubicBezTo>
                  <a:cubicBezTo>
                    <a:pt x="26" y="3"/>
                    <a:pt x="25" y="4"/>
                    <a:pt x="25" y="7"/>
                  </a:cubicBezTo>
                  <a:cubicBezTo>
                    <a:pt x="26" y="7"/>
                    <a:pt x="26" y="8"/>
                    <a:pt x="26" y="8"/>
                  </a:cubicBezTo>
                  <a:cubicBezTo>
                    <a:pt x="30" y="11"/>
                    <a:pt x="30" y="11"/>
                    <a:pt x="35" y="15"/>
                  </a:cubicBezTo>
                  <a:cubicBezTo>
                    <a:pt x="36" y="16"/>
                    <a:pt x="37" y="17"/>
                    <a:pt x="37" y="19"/>
                  </a:cubicBezTo>
                  <a:cubicBezTo>
                    <a:pt x="37" y="19"/>
                    <a:pt x="37" y="19"/>
                    <a:pt x="37" y="20"/>
                  </a:cubicBezTo>
                  <a:cubicBezTo>
                    <a:pt x="37" y="20"/>
                    <a:pt x="37" y="20"/>
                    <a:pt x="37" y="20"/>
                  </a:cubicBezTo>
                  <a:cubicBezTo>
                    <a:pt x="38" y="21"/>
                    <a:pt x="38" y="24"/>
                    <a:pt x="36" y="24"/>
                  </a:cubicBezTo>
                  <a:cubicBezTo>
                    <a:pt x="32" y="21"/>
                    <a:pt x="27" y="18"/>
                    <a:pt x="23" y="15"/>
                  </a:cubicBezTo>
                  <a:cubicBezTo>
                    <a:pt x="23" y="15"/>
                    <a:pt x="23" y="15"/>
                    <a:pt x="23" y="15"/>
                  </a:cubicBezTo>
                  <a:cubicBezTo>
                    <a:pt x="25" y="17"/>
                    <a:pt x="27" y="22"/>
                    <a:pt x="27" y="25"/>
                  </a:cubicBezTo>
                  <a:cubicBezTo>
                    <a:pt x="26" y="26"/>
                    <a:pt x="24" y="27"/>
                    <a:pt x="22" y="27"/>
                  </a:cubicBezTo>
                  <a:cubicBezTo>
                    <a:pt x="22" y="26"/>
                    <a:pt x="22" y="26"/>
                    <a:pt x="22" y="25"/>
                  </a:cubicBezTo>
                  <a:cubicBezTo>
                    <a:pt x="21" y="23"/>
                    <a:pt x="17" y="21"/>
                    <a:pt x="15" y="19"/>
                  </a:cubicBezTo>
                  <a:cubicBezTo>
                    <a:pt x="14" y="21"/>
                    <a:pt x="16" y="25"/>
                    <a:pt x="16" y="27"/>
                  </a:cubicBezTo>
                  <a:cubicBezTo>
                    <a:pt x="16" y="28"/>
                    <a:pt x="16" y="30"/>
                    <a:pt x="17" y="31"/>
                  </a:cubicBezTo>
                  <a:cubicBezTo>
                    <a:pt x="18" y="32"/>
                    <a:pt x="19" y="34"/>
                    <a:pt x="21" y="35"/>
                  </a:cubicBezTo>
                  <a:cubicBezTo>
                    <a:pt x="21" y="36"/>
                    <a:pt x="22" y="37"/>
                    <a:pt x="22" y="38"/>
                  </a:cubicBezTo>
                  <a:cubicBezTo>
                    <a:pt x="22" y="38"/>
                    <a:pt x="22" y="38"/>
                    <a:pt x="22" y="39"/>
                  </a:cubicBezTo>
                  <a:cubicBezTo>
                    <a:pt x="23" y="40"/>
                    <a:pt x="24" y="44"/>
                    <a:pt x="22" y="44"/>
                  </a:cubicBezTo>
                  <a:cubicBezTo>
                    <a:pt x="21" y="44"/>
                    <a:pt x="21" y="44"/>
                    <a:pt x="21" y="44"/>
                  </a:cubicBezTo>
                  <a:cubicBezTo>
                    <a:pt x="20" y="41"/>
                    <a:pt x="18" y="39"/>
                    <a:pt x="17" y="38"/>
                  </a:cubicBezTo>
                  <a:cubicBezTo>
                    <a:pt x="16" y="40"/>
                    <a:pt x="17" y="42"/>
                    <a:pt x="16" y="44"/>
                  </a:cubicBezTo>
                  <a:cubicBezTo>
                    <a:pt x="15" y="45"/>
                    <a:pt x="14" y="46"/>
                    <a:pt x="13" y="46"/>
                  </a:cubicBezTo>
                  <a:cubicBezTo>
                    <a:pt x="13" y="46"/>
                    <a:pt x="13" y="46"/>
                    <a:pt x="13" y="46"/>
                  </a:cubicBezTo>
                  <a:cubicBezTo>
                    <a:pt x="12" y="46"/>
                    <a:pt x="12" y="46"/>
                    <a:pt x="12" y="47"/>
                  </a:cubicBezTo>
                  <a:cubicBezTo>
                    <a:pt x="12" y="48"/>
                    <a:pt x="13" y="49"/>
                    <a:pt x="14" y="50"/>
                  </a:cubicBezTo>
                  <a:cubicBezTo>
                    <a:pt x="16" y="54"/>
                    <a:pt x="19" y="58"/>
                    <a:pt x="23" y="62"/>
                  </a:cubicBezTo>
                  <a:cubicBezTo>
                    <a:pt x="23" y="63"/>
                    <a:pt x="23" y="63"/>
                    <a:pt x="22" y="64"/>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66" name="Freeform 134"/>
            <p:cNvSpPr/>
            <p:nvPr userDrawn="1"/>
          </p:nvSpPr>
          <p:spPr bwMode="auto">
            <a:xfrm>
              <a:off x="989" y="789"/>
              <a:ext cx="13" cy="11"/>
            </a:xfrm>
            <a:custGeom>
              <a:avLst/>
              <a:gdLst>
                <a:gd name="T0" fmla="*/ 9 w 11"/>
                <a:gd name="T1" fmla="*/ 9 h 9"/>
                <a:gd name="T2" fmla="*/ 7 w 11"/>
                <a:gd name="T3" fmla="*/ 7 h 9"/>
                <a:gd name="T4" fmla="*/ 0 w 11"/>
                <a:gd name="T5" fmla="*/ 2 h 9"/>
                <a:gd name="T6" fmla="*/ 0 w 11"/>
                <a:gd name="T7" fmla="*/ 1 h 9"/>
                <a:gd name="T8" fmla="*/ 7 w 11"/>
                <a:gd name="T9" fmla="*/ 0 h 9"/>
                <a:gd name="T10" fmla="*/ 9 w 11"/>
                <a:gd name="T11" fmla="*/ 9 h 9"/>
              </a:gdLst>
              <a:ahLst/>
              <a:cxnLst>
                <a:cxn ang="0">
                  <a:pos x="T0" y="T1"/>
                </a:cxn>
                <a:cxn ang="0">
                  <a:pos x="T2" y="T3"/>
                </a:cxn>
                <a:cxn ang="0">
                  <a:pos x="T4" y="T5"/>
                </a:cxn>
                <a:cxn ang="0">
                  <a:pos x="T6" y="T7"/>
                </a:cxn>
                <a:cxn ang="0">
                  <a:pos x="T8" y="T9"/>
                </a:cxn>
                <a:cxn ang="0">
                  <a:pos x="T10" y="T11"/>
                </a:cxn>
              </a:cxnLst>
              <a:rect l="0" t="0" r="r" b="b"/>
              <a:pathLst>
                <a:path w="11" h="9">
                  <a:moveTo>
                    <a:pt x="9" y="9"/>
                  </a:moveTo>
                  <a:cubicBezTo>
                    <a:pt x="8" y="9"/>
                    <a:pt x="7" y="8"/>
                    <a:pt x="7" y="7"/>
                  </a:cubicBezTo>
                  <a:cubicBezTo>
                    <a:pt x="3" y="6"/>
                    <a:pt x="1" y="5"/>
                    <a:pt x="0" y="2"/>
                  </a:cubicBezTo>
                  <a:cubicBezTo>
                    <a:pt x="0" y="2"/>
                    <a:pt x="0" y="2"/>
                    <a:pt x="0" y="1"/>
                  </a:cubicBezTo>
                  <a:cubicBezTo>
                    <a:pt x="2" y="1"/>
                    <a:pt x="5" y="0"/>
                    <a:pt x="7" y="0"/>
                  </a:cubicBezTo>
                  <a:cubicBezTo>
                    <a:pt x="11" y="1"/>
                    <a:pt x="10" y="6"/>
                    <a:pt x="9" y="9"/>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67" name="Freeform 135"/>
            <p:cNvSpPr/>
            <p:nvPr userDrawn="1"/>
          </p:nvSpPr>
          <p:spPr bwMode="auto">
            <a:xfrm>
              <a:off x="977" y="776"/>
              <a:ext cx="14" cy="13"/>
            </a:xfrm>
            <a:custGeom>
              <a:avLst/>
              <a:gdLst>
                <a:gd name="T0" fmla="*/ 10 w 11"/>
                <a:gd name="T1" fmla="*/ 10 h 10"/>
                <a:gd name="T2" fmla="*/ 9 w 11"/>
                <a:gd name="T3" fmla="*/ 10 h 10"/>
                <a:gd name="T4" fmla="*/ 8 w 11"/>
                <a:gd name="T5" fmla="*/ 8 h 10"/>
                <a:gd name="T6" fmla="*/ 1 w 11"/>
                <a:gd name="T7" fmla="*/ 2 h 10"/>
                <a:gd name="T8" fmla="*/ 4 w 11"/>
                <a:gd name="T9" fmla="*/ 2 h 10"/>
                <a:gd name="T10" fmla="*/ 11 w 11"/>
                <a:gd name="T11" fmla="*/ 5 h 10"/>
                <a:gd name="T12" fmla="*/ 10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10" y="10"/>
                  </a:moveTo>
                  <a:cubicBezTo>
                    <a:pt x="9" y="10"/>
                    <a:pt x="9" y="10"/>
                    <a:pt x="9" y="10"/>
                  </a:cubicBezTo>
                  <a:cubicBezTo>
                    <a:pt x="8" y="9"/>
                    <a:pt x="8" y="9"/>
                    <a:pt x="8" y="8"/>
                  </a:cubicBezTo>
                  <a:cubicBezTo>
                    <a:pt x="4" y="8"/>
                    <a:pt x="0" y="6"/>
                    <a:pt x="1" y="2"/>
                  </a:cubicBezTo>
                  <a:cubicBezTo>
                    <a:pt x="2" y="1"/>
                    <a:pt x="2" y="2"/>
                    <a:pt x="4" y="2"/>
                  </a:cubicBezTo>
                  <a:cubicBezTo>
                    <a:pt x="7" y="2"/>
                    <a:pt x="11" y="0"/>
                    <a:pt x="11" y="5"/>
                  </a:cubicBezTo>
                  <a:cubicBezTo>
                    <a:pt x="11" y="6"/>
                    <a:pt x="10" y="8"/>
                    <a:pt x="10" y="10"/>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68" name="Freeform 136"/>
            <p:cNvSpPr/>
            <p:nvPr userDrawn="1"/>
          </p:nvSpPr>
          <p:spPr bwMode="auto">
            <a:xfrm>
              <a:off x="1048" y="786"/>
              <a:ext cx="163" cy="141"/>
            </a:xfrm>
            <a:custGeom>
              <a:avLst/>
              <a:gdLst>
                <a:gd name="T0" fmla="*/ 132 w 132"/>
                <a:gd name="T1" fmla="*/ 6 h 113"/>
                <a:gd name="T2" fmla="*/ 98 w 132"/>
                <a:gd name="T3" fmla="*/ 6 h 113"/>
                <a:gd name="T4" fmla="*/ 79 w 132"/>
                <a:gd name="T5" fmla="*/ 25 h 113"/>
                <a:gd name="T6" fmla="*/ 73 w 132"/>
                <a:gd name="T7" fmla="*/ 12 h 113"/>
                <a:gd name="T8" fmla="*/ 83 w 132"/>
                <a:gd name="T9" fmla="*/ 8 h 113"/>
                <a:gd name="T10" fmla="*/ 57 w 132"/>
                <a:gd name="T11" fmla="*/ 8 h 113"/>
                <a:gd name="T12" fmla="*/ 53 w 132"/>
                <a:gd name="T13" fmla="*/ 25 h 113"/>
                <a:gd name="T14" fmla="*/ 34 w 132"/>
                <a:gd name="T15" fmla="*/ 6 h 113"/>
                <a:gd name="T16" fmla="*/ 0 w 132"/>
                <a:gd name="T17" fmla="*/ 6 h 113"/>
                <a:gd name="T18" fmla="*/ 24 w 132"/>
                <a:gd name="T19" fmla="*/ 16 h 113"/>
                <a:gd name="T20" fmla="*/ 27 w 132"/>
                <a:gd name="T21" fmla="*/ 22 h 113"/>
                <a:gd name="T22" fmla="*/ 9 w 132"/>
                <a:gd name="T23" fmla="*/ 22 h 113"/>
                <a:gd name="T24" fmla="*/ 31 w 132"/>
                <a:gd name="T25" fmla="*/ 32 h 113"/>
                <a:gd name="T26" fmla="*/ 34 w 132"/>
                <a:gd name="T27" fmla="*/ 38 h 113"/>
                <a:gd name="T28" fmla="*/ 20 w 132"/>
                <a:gd name="T29" fmla="*/ 39 h 113"/>
                <a:gd name="T30" fmla="*/ 38 w 132"/>
                <a:gd name="T31" fmla="*/ 48 h 113"/>
                <a:gd name="T32" fmla="*/ 41 w 132"/>
                <a:gd name="T33" fmla="*/ 54 h 113"/>
                <a:gd name="T34" fmla="*/ 30 w 132"/>
                <a:gd name="T35" fmla="*/ 54 h 113"/>
                <a:gd name="T36" fmla="*/ 45 w 132"/>
                <a:gd name="T37" fmla="*/ 63 h 113"/>
                <a:gd name="T38" fmla="*/ 47 w 132"/>
                <a:gd name="T39" fmla="*/ 69 h 113"/>
                <a:gd name="T40" fmla="*/ 39 w 132"/>
                <a:gd name="T41" fmla="*/ 69 h 113"/>
                <a:gd name="T42" fmla="*/ 51 w 132"/>
                <a:gd name="T43" fmla="*/ 78 h 113"/>
                <a:gd name="T44" fmla="*/ 51 w 132"/>
                <a:gd name="T45" fmla="*/ 89 h 113"/>
                <a:gd name="T46" fmla="*/ 66 w 132"/>
                <a:gd name="T47" fmla="*/ 113 h 113"/>
                <a:gd name="T48" fmla="*/ 81 w 132"/>
                <a:gd name="T49" fmla="*/ 89 h 113"/>
                <a:gd name="T50" fmla="*/ 81 w 132"/>
                <a:gd name="T51" fmla="*/ 78 h 113"/>
                <a:gd name="T52" fmla="*/ 92 w 132"/>
                <a:gd name="T53" fmla="*/ 69 h 113"/>
                <a:gd name="T54" fmla="*/ 85 w 132"/>
                <a:gd name="T55" fmla="*/ 69 h 113"/>
                <a:gd name="T56" fmla="*/ 87 w 132"/>
                <a:gd name="T57" fmla="*/ 63 h 113"/>
                <a:gd name="T58" fmla="*/ 102 w 132"/>
                <a:gd name="T59" fmla="*/ 54 h 113"/>
                <a:gd name="T60" fmla="*/ 91 w 132"/>
                <a:gd name="T61" fmla="*/ 54 h 113"/>
                <a:gd name="T62" fmla="*/ 93 w 132"/>
                <a:gd name="T63" fmla="*/ 48 h 113"/>
                <a:gd name="T64" fmla="*/ 111 w 132"/>
                <a:gd name="T65" fmla="*/ 39 h 113"/>
                <a:gd name="T66" fmla="*/ 97 w 132"/>
                <a:gd name="T67" fmla="*/ 38 h 113"/>
                <a:gd name="T68" fmla="*/ 100 w 132"/>
                <a:gd name="T69" fmla="*/ 32 h 113"/>
                <a:gd name="T70" fmla="*/ 123 w 132"/>
                <a:gd name="T71" fmla="*/ 22 h 113"/>
                <a:gd name="T72" fmla="*/ 105 w 132"/>
                <a:gd name="T73" fmla="*/ 22 h 113"/>
                <a:gd name="T74" fmla="*/ 107 w 132"/>
                <a:gd name="T75" fmla="*/ 16 h 113"/>
                <a:gd name="T76" fmla="*/ 132 w 132"/>
                <a:gd name="T77" fmla="*/ 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2" h="113">
                  <a:moveTo>
                    <a:pt x="132" y="6"/>
                  </a:moveTo>
                  <a:cubicBezTo>
                    <a:pt x="98" y="6"/>
                    <a:pt x="98" y="6"/>
                    <a:pt x="98" y="6"/>
                  </a:cubicBezTo>
                  <a:cubicBezTo>
                    <a:pt x="88" y="6"/>
                    <a:pt x="83" y="16"/>
                    <a:pt x="79" y="25"/>
                  </a:cubicBezTo>
                  <a:cubicBezTo>
                    <a:pt x="73" y="12"/>
                    <a:pt x="73" y="12"/>
                    <a:pt x="73" y="12"/>
                  </a:cubicBezTo>
                  <a:cubicBezTo>
                    <a:pt x="83" y="8"/>
                    <a:pt x="83" y="8"/>
                    <a:pt x="83" y="8"/>
                  </a:cubicBezTo>
                  <a:cubicBezTo>
                    <a:pt x="77" y="3"/>
                    <a:pt x="59" y="0"/>
                    <a:pt x="57" y="8"/>
                  </a:cubicBezTo>
                  <a:cubicBezTo>
                    <a:pt x="53" y="25"/>
                    <a:pt x="53" y="25"/>
                    <a:pt x="53" y="25"/>
                  </a:cubicBezTo>
                  <a:cubicBezTo>
                    <a:pt x="50" y="17"/>
                    <a:pt x="45" y="6"/>
                    <a:pt x="34" y="6"/>
                  </a:cubicBezTo>
                  <a:cubicBezTo>
                    <a:pt x="0" y="6"/>
                    <a:pt x="0" y="6"/>
                    <a:pt x="0" y="6"/>
                  </a:cubicBezTo>
                  <a:cubicBezTo>
                    <a:pt x="4" y="14"/>
                    <a:pt x="8" y="17"/>
                    <a:pt x="24" y="16"/>
                  </a:cubicBezTo>
                  <a:cubicBezTo>
                    <a:pt x="27" y="22"/>
                    <a:pt x="27" y="22"/>
                    <a:pt x="27" y="22"/>
                  </a:cubicBezTo>
                  <a:cubicBezTo>
                    <a:pt x="9" y="22"/>
                    <a:pt x="9" y="22"/>
                    <a:pt x="9" y="22"/>
                  </a:cubicBezTo>
                  <a:cubicBezTo>
                    <a:pt x="14" y="32"/>
                    <a:pt x="17" y="32"/>
                    <a:pt x="31" y="32"/>
                  </a:cubicBezTo>
                  <a:cubicBezTo>
                    <a:pt x="34" y="38"/>
                    <a:pt x="34" y="38"/>
                    <a:pt x="34" y="38"/>
                  </a:cubicBezTo>
                  <a:cubicBezTo>
                    <a:pt x="20" y="39"/>
                    <a:pt x="20" y="39"/>
                    <a:pt x="20" y="39"/>
                  </a:cubicBezTo>
                  <a:cubicBezTo>
                    <a:pt x="23" y="45"/>
                    <a:pt x="27" y="48"/>
                    <a:pt x="38" y="48"/>
                  </a:cubicBezTo>
                  <a:cubicBezTo>
                    <a:pt x="41" y="54"/>
                    <a:pt x="41" y="54"/>
                    <a:pt x="41" y="54"/>
                  </a:cubicBezTo>
                  <a:cubicBezTo>
                    <a:pt x="30" y="54"/>
                    <a:pt x="30" y="54"/>
                    <a:pt x="30" y="54"/>
                  </a:cubicBezTo>
                  <a:cubicBezTo>
                    <a:pt x="34" y="61"/>
                    <a:pt x="36" y="64"/>
                    <a:pt x="45" y="63"/>
                  </a:cubicBezTo>
                  <a:cubicBezTo>
                    <a:pt x="47" y="69"/>
                    <a:pt x="47" y="69"/>
                    <a:pt x="47" y="69"/>
                  </a:cubicBezTo>
                  <a:cubicBezTo>
                    <a:pt x="39" y="69"/>
                    <a:pt x="39" y="69"/>
                    <a:pt x="39" y="69"/>
                  </a:cubicBezTo>
                  <a:cubicBezTo>
                    <a:pt x="43" y="77"/>
                    <a:pt x="46" y="77"/>
                    <a:pt x="51" y="78"/>
                  </a:cubicBezTo>
                  <a:cubicBezTo>
                    <a:pt x="55" y="78"/>
                    <a:pt x="56" y="86"/>
                    <a:pt x="51" y="89"/>
                  </a:cubicBezTo>
                  <a:cubicBezTo>
                    <a:pt x="66" y="113"/>
                    <a:pt x="66" y="113"/>
                    <a:pt x="66" y="113"/>
                  </a:cubicBezTo>
                  <a:cubicBezTo>
                    <a:pt x="81" y="89"/>
                    <a:pt x="81" y="89"/>
                    <a:pt x="81" y="89"/>
                  </a:cubicBezTo>
                  <a:cubicBezTo>
                    <a:pt x="76" y="86"/>
                    <a:pt x="76" y="78"/>
                    <a:pt x="81" y="78"/>
                  </a:cubicBezTo>
                  <a:cubicBezTo>
                    <a:pt x="85" y="77"/>
                    <a:pt x="89" y="77"/>
                    <a:pt x="92" y="69"/>
                  </a:cubicBezTo>
                  <a:cubicBezTo>
                    <a:pt x="85" y="69"/>
                    <a:pt x="85" y="69"/>
                    <a:pt x="85" y="69"/>
                  </a:cubicBezTo>
                  <a:cubicBezTo>
                    <a:pt x="87" y="63"/>
                    <a:pt x="87" y="63"/>
                    <a:pt x="87" y="63"/>
                  </a:cubicBezTo>
                  <a:cubicBezTo>
                    <a:pt x="96" y="64"/>
                    <a:pt x="98" y="60"/>
                    <a:pt x="102" y="54"/>
                  </a:cubicBezTo>
                  <a:cubicBezTo>
                    <a:pt x="91" y="54"/>
                    <a:pt x="91" y="54"/>
                    <a:pt x="91" y="54"/>
                  </a:cubicBezTo>
                  <a:cubicBezTo>
                    <a:pt x="93" y="48"/>
                    <a:pt x="93" y="48"/>
                    <a:pt x="93" y="48"/>
                  </a:cubicBezTo>
                  <a:cubicBezTo>
                    <a:pt x="105" y="48"/>
                    <a:pt x="108" y="45"/>
                    <a:pt x="111" y="39"/>
                  </a:cubicBezTo>
                  <a:cubicBezTo>
                    <a:pt x="97" y="38"/>
                    <a:pt x="97" y="38"/>
                    <a:pt x="97" y="38"/>
                  </a:cubicBezTo>
                  <a:cubicBezTo>
                    <a:pt x="100" y="32"/>
                    <a:pt x="100" y="32"/>
                    <a:pt x="100" y="32"/>
                  </a:cubicBezTo>
                  <a:cubicBezTo>
                    <a:pt x="115" y="32"/>
                    <a:pt x="118" y="32"/>
                    <a:pt x="123" y="22"/>
                  </a:cubicBezTo>
                  <a:cubicBezTo>
                    <a:pt x="105" y="22"/>
                    <a:pt x="105" y="22"/>
                    <a:pt x="105" y="22"/>
                  </a:cubicBezTo>
                  <a:cubicBezTo>
                    <a:pt x="107" y="16"/>
                    <a:pt x="107" y="16"/>
                    <a:pt x="107" y="16"/>
                  </a:cubicBezTo>
                  <a:cubicBezTo>
                    <a:pt x="123" y="17"/>
                    <a:pt x="128" y="14"/>
                    <a:pt x="132" y="6"/>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69" name="Freeform 137"/>
            <p:cNvSpPr>
              <a:spLocks noEditPoints="1"/>
            </p:cNvSpPr>
            <p:nvPr userDrawn="1"/>
          </p:nvSpPr>
          <p:spPr bwMode="auto">
            <a:xfrm>
              <a:off x="1214" y="757"/>
              <a:ext cx="64" cy="43"/>
            </a:xfrm>
            <a:custGeom>
              <a:avLst/>
              <a:gdLst>
                <a:gd name="T0" fmla="*/ 51 w 52"/>
                <a:gd name="T1" fmla="*/ 10 h 34"/>
                <a:gd name="T2" fmla="*/ 48 w 52"/>
                <a:gd name="T3" fmla="*/ 10 h 34"/>
                <a:gd name="T4" fmla="*/ 47 w 52"/>
                <a:gd name="T5" fmla="*/ 8 h 34"/>
                <a:gd name="T6" fmla="*/ 50 w 52"/>
                <a:gd name="T7" fmla="*/ 7 h 34"/>
                <a:gd name="T8" fmla="*/ 52 w 52"/>
                <a:gd name="T9" fmla="*/ 2 h 34"/>
                <a:gd name="T10" fmla="*/ 44 w 52"/>
                <a:gd name="T11" fmla="*/ 3 h 34"/>
                <a:gd name="T12" fmla="*/ 36 w 52"/>
                <a:gd name="T13" fmla="*/ 1 h 34"/>
                <a:gd name="T14" fmla="*/ 36 w 52"/>
                <a:gd name="T15" fmla="*/ 3 h 34"/>
                <a:gd name="T16" fmla="*/ 35 w 52"/>
                <a:gd name="T17" fmla="*/ 4 h 34"/>
                <a:gd name="T18" fmla="*/ 35 w 52"/>
                <a:gd name="T19" fmla="*/ 5 h 34"/>
                <a:gd name="T20" fmla="*/ 34 w 52"/>
                <a:gd name="T21" fmla="*/ 7 h 34"/>
                <a:gd name="T22" fmla="*/ 34 w 52"/>
                <a:gd name="T23" fmla="*/ 6 h 34"/>
                <a:gd name="T24" fmla="*/ 30 w 52"/>
                <a:gd name="T25" fmla="*/ 5 h 34"/>
                <a:gd name="T26" fmla="*/ 28 w 52"/>
                <a:gd name="T27" fmla="*/ 9 h 34"/>
                <a:gd name="T28" fmla="*/ 28 w 52"/>
                <a:gd name="T29" fmla="*/ 10 h 34"/>
                <a:gd name="T30" fmla="*/ 31 w 52"/>
                <a:gd name="T31" fmla="*/ 11 h 34"/>
                <a:gd name="T32" fmla="*/ 33 w 52"/>
                <a:gd name="T33" fmla="*/ 12 h 34"/>
                <a:gd name="T34" fmla="*/ 30 w 52"/>
                <a:gd name="T35" fmla="*/ 14 h 34"/>
                <a:gd name="T36" fmla="*/ 26 w 52"/>
                <a:gd name="T37" fmla="*/ 14 h 34"/>
                <a:gd name="T38" fmla="*/ 13 w 52"/>
                <a:gd name="T39" fmla="*/ 11 h 34"/>
                <a:gd name="T40" fmla="*/ 13 w 52"/>
                <a:gd name="T41" fmla="*/ 12 h 34"/>
                <a:gd name="T42" fmla="*/ 20 w 52"/>
                <a:gd name="T43" fmla="*/ 16 h 34"/>
                <a:gd name="T44" fmla="*/ 32 w 52"/>
                <a:gd name="T45" fmla="*/ 20 h 34"/>
                <a:gd name="T46" fmla="*/ 31 w 52"/>
                <a:gd name="T47" fmla="*/ 20 h 34"/>
                <a:gd name="T48" fmla="*/ 24 w 52"/>
                <a:gd name="T49" fmla="*/ 20 h 34"/>
                <a:gd name="T50" fmla="*/ 19 w 52"/>
                <a:gd name="T51" fmla="*/ 19 h 34"/>
                <a:gd name="T52" fmla="*/ 18 w 52"/>
                <a:gd name="T53" fmla="*/ 19 h 34"/>
                <a:gd name="T54" fmla="*/ 4 w 52"/>
                <a:gd name="T55" fmla="*/ 14 h 34"/>
                <a:gd name="T56" fmla="*/ 2 w 52"/>
                <a:gd name="T57" fmla="*/ 12 h 34"/>
                <a:gd name="T58" fmla="*/ 3 w 52"/>
                <a:gd name="T59" fmla="*/ 20 h 34"/>
                <a:gd name="T60" fmla="*/ 13 w 52"/>
                <a:gd name="T61" fmla="*/ 23 h 34"/>
                <a:gd name="T62" fmla="*/ 13 w 52"/>
                <a:gd name="T63" fmla="*/ 24 h 34"/>
                <a:gd name="T64" fmla="*/ 9 w 52"/>
                <a:gd name="T65" fmla="*/ 27 h 34"/>
                <a:gd name="T66" fmla="*/ 4 w 52"/>
                <a:gd name="T67" fmla="*/ 26 h 34"/>
                <a:gd name="T68" fmla="*/ 9 w 52"/>
                <a:gd name="T69" fmla="*/ 33 h 34"/>
                <a:gd name="T70" fmla="*/ 10 w 52"/>
                <a:gd name="T71" fmla="*/ 34 h 34"/>
                <a:gd name="T72" fmla="*/ 18 w 52"/>
                <a:gd name="T73" fmla="*/ 28 h 34"/>
                <a:gd name="T74" fmla="*/ 23 w 52"/>
                <a:gd name="T75" fmla="*/ 28 h 34"/>
                <a:gd name="T76" fmla="*/ 22 w 52"/>
                <a:gd name="T77" fmla="*/ 23 h 34"/>
                <a:gd name="T78" fmla="*/ 23 w 52"/>
                <a:gd name="T79" fmla="*/ 21 h 34"/>
                <a:gd name="T80" fmla="*/ 30 w 52"/>
                <a:gd name="T81" fmla="*/ 22 h 34"/>
                <a:gd name="T82" fmla="*/ 36 w 52"/>
                <a:gd name="T83" fmla="*/ 25 h 34"/>
                <a:gd name="T84" fmla="*/ 39 w 52"/>
                <a:gd name="T85" fmla="*/ 21 h 34"/>
                <a:gd name="T86" fmla="*/ 39 w 52"/>
                <a:gd name="T87" fmla="*/ 20 h 34"/>
                <a:gd name="T88" fmla="*/ 51 w 52"/>
                <a:gd name="T89" fmla="*/ 14 h 34"/>
                <a:gd name="T90" fmla="*/ 38 w 52"/>
                <a:gd name="T91" fmla="*/ 14 h 34"/>
                <a:gd name="T92" fmla="*/ 38 w 52"/>
                <a:gd name="T93" fmla="*/ 12 h 34"/>
                <a:gd name="T94" fmla="*/ 36 w 52"/>
                <a:gd name="T95" fmla="*/ 11 h 34"/>
                <a:gd name="T96" fmla="*/ 36 w 52"/>
                <a:gd name="T97" fmla="*/ 10 h 34"/>
                <a:gd name="T98" fmla="*/ 40 w 52"/>
                <a:gd name="T99" fmla="*/ 9 h 34"/>
                <a:gd name="T100" fmla="*/ 43 w 52"/>
                <a:gd name="T101" fmla="*/ 14 h 34"/>
                <a:gd name="T102" fmla="*/ 38 w 52"/>
                <a:gd name="T103" fmla="*/ 1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 h="34">
                  <a:moveTo>
                    <a:pt x="51" y="13"/>
                  </a:moveTo>
                  <a:cubicBezTo>
                    <a:pt x="51" y="12"/>
                    <a:pt x="51" y="12"/>
                    <a:pt x="51" y="12"/>
                  </a:cubicBezTo>
                  <a:cubicBezTo>
                    <a:pt x="51" y="11"/>
                    <a:pt x="51" y="11"/>
                    <a:pt x="51" y="10"/>
                  </a:cubicBezTo>
                  <a:cubicBezTo>
                    <a:pt x="51" y="10"/>
                    <a:pt x="50" y="10"/>
                    <a:pt x="50" y="10"/>
                  </a:cubicBezTo>
                  <a:cubicBezTo>
                    <a:pt x="49" y="10"/>
                    <a:pt x="49" y="10"/>
                    <a:pt x="49" y="10"/>
                  </a:cubicBezTo>
                  <a:cubicBezTo>
                    <a:pt x="48" y="10"/>
                    <a:pt x="48" y="10"/>
                    <a:pt x="48" y="10"/>
                  </a:cubicBezTo>
                  <a:cubicBezTo>
                    <a:pt x="48" y="9"/>
                    <a:pt x="48" y="9"/>
                    <a:pt x="48" y="9"/>
                  </a:cubicBezTo>
                  <a:cubicBezTo>
                    <a:pt x="48" y="9"/>
                    <a:pt x="48" y="9"/>
                    <a:pt x="48" y="9"/>
                  </a:cubicBezTo>
                  <a:cubicBezTo>
                    <a:pt x="47" y="8"/>
                    <a:pt x="47" y="8"/>
                    <a:pt x="47" y="8"/>
                  </a:cubicBezTo>
                  <a:cubicBezTo>
                    <a:pt x="47" y="8"/>
                    <a:pt x="47" y="8"/>
                    <a:pt x="47" y="8"/>
                  </a:cubicBezTo>
                  <a:cubicBezTo>
                    <a:pt x="48" y="8"/>
                    <a:pt x="48" y="8"/>
                    <a:pt x="48" y="8"/>
                  </a:cubicBezTo>
                  <a:cubicBezTo>
                    <a:pt x="48" y="7"/>
                    <a:pt x="49" y="7"/>
                    <a:pt x="50" y="7"/>
                  </a:cubicBezTo>
                  <a:cubicBezTo>
                    <a:pt x="50" y="7"/>
                    <a:pt x="50" y="7"/>
                    <a:pt x="50" y="7"/>
                  </a:cubicBezTo>
                  <a:cubicBezTo>
                    <a:pt x="50" y="7"/>
                    <a:pt x="50" y="7"/>
                    <a:pt x="50" y="7"/>
                  </a:cubicBezTo>
                  <a:cubicBezTo>
                    <a:pt x="51" y="6"/>
                    <a:pt x="52" y="4"/>
                    <a:pt x="52" y="2"/>
                  </a:cubicBezTo>
                  <a:cubicBezTo>
                    <a:pt x="52" y="2"/>
                    <a:pt x="51" y="2"/>
                    <a:pt x="50" y="2"/>
                  </a:cubicBezTo>
                  <a:cubicBezTo>
                    <a:pt x="49" y="2"/>
                    <a:pt x="48" y="2"/>
                    <a:pt x="46" y="3"/>
                  </a:cubicBezTo>
                  <a:cubicBezTo>
                    <a:pt x="46" y="3"/>
                    <a:pt x="45" y="3"/>
                    <a:pt x="44" y="3"/>
                  </a:cubicBezTo>
                  <a:cubicBezTo>
                    <a:pt x="43" y="3"/>
                    <a:pt x="43" y="3"/>
                    <a:pt x="43" y="3"/>
                  </a:cubicBezTo>
                  <a:cubicBezTo>
                    <a:pt x="41" y="2"/>
                    <a:pt x="41" y="2"/>
                    <a:pt x="36" y="0"/>
                  </a:cubicBezTo>
                  <a:cubicBezTo>
                    <a:pt x="36" y="0"/>
                    <a:pt x="36" y="0"/>
                    <a:pt x="36" y="1"/>
                  </a:cubicBezTo>
                  <a:cubicBezTo>
                    <a:pt x="35" y="1"/>
                    <a:pt x="35" y="2"/>
                    <a:pt x="36" y="3"/>
                  </a:cubicBezTo>
                  <a:cubicBezTo>
                    <a:pt x="36" y="3"/>
                    <a:pt x="36" y="3"/>
                    <a:pt x="36" y="3"/>
                  </a:cubicBezTo>
                  <a:cubicBezTo>
                    <a:pt x="36" y="3"/>
                    <a:pt x="36" y="3"/>
                    <a:pt x="36" y="3"/>
                  </a:cubicBezTo>
                  <a:cubicBezTo>
                    <a:pt x="36" y="3"/>
                    <a:pt x="36" y="3"/>
                    <a:pt x="36" y="3"/>
                  </a:cubicBezTo>
                  <a:cubicBezTo>
                    <a:pt x="35" y="4"/>
                    <a:pt x="35" y="4"/>
                    <a:pt x="35" y="4"/>
                  </a:cubicBezTo>
                  <a:cubicBezTo>
                    <a:pt x="35" y="4"/>
                    <a:pt x="35" y="4"/>
                    <a:pt x="35" y="4"/>
                  </a:cubicBezTo>
                  <a:cubicBezTo>
                    <a:pt x="35" y="4"/>
                    <a:pt x="35" y="4"/>
                    <a:pt x="35" y="4"/>
                  </a:cubicBezTo>
                  <a:cubicBezTo>
                    <a:pt x="35" y="4"/>
                    <a:pt x="35" y="4"/>
                    <a:pt x="35" y="4"/>
                  </a:cubicBezTo>
                  <a:cubicBezTo>
                    <a:pt x="35" y="4"/>
                    <a:pt x="35" y="5"/>
                    <a:pt x="35" y="5"/>
                  </a:cubicBezTo>
                  <a:cubicBezTo>
                    <a:pt x="35" y="5"/>
                    <a:pt x="35" y="5"/>
                    <a:pt x="35" y="5"/>
                  </a:cubicBezTo>
                  <a:cubicBezTo>
                    <a:pt x="35" y="6"/>
                    <a:pt x="35" y="6"/>
                    <a:pt x="35" y="6"/>
                  </a:cubicBezTo>
                  <a:cubicBezTo>
                    <a:pt x="34" y="7"/>
                    <a:pt x="34" y="7"/>
                    <a:pt x="34" y="7"/>
                  </a:cubicBezTo>
                  <a:cubicBezTo>
                    <a:pt x="34" y="7"/>
                    <a:pt x="34" y="7"/>
                    <a:pt x="34" y="7"/>
                  </a:cubicBezTo>
                  <a:cubicBezTo>
                    <a:pt x="34" y="7"/>
                    <a:pt x="34" y="7"/>
                    <a:pt x="34" y="7"/>
                  </a:cubicBezTo>
                  <a:cubicBezTo>
                    <a:pt x="34" y="6"/>
                    <a:pt x="34" y="6"/>
                    <a:pt x="34" y="6"/>
                  </a:cubicBezTo>
                  <a:cubicBezTo>
                    <a:pt x="33" y="6"/>
                    <a:pt x="33" y="6"/>
                    <a:pt x="32" y="5"/>
                  </a:cubicBezTo>
                  <a:cubicBezTo>
                    <a:pt x="32" y="5"/>
                    <a:pt x="32" y="5"/>
                    <a:pt x="32" y="5"/>
                  </a:cubicBezTo>
                  <a:cubicBezTo>
                    <a:pt x="31" y="5"/>
                    <a:pt x="31" y="5"/>
                    <a:pt x="30" y="5"/>
                  </a:cubicBezTo>
                  <a:cubicBezTo>
                    <a:pt x="30" y="6"/>
                    <a:pt x="30" y="6"/>
                    <a:pt x="30" y="6"/>
                  </a:cubicBezTo>
                  <a:cubicBezTo>
                    <a:pt x="30" y="7"/>
                    <a:pt x="30" y="7"/>
                    <a:pt x="30" y="7"/>
                  </a:cubicBezTo>
                  <a:cubicBezTo>
                    <a:pt x="30" y="7"/>
                    <a:pt x="30" y="8"/>
                    <a:pt x="28" y="9"/>
                  </a:cubicBezTo>
                  <a:cubicBezTo>
                    <a:pt x="27" y="8"/>
                    <a:pt x="27" y="8"/>
                    <a:pt x="27" y="8"/>
                  </a:cubicBezTo>
                  <a:cubicBezTo>
                    <a:pt x="26" y="8"/>
                    <a:pt x="26" y="9"/>
                    <a:pt x="26" y="9"/>
                  </a:cubicBezTo>
                  <a:cubicBezTo>
                    <a:pt x="26" y="10"/>
                    <a:pt x="26" y="10"/>
                    <a:pt x="28" y="10"/>
                  </a:cubicBezTo>
                  <a:cubicBezTo>
                    <a:pt x="29" y="10"/>
                    <a:pt x="29" y="11"/>
                    <a:pt x="30" y="11"/>
                  </a:cubicBezTo>
                  <a:cubicBezTo>
                    <a:pt x="30" y="11"/>
                    <a:pt x="30" y="11"/>
                    <a:pt x="30" y="11"/>
                  </a:cubicBezTo>
                  <a:cubicBezTo>
                    <a:pt x="31" y="11"/>
                    <a:pt x="31" y="11"/>
                    <a:pt x="31" y="11"/>
                  </a:cubicBezTo>
                  <a:cubicBezTo>
                    <a:pt x="32" y="11"/>
                    <a:pt x="32" y="11"/>
                    <a:pt x="32" y="11"/>
                  </a:cubicBezTo>
                  <a:cubicBezTo>
                    <a:pt x="33" y="11"/>
                    <a:pt x="33" y="11"/>
                    <a:pt x="33" y="11"/>
                  </a:cubicBezTo>
                  <a:cubicBezTo>
                    <a:pt x="33" y="12"/>
                    <a:pt x="33" y="12"/>
                    <a:pt x="33" y="12"/>
                  </a:cubicBezTo>
                  <a:cubicBezTo>
                    <a:pt x="31" y="12"/>
                    <a:pt x="31" y="12"/>
                    <a:pt x="31" y="12"/>
                  </a:cubicBezTo>
                  <a:cubicBezTo>
                    <a:pt x="31" y="12"/>
                    <a:pt x="31" y="13"/>
                    <a:pt x="30" y="13"/>
                  </a:cubicBezTo>
                  <a:cubicBezTo>
                    <a:pt x="30" y="14"/>
                    <a:pt x="30" y="14"/>
                    <a:pt x="30" y="14"/>
                  </a:cubicBezTo>
                  <a:cubicBezTo>
                    <a:pt x="29" y="15"/>
                    <a:pt x="29" y="15"/>
                    <a:pt x="29" y="15"/>
                  </a:cubicBezTo>
                  <a:cubicBezTo>
                    <a:pt x="29" y="14"/>
                    <a:pt x="29" y="14"/>
                    <a:pt x="29" y="14"/>
                  </a:cubicBezTo>
                  <a:cubicBezTo>
                    <a:pt x="28" y="14"/>
                    <a:pt x="27" y="14"/>
                    <a:pt x="26" y="14"/>
                  </a:cubicBezTo>
                  <a:cubicBezTo>
                    <a:pt x="24" y="13"/>
                    <a:pt x="24" y="13"/>
                    <a:pt x="24" y="13"/>
                  </a:cubicBezTo>
                  <a:cubicBezTo>
                    <a:pt x="22" y="13"/>
                    <a:pt x="18" y="12"/>
                    <a:pt x="15" y="11"/>
                  </a:cubicBezTo>
                  <a:cubicBezTo>
                    <a:pt x="15" y="11"/>
                    <a:pt x="14" y="11"/>
                    <a:pt x="13" y="11"/>
                  </a:cubicBezTo>
                  <a:cubicBezTo>
                    <a:pt x="12" y="10"/>
                    <a:pt x="12" y="10"/>
                    <a:pt x="12" y="10"/>
                  </a:cubicBezTo>
                  <a:cubicBezTo>
                    <a:pt x="11" y="11"/>
                    <a:pt x="11" y="11"/>
                    <a:pt x="11" y="11"/>
                  </a:cubicBezTo>
                  <a:cubicBezTo>
                    <a:pt x="12" y="11"/>
                    <a:pt x="12" y="12"/>
                    <a:pt x="13" y="12"/>
                  </a:cubicBezTo>
                  <a:cubicBezTo>
                    <a:pt x="13" y="12"/>
                    <a:pt x="13" y="12"/>
                    <a:pt x="13" y="12"/>
                  </a:cubicBezTo>
                  <a:cubicBezTo>
                    <a:pt x="14" y="13"/>
                    <a:pt x="14" y="15"/>
                    <a:pt x="16" y="16"/>
                  </a:cubicBezTo>
                  <a:cubicBezTo>
                    <a:pt x="17" y="16"/>
                    <a:pt x="18" y="16"/>
                    <a:pt x="20" y="16"/>
                  </a:cubicBezTo>
                  <a:cubicBezTo>
                    <a:pt x="23" y="16"/>
                    <a:pt x="28" y="17"/>
                    <a:pt x="31" y="19"/>
                  </a:cubicBezTo>
                  <a:cubicBezTo>
                    <a:pt x="32" y="20"/>
                    <a:pt x="32" y="20"/>
                    <a:pt x="32" y="20"/>
                  </a:cubicBezTo>
                  <a:cubicBezTo>
                    <a:pt x="32" y="20"/>
                    <a:pt x="32" y="20"/>
                    <a:pt x="32" y="20"/>
                  </a:cubicBezTo>
                  <a:cubicBezTo>
                    <a:pt x="32" y="20"/>
                    <a:pt x="32" y="20"/>
                    <a:pt x="32" y="20"/>
                  </a:cubicBezTo>
                  <a:cubicBezTo>
                    <a:pt x="32" y="20"/>
                    <a:pt x="32" y="20"/>
                    <a:pt x="32" y="20"/>
                  </a:cubicBezTo>
                  <a:cubicBezTo>
                    <a:pt x="31" y="20"/>
                    <a:pt x="31" y="20"/>
                    <a:pt x="31" y="20"/>
                  </a:cubicBezTo>
                  <a:cubicBezTo>
                    <a:pt x="30" y="20"/>
                    <a:pt x="30" y="21"/>
                    <a:pt x="30" y="21"/>
                  </a:cubicBezTo>
                  <a:cubicBezTo>
                    <a:pt x="29" y="21"/>
                    <a:pt x="29" y="21"/>
                    <a:pt x="29" y="21"/>
                  </a:cubicBezTo>
                  <a:cubicBezTo>
                    <a:pt x="26" y="20"/>
                    <a:pt x="26" y="20"/>
                    <a:pt x="24" y="20"/>
                  </a:cubicBezTo>
                  <a:cubicBezTo>
                    <a:pt x="23" y="19"/>
                    <a:pt x="22" y="18"/>
                    <a:pt x="21" y="18"/>
                  </a:cubicBezTo>
                  <a:cubicBezTo>
                    <a:pt x="21" y="18"/>
                    <a:pt x="20" y="19"/>
                    <a:pt x="19" y="19"/>
                  </a:cubicBezTo>
                  <a:cubicBezTo>
                    <a:pt x="19" y="19"/>
                    <a:pt x="19" y="19"/>
                    <a:pt x="19" y="19"/>
                  </a:cubicBezTo>
                  <a:cubicBezTo>
                    <a:pt x="19" y="19"/>
                    <a:pt x="19" y="19"/>
                    <a:pt x="19" y="19"/>
                  </a:cubicBezTo>
                  <a:cubicBezTo>
                    <a:pt x="19" y="20"/>
                    <a:pt x="19" y="20"/>
                    <a:pt x="19" y="20"/>
                  </a:cubicBezTo>
                  <a:cubicBezTo>
                    <a:pt x="18" y="19"/>
                    <a:pt x="18" y="19"/>
                    <a:pt x="18" y="19"/>
                  </a:cubicBezTo>
                  <a:cubicBezTo>
                    <a:pt x="18" y="19"/>
                    <a:pt x="18" y="19"/>
                    <a:pt x="17" y="19"/>
                  </a:cubicBezTo>
                  <a:cubicBezTo>
                    <a:pt x="16" y="19"/>
                    <a:pt x="15" y="18"/>
                    <a:pt x="14" y="18"/>
                  </a:cubicBezTo>
                  <a:cubicBezTo>
                    <a:pt x="10" y="17"/>
                    <a:pt x="7" y="16"/>
                    <a:pt x="4" y="14"/>
                  </a:cubicBezTo>
                  <a:cubicBezTo>
                    <a:pt x="3" y="13"/>
                    <a:pt x="3" y="13"/>
                    <a:pt x="2" y="12"/>
                  </a:cubicBezTo>
                  <a:cubicBezTo>
                    <a:pt x="2" y="12"/>
                    <a:pt x="2" y="12"/>
                    <a:pt x="2" y="12"/>
                  </a:cubicBezTo>
                  <a:cubicBezTo>
                    <a:pt x="2" y="12"/>
                    <a:pt x="2" y="12"/>
                    <a:pt x="2" y="12"/>
                  </a:cubicBezTo>
                  <a:cubicBezTo>
                    <a:pt x="2" y="11"/>
                    <a:pt x="2" y="11"/>
                    <a:pt x="2" y="11"/>
                  </a:cubicBezTo>
                  <a:cubicBezTo>
                    <a:pt x="1" y="11"/>
                    <a:pt x="1" y="12"/>
                    <a:pt x="0" y="12"/>
                  </a:cubicBezTo>
                  <a:cubicBezTo>
                    <a:pt x="0" y="14"/>
                    <a:pt x="2" y="19"/>
                    <a:pt x="3" y="20"/>
                  </a:cubicBezTo>
                  <a:cubicBezTo>
                    <a:pt x="4" y="20"/>
                    <a:pt x="5" y="21"/>
                    <a:pt x="6" y="21"/>
                  </a:cubicBezTo>
                  <a:cubicBezTo>
                    <a:pt x="8" y="21"/>
                    <a:pt x="11" y="22"/>
                    <a:pt x="12" y="23"/>
                  </a:cubicBezTo>
                  <a:cubicBezTo>
                    <a:pt x="13" y="23"/>
                    <a:pt x="13" y="23"/>
                    <a:pt x="13" y="23"/>
                  </a:cubicBezTo>
                  <a:cubicBezTo>
                    <a:pt x="13" y="23"/>
                    <a:pt x="13" y="23"/>
                    <a:pt x="13" y="23"/>
                  </a:cubicBezTo>
                  <a:cubicBezTo>
                    <a:pt x="13" y="23"/>
                    <a:pt x="13" y="23"/>
                    <a:pt x="13" y="23"/>
                  </a:cubicBezTo>
                  <a:cubicBezTo>
                    <a:pt x="13" y="24"/>
                    <a:pt x="13" y="24"/>
                    <a:pt x="13" y="24"/>
                  </a:cubicBezTo>
                  <a:cubicBezTo>
                    <a:pt x="12" y="25"/>
                    <a:pt x="11" y="26"/>
                    <a:pt x="10" y="26"/>
                  </a:cubicBezTo>
                  <a:cubicBezTo>
                    <a:pt x="10" y="27"/>
                    <a:pt x="10" y="27"/>
                    <a:pt x="10" y="27"/>
                  </a:cubicBezTo>
                  <a:cubicBezTo>
                    <a:pt x="10" y="27"/>
                    <a:pt x="9" y="27"/>
                    <a:pt x="9" y="27"/>
                  </a:cubicBezTo>
                  <a:cubicBezTo>
                    <a:pt x="9" y="27"/>
                    <a:pt x="9" y="27"/>
                    <a:pt x="9" y="27"/>
                  </a:cubicBezTo>
                  <a:cubicBezTo>
                    <a:pt x="9" y="28"/>
                    <a:pt x="8" y="28"/>
                    <a:pt x="8" y="28"/>
                  </a:cubicBezTo>
                  <a:cubicBezTo>
                    <a:pt x="7" y="28"/>
                    <a:pt x="5" y="27"/>
                    <a:pt x="4" y="26"/>
                  </a:cubicBezTo>
                  <a:cubicBezTo>
                    <a:pt x="4" y="26"/>
                    <a:pt x="3" y="26"/>
                    <a:pt x="3" y="26"/>
                  </a:cubicBezTo>
                  <a:cubicBezTo>
                    <a:pt x="3" y="26"/>
                    <a:pt x="3" y="26"/>
                    <a:pt x="3" y="26"/>
                  </a:cubicBezTo>
                  <a:cubicBezTo>
                    <a:pt x="4" y="29"/>
                    <a:pt x="6" y="31"/>
                    <a:pt x="9" y="33"/>
                  </a:cubicBezTo>
                  <a:cubicBezTo>
                    <a:pt x="9" y="34"/>
                    <a:pt x="9" y="34"/>
                    <a:pt x="9" y="34"/>
                  </a:cubicBezTo>
                  <a:cubicBezTo>
                    <a:pt x="10" y="34"/>
                    <a:pt x="10" y="34"/>
                    <a:pt x="10" y="34"/>
                  </a:cubicBezTo>
                  <a:cubicBezTo>
                    <a:pt x="10" y="34"/>
                    <a:pt x="10" y="34"/>
                    <a:pt x="10" y="34"/>
                  </a:cubicBezTo>
                  <a:cubicBezTo>
                    <a:pt x="12" y="34"/>
                    <a:pt x="15" y="31"/>
                    <a:pt x="16" y="29"/>
                  </a:cubicBezTo>
                  <a:cubicBezTo>
                    <a:pt x="16" y="29"/>
                    <a:pt x="17" y="28"/>
                    <a:pt x="17" y="28"/>
                  </a:cubicBezTo>
                  <a:cubicBezTo>
                    <a:pt x="18" y="28"/>
                    <a:pt x="18" y="28"/>
                    <a:pt x="18" y="28"/>
                  </a:cubicBezTo>
                  <a:cubicBezTo>
                    <a:pt x="19" y="27"/>
                    <a:pt x="19" y="27"/>
                    <a:pt x="19" y="27"/>
                  </a:cubicBezTo>
                  <a:cubicBezTo>
                    <a:pt x="19" y="27"/>
                    <a:pt x="19" y="27"/>
                    <a:pt x="19" y="27"/>
                  </a:cubicBezTo>
                  <a:cubicBezTo>
                    <a:pt x="21" y="27"/>
                    <a:pt x="22" y="27"/>
                    <a:pt x="23" y="28"/>
                  </a:cubicBezTo>
                  <a:cubicBezTo>
                    <a:pt x="24" y="28"/>
                    <a:pt x="25" y="26"/>
                    <a:pt x="25" y="25"/>
                  </a:cubicBezTo>
                  <a:cubicBezTo>
                    <a:pt x="25" y="25"/>
                    <a:pt x="25" y="25"/>
                    <a:pt x="25" y="25"/>
                  </a:cubicBezTo>
                  <a:cubicBezTo>
                    <a:pt x="24" y="24"/>
                    <a:pt x="23" y="23"/>
                    <a:pt x="22" y="23"/>
                  </a:cubicBezTo>
                  <a:cubicBezTo>
                    <a:pt x="22" y="23"/>
                    <a:pt x="22" y="23"/>
                    <a:pt x="22" y="23"/>
                  </a:cubicBezTo>
                  <a:cubicBezTo>
                    <a:pt x="22" y="22"/>
                    <a:pt x="22" y="22"/>
                    <a:pt x="22" y="22"/>
                  </a:cubicBezTo>
                  <a:cubicBezTo>
                    <a:pt x="23" y="21"/>
                    <a:pt x="23" y="21"/>
                    <a:pt x="23" y="21"/>
                  </a:cubicBezTo>
                  <a:cubicBezTo>
                    <a:pt x="23" y="20"/>
                    <a:pt x="23" y="20"/>
                    <a:pt x="23" y="20"/>
                  </a:cubicBezTo>
                  <a:cubicBezTo>
                    <a:pt x="24" y="20"/>
                    <a:pt x="24" y="20"/>
                    <a:pt x="24" y="20"/>
                  </a:cubicBezTo>
                  <a:cubicBezTo>
                    <a:pt x="26" y="21"/>
                    <a:pt x="28" y="22"/>
                    <a:pt x="30" y="22"/>
                  </a:cubicBezTo>
                  <a:cubicBezTo>
                    <a:pt x="32" y="23"/>
                    <a:pt x="32" y="23"/>
                    <a:pt x="32" y="23"/>
                  </a:cubicBezTo>
                  <a:cubicBezTo>
                    <a:pt x="33" y="23"/>
                    <a:pt x="33" y="23"/>
                    <a:pt x="33" y="23"/>
                  </a:cubicBezTo>
                  <a:cubicBezTo>
                    <a:pt x="34" y="24"/>
                    <a:pt x="35" y="25"/>
                    <a:pt x="36" y="25"/>
                  </a:cubicBezTo>
                  <a:cubicBezTo>
                    <a:pt x="36" y="25"/>
                    <a:pt x="37" y="25"/>
                    <a:pt x="37" y="25"/>
                  </a:cubicBezTo>
                  <a:cubicBezTo>
                    <a:pt x="38" y="23"/>
                    <a:pt x="39" y="22"/>
                    <a:pt x="39" y="21"/>
                  </a:cubicBezTo>
                  <a:cubicBezTo>
                    <a:pt x="39" y="21"/>
                    <a:pt x="39" y="21"/>
                    <a:pt x="39" y="21"/>
                  </a:cubicBezTo>
                  <a:cubicBezTo>
                    <a:pt x="39" y="21"/>
                    <a:pt x="40" y="21"/>
                    <a:pt x="40" y="21"/>
                  </a:cubicBezTo>
                  <a:cubicBezTo>
                    <a:pt x="39" y="21"/>
                    <a:pt x="39" y="21"/>
                    <a:pt x="39" y="21"/>
                  </a:cubicBezTo>
                  <a:cubicBezTo>
                    <a:pt x="39" y="20"/>
                    <a:pt x="39" y="20"/>
                    <a:pt x="39" y="20"/>
                  </a:cubicBezTo>
                  <a:cubicBezTo>
                    <a:pt x="39" y="20"/>
                    <a:pt x="40" y="20"/>
                    <a:pt x="40" y="20"/>
                  </a:cubicBezTo>
                  <a:cubicBezTo>
                    <a:pt x="43" y="19"/>
                    <a:pt x="47" y="17"/>
                    <a:pt x="50" y="16"/>
                  </a:cubicBezTo>
                  <a:cubicBezTo>
                    <a:pt x="51" y="15"/>
                    <a:pt x="52" y="15"/>
                    <a:pt x="51" y="14"/>
                  </a:cubicBezTo>
                  <a:cubicBezTo>
                    <a:pt x="51" y="13"/>
                    <a:pt x="51" y="13"/>
                    <a:pt x="51" y="13"/>
                  </a:cubicBezTo>
                  <a:moveTo>
                    <a:pt x="37" y="15"/>
                  </a:moveTo>
                  <a:cubicBezTo>
                    <a:pt x="38" y="14"/>
                    <a:pt x="38" y="14"/>
                    <a:pt x="38" y="14"/>
                  </a:cubicBezTo>
                  <a:cubicBezTo>
                    <a:pt x="39" y="13"/>
                    <a:pt x="39" y="13"/>
                    <a:pt x="39" y="13"/>
                  </a:cubicBezTo>
                  <a:cubicBezTo>
                    <a:pt x="39" y="13"/>
                    <a:pt x="39" y="12"/>
                    <a:pt x="38" y="12"/>
                  </a:cubicBezTo>
                  <a:cubicBezTo>
                    <a:pt x="38" y="12"/>
                    <a:pt x="38" y="12"/>
                    <a:pt x="38" y="12"/>
                  </a:cubicBezTo>
                  <a:cubicBezTo>
                    <a:pt x="38" y="12"/>
                    <a:pt x="38" y="12"/>
                    <a:pt x="38" y="12"/>
                  </a:cubicBezTo>
                  <a:cubicBezTo>
                    <a:pt x="37" y="12"/>
                    <a:pt x="37" y="12"/>
                    <a:pt x="37" y="12"/>
                  </a:cubicBezTo>
                  <a:cubicBezTo>
                    <a:pt x="36" y="11"/>
                    <a:pt x="36" y="11"/>
                    <a:pt x="36" y="11"/>
                  </a:cubicBezTo>
                  <a:cubicBezTo>
                    <a:pt x="36" y="11"/>
                    <a:pt x="36" y="11"/>
                    <a:pt x="36" y="11"/>
                  </a:cubicBezTo>
                  <a:cubicBezTo>
                    <a:pt x="37" y="10"/>
                    <a:pt x="37" y="10"/>
                    <a:pt x="37" y="10"/>
                  </a:cubicBezTo>
                  <a:cubicBezTo>
                    <a:pt x="36" y="10"/>
                    <a:pt x="36" y="10"/>
                    <a:pt x="36" y="10"/>
                  </a:cubicBezTo>
                  <a:cubicBezTo>
                    <a:pt x="37" y="10"/>
                    <a:pt x="37" y="10"/>
                    <a:pt x="37" y="10"/>
                  </a:cubicBezTo>
                  <a:cubicBezTo>
                    <a:pt x="40" y="9"/>
                    <a:pt x="40" y="9"/>
                    <a:pt x="40" y="9"/>
                  </a:cubicBezTo>
                  <a:cubicBezTo>
                    <a:pt x="40" y="9"/>
                    <a:pt x="40" y="9"/>
                    <a:pt x="40" y="9"/>
                  </a:cubicBezTo>
                  <a:cubicBezTo>
                    <a:pt x="41" y="9"/>
                    <a:pt x="41" y="9"/>
                    <a:pt x="41" y="9"/>
                  </a:cubicBezTo>
                  <a:cubicBezTo>
                    <a:pt x="41" y="10"/>
                    <a:pt x="43" y="11"/>
                    <a:pt x="43" y="13"/>
                  </a:cubicBezTo>
                  <a:cubicBezTo>
                    <a:pt x="43" y="14"/>
                    <a:pt x="43" y="14"/>
                    <a:pt x="43" y="14"/>
                  </a:cubicBezTo>
                  <a:cubicBezTo>
                    <a:pt x="42" y="15"/>
                    <a:pt x="40" y="16"/>
                    <a:pt x="38" y="16"/>
                  </a:cubicBezTo>
                  <a:cubicBezTo>
                    <a:pt x="38" y="16"/>
                    <a:pt x="38" y="16"/>
                    <a:pt x="38" y="16"/>
                  </a:cubicBezTo>
                  <a:cubicBezTo>
                    <a:pt x="38" y="15"/>
                    <a:pt x="38" y="15"/>
                    <a:pt x="38" y="15"/>
                  </a:cubicBezTo>
                  <a:cubicBezTo>
                    <a:pt x="37" y="15"/>
                    <a:pt x="37" y="15"/>
                    <a:pt x="37" y="15"/>
                  </a:cubicBez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70" name="Freeform 138"/>
            <p:cNvSpPr/>
            <p:nvPr userDrawn="1"/>
          </p:nvSpPr>
          <p:spPr bwMode="auto">
            <a:xfrm>
              <a:off x="1239" y="750"/>
              <a:ext cx="10" cy="19"/>
            </a:xfrm>
            <a:custGeom>
              <a:avLst/>
              <a:gdLst>
                <a:gd name="T0" fmla="*/ 2 w 8"/>
                <a:gd name="T1" fmla="*/ 15 h 15"/>
                <a:gd name="T2" fmla="*/ 0 w 8"/>
                <a:gd name="T3" fmla="*/ 14 h 15"/>
                <a:gd name="T4" fmla="*/ 2 w 8"/>
                <a:gd name="T5" fmla="*/ 9 h 15"/>
                <a:gd name="T6" fmla="*/ 3 w 8"/>
                <a:gd name="T7" fmla="*/ 8 h 15"/>
                <a:gd name="T8" fmla="*/ 3 w 8"/>
                <a:gd name="T9" fmla="*/ 8 h 15"/>
                <a:gd name="T10" fmla="*/ 3 w 8"/>
                <a:gd name="T11" fmla="*/ 7 h 15"/>
                <a:gd name="T12" fmla="*/ 4 w 8"/>
                <a:gd name="T13" fmla="*/ 5 h 15"/>
                <a:gd name="T14" fmla="*/ 5 w 8"/>
                <a:gd name="T15" fmla="*/ 4 h 15"/>
                <a:gd name="T16" fmla="*/ 7 w 8"/>
                <a:gd name="T17" fmla="*/ 0 h 15"/>
                <a:gd name="T18" fmla="*/ 8 w 8"/>
                <a:gd name="T19" fmla="*/ 1 h 15"/>
                <a:gd name="T20" fmla="*/ 8 w 8"/>
                <a:gd name="T21" fmla="*/ 2 h 15"/>
                <a:gd name="T22" fmla="*/ 8 w 8"/>
                <a:gd name="T23" fmla="*/ 2 h 15"/>
                <a:gd name="T24" fmla="*/ 8 w 8"/>
                <a:gd name="T25" fmla="*/ 3 h 15"/>
                <a:gd name="T26" fmla="*/ 8 w 8"/>
                <a:gd name="T27" fmla="*/ 7 h 15"/>
                <a:gd name="T28" fmla="*/ 8 w 8"/>
                <a:gd name="T29" fmla="*/ 8 h 15"/>
                <a:gd name="T30" fmla="*/ 8 w 8"/>
                <a:gd name="T31" fmla="*/ 9 h 15"/>
                <a:gd name="T32" fmla="*/ 6 w 8"/>
                <a:gd name="T33" fmla="*/ 13 h 15"/>
                <a:gd name="T34" fmla="*/ 5 w 8"/>
                <a:gd name="T35" fmla="*/ 14 h 15"/>
                <a:gd name="T36" fmla="*/ 5 w 8"/>
                <a:gd name="T37" fmla="*/ 14 h 15"/>
                <a:gd name="T38" fmla="*/ 3 w 8"/>
                <a:gd name="T39" fmla="*/ 15 h 15"/>
                <a:gd name="T40" fmla="*/ 2 w 8"/>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 h="15">
                  <a:moveTo>
                    <a:pt x="2" y="15"/>
                  </a:moveTo>
                  <a:cubicBezTo>
                    <a:pt x="2" y="15"/>
                    <a:pt x="1" y="14"/>
                    <a:pt x="0" y="14"/>
                  </a:cubicBezTo>
                  <a:cubicBezTo>
                    <a:pt x="0" y="12"/>
                    <a:pt x="1" y="11"/>
                    <a:pt x="2" y="9"/>
                  </a:cubicBezTo>
                  <a:cubicBezTo>
                    <a:pt x="2" y="9"/>
                    <a:pt x="3" y="8"/>
                    <a:pt x="3" y="8"/>
                  </a:cubicBezTo>
                  <a:cubicBezTo>
                    <a:pt x="3" y="8"/>
                    <a:pt x="3" y="8"/>
                    <a:pt x="3" y="8"/>
                  </a:cubicBezTo>
                  <a:cubicBezTo>
                    <a:pt x="3" y="7"/>
                    <a:pt x="3" y="7"/>
                    <a:pt x="3" y="7"/>
                  </a:cubicBezTo>
                  <a:cubicBezTo>
                    <a:pt x="4" y="7"/>
                    <a:pt x="4" y="6"/>
                    <a:pt x="4" y="5"/>
                  </a:cubicBezTo>
                  <a:cubicBezTo>
                    <a:pt x="4" y="5"/>
                    <a:pt x="4" y="4"/>
                    <a:pt x="5" y="4"/>
                  </a:cubicBezTo>
                  <a:cubicBezTo>
                    <a:pt x="5" y="2"/>
                    <a:pt x="6" y="0"/>
                    <a:pt x="7" y="0"/>
                  </a:cubicBezTo>
                  <a:cubicBezTo>
                    <a:pt x="7" y="0"/>
                    <a:pt x="8" y="0"/>
                    <a:pt x="8" y="1"/>
                  </a:cubicBezTo>
                  <a:cubicBezTo>
                    <a:pt x="8" y="1"/>
                    <a:pt x="8" y="1"/>
                    <a:pt x="8" y="2"/>
                  </a:cubicBezTo>
                  <a:cubicBezTo>
                    <a:pt x="8" y="2"/>
                    <a:pt x="8" y="2"/>
                    <a:pt x="8" y="2"/>
                  </a:cubicBezTo>
                  <a:cubicBezTo>
                    <a:pt x="8" y="3"/>
                    <a:pt x="8" y="3"/>
                    <a:pt x="8" y="3"/>
                  </a:cubicBezTo>
                  <a:cubicBezTo>
                    <a:pt x="8" y="5"/>
                    <a:pt x="8" y="6"/>
                    <a:pt x="8" y="7"/>
                  </a:cubicBezTo>
                  <a:cubicBezTo>
                    <a:pt x="8" y="8"/>
                    <a:pt x="8" y="8"/>
                    <a:pt x="8" y="8"/>
                  </a:cubicBezTo>
                  <a:cubicBezTo>
                    <a:pt x="8" y="8"/>
                    <a:pt x="8" y="9"/>
                    <a:pt x="8" y="9"/>
                  </a:cubicBezTo>
                  <a:cubicBezTo>
                    <a:pt x="7" y="11"/>
                    <a:pt x="7" y="12"/>
                    <a:pt x="6" y="13"/>
                  </a:cubicBezTo>
                  <a:cubicBezTo>
                    <a:pt x="5" y="14"/>
                    <a:pt x="5" y="14"/>
                    <a:pt x="5" y="14"/>
                  </a:cubicBezTo>
                  <a:cubicBezTo>
                    <a:pt x="5" y="14"/>
                    <a:pt x="5" y="14"/>
                    <a:pt x="5" y="14"/>
                  </a:cubicBezTo>
                  <a:cubicBezTo>
                    <a:pt x="4" y="14"/>
                    <a:pt x="3" y="15"/>
                    <a:pt x="3" y="15"/>
                  </a:cubicBezTo>
                  <a:lnTo>
                    <a:pt x="2" y="15"/>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71" name="Freeform 139"/>
            <p:cNvSpPr/>
            <p:nvPr userDrawn="1"/>
          </p:nvSpPr>
          <p:spPr bwMode="auto">
            <a:xfrm>
              <a:off x="1239" y="750"/>
              <a:ext cx="10" cy="19"/>
            </a:xfrm>
            <a:custGeom>
              <a:avLst/>
              <a:gdLst>
                <a:gd name="T0" fmla="*/ 2 w 8"/>
                <a:gd name="T1" fmla="*/ 15 h 15"/>
                <a:gd name="T2" fmla="*/ 3 w 8"/>
                <a:gd name="T3" fmla="*/ 15 h 15"/>
                <a:gd name="T4" fmla="*/ 5 w 8"/>
                <a:gd name="T5" fmla="*/ 14 h 15"/>
                <a:gd name="T6" fmla="*/ 5 w 8"/>
                <a:gd name="T7" fmla="*/ 14 h 15"/>
                <a:gd name="T8" fmla="*/ 6 w 8"/>
                <a:gd name="T9" fmla="*/ 13 h 15"/>
                <a:gd name="T10" fmla="*/ 8 w 8"/>
                <a:gd name="T11" fmla="*/ 9 h 15"/>
                <a:gd name="T12" fmla="*/ 8 w 8"/>
                <a:gd name="T13" fmla="*/ 8 h 15"/>
                <a:gd name="T14" fmla="*/ 8 w 8"/>
                <a:gd name="T15" fmla="*/ 7 h 15"/>
                <a:gd name="T16" fmla="*/ 8 w 8"/>
                <a:gd name="T17" fmla="*/ 3 h 15"/>
                <a:gd name="T18" fmla="*/ 8 w 8"/>
                <a:gd name="T19" fmla="*/ 2 h 15"/>
                <a:gd name="T20" fmla="*/ 8 w 8"/>
                <a:gd name="T21" fmla="*/ 2 h 15"/>
                <a:gd name="T22" fmla="*/ 8 w 8"/>
                <a:gd name="T23" fmla="*/ 2 h 15"/>
                <a:gd name="T24" fmla="*/ 8 w 8"/>
                <a:gd name="T25" fmla="*/ 1 h 15"/>
                <a:gd name="T26" fmla="*/ 7 w 8"/>
                <a:gd name="T27" fmla="*/ 0 h 15"/>
                <a:gd name="T28" fmla="*/ 5 w 8"/>
                <a:gd name="T29" fmla="*/ 4 h 15"/>
                <a:gd name="T30" fmla="*/ 4 w 8"/>
                <a:gd name="T31" fmla="*/ 5 h 15"/>
                <a:gd name="T32" fmla="*/ 3 w 8"/>
                <a:gd name="T33" fmla="*/ 7 h 15"/>
                <a:gd name="T34" fmla="*/ 3 w 8"/>
                <a:gd name="T35" fmla="*/ 8 h 15"/>
                <a:gd name="T36" fmla="*/ 3 w 8"/>
                <a:gd name="T37" fmla="*/ 8 h 15"/>
                <a:gd name="T38" fmla="*/ 2 w 8"/>
                <a:gd name="T39" fmla="*/ 9 h 15"/>
                <a:gd name="T40" fmla="*/ 0 w 8"/>
                <a:gd name="T41" fmla="*/ 14 h 15"/>
                <a:gd name="T42" fmla="*/ 2 w 8"/>
                <a:gd name="T43"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 h="15">
                  <a:moveTo>
                    <a:pt x="2" y="15"/>
                  </a:moveTo>
                  <a:cubicBezTo>
                    <a:pt x="3" y="15"/>
                    <a:pt x="3" y="15"/>
                    <a:pt x="3" y="15"/>
                  </a:cubicBezTo>
                  <a:cubicBezTo>
                    <a:pt x="3" y="15"/>
                    <a:pt x="4" y="14"/>
                    <a:pt x="5" y="14"/>
                  </a:cubicBezTo>
                  <a:cubicBezTo>
                    <a:pt x="5" y="14"/>
                    <a:pt x="5" y="14"/>
                    <a:pt x="5" y="14"/>
                  </a:cubicBezTo>
                  <a:cubicBezTo>
                    <a:pt x="6" y="13"/>
                    <a:pt x="6" y="13"/>
                    <a:pt x="6" y="13"/>
                  </a:cubicBezTo>
                  <a:cubicBezTo>
                    <a:pt x="7" y="12"/>
                    <a:pt x="7" y="10"/>
                    <a:pt x="8" y="9"/>
                  </a:cubicBezTo>
                  <a:cubicBezTo>
                    <a:pt x="8" y="9"/>
                    <a:pt x="8" y="8"/>
                    <a:pt x="8" y="8"/>
                  </a:cubicBezTo>
                  <a:cubicBezTo>
                    <a:pt x="8" y="7"/>
                    <a:pt x="8" y="7"/>
                    <a:pt x="8" y="7"/>
                  </a:cubicBezTo>
                  <a:cubicBezTo>
                    <a:pt x="8" y="6"/>
                    <a:pt x="8" y="5"/>
                    <a:pt x="8" y="3"/>
                  </a:cubicBezTo>
                  <a:cubicBezTo>
                    <a:pt x="8" y="3"/>
                    <a:pt x="8" y="3"/>
                    <a:pt x="8" y="2"/>
                  </a:cubicBezTo>
                  <a:cubicBezTo>
                    <a:pt x="8" y="2"/>
                    <a:pt x="8" y="2"/>
                    <a:pt x="8" y="2"/>
                  </a:cubicBezTo>
                  <a:cubicBezTo>
                    <a:pt x="8" y="2"/>
                    <a:pt x="8" y="2"/>
                    <a:pt x="8" y="2"/>
                  </a:cubicBezTo>
                  <a:cubicBezTo>
                    <a:pt x="8" y="1"/>
                    <a:pt x="8" y="1"/>
                    <a:pt x="8" y="1"/>
                  </a:cubicBezTo>
                  <a:cubicBezTo>
                    <a:pt x="8" y="0"/>
                    <a:pt x="7" y="0"/>
                    <a:pt x="7" y="0"/>
                  </a:cubicBezTo>
                  <a:cubicBezTo>
                    <a:pt x="6" y="0"/>
                    <a:pt x="5" y="2"/>
                    <a:pt x="5" y="4"/>
                  </a:cubicBezTo>
                  <a:cubicBezTo>
                    <a:pt x="5" y="4"/>
                    <a:pt x="4" y="5"/>
                    <a:pt x="4" y="5"/>
                  </a:cubicBezTo>
                  <a:cubicBezTo>
                    <a:pt x="4" y="6"/>
                    <a:pt x="4" y="7"/>
                    <a:pt x="3" y="7"/>
                  </a:cubicBezTo>
                  <a:cubicBezTo>
                    <a:pt x="3" y="8"/>
                    <a:pt x="3" y="8"/>
                    <a:pt x="3" y="8"/>
                  </a:cubicBezTo>
                  <a:cubicBezTo>
                    <a:pt x="3" y="8"/>
                    <a:pt x="3" y="8"/>
                    <a:pt x="3" y="8"/>
                  </a:cubicBezTo>
                  <a:cubicBezTo>
                    <a:pt x="3" y="8"/>
                    <a:pt x="2" y="9"/>
                    <a:pt x="2" y="9"/>
                  </a:cubicBezTo>
                  <a:cubicBezTo>
                    <a:pt x="1" y="11"/>
                    <a:pt x="0" y="12"/>
                    <a:pt x="0" y="14"/>
                  </a:cubicBezTo>
                  <a:cubicBezTo>
                    <a:pt x="1" y="14"/>
                    <a:pt x="2" y="15"/>
                    <a:pt x="2" y="15"/>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72" name="Freeform 140"/>
            <p:cNvSpPr/>
            <p:nvPr userDrawn="1"/>
          </p:nvSpPr>
          <p:spPr bwMode="auto">
            <a:xfrm>
              <a:off x="1229" y="757"/>
              <a:ext cx="7" cy="9"/>
            </a:xfrm>
            <a:custGeom>
              <a:avLst/>
              <a:gdLst>
                <a:gd name="T0" fmla="*/ 3 w 6"/>
                <a:gd name="T1" fmla="*/ 7 h 7"/>
                <a:gd name="T2" fmla="*/ 1 w 6"/>
                <a:gd name="T3" fmla="*/ 6 h 7"/>
                <a:gd name="T4" fmla="*/ 5 w 6"/>
                <a:gd name="T5" fmla="*/ 0 h 7"/>
                <a:gd name="T6" fmla="*/ 6 w 6"/>
                <a:gd name="T7" fmla="*/ 1 h 7"/>
                <a:gd name="T8" fmla="*/ 5 w 6"/>
                <a:gd name="T9" fmla="*/ 5 h 7"/>
                <a:gd name="T10" fmla="*/ 3 w 6"/>
                <a:gd name="T11" fmla="*/ 7 h 7"/>
              </a:gdLst>
              <a:ahLst/>
              <a:cxnLst>
                <a:cxn ang="0">
                  <a:pos x="T0" y="T1"/>
                </a:cxn>
                <a:cxn ang="0">
                  <a:pos x="T2" y="T3"/>
                </a:cxn>
                <a:cxn ang="0">
                  <a:pos x="T4" y="T5"/>
                </a:cxn>
                <a:cxn ang="0">
                  <a:pos x="T6" y="T7"/>
                </a:cxn>
                <a:cxn ang="0">
                  <a:pos x="T8" y="T9"/>
                </a:cxn>
                <a:cxn ang="0">
                  <a:pos x="T10" y="T11"/>
                </a:cxn>
              </a:cxnLst>
              <a:rect l="0" t="0" r="r" b="b"/>
              <a:pathLst>
                <a:path w="6" h="7">
                  <a:moveTo>
                    <a:pt x="3" y="7"/>
                  </a:moveTo>
                  <a:cubicBezTo>
                    <a:pt x="3" y="7"/>
                    <a:pt x="2" y="6"/>
                    <a:pt x="1" y="6"/>
                  </a:cubicBezTo>
                  <a:cubicBezTo>
                    <a:pt x="0" y="3"/>
                    <a:pt x="4" y="0"/>
                    <a:pt x="5" y="0"/>
                  </a:cubicBezTo>
                  <a:cubicBezTo>
                    <a:pt x="5" y="0"/>
                    <a:pt x="6" y="1"/>
                    <a:pt x="6" y="1"/>
                  </a:cubicBezTo>
                  <a:cubicBezTo>
                    <a:pt x="6" y="2"/>
                    <a:pt x="6" y="4"/>
                    <a:pt x="5" y="5"/>
                  </a:cubicBezTo>
                  <a:cubicBezTo>
                    <a:pt x="4" y="6"/>
                    <a:pt x="3" y="7"/>
                    <a:pt x="3" y="7"/>
                  </a:cubicBez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73" name="Freeform 141"/>
            <p:cNvSpPr/>
            <p:nvPr userDrawn="1"/>
          </p:nvSpPr>
          <p:spPr bwMode="auto">
            <a:xfrm>
              <a:off x="1229" y="757"/>
              <a:ext cx="7" cy="9"/>
            </a:xfrm>
            <a:custGeom>
              <a:avLst/>
              <a:gdLst>
                <a:gd name="T0" fmla="*/ 3 w 6"/>
                <a:gd name="T1" fmla="*/ 7 h 7"/>
                <a:gd name="T2" fmla="*/ 3 w 6"/>
                <a:gd name="T3" fmla="*/ 7 h 7"/>
                <a:gd name="T4" fmla="*/ 5 w 6"/>
                <a:gd name="T5" fmla="*/ 5 h 7"/>
                <a:gd name="T6" fmla="*/ 6 w 6"/>
                <a:gd name="T7" fmla="*/ 1 h 7"/>
                <a:gd name="T8" fmla="*/ 5 w 6"/>
                <a:gd name="T9" fmla="*/ 0 h 7"/>
                <a:gd name="T10" fmla="*/ 1 w 6"/>
                <a:gd name="T11" fmla="*/ 6 h 7"/>
                <a:gd name="T12" fmla="*/ 3 w 6"/>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6" h="7">
                  <a:moveTo>
                    <a:pt x="3" y="7"/>
                  </a:moveTo>
                  <a:cubicBezTo>
                    <a:pt x="3" y="7"/>
                    <a:pt x="3" y="7"/>
                    <a:pt x="3" y="7"/>
                  </a:cubicBezTo>
                  <a:cubicBezTo>
                    <a:pt x="3" y="7"/>
                    <a:pt x="4" y="6"/>
                    <a:pt x="5" y="5"/>
                  </a:cubicBezTo>
                  <a:cubicBezTo>
                    <a:pt x="6" y="4"/>
                    <a:pt x="6" y="2"/>
                    <a:pt x="6" y="1"/>
                  </a:cubicBezTo>
                  <a:cubicBezTo>
                    <a:pt x="6" y="1"/>
                    <a:pt x="5" y="0"/>
                    <a:pt x="5" y="0"/>
                  </a:cubicBezTo>
                  <a:cubicBezTo>
                    <a:pt x="4" y="0"/>
                    <a:pt x="0" y="3"/>
                    <a:pt x="1" y="6"/>
                  </a:cubicBezTo>
                  <a:cubicBezTo>
                    <a:pt x="2" y="6"/>
                    <a:pt x="3" y="7"/>
                    <a:pt x="3" y="7"/>
                  </a:cubicBezTo>
                </a:path>
              </a:pathLst>
            </a:custGeom>
            <a:solidFill>
              <a:srgbClr val="003F88"/>
            </a:solidFill>
            <a:ln>
              <a:noFill/>
            </a:ln>
          </p:spPr>
          <p:txBody>
            <a:bodyPr vert="horz" wrap="square" lIns="91440" tIns="45720" rIns="91440" bIns="45720" numCol="1" anchor="t" anchorCtr="0" compatLnSpc="1"/>
            <a:lstStyle/>
            <a:p>
              <a:endParaRPr lang="zh-CN" altLang="en-US"/>
            </a:p>
          </p:txBody>
        </p:sp>
      </p:grpSp>
      <p:cxnSp>
        <p:nvCxnSpPr>
          <p:cNvPr id="76" name="直接连接符 75"/>
          <p:cNvCxnSpPr/>
          <p:nvPr userDrawn="1"/>
        </p:nvCxnSpPr>
        <p:spPr>
          <a:xfrm>
            <a:off x="719833" y="803088"/>
            <a:ext cx="10790378" cy="0"/>
          </a:xfrm>
          <a:prstGeom prst="line">
            <a:avLst/>
          </a:prstGeom>
          <a:ln w="38100">
            <a:solidFill>
              <a:srgbClr val="04428A"/>
            </a:solidFill>
          </a:ln>
        </p:spPr>
        <p:style>
          <a:lnRef idx="1">
            <a:schemeClr val="accent1"/>
          </a:lnRef>
          <a:fillRef idx="0">
            <a:schemeClr val="accent1"/>
          </a:fillRef>
          <a:effectRef idx="0">
            <a:schemeClr val="accent1"/>
          </a:effectRef>
          <a:fontRef idx="minor">
            <a:schemeClr val="tx1"/>
          </a:fontRef>
        </p:style>
      </p:cxnSp>
      <p:sp>
        <p:nvSpPr>
          <p:cNvPr id="77" name="矩形 76"/>
          <p:cNvSpPr/>
          <p:nvPr userDrawn="1"/>
        </p:nvSpPr>
        <p:spPr>
          <a:xfrm>
            <a:off x="304647" y="-5194"/>
            <a:ext cx="236852" cy="808281"/>
          </a:xfrm>
          <a:prstGeom prst="rect">
            <a:avLst/>
          </a:prstGeom>
          <a:solidFill>
            <a:srgbClr val="0442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44353" y="6468880"/>
            <a:ext cx="1865182" cy="39267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2" name="标题 1"/>
          <p:cNvSpPr>
            <a:spLocks noGrp="1"/>
          </p:cNvSpPr>
          <p:nvPr>
            <p:ph type="title"/>
          </p:nvPr>
        </p:nvSpPr>
        <p:spPr>
          <a:xfrm>
            <a:off x="319208" y="202011"/>
            <a:ext cx="8655953" cy="601075"/>
          </a:xfrm>
          <a:prstGeom prst="rect">
            <a:avLst/>
          </a:prstGeom>
        </p:spPr>
        <p:txBody>
          <a:bodyPr lIns="0" rIns="0" anchor="ctr">
            <a:normAutofit/>
          </a:bodyPr>
          <a:lstStyle>
            <a:lvl1pPr>
              <a:defRPr sz="2800" b="1">
                <a:latin typeface="方正粗雅宋简体" panose="02000000000000000000" pitchFamily="2" charset="-122"/>
                <a:ea typeface="方正粗雅宋简体" panose="02000000000000000000" pitchFamily="2" charset="-122"/>
              </a:defRPr>
            </a:lvl1pPr>
          </a:lstStyle>
          <a:p>
            <a:r>
              <a:rPr lang="zh-CN" altLang="en-US" dirty="0"/>
              <a:t>单击此处编辑母版标题样式</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9003382" y="6232973"/>
            <a:ext cx="2743200" cy="341761"/>
          </a:xfrm>
          <a:prstGeom prst="rect">
            <a:avLst/>
          </a:prstGeom>
        </p:spPr>
        <p:txBody>
          <a:bodyPr lIns="0" tIns="0" rIns="0" bIns="0" anchor="b"/>
          <a:lstStyle>
            <a:lvl1pPr algn="r">
              <a:defRPr sz="1600" b="1">
                <a:solidFill>
                  <a:schemeClr val="tx2"/>
                </a:solidFill>
              </a:defRPr>
            </a:lvl1pPr>
          </a:lstStyle>
          <a:p>
            <a:fld id="{1AAC388E-FA9E-4A2C-95EA-1F6B3A07935A}" type="slidenum">
              <a:rPr lang="zh-CN" altLang="en-US" smtClean="0"/>
              <a:t>‹#›</a:t>
            </a:fld>
            <a:endParaRPr lang="zh-CN" altLang="en-US"/>
          </a:p>
        </p:txBody>
      </p:sp>
      <p:grpSp>
        <p:nvGrpSpPr>
          <p:cNvPr id="3" name="Group 74"/>
          <p:cNvGrpSpPr>
            <a:grpSpLocks noChangeAspect="1"/>
          </p:cNvGrpSpPr>
          <p:nvPr userDrawn="1"/>
        </p:nvGrpSpPr>
        <p:grpSpPr bwMode="auto">
          <a:xfrm>
            <a:off x="9873198" y="224064"/>
            <a:ext cx="1873384" cy="521122"/>
            <a:chOff x="954" y="660"/>
            <a:chExt cx="1269" cy="353"/>
          </a:xfrm>
          <a:solidFill>
            <a:schemeClr val="tx2"/>
          </a:solidFill>
        </p:grpSpPr>
        <p:sp>
          <p:nvSpPr>
            <p:cNvPr id="5" name="Freeform 75"/>
            <p:cNvSpPr/>
            <p:nvPr userDrawn="1"/>
          </p:nvSpPr>
          <p:spPr bwMode="auto">
            <a:xfrm>
              <a:off x="1968" y="833"/>
              <a:ext cx="45" cy="46"/>
            </a:xfrm>
            <a:custGeom>
              <a:avLst/>
              <a:gdLst>
                <a:gd name="T0" fmla="*/ 10 w 36"/>
                <a:gd name="T1" fmla="*/ 35 h 37"/>
                <a:gd name="T2" fmla="*/ 6 w 36"/>
                <a:gd name="T3" fmla="*/ 25 h 37"/>
                <a:gd name="T4" fmla="*/ 0 w 36"/>
                <a:gd name="T5" fmla="*/ 11 h 37"/>
                <a:gd name="T6" fmla="*/ 23 w 36"/>
                <a:gd name="T7" fmla="*/ 4 h 37"/>
                <a:gd name="T8" fmla="*/ 28 w 36"/>
                <a:gd name="T9" fmla="*/ 9 h 37"/>
                <a:gd name="T10" fmla="*/ 30 w 36"/>
                <a:gd name="T11" fmla="*/ 29 h 37"/>
                <a:gd name="T12" fmla="*/ 10 w 36"/>
                <a:gd name="T13" fmla="*/ 35 h 37"/>
              </a:gdLst>
              <a:ahLst/>
              <a:cxnLst>
                <a:cxn ang="0">
                  <a:pos x="T0" y="T1"/>
                </a:cxn>
                <a:cxn ang="0">
                  <a:pos x="T2" y="T3"/>
                </a:cxn>
                <a:cxn ang="0">
                  <a:pos x="T4" y="T5"/>
                </a:cxn>
                <a:cxn ang="0">
                  <a:pos x="T6" y="T7"/>
                </a:cxn>
                <a:cxn ang="0">
                  <a:pos x="T8" y="T9"/>
                </a:cxn>
                <a:cxn ang="0">
                  <a:pos x="T10" y="T11"/>
                </a:cxn>
                <a:cxn ang="0">
                  <a:pos x="T12" y="T13"/>
                </a:cxn>
              </a:cxnLst>
              <a:rect l="0" t="0" r="r" b="b"/>
              <a:pathLst>
                <a:path w="36" h="37">
                  <a:moveTo>
                    <a:pt x="10" y="35"/>
                  </a:moveTo>
                  <a:cubicBezTo>
                    <a:pt x="3" y="34"/>
                    <a:pt x="7" y="31"/>
                    <a:pt x="6" y="25"/>
                  </a:cubicBezTo>
                  <a:cubicBezTo>
                    <a:pt x="5" y="20"/>
                    <a:pt x="0" y="14"/>
                    <a:pt x="0" y="11"/>
                  </a:cubicBezTo>
                  <a:cubicBezTo>
                    <a:pt x="1" y="0"/>
                    <a:pt x="15" y="0"/>
                    <a:pt x="23" y="4"/>
                  </a:cubicBezTo>
                  <a:cubicBezTo>
                    <a:pt x="25" y="4"/>
                    <a:pt x="26" y="7"/>
                    <a:pt x="28" y="9"/>
                  </a:cubicBezTo>
                  <a:cubicBezTo>
                    <a:pt x="32" y="14"/>
                    <a:pt x="36" y="23"/>
                    <a:pt x="30" y="29"/>
                  </a:cubicBezTo>
                  <a:cubicBezTo>
                    <a:pt x="25" y="34"/>
                    <a:pt x="17" y="37"/>
                    <a:pt x="10" y="3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6" name="Freeform 76"/>
            <p:cNvSpPr/>
            <p:nvPr userDrawn="1"/>
          </p:nvSpPr>
          <p:spPr bwMode="auto">
            <a:xfrm>
              <a:off x="1837" y="698"/>
              <a:ext cx="160" cy="165"/>
            </a:xfrm>
            <a:custGeom>
              <a:avLst/>
              <a:gdLst>
                <a:gd name="T0" fmla="*/ 33 w 129"/>
                <a:gd name="T1" fmla="*/ 133 h 133"/>
                <a:gd name="T2" fmla="*/ 32 w 129"/>
                <a:gd name="T3" fmla="*/ 133 h 133"/>
                <a:gd name="T4" fmla="*/ 33 w 129"/>
                <a:gd name="T5" fmla="*/ 130 h 133"/>
                <a:gd name="T6" fmla="*/ 55 w 129"/>
                <a:gd name="T7" fmla="*/ 116 h 133"/>
                <a:gd name="T8" fmla="*/ 67 w 129"/>
                <a:gd name="T9" fmla="*/ 99 h 133"/>
                <a:gd name="T10" fmla="*/ 25 w 129"/>
                <a:gd name="T11" fmla="*/ 115 h 133"/>
                <a:gd name="T12" fmla="*/ 8 w 129"/>
                <a:gd name="T13" fmla="*/ 108 h 133"/>
                <a:gd name="T14" fmla="*/ 8 w 129"/>
                <a:gd name="T15" fmla="*/ 107 h 133"/>
                <a:gd name="T16" fmla="*/ 8 w 129"/>
                <a:gd name="T17" fmla="*/ 92 h 133"/>
                <a:gd name="T18" fmla="*/ 60 w 129"/>
                <a:gd name="T19" fmla="*/ 80 h 133"/>
                <a:gd name="T20" fmla="*/ 75 w 129"/>
                <a:gd name="T21" fmla="*/ 72 h 133"/>
                <a:gd name="T22" fmla="*/ 77 w 129"/>
                <a:gd name="T23" fmla="*/ 14 h 133"/>
                <a:gd name="T24" fmla="*/ 99 w 129"/>
                <a:gd name="T25" fmla="*/ 16 h 133"/>
                <a:gd name="T26" fmla="*/ 103 w 129"/>
                <a:gd name="T27" fmla="*/ 21 h 133"/>
                <a:gd name="T28" fmla="*/ 104 w 129"/>
                <a:gd name="T29" fmla="*/ 21 h 133"/>
                <a:gd name="T30" fmla="*/ 103 w 129"/>
                <a:gd name="T31" fmla="*/ 35 h 133"/>
                <a:gd name="T32" fmla="*/ 98 w 129"/>
                <a:gd name="T33" fmla="*/ 65 h 133"/>
                <a:gd name="T34" fmla="*/ 126 w 129"/>
                <a:gd name="T35" fmla="*/ 54 h 133"/>
                <a:gd name="T36" fmla="*/ 123 w 129"/>
                <a:gd name="T37" fmla="*/ 69 h 133"/>
                <a:gd name="T38" fmla="*/ 95 w 129"/>
                <a:gd name="T39" fmla="*/ 81 h 133"/>
                <a:gd name="T40" fmla="*/ 82 w 129"/>
                <a:gd name="T41" fmla="*/ 111 h 133"/>
                <a:gd name="T42" fmla="*/ 75 w 129"/>
                <a:gd name="T43" fmla="*/ 118 h 133"/>
                <a:gd name="T44" fmla="*/ 56 w 129"/>
                <a:gd name="T45" fmla="*/ 128 h 133"/>
                <a:gd name="T46" fmla="*/ 33 w 129"/>
                <a:gd name="T47" fmla="*/ 13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9" h="133">
                  <a:moveTo>
                    <a:pt x="33" y="133"/>
                  </a:moveTo>
                  <a:cubicBezTo>
                    <a:pt x="33" y="133"/>
                    <a:pt x="33" y="133"/>
                    <a:pt x="32" y="133"/>
                  </a:cubicBezTo>
                  <a:cubicBezTo>
                    <a:pt x="32" y="132"/>
                    <a:pt x="32" y="131"/>
                    <a:pt x="33" y="130"/>
                  </a:cubicBezTo>
                  <a:cubicBezTo>
                    <a:pt x="35" y="130"/>
                    <a:pt x="55" y="117"/>
                    <a:pt x="55" y="116"/>
                  </a:cubicBezTo>
                  <a:cubicBezTo>
                    <a:pt x="60" y="111"/>
                    <a:pt x="66" y="106"/>
                    <a:pt x="67" y="99"/>
                  </a:cubicBezTo>
                  <a:cubicBezTo>
                    <a:pt x="53" y="104"/>
                    <a:pt x="40" y="114"/>
                    <a:pt x="25" y="115"/>
                  </a:cubicBezTo>
                  <a:cubicBezTo>
                    <a:pt x="18" y="113"/>
                    <a:pt x="13" y="110"/>
                    <a:pt x="8" y="108"/>
                  </a:cubicBezTo>
                  <a:cubicBezTo>
                    <a:pt x="8" y="107"/>
                    <a:pt x="8" y="107"/>
                    <a:pt x="8" y="107"/>
                  </a:cubicBezTo>
                  <a:cubicBezTo>
                    <a:pt x="1" y="102"/>
                    <a:pt x="0" y="95"/>
                    <a:pt x="8" y="92"/>
                  </a:cubicBezTo>
                  <a:cubicBezTo>
                    <a:pt x="23" y="96"/>
                    <a:pt x="46" y="85"/>
                    <a:pt x="60" y="80"/>
                  </a:cubicBezTo>
                  <a:cubicBezTo>
                    <a:pt x="63" y="78"/>
                    <a:pt x="72" y="75"/>
                    <a:pt x="75" y="72"/>
                  </a:cubicBezTo>
                  <a:cubicBezTo>
                    <a:pt x="78" y="52"/>
                    <a:pt x="76" y="33"/>
                    <a:pt x="77" y="14"/>
                  </a:cubicBezTo>
                  <a:cubicBezTo>
                    <a:pt x="82" y="0"/>
                    <a:pt x="90" y="10"/>
                    <a:pt x="99" y="16"/>
                  </a:cubicBezTo>
                  <a:cubicBezTo>
                    <a:pt x="99" y="18"/>
                    <a:pt x="101" y="19"/>
                    <a:pt x="103" y="21"/>
                  </a:cubicBezTo>
                  <a:cubicBezTo>
                    <a:pt x="103" y="21"/>
                    <a:pt x="103" y="21"/>
                    <a:pt x="104" y="21"/>
                  </a:cubicBezTo>
                  <a:cubicBezTo>
                    <a:pt x="107" y="27"/>
                    <a:pt x="108" y="30"/>
                    <a:pt x="103" y="35"/>
                  </a:cubicBezTo>
                  <a:cubicBezTo>
                    <a:pt x="99" y="44"/>
                    <a:pt x="97" y="54"/>
                    <a:pt x="98" y="65"/>
                  </a:cubicBezTo>
                  <a:cubicBezTo>
                    <a:pt x="108" y="63"/>
                    <a:pt x="114" y="55"/>
                    <a:pt x="126" y="54"/>
                  </a:cubicBezTo>
                  <a:cubicBezTo>
                    <a:pt x="129" y="60"/>
                    <a:pt x="128" y="65"/>
                    <a:pt x="123" y="69"/>
                  </a:cubicBezTo>
                  <a:cubicBezTo>
                    <a:pt x="114" y="73"/>
                    <a:pt x="105" y="77"/>
                    <a:pt x="95" y="81"/>
                  </a:cubicBezTo>
                  <a:cubicBezTo>
                    <a:pt x="93" y="91"/>
                    <a:pt x="89" y="103"/>
                    <a:pt x="82" y="111"/>
                  </a:cubicBezTo>
                  <a:cubicBezTo>
                    <a:pt x="81" y="113"/>
                    <a:pt x="76" y="117"/>
                    <a:pt x="75" y="118"/>
                  </a:cubicBezTo>
                  <a:cubicBezTo>
                    <a:pt x="69" y="122"/>
                    <a:pt x="63" y="126"/>
                    <a:pt x="56" y="128"/>
                  </a:cubicBezTo>
                  <a:cubicBezTo>
                    <a:pt x="37" y="133"/>
                    <a:pt x="37" y="133"/>
                    <a:pt x="33" y="1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7" name="Freeform 77"/>
            <p:cNvSpPr/>
            <p:nvPr userDrawn="1"/>
          </p:nvSpPr>
          <p:spPr bwMode="auto">
            <a:xfrm>
              <a:off x="1630" y="796"/>
              <a:ext cx="94" cy="110"/>
            </a:xfrm>
            <a:custGeom>
              <a:avLst/>
              <a:gdLst>
                <a:gd name="T0" fmla="*/ 17 w 76"/>
                <a:gd name="T1" fmla="*/ 88 h 88"/>
                <a:gd name="T2" fmla="*/ 0 w 76"/>
                <a:gd name="T3" fmla="*/ 70 h 88"/>
                <a:gd name="T4" fmla="*/ 2 w 76"/>
                <a:gd name="T5" fmla="*/ 65 h 88"/>
                <a:gd name="T6" fmla="*/ 50 w 76"/>
                <a:gd name="T7" fmla="*/ 26 h 88"/>
                <a:gd name="T8" fmla="*/ 65 w 76"/>
                <a:gd name="T9" fmla="*/ 5 h 88"/>
                <a:gd name="T10" fmla="*/ 66 w 76"/>
                <a:gd name="T11" fmla="*/ 4 h 88"/>
                <a:gd name="T12" fmla="*/ 66 w 76"/>
                <a:gd name="T13" fmla="*/ 4 h 88"/>
                <a:gd name="T14" fmla="*/ 76 w 76"/>
                <a:gd name="T15" fmla="*/ 5 h 88"/>
                <a:gd name="T16" fmla="*/ 65 w 76"/>
                <a:gd name="T17" fmla="*/ 19 h 88"/>
                <a:gd name="T18" fmla="*/ 54 w 76"/>
                <a:gd name="T19" fmla="*/ 43 h 88"/>
                <a:gd name="T20" fmla="*/ 48 w 76"/>
                <a:gd name="T21" fmla="*/ 54 h 88"/>
                <a:gd name="T22" fmla="*/ 35 w 76"/>
                <a:gd name="T23" fmla="*/ 72 h 88"/>
                <a:gd name="T24" fmla="*/ 21 w 76"/>
                <a:gd name="T25" fmla="*/ 87 h 88"/>
                <a:gd name="T26" fmla="*/ 17 w 76"/>
                <a:gd name="T27"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 h="88">
                  <a:moveTo>
                    <a:pt x="17" y="88"/>
                  </a:moveTo>
                  <a:cubicBezTo>
                    <a:pt x="10" y="84"/>
                    <a:pt x="3" y="76"/>
                    <a:pt x="0" y="70"/>
                  </a:cubicBezTo>
                  <a:cubicBezTo>
                    <a:pt x="0" y="69"/>
                    <a:pt x="1" y="67"/>
                    <a:pt x="2" y="65"/>
                  </a:cubicBezTo>
                  <a:cubicBezTo>
                    <a:pt x="18" y="52"/>
                    <a:pt x="35" y="41"/>
                    <a:pt x="50" y="26"/>
                  </a:cubicBezTo>
                  <a:cubicBezTo>
                    <a:pt x="54" y="19"/>
                    <a:pt x="60" y="12"/>
                    <a:pt x="65" y="5"/>
                  </a:cubicBezTo>
                  <a:cubicBezTo>
                    <a:pt x="65" y="5"/>
                    <a:pt x="66" y="5"/>
                    <a:pt x="66" y="4"/>
                  </a:cubicBezTo>
                  <a:cubicBezTo>
                    <a:pt x="66" y="4"/>
                    <a:pt x="66" y="4"/>
                    <a:pt x="66" y="4"/>
                  </a:cubicBezTo>
                  <a:cubicBezTo>
                    <a:pt x="70" y="0"/>
                    <a:pt x="72" y="0"/>
                    <a:pt x="76" y="5"/>
                  </a:cubicBezTo>
                  <a:cubicBezTo>
                    <a:pt x="76" y="10"/>
                    <a:pt x="68" y="14"/>
                    <a:pt x="65" y="19"/>
                  </a:cubicBezTo>
                  <a:cubicBezTo>
                    <a:pt x="62" y="27"/>
                    <a:pt x="58" y="35"/>
                    <a:pt x="54" y="43"/>
                  </a:cubicBezTo>
                  <a:cubicBezTo>
                    <a:pt x="53" y="45"/>
                    <a:pt x="53" y="45"/>
                    <a:pt x="48" y="54"/>
                  </a:cubicBezTo>
                  <a:cubicBezTo>
                    <a:pt x="43" y="57"/>
                    <a:pt x="37" y="66"/>
                    <a:pt x="35" y="72"/>
                  </a:cubicBezTo>
                  <a:cubicBezTo>
                    <a:pt x="29" y="75"/>
                    <a:pt x="27" y="84"/>
                    <a:pt x="21" y="87"/>
                  </a:cubicBezTo>
                  <a:cubicBezTo>
                    <a:pt x="19" y="87"/>
                    <a:pt x="18" y="87"/>
                    <a:pt x="17" y="8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8" name="Freeform 78"/>
            <p:cNvSpPr/>
            <p:nvPr userDrawn="1"/>
          </p:nvSpPr>
          <p:spPr bwMode="auto">
            <a:xfrm>
              <a:off x="1749" y="791"/>
              <a:ext cx="53" cy="41"/>
            </a:xfrm>
            <a:custGeom>
              <a:avLst/>
              <a:gdLst>
                <a:gd name="T0" fmla="*/ 19 w 43"/>
                <a:gd name="T1" fmla="*/ 33 h 33"/>
                <a:gd name="T2" fmla="*/ 0 w 43"/>
                <a:gd name="T3" fmla="*/ 20 h 33"/>
                <a:gd name="T4" fmla="*/ 2 w 43"/>
                <a:gd name="T5" fmla="*/ 14 h 33"/>
                <a:gd name="T6" fmla="*/ 6 w 43"/>
                <a:gd name="T7" fmla="*/ 13 h 33"/>
                <a:gd name="T8" fmla="*/ 17 w 43"/>
                <a:gd name="T9" fmla="*/ 12 h 33"/>
                <a:gd name="T10" fmla="*/ 43 w 43"/>
                <a:gd name="T11" fmla="*/ 5 h 33"/>
                <a:gd name="T12" fmla="*/ 19 w 43"/>
                <a:gd name="T13" fmla="*/ 33 h 33"/>
              </a:gdLst>
              <a:ahLst/>
              <a:cxnLst>
                <a:cxn ang="0">
                  <a:pos x="T0" y="T1"/>
                </a:cxn>
                <a:cxn ang="0">
                  <a:pos x="T2" y="T3"/>
                </a:cxn>
                <a:cxn ang="0">
                  <a:pos x="T4" y="T5"/>
                </a:cxn>
                <a:cxn ang="0">
                  <a:pos x="T6" y="T7"/>
                </a:cxn>
                <a:cxn ang="0">
                  <a:pos x="T8" y="T9"/>
                </a:cxn>
                <a:cxn ang="0">
                  <a:pos x="T10" y="T11"/>
                </a:cxn>
                <a:cxn ang="0">
                  <a:pos x="T12" y="T13"/>
                </a:cxn>
              </a:cxnLst>
              <a:rect l="0" t="0" r="r" b="b"/>
              <a:pathLst>
                <a:path w="43" h="33">
                  <a:moveTo>
                    <a:pt x="19" y="33"/>
                  </a:moveTo>
                  <a:cubicBezTo>
                    <a:pt x="9" y="33"/>
                    <a:pt x="6" y="26"/>
                    <a:pt x="0" y="20"/>
                  </a:cubicBezTo>
                  <a:cubicBezTo>
                    <a:pt x="0" y="18"/>
                    <a:pt x="2" y="16"/>
                    <a:pt x="2" y="14"/>
                  </a:cubicBezTo>
                  <a:cubicBezTo>
                    <a:pt x="4" y="14"/>
                    <a:pt x="4" y="14"/>
                    <a:pt x="6" y="13"/>
                  </a:cubicBezTo>
                  <a:cubicBezTo>
                    <a:pt x="10" y="12"/>
                    <a:pt x="12" y="12"/>
                    <a:pt x="17" y="12"/>
                  </a:cubicBezTo>
                  <a:cubicBezTo>
                    <a:pt x="22" y="11"/>
                    <a:pt x="38" y="0"/>
                    <a:pt x="43" y="5"/>
                  </a:cubicBezTo>
                  <a:cubicBezTo>
                    <a:pt x="43" y="17"/>
                    <a:pt x="30" y="30"/>
                    <a:pt x="19"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9" name="Freeform 79"/>
            <p:cNvSpPr/>
            <p:nvPr userDrawn="1"/>
          </p:nvSpPr>
          <p:spPr bwMode="auto">
            <a:xfrm>
              <a:off x="1668" y="766"/>
              <a:ext cx="36" cy="42"/>
            </a:xfrm>
            <a:custGeom>
              <a:avLst/>
              <a:gdLst>
                <a:gd name="T0" fmla="*/ 5 w 29"/>
                <a:gd name="T1" fmla="*/ 34 h 34"/>
                <a:gd name="T2" fmla="*/ 0 w 29"/>
                <a:gd name="T3" fmla="*/ 9 h 34"/>
                <a:gd name="T4" fmla="*/ 19 w 29"/>
                <a:gd name="T5" fmla="*/ 6 h 34"/>
                <a:gd name="T6" fmla="*/ 23 w 29"/>
                <a:gd name="T7" fmla="*/ 26 h 34"/>
                <a:gd name="T8" fmla="*/ 5 w 29"/>
                <a:gd name="T9" fmla="*/ 34 h 34"/>
              </a:gdLst>
              <a:ahLst/>
              <a:cxnLst>
                <a:cxn ang="0">
                  <a:pos x="T0" y="T1"/>
                </a:cxn>
                <a:cxn ang="0">
                  <a:pos x="T2" y="T3"/>
                </a:cxn>
                <a:cxn ang="0">
                  <a:pos x="T4" y="T5"/>
                </a:cxn>
                <a:cxn ang="0">
                  <a:pos x="T6" y="T7"/>
                </a:cxn>
                <a:cxn ang="0">
                  <a:pos x="T8" y="T9"/>
                </a:cxn>
              </a:cxnLst>
              <a:rect l="0" t="0" r="r" b="b"/>
              <a:pathLst>
                <a:path w="29" h="34">
                  <a:moveTo>
                    <a:pt x="5" y="34"/>
                  </a:moveTo>
                  <a:cubicBezTo>
                    <a:pt x="1" y="30"/>
                    <a:pt x="0" y="14"/>
                    <a:pt x="0" y="9"/>
                  </a:cubicBezTo>
                  <a:cubicBezTo>
                    <a:pt x="3" y="0"/>
                    <a:pt x="12" y="0"/>
                    <a:pt x="19" y="6"/>
                  </a:cubicBezTo>
                  <a:cubicBezTo>
                    <a:pt x="25" y="14"/>
                    <a:pt x="29" y="17"/>
                    <a:pt x="23" y="26"/>
                  </a:cubicBezTo>
                  <a:cubicBezTo>
                    <a:pt x="16" y="32"/>
                    <a:pt x="13" y="32"/>
                    <a:pt x="5" y="3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10" name="Freeform 80"/>
            <p:cNvSpPr/>
            <p:nvPr userDrawn="1"/>
          </p:nvSpPr>
          <p:spPr bwMode="auto">
            <a:xfrm>
              <a:off x="1748" y="739"/>
              <a:ext cx="63" cy="60"/>
            </a:xfrm>
            <a:custGeom>
              <a:avLst/>
              <a:gdLst>
                <a:gd name="T0" fmla="*/ 17 w 51"/>
                <a:gd name="T1" fmla="*/ 48 h 48"/>
                <a:gd name="T2" fmla="*/ 21 w 51"/>
                <a:gd name="T3" fmla="*/ 30 h 48"/>
                <a:gd name="T4" fmla="*/ 13 w 51"/>
                <a:gd name="T5" fmla="*/ 32 h 48"/>
                <a:gd name="T6" fmla="*/ 3 w 51"/>
                <a:gd name="T7" fmla="*/ 15 h 48"/>
                <a:gd name="T8" fmla="*/ 13 w 51"/>
                <a:gd name="T9" fmla="*/ 11 h 48"/>
                <a:gd name="T10" fmla="*/ 33 w 51"/>
                <a:gd name="T11" fmla="*/ 2 h 48"/>
                <a:gd name="T12" fmla="*/ 51 w 51"/>
                <a:gd name="T13" fmla="*/ 18 h 48"/>
                <a:gd name="T14" fmla="*/ 39 w 51"/>
                <a:gd name="T15" fmla="*/ 36 h 48"/>
                <a:gd name="T16" fmla="*/ 22 w 51"/>
                <a:gd name="T17" fmla="*/ 47 h 48"/>
                <a:gd name="T18" fmla="*/ 17 w 51"/>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 h="48">
                  <a:moveTo>
                    <a:pt x="17" y="48"/>
                  </a:moveTo>
                  <a:cubicBezTo>
                    <a:pt x="16" y="43"/>
                    <a:pt x="23" y="33"/>
                    <a:pt x="21" y="30"/>
                  </a:cubicBezTo>
                  <a:cubicBezTo>
                    <a:pt x="18" y="31"/>
                    <a:pt x="16" y="32"/>
                    <a:pt x="13" y="32"/>
                  </a:cubicBezTo>
                  <a:cubicBezTo>
                    <a:pt x="7" y="29"/>
                    <a:pt x="0" y="21"/>
                    <a:pt x="3" y="15"/>
                  </a:cubicBezTo>
                  <a:cubicBezTo>
                    <a:pt x="7" y="10"/>
                    <a:pt x="6" y="12"/>
                    <a:pt x="13" y="11"/>
                  </a:cubicBezTo>
                  <a:cubicBezTo>
                    <a:pt x="19" y="8"/>
                    <a:pt x="26" y="5"/>
                    <a:pt x="33" y="2"/>
                  </a:cubicBezTo>
                  <a:cubicBezTo>
                    <a:pt x="45" y="0"/>
                    <a:pt x="50" y="6"/>
                    <a:pt x="51" y="18"/>
                  </a:cubicBezTo>
                  <a:cubicBezTo>
                    <a:pt x="49" y="25"/>
                    <a:pt x="44" y="31"/>
                    <a:pt x="39" y="36"/>
                  </a:cubicBezTo>
                  <a:cubicBezTo>
                    <a:pt x="33" y="40"/>
                    <a:pt x="27" y="44"/>
                    <a:pt x="22" y="47"/>
                  </a:cubicBezTo>
                  <a:cubicBezTo>
                    <a:pt x="20" y="47"/>
                    <a:pt x="19" y="48"/>
                    <a:pt x="17" y="4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11" name="Freeform 81"/>
            <p:cNvSpPr/>
            <p:nvPr userDrawn="1"/>
          </p:nvSpPr>
          <p:spPr bwMode="auto">
            <a:xfrm>
              <a:off x="1687" y="715"/>
              <a:ext cx="38" cy="42"/>
            </a:xfrm>
            <a:custGeom>
              <a:avLst/>
              <a:gdLst>
                <a:gd name="T0" fmla="*/ 3 w 31"/>
                <a:gd name="T1" fmla="*/ 34 h 34"/>
                <a:gd name="T2" fmla="*/ 3 w 31"/>
                <a:gd name="T3" fmla="*/ 29 h 34"/>
                <a:gd name="T4" fmla="*/ 0 w 31"/>
                <a:gd name="T5" fmla="*/ 16 h 34"/>
                <a:gd name="T6" fmla="*/ 7 w 31"/>
                <a:gd name="T7" fmla="*/ 0 h 34"/>
                <a:gd name="T8" fmla="*/ 26 w 31"/>
                <a:gd name="T9" fmla="*/ 23 h 34"/>
                <a:gd name="T10" fmla="*/ 3 w 31"/>
                <a:gd name="T11" fmla="*/ 34 h 34"/>
              </a:gdLst>
              <a:ahLst/>
              <a:cxnLst>
                <a:cxn ang="0">
                  <a:pos x="T0" y="T1"/>
                </a:cxn>
                <a:cxn ang="0">
                  <a:pos x="T2" y="T3"/>
                </a:cxn>
                <a:cxn ang="0">
                  <a:pos x="T4" y="T5"/>
                </a:cxn>
                <a:cxn ang="0">
                  <a:pos x="T6" y="T7"/>
                </a:cxn>
                <a:cxn ang="0">
                  <a:pos x="T8" y="T9"/>
                </a:cxn>
                <a:cxn ang="0">
                  <a:pos x="T10" y="T11"/>
                </a:cxn>
              </a:cxnLst>
              <a:rect l="0" t="0" r="r" b="b"/>
              <a:pathLst>
                <a:path w="31" h="34">
                  <a:moveTo>
                    <a:pt x="3" y="34"/>
                  </a:moveTo>
                  <a:cubicBezTo>
                    <a:pt x="1" y="32"/>
                    <a:pt x="2" y="31"/>
                    <a:pt x="3" y="29"/>
                  </a:cubicBezTo>
                  <a:cubicBezTo>
                    <a:pt x="3" y="24"/>
                    <a:pt x="0" y="20"/>
                    <a:pt x="0" y="16"/>
                  </a:cubicBezTo>
                  <a:cubicBezTo>
                    <a:pt x="1" y="7"/>
                    <a:pt x="0" y="4"/>
                    <a:pt x="7" y="0"/>
                  </a:cubicBezTo>
                  <a:cubicBezTo>
                    <a:pt x="12" y="3"/>
                    <a:pt x="31" y="12"/>
                    <a:pt x="26" y="23"/>
                  </a:cubicBezTo>
                  <a:cubicBezTo>
                    <a:pt x="21" y="29"/>
                    <a:pt x="11" y="33"/>
                    <a:pt x="3" y="3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12" name="Freeform 82"/>
            <p:cNvSpPr/>
            <p:nvPr userDrawn="1"/>
          </p:nvSpPr>
          <p:spPr bwMode="auto">
            <a:xfrm>
              <a:off x="1365" y="728"/>
              <a:ext cx="244" cy="186"/>
            </a:xfrm>
            <a:custGeom>
              <a:avLst/>
              <a:gdLst>
                <a:gd name="T0" fmla="*/ 20 w 197"/>
                <a:gd name="T1" fmla="*/ 150 h 150"/>
                <a:gd name="T2" fmla="*/ 13 w 197"/>
                <a:gd name="T3" fmla="*/ 119 h 150"/>
                <a:gd name="T4" fmla="*/ 17 w 197"/>
                <a:gd name="T5" fmla="*/ 114 h 150"/>
                <a:gd name="T6" fmla="*/ 17 w 197"/>
                <a:gd name="T7" fmla="*/ 113 h 150"/>
                <a:gd name="T8" fmla="*/ 44 w 197"/>
                <a:gd name="T9" fmla="*/ 77 h 150"/>
                <a:gd name="T10" fmla="*/ 52 w 197"/>
                <a:gd name="T11" fmla="*/ 67 h 150"/>
                <a:gd name="T12" fmla="*/ 53 w 197"/>
                <a:gd name="T13" fmla="*/ 78 h 150"/>
                <a:gd name="T14" fmla="*/ 60 w 197"/>
                <a:gd name="T15" fmla="*/ 77 h 150"/>
                <a:gd name="T16" fmla="*/ 85 w 197"/>
                <a:gd name="T17" fmla="*/ 58 h 150"/>
                <a:gd name="T18" fmla="*/ 87 w 197"/>
                <a:gd name="T19" fmla="*/ 48 h 150"/>
                <a:gd name="T20" fmla="*/ 68 w 197"/>
                <a:gd name="T21" fmla="*/ 44 h 150"/>
                <a:gd name="T22" fmla="*/ 88 w 197"/>
                <a:gd name="T23" fmla="*/ 29 h 150"/>
                <a:gd name="T24" fmla="*/ 92 w 197"/>
                <a:gd name="T25" fmla="*/ 9 h 150"/>
                <a:gd name="T26" fmla="*/ 109 w 197"/>
                <a:gd name="T27" fmla="*/ 22 h 150"/>
                <a:gd name="T28" fmla="*/ 110 w 197"/>
                <a:gd name="T29" fmla="*/ 37 h 150"/>
                <a:gd name="T30" fmla="*/ 108 w 197"/>
                <a:gd name="T31" fmla="*/ 46 h 150"/>
                <a:gd name="T32" fmla="*/ 111 w 197"/>
                <a:gd name="T33" fmla="*/ 46 h 150"/>
                <a:gd name="T34" fmla="*/ 131 w 197"/>
                <a:gd name="T35" fmla="*/ 32 h 150"/>
                <a:gd name="T36" fmla="*/ 140 w 197"/>
                <a:gd name="T37" fmla="*/ 5 h 150"/>
                <a:gd name="T38" fmla="*/ 163 w 197"/>
                <a:gd name="T39" fmla="*/ 11 h 150"/>
                <a:gd name="T40" fmla="*/ 176 w 197"/>
                <a:gd name="T41" fmla="*/ 5 h 150"/>
                <a:gd name="T42" fmla="*/ 182 w 197"/>
                <a:gd name="T43" fmla="*/ 4 h 150"/>
                <a:gd name="T44" fmla="*/ 184 w 197"/>
                <a:gd name="T45" fmla="*/ 13 h 150"/>
                <a:gd name="T46" fmla="*/ 157 w 197"/>
                <a:gd name="T47" fmla="*/ 39 h 150"/>
                <a:gd name="T48" fmla="*/ 166 w 197"/>
                <a:gd name="T49" fmla="*/ 29 h 150"/>
                <a:gd name="T50" fmla="*/ 190 w 197"/>
                <a:gd name="T51" fmla="*/ 34 h 150"/>
                <a:gd name="T52" fmla="*/ 184 w 197"/>
                <a:gd name="T53" fmla="*/ 50 h 150"/>
                <a:gd name="T54" fmla="*/ 182 w 197"/>
                <a:gd name="T55" fmla="*/ 54 h 150"/>
                <a:gd name="T56" fmla="*/ 182 w 197"/>
                <a:gd name="T57" fmla="*/ 93 h 150"/>
                <a:gd name="T58" fmla="*/ 173 w 197"/>
                <a:gd name="T59" fmla="*/ 107 h 150"/>
                <a:gd name="T60" fmla="*/ 173 w 197"/>
                <a:gd name="T61" fmla="*/ 107 h 150"/>
                <a:gd name="T62" fmla="*/ 172 w 197"/>
                <a:gd name="T63" fmla="*/ 107 h 150"/>
                <a:gd name="T64" fmla="*/ 158 w 197"/>
                <a:gd name="T65" fmla="*/ 113 h 150"/>
                <a:gd name="T66" fmla="*/ 158 w 197"/>
                <a:gd name="T67" fmla="*/ 58 h 150"/>
                <a:gd name="T68" fmla="*/ 157 w 197"/>
                <a:gd name="T69" fmla="*/ 58 h 150"/>
                <a:gd name="T70" fmla="*/ 139 w 197"/>
                <a:gd name="T71" fmla="*/ 89 h 150"/>
                <a:gd name="T72" fmla="*/ 124 w 197"/>
                <a:gd name="T73" fmla="*/ 80 h 150"/>
                <a:gd name="T74" fmla="*/ 128 w 197"/>
                <a:gd name="T75" fmla="*/ 76 h 150"/>
                <a:gd name="T76" fmla="*/ 130 w 197"/>
                <a:gd name="T77" fmla="*/ 45 h 150"/>
                <a:gd name="T78" fmla="*/ 111 w 197"/>
                <a:gd name="T79" fmla="*/ 64 h 150"/>
                <a:gd name="T80" fmla="*/ 102 w 197"/>
                <a:gd name="T81" fmla="*/ 70 h 150"/>
                <a:gd name="T82" fmla="*/ 97 w 197"/>
                <a:gd name="T83" fmla="*/ 91 h 150"/>
                <a:gd name="T84" fmla="*/ 92 w 197"/>
                <a:gd name="T85" fmla="*/ 101 h 150"/>
                <a:gd name="T86" fmla="*/ 91 w 197"/>
                <a:gd name="T87" fmla="*/ 102 h 150"/>
                <a:gd name="T88" fmla="*/ 74 w 197"/>
                <a:gd name="T89" fmla="*/ 110 h 150"/>
                <a:gd name="T90" fmla="*/ 74 w 197"/>
                <a:gd name="T91" fmla="*/ 107 h 150"/>
                <a:gd name="T92" fmla="*/ 82 w 197"/>
                <a:gd name="T93" fmla="*/ 85 h 150"/>
                <a:gd name="T94" fmla="*/ 63 w 197"/>
                <a:gd name="T95" fmla="*/ 94 h 150"/>
                <a:gd name="T96" fmla="*/ 53 w 197"/>
                <a:gd name="T97" fmla="*/ 91 h 150"/>
                <a:gd name="T98" fmla="*/ 52 w 197"/>
                <a:gd name="T99" fmla="*/ 90 h 150"/>
                <a:gd name="T100" fmla="*/ 48 w 197"/>
                <a:gd name="T101" fmla="*/ 88 h 150"/>
                <a:gd name="T102" fmla="*/ 44 w 197"/>
                <a:gd name="T103" fmla="*/ 100 h 150"/>
                <a:gd name="T104" fmla="*/ 27 w 197"/>
                <a:gd name="T105" fmla="*/ 147 h 150"/>
                <a:gd name="T106" fmla="*/ 20 w 197"/>
                <a:gd name="T107"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7" h="150">
                  <a:moveTo>
                    <a:pt x="20" y="150"/>
                  </a:moveTo>
                  <a:cubicBezTo>
                    <a:pt x="9" y="146"/>
                    <a:pt x="0" y="124"/>
                    <a:pt x="13" y="119"/>
                  </a:cubicBezTo>
                  <a:cubicBezTo>
                    <a:pt x="13" y="117"/>
                    <a:pt x="15" y="115"/>
                    <a:pt x="17" y="114"/>
                  </a:cubicBezTo>
                  <a:cubicBezTo>
                    <a:pt x="17" y="114"/>
                    <a:pt x="17" y="113"/>
                    <a:pt x="17" y="113"/>
                  </a:cubicBezTo>
                  <a:cubicBezTo>
                    <a:pt x="27" y="103"/>
                    <a:pt x="35" y="88"/>
                    <a:pt x="44" y="77"/>
                  </a:cubicBezTo>
                  <a:cubicBezTo>
                    <a:pt x="46" y="72"/>
                    <a:pt x="47" y="68"/>
                    <a:pt x="52" y="67"/>
                  </a:cubicBezTo>
                  <a:cubicBezTo>
                    <a:pt x="55" y="69"/>
                    <a:pt x="54" y="74"/>
                    <a:pt x="53" y="78"/>
                  </a:cubicBezTo>
                  <a:cubicBezTo>
                    <a:pt x="54" y="79"/>
                    <a:pt x="58" y="78"/>
                    <a:pt x="60" y="77"/>
                  </a:cubicBezTo>
                  <a:cubicBezTo>
                    <a:pt x="68" y="71"/>
                    <a:pt x="78" y="65"/>
                    <a:pt x="85" y="58"/>
                  </a:cubicBezTo>
                  <a:cubicBezTo>
                    <a:pt x="86" y="55"/>
                    <a:pt x="86" y="52"/>
                    <a:pt x="87" y="48"/>
                  </a:cubicBezTo>
                  <a:cubicBezTo>
                    <a:pt x="81" y="50"/>
                    <a:pt x="64" y="54"/>
                    <a:pt x="68" y="44"/>
                  </a:cubicBezTo>
                  <a:cubicBezTo>
                    <a:pt x="75" y="41"/>
                    <a:pt x="84" y="36"/>
                    <a:pt x="88" y="29"/>
                  </a:cubicBezTo>
                  <a:cubicBezTo>
                    <a:pt x="90" y="22"/>
                    <a:pt x="89" y="14"/>
                    <a:pt x="92" y="9"/>
                  </a:cubicBezTo>
                  <a:cubicBezTo>
                    <a:pt x="99" y="5"/>
                    <a:pt x="108" y="14"/>
                    <a:pt x="109" y="22"/>
                  </a:cubicBezTo>
                  <a:cubicBezTo>
                    <a:pt x="112" y="27"/>
                    <a:pt x="121" y="21"/>
                    <a:pt x="110" y="37"/>
                  </a:cubicBezTo>
                  <a:cubicBezTo>
                    <a:pt x="108" y="39"/>
                    <a:pt x="108" y="42"/>
                    <a:pt x="108" y="46"/>
                  </a:cubicBezTo>
                  <a:cubicBezTo>
                    <a:pt x="109" y="46"/>
                    <a:pt x="110" y="46"/>
                    <a:pt x="111" y="46"/>
                  </a:cubicBezTo>
                  <a:cubicBezTo>
                    <a:pt x="117" y="41"/>
                    <a:pt x="124" y="36"/>
                    <a:pt x="131" y="32"/>
                  </a:cubicBezTo>
                  <a:cubicBezTo>
                    <a:pt x="133" y="22"/>
                    <a:pt x="135" y="14"/>
                    <a:pt x="140" y="5"/>
                  </a:cubicBezTo>
                  <a:cubicBezTo>
                    <a:pt x="147" y="0"/>
                    <a:pt x="156" y="5"/>
                    <a:pt x="163" y="11"/>
                  </a:cubicBezTo>
                  <a:cubicBezTo>
                    <a:pt x="168" y="11"/>
                    <a:pt x="172" y="8"/>
                    <a:pt x="176" y="5"/>
                  </a:cubicBezTo>
                  <a:cubicBezTo>
                    <a:pt x="178" y="4"/>
                    <a:pt x="178" y="4"/>
                    <a:pt x="182" y="4"/>
                  </a:cubicBezTo>
                  <a:cubicBezTo>
                    <a:pt x="183" y="7"/>
                    <a:pt x="184" y="9"/>
                    <a:pt x="184" y="13"/>
                  </a:cubicBezTo>
                  <a:cubicBezTo>
                    <a:pt x="181" y="24"/>
                    <a:pt x="151" y="27"/>
                    <a:pt x="157" y="39"/>
                  </a:cubicBezTo>
                  <a:cubicBezTo>
                    <a:pt x="162" y="39"/>
                    <a:pt x="164" y="33"/>
                    <a:pt x="166" y="29"/>
                  </a:cubicBezTo>
                  <a:cubicBezTo>
                    <a:pt x="171" y="26"/>
                    <a:pt x="184" y="30"/>
                    <a:pt x="190" y="34"/>
                  </a:cubicBezTo>
                  <a:cubicBezTo>
                    <a:pt x="197" y="42"/>
                    <a:pt x="192" y="45"/>
                    <a:pt x="184" y="50"/>
                  </a:cubicBezTo>
                  <a:cubicBezTo>
                    <a:pt x="183" y="52"/>
                    <a:pt x="183" y="53"/>
                    <a:pt x="182" y="54"/>
                  </a:cubicBezTo>
                  <a:cubicBezTo>
                    <a:pt x="181" y="70"/>
                    <a:pt x="181" y="70"/>
                    <a:pt x="182" y="93"/>
                  </a:cubicBezTo>
                  <a:cubicBezTo>
                    <a:pt x="179" y="99"/>
                    <a:pt x="177" y="102"/>
                    <a:pt x="173" y="107"/>
                  </a:cubicBezTo>
                  <a:cubicBezTo>
                    <a:pt x="173" y="107"/>
                    <a:pt x="173" y="107"/>
                    <a:pt x="173" y="107"/>
                  </a:cubicBezTo>
                  <a:cubicBezTo>
                    <a:pt x="172" y="107"/>
                    <a:pt x="172" y="107"/>
                    <a:pt x="172" y="107"/>
                  </a:cubicBezTo>
                  <a:cubicBezTo>
                    <a:pt x="169" y="112"/>
                    <a:pt x="162" y="117"/>
                    <a:pt x="158" y="113"/>
                  </a:cubicBezTo>
                  <a:cubicBezTo>
                    <a:pt x="158" y="94"/>
                    <a:pt x="159" y="75"/>
                    <a:pt x="158" y="58"/>
                  </a:cubicBezTo>
                  <a:cubicBezTo>
                    <a:pt x="158" y="58"/>
                    <a:pt x="157" y="58"/>
                    <a:pt x="157" y="58"/>
                  </a:cubicBezTo>
                  <a:cubicBezTo>
                    <a:pt x="156" y="67"/>
                    <a:pt x="147" y="84"/>
                    <a:pt x="139" y="89"/>
                  </a:cubicBezTo>
                  <a:cubicBezTo>
                    <a:pt x="132" y="90"/>
                    <a:pt x="126" y="86"/>
                    <a:pt x="124" y="80"/>
                  </a:cubicBezTo>
                  <a:cubicBezTo>
                    <a:pt x="125" y="78"/>
                    <a:pt x="126" y="77"/>
                    <a:pt x="128" y="76"/>
                  </a:cubicBezTo>
                  <a:cubicBezTo>
                    <a:pt x="132" y="68"/>
                    <a:pt x="130" y="53"/>
                    <a:pt x="130" y="45"/>
                  </a:cubicBezTo>
                  <a:cubicBezTo>
                    <a:pt x="125" y="46"/>
                    <a:pt x="115" y="59"/>
                    <a:pt x="111" y="64"/>
                  </a:cubicBezTo>
                  <a:cubicBezTo>
                    <a:pt x="108" y="66"/>
                    <a:pt x="105" y="68"/>
                    <a:pt x="102" y="70"/>
                  </a:cubicBezTo>
                  <a:cubicBezTo>
                    <a:pt x="100" y="77"/>
                    <a:pt x="98" y="84"/>
                    <a:pt x="97" y="91"/>
                  </a:cubicBezTo>
                  <a:cubicBezTo>
                    <a:pt x="95" y="95"/>
                    <a:pt x="93" y="98"/>
                    <a:pt x="92" y="101"/>
                  </a:cubicBezTo>
                  <a:cubicBezTo>
                    <a:pt x="91" y="101"/>
                    <a:pt x="91" y="101"/>
                    <a:pt x="91" y="102"/>
                  </a:cubicBezTo>
                  <a:cubicBezTo>
                    <a:pt x="88" y="106"/>
                    <a:pt x="80" y="118"/>
                    <a:pt x="74" y="110"/>
                  </a:cubicBezTo>
                  <a:cubicBezTo>
                    <a:pt x="74" y="109"/>
                    <a:pt x="74" y="108"/>
                    <a:pt x="74" y="107"/>
                  </a:cubicBezTo>
                  <a:cubicBezTo>
                    <a:pt x="79" y="101"/>
                    <a:pt x="82" y="92"/>
                    <a:pt x="82" y="85"/>
                  </a:cubicBezTo>
                  <a:cubicBezTo>
                    <a:pt x="75" y="87"/>
                    <a:pt x="70" y="94"/>
                    <a:pt x="63" y="94"/>
                  </a:cubicBezTo>
                  <a:cubicBezTo>
                    <a:pt x="59" y="93"/>
                    <a:pt x="55" y="92"/>
                    <a:pt x="53" y="91"/>
                  </a:cubicBezTo>
                  <a:cubicBezTo>
                    <a:pt x="53" y="90"/>
                    <a:pt x="53" y="90"/>
                    <a:pt x="52" y="90"/>
                  </a:cubicBezTo>
                  <a:cubicBezTo>
                    <a:pt x="51" y="89"/>
                    <a:pt x="49" y="87"/>
                    <a:pt x="48" y="88"/>
                  </a:cubicBezTo>
                  <a:cubicBezTo>
                    <a:pt x="47" y="91"/>
                    <a:pt x="45" y="96"/>
                    <a:pt x="44" y="100"/>
                  </a:cubicBezTo>
                  <a:cubicBezTo>
                    <a:pt x="37" y="115"/>
                    <a:pt x="32" y="130"/>
                    <a:pt x="27" y="147"/>
                  </a:cubicBezTo>
                  <a:cubicBezTo>
                    <a:pt x="24" y="149"/>
                    <a:pt x="23" y="150"/>
                    <a:pt x="20" y="15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13" name="Freeform 83"/>
            <p:cNvSpPr/>
            <p:nvPr userDrawn="1"/>
          </p:nvSpPr>
          <p:spPr bwMode="auto">
            <a:xfrm>
              <a:off x="1401" y="757"/>
              <a:ext cx="37" cy="49"/>
            </a:xfrm>
            <a:custGeom>
              <a:avLst/>
              <a:gdLst>
                <a:gd name="T0" fmla="*/ 5 w 30"/>
                <a:gd name="T1" fmla="*/ 39 h 39"/>
                <a:gd name="T2" fmla="*/ 6 w 30"/>
                <a:gd name="T3" fmla="*/ 28 h 39"/>
                <a:gd name="T4" fmla="*/ 6 w 30"/>
                <a:gd name="T5" fmla="*/ 1 h 39"/>
                <a:gd name="T6" fmla="*/ 10 w 30"/>
                <a:gd name="T7" fmla="*/ 0 h 39"/>
                <a:gd name="T8" fmla="*/ 25 w 30"/>
                <a:gd name="T9" fmla="*/ 17 h 39"/>
                <a:gd name="T10" fmla="*/ 5 w 30"/>
                <a:gd name="T11" fmla="*/ 39 h 39"/>
              </a:gdLst>
              <a:ahLst/>
              <a:cxnLst>
                <a:cxn ang="0">
                  <a:pos x="T0" y="T1"/>
                </a:cxn>
                <a:cxn ang="0">
                  <a:pos x="T2" y="T3"/>
                </a:cxn>
                <a:cxn ang="0">
                  <a:pos x="T4" y="T5"/>
                </a:cxn>
                <a:cxn ang="0">
                  <a:pos x="T6" y="T7"/>
                </a:cxn>
                <a:cxn ang="0">
                  <a:pos x="T8" y="T9"/>
                </a:cxn>
                <a:cxn ang="0">
                  <a:pos x="T10" y="T11"/>
                </a:cxn>
              </a:cxnLst>
              <a:rect l="0" t="0" r="r" b="b"/>
              <a:pathLst>
                <a:path w="30" h="39">
                  <a:moveTo>
                    <a:pt x="5" y="39"/>
                  </a:moveTo>
                  <a:cubicBezTo>
                    <a:pt x="3" y="35"/>
                    <a:pt x="6" y="31"/>
                    <a:pt x="6" y="28"/>
                  </a:cubicBezTo>
                  <a:cubicBezTo>
                    <a:pt x="3" y="17"/>
                    <a:pt x="0" y="9"/>
                    <a:pt x="6" y="1"/>
                  </a:cubicBezTo>
                  <a:cubicBezTo>
                    <a:pt x="7" y="0"/>
                    <a:pt x="9" y="0"/>
                    <a:pt x="10" y="0"/>
                  </a:cubicBezTo>
                  <a:cubicBezTo>
                    <a:pt x="14" y="4"/>
                    <a:pt x="21" y="11"/>
                    <a:pt x="25" y="17"/>
                  </a:cubicBezTo>
                  <a:cubicBezTo>
                    <a:pt x="30" y="29"/>
                    <a:pt x="14" y="35"/>
                    <a:pt x="5" y="39"/>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14" name="Freeform 84"/>
            <p:cNvSpPr/>
            <p:nvPr userDrawn="1"/>
          </p:nvSpPr>
          <p:spPr bwMode="auto">
            <a:xfrm>
              <a:off x="1411" y="708"/>
              <a:ext cx="46" cy="47"/>
            </a:xfrm>
            <a:custGeom>
              <a:avLst/>
              <a:gdLst>
                <a:gd name="T0" fmla="*/ 7 w 37"/>
                <a:gd name="T1" fmla="*/ 38 h 38"/>
                <a:gd name="T2" fmla="*/ 4 w 37"/>
                <a:gd name="T3" fmla="*/ 36 h 38"/>
                <a:gd name="T4" fmla="*/ 6 w 37"/>
                <a:gd name="T5" fmla="*/ 29 h 38"/>
                <a:gd name="T6" fmla="*/ 11 w 37"/>
                <a:gd name="T7" fmla="*/ 0 h 38"/>
                <a:gd name="T8" fmla="*/ 16 w 37"/>
                <a:gd name="T9" fmla="*/ 7 h 38"/>
                <a:gd name="T10" fmla="*/ 24 w 37"/>
                <a:gd name="T11" fmla="*/ 32 h 38"/>
                <a:gd name="T12" fmla="*/ 7 w 37"/>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37" h="38">
                  <a:moveTo>
                    <a:pt x="7" y="38"/>
                  </a:moveTo>
                  <a:cubicBezTo>
                    <a:pt x="5" y="37"/>
                    <a:pt x="5" y="37"/>
                    <a:pt x="4" y="36"/>
                  </a:cubicBezTo>
                  <a:cubicBezTo>
                    <a:pt x="6" y="33"/>
                    <a:pt x="7" y="32"/>
                    <a:pt x="6" y="29"/>
                  </a:cubicBezTo>
                  <a:cubicBezTo>
                    <a:pt x="0" y="20"/>
                    <a:pt x="0" y="5"/>
                    <a:pt x="11" y="0"/>
                  </a:cubicBezTo>
                  <a:cubicBezTo>
                    <a:pt x="14" y="0"/>
                    <a:pt x="15" y="3"/>
                    <a:pt x="16" y="7"/>
                  </a:cubicBezTo>
                  <a:cubicBezTo>
                    <a:pt x="23" y="14"/>
                    <a:pt x="37" y="23"/>
                    <a:pt x="24" y="32"/>
                  </a:cubicBezTo>
                  <a:cubicBezTo>
                    <a:pt x="18" y="35"/>
                    <a:pt x="13" y="36"/>
                    <a:pt x="7" y="3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15" name="Freeform 85"/>
            <p:cNvSpPr/>
            <p:nvPr userDrawn="1"/>
          </p:nvSpPr>
          <p:spPr bwMode="auto">
            <a:xfrm>
              <a:off x="2067" y="765"/>
              <a:ext cx="26" cy="39"/>
            </a:xfrm>
            <a:custGeom>
              <a:avLst/>
              <a:gdLst>
                <a:gd name="T0" fmla="*/ 10 w 21"/>
                <a:gd name="T1" fmla="*/ 31 h 31"/>
                <a:gd name="T2" fmla="*/ 3 w 21"/>
                <a:gd name="T3" fmla="*/ 4 h 31"/>
                <a:gd name="T4" fmla="*/ 21 w 21"/>
                <a:gd name="T5" fmla="*/ 18 h 31"/>
                <a:gd name="T6" fmla="*/ 10 w 21"/>
                <a:gd name="T7" fmla="*/ 31 h 31"/>
              </a:gdLst>
              <a:ahLst/>
              <a:cxnLst>
                <a:cxn ang="0">
                  <a:pos x="T0" y="T1"/>
                </a:cxn>
                <a:cxn ang="0">
                  <a:pos x="T2" y="T3"/>
                </a:cxn>
                <a:cxn ang="0">
                  <a:pos x="T4" y="T5"/>
                </a:cxn>
                <a:cxn ang="0">
                  <a:pos x="T6" y="T7"/>
                </a:cxn>
              </a:cxnLst>
              <a:rect l="0" t="0" r="r" b="b"/>
              <a:pathLst>
                <a:path w="21" h="31">
                  <a:moveTo>
                    <a:pt x="10" y="31"/>
                  </a:moveTo>
                  <a:cubicBezTo>
                    <a:pt x="0" y="27"/>
                    <a:pt x="2" y="11"/>
                    <a:pt x="3" y="4"/>
                  </a:cubicBezTo>
                  <a:cubicBezTo>
                    <a:pt x="11" y="0"/>
                    <a:pt x="20" y="9"/>
                    <a:pt x="21" y="18"/>
                  </a:cubicBezTo>
                  <a:cubicBezTo>
                    <a:pt x="19" y="27"/>
                    <a:pt x="19" y="29"/>
                    <a:pt x="10" y="3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16" name="Freeform 86"/>
            <p:cNvSpPr>
              <a:spLocks noEditPoints="1"/>
            </p:cNvSpPr>
            <p:nvPr userDrawn="1"/>
          </p:nvSpPr>
          <p:spPr bwMode="auto">
            <a:xfrm>
              <a:off x="2057" y="673"/>
              <a:ext cx="166" cy="224"/>
            </a:xfrm>
            <a:custGeom>
              <a:avLst/>
              <a:gdLst>
                <a:gd name="T0" fmla="*/ 71 w 134"/>
                <a:gd name="T1" fmla="*/ 180 h 180"/>
                <a:gd name="T2" fmla="*/ 34 w 134"/>
                <a:gd name="T3" fmla="*/ 173 h 180"/>
                <a:gd name="T4" fmla="*/ 56 w 134"/>
                <a:gd name="T5" fmla="*/ 148 h 180"/>
                <a:gd name="T6" fmla="*/ 0 w 134"/>
                <a:gd name="T7" fmla="*/ 147 h 180"/>
                <a:gd name="T8" fmla="*/ 56 w 134"/>
                <a:gd name="T9" fmla="*/ 124 h 180"/>
                <a:gd name="T10" fmla="*/ 75 w 134"/>
                <a:gd name="T11" fmla="*/ 108 h 180"/>
                <a:gd name="T12" fmla="*/ 91 w 134"/>
                <a:gd name="T13" fmla="*/ 96 h 180"/>
                <a:gd name="T14" fmla="*/ 32 w 134"/>
                <a:gd name="T15" fmla="*/ 119 h 180"/>
                <a:gd name="T16" fmla="*/ 34 w 134"/>
                <a:gd name="T17" fmla="*/ 108 h 180"/>
                <a:gd name="T18" fmla="*/ 73 w 134"/>
                <a:gd name="T19" fmla="*/ 81 h 180"/>
                <a:gd name="T20" fmla="*/ 71 w 134"/>
                <a:gd name="T21" fmla="*/ 78 h 180"/>
                <a:gd name="T22" fmla="*/ 39 w 134"/>
                <a:gd name="T23" fmla="*/ 93 h 180"/>
                <a:gd name="T24" fmla="*/ 27 w 134"/>
                <a:gd name="T25" fmla="*/ 61 h 180"/>
                <a:gd name="T26" fmla="*/ 33 w 134"/>
                <a:gd name="T27" fmla="*/ 44 h 180"/>
                <a:gd name="T28" fmla="*/ 46 w 134"/>
                <a:gd name="T29" fmla="*/ 56 h 180"/>
                <a:gd name="T30" fmla="*/ 60 w 134"/>
                <a:gd name="T31" fmla="*/ 66 h 180"/>
                <a:gd name="T32" fmla="*/ 68 w 134"/>
                <a:gd name="T33" fmla="*/ 55 h 180"/>
                <a:gd name="T34" fmla="*/ 64 w 134"/>
                <a:gd name="T35" fmla="*/ 45 h 180"/>
                <a:gd name="T36" fmla="*/ 84 w 134"/>
                <a:gd name="T37" fmla="*/ 25 h 180"/>
                <a:gd name="T38" fmla="*/ 111 w 134"/>
                <a:gd name="T39" fmla="*/ 20 h 180"/>
                <a:gd name="T40" fmla="*/ 110 w 134"/>
                <a:gd name="T41" fmla="*/ 29 h 180"/>
                <a:gd name="T42" fmla="*/ 132 w 134"/>
                <a:gd name="T43" fmla="*/ 44 h 180"/>
                <a:gd name="T44" fmla="*/ 115 w 134"/>
                <a:gd name="T45" fmla="*/ 77 h 180"/>
                <a:gd name="T46" fmla="*/ 120 w 134"/>
                <a:gd name="T47" fmla="*/ 94 h 180"/>
                <a:gd name="T48" fmla="*/ 78 w 134"/>
                <a:gd name="T49" fmla="*/ 114 h 180"/>
                <a:gd name="T50" fmla="*/ 92 w 134"/>
                <a:gd name="T51" fmla="*/ 119 h 180"/>
                <a:gd name="T52" fmla="*/ 81 w 134"/>
                <a:gd name="T53" fmla="*/ 140 h 180"/>
                <a:gd name="T54" fmla="*/ 72 w 134"/>
                <a:gd name="T55" fmla="*/ 180 h 180"/>
                <a:gd name="T56" fmla="*/ 106 w 134"/>
                <a:gd name="T57" fmla="*/ 53 h 180"/>
                <a:gd name="T58" fmla="*/ 87 w 134"/>
                <a:gd name="T59" fmla="*/ 59 h 180"/>
                <a:gd name="T60" fmla="*/ 87 w 134"/>
                <a:gd name="T61" fmla="*/ 60 h 180"/>
                <a:gd name="T62" fmla="*/ 92 w 134"/>
                <a:gd name="T63" fmla="*/ 58 h 180"/>
                <a:gd name="T64" fmla="*/ 99 w 134"/>
                <a:gd name="T65" fmla="*/ 67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4" h="180">
                  <a:moveTo>
                    <a:pt x="72" y="180"/>
                  </a:moveTo>
                  <a:cubicBezTo>
                    <a:pt x="71" y="180"/>
                    <a:pt x="71" y="180"/>
                    <a:pt x="71" y="180"/>
                  </a:cubicBezTo>
                  <a:cubicBezTo>
                    <a:pt x="58" y="180"/>
                    <a:pt x="46" y="179"/>
                    <a:pt x="34" y="175"/>
                  </a:cubicBezTo>
                  <a:cubicBezTo>
                    <a:pt x="34" y="174"/>
                    <a:pt x="34" y="174"/>
                    <a:pt x="34" y="173"/>
                  </a:cubicBezTo>
                  <a:cubicBezTo>
                    <a:pt x="41" y="169"/>
                    <a:pt x="50" y="170"/>
                    <a:pt x="55" y="163"/>
                  </a:cubicBezTo>
                  <a:cubicBezTo>
                    <a:pt x="56" y="157"/>
                    <a:pt x="57" y="152"/>
                    <a:pt x="56" y="148"/>
                  </a:cubicBezTo>
                  <a:cubicBezTo>
                    <a:pt x="43" y="148"/>
                    <a:pt x="37" y="157"/>
                    <a:pt x="27" y="161"/>
                  </a:cubicBezTo>
                  <a:cubicBezTo>
                    <a:pt x="18" y="162"/>
                    <a:pt x="3" y="154"/>
                    <a:pt x="0" y="147"/>
                  </a:cubicBezTo>
                  <a:cubicBezTo>
                    <a:pt x="0" y="136"/>
                    <a:pt x="3" y="141"/>
                    <a:pt x="14" y="140"/>
                  </a:cubicBezTo>
                  <a:cubicBezTo>
                    <a:pt x="28" y="138"/>
                    <a:pt x="43" y="130"/>
                    <a:pt x="56" y="124"/>
                  </a:cubicBezTo>
                  <a:cubicBezTo>
                    <a:pt x="59" y="121"/>
                    <a:pt x="59" y="121"/>
                    <a:pt x="61" y="121"/>
                  </a:cubicBezTo>
                  <a:cubicBezTo>
                    <a:pt x="64" y="112"/>
                    <a:pt x="66" y="110"/>
                    <a:pt x="75" y="108"/>
                  </a:cubicBezTo>
                  <a:cubicBezTo>
                    <a:pt x="79" y="106"/>
                    <a:pt x="79" y="106"/>
                    <a:pt x="90" y="100"/>
                  </a:cubicBezTo>
                  <a:cubicBezTo>
                    <a:pt x="90" y="99"/>
                    <a:pt x="91" y="98"/>
                    <a:pt x="91" y="96"/>
                  </a:cubicBezTo>
                  <a:cubicBezTo>
                    <a:pt x="74" y="98"/>
                    <a:pt x="61" y="112"/>
                    <a:pt x="48" y="121"/>
                  </a:cubicBezTo>
                  <a:cubicBezTo>
                    <a:pt x="41" y="122"/>
                    <a:pt x="36" y="121"/>
                    <a:pt x="32" y="119"/>
                  </a:cubicBezTo>
                  <a:cubicBezTo>
                    <a:pt x="29" y="120"/>
                    <a:pt x="12" y="123"/>
                    <a:pt x="20" y="116"/>
                  </a:cubicBezTo>
                  <a:cubicBezTo>
                    <a:pt x="25" y="114"/>
                    <a:pt x="29" y="111"/>
                    <a:pt x="34" y="108"/>
                  </a:cubicBezTo>
                  <a:cubicBezTo>
                    <a:pt x="47" y="100"/>
                    <a:pt x="61" y="93"/>
                    <a:pt x="74" y="85"/>
                  </a:cubicBezTo>
                  <a:cubicBezTo>
                    <a:pt x="74" y="83"/>
                    <a:pt x="73" y="82"/>
                    <a:pt x="73" y="81"/>
                  </a:cubicBezTo>
                  <a:cubicBezTo>
                    <a:pt x="73" y="79"/>
                    <a:pt x="74" y="77"/>
                    <a:pt x="74" y="75"/>
                  </a:cubicBezTo>
                  <a:cubicBezTo>
                    <a:pt x="72" y="76"/>
                    <a:pt x="71" y="76"/>
                    <a:pt x="71" y="78"/>
                  </a:cubicBezTo>
                  <a:cubicBezTo>
                    <a:pt x="63" y="81"/>
                    <a:pt x="59" y="88"/>
                    <a:pt x="53" y="81"/>
                  </a:cubicBezTo>
                  <a:cubicBezTo>
                    <a:pt x="51" y="88"/>
                    <a:pt x="46" y="93"/>
                    <a:pt x="39" y="93"/>
                  </a:cubicBezTo>
                  <a:cubicBezTo>
                    <a:pt x="32" y="89"/>
                    <a:pt x="32" y="77"/>
                    <a:pt x="31" y="72"/>
                  </a:cubicBezTo>
                  <a:cubicBezTo>
                    <a:pt x="30" y="71"/>
                    <a:pt x="29" y="67"/>
                    <a:pt x="27" y="61"/>
                  </a:cubicBezTo>
                  <a:cubicBezTo>
                    <a:pt x="24" y="55"/>
                    <a:pt x="18" y="47"/>
                    <a:pt x="22" y="42"/>
                  </a:cubicBezTo>
                  <a:cubicBezTo>
                    <a:pt x="27" y="38"/>
                    <a:pt x="29" y="37"/>
                    <a:pt x="33" y="44"/>
                  </a:cubicBezTo>
                  <a:cubicBezTo>
                    <a:pt x="37" y="47"/>
                    <a:pt x="42" y="51"/>
                    <a:pt x="45" y="56"/>
                  </a:cubicBezTo>
                  <a:cubicBezTo>
                    <a:pt x="45" y="56"/>
                    <a:pt x="46" y="56"/>
                    <a:pt x="46" y="56"/>
                  </a:cubicBezTo>
                  <a:cubicBezTo>
                    <a:pt x="48" y="62"/>
                    <a:pt x="54" y="69"/>
                    <a:pt x="53" y="77"/>
                  </a:cubicBezTo>
                  <a:cubicBezTo>
                    <a:pt x="57" y="75"/>
                    <a:pt x="62" y="71"/>
                    <a:pt x="60" y="66"/>
                  </a:cubicBezTo>
                  <a:cubicBezTo>
                    <a:pt x="53" y="63"/>
                    <a:pt x="57" y="57"/>
                    <a:pt x="61" y="55"/>
                  </a:cubicBezTo>
                  <a:cubicBezTo>
                    <a:pt x="64" y="55"/>
                    <a:pt x="64" y="55"/>
                    <a:pt x="68" y="55"/>
                  </a:cubicBezTo>
                  <a:cubicBezTo>
                    <a:pt x="68" y="53"/>
                    <a:pt x="68" y="53"/>
                    <a:pt x="67" y="52"/>
                  </a:cubicBezTo>
                  <a:cubicBezTo>
                    <a:pt x="62" y="50"/>
                    <a:pt x="63" y="49"/>
                    <a:pt x="64" y="45"/>
                  </a:cubicBezTo>
                  <a:cubicBezTo>
                    <a:pt x="58" y="43"/>
                    <a:pt x="56" y="37"/>
                    <a:pt x="58" y="32"/>
                  </a:cubicBezTo>
                  <a:cubicBezTo>
                    <a:pt x="76" y="28"/>
                    <a:pt x="76" y="28"/>
                    <a:pt x="84" y="25"/>
                  </a:cubicBezTo>
                  <a:cubicBezTo>
                    <a:pt x="89" y="19"/>
                    <a:pt x="95" y="0"/>
                    <a:pt x="106" y="4"/>
                  </a:cubicBezTo>
                  <a:cubicBezTo>
                    <a:pt x="109" y="7"/>
                    <a:pt x="111" y="14"/>
                    <a:pt x="111" y="20"/>
                  </a:cubicBezTo>
                  <a:cubicBezTo>
                    <a:pt x="109" y="23"/>
                    <a:pt x="107" y="25"/>
                    <a:pt x="107" y="28"/>
                  </a:cubicBezTo>
                  <a:cubicBezTo>
                    <a:pt x="108" y="28"/>
                    <a:pt x="109" y="28"/>
                    <a:pt x="110" y="29"/>
                  </a:cubicBezTo>
                  <a:cubicBezTo>
                    <a:pt x="117" y="25"/>
                    <a:pt x="121" y="21"/>
                    <a:pt x="125" y="31"/>
                  </a:cubicBezTo>
                  <a:cubicBezTo>
                    <a:pt x="132" y="35"/>
                    <a:pt x="134" y="34"/>
                    <a:pt x="132" y="44"/>
                  </a:cubicBezTo>
                  <a:cubicBezTo>
                    <a:pt x="127" y="55"/>
                    <a:pt x="121" y="66"/>
                    <a:pt x="115" y="76"/>
                  </a:cubicBezTo>
                  <a:cubicBezTo>
                    <a:pt x="115" y="76"/>
                    <a:pt x="115" y="77"/>
                    <a:pt x="115" y="77"/>
                  </a:cubicBezTo>
                  <a:cubicBezTo>
                    <a:pt x="117" y="77"/>
                    <a:pt x="118" y="78"/>
                    <a:pt x="119" y="78"/>
                  </a:cubicBezTo>
                  <a:cubicBezTo>
                    <a:pt x="120" y="83"/>
                    <a:pt x="120" y="88"/>
                    <a:pt x="120" y="94"/>
                  </a:cubicBezTo>
                  <a:cubicBezTo>
                    <a:pt x="116" y="100"/>
                    <a:pt x="110" y="100"/>
                    <a:pt x="103" y="101"/>
                  </a:cubicBezTo>
                  <a:cubicBezTo>
                    <a:pt x="94" y="106"/>
                    <a:pt x="86" y="109"/>
                    <a:pt x="78" y="114"/>
                  </a:cubicBezTo>
                  <a:cubicBezTo>
                    <a:pt x="78" y="116"/>
                    <a:pt x="78" y="118"/>
                    <a:pt x="79" y="120"/>
                  </a:cubicBezTo>
                  <a:cubicBezTo>
                    <a:pt x="83" y="120"/>
                    <a:pt x="87" y="120"/>
                    <a:pt x="92" y="119"/>
                  </a:cubicBezTo>
                  <a:cubicBezTo>
                    <a:pt x="96" y="123"/>
                    <a:pt x="96" y="131"/>
                    <a:pt x="93" y="136"/>
                  </a:cubicBezTo>
                  <a:cubicBezTo>
                    <a:pt x="88" y="137"/>
                    <a:pt x="85" y="138"/>
                    <a:pt x="81" y="140"/>
                  </a:cubicBezTo>
                  <a:cubicBezTo>
                    <a:pt x="81" y="142"/>
                    <a:pt x="81" y="144"/>
                    <a:pt x="80" y="147"/>
                  </a:cubicBezTo>
                  <a:cubicBezTo>
                    <a:pt x="81" y="156"/>
                    <a:pt x="85" y="178"/>
                    <a:pt x="72" y="180"/>
                  </a:cubicBezTo>
                  <a:moveTo>
                    <a:pt x="99" y="67"/>
                  </a:moveTo>
                  <a:cubicBezTo>
                    <a:pt x="103" y="63"/>
                    <a:pt x="106" y="58"/>
                    <a:pt x="106" y="53"/>
                  </a:cubicBezTo>
                  <a:cubicBezTo>
                    <a:pt x="102" y="49"/>
                    <a:pt x="96" y="49"/>
                    <a:pt x="92" y="49"/>
                  </a:cubicBezTo>
                  <a:cubicBezTo>
                    <a:pt x="92" y="51"/>
                    <a:pt x="92" y="51"/>
                    <a:pt x="87" y="59"/>
                  </a:cubicBezTo>
                  <a:cubicBezTo>
                    <a:pt x="88" y="59"/>
                    <a:pt x="88" y="59"/>
                    <a:pt x="89" y="59"/>
                  </a:cubicBezTo>
                  <a:cubicBezTo>
                    <a:pt x="88" y="60"/>
                    <a:pt x="88" y="60"/>
                    <a:pt x="87" y="60"/>
                  </a:cubicBezTo>
                  <a:cubicBezTo>
                    <a:pt x="87" y="60"/>
                    <a:pt x="88" y="60"/>
                    <a:pt x="88" y="61"/>
                  </a:cubicBezTo>
                  <a:cubicBezTo>
                    <a:pt x="90" y="61"/>
                    <a:pt x="91" y="59"/>
                    <a:pt x="92" y="58"/>
                  </a:cubicBezTo>
                  <a:cubicBezTo>
                    <a:pt x="98" y="57"/>
                    <a:pt x="98" y="59"/>
                    <a:pt x="98" y="67"/>
                  </a:cubicBezTo>
                  <a:cubicBezTo>
                    <a:pt x="98" y="67"/>
                    <a:pt x="98" y="67"/>
                    <a:pt x="99" y="6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17" name="Freeform 87"/>
            <p:cNvSpPr/>
            <p:nvPr userDrawn="1"/>
          </p:nvSpPr>
          <p:spPr bwMode="auto">
            <a:xfrm>
              <a:off x="1415" y="933"/>
              <a:ext cx="31" cy="40"/>
            </a:xfrm>
            <a:custGeom>
              <a:avLst/>
              <a:gdLst>
                <a:gd name="T0" fmla="*/ 0 w 31"/>
                <a:gd name="T1" fmla="*/ 35 h 40"/>
                <a:gd name="T2" fmla="*/ 24 w 31"/>
                <a:gd name="T3" fmla="*/ 5 h 40"/>
                <a:gd name="T4" fmla="*/ 2 w 31"/>
                <a:gd name="T5" fmla="*/ 5 h 40"/>
                <a:gd name="T6" fmla="*/ 2 w 31"/>
                <a:gd name="T7" fmla="*/ 3 h 40"/>
                <a:gd name="T8" fmla="*/ 2 w 31"/>
                <a:gd name="T9" fmla="*/ 0 h 40"/>
                <a:gd name="T10" fmla="*/ 31 w 31"/>
                <a:gd name="T11" fmla="*/ 0 h 40"/>
                <a:gd name="T12" fmla="*/ 31 w 31"/>
                <a:gd name="T13" fmla="*/ 3 h 40"/>
                <a:gd name="T14" fmla="*/ 31 w 31"/>
                <a:gd name="T15" fmla="*/ 5 h 40"/>
                <a:gd name="T16" fmla="*/ 6 w 31"/>
                <a:gd name="T17" fmla="*/ 35 h 40"/>
                <a:gd name="T18" fmla="*/ 31 w 31"/>
                <a:gd name="T19" fmla="*/ 35 h 40"/>
                <a:gd name="T20" fmla="*/ 31 w 31"/>
                <a:gd name="T21" fmla="*/ 37 h 40"/>
                <a:gd name="T22" fmla="*/ 31 w 31"/>
                <a:gd name="T23" fmla="*/ 40 h 40"/>
                <a:gd name="T24" fmla="*/ 0 w 31"/>
                <a:gd name="T25" fmla="*/ 40 h 40"/>
                <a:gd name="T26" fmla="*/ 0 w 31"/>
                <a:gd name="T27" fmla="*/ 37 h 40"/>
                <a:gd name="T28" fmla="*/ 0 w 31"/>
                <a:gd name="T29" fmla="*/ 3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0" y="35"/>
                  </a:moveTo>
                  <a:lnTo>
                    <a:pt x="24" y="5"/>
                  </a:lnTo>
                  <a:lnTo>
                    <a:pt x="2" y="5"/>
                  </a:lnTo>
                  <a:lnTo>
                    <a:pt x="2" y="3"/>
                  </a:lnTo>
                  <a:lnTo>
                    <a:pt x="2" y="0"/>
                  </a:lnTo>
                  <a:lnTo>
                    <a:pt x="31" y="0"/>
                  </a:lnTo>
                  <a:lnTo>
                    <a:pt x="31" y="3"/>
                  </a:lnTo>
                  <a:lnTo>
                    <a:pt x="31" y="5"/>
                  </a:lnTo>
                  <a:lnTo>
                    <a:pt x="6" y="35"/>
                  </a:lnTo>
                  <a:lnTo>
                    <a:pt x="31" y="35"/>
                  </a:lnTo>
                  <a:lnTo>
                    <a:pt x="31" y="37"/>
                  </a:lnTo>
                  <a:lnTo>
                    <a:pt x="31" y="40"/>
                  </a:lnTo>
                  <a:lnTo>
                    <a:pt x="0" y="40"/>
                  </a:lnTo>
                  <a:lnTo>
                    <a:pt x="0" y="37"/>
                  </a:lnTo>
                  <a:lnTo>
                    <a:pt x="0" y="3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18" name="Freeform 88"/>
            <p:cNvSpPr/>
            <p:nvPr userDrawn="1"/>
          </p:nvSpPr>
          <p:spPr bwMode="auto">
            <a:xfrm>
              <a:off x="1458" y="933"/>
              <a:ext cx="31" cy="40"/>
            </a:xfrm>
            <a:custGeom>
              <a:avLst/>
              <a:gdLst>
                <a:gd name="T0" fmla="*/ 0 w 31"/>
                <a:gd name="T1" fmla="*/ 0 h 40"/>
                <a:gd name="T2" fmla="*/ 2 w 31"/>
                <a:gd name="T3" fmla="*/ 0 h 40"/>
                <a:gd name="T4" fmla="*/ 5 w 31"/>
                <a:gd name="T5" fmla="*/ 0 h 40"/>
                <a:gd name="T6" fmla="*/ 5 w 31"/>
                <a:gd name="T7" fmla="*/ 16 h 40"/>
                <a:gd name="T8" fmla="*/ 26 w 31"/>
                <a:gd name="T9" fmla="*/ 16 h 40"/>
                <a:gd name="T10" fmla="*/ 26 w 31"/>
                <a:gd name="T11" fmla="*/ 0 h 40"/>
                <a:gd name="T12" fmla="*/ 28 w 31"/>
                <a:gd name="T13" fmla="*/ 0 h 40"/>
                <a:gd name="T14" fmla="*/ 31 w 31"/>
                <a:gd name="T15" fmla="*/ 0 h 40"/>
                <a:gd name="T16" fmla="*/ 31 w 31"/>
                <a:gd name="T17" fmla="*/ 40 h 40"/>
                <a:gd name="T18" fmla="*/ 28 w 31"/>
                <a:gd name="T19" fmla="*/ 40 h 40"/>
                <a:gd name="T20" fmla="*/ 26 w 31"/>
                <a:gd name="T21" fmla="*/ 40 h 40"/>
                <a:gd name="T22" fmla="*/ 26 w 31"/>
                <a:gd name="T23" fmla="*/ 21 h 40"/>
                <a:gd name="T24" fmla="*/ 5 w 31"/>
                <a:gd name="T25" fmla="*/ 21 h 40"/>
                <a:gd name="T26" fmla="*/ 5 w 31"/>
                <a:gd name="T27" fmla="*/ 40 h 40"/>
                <a:gd name="T28" fmla="*/ 2 w 31"/>
                <a:gd name="T29" fmla="*/ 40 h 40"/>
                <a:gd name="T30" fmla="*/ 0 w 31"/>
                <a:gd name="T31" fmla="*/ 40 h 40"/>
                <a:gd name="T32" fmla="*/ 0 w 31"/>
                <a:gd name="T3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40">
                  <a:moveTo>
                    <a:pt x="0" y="0"/>
                  </a:moveTo>
                  <a:lnTo>
                    <a:pt x="2" y="0"/>
                  </a:lnTo>
                  <a:lnTo>
                    <a:pt x="5" y="0"/>
                  </a:lnTo>
                  <a:lnTo>
                    <a:pt x="5" y="16"/>
                  </a:lnTo>
                  <a:lnTo>
                    <a:pt x="26" y="16"/>
                  </a:lnTo>
                  <a:lnTo>
                    <a:pt x="26" y="0"/>
                  </a:lnTo>
                  <a:lnTo>
                    <a:pt x="28" y="0"/>
                  </a:lnTo>
                  <a:lnTo>
                    <a:pt x="31" y="0"/>
                  </a:lnTo>
                  <a:lnTo>
                    <a:pt x="31" y="40"/>
                  </a:lnTo>
                  <a:lnTo>
                    <a:pt x="28" y="40"/>
                  </a:lnTo>
                  <a:lnTo>
                    <a:pt x="26" y="40"/>
                  </a:lnTo>
                  <a:lnTo>
                    <a:pt x="26" y="21"/>
                  </a:lnTo>
                  <a:lnTo>
                    <a:pt x="5" y="21"/>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19" name="Freeform 89"/>
            <p:cNvSpPr/>
            <p:nvPr userDrawn="1"/>
          </p:nvSpPr>
          <p:spPr bwMode="auto">
            <a:xfrm>
              <a:off x="1503" y="933"/>
              <a:ext cx="29" cy="40"/>
            </a:xfrm>
            <a:custGeom>
              <a:avLst/>
              <a:gdLst>
                <a:gd name="T0" fmla="*/ 0 w 29"/>
                <a:gd name="T1" fmla="*/ 40 h 40"/>
                <a:gd name="T2" fmla="*/ 0 w 29"/>
                <a:gd name="T3" fmla="*/ 0 h 40"/>
                <a:gd name="T4" fmla="*/ 29 w 29"/>
                <a:gd name="T5" fmla="*/ 0 h 40"/>
                <a:gd name="T6" fmla="*/ 29 w 29"/>
                <a:gd name="T7" fmla="*/ 3 h 40"/>
                <a:gd name="T8" fmla="*/ 29 w 29"/>
                <a:gd name="T9" fmla="*/ 5 h 40"/>
                <a:gd name="T10" fmla="*/ 6 w 29"/>
                <a:gd name="T11" fmla="*/ 5 h 40"/>
                <a:gd name="T12" fmla="*/ 6 w 29"/>
                <a:gd name="T13" fmla="*/ 16 h 40"/>
                <a:gd name="T14" fmla="*/ 27 w 29"/>
                <a:gd name="T15" fmla="*/ 16 h 40"/>
                <a:gd name="T16" fmla="*/ 27 w 29"/>
                <a:gd name="T17" fmla="*/ 19 h 40"/>
                <a:gd name="T18" fmla="*/ 27 w 29"/>
                <a:gd name="T19" fmla="*/ 21 h 40"/>
                <a:gd name="T20" fmla="*/ 6 w 29"/>
                <a:gd name="T21" fmla="*/ 21 h 40"/>
                <a:gd name="T22" fmla="*/ 6 w 29"/>
                <a:gd name="T23" fmla="*/ 35 h 40"/>
                <a:gd name="T24" fmla="*/ 29 w 29"/>
                <a:gd name="T25" fmla="*/ 35 h 40"/>
                <a:gd name="T26" fmla="*/ 29 w 29"/>
                <a:gd name="T27" fmla="*/ 37 h 40"/>
                <a:gd name="T28" fmla="*/ 29 w 29"/>
                <a:gd name="T29" fmla="*/ 40 h 40"/>
                <a:gd name="T30" fmla="*/ 0 w 29"/>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 h="40">
                  <a:moveTo>
                    <a:pt x="0" y="40"/>
                  </a:moveTo>
                  <a:lnTo>
                    <a:pt x="0" y="0"/>
                  </a:lnTo>
                  <a:lnTo>
                    <a:pt x="29" y="0"/>
                  </a:lnTo>
                  <a:lnTo>
                    <a:pt x="29" y="3"/>
                  </a:lnTo>
                  <a:lnTo>
                    <a:pt x="29" y="5"/>
                  </a:lnTo>
                  <a:lnTo>
                    <a:pt x="6" y="5"/>
                  </a:lnTo>
                  <a:lnTo>
                    <a:pt x="6" y="16"/>
                  </a:lnTo>
                  <a:lnTo>
                    <a:pt x="27" y="16"/>
                  </a:lnTo>
                  <a:lnTo>
                    <a:pt x="27" y="19"/>
                  </a:lnTo>
                  <a:lnTo>
                    <a:pt x="27" y="21"/>
                  </a:lnTo>
                  <a:lnTo>
                    <a:pt x="6" y="21"/>
                  </a:lnTo>
                  <a:lnTo>
                    <a:pt x="6" y="35"/>
                  </a:lnTo>
                  <a:lnTo>
                    <a:pt x="29" y="35"/>
                  </a:lnTo>
                  <a:lnTo>
                    <a:pt x="29" y="37"/>
                  </a:lnTo>
                  <a:lnTo>
                    <a:pt x="29" y="40"/>
                  </a:lnTo>
                  <a:lnTo>
                    <a:pt x="0"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20" name="Freeform 90"/>
            <p:cNvSpPr/>
            <p:nvPr userDrawn="1"/>
          </p:nvSpPr>
          <p:spPr bwMode="auto">
            <a:xfrm>
              <a:off x="1542" y="933"/>
              <a:ext cx="22" cy="40"/>
            </a:xfrm>
            <a:custGeom>
              <a:avLst/>
              <a:gdLst>
                <a:gd name="T0" fmla="*/ 14 w 18"/>
                <a:gd name="T1" fmla="*/ 0 h 32"/>
                <a:gd name="T2" fmla="*/ 16 w 18"/>
                <a:gd name="T3" fmla="*/ 0 h 32"/>
                <a:gd name="T4" fmla="*/ 18 w 18"/>
                <a:gd name="T5" fmla="*/ 0 h 32"/>
                <a:gd name="T6" fmla="*/ 18 w 18"/>
                <a:gd name="T7" fmla="*/ 23 h 32"/>
                <a:gd name="T8" fmla="*/ 16 w 18"/>
                <a:gd name="T9" fmla="*/ 30 h 32"/>
                <a:gd name="T10" fmla="*/ 9 w 18"/>
                <a:gd name="T11" fmla="*/ 32 h 32"/>
                <a:gd name="T12" fmla="*/ 2 w 18"/>
                <a:gd name="T13" fmla="*/ 30 h 32"/>
                <a:gd name="T14" fmla="*/ 0 w 18"/>
                <a:gd name="T15" fmla="*/ 23 h 32"/>
                <a:gd name="T16" fmla="*/ 0 w 18"/>
                <a:gd name="T17" fmla="*/ 21 h 32"/>
                <a:gd name="T18" fmla="*/ 4 w 18"/>
                <a:gd name="T19" fmla="*/ 21 h 32"/>
                <a:gd name="T20" fmla="*/ 4 w 18"/>
                <a:gd name="T21" fmla="*/ 23 h 32"/>
                <a:gd name="T22" fmla="*/ 6 w 18"/>
                <a:gd name="T23" fmla="*/ 27 h 32"/>
                <a:gd name="T24" fmla="*/ 9 w 18"/>
                <a:gd name="T25" fmla="*/ 29 h 32"/>
                <a:gd name="T26" fmla="*/ 13 w 18"/>
                <a:gd name="T27" fmla="*/ 27 h 32"/>
                <a:gd name="T28" fmla="*/ 14 w 18"/>
                <a:gd name="T29" fmla="*/ 23 h 32"/>
                <a:gd name="T30" fmla="*/ 14 w 18"/>
                <a:gd name="T31"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32">
                  <a:moveTo>
                    <a:pt x="14" y="0"/>
                  </a:moveTo>
                  <a:cubicBezTo>
                    <a:pt x="16" y="0"/>
                    <a:pt x="16" y="0"/>
                    <a:pt x="16" y="0"/>
                  </a:cubicBezTo>
                  <a:cubicBezTo>
                    <a:pt x="18" y="0"/>
                    <a:pt x="18" y="0"/>
                    <a:pt x="18" y="0"/>
                  </a:cubicBezTo>
                  <a:cubicBezTo>
                    <a:pt x="18" y="23"/>
                    <a:pt x="18" y="23"/>
                    <a:pt x="18" y="23"/>
                  </a:cubicBezTo>
                  <a:cubicBezTo>
                    <a:pt x="18" y="26"/>
                    <a:pt x="18" y="28"/>
                    <a:pt x="16" y="30"/>
                  </a:cubicBezTo>
                  <a:cubicBezTo>
                    <a:pt x="14" y="32"/>
                    <a:pt x="12" y="32"/>
                    <a:pt x="9" y="32"/>
                  </a:cubicBezTo>
                  <a:cubicBezTo>
                    <a:pt x="6" y="32"/>
                    <a:pt x="4" y="32"/>
                    <a:pt x="2" y="30"/>
                  </a:cubicBezTo>
                  <a:cubicBezTo>
                    <a:pt x="1" y="28"/>
                    <a:pt x="0" y="26"/>
                    <a:pt x="0" y="23"/>
                  </a:cubicBezTo>
                  <a:cubicBezTo>
                    <a:pt x="0" y="21"/>
                    <a:pt x="0" y="21"/>
                    <a:pt x="0" y="21"/>
                  </a:cubicBezTo>
                  <a:cubicBezTo>
                    <a:pt x="4" y="21"/>
                    <a:pt x="4" y="21"/>
                    <a:pt x="4" y="21"/>
                  </a:cubicBezTo>
                  <a:cubicBezTo>
                    <a:pt x="4" y="23"/>
                    <a:pt x="4" y="23"/>
                    <a:pt x="4" y="23"/>
                  </a:cubicBezTo>
                  <a:cubicBezTo>
                    <a:pt x="4" y="25"/>
                    <a:pt x="5" y="26"/>
                    <a:pt x="6" y="27"/>
                  </a:cubicBezTo>
                  <a:cubicBezTo>
                    <a:pt x="6" y="28"/>
                    <a:pt x="8" y="29"/>
                    <a:pt x="9" y="29"/>
                  </a:cubicBezTo>
                  <a:cubicBezTo>
                    <a:pt x="11" y="29"/>
                    <a:pt x="12" y="28"/>
                    <a:pt x="13" y="27"/>
                  </a:cubicBezTo>
                  <a:cubicBezTo>
                    <a:pt x="14" y="26"/>
                    <a:pt x="14" y="24"/>
                    <a:pt x="14" y="23"/>
                  </a:cubicBezTo>
                  <a:lnTo>
                    <a:pt x="14"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21" name="Freeform 91"/>
            <p:cNvSpPr/>
            <p:nvPr userDrawn="1"/>
          </p:nvSpPr>
          <p:spPr bwMode="auto">
            <a:xfrm>
              <a:off x="1579" y="933"/>
              <a:ext cx="5" cy="40"/>
            </a:xfrm>
            <a:custGeom>
              <a:avLst/>
              <a:gdLst>
                <a:gd name="T0" fmla="*/ 0 w 5"/>
                <a:gd name="T1" fmla="*/ 0 h 40"/>
                <a:gd name="T2" fmla="*/ 3 w 5"/>
                <a:gd name="T3" fmla="*/ 0 h 40"/>
                <a:gd name="T4" fmla="*/ 5 w 5"/>
                <a:gd name="T5" fmla="*/ 0 h 40"/>
                <a:gd name="T6" fmla="*/ 5 w 5"/>
                <a:gd name="T7" fmla="*/ 40 h 40"/>
                <a:gd name="T8" fmla="*/ 3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3" y="0"/>
                  </a:lnTo>
                  <a:lnTo>
                    <a:pt x="5" y="0"/>
                  </a:lnTo>
                  <a:lnTo>
                    <a:pt x="5" y="40"/>
                  </a:lnTo>
                  <a:lnTo>
                    <a:pt x="3"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22" name="Freeform 92"/>
            <p:cNvSpPr>
              <a:spLocks noEditPoints="1"/>
            </p:cNvSpPr>
            <p:nvPr userDrawn="1"/>
          </p:nvSpPr>
          <p:spPr bwMode="auto">
            <a:xfrm>
              <a:off x="1595" y="933"/>
              <a:ext cx="36" cy="40"/>
            </a:xfrm>
            <a:custGeom>
              <a:avLst/>
              <a:gdLst>
                <a:gd name="T0" fmla="*/ 15 w 36"/>
                <a:gd name="T1" fmla="*/ 0 h 40"/>
                <a:gd name="T2" fmla="*/ 19 w 36"/>
                <a:gd name="T3" fmla="*/ 0 h 40"/>
                <a:gd name="T4" fmla="*/ 21 w 36"/>
                <a:gd name="T5" fmla="*/ 0 h 40"/>
                <a:gd name="T6" fmla="*/ 36 w 36"/>
                <a:gd name="T7" fmla="*/ 40 h 40"/>
                <a:gd name="T8" fmla="*/ 33 w 36"/>
                <a:gd name="T9" fmla="*/ 40 h 40"/>
                <a:gd name="T10" fmla="*/ 30 w 36"/>
                <a:gd name="T11" fmla="*/ 40 h 40"/>
                <a:gd name="T12" fmla="*/ 26 w 36"/>
                <a:gd name="T13" fmla="*/ 27 h 40"/>
                <a:gd name="T14" fmla="*/ 10 w 36"/>
                <a:gd name="T15" fmla="*/ 27 h 40"/>
                <a:gd name="T16" fmla="*/ 7 w 36"/>
                <a:gd name="T17" fmla="*/ 40 h 40"/>
                <a:gd name="T18" fmla="*/ 4 w 36"/>
                <a:gd name="T19" fmla="*/ 40 h 40"/>
                <a:gd name="T20" fmla="*/ 0 w 36"/>
                <a:gd name="T21" fmla="*/ 40 h 40"/>
                <a:gd name="T22" fmla="*/ 15 w 36"/>
                <a:gd name="T23" fmla="*/ 0 h 40"/>
                <a:gd name="T24" fmla="*/ 12 w 36"/>
                <a:gd name="T25" fmla="*/ 24 h 40"/>
                <a:gd name="T26" fmla="*/ 24 w 36"/>
                <a:gd name="T27" fmla="*/ 24 h 40"/>
                <a:gd name="T28" fmla="*/ 19 w 36"/>
                <a:gd name="T29" fmla="*/ 5 h 40"/>
                <a:gd name="T30" fmla="*/ 19 w 36"/>
                <a:gd name="T31" fmla="*/ 5 h 40"/>
                <a:gd name="T32" fmla="*/ 12 w 36"/>
                <a:gd name="T33"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 h="40">
                  <a:moveTo>
                    <a:pt x="15" y="0"/>
                  </a:moveTo>
                  <a:lnTo>
                    <a:pt x="19" y="0"/>
                  </a:lnTo>
                  <a:lnTo>
                    <a:pt x="21" y="0"/>
                  </a:lnTo>
                  <a:lnTo>
                    <a:pt x="36" y="40"/>
                  </a:lnTo>
                  <a:lnTo>
                    <a:pt x="33" y="40"/>
                  </a:lnTo>
                  <a:lnTo>
                    <a:pt x="30" y="40"/>
                  </a:lnTo>
                  <a:lnTo>
                    <a:pt x="26" y="27"/>
                  </a:lnTo>
                  <a:lnTo>
                    <a:pt x="10" y="27"/>
                  </a:lnTo>
                  <a:lnTo>
                    <a:pt x="7" y="40"/>
                  </a:lnTo>
                  <a:lnTo>
                    <a:pt x="4" y="40"/>
                  </a:lnTo>
                  <a:lnTo>
                    <a:pt x="0" y="40"/>
                  </a:lnTo>
                  <a:lnTo>
                    <a:pt x="15" y="0"/>
                  </a:lnTo>
                  <a:close/>
                  <a:moveTo>
                    <a:pt x="12" y="24"/>
                  </a:moveTo>
                  <a:lnTo>
                    <a:pt x="24" y="24"/>
                  </a:lnTo>
                  <a:lnTo>
                    <a:pt x="19" y="5"/>
                  </a:lnTo>
                  <a:lnTo>
                    <a:pt x="19" y="5"/>
                  </a:lnTo>
                  <a:lnTo>
                    <a:pt x="12" y="2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23" name="Freeform 93"/>
            <p:cNvSpPr/>
            <p:nvPr userDrawn="1"/>
          </p:nvSpPr>
          <p:spPr bwMode="auto">
            <a:xfrm>
              <a:off x="1641" y="933"/>
              <a:ext cx="31" cy="40"/>
            </a:xfrm>
            <a:custGeom>
              <a:avLst/>
              <a:gdLst>
                <a:gd name="T0" fmla="*/ 5 w 31"/>
                <a:gd name="T1" fmla="*/ 40 h 40"/>
                <a:gd name="T2" fmla="*/ 3 w 31"/>
                <a:gd name="T3" fmla="*/ 40 h 40"/>
                <a:gd name="T4" fmla="*/ 0 w 31"/>
                <a:gd name="T5" fmla="*/ 40 h 40"/>
                <a:gd name="T6" fmla="*/ 0 w 31"/>
                <a:gd name="T7" fmla="*/ 0 h 40"/>
                <a:gd name="T8" fmla="*/ 4 w 31"/>
                <a:gd name="T9" fmla="*/ 0 h 40"/>
                <a:gd name="T10" fmla="*/ 6 w 31"/>
                <a:gd name="T11" fmla="*/ 0 h 40"/>
                <a:gd name="T12" fmla="*/ 26 w 31"/>
                <a:gd name="T13" fmla="*/ 32 h 40"/>
                <a:gd name="T14" fmla="*/ 26 w 31"/>
                <a:gd name="T15" fmla="*/ 0 h 40"/>
                <a:gd name="T16" fmla="*/ 29 w 31"/>
                <a:gd name="T17" fmla="*/ 0 h 40"/>
                <a:gd name="T18" fmla="*/ 31 w 31"/>
                <a:gd name="T19" fmla="*/ 0 h 40"/>
                <a:gd name="T20" fmla="*/ 31 w 31"/>
                <a:gd name="T21" fmla="*/ 40 h 40"/>
                <a:gd name="T22" fmla="*/ 29 w 31"/>
                <a:gd name="T23" fmla="*/ 40 h 40"/>
                <a:gd name="T24" fmla="*/ 26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3" y="40"/>
                  </a:lnTo>
                  <a:lnTo>
                    <a:pt x="0" y="40"/>
                  </a:lnTo>
                  <a:lnTo>
                    <a:pt x="0" y="0"/>
                  </a:lnTo>
                  <a:lnTo>
                    <a:pt x="4" y="0"/>
                  </a:lnTo>
                  <a:lnTo>
                    <a:pt x="6" y="0"/>
                  </a:lnTo>
                  <a:lnTo>
                    <a:pt x="26" y="32"/>
                  </a:lnTo>
                  <a:lnTo>
                    <a:pt x="26" y="0"/>
                  </a:lnTo>
                  <a:lnTo>
                    <a:pt x="29" y="0"/>
                  </a:lnTo>
                  <a:lnTo>
                    <a:pt x="31" y="0"/>
                  </a:lnTo>
                  <a:lnTo>
                    <a:pt x="31" y="40"/>
                  </a:lnTo>
                  <a:lnTo>
                    <a:pt x="29" y="40"/>
                  </a:lnTo>
                  <a:lnTo>
                    <a:pt x="26" y="40"/>
                  </a:lnTo>
                  <a:lnTo>
                    <a:pt x="5" y="8"/>
                  </a:lnTo>
                  <a:lnTo>
                    <a:pt x="5"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24" name="Freeform 94"/>
            <p:cNvSpPr/>
            <p:nvPr userDrawn="1"/>
          </p:nvSpPr>
          <p:spPr bwMode="auto">
            <a:xfrm>
              <a:off x="1687" y="932"/>
              <a:ext cx="36" cy="41"/>
            </a:xfrm>
            <a:custGeom>
              <a:avLst/>
              <a:gdLst>
                <a:gd name="T0" fmla="*/ 15 w 29"/>
                <a:gd name="T1" fmla="*/ 33 h 33"/>
                <a:gd name="T2" fmla="*/ 4 w 29"/>
                <a:gd name="T3" fmla="*/ 29 h 33"/>
                <a:gd name="T4" fmla="*/ 0 w 29"/>
                <a:gd name="T5" fmla="*/ 17 h 33"/>
                <a:gd name="T6" fmla="*/ 4 w 29"/>
                <a:gd name="T7" fmla="*/ 5 h 33"/>
                <a:gd name="T8" fmla="*/ 15 w 29"/>
                <a:gd name="T9" fmla="*/ 0 h 33"/>
                <a:gd name="T10" fmla="*/ 24 w 29"/>
                <a:gd name="T11" fmla="*/ 3 h 33"/>
                <a:gd name="T12" fmla="*/ 28 w 29"/>
                <a:gd name="T13" fmla="*/ 10 h 33"/>
                <a:gd name="T14" fmla="*/ 24 w 29"/>
                <a:gd name="T15" fmla="*/ 10 h 33"/>
                <a:gd name="T16" fmla="*/ 21 w 29"/>
                <a:gd name="T17" fmla="*/ 5 h 33"/>
                <a:gd name="T18" fmla="*/ 15 w 29"/>
                <a:gd name="T19" fmla="*/ 4 h 33"/>
                <a:gd name="T20" fmla="*/ 7 w 29"/>
                <a:gd name="T21" fmla="*/ 7 h 33"/>
                <a:gd name="T22" fmla="*/ 4 w 29"/>
                <a:gd name="T23" fmla="*/ 17 h 33"/>
                <a:gd name="T24" fmla="*/ 7 w 29"/>
                <a:gd name="T25" fmla="*/ 26 h 33"/>
                <a:gd name="T26" fmla="*/ 15 w 29"/>
                <a:gd name="T27" fmla="*/ 30 h 33"/>
                <a:gd name="T28" fmla="*/ 23 w 29"/>
                <a:gd name="T29" fmla="*/ 26 h 33"/>
                <a:gd name="T30" fmla="*/ 24 w 29"/>
                <a:gd name="T31" fmla="*/ 25 h 33"/>
                <a:gd name="T32" fmla="*/ 25 w 29"/>
                <a:gd name="T33" fmla="*/ 23 h 33"/>
                <a:gd name="T34" fmla="*/ 25 w 29"/>
                <a:gd name="T35" fmla="*/ 20 h 33"/>
                <a:gd name="T36" fmla="*/ 25 w 29"/>
                <a:gd name="T37" fmla="*/ 19 h 33"/>
                <a:gd name="T38" fmla="*/ 15 w 29"/>
                <a:gd name="T39" fmla="*/ 19 h 33"/>
                <a:gd name="T40" fmla="*/ 15 w 29"/>
                <a:gd name="T41" fmla="*/ 16 h 33"/>
                <a:gd name="T42" fmla="*/ 29 w 29"/>
                <a:gd name="T43" fmla="*/ 16 h 33"/>
                <a:gd name="T44" fmla="*/ 29 w 29"/>
                <a:gd name="T45" fmla="*/ 32 h 33"/>
                <a:gd name="T46" fmla="*/ 26 w 29"/>
                <a:gd name="T47" fmla="*/ 32 h 33"/>
                <a:gd name="T48" fmla="*/ 25 w 29"/>
                <a:gd name="T49" fmla="*/ 28 h 33"/>
                <a:gd name="T50" fmla="*/ 25 w 29"/>
                <a:gd name="T51" fmla="*/ 29 h 33"/>
                <a:gd name="T52" fmla="*/ 15 w 29"/>
                <a:gd name="T53"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 h="33">
                  <a:moveTo>
                    <a:pt x="15" y="33"/>
                  </a:moveTo>
                  <a:cubicBezTo>
                    <a:pt x="10" y="33"/>
                    <a:pt x="7" y="32"/>
                    <a:pt x="4" y="29"/>
                  </a:cubicBezTo>
                  <a:cubicBezTo>
                    <a:pt x="1" y="26"/>
                    <a:pt x="0" y="22"/>
                    <a:pt x="0" y="17"/>
                  </a:cubicBezTo>
                  <a:cubicBezTo>
                    <a:pt x="0" y="12"/>
                    <a:pt x="1" y="8"/>
                    <a:pt x="4" y="5"/>
                  </a:cubicBezTo>
                  <a:cubicBezTo>
                    <a:pt x="7" y="1"/>
                    <a:pt x="10" y="0"/>
                    <a:pt x="15" y="0"/>
                  </a:cubicBezTo>
                  <a:cubicBezTo>
                    <a:pt x="18" y="0"/>
                    <a:pt x="21" y="1"/>
                    <a:pt x="24" y="3"/>
                  </a:cubicBezTo>
                  <a:cubicBezTo>
                    <a:pt x="26" y="5"/>
                    <a:pt x="28" y="7"/>
                    <a:pt x="28" y="10"/>
                  </a:cubicBezTo>
                  <a:cubicBezTo>
                    <a:pt x="24" y="10"/>
                    <a:pt x="24" y="10"/>
                    <a:pt x="24" y="10"/>
                  </a:cubicBezTo>
                  <a:cubicBezTo>
                    <a:pt x="24" y="8"/>
                    <a:pt x="23" y="7"/>
                    <a:pt x="21" y="5"/>
                  </a:cubicBezTo>
                  <a:cubicBezTo>
                    <a:pt x="19" y="4"/>
                    <a:pt x="17" y="4"/>
                    <a:pt x="15" y="4"/>
                  </a:cubicBezTo>
                  <a:cubicBezTo>
                    <a:pt x="12" y="4"/>
                    <a:pt x="9" y="5"/>
                    <a:pt x="7" y="7"/>
                  </a:cubicBezTo>
                  <a:cubicBezTo>
                    <a:pt x="5" y="10"/>
                    <a:pt x="4" y="13"/>
                    <a:pt x="4" y="17"/>
                  </a:cubicBezTo>
                  <a:cubicBezTo>
                    <a:pt x="4" y="21"/>
                    <a:pt x="5" y="24"/>
                    <a:pt x="7" y="26"/>
                  </a:cubicBezTo>
                  <a:cubicBezTo>
                    <a:pt x="9" y="29"/>
                    <a:pt x="12" y="30"/>
                    <a:pt x="15" y="30"/>
                  </a:cubicBezTo>
                  <a:cubicBezTo>
                    <a:pt x="18" y="30"/>
                    <a:pt x="21" y="29"/>
                    <a:pt x="23" y="26"/>
                  </a:cubicBezTo>
                  <a:cubicBezTo>
                    <a:pt x="23" y="26"/>
                    <a:pt x="23" y="25"/>
                    <a:pt x="24" y="25"/>
                  </a:cubicBezTo>
                  <a:cubicBezTo>
                    <a:pt x="24" y="24"/>
                    <a:pt x="24" y="24"/>
                    <a:pt x="25" y="23"/>
                  </a:cubicBezTo>
                  <a:cubicBezTo>
                    <a:pt x="25" y="22"/>
                    <a:pt x="25" y="21"/>
                    <a:pt x="25" y="20"/>
                  </a:cubicBezTo>
                  <a:cubicBezTo>
                    <a:pt x="25" y="19"/>
                    <a:pt x="25" y="19"/>
                    <a:pt x="25" y="19"/>
                  </a:cubicBezTo>
                  <a:cubicBezTo>
                    <a:pt x="15" y="19"/>
                    <a:pt x="15" y="19"/>
                    <a:pt x="15" y="19"/>
                  </a:cubicBezTo>
                  <a:cubicBezTo>
                    <a:pt x="15" y="16"/>
                    <a:pt x="15" y="16"/>
                    <a:pt x="15" y="16"/>
                  </a:cubicBezTo>
                  <a:cubicBezTo>
                    <a:pt x="29" y="16"/>
                    <a:pt x="29" y="16"/>
                    <a:pt x="29" y="16"/>
                  </a:cubicBezTo>
                  <a:cubicBezTo>
                    <a:pt x="29" y="32"/>
                    <a:pt x="29" y="32"/>
                    <a:pt x="29" y="32"/>
                  </a:cubicBezTo>
                  <a:cubicBezTo>
                    <a:pt x="26" y="32"/>
                    <a:pt x="26" y="32"/>
                    <a:pt x="26" y="32"/>
                  </a:cubicBezTo>
                  <a:cubicBezTo>
                    <a:pt x="25" y="28"/>
                    <a:pt x="25" y="28"/>
                    <a:pt x="25" y="28"/>
                  </a:cubicBezTo>
                  <a:cubicBezTo>
                    <a:pt x="25" y="29"/>
                    <a:pt x="25" y="29"/>
                    <a:pt x="25" y="29"/>
                  </a:cubicBezTo>
                  <a:cubicBezTo>
                    <a:pt x="22" y="32"/>
                    <a:pt x="19" y="33"/>
                    <a:pt x="15"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25" name="Freeform 95"/>
            <p:cNvSpPr/>
            <p:nvPr userDrawn="1"/>
          </p:nvSpPr>
          <p:spPr bwMode="auto">
            <a:xfrm>
              <a:off x="1760" y="933"/>
              <a:ext cx="31" cy="40"/>
            </a:xfrm>
            <a:custGeom>
              <a:avLst/>
              <a:gdLst>
                <a:gd name="T0" fmla="*/ 25 w 25"/>
                <a:gd name="T1" fmla="*/ 20 h 32"/>
                <a:gd name="T2" fmla="*/ 21 w 25"/>
                <a:gd name="T3" fmla="*/ 29 h 32"/>
                <a:gd name="T4" fmla="*/ 12 w 25"/>
                <a:gd name="T5" fmla="*/ 32 h 32"/>
                <a:gd name="T6" fmla="*/ 3 w 25"/>
                <a:gd name="T7" fmla="*/ 29 h 32"/>
                <a:gd name="T8" fmla="*/ 0 w 25"/>
                <a:gd name="T9" fmla="*/ 20 h 32"/>
                <a:gd name="T10" fmla="*/ 0 w 25"/>
                <a:gd name="T11" fmla="*/ 0 h 32"/>
                <a:gd name="T12" fmla="*/ 2 w 25"/>
                <a:gd name="T13" fmla="*/ 0 h 32"/>
                <a:gd name="T14" fmla="*/ 4 w 25"/>
                <a:gd name="T15" fmla="*/ 0 h 32"/>
                <a:gd name="T16" fmla="*/ 4 w 25"/>
                <a:gd name="T17" fmla="*/ 20 h 32"/>
                <a:gd name="T18" fmla="*/ 6 w 25"/>
                <a:gd name="T19" fmla="*/ 26 h 32"/>
                <a:gd name="T20" fmla="*/ 12 w 25"/>
                <a:gd name="T21" fmla="*/ 29 h 32"/>
                <a:gd name="T22" fmla="*/ 18 w 25"/>
                <a:gd name="T23" fmla="*/ 26 h 32"/>
                <a:gd name="T24" fmla="*/ 20 w 25"/>
                <a:gd name="T25" fmla="*/ 20 h 32"/>
                <a:gd name="T26" fmla="*/ 20 w 25"/>
                <a:gd name="T27" fmla="*/ 0 h 32"/>
                <a:gd name="T28" fmla="*/ 22 w 25"/>
                <a:gd name="T29" fmla="*/ 0 h 32"/>
                <a:gd name="T30" fmla="*/ 25 w 25"/>
                <a:gd name="T31" fmla="*/ 0 h 32"/>
                <a:gd name="T32" fmla="*/ 25 w 25"/>
                <a:gd name="T33"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 h="32">
                  <a:moveTo>
                    <a:pt x="25" y="20"/>
                  </a:moveTo>
                  <a:cubicBezTo>
                    <a:pt x="25" y="24"/>
                    <a:pt x="23" y="27"/>
                    <a:pt x="21" y="29"/>
                  </a:cubicBezTo>
                  <a:cubicBezTo>
                    <a:pt x="19" y="31"/>
                    <a:pt x="16" y="32"/>
                    <a:pt x="12" y="32"/>
                  </a:cubicBezTo>
                  <a:cubicBezTo>
                    <a:pt x="8" y="32"/>
                    <a:pt x="5" y="31"/>
                    <a:pt x="3" y="29"/>
                  </a:cubicBezTo>
                  <a:cubicBezTo>
                    <a:pt x="1" y="27"/>
                    <a:pt x="0" y="24"/>
                    <a:pt x="0" y="20"/>
                  </a:cubicBezTo>
                  <a:cubicBezTo>
                    <a:pt x="0" y="0"/>
                    <a:pt x="0" y="0"/>
                    <a:pt x="0" y="0"/>
                  </a:cubicBezTo>
                  <a:cubicBezTo>
                    <a:pt x="2" y="0"/>
                    <a:pt x="2" y="0"/>
                    <a:pt x="2" y="0"/>
                  </a:cubicBezTo>
                  <a:cubicBezTo>
                    <a:pt x="4" y="0"/>
                    <a:pt x="4" y="0"/>
                    <a:pt x="4" y="0"/>
                  </a:cubicBezTo>
                  <a:cubicBezTo>
                    <a:pt x="4" y="20"/>
                    <a:pt x="4" y="20"/>
                    <a:pt x="4" y="20"/>
                  </a:cubicBezTo>
                  <a:cubicBezTo>
                    <a:pt x="4" y="23"/>
                    <a:pt x="5" y="25"/>
                    <a:pt x="6" y="26"/>
                  </a:cubicBezTo>
                  <a:cubicBezTo>
                    <a:pt x="7" y="28"/>
                    <a:pt x="9" y="29"/>
                    <a:pt x="12" y="29"/>
                  </a:cubicBezTo>
                  <a:cubicBezTo>
                    <a:pt x="15" y="29"/>
                    <a:pt x="17" y="28"/>
                    <a:pt x="18" y="26"/>
                  </a:cubicBezTo>
                  <a:cubicBezTo>
                    <a:pt x="20" y="25"/>
                    <a:pt x="20" y="23"/>
                    <a:pt x="20" y="20"/>
                  </a:cubicBezTo>
                  <a:cubicBezTo>
                    <a:pt x="20" y="0"/>
                    <a:pt x="20" y="0"/>
                    <a:pt x="20" y="0"/>
                  </a:cubicBezTo>
                  <a:cubicBezTo>
                    <a:pt x="22" y="0"/>
                    <a:pt x="22" y="0"/>
                    <a:pt x="22" y="0"/>
                  </a:cubicBezTo>
                  <a:cubicBezTo>
                    <a:pt x="25" y="0"/>
                    <a:pt x="25" y="0"/>
                    <a:pt x="25" y="0"/>
                  </a:cubicBezTo>
                  <a:lnTo>
                    <a:pt x="25" y="2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26" name="Freeform 96"/>
            <p:cNvSpPr/>
            <p:nvPr userDrawn="1"/>
          </p:nvSpPr>
          <p:spPr bwMode="auto">
            <a:xfrm>
              <a:off x="1806" y="933"/>
              <a:ext cx="31" cy="40"/>
            </a:xfrm>
            <a:custGeom>
              <a:avLst/>
              <a:gdLst>
                <a:gd name="T0" fmla="*/ 5 w 31"/>
                <a:gd name="T1" fmla="*/ 40 h 40"/>
                <a:gd name="T2" fmla="*/ 2 w 31"/>
                <a:gd name="T3" fmla="*/ 40 h 40"/>
                <a:gd name="T4" fmla="*/ 0 w 31"/>
                <a:gd name="T5" fmla="*/ 40 h 40"/>
                <a:gd name="T6" fmla="*/ 0 w 31"/>
                <a:gd name="T7" fmla="*/ 0 h 40"/>
                <a:gd name="T8" fmla="*/ 2 w 31"/>
                <a:gd name="T9" fmla="*/ 0 h 40"/>
                <a:gd name="T10" fmla="*/ 6 w 31"/>
                <a:gd name="T11" fmla="*/ 0 h 40"/>
                <a:gd name="T12" fmla="*/ 26 w 31"/>
                <a:gd name="T13" fmla="*/ 32 h 40"/>
                <a:gd name="T14" fmla="*/ 26 w 31"/>
                <a:gd name="T15" fmla="*/ 0 h 40"/>
                <a:gd name="T16" fmla="*/ 28 w 31"/>
                <a:gd name="T17" fmla="*/ 0 h 40"/>
                <a:gd name="T18" fmla="*/ 31 w 31"/>
                <a:gd name="T19" fmla="*/ 0 h 40"/>
                <a:gd name="T20" fmla="*/ 31 w 31"/>
                <a:gd name="T21" fmla="*/ 40 h 40"/>
                <a:gd name="T22" fmla="*/ 28 w 31"/>
                <a:gd name="T23" fmla="*/ 40 h 40"/>
                <a:gd name="T24" fmla="*/ 25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2" y="40"/>
                  </a:lnTo>
                  <a:lnTo>
                    <a:pt x="0" y="40"/>
                  </a:lnTo>
                  <a:lnTo>
                    <a:pt x="0" y="0"/>
                  </a:lnTo>
                  <a:lnTo>
                    <a:pt x="2" y="0"/>
                  </a:lnTo>
                  <a:lnTo>
                    <a:pt x="6" y="0"/>
                  </a:lnTo>
                  <a:lnTo>
                    <a:pt x="26" y="32"/>
                  </a:lnTo>
                  <a:lnTo>
                    <a:pt x="26" y="0"/>
                  </a:lnTo>
                  <a:lnTo>
                    <a:pt x="28" y="0"/>
                  </a:lnTo>
                  <a:lnTo>
                    <a:pt x="31" y="0"/>
                  </a:lnTo>
                  <a:lnTo>
                    <a:pt x="31" y="40"/>
                  </a:lnTo>
                  <a:lnTo>
                    <a:pt x="28" y="40"/>
                  </a:lnTo>
                  <a:lnTo>
                    <a:pt x="25" y="40"/>
                  </a:lnTo>
                  <a:lnTo>
                    <a:pt x="5" y="8"/>
                  </a:lnTo>
                  <a:lnTo>
                    <a:pt x="5"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27" name="Freeform 97"/>
            <p:cNvSpPr/>
            <p:nvPr userDrawn="1"/>
          </p:nvSpPr>
          <p:spPr bwMode="auto">
            <a:xfrm>
              <a:off x="1852"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28" name="Freeform 98"/>
            <p:cNvSpPr/>
            <p:nvPr userDrawn="1"/>
          </p:nvSpPr>
          <p:spPr bwMode="auto">
            <a:xfrm>
              <a:off x="1867" y="933"/>
              <a:ext cx="34" cy="40"/>
            </a:xfrm>
            <a:custGeom>
              <a:avLst/>
              <a:gdLst>
                <a:gd name="T0" fmla="*/ 0 w 34"/>
                <a:gd name="T1" fmla="*/ 0 h 40"/>
                <a:gd name="T2" fmla="*/ 3 w 34"/>
                <a:gd name="T3" fmla="*/ 0 h 40"/>
                <a:gd name="T4" fmla="*/ 6 w 34"/>
                <a:gd name="T5" fmla="*/ 0 h 40"/>
                <a:gd name="T6" fmla="*/ 17 w 34"/>
                <a:gd name="T7" fmla="*/ 34 h 40"/>
                <a:gd name="T8" fmla="*/ 17 w 34"/>
                <a:gd name="T9" fmla="*/ 34 h 40"/>
                <a:gd name="T10" fmla="*/ 28 w 34"/>
                <a:gd name="T11" fmla="*/ 0 h 40"/>
                <a:gd name="T12" fmla="*/ 32 w 34"/>
                <a:gd name="T13" fmla="*/ 0 h 40"/>
                <a:gd name="T14" fmla="*/ 34 w 34"/>
                <a:gd name="T15" fmla="*/ 0 h 40"/>
                <a:gd name="T16" fmla="*/ 21 w 34"/>
                <a:gd name="T17" fmla="*/ 40 h 40"/>
                <a:gd name="T18" fmla="*/ 17 w 34"/>
                <a:gd name="T19" fmla="*/ 40 h 40"/>
                <a:gd name="T20" fmla="*/ 15 w 34"/>
                <a:gd name="T21" fmla="*/ 40 h 40"/>
                <a:gd name="T22" fmla="*/ 0 w 34"/>
                <a:gd name="T2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40">
                  <a:moveTo>
                    <a:pt x="0" y="0"/>
                  </a:moveTo>
                  <a:lnTo>
                    <a:pt x="3" y="0"/>
                  </a:lnTo>
                  <a:lnTo>
                    <a:pt x="6" y="0"/>
                  </a:lnTo>
                  <a:lnTo>
                    <a:pt x="17" y="34"/>
                  </a:lnTo>
                  <a:lnTo>
                    <a:pt x="17" y="34"/>
                  </a:lnTo>
                  <a:lnTo>
                    <a:pt x="28" y="0"/>
                  </a:lnTo>
                  <a:lnTo>
                    <a:pt x="32" y="0"/>
                  </a:lnTo>
                  <a:lnTo>
                    <a:pt x="34" y="0"/>
                  </a:lnTo>
                  <a:lnTo>
                    <a:pt x="21" y="40"/>
                  </a:lnTo>
                  <a:lnTo>
                    <a:pt x="17" y="40"/>
                  </a:lnTo>
                  <a:lnTo>
                    <a:pt x="15"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29" name="Freeform 99"/>
            <p:cNvSpPr/>
            <p:nvPr userDrawn="1"/>
          </p:nvSpPr>
          <p:spPr bwMode="auto">
            <a:xfrm>
              <a:off x="1911" y="933"/>
              <a:ext cx="30" cy="40"/>
            </a:xfrm>
            <a:custGeom>
              <a:avLst/>
              <a:gdLst>
                <a:gd name="T0" fmla="*/ 0 w 30"/>
                <a:gd name="T1" fmla="*/ 40 h 40"/>
                <a:gd name="T2" fmla="*/ 0 w 30"/>
                <a:gd name="T3" fmla="*/ 0 h 40"/>
                <a:gd name="T4" fmla="*/ 30 w 30"/>
                <a:gd name="T5" fmla="*/ 0 h 40"/>
                <a:gd name="T6" fmla="*/ 30 w 30"/>
                <a:gd name="T7" fmla="*/ 3 h 40"/>
                <a:gd name="T8" fmla="*/ 30 w 30"/>
                <a:gd name="T9" fmla="*/ 5 h 40"/>
                <a:gd name="T10" fmla="*/ 6 w 30"/>
                <a:gd name="T11" fmla="*/ 5 h 40"/>
                <a:gd name="T12" fmla="*/ 6 w 30"/>
                <a:gd name="T13" fmla="*/ 16 h 40"/>
                <a:gd name="T14" fmla="*/ 27 w 30"/>
                <a:gd name="T15" fmla="*/ 16 h 40"/>
                <a:gd name="T16" fmla="*/ 27 w 30"/>
                <a:gd name="T17" fmla="*/ 19 h 40"/>
                <a:gd name="T18" fmla="*/ 27 w 30"/>
                <a:gd name="T19" fmla="*/ 21 h 40"/>
                <a:gd name="T20" fmla="*/ 6 w 30"/>
                <a:gd name="T21" fmla="*/ 21 h 40"/>
                <a:gd name="T22" fmla="*/ 6 w 30"/>
                <a:gd name="T23" fmla="*/ 35 h 40"/>
                <a:gd name="T24" fmla="*/ 30 w 30"/>
                <a:gd name="T25" fmla="*/ 35 h 40"/>
                <a:gd name="T26" fmla="*/ 30 w 30"/>
                <a:gd name="T27" fmla="*/ 37 h 40"/>
                <a:gd name="T28" fmla="*/ 30 w 30"/>
                <a:gd name="T29" fmla="*/ 40 h 40"/>
                <a:gd name="T30" fmla="*/ 0 w 30"/>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40">
                  <a:moveTo>
                    <a:pt x="0" y="40"/>
                  </a:moveTo>
                  <a:lnTo>
                    <a:pt x="0" y="0"/>
                  </a:lnTo>
                  <a:lnTo>
                    <a:pt x="30" y="0"/>
                  </a:lnTo>
                  <a:lnTo>
                    <a:pt x="30" y="3"/>
                  </a:lnTo>
                  <a:lnTo>
                    <a:pt x="30" y="5"/>
                  </a:lnTo>
                  <a:lnTo>
                    <a:pt x="6" y="5"/>
                  </a:lnTo>
                  <a:lnTo>
                    <a:pt x="6" y="16"/>
                  </a:lnTo>
                  <a:lnTo>
                    <a:pt x="27" y="16"/>
                  </a:lnTo>
                  <a:lnTo>
                    <a:pt x="27" y="19"/>
                  </a:lnTo>
                  <a:lnTo>
                    <a:pt x="27" y="21"/>
                  </a:lnTo>
                  <a:lnTo>
                    <a:pt x="6" y="21"/>
                  </a:lnTo>
                  <a:lnTo>
                    <a:pt x="6" y="35"/>
                  </a:lnTo>
                  <a:lnTo>
                    <a:pt x="30" y="35"/>
                  </a:lnTo>
                  <a:lnTo>
                    <a:pt x="30" y="37"/>
                  </a:lnTo>
                  <a:lnTo>
                    <a:pt x="30" y="40"/>
                  </a:lnTo>
                  <a:lnTo>
                    <a:pt x="0"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30" name="Freeform 100"/>
            <p:cNvSpPr>
              <a:spLocks noEditPoints="1"/>
            </p:cNvSpPr>
            <p:nvPr userDrawn="1"/>
          </p:nvSpPr>
          <p:spPr bwMode="auto">
            <a:xfrm>
              <a:off x="1955" y="933"/>
              <a:ext cx="33" cy="40"/>
            </a:xfrm>
            <a:custGeom>
              <a:avLst/>
              <a:gdLst>
                <a:gd name="T0" fmla="*/ 0 w 27"/>
                <a:gd name="T1" fmla="*/ 0 h 32"/>
                <a:gd name="T2" fmla="*/ 2 w 27"/>
                <a:gd name="T3" fmla="*/ 0 h 32"/>
                <a:gd name="T4" fmla="*/ 15 w 27"/>
                <a:gd name="T5" fmla="*/ 0 h 32"/>
                <a:gd name="T6" fmla="*/ 23 w 27"/>
                <a:gd name="T7" fmla="*/ 2 h 32"/>
                <a:gd name="T8" fmla="*/ 25 w 27"/>
                <a:gd name="T9" fmla="*/ 8 h 32"/>
                <a:gd name="T10" fmla="*/ 23 w 27"/>
                <a:gd name="T11" fmla="*/ 15 h 32"/>
                <a:gd name="T12" fmla="*/ 21 w 27"/>
                <a:gd name="T13" fmla="*/ 16 h 32"/>
                <a:gd name="T14" fmla="*/ 22 w 27"/>
                <a:gd name="T15" fmla="*/ 16 h 32"/>
                <a:gd name="T16" fmla="*/ 25 w 27"/>
                <a:gd name="T17" fmla="*/ 22 h 32"/>
                <a:gd name="T18" fmla="*/ 25 w 27"/>
                <a:gd name="T19" fmla="*/ 28 h 32"/>
                <a:gd name="T20" fmla="*/ 25 w 27"/>
                <a:gd name="T21" fmla="*/ 30 h 32"/>
                <a:gd name="T22" fmla="*/ 27 w 27"/>
                <a:gd name="T23" fmla="*/ 31 h 32"/>
                <a:gd name="T24" fmla="*/ 27 w 27"/>
                <a:gd name="T25" fmla="*/ 31 h 32"/>
                <a:gd name="T26" fmla="*/ 21 w 27"/>
                <a:gd name="T27" fmla="*/ 31 h 32"/>
                <a:gd name="T28" fmla="*/ 21 w 27"/>
                <a:gd name="T29" fmla="*/ 29 h 32"/>
                <a:gd name="T30" fmla="*/ 21 w 27"/>
                <a:gd name="T31" fmla="*/ 26 h 32"/>
                <a:gd name="T32" fmla="*/ 21 w 27"/>
                <a:gd name="T33" fmla="*/ 23 h 32"/>
                <a:gd name="T34" fmla="*/ 19 w 27"/>
                <a:gd name="T35" fmla="*/ 19 h 32"/>
                <a:gd name="T36" fmla="*/ 15 w 27"/>
                <a:gd name="T37" fmla="*/ 18 h 32"/>
                <a:gd name="T38" fmla="*/ 4 w 27"/>
                <a:gd name="T39" fmla="*/ 18 h 32"/>
                <a:gd name="T40" fmla="*/ 4 w 27"/>
                <a:gd name="T41" fmla="*/ 32 h 32"/>
                <a:gd name="T42" fmla="*/ 2 w 27"/>
                <a:gd name="T43" fmla="*/ 32 h 32"/>
                <a:gd name="T44" fmla="*/ 0 w 27"/>
                <a:gd name="T45" fmla="*/ 32 h 32"/>
                <a:gd name="T46" fmla="*/ 0 w 27"/>
                <a:gd name="T47" fmla="*/ 0 h 32"/>
                <a:gd name="T48" fmla="*/ 4 w 27"/>
                <a:gd name="T49" fmla="*/ 14 h 32"/>
                <a:gd name="T50" fmla="*/ 15 w 27"/>
                <a:gd name="T51" fmla="*/ 14 h 32"/>
                <a:gd name="T52" fmla="*/ 19 w 27"/>
                <a:gd name="T53" fmla="*/ 13 h 32"/>
                <a:gd name="T54" fmla="*/ 21 w 27"/>
                <a:gd name="T55" fmla="*/ 9 h 32"/>
                <a:gd name="T56" fmla="*/ 19 w 27"/>
                <a:gd name="T57" fmla="*/ 5 h 32"/>
                <a:gd name="T58" fmla="*/ 15 w 27"/>
                <a:gd name="T59" fmla="*/ 3 h 32"/>
                <a:gd name="T60" fmla="*/ 4 w 27"/>
                <a:gd name="T61" fmla="*/ 3 h 32"/>
                <a:gd name="T62" fmla="*/ 4 w 27"/>
                <a:gd name="T63" fmla="*/ 1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 h="32">
                  <a:moveTo>
                    <a:pt x="0" y="0"/>
                  </a:moveTo>
                  <a:cubicBezTo>
                    <a:pt x="2" y="0"/>
                    <a:pt x="2" y="0"/>
                    <a:pt x="2" y="0"/>
                  </a:cubicBezTo>
                  <a:cubicBezTo>
                    <a:pt x="15" y="0"/>
                    <a:pt x="15" y="0"/>
                    <a:pt x="15" y="0"/>
                  </a:cubicBezTo>
                  <a:cubicBezTo>
                    <a:pt x="18" y="0"/>
                    <a:pt x="21" y="1"/>
                    <a:pt x="23" y="2"/>
                  </a:cubicBezTo>
                  <a:cubicBezTo>
                    <a:pt x="24" y="3"/>
                    <a:pt x="25" y="6"/>
                    <a:pt x="25" y="8"/>
                  </a:cubicBezTo>
                  <a:cubicBezTo>
                    <a:pt x="25" y="11"/>
                    <a:pt x="24" y="13"/>
                    <a:pt x="23" y="15"/>
                  </a:cubicBezTo>
                  <a:cubicBezTo>
                    <a:pt x="22" y="15"/>
                    <a:pt x="22" y="16"/>
                    <a:pt x="21" y="16"/>
                  </a:cubicBezTo>
                  <a:cubicBezTo>
                    <a:pt x="22" y="16"/>
                    <a:pt x="22" y="16"/>
                    <a:pt x="22" y="16"/>
                  </a:cubicBezTo>
                  <a:cubicBezTo>
                    <a:pt x="24" y="17"/>
                    <a:pt x="25" y="19"/>
                    <a:pt x="25" y="22"/>
                  </a:cubicBezTo>
                  <a:cubicBezTo>
                    <a:pt x="25" y="28"/>
                    <a:pt x="25" y="28"/>
                    <a:pt x="25" y="28"/>
                  </a:cubicBezTo>
                  <a:cubicBezTo>
                    <a:pt x="25" y="29"/>
                    <a:pt x="25" y="29"/>
                    <a:pt x="25" y="30"/>
                  </a:cubicBezTo>
                  <a:cubicBezTo>
                    <a:pt x="26" y="30"/>
                    <a:pt x="26" y="30"/>
                    <a:pt x="27" y="31"/>
                  </a:cubicBezTo>
                  <a:cubicBezTo>
                    <a:pt x="27" y="31"/>
                    <a:pt x="27" y="31"/>
                    <a:pt x="27" y="31"/>
                  </a:cubicBezTo>
                  <a:cubicBezTo>
                    <a:pt x="21" y="31"/>
                    <a:pt x="21" y="31"/>
                    <a:pt x="21" y="31"/>
                  </a:cubicBezTo>
                  <a:cubicBezTo>
                    <a:pt x="21" y="31"/>
                    <a:pt x="21" y="31"/>
                    <a:pt x="21" y="29"/>
                  </a:cubicBezTo>
                  <a:cubicBezTo>
                    <a:pt x="21" y="28"/>
                    <a:pt x="21" y="27"/>
                    <a:pt x="21" y="26"/>
                  </a:cubicBezTo>
                  <a:cubicBezTo>
                    <a:pt x="21" y="23"/>
                    <a:pt x="21" y="23"/>
                    <a:pt x="21" y="23"/>
                  </a:cubicBezTo>
                  <a:cubicBezTo>
                    <a:pt x="21" y="21"/>
                    <a:pt x="20" y="20"/>
                    <a:pt x="19" y="19"/>
                  </a:cubicBezTo>
                  <a:cubicBezTo>
                    <a:pt x="18" y="18"/>
                    <a:pt x="17" y="18"/>
                    <a:pt x="15" y="18"/>
                  </a:cubicBezTo>
                  <a:cubicBezTo>
                    <a:pt x="4" y="18"/>
                    <a:pt x="4" y="18"/>
                    <a:pt x="4" y="18"/>
                  </a:cubicBezTo>
                  <a:cubicBezTo>
                    <a:pt x="4" y="32"/>
                    <a:pt x="4" y="32"/>
                    <a:pt x="4" y="32"/>
                  </a:cubicBezTo>
                  <a:cubicBezTo>
                    <a:pt x="2" y="32"/>
                    <a:pt x="2" y="32"/>
                    <a:pt x="2" y="32"/>
                  </a:cubicBezTo>
                  <a:cubicBezTo>
                    <a:pt x="0" y="32"/>
                    <a:pt x="0" y="32"/>
                    <a:pt x="0" y="32"/>
                  </a:cubicBezTo>
                  <a:lnTo>
                    <a:pt x="0" y="0"/>
                  </a:lnTo>
                  <a:close/>
                  <a:moveTo>
                    <a:pt x="4" y="14"/>
                  </a:moveTo>
                  <a:cubicBezTo>
                    <a:pt x="15" y="14"/>
                    <a:pt x="15" y="14"/>
                    <a:pt x="15" y="14"/>
                  </a:cubicBezTo>
                  <a:cubicBezTo>
                    <a:pt x="17" y="14"/>
                    <a:pt x="19" y="14"/>
                    <a:pt x="19" y="13"/>
                  </a:cubicBezTo>
                  <a:cubicBezTo>
                    <a:pt x="20" y="12"/>
                    <a:pt x="21" y="11"/>
                    <a:pt x="21" y="9"/>
                  </a:cubicBezTo>
                  <a:cubicBezTo>
                    <a:pt x="21" y="7"/>
                    <a:pt x="20" y="5"/>
                    <a:pt x="19" y="5"/>
                  </a:cubicBezTo>
                  <a:cubicBezTo>
                    <a:pt x="18" y="4"/>
                    <a:pt x="17" y="3"/>
                    <a:pt x="15" y="3"/>
                  </a:cubicBezTo>
                  <a:cubicBezTo>
                    <a:pt x="4" y="3"/>
                    <a:pt x="4" y="3"/>
                    <a:pt x="4" y="3"/>
                  </a:cubicBezTo>
                  <a:lnTo>
                    <a:pt x="4" y="1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31" name="Freeform 101"/>
            <p:cNvSpPr/>
            <p:nvPr userDrawn="1"/>
          </p:nvSpPr>
          <p:spPr bwMode="auto">
            <a:xfrm>
              <a:off x="1999" y="932"/>
              <a:ext cx="31" cy="41"/>
            </a:xfrm>
            <a:custGeom>
              <a:avLst/>
              <a:gdLst>
                <a:gd name="T0" fmla="*/ 20 w 25"/>
                <a:gd name="T1" fmla="*/ 10 h 33"/>
                <a:gd name="T2" fmla="*/ 18 w 25"/>
                <a:gd name="T3" fmla="*/ 5 h 33"/>
                <a:gd name="T4" fmla="*/ 12 w 25"/>
                <a:gd name="T5" fmla="*/ 4 h 33"/>
                <a:gd name="T6" fmla="*/ 7 w 25"/>
                <a:gd name="T7" fmla="*/ 5 h 33"/>
                <a:gd name="T8" fmla="*/ 5 w 25"/>
                <a:gd name="T9" fmla="*/ 9 h 33"/>
                <a:gd name="T10" fmla="*/ 6 w 25"/>
                <a:gd name="T11" fmla="*/ 12 h 33"/>
                <a:gd name="T12" fmla="*/ 11 w 25"/>
                <a:gd name="T13" fmla="*/ 14 h 33"/>
                <a:gd name="T14" fmla="*/ 17 w 25"/>
                <a:gd name="T15" fmla="*/ 15 h 33"/>
                <a:gd name="T16" fmla="*/ 23 w 25"/>
                <a:gd name="T17" fmla="*/ 18 h 33"/>
                <a:gd name="T18" fmla="*/ 25 w 25"/>
                <a:gd name="T19" fmla="*/ 24 h 33"/>
                <a:gd name="T20" fmla="*/ 22 w 25"/>
                <a:gd name="T21" fmla="*/ 31 h 33"/>
                <a:gd name="T22" fmla="*/ 13 w 25"/>
                <a:gd name="T23" fmla="*/ 33 h 33"/>
                <a:gd name="T24" fmla="*/ 3 w 25"/>
                <a:gd name="T25" fmla="*/ 30 h 33"/>
                <a:gd name="T26" fmla="*/ 0 w 25"/>
                <a:gd name="T27" fmla="*/ 23 h 33"/>
                <a:gd name="T28" fmla="*/ 0 w 25"/>
                <a:gd name="T29" fmla="*/ 22 h 33"/>
                <a:gd name="T30" fmla="*/ 4 w 25"/>
                <a:gd name="T31" fmla="*/ 22 h 33"/>
                <a:gd name="T32" fmla="*/ 6 w 25"/>
                <a:gd name="T33" fmla="*/ 28 h 33"/>
                <a:gd name="T34" fmla="*/ 13 w 25"/>
                <a:gd name="T35" fmla="*/ 30 h 33"/>
                <a:gd name="T36" fmla="*/ 19 w 25"/>
                <a:gd name="T37" fmla="*/ 28 h 33"/>
                <a:gd name="T38" fmla="*/ 21 w 25"/>
                <a:gd name="T39" fmla="*/ 24 h 33"/>
                <a:gd name="T40" fmla="*/ 20 w 25"/>
                <a:gd name="T41" fmla="*/ 21 h 33"/>
                <a:gd name="T42" fmla="*/ 14 w 25"/>
                <a:gd name="T43" fmla="*/ 19 h 33"/>
                <a:gd name="T44" fmla="*/ 9 w 25"/>
                <a:gd name="T45" fmla="*/ 17 h 33"/>
                <a:gd name="T46" fmla="*/ 3 w 25"/>
                <a:gd name="T47" fmla="*/ 15 h 33"/>
                <a:gd name="T48" fmla="*/ 1 w 25"/>
                <a:gd name="T49" fmla="*/ 10 h 33"/>
                <a:gd name="T50" fmla="*/ 4 w 25"/>
                <a:gd name="T51" fmla="*/ 3 h 33"/>
                <a:gd name="T52" fmla="*/ 12 w 25"/>
                <a:gd name="T53" fmla="*/ 0 h 33"/>
                <a:gd name="T54" fmla="*/ 21 w 25"/>
                <a:gd name="T55" fmla="*/ 3 h 33"/>
                <a:gd name="T56" fmla="*/ 24 w 25"/>
                <a:gd name="T57" fmla="*/ 10 h 33"/>
                <a:gd name="T58" fmla="*/ 20 w 25"/>
                <a:gd name="T59"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3">
                  <a:moveTo>
                    <a:pt x="20" y="10"/>
                  </a:moveTo>
                  <a:cubicBezTo>
                    <a:pt x="20" y="8"/>
                    <a:pt x="19" y="6"/>
                    <a:pt x="18" y="5"/>
                  </a:cubicBezTo>
                  <a:cubicBezTo>
                    <a:pt x="17" y="4"/>
                    <a:pt x="15" y="4"/>
                    <a:pt x="12" y="4"/>
                  </a:cubicBezTo>
                  <a:cubicBezTo>
                    <a:pt x="10" y="4"/>
                    <a:pt x="8" y="4"/>
                    <a:pt x="7" y="5"/>
                  </a:cubicBezTo>
                  <a:cubicBezTo>
                    <a:pt x="6" y="6"/>
                    <a:pt x="5" y="7"/>
                    <a:pt x="5" y="9"/>
                  </a:cubicBezTo>
                  <a:cubicBezTo>
                    <a:pt x="5" y="10"/>
                    <a:pt x="5" y="11"/>
                    <a:pt x="6" y="12"/>
                  </a:cubicBezTo>
                  <a:cubicBezTo>
                    <a:pt x="7" y="13"/>
                    <a:pt x="9" y="13"/>
                    <a:pt x="11" y="14"/>
                  </a:cubicBezTo>
                  <a:cubicBezTo>
                    <a:pt x="17" y="15"/>
                    <a:pt x="17" y="15"/>
                    <a:pt x="17" y="15"/>
                  </a:cubicBezTo>
                  <a:cubicBezTo>
                    <a:pt x="20" y="16"/>
                    <a:pt x="22" y="17"/>
                    <a:pt x="23" y="18"/>
                  </a:cubicBezTo>
                  <a:cubicBezTo>
                    <a:pt x="24" y="20"/>
                    <a:pt x="25" y="22"/>
                    <a:pt x="25" y="24"/>
                  </a:cubicBezTo>
                  <a:cubicBezTo>
                    <a:pt x="25" y="27"/>
                    <a:pt x="24" y="29"/>
                    <a:pt x="22" y="31"/>
                  </a:cubicBezTo>
                  <a:cubicBezTo>
                    <a:pt x="20" y="33"/>
                    <a:pt x="17" y="33"/>
                    <a:pt x="13" y="33"/>
                  </a:cubicBezTo>
                  <a:cubicBezTo>
                    <a:pt x="9" y="33"/>
                    <a:pt x="5" y="32"/>
                    <a:pt x="3" y="30"/>
                  </a:cubicBezTo>
                  <a:cubicBezTo>
                    <a:pt x="1" y="29"/>
                    <a:pt x="0" y="26"/>
                    <a:pt x="0" y="23"/>
                  </a:cubicBezTo>
                  <a:cubicBezTo>
                    <a:pt x="0" y="22"/>
                    <a:pt x="0" y="22"/>
                    <a:pt x="0" y="22"/>
                  </a:cubicBezTo>
                  <a:cubicBezTo>
                    <a:pt x="4" y="22"/>
                    <a:pt x="4" y="22"/>
                    <a:pt x="4" y="22"/>
                  </a:cubicBezTo>
                  <a:cubicBezTo>
                    <a:pt x="4" y="25"/>
                    <a:pt x="5" y="26"/>
                    <a:pt x="6" y="28"/>
                  </a:cubicBezTo>
                  <a:cubicBezTo>
                    <a:pt x="8" y="29"/>
                    <a:pt x="10" y="30"/>
                    <a:pt x="13" y="30"/>
                  </a:cubicBezTo>
                  <a:cubicBezTo>
                    <a:pt x="15" y="30"/>
                    <a:pt x="17" y="29"/>
                    <a:pt x="19" y="28"/>
                  </a:cubicBezTo>
                  <a:cubicBezTo>
                    <a:pt x="20" y="27"/>
                    <a:pt x="21" y="26"/>
                    <a:pt x="21" y="24"/>
                  </a:cubicBezTo>
                  <a:cubicBezTo>
                    <a:pt x="21" y="23"/>
                    <a:pt x="20" y="22"/>
                    <a:pt x="20" y="21"/>
                  </a:cubicBezTo>
                  <a:cubicBezTo>
                    <a:pt x="19" y="20"/>
                    <a:pt x="17" y="19"/>
                    <a:pt x="14" y="19"/>
                  </a:cubicBezTo>
                  <a:cubicBezTo>
                    <a:pt x="9" y="17"/>
                    <a:pt x="9" y="17"/>
                    <a:pt x="9" y="17"/>
                  </a:cubicBezTo>
                  <a:cubicBezTo>
                    <a:pt x="6" y="17"/>
                    <a:pt x="4" y="16"/>
                    <a:pt x="3" y="15"/>
                  </a:cubicBezTo>
                  <a:cubicBezTo>
                    <a:pt x="1" y="14"/>
                    <a:pt x="1" y="12"/>
                    <a:pt x="1" y="10"/>
                  </a:cubicBezTo>
                  <a:cubicBezTo>
                    <a:pt x="1" y="7"/>
                    <a:pt x="2" y="4"/>
                    <a:pt x="4" y="3"/>
                  </a:cubicBezTo>
                  <a:cubicBezTo>
                    <a:pt x="6" y="1"/>
                    <a:pt x="9" y="0"/>
                    <a:pt x="12" y="0"/>
                  </a:cubicBezTo>
                  <a:cubicBezTo>
                    <a:pt x="16" y="0"/>
                    <a:pt x="19" y="1"/>
                    <a:pt x="21" y="3"/>
                  </a:cubicBezTo>
                  <a:cubicBezTo>
                    <a:pt x="23" y="4"/>
                    <a:pt x="24" y="7"/>
                    <a:pt x="24" y="10"/>
                  </a:cubicBezTo>
                  <a:lnTo>
                    <a:pt x="20" y="1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32" name="Freeform 102"/>
            <p:cNvSpPr/>
            <p:nvPr userDrawn="1"/>
          </p:nvSpPr>
          <p:spPr bwMode="auto">
            <a:xfrm>
              <a:off x="2044"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33" name="Freeform 103"/>
            <p:cNvSpPr/>
            <p:nvPr userDrawn="1"/>
          </p:nvSpPr>
          <p:spPr bwMode="auto">
            <a:xfrm>
              <a:off x="2060" y="933"/>
              <a:ext cx="32" cy="40"/>
            </a:xfrm>
            <a:custGeom>
              <a:avLst/>
              <a:gdLst>
                <a:gd name="T0" fmla="*/ 13 w 32"/>
                <a:gd name="T1" fmla="*/ 5 h 40"/>
                <a:gd name="T2" fmla="*/ 0 w 32"/>
                <a:gd name="T3" fmla="*/ 5 h 40"/>
                <a:gd name="T4" fmla="*/ 0 w 32"/>
                <a:gd name="T5" fmla="*/ 3 h 40"/>
                <a:gd name="T6" fmla="*/ 0 w 32"/>
                <a:gd name="T7" fmla="*/ 0 h 40"/>
                <a:gd name="T8" fmla="*/ 32 w 32"/>
                <a:gd name="T9" fmla="*/ 0 h 40"/>
                <a:gd name="T10" fmla="*/ 32 w 32"/>
                <a:gd name="T11" fmla="*/ 3 h 40"/>
                <a:gd name="T12" fmla="*/ 32 w 32"/>
                <a:gd name="T13" fmla="*/ 5 h 40"/>
                <a:gd name="T14" fmla="*/ 18 w 32"/>
                <a:gd name="T15" fmla="*/ 5 h 40"/>
                <a:gd name="T16" fmla="*/ 18 w 32"/>
                <a:gd name="T17" fmla="*/ 40 h 40"/>
                <a:gd name="T18" fmla="*/ 16 w 32"/>
                <a:gd name="T19" fmla="*/ 40 h 40"/>
                <a:gd name="T20" fmla="*/ 13 w 32"/>
                <a:gd name="T21" fmla="*/ 40 h 40"/>
                <a:gd name="T22" fmla="*/ 13 w 32"/>
                <a:gd name="T23" fmla="*/ 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 h="40">
                  <a:moveTo>
                    <a:pt x="13" y="5"/>
                  </a:moveTo>
                  <a:lnTo>
                    <a:pt x="0" y="5"/>
                  </a:lnTo>
                  <a:lnTo>
                    <a:pt x="0" y="3"/>
                  </a:lnTo>
                  <a:lnTo>
                    <a:pt x="0" y="0"/>
                  </a:lnTo>
                  <a:lnTo>
                    <a:pt x="32" y="0"/>
                  </a:lnTo>
                  <a:lnTo>
                    <a:pt x="32" y="3"/>
                  </a:lnTo>
                  <a:lnTo>
                    <a:pt x="32" y="5"/>
                  </a:lnTo>
                  <a:lnTo>
                    <a:pt x="18" y="5"/>
                  </a:lnTo>
                  <a:lnTo>
                    <a:pt x="18" y="40"/>
                  </a:lnTo>
                  <a:lnTo>
                    <a:pt x="16" y="40"/>
                  </a:lnTo>
                  <a:lnTo>
                    <a:pt x="13" y="40"/>
                  </a:lnTo>
                  <a:lnTo>
                    <a:pt x="13" y="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34" name="Freeform 104"/>
            <p:cNvSpPr/>
            <p:nvPr userDrawn="1"/>
          </p:nvSpPr>
          <p:spPr bwMode="auto">
            <a:xfrm>
              <a:off x="2101" y="933"/>
              <a:ext cx="34" cy="40"/>
            </a:xfrm>
            <a:custGeom>
              <a:avLst/>
              <a:gdLst>
                <a:gd name="T0" fmla="*/ 15 w 34"/>
                <a:gd name="T1" fmla="*/ 24 h 40"/>
                <a:gd name="T2" fmla="*/ 0 w 34"/>
                <a:gd name="T3" fmla="*/ 0 h 40"/>
                <a:gd name="T4" fmla="*/ 3 w 34"/>
                <a:gd name="T5" fmla="*/ 0 h 40"/>
                <a:gd name="T6" fmla="*/ 6 w 34"/>
                <a:gd name="T7" fmla="*/ 0 h 40"/>
                <a:gd name="T8" fmla="*/ 17 w 34"/>
                <a:gd name="T9" fmla="*/ 19 h 40"/>
                <a:gd name="T10" fmla="*/ 17 w 34"/>
                <a:gd name="T11" fmla="*/ 19 h 40"/>
                <a:gd name="T12" fmla="*/ 28 w 34"/>
                <a:gd name="T13" fmla="*/ 0 h 40"/>
                <a:gd name="T14" fmla="*/ 32 w 34"/>
                <a:gd name="T15" fmla="*/ 0 h 40"/>
                <a:gd name="T16" fmla="*/ 34 w 34"/>
                <a:gd name="T17" fmla="*/ 0 h 40"/>
                <a:gd name="T18" fmla="*/ 20 w 34"/>
                <a:gd name="T19" fmla="*/ 24 h 40"/>
                <a:gd name="T20" fmla="*/ 20 w 34"/>
                <a:gd name="T21" fmla="*/ 40 h 40"/>
                <a:gd name="T22" fmla="*/ 17 w 34"/>
                <a:gd name="T23" fmla="*/ 40 h 40"/>
                <a:gd name="T24" fmla="*/ 15 w 34"/>
                <a:gd name="T25" fmla="*/ 40 h 40"/>
                <a:gd name="T26" fmla="*/ 15 w 34"/>
                <a:gd name="T27"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4" h="40">
                  <a:moveTo>
                    <a:pt x="15" y="24"/>
                  </a:moveTo>
                  <a:lnTo>
                    <a:pt x="0" y="0"/>
                  </a:lnTo>
                  <a:lnTo>
                    <a:pt x="3" y="0"/>
                  </a:lnTo>
                  <a:lnTo>
                    <a:pt x="6" y="0"/>
                  </a:lnTo>
                  <a:lnTo>
                    <a:pt x="17" y="19"/>
                  </a:lnTo>
                  <a:lnTo>
                    <a:pt x="17" y="19"/>
                  </a:lnTo>
                  <a:lnTo>
                    <a:pt x="28" y="0"/>
                  </a:lnTo>
                  <a:lnTo>
                    <a:pt x="32" y="0"/>
                  </a:lnTo>
                  <a:lnTo>
                    <a:pt x="34" y="0"/>
                  </a:lnTo>
                  <a:lnTo>
                    <a:pt x="20" y="24"/>
                  </a:lnTo>
                  <a:lnTo>
                    <a:pt x="20" y="40"/>
                  </a:lnTo>
                  <a:lnTo>
                    <a:pt x="17" y="40"/>
                  </a:lnTo>
                  <a:lnTo>
                    <a:pt x="15" y="40"/>
                  </a:lnTo>
                  <a:lnTo>
                    <a:pt x="15" y="2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35" name="Freeform 105"/>
            <p:cNvSpPr>
              <a:spLocks noEditPoints="1"/>
            </p:cNvSpPr>
            <p:nvPr userDrawn="1"/>
          </p:nvSpPr>
          <p:spPr bwMode="auto">
            <a:xfrm>
              <a:off x="954" y="660"/>
              <a:ext cx="350" cy="353"/>
            </a:xfrm>
            <a:custGeom>
              <a:avLst/>
              <a:gdLst>
                <a:gd name="T0" fmla="*/ 142 w 283"/>
                <a:gd name="T1" fmla="*/ 0 h 283"/>
                <a:gd name="T2" fmla="*/ 283 w 283"/>
                <a:gd name="T3" fmla="*/ 142 h 283"/>
                <a:gd name="T4" fmla="*/ 142 w 283"/>
                <a:gd name="T5" fmla="*/ 283 h 283"/>
                <a:gd name="T6" fmla="*/ 0 w 283"/>
                <a:gd name="T7" fmla="*/ 142 h 283"/>
                <a:gd name="T8" fmla="*/ 142 w 283"/>
                <a:gd name="T9" fmla="*/ 0 h 283"/>
                <a:gd name="T10" fmla="*/ 142 w 283"/>
                <a:gd name="T11" fmla="*/ 6 h 283"/>
                <a:gd name="T12" fmla="*/ 6 w 283"/>
                <a:gd name="T13" fmla="*/ 142 h 283"/>
                <a:gd name="T14" fmla="*/ 142 w 283"/>
                <a:gd name="T15" fmla="*/ 277 h 283"/>
                <a:gd name="T16" fmla="*/ 278 w 283"/>
                <a:gd name="T17" fmla="*/ 142 h 283"/>
                <a:gd name="T18" fmla="*/ 142 w 283"/>
                <a:gd name="T19" fmla="*/ 6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3" h="283">
                  <a:moveTo>
                    <a:pt x="142" y="0"/>
                  </a:moveTo>
                  <a:cubicBezTo>
                    <a:pt x="220" y="0"/>
                    <a:pt x="283" y="64"/>
                    <a:pt x="283" y="142"/>
                  </a:cubicBezTo>
                  <a:cubicBezTo>
                    <a:pt x="283" y="219"/>
                    <a:pt x="220" y="283"/>
                    <a:pt x="142" y="283"/>
                  </a:cubicBezTo>
                  <a:cubicBezTo>
                    <a:pt x="64" y="283"/>
                    <a:pt x="0" y="219"/>
                    <a:pt x="0" y="142"/>
                  </a:cubicBezTo>
                  <a:cubicBezTo>
                    <a:pt x="0" y="64"/>
                    <a:pt x="64" y="0"/>
                    <a:pt x="142" y="0"/>
                  </a:cubicBezTo>
                  <a:moveTo>
                    <a:pt x="142" y="6"/>
                  </a:moveTo>
                  <a:cubicBezTo>
                    <a:pt x="67" y="6"/>
                    <a:pt x="6" y="67"/>
                    <a:pt x="6" y="142"/>
                  </a:cubicBezTo>
                  <a:cubicBezTo>
                    <a:pt x="6" y="216"/>
                    <a:pt x="67" y="277"/>
                    <a:pt x="142" y="277"/>
                  </a:cubicBezTo>
                  <a:cubicBezTo>
                    <a:pt x="217" y="277"/>
                    <a:pt x="278" y="216"/>
                    <a:pt x="278" y="142"/>
                  </a:cubicBezTo>
                  <a:cubicBezTo>
                    <a:pt x="278" y="67"/>
                    <a:pt x="217" y="6"/>
                    <a:pt x="142" y="6"/>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36" name="Freeform 106"/>
            <p:cNvSpPr/>
            <p:nvPr userDrawn="1"/>
          </p:nvSpPr>
          <p:spPr bwMode="auto">
            <a:xfrm>
              <a:off x="1033" y="739"/>
              <a:ext cx="193" cy="173"/>
            </a:xfrm>
            <a:custGeom>
              <a:avLst/>
              <a:gdLst>
                <a:gd name="T0" fmla="*/ 28 w 156"/>
                <a:gd name="T1" fmla="*/ 139 h 139"/>
                <a:gd name="T2" fmla="*/ 7 w 156"/>
                <a:gd name="T3" fmla="*/ 112 h 139"/>
                <a:gd name="T4" fmla="*/ 0 w 156"/>
                <a:gd name="T5" fmla="*/ 79 h 139"/>
                <a:gd name="T6" fmla="*/ 78 w 156"/>
                <a:gd name="T7" fmla="*/ 0 h 139"/>
                <a:gd name="T8" fmla="*/ 156 w 156"/>
                <a:gd name="T9" fmla="*/ 79 h 139"/>
                <a:gd name="T10" fmla="*/ 149 w 156"/>
                <a:gd name="T11" fmla="*/ 112 h 139"/>
                <a:gd name="T12" fmla="*/ 128 w 156"/>
                <a:gd name="T13" fmla="*/ 139 h 139"/>
                <a:gd name="T14" fmla="*/ 126 w 156"/>
                <a:gd name="T15" fmla="*/ 137 h 139"/>
                <a:gd name="T16" fmla="*/ 146 w 156"/>
                <a:gd name="T17" fmla="*/ 111 h 139"/>
                <a:gd name="T18" fmla="*/ 153 w 156"/>
                <a:gd name="T19" fmla="*/ 79 h 139"/>
                <a:gd name="T20" fmla="*/ 78 w 156"/>
                <a:gd name="T21" fmla="*/ 3 h 139"/>
                <a:gd name="T22" fmla="*/ 3 w 156"/>
                <a:gd name="T23" fmla="*/ 79 h 139"/>
                <a:gd name="T24" fmla="*/ 10 w 156"/>
                <a:gd name="T25" fmla="*/ 111 h 139"/>
                <a:gd name="T26" fmla="*/ 30 w 156"/>
                <a:gd name="T27" fmla="*/ 137 h 139"/>
                <a:gd name="T28" fmla="*/ 28 w 156"/>
                <a:gd name="T29" fmla="*/ 13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6" h="139">
                  <a:moveTo>
                    <a:pt x="28" y="139"/>
                  </a:moveTo>
                  <a:cubicBezTo>
                    <a:pt x="19" y="132"/>
                    <a:pt x="12" y="122"/>
                    <a:pt x="7" y="112"/>
                  </a:cubicBezTo>
                  <a:cubicBezTo>
                    <a:pt x="2" y="102"/>
                    <a:pt x="0" y="90"/>
                    <a:pt x="0" y="79"/>
                  </a:cubicBezTo>
                  <a:cubicBezTo>
                    <a:pt x="0" y="36"/>
                    <a:pt x="35" y="0"/>
                    <a:pt x="78" y="0"/>
                  </a:cubicBezTo>
                  <a:cubicBezTo>
                    <a:pt x="121" y="0"/>
                    <a:pt x="156" y="36"/>
                    <a:pt x="156" y="79"/>
                  </a:cubicBezTo>
                  <a:cubicBezTo>
                    <a:pt x="156" y="90"/>
                    <a:pt x="153" y="102"/>
                    <a:pt x="149" y="112"/>
                  </a:cubicBezTo>
                  <a:cubicBezTo>
                    <a:pt x="144" y="122"/>
                    <a:pt x="136" y="132"/>
                    <a:pt x="128" y="139"/>
                  </a:cubicBezTo>
                  <a:cubicBezTo>
                    <a:pt x="126" y="137"/>
                    <a:pt x="126" y="137"/>
                    <a:pt x="126" y="137"/>
                  </a:cubicBezTo>
                  <a:cubicBezTo>
                    <a:pt x="134" y="130"/>
                    <a:pt x="141" y="121"/>
                    <a:pt x="146" y="111"/>
                  </a:cubicBezTo>
                  <a:cubicBezTo>
                    <a:pt x="151" y="101"/>
                    <a:pt x="153" y="90"/>
                    <a:pt x="153" y="79"/>
                  </a:cubicBezTo>
                  <a:cubicBezTo>
                    <a:pt x="153" y="37"/>
                    <a:pt x="119" y="3"/>
                    <a:pt x="78" y="3"/>
                  </a:cubicBezTo>
                  <a:cubicBezTo>
                    <a:pt x="36" y="3"/>
                    <a:pt x="3" y="37"/>
                    <a:pt x="3" y="79"/>
                  </a:cubicBezTo>
                  <a:cubicBezTo>
                    <a:pt x="3" y="90"/>
                    <a:pt x="5" y="101"/>
                    <a:pt x="10" y="111"/>
                  </a:cubicBezTo>
                  <a:cubicBezTo>
                    <a:pt x="14" y="121"/>
                    <a:pt x="21" y="130"/>
                    <a:pt x="30" y="137"/>
                  </a:cubicBezTo>
                  <a:lnTo>
                    <a:pt x="28" y="13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37" name="Freeform 107"/>
            <p:cNvSpPr/>
            <p:nvPr userDrawn="1"/>
          </p:nvSpPr>
          <p:spPr bwMode="auto">
            <a:xfrm>
              <a:off x="972" y="867"/>
              <a:ext cx="40" cy="29"/>
            </a:xfrm>
            <a:custGeom>
              <a:avLst/>
              <a:gdLst>
                <a:gd name="T0" fmla="*/ 8 w 40"/>
                <a:gd name="T1" fmla="*/ 29 h 29"/>
                <a:gd name="T2" fmla="*/ 0 w 40"/>
                <a:gd name="T3" fmla="*/ 10 h 29"/>
                <a:gd name="T4" fmla="*/ 4 w 40"/>
                <a:gd name="T5" fmla="*/ 9 h 29"/>
                <a:gd name="T6" fmla="*/ 35 w 40"/>
                <a:gd name="T7" fmla="*/ 14 h 29"/>
                <a:gd name="T8" fmla="*/ 30 w 40"/>
                <a:gd name="T9" fmla="*/ 1 h 29"/>
                <a:gd name="T10" fmla="*/ 34 w 40"/>
                <a:gd name="T11" fmla="*/ 0 h 29"/>
                <a:gd name="T12" fmla="*/ 40 w 40"/>
                <a:gd name="T13" fmla="*/ 16 h 29"/>
                <a:gd name="T14" fmla="*/ 36 w 40"/>
                <a:gd name="T15" fmla="*/ 17 h 29"/>
                <a:gd name="T16" fmla="*/ 7 w 40"/>
                <a:gd name="T17" fmla="*/ 14 h 29"/>
                <a:gd name="T18" fmla="*/ 12 w 40"/>
                <a:gd name="T19" fmla="*/ 27 h 29"/>
                <a:gd name="T20" fmla="*/ 8 w 40"/>
                <a:gd name="T21"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29">
                  <a:moveTo>
                    <a:pt x="8" y="29"/>
                  </a:moveTo>
                  <a:lnTo>
                    <a:pt x="0" y="10"/>
                  </a:lnTo>
                  <a:lnTo>
                    <a:pt x="4" y="9"/>
                  </a:lnTo>
                  <a:lnTo>
                    <a:pt x="35" y="14"/>
                  </a:lnTo>
                  <a:lnTo>
                    <a:pt x="30" y="1"/>
                  </a:lnTo>
                  <a:lnTo>
                    <a:pt x="34" y="0"/>
                  </a:lnTo>
                  <a:lnTo>
                    <a:pt x="40" y="16"/>
                  </a:lnTo>
                  <a:lnTo>
                    <a:pt x="36" y="17"/>
                  </a:lnTo>
                  <a:lnTo>
                    <a:pt x="7" y="14"/>
                  </a:lnTo>
                  <a:lnTo>
                    <a:pt x="12" y="27"/>
                  </a:lnTo>
                  <a:lnTo>
                    <a:pt x="8"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38" name="Freeform 108"/>
            <p:cNvSpPr/>
            <p:nvPr userDrawn="1"/>
          </p:nvSpPr>
          <p:spPr bwMode="auto">
            <a:xfrm>
              <a:off x="984" y="888"/>
              <a:ext cx="38" cy="31"/>
            </a:xfrm>
            <a:custGeom>
              <a:avLst/>
              <a:gdLst>
                <a:gd name="T0" fmla="*/ 7 w 38"/>
                <a:gd name="T1" fmla="*/ 31 h 31"/>
                <a:gd name="T2" fmla="*/ 6 w 38"/>
                <a:gd name="T3" fmla="*/ 28 h 31"/>
                <a:gd name="T4" fmla="*/ 19 w 38"/>
                <a:gd name="T5" fmla="*/ 21 h 31"/>
                <a:gd name="T6" fmla="*/ 14 w 38"/>
                <a:gd name="T7" fmla="*/ 11 h 31"/>
                <a:gd name="T8" fmla="*/ 1 w 38"/>
                <a:gd name="T9" fmla="*/ 19 h 31"/>
                <a:gd name="T10" fmla="*/ 0 w 38"/>
                <a:gd name="T11" fmla="*/ 15 h 31"/>
                <a:gd name="T12" fmla="*/ 29 w 38"/>
                <a:gd name="T13" fmla="*/ 0 h 31"/>
                <a:gd name="T14" fmla="*/ 32 w 38"/>
                <a:gd name="T15" fmla="*/ 4 h 31"/>
                <a:gd name="T16" fmla="*/ 18 w 38"/>
                <a:gd name="T17" fmla="*/ 10 h 31"/>
                <a:gd name="T18" fmla="*/ 23 w 38"/>
                <a:gd name="T19" fmla="*/ 19 h 31"/>
                <a:gd name="T20" fmla="*/ 35 w 38"/>
                <a:gd name="T21" fmla="*/ 13 h 31"/>
                <a:gd name="T22" fmla="*/ 38 w 38"/>
                <a:gd name="T23" fmla="*/ 16 h 31"/>
                <a:gd name="T24" fmla="*/ 7 w 38"/>
                <a:gd name="T25"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1">
                  <a:moveTo>
                    <a:pt x="7" y="31"/>
                  </a:moveTo>
                  <a:lnTo>
                    <a:pt x="6" y="28"/>
                  </a:lnTo>
                  <a:lnTo>
                    <a:pt x="19" y="21"/>
                  </a:lnTo>
                  <a:lnTo>
                    <a:pt x="14" y="11"/>
                  </a:lnTo>
                  <a:lnTo>
                    <a:pt x="1" y="19"/>
                  </a:lnTo>
                  <a:lnTo>
                    <a:pt x="0" y="15"/>
                  </a:lnTo>
                  <a:lnTo>
                    <a:pt x="29" y="0"/>
                  </a:lnTo>
                  <a:lnTo>
                    <a:pt x="32" y="4"/>
                  </a:lnTo>
                  <a:lnTo>
                    <a:pt x="18" y="10"/>
                  </a:lnTo>
                  <a:lnTo>
                    <a:pt x="23" y="19"/>
                  </a:lnTo>
                  <a:lnTo>
                    <a:pt x="35" y="13"/>
                  </a:lnTo>
                  <a:lnTo>
                    <a:pt x="38" y="16"/>
                  </a:lnTo>
                  <a:lnTo>
                    <a:pt x="7" y="3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39" name="Freeform 109"/>
            <p:cNvSpPr/>
            <p:nvPr userDrawn="1"/>
          </p:nvSpPr>
          <p:spPr bwMode="auto">
            <a:xfrm>
              <a:off x="995" y="906"/>
              <a:ext cx="38" cy="33"/>
            </a:xfrm>
            <a:custGeom>
              <a:avLst/>
              <a:gdLst>
                <a:gd name="T0" fmla="*/ 11 w 38"/>
                <a:gd name="T1" fmla="*/ 33 h 33"/>
                <a:gd name="T2" fmla="*/ 0 w 38"/>
                <a:gd name="T3" fmla="*/ 18 h 33"/>
                <a:gd name="T4" fmla="*/ 28 w 38"/>
                <a:gd name="T5" fmla="*/ 0 h 33"/>
                <a:gd name="T6" fmla="*/ 38 w 38"/>
                <a:gd name="T7" fmla="*/ 15 h 33"/>
                <a:gd name="T8" fmla="*/ 36 w 38"/>
                <a:gd name="T9" fmla="*/ 17 h 33"/>
                <a:gd name="T10" fmla="*/ 27 w 38"/>
                <a:gd name="T11" fmla="*/ 6 h 33"/>
                <a:gd name="T12" fmla="*/ 18 w 38"/>
                <a:gd name="T13" fmla="*/ 11 h 33"/>
                <a:gd name="T14" fmla="*/ 26 w 38"/>
                <a:gd name="T15" fmla="*/ 21 h 33"/>
                <a:gd name="T16" fmla="*/ 23 w 38"/>
                <a:gd name="T17" fmla="*/ 23 h 33"/>
                <a:gd name="T18" fmla="*/ 16 w 38"/>
                <a:gd name="T19" fmla="*/ 13 h 33"/>
                <a:gd name="T20" fmla="*/ 6 w 38"/>
                <a:gd name="T21" fmla="*/ 20 h 33"/>
                <a:gd name="T22" fmla="*/ 13 w 38"/>
                <a:gd name="T23" fmla="*/ 31 h 33"/>
                <a:gd name="T24" fmla="*/ 11 w 38"/>
                <a:gd name="T25"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3">
                  <a:moveTo>
                    <a:pt x="11" y="33"/>
                  </a:moveTo>
                  <a:lnTo>
                    <a:pt x="0" y="18"/>
                  </a:lnTo>
                  <a:lnTo>
                    <a:pt x="28" y="0"/>
                  </a:lnTo>
                  <a:lnTo>
                    <a:pt x="38" y="15"/>
                  </a:lnTo>
                  <a:lnTo>
                    <a:pt x="36" y="17"/>
                  </a:lnTo>
                  <a:lnTo>
                    <a:pt x="27" y="6"/>
                  </a:lnTo>
                  <a:lnTo>
                    <a:pt x="18" y="11"/>
                  </a:lnTo>
                  <a:lnTo>
                    <a:pt x="26" y="21"/>
                  </a:lnTo>
                  <a:lnTo>
                    <a:pt x="23" y="23"/>
                  </a:lnTo>
                  <a:lnTo>
                    <a:pt x="16" y="13"/>
                  </a:lnTo>
                  <a:lnTo>
                    <a:pt x="6" y="20"/>
                  </a:lnTo>
                  <a:lnTo>
                    <a:pt x="13" y="31"/>
                  </a:lnTo>
                  <a:lnTo>
                    <a:pt x="11" y="3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40" name="Freeform 110"/>
            <p:cNvSpPr/>
            <p:nvPr userDrawn="1"/>
          </p:nvSpPr>
          <p:spPr bwMode="auto">
            <a:xfrm>
              <a:off x="1026" y="934"/>
              <a:ext cx="24" cy="29"/>
            </a:xfrm>
            <a:custGeom>
              <a:avLst/>
              <a:gdLst>
                <a:gd name="T0" fmla="*/ 3 w 24"/>
                <a:gd name="T1" fmla="*/ 29 h 29"/>
                <a:gd name="T2" fmla="*/ 0 w 24"/>
                <a:gd name="T3" fmla="*/ 26 h 29"/>
                <a:gd name="T4" fmla="*/ 21 w 24"/>
                <a:gd name="T5" fmla="*/ 0 h 29"/>
                <a:gd name="T6" fmla="*/ 24 w 24"/>
                <a:gd name="T7" fmla="*/ 3 h 29"/>
                <a:gd name="T8" fmla="*/ 3 w 24"/>
                <a:gd name="T9" fmla="*/ 29 h 29"/>
              </a:gdLst>
              <a:ahLst/>
              <a:cxnLst>
                <a:cxn ang="0">
                  <a:pos x="T0" y="T1"/>
                </a:cxn>
                <a:cxn ang="0">
                  <a:pos x="T2" y="T3"/>
                </a:cxn>
                <a:cxn ang="0">
                  <a:pos x="T4" y="T5"/>
                </a:cxn>
                <a:cxn ang="0">
                  <a:pos x="T6" y="T7"/>
                </a:cxn>
                <a:cxn ang="0">
                  <a:pos x="T8" y="T9"/>
                </a:cxn>
              </a:cxnLst>
              <a:rect l="0" t="0" r="r" b="b"/>
              <a:pathLst>
                <a:path w="24" h="29">
                  <a:moveTo>
                    <a:pt x="3" y="29"/>
                  </a:moveTo>
                  <a:lnTo>
                    <a:pt x="0" y="26"/>
                  </a:lnTo>
                  <a:lnTo>
                    <a:pt x="21" y="0"/>
                  </a:lnTo>
                  <a:lnTo>
                    <a:pt x="24" y="3"/>
                  </a:lnTo>
                  <a:lnTo>
                    <a:pt x="3"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41" name="Freeform 111"/>
            <p:cNvSpPr>
              <a:spLocks noEditPoints="1"/>
            </p:cNvSpPr>
            <p:nvPr userDrawn="1"/>
          </p:nvSpPr>
          <p:spPr bwMode="auto">
            <a:xfrm>
              <a:off x="1034" y="942"/>
              <a:ext cx="29" cy="35"/>
            </a:xfrm>
            <a:custGeom>
              <a:avLst/>
              <a:gdLst>
                <a:gd name="T0" fmla="*/ 11 w 29"/>
                <a:gd name="T1" fmla="*/ 32 h 35"/>
                <a:gd name="T2" fmla="*/ 16 w 29"/>
                <a:gd name="T3" fmla="*/ 23 h 35"/>
                <a:gd name="T4" fmla="*/ 11 w 29"/>
                <a:gd name="T5" fmla="*/ 20 h 35"/>
                <a:gd name="T6" fmla="*/ 3 w 29"/>
                <a:gd name="T7" fmla="*/ 27 h 35"/>
                <a:gd name="T8" fmla="*/ 0 w 29"/>
                <a:gd name="T9" fmla="*/ 25 h 35"/>
                <a:gd name="T10" fmla="*/ 24 w 29"/>
                <a:gd name="T11" fmla="*/ 0 h 35"/>
                <a:gd name="T12" fmla="*/ 29 w 29"/>
                <a:gd name="T13" fmla="*/ 2 h 35"/>
                <a:gd name="T14" fmla="*/ 16 w 29"/>
                <a:gd name="T15" fmla="*/ 35 h 35"/>
                <a:gd name="T16" fmla="*/ 11 w 29"/>
                <a:gd name="T17" fmla="*/ 32 h 35"/>
                <a:gd name="T18" fmla="*/ 19 w 29"/>
                <a:gd name="T19" fmla="*/ 18 h 35"/>
                <a:gd name="T20" fmla="*/ 24 w 29"/>
                <a:gd name="T21" fmla="*/ 7 h 35"/>
                <a:gd name="T22" fmla="*/ 23 w 29"/>
                <a:gd name="T23" fmla="*/ 6 h 35"/>
                <a:gd name="T24" fmla="*/ 14 w 29"/>
                <a:gd name="T25" fmla="*/ 16 h 35"/>
                <a:gd name="T26" fmla="*/ 19 w 29"/>
                <a:gd name="T2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35">
                  <a:moveTo>
                    <a:pt x="11" y="32"/>
                  </a:moveTo>
                  <a:lnTo>
                    <a:pt x="16" y="23"/>
                  </a:lnTo>
                  <a:lnTo>
                    <a:pt x="11" y="20"/>
                  </a:lnTo>
                  <a:lnTo>
                    <a:pt x="3" y="27"/>
                  </a:lnTo>
                  <a:lnTo>
                    <a:pt x="0" y="25"/>
                  </a:lnTo>
                  <a:lnTo>
                    <a:pt x="24" y="0"/>
                  </a:lnTo>
                  <a:lnTo>
                    <a:pt x="29" y="2"/>
                  </a:lnTo>
                  <a:lnTo>
                    <a:pt x="16" y="35"/>
                  </a:lnTo>
                  <a:lnTo>
                    <a:pt x="11" y="32"/>
                  </a:lnTo>
                  <a:close/>
                  <a:moveTo>
                    <a:pt x="19" y="18"/>
                  </a:moveTo>
                  <a:lnTo>
                    <a:pt x="24" y="7"/>
                  </a:lnTo>
                  <a:lnTo>
                    <a:pt x="23" y="6"/>
                  </a:lnTo>
                  <a:lnTo>
                    <a:pt x="14" y="16"/>
                  </a:lnTo>
                  <a:lnTo>
                    <a:pt x="19" y="18"/>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42" name="Freeform 112"/>
            <p:cNvSpPr/>
            <p:nvPr userDrawn="1"/>
          </p:nvSpPr>
          <p:spPr bwMode="auto">
            <a:xfrm>
              <a:off x="1054" y="948"/>
              <a:ext cx="32" cy="39"/>
            </a:xfrm>
            <a:custGeom>
              <a:avLst/>
              <a:gdLst>
                <a:gd name="T0" fmla="*/ 16 w 32"/>
                <a:gd name="T1" fmla="*/ 39 h 39"/>
                <a:gd name="T2" fmla="*/ 13 w 32"/>
                <a:gd name="T3" fmla="*/ 36 h 39"/>
                <a:gd name="T4" fmla="*/ 15 w 32"/>
                <a:gd name="T5" fmla="*/ 12 h 39"/>
                <a:gd name="T6" fmla="*/ 5 w 32"/>
                <a:gd name="T7" fmla="*/ 32 h 39"/>
                <a:gd name="T8" fmla="*/ 0 w 32"/>
                <a:gd name="T9" fmla="*/ 30 h 39"/>
                <a:gd name="T10" fmla="*/ 16 w 32"/>
                <a:gd name="T11" fmla="*/ 0 h 39"/>
                <a:gd name="T12" fmla="*/ 20 w 32"/>
                <a:gd name="T13" fmla="*/ 1 h 39"/>
                <a:gd name="T14" fmla="*/ 19 w 32"/>
                <a:gd name="T15" fmla="*/ 25 h 39"/>
                <a:gd name="T16" fmla="*/ 29 w 32"/>
                <a:gd name="T17" fmla="*/ 5 h 39"/>
                <a:gd name="T18" fmla="*/ 32 w 32"/>
                <a:gd name="T19" fmla="*/ 7 h 39"/>
                <a:gd name="T20" fmla="*/ 16 w 32"/>
                <a:gd name="T21"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39">
                  <a:moveTo>
                    <a:pt x="16" y="39"/>
                  </a:moveTo>
                  <a:lnTo>
                    <a:pt x="13" y="36"/>
                  </a:lnTo>
                  <a:lnTo>
                    <a:pt x="15" y="12"/>
                  </a:lnTo>
                  <a:lnTo>
                    <a:pt x="5" y="32"/>
                  </a:lnTo>
                  <a:lnTo>
                    <a:pt x="0" y="30"/>
                  </a:lnTo>
                  <a:lnTo>
                    <a:pt x="16" y="0"/>
                  </a:lnTo>
                  <a:lnTo>
                    <a:pt x="20" y="1"/>
                  </a:lnTo>
                  <a:lnTo>
                    <a:pt x="19" y="25"/>
                  </a:lnTo>
                  <a:lnTo>
                    <a:pt x="29" y="5"/>
                  </a:lnTo>
                  <a:lnTo>
                    <a:pt x="32" y="7"/>
                  </a:lnTo>
                  <a:lnTo>
                    <a:pt x="16" y="3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43" name="Freeform 113"/>
            <p:cNvSpPr/>
            <p:nvPr userDrawn="1"/>
          </p:nvSpPr>
          <p:spPr bwMode="auto">
            <a:xfrm>
              <a:off x="1079" y="957"/>
              <a:ext cx="23" cy="36"/>
            </a:xfrm>
            <a:custGeom>
              <a:avLst/>
              <a:gdLst>
                <a:gd name="T0" fmla="*/ 12 w 19"/>
                <a:gd name="T1" fmla="*/ 29 h 29"/>
                <a:gd name="T2" fmla="*/ 10 w 19"/>
                <a:gd name="T3" fmla="*/ 29 h 29"/>
                <a:gd name="T4" fmla="*/ 10 w 19"/>
                <a:gd name="T5" fmla="*/ 26 h 29"/>
                <a:gd name="T6" fmla="*/ 8 w 19"/>
                <a:gd name="T7" fmla="*/ 27 h 29"/>
                <a:gd name="T8" fmla="*/ 5 w 19"/>
                <a:gd name="T9" fmla="*/ 27 h 29"/>
                <a:gd name="T10" fmla="*/ 1 w 19"/>
                <a:gd name="T11" fmla="*/ 23 h 29"/>
                <a:gd name="T12" fmla="*/ 1 w 19"/>
                <a:gd name="T13" fmla="*/ 13 h 29"/>
                <a:gd name="T14" fmla="*/ 6 w 19"/>
                <a:gd name="T15" fmla="*/ 3 h 29"/>
                <a:gd name="T16" fmla="*/ 14 w 19"/>
                <a:gd name="T17" fmla="*/ 1 h 29"/>
                <a:gd name="T18" fmla="*/ 18 w 19"/>
                <a:gd name="T19" fmla="*/ 11 h 29"/>
                <a:gd name="T20" fmla="*/ 15 w 19"/>
                <a:gd name="T21" fmla="*/ 11 h 29"/>
                <a:gd name="T22" fmla="*/ 13 w 19"/>
                <a:gd name="T23" fmla="*/ 4 h 29"/>
                <a:gd name="T24" fmla="*/ 8 w 19"/>
                <a:gd name="T25" fmla="*/ 6 h 29"/>
                <a:gd name="T26" fmla="*/ 5 w 19"/>
                <a:gd name="T27" fmla="*/ 14 h 29"/>
                <a:gd name="T28" fmla="*/ 4 w 19"/>
                <a:gd name="T29" fmla="*/ 21 h 29"/>
                <a:gd name="T30" fmla="*/ 6 w 19"/>
                <a:gd name="T31" fmla="*/ 24 h 29"/>
                <a:gd name="T32" fmla="*/ 9 w 19"/>
                <a:gd name="T33" fmla="*/ 24 h 29"/>
                <a:gd name="T34" fmla="*/ 12 w 19"/>
                <a:gd name="T35" fmla="*/ 20 h 29"/>
                <a:gd name="T36" fmla="*/ 12 w 19"/>
                <a:gd name="T37" fmla="*/ 18 h 29"/>
                <a:gd name="T38" fmla="*/ 8 w 19"/>
                <a:gd name="T39" fmla="*/ 17 h 29"/>
                <a:gd name="T40" fmla="*/ 9 w 19"/>
                <a:gd name="T41" fmla="*/ 14 h 29"/>
                <a:gd name="T42" fmla="*/ 16 w 19"/>
                <a:gd name="T43" fmla="*/ 17 h 29"/>
                <a:gd name="T44" fmla="*/ 12 w 19"/>
                <a:gd name="T45"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29">
                  <a:moveTo>
                    <a:pt x="12" y="29"/>
                  </a:moveTo>
                  <a:cubicBezTo>
                    <a:pt x="10" y="29"/>
                    <a:pt x="10" y="29"/>
                    <a:pt x="10" y="29"/>
                  </a:cubicBezTo>
                  <a:cubicBezTo>
                    <a:pt x="10" y="26"/>
                    <a:pt x="10" y="26"/>
                    <a:pt x="10" y="26"/>
                  </a:cubicBezTo>
                  <a:cubicBezTo>
                    <a:pt x="9" y="27"/>
                    <a:pt x="9" y="27"/>
                    <a:pt x="8" y="27"/>
                  </a:cubicBezTo>
                  <a:cubicBezTo>
                    <a:pt x="7" y="27"/>
                    <a:pt x="6" y="27"/>
                    <a:pt x="5" y="27"/>
                  </a:cubicBezTo>
                  <a:cubicBezTo>
                    <a:pt x="3" y="26"/>
                    <a:pt x="2" y="25"/>
                    <a:pt x="1" y="23"/>
                  </a:cubicBezTo>
                  <a:cubicBezTo>
                    <a:pt x="0" y="20"/>
                    <a:pt x="0" y="17"/>
                    <a:pt x="1" y="13"/>
                  </a:cubicBezTo>
                  <a:cubicBezTo>
                    <a:pt x="3" y="8"/>
                    <a:pt x="4" y="5"/>
                    <a:pt x="6" y="3"/>
                  </a:cubicBezTo>
                  <a:cubicBezTo>
                    <a:pt x="9" y="1"/>
                    <a:pt x="12" y="0"/>
                    <a:pt x="14" y="1"/>
                  </a:cubicBezTo>
                  <a:cubicBezTo>
                    <a:pt x="17" y="2"/>
                    <a:pt x="19" y="6"/>
                    <a:pt x="18" y="11"/>
                  </a:cubicBezTo>
                  <a:cubicBezTo>
                    <a:pt x="15" y="11"/>
                    <a:pt x="15" y="11"/>
                    <a:pt x="15" y="11"/>
                  </a:cubicBezTo>
                  <a:cubicBezTo>
                    <a:pt x="16" y="9"/>
                    <a:pt x="15" y="5"/>
                    <a:pt x="13" y="4"/>
                  </a:cubicBezTo>
                  <a:cubicBezTo>
                    <a:pt x="11" y="4"/>
                    <a:pt x="9" y="4"/>
                    <a:pt x="8" y="6"/>
                  </a:cubicBezTo>
                  <a:cubicBezTo>
                    <a:pt x="7" y="7"/>
                    <a:pt x="6" y="10"/>
                    <a:pt x="5" y="14"/>
                  </a:cubicBezTo>
                  <a:cubicBezTo>
                    <a:pt x="4" y="17"/>
                    <a:pt x="3" y="20"/>
                    <a:pt x="4" y="21"/>
                  </a:cubicBezTo>
                  <a:cubicBezTo>
                    <a:pt x="4" y="23"/>
                    <a:pt x="5" y="24"/>
                    <a:pt x="6" y="24"/>
                  </a:cubicBezTo>
                  <a:cubicBezTo>
                    <a:pt x="7" y="25"/>
                    <a:pt x="9" y="25"/>
                    <a:pt x="9" y="24"/>
                  </a:cubicBezTo>
                  <a:cubicBezTo>
                    <a:pt x="10" y="23"/>
                    <a:pt x="11" y="22"/>
                    <a:pt x="12" y="20"/>
                  </a:cubicBezTo>
                  <a:cubicBezTo>
                    <a:pt x="12" y="18"/>
                    <a:pt x="12" y="18"/>
                    <a:pt x="12" y="18"/>
                  </a:cubicBezTo>
                  <a:cubicBezTo>
                    <a:pt x="8" y="17"/>
                    <a:pt x="8" y="17"/>
                    <a:pt x="8" y="17"/>
                  </a:cubicBezTo>
                  <a:cubicBezTo>
                    <a:pt x="9" y="14"/>
                    <a:pt x="9" y="14"/>
                    <a:pt x="9" y="14"/>
                  </a:cubicBezTo>
                  <a:cubicBezTo>
                    <a:pt x="16" y="17"/>
                    <a:pt x="16" y="17"/>
                    <a:pt x="16" y="17"/>
                  </a:cubicBezTo>
                  <a:lnTo>
                    <a:pt x="12"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44" name="Freeform 114"/>
            <p:cNvSpPr/>
            <p:nvPr userDrawn="1"/>
          </p:nvSpPr>
          <p:spPr bwMode="auto">
            <a:xfrm>
              <a:off x="1121" y="962"/>
              <a:ext cx="19" cy="33"/>
            </a:xfrm>
            <a:custGeom>
              <a:avLst/>
              <a:gdLst>
                <a:gd name="T0" fmla="*/ 15 w 15"/>
                <a:gd name="T1" fmla="*/ 19 h 27"/>
                <a:gd name="T2" fmla="*/ 13 w 15"/>
                <a:gd name="T3" fmla="*/ 25 h 27"/>
                <a:gd name="T4" fmla="*/ 7 w 15"/>
                <a:gd name="T5" fmla="*/ 27 h 27"/>
                <a:gd name="T6" fmla="*/ 1 w 15"/>
                <a:gd name="T7" fmla="*/ 25 h 27"/>
                <a:gd name="T8" fmla="*/ 0 w 15"/>
                <a:gd name="T9" fmla="*/ 19 h 27"/>
                <a:gd name="T10" fmla="*/ 0 w 15"/>
                <a:gd name="T11" fmla="*/ 0 h 27"/>
                <a:gd name="T12" fmla="*/ 4 w 15"/>
                <a:gd name="T13" fmla="*/ 0 h 27"/>
                <a:gd name="T14" fmla="*/ 3 w 15"/>
                <a:gd name="T15" fmla="*/ 19 h 27"/>
                <a:gd name="T16" fmla="*/ 4 w 15"/>
                <a:gd name="T17" fmla="*/ 23 h 27"/>
                <a:gd name="T18" fmla="*/ 7 w 15"/>
                <a:gd name="T19" fmla="*/ 24 h 27"/>
                <a:gd name="T20" fmla="*/ 10 w 15"/>
                <a:gd name="T21" fmla="*/ 23 h 27"/>
                <a:gd name="T22" fmla="*/ 11 w 15"/>
                <a:gd name="T23" fmla="*/ 19 h 27"/>
                <a:gd name="T24" fmla="*/ 12 w 15"/>
                <a:gd name="T25" fmla="*/ 0 h 27"/>
                <a:gd name="T26" fmla="*/ 15 w 15"/>
                <a:gd name="T27" fmla="*/ 0 h 27"/>
                <a:gd name="T28" fmla="*/ 15 w 15"/>
                <a:gd name="T29"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7">
                  <a:moveTo>
                    <a:pt x="15" y="19"/>
                  </a:moveTo>
                  <a:cubicBezTo>
                    <a:pt x="15" y="22"/>
                    <a:pt x="14" y="24"/>
                    <a:pt x="13" y="25"/>
                  </a:cubicBezTo>
                  <a:cubicBezTo>
                    <a:pt x="11" y="27"/>
                    <a:pt x="10" y="27"/>
                    <a:pt x="7" y="27"/>
                  </a:cubicBezTo>
                  <a:cubicBezTo>
                    <a:pt x="4" y="27"/>
                    <a:pt x="2" y="26"/>
                    <a:pt x="1" y="25"/>
                  </a:cubicBezTo>
                  <a:cubicBezTo>
                    <a:pt x="0" y="23"/>
                    <a:pt x="0" y="21"/>
                    <a:pt x="0" y="19"/>
                  </a:cubicBezTo>
                  <a:cubicBezTo>
                    <a:pt x="0" y="0"/>
                    <a:pt x="0" y="0"/>
                    <a:pt x="0" y="0"/>
                  </a:cubicBezTo>
                  <a:cubicBezTo>
                    <a:pt x="4" y="0"/>
                    <a:pt x="4" y="0"/>
                    <a:pt x="4" y="0"/>
                  </a:cubicBezTo>
                  <a:cubicBezTo>
                    <a:pt x="3" y="19"/>
                    <a:pt x="3" y="19"/>
                    <a:pt x="3" y="19"/>
                  </a:cubicBezTo>
                  <a:cubicBezTo>
                    <a:pt x="3" y="21"/>
                    <a:pt x="3" y="22"/>
                    <a:pt x="4" y="23"/>
                  </a:cubicBezTo>
                  <a:cubicBezTo>
                    <a:pt x="5" y="24"/>
                    <a:pt x="6" y="24"/>
                    <a:pt x="7" y="24"/>
                  </a:cubicBezTo>
                  <a:cubicBezTo>
                    <a:pt x="8" y="24"/>
                    <a:pt x="9" y="24"/>
                    <a:pt x="10" y="23"/>
                  </a:cubicBezTo>
                  <a:cubicBezTo>
                    <a:pt x="11" y="22"/>
                    <a:pt x="11" y="21"/>
                    <a:pt x="11" y="19"/>
                  </a:cubicBezTo>
                  <a:cubicBezTo>
                    <a:pt x="12" y="0"/>
                    <a:pt x="12" y="0"/>
                    <a:pt x="12" y="0"/>
                  </a:cubicBezTo>
                  <a:cubicBezTo>
                    <a:pt x="15" y="0"/>
                    <a:pt x="15" y="0"/>
                    <a:pt x="15" y="0"/>
                  </a:cubicBezTo>
                  <a:lnTo>
                    <a:pt x="15" y="1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45" name="Freeform 115"/>
            <p:cNvSpPr/>
            <p:nvPr userDrawn="1"/>
          </p:nvSpPr>
          <p:spPr bwMode="auto">
            <a:xfrm>
              <a:off x="1142" y="959"/>
              <a:ext cx="21" cy="36"/>
            </a:xfrm>
            <a:custGeom>
              <a:avLst/>
              <a:gdLst>
                <a:gd name="T0" fmla="*/ 21 w 21"/>
                <a:gd name="T1" fmla="*/ 33 h 36"/>
                <a:gd name="T2" fmla="*/ 17 w 21"/>
                <a:gd name="T3" fmla="*/ 34 h 36"/>
                <a:gd name="T4" fmla="*/ 5 w 21"/>
                <a:gd name="T5" fmla="*/ 11 h 36"/>
                <a:gd name="T6" fmla="*/ 8 w 21"/>
                <a:gd name="T7" fmla="*/ 35 h 36"/>
                <a:gd name="T8" fmla="*/ 3 w 21"/>
                <a:gd name="T9" fmla="*/ 36 h 36"/>
                <a:gd name="T10" fmla="*/ 0 w 21"/>
                <a:gd name="T11" fmla="*/ 3 h 36"/>
                <a:gd name="T12" fmla="*/ 5 w 21"/>
                <a:gd name="T13" fmla="*/ 1 h 36"/>
                <a:gd name="T14" fmla="*/ 15 w 21"/>
                <a:gd name="T15" fmla="*/ 18 h 36"/>
                <a:gd name="T16" fmla="*/ 12 w 21"/>
                <a:gd name="T17" fmla="*/ 0 h 36"/>
                <a:gd name="T18" fmla="*/ 16 w 21"/>
                <a:gd name="T19" fmla="*/ 0 h 36"/>
                <a:gd name="T20" fmla="*/ 21 w 21"/>
                <a:gd name="T21" fmla="*/ 3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36">
                  <a:moveTo>
                    <a:pt x="21" y="33"/>
                  </a:moveTo>
                  <a:lnTo>
                    <a:pt x="17" y="34"/>
                  </a:lnTo>
                  <a:lnTo>
                    <a:pt x="5" y="11"/>
                  </a:lnTo>
                  <a:lnTo>
                    <a:pt x="8" y="35"/>
                  </a:lnTo>
                  <a:lnTo>
                    <a:pt x="3" y="36"/>
                  </a:lnTo>
                  <a:lnTo>
                    <a:pt x="0" y="3"/>
                  </a:lnTo>
                  <a:lnTo>
                    <a:pt x="5" y="1"/>
                  </a:lnTo>
                  <a:lnTo>
                    <a:pt x="15" y="18"/>
                  </a:lnTo>
                  <a:lnTo>
                    <a:pt x="12" y="0"/>
                  </a:lnTo>
                  <a:lnTo>
                    <a:pt x="16" y="0"/>
                  </a:lnTo>
                  <a:lnTo>
                    <a:pt x="21" y="3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46" name="Freeform 116"/>
            <p:cNvSpPr/>
            <p:nvPr userDrawn="1"/>
          </p:nvSpPr>
          <p:spPr bwMode="auto">
            <a:xfrm>
              <a:off x="1162" y="957"/>
              <a:ext cx="14" cy="33"/>
            </a:xfrm>
            <a:custGeom>
              <a:avLst/>
              <a:gdLst>
                <a:gd name="T0" fmla="*/ 14 w 14"/>
                <a:gd name="T1" fmla="*/ 31 h 33"/>
                <a:gd name="T2" fmla="*/ 9 w 14"/>
                <a:gd name="T3" fmla="*/ 33 h 33"/>
                <a:gd name="T4" fmla="*/ 0 w 14"/>
                <a:gd name="T5" fmla="*/ 1 h 33"/>
                <a:gd name="T6" fmla="*/ 4 w 14"/>
                <a:gd name="T7" fmla="*/ 0 h 33"/>
                <a:gd name="T8" fmla="*/ 14 w 14"/>
                <a:gd name="T9" fmla="*/ 31 h 33"/>
              </a:gdLst>
              <a:ahLst/>
              <a:cxnLst>
                <a:cxn ang="0">
                  <a:pos x="T0" y="T1"/>
                </a:cxn>
                <a:cxn ang="0">
                  <a:pos x="T2" y="T3"/>
                </a:cxn>
                <a:cxn ang="0">
                  <a:pos x="T4" y="T5"/>
                </a:cxn>
                <a:cxn ang="0">
                  <a:pos x="T6" y="T7"/>
                </a:cxn>
                <a:cxn ang="0">
                  <a:pos x="T8" y="T9"/>
                </a:cxn>
              </a:cxnLst>
              <a:rect l="0" t="0" r="r" b="b"/>
              <a:pathLst>
                <a:path w="14" h="33">
                  <a:moveTo>
                    <a:pt x="14" y="31"/>
                  </a:moveTo>
                  <a:lnTo>
                    <a:pt x="9" y="33"/>
                  </a:lnTo>
                  <a:lnTo>
                    <a:pt x="0" y="1"/>
                  </a:lnTo>
                  <a:lnTo>
                    <a:pt x="4" y="0"/>
                  </a:lnTo>
                  <a:lnTo>
                    <a:pt x="14" y="3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47" name="Freeform 117"/>
            <p:cNvSpPr/>
            <p:nvPr userDrawn="1"/>
          </p:nvSpPr>
          <p:spPr bwMode="auto">
            <a:xfrm>
              <a:off x="1169" y="948"/>
              <a:ext cx="23" cy="37"/>
            </a:xfrm>
            <a:custGeom>
              <a:avLst/>
              <a:gdLst>
                <a:gd name="T0" fmla="*/ 18 w 23"/>
                <a:gd name="T1" fmla="*/ 0 h 37"/>
                <a:gd name="T2" fmla="*/ 23 w 23"/>
                <a:gd name="T3" fmla="*/ 35 h 37"/>
                <a:gd name="T4" fmla="*/ 19 w 23"/>
                <a:gd name="T5" fmla="*/ 37 h 37"/>
                <a:gd name="T6" fmla="*/ 0 w 23"/>
                <a:gd name="T7" fmla="*/ 7 h 37"/>
                <a:gd name="T8" fmla="*/ 4 w 23"/>
                <a:gd name="T9" fmla="*/ 6 h 37"/>
                <a:gd name="T10" fmla="*/ 18 w 23"/>
                <a:gd name="T11" fmla="*/ 26 h 37"/>
                <a:gd name="T12" fmla="*/ 14 w 23"/>
                <a:gd name="T13" fmla="*/ 1 h 37"/>
                <a:gd name="T14" fmla="*/ 18 w 23"/>
                <a:gd name="T15" fmla="*/ 0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7">
                  <a:moveTo>
                    <a:pt x="18" y="0"/>
                  </a:moveTo>
                  <a:lnTo>
                    <a:pt x="23" y="35"/>
                  </a:lnTo>
                  <a:lnTo>
                    <a:pt x="19" y="37"/>
                  </a:lnTo>
                  <a:lnTo>
                    <a:pt x="0" y="7"/>
                  </a:lnTo>
                  <a:lnTo>
                    <a:pt x="4" y="6"/>
                  </a:lnTo>
                  <a:lnTo>
                    <a:pt x="18" y="26"/>
                  </a:lnTo>
                  <a:lnTo>
                    <a:pt x="14" y="1"/>
                  </a:lnTo>
                  <a:lnTo>
                    <a:pt x="18"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48" name="Freeform 118"/>
            <p:cNvSpPr/>
            <p:nvPr userDrawn="1"/>
          </p:nvSpPr>
          <p:spPr bwMode="auto">
            <a:xfrm>
              <a:off x="1188" y="939"/>
              <a:ext cx="33" cy="38"/>
            </a:xfrm>
            <a:custGeom>
              <a:avLst/>
              <a:gdLst>
                <a:gd name="T0" fmla="*/ 33 w 33"/>
                <a:gd name="T1" fmla="*/ 29 h 38"/>
                <a:gd name="T2" fmla="*/ 17 w 33"/>
                <a:gd name="T3" fmla="*/ 38 h 38"/>
                <a:gd name="T4" fmla="*/ 0 w 33"/>
                <a:gd name="T5" fmla="*/ 8 h 38"/>
                <a:gd name="T6" fmla="*/ 15 w 33"/>
                <a:gd name="T7" fmla="*/ 0 h 38"/>
                <a:gd name="T8" fmla="*/ 17 w 33"/>
                <a:gd name="T9" fmla="*/ 3 h 38"/>
                <a:gd name="T10" fmla="*/ 6 w 33"/>
                <a:gd name="T11" fmla="*/ 9 h 38"/>
                <a:gd name="T12" fmla="*/ 11 w 33"/>
                <a:gd name="T13" fmla="*/ 19 h 38"/>
                <a:gd name="T14" fmla="*/ 22 w 33"/>
                <a:gd name="T15" fmla="*/ 13 h 38"/>
                <a:gd name="T16" fmla="*/ 23 w 33"/>
                <a:gd name="T17" fmla="*/ 16 h 38"/>
                <a:gd name="T18" fmla="*/ 14 w 33"/>
                <a:gd name="T19" fmla="*/ 21 h 38"/>
                <a:gd name="T20" fmla="*/ 20 w 33"/>
                <a:gd name="T21" fmla="*/ 33 h 38"/>
                <a:gd name="T22" fmla="*/ 31 w 33"/>
                <a:gd name="T23" fmla="*/ 25 h 38"/>
                <a:gd name="T24" fmla="*/ 33 w 33"/>
                <a:gd name="T25" fmla="*/ 2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8">
                  <a:moveTo>
                    <a:pt x="33" y="29"/>
                  </a:moveTo>
                  <a:lnTo>
                    <a:pt x="17" y="38"/>
                  </a:lnTo>
                  <a:lnTo>
                    <a:pt x="0" y="8"/>
                  </a:lnTo>
                  <a:lnTo>
                    <a:pt x="15" y="0"/>
                  </a:lnTo>
                  <a:lnTo>
                    <a:pt x="17" y="3"/>
                  </a:lnTo>
                  <a:lnTo>
                    <a:pt x="6" y="9"/>
                  </a:lnTo>
                  <a:lnTo>
                    <a:pt x="11" y="19"/>
                  </a:lnTo>
                  <a:lnTo>
                    <a:pt x="22" y="13"/>
                  </a:lnTo>
                  <a:lnTo>
                    <a:pt x="23" y="16"/>
                  </a:lnTo>
                  <a:lnTo>
                    <a:pt x="14" y="21"/>
                  </a:lnTo>
                  <a:lnTo>
                    <a:pt x="20" y="33"/>
                  </a:lnTo>
                  <a:lnTo>
                    <a:pt x="31" y="25"/>
                  </a:lnTo>
                  <a:lnTo>
                    <a:pt x="33"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49" name="Freeform 119"/>
            <p:cNvSpPr>
              <a:spLocks noEditPoints="1"/>
            </p:cNvSpPr>
            <p:nvPr userDrawn="1"/>
          </p:nvSpPr>
          <p:spPr bwMode="auto">
            <a:xfrm>
              <a:off x="1205" y="931"/>
              <a:ext cx="34" cy="34"/>
            </a:xfrm>
            <a:custGeom>
              <a:avLst/>
              <a:gdLst>
                <a:gd name="T0" fmla="*/ 27 w 27"/>
                <a:gd name="T1" fmla="*/ 20 h 28"/>
                <a:gd name="T2" fmla="*/ 24 w 27"/>
                <a:gd name="T3" fmla="*/ 22 h 28"/>
                <a:gd name="T4" fmla="*/ 15 w 27"/>
                <a:gd name="T5" fmla="*/ 14 h 28"/>
                <a:gd name="T6" fmla="*/ 12 w 27"/>
                <a:gd name="T7" fmla="*/ 17 h 28"/>
                <a:gd name="T8" fmla="*/ 19 w 27"/>
                <a:gd name="T9" fmla="*/ 26 h 28"/>
                <a:gd name="T10" fmla="*/ 16 w 27"/>
                <a:gd name="T11" fmla="*/ 28 h 28"/>
                <a:gd name="T12" fmla="*/ 0 w 27"/>
                <a:gd name="T13" fmla="*/ 6 h 28"/>
                <a:gd name="T14" fmla="*/ 5 w 27"/>
                <a:gd name="T15" fmla="*/ 2 h 28"/>
                <a:gd name="T16" fmla="*/ 11 w 27"/>
                <a:gd name="T17" fmla="*/ 0 h 28"/>
                <a:gd name="T18" fmla="*/ 18 w 27"/>
                <a:gd name="T19" fmla="*/ 8 h 28"/>
                <a:gd name="T20" fmla="*/ 17 w 27"/>
                <a:gd name="T21" fmla="*/ 12 h 28"/>
                <a:gd name="T22" fmla="*/ 27 w 27"/>
                <a:gd name="T23" fmla="*/ 20 h 28"/>
                <a:gd name="T24" fmla="*/ 10 w 27"/>
                <a:gd name="T25" fmla="*/ 4 h 28"/>
                <a:gd name="T26" fmla="*/ 5 w 27"/>
                <a:gd name="T27" fmla="*/ 6 h 28"/>
                <a:gd name="T28" fmla="*/ 10 w 27"/>
                <a:gd name="T29" fmla="*/ 13 h 28"/>
                <a:gd name="T30" fmla="*/ 14 w 27"/>
                <a:gd name="T31" fmla="*/ 10 h 28"/>
                <a:gd name="T32" fmla="*/ 10 w 27"/>
                <a:gd name="T33"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8">
                  <a:moveTo>
                    <a:pt x="27" y="20"/>
                  </a:moveTo>
                  <a:cubicBezTo>
                    <a:pt x="24" y="22"/>
                    <a:pt x="24" y="22"/>
                    <a:pt x="24" y="22"/>
                  </a:cubicBezTo>
                  <a:cubicBezTo>
                    <a:pt x="15" y="14"/>
                    <a:pt x="15" y="14"/>
                    <a:pt x="15" y="14"/>
                  </a:cubicBezTo>
                  <a:cubicBezTo>
                    <a:pt x="12" y="17"/>
                    <a:pt x="12" y="17"/>
                    <a:pt x="12" y="17"/>
                  </a:cubicBezTo>
                  <a:cubicBezTo>
                    <a:pt x="19" y="26"/>
                    <a:pt x="19" y="26"/>
                    <a:pt x="19" y="26"/>
                  </a:cubicBezTo>
                  <a:cubicBezTo>
                    <a:pt x="16" y="28"/>
                    <a:pt x="16" y="28"/>
                    <a:pt x="16" y="28"/>
                  </a:cubicBezTo>
                  <a:cubicBezTo>
                    <a:pt x="0" y="6"/>
                    <a:pt x="0" y="6"/>
                    <a:pt x="0" y="6"/>
                  </a:cubicBezTo>
                  <a:cubicBezTo>
                    <a:pt x="5" y="2"/>
                    <a:pt x="5" y="2"/>
                    <a:pt x="5" y="2"/>
                  </a:cubicBezTo>
                  <a:cubicBezTo>
                    <a:pt x="7" y="1"/>
                    <a:pt x="9" y="0"/>
                    <a:pt x="11" y="0"/>
                  </a:cubicBezTo>
                  <a:cubicBezTo>
                    <a:pt x="16" y="1"/>
                    <a:pt x="18" y="4"/>
                    <a:pt x="18" y="8"/>
                  </a:cubicBezTo>
                  <a:cubicBezTo>
                    <a:pt x="18" y="9"/>
                    <a:pt x="18" y="11"/>
                    <a:pt x="17" y="12"/>
                  </a:cubicBezTo>
                  <a:lnTo>
                    <a:pt x="27" y="20"/>
                  </a:lnTo>
                  <a:close/>
                  <a:moveTo>
                    <a:pt x="10" y="4"/>
                  </a:moveTo>
                  <a:cubicBezTo>
                    <a:pt x="8" y="3"/>
                    <a:pt x="6" y="5"/>
                    <a:pt x="5" y="6"/>
                  </a:cubicBezTo>
                  <a:cubicBezTo>
                    <a:pt x="10" y="13"/>
                    <a:pt x="10" y="13"/>
                    <a:pt x="10" y="13"/>
                  </a:cubicBezTo>
                  <a:cubicBezTo>
                    <a:pt x="12" y="12"/>
                    <a:pt x="12" y="12"/>
                    <a:pt x="14" y="10"/>
                  </a:cubicBezTo>
                  <a:cubicBezTo>
                    <a:pt x="14" y="7"/>
                    <a:pt x="13" y="5"/>
                    <a:pt x="10" y="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50" name="Freeform 120"/>
            <p:cNvSpPr/>
            <p:nvPr userDrawn="1"/>
          </p:nvSpPr>
          <p:spPr bwMode="auto">
            <a:xfrm>
              <a:off x="1223" y="916"/>
              <a:ext cx="34" cy="29"/>
            </a:xfrm>
            <a:custGeom>
              <a:avLst/>
              <a:gdLst>
                <a:gd name="T0" fmla="*/ 22 w 28"/>
                <a:gd name="T1" fmla="*/ 10 h 24"/>
                <a:gd name="T2" fmla="*/ 19 w 28"/>
                <a:gd name="T3" fmla="*/ 24 h 24"/>
                <a:gd name="T4" fmla="*/ 14 w 28"/>
                <a:gd name="T5" fmla="*/ 23 h 24"/>
                <a:gd name="T6" fmla="*/ 15 w 28"/>
                <a:gd name="T7" fmla="*/ 20 h 24"/>
                <a:gd name="T8" fmla="*/ 18 w 28"/>
                <a:gd name="T9" fmla="*/ 21 h 24"/>
                <a:gd name="T10" fmla="*/ 20 w 28"/>
                <a:gd name="T11" fmla="*/ 13 h 24"/>
                <a:gd name="T12" fmla="*/ 17 w 28"/>
                <a:gd name="T13" fmla="*/ 12 h 24"/>
                <a:gd name="T14" fmla="*/ 8 w 28"/>
                <a:gd name="T15" fmla="*/ 15 h 24"/>
                <a:gd name="T16" fmla="*/ 0 w 28"/>
                <a:gd name="T17" fmla="*/ 9 h 24"/>
                <a:gd name="T18" fmla="*/ 2 w 28"/>
                <a:gd name="T19" fmla="*/ 4 h 24"/>
                <a:gd name="T20" fmla="*/ 11 w 28"/>
                <a:gd name="T21" fmla="*/ 2 h 24"/>
                <a:gd name="T22" fmla="*/ 10 w 28"/>
                <a:gd name="T23" fmla="*/ 5 h 24"/>
                <a:gd name="T24" fmla="*/ 4 w 28"/>
                <a:gd name="T25" fmla="*/ 6 h 24"/>
                <a:gd name="T26" fmla="*/ 3 w 28"/>
                <a:gd name="T27" fmla="*/ 9 h 24"/>
                <a:gd name="T28" fmla="*/ 7 w 28"/>
                <a:gd name="T29" fmla="*/ 12 h 24"/>
                <a:gd name="T30" fmla="*/ 17 w 28"/>
                <a:gd name="T31" fmla="*/ 9 h 24"/>
                <a:gd name="T32" fmla="*/ 22 w 28"/>
                <a:gd name="T33" fmla="*/ 1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 h="24">
                  <a:moveTo>
                    <a:pt x="22" y="10"/>
                  </a:moveTo>
                  <a:cubicBezTo>
                    <a:pt x="28" y="13"/>
                    <a:pt x="26" y="23"/>
                    <a:pt x="19" y="24"/>
                  </a:cubicBezTo>
                  <a:cubicBezTo>
                    <a:pt x="17" y="24"/>
                    <a:pt x="15" y="24"/>
                    <a:pt x="14" y="23"/>
                  </a:cubicBezTo>
                  <a:cubicBezTo>
                    <a:pt x="15" y="20"/>
                    <a:pt x="15" y="20"/>
                    <a:pt x="15" y="20"/>
                  </a:cubicBezTo>
                  <a:cubicBezTo>
                    <a:pt x="16" y="21"/>
                    <a:pt x="17" y="21"/>
                    <a:pt x="18" y="21"/>
                  </a:cubicBezTo>
                  <a:cubicBezTo>
                    <a:pt x="23" y="20"/>
                    <a:pt x="23" y="15"/>
                    <a:pt x="20" y="13"/>
                  </a:cubicBezTo>
                  <a:cubicBezTo>
                    <a:pt x="19" y="12"/>
                    <a:pt x="18" y="12"/>
                    <a:pt x="17" y="12"/>
                  </a:cubicBezTo>
                  <a:cubicBezTo>
                    <a:pt x="13" y="13"/>
                    <a:pt x="11" y="15"/>
                    <a:pt x="8" y="15"/>
                  </a:cubicBezTo>
                  <a:cubicBezTo>
                    <a:pt x="4" y="15"/>
                    <a:pt x="1" y="13"/>
                    <a:pt x="0" y="9"/>
                  </a:cubicBezTo>
                  <a:cubicBezTo>
                    <a:pt x="0" y="7"/>
                    <a:pt x="1" y="5"/>
                    <a:pt x="2" y="4"/>
                  </a:cubicBezTo>
                  <a:cubicBezTo>
                    <a:pt x="4" y="0"/>
                    <a:pt x="8" y="0"/>
                    <a:pt x="11" y="2"/>
                  </a:cubicBezTo>
                  <a:cubicBezTo>
                    <a:pt x="10" y="5"/>
                    <a:pt x="10" y="5"/>
                    <a:pt x="10" y="5"/>
                  </a:cubicBezTo>
                  <a:cubicBezTo>
                    <a:pt x="8" y="4"/>
                    <a:pt x="5" y="4"/>
                    <a:pt x="4" y="6"/>
                  </a:cubicBezTo>
                  <a:cubicBezTo>
                    <a:pt x="3" y="7"/>
                    <a:pt x="3" y="8"/>
                    <a:pt x="3" y="9"/>
                  </a:cubicBezTo>
                  <a:cubicBezTo>
                    <a:pt x="4" y="11"/>
                    <a:pt x="5" y="12"/>
                    <a:pt x="7" y="12"/>
                  </a:cubicBezTo>
                  <a:cubicBezTo>
                    <a:pt x="11" y="11"/>
                    <a:pt x="13" y="8"/>
                    <a:pt x="17" y="9"/>
                  </a:cubicBezTo>
                  <a:cubicBezTo>
                    <a:pt x="18" y="9"/>
                    <a:pt x="20" y="9"/>
                    <a:pt x="22" y="1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51" name="Freeform 121"/>
            <p:cNvSpPr/>
            <p:nvPr userDrawn="1"/>
          </p:nvSpPr>
          <p:spPr bwMode="auto">
            <a:xfrm>
              <a:off x="1234" y="906"/>
              <a:ext cx="31" cy="21"/>
            </a:xfrm>
            <a:custGeom>
              <a:avLst/>
              <a:gdLst>
                <a:gd name="T0" fmla="*/ 31 w 31"/>
                <a:gd name="T1" fmla="*/ 17 h 21"/>
                <a:gd name="T2" fmla="*/ 28 w 31"/>
                <a:gd name="T3" fmla="*/ 21 h 21"/>
                <a:gd name="T4" fmla="*/ 0 w 31"/>
                <a:gd name="T5" fmla="*/ 2 h 21"/>
                <a:gd name="T6" fmla="*/ 2 w 31"/>
                <a:gd name="T7" fmla="*/ 0 h 21"/>
                <a:gd name="T8" fmla="*/ 31 w 31"/>
                <a:gd name="T9" fmla="*/ 17 h 21"/>
              </a:gdLst>
              <a:ahLst/>
              <a:cxnLst>
                <a:cxn ang="0">
                  <a:pos x="T0" y="T1"/>
                </a:cxn>
                <a:cxn ang="0">
                  <a:pos x="T2" y="T3"/>
                </a:cxn>
                <a:cxn ang="0">
                  <a:pos x="T4" y="T5"/>
                </a:cxn>
                <a:cxn ang="0">
                  <a:pos x="T6" y="T7"/>
                </a:cxn>
                <a:cxn ang="0">
                  <a:pos x="T8" y="T9"/>
                </a:cxn>
              </a:cxnLst>
              <a:rect l="0" t="0" r="r" b="b"/>
              <a:pathLst>
                <a:path w="31" h="21">
                  <a:moveTo>
                    <a:pt x="31" y="17"/>
                  </a:moveTo>
                  <a:lnTo>
                    <a:pt x="28" y="21"/>
                  </a:lnTo>
                  <a:lnTo>
                    <a:pt x="0" y="2"/>
                  </a:lnTo>
                  <a:lnTo>
                    <a:pt x="2" y="0"/>
                  </a:lnTo>
                  <a:lnTo>
                    <a:pt x="31" y="17"/>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52" name="Freeform 122"/>
            <p:cNvSpPr/>
            <p:nvPr userDrawn="1"/>
          </p:nvSpPr>
          <p:spPr bwMode="auto">
            <a:xfrm>
              <a:off x="1239" y="884"/>
              <a:ext cx="36" cy="28"/>
            </a:xfrm>
            <a:custGeom>
              <a:avLst/>
              <a:gdLst>
                <a:gd name="T0" fmla="*/ 11 w 36"/>
                <a:gd name="T1" fmla="*/ 3 h 28"/>
                <a:gd name="T2" fmla="*/ 8 w 36"/>
                <a:gd name="T3" fmla="*/ 9 h 28"/>
                <a:gd name="T4" fmla="*/ 36 w 36"/>
                <a:gd name="T5" fmla="*/ 25 h 28"/>
                <a:gd name="T6" fmla="*/ 33 w 36"/>
                <a:gd name="T7" fmla="*/ 28 h 28"/>
                <a:gd name="T8" fmla="*/ 6 w 36"/>
                <a:gd name="T9" fmla="*/ 13 h 28"/>
                <a:gd name="T10" fmla="*/ 3 w 36"/>
                <a:gd name="T11" fmla="*/ 18 h 28"/>
                <a:gd name="T12" fmla="*/ 0 w 36"/>
                <a:gd name="T13" fmla="*/ 17 h 28"/>
                <a:gd name="T14" fmla="*/ 7 w 36"/>
                <a:gd name="T15" fmla="*/ 0 h 28"/>
                <a:gd name="T16" fmla="*/ 11 w 36"/>
                <a:gd name="T17"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28">
                  <a:moveTo>
                    <a:pt x="11" y="3"/>
                  </a:moveTo>
                  <a:lnTo>
                    <a:pt x="8" y="9"/>
                  </a:lnTo>
                  <a:lnTo>
                    <a:pt x="36" y="25"/>
                  </a:lnTo>
                  <a:lnTo>
                    <a:pt x="33" y="28"/>
                  </a:lnTo>
                  <a:lnTo>
                    <a:pt x="6" y="13"/>
                  </a:lnTo>
                  <a:lnTo>
                    <a:pt x="3" y="18"/>
                  </a:lnTo>
                  <a:lnTo>
                    <a:pt x="0" y="17"/>
                  </a:lnTo>
                  <a:lnTo>
                    <a:pt x="7" y="0"/>
                  </a:lnTo>
                  <a:lnTo>
                    <a:pt x="11" y="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53" name="Freeform 123"/>
            <p:cNvSpPr/>
            <p:nvPr userDrawn="1"/>
          </p:nvSpPr>
          <p:spPr bwMode="auto">
            <a:xfrm>
              <a:off x="1247" y="865"/>
              <a:ext cx="36" cy="23"/>
            </a:xfrm>
            <a:custGeom>
              <a:avLst/>
              <a:gdLst>
                <a:gd name="T0" fmla="*/ 8 w 36"/>
                <a:gd name="T1" fmla="*/ 0 h 23"/>
                <a:gd name="T2" fmla="*/ 25 w 36"/>
                <a:gd name="T3" fmla="*/ 14 h 23"/>
                <a:gd name="T4" fmla="*/ 36 w 36"/>
                <a:gd name="T5" fmla="*/ 19 h 23"/>
                <a:gd name="T6" fmla="*/ 34 w 36"/>
                <a:gd name="T7" fmla="*/ 23 h 23"/>
                <a:gd name="T8" fmla="*/ 24 w 36"/>
                <a:gd name="T9" fmla="*/ 18 h 23"/>
                <a:gd name="T10" fmla="*/ 0 w 36"/>
                <a:gd name="T11" fmla="*/ 18 h 23"/>
                <a:gd name="T12" fmla="*/ 2 w 36"/>
                <a:gd name="T13" fmla="*/ 14 h 23"/>
                <a:gd name="T14" fmla="*/ 18 w 36"/>
                <a:gd name="T15" fmla="*/ 14 h 23"/>
                <a:gd name="T16" fmla="*/ 7 w 36"/>
                <a:gd name="T17" fmla="*/ 5 h 23"/>
                <a:gd name="T18" fmla="*/ 8 w 36"/>
                <a:gd name="T1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23">
                  <a:moveTo>
                    <a:pt x="8" y="0"/>
                  </a:moveTo>
                  <a:lnTo>
                    <a:pt x="25" y="14"/>
                  </a:lnTo>
                  <a:lnTo>
                    <a:pt x="36" y="19"/>
                  </a:lnTo>
                  <a:lnTo>
                    <a:pt x="34" y="23"/>
                  </a:lnTo>
                  <a:lnTo>
                    <a:pt x="24" y="18"/>
                  </a:lnTo>
                  <a:lnTo>
                    <a:pt x="0" y="18"/>
                  </a:lnTo>
                  <a:lnTo>
                    <a:pt x="2" y="14"/>
                  </a:lnTo>
                  <a:lnTo>
                    <a:pt x="18" y="14"/>
                  </a:lnTo>
                  <a:lnTo>
                    <a:pt x="7" y="5"/>
                  </a:lnTo>
                  <a:lnTo>
                    <a:pt x="8"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54" name="Freeform 124"/>
            <p:cNvSpPr/>
            <p:nvPr userDrawn="1"/>
          </p:nvSpPr>
          <p:spPr bwMode="auto">
            <a:xfrm>
              <a:off x="1010" y="928"/>
              <a:ext cx="34" cy="25"/>
            </a:xfrm>
            <a:custGeom>
              <a:avLst/>
              <a:gdLst>
                <a:gd name="T0" fmla="*/ 14 w 28"/>
                <a:gd name="T1" fmla="*/ 16 h 20"/>
                <a:gd name="T2" fmla="*/ 8 w 28"/>
                <a:gd name="T3" fmla="*/ 20 h 20"/>
                <a:gd name="T4" fmla="*/ 2 w 28"/>
                <a:gd name="T5" fmla="*/ 17 h 20"/>
                <a:gd name="T6" fmla="*/ 0 w 28"/>
                <a:gd name="T7" fmla="*/ 12 h 20"/>
                <a:gd name="T8" fmla="*/ 1 w 28"/>
                <a:gd name="T9" fmla="*/ 9 h 20"/>
                <a:gd name="T10" fmla="*/ 4 w 28"/>
                <a:gd name="T11" fmla="*/ 10 h 20"/>
                <a:gd name="T12" fmla="*/ 3 w 28"/>
                <a:gd name="T13" fmla="*/ 12 h 20"/>
                <a:gd name="T14" fmla="*/ 4 w 28"/>
                <a:gd name="T15" fmla="*/ 15 h 20"/>
                <a:gd name="T16" fmla="*/ 8 w 28"/>
                <a:gd name="T17" fmla="*/ 16 h 20"/>
                <a:gd name="T18" fmla="*/ 12 w 28"/>
                <a:gd name="T19" fmla="*/ 14 h 20"/>
                <a:gd name="T20" fmla="*/ 25 w 28"/>
                <a:gd name="T21" fmla="*/ 0 h 20"/>
                <a:gd name="T22" fmla="*/ 28 w 28"/>
                <a:gd name="T23" fmla="*/ 3 h 20"/>
                <a:gd name="T24" fmla="*/ 14 w 28"/>
                <a:gd name="T25"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 h="20">
                  <a:moveTo>
                    <a:pt x="14" y="16"/>
                  </a:moveTo>
                  <a:cubicBezTo>
                    <a:pt x="12" y="18"/>
                    <a:pt x="10" y="20"/>
                    <a:pt x="8" y="20"/>
                  </a:cubicBezTo>
                  <a:cubicBezTo>
                    <a:pt x="6" y="20"/>
                    <a:pt x="4" y="19"/>
                    <a:pt x="2" y="17"/>
                  </a:cubicBezTo>
                  <a:cubicBezTo>
                    <a:pt x="1" y="16"/>
                    <a:pt x="0" y="14"/>
                    <a:pt x="0" y="12"/>
                  </a:cubicBezTo>
                  <a:cubicBezTo>
                    <a:pt x="0" y="11"/>
                    <a:pt x="0" y="10"/>
                    <a:pt x="1" y="9"/>
                  </a:cubicBezTo>
                  <a:cubicBezTo>
                    <a:pt x="4" y="10"/>
                    <a:pt x="4" y="10"/>
                    <a:pt x="4" y="10"/>
                  </a:cubicBezTo>
                  <a:cubicBezTo>
                    <a:pt x="3" y="11"/>
                    <a:pt x="3" y="11"/>
                    <a:pt x="3" y="12"/>
                  </a:cubicBezTo>
                  <a:cubicBezTo>
                    <a:pt x="3" y="13"/>
                    <a:pt x="4" y="14"/>
                    <a:pt x="4" y="15"/>
                  </a:cubicBezTo>
                  <a:cubicBezTo>
                    <a:pt x="5" y="16"/>
                    <a:pt x="6" y="16"/>
                    <a:pt x="8" y="16"/>
                  </a:cubicBezTo>
                  <a:cubicBezTo>
                    <a:pt x="9" y="16"/>
                    <a:pt x="10" y="15"/>
                    <a:pt x="12" y="14"/>
                  </a:cubicBezTo>
                  <a:cubicBezTo>
                    <a:pt x="25" y="0"/>
                    <a:pt x="25" y="0"/>
                    <a:pt x="25" y="0"/>
                  </a:cubicBezTo>
                  <a:cubicBezTo>
                    <a:pt x="28" y="3"/>
                    <a:pt x="28" y="3"/>
                    <a:pt x="28" y="3"/>
                  </a:cubicBezTo>
                  <a:lnTo>
                    <a:pt x="14" y="16"/>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55" name="Freeform 125"/>
            <p:cNvSpPr>
              <a:spLocks noEditPoints="1"/>
            </p:cNvSpPr>
            <p:nvPr userDrawn="1"/>
          </p:nvSpPr>
          <p:spPr bwMode="auto">
            <a:xfrm>
              <a:off x="1073" y="917"/>
              <a:ext cx="106" cy="33"/>
            </a:xfrm>
            <a:custGeom>
              <a:avLst/>
              <a:gdLst>
                <a:gd name="T0" fmla="*/ 0 w 86"/>
                <a:gd name="T1" fmla="*/ 15 h 27"/>
                <a:gd name="T2" fmla="*/ 4 w 86"/>
                <a:gd name="T3" fmla="*/ 15 h 27"/>
                <a:gd name="T4" fmla="*/ 6 w 86"/>
                <a:gd name="T5" fmla="*/ 3 h 27"/>
                <a:gd name="T6" fmla="*/ 10 w 86"/>
                <a:gd name="T7" fmla="*/ 3 h 27"/>
                <a:gd name="T8" fmla="*/ 14 w 86"/>
                <a:gd name="T9" fmla="*/ 4 h 27"/>
                <a:gd name="T10" fmla="*/ 10 w 86"/>
                <a:gd name="T11" fmla="*/ 19 h 27"/>
                <a:gd name="T12" fmla="*/ 37 w 86"/>
                <a:gd name="T13" fmla="*/ 14 h 27"/>
                <a:gd name="T14" fmla="*/ 33 w 86"/>
                <a:gd name="T15" fmla="*/ 11 h 27"/>
                <a:gd name="T16" fmla="*/ 28 w 86"/>
                <a:gd name="T17" fmla="*/ 13 h 27"/>
                <a:gd name="T18" fmla="*/ 30 w 86"/>
                <a:gd name="T19" fmla="*/ 16 h 27"/>
                <a:gd name="T20" fmla="*/ 34 w 86"/>
                <a:gd name="T21" fmla="*/ 17 h 27"/>
                <a:gd name="T22" fmla="*/ 37 w 86"/>
                <a:gd name="T23" fmla="*/ 14 h 27"/>
                <a:gd name="T24" fmla="*/ 36 w 86"/>
                <a:gd name="T25" fmla="*/ 21 h 27"/>
                <a:gd name="T26" fmla="*/ 32 w 86"/>
                <a:gd name="T27" fmla="*/ 19 h 27"/>
                <a:gd name="T28" fmla="*/ 27 w 86"/>
                <a:gd name="T29" fmla="*/ 19 h 27"/>
                <a:gd name="T30" fmla="*/ 27 w 86"/>
                <a:gd name="T31" fmla="*/ 24 h 27"/>
                <a:gd name="T32" fmla="*/ 34 w 86"/>
                <a:gd name="T33" fmla="*/ 25 h 27"/>
                <a:gd name="T34" fmla="*/ 30 w 86"/>
                <a:gd name="T35" fmla="*/ 27 h 27"/>
                <a:gd name="T36" fmla="*/ 24 w 86"/>
                <a:gd name="T37" fmla="*/ 25 h 27"/>
                <a:gd name="T38" fmla="*/ 23 w 86"/>
                <a:gd name="T39" fmla="*/ 21 h 27"/>
                <a:gd name="T40" fmla="*/ 28 w 86"/>
                <a:gd name="T41" fmla="*/ 17 h 27"/>
                <a:gd name="T42" fmla="*/ 25 w 86"/>
                <a:gd name="T43" fmla="*/ 15 h 27"/>
                <a:gd name="T44" fmla="*/ 28 w 86"/>
                <a:gd name="T45" fmla="*/ 10 h 27"/>
                <a:gd name="T46" fmla="*/ 39 w 86"/>
                <a:gd name="T47" fmla="*/ 11 h 27"/>
                <a:gd name="T48" fmla="*/ 39 w 86"/>
                <a:gd name="T49" fmla="*/ 17 h 27"/>
                <a:gd name="T50" fmla="*/ 36 w 86"/>
                <a:gd name="T51" fmla="*/ 18 h 27"/>
                <a:gd name="T52" fmla="*/ 39 w 86"/>
                <a:gd name="T53" fmla="*/ 23 h 27"/>
                <a:gd name="T54" fmla="*/ 30 w 86"/>
                <a:gd name="T55" fmla="*/ 27 h 27"/>
                <a:gd name="T56" fmla="*/ 62 w 86"/>
                <a:gd name="T57" fmla="*/ 14 h 27"/>
                <a:gd name="T58" fmla="*/ 59 w 86"/>
                <a:gd name="T59" fmla="*/ 11 h 27"/>
                <a:gd name="T60" fmla="*/ 54 w 86"/>
                <a:gd name="T61" fmla="*/ 12 h 27"/>
                <a:gd name="T62" fmla="*/ 53 w 86"/>
                <a:gd name="T63" fmla="*/ 17 h 27"/>
                <a:gd name="T64" fmla="*/ 56 w 86"/>
                <a:gd name="T65" fmla="*/ 19 h 27"/>
                <a:gd name="T66" fmla="*/ 60 w 86"/>
                <a:gd name="T67" fmla="*/ 18 h 27"/>
                <a:gd name="T68" fmla="*/ 63 w 86"/>
                <a:gd name="T69" fmla="*/ 17 h 27"/>
                <a:gd name="T70" fmla="*/ 50 w 86"/>
                <a:gd name="T71" fmla="*/ 15 h 27"/>
                <a:gd name="T72" fmla="*/ 52 w 86"/>
                <a:gd name="T73" fmla="*/ 11 h 27"/>
                <a:gd name="T74" fmla="*/ 58 w 86"/>
                <a:gd name="T75" fmla="*/ 9 h 27"/>
                <a:gd name="T76" fmla="*/ 63 w 86"/>
                <a:gd name="T77" fmla="*/ 11 h 27"/>
                <a:gd name="T78" fmla="*/ 66 w 86"/>
                <a:gd name="T79" fmla="*/ 17 h 27"/>
                <a:gd name="T80" fmla="*/ 63 w 86"/>
                <a:gd name="T81" fmla="*/ 24 h 27"/>
                <a:gd name="T82" fmla="*/ 55 w 86"/>
                <a:gd name="T83" fmla="*/ 27 h 27"/>
                <a:gd name="T84" fmla="*/ 52 w 86"/>
                <a:gd name="T85" fmla="*/ 27 h 27"/>
                <a:gd name="T86" fmla="*/ 52 w 86"/>
                <a:gd name="T87" fmla="*/ 25 h 27"/>
                <a:gd name="T88" fmla="*/ 55 w 86"/>
                <a:gd name="T89" fmla="*/ 25 h 27"/>
                <a:gd name="T90" fmla="*/ 62 w 86"/>
                <a:gd name="T91" fmla="*/ 19 h 27"/>
                <a:gd name="T92" fmla="*/ 57 w 86"/>
                <a:gd name="T93" fmla="*/ 21 h 27"/>
                <a:gd name="T94" fmla="*/ 52 w 86"/>
                <a:gd name="T95" fmla="*/ 20 h 27"/>
                <a:gd name="T96" fmla="*/ 50 w 86"/>
                <a:gd name="T97" fmla="*/ 15 h 27"/>
                <a:gd name="T98" fmla="*/ 86 w 86"/>
                <a:gd name="T99" fmla="*/ 18 h 27"/>
                <a:gd name="T100" fmla="*/ 83 w 86"/>
                <a:gd name="T101" fmla="*/ 3 h 27"/>
                <a:gd name="T102" fmla="*/ 72 w 86"/>
                <a:gd name="T103" fmla="*/ 6 h 27"/>
                <a:gd name="T104" fmla="*/ 86 w 86"/>
                <a:gd name="T105"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6" h="27">
                  <a:moveTo>
                    <a:pt x="9" y="20"/>
                  </a:moveTo>
                  <a:cubicBezTo>
                    <a:pt x="0" y="15"/>
                    <a:pt x="0" y="15"/>
                    <a:pt x="0" y="15"/>
                  </a:cubicBezTo>
                  <a:cubicBezTo>
                    <a:pt x="0" y="13"/>
                    <a:pt x="0" y="13"/>
                    <a:pt x="0" y="13"/>
                  </a:cubicBezTo>
                  <a:cubicBezTo>
                    <a:pt x="4" y="15"/>
                    <a:pt x="4" y="15"/>
                    <a:pt x="4" y="15"/>
                  </a:cubicBezTo>
                  <a:cubicBezTo>
                    <a:pt x="10" y="5"/>
                    <a:pt x="10" y="5"/>
                    <a:pt x="10" y="5"/>
                  </a:cubicBezTo>
                  <a:cubicBezTo>
                    <a:pt x="6" y="3"/>
                    <a:pt x="6" y="3"/>
                    <a:pt x="6" y="3"/>
                  </a:cubicBezTo>
                  <a:cubicBezTo>
                    <a:pt x="7" y="2"/>
                    <a:pt x="7" y="2"/>
                    <a:pt x="7" y="2"/>
                  </a:cubicBezTo>
                  <a:cubicBezTo>
                    <a:pt x="8" y="3"/>
                    <a:pt x="9" y="3"/>
                    <a:pt x="10" y="3"/>
                  </a:cubicBezTo>
                  <a:cubicBezTo>
                    <a:pt x="11" y="3"/>
                    <a:pt x="11" y="3"/>
                    <a:pt x="12" y="2"/>
                  </a:cubicBezTo>
                  <a:cubicBezTo>
                    <a:pt x="14" y="4"/>
                    <a:pt x="14" y="4"/>
                    <a:pt x="14" y="4"/>
                  </a:cubicBezTo>
                  <a:cubicBezTo>
                    <a:pt x="6" y="17"/>
                    <a:pt x="6" y="17"/>
                    <a:pt x="6" y="17"/>
                  </a:cubicBezTo>
                  <a:cubicBezTo>
                    <a:pt x="10" y="19"/>
                    <a:pt x="10" y="19"/>
                    <a:pt x="10" y="19"/>
                  </a:cubicBezTo>
                  <a:lnTo>
                    <a:pt x="9" y="20"/>
                  </a:lnTo>
                  <a:close/>
                  <a:moveTo>
                    <a:pt x="37" y="14"/>
                  </a:moveTo>
                  <a:cubicBezTo>
                    <a:pt x="37" y="14"/>
                    <a:pt x="37" y="13"/>
                    <a:pt x="36" y="12"/>
                  </a:cubicBezTo>
                  <a:cubicBezTo>
                    <a:pt x="36" y="12"/>
                    <a:pt x="35" y="11"/>
                    <a:pt x="33" y="11"/>
                  </a:cubicBezTo>
                  <a:cubicBezTo>
                    <a:pt x="32" y="11"/>
                    <a:pt x="31" y="11"/>
                    <a:pt x="30" y="11"/>
                  </a:cubicBezTo>
                  <a:cubicBezTo>
                    <a:pt x="29" y="12"/>
                    <a:pt x="29" y="12"/>
                    <a:pt x="28" y="13"/>
                  </a:cubicBezTo>
                  <a:cubicBezTo>
                    <a:pt x="28" y="14"/>
                    <a:pt x="28" y="14"/>
                    <a:pt x="29" y="15"/>
                  </a:cubicBezTo>
                  <a:cubicBezTo>
                    <a:pt x="29" y="15"/>
                    <a:pt x="30" y="15"/>
                    <a:pt x="30" y="16"/>
                  </a:cubicBezTo>
                  <a:cubicBezTo>
                    <a:pt x="31" y="16"/>
                    <a:pt x="31" y="16"/>
                    <a:pt x="32" y="17"/>
                  </a:cubicBezTo>
                  <a:cubicBezTo>
                    <a:pt x="33" y="17"/>
                    <a:pt x="33" y="17"/>
                    <a:pt x="34" y="17"/>
                  </a:cubicBezTo>
                  <a:cubicBezTo>
                    <a:pt x="35" y="17"/>
                    <a:pt x="36" y="17"/>
                    <a:pt x="36" y="16"/>
                  </a:cubicBezTo>
                  <a:cubicBezTo>
                    <a:pt x="37" y="16"/>
                    <a:pt x="37" y="15"/>
                    <a:pt x="37" y="14"/>
                  </a:cubicBezTo>
                  <a:moveTo>
                    <a:pt x="36" y="23"/>
                  </a:moveTo>
                  <a:cubicBezTo>
                    <a:pt x="36" y="22"/>
                    <a:pt x="36" y="22"/>
                    <a:pt x="36" y="21"/>
                  </a:cubicBezTo>
                  <a:cubicBezTo>
                    <a:pt x="35" y="21"/>
                    <a:pt x="34" y="20"/>
                    <a:pt x="33" y="20"/>
                  </a:cubicBezTo>
                  <a:cubicBezTo>
                    <a:pt x="33" y="19"/>
                    <a:pt x="33" y="19"/>
                    <a:pt x="32" y="19"/>
                  </a:cubicBezTo>
                  <a:cubicBezTo>
                    <a:pt x="31" y="19"/>
                    <a:pt x="31" y="18"/>
                    <a:pt x="30" y="18"/>
                  </a:cubicBezTo>
                  <a:cubicBezTo>
                    <a:pt x="29" y="18"/>
                    <a:pt x="28" y="19"/>
                    <a:pt x="27" y="19"/>
                  </a:cubicBezTo>
                  <a:cubicBezTo>
                    <a:pt x="27" y="20"/>
                    <a:pt x="26" y="20"/>
                    <a:pt x="26" y="21"/>
                  </a:cubicBezTo>
                  <a:cubicBezTo>
                    <a:pt x="26" y="22"/>
                    <a:pt x="26" y="23"/>
                    <a:pt x="27" y="24"/>
                  </a:cubicBezTo>
                  <a:cubicBezTo>
                    <a:pt x="28" y="25"/>
                    <a:pt x="29" y="25"/>
                    <a:pt x="30" y="25"/>
                  </a:cubicBezTo>
                  <a:cubicBezTo>
                    <a:pt x="32" y="26"/>
                    <a:pt x="33" y="25"/>
                    <a:pt x="34" y="25"/>
                  </a:cubicBezTo>
                  <a:cubicBezTo>
                    <a:pt x="35" y="24"/>
                    <a:pt x="36" y="24"/>
                    <a:pt x="36" y="23"/>
                  </a:cubicBezTo>
                  <a:moveTo>
                    <a:pt x="30" y="27"/>
                  </a:moveTo>
                  <a:cubicBezTo>
                    <a:pt x="29" y="27"/>
                    <a:pt x="28" y="27"/>
                    <a:pt x="27" y="26"/>
                  </a:cubicBezTo>
                  <a:cubicBezTo>
                    <a:pt x="26" y="26"/>
                    <a:pt x="25" y="25"/>
                    <a:pt x="24" y="25"/>
                  </a:cubicBezTo>
                  <a:cubicBezTo>
                    <a:pt x="23" y="24"/>
                    <a:pt x="23" y="24"/>
                    <a:pt x="23" y="23"/>
                  </a:cubicBezTo>
                  <a:cubicBezTo>
                    <a:pt x="23" y="22"/>
                    <a:pt x="22" y="21"/>
                    <a:pt x="23" y="21"/>
                  </a:cubicBezTo>
                  <a:cubicBezTo>
                    <a:pt x="23" y="20"/>
                    <a:pt x="23" y="19"/>
                    <a:pt x="24" y="18"/>
                  </a:cubicBezTo>
                  <a:cubicBezTo>
                    <a:pt x="25" y="18"/>
                    <a:pt x="26" y="17"/>
                    <a:pt x="28" y="17"/>
                  </a:cubicBezTo>
                  <a:cubicBezTo>
                    <a:pt x="28" y="17"/>
                    <a:pt x="28" y="17"/>
                    <a:pt x="28" y="17"/>
                  </a:cubicBezTo>
                  <a:cubicBezTo>
                    <a:pt x="27" y="16"/>
                    <a:pt x="26" y="16"/>
                    <a:pt x="25" y="15"/>
                  </a:cubicBezTo>
                  <a:cubicBezTo>
                    <a:pt x="25" y="14"/>
                    <a:pt x="25" y="14"/>
                    <a:pt x="25" y="13"/>
                  </a:cubicBezTo>
                  <a:cubicBezTo>
                    <a:pt x="25" y="12"/>
                    <a:pt x="26" y="11"/>
                    <a:pt x="28" y="10"/>
                  </a:cubicBezTo>
                  <a:cubicBezTo>
                    <a:pt x="29" y="9"/>
                    <a:pt x="31" y="9"/>
                    <a:pt x="34" y="10"/>
                  </a:cubicBezTo>
                  <a:cubicBezTo>
                    <a:pt x="36" y="10"/>
                    <a:pt x="38" y="10"/>
                    <a:pt x="39" y="11"/>
                  </a:cubicBezTo>
                  <a:cubicBezTo>
                    <a:pt x="40" y="12"/>
                    <a:pt x="41" y="14"/>
                    <a:pt x="40" y="15"/>
                  </a:cubicBezTo>
                  <a:cubicBezTo>
                    <a:pt x="40" y="16"/>
                    <a:pt x="40" y="16"/>
                    <a:pt x="39" y="17"/>
                  </a:cubicBezTo>
                  <a:cubicBezTo>
                    <a:pt x="38" y="18"/>
                    <a:pt x="37" y="18"/>
                    <a:pt x="36" y="18"/>
                  </a:cubicBezTo>
                  <a:cubicBezTo>
                    <a:pt x="36" y="18"/>
                    <a:pt x="36" y="18"/>
                    <a:pt x="36" y="18"/>
                  </a:cubicBezTo>
                  <a:cubicBezTo>
                    <a:pt x="37" y="19"/>
                    <a:pt x="38" y="20"/>
                    <a:pt x="39" y="20"/>
                  </a:cubicBezTo>
                  <a:cubicBezTo>
                    <a:pt x="39" y="21"/>
                    <a:pt x="40" y="22"/>
                    <a:pt x="39" y="23"/>
                  </a:cubicBezTo>
                  <a:cubicBezTo>
                    <a:pt x="39" y="25"/>
                    <a:pt x="38" y="26"/>
                    <a:pt x="36" y="26"/>
                  </a:cubicBezTo>
                  <a:cubicBezTo>
                    <a:pt x="34" y="27"/>
                    <a:pt x="32" y="27"/>
                    <a:pt x="30" y="27"/>
                  </a:cubicBezTo>
                  <a:moveTo>
                    <a:pt x="63" y="17"/>
                  </a:moveTo>
                  <a:cubicBezTo>
                    <a:pt x="63" y="15"/>
                    <a:pt x="62" y="15"/>
                    <a:pt x="62" y="14"/>
                  </a:cubicBezTo>
                  <a:cubicBezTo>
                    <a:pt x="62" y="13"/>
                    <a:pt x="61" y="13"/>
                    <a:pt x="61" y="12"/>
                  </a:cubicBezTo>
                  <a:cubicBezTo>
                    <a:pt x="60" y="12"/>
                    <a:pt x="60" y="12"/>
                    <a:pt x="59" y="11"/>
                  </a:cubicBezTo>
                  <a:cubicBezTo>
                    <a:pt x="59" y="11"/>
                    <a:pt x="58" y="11"/>
                    <a:pt x="58" y="11"/>
                  </a:cubicBezTo>
                  <a:cubicBezTo>
                    <a:pt x="56" y="11"/>
                    <a:pt x="55" y="12"/>
                    <a:pt x="54" y="12"/>
                  </a:cubicBezTo>
                  <a:cubicBezTo>
                    <a:pt x="53" y="13"/>
                    <a:pt x="53" y="14"/>
                    <a:pt x="53" y="15"/>
                  </a:cubicBezTo>
                  <a:cubicBezTo>
                    <a:pt x="53" y="16"/>
                    <a:pt x="53" y="16"/>
                    <a:pt x="53" y="17"/>
                  </a:cubicBezTo>
                  <a:cubicBezTo>
                    <a:pt x="54" y="17"/>
                    <a:pt x="54" y="18"/>
                    <a:pt x="55" y="18"/>
                  </a:cubicBezTo>
                  <a:cubicBezTo>
                    <a:pt x="55" y="18"/>
                    <a:pt x="56" y="18"/>
                    <a:pt x="56" y="19"/>
                  </a:cubicBezTo>
                  <a:cubicBezTo>
                    <a:pt x="57" y="19"/>
                    <a:pt x="57" y="19"/>
                    <a:pt x="58" y="19"/>
                  </a:cubicBezTo>
                  <a:cubicBezTo>
                    <a:pt x="59" y="19"/>
                    <a:pt x="59" y="19"/>
                    <a:pt x="60" y="18"/>
                  </a:cubicBezTo>
                  <a:cubicBezTo>
                    <a:pt x="61" y="18"/>
                    <a:pt x="62" y="18"/>
                    <a:pt x="62" y="18"/>
                  </a:cubicBezTo>
                  <a:cubicBezTo>
                    <a:pt x="63" y="18"/>
                    <a:pt x="63" y="17"/>
                    <a:pt x="63" y="17"/>
                  </a:cubicBezTo>
                  <a:cubicBezTo>
                    <a:pt x="63" y="17"/>
                    <a:pt x="63" y="17"/>
                    <a:pt x="63" y="17"/>
                  </a:cubicBezTo>
                  <a:moveTo>
                    <a:pt x="50" y="15"/>
                  </a:moveTo>
                  <a:cubicBezTo>
                    <a:pt x="50" y="14"/>
                    <a:pt x="50" y="14"/>
                    <a:pt x="50" y="13"/>
                  </a:cubicBezTo>
                  <a:cubicBezTo>
                    <a:pt x="51" y="12"/>
                    <a:pt x="51" y="11"/>
                    <a:pt x="52" y="11"/>
                  </a:cubicBezTo>
                  <a:cubicBezTo>
                    <a:pt x="53" y="10"/>
                    <a:pt x="53" y="10"/>
                    <a:pt x="55" y="10"/>
                  </a:cubicBezTo>
                  <a:cubicBezTo>
                    <a:pt x="56" y="9"/>
                    <a:pt x="57" y="9"/>
                    <a:pt x="58" y="9"/>
                  </a:cubicBezTo>
                  <a:cubicBezTo>
                    <a:pt x="59" y="9"/>
                    <a:pt x="60" y="9"/>
                    <a:pt x="61" y="10"/>
                  </a:cubicBezTo>
                  <a:cubicBezTo>
                    <a:pt x="62" y="10"/>
                    <a:pt x="63" y="10"/>
                    <a:pt x="63" y="11"/>
                  </a:cubicBezTo>
                  <a:cubicBezTo>
                    <a:pt x="64" y="11"/>
                    <a:pt x="65" y="12"/>
                    <a:pt x="65" y="13"/>
                  </a:cubicBezTo>
                  <a:cubicBezTo>
                    <a:pt x="66" y="14"/>
                    <a:pt x="66" y="16"/>
                    <a:pt x="66" y="17"/>
                  </a:cubicBezTo>
                  <a:cubicBezTo>
                    <a:pt x="66" y="19"/>
                    <a:pt x="66" y="20"/>
                    <a:pt x="65" y="21"/>
                  </a:cubicBezTo>
                  <a:cubicBezTo>
                    <a:pt x="65" y="22"/>
                    <a:pt x="64" y="23"/>
                    <a:pt x="63" y="24"/>
                  </a:cubicBezTo>
                  <a:cubicBezTo>
                    <a:pt x="62" y="25"/>
                    <a:pt x="61" y="26"/>
                    <a:pt x="60" y="26"/>
                  </a:cubicBezTo>
                  <a:cubicBezTo>
                    <a:pt x="58" y="27"/>
                    <a:pt x="57" y="27"/>
                    <a:pt x="55" y="27"/>
                  </a:cubicBezTo>
                  <a:cubicBezTo>
                    <a:pt x="54" y="27"/>
                    <a:pt x="54" y="27"/>
                    <a:pt x="53" y="27"/>
                  </a:cubicBezTo>
                  <a:cubicBezTo>
                    <a:pt x="53" y="27"/>
                    <a:pt x="52" y="27"/>
                    <a:pt x="52" y="27"/>
                  </a:cubicBezTo>
                  <a:cubicBezTo>
                    <a:pt x="52" y="25"/>
                    <a:pt x="52" y="25"/>
                    <a:pt x="52" y="25"/>
                  </a:cubicBezTo>
                  <a:cubicBezTo>
                    <a:pt x="52" y="25"/>
                    <a:pt x="52" y="25"/>
                    <a:pt x="52" y="25"/>
                  </a:cubicBezTo>
                  <a:cubicBezTo>
                    <a:pt x="52" y="25"/>
                    <a:pt x="53" y="25"/>
                    <a:pt x="53" y="25"/>
                  </a:cubicBezTo>
                  <a:cubicBezTo>
                    <a:pt x="54" y="25"/>
                    <a:pt x="54" y="25"/>
                    <a:pt x="55" y="25"/>
                  </a:cubicBezTo>
                  <a:cubicBezTo>
                    <a:pt x="57" y="25"/>
                    <a:pt x="59" y="25"/>
                    <a:pt x="60" y="24"/>
                  </a:cubicBezTo>
                  <a:cubicBezTo>
                    <a:pt x="62" y="23"/>
                    <a:pt x="62" y="21"/>
                    <a:pt x="62" y="19"/>
                  </a:cubicBezTo>
                  <a:cubicBezTo>
                    <a:pt x="62" y="20"/>
                    <a:pt x="61" y="20"/>
                    <a:pt x="60" y="20"/>
                  </a:cubicBezTo>
                  <a:cubicBezTo>
                    <a:pt x="59" y="20"/>
                    <a:pt x="58" y="21"/>
                    <a:pt x="57" y="21"/>
                  </a:cubicBezTo>
                  <a:cubicBezTo>
                    <a:pt x="56" y="21"/>
                    <a:pt x="55" y="20"/>
                    <a:pt x="55" y="20"/>
                  </a:cubicBezTo>
                  <a:cubicBezTo>
                    <a:pt x="54" y="20"/>
                    <a:pt x="53" y="20"/>
                    <a:pt x="52" y="20"/>
                  </a:cubicBezTo>
                  <a:cubicBezTo>
                    <a:pt x="51" y="19"/>
                    <a:pt x="51" y="18"/>
                    <a:pt x="50" y="18"/>
                  </a:cubicBezTo>
                  <a:cubicBezTo>
                    <a:pt x="50" y="17"/>
                    <a:pt x="50" y="16"/>
                    <a:pt x="50" y="15"/>
                  </a:cubicBezTo>
                  <a:moveTo>
                    <a:pt x="86" y="1"/>
                  </a:moveTo>
                  <a:cubicBezTo>
                    <a:pt x="86" y="18"/>
                    <a:pt x="86" y="18"/>
                    <a:pt x="86" y="18"/>
                  </a:cubicBezTo>
                  <a:cubicBezTo>
                    <a:pt x="83" y="20"/>
                    <a:pt x="83" y="20"/>
                    <a:pt x="83" y="20"/>
                  </a:cubicBezTo>
                  <a:cubicBezTo>
                    <a:pt x="83" y="3"/>
                    <a:pt x="83" y="3"/>
                    <a:pt x="83" y="3"/>
                  </a:cubicBezTo>
                  <a:cubicBezTo>
                    <a:pt x="73" y="8"/>
                    <a:pt x="73" y="8"/>
                    <a:pt x="73" y="8"/>
                  </a:cubicBezTo>
                  <a:cubicBezTo>
                    <a:pt x="72" y="6"/>
                    <a:pt x="72" y="6"/>
                    <a:pt x="72" y="6"/>
                  </a:cubicBezTo>
                  <a:cubicBezTo>
                    <a:pt x="85" y="0"/>
                    <a:pt x="85" y="0"/>
                    <a:pt x="85" y="0"/>
                  </a:cubicBezTo>
                  <a:lnTo>
                    <a:pt x="86" y="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56" name="Freeform 126"/>
            <p:cNvSpPr/>
            <p:nvPr userDrawn="1"/>
          </p:nvSpPr>
          <p:spPr bwMode="auto">
            <a:xfrm>
              <a:off x="1184" y="728"/>
              <a:ext cx="14" cy="14"/>
            </a:xfrm>
            <a:custGeom>
              <a:avLst/>
              <a:gdLst>
                <a:gd name="T0" fmla="*/ 2 w 11"/>
                <a:gd name="T1" fmla="*/ 12 h 12"/>
                <a:gd name="T2" fmla="*/ 2 w 11"/>
                <a:gd name="T3" fmla="*/ 8 h 12"/>
                <a:gd name="T4" fmla="*/ 1 w 11"/>
                <a:gd name="T5" fmla="*/ 3 h 12"/>
                <a:gd name="T6" fmla="*/ 8 w 11"/>
                <a:gd name="T7" fmla="*/ 3 h 12"/>
                <a:gd name="T8" fmla="*/ 9 w 11"/>
                <a:gd name="T9" fmla="*/ 5 h 12"/>
                <a:gd name="T10" fmla="*/ 8 w 11"/>
                <a:gd name="T11" fmla="*/ 11 h 12"/>
                <a:gd name="T12" fmla="*/ 2 w 11"/>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1" h="12">
                  <a:moveTo>
                    <a:pt x="2" y="12"/>
                  </a:moveTo>
                  <a:cubicBezTo>
                    <a:pt x="0" y="11"/>
                    <a:pt x="1" y="10"/>
                    <a:pt x="2" y="8"/>
                  </a:cubicBezTo>
                  <a:cubicBezTo>
                    <a:pt x="2" y="7"/>
                    <a:pt x="1" y="5"/>
                    <a:pt x="1" y="3"/>
                  </a:cubicBezTo>
                  <a:cubicBezTo>
                    <a:pt x="2" y="0"/>
                    <a:pt x="6" y="2"/>
                    <a:pt x="8" y="3"/>
                  </a:cubicBezTo>
                  <a:cubicBezTo>
                    <a:pt x="8" y="3"/>
                    <a:pt x="9" y="4"/>
                    <a:pt x="9" y="5"/>
                  </a:cubicBezTo>
                  <a:cubicBezTo>
                    <a:pt x="10" y="7"/>
                    <a:pt x="11" y="10"/>
                    <a:pt x="8" y="11"/>
                  </a:cubicBezTo>
                  <a:cubicBezTo>
                    <a:pt x="6" y="12"/>
                    <a:pt x="4" y="12"/>
                    <a:pt x="2" y="12"/>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57" name="Freeform 127"/>
            <p:cNvSpPr/>
            <p:nvPr userDrawn="1"/>
          </p:nvSpPr>
          <p:spPr bwMode="auto">
            <a:xfrm>
              <a:off x="1148" y="686"/>
              <a:ext cx="51" cy="45"/>
            </a:xfrm>
            <a:custGeom>
              <a:avLst/>
              <a:gdLst>
                <a:gd name="T0" fmla="*/ 7 w 41"/>
                <a:gd name="T1" fmla="*/ 35 h 36"/>
                <a:gd name="T2" fmla="*/ 7 w 41"/>
                <a:gd name="T3" fmla="*/ 35 h 36"/>
                <a:gd name="T4" fmla="*/ 7 w 41"/>
                <a:gd name="T5" fmla="*/ 34 h 36"/>
                <a:gd name="T6" fmla="*/ 15 w 41"/>
                <a:gd name="T7" fmla="*/ 32 h 36"/>
                <a:gd name="T8" fmla="*/ 20 w 41"/>
                <a:gd name="T9" fmla="*/ 28 h 36"/>
                <a:gd name="T10" fmla="*/ 6 w 41"/>
                <a:gd name="T11" fmla="*/ 29 h 36"/>
                <a:gd name="T12" fmla="*/ 2 w 41"/>
                <a:gd name="T13" fmla="*/ 26 h 36"/>
                <a:gd name="T14" fmla="*/ 2 w 41"/>
                <a:gd name="T15" fmla="*/ 26 h 36"/>
                <a:gd name="T16" fmla="*/ 3 w 41"/>
                <a:gd name="T17" fmla="*/ 21 h 36"/>
                <a:gd name="T18" fmla="*/ 19 w 41"/>
                <a:gd name="T19" fmla="*/ 21 h 36"/>
                <a:gd name="T20" fmla="*/ 24 w 41"/>
                <a:gd name="T21" fmla="*/ 20 h 36"/>
                <a:gd name="T22" fmla="*/ 29 w 41"/>
                <a:gd name="T23" fmla="*/ 3 h 36"/>
                <a:gd name="T24" fmla="*/ 35 w 41"/>
                <a:gd name="T25" fmla="*/ 6 h 36"/>
                <a:gd name="T26" fmla="*/ 36 w 41"/>
                <a:gd name="T27" fmla="*/ 7 h 36"/>
                <a:gd name="T28" fmla="*/ 36 w 41"/>
                <a:gd name="T29" fmla="*/ 7 h 36"/>
                <a:gd name="T30" fmla="*/ 35 w 41"/>
                <a:gd name="T31" fmla="*/ 11 h 36"/>
                <a:gd name="T32" fmla="*/ 31 w 41"/>
                <a:gd name="T33" fmla="*/ 20 h 36"/>
                <a:gd name="T34" fmla="*/ 40 w 41"/>
                <a:gd name="T35" fmla="*/ 19 h 36"/>
                <a:gd name="T36" fmla="*/ 38 w 41"/>
                <a:gd name="T37" fmla="*/ 23 h 36"/>
                <a:gd name="T38" fmla="*/ 29 w 41"/>
                <a:gd name="T39" fmla="*/ 24 h 36"/>
                <a:gd name="T40" fmla="*/ 23 w 41"/>
                <a:gd name="T41" fmla="*/ 32 h 36"/>
                <a:gd name="T42" fmla="*/ 21 w 41"/>
                <a:gd name="T43" fmla="*/ 34 h 36"/>
                <a:gd name="T44" fmla="*/ 14 w 41"/>
                <a:gd name="T45" fmla="*/ 35 h 36"/>
                <a:gd name="T46" fmla="*/ 7 w 41"/>
                <a:gd name="T47" fmla="*/ 3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36">
                  <a:moveTo>
                    <a:pt x="7" y="35"/>
                  </a:moveTo>
                  <a:cubicBezTo>
                    <a:pt x="7" y="35"/>
                    <a:pt x="7" y="35"/>
                    <a:pt x="7" y="35"/>
                  </a:cubicBezTo>
                  <a:cubicBezTo>
                    <a:pt x="7" y="35"/>
                    <a:pt x="7" y="35"/>
                    <a:pt x="7" y="34"/>
                  </a:cubicBezTo>
                  <a:cubicBezTo>
                    <a:pt x="8" y="34"/>
                    <a:pt x="15" y="32"/>
                    <a:pt x="15" y="32"/>
                  </a:cubicBezTo>
                  <a:cubicBezTo>
                    <a:pt x="17" y="31"/>
                    <a:pt x="19" y="30"/>
                    <a:pt x="20" y="28"/>
                  </a:cubicBezTo>
                  <a:cubicBezTo>
                    <a:pt x="15" y="28"/>
                    <a:pt x="11" y="30"/>
                    <a:pt x="6" y="29"/>
                  </a:cubicBezTo>
                  <a:cubicBezTo>
                    <a:pt x="4" y="28"/>
                    <a:pt x="3" y="27"/>
                    <a:pt x="2" y="26"/>
                  </a:cubicBezTo>
                  <a:cubicBezTo>
                    <a:pt x="2" y="26"/>
                    <a:pt x="2" y="26"/>
                    <a:pt x="2" y="26"/>
                  </a:cubicBezTo>
                  <a:cubicBezTo>
                    <a:pt x="0" y="24"/>
                    <a:pt x="0" y="22"/>
                    <a:pt x="3" y="21"/>
                  </a:cubicBezTo>
                  <a:cubicBezTo>
                    <a:pt x="7" y="23"/>
                    <a:pt x="15" y="22"/>
                    <a:pt x="19" y="21"/>
                  </a:cubicBezTo>
                  <a:cubicBezTo>
                    <a:pt x="20" y="21"/>
                    <a:pt x="23" y="21"/>
                    <a:pt x="24" y="20"/>
                  </a:cubicBezTo>
                  <a:cubicBezTo>
                    <a:pt x="26" y="15"/>
                    <a:pt x="27" y="9"/>
                    <a:pt x="29" y="3"/>
                  </a:cubicBezTo>
                  <a:cubicBezTo>
                    <a:pt x="31" y="0"/>
                    <a:pt x="33" y="3"/>
                    <a:pt x="35" y="6"/>
                  </a:cubicBezTo>
                  <a:cubicBezTo>
                    <a:pt x="35" y="6"/>
                    <a:pt x="36" y="6"/>
                    <a:pt x="36" y="7"/>
                  </a:cubicBezTo>
                  <a:cubicBezTo>
                    <a:pt x="36" y="7"/>
                    <a:pt x="36" y="7"/>
                    <a:pt x="36" y="7"/>
                  </a:cubicBezTo>
                  <a:cubicBezTo>
                    <a:pt x="37" y="9"/>
                    <a:pt x="37" y="10"/>
                    <a:pt x="35" y="11"/>
                  </a:cubicBezTo>
                  <a:cubicBezTo>
                    <a:pt x="33" y="14"/>
                    <a:pt x="32" y="17"/>
                    <a:pt x="31" y="20"/>
                  </a:cubicBezTo>
                  <a:cubicBezTo>
                    <a:pt x="34" y="20"/>
                    <a:pt x="37" y="18"/>
                    <a:pt x="40" y="19"/>
                  </a:cubicBezTo>
                  <a:cubicBezTo>
                    <a:pt x="41" y="21"/>
                    <a:pt x="40" y="22"/>
                    <a:pt x="38" y="23"/>
                  </a:cubicBezTo>
                  <a:cubicBezTo>
                    <a:pt x="36" y="23"/>
                    <a:pt x="33" y="24"/>
                    <a:pt x="29" y="24"/>
                  </a:cubicBezTo>
                  <a:cubicBezTo>
                    <a:pt x="28" y="27"/>
                    <a:pt x="26" y="30"/>
                    <a:pt x="23" y="32"/>
                  </a:cubicBezTo>
                  <a:cubicBezTo>
                    <a:pt x="23" y="33"/>
                    <a:pt x="21" y="34"/>
                    <a:pt x="21" y="34"/>
                  </a:cubicBezTo>
                  <a:cubicBezTo>
                    <a:pt x="19" y="34"/>
                    <a:pt x="17" y="35"/>
                    <a:pt x="14" y="35"/>
                  </a:cubicBezTo>
                  <a:cubicBezTo>
                    <a:pt x="8" y="36"/>
                    <a:pt x="8" y="35"/>
                    <a:pt x="7" y="3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58" name="Freeform 128"/>
            <p:cNvSpPr/>
            <p:nvPr userDrawn="1"/>
          </p:nvSpPr>
          <p:spPr bwMode="auto">
            <a:xfrm>
              <a:off x="1063" y="714"/>
              <a:ext cx="20" cy="41"/>
            </a:xfrm>
            <a:custGeom>
              <a:avLst/>
              <a:gdLst>
                <a:gd name="T0" fmla="*/ 7 w 16"/>
                <a:gd name="T1" fmla="*/ 33 h 33"/>
                <a:gd name="T2" fmla="*/ 0 w 16"/>
                <a:gd name="T3" fmla="*/ 30 h 33"/>
                <a:gd name="T4" fmla="*/ 0 w 16"/>
                <a:gd name="T5" fmla="*/ 28 h 33"/>
                <a:gd name="T6" fmla="*/ 10 w 16"/>
                <a:gd name="T7" fmla="*/ 11 h 33"/>
                <a:gd name="T8" fmla="*/ 12 w 16"/>
                <a:gd name="T9" fmla="*/ 3 h 33"/>
                <a:gd name="T10" fmla="*/ 12 w 16"/>
                <a:gd name="T11" fmla="*/ 2 h 33"/>
                <a:gd name="T12" fmla="*/ 12 w 16"/>
                <a:gd name="T13" fmla="*/ 2 h 33"/>
                <a:gd name="T14" fmla="*/ 15 w 16"/>
                <a:gd name="T15" fmla="*/ 2 h 33"/>
                <a:gd name="T16" fmla="*/ 14 w 16"/>
                <a:gd name="T17" fmla="*/ 7 h 33"/>
                <a:gd name="T18" fmla="*/ 13 w 16"/>
                <a:gd name="T19" fmla="*/ 16 h 33"/>
                <a:gd name="T20" fmla="*/ 13 w 16"/>
                <a:gd name="T21" fmla="*/ 19 h 33"/>
                <a:gd name="T22" fmla="*/ 11 w 16"/>
                <a:gd name="T23" fmla="*/ 26 h 33"/>
                <a:gd name="T24" fmla="*/ 9 w 16"/>
                <a:gd name="T25" fmla="*/ 33 h 33"/>
                <a:gd name="T26" fmla="*/ 7 w 16"/>
                <a:gd name="T27"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33">
                  <a:moveTo>
                    <a:pt x="7" y="33"/>
                  </a:moveTo>
                  <a:cubicBezTo>
                    <a:pt x="5" y="33"/>
                    <a:pt x="2" y="31"/>
                    <a:pt x="0" y="30"/>
                  </a:cubicBezTo>
                  <a:cubicBezTo>
                    <a:pt x="0" y="30"/>
                    <a:pt x="0" y="29"/>
                    <a:pt x="0" y="28"/>
                  </a:cubicBezTo>
                  <a:cubicBezTo>
                    <a:pt x="4" y="23"/>
                    <a:pt x="7" y="17"/>
                    <a:pt x="10" y="11"/>
                  </a:cubicBezTo>
                  <a:cubicBezTo>
                    <a:pt x="11" y="8"/>
                    <a:pt x="11" y="5"/>
                    <a:pt x="12" y="3"/>
                  </a:cubicBezTo>
                  <a:cubicBezTo>
                    <a:pt x="12" y="3"/>
                    <a:pt x="12" y="3"/>
                    <a:pt x="12" y="2"/>
                  </a:cubicBezTo>
                  <a:cubicBezTo>
                    <a:pt x="12" y="2"/>
                    <a:pt x="12" y="2"/>
                    <a:pt x="12" y="2"/>
                  </a:cubicBezTo>
                  <a:cubicBezTo>
                    <a:pt x="13" y="1"/>
                    <a:pt x="14" y="0"/>
                    <a:pt x="15" y="2"/>
                  </a:cubicBezTo>
                  <a:cubicBezTo>
                    <a:pt x="16" y="3"/>
                    <a:pt x="14" y="5"/>
                    <a:pt x="14" y="7"/>
                  </a:cubicBezTo>
                  <a:cubicBezTo>
                    <a:pt x="14" y="10"/>
                    <a:pt x="14" y="13"/>
                    <a:pt x="13" y="16"/>
                  </a:cubicBezTo>
                  <a:cubicBezTo>
                    <a:pt x="13" y="16"/>
                    <a:pt x="13" y="16"/>
                    <a:pt x="13" y="19"/>
                  </a:cubicBezTo>
                  <a:cubicBezTo>
                    <a:pt x="12" y="21"/>
                    <a:pt x="11" y="24"/>
                    <a:pt x="11" y="26"/>
                  </a:cubicBezTo>
                  <a:cubicBezTo>
                    <a:pt x="10" y="28"/>
                    <a:pt x="10" y="31"/>
                    <a:pt x="9" y="33"/>
                  </a:cubicBezTo>
                  <a:cubicBezTo>
                    <a:pt x="8" y="33"/>
                    <a:pt x="8" y="33"/>
                    <a:pt x="7"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59" name="Freeform 129"/>
            <p:cNvSpPr/>
            <p:nvPr userDrawn="1"/>
          </p:nvSpPr>
          <p:spPr bwMode="auto">
            <a:xfrm>
              <a:off x="1090" y="704"/>
              <a:ext cx="16" cy="16"/>
            </a:xfrm>
            <a:custGeom>
              <a:avLst/>
              <a:gdLst>
                <a:gd name="T0" fmla="*/ 8 w 13"/>
                <a:gd name="T1" fmla="*/ 12 h 13"/>
                <a:gd name="T2" fmla="*/ 1 w 13"/>
                <a:gd name="T3" fmla="*/ 10 h 13"/>
                <a:gd name="T4" fmla="*/ 1 w 13"/>
                <a:gd name="T5" fmla="*/ 8 h 13"/>
                <a:gd name="T6" fmla="*/ 2 w 13"/>
                <a:gd name="T7" fmla="*/ 7 h 13"/>
                <a:gd name="T8" fmla="*/ 5 w 13"/>
                <a:gd name="T9" fmla="*/ 6 h 13"/>
                <a:gd name="T10" fmla="*/ 12 w 13"/>
                <a:gd name="T11" fmla="*/ 1 h 13"/>
                <a:gd name="T12" fmla="*/ 8 w 13"/>
                <a:gd name="T13" fmla="*/ 12 h 13"/>
              </a:gdLst>
              <a:ahLst/>
              <a:cxnLst>
                <a:cxn ang="0">
                  <a:pos x="T0" y="T1"/>
                </a:cxn>
                <a:cxn ang="0">
                  <a:pos x="T2" y="T3"/>
                </a:cxn>
                <a:cxn ang="0">
                  <a:pos x="T4" y="T5"/>
                </a:cxn>
                <a:cxn ang="0">
                  <a:pos x="T6" y="T7"/>
                </a:cxn>
                <a:cxn ang="0">
                  <a:pos x="T8" y="T9"/>
                </a:cxn>
                <a:cxn ang="0">
                  <a:pos x="T10" y="T11"/>
                </a:cxn>
                <a:cxn ang="0">
                  <a:pos x="T12" y="T13"/>
                </a:cxn>
              </a:cxnLst>
              <a:rect l="0" t="0" r="r" b="b"/>
              <a:pathLst>
                <a:path w="13" h="13">
                  <a:moveTo>
                    <a:pt x="8" y="12"/>
                  </a:moveTo>
                  <a:cubicBezTo>
                    <a:pt x="5" y="13"/>
                    <a:pt x="3" y="12"/>
                    <a:pt x="1" y="10"/>
                  </a:cubicBezTo>
                  <a:cubicBezTo>
                    <a:pt x="0" y="10"/>
                    <a:pt x="1" y="9"/>
                    <a:pt x="1" y="8"/>
                  </a:cubicBezTo>
                  <a:cubicBezTo>
                    <a:pt x="1" y="8"/>
                    <a:pt x="1" y="8"/>
                    <a:pt x="2" y="7"/>
                  </a:cubicBezTo>
                  <a:cubicBezTo>
                    <a:pt x="3" y="7"/>
                    <a:pt x="3" y="7"/>
                    <a:pt x="5" y="6"/>
                  </a:cubicBezTo>
                  <a:cubicBezTo>
                    <a:pt x="6" y="5"/>
                    <a:pt x="10" y="0"/>
                    <a:pt x="12" y="1"/>
                  </a:cubicBezTo>
                  <a:cubicBezTo>
                    <a:pt x="13" y="4"/>
                    <a:pt x="11" y="10"/>
                    <a:pt x="8" y="12"/>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60" name="Freeform 130"/>
            <p:cNvSpPr/>
            <p:nvPr userDrawn="1"/>
          </p:nvSpPr>
          <p:spPr bwMode="auto">
            <a:xfrm>
              <a:off x="1062" y="710"/>
              <a:ext cx="12" cy="14"/>
            </a:xfrm>
            <a:custGeom>
              <a:avLst/>
              <a:gdLst>
                <a:gd name="T0" fmla="*/ 5 w 10"/>
                <a:gd name="T1" fmla="*/ 11 h 11"/>
                <a:gd name="T2" fmla="*/ 1 w 10"/>
                <a:gd name="T3" fmla="*/ 4 h 11"/>
                <a:gd name="T4" fmla="*/ 6 w 10"/>
                <a:gd name="T5" fmla="*/ 1 h 11"/>
                <a:gd name="T6" fmla="*/ 10 w 10"/>
                <a:gd name="T7" fmla="*/ 6 h 11"/>
                <a:gd name="T8" fmla="*/ 5 w 10"/>
                <a:gd name="T9" fmla="*/ 11 h 11"/>
              </a:gdLst>
              <a:ahLst/>
              <a:cxnLst>
                <a:cxn ang="0">
                  <a:pos x="T0" y="T1"/>
                </a:cxn>
                <a:cxn ang="0">
                  <a:pos x="T2" y="T3"/>
                </a:cxn>
                <a:cxn ang="0">
                  <a:pos x="T4" y="T5"/>
                </a:cxn>
                <a:cxn ang="0">
                  <a:pos x="T6" y="T7"/>
                </a:cxn>
                <a:cxn ang="0">
                  <a:pos x="T8" y="T9"/>
                </a:cxn>
              </a:cxnLst>
              <a:rect l="0" t="0" r="r" b="b"/>
              <a:pathLst>
                <a:path w="10" h="11">
                  <a:moveTo>
                    <a:pt x="5" y="11"/>
                  </a:moveTo>
                  <a:cubicBezTo>
                    <a:pt x="3" y="10"/>
                    <a:pt x="1" y="5"/>
                    <a:pt x="1" y="4"/>
                  </a:cubicBezTo>
                  <a:cubicBezTo>
                    <a:pt x="0" y="1"/>
                    <a:pt x="3" y="0"/>
                    <a:pt x="6" y="1"/>
                  </a:cubicBezTo>
                  <a:cubicBezTo>
                    <a:pt x="9" y="2"/>
                    <a:pt x="10" y="3"/>
                    <a:pt x="10" y="6"/>
                  </a:cubicBezTo>
                  <a:cubicBezTo>
                    <a:pt x="8" y="9"/>
                    <a:pt x="7" y="9"/>
                    <a:pt x="5" y="1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61" name="Freeform 131"/>
            <p:cNvSpPr/>
            <p:nvPr userDrawn="1"/>
          </p:nvSpPr>
          <p:spPr bwMode="auto">
            <a:xfrm>
              <a:off x="1085" y="688"/>
              <a:ext cx="19" cy="21"/>
            </a:xfrm>
            <a:custGeom>
              <a:avLst/>
              <a:gdLst>
                <a:gd name="T0" fmla="*/ 8 w 15"/>
                <a:gd name="T1" fmla="*/ 17 h 17"/>
                <a:gd name="T2" fmla="*/ 7 w 15"/>
                <a:gd name="T3" fmla="*/ 12 h 17"/>
                <a:gd name="T4" fmla="*/ 5 w 15"/>
                <a:gd name="T5" fmla="*/ 13 h 17"/>
                <a:gd name="T6" fmla="*/ 0 w 15"/>
                <a:gd name="T7" fmla="*/ 9 h 17"/>
                <a:gd name="T8" fmla="*/ 2 w 15"/>
                <a:gd name="T9" fmla="*/ 7 h 17"/>
                <a:gd name="T10" fmla="*/ 7 w 15"/>
                <a:gd name="T11" fmla="*/ 2 h 17"/>
                <a:gd name="T12" fmla="*/ 14 w 15"/>
                <a:gd name="T13" fmla="*/ 4 h 17"/>
                <a:gd name="T14" fmla="*/ 13 w 15"/>
                <a:gd name="T15" fmla="*/ 11 h 17"/>
                <a:gd name="T16" fmla="*/ 9 w 15"/>
                <a:gd name="T17" fmla="*/ 16 h 17"/>
                <a:gd name="T18" fmla="*/ 8 w 15"/>
                <a:gd name="T19"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7">
                  <a:moveTo>
                    <a:pt x="8" y="17"/>
                  </a:moveTo>
                  <a:cubicBezTo>
                    <a:pt x="7" y="16"/>
                    <a:pt x="8" y="12"/>
                    <a:pt x="7" y="12"/>
                  </a:cubicBezTo>
                  <a:cubicBezTo>
                    <a:pt x="6" y="12"/>
                    <a:pt x="6" y="13"/>
                    <a:pt x="5" y="13"/>
                  </a:cubicBezTo>
                  <a:cubicBezTo>
                    <a:pt x="3" y="13"/>
                    <a:pt x="0" y="11"/>
                    <a:pt x="0" y="9"/>
                  </a:cubicBezTo>
                  <a:cubicBezTo>
                    <a:pt x="1" y="7"/>
                    <a:pt x="0" y="8"/>
                    <a:pt x="2" y="7"/>
                  </a:cubicBezTo>
                  <a:cubicBezTo>
                    <a:pt x="4" y="5"/>
                    <a:pt x="6" y="3"/>
                    <a:pt x="7" y="2"/>
                  </a:cubicBezTo>
                  <a:cubicBezTo>
                    <a:pt x="11" y="0"/>
                    <a:pt x="13" y="1"/>
                    <a:pt x="14" y="4"/>
                  </a:cubicBezTo>
                  <a:cubicBezTo>
                    <a:pt x="15" y="7"/>
                    <a:pt x="14" y="9"/>
                    <a:pt x="13" y="11"/>
                  </a:cubicBezTo>
                  <a:cubicBezTo>
                    <a:pt x="12" y="13"/>
                    <a:pt x="10" y="15"/>
                    <a:pt x="9" y="16"/>
                  </a:cubicBezTo>
                  <a:cubicBezTo>
                    <a:pt x="9" y="17"/>
                    <a:pt x="8" y="17"/>
                    <a:pt x="8" y="1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62" name="Freeform 132"/>
            <p:cNvSpPr/>
            <p:nvPr userDrawn="1"/>
          </p:nvSpPr>
          <p:spPr bwMode="auto">
            <a:xfrm>
              <a:off x="1062" y="693"/>
              <a:ext cx="12" cy="13"/>
            </a:xfrm>
            <a:custGeom>
              <a:avLst/>
              <a:gdLst>
                <a:gd name="T0" fmla="*/ 4 w 10"/>
                <a:gd name="T1" fmla="*/ 11 h 11"/>
                <a:gd name="T2" fmla="*/ 3 w 10"/>
                <a:gd name="T3" fmla="*/ 9 h 11"/>
                <a:gd name="T4" fmla="*/ 1 w 10"/>
                <a:gd name="T5" fmla="*/ 6 h 11"/>
                <a:gd name="T6" fmla="*/ 1 w 10"/>
                <a:gd name="T7" fmla="*/ 0 h 11"/>
                <a:gd name="T8" fmla="*/ 10 w 10"/>
                <a:gd name="T9" fmla="*/ 5 h 11"/>
                <a:gd name="T10" fmla="*/ 4 w 10"/>
                <a:gd name="T11" fmla="*/ 11 h 11"/>
              </a:gdLst>
              <a:ahLst/>
              <a:cxnLst>
                <a:cxn ang="0">
                  <a:pos x="T0" y="T1"/>
                </a:cxn>
                <a:cxn ang="0">
                  <a:pos x="T2" y="T3"/>
                </a:cxn>
                <a:cxn ang="0">
                  <a:pos x="T4" y="T5"/>
                </a:cxn>
                <a:cxn ang="0">
                  <a:pos x="T6" y="T7"/>
                </a:cxn>
                <a:cxn ang="0">
                  <a:pos x="T8" y="T9"/>
                </a:cxn>
                <a:cxn ang="0">
                  <a:pos x="T10" y="T11"/>
                </a:cxn>
              </a:cxnLst>
              <a:rect l="0" t="0" r="r" b="b"/>
              <a:pathLst>
                <a:path w="10" h="11">
                  <a:moveTo>
                    <a:pt x="4" y="11"/>
                  </a:moveTo>
                  <a:cubicBezTo>
                    <a:pt x="3" y="11"/>
                    <a:pt x="3" y="10"/>
                    <a:pt x="3" y="9"/>
                  </a:cubicBezTo>
                  <a:cubicBezTo>
                    <a:pt x="3" y="8"/>
                    <a:pt x="2" y="7"/>
                    <a:pt x="1" y="6"/>
                  </a:cubicBezTo>
                  <a:cubicBezTo>
                    <a:pt x="0" y="3"/>
                    <a:pt x="0" y="2"/>
                    <a:pt x="1" y="0"/>
                  </a:cubicBezTo>
                  <a:cubicBezTo>
                    <a:pt x="3" y="0"/>
                    <a:pt x="10" y="1"/>
                    <a:pt x="10" y="5"/>
                  </a:cubicBezTo>
                  <a:cubicBezTo>
                    <a:pt x="9" y="7"/>
                    <a:pt x="6" y="10"/>
                    <a:pt x="4" y="1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63" name="Freeform 133"/>
            <p:cNvSpPr/>
            <p:nvPr userDrawn="1"/>
          </p:nvSpPr>
          <p:spPr bwMode="auto">
            <a:xfrm>
              <a:off x="996" y="742"/>
              <a:ext cx="47" cy="83"/>
            </a:xfrm>
            <a:custGeom>
              <a:avLst/>
              <a:gdLst>
                <a:gd name="T0" fmla="*/ 22 w 38"/>
                <a:gd name="T1" fmla="*/ 64 h 66"/>
                <a:gd name="T2" fmla="*/ 13 w 38"/>
                <a:gd name="T3" fmla="*/ 61 h 66"/>
                <a:gd name="T4" fmla="*/ 13 w 38"/>
                <a:gd name="T5" fmla="*/ 59 h 66"/>
                <a:gd name="T6" fmla="*/ 13 w 38"/>
                <a:gd name="T7" fmla="*/ 59 h 66"/>
                <a:gd name="T8" fmla="*/ 8 w 38"/>
                <a:gd name="T9" fmla="*/ 46 h 66"/>
                <a:gd name="T10" fmla="*/ 7 w 38"/>
                <a:gd name="T11" fmla="*/ 42 h 66"/>
                <a:gd name="T12" fmla="*/ 10 w 38"/>
                <a:gd name="T13" fmla="*/ 44 h 66"/>
                <a:gd name="T14" fmla="*/ 11 w 38"/>
                <a:gd name="T15" fmla="*/ 42 h 66"/>
                <a:gd name="T16" fmla="*/ 11 w 38"/>
                <a:gd name="T17" fmla="*/ 33 h 66"/>
                <a:gd name="T18" fmla="*/ 8 w 38"/>
                <a:gd name="T19" fmla="*/ 31 h 66"/>
                <a:gd name="T20" fmla="*/ 4 w 38"/>
                <a:gd name="T21" fmla="*/ 34 h 66"/>
                <a:gd name="T22" fmla="*/ 4 w 38"/>
                <a:gd name="T23" fmla="*/ 27 h 66"/>
                <a:gd name="T24" fmla="*/ 0 w 38"/>
                <a:gd name="T25" fmla="*/ 23 h 66"/>
                <a:gd name="T26" fmla="*/ 6 w 38"/>
                <a:gd name="T27" fmla="*/ 21 h 66"/>
                <a:gd name="T28" fmla="*/ 10 w 38"/>
                <a:gd name="T29" fmla="*/ 23 h 66"/>
                <a:gd name="T30" fmla="*/ 11 w 38"/>
                <a:gd name="T31" fmla="*/ 25 h 66"/>
                <a:gd name="T32" fmla="*/ 12 w 38"/>
                <a:gd name="T33" fmla="*/ 24 h 66"/>
                <a:gd name="T34" fmla="*/ 12 w 38"/>
                <a:gd name="T35" fmla="*/ 17 h 66"/>
                <a:gd name="T36" fmla="*/ 7 w 38"/>
                <a:gd name="T37" fmla="*/ 10 h 66"/>
                <a:gd name="T38" fmla="*/ 12 w 38"/>
                <a:gd name="T39" fmla="*/ 6 h 66"/>
                <a:gd name="T40" fmla="*/ 13 w 38"/>
                <a:gd name="T41" fmla="*/ 1 h 66"/>
                <a:gd name="T42" fmla="*/ 14 w 38"/>
                <a:gd name="T43" fmla="*/ 0 h 66"/>
                <a:gd name="T44" fmla="*/ 16 w 38"/>
                <a:gd name="T45" fmla="*/ 1 h 66"/>
                <a:gd name="T46" fmla="*/ 18 w 38"/>
                <a:gd name="T47" fmla="*/ 12 h 66"/>
                <a:gd name="T48" fmla="*/ 17 w 38"/>
                <a:gd name="T49" fmla="*/ 8 h 66"/>
                <a:gd name="T50" fmla="*/ 22 w 38"/>
                <a:gd name="T51" fmla="*/ 3 h 66"/>
                <a:gd name="T52" fmla="*/ 25 w 38"/>
                <a:gd name="T53" fmla="*/ 7 h 66"/>
                <a:gd name="T54" fmla="*/ 26 w 38"/>
                <a:gd name="T55" fmla="*/ 8 h 66"/>
                <a:gd name="T56" fmla="*/ 35 w 38"/>
                <a:gd name="T57" fmla="*/ 15 h 66"/>
                <a:gd name="T58" fmla="*/ 37 w 38"/>
                <a:gd name="T59" fmla="*/ 19 h 66"/>
                <a:gd name="T60" fmla="*/ 37 w 38"/>
                <a:gd name="T61" fmla="*/ 20 h 66"/>
                <a:gd name="T62" fmla="*/ 37 w 38"/>
                <a:gd name="T63" fmla="*/ 20 h 66"/>
                <a:gd name="T64" fmla="*/ 36 w 38"/>
                <a:gd name="T65" fmla="*/ 24 h 66"/>
                <a:gd name="T66" fmla="*/ 23 w 38"/>
                <a:gd name="T67" fmla="*/ 15 h 66"/>
                <a:gd name="T68" fmla="*/ 23 w 38"/>
                <a:gd name="T69" fmla="*/ 15 h 66"/>
                <a:gd name="T70" fmla="*/ 27 w 38"/>
                <a:gd name="T71" fmla="*/ 25 h 66"/>
                <a:gd name="T72" fmla="*/ 22 w 38"/>
                <a:gd name="T73" fmla="*/ 27 h 66"/>
                <a:gd name="T74" fmla="*/ 22 w 38"/>
                <a:gd name="T75" fmla="*/ 25 h 66"/>
                <a:gd name="T76" fmla="*/ 15 w 38"/>
                <a:gd name="T77" fmla="*/ 19 h 66"/>
                <a:gd name="T78" fmla="*/ 16 w 38"/>
                <a:gd name="T79" fmla="*/ 27 h 66"/>
                <a:gd name="T80" fmla="*/ 17 w 38"/>
                <a:gd name="T81" fmla="*/ 31 h 66"/>
                <a:gd name="T82" fmla="*/ 21 w 38"/>
                <a:gd name="T83" fmla="*/ 35 h 66"/>
                <a:gd name="T84" fmla="*/ 22 w 38"/>
                <a:gd name="T85" fmla="*/ 38 h 66"/>
                <a:gd name="T86" fmla="*/ 22 w 38"/>
                <a:gd name="T87" fmla="*/ 39 h 66"/>
                <a:gd name="T88" fmla="*/ 22 w 38"/>
                <a:gd name="T89" fmla="*/ 44 h 66"/>
                <a:gd name="T90" fmla="*/ 21 w 38"/>
                <a:gd name="T91" fmla="*/ 44 h 66"/>
                <a:gd name="T92" fmla="*/ 17 w 38"/>
                <a:gd name="T93" fmla="*/ 38 h 66"/>
                <a:gd name="T94" fmla="*/ 16 w 38"/>
                <a:gd name="T95" fmla="*/ 44 h 66"/>
                <a:gd name="T96" fmla="*/ 13 w 38"/>
                <a:gd name="T97" fmla="*/ 46 h 66"/>
                <a:gd name="T98" fmla="*/ 13 w 38"/>
                <a:gd name="T99" fmla="*/ 46 h 66"/>
                <a:gd name="T100" fmla="*/ 12 w 38"/>
                <a:gd name="T101" fmla="*/ 47 h 66"/>
                <a:gd name="T102" fmla="*/ 14 w 38"/>
                <a:gd name="T103" fmla="*/ 50 h 66"/>
                <a:gd name="T104" fmla="*/ 23 w 38"/>
                <a:gd name="T105" fmla="*/ 62 h 66"/>
                <a:gd name="T106" fmla="*/ 22 w 38"/>
                <a:gd name="T107" fmla="*/ 6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8" h="66">
                  <a:moveTo>
                    <a:pt x="22" y="64"/>
                  </a:moveTo>
                  <a:cubicBezTo>
                    <a:pt x="19" y="66"/>
                    <a:pt x="12" y="65"/>
                    <a:pt x="13" y="61"/>
                  </a:cubicBezTo>
                  <a:cubicBezTo>
                    <a:pt x="13" y="60"/>
                    <a:pt x="13" y="59"/>
                    <a:pt x="13" y="59"/>
                  </a:cubicBezTo>
                  <a:cubicBezTo>
                    <a:pt x="13" y="59"/>
                    <a:pt x="13" y="59"/>
                    <a:pt x="13" y="59"/>
                  </a:cubicBezTo>
                  <a:cubicBezTo>
                    <a:pt x="12" y="54"/>
                    <a:pt x="9" y="50"/>
                    <a:pt x="8" y="46"/>
                  </a:cubicBezTo>
                  <a:cubicBezTo>
                    <a:pt x="7" y="45"/>
                    <a:pt x="7" y="44"/>
                    <a:pt x="7" y="42"/>
                  </a:cubicBezTo>
                  <a:cubicBezTo>
                    <a:pt x="8" y="42"/>
                    <a:pt x="9" y="43"/>
                    <a:pt x="10" y="44"/>
                  </a:cubicBezTo>
                  <a:cubicBezTo>
                    <a:pt x="11" y="44"/>
                    <a:pt x="11" y="43"/>
                    <a:pt x="11" y="42"/>
                  </a:cubicBezTo>
                  <a:cubicBezTo>
                    <a:pt x="11" y="39"/>
                    <a:pt x="11" y="36"/>
                    <a:pt x="11" y="33"/>
                  </a:cubicBezTo>
                  <a:cubicBezTo>
                    <a:pt x="10" y="32"/>
                    <a:pt x="9" y="31"/>
                    <a:pt x="8" y="31"/>
                  </a:cubicBezTo>
                  <a:cubicBezTo>
                    <a:pt x="8" y="32"/>
                    <a:pt x="6" y="37"/>
                    <a:pt x="4" y="34"/>
                  </a:cubicBezTo>
                  <a:cubicBezTo>
                    <a:pt x="5" y="32"/>
                    <a:pt x="5" y="29"/>
                    <a:pt x="4" y="27"/>
                  </a:cubicBezTo>
                  <a:cubicBezTo>
                    <a:pt x="2" y="25"/>
                    <a:pt x="0" y="24"/>
                    <a:pt x="0" y="23"/>
                  </a:cubicBezTo>
                  <a:cubicBezTo>
                    <a:pt x="0" y="20"/>
                    <a:pt x="4" y="20"/>
                    <a:pt x="6" y="21"/>
                  </a:cubicBezTo>
                  <a:cubicBezTo>
                    <a:pt x="8" y="21"/>
                    <a:pt x="8" y="17"/>
                    <a:pt x="10" y="23"/>
                  </a:cubicBezTo>
                  <a:cubicBezTo>
                    <a:pt x="10" y="24"/>
                    <a:pt x="11" y="24"/>
                    <a:pt x="11" y="25"/>
                  </a:cubicBezTo>
                  <a:cubicBezTo>
                    <a:pt x="12" y="25"/>
                    <a:pt x="12" y="24"/>
                    <a:pt x="12" y="24"/>
                  </a:cubicBezTo>
                  <a:cubicBezTo>
                    <a:pt x="12" y="22"/>
                    <a:pt x="12" y="19"/>
                    <a:pt x="12" y="17"/>
                  </a:cubicBezTo>
                  <a:cubicBezTo>
                    <a:pt x="10" y="15"/>
                    <a:pt x="8" y="13"/>
                    <a:pt x="7" y="10"/>
                  </a:cubicBezTo>
                  <a:cubicBezTo>
                    <a:pt x="7" y="8"/>
                    <a:pt x="10" y="6"/>
                    <a:pt x="12" y="6"/>
                  </a:cubicBezTo>
                  <a:cubicBezTo>
                    <a:pt x="13" y="4"/>
                    <a:pt x="13" y="3"/>
                    <a:pt x="13" y="1"/>
                  </a:cubicBezTo>
                  <a:cubicBezTo>
                    <a:pt x="13" y="1"/>
                    <a:pt x="13" y="1"/>
                    <a:pt x="14" y="0"/>
                  </a:cubicBezTo>
                  <a:cubicBezTo>
                    <a:pt x="15" y="0"/>
                    <a:pt x="15" y="0"/>
                    <a:pt x="16" y="1"/>
                  </a:cubicBezTo>
                  <a:cubicBezTo>
                    <a:pt x="18" y="3"/>
                    <a:pt x="14" y="11"/>
                    <a:pt x="18" y="12"/>
                  </a:cubicBezTo>
                  <a:cubicBezTo>
                    <a:pt x="19" y="11"/>
                    <a:pt x="18" y="9"/>
                    <a:pt x="17" y="8"/>
                  </a:cubicBezTo>
                  <a:cubicBezTo>
                    <a:pt x="17" y="6"/>
                    <a:pt x="20" y="4"/>
                    <a:pt x="22" y="3"/>
                  </a:cubicBezTo>
                  <a:cubicBezTo>
                    <a:pt x="26" y="3"/>
                    <a:pt x="25" y="4"/>
                    <a:pt x="25" y="7"/>
                  </a:cubicBezTo>
                  <a:cubicBezTo>
                    <a:pt x="26" y="7"/>
                    <a:pt x="26" y="8"/>
                    <a:pt x="26" y="8"/>
                  </a:cubicBezTo>
                  <a:cubicBezTo>
                    <a:pt x="30" y="11"/>
                    <a:pt x="30" y="11"/>
                    <a:pt x="35" y="15"/>
                  </a:cubicBezTo>
                  <a:cubicBezTo>
                    <a:pt x="36" y="16"/>
                    <a:pt x="37" y="17"/>
                    <a:pt x="37" y="19"/>
                  </a:cubicBezTo>
                  <a:cubicBezTo>
                    <a:pt x="37" y="19"/>
                    <a:pt x="37" y="19"/>
                    <a:pt x="37" y="20"/>
                  </a:cubicBezTo>
                  <a:cubicBezTo>
                    <a:pt x="37" y="20"/>
                    <a:pt x="37" y="20"/>
                    <a:pt x="37" y="20"/>
                  </a:cubicBezTo>
                  <a:cubicBezTo>
                    <a:pt x="38" y="21"/>
                    <a:pt x="38" y="24"/>
                    <a:pt x="36" y="24"/>
                  </a:cubicBezTo>
                  <a:cubicBezTo>
                    <a:pt x="32" y="21"/>
                    <a:pt x="27" y="18"/>
                    <a:pt x="23" y="15"/>
                  </a:cubicBezTo>
                  <a:cubicBezTo>
                    <a:pt x="23" y="15"/>
                    <a:pt x="23" y="15"/>
                    <a:pt x="23" y="15"/>
                  </a:cubicBezTo>
                  <a:cubicBezTo>
                    <a:pt x="25" y="17"/>
                    <a:pt x="27" y="22"/>
                    <a:pt x="27" y="25"/>
                  </a:cubicBezTo>
                  <a:cubicBezTo>
                    <a:pt x="26" y="26"/>
                    <a:pt x="24" y="27"/>
                    <a:pt x="22" y="27"/>
                  </a:cubicBezTo>
                  <a:cubicBezTo>
                    <a:pt x="22" y="26"/>
                    <a:pt x="22" y="26"/>
                    <a:pt x="22" y="25"/>
                  </a:cubicBezTo>
                  <a:cubicBezTo>
                    <a:pt x="21" y="23"/>
                    <a:pt x="17" y="21"/>
                    <a:pt x="15" y="19"/>
                  </a:cubicBezTo>
                  <a:cubicBezTo>
                    <a:pt x="14" y="21"/>
                    <a:pt x="16" y="25"/>
                    <a:pt x="16" y="27"/>
                  </a:cubicBezTo>
                  <a:cubicBezTo>
                    <a:pt x="16" y="28"/>
                    <a:pt x="16" y="30"/>
                    <a:pt x="17" y="31"/>
                  </a:cubicBezTo>
                  <a:cubicBezTo>
                    <a:pt x="18" y="32"/>
                    <a:pt x="19" y="34"/>
                    <a:pt x="21" y="35"/>
                  </a:cubicBezTo>
                  <a:cubicBezTo>
                    <a:pt x="21" y="36"/>
                    <a:pt x="22" y="37"/>
                    <a:pt x="22" y="38"/>
                  </a:cubicBezTo>
                  <a:cubicBezTo>
                    <a:pt x="22" y="38"/>
                    <a:pt x="22" y="38"/>
                    <a:pt x="22" y="39"/>
                  </a:cubicBezTo>
                  <a:cubicBezTo>
                    <a:pt x="23" y="40"/>
                    <a:pt x="24" y="44"/>
                    <a:pt x="22" y="44"/>
                  </a:cubicBezTo>
                  <a:cubicBezTo>
                    <a:pt x="21" y="44"/>
                    <a:pt x="21" y="44"/>
                    <a:pt x="21" y="44"/>
                  </a:cubicBezTo>
                  <a:cubicBezTo>
                    <a:pt x="20" y="41"/>
                    <a:pt x="18" y="39"/>
                    <a:pt x="17" y="38"/>
                  </a:cubicBezTo>
                  <a:cubicBezTo>
                    <a:pt x="16" y="40"/>
                    <a:pt x="17" y="42"/>
                    <a:pt x="16" y="44"/>
                  </a:cubicBezTo>
                  <a:cubicBezTo>
                    <a:pt x="15" y="45"/>
                    <a:pt x="14" y="46"/>
                    <a:pt x="13" y="46"/>
                  </a:cubicBezTo>
                  <a:cubicBezTo>
                    <a:pt x="13" y="46"/>
                    <a:pt x="13" y="46"/>
                    <a:pt x="13" y="46"/>
                  </a:cubicBezTo>
                  <a:cubicBezTo>
                    <a:pt x="12" y="46"/>
                    <a:pt x="12" y="46"/>
                    <a:pt x="12" y="47"/>
                  </a:cubicBezTo>
                  <a:cubicBezTo>
                    <a:pt x="12" y="48"/>
                    <a:pt x="13" y="49"/>
                    <a:pt x="14" y="50"/>
                  </a:cubicBezTo>
                  <a:cubicBezTo>
                    <a:pt x="16" y="54"/>
                    <a:pt x="19" y="58"/>
                    <a:pt x="23" y="62"/>
                  </a:cubicBezTo>
                  <a:cubicBezTo>
                    <a:pt x="23" y="63"/>
                    <a:pt x="23" y="63"/>
                    <a:pt x="22" y="6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64" name="Freeform 134"/>
            <p:cNvSpPr/>
            <p:nvPr userDrawn="1"/>
          </p:nvSpPr>
          <p:spPr bwMode="auto">
            <a:xfrm>
              <a:off x="989" y="789"/>
              <a:ext cx="13" cy="11"/>
            </a:xfrm>
            <a:custGeom>
              <a:avLst/>
              <a:gdLst>
                <a:gd name="T0" fmla="*/ 9 w 11"/>
                <a:gd name="T1" fmla="*/ 9 h 9"/>
                <a:gd name="T2" fmla="*/ 7 w 11"/>
                <a:gd name="T3" fmla="*/ 7 h 9"/>
                <a:gd name="T4" fmla="*/ 0 w 11"/>
                <a:gd name="T5" fmla="*/ 2 h 9"/>
                <a:gd name="T6" fmla="*/ 0 w 11"/>
                <a:gd name="T7" fmla="*/ 1 h 9"/>
                <a:gd name="T8" fmla="*/ 7 w 11"/>
                <a:gd name="T9" fmla="*/ 0 h 9"/>
                <a:gd name="T10" fmla="*/ 9 w 11"/>
                <a:gd name="T11" fmla="*/ 9 h 9"/>
              </a:gdLst>
              <a:ahLst/>
              <a:cxnLst>
                <a:cxn ang="0">
                  <a:pos x="T0" y="T1"/>
                </a:cxn>
                <a:cxn ang="0">
                  <a:pos x="T2" y="T3"/>
                </a:cxn>
                <a:cxn ang="0">
                  <a:pos x="T4" y="T5"/>
                </a:cxn>
                <a:cxn ang="0">
                  <a:pos x="T6" y="T7"/>
                </a:cxn>
                <a:cxn ang="0">
                  <a:pos x="T8" y="T9"/>
                </a:cxn>
                <a:cxn ang="0">
                  <a:pos x="T10" y="T11"/>
                </a:cxn>
              </a:cxnLst>
              <a:rect l="0" t="0" r="r" b="b"/>
              <a:pathLst>
                <a:path w="11" h="9">
                  <a:moveTo>
                    <a:pt x="9" y="9"/>
                  </a:moveTo>
                  <a:cubicBezTo>
                    <a:pt x="8" y="9"/>
                    <a:pt x="7" y="8"/>
                    <a:pt x="7" y="7"/>
                  </a:cubicBezTo>
                  <a:cubicBezTo>
                    <a:pt x="3" y="6"/>
                    <a:pt x="1" y="5"/>
                    <a:pt x="0" y="2"/>
                  </a:cubicBezTo>
                  <a:cubicBezTo>
                    <a:pt x="0" y="2"/>
                    <a:pt x="0" y="2"/>
                    <a:pt x="0" y="1"/>
                  </a:cubicBezTo>
                  <a:cubicBezTo>
                    <a:pt x="2" y="1"/>
                    <a:pt x="5" y="0"/>
                    <a:pt x="7" y="0"/>
                  </a:cubicBezTo>
                  <a:cubicBezTo>
                    <a:pt x="11" y="1"/>
                    <a:pt x="10" y="6"/>
                    <a:pt x="9" y="9"/>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65" name="Freeform 135"/>
            <p:cNvSpPr/>
            <p:nvPr userDrawn="1"/>
          </p:nvSpPr>
          <p:spPr bwMode="auto">
            <a:xfrm>
              <a:off x="977" y="776"/>
              <a:ext cx="14" cy="13"/>
            </a:xfrm>
            <a:custGeom>
              <a:avLst/>
              <a:gdLst>
                <a:gd name="T0" fmla="*/ 10 w 11"/>
                <a:gd name="T1" fmla="*/ 10 h 10"/>
                <a:gd name="T2" fmla="*/ 9 w 11"/>
                <a:gd name="T3" fmla="*/ 10 h 10"/>
                <a:gd name="T4" fmla="*/ 8 w 11"/>
                <a:gd name="T5" fmla="*/ 8 h 10"/>
                <a:gd name="T6" fmla="*/ 1 w 11"/>
                <a:gd name="T7" fmla="*/ 2 h 10"/>
                <a:gd name="T8" fmla="*/ 4 w 11"/>
                <a:gd name="T9" fmla="*/ 2 h 10"/>
                <a:gd name="T10" fmla="*/ 11 w 11"/>
                <a:gd name="T11" fmla="*/ 5 h 10"/>
                <a:gd name="T12" fmla="*/ 10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10" y="10"/>
                  </a:moveTo>
                  <a:cubicBezTo>
                    <a:pt x="9" y="10"/>
                    <a:pt x="9" y="10"/>
                    <a:pt x="9" y="10"/>
                  </a:cubicBezTo>
                  <a:cubicBezTo>
                    <a:pt x="8" y="9"/>
                    <a:pt x="8" y="9"/>
                    <a:pt x="8" y="8"/>
                  </a:cubicBezTo>
                  <a:cubicBezTo>
                    <a:pt x="4" y="8"/>
                    <a:pt x="0" y="6"/>
                    <a:pt x="1" y="2"/>
                  </a:cubicBezTo>
                  <a:cubicBezTo>
                    <a:pt x="2" y="1"/>
                    <a:pt x="2" y="2"/>
                    <a:pt x="4" y="2"/>
                  </a:cubicBezTo>
                  <a:cubicBezTo>
                    <a:pt x="7" y="2"/>
                    <a:pt x="11" y="0"/>
                    <a:pt x="11" y="5"/>
                  </a:cubicBezTo>
                  <a:cubicBezTo>
                    <a:pt x="11" y="6"/>
                    <a:pt x="10" y="8"/>
                    <a:pt x="10" y="1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66" name="Freeform 136"/>
            <p:cNvSpPr/>
            <p:nvPr userDrawn="1"/>
          </p:nvSpPr>
          <p:spPr bwMode="auto">
            <a:xfrm>
              <a:off x="1048" y="786"/>
              <a:ext cx="163" cy="141"/>
            </a:xfrm>
            <a:custGeom>
              <a:avLst/>
              <a:gdLst>
                <a:gd name="T0" fmla="*/ 132 w 132"/>
                <a:gd name="T1" fmla="*/ 6 h 113"/>
                <a:gd name="T2" fmla="*/ 98 w 132"/>
                <a:gd name="T3" fmla="*/ 6 h 113"/>
                <a:gd name="T4" fmla="*/ 79 w 132"/>
                <a:gd name="T5" fmla="*/ 25 h 113"/>
                <a:gd name="T6" fmla="*/ 73 w 132"/>
                <a:gd name="T7" fmla="*/ 12 h 113"/>
                <a:gd name="T8" fmla="*/ 83 w 132"/>
                <a:gd name="T9" fmla="*/ 8 h 113"/>
                <a:gd name="T10" fmla="*/ 57 w 132"/>
                <a:gd name="T11" fmla="*/ 8 h 113"/>
                <a:gd name="T12" fmla="*/ 53 w 132"/>
                <a:gd name="T13" fmla="*/ 25 h 113"/>
                <a:gd name="T14" fmla="*/ 34 w 132"/>
                <a:gd name="T15" fmla="*/ 6 h 113"/>
                <a:gd name="T16" fmla="*/ 0 w 132"/>
                <a:gd name="T17" fmla="*/ 6 h 113"/>
                <a:gd name="T18" fmla="*/ 24 w 132"/>
                <a:gd name="T19" fmla="*/ 16 h 113"/>
                <a:gd name="T20" fmla="*/ 27 w 132"/>
                <a:gd name="T21" fmla="*/ 22 h 113"/>
                <a:gd name="T22" fmla="*/ 9 w 132"/>
                <a:gd name="T23" fmla="*/ 22 h 113"/>
                <a:gd name="T24" fmla="*/ 31 w 132"/>
                <a:gd name="T25" fmla="*/ 32 h 113"/>
                <a:gd name="T26" fmla="*/ 34 w 132"/>
                <a:gd name="T27" fmla="*/ 38 h 113"/>
                <a:gd name="T28" fmla="*/ 20 w 132"/>
                <a:gd name="T29" fmla="*/ 39 h 113"/>
                <a:gd name="T30" fmla="*/ 38 w 132"/>
                <a:gd name="T31" fmla="*/ 48 h 113"/>
                <a:gd name="T32" fmla="*/ 41 w 132"/>
                <a:gd name="T33" fmla="*/ 54 h 113"/>
                <a:gd name="T34" fmla="*/ 30 w 132"/>
                <a:gd name="T35" fmla="*/ 54 h 113"/>
                <a:gd name="T36" fmla="*/ 45 w 132"/>
                <a:gd name="T37" fmla="*/ 63 h 113"/>
                <a:gd name="T38" fmla="*/ 47 w 132"/>
                <a:gd name="T39" fmla="*/ 69 h 113"/>
                <a:gd name="T40" fmla="*/ 39 w 132"/>
                <a:gd name="T41" fmla="*/ 69 h 113"/>
                <a:gd name="T42" fmla="*/ 51 w 132"/>
                <a:gd name="T43" fmla="*/ 78 h 113"/>
                <a:gd name="T44" fmla="*/ 51 w 132"/>
                <a:gd name="T45" fmla="*/ 89 h 113"/>
                <a:gd name="T46" fmla="*/ 66 w 132"/>
                <a:gd name="T47" fmla="*/ 113 h 113"/>
                <a:gd name="T48" fmla="*/ 81 w 132"/>
                <a:gd name="T49" fmla="*/ 89 h 113"/>
                <a:gd name="T50" fmla="*/ 81 w 132"/>
                <a:gd name="T51" fmla="*/ 78 h 113"/>
                <a:gd name="T52" fmla="*/ 92 w 132"/>
                <a:gd name="T53" fmla="*/ 69 h 113"/>
                <a:gd name="T54" fmla="*/ 85 w 132"/>
                <a:gd name="T55" fmla="*/ 69 h 113"/>
                <a:gd name="T56" fmla="*/ 87 w 132"/>
                <a:gd name="T57" fmla="*/ 63 h 113"/>
                <a:gd name="T58" fmla="*/ 102 w 132"/>
                <a:gd name="T59" fmla="*/ 54 h 113"/>
                <a:gd name="T60" fmla="*/ 91 w 132"/>
                <a:gd name="T61" fmla="*/ 54 h 113"/>
                <a:gd name="T62" fmla="*/ 93 w 132"/>
                <a:gd name="T63" fmla="*/ 48 h 113"/>
                <a:gd name="T64" fmla="*/ 111 w 132"/>
                <a:gd name="T65" fmla="*/ 39 h 113"/>
                <a:gd name="T66" fmla="*/ 97 w 132"/>
                <a:gd name="T67" fmla="*/ 38 h 113"/>
                <a:gd name="T68" fmla="*/ 100 w 132"/>
                <a:gd name="T69" fmla="*/ 32 h 113"/>
                <a:gd name="T70" fmla="*/ 123 w 132"/>
                <a:gd name="T71" fmla="*/ 22 h 113"/>
                <a:gd name="T72" fmla="*/ 105 w 132"/>
                <a:gd name="T73" fmla="*/ 22 h 113"/>
                <a:gd name="T74" fmla="*/ 107 w 132"/>
                <a:gd name="T75" fmla="*/ 16 h 113"/>
                <a:gd name="T76" fmla="*/ 132 w 132"/>
                <a:gd name="T77" fmla="*/ 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2" h="113">
                  <a:moveTo>
                    <a:pt x="132" y="6"/>
                  </a:moveTo>
                  <a:cubicBezTo>
                    <a:pt x="98" y="6"/>
                    <a:pt x="98" y="6"/>
                    <a:pt x="98" y="6"/>
                  </a:cubicBezTo>
                  <a:cubicBezTo>
                    <a:pt x="88" y="6"/>
                    <a:pt x="83" y="16"/>
                    <a:pt x="79" y="25"/>
                  </a:cubicBezTo>
                  <a:cubicBezTo>
                    <a:pt x="73" y="12"/>
                    <a:pt x="73" y="12"/>
                    <a:pt x="73" y="12"/>
                  </a:cubicBezTo>
                  <a:cubicBezTo>
                    <a:pt x="83" y="8"/>
                    <a:pt x="83" y="8"/>
                    <a:pt x="83" y="8"/>
                  </a:cubicBezTo>
                  <a:cubicBezTo>
                    <a:pt x="77" y="3"/>
                    <a:pt x="59" y="0"/>
                    <a:pt x="57" y="8"/>
                  </a:cubicBezTo>
                  <a:cubicBezTo>
                    <a:pt x="53" y="25"/>
                    <a:pt x="53" y="25"/>
                    <a:pt x="53" y="25"/>
                  </a:cubicBezTo>
                  <a:cubicBezTo>
                    <a:pt x="50" y="17"/>
                    <a:pt x="45" y="6"/>
                    <a:pt x="34" y="6"/>
                  </a:cubicBezTo>
                  <a:cubicBezTo>
                    <a:pt x="0" y="6"/>
                    <a:pt x="0" y="6"/>
                    <a:pt x="0" y="6"/>
                  </a:cubicBezTo>
                  <a:cubicBezTo>
                    <a:pt x="4" y="14"/>
                    <a:pt x="8" y="17"/>
                    <a:pt x="24" y="16"/>
                  </a:cubicBezTo>
                  <a:cubicBezTo>
                    <a:pt x="27" y="22"/>
                    <a:pt x="27" y="22"/>
                    <a:pt x="27" y="22"/>
                  </a:cubicBezTo>
                  <a:cubicBezTo>
                    <a:pt x="9" y="22"/>
                    <a:pt x="9" y="22"/>
                    <a:pt x="9" y="22"/>
                  </a:cubicBezTo>
                  <a:cubicBezTo>
                    <a:pt x="14" y="32"/>
                    <a:pt x="17" y="32"/>
                    <a:pt x="31" y="32"/>
                  </a:cubicBezTo>
                  <a:cubicBezTo>
                    <a:pt x="34" y="38"/>
                    <a:pt x="34" y="38"/>
                    <a:pt x="34" y="38"/>
                  </a:cubicBezTo>
                  <a:cubicBezTo>
                    <a:pt x="20" y="39"/>
                    <a:pt x="20" y="39"/>
                    <a:pt x="20" y="39"/>
                  </a:cubicBezTo>
                  <a:cubicBezTo>
                    <a:pt x="23" y="45"/>
                    <a:pt x="27" y="48"/>
                    <a:pt x="38" y="48"/>
                  </a:cubicBezTo>
                  <a:cubicBezTo>
                    <a:pt x="41" y="54"/>
                    <a:pt x="41" y="54"/>
                    <a:pt x="41" y="54"/>
                  </a:cubicBezTo>
                  <a:cubicBezTo>
                    <a:pt x="30" y="54"/>
                    <a:pt x="30" y="54"/>
                    <a:pt x="30" y="54"/>
                  </a:cubicBezTo>
                  <a:cubicBezTo>
                    <a:pt x="34" y="61"/>
                    <a:pt x="36" y="64"/>
                    <a:pt x="45" y="63"/>
                  </a:cubicBezTo>
                  <a:cubicBezTo>
                    <a:pt x="47" y="69"/>
                    <a:pt x="47" y="69"/>
                    <a:pt x="47" y="69"/>
                  </a:cubicBezTo>
                  <a:cubicBezTo>
                    <a:pt x="39" y="69"/>
                    <a:pt x="39" y="69"/>
                    <a:pt x="39" y="69"/>
                  </a:cubicBezTo>
                  <a:cubicBezTo>
                    <a:pt x="43" y="77"/>
                    <a:pt x="46" y="77"/>
                    <a:pt x="51" y="78"/>
                  </a:cubicBezTo>
                  <a:cubicBezTo>
                    <a:pt x="55" y="78"/>
                    <a:pt x="56" y="86"/>
                    <a:pt x="51" y="89"/>
                  </a:cubicBezTo>
                  <a:cubicBezTo>
                    <a:pt x="66" y="113"/>
                    <a:pt x="66" y="113"/>
                    <a:pt x="66" y="113"/>
                  </a:cubicBezTo>
                  <a:cubicBezTo>
                    <a:pt x="81" y="89"/>
                    <a:pt x="81" y="89"/>
                    <a:pt x="81" y="89"/>
                  </a:cubicBezTo>
                  <a:cubicBezTo>
                    <a:pt x="76" y="86"/>
                    <a:pt x="76" y="78"/>
                    <a:pt x="81" y="78"/>
                  </a:cubicBezTo>
                  <a:cubicBezTo>
                    <a:pt x="85" y="77"/>
                    <a:pt x="89" y="77"/>
                    <a:pt x="92" y="69"/>
                  </a:cubicBezTo>
                  <a:cubicBezTo>
                    <a:pt x="85" y="69"/>
                    <a:pt x="85" y="69"/>
                    <a:pt x="85" y="69"/>
                  </a:cubicBezTo>
                  <a:cubicBezTo>
                    <a:pt x="87" y="63"/>
                    <a:pt x="87" y="63"/>
                    <a:pt x="87" y="63"/>
                  </a:cubicBezTo>
                  <a:cubicBezTo>
                    <a:pt x="96" y="64"/>
                    <a:pt x="98" y="60"/>
                    <a:pt x="102" y="54"/>
                  </a:cubicBezTo>
                  <a:cubicBezTo>
                    <a:pt x="91" y="54"/>
                    <a:pt x="91" y="54"/>
                    <a:pt x="91" y="54"/>
                  </a:cubicBezTo>
                  <a:cubicBezTo>
                    <a:pt x="93" y="48"/>
                    <a:pt x="93" y="48"/>
                    <a:pt x="93" y="48"/>
                  </a:cubicBezTo>
                  <a:cubicBezTo>
                    <a:pt x="105" y="48"/>
                    <a:pt x="108" y="45"/>
                    <a:pt x="111" y="39"/>
                  </a:cubicBezTo>
                  <a:cubicBezTo>
                    <a:pt x="97" y="38"/>
                    <a:pt x="97" y="38"/>
                    <a:pt x="97" y="38"/>
                  </a:cubicBezTo>
                  <a:cubicBezTo>
                    <a:pt x="100" y="32"/>
                    <a:pt x="100" y="32"/>
                    <a:pt x="100" y="32"/>
                  </a:cubicBezTo>
                  <a:cubicBezTo>
                    <a:pt x="115" y="32"/>
                    <a:pt x="118" y="32"/>
                    <a:pt x="123" y="22"/>
                  </a:cubicBezTo>
                  <a:cubicBezTo>
                    <a:pt x="105" y="22"/>
                    <a:pt x="105" y="22"/>
                    <a:pt x="105" y="22"/>
                  </a:cubicBezTo>
                  <a:cubicBezTo>
                    <a:pt x="107" y="16"/>
                    <a:pt x="107" y="16"/>
                    <a:pt x="107" y="16"/>
                  </a:cubicBezTo>
                  <a:cubicBezTo>
                    <a:pt x="123" y="17"/>
                    <a:pt x="128" y="14"/>
                    <a:pt x="132" y="6"/>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67" name="Freeform 137"/>
            <p:cNvSpPr>
              <a:spLocks noEditPoints="1"/>
            </p:cNvSpPr>
            <p:nvPr userDrawn="1"/>
          </p:nvSpPr>
          <p:spPr bwMode="auto">
            <a:xfrm>
              <a:off x="1214" y="757"/>
              <a:ext cx="64" cy="43"/>
            </a:xfrm>
            <a:custGeom>
              <a:avLst/>
              <a:gdLst>
                <a:gd name="T0" fmla="*/ 51 w 52"/>
                <a:gd name="T1" fmla="*/ 10 h 34"/>
                <a:gd name="T2" fmla="*/ 48 w 52"/>
                <a:gd name="T3" fmla="*/ 10 h 34"/>
                <a:gd name="T4" fmla="*/ 47 w 52"/>
                <a:gd name="T5" fmla="*/ 8 h 34"/>
                <a:gd name="T6" fmla="*/ 50 w 52"/>
                <a:gd name="T7" fmla="*/ 7 h 34"/>
                <a:gd name="T8" fmla="*/ 52 w 52"/>
                <a:gd name="T9" fmla="*/ 2 h 34"/>
                <a:gd name="T10" fmla="*/ 44 w 52"/>
                <a:gd name="T11" fmla="*/ 3 h 34"/>
                <a:gd name="T12" fmla="*/ 36 w 52"/>
                <a:gd name="T13" fmla="*/ 1 h 34"/>
                <a:gd name="T14" fmla="*/ 36 w 52"/>
                <a:gd name="T15" fmla="*/ 3 h 34"/>
                <a:gd name="T16" fmla="*/ 35 w 52"/>
                <a:gd name="T17" fmla="*/ 4 h 34"/>
                <a:gd name="T18" fmla="*/ 35 w 52"/>
                <a:gd name="T19" fmla="*/ 5 h 34"/>
                <a:gd name="T20" fmla="*/ 34 w 52"/>
                <a:gd name="T21" fmla="*/ 7 h 34"/>
                <a:gd name="T22" fmla="*/ 34 w 52"/>
                <a:gd name="T23" fmla="*/ 6 h 34"/>
                <a:gd name="T24" fmla="*/ 30 w 52"/>
                <a:gd name="T25" fmla="*/ 5 h 34"/>
                <a:gd name="T26" fmla="*/ 28 w 52"/>
                <a:gd name="T27" fmla="*/ 9 h 34"/>
                <a:gd name="T28" fmla="*/ 28 w 52"/>
                <a:gd name="T29" fmla="*/ 10 h 34"/>
                <a:gd name="T30" fmla="*/ 31 w 52"/>
                <a:gd name="T31" fmla="*/ 11 h 34"/>
                <a:gd name="T32" fmla="*/ 33 w 52"/>
                <a:gd name="T33" fmla="*/ 12 h 34"/>
                <a:gd name="T34" fmla="*/ 30 w 52"/>
                <a:gd name="T35" fmla="*/ 14 h 34"/>
                <a:gd name="T36" fmla="*/ 26 w 52"/>
                <a:gd name="T37" fmla="*/ 14 h 34"/>
                <a:gd name="T38" fmla="*/ 13 w 52"/>
                <a:gd name="T39" fmla="*/ 11 h 34"/>
                <a:gd name="T40" fmla="*/ 13 w 52"/>
                <a:gd name="T41" fmla="*/ 12 h 34"/>
                <a:gd name="T42" fmla="*/ 20 w 52"/>
                <a:gd name="T43" fmla="*/ 16 h 34"/>
                <a:gd name="T44" fmla="*/ 32 w 52"/>
                <a:gd name="T45" fmla="*/ 20 h 34"/>
                <a:gd name="T46" fmla="*/ 31 w 52"/>
                <a:gd name="T47" fmla="*/ 20 h 34"/>
                <a:gd name="T48" fmla="*/ 24 w 52"/>
                <a:gd name="T49" fmla="*/ 20 h 34"/>
                <a:gd name="T50" fmla="*/ 19 w 52"/>
                <a:gd name="T51" fmla="*/ 19 h 34"/>
                <a:gd name="T52" fmla="*/ 18 w 52"/>
                <a:gd name="T53" fmla="*/ 19 h 34"/>
                <a:gd name="T54" fmla="*/ 4 w 52"/>
                <a:gd name="T55" fmla="*/ 14 h 34"/>
                <a:gd name="T56" fmla="*/ 2 w 52"/>
                <a:gd name="T57" fmla="*/ 12 h 34"/>
                <a:gd name="T58" fmla="*/ 3 w 52"/>
                <a:gd name="T59" fmla="*/ 20 h 34"/>
                <a:gd name="T60" fmla="*/ 13 w 52"/>
                <a:gd name="T61" fmla="*/ 23 h 34"/>
                <a:gd name="T62" fmla="*/ 13 w 52"/>
                <a:gd name="T63" fmla="*/ 24 h 34"/>
                <a:gd name="T64" fmla="*/ 9 w 52"/>
                <a:gd name="T65" fmla="*/ 27 h 34"/>
                <a:gd name="T66" fmla="*/ 4 w 52"/>
                <a:gd name="T67" fmla="*/ 26 h 34"/>
                <a:gd name="T68" fmla="*/ 9 w 52"/>
                <a:gd name="T69" fmla="*/ 33 h 34"/>
                <a:gd name="T70" fmla="*/ 10 w 52"/>
                <a:gd name="T71" fmla="*/ 34 h 34"/>
                <a:gd name="T72" fmla="*/ 18 w 52"/>
                <a:gd name="T73" fmla="*/ 28 h 34"/>
                <a:gd name="T74" fmla="*/ 23 w 52"/>
                <a:gd name="T75" fmla="*/ 28 h 34"/>
                <a:gd name="T76" fmla="*/ 22 w 52"/>
                <a:gd name="T77" fmla="*/ 23 h 34"/>
                <a:gd name="T78" fmla="*/ 23 w 52"/>
                <a:gd name="T79" fmla="*/ 21 h 34"/>
                <a:gd name="T80" fmla="*/ 30 w 52"/>
                <a:gd name="T81" fmla="*/ 22 h 34"/>
                <a:gd name="T82" fmla="*/ 36 w 52"/>
                <a:gd name="T83" fmla="*/ 25 h 34"/>
                <a:gd name="T84" fmla="*/ 39 w 52"/>
                <a:gd name="T85" fmla="*/ 21 h 34"/>
                <a:gd name="T86" fmla="*/ 39 w 52"/>
                <a:gd name="T87" fmla="*/ 20 h 34"/>
                <a:gd name="T88" fmla="*/ 51 w 52"/>
                <a:gd name="T89" fmla="*/ 14 h 34"/>
                <a:gd name="T90" fmla="*/ 38 w 52"/>
                <a:gd name="T91" fmla="*/ 14 h 34"/>
                <a:gd name="T92" fmla="*/ 38 w 52"/>
                <a:gd name="T93" fmla="*/ 12 h 34"/>
                <a:gd name="T94" fmla="*/ 36 w 52"/>
                <a:gd name="T95" fmla="*/ 11 h 34"/>
                <a:gd name="T96" fmla="*/ 36 w 52"/>
                <a:gd name="T97" fmla="*/ 10 h 34"/>
                <a:gd name="T98" fmla="*/ 40 w 52"/>
                <a:gd name="T99" fmla="*/ 9 h 34"/>
                <a:gd name="T100" fmla="*/ 43 w 52"/>
                <a:gd name="T101" fmla="*/ 14 h 34"/>
                <a:gd name="T102" fmla="*/ 38 w 52"/>
                <a:gd name="T103" fmla="*/ 1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 h="34">
                  <a:moveTo>
                    <a:pt x="51" y="13"/>
                  </a:moveTo>
                  <a:cubicBezTo>
                    <a:pt x="51" y="12"/>
                    <a:pt x="51" y="12"/>
                    <a:pt x="51" y="12"/>
                  </a:cubicBezTo>
                  <a:cubicBezTo>
                    <a:pt x="51" y="11"/>
                    <a:pt x="51" y="11"/>
                    <a:pt x="51" y="10"/>
                  </a:cubicBezTo>
                  <a:cubicBezTo>
                    <a:pt x="51" y="10"/>
                    <a:pt x="50" y="10"/>
                    <a:pt x="50" y="10"/>
                  </a:cubicBezTo>
                  <a:cubicBezTo>
                    <a:pt x="49" y="10"/>
                    <a:pt x="49" y="10"/>
                    <a:pt x="49" y="10"/>
                  </a:cubicBezTo>
                  <a:cubicBezTo>
                    <a:pt x="48" y="10"/>
                    <a:pt x="48" y="10"/>
                    <a:pt x="48" y="10"/>
                  </a:cubicBezTo>
                  <a:cubicBezTo>
                    <a:pt x="48" y="9"/>
                    <a:pt x="48" y="9"/>
                    <a:pt x="48" y="9"/>
                  </a:cubicBezTo>
                  <a:cubicBezTo>
                    <a:pt x="48" y="9"/>
                    <a:pt x="48" y="9"/>
                    <a:pt x="48" y="9"/>
                  </a:cubicBezTo>
                  <a:cubicBezTo>
                    <a:pt x="47" y="8"/>
                    <a:pt x="47" y="8"/>
                    <a:pt x="47" y="8"/>
                  </a:cubicBezTo>
                  <a:cubicBezTo>
                    <a:pt x="47" y="8"/>
                    <a:pt x="47" y="8"/>
                    <a:pt x="47" y="8"/>
                  </a:cubicBezTo>
                  <a:cubicBezTo>
                    <a:pt x="48" y="8"/>
                    <a:pt x="48" y="8"/>
                    <a:pt x="48" y="8"/>
                  </a:cubicBezTo>
                  <a:cubicBezTo>
                    <a:pt x="48" y="7"/>
                    <a:pt x="49" y="7"/>
                    <a:pt x="50" y="7"/>
                  </a:cubicBezTo>
                  <a:cubicBezTo>
                    <a:pt x="50" y="7"/>
                    <a:pt x="50" y="7"/>
                    <a:pt x="50" y="7"/>
                  </a:cubicBezTo>
                  <a:cubicBezTo>
                    <a:pt x="50" y="7"/>
                    <a:pt x="50" y="7"/>
                    <a:pt x="50" y="7"/>
                  </a:cubicBezTo>
                  <a:cubicBezTo>
                    <a:pt x="51" y="6"/>
                    <a:pt x="52" y="4"/>
                    <a:pt x="52" y="2"/>
                  </a:cubicBezTo>
                  <a:cubicBezTo>
                    <a:pt x="52" y="2"/>
                    <a:pt x="51" y="2"/>
                    <a:pt x="50" y="2"/>
                  </a:cubicBezTo>
                  <a:cubicBezTo>
                    <a:pt x="49" y="2"/>
                    <a:pt x="48" y="2"/>
                    <a:pt x="46" y="3"/>
                  </a:cubicBezTo>
                  <a:cubicBezTo>
                    <a:pt x="46" y="3"/>
                    <a:pt x="45" y="3"/>
                    <a:pt x="44" y="3"/>
                  </a:cubicBezTo>
                  <a:cubicBezTo>
                    <a:pt x="43" y="3"/>
                    <a:pt x="43" y="3"/>
                    <a:pt x="43" y="3"/>
                  </a:cubicBezTo>
                  <a:cubicBezTo>
                    <a:pt x="41" y="2"/>
                    <a:pt x="41" y="2"/>
                    <a:pt x="36" y="0"/>
                  </a:cubicBezTo>
                  <a:cubicBezTo>
                    <a:pt x="36" y="0"/>
                    <a:pt x="36" y="0"/>
                    <a:pt x="36" y="1"/>
                  </a:cubicBezTo>
                  <a:cubicBezTo>
                    <a:pt x="35" y="1"/>
                    <a:pt x="35" y="2"/>
                    <a:pt x="36" y="3"/>
                  </a:cubicBezTo>
                  <a:cubicBezTo>
                    <a:pt x="36" y="3"/>
                    <a:pt x="36" y="3"/>
                    <a:pt x="36" y="3"/>
                  </a:cubicBezTo>
                  <a:cubicBezTo>
                    <a:pt x="36" y="3"/>
                    <a:pt x="36" y="3"/>
                    <a:pt x="36" y="3"/>
                  </a:cubicBezTo>
                  <a:cubicBezTo>
                    <a:pt x="36" y="3"/>
                    <a:pt x="36" y="3"/>
                    <a:pt x="36" y="3"/>
                  </a:cubicBezTo>
                  <a:cubicBezTo>
                    <a:pt x="35" y="4"/>
                    <a:pt x="35" y="4"/>
                    <a:pt x="35" y="4"/>
                  </a:cubicBezTo>
                  <a:cubicBezTo>
                    <a:pt x="35" y="4"/>
                    <a:pt x="35" y="4"/>
                    <a:pt x="35" y="4"/>
                  </a:cubicBezTo>
                  <a:cubicBezTo>
                    <a:pt x="35" y="4"/>
                    <a:pt x="35" y="4"/>
                    <a:pt x="35" y="4"/>
                  </a:cubicBezTo>
                  <a:cubicBezTo>
                    <a:pt x="35" y="4"/>
                    <a:pt x="35" y="4"/>
                    <a:pt x="35" y="4"/>
                  </a:cubicBezTo>
                  <a:cubicBezTo>
                    <a:pt x="35" y="4"/>
                    <a:pt x="35" y="5"/>
                    <a:pt x="35" y="5"/>
                  </a:cubicBezTo>
                  <a:cubicBezTo>
                    <a:pt x="35" y="5"/>
                    <a:pt x="35" y="5"/>
                    <a:pt x="35" y="5"/>
                  </a:cubicBezTo>
                  <a:cubicBezTo>
                    <a:pt x="35" y="6"/>
                    <a:pt x="35" y="6"/>
                    <a:pt x="35" y="6"/>
                  </a:cubicBezTo>
                  <a:cubicBezTo>
                    <a:pt x="34" y="7"/>
                    <a:pt x="34" y="7"/>
                    <a:pt x="34" y="7"/>
                  </a:cubicBezTo>
                  <a:cubicBezTo>
                    <a:pt x="34" y="7"/>
                    <a:pt x="34" y="7"/>
                    <a:pt x="34" y="7"/>
                  </a:cubicBezTo>
                  <a:cubicBezTo>
                    <a:pt x="34" y="7"/>
                    <a:pt x="34" y="7"/>
                    <a:pt x="34" y="7"/>
                  </a:cubicBezTo>
                  <a:cubicBezTo>
                    <a:pt x="34" y="6"/>
                    <a:pt x="34" y="6"/>
                    <a:pt x="34" y="6"/>
                  </a:cubicBezTo>
                  <a:cubicBezTo>
                    <a:pt x="33" y="6"/>
                    <a:pt x="33" y="6"/>
                    <a:pt x="32" y="5"/>
                  </a:cubicBezTo>
                  <a:cubicBezTo>
                    <a:pt x="32" y="5"/>
                    <a:pt x="32" y="5"/>
                    <a:pt x="32" y="5"/>
                  </a:cubicBezTo>
                  <a:cubicBezTo>
                    <a:pt x="31" y="5"/>
                    <a:pt x="31" y="5"/>
                    <a:pt x="30" y="5"/>
                  </a:cubicBezTo>
                  <a:cubicBezTo>
                    <a:pt x="30" y="6"/>
                    <a:pt x="30" y="6"/>
                    <a:pt x="30" y="6"/>
                  </a:cubicBezTo>
                  <a:cubicBezTo>
                    <a:pt x="30" y="7"/>
                    <a:pt x="30" y="7"/>
                    <a:pt x="30" y="7"/>
                  </a:cubicBezTo>
                  <a:cubicBezTo>
                    <a:pt x="30" y="7"/>
                    <a:pt x="30" y="8"/>
                    <a:pt x="28" y="9"/>
                  </a:cubicBezTo>
                  <a:cubicBezTo>
                    <a:pt x="27" y="8"/>
                    <a:pt x="27" y="8"/>
                    <a:pt x="27" y="8"/>
                  </a:cubicBezTo>
                  <a:cubicBezTo>
                    <a:pt x="26" y="8"/>
                    <a:pt x="26" y="9"/>
                    <a:pt x="26" y="9"/>
                  </a:cubicBezTo>
                  <a:cubicBezTo>
                    <a:pt x="26" y="10"/>
                    <a:pt x="26" y="10"/>
                    <a:pt x="28" y="10"/>
                  </a:cubicBezTo>
                  <a:cubicBezTo>
                    <a:pt x="29" y="10"/>
                    <a:pt x="29" y="11"/>
                    <a:pt x="30" y="11"/>
                  </a:cubicBezTo>
                  <a:cubicBezTo>
                    <a:pt x="30" y="11"/>
                    <a:pt x="30" y="11"/>
                    <a:pt x="30" y="11"/>
                  </a:cubicBezTo>
                  <a:cubicBezTo>
                    <a:pt x="31" y="11"/>
                    <a:pt x="31" y="11"/>
                    <a:pt x="31" y="11"/>
                  </a:cubicBezTo>
                  <a:cubicBezTo>
                    <a:pt x="32" y="11"/>
                    <a:pt x="32" y="11"/>
                    <a:pt x="32" y="11"/>
                  </a:cubicBezTo>
                  <a:cubicBezTo>
                    <a:pt x="33" y="11"/>
                    <a:pt x="33" y="11"/>
                    <a:pt x="33" y="11"/>
                  </a:cubicBezTo>
                  <a:cubicBezTo>
                    <a:pt x="33" y="12"/>
                    <a:pt x="33" y="12"/>
                    <a:pt x="33" y="12"/>
                  </a:cubicBezTo>
                  <a:cubicBezTo>
                    <a:pt x="31" y="12"/>
                    <a:pt x="31" y="12"/>
                    <a:pt x="31" y="12"/>
                  </a:cubicBezTo>
                  <a:cubicBezTo>
                    <a:pt x="31" y="12"/>
                    <a:pt x="31" y="13"/>
                    <a:pt x="30" y="13"/>
                  </a:cubicBezTo>
                  <a:cubicBezTo>
                    <a:pt x="30" y="14"/>
                    <a:pt x="30" y="14"/>
                    <a:pt x="30" y="14"/>
                  </a:cubicBezTo>
                  <a:cubicBezTo>
                    <a:pt x="29" y="15"/>
                    <a:pt x="29" y="15"/>
                    <a:pt x="29" y="15"/>
                  </a:cubicBezTo>
                  <a:cubicBezTo>
                    <a:pt x="29" y="14"/>
                    <a:pt x="29" y="14"/>
                    <a:pt x="29" y="14"/>
                  </a:cubicBezTo>
                  <a:cubicBezTo>
                    <a:pt x="28" y="14"/>
                    <a:pt x="27" y="14"/>
                    <a:pt x="26" y="14"/>
                  </a:cubicBezTo>
                  <a:cubicBezTo>
                    <a:pt x="24" y="13"/>
                    <a:pt x="24" y="13"/>
                    <a:pt x="24" y="13"/>
                  </a:cubicBezTo>
                  <a:cubicBezTo>
                    <a:pt x="22" y="13"/>
                    <a:pt x="18" y="12"/>
                    <a:pt x="15" y="11"/>
                  </a:cubicBezTo>
                  <a:cubicBezTo>
                    <a:pt x="15" y="11"/>
                    <a:pt x="14" y="11"/>
                    <a:pt x="13" y="11"/>
                  </a:cubicBezTo>
                  <a:cubicBezTo>
                    <a:pt x="12" y="10"/>
                    <a:pt x="12" y="10"/>
                    <a:pt x="12" y="10"/>
                  </a:cubicBezTo>
                  <a:cubicBezTo>
                    <a:pt x="11" y="11"/>
                    <a:pt x="11" y="11"/>
                    <a:pt x="11" y="11"/>
                  </a:cubicBezTo>
                  <a:cubicBezTo>
                    <a:pt x="12" y="11"/>
                    <a:pt x="12" y="12"/>
                    <a:pt x="13" y="12"/>
                  </a:cubicBezTo>
                  <a:cubicBezTo>
                    <a:pt x="13" y="12"/>
                    <a:pt x="13" y="12"/>
                    <a:pt x="13" y="12"/>
                  </a:cubicBezTo>
                  <a:cubicBezTo>
                    <a:pt x="14" y="13"/>
                    <a:pt x="14" y="15"/>
                    <a:pt x="16" y="16"/>
                  </a:cubicBezTo>
                  <a:cubicBezTo>
                    <a:pt x="17" y="16"/>
                    <a:pt x="18" y="16"/>
                    <a:pt x="20" y="16"/>
                  </a:cubicBezTo>
                  <a:cubicBezTo>
                    <a:pt x="23" y="16"/>
                    <a:pt x="28" y="17"/>
                    <a:pt x="31" y="19"/>
                  </a:cubicBezTo>
                  <a:cubicBezTo>
                    <a:pt x="32" y="20"/>
                    <a:pt x="32" y="20"/>
                    <a:pt x="32" y="20"/>
                  </a:cubicBezTo>
                  <a:cubicBezTo>
                    <a:pt x="32" y="20"/>
                    <a:pt x="32" y="20"/>
                    <a:pt x="32" y="20"/>
                  </a:cubicBezTo>
                  <a:cubicBezTo>
                    <a:pt x="32" y="20"/>
                    <a:pt x="32" y="20"/>
                    <a:pt x="32" y="20"/>
                  </a:cubicBezTo>
                  <a:cubicBezTo>
                    <a:pt x="32" y="20"/>
                    <a:pt x="32" y="20"/>
                    <a:pt x="32" y="20"/>
                  </a:cubicBezTo>
                  <a:cubicBezTo>
                    <a:pt x="31" y="20"/>
                    <a:pt x="31" y="20"/>
                    <a:pt x="31" y="20"/>
                  </a:cubicBezTo>
                  <a:cubicBezTo>
                    <a:pt x="30" y="20"/>
                    <a:pt x="30" y="21"/>
                    <a:pt x="30" y="21"/>
                  </a:cubicBezTo>
                  <a:cubicBezTo>
                    <a:pt x="29" y="21"/>
                    <a:pt x="29" y="21"/>
                    <a:pt x="29" y="21"/>
                  </a:cubicBezTo>
                  <a:cubicBezTo>
                    <a:pt x="26" y="20"/>
                    <a:pt x="26" y="20"/>
                    <a:pt x="24" y="20"/>
                  </a:cubicBezTo>
                  <a:cubicBezTo>
                    <a:pt x="23" y="19"/>
                    <a:pt x="22" y="18"/>
                    <a:pt x="21" y="18"/>
                  </a:cubicBezTo>
                  <a:cubicBezTo>
                    <a:pt x="21" y="18"/>
                    <a:pt x="20" y="19"/>
                    <a:pt x="19" y="19"/>
                  </a:cubicBezTo>
                  <a:cubicBezTo>
                    <a:pt x="19" y="19"/>
                    <a:pt x="19" y="19"/>
                    <a:pt x="19" y="19"/>
                  </a:cubicBezTo>
                  <a:cubicBezTo>
                    <a:pt x="19" y="19"/>
                    <a:pt x="19" y="19"/>
                    <a:pt x="19" y="19"/>
                  </a:cubicBezTo>
                  <a:cubicBezTo>
                    <a:pt x="19" y="20"/>
                    <a:pt x="19" y="20"/>
                    <a:pt x="19" y="20"/>
                  </a:cubicBezTo>
                  <a:cubicBezTo>
                    <a:pt x="18" y="19"/>
                    <a:pt x="18" y="19"/>
                    <a:pt x="18" y="19"/>
                  </a:cubicBezTo>
                  <a:cubicBezTo>
                    <a:pt x="18" y="19"/>
                    <a:pt x="18" y="19"/>
                    <a:pt x="17" y="19"/>
                  </a:cubicBezTo>
                  <a:cubicBezTo>
                    <a:pt x="16" y="19"/>
                    <a:pt x="15" y="18"/>
                    <a:pt x="14" y="18"/>
                  </a:cubicBezTo>
                  <a:cubicBezTo>
                    <a:pt x="10" y="17"/>
                    <a:pt x="7" y="16"/>
                    <a:pt x="4" y="14"/>
                  </a:cubicBezTo>
                  <a:cubicBezTo>
                    <a:pt x="3" y="13"/>
                    <a:pt x="3" y="13"/>
                    <a:pt x="2" y="12"/>
                  </a:cubicBezTo>
                  <a:cubicBezTo>
                    <a:pt x="2" y="12"/>
                    <a:pt x="2" y="12"/>
                    <a:pt x="2" y="12"/>
                  </a:cubicBezTo>
                  <a:cubicBezTo>
                    <a:pt x="2" y="12"/>
                    <a:pt x="2" y="12"/>
                    <a:pt x="2" y="12"/>
                  </a:cubicBezTo>
                  <a:cubicBezTo>
                    <a:pt x="2" y="11"/>
                    <a:pt x="2" y="11"/>
                    <a:pt x="2" y="11"/>
                  </a:cubicBezTo>
                  <a:cubicBezTo>
                    <a:pt x="1" y="11"/>
                    <a:pt x="1" y="12"/>
                    <a:pt x="0" y="12"/>
                  </a:cubicBezTo>
                  <a:cubicBezTo>
                    <a:pt x="0" y="14"/>
                    <a:pt x="2" y="19"/>
                    <a:pt x="3" y="20"/>
                  </a:cubicBezTo>
                  <a:cubicBezTo>
                    <a:pt x="4" y="20"/>
                    <a:pt x="5" y="21"/>
                    <a:pt x="6" y="21"/>
                  </a:cubicBezTo>
                  <a:cubicBezTo>
                    <a:pt x="8" y="21"/>
                    <a:pt x="11" y="22"/>
                    <a:pt x="12" y="23"/>
                  </a:cubicBezTo>
                  <a:cubicBezTo>
                    <a:pt x="13" y="23"/>
                    <a:pt x="13" y="23"/>
                    <a:pt x="13" y="23"/>
                  </a:cubicBezTo>
                  <a:cubicBezTo>
                    <a:pt x="13" y="23"/>
                    <a:pt x="13" y="23"/>
                    <a:pt x="13" y="23"/>
                  </a:cubicBezTo>
                  <a:cubicBezTo>
                    <a:pt x="13" y="23"/>
                    <a:pt x="13" y="23"/>
                    <a:pt x="13" y="23"/>
                  </a:cubicBezTo>
                  <a:cubicBezTo>
                    <a:pt x="13" y="24"/>
                    <a:pt x="13" y="24"/>
                    <a:pt x="13" y="24"/>
                  </a:cubicBezTo>
                  <a:cubicBezTo>
                    <a:pt x="12" y="25"/>
                    <a:pt x="11" y="26"/>
                    <a:pt x="10" y="26"/>
                  </a:cubicBezTo>
                  <a:cubicBezTo>
                    <a:pt x="10" y="27"/>
                    <a:pt x="10" y="27"/>
                    <a:pt x="10" y="27"/>
                  </a:cubicBezTo>
                  <a:cubicBezTo>
                    <a:pt x="10" y="27"/>
                    <a:pt x="9" y="27"/>
                    <a:pt x="9" y="27"/>
                  </a:cubicBezTo>
                  <a:cubicBezTo>
                    <a:pt x="9" y="27"/>
                    <a:pt x="9" y="27"/>
                    <a:pt x="9" y="27"/>
                  </a:cubicBezTo>
                  <a:cubicBezTo>
                    <a:pt x="9" y="28"/>
                    <a:pt x="8" y="28"/>
                    <a:pt x="8" y="28"/>
                  </a:cubicBezTo>
                  <a:cubicBezTo>
                    <a:pt x="7" y="28"/>
                    <a:pt x="5" y="27"/>
                    <a:pt x="4" y="26"/>
                  </a:cubicBezTo>
                  <a:cubicBezTo>
                    <a:pt x="4" y="26"/>
                    <a:pt x="3" y="26"/>
                    <a:pt x="3" y="26"/>
                  </a:cubicBezTo>
                  <a:cubicBezTo>
                    <a:pt x="3" y="26"/>
                    <a:pt x="3" y="26"/>
                    <a:pt x="3" y="26"/>
                  </a:cubicBezTo>
                  <a:cubicBezTo>
                    <a:pt x="4" y="29"/>
                    <a:pt x="6" y="31"/>
                    <a:pt x="9" y="33"/>
                  </a:cubicBezTo>
                  <a:cubicBezTo>
                    <a:pt x="9" y="34"/>
                    <a:pt x="9" y="34"/>
                    <a:pt x="9" y="34"/>
                  </a:cubicBezTo>
                  <a:cubicBezTo>
                    <a:pt x="10" y="34"/>
                    <a:pt x="10" y="34"/>
                    <a:pt x="10" y="34"/>
                  </a:cubicBezTo>
                  <a:cubicBezTo>
                    <a:pt x="10" y="34"/>
                    <a:pt x="10" y="34"/>
                    <a:pt x="10" y="34"/>
                  </a:cubicBezTo>
                  <a:cubicBezTo>
                    <a:pt x="12" y="34"/>
                    <a:pt x="15" y="31"/>
                    <a:pt x="16" y="29"/>
                  </a:cubicBezTo>
                  <a:cubicBezTo>
                    <a:pt x="16" y="29"/>
                    <a:pt x="17" y="28"/>
                    <a:pt x="17" y="28"/>
                  </a:cubicBezTo>
                  <a:cubicBezTo>
                    <a:pt x="18" y="28"/>
                    <a:pt x="18" y="28"/>
                    <a:pt x="18" y="28"/>
                  </a:cubicBezTo>
                  <a:cubicBezTo>
                    <a:pt x="19" y="27"/>
                    <a:pt x="19" y="27"/>
                    <a:pt x="19" y="27"/>
                  </a:cubicBezTo>
                  <a:cubicBezTo>
                    <a:pt x="19" y="27"/>
                    <a:pt x="19" y="27"/>
                    <a:pt x="19" y="27"/>
                  </a:cubicBezTo>
                  <a:cubicBezTo>
                    <a:pt x="21" y="27"/>
                    <a:pt x="22" y="27"/>
                    <a:pt x="23" y="28"/>
                  </a:cubicBezTo>
                  <a:cubicBezTo>
                    <a:pt x="24" y="28"/>
                    <a:pt x="25" y="26"/>
                    <a:pt x="25" y="25"/>
                  </a:cubicBezTo>
                  <a:cubicBezTo>
                    <a:pt x="25" y="25"/>
                    <a:pt x="25" y="25"/>
                    <a:pt x="25" y="25"/>
                  </a:cubicBezTo>
                  <a:cubicBezTo>
                    <a:pt x="24" y="24"/>
                    <a:pt x="23" y="23"/>
                    <a:pt x="22" y="23"/>
                  </a:cubicBezTo>
                  <a:cubicBezTo>
                    <a:pt x="22" y="23"/>
                    <a:pt x="22" y="23"/>
                    <a:pt x="22" y="23"/>
                  </a:cubicBezTo>
                  <a:cubicBezTo>
                    <a:pt x="22" y="22"/>
                    <a:pt x="22" y="22"/>
                    <a:pt x="22" y="22"/>
                  </a:cubicBezTo>
                  <a:cubicBezTo>
                    <a:pt x="23" y="21"/>
                    <a:pt x="23" y="21"/>
                    <a:pt x="23" y="21"/>
                  </a:cubicBezTo>
                  <a:cubicBezTo>
                    <a:pt x="23" y="20"/>
                    <a:pt x="23" y="20"/>
                    <a:pt x="23" y="20"/>
                  </a:cubicBezTo>
                  <a:cubicBezTo>
                    <a:pt x="24" y="20"/>
                    <a:pt x="24" y="20"/>
                    <a:pt x="24" y="20"/>
                  </a:cubicBezTo>
                  <a:cubicBezTo>
                    <a:pt x="26" y="21"/>
                    <a:pt x="28" y="22"/>
                    <a:pt x="30" y="22"/>
                  </a:cubicBezTo>
                  <a:cubicBezTo>
                    <a:pt x="32" y="23"/>
                    <a:pt x="32" y="23"/>
                    <a:pt x="32" y="23"/>
                  </a:cubicBezTo>
                  <a:cubicBezTo>
                    <a:pt x="33" y="23"/>
                    <a:pt x="33" y="23"/>
                    <a:pt x="33" y="23"/>
                  </a:cubicBezTo>
                  <a:cubicBezTo>
                    <a:pt x="34" y="24"/>
                    <a:pt x="35" y="25"/>
                    <a:pt x="36" y="25"/>
                  </a:cubicBezTo>
                  <a:cubicBezTo>
                    <a:pt x="36" y="25"/>
                    <a:pt x="37" y="25"/>
                    <a:pt x="37" y="25"/>
                  </a:cubicBezTo>
                  <a:cubicBezTo>
                    <a:pt x="38" y="23"/>
                    <a:pt x="39" y="22"/>
                    <a:pt x="39" y="21"/>
                  </a:cubicBezTo>
                  <a:cubicBezTo>
                    <a:pt x="39" y="21"/>
                    <a:pt x="39" y="21"/>
                    <a:pt x="39" y="21"/>
                  </a:cubicBezTo>
                  <a:cubicBezTo>
                    <a:pt x="39" y="21"/>
                    <a:pt x="40" y="21"/>
                    <a:pt x="40" y="21"/>
                  </a:cubicBezTo>
                  <a:cubicBezTo>
                    <a:pt x="39" y="21"/>
                    <a:pt x="39" y="21"/>
                    <a:pt x="39" y="21"/>
                  </a:cubicBezTo>
                  <a:cubicBezTo>
                    <a:pt x="39" y="20"/>
                    <a:pt x="39" y="20"/>
                    <a:pt x="39" y="20"/>
                  </a:cubicBezTo>
                  <a:cubicBezTo>
                    <a:pt x="39" y="20"/>
                    <a:pt x="40" y="20"/>
                    <a:pt x="40" y="20"/>
                  </a:cubicBezTo>
                  <a:cubicBezTo>
                    <a:pt x="43" y="19"/>
                    <a:pt x="47" y="17"/>
                    <a:pt x="50" y="16"/>
                  </a:cubicBezTo>
                  <a:cubicBezTo>
                    <a:pt x="51" y="15"/>
                    <a:pt x="52" y="15"/>
                    <a:pt x="51" y="14"/>
                  </a:cubicBezTo>
                  <a:cubicBezTo>
                    <a:pt x="51" y="13"/>
                    <a:pt x="51" y="13"/>
                    <a:pt x="51" y="13"/>
                  </a:cubicBezTo>
                  <a:moveTo>
                    <a:pt x="37" y="15"/>
                  </a:moveTo>
                  <a:cubicBezTo>
                    <a:pt x="38" y="14"/>
                    <a:pt x="38" y="14"/>
                    <a:pt x="38" y="14"/>
                  </a:cubicBezTo>
                  <a:cubicBezTo>
                    <a:pt x="39" y="13"/>
                    <a:pt x="39" y="13"/>
                    <a:pt x="39" y="13"/>
                  </a:cubicBezTo>
                  <a:cubicBezTo>
                    <a:pt x="39" y="13"/>
                    <a:pt x="39" y="12"/>
                    <a:pt x="38" y="12"/>
                  </a:cubicBezTo>
                  <a:cubicBezTo>
                    <a:pt x="38" y="12"/>
                    <a:pt x="38" y="12"/>
                    <a:pt x="38" y="12"/>
                  </a:cubicBezTo>
                  <a:cubicBezTo>
                    <a:pt x="38" y="12"/>
                    <a:pt x="38" y="12"/>
                    <a:pt x="38" y="12"/>
                  </a:cubicBezTo>
                  <a:cubicBezTo>
                    <a:pt x="37" y="12"/>
                    <a:pt x="37" y="12"/>
                    <a:pt x="37" y="12"/>
                  </a:cubicBezTo>
                  <a:cubicBezTo>
                    <a:pt x="36" y="11"/>
                    <a:pt x="36" y="11"/>
                    <a:pt x="36" y="11"/>
                  </a:cubicBezTo>
                  <a:cubicBezTo>
                    <a:pt x="36" y="11"/>
                    <a:pt x="36" y="11"/>
                    <a:pt x="36" y="11"/>
                  </a:cubicBezTo>
                  <a:cubicBezTo>
                    <a:pt x="37" y="10"/>
                    <a:pt x="37" y="10"/>
                    <a:pt x="37" y="10"/>
                  </a:cubicBezTo>
                  <a:cubicBezTo>
                    <a:pt x="36" y="10"/>
                    <a:pt x="36" y="10"/>
                    <a:pt x="36" y="10"/>
                  </a:cubicBezTo>
                  <a:cubicBezTo>
                    <a:pt x="37" y="10"/>
                    <a:pt x="37" y="10"/>
                    <a:pt x="37" y="10"/>
                  </a:cubicBezTo>
                  <a:cubicBezTo>
                    <a:pt x="40" y="9"/>
                    <a:pt x="40" y="9"/>
                    <a:pt x="40" y="9"/>
                  </a:cubicBezTo>
                  <a:cubicBezTo>
                    <a:pt x="40" y="9"/>
                    <a:pt x="40" y="9"/>
                    <a:pt x="40" y="9"/>
                  </a:cubicBezTo>
                  <a:cubicBezTo>
                    <a:pt x="41" y="9"/>
                    <a:pt x="41" y="9"/>
                    <a:pt x="41" y="9"/>
                  </a:cubicBezTo>
                  <a:cubicBezTo>
                    <a:pt x="41" y="10"/>
                    <a:pt x="43" y="11"/>
                    <a:pt x="43" y="13"/>
                  </a:cubicBezTo>
                  <a:cubicBezTo>
                    <a:pt x="43" y="14"/>
                    <a:pt x="43" y="14"/>
                    <a:pt x="43" y="14"/>
                  </a:cubicBezTo>
                  <a:cubicBezTo>
                    <a:pt x="42" y="15"/>
                    <a:pt x="40" y="16"/>
                    <a:pt x="38" y="16"/>
                  </a:cubicBezTo>
                  <a:cubicBezTo>
                    <a:pt x="38" y="16"/>
                    <a:pt x="38" y="16"/>
                    <a:pt x="38" y="16"/>
                  </a:cubicBezTo>
                  <a:cubicBezTo>
                    <a:pt x="38" y="15"/>
                    <a:pt x="38" y="15"/>
                    <a:pt x="38" y="15"/>
                  </a:cubicBezTo>
                  <a:cubicBezTo>
                    <a:pt x="37" y="15"/>
                    <a:pt x="37" y="15"/>
                    <a:pt x="37" y="15"/>
                  </a:cubicBez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68" name="Freeform 138"/>
            <p:cNvSpPr/>
            <p:nvPr userDrawn="1"/>
          </p:nvSpPr>
          <p:spPr bwMode="auto">
            <a:xfrm>
              <a:off x="1239" y="750"/>
              <a:ext cx="10" cy="19"/>
            </a:xfrm>
            <a:custGeom>
              <a:avLst/>
              <a:gdLst>
                <a:gd name="T0" fmla="*/ 2 w 8"/>
                <a:gd name="T1" fmla="*/ 15 h 15"/>
                <a:gd name="T2" fmla="*/ 0 w 8"/>
                <a:gd name="T3" fmla="*/ 14 h 15"/>
                <a:gd name="T4" fmla="*/ 2 w 8"/>
                <a:gd name="T5" fmla="*/ 9 h 15"/>
                <a:gd name="T6" fmla="*/ 3 w 8"/>
                <a:gd name="T7" fmla="*/ 8 h 15"/>
                <a:gd name="T8" fmla="*/ 3 w 8"/>
                <a:gd name="T9" fmla="*/ 8 h 15"/>
                <a:gd name="T10" fmla="*/ 3 w 8"/>
                <a:gd name="T11" fmla="*/ 7 h 15"/>
                <a:gd name="T12" fmla="*/ 4 w 8"/>
                <a:gd name="T13" fmla="*/ 5 h 15"/>
                <a:gd name="T14" fmla="*/ 5 w 8"/>
                <a:gd name="T15" fmla="*/ 4 h 15"/>
                <a:gd name="T16" fmla="*/ 7 w 8"/>
                <a:gd name="T17" fmla="*/ 0 h 15"/>
                <a:gd name="T18" fmla="*/ 8 w 8"/>
                <a:gd name="T19" fmla="*/ 1 h 15"/>
                <a:gd name="T20" fmla="*/ 8 w 8"/>
                <a:gd name="T21" fmla="*/ 2 h 15"/>
                <a:gd name="T22" fmla="*/ 8 w 8"/>
                <a:gd name="T23" fmla="*/ 2 h 15"/>
                <a:gd name="T24" fmla="*/ 8 w 8"/>
                <a:gd name="T25" fmla="*/ 3 h 15"/>
                <a:gd name="T26" fmla="*/ 8 w 8"/>
                <a:gd name="T27" fmla="*/ 7 h 15"/>
                <a:gd name="T28" fmla="*/ 8 w 8"/>
                <a:gd name="T29" fmla="*/ 8 h 15"/>
                <a:gd name="T30" fmla="*/ 8 w 8"/>
                <a:gd name="T31" fmla="*/ 9 h 15"/>
                <a:gd name="T32" fmla="*/ 6 w 8"/>
                <a:gd name="T33" fmla="*/ 13 h 15"/>
                <a:gd name="T34" fmla="*/ 5 w 8"/>
                <a:gd name="T35" fmla="*/ 14 h 15"/>
                <a:gd name="T36" fmla="*/ 5 w 8"/>
                <a:gd name="T37" fmla="*/ 14 h 15"/>
                <a:gd name="T38" fmla="*/ 3 w 8"/>
                <a:gd name="T39" fmla="*/ 15 h 15"/>
                <a:gd name="T40" fmla="*/ 2 w 8"/>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 h="15">
                  <a:moveTo>
                    <a:pt x="2" y="15"/>
                  </a:moveTo>
                  <a:cubicBezTo>
                    <a:pt x="2" y="15"/>
                    <a:pt x="1" y="14"/>
                    <a:pt x="0" y="14"/>
                  </a:cubicBezTo>
                  <a:cubicBezTo>
                    <a:pt x="0" y="12"/>
                    <a:pt x="1" y="11"/>
                    <a:pt x="2" y="9"/>
                  </a:cubicBezTo>
                  <a:cubicBezTo>
                    <a:pt x="2" y="9"/>
                    <a:pt x="3" y="8"/>
                    <a:pt x="3" y="8"/>
                  </a:cubicBezTo>
                  <a:cubicBezTo>
                    <a:pt x="3" y="8"/>
                    <a:pt x="3" y="8"/>
                    <a:pt x="3" y="8"/>
                  </a:cubicBezTo>
                  <a:cubicBezTo>
                    <a:pt x="3" y="7"/>
                    <a:pt x="3" y="7"/>
                    <a:pt x="3" y="7"/>
                  </a:cubicBezTo>
                  <a:cubicBezTo>
                    <a:pt x="4" y="7"/>
                    <a:pt x="4" y="6"/>
                    <a:pt x="4" y="5"/>
                  </a:cubicBezTo>
                  <a:cubicBezTo>
                    <a:pt x="4" y="5"/>
                    <a:pt x="4" y="4"/>
                    <a:pt x="5" y="4"/>
                  </a:cubicBezTo>
                  <a:cubicBezTo>
                    <a:pt x="5" y="2"/>
                    <a:pt x="6" y="0"/>
                    <a:pt x="7" y="0"/>
                  </a:cubicBezTo>
                  <a:cubicBezTo>
                    <a:pt x="7" y="0"/>
                    <a:pt x="8" y="0"/>
                    <a:pt x="8" y="1"/>
                  </a:cubicBezTo>
                  <a:cubicBezTo>
                    <a:pt x="8" y="1"/>
                    <a:pt x="8" y="1"/>
                    <a:pt x="8" y="2"/>
                  </a:cubicBezTo>
                  <a:cubicBezTo>
                    <a:pt x="8" y="2"/>
                    <a:pt x="8" y="2"/>
                    <a:pt x="8" y="2"/>
                  </a:cubicBezTo>
                  <a:cubicBezTo>
                    <a:pt x="8" y="3"/>
                    <a:pt x="8" y="3"/>
                    <a:pt x="8" y="3"/>
                  </a:cubicBezTo>
                  <a:cubicBezTo>
                    <a:pt x="8" y="5"/>
                    <a:pt x="8" y="6"/>
                    <a:pt x="8" y="7"/>
                  </a:cubicBezTo>
                  <a:cubicBezTo>
                    <a:pt x="8" y="8"/>
                    <a:pt x="8" y="8"/>
                    <a:pt x="8" y="8"/>
                  </a:cubicBezTo>
                  <a:cubicBezTo>
                    <a:pt x="8" y="8"/>
                    <a:pt x="8" y="9"/>
                    <a:pt x="8" y="9"/>
                  </a:cubicBezTo>
                  <a:cubicBezTo>
                    <a:pt x="7" y="11"/>
                    <a:pt x="7" y="12"/>
                    <a:pt x="6" y="13"/>
                  </a:cubicBezTo>
                  <a:cubicBezTo>
                    <a:pt x="5" y="14"/>
                    <a:pt x="5" y="14"/>
                    <a:pt x="5" y="14"/>
                  </a:cubicBezTo>
                  <a:cubicBezTo>
                    <a:pt x="5" y="14"/>
                    <a:pt x="5" y="14"/>
                    <a:pt x="5" y="14"/>
                  </a:cubicBezTo>
                  <a:cubicBezTo>
                    <a:pt x="4" y="14"/>
                    <a:pt x="3" y="15"/>
                    <a:pt x="3" y="15"/>
                  </a:cubicBezTo>
                  <a:lnTo>
                    <a:pt x="2" y="1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69" name="Freeform 139"/>
            <p:cNvSpPr/>
            <p:nvPr userDrawn="1"/>
          </p:nvSpPr>
          <p:spPr bwMode="auto">
            <a:xfrm>
              <a:off x="1239" y="750"/>
              <a:ext cx="10" cy="19"/>
            </a:xfrm>
            <a:custGeom>
              <a:avLst/>
              <a:gdLst>
                <a:gd name="T0" fmla="*/ 2 w 8"/>
                <a:gd name="T1" fmla="*/ 15 h 15"/>
                <a:gd name="T2" fmla="*/ 3 w 8"/>
                <a:gd name="T3" fmla="*/ 15 h 15"/>
                <a:gd name="T4" fmla="*/ 5 w 8"/>
                <a:gd name="T5" fmla="*/ 14 h 15"/>
                <a:gd name="T6" fmla="*/ 5 w 8"/>
                <a:gd name="T7" fmla="*/ 14 h 15"/>
                <a:gd name="T8" fmla="*/ 6 w 8"/>
                <a:gd name="T9" fmla="*/ 13 h 15"/>
                <a:gd name="T10" fmla="*/ 8 w 8"/>
                <a:gd name="T11" fmla="*/ 9 h 15"/>
                <a:gd name="T12" fmla="*/ 8 w 8"/>
                <a:gd name="T13" fmla="*/ 8 h 15"/>
                <a:gd name="T14" fmla="*/ 8 w 8"/>
                <a:gd name="T15" fmla="*/ 7 h 15"/>
                <a:gd name="T16" fmla="*/ 8 w 8"/>
                <a:gd name="T17" fmla="*/ 3 h 15"/>
                <a:gd name="T18" fmla="*/ 8 w 8"/>
                <a:gd name="T19" fmla="*/ 2 h 15"/>
                <a:gd name="T20" fmla="*/ 8 w 8"/>
                <a:gd name="T21" fmla="*/ 2 h 15"/>
                <a:gd name="T22" fmla="*/ 8 w 8"/>
                <a:gd name="T23" fmla="*/ 2 h 15"/>
                <a:gd name="T24" fmla="*/ 8 w 8"/>
                <a:gd name="T25" fmla="*/ 1 h 15"/>
                <a:gd name="T26" fmla="*/ 7 w 8"/>
                <a:gd name="T27" fmla="*/ 0 h 15"/>
                <a:gd name="T28" fmla="*/ 5 w 8"/>
                <a:gd name="T29" fmla="*/ 4 h 15"/>
                <a:gd name="T30" fmla="*/ 4 w 8"/>
                <a:gd name="T31" fmla="*/ 5 h 15"/>
                <a:gd name="T32" fmla="*/ 3 w 8"/>
                <a:gd name="T33" fmla="*/ 7 h 15"/>
                <a:gd name="T34" fmla="*/ 3 w 8"/>
                <a:gd name="T35" fmla="*/ 8 h 15"/>
                <a:gd name="T36" fmla="*/ 3 w 8"/>
                <a:gd name="T37" fmla="*/ 8 h 15"/>
                <a:gd name="T38" fmla="*/ 2 w 8"/>
                <a:gd name="T39" fmla="*/ 9 h 15"/>
                <a:gd name="T40" fmla="*/ 0 w 8"/>
                <a:gd name="T41" fmla="*/ 14 h 15"/>
                <a:gd name="T42" fmla="*/ 2 w 8"/>
                <a:gd name="T43"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 h="15">
                  <a:moveTo>
                    <a:pt x="2" y="15"/>
                  </a:moveTo>
                  <a:cubicBezTo>
                    <a:pt x="3" y="15"/>
                    <a:pt x="3" y="15"/>
                    <a:pt x="3" y="15"/>
                  </a:cubicBezTo>
                  <a:cubicBezTo>
                    <a:pt x="3" y="15"/>
                    <a:pt x="4" y="14"/>
                    <a:pt x="5" y="14"/>
                  </a:cubicBezTo>
                  <a:cubicBezTo>
                    <a:pt x="5" y="14"/>
                    <a:pt x="5" y="14"/>
                    <a:pt x="5" y="14"/>
                  </a:cubicBezTo>
                  <a:cubicBezTo>
                    <a:pt x="6" y="13"/>
                    <a:pt x="6" y="13"/>
                    <a:pt x="6" y="13"/>
                  </a:cubicBezTo>
                  <a:cubicBezTo>
                    <a:pt x="7" y="12"/>
                    <a:pt x="7" y="10"/>
                    <a:pt x="8" y="9"/>
                  </a:cubicBezTo>
                  <a:cubicBezTo>
                    <a:pt x="8" y="9"/>
                    <a:pt x="8" y="8"/>
                    <a:pt x="8" y="8"/>
                  </a:cubicBezTo>
                  <a:cubicBezTo>
                    <a:pt x="8" y="7"/>
                    <a:pt x="8" y="7"/>
                    <a:pt x="8" y="7"/>
                  </a:cubicBezTo>
                  <a:cubicBezTo>
                    <a:pt x="8" y="6"/>
                    <a:pt x="8" y="5"/>
                    <a:pt x="8" y="3"/>
                  </a:cubicBezTo>
                  <a:cubicBezTo>
                    <a:pt x="8" y="3"/>
                    <a:pt x="8" y="3"/>
                    <a:pt x="8" y="2"/>
                  </a:cubicBezTo>
                  <a:cubicBezTo>
                    <a:pt x="8" y="2"/>
                    <a:pt x="8" y="2"/>
                    <a:pt x="8" y="2"/>
                  </a:cubicBezTo>
                  <a:cubicBezTo>
                    <a:pt x="8" y="2"/>
                    <a:pt x="8" y="2"/>
                    <a:pt x="8" y="2"/>
                  </a:cubicBezTo>
                  <a:cubicBezTo>
                    <a:pt x="8" y="1"/>
                    <a:pt x="8" y="1"/>
                    <a:pt x="8" y="1"/>
                  </a:cubicBezTo>
                  <a:cubicBezTo>
                    <a:pt x="8" y="0"/>
                    <a:pt x="7" y="0"/>
                    <a:pt x="7" y="0"/>
                  </a:cubicBezTo>
                  <a:cubicBezTo>
                    <a:pt x="6" y="0"/>
                    <a:pt x="5" y="2"/>
                    <a:pt x="5" y="4"/>
                  </a:cubicBezTo>
                  <a:cubicBezTo>
                    <a:pt x="5" y="4"/>
                    <a:pt x="4" y="5"/>
                    <a:pt x="4" y="5"/>
                  </a:cubicBezTo>
                  <a:cubicBezTo>
                    <a:pt x="4" y="6"/>
                    <a:pt x="4" y="7"/>
                    <a:pt x="3" y="7"/>
                  </a:cubicBezTo>
                  <a:cubicBezTo>
                    <a:pt x="3" y="8"/>
                    <a:pt x="3" y="8"/>
                    <a:pt x="3" y="8"/>
                  </a:cubicBezTo>
                  <a:cubicBezTo>
                    <a:pt x="3" y="8"/>
                    <a:pt x="3" y="8"/>
                    <a:pt x="3" y="8"/>
                  </a:cubicBezTo>
                  <a:cubicBezTo>
                    <a:pt x="3" y="8"/>
                    <a:pt x="2" y="9"/>
                    <a:pt x="2" y="9"/>
                  </a:cubicBezTo>
                  <a:cubicBezTo>
                    <a:pt x="1" y="11"/>
                    <a:pt x="0" y="12"/>
                    <a:pt x="0" y="14"/>
                  </a:cubicBezTo>
                  <a:cubicBezTo>
                    <a:pt x="1" y="14"/>
                    <a:pt x="2" y="15"/>
                    <a:pt x="2" y="1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70" name="Freeform 140"/>
            <p:cNvSpPr/>
            <p:nvPr userDrawn="1"/>
          </p:nvSpPr>
          <p:spPr bwMode="auto">
            <a:xfrm>
              <a:off x="1229" y="757"/>
              <a:ext cx="7" cy="9"/>
            </a:xfrm>
            <a:custGeom>
              <a:avLst/>
              <a:gdLst>
                <a:gd name="T0" fmla="*/ 3 w 6"/>
                <a:gd name="T1" fmla="*/ 7 h 7"/>
                <a:gd name="T2" fmla="*/ 1 w 6"/>
                <a:gd name="T3" fmla="*/ 6 h 7"/>
                <a:gd name="T4" fmla="*/ 5 w 6"/>
                <a:gd name="T5" fmla="*/ 0 h 7"/>
                <a:gd name="T6" fmla="*/ 6 w 6"/>
                <a:gd name="T7" fmla="*/ 1 h 7"/>
                <a:gd name="T8" fmla="*/ 5 w 6"/>
                <a:gd name="T9" fmla="*/ 5 h 7"/>
                <a:gd name="T10" fmla="*/ 3 w 6"/>
                <a:gd name="T11" fmla="*/ 7 h 7"/>
              </a:gdLst>
              <a:ahLst/>
              <a:cxnLst>
                <a:cxn ang="0">
                  <a:pos x="T0" y="T1"/>
                </a:cxn>
                <a:cxn ang="0">
                  <a:pos x="T2" y="T3"/>
                </a:cxn>
                <a:cxn ang="0">
                  <a:pos x="T4" y="T5"/>
                </a:cxn>
                <a:cxn ang="0">
                  <a:pos x="T6" y="T7"/>
                </a:cxn>
                <a:cxn ang="0">
                  <a:pos x="T8" y="T9"/>
                </a:cxn>
                <a:cxn ang="0">
                  <a:pos x="T10" y="T11"/>
                </a:cxn>
              </a:cxnLst>
              <a:rect l="0" t="0" r="r" b="b"/>
              <a:pathLst>
                <a:path w="6" h="7">
                  <a:moveTo>
                    <a:pt x="3" y="7"/>
                  </a:moveTo>
                  <a:cubicBezTo>
                    <a:pt x="3" y="7"/>
                    <a:pt x="2" y="6"/>
                    <a:pt x="1" y="6"/>
                  </a:cubicBezTo>
                  <a:cubicBezTo>
                    <a:pt x="0" y="3"/>
                    <a:pt x="4" y="0"/>
                    <a:pt x="5" y="0"/>
                  </a:cubicBezTo>
                  <a:cubicBezTo>
                    <a:pt x="5" y="0"/>
                    <a:pt x="6" y="1"/>
                    <a:pt x="6" y="1"/>
                  </a:cubicBezTo>
                  <a:cubicBezTo>
                    <a:pt x="6" y="2"/>
                    <a:pt x="6" y="4"/>
                    <a:pt x="5" y="5"/>
                  </a:cubicBezTo>
                  <a:cubicBezTo>
                    <a:pt x="4" y="6"/>
                    <a:pt x="3" y="7"/>
                    <a:pt x="3" y="7"/>
                  </a:cubicBez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sp>
          <p:nvSpPr>
            <p:cNvPr id="71" name="Freeform 141"/>
            <p:cNvSpPr/>
            <p:nvPr userDrawn="1"/>
          </p:nvSpPr>
          <p:spPr bwMode="auto">
            <a:xfrm>
              <a:off x="1229" y="757"/>
              <a:ext cx="7" cy="9"/>
            </a:xfrm>
            <a:custGeom>
              <a:avLst/>
              <a:gdLst>
                <a:gd name="T0" fmla="*/ 3 w 6"/>
                <a:gd name="T1" fmla="*/ 7 h 7"/>
                <a:gd name="T2" fmla="*/ 3 w 6"/>
                <a:gd name="T3" fmla="*/ 7 h 7"/>
                <a:gd name="T4" fmla="*/ 5 w 6"/>
                <a:gd name="T5" fmla="*/ 5 h 7"/>
                <a:gd name="T6" fmla="*/ 6 w 6"/>
                <a:gd name="T7" fmla="*/ 1 h 7"/>
                <a:gd name="T8" fmla="*/ 5 w 6"/>
                <a:gd name="T9" fmla="*/ 0 h 7"/>
                <a:gd name="T10" fmla="*/ 1 w 6"/>
                <a:gd name="T11" fmla="*/ 6 h 7"/>
                <a:gd name="T12" fmla="*/ 3 w 6"/>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6" h="7">
                  <a:moveTo>
                    <a:pt x="3" y="7"/>
                  </a:moveTo>
                  <a:cubicBezTo>
                    <a:pt x="3" y="7"/>
                    <a:pt x="3" y="7"/>
                    <a:pt x="3" y="7"/>
                  </a:cubicBezTo>
                  <a:cubicBezTo>
                    <a:pt x="3" y="7"/>
                    <a:pt x="4" y="6"/>
                    <a:pt x="5" y="5"/>
                  </a:cubicBezTo>
                  <a:cubicBezTo>
                    <a:pt x="6" y="4"/>
                    <a:pt x="6" y="2"/>
                    <a:pt x="6" y="1"/>
                  </a:cubicBezTo>
                  <a:cubicBezTo>
                    <a:pt x="6" y="1"/>
                    <a:pt x="5" y="0"/>
                    <a:pt x="5" y="0"/>
                  </a:cubicBezTo>
                  <a:cubicBezTo>
                    <a:pt x="4" y="0"/>
                    <a:pt x="0" y="3"/>
                    <a:pt x="1" y="6"/>
                  </a:cubicBezTo>
                  <a:cubicBezTo>
                    <a:pt x="2" y="6"/>
                    <a:pt x="3" y="7"/>
                    <a:pt x="3" y="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solidFill>
                  <a:schemeClr val="tx2"/>
                </a:solidFill>
              </a:endParaRPr>
            </a:p>
          </p:txBody>
        </p:sp>
      </p:grpSp>
      <p:sp>
        <p:nvSpPr>
          <p:cNvPr id="72" name="文本框 71"/>
          <p:cNvSpPr txBox="1"/>
          <p:nvPr userDrawn="1"/>
        </p:nvSpPr>
        <p:spPr>
          <a:xfrm>
            <a:off x="445418" y="1954926"/>
            <a:ext cx="246221" cy="2948147"/>
          </a:xfrm>
          <a:prstGeom prst="rect">
            <a:avLst/>
          </a:prstGeom>
          <a:noFill/>
        </p:spPr>
        <p:txBody>
          <a:bodyPr vert="eaVert" wrap="square" lIns="0" tIns="0" rIns="0" bIns="0" rtlCol="0" anchor="ctr">
            <a:spAutoFit/>
          </a:bodyPr>
          <a:lstStyle/>
          <a:p>
            <a:pPr algn="dist"/>
            <a:r>
              <a:rPr lang="zh-CN" altLang="en-US" sz="1600" dirty="0">
                <a:solidFill>
                  <a:schemeClr val="bg1">
                    <a:lumMod val="65000"/>
                  </a:schemeClr>
                </a:solidFill>
                <a:latin typeface="方正粗雅宋简体" panose="02000000000000000000" pitchFamily="2" charset="-122"/>
                <a:ea typeface="方正粗雅宋简体" panose="02000000000000000000" pitchFamily="2" charset="-122"/>
              </a:rPr>
              <a:t>务求实学，存是去非</a:t>
            </a:r>
          </a:p>
        </p:txBody>
      </p:sp>
      <p:sp>
        <p:nvSpPr>
          <p:cNvPr id="73" name="文本框 72"/>
          <p:cNvSpPr txBox="1"/>
          <p:nvPr userDrawn="1"/>
        </p:nvSpPr>
        <p:spPr>
          <a:xfrm>
            <a:off x="11500361" y="1647567"/>
            <a:ext cx="246221" cy="3562866"/>
          </a:xfrm>
          <a:prstGeom prst="rect">
            <a:avLst/>
          </a:prstGeom>
          <a:noFill/>
        </p:spPr>
        <p:txBody>
          <a:bodyPr vert="eaVert" wrap="square" lIns="0" tIns="0" rIns="0" bIns="0" rtlCol="0" anchor="ctr">
            <a:spAutoFit/>
          </a:bodyPr>
          <a:lstStyle/>
          <a:p>
            <a:pPr algn="dist"/>
            <a:r>
              <a:rPr lang="zh-CN" altLang="en-US" sz="1600" dirty="0">
                <a:solidFill>
                  <a:schemeClr val="bg1">
                    <a:lumMod val="65000"/>
                  </a:schemeClr>
                </a:solidFill>
                <a:latin typeface="方正粗雅宋简体" panose="02000000000000000000" pitchFamily="2" charset="-122"/>
                <a:ea typeface="方正粗雅宋简体" panose="02000000000000000000" pitchFamily="2" charset="-122"/>
              </a:rPr>
              <a:t>正其谊、不谋其利，明其道、不计其功</a:t>
            </a:r>
          </a:p>
        </p:txBody>
      </p:sp>
      <p:grpSp>
        <p:nvGrpSpPr>
          <p:cNvPr id="74" name="组合 73"/>
          <p:cNvGrpSpPr/>
          <p:nvPr userDrawn="1"/>
        </p:nvGrpSpPr>
        <p:grpSpPr>
          <a:xfrm>
            <a:off x="445418" y="5902169"/>
            <a:ext cx="637411" cy="612930"/>
            <a:chOff x="1717634" y="914982"/>
            <a:chExt cx="637411" cy="612930"/>
          </a:xfrm>
          <a:solidFill>
            <a:schemeClr val="tx2"/>
          </a:solidFill>
        </p:grpSpPr>
        <p:sp>
          <p:nvSpPr>
            <p:cNvPr id="75" name="Freeform 6"/>
            <p:cNvSpPr/>
            <p:nvPr/>
          </p:nvSpPr>
          <p:spPr bwMode="auto">
            <a:xfrm>
              <a:off x="1717634" y="914982"/>
              <a:ext cx="315186" cy="288564"/>
            </a:xfrm>
            <a:custGeom>
              <a:avLst/>
              <a:gdLst>
                <a:gd name="T0" fmla="*/ 106 w 385"/>
                <a:gd name="T1" fmla="*/ 0 h 352"/>
                <a:gd name="T2" fmla="*/ 155 w 385"/>
                <a:gd name="T3" fmla="*/ 33 h 352"/>
                <a:gd name="T4" fmla="*/ 195 w 385"/>
                <a:gd name="T5" fmla="*/ 44 h 352"/>
                <a:gd name="T6" fmla="*/ 299 w 385"/>
                <a:gd name="T7" fmla="*/ 187 h 352"/>
                <a:gd name="T8" fmla="*/ 291 w 385"/>
                <a:gd name="T9" fmla="*/ 223 h 352"/>
                <a:gd name="T10" fmla="*/ 300 w 385"/>
                <a:gd name="T11" fmla="*/ 259 h 352"/>
                <a:gd name="T12" fmla="*/ 337 w 385"/>
                <a:gd name="T13" fmla="*/ 252 h 352"/>
                <a:gd name="T14" fmla="*/ 352 w 385"/>
                <a:gd name="T15" fmla="*/ 218 h 352"/>
                <a:gd name="T16" fmla="*/ 379 w 385"/>
                <a:gd name="T17" fmla="*/ 225 h 352"/>
                <a:gd name="T18" fmla="*/ 349 w 385"/>
                <a:gd name="T19" fmla="*/ 300 h 352"/>
                <a:gd name="T20" fmla="*/ 302 w 385"/>
                <a:gd name="T21" fmla="*/ 301 h 352"/>
                <a:gd name="T22" fmla="*/ 267 w 385"/>
                <a:gd name="T23" fmla="*/ 314 h 352"/>
                <a:gd name="T24" fmla="*/ 180 w 385"/>
                <a:gd name="T25" fmla="*/ 331 h 352"/>
                <a:gd name="T26" fmla="*/ 183 w 385"/>
                <a:gd name="T27" fmla="*/ 327 h 352"/>
                <a:gd name="T28" fmla="*/ 177 w 385"/>
                <a:gd name="T29" fmla="*/ 272 h 352"/>
                <a:gd name="T30" fmla="*/ 169 w 385"/>
                <a:gd name="T31" fmla="*/ 242 h 352"/>
                <a:gd name="T32" fmla="*/ 200 w 385"/>
                <a:gd name="T33" fmla="*/ 232 h 352"/>
                <a:gd name="T34" fmla="*/ 246 w 385"/>
                <a:gd name="T35" fmla="*/ 207 h 352"/>
                <a:gd name="T36" fmla="*/ 241 w 385"/>
                <a:gd name="T37" fmla="*/ 136 h 352"/>
                <a:gd name="T38" fmla="*/ 186 w 385"/>
                <a:gd name="T39" fmla="*/ 93 h 352"/>
                <a:gd name="T40" fmla="*/ 152 w 385"/>
                <a:gd name="T41" fmla="*/ 163 h 352"/>
                <a:gd name="T42" fmla="*/ 152 w 385"/>
                <a:gd name="T43" fmla="*/ 184 h 352"/>
                <a:gd name="T44" fmla="*/ 152 w 385"/>
                <a:gd name="T45" fmla="*/ 219 h 352"/>
                <a:gd name="T46" fmla="*/ 119 w 385"/>
                <a:gd name="T47" fmla="*/ 228 h 352"/>
                <a:gd name="T48" fmla="*/ 82 w 385"/>
                <a:gd name="T49" fmla="*/ 253 h 352"/>
                <a:gd name="T50" fmla="*/ 77 w 385"/>
                <a:gd name="T51" fmla="*/ 318 h 352"/>
                <a:gd name="T52" fmla="*/ 63 w 385"/>
                <a:gd name="T53" fmla="*/ 339 h 352"/>
                <a:gd name="T54" fmla="*/ 33 w 385"/>
                <a:gd name="T55" fmla="*/ 342 h 352"/>
                <a:gd name="T56" fmla="*/ 28 w 385"/>
                <a:gd name="T57" fmla="*/ 316 h 352"/>
                <a:gd name="T58" fmla="*/ 32 w 385"/>
                <a:gd name="T59" fmla="*/ 215 h 352"/>
                <a:gd name="T60" fmla="*/ 47 w 385"/>
                <a:gd name="T61" fmla="*/ 182 h 352"/>
                <a:gd name="T62" fmla="*/ 34 w 385"/>
                <a:gd name="T63" fmla="*/ 133 h 352"/>
                <a:gd name="T64" fmla="*/ 24 w 385"/>
                <a:gd name="T65" fmla="*/ 131 h 352"/>
                <a:gd name="T66" fmla="*/ 7 w 385"/>
                <a:gd name="T67" fmla="*/ 110 h 352"/>
                <a:gd name="T68" fmla="*/ 34 w 385"/>
                <a:gd name="T69" fmla="*/ 94 h 352"/>
                <a:gd name="T70" fmla="*/ 77 w 385"/>
                <a:gd name="T71" fmla="*/ 116 h 352"/>
                <a:gd name="T72" fmla="*/ 129 w 385"/>
                <a:gd name="T73" fmla="*/ 127 h 352"/>
                <a:gd name="T74" fmla="*/ 126 w 385"/>
                <a:gd name="T75" fmla="*/ 69 h 352"/>
                <a:gd name="T76" fmla="*/ 88 w 385"/>
                <a:gd name="T77" fmla="*/ 47 h 352"/>
                <a:gd name="T78" fmla="*/ 74 w 385"/>
                <a:gd name="T79" fmla="*/ 0 h 352"/>
                <a:gd name="T80" fmla="*/ 106 w 385"/>
                <a:gd name="T81" fmla="*/ 0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85" h="352">
                  <a:moveTo>
                    <a:pt x="106" y="0"/>
                  </a:moveTo>
                  <a:cubicBezTo>
                    <a:pt x="122" y="11"/>
                    <a:pt x="138" y="24"/>
                    <a:pt x="155" y="33"/>
                  </a:cubicBezTo>
                  <a:cubicBezTo>
                    <a:pt x="167" y="39"/>
                    <a:pt x="181" y="42"/>
                    <a:pt x="195" y="44"/>
                  </a:cubicBezTo>
                  <a:cubicBezTo>
                    <a:pt x="275" y="55"/>
                    <a:pt x="312" y="107"/>
                    <a:pt x="299" y="187"/>
                  </a:cubicBezTo>
                  <a:cubicBezTo>
                    <a:pt x="297" y="199"/>
                    <a:pt x="291" y="211"/>
                    <a:pt x="291" y="223"/>
                  </a:cubicBezTo>
                  <a:cubicBezTo>
                    <a:pt x="292" y="235"/>
                    <a:pt x="294" y="249"/>
                    <a:pt x="300" y="259"/>
                  </a:cubicBezTo>
                  <a:cubicBezTo>
                    <a:pt x="313" y="276"/>
                    <a:pt x="329" y="272"/>
                    <a:pt x="337" y="252"/>
                  </a:cubicBezTo>
                  <a:cubicBezTo>
                    <a:pt x="341" y="240"/>
                    <a:pt x="344" y="228"/>
                    <a:pt x="352" y="218"/>
                  </a:cubicBezTo>
                  <a:cubicBezTo>
                    <a:pt x="363" y="205"/>
                    <a:pt x="374" y="208"/>
                    <a:pt x="379" y="225"/>
                  </a:cubicBezTo>
                  <a:cubicBezTo>
                    <a:pt x="385" y="248"/>
                    <a:pt x="371" y="291"/>
                    <a:pt x="349" y="300"/>
                  </a:cubicBezTo>
                  <a:cubicBezTo>
                    <a:pt x="335" y="306"/>
                    <a:pt x="317" y="303"/>
                    <a:pt x="302" y="301"/>
                  </a:cubicBezTo>
                  <a:cubicBezTo>
                    <a:pt x="287" y="300"/>
                    <a:pt x="276" y="300"/>
                    <a:pt x="267" y="314"/>
                  </a:cubicBezTo>
                  <a:cubicBezTo>
                    <a:pt x="248" y="345"/>
                    <a:pt x="214" y="352"/>
                    <a:pt x="180" y="331"/>
                  </a:cubicBezTo>
                  <a:cubicBezTo>
                    <a:pt x="181" y="330"/>
                    <a:pt x="182" y="328"/>
                    <a:pt x="183" y="327"/>
                  </a:cubicBezTo>
                  <a:cubicBezTo>
                    <a:pt x="210" y="304"/>
                    <a:pt x="209" y="289"/>
                    <a:pt x="177" y="272"/>
                  </a:cubicBezTo>
                  <a:cubicBezTo>
                    <a:pt x="163" y="264"/>
                    <a:pt x="161" y="255"/>
                    <a:pt x="169" y="242"/>
                  </a:cubicBezTo>
                  <a:cubicBezTo>
                    <a:pt x="177" y="229"/>
                    <a:pt x="184" y="221"/>
                    <a:pt x="200" y="232"/>
                  </a:cubicBezTo>
                  <a:cubicBezTo>
                    <a:pt x="229" y="251"/>
                    <a:pt x="245" y="242"/>
                    <a:pt x="246" y="207"/>
                  </a:cubicBezTo>
                  <a:cubicBezTo>
                    <a:pt x="247" y="183"/>
                    <a:pt x="246" y="159"/>
                    <a:pt x="241" y="136"/>
                  </a:cubicBezTo>
                  <a:cubicBezTo>
                    <a:pt x="235" y="108"/>
                    <a:pt x="212" y="91"/>
                    <a:pt x="186" y="93"/>
                  </a:cubicBezTo>
                  <a:cubicBezTo>
                    <a:pt x="190" y="123"/>
                    <a:pt x="173" y="144"/>
                    <a:pt x="152" y="163"/>
                  </a:cubicBezTo>
                  <a:cubicBezTo>
                    <a:pt x="145" y="170"/>
                    <a:pt x="143" y="177"/>
                    <a:pt x="152" y="184"/>
                  </a:cubicBezTo>
                  <a:cubicBezTo>
                    <a:pt x="164" y="195"/>
                    <a:pt x="159" y="208"/>
                    <a:pt x="152" y="219"/>
                  </a:cubicBezTo>
                  <a:cubicBezTo>
                    <a:pt x="144" y="229"/>
                    <a:pt x="134" y="235"/>
                    <a:pt x="119" y="228"/>
                  </a:cubicBezTo>
                  <a:cubicBezTo>
                    <a:pt x="92" y="216"/>
                    <a:pt x="84" y="222"/>
                    <a:pt x="82" y="253"/>
                  </a:cubicBezTo>
                  <a:cubicBezTo>
                    <a:pt x="80" y="275"/>
                    <a:pt x="80" y="297"/>
                    <a:pt x="77" y="318"/>
                  </a:cubicBezTo>
                  <a:cubicBezTo>
                    <a:pt x="76" y="326"/>
                    <a:pt x="70" y="336"/>
                    <a:pt x="63" y="339"/>
                  </a:cubicBezTo>
                  <a:cubicBezTo>
                    <a:pt x="54" y="343"/>
                    <a:pt x="42" y="345"/>
                    <a:pt x="33" y="342"/>
                  </a:cubicBezTo>
                  <a:cubicBezTo>
                    <a:pt x="28" y="340"/>
                    <a:pt x="25" y="323"/>
                    <a:pt x="28" y="316"/>
                  </a:cubicBezTo>
                  <a:cubicBezTo>
                    <a:pt x="40" y="282"/>
                    <a:pt x="42" y="250"/>
                    <a:pt x="32" y="215"/>
                  </a:cubicBezTo>
                  <a:cubicBezTo>
                    <a:pt x="29" y="206"/>
                    <a:pt x="39" y="191"/>
                    <a:pt x="47" y="182"/>
                  </a:cubicBezTo>
                  <a:cubicBezTo>
                    <a:pt x="69" y="156"/>
                    <a:pt x="67" y="145"/>
                    <a:pt x="34" y="133"/>
                  </a:cubicBezTo>
                  <a:cubicBezTo>
                    <a:pt x="31" y="132"/>
                    <a:pt x="27" y="132"/>
                    <a:pt x="24" y="131"/>
                  </a:cubicBezTo>
                  <a:cubicBezTo>
                    <a:pt x="15" y="126"/>
                    <a:pt x="0" y="124"/>
                    <a:pt x="7" y="110"/>
                  </a:cubicBezTo>
                  <a:cubicBezTo>
                    <a:pt x="12" y="102"/>
                    <a:pt x="26" y="92"/>
                    <a:pt x="34" y="94"/>
                  </a:cubicBezTo>
                  <a:cubicBezTo>
                    <a:pt x="49" y="97"/>
                    <a:pt x="66" y="105"/>
                    <a:pt x="77" y="116"/>
                  </a:cubicBezTo>
                  <a:cubicBezTo>
                    <a:pt x="96" y="136"/>
                    <a:pt x="114" y="141"/>
                    <a:pt x="129" y="127"/>
                  </a:cubicBezTo>
                  <a:cubicBezTo>
                    <a:pt x="146" y="111"/>
                    <a:pt x="145" y="85"/>
                    <a:pt x="126" y="69"/>
                  </a:cubicBezTo>
                  <a:cubicBezTo>
                    <a:pt x="115" y="60"/>
                    <a:pt x="102" y="52"/>
                    <a:pt x="88" y="47"/>
                  </a:cubicBezTo>
                  <a:cubicBezTo>
                    <a:pt x="59" y="34"/>
                    <a:pt x="56" y="27"/>
                    <a:pt x="74" y="0"/>
                  </a:cubicBezTo>
                  <a:cubicBezTo>
                    <a:pt x="85" y="0"/>
                    <a:pt x="95" y="0"/>
                    <a:pt x="10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6" name="Freeform 7"/>
            <p:cNvSpPr>
              <a:spLocks noEditPoints="1"/>
            </p:cNvSpPr>
            <p:nvPr/>
          </p:nvSpPr>
          <p:spPr bwMode="auto">
            <a:xfrm>
              <a:off x="1722531" y="1236288"/>
              <a:ext cx="216958" cy="291624"/>
            </a:xfrm>
            <a:custGeom>
              <a:avLst/>
              <a:gdLst>
                <a:gd name="T0" fmla="*/ 20 w 265"/>
                <a:gd name="T1" fmla="*/ 356 h 356"/>
                <a:gd name="T2" fmla="*/ 2 w 265"/>
                <a:gd name="T3" fmla="*/ 340 h 356"/>
                <a:gd name="T4" fmla="*/ 45 w 265"/>
                <a:gd name="T5" fmla="*/ 263 h 356"/>
                <a:gd name="T6" fmla="*/ 73 w 265"/>
                <a:gd name="T7" fmla="*/ 232 h 356"/>
                <a:gd name="T8" fmla="*/ 117 w 265"/>
                <a:gd name="T9" fmla="*/ 227 h 356"/>
                <a:gd name="T10" fmla="*/ 114 w 265"/>
                <a:gd name="T11" fmla="*/ 180 h 356"/>
                <a:gd name="T12" fmla="*/ 68 w 265"/>
                <a:gd name="T13" fmla="*/ 186 h 356"/>
                <a:gd name="T14" fmla="*/ 0 w 265"/>
                <a:gd name="T15" fmla="*/ 134 h 356"/>
                <a:gd name="T16" fmla="*/ 1 w 265"/>
                <a:gd name="T17" fmla="*/ 52 h 356"/>
                <a:gd name="T18" fmla="*/ 11 w 265"/>
                <a:gd name="T19" fmla="*/ 29 h 356"/>
                <a:gd name="T20" fmla="*/ 32 w 265"/>
                <a:gd name="T21" fmla="*/ 35 h 356"/>
                <a:gd name="T22" fmla="*/ 39 w 265"/>
                <a:gd name="T23" fmla="*/ 114 h 356"/>
                <a:gd name="T24" fmla="*/ 67 w 265"/>
                <a:gd name="T25" fmla="*/ 150 h 356"/>
                <a:gd name="T26" fmla="*/ 116 w 265"/>
                <a:gd name="T27" fmla="*/ 138 h 356"/>
                <a:gd name="T28" fmla="*/ 106 w 265"/>
                <a:gd name="T29" fmla="*/ 108 h 356"/>
                <a:gd name="T30" fmla="*/ 64 w 265"/>
                <a:gd name="T31" fmla="*/ 58 h 356"/>
                <a:gd name="T32" fmla="*/ 120 w 265"/>
                <a:gd name="T33" fmla="*/ 4 h 356"/>
                <a:gd name="T34" fmla="*/ 187 w 265"/>
                <a:gd name="T35" fmla="*/ 80 h 356"/>
                <a:gd name="T36" fmla="*/ 167 w 265"/>
                <a:gd name="T37" fmla="*/ 102 h 356"/>
                <a:gd name="T38" fmla="*/ 153 w 265"/>
                <a:gd name="T39" fmla="*/ 129 h 356"/>
                <a:gd name="T40" fmla="*/ 179 w 265"/>
                <a:gd name="T41" fmla="*/ 148 h 356"/>
                <a:gd name="T42" fmla="*/ 227 w 265"/>
                <a:gd name="T43" fmla="*/ 105 h 356"/>
                <a:gd name="T44" fmla="*/ 232 w 265"/>
                <a:gd name="T45" fmla="*/ 54 h 356"/>
                <a:gd name="T46" fmla="*/ 231 w 265"/>
                <a:gd name="T47" fmla="*/ 40 h 356"/>
                <a:gd name="T48" fmla="*/ 245 w 265"/>
                <a:gd name="T49" fmla="*/ 26 h 356"/>
                <a:gd name="T50" fmla="*/ 260 w 265"/>
                <a:gd name="T51" fmla="*/ 38 h 356"/>
                <a:gd name="T52" fmla="*/ 263 w 265"/>
                <a:gd name="T53" fmla="*/ 128 h 356"/>
                <a:gd name="T54" fmla="*/ 200 w 265"/>
                <a:gd name="T55" fmla="*/ 176 h 356"/>
                <a:gd name="T56" fmla="*/ 188 w 265"/>
                <a:gd name="T57" fmla="*/ 176 h 356"/>
                <a:gd name="T58" fmla="*/ 156 w 265"/>
                <a:gd name="T59" fmla="*/ 209 h 356"/>
                <a:gd name="T60" fmla="*/ 179 w 265"/>
                <a:gd name="T61" fmla="*/ 231 h 356"/>
                <a:gd name="T62" fmla="*/ 191 w 265"/>
                <a:gd name="T63" fmla="*/ 228 h 356"/>
                <a:gd name="T64" fmla="*/ 225 w 265"/>
                <a:gd name="T65" fmla="*/ 262 h 356"/>
                <a:gd name="T66" fmla="*/ 226 w 265"/>
                <a:gd name="T67" fmla="*/ 298 h 356"/>
                <a:gd name="T68" fmla="*/ 227 w 265"/>
                <a:gd name="T69" fmla="*/ 325 h 356"/>
                <a:gd name="T70" fmla="*/ 208 w 265"/>
                <a:gd name="T71" fmla="*/ 347 h 356"/>
                <a:gd name="T72" fmla="*/ 192 w 265"/>
                <a:gd name="T73" fmla="*/ 330 h 356"/>
                <a:gd name="T74" fmla="*/ 187 w 265"/>
                <a:gd name="T75" fmla="*/ 279 h 356"/>
                <a:gd name="T76" fmla="*/ 175 w 265"/>
                <a:gd name="T77" fmla="*/ 261 h 356"/>
                <a:gd name="T78" fmla="*/ 164 w 265"/>
                <a:gd name="T79" fmla="*/ 279 h 356"/>
                <a:gd name="T80" fmla="*/ 160 w 265"/>
                <a:gd name="T81" fmla="*/ 334 h 356"/>
                <a:gd name="T82" fmla="*/ 137 w 265"/>
                <a:gd name="T83" fmla="*/ 347 h 356"/>
                <a:gd name="T84" fmla="*/ 116 w 265"/>
                <a:gd name="T85" fmla="*/ 334 h 356"/>
                <a:gd name="T86" fmla="*/ 112 w 265"/>
                <a:gd name="T87" fmla="*/ 278 h 356"/>
                <a:gd name="T88" fmla="*/ 98 w 265"/>
                <a:gd name="T89" fmla="*/ 264 h 356"/>
                <a:gd name="T90" fmla="*/ 88 w 265"/>
                <a:gd name="T91" fmla="*/ 278 h 356"/>
                <a:gd name="T92" fmla="*/ 36 w 265"/>
                <a:gd name="T93" fmla="*/ 356 h 356"/>
                <a:gd name="T94" fmla="*/ 20 w 265"/>
                <a:gd name="T95" fmla="*/ 356 h 356"/>
                <a:gd name="T96" fmla="*/ 152 w 265"/>
                <a:gd name="T97" fmla="*/ 62 h 356"/>
                <a:gd name="T98" fmla="*/ 131 w 265"/>
                <a:gd name="T99" fmla="*/ 32 h 356"/>
                <a:gd name="T100" fmla="*/ 102 w 265"/>
                <a:gd name="T101" fmla="*/ 53 h 356"/>
                <a:gd name="T102" fmla="*/ 129 w 265"/>
                <a:gd name="T103" fmla="*/ 79 h 356"/>
                <a:gd name="T104" fmla="*/ 152 w 265"/>
                <a:gd name="T105" fmla="*/ 62 h 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65" h="356">
                  <a:moveTo>
                    <a:pt x="20" y="356"/>
                  </a:moveTo>
                  <a:cubicBezTo>
                    <a:pt x="15" y="352"/>
                    <a:pt x="10" y="347"/>
                    <a:pt x="2" y="340"/>
                  </a:cubicBezTo>
                  <a:cubicBezTo>
                    <a:pt x="43" y="327"/>
                    <a:pt x="46" y="296"/>
                    <a:pt x="45" y="263"/>
                  </a:cubicBezTo>
                  <a:cubicBezTo>
                    <a:pt x="43" y="234"/>
                    <a:pt x="44" y="234"/>
                    <a:pt x="73" y="232"/>
                  </a:cubicBezTo>
                  <a:cubicBezTo>
                    <a:pt x="87" y="231"/>
                    <a:pt x="100" y="229"/>
                    <a:pt x="117" y="227"/>
                  </a:cubicBezTo>
                  <a:cubicBezTo>
                    <a:pt x="116" y="212"/>
                    <a:pt x="115" y="196"/>
                    <a:pt x="114" y="180"/>
                  </a:cubicBezTo>
                  <a:cubicBezTo>
                    <a:pt x="96" y="182"/>
                    <a:pt x="82" y="184"/>
                    <a:pt x="68" y="186"/>
                  </a:cubicBezTo>
                  <a:cubicBezTo>
                    <a:pt x="37" y="191"/>
                    <a:pt x="1" y="177"/>
                    <a:pt x="0" y="134"/>
                  </a:cubicBezTo>
                  <a:cubicBezTo>
                    <a:pt x="0" y="106"/>
                    <a:pt x="0" y="79"/>
                    <a:pt x="1" y="52"/>
                  </a:cubicBezTo>
                  <a:cubicBezTo>
                    <a:pt x="1" y="44"/>
                    <a:pt x="5" y="35"/>
                    <a:pt x="11" y="29"/>
                  </a:cubicBezTo>
                  <a:cubicBezTo>
                    <a:pt x="18" y="20"/>
                    <a:pt x="30" y="23"/>
                    <a:pt x="32" y="35"/>
                  </a:cubicBezTo>
                  <a:cubicBezTo>
                    <a:pt x="35" y="61"/>
                    <a:pt x="38" y="88"/>
                    <a:pt x="39" y="114"/>
                  </a:cubicBezTo>
                  <a:cubicBezTo>
                    <a:pt x="40" y="134"/>
                    <a:pt x="49" y="145"/>
                    <a:pt x="67" y="150"/>
                  </a:cubicBezTo>
                  <a:cubicBezTo>
                    <a:pt x="86" y="156"/>
                    <a:pt x="103" y="153"/>
                    <a:pt x="116" y="138"/>
                  </a:cubicBezTo>
                  <a:cubicBezTo>
                    <a:pt x="125" y="127"/>
                    <a:pt x="120" y="112"/>
                    <a:pt x="106" y="108"/>
                  </a:cubicBezTo>
                  <a:cubicBezTo>
                    <a:pt x="71" y="97"/>
                    <a:pt x="62" y="86"/>
                    <a:pt x="64" y="58"/>
                  </a:cubicBezTo>
                  <a:cubicBezTo>
                    <a:pt x="67" y="30"/>
                    <a:pt x="91" y="7"/>
                    <a:pt x="120" y="4"/>
                  </a:cubicBezTo>
                  <a:cubicBezTo>
                    <a:pt x="173" y="0"/>
                    <a:pt x="205" y="34"/>
                    <a:pt x="187" y="80"/>
                  </a:cubicBezTo>
                  <a:cubicBezTo>
                    <a:pt x="184" y="89"/>
                    <a:pt x="175" y="99"/>
                    <a:pt x="167" y="102"/>
                  </a:cubicBezTo>
                  <a:cubicBezTo>
                    <a:pt x="152" y="107"/>
                    <a:pt x="147" y="118"/>
                    <a:pt x="153" y="129"/>
                  </a:cubicBezTo>
                  <a:cubicBezTo>
                    <a:pt x="157" y="138"/>
                    <a:pt x="169" y="146"/>
                    <a:pt x="179" y="148"/>
                  </a:cubicBezTo>
                  <a:cubicBezTo>
                    <a:pt x="198" y="151"/>
                    <a:pt x="221" y="130"/>
                    <a:pt x="227" y="105"/>
                  </a:cubicBezTo>
                  <a:cubicBezTo>
                    <a:pt x="231" y="89"/>
                    <a:pt x="231" y="71"/>
                    <a:pt x="232" y="54"/>
                  </a:cubicBezTo>
                  <a:cubicBezTo>
                    <a:pt x="232" y="49"/>
                    <a:pt x="230" y="44"/>
                    <a:pt x="231" y="40"/>
                  </a:cubicBezTo>
                  <a:cubicBezTo>
                    <a:pt x="235" y="34"/>
                    <a:pt x="240" y="26"/>
                    <a:pt x="245" y="26"/>
                  </a:cubicBezTo>
                  <a:cubicBezTo>
                    <a:pt x="250" y="25"/>
                    <a:pt x="260" y="33"/>
                    <a:pt x="260" y="38"/>
                  </a:cubicBezTo>
                  <a:cubicBezTo>
                    <a:pt x="263" y="68"/>
                    <a:pt x="265" y="98"/>
                    <a:pt x="263" y="128"/>
                  </a:cubicBezTo>
                  <a:cubicBezTo>
                    <a:pt x="261" y="155"/>
                    <a:pt x="234" y="173"/>
                    <a:pt x="200" y="176"/>
                  </a:cubicBezTo>
                  <a:cubicBezTo>
                    <a:pt x="196" y="176"/>
                    <a:pt x="192" y="176"/>
                    <a:pt x="188" y="176"/>
                  </a:cubicBezTo>
                  <a:cubicBezTo>
                    <a:pt x="155" y="176"/>
                    <a:pt x="156" y="176"/>
                    <a:pt x="156" y="209"/>
                  </a:cubicBezTo>
                  <a:cubicBezTo>
                    <a:pt x="156" y="227"/>
                    <a:pt x="166" y="230"/>
                    <a:pt x="179" y="231"/>
                  </a:cubicBezTo>
                  <a:cubicBezTo>
                    <a:pt x="183" y="231"/>
                    <a:pt x="187" y="229"/>
                    <a:pt x="191" y="228"/>
                  </a:cubicBezTo>
                  <a:cubicBezTo>
                    <a:pt x="224" y="226"/>
                    <a:pt x="227" y="229"/>
                    <a:pt x="225" y="262"/>
                  </a:cubicBezTo>
                  <a:cubicBezTo>
                    <a:pt x="224" y="274"/>
                    <a:pt x="225" y="286"/>
                    <a:pt x="226" y="298"/>
                  </a:cubicBezTo>
                  <a:cubicBezTo>
                    <a:pt x="226" y="307"/>
                    <a:pt x="230" y="317"/>
                    <a:pt x="227" y="325"/>
                  </a:cubicBezTo>
                  <a:cubicBezTo>
                    <a:pt x="223" y="334"/>
                    <a:pt x="214" y="340"/>
                    <a:pt x="208" y="347"/>
                  </a:cubicBezTo>
                  <a:cubicBezTo>
                    <a:pt x="202" y="342"/>
                    <a:pt x="193" y="337"/>
                    <a:pt x="192" y="330"/>
                  </a:cubicBezTo>
                  <a:cubicBezTo>
                    <a:pt x="189" y="314"/>
                    <a:pt x="190" y="296"/>
                    <a:pt x="187" y="279"/>
                  </a:cubicBezTo>
                  <a:cubicBezTo>
                    <a:pt x="186" y="272"/>
                    <a:pt x="180" y="262"/>
                    <a:pt x="175" y="261"/>
                  </a:cubicBezTo>
                  <a:cubicBezTo>
                    <a:pt x="162" y="258"/>
                    <a:pt x="164" y="270"/>
                    <a:pt x="164" y="279"/>
                  </a:cubicBezTo>
                  <a:cubicBezTo>
                    <a:pt x="162" y="297"/>
                    <a:pt x="160" y="316"/>
                    <a:pt x="160" y="334"/>
                  </a:cubicBezTo>
                  <a:cubicBezTo>
                    <a:pt x="159" y="352"/>
                    <a:pt x="146" y="347"/>
                    <a:pt x="137" y="347"/>
                  </a:cubicBezTo>
                  <a:cubicBezTo>
                    <a:pt x="127" y="348"/>
                    <a:pt x="116" y="350"/>
                    <a:pt x="116" y="334"/>
                  </a:cubicBezTo>
                  <a:cubicBezTo>
                    <a:pt x="116" y="315"/>
                    <a:pt x="115" y="296"/>
                    <a:pt x="112" y="278"/>
                  </a:cubicBezTo>
                  <a:cubicBezTo>
                    <a:pt x="111" y="273"/>
                    <a:pt x="103" y="269"/>
                    <a:pt x="98" y="264"/>
                  </a:cubicBezTo>
                  <a:cubicBezTo>
                    <a:pt x="95" y="269"/>
                    <a:pt x="88" y="273"/>
                    <a:pt x="88" y="278"/>
                  </a:cubicBezTo>
                  <a:cubicBezTo>
                    <a:pt x="84" y="313"/>
                    <a:pt x="71" y="342"/>
                    <a:pt x="36" y="356"/>
                  </a:cubicBezTo>
                  <a:cubicBezTo>
                    <a:pt x="31" y="356"/>
                    <a:pt x="25" y="356"/>
                    <a:pt x="20" y="356"/>
                  </a:cubicBezTo>
                  <a:close/>
                  <a:moveTo>
                    <a:pt x="152" y="62"/>
                  </a:moveTo>
                  <a:cubicBezTo>
                    <a:pt x="148" y="45"/>
                    <a:pt x="150" y="32"/>
                    <a:pt x="131" y="32"/>
                  </a:cubicBezTo>
                  <a:cubicBezTo>
                    <a:pt x="117" y="32"/>
                    <a:pt x="105" y="39"/>
                    <a:pt x="102" y="53"/>
                  </a:cubicBezTo>
                  <a:cubicBezTo>
                    <a:pt x="99" y="64"/>
                    <a:pt x="116" y="82"/>
                    <a:pt x="129" y="79"/>
                  </a:cubicBezTo>
                  <a:cubicBezTo>
                    <a:pt x="137" y="77"/>
                    <a:pt x="144" y="68"/>
                    <a:pt x="152" y="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7" name="Freeform 8"/>
            <p:cNvSpPr/>
            <p:nvPr/>
          </p:nvSpPr>
          <p:spPr bwMode="auto">
            <a:xfrm>
              <a:off x="2056383" y="1243632"/>
              <a:ext cx="287340" cy="271121"/>
            </a:xfrm>
            <a:custGeom>
              <a:avLst/>
              <a:gdLst>
                <a:gd name="T0" fmla="*/ 52 w 351"/>
                <a:gd name="T1" fmla="*/ 170 h 331"/>
                <a:gd name="T2" fmla="*/ 56 w 351"/>
                <a:gd name="T3" fmla="*/ 115 h 331"/>
                <a:gd name="T4" fmla="*/ 51 w 351"/>
                <a:gd name="T5" fmla="*/ 13 h 331"/>
                <a:gd name="T6" fmla="*/ 66 w 351"/>
                <a:gd name="T7" fmla="*/ 1 h 331"/>
                <a:gd name="T8" fmla="*/ 83 w 351"/>
                <a:gd name="T9" fmla="*/ 19 h 331"/>
                <a:gd name="T10" fmla="*/ 84 w 351"/>
                <a:gd name="T11" fmla="*/ 79 h 331"/>
                <a:gd name="T12" fmla="*/ 127 w 351"/>
                <a:gd name="T13" fmla="*/ 112 h 331"/>
                <a:gd name="T14" fmla="*/ 144 w 351"/>
                <a:gd name="T15" fmla="*/ 81 h 331"/>
                <a:gd name="T16" fmla="*/ 135 w 351"/>
                <a:gd name="T17" fmla="*/ 61 h 331"/>
                <a:gd name="T18" fmla="*/ 142 w 351"/>
                <a:gd name="T19" fmla="*/ 29 h 331"/>
                <a:gd name="T20" fmla="*/ 175 w 351"/>
                <a:gd name="T21" fmla="*/ 28 h 331"/>
                <a:gd name="T22" fmla="*/ 188 w 351"/>
                <a:gd name="T23" fmla="*/ 55 h 331"/>
                <a:gd name="T24" fmla="*/ 182 w 351"/>
                <a:gd name="T25" fmla="*/ 80 h 331"/>
                <a:gd name="T26" fmla="*/ 193 w 351"/>
                <a:gd name="T27" fmla="*/ 111 h 331"/>
                <a:gd name="T28" fmla="*/ 233 w 351"/>
                <a:gd name="T29" fmla="*/ 93 h 331"/>
                <a:gd name="T30" fmla="*/ 232 w 351"/>
                <a:gd name="T31" fmla="*/ 27 h 331"/>
                <a:gd name="T32" fmla="*/ 234 w 351"/>
                <a:gd name="T33" fmla="*/ 7 h 331"/>
                <a:gd name="T34" fmla="*/ 255 w 351"/>
                <a:gd name="T35" fmla="*/ 4 h 331"/>
                <a:gd name="T36" fmla="*/ 313 w 351"/>
                <a:gd name="T37" fmla="*/ 16 h 331"/>
                <a:gd name="T38" fmla="*/ 331 w 351"/>
                <a:gd name="T39" fmla="*/ 34 h 331"/>
                <a:gd name="T40" fmla="*/ 309 w 351"/>
                <a:gd name="T41" fmla="*/ 45 h 331"/>
                <a:gd name="T42" fmla="*/ 279 w 351"/>
                <a:gd name="T43" fmla="*/ 70 h 331"/>
                <a:gd name="T44" fmla="*/ 275 w 351"/>
                <a:gd name="T45" fmla="*/ 139 h 331"/>
                <a:gd name="T46" fmla="*/ 236 w 351"/>
                <a:gd name="T47" fmla="*/ 175 h 331"/>
                <a:gd name="T48" fmla="*/ 211 w 351"/>
                <a:gd name="T49" fmla="*/ 173 h 331"/>
                <a:gd name="T50" fmla="*/ 190 w 351"/>
                <a:gd name="T51" fmla="*/ 180 h 331"/>
                <a:gd name="T52" fmla="*/ 197 w 351"/>
                <a:gd name="T53" fmla="*/ 208 h 331"/>
                <a:gd name="T54" fmla="*/ 287 w 351"/>
                <a:gd name="T55" fmla="*/ 212 h 331"/>
                <a:gd name="T56" fmla="*/ 300 w 351"/>
                <a:gd name="T57" fmla="*/ 192 h 331"/>
                <a:gd name="T58" fmla="*/ 305 w 351"/>
                <a:gd name="T59" fmla="*/ 165 h 331"/>
                <a:gd name="T60" fmla="*/ 321 w 351"/>
                <a:gd name="T61" fmla="*/ 150 h 331"/>
                <a:gd name="T62" fmla="*/ 339 w 351"/>
                <a:gd name="T63" fmla="*/ 166 h 331"/>
                <a:gd name="T64" fmla="*/ 331 w 351"/>
                <a:gd name="T65" fmla="*/ 231 h 331"/>
                <a:gd name="T66" fmla="*/ 285 w 351"/>
                <a:gd name="T67" fmla="*/ 258 h 331"/>
                <a:gd name="T68" fmla="*/ 154 w 351"/>
                <a:gd name="T69" fmla="*/ 250 h 331"/>
                <a:gd name="T70" fmla="*/ 137 w 351"/>
                <a:gd name="T71" fmla="*/ 251 h 331"/>
                <a:gd name="T72" fmla="*/ 125 w 351"/>
                <a:gd name="T73" fmla="*/ 270 h 331"/>
                <a:gd name="T74" fmla="*/ 140 w 351"/>
                <a:gd name="T75" fmla="*/ 286 h 331"/>
                <a:gd name="T76" fmla="*/ 315 w 351"/>
                <a:gd name="T77" fmla="*/ 289 h 331"/>
                <a:gd name="T78" fmla="*/ 333 w 351"/>
                <a:gd name="T79" fmla="*/ 288 h 331"/>
                <a:gd name="T80" fmla="*/ 350 w 351"/>
                <a:gd name="T81" fmla="*/ 304 h 331"/>
                <a:gd name="T82" fmla="*/ 343 w 351"/>
                <a:gd name="T83" fmla="*/ 324 h 331"/>
                <a:gd name="T84" fmla="*/ 317 w 351"/>
                <a:gd name="T85" fmla="*/ 330 h 331"/>
                <a:gd name="T86" fmla="*/ 45 w 351"/>
                <a:gd name="T87" fmla="*/ 331 h 331"/>
                <a:gd name="T88" fmla="*/ 3 w 351"/>
                <a:gd name="T89" fmla="*/ 295 h 331"/>
                <a:gd name="T90" fmla="*/ 6 w 351"/>
                <a:gd name="T91" fmla="*/ 221 h 331"/>
                <a:gd name="T92" fmla="*/ 29 w 351"/>
                <a:gd name="T93" fmla="*/ 204 h 331"/>
                <a:gd name="T94" fmla="*/ 39 w 351"/>
                <a:gd name="T95" fmla="*/ 225 h 331"/>
                <a:gd name="T96" fmla="*/ 47 w 351"/>
                <a:gd name="T97" fmla="*/ 268 h 331"/>
                <a:gd name="T98" fmla="*/ 65 w 351"/>
                <a:gd name="T99" fmla="*/ 283 h 331"/>
                <a:gd name="T100" fmla="*/ 70 w 351"/>
                <a:gd name="T101" fmla="*/ 263 h 331"/>
                <a:gd name="T102" fmla="*/ 68 w 351"/>
                <a:gd name="T103" fmla="*/ 243 h 331"/>
                <a:gd name="T104" fmla="*/ 104 w 351"/>
                <a:gd name="T105" fmla="*/ 210 h 331"/>
                <a:gd name="T106" fmla="*/ 123 w 351"/>
                <a:gd name="T107" fmla="*/ 208 h 331"/>
                <a:gd name="T108" fmla="*/ 135 w 351"/>
                <a:gd name="T109" fmla="*/ 187 h 331"/>
                <a:gd name="T110" fmla="*/ 118 w 351"/>
                <a:gd name="T111" fmla="*/ 172 h 331"/>
                <a:gd name="T112" fmla="*/ 79 w 351"/>
                <a:gd name="T113" fmla="*/ 176 h 331"/>
                <a:gd name="T114" fmla="*/ 57 w 351"/>
                <a:gd name="T115" fmla="*/ 175 h 331"/>
                <a:gd name="T116" fmla="*/ 52 w 351"/>
                <a:gd name="T117" fmla="*/ 170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51" h="331">
                  <a:moveTo>
                    <a:pt x="52" y="170"/>
                  </a:moveTo>
                  <a:cubicBezTo>
                    <a:pt x="80" y="151"/>
                    <a:pt x="66" y="134"/>
                    <a:pt x="56" y="115"/>
                  </a:cubicBezTo>
                  <a:cubicBezTo>
                    <a:pt x="38" y="83"/>
                    <a:pt x="42" y="47"/>
                    <a:pt x="51" y="13"/>
                  </a:cubicBezTo>
                  <a:cubicBezTo>
                    <a:pt x="52" y="8"/>
                    <a:pt x="63" y="0"/>
                    <a:pt x="66" y="1"/>
                  </a:cubicBezTo>
                  <a:cubicBezTo>
                    <a:pt x="73" y="5"/>
                    <a:pt x="82" y="12"/>
                    <a:pt x="83" y="19"/>
                  </a:cubicBezTo>
                  <a:cubicBezTo>
                    <a:pt x="85" y="39"/>
                    <a:pt x="83" y="59"/>
                    <a:pt x="84" y="79"/>
                  </a:cubicBezTo>
                  <a:cubicBezTo>
                    <a:pt x="85" y="105"/>
                    <a:pt x="103" y="118"/>
                    <a:pt x="127" y="112"/>
                  </a:cubicBezTo>
                  <a:cubicBezTo>
                    <a:pt x="144" y="107"/>
                    <a:pt x="150" y="97"/>
                    <a:pt x="144" y="81"/>
                  </a:cubicBezTo>
                  <a:cubicBezTo>
                    <a:pt x="141" y="74"/>
                    <a:pt x="135" y="68"/>
                    <a:pt x="135" y="61"/>
                  </a:cubicBezTo>
                  <a:cubicBezTo>
                    <a:pt x="135" y="50"/>
                    <a:pt x="136" y="35"/>
                    <a:pt x="142" y="29"/>
                  </a:cubicBezTo>
                  <a:cubicBezTo>
                    <a:pt x="149" y="24"/>
                    <a:pt x="166" y="23"/>
                    <a:pt x="175" y="28"/>
                  </a:cubicBezTo>
                  <a:cubicBezTo>
                    <a:pt x="182" y="31"/>
                    <a:pt x="186" y="45"/>
                    <a:pt x="188" y="55"/>
                  </a:cubicBezTo>
                  <a:cubicBezTo>
                    <a:pt x="189" y="63"/>
                    <a:pt x="184" y="72"/>
                    <a:pt x="182" y="80"/>
                  </a:cubicBezTo>
                  <a:cubicBezTo>
                    <a:pt x="178" y="93"/>
                    <a:pt x="176" y="106"/>
                    <a:pt x="193" y="111"/>
                  </a:cubicBezTo>
                  <a:cubicBezTo>
                    <a:pt x="212" y="116"/>
                    <a:pt x="231" y="109"/>
                    <a:pt x="233" y="93"/>
                  </a:cubicBezTo>
                  <a:cubicBezTo>
                    <a:pt x="235" y="71"/>
                    <a:pt x="232" y="49"/>
                    <a:pt x="232" y="27"/>
                  </a:cubicBezTo>
                  <a:cubicBezTo>
                    <a:pt x="232" y="20"/>
                    <a:pt x="230" y="10"/>
                    <a:pt x="234" y="7"/>
                  </a:cubicBezTo>
                  <a:cubicBezTo>
                    <a:pt x="239" y="3"/>
                    <a:pt x="248" y="3"/>
                    <a:pt x="255" y="4"/>
                  </a:cubicBezTo>
                  <a:cubicBezTo>
                    <a:pt x="275" y="7"/>
                    <a:pt x="294" y="10"/>
                    <a:pt x="313" y="16"/>
                  </a:cubicBezTo>
                  <a:cubicBezTo>
                    <a:pt x="320" y="18"/>
                    <a:pt x="331" y="27"/>
                    <a:pt x="331" y="34"/>
                  </a:cubicBezTo>
                  <a:cubicBezTo>
                    <a:pt x="332" y="47"/>
                    <a:pt x="321" y="47"/>
                    <a:pt x="309" y="45"/>
                  </a:cubicBezTo>
                  <a:cubicBezTo>
                    <a:pt x="285" y="40"/>
                    <a:pt x="280" y="45"/>
                    <a:pt x="279" y="70"/>
                  </a:cubicBezTo>
                  <a:cubicBezTo>
                    <a:pt x="279" y="93"/>
                    <a:pt x="278" y="116"/>
                    <a:pt x="275" y="139"/>
                  </a:cubicBezTo>
                  <a:cubicBezTo>
                    <a:pt x="273" y="168"/>
                    <a:pt x="264" y="175"/>
                    <a:pt x="236" y="175"/>
                  </a:cubicBezTo>
                  <a:cubicBezTo>
                    <a:pt x="228" y="174"/>
                    <a:pt x="219" y="172"/>
                    <a:pt x="211" y="173"/>
                  </a:cubicBezTo>
                  <a:cubicBezTo>
                    <a:pt x="203" y="173"/>
                    <a:pt x="190" y="177"/>
                    <a:pt x="190" y="180"/>
                  </a:cubicBezTo>
                  <a:cubicBezTo>
                    <a:pt x="189" y="190"/>
                    <a:pt x="191" y="204"/>
                    <a:pt x="197" y="208"/>
                  </a:cubicBezTo>
                  <a:cubicBezTo>
                    <a:pt x="225" y="226"/>
                    <a:pt x="257" y="223"/>
                    <a:pt x="287" y="212"/>
                  </a:cubicBezTo>
                  <a:cubicBezTo>
                    <a:pt x="293" y="210"/>
                    <a:pt x="297" y="199"/>
                    <a:pt x="300" y="192"/>
                  </a:cubicBezTo>
                  <a:cubicBezTo>
                    <a:pt x="303" y="183"/>
                    <a:pt x="301" y="173"/>
                    <a:pt x="305" y="165"/>
                  </a:cubicBezTo>
                  <a:cubicBezTo>
                    <a:pt x="307" y="158"/>
                    <a:pt x="317" y="149"/>
                    <a:pt x="321" y="150"/>
                  </a:cubicBezTo>
                  <a:cubicBezTo>
                    <a:pt x="328" y="152"/>
                    <a:pt x="339" y="161"/>
                    <a:pt x="339" y="166"/>
                  </a:cubicBezTo>
                  <a:cubicBezTo>
                    <a:pt x="338" y="188"/>
                    <a:pt x="336" y="210"/>
                    <a:pt x="331" y="231"/>
                  </a:cubicBezTo>
                  <a:cubicBezTo>
                    <a:pt x="325" y="253"/>
                    <a:pt x="305" y="259"/>
                    <a:pt x="285" y="258"/>
                  </a:cubicBezTo>
                  <a:cubicBezTo>
                    <a:pt x="242" y="257"/>
                    <a:pt x="198" y="253"/>
                    <a:pt x="154" y="250"/>
                  </a:cubicBezTo>
                  <a:cubicBezTo>
                    <a:pt x="149" y="249"/>
                    <a:pt x="141" y="248"/>
                    <a:pt x="137" y="251"/>
                  </a:cubicBezTo>
                  <a:cubicBezTo>
                    <a:pt x="131" y="256"/>
                    <a:pt x="124" y="264"/>
                    <a:pt x="125" y="270"/>
                  </a:cubicBezTo>
                  <a:cubicBezTo>
                    <a:pt x="125" y="276"/>
                    <a:pt x="134" y="286"/>
                    <a:pt x="140" y="286"/>
                  </a:cubicBezTo>
                  <a:cubicBezTo>
                    <a:pt x="198" y="288"/>
                    <a:pt x="257" y="288"/>
                    <a:pt x="315" y="289"/>
                  </a:cubicBezTo>
                  <a:cubicBezTo>
                    <a:pt x="321" y="289"/>
                    <a:pt x="328" y="286"/>
                    <a:pt x="333" y="288"/>
                  </a:cubicBezTo>
                  <a:cubicBezTo>
                    <a:pt x="340" y="291"/>
                    <a:pt x="348" y="297"/>
                    <a:pt x="350" y="304"/>
                  </a:cubicBezTo>
                  <a:cubicBezTo>
                    <a:pt x="351" y="309"/>
                    <a:pt x="348" y="320"/>
                    <a:pt x="343" y="324"/>
                  </a:cubicBezTo>
                  <a:cubicBezTo>
                    <a:pt x="336" y="329"/>
                    <a:pt x="326" y="330"/>
                    <a:pt x="317" y="330"/>
                  </a:cubicBezTo>
                  <a:cubicBezTo>
                    <a:pt x="227" y="331"/>
                    <a:pt x="136" y="331"/>
                    <a:pt x="45" y="331"/>
                  </a:cubicBezTo>
                  <a:cubicBezTo>
                    <a:pt x="16" y="331"/>
                    <a:pt x="7" y="325"/>
                    <a:pt x="3" y="295"/>
                  </a:cubicBezTo>
                  <a:cubicBezTo>
                    <a:pt x="0" y="271"/>
                    <a:pt x="3" y="245"/>
                    <a:pt x="6" y="221"/>
                  </a:cubicBezTo>
                  <a:cubicBezTo>
                    <a:pt x="7" y="214"/>
                    <a:pt x="21" y="209"/>
                    <a:pt x="29" y="204"/>
                  </a:cubicBezTo>
                  <a:cubicBezTo>
                    <a:pt x="33" y="211"/>
                    <a:pt x="38" y="218"/>
                    <a:pt x="39" y="225"/>
                  </a:cubicBezTo>
                  <a:cubicBezTo>
                    <a:pt x="43" y="240"/>
                    <a:pt x="42" y="255"/>
                    <a:pt x="47" y="268"/>
                  </a:cubicBezTo>
                  <a:cubicBezTo>
                    <a:pt x="49" y="274"/>
                    <a:pt x="59" y="278"/>
                    <a:pt x="65" y="283"/>
                  </a:cubicBezTo>
                  <a:cubicBezTo>
                    <a:pt x="67" y="276"/>
                    <a:pt x="70" y="270"/>
                    <a:pt x="70" y="263"/>
                  </a:cubicBezTo>
                  <a:cubicBezTo>
                    <a:pt x="71" y="257"/>
                    <a:pt x="68" y="250"/>
                    <a:pt x="68" y="243"/>
                  </a:cubicBezTo>
                  <a:cubicBezTo>
                    <a:pt x="67" y="210"/>
                    <a:pt x="71" y="207"/>
                    <a:pt x="104" y="210"/>
                  </a:cubicBezTo>
                  <a:cubicBezTo>
                    <a:pt x="110" y="211"/>
                    <a:pt x="118" y="211"/>
                    <a:pt x="123" y="208"/>
                  </a:cubicBezTo>
                  <a:cubicBezTo>
                    <a:pt x="129" y="203"/>
                    <a:pt x="136" y="194"/>
                    <a:pt x="135" y="187"/>
                  </a:cubicBezTo>
                  <a:cubicBezTo>
                    <a:pt x="134" y="181"/>
                    <a:pt x="125" y="172"/>
                    <a:pt x="118" y="172"/>
                  </a:cubicBezTo>
                  <a:cubicBezTo>
                    <a:pt x="105" y="170"/>
                    <a:pt x="92" y="175"/>
                    <a:pt x="79" y="176"/>
                  </a:cubicBezTo>
                  <a:cubicBezTo>
                    <a:pt x="72" y="176"/>
                    <a:pt x="64" y="175"/>
                    <a:pt x="57" y="175"/>
                  </a:cubicBezTo>
                  <a:cubicBezTo>
                    <a:pt x="56" y="173"/>
                    <a:pt x="54" y="171"/>
                    <a:pt x="52" y="1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8" name="Freeform 9"/>
            <p:cNvSpPr/>
            <p:nvPr/>
          </p:nvSpPr>
          <p:spPr bwMode="auto">
            <a:xfrm>
              <a:off x="2057301" y="922326"/>
              <a:ext cx="297744" cy="283668"/>
            </a:xfrm>
            <a:custGeom>
              <a:avLst/>
              <a:gdLst>
                <a:gd name="T0" fmla="*/ 80 w 364"/>
                <a:gd name="T1" fmla="*/ 151 h 346"/>
                <a:gd name="T2" fmla="*/ 165 w 364"/>
                <a:gd name="T3" fmla="*/ 250 h 346"/>
                <a:gd name="T4" fmla="*/ 245 w 364"/>
                <a:gd name="T5" fmla="*/ 256 h 346"/>
                <a:gd name="T6" fmla="*/ 267 w 364"/>
                <a:gd name="T7" fmla="*/ 211 h 346"/>
                <a:gd name="T8" fmla="*/ 249 w 364"/>
                <a:gd name="T9" fmla="*/ 203 h 346"/>
                <a:gd name="T10" fmla="*/ 139 w 364"/>
                <a:gd name="T11" fmla="*/ 170 h 346"/>
                <a:gd name="T12" fmla="*/ 108 w 364"/>
                <a:gd name="T13" fmla="*/ 136 h 346"/>
                <a:gd name="T14" fmla="*/ 118 w 364"/>
                <a:gd name="T15" fmla="*/ 109 h 346"/>
                <a:gd name="T16" fmla="*/ 138 w 364"/>
                <a:gd name="T17" fmla="*/ 107 h 346"/>
                <a:gd name="T18" fmla="*/ 191 w 364"/>
                <a:gd name="T19" fmla="*/ 73 h 346"/>
                <a:gd name="T20" fmla="*/ 241 w 364"/>
                <a:gd name="T21" fmla="*/ 6 h 346"/>
                <a:gd name="T22" fmla="*/ 243 w 364"/>
                <a:gd name="T23" fmla="*/ 35 h 346"/>
                <a:gd name="T24" fmla="*/ 191 w 364"/>
                <a:gd name="T25" fmla="*/ 109 h 346"/>
                <a:gd name="T26" fmla="*/ 170 w 364"/>
                <a:gd name="T27" fmla="*/ 124 h 346"/>
                <a:gd name="T28" fmla="*/ 209 w 364"/>
                <a:gd name="T29" fmla="*/ 135 h 346"/>
                <a:gd name="T30" fmla="*/ 259 w 364"/>
                <a:gd name="T31" fmla="*/ 59 h 346"/>
                <a:gd name="T32" fmla="*/ 268 w 364"/>
                <a:gd name="T33" fmla="*/ 29 h 346"/>
                <a:gd name="T34" fmla="*/ 306 w 364"/>
                <a:gd name="T35" fmla="*/ 9 h 346"/>
                <a:gd name="T36" fmla="*/ 295 w 364"/>
                <a:gd name="T37" fmla="*/ 59 h 346"/>
                <a:gd name="T38" fmla="*/ 255 w 364"/>
                <a:gd name="T39" fmla="*/ 134 h 346"/>
                <a:gd name="T40" fmla="*/ 251 w 364"/>
                <a:gd name="T41" fmla="*/ 162 h 346"/>
                <a:gd name="T42" fmla="*/ 283 w 364"/>
                <a:gd name="T43" fmla="*/ 153 h 346"/>
                <a:gd name="T44" fmla="*/ 319 w 364"/>
                <a:gd name="T45" fmla="*/ 61 h 346"/>
                <a:gd name="T46" fmla="*/ 323 w 364"/>
                <a:gd name="T47" fmla="*/ 14 h 346"/>
                <a:gd name="T48" fmla="*/ 335 w 364"/>
                <a:gd name="T49" fmla="*/ 0 h 346"/>
                <a:gd name="T50" fmla="*/ 357 w 364"/>
                <a:gd name="T51" fmla="*/ 9 h 346"/>
                <a:gd name="T52" fmla="*/ 364 w 364"/>
                <a:gd name="T53" fmla="*/ 49 h 346"/>
                <a:gd name="T54" fmla="*/ 318 w 364"/>
                <a:gd name="T55" fmla="*/ 173 h 346"/>
                <a:gd name="T56" fmla="*/ 326 w 364"/>
                <a:gd name="T57" fmla="*/ 257 h 346"/>
                <a:gd name="T58" fmla="*/ 317 w 364"/>
                <a:gd name="T59" fmla="*/ 289 h 346"/>
                <a:gd name="T60" fmla="*/ 266 w 364"/>
                <a:gd name="T61" fmla="*/ 292 h 346"/>
                <a:gd name="T62" fmla="*/ 221 w 364"/>
                <a:gd name="T63" fmla="*/ 319 h 346"/>
                <a:gd name="T64" fmla="*/ 190 w 364"/>
                <a:gd name="T65" fmla="*/ 342 h 346"/>
                <a:gd name="T66" fmla="*/ 165 w 364"/>
                <a:gd name="T67" fmla="*/ 325 h 346"/>
                <a:gd name="T68" fmla="*/ 152 w 364"/>
                <a:gd name="T69" fmla="*/ 298 h 346"/>
                <a:gd name="T70" fmla="*/ 97 w 364"/>
                <a:gd name="T71" fmla="*/ 295 h 346"/>
                <a:gd name="T72" fmla="*/ 77 w 364"/>
                <a:gd name="T73" fmla="*/ 317 h 346"/>
                <a:gd name="T74" fmla="*/ 16 w 364"/>
                <a:gd name="T75" fmla="*/ 334 h 346"/>
                <a:gd name="T76" fmla="*/ 14 w 364"/>
                <a:gd name="T77" fmla="*/ 315 h 346"/>
                <a:gd name="T78" fmla="*/ 64 w 364"/>
                <a:gd name="T79" fmla="*/ 284 h 346"/>
                <a:gd name="T80" fmla="*/ 72 w 364"/>
                <a:gd name="T81" fmla="*/ 237 h 346"/>
                <a:gd name="T82" fmla="*/ 46 w 364"/>
                <a:gd name="T83" fmla="*/ 233 h 346"/>
                <a:gd name="T84" fmla="*/ 16 w 364"/>
                <a:gd name="T85" fmla="*/ 252 h 346"/>
                <a:gd name="T86" fmla="*/ 0 w 364"/>
                <a:gd name="T87" fmla="*/ 250 h 346"/>
                <a:gd name="T88" fmla="*/ 3 w 364"/>
                <a:gd name="T89" fmla="*/ 234 h 346"/>
                <a:gd name="T90" fmla="*/ 10 w 364"/>
                <a:gd name="T91" fmla="*/ 227 h 346"/>
                <a:gd name="T92" fmla="*/ 68 w 364"/>
                <a:gd name="T93" fmla="*/ 168 h 346"/>
                <a:gd name="T94" fmla="*/ 80 w 364"/>
                <a:gd name="T95" fmla="*/ 151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64" h="346">
                  <a:moveTo>
                    <a:pt x="80" y="151"/>
                  </a:moveTo>
                  <a:cubicBezTo>
                    <a:pt x="92" y="203"/>
                    <a:pt x="125" y="230"/>
                    <a:pt x="165" y="250"/>
                  </a:cubicBezTo>
                  <a:cubicBezTo>
                    <a:pt x="190" y="262"/>
                    <a:pt x="217" y="268"/>
                    <a:pt x="245" y="256"/>
                  </a:cubicBezTo>
                  <a:cubicBezTo>
                    <a:pt x="264" y="247"/>
                    <a:pt x="274" y="229"/>
                    <a:pt x="267" y="211"/>
                  </a:cubicBezTo>
                  <a:cubicBezTo>
                    <a:pt x="265" y="206"/>
                    <a:pt x="255" y="203"/>
                    <a:pt x="249" y="203"/>
                  </a:cubicBezTo>
                  <a:cubicBezTo>
                    <a:pt x="210" y="200"/>
                    <a:pt x="171" y="194"/>
                    <a:pt x="139" y="170"/>
                  </a:cubicBezTo>
                  <a:cubicBezTo>
                    <a:pt x="127" y="161"/>
                    <a:pt x="117" y="148"/>
                    <a:pt x="108" y="136"/>
                  </a:cubicBezTo>
                  <a:cubicBezTo>
                    <a:pt x="98" y="123"/>
                    <a:pt x="105" y="114"/>
                    <a:pt x="118" y="109"/>
                  </a:cubicBezTo>
                  <a:cubicBezTo>
                    <a:pt x="125" y="107"/>
                    <a:pt x="132" y="108"/>
                    <a:pt x="138" y="107"/>
                  </a:cubicBezTo>
                  <a:cubicBezTo>
                    <a:pt x="162" y="106"/>
                    <a:pt x="181" y="97"/>
                    <a:pt x="191" y="73"/>
                  </a:cubicBezTo>
                  <a:cubicBezTo>
                    <a:pt x="202" y="49"/>
                    <a:pt x="214" y="26"/>
                    <a:pt x="241" y="6"/>
                  </a:cubicBezTo>
                  <a:cubicBezTo>
                    <a:pt x="242" y="19"/>
                    <a:pt x="245" y="27"/>
                    <a:pt x="243" y="35"/>
                  </a:cubicBezTo>
                  <a:cubicBezTo>
                    <a:pt x="236" y="66"/>
                    <a:pt x="218" y="91"/>
                    <a:pt x="191" y="109"/>
                  </a:cubicBezTo>
                  <a:cubicBezTo>
                    <a:pt x="184" y="114"/>
                    <a:pt x="177" y="119"/>
                    <a:pt x="170" y="124"/>
                  </a:cubicBezTo>
                  <a:cubicBezTo>
                    <a:pt x="181" y="141"/>
                    <a:pt x="193" y="144"/>
                    <a:pt x="209" y="135"/>
                  </a:cubicBezTo>
                  <a:cubicBezTo>
                    <a:pt x="239" y="119"/>
                    <a:pt x="250" y="90"/>
                    <a:pt x="259" y="59"/>
                  </a:cubicBezTo>
                  <a:cubicBezTo>
                    <a:pt x="262" y="49"/>
                    <a:pt x="264" y="39"/>
                    <a:pt x="268" y="29"/>
                  </a:cubicBezTo>
                  <a:cubicBezTo>
                    <a:pt x="274" y="16"/>
                    <a:pt x="282" y="5"/>
                    <a:pt x="306" y="9"/>
                  </a:cubicBezTo>
                  <a:cubicBezTo>
                    <a:pt x="302" y="26"/>
                    <a:pt x="302" y="44"/>
                    <a:pt x="295" y="59"/>
                  </a:cubicBezTo>
                  <a:cubicBezTo>
                    <a:pt x="284" y="85"/>
                    <a:pt x="267" y="109"/>
                    <a:pt x="255" y="134"/>
                  </a:cubicBezTo>
                  <a:cubicBezTo>
                    <a:pt x="251" y="142"/>
                    <a:pt x="252" y="153"/>
                    <a:pt x="251" y="162"/>
                  </a:cubicBezTo>
                  <a:cubicBezTo>
                    <a:pt x="262" y="159"/>
                    <a:pt x="275" y="160"/>
                    <a:pt x="283" y="153"/>
                  </a:cubicBezTo>
                  <a:cubicBezTo>
                    <a:pt x="309" y="129"/>
                    <a:pt x="317" y="96"/>
                    <a:pt x="319" y="61"/>
                  </a:cubicBezTo>
                  <a:cubicBezTo>
                    <a:pt x="320" y="46"/>
                    <a:pt x="321" y="30"/>
                    <a:pt x="323" y="14"/>
                  </a:cubicBezTo>
                  <a:cubicBezTo>
                    <a:pt x="324" y="9"/>
                    <a:pt x="331" y="0"/>
                    <a:pt x="335" y="0"/>
                  </a:cubicBezTo>
                  <a:cubicBezTo>
                    <a:pt x="343" y="0"/>
                    <a:pt x="354" y="4"/>
                    <a:pt x="357" y="9"/>
                  </a:cubicBezTo>
                  <a:cubicBezTo>
                    <a:pt x="362" y="21"/>
                    <a:pt x="364" y="36"/>
                    <a:pt x="364" y="49"/>
                  </a:cubicBezTo>
                  <a:cubicBezTo>
                    <a:pt x="364" y="96"/>
                    <a:pt x="346" y="136"/>
                    <a:pt x="318" y="173"/>
                  </a:cubicBezTo>
                  <a:cubicBezTo>
                    <a:pt x="304" y="193"/>
                    <a:pt x="309" y="240"/>
                    <a:pt x="326" y="257"/>
                  </a:cubicBezTo>
                  <a:cubicBezTo>
                    <a:pt x="339" y="269"/>
                    <a:pt x="335" y="286"/>
                    <a:pt x="317" y="289"/>
                  </a:cubicBezTo>
                  <a:cubicBezTo>
                    <a:pt x="300" y="293"/>
                    <a:pt x="283" y="294"/>
                    <a:pt x="266" y="292"/>
                  </a:cubicBezTo>
                  <a:cubicBezTo>
                    <a:pt x="236" y="288"/>
                    <a:pt x="232" y="291"/>
                    <a:pt x="221" y="319"/>
                  </a:cubicBezTo>
                  <a:cubicBezTo>
                    <a:pt x="217" y="329"/>
                    <a:pt x="202" y="337"/>
                    <a:pt x="190" y="342"/>
                  </a:cubicBezTo>
                  <a:cubicBezTo>
                    <a:pt x="178" y="346"/>
                    <a:pt x="169" y="337"/>
                    <a:pt x="165" y="325"/>
                  </a:cubicBezTo>
                  <a:cubicBezTo>
                    <a:pt x="161" y="315"/>
                    <a:pt x="157" y="306"/>
                    <a:pt x="152" y="298"/>
                  </a:cubicBezTo>
                  <a:cubicBezTo>
                    <a:pt x="137" y="278"/>
                    <a:pt x="114" y="277"/>
                    <a:pt x="97" y="295"/>
                  </a:cubicBezTo>
                  <a:cubicBezTo>
                    <a:pt x="90" y="302"/>
                    <a:pt x="83" y="309"/>
                    <a:pt x="77" y="317"/>
                  </a:cubicBezTo>
                  <a:cubicBezTo>
                    <a:pt x="60" y="335"/>
                    <a:pt x="38" y="337"/>
                    <a:pt x="16" y="334"/>
                  </a:cubicBezTo>
                  <a:cubicBezTo>
                    <a:pt x="2" y="332"/>
                    <a:pt x="6" y="321"/>
                    <a:pt x="14" y="315"/>
                  </a:cubicBezTo>
                  <a:cubicBezTo>
                    <a:pt x="30" y="304"/>
                    <a:pt x="47" y="294"/>
                    <a:pt x="64" y="284"/>
                  </a:cubicBezTo>
                  <a:cubicBezTo>
                    <a:pt x="85" y="272"/>
                    <a:pt x="88" y="256"/>
                    <a:pt x="72" y="237"/>
                  </a:cubicBezTo>
                  <a:cubicBezTo>
                    <a:pt x="64" y="228"/>
                    <a:pt x="56" y="227"/>
                    <a:pt x="46" y="233"/>
                  </a:cubicBezTo>
                  <a:cubicBezTo>
                    <a:pt x="36" y="240"/>
                    <a:pt x="27" y="247"/>
                    <a:pt x="16" y="252"/>
                  </a:cubicBezTo>
                  <a:cubicBezTo>
                    <a:pt x="12" y="254"/>
                    <a:pt x="6" y="251"/>
                    <a:pt x="0" y="250"/>
                  </a:cubicBezTo>
                  <a:cubicBezTo>
                    <a:pt x="1" y="245"/>
                    <a:pt x="1" y="239"/>
                    <a:pt x="3" y="234"/>
                  </a:cubicBezTo>
                  <a:cubicBezTo>
                    <a:pt x="4" y="231"/>
                    <a:pt x="8" y="230"/>
                    <a:pt x="10" y="227"/>
                  </a:cubicBezTo>
                  <a:cubicBezTo>
                    <a:pt x="30" y="208"/>
                    <a:pt x="49" y="188"/>
                    <a:pt x="68" y="168"/>
                  </a:cubicBezTo>
                  <a:cubicBezTo>
                    <a:pt x="71" y="164"/>
                    <a:pt x="74" y="160"/>
                    <a:pt x="80" y="15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9" name="Freeform 10"/>
            <p:cNvSpPr/>
            <p:nvPr/>
          </p:nvSpPr>
          <p:spPr bwMode="auto">
            <a:xfrm>
              <a:off x="1949281" y="1249141"/>
              <a:ext cx="74359" cy="268979"/>
            </a:xfrm>
            <a:custGeom>
              <a:avLst/>
              <a:gdLst>
                <a:gd name="T0" fmla="*/ 91 w 91"/>
                <a:gd name="T1" fmla="*/ 1 h 328"/>
                <a:gd name="T2" fmla="*/ 91 w 91"/>
                <a:gd name="T3" fmla="*/ 103 h 328"/>
                <a:gd name="T4" fmla="*/ 73 w 91"/>
                <a:gd name="T5" fmla="*/ 147 h 328"/>
                <a:gd name="T6" fmla="*/ 52 w 91"/>
                <a:gd name="T7" fmla="*/ 239 h 328"/>
                <a:gd name="T8" fmla="*/ 73 w 91"/>
                <a:gd name="T9" fmla="*/ 304 h 328"/>
                <a:gd name="T10" fmla="*/ 76 w 91"/>
                <a:gd name="T11" fmla="*/ 327 h 328"/>
                <a:gd name="T12" fmla="*/ 25 w 91"/>
                <a:gd name="T13" fmla="*/ 326 h 328"/>
                <a:gd name="T14" fmla="*/ 3 w 91"/>
                <a:gd name="T15" fmla="*/ 299 h 328"/>
                <a:gd name="T16" fmla="*/ 13 w 91"/>
                <a:gd name="T17" fmla="*/ 179 h 328"/>
                <a:gd name="T18" fmla="*/ 36 w 91"/>
                <a:gd name="T19" fmla="*/ 143 h 328"/>
                <a:gd name="T20" fmla="*/ 55 w 91"/>
                <a:gd name="T21" fmla="*/ 57 h 328"/>
                <a:gd name="T22" fmla="*/ 42 w 91"/>
                <a:gd name="T23" fmla="*/ 48 h 328"/>
                <a:gd name="T24" fmla="*/ 13 w 91"/>
                <a:gd name="T25" fmla="*/ 44 h 328"/>
                <a:gd name="T26" fmla="*/ 0 w 91"/>
                <a:gd name="T27" fmla="*/ 33 h 328"/>
                <a:gd name="T28" fmla="*/ 9 w 91"/>
                <a:gd name="T29" fmla="*/ 18 h 328"/>
                <a:gd name="T30" fmla="*/ 79 w 91"/>
                <a:gd name="T31" fmla="*/ 0 h 328"/>
                <a:gd name="T32" fmla="*/ 91 w 91"/>
                <a:gd name="T33" fmla="*/ 1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1" h="328">
                  <a:moveTo>
                    <a:pt x="91" y="1"/>
                  </a:moveTo>
                  <a:cubicBezTo>
                    <a:pt x="91" y="37"/>
                    <a:pt x="90" y="70"/>
                    <a:pt x="91" y="103"/>
                  </a:cubicBezTo>
                  <a:cubicBezTo>
                    <a:pt x="91" y="120"/>
                    <a:pt x="88" y="136"/>
                    <a:pt x="73" y="147"/>
                  </a:cubicBezTo>
                  <a:cubicBezTo>
                    <a:pt x="43" y="172"/>
                    <a:pt x="44" y="205"/>
                    <a:pt x="52" y="239"/>
                  </a:cubicBezTo>
                  <a:cubicBezTo>
                    <a:pt x="57" y="261"/>
                    <a:pt x="66" y="282"/>
                    <a:pt x="73" y="304"/>
                  </a:cubicBezTo>
                  <a:cubicBezTo>
                    <a:pt x="75" y="311"/>
                    <a:pt x="75" y="318"/>
                    <a:pt x="76" y="327"/>
                  </a:cubicBezTo>
                  <a:cubicBezTo>
                    <a:pt x="57" y="327"/>
                    <a:pt x="41" y="328"/>
                    <a:pt x="25" y="326"/>
                  </a:cubicBezTo>
                  <a:cubicBezTo>
                    <a:pt x="10" y="325"/>
                    <a:pt x="2" y="317"/>
                    <a:pt x="3" y="299"/>
                  </a:cubicBezTo>
                  <a:cubicBezTo>
                    <a:pt x="7" y="259"/>
                    <a:pt x="7" y="219"/>
                    <a:pt x="13" y="179"/>
                  </a:cubicBezTo>
                  <a:cubicBezTo>
                    <a:pt x="15" y="166"/>
                    <a:pt x="26" y="153"/>
                    <a:pt x="36" y="143"/>
                  </a:cubicBezTo>
                  <a:cubicBezTo>
                    <a:pt x="60" y="118"/>
                    <a:pt x="58" y="88"/>
                    <a:pt x="55" y="57"/>
                  </a:cubicBezTo>
                  <a:cubicBezTo>
                    <a:pt x="55" y="54"/>
                    <a:pt x="47" y="49"/>
                    <a:pt x="42" y="48"/>
                  </a:cubicBezTo>
                  <a:cubicBezTo>
                    <a:pt x="33" y="46"/>
                    <a:pt x="22" y="46"/>
                    <a:pt x="13" y="44"/>
                  </a:cubicBezTo>
                  <a:cubicBezTo>
                    <a:pt x="8" y="42"/>
                    <a:pt x="1" y="37"/>
                    <a:pt x="0" y="33"/>
                  </a:cubicBezTo>
                  <a:cubicBezTo>
                    <a:pt x="0" y="28"/>
                    <a:pt x="5" y="19"/>
                    <a:pt x="9" y="18"/>
                  </a:cubicBezTo>
                  <a:cubicBezTo>
                    <a:pt x="32" y="11"/>
                    <a:pt x="56" y="6"/>
                    <a:pt x="79" y="0"/>
                  </a:cubicBezTo>
                  <a:cubicBezTo>
                    <a:pt x="82" y="0"/>
                    <a:pt x="86" y="1"/>
                    <a:pt x="9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0" name="Freeform 11"/>
            <p:cNvSpPr/>
            <p:nvPr/>
          </p:nvSpPr>
          <p:spPr bwMode="auto">
            <a:xfrm>
              <a:off x="2041695" y="922326"/>
              <a:ext cx="153921" cy="155757"/>
            </a:xfrm>
            <a:custGeom>
              <a:avLst/>
              <a:gdLst>
                <a:gd name="T0" fmla="*/ 6 w 188"/>
                <a:gd name="T1" fmla="*/ 14 h 190"/>
                <a:gd name="T2" fmla="*/ 63 w 188"/>
                <a:gd name="T3" fmla="*/ 21 h 190"/>
                <a:gd name="T4" fmla="*/ 142 w 188"/>
                <a:gd name="T5" fmla="*/ 37 h 190"/>
                <a:gd name="T6" fmla="*/ 174 w 188"/>
                <a:gd name="T7" fmla="*/ 16 h 190"/>
                <a:gd name="T8" fmla="*/ 182 w 188"/>
                <a:gd name="T9" fmla="*/ 40 h 190"/>
                <a:gd name="T10" fmla="*/ 120 w 188"/>
                <a:gd name="T11" fmla="*/ 79 h 190"/>
                <a:gd name="T12" fmla="*/ 81 w 188"/>
                <a:gd name="T13" fmla="*/ 109 h 190"/>
                <a:gd name="T14" fmla="*/ 45 w 188"/>
                <a:gd name="T15" fmla="*/ 169 h 190"/>
                <a:gd name="T16" fmla="*/ 12 w 188"/>
                <a:gd name="T17" fmla="*/ 174 h 190"/>
                <a:gd name="T18" fmla="*/ 18 w 188"/>
                <a:gd name="T19" fmla="*/ 140 h 190"/>
                <a:gd name="T20" fmla="*/ 39 w 188"/>
                <a:gd name="T21" fmla="*/ 118 h 190"/>
                <a:gd name="T22" fmla="*/ 41 w 188"/>
                <a:gd name="T23" fmla="*/ 56 h 190"/>
                <a:gd name="T24" fmla="*/ 6 w 188"/>
                <a:gd name="T25" fmla="*/ 14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90">
                  <a:moveTo>
                    <a:pt x="6" y="14"/>
                  </a:moveTo>
                  <a:cubicBezTo>
                    <a:pt x="29" y="0"/>
                    <a:pt x="50" y="4"/>
                    <a:pt x="63" y="21"/>
                  </a:cubicBezTo>
                  <a:cubicBezTo>
                    <a:pt x="87" y="55"/>
                    <a:pt x="107" y="59"/>
                    <a:pt x="142" y="37"/>
                  </a:cubicBezTo>
                  <a:cubicBezTo>
                    <a:pt x="153" y="31"/>
                    <a:pt x="163" y="23"/>
                    <a:pt x="174" y="16"/>
                  </a:cubicBezTo>
                  <a:cubicBezTo>
                    <a:pt x="187" y="21"/>
                    <a:pt x="188" y="29"/>
                    <a:pt x="182" y="40"/>
                  </a:cubicBezTo>
                  <a:cubicBezTo>
                    <a:pt x="168" y="64"/>
                    <a:pt x="147" y="78"/>
                    <a:pt x="120" y="79"/>
                  </a:cubicBezTo>
                  <a:cubicBezTo>
                    <a:pt x="99" y="79"/>
                    <a:pt x="89" y="88"/>
                    <a:pt x="81" y="109"/>
                  </a:cubicBezTo>
                  <a:cubicBezTo>
                    <a:pt x="74" y="131"/>
                    <a:pt x="59" y="150"/>
                    <a:pt x="45" y="169"/>
                  </a:cubicBezTo>
                  <a:cubicBezTo>
                    <a:pt x="38" y="178"/>
                    <a:pt x="25" y="190"/>
                    <a:pt x="12" y="174"/>
                  </a:cubicBezTo>
                  <a:cubicBezTo>
                    <a:pt x="0" y="161"/>
                    <a:pt x="8" y="150"/>
                    <a:pt x="18" y="140"/>
                  </a:cubicBezTo>
                  <a:cubicBezTo>
                    <a:pt x="26" y="133"/>
                    <a:pt x="33" y="126"/>
                    <a:pt x="39" y="118"/>
                  </a:cubicBezTo>
                  <a:cubicBezTo>
                    <a:pt x="58" y="94"/>
                    <a:pt x="59" y="81"/>
                    <a:pt x="41" y="56"/>
                  </a:cubicBezTo>
                  <a:cubicBezTo>
                    <a:pt x="31" y="41"/>
                    <a:pt x="18" y="29"/>
                    <a:pt x="6"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81" name="标题 1"/>
          <p:cNvSpPr>
            <a:spLocks noGrp="1"/>
          </p:cNvSpPr>
          <p:nvPr>
            <p:ph type="title"/>
          </p:nvPr>
        </p:nvSpPr>
        <p:spPr>
          <a:xfrm>
            <a:off x="1768024" y="209027"/>
            <a:ext cx="8655953" cy="601075"/>
          </a:xfrm>
          <a:prstGeom prst="rect">
            <a:avLst/>
          </a:prstGeom>
        </p:spPr>
        <p:txBody>
          <a:bodyPr lIns="0" rIns="0" anchor="ctr">
            <a:normAutofit/>
          </a:bodyPr>
          <a:lstStyle>
            <a:lvl1pPr algn="ctr">
              <a:defRPr sz="3200" b="1">
                <a:latin typeface="方正粗雅宋简体" panose="02000000000000000000" pitchFamily="2" charset="-122"/>
                <a:ea typeface="方正粗雅宋简体" panose="02000000000000000000" pitchFamily="2" charset="-122"/>
              </a:defRPr>
            </a:lvl1pPr>
          </a:lstStyle>
          <a:p>
            <a:r>
              <a:rPr lang="zh-CN" altLang="en-US" dirty="0"/>
              <a:t>单击此处编辑母版标题样式</a:t>
            </a:r>
          </a:p>
        </p:txBody>
      </p:sp>
      <p:cxnSp>
        <p:nvCxnSpPr>
          <p:cNvPr id="84" name="直接连接符 83" hidden="1"/>
          <p:cNvCxnSpPr/>
          <p:nvPr userDrawn="1"/>
        </p:nvCxnSpPr>
        <p:spPr>
          <a:xfrm rot="5400000">
            <a:off x="702289" y="507839"/>
            <a:ext cx="404450"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5" name="矩形 84" hidden="1"/>
          <p:cNvSpPr/>
          <p:nvPr userDrawn="1"/>
        </p:nvSpPr>
        <p:spPr>
          <a:xfrm>
            <a:off x="869887" y="-22274"/>
            <a:ext cx="236852" cy="808281"/>
          </a:xfrm>
          <a:prstGeom prst="rect">
            <a:avLst/>
          </a:prstGeom>
          <a:solidFill>
            <a:srgbClr val="0442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文本占位符 87"/>
          <p:cNvSpPr>
            <a:spLocks noGrp="1"/>
          </p:cNvSpPr>
          <p:nvPr>
            <p:ph type="body" sz="quarter" idx="13"/>
          </p:nvPr>
        </p:nvSpPr>
        <p:spPr>
          <a:xfrm>
            <a:off x="3588785" y="827088"/>
            <a:ext cx="5014430" cy="601662"/>
          </a:xfrm>
          <a:prstGeom prst="rect">
            <a:avLst/>
          </a:prstGeom>
        </p:spPr>
        <p:txBody>
          <a:bodyPr/>
          <a:lstStyle>
            <a:lvl1pPr marL="0" indent="0" algn="ctr">
              <a:buNone/>
              <a:defRPr sz="1800" b="1">
                <a:solidFill>
                  <a:schemeClr val="tx2"/>
                </a:solidFill>
                <a:latin typeface="方正准雅宋简体" panose="02000000000000000000" pitchFamily="2" charset="-122"/>
                <a:ea typeface="方正准雅宋简体" panose="02000000000000000000"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单击此处编辑母版文本样式</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10" name="副标题 2"/>
          <p:cNvSpPr txBox="1"/>
          <p:nvPr userDrawn="1"/>
        </p:nvSpPr>
        <p:spPr>
          <a:xfrm>
            <a:off x="1515340" y="4747371"/>
            <a:ext cx="2812728" cy="617036"/>
          </a:xfrm>
          <a:prstGeom prst="rect">
            <a:avLst/>
          </a:prstGeom>
          <a:solidFill>
            <a:srgbClr val="04428A"/>
          </a:solidFill>
        </p:spPr>
        <p:txBody>
          <a:bodyPr vert="horz" lIns="0" tIns="45720" rIns="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zh-CN" altLang="en-US" sz="2000" b="1" dirty="0">
              <a:solidFill>
                <a:schemeClr val="bg1"/>
              </a:solidFill>
              <a:latin typeface="+mj-ea"/>
              <a:ea typeface="+mj-ea"/>
            </a:endParaRPr>
          </a:p>
        </p:txBody>
      </p:sp>
      <p:sp>
        <p:nvSpPr>
          <p:cNvPr id="81" name="副标题 2"/>
          <p:cNvSpPr txBox="1"/>
          <p:nvPr userDrawn="1"/>
        </p:nvSpPr>
        <p:spPr>
          <a:xfrm>
            <a:off x="1515340" y="3841753"/>
            <a:ext cx="3225354" cy="617036"/>
          </a:xfrm>
          <a:prstGeom prst="rect">
            <a:avLst/>
          </a:prstGeom>
        </p:spPr>
        <p:txBody>
          <a:bodyPr vert="horz" lIns="0" tIns="45720" rIns="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rgbClr val="04428A"/>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altLang="zh-CN" sz="1400" b="1" kern="1200" dirty="0">
                <a:solidFill>
                  <a:schemeClr val="tx1">
                    <a:lumMod val="75000"/>
                    <a:lumOff val="25000"/>
                  </a:schemeClr>
                </a:solidFill>
                <a:effectLst/>
                <a:latin typeface="+mn-lt"/>
                <a:ea typeface="+mn-ea"/>
                <a:cs typeface="+mn-cs"/>
              </a:rPr>
              <a:t>This Paper is On the Guidance and Mentor XXX support</a:t>
            </a:r>
            <a:endParaRPr lang="zh-CN" altLang="zh-CN" sz="1400" b="1" kern="1200" dirty="0">
              <a:solidFill>
                <a:schemeClr val="tx1">
                  <a:lumMod val="75000"/>
                  <a:lumOff val="25000"/>
                </a:schemeClr>
              </a:solidFill>
              <a:effectLst/>
              <a:latin typeface="+mn-lt"/>
              <a:ea typeface="+mn-ea"/>
              <a:cs typeface="+mn-cs"/>
            </a:endParaRPr>
          </a:p>
        </p:txBody>
      </p:sp>
      <p:sp>
        <p:nvSpPr>
          <p:cNvPr id="85" name="文本占位符 84"/>
          <p:cNvSpPr>
            <a:spLocks noGrp="1"/>
          </p:cNvSpPr>
          <p:nvPr>
            <p:ph type="body" sz="quarter" idx="14" hasCustomPrompt="1"/>
          </p:nvPr>
        </p:nvSpPr>
        <p:spPr>
          <a:xfrm>
            <a:off x="1515340" y="4747371"/>
            <a:ext cx="2743200" cy="617537"/>
          </a:xfrm>
          <a:prstGeom prst="rect">
            <a:avLst/>
          </a:prstGeom>
        </p:spPr>
        <p:txBody>
          <a:bodyPr anchor="ctr"/>
          <a:lstStyle>
            <a:lvl1pPr marL="0" indent="0" algn="l">
              <a:buNone/>
              <a:defRPr b="1">
                <a:solidFill>
                  <a:schemeClr val="bg1"/>
                </a:solidFill>
                <a:latin typeface="+mj-ea"/>
                <a:ea typeface="+mj-ea"/>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答辩人信息</a:t>
            </a:r>
          </a:p>
        </p:txBody>
      </p:sp>
      <p:grpSp>
        <p:nvGrpSpPr>
          <p:cNvPr id="87" name="Group 74"/>
          <p:cNvGrpSpPr>
            <a:grpSpLocks noChangeAspect="1"/>
          </p:cNvGrpSpPr>
          <p:nvPr userDrawn="1"/>
        </p:nvGrpSpPr>
        <p:grpSpPr bwMode="auto">
          <a:xfrm>
            <a:off x="1511922" y="1044653"/>
            <a:ext cx="2014537" cy="560387"/>
            <a:chOff x="954" y="660"/>
            <a:chExt cx="1269" cy="353"/>
          </a:xfrm>
        </p:grpSpPr>
        <p:sp>
          <p:nvSpPr>
            <p:cNvPr id="89" name="Freeform 75"/>
            <p:cNvSpPr/>
            <p:nvPr userDrawn="1"/>
          </p:nvSpPr>
          <p:spPr bwMode="auto">
            <a:xfrm>
              <a:off x="1968" y="833"/>
              <a:ext cx="45" cy="46"/>
            </a:xfrm>
            <a:custGeom>
              <a:avLst/>
              <a:gdLst>
                <a:gd name="T0" fmla="*/ 10 w 36"/>
                <a:gd name="T1" fmla="*/ 35 h 37"/>
                <a:gd name="T2" fmla="*/ 6 w 36"/>
                <a:gd name="T3" fmla="*/ 25 h 37"/>
                <a:gd name="T4" fmla="*/ 0 w 36"/>
                <a:gd name="T5" fmla="*/ 11 h 37"/>
                <a:gd name="T6" fmla="*/ 23 w 36"/>
                <a:gd name="T7" fmla="*/ 4 h 37"/>
                <a:gd name="T8" fmla="*/ 28 w 36"/>
                <a:gd name="T9" fmla="*/ 9 h 37"/>
                <a:gd name="T10" fmla="*/ 30 w 36"/>
                <a:gd name="T11" fmla="*/ 29 h 37"/>
                <a:gd name="T12" fmla="*/ 10 w 36"/>
                <a:gd name="T13" fmla="*/ 35 h 37"/>
              </a:gdLst>
              <a:ahLst/>
              <a:cxnLst>
                <a:cxn ang="0">
                  <a:pos x="T0" y="T1"/>
                </a:cxn>
                <a:cxn ang="0">
                  <a:pos x="T2" y="T3"/>
                </a:cxn>
                <a:cxn ang="0">
                  <a:pos x="T4" y="T5"/>
                </a:cxn>
                <a:cxn ang="0">
                  <a:pos x="T6" y="T7"/>
                </a:cxn>
                <a:cxn ang="0">
                  <a:pos x="T8" y="T9"/>
                </a:cxn>
                <a:cxn ang="0">
                  <a:pos x="T10" y="T11"/>
                </a:cxn>
                <a:cxn ang="0">
                  <a:pos x="T12" y="T13"/>
                </a:cxn>
              </a:cxnLst>
              <a:rect l="0" t="0" r="r" b="b"/>
              <a:pathLst>
                <a:path w="36" h="37">
                  <a:moveTo>
                    <a:pt x="10" y="35"/>
                  </a:moveTo>
                  <a:cubicBezTo>
                    <a:pt x="3" y="34"/>
                    <a:pt x="7" y="31"/>
                    <a:pt x="6" y="25"/>
                  </a:cubicBezTo>
                  <a:cubicBezTo>
                    <a:pt x="5" y="20"/>
                    <a:pt x="0" y="14"/>
                    <a:pt x="0" y="11"/>
                  </a:cubicBezTo>
                  <a:cubicBezTo>
                    <a:pt x="1" y="0"/>
                    <a:pt x="15" y="0"/>
                    <a:pt x="23" y="4"/>
                  </a:cubicBezTo>
                  <a:cubicBezTo>
                    <a:pt x="25" y="4"/>
                    <a:pt x="26" y="7"/>
                    <a:pt x="28" y="9"/>
                  </a:cubicBezTo>
                  <a:cubicBezTo>
                    <a:pt x="32" y="14"/>
                    <a:pt x="36" y="23"/>
                    <a:pt x="30" y="29"/>
                  </a:cubicBezTo>
                  <a:cubicBezTo>
                    <a:pt x="25" y="34"/>
                    <a:pt x="17" y="37"/>
                    <a:pt x="10" y="35"/>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0" name="Freeform 76"/>
            <p:cNvSpPr/>
            <p:nvPr userDrawn="1"/>
          </p:nvSpPr>
          <p:spPr bwMode="auto">
            <a:xfrm>
              <a:off x="1837" y="698"/>
              <a:ext cx="160" cy="165"/>
            </a:xfrm>
            <a:custGeom>
              <a:avLst/>
              <a:gdLst>
                <a:gd name="T0" fmla="*/ 33 w 129"/>
                <a:gd name="T1" fmla="*/ 133 h 133"/>
                <a:gd name="T2" fmla="*/ 32 w 129"/>
                <a:gd name="T3" fmla="*/ 133 h 133"/>
                <a:gd name="T4" fmla="*/ 33 w 129"/>
                <a:gd name="T5" fmla="*/ 130 h 133"/>
                <a:gd name="T6" fmla="*/ 55 w 129"/>
                <a:gd name="T7" fmla="*/ 116 h 133"/>
                <a:gd name="T8" fmla="*/ 67 w 129"/>
                <a:gd name="T9" fmla="*/ 99 h 133"/>
                <a:gd name="T10" fmla="*/ 25 w 129"/>
                <a:gd name="T11" fmla="*/ 115 h 133"/>
                <a:gd name="T12" fmla="*/ 8 w 129"/>
                <a:gd name="T13" fmla="*/ 108 h 133"/>
                <a:gd name="T14" fmla="*/ 8 w 129"/>
                <a:gd name="T15" fmla="*/ 107 h 133"/>
                <a:gd name="T16" fmla="*/ 8 w 129"/>
                <a:gd name="T17" fmla="*/ 92 h 133"/>
                <a:gd name="T18" fmla="*/ 60 w 129"/>
                <a:gd name="T19" fmla="*/ 80 h 133"/>
                <a:gd name="T20" fmla="*/ 75 w 129"/>
                <a:gd name="T21" fmla="*/ 72 h 133"/>
                <a:gd name="T22" fmla="*/ 77 w 129"/>
                <a:gd name="T23" fmla="*/ 14 h 133"/>
                <a:gd name="T24" fmla="*/ 99 w 129"/>
                <a:gd name="T25" fmla="*/ 16 h 133"/>
                <a:gd name="T26" fmla="*/ 103 w 129"/>
                <a:gd name="T27" fmla="*/ 21 h 133"/>
                <a:gd name="T28" fmla="*/ 104 w 129"/>
                <a:gd name="T29" fmla="*/ 21 h 133"/>
                <a:gd name="T30" fmla="*/ 103 w 129"/>
                <a:gd name="T31" fmla="*/ 35 h 133"/>
                <a:gd name="T32" fmla="*/ 98 w 129"/>
                <a:gd name="T33" fmla="*/ 65 h 133"/>
                <a:gd name="T34" fmla="*/ 126 w 129"/>
                <a:gd name="T35" fmla="*/ 54 h 133"/>
                <a:gd name="T36" fmla="*/ 123 w 129"/>
                <a:gd name="T37" fmla="*/ 69 h 133"/>
                <a:gd name="T38" fmla="*/ 95 w 129"/>
                <a:gd name="T39" fmla="*/ 81 h 133"/>
                <a:gd name="T40" fmla="*/ 82 w 129"/>
                <a:gd name="T41" fmla="*/ 111 h 133"/>
                <a:gd name="T42" fmla="*/ 75 w 129"/>
                <a:gd name="T43" fmla="*/ 118 h 133"/>
                <a:gd name="T44" fmla="*/ 56 w 129"/>
                <a:gd name="T45" fmla="*/ 128 h 133"/>
                <a:gd name="T46" fmla="*/ 33 w 129"/>
                <a:gd name="T47" fmla="*/ 13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9" h="133">
                  <a:moveTo>
                    <a:pt x="33" y="133"/>
                  </a:moveTo>
                  <a:cubicBezTo>
                    <a:pt x="33" y="133"/>
                    <a:pt x="33" y="133"/>
                    <a:pt x="32" y="133"/>
                  </a:cubicBezTo>
                  <a:cubicBezTo>
                    <a:pt x="32" y="132"/>
                    <a:pt x="32" y="131"/>
                    <a:pt x="33" y="130"/>
                  </a:cubicBezTo>
                  <a:cubicBezTo>
                    <a:pt x="35" y="130"/>
                    <a:pt x="55" y="117"/>
                    <a:pt x="55" y="116"/>
                  </a:cubicBezTo>
                  <a:cubicBezTo>
                    <a:pt x="60" y="111"/>
                    <a:pt x="66" y="106"/>
                    <a:pt x="67" y="99"/>
                  </a:cubicBezTo>
                  <a:cubicBezTo>
                    <a:pt x="53" y="104"/>
                    <a:pt x="40" y="114"/>
                    <a:pt x="25" y="115"/>
                  </a:cubicBezTo>
                  <a:cubicBezTo>
                    <a:pt x="18" y="113"/>
                    <a:pt x="13" y="110"/>
                    <a:pt x="8" y="108"/>
                  </a:cubicBezTo>
                  <a:cubicBezTo>
                    <a:pt x="8" y="107"/>
                    <a:pt x="8" y="107"/>
                    <a:pt x="8" y="107"/>
                  </a:cubicBezTo>
                  <a:cubicBezTo>
                    <a:pt x="1" y="102"/>
                    <a:pt x="0" y="95"/>
                    <a:pt x="8" y="92"/>
                  </a:cubicBezTo>
                  <a:cubicBezTo>
                    <a:pt x="23" y="96"/>
                    <a:pt x="46" y="85"/>
                    <a:pt x="60" y="80"/>
                  </a:cubicBezTo>
                  <a:cubicBezTo>
                    <a:pt x="63" y="78"/>
                    <a:pt x="72" y="75"/>
                    <a:pt x="75" y="72"/>
                  </a:cubicBezTo>
                  <a:cubicBezTo>
                    <a:pt x="78" y="52"/>
                    <a:pt x="76" y="33"/>
                    <a:pt x="77" y="14"/>
                  </a:cubicBezTo>
                  <a:cubicBezTo>
                    <a:pt x="82" y="0"/>
                    <a:pt x="90" y="10"/>
                    <a:pt x="99" y="16"/>
                  </a:cubicBezTo>
                  <a:cubicBezTo>
                    <a:pt x="99" y="18"/>
                    <a:pt x="101" y="19"/>
                    <a:pt x="103" y="21"/>
                  </a:cubicBezTo>
                  <a:cubicBezTo>
                    <a:pt x="103" y="21"/>
                    <a:pt x="103" y="21"/>
                    <a:pt x="104" y="21"/>
                  </a:cubicBezTo>
                  <a:cubicBezTo>
                    <a:pt x="107" y="27"/>
                    <a:pt x="108" y="30"/>
                    <a:pt x="103" y="35"/>
                  </a:cubicBezTo>
                  <a:cubicBezTo>
                    <a:pt x="99" y="44"/>
                    <a:pt x="97" y="54"/>
                    <a:pt x="98" y="65"/>
                  </a:cubicBezTo>
                  <a:cubicBezTo>
                    <a:pt x="108" y="63"/>
                    <a:pt x="114" y="55"/>
                    <a:pt x="126" y="54"/>
                  </a:cubicBezTo>
                  <a:cubicBezTo>
                    <a:pt x="129" y="60"/>
                    <a:pt x="128" y="65"/>
                    <a:pt x="123" y="69"/>
                  </a:cubicBezTo>
                  <a:cubicBezTo>
                    <a:pt x="114" y="73"/>
                    <a:pt x="105" y="77"/>
                    <a:pt x="95" y="81"/>
                  </a:cubicBezTo>
                  <a:cubicBezTo>
                    <a:pt x="93" y="91"/>
                    <a:pt x="89" y="103"/>
                    <a:pt x="82" y="111"/>
                  </a:cubicBezTo>
                  <a:cubicBezTo>
                    <a:pt x="81" y="113"/>
                    <a:pt x="76" y="117"/>
                    <a:pt x="75" y="118"/>
                  </a:cubicBezTo>
                  <a:cubicBezTo>
                    <a:pt x="69" y="122"/>
                    <a:pt x="63" y="126"/>
                    <a:pt x="56" y="128"/>
                  </a:cubicBezTo>
                  <a:cubicBezTo>
                    <a:pt x="37" y="133"/>
                    <a:pt x="37" y="133"/>
                    <a:pt x="33" y="133"/>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1" name="Freeform 77"/>
            <p:cNvSpPr/>
            <p:nvPr userDrawn="1"/>
          </p:nvSpPr>
          <p:spPr bwMode="auto">
            <a:xfrm>
              <a:off x="1630" y="796"/>
              <a:ext cx="94" cy="110"/>
            </a:xfrm>
            <a:custGeom>
              <a:avLst/>
              <a:gdLst>
                <a:gd name="T0" fmla="*/ 17 w 76"/>
                <a:gd name="T1" fmla="*/ 88 h 88"/>
                <a:gd name="T2" fmla="*/ 0 w 76"/>
                <a:gd name="T3" fmla="*/ 70 h 88"/>
                <a:gd name="T4" fmla="*/ 2 w 76"/>
                <a:gd name="T5" fmla="*/ 65 h 88"/>
                <a:gd name="T6" fmla="*/ 50 w 76"/>
                <a:gd name="T7" fmla="*/ 26 h 88"/>
                <a:gd name="T8" fmla="*/ 65 w 76"/>
                <a:gd name="T9" fmla="*/ 5 h 88"/>
                <a:gd name="T10" fmla="*/ 66 w 76"/>
                <a:gd name="T11" fmla="*/ 4 h 88"/>
                <a:gd name="T12" fmla="*/ 66 w 76"/>
                <a:gd name="T13" fmla="*/ 4 h 88"/>
                <a:gd name="T14" fmla="*/ 76 w 76"/>
                <a:gd name="T15" fmla="*/ 5 h 88"/>
                <a:gd name="T16" fmla="*/ 65 w 76"/>
                <a:gd name="T17" fmla="*/ 19 h 88"/>
                <a:gd name="T18" fmla="*/ 54 w 76"/>
                <a:gd name="T19" fmla="*/ 43 h 88"/>
                <a:gd name="T20" fmla="*/ 48 w 76"/>
                <a:gd name="T21" fmla="*/ 54 h 88"/>
                <a:gd name="T22" fmla="*/ 35 w 76"/>
                <a:gd name="T23" fmla="*/ 72 h 88"/>
                <a:gd name="T24" fmla="*/ 21 w 76"/>
                <a:gd name="T25" fmla="*/ 87 h 88"/>
                <a:gd name="T26" fmla="*/ 17 w 76"/>
                <a:gd name="T27"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 h="88">
                  <a:moveTo>
                    <a:pt x="17" y="88"/>
                  </a:moveTo>
                  <a:cubicBezTo>
                    <a:pt x="10" y="84"/>
                    <a:pt x="3" y="76"/>
                    <a:pt x="0" y="70"/>
                  </a:cubicBezTo>
                  <a:cubicBezTo>
                    <a:pt x="0" y="69"/>
                    <a:pt x="1" y="67"/>
                    <a:pt x="2" y="65"/>
                  </a:cubicBezTo>
                  <a:cubicBezTo>
                    <a:pt x="18" y="52"/>
                    <a:pt x="35" y="41"/>
                    <a:pt x="50" y="26"/>
                  </a:cubicBezTo>
                  <a:cubicBezTo>
                    <a:pt x="54" y="19"/>
                    <a:pt x="60" y="12"/>
                    <a:pt x="65" y="5"/>
                  </a:cubicBezTo>
                  <a:cubicBezTo>
                    <a:pt x="65" y="5"/>
                    <a:pt x="66" y="5"/>
                    <a:pt x="66" y="4"/>
                  </a:cubicBezTo>
                  <a:cubicBezTo>
                    <a:pt x="66" y="4"/>
                    <a:pt x="66" y="4"/>
                    <a:pt x="66" y="4"/>
                  </a:cubicBezTo>
                  <a:cubicBezTo>
                    <a:pt x="70" y="0"/>
                    <a:pt x="72" y="0"/>
                    <a:pt x="76" y="5"/>
                  </a:cubicBezTo>
                  <a:cubicBezTo>
                    <a:pt x="76" y="10"/>
                    <a:pt x="68" y="14"/>
                    <a:pt x="65" y="19"/>
                  </a:cubicBezTo>
                  <a:cubicBezTo>
                    <a:pt x="62" y="27"/>
                    <a:pt x="58" y="35"/>
                    <a:pt x="54" y="43"/>
                  </a:cubicBezTo>
                  <a:cubicBezTo>
                    <a:pt x="53" y="45"/>
                    <a:pt x="53" y="45"/>
                    <a:pt x="48" y="54"/>
                  </a:cubicBezTo>
                  <a:cubicBezTo>
                    <a:pt x="43" y="57"/>
                    <a:pt x="37" y="66"/>
                    <a:pt x="35" y="72"/>
                  </a:cubicBezTo>
                  <a:cubicBezTo>
                    <a:pt x="29" y="75"/>
                    <a:pt x="27" y="84"/>
                    <a:pt x="21" y="87"/>
                  </a:cubicBezTo>
                  <a:cubicBezTo>
                    <a:pt x="19" y="87"/>
                    <a:pt x="18" y="87"/>
                    <a:pt x="17" y="88"/>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2" name="Freeform 78"/>
            <p:cNvSpPr/>
            <p:nvPr userDrawn="1"/>
          </p:nvSpPr>
          <p:spPr bwMode="auto">
            <a:xfrm>
              <a:off x="1749" y="791"/>
              <a:ext cx="53" cy="41"/>
            </a:xfrm>
            <a:custGeom>
              <a:avLst/>
              <a:gdLst>
                <a:gd name="T0" fmla="*/ 19 w 43"/>
                <a:gd name="T1" fmla="*/ 33 h 33"/>
                <a:gd name="T2" fmla="*/ 0 w 43"/>
                <a:gd name="T3" fmla="*/ 20 h 33"/>
                <a:gd name="T4" fmla="*/ 2 w 43"/>
                <a:gd name="T5" fmla="*/ 14 h 33"/>
                <a:gd name="T6" fmla="*/ 6 w 43"/>
                <a:gd name="T7" fmla="*/ 13 h 33"/>
                <a:gd name="T8" fmla="*/ 17 w 43"/>
                <a:gd name="T9" fmla="*/ 12 h 33"/>
                <a:gd name="T10" fmla="*/ 43 w 43"/>
                <a:gd name="T11" fmla="*/ 5 h 33"/>
                <a:gd name="T12" fmla="*/ 19 w 43"/>
                <a:gd name="T13" fmla="*/ 33 h 33"/>
              </a:gdLst>
              <a:ahLst/>
              <a:cxnLst>
                <a:cxn ang="0">
                  <a:pos x="T0" y="T1"/>
                </a:cxn>
                <a:cxn ang="0">
                  <a:pos x="T2" y="T3"/>
                </a:cxn>
                <a:cxn ang="0">
                  <a:pos x="T4" y="T5"/>
                </a:cxn>
                <a:cxn ang="0">
                  <a:pos x="T6" y="T7"/>
                </a:cxn>
                <a:cxn ang="0">
                  <a:pos x="T8" y="T9"/>
                </a:cxn>
                <a:cxn ang="0">
                  <a:pos x="T10" y="T11"/>
                </a:cxn>
                <a:cxn ang="0">
                  <a:pos x="T12" y="T13"/>
                </a:cxn>
              </a:cxnLst>
              <a:rect l="0" t="0" r="r" b="b"/>
              <a:pathLst>
                <a:path w="43" h="33">
                  <a:moveTo>
                    <a:pt x="19" y="33"/>
                  </a:moveTo>
                  <a:cubicBezTo>
                    <a:pt x="9" y="33"/>
                    <a:pt x="6" y="26"/>
                    <a:pt x="0" y="20"/>
                  </a:cubicBezTo>
                  <a:cubicBezTo>
                    <a:pt x="0" y="18"/>
                    <a:pt x="2" y="16"/>
                    <a:pt x="2" y="14"/>
                  </a:cubicBezTo>
                  <a:cubicBezTo>
                    <a:pt x="4" y="14"/>
                    <a:pt x="4" y="14"/>
                    <a:pt x="6" y="13"/>
                  </a:cubicBezTo>
                  <a:cubicBezTo>
                    <a:pt x="10" y="12"/>
                    <a:pt x="12" y="12"/>
                    <a:pt x="17" y="12"/>
                  </a:cubicBezTo>
                  <a:cubicBezTo>
                    <a:pt x="22" y="11"/>
                    <a:pt x="38" y="0"/>
                    <a:pt x="43" y="5"/>
                  </a:cubicBezTo>
                  <a:cubicBezTo>
                    <a:pt x="43" y="17"/>
                    <a:pt x="30" y="30"/>
                    <a:pt x="19" y="33"/>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3" name="Freeform 79"/>
            <p:cNvSpPr/>
            <p:nvPr userDrawn="1"/>
          </p:nvSpPr>
          <p:spPr bwMode="auto">
            <a:xfrm>
              <a:off x="1668" y="766"/>
              <a:ext cx="36" cy="42"/>
            </a:xfrm>
            <a:custGeom>
              <a:avLst/>
              <a:gdLst>
                <a:gd name="T0" fmla="*/ 5 w 29"/>
                <a:gd name="T1" fmla="*/ 34 h 34"/>
                <a:gd name="T2" fmla="*/ 0 w 29"/>
                <a:gd name="T3" fmla="*/ 9 h 34"/>
                <a:gd name="T4" fmla="*/ 19 w 29"/>
                <a:gd name="T5" fmla="*/ 6 h 34"/>
                <a:gd name="T6" fmla="*/ 23 w 29"/>
                <a:gd name="T7" fmla="*/ 26 h 34"/>
                <a:gd name="T8" fmla="*/ 5 w 29"/>
                <a:gd name="T9" fmla="*/ 34 h 34"/>
              </a:gdLst>
              <a:ahLst/>
              <a:cxnLst>
                <a:cxn ang="0">
                  <a:pos x="T0" y="T1"/>
                </a:cxn>
                <a:cxn ang="0">
                  <a:pos x="T2" y="T3"/>
                </a:cxn>
                <a:cxn ang="0">
                  <a:pos x="T4" y="T5"/>
                </a:cxn>
                <a:cxn ang="0">
                  <a:pos x="T6" y="T7"/>
                </a:cxn>
                <a:cxn ang="0">
                  <a:pos x="T8" y="T9"/>
                </a:cxn>
              </a:cxnLst>
              <a:rect l="0" t="0" r="r" b="b"/>
              <a:pathLst>
                <a:path w="29" h="34">
                  <a:moveTo>
                    <a:pt x="5" y="34"/>
                  </a:moveTo>
                  <a:cubicBezTo>
                    <a:pt x="1" y="30"/>
                    <a:pt x="0" y="14"/>
                    <a:pt x="0" y="9"/>
                  </a:cubicBezTo>
                  <a:cubicBezTo>
                    <a:pt x="3" y="0"/>
                    <a:pt x="12" y="0"/>
                    <a:pt x="19" y="6"/>
                  </a:cubicBezTo>
                  <a:cubicBezTo>
                    <a:pt x="25" y="14"/>
                    <a:pt x="29" y="17"/>
                    <a:pt x="23" y="26"/>
                  </a:cubicBezTo>
                  <a:cubicBezTo>
                    <a:pt x="16" y="32"/>
                    <a:pt x="13" y="32"/>
                    <a:pt x="5" y="34"/>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4" name="Freeform 80"/>
            <p:cNvSpPr/>
            <p:nvPr userDrawn="1"/>
          </p:nvSpPr>
          <p:spPr bwMode="auto">
            <a:xfrm>
              <a:off x="1748" y="739"/>
              <a:ext cx="63" cy="60"/>
            </a:xfrm>
            <a:custGeom>
              <a:avLst/>
              <a:gdLst>
                <a:gd name="T0" fmla="*/ 17 w 51"/>
                <a:gd name="T1" fmla="*/ 48 h 48"/>
                <a:gd name="T2" fmla="*/ 21 w 51"/>
                <a:gd name="T3" fmla="*/ 30 h 48"/>
                <a:gd name="T4" fmla="*/ 13 w 51"/>
                <a:gd name="T5" fmla="*/ 32 h 48"/>
                <a:gd name="T6" fmla="*/ 3 w 51"/>
                <a:gd name="T7" fmla="*/ 15 h 48"/>
                <a:gd name="T8" fmla="*/ 13 w 51"/>
                <a:gd name="T9" fmla="*/ 11 h 48"/>
                <a:gd name="T10" fmla="*/ 33 w 51"/>
                <a:gd name="T11" fmla="*/ 2 h 48"/>
                <a:gd name="T12" fmla="*/ 51 w 51"/>
                <a:gd name="T13" fmla="*/ 18 h 48"/>
                <a:gd name="T14" fmla="*/ 39 w 51"/>
                <a:gd name="T15" fmla="*/ 36 h 48"/>
                <a:gd name="T16" fmla="*/ 22 w 51"/>
                <a:gd name="T17" fmla="*/ 47 h 48"/>
                <a:gd name="T18" fmla="*/ 17 w 51"/>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 h="48">
                  <a:moveTo>
                    <a:pt x="17" y="48"/>
                  </a:moveTo>
                  <a:cubicBezTo>
                    <a:pt x="16" y="43"/>
                    <a:pt x="23" y="33"/>
                    <a:pt x="21" y="30"/>
                  </a:cubicBezTo>
                  <a:cubicBezTo>
                    <a:pt x="18" y="31"/>
                    <a:pt x="16" y="32"/>
                    <a:pt x="13" y="32"/>
                  </a:cubicBezTo>
                  <a:cubicBezTo>
                    <a:pt x="7" y="29"/>
                    <a:pt x="0" y="21"/>
                    <a:pt x="3" y="15"/>
                  </a:cubicBezTo>
                  <a:cubicBezTo>
                    <a:pt x="7" y="10"/>
                    <a:pt x="6" y="12"/>
                    <a:pt x="13" y="11"/>
                  </a:cubicBezTo>
                  <a:cubicBezTo>
                    <a:pt x="19" y="8"/>
                    <a:pt x="26" y="5"/>
                    <a:pt x="33" y="2"/>
                  </a:cubicBezTo>
                  <a:cubicBezTo>
                    <a:pt x="45" y="0"/>
                    <a:pt x="50" y="6"/>
                    <a:pt x="51" y="18"/>
                  </a:cubicBezTo>
                  <a:cubicBezTo>
                    <a:pt x="49" y="25"/>
                    <a:pt x="44" y="31"/>
                    <a:pt x="39" y="36"/>
                  </a:cubicBezTo>
                  <a:cubicBezTo>
                    <a:pt x="33" y="40"/>
                    <a:pt x="27" y="44"/>
                    <a:pt x="22" y="47"/>
                  </a:cubicBezTo>
                  <a:cubicBezTo>
                    <a:pt x="20" y="47"/>
                    <a:pt x="19" y="48"/>
                    <a:pt x="17" y="48"/>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5" name="Freeform 81"/>
            <p:cNvSpPr/>
            <p:nvPr userDrawn="1"/>
          </p:nvSpPr>
          <p:spPr bwMode="auto">
            <a:xfrm>
              <a:off x="1687" y="715"/>
              <a:ext cx="38" cy="42"/>
            </a:xfrm>
            <a:custGeom>
              <a:avLst/>
              <a:gdLst>
                <a:gd name="T0" fmla="*/ 3 w 31"/>
                <a:gd name="T1" fmla="*/ 34 h 34"/>
                <a:gd name="T2" fmla="*/ 3 w 31"/>
                <a:gd name="T3" fmla="*/ 29 h 34"/>
                <a:gd name="T4" fmla="*/ 0 w 31"/>
                <a:gd name="T5" fmla="*/ 16 h 34"/>
                <a:gd name="T6" fmla="*/ 7 w 31"/>
                <a:gd name="T7" fmla="*/ 0 h 34"/>
                <a:gd name="T8" fmla="*/ 26 w 31"/>
                <a:gd name="T9" fmla="*/ 23 h 34"/>
                <a:gd name="T10" fmla="*/ 3 w 31"/>
                <a:gd name="T11" fmla="*/ 34 h 34"/>
              </a:gdLst>
              <a:ahLst/>
              <a:cxnLst>
                <a:cxn ang="0">
                  <a:pos x="T0" y="T1"/>
                </a:cxn>
                <a:cxn ang="0">
                  <a:pos x="T2" y="T3"/>
                </a:cxn>
                <a:cxn ang="0">
                  <a:pos x="T4" y="T5"/>
                </a:cxn>
                <a:cxn ang="0">
                  <a:pos x="T6" y="T7"/>
                </a:cxn>
                <a:cxn ang="0">
                  <a:pos x="T8" y="T9"/>
                </a:cxn>
                <a:cxn ang="0">
                  <a:pos x="T10" y="T11"/>
                </a:cxn>
              </a:cxnLst>
              <a:rect l="0" t="0" r="r" b="b"/>
              <a:pathLst>
                <a:path w="31" h="34">
                  <a:moveTo>
                    <a:pt x="3" y="34"/>
                  </a:moveTo>
                  <a:cubicBezTo>
                    <a:pt x="1" y="32"/>
                    <a:pt x="2" y="31"/>
                    <a:pt x="3" y="29"/>
                  </a:cubicBezTo>
                  <a:cubicBezTo>
                    <a:pt x="3" y="24"/>
                    <a:pt x="0" y="20"/>
                    <a:pt x="0" y="16"/>
                  </a:cubicBezTo>
                  <a:cubicBezTo>
                    <a:pt x="1" y="7"/>
                    <a:pt x="0" y="4"/>
                    <a:pt x="7" y="0"/>
                  </a:cubicBezTo>
                  <a:cubicBezTo>
                    <a:pt x="12" y="3"/>
                    <a:pt x="31" y="12"/>
                    <a:pt x="26" y="23"/>
                  </a:cubicBezTo>
                  <a:cubicBezTo>
                    <a:pt x="21" y="29"/>
                    <a:pt x="11" y="33"/>
                    <a:pt x="3" y="34"/>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6" name="Freeform 82"/>
            <p:cNvSpPr/>
            <p:nvPr userDrawn="1"/>
          </p:nvSpPr>
          <p:spPr bwMode="auto">
            <a:xfrm>
              <a:off x="1365" y="728"/>
              <a:ext cx="244" cy="186"/>
            </a:xfrm>
            <a:custGeom>
              <a:avLst/>
              <a:gdLst>
                <a:gd name="T0" fmla="*/ 20 w 197"/>
                <a:gd name="T1" fmla="*/ 150 h 150"/>
                <a:gd name="T2" fmla="*/ 13 w 197"/>
                <a:gd name="T3" fmla="*/ 119 h 150"/>
                <a:gd name="T4" fmla="*/ 17 w 197"/>
                <a:gd name="T5" fmla="*/ 114 h 150"/>
                <a:gd name="T6" fmla="*/ 17 w 197"/>
                <a:gd name="T7" fmla="*/ 113 h 150"/>
                <a:gd name="T8" fmla="*/ 44 w 197"/>
                <a:gd name="T9" fmla="*/ 77 h 150"/>
                <a:gd name="T10" fmla="*/ 52 w 197"/>
                <a:gd name="T11" fmla="*/ 67 h 150"/>
                <a:gd name="T12" fmla="*/ 53 w 197"/>
                <a:gd name="T13" fmla="*/ 78 h 150"/>
                <a:gd name="T14" fmla="*/ 60 w 197"/>
                <a:gd name="T15" fmla="*/ 77 h 150"/>
                <a:gd name="T16" fmla="*/ 85 w 197"/>
                <a:gd name="T17" fmla="*/ 58 h 150"/>
                <a:gd name="T18" fmla="*/ 87 w 197"/>
                <a:gd name="T19" fmla="*/ 48 h 150"/>
                <a:gd name="T20" fmla="*/ 68 w 197"/>
                <a:gd name="T21" fmla="*/ 44 h 150"/>
                <a:gd name="T22" fmla="*/ 88 w 197"/>
                <a:gd name="T23" fmla="*/ 29 h 150"/>
                <a:gd name="T24" fmla="*/ 92 w 197"/>
                <a:gd name="T25" fmla="*/ 9 h 150"/>
                <a:gd name="T26" fmla="*/ 109 w 197"/>
                <a:gd name="T27" fmla="*/ 22 h 150"/>
                <a:gd name="T28" fmla="*/ 110 w 197"/>
                <a:gd name="T29" fmla="*/ 37 h 150"/>
                <a:gd name="T30" fmla="*/ 108 w 197"/>
                <a:gd name="T31" fmla="*/ 46 h 150"/>
                <a:gd name="T32" fmla="*/ 111 w 197"/>
                <a:gd name="T33" fmla="*/ 46 h 150"/>
                <a:gd name="T34" fmla="*/ 131 w 197"/>
                <a:gd name="T35" fmla="*/ 32 h 150"/>
                <a:gd name="T36" fmla="*/ 140 w 197"/>
                <a:gd name="T37" fmla="*/ 5 h 150"/>
                <a:gd name="T38" fmla="*/ 163 w 197"/>
                <a:gd name="T39" fmla="*/ 11 h 150"/>
                <a:gd name="T40" fmla="*/ 176 w 197"/>
                <a:gd name="T41" fmla="*/ 5 h 150"/>
                <a:gd name="T42" fmla="*/ 182 w 197"/>
                <a:gd name="T43" fmla="*/ 4 h 150"/>
                <a:gd name="T44" fmla="*/ 184 w 197"/>
                <a:gd name="T45" fmla="*/ 13 h 150"/>
                <a:gd name="T46" fmla="*/ 157 w 197"/>
                <a:gd name="T47" fmla="*/ 39 h 150"/>
                <a:gd name="T48" fmla="*/ 166 w 197"/>
                <a:gd name="T49" fmla="*/ 29 h 150"/>
                <a:gd name="T50" fmla="*/ 190 w 197"/>
                <a:gd name="T51" fmla="*/ 34 h 150"/>
                <a:gd name="T52" fmla="*/ 184 w 197"/>
                <a:gd name="T53" fmla="*/ 50 h 150"/>
                <a:gd name="T54" fmla="*/ 182 w 197"/>
                <a:gd name="T55" fmla="*/ 54 h 150"/>
                <a:gd name="T56" fmla="*/ 182 w 197"/>
                <a:gd name="T57" fmla="*/ 93 h 150"/>
                <a:gd name="T58" fmla="*/ 173 w 197"/>
                <a:gd name="T59" fmla="*/ 107 h 150"/>
                <a:gd name="T60" fmla="*/ 173 w 197"/>
                <a:gd name="T61" fmla="*/ 107 h 150"/>
                <a:gd name="T62" fmla="*/ 172 w 197"/>
                <a:gd name="T63" fmla="*/ 107 h 150"/>
                <a:gd name="T64" fmla="*/ 158 w 197"/>
                <a:gd name="T65" fmla="*/ 113 h 150"/>
                <a:gd name="T66" fmla="*/ 158 w 197"/>
                <a:gd name="T67" fmla="*/ 58 h 150"/>
                <a:gd name="T68" fmla="*/ 157 w 197"/>
                <a:gd name="T69" fmla="*/ 58 h 150"/>
                <a:gd name="T70" fmla="*/ 139 w 197"/>
                <a:gd name="T71" fmla="*/ 89 h 150"/>
                <a:gd name="T72" fmla="*/ 124 w 197"/>
                <a:gd name="T73" fmla="*/ 80 h 150"/>
                <a:gd name="T74" fmla="*/ 128 w 197"/>
                <a:gd name="T75" fmla="*/ 76 h 150"/>
                <a:gd name="T76" fmla="*/ 130 w 197"/>
                <a:gd name="T77" fmla="*/ 45 h 150"/>
                <a:gd name="T78" fmla="*/ 111 w 197"/>
                <a:gd name="T79" fmla="*/ 64 h 150"/>
                <a:gd name="T80" fmla="*/ 102 w 197"/>
                <a:gd name="T81" fmla="*/ 70 h 150"/>
                <a:gd name="T82" fmla="*/ 97 w 197"/>
                <a:gd name="T83" fmla="*/ 91 h 150"/>
                <a:gd name="T84" fmla="*/ 92 w 197"/>
                <a:gd name="T85" fmla="*/ 101 h 150"/>
                <a:gd name="T86" fmla="*/ 91 w 197"/>
                <a:gd name="T87" fmla="*/ 102 h 150"/>
                <a:gd name="T88" fmla="*/ 74 w 197"/>
                <a:gd name="T89" fmla="*/ 110 h 150"/>
                <a:gd name="T90" fmla="*/ 74 w 197"/>
                <a:gd name="T91" fmla="*/ 107 h 150"/>
                <a:gd name="T92" fmla="*/ 82 w 197"/>
                <a:gd name="T93" fmla="*/ 85 h 150"/>
                <a:gd name="T94" fmla="*/ 63 w 197"/>
                <a:gd name="T95" fmla="*/ 94 h 150"/>
                <a:gd name="T96" fmla="*/ 53 w 197"/>
                <a:gd name="T97" fmla="*/ 91 h 150"/>
                <a:gd name="T98" fmla="*/ 52 w 197"/>
                <a:gd name="T99" fmla="*/ 90 h 150"/>
                <a:gd name="T100" fmla="*/ 48 w 197"/>
                <a:gd name="T101" fmla="*/ 88 h 150"/>
                <a:gd name="T102" fmla="*/ 44 w 197"/>
                <a:gd name="T103" fmla="*/ 100 h 150"/>
                <a:gd name="T104" fmla="*/ 27 w 197"/>
                <a:gd name="T105" fmla="*/ 147 h 150"/>
                <a:gd name="T106" fmla="*/ 20 w 197"/>
                <a:gd name="T107"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7" h="150">
                  <a:moveTo>
                    <a:pt x="20" y="150"/>
                  </a:moveTo>
                  <a:cubicBezTo>
                    <a:pt x="9" y="146"/>
                    <a:pt x="0" y="124"/>
                    <a:pt x="13" y="119"/>
                  </a:cubicBezTo>
                  <a:cubicBezTo>
                    <a:pt x="13" y="117"/>
                    <a:pt x="15" y="115"/>
                    <a:pt x="17" y="114"/>
                  </a:cubicBezTo>
                  <a:cubicBezTo>
                    <a:pt x="17" y="114"/>
                    <a:pt x="17" y="113"/>
                    <a:pt x="17" y="113"/>
                  </a:cubicBezTo>
                  <a:cubicBezTo>
                    <a:pt x="27" y="103"/>
                    <a:pt x="35" y="88"/>
                    <a:pt x="44" y="77"/>
                  </a:cubicBezTo>
                  <a:cubicBezTo>
                    <a:pt x="46" y="72"/>
                    <a:pt x="47" y="68"/>
                    <a:pt x="52" y="67"/>
                  </a:cubicBezTo>
                  <a:cubicBezTo>
                    <a:pt x="55" y="69"/>
                    <a:pt x="54" y="74"/>
                    <a:pt x="53" y="78"/>
                  </a:cubicBezTo>
                  <a:cubicBezTo>
                    <a:pt x="54" y="79"/>
                    <a:pt x="58" y="78"/>
                    <a:pt x="60" y="77"/>
                  </a:cubicBezTo>
                  <a:cubicBezTo>
                    <a:pt x="68" y="71"/>
                    <a:pt x="78" y="65"/>
                    <a:pt x="85" y="58"/>
                  </a:cubicBezTo>
                  <a:cubicBezTo>
                    <a:pt x="86" y="55"/>
                    <a:pt x="86" y="52"/>
                    <a:pt x="87" y="48"/>
                  </a:cubicBezTo>
                  <a:cubicBezTo>
                    <a:pt x="81" y="50"/>
                    <a:pt x="64" y="54"/>
                    <a:pt x="68" y="44"/>
                  </a:cubicBezTo>
                  <a:cubicBezTo>
                    <a:pt x="75" y="41"/>
                    <a:pt x="84" y="36"/>
                    <a:pt x="88" y="29"/>
                  </a:cubicBezTo>
                  <a:cubicBezTo>
                    <a:pt x="90" y="22"/>
                    <a:pt x="89" y="14"/>
                    <a:pt x="92" y="9"/>
                  </a:cubicBezTo>
                  <a:cubicBezTo>
                    <a:pt x="99" y="5"/>
                    <a:pt x="108" y="14"/>
                    <a:pt x="109" y="22"/>
                  </a:cubicBezTo>
                  <a:cubicBezTo>
                    <a:pt x="112" y="27"/>
                    <a:pt x="121" y="21"/>
                    <a:pt x="110" y="37"/>
                  </a:cubicBezTo>
                  <a:cubicBezTo>
                    <a:pt x="108" y="39"/>
                    <a:pt x="108" y="42"/>
                    <a:pt x="108" y="46"/>
                  </a:cubicBezTo>
                  <a:cubicBezTo>
                    <a:pt x="109" y="46"/>
                    <a:pt x="110" y="46"/>
                    <a:pt x="111" y="46"/>
                  </a:cubicBezTo>
                  <a:cubicBezTo>
                    <a:pt x="117" y="41"/>
                    <a:pt x="124" y="36"/>
                    <a:pt x="131" y="32"/>
                  </a:cubicBezTo>
                  <a:cubicBezTo>
                    <a:pt x="133" y="22"/>
                    <a:pt x="135" y="14"/>
                    <a:pt x="140" y="5"/>
                  </a:cubicBezTo>
                  <a:cubicBezTo>
                    <a:pt x="147" y="0"/>
                    <a:pt x="156" y="5"/>
                    <a:pt x="163" y="11"/>
                  </a:cubicBezTo>
                  <a:cubicBezTo>
                    <a:pt x="168" y="11"/>
                    <a:pt x="172" y="8"/>
                    <a:pt x="176" y="5"/>
                  </a:cubicBezTo>
                  <a:cubicBezTo>
                    <a:pt x="178" y="4"/>
                    <a:pt x="178" y="4"/>
                    <a:pt x="182" y="4"/>
                  </a:cubicBezTo>
                  <a:cubicBezTo>
                    <a:pt x="183" y="7"/>
                    <a:pt x="184" y="9"/>
                    <a:pt x="184" y="13"/>
                  </a:cubicBezTo>
                  <a:cubicBezTo>
                    <a:pt x="181" y="24"/>
                    <a:pt x="151" y="27"/>
                    <a:pt x="157" y="39"/>
                  </a:cubicBezTo>
                  <a:cubicBezTo>
                    <a:pt x="162" y="39"/>
                    <a:pt x="164" y="33"/>
                    <a:pt x="166" y="29"/>
                  </a:cubicBezTo>
                  <a:cubicBezTo>
                    <a:pt x="171" y="26"/>
                    <a:pt x="184" y="30"/>
                    <a:pt x="190" y="34"/>
                  </a:cubicBezTo>
                  <a:cubicBezTo>
                    <a:pt x="197" y="42"/>
                    <a:pt x="192" y="45"/>
                    <a:pt x="184" y="50"/>
                  </a:cubicBezTo>
                  <a:cubicBezTo>
                    <a:pt x="183" y="52"/>
                    <a:pt x="183" y="53"/>
                    <a:pt x="182" y="54"/>
                  </a:cubicBezTo>
                  <a:cubicBezTo>
                    <a:pt x="181" y="70"/>
                    <a:pt x="181" y="70"/>
                    <a:pt x="182" y="93"/>
                  </a:cubicBezTo>
                  <a:cubicBezTo>
                    <a:pt x="179" y="99"/>
                    <a:pt x="177" y="102"/>
                    <a:pt x="173" y="107"/>
                  </a:cubicBezTo>
                  <a:cubicBezTo>
                    <a:pt x="173" y="107"/>
                    <a:pt x="173" y="107"/>
                    <a:pt x="173" y="107"/>
                  </a:cubicBezTo>
                  <a:cubicBezTo>
                    <a:pt x="172" y="107"/>
                    <a:pt x="172" y="107"/>
                    <a:pt x="172" y="107"/>
                  </a:cubicBezTo>
                  <a:cubicBezTo>
                    <a:pt x="169" y="112"/>
                    <a:pt x="162" y="117"/>
                    <a:pt x="158" y="113"/>
                  </a:cubicBezTo>
                  <a:cubicBezTo>
                    <a:pt x="158" y="94"/>
                    <a:pt x="159" y="75"/>
                    <a:pt x="158" y="58"/>
                  </a:cubicBezTo>
                  <a:cubicBezTo>
                    <a:pt x="158" y="58"/>
                    <a:pt x="157" y="58"/>
                    <a:pt x="157" y="58"/>
                  </a:cubicBezTo>
                  <a:cubicBezTo>
                    <a:pt x="156" y="67"/>
                    <a:pt x="147" y="84"/>
                    <a:pt x="139" y="89"/>
                  </a:cubicBezTo>
                  <a:cubicBezTo>
                    <a:pt x="132" y="90"/>
                    <a:pt x="126" y="86"/>
                    <a:pt x="124" y="80"/>
                  </a:cubicBezTo>
                  <a:cubicBezTo>
                    <a:pt x="125" y="78"/>
                    <a:pt x="126" y="77"/>
                    <a:pt x="128" y="76"/>
                  </a:cubicBezTo>
                  <a:cubicBezTo>
                    <a:pt x="132" y="68"/>
                    <a:pt x="130" y="53"/>
                    <a:pt x="130" y="45"/>
                  </a:cubicBezTo>
                  <a:cubicBezTo>
                    <a:pt x="125" y="46"/>
                    <a:pt x="115" y="59"/>
                    <a:pt x="111" y="64"/>
                  </a:cubicBezTo>
                  <a:cubicBezTo>
                    <a:pt x="108" y="66"/>
                    <a:pt x="105" y="68"/>
                    <a:pt x="102" y="70"/>
                  </a:cubicBezTo>
                  <a:cubicBezTo>
                    <a:pt x="100" y="77"/>
                    <a:pt x="98" y="84"/>
                    <a:pt x="97" y="91"/>
                  </a:cubicBezTo>
                  <a:cubicBezTo>
                    <a:pt x="95" y="95"/>
                    <a:pt x="93" y="98"/>
                    <a:pt x="92" y="101"/>
                  </a:cubicBezTo>
                  <a:cubicBezTo>
                    <a:pt x="91" y="101"/>
                    <a:pt x="91" y="101"/>
                    <a:pt x="91" y="102"/>
                  </a:cubicBezTo>
                  <a:cubicBezTo>
                    <a:pt x="88" y="106"/>
                    <a:pt x="80" y="118"/>
                    <a:pt x="74" y="110"/>
                  </a:cubicBezTo>
                  <a:cubicBezTo>
                    <a:pt x="74" y="109"/>
                    <a:pt x="74" y="108"/>
                    <a:pt x="74" y="107"/>
                  </a:cubicBezTo>
                  <a:cubicBezTo>
                    <a:pt x="79" y="101"/>
                    <a:pt x="82" y="92"/>
                    <a:pt x="82" y="85"/>
                  </a:cubicBezTo>
                  <a:cubicBezTo>
                    <a:pt x="75" y="87"/>
                    <a:pt x="70" y="94"/>
                    <a:pt x="63" y="94"/>
                  </a:cubicBezTo>
                  <a:cubicBezTo>
                    <a:pt x="59" y="93"/>
                    <a:pt x="55" y="92"/>
                    <a:pt x="53" y="91"/>
                  </a:cubicBezTo>
                  <a:cubicBezTo>
                    <a:pt x="53" y="90"/>
                    <a:pt x="53" y="90"/>
                    <a:pt x="52" y="90"/>
                  </a:cubicBezTo>
                  <a:cubicBezTo>
                    <a:pt x="51" y="89"/>
                    <a:pt x="49" y="87"/>
                    <a:pt x="48" y="88"/>
                  </a:cubicBezTo>
                  <a:cubicBezTo>
                    <a:pt x="47" y="91"/>
                    <a:pt x="45" y="96"/>
                    <a:pt x="44" y="100"/>
                  </a:cubicBezTo>
                  <a:cubicBezTo>
                    <a:pt x="37" y="115"/>
                    <a:pt x="32" y="130"/>
                    <a:pt x="27" y="147"/>
                  </a:cubicBezTo>
                  <a:cubicBezTo>
                    <a:pt x="24" y="149"/>
                    <a:pt x="23" y="150"/>
                    <a:pt x="20" y="150"/>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7" name="Freeform 83"/>
            <p:cNvSpPr/>
            <p:nvPr userDrawn="1"/>
          </p:nvSpPr>
          <p:spPr bwMode="auto">
            <a:xfrm>
              <a:off x="1401" y="757"/>
              <a:ext cx="37" cy="49"/>
            </a:xfrm>
            <a:custGeom>
              <a:avLst/>
              <a:gdLst>
                <a:gd name="T0" fmla="*/ 5 w 30"/>
                <a:gd name="T1" fmla="*/ 39 h 39"/>
                <a:gd name="T2" fmla="*/ 6 w 30"/>
                <a:gd name="T3" fmla="*/ 28 h 39"/>
                <a:gd name="T4" fmla="*/ 6 w 30"/>
                <a:gd name="T5" fmla="*/ 1 h 39"/>
                <a:gd name="T6" fmla="*/ 10 w 30"/>
                <a:gd name="T7" fmla="*/ 0 h 39"/>
                <a:gd name="T8" fmla="*/ 25 w 30"/>
                <a:gd name="T9" fmla="*/ 17 h 39"/>
                <a:gd name="T10" fmla="*/ 5 w 30"/>
                <a:gd name="T11" fmla="*/ 39 h 39"/>
              </a:gdLst>
              <a:ahLst/>
              <a:cxnLst>
                <a:cxn ang="0">
                  <a:pos x="T0" y="T1"/>
                </a:cxn>
                <a:cxn ang="0">
                  <a:pos x="T2" y="T3"/>
                </a:cxn>
                <a:cxn ang="0">
                  <a:pos x="T4" y="T5"/>
                </a:cxn>
                <a:cxn ang="0">
                  <a:pos x="T6" y="T7"/>
                </a:cxn>
                <a:cxn ang="0">
                  <a:pos x="T8" y="T9"/>
                </a:cxn>
                <a:cxn ang="0">
                  <a:pos x="T10" y="T11"/>
                </a:cxn>
              </a:cxnLst>
              <a:rect l="0" t="0" r="r" b="b"/>
              <a:pathLst>
                <a:path w="30" h="39">
                  <a:moveTo>
                    <a:pt x="5" y="39"/>
                  </a:moveTo>
                  <a:cubicBezTo>
                    <a:pt x="3" y="35"/>
                    <a:pt x="6" y="31"/>
                    <a:pt x="6" y="28"/>
                  </a:cubicBezTo>
                  <a:cubicBezTo>
                    <a:pt x="3" y="17"/>
                    <a:pt x="0" y="9"/>
                    <a:pt x="6" y="1"/>
                  </a:cubicBezTo>
                  <a:cubicBezTo>
                    <a:pt x="7" y="0"/>
                    <a:pt x="9" y="0"/>
                    <a:pt x="10" y="0"/>
                  </a:cubicBezTo>
                  <a:cubicBezTo>
                    <a:pt x="14" y="4"/>
                    <a:pt x="21" y="11"/>
                    <a:pt x="25" y="17"/>
                  </a:cubicBezTo>
                  <a:cubicBezTo>
                    <a:pt x="30" y="29"/>
                    <a:pt x="14" y="35"/>
                    <a:pt x="5" y="39"/>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8" name="Freeform 84"/>
            <p:cNvSpPr/>
            <p:nvPr userDrawn="1"/>
          </p:nvSpPr>
          <p:spPr bwMode="auto">
            <a:xfrm>
              <a:off x="1411" y="708"/>
              <a:ext cx="46" cy="47"/>
            </a:xfrm>
            <a:custGeom>
              <a:avLst/>
              <a:gdLst>
                <a:gd name="T0" fmla="*/ 7 w 37"/>
                <a:gd name="T1" fmla="*/ 38 h 38"/>
                <a:gd name="T2" fmla="*/ 4 w 37"/>
                <a:gd name="T3" fmla="*/ 36 h 38"/>
                <a:gd name="T4" fmla="*/ 6 w 37"/>
                <a:gd name="T5" fmla="*/ 29 h 38"/>
                <a:gd name="T6" fmla="*/ 11 w 37"/>
                <a:gd name="T7" fmla="*/ 0 h 38"/>
                <a:gd name="T8" fmla="*/ 16 w 37"/>
                <a:gd name="T9" fmla="*/ 7 h 38"/>
                <a:gd name="T10" fmla="*/ 24 w 37"/>
                <a:gd name="T11" fmla="*/ 32 h 38"/>
                <a:gd name="T12" fmla="*/ 7 w 37"/>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37" h="38">
                  <a:moveTo>
                    <a:pt x="7" y="38"/>
                  </a:moveTo>
                  <a:cubicBezTo>
                    <a:pt x="5" y="37"/>
                    <a:pt x="5" y="37"/>
                    <a:pt x="4" y="36"/>
                  </a:cubicBezTo>
                  <a:cubicBezTo>
                    <a:pt x="6" y="33"/>
                    <a:pt x="7" y="32"/>
                    <a:pt x="6" y="29"/>
                  </a:cubicBezTo>
                  <a:cubicBezTo>
                    <a:pt x="0" y="20"/>
                    <a:pt x="0" y="5"/>
                    <a:pt x="11" y="0"/>
                  </a:cubicBezTo>
                  <a:cubicBezTo>
                    <a:pt x="14" y="0"/>
                    <a:pt x="15" y="3"/>
                    <a:pt x="16" y="7"/>
                  </a:cubicBezTo>
                  <a:cubicBezTo>
                    <a:pt x="23" y="14"/>
                    <a:pt x="37" y="23"/>
                    <a:pt x="24" y="32"/>
                  </a:cubicBezTo>
                  <a:cubicBezTo>
                    <a:pt x="18" y="35"/>
                    <a:pt x="13" y="36"/>
                    <a:pt x="7" y="38"/>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9" name="Freeform 85"/>
            <p:cNvSpPr/>
            <p:nvPr userDrawn="1"/>
          </p:nvSpPr>
          <p:spPr bwMode="auto">
            <a:xfrm>
              <a:off x="2067" y="765"/>
              <a:ext cx="26" cy="39"/>
            </a:xfrm>
            <a:custGeom>
              <a:avLst/>
              <a:gdLst>
                <a:gd name="T0" fmla="*/ 10 w 21"/>
                <a:gd name="T1" fmla="*/ 31 h 31"/>
                <a:gd name="T2" fmla="*/ 3 w 21"/>
                <a:gd name="T3" fmla="*/ 4 h 31"/>
                <a:gd name="T4" fmla="*/ 21 w 21"/>
                <a:gd name="T5" fmla="*/ 18 h 31"/>
                <a:gd name="T6" fmla="*/ 10 w 21"/>
                <a:gd name="T7" fmla="*/ 31 h 31"/>
              </a:gdLst>
              <a:ahLst/>
              <a:cxnLst>
                <a:cxn ang="0">
                  <a:pos x="T0" y="T1"/>
                </a:cxn>
                <a:cxn ang="0">
                  <a:pos x="T2" y="T3"/>
                </a:cxn>
                <a:cxn ang="0">
                  <a:pos x="T4" y="T5"/>
                </a:cxn>
                <a:cxn ang="0">
                  <a:pos x="T6" y="T7"/>
                </a:cxn>
              </a:cxnLst>
              <a:rect l="0" t="0" r="r" b="b"/>
              <a:pathLst>
                <a:path w="21" h="31">
                  <a:moveTo>
                    <a:pt x="10" y="31"/>
                  </a:moveTo>
                  <a:cubicBezTo>
                    <a:pt x="0" y="27"/>
                    <a:pt x="2" y="11"/>
                    <a:pt x="3" y="4"/>
                  </a:cubicBezTo>
                  <a:cubicBezTo>
                    <a:pt x="11" y="0"/>
                    <a:pt x="20" y="9"/>
                    <a:pt x="21" y="18"/>
                  </a:cubicBezTo>
                  <a:cubicBezTo>
                    <a:pt x="19" y="27"/>
                    <a:pt x="19" y="29"/>
                    <a:pt x="10" y="31"/>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0" name="Freeform 86"/>
            <p:cNvSpPr>
              <a:spLocks noEditPoints="1"/>
            </p:cNvSpPr>
            <p:nvPr userDrawn="1"/>
          </p:nvSpPr>
          <p:spPr bwMode="auto">
            <a:xfrm>
              <a:off x="2057" y="673"/>
              <a:ext cx="166" cy="224"/>
            </a:xfrm>
            <a:custGeom>
              <a:avLst/>
              <a:gdLst>
                <a:gd name="T0" fmla="*/ 71 w 134"/>
                <a:gd name="T1" fmla="*/ 180 h 180"/>
                <a:gd name="T2" fmla="*/ 34 w 134"/>
                <a:gd name="T3" fmla="*/ 173 h 180"/>
                <a:gd name="T4" fmla="*/ 56 w 134"/>
                <a:gd name="T5" fmla="*/ 148 h 180"/>
                <a:gd name="T6" fmla="*/ 0 w 134"/>
                <a:gd name="T7" fmla="*/ 147 h 180"/>
                <a:gd name="T8" fmla="*/ 56 w 134"/>
                <a:gd name="T9" fmla="*/ 124 h 180"/>
                <a:gd name="T10" fmla="*/ 75 w 134"/>
                <a:gd name="T11" fmla="*/ 108 h 180"/>
                <a:gd name="T12" fmla="*/ 91 w 134"/>
                <a:gd name="T13" fmla="*/ 96 h 180"/>
                <a:gd name="T14" fmla="*/ 32 w 134"/>
                <a:gd name="T15" fmla="*/ 119 h 180"/>
                <a:gd name="T16" fmla="*/ 34 w 134"/>
                <a:gd name="T17" fmla="*/ 108 h 180"/>
                <a:gd name="T18" fmla="*/ 73 w 134"/>
                <a:gd name="T19" fmla="*/ 81 h 180"/>
                <a:gd name="T20" fmla="*/ 71 w 134"/>
                <a:gd name="T21" fmla="*/ 78 h 180"/>
                <a:gd name="T22" fmla="*/ 39 w 134"/>
                <a:gd name="T23" fmla="*/ 93 h 180"/>
                <a:gd name="T24" fmla="*/ 27 w 134"/>
                <a:gd name="T25" fmla="*/ 61 h 180"/>
                <a:gd name="T26" fmla="*/ 33 w 134"/>
                <a:gd name="T27" fmla="*/ 44 h 180"/>
                <a:gd name="T28" fmla="*/ 46 w 134"/>
                <a:gd name="T29" fmla="*/ 56 h 180"/>
                <a:gd name="T30" fmla="*/ 60 w 134"/>
                <a:gd name="T31" fmla="*/ 66 h 180"/>
                <a:gd name="T32" fmla="*/ 68 w 134"/>
                <a:gd name="T33" fmla="*/ 55 h 180"/>
                <a:gd name="T34" fmla="*/ 64 w 134"/>
                <a:gd name="T35" fmla="*/ 45 h 180"/>
                <a:gd name="T36" fmla="*/ 84 w 134"/>
                <a:gd name="T37" fmla="*/ 25 h 180"/>
                <a:gd name="T38" fmla="*/ 111 w 134"/>
                <a:gd name="T39" fmla="*/ 20 h 180"/>
                <a:gd name="T40" fmla="*/ 110 w 134"/>
                <a:gd name="T41" fmla="*/ 29 h 180"/>
                <a:gd name="T42" fmla="*/ 132 w 134"/>
                <a:gd name="T43" fmla="*/ 44 h 180"/>
                <a:gd name="T44" fmla="*/ 115 w 134"/>
                <a:gd name="T45" fmla="*/ 77 h 180"/>
                <a:gd name="T46" fmla="*/ 120 w 134"/>
                <a:gd name="T47" fmla="*/ 94 h 180"/>
                <a:gd name="T48" fmla="*/ 78 w 134"/>
                <a:gd name="T49" fmla="*/ 114 h 180"/>
                <a:gd name="T50" fmla="*/ 92 w 134"/>
                <a:gd name="T51" fmla="*/ 119 h 180"/>
                <a:gd name="T52" fmla="*/ 81 w 134"/>
                <a:gd name="T53" fmla="*/ 140 h 180"/>
                <a:gd name="T54" fmla="*/ 72 w 134"/>
                <a:gd name="T55" fmla="*/ 180 h 180"/>
                <a:gd name="T56" fmla="*/ 106 w 134"/>
                <a:gd name="T57" fmla="*/ 53 h 180"/>
                <a:gd name="T58" fmla="*/ 87 w 134"/>
                <a:gd name="T59" fmla="*/ 59 h 180"/>
                <a:gd name="T60" fmla="*/ 87 w 134"/>
                <a:gd name="T61" fmla="*/ 60 h 180"/>
                <a:gd name="T62" fmla="*/ 92 w 134"/>
                <a:gd name="T63" fmla="*/ 58 h 180"/>
                <a:gd name="T64" fmla="*/ 99 w 134"/>
                <a:gd name="T65" fmla="*/ 67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4" h="180">
                  <a:moveTo>
                    <a:pt x="72" y="180"/>
                  </a:moveTo>
                  <a:cubicBezTo>
                    <a:pt x="71" y="180"/>
                    <a:pt x="71" y="180"/>
                    <a:pt x="71" y="180"/>
                  </a:cubicBezTo>
                  <a:cubicBezTo>
                    <a:pt x="58" y="180"/>
                    <a:pt x="46" y="179"/>
                    <a:pt x="34" y="175"/>
                  </a:cubicBezTo>
                  <a:cubicBezTo>
                    <a:pt x="34" y="174"/>
                    <a:pt x="34" y="174"/>
                    <a:pt x="34" y="173"/>
                  </a:cubicBezTo>
                  <a:cubicBezTo>
                    <a:pt x="41" y="169"/>
                    <a:pt x="50" y="170"/>
                    <a:pt x="55" y="163"/>
                  </a:cubicBezTo>
                  <a:cubicBezTo>
                    <a:pt x="56" y="157"/>
                    <a:pt x="57" y="152"/>
                    <a:pt x="56" y="148"/>
                  </a:cubicBezTo>
                  <a:cubicBezTo>
                    <a:pt x="43" y="148"/>
                    <a:pt x="37" y="157"/>
                    <a:pt x="27" y="161"/>
                  </a:cubicBezTo>
                  <a:cubicBezTo>
                    <a:pt x="18" y="162"/>
                    <a:pt x="3" y="154"/>
                    <a:pt x="0" y="147"/>
                  </a:cubicBezTo>
                  <a:cubicBezTo>
                    <a:pt x="0" y="136"/>
                    <a:pt x="3" y="141"/>
                    <a:pt x="14" y="140"/>
                  </a:cubicBezTo>
                  <a:cubicBezTo>
                    <a:pt x="28" y="138"/>
                    <a:pt x="43" y="130"/>
                    <a:pt x="56" y="124"/>
                  </a:cubicBezTo>
                  <a:cubicBezTo>
                    <a:pt x="59" y="121"/>
                    <a:pt x="59" y="121"/>
                    <a:pt x="61" y="121"/>
                  </a:cubicBezTo>
                  <a:cubicBezTo>
                    <a:pt x="64" y="112"/>
                    <a:pt x="66" y="110"/>
                    <a:pt x="75" y="108"/>
                  </a:cubicBezTo>
                  <a:cubicBezTo>
                    <a:pt x="79" y="106"/>
                    <a:pt x="79" y="106"/>
                    <a:pt x="90" y="100"/>
                  </a:cubicBezTo>
                  <a:cubicBezTo>
                    <a:pt x="90" y="99"/>
                    <a:pt x="91" y="98"/>
                    <a:pt x="91" y="96"/>
                  </a:cubicBezTo>
                  <a:cubicBezTo>
                    <a:pt x="74" y="98"/>
                    <a:pt x="61" y="112"/>
                    <a:pt x="48" y="121"/>
                  </a:cubicBezTo>
                  <a:cubicBezTo>
                    <a:pt x="41" y="122"/>
                    <a:pt x="36" y="121"/>
                    <a:pt x="32" y="119"/>
                  </a:cubicBezTo>
                  <a:cubicBezTo>
                    <a:pt x="29" y="120"/>
                    <a:pt x="12" y="123"/>
                    <a:pt x="20" y="116"/>
                  </a:cubicBezTo>
                  <a:cubicBezTo>
                    <a:pt x="25" y="114"/>
                    <a:pt x="29" y="111"/>
                    <a:pt x="34" y="108"/>
                  </a:cubicBezTo>
                  <a:cubicBezTo>
                    <a:pt x="47" y="100"/>
                    <a:pt x="61" y="93"/>
                    <a:pt x="74" y="85"/>
                  </a:cubicBezTo>
                  <a:cubicBezTo>
                    <a:pt x="74" y="83"/>
                    <a:pt x="73" y="82"/>
                    <a:pt x="73" y="81"/>
                  </a:cubicBezTo>
                  <a:cubicBezTo>
                    <a:pt x="73" y="79"/>
                    <a:pt x="74" y="77"/>
                    <a:pt x="74" y="75"/>
                  </a:cubicBezTo>
                  <a:cubicBezTo>
                    <a:pt x="72" y="76"/>
                    <a:pt x="71" y="76"/>
                    <a:pt x="71" y="78"/>
                  </a:cubicBezTo>
                  <a:cubicBezTo>
                    <a:pt x="63" y="81"/>
                    <a:pt x="59" y="88"/>
                    <a:pt x="53" y="81"/>
                  </a:cubicBezTo>
                  <a:cubicBezTo>
                    <a:pt x="51" y="88"/>
                    <a:pt x="46" y="93"/>
                    <a:pt x="39" y="93"/>
                  </a:cubicBezTo>
                  <a:cubicBezTo>
                    <a:pt x="32" y="89"/>
                    <a:pt x="32" y="77"/>
                    <a:pt x="31" y="72"/>
                  </a:cubicBezTo>
                  <a:cubicBezTo>
                    <a:pt x="30" y="71"/>
                    <a:pt x="29" y="67"/>
                    <a:pt x="27" y="61"/>
                  </a:cubicBezTo>
                  <a:cubicBezTo>
                    <a:pt x="24" y="55"/>
                    <a:pt x="18" y="47"/>
                    <a:pt x="22" y="42"/>
                  </a:cubicBezTo>
                  <a:cubicBezTo>
                    <a:pt x="27" y="38"/>
                    <a:pt x="29" y="37"/>
                    <a:pt x="33" y="44"/>
                  </a:cubicBezTo>
                  <a:cubicBezTo>
                    <a:pt x="37" y="47"/>
                    <a:pt x="42" y="51"/>
                    <a:pt x="45" y="56"/>
                  </a:cubicBezTo>
                  <a:cubicBezTo>
                    <a:pt x="45" y="56"/>
                    <a:pt x="46" y="56"/>
                    <a:pt x="46" y="56"/>
                  </a:cubicBezTo>
                  <a:cubicBezTo>
                    <a:pt x="48" y="62"/>
                    <a:pt x="54" y="69"/>
                    <a:pt x="53" y="77"/>
                  </a:cubicBezTo>
                  <a:cubicBezTo>
                    <a:pt x="57" y="75"/>
                    <a:pt x="62" y="71"/>
                    <a:pt x="60" y="66"/>
                  </a:cubicBezTo>
                  <a:cubicBezTo>
                    <a:pt x="53" y="63"/>
                    <a:pt x="57" y="57"/>
                    <a:pt x="61" y="55"/>
                  </a:cubicBezTo>
                  <a:cubicBezTo>
                    <a:pt x="64" y="55"/>
                    <a:pt x="64" y="55"/>
                    <a:pt x="68" y="55"/>
                  </a:cubicBezTo>
                  <a:cubicBezTo>
                    <a:pt x="68" y="53"/>
                    <a:pt x="68" y="53"/>
                    <a:pt x="67" y="52"/>
                  </a:cubicBezTo>
                  <a:cubicBezTo>
                    <a:pt x="62" y="50"/>
                    <a:pt x="63" y="49"/>
                    <a:pt x="64" y="45"/>
                  </a:cubicBezTo>
                  <a:cubicBezTo>
                    <a:pt x="58" y="43"/>
                    <a:pt x="56" y="37"/>
                    <a:pt x="58" y="32"/>
                  </a:cubicBezTo>
                  <a:cubicBezTo>
                    <a:pt x="76" y="28"/>
                    <a:pt x="76" y="28"/>
                    <a:pt x="84" y="25"/>
                  </a:cubicBezTo>
                  <a:cubicBezTo>
                    <a:pt x="89" y="19"/>
                    <a:pt x="95" y="0"/>
                    <a:pt x="106" y="4"/>
                  </a:cubicBezTo>
                  <a:cubicBezTo>
                    <a:pt x="109" y="7"/>
                    <a:pt x="111" y="14"/>
                    <a:pt x="111" y="20"/>
                  </a:cubicBezTo>
                  <a:cubicBezTo>
                    <a:pt x="109" y="23"/>
                    <a:pt x="107" y="25"/>
                    <a:pt x="107" y="28"/>
                  </a:cubicBezTo>
                  <a:cubicBezTo>
                    <a:pt x="108" y="28"/>
                    <a:pt x="109" y="28"/>
                    <a:pt x="110" y="29"/>
                  </a:cubicBezTo>
                  <a:cubicBezTo>
                    <a:pt x="117" y="25"/>
                    <a:pt x="121" y="21"/>
                    <a:pt x="125" y="31"/>
                  </a:cubicBezTo>
                  <a:cubicBezTo>
                    <a:pt x="132" y="35"/>
                    <a:pt x="134" y="34"/>
                    <a:pt x="132" y="44"/>
                  </a:cubicBezTo>
                  <a:cubicBezTo>
                    <a:pt x="127" y="55"/>
                    <a:pt x="121" y="66"/>
                    <a:pt x="115" y="76"/>
                  </a:cubicBezTo>
                  <a:cubicBezTo>
                    <a:pt x="115" y="76"/>
                    <a:pt x="115" y="77"/>
                    <a:pt x="115" y="77"/>
                  </a:cubicBezTo>
                  <a:cubicBezTo>
                    <a:pt x="117" y="77"/>
                    <a:pt x="118" y="78"/>
                    <a:pt x="119" y="78"/>
                  </a:cubicBezTo>
                  <a:cubicBezTo>
                    <a:pt x="120" y="83"/>
                    <a:pt x="120" y="88"/>
                    <a:pt x="120" y="94"/>
                  </a:cubicBezTo>
                  <a:cubicBezTo>
                    <a:pt x="116" y="100"/>
                    <a:pt x="110" y="100"/>
                    <a:pt x="103" y="101"/>
                  </a:cubicBezTo>
                  <a:cubicBezTo>
                    <a:pt x="94" y="106"/>
                    <a:pt x="86" y="109"/>
                    <a:pt x="78" y="114"/>
                  </a:cubicBezTo>
                  <a:cubicBezTo>
                    <a:pt x="78" y="116"/>
                    <a:pt x="78" y="118"/>
                    <a:pt x="79" y="120"/>
                  </a:cubicBezTo>
                  <a:cubicBezTo>
                    <a:pt x="83" y="120"/>
                    <a:pt x="87" y="120"/>
                    <a:pt x="92" y="119"/>
                  </a:cubicBezTo>
                  <a:cubicBezTo>
                    <a:pt x="96" y="123"/>
                    <a:pt x="96" y="131"/>
                    <a:pt x="93" y="136"/>
                  </a:cubicBezTo>
                  <a:cubicBezTo>
                    <a:pt x="88" y="137"/>
                    <a:pt x="85" y="138"/>
                    <a:pt x="81" y="140"/>
                  </a:cubicBezTo>
                  <a:cubicBezTo>
                    <a:pt x="81" y="142"/>
                    <a:pt x="81" y="144"/>
                    <a:pt x="80" y="147"/>
                  </a:cubicBezTo>
                  <a:cubicBezTo>
                    <a:pt x="81" y="156"/>
                    <a:pt x="85" y="178"/>
                    <a:pt x="72" y="180"/>
                  </a:cubicBezTo>
                  <a:moveTo>
                    <a:pt x="99" y="67"/>
                  </a:moveTo>
                  <a:cubicBezTo>
                    <a:pt x="103" y="63"/>
                    <a:pt x="106" y="58"/>
                    <a:pt x="106" y="53"/>
                  </a:cubicBezTo>
                  <a:cubicBezTo>
                    <a:pt x="102" y="49"/>
                    <a:pt x="96" y="49"/>
                    <a:pt x="92" y="49"/>
                  </a:cubicBezTo>
                  <a:cubicBezTo>
                    <a:pt x="92" y="51"/>
                    <a:pt x="92" y="51"/>
                    <a:pt x="87" y="59"/>
                  </a:cubicBezTo>
                  <a:cubicBezTo>
                    <a:pt x="88" y="59"/>
                    <a:pt x="88" y="59"/>
                    <a:pt x="89" y="59"/>
                  </a:cubicBezTo>
                  <a:cubicBezTo>
                    <a:pt x="88" y="60"/>
                    <a:pt x="88" y="60"/>
                    <a:pt x="87" y="60"/>
                  </a:cubicBezTo>
                  <a:cubicBezTo>
                    <a:pt x="87" y="60"/>
                    <a:pt x="88" y="60"/>
                    <a:pt x="88" y="61"/>
                  </a:cubicBezTo>
                  <a:cubicBezTo>
                    <a:pt x="90" y="61"/>
                    <a:pt x="91" y="59"/>
                    <a:pt x="92" y="58"/>
                  </a:cubicBezTo>
                  <a:cubicBezTo>
                    <a:pt x="98" y="57"/>
                    <a:pt x="98" y="59"/>
                    <a:pt x="98" y="67"/>
                  </a:cubicBezTo>
                  <a:cubicBezTo>
                    <a:pt x="98" y="67"/>
                    <a:pt x="98" y="67"/>
                    <a:pt x="99" y="67"/>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1" name="Freeform 87"/>
            <p:cNvSpPr/>
            <p:nvPr userDrawn="1"/>
          </p:nvSpPr>
          <p:spPr bwMode="auto">
            <a:xfrm>
              <a:off x="1415" y="933"/>
              <a:ext cx="31" cy="40"/>
            </a:xfrm>
            <a:custGeom>
              <a:avLst/>
              <a:gdLst>
                <a:gd name="T0" fmla="*/ 0 w 31"/>
                <a:gd name="T1" fmla="*/ 35 h 40"/>
                <a:gd name="T2" fmla="*/ 24 w 31"/>
                <a:gd name="T3" fmla="*/ 5 h 40"/>
                <a:gd name="T4" fmla="*/ 2 w 31"/>
                <a:gd name="T5" fmla="*/ 5 h 40"/>
                <a:gd name="T6" fmla="*/ 2 w 31"/>
                <a:gd name="T7" fmla="*/ 3 h 40"/>
                <a:gd name="T8" fmla="*/ 2 w 31"/>
                <a:gd name="T9" fmla="*/ 0 h 40"/>
                <a:gd name="T10" fmla="*/ 31 w 31"/>
                <a:gd name="T11" fmla="*/ 0 h 40"/>
                <a:gd name="T12" fmla="*/ 31 w 31"/>
                <a:gd name="T13" fmla="*/ 3 h 40"/>
                <a:gd name="T14" fmla="*/ 31 w 31"/>
                <a:gd name="T15" fmla="*/ 5 h 40"/>
                <a:gd name="T16" fmla="*/ 6 w 31"/>
                <a:gd name="T17" fmla="*/ 35 h 40"/>
                <a:gd name="T18" fmla="*/ 31 w 31"/>
                <a:gd name="T19" fmla="*/ 35 h 40"/>
                <a:gd name="T20" fmla="*/ 31 w 31"/>
                <a:gd name="T21" fmla="*/ 37 h 40"/>
                <a:gd name="T22" fmla="*/ 31 w 31"/>
                <a:gd name="T23" fmla="*/ 40 h 40"/>
                <a:gd name="T24" fmla="*/ 0 w 31"/>
                <a:gd name="T25" fmla="*/ 40 h 40"/>
                <a:gd name="T26" fmla="*/ 0 w 31"/>
                <a:gd name="T27" fmla="*/ 37 h 40"/>
                <a:gd name="T28" fmla="*/ 0 w 31"/>
                <a:gd name="T29" fmla="*/ 3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0" y="35"/>
                  </a:moveTo>
                  <a:lnTo>
                    <a:pt x="24" y="5"/>
                  </a:lnTo>
                  <a:lnTo>
                    <a:pt x="2" y="5"/>
                  </a:lnTo>
                  <a:lnTo>
                    <a:pt x="2" y="3"/>
                  </a:lnTo>
                  <a:lnTo>
                    <a:pt x="2" y="0"/>
                  </a:lnTo>
                  <a:lnTo>
                    <a:pt x="31" y="0"/>
                  </a:lnTo>
                  <a:lnTo>
                    <a:pt x="31" y="3"/>
                  </a:lnTo>
                  <a:lnTo>
                    <a:pt x="31" y="5"/>
                  </a:lnTo>
                  <a:lnTo>
                    <a:pt x="6" y="35"/>
                  </a:lnTo>
                  <a:lnTo>
                    <a:pt x="31" y="35"/>
                  </a:lnTo>
                  <a:lnTo>
                    <a:pt x="31" y="37"/>
                  </a:lnTo>
                  <a:lnTo>
                    <a:pt x="31" y="40"/>
                  </a:lnTo>
                  <a:lnTo>
                    <a:pt x="0" y="40"/>
                  </a:lnTo>
                  <a:lnTo>
                    <a:pt x="0" y="37"/>
                  </a:lnTo>
                  <a:lnTo>
                    <a:pt x="0" y="35"/>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2" name="Freeform 88"/>
            <p:cNvSpPr/>
            <p:nvPr userDrawn="1"/>
          </p:nvSpPr>
          <p:spPr bwMode="auto">
            <a:xfrm>
              <a:off x="1458" y="933"/>
              <a:ext cx="31" cy="40"/>
            </a:xfrm>
            <a:custGeom>
              <a:avLst/>
              <a:gdLst>
                <a:gd name="T0" fmla="*/ 0 w 31"/>
                <a:gd name="T1" fmla="*/ 0 h 40"/>
                <a:gd name="T2" fmla="*/ 2 w 31"/>
                <a:gd name="T3" fmla="*/ 0 h 40"/>
                <a:gd name="T4" fmla="*/ 5 w 31"/>
                <a:gd name="T5" fmla="*/ 0 h 40"/>
                <a:gd name="T6" fmla="*/ 5 w 31"/>
                <a:gd name="T7" fmla="*/ 16 h 40"/>
                <a:gd name="T8" fmla="*/ 26 w 31"/>
                <a:gd name="T9" fmla="*/ 16 h 40"/>
                <a:gd name="T10" fmla="*/ 26 w 31"/>
                <a:gd name="T11" fmla="*/ 0 h 40"/>
                <a:gd name="T12" fmla="*/ 28 w 31"/>
                <a:gd name="T13" fmla="*/ 0 h 40"/>
                <a:gd name="T14" fmla="*/ 31 w 31"/>
                <a:gd name="T15" fmla="*/ 0 h 40"/>
                <a:gd name="T16" fmla="*/ 31 w 31"/>
                <a:gd name="T17" fmla="*/ 40 h 40"/>
                <a:gd name="T18" fmla="*/ 28 w 31"/>
                <a:gd name="T19" fmla="*/ 40 h 40"/>
                <a:gd name="T20" fmla="*/ 26 w 31"/>
                <a:gd name="T21" fmla="*/ 40 h 40"/>
                <a:gd name="T22" fmla="*/ 26 w 31"/>
                <a:gd name="T23" fmla="*/ 21 h 40"/>
                <a:gd name="T24" fmla="*/ 5 w 31"/>
                <a:gd name="T25" fmla="*/ 21 h 40"/>
                <a:gd name="T26" fmla="*/ 5 w 31"/>
                <a:gd name="T27" fmla="*/ 40 h 40"/>
                <a:gd name="T28" fmla="*/ 2 w 31"/>
                <a:gd name="T29" fmla="*/ 40 h 40"/>
                <a:gd name="T30" fmla="*/ 0 w 31"/>
                <a:gd name="T31" fmla="*/ 40 h 40"/>
                <a:gd name="T32" fmla="*/ 0 w 31"/>
                <a:gd name="T3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40">
                  <a:moveTo>
                    <a:pt x="0" y="0"/>
                  </a:moveTo>
                  <a:lnTo>
                    <a:pt x="2" y="0"/>
                  </a:lnTo>
                  <a:lnTo>
                    <a:pt x="5" y="0"/>
                  </a:lnTo>
                  <a:lnTo>
                    <a:pt x="5" y="16"/>
                  </a:lnTo>
                  <a:lnTo>
                    <a:pt x="26" y="16"/>
                  </a:lnTo>
                  <a:lnTo>
                    <a:pt x="26" y="0"/>
                  </a:lnTo>
                  <a:lnTo>
                    <a:pt x="28" y="0"/>
                  </a:lnTo>
                  <a:lnTo>
                    <a:pt x="31" y="0"/>
                  </a:lnTo>
                  <a:lnTo>
                    <a:pt x="31" y="40"/>
                  </a:lnTo>
                  <a:lnTo>
                    <a:pt x="28" y="40"/>
                  </a:lnTo>
                  <a:lnTo>
                    <a:pt x="26" y="40"/>
                  </a:lnTo>
                  <a:lnTo>
                    <a:pt x="26" y="21"/>
                  </a:lnTo>
                  <a:lnTo>
                    <a:pt x="5" y="21"/>
                  </a:lnTo>
                  <a:lnTo>
                    <a:pt x="5" y="40"/>
                  </a:lnTo>
                  <a:lnTo>
                    <a:pt x="2" y="40"/>
                  </a:lnTo>
                  <a:lnTo>
                    <a:pt x="0" y="40"/>
                  </a:lnTo>
                  <a:lnTo>
                    <a:pt x="0"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3" name="Freeform 89"/>
            <p:cNvSpPr/>
            <p:nvPr userDrawn="1"/>
          </p:nvSpPr>
          <p:spPr bwMode="auto">
            <a:xfrm>
              <a:off x="1503" y="933"/>
              <a:ext cx="29" cy="40"/>
            </a:xfrm>
            <a:custGeom>
              <a:avLst/>
              <a:gdLst>
                <a:gd name="T0" fmla="*/ 0 w 29"/>
                <a:gd name="T1" fmla="*/ 40 h 40"/>
                <a:gd name="T2" fmla="*/ 0 w 29"/>
                <a:gd name="T3" fmla="*/ 0 h 40"/>
                <a:gd name="T4" fmla="*/ 29 w 29"/>
                <a:gd name="T5" fmla="*/ 0 h 40"/>
                <a:gd name="T6" fmla="*/ 29 w 29"/>
                <a:gd name="T7" fmla="*/ 3 h 40"/>
                <a:gd name="T8" fmla="*/ 29 w 29"/>
                <a:gd name="T9" fmla="*/ 5 h 40"/>
                <a:gd name="T10" fmla="*/ 6 w 29"/>
                <a:gd name="T11" fmla="*/ 5 h 40"/>
                <a:gd name="T12" fmla="*/ 6 w 29"/>
                <a:gd name="T13" fmla="*/ 16 h 40"/>
                <a:gd name="T14" fmla="*/ 27 w 29"/>
                <a:gd name="T15" fmla="*/ 16 h 40"/>
                <a:gd name="T16" fmla="*/ 27 w 29"/>
                <a:gd name="T17" fmla="*/ 19 h 40"/>
                <a:gd name="T18" fmla="*/ 27 w 29"/>
                <a:gd name="T19" fmla="*/ 21 h 40"/>
                <a:gd name="T20" fmla="*/ 6 w 29"/>
                <a:gd name="T21" fmla="*/ 21 h 40"/>
                <a:gd name="T22" fmla="*/ 6 w 29"/>
                <a:gd name="T23" fmla="*/ 35 h 40"/>
                <a:gd name="T24" fmla="*/ 29 w 29"/>
                <a:gd name="T25" fmla="*/ 35 h 40"/>
                <a:gd name="T26" fmla="*/ 29 w 29"/>
                <a:gd name="T27" fmla="*/ 37 h 40"/>
                <a:gd name="T28" fmla="*/ 29 w 29"/>
                <a:gd name="T29" fmla="*/ 40 h 40"/>
                <a:gd name="T30" fmla="*/ 0 w 29"/>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 h="40">
                  <a:moveTo>
                    <a:pt x="0" y="40"/>
                  </a:moveTo>
                  <a:lnTo>
                    <a:pt x="0" y="0"/>
                  </a:lnTo>
                  <a:lnTo>
                    <a:pt x="29" y="0"/>
                  </a:lnTo>
                  <a:lnTo>
                    <a:pt x="29" y="3"/>
                  </a:lnTo>
                  <a:lnTo>
                    <a:pt x="29" y="5"/>
                  </a:lnTo>
                  <a:lnTo>
                    <a:pt x="6" y="5"/>
                  </a:lnTo>
                  <a:lnTo>
                    <a:pt x="6" y="16"/>
                  </a:lnTo>
                  <a:lnTo>
                    <a:pt x="27" y="16"/>
                  </a:lnTo>
                  <a:lnTo>
                    <a:pt x="27" y="19"/>
                  </a:lnTo>
                  <a:lnTo>
                    <a:pt x="27" y="21"/>
                  </a:lnTo>
                  <a:lnTo>
                    <a:pt x="6" y="21"/>
                  </a:lnTo>
                  <a:lnTo>
                    <a:pt x="6" y="35"/>
                  </a:lnTo>
                  <a:lnTo>
                    <a:pt x="29" y="35"/>
                  </a:lnTo>
                  <a:lnTo>
                    <a:pt x="29" y="37"/>
                  </a:lnTo>
                  <a:lnTo>
                    <a:pt x="29" y="40"/>
                  </a:lnTo>
                  <a:lnTo>
                    <a:pt x="0" y="4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4" name="Freeform 90"/>
            <p:cNvSpPr/>
            <p:nvPr userDrawn="1"/>
          </p:nvSpPr>
          <p:spPr bwMode="auto">
            <a:xfrm>
              <a:off x="1542" y="933"/>
              <a:ext cx="22" cy="40"/>
            </a:xfrm>
            <a:custGeom>
              <a:avLst/>
              <a:gdLst>
                <a:gd name="T0" fmla="*/ 14 w 18"/>
                <a:gd name="T1" fmla="*/ 0 h 32"/>
                <a:gd name="T2" fmla="*/ 16 w 18"/>
                <a:gd name="T3" fmla="*/ 0 h 32"/>
                <a:gd name="T4" fmla="*/ 18 w 18"/>
                <a:gd name="T5" fmla="*/ 0 h 32"/>
                <a:gd name="T6" fmla="*/ 18 w 18"/>
                <a:gd name="T7" fmla="*/ 23 h 32"/>
                <a:gd name="T8" fmla="*/ 16 w 18"/>
                <a:gd name="T9" fmla="*/ 30 h 32"/>
                <a:gd name="T10" fmla="*/ 9 w 18"/>
                <a:gd name="T11" fmla="*/ 32 h 32"/>
                <a:gd name="T12" fmla="*/ 2 w 18"/>
                <a:gd name="T13" fmla="*/ 30 h 32"/>
                <a:gd name="T14" fmla="*/ 0 w 18"/>
                <a:gd name="T15" fmla="*/ 23 h 32"/>
                <a:gd name="T16" fmla="*/ 0 w 18"/>
                <a:gd name="T17" fmla="*/ 21 h 32"/>
                <a:gd name="T18" fmla="*/ 4 w 18"/>
                <a:gd name="T19" fmla="*/ 21 h 32"/>
                <a:gd name="T20" fmla="*/ 4 w 18"/>
                <a:gd name="T21" fmla="*/ 23 h 32"/>
                <a:gd name="T22" fmla="*/ 6 w 18"/>
                <a:gd name="T23" fmla="*/ 27 h 32"/>
                <a:gd name="T24" fmla="*/ 9 w 18"/>
                <a:gd name="T25" fmla="*/ 29 h 32"/>
                <a:gd name="T26" fmla="*/ 13 w 18"/>
                <a:gd name="T27" fmla="*/ 27 h 32"/>
                <a:gd name="T28" fmla="*/ 14 w 18"/>
                <a:gd name="T29" fmla="*/ 23 h 32"/>
                <a:gd name="T30" fmla="*/ 14 w 18"/>
                <a:gd name="T31"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32">
                  <a:moveTo>
                    <a:pt x="14" y="0"/>
                  </a:moveTo>
                  <a:cubicBezTo>
                    <a:pt x="16" y="0"/>
                    <a:pt x="16" y="0"/>
                    <a:pt x="16" y="0"/>
                  </a:cubicBezTo>
                  <a:cubicBezTo>
                    <a:pt x="18" y="0"/>
                    <a:pt x="18" y="0"/>
                    <a:pt x="18" y="0"/>
                  </a:cubicBezTo>
                  <a:cubicBezTo>
                    <a:pt x="18" y="23"/>
                    <a:pt x="18" y="23"/>
                    <a:pt x="18" y="23"/>
                  </a:cubicBezTo>
                  <a:cubicBezTo>
                    <a:pt x="18" y="26"/>
                    <a:pt x="18" y="28"/>
                    <a:pt x="16" y="30"/>
                  </a:cubicBezTo>
                  <a:cubicBezTo>
                    <a:pt x="14" y="32"/>
                    <a:pt x="12" y="32"/>
                    <a:pt x="9" y="32"/>
                  </a:cubicBezTo>
                  <a:cubicBezTo>
                    <a:pt x="6" y="32"/>
                    <a:pt x="4" y="32"/>
                    <a:pt x="2" y="30"/>
                  </a:cubicBezTo>
                  <a:cubicBezTo>
                    <a:pt x="1" y="28"/>
                    <a:pt x="0" y="26"/>
                    <a:pt x="0" y="23"/>
                  </a:cubicBezTo>
                  <a:cubicBezTo>
                    <a:pt x="0" y="21"/>
                    <a:pt x="0" y="21"/>
                    <a:pt x="0" y="21"/>
                  </a:cubicBezTo>
                  <a:cubicBezTo>
                    <a:pt x="4" y="21"/>
                    <a:pt x="4" y="21"/>
                    <a:pt x="4" y="21"/>
                  </a:cubicBezTo>
                  <a:cubicBezTo>
                    <a:pt x="4" y="23"/>
                    <a:pt x="4" y="23"/>
                    <a:pt x="4" y="23"/>
                  </a:cubicBezTo>
                  <a:cubicBezTo>
                    <a:pt x="4" y="25"/>
                    <a:pt x="5" y="26"/>
                    <a:pt x="6" y="27"/>
                  </a:cubicBezTo>
                  <a:cubicBezTo>
                    <a:pt x="6" y="28"/>
                    <a:pt x="8" y="29"/>
                    <a:pt x="9" y="29"/>
                  </a:cubicBezTo>
                  <a:cubicBezTo>
                    <a:pt x="11" y="29"/>
                    <a:pt x="12" y="28"/>
                    <a:pt x="13" y="27"/>
                  </a:cubicBezTo>
                  <a:cubicBezTo>
                    <a:pt x="14" y="26"/>
                    <a:pt x="14" y="24"/>
                    <a:pt x="14" y="23"/>
                  </a:cubicBezTo>
                  <a:lnTo>
                    <a:pt x="14"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5" name="Freeform 91"/>
            <p:cNvSpPr/>
            <p:nvPr userDrawn="1"/>
          </p:nvSpPr>
          <p:spPr bwMode="auto">
            <a:xfrm>
              <a:off x="1579" y="933"/>
              <a:ext cx="5" cy="40"/>
            </a:xfrm>
            <a:custGeom>
              <a:avLst/>
              <a:gdLst>
                <a:gd name="T0" fmla="*/ 0 w 5"/>
                <a:gd name="T1" fmla="*/ 0 h 40"/>
                <a:gd name="T2" fmla="*/ 3 w 5"/>
                <a:gd name="T3" fmla="*/ 0 h 40"/>
                <a:gd name="T4" fmla="*/ 5 w 5"/>
                <a:gd name="T5" fmla="*/ 0 h 40"/>
                <a:gd name="T6" fmla="*/ 5 w 5"/>
                <a:gd name="T7" fmla="*/ 40 h 40"/>
                <a:gd name="T8" fmla="*/ 3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3" y="0"/>
                  </a:lnTo>
                  <a:lnTo>
                    <a:pt x="5" y="0"/>
                  </a:lnTo>
                  <a:lnTo>
                    <a:pt x="5" y="40"/>
                  </a:lnTo>
                  <a:lnTo>
                    <a:pt x="3" y="40"/>
                  </a:lnTo>
                  <a:lnTo>
                    <a:pt x="0" y="40"/>
                  </a:lnTo>
                  <a:lnTo>
                    <a:pt x="0"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6" name="Freeform 92"/>
            <p:cNvSpPr>
              <a:spLocks noEditPoints="1"/>
            </p:cNvSpPr>
            <p:nvPr userDrawn="1"/>
          </p:nvSpPr>
          <p:spPr bwMode="auto">
            <a:xfrm>
              <a:off x="1595" y="933"/>
              <a:ext cx="36" cy="40"/>
            </a:xfrm>
            <a:custGeom>
              <a:avLst/>
              <a:gdLst>
                <a:gd name="T0" fmla="*/ 15 w 36"/>
                <a:gd name="T1" fmla="*/ 0 h 40"/>
                <a:gd name="T2" fmla="*/ 19 w 36"/>
                <a:gd name="T3" fmla="*/ 0 h 40"/>
                <a:gd name="T4" fmla="*/ 21 w 36"/>
                <a:gd name="T5" fmla="*/ 0 h 40"/>
                <a:gd name="T6" fmla="*/ 36 w 36"/>
                <a:gd name="T7" fmla="*/ 40 h 40"/>
                <a:gd name="T8" fmla="*/ 33 w 36"/>
                <a:gd name="T9" fmla="*/ 40 h 40"/>
                <a:gd name="T10" fmla="*/ 30 w 36"/>
                <a:gd name="T11" fmla="*/ 40 h 40"/>
                <a:gd name="T12" fmla="*/ 26 w 36"/>
                <a:gd name="T13" fmla="*/ 27 h 40"/>
                <a:gd name="T14" fmla="*/ 10 w 36"/>
                <a:gd name="T15" fmla="*/ 27 h 40"/>
                <a:gd name="T16" fmla="*/ 7 w 36"/>
                <a:gd name="T17" fmla="*/ 40 h 40"/>
                <a:gd name="T18" fmla="*/ 4 w 36"/>
                <a:gd name="T19" fmla="*/ 40 h 40"/>
                <a:gd name="T20" fmla="*/ 0 w 36"/>
                <a:gd name="T21" fmla="*/ 40 h 40"/>
                <a:gd name="T22" fmla="*/ 15 w 36"/>
                <a:gd name="T23" fmla="*/ 0 h 40"/>
                <a:gd name="T24" fmla="*/ 12 w 36"/>
                <a:gd name="T25" fmla="*/ 24 h 40"/>
                <a:gd name="T26" fmla="*/ 24 w 36"/>
                <a:gd name="T27" fmla="*/ 24 h 40"/>
                <a:gd name="T28" fmla="*/ 19 w 36"/>
                <a:gd name="T29" fmla="*/ 5 h 40"/>
                <a:gd name="T30" fmla="*/ 19 w 36"/>
                <a:gd name="T31" fmla="*/ 5 h 40"/>
                <a:gd name="T32" fmla="*/ 12 w 36"/>
                <a:gd name="T33"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 h="40">
                  <a:moveTo>
                    <a:pt x="15" y="0"/>
                  </a:moveTo>
                  <a:lnTo>
                    <a:pt x="19" y="0"/>
                  </a:lnTo>
                  <a:lnTo>
                    <a:pt x="21" y="0"/>
                  </a:lnTo>
                  <a:lnTo>
                    <a:pt x="36" y="40"/>
                  </a:lnTo>
                  <a:lnTo>
                    <a:pt x="33" y="40"/>
                  </a:lnTo>
                  <a:lnTo>
                    <a:pt x="30" y="40"/>
                  </a:lnTo>
                  <a:lnTo>
                    <a:pt x="26" y="27"/>
                  </a:lnTo>
                  <a:lnTo>
                    <a:pt x="10" y="27"/>
                  </a:lnTo>
                  <a:lnTo>
                    <a:pt x="7" y="40"/>
                  </a:lnTo>
                  <a:lnTo>
                    <a:pt x="4" y="40"/>
                  </a:lnTo>
                  <a:lnTo>
                    <a:pt x="0" y="40"/>
                  </a:lnTo>
                  <a:lnTo>
                    <a:pt x="15" y="0"/>
                  </a:lnTo>
                  <a:close/>
                  <a:moveTo>
                    <a:pt x="12" y="24"/>
                  </a:moveTo>
                  <a:lnTo>
                    <a:pt x="24" y="24"/>
                  </a:lnTo>
                  <a:lnTo>
                    <a:pt x="19" y="5"/>
                  </a:lnTo>
                  <a:lnTo>
                    <a:pt x="19" y="5"/>
                  </a:lnTo>
                  <a:lnTo>
                    <a:pt x="12" y="24"/>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7" name="Freeform 93"/>
            <p:cNvSpPr/>
            <p:nvPr userDrawn="1"/>
          </p:nvSpPr>
          <p:spPr bwMode="auto">
            <a:xfrm>
              <a:off x="1641" y="933"/>
              <a:ext cx="31" cy="40"/>
            </a:xfrm>
            <a:custGeom>
              <a:avLst/>
              <a:gdLst>
                <a:gd name="T0" fmla="*/ 5 w 31"/>
                <a:gd name="T1" fmla="*/ 40 h 40"/>
                <a:gd name="T2" fmla="*/ 3 w 31"/>
                <a:gd name="T3" fmla="*/ 40 h 40"/>
                <a:gd name="T4" fmla="*/ 0 w 31"/>
                <a:gd name="T5" fmla="*/ 40 h 40"/>
                <a:gd name="T6" fmla="*/ 0 w 31"/>
                <a:gd name="T7" fmla="*/ 0 h 40"/>
                <a:gd name="T8" fmla="*/ 4 w 31"/>
                <a:gd name="T9" fmla="*/ 0 h 40"/>
                <a:gd name="T10" fmla="*/ 6 w 31"/>
                <a:gd name="T11" fmla="*/ 0 h 40"/>
                <a:gd name="T12" fmla="*/ 26 w 31"/>
                <a:gd name="T13" fmla="*/ 32 h 40"/>
                <a:gd name="T14" fmla="*/ 26 w 31"/>
                <a:gd name="T15" fmla="*/ 0 h 40"/>
                <a:gd name="T16" fmla="*/ 29 w 31"/>
                <a:gd name="T17" fmla="*/ 0 h 40"/>
                <a:gd name="T18" fmla="*/ 31 w 31"/>
                <a:gd name="T19" fmla="*/ 0 h 40"/>
                <a:gd name="T20" fmla="*/ 31 w 31"/>
                <a:gd name="T21" fmla="*/ 40 h 40"/>
                <a:gd name="T22" fmla="*/ 29 w 31"/>
                <a:gd name="T23" fmla="*/ 40 h 40"/>
                <a:gd name="T24" fmla="*/ 26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3" y="40"/>
                  </a:lnTo>
                  <a:lnTo>
                    <a:pt x="0" y="40"/>
                  </a:lnTo>
                  <a:lnTo>
                    <a:pt x="0" y="0"/>
                  </a:lnTo>
                  <a:lnTo>
                    <a:pt x="4" y="0"/>
                  </a:lnTo>
                  <a:lnTo>
                    <a:pt x="6" y="0"/>
                  </a:lnTo>
                  <a:lnTo>
                    <a:pt x="26" y="32"/>
                  </a:lnTo>
                  <a:lnTo>
                    <a:pt x="26" y="0"/>
                  </a:lnTo>
                  <a:lnTo>
                    <a:pt x="29" y="0"/>
                  </a:lnTo>
                  <a:lnTo>
                    <a:pt x="31" y="0"/>
                  </a:lnTo>
                  <a:lnTo>
                    <a:pt x="31" y="40"/>
                  </a:lnTo>
                  <a:lnTo>
                    <a:pt x="29" y="40"/>
                  </a:lnTo>
                  <a:lnTo>
                    <a:pt x="26" y="40"/>
                  </a:lnTo>
                  <a:lnTo>
                    <a:pt x="5" y="8"/>
                  </a:lnTo>
                  <a:lnTo>
                    <a:pt x="5" y="4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8" name="Freeform 94"/>
            <p:cNvSpPr/>
            <p:nvPr userDrawn="1"/>
          </p:nvSpPr>
          <p:spPr bwMode="auto">
            <a:xfrm>
              <a:off x="1687" y="932"/>
              <a:ext cx="36" cy="41"/>
            </a:xfrm>
            <a:custGeom>
              <a:avLst/>
              <a:gdLst>
                <a:gd name="T0" fmla="*/ 15 w 29"/>
                <a:gd name="T1" fmla="*/ 33 h 33"/>
                <a:gd name="T2" fmla="*/ 4 w 29"/>
                <a:gd name="T3" fmla="*/ 29 h 33"/>
                <a:gd name="T4" fmla="*/ 0 w 29"/>
                <a:gd name="T5" fmla="*/ 17 h 33"/>
                <a:gd name="T6" fmla="*/ 4 w 29"/>
                <a:gd name="T7" fmla="*/ 5 h 33"/>
                <a:gd name="T8" fmla="*/ 15 w 29"/>
                <a:gd name="T9" fmla="*/ 0 h 33"/>
                <a:gd name="T10" fmla="*/ 24 w 29"/>
                <a:gd name="T11" fmla="*/ 3 h 33"/>
                <a:gd name="T12" fmla="*/ 28 w 29"/>
                <a:gd name="T13" fmla="*/ 10 h 33"/>
                <a:gd name="T14" fmla="*/ 24 w 29"/>
                <a:gd name="T15" fmla="*/ 10 h 33"/>
                <a:gd name="T16" fmla="*/ 21 w 29"/>
                <a:gd name="T17" fmla="*/ 5 h 33"/>
                <a:gd name="T18" fmla="*/ 15 w 29"/>
                <a:gd name="T19" fmla="*/ 4 h 33"/>
                <a:gd name="T20" fmla="*/ 7 w 29"/>
                <a:gd name="T21" fmla="*/ 7 h 33"/>
                <a:gd name="T22" fmla="*/ 4 w 29"/>
                <a:gd name="T23" fmla="*/ 17 h 33"/>
                <a:gd name="T24" fmla="*/ 7 w 29"/>
                <a:gd name="T25" fmla="*/ 26 h 33"/>
                <a:gd name="T26" fmla="*/ 15 w 29"/>
                <a:gd name="T27" fmla="*/ 30 h 33"/>
                <a:gd name="T28" fmla="*/ 23 w 29"/>
                <a:gd name="T29" fmla="*/ 26 h 33"/>
                <a:gd name="T30" fmla="*/ 24 w 29"/>
                <a:gd name="T31" fmla="*/ 25 h 33"/>
                <a:gd name="T32" fmla="*/ 25 w 29"/>
                <a:gd name="T33" fmla="*/ 23 h 33"/>
                <a:gd name="T34" fmla="*/ 25 w 29"/>
                <a:gd name="T35" fmla="*/ 20 h 33"/>
                <a:gd name="T36" fmla="*/ 25 w 29"/>
                <a:gd name="T37" fmla="*/ 19 h 33"/>
                <a:gd name="T38" fmla="*/ 15 w 29"/>
                <a:gd name="T39" fmla="*/ 19 h 33"/>
                <a:gd name="T40" fmla="*/ 15 w 29"/>
                <a:gd name="T41" fmla="*/ 16 h 33"/>
                <a:gd name="T42" fmla="*/ 29 w 29"/>
                <a:gd name="T43" fmla="*/ 16 h 33"/>
                <a:gd name="T44" fmla="*/ 29 w 29"/>
                <a:gd name="T45" fmla="*/ 32 h 33"/>
                <a:gd name="T46" fmla="*/ 26 w 29"/>
                <a:gd name="T47" fmla="*/ 32 h 33"/>
                <a:gd name="T48" fmla="*/ 25 w 29"/>
                <a:gd name="T49" fmla="*/ 28 h 33"/>
                <a:gd name="T50" fmla="*/ 25 w 29"/>
                <a:gd name="T51" fmla="*/ 29 h 33"/>
                <a:gd name="T52" fmla="*/ 15 w 29"/>
                <a:gd name="T53"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 h="33">
                  <a:moveTo>
                    <a:pt x="15" y="33"/>
                  </a:moveTo>
                  <a:cubicBezTo>
                    <a:pt x="10" y="33"/>
                    <a:pt x="7" y="32"/>
                    <a:pt x="4" y="29"/>
                  </a:cubicBezTo>
                  <a:cubicBezTo>
                    <a:pt x="1" y="26"/>
                    <a:pt x="0" y="22"/>
                    <a:pt x="0" y="17"/>
                  </a:cubicBezTo>
                  <a:cubicBezTo>
                    <a:pt x="0" y="12"/>
                    <a:pt x="1" y="8"/>
                    <a:pt x="4" y="5"/>
                  </a:cubicBezTo>
                  <a:cubicBezTo>
                    <a:pt x="7" y="1"/>
                    <a:pt x="10" y="0"/>
                    <a:pt x="15" y="0"/>
                  </a:cubicBezTo>
                  <a:cubicBezTo>
                    <a:pt x="18" y="0"/>
                    <a:pt x="21" y="1"/>
                    <a:pt x="24" y="3"/>
                  </a:cubicBezTo>
                  <a:cubicBezTo>
                    <a:pt x="26" y="5"/>
                    <a:pt x="28" y="7"/>
                    <a:pt x="28" y="10"/>
                  </a:cubicBezTo>
                  <a:cubicBezTo>
                    <a:pt x="24" y="10"/>
                    <a:pt x="24" y="10"/>
                    <a:pt x="24" y="10"/>
                  </a:cubicBezTo>
                  <a:cubicBezTo>
                    <a:pt x="24" y="8"/>
                    <a:pt x="23" y="7"/>
                    <a:pt x="21" y="5"/>
                  </a:cubicBezTo>
                  <a:cubicBezTo>
                    <a:pt x="19" y="4"/>
                    <a:pt x="17" y="4"/>
                    <a:pt x="15" y="4"/>
                  </a:cubicBezTo>
                  <a:cubicBezTo>
                    <a:pt x="12" y="4"/>
                    <a:pt x="9" y="5"/>
                    <a:pt x="7" y="7"/>
                  </a:cubicBezTo>
                  <a:cubicBezTo>
                    <a:pt x="5" y="10"/>
                    <a:pt x="4" y="13"/>
                    <a:pt x="4" y="17"/>
                  </a:cubicBezTo>
                  <a:cubicBezTo>
                    <a:pt x="4" y="21"/>
                    <a:pt x="5" y="24"/>
                    <a:pt x="7" y="26"/>
                  </a:cubicBezTo>
                  <a:cubicBezTo>
                    <a:pt x="9" y="29"/>
                    <a:pt x="12" y="30"/>
                    <a:pt x="15" y="30"/>
                  </a:cubicBezTo>
                  <a:cubicBezTo>
                    <a:pt x="18" y="30"/>
                    <a:pt x="21" y="29"/>
                    <a:pt x="23" y="26"/>
                  </a:cubicBezTo>
                  <a:cubicBezTo>
                    <a:pt x="23" y="26"/>
                    <a:pt x="23" y="25"/>
                    <a:pt x="24" y="25"/>
                  </a:cubicBezTo>
                  <a:cubicBezTo>
                    <a:pt x="24" y="24"/>
                    <a:pt x="24" y="24"/>
                    <a:pt x="25" y="23"/>
                  </a:cubicBezTo>
                  <a:cubicBezTo>
                    <a:pt x="25" y="22"/>
                    <a:pt x="25" y="21"/>
                    <a:pt x="25" y="20"/>
                  </a:cubicBezTo>
                  <a:cubicBezTo>
                    <a:pt x="25" y="19"/>
                    <a:pt x="25" y="19"/>
                    <a:pt x="25" y="19"/>
                  </a:cubicBezTo>
                  <a:cubicBezTo>
                    <a:pt x="15" y="19"/>
                    <a:pt x="15" y="19"/>
                    <a:pt x="15" y="19"/>
                  </a:cubicBezTo>
                  <a:cubicBezTo>
                    <a:pt x="15" y="16"/>
                    <a:pt x="15" y="16"/>
                    <a:pt x="15" y="16"/>
                  </a:cubicBezTo>
                  <a:cubicBezTo>
                    <a:pt x="29" y="16"/>
                    <a:pt x="29" y="16"/>
                    <a:pt x="29" y="16"/>
                  </a:cubicBezTo>
                  <a:cubicBezTo>
                    <a:pt x="29" y="32"/>
                    <a:pt x="29" y="32"/>
                    <a:pt x="29" y="32"/>
                  </a:cubicBezTo>
                  <a:cubicBezTo>
                    <a:pt x="26" y="32"/>
                    <a:pt x="26" y="32"/>
                    <a:pt x="26" y="32"/>
                  </a:cubicBezTo>
                  <a:cubicBezTo>
                    <a:pt x="25" y="28"/>
                    <a:pt x="25" y="28"/>
                    <a:pt x="25" y="28"/>
                  </a:cubicBezTo>
                  <a:cubicBezTo>
                    <a:pt x="25" y="29"/>
                    <a:pt x="25" y="29"/>
                    <a:pt x="25" y="29"/>
                  </a:cubicBezTo>
                  <a:cubicBezTo>
                    <a:pt x="22" y="32"/>
                    <a:pt x="19" y="33"/>
                    <a:pt x="15" y="33"/>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9" name="Freeform 95"/>
            <p:cNvSpPr/>
            <p:nvPr userDrawn="1"/>
          </p:nvSpPr>
          <p:spPr bwMode="auto">
            <a:xfrm>
              <a:off x="1760" y="933"/>
              <a:ext cx="31" cy="40"/>
            </a:xfrm>
            <a:custGeom>
              <a:avLst/>
              <a:gdLst>
                <a:gd name="T0" fmla="*/ 25 w 25"/>
                <a:gd name="T1" fmla="*/ 20 h 32"/>
                <a:gd name="T2" fmla="*/ 21 w 25"/>
                <a:gd name="T3" fmla="*/ 29 h 32"/>
                <a:gd name="T4" fmla="*/ 12 w 25"/>
                <a:gd name="T5" fmla="*/ 32 h 32"/>
                <a:gd name="T6" fmla="*/ 3 w 25"/>
                <a:gd name="T7" fmla="*/ 29 h 32"/>
                <a:gd name="T8" fmla="*/ 0 w 25"/>
                <a:gd name="T9" fmla="*/ 20 h 32"/>
                <a:gd name="T10" fmla="*/ 0 w 25"/>
                <a:gd name="T11" fmla="*/ 0 h 32"/>
                <a:gd name="T12" fmla="*/ 2 w 25"/>
                <a:gd name="T13" fmla="*/ 0 h 32"/>
                <a:gd name="T14" fmla="*/ 4 w 25"/>
                <a:gd name="T15" fmla="*/ 0 h 32"/>
                <a:gd name="T16" fmla="*/ 4 w 25"/>
                <a:gd name="T17" fmla="*/ 20 h 32"/>
                <a:gd name="T18" fmla="*/ 6 w 25"/>
                <a:gd name="T19" fmla="*/ 26 h 32"/>
                <a:gd name="T20" fmla="*/ 12 w 25"/>
                <a:gd name="T21" fmla="*/ 29 h 32"/>
                <a:gd name="T22" fmla="*/ 18 w 25"/>
                <a:gd name="T23" fmla="*/ 26 h 32"/>
                <a:gd name="T24" fmla="*/ 20 w 25"/>
                <a:gd name="T25" fmla="*/ 20 h 32"/>
                <a:gd name="T26" fmla="*/ 20 w 25"/>
                <a:gd name="T27" fmla="*/ 0 h 32"/>
                <a:gd name="T28" fmla="*/ 22 w 25"/>
                <a:gd name="T29" fmla="*/ 0 h 32"/>
                <a:gd name="T30" fmla="*/ 25 w 25"/>
                <a:gd name="T31" fmla="*/ 0 h 32"/>
                <a:gd name="T32" fmla="*/ 25 w 25"/>
                <a:gd name="T33"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 h="32">
                  <a:moveTo>
                    <a:pt x="25" y="20"/>
                  </a:moveTo>
                  <a:cubicBezTo>
                    <a:pt x="25" y="24"/>
                    <a:pt x="23" y="27"/>
                    <a:pt x="21" y="29"/>
                  </a:cubicBezTo>
                  <a:cubicBezTo>
                    <a:pt x="19" y="31"/>
                    <a:pt x="16" y="32"/>
                    <a:pt x="12" y="32"/>
                  </a:cubicBezTo>
                  <a:cubicBezTo>
                    <a:pt x="8" y="32"/>
                    <a:pt x="5" y="31"/>
                    <a:pt x="3" y="29"/>
                  </a:cubicBezTo>
                  <a:cubicBezTo>
                    <a:pt x="1" y="27"/>
                    <a:pt x="0" y="24"/>
                    <a:pt x="0" y="20"/>
                  </a:cubicBezTo>
                  <a:cubicBezTo>
                    <a:pt x="0" y="0"/>
                    <a:pt x="0" y="0"/>
                    <a:pt x="0" y="0"/>
                  </a:cubicBezTo>
                  <a:cubicBezTo>
                    <a:pt x="2" y="0"/>
                    <a:pt x="2" y="0"/>
                    <a:pt x="2" y="0"/>
                  </a:cubicBezTo>
                  <a:cubicBezTo>
                    <a:pt x="4" y="0"/>
                    <a:pt x="4" y="0"/>
                    <a:pt x="4" y="0"/>
                  </a:cubicBezTo>
                  <a:cubicBezTo>
                    <a:pt x="4" y="20"/>
                    <a:pt x="4" y="20"/>
                    <a:pt x="4" y="20"/>
                  </a:cubicBezTo>
                  <a:cubicBezTo>
                    <a:pt x="4" y="23"/>
                    <a:pt x="5" y="25"/>
                    <a:pt x="6" y="26"/>
                  </a:cubicBezTo>
                  <a:cubicBezTo>
                    <a:pt x="7" y="28"/>
                    <a:pt x="9" y="29"/>
                    <a:pt x="12" y="29"/>
                  </a:cubicBezTo>
                  <a:cubicBezTo>
                    <a:pt x="15" y="29"/>
                    <a:pt x="17" y="28"/>
                    <a:pt x="18" y="26"/>
                  </a:cubicBezTo>
                  <a:cubicBezTo>
                    <a:pt x="20" y="25"/>
                    <a:pt x="20" y="23"/>
                    <a:pt x="20" y="20"/>
                  </a:cubicBezTo>
                  <a:cubicBezTo>
                    <a:pt x="20" y="0"/>
                    <a:pt x="20" y="0"/>
                    <a:pt x="20" y="0"/>
                  </a:cubicBezTo>
                  <a:cubicBezTo>
                    <a:pt x="22" y="0"/>
                    <a:pt x="22" y="0"/>
                    <a:pt x="22" y="0"/>
                  </a:cubicBezTo>
                  <a:cubicBezTo>
                    <a:pt x="25" y="0"/>
                    <a:pt x="25" y="0"/>
                    <a:pt x="25" y="0"/>
                  </a:cubicBezTo>
                  <a:lnTo>
                    <a:pt x="25" y="2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0" name="Freeform 96"/>
            <p:cNvSpPr/>
            <p:nvPr userDrawn="1"/>
          </p:nvSpPr>
          <p:spPr bwMode="auto">
            <a:xfrm>
              <a:off x="1806" y="933"/>
              <a:ext cx="31" cy="40"/>
            </a:xfrm>
            <a:custGeom>
              <a:avLst/>
              <a:gdLst>
                <a:gd name="T0" fmla="*/ 5 w 31"/>
                <a:gd name="T1" fmla="*/ 40 h 40"/>
                <a:gd name="T2" fmla="*/ 2 w 31"/>
                <a:gd name="T3" fmla="*/ 40 h 40"/>
                <a:gd name="T4" fmla="*/ 0 w 31"/>
                <a:gd name="T5" fmla="*/ 40 h 40"/>
                <a:gd name="T6" fmla="*/ 0 w 31"/>
                <a:gd name="T7" fmla="*/ 0 h 40"/>
                <a:gd name="T8" fmla="*/ 2 w 31"/>
                <a:gd name="T9" fmla="*/ 0 h 40"/>
                <a:gd name="T10" fmla="*/ 6 w 31"/>
                <a:gd name="T11" fmla="*/ 0 h 40"/>
                <a:gd name="T12" fmla="*/ 26 w 31"/>
                <a:gd name="T13" fmla="*/ 32 h 40"/>
                <a:gd name="T14" fmla="*/ 26 w 31"/>
                <a:gd name="T15" fmla="*/ 0 h 40"/>
                <a:gd name="T16" fmla="*/ 28 w 31"/>
                <a:gd name="T17" fmla="*/ 0 h 40"/>
                <a:gd name="T18" fmla="*/ 31 w 31"/>
                <a:gd name="T19" fmla="*/ 0 h 40"/>
                <a:gd name="T20" fmla="*/ 31 w 31"/>
                <a:gd name="T21" fmla="*/ 40 h 40"/>
                <a:gd name="T22" fmla="*/ 28 w 31"/>
                <a:gd name="T23" fmla="*/ 40 h 40"/>
                <a:gd name="T24" fmla="*/ 25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2" y="40"/>
                  </a:lnTo>
                  <a:lnTo>
                    <a:pt x="0" y="40"/>
                  </a:lnTo>
                  <a:lnTo>
                    <a:pt x="0" y="0"/>
                  </a:lnTo>
                  <a:lnTo>
                    <a:pt x="2" y="0"/>
                  </a:lnTo>
                  <a:lnTo>
                    <a:pt x="6" y="0"/>
                  </a:lnTo>
                  <a:lnTo>
                    <a:pt x="26" y="32"/>
                  </a:lnTo>
                  <a:lnTo>
                    <a:pt x="26" y="0"/>
                  </a:lnTo>
                  <a:lnTo>
                    <a:pt x="28" y="0"/>
                  </a:lnTo>
                  <a:lnTo>
                    <a:pt x="31" y="0"/>
                  </a:lnTo>
                  <a:lnTo>
                    <a:pt x="31" y="40"/>
                  </a:lnTo>
                  <a:lnTo>
                    <a:pt x="28" y="40"/>
                  </a:lnTo>
                  <a:lnTo>
                    <a:pt x="25" y="40"/>
                  </a:lnTo>
                  <a:lnTo>
                    <a:pt x="5" y="8"/>
                  </a:lnTo>
                  <a:lnTo>
                    <a:pt x="5" y="4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1" name="Freeform 97"/>
            <p:cNvSpPr/>
            <p:nvPr userDrawn="1"/>
          </p:nvSpPr>
          <p:spPr bwMode="auto">
            <a:xfrm>
              <a:off x="1852"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2" name="Freeform 98"/>
            <p:cNvSpPr/>
            <p:nvPr userDrawn="1"/>
          </p:nvSpPr>
          <p:spPr bwMode="auto">
            <a:xfrm>
              <a:off x="1867" y="933"/>
              <a:ext cx="34" cy="40"/>
            </a:xfrm>
            <a:custGeom>
              <a:avLst/>
              <a:gdLst>
                <a:gd name="T0" fmla="*/ 0 w 34"/>
                <a:gd name="T1" fmla="*/ 0 h 40"/>
                <a:gd name="T2" fmla="*/ 3 w 34"/>
                <a:gd name="T3" fmla="*/ 0 h 40"/>
                <a:gd name="T4" fmla="*/ 6 w 34"/>
                <a:gd name="T5" fmla="*/ 0 h 40"/>
                <a:gd name="T6" fmla="*/ 17 w 34"/>
                <a:gd name="T7" fmla="*/ 34 h 40"/>
                <a:gd name="T8" fmla="*/ 17 w 34"/>
                <a:gd name="T9" fmla="*/ 34 h 40"/>
                <a:gd name="T10" fmla="*/ 28 w 34"/>
                <a:gd name="T11" fmla="*/ 0 h 40"/>
                <a:gd name="T12" fmla="*/ 32 w 34"/>
                <a:gd name="T13" fmla="*/ 0 h 40"/>
                <a:gd name="T14" fmla="*/ 34 w 34"/>
                <a:gd name="T15" fmla="*/ 0 h 40"/>
                <a:gd name="T16" fmla="*/ 21 w 34"/>
                <a:gd name="T17" fmla="*/ 40 h 40"/>
                <a:gd name="T18" fmla="*/ 17 w 34"/>
                <a:gd name="T19" fmla="*/ 40 h 40"/>
                <a:gd name="T20" fmla="*/ 15 w 34"/>
                <a:gd name="T21" fmla="*/ 40 h 40"/>
                <a:gd name="T22" fmla="*/ 0 w 34"/>
                <a:gd name="T2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40">
                  <a:moveTo>
                    <a:pt x="0" y="0"/>
                  </a:moveTo>
                  <a:lnTo>
                    <a:pt x="3" y="0"/>
                  </a:lnTo>
                  <a:lnTo>
                    <a:pt x="6" y="0"/>
                  </a:lnTo>
                  <a:lnTo>
                    <a:pt x="17" y="34"/>
                  </a:lnTo>
                  <a:lnTo>
                    <a:pt x="17" y="34"/>
                  </a:lnTo>
                  <a:lnTo>
                    <a:pt x="28" y="0"/>
                  </a:lnTo>
                  <a:lnTo>
                    <a:pt x="32" y="0"/>
                  </a:lnTo>
                  <a:lnTo>
                    <a:pt x="34" y="0"/>
                  </a:lnTo>
                  <a:lnTo>
                    <a:pt x="21" y="40"/>
                  </a:lnTo>
                  <a:lnTo>
                    <a:pt x="17" y="40"/>
                  </a:lnTo>
                  <a:lnTo>
                    <a:pt x="15" y="40"/>
                  </a:lnTo>
                  <a:lnTo>
                    <a:pt x="0"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3" name="Freeform 99"/>
            <p:cNvSpPr/>
            <p:nvPr userDrawn="1"/>
          </p:nvSpPr>
          <p:spPr bwMode="auto">
            <a:xfrm>
              <a:off x="1911" y="933"/>
              <a:ext cx="30" cy="40"/>
            </a:xfrm>
            <a:custGeom>
              <a:avLst/>
              <a:gdLst>
                <a:gd name="T0" fmla="*/ 0 w 30"/>
                <a:gd name="T1" fmla="*/ 40 h 40"/>
                <a:gd name="T2" fmla="*/ 0 w 30"/>
                <a:gd name="T3" fmla="*/ 0 h 40"/>
                <a:gd name="T4" fmla="*/ 30 w 30"/>
                <a:gd name="T5" fmla="*/ 0 h 40"/>
                <a:gd name="T6" fmla="*/ 30 w 30"/>
                <a:gd name="T7" fmla="*/ 3 h 40"/>
                <a:gd name="T8" fmla="*/ 30 w 30"/>
                <a:gd name="T9" fmla="*/ 5 h 40"/>
                <a:gd name="T10" fmla="*/ 6 w 30"/>
                <a:gd name="T11" fmla="*/ 5 h 40"/>
                <a:gd name="T12" fmla="*/ 6 w 30"/>
                <a:gd name="T13" fmla="*/ 16 h 40"/>
                <a:gd name="T14" fmla="*/ 27 w 30"/>
                <a:gd name="T15" fmla="*/ 16 h 40"/>
                <a:gd name="T16" fmla="*/ 27 w 30"/>
                <a:gd name="T17" fmla="*/ 19 h 40"/>
                <a:gd name="T18" fmla="*/ 27 w 30"/>
                <a:gd name="T19" fmla="*/ 21 h 40"/>
                <a:gd name="T20" fmla="*/ 6 w 30"/>
                <a:gd name="T21" fmla="*/ 21 h 40"/>
                <a:gd name="T22" fmla="*/ 6 w 30"/>
                <a:gd name="T23" fmla="*/ 35 h 40"/>
                <a:gd name="T24" fmla="*/ 30 w 30"/>
                <a:gd name="T25" fmla="*/ 35 h 40"/>
                <a:gd name="T26" fmla="*/ 30 w 30"/>
                <a:gd name="T27" fmla="*/ 37 h 40"/>
                <a:gd name="T28" fmla="*/ 30 w 30"/>
                <a:gd name="T29" fmla="*/ 40 h 40"/>
                <a:gd name="T30" fmla="*/ 0 w 30"/>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40">
                  <a:moveTo>
                    <a:pt x="0" y="40"/>
                  </a:moveTo>
                  <a:lnTo>
                    <a:pt x="0" y="0"/>
                  </a:lnTo>
                  <a:lnTo>
                    <a:pt x="30" y="0"/>
                  </a:lnTo>
                  <a:lnTo>
                    <a:pt x="30" y="3"/>
                  </a:lnTo>
                  <a:lnTo>
                    <a:pt x="30" y="5"/>
                  </a:lnTo>
                  <a:lnTo>
                    <a:pt x="6" y="5"/>
                  </a:lnTo>
                  <a:lnTo>
                    <a:pt x="6" y="16"/>
                  </a:lnTo>
                  <a:lnTo>
                    <a:pt x="27" y="16"/>
                  </a:lnTo>
                  <a:lnTo>
                    <a:pt x="27" y="19"/>
                  </a:lnTo>
                  <a:lnTo>
                    <a:pt x="27" y="21"/>
                  </a:lnTo>
                  <a:lnTo>
                    <a:pt x="6" y="21"/>
                  </a:lnTo>
                  <a:lnTo>
                    <a:pt x="6" y="35"/>
                  </a:lnTo>
                  <a:lnTo>
                    <a:pt x="30" y="35"/>
                  </a:lnTo>
                  <a:lnTo>
                    <a:pt x="30" y="37"/>
                  </a:lnTo>
                  <a:lnTo>
                    <a:pt x="30" y="40"/>
                  </a:lnTo>
                  <a:lnTo>
                    <a:pt x="0" y="4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4" name="Freeform 100"/>
            <p:cNvSpPr>
              <a:spLocks noEditPoints="1"/>
            </p:cNvSpPr>
            <p:nvPr userDrawn="1"/>
          </p:nvSpPr>
          <p:spPr bwMode="auto">
            <a:xfrm>
              <a:off x="1955" y="933"/>
              <a:ext cx="33" cy="40"/>
            </a:xfrm>
            <a:custGeom>
              <a:avLst/>
              <a:gdLst>
                <a:gd name="T0" fmla="*/ 0 w 27"/>
                <a:gd name="T1" fmla="*/ 0 h 32"/>
                <a:gd name="T2" fmla="*/ 2 w 27"/>
                <a:gd name="T3" fmla="*/ 0 h 32"/>
                <a:gd name="T4" fmla="*/ 15 w 27"/>
                <a:gd name="T5" fmla="*/ 0 h 32"/>
                <a:gd name="T6" fmla="*/ 23 w 27"/>
                <a:gd name="T7" fmla="*/ 2 h 32"/>
                <a:gd name="T8" fmla="*/ 25 w 27"/>
                <a:gd name="T9" fmla="*/ 8 h 32"/>
                <a:gd name="T10" fmla="*/ 23 w 27"/>
                <a:gd name="T11" fmla="*/ 15 h 32"/>
                <a:gd name="T12" fmla="*/ 21 w 27"/>
                <a:gd name="T13" fmla="*/ 16 h 32"/>
                <a:gd name="T14" fmla="*/ 22 w 27"/>
                <a:gd name="T15" fmla="*/ 16 h 32"/>
                <a:gd name="T16" fmla="*/ 25 w 27"/>
                <a:gd name="T17" fmla="*/ 22 h 32"/>
                <a:gd name="T18" fmla="*/ 25 w 27"/>
                <a:gd name="T19" fmla="*/ 28 h 32"/>
                <a:gd name="T20" fmla="*/ 25 w 27"/>
                <a:gd name="T21" fmla="*/ 30 h 32"/>
                <a:gd name="T22" fmla="*/ 27 w 27"/>
                <a:gd name="T23" fmla="*/ 31 h 32"/>
                <a:gd name="T24" fmla="*/ 27 w 27"/>
                <a:gd name="T25" fmla="*/ 31 h 32"/>
                <a:gd name="T26" fmla="*/ 21 w 27"/>
                <a:gd name="T27" fmla="*/ 31 h 32"/>
                <a:gd name="T28" fmla="*/ 21 w 27"/>
                <a:gd name="T29" fmla="*/ 29 h 32"/>
                <a:gd name="T30" fmla="*/ 21 w 27"/>
                <a:gd name="T31" fmla="*/ 26 h 32"/>
                <a:gd name="T32" fmla="*/ 21 w 27"/>
                <a:gd name="T33" fmla="*/ 23 h 32"/>
                <a:gd name="T34" fmla="*/ 19 w 27"/>
                <a:gd name="T35" fmla="*/ 19 h 32"/>
                <a:gd name="T36" fmla="*/ 15 w 27"/>
                <a:gd name="T37" fmla="*/ 18 h 32"/>
                <a:gd name="T38" fmla="*/ 4 w 27"/>
                <a:gd name="T39" fmla="*/ 18 h 32"/>
                <a:gd name="T40" fmla="*/ 4 w 27"/>
                <a:gd name="T41" fmla="*/ 32 h 32"/>
                <a:gd name="T42" fmla="*/ 2 w 27"/>
                <a:gd name="T43" fmla="*/ 32 h 32"/>
                <a:gd name="T44" fmla="*/ 0 w 27"/>
                <a:gd name="T45" fmla="*/ 32 h 32"/>
                <a:gd name="T46" fmla="*/ 0 w 27"/>
                <a:gd name="T47" fmla="*/ 0 h 32"/>
                <a:gd name="T48" fmla="*/ 4 w 27"/>
                <a:gd name="T49" fmla="*/ 14 h 32"/>
                <a:gd name="T50" fmla="*/ 15 w 27"/>
                <a:gd name="T51" fmla="*/ 14 h 32"/>
                <a:gd name="T52" fmla="*/ 19 w 27"/>
                <a:gd name="T53" fmla="*/ 13 h 32"/>
                <a:gd name="T54" fmla="*/ 21 w 27"/>
                <a:gd name="T55" fmla="*/ 9 h 32"/>
                <a:gd name="T56" fmla="*/ 19 w 27"/>
                <a:gd name="T57" fmla="*/ 5 h 32"/>
                <a:gd name="T58" fmla="*/ 15 w 27"/>
                <a:gd name="T59" fmla="*/ 3 h 32"/>
                <a:gd name="T60" fmla="*/ 4 w 27"/>
                <a:gd name="T61" fmla="*/ 3 h 32"/>
                <a:gd name="T62" fmla="*/ 4 w 27"/>
                <a:gd name="T63" fmla="*/ 1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 h="32">
                  <a:moveTo>
                    <a:pt x="0" y="0"/>
                  </a:moveTo>
                  <a:cubicBezTo>
                    <a:pt x="2" y="0"/>
                    <a:pt x="2" y="0"/>
                    <a:pt x="2" y="0"/>
                  </a:cubicBezTo>
                  <a:cubicBezTo>
                    <a:pt x="15" y="0"/>
                    <a:pt x="15" y="0"/>
                    <a:pt x="15" y="0"/>
                  </a:cubicBezTo>
                  <a:cubicBezTo>
                    <a:pt x="18" y="0"/>
                    <a:pt x="21" y="1"/>
                    <a:pt x="23" y="2"/>
                  </a:cubicBezTo>
                  <a:cubicBezTo>
                    <a:pt x="24" y="3"/>
                    <a:pt x="25" y="6"/>
                    <a:pt x="25" y="8"/>
                  </a:cubicBezTo>
                  <a:cubicBezTo>
                    <a:pt x="25" y="11"/>
                    <a:pt x="24" y="13"/>
                    <a:pt x="23" y="15"/>
                  </a:cubicBezTo>
                  <a:cubicBezTo>
                    <a:pt x="22" y="15"/>
                    <a:pt x="22" y="16"/>
                    <a:pt x="21" y="16"/>
                  </a:cubicBezTo>
                  <a:cubicBezTo>
                    <a:pt x="22" y="16"/>
                    <a:pt x="22" y="16"/>
                    <a:pt x="22" y="16"/>
                  </a:cubicBezTo>
                  <a:cubicBezTo>
                    <a:pt x="24" y="17"/>
                    <a:pt x="25" y="19"/>
                    <a:pt x="25" y="22"/>
                  </a:cubicBezTo>
                  <a:cubicBezTo>
                    <a:pt x="25" y="28"/>
                    <a:pt x="25" y="28"/>
                    <a:pt x="25" y="28"/>
                  </a:cubicBezTo>
                  <a:cubicBezTo>
                    <a:pt x="25" y="29"/>
                    <a:pt x="25" y="29"/>
                    <a:pt x="25" y="30"/>
                  </a:cubicBezTo>
                  <a:cubicBezTo>
                    <a:pt x="26" y="30"/>
                    <a:pt x="26" y="30"/>
                    <a:pt x="27" y="31"/>
                  </a:cubicBezTo>
                  <a:cubicBezTo>
                    <a:pt x="27" y="31"/>
                    <a:pt x="27" y="31"/>
                    <a:pt x="27" y="31"/>
                  </a:cubicBezTo>
                  <a:cubicBezTo>
                    <a:pt x="21" y="31"/>
                    <a:pt x="21" y="31"/>
                    <a:pt x="21" y="31"/>
                  </a:cubicBezTo>
                  <a:cubicBezTo>
                    <a:pt x="21" y="31"/>
                    <a:pt x="21" y="31"/>
                    <a:pt x="21" y="29"/>
                  </a:cubicBezTo>
                  <a:cubicBezTo>
                    <a:pt x="21" y="28"/>
                    <a:pt x="21" y="27"/>
                    <a:pt x="21" y="26"/>
                  </a:cubicBezTo>
                  <a:cubicBezTo>
                    <a:pt x="21" y="23"/>
                    <a:pt x="21" y="23"/>
                    <a:pt x="21" y="23"/>
                  </a:cubicBezTo>
                  <a:cubicBezTo>
                    <a:pt x="21" y="21"/>
                    <a:pt x="20" y="20"/>
                    <a:pt x="19" y="19"/>
                  </a:cubicBezTo>
                  <a:cubicBezTo>
                    <a:pt x="18" y="18"/>
                    <a:pt x="17" y="18"/>
                    <a:pt x="15" y="18"/>
                  </a:cubicBezTo>
                  <a:cubicBezTo>
                    <a:pt x="4" y="18"/>
                    <a:pt x="4" y="18"/>
                    <a:pt x="4" y="18"/>
                  </a:cubicBezTo>
                  <a:cubicBezTo>
                    <a:pt x="4" y="32"/>
                    <a:pt x="4" y="32"/>
                    <a:pt x="4" y="32"/>
                  </a:cubicBezTo>
                  <a:cubicBezTo>
                    <a:pt x="2" y="32"/>
                    <a:pt x="2" y="32"/>
                    <a:pt x="2" y="32"/>
                  </a:cubicBezTo>
                  <a:cubicBezTo>
                    <a:pt x="0" y="32"/>
                    <a:pt x="0" y="32"/>
                    <a:pt x="0" y="32"/>
                  </a:cubicBezTo>
                  <a:lnTo>
                    <a:pt x="0" y="0"/>
                  </a:lnTo>
                  <a:close/>
                  <a:moveTo>
                    <a:pt x="4" y="14"/>
                  </a:moveTo>
                  <a:cubicBezTo>
                    <a:pt x="15" y="14"/>
                    <a:pt x="15" y="14"/>
                    <a:pt x="15" y="14"/>
                  </a:cubicBezTo>
                  <a:cubicBezTo>
                    <a:pt x="17" y="14"/>
                    <a:pt x="19" y="14"/>
                    <a:pt x="19" y="13"/>
                  </a:cubicBezTo>
                  <a:cubicBezTo>
                    <a:pt x="20" y="12"/>
                    <a:pt x="21" y="11"/>
                    <a:pt x="21" y="9"/>
                  </a:cubicBezTo>
                  <a:cubicBezTo>
                    <a:pt x="21" y="7"/>
                    <a:pt x="20" y="5"/>
                    <a:pt x="19" y="5"/>
                  </a:cubicBezTo>
                  <a:cubicBezTo>
                    <a:pt x="18" y="4"/>
                    <a:pt x="17" y="3"/>
                    <a:pt x="15" y="3"/>
                  </a:cubicBezTo>
                  <a:cubicBezTo>
                    <a:pt x="4" y="3"/>
                    <a:pt x="4" y="3"/>
                    <a:pt x="4" y="3"/>
                  </a:cubicBezTo>
                  <a:lnTo>
                    <a:pt x="4" y="14"/>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5" name="Freeform 101"/>
            <p:cNvSpPr/>
            <p:nvPr userDrawn="1"/>
          </p:nvSpPr>
          <p:spPr bwMode="auto">
            <a:xfrm>
              <a:off x="1999" y="932"/>
              <a:ext cx="31" cy="41"/>
            </a:xfrm>
            <a:custGeom>
              <a:avLst/>
              <a:gdLst>
                <a:gd name="T0" fmla="*/ 20 w 25"/>
                <a:gd name="T1" fmla="*/ 10 h 33"/>
                <a:gd name="T2" fmla="*/ 18 w 25"/>
                <a:gd name="T3" fmla="*/ 5 h 33"/>
                <a:gd name="T4" fmla="*/ 12 w 25"/>
                <a:gd name="T5" fmla="*/ 4 h 33"/>
                <a:gd name="T6" fmla="*/ 7 w 25"/>
                <a:gd name="T7" fmla="*/ 5 h 33"/>
                <a:gd name="T8" fmla="*/ 5 w 25"/>
                <a:gd name="T9" fmla="*/ 9 h 33"/>
                <a:gd name="T10" fmla="*/ 6 w 25"/>
                <a:gd name="T11" fmla="*/ 12 h 33"/>
                <a:gd name="T12" fmla="*/ 11 w 25"/>
                <a:gd name="T13" fmla="*/ 14 h 33"/>
                <a:gd name="T14" fmla="*/ 17 w 25"/>
                <a:gd name="T15" fmla="*/ 15 h 33"/>
                <a:gd name="T16" fmla="*/ 23 w 25"/>
                <a:gd name="T17" fmla="*/ 18 h 33"/>
                <a:gd name="T18" fmla="*/ 25 w 25"/>
                <a:gd name="T19" fmla="*/ 24 h 33"/>
                <a:gd name="T20" fmla="*/ 22 w 25"/>
                <a:gd name="T21" fmla="*/ 31 h 33"/>
                <a:gd name="T22" fmla="*/ 13 w 25"/>
                <a:gd name="T23" fmla="*/ 33 h 33"/>
                <a:gd name="T24" fmla="*/ 3 w 25"/>
                <a:gd name="T25" fmla="*/ 30 h 33"/>
                <a:gd name="T26" fmla="*/ 0 w 25"/>
                <a:gd name="T27" fmla="*/ 23 h 33"/>
                <a:gd name="T28" fmla="*/ 0 w 25"/>
                <a:gd name="T29" fmla="*/ 22 h 33"/>
                <a:gd name="T30" fmla="*/ 4 w 25"/>
                <a:gd name="T31" fmla="*/ 22 h 33"/>
                <a:gd name="T32" fmla="*/ 6 w 25"/>
                <a:gd name="T33" fmla="*/ 28 h 33"/>
                <a:gd name="T34" fmla="*/ 13 w 25"/>
                <a:gd name="T35" fmla="*/ 30 h 33"/>
                <a:gd name="T36" fmla="*/ 19 w 25"/>
                <a:gd name="T37" fmla="*/ 28 h 33"/>
                <a:gd name="T38" fmla="*/ 21 w 25"/>
                <a:gd name="T39" fmla="*/ 24 h 33"/>
                <a:gd name="T40" fmla="*/ 20 w 25"/>
                <a:gd name="T41" fmla="*/ 21 h 33"/>
                <a:gd name="T42" fmla="*/ 14 w 25"/>
                <a:gd name="T43" fmla="*/ 19 h 33"/>
                <a:gd name="T44" fmla="*/ 9 w 25"/>
                <a:gd name="T45" fmla="*/ 17 h 33"/>
                <a:gd name="T46" fmla="*/ 3 w 25"/>
                <a:gd name="T47" fmla="*/ 15 h 33"/>
                <a:gd name="T48" fmla="*/ 1 w 25"/>
                <a:gd name="T49" fmla="*/ 10 h 33"/>
                <a:gd name="T50" fmla="*/ 4 w 25"/>
                <a:gd name="T51" fmla="*/ 3 h 33"/>
                <a:gd name="T52" fmla="*/ 12 w 25"/>
                <a:gd name="T53" fmla="*/ 0 h 33"/>
                <a:gd name="T54" fmla="*/ 21 w 25"/>
                <a:gd name="T55" fmla="*/ 3 h 33"/>
                <a:gd name="T56" fmla="*/ 24 w 25"/>
                <a:gd name="T57" fmla="*/ 10 h 33"/>
                <a:gd name="T58" fmla="*/ 20 w 25"/>
                <a:gd name="T59"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3">
                  <a:moveTo>
                    <a:pt x="20" y="10"/>
                  </a:moveTo>
                  <a:cubicBezTo>
                    <a:pt x="20" y="8"/>
                    <a:pt x="19" y="6"/>
                    <a:pt x="18" y="5"/>
                  </a:cubicBezTo>
                  <a:cubicBezTo>
                    <a:pt x="17" y="4"/>
                    <a:pt x="15" y="4"/>
                    <a:pt x="12" y="4"/>
                  </a:cubicBezTo>
                  <a:cubicBezTo>
                    <a:pt x="10" y="4"/>
                    <a:pt x="8" y="4"/>
                    <a:pt x="7" y="5"/>
                  </a:cubicBezTo>
                  <a:cubicBezTo>
                    <a:pt x="6" y="6"/>
                    <a:pt x="5" y="7"/>
                    <a:pt x="5" y="9"/>
                  </a:cubicBezTo>
                  <a:cubicBezTo>
                    <a:pt x="5" y="10"/>
                    <a:pt x="5" y="11"/>
                    <a:pt x="6" y="12"/>
                  </a:cubicBezTo>
                  <a:cubicBezTo>
                    <a:pt x="7" y="13"/>
                    <a:pt x="9" y="13"/>
                    <a:pt x="11" y="14"/>
                  </a:cubicBezTo>
                  <a:cubicBezTo>
                    <a:pt x="17" y="15"/>
                    <a:pt x="17" y="15"/>
                    <a:pt x="17" y="15"/>
                  </a:cubicBezTo>
                  <a:cubicBezTo>
                    <a:pt x="20" y="16"/>
                    <a:pt x="22" y="17"/>
                    <a:pt x="23" y="18"/>
                  </a:cubicBezTo>
                  <a:cubicBezTo>
                    <a:pt x="24" y="20"/>
                    <a:pt x="25" y="22"/>
                    <a:pt x="25" y="24"/>
                  </a:cubicBezTo>
                  <a:cubicBezTo>
                    <a:pt x="25" y="27"/>
                    <a:pt x="24" y="29"/>
                    <a:pt x="22" y="31"/>
                  </a:cubicBezTo>
                  <a:cubicBezTo>
                    <a:pt x="20" y="33"/>
                    <a:pt x="17" y="33"/>
                    <a:pt x="13" y="33"/>
                  </a:cubicBezTo>
                  <a:cubicBezTo>
                    <a:pt x="9" y="33"/>
                    <a:pt x="5" y="32"/>
                    <a:pt x="3" y="30"/>
                  </a:cubicBezTo>
                  <a:cubicBezTo>
                    <a:pt x="1" y="29"/>
                    <a:pt x="0" y="26"/>
                    <a:pt x="0" y="23"/>
                  </a:cubicBezTo>
                  <a:cubicBezTo>
                    <a:pt x="0" y="22"/>
                    <a:pt x="0" y="22"/>
                    <a:pt x="0" y="22"/>
                  </a:cubicBezTo>
                  <a:cubicBezTo>
                    <a:pt x="4" y="22"/>
                    <a:pt x="4" y="22"/>
                    <a:pt x="4" y="22"/>
                  </a:cubicBezTo>
                  <a:cubicBezTo>
                    <a:pt x="4" y="25"/>
                    <a:pt x="5" y="26"/>
                    <a:pt x="6" y="28"/>
                  </a:cubicBezTo>
                  <a:cubicBezTo>
                    <a:pt x="8" y="29"/>
                    <a:pt x="10" y="30"/>
                    <a:pt x="13" y="30"/>
                  </a:cubicBezTo>
                  <a:cubicBezTo>
                    <a:pt x="15" y="30"/>
                    <a:pt x="17" y="29"/>
                    <a:pt x="19" y="28"/>
                  </a:cubicBezTo>
                  <a:cubicBezTo>
                    <a:pt x="20" y="27"/>
                    <a:pt x="21" y="26"/>
                    <a:pt x="21" y="24"/>
                  </a:cubicBezTo>
                  <a:cubicBezTo>
                    <a:pt x="21" y="23"/>
                    <a:pt x="20" y="22"/>
                    <a:pt x="20" y="21"/>
                  </a:cubicBezTo>
                  <a:cubicBezTo>
                    <a:pt x="19" y="20"/>
                    <a:pt x="17" y="19"/>
                    <a:pt x="14" y="19"/>
                  </a:cubicBezTo>
                  <a:cubicBezTo>
                    <a:pt x="9" y="17"/>
                    <a:pt x="9" y="17"/>
                    <a:pt x="9" y="17"/>
                  </a:cubicBezTo>
                  <a:cubicBezTo>
                    <a:pt x="6" y="17"/>
                    <a:pt x="4" y="16"/>
                    <a:pt x="3" y="15"/>
                  </a:cubicBezTo>
                  <a:cubicBezTo>
                    <a:pt x="1" y="14"/>
                    <a:pt x="1" y="12"/>
                    <a:pt x="1" y="10"/>
                  </a:cubicBezTo>
                  <a:cubicBezTo>
                    <a:pt x="1" y="7"/>
                    <a:pt x="2" y="4"/>
                    <a:pt x="4" y="3"/>
                  </a:cubicBezTo>
                  <a:cubicBezTo>
                    <a:pt x="6" y="1"/>
                    <a:pt x="9" y="0"/>
                    <a:pt x="12" y="0"/>
                  </a:cubicBezTo>
                  <a:cubicBezTo>
                    <a:pt x="16" y="0"/>
                    <a:pt x="19" y="1"/>
                    <a:pt x="21" y="3"/>
                  </a:cubicBezTo>
                  <a:cubicBezTo>
                    <a:pt x="23" y="4"/>
                    <a:pt x="24" y="7"/>
                    <a:pt x="24" y="10"/>
                  </a:cubicBezTo>
                  <a:lnTo>
                    <a:pt x="20" y="1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6" name="Freeform 102"/>
            <p:cNvSpPr/>
            <p:nvPr userDrawn="1"/>
          </p:nvSpPr>
          <p:spPr bwMode="auto">
            <a:xfrm>
              <a:off x="2044"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7" name="Freeform 103"/>
            <p:cNvSpPr/>
            <p:nvPr userDrawn="1"/>
          </p:nvSpPr>
          <p:spPr bwMode="auto">
            <a:xfrm>
              <a:off x="2060" y="933"/>
              <a:ext cx="32" cy="40"/>
            </a:xfrm>
            <a:custGeom>
              <a:avLst/>
              <a:gdLst>
                <a:gd name="T0" fmla="*/ 13 w 32"/>
                <a:gd name="T1" fmla="*/ 5 h 40"/>
                <a:gd name="T2" fmla="*/ 0 w 32"/>
                <a:gd name="T3" fmla="*/ 5 h 40"/>
                <a:gd name="T4" fmla="*/ 0 w 32"/>
                <a:gd name="T5" fmla="*/ 3 h 40"/>
                <a:gd name="T6" fmla="*/ 0 w 32"/>
                <a:gd name="T7" fmla="*/ 0 h 40"/>
                <a:gd name="T8" fmla="*/ 32 w 32"/>
                <a:gd name="T9" fmla="*/ 0 h 40"/>
                <a:gd name="T10" fmla="*/ 32 w 32"/>
                <a:gd name="T11" fmla="*/ 3 h 40"/>
                <a:gd name="T12" fmla="*/ 32 w 32"/>
                <a:gd name="T13" fmla="*/ 5 h 40"/>
                <a:gd name="T14" fmla="*/ 18 w 32"/>
                <a:gd name="T15" fmla="*/ 5 h 40"/>
                <a:gd name="T16" fmla="*/ 18 w 32"/>
                <a:gd name="T17" fmla="*/ 40 h 40"/>
                <a:gd name="T18" fmla="*/ 16 w 32"/>
                <a:gd name="T19" fmla="*/ 40 h 40"/>
                <a:gd name="T20" fmla="*/ 13 w 32"/>
                <a:gd name="T21" fmla="*/ 40 h 40"/>
                <a:gd name="T22" fmla="*/ 13 w 32"/>
                <a:gd name="T23" fmla="*/ 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 h="40">
                  <a:moveTo>
                    <a:pt x="13" y="5"/>
                  </a:moveTo>
                  <a:lnTo>
                    <a:pt x="0" y="5"/>
                  </a:lnTo>
                  <a:lnTo>
                    <a:pt x="0" y="3"/>
                  </a:lnTo>
                  <a:lnTo>
                    <a:pt x="0" y="0"/>
                  </a:lnTo>
                  <a:lnTo>
                    <a:pt x="32" y="0"/>
                  </a:lnTo>
                  <a:lnTo>
                    <a:pt x="32" y="3"/>
                  </a:lnTo>
                  <a:lnTo>
                    <a:pt x="32" y="5"/>
                  </a:lnTo>
                  <a:lnTo>
                    <a:pt x="18" y="5"/>
                  </a:lnTo>
                  <a:lnTo>
                    <a:pt x="18" y="40"/>
                  </a:lnTo>
                  <a:lnTo>
                    <a:pt x="16" y="40"/>
                  </a:lnTo>
                  <a:lnTo>
                    <a:pt x="13" y="40"/>
                  </a:lnTo>
                  <a:lnTo>
                    <a:pt x="13" y="5"/>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8" name="Freeform 104"/>
            <p:cNvSpPr/>
            <p:nvPr userDrawn="1"/>
          </p:nvSpPr>
          <p:spPr bwMode="auto">
            <a:xfrm>
              <a:off x="2101" y="933"/>
              <a:ext cx="34" cy="40"/>
            </a:xfrm>
            <a:custGeom>
              <a:avLst/>
              <a:gdLst>
                <a:gd name="T0" fmla="*/ 15 w 34"/>
                <a:gd name="T1" fmla="*/ 24 h 40"/>
                <a:gd name="T2" fmla="*/ 0 w 34"/>
                <a:gd name="T3" fmla="*/ 0 h 40"/>
                <a:gd name="T4" fmla="*/ 3 w 34"/>
                <a:gd name="T5" fmla="*/ 0 h 40"/>
                <a:gd name="T6" fmla="*/ 6 w 34"/>
                <a:gd name="T7" fmla="*/ 0 h 40"/>
                <a:gd name="T8" fmla="*/ 17 w 34"/>
                <a:gd name="T9" fmla="*/ 19 h 40"/>
                <a:gd name="T10" fmla="*/ 17 w 34"/>
                <a:gd name="T11" fmla="*/ 19 h 40"/>
                <a:gd name="T12" fmla="*/ 28 w 34"/>
                <a:gd name="T13" fmla="*/ 0 h 40"/>
                <a:gd name="T14" fmla="*/ 32 w 34"/>
                <a:gd name="T15" fmla="*/ 0 h 40"/>
                <a:gd name="T16" fmla="*/ 34 w 34"/>
                <a:gd name="T17" fmla="*/ 0 h 40"/>
                <a:gd name="T18" fmla="*/ 20 w 34"/>
                <a:gd name="T19" fmla="*/ 24 h 40"/>
                <a:gd name="T20" fmla="*/ 20 w 34"/>
                <a:gd name="T21" fmla="*/ 40 h 40"/>
                <a:gd name="T22" fmla="*/ 17 w 34"/>
                <a:gd name="T23" fmla="*/ 40 h 40"/>
                <a:gd name="T24" fmla="*/ 15 w 34"/>
                <a:gd name="T25" fmla="*/ 40 h 40"/>
                <a:gd name="T26" fmla="*/ 15 w 34"/>
                <a:gd name="T27"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4" h="40">
                  <a:moveTo>
                    <a:pt x="15" y="24"/>
                  </a:moveTo>
                  <a:lnTo>
                    <a:pt x="0" y="0"/>
                  </a:lnTo>
                  <a:lnTo>
                    <a:pt x="3" y="0"/>
                  </a:lnTo>
                  <a:lnTo>
                    <a:pt x="6" y="0"/>
                  </a:lnTo>
                  <a:lnTo>
                    <a:pt x="17" y="19"/>
                  </a:lnTo>
                  <a:lnTo>
                    <a:pt x="17" y="19"/>
                  </a:lnTo>
                  <a:lnTo>
                    <a:pt x="28" y="0"/>
                  </a:lnTo>
                  <a:lnTo>
                    <a:pt x="32" y="0"/>
                  </a:lnTo>
                  <a:lnTo>
                    <a:pt x="34" y="0"/>
                  </a:lnTo>
                  <a:lnTo>
                    <a:pt x="20" y="24"/>
                  </a:lnTo>
                  <a:lnTo>
                    <a:pt x="20" y="40"/>
                  </a:lnTo>
                  <a:lnTo>
                    <a:pt x="17" y="40"/>
                  </a:lnTo>
                  <a:lnTo>
                    <a:pt x="15" y="40"/>
                  </a:lnTo>
                  <a:lnTo>
                    <a:pt x="15" y="24"/>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9" name="Freeform 105"/>
            <p:cNvSpPr>
              <a:spLocks noEditPoints="1"/>
            </p:cNvSpPr>
            <p:nvPr userDrawn="1"/>
          </p:nvSpPr>
          <p:spPr bwMode="auto">
            <a:xfrm>
              <a:off x="954" y="660"/>
              <a:ext cx="350" cy="353"/>
            </a:xfrm>
            <a:custGeom>
              <a:avLst/>
              <a:gdLst>
                <a:gd name="T0" fmla="*/ 142 w 283"/>
                <a:gd name="T1" fmla="*/ 0 h 283"/>
                <a:gd name="T2" fmla="*/ 283 w 283"/>
                <a:gd name="T3" fmla="*/ 142 h 283"/>
                <a:gd name="T4" fmla="*/ 142 w 283"/>
                <a:gd name="T5" fmla="*/ 283 h 283"/>
                <a:gd name="T6" fmla="*/ 0 w 283"/>
                <a:gd name="T7" fmla="*/ 142 h 283"/>
                <a:gd name="T8" fmla="*/ 142 w 283"/>
                <a:gd name="T9" fmla="*/ 0 h 283"/>
                <a:gd name="T10" fmla="*/ 142 w 283"/>
                <a:gd name="T11" fmla="*/ 6 h 283"/>
                <a:gd name="T12" fmla="*/ 6 w 283"/>
                <a:gd name="T13" fmla="*/ 142 h 283"/>
                <a:gd name="T14" fmla="*/ 142 w 283"/>
                <a:gd name="T15" fmla="*/ 277 h 283"/>
                <a:gd name="T16" fmla="*/ 278 w 283"/>
                <a:gd name="T17" fmla="*/ 142 h 283"/>
                <a:gd name="T18" fmla="*/ 142 w 283"/>
                <a:gd name="T19" fmla="*/ 6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3" h="283">
                  <a:moveTo>
                    <a:pt x="142" y="0"/>
                  </a:moveTo>
                  <a:cubicBezTo>
                    <a:pt x="220" y="0"/>
                    <a:pt x="283" y="64"/>
                    <a:pt x="283" y="142"/>
                  </a:cubicBezTo>
                  <a:cubicBezTo>
                    <a:pt x="283" y="219"/>
                    <a:pt x="220" y="283"/>
                    <a:pt x="142" y="283"/>
                  </a:cubicBezTo>
                  <a:cubicBezTo>
                    <a:pt x="64" y="283"/>
                    <a:pt x="0" y="219"/>
                    <a:pt x="0" y="142"/>
                  </a:cubicBezTo>
                  <a:cubicBezTo>
                    <a:pt x="0" y="64"/>
                    <a:pt x="64" y="0"/>
                    <a:pt x="142" y="0"/>
                  </a:cubicBezTo>
                  <a:moveTo>
                    <a:pt x="142" y="6"/>
                  </a:moveTo>
                  <a:cubicBezTo>
                    <a:pt x="67" y="6"/>
                    <a:pt x="6" y="67"/>
                    <a:pt x="6" y="142"/>
                  </a:cubicBezTo>
                  <a:cubicBezTo>
                    <a:pt x="6" y="216"/>
                    <a:pt x="67" y="277"/>
                    <a:pt x="142" y="277"/>
                  </a:cubicBezTo>
                  <a:cubicBezTo>
                    <a:pt x="217" y="277"/>
                    <a:pt x="278" y="216"/>
                    <a:pt x="278" y="142"/>
                  </a:cubicBezTo>
                  <a:cubicBezTo>
                    <a:pt x="278" y="67"/>
                    <a:pt x="217" y="6"/>
                    <a:pt x="142" y="6"/>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0" name="Freeform 106"/>
            <p:cNvSpPr/>
            <p:nvPr userDrawn="1"/>
          </p:nvSpPr>
          <p:spPr bwMode="auto">
            <a:xfrm>
              <a:off x="1033" y="739"/>
              <a:ext cx="193" cy="173"/>
            </a:xfrm>
            <a:custGeom>
              <a:avLst/>
              <a:gdLst>
                <a:gd name="T0" fmla="*/ 28 w 156"/>
                <a:gd name="T1" fmla="*/ 139 h 139"/>
                <a:gd name="T2" fmla="*/ 7 w 156"/>
                <a:gd name="T3" fmla="*/ 112 h 139"/>
                <a:gd name="T4" fmla="*/ 0 w 156"/>
                <a:gd name="T5" fmla="*/ 79 h 139"/>
                <a:gd name="T6" fmla="*/ 78 w 156"/>
                <a:gd name="T7" fmla="*/ 0 h 139"/>
                <a:gd name="T8" fmla="*/ 156 w 156"/>
                <a:gd name="T9" fmla="*/ 79 h 139"/>
                <a:gd name="T10" fmla="*/ 149 w 156"/>
                <a:gd name="T11" fmla="*/ 112 h 139"/>
                <a:gd name="T12" fmla="*/ 128 w 156"/>
                <a:gd name="T13" fmla="*/ 139 h 139"/>
                <a:gd name="T14" fmla="*/ 126 w 156"/>
                <a:gd name="T15" fmla="*/ 137 h 139"/>
                <a:gd name="T16" fmla="*/ 146 w 156"/>
                <a:gd name="T17" fmla="*/ 111 h 139"/>
                <a:gd name="T18" fmla="*/ 153 w 156"/>
                <a:gd name="T19" fmla="*/ 79 h 139"/>
                <a:gd name="T20" fmla="*/ 78 w 156"/>
                <a:gd name="T21" fmla="*/ 3 h 139"/>
                <a:gd name="T22" fmla="*/ 3 w 156"/>
                <a:gd name="T23" fmla="*/ 79 h 139"/>
                <a:gd name="T24" fmla="*/ 10 w 156"/>
                <a:gd name="T25" fmla="*/ 111 h 139"/>
                <a:gd name="T26" fmla="*/ 30 w 156"/>
                <a:gd name="T27" fmla="*/ 137 h 139"/>
                <a:gd name="T28" fmla="*/ 28 w 156"/>
                <a:gd name="T29" fmla="*/ 13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6" h="139">
                  <a:moveTo>
                    <a:pt x="28" y="139"/>
                  </a:moveTo>
                  <a:cubicBezTo>
                    <a:pt x="19" y="132"/>
                    <a:pt x="12" y="122"/>
                    <a:pt x="7" y="112"/>
                  </a:cubicBezTo>
                  <a:cubicBezTo>
                    <a:pt x="2" y="102"/>
                    <a:pt x="0" y="90"/>
                    <a:pt x="0" y="79"/>
                  </a:cubicBezTo>
                  <a:cubicBezTo>
                    <a:pt x="0" y="36"/>
                    <a:pt x="35" y="0"/>
                    <a:pt x="78" y="0"/>
                  </a:cubicBezTo>
                  <a:cubicBezTo>
                    <a:pt x="121" y="0"/>
                    <a:pt x="156" y="36"/>
                    <a:pt x="156" y="79"/>
                  </a:cubicBezTo>
                  <a:cubicBezTo>
                    <a:pt x="156" y="90"/>
                    <a:pt x="153" y="102"/>
                    <a:pt x="149" y="112"/>
                  </a:cubicBezTo>
                  <a:cubicBezTo>
                    <a:pt x="144" y="122"/>
                    <a:pt x="136" y="132"/>
                    <a:pt x="128" y="139"/>
                  </a:cubicBezTo>
                  <a:cubicBezTo>
                    <a:pt x="126" y="137"/>
                    <a:pt x="126" y="137"/>
                    <a:pt x="126" y="137"/>
                  </a:cubicBezTo>
                  <a:cubicBezTo>
                    <a:pt x="134" y="130"/>
                    <a:pt x="141" y="121"/>
                    <a:pt x="146" y="111"/>
                  </a:cubicBezTo>
                  <a:cubicBezTo>
                    <a:pt x="151" y="101"/>
                    <a:pt x="153" y="90"/>
                    <a:pt x="153" y="79"/>
                  </a:cubicBezTo>
                  <a:cubicBezTo>
                    <a:pt x="153" y="37"/>
                    <a:pt x="119" y="3"/>
                    <a:pt x="78" y="3"/>
                  </a:cubicBezTo>
                  <a:cubicBezTo>
                    <a:pt x="36" y="3"/>
                    <a:pt x="3" y="37"/>
                    <a:pt x="3" y="79"/>
                  </a:cubicBezTo>
                  <a:cubicBezTo>
                    <a:pt x="3" y="90"/>
                    <a:pt x="5" y="101"/>
                    <a:pt x="10" y="111"/>
                  </a:cubicBezTo>
                  <a:cubicBezTo>
                    <a:pt x="14" y="121"/>
                    <a:pt x="21" y="130"/>
                    <a:pt x="30" y="137"/>
                  </a:cubicBezTo>
                  <a:lnTo>
                    <a:pt x="28" y="13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1" name="Freeform 107"/>
            <p:cNvSpPr/>
            <p:nvPr userDrawn="1"/>
          </p:nvSpPr>
          <p:spPr bwMode="auto">
            <a:xfrm>
              <a:off x="972" y="867"/>
              <a:ext cx="40" cy="29"/>
            </a:xfrm>
            <a:custGeom>
              <a:avLst/>
              <a:gdLst>
                <a:gd name="T0" fmla="*/ 8 w 40"/>
                <a:gd name="T1" fmla="*/ 29 h 29"/>
                <a:gd name="T2" fmla="*/ 0 w 40"/>
                <a:gd name="T3" fmla="*/ 10 h 29"/>
                <a:gd name="T4" fmla="*/ 4 w 40"/>
                <a:gd name="T5" fmla="*/ 9 h 29"/>
                <a:gd name="T6" fmla="*/ 35 w 40"/>
                <a:gd name="T7" fmla="*/ 14 h 29"/>
                <a:gd name="T8" fmla="*/ 30 w 40"/>
                <a:gd name="T9" fmla="*/ 1 h 29"/>
                <a:gd name="T10" fmla="*/ 34 w 40"/>
                <a:gd name="T11" fmla="*/ 0 h 29"/>
                <a:gd name="T12" fmla="*/ 40 w 40"/>
                <a:gd name="T13" fmla="*/ 16 h 29"/>
                <a:gd name="T14" fmla="*/ 36 w 40"/>
                <a:gd name="T15" fmla="*/ 17 h 29"/>
                <a:gd name="T16" fmla="*/ 7 w 40"/>
                <a:gd name="T17" fmla="*/ 14 h 29"/>
                <a:gd name="T18" fmla="*/ 12 w 40"/>
                <a:gd name="T19" fmla="*/ 27 h 29"/>
                <a:gd name="T20" fmla="*/ 8 w 40"/>
                <a:gd name="T21"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29">
                  <a:moveTo>
                    <a:pt x="8" y="29"/>
                  </a:moveTo>
                  <a:lnTo>
                    <a:pt x="0" y="10"/>
                  </a:lnTo>
                  <a:lnTo>
                    <a:pt x="4" y="9"/>
                  </a:lnTo>
                  <a:lnTo>
                    <a:pt x="35" y="14"/>
                  </a:lnTo>
                  <a:lnTo>
                    <a:pt x="30" y="1"/>
                  </a:lnTo>
                  <a:lnTo>
                    <a:pt x="34" y="0"/>
                  </a:lnTo>
                  <a:lnTo>
                    <a:pt x="40" y="16"/>
                  </a:lnTo>
                  <a:lnTo>
                    <a:pt x="36" y="17"/>
                  </a:lnTo>
                  <a:lnTo>
                    <a:pt x="7" y="14"/>
                  </a:lnTo>
                  <a:lnTo>
                    <a:pt x="12" y="27"/>
                  </a:lnTo>
                  <a:lnTo>
                    <a:pt x="8" y="2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2" name="Freeform 108"/>
            <p:cNvSpPr/>
            <p:nvPr userDrawn="1"/>
          </p:nvSpPr>
          <p:spPr bwMode="auto">
            <a:xfrm>
              <a:off x="984" y="888"/>
              <a:ext cx="38" cy="31"/>
            </a:xfrm>
            <a:custGeom>
              <a:avLst/>
              <a:gdLst>
                <a:gd name="T0" fmla="*/ 7 w 38"/>
                <a:gd name="T1" fmla="*/ 31 h 31"/>
                <a:gd name="T2" fmla="*/ 6 w 38"/>
                <a:gd name="T3" fmla="*/ 28 h 31"/>
                <a:gd name="T4" fmla="*/ 19 w 38"/>
                <a:gd name="T5" fmla="*/ 21 h 31"/>
                <a:gd name="T6" fmla="*/ 14 w 38"/>
                <a:gd name="T7" fmla="*/ 11 h 31"/>
                <a:gd name="T8" fmla="*/ 1 w 38"/>
                <a:gd name="T9" fmla="*/ 19 h 31"/>
                <a:gd name="T10" fmla="*/ 0 w 38"/>
                <a:gd name="T11" fmla="*/ 15 h 31"/>
                <a:gd name="T12" fmla="*/ 29 w 38"/>
                <a:gd name="T13" fmla="*/ 0 h 31"/>
                <a:gd name="T14" fmla="*/ 32 w 38"/>
                <a:gd name="T15" fmla="*/ 4 h 31"/>
                <a:gd name="T16" fmla="*/ 18 w 38"/>
                <a:gd name="T17" fmla="*/ 10 h 31"/>
                <a:gd name="T18" fmla="*/ 23 w 38"/>
                <a:gd name="T19" fmla="*/ 19 h 31"/>
                <a:gd name="T20" fmla="*/ 35 w 38"/>
                <a:gd name="T21" fmla="*/ 13 h 31"/>
                <a:gd name="T22" fmla="*/ 38 w 38"/>
                <a:gd name="T23" fmla="*/ 16 h 31"/>
                <a:gd name="T24" fmla="*/ 7 w 38"/>
                <a:gd name="T25"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1">
                  <a:moveTo>
                    <a:pt x="7" y="31"/>
                  </a:moveTo>
                  <a:lnTo>
                    <a:pt x="6" y="28"/>
                  </a:lnTo>
                  <a:lnTo>
                    <a:pt x="19" y="21"/>
                  </a:lnTo>
                  <a:lnTo>
                    <a:pt x="14" y="11"/>
                  </a:lnTo>
                  <a:lnTo>
                    <a:pt x="1" y="19"/>
                  </a:lnTo>
                  <a:lnTo>
                    <a:pt x="0" y="15"/>
                  </a:lnTo>
                  <a:lnTo>
                    <a:pt x="29" y="0"/>
                  </a:lnTo>
                  <a:lnTo>
                    <a:pt x="32" y="4"/>
                  </a:lnTo>
                  <a:lnTo>
                    <a:pt x="18" y="10"/>
                  </a:lnTo>
                  <a:lnTo>
                    <a:pt x="23" y="19"/>
                  </a:lnTo>
                  <a:lnTo>
                    <a:pt x="35" y="13"/>
                  </a:lnTo>
                  <a:lnTo>
                    <a:pt x="38" y="16"/>
                  </a:lnTo>
                  <a:lnTo>
                    <a:pt x="7" y="31"/>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3" name="Freeform 109"/>
            <p:cNvSpPr/>
            <p:nvPr userDrawn="1"/>
          </p:nvSpPr>
          <p:spPr bwMode="auto">
            <a:xfrm>
              <a:off x="995" y="906"/>
              <a:ext cx="38" cy="33"/>
            </a:xfrm>
            <a:custGeom>
              <a:avLst/>
              <a:gdLst>
                <a:gd name="T0" fmla="*/ 11 w 38"/>
                <a:gd name="T1" fmla="*/ 33 h 33"/>
                <a:gd name="T2" fmla="*/ 0 w 38"/>
                <a:gd name="T3" fmla="*/ 18 h 33"/>
                <a:gd name="T4" fmla="*/ 28 w 38"/>
                <a:gd name="T5" fmla="*/ 0 h 33"/>
                <a:gd name="T6" fmla="*/ 38 w 38"/>
                <a:gd name="T7" fmla="*/ 15 h 33"/>
                <a:gd name="T8" fmla="*/ 36 w 38"/>
                <a:gd name="T9" fmla="*/ 17 h 33"/>
                <a:gd name="T10" fmla="*/ 27 w 38"/>
                <a:gd name="T11" fmla="*/ 6 h 33"/>
                <a:gd name="T12" fmla="*/ 18 w 38"/>
                <a:gd name="T13" fmla="*/ 11 h 33"/>
                <a:gd name="T14" fmla="*/ 26 w 38"/>
                <a:gd name="T15" fmla="*/ 21 h 33"/>
                <a:gd name="T16" fmla="*/ 23 w 38"/>
                <a:gd name="T17" fmla="*/ 23 h 33"/>
                <a:gd name="T18" fmla="*/ 16 w 38"/>
                <a:gd name="T19" fmla="*/ 13 h 33"/>
                <a:gd name="T20" fmla="*/ 6 w 38"/>
                <a:gd name="T21" fmla="*/ 20 h 33"/>
                <a:gd name="T22" fmla="*/ 13 w 38"/>
                <a:gd name="T23" fmla="*/ 31 h 33"/>
                <a:gd name="T24" fmla="*/ 11 w 38"/>
                <a:gd name="T25"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3">
                  <a:moveTo>
                    <a:pt x="11" y="33"/>
                  </a:moveTo>
                  <a:lnTo>
                    <a:pt x="0" y="18"/>
                  </a:lnTo>
                  <a:lnTo>
                    <a:pt x="28" y="0"/>
                  </a:lnTo>
                  <a:lnTo>
                    <a:pt x="38" y="15"/>
                  </a:lnTo>
                  <a:lnTo>
                    <a:pt x="36" y="17"/>
                  </a:lnTo>
                  <a:lnTo>
                    <a:pt x="27" y="6"/>
                  </a:lnTo>
                  <a:lnTo>
                    <a:pt x="18" y="11"/>
                  </a:lnTo>
                  <a:lnTo>
                    <a:pt x="26" y="21"/>
                  </a:lnTo>
                  <a:lnTo>
                    <a:pt x="23" y="23"/>
                  </a:lnTo>
                  <a:lnTo>
                    <a:pt x="16" y="13"/>
                  </a:lnTo>
                  <a:lnTo>
                    <a:pt x="6" y="20"/>
                  </a:lnTo>
                  <a:lnTo>
                    <a:pt x="13" y="31"/>
                  </a:lnTo>
                  <a:lnTo>
                    <a:pt x="11" y="33"/>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4" name="Freeform 110"/>
            <p:cNvSpPr/>
            <p:nvPr userDrawn="1"/>
          </p:nvSpPr>
          <p:spPr bwMode="auto">
            <a:xfrm>
              <a:off x="1026" y="934"/>
              <a:ext cx="24" cy="29"/>
            </a:xfrm>
            <a:custGeom>
              <a:avLst/>
              <a:gdLst>
                <a:gd name="T0" fmla="*/ 3 w 24"/>
                <a:gd name="T1" fmla="*/ 29 h 29"/>
                <a:gd name="T2" fmla="*/ 0 w 24"/>
                <a:gd name="T3" fmla="*/ 26 h 29"/>
                <a:gd name="T4" fmla="*/ 21 w 24"/>
                <a:gd name="T5" fmla="*/ 0 h 29"/>
                <a:gd name="T6" fmla="*/ 24 w 24"/>
                <a:gd name="T7" fmla="*/ 3 h 29"/>
                <a:gd name="T8" fmla="*/ 3 w 24"/>
                <a:gd name="T9" fmla="*/ 29 h 29"/>
              </a:gdLst>
              <a:ahLst/>
              <a:cxnLst>
                <a:cxn ang="0">
                  <a:pos x="T0" y="T1"/>
                </a:cxn>
                <a:cxn ang="0">
                  <a:pos x="T2" y="T3"/>
                </a:cxn>
                <a:cxn ang="0">
                  <a:pos x="T4" y="T5"/>
                </a:cxn>
                <a:cxn ang="0">
                  <a:pos x="T6" y="T7"/>
                </a:cxn>
                <a:cxn ang="0">
                  <a:pos x="T8" y="T9"/>
                </a:cxn>
              </a:cxnLst>
              <a:rect l="0" t="0" r="r" b="b"/>
              <a:pathLst>
                <a:path w="24" h="29">
                  <a:moveTo>
                    <a:pt x="3" y="29"/>
                  </a:moveTo>
                  <a:lnTo>
                    <a:pt x="0" y="26"/>
                  </a:lnTo>
                  <a:lnTo>
                    <a:pt x="21" y="0"/>
                  </a:lnTo>
                  <a:lnTo>
                    <a:pt x="24" y="3"/>
                  </a:lnTo>
                  <a:lnTo>
                    <a:pt x="3" y="2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5" name="Freeform 111"/>
            <p:cNvSpPr>
              <a:spLocks noEditPoints="1"/>
            </p:cNvSpPr>
            <p:nvPr userDrawn="1"/>
          </p:nvSpPr>
          <p:spPr bwMode="auto">
            <a:xfrm>
              <a:off x="1034" y="942"/>
              <a:ext cx="29" cy="35"/>
            </a:xfrm>
            <a:custGeom>
              <a:avLst/>
              <a:gdLst>
                <a:gd name="T0" fmla="*/ 11 w 29"/>
                <a:gd name="T1" fmla="*/ 32 h 35"/>
                <a:gd name="T2" fmla="*/ 16 w 29"/>
                <a:gd name="T3" fmla="*/ 23 h 35"/>
                <a:gd name="T4" fmla="*/ 11 w 29"/>
                <a:gd name="T5" fmla="*/ 20 h 35"/>
                <a:gd name="T6" fmla="*/ 3 w 29"/>
                <a:gd name="T7" fmla="*/ 27 h 35"/>
                <a:gd name="T8" fmla="*/ 0 w 29"/>
                <a:gd name="T9" fmla="*/ 25 h 35"/>
                <a:gd name="T10" fmla="*/ 24 w 29"/>
                <a:gd name="T11" fmla="*/ 0 h 35"/>
                <a:gd name="T12" fmla="*/ 29 w 29"/>
                <a:gd name="T13" fmla="*/ 2 h 35"/>
                <a:gd name="T14" fmla="*/ 16 w 29"/>
                <a:gd name="T15" fmla="*/ 35 h 35"/>
                <a:gd name="T16" fmla="*/ 11 w 29"/>
                <a:gd name="T17" fmla="*/ 32 h 35"/>
                <a:gd name="T18" fmla="*/ 19 w 29"/>
                <a:gd name="T19" fmla="*/ 18 h 35"/>
                <a:gd name="T20" fmla="*/ 24 w 29"/>
                <a:gd name="T21" fmla="*/ 7 h 35"/>
                <a:gd name="T22" fmla="*/ 23 w 29"/>
                <a:gd name="T23" fmla="*/ 6 h 35"/>
                <a:gd name="T24" fmla="*/ 14 w 29"/>
                <a:gd name="T25" fmla="*/ 16 h 35"/>
                <a:gd name="T26" fmla="*/ 19 w 29"/>
                <a:gd name="T2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35">
                  <a:moveTo>
                    <a:pt x="11" y="32"/>
                  </a:moveTo>
                  <a:lnTo>
                    <a:pt x="16" y="23"/>
                  </a:lnTo>
                  <a:lnTo>
                    <a:pt x="11" y="20"/>
                  </a:lnTo>
                  <a:lnTo>
                    <a:pt x="3" y="27"/>
                  </a:lnTo>
                  <a:lnTo>
                    <a:pt x="0" y="25"/>
                  </a:lnTo>
                  <a:lnTo>
                    <a:pt x="24" y="0"/>
                  </a:lnTo>
                  <a:lnTo>
                    <a:pt x="29" y="2"/>
                  </a:lnTo>
                  <a:lnTo>
                    <a:pt x="16" y="35"/>
                  </a:lnTo>
                  <a:lnTo>
                    <a:pt x="11" y="32"/>
                  </a:lnTo>
                  <a:close/>
                  <a:moveTo>
                    <a:pt x="19" y="18"/>
                  </a:moveTo>
                  <a:lnTo>
                    <a:pt x="24" y="7"/>
                  </a:lnTo>
                  <a:lnTo>
                    <a:pt x="23" y="6"/>
                  </a:lnTo>
                  <a:lnTo>
                    <a:pt x="14" y="16"/>
                  </a:lnTo>
                  <a:lnTo>
                    <a:pt x="19" y="18"/>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6" name="Freeform 112"/>
            <p:cNvSpPr/>
            <p:nvPr userDrawn="1"/>
          </p:nvSpPr>
          <p:spPr bwMode="auto">
            <a:xfrm>
              <a:off x="1054" y="948"/>
              <a:ext cx="32" cy="39"/>
            </a:xfrm>
            <a:custGeom>
              <a:avLst/>
              <a:gdLst>
                <a:gd name="T0" fmla="*/ 16 w 32"/>
                <a:gd name="T1" fmla="*/ 39 h 39"/>
                <a:gd name="T2" fmla="*/ 13 w 32"/>
                <a:gd name="T3" fmla="*/ 36 h 39"/>
                <a:gd name="T4" fmla="*/ 15 w 32"/>
                <a:gd name="T5" fmla="*/ 12 h 39"/>
                <a:gd name="T6" fmla="*/ 5 w 32"/>
                <a:gd name="T7" fmla="*/ 32 h 39"/>
                <a:gd name="T8" fmla="*/ 0 w 32"/>
                <a:gd name="T9" fmla="*/ 30 h 39"/>
                <a:gd name="T10" fmla="*/ 16 w 32"/>
                <a:gd name="T11" fmla="*/ 0 h 39"/>
                <a:gd name="T12" fmla="*/ 20 w 32"/>
                <a:gd name="T13" fmla="*/ 1 h 39"/>
                <a:gd name="T14" fmla="*/ 19 w 32"/>
                <a:gd name="T15" fmla="*/ 25 h 39"/>
                <a:gd name="T16" fmla="*/ 29 w 32"/>
                <a:gd name="T17" fmla="*/ 5 h 39"/>
                <a:gd name="T18" fmla="*/ 32 w 32"/>
                <a:gd name="T19" fmla="*/ 7 h 39"/>
                <a:gd name="T20" fmla="*/ 16 w 32"/>
                <a:gd name="T21"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39">
                  <a:moveTo>
                    <a:pt x="16" y="39"/>
                  </a:moveTo>
                  <a:lnTo>
                    <a:pt x="13" y="36"/>
                  </a:lnTo>
                  <a:lnTo>
                    <a:pt x="15" y="12"/>
                  </a:lnTo>
                  <a:lnTo>
                    <a:pt x="5" y="32"/>
                  </a:lnTo>
                  <a:lnTo>
                    <a:pt x="0" y="30"/>
                  </a:lnTo>
                  <a:lnTo>
                    <a:pt x="16" y="0"/>
                  </a:lnTo>
                  <a:lnTo>
                    <a:pt x="20" y="1"/>
                  </a:lnTo>
                  <a:lnTo>
                    <a:pt x="19" y="25"/>
                  </a:lnTo>
                  <a:lnTo>
                    <a:pt x="29" y="5"/>
                  </a:lnTo>
                  <a:lnTo>
                    <a:pt x="32" y="7"/>
                  </a:lnTo>
                  <a:lnTo>
                    <a:pt x="16" y="3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7" name="Freeform 113"/>
            <p:cNvSpPr/>
            <p:nvPr userDrawn="1"/>
          </p:nvSpPr>
          <p:spPr bwMode="auto">
            <a:xfrm>
              <a:off x="1079" y="957"/>
              <a:ext cx="23" cy="36"/>
            </a:xfrm>
            <a:custGeom>
              <a:avLst/>
              <a:gdLst>
                <a:gd name="T0" fmla="*/ 12 w 19"/>
                <a:gd name="T1" fmla="*/ 29 h 29"/>
                <a:gd name="T2" fmla="*/ 10 w 19"/>
                <a:gd name="T3" fmla="*/ 29 h 29"/>
                <a:gd name="T4" fmla="*/ 10 w 19"/>
                <a:gd name="T5" fmla="*/ 26 h 29"/>
                <a:gd name="T6" fmla="*/ 8 w 19"/>
                <a:gd name="T7" fmla="*/ 27 h 29"/>
                <a:gd name="T8" fmla="*/ 5 w 19"/>
                <a:gd name="T9" fmla="*/ 27 h 29"/>
                <a:gd name="T10" fmla="*/ 1 w 19"/>
                <a:gd name="T11" fmla="*/ 23 h 29"/>
                <a:gd name="T12" fmla="*/ 1 w 19"/>
                <a:gd name="T13" fmla="*/ 13 h 29"/>
                <a:gd name="T14" fmla="*/ 6 w 19"/>
                <a:gd name="T15" fmla="*/ 3 h 29"/>
                <a:gd name="T16" fmla="*/ 14 w 19"/>
                <a:gd name="T17" fmla="*/ 1 h 29"/>
                <a:gd name="T18" fmla="*/ 18 w 19"/>
                <a:gd name="T19" fmla="*/ 11 h 29"/>
                <a:gd name="T20" fmla="*/ 15 w 19"/>
                <a:gd name="T21" fmla="*/ 11 h 29"/>
                <a:gd name="T22" fmla="*/ 13 w 19"/>
                <a:gd name="T23" fmla="*/ 4 h 29"/>
                <a:gd name="T24" fmla="*/ 8 w 19"/>
                <a:gd name="T25" fmla="*/ 6 h 29"/>
                <a:gd name="T26" fmla="*/ 5 w 19"/>
                <a:gd name="T27" fmla="*/ 14 h 29"/>
                <a:gd name="T28" fmla="*/ 4 w 19"/>
                <a:gd name="T29" fmla="*/ 21 h 29"/>
                <a:gd name="T30" fmla="*/ 6 w 19"/>
                <a:gd name="T31" fmla="*/ 24 h 29"/>
                <a:gd name="T32" fmla="*/ 9 w 19"/>
                <a:gd name="T33" fmla="*/ 24 h 29"/>
                <a:gd name="T34" fmla="*/ 12 w 19"/>
                <a:gd name="T35" fmla="*/ 20 h 29"/>
                <a:gd name="T36" fmla="*/ 12 w 19"/>
                <a:gd name="T37" fmla="*/ 18 h 29"/>
                <a:gd name="T38" fmla="*/ 8 w 19"/>
                <a:gd name="T39" fmla="*/ 17 h 29"/>
                <a:gd name="T40" fmla="*/ 9 w 19"/>
                <a:gd name="T41" fmla="*/ 14 h 29"/>
                <a:gd name="T42" fmla="*/ 16 w 19"/>
                <a:gd name="T43" fmla="*/ 17 h 29"/>
                <a:gd name="T44" fmla="*/ 12 w 19"/>
                <a:gd name="T45"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29">
                  <a:moveTo>
                    <a:pt x="12" y="29"/>
                  </a:moveTo>
                  <a:cubicBezTo>
                    <a:pt x="10" y="29"/>
                    <a:pt x="10" y="29"/>
                    <a:pt x="10" y="29"/>
                  </a:cubicBezTo>
                  <a:cubicBezTo>
                    <a:pt x="10" y="26"/>
                    <a:pt x="10" y="26"/>
                    <a:pt x="10" y="26"/>
                  </a:cubicBezTo>
                  <a:cubicBezTo>
                    <a:pt x="9" y="27"/>
                    <a:pt x="9" y="27"/>
                    <a:pt x="8" y="27"/>
                  </a:cubicBezTo>
                  <a:cubicBezTo>
                    <a:pt x="7" y="27"/>
                    <a:pt x="6" y="27"/>
                    <a:pt x="5" y="27"/>
                  </a:cubicBezTo>
                  <a:cubicBezTo>
                    <a:pt x="3" y="26"/>
                    <a:pt x="2" y="25"/>
                    <a:pt x="1" y="23"/>
                  </a:cubicBezTo>
                  <a:cubicBezTo>
                    <a:pt x="0" y="20"/>
                    <a:pt x="0" y="17"/>
                    <a:pt x="1" y="13"/>
                  </a:cubicBezTo>
                  <a:cubicBezTo>
                    <a:pt x="3" y="8"/>
                    <a:pt x="4" y="5"/>
                    <a:pt x="6" y="3"/>
                  </a:cubicBezTo>
                  <a:cubicBezTo>
                    <a:pt x="9" y="1"/>
                    <a:pt x="12" y="0"/>
                    <a:pt x="14" y="1"/>
                  </a:cubicBezTo>
                  <a:cubicBezTo>
                    <a:pt x="17" y="2"/>
                    <a:pt x="19" y="6"/>
                    <a:pt x="18" y="11"/>
                  </a:cubicBezTo>
                  <a:cubicBezTo>
                    <a:pt x="15" y="11"/>
                    <a:pt x="15" y="11"/>
                    <a:pt x="15" y="11"/>
                  </a:cubicBezTo>
                  <a:cubicBezTo>
                    <a:pt x="16" y="9"/>
                    <a:pt x="15" y="5"/>
                    <a:pt x="13" y="4"/>
                  </a:cubicBezTo>
                  <a:cubicBezTo>
                    <a:pt x="11" y="4"/>
                    <a:pt x="9" y="4"/>
                    <a:pt x="8" y="6"/>
                  </a:cubicBezTo>
                  <a:cubicBezTo>
                    <a:pt x="7" y="7"/>
                    <a:pt x="6" y="10"/>
                    <a:pt x="5" y="14"/>
                  </a:cubicBezTo>
                  <a:cubicBezTo>
                    <a:pt x="4" y="17"/>
                    <a:pt x="3" y="20"/>
                    <a:pt x="4" y="21"/>
                  </a:cubicBezTo>
                  <a:cubicBezTo>
                    <a:pt x="4" y="23"/>
                    <a:pt x="5" y="24"/>
                    <a:pt x="6" y="24"/>
                  </a:cubicBezTo>
                  <a:cubicBezTo>
                    <a:pt x="7" y="25"/>
                    <a:pt x="9" y="25"/>
                    <a:pt x="9" y="24"/>
                  </a:cubicBezTo>
                  <a:cubicBezTo>
                    <a:pt x="10" y="23"/>
                    <a:pt x="11" y="22"/>
                    <a:pt x="12" y="20"/>
                  </a:cubicBezTo>
                  <a:cubicBezTo>
                    <a:pt x="12" y="18"/>
                    <a:pt x="12" y="18"/>
                    <a:pt x="12" y="18"/>
                  </a:cubicBezTo>
                  <a:cubicBezTo>
                    <a:pt x="8" y="17"/>
                    <a:pt x="8" y="17"/>
                    <a:pt x="8" y="17"/>
                  </a:cubicBezTo>
                  <a:cubicBezTo>
                    <a:pt x="9" y="14"/>
                    <a:pt x="9" y="14"/>
                    <a:pt x="9" y="14"/>
                  </a:cubicBezTo>
                  <a:cubicBezTo>
                    <a:pt x="16" y="17"/>
                    <a:pt x="16" y="17"/>
                    <a:pt x="16" y="17"/>
                  </a:cubicBezTo>
                  <a:lnTo>
                    <a:pt x="12" y="2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8" name="Freeform 114"/>
            <p:cNvSpPr/>
            <p:nvPr userDrawn="1"/>
          </p:nvSpPr>
          <p:spPr bwMode="auto">
            <a:xfrm>
              <a:off x="1121" y="962"/>
              <a:ext cx="19" cy="33"/>
            </a:xfrm>
            <a:custGeom>
              <a:avLst/>
              <a:gdLst>
                <a:gd name="T0" fmla="*/ 15 w 15"/>
                <a:gd name="T1" fmla="*/ 19 h 27"/>
                <a:gd name="T2" fmla="*/ 13 w 15"/>
                <a:gd name="T3" fmla="*/ 25 h 27"/>
                <a:gd name="T4" fmla="*/ 7 w 15"/>
                <a:gd name="T5" fmla="*/ 27 h 27"/>
                <a:gd name="T6" fmla="*/ 1 w 15"/>
                <a:gd name="T7" fmla="*/ 25 h 27"/>
                <a:gd name="T8" fmla="*/ 0 w 15"/>
                <a:gd name="T9" fmla="*/ 19 h 27"/>
                <a:gd name="T10" fmla="*/ 0 w 15"/>
                <a:gd name="T11" fmla="*/ 0 h 27"/>
                <a:gd name="T12" fmla="*/ 4 w 15"/>
                <a:gd name="T13" fmla="*/ 0 h 27"/>
                <a:gd name="T14" fmla="*/ 3 w 15"/>
                <a:gd name="T15" fmla="*/ 19 h 27"/>
                <a:gd name="T16" fmla="*/ 4 w 15"/>
                <a:gd name="T17" fmla="*/ 23 h 27"/>
                <a:gd name="T18" fmla="*/ 7 w 15"/>
                <a:gd name="T19" fmla="*/ 24 h 27"/>
                <a:gd name="T20" fmla="*/ 10 w 15"/>
                <a:gd name="T21" fmla="*/ 23 h 27"/>
                <a:gd name="T22" fmla="*/ 11 w 15"/>
                <a:gd name="T23" fmla="*/ 19 h 27"/>
                <a:gd name="T24" fmla="*/ 12 w 15"/>
                <a:gd name="T25" fmla="*/ 0 h 27"/>
                <a:gd name="T26" fmla="*/ 15 w 15"/>
                <a:gd name="T27" fmla="*/ 0 h 27"/>
                <a:gd name="T28" fmla="*/ 15 w 15"/>
                <a:gd name="T29"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7">
                  <a:moveTo>
                    <a:pt x="15" y="19"/>
                  </a:moveTo>
                  <a:cubicBezTo>
                    <a:pt x="15" y="22"/>
                    <a:pt x="14" y="24"/>
                    <a:pt x="13" y="25"/>
                  </a:cubicBezTo>
                  <a:cubicBezTo>
                    <a:pt x="11" y="27"/>
                    <a:pt x="10" y="27"/>
                    <a:pt x="7" y="27"/>
                  </a:cubicBezTo>
                  <a:cubicBezTo>
                    <a:pt x="4" y="27"/>
                    <a:pt x="2" y="26"/>
                    <a:pt x="1" y="25"/>
                  </a:cubicBezTo>
                  <a:cubicBezTo>
                    <a:pt x="0" y="23"/>
                    <a:pt x="0" y="21"/>
                    <a:pt x="0" y="19"/>
                  </a:cubicBezTo>
                  <a:cubicBezTo>
                    <a:pt x="0" y="0"/>
                    <a:pt x="0" y="0"/>
                    <a:pt x="0" y="0"/>
                  </a:cubicBezTo>
                  <a:cubicBezTo>
                    <a:pt x="4" y="0"/>
                    <a:pt x="4" y="0"/>
                    <a:pt x="4" y="0"/>
                  </a:cubicBezTo>
                  <a:cubicBezTo>
                    <a:pt x="3" y="19"/>
                    <a:pt x="3" y="19"/>
                    <a:pt x="3" y="19"/>
                  </a:cubicBezTo>
                  <a:cubicBezTo>
                    <a:pt x="3" y="21"/>
                    <a:pt x="3" y="22"/>
                    <a:pt x="4" y="23"/>
                  </a:cubicBezTo>
                  <a:cubicBezTo>
                    <a:pt x="5" y="24"/>
                    <a:pt x="6" y="24"/>
                    <a:pt x="7" y="24"/>
                  </a:cubicBezTo>
                  <a:cubicBezTo>
                    <a:pt x="8" y="24"/>
                    <a:pt x="9" y="24"/>
                    <a:pt x="10" y="23"/>
                  </a:cubicBezTo>
                  <a:cubicBezTo>
                    <a:pt x="11" y="22"/>
                    <a:pt x="11" y="21"/>
                    <a:pt x="11" y="19"/>
                  </a:cubicBezTo>
                  <a:cubicBezTo>
                    <a:pt x="12" y="0"/>
                    <a:pt x="12" y="0"/>
                    <a:pt x="12" y="0"/>
                  </a:cubicBezTo>
                  <a:cubicBezTo>
                    <a:pt x="15" y="0"/>
                    <a:pt x="15" y="0"/>
                    <a:pt x="15" y="0"/>
                  </a:cubicBezTo>
                  <a:lnTo>
                    <a:pt x="15" y="1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9" name="Freeform 115"/>
            <p:cNvSpPr/>
            <p:nvPr userDrawn="1"/>
          </p:nvSpPr>
          <p:spPr bwMode="auto">
            <a:xfrm>
              <a:off x="1142" y="959"/>
              <a:ext cx="21" cy="36"/>
            </a:xfrm>
            <a:custGeom>
              <a:avLst/>
              <a:gdLst>
                <a:gd name="T0" fmla="*/ 21 w 21"/>
                <a:gd name="T1" fmla="*/ 33 h 36"/>
                <a:gd name="T2" fmla="*/ 17 w 21"/>
                <a:gd name="T3" fmla="*/ 34 h 36"/>
                <a:gd name="T4" fmla="*/ 5 w 21"/>
                <a:gd name="T5" fmla="*/ 11 h 36"/>
                <a:gd name="T6" fmla="*/ 8 w 21"/>
                <a:gd name="T7" fmla="*/ 35 h 36"/>
                <a:gd name="T8" fmla="*/ 3 w 21"/>
                <a:gd name="T9" fmla="*/ 36 h 36"/>
                <a:gd name="T10" fmla="*/ 0 w 21"/>
                <a:gd name="T11" fmla="*/ 3 h 36"/>
                <a:gd name="T12" fmla="*/ 5 w 21"/>
                <a:gd name="T13" fmla="*/ 1 h 36"/>
                <a:gd name="T14" fmla="*/ 15 w 21"/>
                <a:gd name="T15" fmla="*/ 18 h 36"/>
                <a:gd name="T16" fmla="*/ 12 w 21"/>
                <a:gd name="T17" fmla="*/ 0 h 36"/>
                <a:gd name="T18" fmla="*/ 16 w 21"/>
                <a:gd name="T19" fmla="*/ 0 h 36"/>
                <a:gd name="T20" fmla="*/ 21 w 21"/>
                <a:gd name="T21" fmla="*/ 3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36">
                  <a:moveTo>
                    <a:pt x="21" y="33"/>
                  </a:moveTo>
                  <a:lnTo>
                    <a:pt x="17" y="34"/>
                  </a:lnTo>
                  <a:lnTo>
                    <a:pt x="5" y="11"/>
                  </a:lnTo>
                  <a:lnTo>
                    <a:pt x="8" y="35"/>
                  </a:lnTo>
                  <a:lnTo>
                    <a:pt x="3" y="36"/>
                  </a:lnTo>
                  <a:lnTo>
                    <a:pt x="0" y="3"/>
                  </a:lnTo>
                  <a:lnTo>
                    <a:pt x="5" y="1"/>
                  </a:lnTo>
                  <a:lnTo>
                    <a:pt x="15" y="18"/>
                  </a:lnTo>
                  <a:lnTo>
                    <a:pt x="12" y="0"/>
                  </a:lnTo>
                  <a:lnTo>
                    <a:pt x="16" y="0"/>
                  </a:lnTo>
                  <a:lnTo>
                    <a:pt x="21" y="33"/>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0" name="Freeform 116"/>
            <p:cNvSpPr/>
            <p:nvPr userDrawn="1"/>
          </p:nvSpPr>
          <p:spPr bwMode="auto">
            <a:xfrm>
              <a:off x="1162" y="957"/>
              <a:ext cx="14" cy="33"/>
            </a:xfrm>
            <a:custGeom>
              <a:avLst/>
              <a:gdLst>
                <a:gd name="T0" fmla="*/ 14 w 14"/>
                <a:gd name="T1" fmla="*/ 31 h 33"/>
                <a:gd name="T2" fmla="*/ 9 w 14"/>
                <a:gd name="T3" fmla="*/ 33 h 33"/>
                <a:gd name="T4" fmla="*/ 0 w 14"/>
                <a:gd name="T5" fmla="*/ 1 h 33"/>
                <a:gd name="T6" fmla="*/ 4 w 14"/>
                <a:gd name="T7" fmla="*/ 0 h 33"/>
                <a:gd name="T8" fmla="*/ 14 w 14"/>
                <a:gd name="T9" fmla="*/ 31 h 33"/>
              </a:gdLst>
              <a:ahLst/>
              <a:cxnLst>
                <a:cxn ang="0">
                  <a:pos x="T0" y="T1"/>
                </a:cxn>
                <a:cxn ang="0">
                  <a:pos x="T2" y="T3"/>
                </a:cxn>
                <a:cxn ang="0">
                  <a:pos x="T4" y="T5"/>
                </a:cxn>
                <a:cxn ang="0">
                  <a:pos x="T6" y="T7"/>
                </a:cxn>
                <a:cxn ang="0">
                  <a:pos x="T8" y="T9"/>
                </a:cxn>
              </a:cxnLst>
              <a:rect l="0" t="0" r="r" b="b"/>
              <a:pathLst>
                <a:path w="14" h="33">
                  <a:moveTo>
                    <a:pt x="14" y="31"/>
                  </a:moveTo>
                  <a:lnTo>
                    <a:pt x="9" y="33"/>
                  </a:lnTo>
                  <a:lnTo>
                    <a:pt x="0" y="1"/>
                  </a:lnTo>
                  <a:lnTo>
                    <a:pt x="4" y="0"/>
                  </a:lnTo>
                  <a:lnTo>
                    <a:pt x="14" y="31"/>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1" name="Freeform 117"/>
            <p:cNvSpPr/>
            <p:nvPr userDrawn="1"/>
          </p:nvSpPr>
          <p:spPr bwMode="auto">
            <a:xfrm>
              <a:off x="1169" y="948"/>
              <a:ext cx="23" cy="37"/>
            </a:xfrm>
            <a:custGeom>
              <a:avLst/>
              <a:gdLst>
                <a:gd name="T0" fmla="*/ 18 w 23"/>
                <a:gd name="T1" fmla="*/ 0 h 37"/>
                <a:gd name="T2" fmla="*/ 23 w 23"/>
                <a:gd name="T3" fmla="*/ 35 h 37"/>
                <a:gd name="T4" fmla="*/ 19 w 23"/>
                <a:gd name="T5" fmla="*/ 37 h 37"/>
                <a:gd name="T6" fmla="*/ 0 w 23"/>
                <a:gd name="T7" fmla="*/ 7 h 37"/>
                <a:gd name="T8" fmla="*/ 4 w 23"/>
                <a:gd name="T9" fmla="*/ 6 h 37"/>
                <a:gd name="T10" fmla="*/ 18 w 23"/>
                <a:gd name="T11" fmla="*/ 26 h 37"/>
                <a:gd name="T12" fmla="*/ 14 w 23"/>
                <a:gd name="T13" fmla="*/ 1 h 37"/>
                <a:gd name="T14" fmla="*/ 18 w 23"/>
                <a:gd name="T15" fmla="*/ 0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7">
                  <a:moveTo>
                    <a:pt x="18" y="0"/>
                  </a:moveTo>
                  <a:lnTo>
                    <a:pt x="23" y="35"/>
                  </a:lnTo>
                  <a:lnTo>
                    <a:pt x="19" y="37"/>
                  </a:lnTo>
                  <a:lnTo>
                    <a:pt x="0" y="7"/>
                  </a:lnTo>
                  <a:lnTo>
                    <a:pt x="4" y="6"/>
                  </a:lnTo>
                  <a:lnTo>
                    <a:pt x="18" y="26"/>
                  </a:lnTo>
                  <a:lnTo>
                    <a:pt x="14" y="1"/>
                  </a:lnTo>
                  <a:lnTo>
                    <a:pt x="18"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2" name="Freeform 118"/>
            <p:cNvSpPr/>
            <p:nvPr userDrawn="1"/>
          </p:nvSpPr>
          <p:spPr bwMode="auto">
            <a:xfrm>
              <a:off x="1188" y="939"/>
              <a:ext cx="33" cy="38"/>
            </a:xfrm>
            <a:custGeom>
              <a:avLst/>
              <a:gdLst>
                <a:gd name="T0" fmla="*/ 33 w 33"/>
                <a:gd name="T1" fmla="*/ 29 h 38"/>
                <a:gd name="T2" fmla="*/ 17 w 33"/>
                <a:gd name="T3" fmla="*/ 38 h 38"/>
                <a:gd name="T4" fmla="*/ 0 w 33"/>
                <a:gd name="T5" fmla="*/ 8 h 38"/>
                <a:gd name="T6" fmla="*/ 15 w 33"/>
                <a:gd name="T7" fmla="*/ 0 h 38"/>
                <a:gd name="T8" fmla="*/ 17 w 33"/>
                <a:gd name="T9" fmla="*/ 3 h 38"/>
                <a:gd name="T10" fmla="*/ 6 w 33"/>
                <a:gd name="T11" fmla="*/ 9 h 38"/>
                <a:gd name="T12" fmla="*/ 11 w 33"/>
                <a:gd name="T13" fmla="*/ 19 h 38"/>
                <a:gd name="T14" fmla="*/ 22 w 33"/>
                <a:gd name="T15" fmla="*/ 13 h 38"/>
                <a:gd name="T16" fmla="*/ 23 w 33"/>
                <a:gd name="T17" fmla="*/ 16 h 38"/>
                <a:gd name="T18" fmla="*/ 14 w 33"/>
                <a:gd name="T19" fmla="*/ 21 h 38"/>
                <a:gd name="T20" fmla="*/ 20 w 33"/>
                <a:gd name="T21" fmla="*/ 33 h 38"/>
                <a:gd name="T22" fmla="*/ 31 w 33"/>
                <a:gd name="T23" fmla="*/ 25 h 38"/>
                <a:gd name="T24" fmla="*/ 33 w 33"/>
                <a:gd name="T25" fmla="*/ 2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8">
                  <a:moveTo>
                    <a:pt x="33" y="29"/>
                  </a:moveTo>
                  <a:lnTo>
                    <a:pt x="17" y="38"/>
                  </a:lnTo>
                  <a:lnTo>
                    <a:pt x="0" y="8"/>
                  </a:lnTo>
                  <a:lnTo>
                    <a:pt x="15" y="0"/>
                  </a:lnTo>
                  <a:lnTo>
                    <a:pt x="17" y="3"/>
                  </a:lnTo>
                  <a:lnTo>
                    <a:pt x="6" y="9"/>
                  </a:lnTo>
                  <a:lnTo>
                    <a:pt x="11" y="19"/>
                  </a:lnTo>
                  <a:lnTo>
                    <a:pt x="22" y="13"/>
                  </a:lnTo>
                  <a:lnTo>
                    <a:pt x="23" y="16"/>
                  </a:lnTo>
                  <a:lnTo>
                    <a:pt x="14" y="21"/>
                  </a:lnTo>
                  <a:lnTo>
                    <a:pt x="20" y="33"/>
                  </a:lnTo>
                  <a:lnTo>
                    <a:pt x="31" y="25"/>
                  </a:lnTo>
                  <a:lnTo>
                    <a:pt x="33" y="2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3" name="Freeform 119"/>
            <p:cNvSpPr>
              <a:spLocks noEditPoints="1"/>
            </p:cNvSpPr>
            <p:nvPr userDrawn="1"/>
          </p:nvSpPr>
          <p:spPr bwMode="auto">
            <a:xfrm>
              <a:off x="1205" y="931"/>
              <a:ext cx="34" cy="34"/>
            </a:xfrm>
            <a:custGeom>
              <a:avLst/>
              <a:gdLst>
                <a:gd name="T0" fmla="*/ 27 w 27"/>
                <a:gd name="T1" fmla="*/ 20 h 28"/>
                <a:gd name="T2" fmla="*/ 24 w 27"/>
                <a:gd name="T3" fmla="*/ 22 h 28"/>
                <a:gd name="T4" fmla="*/ 15 w 27"/>
                <a:gd name="T5" fmla="*/ 14 h 28"/>
                <a:gd name="T6" fmla="*/ 12 w 27"/>
                <a:gd name="T7" fmla="*/ 17 h 28"/>
                <a:gd name="T8" fmla="*/ 19 w 27"/>
                <a:gd name="T9" fmla="*/ 26 h 28"/>
                <a:gd name="T10" fmla="*/ 16 w 27"/>
                <a:gd name="T11" fmla="*/ 28 h 28"/>
                <a:gd name="T12" fmla="*/ 0 w 27"/>
                <a:gd name="T13" fmla="*/ 6 h 28"/>
                <a:gd name="T14" fmla="*/ 5 w 27"/>
                <a:gd name="T15" fmla="*/ 2 h 28"/>
                <a:gd name="T16" fmla="*/ 11 w 27"/>
                <a:gd name="T17" fmla="*/ 0 h 28"/>
                <a:gd name="T18" fmla="*/ 18 w 27"/>
                <a:gd name="T19" fmla="*/ 8 h 28"/>
                <a:gd name="T20" fmla="*/ 17 w 27"/>
                <a:gd name="T21" fmla="*/ 12 h 28"/>
                <a:gd name="T22" fmla="*/ 27 w 27"/>
                <a:gd name="T23" fmla="*/ 20 h 28"/>
                <a:gd name="T24" fmla="*/ 10 w 27"/>
                <a:gd name="T25" fmla="*/ 4 h 28"/>
                <a:gd name="T26" fmla="*/ 5 w 27"/>
                <a:gd name="T27" fmla="*/ 6 h 28"/>
                <a:gd name="T28" fmla="*/ 10 w 27"/>
                <a:gd name="T29" fmla="*/ 13 h 28"/>
                <a:gd name="T30" fmla="*/ 14 w 27"/>
                <a:gd name="T31" fmla="*/ 10 h 28"/>
                <a:gd name="T32" fmla="*/ 10 w 27"/>
                <a:gd name="T33"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8">
                  <a:moveTo>
                    <a:pt x="27" y="20"/>
                  </a:moveTo>
                  <a:cubicBezTo>
                    <a:pt x="24" y="22"/>
                    <a:pt x="24" y="22"/>
                    <a:pt x="24" y="22"/>
                  </a:cubicBezTo>
                  <a:cubicBezTo>
                    <a:pt x="15" y="14"/>
                    <a:pt x="15" y="14"/>
                    <a:pt x="15" y="14"/>
                  </a:cubicBezTo>
                  <a:cubicBezTo>
                    <a:pt x="12" y="17"/>
                    <a:pt x="12" y="17"/>
                    <a:pt x="12" y="17"/>
                  </a:cubicBezTo>
                  <a:cubicBezTo>
                    <a:pt x="19" y="26"/>
                    <a:pt x="19" y="26"/>
                    <a:pt x="19" y="26"/>
                  </a:cubicBezTo>
                  <a:cubicBezTo>
                    <a:pt x="16" y="28"/>
                    <a:pt x="16" y="28"/>
                    <a:pt x="16" y="28"/>
                  </a:cubicBezTo>
                  <a:cubicBezTo>
                    <a:pt x="0" y="6"/>
                    <a:pt x="0" y="6"/>
                    <a:pt x="0" y="6"/>
                  </a:cubicBezTo>
                  <a:cubicBezTo>
                    <a:pt x="5" y="2"/>
                    <a:pt x="5" y="2"/>
                    <a:pt x="5" y="2"/>
                  </a:cubicBezTo>
                  <a:cubicBezTo>
                    <a:pt x="7" y="1"/>
                    <a:pt x="9" y="0"/>
                    <a:pt x="11" y="0"/>
                  </a:cubicBezTo>
                  <a:cubicBezTo>
                    <a:pt x="16" y="1"/>
                    <a:pt x="18" y="4"/>
                    <a:pt x="18" y="8"/>
                  </a:cubicBezTo>
                  <a:cubicBezTo>
                    <a:pt x="18" y="9"/>
                    <a:pt x="18" y="11"/>
                    <a:pt x="17" y="12"/>
                  </a:cubicBezTo>
                  <a:lnTo>
                    <a:pt x="27" y="20"/>
                  </a:lnTo>
                  <a:close/>
                  <a:moveTo>
                    <a:pt x="10" y="4"/>
                  </a:moveTo>
                  <a:cubicBezTo>
                    <a:pt x="8" y="3"/>
                    <a:pt x="6" y="5"/>
                    <a:pt x="5" y="6"/>
                  </a:cubicBezTo>
                  <a:cubicBezTo>
                    <a:pt x="10" y="13"/>
                    <a:pt x="10" y="13"/>
                    <a:pt x="10" y="13"/>
                  </a:cubicBezTo>
                  <a:cubicBezTo>
                    <a:pt x="12" y="12"/>
                    <a:pt x="12" y="12"/>
                    <a:pt x="14" y="10"/>
                  </a:cubicBezTo>
                  <a:cubicBezTo>
                    <a:pt x="14" y="7"/>
                    <a:pt x="13" y="5"/>
                    <a:pt x="10" y="4"/>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4" name="Freeform 120"/>
            <p:cNvSpPr/>
            <p:nvPr userDrawn="1"/>
          </p:nvSpPr>
          <p:spPr bwMode="auto">
            <a:xfrm>
              <a:off x="1223" y="916"/>
              <a:ext cx="34" cy="29"/>
            </a:xfrm>
            <a:custGeom>
              <a:avLst/>
              <a:gdLst>
                <a:gd name="T0" fmla="*/ 22 w 28"/>
                <a:gd name="T1" fmla="*/ 10 h 24"/>
                <a:gd name="T2" fmla="*/ 19 w 28"/>
                <a:gd name="T3" fmla="*/ 24 h 24"/>
                <a:gd name="T4" fmla="*/ 14 w 28"/>
                <a:gd name="T5" fmla="*/ 23 h 24"/>
                <a:gd name="T6" fmla="*/ 15 w 28"/>
                <a:gd name="T7" fmla="*/ 20 h 24"/>
                <a:gd name="T8" fmla="*/ 18 w 28"/>
                <a:gd name="T9" fmla="*/ 21 h 24"/>
                <a:gd name="T10" fmla="*/ 20 w 28"/>
                <a:gd name="T11" fmla="*/ 13 h 24"/>
                <a:gd name="T12" fmla="*/ 17 w 28"/>
                <a:gd name="T13" fmla="*/ 12 h 24"/>
                <a:gd name="T14" fmla="*/ 8 w 28"/>
                <a:gd name="T15" fmla="*/ 15 h 24"/>
                <a:gd name="T16" fmla="*/ 0 w 28"/>
                <a:gd name="T17" fmla="*/ 9 h 24"/>
                <a:gd name="T18" fmla="*/ 2 w 28"/>
                <a:gd name="T19" fmla="*/ 4 h 24"/>
                <a:gd name="T20" fmla="*/ 11 w 28"/>
                <a:gd name="T21" fmla="*/ 2 h 24"/>
                <a:gd name="T22" fmla="*/ 10 w 28"/>
                <a:gd name="T23" fmla="*/ 5 h 24"/>
                <a:gd name="T24" fmla="*/ 4 w 28"/>
                <a:gd name="T25" fmla="*/ 6 h 24"/>
                <a:gd name="T26" fmla="*/ 3 w 28"/>
                <a:gd name="T27" fmla="*/ 9 h 24"/>
                <a:gd name="T28" fmla="*/ 7 w 28"/>
                <a:gd name="T29" fmla="*/ 12 h 24"/>
                <a:gd name="T30" fmla="*/ 17 w 28"/>
                <a:gd name="T31" fmla="*/ 9 h 24"/>
                <a:gd name="T32" fmla="*/ 22 w 28"/>
                <a:gd name="T33" fmla="*/ 1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 h="24">
                  <a:moveTo>
                    <a:pt x="22" y="10"/>
                  </a:moveTo>
                  <a:cubicBezTo>
                    <a:pt x="28" y="13"/>
                    <a:pt x="26" y="23"/>
                    <a:pt x="19" y="24"/>
                  </a:cubicBezTo>
                  <a:cubicBezTo>
                    <a:pt x="17" y="24"/>
                    <a:pt x="15" y="24"/>
                    <a:pt x="14" y="23"/>
                  </a:cubicBezTo>
                  <a:cubicBezTo>
                    <a:pt x="15" y="20"/>
                    <a:pt x="15" y="20"/>
                    <a:pt x="15" y="20"/>
                  </a:cubicBezTo>
                  <a:cubicBezTo>
                    <a:pt x="16" y="21"/>
                    <a:pt x="17" y="21"/>
                    <a:pt x="18" y="21"/>
                  </a:cubicBezTo>
                  <a:cubicBezTo>
                    <a:pt x="23" y="20"/>
                    <a:pt x="23" y="15"/>
                    <a:pt x="20" y="13"/>
                  </a:cubicBezTo>
                  <a:cubicBezTo>
                    <a:pt x="19" y="12"/>
                    <a:pt x="18" y="12"/>
                    <a:pt x="17" y="12"/>
                  </a:cubicBezTo>
                  <a:cubicBezTo>
                    <a:pt x="13" y="13"/>
                    <a:pt x="11" y="15"/>
                    <a:pt x="8" y="15"/>
                  </a:cubicBezTo>
                  <a:cubicBezTo>
                    <a:pt x="4" y="15"/>
                    <a:pt x="1" y="13"/>
                    <a:pt x="0" y="9"/>
                  </a:cubicBezTo>
                  <a:cubicBezTo>
                    <a:pt x="0" y="7"/>
                    <a:pt x="1" y="5"/>
                    <a:pt x="2" y="4"/>
                  </a:cubicBezTo>
                  <a:cubicBezTo>
                    <a:pt x="4" y="0"/>
                    <a:pt x="8" y="0"/>
                    <a:pt x="11" y="2"/>
                  </a:cubicBezTo>
                  <a:cubicBezTo>
                    <a:pt x="10" y="5"/>
                    <a:pt x="10" y="5"/>
                    <a:pt x="10" y="5"/>
                  </a:cubicBezTo>
                  <a:cubicBezTo>
                    <a:pt x="8" y="4"/>
                    <a:pt x="5" y="4"/>
                    <a:pt x="4" y="6"/>
                  </a:cubicBezTo>
                  <a:cubicBezTo>
                    <a:pt x="3" y="7"/>
                    <a:pt x="3" y="8"/>
                    <a:pt x="3" y="9"/>
                  </a:cubicBezTo>
                  <a:cubicBezTo>
                    <a:pt x="4" y="11"/>
                    <a:pt x="5" y="12"/>
                    <a:pt x="7" y="12"/>
                  </a:cubicBezTo>
                  <a:cubicBezTo>
                    <a:pt x="11" y="11"/>
                    <a:pt x="13" y="8"/>
                    <a:pt x="17" y="9"/>
                  </a:cubicBezTo>
                  <a:cubicBezTo>
                    <a:pt x="18" y="9"/>
                    <a:pt x="20" y="9"/>
                    <a:pt x="22" y="10"/>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5" name="Freeform 121"/>
            <p:cNvSpPr/>
            <p:nvPr userDrawn="1"/>
          </p:nvSpPr>
          <p:spPr bwMode="auto">
            <a:xfrm>
              <a:off x="1234" y="906"/>
              <a:ext cx="31" cy="21"/>
            </a:xfrm>
            <a:custGeom>
              <a:avLst/>
              <a:gdLst>
                <a:gd name="T0" fmla="*/ 31 w 31"/>
                <a:gd name="T1" fmla="*/ 17 h 21"/>
                <a:gd name="T2" fmla="*/ 28 w 31"/>
                <a:gd name="T3" fmla="*/ 21 h 21"/>
                <a:gd name="T4" fmla="*/ 0 w 31"/>
                <a:gd name="T5" fmla="*/ 2 h 21"/>
                <a:gd name="T6" fmla="*/ 2 w 31"/>
                <a:gd name="T7" fmla="*/ 0 h 21"/>
                <a:gd name="T8" fmla="*/ 31 w 31"/>
                <a:gd name="T9" fmla="*/ 17 h 21"/>
              </a:gdLst>
              <a:ahLst/>
              <a:cxnLst>
                <a:cxn ang="0">
                  <a:pos x="T0" y="T1"/>
                </a:cxn>
                <a:cxn ang="0">
                  <a:pos x="T2" y="T3"/>
                </a:cxn>
                <a:cxn ang="0">
                  <a:pos x="T4" y="T5"/>
                </a:cxn>
                <a:cxn ang="0">
                  <a:pos x="T6" y="T7"/>
                </a:cxn>
                <a:cxn ang="0">
                  <a:pos x="T8" y="T9"/>
                </a:cxn>
              </a:cxnLst>
              <a:rect l="0" t="0" r="r" b="b"/>
              <a:pathLst>
                <a:path w="31" h="21">
                  <a:moveTo>
                    <a:pt x="31" y="17"/>
                  </a:moveTo>
                  <a:lnTo>
                    <a:pt x="28" y="21"/>
                  </a:lnTo>
                  <a:lnTo>
                    <a:pt x="0" y="2"/>
                  </a:lnTo>
                  <a:lnTo>
                    <a:pt x="2" y="0"/>
                  </a:lnTo>
                  <a:lnTo>
                    <a:pt x="31" y="17"/>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6" name="Freeform 122"/>
            <p:cNvSpPr/>
            <p:nvPr userDrawn="1"/>
          </p:nvSpPr>
          <p:spPr bwMode="auto">
            <a:xfrm>
              <a:off x="1239" y="884"/>
              <a:ext cx="36" cy="28"/>
            </a:xfrm>
            <a:custGeom>
              <a:avLst/>
              <a:gdLst>
                <a:gd name="T0" fmla="*/ 11 w 36"/>
                <a:gd name="T1" fmla="*/ 3 h 28"/>
                <a:gd name="T2" fmla="*/ 8 w 36"/>
                <a:gd name="T3" fmla="*/ 9 h 28"/>
                <a:gd name="T4" fmla="*/ 36 w 36"/>
                <a:gd name="T5" fmla="*/ 25 h 28"/>
                <a:gd name="T6" fmla="*/ 33 w 36"/>
                <a:gd name="T7" fmla="*/ 28 h 28"/>
                <a:gd name="T8" fmla="*/ 6 w 36"/>
                <a:gd name="T9" fmla="*/ 13 h 28"/>
                <a:gd name="T10" fmla="*/ 3 w 36"/>
                <a:gd name="T11" fmla="*/ 18 h 28"/>
                <a:gd name="T12" fmla="*/ 0 w 36"/>
                <a:gd name="T13" fmla="*/ 17 h 28"/>
                <a:gd name="T14" fmla="*/ 7 w 36"/>
                <a:gd name="T15" fmla="*/ 0 h 28"/>
                <a:gd name="T16" fmla="*/ 11 w 36"/>
                <a:gd name="T17"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28">
                  <a:moveTo>
                    <a:pt x="11" y="3"/>
                  </a:moveTo>
                  <a:lnTo>
                    <a:pt x="8" y="9"/>
                  </a:lnTo>
                  <a:lnTo>
                    <a:pt x="36" y="25"/>
                  </a:lnTo>
                  <a:lnTo>
                    <a:pt x="33" y="28"/>
                  </a:lnTo>
                  <a:lnTo>
                    <a:pt x="6" y="13"/>
                  </a:lnTo>
                  <a:lnTo>
                    <a:pt x="3" y="18"/>
                  </a:lnTo>
                  <a:lnTo>
                    <a:pt x="0" y="17"/>
                  </a:lnTo>
                  <a:lnTo>
                    <a:pt x="7" y="0"/>
                  </a:lnTo>
                  <a:lnTo>
                    <a:pt x="11" y="3"/>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7" name="Freeform 123"/>
            <p:cNvSpPr/>
            <p:nvPr userDrawn="1"/>
          </p:nvSpPr>
          <p:spPr bwMode="auto">
            <a:xfrm>
              <a:off x="1247" y="865"/>
              <a:ext cx="36" cy="23"/>
            </a:xfrm>
            <a:custGeom>
              <a:avLst/>
              <a:gdLst>
                <a:gd name="T0" fmla="*/ 8 w 36"/>
                <a:gd name="T1" fmla="*/ 0 h 23"/>
                <a:gd name="T2" fmla="*/ 25 w 36"/>
                <a:gd name="T3" fmla="*/ 14 h 23"/>
                <a:gd name="T4" fmla="*/ 36 w 36"/>
                <a:gd name="T5" fmla="*/ 19 h 23"/>
                <a:gd name="T6" fmla="*/ 34 w 36"/>
                <a:gd name="T7" fmla="*/ 23 h 23"/>
                <a:gd name="T8" fmla="*/ 24 w 36"/>
                <a:gd name="T9" fmla="*/ 18 h 23"/>
                <a:gd name="T10" fmla="*/ 0 w 36"/>
                <a:gd name="T11" fmla="*/ 18 h 23"/>
                <a:gd name="T12" fmla="*/ 2 w 36"/>
                <a:gd name="T13" fmla="*/ 14 h 23"/>
                <a:gd name="T14" fmla="*/ 18 w 36"/>
                <a:gd name="T15" fmla="*/ 14 h 23"/>
                <a:gd name="T16" fmla="*/ 7 w 36"/>
                <a:gd name="T17" fmla="*/ 5 h 23"/>
                <a:gd name="T18" fmla="*/ 8 w 36"/>
                <a:gd name="T1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23">
                  <a:moveTo>
                    <a:pt x="8" y="0"/>
                  </a:moveTo>
                  <a:lnTo>
                    <a:pt x="25" y="14"/>
                  </a:lnTo>
                  <a:lnTo>
                    <a:pt x="36" y="19"/>
                  </a:lnTo>
                  <a:lnTo>
                    <a:pt x="34" y="23"/>
                  </a:lnTo>
                  <a:lnTo>
                    <a:pt x="24" y="18"/>
                  </a:lnTo>
                  <a:lnTo>
                    <a:pt x="0" y="18"/>
                  </a:lnTo>
                  <a:lnTo>
                    <a:pt x="2" y="14"/>
                  </a:lnTo>
                  <a:lnTo>
                    <a:pt x="18" y="14"/>
                  </a:lnTo>
                  <a:lnTo>
                    <a:pt x="7" y="5"/>
                  </a:lnTo>
                  <a:lnTo>
                    <a:pt x="8"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8" name="Freeform 124"/>
            <p:cNvSpPr/>
            <p:nvPr userDrawn="1"/>
          </p:nvSpPr>
          <p:spPr bwMode="auto">
            <a:xfrm>
              <a:off x="1010" y="928"/>
              <a:ext cx="34" cy="25"/>
            </a:xfrm>
            <a:custGeom>
              <a:avLst/>
              <a:gdLst>
                <a:gd name="T0" fmla="*/ 14 w 28"/>
                <a:gd name="T1" fmla="*/ 16 h 20"/>
                <a:gd name="T2" fmla="*/ 8 w 28"/>
                <a:gd name="T3" fmla="*/ 20 h 20"/>
                <a:gd name="T4" fmla="*/ 2 w 28"/>
                <a:gd name="T5" fmla="*/ 17 h 20"/>
                <a:gd name="T6" fmla="*/ 0 w 28"/>
                <a:gd name="T7" fmla="*/ 12 h 20"/>
                <a:gd name="T8" fmla="*/ 1 w 28"/>
                <a:gd name="T9" fmla="*/ 9 h 20"/>
                <a:gd name="T10" fmla="*/ 4 w 28"/>
                <a:gd name="T11" fmla="*/ 10 h 20"/>
                <a:gd name="T12" fmla="*/ 3 w 28"/>
                <a:gd name="T13" fmla="*/ 12 h 20"/>
                <a:gd name="T14" fmla="*/ 4 w 28"/>
                <a:gd name="T15" fmla="*/ 15 h 20"/>
                <a:gd name="T16" fmla="*/ 8 w 28"/>
                <a:gd name="T17" fmla="*/ 16 h 20"/>
                <a:gd name="T18" fmla="*/ 12 w 28"/>
                <a:gd name="T19" fmla="*/ 14 h 20"/>
                <a:gd name="T20" fmla="*/ 25 w 28"/>
                <a:gd name="T21" fmla="*/ 0 h 20"/>
                <a:gd name="T22" fmla="*/ 28 w 28"/>
                <a:gd name="T23" fmla="*/ 3 h 20"/>
                <a:gd name="T24" fmla="*/ 14 w 28"/>
                <a:gd name="T25"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 h="20">
                  <a:moveTo>
                    <a:pt x="14" y="16"/>
                  </a:moveTo>
                  <a:cubicBezTo>
                    <a:pt x="12" y="18"/>
                    <a:pt x="10" y="20"/>
                    <a:pt x="8" y="20"/>
                  </a:cubicBezTo>
                  <a:cubicBezTo>
                    <a:pt x="6" y="20"/>
                    <a:pt x="4" y="19"/>
                    <a:pt x="2" y="17"/>
                  </a:cubicBezTo>
                  <a:cubicBezTo>
                    <a:pt x="1" y="16"/>
                    <a:pt x="0" y="14"/>
                    <a:pt x="0" y="12"/>
                  </a:cubicBezTo>
                  <a:cubicBezTo>
                    <a:pt x="0" y="11"/>
                    <a:pt x="0" y="10"/>
                    <a:pt x="1" y="9"/>
                  </a:cubicBezTo>
                  <a:cubicBezTo>
                    <a:pt x="4" y="10"/>
                    <a:pt x="4" y="10"/>
                    <a:pt x="4" y="10"/>
                  </a:cubicBezTo>
                  <a:cubicBezTo>
                    <a:pt x="3" y="11"/>
                    <a:pt x="3" y="11"/>
                    <a:pt x="3" y="12"/>
                  </a:cubicBezTo>
                  <a:cubicBezTo>
                    <a:pt x="3" y="13"/>
                    <a:pt x="4" y="14"/>
                    <a:pt x="4" y="15"/>
                  </a:cubicBezTo>
                  <a:cubicBezTo>
                    <a:pt x="5" y="16"/>
                    <a:pt x="6" y="16"/>
                    <a:pt x="8" y="16"/>
                  </a:cubicBezTo>
                  <a:cubicBezTo>
                    <a:pt x="9" y="16"/>
                    <a:pt x="10" y="15"/>
                    <a:pt x="12" y="14"/>
                  </a:cubicBezTo>
                  <a:cubicBezTo>
                    <a:pt x="25" y="0"/>
                    <a:pt x="25" y="0"/>
                    <a:pt x="25" y="0"/>
                  </a:cubicBezTo>
                  <a:cubicBezTo>
                    <a:pt x="28" y="3"/>
                    <a:pt x="28" y="3"/>
                    <a:pt x="28" y="3"/>
                  </a:cubicBezTo>
                  <a:lnTo>
                    <a:pt x="14" y="16"/>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9" name="Freeform 125"/>
            <p:cNvSpPr>
              <a:spLocks noEditPoints="1"/>
            </p:cNvSpPr>
            <p:nvPr userDrawn="1"/>
          </p:nvSpPr>
          <p:spPr bwMode="auto">
            <a:xfrm>
              <a:off x="1073" y="917"/>
              <a:ext cx="106" cy="33"/>
            </a:xfrm>
            <a:custGeom>
              <a:avLst/>
              <a:gdLst>
                <a:gd name="T0" fmla="*/ 0 w 86"/>
                <a:gd name="T1" fmla="*/ 15 h 27"/>
                <a:gd name="T2" fmla="*/ 4 w 86"/>
                <a:gd name="T3" fmla="*/ 15 h 27"/>
                <a:gd name="T4" fmla="*/ 6 w 86"/>
                <a:gd name="T5" fmla="*/ 3 h 27"/>
                <a:gd name="T6" fmla="*/ 10 w 86"/>
                <a:gd name="T7" fmla="*/ 3 h 27"/>
                <a:gd name="T8" fmla="*/ 14 w 86"/>
                <a:gd name="T9" fmla="*/ 4 h 27"/>
                <a:gd name="T10" fmla="*/ 10 w 86"/>
                <a:gd name="T11" fmla="*/ 19 h 27"/>
                <a:gd name="T12" fmla="*/ 37 w 86"/>
                <a:gd name="T13" fmla="*/ 14 h 27"/>
                <a:gd name="T14" fmla="*/ 33 w 86"/>
                <a:gd name="T15" fmla="*/ 11 h 27"/>
                <a:gd name="T16" fmla="*/ 28 w 86"/>
                <a:gd name="T17" fmla="*/ 13 h 27"/>
                <a:gd name="T18" fmla="*/ 30 w 86"/>
                <a:gd name="T19" fmla="*/ 16 h 27"/>
                <a:gd name="T20" fmla="*/ 34 w 86"/>
                <a:gd name="T21" fmla="*/ 17 h 27"/>
                <a:gd name="T22" fmla="*/ 37 w 86"/>
                <a:gd name="T23" fmla="*/ 14 h 27"/>
                <a:gd name="T24" fmla="*/ 36 w 86"/>
                <a:gd name="T25" fmla="*/ 21 h 27"/>
                <a:gd name="T26" fmla="*/ 32 w 86"/>
                <a:gd name="T27" fmla="*/ 19 h 27"/>
                <a:gd name="T28" fmla="*/ 27 w 86"/>
                <a:gd name="T29" fmla="*/ 19 h 27"/>
                <a:gd name="T30" fmla="*/ 27 w 86"/>
                <a:gd name="T31" fmla="*/ 24 h 27"/>
                <a:gd name="T32" fmla="*/ 34 w 86"/>
                <a:gd name="T33" fmla="*/ 25 h 27"/>
                <a:gd name="T34" fmla="*/ 30 w 86"/>
                <a:gd name="T35" fmla="*/ 27 h 27"/>
                <a:gd name="T36" fmla="*/ 24 w 86"/>
                <a:gd name="T37" fmla="*/ 25 h 27"/>
                <a:gd name="T38" fmla="*/ 23 w 86"/>
                <a:gd name="T39" fmla="*/ 21 h 27"/>
                <a:gd name="T40" fmla="*/ 28 w 86"/>
                <a:gd name="T41" fmla="*/ 17 h 27"/>
                <a:gd name="T42" fmla="*/ 25 w 86"/>
                <a:gd name="T43" fmla="*/ 15 h 27"/>
                <a:gd name="T44" fmla="*/ 28 w 86"/>
                <a:gd name="T45" fmla="*/ 10 h 27"/>
                <a:gd name="T46" fmla="*/ 39 w 86"/>
                <a:gd name="T47" fmla="*/ 11 h 27"/>
                <a:gd name="T48" fmla="*/ 39 w 86"/>
                <a:gd name="T49" fmla="*/ 17 h 27"/>
                <a:gd name="T50" fmla="*/ 36 w 86"/>
                <a:gd name="T51" fmla="*/ 18 h 27"/>
                <a:gd name="T52" fmla="*/ 39 w 86"/>
                <a:gd name="T53" fmla="*/ 23 h 27"/>
                <a:gd name="T54" fmla="*/ 30 w 86"/>
                <a:gd name="T55" fmla="*/ 27 h 27"/>
                <a:gd name="T56" fmla="*/ 62 w 86"/>
                <a:gd name="T57" fmla="*/ 14 h 27"/>
                <a:gd name="T58" fmla="*/ 59 w 86"/>
                <a:gd name="T59" fmla="*/ 11 h 27"/>
                <a:gd name="T60" fmla="*/ 54 w 86"/>
                <a:gd name="T61" fmla="*/ 12 h 27"/>
                <a:gd name="T62" fmla="*/ 53 w 86"/>
                <a:gd name="T63" fmla="*/ 17 h 27"/>
                <a:gd name="T64" fmla="*/ 56 w 86"/>
                <a:gd name="T65" fmla="*/ 19 h 27"/>
                <a:gd name="T66" fmla="*/ 60 w 86"/>
                <a:gd name="T67" fmla="*/ 18 h 27"/>
                <a:gd name="T68" fmla="*/ 63 w 86"/>
                <a:gd name="T69" fmla="*/ 17 h 27"/>
                <a:gd name="T70" fmla="*/ 50 w 86"/>
                <a:gd name="T71" fmla="*/ 15 h 27"/>
                <a:gd name="T72" fmla="*/ 52 w 86"/>
                <a:gd name="T73" fmla="*/ 11 h 27"/>
                <a:gd name="T74" fmla="*/ 58 w 86"/>
                <a:gd name="T75" fmla="*/ 9 h 27"/>
                <a:gd name="T76" fmla="*/ 63 w 86"/>
                <a:gd name="T77" fmla="*/ 11 h 27"/>
                <a:gd name="T78" fmla="*/ 66 w 86"/>
                <a:gd name="T79" fmla="*/ 17 h 27"/>
                <a:gd name="T80" fmla="*/ 63 w 86"/>
                <a:gd name="T81" fmla="*/ 24 h 27"/>
                <a:gd name="T82" fmla="*/ 55 w 86"/>
                <a:gd name="T83" fmla="*/ 27 h 27"/>
                <a:gd name="T84" fmla="*/ 52 w 86"/>
                <a:gd name="T85" fmla="*/ 27 h 27"/>
                <a:gd name="T86" fmla="*/ 52 w 86"/>
                <a:gd name="T87" fmla="*/ 25 h 27"/>
                <a:gd name="T88" fmla="*/ 55 w 86"/>
                <a:gd name="T89" fmla="*/ 25 h 27"/>
                <a:gd name="T90" fmla="*/ 62 w 86"/>
                <a:gd name="T91" fmla="*/ 19 h 27"/>
                <a:gd name="T92" fmla="*/ 57 w 86"/>
                <a:gd name="T93" fmla="*/ 21 h 27"/>
                <a:gd name="T94" fmla="*/ 52 w 86"/>
                <a:gd name="T95" fmla="*/ 20 h 27"/>
                <a:gd name="T96" fmla="*/ 50 w 86"/>
                <a:gd name="T97" fmla="*/ 15 h 27"/>
                <a:gd name="T98" fmla="*/ 86 w 86"/>
                <a:gd name="T99" fmla="*/ 18 h 27"/>
                <a:gd name="T100" fmla="*/ 83 w 86"/>
                <a:gd name="T101" fmla="*/ 3 h 27"/>
                <a:gd name="T102" fmla="*/ 72 w 86"/>
                <a:gd name="T103" fmla="*/ 6 h 27"/>
                <a:gd name="T104" fmla="*/ 86 w 86"/>
                <a:gd name="T105"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6" h="27">
                  <a:moveTo>
                    <a:pt x="9" y="20"/>
                  </a:moveTo>
                  <a:cubicBezTo>
                    <a:pt x="0" y="15"/>
                    <a:pt x="0" y="15"/>
                    <a:pt x="0" y="15"/>
                  </a:cubicBezTo>
                  <a:cubicBezTo>
                    <a:pt x="0" y="13"/>
                    <a:pt x="0" y="13"/>
                    <a:pt x="0" y="13"/>
                  </a:cubicBezTo>
                  <a:cubicBezTo>
                    <a:pt x="4" y="15"/>
                    <a:pt x="4" y="15"/>
                    <a:pt x="4" y="15"/>
                  </a:cubicBezTo>
                  <a:cubicBezTo>
                    <a:pt x="10" y="5"/>
                    <a:pt x="10" y="5"/>
                    <a:pt x="10" y="5"/>
                  </a:cubicBezTo>
                  <a:cubicBezTo>
                    <a:pt x="6" y="3"/>
                    <a:pt x="6" y="3"/>
                    <a:pt x="6" y="3"/>
                  </a:cubicBezTo>
                  <a:cubicBezTo>
                    <a:pt x="7" y="2"/>
                    <a:pt x="7" y="2"/>
                    <a:pt x="7" y="2"/>
                  </a:cubicBezTo>
                  <a:cubicBezTo>
                    <a:pt x="8" y="3"/>
                    <a:pt x="9" y="3"/>
                    <a:pt x="10" y="3"/>
                  </a:cubicBezTo>
                  <a:cubicBezTo>
                    <a:pt x="11" y="3"/>
                    <a:pt x="11" y="3"/>
                    <a:pt x="12" y="2"/>
                  </a:cubicBezTo>
                  <a:cubicBezTo>
                    <a:pt x="14" y="4"/>
                    <a:pt x="14" y="4"/>
                    <a:pt x="14" y="4"/>
                  </a:cubicBezTo>
                  <a:cubicBezTo>
                    <a:pt x="6" y="17"/>
                    <a:pt x="6" y="17"/>
                    <a:pt x="6" y="17"/>
                  </a:cubicBezTo>
                  <a:cubicBezTo>
                    <a:pt x="10" y="19"/>
                    <a:pt x="10" y="19"/>
                    <a:pt x="10" y="19"/>
                  </a:cubicBezTo>
                  <a:lnTo>
                    <a:pt x="9" y="20"/>
                  </a:lnTo>
                  <a:close/>
                  <a:moveTo>
                    <a:pt x="37" y="14"/>
                  </a:moveTo>
                  <a:cubicBezTo>
                    <a:pt x="37" y="14"/>
                    <a:pt x="37" y="13"/>
                    <a:pt x="36" y="12"/>
                  </a:cubicBezTo>
                  <a:cubicBezTo>
                    <a:pt x="36" y="12"/>
                    <a:pt x="35" y="11"/>
                    <a:pt x="33" y="11"/>
                  </a:cubicBezTo>
                  <a:cubicBezTo>
                    <a:pt x="32" y="11"/>
                    <a:pt x="31" y="11"/>
                    <a:pt x="30" y="11"/>
                  </a:cubicBezTo>
                  <a:cubicBezTo>
                    <a:pt x="29" y="12"/>
                    <a:pt x="29" y="12"/>
                    <a:pt x="28" y="13"/>
                  </a:cubicBezTo>
                  <a:cubicBezTo>
                    <a:pt x="28" y="14"/>
                    <a:pt x="28" y="14"/>
                    <a:pt x="29" y="15"/>
                  </a:cubicBezTo>
                  <a:cubicBezTo>
                    <a:pt x="29" y="15"/>
                    <a:pt x="30" y="15"/>
                    <a:pt x="30" y="16"/>
                  </a:cubicBezTo>
                  <a:cubicBezTo>
                    <a:pt x="31" y="16"/>
                    <a:pt x="31" y="16"/>
                    <a:pt x="32" y="17"/>
                  </a:cubicBezTo>
                  <a:cubicBezTo>
                    <a:pt x="33" y="17"/>
                    <a:pt x="33" y="17"/>
                    <a:pt x="34" y="17"/>
                  </a:cubicBezTo>
                  <a:cubicBezTo>
                    <a:pt x="35" y="17"/>
                    <a:pt x="36" y="17"/>
                    <a:pt x="36" y="16"/>
                  </a:cubicBezTo>
                  <a:cubicBezTo>
                    <a:pt x="37" y="16"/>
                    <a:pt x="37" y="15"/>
                    <a:pt x="37" y="14"/>
                  </a:cubicBezTo>
                  <a:moveTo>
                    <a:pt x="36" y="23"/>
                  </a:moveTo>
                  <a:cubicBezTo>
                    <a:pt x="36" y="22"/>
                    <a:pt x="36" y="22"/>
                    <a:pt x="36" y="21"/>
                  </a:cubicBezTo>
                  <a:cubicBezTo>
                    <a:pt x="35" y="21"/>
                    <a:pt x="34" y="20"/>
                    <a:pt x="33" y="20"/>
                  </a:cubicBezTo>
                  <a:cubicBezTo>
                    <a:pt x="33" y="19"/>
                    <a:pt x="33" y="19"/>
                    <a:pt x="32" y="19"/>
                  </a:cubicBezTo>
                  <a:cubicBezTo>
                    <a:pt x="31" y="19"/>
                    <a:pt x="31" y="18"/>
                    <a:pt x="30" y="18"/>
                  </a:cubicBezTo>
                  <a:cubicBezTo>
                    <a:pt x="29" y="18"/>
                    <a:pt x="28" y="19"/>
                    <a:pt x="27" y="19"/>
                  </a:cubicBezTo>
                  <a:cubicBezTo>
                    <a:pt x="27" y="20"/>
                    <a:pt x="26" y="20"/>
                    <a:pt x="26" y="21"/>
                  </a:cubicBezTo>
                  <a:cubicBezTo>
                    <a:pt x="26" y="22"/>
                    <a:pt x="26" y="23"/>
                    <a:pt x="27" y="24"/>
                  </a:cubicBezTo>
                  <a:cubicBezTo>
                    <a:pt x="28" y="25"/>
                    <a:pt x="29" y="25"/>
                    <a:pt x="30" y="25"/>
                  </a:cubicBezTo>
                  <a:cubicBezTo>
                    <a:pt x="32" y="26"/>
                    <a:pt x="33" y="25"/>
                    <a:pt x="34" y="25"/>
                  </a:cubicBezTo>
                  <a:cubicBezTo>
                    <a:pt x="35" y="24"/>
                    <a:pt x="36" y="24"/>
                    <a:pt x="36" y="23"/>
                  </a:cubicBezTo>
                  <a:moveTo>
                    <a:pt x="30" y="27"/>
                  </a:moveTo>
                  <a:cubicBezTo>
                    <a:pt x="29" y="27"/>
                    <a:pt x="28" y="27"/>
                    <a:pt x="27" y="26"/>
                  </a:cubicBezTo>
                  <a:cubicBezTo>
                    <a:pt x="26" y="26"/>
                    <a:pt x="25" y="25"/>
                    <a:pt x="24" y="25"/>
                  </a:cubicBezTo>
                  <a:cubicBezTo>
                    <a:pt x="23" y="24"/>
                    <a:pt x="23" y="24"/>
                    <a:pt x="23" y="23"/>
                  </a:cubicBezTo>
                  <a:cubicBezTo>
                    <a:pt x="23" y="22"/>
                    <a:pt x="22" y="21"/>
                    <a:pt x="23" y="21"/>
                  </a:cubicBezTo>
                  <a:cubicBezTo>
                    <a:pt x="23" y="20"/>
                    <a:pt x="23" y="19"/>
                    <a:pt x="24" y="18"/>
                  </a:cubicBezTo>
                  <a:cubicBezTo>
                    <a:pt x="25" y="18"/>
                    <a:pt x="26" y="17"/>
                    <a:pt x="28" y="17"/>
                  </a:cubicBezTo>
                  <a:cubicBezTo>
                    <a:pt x="28" y="17"/>
                    <a:pt x="28" y="17"/>
                    <a:pt x="28" y="17"/>
                  </a:cubicBezTo>
                  <a:cubicBezTo>
                    <a:pt x="27" y="16"/>
                    <a:pt x="26" y="16"/>
                    <a:pt x="25" y="15"/>
                  </a:cubicBezTo>
                  <a:cubicBezTo>
                    <a:pt x="25" y="14"/>
                    <a:pt x="25" y="14"/>
                    <a:pt x="25" y="13"/>
                  </a:cubicBezTo>
                  <a:cubicBezTo>
                    <a:pt x="25" y="12"/>
                    <a:pt x="26" y="11"/>
                    <a:pt x="28" y="10"/>
                  </a:cubicBezTo>
                  <a:cubicBezTo>
                    <a:pt x="29" y="9"/>
                    <a:pt x="31" y="9"/>
                    <a:pt x="34" y="10"/>
                  </a:cubicBezTo>
                  <a:cubicBezTo>
                    <a:pt x="36" y="10"/>
                    <a:pt x="38" y="10"/>
                    <a:pt x="39" y="11"/>
                  </a:cubicBezTo>
                  <a:cubicBezTo>
                    <a:pt x="40" y="12"/>
                    <a:pt x="41" y="14"/>
                    <a:pt x="40" y="15"/>
                  </a:cubicBezTo>
                  <a:cubicBezTo>
                    <a:pt x="40" y="16"/>
                    <a:pt x="40" y="16"/>
                    <a:pt x="39" y="17"/>
                  </a:cubicBezTo>
                  <a:cubicBezTo>
                    <a:pt x="38" y="18"/>
                    <a:pt x="37" y="18"/>
                    <a:pt x="36" y="18"/>
                  </a:cubicBezTo>
                  <a:cubicBezTo>
                    <a:pt x="36" y="18"/>
                    <a:pt x="36" y="18"/>
                    <a:pt x="36" y="18"/>
                  </a:cubicBezTo>
                  <a:cubicBezTo>
                    <a:pt x="37" y="19"/>
                    <a:pt x="38" y="20"/>
                    <a:pt x="39" y="20"/>
                  </a:cubicBezTo>
                  <a:cubicBezTo>
                    <a:pt x="39" y="21"/>
                    <a:pt x="40" y="22"/>
                    <a:pt x="39" y="23"/>
                  </a:cubicBezTo>
                  <a:cubicBezTo>
                    <a:pt x="39" y="25"/>
                    <a:pt x="38" y="26"/>
                    <a:pt x="36" y="26"/>
                  </a:cubicBezTo>
                  <a:cubicBezTo>
                    <a:pt x="34" y="27"/>
                    <a:pt x="32" y="27"/>
                    <a:pt x="30" y="27"/>
                  </a:cubicBezTo>
                  <a:moveTo>
                    <a:pt x="63" y="17"/>
                  </a:moveTo>
                  <a:cubicBezTo>
                    <a:pt x="63" y="15"/>
                    <a:pt x="62" y="15"/>
                    <a:pt x="62" y="14"/>
                  </a:cubicBezTo>
                  <a:cubicBezTo>
                    <a:pt x="62" y="13"/>
                    <a:pt x="61" y="13"/>
                    <a:pt x="61" y="12"/>
                  </a:cubicBezTo>
                  <a:cubicBezTo>
                    <a:pt x="60" y="12"/>
                    <a:pt x="60" y="12"/>
                    <a:pt x="59" y="11"/>
                  </a:cubicBezTo>
                  <a:cubicBezTo>
                    <a:pt x="59" y="11"/>
                    <a:pt x="58" y="11"/>
                    <a:pt x="58" y="11"/>
                  </a:cubicBezTo>
                  <a:cubicBezTo>
                    <a:pt x="56" y="11"/>
                    <a:pt x="55" y="12"/>
                    <a:pt x="54" y="12"/>
                  </a:cubicBezTo>
                  <a:cubicBezTo>
                    <a:pt x="53" y="13"/>
                    <a:pt x="53" y="14"/>
                    <a:pt x="53" y="15"/>
                  </a:cubicBezTo>
                  <a:cubicBezTo>
                    <a:pt x="53" y="16"/>
                    <a:pt x="53" y="16"/>
                    <a:pt x="53" y="17"/>
                  </a:cubicBezTo>
                  <a:cubicBezTo>
                    <a:pt x="54" y="17"/>
                    <a:pt x="54" y="18"/>
                    <a:pt x="55" y="18"/>
                  </a:cubicBezTo>
                  <a:cubicBezTo>
                    <a:pt x="55" y="18"/>
                    <a:pt x="56" y="18"/>
                    <a:pt x="56" y="19"/>
                  </a:cubicBezTo>
                  <a:cubicBezTo>
                    <a:pt x="57" y="19"/>
                    <a:pt x="57" y="19"/>
                    <a:pt x="58" y="19"/>
                  </a:cubicBezTo>
                  <a:cubicBezTo>
                    <a:pt x="59" y="19"/>
                    <a:pt x="59" y="19"/>
                    <a:pt x="60" y="18"/>
                  </a:cubicBezTo>
                  <a:cubicBezTo>
                    <a:pt x="61" y="18"/>
                    <a:pt x="62" y="18"/>
                    <a:pt x="62" y="18"/>
                  </a:cubicBezTo>
                  <a:cubicBezTo>
                    <a:pt x="63" y="18"/>
                    <a:pt x="63" y="17"/>
                    <a:pt x="63" y="17"/>
                  </a:cubicBezTo>
                  <a:cubicBezTo>
                    <a:pt x="63" y="17"/>
                    <a:pt x="63" y="17"/>
                    <a:pt x="63" y="17"/>
                  </a:cubicBezTo>
                  <a:moveTo>
                    <a:pt x="50" y="15"/>
                  </a:moveTo>
                  <a:cubicBezTo>
                    <a:pt x="50" y="14"/>
                    <a:pt x="50" y="14"/>
                    <a:pt x="50" y="13"/>
                  </a:cubicBezTo>
                  <a:cubicBezTo>
                    <a:pt x="51" y="12"/>
                    <a:pt x="51" y="11"/>
                    <a:pt x="52" y="11"/>
                  </a:cubicBezTo>
                  <a:cubicBezTo>
                    <a:pt x="53" y="10"/>
                    <a:pt x="53" y="10"/>
                    <a:pt x="55" y="10"/>
                  </a:cubicBezTo>
                  <a:cubicBezTo>
                    <a:pt x="56" y="9"/>
                    <a:pt x="57" y="9"/>
                    <a:pt x="58" y="9"/>
                  </a:cubicBezTo>
                  <a:cubicBezTo>
                    <a:pt x="59" y="9"/>
                    <a:pt x="60" y="9"/>
                    <a:pt x="61" y="10"/>
                  </a:cubicBezTo>
                  <a:cubicBezTo>
                    <a:pt x="62" y="10"/>
                    <a:pt x="63" y="10"/>
                    <a:pt x="63" y="11"/>
                  </a:cubicBezTo>
                  <a:cubicBezTo>
                    <a:pt x="64" y="11"/>
                    <a:pt x="65" y="12"/>
                    <a:pt x="65" y="13"/>
                  </a:cubicBezTo>
                  <a:cubicBezTo>
                    <a:pt x="66" y="14"/>
                    <a:pt x="66" y="16"/>
                    <a:pt x="66" y="17"/>
                  </a:cubicBezTo>
                  <a:cubicBezTo>
                    <a:pt x="66" y="19"/>
                    <a:pt x="66" y="20"/>
                    <a:pt x="65" y="21"/>
                  </a:cubicBezTo>
                  <a:cubicBezTo>
                    <a:pt x="65" y="22"/>
                    <a:pt x="64" y="23"/>
                    <a:pt x="63" y="24"/>
                  </a:cubicBezTo>
                  <a:cubicBezTo>
                    <a:pt x="62" y="25"/>
                    <a:pt x="61" y="26"/>
                    <a:pt x="60" y="26"/>
                  </a:cubicBezTo>
                  <a:cubicBezTo>
                    <a:pt x="58" y="27"/>
                    <a:pt x="57" y="27"/>
                    <a:pt x="55" y="27"/>
                  </a:cubicBezTo>
                  <a:cubicBezTo>
                    <a:pt x="54" y="27"/>
                    <a:pt x="54" y="27"/>
                    <a:pt x="53" y="27"/>
                  </a:cubicBezTo>
                  <a:cubicBezTo>
                    <a:pt x="53" y="27"/>
                    <a:pt x="52" y="27"/>
                    <a:pt x="52" y="27"/>
                  </a:cubicBezTo>
                  <a:cubicBezTo>
                    <a:pt x="52" y="25"/>
                    <a:pt x="52" y="25"/>
                    <a:pt x="52" y="25"/>
                  </a:cubicBezTo>
                  <a:cubicBezTo>
                    <a:pt x="52" y="25"/>
                    <a:pt x="52" y="25"/>
                    <a:pt x="52" y="25"/>
                  </a:cubicBezTo>
                  <a:cubicBezTo>
                    <a:pt x="52" y="25"/>
                    <a:pt x="53" y="25"/>
                    <a:pt x="53" y="25"/>
                  </a:cubicBezTo>
                  <a:cubicBezTo>
                    <a:pt x="54" y="25"/>
                    <a:pt x="54" y="25"/>
                    <a:pt x="55" y="25"/>
                  </a:cubicBezTo>
                  <a:cubicBezTo>
                    <a:pt x="57" y="25"/>
                    <a:pt x="59" y="25"/>
                    <a:pt x="60" y="24"/>
                  </a:cubicBezTo>
                  <a:cubicBezTo>
                    <a:pt x="62" y="23"/>
                    <a:pt x="62" y="21"/>
                    <a:pt x="62" y="19"/>
                  </a:cubicBezTo>
                  <a:cubicBezTo>
                    <a:pt x="62" y="20"/>
                    <a:pt x="61" y="20"/>
                    <a:pt x="60" y="20"/>
                  </a:cubicBezTo>
                  <a:cubicBezTo>
                    <a:pt x="59" y="20"/>
                    <a:pt x="58" y="21"/>
                    <a:pt x="57" y="21"/>
                  </a:cubicBezTo>
                  <a:cubicBezTo>
                    <a:pt x="56" y="21"/>
                    <a:pt x="55" y="20"/>
                    <a:pt x="55" y="20"/>
                  </a:cubicBezTo>
                  <a:cubicBezTo>
                    <a:pt x="54" y="20"/>
                    <a:pt x="53" y="20"/>
                    <a:pt x="52" y="20"/>
                  </a:cubicBezTo>
                  <a:cubicBezTo>
                    <a:pt x="51" y="19"/>
                    <a:pt x="51" y="18"/>
                    <a:pt x="50" y="18"/>
                  </a:cubicBezTo>
                  <a:cubicBezTo>
                    <a:pt x="50" y="17"/>
                    <a:pt x="50" y="16"/>
                    <a:pt x="50" y="15"/>
                  </a:cubicBezTo>
                  <a:moveTo>
                    <a:pt x="86" y="1"/>
                  </a:moveTo>
                  <a:cubicBezTo>
                    <a:pt x="86" y="18"/>
                    <a:pt x="86" y="18"/>
                    <a:pt x="86" y="18"/>
                  </a:cubicBezTo>
                  <a:cubicBezTo>
                    <a:pt x="83" y="20"/>
                    <a:pt x="83" y="20"/>
                    <a:pt x="83" y="20"/>
                  </a:cubicBezTo>
                  <a:cubicBezTo>
                    <a:pt x="83" y="3"/>
                    <a:pt x="83" y="3"/>
                    <a:pt x="83" y="3"/>
                  </a:cubicBezTo>
                  <a:cubicBezTo>
                    <a:pt x="73" y="8"/>
                    <a:pt x="73" y="8"/>
                    <a:pt x="73" y="8"/>
                  </a:cubicBezTo>
                  <a:cubicBezTo>
                    <a:pt x="72" y="6"/>
                    <a:pt x="72" y="6"/>
                    <a:pt x="72" y="6"/>
                  </a:cubicBezTo>
                  <a:cubicBezTo>
                    <a:pt x="85" y="0"/>
                    <a:pt x="85" y="0"/>
                    <a:pt x="85" y="0"/>
                  </a:cubicBezTo>
                  <a:lnTo>
                    <a:pt x="86" y="1"/>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0" name="Freeform 126"/>
            <p:cNvSpPr/>
            <p:nvPr userDrawn="1"/>
          </p:nvSpPr>
          <p:spPr bwMode="auto">
            <a:xfrm>
              <a:off x="1184" y="728"/>
              <a:ext cx="14" cy="14"/>
            </a:xfrm>
            <a:custGeom>
              <a:avLst/>
              <a:gdLst>
                <a:gd name="T0" fmla="*/ 2 w 11"/>
                <a:gd name="T1" fmla="*/ 12 h 12"/>
                <a:gd name="T2" fmla="*/ 2 w 11"/>
                <a:gd name="T3" fmla="*/ 8 h 12"/>
                <a:gd name="T4" fmla="*/ 1 w 11"/>
                <a:gd name="T5" fmla="*/ 3 h 12"/>
                <a:gd name="T6" fmla="*/ 8 w 11"/>
                <a:gd name="T7" fmla="*/ 3 h 12"/>
                <a:gd name="T8" fmla="*/ 9 w 11"/>
                <a:gd name="T9" fmla="*/ 5 h 12"/>
                <a:gd name="T10" fmla="*/ 8 w 11"/>
                <a:gd name="T11" fmla="*/ 11 h 12"/>
                <a:gd name="T12" fmla="*/ 2 w 11"/>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1" h="12">
                  <a:moveTo>
                    <a:pt x="2" y="12"/>
                  </a:moveTo>
                  <a:cubicBezTo>
                    <a:pt x="0" y="11"/>
                    <a:pt x="1" y="10"/>
                    <a:pt x="2" y="8"/>
                  </a:cubicBezTo>
                  <a:cubicBezTo>
                    <a:pt x="2" y="7"/>
                    <a:pt x="1" y="5"/>
                    <a:pt x="1" y="3"/>
                  </a:cubicBezTo>
                  <a:cubicBezTo>
                    <a:pt x="2" y="0"/>
                    <a:pt x="6" y="2"/>
                    <a:pt x="8" y="3"/>
                  </a:cubicBezTo>
                  <a:cubicBezTo>
                    <a:pt x="8" y="3"/>
                    <a:pt x="9" y="4"/>
                    <a:pt x="9" y="5"/>
                  </a:cubicBezTo>
                  <a:cubicBezTo>
                    <a:pt x="10" y="7"/>
                    <a:pt x="11" y="10"/>
                    <a:pt x="8" y="11"/>
                  </a:cubicBezTo>
                  <a:cubicBezTo>
                    <a:pt x="6" y="12"/>
                    <a:pt x="4" y="12"/>
                    <a:pt x="2" y="12"/>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1" name="Freeform 127"/>
            <p:cNvSpPr/>
            <p:nvPr userDrawn="1"/>
          </p:nvSpPr>
          <p:spPr bwMode="auto">
            <a:xfrm>
              <a:off x="1148" y="686"/>
              <a:ext cx="51" cy="45"/>
            </a:xfrm>
            <a:custGeom>
              <a:avLst/>
              <a:gdLst>
                <a:gd name="T0" fmla="*/ 7 w 41"/>
                <a:gd name="T1" fmla="*/ 35 h 36"/>
                <a:gd name="T2" fmla="*/ 7 w 41"/>
                <a:gd name="T3" fmla="*/ 35 h 36"/>
                <a:gd name="T4" fmla="*/ 7 w 41"/>
                <a:gd name="T5" fmla="*/ 34 h 36"/>
                <a:gd name="T6" fmla="*/ 15 w 41"/>
                <a:gd name="T7" fmla="*/ 32 h 36"/>
                <a:gd name="T8" fmla="*/ 20 w 41"/>
                <a:gd name="T9" fmla="*/ 28 h 36"/>
                <a:gd name="T10" fmla="*/ 6 w 41"/>
                <a:gd name="T11" fmla="*/ 29 h 36"/>
                <a:gd name="T12" fmla="*/ 2 w 41"/>
                <a:gd name="T13" fmla="*/ 26 h 36"/>
                <a:gd name="T14" fmla="*/ 2 w 41"/>
                <a:gd name="T15" fmla="*/ 26 h 36"/>
                <a:gd name="T16" fmla="*/ 3 w 41"/>
                <a:gd name="T17" fmla="*/ 21 h 36"/>
                <a:gd name="T18" fmla="*/ 19 w 41"/>
                <a:gd name="T19" fmla="*/ 21 h 36"/>
                <a:gd name="T20" fmla="*/ 24 w 41"/>
                <a:gd name="T21" fmla="*/ 20 h 36"/>
                <a:gd name="T22" fmla="*/ 29 w 41"/>
                <a:gd name="T23" fmla="*/ 3 h 36"/>
                <a:gd name="T24" fmla="*/ 35 w 41"/>
                <a:gd name="T25" fmla="*/ 6 h 36"/>
                <a:gd name="T26" fmla="*/ 36 w 41"/>
                <a:gd name="T27" fmla="*/ 7 h 36"/>
                <a:gd name="T28" fmla="*/ 36 w 41"/>
                <a:gd name="T29" fmla="*/ 7 h 36"/>
                <a:gd name="T30" fmla="*/ 35 w 41"/>
                <a:gd name="T31" fmla="*/ 11 h 36"/>
                <a:gd name="T32" fmla="*/ 31 w 41"/>
                <a:gd name="T33" fmla="*/ 20 h 36"/>
                <a:gd name="T34" fmla="*/ 40 w 41"/>
                <a:gd name="T35" fmla="*/ 19 h 36"/>
                <a:gd name="T36" fmla="*/ 38 w 41"/>
                <a:gd name="T37" fmla="*/ 23 h 36"/>
                <a:gd name="T38" fmla="*/ 29 w 41"/>
                <a:gd name="T39" fmla="*/ 24 h 36"/>
                <a:gd name="T40" fmla="*/ 23 w 41"/>
                <a:gd name="T41" fmla="*/ 32 h 36"/>
                <a:gd name="T42" fmla="*/ 21 w 41"/>
                <a:gd name="T43" fmla="*/ 34 h 36"/>
                <a:gd name="T44" fmla="*/ 14 w 41"/>
                <a:gd name="T45" fmla="*/ 35 h 36"/>
                <a:gd name="T46" fmla="*/ 7 w 41"/>
                <a:gd name="T47" fmla="*/ 3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36">
                  <a:moveTo>
                    <a:pt x="7" y="35"/>
                  </a:moveTo>
                  <a:cubicBezTo>
                    <a:pt x="7" y="35"/>
                    <a:pt x="7" y="35"/>
                    <a:pt x="7" y="35"/>
                  </a:cubicBezTo>
                  <a:cubicBezTo>
                    <a:pt x="7" y="35"/>
                    <a:pt x="7" y="35"/>
                    <a:pt x="7" y="34"/>
                  </a:cubicBezTo>
                  <a:cubicBezTo>
                    <a:pt x="8" y="34"/>
                    <a:pt x="15" y="32"/>
                    <a:pt x="15" y="32"/>
                  </a:cubicBezTo>
                  <a:cubicBezTo>
                    <a:pt x="17" y="31"/>
                    <a:pt x="19" y="30"/>
                    <a:pt x="20" y="28"/>
                  </a:cubicBezTo>
                  <a:cubicBezTo>
                    <a:pt x="15" y="28"/>
                    <a:pt x="11" y="30"/>
                    <a:pt x="6" y="29"/>
                  </a:cubicBezTo>
                  <a:cubicBezTo>
                    <a:pt x="4" y="28"/>
                    <a:pt x="3" y="27"/>
                    <a:pt x="2" y="26"/>
                  </a:cubicBezTo>
                  <a:cubicBezTo>
                    <a:pt x="2" y="26"/>
                    <a:pt x="2" y="26"/>
                    <a:pt x="2" y="26"/>
                  </a:cubicBezTo>
                  <a:cubicBezTo>
                    <a:pt x="0" y="24"/>
                    <a:pt x="0" y="22"/>
                    <a:pt x="3" y="21"/>
                  </a:cubicBezTo>
                  <a:cubicBezTo>
                    <a:pt x="7" y="23"/>
                    <a:pt x="15" y="22"/>
                    <a:pt x="19" y="21"/>
                  </a:cubicBezTo>
                  <a:cubicBezTo>
                    <a:pt x="20" y="21"/>
                    <a:pt x="23" y="21"/>
                    <a:pt x="24" y="20"/>
                  </a:cubicBezTo>
                  <a:cubicBezTo>
                    <a:pt x="26" y="15"/>
                    <a:pt x="27" y="9"/>
                    <a:pt x="29" y="3"/>
                  </a:cubicBezTo>
                  <a:cubicBezTo>
                    <a:pt x="31" y="0"/>
                    <a:pt x="33" y="3"/>
                    <a:pt x="35" y="6"/>
                  </a:cubicBezTo>
                  <a:cubicBezTo>
                    <a:pt x="35" y="6"/>
                    <a:pt x="36" y="6"/>
                    <a:pt x="36" y="7"/>
                  </a:cubicBezTo>
                  <a:cubicBezTo>
                    <a:pt x="36" y="7"/>
                    <a:pt x="36" y="7"/>
                    <a:pt x="36" y="7"/>
                  </a:cubicBezTo>
                  <a:cubicBezTo>
                    <a:pt x="37" y="9"/>
                    <a:pt x="37" y="10"/>
                    <a:pt x="35" y="11"/>
                  </a:cubicBezTo>
                  <a:cubicBezTo>
                    <a:pt x="33" y="14"/>
                    <a:pt x="32" y="17"/>
                    <a:pt x="31" y="20"/>
                  </a:cubicBezTo>
                  <a:cubicBezTo>
                    <a:pt x="34" y="20"/>
                    <a:pt x="37" y="18"/>
                    <a:pt x="40" y="19"/>
                  </a:cubicBezTo>
                  <a:cubicBezTo>
                    <a:pt x="41" y="21"/>
                    <a:pt x="40" y="22"/>
                    <a:pt x="38" y="23"/>
                  </a:cubicBezTo>
                  <a:cubicBezTo>
                    <a:pt x="36" y="23"/>
                    <a:pt x="33" y="24"/>
                    <a:pt x="29" y="24"/>
                  </a:cubicBezTo>
                  <a:cubicBezTo>
                    <a:pt x="28" y="27"/>
                    <a:pt x="26" y="30"/>
                    <a:pt x="23" y="32"/>
                  </a:cubicBezTo>
                  <a:cubicBezTo>
                    <a:pt x="23" y="33"/>
                    <a:pt x="21" y="34"/>
                    <a:pt x="21" y="34"/>
                  </a:cubicBezTo>
                  <a:cubicBezTo>
                    <a:pt x="19" y="34"/>
                    <a:pt x="17" y="35"/>
                    <a:pt x="14" y="35"/>
                  </a:cubicBezTo>
                  <a:cubicBezTo>
                    <a:pt x="8" y="36"/>
                    <a:pt x="8" y="35"/>
                    <a:pt x="7" y="35"/>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2" name="Freeform 128"/>
            <p:cNvSpPr/>
            <p:nvPr userDrawn="1"/>
          </p:nvSpPr>
          <p:spPr bwMode="auto">
            <a:xfrm>
              <a:off x="1063" y="714"/>
              <a:ext cx="20" cy="41"/>
            </a:xfrm>
            <a:custGeom>
              <a:avLst/>
              <a:gdLst>
                <a:gd name="T0" fmla="*/ 7 w 16"/>
                <a:gd name="T1" fmla="*/ 33 h 33"/>
                <a:gd name="T2" fmla="*/ 0 w 16"/>
                <a:gd name="T3" fmla="*/ 30 h 33"/>
                <a:gd name="T4" fmla="*/ 0 w 16"/>
                <a:gd name="T5" fmla="*/ 28 h 33"/>
                <a:gd name="T6" fmla="*/ 10 w 16"/>
                <a:gd name="T7" fmla="*/ 11 h 33"/>
                <a:gd name="T8" fmla="*/ 12 w 16"/>
                <a:gd name="T9" fmla="*/ 3 h 33"/>
                <a:gd name="T10" fmla="*/ 12 w 16"/>
                <a:gd name="T11" fmla="*/ 2 h 33"/>
                <a:gd name="T12" fmla="*/ 12 w 16"/>
                <a:gd name="T13" fmla="*/ 2 h 33"/>
                <a:gd name="T14" fmla="*/ 15 w 16"/>
                <a:gd name="T15" fmla="*/ 2 h 33"/>
                <a:gd name="T16" fmla="*/ 14 w 16"/>
                <a:gd name="T17" fmla="*/ 7 h 33"/>
                <a:gd name="T18" fmla="*/ 13 w 16"/>
                <a:gd name="T19" fmla="*/ 16 h 33"/>
                <a:gd name="T20" fmla="*/ 13 w 16"/>
                <a:gd name="T21" fmla="*/ 19 h 33"/>
                <a:gd name="T22" fmla="*/ 11 w 16"/>
                <a:gd name="T23" fmla="*/ 26 h 33"/>
                <a:gd name="T24" fmla="*/ 9 w 16"/>
                <a:gd name="T25" fmla="*/ 33 h 33"/>
                <a:gd name="T26" fmla="*/ 7 w 16"/>
                <a:gd name="T27"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33">
                  <a:moveTo>
                    <a:pt x="7" y="33"/>
                  </a:moveTo>
                  <a:cubicBezTo>
                    <a:pt x="5" y="33"/>
                    <a:pt x="2" y="31"/>
                    <a:pt x="0" y="30"/>
                  </a:cubicBezTo>
                  <a:cubicBezTo>
                    <a:pt x="0" y="30"/>
                    <a:pt x="0" y="29"/>
                    <a:pt x="0" y="28"/>
                  </a:cubicBezTo>
                  <a:cubicBezTo>
                    <a:pt x="4" y="23"/>
                    <a:pt x="7" y="17"/>
                    <a:pt x="10" y="11"/>
                  </a:cubicBezTo>
                  <a:cubicBezTo>
                    <a:pt x="11" y="8"/>
                    <a:pt x="11" y="5"/>
                    <a:pt x="12" y="3"/>
                  </a:cubicBezTo>
                  <a:cubicBezTo>
                    <a:pt x="12" y="3"/>
                    <a:pt x="12" y="3"/>
                    <a:pt x="12" y="2"/>
                  </a:cubicBezTo>
                  <a:cubicBezTo>
                    <a:pt x="12" y="2"/>
                    <a:pt x="12" y="2"/>
                    <a:pt x="12" y="2"/>
                  </a:cubicBezTo>
                  <a:cubicBezTo>
                    <a:pt x="13" y="1"/>
                    <a:pt x="14" y="0"/>
                    <a:pt x="15" y="2"/>
                  </a:cubicBezTo>
                  <a:cubicBezTo>
                    <a:pt x="16" y="3"/>
                    <a:pt x="14" y="5"/>
                    <a:pt x="14" y="7"/>
                  </a:cubicBezTo>
                  <a:cubicBezTo>
                    <a:pt x="14" y="10"/>
                    <a:pt x="14" y="13"/>
                    <a:pt x="13" y="16"/>
                  </a:cubicBezTo>
                  <a:cubicBezTo>
                    <a:pt x="13" y="16"/>
                    <a:pt x="13" y="16"/>
                    <a:pt x="13" y="19"/>
                  </a:cubicBezTo>
                  <a:cubicBezTo>
                    <a:pt x="12" y="21"/>
                    <a:pt x="11" y="24"/>
                    <a:pt x="11" y="26"/>
                  </a:cubicBezTo>
                  <a:cubicBezTo>
                    <a:pt x="10" y="28"/>
                    <a:pt x="10" y="31"/>
                    <a:pt x="9" y="33"/>
                  </a:cubicBezTo>
                  <a:cubicBezTo>
                    <a:pt x="8" y="33"/>
                    <a:pt x="8" y="33"/>
                    <a:pt x="7" y="33"/>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3" name="Freeform 129"/>
            <p:cNvSpPr/>
            <p:nvPr userDrawn="1"/>
          </p:nvSpPr>
          <p:spPr bwMode="auto">
            <a:xfrm>
              <a:off x="1090" y="704"/>
              <a:ext cx="16" cy="16"/>
            </a:xfrm>
            <a:custGeom>
              <a:avLst/>
              <a:gdLst>
                <a:gd name="T0" fmla="*/ 8 w 13"/>
                <a:gd name="T1" fmla="*/ 12 h 13"/>
                <a:gd name="T2" fmla="*/ 1 w 13"/>
                <a:gd name="T3" fmla="*/ 10 h 13"/>
                <a:gd name="T4" fmla="*/ 1 w 13"/>
                <a:gd name="T5" fmla="*/ 8 h 13"/>
                <a:gd name="T6" fmla="*/ 2 w 13"/>
                <a:gd name="T7" fmla="*/ 7 h 13"/>
                <a:gd name="T8" fmla="*/ 5 w 13"/>
                <a:gd name="T9" fmla="*/ 6 h 13"/>
                <a:gd name="T10" fmla="*/ 12 w 13"/>
                <a:gd name="T11" fmla="*/ 1 h 13"/>
                <a:gd name="T12" fmla="*/ 8 w 13"/>
                <a:gd name="T13" fmla="*/ 12 h 13"/>
              </a:gdLst>
              <a:ahLst/>
              <a:cxnLst>
                <a:cxn ang="0">
                  <a:pos x="T0" y="T1"/>
                </a:cxn>
                <a:cxn ang="0">
                  <a:pos x="T2" y="T3"/>
                </a:cxn>
                <a:cxn ang="0">
                  <a:pos x="T4" y="T5"/>
                </a:cxn>
                <a:cxn ang="0">
                  <a:pos x="T6" y="T7"/>
                </a:cxn>
                <a:cxn ang="0">
                  <a:pos x="T8" y="T9"/>
                </a:cxn>
                <a:cxn ang="0">
                  <a:pos x="T10" y="T11"/>
                </a:cxn>
                <a:cxn ang="0">
                  <a:pos x="T12" y="T13"/>
                </a:cxn>
              </a:cxnLst>
              <a:rect l="0" t="0" r="r" b="b"/>
              <a:pathLst>
                <a:path w="13" h="13">
                  <a:moveTo>
                    <a:pt x="8" y="12"/>
                  </a:moveTo>
                  <a:cubicBezTo>
                    <a:pt x="5" y="13"/>
                    <a:pt x="3" y="12"/>
                    <a:pt x="1" y="10"/>
                  </a:cubicBezTo>
                  <a:cubicBezTo>
                    <a:pt x="0" y="10"/>
                    <a:pt x="1" y="9"/>
                    <a:pt x="1" y="8"/>
                  </a:cubicBezTo>
                  <a:cubicBezTo>
                    <a:pt x="1" y="8"/>
                    <a:pt x="1" y="8"/>
                    <a:pt x="2" y="7"/>
                  </a:cubicBezTo>
                  <a:cubicBezTo>
                    <a:pt x="3" y="7"/>
                    <a:pt x="3" y="7"/>
                    <a:pt x="5" y="6"/>
                  </a:cubicBezTo>
                  <a:cubicBezTo>
                    <a:pt x="6" y="5"/>
                    <a:pt x="10" y="0"/>
                    <a:pt x="12" y="1"/>
                  </a:cubicBezTo>
                  <a:cubicBezTo>
                    <a:pt x="13" y="4"/>
                    <a:pt x="11" y="10"/>
                    <a:pt x="8" y="12"/>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4" name="Freeform 130"/>
            <p:cNvSpPr/>
            <p:nvPr userDrawn="1"/>
          </p:nvSpPr>
          <p:spPr bwMode="auto">
            <a:xfrm>
              <a:off x="1062" y="710"/>
              <a:ext cx="12" cy="14"/>
            </a:xfrm>
            <a:custGeom>
              <a:avLst/>
              <a:gdLst>
                <a:gd name="T0" fmla="*/ 5 w 10"/>
                <a:gd name="T1" fmla="*/ 11 h 11"/>
                <a:gd name="T2" fmla="*/ 1 w 10"/>
                <a:gd name="T3" fmla="*/ 4 h 11"/>
                <a:gd name="T4" fmla="*/ 6 w 10"/>
                <a:gd name="T5" fmla="*/ 1 h 11"/>
                <a:gd name="T6" fmla="*/ 10 w 10"/>
                <a:gd name="T7" fmla="*/ 6 h 11"/>
                <a:gd name="T8" fmla="*/ 5 w 10"/>
                <a:gd name="T9" fmla="*/ 11 h 11"/>
              </a:gdLst>
              <a:ahLst/>
              <a:cxnLst>
                <a:cxn ang="0">
                  <a:pos x="T0" y="T1"/>
                </a:cxn>
                <a:cxn ang="0">
                  <a:pos x="T2" y="T3"/>
                </a:cxn>
                <a:cxn ang="0">
                  <a:pos x="T4" y="T5"/>
                </a:cxn>
                <a:cxn ang="0">
                  <a:pos x="T6" y="T7"/>
                </a:cxn>
                <a:cxn ang="0">
                  <a:pos x="T8" y="T9"/>
                </a:cxn>
              </a:cxnLst>
              <a:rect l="0" t="0" r="r" b="b"/>
              <a:pathLst>
                <a:path w="10" h="11">
                  <a:moveTo>
                    <a:pt x="5" y="11"/>
                  </a:moveTo>
                  <a:cubicBezTo>
                    <a:pt x="3" y="10"/>
                    <a:pt x="1" y="5"/>
                    <a:pt x="1" y="4"/>
                  </a:cubicBezTo>
                  <a:cubicBezTo>
                    <a:pt x="0" y="1"/>
                    <a:pt x="3" y="0"/>
                    <a:pt x="6" y="1"/>
                  </a:cubicBezTo>
                  <a:cubicBezTo>
                    <a:pt x="9" y="2"/>
                    <a:pt x="10" y="3"/>
                    <a:pt x="10" y="6"/>
                  </a:cubicBezTo>
                  <a:cubicBezTo>
                    <a:pt x="8" y="9"/>
                    <a:pt x="7" y="9"/>
                    <a:pt x="5" y="11"/>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5" name="Freeform 131"/>
            <p:cNvSpPr/>
            <p:nvPr userDrawn="1"/>
          </p:nvSpPr>
          <p:spPr bwMode="auto">
            <a:xfrm>
              <a:off x="1085" y="688"/>
              <a:ext cx="19" cy="21"/>
            </a:xfrm>
            <a:custGeom>
              <a:avLst/>
              <a:gdLst>
                <a:gd name="T0" fmla="*/ 8 w 15"/>
                <a:gd name="T1" fmla="*/ 17 h 17"/>
                <a:gd name="T2" fmla="*/ 7 w 15"/>
                <a:gd name="T3" fmla="*/ 12 h 17"/>
                <a:gd name="T4" fmla="*/ 5 w 15"/>
                <a:gd name="T5" fmla="*/ 13 h 17"/>
                <a:gd name="T6" fmla="*/ 0 w 15"/>
                <a:gd name="T7" fmla="*/ 9 h 17"/>
                <a:gd name="T8" fmla="*/ 2 w 15"/>
                <a:gd name="T9" fmla="*/ 7 h 17"/>
                <a:gd name="T10" fmla="*/ 7 w 15"/>
                <a:gd name="T11" fmla="*/ 2 h 17"/>
                <a:gd name="T12" fmla="*/ 14 w 15"/>
                <a:gd name="T13" fmla="*/ 4 h 17"/>
                <a:gd name="T14" fmla="*/ 13 w 15"/>
                <a:gd name="T15" fmla="*/ 11 h 17"/>
                <a:gd name="T16" fmla="*/ 9 w 15"/>
                <a:gd name="T17" fmla="*/ 16 h 17"/>
                <a:gd name="T18" fmla="*/ 8 w 15"/>
                <a:gd name="T19"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7">
                  <a:moveTo>
                    <a:pt x="8" y="17"/>
                  </a:moveTo>
                  <a:cubicBezTo>
                    <a:pt x="7" y="16"/>
                    <a:pt x="8" y="12"/>
                    <a:pt x="7" y="12"/>
                  </a:cubicBezTo>
                  <a:cubicBezTo>
                    <a:pt x="6" y="12"/>
                    <a:pt x="6" y="13"/>
                    <a:pt x="5" y="13"/>
                  </a:cubicBezTo>
                  <a:cubicBezTo>
                    <a:pt x="3" y="13"/>
                    <a:pt x="0" y="11"/>
                    <a:pt x="0" y="9"/>
                  </a:cubicBezTo>
                  <a:cubicBezTo>
                    <a:pt x="1" y="7"/>
                    <a:pt x="0" y="8"/>
                    <a:pt x="2" y="7"/>
                  </a:cubicBezTo>
                  <a:cubicBezTo>
                    <a:pt x="4" y="5"/>
                    <a:pt x="6" y="3"/>
                    <a:pt x="7" y="2"/>
                  </a:cubicBezTo>
                  <a:cubicBezTo>
                    <a:pt x="11" y="0"/>
                    <a:pt x="13" y="1"/>
                    <a:pt x="14" y="4"/>
                  </a:cubicBezTo>
                  <a:cubicBezTo>
                    <a:pt x="15" y="7"/>
                    <a:pt x="14" y="9"/>
                    <a:pt x="13" y="11"/>
                  </a:cubicBezTo>
                  <a:cubicBezTo>
                    <a:pt x="12" y="13"/>
                    <a:pt x="10" y="15"/>
                    <a:pt x="9" y="16"/>
                  </a:cubicBezTo>
                  <a:cubicBezTo>
                    <a:pt x="9" y="17"/>
                    <a:pt x="8" y="17"/>
                    <a:pt x="8" y="17"/>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6" name="Freeform 132"/>
            <p:cNvSpPr/>
            <p:nvPr userDrawn="1"/>
          </p:nvSpPr>
          <p:spPr bwMode="auto">
            <a:xfrm>
              <a:off x="1062" y="693"/>
              <a:ext cx="12" cy="13"/>
            </a:xfrm>
            <a:custGeom>
              <a:avLst/>
              <a:gdLst>
                <a:gd name="T0" fmla="*/ 4 w 10"/>
                <a:gd name="T1" fmla="*/ 11 h 11"/>
                <a:gd name="T2" fmla="*/ 3 w 10"/>
                <a:gd name="T3" fmla="*/ 9 h 11"/>
                <a:gd name="T4" fmla="*/ 1 w 10"/>
                <a:gd name="T5" fmla="*/ 6 h 11"/>
                <a:gd name="T6" fmla="*/ 1 w 10"/>
                <a:gd name="T7" fmla="*/ 0 h 11"/>
                <a:gd name="T8" fmla="*/ 10 w 10"/>
                <a:gd name="T9" fmla="*/ 5 h 11"/>
                <a:gd name="T10" fmla="*/ 4 w 10"/>
                <a:gd name="T11" fmla="*/ 11 h 11"/>
              </a:gdLst>
              <a:ahLst/>
              <a:cxnLst>
                <a:cxn ang="0">
                  <a:pos x="T0" y="T1"/>
                </a:cxn>
                <a:cxn ang="0">
                  <a:pos x="T2" y="T3"/>
                </a:cxn>
                <a:cxn ang="0">
                  <a:pos x="T4" y="T5"/>
                </a:cxn>
                <a:cxn ang="0">
                  <a:pos x="T6" y="T7"/>
                </a:cxn>
                <a:cxn ang="0">
                  <a:pos x="T8" y="T9"/>
                </a:cxn>
                <a:cxn ang="0">
                  <a:pos x="T10" y="T11"/>
                </a:cxn>
              </a:cxnLst>
              <a:rect l="0" t="0" r="r" b="b"/>
              <a:pathLst>
                <a:path w="10" h="11">
                  <a:moveTo>
                    <a:pt x="4" y="11"/>
                  </a:moveTo>
                  <a:cubicBezTo>
                    <a:pt x="3" y="11"/>
                    <a:pt x="3" y="10"/>
                    <a:pt x="3" y="9"/>
                  </a:cubicBezTo>
                  <a:cubicBezTo>
                    <a:pt x="3" y="8"/>
                    <a:pt x="2" y="7"/>
                    <a:pt x="1" y="6"/>
                  </a:cubicBezTo>
                  <a:cubicBezTo>
                    <a:pt x="0" y="3"/>
                    <a:pt x="0" y="2"/>
                    <a:pt x="1" y="0"/>
                  </a:cubicBezTo>
                  <a:cubicBezTo>
                    <a:pt x="3" y="0"/>
                    <a:pt x="10" y="1"/>
                    <a:pt x="10" y="5"/>
                  </a:cubicBezTo>
                  <a:cubicBezTo>
                    <a:pt x="9" y="7"/>
                    <a:pt x="6" y="10"/>
                    <a:pt x="4" y="11"/>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7" name="Freeform 133"/>
            <p:cNvSpPr/>
            <p:nvPr userDrawn="1"/>
          </p:nvSpPr>
          <p:spPr bwMode="auto">
            <a:xfrm>
              <a:off x="996" y="742"/>
              <a:ext cx="47" cy="83"/>
            </a:xfrm>
            <a:custGeom>
              <a:avLst/>
              <a:gdLst>
                <a:gd name="T0" fmla="*/ 22 w 38"/>
                <a:gd name="T1" fmla="*/ 64 h 66"/>
                <a:gd name="T2" fmla="*/ 13 w 38"/>
                <a:gd name="T3" fmla="*/ 61 h 66"/>
                <a:gd name="T4" fmla="*/ 13 w 38"/>
                <a:gd name="T5" fmla="*/ 59 h 66"/>
                <a:gd name="T6" fmla="*/ 13 w 38"/>
                <a:gd name="T7" fmla="*/ 59 h 66"/>
                <a:gd name="T8" fmla="*/ 8 w 38"/>
                <a:gd name="T9" fmla="*/ 46 h 66"/>
                <a:gd name="T10" fmla="*/ 7 w 38"/>
                <a:gd name="T11" fmla="*/ 42 h 66"/>
                <a:gd name="T12" fmla="*/ 10 w 38"/>
                <a:gd name="T13" fmla="*/ 44 h 66"/>
                <a:gd name="T14" fmla="*/ 11 w 38"/>
                <a:gd name="T15" fmla="*/ 42 h 66"/>
                <a:gd name="T16" fmla="*/ 11 w 38"/>
                <a:gd name="T17" fmla="*/ 33 h 66"/>
                <a:gd name="T18" fmla="*/ 8 w 38"/>
                <a:gd name="T19" fmla="*/ 31 h 66"/>
                <a:gd name="T20" fmla="*/ 4 w 38"/>
                <a:gd name="T21" fmla="*/ 34 h 66"/>
                <a:gd name="T22" fmla="*/ 4 w 38"/>
                <a:gd name="T23" fmla="*/ 27 h 66"/>
                <a:gd name="T24" fmla="*/ 0 w 38"/>
                <a:gd name="T25" fmla="*/ 23 h 66"/>
                <a:gd name="T26" fmla="*/ 6 w 38"/>
                <a:gd name="T27" fmla="*/ 21 h 66"/>
                <a:gd name="T28" fmla="*/ 10 w 38"/>
                <a:gd name="T29" fmla="*/ 23 h 66"/>
                <a:gd name="T30" fmla="*/ 11 w 38"/>
                <a:gd name="T31" fmla="*/ 25 h 66"/>
                <a:gd name="T32" fmla="*/ 12 w 38"/>
                <a:gd name="T33" fmla="*/ 24 h 66"/>
                <a:gd name="T34" fmla="*/ 12 w 38"/>
                <a:gd name="T35" fmla="*/ 17 h 66"/>
                <a:gd name="T36" fmla="*/ 7 w 38"/>
                <a:gd name="T37" fmla="*/ 10 h 66"/>
                <a:gd name="T38" fmla="*/ 12 w 38"/>
                <a:gd name="T39" fmla="*/ 6 h 66"/>
                <a:gd name="T40" fmla="*/ 13 w 38"/>
                <a:gd name="T41" fmla="*/ 1 h 66"/>
                <a:gd name="T42" fmla="*/ 14 w 38"/>
                <a:gd name="T43" fmla="*/ 0 h 66"/>
                <a:gd name="T44" fmla="*/ 16 w 38"/>
                <a:gd name="T45" fmla="*/ 1 h 66"/>
                <a:gd name="T46" fmla="*/ 18 w 38"/>
                <a:gd name="T47" fmla="*/ 12 h 66"/>
                <a:gd name="T48" fmla="*/ 17 w 38"/>
                <a:gd name="T49" fmla="*/ 8 h 66"/>
                <a:gd name="T50" fmla="*/ 22 w 38"/>
                <a:gd name="T51" fmla="*/ 3 h 66"/>
                <a:gd name="T52" fmla="*/ 25 w 38"/>
                <a:gd name="T53" fmla="*/ 7 h 66"/>
                <a:gd name="T54" fmla="*/ 26 w 38"/>
                <a:gd name="T55" fmla="*/ 8 h 66"/>
                <a:gd name="T56" fmla="*/ 35 w 38"/>
                <a:gd name="T57" fmla="*/ 15 h 66"/>
                <a:gd name="T58" fmla="*/ 37 w 38"/>
                <a:gd name="T59" fmla="*/ 19 h 66"/>
                <a:gd name="T60" fmla="*/ 37 w 38"/>
                <a:gd name="T61" fmla="*/ 20 h 66"/>
                <a:gd name="T62" fmla="*/ 37 w 38"/>
                <a:gd name="T63" fmla="*/ 20 h 66"/>
                <a:gd name="T64" fmla="*/ 36 w 38"/>
                <a:gd name="T65" fmla="*/ 24 h 66"/>
                <a:gd name="T66" fmla="*/ 23 w 38"/>
                <a:gd name="T67" fmla="*/ 15 h 66"/>
                <a:gd name="T68" fmla="*/ 23 w 38"/>
                <a:gd name="T69" fmla="*/ 15 h 66"/>
                <a:gd name="T70" fmla="*/ 27 w 38"/>
                <a:gd name="T71" fmla="*/ 25 h 66"/>
                <a:gd name="T72" fmla="*/ 22 w 38"/>
                <a:gd name="T73" fmla="*/ 27 h 66"/>
                <a:gd name="T74" fmla="*/ 22 w 38"/>
                <a:gd name="T75" fmla="*/ 25 h 66"/>
                <a:gd name="T76" fmla="*/ 15 w 38"/>
                <a:gd name="T77" fmla="*/ 19 h 66"/>
                <a:gd name="T78" fmla="*/ 16 w 38"/>
                <a:gd name="T79" fmla="*/ 27 h 66"/>
                <a:gd name="T80" fmla="*/ 17 w 38"/>
                <a:gd name="T81" fmla="*/ 31 h 66"/>
                <a:gd name="T82" fmla="*/ 21 w 38"/>
                <a:gd name="T83" fmla="*/ 35 h 66"/>
                <a:gd name="T84" fmla="*/ 22 w 38"/>
                <a:gd name="T85" fmla="*/ 38 h 66"/>
                <a:gd name="T86" fmla="*/ 22 w 38"/>
                <a:gd name="T87" fmla="*/ 39 h 66"/>
                <a:gd name="T88" fmla="*/ 22 w 38"/>
                <a:gd name="T89" fmla="*/ 44 h 66"/>
                <a:gd name="T90" fmla="*/ 21 w 38"/>
                <a:gd name="T91" fmla="*/ 44 h 66"/>
                <a:gd name="T92" fmla="*/ 17 w 38"/>
                <a:gd name="T93" fmla="*/ 38 h 66"/>
                <a:gd name="T94" fmla="*/ 16 w 38"/>
                <a:gd name="T95" fmla="*/ 44 h 66"/>
                <a:gd name="T96" fmla="*/ 13 w 38"/>
                <a:gd name="T97" fmla="*/ 46 h 66"/>
                <a:gd name="T98" fmla="*/ 13 w 38"/>
                <a:gd name="T99" fmla="*/ 46 h 66"/>
                <a:gd name="T100" fmla="*/ 12 w 38"/>
                <a:gd name="T101" fmla="*/ 47 h 66"/>
                <a:gd name="T102" fmla="*/ 14 w 38"/>
                <a:gd name="T103" fmla="*/ 50 h 66"/>
                <a:gd name="T104" fmla="*/ 23 w 38"/>
                <a:gd name="T105" fmla="*/ 62 h 66"/>
                <a:gd name="T106" fmla="*/ 22 w 38"/>
                <a:gd name="T107" fmla="*/ 6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8" h="66">
                  <a:moveTo>
                    <a:pt x="22" y="64"/>
                  </a:moveTo>
                  <a:cubicBezTo>
                    <a:pt x="19" y="66"/>
                    <a:pt x="12" y="65"/>
                    <a:pt x="13" y="61"/>
                  </a:cubicBezTo>
                  <a:cubicBezTo>
                    <a:pt x="13" y="60"/>
                    <a:pt x="13" y="59"/>
                    <a:pt x="13" y="59"/>
                  </a:cubicBezTo>
                  <a:cubicBezTo>
                    <a:pt x="13" y="59"/>
                    <a:pt x="13" y="59"/>
                    <a:pt x="13" y="59"/>
                  </a:cubicBezTo>
                  <a:cubicBezTo>
                    <a:pt x="12" y="54"/>
                    <a:pt x="9" y="50"/>
                    <a:pt x="8" y="46"/>
                  </a:cubicBezTo>
                  <a:cubicBezTo>
                    <a:pt x="7" y="45"/>
                    <a:pt x="7" y="44"/>
                    <a:pt x="7" y="42"/>
                  </a:cubicBezTo>
                  <a:cubicBezTo>
                    <a:pt x="8" y="42"/>
                    <a:pt x="9" y="43"/>
                    <a:pt x="10" y="44"/>
                  </a:cubicBezTo>
                  <a:cubicBezTo>
                    <a:pt x="11" y="44"/>
                    <a:pt x="11" y="43"/>
                    <a:pt x="11" y="42"/>
                  </a:cubicBezTo>
                  <a:cubicBezTo>
                    <a:pt x="11" y="39"/>
                    <a:pt x="11" y="36"/>
                    <a:pt x="11" y="33"/>
                  </a:cubicBezTo>
                  <a:cubicBezTo>
                    <a:pt x="10" y="32"/>
                    <a:pt x="9" y="31"/>
                    <a:pt x="8" y="31"/>
                  </a:cubicBezTo>
                  <a:cubicBezTo>
                    <a:pt x="8" y="32"/>
                    <a:pt x="6" y="37"/>
                    <a:pt x="4" y="34"/>
                  </a:cubicBezTo>
                  <a:cubicBezTo>
                    <a:pt x="5" y="32"/>
                    <a:pt x="5" y="29"/>
                    <a:pt x="4" y="27"/>
                  </a:cubicBezTo>
                  <a:cubicBezTo>
                    <a:pt x="2" y="25"/>
                    <a:pt x="0" y="24"/>
                    <a:pt x="0" y="23"/>
                  </a:cubicBezTo>
                  <a:cubicBezTo>
                    <a:pt x="0" y="20"/>
                    <a:pt x="4" y="20"/>
                    <a:pt x="6" y="21"/>
                  </a:cubicBezTo>
                  <a:cubicBezTo>
                    <a:pt x="8" y="21"/>
                    <a:pt x="8" y="17"/>
                    <a:pt x="10" y="23"/>
                  </a:cubicBezTo>
                  <a:cubicBezTo>
                    <a:pt x="10" y="24"/>
                    <a:pt x="11" y="24"/>
                    <a:pt x="11" y="25"/>
                  </a:cubicBezTo>
                  <a:cubicBezTo>
                    <a:pt x="12" y="25"/>
                    <a:pt x="12" y="24"/>
                    <a:pt x="12" y="24"/>
                  </a:cubicBezTo>
                  <a:cubicBezTo>
                    <a:pt x="12" y="22"/>
                    <a:pt x="12" y="19"/>
                    <a:pt x="12" y="17"/>
                  </a:cubicBezTo>
                  <a:cubicBezTo>
                    <a:pt x="10" y="15"/>
                    <a:pt x="8" y="13"/>
                    <a:pt x="7" y="10"/>
                  </a:cubicBezTo>
                  <a:cubicBezTo>
                    <a:pt x="7" y="8"/>
                    <a:pt x="10" y="6"/>
                    <a:pt x="12" y="6"/>
                  </a:cubicBezTo>
                  <a:cubicBezTo>
                    <a:pt x="13" y="4"/>
                    <a:pt x="13" y="3"/>
                    <a:pt x="13" y="1"/>
                  </a:cubicBezTo>
                  <a:cubicBezTo>
                    <a:pt x="13" y="1"/>
                    <a:pt x="13" y="1"/>
                    <a:pt x="14" y="0"/>
                  </a:cubicBezTo>
                  <a:cubicBezTo>
                    <a:pt x="15" y="0"/>
                    <a:pt x="15" y="0"/>
                    <a:pt x="16" y="1"/>
                  </a:cubicBezTo>
                  <a:cubicBezTo>
                    <a:pt x="18" y="3"/>
                    <a:pt x="14" y="11"/>
                    <a:pt x="18" y="12"/>
                  </a:cubicBezTo>
                  <a:cubicBezTo>
                    <a:pt x="19" y="11"/>
                    <a:pt x="18" y="9"/>
                    <a:pt x="17" y="8"/>
                  </a:cubicBezTo>
                  <a:cubicBezTo>
                    <a:pt x="17" y="6"/>
                    <a:pt x="20" y="4"/>
                    <a:pt x="22" y="3"/>
                  </a:cubicBezTo>
                  <a:cubicBezTo>
                    <a:pt x="26" y="3"/>
                    <a:pt x="25" y="4"/>
                    <a:pt x="25" y="7"/>
                  </a:cubicBezTo>
                  <a:cubicBezTo>
                    <a:pt x="26" y="7"/>
                    <a:pt x="26" y="8"/>
                    <a:pt x="26" y="8"/>
                  </a:cubicBezTo>
                  <a:cubicBezTo>
                    <a:pt x="30" y="11"/>
                    <a:pt x="30" y="11"/>
                    <a:pt x="35" y="15"/>
                  </a:cubicBezTo>
                  <a:cubicBezTo>
                    <a:pt x="36" y="16"/>
                    <a:pt x="37" y="17"/>
                    <a:pt x="37" y="19"/>
                  </a:cubicBezTo>
                  <a:cubicBezTo>
                    <a:pt x="37" y="19"/>
                    <a:pt x="37" y="19"/>
                    <a:pt x="37" y="20"/>
                  </a:cubicBezTo>
                  <a:cubicBezTo>
                    <a:pt x="37" y="20"/>
                    <a:pt x="37" y="20"/>
                    <a:pt x="37" y="20"/>
                  </a:cubicBezTo>
                  <a:cubicBezTo>
                    <a:pt x="38" y="21"/>
                    <a:pt x="38" y="24"/>
                    <a:pt x="36" y="24"/>
                  </a:cubicBezTo>
                  <a:cubicBezTo>
                    <a:pt x="32" y="21"/>
                    <a:pt x="27" y="18"/>
                    <a:pt x="23" y="15"/>
                  </a:cubicBezTo>
                  <a:cubicBezTo>
                    <a:pt x="23" y="15"/>
                    <a:pt x="23" y="15"/>
                    <a:pt x="23" y="15"/>
                  </a:cubicBezTo>
                  <a:cubicBezTo>
                    <a:pt x="25" y="17"/>
                    <a:pt x="27" y="22"/>
                    <a:pt x="27" y="25"/>
                  </a:cubicBezTo>
                  <a:cubicBezTo>
                    <a:pt x="26" y="26"/>
                    <a:pt x="24" y="27"/>
                    <a:pt x="22" y="27"/>
                  </a:cubicBezTo>
                  <a:cubicBezTo>
                    <a:pt x="22" y="26"/>
                    <a:pt x="22" y="26"/>
                    <a:pt x="22" y="25"/>
                  </a:cubicBezTo>
                  <a:cubicBezTo>
                    <a:pt x="21" y="23"/>
                    <a:pt x="17" y="21"/>
                    <a:pt x="15" y="19"/>
                  </a:cubicBezTo>
                  <a:cubicBezTo>
                    <a:pt x="14" y="21"/>
                    <a:pt x="16" y="25"/>
                    <a:pt x="16" y="27"/>
                  </a:cubicBezTo>
                  <a:cubicBezTo>
                    <a:pt x="16" y="28"/>
                    <a:pt x="16" y="30"/>
                    <a:pt x="17" y="31"/>
                  </a:cubicBezTo>
                  <a:cubicBezTo>
                    <a:pt x="18" y="32"/>
                    <a:pt x="19" y="34"/>
                    <a:pt x="21" y="35"/>
                  </a:cubicBezTo>
                  <a:cubicBezTo>
                    <a:pt x="21" y="36"/>
                    <a:pt x="22" y="37"/>
                    <a:pt x="22" y="38"/>
                  </a:cubicBezTo>
                  <a:cubicBezTo>
                    <a:pt x="22" y="38"/>
                    <a:pt x="22" y="38"/>
                    <a:pt x="22" y="39"/>
                  </a:cubicBezTo>
                  <a:cubicBezTo>
                    <a:pt x="23" y="40"/>
                    <a:pt x="24" y="44"/>
                    <a:pt x="22" y="44"/>
                  </a:cubicBezTo>
                  <a:cubicBezTo>
                    <a:pt x="21" y="44"/>
                    <a:pt x="21" y="44"/>
                    <a:pt x="21" y="44"/>
                  </a:cubicBezTo>
                  <a:cubicBezTo>
                    <a:pt x="20" y="41"/>
                    <a:pt x="18" y="39"/>
                    <a:pt x="17" y="38"/>
                  </a:cubicBezTo>
                  <a:cubicBezTo>
                    <a:pt x="16" y="40"/>
                    <a:pt x="17" y="42"/>
                    <a:pt x="16" y="44"/>
                  </a:cubicBezTo>
                  <a:cubicBezTo>
                    <a:pt x="15" y="45"/>
                    <a:pt x="14" y="46"/>
                    <a:pt x="13" y="46"/>
                  </a:cubicBezTo>
                  <a:cubicBezTo>
                    <a:pt x="13" y="46"/>
                    <a:pt x="13" y="46"/>
                    <a:pt x="13" y="46"/>
                  </a:cubicBezTo>
                  <a:cubicBezTo>
                    <a:pt x="12" y="46"/>
                    <a:pt x="12" y="46"/>
                    <a:pt x="12" y="47"/>
                  </a:cubicBezTo>
                  <a:cubicBezTo>
                    <a:pt x="12" y="48"/>
                    <a:pt x="13" y="49"/>
                    <a:pt x="14" y="50"/>
                  </a:cubicBezTo>
                  <a:cubicBezTo>
                    <a:pt x="16" y="54"/>
                    <a:pt x="19" y="58"/>
                    <a:pt x="23" y="62"/>
                  </a:cubicBezTo>
                  <a:cubicBezTo>
                    <a:pt x="23" y="63"/>
                    <a:pt x="23" y="63"/>
                    <a:pt x="22" y="64"/>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8" name="Freeform 134"/>
            <p:cNvSpPr/>
            <p:nvPr userDrawn="1"/>
          </p:nvSpPr>
          <p:spPr bwMode="auto">
            <a:xfrm>
              <a:off x="989" y="789"/>
              <a:ext cx="13" cy="11"/>
            </a:xfrm>
            <a:custGeom>
              <a:avLst/>
              <a:gdLst>
                <a:gd name="T0" fmla="*/ 9 w 11"/>
                <a:gd name="T1" fmla="*/ 9 h 9"/>
                <a:gd name="T2" fmla="*/ 7 w 11"/>
                <a:gd name="T3" fmla="*/ 7 h 9"/>
                <a:gd name="T4" fmla="*/ 0 w 11"/>
                <a:gd name="T5" fmla="*/ 2 h 9"/>
                <a:gd name="T6" fmla="*/ 0 w 11"/>
                <a:gd name="T7" fmla="*/ 1 h 9"/>
                <a:gd name="T8" fmla="*/ 7 w 11"/>
                <a:gd name="T9" fmla="*/ 0 h 9"/>
                <a:gd name="T10" fmla="*/ 9 w 11"/>
                <a:gd name="T11" fmla="*/ 9 h 9"/>
              </a:gdLst>
              <a:ahLst/>
              <a:cxnLst>
                <a:cxn ang="0">
                  <a:pos x="T0" y="T1"/>
                </a:cxn>
                <a:cxn ang="0">
                  <a:pos x="T2" y="T3"/>
                </a:cxn>
                <a:cxn ang="0">
                  <a:pos x="T4" y="T5"/>
                </a:cxn>
                <a:cxn ang="0">
                  <a:pos x="T6" y="T7"/>
                </a:cxn>
                <a:cxn ang="0">
                  <a:pos x="T8" y="T9"/>
                </a:cxn>
                <a:cxn ang="0">
                  <a:pos x="T10" y="T11"/>
                </a:cxn>
              </a:cxnLst>
              <a:rect l="0" t="0" r="r" b="b"/>
              <a:pathLst>
                <a:path w="11" h="9">
                  <a:moveTo>
                    <a:pt x="9" y="9"/>
                  </a:moveTo>
                  <a:cubicBezTo>
                    <a:pt x="8" y="9"/>
                    <a:pt x="7" y="8"/>
                    <a:pt x="7" y="7"/>
                  </a:cubicBezTo>
                  <a:cubicBezTo>
                    <a:pt x="3" y="6"/>
                    <a:pt x="1" y="5"/>
                    <a:pt x="0" y="2"/>
                  </a:cubicBezTo>
                  <a:cubicBezTo>
                    <a:pt x="0" y="2"/>
                    <a:pt x="0" y="2"/>
                    <a:pt x="0" y="1"/>
                  </a:cubicBezTo>
                  <a:cubicBezTo>
                    <a:pt x="2" y="1"/>
                    <a:pt x="5" y="0"/>
                    <a:pt x="7" y="0"/>
                  </a:cubicBezTo>
                  <a:cubicBezTo>
                    <a:pt x="11" y="1"/>
                    <a:pt x="10" y="6"/>
                    <a:pt x="9" y="9"/>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9" name="Freeform 135"/>
            <p:cNvSpPr/>
            <p:nvPr userDrawn="1"/>
          </p:nvSpPr>
          <p:spPr bwMode="auto">
            <a:xfrm>
              <a:off x="977" y="776"/>
              <a:ext cx="14" cy="13"/>
            </a:xfrm>
            <a:custGeom>
              <a:avLst/>
              <a:gdLst>
                <a:gd name="T0" fmla="*/ 10 w 11"/>
                <a:gd name="T1" fmla="*/ 10 h 10"/>
                <a:gd name="T2" fmla="*/ 9 w 11"/>
                <a:gd name="T3" fmla="*/ 10 h 10"/>
                <a:gd name="T4" fmla="*/ 8 w 11"/>
                <a:gd name="T5" fmla="*/ 8 h 10"/>
                <a:gd name="T6" fmla="*/ 1 w 11"/>
                <a:gd name="T7" fmla="*/ 2 h 10"/>
                <a:gd name="T8" fmla="*/ 4 w 11"/>
                <a:gd name="T9" fmla="*/ 2 h 10"/>
                <a:gd name="T10" fmla="*/ 11 w 11"/>
                <a:gd name="T11" fmla="*/ 5 h 10"/>
                <a:gd name="T12" fmla="*/ 10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10" y="10"/>
                  </a:moveTo>
                  <a:cubicBezTo>
                    <a:pt x="9" y="10"/>
                    <a:pt x="9" y="10"/>
                    <a:pt x="9" y="10"/>
                  </a:cubicBezTo>
                  <a:cubicBezTo>
                    <a:pt x="8" y="9"/>
                    <a:pt x="8" y="9"/>
                    <a:pt x="8" y="8"/>
                  </a:cubicBezTo>
                  <a:cubicBezTo>
                    <a:pt x="4" y="8"/>
                    <a:pt x="0" y="6"/>
                    <a:pt x="1" y="2"/>
                  </a:cubicBezTo>
                  <a:cubicBezTo>
                    <a:pt x="2" y="1"/>
                    <a:pt x="2" y="2"/>
                    <a:pt x="4" y="2"/>
                  </a:cubicBezTo>
                  <a:cubicBezTo>
                    <a:pt x="7" y="2"/>
                    <a:pt x="11" y="0"/>
                    <a:pt x="11" y="5"/>
                  </a:cubicBezTo>
                  <a:cubicBezTo>
                    <a:pt x="11" y="6"/>
                    <a:pt x="10" y="8"/>
                    <a:pt x="10" y="10"/>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50" name="Freeform 136"/>
            <p:cNvSpPr/>
            <p:nvPr userDrawn="1"/>
          </p:nvSpPr>
          <p:spPr bwMode="auto">
            <a:xfrm>
              <a:off x="1048" y="786"/>
              <a:ext cx="163" cy="141"/>
            </a:xfrm>
            <a:custGeom>
              <a:avLst/>
              <a:gdLst>
                <a:gd name="T0" fmla="*/ 132 w 132"/>
                <a:gd name="T1" fmla="*/ 6 h 113"/>
                <a:gd name="T2" fmla="*/ 98 w 132"/>
                <a:gd name="T3" fmla="*/ 6 h 113"/>
                <a:gd name="T4" fmla="*/ 79 w 132"/>
                <a:gd name="T5" fmla="*/ 25 h 113"/>
                <a:gd name="T6" fmla="*/ 73 w 132"/>
                <a:gd name="T7" fmla="*/ 12 h 113"/>
                <a:gd name="T8" fmla="*/ 83 w 132"/>
                <a:gd name="T9" fmla="*/ 8 h 113"/>
                <a:gd name="T10" fmla="*/ 57 w 132"/>
                <a:gd name="T11" fmla="*/ 8 h 113"/>
                <a:gd name="T12" fmla="*/ 53 w 132"/>
                <a:gd name="T13" fmla="*/ 25 h 113"/>
                <a:gd name="T14" fmla="*/ 34 w 132"/>
                <a:gd name="T15" fmla="*/ 6 h 113"/>
                <a:gd name="T16" fmla="*/ 0 w 132"/>
                <a:gd name="T17" fmla="*/ 6 h 113"/>
                <a:gd name="T18" fmla="*/ 24 w 132"/>
                <a:gd name="T19" fmla="*/ 16 h 113"/>
                <a:gd name="T20" fmla="*/ 27 w 132"/>
                <a:gd name="T21" fmla="*/ 22 h 113"/>
                <a:gd name="T22" fmla="*/ 9 w 132"/>
                <a:gd name="T23" fmla="*/ 22 h 113"/>
                <a:gd name="T24" fmla="*/ 31 w 132"/>
                <a:gd name="T25" fmla="*/ 32 h 113"/>
                <a:gd name="T26" fmla="*/ 34 w 132"/>
                <a:gd name="T27" fmla="*/ 38 h 113"/>
                <a:gd name="T28" fmla="*/ 20 w 132"/>
                <a:gd name="T29" fmla="*/ 39 h 113"/>
                <a:gd name="T30" fmla="*/ 38 w 132"/>
                <a:gd name="T31" fmla="*/ 48 h 113"/>
                <a:gd name="T32" fmla="*/ 41 w 132"/>
                <a:gd name="T33" fmla="*/ 54 h 113"/>
                <a:gd name="T34" fmla="*/ 30 w 132"/>
                <a:gd name="T35" fmla="*/ 54 h 113"/>
                <a:gd name="T36" fmla="*/ 45 w 132"/>
                <a:gd name="T37" fmla="*/ 63 h 113"/>
                <a:gd name="T38" fmla="*/ 47 w 132"/>
                <a:gd name="T39" fmla="*/ 69 h 113"/>
                <a:gd name="T40" fmla="*/ 39 w 132"/>
                <a:gd name="T41" fmla="*/ 69 h 113"/>
                <a:gd name="T42" fmla="*/ 51 w 132"/>
                <a:gd name="T43" fmla="*/ 78 h 113"/>
                <a:gd name="T44" fmla="*/ 51 w 132"/>
                <a:gd name="T45" fmla="*/ 89 h 113"/>
                <a:gd name="T46" fmla="*/ 66 w 132"/>
                <a:gd name="T47" fmla="*/ 113 h 113"/>
                <a:gd name="T48" fmla="*/ 81 w 132"/>
                <a:gd name="T49" fmla="*/ 89 h 113"/>
                <a:gd name="T50" fmla="*/ 81 w 132"/>
                <a:gd name="T51" fmla="*/ 78 h 113"/>
                <a:gd name="T52" fmla="*/ 92 w 132"/>
                <a:gd name="T53" fmla="*/ 69 h 113"/>
                <a:gd name="T54" fmla="*/ 85 w 132"/>
                <a:gd name="T55" fmla="*/ 69 h 113"/>
                <a:gd name="T56" fmla="*/ 87 w 132"/>
                <a:gd name="T57" fmla="*/ 63 h 113"/>
                <a:gd name="T58" fmla="*/ 102 w 132"/>
                <a:gd name="T59" fmla="*/ 54 h 113"/>
                <a:gd name="T60" fmla="*/ 91 w 132"/>
                <a:gd name="T61" fmla="*/ 54 h 113"/>
                <a:gd name="T62" fmla="*/ 93 w 132"/>
                <a:gd name="T63" fmla="*/ 48 h 113"/>
                <a:gd name="T64" fmla="*/ 111 w 132"/>
                <a:gd name="T65" fmla="*/ 39 h 113"/>
                <a:gd name="T66" fmla="*/ 97 w 132"/>
                <a:gd name="T67" fmla="*/ 38 h 113"/>
                <a:gd name="T68" fmla="*/ 100 w 132"/>
                <a:gd name="T69" fmla="*/ 32 h 113"/>
                <a:gd name="T70" fmla="*/ 123 w 132"/>
                <a:gd name="T71" fmla="*/ 22 h 113"/>
                <a:gd name="T72" fmla="*/ 105 w 132"/>
                <a:gd name="T73" fmla="*/ 22 h 113"/>
                <a:gd name="T74" fmla="*/ 107 w 132"/>
                <a:gd name="T75" fmla="*/ 16 h 113"/>
                <a:gd name="T76" fmla="*/ 132 w 132"/>
                <a:gd name="T77" fmla="*/ 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2" h="113">
                  <a:moveTo>
                    <a:pt x="132" y="6"/>
                  </a:moveTo>
                  <a:cubicBezTo>
                    <a:pt x="98" y="6"/>
                    <a:pt x="98" y="6"/>
                    <a:pt x="98" y="6"/>
                  </a:cubicBezTo>
                  <a:cubicBezTo>
                    <a:pt x="88" y="6"/>
                    <a:pt x="83" y="16"/>
                    <a:pt x="79" y="25"/>
                  </a:cubicBezTo>
                  <a:cubicBezTo>
                    <a:pt x="73" y="12"/>
                    <a:pt x="73" y="12"/>
                    <a:pt x="73" y="12"/>
                  </a:cubicBezTo>
                  <a:cubicBezTo>
                    <a:pt x="83" y="8"/>
                    <a:pt x="83" y="8"/>
                    <a:pt x="83" y="8"/>
                  </a:cubicBezTo>
                  <a:cubicBezTo>
                    <a:pt x="77" y="3"/>
                    <a:pt x="59" y="0"/>
                    <a:pt x="57" y="8"/>
                  </a:cubicBezTo>
                  <a:cubicBezTo>
                    <a:pt x="53" y="25"/>
                    <a:pt x="53" y="25"/>
                    <a:pt x="53" y="25"/>
                  </a:cubicBezTo>
                  <a:cubicBezTo>
                    <a:pt x="50" y="17"/>
                    <a:pt x="45" y="6"/>
                    <a:pt x="34" y="6"/>
                  </a:cubicBezTo>
                  <a:cubicBezTo>
                    <a:pt x="0" y="6"/>
                    <a:pt x="0" y="6"/>
                    <a:pt x="0" y="6"/>
                  </a:cubicBezTo>
                  <a:cubicBezTo>
                    <a:pt x="4" y="14"/>
                    <a:pt x="8" y="17"/>
                    <a:pt x="24" y="16"/>
                  </a:cubicBezTo>
                  <a:cubicBezTo>
                    <a:pt x="27" y="22"/>
                    <a:pt x="27" y="22"/>
                    <a:pt x="27" y="22"/>
                  </a:cubicBezTo>
                  <a:cubicBezTo>
                    <a:pt x="9" y="22"/>
                    <a:pt x="9" y="22"/>
                    <a:pt x="9" y="22"/>
                  </a:cubicBezTo>
                  <a:cubicBezTo>
                    <a:pt x="14" y="32"/>
                    <a:pt x="17" y="32"/>
                    <a:pt x="31" y="32"/>
                  </a:cubicBezTo>
                  <a:cubicBezTo>
                    <a:pt x="34" y="38"/>
                    <a:pt x="34" y="38"/>
                    <a:pt x="34" y="38"/>
                  </a:cubicBezTo>
                  <a:cubicBezTo>
                    <a:pt x="20" y="39"/>
                    <a:pt x="20" y="39"/>
                    <a:pt x="20" y="39"/>
                  </a:cubicBezTo>
                  <a:cubicBezTo>
                    <a:pt x="23" y="45"/>
                    <a:pt x="27" y="48"/>
                    <a:pt x="38" y="48"/>
                  </a:cubicBezTo>
                  <a:cubicBezTo>
                    <a:pt x="41" y="54"/>
                    <a:pt x="41" y="54"/>
                    <a:pt x="41" y="54"/>
                  </a:cubicBezTo>
                  <a:cubicBezTo>
                    <a:pt x="30" y="54"/>
                    <a:pt x="30" y="54"/>
                    <a:pt x="30" y="54"/>
                  </a:cubicBezTo>
                  <a:cubicBezTo>
                    <a:pt x="34" y="61"/>
                    <a:pt x="36" y="64"/>
                    <a:pt x="45" y="63"/>
                  </a:cubicBezTo>
                  <a:cubicBezTo>
                    <a:pt x="47" y="69"/>
                    <a:pt x="47" y="69"/>
                    <a:pt x="47" y="69"/>
                  </a:cubicBezTo>
                  <a:cubicBezTo>
                    <a:pt x="39" y="69"/>
                    <a:pt x="39" y="69"/>
                    <a:pt x="39" y="69"/>
                  </a:cubicBezTo>
                  <a:cubicBezTo>
                    <a:pt x="43" y="77"/>
                    <a:pt x="46" y="77"/>
                    <a:pt x="51" y="78"/>
                  </a:cubicBezTo>
                  <a:cubicBezTo>
                    <a:pt x="55" y="78"/>
                    <a:pt x="56" y="86"/>
                    <a:pt x="51" y="89"/>
                  </a:cubicBezTo>
                  <a:cubicBezTo>
                    <a:pt x="66" y="113"/>
                    <a:pt x="66" y="113"/>
                    <a:pt x="66" y="113"/>
                  </a:cubicBezTo>
                  <a:cubicBezTo>
                    <a:pt x="81" y="89"/>
                    <a:pt x="81" y="89"/>
                    <a:pt x="81" y="89"/>
                  </a:cubicBezTo>
                  <a:cubicBezTo>
                    <a:pt x="76" y="86"/>
                    <a:pt x="76" y="78"/>
                    <a:pt x="81" y="78"/>
                  </a:cubicBezTo>
                  <a:cubicBezTo>
                    <a:pt x="85" y="77"/>
                    <a:pt x="89" y="77"/>
                    <a:pt x="92" y="69"/>
                  </a:cubicBezTo>
                  <a:cubicBezTo>
                    <a:pt x="85" y="69"/>
                    <a:pt x="85" y="69"/>
                    <a:pt x="85" y="69"/>
                  </a:cubicBezTo>
                  <a:cubicBezTo>
                    <a:pt x="87" y="63"/>
                    <a:pt x="87" y="63"/>
                    <a:pt x="87" y="63"/>
                  </a:cubicBezTo>
                  <a:cubicBezTo>
                    <a:pt x="96" y="64"/>
                    <a:pt x="98" y="60"/>
                    <a:pt x="102" y="54"/>
                  </a:cubicBezTo>
                  <a:cubicBezTo>
                    <a:pt x="91" y="54"/>
                    <a:pt x="91" y="54"/>
                    <a:pt x="91" y="54"/>
                  </a:cubicBezTo>
                  <a:cubicBezTo>
                    <a:pt x="93" y="48"/>
                    <a:pt x="93" y="48"/>
                    <a:pt x="93" y="48"/>
                  </a:cubicBezTo>
                  <a:cubicBezTo>
                    <a:pt x="105" y="48"/>
                    <a:pt x="108" y="45"/>
                    <a:pt x="111" y="39"/>
                  </a:cubicBezTo>
                  <a:cubicBezTo>
                    <a:pt x="97" y="38"/>
                    <a:pt x="97" y="38"/>
                    <a:pt x="97" y="38"/>
                  </a:cubicBezTo>
                  <a:cubicBezTo>
                    <a:pt x="100" y="32"/>
                    <a:pt x="100" y="32"/>
                    <a:pt x="100" y="32"/>
                  </a:cubicBezTo>
                  <a:cubicBezTo>
                    <a:pt x="115" y="32"/>
                    <a:pt x="118" y="32"/>
                    <a:pt x="123" y="22"/>
                  </a:cubicBezTo>
                  <a:cubicBezTo>
                    <a:pt x="105" y="22"/>
                    <a:pt x="105" y="22"/>
                    <a:pt x="105" y="22"/>
                  </a:cubicBezTo>
                  <a:cubicBezTo>
                    <a:pt x="107" y="16"/>
                    <a:pt x="107" y="16"/>
                    <a:pt x="107" y="16"/>
                  </a:cubicBezTo>
                  <a:cubicBezTo>
                    <a:pt x="123" y="17"/>
                    <a:pt x="128" y="14"/>
                    <a:pt x="132" y="6"/>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51" name="Freeform 137"/>
            <p:cNvSpPr>
              <a:spLocks noEditPoints="1"/>
            </p:cNvSpPr>
            <p:nvPr userDrawn="1"/>
          </p:nvSpPr>
          <p:spPr bwMode="auto">
            <a:xfrm>
              <a:off x="1214" y="757"/>
              <a:ext cx="64" cy="43"/>
            </a:xfrm>
            <a:custGeom>
              <a:avLst/>
              <a:gdLst>
                <a:gd name="T0" fmla="*/ 51 w 52"/>
                <a:gd name="T1" fmla="*/ 10 h 34"/>
                <a:gd name="T2" fmla="*/ 48 w 52"/>
                <a:gd name="T3" fmla="*/ 10 h 34"/>
                <a:gd name="T4" fmla="*/ 47 w 52"/>
                <a:gd name="T5" fmla="*/ 8 h 34"/>
                <a:gd name="T6" fmla="*/ 50 w 52"/>
                <a:gd name="T7" fmla="*/ 7 h 34"/>
                <a:gd name="T8" fmla="*/ 52 w 52"/>
                <a:gd name="T9" fmla="*/ 2 h 34"/>
                <a:gd name="T10" fmla="*/ 44 w 52"/>
                <a:gd name="T11" fmla="*/ 3 h 34"/>
                <a:gd name="T12" fmla="*/ 36 w 52"/>
                <a:gd name="T13" fmla="*/ 1 h 34"/>
                <a:gd name="T14" fmla="*/ 36 w 52"/>
                <a:gd name="T15" fmla="*/ 3 h 34"/>
                <a:gd name="T16" fmla="*/ 35 w 52"/>
                <a:gd name="T17" fmla="*/ 4 h 34"/>
                <a:gd name="T18" fmla="*/ 35 w 52"/>
                <a:gd name="T19" fmla="*/ 5 h 34"/>
                <a:gd name="T20" fmla="*/ 34 w 52"/>
                <a:gd name="T21" fmla="*/ 7 h 34"/>
                <a:gd name="T22" fmla="*/ 34 w 52"/>
                <a:gd name="T23" fmla="*/ 6 h 34"/>
                <a:gd name="T24" fmla="*/ 30 w 52"/>
                <a:gd name="T25" fmla="*/ 5 h 34"/>
                <a:gd name="T26" fmla="*/ 28 w 52"/>
                <a:gd name="T27" fmla="*/ 9 h 34"/>
                <a:gd name="T28" fmla="*/ 28 w 52"/>
                <a:gd name="T29" fmla="*/ 10 h 34"/>
                <a:gd name="T30" fmla="*/ 31 w 52"/>
                <a:gd name="T31" fmla="*/ 11 h 34"/>
                <a:gd name="T32" fmla="*/ 33 w 52"/>
                <a:gd name="T33" fmla="*/ 12 h 34"/>
                <a:gd name="T34" fmla="*/ 30 w 52"/>
                <a:gd name="T35" fmla="*/ 14 h 34"/>
                <a:gd name="T36" fmla="*/ 26 w 52"/>
                <a:gd name="T37" fmla="*/ 14 h 34"/>
                <a:gd name="T38" fmla="*/ 13 w 52"/>
                <a:gd name="T39" fmla="*/ 11 h 34"/>
                <a:gd name="T40" fmla="*/ 13 w 52"/>
                <a:gd name="T41" fmla="*/ 12 h 34"/>
                <a:gd name="T42" fmla="*/ 20 w 52"/>
                <a:gd name="T43" fmla="*/ 16 h 34"/>
                <a:gd name="T44" fmla="*/ 32 w 52"/>
                <a:gd name="T45" fmla="*/ 20 h 34"/>
                <a:gd name="T46" fmla="*/ 31 w 52"/>
                <a:gd name="T47" fmla="*/ 20 h 34"/>
                <a:gd name="T48" fmla="*/ 24 w 52"/>
                <a:gd name="T49" fmla="*/ 20 h 34"/>
                <a:gd name="T50" fmla="*/ 19 w 52"/>
                <a:gd name="T51" fmla="*/ 19 h 34"/>
                <a:gd name="T52" fmla="*/ 18 w 52"/>
                <a:gd name="T53" fmla="*/ 19 h 34"/>
                <a:gd name="T54" fmla="*/ 4 w 52"/>
                <a:gd name="T55" fmla="*/ 14 h 34"/>
                <a:gd name="T56" fmla="*/ 2 w 52"/>
                <a:gd name="T57" fmla="*/ 12 h 34"/>
                <a:gd name="T58" fmla="*/ 3 w 52"/>
                <a:gd name="T59" fmla="*/ 20 h 34"/>
                <a:gd name="T60" fmla="*/ 13 w 52"/>
                <a:gd name="T61" fmla="*/ 23 h 34"/>
                <a:gd name="T62" fmla="*/ 13 w 52"/>
                <a:gd name="T63" fmla="*/ 24 h 34"/>
                <a:gd name="T64" fmla="*/ 9 w 52"/>
                <a:gd name="T65" fmla="*/ 27 h 34"/>
                <a:gd name="T66" fmla="*/ 4 w 52"/>
                <a:gd name="T67" fmla="*/ 26 h 34"/>
                <a:gd name="T68" fmla="*/ 9 w 52"/>
                <a:gd name="T69" fmla="*/ 33 h 34"/>
                <a:gd name="T70" fmla="*/ 10 w 52"/>
                <a:gd name="T71" fmla="*/ 34 h 34"/>
                <a:gd name="T72" fmla="*/ 18 w 52"/>
                <a:gd name="T73" fmla="*/ 28 h 34"/>
                <a:gd name="T74" fmla="*/ 23 w 52"/>
                <a:gd name="T75" fmla="*/ 28 h 34"/>
                <a:gd name="T76" fmla="*/ 22 w 52"/>
                <a:gd name="T77" fmla="*/ 23 h 34"/>
                <a:gd name="T78" fmla="*/ 23 w 52"/>
                <a:gd name="T79" fmla="*/ 21 h 34"/>
                <a:gd name="T80" fmla="*/ 30 w 52"/>
                <a:gd name="T81" fmla="*/ 22 h 34"/>
                <a:gd name="T82" fmla="*/ 36 w 52"/>
                <a:gd name="T83" fmla="*/ 25 h 34"/>
                <a:gd name="T84" fmla="*/ 39 w 52"/>
                <a:gd name="T85" fmla="*/ 21 h 34"/>
                <a:gd name="T86" fmla="*/ 39 w 52"/>
                <a:gd name="T87" fmla="*/ 20 h 34"/>
                <a:gd name="T88" fmla="*/ 51 w 52"/>
                <a:gd name="T89" fmla="*/ 14 h 34"/>
                <a:gd name="T90" fmla="*/ 38 w 52"/>
                <a:gd name="T91" fmla="*/ 14 h 34"/>
                <a:gd name="T92" fmla="*/ 38 w 52"/>
                <a:gd name="T93" fmla="*/ 12 h 34"/>
                <a:gd name="T94" fmla="*/ 36 w 52"/>
                <a:gd name="T95" fmla="*/ 11 h 34"/>
                <a:gd name="T96" fmla="*/ 36 w 52"/>
                <a:gd name="T97" fmla="*/ 10 h 34"/>
                <a:gd name="T98" fmla="*/ 40 w 52"/>
                <a:gd name="T99" fmla="*/ 9 h 34"/>
                <a:gd name="T100" fmla="*/ 43 w 52"/>
                <a:gd name="T101" fmla="*/ 14 h 34"/>
                <a:gd name="T102" fmla="*/ 38 w 52"/>
                <a:gd name="T103" fmla="*/ 1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 h="34">
                  <a:moveTo>
                    <a:pt x="51" y="13"/>
                  </a:moveTo>
                  <a:cubicBezTo>
                    <a:pt x="51" y="12"/>
                    <a:pt x="51" y="12"/>
                    <a:pt x="51" y="12"/>
                  </a:cubicBezTo>
                  <a:cubicBezTo>
                    <a:pt x="51" y="11"/>
                    <a:pt x="51" y="11"/>
                    <a:pt x="51" y="10"/>
                  </a:cubicBezTo>
                  <a:cubicBezTo>
                    <a:pt x="51" y="10"/>
                    <a:pt x="50" y="10"/>
                    <a:pt x="50" y="10"/>
                  </a:cubicBezTo>
                  <a:cubicBezTo>
                    <a:pt x="49" y="10"/>
                    <a:pt x="49" y="10"/>
                    <a:pt x="49" y="10"/>
                  </a:cubicBezTo>
                  <a:cubicBezTo>
                    <a:pt x="48" y="10"/>
                    <a:pt x="48" y="10"/>
                    <a:pt x="48" y="10"/>
                  </a:cubicBezTo>
                  <a:cubicBezTo>
                    <a:pt x="48" y="9"/>
                    <a:pt x="48" y="9"/>
                    <a:pt x="48" y="9"/>
                  </a:cubicBezTo>
                  <a:cubicBezTo>
                    <a:pt x="48" y="9"/>
                    <a:pt x="48" y="9"/>
                    <a:pt x="48" y="9"/>
                  </a:cubicBezTo>
                  <a:cubicBezTo>
                    <a:pt x="47" y="8"/>
                    <a:pt x="47" y="8"/>
                    <a:pt x="47" y="8"/>
                  </a:cubicBezTo>
                  <a:cubicBezTo>
                    <a:pt x="47" y="8"/>
                    <a:pt x="47" y="8"/>
                    <a:pt x="47" y="8"/>
                  </a:cubicBezTo>
                  <a:cubicBezTo>
                    <a:pt x="48" y="8"/>
                    <a:pt x="48" y="8"/>
                    <a:pt x="48" y="8"/>
                  </a:cubicBezTo>
                  <a:cubicBezTo>
                    <a:pt x="48" y="7"/>
                    <a:pt x="49" y="7"/>
                    <a:pt x="50" y="7"/>
                  </a:cubicBezTo>
                  <a:cubicBezTo>
                    <a:pt x="50" y="7"/>
                    <a:pt x="50" y="7"/>
                    <a:pt x="50" y="7"/>
                  </a:cubicBezTo>
                  <a:cubicBezTo>
                    <a:pt x="50" y="7"/>
                    <a:pt x="50" y="7"/>
                    <a:pt x="50" y="7"/>
                  </a:cubicBezTo>
                  <a:cubicBezTo>
                    <a:pt x="51" y="6"/>
                    <a:pt x="52" y="4"/>
                    <a:pt x="52" y="2"/>
                  </a:cubicBezTo>
                  <a:cubicBezTo>
                    <a:pt x="52" y="2"/>
                    <a:pt x="51" y="2"/>
                    <a:pt x="50" y="2"/>
                  </a:cubicBezTo>
                  <a:cubicBezTo>
                    <a:pt x="49" y="2"/>
                    <a:pt x="48" y="2"/>
                    <a:pt x="46" y="3"/>
                  </a:cubicBezTo>
                  <a:cubicBezTo>
                    <a:pt x="46" y="3"/>
                    <a:pt x="45" y="3"/>
                    <a:pt x="44" y="3"/>
                  </a:cubicBezTo>
                  <a:cubicBezTo>
                    <a:pt x="43" y="3"/>
                    <a:pt x="43" y="3"/>
                    <a:pt x="43" y="3"/>
                  </a:cubicBezTo>
                  <a:cubicBezTo>
                    <a:pt x="41" y="2"/>
                    <a:pt x="41" y="2"/>
                    <a:pt x="36" y="0"/>
                  </a:cubicBezTo>
                  <a:cubicBezTo>
                    <a:pt x="36" y="0"/>
                    <a:pt x="36" y="0"/>
                    <a:pt x="36" y="1"/>
                  </a:cubicBezTo>
                  <a:cubicBezTo>
                    <a:pt x="35" y="1"/>
                    <a:pt x="35" y="2"/>
                    <a:pt x="36" y="3"/>
                  </a:cubicBezTo>
                  <a:cubicBezTo>
                    <a:pt x="36" y="3"/>
                    <a:pt x="36" y="3"/>
                    <a:pt x="36" y="3"/>
                  </a:cubicBezTo>
                  <a:cubicBezTo>
                    <a:pt x="36" y="3"/>
                    <a:pt x="36" y="3"/>
                    <a:pt x="36" y="3"/>
                  </a:cubicBezTo>
                  <a:cubicBezTo>
                    <a:pt x="36" y="3"/>
                    <a:pt x="36" y="3"/>
                    <a:pt x="36" y="3"/>
                  </a:cubicBezTo>
                  <a:cubicBezTo>
                    <a:pt x="35" y="4"/>
                    <a:pt x="35" y="4"/>
                    <a:pt x="35" y="4"/>
                  </a:cubicBezTo>
                  <a:cubicBezTo>
                    <a:pt x="35" y="4"/>
                    <a:pt x="35" y="4"/>
                    <a:pt x="35" y="4"/>
                  </a:cubicBezTo>
                  <a:cubicBezTo>
                    <a:pt x="35" y="4"/>
                    <a:pt x="35" y="4"/>
                    <a:pt x="35" y="4"/>
                  </a:cubicBezTo>
                  <a:cubicBezTo>
                    <a:pt x="35" y="4"/>
                    <a:pt x="35" y="4"/>
                    <a:pt x="35" y="4"/>
                  </a:cubicBezTo>
                  <a:cubicBezTo>
                    <a:pt x="35" y="4"/>
                    <a:pt x="35" y="5"/>
                    <a:pt x="35" y="5"/>
                  </a:cubicBezTo>
                  <a:cubicBezTo>
                    <a:pt x="35" y="5"/>
                    <a:pt x="35" y="5"/>
                    <a:pt x="35" y="5"/>
                  </a:cubicBezTo>
                  <a:cubicBezTo>
                    <a:pt x="35" y="6"/>
                    <a:pt x="35" y="6"/>
                    <a:pt x="35" y="6"/>
                  </a:cubicBezTo>
                  <a:cubicBezTo>
                    <a:pt x="34" y="7"/>
                    <a:pt x="34" y="7"/>
                    <a:pt x="34" y="7"/>
                  </a:cubicBezTo>
                  <a:cubicBezTo>
                    <a:pt x="34" y="7"/>
                    <a:pt x="34" y="7"/>
                    <a:pt x="34" y="7"/>
                  </a:cubicBezTo>
                  <a:cubicBezTo>
                    <a:pt x="34" y="7"/>
                    <a:pt x="34" y="7"/>
                    <a:pt x="34" y="7"/>
                  </a:cubicBezTo>
                  <a:cubicBezTo>
                    <a:pt x="34" y="6"/>
                    <a:pt x="34" y="6"/>
                    <a:pt x="34" y="6"/>
                  </a:cubicBezTo>
                  <a:cubicBezTo>
                    <a:pt x="33" y="6"/>
                    <a:pt x="33" y="6"/>
                    <a:pt x="32" y="5"/>
                  </a:cubicBezTo>
                  <a:cubicBezTo>
                    <a:pt x="32" y="5"/>
                    <a:pt x="32" y="5"/>
                    <a:pt x="32" y="5"/>
                  </a:cubicBezTo>
                  <a:cubicBezTo>
                    <a:pt x="31" y="5"/>
                    <a:pt x="31" y="5"/>
                    <a:pt x="30" y="5"/>
                  </a:cubicBezTo>
                  <a:cubicBezTo>
                    <a:pt x="30" y="6"/>
                    <a:pt x="30" y="6"/>
                    <a:pt x="30" y="6"/>
                  </a:cubicBezTo>
                  <a:cubicBezTo>
                    <a:pt x="30" y="7"/>
                    <a:pt x="30" y="7"/>
                    <a:pt x="30" y="7"/>
                  </a:cubicBezTo>
                  <a:cubicBezTo>
                    <a:pt x="30" y="7"/>
                    <a:pt x="30" y="8"/>
                    <a:pt x="28" y="9"/>
                  </a:cubicBezTo>
                  <a:cubicBezTo>
                    <a:pt x="27" y="8"/>
                    <a:pt x="27" y="8"/>
                    <a:pt x="27" y="8"/>
                  </a:cubicBezTo>
                  <a:cubicBezTo>
                    <a:pt x="26" y="8"/>
                    <a:pt x="26" y="9"/>
                    <a:pt x="26" y="9"/>
                  </a:cubicBezTo>
                  <a:cubicBezTo>
                    <a:pt x="26" y="10"/>
                    <a:pt x="26" y="10"/>
                    <a:pt x="28" y="10"/>
                  </a:cubicBezTo>
                  <a:cubicBezTo>
                    <a:pt x="29" y="10"/>
                    <a:pt x="29" y="11"/>
                    <a:pt x="30" y="11"/>
                  </a:cubicBezTo>
                  <a:cubicBezTo>
                    <a:pt x="30" y="11"/>
                    <a:pt x="30" y="11"/>
                    <a:pt x="30" y="11"/>
                  </a:cubicBezTo>
                  <a:cubicBezTo>
                    <a:pt x="31" y="11"/>
                    <a:pt x="31" y="11"/>
                    <a:pt x="31" y="11"/>
                  </a:cubicBezTo>
                  <a:cubicBezTo>
                    <a:pt x="32" y="11"/>
                    <a:pt x="32" y="11"/>
                    <a:pt x="32" y="11"/>
                  </a:cubicBezTo>
                  <a:cubicBezTo>
                    <a:pt x="33" y="11"/>
                    <a:pt x="33" y="11"/>
                    <a:pt x="33" y="11"/>
                  </a:cubicBezTo>
                  <a:cubicBezTo>
                    <a:pt x="33" y="12"/>
                    <a:pt x="33" y="12"/>
                    <a:pt x="33" y="12"/>
                  </a:cubicBezTo>
                  <a:cubicBezTo>
                    <a:pt x="31" y="12"/>
                    <a:pt x="31" y="12"/>
                    <a:pt x="31" y="12"/>
                  </a:cubicBezTo>
                  <a:cubicBezTo>
                    <a:pt x="31" y="12"/>
                    <a:pt x="31" y="13"/>
                    <a:pt x="30" y="13"/>
                  </a:cubicBezTo>
                  <a:cubicBezTo>
                    <a:pt x="30" y="14"/>
                    <a:pt x="30" y="14"/>
                    <a:pt x="30" y="14"/>
                  </a:cubicBezTo>
                  <a:cubicBezTo>
                    <a:pt x="29" y="15"/>
                    <a:pt x="29" y="15"/>
                    <a:pt x="29" y="15"/>
                  </a:cubicBezTo>
                  <a:cubicBezTo>
                    <a:pt x="29" y="14"/>
                    <a:pt x="29" y="14"/>
                    <a:pt x="29" y="14"/>
                  </a:cubicBezTo>
                  <a:cubicBezTo>
                    <a:pt x="28" y="14"/>
                    <a:pt x="27" y="14"/>
                    <a:pt x="26" y="14"/>
                  </a:cubicBezTo>
                  <a:cubicBezTo>
                    <a:pt x="24" y="13"/>
                    <a:pt x="24" y="13"/>
                    <a:pt x="24" y="13"/>
                  </a:cubicBezTo>
                  <a:cubicBezTo>
                    <a:pt x="22" y="13"/>
                    <a:pt x="18" y="12"/>
                    <a:pt x="15" y="11"/>
                  </a:cubicBezTo>
                  <a:cubicBezTo>
                    <a:pt x="15" y="11"/>
                    <a:pt x="14" y="11"/>
                    <a:pt x="13" y="11"/>
                  </a:cubicBezTo>
                  <a:cubicBezTo>
                    <a:pt x="12" y="10"/>
                    <a:pt x="12" y="10"/>
                    <a:pt x="12" y="10"/>
                  </a:cubicBezTo>
                  <a:cubicBezTo>
                    <a:pt x="11" y="11"/>
                    <a:pt x="11" y="11"/>
                    <a:pt x="11" y="11"/>
                  </a:cubicBezTo>
                  <a:cubicBezTo>
                    <a:pt x="12" y="11"/>
                    <a:pt x="12" y="12"/>
                    <a:pt x="13" y="12"/>
                  </a:cubicBezTo>
                  <a:cubicBezTo>
                    <a:pt x="13" y="12"/>
                    <a:pt x="13" y="12"/>
                    <a:pt x="13" y="12"/>
                  </a:cubicBezTo>
                  <a:cubicBezTo>
                    <a:pt x="14" y="13"/>
                    <a:pt x="14" y="15"/>
                    <a:pt x="16" y="16"/>
                  </a:cubicBezTo>
                  <a:cubicBezTo>
                    <a:pt x="17" y="16"/>
                    <a:pt x="18" y="16"/>
                    <a:pt x="20" y="16"/>
                  </a:cubicBezTo>
                  <a:cubicBezTo>
                    <a:pt x="23" y="16"/>
                    <a:pt x="28" y="17"/>
                    <a:pt x="31" y="19"/>
                  </a:cubicBezTo>
                  <a:cubicBezTo>
                    <a:pt x="32" y="20"/>
                    <a:pt x="32" y="20"/>
                    <a:pt x="32" y="20"/>
                  </a:cubicBezTo>
                  <a:cubicBezTo>
                    <a:pt x="32" y="20"/>
                    <a:pt x="32" y="20"/>
                    <a:pt x="32" y="20"/>
                  </a:cubicBezTo>
                  <a:cubicBezTo>
                    <a:pt x="32" y="20"/>
                    <a:pt x="32" y="20"/>
                    <a:pt x="32" y="20"/>
                  </a:cubicBezTo>
                  <a:cubicBezTo>
                    <a:pt x="32" y="20"/>
                    <a:pt x="32" y="20"/>
                    <a:pt x="32" y="20"/>
                  </a:cubicBezTo>
                  <a:cubicBezTo>
                    <a:pt x="31" y="20"/>
                    <a:pt x="31" y="20"/>
                    <a:pt x="31" y="20"/>
                  </a:cubicBezTo>
                  <a:cubicBezTo>
                    <a:pt x="30" y="20"/>
                    <a:pt x="30" y="21"/>
                    <a:pt x="30" y="21"/>
                  </a:cubicBezTo>
                  <a:cubicBezTo>
                    <a:pt x="29" y="21"/>
                    <a:pt x="29" y="21"/>
                    <a:pt x="29" y="21"/>
                  </a:cubicBezTo>
                  <a:cubicBezTo>
                    <a:pt x="26" y="20"/>
                    <a:pt x="26" y="20"/>
                    <a:pt x="24" y="20"/>
                  </a:cubicBezTo>
                  <a:cubicBezTo>
                    <a:pt x="23" y="19"/>
                    <a:pt x="22" y="18"/>
                    <a:pt x="21" y="18"/>
                  </a:cubicBezTo>
                  <a:cubicBezTo>
                    <a:pt x="21" y="18"/>
                    <a:pt x="20" y="19"/>
                    <a:pt x="19" y="19"/>
                  </a:cubicBezTo>
                  <a:cubicBezTo>
                    <a:pt x="19" y="19"/>
                    <a:pt x="19" y="19"/>
                    <a:pt x="19" y="19"/>
                  </a:cubicBezTo>
                  <a:cubicBezTo>
                    <a:pt x="19" y="19"/>
                    <a:pt x="19" y="19"/>
                    <a:pt x="19" y="19"/>
                  </a:cubicBezTo>
                  <a:cubicBezTo>
                    <a:pt x="19" y="20"/>
                    <a:pt x="19" y="20"/>
                    <a:pt x="19" y="20"/>
                  </a:cubicBezTo>
                  <a:cubicBezTo>
                    <a:pt x="18" y="19"/>
                    <a:pt x="18" y="19"/>
                    <a:pt x="18" y="19"/>
                  </a:cubicBezTo>
                  <a:cubicBezTo>
                    <a:pt x="18" y="19"/>
                    <a:pt x="18" y="19"/>
                    <a:pt x="17" y="19"/>
                  </a:cubicBezTo>
                  <a:cubicBezTo>
                    <a:pt x="16" y="19"/>
                    <a:pt x="15" y="18"/>
                    <a:pt x="14" y="18"/>
                  </a:cubicBezTo>
                  <a:cubicBezTo>
                    <a:pt x="10" y="17"/>
                    <a:pt x="7" y="16"/>
                    <a:pt x="4" y="14"/>
                  </a:cubicBezTo>
                  <a:cubicBezTo>
                    <a:pt x="3" y="13"/>
                    <a:pt x="3" y="13"/>
                    <a:pt x="2" y="12"/>
                  </a:cubicBezTo>
                  <a:cubicBezTo>
                    <a:pt x="2" y="12"/>
                    <a:pt x="2" y="12"/>
                    <a:pt x="2" y="12"/>
                  </a:cubicBezTo>
                  <a:cubicBezTo>
                    <a:pt x="2" y="12"/>
                    <a:pt x="2" y="12"/>
                    <a:pt x="2" y="12"/>
                  </a:cubicBezTo>
                  <a:cubicBezTo>
                    <a:pt x="2" y="11"/>
                    <a:pt x="2" y="11"/>
                    <a:pt x="2" y="11"/>
                  </a:cubicBezTo>
                  <a:cubicBezTo>
                    <a:pt x="1" y="11"/>
                    <a:pt x="1" y="12"/>
                    <a:pt x="0" y="12"/>
                  </a:cubicBezTo>
                  <a:cubicBezTo>
                    <a:pt x="0" y="14"/>
                    <a:pt x="2" y="19"/>
                    <a:pt x="3" y="20"/>
                  </a:cubicBezTo>
                  <a:cubicBezTo>
                    <a:pt x="4" y="20"/>
                    <a:pt x="5" y="21"/>
                    <a:pt x="6" y="21"/>
                  </a:cubicBezTo>
                  <a:cubicBezTo>
                    <a:pt x="8" y="21"/>
                    <a:pt x="11" y="22"/>
                    <a:pt x="12" y="23"/>
                  </a:cubicBezTo>
                  <a:cubicBezTo>
                    <a:pt x="13" y="23"/>
                    <a:pt x="13" y="23"/>
                    <a:pt x="13" y="23"/>
                  </a:cubicBezTo>
                  <a:cubicBezTo>
                    <a:pt x="13" y="23"/>
                    <a:pt x="13" y="23"/>
                    <a:pt x="13" y="23"/>
                  </a:cubicBezTo>
                  <a:cubicBezTo>
                    <a:pt x="13" y="23"/>
                    <a:pt x="13" y="23"/>
                    <a:pt x="13" y="23"/>
                  </a:cubicBezTo>
                  <a:cubicBezTo>
                    <a:pt x="13" y="24"/>
                    <a:pt x="13" y="24"/>
                    <a:pt x="13" y="24"/>
                  </a:cubicBezTo>
                  <a:cubicBezTo>
                    <a:pt x="12" y="25"/>
                    <a:pt x="11" y="26"/>
                    <a:pt x="10" y="26"/>
                  </a:cubicBezTo>
                  <a:cubicBezTo>
                    <a:pt x="10" y="27"/>
                    <a:pt x="10" y="27"/>
                    <a:pt x="10" y="27"/>
                  </a:cubicBezTo>
                  <a:cubicBezTo>
                    <a:pt x="10" y="27"/>
                    <a:pt x="9" y="27"/>
                    <a:pt x="9" y="27"/>
                  </a:cubicBezTo>
                  <a:cubicBezTo>
                    <a:pt x="9" y="27"/>
                    <a:pt x="9" y="27"/>
                    <a:pt x="9" y="27"/>
                  </a:cubicBezTo>
                  <a:cubicBezTo>
                    <a:pt x="9" y="28"/>
                    <a:pt x="8" y="28"/>
                    <a:pt x="8" y="28"/>
                  </a:cubicBezTo>
                  <a:cubicBezTo>
                    <a:pt x="7" y="28"/>
                    <a:pt x="5" y="27"/>
                    <a:pt x="4" y="26"/>
                  </a:cubicBezTo>
                  <a:cubicBezTo>
                    <a:pt x="4" y="26"/>
                    <a:pt x="3" y="26"/>
                    <a:pt x="3" y="26"/>
                  </a:cubicBezTo>
                  <a:cubicBezTo>
                    <a:pt x="3" y="26"/>
                    <a:pt x="3" y="26"/>
                    <a:pt x="3" y="26"/>
                  </a:cubicBezTo>
                  <a:cubicBezTo>
                    <a:pt x="4" y="29"/>
                    <a:pt x="6" y="31"/>
                    <a:pt x="9" y="33"/>
                  </a:cubicBezTo>
                  <a:cubicBezTo>
                    <a:pt x="9" y="34"/>
                    <a:pt x="9" y="34"/>
                    <a:pt x="9" y="34"/>
                  </a:cubicBezTo>
                  <a:cubicBezTo>
                    <a:pt x="10" y="34"/>
                    <a:pt x="10" y="34"/>
                    <a:pt x="10" y="34"/>
                  </a:cubicBezTo>
                  <a:cubicBezTo>
                    <a:pt x="10" y="34"/>
                    <a:pt x="10" y="34"/>
                    <a:pt x="10" y="34"/>
                  </a:cubicBezTo>
                  <a:cubicBezTo>
                    <a:pt x="12" y="34"/>
                    <a:pt x="15" y="31"/>
                    <a:pt x="16" y="29"/>
                  </a:cubicBezTo>
                  <a:cubicBezTo>
                    <a:pt x="16" y="29"/>
                    <a:pt x="17" y="28"/>
                    <a:pt x="17" y="28"/>
                  </a:cubicBezTo>
                  <a:cubicBezTo>
                    <a:pt x="18" y="28"/>
                    <a:pt x="18" y="28"/>
                    <a:pt x="18" y="28"/>
                  </a:cubicBezTo>
                  <a:cubicBezTo>
                    <a:pt x="19" y="27"/>
                    <a:pt x="19" y="27"/>
                    <a:pt x="19" y="27"/>
                  </a:cubicBezTo>
                  <a:cubicBezTo>
                    <a:pt x="19" y="27"/>
                    <a:pt x="19" y="27"/>
                    <a:pt x="19" y="27"/>
                  </a:cubicBezTo>
                  <a:cubicBezTo>
                    <a:pt x="21" y="27"/>
                    <a:pt x="22" y="27"/>
                    <a:pt x="23" y="28"/>
                  </a:cubicBezTo>
                  <a:cubicBezTo>
                    <a:pt x="24" y="28"/>
                    <a:pt x="25" y="26"/>
                    <a:pt x="25" y="25"/>
                  </a:cubicBezTo>
                  <a:cubicBezTo>
                    <a:pt x="25" y="25"/>
                    <a:pt x="25" y="25"/>
                    <a:pt x="25" y="25"/>
                  </a:cubicBezTo>
                  <a:cubicBezTo>
                    <a:pt x="24" y="24"/>
                    <a:pt x="23" y="23"/>
                    <a:pt x="22" y="23"/>
                  </a:cubicBezTo>
                  <a:cubicBezTo>
                    <a:pt x="22" y="23"/>
                    <a:pt x="22" y="23"/>
                    <a:pt x="22" y="23"/>
                  </a:cubicBezTo>
                  <a:cubicBezTo>
                    <a:pt x="22" y="22"/>
                    <a:pt x="22" y="22"/>
                    <a:pt x="22" y="22"/>
                  </a:cubicBezTo>
                  <a:cubicBezTo>
                    <a:pt x="23" y="21"/>
                    <a:pt x="23" y="21"/>
                    <a:pt x="23" y="21"/>
                  </a:cubicBezTo>
                  <a:cubicBezTo>
                    <a:pt x="23" y="20"/>
                    <a:pt x="23" y="20"/>
                    <a:pt x="23" y="20"/>
                  </a:cubicBezTo>
                  <a:cubicBezTo>
                    <a:pt x="24" y="20"/>
                    <a:pt x="24" y="20"/>
                    <a:pt x="24" y="20"/>
                  </a:cubicBezTo>
                  <a:cubicBezTo>
                    <a:pt x="26" y="21"/>
                    <a:pt x="28" y="22"/>
                    <a:pt x="30" y="22"/>
                  </a:cubicBezTo>
                  <a:cubicBezTo>
                    <a:pt x="32" y="23"/>
                    <a:pt x="32" y="23"/>
                    <a:pt x="32" y="23"/>
                  </a:cubicBezTo>
                  <a:cubicBezTo>
                    <a:pt x="33" y="23"/>
                    <a:pt x="33" y="23"/>
                    <a:pt x="33" y="23"/>
                  </a:cubicBezTo>
                  <a:cubicBezTo>
                    <a:pt x="34" y="24"/>
                    <a:pt x="35" y="25"/>
                    <a:pt x="36" y="25"/>
                  </a:cubicBezTo>
                  <a:cubicBezTo>
                    <a:pt x="36" y="25"/>
                    <a:pt x="37" y="25"/>
                    <a:pt x="37" y="25"/>
                  </a:cubicBezTo>
                  <a:cubicBezTo>
                    <a:pt x="38" y="23"/>
                    <a:pt x="39" y="22"/>
                    <a:pt x="39" y="21"/>
                  </a:cubicBezTo>
                  <a:cubicBezTo>
                    <a:pt x="39" y="21"/>
                    <a:pt x="39" y="21"/>
                    <a:pt x="39" y="21"/>
                  </a:cubicBezTo>
                  <a:cubicBezTo>
                    <a:pt x="39" y="21"/>
                    <a:pt x="40" y="21"/>
                    <a:pt x="40" y="21"/>
                  </a:cubicBezTo>
                  <a:cubicBezTo>
                    <a:pt x="39" y="21"/>
                    <a:pt x="39" y="21"/>
                    <a:pt x="39" y="21"/>
                  </a:cubicBezTo>
                  <a:cubicBezTo>
                    <a:pt x="39" y="20"/>
                    <a:pt x="39" y="20"/>
                    <a:pt x="39" y="20"/>
                  </a:cubicBezTo>
                  <a:cubicBezTo>
                    <a:pt x="39" y="20"/>
                    <a:pt x="40" y="20"/>
                    <a:pt x="40" y="20"/>
                  </a:cubicBezTo>
                  <a:cubicBezTo>
                    <a:pt x="43" y="19"/>
                    <a:pt x="47" y="17"/>
                    <a:pt x="50" y="16"/>
                  </a:cubicBezTo>
                  <a:cubicBezTo>
                    <a:pt x="51" y="15"/>
                    <a:pt x="52" y="15"/>
                    <a:pt x="51" y="14"/>
                  </a:cubicBezTo>
                  <a:cubicBezTo>
                    <a:pt x="51" y="13"/>
                    <a:pt x="51" y="13"/>
                    <a:pt x="51" y="13"/>
                  </a:cubicBezTo>
                  <a:moveTo>
                    <a:pt x="37" y="15"/>
                  </a:moveTo>
                  <a:cubicBezTo>
                    <a:pt x="38" y="14"/>
                    <a:pt x="38" y="14"/>
                    <a:pt x="38" y="14"/>
                  </a:cubicBezTo>
                  <a:cubicBezTo>
                    <a:pt x="39" y="13"/>
                    <a:pt x="39" y="13"/>
                    <a:pt x="39" y="13"/>
                  </a:cubicBezTo>
                  <a:cubicBezTo>
                    <a:pt x="39" y="13"/>
                    <a:pt x="39" y="12"/>
                    <a:pt x="38" y="12"/>
                  </a:cubicBezTo>
                  <a:cubicBezTo>
                    <a:pt x="38" y="12"/>
                    <a:pt x="38" y="12"/>
                    <a:pt x="38" y="12"/>
                  </a:cubicBezTo>
                  <a:cubicBezTo>
                    <a:pt x="38" y="12"/>
                    <a:pt x="38" y="12"/>
                    <a:pt x="38" y="12"/>
                  </a:cubicBezTo>
                  <a:cubicBezTo>
                    <a:pt x="37" y="12"/>
                    <a:pt x="37" y="12"/>
                    <a:pt x="37" y="12"/>
                  </a:cubicBezTo>
                  <a:cubicBezTo>
                    <a:pt x="36" y="11"/>
                    <a:pt x="36" y="11"/>
                    <a:pt x="36" y="11"/>
                  </a:cubicBezTo>
                  <a:cubicBezTo>
                    <a:pt x="36" y="11"/>
                    <a:pt x="36" y="11"/>
                    <a:pt x="36" y="11"/>
                  </a:cubicBezTo>
                  <a:cubicBezTo>
                    <a:pt x="37" y="10"/>
                    <a:pt x="37" y="10"/>
                    <a:pt x="37" y="10"/>
                  </a:cubicBezTo>
                  <a:cubicBezTo>
                    <a:pt x="36" y="10"/>
                    <a:pt x="36" y="10"/>
                    <a:pt x="36" y="10"/>
                  </a:cubicBezTo>
                  <a:cubicBezTo>
                    <a:pt x="37" y="10"/>
                    <a:pt x="37" y="10"/>
                    <a:pt x="37" y="10"/>
                  </a:cubicBezTo>
                  <a:cubicBezTo>
                    <a:pt x="40" y="9"/>
                    <a:pt x="40" y="9"/>
                    <a:pt x="40" y="9"/>
                  </a:cubicBezTo>
                  <a:cubicBezTo>
                    <a:pt x="40" y="9"/>
                    <a:pt x="40" y="9"/>
                    <a:pt x="40" y="9"/>
                  </a:cubicBezTo>
                  <a:cubicBezTo>
                    <a:pt x="41" y="9"/>
                    <a:pt x="41" y="9"/>
                    <a:pt x="41" y="9"/>
                  </a:cubicBezTo>
                  <a:cubicBezTo>
                    <a:pt x="41" y="10"/>
                    <a:pt x="43" y="11"/>
                    <a:pt x="43" y="13"/>
                  </a:cubicBezTo>
                  <a:cubicBezTo>
                    <a:pt x="43" y="14"/>
                    <a:pt x="43" y="14"/>
                    <a:pt x="43" y="14"/>
                  </a:cubicBezTo>
                  <a:cubicBezTo>
                    <a:pt x="42" y="15"/>
                    <a:pt x="40" y="16"/>
                    <a:pt x="38" y="16"/>
                  </a:cubicBezTo>
                  <a:cubicBezTo>
                    <a:pt x="38" y="16"/>
                    <a:pt x="38" y="16"/>
                    <a:pt x="38" y="16"/>
                  </a:cubicBezTo>
                  <a:cubicBezTo>
                    <a:pt x="38" y="15"/>
                    <a:pt x="38" y="15"/>
                    <a:pt x="38" y="15"/>
                  </a:cubicBezTo>
                  <a:cubicBezTo>
                    <a:pt x="37" y="15"/>
                    <a:pt x="37" y="15"/>
                    <a:pt x="37" y="15"/>
                  </a:cubicBez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52" name="Freeform 138"/>
            <p:cNvSpPr/>
            <p:nvPr userDrawn="1"/>
          </p:nvSpPr>
          <p:spPr bwMode="auto">
            <a:xfrm>
              <a:off x="1239" y="750"/>
              <a:ext cx="10" cy="19"/>
            </a:xfrm>
            <a:custGeom>
              <a:avLst/>
              <a:gdLst>
                <a:gd name="T0" fmla="*/ 2 w 8"/>
                <a:gd name="T1" fmla="*/ 15 h 15"/>
                <a:gd name="T2" fmla="*/ 0 w 8"/>
                <a:gd name="T3" fmla="*/ 14 h 15"/>
                <a:gd name="T4" fmla="*/ 2 w 8"/>
                <a:gd name="T5" fmla="*/ 9 h 15"/>
                <a:gd name="T6" fmla="*/ 3 w 8"/>
                <a:gd name="T7" fmla="*/ 8 h 15"/>
                <a:gd name="T8" fmla="*/ 3 w 8"/>
                <a:gd name="T9" fmla="*/ 8 h 15"/>
                <a:gd name="T10" fmla="*/ 3 w 8"/>
                <a:gd name="T11" fmla="*/ 7 h 15"/>
                <a:gd name="T12" fmla="*/ 4 w 8"/>
                <a:gd name="T13" fmla="*/ 5 h 15"/>
                <a:gd name="T14" fmla="*/ 5 w 8"/>
                <a:gd name="T15" fmla="*/ 4 h 15"/>
                <a:gd name="T16" fmla="*/ 7 w 8"/>
                <a:gd name="T17" fmla="*/ 0 h 15"/>
                <a:gd name="T18" fmla="*/ 8 w 8"/>
                <a:gd name="T19" fmla="*/ 1 h 15"/>
                <a:gd name="T20" fmla="*/ 8 w 8"/>
                <a:gd name="T21" fmla="*/ 2 h 15"/>
                <a:gd name="T22" fmla="*/ 8 w 8"/>
                <a:gd name="T23" fmla="*/ 2 h 15"/>
                <a:gd name="T24" fmla="*/ 8 w 8"/>
                <a:gd name="T25" fmla="*/ 3 h 15"/>
                <a:gd name="T26" fmla="*/ 8 w 8"/>
                <a:gd name="T27" fmla="*/ 7 h 15"/>
                <a:gd name="T28" fmla="*/ 8 w 8"/>
                <a:gd name="T29" fmla="*/ 8 h 15"/>
                <a:gd name="T30" fmla="*/ 8 w 8"/>
                <a:gd name="T31" fmla="*/ 9 h 15"/>
                <a:gd name="T32" fmla="*/ 6 w 8"/>
                <a:gd name="T33" fmla="*/ 13 h 15"/>
                <a:gd name="T34" fmla="*/ 5 w 8"/>
                <a:gd name="T35" fmla="*/ 14 h 15"/>
                <a:gd name="T36" fmla="*/ 5 w 8"/>
                <a:gd name="T37" fmla="*/ 14 h 15"/>
                <a:gd name="T38" fmla="*/ 3 w 8"/>
                <a:gd name="T39" fmla="*/ 15 h 15"/>
                <a:gd name="T40" fmla="*/ 2 w 8"/>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 h="15">
                  <a:moveTo>
                    <a:pt x="2" y="15"/>
                  </a:moveTo>
                  <a:cubicBezTo>
                    <a:pt x="2" y="15"/>
                    <a:pt x="1" y="14"/>
                    <a:pt x="0" y="14"/>
                  </a:cubicBezTo>
                  <a:cubicBezTo>
                    <a:pt x="0" y="12"/>
                    <a:pt x="1" y="11"/>
                    <a:pt x="2" y="9"/>
                  </a:cubicBezTo>
                  <a:cubicBezTo>
                    <a:pt x="2" y="9"/>
                    <a:pt x="3" y="8"/>
                    <a:pt x="3" y="8"/>
                  </a:cubicBezTo>
                  <a:cubicBezTo>
                    <a:pt x="3" y="8"/>
                    <a:pt x="3" y="8"/>
                    <a:pt x="3" y="8"/>
                  </a:cubicBezTo>
                  <a:cubicBezTo>
                    <a:pt x="3" y="7"/>
                    <a:pt x="3" y="7"/>
                    <a:pt x="3" y="7"/>
                  </a:cubicBezTo>
                  <a:cubicBezTo>
                    <a:pt x="4" y="7"/>
                    <a:pt x="4" y="6"/>
                    <a:pt x="4" y="5"/>
                  </a:cubicBezTo>
                  <a:cubicBezTo>
                    <a:pt x="4" y="5"/>
                    <a:pt x="4" y="4"/>
                    <a:pt x="5" y="4"/>
                  </a:cubicBezTo>
                  <a:cubicBezTo>
                    <a:pt x="5" y="2"/>
                    <a:pt x="6" y="0"/>
                    <a:pt x="7" y="0"/>
                  </a:cubicBezTo>
                  <a:cubicBezTo>
                    <a:pt x="7" y="0"/>
                    <a:pt x="8" y="0"/>
                    <a:pt x="8" y="1"/>
                  </a:cubicBezTo>
                  <a:cubicBezTo>
                    <a:pt x="8" y="1"/>
                    <a:pt x="8" y="1"/>
                    <a:pt x="8" y="2"/>
                  </a:cubicBezTo>
                  <a:cubicBezTo>
                    <a:pt x="8" y="2"/>
                    <a:pt x="8" y="2"/>
                    <a:pt x="8" y="2"/>
                  </a:cubicBezTo>
                  <a:cubicBezTo>
                    <a:pt x="8" y="3"/>
                    <a:pt x="8" y="3"/>
                    <a:pt x="8" y="3"/>
                  </a:cubicBezTo>
                  <a:cubicBezTo>
                    <a:pt x="8" y="5"/>
                    <a:pt x="8" y="6"/>
                    <a:pt x="8" y="7"/>
                  </a:cubicBezTo>
                  <a:cubicBezTo>
                    <a:pt x="8" y="8"/>
                    <a:pt x="8" y="8"/>
                    <a:pt x="8" y="8"/>
                  </a:cubicBezTo>
                  <a:cubicBezTo>
                    <a:pt x="8" y="8"/>
                    <a:pt x="8" y="9"/>
                    <a:pt x="8" y="9"/>
                  </a:cubicBezTo>
                  <a:cubicBezTo>
                    <a:pt x="7" y="11"/>
                    <a:pt x="7" y="12"/>
                    <a:pt x="6" y="13"/>
                  </a:cubicBezTo>
                  <a:cubicBezTo>
                    <a:pt x="5" y="14"/>
                    <a:pt x="5" y="14"/>
                    <a:pt x="5" y="14"/>
                  </a:cubicBezTo>
                  <a:cubicBezTo>
                    <a:pt x="5" y="14"/>
                    <a:pt x="5" y="14"/>
                    <a:pt x="5" y="14"/>
                  </a:cubicBezTo>
                  <a:cubicBezTo>
                    <a:pt x="4" y="14"/>
                    <a:pt x="3" y="15"/>
                    <a:pt x="3" y="15"/>
                  </a:cubicBezTo>
                  <a:lnTo>
                    <a:pt x="2" y="15"/>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53" name="Freeform 139"/>
            <p:cNvSpPr/>
            <p:nvPr userDrawn="1"/>
          </p:nvSpPr>
          <p:spPr bwMode="auto">
            <a:xfrm>
              <a:off x="1239" y="750"/>
              <a:ext cx="10" cy="19"/>
            </a:xfrm>
            <a:custGeom>
              <a:avLst/>
              <a:gdLst>
                <a:gd name="T0" fmla="*/ 2 w 8"/>
                <a:gd name="T1" fmla="*/ 15 h 15"/>
                <a:gd name="T2" fmla="*/ 3 w 8"/>
                <a:gd name="T3" fmla="*/ 15 h 15"/>
                <a:gd name="T4" fmla="*/ 5 w 8"/>
                <a:gd name="T5" fmla="*/ 14 h 15"/>
                <a:gd name="T6" fmla="*/ 5 w 8"/>
                <a:gd name="T7" fmla="*/ 14 h 15"/>
                <a:gd name="T8" fmla="*/ 6 w 8"/>
                <a:gd name="T9" fmla="*/ 13 h 15"/>
                <a:gd name="T10" fmla="*/ 8 w 8"/>
                <a:gd name="T11" fmla="*/ 9 h 15"/>
                <a:gd name="T12" fmla="*/ 8 w 8"/>
                <a:gd name="T13" fmla="*/ 8 h 15"/>
                <a:gd name="T14" fmla="*/ 8 w 8"/>
                <a:gd name="T15" fmla="*/ 7 h 15"/>
                <a:gd name="T16" fmla="*/ 8 w 8"/>
                <a:gd name="T17" fmla="*/ 3 h 15"/>
                <a:gd name="T18" fmla="*/ 8 w 8"/>
                <a:gd name="T19" fmla="*/ 2 h 15"/>
                <a:gd name="T20" fmla="*/ 8 w 8"/>
                <a:gd name="T21" fmla="*/ 2 h 15"/>
                <a:gd name="T22" fmla="*/ 8 w 8"/>
                <a:gd name="T23" fmla="*/ 2 h 15"/>
                <a:gd name="T24" fmla="*/ 8 w 8"/>
                <a:gd name="T25" fmla="*/ 1 h 15"/>
                <a:gd name="T26" fmla="*/ 7 w 8"/>
                <a:gd name="T27" fmla="*/ 0 h 15"/>
                <a:gd name="T28" fmla="*/ 5 w 8"/>
                <a:gd name="T29" fmla="*/ 4 h 15"/>
                <a:gd name="T30" fmla="*/ 4 w 8"/>
                <a:gd name="T31" fmla="*/ 5 h 15"/>
                <a:gd name="T32" fmla="*/ 3 w 8"/>
                <a:gd name="T33" fmla="*/ 7 h 15"/>
                <a:gd name="T34" fmla="*/ 3 w 8"/>
                <a:gd name="T35" fmla="*/ 8 h 15"/>
                <a:gd name="T36" fmla="*/ 3 w 8"/>
                <a:gd name="T37" fmla="*/ 8 h 15"/>
                <a:gd name="T38" fmla="*/ 2 w 8"/>
                <a:gd name="T39" fmla="*/ 9 h 15"/>
                <a:gd name="T40" fmla="*/ 0 w 8"/>
                <a:gd name="T41" fmla="*/ 14 h 15"/>
                <a:gd name="T42" fmla="*/ 2 w 8"/>
                <a:gd name="T43"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 h="15">
                  <a:moveTo>
                    <a:pt x="2" y="15"/>
                  </a:moveTo>
                  <a:cubicBezTo>
                    <a:pt x="3" y="15"/>
                    <a:pt x="3" y="15"/>
                    <a:pt x="3" y="15"/>
                  </a:cubicBezTo>
                  <a:cubicBezTo>
                    <a:pt x="3" y="15"/>
                    <a:pt x="4" y="14"/>
                    <a:pt x="5" y="14"/>
                  </a:cubicBezTo>
                  <a:cubicBezTo>
                    <a:pt x="5" y="14"/>
                    <a:pt x="5" y="14"/>
                    <a:pt x="5" y="14"/>
                  </a:cubicBezTo>
                  <a:cubicBezTo>
                    <a:pt x="6" y="13"/>
                    <a:pt x="6" y="13"/>
                    <a:pt x="6" y="13"/>
                  </a:cubicBezTo>
                  <a:cubicBezTo>
                    <a:pt x="7" y="12"/>
                    <a:pt x="7" y="10"/>
                    <a:pt x="8" y="9"/>
                  </a:cubicBezTo>
                  <a:cubicBezTo>
                    <a:pt x="8" y="9"/>
                    <a:pt x="8" y="8"/>
                    <a:pt x="8" y="8"/>
                  </a:cubicBezTo>
                  <a:cubicBezTo>
                    <a:pt x="8" y="7"/>
                    <a:pt x="8" y="7"/>
                    <a:pt x="8" y="7"/>
                  </a:cubicBezTo>
                  <a:cubicBezTo>
                    <a:pt x="8" y="6"/>
                    <a:pt x="8" y="5"/>
                    <a:pt x="8" y="3"/>
                  </a:cubicBezTo>
                  <a:cubicBezTo>
                    <a:pt x="8" y="3"/>
                    <a:pt x="8" y="3"/>
                    <a:pt x="8" y="2"/>
                  </a:cubicBezTo>
                  <a:cubicBezTo>
                    <a:pt x="8" y="2"/>
                    <a:pt x="8" y="2"/>
                    <a:pt x="8" y="2"/>
                  </a:cubicBezTo>
                  <a:cubicBezTo>
                    <a:pt x="8" y="2"/>
                    <a:pt x="8" y="2"/>
                    <a:pt x="8" y="2"/>
                  </a:cubicBezTo>
                  <a:cubicBezTo>
                    <a:pt x="8" y="1"/>
                    <a:pt x="8" y="1"/>
                    <a:pt x="8" y="1"/>
                  </a:cubicBezTo>
                  <a:cubicBezTo>
                    <a:pt x="8" y="0"/>
                    <a:pt x="7" y="0"/>
                    <a:pt x="7" y="0"/>
                  </a:cubicBezTo>
                  <a:cubicBezTo>
                    <a:pt x="6" y="0"/>
                    <a:pt x="5" y="2"/>
                    <a:pt x="5" y="4"/>
                  </a:cubicBezTo>
                  <a:cubicBezTo>
                    <a:pt x="5" y="4"/>
                    <a:pt x="4" y="5"/>
                    <a:pt x="4" y="5"/>
                  </a:cubicBezTo>
                  <a:cubicBezTo>
                    <a:pt x="4" y="6"/>
                    <a:pt x="4" y="7"/>
                    <a:pt x="3" y="7"/>
                  </a:cubicBezTo>
                  <a:cubicBezTo>
                    <a:pt x="3" y="8"/>
                    <a:pt x="3" y="8"/>
                    <a:pt x="3" y="8"/>
                  </a:cubicBezTo>
                  <a:cubicBezTo>
                    <a:pt x="3" y="8"/>
                    <a:pt x="3" y="8"/>
                    <a:pt x="3" y="8"/>
                  </a:cubicBezTo>
                  <a:cubicBezTo>
                    <a:pt x="3" y="8"/>
                    <a:pt x="2" y="9"/>
                    <a:pt x="2" y="9"/>
                  </a:cubicBezTo>
                  <a:cubicBezTo>
                    <a:pt x="1" y="11"/>
                    <a:pt x="0" y="12"/>
                    <a:pt x="0" y="14"/>
                  </a:cubicBezTo>
                  <a:cubicBezTo>
                    <a:pt x="1" y="14"/>
                    <a:pt x="2" y="15"/>
                    <a:pt x="2" y="15"/>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54" name="Freeform 140"/>
            <p:cNvSpPr/>
            <p:nvPr userDrawn="1"/>
          </p:nvSpPr>
          <p:spPr bwMode="auto">
            <a:xfrm>
              <a:off x="1229" y="757"/>
              <a:ext cx="7" cy="9"/>
            </a:xfrm>
            <a:custGeom>
              <a:avLst/>
              <a:gdLst>
                <a:gd name="T0" fmla="*/ 3 w 6"/>
                <a:gd name="T1" fmla="*/ 7 h 7"/>
                <a:gd name="T2" fmla="*/ 1 w 6"/>
                <a:gd name="T3" fmla="*/ 6 h 7"/>
                <a:gd name="T4" fmla="*/ 5 w 6"/>
                <a:gd name="T5" fmla="*/ 0 h 7"/>
                <a:gd name="T6" fmla="*/ 6 w 6"/>
                <a:gd name="T7" fmla="*/ 1 h 7"/>
                <a:gd name="T8" fmla="*/ 5 w 6"/>
                <a:gd name="T9" fmla="*/ 5 h 7"/>
                <a:gd name="T10" fmla="*/ 3 w 6"/>
                <a:gd name="T11" fmla="*/ 7 h 7"/>
              </a:gdLst>
              <a:ahLst/>
              <a:cxnLst>
                <a:cxn ang="0">
                  <a:pos x="T0" y="T1"/>
                </a:cxn>
                <a:cxn ang="0">
                  <a:pos x="T2" y="T3"/>
                </a:cxn>
                <a:cxn ang="0">
                  <a:pos x="T4" y="T5"/>
                </a:cxn>
                <a:cxn ang="0">
                  <a:pos x="T6" y="T7"/>
                </a:cxn>
                <a:cxn ang="0">
                  <a:pos x="T8" y="T9"/>
                </a:cxn>
                <a:cxn ang="0">
                  <a:pos x="T10" y="T11"/>
                </a:cxn>
              </a:cxnLst>
              <a:rect l="0" t="0" r="r" b="b"/>
              <a:pathLst>
                <a:path w="6" h="7">
                  <a:moveTo>
                    <a:pt x="3" y="7"/>
                  </a:moveTo>
                  <a:cubicBezTo>
                    <a:pt x="3" y="7"/>
                    <a:pt x="2" y="6"/>
                    <a:pt x="1" y="6"/>
                  </a:cubicBezTo>
                  <a:cubicBezTo>
                    <a:pt x="0" y="3"/>
                    <a:pt x="4" y="0"/>
                    <a:pt x="5" y="0"/>
                  </a:cubicBezTo>
                  <a:cubicBezTo>
                    <a:pt x="5" y="0"/>
                    <a:pt x="6" y="1"/>
                    <a:pt x="6" y="1"/>
                  </a:cubicBezTo>
                  <a:cubicBezTo>
                    <a:pt x="6" y="2"/>
                    <a:pt x="6" y="4"/>
                    <a:pt x="5" y="5"/>
                  </a:cubicBezTo>
                  <a:cubicBezTo>
                    <a:pt x="4" y="6"/>
                    <a:pt x="3" y="7"/>
                    <a:pt x="3" y="7"/>
                  </a:cubicBez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55" name="Freeform 141"/>
            <p:cNvSpPr/>
            <p:nvPr userDrawn="1"/>
          </p:nvSpPr>
          <p:spPr bwMode="auto">
            <a:xfrm>
              <a:off x="1229" y="757"/>
              <a:ext cx="7" cy="9"/>
            </a:xfrm>
            <a:custGeom>
              <a:avLst/>
              <a:gdLst>
                <a:gd name="T0" fmla="*/ 3 w 6"/>
                <a:gd name="T1" fmla="*/ 7 h 7"/>
                <a:gd name="T2" fmla="*/ 3 w 6"/>
                <a:gd name="T3" fmla="*/ 7 h 7"/>
                <a:gd name="T4" fmla="*/ 5 w 6"/>
                <a:gd name="T5" fmla="*/ 5 h 7"/>
                <a:gd name="T6" fmla="*/ 6 w 6"/>
                <a:gd name="T7" fmla="*/ 1 h 7"/>
                <a:gd name="T8" fmla="*/ 5 w 6"/>
                <a:gd name="T9" fmla="*/ 0 h 7"/>
                <a:gd name="T10" fmla="*/ 1 w 6"/>
                <a:gd name="T11" fmla="*/ 6 h 7"/>
                <a:gd name="T12" fmla="*/ 3 w 6"/>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6" h="7">
                  <a:moveTo>
                    <a:pt x="3" y="7"/>
                  </a:moveTo>
                  <a:cubicBezTo>
                    <a:pt x="3" y="7"/>
                    <a:pt x="3" y="7"/>
                    <a:pt x="3" y="7"/>
                  </a:cubicBezTo>
                  <a:cubicBezTo>
                    <a:pt x="3" y="7"/>
                    <a:pt x="4" y="6"/>
                    <a:pt x="5" y="5"/>
                  </a:cubicBezTo>
                  <a:cubicBezTo>
                    <a:pt x="6" y="4"/>
                    <a:pt x="6" y="2"/>
                    <a:pt x="6" y="1"/>
                  </a:cubicBezTo>
                  <a:cubicBezTo>
                    <a:pt x="6" y="1"/>
                    <a:pt x="5" y="0"/>
                    <a:pt x="5" y="0"/>
                  </a:cubicBezTo>
                  <a:cubicBezTo>
                    <a:pt x="4" y="0"/>
                    <a:pt x="0" y="3"/>
                    <a:pt x="1" y="6"/>
                  </a:cubicBezTo>
                  <a:cubicBezTo>
                    <a:pt x="2" y="6"/>
                    <a:pt x="3" y="7"/>
                    <a:pt x="3" y="7"/>
                  </a:cubicBezTo>
                </a:path>
              </a:pathLst>
            </a:custGeom>
            <a:solidFill>
              <a:srgbClr val="003F88"/>
            </a:solidFill>
            <a:ln>
              <a:noFill/>
            </a:ln>
          </p:spPr>
          <p:txBody>
            <a:bodyPr vert="horz" wrap="square" lIns="91440" tIns="45720" rIns="91440" bIns="45720" numCol="1" anchor="t" anchorCtr="0" compatLnSpc="1"/>
            <a:lstStyle/>
            <a:p>
              <a:endParaRPr lang="zh-CN" altLang="en-US"/>
            </a:p>
          </p:txBody>
        </p:sp>
      </p:grpSp>
      <p:sp>
        <p:nvSpPr>
          <p:cNvPr id="7" name="文本框 6"/>
          <p:cNvSpPr txBox="1"/>
          <p:nvPr userDrawn="1"/>
        </p:nvSpPr>
        <p:spPr>
          <a:xfrm>
            <a:off x="1511922" y="2249299"/>
            <a:ext cx="3228772" cy="840230"/>
          </a:xfrm>
          <a:prstGeom prst="rect">
            <a:avLst/>
          </a:prstGeom>
        </p:spPr>
        <p:txBody>
          <a:bodyPr vert="horz" lIns="0" tIns="45720" rIns="0" bIns="45720" rtlCol="0" anchor="ctr">
            <a:normAutofit fontScale="77500" lnSpcReduction="20000"/>
          </a:bodyPr>
          <a:lstStyle>
            <a:lvl1pPr>
              <a:lnSpc>
                <a:spcPct val="90000"/>
              </a:lnSpc>
              <a:spcBef>
                <a:spcPct val="0"/>
              </a:spcBef>
              <a:buNone/>
              <a:defRPr sz="5400" b="1">
                <a:solidFill>
                  <a:schemeClr val="tx1">
                    <a:lumMod val="75000"/>
                    <a:lumOff val="25000"/>
                  </a:schemeClr>
                </a:solidFill>
                <a:latin typeface="+mj-lt"/>
                <a:ea typeface="+mj-ea"/>
                <a:cs typeface="+mj-cs"/>
              </a:defRPr>
            </a:lvl1pPr>
          </a:lstStyle>
          <a:p>
            <a:pPr lvl="0"/>
            <a:r>
              <a:rPr lang="zh-CN" altLang="en-US" sz="5400" b="1" kern="1200" dirty="0">
                <a:solidFill>
                  <a:schemeClr val="tx1">
                    <a:lumMod val="75000"/>
                    <a:lumOff val="25000"/>
                  </a:schemeClr>
                </a:solidFill>
                <a:latin typeface="方正粗雅宋简体" panose="02000000000000000000" pitchFamily="2" charset="-122"/>
                <a:ea typeface="方正粗雅宋简体" panose="02000000000000000000" pitchFamily="2" charset="-122"/>
                <a:cs typeface="+mj-cs"/>
              </a:rPr>
              <a:t>感谢老师们的</a:t>
            </a:r>
          </a:p>
        </p:txBody>
      </p:sp>
      <p:sp>
        <p:nvSpPr>
          <p:cNvPr id="156" name="文本框 155"/>
          <p:cNvSpPr txBox="1"/>
          <p:nvPr userDrawn="1"/>
        </p:nvSpPr>
        <p:spPr>
          <a:xfrm>
            <a:off x="1511922" y="2954420"/>
            <a:ext cx="2489551" cy="840230"/>
          </a:xfrm>
          <a:prstGeom prst="rect">
            <a:avLst/>
          </a:prstGeom>
        </p:spPr>
        <p:txBody>
          <a:bodyPr vert="horz" lIns="0" tIns="45720" rIns="0" bIns="45720" rtlCol="0" anchor="ctr">
            <a:normAutofit/>
          </a:bodyPr>
          <a:lstStyle>
            <a:lvl1pPr>
              <a:lnSpc>
                <a:spcPct val="90000"/>
              </a:lnSpc>
              <a:spcBef>
                <a:spcPct val="0"/>
              </a:spcBef>
              <a:buNone/>
              <a:defRPr sz="5400" b="1">
                <a:solidFill>
                  <a:schemeClr val="tx1">
                    <a:lumMod val="75000"/>
                    <a:lumOff val="25000"/>
                  </a:schemeClr>
                </a:solidFill>
                <a:latin typeface="+mj-lt"/>
                <a:ea typeface="+mj-ea"/>
                <a:cs typeface="+mj-cs"/>
              </a:defRPr>
            </a:lvl1pPr>
          </a:lstStyle>
          <a:p>
            <a:pPr lvl="0"/>
            <a:r>
              <a:rPr lang="zh-CN" altLang="en-US" sz="3600" b="1" kern="1200" dirty="0">
                <a:solidFill>
                  <a:srgbClr val="04428A"/>
                </a:solidFill>
                <a:latin typeface="方正粗雅宋简体" panose="02000000000000000000" pitchFamily="2" charset="-122"/>
                <a:ea typeface="方正粗雅宋简体" panose="02000000000000000000" pitchFamily="2" charset="-122"/>
                <a:cs typeface="+mn-cs"/>
              </a:rPr>
              <a:t>悉心指导</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380607" y="228330"/>
            <a:ext cx="11583196" cy="762064"/>
          </a:xfrm>
          <a:prstGeom prst="rect">
            <a:avLst/>
          </a:prstGeom>
        </p:spPr>
        <p:txBody>
          <a:bodyPr>
            <a:normAutofit/>
          </a:bodyPr>
          <a:lstStyle>
            <a:lvl1pPr algn="ctr">
              <a:defRPr sz="3810" b="1">
                <a:solidFill>
                  <a:schemeClr val="tx1"/>
                </a:solidFill>
                <a:latin typeface="微软雅黑" panose="020B0503020204020204" charset="-122"/>
                <a:ea typeface="微软雅黑" panose="020B0503020204020204" charset="-122"/>
                <a:cs typeface="微软雅黑" panose="020B050302020402020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380608" y="1066601"/>
            <a:ext cx="11583195" cy="5110362"/>
          </a:xfrm>
        </p:spPr>
        <p:txBody>
          <a:bodyPr>
            <a:normAutofit/>
          </a:bodyPr>
          <a:lstStyle>
            <a:lvl1pPr>
              <a:lnSpc>
                <a:spcPct val="130000"/>
              </a:lnSpc>
              <a:defRPr sz="2115">
                <a:solidFill>
                  <a:schemeClr val="tx1">
                    <a:lumMod val="65000"/>
                    <a:lumOff val="35000"/>
                  </a:schemeClr>
                </a:solidFill>
                <a:latin typeface="微软雅黑" panose="020B0503020204020204" charset="-122"/>
                <a:ea typeface="微软雅黑" panose="020B0503020204020204" charset="-122"/>
                <a:cs typeface="微软雅黑" panose="020B0503020204020204" charset="-122"/>
              </a:defRPr>
            </a:lvl1pPr>
            <a:lvl2pPr>
              <a:lnSpc>
                <a:spcPct val="130000"/>
              </a:lnSpc>
              <a:defRPr sz="1905">
                <a:solidFill>
                  <a:schemeClr val="tx1">
                    <a:lumMod val="65000"/>
                    <a:lumOff val="35000"/>
                  </a:schemeClr>
                </a:solidFill>
                <a:latin typeface="微软雅黑" panose="020B0503020204020204" charset="-122"/>
                <a:ea typeface="微软雅黑" panose="020B0503020204020204" charset="-122"/>
                <a:cs typeface="微软雅黑" panose="020B0503020204020204" charset="-122"/>
              </a:defRPr>
            </a:lvl2pPr>
            <a:lvl3pPr>
              <a:lnSpc>
                <a:spcPct val="130000"/>
              </a:lnSpc>
              <a:defRPr sz="1695">
                <a:solidFill>
                  <a:schemeClr val="tx1">
                    <a:lumMod val="65000"/>
                    <a:lumOff val="35000"/>
                  </a:schemeClr>
                </a:solidFill>
                <a:latin typeface="微软雅黑" panose="020B0503020204020204" charset="-122"/>
                <a:ea typeface="微软雅黑" panose="020B0503020204020204" charset="-122"/>
                <a:cs typeface="微软雅黑" panose="020B0503020204020204" charset="-122"/>
              </a:defRPr>
            </a:lvl3pPr>
            <a:lvl4pPr>
              <a:lnSpc>
                <a:spcPct val="130000"/>
              </a:lnSpc>
              <a:defRPr sz="148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defRPr>
            </a:lvl4pPr>
            <a:lvl5pPr>
              <a:lnSpc>
                <a:spcPct val="130000"/>
              </a:lnSpc>
              <a:defRPr sz="148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t>2026/5/22</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t>‹#›</a:t>
            </a:fld>
            <a:endParaRPr lang="zh-CN" altLang="en-US">
              <a:solidFill>
                <a:prstClr val="black">
                  <a:tint val="75000"/>
                </a:prstClr>
              </a:solidFill>
            </a:endParaRPr>
          </a:p>
        </p:txBody>
      </p:sp>
      <p:cxnSp>
        <p:nvCxnSpPr>
          <p:cNvPr id="7" name="直接连接符 9"/>
          <p:cNvCxnSpPr/>
          <p:nvPr userDrawn="1"/>
        </p:nvCxnSpPr>
        <p:spPr>
          <a:xfrm>
            <a:off x="4000356" y="914188"/>
            <a:ext cx="4191288" cy="0"/>
          </a:xfrm>
          <a:prstGeom prst="line">
            <a:avLst/>
          </a:prstGeom>
          <a:ln w="19050">
            <a:solidFill>
              <a:schemeClr val="bg1">
                <a:lumMod val="75000"/>
              </a:schemeClr>
            </a:solidFill>
          </a:ln>
        </p:spPr>
        <p:style>
          <a:lnRef idx="1">
            <a:schemeClr val="dk1"/>
          </a:lnRef>
          <a:fillRef idx="0">
            <a:schemeClr val="dk1"/>
          </a:fillRef>
          <a:effectRef idx="0">
            <a:schemeClr val="dk1"/>
          </a:effectRef>
          <a:fontRef idx="minor">
            <a:schemeClr val="tx1"/>
          </a:fontRef>
        </p:style>
      </p:cxnSp>
      <p:pic>
        <p:nvPicPr>
          <p:cNvPr id="11" name="Picture 2" descr="浙江大學- 維基百科，自由的百科全書"/>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429948" y="1"/>
            <a:ext cx="762052" cy="76206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Oppo Logo and symbol, meaning, history, PNG, brand"/>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227904" y="1"/>
            <a:ext cx="1753014" cy="84137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
        <p:nvSpPr>
          <p:cNvPr id="81" name="副标题 2"/>
          <p:cNvSpPr txBox="1"/>
          <p:nvPr userDrawn="1"/>
        </p:nvSpPr>
        <p:spPr>
          <a:xfrm>
            <a:off x="1515340" y="3841753"/>
            <a:ext cx="3231227" cy="617036"/>
          </a:xfrm>
          <a:prstGeom prst="rect">
            <a:avLst/>
          </a:prstGeom>
        </p:spPr>
        <p:txBody>
          <a:bodyPr vert="horz" lIns="0" tIns="45720" rIns="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rgbClr val="04428A"/>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dist"/>
            <a:endParaRPr lang="zh-CN" altLang="zh-CN" sz="1200" b="1" kern="1200" dirty="0">
              <a:solidFill>
                <a:schemeClr val="tx1">
                  <a:lumMod val="75000"/>
                  <a:lumOff val="25000"/>
                </a:schemeClr>
              </a:solidFill>
              <a:effectLst/>
              <a:latin typeface="+mn-lt"/>
              <a:ea typeface="+mn-ea"/>
              <a:cs typeface="+mn-cs"/>
            </a:endParaRPr>
          </a:p>
        </p:txBody>
      </p:sp>
      <p:grpSp>
        <p:nvGrpSpPr>
          <p:cNvPr id="87" name="Group 74"/>
          <p:cNvGrpSpPr>
            <a:grpSpLocks noChangeAspect="1"/>
          </p:cNvGrpSpPr>
          <p:nvPr userDrawn="1"/>
        </p:nvGrpSpPr>
        <p:grpSpPr bwMode="auto">
          <a:xfrm>
            <a:off x="1514476" y="1047750"/>
            <a:ext cx="2014537" cy="560387"/>
            <a:chOff x="954" y="660"/>
            <a:chExt cx="1269" cy="353"/>
          </a:xfrm>
        </p:grpSpPr>
        <p:sp>
          <p:nvSpPr>
            <p:cNvPr id="89" name="Freeform 75"/>
            <p:cNvSpPr/>
            <p:nvPr userDrawn="1"/>
          </p:nvSpPr>
          <p:spPr bwMode="auto">
            <a:xfrm>
              <a:off x="1968" y="833"/>
              <a:ext cx="45" cy="46"/>
            </a:xfrm>
            <a:custGeom>
              <a:avLst/>
              <a:gdLst>
                <a:gd name="T0" fmla="*/ 10 w 36"/>
                <a:gd name="T1" fmla="*/ 35 h 37"/>
                <a:gd name="T2" fmla="*/ 6 w 36"/>
                <a:gd name="T3" fmla="*/ 25 h 37"/>
                <a:gd name="T4" fmla="*/ 0 w 36"/>
                <a:gd name="T5" fmla="*/ 11 h 37"/>
                <a:gd name="T6" fmla="*/ 23 w 36"/>
                <a:gd name="T7" fmla="*/ 4 h 37"/>
                <a:gd name="T8" fmla="*/ 28 w 36"/>
                <a:gd name="T9" fmla="*/ 9 h 37"/>
                <a:gd name="T10" fmla="*/ 30 w 36"/>
                <a:gd name="T11" fmla="*/ 29 h 37"/>
                <a:gd name="T12" fmla="*/ 10 w 36"/>
                <a:gd name="T13" fmla="*/ 35 h 37"/>
              </a:gdLst>
              <a:ahLst/>
              <a:cxnLst>
                <a:cxn ang="0">
                  <a:pos x="T0" y="T1"/>
                </a:cxn>
                <a:cxn ang="0">
                  <a:pos x="T2" y="T3"/>
                </a:cxn>
                <a:cxn ang="0">
                  <a:pos x="T4" y="T5"/>
                </a:cxn>
                <a:cxn ang="0">
                  <a:pos x="T6" y="T7"/>
                </a:cxn>
                <a:cxn ang="0">
                  <a:pos x="T8" y="T9"/>
                </a:cxn>
                <a:cxn ang="0">
                  <a:pos x="T10" y="T11"/>
                </a:cxn>
                <a:cxn ang="0">
                  <a:pos x="T12" y="T13"/>
                </a:cxn>
              </a:cxnLst>
              <a:rect l="0" t="0" r="r" b="b"/>
              <a:pathLst>
                <a:path w="36" h="37">
                  <a:moveTo>
                    <a:pt x="10" y="35"/>
                  </a:moveTo>
                  <a:cubicBezTo>
                    <a:pt x="3" y="34"/>
                    <a:pt x="7" y="31"/>
                    <a:pt x="6" y="25"/>
                  </a:cubicBezTo>
                  <a:cubicBezTo>
                    <a:pt x="5" y="20"/>
                    <a:pt x="0" y="14"/>
                    <a:pt x="0" y="11"/>
                  </a:cubicBezTo>
                  <a:cubicBezTo>
                    <a:pt x="1" y="0"/>
                    <a:pt x="15" y="0"/>
                    <a:pt x="23" y="4"/>
                  </a:cubicBezTo>
                  <a:cubicBezTo>
                    <a:pt x="25" y="4"/>
                    <a:pt x="26" y="7"/>
                    <a:pt x="28" y="9"/>
                  </a:cubicBezTo>
                  <a:cubicBezTo>
                    <a:pt x="32" y="14"/>
                    <a:pt x="36" y="23"/>
                    <a:pt x="30" y="29"/>
                  </a:cubicBezTo>
                  <a:cubicBezTo>
                    <a:pt x="25" y="34"/>
                    <a:pt x="17" y="37"/>
                    <a:pt x="10" y="35"/>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0" name="Freeform 76"/>
            <p:cNvSpPr/>
            <p:nvPr userDrawn="1"/>
          </p:nvSpPr>
          <p:spPr bwMode="auto">
            <a:xfrm>
              <a:off x="1837" y="698"/>
              <a:ext cx="160" cy="165"/>
            </a:xfrm>
            <a:custGeom>
              <a:avLst/>
              <a:gdLst>
                <a:gd name="T0" fmla="*/ 33 w 129"/>
                <a:gd name="T1" fmla="*/ 133 h 133"/>
                <a:gd name="T2" fmla="*/ 32 w 129"/>
                <a:gd name="T3" fmla="*/ 133 h 133"/>
                <a:gd name="T4" fmla="*/ 33 w 129"/>
                <a:gd name="T5" fmla="*/ 130 h 133"/>
                <a:gd name="T6" fmla="*/ 55 w 129"/>
                <a:gd name="T7" fmla="*/ 116 h 133"/>
                <a:gd name="T8" fmla="*/ 67 w 129"/>
                <a:gd name="T9" fmla="*/ 99 h 133"/>
                <a:gd name="T10" fmla="*/ 25 w 129"/>
                <a:gd name="T11" fmla="*/ 115 h 133"/>
                <a:gd name="T12" fmla="*/ 8 w 129"/>
                <a:gd name="T13" fmla="*/ 108 h 133"/>
                <a:gd name="T14" fmla="*/ 8 w 129"/>
                <a:gd name="T15" fmla="*/ 107 h 133"/>
                <a:gd name="T16" fmla="*/ 8 w 129"/>
                <a:gd name="T17" fmla="*/ 92 h 133"/>
                <a:gd name="T18" fmla="*/ 60 w 129"/>
                <a:gd name="T19" fmla="*/ 80 h 133"/>
                <a:gd name="T20" fmla="*/ 75 w 129"/>
                <a:gd name="T21" fmla="*/ 72 h 133"/>
                <a:gd name="T22" fmla="*/ 77 w 129"/>
                <a:gd name="T23" fmla="*/ 14 h 133"/>
                <a:gd name="T24" fmla="*/ 99 w 129"/>
                <a:gd name="T25" fmla="*/ 16 h 133"/>
                <a:gd name="T26" fmla="*/ 103 w 129"/>
                <a:gd name="T27" fmla="*/ 21 h 133"/>
                <a:gd name="T28" fmla="*/ 104 w 129"/>
                <a:gd name="T29" fmla="*/ 21 h 133"/>
                <a:gd name="T30" fmla="*/ 103 w 129"/>
                <a:gd name="T31" fmla="*/ 35 h 133"/>
                <a:gd name="T32" fmla="*/ 98 w 129"/>
                <a:gd name="T33" fmla="*/ 65 h 133"/>
                <a:gd name="T34" fmla="*/ 126 w 129"/>
                <a:gd name="T35" fmla="*/ 54 h 133"/>
                <a:gd name="T36" fmla="*/ 123 w 129"/>
                <a:gd name="T37" fmla="*/ 69 h 133"/>
                <a:gd name="T38" fmla="*/ 95 w 129"/>
                <a:gd name="T39" fmla="*/ 81 h 133"/>
                <a:gd name="T40" fmla="*/ 82 w 129"/>
                <a:gd name="T41" fmla="*/ 111 h 133"/>
                <a:gd name="T42" fmla="*/ 75 w 129"/>
                <a:gd name="T43" fmla="*/ 118 h 133"/>
                <a:gd name="T44" fmla="*/ 56 w 129"/>
                <a:gd name="T45" fmla="*/ 128 h 133"/>
                <a:gd name="T46" fmla="*/ 33 w 129"/>
                <a:gd name="T47" fmla="*/ 13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9" h="133">
                  <a:moveTo>
                    <a:pt x="33" y="133"/>
                  </a:moveTo>
                  <a:cubicBezTo>
                    <a:pt x="33" y="133"/>
                    <a:pt x="33" y="133"/>
                    <a:pt x="32" y="133"/>
                  </a:cubicBezTo>
                  <a:cubicBezTo>
                    <a:pt x="32" y="132"/>
                    <a:pt x="32" y="131"/>
                    <a:pt x="33" y="130"/>
                  </a:cubicBezTo>
                  <a:cubicBezTo>
                    <a:pt x="35" y="130"/>
                    <a:pt x="55" y="117"/>
                    <a:pt x="55" y="116"/>
                  </a:cubicBezTo>
                  <a:cubicBezTo>
                    <a:pt x="60" y="111"/>
                    <a:pt x="66" y="106"/>
                    <a:pt x="67" y="99"/>
                  </a:cubicBezTo>
                  <a:cubicBezTo>
                    <a:pt x="53" y="104"/>
                    <a:pt x="40" y="114"/>
                    <a:pt x="25" y="115"/>
                  </a:cubicBezTo>
                  <a:cubicBezTo>
                    <a:pt x="18" y="113"/>
                    <a:pt x="13" y="110"/>
                    <a:pt x="8" y="108"/>
                  </a:cubicBezTo>
                  <a:cubicBezTo>
                    <a:pt x="8" y="107"/>
                    <a:pt x="8" y="107"/>
                    <a:pt x="8" y="107"/>
                  </a:cubicBezTo>
                  <a:cubicBezTo>
                    <a:pt x="1" y="102"/>
                    <a:pt x="0" y="95"/>
                    <a:pt x="8" y="92"/>
                  </a:cubicBezTo>
                  <a:cubicBezTo>
                    <a:pt x="23" y="96"/>
                    <a:pt x="46" y="85"/>
                    <a:pt x="60" y="80"/>
                  </a:cubicBezTo>
                  <a:cubicBezTo>
                    <a:pt x="63" y="78"/>
                    <a:pt x="72" y="75"/>
                    <a:pt x="75" y="72"/>
                  </a:cubicBezTo>
                  <a:cubicBezTo>
                    <a:pt x="78" y="52"/>
                    <a:pt x="76" y="33"/>
                    <a:pt x="77" y="14"/>
                  </a:cubicBezTo>
                  <a:cubicBezTo>
                    <a:pt x="82" y="0"/>
                    <a:pt x="90" y="10"/>
                    <a:pt x="99" y="16"/>
                  </a:cubicBezTo>
                  <a:cubicBezTo>
                    <a:pt x="99" y="18"/>
                    <a:pt x="101" y="19"/>
                    <a:pt x="103" y="21"/>
                  </a:cubicBezTo>
                  <a:cubicBezTo>
                    <a:pt x="103" y="21"/>
                    <a:pt x="103" y="21"/>
                    <a:pt x="104" y="21"/>
                  </a:cubicBezTo>
                  <a:cubicBezTo>
                    <a:pt x="107" y="27"/>
                    <a:pt x="108" y="30"/>
                    <a:pt x="103" y="35"/>
                  </a:cubicBezTo>
                  <a:cubicBezTo>
                    <a:pt x="99" y="44"/>
                    <a:pt x="97" y="54"/>
                    <a:pt x="98" y="65"/>
                  </a:cubicBezTo>
                  <a:cubicBezTo>
                    <a:pt x="108" y="63"/>
                    <a:pt x="114" y="55"/>
                    <a:pt x="126" y="54"/>
                  </a:cubicBezTo>
                  <a:cubicBezTo>
                    <a:pt x="129" y="60"/>
                    <a:pt x="128" y="65"/>
                    <a:pt x="123" y="69"/>
                  </a:cubicBezTo>
                  <a:cubicBezTo>
                    <a:pt x="114" y="73"/>
                    <a:pt x="105" y="77"/>
                    <a:pt x="95" y="81"/>
                  </a:cubicBezTo>
                  <a:cubicBezTo>
                    <a:pt x="93" y="91"/>
                    <a:pt x="89" y="103"/>
                    <a:pt x="82" y="111"/>
                  </a:cubicBezTo>
                  <a:cubicBezTo>
                    <a:pt x="81" y="113"/>
                    <a:pt x="76" y="117"/>
                    <a:pt x="75" y="118"/>
                  </a:cubicBezTo>
                  <a:cubicBezTo>
                    <a:pt x="69" y="122"/>
                    <a:pt x="63" y="126"/>
                    <a:pt x="56" y="128"/>
                  </a:cubicBezTo>
                  <a:cubicBezTo>
                    <a:pt x="37" y="133"/>
                    <a:pt x="37" y="133"/>
                    <a:pt x="33" y="133"/>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1" name="Freeform 77"/>
            <p:cNvSpPr/>
            <p:nvPr userDrawn="1"/>
          </p:nvSpPr>
          <p:spPr bwMode="auto">
            <a:xfrm>
              <a:off x="1630" y="796"/>
              <a:ext cx="94" cy="110"/>
            </a:xfrm>
            <a:custGeom>
              <a:avLst/>
              <a:gdLst>
                <a:gd name="T0" fmla="*/ 17 w 76"/>
                <a:gd name="T1" fmla="*/ 88 h 88"/>
                <a:gd name="T2" fmla="*/ 0 w 76"/>
                <a:gd name="T3" fmla="*/ 70 h 88"/>
                <a:gd name="T4" fmla="*/ 2 w 76"/>
                <a:gd name="T5" fmla="*/ 65 h 88"/>
                <a:gd name="T6" fmla="*/ 50 w 76"/>
                <a:gd name="T7" fmla="*/ 26 h 88"/>
                <a:gd name="T8" fmla="*/ 65 w 76"/>
                <a:gd name="T9" fmla="*/ 5 h 88"/>
                <a:gd name="T10" fmla="*/ 66 w 76"/>
                <a:gd name="T11" fmla="*/ 4 h 88"/>
                <a:gd name="T12" fmla="*/ 66 w 76"/>
                <a:gd name="T13" fmla="*/ 4 h 88"/>
                <a:gd name="T14" fmla="*/ 76 w 76"/>
                <a:gd name="T15" fmla="*/ 5 h 88"/>
                <a:gd name="T16" fmla="*/ 65 w 76"/>
                <a:gd name="T17" fmla="*/ 19 h 88"/>
                <a:gd name="T18" fmla="*/ 54 w 76"/>
                <a:gd name="T19" fmla="*/ 43 h 88"/>
                <a:gd name="T20" fmla="*/ 48 w 76"/>
                <a:gd name="T21" fmla="*/ 54 h 88"/>
                <a:gd name="T22" fmla="*/ 35 w 76"/>
                <a:gd name="T23" fmla="*/ 72 h 88"/>
                <a:gd name="T24" fmla="*/ 21 w 76"/>
                <a:gd name="T25" fmla="*/ 87 h 88"/>
                <a:gd name="T26" fmla="*/ 17 w 76"/>
                <a:gd name="T27"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 h="88">
                  <a:moveTo>
                    <a:pt x="17" y="88"/>
                  </a:moveTo>
                  <a:cubicBezTo>
                    <a:pt x="10" y="84"/>
                    <a:pt x="3" y="76"/>
                    <a:pt x="0" y="70"/>
                  </a:cubicBezTo>
                  <a:cubicBezTo>
                    <a:pt x="0" y="69"/>
                    <a:pt x="1" y="67"/>
                    <a:pt x="2" y="65"/>
                  </a:cubicBezTo>
                  <a:cubicBezTo>
                    <a:pt x="18" y="52"/>
                    <a:pt x="35" y="41"/>
                    <a:pt x="50" y="26"/>
                  </a:cubicBezTo>
                  <a:cubicBezTo>
                    <a:pt x="54" y="19"/>
                    <a:pt x="60" y="12"/>
                    <a:pt x="65" y="5"/>
                  </a:cubicBezTo>
                  <a:cubicBezTo>
                    <a:pt x="65" y="5"/>
                    <a:pt x="66" y="5"/>
                    <a:pt x="66" y="4"/>
                  </a:cubicBezTo>
                  <a:cubicBezTo>
                    <a:pt x="66" y="4"/>
                    <a:pt x="66" y="4"/>
                    <a:pt x="66" y="4"/>
                  </a:cubicBezTo>
                  <a:cubicBezTo>
                    <a:pt x="70" y="0"/>
                    <a:pt x="72" y="0"/>
                    <a:pt x="76" y="5"/>
                  </a:cubicBezTo>
                  <a:cubicBezTo>
                    <a:pt x="76" y="10"/>
                    <a:pt x="68" y="14"/>
                    <a:pt x="65" y="19"/>
                  </a:cubicBezTo>
                  <a:cubicBezTo>
                    <a:pt x="62" y="27"/>
                    <a:pt x="58" y="35"/>
                    <a:pt x="54" y="43"/>
                  </a:cubicBezTo>
                  <a:cubicBezTo>
                    <a:pt x="53" y="45"/>
                    <a:pt x="53" y="45"/>
                    <a:pt x="48" y="54"/>
                  </a:cubicBezTo>
                  <a:cubicBezTo>
                    <a:pt x="43" y="57"/>
                    <a:pt x="37" y="66"/>
                    <a:pt x="35" y="72"/>
                  </a:cubicBezTo>
                  <a:cubicBezTo>
                    <a:pt x="29" y="75"/>
                    <a:pt x="27" y="84"/>
                    <a:pt x="21" y="87"/>
                  </a:cubicBezTo>
                  <a:cubicBezTo>
                    <a:pt x="19" y="87"/>
                    <a:pt x="18" y="87"/>
                    <a:pt x="17" y="88"/>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2" name="Freeform 78"/>
            <p:cNvSpPr/>
            <p:nvPr userDrawn="1"/>
          </p:nvSpPr>
          <p:spPr bwMode="auto">
            <a:xfrm>
              <a:off x="1749" y="791"/>
              <a:ext cx="53" cy="41"/>
            </a:xfrm>
            <a:custGeom>
              <a:avLst/>
              <a:gdLst>
                <a:gd name="T0" fmla="*/ 19 w 43"/>
                <a:gd name="T1" fmla="*/ 33 h 33"/>
                <a:gd name="T2" fmla="*/ 0 w 43"/>
                <a:gd name="T3" fmla="*/ 20 h 33"/>
                <a:gd name="T4" fmla="*/ 2 w 43"/>
                <a:gd name="T5" fmla="*/ 14 h 33"/>
                <a:gd name="T6" fmla="*/ 6 w 43"/>
                <a:gd name="T7" fmla="*/ 13 h 33"/>
                <a:gd name="T8" fmla="*/ 17 w 43"/>
                <a:gd name="T9" fmla="*/ 12 h 33"/>
                <a:gd name="T10" fmla="*/ 43 w 43"/>
                <a:gd name="T11" fmla="*/ 5 h 33"/>
                <a:gd name="T12" fmla="*/ 19 w 43"/>
                <a:gd name="T13" fmla="*/ 33 h 33"/>
              </a:gdLst>
              <a:ahLst/>
              <a:cxnLst>
                <a:cxn ang="0">
                  <a:pos x="T0" y="T1"/>
                </a:cxn>
                <a:cxn ang="0">
                  <a:pos x="T2" y="T3"/>
                </a:cxn>
                <a:cxn ang="0">
                  <a:pos x="T4" y="T5"/>
                </a:cxn>
                <a:cxn ang="0">
                  <a:pos x="T6" y="T7"/>
                </a:cxn>
                <a:cxn ang="0">
                  <a:pos x="T8" y="T9"/>
                </a:cxn>
                <a:cxn ang="0">
                  <a:pos x="T10" y="T11"/>
                </a:cxn>
                <a:cxn ang="0">
                  <a:pos x="T12" y="T13"/>
                </a:cxn>
              </a:cxnLst>
              <a:rect l="0" t="0" r="r" b="b"/>
              <a:pathLst>
                <a:path w="43" h="33">
                  <a:moveTo>
                    <a:pt x="19" y="33"/>
                  </a:moveTo>
                  <a:cubicBezTo>
                    <a:pt x="9" y="33"/>
                    <a:pt x="6" y="26"/>
                    <a:pt x="0" y="20"/>
                  </a:cubicBezTo>
                  <a:cubicBezTo>
                    <a:pt x="0" y="18"/>
                    <a:pt x="2" y="16"/>
                    <a:pt x="2" y="14"/>
                  </a:cubicBezTo>
                  <a:cubicBezTo>
                    <a:pt x="4" y="14"/>
                    <a:pt x="4" y="14"/>
                    <a:pt x="6" y="13"/>
                  </a:cubicBezTo>
                  <a:cubicBezTo>
                    <a:pt x="10" y="12"/>
                    <a:pt x="12" y="12"/>
                    <a:pt x="17" y="12"/>
                  </a:cubicBezTo>
                  <a:cubicBezTo>
                    <a:pt x="22" y="11"/>
                    <a:pt x="38" y="0"/>
                    <a:pt x="43" y="5"/>
                  </a:cubicBezTo>
                  <a:cubicBezTo>
                    <a:pt x="43" y="17"/>
                    <a:pt x="30" y="30"/>
                    <a:pt x="19" y="33"/>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3" name="Freeform 79"/>
            <p:cNvSpPr/>
            <p:nvPr userDrawn="1"/>
          </p:nvSpPr>
          <p:spPr bwMode="auto">
            <a:xfrm>
              <a:off x="1668" y="766"/>
              <a:ext cx="36" cy="42"/>
            </a:xfrm>
            <a:custGeom>
              <a:avLst/>
              <a:gdLst>
                <a:gd name="T0" fmla="*/ 5 w 29"/>
                <a:gd name="T1" fmla="*/ 34 h 34"/>
                <a:gd name="T2" fmla="*/ 0 w 29"/>
                <a:gd name="T3" fmla="*/ 9 h 34"/>
                <a:gd name="T4" fmla="*/ 19 w 29"/>
                <a:gd name="T5" fmla="*/ 6 h 34"/>
                <a:gd name="T6" fmla="*/ 23 w 29"/>
                <a:gd name="T7" fmla="*/ 26 h 34"/>
                <a:gd name="T8" fmla="*/ 5 w 29"/>
                <a:gd name="T9" fmla="*/ 34 h 34"/>
              </a:gdLst>
              <a:ahLst/>
              <a:cxnLst>
                <a:cxn ang="0">
                  <a:pos x="T0" y="T1"/>
                </a:cxn>
                <a:cxn ang="0">
                  <a:pos x="T2" y="T3"/>
                </a:cxn>
                <a:cxn ang="0">
                  <a:pos x="T4" y="T5"/>
                </a:cxn>
                <a:cxn ang="0">
                  <a:pos x="T6" y="T7"/>
                </a:cxn>
                <a:cxn ang="0">
                  <a:pos x="T8" y="T9"/>
                </a:cxn>
              </a:cxnLst>
              <a:rect l="0" t="0" r="r" b="b"/>
              <a:pathLst>
                <a:path w="29" h="34">
                  <a:moveTo>
                    <a:pt x="5" y="34"/>
                  </a:moveTo>
                  <a:cubicBezTo>
                    <a:pt x="1" y="30"/>
                    <a:pt x="0" y="14"/>
                    <a:pt x="0" y="9"/>
                  </a:cubicBezTo>
                  <a:cubicBezTo>
                    <a:pt x="3" y="0"/>
                    <a:pt x="12" y="0"/>
                    <a:pt x="19" y="6"/>
                  </a:cubicBezTo>
                  <a:cubicBezTo>
                    <a:pt x="25" y="14"/>
                    <a:pt x="29" y="17"/>
                    <a:pt x="23" y="26"/>
                  </a:cubicBezTo>
                  <a:cubicBezTo>
                    <a:pt x="16" y="32"/>
                    <a:pt x="13" y="32"/>
                    <a:pt x="5" y="34"/>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4" name="Freeform 80"/>
            <p:cNvSpPr/>
            <p:nvPr userDrawn="1"/>
          </p:nvSpPr>
          <p:spPr bwMode="auto">
            <a:xfrm>
              <a:off x="1748" y="739"/>
              <a:ext cx="63" cy="60"/>
            </a:xfrm>
            <a:custGeom>
              <a:avLst/>
              <a:gdLst>
                <a:gd name="T0" fmla="*/ 17 w 51"/>
                <a:gd name="T1" fmla="*/ 48 h 48"/>
                <a:gd name="T2" fmla="*/ 21 w 51"/>
                <a:gd name="T3" fmla="*/ 30 h 48"/>
                <a:gd name="T4" fmla="*/ 13 w 51"/>
                <a:gd name="T5" fmla="*/ 32 h 48"/>
                <a:gd name="T6" fmla="*/ 3 w 51"/>
                <a:gd name="T7" fmla="*/ 15 h 48"/>
                <a:gd name="T8" fmla="*/ 13 w 51"/>
                <a:gd name="T9" fmla="*/ 11 h 48"/>
                <a:gd name="T10" fmla="*/ 33 w 51"/>
                <a:gd name="T11" fmla="*/ 2 h 48"/>
                <a:gd name="T12" fmla="*/ 51 w 51"/>
                <a:gd name="T13" fmla="*/ 18 h 48"/>
                <a:gd name="T14" fmla="*/ 39 w 51"/>
                <a:gd name="T15" fmla="*/ 36 h 48"/>
                <a:gd name="T16" fmla="*/ 22 w 51"/>
                <a:gd name="T17" fmla="*/ 47 h 48"/>
                <a:gd name="T18" fmla="*/ 17 w 51"/>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 h="48">
                  <a:moveTo>
                    <a:pt x="17" y="48"/>
                  </a:moveTo>
                  <a:cubicBezTo>
                    <a:pt x="16" y="43"/>
                    <a:pt x="23" y="33"/>
                    <a:pt x="21" y="30"/>
                  </a:cubicBezTo>
                  <a:cubicBezTo>
                    <a:pt x="18" y="31"/>
                    <a:pt x="16" y="32"/>
                    <a:pt x="13" y="32"/>
                  </a:cubicBezTo>
                  <a:cubicBezTo>
                    <a:pt x="7" y="29"/>
                    <a:pt x="0" y="21"/>
                    <a:pt x="3" y="15"/>
                  </a:cubicBezTo>
                  <a:cubicBezTo>
                    <a:pt x="7" y="10"/>
                    <a:pt x="6" y="12"/>
                    <a:pt x="13" y="11"/>
                  </a:cubicBezTo>
                  <a:cubicBezTo>
                    <a:pt x="19" y="8"/>
                    <a:pt x="26" y="5"/>
                    <a:pt x="33" y="2"/>
                  </a:cubicBezTo>
                  <a:cubicBezTo>
                    <a:pt x="45" y="0"/>
                    <a:pt x="50" y="6"/>
                    <a:pt x="51" y="18"/>
                  </a:cubicBezTo>
                  <a:cubicBezTo>
                    <a:pt x="49" y="25"/>
                    <a:pt x="44" y="31"/>
                    <a:pt x="39" y="36"/>
                  </a:cubicBezTo>
                  <a:cubicBezTo>
                    <a:pt x="33" y="40"/>
                    <a:pt x="27" y="44"/>
                    <a:pt x="22" y="47"/>
                  </a:cubicBezTo>
                  <a:cubicBezTo>
                    <a:pt x="20" y="47"/>
                    <a:pt x="19" y="48"/>
                    <a:pt x="17" y="48"/>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5" name="Freeform 81"/>
            <p:cNvSpPr/>
            <p:nvPr userDrawn="1"/>
          </p:nvSpPr>
          <p:spPr bwMode="auto">
            <a:xfrm>
              <a:off x="1687" y="715"/>
              <a:ext cx="38" cy="42"/>
            </a:xfrm>
            <a:custGeom>
              <a:avLst/>
              <a:gdLst>
                <a:gd name="T0" fmla="*/ 3 w 31"/>
                <a:gd name="T1" fmla="*/ 34 h 34"/>
                <a:gd name="T2" fmla="*/ 3 w 31"/>
                <a:gd name="T3" fmla="*/ 29 h 34"/>
                <a:gd name="T4" fmla="*/ 0 w 31"/>
                <a:gd name="T5" fmla="*/ 16 h 34"/>
                <a:gd name="T6" fmla="*/ 7 w 31"/>
                <a:gd name="T7" fmla="*/ 0 h 34"/>
                <a:gd name="T8" fmla="*/ 26 w 31"/>
                <a:gd name="T9" fmla="*/ 23 h 34"/>
                <a:gd name="T10" fmla="*/ 3 w 31"/>
                <a:gd name="T11" fmla="*/ 34 h 34"/>
              </a:gdLst>
              <a:ahLst/>
              <a:cxnLst>
                <a:cxn ang="0">
                  <a:pos x="T0" y="T1"/>
                </a:cxn>
                <a:cxn ang="0">
                  <a:pos x="T2" y="T3"/>
                </a:cxn>
                <a:cxn ang="0">
                  <a:pos x="T4" y="T5"/>
                </a:cxn>
                <a:cxn ang="0">
                  <a:pos x="T6" y="T7"/>
                </a:cxn>
                <a:cxn ang="0">
                  <a:pos x="T8" y="T9"/>
                </a:cxn>
                <a:cxn ang="0">
                  <a:pos x="T10" y="T11"/>
                </a:cxn>
              </a:cxnLst>
              <a:rect l="0" t="0" r="r" b="b"/>
              <a:pathLst>
                <a:path w="31" h="34">
                  <a:moveTo>
                    <a:pt x="3" y="34"/>
                  </a:moveTo>
                  <a:cubicBezTo>
                    <a:pt x="1" y="32"/>
                    <a:pt x="2" y="31"/>
                    <a:pt x="3" y="29"/>
                  </a:cubicBezTo>
                  <a:cubicBezTo>
                    <a:pt x="3" y="24"/>
                    <a:pt x="0" y="20"/>
                    <a:pt x="0" y="16"/>
                  </a:cubicBezTo>
                  <a:cubicBezTo>
                    <a:pt x="1" y="7"/>
                    <a:pt x="0" y="4"/>
                    <a:pt x="7" y="0"/>
                  </a:cubicBezTo>
                  <a:cubicBezTo>
                    <a:pt x="12" y="3"/>
                    <a:pt x="31" y="12"/>
                    <a:pt x="26" y="23"/>
                  </a:cubicBezTo>
                  <a:cubicBezTo>
                    <a:pt x="21" y="29"/>
                    <a:pt x="11" y="33"/>
                    <a:pt x="3" y="34"/>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6" name="Freeform 82"/>
            <p:cNvSpPr/>
            <p:nvPr userDrawn="1"/>
          </p:nvSpPr>
          <p:spPr bwMode="auto">
            <a:xfrm>
              <a:off x="1365" y="728"/>
              <a:ext cx="244" cy="186"/>
            </a:xfrm>
            <a:custGeom>
              <a:avLst/>
              <a:gdLst>
                <a:gd name="T0" fmla="*/ 20 w 197"/>
                <a:gd name="T1" fmla="*/ 150 h 150"/>
                <a:gd name="T2" fmla="*/ 13 w 197"/>
                <a:gd name="T3" fmla="*/ 119 h 150"/>
                <a:gd name="T4" fmla="*/ 17 w 197"/>
                <a:gd name="T5" fmla="*/ 114 h 150"/>
                <a:gd name="T6" fmla="*/ 17 w 197"/>
                <a:gd name="T7" fmla="*/ 113 h 150"/>
                <a:gd name="T8" fmla="*/ 44 w 197"/>
                <a:gd name="T9" fmla="*/ 77 h 150"/>
                <a:gd name="T10" fmla="*/ 52 w 197"/>
                <a:gd name="T11" fmla="*/ 67 h 150"/>
                <a:gd name="T12" fmla="*/ 53 w 197"/>
                <a:gd name="T13" fmla="*/ 78 h 150"/>
                <a:gd name="T14" fmla="*/ 60 w 197"/>
                <a:gd name="T15" fmla="*/ 77 h 150"/>
                <a:gd name="T16" fmla="*/ 85 w 197"/>
                <a:gd name="T17" fmla="*/ 58 h 150"/>
                <a:gd name="T18" fmla="*/ 87 w 197"/>
                <a:gd name="T19" fmla="*/ 48 h 150"/>
                <a:gd name="T20" fmla="*/ 68 w 197"/>
                <a:gd name="T21" fmla="*/ 44 h 150"/>
                <a:gd name="T22" fmla="*/ 88 w 197"/>
                <a:gd name="T23" fmla="*/ 29 h 150"/>
                <a:gd name="T24" fmla="*/ 92 w 197"/>
                <a:gd name="T25" fmla="*/ 9 h 150"/>
                <a:gd name="T26" fmla="*/ 109 w 197"/>
                <a:gd name="T27" fmla="*/ 22 h 150"/>
                <a:gd name="T28" fmla="*/ 110 w 197"/>
                <a:gd name="T29" fmla="*/ 37 h 150"/>
                <a:gd name="T30" fmla="*/ 108 w 197"/>
                <a:gd name="T31" fmla="*/ 46 h 150"/>
                <a:gd name="T32" fmla="*/ 111 w 197"/>
                <a:gd name="T33" fmla="*/ 46 h 150"/>
                <a:gd name="T34" fmla="*/ 131 w 197"/>
                <a:gd name="T35" fmla="*/ 32 h 150"/>
                <a:gd name="T36" fmla="*/ 140 w 197"/>
                <a:gd name="T37" fmla="*/ 5 h 150"/>
                <a:gd name="T38" fmla="*/ 163 w 197"/>
                <a:gd name="T39" fmla="*/ 11 h 150"/>
                <a:gd name="T40" fmla="*/ 176 w 197"/>
                <a:gd name="T41" fmla="*/ 5 h 150"/>
                <a:gd name="T42" fmla="*/ 182 w 197"/>
                <a:gd name="T43" fmla="*/ 4 h 150"/>
                <a:gd name="T44" fmla="*/ 184 w 197"/>
                <a:gd name="T45" fmla="*/ 13 h 150"/>
                <a:gd name="T46" fmla="*/ 157 w 197"/>
                <a:gd name="T47" fmla="*/ 39 h 150"/>
                <a:gd name="T48" fmla="*/ 166 w 197"/>
                <a:gd name="T49" fmla="*/ 29 h 150"/>
                <a:gd name="T50" fmla="*/ 190 w 197"/>
                <a:gd name="T51" fmla="*/ 34 h 150"/>
                <a:gd name="T52" fmla="*/ 184 w 197"/>
                <a:gd name="T53" fmla="*/ 50 h 150"/>
                <a:gd name="T54" fmla="*/ 182 w 197"/>
                <a:gd name="T55" fmla="*/ 54 h 150"/>
                <a:gd name="T56" fmla="*/ 182 w 197"/>
                <a:gd name="T57" fmla="*/ 93 h 150"/>
                <a:gd name="T58" fmla="*/ 173 w 197"/>
                <a:gd name="T59" fmla="*/ 107 h 150"/>
                <a:gd name="T60" fmla="*/ 173 w 197"/>
                <a:gd name="T61" fmla="*/ 107 h 150"/>
                <a:gd name="T62" fmla="*/ 172 w 197"/>
                <a:gd name="T63" fmla="*/ 107 h 150"/>
                <a:gd name="T64" fmla="*/ 158 w 197"/>
                <a:gd name="T65" fmla="*/ 113 h 150"/>
                <a:gd name="T66" fmla="*/ 158 w 197"/>
                <a:gd name="T67" fmla="*/ 58 h 150"/>
                <a:gd name="T68" fmla="*/ 157 w 197"/>
                <a:gd name="T69" fmla="*/ 58 h 150"/>
                <a:gd name="T70" fmla="*/ 139 w 197"/>
                <a:gd name="T71" fmla="*/ 89 h 150"/>
                <a:gd name="T72" fmla="*/ 124 w 197"/>
                <a:gd name="T73" fmla="*/ 80 h 150"/>
                <a:gd name="T74" fmla="*/ 128 w 197"/>
                <a:gd name="T75" fmla="*/ 76 h 150"/>
                <a:gd name="T76" fmla="*/ 130 w 197"/>
                <a:gd name="T77" fmla="*/ 45 h 150"/>
                <a:gd name="T78" fmla="*/ 111 w 197"/>
                <a:gd name="T79" fmla="*/ 64 h 150"/>
                <a:gd name="T80" fmla="*/ 102 w 197"/>
                <a:gd name="T81" fmla="*/ 70 h 150"/>
                <a:gd name="T82" fmla="*/ 97 w 197"/>
                <a:gd name="T83" fmla="*/ 91 h 150"/>
                <a:gd name="T84" fmla="*/ 92 w 197"/>
                <a:gd name="T85" fmla="*/ 101 h 150"/>
                <a:gd name="T86" fmla="*/ 91 w 197"/>
                <a:gd name="T87" fmla="*/ 102 h 150"/>
                <a:gd name="T88" fmla="*/ 74 w 197"/>
                <a:gd name="T89" fmla="*/ 110 h 150"/>
                <a:gd name="T90" fmla="*/ 74 w 197"/>
                <a:gd name="T91" fmla="*/ 107 h 150"/>
                <a:gd name="T92" fmla="*/ 82 w 197"/>
                <a:gd name="T93" fmla="*/ 85 h 150"/>
                <a:gd name="T94" fmla="*/ 63 w 197"/>
                <a:gd name="T95" fmla="*/ 94 h 150"/>
                <a:gd name="T96" fmla="*/ 53 w 197"/>
                <a:gd name="T97" fmla="*/ 91 h 150"/>
                <a:gd name="T98" fmla="*/ 52 w 197"/>
                <a:gd name="T99" fmla="*/ 90 h 150"/>
                <a:gd name="T100" fmla="*/ 48 w 197"/>
                <a:gd name="T101" fmla="*/ 88 h 150"/>
                <a:gd name="T102" fmla="*/ 44 w 197"/>
                <a:gd name="T103" fmla="*/ 100 h 150"/>
                <a:gd name="T104" fmla="*/ 27 w 197"/>
                <a:gd name="T105" fmla="*/ 147 h 150"/>
                <a:gd name="T106" fmla="*/ 20 w 197"/>
                <a:gd name="T107"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7" h="150">
                  <a:moveTo>
                    <a:pt x="20" y="150"/>
                  </a:moveTo>
                  <a:cubicBezTo>
                    <a:pt x="9" y="146"/>
                    <a:pt x="0" y="124"/>
                    <a:pt x="13" y="119"/>
                  </a:cubicBezTo>
                  <a:cubicBezTo>
                    <a:pt x="13" y="117"/>
                    <a:pt x="15" y="115"/>
                    <a:pt x="17" y="114"/>
                  </a:cubicBezTo>
                  <a:cubicBezTo>
                    <a:pt x="17" y="114"/>
                    <a:pt x="17" y="113"/>
                    <a:pt x="17" y="113"/>
                  </a:cubicBezTo>
                  <a:cubicBezTo>
                    <a:pt x="27" y="103"/>
                    <a:pt x="35" y="88"/>
                    <a:pt x="44" y="77"/>
                  </a:cubicBezTo>
                  <a:cubicBezTo>
                    <a:pt x="46" y="72"/>
                    <a:pt x="47" y="68"/>
                    <a:pt x="52" y="67"/>
                  </a:cubicBezTo>
                  <a:cubicBezTo>
                    <a:pt x="55" y="69"/>
                    <a:pt x="54" y="74"/>
                    <a:pt x="53" y="78"/>
                  </a:cubicBezTo>
                  <a:cubicBezTo>
                    <a:pt x="54" y="79"/>
                    <a:pt x="58" y="78"/>
                    <a:pt x="60" y="77"/>
                  </a:cubicBezTo>
                  <a:cubicBezTo>
                    <a:pt x="68" y="71"/>
                    <a:pt x="78" y="65"/>
                    <a:pt x="85" y="58"/>
                  </a:cubicBezTo>
                  <a:cubicBezTo>
                    <a:pt x="86" y="55"/>
                    <a:pt x="86" y="52"/>
                    <a:pt x="87" y="48"/>
                  </a:cubicBezTo>
                  <a:cubicBezTo>
                    <a:pt x="81" y="50"/>
                    <a:pt x="64" y="54"/>
                    <a:pt x="68" y="44"/>
                  </a:cubicBezTo>
                  <a:cubicBezTo>
                    <a:pt x="75" y="41"/>
                    <a:pt x="84" y="36"/>
                    <a:pt x="88" y="29"/>
                  </a:cubicBezTo>
                  <a:cubicBezTo>
                    <a:pt x="90" y="22"/>
                    <a:pt x="89" y="14"/>
                    <a:pt x="92" y="9"/>
                  </a:cubicBezTo>
                  <a:cubicBezTo>
                    <a:pt x="99" y="5"/>
                    <a:pt x="108" y="14"/>
                    <a:pt x="109" y="22"/>
                  </a:cubicBezTo>
                  <a:cubicBezTo>
                    <a:pt x="112" y="27"/>
                    <a:pt x="121" y="21"/>
                    <a:pt x="110" y="37"/>
                  </a:cubicBezTo>
                  <a:cubicBezTo>
                    <a:pt x="108" y="39"/>
                    <a:pt x="108" y="42"/>
                    <a:pt x="108" y="46"/>
                  </a:cubicBezTo>
                  <a:cubicBezTo>
                    <a:pt x="109" y="46"/>
                    <a:pt x="110" y="46"/>
                    <a:pt x="111" y="46"/>
                  </a:cubicBezTo>
                  <a:cubicBezTo>
                    <a:pt x="117" y="41"/>
                    <a:pt x="124" y="36"/>
                    <a:pt x="131" y="32"/>
                  </a:cubicBezTo>
                  <a:cubicBezTo>
                    <a:pt x="133" y="22"/>
                    <a:pt x="135" y="14"/>
                    <a:pt x="140" y="5"/>
                  </a:cubicBezTo>
                  <a:cubicBezTo>
                    <a:pt x="147" y="0"/>
                    <a:pt x="156" y="5"/>
                    <a:pt x="163" y="11"/>
                  </a:cubicBezTo>
                  <a:cubicBezTo>
                    <a:pt x="168" y="11"/>
                    <a:pt x="172" y="8"/>
                    <a:pt x="176" y="5"/>
                  </a:cubicBezTo>
                  <a:cubicBezTo>
                    <a:pt x="178" y="4"/>
                    <a:pt x="178" y="4"/>
                    <a:pt x="182" y="4"/>
                  </a:cubicBezTo>
                  <a:cubicBezTo>
                    <a:pt x="183" y="7"/>
                    <a:pt x="184" y="9"/>
                    <a:pt x="184" y="13"/>
                  </a:cubicBezTo>
                  <a:cubicBezTo>
                    <a:pt x="181" y="24"/>
                    <a:pt x="151" y="27"/>
                    <a:pt x="157" y="39"/>
                  </a:cubicBezTo>
                  <a:cubicBezTo>
                    <a:pt x="162" y="39"/>
                    <a:pt x="164" y="33"/>
                    <a:pt x="166" y="29"/>
                  </a:cubicBezTo>
                  <a:cubicBezTo>
                    <a:pt x="171" y="26"/>
                    <a:pt x="184" y="30"/>
                    <a:pt x="190" y="34"/>
                  </a:cubicBezTo>
                  <a:cubicBezTo>
                    <a:pt x="197" y="42"/>
                    <a:pt x="192" y="45"/>
                    <a:pt x="184" y="50"/>
                  </a:cubicBezTo>
                  <a:cubicBezTo>
                    <a:pt x="183" y="52"/>
                    <a:pt x="183" y="53"/>
                    <a:pt x="182" y="54"/>
                  </a:cubicBezTo>
                  <a:cubicBezTo>
                    <a:pt x="181" y="70"/>
                    <a:pt x="181" y="70"/>
                    <a:pt x="182" y="93"/>
                  </a:cubicBezTo>
                  <a:cubicBezTo>
                    <a:pt x="179" y="99"/>
                    <a:pt x="177" y="102"/>
                    <a:pt x="173" y="107"/>
                  </a:cubicBezTo>
                  <a:cubicBezTo>
                    <a:pt x="173" y="107"/>
                    <a:pt x="173" y="107"/>
                    <a:pt x="173" y="107"/>
                  </a:cubicBezTo>
                  <a:cubicBezTo>
                    <a:pt x="172" y="107"/>
                    <a:pt x="172" y="107"/>
                    <a:pt x="172" y="107"/>
                  </a:cubicBezTo>
                  <a:cubicBezTo>
                    <a:pt x="169" y="112"/>
                    <a:pt x="162" y="117"/>
                    <a:pt x="158" y="113"/>
                  </a:cubicBezTo>
                  <a:cubicBezTo>
                    <a:pt x="158" y="94"/>
                    <a:pt x="159" y="75"/>
                    <a:pt x="158" y="58"/>
                  </a:cubicBezTo>
                  <a:cubicBezTo>
                    <a:pt x="158" y="58"/>
                    <a:pt x="157" y="58"/>
                    <a:pt x="157" y="58"/>
                  </a:cubicBezTo>
                  <a:cubicBezTo>
                    <a:pt x="156" y="67"/>
                    <a:pt x="147" y="84"/>
                    <a:pt x="139" y="89"/>
                  </a:cubicBezTo>
                  <a:cubicBezTo>
                    <a:pt x="132" y="90"/>
                    <a:pt x="126" y="86"/>
                    <a:pt x="124" y="80"/>
                  </a:cubicBezTo>
                  <a:cubicBezTo>
                    <a:pt x="125" y="78"/>
                    <a:pt x="126" y="77"/>
                    <a:pt x="128" y="76"/>
                  </a:cubicBezTo>
                  <a:cubicBezTo>
                    <a:pt x="132" y="68"/>
                    <a:pt x="130" y="53"/>
                    <a:pt x="130" y="45"/>
                  </a:cubicBezTo>
                  <a:cubicBezTo>
                    <a:pt x="125" y="46"/>
                    <a:pt x="115" y="59"/>
                    <a:pt x="111" y="64"/>
                  </a:cubicBezTo>
                  <a:cubicBezTo>
                    <a:pt x="108" y="66"/>
                    <a:pt x="105" y="68"/>
                    <a:pt x="102" y="70"/>
                  </a:cubicBezTo>
                  <a:cubicBezTo>
                    <a:pt x="100" y="77"/>
                    <a:pt x="98" y="84"/>
                    <a:pt x="97" y="91"/>
                  </a:cubicBezTo>
                  <a:cubicBezTo>
                    <a:pt x="95" y="95"/>
                    <a:pt x="93" y="98"/>
                    <a:pt x="92" y="101"/>
                  </a:cubicBezTo>
                  <a:cubicBezTo>
                    <a:pt x="91" y="101"/>
                    <a:pt x="91" y="101"/>
                    <a:pt x="91" y="102"/>
                  </a:cubicBezTo>
                  <a:cubicBezTo>
                    <a:pt x="88" y="106"/>
                    <a:pt x="80" y="118"/>
                    <a:pt x="74" y="110"/>
                  </a:cubicBezTo>
                  <a:cubicBezTo>
                    <a:pt x="74" y="109"/>
                    <a:pt x="74" y="108"/>
                    <a:pt x="74" y="107"/>
                  </a:cubicBezTo>
                  <a:cubicBezTo>
                    <a:pt x="79" y="101"/>
                    <a:pt x="82" y="92"/>
                    <a:pt x="82" y="85"/>
                  </a:cubicBezTo>
                  <a:cubicBezTo>
                    <a:pt x="75" y="87"/>
                    <a:pt x="70" y="94"/>
                    <a:pt x="63" y="94"/>
                  </a:cubicBezTo>
                  <a:cubicBezTo>
                    <a:pt x="59" y="93"/>
                    <a:pt x="55" y="92"/>
                    <a:pt x="53" y="91"/>
                  </a:cubicBezTo>
                  <a:cubicBezTo>
                    <a:pt x="53" y="90"/>
                    <a:pt x="53" y="90"/>
                    <a:pt x="52" y="90"/>
                  </a:cubicBezTo>
                  <a:cubicBezTo>
                    <a:pt x="51" y="89"/>
                    <a:pt x="49" y="87"/>
                    <a:pt x="48" y="88"/>
                  </a:cubicBezTo>
                  <a:cubicBezTo>
                    <a:pt x="47" y="91"/>
                    <a:pt x="45" y="96"/>
                    <a:pt x="44" y="100"/>
                  </a:cubicBezTo>
                  <a:cubicBezTo>
                    <a:pt x="37" y="115"/>
                    <a:pt x="32" y="130"/>
                    <a:pt x="27" y="147"/>
                  </a:cubicBezTo>
                  <a:cubicBezTo>
                    <a:pt x="24" y="149"/>
                    <a:pt x="23" y="150"/>
                    <a:pt x="20" y="150"/>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7" name="Freeform 83"/>
            <p:cNvSpPr/>
            <p:nvPr userDrawn="1"/>
          </p:nvSpPr>
          <p:spPr bwMode="auto">
            <a:xfrm>
              <a:off x="1401" y="757"/>
              <a:ext cx="37" cy="49"/>
            </a:xfrm>
            <a:custGeom>
              <a:avLst/>
              <a:gdLst>
                <a:gd name="T0" fmla="*/ 5 w 30"/>
                <a:gd name="T1" fmla="*/ 39 h 39"/>
                <a:gd name="T2" fmla="*/ 6 w 30"/>
                <a:gd name="T3" fmla="*/ 28 h 39"/>
                <a:gd name="T4" fmla="*/ 6 w 30"/>
                <a:gd name="T5" fmla="*/ 1 h 39"/>
                <a:gd name="T6" fmla="*/ 10 w 30"/>
                <a:gd name="T7" fmla="*/ 0 h 39"/>
                <a:gd name="T8" fmla="*/ 25 w 30"/>
                <a:gd name="T9" fmla="*/ 17 h 39"/>
                <a:gd name="T10" fmla="*/ 5 w 30"/>
                <a:gd name="T11" fmla="*/ 39 h 39"/>
              </a:gdLst>
              <a:ahLst/>
              <a:cxnLst>
                <a:cxn ang="0">
                  <a:pos x="T0" y="T1"/>
                </a:cxn>
                <a:cxn ang="0">
                  <a:pos x="T2" y="T3"/>
                </a:cxn>
                <a:cxn ang="0">
                  <a:pos x="T4" y="T5"/>
                </a:cxn>
                <a:cxn ang="0">
                  <a:pos x="T6" y="T7"/>
                </a:cxn>
                <a:cxn ang="0">
                  <a:pos x="T8" y="T9"/>
                </a:cxn>
                <a:cxn ang="0">
                  <a:pos x="T10" y="T11"/>
                </a:cxn>
              </a:cxnLst>
              <a:rect l="0" t="0" r="r" b="b"/>
              <a:pathLst>
                <a:path w="30" h="39">
                  <a:moveTo>
                    <a:pt x="5" y="39"/>
                  </a:moveTo>
                  <a:cubicBezTo>
                    <a:pt x="3" y="35"/>
                    <a:pt x="6" y="31"/>
                    <a:pt x="6" y="28"/>
                  </a:cubicBezTo>
                  <a:cubicBezTo>
                    <a:pt x="3" y="17"/>
                    <a:pt x="0" y="9"/>
                    <a:pt x="6" y="1"/>
                  </a:cubicBezTo>
                  <a:cubicBezTo>
                    <a:pt x="7" y="0"/>
                    <a:pt x="9" y="0"/>
                    <a:pt x="10" y="0"/>
                  </a:cubicBezTo>
                  <a:cubicBezTo>
                    <a:pt x="14" y="4"/>
                    <a:pt x="21" y="11"/>
                    <a:pt x="25" y="17"/>
                  </a:cubicBezTo>
                  <a:cubicBezTo>
                    <a:pt x="30" y="29"/>
                    <a:pt x="14" y="35"/>
                    <a:pt x="5" y="39"/>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8" name="Freeform 84"/>
            <p:cNvSpPr/>
            <p:nvPr userDrawn="1"/>
          </p:nvSpPr>
          <p:spPr bwMode="auto">
            <a:xfrm>
              <a:off x="1411" y="708"/>
              <a:ext cx="46" cy="47"/>
            </a:xfrm>
            <a:custGeom>
              <a:avLst/>
              <a:gdLst>
                <a:gd name="T0" fmla="*/ 7 w 37"/>
                <a:gd name="T1" fmla="*/ 38 h 38"/>
                <a:gd name="T2" fmla="*/ 4 w 37"/>
                <a:gd name="T3" fmla="*/ 36 h 38"/>
                <a:gd name="T4" fmla="*/ 6 w 37"/>
                <a:gd name="T5" fmla="*/ 29 h 38"/>
                <a:gd name="T6" fmla="*/ 11 w 37"/>
                <a:gd name="T7" fmla="*/ 0 h 38"/>
                <a:gd name="T8" fmla="*/ 16 w 37"/>
                <a:gd name="T9" fmla="*/ 7 h 38"/>
                <a:gd name="T10" fmla="*/ 24 w 37"/>
                <a:gd name="T11" fmla="*/ 32 h 38"/>
                <a:gd name="T12" fmla="*/ 7 w 37"/>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37" h="38">
                  <a:moveTo>
                    <a:pt x="7" y="38"/>
                  </a:moveTo>
                  <a:cubicBezTo>
                    <a:pt x="5" y="37"/>
                    <a:pt x="5" y="37"/>
                    <a:pt x="4" y="36"/>
                  </a:cubicBezTo>
                  <a:cubicBezTo>
                    <a:pt x="6" y="33"/>
                    <a:pt x="7" y="32"/>
                    <a:pt x="6" y="29"/>
                  </a:cubicBezTo>
                  <a:cubicBezTo>
                    <a:pt x="0" y="20"/>
                    <a:pt x="0" y="5"/>
                    <a:pt x="11" y="0"/>
                  </a:cubicBezTo>
                  <a:cubicBezTo>
                    <a:pt x="14" y="0"/>
                    <a:pt x="15" y="3"/>
                    <a:pt x="16" y="7"/>
                  </a:cubicBezTo>
                  <a:cubicBezTo>
                    <a:pt x="23" y="14"/>
                    <a:pt x="37" y="23"/>
                    <a:pt x="24" y="32"/>
                  </a:cubicBezTo>
                  <a:cubicBezTo>
                    <a:pt x="18" y="35"/>
                    <a:pt x="13" y="36"/>
                    <a:pt x="7" y="38"/>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9" name="Freeform 85"/>
            <p:cNvSpPr/>
            <p:nvPr userDrawn="1"/>
          </p:nvSpPr>
          <p:spPr bwMode="auto">
            <a:xfrm>
              <a:off x="2067" y="765"/>
              <a:ext cx="26" cy="39"/>
            </a:xfrm>
            <a:custGeom>
              <a:avLst/>
              <a:gdLst>
                <a:gd name="T0" fmla="*/ 10 w 21"/>
                <a:gd name="T1" fmla="*/ 31 h 31"/>
                <a:gd name="T2" fmla="*/ 3 w 21"/>
                <a:gd name="T3" fmla="*/ 4 h 31"/>
                <a:gd name="T4" fmla="*/ 21 w 21"/>
                <a:gd name="T5" fmla="*/ 18 h 31"/>
                <a:gd name="T6" fmla="*/ 10 w 21"/>
                <a:gd name="T7" fmla="*/ 31 h 31"/>
              </a:gdLst>
              <a:ahLst/>
              <a:cxnLst>
                <a:cxn ang="0">
                  <a:pos x="T0" y="T1"/>
                </a:cxn>
                <a:cxn ang="0">
                  <a:pos x="T2" y="T3"/>
                </a:cxn>
                <a:cxn ang="0">
                  <a:pos x="T4" y="T5"/>
                </a:cxn>
                <a:cxn ang="0">
                  <a:pos x="T6" y="T7"/>
                </a:cxn>
              </a:cxnLst>
              <a:rect l="0" t="0" r="r" b="b"/>
              <a:pathLst>
                <a:path w="21" h="31">
                  <a:moveTo>
                    <a:pt x="10" y="31"/>
                  </a:moveTo>
                  <a:cubicBezTo>
                    <a:pt x="0" y="27"/>
                    <a:pt x="2" y="11"/>
                    <a:pt x="3" y="4"/>
                  </a:cubicBezTo>
                  <a:cubicBezTo>
                    <a:pt x="11" y="0"/>
                    <a:pt x="20" y="9"/>
                    <a:pt x="21" y="18"/>
                  </a:cubicBezTo>
                  <a:cubicBezTo>
                    <a:pt x="19" y="27"/>
                    <a:pt x="19" y="29"/>
                    <a:pt x="10" y="31"/>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0" name="Freeform 86"/>
            <p:cNvSpPr>
              <a:spLocks noEditPoints="1"/>
            </p:cNvSpPr>
            <p:nvPr userDrawn="1"/>
          </p:nvSpPr>
          <p:spPr bwMode="auto">
            <a:xfrm>
              <a:off x="2057" y="673"/>
              <a:ext cx="166" cy="224"/>
            </a:xfrm>
            <a:custGeom>
              <a:avLst/>
              <a:gdLst>
                <a:gd name="T0" fmla="*/ 71 w 134"/>
                <a:gd name="T1" fmla="*/ 180 h 180"/>
                <a:gd name="T2" fmla="*/ 34 w 134"/>
                <a:gd name="T3" fmla="*/ 173 h 180"/>
                <a:gd name="T4" fmla="*/ 56 w 134"/>
                <a:gd name="T5" fmla="*/ 148 h 180"/>
                <a:gd name="T6" fmla="*/ 0 w 134"/>
                <a:gd name="T7" fmla="*/ 147 h 180"/>
                <a:gd name="T8" fmla="*/ 56 w 134"/>
                <a:gd name="T9" fmla="*/ 124 h 180"/>
                <a:gd name="T10" fmla="*/ 75 w 134"/>
                <a:gd name="T11" fmla="*/ 108 h 180"/>
                <a:gd name="T12" fmla="*/ 91 w 134"/>
                <a:gd name="T13" fmla="*/ 96 h 180"/>
                <a:gd name="T14" fmla="*/ 32 w 134"/>
                <a:gd name="T15" fmla="*/ 119 h 180"/>
                <a:gd name="T16" fmla="*/ 34 w 134"/>
                <a:gd name="T17" fmla="*/ 108 h 180"/>
                <a:gd name="T18" fmla="*/ 73 w 134"/>
                <a:gd name="T19" fmla="*/ 81 h 180"/>
                <a:gd name="T20" fmla="*/ 71 w 134"/>
                <a:gd name="T21" fmla="*/ 78 h 180"/>
                <a:gd name="T22" fmla="*/ 39 w 134"/>
                <a:gd name="T23" fmla="*/ 93 h 180"/>
                <a:gd name="T24" fmla="*/ 27 w 134"/>
                <a:gd name="T25" fmla="*/ 61 h 180"/>
                <a:gd name="T26" fmla="*/ 33 w 134"/>
                <a:gd name="T27" fmla="*/ 44 h 180"/>
                <a:gd name="T28" fmla="*/ 46 w 134"/>
                <a:gd name="T29" fmla="*/ 56 h 180"/>
                <a:gd name="T30" fmla="*/ 60 w 134"/>
                <a:gd name="T31" fmla="*/ 66 h 180"/>
                <a:gd name="T32" fmla="*/ 68 w 134"/>
                <a:gd name="T33" fmla="*/ 55 h 180"/>
                <a:gd name="T34" fmla="*/ 64 w 134"/>
                <a:gd name="T35" fmla="*/ 45 h 180"/>
                <a:gd name="T36" fmla="*/ 84 w 134"/>
                <a:gd name="T37" fmla="*/ 25 h 180"/>
                <a:gd name="T38" fmla="*/ 111 w 134"/>
                <a:gd name="T39" fmla="*/ 20 h 180"/>
                <a:gd name="T40" fmla="*/ 110 w 134"/>
                <a:gd name="T41" fmla="*/ 29 h 180"/>
                <a:gd name="T42" fmla="*/ 132 w 134"/>
                <a:gd name="T43" fmla="*/ 44 h 180"/>
                <a:gd name="T44" fmla="*/ 115 w 134"/>
                <a:gd name="T45" fmla="*/ 77 h 180"/>
                <a:gd name="T46" fmla="*/ 120 w 134"/>
                <a:gd name="T47" fmla="*/ 94 h 180"/>
                <a:gd name="T48" fmla="*/ 78 w 134"/>
                <a:gd name="T49" fmla="*/ 114 h 180"/>
                <a:gd name="T50" fmla="*/ 92 w 134"/>
                <a:gd name="T51" fmla="*/ 119 h 180"/>
                <a:gd name="T52" fmla="*/ 81 w 134"/>
                <a:gd name="T53" fmla="*/ 140 h 180"/>
                <a:gd name="T54" fmla="*/ 72 w 134"/>
                <a:gd name="T55" fmla="*/ 180 h 180"/>
                <a:gd name="T56" fmla="*/ 106 w 134"/>
                <a:gd name="T57" fmla="*/ 53 h 180"/>
                <a:gd name="T58" fmla="*/ 87 w 134"/>
                <a:gd name="T59" fmla="*/ 59 h 180"/>
                <a:gd name="T60" fmla="*/ 87 w 134"/>
                <a:gd name="T61" fmla="*/ 60 h 180"/>
                <a:gd name="T62" fmla="*/ 92 w 134"/>
                <a:gd name="T63" fmla="*/ 58 h 180"/>
                <a:gd name="T64" fmla="*/ 99 w 134"/>
                <a:gd name="T65" fmla="*/ 67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4" h="180">
                  <a:moveTo>
                    <a:pt x="72" y="180"/>
                  </a:moveTo>
                  <a:cubicBezTo>
                    <a:pt x="71" y="180"/>
                    <a:pt x="71" y="180"/>
                    <a:pt x="71" y="180"/>
                  </a:cubicBezTo>
                  <a:cubicBezTo>
                    <a:pt x="58" y="180"/>
                    <a:pt x="46" y="179"/>
                    <a:pt x="34" y="175"/>
                  </a:cubicBezTo>
                  <a:cubicBezTo>
                    <a:pt x="34" y="174"/>
                    <a:pt x="34" y="174"/>
                    <a:pt x="34" y="173"/>
                  </a:cubicBezTo>
                  <a:cubicBezTo>
                    <a:pt x="41" y="169"/>
                    <a:pt x="50" y="170"/>
                    <a:pt x="55" y="163"/>
                  </a:cubicBezTo>
                  <a:cubicBezTo>
                    <a:pt x="56" y="157"/>
                    <a:pt x="57" y="152"/>
                    <a:pt x="56" y="148"/>
                  </a:cubicBezTo>
                  <a:cubicBezTo>
                    <a:pt x="43" y="148"/>
                    <a:pt x="37" y="157"/>
                    <a:pt x="27" y="161"/>
                  </a:cubicBezTo>
                  <a:cubicBezTo>
                    <a:pt x="18" y="162"/>
                    <a:pt x="3" y="154"/>
                    <a:pt x="0" y="147"/>
                  </a:cubicBezTo>
                  <a:cubicBezTo>
                    <a:pt x="0" y="136"/>
                    <a:pt x="3" y="141"/>
                    <a:pt x="14" y="140"/>
                  </a:cubicBezTo>
                  <a:cubicBezTo>
                    <a:pt x="28" y="138"/>
                    <a:pt x="43" y="130"/>
                    <a:pt x="56" y="124"/>
                  </a:cubicBezTo>
                  <a:cubicBezTo>
                    <a:pt x="59" y="121"/>
                    <a:pt x="59" y="121"/>
                    <a:pt x="61" y="121"/>
                  </a:cubicBezTo>
                  <a:cubicBezTo>
                    <a:pt x="64" y="112"/>
                    <a:pt x="66" y="110"/>
                    <a:pt x="75" y="108"/>
                  </a:cubicBezTo>
                  <a:cubicBezTo>
                    <a:pt x="79" y="106"/>
                    <a:pt x="79" y="106"/>
                    <a:pt x="90" y="100"/>
                  </a:cubicBezTo>
                  <a:cubicBezTo>
                    <a:pt x="90" y="99"/>
                    <a:pt x="91" y="98"/>
                    <a:pt x="91" y="96"/>
                  </a:cubicBezTo>
                  <a:cubicBezTo>
                    <a:pt x="74" y="98"/>
                    <a:pt x="61" y="112"/>
                    <a:pt x="48" y="121"/>
                  </a:cubicBezTo>
                  <a:cubicBezTo>
                    <a:pt x="41" y="122"/>
                    <a:pt x="36" y="121"/>
                    <a:pt x="32" y="119"/>
                  </a:cubicBezTo>
                  <a:cubicBezTo>
                    <a:pt x="29" y="120"/>
                    <a:pt x="12" y="123"/>
                    <a:pt x="20" y="116"/>
                  </a:cubicBezTo>
                  <a:cubicBezTo>
                    <a:pt x="25" y="114"/>
                    <a:pt x="29" y="111"/>
                    <a:pt x="34" y="108"/>
                  </a:cubicBezTo>
                  <a:cubicBezTo>
                    <a:pt x="47" y="100"/>
                    <a:pt x="61" y="93"/>
                    <a:pt x="74" y="85"/>
                  </a:cubicBezTo>
                  <a:cubicBezTo>
                    <a:pt x="74" y="83"/>
                    <a:pt x="73" y="82"/>
                    <a:pt x="73" y="81"/>
                  </a:cubicBezTo>
                  <a:cubicBezTo>
                    <a:pt x="73" y="79"/>
                    <a:pt x="74" y="77"/>
                    <a:pt x="74" y="75"/>
                  </a:cubicBezTo>
                  <a:cubicBezTo>
                    <a:pt x="72" y="76"/>
                    <a:pt x="71" y="76"/>
                    <a:pt x="71" y="78"/>
                  </a:cubicBezTo>
                  <a:cubicBezTo>
                    <a:pt x="63" y="81"/>
                    <a:pt x="59" y="88"/>
                    <a:pt x="53" y="81"/>
                  </a:cubicBezTo>
                  <a:cubicBezTo>
                    <a:pt x="51" y="88"/>
                    <a:pt x="46" y="93"/>
                    <a:pt x="39" y="93"/>
                  </a:cubicBezTo>
                  <a:cubicBezTo>
                    <a:pt x="32" y="89"/>
                    <a:pt x="32" y="77"/>
                    <a:pt x="31" y="72"/>
                  </a:cubicBezTo>
                  <a:cubicBezTo>
                    <a:pt x="30" y="71"/>
                    <a:pt x="29" y="67"/>
                    <a:pt x="27" y="61"/>
                  </a:cubicBezTo>
                  <a:cubicBezTo>
                    <a:pt x="24" y="55"/>
                    <a:pt x="18" y="47"/>
                    <a:pt x="22" y="42"/>
                  </a:cubicBezTo>
                  <a:cubicBezTo>
                    <a:pt x="27" y="38"/>
                    <a:pt x="29" y="37"/>
                    <a:pt x="33" y="44"/>
                  </a:cubicBezTo>
                  <a:cubicBezTo>
                    <a:pt x="37" y="47"/>
                    <a:pt x="42" y="51"/>
                    <a:pt x="45" y="56"/>
                  </a:cubicBezTo>
                  <a:cubicBezTo>
                    <a:pt x="45" y="56"/>
                    <a:pt x="46" y="56"/>
                    <a:pt x="46" y="56"/>
                  </a:cubicBezTo>
                  <a:cubicBezTo>
                    <a:pt x="48" y="62"/>
                    <a:pt x="54" y="69"/>
                    <a:pt x="53" y="77"/>
                  </a:cubicBezTo>
                  <a:cubicBezTo>
                    <a:pt x="57" y="75"/>
                    <a:pt x="62" y="71"/>
                    <a:pt x="60" y="66"/>
                  </a:cubicBezTo>
                  <a:cubicBezTo>
                    <a:pt x="53" y="63"/>
                    <a:pt x="57" y="57"/>
                    <a:pt x="61" y="55"/>
                  </a:cubicBezTo>
                  <a:cubicBezTo>
                    <a:pt x="64" y="55"/>
                    <a:pt x="64" y="55"/>
                    <a:pt x="68" y="55"/>
                  </a:cubicBezTo>
                  <a:cubicBezTo>
                    <a:pt x="68" y="53"/>
                    <a:pt x="68" y="53"/>
                    <a:pt x="67" y="52"/>
                  </a:cubicBezTo>
                  <a:cubicBezTo>
                    <a:pt x="62" y="50"/>
                    <a:pt x="63" y="49"/>
                    <a:pt x="64" y="45"/>
                  </a:cubicBezTo>
                  <a:cubicBezTo>
                    <a:pt x="58" y="43"/>
                    <a:pt x="56" y="37"/>
                    <a:pt x="58" y="32"/>
                  </a:cubicBezTo>
                  <a:cubicBezTo>
                    <a:pt x="76" y="28"/>
                    <a:pt x="76" y="28"/>
                    <a:pt x="84" y="25"/>
                  </a:cubicBezTo>
                  <a:cubicBezTo>
                    <a:pt x="89" y="19"/>
                    <a:pt x="95" y="0"/>
                    <a:pt x="106" y="4"/>
                  </a:cubicBezTo>
                  <a:cubicBezTo>
                    <a:pt x="109" y="7"/>
                    <a:pt x="111" y="14"/>
                    <a:pt x="111" y="20"/>
                  </a:cubicBezTo>
                  <a:cubicBezTo>
                    <a:pt x="109" y="23"/>
                    <a:pt x="107" y="25"/>
                    <a:pt x="107" y="28"/>
                  </a:cubicBezTo>
                  <a:cubicBezTo>
                    <a:pt x="108" y="28"/>
                    <a:pt x="109" y="28"/>
                    <a:pt x="110" y="29"/>
                  </a:cubicBezTo>
                  <a:cubicBezTo>
                    <a:pt x="117" y="25"/>
                    <a:pt x="121" y="21"/>
                    <a:pt x="125" y="31"/>
                  </a:cubicBezTo>
                  <a:cubicBezTo>
                    <a:pt x="132" y="35"/>
                    <a:pt x="134" y="34"/>
                    <a:pt x="132" y="44"/>
                  </a:cubicBezTo>
                  <a:cubicBezTo>
                    <a:pt x="127" y="55"/>
                    <a:pt x="121" y="66"/>
                    <a:pt x="115" y="76"/>
                  </a:cubicBezTo>
                  <a:cubicBezTo>
                    <a:pt x="115" y="76"/>
                    <a:pt x="115" y="77"/>
                    <a:pt x="115" y="77"/>
                  </a:cubicBezTo>
                  <a:cubicBezTo>
                    <a:pt x="117" y="77"/>
                    <a:pt x="118" y="78"/>
                    <a:pt x="119" y="78"/>
                  </a:cubicBezTo>
                  <a:cubicBezTo>
                    <a:pt x="120" y="83"/>
                    <a:pt x="120" y="88"/>
                    <a:pt x="120" y="94"/>
                  </a:cubicBezTo>
                  <a:cubicBezTo>
                    <a:pt x="116" y="100"/>
                    <a:pt x="110" y="100"/>
                    <a:pt x="103" y="101"/>
                  </a:cubicBezTo>
                  <a:cubicBezTo>
                    <a:pt x="94" y="106"/>
                    <a:pt x="86" y="109"/>
                    <a:pt x="78" y="114"/>
                  </a:cubicBezTo>
                  <a:cubicBezTo>
                    <a:pt x="78" y="116"/>
                    <a:pt x="78" y="118"/>
                    <a:pt x="79" y="120"/>
                  </a:cubicBezTo>
                  <a:cubicBezTo>
                    <a:pt x="83" y="120"/>
                    <a:pt x="87" y="120"/>
                    <a:pt x="92" y="119"/>
                  </a:cubicBezTo>
                  <a:cubicBezTo>
                    <a:pt x="96" y="123"/>
                    <a:pt x="96" y="131"/>
                    <a:pt x="93" y="136"/>
                  </a:cubicBezTo>
                  <a:cubicBezTo>
                    <a:pt x="88" y="137"/>
                    <a:pt x="85" y="138"/>
                    <a:pt x="81" y="140"/>
                  </a:cubicBezTo>
                  <a:cubicBezTo>
                    <a:pt x="81" y="142"/>
                    <a:pt x="81" y="144"/>
                    <a:pt x="80" y="147"/>
                  </a:cubicBezTo>
                  <a:cubicBezTo>
                    <a:pt x="81" y="156"/>
                    <a:pt x="85" y="178"/>
                    <a:pt x="72" y="180"/>
                  </a:cubicBezTo>
                  <a:moveTo>
                    <a:pt x="99" y="67"/>
                  </a:moveTo>
                  <a:cubicBezTo>
                    <a:pt x="103" y="63"/>
                    <a:pt x="106" y="58"/>
                    <a:pt x="106" y="53"/>
                  </a:cubicBezTo>
                  <a:cubicBezTo>
                    <a:pt x="102" y="49"/>
                    <a:pt x="96" y="49"/>
                    <a:pt x="92" y="49"/>
                  </a:cubicBezTo>
                  <a:cubicBezTo>
                    <a:pt x="92" y="51"/>
                    <a:pt x="92" y="51"/>
                    <a:pt x="87" y="59"/>
                  </a:cubicBezTo>
                  <a:cubicBezTo>
                    <a:pt x="88" y="59"/>
                    <a:pt x="88" y="59"/>
                    <a:pt x="89" y="59"/>
                  </a:cubicBezTo>
                  <a:cubicBezTo>
                    <a:pt x="88" y="60"/>
                    <a:pt x="88" y="60"/>
                    <a:pt x="87" y="60"/>
                  </a:cubicBezTo>
                  <a:cubicBezTo>
                    <a:pt x="87" y="60"/>
                    <a:pt x="88" y="60"/>
                    <a:pt x="88" y="61"/>
                  </a:cubicBezTo>
                  <a:cubicBezTo>
                    <a:pt x="90" y="61"/>
                    <a:pt x="91" y="59"/>
                    <a:pt x="92" y="58"/>
                  </a:cubicBezTo>
                  <a:cubicBezTo>
                    <a:pt x="98" y="57"/>
                    <a:pt x="98" y="59"/>
                    <a:pt x="98" y="67"/>
                  </a:cubicBezTo>
                  <a:cubicBezTo>
                    <a:pt x="98" y="67"/>
                    <a:pt x="98" y="67"/>
                    <a:pt x="99" y="67"/>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1" name="Freeform 87"/>
            <p:cNvSpPr/>
            <p:nvPr userDrawn="1"/>
          </p:nvSpPr>
          <p:spPr bwMode="auto">
            <a:xfrm>
              <a:off x="1415" y="933"/>
              <a:ext cx="31" cy="40"/>
            </a:xfrm>
            <a:custGeom>
              <a:avLst/>
              <a:gdLst>
                <a:gd name="T0" fmla="*/ 0 w 31"/>
                <a:gd name="T1" fmla="*/ 35 h 40"/>
                <a:gd name="T2" fmla="*/ 24 w 31"/>
                <a:gd name="T3" fmla="*/ 5 h 40"/>
                <a:gd name="T4" fmla="*/ 2 w 31"/>
                <a:gd name="T5" fmla="*/ 5 h 40"/>
                <a:gd name="T6" fmla="*/ 2 w 31"/>
                <a:gd name="T7" fmla="*/ 3 h 40"/>
                <a:gd name="T8" fmla="*/ 2 w 31"/>
                <a:gd name="T9" fmla="*/ 0 h 40"/>
                <a:gd name="T10" fmla="*/ 31 w 31"/>
                <a:gd name="T11" fmla="*/ 0 h 40"/>
                <a:gd name="T12" fmla="*/ 31 w 31"/>
                <a:gd name="T13" fmla="*/ 3 h 40"/>
                <a:gd name="T14" fmla="*/ 31 w 31"/>
                <a:gd name="T15" fmla="*/ 5 h 40"/>
                <a:gd name="T16" fmla="*/ 6 w 31"/>
                <a:gd name="T17" fmla="*/ 35 h 40"/>
                <a:gd name="T18" fmla="*/ 31 w 31"/>
                <a:gd name="T19" fmla="*/ 35 h 40"/>
                <a:gd name="T20" fmla="*/ 31 w 31"/>
                <a:gd name="T21" fmla="*/ 37 h 40"/>
                <a:gd name="T22" fmla="*/ 31 w 31"/>
                <a:gd name="T23" fmla="*/ 40 h 40"/>
                <a:gd name="T24" fmla="*/ 0 w 31"/>
                <a:gd name="T25" fmla="*/ 40 h 40"/>
                <a:gd name="T26" fmla="*/ 0 w 31"/>
                <a:gd name="T27" fmla="*/ 37 h 40"/>
                <a:gd name="T28" fmla="*/ 0 w 31"/>
                <a:gd name="T29" fmla="*/ 3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0" y="35"/>
                  </a:moveTo>
                  <a:lnTo>
                    <a:pt x="24" y="5"/>
                  </a:lnTo>
                  <a:lnTo>
                    <a:pt x="2" y="5"/>
                  </a:lnTo>
                  <a:lnTo>
                    <a:pt x="2" y="3"/>
                  </a:lnTo>
                  <a:lnTo>
                    <a:pt x="2" y="0"/>
                  </a:lnTo>
                  <a:lnTo>
                    <a:pt x="31" y="0"/>
                  </a:lnTo>
                  <a:lnTo>
                    <a:pt x="31" y="3"/>
                  </a:lnTo>
                  <a:lnTo>
                    <a:pt x="31" y="5"/>
                  </a:lnTo>
                  <a:lnTo>
                    <a:pt x="6" y="35"/>
                  </a:lnTo>
                  <a:lnTo>
                    <a:pt x="31" y="35"/>
                  </a:lnTo>
                  <a:lnTo>
                    <a:pt x="31" y="37"/>
                  </a:lnTo>
                  <a:lnTo>
                    <a:pt x="31" y="40"/>
                  </a:lnTo>
                  <a:lnTo>
                    <a:pt x="0" y="40"/>
                  </a:lnTo>
                  <a:lnTo>
                    <a:pt x="0" y="37"/>
                  </a:lnTo>
                  <a:lnTo>
                    <a:pt x="0" y="35"/>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2" name="Freeform 88"/>
            <p:cNvSpPr/>
            <p:nvPr userDrawn="1"/>
          </p:nvSpPr>
          <p:spPr bwMode="auto">
            <a:xfrm>
              <a:off x="1458" y="933"/>
              <a:ext cx="31" cy="40"/>
            </a:xfrm>
            <a:custGeom>
              <a:avLst/>
              <a:gdLst>
                <a:gd name="T0" fmla="*/ 0 w 31"/>
                <a:gd name="T1" fmla="*/ 0 h 40"/>
                <a:gd name="T2" fmla="*/ 2 w 31"/>
                <a:gd name="T3" fmla="*/ 0 h 40"/>
                <a:gd name="T4" fmla="*/ 5 w 31"/>
                <a:gd name="T5" fmla="*/ 0 h 40"/>
                <a:gd name="T6" fmla="*/ 5 w 31"/>
                <a:gd name="T7" fmla="*/ 16 h 40"/>
                <a:gd name="T8" fmla="*/ 26 w 31"/>
                <a:gd name="T9" fmla="*/ 16 h 40"/>
                <a:gd name="T10" fmla="*/ 26 w 31"/>
                <a:gd name="T11" fmla="*/ 0 h 40"/>
                <a:gd name="T12" fmla="*/ 28 w 31"/>
                <a:gd name="T13" fmla="*/ 0 h 40"/>
                <a:gd name="T14" fmla="*/ 31 w 31"/>
                <a:gd name="T15" fmla="*/ 0 h 40"/>
                <a:gd name="T16" fmla="*/ 31 w 31"/>
                <a:gd name="T17" fmla="*/ 40 h 40"/>
                <a:gd name="T18" fmla="*/ 28 w 31"/>
                <a:gd name="T19" fmla="*/ 40 h 40"/>
                <a:gd name="T20" fmla="*/ 26 w 31"/>
                <a:gd name="T21" fmla="*/ 40 h 40"/>
                <a:gd name="T22" fmla="*/ 26 w 31"/>
                <a:gd name="T23" fmla="*/ 21 h 40"/>
                <a:gd name="T24" fmla="*/ 5 w 31"/>
                <a:gd name="T25" fmla="*/ 21 h 40"/>
                <a:gd name="T26" fmla="*/ 5 w 31"/>
                <a:gd name="T27" fmla="*/ 40 h 40"/>
                <a:gd name="T28" fmla="*/ 2 w 31"/>
                <a:gd name="T29" fmla="*/ 40 h 40"/>
                <a:gd name="T30" fmla="*/ 0 w 31"/>
                <a:gd name="T31" fmla="*/ 40 h 40"/>
                <a:gd name="T32" fmla="*/ 0 w 31"/>
                <a:gd name="T3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40">
                  <a:moveTo>
                    <a:pt x="0" y="0"/>
                  </a:moveTo>
                  <a:lnTo>
                    <a:pt x="2" y="0"/>
                  </a:lnTo>
                  <a:lnTo>
                    <a:pt x="5" y="0"/>
                  </a:lnTo>
                  <a:lnTo>
                    <a:pt x="5" y="16"/>
                  </a:lnTo>
                  <a:lnTo>
                    <a:pt x="26" y="16"/>
                  </a:lnTo>
                  <a:lnTo>
                    <a:pt x="26" y="0"/>
                  </a:lnTo>
                  <a:lnTo>
                    <a:pt x="28" y="0"/>
                  </a:lnTo>
                  <a:lnTo>
                    <a:pt x="31" y="0"/>
                  </a:lnTo>
                  <a:lnTo>
                    <a:pt x="31" y="40"/>
                  </a:lnTo>
                  <a:lnTo>
                    <a:pt x="28" y="40"/>
                  </a:lnTo>
                  <a:lnTo>
                    <a:pt x="26" y="40"/>
                  </a:lnTo>
                  <a:lnTo>
                    <a:pt x="26" y="21"/>
                  </a:lnTo>
                  <a:lnTo>
                    <a:pt x="5" y="21"/>
                  </a:lnTo>
                  <a:lnTo>
                    <a:pt x="5" y="40"/>
                  </a:lnTo>
                  <a:lnTo>
                    <a:pt x="2" y="40"/>
                  </a:lnTo>
                  <a:lnTo>
                    <a:pt x="0" y="40"/>
                  </a:lnTo>
                  <a:lnTo>
                    <a:pt x="0"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3" name="Freeform 89"/>
            <p:cNvSpPr/>
            <p:nvPr userDrawn="1"/>
          </p:nvSpPr>
          <p:spPr bwMode="auto">
            <a:xfrm>
              <a:off x="1503" y="933"/>
              <a:ext cx="29" cy="40"/>
            </a:xfrm>
            <a:custGeom>
              <a:avLst/>
              <a:gdLst>
                <a:gd name="T0" fmla="*/ 0 w 29"/>
                <a:gd name="T1" fmla="*/ 40 h 40"/>
                <a:gd name="T2" fmla="*/ 0 w 29"/>
                <a:gd name="T3" fmla="*/ 0 h 40"/>
                <a:gd name="T4" fmla="*/ 29 w 29"/>
                <a:gd name="T5" fmla="*/ 0 h 40"/>
                <a:gd name="T6" fmla="*/ 29 w 29"/>
                <a:gd name="T7" fmla="*/ 3 h 40"/>
                <a:gd name="T8" fmla="*/ 29 w 29"/>
                <a:gd name="T9" fmla="*/ 5 h 40"/>
                <a:gd name="T10" fmla="*/ 6 w 29"/>
                <a:gd name="T11" fmla="*/ 5 h 40"/>
                <a:gd name="T12" fmla="*/ 6 w 29"/>
                <a:gd name="T13" fmla="*/ 16 h 40"/>
                <a:gd name="T14" fmla="*/ 27 w 29"/>
                <a:gd name="T15" fmla="*/ 16 h 40"/>
                <a:gd name="T16" fmla="*/ 27 w 29"/>
                <a:gd name="T17" fmla="*/ 19 h 40"/>
                <a:gd name="T18" fmla="*/ 27 w 29"/>
                <a:gd name="T19" fmla="*/ 21 h 40"/>
                <a:gd name="T20" fmla="*/ 6 w 29"/>
                <a:gd name="T21" fmla="*/ 21 h 40"/>
                <a:gd name="T22" fmla="*/ 6 w 29"/>
                <a:gd name="T23" fmla="*/ 35 h 40"/>
                <a:gd name="T24" fmla="*/ 29 w 29"/>
                <a:gd name="T25" fmla="*/ 35 h 40"/>
                <a:gd name="T26" fmla="*/ 29 w 29"/>
                <a:gd name="T27" fmla="*/ 37 h 40"/>
                <a:gd name="T28" fmla="*/ 29 w 29"/>
                <a:gd name="T29" fmla="*/ 40 h 40"/>
                <a:gd name="T30" fmla="*/ 0 w 29"/>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 h="40">
                  <a:moveTo>
                    <a:pt x="0" y="40"/>
                  </a:moveTo>
                  <a:lnTo>
                    <a:pt x="0" y="0"/>
                  </a:lnTo>
                  <a:lnTo>
                    <a:pt x="29" y="0"/>
                  </a:lnTo>
                  <a:lnTo>
                    <a:pt x="29" y="3"/>
                  </a:lnTo>
                  <a:lnTo>
                    <a:pt x="29" y="5"/>
                  </a:lnTo>
                  <a:lnTo>
                    <a:pt x="6" y="5"/>
                  </a:lnTo>
                  <a:lnTo>
                    <a:pt x="6" y="16"/>
                  </a:lnTo>
                  <a:lnTo>
                    <a:pt x="27" y="16"/>
                  </a:lnTo>
                  <a:lnTo>
                    <a:pt x="27" y="19"/>
                  </a:lnTo>
                  <a:lnTo>
                    <a:pt x="27" y="21"/>
                  </a:lnTo>
                  <a:lnTo>
                    <a:pt x="6" y="21"/>
                  </a:lnTo>
                  <a:lnTo>
                    <a:pt x="6" y="35"/>
                  </a:lnTo>
                  <a:lnTo>
                    <a:pt x="29" y="35"/>
                  </a:lnTo>
                  <a:lnTo>
                    <a:pt x="29" y="37"/>
                  </a:lnTo>
                  <a:lnTo>
                    <a:pt x="29" y="40"/>
                  </a:lnTo>
                  <a:lnTo>
                    <a:pt x="0" y="4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4" name="Freeform 90"/>
            <p:cNvSpPr/>
            <p:nvPr userDrawn="1"/>
          </p:nvSpPr>
          <p:spPr bwMode="auto">
            <a:xfrm>
              <a:off x="1542" y="933"/>
              <a:ext cx="22" cy="40"/>
            </a:xfrm>
            <a:custGeom>
              <a:avLst/>
              <a:gdLst>
                <a:gd name="T0" fmla="*/ 14 w 18"/>
                <a:gd name="T1" fmla="*/ 0 h 32"/>
                <a:gd name="T2" fmla="*/ 16 w 18"/>
                <a:gd name="T3" fmla="*/ 0 h 32"/>
                <a:gd name="T4" fmla="*/ 18 w 18"/>
                <a:gd name="T5" fmla="*/ 0 h 32"/>
                <a:gd name="T6" fmla="*/ 18 w 18"/>
                <a:gd name="T7" fmla="*/ 23 h 32"/>
                <a:gd name="T8" fmla="*/ 16 w 18"/>
                <a:gd name="T9" fmla="*/ 30 h 32"/>
                <a:gd name="T10" fmla="*/ 9 w 18"/>
                <a:gd name="T11" fmla="*/ 32 h 32"/>
                <a:gd name="T12" fmla="*/ 2 w 18"/>
                <a:gd name="T13" fmla="*/ 30 h 32"/>
                <a:gd name="T14" fmla="*/ 0 w 18"/>
                <a:gd name="T15" fmla="*/ 23 h 32"/>
                <a:gd name="T16" fmla="*/ 0 w 18"/>
                <a:gd name="T17" fmla="*/ 21 h 32"/>
                <a:gd name="T18" fmla="*/ 4 w 18"/>
                <a:gd name="T19" fmla="*/ 21 h 32"/>
                <a:gd name="T20" fmla="*/ 4 w 18"/>
                <a:gd name="T21" fmla="*/ 23 h 32"/>
                <a:gd name="T22" fmla="*/ 6 w 18"/>
                <a:gd name="T23" fmla="*/ 27 h 32"/>
                <a:gd name="T24" fmla="*/ 9 w 18"/>
                <a:gd name="T25" fmla="*/ 29 h 32"/>
                <a:gd name="T26" fmla="*/ 13 w 18"/>
                <a:gd name="T27" fmla="*/ 27 h 32"/>
                <a:gd name="T28" fmla="*/ 14 w 18"/>
                <a:gd name="T29" fmla="*/ 23 h 32"/>
                <a:gd name="T30" fmla="*/ 14 w 18"/>
                <a:gd name="T31"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32">
                  <a:moveTo>
                    <a:pt x="14" y="0"/>
                  </a:moveTo>
                  <a:cubicBezTo>
                    <a:pt x="16" y="0"/>
                    <a:pt x="16" y="0"/>
                    <a:pt x="16" y="0"/>
                  </a:cubicBezTo>
                  <a:cubicBezTo>
                    <a:pt x="18" y="0"/>
                    <a:pt x="18" y="0"/>
                    <a:pt x="18" y="0"/>
                  </a:cubicBezTo>
                  <a:cubicBezTo>
                    <a:pt x="18" y="23"/>
                    <a:pt x="18" y="23"/>
                    <a:pt x="18" y="23"/>
                  </a:cubicBezTo>
                  <a:cubicBezTo>
                    <a:pt x="18" y="26"/>
                    <a:pt x="18" y="28"/>
                    <a:pt x="16" y="30"/>
                  </a:cubicBezTo>
                  <a:cubicBezTo>
                    <a:pt x="14" y="32"/>
                    <a:pt x="12" y="32"/>
                    <a:pt x="9" y="32"/>
                  </a:cubicBezTo>
                  <a:cubicBezTo>
                    <a:pt x="6" y="32"/>
                    <a:pt x="4" y="32"/>
                    <a:pt x="2" y="30"/>
                  </a:cubicBezTo>
                  <a:cubicBezTo>
                    <a:pt x="1" y="28"/>
                    <a:pt x="0" y="26"/>
                    <a:pt x="0" y="23"/>
                  </a:cubicBezTo>
                  <a:cubicBezTo>
                    <a:pt x="0" y="21"/>
                    <a:pt x="0" y="21"/>
                    <a:pt x="0" y="21"/>
                  </a:cubicBezTo>
                  <a:cubicBezTo>
                    <a:pt x="4" y="21"/>
                    <a:pt x="4" y="21"/>
                    <a:pt x="4" y="21"/>
                  </a:cubicBezTo>
                  <a:cubicBezTo>
                    <a:pt x="4" y="23"/>
                    <a:pt x="4" y="23"/>
                    <a:pt x="4" y="23"/>
                  </a:cubicBezTo>
                  <a:cubicBezTo>
                    <a:pt x="4" y="25"/>
                    <a:pt x="5" y="26"/>
                    <a:pt x="6" y="27"/>
                  </a:cubicBezTo>
                  <a:cubicBezTo>
                    <a:pt x="6" y="28"/>
                    <a:pt x="8" y="29"/>
                    <a:pt x="9" y="29"/>
                  </a:cubicBezTo>
                  <a:cubicBezTo>
                    <a:pt x="11" y="29"/>
                    <a:pt x="12" y="28"/>
                    <a:pt x="13" y="27"/>
                  </a:cubicBezTo>
                  <a:cubicBezTo>
                    <a:pt x="14" y="26"/>
                    <a:pt x="14" y="24"/>
                    <a:pt x="14" y="23"/>
                  </a:cubicBezTo>
                  <a:lnTo>
                    <a:pt x="14"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5" name="Freeform 91"/>
            <p:cNvSpPr/>
            <p:nvPr userDrawn="1"/>
          </p:nvSpPr>
          <p:spPr bwMode="auto">
            <a:xfrm>
              <a:off x="1579" y="933"/>
              <a:ext cx="5" cy="40"/>
            </a:xfrm>
            <a:custGeom>
              <a:avLst/>
              <a:gdLst>
                <a:gd name="T0" fmla="*/ 0 w 5"/>
                <a:gd name="T1" fmla="*/ 0 h 40"/>
                <a:gd name="T2" fmla="*/ 3 w 5"/>
                <a:gd name="T3" fmla="*/ 0 h 40"/>
                <a:gd name="T4" fmla="*/ 5 w 5"/>
                <a:gd name="T5" fmla="*/ 0 h 40"/>
                <a:gd name="T6" fmla="*/ 5 w 5"/>
                <a:gd name="T7" fmla="*/ 40 h 40"/>
                <a:gd name="T8" fmla="*/ 3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3" y="0"/>
                  </a:lnTo>
                  <a:lnTo>
                    <a:pt x="5" y="0"/>
                  </a:lnTo>
                  <a:lnTo>
                    <a:pt x="5" y="40"/>
                  </a:lnTo>
                  <a:lnTo>
                    <a:pt x="3" y="40"/>
                  </a:lnTo>
                  <a:lnTo>
                    <a:pt x="0" y="40"/>
                  </a:lnTo>
                  <a:lnTo>
                    <a:pt x="0"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6" name="Freeform 92"/>
            <p:cNvSpPr>
              <a:spLocks noEditPoints="1"/>
            </p:cNvSpPr>
            <p:nvPr userDrawn="1"/>
          </p:nvSpPr>
          <p:spPr bwMode="auto">
            <a:xfrm>
              <a:off x="1595" y="933"/>
              <a:ext cx="36" cy="40"/>
            </a:xfrm>
            <a:custGeom>
              <a:avLst/>
              <a:gdLst>
                <a:gd name="T0" fmla="*/ 15 w 36"/>
                <a:gd name="T1" fmla="*/ 0 h 40"/>
                <a:gd name="T2" fmla="*/ 19 w 36"/>
                <a:gd name="T3" fmla="*/ 0 h 40"/>
                <a:gd name="T4" fmla="*/ 21 w 36"/>
                <a:gd name="T5" fmla="*/ 0 h 40"/>
                <a:gd name="T6" fmla="*/ 36 w 36"/>
                <a:gd name="T7" fmla="*/ 40 h 40"/>
                <a:gd name="T8" fmla="*/ 33 w 36"/>
                <a:gd name="T9" fmla="*/ 40 h 40"/>
                <a:gd name="T10" fmla="*/ 30 w 36"/>
                <a:gd name="T11" fmla="*/ 40 h 40"/>
                <a:gd name="T12" fmla="*/ 26 w 36"/>
                <a:gd name="T13" fmla="*/ 27 h 40"/>
                <a:gd name="T14" fmla="*/ 10 w 36"/>
                <a:gd name="T15" fmla="*/ 27 h 40"/>
                <a:gd name="T16" fmla="*/ 7 w 36"/>
                <a:gd name="T17" fmla="*/ 40 h 40"/>
                <a:gd name="T18" fmla="*/ 4 w 36"/>
                <a:gd name="T19" fmla="*/ 40 h 40"/>
                <a:gd name="T20" fmla="*/ 0 w 36"/>
                <a:gd name="T21" fmla="*/ 40 h 40"/>
                <a:gd name="T22" fmla="*/ 15 w 36"/>
                <a:gd name="T23" fmla="*/ 0 h 40"/>
                <a:gd name="T24" fmla="*/ 12 w 36"/>
                <a:gd name="T25" fmla="*/ 24 h 40"/>
                <a:gd name="T26" fmla="*/ 24 w 36"/>
                <a:gd name="T27" fmla="*/ 24 h 40"/>
                <a:gd name="T28" fmla="*/ 19 w 36"/>
                <a:gd name="T29" fmla="*/ 5 h 40"/>
                <a:gd name="T30" fmla="*/ 19 w 36"/>
                <a:gd name="T31" fmla="*/ 5 h 40"/>
                <a:gd name="T32" fmla="*/ 12 w 36"/>
                <a:gd name="T33"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 h="40">
                  <a:moveTo>
                    <a:pt x="15" y="0"/>
                  </a:moveTo>
                  <a:lnTo>
                    <a:pt x="19" y="0"/>
                  </a:lnTo>
                  <a:lnTo>
                    <a:pt x="21" y="0"/>
                  </a:lnTo>
                  <a:lnTo>
                    <a:pt x="36" y="40"/>
                  </a:lnTo>
                  <a:lnTo>
                    <a:pt x="33" y="40"/>
                  </a:lnTo>
                  <a:lnTo>
                    <a:pt x="30" y="40"/>
                  </a:lnTo>
                  <a:lnTo>
                    <a:pt x="26" y="27"/>
                  </a:lnTo>
                  <a:lnTo>
                    <a:pt x="10" y="27"/>
                  </a:lnTo>
                  <a:lnTo>
                    <a:pt x="7" y="40"/>
                  </a:lnTo>
                  <a:lnTo>
                    <a:pt x="4" y="40"/>
                  </a:lnTo>
                  <a:lnTo>
                    <a:pt x="0" y="40"/>
                  </a:lnTo>
                  <a:lnTo>
                    <a:pt x="15" y="0"/>
                  </a:lnTo>
                  <a:close/>
                  <a:moveTo>
                    <a:pt x="12" y="24"/>
                  </a:moveTo>
                  <a:lnTo>
                    <a:pt x="24" y="24"/>
                  </a:lnTo>
                  <a:lnTo>
                    <a:pt x="19" y="5"/>
                  </a:lnTo>
                  <a:lnTo>
                    <a:pt x="19" y="5"/>
                  </a:lnTo>
                  <a:lnTo>
                    <a:pt x="12" y="24"/>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7" name="Freeform 93"/>
            <p:cNvSpPr/>
            <p:nvPr userDrawn="1"/>
          </p:nvSpPr>
          <p:spPr bwMode="auto">
            <a:xfrm>
              <a:off x="1641" y="933"/>
              <a:ext cx="31" cy="40"/>
            </a:xfrm>
            <a:custGeom>
              <a:avLst/>
              <a:gdLst>
                <a:gd name="T0" fmla="*/ 5 w 31"/>
                <a:gd name="T1" fmla="*/ 40 h 40"/>
                <a:gd name="T2" fmla="*/ 3 w 31"/>
                <a:gd name="T3" fmla="*/ 40 h 40"/>
                <a:gd name="T4" fmla="*/ 0 w 31"/>
                <a:gd name="T5" fmla="*/ 40 h 40"/>
                <a:gd name="T6" fmla="*/ 0 w 31"/>
                <a:gd name="T7" fmla="*/ 0 h 40"/>
                <a:gd name="T8" fmla="*/ 4 w 31"/>
                <a:gd name="T9" fmla="*/ 0 h 40"/>
                <a:gd name="T10" fmla="*/ 6 w 31"/>
                <a:gd name="T11" fmla="*/ 0 h 40"/>
                <a:gd name="T12" fmla="*/ 26 w 31"/>
                <a:gd name="T13" fmla="*/ 32 h 40"/>
                <a:gd name="T14" fmla="*/ 26 w 31"/>
                <a:gd name="T15" fmla="*/ 0 h 40"/>
                <a:gd name="T16" fmla="*/ 29 w 31"/>
                <a:gd name="T17" fmla="*/ 0 h 40"/>
                <a:gd name="T18" fmla="*/ 31 w 31"/>
                <a:gd name="T19" fmla="*/ 0 h 40"/>
                <a:gd name="T20" fmla="*/ 31 w 31"/>
                <a:gd name="T21" fmla="*/ 40 h 40"/>
                <a:gd name="T22" fmla="*/ 29 w 31"/>
                <a:gd name="T23" fmla="*/ 40 h 40"/>
                <a:gd name="T24" fmla="*/ 26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3" y="40"/>
                  </a:lnTo>
                  <a:lnTo>
                    <a:pt x="0" y="40"/>
                  </a:lnTo>
                  <a:lnTo>
                    <a:pt x="0" y="0"/>
                  </a:lnTo>
                  <a:lnTo>
                    <a:pt x="4" y="0"/>
                  </a:lnTo>
                  <a:lnTo>
                    <a:pt x="6" y="0"/>
                  </a:lnTo>
                  <a:lnTo>
                    <a:pt x="26" y="32"/>
                  </a:lnTo>
                  <a:lnTo>
                    <a:pt x="26" y="0"/>
                  </a:lnTo>
                  <a:lnTo>
                    <a:pt x="29" y="0"/>
                  </a:lnTo>
                  <a:lnTo>
                    <a:pt x="31" y="0"/>
                  </a:lnTo>
                  <a:lnTo>
                    <a:pt x="31" y="40"/>
                  </a:lnTo>
                  <a:lnTo>
                    <a:pt x="29" y="40"/>
                  </a:lnTo>
                  <a:lnTo>
                    <a:pt x="26" y="40"/>
                  </a:lnTo>
                  <a:lnTo>
                    <a:pt x="5" y="8"/>
                  </a:lnTo>
                  <a:lnTo>
                    <a:pt x="5" y="4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8" name="Freeform 94"/>
            <p:cNvSpPr/>
            <p:nvPr userDrawn="1"/>
          </p:nvSpPr>
          <p:spPr bwMode="auto">
            <a:xfrm>
              <a:off x="1687" y="932"/>
              <a:ext cx="36" cy="41"/>
            </a:xfrm>
            <a:custGeom>
              <a:avLst/>
              <a:gdLst>
                <a:gd name="T0" fmla="*/ 15 w 29"/>
                <a:gd name="T1" fmla="*/ 33 h 33"/>
                <a:gd name="T2" fmla="*/ 4 w 29"/>
                <a:gd name="T3" fmla="*/ 29 h 33"/>
                <a:gd name="T4" fmla="*/ 0 w 29"/>
                <a:gd name="T5" fmla="*/ 17 h 33"/>
                <a:gd name="T6" fmla="*/ 4 w 29"/>
                <a:gd name="T7" fmla="*/ 5 h 33"/>
                <a:gd name="T8" fmla="*/ 15 w 29"/>
                <a:gd name="T9" fmla="*/ 0 h 33"/>
                <a:gd name="T10" fmla="*/ 24 w 29"/>
                <a:gd name="T11" fmla="*/ 3 h 33"/>
                <a:gd name="T12" fmla="*/ 28 w 29"/>
                <a:gd name="T13" fmla="*/ 10 h 33"/>
                <a:gd name="T14" fmla="*/ 24 w 29"/>
                <a:gd name="T15" fmla="*/ 10 h 33"/>
                <a:gd name="T16" fmla="*/ 21 w 29"/>
                <a:gd name="T17" fmla="*/ 5 h 33"/>
                <a:gd name="T18" fmla="*/ 15 w 29"/>
                <a:gd name="T19" fmla="*/ 4 h 33"/>
                <a:gd name="T20" fmla="*/ 7 w 29"/>
                <a:gd name="T21" fmla="*/ 7 h 33"/>
                <a:gd name="T22" fmla="*/ 4 w 29"/>
                <a:gd name="T23" fmla="*/ 17 h 33"/>
                <a:gd name="T24" fmla="*/ 7 w 29"/>
                <a:gd name="T25" fmla="*/ 26 h 33"/>
                <a:gd name="T26" fmla="*/ 15 w 29"/>
                <a:gd name="T27" fmla="*/ 30 h 33"/>
                <a:gd name="T28" fmla="*/ 23 w 29"/>
                <a:gd name="T29" fmla="*/ 26 h 33"/>
                <a:gd name="T30" fmla="*/ 24 w 29"/>
                <a:gd name="T31" fmla="*/ 25 h 33"/>
                <a:gd name="T32" fmla="*/ 25 w 29"/>
                <a:gd name="T33" fmla="*/ 23 h 33"/>
                <a:gd name="T34" fmla="*/ 25 w 29"/>
                <a:gd name="T35" fmla="*/ 20 h 33"/>
                <a:gd name="T36" fmla="*/ 25 w 29"/>
                <a:gd name="T37" fmla="*/ 19 h 33"/>
                <a:gd name="T38" fmla="*/ 15 w 29"/>
                <a:gd name="T39" fmla="*/ 19 h 33"/>
                <a:gd name="T40" fmla="*/ 15 w 29"/>
                <a:gd name="T41" fmla="*/ 16 h 33"/>
                <a:gd name="T42" fmla="*/ 29 w 29"/>
                <a:gd name="T43" fmla="*/ 16 h 33"/>
                <a:gd name="T44" fmla="*/ 29 w 29"/>
                <a:gd name="T45" fmla="*/ 32 h 33"/>
                <a:gd name="T46" fmla="*/ 26 w 29"/>
                <a:gd name="T47" fmla="*/ 32 h 33"/>
                <a:gd name="T48" fmla="*/ 25 w 29"/>
                <a:gd name="T49" fmla="*/ 28 h 33"/>
                <a:gd name="T50" fmla="*/ 25 w 29"/>
                <a:gd name="T51" fmla="*/ 29 h 33"/>
                <a:gd name="T52" fmla="*/ 15 w 29"/>
                <a:gd name="T53"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 h="33">
                  <a:moveTo>
                    <a:pt x="15" y="33"/>
                  </a:moveTo>
                  <a:cubicBezTo>
                    <a:pt x="10" y="33"/>
                    <a:pt x="7" y="32"/>
                    <a:pt x="4" y="29"/>
                  </a:cubicBezTo>
                  <a:cubicBezTo>
                    <a:pt x="1" y="26"/>
                    <a:pt x="0" y="22"/>
                    <a:pt x="0" y="17"/>
                  </a:cubicBezTo>
                  <a:cubicBezTo>
                    <a:pt x="0" y="12"/>
                    <a:pt x="1" y="8"/>
                    <a:pt x="4" y="5"/>
                  </a:cubicBezTo>
                  <a:cubicBezTo>
                    <a:pt x="7" y="1"/>
                    <a:pt x="10" y="0"/>
                    <a:pt x="15" y="0"/>
                  </a:cubicBezTo>
                  <a:cubicBezTo>
                    <a:pt x="18" y="0"/>
                    <a:pt x="21" y="1"/>
                    <a:pt x="24" y="3"/>
                  </a:cubicBezTo>
                  <a:cubicBezTo>
                    <a:pt x="26" y="5"/>
                    <a:pt x="28" y="7"/>
                    <a:pt x="28" y="10"/>
                  </a:cubicBezTo>
                  <a:cubicBezTo>
                    <a:pt x="24" y="10"/>
                    <a:pt x="24" y="10"/>
                    <a:pt x="24" y="10"/>
                  </a:cubicBezTo>
                  <a:cubicBezTo>
                    <a:pt x="24" y="8"/>
                    <a:pt x="23" y="7"/>
                    <a:pt x="21" y="5"/>
                  </a:cubicBezTo>
                  <a:cubicBezTo>
                    <a:pt x="19" y="4"/>
                    <a:pt x="17" y="4"/>
                    <a:pt x="15" y="4"/>
                  </a:cubicBezTo>
                  <a:cubicBezTo>
                    <a:pt x="12" y="4"/>
                    <a:pt x="9" y="5"/>
                    <a:pt x="7" y="7"/>
                  </a:cubicBezTo>
                  <a:cubicBezTo>
                    <a:pt x="5" y="10"/>
                    <a:pt x="4" y="13"/>
                    <a:pt x="4" y="17"/>
                  </a:cubicBezTo>
                  <a:cubicBezTo>
                    <a:pt x="4" y="21"/>
                    <a:pt x="5" y="24"/>
                    <a:pt x="7" y="26"/>
                  </a:cubicBezTo>
                  <a:cubicBezTo>
                    <a:pt x="9" y="29"/>
                    <a:pt x="12" y="30"/>
                    <a:pt x="15" y="30"/>
                  </a:cubicBezTo>
                  <a:cubicBezTo>
                    <a:pt x="18" y="30"/>
                    <a:pt x="21" y="29"/>
                    <a:pt x="23" y="26"/>
                  </a:cubicBezTo>
                  <a:cubicBezTo>
                    <a:pt x="23" y="26"/>
                    <a:pt x="23" y="25"/>
                    <a:pt x="24" y="25"/>
                  </a:cubicBezTo>
                  <a:cubicBezTo>
                    <a:pt x="24" y="24"/>
                    <a:pt x="24" y="24"/>
                    <a:pt x="25" y="23"/>
                  </a:cubicBezTo>
                  <a:cubicBezTo>
                    <a:pt x="25" y="22"/>
                    <a:pt x="25" y="21"/>
                    <a:pt x="25" y="20"/>
                  </a:cubicBezTo>
                  <a:cubicBezTo>
                    <a:pt x="25" y="19"/>
                    <a:pt x="25" y="19"/>
                    <a:pt x="25" y="19"/>
                  </a:cubicBezTo>
                  <a:cubicBezTo>
                    <a:pt x="15" y="19"/>
                    <a:pt x="15" y="19"/>
                    <a:pt x="15" y="19"/>
                  </a:cubicBezTo>
                  <a:cubicBezTo>
                    <a:pt x="15" y="16"/>
                    <a:pt x="15" y="16"/>
                    <a:pt x="15" y="16"/>
                  </a:cubicBezTo>
                  <a:cubicBezTo>
                    <a:pt x="29" y="16"/>
                    <a:pt x="29" y="16"/>
                    <a:pt x="29" y="16"/>
                  </a:cubicBezTo>
                  <a:cubicBezTo>
                    <a:pt x="29" y="32"/>
                    <a:pt x="29" y="32"/>
                    <a:pt x="29" y="32"/>
                  </a:cubicBezTo>
                  <a:cubicBezTo>
                    <a:pt x="26" y="32"/>
                    <a:pt x="26" y="32"/>
                    <a:pt x="26" y="32"/>
                  </a:cubicBezTo>
                  <a:cubicBezTo>
                    <a:pt x="25" y="28"/>
                    <a:pt x="25" y="28"/>
                    <a:pt x="25" y="28"/>
                  </a:cubicBezTo>
                  <a:cubicBezTo>
                    <a:pt x="25" y="29"/>
                    <a:pt x="25" y="29"/>
                    <a:pt x="25" y="29"/>
                  </a:cubicBezTo>
                  <a:cubicBezTo>
                    <a:pt x="22" y="32"/>
                    <a:pt x="19" y="33"/>
                    <a:pt x="15" y="33"/>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9" name="Freeform 95"/>
            <p:cNvSpPr/>
            <p:nvPr userDrawn="1"/>
          </p:nvSpPr>
          <p:spPr bwMode="auto">
            <a:xfrm>
              <a:off x="1760" y="933"/>
              <a:ext cx="31" cy="40"/>
            </a:xfrm>
            <a:custGeom>
              <a:avLst/>
              <a:gdLst>
                <a:gd name="T0" fmla="*/ 25 w 25"/>
                <a:gd name="T1" fmla="*/ 20 h 32"/>
                <a:gd name="T2" fmla="*/ 21 w 25"/>
                <a:gd name="T3" fmla="*/ 29 h 32"/>
                <a:gd name="T4" fmla="*/ 12 w 25"/>
                <a:gd name="T5" fmla="*/ 32 h 32"/>
                <a:gd name="T6" fmla="*/ 3 w 25"/>
                <a:gd name="T7" fmla="*/ 29 h 32"/>
                <a:gd name="T8" fmla="*/ 0 w 25"/>
                <a:gd name="T9" fmla="*/ 20 h 32"/>
                <a:gd name="T10" fmla="*/ 0 w 25"/>
                <a:gd name="T11" fmla="*/ 0 h 32"/>
                <a:gd name="T12" fmla="*/ 2 w 25"/>
                <a:gd name="T13" fmla="*/ 0 h 32"/>
                <a:gd name="T14" fmla="*/ 4 w 25"/>
                <a:gd name="T15" fmla="*/ 0 h 32"/>
                <a:gd name="T16" fmla="*/ 4 w 25"/>
                <a:gd name="T17" fmla="*/ 20 h 32"/>
                <a:gd name="T18" fmla="*/ 6 w 25"/>
                <a:gd name="T19" fmla="*/ 26 h 32"/>
                <a:gd name="T20" fmla="*/ 12 w 25"/>
                <a:gd name="T21" fmla="*/ 29 h 32"/>
                <a:gd name="T22" fmla="*/ 18 w 25"/>
                <a:gd name="T23" fmla="*/ 26 h 32"/>
                <a:gd name="T24" fmla="*/ 20 w 25"/>
                <a:gd name="T25" fmla="*/ 20 h 32"/>
                <a:gd name="T26" fmla="*/ 20 w 25"/>
                <a:gd name="T27" fmla="*/ 0 h 32"/>
                <a:gd name="T28" fmla="*/ 22 w 25"/>
                <a:gd name="T29" fmla="*/ 0 h 32"/>
                <a:gd name="T30" fmla="*/ 25 w 25"/>
                <a:gd name="T31" fmla="*/ 0 h 32"/>
                <a:gd name="T32" fmla="*/ 25 w 25"/>
                <a:gd name="T33"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 h="32">
                  <a:moveTo>
                    <a:pt x="25" y="20"/>
                  </a:moveTo>
                  <a:cubicBezTo>
                    <a:pt x="25" y="24"/>
                    <a:pt x="23" y="27"/>
                    <a:pt x="21" y="29"/>
                  </a:cubicBezTo>
                  <a:cubicBezTo>
                    <a:pt x="19" y="31"/>
                    <a:pt x="16" y="32"/>
                    <a:pt x="12" y="32"/>
                  </a:cubicBezTo>
                  <a:cubicBezTo>
                    <a:pt x="8" y="32"/>
                    <a:pt x="5" y="31"/>
                    <a:pt x="3" y="29"/>
                  </a:cubicBezTo>
                  <a:cubicBezTo>
                    <a:pt x="1" y="27"/>
                    <a:pt x="0" y="24"/>
                    <a:pt x="0" y="20"/>
                  </a:cubicBezTo>
                  <a:cubicBezTo>
                    <a:pt x="0" y="0"/>
                    <a:pt x="0" y="0"/>
                    <a:pt x="0" y="0"/>
                  </a:cubicBezTo>
                  <a:cubicBezTo>
                    <a:pt x="2" y="0"/>
                    <a:pt x="2" y="0"/>
                    <a:pt x="2" y="0"/>
                  </a:cubicBezTo>
                  <a:cubicBezTo>
                    <a:pt x="4" y="0"/>
                    <a:pt x="4" y="0"/>
                    <a:pt x="4" y="0"/>
                  </a:cubicBezTo>
                  <a:cubicBezTo>
                    <a:pt x="4" y="20"/>
                    <a:pt x="4" y="20"/>
                    <a:pt x="4" y="20"/>
                  </a:cubicBezTo>
                  <a:cubicBezTo>
                    <a:pt x="4" y="23"/>
                    <a:pt x="5" y="25"/>
                    <a:pt x="6" y="26"/>
                  </a:cubicBezTo>
                  <a:cubicBezTo>
                    <a:pt x="7" y="28"/>
                    <a:pt x="9" y="29"/>
                    <a:pt x="12" y="29"/>
                  </a:cubicBezTo>
                  <a:cubicBezTo>
                    <a:pt x="15" y="29"/>
                    <a:pt x="17" y="28"/>
                    <a:pt x="18" y="26"/>
                  </a:cubicBezTo>
                  <a:cubicBezTo>
                    <a:pt x="20" y="25"/>
                    <a:pt x="20" y="23"/>
                    <a:pt x="20" y="20"/>
                  </a:cubicBezTo>
                  <a:cubicBezTo>
                    <a:pt x="20" y="0"/>
                    <a:pt x="20" y="0"/>
                    <a:pt x="20" y="0"/>
                  </a:cubicBezTo>
                  <a:cubicBezTo>
                    <a:pt x="22" y="0"/>
                    <a:pt x="22" y="0"/>
                    <a:pt x="22" y="0"/>
                  </a:cubicBezTo>
                  <a:cubicBezTo>
                    <a:pt x="25" y="0"/>
                    <a:pt x="25" y="0"/>
                    <a:pt x="25" y="0"/>
                  </a:cubicBezTo>
                  <a:lnTo>
                    <a:pt x="25" y="2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0" name="Freeform 96"/>
            <p:cNvSpPr/>
            <p:nvPr userDrawn="1"/>
          </p:nvSpPr>
          <p:spPr bwMode="auto">
            <a:xfrm>
              <a:off x="1806" y="933"/>
              <a:ext cx="31" cy="40"/>
            </a:xfrm>
            <a:custGeom>
              <a:avLst/>
              <a:gdLst>
                <a:gd name="T0" fmla="*/ 5 w 31"/>
                <a:gd name="T1" fmla="*/ 40 h 40"/>
                <a:gd name="T2" fmla="*/ 2 w 31"/>
                <a:gd name="T3" fmla="*/ 40 h 40"/>
                <a:gd name="T4" fmla="*/ 0 w 31"/>
                <a:gd name="T5" fmla="*/ 40 h 40"/>
                <a:gd name="T6" fmla="*/ 0 w 31"/>
                <a:gd name="T7" fmla="*/ 0 h 40"/>
                <a:gd name="T8" fmla="*/ 2 w 31"/>
                <a:gd name="T9" fmla="*/ 0 h 40"/>
                <a:gd name="T10" fmla="*/ 6 w 31"/>
                <a:gd name="T11" fmla="*/ 0 h 40"/>
                <a:gd name="T12" fmla="*/ 26 w 31"/>
                <a:gd name="T13" fmla="*/ 32 h 40"/>
                <a:gd name="T14" fmla="*/ 26 w 31"/>
                <a:gd name="T15" fmla="*/ 0 h 40"/>
                <a:gd name="T16" fmla="*/ 28 w 31"/>
                <a:gd name="T17" fmla="*/ 0 h 40"/>
                <a:gd name="T18" fmla="*/ 31 w 31"/>
                <a:gd name="T19" fmla="*/ 0 h 40"/>
                <a:gd name="T20" fmla="*/ 31 w 31"/>
                <a:gd name="T21" fmla="*/ 40 h 40"/>
                <a:gd name="T22" fmla="*/ 28 w 31"/>
                <a:gd name="T23" fmla="*/ 40 h 40"/>
                <a:gd name="T24" fmla="*/ 25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2" y="40"/>
                  </a:lnTo>
                  <a:lnTo>
                    <a:pt x="0" y="40"/>
                  </a:lnTo>
                  <a:lnTo>
                    <a:pt x="0" y="0"/>
                  </a:lnTo>
                  <a:lnTo>
                    <a:pt x="2" y="0"/>
                  </a:lnTo>
                  <a:lnTo>
                    <a:pt x="6" y="0"/>
                  </a:lnTo>
                  <a:lnTo>
                    <a:pt x="26" y="32"/>
                  </a:lnTo>
                  <a:lnTo>
                    <a:pt x="26" y="0"/>
                  </a:lnTo>
                  <a:lnTo>
                    <a:pt x="28" y="0"/>
                  </a:lnTo>
                  <a:lnTo>
                    <a:pt x="31" y="0"/>
                  </a:lnTo>
                  <a:lnTo>
                    <a:pt x="31" y="40"/>
                  </a:lnTo>
                  <a:lnTo>
                    <a:pt x="28" y="40"/>
                  </a:lnTo>
                  <a:lnTo>
                    <a:pt x="25" y="40"/>
                  </a:lnTo>
                  <a:lnTo>
                    <a:pt x="5" y="8"/>
                  </a:lnTo>
                  <a:lnTo>
                    <a:pt x="5" y="4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1" name="Freeform 97"/>
            <p:cNvSpPr/>
            <p:nvPr userDrawn="1"/>
          </p:nvSpPr>
          <p:spPr bwMode="auto">
            <a:xfrm>
              <a:off x="1852"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2" name="Freeform 98"/>
            <p:cNvSpPr/>
            <p:nvPr userDrawn="1"/>
          </p:nvSpPr>
          <p:spPr bwMode="auto">
            <a:xfrm>
              <a:off x="1867" y="933"/>
              <a:ext cx="34" cy="40"/>
            </a:xfrm>
            <a:custGeom>
              <a:avLst/>
              <a:gdLst>
                <a:gd name="T0" fmla="*/ 0 w 34"/>
                <a:gd name="T1" fmla="*/ 0 h 40"/>
                <a:gd name="T2" fmla="*/ 3 w 34"/>
                <a:gd name="T3" fmla="*/ 0 h 40"/>
                <a:gd name="T4" fmla="*/ 6 w 34"/>
                <a:gd name="T5" fmla="*/ 0 h 40"/>
                <a:gd name="T6" fmla="*/ 17 w 34"/>
                <a:gd name="T7" fmla="*/ 34 h 40"/>
                <a:gd name="T8" fmla="*/ 17 w 34"/>
                <a:gd name="T9" fmla="*/ 34 h 40"/>
                <a:gd name="T10" fmla="*/ 28 w 34"/>
                <a:gd name="T11" fmla="*/ 0 h 40"/>
                <a:gd name="T12" fmla="*/ 32 w 34"/>
                <a:gd name="T13" fmla="*/ 0 h 40"/>
                <a:gd name="T14" fmla="*/ 34 w 34"/>
                <a:gd name="T15" fmla="*/ 0 h 40"/>
                <a:gd name="T16" fmla="*/ 21 w 34"/>
                <a:gd name="T17" fmla="*/ 40 h 40"/>
                <a:gd name="T18" fmla="*/ 17 w 34"/>
                <a:gd name="T19" fmla="*/ 40 h 40"/>
                <a:gd name="T20" fmla="*/ 15 w 34"/>
                <a:gd name="T21" fmla="*/ 40 h 40"/>
                <a:gd name="T22" fmla="*/ 0 w 34"/>
                <a:gd name="T2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40">
                  <a:moveTo>
                    <a:pt x="0" y="0"/>
                  </a:moveTo>
                  <a:lnTo>
                    <a:pt x="3" y="0"/>
                  </a:lnTo>
                  <a:lnTo>
                    <a:pt x="6" y="0"/>
                  </a:lnTo>
                  <a:lnTo>
                    <a:pt x="17" y="34"/>
                  </a:lnTo>
                  <a:lnTo>
                    <a:pt x="17" y="34"/>
                  </a:lnTo>
                  <a:lnTo>
                    <a:pt x="28" y="0"/>
                  </a:lnTo>
                  <a:lnTo>
                    <a:pt x="32" y="0"/>
                  </a:lnTo>
                  <a:lnTo>
                    <a:pt x="34" y="0"/>
                  </a:lnTo>
                  <a:lnTo>
                    <a:pt x="21" y="40"/>
                  </a:lnTo>
                  <a:lnTo>
                    <a:pt x="17" y="40"/>
                  </a:lnTo>
                  <a:lnTo>
                    <a:pt x="15" y="40"/>
                  </a:lnTo>
                  <a:lnTo>
                    <a:pt x="0"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3" name="Freeform 99"/>
            <p:cNvSpPr/>
            <p:nvPr userDrawn="1"/>
          </p:nvSpPr>
          <p:spPr bwMode="auto">
            <a:xfrm>
              <a:off x="1911" y="933"/>
              <a:ext cx="30" cy="40"/>
            </a:xfrm>
            <a:custGeom>
              <a:avLst/>
              <a:gdLst>
                <a:gd name="T0" fmla="*/ 0 w 30"/>
                <a:gd name="T1" fmla="*/ 40 h 40"/>
                <a:gd name="T2" fmla="*/ 0 w 30"/>
                <a:gd name="T3" fmla="*/ 0 h 40"/>
                <a:gd name="T4" fmla="*/ 30 w 30"/>
                <a:gd name="T5" fmla="*/ 0 h 40"/>
                <a:gd name="T6" fmla="*/ 30 w 30"/>
                <a:gd name="T7" fmla="*/ 3 h 40"/>
                <a:gd name="T8" fmla="*/ 30 w 30"/>
                <a:gd name="T9" fmla="*/ 5 h 40"/>
                <a:gd name="T10" fmla="*/ 6 w 30"/>
                <a:gd name="T11" fmla="*/ 5 h 40"/>
                <a:gd name="T12" fmla="*/ 6 w 30"/>
                <a:gd name="T13" fmla="*/ 16 h 40"/>
                <a:gd name="T14" fmla="*/ 27 w 30"/>
                <a:gd name="T15" fmla="*/ 16 h 40"/>
                <a:gd name="T16" fmla="*/ 27 w 30"/>
                <a:gd name="T17" fmla="*/ 19 h 40"/>
                <a:gd name="T18" fmla="*/ 27 w 30"/>
                <a:gd name="T19" fmla="*/ 21 h 40"/>
                <a:gd name="T20" fmla="*/ 6 w 30"/>
                <a:gd name="T21" fmla="*/ 21 h 40"/>
                <a:gd name="T22" fmla="*/ 6 w 30"/>
                <a:gd name="T23" fmla="*/ 35 h 40"/>
                <a:gd name="T24" fmla="*/ 30 w 30"/>
                <a:gd name="T25" fmla="*/ 35 h 40"/>
                <a:gd name="T26" fmla="*/ 30 w 30"/>
                <a:gd name="T27" fmla="*/ 37 h 40"/>
                <a:gd name="T28" fmla="*/ 30 w 30"/>
                <a:gd name="T29" fmla="*/ 40 h 40"/>
                <a:gd name="T30" fmla="*/ 0 w 30"/>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40">
                  <a:moveTo>
                    <a:pt x="0" y="40"/>
                  </a:moveTo>
                  <a:lnTo>
                    <a:pt x="0" y="0"/>
                  </a:lnTo>
                  <a:lnTo>
                    <a:pt x="30" y="0"/>
                  </a:lnTo>
                  <a:lnTo>
                    <a:pt x="30" y="3"/>
                  </a:lnTo>
                  <a:lnTo>
                    <a:pt x="30" y="5"/>
                  </a:lnTo>
                  <a:lnTo>
                    <a:pt x="6" y="5"/>
                  </a:lnTo>
                  <a:lnTo>
                    <a:pt x="6" y="16"/>
                  </a:lnTo>
                  <a:lnTo>
                    <a:pt x="27" y="16"/>
                  </a:lnTo>
                  <a:lnTo>
                    <a:pt x="27" y="19"/>
                  </a:lnTo>
                  <a:lnTo>
                    <a:pt x="27" y="21"/>
                  </a:lnTo>
                  <a:lnTo>
                    <a:pt x="6" y="21"/>
                  </a:lnTo>
                  <a:lnTo>
                    <a:pt x="6" y="35"/>
                  </a:lnTo>
                  <a:lnTo>
                    <a:pt x="30" y="35"/>
                  </a:lnTo>
                  <a:lnTo>
                    <a:pt x="30" y="37"/>
                  </a:lnTo>
                  <a:lnTo>
                    <a:pt x="30" y="40"/>
                  </a:lnTo>
                  <a:lnTo>
                    <a:pt x="0" y="4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4" name="Freeform 100"/>
            <p:cNvSpPr>
              <a:spLocks noEditPoints="1"/>
            </p:cNvSpPr>
            <p:nvPr userDrawn="1"/>
          </p:nvSpPr>
          <p:spPr bwMode="auto">
            <a:xfrm>
              <a:off x="1955" y="933"/>
              <a:ext cx="33" cy="40"/>
            </a:xfrm>
            <a:custGeom>
              <a:avLst/>
              <a:gdLst>
                <a:gd name="T0" fmla="*/ 0 w 27"/>
                <a:gd name="T1" fmla="*/ 0 h 32"/>
                <a:gd name="T2" fmla="*/ 2 w 27"/>
                <a:gd name="T3" fmla="*/ 0 h 32"/>
                <a:gd name="T4" fmla="*/ 15 w 27"/>
                <a:gd name="T5" fmla="*/ 0 h 32"/>
                <a:gd name="T6" fmla="*/ 23 w 27"/>
                <a:gd name="T7" fmla="*/ 2 h 32"/>
                <a:gd name="T8" fmla="*/ 25 w 27"/>
                <a:gd name="T9" fmla="*/ 8 h 32"/>
                <a:gd name="T10" fmla="*/ 23 w 27"/>
                <a:gd name="T11" fmla="*/ 15 h 32"/>
                <a:gd name="T12" fmla="*/ 21 w 27"/>
                <a:gd name="T13" fmla="*/ 16 h 32"/>
                <a:gd name="T14" fmla="*/ 22 w 27"/>
                <a:gd name="T15" fmla="*/ 16 h 32"/>
                <a:gd name="T16" fmla="*/ 25 w 27"/>
                <a:gd name="T17" fmla="*/ 22 h 32"/>
                <a:gd name="T18" fmla="*/ 25 w 27"/>
                <a:gd name="T19" fmla="*/ 28 h 32"/>
                <a:gd name="T20" fmla="*/ 25 w 27"/>
                <a:gd name="T21" fmla="*/ 30 h 32"/>
                <a:gd name="T22" fmla="*/ 27 w 27"/>
                <a:gd name="T23" fmla="*/ 31 h 32"/>
                <a:gd name="T24" fmla="*/ 27 w 27"/>
                <a:gd name="T25" fmla="*/ 31 h 32"/>
                <a:gd name="T26" fmla="*/ 21 w 27"/>
                <a:gd name="T27" fmla="*/ 31 h 32"/>
                <a:gd name="T28" fmla="*/ 21 w 27"/>
                <a:gd name="T29" fmla="*/ 29 h 32"/>
                <a:gd name="T30" fmla="*/ 21 w 27"/>
                <a:gd name="T31" fmla="*/ 26 h 32"/>
                <a:gd name="T32" fmla="*/ 21 w 27"/>
                <a:gd name="T33" fmla="*/ 23 h 32"/>
                <a:gd name="T34" fmla="*/ 19 w 27"/>
                <a:gd name="T35" fmla="*/ 19 h 32"/>
                <a:gd name="T36" fmla="*/ 15 w 27"/>
                <a:gd name="T37" fmla="*/ 18 h 32"/>
                <a:gd name="T38" fmla="*/ 4 w 27"/>
                <a:gd name="T39" fmla="*/ 18 h 32"/>
                <a:gd name="T40" fmla="*/ 4 w 27"/>
                <a:gd name="T41" fmla="*/ 32 h 32"/>
                <a:gd name="T42" fmla="*/ 2 w 27"/>
                <a:gd name="T43" fmla="*/ 32 h 32"/>
                <a:gd name="T44" fmla="*/ 0 w 27"/>
                <a:gd name="T45" fmla="*/ 32 h 32"/>
                <a:gd name="T46" fmla="*/ 0 w 27"/>
                <a:gd name="T47" fmla="*/ 0 h 32"/>
                <a:gd name="T48" fmla="*/ 4 w 27"/>
                <a:gd name="T49" fmla="*/ 14 h 32"/>
                <a:gd name="T50" fmla="*/ 15 w 27"/>
                <a:gd name="T51" fmla="*/ 14 h 32"/>
                <a:gd name="T52" fmla="*/ 19 w 27"/>
                <a:gd name="T53" fmla="*/ 13 h 32"/>
                <a:gd name="T54" fmla="*/ 21 w 27"/>
                <a:gd name="T55" fmla="*/ 9 h 32"/>
                <a:gd name="T56" fmla="*/ 19 w 27"/>
                <a:gd name="T57" fmla="*/ 5 h 32"/>
                <a:gd name="T58" fmla="*/ 15 w 27"/>
                <a:gd name="T59" fmla="*/ 3 h 32"/>
                <a:gd name="T60" fmla="*/ 4 w 27"/>
                <a:gd name="T61" fmla="*/ 3 h 32"/>
                <a:gd name="T62" fmla="*/ 4 w 27"/>
                <a:gd name="T63" fmla="*/ 1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 h="32">
                  <a:moveTo>
                    <a:pt x="0" y="0"/>
                  </a:moveTo>
                  <a:cubicBezTo>
                    <a:pt x="2" y="0"/>
                    <a:pt x="2" y="0"/>
                    <a:pt x="2" y="0"/>
                  </a:cubicBezTo>
                  <a:cubicBezTo>
                    <a:pt x="15" y="0"/>
                    <a:pt x="15" y="0"/>
                    <a:pt x="15" y="0"/>
                  </a:cubicBezTo>
                  <a:cubicBezTo>
                    <a:pt x="18" y="0"/>
                    <a:pt x="21" y="1"/>
                    <a:pt x="23" y="2"/>
                  </a:cubicBezTo>
                  <a:cubicBezTo>
                    <a:pt x="24" y="3"/>
                    <a:pt x="25" y="6"/>
                    <a:pt x="25" y="8"/>
                  </a:cubicBezTo>
                  <a:cubicBezTo>
                    <a:pt x="25" y="11"/>
                    <a:pt x="24" y="13"/>
                    <a:pt x="23" y="15"/>
                  </a:cubicBezTo>
                  <a:cubicBezTo>
                    <a:pt x="22" y="15"/>
                    <a:pt x="22" y="16"/>
                    <a:pt x="21" y="16"/>
                  </a:cubicBezTo>
                  <a:cubicBezTo>
                    <a:pt x="22" y="16"/>
                    <a:pt x="22" y="16"/>
                    <a:pt x="22" y="16"/>
                  </a:cubicBezTo>
                  <a:cubicBezTo>
                    <a:pt x="24" y="17"/>
                    <a:pt x="25" y="19"/>
                    <a:pt x="25" y="22"/>
                  </a:cubicBezTo>
                  <a:cubicBezTo>
                    <a:pt x="25" y="28"/>
                    <a:pt x="25" y="28"/>
                    <a:pt x="25" y="28"/>
                  </a:cubicBezTo>
                  <a:cubicBezTo>
                    <a:pt x="25" y="29"/>
                    <a:pt x="25" y="29"/>
                    <a:pt x="25" y="30"/>
                  </a:cubicBezTo>
                  <a:cubicBezTo>
                    <a:pt x="26" y="30"/>
                    <a:pt x="26" y="30"/>
                    <a:pt x="27" y="31"/>
                  </a:cubicBezTo>
                  <a:cubicBezTo>
                    <a:pt x="27" y="31"/>
                    <a:pt x="27" y="31"/>
                    <a:pt x="27" y="31"/>
                  </a:cubicBezTo>
                  <a:cubicBezTo>
                    <a:pt x="21" y="31"/>
                    <a:pt x="21" y="31"/>
                    <a:pt x="21" y="31"/>
                  </a:cubicBezTo>
                  <a:cubicBezTo>
                    <a:pt x="21" y="31"/>
                    <a:pt x="21" y="31"/>
                    <a:pt x="21" y="29"/>
                  </a:cubicBezTo>
                  <a:cubicBezTo>
                    <a:pt x="21" y="28"/>
                    <a:pt x="21" y="27"/>
                    <a:pt x="21" y="26"/>
                  </a:cubicBezTo>
                  <a:cubicBezTo>
                    <a:pt x="21" y="23"/>
                    <a:pt x="21" y="23"/>
                    <a:pt x="21" y="23"/>
                  </a:cubicBezTo>
                  <a:cubicBezTo>
                    <a:pt x="21" y="21"/>
                    <a:pt x="20" y="20"/>
                    <a:pt x="19" y="19"/>
                  </a:cubicBezTo>
                  <a:cubicBezTo>
                    <a:pt x="18" y="18"/>
                    <a:pt x="17" y="18"/>
                    <a:pt x="15" y="18"/>
                  </a:cubicBezTo>
                  <a:cubicBezTo>
                    <a:pt x="4" y="18"/>
                    <a:pt x="4" y="18"/>
                    <a:pt x="4" y="18"/>
                  </a:cubicBezTo>
                  <a:cubicBezTo>
                    <a:pt x="4" y="32"/>
                    <a:pt x="4" y="32"/>
                    <a:pt x="4" y="32"/>
                  </a:cubicBezTo>
                  <a:cubicBezTo>
                    <a:pt x="2" y="32"/>
                    <a:pt x="2" y="32"/>
                    <a:pt x="2" y="32"/>
                  </a:cubicBezTo>
                  <a:cubicBezTo>
                    <a:pt x="0" y="32"/>
                    <a:pt x="0" y="32"/>
                    <a:pt x="0" y="32"/>
                  </a:cubicBezTo>
                  <a:lnTo>
                    <a:pt x="0" y="0"/>
                  </a:lnTo>
                  <a:close/>
                  <a:moveTo>
                    <a:pt x="4" y="14"/>
                  </a:moveTo>
                  <a:cubicBezTo>
                    <a:pt x="15" y="14"/>
                    <a:pt x="15" y="14"/>
                    <a:pt x="15" y="14"/>
                  </a:cubicBezTo>
                  <a:cubicBezTo>
                    <a:pt x="17" y="14"/>
                    <a:pt x="19" y="14"/>
                    <a:pt x="19" y="13"/>
                  </a:cubicBezTo>
                  <a:cubicBezTo>
                    <a:pt x="20" y="12"/>
                    <a:pt x="21" y="11"/>
                    <a:pt x="21" y="9"/>
                  </a:cubicBezTo>
                  <a:cubicBezTo>
                    <a:pt x="21" y="7"/>
                    <a:pt x="20" y="5"/>
                    <a:pt x="19" y="5"/>
                  </a:cubicBezTo>
                  <a:cubicBezTo>
                    <a:pt x="18" y="4"/>
                    <a:pt x="17" y="3"/>
                    <a:pt x="15" y="3"/>
                  </a:cubicBezTo>
                  <a:cubicBezTo>
                    <a:pt x="4" y="3"/>
                    <a:pt x="4" y="3"/>
                    <a:pt x="4" y="3"/>
                  </a:cubicBezTo>
                  <a:lnTo>
                    <a:pt x="4" y="14"/>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5" name="Freeform 101"/>
            <p:cNvSpPr/>
            <p:nvPr userDrawn="1"/>
          </p:nvSpPr>
          <p:spPr bwMode="auto">
            <a:xfrm>
              <a:off x="1999" y="932"/>
              <a:ext cx="31" cy="41"/>
            </a:xfrm>
            <a:custGeom>
              <a:avLst/>
              <a:gdLst>
                <a:gd name="T0" fmla="*/ 20 w 25"/>
                <a:gd name="T1" fmla="*/ 10 h 33"/>
                <a:gd name="T2" fmla="*/ 18 w 25"/>
                <a:gd name="T3" fmla="*/ 5 h 33"/>
                <a:gd name="T4" fmla="*/ 12 w 25"/>
                <a:gd name="T5" fmla="*/ 4 h 33"/>
                <a:gd name="T6" fmla="*/ 7 w 25"/>
                <a:gd name="T7" fmla="*/ 5 h 33"/>
                <a:gd name="T8" fmla="*/ 5 w 25"/>
                <a:gd name="T9" fmla="*/ 9 h 33"/>
                <a:gd name="T10" fmla="*/ 6 w 25"/>
                <a:gd name="T11" fmla="*/ 12 h 33"/>
                <a:gd name="T12" fmla="*/ 11 w 25"/>
                <a:gd name="T13" fmla="*/ 14 h 33"/>
                <a:gd name="T14" fmla="*/ 17 w 25"/>
                <a:gd name="T15" fmla="*/ 15 h 33"/>
                <a:gd name="T16" fmla="*/ 23 w 25"/>
                <a:gd name="T17" fmla="*/ 18 h 33"/>
                <a:gd name="T18" fmla="*/ 25 w 25"/>
                <a:gd name="T19" fmla="*/ 24 h 33"/>
                <a:gd name="T20" fmla="*/ 22 w 25"/>
                <a:gd name="T21" fmla="*/ 31 h 33"/>
                <a:gd name="T22" fmla="*/ 13 w 25"/>
                <a:gd name="T23" fmla="*/ 33 h 33"/>
                <a:gd name="T24" fmla="*/ 3 w 25"/>
                <a:gd name="T25" fmla="*/ 30 h 33"/>
                <a:gd name="T26" fmla="*/ 0 w 25"/>
                <a:gd name="T27" fmla="*/ 23 h 33"/>
                <a:gd name="T28" fmla="*/ 0 w 25"/>
                <a:gd name="T29" fmla="*/ 22 h 33"/>
                <a:gd name="T30" fmla="*/ 4 w 25"/>
                <a:gd name="T31" fmla="*/ 22 h 33"/>
                <a:gd name="T32" fmla="*/ 6 w 25"/>
                <a:gd name="T33" fmla="*/ 28 h 33"/>
                <a:gd name="T34" fmla="*/ 13 w 25"/>
                <a:gd name="T35" fmla="*/ 30 h 33"/>
                <a:gd name="T36" fmla="*/ 19 w 25"/>
                <a:gd name="T37" fmla="*/ 28 h 33"/>
                <a:gd name="T38" fmla="*/ 21 w 25"/>
                <a:gd name="T39" fmla="*/ 24 h 33"/>
                <a:gd name="T40" fmla="*/ 20 w 25"/>
                <a:gd name="T41" fmla="*/ 21 h 33"/>
                <a:gd name="T42" fmla="*/ 14 w 25"/>
                <a:gd name="T43" fmla="*/ 19 h 33"/>
                <a:gd name="T44" fmla="*/ 9 w 25"/>
                <a:gd name="T45" fmla="*/ 17 h 33"/>
                <a:gd name="T46" fmla="*/ 3 w 25"/>
                <a:gd name="T47" fmla="*/ 15 h 33"/>
                <a:gd name="T48" fmla="*/ 1 w 25"/>
                <a:gd name="T49" fmla="*/ 10 h 33"/>
                <a:gd name="T50" fmla="*/ 4 w 25"/>
                <a:gd name="T51" fmla="*/ 3 h 33"/>
                <a:gd name="T52" fmla="*/ 12 w 25"/>
                <a:gd name="T53" fmla="*/ 0 h 33"/>
                <a:gd name="T54" fmla="*/ 21 w 25"/>
                <a:gd name="T55" fmla="*/ 3 h 33"/>
                <a:gd name="T56" fmla="*/ 24 w 25"/>
                <a:gd name="T57" fmla="*/ 10 h 33"/>
                <a:gd name="T58" fmla="*/ 20 w 25"/>
                <a:gd name="T59"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3">
                  <a:moveTo>
                    <a:pt x="20" y="10"/>
                  </a:moveTo>
                  <a:cubicBezTo>
                    <a:pt x="20" y="8"/>
                    <a:pt x="19" y="6"/>
                    <a:pt x="18" y="5"/>
                  </a:cubicBezTo>
                  <a:cubicBezTo>
                    <a:pt x="17" y="4"/>
                    <a:pt x="15" y="4"/>
                    <a:pt x="12" y="4"/>
                  </a:cubicBezTo>
                  <a:cubicBezTo>
                    <a:pt x="10" y="4"/>
                    <a:pt x="8" y="4"/>
                    <a:pt x="7" y="5"/>
                  </a:cubicBezTo>
                  <a:cubicBezTo>
                    <a:pt x="6" y="6"/>
                    <a:pt x="5" y="7"/>
                    <a:pt x="5" y="9"/>
                  </a:cubicBezTo>
                  <a:cubicBezTo>
                    <a:pt x="5" y="10"/>
                    <a:pt x="5" y="11"/>
                    <a:pt x="6" y="12"/>
                  </a:cubicBezTo>
                  <a:cubicBezTo>
                    <a:pt x="7" y="13"/>
                    <a:pt x="9" y="13"/>
                    <a:pt x="11" y="14"/>
                  </a:cubicBezTo>
                  <a:cubicBezTo>
                    <a:pt x="17" y="15"/>
                    <a:pt x="17" y="15"/>
                    <a:pt x="17" y="15"/>
                  </a:cubicBezTo>
                  <a:cubicBezTo>
                    <a:pt x="20" y="16"/>
                    <a:pt x="22" y="17"/>
                    <a:pt x="23" y="18"/>
                  </a:cubicBezTo>
                  <a:cubicBezTo>
                    <a:pt x="24" y="20"/>
                    <a:pt x="25" y="22"/>
                    <a:pt x="25" y="24"/>
                  </a:cubicBezTo>
                  <a:cubicBezTo>
                    <a:pt x="25" y="27"/>
                    <a:pt x="24" y="29"/>
                    <a:pt x="22" y="31"/>
                  </a:cubicBezTo>
                  <a:cubicBezTo>
                    <a:pt x="20" y="33"/>
                    <a:pt x="17" y="33"/>
                    <a:pt x="13" y="33"/>
                  </a:cubicBezTo>
                  <a:cubicBezTo>
                    <a:pt x="9" y="33"/>
                    <a:pt x="5" y="32"/>
                    <a:pt x="3" y="30"/>
                  </a:cubicBezTo>
                  <a:cubicBezTo>
                    <a:pt x="1" y="29"/>
                    <a:pt x="0" y="26"/>
                    <a:pt x="0" y="23"/>
                  </a:cubicBezTo>
                  <a:cubicBezTo>
                    <a:pt x="0" y="22"/>
                    <a:pt x="0" y="22"/>
                    <a:pt x="0" y="22"/>
                  </a:cubicBezTo>
                  <a:cubicBezTo>
                    <a:pt x="4" y="22"/>
                    <a:pt x="4" y="22"/>
                    <a:pt x="4" y="22"/>
                  </a:cubicBezTo>
                  <a:cubicBezTo>
                    <a:pt x="4" y="25"/>
                    <a:pt x="5" y="26"/>
                    <a:pt x="6" y="28"/>
                  </a:cubicBezTo>
                  <a:cubicBezTo>
                    <a:pt x="8" y="29"/>
                    <a:pt x="10" y="30"/>
                    <a:pt x="13" y="30"/>
                  </a:cubicBezTo>
                  <a:cubicBezTo>
                    <a:pt x="15" y="30"/>
                    <a:pt x="17" y="29"/>
                    <a:pt x="19" y="28"/>
                  </a:cubicBezTo>
                  <a:cubicBezTo>
                    <a:pt x="20" y="27"/>
                    <a:pt x="21" y="26"/>
                    <a:pt x="21" y="24"/>
                  </a:cubicBezTo>
                  <a:cubicBezTo>
                    <a:pt x="21" y="23"/>
                    <a:pt x="20" y="22"/>
                    <a:pt x="20" y="21"/>
                  </a:cubicBezTo>
                  <a:cubicBezTo>
                    <a:pt x="19" y="20"/>
                    <a:pt x="17" y="19"/>
                    <a:pt x="14" y="19"/>
                  </a:cubicBezTo>
                  <a:cubicBezTo>
                    <a:pt x="9" y="17"/>
                    <a:pt x="9" y="17"/>
                    <a:pt x="9" y="17"/>
                  </a:cubicBezTo>
                  <a:cubicBezTo>
                    <a:pt x="6" y="17"/>
                    <a:pt x="4" y="16"/>
                    <a:pt x="3" y="15"/>
                  </a:cubicBezTo>
                  <a:cubicBezTo>
                    <a:pt x="1" y="14"/>
                    <a:pt x="1" y="12"/>
                    <a:pt x="1" y="10"/>
                  </a:cubicBezTo>
                  <a:cubicBezTo>
                    <a:pt x="1" y="7"/>
                    <a:pt x="2" y="4"/>
                    <a:pt x="4" y="3"/>
                  </a:cubicBezTo>
                  <a:cubicBezTo>
                    <a:pt x="6" y="1"/>
                    <a:pt x="9" y="0"/>
                    <a:pt x="12" y="0"/>
                  </a:cubicBezTo>
                  <a:cubicBezTo>
                    <a:pt x="16" y="0"/>
                    <a:pt x="19" y="1"/>
                    <a:pt x="21" y="3"/>
                  </a:cubicBezTo>
                  <a:cubicBezTo>
                    <a:pt x="23" y="4"/>
                    <a:pt x="24" y="7"/>
                    <a:pt x="24" y="10"/>
                  </a:cubicBezTo>
                  <a:lnTo>
                    <a:pt x="20" y="1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6" name="Freeform 102"/>
            <p:cNvSpPr/>
            <p:nvPr userDrawn="1"/>
          </p:nvSpPr>
          <p:spPr bwMode="auto">
            <a:xfrm>
              <a:off x="2044"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7" name="Freeform 103"/>
            <p:cNvSpPr/>
            <p:nvPr userDrawn="1"/>
          </p:nvSpPr>
          <p:spPr bwMode="auto">
            <a:xfrm>
              <a:off x="2060" y="933"/>
              <a:ext cx="32" cy="40"/>
            </a:xfrm>
            <a:custGeom>
              <a:avLst/>
              <a:gdLst>
                <a:gd name="T0" fmla="*/ 13 w 32"/>
                <a:gd name="T1" fmla="*/ 5 h 40"/>
                <a:gd name="T2" fmla="*/ 0 w 32"/>
                <a:gd name="T3" fmla="*/ 5 h 40"/>
                <a:gd name="T4" fmla="*/ 0 w 32"/>
                <a:gd name="T5" fmla="*/ 3 h 40"/>
                <a:gd name="T6" fmla="*/ 0 w 32"/>
                <a:gd name="T7" fmla="*/ 0 h 40"/>
                <a:gd name="T8" fmla="*/ 32 w 32"/>
                <a:gd name="T9" fmla="*/ 0 h 40"/>
                <a:gd name="T10" fmla="*/ 32 w 32"/>
                <a:gd name="T11" fmla="*/ 3 h 40"/>
                <a:gd name="T12" fmla="*/ 32 w 32"/>
                <a:gd name="T13" fmla="*/ 5 h 40"/>
                <a:gd name="T14" fmla="*/ 18 w 32"/>
                <a:gd name="T15" fmla="*/ 5 h 40"/>
                <a:gd name="T16" fmla="*/ 18 w 32"/>
                <a:gd name="T17" fmla="*/ 40 h 40"/>
                <a:gd name="T18" fmla="*/ 16 w 32"/>
                <a:gd name="T19" fmla="*/ 40 h 40"/>
                <a:gd name="T20" fmla="*/ 13 w 32"/>
                <a:gd name="T21" fmla="*/ 40 h 40"/>
                <a:gd name="T22" fmla="*/ 13 w 32"/>
                <a:gd name="T23" fmla="*/ 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 h="40">
                  <a:moveTo>
                    <a:pt x="13" y="5"/>
                  </a:moveTo>
                  <a:lnTo>
                    <a:pt x="0" y="5"/>
                  </a:lnTo>
                  <a:lnTo>
                    <a:pt x="0" y="3"/>
                  </a:lnTo>
                  <a:lnTo>
                    <a:pt x="0" y="0"/>
                  </a:lnTo>
                  <a:lnTo>
                    <a:pt x="32" y="0"/>
                  </a:lnTo>
                  <a:lnTo>
                    <a:pt x="32" y="3"/>
                  </a:lnTo>
                  <a:lnTo>
                    <a:pt x="32" y="5"/>
                  </a:lnTo>
                  <a:lnTo>
                    <a:pt x="18" y="5"/>
                  </a:lnTo>
                  <a:lnTo>
                    <a:pt x="18" y="40"/>
                  </a:lnTo>
                  <a:lnTo>
                    <a:pt x="16" y="40"/>
                  </a:lnTo>
                  <a:lnTo>
                    <a:pt x="13" y="40"/>
                  </a:lnTo>
                  <a:lnTo>
                    <a:pt x="13" y="5"/>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8" name="Freeform 104"/>
            <p:cNvSpPr/>
            <p:nvPr userDrawn="1"/>
          </p:nvSpPr>
          <p:spPr bwMode="auto">
            <a:xfrm>
              <a:off x="2101" y="933"/>
              <a:ext cx="34" cy="40"/>
            </a:xfrm>
            <a:custGeom>
              <a:avLst/>
              <a:gdLst>
                <a:gd name="T0" fmla="*/ 15 w 34"/>
                <a:gd name="T1" fmla="*/ 24 h 40"/>
                <a:gd name="T2" fmla="*/ 0 w 34"/>
                <a:gd name="T3" fmla="*/ 0 h 40"/>
                <a:gd name="T4" fmla="*/ 3 w 34"/>
                <a:gd name="T5" fmla="*/ 0 h 40"/>
                <a:gd name="T6" fmla="*/ 6 w 34"/>
                <a:gd name="T7" fmla="*/ 0 h 40"/>
                <a:gd name="T8" fmla="*/ 17 w 34"/>
                <a:gd name="T9" fmla="*/ 19 h 40"/>
                <a:gd name="T10" fmla="*/ 17 w 34"/>
                <a:gd name="T11" fmla="*/ 19 h 40"/>
                <a:gd name="T12" fmla="*/ 28 w 34"/>
                <a:gd name="T13" fmla="*/ 0 h 40"/>
                <a:gd name="T14" fmla="*/ 32 w 34"/>
                <a:gd name="T15" fmla="*/ 0 h 40"/>
                <a:gd name="T16" fmla="*/ 34 w 34"/>
                <a:gd name="T17" fmla="*/ 0 h 40"/>
                <a:gd name="T18" fmla="*/ 20 w 34"/>
                <a:gd name="T19" fmla="*/ 24 h 40"/>
                <a:gd name="T20" fmla="*/ 20 w 34"/>
                <a:gd name="T21" fmla="*/ 40 h 40"/>
                <a:gd name="T22" fmla="*/ 17 w 34"/>
                <a:gd name="T23" fmla="*/ 40 h 40"/>
                <a:gd name="T24" fmla="*/ 15 w 34"/>
                <a:gd name="T25" fmla="*/ 40 h 40"/>
                <a:gd name="T26" fmla="*/ 15 w 34"/>
                <a:gd name="T27"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4" h="40">
                  <a:moveTo>
                    <a:pt x="15" y="24"/>
                  </a:moveTo>
                  <a:lnTo>
                    <a:pt x="0" y="0"/>
                  </a:lnTo>
                  <a:lnTo>
                    <a:pt x="3" y="0"/>
                  </a:lnTo>
                  <a:lnTo>
                    <a:pt x="6" y="0"/>
                  </a:lnTo>
                  <a:lnTo>
                    <a:pt x="17" y="19"/>
                  </a:lnTo>
                  <a:lnTo>
                    <a:pt x="17" y="19"/>
                  </a:lnTo>
                  <a:lnTo>
                    <a:pt x="28" y="0"/>
                  </a:lnTo>
                  <a:lnTo>
                    <a:pt x="32" y="0"/>
                  </a:lnTo>
                  <a:lnTo>
                    <a:pt x="34" y="0"/>
                  </a:lnTo>
                  <a:lnTo>
                    <a:pt x="20" y="24"/>
                  </a:lnTo>
                  <a:lnTo>
                    <a:pt x="20" y="40"/>
                  </a:lnTo>
                  <a:lnTo>
                    <a:pt x="17" y="40"/>
                  </a:lnTo>
                  <a:lnTo>
                    <a:pt x="15" y="40"/>
                  </a:lnTo>
                  <a:lnTo>
                    <a:pt x="15" y="24"/>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9" name="Freeform 105"/>
            <p:cNvSpPr>
              <a:spLocks noEditPoints="1"/>
            </p:cNvSpPr>
            <p:nvPr userDrawn="1"/>
          </p:nvSpPr>
          <p:spPr bwMode="auto">
            <a:xfrm>
              <a:off x="954" y="660"/>
              <a:ext cx="350" cy="353"/>
            </a:xfrm>
            <a:custGeom>
              <a:avLst/>
              <a:gdLst>
                <a:gd name="T0" fmla="*/ 142 w 283"/>
                <a:gd name="T1" fmla="*/ 0 h 283"/>
                <a:gd name="T2" fmla="*/ 283 w 283"/>
                <a:gd name="T3" fmla="*/ 142 h 283"/>
                <a:gd name="T4" fmla="*/ 142 w 283"/>
                <a:gd name="T5" fmla="*/ 283 h 283"/>
                <a:gd name="T6" fmla="*/ 0 w 283"/>
                <a:gd name="T7" fmla="*/ 142 h 283"/>
                <a:gd name="T8" fmla="*/ 142 w 283"/>
                <a:gd name="T9" fmla="*/ 0 h 283"/>
                <a:gd name="T10" fmla="*/ 142 w 283"/>
                <a:gd name="T11" fmla="*/ 6 h 283"/>
                <a:gd name="T12" fmla="*/ 6 w 283"/>
                <a:gd name="T13" fmla="*/ 142 h 283"/>
                <a:gd name="T14" fmla="*/ 142 w 283"/>
                <a:gd name="T15" fmla="*/ 277 h 283"/>
                <a:gd name="T16" fmla="*/ 278 w 283"/>
                <a:gd name="T17" fmla="*/ 142 h 283"/>
                <a:gd name="T18" fmla="*/ 142 w 283"/>
                <a:gd name="T19" fmla="*/ 6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3" h="283">
                  <a:moveTo>
                    <a:pt x="142" y="0"/>
                  </a:moveTo>
                  <a:cubicBezTo>
                    <a:pt x="220" y="0"/>
                    <a:pt x="283" y="64"/>
                    <a:pt x="283" y="142"/>
                  </a:cubicBezTo>
                  <a:cubicBezTo>
                    <a:pt x="283" y="219"/>
                    <a:pt x="220" y="283"/>
                    <a:pt x="142" y="283"/>
                  </a:cubicBezTo>
                  <a:cubicBezTo>
                    <a:pt x="64" y="283"/>
                    <a:pt x="0" y="219"/>
                    <a:pt x="0" y="142"/>
                  </a:cubicBezTo>
                  <a:cubicBezTo>
                    <a:pt x="0" y="64"/>
                    <a:pt x="64" y="0"/>
                    <a:pt x="142" y="0"/>
                  </a:cubicBezTo>
                  <a:moveTo>
                    <a:pt x="142" y="6"/>
                  </a:moveTo>
                  <a:cubicBezTo>
                    <a:pt x="67" y="6"/>
                    <a:pt x="6" y="67"/>
                    <a:pt x="6" y="142"/>
                  </a:cubicBezTo>
                  <a:cubicBezTo>
                    <a:pt x="6" y="216"/>
                    <a:pt x="67" y="277"/>
                    <a:pt x="142" y="277"/>
                  </a:cubicBezTo>
                  <a:cubicBezTo>
                    <a:pt x="217" y="277"/>
                    <a:pt x="278" y="216"/>
                    <a:pt x="278" y="142"/>
                  </a:cubicBezTo>
                  <a:cubicBezTo>
                    <a:pt x="278" y="67"/>
                    <a:pt x="217" y="6"/>
                    <a:pt x="142" y="6"/>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0" name="Freeform 106"/>
            <p:cNvSpPr/>
            <p:nvPr userDrawn="1"/>
          </p:nvSpPr>
          <p:spPr bwMode="auto">
            <a:xfrm>
              <a:off x="1033" y="739"/>
              <a:ext cx="193" cy="173"/>
            </a:xfrm>
            <a:custGeom>
              <a:avLst/>
              <a:gdLst>
                <a:gd name="T0" fmla="*/ 28 w 156"/>
                <a:gd name="T1" fmla="*/ 139 h 139"/>
                <a:gd name="T2" fmla="*/ 7 w 156"/>
                <a:gd name="T3" fmla="*/ 112 h 139"/>
                <a:gd name="T4" fmla="*/ 0 w 156"/>
                <a:gd name="T5" fmla="*/ 79 h 139"/>
                <a:gd name="T6" fmla="*/ 78 w 156"/>
                <a:gd name="T7" fmla="*/ 0 h 139"/>
                <a:gd name="T8" fmla="*/ 156 w 156"/>
                <a:gd name="T9" fmla="*/ 79 h 139"/>
                <a:gd name="T10" fmla="*/ 149 w 156"/>
                <a:gd name="T11" fmla="*/ 112 h 139"/>
                <a:gd name="T12" fmla="*/ 128 w 156"/>
                <a:gd name="T13" fmla="*/ 139 h 139"/>
                <a:gd name="T14" fmla="*/ 126 w 156"/>
                <a:gd name="T15" fmla="*/ 137 h 139"/>
                <a:gd name="T16" fmla="*/ 146 w 156"/>
                <a:gd name="T17" fmla="*/ 111 h 139"/>
                <a:gd name="T18" fmla="*/ 153 w 156"/>
                <a:gd name="T19" fmla="*/ 79 h 139"/>
                <a:gd name="T20" fmla="*/ 78 w 156"/>
                <a:gd name="T21" fmla="*/ 3 h 139"/>
                <a:gd name="T22" fmla="*/ 3 w 156"/>
                <a:gd name="T23" fmla="*/ 79 h 139"/>
                <a:gd name="T24" fmla="*/ 10 w 156"/>
                <a:gd name="T25" fmla="*/ 111 h 139"/>
                <a:gd name="T26" fmla="*/ 30 w 156"/>
                <a:gd name="T27" fmla="*/ 137 h 139"/>
                <a:gd name="T28" fmla="*/ 28 w 156"/>
                <a:gd name="T29" fmla="*/ 13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6" h="139">
                  <a:moveTo>
                    <a:pt x="28" y="139"/>
                  </a:moveTo>
                  <a:cubicBezTo>
                    <a:pt x="19" y="132"/>
                    <a:pt x="12" y="122"/>
                    <a:pt x="7" y="112"/>
                  </a:cubicBezTo>
                  <a:cubicBezTo>
                    <a:pt x="2" y="102"/>
                    <a:pt x="0" y="90"/>
                    <a:pt x="0" y="79"/>
                  </a:cubicBezTo>
                  <a:cubicBezTo>
                    <a:pt x="0" y="36"/>
                    <a:pt x="35" y="0"/>
                    <a:pt x="78" y="0"/>
                  </a:cubicBezTo>
                  <a:cubicBezTo>
                    <a:pt x="121" y="0"/>
                    <a:pt x="156" y="36"/>
                    <a:pt x="156" y="79"/>
                  </a:cubicBezTo>
                  <a:cubicBezTo>
                    <a:pt x="156" y="90"/>
                    <a:pt x="153" y="102"/>
                    <a:pt x="149" y="112"/>
                  </a:cubicBezTo>
                  <a:cubicBezTo>
                    <a:pt x="144" y="122"/>
                    <a:pt x="136" y="132"/>
                    <a:pt x="128" y="139"/>
                  </a:cubicBezTo>
                  <a:cubicBezTo>
                    <a:pt x="126" y="137"/>
                    <a:pt x="126" y="137"/>
                    <a:pt x="126" y="137"/>
                  </a:cubicBezTo>
                  <a:cubicBezTo>
                    <a:pt x="134" y="130"/>
                    <a:pt x="141" y="121"/>
                    <a:pt x="146" y="111"/>
                  </a:cubicBezTo>
                  <a:cubicBezTo>
                    <a:pt x="151" y="101"/>
                    <a:pt x="153" y="90"/>
                    <a:pt x="153" y="79"/>
                  </a:cubicBezTo>
                  <a:cubicBezTo>
                    <a:pt x="153" y="37"/>
                    <a:pt x="119" y="3"/>
                    <a:pt x="78" y="3"/>
                  </a:cubicBezTo>
                  <a:cubicBezTo>
                    <a:pt x="36" y="3"/>
                    <a:pt x="3" y="37"/>
                    <a:pt x="3" y="79"/>
                  </a:cubicBezTo>
                  <a:cubicBezTo>
                    <a:pt x="3" y="90"/>
                    <a:pt x="5" y="101"/>
                    <a:pt x="10" y="111"/>
                  </a:cubicBezTo>
                  <a:cubicBezTo>
                    <a:pt x="14" y="121"/>
                    <a:pt x="21" y="130"/>
                    <a:pt x="30" y="137"/>
                  </a:cubicBezTo>
                  <a:lnTo>
                    <a:pt x="28" y="13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1" name="Freeform 107"/>
            <p:cNvSpPr/>
            <p:nvPr userDrawn="1"/>
          </p:nvSpPr>
          <p:spPr bwMode="auto">
            <a:xfrm>
              <a:off x="972" y="867"/>
              <a:ext cx="40" cy="29"/>
            </a:xfrm>
            <a:custGeom>
              <a:avLst/>
              <a:gdLst>
                <a:gd name="T0" fmla="*/ 8 w 40"/>
                <a:gd name="T1" fmla="*/ 29 h 29"/>
                <a:gd name="T2" fmla="*/ 0 w 40"/>
                <a:gd name="T3" fmla="*/ 10 h 29"/>
                <a:gd name="T4" fmla="*/ 4 w 40"/>
                <a:gd name="T5" fmla="*/ 9 h 29"/>
                <a:gd name="T6" fmla="*/ 35 w 40"/>
                <a:gd name="T7" fmla="*/ 14 h 29"/>
                <a:gd name="T8" fmla="*/ 30 w 40"/>
                <a:gd name="T9" fmla="*/ 1 h 29"/>
                <a:gd name="T10" fmla="*/ 34 w 40"/>
                <a:gd name="T11" fmla="*/ 0 h 29"/>
                <a:gd name="T12" fmla="*/ 40 w 40"/>
                <a:gd name="T13" fmla="*/ 16 h 29"/>
                <a:gd name="T14" fmla="*/ 36 w 40"/>
                <a:gd name="T15" fmla="*/ 17 h 29"/>
                <a:gd name="T16" fmla="*/ 7 w 40"/>
                <a:gd name="T17" fmla="*/ 14 h 29"/>
                <a:gd name="T18" fmla="*/ 12 w 40"/>
                <a:gd name="T19" fmla="*/ 27 h 29"/>
                <a:gd name="T20" fmla="*/ 8 w 40"/>
                <a:gd name="T21"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29">
                  <a:moveTo>
                    <a:pt x="8" y="29"/>
                  </a:moveTo>
                  <a:lnTo>
                    <a:pt x="0" y="10"/>
                  </a:lnTo>
                  <a:lnTo>
                    <a:pt x="4" y="9"/>
                  </a:lnTo>
                  <a:lnTo>
                    <a:pt x="35" y="14"/>
                  </a:lnTo>
                  <a:lnTo>
                    <a:pt x="30" y="1"/>
                  </a:lnTo>
                  <a:lnTo>
                    <a:pt x="34" y="0"/>
                  </a:lnTo>
                  <a:lnTo>
                    <a:pt x="40" y="16"/>
                  </a:lnTo>
                  <a:lnTo>
                    <a:pt x="36" y="17"/>
                  </a:lnTo>
                  <a:lnTo>
                    <a:pt x="7" y="14"/>
                  </a:lnTo>
                  <a:lnTo>
                    <a:pt x="12" y="27"/>
                  </a:lnTo>
                  <a:lnTo>
                    <a:pt x="8" y="2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2" name="Freeform 108"/>
            <p:cNvSpPr/>
            <p:nvPr userDrawn="1"/>
          </p:nvSpPr>
          <p:spPr bwMode="auto">
            <a:xfrm>
              <a:off x="984" y="888"/>
              <a:ext cx="38" cy="31"/>
            </a:xfrm>
            <a:custGeom>
              <a:avLst/>
              <a:gdLst>
                <a:gd name="T0" fmla="*/ 7 w 38"/>
                <a:gd name="T1" fmla="*/ 31 h 31"/>
                <a:gd name="T2" fmla="*/ 6 w 38"/>
                <a:gd name="T3" fmla="*/ 28 h 31"/>
                <a:gd name="T4" fmla="*/ 19 w 38"/>
                <a:gd name="T5" fmla="*/ 21 h 31"/>
                <a:gd name="T6" fmla="*/ 14 w 38"/>
                <a:gd name="T7" fmla="*/ 11 h 31"/>
                <a:gd name="T8" fmla="*/ 1 w 38"/>
                <a:gd name="T9" fmla="*/ 19 h 31"/>
                <a:gd name="T10" fmla="*/ 0 w 38"/>
                <a:gd name="T11" fmla="*/ 15 h 31"/>
                <a:gd name="T12" fmla="*/ 29 w 38"/>
                <a:gd name="T13" fmla="*/ 0 h 31"/>
                <a:gd name="T14" fmla="*/ 32 w 38"/>
                <a:gd name="T15" fmla="*/ 4 h 31"/>
                <a:gd name="T16" fmla="*/ 18 w 38"/>
                <a:gd name="T17" fmla="*/ 10 h 31"/>
                <a:gd name="T18" fmla="*/ 23 w 38"/>
                <a:gd name="T19" fmla="*/ 19 h 31"/>
                <a:gd name="T20" fmla="*/ 35 w 38"/>
                <a:gd name="T21" fmla="*/ 13 h 31"/>
                <a:gd name="T22" fmla="*/ 38 w 38"/>
                <a:gd name="T23" fmla="*/ 16 h 31"/>
                <a:gd name="T24" fmla="*/ 7 w 38"/>
                <a:gd name="T25"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1">
                  <a:moveTo>
                    <a:pt x="7" y="31"/>
                  </a:moveTo>
                  <a:lnTo>
                    <a:pt x="6" y="28"/>
                  </a:lnTo>
                  <a:lnTo>
                    <a:pt x="19" y="21"/>
                  </a:lnTo>
                  <a:lnTo>
                    <a:pt x="14" y="11"/>
                  </a:lnTo>
                  <a:lnTo>
                    <a:pt x="1" y="19"/>
                  </a:lnTo>
                  <a:lnTo>
                    <a:pt x="0" y="15"/>
                  </a:lnTo>
                  <a:lnTo>
                    <a:pt x="29" y="0"/>
                  </a:lnTo>
                  <a:lnTo>
                    <a:pt x="32" y="4"/>
                  </a:lnTo>
                  <a:lnTo>
                    <a:pt x="18" y="10"/>
                  </a:lnTo>
                  <a:lnTo>
                    <a:pt x="23" y="19"/>
                  </a:lnTo>
                  <a:lnTo>
                    <a:pt x="35" y="13"/>
                  </a:lnTo>
                  <a:lnTo>
                    <a:pt x="38" y="16"/>
                  </a:lnTo>
                  <a:lnTo>
                    <a:pt x="7" y="31"/>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3" name="Freeform 109"/>
            <p:cNvSpPr/>
            <p:nvPr userDrawn="1"/>
          </p:nvSpPr>
          <p:spPr bwMode="auto">
            <a:xfrm>
              <a:off x="995" y="906"/>
              <a:ext cx="38" cy="33"/>
            </a:xfrm>
            <a:custGeom>
              <a:avLst/>
              <a:gdLst>
                <a:gd name="T0" fmla="*/ 11 w 38"/>
                <a:gd name="T1" fmla="*/ 33 h 33"/>
                <a:gd name="T2" fmla="*/ 0 w 38"/>
                <a:gd name="T3" fmla="*/ 18 h 33"/>
                <a:gd name="T4" fmla="*/ 28 w 38"/>
                <a:gd name="T5" fmla="*/ 0 h 33"/>
                <a:gd name="T6" fmla="*/ 38 w 38"/>
                <a:gd name="T7" fmla="*/ 15 h 33"/>
                <a:gd name="T8" fmla="*/ 36 w 38"/>
                <a:gd name="T9" fmla="*/ 17 h 33"/>
                <a:gd name="T10" fmla="*/ 27 w 38"/>
                <a:gd name="T11" fmla="*/ 6 h 33"/>
                <a:gd name="T12" fmla="*/ 18 w 38"/>
                <a:gd name="T13" fmla="*/ 11 h 33"/>
                <a:gd name="T14" fmla="*/ 26 w 38"/>
                <a:gd name="T15" fmla="*/ 21 h 33"/>
                <a:gd name="T16" fmla="*/ 23 w 38"/>
                <a:gd name="T17" fmla="*/ 23 h 33"/>
                <a:gd name="T18" fmla="*/ 16 w 38"/>
                <a:gd name="T19" fmla="*/ 13 h 33"/>
                <a:gd name="T20" fmla="*/ 6 w 38"/>
                <a:gd name="T21" fmla="*/ 20 h 33"/>
                <a:gd name="T22" fmla="*/ 13 w 38"/>
                <a:gd name="T23" fmla="*/ 31 h 33"/>
                <a:gd name="T24" fmla="*/ 11 w 38"/>
                <a:gd name="T25"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3">
                  <a:moveTo>
                    <a:pt x="11" y="33"/>
                  </a:moveTo>
                  <a:lnTo>
                    <a:pt x="0" y="18"/>
                  </a:lnTo>
                  <a:lnTo>
                    <a:pt x="28" y="0"/>
                  </a:lnTo>
                  <a:lnTo>
                    <a:pt x="38" y="15"/>
                  </a:lnTo>
                  <a:lnTo>
                    <a:pt x="36" y="17"/>
                  </a:lnTo>
                  <a:lnTo>
                    <a:pt x="27" y="6"/>
                  </a:lnTo>
                  <a:lnTo>
                    <a:pt x="18" y="11"/>
                  </a:lnTo>
                  <a:lnTo>
                    <a:pt x="26" y="21"/>
                  </a:lnTo>
                  <a:lnTo>
                    <a:pt x="23" y="23"/>
                  </a:lnTo>
                  <a:lnTo>
                    <a:pt x="16" y="13"/>
                  </a:lnTo>
                  <a:lnTo>
                    <a:pt x="6" y="20"/>
                  </a:lnTo>
                  <a:lnTo>
                    <a:pt x="13" y="31"/>
                  </a:lnTo>
                  <a:lnTo>
                    <a:pt x="11" y="33"/>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4" name="Freeform 110"/>
            <p:cNvSpPr/>
            <p:nvPr userDrawn="1"/>
          </p:nvSpPr>
          <p:spPr bwMode="auto">
            <a:xfrm>
              <a:off x="1026" y="934"/>
              <a:ext cx="24" cy="29"/>
            </a:xfrm>
            <a:custGeom>
              <a:avLst/>
              <a:gdLst>
                <a:gd name="T0" fmla="*/ 3 w 24"/>
                <a:gd name="T1" fmla="*/ 29 h 29"/>
                <a:gd name="T2" fmla="*/ 0 w 24"/>
                <a:gd name="T3" fmla="*/ 26 h 29"/>
                <a:gd name="T4" fmla="*/ 21 w 24"/>
                <a:gd name="T5" fmla="*/ 0 h 29"/>
                <a:gd name="T6" fmla="*/ 24 w 24"/>
                <a:gd name="T7" fmla="*/ 3 h 29"/>
                <a:gd name="T8" fmla="*/ 3 w 24"/>
                <a:gd name="T9" fmla="*/ 29 h 29"/>
              </a:gdLst>
              <a:ahLst/>
              <a:cxnLst>
                <a:cxn ang="0">
                  <a:pos x="T0" y="T1"/>
                </a:cxn>
                <a:cxn ang="0">
                  <a:pos x="T2" y="T3"/>
                </a:cxn>
                <a:cxn ang="0">
                  <a:pos x="T4" y="T5"/>
                </a:cxn>
                <a:cxn ang="0">
                  <a:pos x="T6" y="T7"/>
                </a:cxn>
                <a:cxn ang="0">
                  <a:pos x="T8" y="T9"/>
                </a:cxn>
              </a:cxnLst>
              <a:rect l="0" t="0" r="r" b="b"/>
              <a:pathLst>
                <a:path w="24" h="29">
                  <a:moveTo>
                    <a:pt x="3" y="29"/>
                  </a:moveTo>
                  <a:lnTo>
                    <a:pt x="0" y="26"/>
                  </a:lnTo>
                  <a:lnTo>
                    <a:pt x="21" y="0"/>
                  </a:lnTo>
                  <a:lnTo>
                    <a:pt x="24" y="3"/>
                  </a:lnTo>
                  <a:lnTo>
                    <a:pt x="3" y="2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5" name="Freeform 111"/>
            <p:cNvSpPr>
              <a:spLocks noEditPoints="1"/>
            </p:cNvSpPr>
            <p:nvPr userDrawn="1"/>
          </p:nvSpPr>
          <p:spPr bwMode="auto">
            <a:xfrm>
              <a:off x="1034" y="942"/>
              <a:ext cx="29" cy="35"/>
            </a:xfrm>
            <a:custGeom>
              <a:avLst/>
              <a:gdLst>
                <a:gd name="T0" fmla="*/ 11 w 29"/>
                <a:gd name="T1" fmla="*/ 32 h 35"/>
                <a:gd name="T2" fmla="*/ 16 w 29"/>
                <a:gd name="T3" fmla="*/ 23 h 35"/>
                <a:gd name="T4" fmla="*/ 11 w 29"/>
                <a:gd name="T5" fmla="*/ 20 h 35"/>
                <a:gd name="T6" fmla="*/ 3 w 29"/>
                <a:gd name="T7" fmla="*/ 27 h 35"/>
                <a:gd name="T8" fmla="*/ 0 w 29"/>
                <a:gd name="T9" fmla="*/ 25 h 35"/>
                <a:gd name="T10" fmla="*/ 24 w 29"/>
                <a:gd name="T11" fmla="*/ 0 h 35"/>
                <a:gd name="T12" fmla="*/ 29 w 29"/>
                <a:gd name="T13" fmla="*/ 2 h 35"/>
                <a:gd name="T14" fmla="*/ 16 w 29"/>
                <a:gd name="T15" fmla="*/ 35 h 35"/>
                <a:gd name="T16" fmla="*/ 11 w 29"/>
                <a:gd name="T17" fmla="*/ 32 h 35"/>
                <a:gd name="T18" fmla="*/ 19 w 29"/>
                <a:gd name="T19" fmla="*/ 18 h 35"/>
                <a:gd name="T20" fmla="*/ 24 w 29"/>
                <a:gd name="T21" fmla="*/ 7 h 35"/>
                <a:gd name="T22" fmla="*/ 23 w 29"/>
                <a:gd name="T23" fmla="*/ 6 h 35"/>
                <a:gd name="T24" fmla="*/ 14 w 29"/>
                <a:gd name="T25" fmla="*/ 16 h 35"/>
                <a:gd name="T26" fmla="*/ 19 w 29"/>
                <a:gd name="T2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35">
                  <a:moveTo>
                    <a:pt x="11" y="32"/>
                  </a:moveTo>
                  <a:lnTo>
                    <a:pt x="16" y="23"/>
                  </a:lnTo>
                  <a:lnTo>
                    <a:pt x="11" y="20"/>
                  </a:lnTo>
                  <a:lnTo>
                    <a:pt x="3" y="27"/>
                  </a:lnTo>
                  <a:lnTo>
                    <a:pt x="0" y="25"/>
                  </a:lnTo>
                  <a:lnTo>
                    <a:pt x="24" y="0"/>
                  </a:lnTo>
                  <a:lnTo>
                    <a:pt x="29" y="2"/>
                  </a:lnTo>
                  <a:lnTo>
                    <a:pt x="16" y="35"/>
                  </a:lnTo>
                  <a:lnTo>
                    <a:pt x="11" y="32"/>
                  </a:lnTo>
                  <a:close/>
                  <a:moveTo>
                    <a:pt x="19" y="18"/>
                  </a:moveTo>
                  <a:lnTo>
                    <a:pt x="24" y="7"/>
                  </a:lnTo>
                  <a:lnTo>
                    <a:pt x="23" y="6"/>
                  </a:lnTo>
                  <a:lnTo>
                    <a:pt x="14" y="16"/>
                  </a:lnTo>
                  <a:lnTo>
                    <a:pt x="19" y="18"/>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6" name="Freeform 112"/>
            <p:cNvSpPr/>
            <p:nvPr userDrawn="1"/>
          </p:nvSpPr>
          <p:spPr bwMode="auto">
            <a:xfrm>
              <a:off x="1054" y="948"/>
              <a:ext cx="32" cy="39"/>
            </a:xfrm>
            <a:custGeom>
              <a:avLst/>
              <a:gdLst>
                <a:gd name="T0" fmla="*/ 16 w 32"/>
                <a:gd name="T1" fmla="*/ 39 h 39"/>
                <a:gd name="T2" fmla="*/ 13 w 32"/>
                <a:gd name="T3" fmla="*/ 36 h 39"/>
                <a:gd name="T4" fmla="*/ 15 w 32"/>
                <a:gd name="T5" fmla="*/ 12 h 39"/>
                <a:gd name="T6" fmla="*/ 5 w 32"/>
                <a:gd name="T7" fmla="*/ 32 h 39"/>
                <a:gd name="T8" fmla="*/ 0 w 32"/>
                <a:gd name="T9" fmla="*/ 30 h 39"/>
                <a:gd name="T10" fmla="*/ 16 w 32"/>
                <a:gd name="T11" fmla="*/ 0 h 39"/>
                <a:gd name="T12" fmla="*/ 20 w 32"/>
                <a:gd name="T13" fmla="*/ 1 h 39"/>
                <a:gd name="T14" fmla="*/ 19 w 32"/>
                <a:gd name="T15" fmla="*/ 25 h 39"/>
                <a:gd name="T16" fmla="*/ 29 w 32"/>
                <a:gd name="T17" fmla="*/ 5 h 39"/>
                <a:gd name="T18" fmla="*/ 32 w 32"/>
                <a:gd name="T19" fmla="*/ 7 h 39"/>
                <a:gd name="T20" fmla="*/ 16 w 32"/>
                <a:gd name="T21"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39">
                  <a:moveTo>
                    <a:pt x="16" y="39"/>
                  </a:moveTo>
                  <a:lnTo>
                    <a:pt x="13" y="36"/>
                  </a:lnTo>
                  <a:lnTo>
                    <a:pt x="15" y="12"/>
                  </a:lnTo>
                  <a:lnTo>
                    <a:pt x="5" y="32"/>
                  </a:lnTo>
                  <a:lnTo>
                    <a:pt x="0" y="30"/>
                  </a:lnTo>
                  <a:lnTo>
                    <a:pt x="16" y="0"/>
                  </a:lnTo>
                  <a:lnTo>
                    <a:pt x="20" y="1"/>
                  </a:lnTo>
                  <a:lnTo>
                    <a:pt x="19" y="25"/>
                  </a:lnTo>
                  <a:lnTo>
                    <a:pt x="29" y="5"/>
                  </a:lnTo>
                  <a:lnTo>
                    <a:pt x="32" y="7"/>
                  </a:lnTo>
                  <a:lnTo>
                    <a:pt x="16" y="3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7" name="Freeform 113"/>
            <p:cNvSpPr/>
            <p:nvPr userDrawn="1"/>
          </p:nvSpPr>
          <p:spPr bwMode="auto">
            <a:xfrm>
              <a:off x="1079" y="957"/>
              <a:ext cx="23" cy="36"/>
            </a:xfrm>
            <a:custGeom>
              <a:avLst/>
              <a:gdLst>
                <a:gd name="T0" fmla="*/ 12 w 19"/>
                <a:gd name="T1" fmla="*/ 29 h 29"/>
                <a:gd name="T2" fmla="*/ 10 w 19"/>
                <a:gd name="T3" fmla="*/ 29 h 29"/>
                <a:gd name="T4" fmla="*/ 10 w 19"/>
                <a:gd name="T5" fmla="*/ 26 h 29"/>
                <a:gd name="T6" fmla="*/ 8 w 19"/>
                <a:gd name="T7" fmla="*/ 27 h 29"/>
                <a:gd name="T8" fmla="*/ 5 w 19"/>
                <a:gd name="T9" fmla="*/ 27 h 29"/>
                <a:gd name="T10" fmla="*/ 1 w 19"/>
                <a:gd name="T11" fmla="*/ 23 h 29"/>
                <a:gd name="T12" fmla="*/ 1 w 19"/>
                <a:gd name="T13" fmla="*/ 13 h 29"/>
                <a:gd name="T14" fmla="*/ 6 w 19"/>
                <a:gd name="T15" fmla="*/ 3 h 29"/>
                <a:gd name="T16" fmla="*/ 14 w 19"/>
                <a:gd name="T17" fmla="*/ 1 h 29"/>
                <a:gd name="T18" fmla="*/ 18 w 19"/>
                <a:gd name="T19" fmla="*/ 11 h 29"/>
                <a:gd name="T20" fmla="*/ 15 w 19"/>
                <a:gd name="T21" fmla="*/ 11 h 29"/>
                <a:gd name="T22" fmla="*/ 13 w 19"/>
                <a:gd name="T23" fmla="*/ 4 h 29"/>
                <a:gd name="T24" fmla="*/ 8 w 19"/>
                <a:gd name="T25" fmla="*/ 6 h 29"/>
                <a:gd name="T26" fmla="*/ 5 w 19"/>
                <a:gd name="T27" fmla="*/ 14 h 29"/>
                <a:gd name="T28" fmla="*/ 4 w 19"/>
                <a:gd name="T29" fmla="*/ 21 h 29"/>
                <a:gd name="T30" fmla="*/ 6 w 19"/>
                <a:gd name="T31" fmla="*/ 24 h 29"/>
                <a:gd name="T32" fmla="*/ 9 w 19"/>
                <a:gd name="T33" fmla="*/ 24 h 29"/>
                <a:gd name="T34" fmla="*/ 12 w 19"/>
                <a:gd name="T35" fmla="*/ 20 h 29"/>
                <a:gd name="T36" fmla="*/ 12 w 19"/>
                <a:gd name="T37" fmla="*/ 18 h 29"/>
                <a:gd name="T38" fmla="*/ 8 w 19"/>
                <a:gd name="T39" fmla="*/ 17 h 29"/>
                <a:gd name="T40" fmla="*/ 9 w 19"/>
                <a:gd name="T41" fmla="*/ 14 h 29"/>
                <a:gd name="T42" fmla="*/ 16 w 19"/>
                <a:gd name="T43" fmla="*/ 17 h 29"/>
                <a:gd name="T44" fmla="*/ 12 w 19"/>
                <a:gd name="T45"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29">
                  <a:moveTo>
                    <a:pt x="12" y="29"/>
                  </a:moveTo>
                  <a:cubicBezTo>
                    <a:pt x="10" y="29"/>
                    <a:pt x="10" y="29"/>
                    <a:pt x="10" y="29"/>
                  </a:cubicBezTo>
                  <a:cubicBezTo>
                    <a:pt x="10" y="26"/>
                    <a:pt x="10" y="26"/>
                    <a:pt x="10" y="26"/>
                  </a:cubicBezTo>
                  <a:cubicBezTo>
                    <a:pt x="9" y="27"/>
                    <a:pt x="9" y="27"/>
                    <a:pt x="8" y="27"/>
                  </a:cubicBezTo>
                  <a:cubicBezTo>
                    <a:pt x="7" y="27"/>
                    <a:pt x="6" y="27"/>
                    <a:pt x="5" y="27"/>
                  </a:cubicBezTo>
                  <a:cubicBezTo>
                    <a:pt x="3" y="26"/>
                    <a:pt x="2" y="25"/>
                    <a:pt x="1" y="23"/>
                  </a:cubicBezTo>
                  <a:cubicBezTo>
                    <a:pt x="0" y="20"/>
                    <a:pt x="0" y="17"/>
                    <a:pt x="1" y="13"/>
                  </a:cubicBezTo>
                  <a:cubicBezTo>
                    <a:pt x="3" y="8"/>
                    <a:pt x="4" y="5"/>
                    <a:pt x="6" y="3"/>
                  </a:cubicBezTo>
                  <a:cubicBezTo>
                    <a:pt x="9" y="1"/>
                    <a:pt x="12" y="0"/>
                    <a:pt x="14" y="1"/>
                  </a:cubicBezTo>
                  <a:cubicBezTo>
                    <a:pt x="17" y="2"/>
                    <a:pt x="19" y="6"/>
                    <a:pt x="18" y="11"/>
                  </a:cubicBezTo>
                  <a:cubicBezTo>
                    <a:pt x="15" y="11"/>
                    <a:pt x="15" y="11"/>
                    <a:pt x="15" y="11"/>
                  </a:cubicBezTo>
                  <a:cubicBezTo>
                    <a:pt x="16" y="9"/>
                    <a:pt x="15" y="5"/>
                    <a:pt x="13" y="4"/>
                  </a:cubicBezTo>
                  <a:cubicBezTo>
                    <a:pt x="11" y="4"/>
                    <a:pt x="9" y="4"/>
                    <a:pt x="8" y="6"/>
                  </a:cubicBezTo>
                  <a:cubicBezTo>
                    <a:pt x="7" y="7"/>
                    <a:pt x="6" y="10"/>
                    <a:pt x="5" y="14"/>
                  </a:cubicBezTo>
                  <a:cubicBezTo>
                    <a:pt x="4" y="17"/>
                    <a:pt x="3" y="20"/>
                    <a:pt x="4" y="21"/>
                  </a:cubicBezTo>
                  <a:cubicBezTo>
                    <a:pt x="4" y="23"/>
                    <a:pt x="5" y="24"/>
                    <a:pt x="6" y="24"/>
                  </a:cubicBezTo>
                  <a:cubicBezTo>
                    <a:pt x="7" y="25"/>
                    <a:pt x="9" y="25"/>
                    <a:pt x="9" y="24"/>
                  </a:cubicBezTo>
                  <a:cubicBezTo>
                    <a:pt x="10" y="23"/>
                    <a:pt x="11" y="22"/>
                    <a:pt x="12" y="20"/>
                  </a:cubicBezTo>
                  <a:cubicBezTo>
                    <a:pt x="12" y="18"/>
                    <a:pt x="12" y="18"/>
                    <a:pt x="12" y="18"/>
                  </a:cubicBezTo>
                  <a:cubicBezTo>
                    <a:pt x="8" y="17"/>
                    <a:pt x="8" y="17"/>
                    <a:pt x="8" y="17"/>
                  </a:cubicBezTo>
                  <a:cubicBezTo>
                    <a:pt x="9" y="14"/>
                    <a:pt x="9" y="14"/>
                    <a:pt x="9" y="14"/>
                  </a:cubicBezTo>
                  <a:cubicBezTo>
                    <a:pt x="16" y="17"/>
                    <a:pt x="16" y="17"/>
                    <a:pt x="16" y="17"/>
                  </a:cubicBezTo>
                  <a:lnTo>
                    <a:pt x="12" y="2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8" name="Freeform 114"/>
            <p:cNvSpPr/>
            <p:nvPr userDrawn="1"/>
          </p:nvSpPr>
          <p:spPr bwMode="auto">
            <a:xfrm>
              <a:off x="1121" y="962"/>
              <a:ext cx="19" cy="33"/>
            </a:xfrm>
            <a:custGeom>
              <a:avLst/>
              <a:gdLst>
                <a:gd name="T0" fmla="*/ 15 w 15"/>
                <a:gd name="T1" fmla="*/ 19 h 27"/>
                <a:gd name="T2" fmla="*/ 13 w 15"/>
                <a:gd name="T3" fmla="*/ 25 h 27"/>
                <a:gd name="T4" fmla="*/ 7 w 15"/>
                <a:gd name="T5" fmla="*/ 27 h 27"/>
                <a:gd name="T6" fmla="*/ 1 w 15"/>
                <a:gd name="T7" fmla="*/ 25 h 27"/>
                <a:gd name="T8" fmla="*/ 0 w 15"/>
                <a:gd name="T9" fmla="*/ 19 h 27"/>
                <a:gd name="T10" fmla="*/ 0 w 15"/>
                <a:gd name="T11" fmla="*/ 0 h 27"/>
                <a:gd name="T12" fmla="*/ 4 w 15"/>
                <a:gd name="T13" fmla="*/ 0 h 27"/>
                <a:gd name="T14" fmla="*/ 3 w 15"/>
                <a:gd name="T15" fmla="*/ 19 h 27"/>
                <a:gd name="T16" fmla="*/ 4 w 15"/>
                <a:gd name="T17" fmla="*/ 23 h 27"/>
                <a:gd name="T18" fmla="*/ 7 w 15"/>
                <a:gd name="T19" fmla="*/ 24 h 27"/>
                <a:gd name="T20" fmla="*/ 10 w 15"/>
                <a:gd name="T21" fmla="*/ 23 h 27"/>
                <a:gd name="T22" fmla="*/ 11 w 15"/>
                <a:gd name="T23" fmla="*/ 19 h 27"/>
                <a:gd name="T24" fmla="*/ 12 w 15"/>
                <a:gd name="T25" fmla="*/ 0 h 27"/>
                <a:gd name="T26" fmla="*/ 15 w 15"/>
                <a:gd name="T27" fmla="*/ 0 h 27"/>
                <a:gd name="T28" fmla="*/ 15 w 15"/>
                <a:gd name="T29"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7">
                  <a:moveTo>
                    <a:pt x="15" y="19"/>
                  </a:moveTo>
                  <a:cubicBezTo>
                    <a:pt x="15" y="22"/>
                    <a:pt x="14" y="24"/>
                    <a:pt x="13" y="25"/>
                  </a:cubicBezTo>
                  <a:cubicBezTo>
                    <a:pt x="11" y="27"/>
                    <a:pt x="10" y="27"/>
                    <a:pt x="7" y="27"/>
                  </a:cubicBezTo>
                  <a:cubicBezTo>
                    <a:pt x="4" y="27"/>
                    <a:pt x="2" y="26"/>
                    <a:pt x="1" y="25"/>
                  </a:cubicBezTo>
                  <a:cubicBezTo>
                    <a:pt x="0" y="23"/>
                    <a:pt x="0" y="21"/>
                    <a:pt x="0" y="19"/>
                  </a:cubicBezTo>
                  <a:cubicBezTo>
                    <a:pt x="0" y="0"/>
                    <a:pt x="0" y="0"/>
                    <a:pt x="0" y="0"/>
                  </a:cubicBezTo>
                  <a:cubicBezTo>
                    <a:pt x="4" y="0"/>
                    <a:pt x="4" y="0"/>
                    <a:pt x="4" y="0"/>
                  </a:cubicBezTo>
                  <a:cubicBezTo>
                    <a:pt x="3" y="19"/>
                    <a:pt x="3" y="19"/>
                    <a:pt x="3" y="19"/>
                  </a:cubicBezTo>
                  <a:cubicBezTo>
                    <a:pt x="3" y="21"/>
                    <a:pt x="3" y="22"/>
                    <a:pt x="4" y="23"/>
                  </a:cubicBezTo>
                  <a:cubicBezTo>
                    <a:pt x="5" y="24"/>
                    <a:pt x="6" y="24"/>
                    <a:pt x="7" y="24"/>
                  </a:cubicBezTo>
                  <a:cubicBezTo>
                    <a:pt x="8" y="24"/>
                    <a:pt x="9" y="24"/>
                    <a:pt x="10" y="23"/>
                  </a:cubicBezTo>
                  <a:cubicBezTo>
                    <a:pt x="11" y="22"/>
                    <a:pt x="11" y="21"/>
                    <a:pt x="11" y="19"/>
                  </a:cubicBezTo>
                  <a:cubicBezTo>
                    <a:pt x="12" y="0"/>
                    <a:pt x="12" y="0"/>
                    <a:pt x="12" y="0"/>
                  </a:cubicBezTo>
                  <a:cubicBezTo>
                    <a:pt x="15" y="0"/>
                    <a:pt x="15" y="0"/>
                    <a:pt x="15" y="0"/>
                  </a:cubicBezTo>
                  <a:lnTo>
                    <a:pt x="15" y="1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9" name="Freeform 115"/>
            <p:cNvSpPr/>
            <p:nvPr userDrawn="1"/>
          </p:nvSpPr>
          <p:spPr bwMode="auto">
            <a:xfrm>
              <a:off x="1142" y="959"/>
              <a:ext cx="21" cy="36"/>
            </a:xfrm>
            <a:custGeom>
              <a:avLst/>
              <a:gdLst>
                <a:gd name="T0" fmla="*/ 21 w 21"/>
                <a:gd name="T1" fmla="*/ 33 h 36"/>
                <a:gd name="T2" fmla="*/ 17 w 21"/>
                <a:gd name="T3" fmla="*/ 34 h 36"/>
                <a:gd name="T4" fmla="*/ 5 w 21"/>
                <a:gd name="T5" fmla="*/ 11 h 36"/>
                <a:gd name="T6" fmla="*/ 8 w 21"/>
                <a:gd name="T7" fmla="*/ 35 h 36"/>
                <a:gd name="T8" fmla="*/ 3 w 21"/>
                <a:gd name="T9" fmla="*/ 36 h 36"/>
                <a:gd name="T10" fmla="*/ 0 w 21"/>
                <a:gd name="T11" fmla="*/ 3 h 36"/>
                <a:gd name="T12" fmla="*/ 5 w 21"/>
                <a:gd name="T13" fmla="*/ 1 h 36"/>
                <a:gd name="T14" fmla="*/ 15 w 21"/>
                <a:gd name="T15" fmla="*/ 18 h 36"/>
                <a:gd name="T16" fmla="*/ 12 w 21"/>
                <a:gd name="T17" fmla="*/ 0 h 36"/>
                <a:gd name="T18" fmla="*/ 16 w 21"/>
                <a:gd name="T19" fmla="*/ 0 h 36"/>
                <a:gd name="T20" fmla="*/ 21 w 21"/>
                <a:gd name="T21" fmla="*/ 3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36">
                  <a:moveTo>
                    <a:pt x="21" y="33"/>
                  </a:moveTo>
                  <a:lnTo>
                    <a:pt x="17" y="34"/>
                  </a:lnTo>
                  <a:lnTo>
                    <a:pt x="5" y="11"/>
                  </a:lnTo>
                  <a:lnTo>
                    <a:pt x="8" y="35"/>
                  </a:lnTo>
                  <a:lnTo>
                    <a:pt x="3" y="36"/>
                  </a:lnTo>
                  <a:lnTo>
                    <a:pt x="0" y="3"/>
                  </a:lnTo>
                  <a:lnTo>
                    <a:pt x="5" y="1"/>
                  </a:lnTo>
                  <a:lnTo>
                    <a:pt x="15" y="18"/>
                  </a:lnTo>
                  <a:lnTo>
                    <a:pt x="12" y="0"/>
                  </a:lnTo>
                  <a:lnTo>
                    <a:pt x="16" y="0"/>
                  </a:lnTo>
                  <a:lnTo>
                    <a:pt x="21" y="33"/>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0" name="Freeform 116"/>
            <p:cNvSpPr/>
            <p:nvPr userDrawn="1"/>
          </p:nvSpPr>
          <p:spPr bwMode="auto">
            <a:xfrm>
              <a:off x="1162" y="957"/>
              <a:ext cx="14" cy="33"/>
            </a:xfrm>
            <a:custGeom>
              <a:avLst/>
              <a:gdLst>
                <a:gd name="T0" fmla="*/ 14 w 14"/>
                <a:gd name="T1" fmla="*/ 31 h 33"/>
                <a:gd name="T2" fmla="*/ 9 w 14"/>
                <a:gd name="T3" fmla="*/ 33 h 33"/>
                <a:gd name="T4" fmla="*/ 0 w 14"/>
                <a:gd name="T5" fmla="*/ 1 h 33"/>
                <a:gd name="T6" fmla="*/ 4 w 14"/>
                <a:gd name="T7" fmla="*/ 0 h 33"/>
                <a:gd name="T8" fmla="*/ 14 w 14"/>
                <a:gd name="T9" fmla="*/ 31 h 33"/>
              </a:gdLst>
              <a:ahLst/>
              <a:cxnLst>
                <a:cxn ang="0">
                  <a:pos x="T0" y="T1"/>
                </a:cxn>
                <a:cxn ang="0">
                  <a:pos x="T2" y="T3"/>
                </a:cxn>
                <a:cxn ang="0">
                  <a:pos x="T4" y="T5"/>
                </a:cxn>
                <a:cxn ang="0">
                  <a:pos x="T6" y="T7"/>
                </a:cxn>
                <a:cxn ang="0">
                  <a:pos x="T8" y="T9"/>
                </a:cxn>
              </a:cxnLst>
              <a:rect l="0" t="0" r="r" b="b"/>
              <a:pathLst>
                <a:path w="14" h="33">
                  <a:moveTo>
                    <a:pt x="14" y="31"/>
                  </a:moveTo>
                  <a:lnTo>
                    <a:pt x="9" y="33"/>
                  </a:lnTo>
                  <a:lnTo>
                    <a:pt x="0" y="1"/>
                  </a:lnTo>
                  <a:lnTo>
                    <a:pt x="4" y="0"/>
                  </a:lnTo>
                  <a:lnTo>
                    <a:pt x="14" y="31"/>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1" name="Freeform 117"/>
            <p:cNvSpPr/>
            <p:nvPr userDrawn="1"/>
          </p:nvSpPr>
          <p:spPr bwMode="auto">
            <a:xfrm>
              <a:off x="1169" y="948"/>
              <a:ext cx="23" cy="37"/>
            </a:xfrm>
            <a:custGeom>
              <a:avLst/>
              <a:gdLst>
                <a:gd name="T0" fmla="*/ 18 w 23"/>
                <a:gd name="T1" fmla="*/ 0 h 37"/>
                <a:gd name="T2" fmla="*/ 23 w 23"/>
                <a:gd name="T3" fmla="*/ 35 h 37"/>
                <a:gd name="T4" fmla="*/ 19 w 23"/>
                <a:gd name="T5" fmla="*/ 37 h 37"/>
                <a:gd name="T6" fmla="*/ 0 w 23"/>
                <a:gd name="T7" fmla="*/ 7 h 37"/>
                <a:gd name="T8" fmla="*/ 4 w 23"/>
                <a:gd name="T9" fmla="*/ 6 h 37"/>
                <a:gd name="T10" fmla="*/ 18 w 23"/>
                <a:gd name="T11" fmla="*/ 26 h 37"/>
                <a:gd name="T12" fmla="*/ 14 w 23"/>
                <a:gd name="T13" fmla="*/ 1 h 37"/>
                <a:gd name="T14" fmla="*/ 18 w 23"/>
                <a:gd name="T15" fmla="*/ 0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7">
                  <a:moveTo>
                    <a:pt x="18" y="0"/>
                  </a:moveTo>
                  <a:lnTo>
                    <a:pt x="23" y="35"/>
                  </a:lnTo>
                  <a:lnTo>
                    <a:pt x="19" y="37"/>
                  </a:lnTo>
                  <a:lnTo>
                    <a:pt x="0" y="7"/>
                  </a:lnTo>
                  <a:lnTo>
                    <a:pt x="4" y="6"/>
                  </a:lnTo>
                  <a:lnTo>
                    <a:pt x="18" y="26"/>
                  </a:lnTo>
                  <a:lnTo>
                    <a:pt x="14" y="1"/>
                  </a:lnTo>
                  <a:lnTo>
                    <a:pt x="18"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2" name="Freeform 118"/>
            <p:cNvSpPr/>
            <p:nvPr userDrawn="1"/>
          </p:nvSpPr>
          <p:spPr bwMode="auto">
            <a:xfrm>
              <a:off x="1188" y="939"/>
              <a:ext cx="33" cy="38"/>
            </a:xfrm>
            <a:custGeom>
              <a:avLst/>
              <a:gdLst>
                <a:gd name="T0" fmla="*/ 33 w 33"/>
                <a:gd name="T1" fmla="*/ 29 h 38"/>
                <a:gd name="T2" fmla="*/ 17 w 33"/>
                <a:gd name="T3" fmla="*/ 38 h 38"/>
                <a:gd name="T4" fmla="*/ 0 w 33"/>
                <a:gd name="T5" fmla="*/ 8 h 38"/>
                <a:gd name="T6" fmla="*/ 15 w 33"/>
                <a:gd name="T7" fmla="*/ 0 h 38"/>
                <a:gd name="T8" fmla="*/ 17 w 33"/>
                <a:gd name="T9" fmla="*/ 3 h 38"/>
                <a:gd name="T10" fmla="*/ 6 w 33"/>
                <a:gd name="T11" fmla="*/ 9 h 38"/>
                <a:gd name="T12" fmla="*/ 11 w 33"/>
                <a:gd name="T13" fmla="*/ 19 h 38"/>
                <a:gd name="T14" fmla="*/ 22 w 33"/>
                <a:gd name="T15" fmla="*/ 13 h 38"/>
                <a:gd name="T16" fmla="*/ 23 w 33"/>
                <a:gd name="T17" fmla="*/ 16 h 38"/>
                <a:gd name="T18" fmla="*/ 14 w 33"/>
                <a:gd name="T19" fmla="*/ 21 h 38"/>
                <a:gd name="T20" fmla="*/ 20 w 33"/>
                <a:gd name="T21" fmla="*/ 33 h 38"/>
                <a:gd name="T22" fmla="*/ 31 w 33"/>
                <a:gd name="T23" fmla="*/ 25 h 38"/>
                <a:gd name="T24" fmla="*/ 33 w 33"/>
                <a:gd name="T25" fmla="*/ 2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8">
                  <a:moveTo>
                    <a:pt x="33" y="29"/>
                  </a:moveTo>
                  <a:lnTo>
                    <a:pt x="17" y="38"/>
                  </a:lnTo>
                  <a:lnTo>
                    <a:pt x="0" y="8"/>
                  </a:lnTo>
                  <a:lnTo>
                    <a:pt x="15" y="0"/>
                  </a:lnTo>
                  <a:lnTo>
                    <a:pt x="17" y="3"/>
                  </a:lnTo>
                  <a:lnTo>
                    <a:pt x="6" y="9"/>
                  </a:lnTo>
                  <a:lnTo>
                    <a:pt x="11" y="19"/>
                  </a:lnTo>
                  <a:lnTo>
                    <a:pt x="22" y="13"/>
                  </a:lnTo>
                  <a:lnTo>
                    <a:pt x="23" y="16"/>
                  </a:lnTo>
                  <a:lnTo>
                    <a:pt x="14" y="21"/>
                  </a:lnTo>
                  <a:lnTo>
                    <a:pt x="20" y="33"/>
                  </a:lnTo>
                  <a:lnTo>
                    <a:pt x="31" y="25"/>
                  </a:lnTo>
                  <a:lnTo>
                    <a:pt x="33" y="2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3" name="Freeform 119"/>
            <p:cNvSpPr>
              <a:spLocks noEditPoints="1"/>
            </p:cNvSpPr>
            <p:nvPr userDrawn="1"/>
          </p:nvSpPr>
          <p:spPr bwMode="auto">
            <a:xfrm>
              <a:off x="1205" y="931"/>
              <a:ext cx="34" cy="34"/>
            </a:xfrm>
            <a:custGeom>
              <a:avLst/>
              <a:gdLst>
                <a:gd name="T0" fmla="*/ 27 w 27"/>
                <a:gd name="T1" fmla="*/ 20 h 28"/>
                <a:gd name="T2" fmla="*/ 24 w 27"/>
                <a:gd name="T3" fmla="*/ 22 h 28"/>
                <a:gd name="T4" fmla="*/ 15 w 27"/>
                <a:gd name="T5" fmla="*/ 14 h 28"/>
                <a:gd name="T6" fmla="*/ 12 w 27"/>
                <a:gd name="T7" fmla="*/ 17 h 28"/>
                <a:gd name="T8" fmla="*/ 19 w 27"/>
                <a:gd name="T9" fmla="*/ 26 h 28"/>
                <a:gd name="T10" fmla="*/ 16 w 27"/>
                <a:gd name="T11" fmla="*/ 28 h 28"/>
                <a:gd name="T12" fmla="*/ 0 w 27"/>
                <a:gd name="T13" fmla="*/ 6 h 28"/>
                <a:gd name="T14" fmla="*/ 5 w 27"/>
                <a:gd name="T15" fmla="*/ 2 h 28"/>
                <a:gd name="T16" fmla="*/ 11 w 27"/>
                <a:gd name="T17" fmla="*/ 0 h 28"/>
                <a:gd name="T18" fmla="*/ 18 w 27"/>
                <a:gd name="T19" fmla="*/ 8 h 28"/>
                <a:gd name="T20" fmla="*/ 17 w 27"/>
                <a:gd name="T21" fmla="*/ 12 h 28"/>
                <a:gd name="T22" fmla="*/ 27 w 27"/>
                <a:gd name="T23" fmla="*/ 20 h 28"/>
                <a:gd name="T24" fmla="*/ 10 w 27"/>
                <a:gd name="T25" fmla="*/ 4 h 28"/>
                <a:gd name="T26" fmla="*/ 5 w 27"/>
                <a:gd name="T27" fmla="*/ 6 h 28"/>
                <a:gd name="T28" fmla="*/ 10 w 27"/>
                <a:gd name="T29" fmla="*/ 13 h 28"/>
                <a:gd name="T30" fmla="*/ 14 w 27"/>
                <a:gd name="T31" fmla="*/ 10 h 28"/>
                <a:gd name="T32" fmla="*/ 10 w 27"/>
                <a:gd name="T33"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8">
                  <a:moveTo>
                    <a:pt x="27" y="20"/>
                  </a:moveTo>
                  <a:cubicBezTo>
                    <a:pt x="24" y="22"/>
                    <a:pt x="24" y="22"/>
                    <a:pt x="24" y="22"/>
                  </a:cubicBezTo>
                  <a:cubicBezTo>
                    <a:pt x="15" y="14"/>
                    <a:pt x="15" y="14"/>
                    <a:pt x="15" y="14"/>
                  </a:cubicBezTo>
                  <a:cubicBezTo>
                    <a:pt x="12" y="17"/>
                    <a:pt x="12" y="17"/>
                    <a:pt x="12" y="17"/>
                  </a:cubicBezTo>
                  <a:cubicBezTo>
                    <a:pt x="19" y="26"/>
                    <a:pt x="19" y="26"/>
                    <a:pt x="19" y="26"/>
                  </a:cubicBezTo>
                  <a:cubicBezTo>
                    <a:pt x="16" y="28"/>
                    <a:pt x="16" y="28"/>
                    <a:pt x="16" y="28"/>
                  </a:cubicBezTo>
                  <a:cubicBezTo>
                    <a:pt x="0" y="6"/>
                    <a:pt x="0" y="6"/>
                    <a:pt x="0" y="6"/>
                  </a:cubicBezTo>
                  <a:cubicBezTo>
                    <a:pt x="5" y="2"/>
                    <a:pt x="5" y="2"/>
                    <a:pt x="5" y="2"/>
                  </a:cubicBezTo>
                  <a:cubicBezTo>
                    <a:pt x="7" y="1"/>
                    <a:pt x="9" y="0"/>
                    <a:pt x="11" y="0"/>
                  </a:cubicBezTo>
                  <a:cubicBezTo>
                    <a:pt x="16" y="1"/>
                    <a:pt x="18" y="4"/>
                    <a:pt x="18" y="8"/>
                  </a:cubicBezTo>
                  <a:cubicBezTo>
                    <a:pt x="18" y="9"/>
                    <a:pt x="18" y="11"/>
                    <a:pt x="17" y="12"/>
                  </a:cubicBezTo>
                  <a:lnTo>
                    <a:pt x="27" y="20"/>
                  </a:lnTo>
                  <a:close/>
                  <a:moveTo>
                    <a:pt x="10" y="4"/>
                  </a:moveTo>
                  <a:cubicBezTo>
                    <a:pt x="8" y="3"/>
                    <a:pt x="6" y="5"/>
                    <a:pt x="5" y="6"/>
                  </a:cubicBezTo>
                  <a:cubicBezTo>
                    <a:pt x="10" y="13"/>
                    <a:pt x="10" y="13"/>
                    <a:pt x="10" y="13"/>
                  </a:cubicBezTo>
                  <a:cubicBezTo>
                    <a:pt x="12" y="12"/>
                    <a:pt x="12" y="12"/>
                    <a:pt x="14" y="10"/>
                  </a:cubicBezTo>
                  <a:cubicBezTo>
                    <a:pt x="14" y="7"/>
                    <a:pt x="13" y="5"/>
                    <a:pt x="10" y="4"/>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4" name="Freeform 120"/>
            <p:cNvSpPr/>
            <p:nvPr userDrawn="1"/>
          </p:nvSpPr>
          <p:spPr bwMode="auto">
            <a:xfrm>
              <a:off x="1223" y="916"/>
              <a:ext cx="34" cy="29"/>
            </a:xfrm>
            <a:custGeom>
              <a:avLst/>
              <a:gdLst>
                <a:gd name="T0" fmla="*/ 22 w 28"/>
                <a:gd name="T1" fmla="*/ 10 h 24"/>
                <a:gd name="T2" fmla="*/ 19 w 28"/>
                <a:gd name="T3" fmla="*/ 24 h 24"/>
                <a:gd name="T4" fmla="*/ 14 w 28"/>
                <a:gd name="T5" fmla="*/ 23 h 24"/>
                <a:gd name="T6" fmla="*/ 15 w 28"/>
                <a:gd name="T7" fmla="*/ 20 h 24"/>
                <a:gd name="T8" fmla="*/ 18 w 28"/>
                <a:gd name="T9" fmla="*/ 21 h 24"/>
                <a:gd name="T10" fmla="*/ 20 w 28"/>
                <a:gd name="T11" fmla="*/ 13 h 24"/>
                <a:gd name="T12" fmla="*/ 17 w 28"/>
                <a:gd name="T13" fmla="*/ 12 h 24"/>
                <a:gd name="T14" fmla="*/ 8 w 28"/>
                <a:gd name="T15" fmla="*/ 15 h 24"/>
                <a:gd name="T16" fmla="*/ 0 w 28"/>
                <a:gd name="T17" fmla="*/ 9 h 24"/>
                <a:gd name="T18" fmla="*/ 2 w 28"/>
                <a:gd name="T19" fmla="*/ 4 h 24"/>
                <a:gd name="T20" fmla="*/ 11 w 28"/>
                <a:gd name="T21" fmla="*/ 2 h 24"/>
                <a:gd name="T22" fmla="*/ 10 w 28"/>
                <a:gd name="T23" fmla="*/ 5 h 24"/>
                <a:gd name="T24" fmla="*/ 4 w 28"/>
                <a:gd name="T25" fmla="*/ 6 h 24"/>
                <a:gd name="T26" fmla="*/ 3 w 28"/>
                <a:gd name="T27" fmla="*/ 9 h 24"/>
                <a:gd name="T28" fmla="*/ 7 w 28"/>
                <a:gd name="T29" fmla="*/ 12 h 24"/>
                <a:gd name="T30" fmla="*/ 17 w 28"/>
                <a:gd name="T31" fmla="*/ 9 h 24"/>
                <a:gd name="T32" fmla="*/ 22 w 28"/>
                <a:gd name="T33" fmla="*/ 1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 h="24">
                  <a:moveTo>
                    <a:pt x="22" y="10"/>
                  </a:moveTo>
                  <a:cubicBezTo>
                    <a:pt x="28" y="13"/>
                    <a:pt x="26" y="23"/>
                    <a:pt x="19" y="24"/>
                  </a:cubicBezTo>
                  <a:cubicBezTo>
                    <a:pt x="17" y="24"/>
                    <a:pt x="15" y="24"/>
                    <a:pt x="14" y="23"/>
                  </a:cubicBezTo>
                  <a:cubicBezTo>
                    <a:pt x="15" y="20"/>
                    <a:pt x="15" y="20"/>
                    <a:pt x="15" y="20"/>
                  </a:cubicBezTo>
                  <a:cubicBezTo>
                    <a:pt x="16" y="21"/>
                    <a:pt x="17" y="21"/>
                    <a:pt x="18" y="21"/>
                  </a:cubicBezTo>
                  <a:cubicBezTo>
                    <a:pt x="23" y="20"/>
                    <a:pt x="23" y="15"/>
                    <a:pt x="20" y="13"/>
                  </a:cubicBezTo>
                  <a:cubicBezTo>
                    <a:pt x="19" y="12"/>
                    <a:pt x="18" y="12"/>
                    <a:pt x="17" y="12"/>
                  </a:cubicBezTo>
                  <a:cubicBezTo>
                    <a:pt x="13" y="13"/>
                    <a:pt x="11" y="15"/>
                    <a:pt x="8" y="15"/>
                  </a:cubicBezTo>
                  <a:cubicBezTo>
                    <a:pt x="4" y="15"/>
                    <a:pt x="1" y="13"/>
                    <a:pt x="0" y="9"/>
                  </a:cubicBezTo>
                  <a:cubicBezTo>
                    <a:pt x="0" y="7"/>
                    <a:pt x="1" y="5"/>
                    <a:pt x="2" y="4"/>
                  </a:cubicBezTo>
                  <a:cubicBezTo>
                    <a:pt x="4" y="0"/>
                    <a:pt x="8" y="0"/>
                    <a:pt x="11" y="2"/>
                  </a:cubicBezTo>
                  <a:cubicBezTo>
                    <a:pt x="10" y="5"/>
                    <a:pt x="10" y="5"/>
                    <a:pt x="10" y="5"/>
                  </a:cubicBezTo>
                  <a:cubicBezTo>
                    <a:pt x="8" y="4"/>
                    <a:pt x="5" y="4"/>
                    <a:pt x="4" y="6"/>
                  </a:cubicBezTo>
                  <a:cubicBezTo>
                    <a:pt x="3" y="7"/>
                    <a:pt x="3" y="8"/>
                    <a:pt x="3" y="9"/>
                  </a:cubicBezTo>
                  <a:cubicBezTo>
                    <a:pt x="4" y="11"/>
                    <a:pt x="5" y="12"/>
                    <a:pt x="7" y="12"/>
                  </a:cubicBezTo>
                  <a:cubicBezTo>
                    <a:pt x="11" y="11"/>
                    <a:pt x="13" y="8"/>
                    <a:pt x="17" y="9"/>
                  </a:cubicBezTo>
                  <a:cubicBezTo>
                    <a:pt x="18" y="9"/>
                    <a:pt x="20" y="9"/>
                    <a:pt x="22" y="10"/>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5" name="Freeform 121"/>
            <p:cNvSpPr/>
            <p:nvPr userDrawn="1"/>
          </p:nvSpPr>
          <p:spPr bwMode="auto">
            <a:xfrm>
              <a:off x="1234" y="906"/>
              <a:ext cx="31" cy="21"/>
            </a:xfrm>
            <a:custGeom>
              <a:avLst/>
              <a:gdLst>
                <a:gd name="T0" fmla="*/ 31 w 31"/>
                <a:gd name="T1" fmla="*/ 17 h 21"/>
                <a:gd name="T2" fmla="*/ 28 w 31"/>
                <a:gd name="T3" fmla="*/ 21 h 21"/>
                <a:gd name="T4" fmla="*/ 0 w 31"/>
                <a:gd name="T5" fmla="*/ 2 h 21"/>
                <a:gd name="T6" fmla="*/ 2 w 31"/>
                <a:gd name="T7" fmla="*/ 0 h 21"/>
                <a:gd name="T8" fmla="*/ 31 w 31"/>
                <a:gd name="T9" fmla="*/ 17 h 21"/>
              </a:gdLst>
              <a:ahLst/>
              <a:cxnLst>
                <a:cxn ang="0">
                  <a:pos x="T0" y="T1"/>
                </a:cxn>
                <a:cxn ang="0">
                  <a:pos x="T2" y="T3"/>
                </a:cxn>
                <a:cxn ang="0">
                  <a:pos x="T4" y="T5"/>
                </a:cxn>
                <a:cxn ang="0">
                  <a:pos x="T6" y="T7"/>
                </a:cxn>
                <a:cxn ang="0">
                  <a:pos x="T8" y="T9"/>
                </a:cxn>
              </a:cxnLst>
              <a:rect l="0" t="0" r="r" b="b"/>
              <a:pathLst>
                <a:path w="31" h="21">
                  <a:moveTo>
                    <a:pt x="31" y="17"/>
                  </a:moveTo>
                  <a:lnTo>
                    <a:pt x="28" y="21"/>
                  </a:lnTo>
                  <a:lnTo>
                    <a:pt x="0" y="2"/>
                  </a:lnTo>
                  <a:lnTo>
                    <a:pt x="2" y="0"/>
                  </a:lnTo>
                  <a:lnTo>
                    <a:pt x="31" y="17"/>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6" name="Freeform 122"/>
            <p:cNvSpPr/>
            <p:nvPr userDrawn="1"/>
          </p:nvSpPr>
          <p:spPr bwMode="auto">
            <a:xfrm>
              <a:off x="1239" y="884"/>
              <a:ext cx="36" cy="28"/>
            </a:xfrm>
            <a:custGeom>
              <a:avLst/>
              <a:gdLst>
                <a:gd name="T0" fmla="*/ 11 w 36"/>
                <a:gd name="T1" fmla="*/ 3 h 28"/>
                <a:gd name="T2" fmla="*/ 8 w 36"/>
                <a:gd name="T3" fmla="*/ 9 h 28"/>
                <a:gd name="T4" fmla="*/ 36 w 36"/>
                <a:gd name="T5" fmla="*/ 25 h 28"/>
                <a:gd name="T6" fmla="*/ 33 w 36"/>
                <a:gd name="T7" fmla="*/ 28 h 28"/>
                <a:gd name="T8" fmla="*/ 6 w 36"/>
                <a:gd name="T9" fmla="*/ 13 h 28"/>
                <a:gd name="T10" fmla="*/ 3 w 36"/>
                <a:gd name="T11" fmla="*/ 18 h 28"/>
                <a:gd name="T12" fmla="*/ 0 w 36"/>
                <a:gd name="T13" fmla="*/ 17 h 28"/>
                <a:gd name="T14" fmla="*/ 7 w 36"/>
                <a:gd name="T15" fmla="*/ 0 h 28"/>
                <a:gd name="T16" fmla="*/ 11 w 36"/>
                <a:gd name="T17"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28">
                  <a:moveTo>
                    <a:pt x="11" y="3"/>
                  </a:moveTo>
                  <a:lnTo>
                    <a:pt x="8" y="9"/>
                  </a:lnTo>
                  <a:lnTo>
                    <a:pt x="36" y="25"/>
                  </a:lnTo>
                  <a:lnTo>
                    <a:pt x="33" y="28"/>
                  </a:lnTo>
                  <a:lnTo>
                    <a:pt x="6" y="13"/>
                  </a:lnTo>
                  <a:lnTo>
                    <a:pt x="3" y="18"/>
                  </a:lnTo>
                  <a:lnTo>
                    <a:pt x="0" y="17"/>
                  </a:lnTo>
                  <a:lnTo>
                    <a:pt x="7" y="0"/>
                  </a:lnTo>
                  <a:lnTo>
                    <a:pt x="11" y="3"/>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7" name="Freeform 123"/>
            <p:cNvSpPr/>
            <p:nvPr userDrawn="1"/>
          </p:nvSpPr>
          <p:spPr bwMode="auto">
            <a:xfrm>
              <a:off x="1247" y="865"/>
              <a:ext cx="36" cy="23"/>
            </a:xfrm>
            <a:custGeom>
              <a:avLst/>
              <a:gdLst>
                <a:gd name="T0" fmla="*/ 8 w 36"/>
                <a:gd name="T1" fmla="*/ 0 h 23"/>
                <a:gd name="T2" fmla="*/ 25 w 36"/>
                <a:gd name="T3" fmla="*/ 14 h 23"/>
                <a:gd name="T4" fmla="*/ 36 w 36"/>
                <a:gd name="T5" fmla="*/ 19 h 23"/>
                <a:gd name="T6" fmla="*/ 34 w 36"/>
                <a:gd name="T7" fmla="*/ 23 h 23"/>
                <a:gd name="T8" fmla="*/ 24 w 36"/>
                <a:gd name="T9" fmla="*/ 18 h 23"/>
                <a:gd name="T10" fmla="*/ 0 w 36"/>
                <a:gd name="T11" fmla="*/ 18 h 23"/>
                <a:gd name="T12" fmla="*/ 2 w 36"/>
                <a:gd name="T13" fmla="*/ 14 h 23"/>
                <a:gd name="T14" fmla="*/ 18 w 36"/>
                <a:gd name="T15" fmla="*/ 14 h 23"/>
                <a:gd name="T16" fmla="*/ 7 w 36"/>
                <a:gd name="T17" fmla="*/ 5 h 23"/>
                <a:gd name="T18" fmla="*/ 8 w 36"/>
                <a:gd name="T1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23">
                  <a:moveTo>
                    <a:pt x="8" y="0"/>
                  </a:moveTo>
                  <a:lnTo>
                    <a:pt x="25" y="14"/>
                  </a:lnTo>
                  <a:lnTo>
                    <a:pt x="36" y="19"/>
                  </a:lnTo>
                  <a:lnTo>
                    <a:pt x="34" y="23"/>
                  </a:lnTo>
                  <a:lnTo>
                    <a:pt x="24" y="18"/>
                  </a:lnTo>
                  <a:lnTo>
                    <a:pt x="0" y="18"/>
                  </a:lnTo>
                  <a:lnTo>
                    <a:pt x="2" y="14"/>
                  </a:lnTo>
                  <a:lnTo>
                    <a:pt x="18" y="14"/>
                  </a:lnTo>
                  <a:lnTo>
                    <a:pt x="7" y="5"/>
                  </a:lnTo>
                  <a:lnTo>
                    <a:pt x="8"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8" name="Freeform 124"/>
            <p:cNvSpPr/>
            <p:nvPr userDrawn="1"/>
          </p:nvSpPr>
          <p:spPr bwMode="auto">
            <a:xfrm>
              <a:off x="1010" y="928"/>
              <a:ext cx="34" cy="25"/>
            </a:xfrm>
            <a:custGeom>
              <a:avLst/>
              <a:gdLst>
                <a:gd name="T0" fmla="*/ 14 w 28"/>
                <a:gd name="T1" fmla="*/ 16 h 20"/>
                <a:gd name="T2" fmla="*/ 8 w 28"/>
                <a:gd name="T3" fmla="*/ 20 h 20"/>
                <a:gd name="T4" fmla="*/ 2 w 28"/>
                <a:gd name="T5" fmla="*/ 17 h 20"/>
                <a:gd name="T6" fmla="*/ 0 w 28"/>
                <a:gd name="T7" fmla="*/ 12 h 20"/>
                <a:gd name="T8" fmla="*/ 1 w 28"/>
                <a:gd name="T9" fmla="*/ 9 h 20"/>
                <a:gd name="T10" fmla="*/ 4 w 28"/>
                <a:gd name="T11" fmla="*/ 10 h 20"/>
                <a:gd name="T12" fmla="*/ 3 w 28"/>
                <a:gd name="T13" fmla="*/ 12 h 20"/>
                <a:gd name="T14" fmla="*/ 4 w 28"/>
                <a:gd name="T15" fmla="*/ 15 h 20"/>
                <a:gd name="T16" fmla="*/ 8 w 28"/>
                <a:gd name="T17" fmla="*/ 16 h 20"/>
                <a:gd name="T18" fmla="*/ 12 w 28"/>
                <a:gd name="T19" fmla="*/ 14 h 20"/>
                <a:gd name="T20" fmla="*/ 25 w 28"/>
                <a:gd name="T21" fmla="*/ 0 h 20"/>
                <a:gd name="T22" fmla="*/ 28 w 28"/>
                <a:gd name="T23" fmla="*/ 3 h 20"/>
                <a:gd name="T24" fmla="*/ 14 w 28"/>
                <a:gd name="T25"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 h="20">
                  <a:moveTo>
                    <a:pt x="14" y="16"/>
                  </a:moveTo>
                  <a:cubicBezTo>
                    <a:pt x="12" y="18"/>
                    <a:pt x="10" y="20"/>
                    <a:pt x="8" y="20"/>
                  </a:cubicBezTo>
                  <a:cubicBezTo>
                    <a:pt x="6" y="20"/>
                    <a:pt x="4" y="19"/>
                    <a:pt x="2" y="17"/>
                  </a:cubicBezTo>
                  <a:cubicBezTo>
                    <a:pt x="1" y="16"/>
                    <a:pt x="0" y="14"/>
                    <a:pt x="0" y="12"/>
                  </a:cubicBezTo>
                  <a:cubicBezTo>
                    <a:pt x="0" y="11"/>
                    <a:pt x="0" y="10"/>
                    <a:pt x="1" y="9"/>
                  </a:cubicBezTo>
                  <a:cubicBezTo>
                    <a:pt x="4" y="10"/>
                    <a:pt x="4" y="10"/>
                    <a:pt x="4" y="10"/>
                  </a:cubicBezTo>
                  <a:cubicBezTo>
                    <a:pt x="3" y="11"/>
                    <a:pt x="3" y="11"/>
                    <a:pt x="3" y="12"/>
                  </a:cubicBezTo>
                  <a:cubicBezTo>
                    <a:pt x="3" y="13"/>
                    <a:pt x="4" y="14"/>
                    <a:pt x="4" y="15"/>
                  </a:cubicBezTo>
                  <a:cubicBezTo>
                    <a:pt x="5" y="16"/>
                    <a:pt x="6" y="16"/>
                    <a:pt x="8" y="16"/>
                  </a:cubicBezTo>
                  <a:cubicBezTo>
                    <a:pt x="9" y="16"/>
                    <a:pt x="10" y="15"/>
                    <a:pt x="12" y="14"/>
                  </a:cubicBezTo>
                  <a:cubicBezTo>
                    <a:pt x="25" y="0"/>
                    <a:pt x="25" y="0"/>
                    <a:pt x="25" y="0"/>
                  </a:cubicBezTo>
                  <a:cubicBezTo>
                    <a:pt x="28" y="3"/>
                    <a:pt x="28" y="3"/>
                    <a:pt x="28" y="3"/>
                  </a:cubicBezTo>
                  <a:lnTo>
                    <a:pt x="14" y="16"/>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9" name="Freeform 125"/>
            <p:cNvSpPr>
              <a:spLocks noEditPoints="1"/>
            </p:cNvSpPr>
            <p:nvPr userDrawn="1"/>
          </p:nvSpPr>
          <p:spPr bwMode="auto">
            <a:xfrm>
              <a:off x="1073" y="917"/>
              <a:ext cx="106" cy="33"/>
            </a:xfrm>
            <a:custGeom>
              <a:avLst/>
              <a:gdLst>
                <a:gd name="T0" fmla="*/ 0 w 86"/>
                <a:gd name="T1" fmla="*/ 15 h 27"/>
                <a:gd name="T2" fmla="*/ 4 w 86"/>
                <a:gd name="T3" fmla="*/ 15 h 27"/>
                <a:gd name="T4" fmla="*/ 6 w 86"/>
                <a:gd name="T5" fmla="*/ 3 h 27"/>
                <a:gd name="T6" fmla="*/ 10 w 86"/>
                <a:gd name="T7" fmla="*/ 3 h 27"/>
                <a:gd name="T8" fmla="*/ 14 w 86"/>
                <a:gd name="T9" fmla="*/ 4 h 27"/>
                <a:gd name="T10" fmla="*/ 10 w 86"/>
                <a:gd name="T11" fmla="*/ 19 h 27"/>
                <a:gd name="T12" fmla="*/ 37 w 86"/>
                <a:gd name="T13" fmla="*/ 14 h 27"/>
                <a:gd name="T14" fmla="*/ 33 w 86"/>
                <a:gd name="T15" fmla="*/ 11 h 27"/>
                <a:gd name="T16" fmla="*/ 28 w 86"/>
                <a:gd name="T17" fmla="*/ 13 h 27"/>
                <a:gd name="T18" fmla="*/ 30 w 86"/>
                <a:gd name="T19" fmla="*/ 16 h 27"/>
                <a:gd name="T20" fmla="*/ 34 w 86"/>
                <a:gd name="T21" fmla="*/ 17 h 27"/>
                <a:gd name="T22" fmla="*/ 37 w 86"/>
                <a:gd name="T23" fmla="*/ 14 h 27"/>
                <a:gd name="T24" fmla="*/ 36 w 86"/>
                <a:gd name="T25" fmla="*/ 21 h 27"/>
                <a:gd name="T26" fmla="*/ 32 w 86"/>
                <a:gd name="T27" fmla="*/ 19 h 27"/>
                <a:gd name="T28" fmla="*/ 27 w 86"/>
                <a:gd name="T29" fmla="*/ 19 h 27"/>
                <a:gd name="T30" fmla="*/ 27 w 86"/>
                <a:gd name="T31" fmla="*/ 24 h 27"/>
                <a:gd name="T32" fmla="*/ 34 w 86"/>
                <a:gd name="T33" fmla="*/ 25 h 27"/>
                <a:gd name="T34" fmla="*/ 30 w 86"/>
                <a:gd name="T35" fmla="*/ 27 h 27"/>
                <a:gd name="T36" fmla="*/ 24 w 86"/>
                <a:gd name="T37" fmla="*/ 25 h 27"/>
                <a:gd name="T38" fmla="*/ 23 w 86"/>
                <a:gd name="T39" fmla="*/ 21 h 27"/>
                <a:gd name="T40" fmla="*/ 28 w 86"/>
                <a:gd name="T41" fmla="*/ 17 h 27"/>
                <a:gd name="T42" fmla="*/ 25 w 86"/>
                <a:gd name="T43" fmla="*/ 15 h 27"/>
                <a:gd name="T44" fmla="*/ 28 w 86"/>
                <a:gd name="T45" fmla="*/ 10 h 27"/>
                <a:gd name="T46" fmla="*/ 39 w 86"/>
                <a:gd name="T47" fmla="*/ 11 h 27"/>
                <a:gd name="T48" fmla="*/ 39 w 86"/>
                <a:gd name="T49" fmla="*/ 17 h 27"/>
                <a:gd name="T50" fmla="*/ 36 w 86"/>
                <a:gd name="T51" fmla="*/ 18 h 27"/>
                <a:gd name="T52" fmla="*/ 39 w 86"/>
                <a:gd name="T53" fmla="*/ 23 h 27"/>
                <a:gd name="T54" fmla="*/ 30 w 86"/>
                <a:gd name="T55" fmla="*/ 27 h 27"/>
                <a:gd name="T56" fmla="*/ 62 w 86"/>
                <a:gd name="T57" fmla="*/ 14 h 27"/>
                <a:gd name="T58" fmla="*/ 59 w 86"/>
                <a:gd name="T59" fmla="*/ 11 h 27"/>
                <a:gd name="T60" fmla="*/ 54 w 86"/>
                <a:gd name="T61" fmla="*/ 12 h 27"/>
                <a:gd name="T62" fmla="*/ 53 w 86"/>
                <a:gd name="T63" fmla="*/ 17 h 27"/>
                <a:gd name="T64" fmla="*/ 56 w 86"/>
                <a:gd name="T65" fmla="*/ 19 h 27"/>
                <a:gd name="T66" fmla="*/ 60 w 86"/>
                <a:gd name="T67" fmla="*/ 18 h 27"/>
                <a:gd name="T68" fmla="*/ 63 w 86"/>
                <a:gd name="T69" fmla="*/ 17 h 27"/>
                <a:gd name="T70" fmla="*/ 50 w 86"/>
                <a:gd name="T71" fmla="*/ 15 h 27"/>
                <a:gd name="T72" fmla="*/ 52 w 86"/>
                <a:gd name="T73" fmla="*/ 11 h 27"/>
                <a:gd name="T74" fmla="*/ 58 w 86"/>
                <a:gd name="T75" fmla="*/ 9 h 27"/>
                <a:gd name="T76" fmla="*/ 63 w 86"/>
                <a:gd name="T77" fmla="*/ 11 h 27"/>
                <a:gd name="T78" fmla="*/ 66 w 86"/>
                <a:gd name="T79" fmla="*/ 17 h 27"/>
                <a:gd name="T80" fmla="*/ 63 w 86"/>
                <a:gd name="T81" fmla="*/ 24 h 27"/>
                <a:gd name="T82" fmla="*/ 55 w 86"/>
                <a:gd name="T83" fmla="*/ 27 h 27"/>
                <a:gd name="T84" fmla="*/ 52 w 86"/>
                <a:gd name="T85" fmla="*/ 27 h 27"/>
                <a:gd name="T86" fmla="*/ 52 w 86"/>
                <a:gd name="T87" fmla="*/ 25 h 27"/>
                <a:gd name="T88" fmla="*/ 55 w 86"/>
                <a:gd name="T89" fmla="*/ 25 h 27"/>
                <a:gd name="T90" fmla="*/ 62 w 86"/>
                <a:gd name="T91" fmla="*/ 19 h 27"/>
                <a:gd name="T92" fmla="*/ 57 w 86"/>
                <a:gd name="T93" fmla="*/ 21 h 27"/>
                <a:gd name="T94" fmla="*/ 52 w 86"/>
                <a:gd name="T95" fmla="*/ 20 h 27"/>
                <a:gd name="T96" fmla="*/ 50 w 86"/>
                <a:gd name="T97" fmla="*/ 15 h 27"/>
                <a:gd name="T98" fmla="*/ 86 w 86"/>
                <a:gd name="T99" fmla="*/ 18 h 27"/>
                <a:gd name="T100" fmla="*/ 83 w 86"/>
                <a:gd name="T101" fmla="*/ 3 h 27"/>
                <a:gd name="T102" fmla="*/ 72 w 86"/>
                <a:gd name="T103" fmla="*/ 6 h 27"/>
                <a:gd name="T104" fmla="*/ 86 w 86"/>
                <a:gd name="T105"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6" h="27">
                  <a:moveTo>
                    <a:pt x="9" y="20"/>
                  </a:moveTo>
                  <a:cubicBezTo>
                    <a:pt x="0" y="15"/>
                    <a:pt x="0" y="15"/>
                    <a:pt x="0" y="15"/>
                  </a:cubicBezTo>
                  <a:cubicBezTo>
                    <a:pt x="0" y="13"/>
                    <a:pt x="0" y="13"/>
                    <a:pt x="0" y="13"/>
                  </a:cubicBezTo>
                  <a:cubicBezTo>
                    <a:pt x="4" y="15"/>
                    <a:pt x="4" y="15"/>
                    <a:pt x="4" y="15"/>
                  </a:cubicBezTo>
                  <a:cubicBezTo>
                    <a:pt x="10" y="5"/>
                    <a:pt x="10" y="5"/>
                    <a:pt x="10" y="5"/>
                  </a:cubicBezTo>
                  <a:cubicBezTo>
                    <a:pt x="6" y="3"/>
                    <a:pt x="6" y="3"/>
                    <a:pt x="6" y="3"/>
                  </a:cubicBezTo>
                  <a:cubicBezTo>
                    <a:pt x="7" y="2"/>
                    <a:pt x="7" y="2"/>
                    <a:pt x="7" y="2"/>
                  </a:cubicBezTo>
                  <a:cubicBezTo>
                    <a:pt x="8" y="3"/>
                    <a:pt x="9" y="3"/>
                    <a:pt x="10" y="3"/>
                  </a:cubicBezTo>
                  <a:cubicBezTo>
                    <a:pt x="11" y="3"/>
                    <a:pt x="11" y="3"/>
                    <a:pt x="12" y="2"/>
                  </a:cubicBezTo>
                  <a:cubicBezTo>
                    <a:pt x="14" y="4"/>
                    <a:pt x="14" y="4"/>
                    <a:pt x="14" y="4"/>
                  </a:cubicBezTo>
                  <a:cubicBezTo>
                    <a:pt x="6" y="17"/>
                    <a:pt x="6" y="17"/>
                    <a:pt x="6" y="17"/>
                  </a:cubicBezTo>
                  <a:cubicBezTo>
                    <a:pt x="10" y="19"/>
                    <a:pt x="10" y="19"/>
                    <a:pt x="10" y="19"/>
                  </a:cubicBezTo>
                  <a:lnTo>
                    <a:pt x="9" y="20"/>
                  </a:lnTo>
                  <a:close/>
                  <a:moveTo>
                    <a:pt x="37" y="14"/>
                  </a:moveTo>
                  <a:cubicBezTo>
                    <a:pt x="37" y="14"/>
                    <a:pt x="37" y="13"/>
                    <a:pt x="36" y="12"/>
                  </a:cubicBezTo>
                  <a:cubicBezTo>
                    <a:pt x="36" y="12"/>
                    <a:pt x="35" y="11"/>
                    <a:pt x="33" y="11"/>
                  </a:cubicBezTo>
                  <a:cubicBezTo>
                    <a:pt x="32" y="11"/>
                    <a:pt x="31" y="11"/>
                    <a:pt x="30" y="11"/>
                  </a:cubicBezTo>
                  <a:cubicBezTo>
                    <a:pt x="29" y="12"/>
                    <a:pt x="29" y="12"/>
                    <a:pt x="28" y="13"/>
                  </a:cubicBezTo>
                  <a:cubicBezTo>
                    <a:pt x="28" y="14"/>
                    <a:pt x="28" y="14"/>
                    <a:pt x="29" y="15"/>
                  </a:cubicBezTo>
                  <a:cubicBezTo>
                    <a:pt x="29" y="15"/>
                    <a:pt x="30" y="15"/>
                    <a:pt x="30" y="16"/>
                  </a:cubicBezTo>
                  <a:cubicBezTo>
                    <a:pt x="31" y="16"/>
                    <a:pt x="31" y="16"/>
                    <a:pt x="32" y="17"/>
                  </a:cubicBezTo>
                  <a:cubicBezTo>
                    <a:pt x="33" y="17"/>
                    <a:pt x="33" y="17"/>
                    <a:pt x="34" y="17"/>
                  </a:cubicBezTo>
                  <a:cubicBezTo>
                    <a:pt x="35" y="17"/>
                    <a:pt x="36" y="17"/>
                    <a:pt x="36" y="16"/>
                  </a:cubicBezTo>
                  <a:cubicBezTo>
                    <a:pt x="37" y="16"/>
                    <a:pt x="37" y="15"/>
                    <a:pt x="37" y="14"/>
                  </a:cubicBezTo>
                  <a:moveTo>
                    <a:pt x="36" y="23"/>
                  </a:moveTo>
                  <a:cubicBezTo>
                    <a:pt x="36" y="22"/>
                    <a:pt x="36" y="22"/>
                    <a:pt x="36" y="21"/>
                  </a:cubicBezTo>
                  <a:cubicBezTo>
                    <a:pt x="35" y="21"/>
                    <a:pt x="34" y="20"/>
                    <a:pt x="33" y="20"/>
                  </a:cubicBezTo>
                  <a:cubicBezTo>
                    <a:pt x="33" y="19"/>
                    <a:pt x="33" y="19"/>
                    <a:pt x="32" y="19"/>
                  </a:cubicBezTo>
                  <a:cubicBezTo>
                    <a:pt x="31" y="19"/>
                    <a:pt x="31" y="18"/>
                    <a:pt x="30" y="18"/>
                  </a:cubicBezTo>
                  <a:cubicBezTo>
                    <a:pt x="29" y="18"/>
                    <a:pt x="28" y="19"/>
                    <a:pt x="27" y="19"/>
                  </a:cubicBezTo>
                  <a:cubicBezTo>
                    <a:pt x="27" y="20"/>
                    <a:pt x="26" y="20"/>
                    <a:pt x="26" y="21"/>
                  </a:cubicBezTo>
                  <a:cubicBezTo>
                    <a:pt x="26" y="22"/>
                    <a:pt x="26" y="23"/>
                    <a:pt x="27" y="24"/>
                  </a:cubicBezTo>
                  <a:cubicBezTo>
                    <a:pt x="28" y="25"/>
                    <a:pt x="29" y="25"/>
                    <a:pt x="30" y="25"/>
                  </a:cubicBezTo>
                  <a:cubicBezTo>
                    <a:pt x="32" y="26"/>
                    <a:pt x="33" y="25"/>
                    <a:pt x="34" y="25"/>
                  </a:cubicBezTo>
                  <a:cubicBezTo>
                    <a:pt x="35" y="24"/>
                    <a:pt x="36" y="24"/>
                    <a:pt x="36" y="23"/>
                  </a:cubicBezTo>
                  <a:moveTo>
                    <a:pt x="30" y="27"/>
                  </a:moveTo>
                  <a:cubicBezTo>
                    <a:pt x="29" y="27"/>
                    <a:pt x="28" y="27"/>
                    <a:pt x="27" y="26"/>
                  </a:cubicBezTo>
                  <a:cubicBezTo>
                    <a:pt x="26" y="26"/>
                    <a:pt x="25" y="25"/>
                    <a:pt x="24" y="25"/>
                  </a:cubicBezTo>
                  <a:cubicBezTo>
                    <a:pt x="23" y="24"/>
                    <a:pt x="23" y="24"/>
                    <a:pt x="23" y="23"/>
                  </a:cubicBezTo>
                  <a:cubicBezTo>
                    <a:pt x="23" y="22"/>
                    <a:pt x="22" y="21"/>
                    <a:pt x="23" y="21"/>
                  </a:cubicBezTo>
                  <a:cubicBezTo>
                    <a:pt x="23" y="20"/>
                    <a:pt x="23" y="19"/>
                    <a:pt x="24" y="18"/>
                  </a:cubicBezTo>
                  <a:cubicBezTo>
                    <a:pt x="25" y="18"/>
                    <a:pt x="26" y="17"/>
                    <a:pt x="28" y="17"/>
                  </a:cubicBezTo>
                  <a:cubicBezTo>
                    <a:pt x="28" y="17"/>
                    <a:pt x="28" y="17"/>
                    <a:pt x="28" y="17"/>
                  </a:cubicBezTo>
                  <a:cubicBezTo>
                    <a:pt x="27" y="16"/>
                    <a:pt x="26" y="16"/>
                    <a:pt x="25" y="15"/>
                  </a:cubicBezTo>
                  <a:cubicBezTo>
                    <a:pt x="25" y="14"/>
                    <a:pt x="25" y="14"/>
                    <a:pt x="25" y="13"/>
                  </a:cubicBezTo>
                  <a:cubicBezTo>
                    <a:pt x="25" y="12"/>
                    <a:pt x="26" y="11"/>
                    <a:pt x="28" y="10"/>
                  </a:cubicBezTo>
                  <a:cubicBezTo>
                    <a:pt x="29" y="9"/>
                    <a:pt x="31" y="9"/>
                    <a:pt x="34" y="10"/>
                  </a:cubicBezTo>
                  <a:cubicBezTo>
                    <a:pt x="36" y="10"/>
                    <a:pt x="38" y="10"/>
                    <a:pt x="39" y="11"/>
                  </a:cubicBezTo>
                  <a:cubicBezTo>
                    <a:pt x="40" y="12"/>
                    <a:pt x="41" y="14"/>
                    <a:pt x="40" y="15"/>
                  </a:cubicBezTo>
                  <a:cubicBezTo>
                    <a:pt x="40" y="16"/>
                    <a:pt x="40" y="16"/>
                    <a:pt x="39" y="17"/>
                  </a:cubicBezTo>
                  <a:cubicBezTo>
                    <a:pt x="38" y="18"/>
                    <a:pt x="37" y="18"/>
                    <a:pt x="36" y="18"/>
                  </a:cubicBezTo>
                  <a:cubicBezTo>
                    <a:pt x="36" y="18"/>
                    <a:pt x="36" y="18"/>
                    <a:pt x="36" y="18"/>
                  </a:cubicBezTo>
                  <a:cubicBezTo>
                    <a:pt x="37" y="19"/>
                    <a:pt x="38" y="20"/>
                    <a:pt x="39" y="20"/>
                  </a:cubicBezTo>
                  <a:cubicBezTo>
                    <a:pt x="39" y="21"/>
                    <a:pt x="40" y="22"/>
                    <a:pt x="39" y="23"/>
                  </a:cubicBezTo>
                  <a:cubicBezTo>
                    <a:pt x="39" y="25"/>
                    <a:pt x="38" y="26"/>
                    <a:pt x="36" y="26"/>
                  </a:cubicBezTo>
                  <a:cubicBezTo>
                    <a:pt x="34" y="27"/>
                    <a:pt x="32" y="27"/>
                    <a:pt x="30" y="27"/>
                  </a:cubicBezTo>
                  <a:moveTo>
                    <a:pt x="63" y="17"/>
                  </a:moveTo>
                  <a:cubicBezTo>
                    <a:pt x="63" y="15"/>
                    <a:pt x="62" y="15"/>
                    <a:pt x="62" y="14"/>
                  </a:cubicBezTo>
                  <a:cubicBezTo>
                    <a:pt x="62" y="13"/>
                    <a:pt x="61" y="13"/>
                    <a:pt x="61" y="12"/>
                  </a:cubicBezTo>
                  <a:cubicBezTo>
                    <a:pt x="60" y="12"/>
                    <a:pt x="60" y="12"/>
                    <a:pt x="59" y="11"/>
                  </a:cubicBezTo>
                  <a:cubicBezTo>
                    <a:pt x="59" y="11"/>
                    <a:pt x="58" y="11"/>
                    <a:pt x="58" y="11"/>
                  </a:cubicBezTo>
                  <a:cubicBezTo>
                    <a:pt x="56" y="11"/>
                    <a:pt x="55" y="12"/>
                    <a:pt x="54" y="12"/>
                  </a:cubicBezTo>
                  <a:cubicBezTo>
                    <a:pt x="53" y="13"/>
                    <a:pt x="53" y="14"/>
                    <a:pt x="53" y="15"/>
                  </a:cubicBezTo>
                  <a:cubicBezTo>
                    <a:pt x="53" y="16"/>
                    <a:pt x="53" y="16"/>
                    <a:pt x="53" y="17"/>
                  </a:cubicBezTo>
                  <a:cubicBezTo>
                    <a:pt x="54" y="17"/>
                    <a:pt x="54" y="18"/>
                    <a:pt x="55" y="18"/>
                  </a:cubicBezTo>
                  <a:cubicBezTo>
                    <a:pt x="55" y="18"/>
                    <a:pt x="56" y="18"/>
                    <a:pt x="56" y="19"/>
                  </a:cubicBezTo>
                  <a:cubicBezTo>
                    <a:pt x="57" y="19"/>
                    <a:pt x="57" y="19"/>
                    <a:pt x="58" y="19"/>
                  </a:cubicBezTo>
                  <a:cubicBezTo>
                    <a:pt x="59" y="19"/>
                    <a:pt x="59" y="19"/>
                    <a:pt x="60" y="18"/>
                  </a:cubicBezTo>
                  <a:cubicBezTo>
                    <a:pt x="61" y="18"/>
                    <a:pt x="62" y="18"/>
                    <a:pt x="62" y="18"/>
                  </a:cubicBezTo>
                  <a:cubicBezTo>
                    <a:pt x="63" y="18"/>
                    <a:pt x="63" y="17"/>
                    <a:pt x="63" y="17"/>
                  </a:cubicBezTo>
                  <a:cubicBezTo>
                    <a:pt x="63" y="17"/>
                    <a:pt x="63" y="17"/>
                    <a:pt x="63" y="17"/>
                  </a:cubicBezTo>
                  <a:moveTo>
                    <a:pt x="50" y="15"/>
                  </a:moveTo>
                  <a:cubicBezTo>
                    <a:pt x="50" y="14"/>
                    <a:pt x="50" y="14"/>
                    <a:pt x="50" y="13"/>
                  </a:cubicBezTo>
                  <a:cubicBezTo>
                    <a:pt x="51" y="12"/>
                    <a:pt x="51" y="11"/>
                    <a:pt x="52" y="11"/>
                  </a:cubicBezTo>
                  <a:cubicBezTo>
                    <a:pt x="53" y="10"/>
                    <a:pt x="53" y="10"/>
                    <a:pt x="55" y="10"/>
                  </a:cubicBezTo>
                  <a:cubicBezTo>
                    <a:pt x="56" y="9"/>
                    <a:pt x="57" y="9"/>
                    <a:pt x="58" y="9"/>
                  </a:cubicBezTo>
                  <a:cubicBezTo>
                    <a:pt x="59" y="9"/>
                    <a:pt x="60" y="9"/>
                    <a:pt x="61" y="10"/>
                  </a:cubicBezTo>
                  <a:cubicBezTo>
                    <a:pt x="62" y="10"/>
                    <a:pt x="63" y="10"/>
                    <a:pt x="63" y="11"/>
                  </a:cubicBezTo>
                  <a:cubicBezTo>
                    <a:pt x="64" y="11"/>
                    <a:pt x="65" y="12"/>
                    <a:pt x="65" y="13"/>
                  </a:cubicBezTo>
                  <a:cubicBezTo>
                    <a:pt x="66" y="14"/>
                    <a:pt x="66" y="16"/>
                    <a:pt x="66" y="17"/>
                  </a:cubicBezTo>
                  <a:cubicBezTo>
                    <a:pt x="66" y="19"/>
                    <a:pt x="66" y="20"/>
                    <a:pt x="65" y="21"/>
                  </a:cubicBezTo>
                  <a:cubicBezTo>
                    <a:pt x="65" y="22"/>
                    <a:pt x="64" y="23"/>
                    <a:pt x="63" y="24"/>
                  </a:cubicBezTo>
                  <a:cubicBezTo>
                    <a:pt x="62" y="25"/>
                    <a:pt x="61" y="26"/>
                    <a:pt x="60" y="26"/>
                  </a:cubicBezTo>
                  <a:cubicBezTo>
                    <a:pt x="58" y="27"/>
                    <a:pt x="57" y="27"/>
                    <a:pt x="55" y="27"/>
                  </a:cubicBezTo>
                  <a:cubicBezTo>
                    <a:pt x="54" y="27"/>
                    <a:pt x="54" y="27"/>
                    <a:pt x="53" y="27"/>
                  </a:cubicBezTo>
                  <a:cubicBezTo>
                    <a:pt x="53" y="27"/>
                    <a:pt x="52" y="27"/>
                    <a:pt x="52" y="27"/>
                  </a:cubicBezTo>
                  <a:cubicBezTo>
                    <a:pt x="52" y="25"/>
                    <a:pt x="52" y="25"/>
                    <a:pt x="52" y="25"/>
                  </a:cubicBezTo>
                  <a:cubicBezTo>
                    <a:pt x="52" y="25"/>
                    <a:pt x="52" y="25"/>
                    <a:pt x="52" y="25"/>
                  </a:cubicBezTo>
                  <a:cubicBezTo>
                    <a:pt x="52" y="25"/>
                    <a:pt x="53" y="25"/>
                    <a:pt x="53" y="25"/>
                  </a:cubicBezTo>
                  <a:cubicBezTo>
                    <a:pt x="54" y="25"/>
                    <a:pt x="54" y="25"/>
                    <a:pt x="55" y="25"/>
                  </a:cubicBezTo>
                  <a:cubicBezTo>
                    <a:pt x="57" y="25"/>
                    <a:pt x="59" y="25"/>
                    <a:pt x="60" y="24"/>
                  </a:cubicBezTo>
                  <a:cubicBezTo>
                    <a:pt x="62" y="23"/>
                    <a:pt x="62" y="21"/>
                    <a:pt x="62" y="19"/>
                  </a:cubicBezTo>
                  <a:cubicBezTo>
                    <a:pt x="62" y="20"/>
                    <a:pt x="61" y="20"/>
                    <a:pt x="60" y="20"/>
                  </a:cubicBezTo>
                  <a:cubicBezTo>
                    <a:pt x="59" y="20"/>
                    <a:pt x="58" y="21"/>
                    <a:pt x="57" y="21"/>
                  </a:cubicBezTo>
                  <a:cubicBezTo>
                    <a:pt x="56" y="21"/>
                    <a:pt x="55" y="20"/>
                    <a:pt x="55" y="20"/>
                  </a:cubicBezTo>
                  <a:cubicBezTo>
                    <a:pt x="54" y="20"/>
                    <a:pt x="53" y="20"/>
                    <a:pt x="52" y="20"/>
                  </a:cubicBezTo>
                  <a:cubicBezTo>
                    <a:pt x="51" y="19"/>
                    <a:pt x="51" y="18"/>
                    <a:pt x="50" y="18"/>
                  </a:cubicBezTo>
                  <a:cubicBezTo>
                    <a:pt x="50" y="17"/>
                    <a:pt x="50" y="16"/>
                    <a:pt x="50" y="15"/>
                  </a:cubicBezTo>
                  <a:moveTo>
                    <a:pt x="86" y="1"/>
                  </a:moveTo>
                  <a:cubicBezTo>
                    <a:pt x="86" y="18"/>
                    <a:pt x="86" y="18"/>
                    <a:pt x="86" y="18"/>
                  </a:cubicBezTo>
                  <a:cubicBezTo>
                    <a:pt x="83" y="20"/>
                    <a:pt x="83" y="20"/>
                    <a:pt x="83" y="20"/>
                  </a:cubicBezTo>
                  <a:cubicBezTo>
                    <a:pt x="83" y="3"/>
                    <a:pt x="83" y="3"/>
                    <a:pt x="83" y="3"/>
                  </a:cubicBezTo>
                  <a:cubicBezTo>
                    <a:pt x="73" y="8"/>
                    <a:pt x="73" y="8"/>
                    <a:pt x="73" y="8"/>
                  </a:cubicBezTo>
                  <a:cubicBezTo>
                    <a:pt x="72" y="6"/>
                    <a:pt x="72" y="6"/>
                    <a:pt x="72" y="6"/>
                  </a:cubicBezTo>
                  <a:cubicBezTo>
                    <a:pt x="85" y="0"/>
                    <a:pt x="85" y="0"/>
                    <a:pt x="85" y="0"/>
                  </a:cubicBezTo>
                  <a:lnTo>
                    <a:pt x="86" y="1"/>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0" name="Freeform 126"/>
            <p:cNvSpPr/>
            <p:nvPr userDrawn="1"/>
          </p:nvSpPr>
          <p:spPr bwMode="auto">
            <a:xfrm>
              <a:off x="1184" y="728"/>
              <a:ext cx="14" cy="14"/>
            </a:xfrm>
            <a:custGeom>
              <a:avLst/>
              <a:gdLst>
                <a:gd name="T0" fmla="*/ 2 w 11"/>
                <a:gd name="T1" fmla="*/ 12 h 12"/>
                <a:gd name="T2" fmla="*/ 2 w 11"/>
                <a:gd name="T3" fmla="*/ 8 h 12"/>
                <a:gd name="T4" fmla="*/ 1 w 11"/>
                <a:gd name="T5" fmla="*/ 3 h 12"/>
                <a:gd name="T6" fmla="*/ 8 w 11"/>
                <a:gd name="T7" fmla="*/ 3 h 12"/>
                <a:gd name="T8" fmla="*/ 9 w 11"/>
                <a:gd name="T9" fmla="*/ 5 h 12"/>
                <a:gd name="T10" fmla="*/ 8 w 11"/>
                <a:gd name="T11" fmla="*/ 11 h 12"/>
                <a:gd name="T12" fmla="*/ 2 w 11"/>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1" h="12">
                  <a:moveTo>
                    <a:pt x="2" y="12"/>
                  </a:moveTo>
                  <a:cubicBezTo>
                    <a:pt x="0" y="11"/>
                    <a:pt x="1" y="10"/>
                    <a:pt x="2" y="8"/>
                  </a:cubicBezTo>
                  <a:cubicBezTo>
                    <a:pt x="2" y="7"/>
                    <a:pt x="1" y="5"/>
                    <a:pt x="1" y="3"/>
                  </a:cubicBezTo>
                  <a:cubicBezTo>
                    <a:pt x="2" y="0"/>
                    <a:pt x="6" y="2"/>
                    <a:pt x="8" y="3"/>
                  </a:cubicBezTo>
                  <a:cubicBezTo>
                    <a:pt x="8" y="3"/>
                    <a:pt x="9" y="4"/>
                    <a:pt x="9" y="5"/>
                  </a:cubicBezTo>
                  <a:cubicBezTo>
                    <a:pt x="10" y="7"/>
                    <a:pt x="11" y="10"/>
                    <a:pt x="8" y="11"/>
                  </a:cubicBezTo>
                  <a:cubicBezTo>
                    <a:pt x="6" y="12"/>
                    <a:pt x="4" y="12"/>
                    <a:pt x="2" y="12"/>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1" name="Freeform 127"/>
            <p:cNvSpPr/>
            <p:nvPr userDrawn="1"/>
          </p:nvSpPr>
          <p:spPr bwMode="auto">
            <a:xfrm>
              <a:off x="1148" y="686"/>
              <a:ext cx="51" cy="45"/>
            </a:xfrm>
            <a:custGeom>
              <a:avLst/>
              <a:gdLst>
                <a:gd name="T0" fmla="*/ 7 w 41"/>
                <a:gd name="T1" fmla="*/ 35 h 36"/>
                <a:gd name="T2" fmla="*/ 7 w 41"/>
                <a:gd name="T3" fmla="*/ 35 h 36"/>
                <a:gd name="T4" fmla="*/ 7 w 41"/>
                <a:gd name="T5" fmla="*/ 34 h 36"/>
                <a:gd name="T6" fmla="*/ 15 w 41"/>
                <a:gd name="T7" fmla="*/ 32 h 36"/>
                <a:gd name="T8" fmla="*/ 20 w 41"/>
                <a:gd name="T9" fmla="*/ 28 h 36"/>
                <a:gd name="T10" fmla="*/ 6 w 41"/>
                <a:gd name="T11" fmla="*/ 29 h 36"/>
                <a:gd name="T12" fmla="*/ 2 w 41"/>
                <a:gd name="T13" fmla="*/ 26 h 36"/>
                <a:gd name="T14" fmla="*/ 2 w 41"/>
                <a:gd name="T15" fmla="*/ 26 h 36"/>
                <a:gd name="T16" fmla="*/ 3 w 41"/>
                <a:gd name="T17" fmla="*/ 21 h 36"/>
                <a:gd name="T18" fmla="*/ 19 w 41"/>
                <a:gd name="T19" fmla="*/ 21 h 36"/>
                <a:gd name="T20" fmla="*/ 24 w 41"/>
                <a:gd name="T21" fmla="*/ 20 h 36"/>
                <a:gd name="T22" fmla="*/ 29 w 41"/>
                <a:gd name="T23" fmla="*/ 3 h 36"/>
                <a:gd name="T24" fmla="*/ 35 w 41"/>
                <a:gd name="T25" fmla="*/ 6 h 36"/>
                <a:gd name="T26" fmla="*/ 36 w 41"/>
                <a:gd name="T27" fmla="*/ 7 h 36"/>
                <a:gd name="T28" fmla="*/ 36 w 41"/>
                <a:gd name="T29" fmla="*/ 7 h 36"/>
                <a:gd name="T30" fmla="*/ 35 w 41"/>
                <a:gd name="T31" fmla="*/ 11 h 36"/>
                <a:gd name="T32" fmla="*/ 31 w 41"/>
                <a:gd name="T33" fmla="*/ 20 h 36"/>
                <a:gd name="T34" fmla="*/ 40 w 41"/>
                <a:gd name="T35" fmla="*/ 19 h 36"/>
                <a:gd name="T36" fmla="*/ 38 w 41"/>
                <a:gd name="T37" fmla="*/ 23 h 36"/>
                <a:gd name="T38" fmla="*/ 29 w 41"/>
                <a:gd name="T39" fmla="*/ 24 h 36"/>
                <a:gd name="T40" fmla="*/ 23 w 41"/>
                <a:gd name="T41" fmla="*/ 32 h 36"/>
                <a:gd name="T42" fmla="*/ 21 w 41"/>
                <a:gd name="T43" fmla="*/ 34 h 36"/>
                <a:gd name="T44" fmla="*/ 14 w 41"/>
                <a:gd name="T45" fmla="*/ 35 h 36"/>
                <a:gd name="T46" fmla="*/ 7 w 41"/>
                <a:gd name="T47" fmla="*/ 3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36">
                  <a:moveTo>
                    <a:pt x="7" y="35"/>
                  </a:moveTo>
                  <a:cubicBezTo>
                    <a:pt x="7" y="35"/>
                    <a:pt x="7" y="35"/>
                    <a:pt x="7" y="35"/>
                  </a:cubicBezTo>
                  <a:cubicBezTo>
                    <a:pt x="7" y="35"/>
                    <a:pt x="7" y="35"/>
                    <a:pt x="7" y="34"/>
                  </a:cubicBezTo>
                  <a:cubicBezTo>
                    <a:pt x="8" y="34"/>
                    <a:pt x="15" y="32"/>
                    <a:pt x="15" y="32"/>
                  </a:cubicBezTo>
                  <a:cubicBezTo>
                    <a:pt x="17" y="31"/>
                    <a:pt x="19" y="30"/>
                    <a:pt x="20" y="28"/>
                  </a:cubicBezTo>
                  <a:cubicBezTo>
                    <a:pt x="15" y="28"/>
                    <a:pt x="11" y="30"/>
                    <a:pt x="6" y="29"/>
                  </a:cubicBezTo>
                  <a:cubicBezTo>
                    <a:pt x="4" y="28"/>
                    <a:pt x="3" y="27"/>
                    <a:pt x="2" y="26"/>
                  </a:cubicBezTo>
                  <a:cubicBezTo>
                    <a:pt x="2" y="26"/>
                    <a:pt x="2" y="26"/>
                    <a:pt x="2" y="26"/>
                  </a:cubicBezTo>
                  <a:cubicBezTo>
                    <a:pt x="0" y="24"/>
                    <a:pt x="0" y="22"/>
                    <a:pt x="3" y="21"/>
                  </a:cubicBezTo>
                  <a:cubicBezTo>
                    <a:pt x="7" y="23"/>
                    <a:pt x="15" y="22"/>
                    <a:pt x="19" y="21"/>
                  </a:cubicBezTo>
                  <a:cubicBezTo>
                    <a:pt x="20" y="21"/>
                    <a:pt x="23" y="21"/>
                    <a:pt x="24" y="20"/>
                  </a:cubicBezTo>
                  <a:cubicBezTo>
                    <a:pt x="26" y="15"/>
                    <a:pt x="27" y="9"/>
                    <a:pt x="29" y="3"/>
                  </a:cubicBezTo>
                  <a:cubicBezTo>
                    <a:pt x="31" y="0"/>
                    <a:pt x="33" y="3"/>
                    <a:pt x="35" y="6"/>
                  </a:cubicBezTo>
                  <a:cubicBezTo>
                    <a:pt x="35" y="6"/>
                    <a:pt x="36" y="6"/>
                    <a:pt x="36" y="7"/>
                  </a:cubicBezTo>
                  <a:cubicBezTo>
                    <a:pt x="36" y="7"/>
                    <a:pt x="36" y="7"/>
                    <a:pt x="36" y="7"/>
                  </a:cubicBezTo>
                  <a:cubicBezTo>
                    <a:pt x="37" y="9"/>
                    <a:pt x="37" y="10"/>
                    <a:pt x="35" y="11"/>
                  </a:cubicBezTo>
                  <a:cubicBezTo>
                    <a:pt x="33" y="14"/>
                    <a:pt x="32" y="17"/>
                    <a:pt x="31" y="20"/>
                  </a:cubicBezTo>
                  <a:cubicBezTo>
                    <a:pt x="34" y="20"/>
                    <a:pt x="37" y="18"/>
                    <a:pt x="40" y="19"/>
                  </a:cubicBezTo>
                  <a:cubicBezTo>
                    <a:pt x="41" y="21"/>
                    <a:pt x="40" y="22"/>
                    <a:pt x="38" y="23"/>
                  </a:cubicBezTo>
                  <a:cubicBezTo>
                    <a:pt x="36" y="23"/>
                    <a:pt x="33" y="24"/>
                    <a:pt x="29" y="24"/>
                  </a:cubicBezTo>
                  <a:cubicBezTo>
                    <a:pt x="28" y="27"/>
                    <a:pt x="26" y="30"/>
                    <a:pt x="23" y="32"/>
                  </a:cubicBezTo>
                  <a:cubicBezTo>
                    <a:pt x="23" y="33"/>
                    <a:pt x="21" y="34"/>
                    <a:pt x="21" y="34"/>
                  </a:cubicBezTo>
                  <a:cubicBezTo>
                    <a:pt x="19" y="34"/>
                    <a:pt x="17" y="35"/>
                    <a:pt x="14" y="35"/>
                  </a:cubicBezTo>
                  <a:cubicBezTo>
                    <a:pt x="8" y="36"/>
                    <a:pt x="8" y="35"/>
                    <a:pt x="7" y="35"/>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2" name="Freeform 128"/>
            <p:cNvSpPr/>
            <p:nvPr userDrawn="1"/>
          </p:nvSpPr>
          <p:spPr bwMode="auto">
            <a:xfrm>
              <a:off x="1063" y="714"/>
              <a:ext cx="20" cy="41"/>
            </a:xfrm>
            <a:custGeom>
              <a:avLst/>
              <a:gdLst>
                <a:gd name="T0" fmla="*/ 7 w 16"/>
                <a:gd name="T1" fmla="*/ 33 h 33"/>
                <a:gd name="T2" fmla="*/ 0 w 16"/>
                <a:gd name="T3" fmla="*/ 30 h 33"/>
                <a:gd name="T4" fmla="*/ 0 w 16"/>
                <a:gd name="T5" fmla="*/ 28 h 33"/>
                <a:gd name="T6" fmla="*/ 10 w 16"/>
                <a:gd name="T7" fmla="*/ 11 h 33"/>
                <a:gd name="T8" fmla="*/ 12 w 16"/>
                <a:gd name="T9" fmla="*/ 3 h 33"/>
                <a:gd name="T10" fmla="*/ 12 w 16"/>
                <a:gd name="T11" fmla="*/ 2 h 33"/>
                <a:gd name="T12" fmla="*/ 12 w 16"/>
                <a:gd name="T13" fmla="*/ 2 h 33"/>
                <a:gd name="T14" fmla="*/ 15 w 16"/>
                <a:gd name="T15" fmla="*/ 2 h 33"/>
                <a:gd name="T16" fmla="*/ 14 w 16"/>
                <a:gd name="T17" fmla="*/ 7 h 33"/>
                <a:gd name="T18" fmla="*/ 13 w 16"/>
                <a:gd name="T19" fmla="*/ 16 h 33"/>
                <a:gd name="T20" fmla="*/ 13 w 16"/>
                <a:gd name="T21" fmla="*/ 19 h 33"/>
                <a:gd name="T22" fmla="*/ 11 w 16"/>
                <a:gd name="T23" fmla="*/ 26 h 33"/>
                <a:gd name="T24" fmla="*/ 9 w 16"/>
                <a:gd name="T25" fmla="*/ 33 h 33"/>
                <a:gd name="T26" fmla="*/ 7 w 16"/>
                <a:gd name="T27"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33">
                  <a:moveTo>
                    <a:pt x="7" y="33"/>
                  </a:moveTo>
                  <a:cubicBezTo>
                    <a:pt x="5" y="33"/>
                    <a:pt x="2" y="31"/>
                    <a:pt x="0" y="30"/>
                  </a:cubicBezTo>
                  <a:cubicBezTo>
                    <a:pt x="0" y="30"/>
                    <a:pt x="0" y="29"/>
                    <a:pt x="0" y="28"/>
                  </a:cubicBezTo>
                  <a:cubicBezTo>
                    <a:pt x="4" y="23"/>
                    <a:pt x="7" y="17"/>
                    <a:pt x="10" y="11"/>
                  </a:cubicBezTo>
                  <a:cubicBezTo>
                    <a:pt x="11" y="8"/>
                    <a:pt x="11" y="5"/>
                    <a:pt x="12" y="3"/>
                  </a:cubicBezTo>
                  <a:cubicBezTo>
                    <a:pt x="12" y="3"/>
                    <a:pt x="12" y="3"/>
                    <a:pt x="12" y="2"/>
                  </a:cubicBezTo>
                  <a:cubicBezTo>
                    <a:pt x="12" y="2"/>
                    <a:pt x="12" y="2"/>
                    <a:pt x="12" y="2"/>
                  </a:cubicBezTo>
                  <a:cubicBezTo>
                    <a:pt x="13" y="1"/>
                    <a:pt x="14" y="0"/>
                    <a:pt x="15" y="2"/>
                  </a:cubicBezTo>
                  <a:cubicBezTo>
                    <a:pt x="16" y="3"/>
                    <a:pt x="14" y="5"/>
                    <a:pt x="14" y="7"/>
                  </a:cubicBezTo>
                  <a:cubicBezTo>
                    <a:pt x="14" y="10"/>
                    <a:pt x="14" y="13"/>
                    <a:pt x="13" y="16"/>
                  </a:cubicBezTo>
                  <a:cubicBezTo>
                    <a:pt x="13" y="16"/>
                    <a:pt x="13" y="16"/>
                    <a:pt x="13" y="19"/>
                  </a:cubicBezTo>
                  <a:cubicBezTo>
                    <a:pt x="12" y="21"/>
                    <a:pt x="11" y="24"/>
                    <a:pt x="11" y="26"/>
                  </a:cubicBezTo>
                  <a:cubicBezTo>
                    <a:pt x="10" y="28"/>
                    <a:pt x="10" y="31"/>
                    <a:pt x="9" y="33"/>
                  </a:cubicBezTo>
                  <a:cubicBezTo>
                    <a:pt x="8" y="33"/>
                    <a:pt x="8" y="33"/>
                    <a:pt x="7" y="33"/>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3" name="Freeform 129"/>
            <p:cNvSpPr/>
            <p:nvPr userDrawn="1"/>
          </p:nvSpPr>
          <p:spPr bwMode="auto">
            <a:xfrm>
              <a:off x="1090" y="704"/>
              <a:ext cx="16" cy="16"/>
            </a:xfrm>
            <a:custGeom>
              <a:avLst/>
              <a:gdLst>
                <a:gd name="T0" fmla="*/ 8 w 13"/>
                <a:gd name="T1" fmla="*/ 12 h 13"/>
                <a:gd name="T2" fmla="*/ 1 w 13"/>
                <a:gd name="T3" fmla="*/ 10 h 13"/>
                <a:gd name="T4" fmla="*/ 1 w 13"/>
                <a:gd name="T5" fmla="*/ 8 h 13"/>
                <a:gd name="T6" fmla="*/ 2 w 13"/>
                <a:gd name="T7" fmla="*/ 7 h 13"/>
                <a:gd name="T8" fmla="*/ 5 w 13"/>
                <a:gd name="T9" fmla="*/ 6 h 13"/>
                <a:gd name="T10" fmla="*/ 12 w 13"/>
                <a:gd name="T11" fmla="*/ 1 h 13"/>
                <a:gd name="T12" fmla="*/ 8 w 13"/>
                <a:gd name="T13" fmla="*/ 12 h 13"/>
              </a:gdLst>
              <a:ahLst/>
              <a:cxnLst>
                <a:cxn ang="0">
                  <a:pos x="T0" y="T1"/>
                </a:cxn>
                <a:cxn ang="0">
                  <a:pos x="T2" y="T3"/>
                </a:cxn>
                <a:cxn ang="0">
                  <a:pos x="T4" y="T5"/>
                </a:cxn>
                <a:cxn ang="0">
                  <a:pos x="T6" y="T7"/>
                </a:cxn>
                <a:cxn ang="0">
                  <a:pos x="T8" y="T9"/>
                </a:cxn>
                <a:cxn ang="0">
                  <a:pos x="T10" y="T11"/>
                </a:cxn>
                <a:cxn ang="0">
                  <a:pos x="T12" y="T13"/>
                </a:cxn>
              </a:cxnLst>
              <a:rect l="0" t="0" r="r" b="b"/>
              <a:pathLst>
                <a:path w="13" h="13">
                  <a:moveTo>
                    <a:pt x="8" y="12"/>
                  </a:moveTo>
                  <a:cubicBezTo>
                    <a:pt x="5" y="13"/>
                    <a:pt x="3" y="12"/>
                    <a:pt x="1" y="10"/>
                  </a:cubicBezTo>
                  <a:cubicBezTo>
                    <a:pt x="0" y="10"/>
                    <a:pt x="1" y="9"/>
                    <a:pt x="1" y="8"/>
                  </a:cubicBezTo>
                  <a:cubicBezTo>
                    <a:pt x="1" y="8"/>
                    <a:pt x="1" y="8"/>
                    <a:pt x="2" y="7"/>
                  </a:cubicBezTo>
                  <a:cubicBezTo>
                    <a:pt x="3" y="7"/>
                    <a:pt x="3" y="7"/>
                    <a:pt x="5" y="6"/>
                  </a:cubicBezTo>
                  <a:cubicBezTo>
                    <a:pt x="6" y="5"/>
                    <a:pt x="10" y="0"/>
                    <a:pt x="12" y="1"/>
                  </a:cubicBezTo>
                  <a:cubicBezTo>
                    <a:pt x="13" y="4"/>
                    <a:pt x="11" y="10"/>
                    <a:pt x="8" y="12"/>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4" name="Freeform 130"/>
            <p:cNvSpPr/>
            <p:nvPr userDrawn="1"/>
          </p:nvSpPr>
          <p:spPr bwMode="auto">
            <a:xfrm>
              <a:off x="1062" y="710"/>
              <a:ext cx="12" cy="14"/>
            </a:xfrm>
            <a:custGeom>
              <a:avLst/>
              <a:gdLst>
                <a:gd name="T0" fmla="*/ 5 w 10"/>
                <a:gd name="T1" fmla="*/ 11 h 11"/>
                <a:gd name="T2" fmla="*/ 1 w 10"/>
                <a:gd name="T3" fmla="*/ 4 h 11"/>
                <a:gd name="T4" fmla="*/ 6 w 10"/>
                <a:gd name="T5" fmla="*/ 1 h 11"/>
                <a:gd name="T6" fmla="*/ 10 w 10"/>
                <a:gd name="T7" fmla="*/ 6 h 11"/>
                <a:gd name="T8" fmla="*/ 5 w 10"/>
                <a:gd name="T9" fmla="*/ 11 h 11"/>
              </a:gdLst>
              <a:ahLst/>
              <a:cxnLst>
                <a:cxn ang="0">
                  <a:pos x="T0" y="T1"/>
                </a:cxn>
                <a:cxn ang="0">
                  <a:pos x="T2" y="T3"/>
                </a:cxn>
                <a:cxn ang="0">
                  <a:pos x="T4" y="T5"/>
                </a:cxn>
                <a:cxn ang="0">
                  <a:pos x="T6" y="T7"/>
                </a:cxn>
                <a:cxn ang="0">
                  <a:pos x="T8" y="T9"/>
                </a:cxn>
              </a:cxnLst>
              <a:rect l="0" t="0" r="r" b="b"/>
              <a:pathLst>
                <a:path w="10" h="11">
                  <a:moveTo>
                    <a:pt x="5" y="11"/>
                  </a:moveTo>
                  <a:cubicBezTo>
                    <a:pt x="3" y="10"/>
                    <a:pt x="1" y="5"/>
                    <a:pt x="1" y="4"/>
                  </a:cubicBezTo>
                  <a:cubicBezTo>
                    <a:pt x="0" y="1"/>
                    <a:pt x="3" y="0"/>
                    <a:pt x="6" y="1"/>
                  </a:cubicBezTo>
                  <a:cubicBezTo>
                    <a:pt x="9" y="2"/>
                    <a:pt x="10" y="3"/>
                    <a:pt x="10" y="6"/>
                  </a:cubicBezTo>
                  <a:cubicBezTo>
                    <a:pt x="8" y="9"/>
                    <a:pt x="7" y="9"/>
                    <a:pt x="5" y="11"/>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5" name="Freeform 131"/>
            <p:cNvSpPr/>
            <p:nvPr userDrawn="1"/>
          </p:nvSpPr>
          <p:spPr bwMode="auto">
            <a:xfrm>
              <a:off x="1085" y="688"/>
              <a:ext cx="19" cy="21"/>
            </a:xfrm>
            <a:custGeom>
              <a:avLst/>
              <a:gdLst>
                <a:gd name="T0" fmla="*/ 8 w 15"/>
                <a:gd name="T1" fmla="*/ 17 h 17"/>
                <a:gd name="T2" fmla="*/ 7 w 15"/>
                <a:gd name="T3" fmla="*/ 12 h 17"/>
                <a:gd name="T4" fmla="*/ 5 w 15"/>
                <a:gd name="T5" fmla="*/ 13 h 17"/>
                <a:gd name="T6" fmla="*/ 0 w 15"/>
                <a:gd name="T7" fmla="*/ 9 h 17"/>
                <a:gd name="T8" fmla="*/ 2 w 15"/>
                <a:gd name="T9" fmla="*/ 7 h 17"/>
                <a:gd name="T10" fmla="*/ 7 w 15"/>
                <a:gd name="T11" fmla="*/ 2 h 17"/>
                <a:gd name="T12" fmla="*/ 14 w 15"/>
                <a:gd name="T13" fmla="*/ 4 h 17"/>
                <a:gd name="T14" fmla="*/ 13 w 15"/>
                <a:gd name="T15" fmla="*/ 11 h 17"/>
                <a:gd name="T16" fmla="*/ 9 w 15"/>
                <a:gd name="T17" fmla="*/ 16 h 17"/>
                <a:gd name="T18" fmla="*/ 8 w 15"/>
                <a:gd name="T19"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7">
                  <a:moveTo>
                    <a:pt x="8" y="17"/>
                  </a:moveTo>
                  <a:cubicBezTo>
                    <a:pt x="7" y="16"/>
                    <a:pt x="8" y="12"/>
                    <a:pt x="7" y="12"/>
                  </a:cubicBezTo>
                  <a:cubicBezTo>
                    <a:pt x="6" y="12"/>
                    <a:pt x="6" y="13"/>
                    <a:pt x="5" y="13"/>
                  </a:cubicBezTo>
                  <a:cubicBezTo>
                    <a:pt x="3" y="13"/>
                    <a:pt x="0" y="11"/>
                    <a:pt x="0" y="9"/>
                  </a:cubicBezTo>
                  <a:cubicBezTo>
                    <a:pt x="1" y="7"/>
                    <a:pt x="0" y="8"/>
                    <a:pt x="2" y="7"/>
                  </a:cubicBezTo>
                  <a:cubicBezTo>
                    <a:pt x="4" y="5"/>
                    <a:pt x="6" y="3"/>
                    <a:pt x="7" y="2"/>
                  </a:cubicBezTo>
                  <a:cubicBezTo>
                    <a:pt x="11" y="0"/>
                    <a:pt x="13" y="1"/>
                    <a:pt x="14" y="4"/>
                  </a:cubicBezTo>
                  <a:cubicBezTo>
                    <a:pt x="15" y="7"/>
                    <a:pt x="14" y="9"/>
                    <a:pt x="13" y="11"/>
                  </a:cubicBezTo>
                  <a:cubicBezTo>
                    <a:pt x="12" y="13"/>
                    <a:pt x="10" y="15"/>
                    <a:pt x="9" y="16"/>
                  </a:cubicBezTo>
                  <a:cubicBezTo>
                    <a:pt x="9" y="17"/>
                    <a:pt x="8" y="17"/>
                    <a:pt x="8" y="17"/>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6" name="Freeform 132"/>
            <p:cNvSpPr/>
            <p:nvPr userDrawn="1"/>
          </p:nvSpPr>
          <p:spPr bwMode="auto">
            <a:xfrm>
              <a:off x="1062" y="693"/>
              <a:ext cx="12" cy="13"/>
            </a:xfrm>
            <a:custGeom>
              <a:avLst/>
              <a:gdLst>
                <a:gd name="T0" fmla="*/ 4 w 10"/>
                <a:gd name="T1" fmla="*/ 11 h 11"/>
                <a:gd name="T2" fmla="*/ 3 w 10"/>
                <a:gd name="T3" fmla="*/ 9 h 11"/>
                <a:gd name="T4" fmla="*/ 1 w 10"/>
                <a:gd name="T5" fmla="*/ 6 h 11"/>
                <a:gd name="T6" fmla="*/ 1 w 10"/>
                <a:gd name="T7" fmla="*/ 0 h 11"/>
                <a:gd name="T8" fmla="*/ 10 w 10"/>
                <a:gd name="T9" fmla="*/ 5 h 11"/>
                <a:gd name="T10" fmla="*/ 4 w 10"/>
                <a:gd name="T11" fmla="*/ 11 h 11"/>
              </a:gdLst>
              <a:ahLst/>
              <a:cxnLst>
                <a:cxn ang="0">
                  <a:pos x="T0" y="T1"/>
                </a:cxn>
                <a:cxn ang="0">
                  <a:pos x="T2" y="T3"/>
                </a:cxn>
                <a:cxn ang="0">
                  <a:pos x="T4" y="T5"/>
                </a:cxn>
                <a:cxn ang="0">
                  <a:pos x="T6" y="T7"/>
                </a:cxn>
                <a:cxn ang="0">
                  <a:pos x="T8" y="T9"/>
                </a:cxn>
                <a:cxn ang="0">
                  <a:pos x="T10" y="T11"/>
                </a:cxn>
              </a:cxnLst>
              <a:rect l="0" t="0" r="r" b="b"/>
              <a:pathLst>
                <a:path w="10" h="11">
                  <a:moveTo>
                    <a:pt x="4" y="11"/>
                  </a:moveTo>
                  <a:cubicBezTo>
                    <a:pt x="3" y="11"/>
                    <a:pt x="3" y="10"/>
                    <a:pt x="3" y="9"/>
                  </a:cubicBezTo>
                  <a:cubicBezTo>
                    <a:pt x="3" y="8"/>
                    <a:pt x="2" y="7"/>
                    <a:pt x="1" y="6"/>
                  </a:cubicBezTo>
                  <a:cubicBezTo>
                    <a:pt x="0" y="3"/>
                    <a:pt x="0" y="2"/>
                    <a:pt x="1" y="0"/>
                  </a:cubicBezTo>
                  <a:cubicBezTo>
                    <a:pt x="3" y="0"/>
                    <a:pt x="10" y="1"/>
                    <a:pt x="10" y="5"/>
                  </a:cubicBezTo>
                  <a:cubicBezTo>
                    <a:pt x="9" y="7"/>
                    <a:pt x="6" y="10"/>
                    <a:pt x="4" y="11"/>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7" name="Freeform 133"/>
            <p:cNvSpPr/>
            <p:nvPr userDrawn="1"/>
          </p:nvSpPr>
          <p:spPr bwMode="auto">
            <a:xfrm>
              <a:off x="996" y="742"/>
              <a:ext cx="47" cy="83"/>
            </a:xfrm>
            <a:custGeom>
              <a:avLst/>
              <a:gdLst>
                <a:gd name="T0" fmla="*/ 22 w 38"/>
                <a:gd name="T1" fmla="*/ 64 h 66"/>
                <a:gd name="T2" fmla="*/ 13 w 38"/>
                <a:gd name="T3" fmla="*/ 61 h 66"/>
                <a:gd name="T4" fmla="*/ 13 w 38"/>
                <a:gd name="T5" fmla="*/ 59 h 66"/>
                <a:gd name="T6" fmla="*/ 13 w 38"/>
                <a:gd name="T7" fmla="*/ 59 h 66"/>
                <a:gd name="T8" fmla="*/ 8 w 38"/>
                <a:gd name="T9" fmla="*/ 46 h 66"/>
                <a:gd name="T10" fmla="*/ 7 w 38"/>
                <a:gd name="T11" fmla="*/ 42 h 66"/>
                <a:gd name="T12" fmla="*/ 10 w 38"/>
                <a:gd name="T13" fmla="*/ 44 h 66"/>
                <a:gd name="T14" fmla="*/ 11 w 38"/>
                <a:gd name="T15" fmla="*/ 42 h 66"/>
                <a:gd name="T16" fmla="*/ 11 w 38"/>
                <a:gd name="T17" fmla="*/ 33 h 66"/>
                <a:gd name="T18" fmla="*/ 8 w 38"/>
                <a:gd name="T19" fmla="*/ 31 h 66"/>
                <a:gd name="T20" fmla="*/ 4 w 38"/>
                <a:gd name="T21" fmla="*/ 34 h 66"/>
                <a:gd name="T22" fmla="*/ 4 w 38"/>
                <a:gd name="T23" fmla="*/ 27 h 66"/>
                <a:gd name="T24" fmla="*/ 0 w 38"/>
                <a:gd name="T25" fmla="*/ 23 h 66"/>
                <a:gd name="T26" fmla="*/ 6 w 38"/>
                <a:gd name="T27" fmla="*/ 21 h 66"/>
                <a:gd name="T28" fmla="*/ 10 w 38"/>
                <a:gd name="T29" fmla="*/ 23 h 66"/>
                <a:gd name="T30" fmla="*/ 11 w 38"/>
                <a:gd name="T31" fmla="*/ 25 h 66"/>
                <a:gd name="T32" fmla="*/ 12 w 38"/>
                <a:gd name="T33" fmla="*/ 24 h 66"/>
                <a:gd name="T34" fmla="*/ 12 w 38"/>
                <a:gd name="T35" fmla="*/ 17 h 66"/>
                <a:gd name="T36" fmla="*/ 7 w 38"/>
                <a:gd name="T37" fmla="*/ 10 h 66"/>
                <a:gd name="T38" fmla="*/ 12 w 38"/>
                <a:gd name="T39" fmla="*/ 6 h 66"/>
                <a:gd name="T40" fmla="*/ 13 w 38"/>
                <a:gd name="T41" fmla="*/ 1 h 66"/>
                <a:gd name="T42" fmla="*/ 14 w 38"/>
                <a:gd name="T43" fmla="*/ 0 h 66"/>
                <a:gd name="T44" fmla="*/ 16 w 38"/>
                <a:gd name="T45" fmla="*/ 1 h 66"/>
                <a:gd name="T46" fmla="*/ 18 w 38"/>
                <a:gd name="T47" fmla="*/ 12 h 66"/>
                <a:gd name="T48" fmla="*/ 17 w 38"/>
                <a:gd name="T49" fmla="*/ 8 h 66"/>
                <a:gd name="T50" fmla="*/ 22 w 38"/>
                <a:gd name="T51" fmla="*/ 3 h 66"/>
                <a:gd name="T52" fmla="*/ 25 w 38"/>
                <a:gd name="T53" fmla="*/ 7 h 66"/>
                <a:gd name="T54" fmla="*/ 26 w 38"/>
                <a:gd name="T55" fmla="*/ 8 h 66"/>
                <a:gd name="T56" fmla="*/ 35 w 38"/>
                <a:gd name="T57" fmla="*/ 15 h 66"/>
                <a:gd name="T58" fmla="*/ 37 w 38"/>
                <a:gd name="T59" fmla="*/ 19 h 66"/>
                <a:gd name="T60" fmla="*/ 37 w 38"/>
                <a:gd name="T61" fmla="*/ 20 h 66"/>
                <a:gd name="T62" fmla="*/ 37 w 38"/>
                <a:gd name="T63" fmla="*/ 20 h 66"/>
                <a:gd name="T64" fmla="*/ 36 w 38"/>
                <a:gd name="T65" fmla="*/ 24 h 66"/>
                <a:gd name="T66" fmla="*/ 23 w 38"/>
                <a:gd name="T67" fmla="*/ 15 h 66"/>
                <a:gd name="T68" fmla="*/ 23 w 38"/>
                <a:gd name="T69" fmla="*/ 15 h 66"/>
                <a:gd name="T70" fmla="*/ 27 w 38"/>
                <a:gd name="T71" fmla="*/ 25 h 66"/>
                <a:gd name="T72" fmla="*/ 22 w 38"/>
                <a:gd name="T73" fmla="*/ 27 h 66"/>
                <a:gd name="T74" fmla="*/ 22 w 38"/>
                <a:gd name="T75" fmla="*/ 25 h 66"/>
                <a:gd name="T76" fmla="*/ 15 w 38"/>
                <a:gd name="T77" fmla="*/ 19 h 66"/>
                <a:gd name="T78" fmla="*/ 16 w 38"/>
                <a:gd name="T79" fmla="*/ 27 h 66"/>
                <a:gd name="T80" fmla="*/ 17 w 38"/>
                <a:gd name="T81" fmla="*/ 31 h 66"/>
                <a:gd name="T82" fmla="*/ 21 w 38"/>
                <a:gd name="T83" fmla="*/ 35 h 66"/>
                <a:gd name="T84" fmla="*/ 22 w 38"/>
                <a:gd name="T85" fmla="*/ 38 h 66"/>
                <a:gd name="T86" fmla="*/ 22 w 38"/>
                <a:gd name="T87" fmla="*/ 39 h 66"/>
                <a:gd name="T88" fmla="*/ 22 w 38"/>
                <a:gd name="T89" fmla="*/ 44 h 66"/>
                <a:gd name="T90" fmla="*/ 21 w 38"/>
                <a:gd name="T91" fmla="*/ 44 h 66"/>
                <a:gd name="T92" fmla="*/ 17 w 38"/>
                <a:gd name="T93" fmla="*/ 38 h 66"/>
                <a:gd name="T94" fmla="*/ 16 w 38"/>
                <a:gd name="T95" fmla="*/ 44 h 66"/>
                <a:gd name="T96" fmla="*/ 13 w 38"/>
                <a:gd name="T97" fmla="*/ 46 h 66"/>
                <a:gd name="T98" fmla="*/ 13 w 38"/>
                <a:gd name="T99" fmla="*/ 46 h 66"/>
                <a:gd name="T100" fmla="*/ 12 w 38"/>
                <a:gd name="T101" fmla="*/ 47 h 66"/>
                <a:gd name="T102" fmla="*/ 14 w 38"/>
                <a:gd name="T103" fmla="*/ 50 h 66"/>
                <a:gd name="T104" fmla="*/ 23 w 38"/>
                <a:gd name="T105" fmla="*/ 62 h 66"/>
                <a:gd name="T106" fmla="*/ 22 w 38"/>
                <a:gd name="T107" fmla="*/ 6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8" h="66">
                  <a:moveTo>
                    <a:pt x="22" y="64"/>
                  </a:moveTo>
                  <a:cubicBezTo>
                    <a:pt x="19" y="66"/>
                    <a:pt x="12" y="65"/>
                    <a:pt x="13" y="61"/>
                  </a:cubicBezTo>
                  <a:cubicBezTo>
                    <a:pt x="13" y="60"/>
                    <a:pt x="13" y="59"/>
                    <a:pt x="13" y="59"/>
                  </a:cubicBezTo>
                  <a:cubicBezTo>
                    <a:pt x="13" y="59"/>
                    <a:pt x="13" y="59"/>
                    <a:pt x="13" y="59"/>
                  </a:cubicBezTo>
                  <a:cubicBezTo>
                    <a:pt x="12" y="54"/>
                    <a:pt x="9" y="50"/>
                    <a:pt x="8" y="46"/>
                  </a:cubicBezTo>
                  <a:cubicBezTo>
                    <a:pt x="7" y="45"/>
                    <a:pt x="7" y="44"/>
                    <a:pt x="7" y="42"/>
                  </a:cubicBezTo>
                  <a:cubicBezTo>
                    <a:pt x="8" y="42"/>
                    <a:pt x="9" y="43"/>
                    <a:pt x="10" y="44"/>
                  </a:cubicBezTo>
                  <a:cubicBezTo>
                    <a:pt x="11" y="44"/>
                    <a:pt x="11" y="43"/>
                    <a:pt x="11" y="42"/>
                  </a:cubicBezTo>
                  <a:cubicBezTo>
                    <a:pt x="11" y="39"/>
                    <a:pt x="11" y="36"/>
                    <a:pt x="11" y="33"/>
                  </a:cubicBezTo>
                  <a:cubicBezTo>
                    <a:pt x="10" y="32"/>
                    <a:pt x="9" y="31"/>
                    <a:pt x="8" y="31"/>
                  </a:cubicBezTo>
                  <a:cubicBezTo>
                    <a:pt x="8" y="32"/>
                    <a:pt x="6" y="37"/>
                    <a:pt x="4" y="34"/>
                  </a:cubicBezTo>
                  <a:cubicBezTo>
                    <a:pt x="5" y="32"/>
                    <a:pt x="5" y="29"/>
                    <a:pt x="4" y="27"/>
                  </a:cubicBezTo>
                  <a:cubicBezTo>
                    <a:pt x="2" y="25"/>
                    <a:pt x="0" y="24"/>
                    <a:pt x="0" y="23"/>
                  </a:cubicBezTo>
                  <a:cubicBezTo>
                    <a:pt x="0" y="20"/>
                    <a:pt x="4" y="20"/>
                    <a:pt x="6" y="21"/>
                  </a:cubicBezTo>
                  <a:cubicBezTo>
                    <a:pt x="8" y="21"/>
                    <a:pt x="8" y="17"/>
                    <a:pt x="10" y="23"/>
                  </a:cubicBezTo>
                  <a:cubicBezTo>
                    <a:pt x="10" y="24"/>
                    <a:pt x="11" y="24"/>
                    <a:pt x="11" y="25"/>
                  </a:cubicBezTo>
                  <a:cubicBezTo>
                    <a:pt x="12" y="25"/>
                    <a:pt x="12" y="24"/>
                    <a:pt x="12" y="24"/>
                  </a:cubicBezTo>
                  <a:cubicBezTo>
                    <a:pt x="12" y="22"/>
                    <a:pt x="12" y="19"/>
                    <a:pt x="12" y="17"/>
                  </a:cubicBezTo>
                  <a:cubicBezTo>
                    <a:pt x="10" y="15"/>
                    <a:pt x="8" y="13"/>
                    <a:pt x="7" y="10"/>
                  </a:cubicBezTo>
                  <a:cubicBezTo>
                    <a:pt x="7" y="8"/>
                    <a:pt x="10" y="6"/>
                    <a:pt x="12" y="6"/>
                  </a:cubicBezTo>
                  <a:cubicBezTo>
                    <a:pt x="13" y="4"/>
                    <a:pt x="13" y="3"/>
                    <a:pt x="13" y="1"/>
                  </a:cubicBezTo>
                  <a:cubicBezTo>
                    <a:pt x="13" y="1"/>
                    <a:pt x="13" y="1"/>
                    <a:pt x="14" y="0"/>
                  </a:cubicBezTo>
                  <a:cubicBezTo>
                    <a:pt x="15" y="0"/>
                    <a:pt x="15" y="0"/>
                    <a:pt x="16" y="1"/>
                  </a:cubicBezTo>
                  <a:cubicBezTo>
                    <a:pt x="18" y="3"/>
                    <a:pt x="14" y="11"/>
                    <a:pt x="18" y="12"/>
                  </a:cubicBezTo>
                  <a:cubicBezTo>
                    <a:pt x="19" y="11"/>
                    <a:pt x="18" y="9"/>
                    <a:pt x="17" y="8"/>
                  </a:cubicBezTo>
                  <a:cubicBezTo>
                    <a:pt x="17" y="6"/>
                    <a:pt x="20" y="4"/>
                    <a:pt x="22" y="3"/>
                  </a:cubicBezTo>
                  <a:cubicBezTo>
                    <a:pt x="26" y="3"/>
                    <a:pt x="25" y="4"/>
                    <a:pt x="25" y="7"/>
                  </a:cubicBezTo>
                  <a:cubicBezTo>
                    <a:pt x="26" y="7"/>
                    <a:pt x="26" y="8"/>
                    <a:pt x="26" y="8"/>
                  </a:cubicBezTo>
                  <a:cubicBezTo>
                    <a:pt x="30" y="11"/>
                    <a:pt x="30" y="11"/>
                    <a:pt x="35" y="15"/>
                  </a:cubicBezTo>
                  <a:cubicBezTo>
                    <a:pt x="36" y="16"/>
                    <a:pt x="37" y="17"/>
                    <a:pt x="37" y="19"/>
                  </a:cubicBezTo>
                  <a:cubicBezTo>
                    <a:pt x="37" y="19"/>
                    <a:pt x="37" y="19"/>
                    <a:pt x="37" y="20"/>
                  </a:cubicBezTo>
                  <a:cubicBezTo>
                    <a:pt x="37" y="20"/>
                    <a:pt x="37" y="20"/>
                    <a:pt x="37" y="20"/>
                  </a:cubicBezTo>
                  <a:cubicBezTo>
                    <a:pt x="38" y="21"/>
                    <a:pt x="38" y="24"/>
                    <a:pt x="36" y="24"/>
                  </a:cubicBezTo>
                  <a:cubicBezTo>
                    <a:pt x="32" y="21"/>
                    <a:pt x="27" y="18"/>
                    <a:pt x="23" y="15"/>
                  </a:cubicBezTo>
                  <a:cubicBezTo>
                    <a:pt x="23" y="15"/>
                    <a:pt x="23" y="15"/>
                    <a:pt x="23" y="15"/>
                  </a:cubicBezTo>
                  <a:cubicBezTo>
                    <a:pt x="25" y="17"/>
                    <a:pt x="27" y="22"/>
                    <a:pt x="27" y="25"/>
                  </a:cubicBezTo>
                  <a:cubicBezTo>
                    <a:pt x="26" y="26"/>
                    <a:pt x="24" y="27"/>
                    <a:pt x="22" y="27"/>
                  </a:cubicBezTo>
                  <a:cubicBezTo>
                    <a:pt x="22" y="26"/>
                    <a:pt x="22" y="26"/>
                    <a:pt x="22" y="25"/>
                  </a:cubicBezTo>
                  <a:cubicBezTo>
                    <a:pt x="21" y="23"/>
                    <a:pt x="17" y="21"/>
                    <a:pt x="15" y="19"/>
                  </a:cubicBezTo>
                  <a:cubicBezTo>
                    <a:pt x="14" y="21"/>
                    <a:pt x="16" y="25"/>
                    <a:pt x="16" y="27"/>
                  </a:cubicBezTo>
                  <a:cubicBezTo>
                    <a:pt x="16" y="28"/>
                    <a:pt x="16" y="30"/>
                    <a:pt x="17" y="31"/>
                  </a:cubicBezTo>
                  <a:cubicBezTo>
                    <a:pt x="18" y="32"/>
                    <a:pt x="19" y="34"/>
                    <a:pt x="21" y="35"/>
                  </a:cubicBezTo>
                  <a:cubicBezTo>
                    <a:pt x="21" y="36"/>
                    <a:pt x="22" y="37"/>
                    <a:pt x="22" y="38"/>
                  </a:cubicBezTo>
                  <a:cubicBezTo>
                    <a:pt x="22" y="38"/>
                    <a:pt x="22" y="38"/>
                    <a:pt x="22" y="39"/>
                  </a:cubicBezTo>
                  <a:cubicBezTo>
                    <a:pt x="23" y="40"/>
                    <a:pt x="24" y="44"/>
                    <a:pt x="22" y="44"/>
                  </a:cubicBezTo>
                  <a:cubicBezTo>
                    <a:pt x="21" y="44"/>
                    <a:pt x="21" y="44"/>
                    <a:pt x="21" y="44"/>
                  </a:cubicBezTo>
                  <a:cubicBezTo>
                    <a:pt x="20" y="41"/>
                    <a:pt x="18" y="39"/>
                    <a:pt x="17" y="38"/>
                  </a:cubicBezTo>
                  <a:cubicBezTo>
                    <a:pt x="16" y="40"/>
                    <a:pt x="17" y="42"/>
                    <a:pt x="16" y="44"/>
                  </a:cubicBezTo>
                  <a:cubicBezTo>
                    <a:pt x="15" y="45"/>
                    <a:pt x="14" y="46"/>
                    <a:pt x="13" y="46"/>
                  </a:cubicBezTo>
                  <a:cubicBezTo>
                    <a:pt x="13" y="46"/>
                    <a:pt x="13" y="46"/>
                    <a:pt x="13" y="46"/>
                  </a:cubicBezTo>
                  <a:cubicBezTo>
                    <a:pt x="12" y="46"/>
                    <a:pt x="12" y="46"/>
                    <a:pt x="12" y="47"/>
                  </a:cubicBezTo>
                  <a:cubicBezTo>
                    <a:pt x="12" y="48"/>
                    <a:pt x="13" y="49"/>
                    <a:pt x="14" y="50"/>
                  </a:cubicBezTo>
                  <a:cubicBezTo>
                    <a:pt x="16" y="54"/>
                    <a:pt x="19" y="58"/>
                    <a:pt x="23" y="62"/>
                  </a:cubicBezTo>
                  <a:cubicBezTo>
                    <a:pt x="23" y="63"/>
                    <a:pt x="23" y="63"/>
                    <a:pt x="22" y="64"/>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8" name="Freeform 134"/>
            <p:cNvSpPr/>
            <p:nvPr userDrawn="1"/>
          </p:nvSpPr>
          <p:spPr bwMode="auto">
            <a:xfrm>
              <a:off x="989" y="789"/>
              <a:ext cx="13" cy="11"/>
            </a:xfrm>
            <a:custGeom>
              <a:avLst/>
              <a:gdLst>
                <a:gd name="T0" fmla="*/ 9 w 11"/>
                <a:gd name="T1" fmla="*/ 9 h 9"/>
                <a:gd name="T2" fmla="*/ 7 w 11"/>
                <a:gd name="T3" fmla="*/ 7 h 9"/>
                <a:gd name="T4" fmla="*/ 0 w 11"/>
                <a:gd name="T5" fmla="*/ 2 h 9"/>
                <a:gd name="T6" fmla="*/ 0 w 11"/>
                <a:gd name="T7" fmla="*/ 1 h 9"/>
                <a:gd name="T8" fmla="*/ 7 w 11"/>
                <a:gd name="T9" fmla="*/ 0 h 9"/>
                <a:gd name="T10" fmla="*/ 9 w 11"/>
                <a:gd name="T11" fmla="*/ 9 h 9"/>
              </a:gdLst>
              <a:ahLst/>
              <a:cxnLst>
                <a:cxn ang="0">
                  <a:pos x="T0" y="T1"/>
                </a:cxn>
                <a:cxn ang="0">
                  <a:pos x="T2" y="T3"/>
                </a:cxn>
                <a:cxn ang="0">
                  <a:pos x="T4" y="T5"/>
                </a:cxn>
                <a:cxn ang="0">
                  <a:pos x="T6" y="T7"/>
                </a:cxn>
                <a:cxn ang="0">
                  <a:pos x="T8" y="T9"/>
                </a:cxn>
                <a:cxn ang="0">
                  <a:pos x="T10" y="T11"/>
                </a:cxn>
              </a:cxnLst>
              <a:rect l="0" t="0" r="r" b="b"/>
              <a:pathLst>
                <a:path w="11" h="9">
                  <a:moveTo>
                    <a:pt x="9" y="9"/>
                  </a:moveTo>
                  <a:cubicBezTo>
                    <a:pt x="8" y="9"/>
                    <a:pt x="7" y="8"/>
                    <a:pt x="7" y="7"/>
                  </a:cubicBezTo>
                  <a:cubicBezTo>
                    <a:pt x="3" y="6"/>
                    <a:pt x="1" y="5"/>
                    <a:pt x="0" y="2"/>
                  </a:cubicBezTo>
                  <a:cubicBezTo>
                    <a:pt x="0" y="2"/>
                    <a:pt x="0" y="2"/>
                    <a:pt x="0" y="1"/>
                  </a:cubicBezTo>
                  <a:cubicBezTo>
                    <a:pt x="2" y="1"/>
                    <a:pt x="5" y="0"/>
                    <a:pt x="7" y="0"/>
                  </a:cubicBezTo>
                  <a:cubicBezTo>
                    <a:pt x="11" y="1"/>
                    <a:pt x="10" y="6"/>
                    <a:pt x="9" y="9"/>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9" name="Freeform 135"/>
            <p:cNvSpPr/>
            <p:nvPr userDrawn="1"/>
          </p:nvSpPr>
          <p:spPr bwMode="auto">
            <a:xfrm>
              <a:off x="977" y="776"/>
              <a:ext cx="14" cy="13"/>
            </a:xfrm>
            <a:custGeom>
              <a:avLst/>
              <a:gdLst>
                <a:gd name="T0" fmla="*/ 10 w 11"/>
                <a:gd name="T1" fmla="*/ 10 h 10"/>
                <a:gd name="T2" fmla="*/ 9 w 11"/>
                <a:gd name="T3" fmla="*/ 10 h 10"/>
                <a:gd name="T4" fmla="*/ 8 w 11"/>
                <a:gd name="T5" fmla="*/ 8 h 10"/>
                <a:gd name="T6" fmla="*/ 1 w 11"/>
                <a:gd name="T7" fmla="*/ 2 h 10"/>
                <a:gd name="T8" fmla="*/ 4 w 11"/>
                <a:gd name="T9" fmla="*/ 2 h 10"/>
                <a:gd name="T10" fmla="*/ 11 w 11"/>
                <a:gd name="T11" fmla="*/ 5 h 10"/>
                <a:gd name="T12" fmla="*/ 10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10" y="10"/>
                  </a:moveTo>
                  <a:cubicBezTo>
                    <a:pt x="9" y="10"/>
                    <a:pt x="9" y="10"/>
                    <a:pt x="9" y="10"/>
                  </a:cubicBezTo>
                  <a:cubicBezTo>
                    <a:pt x="8" y="9"/>
                    <a:pt x="8" y="9"/>
                    <a:pt x="8" y="8"/>
                  </a:cubicBezTo>
                  <a:cubicBezTo>
                    <a:pt x="4" y="8"/>
                    <a:pt x="0" y="6"/>
                    <a:pt x="1" y="2"/>
                  </a:cubicBezTo>
                  <a:cubicBezTo>
                    <a:pt x="2" y="1"/>
                    <a:pt x="2" y="2"/>
                    <a:pt x="4" y="2"/>
                  </a:cubicBezTo>
                  <a:cubicBezTo>
                    <a:pt x="7" y="2"/>
                    <a:pt x="11" y="0"/>
                    <a:pt x="11" y="5"/>
                  </a:cubicBezTo>
                  <a:cubicBezTo>
                    <a:pt x="11" y="6"/>
                    <a:pt x="10" y="8"/>
                    <a:pt x="10" y="10"/>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50" name="Freeform 136"/>
            <p:cNvSpPr/>
            <p:nvPr userDrawn="1"/>
          </p:nvSpPr>
          <p:spPr bwMode="auto">
            <a:xfrm>
              <a:off x="1048" y="786"/>
              <a:ext cx="163" cy="141"/>
            </a:xfrm>
            <a:custGeom>
              <a:avLst/>
              <a:gdLst>
                <a:gd name="T0" fmla="*/ 132 w 132"/>
                <a:gd name="T1" fmla="*/ 6 h 113"/>
                <a:gd name="T2" fmla="*/ 98 w 132"/>
                <a:gd name="T3" fmla="*/ 6 h 113"/>
                <a:gd name="T4" fmla="*/ 79 w 132"/>
                <a:gd name="T5" fmla="*/ 25 h 113"/>
                <a:gd name="T6" fmla="*/ 73 w 132"/>
                <a:gd name="T7" fmla="*/ 12 h 113"/>
                <a:gd name="T8" fmla="*/ 83 w 132"/>
                <a:gd name="T9" fmla="*/ 8 h 113"/>
                <a:gd name="T10" fmla="*/ 57 w 132"/>
                <a:gd name="T11" fmla="*/ 8 h 113"/>
                <a:gd name="T12" fmla="*/ 53 w 132"/>
                <a:gd name="T13" fmla="*/ 25 h 113"/>
                <a:gd name="T14" fmla="*/ 34 w 132"/>
                <a:gd name="T15" fmla="*/ 6 h 113"/>
                <a:gd name="T16" fmla="*/ 0 w 132"/>
                <a:gd name="T17" fmla="*/ 6 h 113"/>
                <a:gd name="T18" fmla="*/ 24 w 132"/>
                <a:gd name="T19" fmla="*/ 16 h 113"/>
                <a:gd name="T20" fmla="*/ 27 w 132"/>
                <a:gd name="T21" fmla="*/ 22 h 113"/>
                <a:gd name="T22" fmla="*/ 9 w 132"/>
                <a:gd name="T23" fmla="*/ 22 h 113"/>
                <a:gd name="T24" fmla="*/ 31 w 132"/>
                <a:gd name="T25" fmla="*/ 32 h 113"/>
                <a:gd name="T26" fmla="*/ 34 w 132"/>
                <a:gd name="T27" fmla="*/ 38 h 113"/>
                <a:gd name="T28" fmla="*/ 20 w 132"/>
                <a:gd name="T29" fmla="*/ 39 h 113"/>
                <a:gd name="T30" fmla="*/ 38 w 132"/>
                <a:gd name="T31" fmla="*/ 48 h 113"/>
                <a:gd name="T32" fmla="*/ 41 w 132"/>
                <a:gd name="T33" fmla="*/ 54 h 113"/>
                <a:gd name="T34" fmla="*/ 30 w 132"/>
                <a:gd name="T35" fmla="*/ 54 h 113"/>
                <a:gd name="T36" fmla="*/ 45 w 132"/>
                <a:gd name="T37" fmla="*/ 63 h 113"/>
                <a:gd name="T38" fmla="*/ 47 w 132"/>
                <a:gd name="T39" fmla="*/ 69 h 113"/>
                <a:gd name="T40" fmla="*/ 39 w 132"/>
                <a:gd name="T41" fmla="*/ 69 h 113"/>
                <a:gd name="T42" fmla="*/ 51 w 132"/>
                <a:gd name="T43" fmla="*/ 78 h 113"/>
                <a:gd name="T44" fmla="*/ 51 w 132"/>
                <a:gd name="T45" fmla="*/ 89 h 113"/>
                <a:gd name="T46" fmla="*/ 66 w 132"/>
                <a:gd name="T47" fmla="*/ 113 h 113"/>
                <a:gd name="T48" fmla="*/ 81 w 132"/>
                <a:gd name="T49" fmla="*/ 89 h 113"/>
                <a:gd name="T50" fmla="*/ 81 w 132"/>
                <a:gd name="T51" fmla="*/ 78 h 113"/>
                <a:gd name="T52" fmla="*/ 92 w 132"/>
                <a:gd name="T53" fmla="*/ 69 h 113"/>
                <a:gd name="T54" fmla="*/ 85 w 132"/>
                <a:gd name="T55" fmla="*/ 69 h 113"/>
                <a:gd name="T56" fmla="*/ 87 w 132"/>
                <a:gd name="T57" fmla="*/ 63 h 113"/>
                <a:gd name="T58" fmla="*/ 102 w 132"/>
                <a:gd name="T59" fmla="*/ 54 h 113"/>
                <a:gd name="T60" fmla="*/ 91 w 132"/>
                <a:gd name="T61" fmla="*/ 54 h 113"/>
                <a:gd name="T62" fmla="*/ 93 w 132"/>
                <a:gd name="T63" fmla="*/ 48 h 113"/>
                <a:gd name="T64" fmla="*/ 111 w 132"/>
                <a:gd name="T65" fmla="*/ 39 h 113"/>
                <a:gd name="T66" fmla="*/ 97 w 132"/>
                <a:gd name="T67" fmla="*/ 38 h 113"/>
                <a:gd name="T68" fmla="*/ 100 w 132"/>
                <a:gd name="T69" fmla="*/ 32 h 113"/>
                <a:gd name="T70" fmla="*/ 123 w 132"/>
                <a:gd name="T71" fmla="*/ 22 h 113"/>
                <a:gd name="T72" fmla="*/ 105 w 132"/>
                <a:gd name="T73" fmla="*/ 22 h 113"/>
                <a:gd name="T74" fmla="*/ 107 w 132"/>
                <a:gd name="T75" fmla="*/ 16 h 113"/>
                <a:gd name="T76" fmla="*/ 132 w 132"/>
                <a:gd name="T77" fmla="*/ 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2" h="113">
                  <a:moveTo>
                    <a:pt x="132" y="6"/>
                  </a:moveTo>
                  <a:cubicBezTo>
                    <a:pt x="98" y="6"/>
                    <a:pt x="98" y="6"/>
                    <a:pt x="98" y="6"/>
                  </a:cubicBezTo>
                  <a:cubicBezTo>
                    <a:pt x="88" y="6"/>
                    <a:pt x="83" y="16"/>
                    <a:pt x="79" y="25"/>
                  </a:cubicBezTo>
                  <a:cubicBezTo>
                    <a:pt x="73" y="12"/>
                    <a:pt x="73" y="12"/>
                    <a:pt x="73" y="12"/>
                  </a:cubicBezTo>
                  <a:cubicBezTo>
                    <a:pt x="83" y="8"/>
                    <a:pt x="83" y="8"/>
                    <a:pt x="83" y="8"/>
                  </a:cubicBezTo>
                  <a:cubicBezTo>
                    <a:pt x="77" y="3"/>
                    <a:pt x="59" y="0"/>
                    <a:pt x="57" y="8"/>
                  </a:cubicBezTo>
                  <a:cubicBezTo>
                    <a:pt x="53" y="25"/>
                    <a:pt x="53" y="25"/>
                    <a:pt x="53" y="25"/>
                  </a:cubicBezTo>
                  <a:cubicBezTo>
                    <a:pt x="50" y="17"/>
                    <a:pt x="45" y="6"/>
                    <a:pt x="34" y="6"/>
                  </a:cubicBezTo>
                  <a:cubicBezTo>
                    <a:pt x="0" y="6"/>
                    <a:pt x="0" y="6"/>
                    <a:pt x="0" y="6"/>
                  </a:cubicBezTo>
                  <a:cubicBezTo>
                    <a:pt x="4" y="14"/>
                    <a:pt x="8" y="17"/>
                    <a:pt x="24" y="16"/>
                  </a:cubicBezTo>
                  <a:cubicBezTo>
                    <a:pt x="27" y="22"/>
                    <a:pt x="27" y="22"/>
                    <a:pt x="27" y="22"/>
                  </a:cubicBezTo>
                  <a:cubicBezTo>
                    <a:pt x="9" y="22"/>
                    <a:pt x="9" y="22"/>
                    <a:pt x="9" y="22"/>
                  </a:cubicBezTo>
                  <a:cubicBezTo>
                    <a:pt x="14" y="32"/>
                    <a:pt x="17" y="32"/>
                    <a:pt x="31" y="32"/>
                  </a:cubicBezTo>
                  <a:cubicBezTo>
                    <a:pt x="34" y="38"/>
                    <a:pt x="34" y="38"/>
                    <a:pt x="34" y="38"/>
                  </a:cubicBezTo>
                  <a:cubicBezTo>
                    <a:pt x="20" y="39"/>
                    <a:pt x="20" y="39"/>
                    <a:pt x="20" y="39"/>
                  </a:cubicBezTo>
                  <a:cubicBezTo>
                    <a:pt x="23" y="45"/>
                    <a:pt x="27" y="48"/>
                    <a:pt x="38" y="48"/>
                  </a:cubicBezTo>
                  <a:cubicBezTo>
                    <a:pt x="41" y="54"/>
                    <a:pt x="41" y="54"/>
                    <a:pt x="41" y="54"/>
                  </a:cubicBezTo>
                  <a:cubicBezTo>
                    <a:pt x="30" y="54"/>
                    <a:pt x="30" y="54"/>
                    <a:pt x="30" y="54"/>
                  </a:cubicBezTo>
                  <a:cubicBezTo>
                    <a:pt x="34" y="61"/>
                    <a:pt x="36" y="64"/>
                    <a:pt x="45" y="63"/>
                  </a:cubicBezTo>
                  <a:cubicBezTo>
                    <a:pt x="47" y="69"/>
                    <a:pt x="47" y="69"/>
                    <a:pt x="47" y="69"/>
                  </a:cubicBezTo>
                  <a:cubicBezTo>
                    <a:pt x="39" y="69"/>
                    <a:pt x="39" y="69"/>
                    <a:pt x="39" y="69"/>
                  </a:cubicBezTo>
                  <a:cubicBezTo>
                    <a:pt x="43" y="77"/>
                    <a:pt x="46" y="77"/>
                    <a:pt x="51" y="78"/>
                  </a:cubicBezTo>
                  <a:cubicBezTo>
                    <a:pt x="55" y="78"/>
                    <a:pt x="56" y="86"/>
                    <a:pt x="51" y="89"/>
                  </a:cubicBezTo>
                  <a:cubicBezTo>
                    <a:pt x="66" y="113"/>
                    <a:pt x="66" y="113"/>
                    <a:pt x="66" y="113"/>
                  </a:cubicBezTo>
                  <a:cubicBezTo>
                    <a:pt x="81" y="89"/>
                    <a:pt x="81" y="89"/>
                    <a:pt x="81" y="89"/>
                  </a:cubicBezTo>
                  <a:cubicBezTo>
                    <a:pt x="76" y="86"/>
                    <a:pt x="76" y="78"/>
                    <a:pt x="81" y="78"/>
                  </a:cubicBezTo>
                  <a:cubicBezTo>
                    <a:pt x="85" y="77"/>
                    <a:pt x="89" y="77"/>
                    <a:pt x="92" y="69"/>
                  </a:cubicBezTo>
                  <a:cubicBezTo>
                    <a:pt x="85" y="69"/>
                    <a:pt x="85" y="69"/>
                    <a:pt x="85" y="69"/>
                  </a:cubicBezTo>
                  <a:cubicBezTo>
                    <a:pt x="87" y="63"/>
                    <a:pt x="87" y="63"/>
                    <a:pt x="87" y="63"/>
                  </a:cubicBezTo>
                  <a:cubicBezTo>
                    <a:pt x="96" y="64"/>
                    <a:pt x="98" y="60"/>
                    <a:pt x="102" y="54"/>
                  </a:cubicBezTo>
                  <a:cubicBezTo>
                    <a:pt x="91" y="54"/>
                    <a:pt x="91" y="54"/>
                    <a:pt x="91" y="54"/>
                  </a:cubicBezTo>
                  <a:cubicBezTo>
                    <a:pt x="93" y="48"/>
                    <a:pt x="93" y="48"/>
                    <a:pt x="93" y="48"/>
                  </a:cubicBezTo>
                  <a:cubicBezTo>
                    <a:pt x="105" y="48"/>
                    <a:pt x="108" y="45"/>
                    <a:pt x="111" y="39"/>
                  </a:cubicBezTo>
                  <a:cubicBezTo>
                    <a:pt x="97" y="38"/>
                    <a:pt x="97" y="38"/>
                    <a:pt x="97" y="38"/>
                  </a:cubicBezTo>
                  <a:cubicBezTo>
                    <a:pt x="100" y="32"/>
                    <a:pt x="100" y="32"/>
                    <a:pt x="100" y="32"/>
                  </a:cubicBezTo>
                  <a:cubicBezTo>
                    <a:pt x="115" y="32"/>
                    <a:pt x="118" y="32"/>
                    <a:pt x="123" y="22"/>
                  </a:cubicBezTo>
                  <a:cubicBezTo>
                    <a:pt x="105" y="22"/>
                    <a:pt x="105" y="22"/>
                    <a:pt x="105" y="22"/>
                  </a:cubicBezTo>
                  <a:cubicBezTo>
                    <a:pt x="107" y="16"/>
                    <a:pt x="107" y="16"/>
                    <a:pt x="107" y="16"/>
                  </a:cubicBezTo>
                  <a:cubicBezTo>
                    <a:pt x="123" y="17"/>
                    <a:pt x="128" y="14"/>
                    <a:pt x="132" y="6"/>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51" name="Freeform 137"/>
            <p:cNvSpPr>
              <a:spLocks noEditPoints="1"/>
            </p:cNvSpPr>
            <p:nvPr userDrawn="1"/>
          </p:nvSpPr>
          <p:spPr bwMode="auto">
            <a:xfrm>
              <a:off x="1214" y="757"/>
              <a:ext cx="64" cy="43"/>
            </a:xfrm>
            <a:custGeom>
              <a:avLst/>
              <a:gdLst>
                <a:gd name="T0" fmla="*/ 51 w 52"/>
                <a:gd name="T1" fmla="*/ 10 h 34"/>
                <a:gd name="T2" fmla="*/ 48 w 52"/>
                <a:gd name="T3" fmla="*/ 10 h 34"/>
                <a:gd name="T4" fmla="*/ 47 w 52"/>
                <a:gd name="T5" fmla="*/ 8 h 34"/>
                <a:gd name="T6" fmla="*/ 50 w 52"/>
                <a:gd name="T7" fmla="*/ 7 h 34"/>
                <a:gd name="T8" fmla="*/ 52 w 52"/>
                <a:gd name="T9" fmla="*/ 2 h 34"/>
                <a:gd name="T10" fmla="*/ 44 w 52"/>
                <a:gd name="T11" fmla="*/ 3 h 34"/>
                <a:gd name="T12" fmla="*/ 36 w 52"/>
                <a:gd name="T13" fmla="*/ 1 h 34"/>
                <a:gd name="T14" fmla="*/ 36 w 52"/>
                <a:gd name="T15" fmla="*/ 3 h 34"/>
                <a:gd name="T16" fmla="*/ 35 w 52"/>
                <a:gd name="T17" fmla="*/ 4 h 34"/>
                <a:gd name="T18" fmla="*/ 35 w 52"/>
                <a:gd name="T19" fmla="*/ 5 h 34"/>
                <a:gd name="T20" fmla="*/ 34 w 52"/>
                <a:gd name="T21" fmla="*/ 7 h 34"/>
                <a:gd name="T22" fmla="*/ 34 w 52"/>
                <a:gd name="T23" fmla="*/ 6 h 34"/>
                <a:gd name="T24" fmla="*/ 30 w 52"/>
                <a:gd name="T25" fmla="*/ 5 h 34"/>
                <a:gd name="T26" fmla="*/ 28 w 52"/>
                <a:gd name="T27" fmla="*/ 9 h 34"/>
                <a:gd name="T28" fmla="*/ 28 w 52"/>
                <a:gd name="T29" fmla="*/ 10 h 34"/>
                <a:gd name="T30" fmla="*/ 31 w 52"/>
                <a:gd name="T31" fmla="*/ 11 h 34"/>
                <a:gd name="T32" fmla="*/ 33 w 52"/>
                <a:gd name="T33" fmla="*/ 12 h 34"/>
                <a:gd name="T34" fmla="*/ 30 w 52"/>
                <a:gd name="T35" fmla="*/ 14 h 34"/>
                <a:gd name="T36" fmla="*/ 26 w 52"/>
                <a:gd name="T37" fmla="*/ 14 h 34"/>
                <a:gd name="T38" fmla="*/ 13 w 52"/>
                <a:gd name="T39" fmla="*/ 11 h 34"/>
                <a:gd name="T40" fmla="*/ 13 w 52"/>
                <a:gd name="T41" fmla="*/ 12 h 34"/>
                <a:gd name="T42" fmla="*/ 20 w 52"/>
                <a:gd name="T43" fmla="*/ 16 h 34"/>
                <a:gd name="T44" fmla="*/ 32 w 52"/>
                <a:gd name="T45" fmla="*/ 20 h 34"/>
                <a:gd name="T46" fmla="*/ 31 w 52"/>
                <a:gd name="T47" fmla="*/ 20 h 34"/>
                <a:gd name="T48" fmla="*/ 24 w 52"/>
                <a:gd name="T49" fmla="*/ 20 h 34"/>
                <a:gd name="T50" fmla="*/ 19 w 52"/>
                <a:gd name="T51" fmla="*/ 19 h 34"/>
                <a:gd name="T52" fmla="*/ 18 w 52"/>
                <a:gd name="T53" fmla="*/ 19 h 34"/>
                <a:gd name="T54" fmla="*/ 4 w 52"/>
                <a:gd name="T55" fmla="*/ 14 h 34"/>
                <a:gd name="T56" fmla="*/ 2 w 52"/>
                <a:gd name="T57" fmla="*/ 12 h 34"/>
                <a:gd name="T58" fmla="*/ 3 w 52"/>
                <a:gd name="T59" fmla="*/ 20 h 34"/>
                <a:gd name="T60" fmla="*/ 13 w 52"/>
                <a:gd name="T61" fmla="*/ 23 h 34"/>
                <a:gd name="T62" fmla="*/ 13 w 52"/>
                <a:gd name="T63" fmla="*/ 24 h 34"/>
                <a:gd name="T64" fmla="*/ 9 w 52"/>
                <a:gd name="T65" fmla="*/ 27 h 34"/>
                <a:gd name="T66" fmla="*/ 4 w 52"/>
                <a:gd name="T67" fmla="*/ 26 h 34"/>
                <a:gd name="T68" fmla="*/ 9 w 52"/>
                <a:gd name="T69" fmla="*/ 33 h 34"/>
                <a:gd name="T70" fmla="*/ 10 w 52"/>
                <a:gd name="T71" fmla="*/ 34 h 34"/>
                <a:gd name="T72" fmla="*/ 18 w 52"/>
                <a:gd name="T73" fmla="*/ 28 h 34"/>
                <a:gd name="T74" fmla="*/ 23 w 52"/>
                <a:gd name="T75" fmla="*/ 28 h 34"/>
                <a:gd name="T76" fmla="*/ 22 w 52"/>
                <a:gd name="T77" fmla="*/ 23 h 34"/>
                <a:gd name="T78" fmla="*/ 23 w 52"/>
                <a:gd name="T79" fmla="*/ 21 h 34"/>
                <a:gd name="T80" fmla="*/ 30 w 52"/>
                <a:gd name="T81" fmla="*/ 22 h 34"/>
                <a:gd name="T82" fmla="*/ 36 w 52"/>
                <a:gd name="T83" fmla="*/ 25 h 34"/>
                <a:gd name="T84" fmla="*/ 39 w 52"/>
                <a:gd name="T85" fmla="*/ 21 h 34"/>
                <a:gd name="T86" fmla="*/ 39 w 52"/>
                <a:gd name="T87" fmla="*/ 20 h 34"/>
                <a:gd name="T88" fmla="*/ 51 w 52"/>
                <a:gd name="T89" fmla="*/ 14 h 34"/>
                <a:gd name="T90" fmla="*/ 38 w 52"/>
                <a:gd name="T91" fmla="*/ 14 h 34"/>
                <a:gd name="T92" fmla="*/ 38 w 52"/>
                <a:gd name="T93" fmla="*/ 12 h 34"/>
                <a:gd name="T94" fmla="*/ 36 w 52"/>
                <a:gd name="T95" fmla="*/ 11 h 34"/>
                <a:gd name="T96" fmla="*/ 36 w 52"/>
                <a:gd name="T97" fmla="*/ 10 h 34"/>
                <a:gd name="T98" fmla="*/ 40 w 52"/>
                <a:gd name="T99" fmla="*/ 9 h 34"/>
                <a:gd name="T100" fmla="*/ 43 w 52"/>
                <a:gd name="T101" fmla="*/ 14 h 34"/>
                <a:gd name="T102" fmla="*/ 38 w 52"/>
                <a:gd name="T103" fmla="*/ 1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 h="34">
                  <a:moveTo>
                    <a:pt x="51" y="13"/>
                  </a:moveTo>
                  <a:cubicBezTo>
                    <a:pt x="51" y="12"/>
                    <a:pt x="51" y="12"/>
                    <a:pt x="51" y="12"/>
                  </a:cubicBezTo>
                  <a:cubicBezTo>
                    <a:pt x="51" y="11"/>
                    <a:pt x="51" y="11"/>
                    <a:pt x="51" y="10"/>
                  </a:cubicBezTo>
                  <a:cubicBezTo>
                    <a:pt x="51" y="10"/>
                    <a:pt x="50" y="10"/>
                    <a:pt x="50" y="10"/>
                  </a:cubicBezTo>
                  <a:cubicBezTo>
                    <a:pt x="49" y="10"/>
                    <a:pt x="49" y="10"/>
                    <a:pt x="49" y="10"/>
                  </a:cubicBezTo>
                  <a:cubicBezTo>
                    <a:pt x="48" y="10"/>
                    <a:pt x="48" y="10"/>
                    <a:pt x="48" y="10"/>
                  </a:cubicBezTo>
                  <a:cubicBezTo>
                    <a:pt x="48" y="9"/>
                    <a:pt x="48" y="9"/>
                    <a:pt x="48" y="9"/>
                  </a:cubicBezTo>
                  <a:cubicBezTo>
                    <a:pt x="48" y="9"/>
                    <a:pt x="48" y="9"/>
                    <a:pt x="48" y="9"/>
                  </a:cubicBezTo>
                  <a:cubicBezTo>
                    <a:pt x="47" y="8"/>
                    <a:pt x="47" y="8"/>
                    <a:pt x="47" y="8"/>
                  </a:cubicBezTo>
                  <a:cubicBezTo>
                    <a:pt x="47" y="8"/>
                    <a:pt x="47" y="8"/>
                    <a:pt x="47" y="8"/>
                  </a:cubicBezTo>
                  <a:cubicBezTo>
                    <a:pt x="48" y="8"/>
                    <a:pt x="48" y="8"/>
                    <a:pt x="48" y="8"/>
                  </a:cubicBezTo>
                  <a:cubicBezTo>
                    <a:pt x="48" y="7"/>
                    <a:pt x="49" y="7"/>
                    <a:pt x="50" y="7"/>
                  </a:cubicBezTo>
                  <a:cubicBezTo>
                    <a:pt x="50" y="7"/>
                    <a:pt x="50" y="7"/>
                    <a:pt x="50" y="7"/>
                  </a:cubicBezTo>
                  <a:cubicBezTo>
                    <a:pt x="50" y="7"/>
                    <a:pt x="50" y="7"/>
                    <a:pt x="50" y="7"/>
                  </a:cubicBezTo>
                  <a:cubicBezTo>
                    <a:pt x="51" y="6"/>
                    <a:pt x="52" y="4"/>
                    <a:pt x="52" y="2"/>
                  </a:cubicBezTo>
                  <a:cubicBezTo>
                    <a:pt x="52" y="2"/>
                    <a:pt x="51" y="2"/>
                    <a:pt x="50" y="2"/>
                  </a:cubicBezTo>
                  <a:cubicBezTo>
                    <a:pt x="49" y="2"/>
                    <a:pt x="48" y="2"/>
                    <a:pt x="46" y="3"/>
                  </a:cubicBezTo>
                  <a:cubicBezTo>
                    <a:pt x="46" y="3"/>
                    <a:pt x="45" y="3"/>
                    <a:pt x="44" y="3"/>
                  </a:cubicBezTo>
                  <a:cubicBezTo>
                    <a:pt x="43" y="3"/>
                    <a:pt x="43" y="3"/>
                    <a:pt x="43" y="3"/>
                  </a:cubicBezTo>
                  <a:cubicBezTo>
                    <a:pt x="41" y="2"/>
                    <a:pt x="41" y="2"/>
                    <a:pt x="36" y="0"/>
                  </a:cubicBezTo>
                  <a:cubicBezTo>
                    <a:pt x="36" y="0"/>
                    <a:pt x="36" y="0"/>
                    <a:pt x="36" y="1"/>
                  </a:cubicBezTo>
                  <a:cubicBezTo>
                    <a:pt x="35" y="1"/>
                    <a:pt x="35" y="2"/>
                    <a:pt x="36" y="3"/>
                  </a:cubicBezTo>
                  <a:cubicBezTo>
                    <a:pt x="36" y="3"/>
                    <a:pt x="36" y="3"/>
                    <a:pt x="36" y="3"/>
                  </a:cubicBezTo>
                  <a:cubicBezTo>
                    <a:pt x="36" y="3"/>
                    <a:pt x="36" y="3"/>
                    <a:pt x="36" y="3"/>
                  </a:cubicBezTo>
                  <a:cubicBezTo>
                    <a:pt x="36" y="3"/>
                    <a:pt x="36" y="3"/>
                    <a:pt x="36" y="3"/>
                  </a:cubicBezTo>
                  <a:cubicBezTo>
                    <a:pt x="35" y="4"/>
                    <a:pt x="35" y="4"/>
                    <a:pt x="35" y="4"/>
                  </a:cubicBezTo>
                  <a:cubicBezTo>
                    <a:pt x="35" y="4"/>
                    <a:pt x="35" y="4"/>
                    <a:pt x="35" y="4"/>
                  </a:cubicBezTo>
                  <a:cubicBezTo>
                    <a:pt x="35" y="4"/>
                    <a:pt x="35" y="4"/>
                    <a:pt x="35" y="4"/>
                  </a:cubicBezTo>
                  <a:cubicBezTo>
                    <a:pt x="35" y="4"/>
                    <a:pt x="35" y="4"/>
                    <a:pt x="35" y="4"/>
                  </a:cubicBezTo>
                  <a:cubicBezTo>
                    <a:pt x="35" y="4"/>
                    <a:pt x="35" y="5"/>
                    <a:pt x="35" y="5"/>
                  </a:cubicBezTo>
                  <a:cubicBezTo>
                    <a:pt x="35" y="5"/>
                    <a:pt x="35" y="5"/>
                    <a:pt x="35" y="5"/>
                  </a:cubicBezTo>
                  <a:cubicBezTo>
                    <a:pt x="35" y="6"/>
                    <a:pt x="35" y="6"/>
                    <a:pt x="35" y="6"/>
                  </a:cubicBezTo>
                  <a:cubicBezTo>
                    <a:pt x="34" y="7"/>
                    <a:pt x="34" y="7"/>
                    <a:pt x="34" y="7"/>
                  </a:cubicBezTo>
                  <a:cubicBezTo>
                    <a:pt x="34" y="7"/>
                    <a:pt x="34" y="7"/>
                    <a:pt x="34" y="7"/>
                  </a:cubicBezTo>
                  <a:cubicBezTo>
                    <a:pt x="34" y="7"/>
                    <a:pt x="34" y="7"/>
                    <a:pt x="34" y="7"/>
                  </a:cubicBezTo>
                  <a:cubicBezTo>
                    <a:pt x="34" y="6"/>
                    <a:pt x="34" y="6"/>
                    <a:pt x="34" y="6"/>
                  </a:cubicBezTo>
                  <a:cubicBezTo>
                    <a:pt x="33" y="6"/>
                    <a:pt x="33" y="6"/>
                    <a:pt x="32" y="5"/>
                  </a:cubicBezTo>
                  <a:cubicBezTo>
                    <a:pt x="32" y="5"/>
                    <a:pt x="32" y="5"/>
                    <a:pt x="32" y="5"/>
                  </a:cubicBezTo>
                  <a:cubicBezTo>
                    <a:pt x="31" y="5"/>
                    <a:pt x="31" y="5"/>
                    <a:pt x="30" y="5"/>
                  </a:cubicBezTo>
                  <a:cubicBezTo>
                    <a:pt x="30" y="6"/>
                    <a:pt x="30" y="6"/>
                    <a:pt x="30" y="6"/>
                  </a:cubicBezTo>
                  <a:cubicBezTo>
                    <a:pt x="30" y="7"/>
                    <a:pt x="30" y="7"/>
                    <a:pt x="30" y="7"/>
                  </a:cubicBezTo>
                  <a:cubicBezTo>
                    <a:pt x="30" y="7"/>
                    <a:pt x="30" y="8"/>
                    <a:pt x="28" y="9"/>
                  </a:cubicBezTo>
                  <a:cubicBezTo>
                    <a:pt x="27" y="8"/>
                    <a:pt x="27" y="8"/>
                    <a:pt x="27" y="8"/>
                  </a:cubicBezTo>
                  <a:cubicBezTo>
                    <a:pt x="26" y="8"/>
                    <a:pt x="26" y="9"/>
                    <a:pt x="26" y="9"/>
                  </a:cubicBezTo>
                  <a:cubicBezTo>
                    <a:pt x="26" y="10"/>
                    <a:pt x="26" y="10"/>
                    <a:pt x="28" y="10"/>
                  </a:cubicBezTo>
                  <a:cubicBezTo>
                    <a:pt x="29" y="10"/>
                    <a:pt x="29" y="11"/>
                    <a:pt x="30" y="11"/>
                  </a:cubicBezTo>
                  <a:cubicBezTo>
                    <a:pt x="30" y="11"/>
                    <a:pt x="30" y="11"/>
                    <a:pt x="30" y="11"/>
                  </a:cubicBezTo>
                  <a:cubicBezTo>
                    <a:pt x="31" y="11"/>
                    <a:pt x="31" y="11"/>
                    <a:pt x="31" y="11"/>
                  </a:cubicBezTo>
                  <a:cubicBezTo>
                    <a:pt x="32" y="11"/>
                    <a:pt x="32" y="11"/>
                    <a:pt x="32" y="11"/>
                  </a:cubicBezTo>
                  <a:cubicBezTo>
                    <a:pt x="33" y="11"/>
                    <a:pt x="33" y="11"/>
                    <a:pt x="33" y="11"/>
                  </a:cubicBezTo>
                  <a:cubicBezTo>
                    <a:pt x="33" y="12"/>
                    <a:pt x="33" y="12"/>
                    <a:pt x="33" y="12"/>
                  </a:cubicBezTo>
                  <a:cubicBezTo>
                    <a:pt x="31" y="12"/>
                    <a:pt x="31" y="12"/>
                    <a:pt x="31" y="12"/>
                  </a:cubicBezTo>
                  <a:cubicBezTo>
                    <a:pt x="31" y="12"/>
                    <a:pt x="31" y="13"/>
                    <a:pt x="30" y="13"/>
                  </a:cubicBezTo>
                  <a:cubicBezTo>
                    <a:pt x="30" y="14"/>
                    <a:pt x="30" y="14"/>
                    <a:pt x="30" y="14"/>
                  </a:cubicBezTo>
                  <a:cubicBezTo>
                    <a:pt x="29" y="15"/>
                    <a:pt x="29" y="15"/>
                    <a:pt x="29" y="15"/>
                  </a:cubicBezTo>
                  <a:cubicBezTo>
                    <a:pt x="29" y="14"/>
                    <a:pt x="29" y="14"/>
                    <a:pt x="29" y="14"/>
                  </a:cubicBezTo>
                  <a:cubicBezTo>
                    <a:pt x="28" y="14"/>
                    <a:pt x="27" y="14"/>
                    <a:pt x="26" y="14"/>
                  </a:cubicBezTo>
                  <a:cubicBezTo>
                    <a:pt x="24" y="13"/>
                    <a:pt x="24" y="13"/>
                    <a:pt x="24" y="13"/>
                  </a:cubicBezTo>
                  <a:cubicBezTo>
                    <a:pt x="22" y="13"/>
                    <a:pt x="18" y="12"/>
                    <a:pt x="15" y="11"/>
                  </a:cubicBezTo>
                  <a:cubicBezTo>
                    <a:pt x="15" y="11"/>
                    <a:pt x="14" y="11"/>
                    <a:pt x="13" y="11"/>
                  </a:cubicBezTo>
                  <a:cubicBezTo>
                    <a:pt x="12" y="10"/>
                    <a:pt x="12" y="10"/>
                    <a:pt x="12" y="10"/>
                  </a:cubicBezTo>
                  <a:cubicBezTo>
                    <a:pt x="11" y="11"/>
                    <a:pt x="11" y="11"/>
                    <a:pt x="11" y="11"/>
                  </a:cubicBezTo>
                  <a:cubicBezTo>
                    <a:pt x="12" y="11"/>
                    <a:pt x="12" y="12"/>
                    <a:pt x="13" y="12"/>
                  </a:cubicBezTo>
                  <a:cubicBezTo>
                    <a:pt x="13" y="12"/>
                    <a:pt x="13" y="12"/>
                    <a:pt x="13" y="12"/>
                  </a:cubicBezTo>
                  <a:cubicBezTo>
                    <a:pt x="14" y="13"/>
                    <a:pt x="14" y="15"/>
                    <a:pt x="16" y="16"/>
                  </a:cubicBezTo>
                  <a:cubicBezTo>
                    <a:pt x="17" y="16"/>
                    <a:pt x="18" y="16"/>
                    <a:pt x="20" y="16"/>
                  </a:cubicBezTo>
                  <a:cubicBezTo>
                    <a:pt x="23" y="16"/>
                    <a:pt x="28" y="17"/>
                    <a:pt x="31" y="19"/>
                  </a:cubicBezTo>
                  <a:cubicBezTo>
                    <a:pt x="32" y="20"/>
                    <a:pt x="32" y="20"/>
                    <a:pt x="32" y="20"/>
                  </a:cubicBezTo>
                  <a:cubicBezTo>
                    <a:pt x="32" y="20"/>
                    <a:pt x="32" y="20"/>
                    <a:pt x="32" y="20"/>
                  </a:cubicBezTo>
                  <a:cubicBezTo>
                    <a:pt x="32" y="20"/>
                    <a:pt x="32" y="20"/>
                    <a:pt x="32" y="20"/>
                  </a:cubicBezTo>
                  <a:cubicBezTo>
                    <a:pt x="32" y="20"/>
                    <a:pt x="32" y="20"/>
                    <a:pt x="32" y="20"/>
                  </a:cubicBezTo>
                  <a:cubicBezTo>
                    <a:pt x="31" y="20"/>
                    <a:pt x="31" y="20"/>
                    <a:pt x="31" y="20"/>
                  </a:cubicBezTo>
                  <a:cubicBezTo>
                    <a:pt x="30" y="20"/>
                    <a:pt x="30" y="21"/>
                    <a:pt x="30" y="21"/>
                  </a:cubicBezTo>
                  <a:cubicBezTo>
                    <a:pt x="29" y="21"/>
                    <a:pt x="29" y="21"/>
                    <a:pt x="29" y="21"/>
                  </a:cubicBezTo>
                  <a:cubicBezTo>
                    <a:pt x="26" y="20"/>
                    <a:pt x="26" y="20"/>
                    <a:pt x="24" y="20"/>
                  </a:cubicBezTo>
                  <a:cubicBezTo>
                    <a:pt x="23" y="19"/>
                    <a:pt x="22" y="18"/>
                    <a:pt x="21" y="18"/>
                  </a:cubicBezTo>
                  <a:cubicBezTo>
                    <a:pt x="21" y="18"/>
                    <a:pt x="20" y="19"/>
                    <a:pt x="19" y="19"/>
                  </a:cubicBezTo>
                  <a:cubicBezTo>
                    <a:pt x="19" y="19"/>
                    <a:pt x="19" y="19"/>
                    <a:pt x="19" y="19"/>
                  </a:cubicBezTo>
                  <a:cubicBezTo>
                    <a:pt x="19" y="19"/>
                    <a:pt x="19" y="19"/>
                    <a:pt x="19" y="19"/>
                  </a:cubicBezTo>
                  <a:cubicBezTo>
                    <a:pt x="19" y="20"/>
                    <a:pt x="19" y="20"/>
                    <a:pt x="19" y="20"/>
                  </a:cubicBezTo>
                  <a:cubicBezTo>
                    <a:pt x="18" y="19"/>
                    <a:pt x="18" y="19"/>
                    <a:pt x="18" y="19"/>
                  </a:cubicBezTo>
                  <a:cubicBezTo>
                    <a:pt x="18" y="19"/>
                    <a:pt x="18" y="19"/>
                    <a:pt x="17" y="19"/>
                  </a:cubicBezTo>
                  <a:cubicBezTo>
                    <a:pt x="16" y="19"/>
                    <a:pt x="15" y="18"/>
                    <a:pt x="14" y="18"/>
                  </a:cubicBezTo>
                  <a:cubicBezTo>
                    <a:pt x="10" y="17"/>
                    <a:pt x="7" y="16"/>
                    <a:pt x="4" y="14"/>
                  </a:cubicBezTo>
                  <a:cubicBezTo>
                    <a:pt x="3" y="13"/>
                    <a:pt x="3" y="13"/>
                    <a:pt x="2" y="12"/>
                  </a:cubicBezTo>
                  <a:cubicBezTo>
                    <a:pt x="2" y="12"/>
                    <a:pt x="2" y="12"/>
                    <a:pt x="2" y="12"/>
                  </a:cubicBezTo>
                  <a:cubicBezTo>
                    <a:pt x="2" y="12"/>
                    <a:pt x="2" y="12"/>
                    <a:pt x="2" y="12"/>
                  </a:cubicBezTo>
                  <a:cubicBezTo>
                    <a:pt x="2" y="11"/>
                    <a:pt x="2" y="11"/>
                    <a:pt x="2" y="11"/>
                  </a:cubicBezTo>
                  <a:cubicBezTo>
                    <a:pt x="1" y="11"/>
                    <a:pt x="1" y="12"/>
                    <a:pt x="0" y="12"/>
                  </a:cubicBezTo>
                  <a:cubicBezTo>
                    <a:pt x="0" y="14"/>
                    <a:pt x="2" y="19"/>
                    <a:pt x="3" y="20"/>
                  </a:cubicBezTo>
                  <a:cubicBezTo>
                    <a:pt x="4" y="20"/>
                    <a:pt x="5" y="21"/>
                    <a:pt x="6" y="21"/>
                  </a:cubicBezTo>
                  <a:cubicBezTo>
                    <a:pt x="8" y="21"/>
                    <a:pt x="11" y="22"/>
                    <a:pt x="12" y="23"/>
                  </a:cubicBezTo>
                  <a:cubicBezTo>
                    <a:pt x="13" y="23"/>
                    <a:pt x="13" y="23"/>
                    <a:pt x="13" y="23"/>
                  </a:cubicBezTo>
                  <a:cubicBezTo>
                    <a:pt x="13" y="23"/>
                    <a:pt x="13" y="23"/>
                    <a:pt x="13" y="23"/>
                  </a:cubicBezTo>
                  <a:cubicBezTo>
                    <a:pt x="13" y="23"/>
                    <a:pt x="13" y="23"/>
                    <a:pt x="13" y="23"/>
                  </a:cubicBezTo>
                  <a:cubicBezTo>
                    <a:pt x="13" y="24"/>
                    <a:pt x="13" y="24"/>
                    <a:pt x="13" y="24"/>
                  </a:cubicBezTo>
                  <a:cubicBezTo>
                    <a:pt x="12" y="25"/>
                    <a:pt x="11" y="26"/>
                    <a:pt x="10" y="26"/>
                  </a:cubicBezTo>
                  <a:cubicBezTo>
                    <a:pt x="10" y="27"/>
                    <a:pt x="10" y="27"/>
                    <a:pt x="10" y="27"/>
                  </a:cubicBezTo>
                  <a:cubicBezTo>
                    <a:pt x="10" y="27"/>
                    <a:pt x="9" y="27"/>
                    <a:pt x="9" y="27"/>
                  </a:cubicBezTo>
                  <a:cubicBezTo>
                    <a:pt x="9" y="27"/>
                    <a:pt x="9" y="27"/>
                    <a:pt x="9" y="27"/>
                  </a:cubicBezTo>
                  <a:cubicBezTo>
                    <a:pt x="9" y="28"/>
                    <a:pt x="8" y="28"/>
                    <a:pt x="8" y="28"/>
                  </a:cubicBezTo>
                  <a:cubicBezTo>
                    <a:pt x="7" y="28"/>
                    <a:pt x="5" y="27"/>
                    <a:pt x="4" y="26"/>
                  </a:cubicBezTo>
                  <a:cubicBezTo>
                    <a:pt x="4" y="26"/>
                    <a:pt x="3" y="26"/>
                    <a:pt x="3" y="26"/>
                  </a:cubicBezTo>
                  <a:cubicBezTo>
                    <a:pt x="3" y="26"/>
                    <a:pt x="3" y="26"/>
                    <a:pt x="3" y="26"/>
                  </a:cubicBezTo>
                  <a:cubicBezTo>
                    <a:pt x="4" y="29"/>
                    <a:pt x="6" y="31"/>
                    <a:pt x="9" y="33"/>
                  </a:cubicBezTo>
                  <a:cubicBezTo>
                    <a:pt x="9" y="34"/>
                    <a:pt x="9" y="34"/>
                    <a:pt x="9" y="34"/>
                  </a:cubicBezTo>
                  <a:cubicBezTo>
                    <a:pt x="10" y="34"/>
                    <a:pt x="10" y="34"/>
                    <a:pt x="10" y="34"/>
                  </a:cubicBezTo>
                  <a:cubicBezTo>
                    <a:pt x="10" y="34"/>
                    <a:pt x="10" y="34"/>
                    <a:pt x="10" y="34"/>
                  </a:cubicBezTo>
                  <a:cubicBezTo>
                    <a:pt x="12" y="34"/>
                    <a:pt x="15" y="31"/>
                    <a:pt x="16" y="29"/>
                  </a:cubicBezTo>
                  <a:cubicBezTo>
                    <a:pt x="16" y="29"/>
                    <a:pt x="17" y="28"/>
                    <a:pt x="17" y="28"/>
                  </a:cubicBezTo>
                  <a:cubicBezTo>
                    <a:pt x="18" y="28"/>
                    <a:pt x="18" y="28"/>
                    <a:pt x="18" y="28"/>
                  </a:cubicBezTo>
                  <a:cubicBezTo>
                    <a:pt x="19" y="27"/>
                    <a:pt x="19" y="27"/>
                    <a:pt x="19" y="27"/>
                  </a:cubicBezTo>
                  <a:cubicBezTo>
                    <a:pt x="19" y="27"/>
                    <a:pt x="19" y="27"/>
                    <a:pt x="19" y="27"/>
                  </a:cubicBezTo>
                  <a:cubicBezTo>
                    <a:pt x="21" y="27"/>
                    <a:pt x="22" y="27"/>
                    <a:pt x="23" y="28"/>
                  </a:cubicBezTo>
                  <a:cubicBezTo>
                    <a:pt x="24" y="28"/>
                    <a:pt x="25" y="26"/>
                    <a:pt x="25" y="25"/>
                  </a:cubicBezTo>
                  <a:cubicBezTo>
                    <a:pt x="25" y="25"/>
                    <a:pt x="25" y="25"/>
                    <a:pt x="25" y="25"/>
                  </a:cubicBezTo>
                  <a:cubicBezTo>
                    <a:pt x="24" y="24"/>
                    <a:pt x="23" y="23"/>
                    <a:pt x="22" y="23"/>
                  </a:cubicBezTo>
                  <a:cubicBezTo>
                    <a:pt x="22" y="23"/>
                    <a:pt x="22" y="23"/>
                    <a:pt x="22" y="23"/>
                  </a:cubicBezTo>
                  <a:cubicBezTo>
                    <a:pt x="22" y="22"/>
                    <a:pt x="22" y="22"/>
                    <a:pt x="22" y="22"/>
                  </a:cubicBezTo>
                  <a:cubicBezTo>
                    <a:pt x="23" y="21"/>
                    <a:pt x="23" y="21"/>
                    <a:pt x="23" y="21"/>
                  </a:cubicBezTo>
                  <a:cubicBezTo>
                    <a:pt x="23" y="20"/>
                    <a:pt x="23" y="20"/>
                    <a:pt x="23" y="20"/>
                  </a:cubicBezTo>
                  <a:cubicBezTo>
                    <a:pt x="24" y="20"/>
                    <a:pt x="24" y="20"/>
                    <a:pt x="24" y="20"/>
                  </a:cubicBezTo>
                  <a:cubicBezTo>
                    <a:pt x="26" y="21"/>
                    <a:pt x="28" y="22"/>
                    <a:pt x="30" y="22"/>
                  </a:cubicBezTo>
                  <a:cubicBezTo>
                    <a:pt x="32" y="23"/>
                    <a:pt x="32" y="23"/>
                    <a:pt x="32" y="23"/>
                  </a:cubicBezTo>
                  <a:cubicBezTo>
                    <a:pt x="33" y="23"/>
                    <a:pt x="33" y="23"/>
                    <a:pt x="33" y="23"/>
                  </a:cubicBezTo>
                  <a:cubicBezTo>
                    <a:pt x="34" y="24"/>
                    <a:pt x="35" y="25"/>
                    <a:pt x="36" y="25"/>
                  </a:cubicBezTo>
                  <a:cubicBezTo>
                    <a:pt x="36" y="25"/>
                    <a:pt x="37" y="25"/>
                    <a:pt x="37" y="25"/>
                  </a:cubicBezTo>
                  <a:cubicBezTo>
                    <a:pt x="38" y="23"/>
                    <a:pt x="39" y="22"/>
                    <a:pt x="39" y="21"/>
                  </a:cubicBezTo>
                  <a:cubicBezTo>
                    <a:pt x="39" y="21"/>
                    <a:pt x="39" y="21"/>
                    <a:pt x="39" y="21"/>
                  </a:cubicBezTo>
                  <a:cubicBezTo>
                    <a:pt x="39" y="21"/>
                    <a:pt x="40" y="21"/>
                    <a:pt x="40" y="21"/>
                  </a:cubicBezTo>
                  <a:cubicBezTo>
                    <a:pt x="39" y="21"/>
                    <a:pt x="39" y="21"/>
                    <a:pt x="39" y="21"/>
                  </a:cubicBezTo>
                  <a:cubicBezTo>
                    <a:pt x="39" y="20"/>
                    <a:pt x="39" y="20"/>
                    <a:pt x="39" y="20"/>
                  </a:cubicBezTo>
                  <a:cubicBezTo>
                    <a:pt x="39" y="20"/>
                    <a:pt x="40" y="20"/>
                    <a:pt x="40" y="20"/>
                  </a:cubicBezTo>
                  <a:cubicBezTo>
                    <a:pt x="43" y="19"/>
                    <a:pt x="47" y="17"/>
                    <a:pt x="50" y="16"/>
                  </a:cubicBezTo>
                  <a:cubicBezTo>
                    <a:pt x="51" y="15"/>
                    <a:pt x="52" y="15"/>
                    <a:pt x="51" y="14"/>
                  </a:cubicBezTo>
                  <a:cubicBezTo>
                    <a:pt x="51" y="13"/>
                    <a:pt x="51" y="13"/>
                    <a:pt x="51" y="13"/>
                  </a:cubicBezTo>
                  <a:moveTo>
                    <a:pt x="37" y="15"/>
                  </a:moveTo>
                  <a:cubicBezTo>
                    <a:pt x="38" y="14"/>
                    <a:pt x="38" y="14"/>
                    <a:pt x="38" y="14"/>
                  </a:cubicBezTo>
                  <a:cubicBezTo>
                    <a:pt x="39" y="13"/>
                    <a:pt x="39" y="13"/>
                    <a:pt x="39" y="13"/>
                  </a:cubicBezTo>
                  <a:cubicBezTo>
                    <a:pt x="39" y="13"/>
                    <a:pt x="39" y="12"/>
                    <a:pt x="38" y="12"/>
                  </a:cubicBezTo>
                  <a:cubicBezTo>
                    <a:pt x="38" y="12"/>
                    <a:pt x="38" y="12"/>
                    <a:pt x="38" y="12"/>
                  </a:cubicBezTo>
                  <a:cubicBezTo>
                    <a:pt x="38" y="12"/>
                    <a:pt x="38" y="12"/>
                    <a:pt x="38" y="12"/>
                  </a:cubicBezTo>
                  <a:cubicBezTo>
                    <a:pt x="37" y="12"/>
                    <a:pt x="37" y="12"/>
                    <a:pt x="37" y="12"/>
                  </a:cubicBezTo>
                  <a:cubicBezTo>
                    <a:pt x="36" y="11"/>
                    <a:pt x="36" y="11"/>
                    <a:pt x="36" y="11"/>
                  </a:cubicBezTo>
                  <a:cubicBezTo>
                    <a:pt x="36" y="11"/>
                    <a:pt x="36" y="11"/>
                    <a:pt x="36" y="11"/>
                  </a:cubicBezTo>
                  <a:cubicBezTo>
                    <a:pt x="37" y="10"/>
                    <a:pt x="37" y="10"/>
                    <a:pt x="37" y="10"/>
                  </a:cubicBezTo>
                  <a:cubicBezTo>
                    <a:pt x="36" y="10"/>
                    <a:pt x="36" y="10"/>
                    <a:pt x="36" y="10"/>
                  </a:cubicBezTo>
                  <a:cubicBezTo>
                    <a:pt x="37" y="10"/>
                    <a:pt x="37" y="10"/>
                    <a:pt x="37" y="10"/>
                  </a:cubicBezTo>
                  <a:cubicBezTo>
                    <a:pt x="40" y="9"/>
                    <a:pt x="40" y="9"/>
                    <a:pt x="40" y="9"/>
                  </a:cubicBezTo>
                  <a:cubicBezTo>
                    <a:pt x="40" y="9"/>
                    <a:pt x="40" y="9"/>
                    <a:pt x="40" y="9"/>
                  </a:cubicBezTo>
                  <a:cubicBezTo>
                    <a:pt x="41" y="9"/>
                    <a:pt x="41" y="9"/>
                    <a:pt x="41" y="9"/>
                  </a:cubicBezTo>
                  <a:cubicBezTo>
                    <a:pt x="41" y="10"/>
                    <a:pt x="43" y="11"/>
                    <a:pt x="43" y="13"/>
                  </a:cubicBezTo>
                  <a:cubicBezTo>
                    <a:pt x="43" y="14"/>
                    <a:pt x="43" y="14"/>
                    <a:pt x="43" y="14"/>
                  </a:cubicBezTo>
                  <a:cubicBezTo>
                    <a:pt x="42" y="15"/>
                    <a:pt x="40" y="16"/>
                    <a:pt x="38" y="16"/>
                  </a:cubicBezTo>
                  <a:cubicBezTo>
                    <a:pt x="38" y="16"/>
                    <a:pt x="38" y="16"/>
                    <a:pt x="38" y="16"/>
                  </a:cubicBezTo>
                  <a:cubicBezTo>
                    <a:pt x="38" y="15"/>
                    <a:pt x="38" y="15"/>
                    <a:pt x="38" y="15"/>
                  </a:cubicBezTo>
                  <a:cubicBezTo>
                    <a:pt x="37" y="15"/>
                    <a:pt x="37" y="15"/>
                    <a:pt x="37" y="15"/>
                  </a:cubicBez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52" name="Freeform 138"/>
            <p:cNvSpPr/>
            <p:nvPr userDrawn="1"/>
          </p:nvSpPr>
          <p:spPr bwMode="auto">
            <a:xfrm>
              <a:off x="1239" y="750"/>
              <a:ext cx="10" cy="19"/>
            </a:xfrm>
            <a:custGeom>
              <a:avLst/>
              <a:gdLst>
                <a:gd name="T0" fmla="*/ 2 w 8"/>
                <a:gd name="T1" fmla="*/ 15 h 15"/>
                <a:gd name="T2" fmla="*/ 0 w 8"/>
                <a:gd name="T3" fmla="*/ 14 h 15"/>
                <a:gd name="T4" fmla="*/ 2 w 8"/>
                <a:gd name="T5" fmla="*/ 9 h 15"/>
                <a:gd name="T6" fmla="*/ 3 w 8"/>
                <a:gd name="T7" fmla="*/ 8 h 15"/>
                <a:gd name="T8" fmla="*/ 3 w 8"/>
                <a:gd name="T9" fmla="*/ 8 h 15"/>
                <a:gd name="T10" fmla="*/ 3 w 8"/>
                <a:gd name="T11" fmla="*/ 7 h 15"/>
                <a:gd name="T12" fmla="*/ 4 w 8"/>
                <a:gd name="T13" fmla="*/ 5 h 15"/>
                <a:gd name="T14" fmla="*/ 5 w 8"/>
                <a:gd name="T15" fmla="*/ 4 h 15"/>
                <a:gd name="T16" fmla="*/ 7 w 8"/>
                <a:gd name="T17" fmla="*/ 0 h 15"/>
                <a:gd name="T18" fmla="*/ 8 w 8"/>
                <a:gd name="T19" fmla="*/ 1 h 15"/>
                <a:gd name="T20" fmla="*/ 8 w 8"/>
                <a:gd name="T21" fmla="*/ 2 h 15"/>
                <a:gd name="T22" fmla="*/ 8 w 8"/>
                <a:gd name="T23" fmla="*/ 2 h 15"/>
                <a:gd name="T24" fmla="*/ 8 w 8"/>
                <a:gd name="T25" fmla="*/ 3 h 15"/>
                <a:gd name="T26" fmla="*/ 8 w 8"/>
                <a:gd name="T27" fmla="*/ 7 h 15"/>
                <a:gd name="T28" fmla="*/ 8 w 8"/>
                <a:gd name="T29" fmla="*/ 8 h 15"/>
                <a:gd name="T30" fmla="*/ 8 w 8"/>
                <a:gd name="T31" fmla="*/ 9 h 15"/>
                <a:gd name="T32" fmla="*/ 6 w 8"/>
                <a:gd name="T33" fmla="*/ 13 h 15"/>
                <a:gd name="T34" fmla="*/ 5 w 8"/>
                <a:gd name="T35" fmla="*/ 14 h 15"/>
                <a:gd name="T36" fmla="*/ 5 w 8"/>
                <a:gd name="T37" fmla="*/ 14 h 15"/>
                <a:gd name="T38" fmla="*/ 3 w 8"/>
                <a:gd name="T39" fmla="*/ 15 h 15"/>
                <a:gd name="T40" fmla="*/ 2 w 8"/>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 h="15">
                  <a:moveTo>
                    <a:pt x="2" y="15"/>
                  </a:moveTo>
                  <a:cubicBezTo>
                    <a:pt x="2" y="15"/>
                    <a:pt x="1" y="14"/>
                    <a:pt x="0" y="14"/>
                  </a:cubicBezTo>
                  <a:cubicBezTo>
                    <a:pt x="0" y="12"/>
                    <a:pt x="1" y="11"/>
                    <a:pt x="2" y="9"/>
                  </a:cubicBezTo>
                  <a:cubicBezTo>
                    <a:pt x="2" y="9"/>
                    <a:pt x="3" y="8"/>
                    <a:pt x="3" y="8"/>
                  </a:cubicBezTo>
                  <a:cubicBezTo>
                    <a:pt x="3" y="8"/>
                    <a:pt x="3" y="8"/>
                    <a:pt x="3" y="8"/>
                  </a:cubicBezTo>
                  <a:cubicBezTo>
                    <a:pt x="3" y="7"/>
                    <a:pt x="3" y="7"/>
                    <a:pt x="3" y="7"/>
                  </a:cubicBezTo>
                  <a:cubicBezTo>
                    <a:pt x="4" y="7"/>
                    <a:pt x="4" y="6"/>
                    <a:pt x="4" y="5"/>
                  </a:cubicBezTo>
                  <a:cubicBezTo>
                    <a:pt x="4" y="5"/>
                    <a:pt x="4" y="4"/>
                    <a:pt x="5" y="4"/>
                  </a:cubicBezTo>
                  <a:cubicBezTo>
                    <a:pt x="5" y="2"/>
                    <a:pt x="6" y="0"/>
                    <a:pt x="7" y="0"/>
                  </a:cubicBezTo>
                  <a:cubicBezTo>
                    <a:pt x="7" y="0"/>
                    <a:pt x="8" y="0"/>
                    <a:pt x="8" y="1"/>
                  </a:cubicBezTo>
                  <a:cubicBezTo>
                    <a:pt x="8" y="1"/>
                    <a:pt x="8" y="1"/>
                    <a:pt x="8" y="2"/>
                  </a:cubicBezTo>
                  <a:cubicBezTo>
                    <a:pt x="8" y="2"/>
                    <a:pt x="8" y="2"/>
                    <a:pt x="8" y="2"/>
                  </a:cubicBezTo>
                  <a:cubicBezTo>
                    <a:pt x="8" y="3"/>
                    <a:pt x="8" y="3"/>
                    <a:pt x="8" y="3"/>
                  </a:cubicBezTo>
                  <a:cubicBezTo>
                    <a:pt x="8" y="5"/>
                    <a:pt x="8" y="6"/>
                    <a:pt x="8" y="7"/>
                  </a:cubicBezTo>
                  <a:cubicBezTo>
                    <a:pt x="8" y="8"/>
                    <a:pt x="8" y="8"/>
                    <a:pt x="8" y="8"/>
                  </a:cubicBezTo>
                  <a:cubicBezTo>
                    <a:pt x="8" y="8"/>
                    <a:pt x="8" y="9"/>
                    <a:pt x="8" y="9"/>
                  </a:cubicBezTo>
                  <a:cubicBezTo>
                    <a:pt x="7" y="11"/>
                    <a:pt x="7" y="12"/>
                    <a:pt x="6" y="13"/>
                  </a:cubicBezTo>
                  <a:cubicBezTo>
                    <a:pt x="5" y="14"/>
                    <a:pt x="5" y="14"/>
                    <a:pt x="5" y="14"/>
                  </a:cubicBezTo>
                  <a:cubicBezTo>
                    <a:pt x="5" y="14"/>
                    <a:pt x="5" y="14"/>
                    <a:pt x="5" y="14"/>
                  </a:cubicBezTo>
                  <a:cubicBezTo>
                    <a:pt x="4" y="14"/>
                    <a:pt x="3" y="15"/>
                    <a:pt x="3" y="15"/>
                  </a:cubicBezTo>
                  <a:lnTo>
                    <a:pt x="2" y="15"/>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53" name="Freeform 139"/>
            <p:cNvSpPr/>
            <p:nvPr userDrawn="1"/>
          </p:nvSpPr>
          <p:spPr bwMode="auto">
            <a:xfrm>
              <a:off x="1239" y="750"/>
              <a:ext cx="10" cy="19"/>
            </a:xfrm>
            <a:custGeom>
              <a:avLst/>
              <a:gdLst>
                <a:gd name="T0" fmla="*/ 2 w 8"/>
                <a:gd name="T1" fmla="*/ 15 h 15"/>
                <a:gd name="T2" fmla="*/ 3 w 8"/>
                <a:gd name="T3" fmla="*/ 15 h 15"/>
                <a:gd name="T4" fmla="*/ 5 w 8"/>
                <a:gd name="T5" fmla="*/ 14 h 15"/>
                <a:gd name="T6" fmla="*/ 5 w 8"/>
                <a:gd name="T7" fmla="*/ 14 h 15"/>
                <a:gd name="T8" fmla="*/ 6 w 8"/>
                <a:gd name="T9" fmla="*/ 13 h 15"/>
                <a:gd name="T10" fmla="*/ 8 w 8"/>
                <a:gd name="T11" fmla="*/ 9 h 15"/>
                <a:gd name="T12" fmla="*/ 8 w 8"/>
                <a:gd name="T13" fmla="*/ 8 h 15"/>
                <a:gd name="T14" fmla="*/ 8 w 8"/>
                <a:gd name="T15" fmla="*/ 7 h 15"/>
                <a:gd name="T16" fmla="*/ 8 w 8"/>
                <a:gd name="T17" fmla="*/ 3 h 15"/>
                <a:gd name="T18" fmla="*/ 8 w 8"/>
                <a:gd name="T19" fmla="*/ 2 h 15"/>
                <a:gd name="T20" fmla="*/ 8 w 8"/>
                <a:gd name="T21" fmla="*/ 2 h 15"/>
                <a:gd name="T22" fmla="*/ 8 w 8"/>
                <a:gd name="T23" fmla="*/ 2 h 15"/>
                <a:gd name="T24" fmla="*/ 8 w 8"/>
                <a:gd name="T25" fmla="*/ 1 h 15"/>
                <a:gd name="T26" fmla="*/ 7 w 8"/>
                <a:gd name="T27" fmla="*/ 0 h 15"/>
                <a:gd name="T28" fmla="*/ 5 w 8"/>
                <a:gd name="T29" fmla="*/ 4 h 15"/>
                <a:gd name="T30" fmla="*/ 4 w 8"/>
                <a:gd name="T31" fmla="*/ 5 h 15"/>
                <a:gd name="T32" fmla="*/ 3 w 8"/>
                <a:gd name="T33" fmla="*/ 7 h 15"/>
                <a:gd name="T34" fmla="*/ 3 w 8"/>
                <a:gd name="T35" fmla="*/ 8 h 15"/>
                <a:gd name="T36" fmla="*/ 3 w 8"/>
                <a:gd name="T37" fmla="*/ 8 h 15"/>
                <a:gd name="T38" fmla="*/ 2 w 8"/>
                <a:gd name="T39" fmla="*/ 9 h 15"/>
                <a:gd name="T40" fmla="*/ 0 w 8"/>
                <a:gd name="T41" fmla="*/ 14 h 15"/>
                <a:gd name="T42" fmla="*/ 2 w 8"/>
                <a:gd name="T43"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 h="15">
                  <a:moveTo>
                    <a:pt x="2" y="15"/>
                  </a:moveTo>
                  <a:cubicBezTo>
                    <a:pt x="3" y="15"/>
                    <a:pt x="3" y="15"/>
                    <a:pt x="3" y="15"/>
                  </a:cubicBezTo>
                  <a:cubicBezTo>
                    <a:pt x="3" y="15"/>
                    <a:pt x="4" y="14"/>
                    <a:pt x="5" y="14"/>
                  </a:cubicBezTo>
                  <a:cubicBezTo>
                    <a:pt x="5" y="14"/>
                    <a:pt x="5" y="14"/>
                    <a:pt x="5" y="14"/>
                  </a:cubicBezTo>
                  <a:cubicBezTo>
                    <a:pt x="6" y="13"/>
                    <a:pt x="6" y="13"/>
                    <a:pt x="6" y="13"/>
                  </a:cubicBezTo>
                  <a:cubicBezTo>
                    <a:pt x="7" y="12"/>
                    <a:pt x="7" y="10"/>
                    <a:pt x="8" y="9"/>
                  </a:cubicBezTo>
                  <a:cubicBezTo>
                    <a:pt x="8" y="9"/>
                    <a:pt x="8" y="8"/>
                    <a:pt x="8" y="8"/>
                  </a:cubicBezTo>
                  <a:cubicBezTo>
                    <a:pt x="8" y="7"/>
                    <a:pt x="8" y="7"/>
                    <a:pt x="8" y="7"/>
                  </a:cubicBezTo>
                  <a:cubicBezTo>
                    <a:pt x="8" y="6"/>
                    <a:pt x="8" y="5"/>
                    <a:pt x="8" y="3"/>
                  </a:cubicBezTo>
                  <a:cubicBezTo>
                    <a:pt x="8" y="3"/>
                    <a:pt x="8" y="3"/>
                    <a:pt x="8" y="2"/>
                  </a:cubicBezTo>
                  <a:cubicBezTo>
                    <a:pt x="8" y="2"/>
                    <a:pt x="8" y="2"/>
                    <a:pt x="8" y="2"/>
                  </a:cubicBezTo>
                  <a:cubicBezTo>
                    <a:pt x="8" y="2"/>
                    <a:pt x="8" y="2"/>
                    <a:pt x="8" y="2"/>
                  </a:cubicBezTo>
                  <a:cubicBezTo>
                    <a:pt x="8" y="1"/>
                    <a:pt x="8" y="1"/>
                    <a:pt x="8" y="1"/>
                  </a:cubicBezTo>
                  <a:cubicBezTo>
                    <a:pt x="8" y="0"/>
                    <a:pt x="7" y="0"/>
                    <a:pt x="7" y="0"/>
                  </a:cubicBezTo>
                  <a:cubicBezTo>
                    <a:pt x="6" y="0"/>
                    <a:pt x="5" y="2"/>
                    <a:pt x="5" y="4"/>
                  </a:cubicBezTo>
                  <a:cubicBezTo>
                    <a:pt x="5" y="4"/>
                    <a:pt x="4" y="5"/>
                    <a:pt x="4" y="5"/>
                  </a:cubicBezTo>
                  <a:cubicBezTo>
                    <a:pt x="4" y="6"/>
                    <a:pt x="4" y="7"/>
                    <a:pt x="3" y="7"/>
                  </a:cubicBezTo>
                  <a:cubicBezTo>
                    <a:pt x="3" y="8"/>
                    <a:pt x="3" y="8"/>
                    <a:pt x="3" y="8"/>
                  </a:cubicBezTo>
                  <a:cubicBezTo>
                    <a:pt x="3" y="8"/>
                    <a:pt x="3" y="8"/>
                    <a:pt x="3" y="8"/>
                  </a:cubicBezTo>
                  <a:cubicBezTo>
                    <a:pt x="3" y="8"/>
                    <a:pt x="2" y="9"/>
                    <a:pt x="2" y="9"/>
                  </a:cubicBezTo>
                  <a:cubicBezTo>
                    <a:pt x="1" y="11"/>
                    <a:pt x="0" y="12"/>
                    <a:pt x="0" y="14"/>
                  </a:cubicBezTo>
                  <a:cubicBezTo>
                    <a:pt x="1" y="14"/>
                    <a:pt x="2" y="15"/>
                    <a:pt x="2" y="15"/>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54" name="Freeform 140"/>
            <p:cNvSpPr/>
            <p:nvPr userDrawn="1"/>
          </p:nvSpPr>
          <p:spPr bwMode="auto">
            <a:xfrm>
              <a:off x="1229" y="757"/>
              <a:ext cx="7" cy="9"/>
            </a:xfrm>
            <a:custGeom>
              <a:avLst/>
              <a:gdLst>
                <a:gd name="T0" fmla="*/ 3 w 6"/>
                <a:gd name="T1" fmla="*/ 7 h 7"/>
                <a:gd name="T2" fmla="*/ 1 w 6"/>
                <a:gd name="T3" fmla="*/ 6 h 7"/>
                <a:gd name="T4" fmla="*/ 5 w 6"/>
                <a:gd name="T5" fmla="*/ 0 h 7"/>
                <a:gd name="T6" fmla="*/ 6 w 6"/>
                <a:gd name="T7" fmla="*/ 1 h 7"/>
                <a:gd name="T8" fmla="*/ 5 w 6"/>
                <a:gd name="T9" fmla="*/ 5 h 7"/>
                <a:gd name="T10" fmla="*/ 3 w 6"/>
                <a:gd name="T11" fmla="*/ 7 h 7"/>
              </a:gdLst>
              <a:ahLst/>
              <a:cxnLst>
                <a:cxn ang="0">
                  <a:pos x="T0" y="T1"/>
                </a:cxn>
                <a:cxn ang="0">
                  <a:pos x="T2" y="T3"/>
                </a:cxn>
                <a:cxn ang="0">
                  <a:pos x="T4" y="T5"/>
                </a:cxn>
                <a:cxn ang="0">
                  <a:pos x="T6" y="T7"/>
                </a:cxn>
                <a:cxn ang="0">
                  <a:pos x="T8" y="T9"/>
                </a:cxn>
                <a:cxn ang="0">
                  <a:pos x="T10" y="T11"/>
                </a:cxn>
              </a:cxnLst>
              <a:rect l="0" t="0" r="r" b="b"/>
              <a:pathLst>
                <a:path w="6" h="7">
                  <a:moveTo>
                    <a:pt x="3" y="7"/>
                  </a:moveTo>
                  <a:cubicBezTo>
                    <a:pt x="3" y="7"/>
                    <a:pt x="2" y="6"/>
                    <a:pt x="1" y="6"/>
                  </a:cubicBezTo>
                  <a:cubicBezTo>
                    <a:pt x="0" y="3"/>
                    <a:pt x="4" y="0"/>
                    <a:pt x="5" y="0"/>
                  </a:cubicBezTo>
                  <a:cubicBezTo>
                    <a:pt x="5" y="0"/>
                    <a:pt x="6" y="1"/>
                    <a:pt x="6" y="1"/>
                  </a:cubicBezTo>
                  <a:cubicBezTo>
                    <a:pt x="6" y="2"/>
                    <a:pt x="6" y="4"/>
                    <a:pt x="5" y="5"/>
                  </a:cubicBezTo>
                  <a:cubicBezTo>
                    <a:pt x="4" y="6"/>
                    <a:pt x="3" y="7"/>
                    <a:pt x="3" y="7"/>
                  </a:cubicBez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55" name="Freeform 141"/>
            <p:cNvSpPr/>
            <p:nvPr userDrawn="1"/>
          </p:nvSpPr>
          <p:spPr bwMode="auto">
            <a:xfrm>
              <a:off x="1229" y="757"/>
              <a:ext cx="7" cy="9"/>
            </a:xfrm>
            <a:custGeom>
              <a:avLst/>
              <a:gdLst>
                <a:gd name="T0" fmla="*/ 3 w 6"/>
                <a:gd name="T1" fmla="*/ 7 h 7"/>
                <a:gd name="T2" fmla="*/ 3 w 6"/>
                <a:gd name="T3" fmla="*/ 7 h 7"/>
                <a:gd name="T4" fmla="*/ 5 w 6"/>
                <a:gd name="T5" fmla="*/ 5 h 7"/>
                <a:gd name="T6" fmla="*/ 6 w 6"/>
                <a:gd name="T7" fmla="*/ 1 h 7"/>
                <a:gd name="T8" fmla="*/ 5 w 6"/>
                <a:gd name="T9" fmla="*/ 0 h 7"/>
                <a:gd name="T10" fmla="*/ 1 w 6"/>
                <a:gd name="T11" fmla="*/ 6 h 7"/>
                <a:gd name="T12" fmla="*/ 3 w 6"/>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6" h="7">
                  <a:moveTo>
                    <a:pt x="3" y="7"/>
                  </a:moveTo>
                  <a:cubicBezTo>
                    <a:pt x="3" y="7"/>
                    <a:pt x="3" y="7"/>
                    <a:pt x="3" y="7"/>
                  </a:cubicBezTo>
                  <a:cubicBezTo>
                    <a:pt x="3" y="7"/>
                    <a:pt x="4" y="6"/>
                    <a:pt x="5" y="5"/>
                  </a:cubicBezTo>
                  <a:cubicBezTo>
                    <a:pt x="6" y="4"/>
                    <a:pt x="6" y="2"/>
                    <a:pt x="6" y="1"/>
                  </a:cubicBezTo>
                  <a:cubicBezTo>
                    <a:pt x="6" y="1"/>
                    <a:pt x="5" y="0"/>
                    <a:pt x="5" y="0"/>
                  </a:cubicBezTo>
                  <a:cubicBezTo>
                    <a:pt x="4" y="0"/>
                    <a:pt x="0" y="3"/>
                    <a:pt x="1" y="6"/>
                  </a:cubicBezTo>
                  <a:cubicBezTo>
                    <a:pt x="2" y="6"/>
                    <a:pt x="3" y="7"/>
                    <a:pt x="3" y="7"/>
                  </a:cubicBezTo>
                </a:path>
              </a:pathLst>
            </a:custGeom>
            <a:solidFill>
              <a:srgbClr val="003F88"/>
            </a:solidFill>
            <a:ln>
              <a:noFill/>
            </a:ln>
          </p:spPr>
          <p:txBody>
            <a:bodyPr vert="horz" wrap="square" lIns="91440" tIns="45720" rIns="91440" bIns="45720" numCol="1" anchor="t" anchorCtr="0" compatLnSpc="1"/>
            <a:lstStyle/>
            <a:p>
              <a:endParaRPr lang="zh-CN" altLang="en-US"/>
            </a:p>
          </p:txBody>
        </p:sp>
      </p:grpSp>
      <p:sp>
        <p:nvSpPr>
          <p:cNvPr id="77" name="文本占位符 77"/>
          <p:cNvSpPr>
            <a:spLocks noGrp="1"/>
          </p:cNvSpPr>
          <p:nvPr>
            <p:ph type="body" sz="quarter" idx="11" hasCustomPrompt="1"/>
          </p:nvPr>
        </p:nvSpPr>
        <p:spPr>
          <a:xfrm>
            <a:off x="1514476" y="2442615"/>
            <a:ext cx="7754400" cy="721821"/>
          </a:xfrm>
          <a:prstGeom prst="rect">
            <a:avLst/>
          </a:prstGeom>
        </p:spPr>
        <p:txBody>
          <a:bodyPr lIns="0" rIns="0" anchor="ctr"/>
          <a:lstStyle>
            <a:lvl1pPr marL="0" indent="0" algn="l">
              <a:lnSpc>
                <a:spcPct val="100000"/>
              </a:lnSpc>
              <a:buNone/>
              <a:defRPr sz="4800" b="1">
                <a:solidFill>
                  <a:schemeClr val="tx1"/>
                </a:solidFill>
                <a:latin typeface="方正粗雅宋简体" panose="02000000000000000000" pitchFamily="2" charset="-122"/>
                <a:ea typeface="方正粗雅宋简体" panose="02000000000000000000"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单击此处编辑答辩报告题目</a:t>
            </a:r>
          </a:p>
        </p:txBody>
      </p:sp>
      <p:sp>
        <p:nvSpPr>
          <p:cNvPr id="78" name="文本占位符 77"/>
          <p:cNvSpPr>
            <a:spLocks noGrp="1"/>
          </p:cNvSpPr>
          <p:nvPr>
            <p:ph type="body" sz="quarter" idx="15" hasCustomPrompt="1"/>
          </p:nvPr>
        </p:nvSpPr>
        <p:spPr>
          <a:xfrm>
            <a:off x="1514476" y="3343161"/>
            <a:ext cx="3231228" cy="485081"/>
          </a:xfrm>
          <a:prstGeom prst="rect">
            <a:avLst/>
          </a:prstGeom>
        </p:spPr>
        <p:txBody>
          <a:bodyPr lIns="0" rIns="0" anchor="ctr"/>
          <a:lstStyle>
            <a:lvl1pPr marL="0" indent="0" algn="dist">
              <a:lnSpc>
                <a:spcPct val="100000"/>
              </a:lnSpc>
              <a:buNone/>
              <a:defRPr sz="2400" b="1">
                <a:solidFill>
                  <a:schemeClr val="tx2"/>
                </a:solidFill>
                <a:latin typeface="方正粗雅宋简体" panose="02000000000000000000" pitchFamily="2" charset="-122"/>
                <a:ea typeface="方正粗雅宋简体" panose="02000000000000000000"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单击编辑答辩副标题</a:t>
            </a:r>
          </a:p>
        </p:txBody>
      </p:sp>
    </p:spTree>
    <p:extLst>
      <p:ext uri="{BB962C8B-B14F-4D97-AF65-F5344CB8AC3E}">
        <p14:creationId xmlns:p14="http://schemas.microsoft.com/office/powerpoint/2010/main" val="19450267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3_标题幻灯片">
    <p:spTree>
      <p:nvGrpSpPr>
        <p:cNvPr id="1" name=""/>
        <p:cNvGrpSpPr/>
        <p:nvPr/>
      </p:nvGrpSpPr>
      <p:grpSpPr>
        <a:xfrm>
          <a:off x="0" y="0"/>
          <a:ext cx="0" cy="0"/>
          <a:chOff x="0" y="0"/>
          <a:chExt cx="0" cy="0"/>
        </a:xfrm>
      </p:grpSpPr>
      <p:sp>
        <p:nvSpPr>
          <p:cNvPr id="81" name="副标题 2">
            <a:extLst>
              <a:ext uri="{FF2B5EF4-FFF2-40B4-BE49-F238E27FC236}">
                <a16:creationId xmlns:a16="http://schemas.microsoft.com/office/drawing/2014/main" id="{55E12536-F5E6-4615-BCA3-FD43010BD3F0}"/>
              </a:ext>
            </a:extLst>
          </p:cNvPr>
          <p:cNvSpPr txBox="1">
            <a:spLocks/>
          </p:cNvSpPr>
          <p:nvPr userDrawn="1"/>
        </p:nvSpPr>
        <p:spPr>
          <a:xfrm>
            <a:off x="1515340" y="3841753"/>
            <a:ext cx="3231227" cy="617036"/>
          </a:xfrm>
          <a:prstGeom prst="rect">
            <a:avLst/>
          </a:prstGeom>
        </p:spPr>
        <p:txBody>
          <a:bodyPr vert="horz" lIns="0" tIns="45720" rIns="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rgbClr val="04428A"/>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dist"/>
            <a:endParaRPr lang="zh-CN" altLang="zh-CN" sz="1200" b="1" kern="1200">
              <a:solidFill>
                <a:schemeClr val="tx1">
                  <a:lumMod val="75000"/>
                  <a:lumOff val="25000"/>
                </a:schemeClr>
              </a:solidFill>
              <a:effectLst/>
              <a:latin typeface="+mn-lt"/>
              <a:ea typeface="+mn-ea"/>
              <a:cs typeface="+mn-cs"/>
            </a:endParaRPr>
          </a:p>
        </p:txBody>
      </p:sp>
      <p:grpSp>
        <p:nvGrpSpPr>
          <p:cNvPr id="87" name="Group 74">
            <a:extLst>
              <a:ext uri="{FF2B5EF4-FFF2-40B4-BE49-F238E27FC236}">
                <a16:creationId xmlns:a16="http://schemas.microsoft.com/office/drawing/2014/main" id="{DE5F34AA-DE60-49EE-982E-B1E176FEED90}"/>
              </a:ext>
            </a:extLst>
          </p:cNvPr>
          <p:cNvGrpSpPr>
            <a:grpSpLocks noChangeAspect="1"/>
          </p:cNvGrpSpPr>
          <p:nvPr userDrawn="1"/>
        </p:nvGrpSpPr>
        <p:grpSpPr bwMode="auto">
          <a:xfrm>
            <a:off x="1514476" y="1047750"/>
            <a:ext cx="2014537" cy="560387"/>
            <a:chOff x="954" y="660"/>
            <a:chExt cx="1269" cy="353"/>
          </a:xfrm>
        </p:grpSpPr>
        <p:sp>
          <p:nvSpPr>
            <p:cNvPr id="89" name="Freeform 75">
              <a:extLst>
                <a:ext uri="{FF2B5EF4-FFF2-40B4-BE49-F238E27FC236}">
                  <a16:creationId xmlns:a16="http://schemas.microsoft.com/office/drawing/2014/main" id="{8B2498DD-9199-46A2-A18D-0705D67697DD}"/>
                </a:ext>
              </a:extLst>
            </p:cNvPr>
            <p:cNvSpPr>
              <a:spLocks/>
            </p:cNvSpPr>
            <p:nvPr userDrawn="1"/>
          </p:nvSpPr>
          <p:spPr bwMode="auto">
            <a:xfrm>
              <a:off x="1968" y="833"/>
              <a:ext cx="45" cy="46"/>
            </a:xfrm>
            <a:custGeom>
              <a:avLst/>
              <a:gdLst>
                <a:gd name="T0" fmla="*/ 10 w 36"/>
                <a:gd name="T1" fmla="*/ 35 h 37"/>
                <a:gd name="T2" fmla="*/ 6 w 36"/>
                <a:gd name="T3" fmla="*/ 25 h 37"/>
                <a:gd name="T4" fmla="*/ 0 w 36"/>
                <a:gd name="T5" fmla="*/ 11 h 37"/>
                <a:gd name="T6" fmla="*/ 23 w 36"/>
                <a:gd name="T7" fmla="*/ 4 h 37"/>
                <a:gd name="T8" fmla="*/ 28 w 36"/>
                <a:gd name="T9" fmla="*/ 9 h 37"/>
                <a:gd name="T10" fmla="*/ 30 w 36"/>
                <a:gd name="T11" fmla="*/ 29 h 37"/>
                <a:gd name="T12" fmla="*/ 10 w 36"/>
                <a:gd name="T13" fmla="*/ 35 h 37"/>
              </a:gdLst>
              <a:ahLst/>
              <a:cxnLst>
                <a:cxn ang="0">
                  <a:pos x="T0" y="T1"/>
                </a:cxn>
                <a:cxn ang="0">
                  <a:pos x="T2" y="T3"/>
                </a:cxn>
                <a:cxn ang="0">
                  <a:pos x="T4" y="T5"/>
                </a:cxn>
                <a:cxn ang="0">
                  <a:pos x="T6" y="T7"/>
                </a:cxn>
                <a:cxn ang="0">
                  <a:pos x="T8" y="T9"/>
                </a:cxn>
                <a:cxn ang="0">
                  <a:pos x="T10" y="T11"/>
                </a:cxn>
                <a:cxn ang="0">
                  <a:pos x="T12" y="T13"/>
                </a:cxn>
              </a:cxnLst>
              <a:rect l="0" t="0" r="r" b="b"/>
              <a:pathLst>
                <a:path w="36" h="37">
                  <a:moveTo>
                    <a:pt x="10" y="35"/>
                  </a:moveTo>
                  <a:cubicBezTo>
                    <a:pt x="3" y="34"/>
                    <a:pt x="7" y="31"/>
                    <a:pt x="6" y="25"/>
                  </a:cubicBezTo>
                  <a:cubicBezTo>
                    <a:pt x="5" y="20"/>
                    <a:pt x="0" y="14"/>
                    <a:pt x="0" y="11"/>
                  </a:cubicBezTo>
                  <a:cubicBezTo>
                    <a:pt x="1" y="0"/>
                    <a:pt x="15" y="0"/>
                    <a:pt x="23" y="4"/>
                  </a:cubicBezTo>
                  <a:cubicBezTo>
                    <a:pt x="25" y="4"/>
                    <a:pt x="26" y="7"/>
                    <a:pt x="28" y="9"/>
                  </a:cubicBezTo>
                  <a:cubicBezTo>
                    <a:pt x="32" y="14"/>
                    <a:pt x="36" y="23"/>
                    <a:pt x="30" y="29"/>
                  </a:cubicBezTo>
                  <a:cubicBezTo>
                    <a:pt x="25" y="34"/>
                    <a:pt x="17" y="37"/>
                    <a:pt x="10" y="35"/>
                  </a:cubicBezTo>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0" name="Freeform 76">
              <a:extLst>
                <a:ext uri="{FF2B5EF4-FFF2-40B4-BE49-F238E27FC236}">
                  <a16:creationId xmlns:a16="http://schemas.microsoft.com/office/drawing/2014/main" id="{27F2E103-1219-4B08-AFAB-E952194DE85A}"/>
                </a:ext>
              </a:extLst>
            </p:cNvPr>
            <p:cNvSpPr>
              <a:spLocks/>
            </p:cNvSpPr>
            <p:nvPr userDrawn="1"/>
          </p:nvSpPr>
          <p:spPr bwMode="auto">
            <a:xfrm>
              <a:off x="1837" y="698"/>
              <a:ext cx="160" cy="165"/>
            </a:xfrm>
            <a:custGeom>
              <a:avLst/>
              <a:gdLst>
                <a:gd name="T0" fmla="*/ 33 w 129"/>
                <a:gd name="T1" fmla="*/ 133 h 133"/>
                <a:gd name="T2" fmla="*/ 32 w 129"/>
                <a:gd name="T3" fmla="*/ 133 h 133"/>
                <a:gd name="T4" fmla="*/ 33 w 129"/>
                <a:gd name="T5" fmla="*/ 130 h 133"/>
                <a:gd name="T6" fmla="*/ 55 w 129"/>
                <a:gd name="T7" fmla="*/ 116 h 133"/>
                <a:gd name="T8" fmla="*/ 67 w 129"/>
                <a:gd name="T9" fmla="*/ 99 h 133"/>
                <a:gd name="T10" fmla="*/ 25 w 129"/>
                <a:gd name="T11" fmla="*/ 115 h 133"/>
                <a:gd name="T12" fmla="*/ 8 w 129"/>
                <a:gd name="T13" fmla="*/ 108 h 133"/>
                <a:gd name="T14" fmla="*/ 8 w 129"/>
                <a:gd name="T15" fmla="*/ 107 h 133"/>
                <a:gd name="T16" fmla="*/ 8 w 129"/>
                <a:gd name="T17" fmla="*/ 92 h 133"/>
                <a:gd name="T18" fmla="*/ 60 w 129"/>
                <a:gd name="T19" fmla="*/ 80 h 133"/>
                <a:gd name="T20" fmla="*/ 75 w 129"/>
                <a:gd name="T21" fmla="*/ 72 h 133"/>
                <a:gd name="T22" fmla="*/ 77 w 129"/>
                <a:gd name="T23" fmla="*/ 14 h 133"/>
                <a:gd name="T24" fmla="*/ 99 w 129"/>
                <a:gd name="T25" fmla="*/ 16 h 133"/>
                <a:gd name="T26" fmla="*/ 103 w 129"/>
                <a:gd name="T27" fmla="*/ 21 h 133"/>
                <a:gd name="T28" fmla="*/ 104 w 129"/>
                <a:gd name="T29" fmla="*/ 21 h 133"/>
                <a:gd name="T30" fmla="*/ 103 w 129"/>
                <a:gd name="T31" fmla="*/ 35 h 133"/>
                <a:gd name="T32" fmla="*/ 98 w 129"/>
                <a:gd name="T33" fmla="*/ 65 h 133"/>
                <a:gd name="T34" fmla="*/ 126 w 129"/>
                <a:gd name="T35" fmla="*/ 54 h 133"/>
                <a:gd name="T36" fmla="*/ 123 w 129"/>
                <a:gd name="T37" fmla="*/ 69 h 133"/>
                <a:gd name="T38" fmla="*/ 95 w 129"/>
                <a:gd name="T39" fmla="*/ 81 h 133"/>
                <a:gd name="T40" fmla="*/ 82 w 129"/>
                <a:gd name="T41" fmla="*/ 111 h 133"/>
                <a:gd name="T42" fmla="*/ 75 w 129"/>
                <a:gd name="T43" fmla="*/ 118 h 133"/>
                <a:gd name="T44" fmla="*/ 56 w 129"/>
                <a:gd name="T45" fmla="*/ 128 h 133"/>
                <a:gd name="T46" fmla="*/ 33 w 129"/>
                <a:gd name="T47" fmla="*/ 13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9" h="133">
                  <a:moveTo>
                    <a:pt x="33" y="133"/>
                  </a:moveTo>
                  <a:cubicBezTo>
                    <a:pt x="33" y="133"/>
                    <a:pt x="33" y="133"/>
                    <a:pt x="32" y="133"/>
                  </a:cubicBezTo>
                  <a:cubicBezTo>
                    <a:pt x="32" y="132"/>
                    <a:pt x="32" y="131"/>
                    <a:pt x="33" y="130"/>
                  </a:cubicBezTo>
                  <a:cubicBezTo>
                    <a:pt x="35" y="130"/>
                    <a:pt x="55" y="117"/>
                    <a:pt x="55" y="116"/>
                  </a:cubicBezTo>
                  <a:cubicBezTo>
                    <a:pt x="60" y="111"/>
                    <a:pt x="66" y="106"/>
                    <a:pt x="67" y="99"/>
                  </a:cubicBezTo>
                  <a:cubicBezTo>
                    <a:pt x="53" y="104"/>
                    <a:pt x="40" y="114"/>
                    <a:pt x="25" y="115"/>
                  </a:cubicBezTo>
                  <a:cubicBezTo>
                    <a:pt x="18" y="113"/>
                    <a:pt x="13" y="110"/>
                    <a:pt x="8" y="108"/>
                  </a:cubicBezTo>
                  <a:cubicBezTo>
                    <a:pt x="8" y="107"/>
                    <a:pt x="8" y="107"/>
                    <a:pt x="8" y="107"/>
                  </a:cubicBezTo>
                  <a:cubicBezTo>
                    <a:pt x="1" y="102"/>
                    <a:pt x="0" y="95"/>
                    <a:pt x="8" y="92"/>
                  </a:cubicBezTo>
                  <a:cubicBezTo>
                    <a:pt x="23" y="96"/>
                    <a:pt x="46" y="85"/>
                    <a:pt x="60" y="80"/>
                  </a:cubicBezTo>
                  <a:cubicBezTo>
                    <a:pt x="63" y="78"/>
                    <a:pt x="72" y="75"/>
                    <a:pt x="75" y="72"/>
                  </a:cubicBezTo>
                  <a:cubicBezTo>
                    <a:pt x="78" y="52"/>
                    <a:pt x="76" y="33"/>
                    <a:pt x="77" y="14"/>
                  </a:cubicBezTo>
                  <a:cubicBezTo>
                    <a:pt x="82" y="0"/>
                    <a:pt x="90" y="10"/>
                    <a:pt x="99" y="16"/>
                  </a:cubicBezTo>
                  <a:cubicBezTo>
                    <a:pt x="99" y="18"/>
                    <a:pt x="101" y="19"/>
                    <a:pt x="103" y="21"/>
                  </a:cubicBezTo>
                  <a:cubicBezTo>
                    <a:pt x="103" y="21"/>
                    <a:pt x="103" y="21"/>
                    <a:pt x="104" y="21"/>
                  </a:cubicBezTo>
                  <a:cubicBezTo>
                    <a:pt x="107" y="27"/>
                    <a:pt x="108" y="30"/>
                    <a:pt x="103" y="35"/>
                  </a:cubicBezTo>
                  <a:cubicBezTo>
                    <a:pt x="99" y="44"/>
                    <a:pt x="97" y="54"/>
                    <a:pt x="98" y="65"/>
                  </a:cubicBezTo>
                  <a:cubicBezTo>
                    <a:pt x="108" y="63"/>
                    <a:pt x="114" y="55"/>
                    <a:pt x="126" y="54"/>
                  </a:cubicBezTo>
                  <a:cubicBezTo>
                    <a:pt x="129" y="60"/>
                    <a:pt x="128" y="65"/>
                    <a:pt x="123" y="69"/>
                  </a:cubicBezTo>
                  <a:cubicBezTo>
                    <a:pt x="114" y="73"/>
                    <a:pt x="105" y="77"/>
                    <a:pt x="95" y="81"/>
                  </a:cubicBezTo>
                  <a:cubicBezTo>
                    <a:pt x="93" y="91"/>
                    <a:pt x="89" y="103"/>
                    <a:pt x="82" y="111"/>
                  </a:cubicBezTo>
                  <a:cubicBezTo>
                    <a:pt x="81" y="113"/>
                    <a:pt x="76" y="117"/>
                    <a:pt x="75" y="118"/>
                  </a:cubicBezTo>
                  <a:cubicBezTo>
                    <a:pt x="69" y="122"/>
                    <a:pt x="63" y="126"/>
                    <a:pt x="56" y="128"/>
                  </a:cubicBezTo>
                  <a:cubicBezTo>
                    <a:pt x="37" y="133"/>
                    <a:pt x="37" y="133"/>
                    <a:pt x="33" y="133"/>
                  </a:cubicBezTo>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1" name="Freeform 77">
              <a:extLst>
                <a:ext uri="{FF2B5EF4-FFF2-40B4-BE49-F238E27FC236}">
                  <a16:creationId xmlns:a16="http://schemas.microsoft.com/office/drawing/2014/main" id="{53C6CDB3-EB59-492C-951E-09DD70013121}"/>
                </a:ext>
              </a:extLst>
            </p:cNvPr>
            <p:cNvSpPr>
              <a:spLocks/>
            </p:cNvSpPr>
            <p:nvPr userDrawn="1"/>
          </p:nvSpPr>
          <p:spPr bwMode="auto">
            <a:xfrm>
              <a:off x="1630" y="796"/>
              <a:ext cx="94" cy="110"/>
            </a:xfrm>
            <a:custGeom>
              <a:avLst/>
              <a:gdLst>
                <a:gd name="T0" fmla="*/ 17 w 76"/>
                <a:gd name="T1" fmla="*/ 88 h 88"/>
                <a:gd name="T2" fmla="*/ 0 w 76"/>
                <a:gd name="T3" fmla="*/ 70 h 88"/>
                <a:gd name="T4" fmla="*/ 2 w 76"/>
                <a:gd name="T5" fmla="*/ 65 h 88"/>
                <a:gd name="T6" fmla="*/ 50 w 76"/>
                <a:gd name="T7" fmla="*/ 26 h 88"/>
                <a:gd name="T8" fmla="*/ 65 w 76"/>
                <a:gd name="T9" fmla="*/ 5 h 88"/>
                <a:gd name="T10" fmla="*/ 66 w 76"/>
                <a:gd name="T11" fmla="*/ 4 h 88"/>
                <a:gd name="T12" fmla="*/ 66 w 76"/>
                <a:gd name="T13" fmla="*/ 4 h 88"/>
                <a:gd name="T14" fmla="*/ 76 w 76"/>
                <a:gd name="T15" fmla="*/ 5 h 88"/>
                <a:gd name="T16" fmla="*/ 65 w 76"/>
                <a:gd name="T17" fmla="*/ 19 h 88"/>
                <a:gd name="T18" fmla="*/ 54 w 76"/>
                <a:gd name="T19" fmla="*/ 43 h 88"/>
                <a:gd name="T20" fmla="*/ 48 w 76"/>
                <a:gd name="T21" fmla="*/ 54 h 88"/>
                <a:gd name="T22" fmla="*/ 35 w 76"/>
                <a:gd name="T23" fmla="*/ 72 h 88"/>
                <a:gd name="T24" fmla="*/ 21 w 76"/>
                <a:gd name="T25" fmla="*/ 87 h 88"/>
                <a:gd name="T26" fmla="*/ 17 w 76"/>
                <a:gd name="T27"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 h="88">
                  <a:moveTo>
                    <a:pt x="17" y="88"/>
                  </a:moveTo>
                  <a:cubicBezTo>
                    <a:pt x="10" y="84"/>
                    <a:pt x="3" y="76"/>
                    <a:pt x="0" y="70"/>
                  </a:cubicBezTo>
                  <a:cubicBezTo>
                    <a:pt x="0" y="69"/>
                    <a:pt x="1" y="67"/>
                    <a:pt x="2" y="65"/>
                  </a:cubicBezTo>
                  <a:cubicBezTo>
                    <a:pt x="18" y="52"/>
                    <a:pt x="35" y="41"/>
                    <a:pt x="50" y="26"/>
                  </a:cubicBezTo>
                  <a:cubicBezTo>
                    <a:pt x="54" y="19"/>
                    <a:pt x="60" y="12"/>
                    <a:pt x="65" y="5"/>
                  </a:cubicBezTo>
                  <a:cubicBezTo>
                    <a:pt x="65" y="5"/>
                    <a:pt x="66" y="5"/>
                    <a:pt x="66" y="4"/>
                  </a:cubicBezTo>
                  <a:cubicBezTo>
                    <a:pt x="66" y="4"/>
                    <a:pt x="66" y="4"/>
                    <a:pt x="66" y="4"/>
                  </a:cubicBezTo>
                  <a:cubicBezTo>
                    <a:pt x="70" y="0"/>
                    <a:pt x="72" y="0"/>
                    <a:pt x="76" y="5"/>
                  </a:cubicBezTo>
                  <a:cubicBezTo>
                    <a:pt x="76" y="10"/>
                    <a:pt x="68" y="14"/>
                    <a:pt x="65" y="19"/>
                  </a:cubicBezTo>
                  <a:cubicBezTo>
                    <a:pt x="62" y="27"/>
                    <a:pt x="58" y="35"/>
                    <a:pt x="54" y="43"/>
                  </a:cubicBezTo>
                  <a:cubicBezTo>
                    <a:pt x="53" y="45"/>
                    <a:pt x="53" y="45"/>
                    <a:pt x="48" y="54"/>
                  </a:cubicBezTo>
                  <a:cubicBezTo>
                    <a:pt x="43" y="57"/>
                    <a:pt x="37" y="66"/>
                    <a:pt x="35" y="72"/>
                  </a:cubicBezTo>
                  <a:cubicBezTo>
                    <a:pt x="29" y="75"/>
                    <a:pt x="27" y="84"/>
                    <a:pt x="21" y="87"/>
                  </a:cubicBezTo>
                  <a:cubicBezTo>
                    <a:pt x="19" y="87"/>
                    <a:pt x="18" y="87"/>
                    <a:pt x="17" y="88"/>
                  </a:cubicBezTo>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2" name="Freeform 78">
              <a:extLst>
                <a:ext uri="{FF2B5EF4-FFF2-40B4-BE49-F238E27FC236}">
                  <a16:creationId xmlns:a16="http://schemas.microsoft.com/office/drawing/2014/main" id="{2FEF08A5-6DF9-4AB5-A5A9-75D060EEA51E}"/>
                </a:ext>
              </a:extLst>
            </p:cNvPr>
            <p:cNvSpPr>
              <a:spLocks/>
            </p:cNvSpPr>
            <p:nvPr userDrawn="1"/>
          </p:nvSpPr>
          <p:spPr bwMode="auto">
            <a:xfrm>
              <a:off x="1749" y="791"/>
              <a:ext cx="53" cy="41"/>
            </a:xfrm>
            <a:custGeom>
              <a:avLst/>
              <a:gdLst>
                <a:gd name="T0" fmla="*/ 19 w 43"/>
                <a:gd name="T1" fmla="*/ 33 h 33"/>
                <a:gd name="T2" fmla="*/ 0 w 43"/>
                <a:gd name="T3" fmla="*/ 20 h 33"/>
                <a:gd name="T4" fmla="*/ 2 w 43"/>
                <a:gd name="T5" fmla="*/ 14 h 33"/>
                <a:gd name="T6" fmla="*/ 6 w 43"/>
                <a:gd name="T7" fmla="*/ 13 h 33"/>
                <a:gd name="T8" fmla="*/ 17 w 43"/>
                <a:gd name="T9" fmla="*/ 12 h 33"/>
                <a:gd name="T10" fmla="*/ 43 w 43"/>
                <a:gd name="T11" fmla="*/ 5 h 33"/>
                <a:gd name="T12" fmla="*/ 19 w 43"/>
                <a:gd name="T13" fmla="*/ 33 h 33"/>
              </a:gdLst>
              <a:ahLst/>
              <a:cxnLst>
                <a:cxn ang="0">
                  <a:pos x="T0" y="T1"/>
                </a:cxn>
                <a:cxn ang="0">
                  <a:pos x="T2" y="T3"/>
                </a:cxn>
                <a:cxn ang="0">
                  <a:pos x="T4" y="T5"/>
                </a:cxn>
                <a:cxn ang="0">
                  <a:pos x="T6" y="T7"/>
                </a:cxn>
                <a:cxn ang="0">
                  <a:pos x="T8" y="T9"/>
                </a:cxn>
                <a:cxn ang="0">
                  <a:pos x="T10" y="T11"/>
                </a:cxn>
                <a:cxn ang="0">
                  <a:pos x="T12" y="T13"/>
                </a:cxn>
              </a:cxnLst>
              <a:rect l="0" t="0" r="r" b="b"/>
              <a:pathLst>
                <a:path w="43" h="33">
                  <a:moveTo>
                    <a:pt x="19" y="33"/>
                  </a:moveTo>
                  <a:cubicBezTo>
                    <a:pt x="9" y="33"/>
                    <a:pt x="6" y="26"/>
                    <a:pt x="0" y="20"/>
                  </a:cubicBezTo>
                  <a:cubicBezTo>
                    <a:pt x="0" y="18"/>
                    <a:pt x="2" y="16"/>
                    <a:pt x="2" y="14"/>
                  </a:cubicBezTo>
                  <a:cubicBezTo>
                    <a:pt x="4" y="14"/>
                    <a:pt x="4" y="14"/>
                    <a:pt x="6" y="13"/>
                  </a:cubicBezTo>
                  <a:cubicBezTo>
                    <a:pt x="10" y="12"/>
                    <a:pt x="12" y="12"/>
                    <a:pt x="17" y="12"/>
                  </a:cubicBezTo>
                  <a:cubicBezTo>
                    <a:pt x="22" y="11"/>
                    <a:pt x="38" y="0"/>
                    <a:pt x="43" y="5"/>
                  </a:cubicBezTo>
                  <a:cubicBezTo>
                    <a:pt x="43" y="17"/>
                    <a:pt x="30" y="30"/>
                    <a:pt x="19" y="33"/>
                  </a:cubicBezTo>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3" name="Freeform 79">
              <a:extLst>
                <a:ext uri="{FF2B5EF4-FFF2-40B4-BE49-F238E27FC236}">
                  <a16:creationId xmlns:a16="http://schemas.microsoft.com/office/drawing/2014/main" id="{9D2D39E7-58A1-4FC8-BC3E-3A297B07B572}"/>
                </a:ext>
              </a:extLst>
            </p:cNvPr>
            <p:cNvSpPr>
              <a:spLocks/>
            </p:cNvSpPr>
            <p:nvPr userDrawn="1"/>
          </p:nvSpPr>
          <p:spPr bwMode="auto">
            <a:xfrm>
              <a:off x="1668" y="766"/>
              <a:ext cx="36" cy="42"/>
            </a:xfrm>
            <a:custGeom>
              <a:avLst/>
              <a:gdLst>
                <a:gd name="T0" fmla="*/ 5 w 29"/>
                <a:gd name="T1" fmla="*/ 34 h 34"/>
                <a:gd name="T2" fmla="*/ 0 w 29"/>
                <a:gd name="T3" fmla="*/ 9 h 34"/>
                <a:gd name="T4" fmla="*/ 19 w 29"/>
                <a:gd name="T5" fmla="*/ 6 h 34"/>
                <a:gd name="T6" fmla="*/ 23 w 29"/>
                <a:gd name="T7" fmla="*/ 26 h 34"/>
                <a:gd name="T8" fmla="*/ 5 w 29"/>
                <a:gd name="T9" fmla="*/ 34 h 34"/>
              </a:gdLst>
              <a:ahLst/>
              <a:cxnLst>
                <a:cxn ang="0">
                  <a:pos x="T0" y="T1"/>
                </a:cxn>
                <a:cxn ang="0">
                  <a:pos x="T2" y="T3"/>
                </a:cxn>
                <a:cxn ang="0">
                  <a:pos x="T4" y="T5"/>
                </a:cxn>
                <a:cxn ang="0">
                  <a:pos x="T6" y="T7"/>
                </a:cxn>
                <a:cxn ang="0">
                  <a:pos x="T8" y="T9"/>
                </a:cxn>
              </a:cxnLst>
              <a:rect l="0" t="0" r="r" b="b"/>
              <a:pathLst>
                <a:path w="29" h="34">
                  <a:moveTo>
                    <a:pt x="5" y="34"/>
                  </a:moveTo>
                  <a:cubicBezTo>
                    <a:pt x="1" y="30"/>
                    <a:pt x="0" y="14"/>
                    <a:pt x="0" y="9"/>
                  </a:cubicBezTo>
                  <a:cubicBezTo>
                    <a:pt x="3" y="0"/>
                    <a:pt x="12" y="0"/>
                    <a:pt x="19" y="6"/>
                  </a:cubicBezTo>
                  <a:cubicBezTo>
                    <a:pt x="25" y="14"/>
                    <a:pt x="29" y="17"/>
                    <a:pt x="23" y="26"/>
                  </a:cubicBezTo>
                  <a:cubicBezTo>
                    <a:pt x="16" y="32"/>
                    <a:pt x="13" y="32"/>
                    <a:pt x="5" y="34"/>
                  </a:cubicBezTo>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4" name="Freeform 80">
              <a:extLst>
                <a:ext uri="{FF2B5EF4-FFF2-40B4-BE49-F238E27FC236}">
                  <a16:creationId xmlns:a16="http://schemas.microsoft.com/office/drawing/2014/main" id="{915E986D-1EF4-42B3-94BB-73A288B91011}"/>
                </a:ext>
              </a:extLst>
            </p:cNvPr>
            <p:cNvSpPr>
              <a:spLocks/>
            </p:cNvSpPr>
            <p:nvPr userDrawn="1"/>
          </p:nvSpPr>
          <p:spPr bwMode="auto">
            <a:xfrm>
              <a:off x="1748" y="739"/>
              <a:ext cx="63" cy="60"/>
            </a:xfrm>
            <a:custGeom>
              <a:avLst/>
              <a:gdLst>
                <a:gd name="T0" fmla="*/ 17 w 51"/>
                <a:gd name="T1" fmla="*/ 48 h 48"/>
                <a:gd name="T2" fmla="*/ 21 w 51"/>
                <a:gd name="T3" fmla="*/ 30 h 48"/>
                <a:gd name="T4" fmla="*/ 13 w 51"/>
                <a:gd name="T5" fmla="*/ 32 h 48"/>
                <a:gd name="T6" fmla="*/ 3 w 51"/>
                <a:gd name="T7" fmla="*/ 15 h 48"/>
                <a:gd name="T8" fmla="*/ 13 w 51"/>
                <a:gd name="T9" fmla="*/ 11 h 48"/>
                <a:gd name="T10" fmla="*/ 33 w 51"/>
                <a:gd name="T11" fmla="*/ 2 h 48"/>
                <a:gd name="T12" fmla="*/ 51 w 51"/>
                <a:gd name="T13" fmla="*/ 18 h 48"/>
                <a:gd name="T14" fmla="*/ 39 w 51"/>
                <a:gd name="T15" fmla="*/ 36 h 48"/>
                <a:gd name="T16" fmla="*/ 22 w 51"/>
                <a:gd name="T17" fmla="*/ 47 h 48"/>
                <a:gd name="T18" fmla="*/ 17 w 51"/>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 h="48">
                  <a:moveTo>
                    <a:pt x="17" y="48"/>
                  </a:moveTo>
                  <a:cubicBezTo>
                    <a:pt x="16" y="43"/>
                    <a:pt x="23" y="33"/>
                    <a:pt x="21" y="30"/>
                  </a:cubicBezTo>
                  <a:cubicBezTo>
                    <a:pt x="18" y="31"/>
                    <a:pt x="16" y="32"/>
                    <a:pt x="13" y="32"/>
                  </a:cubicBezTo>
                  <a:cubicBezTo>
                    <a:pt x="7" y="29"/>
                    <a:pt x="0" y="21"/>
                    <a:pt x="3" y="15"/>
                  </a:cubicBezTo>
                  <a:cubicBezTo>
                    <a:pt x="7" y="10"/>
                    <a:pt x="6" y="12"/>
                    <a:pt x="13" y="11"/>
                  </a:cubicBezTo>
                  <a:cubicBezTo>
                    <a:pt x="19" y="8"/>
                    <a:pt x="26" y="5"/>
                    <a:pt x="33" y="2"/>
                  </a:cubicBezTo>
                  <a:cubicBezTo>
                    <a:pt x="45" y="0"/>
                    <a:pt x="50" y="6"/>
                    <a:pt x="51" y="18"/>
                  </a:cubicBezTo>
                  <a:cubicBezTo>
                    <a:pt x="49" y="25"/>
                    <a:pt x="44" y="31"/>
                    <a:pt x="39" y="36"/>
                  </a:cubicBezTo>
                  <a:cubicBezTo>
                    <a:pt x="33" y="40"/>
                    <a:pt x="27" y="44"/>
                    <a:pt x="22" y="47"/>
                  </a:cubicBezTo>
                  <a:cubicBezTo>
                    <a:pt x="20" y="47"/>
                    <a:pt x="19" y="48"/>
                    <a:pt x="17" y="48"/>
                  </a:cubicBezTo>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5" name="Freeform 81">
              <a:extLst>
                <a:ext uri="{FF2B5EF4-FFF2-40B4-BE49-F238E27FC236}">
                  <a16:creationId xmlns:a16="http://schemas.microsoft.com/office/drawing/2014/main" id="{76BD02E3-0A82-4F7E-B49E-08A3A8C6A62A}"/>
                </a:ext>
              </a:extLst>
            </p:cNvPr>
            <p:cNvSpPr>
              <a:spLocks/>
            </p:cNvSpPr>
            <p:nvPr userDrawn="1"/>
          </p:nvSpPr>
          <p:spPr bwMode="auto">
            <a:xfrm>
              <a:off x="1687" y="715"/>
              <a:ext cx="38" cy="42"/>
            </a:xfrm>
            <a:custGeom>
              <a:avLst/>
              <a:gdLst>
                <a:gd name="T0" fmla="*/ 3 w 31"/>
                <a:gd name="T1" fmla="*/ 34 h 34"/>
                <a:gd name="T2" fmla="*/ 3 w 31"/>
                <a:gd name="T3" fmla="*/ 29 h 34"/>
                <a:gd name="T4" fmla="*/ 0 w 31"/>
                <a:gd name="T5" fmla="*/ 16 h 34"/>
                <a:gd name="T6" fmla="*/ 7 w 31"/>
                <a:gd name="T7" fmla="*/ 0 h 34"/>
                <a:gd name="T8" fmla="*/ 26 w 31"/>
                <a:gd name="T9" fmla="*/ 23 h 34"/>
                <a:gd name="T10" fmla="*/ 3 w 31"/>
                <a:gd name="T11" fmla="*/ 34 h 34"/>
              </a:gdLst>
              <a:ahLst/>
              <a:cxnLst>
                <a:cxn ang="0">
                  <a:pos x="T0" y="T1"/>
                </a:cxn>
                <a:cxn ang="0">
                  <a:pos x="T2" y="T3"/>
                </a:cxn>
                <a:cxn ang="0">
                  <a:pos x="T4" y="T5"/>
                </a:cxn>
                <a:cxn ang="0">
                  <a:pos x="T6" y="T7"/>
                </a:cxn>
                <a:cxn ang="0">
                  <a:pos x="T8" y="T9"/>
                </a:cxn>
                <a:cxn ang="0">
                  <a:pos x="T10" y="T11"/>
                </a:cxn>
              </a:cxnLst>
              <a:rect l="0" t="0" r="r" b="b"/>
              <a:pathLst>
                <a:path w="31" h="34">
                  <a:moveTo>
                    <a:pt x="3" y="34"/>
                  </a:moveTo>
                  <a:cubicBezTo>
                    <a:pt x="1" y="32"/>
                    <a:pt x="2" y="31"/>
                    <a:pt x="3" y="29"/>
                  </a:cubicBezTo>
                  <a:cubicBezTo>
                    <a:pt x="3" y="24"/>
                    <a:pt x="0" y="20"/>
                    <a:pt x="0" y="16"/>
                  </a:cubicBezTo>
                  <a:cubicBezTo>
                    <a:pt x="1" y="7"/>
                    <a:pt x="0" y="4"/>
                    <a:pt x="7" y="0"/>
                  </a:cubicBezTo>
                  <a:cubicBezTo>
                    <a:pt x="12" y="3"/>
                    <a:pt x="31" y="12"/>
                    <a:pt x="26" y="23"/>
                  </a:cubicBezTo>
                  <a:cubicBezTo>
                    <a:pt x="21" y="29"/>
                    <a:pt x="11" y="33"/>
                    <a:pt x="3" y="34"/>
                  </a:cubicBezTo>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6" name="Freeform 82">
              <a:extLst>
                <a:ext uri="{FF2B5EF4-FFF2-40B4-BE49-F238E27FC236}">
                  <a16:creationId xmlns:a16="http://schemas.microsoft.com/office/drawing/2014/main" id="{72D823C7-888B-4B1A-BFC8-5E00FF601B29}"/>
                </a:ext>
              </a:extLst>
            </p:cNvPr>
            <p:cNvSpPr>
              <a:spLocks/>
            </p:cNvSpPr>
            <p:nvPr userDrawn="1"/>
          </p:nvSpPr>
          <p:spPr bwMode="auto">
            <a:xfrm>
              <a:off x="1365" y="728"/>
              <a:ext cx="244" cy="186"/>
            </a:xfrm>
            <a:custGeom>
              <a:avLst/>
              <a:gdLst>
                <a:gd name="T0" fmla="*/ 20 w 197"/>
                <a:gd name="T1" fmla="*/ 150 h 150"/>
                <a:gd name="T2" fmla="*/ 13 w 197"/>
                <a:gd name="T3" fmla="*/ 119 h 150"/>
                <a:gd name="T4" fmla="*/ 17 w 197"/>
                <a:gd name="T5" fmla="*/ 114 h 150"/>
                <a:gd name="T6" fmla="*/ 17 w 197"/>
                <a:gd name="T7" fmla="*/ 113 h 150"/>
                <a:gd name="T8" fmla="*/ 44 w 197"/>
                <a:gd name="T9" fmla="*/ 77 h 150"/>
                <a:gd name="T10" fmla="*/ 52 w 197"/>
                <a:gd name="T11" fmla="*/ 67 h 150"/>
                <a:gd name="T12" fmla="*/ 53 w 197"/>
                <a:gd name="T13" fmla="*/ 78 h 150"/>
                <a:gd name="T14" fmla="*/ 60 w 197"/>
                <a:gd name="T15" fmla="*/ 77 h 150"/>
                <a:gd name="T16" fmla="*/ 85 w 197"/>
                <a:gd name="T17" fmla="*/ 58 h 150"/>
                <a:gd name="T18" fmla="*/ 87 w 197"/>
                <a:gd name="T19" fmla="*/ 48 h 150"/>
                <a:gd name="T20" fmla="*/ 68 w 197"/>
                <a:gd name="T21" fmla="*/ 44 h 150"/>
                <a:gd name="T22" fmla="*/ 88 w 197"/>
                <a:gd name="T23" fmla="*/ 29 h 150"/>
                <a:gd name="T24" fmla="*/ 92 w 197"/>
                <a:gd name="T25" fmla="*/ 9 h 150"/>
                <a:gd name="T26" fmla="*/ 109 w 197"/>
                <a:gd name="T27" fmla="*/ 22 h 150"/>
                <a:gd name="T28" fmla="*/ 110 w 197"/>
                <a:gd name="T29" fmla="*/ 37 h 150"/>
                <a:gd name="T30" fmla="*/ 108 w 197"/>
                <a:gd name="T31" fmla="*/ 46 h 150"/>
                <a:gd name="T32" fmla="*/ 111 w 197"/>
                <a:gd name="T33" fmla="*/ 46 h 150"/>
                <a:gd name="T34" fmla="*/ 131 w 197"/>
                <a:gd name="T35" fmla="*/ 32 h 150"/>
                <a:gd name="T36" fmla="*/ 140 w 197"/>
                <a:gd name="T37" fmla="*/ 5 h 150"/>
                <a:gd name="T38" fmla="*/ 163 w 197"/>
                <a:gd name="T39" fmla="*/ 11 h 150"/>
                <a:gd name="T40" fmla="*/ 176 w 197"/>
                <a:gd name="T41" fmla="*/ 5 h 150"/>
                <a:gd name="T42" fmla="*/ 182 w 197"/>
                <a:gd name="T43" fmla="*/ 4 h 150"/>
                <a:gd name="T44" fmla="*/ 184 w 197"/>
                <a:gd name="T45" fmla="*/ 13 h 150"/>
                <a:gd name="T46" fmla="*/ 157 w 197"/>
                <a:gd name="T47" fmla="*/ 39 h 150"/>
                <a:gd name="T48" fmla="*/ 166 w 197"/>
                <a:gd name="T49" fmla="*/ 29 h 150"/>
                <a:gd name="T50" fmla="*/ 190 w 197"/>
                <a:gd name="T51" fmla="*/ 34 h 150"/>
                <a:gd name="T52" fmla="*/ 184 w 197"/>
                <a:gd name="T53" fmla="*/ 50 h 150"/>
                <a:gd name="T54" fmla="*/ 182 w 197"/>
                <a:gd name="T55" fmla="*/ 54 h 150"/>
                <a:gd name="T56" fmla="*/ 182 w 197"/>
                <a:gd name="T57" fmla="*/ 93 h 150"/>
                <a:gd name="T58" fmla="*/ 173 w 197"/>
                <a:gd name="T59" fmla="*/ 107 h 150"/>
                <a:gd name="T60" fmla="*/ 173 w 197"/>
                <a:gd name="T61" fmla="*/ 107 h 150"/>
                <a:gd name="T62" fmla="*/ 172 w 197"/>
                <a:gd name="T63" fmla="*/ 107 h 150"/>
                <a:gd name="T64" fmla="*/ 158 w 197"/>
                <a:gd name="T65" fmla="*/ 113 h 150"/>
                <a:gd name="T66" fmla="*/ 158 w 197"/>
                <a:gd name="T67" fmla="*/ 58 h 150"/>
                <a:gd name="T68" fmla="*/ 157 w 197"/>
                <a:gd name="T69" fmla="*/ 58 h 150"/>
                <a:gd name="T70" fmla="*/ 139 w 197"/>
                <a:gd name="T71" fmla="*/ 89 h 150"/>
                <a:gd name="T72" fmla="*/ 124 w 197"/>
                <a:gd name="T73" fmla="*/ 80 h 150"/>
                <a:gd name="T74" fmla="*/ 128 w 197"/>
                <a:gd name="T75" fmla="*/ 76 h 150"/>
                <a:gd name="T76" fmla="*/ 130 w 197"/>
                <a:gd name="T77" fmla="*/ 45 h 150"/>
                <a:gd name="T78" fmla="*/ 111 w 197"/>
                <a:gd name="T79" fmla="*/ 64 h 150"/>
                <a:gd name="T80" fmla="*/ 102 w 197"/>
                <a:gd name="T81" fmla="*/ 70 h 150"/>
                <a:gd name="T82" fmla="*/ 97 w 197"/>
                <a:gd name="T83" fmla="*/ 91 h 150"/>
                <a:gd name="T84" fmla="*/ 92 w 197"/>
                <a:gd name="T85" fmla="*/ 101 h 150"/>
                <a:gd name="T86" fmla="*/ 91 w 197"/>
                <a:gd name="T87" fmla="*/ 102 h 150"/>
                <a:gd name="T88" fmla="*/ 74 w 197"/>
                <a:gd name="T89" fmla="*/ 110 h 150"/>
                <a:gd name="T90" fmla="*/ 74 w 197"/>
                <a:gd name="T91" fmla="*/ 107 h 150"/>
                <a:gd name="T92" fmla="*/ 82 w 197"/>
                <a:gd name="T93" fmla="*/ 85 h 150"/>
                <a:gd name="T94" fmla="*/ 63 w 197"/>
                <a:gd name="T95" fmla="*/ 94 h 150"/>
                <a:gd name="T96" fmla="*/ 53 w 197"/>
                <a:gd name="T97" fmla="*/ 91 h 150"/>
                <a:gd name="T98" fmla="*/ 52 w 197"/>
                <a:gd name="T99" fmla="*/ 90 h 150"/>
                <a:gd name="T100" fmla="*/ 48 w 197"/>
                <a:gd name="T101" fmla="*/ 88 h 150"/>
                <a:gd name="T102" fmla="*/ 44 w 197"/>
                <a:gd name="T103" fmla="*/ 100 h 150"/>
                <a:gd name="T104" fmla="*/ 27 w 197"/>
                <a:gd name="T105" fmla="*/ 147 h 150"/>
                <a:gd name="T106" fmla="*/ 20 w 197"/>
                <a:gd name="T107"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7" h="150">
                  <a:moveTo>
                    <a:pt x="20" y="150"/>
                  </a:moveTo>
                  <a:cubicBezTo>
                    <a:pt x="9" y="146"/>
                    <a:pt x="0" y="124"/>
                    <a:pt x="13" y="119"/>
                  </a:cubicBezTo>
                  <a:cubicBezTo>
                    <a:pt x="13" y="117"/>
                    <a:pt x="15" y="115"/>
                    <a:pt x="17" y="114"/>
                  </a:cubicBezTo>
                  <a:cubicBezTo>
                    <a:pt x="17" y="114"/>
                    <a:pt x="17" y="113"/>
                    <a:pt x="17" y="113"/>
                  </a:cubicBezTo>
                  <a:cubicBezTo>
                    <a:pt x="27" y="103"/>
                    <a:pt x="35" y="88"/>
                    <a:pt x="44" y="77"/>
                  </a:cubicBezTo>
                  <a:cubicBezTo>
                    <a:pt x="46" y="72"/>
                    <a:pt x="47" y="68"/>
                    <a:pt x="52" y="67"/>
                  </a:cubicBezTo>
                  <a:cubicBezTo>
                    <a:pt x="55" y="69"/>
                    <a:pt x="54" y="74"/>
                    <a:pt x="53" y="78"/>
                  </a:cubicBezTo>
                  <a:cubicBezTo>
                    <a:pt x="54" y="79"/>
                    <a:pt x="58" y="78"/>
                    <a:pt x="60" y="77"/>
                  </a:cubicBezTo>
                  <a:cubicBezTo>
                    <a:pt x="68" y="71"/>
                    <a:pt x="78" y="65"/>
                    <a:pt x="85" y="58"/>
                  </a:cubicBezTo>
                  <a:cubicBezTo>
                    <a:pt x="86" y="55"/>
                    <a:pt x="86" y="52"/>
                    <a:pt x="87" y="48"/>
                  </a:cubicBezTo>
                  <a:cubicBezTo>
                    <a:pt x="81" y="50"/>
                    <a:pt x="64" y="54"/>
                    <a:pt x="68" y="44"/>
                  </a:cubicBezTo>
                  <a:cubicBezTo>
                    <a:pt x="75" y="41"/>
                    <a:pt x="84" y="36"/>
                    <a:pt x="88" y="29"/>
                  </a:cubicBezTo>
                  <a:cubicBezTo>
                    <a:pt x="90" y="22"/>
                    <a:pt x="89" y="14"/>
                    <a:pt x="92" y="9"/>
                  </a:cubicBezTo>
                  <a:cubicBezTo>
                    <a:pt x="99" y="5"/>
                    <a:pt x="108" y="14"/>
                    <a:pt x="109" y="22"/>
                  </a:cubicBezTo>
                  <a:cubicBezTo>
                    <a:pt x="112" y="27"/>
                    <a:pt x="121" y="21"/>
                    <a:pt x="110" y="37"/>
                  </a:cubicBezTo>
                  <a:cubicBezTo>
                    <a:pt x="108" y="39"/>
                    <a:pt x="108" y="42"/>
                    <a:pt x="108" y="46"/>
                  </a:cubicBezTo>
                  <a:cubicBezTo>
                    <a:pt x="109" y="46"/>
                    <a:pt x="110" y="46"/>
                    <a:pt x="111" y="46"/>
                  </a:cubicBezTo>
                  <a:cubicBezTo>
                    <a:pt x="117" y="41"/>
                    <a:pt x="124" y="36"/>
                    <a:pt x="131" y="32"/>
                  </a:cubicBezTo>
                  <a:cubicBezTo>
                    <a:pt x="133" y="22"/>
                    <a:pt x="135" y="14"/>
                    <a:pt x="140" y="5"/>
                  </a:cubicBezTo>
                  <a:cubicBezTo>
                    <a:pt x="147" y="0"/>
                    <a:pt x="156" y="5"/>
                    <a:pt x="163" y="11"/>
                  </a:cubicBezTo>
                  <a:cubicBezTo>
                    <a:pt x="168" y="11"/>
                    <a:pt x="172" y="8"/>
                    <a:pt x="176" y="5"/>
                  </a:cubicBezTo>
                  <a:cubicBezTo>
                    <a:pt x="178" y="4"/>
                    <a:pt x="178" y="4"/>
                    <a:pt x="182" y="4"/>
                  </a:cubicBezTo>
                  <a:cubicBezTo>
                    <a:pt x="183" y="7"/>
                    <a:pt x="184" y="9"/>
                    <a:pt x="184" y="13"/>
                  </a:cubicBezTo>
                  <a:cubicBezTo>
                    <a:pt x="181" y="24"/>
                    <a:pt x="151" y="27"/>
                    <a:pt x="157" y="39"/>
                  </a:cubicBezTo>
                  <a:cubicBezTo>
                    <a:pt x="162" y="39"/>
                    <a:pt x="164" y="33"/>
                    <a:pt x="166" y="29"/>
                  </a:cubicBezTo>
                  <a:cubicBezTo>
                    <a:pt x="171" y="26"/>
                    <a:pt x="184" y="30"/>
                    <a:pt x="190" y="34"/>
                  </a:cubicBezTo>
                  <a:cubicBezTo>
                    <a:pt x="197" y="42"/>
                    <a:pt x="192" y="45"/>
                    <a:pt x="184" y="50"/>
                  </a:cubicBezTo>
                  <a:cubicBezTo>
                    <a:pt x="183" y="52"/>
                    <a:pt x="183" y="53"/>
                    <a:pt x="182" y="54"/>
                  </a:cubicBezTo>
                  <a:cubicBezTo>
                    <a:pt x="181" y="70"/>
                    <a:pt x="181" y="70"/>
                    <a:pt x="182" y="93"/>
                  </a:cubicBezTo>
                  <a:cubicBezTo>
                    <a:pt x="179" y="99"/>
                    <a:pt x="177" y="102"/>
                    <a:pt x="173" y="107"/>
                  </a:cubicBezTo>
                  <a:cubicBezTo>
                    <a:pt x="173" y="107"/>
                    <a:pt x="173" y="107"/>
                    <a:pt x="173" y="107"/>
                  </a:cubicBezTo>
                  <a:cubicBezTo>
                    <a:pt x="172" y="107"/>
                    <a:pt x="172" y="107"/>
                    <a:pt x="172" y="107"/>
                  </a:cubicBezTo>
                  <a:cubicBezTo>
                    <a:pt x="169" y="112"/>
                    <a:pt x="162" y="117"/>
                    <a:pt x="158" y="113"/>
                  </a:cubicBezTo>
                  <a:cubicBezTo>
                    <a:pt x="158" y="94"/>
                    <a:pt x="159" y="75"/>
                    <a:pt x="158" y="58"/>
                  </a:cubicBezTo>
                  <a:cubicBezTo>
                    <a:pt x="158" y="58"/>
                    <a:pt x="157" y="58"/>
                    <a:pt x="157" y="58"/>
                  </a:cubicBezTo>
                  <a:cubicBezTo>
                    <a:pt x="156" y="67"/>
                    <a:pt x="147" y="84"/>
                    <a:pt x="139" y="89"/>
                  </a:cubicBezTo>
                  <a:cubicBezTo>
                    <a:pt x="132" y="90"/>
                    <a:pt x="126" y="86"/>
                    <a:pt x="124" y="80"/>
                  </a:cubicBezTo>
                  <a:cubicBezTo>
                    <a:pt x="125" y="78"/>
                    <a:pt x="126" y="77"/>
                    <a:pt x="128" y="76"/>
                  </a:cubicBezTo>
                  <a:cubicBezTo>
                    <a:pt x="132" y="68"/>
                    <a:pt x="130" y="53"/>
                    <a:pt x="130" y="45"/>
                  </a:cubicBezTo>
                  <a:cubicBezTo>
                    <a:pt x="125" y="46"/>
                    <a:pt x="115" y="59"/>
                    <a:pt x="111" y="64"/>
                  </a:cubicBezTo>
                  <a:cubicBezTo>
                    <a:pt x="108" y="66"/>
                    <a:pt x="105" y="68"/>
                    <a:pt x="102" y="70"/>
                  </a:cubicBezTo>
                  <a:cubicBezTo>
                    <a:pt x="100" y="77"/>
                    <a:pt x="98" y="84"/>
                    <a:pt x="97" y="91"/>
                  </a:cubicBezTo>
                  <a:cubicBezTo>
                    <a:pt x="95" y="95"/>
                    <a:pt x="93" y="98"/>
                    <a:pt x="92" y="101"/>
                  </a:cubicBezTo>
                  <a:cubicBezTo>
                    <a:pt x="91" y="101"/>
                    <a:pt x="91" y="101"/>
                    <a:pt x="91" y="102"/>
                  </a:cubicBezTo>
                  <a:cubicBezTo>
                    <a:pt x="88" y="106"/>
                    <a:pt x="80" y="118"/>
                    <a:pt x="74" y="110"/>
                  </a:cubicBezTo>
                  <a:cubicBezTo>
                    <a:pt x="74" y="109"/>
                    <a:pt x="74" y="108"/>
                    <a:pt x="74" y="107"/>
                  </a:cubicBezTo>
                  <a:cubicBezTo>
                    <a:pt x="79" y="101"/>
                    <a:pt x="82" y="92"/>
                    <a:pt x="82" y="85"/>
                  </a:cubicBezTo>
                  <a:cubicBezTo>
                    <a:pt x="75" y="87"/>
                    <a:pt x="70" y="94"/>
                    <a:pt x="63" y="94"/>
                  </a:cubicBezTo>
                  <a:cubicBezTo>
                    <a:pt x="59" y="93"/>
                    <a:pt x="55" y="92"/>
                    <a:pt x="53" y="91"/>
                  </a:cubicBezTo>
                  <a:cubicBezTo>
                    <a:pt x="53" y="90"/>
                    <a:pt x="53" y="90"/>
                    <a:pt x="52" y="90"/>
                  </a:cubicBezTo>
                  <a:cubicBezTo>
                    <a:pt x="51" y="89"/>
                    <a:pt x="49" y="87"/>
                    <a:pt x="48" y="88"/>
                  </a:cubicBezTo>
                  <a:cubicBezTo>
                    <a:pt x="47" y="91"/>
                    <a:pt x="45" y="96"/>
                    <a:pt x="44" y="100"/>
                  </a:cubicBezTo>
                  <a:cubicBezTo>
                    <a:pt x="37" y="115"/>
                    <a:pt x="32" y="130"/>
                    <a:pt x="27" y="147"/>
                  </a:cubicBezTo>
                  <a:cubicBezTo>
                    <a:pt x="24" y="149"/>
                    <a:pt x="23" y="150"/>
                    <a:pt x="20" y="150"/>
                  </a:cubicBezTo>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7" name="Freeform 83">
              <a:extLst>
                <a:ext uri="{FF2B5EF4-FFF2-40B4-BE49-F238E27FC236}">
                  <a16:creationId xmlns:a16="http://schemas.microsoft.com/office/drawing/2014/main" id="{4AC02DF5-F283-49BB-8E72-C9328F2686FE}"/>
                </a:ext>
              </a:extLst>
            </p:cNvPr>
            <p:cNvSpPr>
              <a:spLocks/>
            </p:cNvSpPr>
            <p:nvPr userDrawn="1"/>
          </p:nvSpPr>
          <p:spPr bwMode="auto">
            <a:xfrm>
              <a:off x="1401" y="757"/>
              <a:ext cx="37" cy="49"/>
            </a:xfrm>
            <a:custGeom>
              <a:avLst/>
              <a:gdLst>
                <a:gd name="T0" fmla="*/ 5 w 30"/>
                <a:gd name="T1" fmla="*/ 39 h 39"/>
                <a:gd name="T2" fmla="*/ 6 w 30"/>
                <a:gd name="T3" fmla="*/ 28 h 39"/>
                <a:gd name="T4" fmla="*/ 6 w 30"/>
                <a:gd name="T5" fmla="*/ 1 h 39"/>
                <a:gd name="T6" fmla="*/ 10 w 30"/>
                <a:gd name="T7" fmla="*/ 0 h 39"/>
                <a:gd name="T8" fmla="*/ 25 w 30"/>
                <a:gd name="T9" fmla="*/ 17 h 39"/>
                <a:gd name="T10" fmla="*/ 5 w 30"/>
                <a:gd name="T11" fmla="*/ 39 h 39"/>
              </a:gdLst>
              <a:ahLst/>
              <a:cxnLst>
                <a:cxn ang="0">
                  <a:pos x="T0" y="T1"/>
                </a:cxn>
                <a:cxn ang="0">
                  <a:pos x="T2" y="T3"/>
                </a:cxn>
                <a:cxn ang="0">
                  <a:pos x="T4" y="T5"/>
                </a:cxn>
                <a:cxn ang="0">
                  <a:pos x="T6" y="T7"/>
                </a:cxn>
                <a:cxn ang="0">
                  <a:pos x="T8" y="T9"/>
                </a:cxn>
                <a:cxn ang="0">
                  <a:pos x="T10" y="T11"/>
                </a:cxn>
              </a:cxnLst>
              <a:rect l="0" t="0" r="r" b="b"/>
              <a:pathLst>
                <a:path w="30" h="39">
                  <a:moveTo>
                    <a:pt x="5" y="39"/>
                  </a:moveTo>
                  <a:cubicBezTo>
                    <a:pt x="3" y="35"/>
                    <a:pt x="6" y="31"/>
                    <a:pt x="6" y="28"/>
                  </a:cubicBezTo>
                  <a:cubicBezTo>
                    <a:pt x="3" y="17"/>
                    <a:pt x="0" y="9"/>
                    <a:pt x="6" y="1"/>
                  </a:cubicBezTo>
                  <a:cubicBezTo>
                    <a:pt x="7" y="0"/>
                    <a:pt x="9" y="0"/>
                    <a:pt x="10" y="0"/>
                  </a:cubicBezTo>
                  <a:cubicBezTo>
                    <a:pt x="14" y="4"/>
                    <a:pt x="21" y="11"/>
                    <a:pt x="25" y="17"/>
                  </a:cubicBezTo>
                  <a:cubicBezTo>
                    <a:pt x="30" y="29"/>
                    <a:pt x="14" y="35"/>
                    <a:pt x="5" y="39"/>
                  </a:cubicBezTo>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8" name="Freeform 84">
              <a:extLst>
                <a:ext uri="{FF2B5EF4-FFF2-40B4-BE49-F238E27FC236}">
                  <a16:creationId xmlns:a16="http://schemas.microsoft.com/office/drawing/2014/main" id="{9916BE3C-9CFD-4E8D-A180-F8DF74C6F4B3}"/>
                </a:ext>
              </a:extLst>
            </p:cNvPr>
            <p:cNvSpPr>
              <a:spLocks/>
            </p:cNvSpPr>
            <p:nvPr userDrawn="1"/>
          </p:nvSpPr>
          <p:spPr bwMode="auto">
            <a:xfrm>
              <a:off x="1411" y="708"/>
              <a:ext cx="46" cy="47"/>
            </a:xfrm>
            <a:custGeom>
              <a:avLst/>
              <a:gdLst>
                <a:gd name="T0" fmla="*/ 7 w 37"/>
                <a:gd name="T1" fmla="*/ 38 h 38"/>
                <a:gd name="T2" fmla="*/ 4 w 37"/>
                <a:gd name="T3" fmla="*/ 36 h 38"/>
                <a:gd name="T4" fmla="*/ 6 w 37"/>
                <a:gd name="T5" fmla="*/ 29 h 38"/>
                <a:gd name="T6" fmla="*/ 11 w 37"/>
                <a:gd name="T7" fmla="*/ 0 h 38"/>
                <a:gd name="T8" fmla="*/ 16 w 37"/>
                <a:gd name="T9" fmla="*/ 7 h 38"/>
                <a:gd name="T10" fmla="*/ 24 w 37"/>
                <a:gd name="T11" fmla="*/ 32 h 38"/>
                <a:gd name="T12" fmla="*/ 7 w 37"/>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37" h="38">
                  <a:moveTo>
                    <a:pt x="7" y="38"/>
                  </a:moveTo>
                  <a:cubicBezTo>
                    <a:pt x="5" y="37"/>
                    <a:pt x="5" y="37"/>
                    <a:pt x="4" y="36"/>
                  </a:cubicBezTo>
                  <a:cubicBezTo>
                    <a:pt x="6" y="33"/>
                    <a:pt x="7" y="32"/>
                    <a:pt x="6" y="29"/>
                  </a:cubicBezTo>
                  <a:cubicBezTo>
                    <a:pt x="0" y="20"/>
                    <a:pt x="0" y="5"/>
                    <a:pt x="11" y="0"/>
                  </a:cubicBezTo>
                  <a:cubicBezTo>
                    <a:pt x="14" y="0"/>
                    <a:pt x="15" y="3"/>
                    <a:pt x="16" y="7"/>
                  </a:cubicBezTo>
                  <a:cubicBezTo>
                    <a:pt x="23" y="14"/>
                    <a:pt x="37" y="23"/>
                    <a:pt x="24" y="32"/>
                  </a:cubicBezTo>
                  <a:cubicBezTo>
                    <a:pt x="18" y="35"/>
                    <a:pt x="13" y="36"/>
                    <a:pt x="7" y="38"/>
                  </a:cubicBezTo>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9" name="Freeform 85">
              <a:extLst>
                <a:ext uri="{FF2B5EF4-FFF2-40B4-BE49-F238E27FC236}">
                  <a16:creationId xmlns:a16="http://schemas.microsoft.com/office/drawing/2014/main" id="{88769C33-8DE2-46FA-AE8E-1223ED2C4309}"/>
                </a:ext>
              </a:extLst>
            </p:cNvPr>
            <p:cNvSpPr>
              <a:spLocks/>
            </p:cNvSpPr>
            <p:nvPr userDrawn="1"/>
          </p:nvSpPr>
          <p:spPr bwMode="auto">
            <a:xfrm>
              <a:off x="2067" y="765"/>
              <a:ext cx="26" cy="39"/>
            </a:xfrm>
            <a:custGeom>
              <a:avLst/>
              <a:gdLst>
                <a:gd name="T0" fmla="*/ 10 w 21"/>
                <a:gd name="T1" fmla="*/ 31 h 31"/>
                <a:gd name="T2" fmla="*/ 3 w 21"/>
                <a:gd name="T3" fmla="*/ 4 h 31"/>
                <a:gd name="T4" fmla="*/ 21 w 21"/>
                <a:gd name="T5" fmla="*/ 18 h 31"/>
                <a:gd name="T6" fmla="*/ 10 w 21"/>
                <a:gd name="T7" fmla="*/ 31 h 31"/>
              </a:gdLst>
              <a:ahLst/>
              <a:cxnLst>
                <a:cxn ang="0">
                  <a:pos x="T0" y="T1"/>
                </a:cxn>
                <a:cxn ang="0">
                  <a:pos x="T2" y="T3"/>
                </a:cxn>
                <a:cxn ang="0">
                  <a:pos x="T4" y="T5"/>
                </a:cxn>
                <a:cxn ang="0">
                  <a:pos x="T6" y="T7"/>
                </a:cxn>
              </a:cxnLst>
              <a:rect l="0" t="0" r="r" b="b"/>
              <a:pathLst>
                <a:path w="21" h="31">
                  <a:moveTo>
                    <a:pt x="10" y="31"/>
                  </a:moveTo>
                  <a:cubicBezTo>
                    <a:pt x="0" y="27"/>
                    <a:pt x="2" y="11"/>
                    <a:pt x="3" y="4"/>
                  </a:cubicBezTo>
                  <a:cubicBezTo>
                    <a:pt x="11" y="0"/>
                    <a:pt x="20" y="9"/>
                    <a:pt x="21" y="18"/>
                  </a:cubicBezTo>
                  <a:cubicBezTo>
                    <a:pt x="19" y="27"/>
                    <a:pt x="19" y="29"/>
                    <a:pt x="10" y="31"/>
                  </a:cubicBezTo>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0" name="Freeform 86">
              <a:extLst>
                <a:ext uri="{FF2B5EF4-FFF2-40B4-BE49-F238E27FC236}">
                  <a16:creationId xmlns:a16="http://schemas.microsoft.com/office/drawing/2014/main" id="{0CE95D69-B4C5-4145-932B-021143A6B2EE}"/>
                </a:ext>
              </a:extLst>
            </p:cNvPr>
            <p:cNvSpPr>
              <a:spLocks noEditPoints="1"/>
            </p:cNvSpPr>
            <p:nvPr userDrawn="1"/>
          </p:nvSpPr>
          <p:spPr bwMode="auto">
            <a:xfrm>
              <a:off x="2057" y="673"/>
              <a:ext cx="166" cy="224"/>
            </a:xfrm>
            <a:custGeom>
              <a:avLst/>
              <a:gdLst>
                <a:gd name="T0" fmla="*/ 71 w 134"/>
                <a:gd name="T1" fmla="*/ 180 h 180"/>
                <a:gd name="T2" fmla="*/ 34 w 134"/>
                <a:gd name="T3" fmla="*/ 173 h 180"/>
                <a:gd name="T4" fmla="*/ 56 w 134"/>
                <a:gd name="T5" fmla="*/ 148 h 180"/>
                <a:gd name="T6" fmla="*/ 0 w 134"/>
                <a:gd name="T7" fmla="*/ 147 h 180"/>
                <a:gd name="T8" fmla="*/ 56 w 134"/>
                <a:gd name="T9" fmla="*/ 124 h 180"/>
                <a:gd name="T10" fmla="*/ 75 w 134"/>
                <a:gd name="T11" fmla="*/ 108 h 180"/>
                <a:gd name="T12" fmla="*/ 91 w 134"/>
                <a:gd name="T13" fmla="*/ 96 h 180"/>
                <a:gd name="T14" fmla="*/ 32 w 134"/>
                <a:gd name="T15" fmla="*/ 119 h 180"/>
                <a:gd name="T16" fmla="*/ 34 w 134"/>
                <a:gd name="T17" fmla="*/ 108 h 180"/>
                <a:gd name="T18" fmla="*/ 73 w 134"/>
                <a:gd name="T19" fmla="*/ 81 h 180"/>
                <a:gd name="T20" fmla="*/ 71 w 134"/>
                <a:gd name="T21" fmla="*/ 78 h 180"/>
                <a:gd name="T22" fmla="*/ 39 w 134"/>
                <a:gd name="T23" fmla="*/ 93 h 180"/>
                <a:gd name="T24" fmla="*/ 27 w 134"/>
                <a:gd name="T25" fmla="*/ 61 h 180"/>
                <a:gd name="T26" fmla="*/ 33 w 134"/>
                <a:gd name="T27" fmla="*/ 44 h 180"/>
                <a:gd name="T28" fmla="*/ 46 w 134"/>
                <a:gd name="T29" fmla="*/ 56 h 180"/>
                <a:gd name="T30" fmla="*/ 60 w 134"/>
                <a:gd name="T31" fmla="*/ 66 h 180"/>
                <a:gd name="T32" fmla="*/ 68 w 134"/>
                <a:gd name="T33" fmla="*/ 55 h 180"/>
                <a:gd name="T34" fmla="*/ 64 w 134"/>
                <a:gd name="T35" fmla="*/ 45 h 180"/>
                <a:gd name="T36" fmla="*/ 84 w 134"/>
                <a:gd name="T37" fmla="*/ 25 h 180"/>
                <a:gd name="T38" fmla="*/ 111 w 134"/>
                <a:gd name="T39" fmla="*/ 20 h 180"/>
                <a:gd name="T40" fmla="*/ 110 w 134"/>
                <a:gd name="T41" fmla="*/ 29 h 180"/>
                <a:gd name="T42" fmla="*/ 132 w 134"/>
                <a:gd name="T43" fmla="*/ 44 h 180"/>
                <a:gd name="T44" fmla="*/ 115 w 134"/>
                <a:gd name="T45" fmla="*/ 77 h 180"/>
                <a:gd name="T46" fmla="*/ 120 w 134"/>
                <a:gd name="T47" fmla="*/ 94 h 180"/>
                <a:gd name="T48" fmla="*/ 78 w 134"/>
                <a:gd name="T49" fmla="*/ 114 h 180"/>
                <a:gd name="T50" fmla="*/ 92 w 134"/>
                <a:gd name="T51" fmla="*/ 119 h 180"/>
                <a:gd name="T52" fmla="*/ 81 w 134"/>
                <a:gd name="T53" fmla="*/ 140 h 180"/>
                <a:gd name="T54" fmla="*/ 72 w 134"/>
                <a:gd name="T55" fmla="*/ 180 h 180"/>
                <a:gd name="T56" fmla="*/ 106 w 134"/>
                <a:gd name="T57" fmla="*/ 53 h 180"/>
                <a:gd name="T58" fmla="*/ 87 w 134"/>
                <a:gd name="T59" fmla="*/ 59 h 180"/>
                <a:gd name="T60" fmla="*/ 87 w 134"/>
                <a:gd name="T61" fmla="*/ 60 h 180"/>
                <a:gd name="T62" fmla="*/ 92 w 134"/>
                <a:gd name="T63" fmla="*/ 58 h 180"/>
                <a:gd name="T64" fmla="*/ 99 w 134"/>
                <a:gd name="T65" fmla="*/ 67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4" h="180">
                  <a:moveTo>
                    <a:pt x="72" y="180"/>
                  </a:moveTo>
                  <a:cubicBezTo>
                    <a:pt x="71" y="180"/>
                    <a:pt x="71" y="180"/>
                    <a:pt x="71" y="180"/>
                  </a:cubicBezTo>
                  <a:cubicBezTo>
                    <a:pt x="58" y="180"/>
                    <a:pt x="46" y="179"/>
                    <a:pt x="34" y="175"/>
                  </a:cubicBezTo>
                  <a:cubicBezTo>
                    <a:pt x="34" y="174"/>
                    <a:pt x="34" y="174"/>
                    <a:pt x="34" y="173"/>
                  </a:cubicBezTo>
                  <a:cubicBezTo>
                    <a:pt x="41" y="169"/>
                    <a:pt x="50" y="170"/>
                    <a:pt x="55" y="163"/>
                  </a:cubicBezTo>
                  <a:cubicBezTo>
                    <a:pt x="56" y="157"/>
                    <a:pt x="57" y="152"/>
                    <a:pt x="56" y="148"/>
                  </a:cubicBezTo>
                  <a:cubicBezTo>
                    <a:pt x="43" y="148"/>
                    <a:pt x="37" y="157"/>
                    <a:pt x="27" y="161"/>
                  </a:cubicBezTo>
                  <a:cubicBezTo>
                    <a:pt x="18" y="162"/>
                    <a:pt x="3" y="154"/>
                    <a:pt x="0" y="147"/>
                  </a:cubicBezTo>
                  <a:cubicBezTo>
                    <a:pt x="0" y="136"/>
                    <a:pt x="3" y="141"/>
                    <a:pt x="14" y="140"/>
                  </a:cubicBezTo>
                  <a:cubicBezTo>
                    <a:pt x="28" y="138"/>
                    <a:pt x="43" y="130"/>
                    <a:pt x="56" y="124"/>
                  </a:cubicBezTo>
                  <a:cubicBezTo>
                    <a:pt x="59" y="121"/>
                    <a:pt x="59" y="121"/>
                    <a:pt x="61" y="121"/>
                  </a:cubicBezTo>
                  <a:cubicBezTo>
                    <a:pt x="64" y="112"/>
                    <a:pt x="66" y="110"/>
                    <a:pt x="75" y="108"/>
                  </a:cubicBezTo>
                  <a:cubicBezTo>
                    <a:pt x="79" y="106"/>
                    <a:pt x="79" y="106"/>
                    <a:pt x="90" y="100"/>
                  </a:cubicBezTo>
                  <a:cubicBezTo>
                    <a:pt x="90" y="99"/>
                    <a:pt x="91" y="98"/>
                    <a:pt x="91" y="96"/>
                  </a:cubicBezTo>
                  <a:cubicBezTo>
                    <a:pt x="74" y="98"/>
                    <a:pt x="61" y="112"/>
                    <a:pt x="48" y="121"/>
                  </a:cubicBezTo>
                  <a:cubicBezTo>
                    <a:pt x="41" y="122"/>
                    <a:pt x="36" y="121"/>
                    <a:pt x="32" y="119"/>
                  </a:cubicBezTo>
                  <a:cubicBezTo>
                    <a:pt x="29" y="120"/>
                    <a:pt x="12" y="123"/>
                    <a:pt x="20" y="116"/>
                  </a:cubicBezTo>
                  <a:cubicBezTo>
                    <a:pt x="25" y="114"/>
                    <a:pt x="29" y="111"/>
                    <a:pt x="34" y="108"/>
                  </a:cubicBezTo>
                  <a:cubicBezTo>
                    <a:pt x="47" y="100"/>
                    <a:pt x="61" y="93"/>
                    <a:pt x="74" y="85"/>
                  </a:cubicBezTo>
                  <a:cubicBezTo>
                    <a:pt x="74" y="83"/>
                    <a:pt x="73" y="82"/>
                    <a:pt x="73" y="81"/>
                  </a:cubicBezTo>
                  <a:cubicBezTo>
                    <a:pt x="73" y="79"/>
                    <a:pt x="74" y="77"/>
                    <a:pt x="74" y="75"/>
                  </a:cubicBezTo>
                  <a:cubicBezTo>
                    <a:pt x="72" y="76"/>
                    <a:pt x="71" y="76"/>
                    <a:pt x="71" y="78"/>
                  </a:cubicBezTo>
                  <a:cubicBezTo>
                    <a:pt x="63" y="81"/>
                    <a:pt x="59" y="88"/>
                    <a:pt x="53" y="81"/>
                  </a:cubicBezTo>
                  <a:cubicBezTo>
                    <a:pt x="51" y="88"/>
                    <a:pt x="46" y="93"/>
                    <a:pt x="39" y="93"/>
                  </a:cubicBezTo>
                  <a:cubicBezTo>
                    <a:pt x="32" y="89"/>
                    <a:pt x="32" y="77"/>
                    <a:pt x="31" y="72"/>
                  </a:cubicBezTo>
                  <a:cubicBezTo>
                    <a:pt x="30" y="71"/>
                    <a:pt x="29" y="67"/>
                    <a:pt x="27" y="61"/>
                  </a:cubicBezTo>
                  <a:cubicBezTo>
                    <a:pt x="24" y="55"/>
                    <a:pt x="18" y="47"/>
                    <a:pt x="22" y="42"/>
                  </a:cubicBezTo>
                  <a:cubicBezTo>
                    <a:pt x="27" y="38"/>
                    <a:pt x="29" y="37"/>
                    <a:pt x="33" y="44"/>
                  </a:cubicBezTo>
                  <a:cubicBezTo>
                    <a:pt x="37" y="47"/>
                    <a:pt x="42" y="51"/>
                    <a:pt x="45" y="56"/>
                  </a:cubicBezTo>
                  <a:cubicBezTo>
                    <a:pt x="45" y="56"/>
                    <a:pt x="46" y="56"/>
                    <a:pt x="46" y="56"/>
                  </a:cubicBezTo>
                  <a:cubicBezTo>
                    <a:pt x="48" y="62"/>
                    <a:pt x="54" y="69"/>
                    <a:pt x="53" y="77"/>
                  </a:cubicBezTo>
                  <a:cubicBezTo>
                    <a:pt x="57" y="75"/>
                    <a:pt x="62" y="71"/>
                    <a:pt x="60" y="66"/>
                  </a:cubicBezTo>
                  <a:cubicBezTo>
                    <a:pt x="53" y="63"/>
                    <a:pt x="57" y="57"/>
                    <a:pt x="61" y="55"/>
                  </a:cubicBezTo>
                  <a:cubicBezTo>
                    <a:pt x="64" y="55"/>
                    <a:pt x="64" y="55"/>
                    <a:pt x="68" y="55"/>
                  </a:cubicBezTo>
                  <a:cubicBezTo>
                    <a:pt x="68" y="53"/>
                    <a:pt x="68" y="53"/>
                    <a:pt x="67" y="52"/>
                  </a:cubicBezTo>
                  <a:cubicBezTo>
                    <a:pt x="62" y="50"/>
                    <a:pt x="63" y="49"/>
                    <a:pt x="64" y="45"/>
                  </a:cubicBezTo>
                  <a:cubicBezTo>
                    <a:pt x="58" y="43"/>
                    <a:pt x="56" y="37"/>
                    <a:pt x="58" y="32"/>
                  </a:cubicBezTo>
                  <a:cubicBezTo>
                    <a:pt x="76" y="28"/>
                    <a:pt x="76" y="28"/>
                    <a:pt x="84" y="25"/>
                  </a:cubicBezTo>
                  <a:cubicBezTo>
                    <a:pt x="89" y="19"/>
                    <a:pt x="95" y="0"/>
                    <a:pt x="106" y="4"/>
                  </a:cubicBezTo>
                  <a:cubicBezTo>
                    <a:pt x="109" y="7"/>
                    <a:pt x="111" y="14"/>
                    <a:pt x="111" y="20"/>
                  </a:cubicBezTo>
                  <a:cubicBezTo>
                    <a:pt x="109" y="23"/>
                    <a:pt x="107" y="25"/>
                    <a:pt x="107" y="28"/>
                  </a:cubicBezTo>
                  <a:cubicBezTo>
                    <a:pt x="108" y="28"/>
                    <a:pt x="109" y="28"/>
                    <a:pt x="110" y="29"/>
                  </a:cubicBezTo>
                  <a:cubicBezTo>
                    <a:pt x="117" y="25"/>
                    <a:pt x="121" y="21"/>
                    <a:pt x="125" y="31"/>
                  </a:cubicBezTo>
                  <a:cubicBezTo>
                    <a:pt x="132" y="35"/>
                    <a:pt x="134" y="34"/>
                    <a:pt x="132" y="44"/>
                  </a:cubicBezTo>
                  <a:cubicBezTo>
                    <a:pt x="127" y="55"/>
                    <a:pt x="121" y="66"/>
                    <a:pt x="115" y="76"/>
                  </a:cubicBezTo>
                  <a:cubicBezTo>
                    <a:pt x="115" y="76"/>
                    <a:pt x="115" y="77"/>
                    <a:pt x="115" y="77"/>
                  </a:cubicBezTo>
                  <a:cubicBezTo>
                    <a:pt x="117" y="77"/>
                    <a:pt x="118" y="78"/>
                    <a:pt x="119" y="78"/>
                  </a:cubicBezTo>
                  <a:cubicBezTo>
                    <a:pt x="120" y="83"/>
                    <a:pt x="120" y="88"/>
                    <a:pt x="120" y="94"/>
                  </a:cubicBezTo>
                  <a:cubicBezTo>
                    <a:pt x="116" y="100"/>
                    <a:pt x="110" y="100"/>
                    <a:pt x="103" y="101"/>
                  </a:cubicBezTo>
                  <a:cubicBezTo>
                    <a:pt x="94" y="106"/>
                    <a:pt x="86" y="109"/>
                    <a:pt x="78" y="114"/>
                  </a:cubicBezTo>
                  <a:cubicBezTo>
                    <a:pt x="78" y="116"/>
                    <a:pt x="78" y="118"/>
                    <a:pt x="79" y="120"/>
                  </a:cubicBezTo>
                  <a:cubicBezTo>
                    <a:pt x="83" y="120"/>
                    <a:pt x="87" y="120"/>
                    <a:pt x="92" y="119"/>
                  </a:cubicBezTo>
                  <a:cubicBezTo>
                    <a:pt x="96" y="123"/>
                    <a:pt x="96" y="131"/>
                    <a:pt x="93" y="136"/>
                  </a:cubicBezTo>
                  <a:cubicBezTo>
                    <a:pt x="88" y="137"/>
                    <a:pt x="85" y="138"/>
                    <a:pt x="81" y="140"/>
                  </a:cubicBezTo>
                  <a:cubicBezTo>
                    <a:pt x="81" y="142"/>
                    <a:pt x="81" y="144"/>
                    <a:pt x="80" y="147"/>
                  </a:cubicBezTo>
                  <a:cubicBezTo>
                    <a:pt x="81" y="156"/>
                    <a:pt x="85" y="178"/>
                    <a:pt x="72" y="180"/>
                  </a:cubicBezTo>
                  <a:moveTo>
                    <a:pt x="99" y="67"/>
                  </a:moveTo>
                  <a:cubicBezTo>
                    <a:pt x="103" y="63"/>
                    <a:pt x="106" y="58"/>
                    <a:pt x="106" y="53"/>
                  </a:cubicBezTo>
                  <a:cubicBezTo>
                    <a:pt x="102" y="49"/>
                    <a:pt x="96" y="49"/>
                    <a:pt x="92" y="49"/>
                  </a:cubicBezTo>
                  <a:cubicBezTo>
                    <a:pt x="92" y="51"/>
                    <a:pt x="92" y="51"/>
                    <a:pt x="87" y="59"/>
                  </a:cubicBezTo>
                  <a:cubicBezTo>
                    <a:pt x="88" y="59"/>
                    <a:pt x="88" y="59"/>
                    <a:pt x="89" y="59"/>
                  </a:cubicBezTo>
                  <a:cubicBezTo>
                    <a:pt x="88" y="60"/>
                    <a:pt x="88" y="60"/>
                    <a:pt x="87" y="60"/>
                  </a:cubicBezTo>
                  <a:cubicBezTo>
                    <a:pt x="87" y="60"/>
                    <a:pt x="88" y="60"/>
                    <a:pt x="88" y="61"/>
                  </a:cubicBezTo>
                  <a:cubicBezTo>
                    <a:pt x="90" y="61"/>
                    <a:pt x="91" y="59"/>
                    <a:pt x="92" y="58"/>
                  </a:cubicBezTo>
                  <a:cubicBezTo>
                    <a:pt x="98" y="57"/>
                    <a:pt x="98" y="59"/>
                    <a:pt x="98" y="67"/>
                  </a:cubicBezTo>
                  <a:cubicBezTo>
                    <a:pt x="98" y="67"/>
                    <a:pt x="98" y="67"/>
                    <a:pt x="99" y="67"/>
                  </a:cubicBezTo>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1" name="Freeform 87">
              <a:extLst>
                <a:ext uri="{FF2B5EF4-FFF2-40B4-BE49-F238E27FC236}">
                  <a16:creationId xmlns:a16="http://schemas.microsoft.com/office/drawing/2014/main" id="{43B13C19-FB89-4EED-81C6-3D2C2608D415}"/>
                </a:ext>
              </a:extLst>
            </p:cNvPr>
            <p:cNvSpPr>
              <a:spLocks/>
            </p:cNvSpPr>
            <p:nvPr userDrawn="1"/>
          </p:nvSpPr>
          <p:spPr bwMode="auto">
            <a:xfrm>
              <a:off x="1415" y="933"/>
              <a:ext cx="31" cy="40"/>
            </a:xfrm>
            <a:custGeom>
              <a:avLst/>
              <a:gdLst>
                <a:gd name="T0" fmla="*/ 0 w 31"/>
                <a:gd name="T1" fmla="*/ 35 h 40"/>
                <a:gd name="T2" fmla="*/ 24 w 31"/>
                <a:gd name="T3" fmla="*/ 5 h 40"/>
                <a:gd name="T4" fmla="*/ 2 w 31"/>
                <a:gd name="T5" fmla="*/ 5 h 40"/>
                <a:gd name="T6" fmla="*/ 2 w 31"/>
                <a:gd name="T7" fmla="*/ 3 h 40"/>
                <a:gd name="T8" fmla="*/ 2 w 31"/>
                <a:gd name="T9" fmla="*/ 0 h 40"/>
                <a:gd name="T10" fmla="*/ 31 w 31"/>
                <a:gd name="T11" fmla="*/ 0 h 40"/>
                <a:gd name="T12" fmla="*/ 31 w 31"/>
                <a:gd name="T13" fmla="*/ 3 h 40"/>
                <a:gd name="T14" fmla="*/ 31 w 31"/>
                <a:gd name="T15" fmla="*/ 5 h 40"/>
                <a:gd name="T16" fmla="*/ 6 w 31"/>
                <a:gd name="T17" fmla="*/ 35 h 40"/>
                <a:gd name="T18" fmla="*/ 31 w 31"/>
                <a:gd name="T19" fmla="*/ 35 h 40"/>
                <a:gd name="T20" fmla="*/ 31 w 31"/>
                <a:gd name="T21" fmla="*/ 37 h 40"/>
                <a:gd name="T22" fmla="*/ 31 w 31"/>
                <a:gd name="T23" fmla="*/ 40 h 40"/>
                <a:gd name="T24" fmla="*/ 0 w 31"/>
                <a:gd name="T25" fmla="*/ 40 h 40"/>
                <a:gd name="T26" fmla="*/ 0 w 31"/>
                <a:gd name="T27" fmla="*/ 37 h 40"/>
                <a:gd name="T28" fmla="*/ 0 w 31"/>
                <a:gd name="T29" fmla="*/ 3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0" y="35"/>
                  </a:moveTo>
                  <a:lnTo>
                    <a:pt x="24" y="5"/>
                  </a:lnTo>
                  <a:lnTo>
                    <a:pt x="2" y="5"/>
                  </a:lnTo>
                  <a:lnTo>
                    <a:pt x="2" y="3"/>
                  </a:lnTo>
                  <a:lnTo>
                    <a:pt x="2" y="0"/>
                  </a:lnTo>
                  <a:lnTo>
                    <a:pt x="31" y="0"/>
                  </a:lnTo>
                  <a:lnTo>
                    <a:pt x="31" y="3"/>
                  </a:lnTo>
                  <a:lnTo>
                    <a:pt x="31" y="5"/>
                  </a:lnTo>
                  <a:lnTo>
                    <a:pt x="6" y="35"/>
                  </a:lnTo>
                  <a:lnTo>
                    <a:pt x="31" y="35"/>
                  </a:lnTo>
                  <a:lnTo>
                    <a:pt x="31" y="37"/>
                  </a:lnTo>
                  <a:lnTo>
                    <a:pt x="31" y="40"/>
                  </a:lnTo>
                  <a:lnTo>
                    <a:pt x="0" y="40"/>
                  </a:lnTo>
                  <a:lnTo>
                    <a:pt x="0" y="37"/>
                  </a:lnTo>
                  <a:lnTo>
                    <a:pt x="0" y="35"/>
                  </a:lnTo>
                  <a:close/>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2" name="Freeform 88">
              <a:extLst>
                <a:ext uri="{FF2B5EF4-FFF2-40B4-BE49-F238E27FC236}">
                  <a16:creationId xmlns:a16="http://schemas.microsoft.com/office/drawing/2014/main" id="{8A91F156-A29E-472C-94F4-CE256BA0D5E8}"/>
                </a:ext>
              </a:extLst>
            </p:cNvPr>
            <p:cNvSpPr>
              <a:spLocks/>
            </p:cNvSpPr>
            <p:nvPr userDrawn="1"/>
          </p:nvSpPr>
          <p:spPr bwMode="auto">
            <a:xfrm>
              <a:off x="1458" y="933"/>
              <a:ext cx="31" cy="40"/>
            </a:xfrm>
            <a:custGeom>
              <a:avLst/>
              <a:gdLst>
                <a:gd name="T0" fmla="*/ 0 w 31"/>
                <a:gd name="T1" fmla="*/ 0 h 40"/>
                <a:gd name="T2" fmla="*/ 2 w 31"/>
                <a:gd name="T3" fmla="*/ 0 h 40"/>
                <a:gd name="T4" fmla="*/ 5 w 31"/>
                <a:gd name="T5" fmla="*/ 0 h 40"/>
                <a:gd name="T6" fmla="*/ 5 w 31"/>
                <a:gd name="T7" fmla="*/ 16 h 40"/>
                <a:gd name="T8" fmla="*/ 26 w 31"/>
                <a:gd name="T9" fmla="*/ 16 h 40"/>
                <a:gd name="T10" fmla="*/ 26 w 31"/>
                <a:gd name="T11" fmla="*/ 0 h 40"/>
                <a:gd name="T12" fmla="*/ 28 w 31"/>
                <a:gd name="T13" fmla="*/ 0 h 40"/>
                <a:gd name="T14" fmla="*/ 31 w 31"/>
                <a:gd name="T15" fmla="*/ 0 h 40"/>
                <a:gd name="T16" fmla="*/ 31 w 31"/>
                <a:gd name="T17" fmla="*/ 40 h 40"/>
                <a:gd name="T18" fmla="*/ 28 w 31"/>
                <a:gd name="T19" fmla="*/ 40 h 40"/>
                <a:gd name="T20" fmla="*/ 26 w 31"/>
                <a:gd name="T21" fmla="*/ 40 h 40"/>
                <a:gd name="T22" fmla="*/ 26 w 31"/>
                <a:gd name="T23" fmla="*/ 21 h 40"/>
                <a:gd name="T24" fmla="*/ 5 w 31"/>
                <a:gd name="T25" fmla="*/ 21 h 40"/>
                <a:gd name="T26" fmla="*/ 5 w 31"/>
                <a:gd name="T27" fmla="*/ 40 h 40"/>
                <a:gd name="T28" fmla="*/ 2 w 31"/>
                <a:gd name="T29" fmla="*/ 40 h 40"/>
                <a:gd name="T30" fmla="*/ 0 w 31"/>
                <a:gd name="T31" fmla="*/ 40 h 40"/>
                <a:gd name="T32" fmla="*/ 0 w 31"/>
                <a:gd name="T3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40">
                  <a:moveTo>
                    <a:pt x="0" y="0"/>
                  </a:moveTo>
                  <a:lnTo>
                    <a:pt x="2" y="0"/>
                  </a:lnTo>
                  <a:lnTo>
                    <a:pt x="5" y="0"/>
                  </a:lnTo>
                  <a:lnTo>
                    <a:pt x="5" y="16"/>
                  </a:lnTo>
                  <a:lnTo>
                    <a:pt x="26" y="16"/>
                  </a:lnTo>
                  <a:lnTo>
                    <a:pt x="26" y="0"/>
                  </a:lnTo>
                  <a:lnTo>
                    <a:pt x="28" y="0"/>
                  </a:lnTo>
                  <a:lnTo>
                    <a:pt x="31" y="0"/>
                  </a:lnTo>
                  <a:lnTo>
                    <a:pt x="31" y="40"/>
                  </a:lnTo>
                  <a:lnTo>
                    <a:pt x="28" y="40"/>
                  </a:lnTo>
                  <a:lnTo>
                    <a:pt x="26" y="40"/>
                  </a:lnTo>
                  <a:lnTo>
                    <a:pt x="26" y="21"/>
                  </a:lnTo>
                  <a:lnTo>
                    <a:pt x="5" y="21"/>
                  </a:lnTo>
                  <a:lnTo>
                    <a:pt x="5" y="40"/>
                  </a:lnTo>
                  <a:lnTo>
                    <a:pt x="2" y="40"/>
                  </a:lnTo>
                  <a:lnTo>
                    <a:pt x="0" y="40"/>
                  </a:lnTo>
                  <a:lnTo>
                    <a:pt x="0" y="0"/>
                  </a:lnTo>
                  <a:close/>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3" name="Freeform 89">
              <a:extLst>
                <a:ext uri="{FF2B5EF4-FFF2-40B4-BE49-F238E27FC236}">
                  <a16:creationId xmlns:a16="http://schemas.microsoft.com/office/drawing/2014/main" id="{D7807415-D02A-4C80-BD78-41B382E35161}"/>
                </a:ext>
              </a:extLst>
            </p:cNvPr>
            <p:cNvSpPr>
              <a:spLocks/>
            </p:cNvSpPr>
            <p:nvPr userDrawn="1"/>
          </p:nvSpPr>
          <p:spPr bwMode="auto">
            <a:xfrm>
              <a:off x="1503" y="933"/>
              <a:ext cx="29" cy="40"/>
            </a:xfrm>
            <a:custGeom>
              <a:avLst/>
              <a:gdLst>
                <a:gd name="T0" fmla="*/ 0 w 29"/>
                <a:gd name="T1" fmla="*/ 40 h 40"/>
                <a:gd name="T2" fmla="*/ 0 w 29"/>
                <a:gd name="T3" fmla="*/ 0 h 40"/>
                <a:gd name="T4" fmla="*/ 29 w 29"/>
                <a:gd name="T5" fmla="*/ 0 h 40"/>
                <a:gd name="T6" fmla="*/ 29 w 29"/>
                <a:gd name="T7" fmla="*/ 3 h 40"/>
                <a:gd name="T8" fmla="*/ 29 w 29"/>
                <a:gd name="T9" fmla="*/ 5 h 40"/>
                <a:gd name="T10" fmla="*/ 6 w 29"/>
                <a:gd name="T11" fmla="*/ 5 h 40"/>
                <a:gd name="T12" fmla="*/ 6 w 29"/>
                <a:gd name="T13" fmla="*/ 16 h 40"/>
                <a:gd name="T14" fmla="*/ 27 w 29"/>
                <a:gd name="T15" fmla="*/ 16 h 40"/>
                <a:gd name="T16" fmla="*/ 27 w 29"/>
                <a:gd name="T17" fmla="*/ 19 h 40"/>
                <a:gd name="T18" fmla="*/ 27 w 29"/>
                <a:gd name="T19" fmla="*/ 21 h 40"/>
                <a:gd name="T20" fmla="*/ 6 w 29"/>
                <a:gd name="T21" fmla="*/ 21 h 40"/>
                <a:gd name="T22" fmla="*/ 6 w 29"/>
                <a:gd name="T23" fmla="*/ 35 h 40"/>
                <a:gd name="T24" fmla="*/ 29 w 29"/>
                <a:gd name="T25" fmla="*/ 35 h 40"/>
                <a:gd name="T26" fmla="*/ 29 w 29"/>
                <a:gd name="T27" fmla="*/ 37 h 40"/>
                <a:gd name="T28" fmla="*/ 29 w 29"/>
                <a:gd name="T29" fmla="*/ 40 h 40"/>
                <a:gd name="T30" fmla="*/ 0 w 29"/>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 h="40">
                  <a:moveTo>
                    <a:pt x="0" y="40"/>
                  </a:moveTo>
                  <a:lnTo>
                    <a:pt x="0" y="0"/>
                  </a:lnTo>
                  <a:lnTo>
                    <a:pt x="29" y="0"/>
                  </a:lnTo>
                  <a:lnTo>
                    <a:pt x="29" y="3"/>
                  </a:lnTo>
                  <a:lnTo>
                    <a:pt x="29" y="5"/>
                  </a:lnTo>
                  <a:lnTo>
                    <a:pt x="6" y="5"/>
                  </a:lnTo>
                  <a:lnTo>
                    <a:pt x="6" y="16"/>
                  </a:lnTo>
                  <a:lnTo>
                    <a:pt x="27" y="16"/>
                  </a:lnTo>
                  <a:lnTo>
                    <a:pt x="27" y="19"/>
                  </a:lnTo>
                  <a:lnTo>
                    <a:pt x="27" y="21"/>
                  </a:lnTo>
                  <a:lnTo>
                    <a:pt x="6" y="21"/>
                  </a:lnTo>
                  <a:lnTo>
                    <a:pt x="6" y="35"/>
                  </a:lnTo>
                  <a:lnTo>
                    <a:pt x="29" y="35"/>
                  </a:lnTo>
                  <a:lnTo>
                    <a:pt x="29" y="37"/>
                  </a:lnTo>
                  <a:lnTo>
                    <a:pt x="29" y="40"/>
                  </a:lnTo>
                  <a:lnTo>
                    <a:pt x="0" y="40"/>
                  </a:lnTo>
                  <a:close/>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4" name="Freeform 90">
              <a:extLst>
                <a:ext uri="{FF2B5EF4-FFF2-40B4-BE49-F238E27FC236}">
                  <a16:creationId xmlns:a16="http://schemas.microsoft.com/office/drawing/2014/main" id="{79DEE1DD-01C2-4B73-A6CD-DE0BE6BB7E17}"/>
                </a:ext>
              </a:extLst>
            </p:cNvPr>
            <p:cNvSpPr>
              <a:spLocks/>
            </p:cNvSpPr>
            <p:nvPr userDrawn="1"/>
          </p:nvSpPr>
          <p:spPr bwMode="auto">
            <a:xfrm>
              <a:off x="1542" y="933"/>
              <a:ext cx="22" cy="40"/>
            </a:xfrm>
            <a:custGeom>
              <a:avLst/>
              <a:gdLst>
                <a:gd name="T0" fmla="*/ 14 w 18"/>
                <a:gd name="T1" fmla="*/ 0 h 32"/>
                <a:gd name="T2" fmla="*/ 16 w 18"/>
                <a:gd name="T3" fmla="*/ 0 h 32"/>
                <a:gd name="T4" fmla="*/ 18 w 18"/>
                <a:gd name="T5" fmla="*/ 0 h 32"/>
                <a:gd name="T6" fmla="*/ 18 w 18"/>
                <a:gd name="T7" fmla="*/ 23 h 32"/>
                <a:gd name="T8" fmla="*/ 16 w 18"/>
                <a:gd name="T9" fmla="*/ 30 h 32"/>
                <a:gd name="T10" fmla="*/ 9 w 18"/>
                <a:gd name="T11" fmla="*/ 32 h 32"/>
                <a:gd name="T12" fmla="*/ 2 w 18"/>
                <a:gd name="T13" fmla="*/ 30 h 32"/>
                <a:gd name="T14" fmla="*/ 0 w 18"/>
                <a:gd name="T15" fmla="*/ 23 h 32"/>
                <a:gd name="T16" fmla="*/ 0 w 18"/>
                <a:gd name="T17" fmla="*/ 21 h 32"/>
                <a:gd name="T18" fmla="*/ 4 w 18"/>
                <a:gd name="T19" fmla="*/ 21 h 32"/>
                <a:gd name="T20" fmla="*/ 4 w 18"/>
                <a:gd name="T21" fmla="*/ 23 h 32"/>
                <a:gd name="T22" fmla="*/ 6 w 18"/>
                <a:gd name="T23" fmla="*/ 27 h 32"/>
                <a:gd name="T24" fmla="*/ 9 w 18"/>
                <a:gd name="T25" fmla="*/ 29 h 32"/>
                <a:gd name="T26" fmla="*/ 13 w 18"/>
                <a:gd name="T27" fmla="*/ 27 h 32"/>
                <a:gd name="T28" fmla="*/ 14 w 18"/>
                <a:gd name="T29" fmla="*/ 23 h 32"/>
                <a:gd name="T30" fmla="*/ 14 w 18"/>
                <a:gd name="T31"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32">
                  <a:moveTo>
                    <a:pt x="14" y="0"/>
                  </a:moveTo>
                  <a:cubicBezTo>
                    <a:pt x="16" y="0"/>
                    <a:pt x="16" y="0"/>
                    <a:pt x="16" y="0"/>
                  </a:cubicBezTo>
                  <a:cubicBezTo>
                    <a:pt x="18" y="0"/>
                    <a:pt x="18" y="0"/>
                    <a:pt x="18" y="0"/>
                  </a:cubicBezTo>
                  <a:cubicBezTo>
                    <a:pt x="18" y="23"/>
                    <a:pt x="18" y="23"/>
                    <a:pt x="18" y="23"/>
                  </a:cubicBezTo>
                  <a:cubicBezTo>
                    <a:pt x="18" y="26"/>
                    <a:pt x="18" y="28"/>
                    <a:pt x="16" y="30"/>
                  </a:cubicBezTo>
                  <a:cubicBezTo>
                    <a:pt x="14" y="32"/>
                    <a:pt x="12" y="32"/>
                    <a:pt x="9" y="32"/>
                  </a:cubicBezTo>
                  <a:cubicBezTo>
                    <a:pt x="6" y="32"/>
                    <a:pt x="4" y="32"/>
                    <a:pt x="2" y="30"/>
                  </a:cubicBezTo>
                  <a:cubicBezTo>
                    <a:pt x="1" y="28"/>
                    <a:pt x="0" y="26"/>
                    <a:pt x="0" y="23"/>
                  </a:cubicBezTo>
                  <a:cubicBezTo>
                    <a:pt x="0" y="21"/>
                    <a:pt x="0" y="21"/>
                    <a:pt x="0" y="21"/>
                  </a:cubicBezTo>
                  <a:cubicBezTo>
                    <a:pt x="4" y="21"/>
                    <a:pt x="4" y="21"/>
                    <a:pt x="4" y="21"/>
                  </a:cubicBezTo>
                  <a:cubicBezTo>
                    <a:pt x="4" y="23"/>
                    <a:pt x="4" y="23"/>
                    <a:pt x="4" y="23"/>
                  </a:cubicBezTo>
                  <a:cubicBezTo>
                    <a:pt x="4" y="25"/>
                    <a:pt x="5" y="26"/>
                    <a:pt x="6" y="27"/>
                  </a:cubicBezTo>
                  <a:cubicBezTo>
                    <a:pt x="6" y="28"/>
                    <a:pt x="8" y="29"/>
                    <a:pt x="9" y="29"/>
                  </a:cubicBezTo>
                  <a:cubicBezTo>
                    <a:pt x="11" y="29"/>
                    <a:pt x="12" y="28"/>
                    <a:pt x="13" y="27"/>
                  </a:cubicBezTo>
                  <a:cubicBezTo>
                    <a:pt x="14" y="26"/>
                    <a:pt x="14" y="24"/>
                    <a:pt x="14" y="23"/>
                  </a:cubicBezTo>
                  <a:lnTo>
                    <a:pt x="14" y="0"/>
                  </a:lnTo>
                  <a:close/>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5" name="Freeform 91">
              <a:extLst>
                <a:ext uri="{FF2B5EF4-FFF2-40B4-BE49-F238E27FC236}">
                  <a16:creationId xmlns:a16="http://schemas.microsoft.com/office/drawing/2014/main" id="{010AA1A6-E46A-4F75-88C5-A56342E57CA7}"/>
                </a:ext>
              </a:extLst>
            </p:cNvPr>
            <p:cNvSpPr>
              <a:spLocks/>
            </p:cNvSpPr>
            <p:nvPr userDrawn="1"/>
          </p:nvSpPr>
          <p:spPr bwMode="auto">
            <a:xfrm>
              <a:off x="1579" y="933"/>
              <a:ext cx="5" cy="40"/>
            </a:xfrm>
            <a:custGeom>
              <a:avLst/>
              <a:gdLst>
                <a:gd name="T0" fmla="*/ 0 w 5"/>
                <a:gd name="T1" fmla="*/ 0 h 40"/>
                <a:gd name="T2" fmla="*/ 3 w 5"/>
                <a:gd name="T3" fmla="*/ 0 h 40"/>
                <a:gd name="T4" fmla="*/ 5 w 5"/>
                <a:gd name="T5" fmla="*/ 0 h 40"/>
                <a:gd name="T6" fmla="*/ 5 w 5"/>
                <a:gd name="T7" fmla="*/ 40 h 40"/>
                <a:gd name="T8" fmla="*/ 3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3" y="0"/>
                  </a:lnTo>
                  <a:lnTo>
                    <a:pt x="5" y="0"/>
                  </a:lnTo>
                  <a:lnTo>
                    <a:pt x="5" y="40"/>
                  </a:lnTo>
                  <a:lnTo>
                    <a:pt x="3" y="40"/>
                  </a:lnTo>
                  <a:lnTo>
                    <a:pt x="0" y="40"/>
                  </a:lnTo>
                  <a:lnTo>
                    <a:pt x="0" y="0"/>
                  </a:lnTo>
                  <a:close/>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6" name="Freeform 92">
              <a:extLst>
                <a:ext uri="{FF2B5EF4-FFF2-40B4-BE49-F238E27FC236}">
                  <a16:creationId xmlns:a16="http://schemas.microsoft.com/office/drawing/2014/main" id="{C52736F8-DD1E-4205-B22C-019116B72B39}"/>
                </a:ext>
              </a:extLst>
            </p:cNvPr>
            <p:cNvSpPr>
              <a:spLocks noEditPoints="1"/>
            </p:cNvSpPr>
            <p:nvPr userDrawn="1"/>
          </p:nvSpPr>
          <p:spPr bwMode="auto">
            <a:xfrm>
              <a:off x="1595" y="933"/>
              <a:ext cx="36" cy="40"/>
            </a:xfrm>
            <a:custGeom>
              <a:avLst/>
              <a:gdLst>
                <a:gd name="T0" fmla="*/ 15 w 36"/>
                <a:gd name="T1" fmla="*/ 0 h 40"/>
                <a:gd name="T2" fmla="*/ 19 w 36"/>
                <a:gd name="T3" fmla="*/ 0 h 40"/>
                <a:gd name="T4" fmla="*/ 21 w 36"/>
                <a:gd name="T5" fmla="*/ 0 h 40"/>
                <a:gd name="T6" fmla="*/ 36 w 36"/>
                <a:gd name="T7" fmla="*/ 40 h 40"/>
                <a:gd name="T8" fmla="*/ 33 w 36"/>
                <a:gd name="T9" fmla="*/ 40 h 40"/>
                <a:gd name="T10" fmla="*/ 30 w 36"/>
                <a:gd name="T11" fmla="*/ 40 h 40"/>
                <a:gd name="T12" fmla="*/ 26 w 36"/>
                <a:gd name="T13" fmla="*/ 27 h 40"/>
                <a:gd name="T14" fmla="*/ 10 w 36"/>
                <a:gd name="T15" fmla="*/ 27 h 40"/>
                <a:gd name="T16" fmla="*/ 7 w 36"/>
                <a:gd name="T17" fmla="*/ 40 h 40"/>
                <a:gd name="T18" fmla="*/ 4 w 36"/>
                <a:gd name="T19" fmla="*/ 40 h 40"/>
                <a:gd name="T20" fmla="*/ 0 w 36"/>
                <a:gd name="T21" fmla="*/ 40 h 40"/>
                <a:gd name="T22" fmla="*/ 15 w 36"/>
                <a:gd name="T23" fmla="*/ 0 h 40"/>
                <a:gd name="T24" fmla="*/ 12 w 36"/>
                <a:gd name="T25" fmla="*/ 24 h 40"/>
                <a:gd name="T26" fmla="*/ 24 w 36"/>
                <a:gd name="T27" fmla="*/ 24 h 40"/>
                <a:gd name="T28" fmla="*/ 19 w 36"/>
                <a:gd name="T29" fmla="*/ 5 h 40"/>
                <a:gd name="T30" fmla="*/ 19 w 36"/>
                <a:gd name="T31" fmla="*/ 5 h 40"/>
                <a:gd name="T32" fmla="*/ 12 w 36"/>
                <a:gd name="T33"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 h="40">
                  <a:moveTo>
                    <a:pt x="15" y="0"/>
                  </a:moveTo>
                  <a:lnTo>
                    <a:pt x="19" y="0"/>
                  </a:lnTo>
                  <a:lnTo>
                    <a:pt x="21" y="0"/>
                  </a:lnTo>
                  <a:lnTo>
                    <a:pt x="36" y="40"/>
                  </a:lnTo>
                  <a:lnTo>
                    <a:pt x="33" y="40"/>
                  </a:lnTo>
                  <a:lnTo>
                    <a:pt x="30" y="40"/>
                  </a:lnTo>
                  <a:lnTo>
                    <a:pt x="26" y="27"/>
                  </a:lnTo>
                  <a:lnTo>
                    <a:pt x="10" y="27"/>
                  </a:lnTo>
                  <a:lnTo>
                    <a:pt x="7" y="40"/>
                  </a:lnTo>
                  <a:lnTo>
                    <a:pt x="4" y="40"/>
                  </a:lnTo>
                  <a:lnTo>
                    <a:pt x="0" y="40"/>
                  </a:lnTo>
                  <a:lnTo>
                    <a:pt x="15" y="0"/>
                  </a:lnTo>
                  <a:close/>
                  <a:moveTo>
                    <a:pt x="12" y="24"/>
                  </a:moveTo>
                  <a:lnTo>
                    <a:pt x="24" y="24"/>
                  </a:lnTo>
                  <a:lnTo>
                    <a:pt x="19" y="5"/>
                  </a:lnTo>
                  <a:lnTo>
                    <a:pt x="19" y="5"/>
                  </a:lnTo>
                  <a:lnTo>
                    <a:pt x="12" y="24"/>
                  </a:lnTo>
                  <a:close/>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7" name="Freeform 93">
              <a:extLst>
                <a:ext uri="{FF2B5EF4-FFF2-40B4-BE49-F238E27FC236}">
                  <a16:creationId xmlns:a16="http://schemas.microsoft.com/office/drawing/2014/main" id="{BCAE0993-9F35-49E9-8612-7A3460FF043F}"/>
                </a:ext>
              </a:extLst>
            </p:cNvPr>
            <p:cNvSpPr>
              <a:spLocks/>
            </p:cNvSpPr>
            <p:nvPr userDrawn="1"/>
          </p:nvSpPr>
          <p:spPr bwMode="auto">
            <a:xfrm>
              <a:off x="1641" y="933"/>
              <a:ext cx="31" cy="40"/>
            </a:xfrm>
            <a:custGeom>
              <a:avLst/>
              <a:gdLst>
                <a:gd name="T0" fmla="*/ 5 w 31"/>
                <a:gd name="T1" fmla="*/ 40 h 40"/>
                <a:gd name="T2" fmla="*/ 3 w 31"/>
                <a:gd name="T3" fmla="*/ 40 h 40"/>
                <a:gd name="T4" fmla="*/ 0 w 31"/>
                <a:gd name="T5" fmla="*/ 40 h 40"/>
                <a:gd name="T6" fmla="*/ 0 w 31"/>
                <a:gd name="T7" fmla="*/ 0 h 40"/>
                <a:gd name="T8" fmla="*/ 4 w 31"/>
                <a:gd name="T9" fmla="*/ 0 h 40"/>
                <a:gd name="T10" fmla="*/ 6 w 31"/>
                <a:gd name="T11" fmla="*/ 0 h 40"/>
                <a:gd name="T12" fmla="*/ 26 w 31"/>
                <a:gd name="T13" fmla="*/ 32 h 40"/>
                <a:gd name="T14" fmla="*/ 26 w 31"/>
                <a:gd name="T15" fmla="*/ 0 h 40"/>
                <a:gd name="T16" fmla="*/ 29 w 31"/>
                <a:gd name="T17" fmla="*/ 0 h 40"/>
                <a:gd name="T18" fmla="*/ 31 w 31"/>
                <a:gd name="T19" fmla="*/ 0 h 40"/>
                <a:gd name="T20" fmla="*/ 31 w 31"/>
                <a:gd name="T21" fmla="*/ 40 h 40"/>
                <a:gd name="T22" fmla="*/ 29 w 31"/>
                <a:gd name="T23" fmla="*/ 40 h 40"/>
                <a:gd name="T24" fmla="*/ 26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3" y="40"/>
                  </a:lnTo>
                  <a:lnTo>
                    <a:pt x="0" y="40"/>
                  </a:lnTo>
                  <a:lnTo>
                    <a:pt x="0" y="0"/>
                  </a:lnTo>
                  <a:lnTo>
                    <a:pt x="4" y="0"/>
                  </a:lnTo>
                  <a:lnTo>
                    <a:pt x="6" y="0"/>
                  </a:lnTo>
                  <a:lnTo>
                    <a:pt x="26" y="32"/>
                  </a:lnTo>
                  <a:lnTo>
                    <a:pt x="26" y="0"/>
                  </a:lnTo>
                  <a:lnTo>
                    <a:pt x="29" y="0"/>
                  </a:lnTo>
                  <a:lnTo>
                    <a:pt x="31" y="0"/>
                  </a:lnTo>
                  <a:lnTo>
                    <a:pt x="31" y="40"/>
                  </a:lnTo>
                  <a:lnTo>
                    <a:pt x="29" y="40"/>
                  </a:lnTo>
                  <a:lnTo>
                    <a:pt x="26" y="40"/>
                  </a:lnTo>
                  <a:lnTo>
                    <a:pt x="5" y="8"/>
                  </a:lnTo>
                  <a:lnTo>
                    <a:pt x="5" y="40"/>
                  </a:lnTo>
                  <a:close/>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8" name="Freeform 94">
              <a:extLst>
                <a:ext uri="{FF2B5EF4-FFF2-40B4-BE49-F238E27FC236}">
                  <a16:creationId xmlns:a16="http://schemas.microsoft.com/office/drawing/2014/main" id="{08903417-CDA2-4B5C-8663-742A77050D74}"/>
                </a:ext>
              </a:extLst>
            </p:cNvPr>
            <p:cNvSpPr>
              <a:spLocks/>
            </p:cNvSpPr>
            <p:nvPr userDrawn="1"/>
          </p:nvSpPr>
          <p:spPr bwMode="auto">
            <a:xfrm>
              <a:off x="1687" y="932"/>
              <a:ext cx="36" cy="41"/>
            </a:xfrm>
            <a:custGeom>
              <a:avLst/>
              <a:gdLst>
                <a:gd name="T0" fmla="*/ 15 w 29"/>
                <a:gd name="T1" fmla="*/ 33 h 33"/>
                <a:gd name="T2" fmla="*/ 4 w 29"/>
                <a:gd name="T3" fmla="*/ 29 h 33"/>
                <a:gd name="T4" fmla="*/ 0 w 29"/>
                <a:gd name="T5" fmla="*/ 17 h 33"/>
                <a:gd name="T6" fmla="*/ 4 w 29"/>
                <a:gd name="T7" fmla="*/ 5 h 33"/>
                <a:gd name="T8" fmla="*/ 15 w 29"/>
                <a:gd name="T9" fmla="*/ 0 h 33"/>
                <a:gd name="T10" fmla="*/ 24 w 29"/>
                <a:gd name="T11" fmla="*/ 3 h 33"/>
                <a:gd name="T12" fmla="*/ 28 w 29"/>
                <a:gd name="T13" fmla="*/ 10 h 33"/>
                <a:gd name="T14" fmla="*/ 24 w 29"/>
                <a:gd name="T15" fmla="*/ 10 h 33"/>
                <a:gd name="T16" fmla="*/ 21 w 29"/>
                <a:gd name="T17" fmla="*/ 5 h 33"/>
                <a:gd name="T18" fmla="*/ 15 w 29"/>
                <a:gd name="T19" fmla="*/ 4 h 33"/>
                <a:gd name="T20" fmla="*/ 7 w 29"/>
                <a:gd name="T21" fmla="*/ 7 h 33"/>
                <a:gd name="T22" fmla="*/ 4 w 29"/>
                <a:gd name="T23" fmla="*/ 17 h 33"/>
                <a:gd name="T24" fmla="*/ 7 w 29"/>
                <a:gd name="T25" fmla="*/ 26 h 33"/>
                <a:gd name="T26" fmla="*/ 15 w 29"/>
                <a:gd name="T27" fmla="*/ 30 h 33"/>
                <a:gd name="T28" fmla="*/ 23 w 29"/>
                <a:gd name="T29" fmla="*/ 26 h 33"/>
                <a:gd name="T30" fmla="*/ 24 w 29"/>
                <a:gd name="T31" fmla="*/ 25 h 33"/>
                <a:gd name="T32" fmla="*/ 25 w 29"/>
                <a:gd name="T33" fmla="*/ 23 h 33"/>
                <a:gd name="T34" fmla="*/ 25 w 29"/>
                <a:gd name="T35" fmla="*/ 20 h 33"/>
                <a:gd name="T36" fmla="*/ 25 w 29"/>
                <a:gd name="T37" fmla="*/ 19 h 33"/>
                <a:gd name="T38" fmla="*/ 15 w 29"/>
                <a:gd name="T39" fmla="*/ 19 h 33"/>
                <a:gd name="T40" fmla="*/ 15 w 29"/>
                <a:gd name="T41" fmla="*/ 16 h 33"/>
                <a:gd name="T42" fmla="*/ 29 w 29"/>
                <a:gd name="T43" fmla="*/ 16 h 33"/>
                <a:gd name="T44" fmla="*/ 29 w 29"/>
                <a:gd name="T45" fmla="*/ 32 h 33"/>
                <a:gd name="T46" fmla="*/ 26 w 29"/>
                <a:gd name="T47" fmla="*/ 32 h 33"/>
                <a:gd name="T48" fmla="*/ 25 w 29"/>
                <a:gd name="T49" fmla="*/ 28 h 33"/>
                <a:gd name="T50" fmla="*/ 25 w 29"/>
                <a:gd name="T51" fmla="*/ 29 h 33"/>
                <a:gd name="T52" fmla="*/ 15 w 29"/>
                <a:gd name="T53"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 h="33">
                  <a:moveTo>
                    <a:pt x="15" y="33"/>
                  </a:moveTo>
                  <a:cubicBezTo>
                    <a:pt x="10" y="33"/>
                    <a:pt x="7" y="32"/>
                    <a:pt x="4" y="29"/>
                  </a:cubicBezTo>
                  <a:cubicBezTo>
                    <a:pt x="1" y="26"/>
                    <a:pt x="0" y="22"/>
                    <a:pt x="0" y="17"/>
                  </a:cubicBezTo>
                  <a:cubicBezTo>
                    <a:pt x="0" y="12"/>
                    <a:pt x="1" y="8"/>
                    <a:pt x="4" y="5"/>
                  </a:cubicBezTo>
                  <a:cubicBezTo>
                    <a:pt x="7" y="1"/>
                    <a:pt x="10" y="0"/>
                    <a:pt x="15" y="0"/>
                  </a:cubicBezTo>
                  <a:cubicBezTo>
                    <a:pt x="18" y="0"/>
                    <a:pt x="21" y="1"/>
                    <a:pt x="24" y="3"/>
                  </a:cubicBezTo>
                  <a:cubicBezTo>
                    <a:pt x="26" y="5"/>
                    <a:pt x="28" y="7"/>
                    <a:pt x="28" y="10"/>
                  </a:cubicBezTo>
                  <a:cubicBezTo>
                    <a:pt x="24" y="10"/>
                    <a:pt x="24" y="10"/>
                    <a:pt x="24" y="10"/>
                  </a:cubicBezTo>
                  <a:cubicBezTo>
                    <a:pt x="24" y="8"/>
                    <a:pt x="23" y="7"/>
                    <a:pt x="21" y="5"/>
                  </a:cubicBezTo>
                  <a:cubicBezTo>
                    <a:pt x="19" y="4"/>
                    <a:pt x="17" y="4"/>
                    <a:pt x="15" y="4"/>
                  </a:cubicBezTo>
                  <a:cubicBezTo>
                    <a:pt x="12" y="4"/>
                    <a:pt x="9" y="5"/>
                    <a:pt x="7" y="7"/>
                  </a:cubicBezTo>
                  <a:cubicBezTo>
                    <a:pt x="5" y="10"/>
                    <a:pt x="4" y="13"/>
                    <a:pt x="4" y="17"/>
                  </a:cubicBezTo>
                  <a:cubicBezTo>
                    <a:pt x="4" y="21"/>
                    <a:pt x="5" y="24"/>
                    <a:pt x="7" y="26"/>
                  </a:cubicBezTo>
                  <a:cubicBezTo>
                    <a:pt x="9" y="29"/>
                    <a:pt x="12" y="30"/>
                    <a:pt x="15" y="30"/>
                  </a:cubicBezTo>
                  <a:cubicBezTo>
                    <a:pt x="18" y="30"/>
                    <a:pt x="21" y="29"/>
                    <a:pt x="23" y="26"/>
                  </a:cubicBezTo>
                  <a:cubicBezTo>
                    <a:pt x="23" y="26"/>
                    <a:pt x="23" y="25"/>
                    <a:pt x="24" y="25"/>
                  </a:cubicBezTo>
                  <a:cubicBezTo>
                    <a:pt x="24" y="24"/>
                    <a:pt x="24" y="24"/>
                    <a:pt x="25" y="23"/>
                  </a:cubicBezTo>
                  <a:cubicBezTo>
                    <a:pt x="25" y="22"/>
                    <a:pt x="25" y="21"/>
                    <a:pt x="25" y="20"/>
                  </a:cubicBezTo>
                  <a:cubicBezTo>
                    <a:pt x="25" y="19"/>
                    <a:pt x="25" y="19"/>
                    <a:pt x="25" y="19"/>
                  </a:cubicBezTo>
                  <a:cubicBezTo>
                    <a:pt x="15" y="19"/>
                    <a:pt x="15" y="19"/>
                    <a:pt x="15" y="19"/>
                  </a:cubicBezTo>
                  <a:cubicBezTo>
                    <a:pt x="15" y="16"/>
                    <a:pt x="15" y="16"/>
                    <a:pt x="15" y="16"/>
                  </a:cubicBezTo>
                  <a:cubicBezTo>
                    <a:pt x="29" y="16"/>
                    <a:pt x="29" y="16"/>
                    <a:pt x="29" y="16"/>
                  </a:cubicBezTo>
                  <a:cubicBezTo>
                    <a:pt x="29" y="32"/>
                    <a:pt x="29" y="32"/>
                    <a:pt x="29" y="32"/>
                  </a:cubicBezTo>
                  <a:cubicBezTo>
                    <a:pt x="26" y="32"/>
                    <a:pt x="26" y="32"/>
                    <a:pt x="26" y="32"/>
                  </a:cubicBezTo>
                  <a:cubicBezTo>
                    <a:pt x="25" y="28"/>
                    <a:pt x="25" y="28"/>
                    <a:pt x="25" y="28"/>
                  </a:cubicBezTo>
                  <a:cubicBezTo>
                    <a:pt x="25" y="29"/>
                    <a:pt x="25" y="29"/>
                    <a:pt x="25" y="29"/>
                  </a:cubicBezTo>
                  <a:cubicBezTo>
                    <a:pt x="22" y="32"/>
                    <a:pt x="19" y="33"/>
                    <a:pt x="15" y="33"/>
                  </a:cubicBezTo>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9" name="Freeform 95">
              <a:extLst>
                <a:ext uri="{FF2B5EF4-FFF2-40B4-BE49-F238E27FC236}">
                  <a16:creationId xmlns:a16="http://schemas.microsoft.com/office/drawing/2014/main" id="{6DAE163C-9373-4D54-80DA-79F3026765FC}"/>
                </a:ext>
              </a:extLst>
            </p:cNvPr>
            <p:cNvSpPr>
              <a:spLocks/>
            </p:cNvSpPr>
            <p:nvPr userDrawn="1"/>
          </p:nvSpPr>
          <p:spPr bwMode="auto">
            <a:xfrm>
              <a:off x="1760" y="933"/>
              <a:ext cx="31" cy="40"/>
            </a:xfrm>
            <a:custGeom>
              <a:avLst/>
              <a:gdLst>
                <a:gd name="T0" fmla="*/ 25 w 25"/>
                <a:gd name="T1" fmla="*/ 20 h 32"/>
                <a:gd name="T2" fmla="*/ 21 w 25"/>
                <a:gd name="T3" fmla="*/ 29 h 32"/>
                <a:gd name="T4" fmla="*/ 12 w 25"/>
                <a:gd name="T5" fmla="*/ 32 h 32"/>
                <a:gd name="T6" fmla="*/ 3 w 25"/>
                <a:gd name="T7" fmla="*/ 29 h 32"/>
                <a:gd name="T8" fmla="*/ 0 w 25"/>
                <a:gd name="T9" fmla="*/ 20 h 32"/>
                <a:gd name="T10" fmla="*/ 0 w 25"/>
                <a:gd name="T11" fmla="*/ 0 h 32"/>
                <a:gd name="T12" fmla="*/ 2 w 25"/>
                <a:gd name="T13" fmla="*/ 0 h 32"/>
                <a:gd name="T14" fmla="*/ 4 w 25"/>
                <a:gd name="T15" fmla="*/ 0 h 32"/>
                <a:gd name="T16" fmla="*/ 4 w 25"/>
                <a:gd name="T17" fmla="*/ 20 h 32"/>
                <a:gd name="T18" fmla="*/ 6 w 25"/>
                <a:gd name="T19" fmla="*/ 26 h 32"/>
                <a:gd name="T20" fmla="*/ 12 w 25"/>
                <a:gd name="T21" fmla="*/ 29 h 32"/>
                <a:gd name="T22" fmla="*/ 18 w 25"/>
                <a:gd name="T23" fmla="*/ 26 h 32"/>
                <a:gd name="T24" fmla="*/ 20 w 25"/>
                <a:gd name="T25" fmla="*/ 20 h 32"/>
                <a:gd name="T26" fmla="*/ 20 w 25"/>
                <a:gd name="T27" fmla="*/ 0 h 32"/>
                <a:gd name="T28" fmla="*/ 22 w 25"/>
                <a:gd name="T29" fmla="*/ 0 h 32"/>
                <a:gd name="T30" fmla="*/ 25 w 25"/>
                <a:gd name="T31" fmla="*/ 0 h 32"/>
                <a:gd name="T32" fmla="*/ 25 w 25"/>
                <a:gd name="T33"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 h="32">
                  <a:moveTo>
                    <a:pt x="25" y="20"/>
                  </a:moveTo>
                  <a:cubicBezTo>
                    <a:pt x="25" y="24"/>
                    <a:pt x="23" y="27"/>
                    <a:pt x="21" y="29"/>
                  </a:cubicBezTo>
                  <a:cubicBezTo>
                    <a:pt x="19" y="31"/>
                    <a:pt x="16" y="32"/>
                    <a:pt x="12" y="32"/>
                  </a:cubicBezTo>
                  <a:cubicBezTo>
                    <a:pt x="8" y="32"/>
                    <a:pt x="5" y="31"/>
                    <a:pt x="3" y="29"/>
                  </a:cubicBezTo>
                  <a:cubicBezTo>
                    <a:pt x="1" y="27"/>
                    <a:pt x="0" y="24"/>
                    <a:pt x="0" y="20"/>
                  </a:cubicBezTo>
                  <a:cubicBezTo>
                    <a:pt x="0" y="0"/>
                    <a:pt x="0" y="0"/>
                    <a:pt x="0" y="0"/>
                  </a:cubicBezTo>
                  <a:cubicBezTo>
                    <a:pt x="2" y="0"/>
                    <a:pt x="2" y="0"/>
                    <a:pt x="2" y="0"/>
                  </a:cubicBezTo>
                  <a:cubicBezTo>
                    <a:pt x="4" y="0"/>
                    <a:pt x="4" y="0"/>
                    <a:pt x="4" y="0"/>
                  </a:cubicBezTo>
                  <a:cubicBezTo>
                    <a:pt x="4" y="20"/>
                    <a:pt x="4" y="20"/>
                    <a:pt x="4" y="20"/>
                  </a:cubicBezTo>
                  <a:cubicBezTo>
                    <a:pt x="4" y="23"/>
                    <a:pt x="5" y="25"/>
                    <a:pt x="6" y="26"/>
                  </a:cubicBezTo>
                  <a:cubicBezTo>
                    <a:pt x="7" y="28"/>
                    <a:pt x="9" y="29"/>
                    <a:pt x="12" y="29"/>
                  </a:cubicBezTo>
                  <a:cubicBezTo>
                    <a:pt x="15" y="29"/>
                    <a:pt x="17" y="28"/>
                    <a:pt x="18" y="26"/>
                  </a:cubicBezTo>
                  <a:cubicBezTo>
                    <a:pt x="20" y="25"/>
                    <a:pt x="20" y="23"/>
                    <a:pt x="20" y="20"/>
                  </a:cubicBezTo>
                  <a:cubicBezTo>
                    <a:pt x="20" y="0"/>
                    <a:pt x="20" y="0"/>
                    <a:pt x="20" y="0"/>
                  </a:cubicBezTo>
                  <a:cubicBezTo>
                    <a:pt x="22" y="0"/>
                    <a:pt x="22" y="0"/>
                    <a:pt x="22" y="0"/>
                  </a:cubicBezTo>
                  <a:cubicBezTo>
                    <a:pt x="25" y="0"/>
                    <a:pt x="25" y="0"/>
                    <a:pt x="25" y="0"/>
                  </a:cubicBezTo>
                  <a:lnTo>
                    <a:pt x="25" y="20"/>
                  </a:lnTo>
                  <a:close/>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0" name="Freeform 96">
              <a:extLst>
                <a:ext uri="{FF2B5EF4-FFF2-40B4-BE49-F238E27FC236}">
                  <a16:creationId xmlns:a16="http://schemas.microsoft.com/office/drawing/2014/main" id="{5E76BFC7-2013-43FB-854A-4415FCE2F79F}"/>
                </a:ext>
              </a:extLst>
            </p:cNvPr>
            <p:cNvSpPr>
              <a:spLocks/>
            </p:cNvSpPr>
            <p:nvPr userDrawn="1"/>
          </p:nvSpPr>
          <p:spPr bwMode="auto">
            <a:xfrm>
              <a:off x="1806" y="933"/>
              <a:ext cx="31" cy="40"/>
            </a:xfrm>
            <a:custGeom>
              <a:avLst/>
              <a:gdLst>
                <a:gd name="T0" fmla="*/ 5 w 31"/>
                <a:gd name="T1" fmla="*/ 40 h 40"/>
                <a:gd name="T2" fmla="*/ 2 w 31"/>
                <a:gd name="T3" fmla="*/ 40 h 40"/>
                <a:gd name="T4" fmla="*/ 0 w 31"/>
                <a:gd name="T5" fmla="*/ 40 h 40"/>
                <a:gd name="T6" fmla="*/ 0 w 31"/>
                <a:gd name="T7" fmla="*/ 0 h 40"/>
                <a:gd name="T8" fmla="*/ 2 w 31"/>
                <a:gd name="T9" fmla="*/ 0 h 40"/>
                <a:gd name="T10" fmla="*/ 6 w 31"/>
                <a:gd name="T11" fmla="*/ 0 h 40"/>
                <a:gd name="T12" fmla="*/ 26 w 31"/>
                <a:gd name="T13" fmla="*/ 32 h 40"/>
                <a:gd name="T14" fmla="*/ 26 w 31"/>
                <a:gd name="T15" fmla="*/ 0 h 40"/>
                <a:gd name="T16" fmla="*/ 28 w 31"/>
                <a:gd name="T17" fmla="*/ 0 h 40"/>
                <a:gd name="T18" fmla="*/ 31 w 31"/>
                <a:gd name="T19" fmla="*/ 0 h 40"/>
                <a:gd name="T20" fmla="*/ 31 w 31"/>
                <a:gd name="T21" fmla="*/ 40 h 40"/>
                <a:gd name="T22" fmla="*/ 28 w 31"/>
                <a:gd name="T23" fmla="*/ 40 h 40"/>
                <a:gd name="T24" fmla="*/ 25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2" y="40"/>
                  </a:lnTo>
                  <a:lnTo>
                    <a:pt x="0" y="40"/>
                  </a:lnTo>
                  <a:lnTo>
                    <a:pt x="0" y="0"/>
                  </a:lnTo>
                  <a:lnTo>
                    <a:pt x="2" y="0"/>
                  </a:lnTo>
                  <a:lnTo>
                    <a:pt x="6" y="0"/>
                  </a:lnTo>
                  <a:lnTo>
                    <a:pt x="26" y="32"/>
                  </a:lnTo>
                  <a:lnTo>
                    <a:pt x="26" y="0"/>
                  </a:lnTo>
                  <a:lnTo>
                    <a:pt x="28" y="0"/>
                  </a:lnTo>
                  <a:lnTo>
                    <a:pt x="31" y="0"/>
                  </a:lnTo>
                  <a:lnTo>
                    <a:pt x="31" y="40"/>
                  </a:lnTo>
                  <a:lnTo>
                    <a:pt x="28" y="40"/>
                  </a:lnTo>
                  <a:lnTo>
                    <a:pt x="25" y="40"/>
                  </a:lnTo>
                  <a:lnTo>
                    <a:pt x="5" y="8"/>
                  </a:lnTo>
                  <a:lnTo>
                    <a:pt x="5" y="40"/>
                  </a:lnTo>
                  <a:close/>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1" name="Freeform 97">
              <a:extLst>
                <a:ext uri="{FF2B5EF4-FFF2-40B4-BE49-F238E27FC236}">
                  <a16:creationId xmlns:a16="http://schemas.microsoft.com/office/drawing/2014/main" id="{8AFBC41A-7495-4D2D-BE77-66A1AB944E74}"/>
                </a:ext>
              </a:extLst>
            </p:cNvPr>
            <p:cNvSpPr>
              <a:spLocks/>
            </p:cNvSpPr>
            <p:nvPr userDrawn="1"/>
          </p:nvSpPr>
          <p:spPr bwMode="auto">
            <a:xfrm>
              <a:off x="1852"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2" name="Freeform 98">
              <a:extLst>
                <a:ext uri="{FF2B5EF4-FFF2-40B4-BE49-F238E27FC236}">
                  <a16:creationId xmlns:a16="http://schemas.microsoft.com/office/drawing/2014/main" id="{D09FB162-D409-4711-8412-06A1353A3187}"/>
                </a:ext>
              </a:extLst>
            </p:cNvPr>
            <p:cNvSpPr>
              <a:spLocks/>
            </p:cNvSpPr>
            <p:nvPr userDrawn="1"/>
          </p:nvSpPr>
          <p:spPr bwMode="auto">
            <a:xfrm>
              <a:off x="1867" y="933"/>
              <a:ext cx="34" cy="40"/>
            </a:xfrm>
            <a:custGeom>
              <a:avLst/>
              <a:gdLst>
                <a:gd name="T0" fmla="*/ 0 w 34"/>
                <a:gd name="T1" fmla="*/ 0 h 40"/>
                <a:gd name="T2" fmla="*/ 3 w 34"/>
                <a:gd name="T3" fmla="*/ 0 h 40"/>
                <a:gd name="T4" fmla="*/ 6 w 34"/>
                <a:gd name="T5" fmla="*/ 0 h 40"/>
                <a:gd name="T6" fmla="*/ 17 w 34"/>
                <a:gd name="T7" fmla="*/ 34 h 40"/>
                <a:gd name="T8" fmla="*/ 17 w 34"/>
                <a:gd name="T9" fmla="*/ 34 h 40"/>
                <a:gd name="T10" fmla="*/ 28 w 34"/>
                <a:gd name="T11" fmla="*/ 0 h 40"/>
                <a:gd name="T12" fmla="*/ 32 w 34"/>
                <a:gd name="T13" fmla="*/ 0 h 40"/>
                <a:gd name="T14" fmla="*/ 34 w 34"/>
                <a:gd name="T15" fmla="*/ 0 h 40"/>
                <a:gd name="T16" fmla="*/ 21 w 34"/>
                <a:gd name="T17" fmla="*/ 40 h 40"/>
                <a:gd name="T18" fmla="*/ 17 w 34"/>
                <a:gd name="T19" fmla="*/ 40 h 40"/>
                <a:gd name="T20" fmla="*/ 15 w 34"/>
                <a:gd name="T21" fmla="*/ 40 h 40"/>
                <a:gd name="T22" fmla="*/ 0 w 34"/>
                <a:gd name="T2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40">
                  <a:moveTo>
                    <a:pt x="0" y="0"/>
                  </a:moveTo>
                  <a:lnTo>
                    <a:pt x="3" y="0"/>
                  </a:lnTo>
                  <a:lnTo>
                    <a:pt x="6" y="0"/>
                  </a:lnTo>
                  <a:lnTo>
                    <a:pt x="17" y="34"/>
                  </a:lnTo>
                  <a:lnTo>
                    <a:pt x="17" y="34"/>
                  </a:lnTo>
                  <a:lnTo>
                    <a:pt x="28" y="0"/>
                  </a:lnTo>
                  <a:lnTo>
                    <a:pt x="32" y="0"/>
                  </a:lnTo>
                  <a:lnTo>
                    <a:pt x="34" y="0"/>
                  </a:lnTo>
                  <a:lnTo>
                    <a:pt x="21" y="40"/>
                  </a:lnTo>
                  <a:lnTo>
                    <a:pt x="17" y="40"/>
                  </a:lnTo>
                  <a:lnTo>
                    <a:pt x="15" y="40"/>
                  </a:lnTo>
                  <a:lnTo>
                    <a:pt x="0" y="0"/>
                  </a:lnTo>
                  <a:close/>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3" name="Freeform 99">
              <a:extLst>
                <a:ext uri="{FF2B5EF4-FFF2-40B4-BE49-F238E27FC236}">
                  <a16:creationId xmlns:a16="http://schemas.microsoft.com/office/drawing/2014/main" id="{A0A56EEB-FC0B-4ABC-9E2C-EE345582F9D6}"/>
                </a:ext>
              </a:extLst>
            </p:cNvPr>
            <p:cNvSpPr>
              <a:spLocks/>
            </p:cNvSpPr>
            <p:nvPr userDrawn="1"/>
          </p:nvSpPr>
          <p:spPr bwMode="auto">
            <a:xfrm>
              <a:off x="1911" y="933"/>
              <a:ext cx="30" cy="40"/>
            </a:xfrm>
            <a:custGeom>
              <a:avLst/>
              <a:gdLst>
                <a:gd name="T0" fmla="*/ 0 w 30"/>
                <a:gd name="T1" fmla="*/ 40 h 40"/>
                <a:gd name="T2" fmla="*/ 0 w 30"/>
                <a:gd name="T3" fmla="*/ 0 h 40"/>
                <a:gd name="T4" fmla="*/ 30 w 30"/>
                <a:gd name="T5" fmla="*/ 0 h 40"/>
                <a:gd name="T6" fmla="*/ 30 w 30"/>
                <a:gd name="T7" fmla="*/ 3 h 40"/>
                <a:gd name="T8" fmla="*/ 30 w 30"/>
                <a:gd name="T9" fmla="*/ 5 h 40"/>
                <a:gd name="T10" fmla="*/ 6 w 30"/>
                <a:gd name="T11" fmla="*/ 5 h 40"/>
                <a:gd name="T12" fmla="*/ 6 w 30"/>
                <a:gd name="T13" fmla="*/ 16 h 40"/>
                <a:gd name="T14" fmla="*/ 27 w 30"/>
                <a:gd name="T15" fmla="*/ 16 h 40"/>
                <a:gd name="T16" fmla="*/ 27 w 30"/>
                <a:gd name="T17" fmla="*/ 19 h 40"/>
                <a:gd name="T18" fmla="*/ 27 w 30"/>
                <a:gd name="T19" fmla="*/ 21 h 40"/>
                <a:gd name="T20" fmla="*/ 6 w 30"/>
                <a:gd name="T21" fmla="*/ 21 h 40"/>
                <a:gd name="T22" fmla="*/ 6 w 30"/>
                <a:gd name="T23" fmla="*/ 35 h 40"/>
                <a:gd name="T24" fmla="*/ 30 w 30"/>
                <a:gd name="T25" fmla="*/ 35 h 40"/>
                <a:gd name="T26" fmla="*/ 30 w 30"/>
                <a:gd name="T27" fmla="*/ 37 h 40"/>
                <a:gd name="T28" fmla="*/ 30 w 30"/>
                <a:gd name="T29" fmla="*/ 40 h 40"/>
                <a:gd name="T30" fmla="*/ 0 w 30"/>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40">
                  <a:moveTo>
                    <a:pt x="0" y="40"/>
                  </a:moveTo>
                  <a:lnTo>
                    <a:pt x="0" y="0"/>
                  </a:lnTo>
                  <a:lnTo>
                    <a:pt x="30" y="0"/>
                  </a:lnTo>
                  <a:lnTo>
                    <a:pt x="30" y="3"/>
                  </a:lnTo>
                  <a:lnTo>
                    <a:pt x="30" y="5"/>
                  </a:lnTo>
                  <a:lnTo>
                    <a:pt x="6" y="5"/>
                  </a:lnTo>
                  <a:lnTo>
                    <a:pt x="6" y="16"/>
                  </a:lnTo>
                  <a:lnTo>
                    <a:pt x="27" y="16"/>
                  </a:lnTo>
                  <a:lnTo>
                    <a:pt x="27" y="19"/>
                  </a:lnTo>
                  <a:lnTo>
                    <a:pt x="27" y="21"/>
                  </a:lnTo>
                  <a:lnTo>
                    <a:pt x="6" y="21"/>
                  </a:lnTo>
                  <a:lnTo>
                    <a:pt x="6" y="35"/>
                  </a:lnTo>
                  <a:lnTo>
                    <a:pt x="30" y="35"/>
                  </a:lnTo>
                  <a:lnTo>
                    <a:pt x="30" y="37"/>
                  </a:lnTo>
                  <a:lnTo>
                    <a:pt x="30" y="40"/>
                  </a:lnTo>
                  <a:lnTo>
                    <a:pt x="0" y="40"/>
                  </a:lnTo>
                  <a:close/>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4" name="Freeform 100">
              <a:extLst>
                <a:ext uri="{FF2B5EF4-FFF2-40B4-BE49-F238E27FC236}">
                  <a16:creationId xmlns:a16="http://schemas.microsoft.com/office/drawing/2014/main" id="{515DC53A-290B-4BCD-A377-F29BC3F3B6A9}"/>
                </a:ext>
              </a:extLst>
            </p:cNvPr>
            <p:cNvSpPr>
              <a:spLocks noEditPoints="1"/>
            </p:cNvSpPr>
            <p:nvPr userDrawn="1"/>
          </p:nvSpPr>
          <p:spPr bwMode="auto">
            <a:xfrm>
              <a:off x="1955" y="933"/>
              <a:ext cx="33" cy="40"/>
            </a:xfrm>
            <a:custGeom>
              <a:avLst/>
              <a:gdLst>
                <a:gd name="T0" fmla="*/ 0 w 27"/>
                <a:gd name="T1" fmla="*/ 0 h 32"/>
                <a:gd name="T2" fmla="*/ 2 w 27"/>
                <a:gd name="T3" fmla="*/ 0 h 32"/>
                <a:gd name="T4" fmla="*/ 15 w 27"/>
                <a:gd name="T5" fmla="*/ 0 h 32"/>
                <a:gd name="T6" fmla="*/ 23 w 27"/>
                <a:gd name="T7" fmla="*/ 2 h 32"/>
                <a:gd name="T8" fmla="*/ 25 w 27"/>
                <a:gd name="T9" fmla="*/ 8 h 32"/>
                <a:gd name="T10" fmla="*/ 23 w 27"/>
                <a:gd name="T11" fmla="*/ 15 h 32"/>
                <a:gd name="T12" fmla="*/ 21 w 27"/>
                <a:gd name="T13" fmla="*/ 16 h 32"/>
                <a:gd name="T14" fmla="*/ 22 w 27"/>
                <a:gd name="T15" fmla="*/ 16 h 32"/>
                <a:gd name="T16" fmla="*/ 25 w 27"/>
                <a:gd name="T17" fmla="*/ 22 h 32"/>
                <a:gd name="T18" fmla="*/ 25 w 27"/>
                <a:gd name="T19" fmla="*/ 28 h 32"/>
                <a:gd name="T20" fmla="*/ 25 w 27"/>
                <a:gd name="T21" fmla="*/ 30 h 32"/>
                <a:gd name="T22" fmla="*/ 27 w 27"/>
                <a:gd name="T23" fmla="*/ 31 h 32"/>
                <a:gd name="T24" fmla="*/ 27 w 27"/>
                <a:gd name="T25" fmla="*/ 31 h 32"/>
                <a:gd name="T26" fmla="*/ 21 w 27"/>
                <a:gd name="T27" fmla="*/ 31 h 32"/>
                <a:gd name="T28" fmla="*/ 21 w 27"/>
                <a:gd name="T29" fmla="*/ 29 h 32"/>
                <a:gd name="T30" fmla="*/ 21 w 27"/>
                <a:gd name="T31" fmla="*/ 26 h 32"/>
                <a:gd name="T32" fmla="*/ 21 w 27"/>
                <a:gd name="T33" fmla="*/ 23 h 32"/>
                <a:gd name="T34" fmla="*/ 19 w 27"/>
                <a:gd name="T35" fmla="*/ 19 h 32"/>
                <a:gd name="T36" fmla="*/ 15 w 27"/>
                <a:gd name="T37" fmla="*/ 18 h 32"/>
                <a:gd name="T38" fmla="*/ 4 w 27"/>
                <a:gd name="T39" fmla="*/ 18 h 32"/>
                <a:gd name="T40" fmla="*/ 4 w 27"/>
                <a:gd name="T41" fmla="*/ 32 h 32"/>
                <a:gd name="T42" fmla="*/ 2 w 27"/>
                <a:gd name="T43" fmla="*/ 32 h 32"/>
                <a:gd name="T44" fmla="*/ 0 w 27"/>
                <a:gd name="T45" fmla="*/ 32 h 32"/>
                <a:gd name="T46" fmla="*/ 0 w 27"/>
                <a:gd name="T47" fmla="*/ 0 h 32"/>
                <a:gd name="T48" fmla="*/ 4 w 27"/>
                <a:gd name="T49" fmla="*/ 14 h 32"/>
                <a:gd name="T50" fmla="*/ 15 w 27"/>
                <a:gd name="T51" fmla="*/ 14 h 32"/>
                <a:gd name="T52" fmla="*/ 19 w 27"/>
                <a:gd name="T53" fmla="*/ 13 h 32"/>
                <a:gd name="T54" fmla="*/ 21 w 27"/>
                <a:gd name="T55" fmla="*/ 9 h 32"/>
                <a:gd name="T56" fmla="*/ 19 w 27"/>
                <a:gd name="T57" fmla="*/ 5 h 32"/>
                <a:gd name="T58" fmla="*/ 15 w 27"/>
                <a:gd name="T59" fmla="*/ 3 h 32"/>
                <a:gd name="T60" fmla="*/ 4 w 27"/>
                <a:gd name="T61" fmla="*/ 3 h 32"/>
                <a:gd name="T62" fmla="*/ 4 w 27"/>
                <a:gd name="T63" fmla="*/ 1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 h="32">
                  <a:moveTo>
                    <a:pt x="0" y="0"/>
                  </a:moveTo>
                  <a:cubicBezTo>
                    <a:pt x="2" y="0"/>
                    <a:pt x="2" y="0"/>
                    <a:pt x="2" y="0"/>
                  </a:cubicBezTo>
                  <a:cubicBezTo>
                    <a:pt x="15" y="0"/>
                    <a:pt x="15" y="0"/>
                    <a:pt x="15" y="0"/>
                  </a:cubicBezTo>
                  <a:cubicBezTo>
                    <a:pt x="18" y="0"/>
                    <a:pt x="21" y="1"/>
                    <a:pt x="23" y="2"/>
                  </a:cubicBezTo>
                  <a:cubicBezTo>
                    <a:pt x="24" y="3"/>
                    <a:pt x="25" y="6"/>
                    <a:pt x="25" y="8"/>
                  </a:cubicBezTo>
                  <a:cubicBezTo>
                    <a:pt x="25" y="11"/>
                    <a:pt x="24" y="13"/>
                    <a:pt x="23" y="15"/>
                  </a:cubicBezTo>
                  <a:cubicBezTo>
                    <a:pt x="22" y="15"/>
                    <a:pt x="22" y="16"/>
                    <a:pt x="21" y="16"/>
                  </a:cubicBezTo>
                  <a:cubicBezTo>
                    <a:pt x="22" y="16"/>
                    <a:pt x="22" y="16"/>
                    <a:pt x="22" y="16"/>
                  </a:cubicBezTo>
                  <a:cubicBezTo>
                    <a:pt x="24" y="17"/>
                    <a:pt x="25" y="19"/>
                    <a:pt x="25" y="22"/>
                  </a:cubicBezTo>
                  <a:cubicBezTo>
                    <a:pt x="25" y="28"/>
                    <a:pt x="25" y="28"/>
                    <a:pt x="25" y="28"/>
                  </a:cubicBezTo>
                  <a:cubicBezTo>
                    <a:pt x="25" y="29"/>
                    <a:pt x="25" y="29"/>
                    <a:pt x="25" y="30"/>
                  </a:cubicBezTo>
                  <a:cubicBezTo>
                    <a:pt x="26" y="30"/>
                    <a:pt x="26" y="30"/>
                    <a:pt x="27" y="31"/>
                  </a:cubicBezTo>
                  <a:cubicBezTo>
                    <a:pt x="27" y="31"/>
                    <a:pt x="27" y="31"/>
                    <a:pt x="27" y="31"/>
                  </a:cubicBezTo>
                  <a:cubicBezTo>
                    <a:pt x="21" y="31"/>
                    <a:pt x="21" y="31"/>
                    <a:pt x="21" y="31"/>
                  </a:cubicBezTo>
                  <a:cubicBezTo>
                    <a:pt x="21" y="31"/>
                    <a:pt x="21" y="31"/>
                    <a:pt x="21" y="29"/>
                  </a:cubicBezTo>
                  <a:cubicBezTo>
                    <a:pt x="21" y="28"/>
                    <a:pt x="21" y="27"/>
                    <a:pt x="21" y="26"/>
                  </a:cubicBezTo>
                  <a:cubicBezTo>
                    <a:pt x="21" y="23"/>
                    <a:pt x="21" y="23"/>
                    <a:pt x="21" y="23"/>
                  </a:cubicBezTo>
                  <a:cubicBezTo>
                    <a:pt x="21" y="21"/>
                    <a:pt x="20" y="20"/>
                    <a:pt x="19" y="19"/>
                  </a:cubicBezTo>
                  <a:cubicBezTo>
                    <a:pt x="18" y="18"/>
                    <a:pt x="17" y="18"/>
                    <a:pt x="15" y="18"/>
                  </a:cubicBezTo>
                  <a:cubicBezTo>
                    <a:pt x="4" y="18"/>
                    <a:pt x="4" y="18"/>
                    <a:pt x="4" y="18"/>
                  </a:cubicBezTo>
                  <a:cubicBezTo>
                    <a:pt x="4" y="32"/>
                    <a:pt x="4" y="32"/>
                    <a:pt x="4" y="32"/>
                  </a:cubicBezTo>
                  <a:cubicBezTo>
                    <a:pt x="2" y="32"/>
                    <a:pt x="2" y="32"/>
                    <a:pt x="2" y="32"/>
                  </a:cubicBezTo>
                  <a:cubicBezTo>
                    <a:pt x="0" y="32"/>
                    <a:pt x="0" y="32"/>
                    <a:pt x="0" y="32"/>
                  </a:cubicBezTo>
                  <a:lnTo>
                    <a:pt x="0" y="0"/>
                  </a:lnTo>
                  <a:close/>
                  <a:moveTo>
                    <a:pt x="4" y="14"/>
                  </a:moveTo>
                  <a:cubicBezTo>
                    <a:pt x="15" y="14"/>
                    <a:pt x="15" y="14"/>
                    <a:pt x="15" y="14"/>
                  </a:cubicBezTo>
                  <a:cubicBezTo>
                    <a:pt x="17" y="14"/>
                    <a:pt x="19" y="14"/>
                    <a:pt x="19" y="13"/>
                  </a:cubicBezTo>
                  <a:cubicBezTo>
                    <a:pt x="20" y="12"/>
                    <a:pt x="21" y="11"/>
                    <a:pt x="21" y="9"/>
                  </a:cubicBezTo>
                  <a:cubicBezTo>
                    <a:pt x="21" y="7"/>
                    <a:pt x="20" y="5"/>
                    <a:pt x="19" y="5"/>
                  </a:cubicBezTo>
                  <a:cubicBezTo>
                    <a:pt x="18" y="4"/>
                    <a:pt x="17" y="3"/>
                    <a:pt x="15" y="3"/>
                  </a:cubicBezTo>
                  <a:cubicBezTo>
                    <a:pt x="4" y="3"/>
                    <a:pt x="4" y="3"/>
                    <a:pt x="4" y="3"/>
                  </a:cubicBezTo>
                  <a:lnTo>
                    <a:pt x="4" y="14"/>
                  </a:lnTo>
                  <a:close/>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5" name="Freeform 101">
              <a:extLst>
                <a:ext uri="{FF2B5EF4-FFF2-40B4-BE49-F238E27FC236}">
                  <a16:creationId xmlns:a16="http://schemas.microsoft.com/office/drawing/2014/main" id="{43C182AC-B9CB-4033-809E-037CC73333BC}"/>
                </a:ext>
              </a:extLst>
            </p:cNvPr>
            <p:cNvSpPr>
              <a:spLocks/>
            </p:cNvSpPr>
            <p:nvPr userDrawn="1"/>
          </p:nvSpPr>
          <p:spPr bwMode="auto">
            <a:xfrm>
              <a:off x="1999" y="932"/>
              <a:ext cx="31" cy="41"/>
            </a:xfrm>
            <a:custGeom>
              <a:avLst/>
              <a:gdLst>
                <a:gd name="T0" fmla="*/ 20 w 25"/>
                <a:gd name="T1" fmla="*/ 10 h 33"/>
                <a:gd name="T2" fmla="*/ 18 w 25"/>
                <a:gd name="T3" fmla="*/ 5 h 33"/>
                <a:gd name="T4" fmla="*/ 12 w 25"/>
                <a:gd name="T5" fmla="*/ 4 h 33"/>
                <a:gd name="T6" fmla="*/ 7 w 25"/>
                <a:gd name="T7" fmla="*/ 5 h 33"/>
                <a:gd name="T8" fmla="*/ 5 w 25"/>
                <a:gd name="T9" fmla="*/ 9 h 33"/>
                <a:gd name="T10" fmla="*/ 6 w 25"/>
                <a:gd name="T11" fmla="*/ 12 h 33"/>
                <a:gd name="T12" fmla="*/ 11 w 25"/>
                <a:gd name="T13" fmla="*/ 14 h 33"/>
                <a:gd name="T14" fmla="*/ 17 w 25"/>
                <a:gd name="T15" fmla="*/ 15 h 33"/>
                <a:gd name="T16" fmla="*/ 23 w 25"/>
                <a:gd name="T17" fmla="*/ 18 h 33"/>
                <a:gd name="T18" fmla="*/ 25 w 25"/>
                <a:gd name="T19" fmla="*/ 24 h 33"/>
                <a:gd name="T20" fmla="*/ 22 w 25"/>
                <a:gd name="T21" fmla="*/ 31 h 33"/>
                <a:gd name="T22" fmla="*/ 13 w 25"/>
                <a:gd name="T23" fmla="*/ 33 h 33"/>
                <a:gd name="T24" fmla="*/ 3 w 25"/>
                <a:gd name="T25" fmla="*/ 30 h 33"/>
                <a:gd name="T26" fmla="*/ 0 w 25"/>
                <a:gd name="T27" fmla="*/ 23 h 33"/>
                <a:gd name="T28" fmla="*/ 0 w 25"/>
                <a:gd name="T29" fmla="*/ 22 h 33"/>
                <a:gd name="T30" fmla="*/ 4 w 25"/>
                <a:gd name="T31" fmla="*/ 22 h 33"/>
                <a:gd name="T32" fmla="*/ 6 w 25"/>
                <a:gd name="T33" fmla="*/ 28 h 33"/>
                <a:gd name="T34" fmla="*/ 13 w 25"/>
                <a:gd name="T35" fmla="*/ 30 h 33"/>
                <a:gd name="T36" fmla="*/ 19 w 25"/>
                <a:gd name="T37" fmla="*/ 28 h 33"/>
                <a:gd name="T38" fmla="*/ 21 w 25"/>
                <a:gd name="T39" fmla="*/ 24 h 33"/>
                <a:gd name="T40" fmla="*/ 20 w 25"/>
                <a:gd name="T41" fmla="*/ 21 h 33"/>
                <a:gd name="T42" fmla="*/ 14 w 25"/>
                <a:gd name="T43" fmla="*/ 19 h 33"/>
                <a:gd name="T44" fmla="*/ 9 w 25"/>
                <a:gd name="T45" fmla="*/ 17 h 33"/>
                <a:gd name="T46" fmla="*/ 3 w 25"/>
                <a:gd name="T47" fmla="*/ 15 h 33"/>
                <a:gd name="T48" fmla="*/ 1 w 25"/>
                <a:gd name="T49" fmla="*/ 10 h 33"/>
                <a:gd name="T50" fmla="*/ 4 w 25"/>
                <a:gd name="T51" fmla="*/ 3 h 33"/>
                <a:gd name="T52" fmla="*/ 12 w 25"/>
                <a:gd name="T53" fmla="*/ 0 h 33"/>
                <a:gd name="T54" fmla="*/ 21 w 25"/>
                <a:gd name="T55" fmla="*/ 3 h 33"/>
                <a:gd name="T56" fmla="*/ 24 w 25"/>
                <a:gd name="T57" fmla="*/ 10 h 33"/>
                <a:gd name="T58" fmla="*/ 20 w 25"/>
                <a:gd name="T59"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3">
                  <a:moveTo>
                    <a:pt x="20" y="10"/>
                  </a:moveTo>
                  <a:cubicBezTo>
                    <a:pt x="20" y="8"/>
                    <a:pt x="19" y="6"/>
                    <a:pt x="18" y="5"/>
                  </a:cubicBezTo>
                  <a:cubicBezTo>
                    <a:pt x="17" y="4"/>
                    <a:pt x="15" y="4"/>
                    <a:pt x="12" y="4"/>
                  </a:cubicBezTo>
                  <a:cubicBezTo>
                    <a:pt x="10" y="4"/>
                    <a:pt x="8" y="4"/>
                    <a:pt x="7" y="5"/>
                  </a:cubicBezTo>
                  <a:cubicBezTo>
                    <a:pt x="6" y="6"/>
                    <a:pt x="5" y="7"/>
                    <a:pt x="5" y="9"/>
                  </a:cubicBezTo>
                  <a:cubicBezTo>
                    <a:pt x="5" y="10"/>
                    <a:pt x="5" y="11"/>
                    <a:pt x="6" y="12"/>
                  </a:cubicBezTo>
                  <a:cubicBezTo>
                    <a:pt x="7" y="13"/>
                    <a:pt x="9" y="13"/>
                    <a:pt x="11" y="14"/>
                  </a:cubicBezTo>
                  <a:cubicBezTo>
                    <a:pt x="17" y="15"/>
                    <a:pt x="17" y="15"/>
                    <a:pt x="17" y="15"/>
                  </a:cubicBezTo>
                  <a:cubicBezTo>
                    <a:pt x="20" y="16"/>
                    <a:pt x="22" y="17"/>
                    <a:pt x="23" y="18"/>
                  </a:cubicBezTo>
                  <a:cubicBezTo>
                    <a:pt x="24" y="20"/>
                    <a:pt x="25" y="22"/>
                    <a:pt x="25" y="24"/>
                  </a:cubicBezTo>
                  <a:cubicBezTo>
                    <a:pt x="25" y="27"/>
                    <a:pt x="24" y="29"/>
                    <a:pt x="22" y="31"/>
                  </a:cubicBezTo>
                  <a:cubicBezTo>
                    <a:pt x="20" y="33"/>
                    <a:pt x="17" y="33"/>
                    <a:pt x="13" y="33"/>
                  </a:cubicBezTo>
                  <a:cubicBezTo>
                    <a:pt x="9" y="33"/>
                    <a:pt x="5" y="32"/>
                    <a:pt x="3" y="30"/>
                  </a:cubicBezTo>
                  <a:cubicBezTo>
                    <a:pt x="1" y="29"/>
                    <a:pt x="0" y="26"/>
                    <a:pt x="0" y="23"/>
                  </a:cubicBezTo>
                  <a:cubicBezTo>
                    <a:pt x="0" y="22"/>
                    <a:pt x="0" y="22"/>
                    <a:pt x="0" y="22"/>
                  </a:cubicBezTo>
                  <a:cubicBezTo>
                    <a:pt x="4" y="22"/>
                    <a:pt x="4" y="22"/>
                    <a:pt x="4" y="22"/>
                  </a:cubicBezTo>
                  <a:cubicBezTo>
                    <a:pt x="4" y="25"/>
                    <a:pt x="5" y="26"/>
                    <a:pt x="6" y="28"/>
                  </a:cubicBezTo>
                  <a:cubicBezTo>
                    <a:pt x="8" y="29"/>
                    <a:pt x="10" y="30"/>
                    <a:pt x="13" y="30"/>
                  </a:cubicBezTo>
                  <a:cubicBezTo>
                    <a:pt x="15" y="30"/>
                    <a:pt x="17" y="29"/>
                    <a:pt x="19" y="28"/>
                  </a:cubicBezTo>
                  <a:cubicBezTo>
                    <a:pt x="20" y="27"/>
                    <a:pt x="21" y="26"/>
                    <a:pt x="21" y="24"/>
                  </a:cubicBezTo>
                  <a:cubicBezTo>
                    <a:pt x="21" y="23"/>
                    <a:pt x="20" y="22"/>
                    <a:pt x="20" y="21"/>
                  </a:cubicBezTo>
                  <a:cubicBezTo>
                    <a:pt x="19" y="20"/>
                    <a:pt x="17" y="19"/>
                    <a:pt x="14" y="19"/>
                  </a:cubicBezTo>
                  <a:cubicBezTo>
                    <a:pt x="9" y="17"/>
                    <a:pt x="9" y="17"/>
                    <a:pt x="9" y="17"/>
                  </a:cubicBezTo>
                  <a:cubicBezTo>
                    <a:pt x="6" y="17"/>
                    <a:pt x="4" y="16"/>
                    <a:pt x="3" y="15"/>
                  </a:cubicBezTo>
                  <a:cubicBezTo>
                    <a:pt x="1" y="14"/>
                    <a:pt x="1" y="12"/>
                    <a:pt x="1" y="10"/>
                  </a:cubicBezTo>
                  <a:cubicBezTo>
                    <a:pt x="1" y="7"/>
                    <a:pt x="2" y="4"/>
                    <a:pt x="4" y="3"/>
                  </a:cubicBezTo>
                  <a:cubicBezTo>
                    <a:pt x="6" y="1"/>
                    <a:pt x="9" y="0"/>
                    <a:pt x="12" y="0"/>
                  </a:cubicBezTo>
                  <a:cubicBezTo>
                    <a:pt x="16" y="0"/>
                    <a:pt x="19" y="1"/>
                    <a:pt x="21" y="3"/>
                  </a:cubicBezTo>
                  <a:cubicBezTo>
                    <a:pt x="23" y="4"/>
                    <a:pt x="24" y="7"/>
                    <a:pt x="24" y="10"/>
                  </a:cubicBezTo>
                  <a:lnTo>
                    <a:pt x="20" y="10"/>
                  </a:lnTo>
                  <a:close/>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6" name="Freeform 102">
              <a:extLst>
                <a:ext uri="{FF2B5EF4-FFF2-40B4-BE49-F238E27FC236}">
                  <a16:creationId xmlns:a16="http://schemas.microsoft.com/office/drawing/2014/main" id="{CA0469B9-9E7E-4971-8D1B-3A413794B938}"/>
                </a:ext>
              </a:extLst>
            </p:cNvPr>
            <p:cNvSpPr>
              <a:spLocks/>
            </p:cNvSpPr>
            <p:nvPr userDrawn="1"/>
          </p:nvSpPr>
          <p:spPr bwMode="auto">
            <a:xfrm>
              <a:off x="2044"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7" name="Freeform 103">
              <a:extLst>
                <a:ext uri="{FF2B5EF4-FFF2-40B4-BE49-F238E27FC236}">
                  <a16:creationId xmlns:a16="http://schemas.microsoft.com/office/drawing/2014/main" id="{90D9BB77-EE58-496F-AD2A-501FC366C125}"/>
                </a:ext>
              </a:extLst>
            </p:cNvPr>
            <p:cNvSpPr>
              <a:spLocks/>
            </p:cNvSpPr>
            <p:nvPr userDrawn="1"/>
          </p:nvSpPr>
          <p:spPr bwMode="auto">
            <a:xfrm>
              <a:off x="2060" y="933"/>
              <a:ext cx="32" cy="40"/>
            </a:xfrm>
            <a:custGeom>
              <a:avLst/>
              <a:gdLst>
                <a:gd name="T0" fmla="*/ 13 w 32"/>
                <a:gd name="T1" fmla="*/ 5 h 40"/>
                <a:gd name="T2" fmla="*/ 0 w 32"/>
                <a:gd name="T3" fmla="*/ 5 h 40"/>
                <a:gd name="T4" fmla="*/ 0 w 32"/>
                <a:gd name="T5" fmla="*/ 3 h 40"/>
                <a:gd name="T6" fmla="*/ 0 w 32"/>
                <a:gd name="T7" fmla="*/ 0 h 40"/>
                <a:gd name="T8" fmla="*/ 32 w 32"/>
                <a:gd name="T9" fmla="*/ 0 h 40"/>
                <a:gd name="T10" fmla="*/ 32 w 32"/>
                <a:gd name="T11" fmla="*/ 3 h 40"/>
                <a:gd name="T12" fmla="*/ 32 w 32"/>
                <a:gd name="T13" fmla="*/ 5 h 40"/>
                <a:gd name="T14" fmla="*/ 18 w 32"/>
                <a:gd name="T15" fmla="*/ 5 h 40"/>
                <a:gd name="T16" fmla="*/ 18 w 32"/>
                <a:gd name="T17" fmla="*/ 40 h 40"/>
                <a:gd name="T18" fmla="*/ 16 w 32"/>
                <a:gd name="T19" fmla="*/ 40 h 40"/>
                <a:gd name="T20" fmla="*/ 13 w 32"/>
                <a:gd name="T21" fmla="*/ 40 h 40"/>
                <a:gd name="T22" fmla="*/ 13 w 32"/>
                <a:gd name="T23" fmla="*/ 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 h="40">
                  <a:moveTo>
                    <a:pt x="13" y="5"/>
                  </a:moveTo>
                  <a:lnTo>
                    <a:pt x="0" y="5"/>
                  </a:lnTo>
                  <a:lnTo>
                    <a:pt x="0" y="3"/>
                  </a:lnTo>
                  <a:lnTo>
                    <a:pt x="0" y="0"/>
                  </a:lnTo>
                  <a:lnTo>
                    <a:pt x="32" y="0"/>
                  </a:lnTo>
                  <a:lnTo>
                    <a:pt x="32" y="3"/>
                  </a:lnTo>
                  <a:lnTo>
                    <a:pt x="32" y="5"/>
                  </a:lnTo>
                  <a:lnTo>
                    <a:pt x="18" y="5"/>
                  </a:lnTo>
                  <a:lnTo>
                    <a:pt x="18" y="40"/>
                  </a:lnTo>
                  <a:lnTo>
                    <a:pt x="16" y="40"/>
                  </a:lnTo>
                  <a:lnTo>
                    <a:pt x="13" y="40"/>
                  </a:lnTo>
                  <a:lnTo>
                    <a:pt x="13" y="5"/>
                  </a:lnTo>
                  <a:close/>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8" name="Freeform 104">
              <a:extLst>
                <a:ext uri="{FF2B5EF4-FFF2-40B4-BE49-F238E27FC236}">
                  <a16:creationId xmlns:a16="http://schemas.microsoft.com/office/drawing/2014/main" id="{23E2F9BE-3F09-4C1F-903B-DEDE7D1437B3}"/>
                </a:ext>
              </a:extLst>
            </p:cNvPr>
            <p:cNvSpPr>
              <a:spLocks/>
            </p:cNvSpPr>
            <p:nvPr userDrawn="1"/>
          </p:nvSpPr>
          <p:spPr bwMode="auto">
            <a:xfrm>
              <a:off x="2101" y="933"/>
              <a:ext cx="34" cy="40"/>
            </a:xfrm>
            <a:custGeom>
              <a:avLst/>
              <a:gdLst>
                <a:gd name="T0" fmla="*/ 15 w 34"/>
                <a:gd name="T1" fmla="*/ 24 h 40"/>
                <a:gd name="T2" fmla="*/ 0 w 34"/>
                <a:gd name="T3" fmla="*/ 0 h 40"/>
                <a:gd name="T4" fmla="*/ 3 w 34"/>
                <a:gd name="T5" fmla="*/ 0 h 40"/>
                <a:gd name="T6" fmla="*/ 6 w 34"/>
                <a:gd name="T7" fmla="*/ 0 h 40"/>
                <a:gd name="T8" fmla="*/ 17 w 34"/>
                <a:gd name="T9" fmla="*/ 19 h 40"/>
                <a:gd name="T10" fmla="*/ 17 w 34"/>
                <a:gd name="T11" fmla="*/ 19 h 40"/>
                <a:gd name="T12" fmla="*/ 28 w 34"/>
                <a:gd name="T13" fmla="*/ 0 h 40"/>
                <a:gd name="T14" fmla="*/ 32 w 34"/>
                <a:gd name="T15" fmla="*/ 0 h 40"/>
                <a:gd name="T16" fmla="*/ 34 w 34"/>
                <a:gd name="T17" fmla="*/ 0 h 40"/>
                <a:gd name="T18" fmla="*/ 20 w 34"/>
                <a:gd name="T19" fmla="*/ 24 h 40"/>
                <a:gd name="T20" fmla="*/ 20 w 34"/>
                <a:gd name="T21" fmla="*/ 40 h 40"/>
                <a:gd name="T22" fmla="*/ 17 w 34"/>
                <a:gd name="T23" fmla="*/ 40 h 40"/>
                <a:gd name="T24" fmla="*/ 15 w 34"/>
                <a:gd name="T25" fmla="*/ 40 h 40"/>
                <a:gd name="T26" fmla="*/ 15 w 34"/>
                <a:gd name="T27"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4" h="40">
                  <a:moveTo>
                    <a:pt x="15" y="24"/>
                  </a:moveTo>
                  <a:lnTo>
                    <a:pt x="0" y="0"/>
                  </a:lnTo>
                  <a:lnTo>
                    <a:pt x="3" y="0"/>
                  </a:lnTo>
                  <a:lnTo>
                    <a:pt x="6" y="0"/>
                  </a:lnTo>
                  <a:lnTo>
                    <a:pt x="17" y="19"/>
                  </a:lnTo>
                  <a:lnTo>
                    <a:pt x="17" y="19"/>
                  </a:lnTo>
                  <a:lnTo>
                    <a:pt x="28" y="0"/>
                  </a:lnTo>
                  <a:lnTo>
                    <a:pt x="32" y="0"/>
                  </a:lnTo>
                  <a:lnTo>
                    <a:pt x="34" y="0"/>
                  </a:lnTo>
                  <a:lnTo>
                    <a:pt x="20" y="24"/>
                  </a:lnTo>
                  <a:lnTo>
                    <a:pt x="20" y="40"/>
                  </a:lnTo>
                  <a:lnTo>
                    <a:pt x="17" y="40"/>
                  </a:lnTo>
                  <a:lnTo>
                    <a:pt x="15" y="40"/>
                  </a:lnTo>
                  <a:lnTo>
                    <a:pt x="15" y="24"/>
                  </a:lnTo>
                  <a:close/>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9" name="Freeform 105">
              <a:extLst>
                <a:ext uri="{FF2B5EF4-FFF2-40B4-BE49-F238E27FC236}">
                  <a16:creationId xmlns:a16="http://schemas.microsoft.com/office/drawing/2014/main" id="{6BCCF8C5-EFF5-48BD-8438-CD6288B8B4BC}"/>
                </a:ext>
              </a:extLst>
            </p:cNvPr>
            <p:cNvSpPr>
              <a:spLocks noEditPoints="1"/>
            </p:cNvSpPr>
            <p:nvPr userDrawn="1"/>
          </p:nvSpPr>
          <p:spPr bwMode="auto">
            <a:xfrm>
              <a:off x="954" y="660"/>
              <a:ext cx="350" cy="353"/>
            </a:xfrm>
            <a:custGeom>
              <a:avLst/>
              <a:gdLst>
                <a:gd name="T0" fmla="*/ 142 w 283"/>
                <a:gd name="T1" fmla="*/ 0 h 283"/>
                <a:gd name="T2" fmla="*/ 283 w 283"/>
                <a:gd name="T3" fmla="*/ 142 h 283"/>
                <a:gd name="T4" fmla="*/ 142 w 283"/>
                <a:gd name="T5" fmla="*/ 283 h 283"/>
                <a:gd name="T6" fmla="*/ 0 w 283"/>
                <a:gd name="T7" fmla="*/ 142 h 283"/>
                <a:gd name="T8" fmla="*/ 142 w 283"/>
                <a:gd name="T9" fmla="*/ 0 h 283"/>
                <a:gd name="T10" fmla="*/ 142 w 283"/>
                <a:gd name="T11" fmla="*/ 6 h 283"/>
                <a:gd name="T12" fmla="*/ 6 w 283"/>
                <a:gd name="T13" fmla="*/ 142 h 283"/>
                <a:gd name="T14" fmla="*/ 142 w 283"/>
                <a:gd name="T15" fmla="*/ 277 h 283"/>
                <a:gd name="T16" fmla="*/ 278 w 283"/>
                <a:gd name="T17" fmla="*/ 142 h 283"/>
                <a:gd name="T18" fmla="*/ 142 w 283"/>
                <a:gd name="T19" fmla="*/ 6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3" h="283">
                  <a:moveTo>
                    <a:pt x="142" y="0"/>
                  </a:moveTo>
                  <a:cubicBezTo>
                    <a:pt x="220" y="0"/>
                    <a:pt x="283" y="64"/>
                    <a:pt x="283" y="142"/>
                  </a:cubicBezTo>
                  <a:cubicBezTo>
                    <a:pt x="283" y="219"/>
                    <a:pt x="220" y="283"/>
                    <a:pt x="142" y="283"/>
                  </a:cubicBezTo>
                  <a:cubicBezTo>
                    <a:pt x="64" y="283"/>
                    <a:pt x="0" y="219"/>
                    <a:pt x="0" y="142"/>
                  </a:cubicBezTo>
                  <a:cubicBezTo>
                    <a:pt x="0" y="64"/>
                    <a:pt x="64" y="0"/>
                    <a:pt x="142" y="0"/>
                  </a:cubicBezTo>
                  <a:moveTo>
                    <a:pt x="142" y="6"/>
                  </a:moveTo>
                  <a:cubicBezTo>
                    <a:pt x="67" y="6"/>
                    <a:pt x="6" y="67"/>
                    <a:pt x="6" y="142"/>
                  </a:cubicBezTo>
                  <a:cubicBezTo>
                    <a:pt x="6" y="216"/>
                    <a:pt x="67" y="277"/>
                    <a:pt x="142" y="277"/>
                  </a:cubicBezTo>
                  <a:cubicBezTo>
                    <a:pt x="217" y="277"/>
                    <a:pt x="278" y="216"/>
                    <a:pt x="278" y="142"/>
                  </a:cubicBezTo>
                  <a:cubicBezTo>
                    <a:pt x="278" y="67"/>
                    <a:pt x="217" y="6"/>
                    <a:pt x="142" y="6"/>
                  </a:cubicBezTo>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0" name="Freeform 106">
              <a:extLst>
                <a:ext uri="{FF2B5EF4-FFF2-40B4-BE49-F238E27FC236}">
                  <a16:creationId xmlns:a16="http://schemas.microsoft.com/office/drawing/2014/main" id="{D85300FF-28F5-4F4C-9868-6E9E7358F061}"/>
                </a:ext>
              </a:extLst>
            </p:cNvPr>
            <p:cNvSpPr>
              <a:spLocks/>
            </p:cNvSpPr>
            <p:nvPr userDrawn="1"/>
          </p:nvSpPr>
          <p:spPr bwMode="auto">
            <a:xfrm>
              <a:off x="1033" y="739"/>
              <a:ext cx="193" cy="173"/>
            </a:xfrm>
            <a:custGeom>
              <a:avLst/>
              <a:gdLst>
                <a:gd name="T0" fmla="*/ 28 w 156"/>
                <a:gd name="T1" fmla="*/ 139 h 139"/>
                <a:gd name="T2" fmla="*/ 7 w 156"/>
                <a:gd name="T3" fmla="*/ 112 h 139"/>
                <a:gd name="T4" fmla="*/ 0 w 156"/>
                <a:gd name="T5" fmla="*/ 79 h 139"/>
                <a:gd name="T6" fmla="*/ 78 w 156"/>
                <a:gd name="T7" fmla="*/ 0 h 139"/>
                <a:gd name="T8" fmla="*/ 156 w 156"/>
                <a:gd name="T9" fmla="*/ 79 h 139"/>
                <a:gd name="T10" fmla="*/ 149 w 156"/>
                <a:gd name="T11" fmla="*/ 112 h 139"/>
                <a:gd name="T12" fmla="*/ 128 w 156"/>
                <a:gd name="T13" fmla="*/ 139 h 139"/>
                <a:gd name="T14" fmla="*/ 126 w 156"/>
                <a:gd name="T15" fmla="*/ 137 h 139"/>
                <a:gd name="T16" fmla="*/ 146 w 156"/>
                <a:gd name="T17" fmla="*/ 111 h 139"/>
                <a:gd name="T18" fmla="*/ 153 w 156"/>
                <a:gd name="T19" fmla="*/ 79 h 139"/>
                <a:gd name="T20" fmla="*/ 78 w 156"/>
                <a:gd name="T21" fmla="*/ 3 h 139"/>
                <a:gd name="T22" fmla="*/ 3 w 156"/>
                <a:gd name="T23" fmla="*/ 79 h 139"/>
                <a:gd name="T24" fmla="*/ 10 w 156"/>
                <a:gd name="T25" fmla="*/ 111 h 139"/>
                <a:gd name="T26" fmla="*/ 30 w 156"/>
                <a:gd name="T27" fmla="*/ 137 h 139"/>
                <a:gd name="T28" fmla="*/ 28 w 156"/>
                <a:gd name="T29" fmla="*/ 13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6" h="139">
                  <a:moveTo>
                    <a:pt x="28" y="139"/>
                  </a:moveTo>
                  <a:cubicBezTo>
                    <a:pt x="19" y="132"/>
                    <a:pt x="12" y="122"/>
                    <a:pt x="7" y="112"/>
                  </a:cubicBezTo>
                  <a:cubicBezTo>
                    <a:pt x="2" y="102"/>
                    <a:pt x="0" y="90"/>
                    <a:pt x="0" y="79"/>
                  </a:cubicBezTo>
                  <a:cubicBezTo>
                    <a:pt x="0" y="36"/>
                    <a:pt x="35" y="0"/>
                    <a:pt x="78" y="0"/>
                  </a:cubicBezTo>
                  <a:cubicBezTo>
                    <a:pt x="121" y="0"/>
                    <a:pt x="156" y="36"/>
                    <a:pt x="156" y="79"/>
                  </a:cubicBezTo>
                  <a:cubicBezTo>
                    <a:pt x="156" y="90"/>
                    <a:pt x="153" y="102"/>
                    <a:pt x="149" y="112"/>
                  </a:cubicBezTo>
                  <a:cubicBezTo>
                    <a:pt x="144" y="122"/>
                    <a:pt x="136" y="132"/>
                    <a:pt x="128" y="139"/>
                  </a:cubicBezTo>
                  <a:cubicBezTo>
                    <a:pt x="126" y="137"/>
                    <a:pt x="126" y="137"/>
                    <a:pt x="126" y="137"/>
                  </a:cubicBezTo>
                  <a:cubicBezTo>
                    <a:pt x="134" y="130"/>
                    <a:pt x="141" y="121"/>
                    <a:pt x="146" y="111"/>
                  </a:cubicBezTo>
                  <a:cubicBezTo>
                    <a:pt x="151" y="101"/>
                    <a:pt x="153" y="90"/>
                    <a:pt x="153" y="79"/>
                  </a:cubicBezTo>
                  <a:cubicBezTo>
                    <a:pt x="153" y="37"/>
                    <a:pt x="119" y="3"/>
                    <a:pt x="78" y="3"/>
                  </a:cubicBezTo>
                  <a:cubicBezTo>
                    <a:pt x="36" y="3"/>
                    <a:pt x="3" y="37"/>
                    <a:pt x="3" y="79"/>
                  </a:cubicBezTo>
                  <a:cubicBezTo>
                    <a:pt x="3" y="90"/>
                    <a:pt x="5" y="101"/>
                    <a:pt x="10" y="111"/>
                  </a:cubicBezTo>
                  <a:cubicBezTo>
                    <a:pt x="14" y="121"/>
                    <a:pt x="21" y="130"/>
                    <a:pt x="30" y="137"/>
                  </a:cubicBezTo>
                  <a:lnTo>
                    <a:pt x="28" y="139"/>
                  </a:lnTo>
                  <a:close/>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1" name="Freeform 107">
              <a:extLst>
                <a:ext uri="{FF2B5EF4-FFF2-40B4-BE49-F238E27FC236}">
                  <a16:creationId xmlns:a16="http://schemas.microsoft.com/office/drawing/2014/main" id="{B5784116-8C30-4671-9587-9D254C0F5AC5}"/>
                </a:ext>
              </a:extLst>
            </p:cNvPr>
            <p:cNvSpPr>
              <a:spLocks/>
            </p:cNvSpPr>
            <p:nvPr userDrawn="1"/>
          </p:nvSpPr>
          <p:spPr bwMode="auto">
            <a:xfrm>
              <a:off x="972" y="867"/>
              <a:ext cx="40" cy="29"/>
            </a:xfrm>
            <a:custGeom>
              <a:avLst/>
              <a:gdLst>
                <a:gd name="T0" fmla="*/ 8 w 40"/>
                <a:gd name="T1" fmla="*/ 29 h 29"/>
                <a:gd name="T2" fmla="*/ 0 w 40"/>
                <a:gd name="T3" fmla="*/ 10 h 29"/>
                <a:gd name="T4" fmla="*/ 4 w 40"/>
                <a:gd name="T5" fmla="*/ 9 h 29"/>
                <a:gd name="T6" fmla="*/ 35 w 40"/>
                <a:gd name="T7" fmla="*/ 14 h 29"/>
                <a:gd name="T8" fmla="*/ 30 w 40"/>
                <a:gd name="T9" fmla="*/ 1 h 29"/>
                <a:gd name="T10" fmla="*/ 34 w 40"/>
                <a:gd name="T11" fmla="*/ 0 h 29"/>
                <a:gd name="T12" fmla="*/ 40 w 40"/>
                <a:gd name="T13" fmla="*/ 16 h 29"/>
                <a:gd name="T14" fmla="*/ 36 w 40"/>
                <a:gd name="T15" fmla="*/ 17 h 29"/>
                <a:gd name="T16" fmla="*/ 7 w 40"/>
                <a:gd name="T17" fmla="*/ 14 h 29"/>
                <a:gd name="T18" fmla="*/ 12 w 40"/>
                <a:gd name="T19" fmla="*/ 27 h 29"/>
                <a:gd name="T20" fmla="*/ 8 w 40"/>
                <a:gd name="T21"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29">
                  <a:moveTo>
                    <a:pt x="8" y="29"/>
                  </a:moveTo>
                  <a:lnTo>
                    <a:pt x="0" y="10"/>
                  </a:lnTo>
                  <a:lnTo>
                    <a:pt x="4" y="9"/>
                  </a:lnTo>
                  <a:lnTo>
                    <a:pt x="35" y="14"/>
                  </a:lnTo>
                  <a:lnTo>
                    <a:pt x="30" y="1"/>
                  </a:lnTo>
                  <a:lnTo>
                    <a:pt x="34" y="0"/>
                  </a:lnTo>
                  <a:lnTo>
                    <a:pt x="40" y="16"/>
                  </a:lnTo>
                  <a:lnTo>
                    <a:pt x="36" y="17"/>
                  </a:lnTo>
                  <a:lnTo>
                    <a:pt x="7" y="14"/>
                  </a:lnTo>
                  <a:lnTo>
                    <a:pt x="12" y="27"/>
                  </a:lnTo>
                  <a:lnTo>
                    <a:pt x="8" y="29"/>
                  </a:lnTo>
                  <a:close/>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2" name="Freeform 108">
              <a:extLst>
                <a:ext uri="{FF2B5EF4-FFF2-40B4-BE49-F238E27FC236}">
                  <a16:creationId xmlns:a16="http://schemas.microsoft.com/office/drawing/2014/main" id="{DAFE9458-FE6E-4BB9-B4E5-4D0938965F33}"/>
                </a:ext>
              </a:extLst>
            </p:cNvPr>
            <p:cNvSpPr>
              <a:spLocks/>
            </p:cNvSpPr>
            <p:nvPr userDrawn="1"/>
          </p:nvSpPr>
          <p:spPr bwMode="auto">
            <a:xfrm>
              <a:off x="984" y="888"/>
              <a:ext cx="38" cy="31"/>
            </a:xfrm>
            <a:custGeom>
              <a:avLst/>
              <a:gdLst>
                <a:gd name="T0" fmla="*/ 7 w 38"/>
                <a:gd name="T1" fmla="*/ 31 h 31"/>
                <a:gd name="T2" fmla="*/ 6 w 38"/>
                <a:gd name="T3" fmla="*/ 28 h 31"/>
                <a:gd name="T4" fmla="*/ 19 w 38"/>
                <a:gd name="T5" fmla="*/ 21 h 31"/>
                <a:gd name="T6" fmla="*/ 14 w 38"/>
                <a:gd name="T7" fmla="*/ 11 h 31"/>
                <a:gd name="T8" fmla="*/ 1 w 38"/>
                <a:gd name="T9" fmla="*/ 19 h 31"/>
                <a:gd name="T10" fmla="*/ 0 w 38"/>
                <a:gd name="T11" fmla="*/ 15 h 31"/>
                <a:gd name="T12" fmla="*/ 29 w 38"/>
                <a:gd name="T13" fmla="*/ 0 h 31"/>
                <a:gd name="T14" fmla="*/ 32 w 38"/>
                <a:gd name="T15" fmla="*/ 4 h 31"/>
                <a:gd name="T16" fmla="*/ 18 w 38"/>
                <a:gd name="T17" fmla="*/ 10 h 31"/>
                <a:gd name="T18" fmla="*/ 23 w 38"/>
                <a:gd name="T19" fmla="*/ 19 h 31"/>
                <a:gd name="T20" fmla="*/ 35 w 38"/>
                <a:gd name="T21" fmla="*/ 13 h 31"/>
                <a:gd name="T22" fmla="*/ 38 w 38"/>
                <a:gd name="T23" fmla="*/ 16 h 31"/>
                <a:gd name="T24" fmla="*/ 7 w 38"/>
                <a:gd name="T25"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1">
                  <a:moveTo>
                    <a:pt x="7" y="31"/>
                  </a:moveTo>
                  <a:lnTo>
                    <a:pt x="6" y="28"/>
                  </a:lnTo>
                  <a:lnTo>
                    <a:pt x="19" y="21"/>
                  </a:lnTo>
                  <a:lnTo>
                    <a:pt x="14" y="11"/>
                  </a:lnTo>
                  <a:lnTo>
                    <a:pt x="1" y="19"/>
                  </a:lnTo>
                  <a:lnTo>
                    <a:pt x="0" y="15"/>
                  </a:lnTo>
                  <a:lnTo>
                    <a:pt x="29" y="0"/>
                  </a:lnTo>
                  <a:lnTo>
                    <a:pt x="32" y="4"/>
                  </a:lnTo>
                  <a:lnTo>
                    <a:pt x="18" y="10"/>
                  </a:lnTo>
                  <a:lnTo>
                    <a:pt x="23" y="19"/>
                  </a:lnTo>
                  <a:lnTo>
                    <a:pt x="35" y="13"/>
                  </a:lnTo>
                  <a:lnTo>
                    <a:pt x="38" y="16"/>
                  </a:lnTo>
                  <a:lnTo>
                    <a:pt x="7" y="31"/>
                  </a:lnTo>
                  <a:close/>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3" name="Freeform 109">
              <a:extLst>
                <a:ext uri="{FF2B5EF4-FFF2-40B4-BE49-F238E27FC236}">
                  <a16:creationId xmlns:a16="http://schemas.microsoft.com/office/drawing/2014/main" id="{016F9691-45CF-46FE-AA70-9A990927ED10}"/>
                </a:ext>
              </a:extLst>
            </p:cNvPr>
            <p:cNvSpPr>
              <a:spLocks/>
            </p:cNvSpPr>
            <p:nvPr userDrawn="1"/>
          </p:nvSpPr>
          <p:spPr bwMode="auto">
            <a:xfrm>
              <a:off x="995" y="906"/>
              <a:ext cx="38" cy="33"/>
            </a:xfrm>
            <a:custGeom>
              <a:avLst/>
              <a:gdLst>
                <a:gd name="T0" fmla="*/ 11 w 38"/>
                <a:gd name="T1" fmla="*/ 33 h 33"/>
                <a:gd name="T2" fmla="*/ 0 w 38"/>
                <a:gd name="T3" fmla="*/ 18 h 33"/>
                <a:gd name="T4" fmla="*/ 28 w 38"/>
                <a:gd name="T5" fmla="*/ 0 h 33"/>
                <a:gd name="T6" fmla="*/ 38 w 38"/>
                <a:gd name="T7" fmla="*/ 15 h 33"/>
                <a:gd name="T8" fmla="*/ 36 w 38"/>
                <a:gd name="T9" fmla="*/ 17 h 33"/>
                <a:gd name="T10" fmla="*/ 27 w 38"/>
                <a:gd name="T11" fmla="*/ 6 h 33"/>
                <a:gd name="T12" fmla="*/ 18 w 38"/>
                <a:gd name="T13" fmla="*/ 11 h 33"/>
                <a:gd name="T14" fmla="*/ 26 w 38"/>
                <a:gd name="T15" fmla="*/ 21 h 33"/>
                <a:gd name="T16" fmla="*/ 23 w 38"/>
                <a:gd name="T17" fmla="*/ 23 h 33"/>
                <a:gd name="T18" fmla="*/ 16 w 38"/>
                <a:gd name="T19" fmla="*/ 13 h 33"/>
                <a:gd name="T20" fmla="*/ 6 w 38"/>
                <a:gd name="T21" fmla="*/ 20 h 33"/>
                <a:gd name="T22" fmla="*/ 13 w 38"/>
                <a:gd name="T23" fmla="*/ 31 h 33"/>
                <a:gd name="T24" fmla="*/ 11 w 38"/>
                <a:gd name="T25"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3">
                  <a:moveTo>
                    <a:pt x="11" y="33"/>
                  </a:moveTo>
                  <a:lnTo>
                    <a:pt x="0" y="18"/>
                  </a:lnTo>
                  <a:lnTo>
                    <a:pt x="28" y="0"/>
                  </a:lnTo>
                  <a:lnTo>
                    <a:pt x="38" y="15"/>
                  </a:lnTo>
                  <a:lnTo>
                    <a:pt x="36" y="17"/>
                  </a:lnTo>
                  <a:lnTo>
                    <a:pt x="27" y="6"/>
                  </a:lnTo>
                  <a:lnTo>
                    <a:pt x="18" y="11"/>
                  </a:lnTo>
                  <a:lnTo>
                    <a:pt x="26" y="21"/>
                  </a:lnTo>
                  <a:lnTo>
                    <a:pt x="23" y="23"/>
                  </a:lnTo>
                  <a:lnTo>
                    <a:pt x="16" y="13"/>
                  </a:lnTo>
                  <a:lnTo>
                    <a:pt x="6" y="20"/>
                  </a:lnTo>
                  <a:lnTo>
                    <a:pt x="13" y="31"/>
                  </a:lnTo>
                  <a:lnTo>
                    <a:pt x="11" y="33"/>
                  </a:lnTo>
                  <a:close/>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4" name="Freeform 110">
              <a:extLst>
                <a:ext uri="{FF2B5EF4-FFF2-40B4-BE49-F238E27FC236}">
                  <a16:creationId xmlns:a16="http://schemas.microsoft.com/office/drawing/2014/main" id="{B225A0DC-7ECA-4E20-9B61-D8C8A44DBABD}"/>
                </a:ext>
              </a:extLst>
            </p:cNvPr>
            <p:cNvSpPr>
              <a:spLocks/>
            </p:cNvSpPr>
            <p:nvPr userDrawn="1"/>
          </p:nvSpPr>
          <p:spPr bwMode="auto">
            <a:xfrm>
              <a:off x="1026" y="934"/>
              <a:ext cx="24" cy="29"/>
            </a:xfrm>
            <a:custGeom>
              <a:avLst/>
              <a:gdLst>
                <a:gd name="T0" fmla="*/ 3 w 24"/>
                <a:gd name="T1" fmla="*/ 29 h 29"/>
                <a:gd name="T2" fmla="*/ 0 w 24"/>
                <a:gd name="T3" fmla="*/ 26 h 29"/>
                <a:gd name="T4" fmla="*/ 21 w 24"/>
                <a:gd name="T5" fmla="*/ 0 h 29"/>
                <a:gd name="T6" fmla="*/ 24 w 24"/>
                <a:gd name="T7" fmla="*/ 3 h 29"/>
                <a:gd name="T8" fmla="*/ 3 w 24"/>
                <a:gd name="T9" fmla="*/ 29 h 29"/>
              </a:gdLst>
              <a:ahLst/>
              <a:cxnLst>
                <a:cxn ang="0">
                  <a:pos x="T0" y="T1"/>
                </a:cxn>
                <a:cxn ang="0">
                  <a:pos x="T2" y="T3"/>
                </a:cxn>
                <a:cxn ang="0">
                  <a:pos x="T4" y="T5"/>
                </a:cxn>
                <a:cxn ang="0">
                  <a:pos x="T6" y="T7"/>
                </a:cxn>
                <a:cxn ang="0">
                  <a:pos x="T8" y="T9"/>
                </a:cxn>
              </a:cxnLst>
              <a:rect l="0" t="0" r="r" b="b"/>
              <a:pathLst>
                <a:path w="24" h="29">
                  <a:moveTo>
                    <a:pt x="3" y="29"/>
                  </a:moveTo>
                  <a:lnTo>
                    <a:pt x="0" y="26"/>
                  </a:lnTo>
                  <a:lnTo>
                    <a:pt x="21" y="0"/>
                  </a:lnTo>
                  <a:lnTo>
                    <a:pt x="24" y="3"/>
                  </a:lnTo>
                  <a:lnTo>
                    <a:pt x="3" y="29"/>
                  </a:lnTo>
                  <a:close/>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5" name="Freeform 111">
              <a:extLst>
                <a:ext uri="{FF2B5EF4-FFF2-40B4-BE49-F238E27FC236}">
                  <a16:creationId xmlns:a16="http://schemas.microsoft.com/office/drawing/2014/main" id="{CD8BE105-8632-48C6-98AA-3BC083F5C5B9}"/>
                </a:ext>
              </a:extLst>
            </p:cNvPr>
            <p:cNvSpPr>
              <a:spLocks noEditPoints="1"/>
            </p:cNvSpPr>
            <p:nvPr userDrawn="1"/>
          </p:nvSpPr>
          <p:spPr bwMode="auto">
            <a:xfrm>
              <a:off x="1034" y="942"/>
              <a:ext cx="29" cy="35"/>
            </a:xfrm>
            <a:custGeom>
              <a:avLst/>
              <a:gdLst>
                <a:gd name="T0" fmla="*/ 11 w 29"/>
                <a:gd name="T1" fmla="*/ 32 h 35"/>
                <a:gd name="T2" fmla="*/ 16 w 29"/>
                <a:gd name="T3" fmla="*/ 23 h 35"/>
                <a:gd name="T4" fmla="*/ 11 w 29"/>
                <a:gd name="T5" fmla="*/ 20 h 35"/>
                <a:gd name="T6" fmla="*/ 3 w 29"/>
                <a:gd name="T7" fmla="*/ 27 h 35"/>
                <a:gd name="T8" fmla="*/ 0 w 29"/>
                <a:gd name="T9" fmla="*/ 25 h 35"/>
                <a:gd name="T10" fmla="*/ 24 w 29"/>
                <a:gd name="T11" fmla="*/ 0 h 35"/>
                <a:gd name="T12" fmla="*/ 29 w 29"/>
                <a:gd name="T13" fmla="*/ 2 h 35"/>
                <a:gd name="T14" fmla="*/ 16 w 29"/>
                <a:gd name="T15" fmla="*/ 35 h 35"/>
                <a:gd name="T16" fmla="*/ 11 w 29"/>
                <a:gd name="T17" fmla="*/ 32 h 35"/>
                <a:gd name="T18" fmla="*/ 19 w 29"/>
                <a:gd name="T19" fmla="*/ 18 h 35"/>
                <a:gd name="T20" fmla="*/ 24 w 29"/>
                <a:gd name="T21" fmla="*/ 7 h 35"/>
                <a:gd name="T22" fmla="*/ 23 w 29"/>
                <a:gd name="T23" fmla="*/ 6 h 35"/>
                <a:gd name="T24" fmla="*/ 14 w 29"/>
                <a:gd name="T25" fmla="*/ 16 h 35"/>
                <a:gd name="T26" fmla="*/ 19 w 29"/>
                <a:gd name="T2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35">
                  <a:moveTo>
                    <a:pt x="11" y="32"/>
                  </a:moveTo>
                  <a:lnTo>
                    <a:pt x="16" y="23"/>
                  </a:lnTo>
                  <a:lnTo>
                    <a:pt x="11" y="20"/>
                  </a:lnTo>
                  <a:lnTo>
                    <a:pt x="3" y="27"/>
                  </a:lnTo>
                  <a:lnTo>
                    <a:pt x="0" y="25"/>
                  </a:lnTo>
                  <a:lnTo>
                    <a:pt x="24" y="0"/>
                  </a:lnTo>
                  <a:lnTo>
                    <a:pt x="29" y="2"/>
                  </a:lnTo>
                  <a:lnTo>
                    <a:pt x="16" y="35"/>
                  </a:lnTo>
                  <a:lnTo>
                    <a:pt x="11" y="32"/>
                  </a:lnTo>
                  <a:close/>
                  <a:moveTo>
                    <a:pt x="19" y="18"/>
                  </a:moveTo>
                  <a:lnTo>
                    <a:pt x="24" y="7"/>
                  </a:lnTo>
                  <a:lnTo>
                    <a:pt x="23" y="6"/>
                  </a:lnTo>
                  <a:lnTo>
                    <a:pt x="14" y="16"/>
                  </a:lnTo>
                  <a:lnTo>
                    <a:pt x="19" y="18"/>
                  </a:lnTo>
                  <a:close/>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6" name="Freeform 112">
              <a:extLst>
                <a:ext uri="{FF2B5EF4-FFF2-40B4-BE49-F238E27FC236}">
                  <a16:creationId xmlns:a16="http://schemas.microsoft.com/office/drawing/2014/main" id="{E8E80D59-7153-46E8-8ECB-43A44D2BD656}"/>
                </a:ext>
              </a:extLst>
            </p:cNvPr>
            <p:cNvSpPr>
              <a:spLocks/>
            </p:cNvSpPr>
            <p:nvPr userDrawn="1"/>
          </p:nvSpPr>
          <p:spPr bwMode="auto">
            <a:xfrm>
              <a:off x="1054" y="948"/>
              <a:ext cx="32" cy="39"/>
            </a:xfrm>
            <a:custGeom>
              <a:avLst/>
              <a:gdLst>
                <a:gd name="T0" fmla="*/ 16 w 32"/>
                <a:gd name="T1" fmla="*/ 39 h 39"/>
                <a:gd name="T2" fmla="*/ 13 w 32"/>
                <a:gd name="T3" fmla="*/ 36 h 39"/>
                <a:gd name="T4" fmla="*/ 15 w 32"/>
                <a:gd name="T5" fmla="*/ 12 h 39"/>
                <a:gd name="T6" fmla="*/ 5 w 32"/>
                <a:gd name="T7" fmla="*/ 32 h 39"/>
                <a:gd name="T8" fmla="*/ 0 w 32"/>
                <a:gd name="T9" fmla="*/ 30 h 39"/>
                <a:gd name="T10" fmla="*/ 16 w 32"/>
                <a:gd name="T11" fmla="*/ 0 h 39"/>
                <a:gd name="T12" fmla="*/ 20 w 32"/>
                <a:gd name="T13" fmla="*/ 1 h 39"/>
                <a:gd name="T14" fmla="*/ 19 w 32"/>
                <a:gd name="T15" fmla="*/ 25 h 39"/>
                <a:gd name="T16" fmla="*/ 29 w 32"/>
                <a:gd name="T17" fmla="*/ 5 h 39"/>
                <a:gd name="T18" fmla="*/ 32 w 32"/>
                <a:gd name="T19" fmla="*/ 7 h 39"/>
                <a:gd name="T20" fmla="*/ 16 w 32"/>
                <a:gd name="T21"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39">
                  <a:moveTo>
                    <a:pt x="16" y="39"/>
                  </a:moveTo>
                  <a:lnTo>
                    <a:pt x="13" y="36"/>
                  </a:lnTo>
                  <a:lnTo>
                    <a:pt x="15" y="12"/>
                  </a:lnTo>
                  <a:lnTo>
                    <a:pt x="5" y="32"/>
                  </a:lnTo>
                  <a:lnTo>
                    <a:pt x="0" y="30"/>
                  </a:lnTo>
                  <a:lnTo>
                    <a:pt x="16" y="0"/>
                  </a:lnTo>
                  <a:lnTo>
                    <a:pt x="20" y="1"/>
                  </a:lnTo>
                  <a:lnTo>
                    <a:pt x="19" y="25"/>
                  </a:lnTo>
                  <a:lnTo>
                    <a:pt x="29" y="5"/>
                  </a:lnTo>
                  <a:lnTo>
                    <a:pt x="32" y="7"/>
                  </a:lnTo>
                  <a:lnTo>
                    <a:pt x="16" y="39"/>
                  </a:lnTo>
                  <a:close/>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7" name="Freeform 113">
              <a:extLst>
                <a:ext uri="{FF2B5EF4-FFF2-40B4-BE49-F238E27FC236}">
                  <a16:creationId xmlns:a16="http://schemas.microsoft.com/office/drawing/2014/main" id="{79FC4AC3-30A3-4A82-9A40-93045F67BC4A}"/>
                </a:ext>
              </a:extLst>
            </p:cNvPr>
            <p:cNvSpPr>
              <a:spLocks/>
            </p:cNvSpPr>
            <p:nvPr userDrawn="1"/>
          </p:nvSpPr>
          <p:spPr bwMode="auto">
            <a:xfrm>
              <a:off x="1079" y="957"/>
              <a:ext cx="23" cy="36"/>
            </a:xfrm>
            <a:custGeom>
              <a:avLst/>
              <a:gdLst>
                <a:gd name="T0" fmla="*/ 12 w 19"/>
                <a:gd name="T1" fmla="*/ 29 h 29"/>
                <a:gd name="T2" fmla="*/ 10 w 19"/>
                <a:gd name="T3" fmla="*/ 29 h 29"/>
                <a:gd name="T4" fmla="*/ 10 w 19"/>
                <a:gd name="T5" fmla="*/ 26 h 29"/>
                <a:gd name="T6" fmla="*/ 8 w 19"/>
                <a:gd name="T7" fmla="*/ 27 h 29"/>
                <a:gd name="T8" fmla="*/ 5 w 19"/>
                <a:gd name="T9" fmla="*/ 27 h 29"/>
                <a:gd name="T10" fmla="*/ 1 w 19"/>
                <a:gd name="T11" fmla="*/ 23 h 29"/>
                <a:gd name="T12" fmla="*/ 1 w 19"/>
                <a:gd name="T13" fmla="*/ 13 h 29"/>
                <a:gd name="T14" fmla="*/ 6 w 19"/>
                <a:gd name="T15" fmla="*/ 3 h 29"/>
                <a:gd name="T16" fmla="*/ 14 w 19"/>
                <a:gd name="T17" fmla="*/ 1 h 29"/>
                <a:gd name="T18" fmla="*/ 18 w 19"/>
                <a:gd name="T19" fmla="*/ 11 h 29"/>
                <a:gd name="T20" fmla="*/ 15 w 19"/>
                <a:gd name="T21" fmla="*/ 11 h 29"/>
                <a:gd name="T22" fmla="*/ 13 w 19"/>
                <a:gd name="T23" fmla="*/ 4 h 29"/>
                <a:gd name="T24" fmla="*/ 8 w 19"/>
                <a:gd name="T25" fmla="*/ 6 h 29"/>
                <a:gd name="T26" fmla="*/ 5 w 19"/>
                <a:gd name="T27" fmla="*/ 14 h 29"/>
                <a:gd name="T28" fmla="*/ 4 w 19"/>
                <a:gd name="T29" fmla="*/ 21 h 29"/>
                <a:gd name="T30" fmla="*/ 6 w 19"/>
                <a:gd name="T31" fmla="*/ 24 h 29"/>
                <a:gd name="T32" fmla="*/ 9 w 19"/>
                <a:gd name="T33" fmla="*/ 24 h 29"/>
                <a:gd name="T34" fmla="*/ 12 w 19"/>
                <a:gd name="T35" fmla="*/ 20 h 29"/>
                <a:gd name="T36" fmla="*/ 12 w 19"/>
                <a:gd name="T37" fmla="*/ 18 h 29"/>
                <a:gd name="T38" fmla="*/ 8 w 19"/>
                <a:gd name="T39" fmla="*/ 17 h 29"/>
                <a:gd name="T40" fmla="*/ 9 w 19"/>
                <a:gd name="T41" fmla="*/ 14 h 29"/>
                <a:gd name="T42" fmla="*/ 16 w 19"/>
                <a:gd name="T43" fmla="*/ 17 h 29"/>
                <a:gd name="T44" fmla="*/ 12 w 19"/>
                <a:gd name="T45"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29">
                  <a:moveTo>
                    <a:pt x="12" y="29"/>
                  </a:moveTo>
                  <a:cubicBezTo>
                    <a:pt x="10" y="29"/>
                    <a:pt x="10" y="29"/>
                    <a:pt x="10" y="29"/>
                  </a:cubicBezTo>
                  <a:cubicBezTo>
                    <a:pt x="10" y="26"/>
                    <a:pt x="10" y="26"/>
                    <a:pt x="10" y="26"/>
                  </a:cubicBezTo>
                  <a:cubicBezTo>
                    <a:pt x="9" y="27"/>
                    <a:pt x="9" y="27"/>
                    <a:pt x="8" y="27"/>
                  </a:cubicBezTo>
                  <a:cubicBezTo>
                    <a:pt x="7" y="27"/>
                    <a:pt x="6" y="27"/>
                    <a:pt x="5" y="27"/>
                  </a:cubicBezTo>
                  <a:cubicBezTo>
                    <a:pt x="3" y="26"/>
                    <a:pt x="2" y="25"/>
                    <a:pt x="1" y="23"/>
                  </a:cubicBezTo>
                  <a:cubicBezTo>
                    <a:pt x="0" y="20"/>
                    <a:pt x="0" y="17"/>
                    <a:pt x="1" y="13"/>
                  </a:cubicBezTo>
                  <a:cubicBezTo>
                    <a:pt x="3" y="8"/>
                    <a:pt x="4" y="5"/>
                    <a:pt x="6" y="3"/>
                  </a:cubicBezTo>
                  <a:cubicBezTo>
                    <a:pt x="9" y="1"/>
                    <a:pt x="12" y="0"/>
                    <a:pt x="14" y="1"/>
                  </a:cubicBezTo>
                  <a:cubicBezTo>
                    <a:pt x="17" y="2"/>
                    <a:pt x="19" y="6"/>
                    <a:pt x="18" y="11"/>
                  </a:cubicBezTo>
                  <a:cubicBezTo>
                    <a:pt x="15" y="11"/>
                    <a:pt x="15" y="11"/>
                    <a:pt x="15" y="11"/>
                  </a:cubicBezTo>
                  <a:cubicBezTo>
                    <a:pt x="16" y="9"/>
                    <a:pt x="15" y="5"/>
                    <a:pt x="13" y="4"/>
                  </a:cubicBezTo>
                  <a:cubicBezTo>
                    <a:pt x="11" y="4"/>
                    <a:pt x="9" y="4"/>
                    <a:pt x="8" y="6"/>
                  </a:cubicBezTo>
                  <a:cubicBezTo>
                    <a:pt x="7" y="7"/>
                    <a:pt x="6" y="10"/>
                    <a:pt x="5" y="14"/>
                  </a:cubicBezTo>
                  <a:cubicBezTo>
                    <a:pt x="4" y="17"/>
                    <a:pt x="3" y="20"/>
                    <a:pt x="4" y="21"/>
                  </a:cubicBezTo>
                  <a:cubicBezTo>
                    <a:pt x="4" y="23"/>
                    <a:pt x="5" y="24"/>
                    <a:pt x="6" y="24"/>
                  </a:cubicBezTo>
                  <a:cubicBezTo>
                    <a:pt x="7" y="25"/>
                    <a:pt x="9" y="25"/>
                    <a:pt x="9" y="24"/>
                  </a:cubicBezTo>
                  <a:cubicBezTo>
                    <a:pt x="10" y="23"/>
                    <a:pt x="11" y="22"/>
                    <a:pt x="12" y="20"/>
                  </a:cubicBezTo>
                  <a:cubicBezTo>
                    <a:pt x="12" y="18"/>
                    <a:pt x="12" y="18"/>
                    <a:pt x="12" y="18"/>
                  </a:cubicBezTo>
                  <a:cubicBezTo>
                    <a:pt x="8" y="17"/>
                    <a:pt x="8" y="17"/>
                    <a:pt x="8" y="17"/>
                  </a:cubicBezTo>
                  <a:cubicBezTo>
                    <a:pt x="9" y="14"/>
                    <a:pt x="9" y="14"/>
                    <a:pt x="9" y="14"/>
                  </a:cubicBezTo>
                  <a:cubicBezTo>
                    <a:pt x="16" y="17"/>
                    <a:pt x="16" y="17"/>
                    <a:pt x="16" y="17"/>
                  </a:cubicBezTo>
                  <a:lnTo>
                    <a:pt x="12" y="29"/>
                  </a:lnTo>
                  <a:close/>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8" name="Freeform 114">
              <a:extLst>
                <a:ext uri="{FF2B5EF4-FFF2-40B4-BE49-F238E27FC236}">
                  <a16:creationId xmlns:a16="http://schemas.microsoft.com/office/drawing/2014/main" id="{3AB54E72-92A4-46A2-9ABB-FCC8E92962DE}"/>
                </a:ext>
              </a:extLst>
            </p:cNvPr>
            <p:cNvSpPr>
              <a:spLocks/>
            </p:cNvSpPr>
            <p:nvPr userDrawn="1"/>
          </p:nvSpPr>
          <p:spPr bwMode="auto">
            <a:xfrm>
              <a:off x="1121" y="962"/>
              <a:ext cx="19" cy="33"/>
            </a:xfrm>
            <a:custGeom>
              <a:avLst/>
              <a:gdLst>
                <a:gd name="T0" fmla="*/ 15 w 15"/>
                <a:gd name="T1" fmla="*/ 19 h 27"/>
                <a:gd name="T2" fmla="*/ 13 w 15"/>
                <a:gd name="T3" fmla="*/ 25 h 27"/>
                <a:gd name="T4" fmla="*/ 7 w 15"/>
                <a:gd name="T5" fmla="*/ 27 h 27"/>
                <a:gd name="T6" fmla="*/ 1 w 15"/>
                <a:gd name="T7" fmla="*/ 25 h 27"/>
                <a:gd name="T8" fmla="*/ 0 w 15"/>
                <a:gd name="T9" fmla="*/ 19 h 27"/>
                <a:gd name="T10" fmla="*/ 0 w 15"/>
                <a:gd name="T11" fmla="*/ 0 h 27"/>
                <a:gd name="T12" fmla="*/ 4 w 15"/>
                <a:gd name="T13" fmla="*/ 0 h 27"/>
                <a:gd name="T14" fmla="*/ 3 w 15"/>
                <a:gd name="T15" fmla="*/ 19 h 27"/>
                <a:gd name="T16" fmla="*/ 4 w 15"/>
                <a:gd name="T17" fmla="*/ 23 h 27"/>
                <a:gd name="T18" fmla="*/ 7 w 15"/>
                <a:gd name="T19" fmla="*/ 24 h 27"/>
                <a:gd name="T20" fmla="*/ 10 w 15"/>
                <a:gd name="T21" fmla="*/ 23 h 27"/>
                <a:gd name="T22" fmla="*/ 11 w 15"/>
                <a:gd name="T23" fmla="*/ 19 h 27"/>
                <a:gd name="T24" fmla="*/ 12 w 15"/>
                <a:gd name="T25" fmla="*/ 0 h 27"/>
                <a:gd name="T26" fmla="*/ 15 w 15"/>
                <a:gd name="T27" fmla="*/ 0 h 27"/>
                <a:gd name="T28" fmla="*/ 15 w 15"/>
                <a:gd name="T29"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7">
                  <a:moveTo>
                    <a:pt x="15" y="19"/>
                  </a:moveTo>
                  <a:cubicBezTo>
                    <a:pt x="15" y="22"/>
                    <a:pt x="14" y="24"/>
                    <a:pt x="13" y="25"/>
                  </a:cubicBezTo>
                  <a:cubicBezTo>
                    <a:pt x="11" y="27"/>
                    <a:pt x="10" y="27"/>
                    <a:pt x="7" y="27"/>
                  </a:cubicBezTo>
                  <a:cubicBezTo>
                    <a:pt x="4" y="27"/>
                    <a:pt x="2" y="26"/>
                    <a:pt x="1" y="25"/>
                  </a:cubicBezTo>
                  <a:cubicBezTo>
                    <a:pt x="0" y="23"/>
                    <a:pt x="0" y="21"/>
                    <a:pt x="0" y="19"/>
                  </a:cubicBezTo>
                  <a:cubicBezTo>
                    <a:pt x="0" y="0"/>
                    <a:pt x="0" y="0"/>
                    <a:pt x="0" y="0"/>
                  </a:cubicBezTo>
                  <a:cubicBezTo>
                    <a:pt x="4" y="0"/>
                    <a:pt x="4" y="0"/>
                    <a:pt x="4" y="0"/>
                  </a:cubicBezTo>
                  <a:cubicBezTo>
                    <a:pt x="3" y="19"/>
                    <a:pt x="3" y="19"/>
                    <a:pt x="3" y="19"/>
                  </a:cubicBezTo>
                  <a:cubicBezTo>
                    <a:pt x="3" y="21"/>
                    <a:pt x="3" y="22"/>
                    <a:pt x="4" y="23"/>
                  </a:cubicBezTo>
                  <a:cubicBezTo>
                    <a:pt x="5" y="24"/>
                    <a:pt x="6" y="24"/>
                    <a:pt x="7" y="24"/>
                  </a:cubicBezTo>
                  <a:cubicBezTo>
                    <a:pt x="8" y="24"/>
                    <a:pt x="9" y="24"/>
                    <a:pt x="10" y="23"/>
                  </a:cubicBezTo>
                  <a:cubicBezTo>
                    <a:pt x="11" y="22"/>
                    <a:pt x="11" y="21"/>
                    <a:pt x="11" y="19"/>
                  </a:cubicBezTo>
                  <a:cubicBezTo>
                    <a:pt x="12" y="0"/>
                    <a:pt x="12" y="0"/>
                    <a:pt x="12" y="0"/>
                  </a:cubicBezTo>
                  <a:cubicBezTo>
                    <a:pt x="15" y="0"/>
                    <a:pt x="15" y="0"/>
                    <a:pt x="15" y="0"/>
                  </a:cubicBezTo>
                  <a:lnTo>
                    <a:pt x="15" y="19"/>
                  </a:lnTo>
                  <a:close/>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9" name="Freeform 115">
              <a:extLst>
                <a:ext uri="{FF2B5EF4-FFF2-40B4-BE49-F238E27FC236}">
                  <a16:creationId xmlns:a16="http://schemas.microsoft.com/office/drawing/2014/main" id="{E9B7B1E9-6B5C-4ABF-A6A4-475C1FFFF1D5}"/>
                </a:ext>
              </a:extLst>
            </p:cNvPr>
            <p:cNvSpPr>
              <a:spLocks/>
            </p:cNvSpPr>
            <p:nvPr userDrawn="1"/>
          </p:nvSpPr>
          <p:spPr bwMode="auto">
            <a:xfrm>
              <a:off x="1142" y="959"/>
              <a:ext cx="21" cy="36"/>
            </a:xfrm>
            <a:custGeom>
              <a:avLst/>
              <a:gdLst>
                <a:gd name="T0" fmla="*/ 21 w 21"/>
                <a:gd name="T1" fmla="*/ 33 h 36"/>
                <a:gd name="T2" fmla="*/ 17 w 21"/>
                <a:gd name="T3" fmla="*/ 34 h 36"/>
                <a:gd name="T4" fmla="*/ 5 w 21"/>
                <a:gd name="T5" fmla="*/ 11 h 36"/>
                <a:gd name="T6" fmla="*/ 8 w 21"/>
                <a:gd name="T7" fmla="*/ 35 h 36"/>
                <a:gd name="T8" fmla="*/ 3 w 21"/>
                <a:gd name="T9" fmla="*/ 36 h 36"/>
                <a:gd name="T10" fmla="*/ 0 w 21"/>
                <a:gd name="T11" fmla="*/ 3 h 36"/>
                <a:gd name="T12" fmla="*/ 5 w 21"/>
                <a:gd name="T13" fmla="*/ 1 h 36"/>
                <a:gd name="T14" fmla="*/ 15 w 21"/>
                <a:gd name="T15" fmla="*/ 18 h 36"/>
                <a:gd name="T16" fmla="*/ 12 w 21"/>
                <a:gd name="T17" fmla="*/ 0 h 36"/>
                <a:gd name="T18" fmla="*/ 16 w 21"/>
                <a:gd name="T19" fmla="*/ 0 h 36"/>
                <a:gd name="T20" fmla="*/ 21 w 21"/>
                <a:gd name="T21" fmla="*/ 3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36">
                  <a:moveTo>
                    <a:pt x="21" y="33"/>
                  </a:moveTo>
                  <a:lnTo>
                    <a:pt x="17" y="34"/>
                  </a:lnTo>
                  <a:lnTo>
                    <a:pt x="5" y="11"/>
                  </a:lnTo>
                  <a:lnTo>
                    <a:pt x="8" y="35"/>
                  </a:lnTo>
                  <a:lnTo>
                    <a:pt x="3" y="36"/>
                  </a:lnTo>
                  <a:lnTo>
                    <a:pt x="0" y="3"/>
                  </a:lnTo>
                  <a:lnTo>
                    <a:pt x="5" y="1"/>
                  </a:lnTo>
                  <a:lnTo>
                    <a:pt x="15" y="18"/>
                  </a:lnTo>
                  <a:lnTo>
                    <a:pt x="12" y="0"/>
                  </a:lnTo>
                  <a:lnTo>
                    <a:pt x="16" y="0"/>
                  </a:lnTo>
                  <a:lnTo>
                    <a:pt x="21" y="33"/>
                  </a:lnTo>
                  <a:close/>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0" name="Freeform 116">
              <a:extLst>
                <a:ext uri="{FF2B5EF4-FFF2-40B4-BE49-F238E27FC236}">
                  <a16:creationId xmlns:a16="http://schemas.microsoft.com/office/drawing/2014/main" id="{C7EEDC3D-B057-4D89-9724-8F25D6CBD681}"/>
                </a:ext>
              </a:extLst>
            </p:cNvPr>
            <p:cNvSpPr>
              <a:spLocks/>
            </p:cNvSpPr>
            <p:nvPr userDrawn="1"/>
          </p:nvSpPr>
          <p:spPr bwMode="auto">
            <a:xfrm>
              <a:off x="1162" y="957"/>
              <a:ext cx="14" cy="33"/>
            </a:xfrm>
            <a:custGeom>
              <a:avLst/>
              <a:gdLst>
                <a:gd name="T0" fmla="*/ 14 w 14"/>
                <a:gd name="T1" fmla="*/ 31 h 33"/>
                <a:gd name="T2" fmla="*/ 9 w 14"/>
                <a:gd name="T3" fmla="*/ 33 h 33"/>
                <a:gd name="T4" fmla="*/ 0 w 14"/>
                <a:gd name="T5" fmla="*/ 1 h 33"/>
                <a:gd name="T6" fmla="*/ 4 w 14"/>
                <a:gd name="T7" fmla="*/ 0 h 33"/>
                <a:gd name="T8" fmla="*/ 14 w 14"/>
                <a:gd name="T9" fmla="*/ 31 h 33"/>
              </a:gdLst>
              <a:ahLst/>
              <a:cxnLst>
                <a:cxn ang="0">
                  <a:pos x="T0" y="T1"/>
                </a:cxn>
                <a:cxn ang="0">
                  <a:pos x="T2" y="T3"/>
                </a:cxn>
                <a:cxn ang="0">
                  <a:pos x="T4" y="T5"/>
                </a:cxn>
                <a:cxn ang="0">
                  <a:pos x="T6" y="T7"/>
                </a:cxn>
                <a:cxn ang="0">
                  <a:pos x="T8" y="T9"/>
                </a:cxn>
              </a:cxnLst>
              <a:rect l="0" t="0" r="r" b="b"/>
              <a:pathLst>
                <a:path w="14" h="33">
                  <a:moveTo>
                    <a:pt x="14" y="31"/>
                  </a:moveTo>
                  <a:lnTo>
                    <a:pt x="9" y="33"/>
                  </a:lnTo>
                  <a:lnTo>
                    <a:pt x="0" y="1"/>
                  </a:lnTo>
                  <a:lnTo>
                    <a:pt x="4" y="0"/>
                  </a:lnTo>
                  <a:lnTo>
                    <a:pt x="14" y="31"/>
                  </a:lnTo>
                  <a:close/>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1" name="Freeform 117">
              <a:extLst>
                <a:ext uri="{FF2B5EF4-FFF2-40B4-BE49-F238E27FC236}">
                  <a16:creationId xmlns:a16="http://schemas.microsoft.com/office/drawing/2014/main" id="{500387AB-FCEB-410E-9E89-515ABF95E412}"/>
                </a:ext>
              </a:extLst>
            </p:cNvPr>
            <p:cNvSpPr>
              <a:spLocks/>
            </p:cNvSpPr>
            <p:nvPr userDrawn="1"/>
          </p:nvSpPr>
          <p:spPr bwMode="auto">
            <a:xfrm>
              <a:off x="1169" y="948"/>
              <a:ext cx="23" cy="37"/>
            </a:xfrm>
            <a:custGeom>
              <a:avLst/>
              <a:gdLst>
                <a:gd name="T0" fmla="*/ 18 w 23"/>
                <a:gd name="T1" fmla="*/ 0 h 37"/>
                <a:gd name="T2" fmla="*/ 23 w 23"/>
                <a:gd name="T3" fmla="*/ 35 h 37"/>
                <a:gd name="T4" fmla="*/ 19 w 23"/>
                <a:gd name="T5" fmla="*/ 37 h 37"/>
                <a:gd name="T6" fmla="*/ 0 w 23"/>
                <a:gd name="T7" fmla="*/ 7 h 37"/>
                <a:gd name="T8" fmla="*/ 4 w 23"/>
                <a:gd name="T9" fmla="*/ 6 h 37"/>
                <a:gd name="T10" fmla="*/ 18 w 23"/>
                <a:gd name="T11" fmla="*/ 26 h 37"/>
                <a:gd name="T12" fmla="*/ 14 w 23"/>
                <a:gd name="T13" fmla="*/ 1 h 37"/>
                <a:gd name="T14" fmla="*/ 18 w 23"/>
                <a:gd name="T15" fmla="*/ 0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7">
                  <a:moveTo>
                    <a:pt x="18" y="0"/>
                  </a:moveTo>
                  <a:lnTo>
                    <a:pt x="23" y="35"/>
                  </a:lnTo>
                  <a:lnTo>
                    <a:pt x="19" y="37"/>
                  </a:lnTo>
                  <a:lnTo>
                    <a:pt x="0" y="7"/>
                  </a:lnTo>
                  <a:lnTo>
                    <a:pt x="4" y="6"/>
                  </a:lnTo>
                  <a:lnTo>
                    <a:pt x="18" y="26"/>
                  </a:lnTo>
                  <a:lnTo>
                    <a:pt x="14" y="1"/>
                  </a:lnTo>
                  <a:lnTo>
                    <a:pt x="18" y="0"/>
                  </a:lnTo>
                  <a:close/>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2" name="Freeform 118">
              <a:extLst>
                <a:ext uri="{FF2B5EF4-FFF2-40B4-BE49-F238E27FC236}">
                  <a16:creationId xmlns:a16="http://schemas.microsoft.com/office/drawing/2014/main" id="{22E285A3-9B96-4499-B043-4F370F630136}"/>
                </a:ext>
              </a:extLst>
            </p:cNvPr>
            <p:cNvSpPr>
              <a:spLocks/>
            </p:cNvSpPr>
            <p:nvPr userDrawn="1"/>
          </p:nvSpPr>
          <p:spPr bwMode="auto">
            <a:xfrm>
              <a:off x="1188" y="939"/>
              <a:ext cx="33" cy="38"/>
            </a:xfrm>
            <a:custGeom>
              <a:avLst/>
              <a:gdLst>
                <a:gd name="T0" fmla="*/ 33 w 33"/>
                <a:gd name="T1" fmla="*/ 29 h 38"/>
                <a:gd name="T2" fmla="*/ 17 w 33"/>
                <a:gd name="T3" fmla="*/ 38 h 38"/>
                <a:gd name="T4" fmla="*/ 0 w 33"/>
                <a:gd name="T5" fmla="*/ 8 h 38"/>
                <a:gd name="T6" fmla="*/ 15 w 33"/>
                <a:gd name="T7" fmla="*/ 0 h 38"/>
                <a:gd name="T8" fmla="*/ 17 w 33"/>
                <a:gd name="T9" fmla="*/ 3 h 38"/>
                <a:gd name="T10" fmla="*/ 6 w 33"/>
                <a:gd name="T11" fmla="*/ 9 h 38"/>
                <a:gd name="T12" fmla="*/ 11 w 33"/>
                <a:gd name="T13" fmla="*/ 19 h 38"/>
                <a:gd name="T14" fmla="*/ 22 w 33"/>
                <a:gd name="T15" fmla="*/ 13 h 38"/>
                <a:gd name="T16" fmla="*/ 23 w 33"/>
                <a:gd name="T17" fmla="*/ 16 h 38"/>
                <a:gd name="T18" fmla="*/ 14 w 33"/>
                <a:gd name="T19" fmla="*/ 21 h 38"/>
                <a:gd name="T20" fmla="*/ 20 w 33"/>
                <a:gd name="T21" fmla="*/ 33 h 38"/>
                <a:gd name="T22" fmla="*/ 31 w 33"/>
                <a:gd name="T23" fmla="*/ 25 h 38"/>
                <a:gd name="T24" fmla="*/ 33 w 33"/>
                <a:gd name="T25" fmla="*/ 2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8">
                  <a:moveTo>
                    <a:pt x="33" y="29"/>
                  </a:moveTo>
                  <a:lnTo>
                    <a:pt x="17" y="38"/>
                  </a:lnTo>
                  <a:lnTo>
                    <a:pt x="0" y="8"/>
                  </a:lnTo>
                  <a:lnTo>
                    <a:pt x="15" y="0"/>
                  </a:lnTo>
                  <a:lnTo>
                    <a:pt x="17" y="3"/>
                  </a:lnTo>
                  <a:lnTo>
                    <a:pt x="6" y="9"/>
                  </a:lnTo>
                  <a:lnTo>
                    <a:pt x="11" y="19"/>
                  </a:lnTo>
                  <a:lnTo>
                    <a:pt x="22" y="13"/>
                  </a:lnTo>
                  <a:lnTo>
                    <a:pt x="23" y="16"/>
                  </a:lnTo>
                  <a:lnTo>
                    <a:pt x="14" y="21"/>
                  </a:lnTo>
                  <a:lnTo>
                    <a:pt x="20" y="33"/>
                  </a:lnTo>
                  <a:lnTo>
                    <a:pt x="31" y="25"/>
                  </a:lnTo>
                  <a:lnTo>
                    <a:pt x="33" y="29"/>
                  </a:lnTo>
                  <a:close/>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3" name="Freeform 119">
              <a:extLst>
                <a:ext uri="{FF2B5EF4-FFF2-40B4-BE49-F238E27FC236}">
                  <a16:creationId xmlns:a16="http://schemas.microsoft.com/office/drawing/2014/main" id="{1B908973-8AE8-4B7B-B100-336A7177394F}"/>
                </a:ext>
              </a:extLst>
            </p:cNvPr>
            <p:cNvSpPr>
              <a:spLocks noEditPoints="1"/>
            </p:cNvSpPr>
            <p:nvPr userDrawn="1"/>
          </p:nvSpPr>
          <p:spPr bwMode="auto">
            <a:xfrm>
              <a:off x="1205" y="931"/>
              <a:ext cx="34" cy="34"/>
            </a:xfrm>
            <a:custGeom>
              <a:avLst/>
              <a:gdLst>
                <a:gd name="T0" fmla="*/ 27 w 27"/>
                <a:gd name="T1" fmla="*/ 20 h 28"/>
                <a:gd name="T2" fmla="*/ 24 w 27"/>
                <a:gd name="T3" fmla="*/ 22 h 28"/>
                <a:gd name="T4" fmla="*/ 15 w 27"/>
                <a:gd name="T5" fmla="*/ 14 h 28"/>
                <a:gd name="T6" fmla="*/ 12 w 27"/>
                <a:gd name="T7" fmla="*/ 17 h 28"/>
                <a:gd name="T8" fmla="*/ 19 w 27"/>
                <a:gd name="T9" fmla="*/ 26 h 28"/>
                <a:gd name="T10" fmla="*/ 16 w 27"/>
                <a:gd name="T11" fmla="*/ 28 h 28"/>
                <a:gd name="T12" fmla="*/ 0 w 27"/>
                <a:gd name="T13" fmla="*/ 6 h 28"/>
                <a:gd name="T14" fmla="*/ 5 w 27"/>
                <a:gd name="T15" fmla="*/ 2 h 28"/>
                <a:gd name="T16" fmla="*/ 11 w 27"/>
                <a:gd name="T17" fmla="*/ 0 h 28"/>
                <a:gd name="T18" fmla="*/ 18 w 27"/>
                <a:gd name="T19" fmla="*/ 8 h 28"/>
                <a:gd name="T20" fmla="*/ 17 w 27"/>
                <a:gd name="T21" fmla="*/ 12 h 28"/>
                <a:gd name="T22" fmla="*/ 27 w 27"/>
                <a:gd name="T23" fmla="*/ 20 h 28"/>
                <a:gd name="T24" fmla="*/ 10 w 27"/>
                <a:gd name="T25" fmla="*/ 4 h 28"/>
                <a:gd name="T26" fmla="*/ 5 w 27"/>
                <a:gd name="T27" fmla="*/ 6 h 28"/>
                <a:gd name="T28" fmla="*/ 10 w 27"/>
                <a:gd name="T29" fmla="*/ 13 h 28"/>
                <a:gd name="T30" fmla="*/ 14 w 27"/>
                <a:gd name="T31" fmla="*/ 10 h 28"/>
                <a:gd name="T32" fmla="*/ 10 w 27"/>
                <a:gd name="T33"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8">
                  <a:moveTo>
                    <a:pt x="27" y="20"/>
                  </a:moveTo>
                  <a:cubicBezTo>
                    <a:pt x="24" y="22"/>
                    <a:pt x="24" y="22"/>
                    <a:pt x="24" y="22"/>
                  </a:cubicBezTo>
                  <a:cubicBezTo>
                    <a:pt x="15" y="14"/>
                    <a:pt x="15" y="14"/>
                    <a:pt x="15" y="14"/>
                  </a:cubicBezTo>
                  <a:cubicBezTo>
                    <a:pt x="12" y="17"/>
                    <a:pt x="12" y="17"/>
                    <a:pt x="12" y="17"/>
                  </a:cubicBezTo>
                  <a:cubicBezTo>
                    <a:pt x="19" y="26"/>
                    <a:pt x="19" y="26"/>
                    <a:pt x="19" y="26"/>
                  </a:cubicBezTo>
                  <a:cubicBezTo>
                    <a:pt x="16" y="28"/>
                    <a:pt x="16" y="28"/>
                    <a:pt x="16" y="28"/>
                  </a:cubicBezTo>
                  <a:cubicBezTo>
                    <a:pt x="0" y="6"/>
                    <a:pt x="0" y="6"/>
                    <a:pt x="0" y="6"/>
                  </a:cubicBezTo>
                  <a:cubicBezTo>
                    <a:pt x="5" y="2"/>
                    <a:pt x="5" y="2"/>
                    <a:pt x="5" y="2"/>
                  </a:cubicBezTo>
                  <a:cubicBezTo>
                    <a:pt x="7" y="1"/>
                    <a:pt x="9" y="0"/>
                    <a:pt x="11" y="0"/>
                  </a:cubicBezTo>
                  <a:cubicBezTo>
                    <a:pt x="16" y="1"/>
                    <a:pt x="18" y="4"/>
                    <a:pt x="18" y="8"/>
                  </a:cubicBezTo>
                  <a:cubicBezTo>
                    <a:pt x="18" y="9"/>
                    <a:pt x="18" y="11"/>
                    <a:pt x="17" y="12"/>
                  </a:cubicBezTo>
                  <a:lnTo>
                    <a:pt x="27" y="20"/>
                  </a:lnTo>
                  <a:close/>
                  <a:moveTo>
                    <a:pt x="10" y="4"/>
                  </a:moveTo>
                  <a:cubicBezTo>
                    <a:pt x="8" y="3"/>
                    <a:pt x="6" y="5"/>
                    <a:pt x="5" y="6"/>
                  </a:cubicBezTo>
                  <a:cubicBezTo>
                    <a:pt x="10" y="13"/>
                    <a:pt x="10" y="13"/>
                    <a:pt x="10" y="13"/>
                  </a:cubicBezTo>
                  <a:cubicBezTo>
                    <a:pt x="12" y="12"/>
                    <a:pt x="12" y="12"/>
                    <a:pt x="14" y="10"/>
                  </a:cubicBezTo>
                  <a:cubicBezTo>
                    <a:pt x="14" y="7"/>
                    <a:pt x="13" y="5"/>
                    <a:pt x="10" y="4"/>
                  </a:cubicBezTo>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4" name="Freeform 120">
              <a:extLst>
                <a:ext uri="{FF2B5EF4-FFF2-40B4-BE49-F238E27FC236}">
                  <a16:creationId xmlns:a16="http://schemas.microsoft.com/office/drawing/2014/main" id="{1375AF14-9ABC-434E-8402-76DB53F6CAD8}"/>
                </a:ext>
              </a:extLst>
            </p:cNvPr>
            <p:cNvSpPr>
              <a:spLocks/>
            </p:cNvSpPr>
            <p:nvPr userDrawn="1"/>
          </p:nvSpPr>
          <p:spPr bwMode="auto">
            <a:xfrm>
              <a:off x="1223" y="916"/>
              <a:ext cx="34" cy="29"/>
            </a:xfrm>
            <a:custGeom>
              <a:avLst/>
              <a:gdLst>
                <a:gd name="T0" fmla="*/ 22 w 28"/>
                <a:gd name="T1" fmla="*/ 10 h 24"/>
                <a:gd name="T2" fmla="*/ 19 w 28"/>
                <a:gd name="T3" fmla="*/ 24 h 24"/>
                <a:gd name="T4" fmla="*/ 14 w 28"/>
                <a:gd name="T5" fmla="*/ 23 h 24"/>
                <a:gd name="T6" fmla="*/ 15 w 28"/>
                <a:gd name="T7" fmla="*/ 20 h 24"/>
                <a:gd name="T8" fmla="*/ 18 w 28"/>
                <a:gd name="T9" fmla="*/ 21 h 24"/>
                <a:gd name="T10" fmla="*/ 20 w 28"/>
                <a:gd name="T11" fmla="*/ 13 h 24"/>
                <a:gd name="T12" fmla="*/ 17 w 28"/>
                <a:gd name="T13" fmla="*/ 12 h 24"/>
                <a:gd name="T14" fmla="*/ 8 w 28"/>
                <a:gd name="T15" fmla="*/ 15 h 24"/>
                <a:gd name="T16" fmla="*/ 0 w 28"/>
                <a:gd name="T17" fmla="*/ 9 h 24"/>
                <a:gd name="T18" fmla="*/ 2 w 28"/>
                <a:gd name="T19" fmla="*/ 4 h 24"/>
                <a:gd name="T20" fmla="*/ 11 w 28"/>
                <a:gd name="T21" fmla="*/ 2 h 24"/>
                <a:gd name="T22" fmla="*/ 10 w 28"/>
                <a:gd name="T23" fmla="*/ 5 h 24"/>
                <a:gd name="T24" fmla="*/ 4 w 28"/>
                <a:gd name="T25" fmla="*/ 6 h 24"/>
                <a:gd name="T26" fmla="*/ 3 w 28"/>
                <a:gd name="T27" fmla="*/ 9 h 24"/>
                <a:gd name="T28" fmla="*/ 7 w 28"/>
                <a:gd name="T29" fmla="*/ 12 h 24"/>
                <a:gd name="T30" fmla="*/ 17 w 28"/>
                <a:gd name="T31" fmla="*/ 9 h 24"/>
                <a:gd name="T32" fmla="*/ 22 w 28"/>
                <a:gd name="T33" fmla="*/ 1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 h="24">
                  <a:moveTo>
                    <a:pt x="22" y="10"/>
                  </a:moveTo>
                  <a:cubicBezTo>
                    <a:pt x="28" y="13"/>
                    <a:pt x="26" y="23"/>
                    <a:pt x="19" y="24"/>
                  </a:cubicBezTo>
                  <a:cubicBezTo>
                    <a:pt x="17" y="24"/>
                    <a:pt x="15" y="24"/>
                    <a:pt x="14" y="23"/>
                  </a:cubicBezTo>
                  <a:cubicBezTo>
                    <a:pt x="15" y="20"/>
                    <a:pt x="15" y="20"/>
                    <a:pt x="15" y="20"/>
                  </a:cubicBezTo>
                  <a:cubicBezTo>
                    <a:pt x="16" y="21"/>
                    <a:pt x="17" y="21"/>
                    <a:pt x="18" y="21"/>
                  </a:cubicBezTo>
                  <a:cubicBezTo>
                    <a:pt x="23" y="20"/>
                    <a:pt x="23" y="15"/>
                    <a:pt x="20" y="13"/>
                  </a:cubicBezTo>
                  <a:cubicBezTo>
                    <a:pt x="19" y="12"/>
                    <a:pt x="18" y="12"/>
                    <a:pt x="17" y="12"/>
                  </a:cubicBezTo>
                  <a:cubicBezTo>
                    <a:pt x="13" y="13"/>
                    <a:pt x="11" y="15"/>
                    <a:pt x="8" y="15"/>
                  </a:cubicBezTo>
                  <a:cubicBezTo>
                    <a:pt x="4" y="15"/>
                    <a:pt x="1" y="13"/>
                    <a:pt x="0" y="9"/>
                  </a:cubicBezTo>
                  <a:cubicBezTo>
                    <a:pt x="0" y="7"/>
                    <a:pt x="1" y="5"/>
                    <a:pt x="2" y="4"/>
                  </a:cubicBezTo>
                  <a:cubicBezTo>
                    <a:pt x="4" y="0"/>
                    <a:pt x="8" y="0"/>
                    <a:pt x="11" y="2"/>
                  </a:cubicBezTo>
                  <a:cubicBezTo>
                    <a:pt x="10" y="5"/>
                    <a:pt x="10" y="5"/>
                    <a:pt x="10" y="5"/>
                  </a:cubicBezTo>
                  <a:cubicBezTo>
                    <a:pt x="8" y="4"/>
                    <a:pt x="5" y="4"/>
                    <a:pt x="4" y="6"/>
                  </a:cubicBezTo>
                  <a:cubicBezTo>
                    <a:pt x="3" y="7"/>
                    <a:pt x="3" y="8"/>
                    <a:pt x="3" y="9"/>
                  </a:cubicBezTo>
                  <a:cubicBezTo>
                    <a:pt x="4" y="11"/>
                    <a:pt x="5" y="12"/>
                    <a:pt x="7" y="12"/>
                  </a:cubicBezTo>
                  <a:cubicBezTo>
                    <a:pt x="11" y="11"/>
                    <a:pt x="13" y="8"/>
                    <a:pt x="17" y="9"/>
                  </a:cubicBezTo>
                  <a:cubicBezTo>
                    <a:pt x="18" y="9"/>
                    <a:pt x="20" y="9"/>
                    <a:pt x="22" y="10"/>
                  </a:cubicBezTo>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5" name="Freeform 121">
              <a:extLst>
                <a:ext uri="{FF2B5EF4-FFF2-40B4-BE49-F238E27FC236}">
                  <a16:creationId xmlns:a16="http://schemas.microsoft.com/office/drawing/2014/main" id="{A87E967F-2771-47FD-AE1F-15AF226C63DE}"/>
                </a:ext>
              </a:extLst>
            </p:cNvPr>
            <p:cNvSpPr>
              <a:spLocks/>
            </p:cNvSpPr>
            <p:nvPr userDrawn="1"/>
          </p:nvSpPr>
          <p:spPr bwMode="auto">
            <a:xfrm>
              <a:off x="1234" y="906"/>
              <a:ext cx="31" cy="21"/>
            </a:xfrm>
            <a:custGeom>
              <a:avLst/>
              <a:gdLst>
                <a:gd name="T0" fmla="*/ 31 w 31"/>
                <a:gd name="T1" fmla="*/ 17 h 21"/>
                <a:gd name="T2" fmla="*/ 28 w 31"/>
                <a:gd name="T3" fmla="*/ 21 h 21"/>
                <a:gd name="T4" fmla="*/ 0 w 31"/>
                <a:gd name="T5" fmla="*/ 2 h 21"/>
                <a:gd name="T6" fmla="*/ 2 w 31"/>
                <a:gd name="T7" fmla="*/ 0 h 21"/>
                <a:gd name="T8" fmla="*/ 31 w 31"/>
                <a:gd name="T9" fmla="*/ 17 h 21"/>
              </a:gdLst>
              <a:ahLst/>
              <a:cxnLst>
                <a:cxn ang="0">
                  <a:pos x="T0" y="T1"/>
                </a:cxn>
                <a:cxn ang="0">
                  <a:pos x="T2" y="T3"/>
                </a:cxn>
                <a:cxn ang="0">
                  <a:pos x="T4" y="T5"/>
                </a:cxn>
                <a:cxn ang="0">
                  <a:pos x="T6" y="T7"/>
                </a:cxn>
                <a:cxn ang="0">
                  <a:pos x="T8" y="T9"/>
                </a:cxn>
              </a:cxnLst>
              <a:rect l="0" t="0" r="r" b="b"/>
              <a:pathLst>
                <a:path w="31" h="21">
                  <a:moveTo>
                    <a:pt x="31" y="17"/>
                  </a:moveTo>
                  <a:lnTo>
                    <a:pt x="28" y="21"/>
                  </a:lnTo>
                  <a:lnTo>
                    <a:pt x="0" y="2"/>
                  </a:lnTo>
                  <a:lnTo>
                    <a:pt x="2" y="0"/>
                  </a:lnTo>
                  <a:lnTo>
                    <a:pt x="31" y="17"/>
                  </a:lnTo>
                  <a:close/>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6" name="Freeform 122">
              <a:extLst>
                <a:ext uri="{FF2B5EF4-FFF2-40B4-BE49-F238E27FC236}">
                  <a16:creationId xmlns:a16="http://schemas.microsoft.com/office/drawing/2014/main" id="{0C0CF095-E9ED-43B6-921B-11B4DFB4B863}"/>
                </a:ext>
              </a:extLst>
            </p:cNvPr>
            <p:cNvSpPr>
              <a:spLocks/>
            </p:cNvSpPr>
            <p:nvPr userDrawn="1"/>
          </p:nvSpPr>
          <p:spPr bwMode="auto">
            <a:xfrm>
              <a:off x="1239" y="884"/>
              <a:ext cx="36" cy="28"/>
            </a:xfrm>
            <a:custGeom>
              <a:avLst/>
              <a:gdLst>
                <a:gd name="T0" fmla="*/ 11 w 36"/>
                <a:gd name="T1" fmla="*/ 3 h 28"/>
                <a:gd name="T2" fmla="*/ 8 w 36"/>
                <a:gd name="T3" fmla="*/ 9 h 28"/>
                <a:gd name="T4" fmla="*/ 36 w 36"/>
                <a:gd name="T5" fmla="*/ 25 h 28"/>
                <a:gd name="T6" fmla="*/ 33 w 36"/>
                <a:gd name="T7" fmla="*/ 28 h 28"/>
                <a:gd name="T8" fmla="*/ 6 w 36"/>
                <a:gd name="T9" fmla="*/ 13 h 28"/>
                <a:gd name="T10" fmla="*/ 3 w 36"/>
                <a:gd name="T11" fmla="*/ 18 h 28"/>
                <a:gd name="T12" fmla="*/ 0 w 36"/>
                <a:gd name="T13" fmla="*/ 17 h 28"/>
                <a:gd name="T14" fmla="*/ 7 w 36"/>
                <a:gd name="T15" fmla="*/ 0 h 28"/>
                <a:gd name="T16" fmla="*/ 11 w 36"/>
                <a:gd name="T17"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28">
                  <a:moveTo>
                    <a:pt x="11" y="3"/>
                  </a:moveTo>
                  <a:lnTo>
                    <a:pt x="8" y="9"/>
                  </a:lnTo>
                  <a:lnTo>
                    <a:pt x="36" y="25"/>
                  </a:lnTo>
                  <a:lnTo>
                    <a:pt x="33" y="28"/>
                  </a:lnTo>
                  <a:lnTo>
                    <a:pt x="6" y="13"/>
                  </a:lnTo>
                  <a:lnTo>
                    <a:pt x="3" y="18"/>
                  </a:lnTo>
                  <a:lnTo>
                    <a:pt x="0" y="17"/>
                  </a:lnTo>
                  <a:lnTo>
                    <a:pt x="7" y="0"/>
                  </a:lnTo>
                  <a:lnTo>
                    <a:pt x="11" y="3"/>
                  </a:lnTo>
                  <a:close/>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7" name="Freeform 123">
              <a:extLst>
                <a:ext uri="{FF2B5EF4-FFF2-40B4-BE49-F238E27FC236}">
                  <a16:creationId xmlns:a16="http://schemas.microsoft.com/office/drawing/2014/main" id="{DA7EF2E6-E052-449B-A100-FC852D03C969}"/>
                </a:ext>
              </a:extLst>
            </p:cNvPr>
            <p:cNvSpPr>
              <a:spLocks/>
            </p:cNvSpPr>
            <p:nvPr userDrawn="1"/>
          </p:nvSpPr>
          <p:spPr bwMode="auto">
            <a:xfrm>
              <a:off x="1247" y="865"/>
              <a:ext cx="36" cy="23"/>
            </a:xfrm>
            <a:custGeom>
              <a:avLst/>
              <a:gdLst>
                <a:gd name="T0" fmla="*/ 8 w 36"/>
                <a:gd name="T1" fmla="*/ 0 h 23"/>
                <a:gd name="T2" fmla="*/ 25 w 36"/>
                <a:gd name="T3" fmla="*/ 14 h 23"/>
                <a:gd name="T4" fmla="*/ 36 w 36"/>
                <a:gd name="T5" fmla="*/ 19 h 23"/>
                <a:gd name="T6" fmla="*/ 34 w 36"/>
                <a:gd name="T7" fmla="*/ 23 h 23"/>
                <a:gd name="T8" fmla="*/ 24 w 36"/>
                <a:gd name="T9" fmla="*/ 18 h 23"/>
                <a:gd name="T10" fmla="*/ 0 w 36"/>
                <a:gd name="T11" fmla="*/ 18 h 23"/>
                <a:gd name="T12" fmla="*/ 2 w 36"/>
                <a:gd name="T13" fmla="*/ 14 h 23"/>
                <a:gd name="T14" fmla="*/ 18 w 36"/>
                <a:gd name="T15" fmla="*/ 14 h 23"/>
                <a:gd name="T16" fmla="*/ 7 w 36"/>
                <a:gd name="T17" fmla="*/ 5 h 23"/>
                <a:gd name="T18" fmla="*/ 8 w 36"/>
                <a:gd name="T1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23">
                  <a:moveTo>
                    <a:pt x="8" y="0"/>
                  </a:moveTo>
                  <a:lnTo>
                    <a:pt x="25" y="14"/>
                  </a:lnTo>
                  <a:lnTo>
                    <a:pt x="36" y="19"/>
                  </a:lnTo>
                  <a:lnTo>
                    <a:pt x="34" y="23"/>
                  </a:lnTo>
                  <a:lnTo>
                    <a:pt x="24" y="18"/>
                  </a:lnTo>
                  <a:lnTo>
                    <a:pt x="0" y="18"/>
                  </a:lnTo>
                  <a:lnTo>
                    <a:pt x="2" y="14"/>
                  </a:lnTo>
                  <a:lnTo>
                    <a:pt x="18" y="14"/>
                  </a:lnTo>
                  <a:lnTo>
                    <a:pt x="7" y="5"/>
                  </a:lnTo>
                  <a:lnTo>
                    <a:pt x="8" y="0"/>
                  </a:lnTo>
                  <a:close/>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8" name="Freeform 124">
              <a:extLst>
                <a:ext uri="{FF2B5EF4-FFF2-40B4-BE49-F238E27FC236}">
                  <a16:creationId xmlns:a16="http://schemas.microsoft.com/office/drawing/2014/main" id="{009D9541-5AEC-4746-9DAB-628470FA4102}"/>
                </a:ext>
              </a:extLst>
            </p:cNvPr>
            <p:cNvSpPr>
              <a:spLocks/>
            </p:cNvSpPr>
            <p:nvPr userDrawn="1"/>
          </p:nvSpPr>
          <p:spPr bwMode="auto">
            <a:xfrm>
              <a:off x="1010" y="928"/>
              <a:ext cx="34" cy="25"/>
            </a:xfrm>
            <a:custGeom>
              <a:avLst/>
              <a:gdLst>
                <a:gd name="T0" fmla="*/ 14 w 28"/>
                <a:gd name="T1" fmla="*/ 16 h 20"/>
                <a:gd name="T2" fmla="*/ 8 w 28"/>
                <a:gd name="T3" fmla="*/ 20 h 20"/>
                <a:gd name="T4" fmla="*/ 2 w 28"/>
                <a:gd name="T5" fmla="*/ 17 h 20"/>
                <a:gd name="T6" fmla="*/ 0 w 28"/>
                <a:gd name="T7" fmla="*/ 12 h 20"/>
                <a:gd name="T8" fmla="*/ 1 w 28"/>
                <a:gd name="T9" fmla="*/ 9 h 20"/>
                <a:gd name="T10" fmla="*/ 4 w 28"/>
                <a:gd name="T11" fmla="*/ 10 h 20"/>
                <a:gd name="T12" fmla="*/ 3 w 28"/>
                <a:gd name="T13" fmla="*/ 12 h 20"/>
                <a:gd name="T14" fmla="*/ 4 w 28"/>
                <a:gd name="T15" fmla="*/ 15 h 20"/>
                <a:gd name="T16" fmla="*/ 8 w 28"/>
                <a:gd name="T17" fmla="*/ 16 h 20"/>
                <a:gd name="T18" fmla="*/ 12 w 28"/>
                <a:gd name="T19" fmla="*/ 14 h 20"/>
                <a:gd name="T20" fmla="*/ 25 w 28"/>
                <a:gd name="T21" fmla="*/ 0 h 20"/>
                <a:gd name="T22" fmla="*/ 28 w 28"/>
                <a:gd name="T23" fmla="*/ 3 h 20"/>
                <a:gd name="T24" fmla="*/ 14 w 28"/>
                <a:gd name="T25"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 h="20">
                  <a:moveTo>
                    <a:pt x="14" y="16"/>
                  </a:moveTo>
                  <a:cubicBezTo>
                    <a:pt x="12" y="18"/>
                    <a:pt x="10" y="20"/>
                    <a:pt x="8" y="20"/>
                  </a:cubicBezTo>
                  <a:cubicBezTo>
                    <a:pt x="6" y="20"/>
                    <a:pt x="4" y="19"/>
                    <a:pt x="2" y="17"/>
                  </a:cubicBezTo>
                  <a:cubicBezTo>
                    <a:pt x="1" y="16"/>
                    <a:pt x="0" y="14"/>
                    <a:pt x="0" y="12"/>
                  </a:cubicBezTo>
                  <a:cubicBezTo>
                    <a:pt x="0" y="11"/>
                    <a:pt x="0" y="10"/>
                    <a:pt x="1" y="9"/>
                  </a:cubicBezTo>
                  <a:cubicBezTo>
                    <a:pt x="4" y="10"/>
                    <a:pt x="4" y="10"/>
                    <a:pt x="4" y="10"/>
                  </a:cubicBezTo>
                  <a:cubicBezTo>
                    <a:pt x="3" y="11"/>
                    <a:pt x="3" y="11"/>
                    <a:pt x="3" y="12"/>
                  </a:cubicBezTo>
                  <a:cubicBezTo>
                    <a:pt x="3" y="13"/>
                    <a:pt x="4" y="14"/>
                    <a:pt x="4" y="15"/>
                  </a:cubicBezTo>
                  <a:cubicBezTo>
                    <a:pt x="5" y="16"/>
                    <a:pt x="6" y="16"/>
                    <a:pt x="8" y="16"/>
                  </a:cubicBezTo>
                  <a:cubicBezTo>
                    <a:pt x="9" y="16"/>
                    <a:pt x="10" y="15"/>
                    <a:pt x="12" y="14"/>
                  </a:cubicBezTo>
                  <a:cubicBezTo>
                    <a:pt x="25" y="0"/>
                    <a:pt x="25" y="0"/>
                    <a:pt x="25" y="0"/>
                  </a:cubicBezTo>
                  <a:cubicBezTo>
                    <a:pt x="28" y="3"/>
                    <a:pt x="28" y="3"/>
                    <a:pt x="28" y="3"/>
                  </a:cubicBezTo>
                  <a:lnTo>
                    <a:pt x="14" y="16"/>
                  </a:lnTo>
                  <a:close/>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9" name="Freeform 125">
              <a:extLst>
                <a:ext uri="{FF2B5EF4-FFF2-40B4-BE49-F238E27FC236}">
                  <a16:creationId xmlns:a16="http://schemas.microsoft.com/office/drawing/2014/main" id="{5D126454-24AF-4FEA-8F3B-4BAB4A1EB957}"/>
                </a:ext>
              </a:extLst>
            </p:cNvPr>
            <p:cNvSpPr>
              <a:spLocks noEditPoints="1"/>
            </p:cNvSpPr>
            <p:nvPr userDrawn="1"/>
          </p:nvSpPr>
          <p:spPr bwMode="auto">
            <a:xfrm>
              <a:off x="1073" y="917"/>
              <a:ext cx="106" cy="33"/>
            </a:xfrm>
            <a:custGeom>
              <a:avLst/>
              <a:gdLst>
                <a:gd name="T0" fmla="*/ 0 w 86"/>
                <a:gd name="T1" fmla="*/ 15 h 27"/>
                <a:gd name="T2" fmla="*/ 4 w 86"/>
                <a:gd name="T3" fmla="*/ 15 h 27"/>
                <a:gd name="T4" fmla="*/ 6 w 86"/>
                <a:gd name="T5" fmla="*/ 3 h 27"/>
                <a:gd name="T6" fmla="*/ 10 w 86"/>
                <a:gd name="T7" fmla="*/ 3 h 27"/>
                <a:gd name="T8" fmla="*/ 14 w 86"/>
                <a:gd name="T9" fmla="*/ 4 h 27"/>
                <a:gd name="T10" fmla="*/ 10 w 86"/>
                <a:gd name="T11" fmla="*/ 19 h 27"/>
                <a:gd name="T12" fmla="*/ 37 w 86"/>
                <a:gd name="T13" fmla="*/ 14 h 27"/>
                <a:gd name="T14" fmla="*/ 33 w 86"/>
                <a:gd name="T15" fmla="*/ 11 h 27"/>
                <a:gd name="T16" fmla="*/ 28 w 86"/>
                <a:gd name="T17" fmla="*/ 13 h 27"/>
                <a:gd name="T18" fmla="*/ 30 w 86"/>
                <a:gd name="T19" fmla="*/ 16 h 27"/>
                <a:gd name="T20" fmla="*/ 34 w 86"/>
                <a:gd name="T21" fmla="*/ 17 h 27"/>
                <a:gd name="T22" fmla="*/ 37 w 86"/>
                <a:gd name="T23" fmla="*/ 14 h 27"/>
                <a:gd name="T24" fmla="*/ 36 w 86"/>
                <a:gd name="T25" fmla="*/ 21 h 27"/>
                <a:gd name="T26" fmla="*/ 32 w 86"/>
                <a:gd name="T27" fmla="*/ 19 h 27"/>
                <a:gd name="T28" fmla="*/ 27 w 86"/>
                <a:gd name="T29" fmla="*/ 19 h 27"/>
                <a:gd name="T30" fmla="*/ 27 w 86"/>
                <a:gd name="T31" fmla="*/ 24 h 27"/>
                <a:gd name="T32" fmla="*/ 34 w 86"/>
                <a:gd name="T33" fmla="*/ 25 h 27"/>
                <a:gd name="T34" fmla="*/ 30 w 86"/>
                <a:gd name="T35" fmla="*/ 27 h 27"/>
                <a:gd name="T36" fmla="*/ 24 w 86"/>
                <a:gd name="T37" fmla="*/ 25 h 27"/>
                <a:gd name="T38" fmla="*/ 23 w 86"/>
                <a:gd name="T39" fmla="*/ 21 h 27"/>
                <a:gd name="T40" fmla="*/ 28 w 86"/>
                <a:gd name="T41" fmla="*/ 17 h 27"/>
                <a:gd name="T42" fmla="*/ 25 w 86"/>
                <a:gd name="T43" fmla="*/ 15 h 27"/>
                <a:gd name="T44" fmla="*/ 28 w 86"/>
                <a:gd name="T45" fmla="*/ 10 h 27"/>
                <a:gd name="T46" fmla="*/ 39 w 86"/>
                <a:gd name="T47" fmla="*/ 11 h 27"/>
                <a:gd name="T48" fmla="*/ 39 w 86"/>
                <a:gd name="T49" fmla="*/ 17 h 27"/>
                <a:gd name="T50" fmla="*/ 36 w 86"/>
                <a:gd name="T51" fmla="*/ 18 h 27"/>
                <a:gd name="T52" fmla="*/ 39 w 86"/>
                <a:gd name="T53" fmla="*/ 23 h 27"/>
                <a:gd name="T54" fmla="*/ 30 w 86"/>
                <a:gd name="T55" fmla="*/ 27 h 27"/>
                <a:gd name="T56" fmla="*/ 62 w 86"/>
                <a:gd name="T57" fmla="*/ 14 h 27"/>
                <a:gd name="T58" fmla="*/ 59 w 86"/>
                <a:gd name="T59" fmla="*/ 11 h 27"/>
                <a:gd name="T60" fmla="*/ 54 w 86"/>
                <a:gd name="T61" fmla="*/ 12 h 27"/>
                <a:gd name="T62" fmla="*/ 53 w 86"/>
                <a:gd name="T63" fmla="*/ 17 h 27"/>
                <a:gd name="T64" fmla="*/ 56 w 86"/>
                <a:gd name="T65" fmla="*/ 19 h 27"/>
                <a:gd name="T66" fmla="*/ 60 w 86"/>
                <a:gd name="T67" fmla="*/ 18 h 27"/>
                <a:gd name="T68" fmla="*/ 63 w 86"/>
                <a:gd name="T69" fmla="*/ 17 h 27"/>
                <a:gd name="T70" fmla="*/ 50 w 86"/>
                <a:gd name="T71" fmla="*/ 15 h 27"/>
                <a:gd name="T72" fmla="*/ 52 w 86"/>
                <a:gd name="T73" fmla="*/ 11 h 27"/>
                <a:gd name="T74" fmla="*/ 58 w 86"/>
                <a:gd name="T75" fmla="*/ 9 h 27"/>
                <a:gd name="T76" fmla="*/ 63 w 86"/>
                <a:gd name="T77" fmla="*/ 11 h 27"/>
                <a:gd name="T78" fmla="*/ 66 w 86"/>
                <a:gd name="T79" fmla="*/ 17 h 27"/>
                <a:gd name="T80" fmla="*/ 63 w 86"/>
                <a:gd name="T81" fmla="*/ 24 h 27"/>
                <a:gd name="T82" fmla="*/ 55 w 86"/>
                <a:gd name="T83" fmla="*/ 27 h 27"/>
                <a:gd name="T84" fmla="*/ 52 w 86"/>
                <a:gd name="T85" fmla="*/ 27 h 27"/>
                <a:gd name="T86" fmla="*/ 52 w 86"/>
                <a:gd name="T87" fmla="*/ 25 h 27"/>
                <a:gd name="T88" fmla="*/ 55 w 86"/>
                <a:gd name="T89" fmla="*/ 25 h 27"/>
                <a:gd name="T90" fmla="*/ 62 w 86"/>
                <a:gd name="T91" fmla="*/ 19 h 27"/>
                <a:gd name="T92" fmla="*/ 57 w 86"/>
                <a:gd name="T93" fmla="*/ 21 h 27"/>
                <a:gd name="T94" fmla="*/ 52 w 86"/>
                <a:gd name="T95" fmla="*/ 20 h 27"/>
                <a:gd name="T96" fmla="*/ 50 w 86"/>
                <a:gd name="T97" fmla="*/ 15 h 27"/>
                <a:gd name="T98" fmla="*/ 86 w 86"/>
                <a:gd name="T99" fmla="*/ 18 h 27"/>
                <a:gd name="T100" fmla="*/ 83 w 86"/>
                <a:gd name="T101" fmla="*/ 3 h 27"/>
                <a:gd name="T102" fmla="*/ 72 w 86"/>
                <a:gd name="T103" fmla="*/ 6 h 27"/>
                <a:gd name="T104" fmla="*/ 86 w 86"/>
                <a:gd name="T105"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6" h="27">
                  <a:moveTo>
                    <a:pt x="9" y="20"/>
                  </a:moveTo>
                  <a:cubicBezTo>
                    <a:pt x="0" y="15"/>
                    <a:pt x="0" y="15"/>
                    <a:pt x="0" y="15"/>
                  </a:cubicBezTo>
                  <a:cubicBezTo>
                    <a:pt x="0" y="13"/>
                    <a:pt x="0" y="13"/>
                    <a:pt x="0" y="13"/>
                  </a:cubicBezTo>
                  <a:cubicBezTo>
                    <a:pt x="4" y="15"/>
                    <a:pt x="4" y="15"/>
                    <a:pt x="4" y="15"/>
                  </a:cubicBezTo>
                  <a:cubicBezTo>
                    <a:pt x="10" y="5"/>
                    <a:pt x="10" y="5"/>
                    <a:pt x="10" y="5"/>
                  </a:cubicBezTo>
                  <a:cubicBezTo>
                    <a:pt x="6" y="3"/>
                    <a:pt x="6" y="3"/>
                    <a:pt x="6" y="3"/>
                  </a:cubicBezTo>
                  <a:cubicBezTo>
                    <a:pt x="7" y="2"/>
                    <a:pt x="7" y="2"/>
                    <a:pt x="7" y="2"/>
                  </a:cubicBezTo>
                  <a:cubicBezTo>
                    <a:pt x="8" y="3"/>
                    <a:pt x="9" y="3"/>
                    <a:pt x="10" y="3"/>
                  </a:cubicBezTo>
                  <a:cubicBezTo>
                    <a:pt x="11" y="3"/>
                    <a:pt x="11" y="3"/>
                    <a:pt x="12" y="2"/>
                  </a:cubicBezTo>
                  <a:cubicBezTo>
                    <a:pt x="14" y="4"/>
                    <a:pt x="14" y="4"/>
                    <a:pt x="14" y="4"/>
                  </a:cubicBezTo>
                  <a:cubicBezTo>
                    <a:pt x="6" y="17"/>
                    <a:pt x="6" y="17"/>
                    <a:pt x="6" y="17"/>
                  </a:cubicBezTo>
                  <a:cubicBezTo>
                    <a:pt x="10" y="19"/>
                    <a:pt x="10" y="19"/>
                    <a:pt x="10" y="19"/>
                  </a:cubicBezTo>
                  <a:lnTo>
                    <a:pt x="9" y="20"/>
                  </a:lnTo>
                  <a:close/>
                  <a:moveTo>
                    <a:pt x="37" y="14"/>
                  </a:moveTo>
                  <a:cubicBezTo>
                    <a:pt x="37" y="14"/>
                    <a:pt x="37" y="13"/>
                    <a:pt x="36" y="12"/>
                  </a:cubicBezTo>
                  <a:cubicBezTo>
                    <a:pt x="36" y="12"/>
                    <a:pt x="35" y="11"/>
                    <a:pt x="33" y="11"/>
                  </a:cubicBezTo>
                  <a:cubicBezTo>
                    <a:pt x="32" y="11"/>
                    <a:pt x="31" y="11"/>
                    <a:pt x="30" y="11"/>
                  </a:cubicBezTo>
                  <a:cubicBezTo>
                    <a:pt x="29" y="12"/>
                    <a:pt x="29" y="12"/>
                    <a:pt x="28" y="13"/>
                  </a:cubicBezTo>
                  <a:cubicBezTo>
                    <a:pt x="28" y="14"/>
                    <a:pt x="28" y="14"/>
                    <a:pt x="29" y="15"/>
                  </a:cubicBezTo>
                  <a:cubicBezTo>
                    <a:pt x="29" y="15"/>
                    <a:pt x="30" y="15"/>
                    <a:pt x="30" y="16"/>
                  </a:cubicBezTo>
                  <a:cubicBezTo>
                    <a:pt x="31" y="16"/>
                    <a:pt x="31" y="16"/>
                    <a:pt x="32" y="17"/>
                  </a:cubicBezTo>
                  <a:cubicBezTo>
                    <a:pt x="33" y="17"/>
                    <a:pt x="33" y="17"/>
                    <a:pt x="34" y="17"/>
                  </a:cubicBezTo>
                  <a:cubicBezTo>
                    <a:pt x="35" y="17"/>
                    <a:pt x="36" y="17"/>
                    <a:pt x="36" y="16"/>
                  </a:cubicBezTo>
                  <a:cubicBezTo>
                    <a:pt x="37" y="16"/>
                    <a:pt x="37" y="15"/>
                    <a:pt x="37" y="14"/>
                  </a:cubicBezTo>
                  <a:moveTo>
                    <a:pt x="36" y="23"/>
                  </a:moveTo>
                  <a:cubicBezTo>
                    <a:pt x="36" y="22"/>
                    <a:pt x="36" y="22"/>
                    <a:pt x="36" y="21"/>
                  </a:cubicBezTo>
                  <a:cubicBezTo>
                    <a:pt x="35" y="21"/>
                    <a:pt x="34" y="20"/>
                    <a:pt x="33" y="20"/>
                  </a:cubicBezTo>
                  <a:cubicBezTo>
                    <a:pt x="33" y="19"/>
                    <a:pt x="33" y="19"/>
                    <a:pt x="32" y="19"/>
                  </a:cubicBezTo>
                  <a:cubicBezTo>
                    <a:pt x="31" y="19"/>
                    <a:pt x="31" y="18"/>
                    <a:pt x="30" y="18"/>
                  </a:cubicBezTo>
                  <a:cubicBezTo>
                    <a:pt x="29" y="18"/>
                    <a:pt x="28" y="19"/>
                    <a:pt x="27" y="19"/>
                  </a:cubicBezTo>
                  <a:cubicBezTo>
                    <a:pt x="27" y="20"/>
                    <a:pt x="26" y="20"/>
                    <a:pt x="26" y="21"/>
                  </a:cubicBezTo>
                  <a:cubicBezTo>
                    <a:pt x="26" y="22"/>
                    <a:pt x="26" y="23"/>
                    <a:pt x="27" y="24"/>
                  </a:cubicBezTo>
                  <a:cubicBezTo>
                    <a:pt x="28" y="25"/>
                    <a:pt x="29" y="25"/>
                    <a:pt x="30" y="25"/>
                  </a:cubicBezTo>
                  <a:cubicBezTo>
                    <a:pt x="32" y="26"/>
                    <a:pt x="33" y="25"/>
                    <a:pt x="34" y="25"/>
                  </a:cubicBezTo>
                  <a:cubicBezTo>
                    <a:pt x="35" y="24"/>
                    <a:pt x="36" y="24"/>
                    <a:pt x="36" y="23"/>
                  </a:cubicBezTo>
                  <a:moveTo>
                    <a:pt x="30" y="27"/>
                  </a:moveTo>
                  <a:cubicBezTo>
                    <a:pt x="29" y="27"/>
                    <a:pt x="28" y="27"/>
                    <a:pt x="27" y="26"/>
                  </a:cubicBezTo>
                  <a:cubicBezTo>
                    <a:pt x="26" y="26"/>
                    <a:pt x="25" y="25"/>
                    <a:pt x="24" y="25"/>
                  </a:cubicBezTo>
                  <a:cubicBezTo>
                    <a:pt x="23" y="24"/>
                    <a:pt x="23" y="24"/>
                    <a:pt x="23" y="23"/>
                  </a:cubicBezTo>
                  <a:cubicBezTo>
                    <a:pt x="23" y="22"/>
                    <a:pt x="22" y="21"/>
                    <a:pt x="23" y="21"/>
                  </a:cubicBezTo>
                  <a:cubicBezTo>
                    <a:pt x="23" y="20"/>
                    <a:pt x="23" y="19"/>
                    <a:pt x="24" y="18"/>
                  </a:cubicBezTo>
                  <a:cubicBezTo>
                    <a:pt x="25" y="18"/>
                    <a:pt x="26" y="17"/>
                    <a:pt x="28" y="17"/>
                  </a:cubicBezTo>
                  <a:cubicBezTo>
                    <a:pt x="28" y="17"/>
                    <a:pt x="28" y="17"/>
                    <a:pt x="28" y="17"/>
                  </a:cubicBezTo>
                  <a:cubicBezTo>
                    <a:pt x="27" y="16"/>
                    <a:pt x="26" y="16"/>
                    <a:pt x="25" y="15"/>
                  </a:cubicBezTo>
                  <a:cubicBezTo>
                    <a:pt x="25" y="14"/>
                    <a:pt x="25" y="14"/>
                    <a:pt x="25" y="13"/>
                  </a:cubicBezTo>
                  <a:cubicBezTo>
                    <a:pt x="25" y="12"/>
                    <a:pt x="26" y="11"/>
                    <a:pt x="28" y="10"/>
                  </a:cubicBezTo>
                  <a:cubicBezTo>
                    <a:pt x="29" y="9"/>
                    <a:pt x="31" y="9"/>
                    <a:pt x="34" y="10"/>
                  </a:cubicBezTo>
                  <a:cubicBezTo>
                    <a:pt x="36" y="10"/>
                    <a:pt x="38" y="10"/>
                    <a:pt x="39" y="11"/>
                  </a:cubicBezTo>
                  <a:cubicBezTo>
                    <a:pt x="40" y="12"/>
                    <a:pt x="41" y="14"/>
                    <a:pt x="40" y="15"/>
                  </a:cubicBezTo>
                  <a:cubicBezTo>
                    <a:pt x="40" y="16"/>
                    <a:pt x="40" y="16"/>
                    <a:pt x="39" y="17"/>
                  </a:cubicBezTo>
                  <a:cubicBezTo>
                    <a:pt x="38" y="18"/>
                    <a:pt x="37" y="18"/>
                    <a:pt x="36" y="18"/>
                  </a:cubicBezTo>
                  <a:cubicBezTo>
                    <a:pt x="36" y="18"/>
                    <a:pt x="36" y="18"/>
                    <a:pt x="36" y="18"/>
                  </a:cubicBezTo>
                  <a:cubicBezTo>
                    <a:pt x="37" y="19"/>
                    <a:pt x="38" y="20"/>
                    <a:pt x="39" y="20"/>
                  </a:cubicBezTo>
                  <a:cubicBezTo>
                    <a:pt x="39" y="21"/>
                    <a:pt x="40" y="22"/>
                    <a:pt x="39" y="23"/>
                  </a:cubicBezTo>
                  <a:cubicBezTo>
                    <a:pt x="39" y="25"/>
                    <a:pt x="38" y="26"/>
                    <a:pt x="36" y="26"/>
                  </a:cubicBezTo>
                  <a:cubicBezTo>
                    <a:pt x="34" y="27"/>
                    <a:pt x="32" y="27"/>
                    <a:pt x="30" y="27"/>
                  </a:cubicBezTo>
                  <a:moveTo>
                    <a:pt x="63" y="17"/>
                  </a:moveTo>
                  <a:cubicBezTo>
                    <a:pt x="63" y="15"/>
                    <a:pt x="62" y="15"/>
                    <a:pt x="62" y="14"/>
                  </a:cubicBezTo>
                  <a:cubicBezTo>
                    <a:pt x="62" y="13"/>
                    <a:pt x="61" y="13"/>
                    <a:pt x="61" y="12"/>
                  </a:cubicBezTo>
                  <a:cubicBezTo>
                    <a:pt x="60" y="12"/>
                    <a:pt x="60" y="12"/>
                    <a:pt x="59" y="11"/>
                  </a:cubicBezTo>
                  <a:cubicBezTo>
                    <a:pt x="59" y="11"/>
                    <a:pt x="58" y="11"/>
                    <a:pt x="58" y="11"/>
                  </a:cubicBezTo>
                  <a:cubicBezTo>
                    <a:pt x="56" y="11"/>
                    <a:pt x="55" y="12"/>
                    <a:pt x="54" y="12"/>
                  </a:cubicBezTo>
                  <a:cubicBezTo>
                    <a:pt x="53" y="13"/>
                    <a:pt x="53" y="14"/>
                    <a:pt x="53" y="15"/>
                  </a:cubicBezTo>
                  <a:cubicBezTo>
                    <a:pt x="53" y="16"/>
                    <a:pt x="53" y="16"/>
                    <a:pt x="53" y="17"/>
                  </a:cubicBezTo>
                  <a:cubicBezTo>
                    <a:pt x="54" y="17"/>
                    <a:pt x="54" y="18"/>
                    <a:pt x="55" y="18"/>
                  </a:cubicBezTo>
                  <a:cubicBezTo>
                    <a:pt x="55" y="18"/>
                    <a:pt x="56" y="18"/>
                    <a:pt x="56" y="19"/>
                  </a:cubicBezTo>
                  <a:cubicBezTo>
                    <a:pt x="57" y="19"/>
                    <a:pt x="57" y="19"/>
                    <a:pt x="58" y="19"/>
                  </a:cubicBezTo>
                  <a:cubicBezTo>
                    <a:pt x="59" y="19"/>
                    <a:pt x="59" y="19"/>
                    <a:pt x="60" y="18"/>
                  </a:cubicBezTo>
                  <a:cubicBezTo>
                    <a:pt x="61" y="18"/>
                    <a:pt x="62" y="18"/>
                    <a:pt x="62" y="18"/>
                  </a:cubicBezTo>
                  <a:cubicBezTo>
                    <a:pt x="63" y="18"/>
                    <a:pt x="63" y="17"/>
                    <a:pt x="63" y="17"/>
                  </a:cubicBezTo>
                  <a:cubicBezTo>
                    <a:pt x="63" y="17"/>
                    <a:pt x="63" y="17"/>
                    <a:pt x="63" y="17"/>
                  </a:cubicBezTo>
                  <a:moveTo>
                    <a:pt x="50" y="15"/>
                  </a:moveTo>
                  <a:cubicBezTo>
                    <a:pt x="50" y="14"/>
                    <a:pt x="50" y="14"/>
                    <a:pt x="50" y="13"/>
                  </a:cubicBezTo>
                  <a:cubicBezTo>
                    <a:pt x="51" y="12"/>
                    <a:pt x="51" y="11"/>
                    <a:pt x="52" y="11"/>
                  </a:cubicBezTo>
                  <a:cubicBezTo>
                    <a:pt x="53" y="10"/>
                    <a:pt x="53" y="10"/>
                    <a:pt x="55" y="10"/>
                  </a:cubicBezTo>
                  <a:cubicBezTo>
                    <a:pt x="56" y="9"/>
                    <a:pt x="57" y="9"/>
                    <a:pt x="58" y="9"/>
                  </a:cubicBezTo>
                  <a:cubicBezTo>
                    <a:pt x="59" y="9"/>
                    <a:pt x="60" y="9"/>
                    <a:pt x="61" y="10"/>
                  </a:cubicBezTo>
                  <a:cubicBezTo>
                    <a:pt x="62" y="10"/>
                    <a:pt x="63" y="10"/>
                    <a:pt x="63" y="11"/>
                  </a:cubicBezTo>
                  <a:cubicBezTo>
                    <a:pt x="64" y="11"/>
                    <a:pt x="65" y="12"/>
                    <a:pt x="65" y="13"/>
                  </a:cubicBezTo>
                  <a:cubicBezTo>
                    <a:pt x="66" y="14"/>
                    <a:pt x="66" y="16"/>
                    <a:pt x="66" y="17"/>
                  </a:cubicBezTo>
                  <a:cubicBezTo>
                    <a:pt x="66" y="19"/>
                    <a:pt x="66" y="20"/>
                    <a:pt x="65" y="21"/>
                  </a:cubicBezTo>
                  <a:cubicBezTo>
                    <a:pt x="65" y="22"/>
                    <a:pt x="64" y="23"/>
                    <a:pt x="63" y="24"/>
                  </a:cubicBezTo>
                  <a:cubicBezTo>
                    <a:pt x="62" y="25"/>
                    <a:pt x="61" y="26"/>
                    <a:pt x="60" y="26"/>
                  </a:cubicBezTo>
                  <a:cubicBezTo>
                    <a:pt x="58" y="27"/>
                    <a:pt x="57" y="27"/>
                    <a:pt x="55" y="27"/>
                  </a:cubicBezTo>
                  <a:cubicBezTo>
                    <a:pt x="54" y="27"/>
                    <a:pt x="54" y="27"/>
                    <a:pt x="53" y="27"/>
                  </a:cubicBezTo>
                  <a:cubicBezTo>
                    <a:pt x="53" y="27"/>
                    <a:pt x="52" y="27"/>
                    <a:pt x="52" y="27"/>
                  </a:cubicBezTo>
                  <a:cubicBezTo>
                    <a:pt x="52" y="25"/>
                    <a:pt x="52" y="25"/>
                    <a:pt x="52" y="25"/>
                  </a:cubicBezTo>
                  <a:cubicBezTo>
                    <a:pt x="52" y="25"/>
                    <a:pt x="52" y="25"/>
                    <a:pt x="52" y="25"/>
                  </a:cubicBezTo>
                  <a:cubicBezTo>
                    <a:pt x="52" y="25"/>
                    <a:pt x="53" y="25"/>
                    <a:pt x="53" y="25"/>
                  </a:cubicBezTo>
                  <a:cubicBezTo>
                    <a:pt x="54" y="25"/>
                    <a:pt x="54" y="25"/>
                    <a:pt x="55" y="25"/>
                  </a:cubicBezTo>
                  <a:cubicBezTo>
                    <a:pt x="57" y="25"/>
                    <a:pt x="59" y="25"/>
                    <a:pt x="60" y="24"/>
                  </a:cubicBezTo>
                  <a:cubicBezTo>
                    <a:pt x="62" y="23"/>
                    <a:pt x="62" y="21"/>
                    <a:pt x="62" y="19"/>
                  </a:cubicBezTo>
                  <a:cubicBezTo>
                    <a:pt x="62" y="20"/>
                    <a:pt x="61" y="20"/>
                    <a:pt x="60" y="20"/>
                  </a:cubicBezTo>
                  <a:cubicBezTo>
                    <a:pt x="59" y="20"/>
                    <a:pt x="58" y="21"/>
                    <a:pt x="57" y="21"/>
                  </a:cubicBezTo>
                  <a:cubicBezTo>
                    <a:pt x="56" y="21"/>
                    <a:pt x="55" y="20"/>
                    <a:pt x="55" y="20"/>
                  </a:cubicBezTo>
                  <a:cubicBezTo>
                    <a:pt x="54" y="20"/>
                    <a:pt x="53" y="20"/>
                    <a:pt x="52" y="20"/>
                  </a:cubicBezTo>
                  <a:cubicBezTo>
                    <a:pt x="51" y="19"/>
                    <a:pt x="51" y="18"/>
                    <a:pt x="50" y="18"/>
                  </a:cubicBezTo>
                  <a:cubicBezTo>
                    <a:pt x="50" y="17"/>
                    <a:pt x="50" y="16"/>
                    <a:pt x="50" y="15"/>
                  </a:cubicBezTo>
                  <a:moveTo>
                    <a:pt x="86" y="1"/>
                  </a:moveTo>
                  <a:cubicBezTo>
                    <a:pt x="86" y="18"/>
                    <a:pt x="86" y="18"/>
                    <a:pt x="86" y="18"/>
                  </a:cubicBezTo>
                  <a:cubicBezTo>
                    <a:pt x="83" y="20"/>
                    <a:pt x="83" y="20"/>
                    <a:pt x="83" y="20"/>
                  </a:cubicBezTo>
                  <a:cubicBezTo>
                    <a:pt x="83" y="3"/>
                    <a:pt x="83" y="3"/>
                    <a:pt x="83" y="3"/>
                  </a:cubicBezTo>
                  <a:cubicBezTo>
                    <a:pt x="73" y="8"/>
                    <a:pt x="73" y="8"/>
                    <a:pt x="73" y="8"/>
                  </a:cubicBezTo>
                  <a:cubicBezTo>
                    <a:pt x="72" y="6"/>
                    <a:pt x="72" y="6"/>
                    <a:pt x="72" y="6"/>
                  </a:cubicBezTo>
                  <a:cubicBezTo>
                    <a:pt x="85" y="0"/>
                    <a:pt x="85" y="0"/>
                    <a:pt x="85" y="0"/>
                  </a:cubicBezTo>
                  <a:lnTo>
                    <a:pt x="86" y="1"/>
                  </a:lnTo>
                  <a:close/>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0" name="Freeform 126">
              <a:extLst>
                <a:ext uri="{FF2B5EF4-FFF2-40B4-BE49-F238E27FC236}">
                  <a16:creationId xmlns:a16="http://schemas.microsoft.com/office/drawing/2014/main" id="{21170BD5-ADBC-495C-B8BD-5803DF4FEB4B}"/>
                </a:ext>
              </a:extLst>
            </p:cNvPr>
            <p:cNvSpPr>
              <a:spLocks/>
            </p:cNvSpPr>
            <p:nvPr userDrawn="1"/>
          </p:nvSpPr>
          <p:spPr bwMode="auto">
            <a:xfrm>
              <a:off x="1184" y="728"/>
              <a:ext cx="14" cy="14"/>
            </a:xfrm>
            <a:custGeom>
              <a:avLst/>
              <a:gdLst>
                <a:gd name="T0" fmla="*/ 2 w 11"/>
                <a:gd name="T1" fmla="*/ 12 h 12"/>
                <a:gd name="T2" fmla="*/ 2 w 11"/>
                <a:gd name="T3" fmla="*/ 8 h 12"/>
                <a:gd name="T4" fmla="*/ 1 w 11"/>
                <a:gd name="T5" fmla="*/ 3 h 12"/>
                <a:gd name="T6" fmla="*/ 8 w 11"/>
                <a:gd name="T7" fmla="*/ 3 h 12"/>
                <a:gd name="T8" fmla="*/ 9 w 11"/>
                <a:gd name="T9" fmla="*/ 5 h 12"/>
                <a:gd name="T10" fmla="*/ 8 w 11"/>
                <a:gd name="T11" fmla="*/ 11 h 12"/>
                <a:gd name="T12" fmla="*/ 2 w 11"/>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1" h="12">
                  <a:moveTo>
                    <a:pt x="2" y="12"/>
                  </a:moveTo>
                  <a:cubicBezTo>
                    <a:pt x="0" y="11"/>
                    <a:pt x="1" y="10"/>
                    <a:pt x="2" y="8"/>
                  </a:cubicBezTo>
                  <a:cubicBezTo>
                    <a:pt x="2" y="7"/>
                    <a:pt x="1" y="5"/>
                    <a:pt x="1" y="3"/>
                  </a:cubicBezTo>
                  <a:cubicBezTo>
                    <a:pt x="2" y="0"/>
                    <a:pt x="6" y="2"/>
                    <a:pt x="8" y="3"/>
                  </a:cubicBezTo>
                  <a:cubicBezTo>
                    <a:pt x="8" y="3"/>
                    <a:pt x="9" y="4"/>
                    <a:pt x="9" y="5"/>
                  </a:cubicBezTo>
                  <a:cubicBezTo>
                    <a:pt x="10" y="7"/>
                    <a:pt x="11" y="10"/>
                    <a:pt x="8" y="11"/>
                  </a:cubicBezTo>
                  <a:cubicBezTo>
                    <a:pt x="6" y="12"/>
                    <a:pt x="4" y="12"/>
                    <a:pt x="2" y="12"/>
                  </a:cubicBezTo>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1" name="Freeform 127">
              <a:extLst>
                <a:ext uri="{FF2B5EF4-FFF2-40B4-BE49-F238E27FC236}">
                  <a16:creationId xmlns:a16="http://schemas.microsoft.com/office/drawing/2014/main" id="{CBD44F93-6078-4D44-B661-4EB0E9950006}"/>
                </a:ext>
              </a:extLst>
            </p:cNvPr>
            <p:cNvSpPr>
              <a:spLocks/>
            </p:cNvSpPr>
            <p:nvPr userDrawn="1"/>
          </p:nvSpPr>
          <p:spPr bwMode="auto">
            <a:xfrm>
              <a:off x="1148" y="686"/>
              <a:ext cx="51" cy="45"/>
            </a:xfrm>
            <a:custGeom>
              <a:avLst/>
              <a:gdLst>
                <a:gd name="T0" fmla="*/ 7 w 41"/>
                <a:gd name="T1" fmla="*/ 35 h 36"/>
                <a:gd name="T2" fmla="*/ 7 w 41"/>
                <a:gd name="T3" fmla="*/ 35 h 36"/>
                <a:gd name="T4" fmla="*/ 7 w 41"/>
                <a:gd name="T5" fmla="*/ 34 h 36"/>
                <a:gd name="T6" fmla="*/ 15 w 41"/>
                <a:gd name="T7" fmla="*/ 32 h 36"/>
                <a:gd name="T8" fmla="*/ 20 w 41"/>
                <a:gd name="T9" fmla="*/ 28 h 36"/>
                <a:gd name="T10" fmla="*/ 6 w 41"/>
                <a:gd name="T11" fmla="*/ 29 h 36"/>
                <a:gd name="T12" fmla="*/ 2 w 41"/>
                <a:gd name="T13" fmla="*/ 26 h 36"/>
                <a:gd name="T14" fmla="*/ 2 w 41"/>
                <a:gd name="T15" fmla="*/ 26 h 36"/>
                <a:gd name="T16" fmla="*/ 3 w 41"/>
                <a:gd name="T17" fmla="*/ 21 h 36"/>
                <a:gd name="T18" fmla="*/ 19 w 41"/>
                <a:gd name="T19" fmla="*/ 21 h 36"/>
                <a:gd name="T20" fmla="*/ 24 w 41"/>
                <a:gd name="T21" fmla="*/ 20 h 36"/>
                <a:gd name="T22" fmla="*/ 29 w 41"/>
                <a:gd name="T23" fmla="*/ 3 h 36"/>
                <a:gd name="T24" fmla="*/ 35 w 41"/>
                <a:gd name="T25" fmla="*/ 6 h 36"/>
                <a:gd name="T26" fmla="*/ 36 w 41"/>
                <a:gd name="T27" fmla="*/ 7 h 36"/>
                <a:gd name="T28" fmla="*/ 36 w 41"/>
                <a:gd name="T29" fmla="*/ 7 h 36"/>
                <a:gd name="T30" fmla="*/ 35 w 41"/>
                <a:gd name="T31" fmla="*/ 11 h 36"/>
                <a:gd name="T32" fmla="*/ 31 w 41"/>
                <a:gd name="T33" fmla="*/ 20 h 36"/>
                <a:gd name="T34" fmla="*/ 40 w 41"/>
                <a:gd name="T35" fmla="*/ 19 h 36"/>
                <a:gd name="T36" fmla="*/ 38 w 41"/>
                <a:gd name="T37" fmla="*/ 23 h 36"/>
                <a:gd name="T38" fmla="*/ 29 w 41"/>
                <a:gd name="T39" fmla="*/ 24 h 36"/>
                <a:gd name="T40" fmla="*/ 23 w 41"/>
                <a:gd name="T41" fmla="*/ 32 h 36"/>
                <a:gd name="T42" fmla="*/ 21 w 41"/>
                <a:gd name="T43" fmla="*/ 34 h 36"/>
                <a:gd name="T44" fmla="*/ 14 w 41"/>
                <a:gd name="T45" fmla="*/ 35 h 36"/>
                <a:gd name="T46" fmla="*/ 7 w 41"/>
                <a:gd name="T47" fmla="*/ 3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36">
                  <a:moveTo>
                    <a:pt x="7" y="35"/>
                  </a:moveTo>
                  <a:cubicBezTo>
                    <a:pt x="7" y="35"/>
                    <a:pt x="7" y="35"/>
                    <a:pt x="7" y="35"/>
                  </a:cubicBezTo>
                  <a:cubicBezTo>
                    <a:pt x="7" y="35"/>
                    <a:pt x="7" y="35"/>
                    <a:pt x="7" y="34"/>
                  </a:cubicBezTo>
                  <a:cubicBezTo>
                    <a:pt x="8" y="34"/>
                    <a:pt x="15" y="32"/>
                    <a:pt x="15" y="32"/>
                  </a:cubicBezTo>
                  <a:cubicBezTo>
                    <a:pt x="17" y="31"/>
                    <a:pt x="19" y="30"/>
                    <a:pt x="20" y="28"/>
                  </a:cubicBezTo>
                  <a:cubicBezTo>
                    <a:pt x="15" y="28"/>
                    <a:pt x="11" y="30"/>
                    <a:pt x="6" y="29"/>
                  </a:cubicBezTo>
                  <a:cubicBezTo>
                    <a:pt x="4" y="28"/>
                    <a:pt x="3" y="27"/>
                    <a:pt x="2" y="26"/>
                  </a:cubicBezTo>
                  <a:cubicBezTo>
                    <a:pt x="2" y="26"/>
                    <a:pt x="2" y="26"/>
                    <a:pt x="2" y="26"/>
                  </a:cubicBezTo>
                  <a:cubicBezTo>
                    <a:pt x="0" y="24"/>
                    <a:pt x="0" y="22"/>
                    <a:pt x="3" y="21"/>
                  </a:cubicBezTo>
                  <a:cubicBezTo>
                    <a:pt x="7" y="23"/>
                    <a:pt x="15" y="22"/>
                    <a:pt x="19" y="21"/>
                  </a:cubicBezTo>
                  <a:cubicBezTo>
                    <a:pt x="20" y="21"/>
                    <a:pt x="23" y="21"/>
                    <a:pt x="24" y="20"/>
                  </a:cubicBezTo>
                  <a:cubicBezTo>
                    <a:pt x="26" y="15"/>
                    <a:pt x="27" y="9"/>
                    <a:pt x="29" y="3"/>
                  </a:cubicBezTo>
                  <a:cubicBezTo>
                    <a:pt x="31" y="0"/>
                    <a:pt x="33" y="3"/>
                    <a:pt x="35" y="6"/>
                  </a:cubicBezTo>
                  <a:cubicBezTo>
                    <a:pt x="35" y="6"/>
                    <a:pt x="36" y="6"/>
                    <a:pt x="36" y="7"/>
                  </a:cubicBezTo>
                  <a:cubicBezTo>
                    <a:pt x="36" y="7"/>
                    <a:pt x="36" y="7"/>
                    <a:pt x="36" y="7"/>
                  </a:cubicBezTo>
                  <a:cubicBezTo>
                    <a:pt x="37" y="9"/>
                    <a:pt x="37" y="10"/>
                    <a:pt x="35" y="11"/>
                  </a:cubicBezTo>
                  <a:cubicBezTo>
                    <a:pt x="33" y="14"/>
                    <a:pt x="32" y="17"/>
                    <a:pt x="31" y="20"/>
                  </a:cubicBezTo>
                  <a:cubicBezTo>
                    <a:pt x="34" y="20"/>
                    <a:pt x="37" y="18"/>
                    <a:pt x="40" y="19"/>
                  </a:cubicBezTo>
                  <a:cubicBezTo>
                    <a:pt x="41" y="21"/>
                    <a:pt x="40" y="22"/>
                    <a:pt x="38" y="23"/>
                  </a:cubicBezTo>
                  <a:cubicBezTo>
                    <a:pt x="36" y="23"/>
                    <a:pt x="33" y="24"/>
                    <a:pt x="29" y="24"/>
                  </a:cubicBezTo>
                  <a:cubicBezTo>
                    <a:pt x="28" y="27"/>
                    <a:pt x="26" y="30"/>
                    <a:pt x="23" y="32"/>
                  </a:cubicBezTo>
                  <a:cubicBezTo>
                    <a:pt x="23" y="33"/>
                    <a:pt x="21" y="34"/>
                    <a:pt x="21" y="34"/>
                  </a:cubicBezTo>
                  <a:cubicBezTo>
                    <a:pt x="19" y="34"/>
                    <a:pt x="17" y="35"/>
                    <a:pt x="14" y="35"/>
                  </a:cubicBezTo>
                  <a:cubicBezTo>
                    <a:pt x="8" y="36"/>
                    <a:pt x="8" y="35"/>
                    <a:pt x="7" y="35"/>
                  </a:cubicBezTo>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2" name="Freeform 128">
              <a:extLst>
                <a:ext uri="{FF2B5EF4-FFF2-40B4-BE49-F238E27FC236}">
                  <a16:creationId xmlns:a16="http://schemas.microsoft.com/office/drawing/2014/main" id="{45E65DB2-3712-42F0-93B8-FCF56DB1D96A}"/>
                </a:ext>
              </a:extLst>
            </p:cNvPr>
            <p:cNvSpPr>
              <a:spLocks/>
            </p:cNvSpPr>
            <p:nvPr userDrawn="1"/>
          </p:nvSpPr>
          <p:spPr bwMode="auto">
            <a:xfrm>
              <a:off x="1063" y="714"/>
              <a:ext cx="20" cy="41"/>
            </a:xfrm>
            <a:custGeom>
              <a:avLst/>
              <a:gdLst>
                <a:gd name="T0" fmla="*/ 7 w 16"/>
                <a:gd name="T1" fmla="*/ 33 h 33"/>
                <a:gd name="T2" fmla="*/ 0 w 16"/>
                <a:gd name="T3" fmla="*/ 30 h 33"/>
                <a:gd name="T4" fmla="*/ 0 w 16"/>
                <a:gd name="T5" fmla="*/ 28 h 33"/>
                <a:gd name="T6" fmla="*/ 10 w 16"/>
                <a:gd name="T7" fmla="*/ 11 h 33"/>
                <a:gd name="T8" fmla="*/ 12 w 16"/>
                <a:gd name="T9" fmla="*/ 3 h 33"/>
                <a:gd name="T10" fmla="*/ 12 w 16"/>
                <a:gd name="T11" fmla="*/ 2 h 33"/>
                <a:gd name="T12" fmla="*/ 12 w 16"/>
                <a:gd name="T13" fmla="*/ 2 h 33"/>
                <a:gd name="T14" fmla="*/ 15 w 16"/>
                <a:gd name="T15" fmla="*/ 2 h 33"/>
                <a:gd name="T16" fmla="*/ 14 w 16"/>
                <a:gd name="T17" fmla="*/ 7 h 33"/>
                <a:gd name="T18" fmla="*/ 13 w 16"/>
                <a:gd name="T19" fmla="*/ 16 h 33"/>
                <a:gd name="T20" fmla="*/ 13 w 16"/>
                <a:gd name="T21" fmla="*/ 19 h 33"/>
                <a:gd name="T22" fmla="*/ 11 w 16"/>
                <a:gd name="T23" fmla="*/ 26 h 33"/>
                <a:gd name="T24" fmla="*/ 9 w 16"/>
                <a:gd name="T25" fmla="*/ 33 h 33"/>
                <a:gd name="T26" fmla="*/ 7 w 16"/>
                <a:gd name="T27"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33">
                  <a:moveTo>
                    <a:pt x="7" y="33"/>
                  </a:moveTo>
                  <a:cubicBezTo>
                    <a:pt x="5" y="33"/>
                    <a:pt x="2" y="31"/>
                    <a:pt x="0" y="30"/>
                  </a:cubicBezTo>
                  <a:cubicBezTo>
                    <a:pt x="0" y="30"/>
                    <a:pt x="0" y="29"/>
                    <a:pt x="0" y="28"/>
                  </a:cubicBezTo>
                  <a:cubicBezTo>
                    <a:pt x="4" y="23"/>
                    <a:pt x="7" y="17"/>
                    <a:pt x="10" y="11"/>
                  </a:cubicBezTo>
                  <a:cubicBezTo>
                    <a:pt x="11" y="8"/>
                    <a:pt x="11" y="5"/>
                    <a:pt x="12" y="3"/>
                  </a:cubicBezTo>
                  <a:cubicBezTo>
                    <a:pt x="12" y="3"/>
                    <a:pt x="12" y="3"/>
                    <a:pt x="12" y="2"/>
                  </a:cubicBezTo>
                  <a:cubicBezTo>
                    <a:pt x="12" y="2"/>
                    <a:pt x="12" y="2"/>
                    <a:pt x="12" y="2"/>
                  </a:cubicBezTo>
                  <a:cubicBezTo>
                    <a:pt x="13" y="1"/>
                    <a:pt x="14" y="0"/>
                    <a:pt x="15" y="2"/>
                  </a:cubicBezTo>
                  <a:cubicBezTo>
                    <a:pt x="16" y="3"/>
                    <a:pt x="14" y="5"/>
                    <a:pt x="14" y="7"/>
                  </a:cubicBezTo>
                  <a:cubicBezTo>
                    <a:pt x="14" y="10"/>
                    <a:pt x="14" y="13"/>
                    <a:pt x="13" y="16"/>
                  </a:cubicBezTo>
                  <a:cubicBezTo>
                    <a:pt x="13" y="16"/>
                    <a:pt x="13" y="16"/>
                    <a:pt x="13" y="19"/>
                  </a:cubicBezTo>
                  <a:cubicBezTo>
                    <a:pt x="12" y="21"/>
                    <a:pt x="11" y="24"/>
                    <a:pt x="11" y="26"/>
                  </a:cubicBezTo>
                  <a:cubicBezTo>
                    <a:pt x="10" y="28"/>
                    <a:pt x="10" y="31"/>
                    <a:pt x="9" y="33"/>
                  </a:cubicBezTo>
                  <a:cubicBezTo>
                    <a:pt x="8" y="33"/>
                    <a:pt x="8" y="33"/>
                    <a:pt x="7" y="33"/>
                  </a:cubicBezTo>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3" name="Freeform 129">
              <a:extLst>
                <a:ext uri="{FF2B5EF4-FFF2-40B4-BE49-F238E27FC236}">
                  <a16:creationId xmlns:a16="http://schemas.microsoft.com/office/drawing/2014/main" id="{056EA474-333E-4482-9A08-C13AA1C2CCBD}"/>
                </a:ext>
              </a:extLst>
            </p:cNvPr>
            <p:cNvSpPr>
              <a:spLocks/>
            </p:cNvSpPr>
            <p:nvPr userDrawn="1"/>
          </p:nvSpPr>
          <p:spPr bwMode="auto">
            <a:xfrm>
              <a:off x="1090" y="704"/>
              <a:ext cx="16" cy="16"/>
            </a:xfrm>
            <a:custGeom>
              <a:avLst/>
              <a:gdLst>
                <a:gd name="T0" fmla="*/ 8 w 13"/>
                <a:gd name="T1" fmla="*/ 12 h 13"/>
                <a:gd name="T2" fmla="*/ 1 w 13"/>
                <a:gd name="T3" fmla="*/ 10 h 13"/>
                <a:gd name="T4" fmla="*/ 1 w 13"/>
                <a:gd name="T5" fmla="*/ 8 h 13"/>
                <a:gd name="T6" fmla="*/ 2 w 13"/>
                <a:gd name="T7" fmla="*/ 7 h 13"/>
                <a:gd name="T8" fmla="*/ 5 w 13"/>
                <a:gd name="T9" fmla="*/ 6 h 13"/>
                <a:gd name="T10" fmla="*/ 12 w 13"/>
                <a:gd name="T11" fmla="*/ 1 h 13"/>
                <a:gd name="T12" fmla="*/ 8 w 13"/>
                <a:gd name="T13" fmla="*/ 12 h 13"/>
              </a:gdLst>
              <a:ahLst/>
              <a:cxnLst>
                <a:cxn ang="0">
                  <a:pos x="T0" y="T1"/>
                </a:cxn>
                <a:cxn ang="0">
                  <a:pos x="T2" y="T3"/>
                </a:cxn>
                <a:cxn ang="0">
                  <a:pos x="T4" y="T5"/>
                </a:cxn>
                <a:cxn ang="0">
                  <a:pos x="T6" y="T7"/>
                </a:cxn>
                <a:cxn ang="0">
                  <a:pos x="T8" y="T9"/>
                </a:cxn>
                <a:cxn ang="0">
                  <a:pos x="T10" y="T11"/>
                </a:cxn>
                <a:cxn ang="0">
                  <a:pos x="T12" y="T13"/>
                </a:cxn>
              </a:cxnLst>
              <a:rect l="0" t="0" r="r" b="b"/>
              <a:pathLst>
                <a:path w="13" h="13">
                  <a:moveTo>
                    <a:pt x="8" y="12"/>
                  </a:moveTo>
                  <a:cubicBezTo>
                    <a:pt x="5" y="13"/>
                    <a:pt x="3" y="12"/>
                    <a:pt x="1" y="10"/>
                  </a:cubicBezTo>
                  <a:cubicBezTo>
                    <a:pt x="0" y="10"/>
                    <a:pt x="1" y="9"/>
                    <a:pt x="1" y="8"/>
                  </a:cubicBezTo>
                  <a:cubicBezTo>
                    <a:pt x="1" y="8"/>
                    <a:pt x="1" y="8"/>
                    <a:pt x="2" y="7"/>
                  </a:cubicBezTo>
                  <a:cubicBezTo>
                    <a:pt x="3" y="7"/>
                    <a:pt x="3" y="7"/>
                    <a:pt x="5" y="6"/>
                  </a:cubicBezTo>
                  <a:cubicBezTo>
                    <a:pt x="6" y="5"/>
                    <a:pt x="10" y="0"/>
                    <a:pt x="12" y="1"/>
                  </a:cubicBezTo>
                  <a:cubicBezTo>
                    <a:pt x="13" y="4"/>
                    <a:pt x="11" y="10"/>
                    <a:pt x="8" y="12"/>
                  </a:cubicBezTo>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4" name="Freeform 130">
              <a:extLst>
                <a:ext uri="{FF2B5EF4-FFF2-40B4-BE49-F238E27FC236}">
                  <a16:creationId xmlns:a16="http://schemas.microsoft.com/office/drawing/2014/main" id="{7625672A-2B87-440F-A4EA-316D3877C7BD}"/>
                </a:ext>
              </a:extLst>
            </p:cNvPr>
            <p:cNvSpPr>
              <a:spLocks/>
            </p:cNvSpPr>
            <p:nvPr userDrawn="1"/>
          </p:nvSpPr>
          <p:spPr bwMode="auto">
            <a:xfrm>
              <a:off x="1062" y="710"/>
              <a:ext cx="12" cy="14"/>
            </a:xfrm>
            <a:custGeom>
              <a:avLst/>
              <a:gdLst>
                <a:gd name="T0" fmla="*/ 5 w 10"/>
                <a:gd name="T1" fmla="*/ 11 h 11"/>
                <a:gd name="T2" fmla="*/ 1 w 10"/>
                <a:gd name="T3" fmla="*/ 4 h 11"/>
                <a:gd name="T4" fmla="*/ 6 w 10"/>
                <a:gd name="T5" fmla="*/ 1 h 11"/>
                <a:gd name="T6" fmla="*/ 10 w 10"/>
                <a:gd name="T7" fmla="*/ 6 h 11"/>
                <a:gd name="T8" fmla="*/ 5 w 10"/>
                <a:gd name="T9" fmla="*/ 11 h 11"/>
              </a:gdLst>
              <a:ahLst/>
              <a:cxnLst>
                <a:cxn ang="0">
                  <a:pos x="T0" y="T1"/>
                </a:cxn>
                <a:cxn ang="0">
                  <a:pos x="T2" y="T3"/>
                </a:cxn>
                <a:cxn ang="0">
                  <a:pos x="T4" y="T5"/>
                </a:cxn>
                <a:cxn ang="0">
                  <a:pos x="T6" y="T7"/>
                </a:cxn>
                <a:cxn ang="0">
                  <a:pos x="T8" y="T9"/>
                </a:cxn>
              </a:cxnLst>
              <a:rect l="0" t="0" r="r" b="b"/>
              <a:pathLst>
                <a:path w="10" h="11">
                  <a:moveTo>
                    <a:pt x="5" y="11"/>
                  </a:moveTo>
                  <a:cubicBezTo>
                    <a:pt x="3" y="10"/>
                    <a:pt x="1" y="5"/>
                    <a:pt x="1" y="4"/>
                  </a:cubicBezTo>
                  <a:cubicBezTo>
                    <a:pt x="0" y="1"/>
                    <a:pt x="3" y="0"/>
                    <a:pt x="6" y="1"/>
                  </a:cubicBezTo>
                  <a:cubicBezTo>
                    <a:pt x="9" y="2"/>
                    <a:pt x="10" y="3"/>
                    <a:pt x="10" y="6"/>
                  </a:cubicBezTo>
                  <a:cubicBezTo>
                    <a:pt x="8" y="9"/>
                    <a:pt x="7" y="9"/>
                    <a:pt x="5" y="11"/>
                  </a:cubicBezTo>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5" name="Freeform 131">
              <a:extLst>
                <a:ext uri="{FF2B5EF4-FFF2-40B4-BE49-F238E27FC236}">
                  <a16:creationId xmlns:a16="http://schemas.microsoft.com/office/drawing/2014/main" id="{29B854F1-1233-46AD-B832-38BBBA7EA6D1}"/>
                </a:ext>
              </a:extLst>
            </p:cNvPr>
            <p:cNvSpPr>
              <a:spLocks/>
            </p:cNvSpPr>
            <p:nvPr userDrawn="1"/>
          </p:nvSpPr>
          <p:spPr bwMode="auto">
            <a:xfrm>
              <a:off x="1085" y="688"/>
              <a:ext cx="19" cy="21"/>
            </a:xfrm>
            <a:custGeom>
              <a:avLst/>
              <a:gdLst>
                <a:gd name="T0" fmla="*/ 8 w 15"/>
                <a:gd name="T1" fmla="*/ 17 h 17"/>
                <a:gd name="T2" fmla="*/ 7 w 15"/>
                <a:gd name="T3" fmla="*/ 12 h 17"/>
                <a:gd name="T4" fmla="*/ 5 w 15"/>
                <a:gd name="T5" fmla="*/ 13 h 17"/>
                <a:gd name="T6" fmla="*/ 0 w 15"/>
                <a:gd name="T7" fmla="*/ 9 h 17"/>
                <a:gd name="T8" fmla="*/ 2 w 15"/>
                <a:gd name="T9" fmla="*/ 7 h 17"/>
                <a:gd name="T10" fmla="*/ 7 w 15"/>
                <a:gd name="T11" fmla="*/ 2 h 17"/>
                <a:gd name="T12" fmla="*/ 14 w 15"/>
                <a:gd name="T13" fmla="*/ 4 h 17"/>
                <a:gd name="T14" fmla="*/ 13 w 15"/>
                <a:gd name="T15" fmla="*/ 11 h 17"/>
                <a:gd name="T16" fmla="*/ 9 w 15"/>
                <a:gd name="T17" fmla="*/ 16 h 17"/>
                <a:gd name="T18" fmla="*/ 8 w 15"/>
                <a:gd name="T19"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7">
                  <a:moveTo>
                    <a:pt x="8" y="17"/>
                  </a:moveTo>
                  <a:cubicBezTo>
                    <a:pt x="7" y="16"/>
                    <a:pt x="8" y="12"/>
                    <a:pt x="7" y="12"/>
                  </a:cubicBezTo>
                  <a:cubicBezTo>
                    <a:pt x="6" y="12"/>
                    <a:pt x="6" y="13"/>
                    <a:pt x="5" y="13"/>
                  </a:cubicBezTo>
                  <a:cubicBezTo>
                    <a:pt x="3" y="13"/>
                    <a:pt x="0" y="11"/>
                    <a:pt x="0" y="9"/>
                  </a:cubicBezTo>
                  <a:cubicBezTo>
                    <a:pt x="1" y="7"/>
                    <a:pt x="0" y="8"/>
                    <a:pt x="2" y="7"/>
                  </a:cubicBezTo>
                  <a:cubicBezTo>
                    <a:pt x="4" y="5"/>
                    <a:pt x="6" y="3"/>
                    <a:pt x="7" y="2"/>
                  </a:cubicBezTo>
                  <a:cubicBezTo>
                    <a:pt x="11" y="0"/>
                    <a:pt x="13" y="1"/>
                    <a:pt x="14" y="4"/>
                  </a:cubicBezTo>
                  <a:cubicBezTo>
                    <a:pt x="15" y="7"/>
                    <a:pt x="14" y="9"/>
                    <a:pt x="13" y="11"/>
                  </a:cubicBezTo>
                  <a:cubicBezTo>
                    <a:pt x="12" y="13"/>
                    <a:pt x="10" y="15"/>
                    <a:pt x="9" y="16"/>
                  </a:cubicBezTo>
                  <a:cubicBezTo>
                    <a:pt x="9" y="17"/>
                    <a:pt x="8" y="17"/>
                    <a:pt x="8" y="17"/>
                  </a:cubicBezTo>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6" name="Freeform 132">
              <a:extLst>
                <a:ext uri="{FF2B5EF4-FFF2-40B4-BE49-F238E27FC236}">
                  <a16:creationId xmlns:a16="http://schemas.microsoft.com/office/drawing/2014/main" id="{C08F52CD-3E28-4262-B4F6-59DFB1285CBD}"/>
                </a:ext>
              </a:extLst>
            </p:cNvPr>
            <p:cNvSpPr>
              <a:spLocks/>
            </p:cNvSpPr>
            <p:nvPr userDrawn="1"/>
          </p:nvSpPr>
          <p:spPr bwMode="auto">
            <a:xfrm>
              <a:off x="1062" y="693"/>
              <a:ext cx="12" cy="13"/>
            </a:xfrm>
            <a:custGeom>
              <a:avLst/>
              <a:gdLst>
                <a:gd name="T0" fmla="*/ 4 w 10"/>
                <a:gd name="T1" fmla="*/ 11 h 11"/>
                <a:gd name="T2" fmla="*/ 3 w 10"/>
                <a:gd name="T3" fmla="*/ 9 h 11"/>
                <a:gd name="T4" fmla="*/ 1 w 10"/>
                <a:gd name="T5" fmla="*/ 6 h 11"/>
                <a:gd name="T6" fmla="*/ 1 w 10"/>
                <a:gd name="T7" fmla="*/ 0 h 11"/>
                <a:gd name="T8" fmla="*/ 10 w 10"/>
                <a:gd name="T9" fmla="*/ 5 h 11"/>
                <a:gd name="T10" fmla="*/ 4 w 10"/>
                <a:gd name="T11" fmla="*/ 11 h 11"/>
              </a:gdLst>
              <a:ahLst/>
              <a:cxnLst>
                <a:cxn ang="0">
                  <a:pos x="T0" y="T1"/>
                </a:cxn>
                <a:cxn ang="0">
                  <a:pos x="T2" y="T3"/>
                </a:cxn>
                <a:cxn ang="0">
                  <a:pos x="T4" y="T5"/>
                </a:cxn>
                <a:cxn ang="0">
                  <a:pos x="T6" y="T7"/>
                </a:cxn>
                <a:cxn ang="0">
                  <a:pos x="T8" y="T9"/>
                </a:cxn>
                <a:cxn ang="0">
                  <a:pos x="T10" y="T11"/>
                </a:cxn>
              </a:cxnLst>
              <a:rect l="0" t="0" r="r" b="b"/>
              <a:pathLst>
                <a:path w="10" h="11">
                  <a:moveTo>
                    <a:pt x="4" y="11"/>
                  </a:moveTo>
                  <a:cubicBezTo>
                    <a:pt x="3" y="11"/>
                    <a:pt x="3" y="10"/>
                    <a:pt x="3" y="9"/>
                  </a:cubicBezTo>
                  <a:cubicBezTo>
                    <a:pt x="3" y="8"/>
                    <a:pt x="2" y="7"/>
                    <a:pt x="1" y="6"/>
                  </a:cubicBezTo>
                  <a:cubicBezTo>
                    <a:pt x="0" y="3"/>
                    <a:pt x="0" y="2"/>
                    <a:pt x="1" y="0"/>
                  </a:cubicBezTo>
                  <a:cubicBezTo>
                    <a:pt x="3" y="0"/>
                    <a:pt x="10" y="1"/>
                    <a:pt x="10" y="5"/>
                  </a:cubicBezTo>
                  <a:cubicBezTo>
                    <a:pt x="9" y="7"/>
                    <a:pt x="6" y="10"/>
                    <a:pt x="4" y="11"/>
                  </a:cubicBezTo>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7" name="Freeform 133">
              <a:extLst>
                <a:ext uri="{FF2B5EF4-FFF2-40B4-BE49-F238E27FC236}">
                  <a16:creationId xmlns:a16="http://schemas.microsoft.com/office/drawing/2014/main" id="{DB72564E-BD73-4A72-A746-1868092EDC8F}"/>
                </a:ext>
              </a:extLst>
            </p:cNvPr>
            <p:cNvSpPr>
              <a:spLocks/>
            </p:cNvSpPr>
            <p:nvPr userDrawn="1"/>
          </p:nvSpPr>
          <p:spPr bwMode="auto">
            <a:xfrm>
              <a:off x="996" y="742"/>
              <a:ext cx="47" cy="83"/>
            </a:xfrm>
            <a:custGeom>
              <a:avLst/>
              <a:gdLst>
                <a:gd name="T0" fmla="*/ 22 w 38"/>
                <a:gd name="T1" fmla="*/ 64 h 66"/>
                <a:gd name="T2" fmla="*/ 13 w 38"/>
                <a:gd name="T3" fmla="*/ 61 h 66"/>
                <a:gd name="T4" fmla="*/ 13 w 38"/>
                <a:gd name="T5" fmla="*/ 59 h 66"/>
                <a:gd name="T6" fmla="*/ 13 w 38"/>
                <a:gd name="T7" fmla="*/ 59 h 66"/>
                <a:gd name="T8" fmla="*/ 8 w 38"/>
                <a:gd name="T9" fmla="*/ 46 h 66"/>
                <a:gd name="T10" fmla="*/ 7 w 38"/>
                <a:gd name="T11" fmla="*/ 42 h 66"/>
                <a:gd name="T12" fmla="*/ 10 w 38"/>
                <a:gd name="T13" fmla="*/ 44 h 66"/>
                <a:gd name="T14" fmla="*/ 11 w 38"/>
                <a:gd name="T15" fmla="*/ 42 h 66"/>
                <a:gd name="T16" fmla="*/ 11 w 38"/>
                <a:gd name="T17" fmla="*/ 33 h 66"/>
                <a:gd name="T18" fmla="*/ 8 w 38"/>
                <a:gd name="T19" fmla="*/ 31 h 66"/>
                <a:gd name="T20" fmla="*/ 4 w 38"/>
                <a:gd name="T21" fmla="*/ 34 h 66"/>
                <a:gd name="T22" fmla="*/ 4 w 38"/>
                <a:gd name="T23" fmla="*/ 27 h 66"/>
                <a:gd name="T24" fmla="*/ 0 w 38"/>
                <a:gd name="T25" fmla="*/ 23 h 66"/>
                <a:gd name="T26" fmla="*/ 6 w 38"/>
                <a:gd name="T27" fmla="*/ 21 h 66"/>
                <a:gd name="T28" fmla="*/ 10 w 38"/>
                <a:gd name="T29" fmla="*/ 23 h 66"/>
                <a:gd name="T30" fmla="*/ 11 w 38"/>
                <a:gd name="T31" fmla="*/ 25 h 66"/>
                <a:gd name="T32" fmla="*/ 12 w 38"/>
                <a:gd name="T33" fmla="*/ 24 h 66"/>
                <a:gd name="T34" fmla="*/ 12 w 38"/>
                <a:gd name="T35" fmla="*/ 17 h 66"/>
                <a:gd name="T36" fmla="*/ 7 w 38"/>
                <a:gd name="T37" fmla="*/ 10 h 66"/>
                <a:gd name="T38" fmla="*/ 12 w 38"/>
                <a:gd name="T39" fmla="*/ 6 h 66"/>
                <a:gd name="T40" fmla="*/ 13 w 38"/>
                <a:gd name="T41" fmla="*/ 1 h 66"/>
                <a:gd name="T42" fmla="*/ 14 w 38"/>
                <a:gd name="T43" fmla="*/ 0 h 66"/>
                <a:gd name="T44" fmla="*/ 16 w 38"/>
                <a:gd name="T45" fmla="*/ 1 h 66"/>
                <a:gd name="T46" fmla="*/ 18 w 38"/>
                <a:gd name="T47" fmla="*/ 12 h 66"/>
                <a:gd name="T48" fmla="*/ 17 w 38"/>
                <a:gd name="T49" fmla="*/ 8 h 66"/>
                <a:gd name="T50" fmla="*/ 22 w 38"/>
                <a:gd name="T51" fmla="*/ 3 h 66"/>
                <a:gd name="T52" fmla="*/ 25 w 38"/>
                <a:gd name="T53" fmla="*/ 7 h 66"/>
                <a:gd name="T54" fmla="*/ 26 w 38"/>
                <a:gd name="T55" fmla="*/ 8 h 66"/>
                <a:gd name="T56" fmla="*/ 35 w 38"/>
                <a:gd name="T57" fmla="*/ 15 h 66"/>
                <a:gd name="T58" fmla="*/ 37 w 38"/>
                <a:gd name="T59" fmla="*/ 19 h 66"/>
                <a:gd name="T60" fmla="*/ 37 w 38"/>
                <a:gd name="T61" fmla="*/ 20 h 66"/>
                <a:gd name="T62" fmla="*/ 37 w 38"/>
                <a:gd name="T63" fmla="*/ 20 h 66"/>
                <a:gd name="T64" fmla="*/ 36 w 38"/>
                <a:gd name="T65" fmla="*/ 24 h 66"/>
                <a:gd name="T66" fmla="*/ 23 w 38"/>
                <a:gd name="T67" fmla="*/ 15 h 66"/>
                <a:gd name="T68" fmla="*/ 23 w 38"/>
                <a:gd name="T69" fmla="*/ 15 h 66"/>
                <a:gd name="T70" fmla="*/ 27 w 38"/>
                <a:gd name="T71" fmla="*/ 25 h 66"/>
                <a:gd name="T72" fmla="*/ 22 w 38"/>
                <a:gd name="T73" fmla="*/ 27 h 66"/>
                <a:gd name="T74" fmla="*/ 22 w 38"/>
                <a:gd name="T75" fmla="*/ 25 h 66"/>
                <a:gd name="T76" fmla="*/ 15 w 38"/>
                <a:gd name="T77" fmla="*/ 19 h 66"/>
                <a:gd name="T78" fmla="*/ 16 w 38"/>
                <a:gd name="T79" fmla="*/ 27 h 66"/>
                <a:gd name="T80" fmla="*/ 17 w 38"/>
                <a:gd name="T81" fmla="*/ 31 h 66"/>
                <a:gd name="T82" fmla="*/ 21 w 38"/>
                <a:gd name="T83" fmla="*/ 35 h 66"/>
                <a:gd name="T84" fmla="*/ 22 w 38"/>
                <a:gd name="T85" fmla="*/ 38 h 66"/>
                <a:gd name="T86" fmla="*/ 22 w 38"/>
                <a:gd name="T87" fmla="*/ 39 h 66"/>
                <a:gd name="T88" fmla="*/ 22 w 38"/>
                <a:gd name="T89" fmla="*/ 44 h 66"/>
                <a:gd name="T90" fmla="*/ 21 w 38"/>
                <a:gd name="T91" fmla="*/ 44 h 66"/>
                <a:gd name="T92" fmla="*/ 17 w 38"/>
                <a:gd name="T93" fmla="*/ 38 h 66"/>
                <a:gd name="T94" fmla="*/ 16 w 38"/>
                <a:gd name="T95" fmla="*/ 44 h 66"/>
                <a:gd name="T96" fmla="*/ 13 w 38"/>
                <a:gd name="T97" fmla="*/ 46 h 66"/>
                <a:gd name="T98" fmla="*/ 13 w 38"/>
                <a:gd name="T99" fmla="*/ 46 h 66"/>
                <a:gd name="T100" fmla="*/ 12 w 38"/>
                <a:gd name="T101" fmla="*/ 47 h 66"/>
                <a:gd name="T102" fmla="*/ 14 w 38"/>
                <a:gd name="T103" fmla="*/ 50 h 66"/>
                <a:gd name="T104" fmla="*/ 23 w 38"/>
                <a:gd name="T105" fmla="*/ 62 h 66"/>
                <a:gd name="T106" fmla="*/ 22 w 38"/>
                <a:gd name="T107" fmla="*/ 6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8" h="66">
                  <a:moveTo>
                    <a:pt x="22" y="64"/>
                  </a:moveTo>
                  <a:cubicBezTo>
                    <a:pt x="19" y="66"/>
                    <a:pt x="12" y="65"/>
                    <a:pt x="13" y="61"/>
                  </a:cubicBezTo>
                  <a:cubicBezTo>
                    <a:pt x="13" y="60"/>
                    <a:pt x="13" y="59"/>
                    <a:pt x="13" y="59"/>
                  </a:cubicBezTo>
                  <a:cubicBezTo>
                    <a:pt x="13" y="59"/>
                    <a:pt x="13" y="59"/>
                    <a:pt x="13" y="59"/>
                  </a:cubicBezTo>
                  <a:cubicBezTo>
                    <a:pt x="12" y="54"/>
                    <a:pt x="9" y="50"/>
                    <a:pt x="8" y="46"/>
                  </a:cubicBezTo>
                  <a:cubicBezTo>
                    <a:pt x="7" y="45"/>
                    <a:pt x="7" y="44"/>
                    <a:pt x="7" y="42"/>
                  </a:cubicBezTo>
                  <a:cubicBezTo>
                    <a:pt x="8" y="42"/>
                    <a:pt x="9" y="43"/>
                    <a:pt x="10" y="44"/>
                  </a:cubicBezTo>
                  <a:cubicBezTo>
                    <a:pt x="11" y="44"/>
                    <a:pt x="11" y="43"/>
                    <a:pt x="11" y="42"/>
                  </a:cubicBezTo>
                  <a:cubicBezTo>
                    <a:pt x="11" y="39"/>
                    <a:pt x="11" y="36"/>
                    <a:pt x="11" y="33"/>
                  </a:cubicBezTo>
                  <a:cubicBezTo>
                    <a:pt x="10" y="32"/>
                    <a:pt x="9" y="31"/>
                    <a:pt x="8" y="31"/>
                  </a:cubicBezTo>
                  <a:cubicBezTo>
                    <a:pt x="8" y="32"/>
                    <a:pt x="6" y="37"/>
                    <a:pt x="4" y="34"/>
                  </a:cubicBezTo>
                  <a:cubicBezTo>
                    <a:pt x="5" y="32"/>
                    <a:pt x="5" y="29"/>
                    <a:pt x="4" y="27"/>
                  </a:cubicBezTo>
                  <a:cubicBezTo>
                    <a:pt x="2" y="25"/>
                    <a:pt x="0" y="24"/>
                    <a:pt x="0" y="23"/>
                  </a:cubicBezTo>
                  <a:cubicBezTo>
                    <a:pt x="0" y="20"/>
                    <a:pt x="4" y="20"/>
                    <a:pt x="6" y="21"/>
                  </a:cubicBezTo>
                  <a:cubicBezTo>
                    <a:pt x="8" y="21"/>
                    <a:pt x="8" y="17"/>
                    <a:pt x="10" y="23"/>
                  </a:cubicBezTo>
                  <a:cubicBezTo>
                    <a:pt x="10" y="24"/>
                    <a:pt x="11" y="24"/>
                    <a:pt x="11" y="25"/>
                  </a:cubicBezTo>
                  <a:cubicBezTo>
                    <a:pt x="12" y="25"/>
                    <a:pt x="12" y="24"/>
                    <a:pt x="12" y="24"/>
                  </a:cubicBezTo>
                  <a:cubicBezTo>
                    <a:pt x="12" y="22"/>
                    <a:pt x="12" y="19"/>
                    <a:pt x="12" y="17"/>
                  </a:cubicBezTo>
                  <a:cubicBezTo>
                    <a:pt x="10" y="15"/>
                    <a:pt x="8" y="13"/>
                    <a:pt x="7" y="10"/>
                  </a:cubicBezTo>
                  <a:cubicBezTo>
                    <a:pt x="7" y="8"/>
                    <a:pt x="10" y="6"/>
                    <a:pt x="12" y="6"/>
                  </a:cubicBezTo>
                  <a:cubicBezTo>
                    <a:pt x="13" y="4"/>
                    <a:pt x="13" y="3"/>
                    <a:pt x="13" y="1"/>
                  </a:cubicBezTo>
                  <a:cubicBezTo>
                    <a:pt x="13" y="1"/>
                    <a:pt x="13" y="1"/>
                    <a:pt x="14" y="0"/>
                  </a:cubicBezTo>
                  <a:cubicBezTo>
                    <a:pt x="15" y="0"/>
                    <a:pt x="15" y="0"/>
                    <a:pt x="16" y="1"/>
                  </a:cubicBezTo>
                  <a:cubicBezTo>
                    <a:pt x="18" y="3"/>
                    <a:pt x="14" y="11"/>
                    <a:pt x="18" y="12"/>
                  </a:cubicBezTo>
                  <a:cubicBezTo>
                    <a:pt x="19" y="11"/>
                    <a:pt x="18" y="9"/>
                    <a:pt x="17" y="8"/>
                  </a:cubicBezTo>
                  <a:cubicBezTo>
                    <a:pt x="17" y="6"/>
                    <a:pt x="20" y="4"/>
                    <a:pt x="22" y="3"/>
                  </a:cubicBezTo>
                  <a:cubicBezTo>
                    <a:pt x="26" y="3"/>
                    <a:pt x="25" y="4"/>
                    <a:pt x="25" y="7"/>
                  </a:cubicBezTo>
                  <a:cubicBezTo>
                    <a:pt x="26" y="7"/>
                    <a:pt x="26" y="8"/>
                    <a:pt x="26" y="8"/>
                  </a:cubicBezTo>
                  <a:cubicBezTo>
                    <a:pt x="30" y="11"/>
                    <a:pt x="30" y="11"/>
                    <a:pt x="35" y="15"/>
                  </a:cubicBezTo>
                  <a:cubicBezTo>
                    <a:pt x="36" y="16"/>
                    <a:pt x="37" y="17"/>
                    <a:pt x="37" y="19"/>
                  </a:cubicBezTo>
                  <a:cubicBezTo>
                    <a:pt x="37" y="19"/>
                    <a:pt x="37" y="19"/>
                    <a:pt x="37" y="20"/>
                  </a:cubicBezTo>
                  <a:cubicBezTo>
                    <a:pt x="37" y="20"/>
                    <a:pt x="37" y="20"/>
                    <a:pt x="37" y="20"/>
                  </a:cubicBezTo>
                  <a:cubicBezTo>
                    <a:pt x="38" y="21"/>
                    <a:pt x="38" y="24"/>
                    <a:pt x="36" y="24"/>
                  </a:cubicBezTo>
                  <a:cubicBezTo>
                    <a:pt x="32" y="21"/>
                    <a:pt x="27" y="18"/>
                    <a:pt x="23" y="15"/>
                  </a:cubicBezTo>
                  <a:cubicBezTo>
                    <a:pt x="23" y="15"/>
                    <a:pt x="23" y="15"/>
                    <a:pt x="23" y="15"/>
                  </a:cubicBezTo>
                  <a:cubicBezTo>
                    <a:pt x="25" y="17"/>
                    <a:pt x="27" y="22"/>
                    <a:pt x="27" y="25"/>
                  </a:cubicBezTo>
                  <a:cubicBezTo>
                    <a:pt x="26" y="26"/>
                    <a:pt x="24" y="27"/>
                    <a:pt x="22" y="27"/>
                  </a:cubicBezTo>
                  <a:cubicBezTo>
                    <a:pt x="22" y="26"/>
                    <a:pt x="22" y="26"/>
                    <a:pt x="22" y="25"/>
                  </a:cubicBezTo>
                  <a:cubicBezTo>
                    <a:pt x="21" y="23"/>
                    <a:pt x="17" y="21"/>
                    <a:pt x="15" y="19"/>
                  </a:cubicBezTo>
                  <a:cubicBezTo>
                    <a:pt x="14" y="21"/>
                    <a:pt x="16" y="25"/>
                    <a:pt x="16" y="27"/>
                  </a:cubicBezTo>
                  <a:cubicBezTo>
                    <a:pt x="16" y="28"/>
                    <a:pt x="16" y="30"/>
                    <a:pt x="17" y="31"/>
                  </a:cubicBezTo>
                  <a:cubicBezTo>
                    <a:pt x="18" y="32"/>
                    <a:pt x="19" y="34"/>
                    <a:pt x="21" y="35"/>
                  </a:cubicBezTo>
                  <a:cubicBezTo>
                    <a:pt x="21" y="36"/>
                    <a:pt x="22" y="37"/>
                    <a:pt x="22" y="38"/>
                  </a:cubicBezTo>
                  <a:cubicBezTo>
                    <a:pt x="22" y="38"/>
                    <a:pt x="22" y="38"/>
                    <a:pt x="22" y="39"/>
                  </a:cubicBezTo>
                  <a:cubicBezTo>
                    <a:pt x="23" y="40"/>
                    <a:pt x="24" y="44"/>
                    <a:pt x="22" y="44"/>
                  </a:cubicBezTo>
                  <a:cubicBezTo>
                    <a:pt x="21" y="44"/>
                    <a:pt x="21" y="44"/>
                    <a:pt x="21" y="44"/>
                  </a:cubicBezTo>
                  <a:cubicBezTo>
                    <a:pt x="20" y="41"/>
                    <a:pt x="18" y="39"/>
                    <a:pt x="17" y="38"/>
                  </a:cubicBezTo>
                  <a:cubicBezTo>
                    <a:pt x="16" y="40"/>
                    <a:pt x="17" y="42"/>
                    <a:pt x="16" y="44"/>
                  </a:cubicBezTo>
                  <a:cubicBezTo>
                    <a:pt x="15" y="45"/>
                    <a:pt x="14" y="46"/>
                    <a:pt x="13" y="46"/>
                  </a:cubicBezTo>
                  <a:cubicBezTo>
                    <a:pt x="13" y="46"/>
                    <a:pt x="13" y="46"/>
                    <a:pt x="13" y="46"/>
                  </a:cubicBezTo>
                  <a:cubicBezTo>
                    <a:pt x="12" y="46"/>
                    <a:pt x="12" y="46"/>
                    <a:pt x="12" y="47"/>
                  </a:cubicBezTo>
                  <a:cubicBezTo>
                    <a:pt x="12" y="48"/>
                    <a:pt x="13" y="49"/>
                    <a:pt x="14" y="50"/>
                  </a:cubicBezTo>
                  <a:cubicBezTo>
                    <a:pt x="16" y="54"/>
                    <a:pt x="19" y="58"/>
                    <a:pt x="23" y="62"/>
                  </a:cubicBezTo>
                  <a:cubicBezTo>
                    <a:pt x="23" y="63"/>
                    <a:pt x="23" y="63"/>
                    <a:pt x="22" y="64"/>
                  </a:cubicBezTo>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8" name="Freeform 134">
              <a:extLst>
                <a:ext uri="{FF2B5EF4-FFF2-40B4-BE49-F238E27FC236}">
                  <a16:creationId xmlns:a16="http://schemas.microsoft.com/office/drawing/2014/main" id="{BF307901-670F-4D61-852C-FD6D7C83F9BD}"/>
                </a:ext>
              </a:extLst>
            </p:cNvPr>
            <p:cNvSpPr>
              <a:spLocks/>
            </p:cNvSpPr>
            <p:nvPr userDrawn="1"/>
          </p:nvSpPr>
          <p:spPr bwMode="auto">
            <a:xfrm>
              <a:off x="989" y="789"/>
              <a:ext cx="13" cy="11"/>
            </a:xfrm>
            <a:custGeom>
              <a:avLst/>
              <a:gdLst>
                <a:gd name="T0" fmla="*/ 9 w 11"/>
                <a:gd name="T1" fmla="*/ 9 h 9"/>
                <a:gd name="T2" fmla="*/ 7 w 11"/>
                <a:gd name="T3" fmla="*/ 7 h 9"/>
                <a:gd name="T4" fmla="*/ 0 w 11"/>
                <a:gd name="T5" fmla="*/ 2 h 9"/>
                <a:gd name="T6" fmla="*/ 0 w 11"/>
                <a:gd name="T7" fmla="*/ 1 h 9"/>
                <a:gd name="T8" fmla="*/ 7 w 11"/>
                <a:gd name="T9" fmla="*/ 0 h 9"/>
                <a:gd name="T10" fmla="*/ 9 w 11"/>
                <a:gd name="T11" fmla="*/ 9 h 9"/>
              </a:gdLst>
              <a:ahLst/>
              <a:cxnLst>
                <a:cxn ang="0">
                  <a:pos x="T0" y="T1"/>
                </a:cxn>
                <a:cxn ang="0">
                  <a:pos x="T2" y="T3"/>
                </a:cxn>
                <a:cxn ang="0">
                  <a:pos x="T4" y="T5"/>
                </a:cxn>
                <a:cxn ang="0">
                  <a:pos x="T6" y="T7"/>
                </a:cxn>
                <a:cxn ang="0">
                  <a:pos x="T8" y="T9"/>
                </a:cxn>
                <a:cxn ang="0">
                  <a:pos x="T10" y="T11"/>
                </a:cxn>
              </a:cxnLst>
              <a:rect l="0" t="0" r="r" b="b"/>
              <a:pathLst>
                <a:path w="11" h="9">
                  <a:moveTo>
                    <a:pt x="9" y="9"/>
                  </a:moveTo>
                  <a:cubicBezTo>
                    <a:pt x="8" y="9"/>
                    <a:pt x="7" y="8"/>
                    <a:pt x="7" y="7"/>
                  </a:cubicBezTo>
                  <a:cubicBezTo>
                    <a:pt x="3" y="6"/>
                    <a:pt x="1" y="5"/>
                    <a:pt x="0" y="2"/>
                  </a:cubicBezTo>
                  <a:cubicBezTo>
                    <a:pt x="0" y="2"/>
                    <a:pt x="0" y="2"/>
                    <a:pt x="0" y="1"/>
                  </a:cubicBezTo>
                  <a:cubicBezTo>
                    <a:pt x="2" y="1"/>
                    <a:pt x="5" y="0"/>
                    <a:pt x="7" y="0"/>
                  </a:cubicBezTo>
                  <a:cubicBezTo>
                    <a:pt x="11" y="1"/>
                    <a:pt x="10" y="6"/>
                    <a:pt x="9" y="9"/>
                  </a:cubicBezTo>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9" name="Freeform 135">
              <a:extLst>
                <a:ext uri="{FF2B5EF4-FFF2-40B4-BE49-F238E27FC236}">
                  <a16:creationId xmlns:a16="http://schemas.microsoft.com/office/drawing/2014/main" id="{61EA73CD-C6A3-4252-9AF0-8749345E60A4}"/>
                </a:ext>
              </a:extLst>
            </p:cNvPr>
            <p:cNvSpPr>
              <a:spLocks/>
            </p:cNvSpPr>
            <p:nvPr userDrawn="1"/>
          </p:nvSpPr>
          <p:spPr bwMode="auto">
            <a:xfrm>
              <a:off x="977" y="776"/>
              <a:ext cx="14" cy="13"/>
            </a:xfrm>
            <a:custGeom>
              <a:avLst/>
              <a:gdLst>
                <a:gd name="T0" fmla="*/ 10 w 11"/>
                <a:gd name="T1" fmla="*/ 10 h 10"/>
                <a:gd name="T2" fmla="*/ 9 w 11"/>
                <a:gd name="T3" fmla="*/ 10 h 10"/>
                <a:gd name="T4" fmla="*/ 8 w 11"/>
                <a:gd name="T5" fmla="*/ 8 h 10"/>
                <a:gd name="T6" fmla="*/ 1 w 11"/>
                <a:gd name="T7" fmla="*/ 2 h 10"/>
                <a:gd name="T8" fmla="*/ 4 w 11"/>
                <a:gd name="T9" fmla="*/ 2 h 10"/>
                <a:gd name="T10" fmla="*/ 11 w 11"/>
                <a:gd name="T11" fmla="*/ 5 h 10"/>
                <a:gd name="T12" fmla="*/ 10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10" y="10"/>
                  </a:moveTo>
                  <a:cubicBezTo>
                    <a:pt x="9" y="10"/>
                    <a:pt x="9" y="10"/>
                    <a:pt x="9" y="10"/>
                  </a:cubicBezTo>
                  <a:cubicBezTo>
                    <a:pt x="8" y="9"/>
                    <a:pt x="8" y="9"/>
                    <a:pt x="8" y="8"/>
                  </a:cubicBezTo>
                  <a:cubicBezTo>
                    <a:pt x="4" y="8"/>
                    <a:pt x="0" y="6"/>
                    <a:pt x="1" y="2"/>
                  </a:cubicBezTo>
                  <a:cubicBezTo>
                    <a:pt x="2" y="1"/>
                    <a:pt x="2" y="2"/>
                    <a:pt x="4" y="2"/>
                  </a:cubicBezTo>
                  <a:cubicBezTo>
                    <a:pt x="7" y="2"/>
                    <a:pt x="11" y="0"/>
                    <a:pt x="11" y="5"/>
                  </a:cubicBezTo>
                  <a:cubicBezTo>
                    <a:pt x="11" y="6"/>
                    <a:pt x="10" y="8"/>
                    <a:pt x="10" y="10"/>
                  </a:cubicBezTo>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0" name="Freeform 136">
              <a:extLst>
                <a:ext uri="{FF2B5EF4-FFF2-40B4-BE49-F238E27FC236}">
                  <a16:creationId xmlns:a16="http://schemas.microsoft.com/office/drawing/2014/main" id="{554217B1-DE75-417E-B7D0-233320BE5979}"/>
                </a:ext>
              </a:extLst>
            </p:cNvPr>
            <p:cNvSpPr>
              <a:spLocks/>
            </p:cNvSpPr>
            <p:nvPr userDrawn="1"/>
          </p:nvSpPr>
          <p:spPr bwMode="auto">
            <a:xfrm>
              <a:off x="1048" y="786"/>
              <a:ext cx="163" cy="141"/>
            </a:xfrm>
            <a:custGeom>
              <a:avLst/>
              <a:gdLst>
                <a:gd name="T0" fmla="*/ 132 w 132"/>
                <a:gd name="T1" fmla="*/ 6 h 113"/>
                <a:gd name="T2" fmla="*/ 98 w 132"/>
                <a:gd name="T3" fmla="*/ 6 h 113"/>
                <a:gd name="T4" fmla="*/ 79 w 132"/>
                <a:gd name="T5" fmla="*/ 25 h 113"/>
                <a:gd name="T6" fmla="*/ 73 w 132"/>
                <a:gd name="T7" fmla="*/ 12 h 113"/>
                <a:gd name="T8" fmla="*/ 83 w 132"/>
                <a:gd name="T9" fmla="*/ 8 h 113"/>
                <a:gd name="T10" fmla="*/ 57 w 132"/>
                <a:gd name="T11" fmla="*/ 8 h 113"/>
                <a:gd name="T12" fmla="*/ 53 w 132"/>
                <a:gd name="T13" fmla="*/ 25 h 113"/>
                <a:gd name="T14" fmla="*/ 34 w 132"/>
                <a:gd name="T15" fmla="*/ 6 h 113"/>
                <a:gd name="T16" fmla="*/ 0 w 132"/>
                <a:gd name="T17" fmla="*/ 6 h 113"/>
                <a:gd name="T18" fmla="*/ 24 w 132"/>
                <a:gd name="T19" fmla="*/ 16 h 113"/>
                <a:gd name="T20" fmla="*/ 27 w 132"/>
                <a:gd name="T21" fmla="*/ 22 h 113"/>
                <a:gd name="T22" fmla="*/ 9 w 132"/>
                <a:gd name="T23" fmla="*/ 22 h 113"/>
                <a:gd name="T24" fmla="*/ 31 w 132"/>
                <a:gd name="T25" fmla="*/ 32 h 113"/>
                <a:gd name="T26" fmla="*/ 34 w 132"/>
                <a:gd name="T27" fmla="*/ 38 h 113"/>
                <a:gd name="T28" fmla="*/ 20 w 132"/>
                <a:gd name="T29" fmla="*/ 39 h 113"/>
                <a:gd name="T30" fmla="*/ 38 w 132"/>
                <a:gd name="T31" fmla="*/ 48 h 113"/>
                <a:gd name="T32" fmla="*/ 41 w 132"/>
                <a:gd name="T33" fmla="*/ 54 h 113"/>
                <a:gd name="T34" fmla="*/ 30 w 132"/>
                <a:gd name="T35" fmla="*/ 54 h 113"/>
                <a:gd name="T36" fmla="*/ 45 w 132"/>
                <a:gd name="T37" fmla="*/ 63 h 113"/>
                <a:gd name="T38" fmla="*/ 47 w 132"/>
                <a:gd name="T39" fmla="*/ 69 h 113"/>
                <a:gd name="T40" fmla="*/ 39 w 132"/>
                <a:gd name="T41" fmla="*/ 69 h 113"/>
                <a:gd name="T42" fmla="*/ 51 w 132"/>
                <a:gd name="T43" fmla="*/ 78 h 113"/>
                <a:gd name="T44" fmla="*/ 51 w 132"/>
                <a:gd name="T45" fmla="*/ 89 h 113"/>
                <a:gd name="T46" fmla="*/ 66 w 132"/>
                <a:gd name="T47" fmla="*/ 113 h 113"/>
                <a:gd name="T48" fmla="*/ 81 w 132"/>
                <a:gd name="T49" fmla="*/ 89 h 113"/>
                <a:gd name="T50" fmla="*/ 81 w 132"/>
                <a:gd name="T51" fmla="*/ 78 h 113"/>
                <a:gd name="T52" fmla="*/ 92 w 132"/>
                <a:gd name="T53" fmla="*/ 69 h 113"/>
                <a:gd name="T54" fmla="*/ 85 w 132"/>
                <a:gd name="T55" fmla="*/ 69 h 113"/>
                <a:gd name="T56" fmla="*/ 87 w 132"/>
                <a:gd name="T57" fmla="*/ 63 h 113"/>
                <a:gd name="T58" fmla="*/ 102 w 132"/>
                <a:gd name="T59" fmla="*/ 54 h 113"/>
                <a:gd name="T60" fmla="*/ 91 w 132"/>
                <a:gd name="T61" fmla="*/ 54 h 113"/>
                <a:gd name="T62" fmla="*/ 93 w 132"/>
                <a:gd name="T63" fmla="*/ 48 h 113"/>
                <a:gd name="T64" fmla="*/ 111 w 132"/>
                <a:gd name="T65" fmla="*/ 39 h 113"/>
                <a:gd name="T66" fmla="*/ 97 w 132"/>
                <a:gd name="T67" fmla="*/ 38 h 113"/>
                <a:gd name="T68" fmla="*/ 100 w 132"/>
                <a:gd name="T69" fmla="*/ 32 h 113"/>
                <a:gd name="T70" fmla="*/ 123 w 132"/>
                <a:gd name="T71" fmla="*/ 22 h 113"/>
                <a:gd name="T72" fmla="*/ 105 w 132"/>
                <a:gd name="T73" fmla="*/ 22 h 113"/>
                <a:gd name="T74" fmla="*/ 107 w 132"/>
                <a:gd name="T75" fmla="*/ 16 h 113"/>
                <a:gd name="T76" fmla="*/ 132 w 132"/>
                <a:gd name="T77" fmla="*/ 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2" h="113">
                  <a:moveTo>
                    <a:pt x="132" y="6"/>
                  </a:moveTo>
                  <a:cubicBezTo>
                    <a:pt x="98" y="6"/>
                    <a:pt x="98" y="6"/>
                    <a:pt x="98" y="6"/>
                  </a:cubicBezTo>
                  <a:cubicBezTo>
                    <a:pt x="88" y="6"/>
                    <a:pt x="83" y="16"/>
                    <a:pt x="79" y="25"/>
                  </a:cubicBezTo>
                  <a:cubicBezTo>
                    <a:pt x="73" y="12"/>
                    <a:pt x="73" y="12"/>
                    <a:pt x="73" y="12"/>
                  </a:cubicBezTo>
                  <a:cubicBezTo>
                    <a:pt x="83" y="8"/>
                    <a:pt x="83" y="8"/>
                    <a:pt x="83" y="8"/>
                  </a:cubicBezTo>
                  <a:cubicBezTo>
                    <a:pt x="77" y="3"/>
                    <a:pt x="59" y="0"/>
                    <a:pt x="57" y="8"/>
                  </a:cubicBezTo>
                  <a:cubicBezTo>
                    <a:pt x="53" y="25"/>
                    <a:pt x="53" y="25"/>
                    <a:pt x="53" y="25"/>
                  </a:cubicBezTo>
                  <a:cubicBezTo>
                    <a:pt x="50" y="17"/>
                    <a:pt x="45" y="6"/>
                    <a:pt x="34" y="6"/>
                  </a:cubicBezTo>
                  <a:cubicBezTo>
                    <a:pt x="0" y="6"/>
                    <a:pt x="0" y="6"/>
                    <a:pt x="0" y="6"/>
                  </a:cubicBezTo>
                  <a:cubicBezTo>
                    <a:pt x="4" y="14"/>
                    <a:pt x="8" y="17"/>
                    <a:pt x="24" y="16"/>
                  </a:cubicBezTo>
                  <a:cubicBezTo>
                    <a:pt x="27" y="22"/>
                    <a:pt x="27" y="22"/>
                    <a:pt x="27" y="22"/>
                  </a:cubicBezTo>
                  <a:cubicBezTo>
                    <a:pt x="9" y="22"/>
                    <a:pt x="9" y="22"/>
                    <a:pt x="9" y="22"/>
                  </a:cubicBezTo>
                  <a:cubicBezTo>
                    <a:pt x="14" y="32"/>
                    <a:pt x="17" y="32"/>
                    <a:pt x="31" y="32"/>
                  </a:cubicBezTo>
                  <a:cubicBezTo>
                    <a:pt x="34" y="38"/>
                    <a:pt x="34" y="38"/>
                    <a:pt x="34" y="38"/>
                  </a:cubicBezTo>
                  <a:cubicBezTo>
                    <a:pt x="20" y="39"/>
                    <a:pt x="20" y="39"/>
                    <a:pt x="20" y="39"/>
                  </a:cubicBezTo>
                  <a:cubicBezTo>
                    <a:pt x="23" y="45"/>
                    <a:pt x="27" y="48"/>
                    <a:pt x="38" y="48"/>
                  </a:cubicBezTo>
                  <a:cubicBezTo>
                    <a:pt x="41" y="54"/>
                    <a:pt x="41" y="54"/>
                    <a:pt x="41" y="54"/>
                  </a:cubicBezTo>
                  <a:cubicBezTo>
                    <a:pt x="30" y="54"/>
                    <a:pt x="30" y="54"/>
                    <a:pt x="30" y="54"/>
                  </a:cubicBezTo>
                  <a:cubicBezTo>
                    <a:pt x="34" y="61"/>
                    <a:pt x="36" y="64"/>
                    <a:pt x="45" y="63"/>
                  </a:cubicBezTo>
                  <a:cubicBezTo>
                    <a:pt x="47" y="69"/>
                    <a:pt x="47" y="69"/>
                    <a:pt x="47" y="69"/>
                  </a:cubicBezTo>
                  <a:cubicBezTo>
                    <a:pt x="39" y="69"/>
                    <a:pt x="39" y="69"/>
                    <a:pt x="39" y="69"/>
                  </a:cubicBezTo>
                  <a:cubicBezTo>
                    <a:pt x="43" y="77"/>
                    <a:pt x="46" y="77"/>
                    <a:pt x="51" y="78"/>
                  </a:cubicBezTo>
                  <a:cubicBezTo>
                    <a:pt x="55" y="78"/>
                    <a:pt x="56" y="86"/>
                    <a:pt x="51" y="89"/>
                  </a:cubicBezTo>
                  <a:cubicBezTo>
                    <a:pt x="66" y="113"/>
                    <a:pt x="66" y="113"/>
                    <a:pt x="66" y="113"/>
                  </a:cubicBezTo>
                  <a:cubicBezTo>
                    <a:pt x="81" y="89"/>
                    <a:pt x="81" y="89"/>
                    <a:pt x="81" y="89"/>
                  </a:cubicBezTo>
                  <a:cubicBezTo>
                    <a:pt x="76" y="86"/>
                    <a:pt x="76" y="78"/>
                    <a:pt x="81" y="78"/>
                  </a:cubicBezTo>
                  <a:cubicBezTo>
                    <a:pt x="85" y="77"/>
                    <a:pt x="89" y="77"/>
                    <a:pt x="92" y="69"/>
                  </a:cubicBezTo>
                  <a:cubicBezTo>
                    <a:pt x="85" y="69"/>
                    <a:pt x="85" y="69"/>
                    <a:pt x="85" y="69"/>
                  </a:cubicBezTo>
                  <a:cubicBezTo>
                    <a:pt x="87" y="63"/>
                    <a:pt x="87" y="63"/>
                    <a:pt x="87" y="63"/>
                  </a:cubicBezTo>
                  <a:cubicBezTo>
                    <a:pt x="96" y="64"/>
                    <a:pt x="98" y="60"/>
                    <a:pt x="102" y="54"/>
                  </a:cubicBezTo>
                  <a:cubicBezTo>
                    <a:pt x="91" y="54"/>
                    <a:pt x="91" y="54"/>
                    <a:pt x="91" y="54"/>
                  </a:cubicBezTo>
                  <a:cubicBezTo>
                    <a:pt x="93" y="48"/>
                    <a:pt x="93" y="48"/>
                    <a:pt x="93" y="48"/>
                  </a:cubicBezTo>
                  <a:cubicBezTo>
                    <a:pt x="105" y="48"/>
                    <a:pt x="108" y="45"/>
                    <a:pt x="111" y="39"/>
                  </a:cubicBezTo>
                  <a:cubicBezTo>
                    <a:pt x="97" y="38"/>
                    <a:pt x="97" y="38"/>
                    <a:pt x="97" y="38"/>
                  </a:cubicBezTo>
                  <a:cubicBezTo>
                    <a:pt x="100" y="32"/>
                    <a:pt x="100" y="32"/>
                    <a:pt x="100" y="32"/>
                  </a:cubicBezTo>
                  <a:cubicBezTo>
                    <a:pt x="115" y="32"/>
                    <a:pt x="118" y="32"/>
                    <a:pt x="123" y="22"/>
                  </a:cubicBezTo>
                  <a:cubicBezTo>
                    <a:pt x="105" y="22"/>
                    <a:pt x="105" y="22"/>
                    <a:pt x="105" y="22"/>
                  </a:cubicBezTo>
                  <a:cubicBezTo>
                    <a:pt x="107" y="16"/>
                    <a:pt x="107" y="16"/>
                    <a:pt x="107" y="16"/>
                  </a:cubicBezTo>
                  <a:cubicBezTo>
                    <a:pt x="123" y="17"/>
                    <a:pt x="128" y="14"/>
                    <a:pt x="132" y="6"/>
                  </a:cubicBezTo>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1" name="Freeform 137">
              <a:extLst>
                <a:ext uri="{FF2B5EF4-FFF2-40B4-BE49-F238E27FC236}">
                  <a16:creationId xmlns:a16="http://schemas.microsoft.com/office/drawing/2014/main" id="{D985DAC8-BBB3-4137-9160-BA02CFFF1FE4}"/>
                </a:ext>
              </a:extLst>
            </p:cNvPr>
            <p:cNvSpPr>
              <a:spLocks noEditPoints="1"/>
            </p:cNvSpPr>
            <p:nvPr userDrawn="1"/>
          </p:nvSpPr>
          <p:spPr bwMode="auto">
            <a:xfrm>
              <a:off x="1214" y="757"/>
              <a:ext cx="64" cy="43"/>
            </a:xfrm>
            <a:custGeom>
              <a:avLst/>
              <a:gdLst>
                <a:gd name="T0" fmla="*/ 51 w 52"/>
                <a:gd name="T1" fmla="*/ 10 h 34"/>
                <a:gd name="T2" fmla="*/ 48 w 52"/>
                <a:gd name="T3" fmla="*/ 10 h 34"/>
                <a:gd name="T4" fmla="*/ 47 w 52"/>
                <a:gd name="T5" fmla="*/ 8 h 34"/>
                <a:gd name="T6" fmla="*/ 50 w 52"/>
                <a:gd name="T7" fmla="*/ 7 h 34"/>
                <a:gd name="T8" fmla="*/ 52 w 52"/>
                <a:gd name="T9" fmla="*/ 2 h 34"/>
                <a:gd name="T10" fmla="*/ 44 w 52"/>
                <a:gd name="T11" fmla="*/ 3 h 34"/>
                <a:gd name="T12" fmla="*/ 36 w 52"/>
                <a:gd name="T13" fmla="*/ 1 h 34"/>
                <a:gd name="T14" fmla="*/ 36 w 52"/>
                <a:gd name="T15" fmla="*/ 3 h 34"/>
                <a:gd name="T16" fmla="*/ 35 w 52"/>
                <a:gd name="T17" fmla="*/ 4 h 34"/>
                <a:gd name="T18" fmla="*/ 35 w 52"/>
                <a:gd name="T19" fmla="*/ 5 h 34"/>
                <a:gd name="T20" fmla="*/ 34 w 52"/>
                <a:gd name="T21" fmla="*/ 7 h 34"/>
                <a:gd name="T22" fmla="*/ 34 w 52"/>
                <a:gd name="T23" fmla="*/ 6 h 34"/>
                <a:gd name="T24" fmla="*/ 30 w 52"/>
                <a:gd name="T25" fmla="*/ 5 h 34"/>
                <a:gd name="T26" fmla="*/ 28 w 52"/>
                <a:gd name="T27" fmla="*/ 9 h 34"/>
                <a:gd name="T28" fmla="*/ 28 w 52"/>
                <a:gd name="T29" fmla="*/ 10 h 34"/>
                <a:gd name="T30" fmla="*/ 31 w 52"/>
                <a:gd name="T31" fmla="*/ 11 h 34"/>
                <a:gd name="T32" fmla="*/ 33 w 52"/>
                <a:gd name="T33" fmla="*/ 12 h 34"/>
                <a:gd name="T34" fmla="*/ 30 w 52"/>
                <a:gd name="T35" fmla="*/ 14 h 34"/>
                <a:gd name="T36" fmla="*/ 26 w 52"/>
                <a:gd name="T37" fmla="*/ 14 h 34"/>
                <a:gd name="T38" fmla="*/ 13 w 52"/>
                <a:gd name="T39" fmla="*/ 11 h 34"/>
                <a:gd name="T40" fmla="*/ 13 w 52"/>
                <a:gd name="T41" fmla="*/ 12 h 34"/>
                <a:gd name="T42" fmla="*/ 20 w 52"/>
                <a:gd name="T43" fmla="*/ 16 h 34"/>
                <a:gd name="T44" fmla="*/ 32 w 52"/>
                <a:gd name="T45" fmla="*/ 20 h 34"/>
                <a:gd name="T46" fmla="*/ 31 w 52"/>
                <a:gd name="T47" fmla="*/ 20 h 34"/>
                <a:gd name="T48" fmla="*/ 24 w 52"/>
                <a:gd name="T49" fmla="*/ 20 h 34"/>
                <a:gd name="T50" fmla="*/ 19 w 52"/>
                <a:gd name="T51" fmla="*/ 19 h 34"/>
                <a:gd name="T52" fmla="*/ 18 w 52"/>
                <a:gd name="T53" fmla="*/ 19 h 34"/>
                <a:gd name="T54" fmla="*/ 4 w 52"/>
                <a:gd name="T55" fmla="*/ 14 h 34"/>
                <a:gd name="T56" fmla="*/ 2 w 52"/>
                <a:gd name="T57" fmla="*/ 12 h 34"/>
                <a:gd name="T58" fmla="*/ 3 w 52"/>
                <a:gd name="T59" fmla="*/ 20 h 34"/>
                <a:gd name="T60" fmla="*/ 13 w 52"/>
                <a:gd name="T61" fmla="*/ 23 h 34"/>
                <a:gd name="T62" fmla="*/ 13 w 52"/>
                <a:gd name="T63" fmla="*/ 24 h 34"/>
                <a:gd name="T64" fmla="*/ 9 w 52"/>
                <a:gd name="T65" fmla="*/ 27 h 34"/>
                <a:gd name="T66" fmla="*/ 4 w 52"/>
                <a:gd name="T67" fmla="*/ 26 h 34"/>
                <a:gd name="T68" fmla="*/ 9 w 52"/>
                <a:gd name="T69" fmla="*/ 33 h 34"/>
                <a:gd name="T70" fmla="*/ 10 w 52"/>
                <a:gd name="T71" fmla="*/ 34 h 34"/>
                <a:gd name="T72" fmla="*/ 18 w 52"/>
                <a:gd name="T73" fmla="*/ 28 h 34"/>
                <a:gd name="T74" fmla="*/ 23 w 52"/>
                <a:gd name="T75" fmla="*/ 28 h 34"/>
                <a:gd name="T76" fmla="*/ 22 w 52"/>
                <a:gd name="T77" fmla="*/ 23 h 34"/>
                <a:gd name="T78" fmla="*/ 23 w 52"/>
                <a:gd name="T79" fmla="*/ 21 h 34"/>
                <a:gd name="T80" fmla="*/ 30 w 52"/>
                <a:gd name="T81" fmla="*/ 22 h 34"/>
                <a:gd name="T82" fmla="*/ 36 w 52"/>
                <a:gd name="T83" fmla="*/ 25 h 34"/>
                <a:gd name="T84" fmla="*/ 39 w 52"/>
                <a:gd name="T85" fmla="*/ 21 h 34"/>
                <a:gd name="T86" fmla="*/ 39 w 52"/>
                <a:gd name="T87" fmla="*/ 20 h 34"/>
                <a:gd name="T88" fmla="*/ 51 w 52"/>
                <a:gd name="T89" fmla="*/ 14 h 34"/>
                <a:gd name="T90" fmla="*/ 38 w 52"/>
                <a:gd name="T91" fmla="*/ 14 h 34"/>
                <a:gd name="T92" fmla="*/ 38 w 52"/>
                <a:gd name="T93" fmla="*/ 12 h 34"/>
                <a:gd name="T94" fmla="*/ 36 w 52"/>
                <a:gd name="T95" fmla="*/ 11 h 34"/>
                <a:gd name="T96" fmla="*/ 36 w 52"/>
                <a:gd name="T97" fmla="*/ 10 h 34"/>
                <a:gd name="T98" fmla="*/ 40 w 52"/>
                <a:gd name="T99" fmla="*/ 9 h 34"/>
                <a:gd name="T100" fmla="*/ 43 w 52"/>
                <a:gd name="T101" fmla="*/ 14 h 34"/>
                <a:gd name="T102" fmla="*/ 38 w 52"/>
                <a:gd name="T103" fmla="*/ 1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 h="34">
                  <a:moveTo>
                    <a:pt x="51" y="13"/>
                  </a:moveTo>
                  <a:cubicBezTo>
                    <a:pt x="51" y="12"/>
                    <a:pt x="51" y="12"/>
                    <a:pt x="51" y="12"/>
                  </a:cubicBezTo>
                  <a:cubicBezTo>
                    <a:pt x="51" y="11"/>
                    <a:pt x="51" y="11"/>
                    <a:pt x="51" y="10"/>
                  </a:cubicBezTo>
                  <a:cubicBezTo>
                    <a:pt x="51" y="10"/>
                    <a:pt x="50" y="10"/>
                    <a:pt x="50" y="10"/>
                  </a:cubicBezTo>
                  <a:cubicBezTo>
                    <a:pt x="49" y="10"/>
                    <a:pt x="49" y="10"/>
                    <a:pt x="49" y="10"/>
                  </a:cubicBezTo>
                  <a:cubicBezTo>
                    <a:pt x="48" y="10"/>
                    <a:pt x="48" y="10"/>
                    <a:pt x="48" y="10"/>
                  </a:cubicBezTo>
                  <a:cubicBezTo>
                    <a:pt x="48" y="9"/>
                    <a:pt x="48" y="9"/>
                    <a:pt x="48" y="9"/>
                  </a:cubicBezTo>
                  <a:cubicBezTo>
                    <a:pt x="48" y="9"/>
                    <a:pt x="48" y="9"/>
                    <a:pt x="48" y="9"/>
                  </a:cubicBezTo>
                  <a:cubicBezTo>
                    <a:pt x="47" y="8"/>
                    <a:pt x="47" y="8"/>
                    <a:pt x="47" y="8"/>
                  </a:cubicBezTo>
                  <a:cubicBezTo>
                    <a:pt x="47" y="8"/>
                    <a:pt x="47" y="8"/>
                    <a:pt x="47" y="8"/>
                  </a:cubicBezTo>
                  <a:cubicBezTo>
                    <a:pt x="48" y="8"/>
                    <a:pt x="48" y="8"/>
                    <a:pt x="48" y="8"/>
                  </a:cubicBezTo>
                  <a:cubicBezTo>
                    <a:pt x="48" y="7"/>
                    <a:pt x="49" y="7"/>
                    <a:pt x="50" y="7"/>
                  </a:cubicBezTo>
                  <a:cubicBezTo>
                    <a:pt x="50" y="7"/>
                    <a:pt x="50" y="7"/>
                    <a:pt x="50" y="7"/>
                  </a:cubicBezTo>
                  <a:cubicBezTo>
                    <a:pt x="50" y="7"/>
                    <a:pt x="50" y="7"/>
                    <a:pt x="50" y="7"/>
                  </a:cubicBezTo>
                  <a:cubicBezTo>
                    <a:pt x="51" y="6"/>
                    <a:pt x="52" y="4"/>
                    <a:pt x="52" y="2"/>
                  </a:cubicBezTo>
                  <a:cubicBezTo>
                    <a:pt x="52" y="2"/>
                    <a:pt x="51" y="2"/>
                    <a:pt x="50" y="2"/>
                  </a:cubicBezTo>
                  <a:cubicBezTo>
                    <a:pt x="49" y="2"/>
                    <a:pt x="48" y="2"/>
                    <a:pt x="46" y="3"/>
                  </a:cubicBezTo>
                  <a:cubicBezTo>
                    <a:pt x="46" y="3"/>
                    <a:pt x="45" y="3"/>
                    <a:pt x="44" y="3"/>
                  </a:cubicBezTo>
                  <a:cubicBezTo>
                    <a:pt x="43" y="3"/>
                    <a:pt x="43" y="3"/>
                    <a:pt x="43" y="3"/>
                  </a:cubicBezTo>
                  <a:cubicBezTo>
                    <a:pt x="41" y="2"/>
                    <a:pt x="41" y="2"/>
                    <a:pt x="36" y="0"/>
                  </a:cubicBezTo>
                  <a:cubicBezTo>
                    <a:pt x="36" y="0"/>
                    <a:pt x="36" y="0"/>
                    <a:pt x="36" y="1"/>
                  </a:cubicBezTo>
                  <a:cubicBezTo>
                    <a:pt x="35" y="1"/>
                    <a:pt x="35" y="2"/>
                    <a:pt x="36" y="3"/>
                  </a:cubicBezTo>
                  <a:cubicBezTo>
                    <a:pt x="36" y="3"/>
                    <a:pt x="36" y="3"/>
                    <a:pt x="36" y="3"/>
                  </a:cubicBezTo>
                  <a:cubicBezTo>
                    <a:pt x="36" y="3"/>
                    <a:pt x="36" y="3"/>
                    <a:pt x="36" y="3"/>
                  </a:cubicBezTo>
                  <a:cubicBezTo>
                    <a:pt x="36" y="3"/>
                    <a:pt x="36" y="3"/>
                    <a:pt x="36" y="3"/>
                  </a:cubicBezTo>
                  <a:cubicBezTo>
                    <a:pt x="35" y="4"/>
                    <a:pt x="35" y="4"/>
                    <a:pt x="35" y="4"/>
                  </a:cubicBezTo>
                  <a:cubicBezTo>
                    <a:pt x="35" y="4"/>
                    <a:pt x="35" y="4"/>
                    <a:pt x="35" y="4"/>
                  </a:cubicBezTo>
                  <a:cubicBezTo>
                    <a:pt x="35" y="4"/>
                    <a:pt x="35" y="4"/>
                    <a:pt x="35" y="4"/>
                  </a:cubicBezTo>
                  <a:cubicBezTo>
                    <a:pt x="35" y="4"/>
                    <a:pt x="35" y="4"/>
                    <a:pt x="35" y="4"/>
                  </a:cubicBezTo>
                  <a:cubicBezTo>
                    <a:pt x="35" y="4"/>
                    <a:pt x="35" y="5"/>
                    <a:pt x="35" y="5"/>
                  </a:cubicBezTo>
                  <a:cubicBezTo>
                    <a:pt x="35" y="5"/>
                    <a:pt x="35" y="5"/>
                    <a:pt x="35" y="5"/>
                  </a:cubicBezTo>
                  <a:cubicBezTo>
                    <a:pt x="35" y="6"/>
                    <a:pt x="35" y="6"/>
                    <a:pt x="35" y="6"/>
                  </a:cubicBezTo>
                  <a:cubicBezTo>
                    <a:pt x="34" y="7"/>
                    <a:pt x="34" y="7"/>
                    <a:pt x="34" y="7"/>
                  </a:cubicBezTo>
                  <a:cubicBezTo>
                    <a:pt x="34" y="7"/>
                    <a:pt x="34" y="7"/>
                    <a:pt x="34" y="7"/>
                  </a:cubicBezTo>
                  <a:cubicBezTo>
                    <a:pt x="34" y="7"/>
                    <a:pt x="34" y="7"/>
                    <a:pt x="34" y="7"/>
                  </a:cubicBezTo>
                  <a:cubicBezTo>
                    <a:pt x="34" y="6"/>
                    <a:pt x="34" y="6"/>
                    <a:pt x="34" y="6"/>
                  </a:cubicBezTo>
                  <a:cubicBezTo>
                    <a:pt x="33" y="6"/>
                    <a:pt x="33" y="6"/>
                    <a:pt x="32" y="5"/>
                  </a:cubicBezTo>
                  <a:cubicBezTo>
                    <a:pt x="32" y="5"/>
                    <a:pt x="32" y="5"/>
                    <a:pt x="32" y="5"/>
                  </a:cubicBezTo>
                  <a:cubicBezTo>
                    <a:pt x="31" y="5"/>
                    <a:pt x="31" y="5"/>
                    <a:pt x="30" y="5"/>
                  </a:cubicBezTo>
                  <a:cubicBezTo>
                    <a:pt x="30" y="6"/>
                    <a:pt x="30" y="6"/>
                    <a:pt x="30" y="6"/>
                  </a:cubicBezTo>
                  <a:cubicBezTo>
                    <a:pt x="30" y="7"/>
                    <a:pt x="30" y="7"/>
                    <a:pt x="30" y="7"/>
                  </a:cubicBezTo>
                  <a:cubicBezTo>
                    <a:pt x="30" y="7"/>
                    <a:pt x="30" y="8"/>
                    <a:pt x="28" y="9"/>
                  </a:cubicBezTo>
                  <a:cubicBezTo>
                    <a:pt x="27" y="8"/>
                    <a:pt x="27" y="8"/>
                    <a:pt x="27" y="8"/>
                  </a:cubicBezTo>
                  <a:cubicBezTo>
                    <a:pt x="26" y="8"/>
                    <a:pt x="26" y="9"/>
                    <a:pt x="26" y="9"/>
                  </a:cubicBezTo>
                  <a:cubicBezTo>
                    <a:pt x="26" y="10"/>
                    <a:pt x="26" y="10"/>
                    <a:pt x="28" y="10"/>
                  </a:cubicBezTo>
                  <a:cubicBezTo>
                    <a:pt x="29" y="10"/>
                    <a:pt x="29" y="11"/>
                    <a:pt x="30" y="11"/>
                  </a:cubicBezTo>
                  <a:cubicBezTo>
                    <a:pt x="30" y="11"/>
                    <a:pt x="30" y="11"/>
                    <a:pt x="30" y="11"/>
                  </a:cubicBezTo>
                  <a:cubicBezTo>
                    <a:pt x="31" y="11"/>
                    <a:pt x="31" y="11"/>
                    <a:pt x="31" y="11"/>
                  </a:cubicBezTo>
                  <a:cubicBezTo>
                    <a:pt x="32" y="11"/>
                    <a:pt x="32" y="11"/>
                    <a:pt x="32" y="11"/>
                  </a:cubicBezTo>
                  <a:cubicBezTo>
                    <a:pt x="33" y="11"/>
                    <a:pt x="33" y="11"/>
                    <a:pt x="33" y="11"/>
                  </a:cubicBezTo>
                  <a:cubicBezTo>
                    <a:pt x="33" y="12"/>
                    <a:pt x="33" y="12"/>
                    <a:pt x="33" y="12"/>
                  </a:cubicBezTo>
                  <a:cubicBezTo>
                    <a:pt x="31" y="12"/>
                    <a:pt x="31" y="12"/>
                    <a:pt x="31" y="12"/>
                  </a:cubicBezTo>
                  <a:cubicBezTo>
                    <a:pt x="31" y="12"/>
                    <a:pt x="31" y="13"/>
                    <a:pt x="30" y="13"/>
                  </a:cubicBezTo>
                  <a:cubicBezTo>
                    <a:pt x="30" y="14"/>
                    <a:pt x="30" y="14"/>
                    <a:pt x="30" y="14"/>
                  </a:cubicBezTo>
                  <a:cubicBezTo>
                    <a:pt x="29" y="15"/>
                    <a:pt x="29" y="15"/>
                    <a:pt x="29" y="15"/>
                  </a:cubicBezTo>
                  <a:cubicBezTo>
                    <a:pt x="29" y="14"/>
                    <a:pt x="29" y="14"/>
                    <a:pt x="29" y="14"/>
                  </a:cubicBezTo>
                  <a:cubicBezTo>
                    <a:pt x="28" y="14"/>
                    <a:pt x="27" y="14"/>
                    <a:pt x="26" y="14"/>
                  </a:cubicBezTo>
                  <a:cubicBezTo>
                    <a:pt x="24" y="13"/>
                    <a:pt x="24" y="13"/>
                    <a:pt x="24" y="13"/>
                  </a:cubicBezTo>
                  <a:cubicBezTo>
                    <a:pt x="22" y="13"/>
                    <a:pt x="18" y="12"/>
                    <a:pt x="15" y="11"/>
                  </a:cubicBezTo>
                  <a:cubicBezTo>
                    <a:pt x="15" y="11"/>
                    <a:pt x="14" y="11"/>
                    <a:pt x="13" y="11"/>
                  </a:cubicBezTo>
                  <a:cubicBezTo>
                    <a:pt x="12" y="10"/>
                    <a:pt x="12" y="10"/>
                    <a:pt x="12" y="10"/>
                  </a:cubicBezTo>
                  <a:cubicBezTo>
                    <a:pt x="11" y="11"/>
                    <a:pt x="11" y="11"/>
                    <a:pt x="11" y="11"/>
                  </a:cubicBezTo>
                  <a:cubicBezTo>
                    <a:pt x="12" y="11"/>
                    <a:pt x="12" y="12"/>
                    <a:pt x="13" y="12"/>
                  </a:cubicBezTo>
                  <a:cubicBezTo>
                    <a:pt x="13" y="12"/>
                    <a:pt x="13" y="12"/>
                    <a:pt x="13" y="12"/>
                  </a:cubicBezTo>
                  <a:cubicBezTo>
                    <a:pt x="14" y="13"/>
                    <a:pt x="14" y="15"/>
                    <a:pt x="16" y="16"/>
                  </a:cubicBezTo>
                  <a:cubicBezTo>
                    <a:pt x="17" y="16"/>
                    <a:pt x="18" y="16"/>
                    <a:pt x="20" y="16"/>
                  </a:cubicBezTo>
                  <a:cubicBezTo>
                    <a:pt x="23" y="16"/>
                    <a:pt x="28" y="17"/>
                    <a:pt x="31" y="19"/>
                  </a:cubicBezTo>
                  <a:cubicBezTo>
                    <a:pt x="32" y="20"/>
                    <a:pt x="32" y="20"/>
                    <a:pt x="32" y="20"/>
                  </a:cubicBezTo>
                  <a:cubicBezTo>
                    <a:pt x="32" y="20"/>
                    <a:pt x="32" y="20"/>
                    <a:pt x="32" y="20"/>
                  </a:cubicBezTo>
                  <a:cubicBezTo>
                    <a:pt x="32" y="20"/>
                    <a:pt x="32" y="20"/>
                    <a:pt x="32" y="20"/>
                  </a:cubicBezTo>
                  <a:cubicBezTo>
                    <a:pt x="32" y="20"/>
                    <a:pt x="32" y="20"/>
                    <a:pt x="32" y="20"/>
                  </a:cubicBezTo>
                  <a:cubicBezTo>
                    <a:pt x="31" y="20"/>
                    <a:pt x="31" y="20"/>
                    <a:pt x="31" y="20"/>
                  </a:cubicBezTo>
                  <a:cubicBezTo>
                    <a:pt x="30" y="20"/>
                    <a:pt x="30" y="21"/>
                    <a:pt x="30" y="21"/>
                  </a:cubicBezTo>
                  <a:cubicBezTo>
                    <a:pt x="29" y="21"/>
                    <a:pt x="29" y="21"/>
                    <a:pt x="29" y="21"/>
                  </a:cubicBezTo>
                  <a:cubicBezTo>
                    <a:pt x="26" y="20"/>
                    <a:pt x="26" y="20"/>
                    <a:pt x="24" y="20"/>
                  </a:cubicBezTo>
                  <a:cubicBezTo>
                    <a:pt x="23" y="19"/>
                    <a:pt x="22" y="18"/>
                    <a:pt x="21" y="18"/>
                  </a:cubicBezTo>
                  <a:cubicBezTo>
                    <a:pt x="21" y="18"/>
                    <a:pt x="20" y="19"/>
                    <a:pt x="19" y="19"/>
                  </a:cubicBezTo>
                  <a:cubicBezTo>
                    <a:pt x="19" y="19"/>
                    <a:pt x="19" y="19"/>
                    <a:pt x="19" y="19"/>
                  </a:cubicBezTo>
                  <a:cubicBezTo>
                    <a:pt x="19" y="19"/>
                    <a:pt x="19" y="19"/>
                    <a:pt x="19" y="19"/>
                  </a:cubicBezTo>
                  <a:cubicBezTo>
                    <a:pt x="19" y="20"/>
                    <a:pt x="19" y="20"/>
                    <a:pt x="19" y="20"/>
                  </a:cubicBezTo>
                  <a:cubicBezTo>
                    <a:pt x="18" y="19"/>
                    <a:pt x="18" y="19"/>
                    <a:pt x="18" y="19"/>
                  </a:cubicBezTo>
                  <a:cubicBezTo>
                    <a:pt x="18" y="19"/>
                    <a:pt x="18" y="19"/>
                    <a:pt x="17" y="19"/>
                  </a:cubicBezTo>
                  <a:cubicBezTo>
                    <a:pt x="16" y="19"/>
                    <a:pt x="15" y="18"/>
                    <a:pt x="14" y="18"/>
                  </a:cubicBezTo>
                  <a:cubicBezTo>
                    <a:pt x="10" y="17"/>
                    <a:pt x="7" y="16"/>
                    <a:pt x="4" y="14"/>
                  </a:cubicBezTo>
                  <a:cubicBezTo>
                    <a:pt x="3" y="13"/>
                    <a:pt x="3" y="13"/>
                    <a:pt x="2" y="12"/>
                  </a:cubicBezTo>
                  <a:cubicBezTo>
                    <a:pt x="2" y="12"/>
                    <a:pt x="2" y="12"/>
                    <a:pt x="2" y="12"/>
                  </a:cubicBezTo>
                  <a:cubicBezTo>
                    <a:pt x="2" y="12"/>
                    <a:pt x="2" y="12"/>
                    <a:pt x="2" y="12"/>
                  </a:cubicBezTo>
                  <a:cubicBezTo>
                    <a:pt x="2" y="11"/>
                    <a:pt x="2" y="11"/>
                    <a:pt x="2" y="11"/>
                  </a:cubicBezTo>
                  <a:cubicBezTo>
                    <a:pt x="1" y="11"/>
                    <a:pt x="1" y="12"/>
                    <a:pt x="0" y="12"/>
                  </a:cubicBezTo>
                  <a:cubicBezTo>
                    <a:pt x="0" y="14"/>
                    <a:pt x="2" y="19"/>
                    <a:pt x="3" y="20"/>
                  </a:cubicBezTo>
                  <a:cubicBezTo>
                    <a:pt x="4" y="20"/>
                    <a:pt x="5" y="21"/>
                    <a:pt x="6" y="21"/>
                  </a:cubicBezTo>
                  <a:cubicBezTo>
                    <a:pt x="8" y="21"/>
                    <a:pt x="11" y="22"/>
                    <a:pt x="12" y="23"/>
                  </a:cubicBezTo>
                  <a:cubicBezTo>
                    <a:pt x="13" y="23"/>
                    <a:pt x="13" y="23"/>
                    <a:pt x="13" y="23"/>
                  </a:cubicBezTo>
                  <a:cubicBezTo>
                    <a:pt x="13" y="23"/>
                    <a:pt x="13" y="23"/>
                    <a:pt x="13" y="23"/>
                  </a:cubicBezTo>
                  <a:cubicBezTo>
                    <a:pt x="13" y="23"/>
                    <a:pt x="13" y="23"/>
                    <a:pt x="13" y="23"/>
                  </a:cubicBezTo>
                  <a:cubicBezTo>
                    <a:pt x="13" y="24"/>
                    <a:pt x="13" y="24"/>
                    <a:pt x="13" y="24"/>
                  </a:cubicBezTo>
                  <a:cubicBezTo>
                    <a:pt x="12" y="25"/>
                    <a:pt x="11" y="26"/>
                    <a:pt x="10" y="26"/>
                  </a:cubicBezTo>
                  <a:cubicBezTo>
                    <a:pt x="10" y="27"/>
                    <a:pt x="10" y="27"/>
                    <a:pt x="10" y="27"/>
                  </a:cubicBezTo>
                  <a:cubicBezTo>
                    <a:pt x="10" y="27"/>
                    <a:pt x="9" y="27"/>
                    <a:pt x="9" y="27"/>
                  </a:cubicBezTo>
                  <a:cubicBezTo>
                    <a:pt x="9" y="27"/>
                    <a:pt x="9" y="27"/>
                    <a:pt x="9" y="27"/>
                  </a:cubicBezTo>
                  <a:cubicBezTo>
                    <a:pt x="9" y="28"/>
                    <a:pt x="8" y="28"/>
                    <a:pt x="8" y="28"/>
                  </a:cubicBezTo>
                  <a:cubicBezTo>
                    <a:pt x="7" y="28"/>
                    <a:pt x="5" y="27"/>
                    <a:pt x="4" y="26"/>
                  </a:cubicBezTo>
                  <a:cubicBezTo>
                    <a:pt x="4" y="26"/>
                    <a:pt x="3" y="26"/>
                    <a:pt x="3" y="26"/>
                  </a:cubicBezTo>
                  <a:cubicBezTo>
                    <a:pt x="3" y="26"/>
                    <a:pt x="3" y="26"/>
                    <a:pt x="3" y="26"/>
                  </a:cubicBezTo>
                  <a:cubicBezTo>
                    <a:pt x="4" y="29"/>
                    <a:pt x="6" y="31"/>
                    <a:pt x="9" y="33"/>
                  </a:cubicBezTo>
                  <a:cubicBezTo>
                    <a:pt x="9" y="34"/>
                    <a:pt x="9" y="34"/>
                    <a:pt x="9" y="34"/>
                  </a:cubicBezTo>
                  <a:cubicBezTo>
                    <a:pt x="10" y="34"/>
                    <a:pt x="10" y="34"/>
                    <a:pt x="10" y="34"/>
                  </a:cubicBezTo>
                  <a:cubicBezTo>
                    <a:pt x="10" y="34"/>
                    <a:pt x="10" y="34"/>
                    <a:pt x="10" y="34"/>
                  </a:cubicBezTo>
                  <a:cubicBezTo>
                    <a:pt x="12" y="34"/>
                    <a:pt x="15" y="31"/>
                    <a:pt x="16" y="29"/>
                  </a:cubicBezTo>
                  <a:cubicBezTo>
                    <a:pt x="16" y="29"/>
                    <a:pt x="17" y="28"/>
                    <a:pt x="17" y="28"/>
                  </a:cubicBezTo>
                  <a:cubicBezTo>
                    <a:pt x="18" y="28"/>
                    <a:pt x="18" y="28"/>
                    <a:pt x="18" y="28"/>
                  </a:cubicBezTo>
                  <a:cubicBezTo>
                    <a:pt x="19" y="27"/>
                    <a:pt x="19" y="27"/>
                    <a:pt x="19" y="27"/>
                  </a:cubicBezTo>
                  <a:cubicBezTo>
                    <a:pt x="19" y="27"/>
                    <a:pt x="19" y="27"/>
                    <a:pt x="19" y="27"/>
                  </a:cubicBezTo>
                  <a:cubicBezTo>
                    <a:pt x="21" y="27"/>
                    <a:pt x="22" y="27"/>
                    <a:pt x="23" y="28"/>
                  </a:cubicBezTo>
                  <a:cubicBezTo>
                    <a:pt x="24" y="28"/>
                    <a:pt x="25" y="26"/>
                    <a:pt x="25" y="25"/>
                  </a:cubicBezTo>
                  <a:cubicBezTo>
                    <a:pt x="25" y="25"/>
                    <a:pt x="25" y="25"/>
                    <a:pt x="25" y="25"/>
                  </a:cubicBezTo>
                  <a:cubicBezTo>
                    <a:pt x="24" y="24"/>
                    <a:pt x="23" y="23"/>
                    <a:pt x="22" y="23"/>
                  </a:cubicBezTo>
                  <a:cubicBezTo>
                    <a:pt x="22" y="23"/>
                    <a:pt x="22" y="23"/>
                    <a:pt x="22" y="23"/>
                  </a:cubicBezTo>
                  <a:cubicBezTo>
                    <a:pt x="22" y="22"/>
                    <a:pt x="22" y="22"/>
                    <a:pt x="22" y="22"/>
                  </a:cubicBezTo>
                  <a:cubicBezTo>
                    <a:pt x="23" y="21"/>
                    <a:pt x="23" y="21"/>
                    <a:pt x="23" y="21"/>
                  </a:cubicBezTo>
                  <a:cubicBezTo>
                    <a:pt x="23" y="20"/>
                    <a:pt x="23" y="20"/>
                    <a:pt x="23" y="20"/>
                  </a:cubicBezTo>
                  <a:cubicBezTo>
                    <a:pt x="24" y="20"/>
                    <a:pt x="24" y="20"/>
                    <a:pt x="24" y="20"/>
                  </a:cubicBezTo>
                  <a:cubicBezTo>
                    <a:pt x="26" y="21"/>
                    <a:pt x="28" y="22"/>
                    <a:pt x="30" y="22"/>
                  </a:cubicBezTo>
                  <a:cubicBezTo>
                    <a:pt x="32" y="23"/>
                    <a:pt x="32" y="23"/>
                    <a:pt x="32" y="23"/>
                  </a:cubicBezTo>
                  <a:cubicBezTo>
                    <a:pt x="33" y="23"/>
                    <a:pt x="33" y="23"/>
                    <a:pt x="33" y="23"/>
                  </a:cubicBezTo>
                  <a:cubicBezTo>
                    <a:pt x="34" y="24"/>
                    <a:pt x="35" y="25"/>
                    <a:pt x="36" y="25"/>
                  </a:cubicBezTo>
                  <a:cubicBezTo>
                    <a:pt x="36" y="25"/>
                    <a:pt x="37" y="25"/>
                    <a:pt x="37" y="25"/>
                  </a:cubicBezTo>
                  <a:cubicBezTo>
                    <a:pt x="38" y="23"/>
                    <a:pt x="39" y="22"/>
                    <a:pt x="39" y="21"/>
                  </a:cubicBezTo>
                  <a:cubicBezTo>
                    <a:pt x="39" y="21"/>
                    <a:pt x="39" y="21"/>
                    <a:pt x="39" y="21"/>
                  </a:cubicBezTo>
                  <a:cubicBezTo>
                    <a:pt x="39" y="21"/>
                    <a:pt x="40" y="21"/>
                    <a:pt x="40" y="21"/>
                  </a:cubicBezTo>
                  <a:cubicBezTo>
                    <a:pt x="39" y="21"/>
                    <a:pt x="39" y="21"/>
                    <a:pt x="39" y="21"/>
                  </a:cubicBezTo>
                  <a:cubicBezTo>
                    <a:pt x="39" y="20"/>
                    <a:pt x="39" y="20"/>
                    <a:pt x="39" y="20"/>
                  </a:cubicBezTo>
                  <a:cubicBezTo>
                    <a:pt x="39" y="20"/>
                    <a:pt x="40" y="20"/>
                    <a:pt x="40" y="20"/>
                  </a:cubicBezTo>
                  <a:cubicBezTo>
                    <a:pt x="43" y="19"/>
                    <a:pt x="47" y="17"/>
                    <a:pt x="50" y="16"/>
                  </a:cubicBezTo>
                  <a:cubicBezTo>
                    <a:pt x="51" y="15"/>
                    <a:pt x="52" y="15"/>
                    <a:pt x="51" y="14"/>
                  </a:cubicBezTo>
                  <a:cubicBezTo>
                    <a:pt x="51" y="13"/>
                    <a:pt x="51" y="13"/>
                    <a:pt x="51" y="13"/>
                  </a:cubicBezTo>
                  <a:moveTo>
                    <a:pt x="37" y="15"/>
                  </a:moveTo>
                  <a:cubicBezTo>
                    <a:pt x="38" y="14"/>
                    <a:pt x="38" y="14"/>
                    <a:pt x="38" y="14"/>
                  </a:cubicBezTo>
                  <a:cubicBezTo>
                    <a:pt x="39" y="13"/>
                    <a:pt x="39" y="13"/>
                    <a:pt x="39" y="13"/>
                  </a:cubicBezTo>
                  <a:cubicBezTo>
                    <a:pt x="39" y="13"/>
                    <a:pt x="39" y="12"/>
                    <a:pt x="38" y="12"/>
                  </a:cubicBezTo>
                  <a:cubicBezTo>
                    <a:pt x="38" y="12"/>
                    <a:pt x="38" y="12"/>
                    <a:pt x="38" y="12"/>
                  </a:cubicBezTo>
                  <a:cubicBezTo>
                    <a:pt x="38" y="12"/>
                    <a:pt x="38" y="12"/>
                    <a:pt x="38" y="12"/>
                  </a:cubicBezTo>
                  <a:cubicBezTo>
                    <a:pt x="37" y="12"/>
                    <a:pt x="37" y="12"/>
                    <a:pt x="37" y="12"/>
                  </a:cubicBezTo>
                  <a:cubicBezTo>
                    <a:pt x="36" y="11"/>
                    <a:pt x="36" y="11"/>
                    <a:pt x="36" y="11"/>
                  </a:cubicBezTo>
                  <a:cubicBezTo>
                    <a:pt x="36" y="11"/>
                    <a:pt x="36" y="11"/>
                    <a:pt x="36" y="11"/>
                  </a:cubicBezTo>
                  <a:cubicBezTo>
                    <a:pt x="37" y="10"/>
                    <a:pt x="37" y="10"/>
                    <a:pt x="37" y="10"/>
                  </a:cubicBezTo>
                  <a:cubicBezTo>
                    <a:pt x="36" y="10"/>
                    <a:pt x="36" y="10"/>
                    <a:pt x="36" y="10"/>
                  </a:cubicBezTo>
                  <a:cubicBezTo>
                    <a:pt x="37" y="10"/>
                    <a:pt x="37" y="10"/>
                    <a:pt x="37" y="10"/>
                  </a:cubicBezTo>
                  <a:cubicBezTo>
                    <a:pt x="40" y="9"/>
                    <a:pt x="40" y="9"/>
                    <a:pt x="40" y="9"/>
                  </a:cubicBezTo>
                  <a:cubicBezTo>
                    <a:pt x="40" y="9"/>
                    <a:pt x="40" y="9"/>
                    <a:pt x="40" y="9"/>
                  </a:cubicBezTo>
                  <a:cubicBezTo>
                    <a:pt x="41" y="9"/>
                    <a:pt x="41" y="9"/>
                    <a:pt x="41" y="9"/>
                  </a:cubicBezTo>
                  <a:cubicBezTo>
                    <a:pt x="41" y="10"/>
                    <a:pt x="43" y="11"/>
                    <a:pt x="43" y="13"/>
                  </a:cubicBezTo>
                  <a:cubicBezTo>
                    <a:pt x="43" y="14"/>
                    <a:pt x="43" y="14"/>
                    <a:pt x="43" y="14"/>
                  </a:cubicBezTo>
                  <a:cubicBezTo>
                    <a:pt x="42" y="15"/>
                    <a:pt x="40" y="16"/>
                    <a:pt x="38" y="16"/>
                  </a:cubicBezTo>
                  <a:cubicBezTo>
                    <a:pt x="38" y="16"/>
                    <a:pt x="38" y="16"/>
                    <a:pt x="38" y="16"/>
                  </a:cubicBezTo>
                  <a:cubicBezTo>
                    <a:pt x="38" y="15"/>
                    <a:pt x="38" y="15"/>
                    <a:pt x="38" y="15"/>
                  </a:cubicBezTo>
                  <a:cubicBezTo>
                    <a:pt x="37" y="15"/>
                    <a:pt x="37" y="15"/>
                    <a:pt x="37" y="15"/>
                  </a:cubicBezTo>
                  <a:close/>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2" name="Freeform 138">
              <a:extLst>
                <a:ext uri="{FF2B5EF4-FFF2-40B4-BE49-F238E27FC236}">
                  <a16:creationId xmlns:a16="http://schemas.microsoft.com/office/drawing/2014/main" id="{82127D24-C41B-4AC6-BE3C-21DDE5E75A3E}"/>
                </a:ext>
              </a:extLst>
            </p:cNvPr>
            <p:cNvSpPr>
              <a:spLocks/>
            </p:cNvSpPr>
            <p:nvPr userDrawn="1"/>
          </p:nvSpPr>
          <p:spPr bwMode="auto">
            <a:xfrm>
              <a:off x="1239" y="750"/>
              <a:ext cx="10" cy="19"/>
            </a:xfrm>
            <a:custGeom>
              <a:avLst/>
              <a:gdLst>
                <a:gd name="T0" fmla="*/ 2 w 8"/>
                <a:gd name="T1" fmla="*/ 15 h 15"/>
                <a:gd name="T2" fmla="*/ 0 w 8"/>
                <a:gd name="T3" fmla="*/ 14 h 15"/>
                <a:gd name="T4" fmla="*/ 2 w 8"/>
                <a:gd name="T5" fmla="*/ 9 h 15"/>
                <a:gd name="T6" fmla="*/ 3 w 8"/>
                <a:gd name="T7" fmla="*/ 8 h 15"/>
                <a:gd name="T8" fmla="*/ 3 w 8"/>
                <a:gd name="T9" fmla="*/ 8 h 15"/>
                <a:gd name="T10" fmla="*/ 3 w 8"/>
                <a:gd name="T11" fmla="*/ 7 h 15"/>
                <a:gd name="T12" fmla="*/ 4 w 8"/>
                <a:gd name="T13" fmla="*/ 5 h 15"/>
                <a:gd name="T14" fmla="*/ 5 w 8"/>
                <a:gd name="T15" fmla="*/ 4 h 15"/>
                <a:gd name="T16" fmla="*/ 7 w 8"/>
                <a:gd name="T17" fmla="*/ 0 h 15"/>
                <a:gd name="T18" fmla="*/ 8 w 8"/>
                <a:gd name="T19" fmla="*/ 1 h 15"/>
                <a:gd name="T20" fmla="*/ 8 w 8"/>
                <a:gd name="T21" fmla="*/ 2 h 15"/>
                <a:gd name="T22" fmla="*/ 8 w 8"/>
                <a:gd name="T23" fmla="*/ 2 h 15"/>
                <a:gd name="T24" fmla="*/ 8 w 8"/>
                <a:gd name="T25" fmla="*/ 3 h 15"/>
                <a:gd name="T26" fmla="*/ 8 w 8"/>
                <a:gd name="T27" fmla="*/ 7 h 15"/>
                <a:gd name="T28" fmla="*/ 8 w 8"/>
                <a:gd name="T29" fmla="*/ 8 h 15"/>
                <a:gd name="T30" fmla="*/ 8 w 8"/>
                <a:gd name="T31" fmla="*/ 9 h 15"/>
                <a:gd name="T32" fmla="*/ 6 w 8"/>
                <a:gd name="T33" fmla="*/ 13 h 15"/>
                <a:gd name="T34" fmla="*/ 5 w 8"/>
                <a:gd name="T35" fmla="*/ 14 h 15"/>
                <a:gd name="T36" fmla="*/ 5 w 8"/>
                <a:gd name="T37" fmla="*/ 14 h 15"/>
                <a:gd name="T38" fmla="*/ 3 w 8"/>
                <a:gd name="T39" fmla="*/ 15 h 15"/>
                <a:gd name="T40" fmla="*/ 2 w 8"/>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 h="15">
                  <a:moveTo>
                    <a:pt x="2" y="15"/>
                  </a:moveTo>
                  <a:cubicBezTo>
                    <a:pt x="2" y="15"/>
                    <a:pt x="1" y="14"/>
                    <a:pt x="0" y="14"/>
                  </a:cubicBezTo>
                  <a:cubicBezTo>
                    <a:pt x="0" y="12"/>
                    <a:pt x="1" y="11"/>
                    <a:pt x="2" y="9"/>
                  </a:cubicBezTo>
                  <a:cubicBezTo>
                    <a:pt x="2" y="9"/>
                    <a:pt x="3" y="8"/>
                    <a:pt x="3" y="8"/>
                  </a:cubicBezTo>
                  <a:cubicBezTo>
                    <a:pt x="3" y="8"/>
                    <a:pt x="3" y="8"/>
                    <a:pt x="3" y="8"/>
                  </a:cubicBezTo>
                  <a:cubicBezTo>
                    <a:pt x="3" y="7"/>
                    <a:pt x="3" y="7"/>
                    <a:pt x="3" y="7"/>
                  </a:cubicBezTo>
                  <a:cubicBezTo>
                    <a:pt x="4" y="7"/>
                    <a:pt x="4" y="6"/>
                    <a:pt x="4" y="5"/>
                  </a:cubicBezTo>
                  <a:cubicBezTo>
                    <a:pt x="4" y="5"/>
                    <a:pt x="4" y="4"/>
                    <a:pt x="5" y="4"/>
                  </a:cubicBezTo>
                  <a:cubicBezTo>
                    <a:pt x="5" y="2"/>
                    <a:pt x="6" y="0"/>
                    <a:pt x="7" y="0"/>
                  </a:cubicBezTo>
                  <a:cubicBezTo>
                    <a:pt x="7" y="0"/>
                    <a:pt x="8" y="0"/>
                    <a:pt x="8" y="1"/>
                  </a:cubicBezTo>
                  <a:cubicBezTo>
                    <a:pt x="8" y="1"/>
                    <a:pt x="8" y="1"/>
                    <a:pt x="8" y="2"/>
                  </a:cubicBezTo>
                  <a:cubicBezTo>
                    <a:pt x="8" y="2"/>
                    <a:pt x="8" y="2"/>
                    <a:pt x="8" y="2"/>
                  </a:cubicBezTo>
                  <a:cubicBezTo>
                    <a:pt x="8" y="3"/>
                    <a:pt x="8" y="3"/>
                    <a:pt x="8" y="3"/>
                  </a:cubicBezTo>
                  <a:cubicBezTo>
                    <a:pt x="8" y="5"/>
                    <a:pt x="8" y="6"/>
                    <a:pt x="8" y="7"/>
                  </a:cubicBezTo>
                  <a:cubicBezTo>
                    <a:pt x="8" y="8"/>
                    <a:pt x="8" y="8"/>
                    <a:pt x="8" y="8"/>
                  </a:cubicBezTo>
                  <a:cubicBezTo>
                    <a:pt x="8" y="8"/>
                    <a:pt x="8" y="9"/>
                    <a:pt x="8" y="9"/>
                  </a:cubicBezTo>
                  <a:cubicBezTo>
                    <a:pt x="7" y="11"/>
                    <a:pt x="7" y="12"/>
                    <a:pt x="6" y="13"/>
                  </a:cubicBezTo>
                  <a:cubicBezTo>
                    <a:pt x="5" y="14"/>
                    <a:pt x="5" y="14"/>
                    <a:pt x="5" y="14"/>
                  </a:cubicBezTo>
                  <a:cubicBezTo>
                    <a:pt x="5" y="14"/>
                    <a:pt x="5" y="14"/>
                    <a:pt x="5" y="14"/>
                  </a:cubicBezTo>
                  <a:cubicBezTo>
                    <a:pt x="4" y="14"/>
                    <a:pt x="3" y="15"/>
                    <a:pt x="3" y="15"/>
                  </a:cubicBezTo>
                  <a:lnTo>
                    <a:pt x="2" y="15"/>
                  </a:lnTo>
                  <a:close/>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3" name="Freeform 139">
              <a:extLst>
                <a:ext uri="{FF2B5EF4-FFF2-40B4-BE49-F238E27FC236}">
                  <a16:creationId xmlns:a16="http://schemas.microsoft.com/office/drawing/2014/main" id="{26F3D97C-ECC2-4C9D-9C2E-A4BB54A56AD8}"/>
                </a:ext>
              </a:extLst>
            </p:cNvPr>
            <p:cNvSpPr>
              <a:spLocks/>
            </p:cNvSpPr>
            <p:nvPr userDrawn="1"/>
          </p:nvSpPr>
          <p:spPr bwMode="auto">
            <a:xfrm>
              <a:off x="1239" y="750"/>
              <a:ext cx="10" cy="19"/>
            </a:xfrm>
            <a:custGeom>
              <a:avLst/>
              <a:gdLst>
                <a:gd name="T0" fmla="*/ 2 w 8"/>
                <a:gd name="T1" fmla="*/ 15 h 15"/>
                <a:gd name="T2" fmla="*/ 3 w 8"/>
                <a:gd name="T3" fmla="*/ 15 h 15"/>
                <a:gd name="T4" fmla="*/ 5 w 8"/>
                <a:gd name="T5" fmla="*/ 14 h 15"/>
                <a:gd name="T6" fmla="*/ 5 w 8"/>
                <a:gd name="T7" fmla="*/ 14 h 15"/>
                <a:gd name="T8" fmla="*/ 6 w 8"/>
                <a:gd name="T9" fmla="*/ 13 h 15"/>
                <a:gd name="T10" fmla="*/ 8 w 8"/>
                <a:gd name="T11" fmla="*/ 9 h 15"/>
                <a:gd name="T12" fmla="*/ 8 w 8"/>
                <a:gd name="T13" fmla="*/ 8 h 15"/>
                <a:gd name="T14" fmla="*/ 8 w 8"/>
                <a:gd name="T15" fmla="*/ 7 h 15"/>
                <a:gd name="T16" fmla="*/ 8 w 8"/>
                <a:gd name="T17" fmla="*/ 3 h 15"/>
                <a:gd name="T18" fmla="*/ 8 w 8"/>
                <a:gd name="T19" fmla="*/ 2 h 15"/>
                <a:gd name="T20" fmla="*/ 8 w 8"/>
                <a:gd name="T21" fmla="*/ 2 h 15"/>
                <a:gd name="T22" fmla="*/ 8 w 8"/>
                <a:gd name="T23" fmla="*/ 2 h 15"/>
                <a:gd name="T24" fmla="*/ 8 w 8"/>
                <a:gd name="T25" fmla="*/ 1 h 15"/>
                <a:gd name="T26" fmla="*/ 7 w 8"/>
                <a:gd name="T27" fmla="*/ 0 h 15"/>
                <a:gd name="T28" fmla="*/ 5 w 8"/>
                <a:gd name="T29" fmla="*/ 4 h 15"/>
                <a:gd name="T30" fmla="*/ 4 w 8"/>
                <a:gd name="T31" fmla="*/ 5 h 15"/>
                <a:gd name="T32" fmla="*/ 3 w 8"/>
                <a:gd name="T33" fmla="*/ 7 h 15"/>
                <a:gd name="T34" fmla="*/ 3 w 8"/>
                <a:gd name="T35" fmla="*/ 8 h 15"/>
                <a:gd name="T36" fmla="*/ 3 w 8"/>
                <a:gd name="T37" fmla="*/ 8 h 15"/>
                <a:gd name="T38" fmla="*/ 2 w 8"/>
                <a:gd name="T39" fmla="*/ 9 h 15"/>
                <a:gd name="T40" fmla="*/ 0 w 8"/>
                <a:gd name="T41" fmla="*/ 14 h 15"/>
                <a:gd name="T42" fmla="*/ 2 w 8"/>
                <a:gd name="T43"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 h="15">
                  <a:moveTo>
                    <a:pt x="2" y="15"/>
                  </a:moveTo>
                  <a:cubicBezTo>
                    <a:pt x="3" y="15"/>
                    <a:pt x="3" y="15"/>
                    <a:pt x="3" y="15"/>
                  </a:cubicBezTo>
                  <a:cubicBezTo>
                    <a:pt x="3" y="15"/>
                    <a:pt x="4" y="14"/>
                    <a:pt x="5" y="14"/>
                  </a:cubicBezTo>
                  <a:cubicBezTo>
                    <a:pt x="5" y="14"/>
                    <a:pt x="5" y="14"/>
                    <a:pt x="5" y="14"/>
                  </a:cubicBezTo>
                  <a:cubicBezTo>
                    <a:pt x="6" y="13"/>
                    <a:pt x="6" y="13"/>
                    <a:pt x="6" y="13"/>
                  </a:cubicBezTo>
                  <a:cubicBezTo>
                    <a:pt x="7" y="12"/>
                    <a:pt x="7" y="10"/>
                    <a:pt x="8" y="9"/>
                  </a:cubicBezTo>
                  <a:cubicBezTo>
                    <a:pt x="8" y="9"/>
                    <a:pt x="8" y="8"/>
                    <a:pt x="8" y="8"/>
                  </a:cubicBezTo>
                  <a:cubicBezTo>
                    <a:pt x="8" y="7"/>
                    <a:pt x="8" y="7"/>
                    <a:pt x="8" y="7"/>
                  </a:cubicBezTo>
                  <a:cubicBezTo>
                    <a:pt x="8" y="6"/>
                    <a:pt x="8" y="5"/>
                    <a:pt x="8" y="3"/>
                  </a:cubicBezTo>
                  <a:cubicBezTo>
                    <a:pt x="8" y="3"/>
                    <a:pt x="8" y="3"/>
                    <a:pt x="8" y="2"/>
                  </a:cubicBezTo>
                  <a:cubicBezTo>
                    <a:pt x="8" y="2"/>
                    <a:pt x="8" y="2"/>
                    <a:pt x="8" y="2"/>
                  </a:cubicBezTo>
                  <a:cubicBezTo>
                    <a:pt x="8" y="2"/>
                    <a:pt x="8" y="2"/>
                    <a:pt x="8" y="2"/>
                  </a:cubicBezTo>
                  <a:cubicBezTo>
                    <a:pt x="8" y="1"/>
                    <a:pt x="8" y="1"/>
                    <a:pt x="8" y="1"/>
                  </a:cubicBezTo>
                  <a:cubicBezTo>
                    <a:pt x="8" y="0"/>
                    <a:pt x="7" y="0"/>
                    <a:pt x="7" y="0"/>
                  </a:cubicBezTo>
                  <a:cubicBezTo>
                    <a:pt x="6" y="0"/>
                    <a:pt x="5" y="2"/>
                    <a:pt x="5" y="4"/>
                  </a:cubicBezTo>
                  <a:cubicBezTo>
                    <a:pt x="5" y="4"/>
                    <a:pt x="4" y="5"/>
                    <a:pt x="4" y="5"/>
                  </a:cubicBezTo>
                  <a:cubicBezTo>
                    <a:pt x="4" y="6"/>
                    <a:pt x="4" y="7"/>
                    <a:pt x="3" y="7"/>
                  </a:cubicBezTo>
                  <a:cubicBezTo>
                    <a:pt x="3" y="8"/>
                    <a:pt x="3" y="8"/>
                    <a:pt x="3" y="8"/>
                  </a:cubicBezTo>
                  <a:cubicBezTo>
                    <a:pt x="3" y="8"/>
                    <a:pt x="3" y="8"/>
                    <a:pt x="3" y="8"/>
                  </a:cubicBezTo>
                  <a:cubicBezTo>
                    <a:pt x="3" y="8"/>
                    <a:pt x="2" y="9"/>
                    <a:pt x="2" y="9"/>
                  </a:cubicBezTo>
                  <a:cubicBezTo>
                    <a:pt x="1" y="11"/>
                    <a:pt x="0" y="12"/>
                    <a:pt x="0" y="14"/>
                  </a:cubicBezTo>
                  <a:cubicBezTo>
                    <a:pt x="1" y="14"/>
                    <a:pt x="2" y="15"/>
                    <a:pt x="2" y="15"/>
                  </a:cubicBezTo>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4" name="Freeform 140">
              <a:extLst>
                <a:ext uri="{FF2B5EF4-FFF2-40B4-BE49-F238E27FC236}">
                  <a16:creationId xmlns:a16="http://schemas.microsoft.com/office/drawing/2014/main" id="{8528C489-1E39-4EAA-916C-F5D4CBE01B68}"/>
                </a:ext>
              </a:extLst>
            </p:cNvPr>
            <p:cNvSpPr>
              <a:spLocks/>
            </p:cNvSpPr>
            <p:nvPr userDrawn="1"/>
          </p:nvSpPr>
          <p:spPr bwMode="auto">
            <a:xfrm>
              <a:off x="1229" y="757"/>
              <a:ext cx="7" cy="9"/>
            </a:xfrm>
            <a:custGeom>
              <a:avLst/>
              <a:gdLst>
                <a:gd name="T0" fmla="*/ 3 w 6"/>
                <a:gd name="T1" fmla="*/ 7 h 7"/>
                <a:gd name="T2" fmla="*/ 1 w 6"/>
                <a:gd name="T3" fmla="*/ 6 h 7"/>
                <a:gd name="T4" fmla="*/ 5 w 6"/>
                <a:gd name="T5" fmla="*/ 0 h 7"/>
                <a:gd name="T6" fmla="*/ 6 w 6"/>
                <a:gd name="T7" fmla="*/ 1 h 7"/>
                <a:gd name="T8" fmla="*/ 5 w 6"/>
                <a:gd name="T9" fmla="*/ 5 h 7"/>
                <a:gd name="T10" fmla="*/ 3 w 6"/>
                <a:gd name="T11" fmla="*/ 7 h 7"/>
              </a:gdLst>
              <a:ahLst/>
              <a:cxnLst>
                <a:cxn ang="0">
                  <a:pos x="T0" y="T1"/>
                </a:cxn>
                <a:cxn ang="0">
                  <a:pos x="T2" y="T3"/>
                </a:cxn>
                <a:cxn ang="0">
                  <a:pos x="T4" y="T5"/>
                </a:cxn>
                <a:cxn ang="0">
                  <a:pos x="T6" y="T7"/>
                </a:cxn>
                <a:cxn ang="0">
                  <a:pos x="T8" y="T9"/>
                </a:cxn>
                <a:cxn ang="0">
                  <a:pos x="T10" y="T11"/>
                </a:cxn>
              </a:cxnLst>
              <a:rect l="0" t="0" r="r" b="b"/>
              <a:pathLst>
                <a:path w="6" h="7">
                  <a:moveTo>
                    <a:pt x="3" y="7"/>
                  </a:moveTo>
                  <a:cubicBezTo>
                    <a:pt x="3" y="7"/>
                    <a:pt x="2" y="6"/>
                    <a:pt x="1" y="6"/>
                  </a:cubicBezTo>
                  <a:cubicBezTo>
                    <a:pt x="0" y="3"/>
                    <a:pt x="4" y="0"/>
                    <a:pt x="5" y="0"/>
                  </a:cubicBezTo>
                  <a:cubicBezTo>
                    <a:pt x="5" y="0"/>
                    <a:pt x="6" y="1"/>
                    <a:pt x="6" y="1"/>
                  </a:cubicBezTo>
                  <a:cubicBezTo>
                    <a:pt x="6" y="2"/>
                    <a:pt x="6" y="4"/>
                    <a:pt x="5" y="5"/>
                  </a:cubicBezTo>
                  <a:cubicBezTo>
                    <a:pt x="4" y="6"/>
                    <a:pt x="3" y="7"/>
                    <a:pt x="3" y="7"/>
                  </a:cubicBezTo>
                  <a:close/>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5" name="Freeform 141">
              <a:extLst>
                <a:ext uri="{FF2B5EF4-FFF2-40B4-BE49-F238E27FC236}">
                  <a16:creationId xmlns:a16="http://schemas.microsoft.com/office/drawing/2014/main" id="{B0DD7ED7-C458-43A1-A436-277A31301299}"/>
                </a:ext>
              </a:extLst>
            </p:cNvPr>
            <p:cNvSpPr>
              <a:spLocks/>
            </p:cNvSpPr>
            <p:nvPr userDrawn="1"/>
          </p:nvSpPr>
          <p:spPr bwMode="auto">
            <a:xfrm>
              <a:off x="1229" y="757"/>
              <a:ext cx="7" cy="9"/>
            </a:xfrm>
            <a:custGeom>
              <a:avLst/>
              <a:gdLst>
                <a:gd name="T0" fmla="*/ 3 w 6"/>
                <a:gd name="T1" fmla="*/ 7 h 7"/>
                <a:gd name="T2" fmla="*/ 3 w 6"/>
                <a:gd name="T3" fmla="*/ 7 h 7"/>
                <a:gd name="T4" fmla="*/ 5 w 6"/>
                <a:gd name="T5" fmla="*/ 5 h 7"/>
                <a:gd name="T6" fmla="*/ 6 w 6"/>
                <a:gd name="T7" fmla="*/ 1 h 7"/>
                <a:gd name="T8" fmla="*/ 5 w 6"/>
                <a:gd name="T9" fmla="*/ 0 h 7"/>
                <a:gd name="T10" fmla="*/ 1 w 6"/>
                <a:gd name="T11" fmla="*/ 6 h 7"/>
                <a:gd name="T12" fmla="*/ 3 w 6"/>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6" h="7">
                  <a:moveTo>
                    <a:pt x="3" y="7"/>
                  </a:moveTo>
                  <a:cubicBezTo>
                    <a:pt x="3" y="7"/>
                    <a:pt x="3" y="7"/>
                    <a:pt x="3" y="7"/>
                  </a:cubicBezTo>
                  <a:cubicBezTo>
                    <a:pt x="3" y="7"/>
                    <a:pt x="4" y="6"/>
                    <a:pt x="5" y="5"/>
                  </a:cubicBezTo>
                  <a:cubicBezTo>
                    <a:pt x="6" y="4"/>
                    <a:pt x="6" y="2"/>
                    <a:pt x="6" y="1"/>
                  </a:cubicBezTo>
                  <a:cubicBezTo>
                    <a:pt x="6" y="1"/>
                    <a:pt x="5" y="0"/>
                    <a:pt x="5" y="0"/>
                  </a:cubicBezTo>
                  <a:cubicBezTo>
                    <a:pt x="4" y="0"/>
                    <a:pt x="0" y="3"/>
                    <a:pt x="1" y="6"/>
                  </a:cubicBezTo>
                  <a:cubicBezTo>
                    <a:pt x="2" y="6"/>
                    <a:pt x="3" y="7"/>
                    <a:pt x="3" y="7"/>
                  </a:cubicBezTo>
                </a:path>
              </a:pathLst>
            </a:custGeom>
            <a:solidFill>
              <a:srgbClr val="003F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77" name="文本占位符 77">
            <a:extLst>
              <a:ext uri="{FF2B5EF4-FFF2-40B4-BE49-F238E27FC236}">
                <a16:creationId xmlns:a16="http://schemas.microsoft.com/office/drawing/2014/main" id="{C2EE9811-84DA-482E-9F23-3E456E5B5127}"/>
              </a:ext>
            </a:extLst>
          </p:cNvPr>
          <p:cNvSpPr>
            <a:spLocks noGrp="1"/>
          </p:cNvSpPr>
          <p:nvPr>
            <p:ph type="body" sz="quarter" idx="11" hasCustomPrompt="1"/>
          </p:nvPr>
        </p:nvSpPr>
        <p:spPr>
          <a:xfrm>
            <a:off x="1514476" y="2442615"/>
            <a:ext cx="7754400" cy="721821"/>
          </a:xfrm>
          <a:prstGeom prst="rect">
            <a:avLst/>
          </a:prstGeom>
        </p:spPr>
        <p:txBody>
          <a:bodyPr lIns="0" rIns="0" anchor="ctr"/>
          <a:lstStyle>
            <a:lvl1pPr marL="0" indent="0" algn="l">
              <a:lnSpc>
                <a:spcPct val="100000"/>
              </a:lnSpc>
              <a:buNone/>
              <a:defRPr sz="4800" b="1">
                <a:solidFill>
                  <a:schemeClr val="tx1"/>
                </a:solidFill>
                <a:latin typeface="方正粗雅宋简体" panose="02000000000000000000" pitchFamily="2" charset="-122"/>
                <a:ea typeface="方正粗雅宋简体" panose="02000000000000000000"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a:t>单击此处编辑答辩报告题目</a:t>
            </a:r>
          </a:p>
        </p:txBody>
      </p:sp>
      <p:sp>
        <p:nvSpPr>
          <p:cNvPr id="78" name="文本占位符 77">
            <a:extLst>
              <a:ext uri="{FF2B5EF4-FFF2-40B4-BE49-F238E27FC236}">
                <a16:creationId xmlns:a16="http://schemas.microsoft.com/office/drawing/2014/main" id="{156B0322-864D-4376-AB61-7454A2C85B9F}"/>
              </a:ext>
            </a:extLst>
          </p:cNvPr>
          <p:cNvSpPr>
            <a:spLocks noGrp="1"/>
          </p:cNvSpPr>
          <p:nvPr>
            <p:ph type="body" sz="quarter" idx="15" hasCustomPrompt="1"/>
          </p:nvPr>
        </p:nvSpPr>
        <p:spPr>
          <a:xfrm>
            <a:off x="1514476" y="3343161"/>
            <a:ext cx="3231228" cy="485081"/>
          </a:xfrm>
          <a:prstGeom prst="rect">
            <a:avLst/>
          </a:prstGeom>
        </p:spPr>
        <p:txBody>
          <a:bodyPr lIns="0" rIns="0" anchor="ctr"/>
          <a:lstStyle>
            <a:lvl1pPr marL="0" indent="0" algn="dist">
              <a:lnSpc>
                <a:spcPct val="100000"/>
              </a:lnSpc>
              <a:buNone/>
              <a:defRPr sz="2400" b="1">
                <a:solidFill>
                  <a:schemeClr val="tx2"/>
                </a:solidFill>
                <a:latin typeface="方正粗雅宋简体" panose="02000000000000000000" pitchFamily="2" charset="-122"/>
                <a:ea typeface="方正粗雅宋简体" panose="02000000000000000000"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a:t>单击编辑答辩副标题</a:t>
            </a:r>
          </a:p>
        </p:txBody>
      </p:sp>
    </p:spTree>
    <p:extLst>
      <p:ext uri="{BB962C8B-B14F-4D97-AF65-F5344CB8AC3E}">
        <p14:creationId xmlns:p14="http://schemas.microsoft.com/office/powerpoint/2010/main" val="22692994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10" name="文本占位符 9">
            <a:extLst>
              <a:ext uri="{FF2B5EF4-FFF2-40B4-BE49-F238E27FC236}">
                <a16:creationId xmlns:a16="http://schemas.microsoft.com/office/drawing/2014/main" id="{746AE2F3-10E1-4170-A2EB-CC91D8D36E6C}"/>
              </a:ext>
            </a:extLst>
          </p:cNvPr>
          <p:cNvSpPr>
            <a:spLocks noGrp="1"/>
          </p:cNvSpPr>
          <p:nvPr userDrawn="1">
            <p:ph type="body" sz="quarter" idx="15" hasCustomPrompt="1"/>
          </p:nvPr>
        </p:nvSpPr>
        <p:spPr>
          <a:xfrm>
            <a:off x="960840" y="1432866"/>
            <a:ext cx="1487488" cy="1595437"/>
          </a:xfrm>
          <a:prstGeom prst="rect">
            <a:avLst/>
          </a:prstGeom>
        </p:spPr>
        <p:txBody>
          <a:bodyPr lIns="0" rIns="0" anchor="ctr"/>
          <a:lstStyle>
            <a:lvl1pPr marL="0" indent="0">
              <a:buNone/>
              <a:defRPr sz="7200" b="1"/>
            </a:lvl1pPr>
            <a:lvl2pPr marL="457200" indent="0">
              <a:buNone/>
              <a:defRPr/>
            </a:lvl2pPr>
            <a:lvl3pPr marL="914400" indent="0">
              <a:buNone/>
              <a:defRPr/>
            </a:lvl3pPr>
            <a:lvl4pPr marL="1371600" indent="0">
              <a:buNone/>
              <a:defRPr/>
            </a:lvl4pPr>
            <a:lvl5pPr marL="1828800" indent="0">
              <a:buNone/>
              <a:defRPr/>
            </a:lvl5pPr>
          </a:lstStyle>
          <a:p>
            <a:pPr lvl="0"/>
            <a:r>
              <a:rPr lang="en-US" altLang="zh-CN"/>
              <a:t>NO</a:t>
            </a:r>
            <a:endParaRPr lang="zh-CN" altLang="en-US"/>
          </a:p>
        </p:txBody>
      </p:sp>
      <p:sp>
        <p:nvSpPr>
          <p:cNvPr id="11" name="文本占位符 77">
            <a:extLst>
              <a:ext uri="{FF2B5EF4-FFF2-40B4-BE49-F238E27FC236}">
                <a16:creationId xmlns:a16="http://schemas.microsoft.com/office/drawing/2014/main" id="{BF4F82D5-C68E-491F-9293-778C1F8DE085}"/>
              </a:ext>
            </a:extLst>
          </p:cNvPr>
          <p:cNvSpPr>
            <a:spLocks noGrp="1"/>
          </p:cNvSpPr>
          <p:nvPr userDrawn="1">
            <p:ph type="body" sz="quarter" idx="11" hasCustomPrompt="1"/>
          </p:nvPr>
        </p:nvSpPr>
        <p:spPr>
          <a:xfrm>
            <a:off x="960840" y="2785075"/>
            <a:ext cx="5330316" cy="721821"/>
          </a:xfrm>
          <a:prstGeom prst="rect">
            <a:avLst/>
          </a:prstGeom>
        </p:spPr>
        <p:txBody>
          <a:bodyPr lIns="0" tIns="0" rIns="0" bIns="0" anchor="ctr"/>
          <a:lstStyle>
            <a:lvl1pPr marL="0" indent="0" algn="l">
              <a:lnSpc>
                <a:spcPct val="100000"/>
              </a:lnSpc>
              <a:buNone/>
              <a:defRPr sz="2800" b="1">
                <a:solidFill>
                  <a:schemeClr val="tx1"/>
                </a:solidFill>
                <a:latin typeface="方正粗雅宋简体" panose="02000000000000000000" pitchFamily="2" charset="-122"/>
                <a:ea typeface="方正粗雅宋简体" panose="02000000000000000000"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a:t>单击此处编辑小节标题</a:t>
            </a:r>
          </a:p>
        </p:txBody>
      </p:sp>
      <p:sp>
        <p:nvSpPr>
          <p:cNvPr id="13" name="文本占位符 12">
            <a:extLst>
              <a:ext uri="{FF2B5EF4-FFF2-40B4-BE49-F238E27FC236}">
                <a16:creationId xmlns:a16="http://schemas.microsoft.com/office/drawing/2014/main" id="{D948172E-72B2-4D2B-B092-573CF97EE097}"/>
              </a:ext>
            </a:extLst>
          </p:cNvPr>
          <p:cNvSpPr>
            <a:spLocks noGrp="1"/>
          </p:cNvSpPr>
          <p:nvPr>
            <p:ph type="body" sz="quarter" idx="16" hasCustomPrompt="1"/>
          </p:nvPr>
        </p:nvSpPr>
        <p:spPr>
          <a:xfrm>
            <a:off x="960840" y="3429000"/>
            <a:ext cx="5210175" cy="1222597"/>
          </a:xfrm>
          <a:prstGeom prst="rect">
            <a:avLst/>
          </a:prstGeom>
        </p:spPr>
        <p:txBody>
          <a:bodyPr lIns="0" tIns="0" rIns="0" bIns="0" anchor="ctr">
            <a:normAutofit/>
          </a:bodyPr>
          <a:lstStyle>
            <a:lvl1pPr marL="0" indent="0">
              <a:lnSpc>
                <a:spcPct val="125000"/>
              </a:lnSpc>
              <a:spcBef>
                <a:spcPts val="0"/>
              </a:spcBef>
              <a:spcAft>
                <a:spcPts val="500"/>
              </a:spcAft>
              <a:buFontTx/>
              <a:buNone/>
              <a:defRPr sz="1600" b="1">
                <a:solidFill>
                  <a:schemeClr val="accent4"/>
                </a:solidFill>
                <a:latin typeface="+mj-ea"/>
                <a:ea typeface="+mj-ea"/>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单击此处输入小节标题的说明</a:t>
            </a:r>
            <a:endParaRPr lang="en-US" altLang="zh-CN"/>
          </a:p>
          <a:p>
            <a:pPr lvl="0"/>
            <a:r>
              <a:rPr lang="zh-CN" altLang="en-US"/>
              <a:t>比如背景、意义等</a:t>
            </a:r>
          </a:p>
        </p:txBody>
      </p:sp>
    </p:spTree>
    <p:extLst>
      <p:ext uri="{BB962C8B-B14F-4D97-AF65-F5344CB8AC3E}">
        <p14:creationId xmlns:p14="http://schemas.microsoft.com/office/powerpoint/2010/main" val="95319354"/>
      </p:ext>
    </p:extLst>
  </p:cSld>
  <p:clrMapOvr>
    <a:masterClrMapping/>
  </p:clrMapOvr>
  <p:transition spd="slow">
    <p:push di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tx1"/>
        </a:solidFill>
        <a:effectLst/>
      </p:bgPr>
    </p:bg>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duotone>
              <a:schemeClr val="bg2">
                <a:shade val="45000"/>
                <a:satMod val="135000"/>
              </a:schemeClr>
              <a:prstClr val="white"/>
            </a:duotone>
          </a:blip>
          <a:srcRect r="27993"/>
          <a:stretch>
            <a:fillRect/>
          </a:stretch>
        </p:blipFill>
        <p:spPr>
          <a:xfrm>
            <a:off x="1" y="-5557"/>
            <a:ext cx="12192000" cy="6863557"/>
          </a:xfrm>
          <a:prstGeom prst="rect">
            <a:avLst/>
          </a:prstGeom>
        </p:spPr>
      </p:pic>
      <p:sp>
        <p:nvSpPr>
          <p:cNvPr id="4" name="矩形 3"/>
          <p:cNvSpPr/>
          <p:nvPr userDrawn="1"/>
        </p:nvSpPr>
        <p:spPr>
          <a:xfrm>
            <a:off x="-3" y="2077796"/>
            <a:ext cx="12192000" cy="4780204"/>
          </a:xfrm>
          <a:prstGeom prst="rect">
            <a:avLst/>
          </a:prstGeom>
          <a:gradFill>
            <a:gsLst>
              <a:gs pos="0">
                <a:srgbClr val="010000">
                  <a:alpha val="0"/>
                </a:srgbClr>
              </a:gs>
              <a:gs pos="100000">
                <a:srgbClr val="010000">
                  <a:alpha val="8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5" name="矩形 4"/>
          <p:cNvSpPr/>
          <p:nvPr userDrawn="1"/>
        </p:nvSpPr>
        <p:spPr>
          <a:xfrm rot="10800000">
            <a:off x="-1" y="-5557"/>
            <a:ext cx="12191999" cy="3217764"/>
          </a:xfrm>
          <a:prstGeom prst="rect">
            <a:avLst/>
          </a:prstGeom>
          <a:gradFill>
            <a:gsLst>
              <a:gs pos="0">
                <a:srgbClr val="010000">
                  <a:alpha val="0"/>
                </a:srgbClr>
              </a:gs>
              <a:gs pos="100000">
                <a:srgbClr val="01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6" name="矩形 5"/>
          <p:cNvSpPr/>
          <p:nvPr userDrawn="1"/>
        </p:nvSpPr>
        <p:spPr>
          <a:xfrm>
            <a:off x="-1" y="0"/>
            <a:ext cx="12192001" cy="6811864"/>
          </a:xfrm>
          <a:prstGeom prst="rect">
            <a:avLst/>
          </a:prstGeom>
          <a:solidFill>
            <a:srgbClr val="080304">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7" name="文本框 6"/>
          <p:cNvSpPr txBox="1"/>
          <p:nvPr userDrawn="1"/>
        </p:nvSpPr>
        <p:spPr>
          <a:xfrm>
            <a:off x="4760680" y="564634"/>
            <a:ext cx="2670634" cy="369332"/>
          </a:xfrm>
          <a:prstGeom prst="rect">
            <a:avLst/>
          </a:prstGeom>
          <a:noFill/>
        </p:spPr>
        <p:txBody>
          <a:bodyPr wrap="square" rtlCol="0">
            <a:spAutoFit/>
          </a:bodyPr>
          <a:lstStyle>
            <a:defPPr>
              <a:defRPr lang="en-US"/>
            </a:defPPr>
            <a:lvl1pPr algn="dist">
              <a:defRPr sz="1600">
                <a:solidFill>
                  <a:schemeClr val="bg1"/>
                </a:solidFill>
                <a:latin typeface="+mj-ea"/>
                <a:ea typeface="+mj-ea"/>
              </a:defRPr>
            </a:lvl1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本</a:t>
            </a:r>
            <a:r>
              <a:rPr kumimoji="0" lang="en-US" altLang="zh-CN"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PPT</a:t>
            </a:r>
            <a:r>
              <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模板正参与</a:t>
            </a:r>
            <a:endParaRPr kumimoji="0" 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8" name="矩形 7"/>
          <p:cNvSpPr/>
          <p:nvPr userDrawn="1"/>
        </p:nvSpPr>
        <p:spPr>
          <a:xfrm>
            <a:off x="3602350" y="2482543"/>
            <a:ext cx="4987300" cy="400109"/>
          </a:xfrm>
          <a:prstGeom prst="rect">
            <a:avLst/>
          </a:prstGeom>
          <a:gradFill flip="none" rotWithShape="1">
            <a:gsLst>
              <a:gs pos="100000">
                <a:srgbClr val="CB9B53">
                  <a:alpha val="0"/>
                </a:srgbClr>
              </a:gs>
              <a:gs pos="0">
                <a:srgbClr val="CB9B53">
                  <a:alpha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2400" b="1" i="0" u="none" strike="noStrike" kern="1200" cap="none" spc="0" normalizeH="0" baseline="0" noProof="0">
              <a:ln>
                <a:noFill/>
              </a:ln>
              <a:solidFill>
                <a:srgbClr val="0E5177"/>
              </a:solidFill>
              <a:effectLst/>
              <a:uLnTx/>
              <a:uFillTx/>
              <a:latin typeface="Segoe UI" panose="020B0502040204020203"/>
              <a:ea typeface="微软雅黑" panose="020B0503020204020204" charset="-122"/>
              <a:cs typeface="+mn-cs"/>
            </a:endParaRPr>
          </a:p>
        </p:txBody>
      </p:sp>
      <p:sp>
        <p:nvSpPr>
          <p:cNvPr id="9" name="文本框 8"/>
          <p:cNvSpPr txBox="1"/>
          <p:nvPr userDrawn="1"/>
        </p:nvSpPr>
        <p:spPr>
          <a:xfrm>
            <a:off x="4049486" y="2517885"/>
            <a:ext cx="4093028" cy="338554"/>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 </a:t>
            </a:r>
            <a:r>
              <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第一届高校</a:t>
            </a:r>
            <a:r>
              <a:rPr kumimoji="0" lang="en-US" altLang="zh-CN"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PPT</a:t>
            </a:r>
            <a:r>
              <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模板设计大赛 </a:t>
            </a:r>
            <a:endParaRPr kumimoji="0" 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1" name="文本框 10"/>
          <p:cNvSpPr txBox="1"/>
          <p:nvPr userDrawn="1"/>
        </p:nvSpPr>
        <p:spPr>
          <a:xfrm>
            <a:off x="6133678" y="4824918"/>
            <a:ext cx="2545865" cy="1061381"/>
          </a:xfrm>
          <a:prstGeom prst="rect">
            <a:avLst/>
          </a:prstGeom>
          <a:noFill/>
        </p:spPr>
        <p:txBody>
          <a:bodyPr wrap="square" rtlCol="0">
            <a:spAutoFit/>
          </a:bodyPr>
          <a:lstStyle>
            <a:defPPr>
              <a:defRPr lang="en-US"/>
            </a:defPPr>
            <a:lvl1pPr algn="dist">
              <a:defRPr>
                <a:solidFill>
                  <a:schemeClr val="bg1"/>
                </a:solidFill>
                <a:latin typeface="+mj-ea"/>
                <a:ea typeface="+mj-ea"/>
              </a:defRPr>
            </a:lvl1p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150" normalizeH="0" baseline="0" noProof="0">
                <a:ln>
                  <a:noFill/>
                </a:ln>
                <a:solidFill>
                  <a:prstClr val="white"/>
                </a:solidFill>
                <a:effectLst/>
                <a:uLnTx/>
                <a:uFillTx/>
                <a:latin typeface="微软雅黑" panose="020B0503020204020204" charset="-122"/>
                <a:ea typeface="微软雅黑" panose="020B0503020204020204" charset="-122"/>
                <a:cs typeface="+mn-cs"/>
              </a:rPr>
              <a:t>微信扫码</a:t>
            </a:r>
            <a:endParaRPr kumimoji="0" lang="en-US" altLang="zh-CN" sz="1800" b="0" i="0" u="none" strike="noStrike" kern="1200" cap="none" spc="150" normalizeH="0" baseline="0" noProof="0">
              <a:ln>
                <a:noFill/>
              </a:ln>
              <a:solidFill>
                <a:prstClr val="white"/>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150" normalizeH="0" baseline="0" noProof="0">
                <a:ln>
                  <a:noFill/>
                </a:ln>
                <a:solidFill>
                  <a:prstClr val="white"/>
                </a:solidFill>
                <a:effectLst/>
                <a:uLnTx/>
                <a:uFillTx/>
                <a:latin typeface="微软雅黑" panose="020B0503020204020204" charset="-122"/>
                <a:ea typeface="微软雅黑" panose="020B0503020204020204" charset="-122"/>
                <a:cs typeface="+mn-cs"/>
              </a:rPr>
              <a:t>来聆听模板作者</a:t>
            </a:r>
            <a:endParaRPr kumimoji="0" lang="en-US" altLang="zh-CN" sz="1800" b="0" i="0" u="none" strike="noStrike" kern="1200" cap="none" spc="150" normalizeH="0" baseline="0" noProof="0">
              <a:ln>
                <a:noFill/>
              </a:ln>
              <a:solidFill>
                <a:prstClr val="white"/>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150" normalizeH="0" baseline="0" noProof="0">
                <a:ln>
                  <a:noFill/>
                </a:ln>
                <a:solidFill>
                  <a:prstClr val="white"/>
                </a:solidFill>
                <a:effectLst/>
                <a:uLnTx/>
                <a:uFillTx/>
                <a:latin typeface="微软雅黑" panose="020B0503020204020204" charset="-122"/>
                <a:ea typeface="微软雅黑" panose="020B0503020204020204" charset="-122"/>
                <a:cs typeface="+mn-cs"/>
              </a:rPr>
              <a:t>设计灵感、制作思路</a:t>
            </a:r>
            <a:endParaRPr kumimoji="0" lang="en-US" sz="1800" b="0" i="0" u="none" strike="noStrike" kern="1200" cap="none" spc="15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12" name="图片 11"/>
          <p:cNvPicPr>
            <a:picLocks noChangeAspect="1"/>
          </p:cNvPicPr>
          <p:nvPr userDrawn="1"/>
        </p:nvPicPr>
        <p:blipFill>
          <a:blip r:embed="rId3"/>
          <a:stretch>
            <a:fillRect/>
          </a:stretch>
        </p:blipFill>
        <p:spPr>
          <a:xfrm>
            <a:off x="-615419" y="3771974"/>
            <a:ext cx="13817069" cy="3996426"/>
          </a:xfrm>
          <a:prstGeom prst="rect">
            <a:avLst/>
          </a:prstGeom>
        </p:spPr>
      </p:pic>
      <p:pic>
        <p:nvPicPr>
          <p:cNvPr id="13" name="图片 12"/>
          <p:cNvPicPr>
            <a:picLocks noChangeAspect="1"/>
          </p:cNvPicPr>
          <p:nvPr userDrawn="1"/>
        </p:nvPicPr>
        <p:blipFill>
          <a:blip r:embed="rId4"/>
          <a:stretch>
            <a:fillRect/>
          </a:stretch>
        </p:blipFill>
        <p:spPr>
          <a:xfrm>
            <a:off x="1683657" y="716939"/>
            <a:ext cx="8824686" cy="1844708"/>
          </a:xfrm>
          <a:prstGeom prst="rect">
            <a:avLst/>
          </a:prstGeom>
        </p:spPr>
      </p:pic>
      <p:sp>
        <p:nvSpPr>
          <p:cNvPr id="14" name="文本框 13"/>
          <p:cNvSpPr txBox="1"/>
          <p:nvPr userDrawn="1"/>
        </p:nvSpPr>
        <p:spPr>
          <a:xfrm>
            <a:off x="3742050" y="2971888"/>
            <a:ext cx="1983605" cy="26161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prstClr val="white">
                    <a:lumMod val="75000"/>
                  </a:prstClr>
                </a:solidFill>
                <a:effectLst/>
                <a:uLnTx/>
                <a:uFillTx/>
                <a:latin typeface="微软雅黑" panose="020B0503020204020204" charset="-122"/>
                <a:ea typeface="微软雅黑" panose="020B0503020204020204" charset="-122"/>
                <a:cs typeface="+mn-cs"/>
              </a:rPr>
              <a:t>活动主办：秋叶</a:t>
            </a:r>
            <a:r>
              <a:rPr kumimoji="0" lang="en-US" altLang="zh-CN" sz="1100" b="0" i="0" u="none" strike="noStrike" kern="1200" cap="none" spc="0" normalizeH="0" baseline="0" noProof="0">
                <a:ln>
                  <a:noFill/>
                </a:ln>
                <a:solidFill>
                  <a:prstClr val="white">
                    <a:lumMod val="75000"/>
                  </a:prstClr>
                </a:solidFill>
                <a:effectLst/>
                <a:uLnTx/>
                <a:uFillTx/>
                <a:latin typeface="微软雅黑" panose="020B0503020204020204" charset="-122"/>
                <a:ea typeface="微软雅黑" panose="020B0503020204020204" charset="-122"/>
                <a:cs typeface="+mn-cs"/>
              </a:rPr>
              <a:t>PPT</a:t>
            </a:r>
            <a:endParaRPr kumimoji="0" lang="en-US" sz="1100" b="0" i="0" u="none" strike="noStrike" kern="1200" cap="none" spc="0" normalizeH="0" baseline="0" noProof="0">
              <a:ln>
                <a:noFill/>
              </a:ln>
              <a:solidFill>
                <a:prstClr val="white">
                  <a:lumMod val="75000"/>
                </a:prstClr>
              </a:solidFill>
              <a:effectLst/>
              <a:uLnTx/>
              <a:uFillTx/>
              <a:latin typeface="微软雅黑" panose="020B0503020204020204" charset="-122"/>
              <a:ea typeface="微软雅黑" panose="020B0503020204020204" charset="-122"/>
              <a:cs typeface="+mn-cs"/>
            </a:endParaRPr>
          </a:p>
        </p:txBody>
      </p:sp>
      <p:sp>
        <p:nvSpPr>
          <p:cNvPr id="15" name="文本框 14"/>
          <p:cNvSpPr txBox="1"/>
          <p:nvPr userDrawn="1"/>
        </p:nvSpPr>
        <p:spPr>
          <a:xfrm>
            <a:off x="6079638" y="2971888"/>
            <a:ext cx="2492943" cy="26161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prstClr val="white">
                    <a:lumMod val="75000"/>
                  </a:prstClr>
                </a:solidFill>
                <a:effectLst/>
                <a:uLnTx/>
                <a:uFillTx/>
                <a:latin typeface="微软雅黑" panose="020B0503020204020204" charset="-122"/>
                <a:ea typeface="微软雅黑" panose="020B0503020204020204" charset="-122"/>
                <a:cs typeface="+mn-cs"/>
              </a:rPr>
              <a:t>技术支持：微软听听文档</a:t>
            </a:r>
            <a:endParaRPr kumimoji="0" lang="en-US" sz="1100" b="0" i="0" u="none" strike="noStrike" kern="1200" cap="none" spc="0" normalizeH="0" baseline="0" noProof="0">
              <a:ln>
                <a:noFill/>
              </a:ln>
              <a:solidFill>
                <a:prstClr val="white">
                  <a:lumMod val="75000"/>
                </a:prstClr>
              </a:solidFill>
              <a:effectLst/>
              <a:uLnTx/>
              <a:uFillTx/>
              <a:latin typeface="微软雅黑" panose="020B0503020204020204" charset="-122"/>
              <a:ea typeface="微软雅黑" panose="020B0503020204020204" charset="-122"/>
              <a:cs typeface="+mn-cs"/>
            </a:endParaRPr>
          </a:p>
        </p:txBody>
      </p:sp>
      <p:sp>
        <p:nvSpPr>
          <p:cNvPr id="16" name="矩形 15"/>
          <p:cNvSpPr/>
          <p:nvPr userDrawn="1"/>
        </p:nvSpPr>
        <p:spPr>
          <a:xfrm>
            <a:off x="3600610" y="3494767"/>
            <a:ext cx="2318400" cy="2318400"/>
          </a:xfrm>
          <a:prstGeom prst="rect">
            <a:avLst/>
          </a:prstGeom>
          <a:solidFill>
            <a:schemeClr val="bg1"/>
          </a:solidFill>
          <a:ln w="57150">
            <a:solidFill>
              <a:srgbClr val="CB9B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标注页">
    <p:bg>
      <p:bgPr>
        <a:solidFill>
          <a:srgbClr val="E73A1C"/>
        </a:solidFill>
        <a:effectLst/>
      </p:bgPr>
    </p:bg>
    <p:spTree>
      <p:nvGrpSpPr>
        <p:cNvPr id="1" name=""/>
        <p:cNvGrpSpPr/>
        <p:nvPr/>
      </p:nvGrpSpPr>
      <p:grpSpPr>
        <a:xfrm>
          <a:off x="0" y="0"/>
          <a:ext cx="0" cy="0"/>
          <a:chOff x="0" y="0"/>
          <a:chExt cx="0" cy="0"/>
        </a:xfrm>
      </p:grpSpPr>
      <p:sp>
        <p:nvSpPr>
          <p:cNvPr id="6" name="矩形 5"/>
          <p:cNvSpPr/>
          <p:nvPr userDrawn="1"/>
        </p:nvSpPr>
        <p:spPr>
          <a:xfrm>
            <a:off x="440603" y="759873"/>
            <a:ext cx="646331" cy="369332"/>
          </a:xfrm>
          <a:prstGeom prst="rect">
            <a:avLst/>
          </a:prstGeom>
        </p:spPr>
        <p:txBody>
          <a:bodyPr wrap="none">
            <a:spAutoFit/>
          </a:bodyPr>
          <a:lstStyle/>
          <a:p>
            <a:pPr marL="0" marR="0" lvl="0" indent="0" defTabSz="6096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标注</a:t>
            </a:r>
            <a:endParaRPr kumimoji="0" lang="zh-CN" altLang="en-US" sz="180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p:txBody>
      </p:sp>
      <p:sp>
        <p:nvSpPr>
          <p:cNvPr id="11" name="矩形 10"/>
          <p:cNvSpPr/>
          <p:nvPr userDrawn="1"/>
        </p:nvSpPr>
        <p:spPr>
          <a:xfrm>
            <a:off x="2572589" y="759873"/>
            <a:ext cx="1402001" cy="2025170"/>
          </a:xfrm>
          <a:prstGeom prst="rect">
            <a:avLst/>
          </a:prstGeom>
        </p:spPr>
        <p:txBody>
          <a:bodyPr wrap="square">
            <a:spAutoFit/>
          </a:bodyPr>
          <a:lstStyle/>
          <a:p>
            <a:pPr marL="0" marR="0" lvl="0" indent="0" defTabSz="609600" eaLnBrk="1" fontAlgn="auto" latinLnBrk="0" hangingPunct="1">
              <a:lnSpc>
                <a:spcPct val="130000"/>
              </a:lnSpc>
              <a:spcBef>
                <a:spcPts val="0"/>
              </a:spcBef>
              <a:spcAft>
                <a:spcPts val="0"/>
              </a:spcAft>
              <a:buClrTx/>
              <a:buSzTx/>
              <a:buFontTx/>
              <a:buNone/>
              <a:defRPr/>
            </a:pP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使用说明 </a:t>
            </a:r>
            <a:endParaRPr kumimoji="0" lang="en-US" altLang="zh-CN" sz="140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endParaRPr kumimoji="0" lang="en-US" altLang="zh-CN" sz="140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endParaRPr kumimoji="0" lang="en-US" altLang="zh-CN" sz="140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声明</a:t>
            </a:r>
            <a:endParaRPr kumimoji="0" lang="en-US" altLang="zh-CN" sz="140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p:txBody>
      </p:sp>
      <p:sp>
        <p:nvSpPr>
          <p:cNvPr id="12" name="矩形 11"/>
          <p:cNvSpPr/>
          <p:nvPr userDrawn="1"/>
        </p:nvSpPr>
        <p:spPr>
          <a:xfrm>
            <a:off x="4153010" y="759873"/>
            <a:ext cx="7074345" cy="2585323"/>
          </a:xfrm>
          <a:prstGeom prst="rect">
            <a:avLst/>
          </a:prstGeom>
        </p:spPr>
        <p:txBody>
          <a:bodyPr wrap="square">
            <a:spAutoFit/>
          </a:bodyPr>
          <a:lstStyle/>
          <a:p>
            <a:pPr marL="0" marR="0" lvl="0" indent="0" defTabSz="914400" eaLnBrk="1" fontAlgn="auto" latinLnBrk="0" hangingPunct="1">
              <a:lnSpc>
                <a:spcPct val="130000"/>
              </a:lnSpc>
              <a:spcBef>
                <a:spcPts val="0"/>
              </a:spcBef>
              <a:spcAft>
                <a:spcPts val="0"/>
              </a:spcAft>
              <a:buClrTx/>
              <a:buSzTx/>
              <a:buFontTx/>
              <a:buNone/>
              <a:defRPr/>
            </a:pP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本</a:t>
            </a:r>
            <a:r>
              <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PPT</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模板为作者原创，著作权归作者所有。</a:t>
            </a: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914400" eaLnBrk="1" fontAlgn="auto" latinLnBrk="0" hangingPunct="1">
              <a:lnSpc>
                <a:spcPct val="130000"/>
              </a:lnSpc>
              <a:spcBef>
                <a:spcPts val="0"/>
              </a:spcBef>
              <a:spcAft>
                <a:spcPts val="0"/>
              </a:spcAft>
              <a:buClrTx/>
              <a:buSzTx/>
              <a:buFontTx/>
              <a:buNone/>
              <a:defRPr/>
            </a:pP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您仅可以个人非商业用途使用本</a:t>
            </a:r>
            <a:r>
              <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PPT</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模板，</a:t>
            </a:r>
            <a:r>
              <a:rPr kumimoji="0" lang="zh-CN" altLang="en-US" sz="1400" b="0" i="0" u="none" strike="noStrike" kern="1200" cap="none" spc="0" normalizeH="0" baseline="0" noProof="0">
                <a:ln>
                  <a:noFill/>
                </a:ln>
                <a:solidFill>
                  <a:prstClr val="white"/>
                </a:solidFill>
                <a:effectLst/>
                <a:uLnTx/>
                <a:uFillTx/>
                <a:latin typeface="+mn-lt"/>
                <a:ea typeface="微软雅黑" panose="020B0503020204020204" charset="-122"/>
                <a:cs typeface="+mn-cs"/>
              </a:rPr>
              <a:t>未经权利人书面明确授权，不可将信息内容的全部或部分用于出售，或以出租、出借、转让、分销、发布等其他任何方式供他人使用</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a:t>
            </a:r>
            <a:r>
              <a:rPr kumimoji="0" lang="zh-CN" altLang="en-US" sz="1400" b="0" i="0" u="none" strike="noStrike" kern="1200" cap="none" spc="0" normalizeH="0" baseline="0" noProof="0">
                <a:ln>
                  <a:noFill/>
                </a:ln>
                <a:solidFill>
                  <a:prstClr val="white"/>
                </a:solidFill>
                <a:effectLst/>
                <a:uLnTx/>
                <a:uFillTx/>
                <a:latin typeface="+mn-lt"/>
                <a:ea typeface="微软雅黑" panose="020B0503020204020204" charset="-122"/>
                <a:cs typeface="+mn-cs"/>
              </a:rPr>
              <a:t>否则将承担法律责任。</a:t>
            </a: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endParaRPr kumimoji="0" lang="en-US" altLang="zh-CN" sz="140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r>
              <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OfficePLUS</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尊重知识产权并注重保护用户享有的各项权利。</a:t>
            </a: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r>
              <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OfficePLUS</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拥有对本</a:t>
            </a:r>
            <a:r>
              <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PPT</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模板进行展示、报道、宣传及用于市场活动的权利，若在比赛或商业应用过程中发生版权纠纷，其法律责任由作者本人承担。</a:t>
            </a:r>
            <a:endParaRPr kumimoji="0" lang="zh-CN" altLang="en-US" sz="140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p:txBody>
      </p:sp>
      <p:sp>
        <p:nvSpPr>
          <p:cNvPr id="13" name="矩形 12"/>
          <p:cNvSpPr/>
          <p:nvPr userDrawn="1"/>
        </p:nvSpPr>
        <p:spPr>
          <a:xfrm>
            <a:off x="440603" y="182445"/>
            <a:ext cx="777777" cy="246221"/>
          </a:xfrm>
          <a:prstGeom prst="rect">
            <a:avLst/>
          </a:prstGeom>
        </p:spPr>
        <p:txBody>
          <a:bodyPr wrap="none">
            <a:spAutoFit/>
          </a:bodyPr>
          <a:lstStyle/>
          <a:p>
            <a:pPr marL="0" marR="0" lvl="0" indent="0" defTabSz="609600" eaLnBrk="1" fontAlgn="auto" latinLnBrk="0" hangingPunct="1">
              <a:lnSpc>
                <a:spcPct val="100000"/>
              </a:lnSpc>
              <a:spcBef>
                <a:spcPts val="0"/>
              </a:spcBef>
              <a:spcAft>
                <a:spcPts val="0"/>
              </a:spcAft>
              <a:buClrTx/>
              <a:buSzTx/>
              <a:buFontTx/>
              <a:buNone/>
              <a:defRPr/>
            </a:pPr>
            <a:r>
              <a:rPr kumimoji="1" lang="en-US" altLang="zh-CN" sz="1000" b="0" i="0" u="none" strike="noStrike" kern="0" cap="none" spc="0" normalizeH="0" baseline="0" noProof="0" dirty="0">
                <a:ln>
                  <a:noFill/>
                </a:ln>
                <a:solidFill>
                  <a:prstClr val="white"/>
                </a:solidFill>
                <a:effectLst/>
                <a:uLnTx/>
                <a:uFillTx/>
                <a:latin typeface="Segoe UI Light" panose="020B0502040204020203"/>
                <a:ea typeface="微软雅黑" panose="020B0503020204020204" charset="-122"/>
                <a:cs typeface="Segoe UI Light" panose="020B0502040204020203"/>
              </a:rPr>
              <a:t>OfficePLUS</a:t>
            </a:r>
            <a:endParaRPr kumimoji="0" lang="zh-CN" altLang="en-US" sz="1000" b="0" i="0" u="none" strike="noStrike" kern="0" cap="none" spc="0" normalizeH="0" baseline="0" noProof="0" dirty="0">
              <a:ln>
                <a:noFill/>
              </a:ln>
              <a:solidFill>
                <a:prstClr val="white"/>
              </a:solidFill>
              <a:effectLst/>
              <a:uLnTx/>
              <a:uFillTx/>
              <a:latin typeface="Segoe UI Light" panose="020B0502040204020203"/>
              <a:ea typeface="微软雅黑" panose="020B0503020204020204" charset="-122"/>
              <a:cs typeface="Segoe UI Light" panose="020B0502040204020203"/>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1" r:id="rId10"/>
    <p:sldLayoutId id="2147483662" r:id="rId11"/>
    <p:sldLayoutId id="2147483663" r:id="rId12"/>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hf hdr="0" ftr="0" dt="0"/>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9" r:id="rId1"/>
    <p:sldLayoutId id="214748366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microsoft.com/office/2007/relationships/hdphoto" Target="../media/hdphoto1.wdp"/><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microsoft.com/office/2007/relationships/hdphoto" Target="../media/hdphoto1.wdp"/><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tags" Target="../tags/tag2.xml"/><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microsoft.com/office/2007/relationships/hdphoto" Target="../media/hdphoto1.wdp"/><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microsoft.com/office/2007/relationships/hdphoto" Target="../media/hdphoto1.wdp"/><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xml"/><Relationship Id="rId1" Type="http://schemas.openxmlformats.org/officeDocument/2006/relationships/tags" Target="../tags/tag3.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xml"/><Relationship Id="rId1" Type="http://schemas.openxmlformats.org/officeDocument/2006/relationships/tags" Target="../tags/tag4.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xml"/><Relationship Id="rId1" Type="http://schemas.openxmlformats.org/officeDocument/2006/relationships/tags" Target="../tags/tag5.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5.xml"/><Relationship Id="rId1" Type="http://schemas.openxmlformats.org/officeDocument/2006/relationships/tags" Target="../tags/tag6.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xml"/><Relationship Id="rId1" Type="http://schemas.openxmlformats.org/officeDocument/2006/relationships/tags" Target="../tags/tag7.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5.xml"/><Relationship Id="rId1" Type="http://schemas.openxmlformats.org/officeDocument/2006/relationships/tags" Target="../tags/tag8.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xml"/><Relationship Id="rId1" Type="http://schemas.openxmlformats.org/officeDocument/2006/relationships/tags" Target="../tags/tag9.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5.xml"/><Relationship Id="rId1" Type="http://schemas.openxmlformats.org/officeDocument/2006/relationships/tags" Target="../tags/tag10.xml"/><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5.xml"/><Relationship Id="rId1" Type="http://schemas.openxmlformats.org/officeDocument/2006/relationships/tags" Target="../tags/tag11.xml"/><Relationship Id="rId4" Type="http://schemas.openxmlformats.org/officeDocument/2006/relationships/image" Target="../media/image16.jpeg"/></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4.xml"/><Relationship Id="rId5" Type="http://schemas.microsoft.com/office/2007/relationships/hdphoto" Target="../media/hdphoto1.wdp"/><Relationship Id="rId4" Type="http://schemas.openxmlformats.org/officeDocument/2006/relationships/image" Target="../media/image8.png"/></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4.xml"/><Relationship Id="rId5" Type="http://schemas.microsoft.com/office/2007/relationships/hdphoto" Target="../media/hdphoto1.wdp"/><Relationship Id="rId4" Type="http://schemas.openxmlformats.org/officeDocument/2006/relationships/image" Target="../media/image8.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2.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4.xml"/><Relationship Id="rId5" Type="http://schemas.microsoft.com/office/2007/relationships/hdphoto" Target="../media/hdphoto1.wdp"/><Relationship Id="rId4" Type="http://schemas.openxmlformats.org/officeDocument/2006/relationships/image" Target="../media/image8.png"/></Relationships>
</file>

<file path=ppt/slides/_rels/slide35.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35.xml"/><Relationship Id="rId1" Type="http://schemas.openxmlformats.org/officeDocument/2006/relationships/slideLayout" Target="../slideLayouts/slideLayout5.xml"/><Relationship Id="rId6" Type="http://schemas.openxmlformats.org/officeDocument/2006/relationships/image" Target="../media/image21.jpg"/><Relationship Id="rId5" Type="http://schemas.openxmlformats.org/officeDocument/2006/relationships/image" Target="../media/image20.jpg"/><Relationship Id="rId4" Type="http://schemas.openxmlformats.org/officeDocument/2006/relationships/image" Target="../media/image19.png"/></Relationships>
</file>

<file path=ppt/slides/_rels/slide36.xml.rels><?xml version="1.0" encoding="UTF-8" standalone="yes"?>
<Relationships xmlns="http://schemas.openxmlformats.org/package/2006/relationships"><Relationship Id="rId8" Type="http://schemas.openxmlformats.org/officeDocument/2006/relationships/image" Target="../media/image27.jpg"/><Relationship Id="rId3" Type="http://schemas.openxmlformats.org/officeDocument/2006/relationships/image" Target="../media/image22.jpg"/><Relationship Id="rId7" Type="http://schemas.openxmlformats.org/officeDocument/2006/relationships/image" Target="../media/image26.jpg"/><Relationship Id="rId2" Type="http://schemas.openxmlformats.org/officeDocument/2006/relationships/notesSlide" Target="../notesSlides/notesSlide36.xml"/><Relationship Id="rId1" Type="http://schemas.openxmlformats.org/officeDocument/2006/relationships/slideLayout" Target="../slideLayouts/slideLayout5.xml"/><Relationship Id="rId6" Type="http://schemas.openxmlformats.org/officeDocument/2006/relationships/image" Target="../media/image25.jpg"/><Relationship Id="rId11" Type="http://schemas.openxmlformats.org/officeDocument/2006/relationships/image" Target="../media/image30.png"/><Relationship Id="rId5" Type="http://schemas.openxmlformats.org/officeDocument/2006/relationships/image" Target="../media/image24.jp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jpg"/></Relationships>
</file>

<file path=ppt/slides/_rels/slide37.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png"/><Relationship Id="rId18" Type="http://schemas.openxmlformats.org/officeDocument/2006/relationships/image" Target="../media/image46.jpg"/><Relationship Id="rId3" Type="http://schemas.openxmlformats.org/officeDocument/2006/relationships/image" Target="../media/image31.png"/><Relationship Id="rId7" Type="http://schemas.openxmlformats.org/officeDocument/2006/relationships/image" Target="../media/image35.png"/><Relationship Id="rId12" Type="http://schemas.openxmlformats.org/officeDocument/2006/relationships/image" Target="../media/image40.png"/><Relationship Id="rId17" Type="http://schemas.openxmlformats.org/officeDocument/2006/relationships/image" Target="../media/image45.jpg"/><Relationship Id="rId2" Type="http://schemas.openxmlformats.org/officeDocument/2006/relationships/notesSlide" Target="../notesSlides/notesSlide37.xml"/><Relationship Id="rId16" Type="http://schemas.openxmlformats.org/officeDocument/2006/relationships/image" Target="../media/image44.png"/><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5" Type="http://schemas.openxmlformats.org/officeDocument/2006/relationships/image" Target="../media/image43.pn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png"/><Relationship Id="rId14" Type="http://schemas.openxmlformats.org/officeDocument/2006/relationships/image" Target="../media/image42.png"/></Relationships>
</file>

<file path=ppt/slides/_rels/slide3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png"/><Relationship Id="rId18" Type="http://schemas.openxmlformats.org/officeDocument/2006/relationships/image" Target="../media/image46.jpg"/><Relationship Id="rId3" Type="http://schemas.openxmlformats.org/officeDocument/2006/relationships/image" Target="../media/image31.png"/><Relationship Id="rId7" Type="http://schemas.openxmlformats.org/officeDocument/2006/relationships/image" Target="../media/image35.png"/><Relationship Id="rId12" Type="http://schemas.openxmlformats.org/officeDocument/2006/relationships/image" Target="../media/image40.png"/><Relationship Id="rId17" Type="http://schemas.openxmlformats.org/officeDocument/2006/relationships/image" Target="../media/image45.jpg"/><Relationship Id="rId2" Type="http://schemas.openxmlformats.org/officeDocument/2006/relationships/notesSlide" Target="../notesSlides/notesSlide38.xml"/><Relationship Id="rId16" Type="http://schemas.openxmlformats.org/officeDocument/2006/relationships/image" Target="../media/image44.png"/><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5" Type="http://schemas.openxmlformats.org/officeDocument/2006/relationships/image" Target="../media/image43.png"/><Relationship Id="rId10" Type="http://schemas.openxmlformats.org/officeDocument/2006/relationships/image" Target="../media/image38.png"/><Relationship Id="rId19" Type="http://schemas.openxmlformats.org/officeDocument/2006/relationships/image" Target="../media/image20.jpg"/><Relationship Id="rId4" Type="http://schemas.openxmlformats.org/officeDocument/2006/relationships/image" Target="../media/image32.png"/><Relationship Id="rId9" Type="http://schemas.openxmlformats.org/officeDocument/2006/relationships/image" Target="../media/image37.png"/><Relationship Id="rId14" Type="http://schemas.openxmlformats.org/officeDocument/2006/relationships/image" Target="../media/image42.png"/></Relationships>
</file>

<file path=ppt/slides/_rels/slide3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8" Type="http://schemas.openxmlformats.org/officeDocument/2006/relationships/image" Target="../media/image53.jpg"/><Relationship Id="rId3" Type="http://schemas.openxmlformats.org/officeDocument/2006/relationships/image" Target="../media/image48.jpg"/><Relationship Id="rId7" Type="http://schemas.openxmlformats.org/officeDocument/2006/relationships/image" Target="../media/image52.jpg"/><Relationship Id="rId2" Type="http://schemas.openxmlformats.org/officeDocument/2006/relationships/notesSlide" Target="../notesSlides/notesSlide40.xml"/><Relationship Id="rId1" Type="http://schemas.openxmlformats.org/officeDocument/2006/relationships/slideLayout" Target="../slideLayouts/slideLayout5.xml"/><Relationship Id="rId6" Type="http://schemas.openxmlformats.org/officeDocument/2006/relationships/image" Target="../media/image51.jpg"/><Relationship Id="rId11" Type="http://schemas.openxmlformats.org/officeDocument/2006/relationships/image" Target="../media/image56.jpg"/><Relationship Id="rId5" Type="http://schemas.openxmlformats.org/officeDocument/2006/relationships/image" Target="../media/image50.jpg"/><Relationship Id="rId10" Type="http://schemas.openxmlformats.org/officeDocument/2006/relationships/image" Target="../media/image55.jpg"/><Relationship Id="rId4" Type="http://schemas.openxmlformats.org/officeDocument/2006/relationships/image" Target="../media/image49.jpg"/><Relationship Id="rId9" Type="http://schemas.openxmlformats.org/officeDocument/2006/relationships/image" Target="../media/image54.jpg"/></Relationships>
</file>

<file path=ppt/slides/_rels/slide41.xml.rels><?xml version="1.0" encoding="UTF-8" standalone="yes"?>
<Relationships xmlns="http://schemas.openxmlformats.org/package/2006/relationships"><Relationship Id="rId3" Type="http://schemas.openxmlformats.org/officeDocument/2006/relationships/image" Target="../media/image57.jpg"/><Relationship Id="rId2" Type="http://schemas.openxmlformats.org/officeDocument/2006/relationships/notesSlide" Target="../notesSlides/notesSlide41.xml"/><Relationship Id="rId1" Type="http://schemas.openxmlformats.org/officeDocument/2006/relationships/slideLayout" Target="../slideLayouts/slideLayout5.xml"/><Relationship Id="rId4" Type="http://schemas.openxmlformats.org/officeDocument/2006/relationships/image" Target="../media/image58.jpg"/></Relationships>
</file>

<file path=ppt/slides/_rels/slide4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8" Type="http://schemas.openxmlformats.org/officeDocument/2006/relationships/image" Target="../media/image65.jpg"/><Relationship Id="rId13" Type="http://schemas.openxmlformats.org/officeDocument/2006/relationships/image" Target="../media/image70.png"/><Relationship Id="rId18" Type="http://schemas.openxmlformats.org/officeDocument/2006/relationships/image" Target="../media/image75.png"/><Relationship Id="rId3" Type="http://schemas.openxmlformats.org/officeDocument/2006/relationships/image" Target="../media/image60.jpg"/><Relationship Id="rId21" Type="http://schemas.openxmlformats.org/officeDocument/2006/relationships/image" Target="../media/image78.png"/><Relationship Id="rId7" Type="http://schemas.openxmlformats.org/officeDocument/2006/relationships/image" Target="../media/image64.png"/><Relationship Id="rId12" Type="http://schemas.openxmlformats.org/officeDocument/2006/relationships/image" Target="../media/image69.png"/><Relationship Id="rId17" Type="http://schemas.openxmlformats.org/officeDocument/2006/relationships/image" Target="../media/image74.jpg"/><Relationship Id="rId2" Type="http://schemas.openxmlformats.org/officeDocument/2006/relationships/notesSlide" Target="../notesSlides/notesSlide43.xml"/><Relationship Id="rId16" Type="http://schemas.openxmlformats.org/officeDocument/2006/relationships/image" Target="../media/image73.png"/><Relationship Id="rId20" Type="http://schemas.openxmlformats.org/officeDocument/2006/relationships/image" Target="../media/image77.jpg"/><Relationship Id="rId1" Type="http://schemas.openxmlformats.org/officeDocument/2006/relationships/slideLayout" Target="../slideLayouts/slideLayout5.xml"/><Relationship Id="rId6" Type="http://schemas.openxmlformats.org/officeDocument/2006/relationships/image" Target="../media/image63.png"/><Relationship Id="rId11" Type="http://schemas.openxmlformats.org/officeDocument/2006/relationships/image" Target="../media/image68.jpg"/><Relationship Id="rId5" Type="http://schemas.openxmlformats.org/officeDocument/2006/relationships/image" Target="../media/image62.jpg"/><Relationship Id="rId15" Type="http://schemas.openxmlformats.org/officeDocument/2006/relationships/image" Target="../media/image72.jpg"/><Relationship Id="rId23" Type="http://schemas.openxmlformats.org/officeDocument/2006/relationships/image" Target="../media/image80.jpg"/><Relationship Id="rId10" Type="http://schemas.openxmlformats.org/officeDocument/2006/relationships/image" Target="../media/image67.jpg"/><Relationship Id="rId19" Type="http://schemas.openxmlformats.org/officeDocument/2006/relationships/image" Target="../media/image76.png"/><Relationship Id="rId4" Type="http://schemas.openxmlformats.org/officeDocument/2006/relationships/image" Target="../media/image61.png"/><Relationship Id="rId9" Type="http://schemas.openxmlformats.org/officeDocument/2006/relationships/image" Target="../media/image66.png"/><Relationship Id="rId14" Type="http://schemas.openxmlformats.org/officeDocument/2006/relationships/image" Target="../media/image71.png"/><Relationship Id="rId22" Type="http://schemas.openxmlformats.org/officeDocument/2006/relationships/image" Target="../media/image79.jp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5.xml"/><Relationship Id="rId1" Type="http://schemas.openxmlformats.org/officeDocument/2006/relationships/slideLayout" Target="../slideLayouts/slideLayout4.xml"/><Relationship Id="rId5" Type="http://schemas.microsoft.com/office/2007/relationships/hdphoto" Target="../media/hdphoto1.wdp"/><Relationship Id="rId4" Type="http://schemas.openxmlformats.org/officeDocument/2006/relationships/image" Target="../media/image8.png"/></Relationships>
</file>

<file path=ppt/slides/_rels/slide46.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82.png"/><Relationship Id="rId7" Type="http://schemas.openxmlformats.org/officeDocument/2006/relationships/image" Target="../media/image86.png"/><Relationship Id="rId2" Type="http://schemas.openxmlformats.org/officeDocument/2006/relationships/notesSlide" Target="../notesSlides/notesSlide49.xml"/><Relationship Id="rId1" Type="http://schemas.openxmlformats.org/officeDocument/2006/relationships/slideLayout" Target="../slideLayouts/slideLayout5.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50.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82.png"/><Relationship Id="rId7" Type="http://schemas.openxmlformats.org/officeDocument/2006/relationships/image" Target="../media/image86.png"/><Relationship Id="rId2" Type="http://schemas.openxmlformats.org/officeDocument/2006/relationships/notesSlide" Target="../notesSlides/notesSlide50.xml"/><Relationship Id="rId1" Type="http://schemas.openxmlformats.org/officeDocument/2006/relationships/slideLayout" Target="../slideLayouts/slideLayout5.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51.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82.png"/><Relationship Id="rId7" Type="http://schemas.openxmlformats.org/officeDocument/2006/relationships/image" Target="../media/image86.png"/><Relationship Id="rId2" Type="http://schemas.openxmlformats.org/officeDocument/2006/relationships/notesSlide" Target="../notesSlides/notesSlide51.xml"/><Relationship Id="rId1" Type="http://schemas.openxmlformats.org/officeDocument/2006/relationships/slideLayout" Target="../slideLayouts/slideLayout5.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52.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82.png"/><Relationship Id="rId7" Type="http://schemas.openxmlformats.org/officeDocument/2006/relationships/image" Target="../media/image86.png"/><Relationship Id="rId2" Type="http://schemas.openxmlformats.org/officeDocument/2006/relationships/notesSlide" Target="../notesSlides/notesSlide52.xml"/><Relationship Id="rId1" Type="http://schemas.openxmlformats.org/officeDocument/2006/relationships/slideLayout" Target="../slideLayouts/slideLayout5.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53.xml.rels><?xml version="1.0" encoding="UTF-8" standalone="yes"?>
<Relationships xmlns="http://schemas.openxmlformats.org/package/2006/relationships"><Relationship Id="rId3" Type="http://schemas.openxmlformats.org/officeDocument/2006/relationships/image" Target="../media/image82.png"/><Relationship Id="rId7" Type="http://schemas.openxmlformats.org/officeDocument/2006/relationships/image" Target="../media/image88.png"/><Relationship Id="rId2" Type="http://schemas.openxmlformats.org/officeDocument/2006/relationships/notesSlide" Target="../notesSlides/notesSlide53.xml"/><Relationship Id="rId1" Type="http://schemas.openxmlformats.org/officeDocument/2006/relationships/slideLayout" Target="../slideLayouts/slideLayout5.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5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4.xml"/><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5.xml"/><Relationship Id="rId1" Type="http://schemas.openxmlformats.org/officeDocument/2006/relationships/slideLayout" Target="../slideLayouts/slideLayout4.xml"/><Relationship Id="rId5" Type="http://schemas.microsoft.com/office/2007/relationships/hdphoto" Target="../media/hdphoto1.wdp"/><Relationship Id="rId4" Type="http://schemas.openxmlformats.org/officeDocument/2006/relationships/image" Target="../media/image8.png"/></Relationships>
</file>

<file path=ppt/slides/_rels/slide57.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57.xml"/><Relationship Id="rId1" Type="http://schemas.openxmlformats.org/officeDocument/2006/relationships/slideLayout" Target="../slideLayouts/slideLayout5.xml"/><Relationship Id="rId4" Type="http://schemas.openxmlformats.org/officeDocument/2006/relationships/hyperlink" Target="https://zhuanlan.zhihu.com/p/57021068" TargetMode="External"/></Relationships>
</file>

<file path=ppt/slides/_rels/slide59.xml.rels><?xml version="1.0" encoding="UTF-8" standalone="yes"?>
<Relationships xmlns="http://schemas.openxmlformats.org/package/2006/relationships"><Relationship Id="rId3" Type="http://schemas.openxmlformats.org/officeDocument/2006/relationships/hyperlink" Target="https://www.parasoft.com/blog/implementing-qa-in-a-ci-cd-pipeline/" TargetMode="External"/><Relationship Id="rId2" Type="http://schemas.openxmlformats.org/officeDocument/2006/relationships/image" Target="../media/image91.png"/><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58.xml"/><Relationship Id="rId1" Type="http://schemas.openxmlformats.org/officeDocument/2006/relationships/slideLayout" Target="../slideLayouts/slideLayout5.xml"/><Relationship Id="rId4" Type="http://schemas.openxmlformats.org/officeDocument/2006/relationships/hyperlink" Target="https://www.freesion.com/article/8816805023/" TargetMode="External"/></Relationships>
</file>

<file path=ppt/slides/_rels/slide6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9.xml"/><Relationship Id="rId1" Type="http://schemas.openxmlformats.org/officeDocument/2006/relationships/slideLayout" Target="../slideLayouts/slideLayout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60.xml"/><Relationship Id="rId1" Type="http://schemas.openxmlformats.org/officeDocument/2006/relationships/slideLayout" Target="../slideLayouts/slideLayout5.xml"/><Relationship Id="rId4" Type="http://schemas.openxmlformats.org/officeDocument/2006/relationships/hyperlink" Target="https://www.infoq.cn/article/c-LHJS2ksuDxp1WkrGl4" TargetMode="External"/></Relationships>
</file>

<file path=ppt/slides/_rels/slide64.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61.xml"/><Relationship Id="rId1" Type="http://schemas.openxmlformats.org/officeDocument/2006/relationships/slideLayout" Target="../slideLayouts/slideLayout5.xml"/><Relationship Id="rId5" Type="http://schemas.openxmlformats.org/officeDocument/2006/relationships/image" Target="../media/image96.png"/><Relationship Id="rId4" Type="http://schemas.openxmlformats.org/officeDocument/2006/relationships/image" Target="../media/image95.png"/></Relationships>
</file>

<file path=ppt/slides/_rels/slide65.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62.xml"/><Relationship Id="rId1" Type="http://schemas.openxmlformats.org/officeDocument/2006/relationships/slideLayout" Target="../slideLayouts/slideLayout5.xml"/><Relationship Id="rId4" Type="http://schemas.openxmlformats.org/officeDocument/2006/relationships/hyperlink" Target="https://www.freesion.com/article/9036211162/" TargetMode="External"/></Relationships>
</file>

<file path=ppt/slides/_rels/slide66.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63.xml"/><Relationship Id="rId1" Type="http://schemas.openxmlformats.org/officeDocument/2006/relationships/slideLayout" Target="../slideLayouts/slideLayout5.xml"/><Relationship Id="rId4" Type="http://schemas.openxmlformats.org/officeDocument/2006/relationships/hyperlink" Target="https://www.techug.com/post/continuous-integration.html" TargetMode="External"/></Relationships>
</file>

<file path=ppt/slides/_rels/slide67.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64.xml"/><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65.xml"/><Relationship Id="rId1" Type="http://schemas.openxmlformats.org/officeDocument/2006/relationships/slideLayout" Target="../slideLayouts/slideLayout5.xml"/><Relationship Id="rId4" Type="http://schemas.openxmlformats.org/officeDocument/2006/relationships/hyperlink" Target="https://zhuanlan.zhihu.com/p/57021068" TargetMode="External"/></Relationships>
</file>

<file path=ppt/slides/_rels/slide69.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66.xml"/><Relationship Id="rId1" Type="http://schemas.openxmlformats.org/officeDocument/2006/relationships/slideLayout" Target="../slideLayouts/slideLayout5.xml"/><Relationship Id="rId4" Type="http://schemas.openxmlformats.org/officeDocument/2006/relationships/hyperlink" Target="https://www.parasoft.com/blog/implementing-qa-in-a-ci-cd-pipeline/" TargetMode="Externa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69.xml"/><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70.xml"/><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71.xml"/><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72.xml"/><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73.xml"/><Relationship Id="rId1" Type="http://schemas.openxmlformats.org/officeDocument/2006/relationships/slideLayout" Target="../slideLayouts/slideLayout5.xml"/><Relationship Id="rId4" Type="http://schemas.openxmlformats.org/officeDocument/2006/relationships/image" Target="../media/image103.png"/></Relationships>
</file>

<file path=ppt/slides/_rels/slide77.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74.xml"/><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75.xml"/><Relationship Id="rId1" Type="http://schemas.openxmlformats.org/officeDocument/2006/relationships/slideLayout" Target="../slideLayouts/slideLayout5.xml"/><Relationship Id="rId4" Type="http://schemas.openxmlformats.org/officeDocument/2006/relationships/image" Target="../media/image105.png"/></Relationships>
</file>

<file path=ppt/slides/_rels/slide79.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76.xml"/><Relationship Id="rId1" Type="http://schemas.openxmlformats.org/officeDocument/2006/relationships/slideLayout" Target="../slideLayouts/slideLayout5.xml"/><Relationship Id="rId5" Type="http://schemas.openxmlformats.org/officeDocument/2006/relationships/image" Target="../media/image106.png"/><Relationship Id="rId4" Type="http://schemas.openxmlformats.org/officeDocument/2006/relationships/image" Target="../media/image105.png"/></Relationships>
</file>

<file path=ppt/slides/_rels/slide80.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77.xml"/><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78.xml"/><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79.xml"/><Relationship Id="rId1" Type="http://schemas.openxmlformats.org/officeDocument/2006/relationships/slideLayout" Target="../slideLayouts/slideLayout5.xml"/><Relationship Id="rId4" Type="http://schemas.openxmlformats.org/officeDocument/2006/relationships/hyperlink" Target="https://pixabay.com/zh/illustrations/%E7%BA%BD%E7%BA%A6-%E7%BD%91%E7%BB%9C-%E6%95%B0%E6%8D%AE-%E4%BF%A1%E6%81%AF-%E6%8A%80%E6%9C%AF-3376145/" TargetMode="Externa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81.xml"/><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82.xml"/><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83.xml"/><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84.xml"/><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85.xml"/><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6.xml"/><Relationship Id="rId1" Type="http://schemas.openxmlformats.org/officeDocument/2006/relationships/slideLayout" Target="../slideLayouts/slideLayout5.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0.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png"/><Relationship Id="rId1" Type="http://schemas.openxmlformats.org/officeDocument/2006/relationships/slideLayout" Target="../slideLayouts/slideLayout5.xml"/><Relationship Id="rId5" Type="http://schemas.openxmlformats.org/officeDocument/2006/relationships/image" Target="../media/image118.png"/><Relationship Id="rId4" Type="http://schemas.openxmlformats.org/officeDocument/2006/relationships/image" Target="../media/image117.png"/></Relationships>
</file>

<file path=ppt/slides/_rels/slide91.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9.png"/><Relationship Id="rId1" Type="http://schemas.openxmlformats.org/officeDocument/2006/relationships/slideLayout" Target="../slideLayouts/slideLayout5.xml"/><Relationship Id="rId4" Type="http://schemas.openxmlformats.org/officeDocument/2006/relationships/image" Target="../media/image121.png"/></Relationships>
</file>

<file path=ppt/slides/_rels/slide92.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24.png"/><Relationship Id="rId1" Type="http://schemas.openxmlformats.org/officeDocument/2006/relationships/slideLayout" Target="../slideLayouts/slideLayout5.xml"/></Relationships>
</file>

<file path=ppt/slides/_rels/slide94.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87.xml"/><Relationship Id="rId1" Type="http://schemas.openxmlformats.org/officeDocument/2006/relationships/slideLayout" Target="../slideLayouts/slideLayout5.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9.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5.xml"/></Relationships>
</file>

<file path=ppt/slides/_rels/slide110.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image" Target="../media/image128.png"/><Relationship Id="rId1" Type="http://schemas.openxmlformats.org/officeDocument/2006/relationships/slideLayout" Target="../slideLayouts/slideLayout5.xml"/></Relationships>
</file>

<file path=ppt/slides/_rels/slide111.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5.xml"/></Relationships>
</file>

<file path=ppt/slides/_rels/slide112.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5.xml"/></Relationships>
</file>

<file path=ppt/slides/_rels/slide113.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5.xml"/></Relationships>
</file>

<file path=ppt/slides/_rels/slide1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50"/>
          <p:cNvSpPr/>
          <p:nvPr/>
        </p:nvSpPr>
        <p:spPr>
          <a:xfrm>
            <a:off x="10" y="5"/>
            <a:ext cx="12191980" cy="6857990"/>
          </a:xfrm>
          <a:prstGeom prst="rect">
            <a:avLst/>
          </a:prstGeom>
          <a:blipFill dpi="0" rotWithShape="1">
            <a:blip r:embed="rId3">
              <a:alphaModFix amt="10000"/>
              <a:duotone>
                <a:schemeClr val="bg2">
                  <a:shade val="45000"/>
                  <a:satMod val="135000"/>
                </a:schemeClr>
                <a:prstClr val="white"/>
              </a:duotone>
            </a:blip>
            <a:srcRect/>
            <a:tile tx="0" ty="0" sx="60000" sy="6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00"/>
              </a:spcAft>
            </a:pPr>
            <a:endParaRPr lang="zh-CN" altLang="en-US" dirty="0"/>
          </a:p>
        </p:txBody>
      </p:sp>
      <p:sp>
        <p:nvSpPr>
          <p:cNvPr id="3" name="灯片编号占位符 2"/>
          <p:cNvSpPr>
            <a:spLocks noGrp="1"/>
          </p:cNvSpPr>
          <p:nvPr>
            <p:ph type="sldNum" sz="quarter" idx="4294967295"/>
          </p:nvPr>
        </p:nvSpPr>
        <p:spPr>
          <a:xfrm>
            <a:off x="9448800" y="6516688"/>
            <a:ext cx="2743200" cy="341312"/>
          </a:xfrm>
          <a:prstGeom prst="rect">
            <a:avLst/>
          </a:prstGeom>
        </p:spPr>
        <p:txBody>
          <a:bodyPr/>
          <a:lstStyle/>
          <a:p>
            <a:fld id="{1AAC388E-FA9E-4A2C-95EA-1F6B3A07935A}" type="slidenum">
              <a:rPr lang="zh-CN" altLang="en-US" smtClean="0"/>
              <a:t>1</a:t>
            </a:fld>
            <a:endParaRPr lang="zh-CN" altLang="en-US"/>
          </a:p>
        </p:txBody>
      </p:sp>
      <p:grpSp>
        <p:nvGrpSpPr>
          <p:cNvPr id="8" name="组合 7"/>
          <p:cNvGrpSpPr/>
          <p:nvPr/>
        </p:nvGrpSpPr>
        <p:grpSpPr>
          <a:xfrm>
            <a:off x="7027667" y="537616"/>
            <a:ext cx="6961907" cy="7021575"/>
            <a:chOff x="4038600" y="2259880"/>
            <a:chExt cx="2647060" cy="2669747"/>
          </a:xfrm>
          <a:solidFill>
            <a:srgbClr val="A6A6A6">
              <a:alpha val="20000"/>
            </a:srgbClr>
          </a:solidFill>
        </p:grpSpPr>
        <p:sp>
          <p:nvSpPr>
            <p:cNvPr id="9" name="Freeform 105"/>
            <p:cNvSpPr>
              <a:spLocks noEditPoints="1"/>
            </p:cNvSpPr>
            <p:nvPr userDrawn="1"/>
          </p:nvSpPr>
          <p:spPr bwMode="auto">
            <a:xfrm>
              <a:off x="4038600" y="2259880"/>
              <a:ext cx="2647060" cy="2669747"/>
            </a:xfrm>
            <a:custGeom>
              <a:avLst/>
              <a:gdLst>
                <a:gd name="T0" fmla="*/ 142 w 283"/>
                <a:gd name="T1" fmla="*/ 0 h 283"/>
                <a:gd name="T2" fmla="*/ 283 w 283"/>
                <a:gd name="T3" fmla="*/ 142 h 283"/>
                <a:gd name="T4" fmla="*/ 142 w 283"/>
                <a:gd name="T5" fmla="*/ 283 h 283"/>
                <a:gd name="T6" fmla="*/ 0 w 283"/>
                <a:gd name="T7" fmla="*/ 142 h 283"/>
                <a:gd name="T8" fmla="*/ 142 w 283"/>
                <a:gd name="T9" fmla="*/ 0 h 283"/>
                <a:gd name="T10" fmla="*/ 142 w 283"/>
                <a:gd name="T11" fmla="*/ 6 h 283"/>
                <a:gd name="T12" fmla="*/ 6 w 283"/>
                <a:gd name="T13" fmla="*/ 142 h 283"/>
                <a:gd name="T14" fmla="*/ 142 w 283"/>
                <a:gd name="T15" fmla="*/ 277 h 283"/>
                <a:gd name="T16" fmla="*/ 278 w 283"/>
                <a:gd name="T17" fmla="*/ 142 h 283"/>
                <a:gd name="T18" fmla="*/ 142 w 283"/>
                <a:gd name="T19" fmla="*/ 6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3" h="283">
                  <a:moveTo>
                    <a:pt x="142" y="0"/>
                  </a:moveTo>
                  <a:cubicBezTo>
                    <a:pt x="220" y="0"/>
                    <a:pt x="283" y="64"/>
                    <a:pt x="283" y="142"/>
                  </a:cubicBezTo>
                  <a:cubicBezTo>
                    <a:pt x="283" y="219"/>
                    <a:pt x="220" y="283"/>
                    <a:pt x="142" y="283"/>
                  </a:cubicBezTo>
                  <a:cubicBezTo>
                    <a:pt x="64" y="283"/>
                    <a:pt x="0" y="219"/>
                    <a:pt x="0" y="142"/>
                  </a:cubicBezTo>
                  <a:cubicBezTo>
                    <a:pt x="0" y="64"/>
                    <a:pt x="64" y="0"/>
                    <a:pt x="142" y="0"/>
                  </a:cubicBezTo>
                  <a:moveTo>
                    <a:pt x="142" y="6"/>
                  </a:moveTo>
                  <a:cubicBezTo>
                    <a:pt x="67" y="6"/>
                    <a:pt x="6" y="67"/>
                    <a:pt x="6" y="142"/>
                  </a:cubicBezTo>
                  <a:cubicBezTo>
                    <a:pt x="6" y="216"/>
                    <a:pt x="67" y="277"/>
                    <a:pt x="142" y="277"/>
                  </a:cubicBezTo>
                  <a:cubicBezTo>
                    <a:pt x="217" y="277"/>
                    <a:pt x="278" y="216"/>
                    <a:pt x="278" y="142"/>
                  </a:cubicBezTo>
                  <a:cubicBezTo>
                    <a:pt x="278" y="67"/>
                    <a:pt x="217" y="6"/>
                    <a:pt x="142" y="6"/>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 name="Freeform 106"/>
            <p:cNvSpPr/>
            <p:nvPr userDrawn="1"/>
          </p:nvSpPr>
          <p:spPr bwMode="auto">
            <a:xfrm>
              <a:off x="4636079" y="2857359"/>
              <a:ext cx="1459664" cy="1308403"/>
            </a:xfrm>
            <a:custGeom>
              <a:avLst/>
              <a:gdLst>
                <a:gd name="T0" fmla="*/ 28 w 156"/>
                <a:gd name="T1" fmla="*/ 139 h 139"/>
                <a:gd name="T2" fmla="*/ 7 w 156"/>
                <a:gd name="T3" fmla="*/ 112 h 139"/>
                <a:gd name="T4" fmla="*/ 0 w 156"/>
                <a:gd name="T5" fmla="*/ 79 h 139"/>
                <a:gd name="T6" fmla="*/ 78 w 156"/>
                <a:gd name="T7" fmla="*/ 0 h 139"/>
                <a:gd name="T8" fmla="*/ 156 w 156"/>
                <a:gd name="T9" fmla="*/ 79 h 139"/>
                <a:gd name="T10" fmla="*/ 149 w 156"/>
                <a:gd name="T11" fmla="*/ 112 h 139"/>
                <a:gd name="T12" fmla="*/ 128 w 156"/>
                <a:gd name="T13" fmla="*/ 139 h 139"/>
                <a:gd name="T14" fmla="*/ 126 w 156"/>
                <a:gd name="T15" fmla="*/ 137 h 139"/>
                <a:gd name="T16" fmla="*/ 146 w 156"/>
                <a:gd name="T17" fmla="*/ 111 h 139"/>
                <a:gd name="T18" fmla="*/ 153 w 156"/>
                <a:gd name="T19" fmla="*/ 79 h 139"/>
                <a:gd name="T20" fmla="*/ 78 w 156"/>
                <a:gd name="T21" fmla="*/ 3 h 139"/>
                <a:gd name="T22" fmla="*/ 3 w 156"/>
                <a:gd name="T23" fmla="*/ 79 h 139"/>
                <a:gd name="T24" fmla="*/ 10 w 156"/>
                <a:gd name="T25" fmla="*/ 111 h 139"/>
                <a:gd name="T26" fmla="*/ 30 w 156"/>
                <a:gd name="T27" fmla="*/ 137 h 139"/>
                <a:gd name="T28" fmla="*/ 28 w 156"/>
                <a:gd name="T29" fmla="*/ 13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6" h="139">
                  <a:moveTo>
                    <a:pt x="28" y="139"/>
                  </a:moveTo>
                  <a:cubicBezTo>
                    <a:pt x="19" y="132"/>
                    <a:pt x="12" y="122"/>
                    <a:pt x="7" y="112"/>
                  </a:cubicBezTo>
                  <a:cubicBezTo>
                    <a:pt x="2" y="102"/>
                    <a:pt x="0" y="90"/>
                    <a:pt x="0" y="79"/>
                  </a:cubicBezTo>
                  <a:cubicBezTo>
                    <a:pt x="0" y="36"/>
                    <a:pt x="35" y="0"/>
                    <a:pt x="78" y="0"/>
                  </a:cubicBezTo>
                  <a:cubicBezTo>
                    <a:pt x="121" y="0"/>
                    <a:pt x="156" y="36"/>
                    <a:pt x="156" y="79"/>
                  </a:cubicBezTo>
                  <a:cubicBezTo>
                    <a:pt x="156" y="90"/>
                    <a:pt x="153" y="102"/>
                    <a:pt x="149" y="112"/>
                  </a:cubicBezTo>
                  <a:cubicBezTo>
                    <a:pt x="144" y="122"/>
                    <a:pt x="136" y="132"/>
                    <a:pt x="128" y="139"/>
                  </a:cubicBezTo>
                  <a:cubicBezTo>
                    <a:pt x="126" y="137"/>
                    <a:pt x="126" y="137"/>
                    <a:pt x="126" y="137"/>
                  </a:cubicBezTo>
                  <a:cubicBezTo>
                    <a:pt x="134" y="130"/>
                    <a:pt x="141" y="121"/>
                    <a:pt x="146" y="111"/>
                  </a:cubicBezTo>
                  <a:cubicBezTo>
                    <a:pt x="151" y="101"/>
                    <a:pt x="153" y="90"/>
                    <a:pt x="153" y="79"/>
                  </a:cubicBezTo>
                  <a:cubicBezTo>
                    <a:pt x="153" y="37"/>
                    <a:pt x="119" y="3"/>
                    <a:pt x="78" y="3"/>
                  </a:cubicBezTo>
                  <a:cubicBezTo>
                    <a:pt x="36" y="3"/>
                    <a:pt x="3" y="37"/>
                    <a:pt x="3" y="79"/>
                  </a:cubicBezTo>
                  <a:cubicBezTo>
                    <a:pt x="3" y="90"/>
                    <a:pt x="5" y="101"/>
                    <a:pt x="10" y="111"/>
                  </a:cubicBezTo>
                  <a:cubicBezTo>
                    <a:pt x="14" y="121"/>
                    <a:pt x="21" y="130"/>
                    <a:pt x="30" y="137"/>
                  </a:cubicBezTo>
                  <a:lnTo>
                    <a:pt x="28" y="13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 name="Freeform 107"/>
            <p:cNvSpPr/>
            <p:nvPr userDrawn="1"/>
          </p:nvSpPr>
          <p:spPr bwMode="auto">
            <a:xfrm>
              <a:off x="4174734" y="3825426"/>
              <a:ext cx="302521" cy="219328"/>
            </a:xfrm>
            <a:custGeom>
              <a:avLst/>
              <a:gdLst>
                <a:gd name="T0" fmla="*/ 8 w 40"/>
                <a:gd name="T1" fmla="*/ 29 h 29"/>
                <a:gd name="T2" fmla="*/ 0 w 40"/>
                <a:gd name="T3" fmla="*/ 10 h 29"/>
                <a:gd name="T4" fmla="*/ 4 w 40"/>
                <a:gd name="T5" fmla="*/ 9 h 29"/>
                <a:gd name="T6" fmla="*/ 35 w 40"/>
                <a:gd name="T7" fmla="*/ 14 h 29"/>
                <a:gd name="T8" fmla="*/ 30 w 40"/>
                <a:gd name="T9" fmla="*/ 1 h 29"/>
                <a:gd name="T10" fmla="*/ 34 w 40"/>
                <a:gd name="T11" fmla="*/ 0 h 29"/>
                <a:gd name="T12" fmla="*/ 40 w 40"/>
                <a:gd name="T13" fmla="*/ 16 h 29"/>
                <a:gd name="T14" fmla="*/ 36 w 40"/>
                <a:gd name="T15" fmla="*/ 17 h 29"/>
                <a:gd name="T16" fmla="*/ 7 w 40"/>
                <a:gd name="T17" fmla="*/ 14 h 29"/>
                <a:gd name="T18" fmla="*/ 12 w 40"/>
                <a:gd name="T19" fmla="*/ 27 h 29"/>
                <a:gd name="T20" fmla="*/ 8 w 40"/>
                <a:gd name="T21"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29">
                  <a:moveTo>
                    <a:pt x="8" y="29"/>
                  </a:moveTo>
                  <a:lnTo>
                    <a:pt x="0" y="10"/>
                  </a:lnTo>
                  <a:lnTo>
                    <a:pt x="4" y="9"/>
                  </a:lnTo>
                  <a:lnTo>
                    <a:pt x="35" y="14"/>
                  </a:lnTo>
                  <a:lnTo>
                    <a:pt x="30" y="1"/>
                  </a:lnTo>
                  <a:lnTo>
                    <a:pt x="34" y="0"/>
                  </a:lnTo>
                  <a:lnTo>
                    <a:pt x="40" y="16"/>
                  </a:lnTo>
                  <a:lnTo>
                    <a:pt x="36" y="17"/>
                  </a:lnTo>
                  <a:lnTo>
                    <a:pt x="7" y="14"/>
                  </a:lnTo>
                  <a:lnTo>
                    <a:pt x="12" y="27"/>
                  </a:lnTo>
                  <a:lnTo>
                    <a:pt x="8"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 name="Freeform 108"/>
            <p:cNvSpPr/>
            <p:nvPr userDrawn="1"/>
          </p:nvSpPr>
          <p:spPr bwMode="auto">
            <a:xfrm>
              <a:off x="4265491" y="3984249"/>
              <a:ext cx="287395" cy="234454"/>
            </a:xfrm>
            <a:custGeom>
              <a:avLst/>
              <a:gdLst>
                <a:gd name="T0" fmla="*/ 7 w 38"/>
                <a:gd name="T1" fmla="*/ 31 h 31"/>
                <a:gd name="T2" fmla="*/ 6 w 38"/>
                <a:gd name="T3" fmla="*/ 28 h 31"/>
                <a:gd name="T4" fmla="*/ 19 w 38"/>
                <a:gd name="T5" fmla="*/ 21 h 31"/>
                <a:gd name="T6" fmla="*/ 14 w 38"/>
                <a:gd name="T7" fmla="*/ 11 h 31"/>
                <a:gd name="T8" fmla="*/ 1 w 38"/>
                <a:gd name="T9" fmla="*/ 19 h 31"/>
                <a:gd name="T10" fmla="*/ 0 w 38"/>
                <a:gd name="T11" fmla="*/ 15 h 31"/>
                <a:gd name="T12" fmla="*/ 29 w 38"/>
                <a:gd name="T13" fmla="*/ 0 h 31"/>
                <a:gd name="T14" fmla="*/ 32 w 38"/>
                <a:gd name="T15" fmla="*/ 4 h 31"/>
                <a:gd name="T16" fmla="*/ 18 w 38"/>
                <a:gd name="T17" fmla="*/ 10 h 31"/>
                <a:gd name="T18" fmla="*/ 23 w 38"/>
                <a:gd name="T19" fmla="*/ 19 h 31"/>
                <a:gd name="T20" fmla="*/ 35 w 38"/>
                <a:gd name="T21" fmla="*/ 13 h 31"/>
                <a:gd name="T22" fmla="*/ 38 w 38"/>
                <a:gd name="T23" fmla="*/ 16 h 31"/>
                <a:gd name="T24" fmla="*/ 7 w 38"/>
                <a:gd name="T25"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1">
                  <a:moveTo>
                    <a:pt x="7" y="31"/>
                  </a:moveTo>
                  <a:lnTo>
                    <a:pt x="6" y="28"/>
                  </a:lnTo>
                  <a:lnTo>
                    <a:pt x="19" y="21"/>
                  </a:lnTo>
                  <a:lnTo>
                    <a:pt x="14" y="11"/>
                  </a:lnTo>
                  <a:lnTo>
                    <a:pt x="1" y="19"/>
                  </a:lnTo>
                  <a:lnTo>
                    <a:pt x="0" y="15"/>
                  </a:lnTo>
                  <a:lnTo>
                    <a:pt x="29" y="0"/>
                  </a:lnTo>
                  <a:lnTo>
                    <a:pt x="32" y="4"/>
                  </a:lnTo>
                  <a:lnTo>
                    <a:pt x="18" y="10"/>
                  </a:lnTo>
                  <a:lnTo>
                    <a:pt x="23" y="19"/>
                  </a:lnTo>
                  <a:lnTo>
                    <a:pt x="35" y="13"/>
                  </a:lnTo>
                  <a:lnTo>
                    <a:pt x="38" y="16"/>
                  </a:lnTo>
                  <a:lnTo>
                    <a:pt x="7" y="3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5" name="Freeform 109"/>
            <p:cNvSpPr/>
            <p:nvPr userDrawn="1"/>
          </p:nvSpPr>
          <p:spPr bwMode="auto">
            <a:xfrm>
              <a:off x="4348684" y="4120384"/>
              <a:ext cx="287395" cy="249580"/>
            </a:xfrm>
            <a:custGeom>
              <a:avLst/>
              <a:gdLst>
                <a:gd name="T0" fmla="*/ 11 w 38"/>
                <a:gd name="T1" fmla="*/ 33 h 33"/>
                <a:gd name="T2" fmla="*/ 0 w 38"/>
                <a:gd name="T3" fmla="*/ 18 h 33"/>
                <a:gd name="T4" fmla="*/ 28 w 38"/>
                <a:gd name="T5" fmla="*/ 0 h 33"/>
                <a:gd name="T6" fmla="*/ 38 w 38"/>
                <a:gd name="T7" fmla="*/ 15 h 33"/>
                <a:gd name="T8" fmla="*/ 36 w 38"/>
                <a:gd name="T9" fmla="*/ 17 h 33"/>
                <a:gd name="T10" fmla="*/ 27 w 38"/>
                <a:gd name="T11" fmla="*/ 6 h 33"/>
                <a:gd name="T12" fmla="*/ 18 w 38"/>
                <a:gd name="T13" fmla="*/ 11 h 33"/>
                <a:gd name="T14" fmla="*/ 26 w 38"/>
                <a:gd name="T15" fmla="*/ 21 h 33"/>
                <a:gd name="T16" fmla="*/ 23 w 38"/>
                <a:gd name="T17" fmla="*/ 23 h 33"/>
                <a:gd name="T18" fmla="*/ 16 w 38"/>
                <a:gd name="T19" fmla="*/ 13 h 33"/>
                <a:gd name="T20" fmla="*/ 6 w 38"/>
                <a:gd name="T21" fmla="*/ 20 h 33"/>
                <a:gd name="T22" fmla="*/ 13 w 38"/>
                <a:gd name="T23" fmla="*/ 31 h 33"/>
                <a:gd name="T24" fmla="*/ 11 w 38"/>
                <a:gd name="T25"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3">
                  <a:moveTo>
                    <a:pt x="11" y="33"/>
                  </a:moveTo>
                  <a:lnTo>
                    <a:pt x="0" y="18"/>
                  </a:lnTo>
                  <a:lnTo>
                    <a:pt x="28" y="0"/>
                  </a:lnTo>
                  <a:lnTo>
                    <a:pt x="38" y="15"/>
                  </a:lnTo>
                  <a:lnTo>
                    <a:pt x="36" y="17"/>
                  </a:lnTo>
                  <a:lnTo>
                    <a:pt x="27" y="6"/>
                  </a:lnTo>
                  <a:lnTo>
                    <a:pt x="18" y="11"/>
                  </a:lnTo>
                  <a:lnTo>
                    <a:pt x="26" y="21"/>
                  </a:lnTo>
                  <a:lnTo>
                    <a:pt x="23" y="23"/>
                  </a:lnTo>
                  <a:lnTo>
                    <a:pt x="16" y="13"/>
                  </a:lnTo>
                  <a:lnTo>
                    <a:pt x="6" y="20"/>
                  </a:lnTo>
                  <a:lnTo>
                    <a:pt x="13" y="31"/>
                  </a:lnTo>
                  <a:lnTo>
                    <a:pt x="11" y="3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6" name="Freeform 110"/>
            <p:cNvSpPr/>
            <p:nvPr userDrawn="1"/>
          </p:nvSpPr>
          <p:spPr bwMode="auto">
            <a:xfrm>
              <a:off x="4583138" y="4332148"/>
              <a:ext cx="181513" cy="219328"/>
            </a:xfrm>
            <a:custGeom>
              <a:avLst/>
              <a:gdLst>
                <a:gd name="T0" fmla="*/ 3 w 24"/>
                <a:gd name="T1" fmla="*/ 29 h 29"/>
                <a:gd name="T2" fmla="*/ 0 w 24"/>
                <a:gd name="T3" fmla="*/ 26 h 29"/>
                <a:gd name="T4" fmla="*/ 21 w 24"/>
                <a:gd name="T5" fmla="*/ 0 h 29"/>
                <a:gd name="T6" fmla="*/ 24 w 24"/>
                <a:gd name="T7" fmla="*/ 3 h 29"/>
                <a:gd name="T8" fmla="*/ 3 w 24"/>
                <a:gd name="T9" fmla="*/ 29 h 29"/>
              </a:gdLst>
              <a:ahLst/>
              <a:cxnLst>
                <a:cxn ang="0">
                  <a:pos x="T0" y="T1"/>
                </a:cxn>
                <a:cxn ang="0">
                  <a:pos x="T2" y="T3"/>
                </a:cxn>
                <a:cxn ang="0">
                  <a:pos x="T4" y="T5"/>
                </a:cxn>
                <a:cxn ang="0">
                  <a:pos x="T6" y="T7"/>
                </a:cxn>
                <a:cxn ang="0">
                  <a:pos x="T8" y="T9"/>
                </a:cxn>
              </a:cxnLst>
              <a:rect l="0" t="0" r="r" b="b"/>
              <a:pathLst>
                <a:path w="24" h="29">
                  <a:moveTo>
                    <a:pt x="3" y="29"/>
                  </a:moveTo>
                  <a:lnTo>
                    <a:pt x="0" y="26"/>
                  </a:lnTo>
                  <a:lnTo>
                    <a:pt x="21" y="0"/>
                  </a:lnTo>
                  <a:lnTo>
                    <a:pt x="24" y="3"/>
                  </a:lnTo>
                  <a:lnTo>
                    <a:pt x="3"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7" name="Freeform 111"/>
            <p:cNvSpPr>
              <a:spLocks noEditPoints="1"/>
            </p:cNvSpPr>
            <p:nvPr userDrawn="1"/>
          </p:nvSpPr>
          <p:spPr bwMode="auto">
            <a:xfrm>
              <a:off x="4643642" y="4392652"/>
              <a:ext cx="219328" cy="264706"/>
            </a:xfrm>
            <a:custGeom>
              <a:avLst/>
              <a:gdLst>
                <a:gd name="T0" fmla="*/ 11 w 29"/>
                <a:gd name="T1" fmla="*/ 32 h 35"/>
                <a:gd name="T2" fmla="*/ 16 w 29"/>
                <a:gd name="T3" fmla="*/ 23 h 35"/>
                <a:gd name="T4" fmla="*/ 11 w 29"/>
                <a:gd name="T5" fmla="*/ 20 h 35"/>
                <a:gd name="T6" fmla="*/ 3 w 29"/>
                <a:gd name="T7" fmla="*/ 27 h 35"/>
                <a:gd name="T8" fmla="*/ 0 w 29"/>
                <a:gd name="T9" fmla="*/ 25 h 35"/>
                <a:gd name="T10" fmla="*/ 24 w 29"/>
                <a:gd name="T11" fmla="*/ 0 h 35"/>
                <a:gd name="T12" fmla="*/ 29 w 29"/>
                <a:gd name="T13" fmla="*/ 2 h 35"/>
                <a:gd name="T14" fmla="*/ 16 w 29"/>
                <a:gd name="T15" fmla="*/ 35 h 35"/>
                <a:gd name="T16" fmla="*/ 11 w 29"/>
                <a:gd name="T17" fmla="*/ 32 h 35"/>
                <a:gd name="T18" fmla="*/ 19 w 29"/>
                <a:gd name="T19" fmla="*/ 18 h 35"/>
                <a:gd name="T20" fmla="*/ 24 w 29"/>
                <a:gd name="T21" fmla="*/ 7 h 35"/>
                <a:gd name="T22" fmla="*/ 23 w 29"/>
                <a:gd name="T23" fmla="*/ 6 h 35"/>
                <a:gd name="T24" fmla="*/ 14 w 29"/>
                <a:gd name="T25" fmla="*/ 16 h 35"/>
                <a:gd name="T26" fmla="*/ 19 w 29"/>
                <a:gd name="T2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35">
                  <a:moveTo>
                    <a:pt x="11" y="32"/>
                  </a:moveTo>
                  <a:lnTo>
                    <a:pt x="16" y="23"/>
                  </a:lnTo>
                  <a:lnTo>
                    <a:pt x="11" y="20"/>
                  </a:lnTo>
                  <a:lnTo>
                    <a:pt x="3" y="27"/>
                  </a:lnTo>
                  <a:lnTo>
                    <a:pt x="0" y="25"/>
                  </a:lnTo>
                  <a:lnTo>
                    <a:pt x="24" y="0"/>
                  </a:lnTo>
                  <a:lnTo>
                    <a:pt x="29" y="2"/>
                  </a:lnTo>
                  <a:lnTo>
                    <a:pt x="16" y="35"/>
                  </a:lnTo>
                  <a:lnTo>
                    <a:pt x="11" y="32"/>
                  </a:lnTo>
                  <a:close/>
                  <a:moveTo>
                    <a:pt x="19" y="18"/>
                  </a:moveTo>
                  <a:lnTo>
                    <a:pt x="24" y="7"/>
                  </a:lnTo>
                  <a:lnTo>
                    <a:pt x="23" y="6"/>
                  </a:lnTo>
                  <a:lnTo>
                    <a:pt x="14" y="16"/>
                  </a:lnTo>
                  <a:lnTo>
                    <a:pt x="19" y="18"/>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8" name="Freeform 112"/>
            <p:cNvSpPr/>
            <p:nvPr/>
          </p:nvSpPr>
          <p:spPr bwMode="auto">
            <a:xfrm>
              <a:off x="4794903" y="4438031"/>
              <a:ext cx="242017" cy="294958"/>
            </a:xfrm>
            <a:custGeom>
              <a:avLst/>
              <a:gdLst>
                <a:gd name="T0" fmla="*/ 16 w 32"/>
                <a:gd name="T1" fmla="*/ 39 h 39"/>
                <a:gd name="T2" fmla="*/ 13 w 32"/>
                <a:gd name="T3" fmla="*/ 36 h 39"/>
                <a:gd name="T4" fmla="*/ 15 w 32"/>
                <a:gd name="T5" fmla="*/ 12 h 39"/>
                <a:gd name="T6" fmla="*/ 5 w 32"/>
                <a:gd name="T7" fmla="*/ 32 h 39"/>
                <a:gd name="T8" fmla="*/ 0 w 32"/>
                <a:gd name="T9" fmla="*/ 30 h 39"/>
                <a:gd name="T10" fmla="*/ 16 w 32"/>
                <a:gd name="T11" fmla="*/ 0 h 39"/>
                <a:gd name="T12" fmla="*/ 20 w 32"/>
                <a:gd name="T13" fmla="*/ 1 h 39"/>
                <a:gd name="T14" fmla="*/ 19 w 32"/>
                <a:gd name="T15" fmla="*/ 25 h 39"/>
                <a:gd name="T16" fmla="*/ 29 w 32"/>
                <a:gd name="T17" fmla="*/ 5 h 39"/>
                <a:gd name="T18" fmla="*/ 32 w 32"/>
                <a:gd name="T19" fmla="*/ 7 h 39"/>
                <a:gd name="T20" fmla="*/ 16 w 32"/>
                <a:gd name="T21"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39">
                  <a:moveTo>
                    <a:pt x="16" y="39"/>
                  </a:moveTo>
                  <a:lnTo>
                    <a:pt x="13" y="36"/>
                  </a:lnTo>
                  <a:lnTo>
                    <a:pt x="15" y="12"/>
                  </a:lnTo>
                  <a:lnTo>
                    <a:pt x="5" y="32"/>
                  </a:lnTo>
                  <a:lnTo>
                    <a:pt x="0" y="30"/>
                  </a:lnTo>
                  <a:lnTo>
                    <a:pt x="16" y="0"/>
                  </a:lnTo>
                  <a:lnTo>
                    <a:pt x="20" y="1"/>
                  </a:lnTo>
                  <a:lnTo>
                    <a:pt x="19" y="25"/>
                  </a:lnTo>
                  <a:lnTo>
                    <a:pt x="29" y="5"/>
                  </a:lnTo>
                  <a:lnTo>
                    <a:pt x="32" y="7"/>
                  </a:lnTo>
                  <a:lnTo>
                    <a:pt x="16" y="3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9" name="Freeform 113"/>
            <p:cNvSpPr/>
            <p:nvPr userDrawn="1"/>
          </p:nvSpPr>
          <p:spPr bwMode="auto">
            <a:xfrm>
              <a:off x="4983978" y="4506098"/>
              <a:ext cx="173950" cy="272269"/>
            </a:xfrm>
            <a:custGeom>
              <a:avLst/>
              <a:gdLst>
                <a:gd name="T0" fmla="*/ 12 w 19"/>
                <a:gd name="T1" fmla="*/ 29 h 29"/>
                <a:gd name="T2" fmla="*/ 10 w 19"/>
                <a:gd name="T3" fmla="*/ 29 h 29"/>
                <a:gd name="T4" fmla="*/ 10 w 19"/>
                <a:gd name="T5" fmla="*/ 26 h 29"/>
                <a:gd name="T6" fmla="*/ 8 w 19"/>
                <a:gd name="T7" fmla="*/ 27 h 29"/>
                <a:gd name="T8" fmla="*/ 5 w 19"/>
                <a:gd name="T9" fmla="*/ 27 h 29"/>
                <a:gd name="T10" fmla="*/ 1 w 19"/>
                <a:gd name="T11" fmla="*/ 23 h 29"/>
                <a:gd name="T12" fmla="*/ 1 w 19"/>
                <a:gd name="T13" fmla="*/ 13 h 29"/>
                <a:gd name="T14" fmla="*/ 6 w 19"/>
                <a:gd name="T15" fmla="*/ 3 h 29"/>
                <a:gd name="T16" fmla="*/ 14 w 19"/>
                <a:gd name="T17" fmla="*/ 1 h 29"/>
                <a:gd name="T18" fmla="*/ 18 w 19"/>
                <a:gd name="T19" fmla="*/ 11 h 29"/>
                <a:gd name="T20" fmla="*/ 15 w 19"/>
                <a:gd name="T21" fmla="*/ 11 h 29"/>
                <a:gd name="T22" fmla="*/ 13 w 19"/>
                <a:gd name="T23" fmla="*/ 4 h 29"/>
                <a:gd name="T24" fmla="*/ 8 w 19"/>
                <a:gd name="T25" fmla="*/ 6 h 29"/>
                <a:gd name="T26" fmla="*/ 5 w 19"/>
                <a:gd name="T27" fmla="*/ 14 h 29"/>
                <a:gd name="T28" fmla="*/ 4 w 19"/>
                <a:gd name="T29" fmla="*/ 21 h 29"/>
                <a:gd name="T30" fmla="*/ 6 w 19"/>
                <a:gd name="T31" fmla="*/ 24 h 29"/>
                <a:gd name="T32" fmla="*/ 9 w 19"/>
                <a:gd name="T33" fmla="*/ 24 h 29"/>
                <a:gd name="T34" fmla="*/ 12 w 19"/>
                <a:gd name="T35" fmla="*/ 20 h 29"/>
                <a:gd name="T36" fmla="*/ 12 w 19"/>
                <a:gd name="T37" fmla="*/ 18 h 29"/>
                <a:gd name="T38" fmla="*/ 8 w 19"/>
                <a:gd name="T39" fmla="*/ 17 h 29"/>
                <a:gd name="T40" fmla="*/ 9 w 19"/>
                <a:gd name="T41" fmla="*/ 14 h 29"/>
                <a:gd name="T42" fmla="*/ 16 w 19"/>
                <a:gd name="T43" fmla="*/ 17 h 29"/>
                <a:gd name="T44" fmla="*/ 12 w 19"/>
                <a:gd name="T45"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29">
                  <a:moveTo>
                    <a:pt x="12" y="29"/>
                  </a:moveTo>
                  <a:cubicBezTo>
                    <a:pt x="10" y="29"/>
                    <a:pt x="10" y="29"/>
                    <a:pt x="10" y="29"/>
                  </a:cubicBezTo>
                  <a:cubicBezTo>
                    <a:pt x="10" y="26"/>
                    <a:pt x="10" y="26"/>
                    <a:pt x="10" y="26"/>
                  </a:cubicBezTo>
                  <a:cubicBezTo>
                    <a:pt x="9" y="27"/>
                    <a:pt x="9" y="27"/>
                    <a:pt x="8" y="27"/>
                  </a:cubicBezTo>
                  <a:cubicBezTo>
                    <a:pt x="7" y="27"/>
                    <a:pt x="6" y="27"/>
                    <a:pt x="5" y="27"/>
                  </a:cubicBezTo>
                  <a:cubicBezTo>
                    <a:pt x="3" y="26"/>
                    <a:pt x="2" y="25"/>
                    <a:pt x="1" y="23"/>
                  </a:cubicBezTo>
                  <a:cubicBezTo>
                    <a:pt x="0" y="20"/>
                    <a:pt x="0" y="17"/>
                    <a:pt x="1" y="13"/>
                  </a:cubicBezTo>
                  <a:cubicBezTo>
                    <a:pt x="3" y="8"/>
                    <a:pt x="4" y="5"/>
                    <a:pt x="6" y="3"/>
                  </a:cubicBezTo>
                  <a:cubicBezTo>
                    <a:pt x="9" y="1"/>
                    <a:pt x="12" y="0"/>
                    <a:pt x="14" y="1"/>
                  </a:cubicBezTo>
                  <a:cubicBezTo>
                    <a:pt x="17" y="2"/>
                    <a:pt x="19" y="6"/>
                    <a:pt x="18" y="11"/>
                  </a:cubicBezTo>
                  <a:cubicBezTo>
                    <a:pt x="15" y="11"/>
                    <a:pt x="15" y="11"/>
                    <a:pt x="15" y="11"/>
                  </a:cubicBezTo>
                  <a:cubicBezTo>
                    <a:pt x="16" y="9"/>
                    <a:pt x="15" y="5"/>
                    <a:pt x="13" y="4"/>
                  </a:cubicBezTo>
                  <a:cubicBezTo>
                    <a:pt x="11" y="4"/>
                    <a:pt x="9" y="4"/>
                    <a:pt x="8" y="6"/>
                  </a:cubicBezTo>
                  <a:cubicBezTo>
                    <a:pt x="7" y="7"/>
                    <a:pt x="6" y="10"/>
                    <a:pt x="5" y="14"/>
                  </a:cubicBezTo>
                  <a:cubicBezTo>
                    <a:pt x="4" y="17"/>
                    <a:pt x="3" y="20"/>
                    <a:pt x="4" y="21"/>
                  </a:cubicBezTo>
                  <a:cubicBezTo>
                    <a:pt x="4" y="23"/>
                    <a:pt x="5" y="24"/>
                    <a:pt x="6" y="24"/>
                  </a:cubicBezTo>
                  <a:cubicBezTo>
                    <a:pt x="7" y="25"/>
                    <a:pt x="9" y="25"/>
                    <a:pt x="9" y="24"/>
                  </a:cubicBezTo>
                  <a:cubicBezTo>
                    <a:pt x="10" y="23"/>
                    <a:pt x="11" y="22"/>
                    <a:pt x="12" y="20"/>
                  </a:cubicBezTo>
                  <a:cubicBezTo>
                    <a:pt x="12" y="18"/>
                    <a:pt x="12" y="18"/>
                    <a:pt x="12" y="18"/>
                  </a:cubicBezTo>
                  <a:cubicBezTo>
                    <a:pt x="8" y="17"/>
                    <a:pt x="8" y="17"/>
                    <a:pt x="8" y="17"/>
                  </a:cubicBezTo>
                  <a:cubicBezTo>
                    <a:pt x="9" y="14"/>
                    <a:pt x="9" y="14"/>
                    <a:pt x="9" y="14"/>
                  </a:cubicBezTo>
                  <a:cubicBezTo>
                    <a:pt x="16" y="17"/>
                    <a:pt x="16" y="17"/>
                    <a:pt x="16" y="17"/>
                  </a:cubicBezTo>
                  <a:lnTo>
                    <a:pt x="12"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1" name="Freeform 114"/>
            <p:cNvSpPr/>
            <p:nvPr userDrawn="1"/>
          </p:nvSpPr>
          <p:spPr bwMode="auto">
            <a:xfrm>
              <a:off x="5301626" y="4543913"/>
              <a:ext cx="143698" cy="249580"/>
            </a:xfrm>
            <a:custGeom>
              <a:avLst/>
              <a:gdLst>
                <a:gd name="T0" fmla="*/ 15 w 15"/>
                <a:gd name="T1" fmla="*/ 19 h 27"/>
                <a:gd name="T2" fmla="*/ 13 w 15"/>
                <a:gd name="T3" fmla="*/ 25 h 27"/>
                <a:gd name="T4" fmla="*/ 7 w 15"/>
                <a:gd name="T5" fmla="*/ 27 h 27"/>
                <a:gd name="T6" fmla="*/ 1 w 15"/>
                <a:gd name="T7" fmla="*/ 25 h 27"/>
                <a:gd name="T8" fmla="*/ 0 w 15"/>
                <a:gd name="T9" fmla="*/ 19 h 27"/>
                <a:gd name="T10" fmla="*/ 0 w 15"/>
                <a:gd name="T11" fmla="*/ 0 h 27"/>
                <a:gd name="T12" fmla="*/ 4 w 15"/>
                <a:gd name="T13" fmla="*/ 0 h 27"/>
                <a:gd name="T14" fmla="*/ 3 w 15"/>
                <a:gd name="T15" fmla="*/ 19 h 27"/>
                <a:gd name="T16" fmla="*/ 4 w 15"/>
                <a:gd name="T17" fmla="*/ 23 h 27"/>
                <a:gd name="T18" fmla="*/ 7 w 15"/>
                <a:gd name="T19" fmla="*/ 24 h 27"/>
                <a:gd name="T20" fmla="*/ 10 w 15"/>
                <a:gd name="T21" fmla="*/ 23 h 27"/>
                <a:gd name="T22" fmla="*/ 11 w 15"/>
                <a:gd name="T23" fmla="*/ 19 h 27"/>
                <a:gd name="T24" fmla="*/ 12 w 15"/>
                <a:gd name="T25" fmla="*/ 0 h 27"/>
                <a:gd name="T26" fmla="*/ 15 w 15"/>
                <a:gd name="T27" fmla="*/ 0 h 27"/>
                <a:gd name="T28" fmla="*/ 15 w 15"/>
                <a:gd name="T29"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7">
                  <a:moveTo>
                    <a:pt x="15" y="19"/>
                  </a:moveTo>
                  <a:cubicBezTo>
                    <a:pt x="15" y="22"/>
                    <a:pt x="14" y="24"/>
                    <a:pt x="13" y="25"/>
                  </a:cubicBezTo>
                  <a:cubicBezTo>
                    <a:pt x="11" y="27"/>
                    <a:pt x="10" y="27"/>
                    <a:pt x="7" y="27"/>
                  </a:cubicBezTo>
                  <a:cubicBezTo>
                    <a:pt x="4" y="27"/>
                    <a:pt x="2" y="26"/>
                    <a:pt x="1" y="25"/>
                  </a:cubicBezTo>
                  <a:cubicBezTo>
                    <a:pt x="0" y="23"/>
                    <a:pt x="0" y="21"/>
                    <a:pt x="0" y="19"/>
                  </a:cubicBezTo>
                  <a:cubicBezTo>
                    <a:pt x="0" y="0"/>
                    <a:pt x="0" y="0"/>
                    <a:pt x="0" y="0"/>
                  </a:cubicBezTo>
                  <a:cubicBezTo>
                    <a:pt x="4" y="0"/>
                    <a:pt x="4" y="0"/>
                    <a:pt x="4" y="0"/>
                  </a:cubicBezTo>
                  <a:cubicBezTo>
                    <a:pt x="3" y="19"/>
                    <a:pt x="3" y="19"/>
                    <a:pt x="3" y="19"/>
                  </a:cubicBezTo>
                  <a:cubicBezTo>
                    <a:pt x="3" y="21"/>
                    <a:pt x="3" y="22"/>
                    <a:pt x="4" y="23"/>
                  </a:cubicBezTo>
                  <a:cubicBezTo>
                    <a:pt x="5" y="24"/>
                    <a:pt x="6" y="24"/>
                    <a:pt x="7" y="24"/>
                  </a:cubicBezTo>
                  <a:cubicBezTo>
                    <a:pt x="8" y="24"/>
                    <a:pt x="9" y="24"/>
                    <a:pt x="10" y="23"/>
                  </a:cubicBezTo>
                  <a:cubicBezTo>
                    <a:pt x="11" y="22"/>
                    <a:pt x="11" y="21"/>
                    <a:pt x="11" y="19"/>
                  </a:cubicBezTo>
                  <a:cubicBezTo>
                    <a:pt x="12" y="0"/>
                    <a:pt x="12" y="0"/>
                    <a:pt x="12" y="0"/>
                  </a:cubicBezTo>
                  <a:cubicBezTo>
                    <a:pt x="15" y="0"/>
                    <a:pt x="15" y="0"/>
                    <a:pt x="15" y="0"/>
                  </a:cubicBezTo>
                  <a:lnTo>
                    <a:pt x="15" y="1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2" name="Freeform 115"/>
            <p:cNvSpPr/>
            <p:nvPr userDrawn="1"/>
          </p:nvSpPr>
          <p:spPr bwMode="auto">
            <a:xfrm>
              <a:off x="5460449" y="4521224"/>
              <a:ext cx="158824" cy="272269"/>
            </a:xfrm>
            <a:custGeom>
              <a:avLst/>
              <a:gdLst>
                <a:gd name="T0" fmla="*/ 21 w 21"/>
                <a:gd name="T1" fmla="*/ 33 h 36"/>
                <a:gd name="T2" fmla="*/ 17 w 21"/>
                <a:gd name="T3" fmla="*/ 34 h 36"/>
                <a:gd name="T4" fmla="*/ 5 w 21"/>
                <a:gd name="T5" fmla="*/ 11 h 36"/>
                <a:gd name="T6" fmla="*/ 8 w 21"/>
                <a:gd name="T7" fmla="*/ 35 h 36"/>
                <a:gd name="T8" fmla="*/ 3 w 21"/>
                <a:gd name="T9" fmla="*/ 36 h 36"/>
                <a:gd name="T10" fmla="*/ 0 w 21"/>
                <a:gd name="T11" fmla="*/ 3 h 36"/>
                <a:gd name="T12" fmla="*/ 5 w 21"/>
                <a:gd name="T13" fmla="*/ 1 h 36"/>
                <a:gd name="T14" fmla="*/ 15 w 21"/>
                <a:gd name="T15" fmla="*/ 18 h 36"/>
                <a:gd name="T16" fmla="*/ 12 w 21"/>
                <a:gd name="T17" fmla="*/ 0 h 36"/>
                <a:gd name="T18" fmla="*/ 16 w 21"/>
                <a:gd name="T19" fmla="*/ 0 h 36"/>
                <a:gd name="T20" fmla="*/ 21 w 21"/>
                <a:gd name="T21" fmla="*/ 3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36">
                  <a:moveTo>
                    <a:pt x="21" y="33"/>
                  </a:moveTo>
                  <a:lnTo>
                    <a:pt x="17" y="34"/>
                  </a:lnTo>
                  <a:lnTo>
                    <a:pt x="5" y="11"/>
                  </a:lnTo>
                  <a:lnTo>
                    <a:pt x="8" y="35"/>
                  </a:lnTo>
                  <a:lnTo>
                    <a:pt x="3" y="36"/>
                  </a:lnTo>
                  <a:lnTo>
                    <a:pt x="0" y="3"/>
                  </a:lnTo>
                  <a:lnTo>
                    <a:pt x="5" y="1"/>
                  </a:lnTo>
                  <a:lnTo>
                    <a:pt x="15" y="18"/>
                  </a:lnTo>
                  <a:lnTo>
                    <a:pt x="12" y="0"/>
                  </a:lnTo>
                  <a:lnTo>
                    <a:pt x="16" y="0"/>
                  </a:lnTo>
                  <a:lnTo>
                    <a:pt x="21" y="3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3" name="Freeform 116"/>
            <p:cNvSpPr/>
            <p:nvPr userDrawn="1"/>
          </p:nvSpPr>
          <p:spPr bwMode="auto">
            <a:xfrm>
              <a:off x="5611710" y="4506098"/>
              <a:ext cx="105882" cy="249580"/>
            </a:xfrm>
            <a:custGeom>
              <a:avLst/>
              <a:gdLst>
                <a:gd name="T0" fmla="*/ 14 w 14"/>
                <a:gd name="T1" fmla="*/ 31 h 33"/>
                <a:gd name="T2" fmla="*/ 9 w 14"/>
                <a:gd name="T3" fmla="*/ 33 h 33"/>
                <a:gd name="T4" fmla="*/ 0 w 14"/>
                <a:gd name="T5" fmla="*/ 1 h 33"/>
                <a:gd name="T6" fmla="*/ 4 w 14"/>
                <a:gd name="T7" fmla="*/ 0 h 33"/>
                <a:gd name="T8" fmla="*/ 14 w 14"/>
                <a:gd name="T9" fmla="*/ 31 h 33"/>
              </a:gdLst>
              <a:ahLst/>
              <a:cxnLst>
                <a:cxn ang="0">
                  <a:pos x="T0" y="T1"/>
                </a:cxn>
                <a:cxn ang="0">
                  <a:pos x="T2" y="T3"/>
                </a:cxn>
                <a:cxn ang="0">
                  <a:pos x="T4" y="T5"/>
                </a:cxn>
                <a:cxn ang="0">
                  <a:pos x="T6" y="T7"/>
                </a:cxn>
                <a:cxn ang="0">
                  <a:pos x="T8" y="T9"/>
                </a:cxn>
              </a:cxnLst>
              <a:rect l="0" t="0" r="r" b="b"/>
              <a:pathLst>
                <a:path w="14" h="33">
                  <a:moveTo>
                    <a:pt x="14" y="31"/>
                  </a:moveTo>
                  <a:lnTo>
                    <a:pt x="9" y="33"/>
                  </a:lnTo>
                  <a:lnTo>
                    <a:pt x="0" y="1"/>
                  </a:lnTo>
                  <a:lnTo>
                    <a:pt x="4" y="0"/>
                  </a:lnTo>
                  <a:lnTo>
                    <a:pt x="14" y="3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4" name="Freeform 117"/>
            <p:cNvSpPr/>
            <p:nvPr userDrawn="1"/>
          </p:nvSpPr>
          <p:spPr bwMode="auto">
            <a:xfrm>
              <a:off x="5664651" y="4438031"/>
              <a:ext cx="173950" cy="279832"/>
            </a:xfrm>
            <a:custGeom>
              <a:avLst/>
              <a:gdLst>
                <a:gd name="T0" fmla="*/ 18 w 23"/>
                <a:gd name="T1" fmla="*/ 0 h 37"/>
                <a:gd name="T2" fmla="*/ 23 w 23"/>
                <a:gd name="T3" fmla="*/ 35 h 37"/>
                <a:gd name="T4" fmla="*/ 19 w 23"/>
                <a:gd name="T5" fmla="*/ 37 h 37"/>
                <a:gd name="T6" fmla="*/ 0 w 23"/>
                <a:gd name="T7" fmla="*/ 7 h 37"/>
                <a:gd name="T8" fmla="*/ 4 w 23"/>
                <a:gd name="T9" fmla="*/ 6 h 37"/>
                <a:gd name="T10" fmla="*/ 18 w 23"/>
                <a:gd name="T11" fmla="*/ 26 h 37"/>
                <a:gd name="T12" fmla="*/ 14 w 23"/>
                <a:gd name="T13" fmla="*/ 1 h 37"/>
                <a:gd name="T14" fmla="*/ 18 w 23"/>
                <a:gd name="T15" fmla="*/ 0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7">
                  <a:moveTo>
                    <a:pt x="18" y="0"/>
                  </a:moveTo>
                  <a:lnTo>
                    <a:pt x="23" y="35"/>
                  </a:lnTo>
                  <a:lnTo>
                    <a:pt x="19" y="37"/>
                  </a:lnTo>
                  <a:lnTo>
                    <a:pt x="0" y="7"/>
                  </a:lnTo>
                  <a:lnTo>
                    <a:pt x="4" y="6"/>
                  </a:lnTo>
                  <a:lnTo>
                    <a:pt x="18" y="26"/>
                  </a:lnTo>
                  <a:lnTo>
                    <a:pt x="14" y="1"/>
                  </a:lnTo>
                  <a:lnTo>
                    <a:pt x="18"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5" name="Freeform 118"/>
            <p:cNvSpPr/>
            <p:nvPr userDrawn="1"/>
          </p:nvSpPr>
          <p:spPr bwMode="auto">
            <a:xfrm>
              <a:off x="5808348" y="4369963"/>
              <a:ext cx="249580" cy="287395"/>
            </a:xfrm>
            <a:custGeom>
              <a:avLst/>
              <a:gdLst>
                <a:gd name="T0" fmla="*/ 33 w 33"/>
                <a:gd name="T1" fmla="*/ 29 h 38"/>
                <a:gd name="T2" fmla="*/ 17 w 33"/>
                <a:gd name="T3" fmla="*/ 38 h 38"/>
                <a:gd name="T4" fmla="*/ 0 w 33"/>
                <a:gd name="T5" fmla="*/ 8 h 38"/>
                <a:gd name="T6" fmla="*/ 15 w 33"/>
                <a:gd name="T7" fmla="*/ 0 h 38"/>
                <a:gd name="T8" fmla="*/ 17 w 33"/>
                <a:gd name="T9" fmla="*/ 3 h 38"/>
                <a:gd name="T10" fmla="*/ 6 w 33"/>
                <a:gd name="T11" fmla="*/ 9 h 38"/>
                <a:gd name="T12" fmla="*/ 11 w 33"/>
                <a:gd name="T13" fmla="*/ 19 h 38"/>
                <a:gd name="T14" fmla="*/ 22 w 33"/>
                <a:gd name="T15" fmla="*/ 13 h 38"/>
                <a:gd name="T16" fmla="*/ 23 w 33"/>
                <a:gd name="T17" fmla="*/ 16 h 38"/>
                <a:gd name="T18" fmla="*/ 14 w 33"/>
                <a:gd name="T19" fmla="*/ 21 h 38"/>
                <a:gd name="T20" fmla="*/ 20 w 33"/>
                <a:gd name="T21" fmla="*/ 33 h 38"/>
                <a:gd name="T22" fmla="*/ 31 w 33"/>
                <a:gd name="T23" fmla="*/ 25 h 38"/>
                <a:gd name="T24" fmla="*/ 33 w 33"/>
                <a:gd name="T25" fmla="*/ 2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8">
                  <a:moveTo>
                    <a:pt x="33" y="29"/>
                  </a:moveTo>
                  <a:lnTo>
                    <a:pt x="17" y="38"/>
                  </a:lnTo>
                  <a:lnTo>
                    <a:pt x="0" y="8"/>
                  </a:lnTo>
                  <a:lnTo>
                    <a:pt x="15" y="0"/>
                  </a:lnTo>
                  <a:lnTo>
                    <a:pt x="17" y="3"/>
                  </a:lnTo>
                  <a:lnTo>
                    <a:pt x="6" y="9"/>
                  </a:lnTo>
                  <a:lnTo>
                    <a:pt x="11" y="19"/>
                  </a:lnTo>
                  <a:lnTo>
                    <a:pt x="22" y="13"/>
                  </a:lnTo>
                  <a:lnTo>
                    <a:pt x="23" y="16"/>
                  </a:lnTo>
                  <a:lnTo>
                    <a:pt x="14" y="21"/>
                  </a:lnTo>
                  <a:lnTo>
                    <a:pt x="20" y="33"/>
                  </a:lnTo>
                  <a:lnTo>
                    <a:pt x="31" y="25"/>
                  </a:lnTo>
                  <a:lnTo>
                    <a:pt x="33"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6" name="Freeform 119"/>
            <p:cNvSpPr>
              <a:spLocks noEditPoints="1"/>
            </p:cNvSpPr>
            <p:nvPr userDrawn="1"/>
          </p:nvSpPr>
          <p:spPr bwMode="auto">
            <a:xfrm>
              <a:off x="5936920" y="4309459"/>
              <a:ext cx="257143" cy="257143"/>
            </a:xfrm>
            <a:custGeom>
              <a:avLst/>
              <a:gdLst>
                <a:gd name="T0" fmla="*/ 27 w 27"/>
                <a:gd name="T1" fmla="*/ 20 h 28"/>
                <a:gd name="T2" fmla="*/ 24 w 27"/>
                <a:gd name="T3" fmla="*/ 22 h 28"/>
                <a:gd name="T4" fmla="*/ 15 w 27"/>
                <a:gd name="T5" fmla="*/ 14 h 28"/>
                <a:gd name="T6" fmla="*/ 12 w 27"/>
                <a:gd name="T7" fmla="*/ 17 h 28"/>
                <a:gd name="T8" fmla="*/ 19 w 27"/>
                <a:gd name="T9" fmla="*/ 26 h 28"/>
                <a:gd name="T10" fmla="*/ 16 w 27"/>
                <a:gd name="T11" fmla="*/ 28 h 28"/>
                <a:gd name="T12" fmla="*/ 0 w 27"/>
                <a:gd name="T13" fmla="*/ 6 h 28"/>
                <a:gd name="T14" fmla="*/ 5 w 27"/>
                <a:gd name="T15" fmla="*/ 2 h 28"/>
                <a:gd name="T16" fmla="*/ 11 w 27"/>
                <a:gd name="T17" fmla="*/ 0 h 28"/>
                <a:gd name="T18" fmla="*/ 18 w 27"/>
                <a:gd name="T19" fmla="*/ 8 h 28"/>
                <a:gd name="T20" fmla="*/ 17 w 27"/>
                <a:gd name="T21" fmla="*/ 12 h 28"/>
                <a:gd name="T22" fmla="*/ 27 w 27"/>
                <a:gd name="T23" fmla="*/ 20 h 28"/>
                <a:gd name="T24" fmla="*/ 10 w 27"/>
                <a:gd name="T25" fmla="*/ 4 h 28"/>
                <a:gd name="T26" fmla="*/ 5 w 27"/>
                <a:gd name="T27" fmla="*/ 6 h 28"/>
                <a:gd name="T28" fmla="*/ 10 w 27"/>
                <a:gd name="T29" fmla="*/ 13 h 28"/>
                <a:gd name="T30" fmla="*/ 14 w 27"/>
                <a:gd name="T31" fmla="*/ 10 h 28"/>
                <a:gd name="T32" fmla="*/ 10 w 27"/>
                <a:gd name="T33"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8">
                  <a:moveTo>
                    <a:pt x="27" y="20"/>
                  </a:moveTo>
                  <a:cubicBezTo>
                    <a:pt x="24" y="22"/>
                    <a:pt x="24" y="22"/>
                    <a:pt x="24" y="22"/>
                  </a:cubicBezTo>
                  <a:cubicBezTo>
                    <a:pt x="15" y="14"/>
                    <a:pt x="15" y="14"/>
                    <a:pt x="15" y="14"/>
                  </a:cubicBezTo>
                  <a:cubicBezTo>
                    <a:pt x="12" y="17"/>
                    <a:pt x="12" y="17"/>
                    <a:pt x="12" y="17"/>
                  </a:cubicBezTo>
                  <a:cubicBezTo>
                    <a:pt x="19" y="26"/>
                    <a:pt x="19" y="26"/>
                    <a:pt x="19" y="26"/>
                  </a:cubicBezTo>
                  <a:cubicBezTo>
                    <a:pt x="16" y="28"/>
                    <a:pt x="16" y="28"/>
                    <a:pt x="16" y="28"/>
                  </a:cubicBezTo>
                  <a:cubicBezTo>
                    <a:pt x="0" y="6"/>
                    <a:pt x="0" y="6"/>
                    <a:pt x="0" y="6"/>
                  </a:cubicBezTo>
                  <a:cubicBezTo>
                    <a:pt x="5" y="2"/>
                    <a:pt x="5" y="2"/>
                    <a:pt x="5" y="2"/>
                  </a:cubicBezTo>
                  <a:cubicBezTo>
                    <a:pt x="7" y="1"/>
                    <a:pt x="9" y="0"/>
                    <a:pt x="11" y="0"/>
                  </a:cubicBezTo>
                  <a:cubicBezTo>
                    <a:pt x="16" y="1"/>
                    <a:pt x="18" y="4"/>
                    <a:pt x="18" y="8"/>
                  </a:cubicBezTo>
                  <a:cubicBezTo>
                    <a:pt x="18" y="9"/>
                    <a:pt x="18" y="11"/>
                    <a:pt x="17" y="12"/>
                  </a:cubicBezTo>
                  <a:lnTo>
                    <a:pt x="27" y="20"/>
                  </a:lnTo>
                  <a:close/>
                  <a:moveTo>
                    <a:pt x="10" y="4"/>
                  </a:moveTo>
                  <a:cubicBezTo>
                    <a:pt x="8" y="3"/>
                    <a:pt x="6" y="5"/>
                    <a:pt x="5" y="6"/>
                  </a:cubicBezTo>
                  <a:cubicBezTo>
                    <a:pt x="10" y="13"/>
                    <a:pt x="10" y="13"/>
                    <a:pt x="10" y="13"/>
                  </a:cubicBezTo>
                  <a:cubicBezTo>
                    <a:pt x="12" y="12"/>
                    <a:pt x="12" y="12"/>
                    <a:pt x="14" y="10"/>
                  </a:cubicBezTo>
                  <a:cubicBezTo>
                    <a:pt x="14" y="7"/>
                    <a:pt x="13" y="5"/>
                    <a:pt x="10" y="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7" name="Freeform 120"/>
            <p:cNvSpPr/>
            <p:nvPr userDrawn="1"/>
          </p:nvSpPr>
          <p:spPr bwMode="auto">
            <a:xfrm>
              <a:off x="6073054" y="4196014"/>
              <a:ext cx="257143" cy="219328"/>
            </a:xfrm>
            <a:custGeom>
              <a:avLst/>
              <a:gdLst>
                <a:gd name="T0" fmla="*/ 22 w 28"/>
                <a:gd name="T1" fmla="*/ 10 h 24"/>
                <a:gd name="T2" fmla="*/ 19 w 28"/>
                <a:gd name="T3" fmla="*/ 24 h 24"/>
                <a:gd name="T4" fmla="*/ 14 w 28"/>
                <a:gd name="T5" fmla="*/ 23 h 24"/>
                <a:gd name="T6" fmla="*/ 15 w 28"/>
                <a:gd name="T7" fmla="*/ 20 h 24"/>
                <a:gd name="T8" fmla="*/ 18 w 28"/>
                <a:gd name="T9" fmla="*/ 21 h 24"/>
                <a:gd name="T10" fmla="*/ 20 w 28"/>
                <a:gd name="T11" fmla="*/ 13 h 24"/>
                <a:gd name="T12" fmla="*/ 17 w 28"/>
                <a:gd name="T13" fmla="*/ 12 h 24"/>
                <a:gd name="T14" fmla="*/ 8 w 28"/>
                <a:gd name="T15" fmla="*/ 15 h 24"/>
                <a:gd name="T16" fmla="*/ 0 w 28"/>
                <a:gd name="T17" fmla="*/ 9 h 24"/>
                <a:gd name="T18" fmla="*/ 2 w 28"/>
                <a:gd name="T19" fmla="*/ 4 h 24"/>
                <a:gd name="T20" fmla="*/ 11 w 28"/>
                <a:gd name="T21" fmla="*/ 2 h 24"/>
                <a:gd name="T22" fmla="*/ 10 w 28"/>
                <a:gd name="T23" fmla="*/ 5 h 24"/>
                <a:gd name="T24" fmla="*/ 4 w 28"/>
                <a:gd name="T25" fmla="*/ 6 h 24"/>
                <a:gd name="T26" fmla="*/ 3 w 28"/>
                <a:gd name="T27" fmla="*/ 9 h 24"/>
                <a:gd name="T28" fmla="*/ 7 w 28"/>
                <a:gd name="T29" fmla="*/ 12 h 24"/>
                <a:gd name="T30" fmla="*/ 17 w 28"/>
                <a:gd name="T31" fmla="*/ 9 h 24"/>
                <a:gd name="T32" fmla="*/ 22 w 28"/>
                <a:gd name="T33" fmla="*/ 1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 h="24">
                  <a:moveTo>
                    <a:pt x="22" y="10"/>
                  </a:moveTo>
                  <a:cubicBezTo>
                    <a:pt x="28" y="13"/>
                    <a:pt x="26" y="23"/>
                    <a:pt x="19" y="24"/>
                  </a:cubicBezTo>
                  <a:cubicBezTo>
                    <a:pt x="17" y="24"/>
                    <a:pt x="15" y="24"/>
                    <a:pt x="14" y="23"/>
                  </a:cubicBezTo>
                  <a:cubicBezTo>
                    <a:pt x="15" y="20"/>
                    <a:pt x="15" y="20"/>
                    <a:pt x="15" y="20"/>
                  </a:cubicBezTo>
                  <a:cubicBezTo>
                    <a:pt x="16" y="21"/>
                    <a:pt x="17" y="21"/>
                    <a:pt x="18" y="21"/>
                  </a:cubicBezTo>
                  <a:cubicBezTo>
                    <a:pt x="23" y="20"/>
                    <a:pt x="23" y="15"/>
                    <a:pt x="20" y="13"/>
                  </a:cubicBezTo>
                  <a:cubicBezTo>
                    <a:pt x="19" y="12"/>
                    <a:pt x="18" y="12"/>
                    <a:pt x="17" y="12"/>
                  </a:cubicBezTo>
                  <a:cubicBezTo>
                    <a:pt x="13" y="13"/>
                    <a:pt x="11" y="15"/>
                    <a:pt x="8" y="15"/>
                  </a:cubicBezTo>
                  <a:cubicBezTo>
                    <a:pt x="4" y="15"/>
                    <a:pt x="1" y="13"/>
                    <a:pt x="0" y="9"/>
                  </a:cubicBezTo>
                  <a:cubicBezTo>
                    <a:pt x="0" y="7"/>
                    <a:pt x="1" y="5"/>
                    <a:pt x="2" y="4"/>
                  </a:cubicBezTo>
                  <a:cubicBezTo>
                    <a:pt x="4" y="0"/>
                    <a:pt x="8" y="0"/>
                    <a:pt x="11" y="2"/>
                  </a:cubicBezTo>
                  <a:cubicBezTo>
                    <a:pt x="10" y="5"/>
                    <a:pt x="10" y="5"/>
                    <a:pt x="10" y="5"/>
                  </a:cubicBezTo>
                  <a:cubicBezTo>
                    <a:pt x="8" y="4"/>
                    <a:pt x="5" y="4"/>
                    <a:pt x="4" y="6"/>
                  </a:cubicBezTo>
                  <a:cubicBezTo>
                    <a:pt x="3" y="7"/>
                    <a:pt x="3" y="8"/>
                    <a:pt x="3" y="9"/>
                  </a:cubicBezTo>
                  <a:cubicBezTo>
                    <a:pt x="4" y="11"/>
                    <a:pt x="5" y="12"/>
                    <a:pt x="7" y="12"/>
                  </a:cubicBezTo>
                  <a:cubicBezTo>
                    <a:pt x="11" y="11"/>
                    <a:pt x="13" y="8"/>
                    <a:pt x="17" y="9"/>
                  </a:cubicBezTo>
                  <a:cubicBezTo>
                    <a:pt x="18" y="9"/>
                    <a:pt x="20" y="9"/>
                    <a:pt x="22" y="1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8" name="Freeform 121"/>
            <p:cNvSpPr/>
            <p:nvPr userDrawn="1"/>
          </p:nvSpPr>
          <p:spPr bwMode="auto">
            <a:xfrm>
              <a:off x="6156248" y="4120384"/>
              <a:ext cx="234454" cy="158823"/>
            </a:xfrm>
            <a:custGeom>
              <a:avLst/>
              <a:gdLst>
                <a:gd name="T0" fmla="*/ 31 w 31"/>
                <a:gd name="T1" fmla="*/ 17 h 21"/>
                <a:gd name="T2" fmla="*/ 28 w 31"/>
                <a:gd name="T3" fmla="*/ 21 h 21"/>
                <a:gd name="T4" fmla="*/ 0 w 31"/>
                <a:gd name="T5" fmla="*/ 2 h 21"/>
                <a:gd name="T6" fmla="*/ 2 w 31"/>
                <a:gd name="T7" fmla="*/ 0 h 21"/>
                <a:gd name="T8" fmla="*/ 31 w 31"/>
                <a:gd name="T9" fmla="*/ 17 h 21"/>
              </a:gdLst>
              <a:ahLst/>
              <a:cxnLst>
                <a:cxn ang="0">
                  <a:pos x="T0" y="T1"/>
                </a:cxn>
                <a:cxn ang="0">
                  <a:pos x="T2" y="T3"/>
                </a:cxn>
                <a:cxn ang="0">
                  <a:pos x="T4" y="T5"/>
                </a:cxn>
                <a:cxn ang="0">
                  <a:pos x="T6" y="T7"/>
                </a:cxn>
                <a:cxn ang="0">
                  <a:pos x="T8" y="T9"/>
                </a:cxn>
              </a:cxnLst>
              <a:rect l="0" t="0" r="r" b="b"/>
              <a:pathLst>
                <a:path w="31" h="21">
                  <a:moveTo>
                    <a:pt x="31" y="17"/>
                  </a:moveTo>
                  <a:lnTo>
                    <a:pt x="28" y="21"/>
                  </a:lnTo>
                  <a:lnTo>
                    <a:pt x="0" y="2"/>
                  </a:lnTo>
                  <a:lnTo>
                    <a:pt x="2" y="0"/>
                  </a:lnTo>
                  <a:lnTo>
                    <a:pt x="31" y="17"/>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29" name="Freeform 122"/>
            <p:cNvSpPr/>
            <p:nvPr userDrawn="1"/>
          </p:nvSpPr>
          <p:spPr bwMode="auto">
            <a:xfrm>
              <a:off x="6194063" y="3953997"/>
              <a:ext cx="272269" cy="211765"/>
            </a:xfrm>
            <a:custGeom>
              <a:avLst/>
              <a:gdLst>
                <a:gd name="T0" fmla="*/ 11 w 36"/>
                <a:gd name="T1" fmla="*/ 3 h 28"/>
                <a:gd name="T2" fmla="*/ 8 w 36"/>
                <a:gd name="T3" fmla="*/ 9 h 28"/>
                <a:gd name="T4" fmla="*/ 36 w 36"/>
                <a:gd name="T5" fmla="*/ 25 h 28"/>
                <a:gd name="T6" fmla="*/ 33 w 36"/>
                <a:gd name="T7" fmla="*/ 28 h 28"/>
                <a:gd name="T8" fmla="*/ 6 w 36"/>
                <a:gd name="T9" fmla="*/ 13 h 28"/>
                <a:gd name="T10" fmla="*/ 3 w 36"/>
                <a:gd name="T11" fmla="*/ 18 h 28"/>
                <a:gd name="T12" fmla="*/ 0 w 36"/>
                <a:gd name="T13" fmla="*/ 17 h 28"/>
                <a:gd name="T14" fmla="*/ 7 w 36"/>
                <a:gd name="T15" fmla="*/ 0 h 28"/>
                <a:gd name="T16" fmla="*/ 11 w 36"/>
                <a:gd name="T17"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28">
                  <a:moveTo>
                    <a:pt x="11" y="3"/>
                  </a:moveTo>
                  <a:lnTo>
                    <a:pt x="8" y="9"/>
                  </a:lnTo>
                  <a:lnTo>
                    <a:pt x="36" y="25"/>
                  </a:lnTo>
                  <a:lnTo>
                    <a:pt x="33" y="28"/>
                  </a:lnTo>
                  <a:lnTo>
                    <a:pt x="6" y="13"/>
                  </a:lnTo>
                  <a:lnTo>
                    <a:pt x="3" y="18"/>
                  </a:lnTo>
                  <a:lnTo>
                    <a:pt x="0" y="17"/>
                  </a:lnTo>
                  <a:lnTo>
                    <a:pt x="7" y="0"/>
                  </a:lnTo>
                  <a:lnTo>
                    <a:pt x="11" y="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30" name="Freeform 123"/>
            <p:cNvSpPr/>
            <p:nvPr userDrawn="1"/>
          </p:nvSpPr>
          <p:spPr bwMode="auto">
            <a:xfrm>
              <a:off x="6254567" y="3810300"/>
              <a:ext cx="272269" cy="173950"/>
            </a:xfrm>
            <a:custGeom>
              <a:avLst/>
              <a:gdLst>
                <a:gd name="T0" fmla="*/ 8 w 36"/>
                <a:gd name="T1" fmla="*/ 0 h 23"/>
                <a:gd name="T2" fmla="*/ 25 w 36"/>
                <a:gd name="T3" fmla="*/ 14 h 23"/>
                <a:gd name="T4" fmla="*/ 36 w 36"/>
                <a:gd name="T5" fmla="*/ 19 h 23"/>
                <a:gd name="T6" fmla="*/ 34 w 36"/>
                <a:gd name="T7" fmla="*/ 23 h 23"/>
                <a:gd name="T8" fmla="*/ 24 w 36"/>
                <a:gd name="T9" fmla="*/ 18 h 23"/>
                <a:gd name="T10" fmla="*/ 0 w 36"/>
                <a:gd name="T11" fmla="*/ 18 h 23"/>
                <a:gd name="T12" fmla="*/ 2 w 36"/>
                <a:gd name="T13" fmla="*/ 14 h 23"/>
                <a:gd name="T14" fmla="*/ 18 w 36"/>
                <a:gd name="T15" fmla="*/ 14 h 23"/>
                <a:gd name="T16" fmla="*/ 7 w 36"/>
                <a:gd name="T17" fmla="*/ 5 h 23"/>
                <a:gd name="T18" fmla="*/ 8 w 36"/>
                <a:gd name="T1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23">
                  <a:moveTo>
                    <a:pt x="8" y="0"/>
                  </a:moveTo>
                  <a:lnTo>
                    <a:pt x="25" y="14"/>
                  </a:lnTo>
                  <a:lnTo>
                    <a:pt x="36" y="19"/>
                  </a:lnTo>
                  <a:lnTo>
                    <a:pt x="34" y="23"/>
                  </a:lnTo>
                  <a:lnTo>
                    <a:pt x="24" y="18"/>
                  </a:lnTo>
                  <a:lnTo>
                    <a:pt x="0" y="18"/>
                  </a:lnTo>
                  <a:lnTo>
                    <a:pt x="2" y="14"/>
                  </a:lnTo>
                  <a:lnTo>
                    <a:pt x="18" y="14"/>
                  </a:lnTo>
                  <a:lnTo>
                    <a:pt x="7" y="5"/>
                  </a:lnTo>
                  <a:lnTo>
                    <a:pt x="8"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31" name="Freeform 124"/>
            <p:cNvSpPr/>
            <p:nvPr userDrawn="1"/>
          </p:nvSpPr>
          <p:spPr bwMode="auto">
            <a:xfrm>
              <a:off x="4462130" y="4286770"/>
              <a:ext cx="257143" cy="189076"/>
            </a:xfrm>
            <a:custGeom>
              <a:avLst/>
              <a:gdLst>
                <a:gd name="T0" fmla="*/ 14 w 28"/>
                <a:gd name="T1" fmla="*/ 16 h 20"/>
                <a:gd name="T2" fmla="*/ 8 w 28"/>
                <a:gd name="T3" fmla="*/ 20 h 20"/>
                <a:gd name="T4" fmla="*/ 2 w 28"/>
                <a:gd name="T5" fmla="*/ 17 h 20"/>
                <a:gd name="T6" fmla="*/ 0 w 28"/>
                <a:gd name="T7" fmla="*/ 12 h 20"/>
                <a:gd name="T8" fmla="*/ 1 w 28"/>
                <a:gd name="T9" fmla="*/ 9 h 20"/>
                <a:gd name="T10" fmla="*/ 4 w 28"/>
                <a:gd name="T11" fmla="*/ 10 h 20"/>
                <a:gd name="T12" fmla="*/ 3 w 28"/>
                <a:gd name="T13" fmla="*/ 12 h 20"/>
                <a:gd name="T14" fmla="*/ 4 w 28"/>
                <a:gd name="T15" fmla="*/ 15 h 20"/>
                <a:gd name="T16" fmla="*/ 8 w 28"/>
                <a:gd name="T17" fmla="*/ 16 h 20"/>
                <a:gd name="T18" fmla="*/ 12 w 28"/>
                <a:gd name="T19" fmla="*/ 14 h 20"/>
                <a:gd name="T20" fmla="*/ 25 w 28"/>
                <a:gd name="T21" fmla="*/ 0 h 20"/>
                <a:gd name="T22" fmla="*/ 28 w 28"/>
                <a:gd name="T23" fmla="*/ 3 h 20"/>
                <a:gd name="T24" fmla="*/ 14 w 28"/>
                <a:gd name="T25"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 h="20">
                  <a:moveTo>
                    <a:pt x="14" y="16"/>
                  </a:moveTo>
                  <a:cubicBezTo>
                    <a:pt x="12" y="18"/>
                    <a:pt x="10" y="20"/>
                    <a:pt x="8" y="20"/>
                  </a:cubicBezTo>
                  <a:cubicBezTo>
                    <a:pt x="6" y="20"/>
                    <a:pt x="4" y="19"/>
                    <a:pt x="2" y="17"/>
                  </a:cubicBezTo>
                  <a:cubicBezTo>
                    <a:pt x="1" y="16"/>
                    <a:pt x="0" y="14"/>
                    <a:pt x="0" y="12"/>
                  </a:cubicBezTo>
                  <a:cubicBezTo>
                    <a:pt x="0" y="11"/>
                    <a:pt x="0" y="10"/>
                    <a:pt x="1" y="9"/>
                  </a:cubicBezTo>
                  <a:cubicBezTo>
                    <a:pt x="4" y="10"/>
                    <a:pt x="4" y="10"/>
                    <a:pt x="4" y="10"/>
                  </a:cubicBezTo>
                  <a:cubicBezTo>
                    <a:pt x="3" y="11"/>
                    <a:pt x="3" y="11"/>
                    <a:pt x="3" y="12"/>
                  </a:cubicBezTo>
                  <a:cubicBezTo>
                    <a:pt x="3" y="13"/>
                    <a:pt x="4" y="14"/>
                    <a:pt x="4" y="15"/>
                  </a:cubicBezTo>
                  <a:cubicBezTo>
                    <a:pt x="5" y="16"/>
                    <a:pt x="6" y="16"/>
                    <a:pt x="8" y="16"/>
                  </a:cubicBezTo>
                  <a:cubicBezTo>
                    <a:pt x="9" y="16"/>
                    <a:pt x="10" y="15"/>
                    <a:pt x="12" y="14"/>
                  </a:cubicBezTo>
                  <a:cubicBezTo>
                    <a:pt x="25" y="0"/>
                    <a:pt x="25" y="0"/>
                    <a:pt x="25" y="0"/>
                  </a:cubicBezTo>
                  <a:cubicBezTo>
                    <a:pt x="28" y="3"/>
                    <a:pt x="28" y="3"/>
                    <a:pt x="28" y="3"/>
                  </a:cubicBezTo>
                  <a:lnTo>
                    <a:pt x="14" y="16"/>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32" name="Freeform 125"/>
            <p:cNvSpPr>
              <a:spLocks noEditPoints="1"/>
            </p:cNvSpPr>
            <p:nvPr userDrawn="1"/>
          </p:nvSpPr>
          <p:spPr bwMode="auto">
            <a:xfrm>
              <a:off x="4938600" y="4203577"/>
              <a:ext cx="801681" cy="249580"/>
            </a:xfrm>
            <a:custGeom>
              <a:avLst/>
              <a:gdLst>
                <a:gd name="T0" fmla="*/ 0 w 86"/>
                <a:gd name="T1" fmla="*/ 15 h 27"/>
                <a:gd name="T2" fmla="*/ 4 w 86"/>
                <a:gd name="T3" fmla="*/ 15 h 27"/>
                <a:gd name="T4" fmla="*/ 6 w 86"/>
                <a:gd name="T5" fmla="*/ 3 h 27"/>
                <a:gd name="T6" fmla="*/ 10 w 86"/>
                <a:gd name="T7" fmla="*/ 3 h 27"/>
                <a:gd name="T8" fmla="*/ 14 w 86"/>
                <a:gd name="T9" fmla="*/ 4 h 27"/>
                <a:gd name="T10" fmla="*/ 10 w 86"/>
                <a:gd name="T11" fmla="*/ 19 h 27"/>
                <a:gd name="T12" fmla="*/ 37 w 86"/>
                <a:gd name="T13" fmla="*/ 14 h 27"/>
                <a:gd name="T14" fmla="*/ 33 w 86"/>
                <a:gd name="T15" fmla="*/ 11 h 27"/>
                <a:gd name="T16" fmla="*/ 28 w 86"/>
                <a:gd name="T17" fmla="*/ 13 h 27"/>
                <a:gd name="T18" fmla="*/ 30 w 86"/>
                <a:gd name="T19" fmla="*/ 16 h 27"/>
                <a:gd name="T20" fmla="*/ 34 w 86"/>
                <a:gd name="T21" fmla="*/ 17 h 27"/>
                <a:gd name="T22" fmla="*/ 37 w 86"/>
                <a:gd name="T23" fmla="*/ 14 h 27"/>
                <a:gd name="T24" fmla="*/ 36 w 86"/>
                <a:gd name="T25" fmla="*/ 21 h 27"/>
                <a:gd name="T26" fmla="*/ 32 w 86"/>
                <a:gd name="T27" fmla="*/ 19 h 27"/>
                <a:gd name="T28" fmla="*/ 27 w 86"/>
                <a:gd name="T29" fmla="*/ 19 h 27"/>
                <a:gd name="T30" fmla="*/ 27 w 86"/>
                <a:gd name="T31" fmla="*/ 24 h 27"/>
                <a:gd name="T32" fmla="*/ 34 w 86"/>
                <a:gd name="T33" fmla="*/ 25 h 27"/>
                <a:gd name="T34" fmla="*/ 30 w 86"/>
                <a:gd name="T35" fmla="*/ 27 h 27"/>
                <a:gd name="T36" fmla="*/ 24 w 86"/>
                <a:gd name="T37" fmla="*/ 25 h 27"/>
                <a:gd name="T38" fmla="*/ 23 w 86"/>
                <a:gd name="T39" fmla="*/ 21 h 27"/>
                <a:gd name="T40" fmla="*/ 28 w 86"/>
                <a:gd name="T41" fmla="*/ 17 h 27"/>
                <a:gd name="T42" fmla="*/ 25 w 86"/>
                <a:gd name="T43" fmla="*/ 15 h 27"/>
                <a:gd name="T44" fmla="*/ 28 w 86"/>
                <a:gd name="T45" fmla="*/ 10 h 27"/>
                <a:gd name="T46" fmla="*/ 39 w 86"/>
                <a:gd name="T47" fmla="*/ 11 h 27"/>
                <a:gd name="T48" fmla="*/ 39 w 86"/>
                <a:gd name="T49" fmla="*/ 17 h 27"/>
                <a:gd name="T50" fmla="*/ 36 w 86"/>
                <a:gd name="T51" fmla="*/ 18 h 27"/>
                <a:gd name="T52" fmla="*/ 39 w 86"/>
                <a:gd name="T53" fmla="*/ 23 h 27"/>
                <a:gd name="T54" fmla="*/ 30 w 86"/>
                <a:gd name="T55" fmla="*/ 27 h 27"/>
                <a:gd name="T56" fmla="*/ 62 w 86"/>
                <a:gd name="T57" fmla="*/ 14 h 27"/>
                <a:gd name="T58" fmla="*/ 59 w 86"/>
                <a:gd name="T59" fmla="*/ 11 h 27"/>
                <a:gd name="T60" fmla="*/ 54 w 86"/>
                <a:gd name="T61" fmla="*/ 12 h 27"/>
                <a:gd name="T62" fmla="*/ 53 w 86"/>
                <a:gd name="T63" fmla="*/ 17 h 27"/>
                <a:gd name="T64" fmla="*/ 56 w 86"/>
                <a:gd name="T65" fmla="*/ 19 h 27"/>
                <a:gd name="T66" fmla="*/ 60 w 86"/>
                <a:gd name="T67" fmla="*/ 18 h 27"/>
                <a:gd name="T68" fmla="*/ 63 w 86"/>
                <a:gd name="T69" fmla="*/ 17 h 27"/>
                <a:gd name="T70" fmla="*/ 50 w 86"/>
                <a:gd name="T71" fmla="*/ 15 h 27"/>
                <a:gd name="T72" fmla="*/ 52 w 86"/>
                <a:gd name="T73" fmla="*/ 11 h 27"/>
                <a:gd name="T74" fmla="*/ 58 w 86"/>
                <a:gd name="T75" fmla="*/ 9 h 27"/>
                <a:gd name="T76" fmla="*/ 63 w 86"/>
                <a:gd name="T77" fmla="*/ 11 h 27"/>
                <a:gd name="T78" fmla="*/ 66 w 86"/>
                <a:gd name="T79" fmla="*/ 17 h 27"/>
                <a:gd name="T80" fmla="*/ 63 w 86"/>
                <a:gd name="T81" fmla="*/ 24 h 27"/>
                <a:gd name="T82" fmla="*/ 55 w 86"/>
                <a:gd name="T83" fmla="*/ 27 h 27"/>
                <a:gd name="T84" fmla="*/ 52 w 86"/>
                <a:gd name="T85" fmla="*/ 27 h 27"/>
                <a:gd name="T86" fmla="*/ 52 w 86"/>
                <a:gd name="T87" fmla="*/ 25 h 27"/>
                <a:gd name="T88" fmla="*/ 55 w 86"/>
                <a:gd name="T89" fmla="*/ 25 h 27"/>
                <a:gd name="T90" fmla="*/ 62 w 86"/>
                <a:gd name="T91" fmla="*/ 19 h 27"/>
                <a:gd name="T92" fmla="*/ 57 w 86"/>
                <a:gd name="T93" fmla="*/ 21 h 27"/>
                <a:gd name="T94" fmla="*/ 52 w 86"/>
                <a:gd name="T95" fmla="*/ 20 h 27"/>
                <a:gd name="T96" fmla="*/ 50 w 86"/>
                <a:gd name="T97" fmla="*/ 15 h 27"/>
                <a:gd name="T98" fmla="*/ 86 w 86"/>
                <a:gd name="T99" fmla="*/ 18 h 27"/>
                <a:gd name="T100" fmla="*/ 83 w 86"/>
                <a:gd name="T101" fmla="*/ 3 h 27"/>
                <a:gd name="T102" fmla="*/ 72 w 86"/>
                <a:gd name="T103" fmla="*/ 6 h 27"/>
                <a:gd name="T104" fmla="*/ 86 w 86"/>
                <a:gd name="T105"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6" h="27">
                  <a:moveTo>
                    <a:pt x="9" y="20"/>
                  </a:moveTo>
                  <a:cubicBezTo>
                    <a:pt x="0" y="15"/>
                    <a:pt x="0" y="15"/>
                    <a:pt x="0" y="15"/>
                  </a:cubicBezTo>
                  <a:cubicBezTo>
                    <a:pt x="0" y="13"/>
                    <a:pt x="0" y="13"/>
                    <a:pt x="0" y="13"/>
                  </a:cubicBezTo>
                  <a:cubicBezTo>
                    <a:pt x="4" y="15"/>
                    <a:pt x="4" y="15"/>
                    <a:pt x="4" y="15"/>
                  </a:cubicBezTo>
                  <a:cubicBezTo>
                    <a:pt x="10" y="5"/>
                    <a:pt x="10" y="5"/>
                    <a:pt x="10" y="5"/>
                  </a:cubicBezTo>
                  <a:cubicBezTo>
                    <a:pt x="6" y="3"/>
                    <a:pt x="6" y="3"/>
                    <a:pt x="6" y="3"/>
                  </a:cubicBezTo>
                  <a:cubicBezTo>
                    <a:pt x="7" y="2"/>
                    <a:pt x="7" y="2"/>
                    <a:pt x="7" y="2"/>
                  </a:cubicBezTo>
                  <a:cubicBezTo>
                    <a:pt x="8" y="3"/>
                    <a:pt x="9" y="3"/>
                    <a:pt x="10" y="3"/>
                  </a:cubicBezTo>
                  <a:cubicBezTo>
                    <a:pt x="11" y="3"/>
                    <a:pt x="11" y="3"/>
                    <a:pt x="12" y="2"/>
                  </a:cubicBezTo>
                  <a:cubicBezTo>
                    <a:pt x="14" y="4"/>
                    <a:pt x="14" y="4"/>
                    <a:pt x="14" y="4"/>
                  </a:cubicBezTo>
                  <a:cubicBezTo>
                    <a:pt x="6" y="17"/>
                    <a:pt x="6" y="17"/>
                    <a:pt x="6" y="17"/>
                  </a:cubicBezTo>
                  <a:cubicBezTo>
                    <a:pt x="10" y="19"/>
                    <a:pt x="10" y="19"/>
                    <a:pt x="10" y="19"/>
                  </a:cubicBezTo>
                  <a:lnTo>
                    <a:pt x="9" y="20"/>
                  </a:lnTo>
                  <a:close/>
                  <a:moveTo>
                    <a:pt x="37" y="14"/>
                  </a:moveTo>
                  <a:cubicBezTo>
                    <a:pt x="37" y="14"/>
                    <a:pt x="37" y="13"/>
                    <a:pt x="36" y="12"/>
                  </a:cubicBezTo>
                  <a:cubicBezTo>
                    <a:pt x="36" y="12"/>
                    <a:pt x="35" y="11"/>
                    <a:pt x="33" y="11"/>
                  </a:cubicBezTo>
                  <a:cubicBezTo>
                    <a:pt x="32" y="11"/>
                    <a:pt x="31" y="11"/>
                    <a:pt x="30" y="11"/>
                  </a:cubicBezTo>
                  <a:cubicBezTo>
                    <a:pt x="29" y="12"/>
                    <a:pt x="29" y="12"/>
                    <a:pt x="28" y="13"/>
                  </a:cubicBezTo>
                  <a:cubicBezTo>
                    <a:pt x="28" y="14"/>
                    <a:pt x="28" y="14"/>
                    <a:pt x="29" y="15"/>
                  </a:cubicBezTo>
                  <a:cubicBezTo>
                    <a:pt x="29" y="15"/>
                    <a:pt x="30" y="15"/>
                    <a:pt x="30" y="16"/>
                  </a:cubicBezTo>
                  <a:cubicBezTo>
                    <a:pt x="31" y="16"/>
                    <a:pt x="31" y="16"/>
                    <a:pt x="32" y="17"/>
                  </a:cubicBezTo>
                  <a:cubicBezTo>
                    <a:pt x="33" y="17"/>
                    <a:pt x="33" y="17"/>
                    <a:pt x="34" y="17"/>
                  </a:cubicBezTo>
                  <a:cubicBezTo>
                    <a:pt x="35" y="17"/>
                    <a:pt x="36" y="17"/>
                    <a:pt x="36" y="16"/>
                  </a:cubicBezTo>
                  <a:cubicBezTo>
                    <a:pt x="37" y="16"/>
                    <a:pt x="37" y="15"/>
                    <a:pt x="37" y="14"/>
                  </a:cubicBezTo>
                  <a:moveTo>
                    <a:pt x="36" y="23"/>
                  </a:moveTo>
                  <a:cubicBezTo>
                    <a:pt x="36" y="22"/>
                    <a:pt x="36" y="22"/>
                    <a:pt x="36" y="21"/>
                  </a:cubicBezTo>
                  <a:cubicBezTo>
                    <a:pt x="35" y="21"/>
                    <a:pt x="34" y="20"/>
                    <a:pt x="33" y="20"/>
                  </a:cubicBezTo>
                  <a:cubicBezTo>
                    <a:pt x="33" y="19"/>
                    <a:pt x="33" y="19"/>
                    <a:pt x="32" y="19"/>
                  </a:cubicBezTo>
                  <a:cubicBezTo>
                    <a:pt x="31" y="19"/>
                    <a:pt x="31" y="18"/>
                    <a:pt x="30" y="18"/>
                  </a:cubicBezTo>
                  <a:cubicBezTo>
                    <a:pt x="29" y="18"/>
                    <a:pt x="28" y="19"/>
                    <a:pt x="27" y="19"/>
                  </a:cubicBezTo>
                  <a:cubicBezTo>
                    <a:pt x="27" y="20"/>
                    <a:pt x="26" y="20"/>
                    <a:pt x="26" y="21"/>
                  </a:cubicBezTo>
                  <a:cubicBezTo>
                    <a:pt x="26" y="22"/>
                    <a:pt x="26" y="23"/>
                    <a:pt x="27" y="24"/>
                  </a:cubicBezTo>
                  <a:cubicBezTo>
                    <a:pt x="28" y="25"/>
                    <a:pt x="29" y="25"/>
                    <a:pt x="30" y="25"/>
                  </a:cubicBezTo>
                  <a:cubicBezTo>
                    <a:pt x="32" y="26"/>
                    <a:pt x="33" y="25"/>
                    <a:pt x="34" y="25"/>
                  </a:cubicBezTo>
                  <a:cubicBezTo>
                    <a:pt x="35" y="24"/>
                    <a:pt x="36" y="24"/>
                    <a:pt x="36" y="23"/>
                  </a:cubicBezTo>
                  <a:moveTo>
                    <a:pt x="30" y="27"/>
                  </a:moveTo>
                  <a:cubicBezTo>
                    <a:pt x="29" y="27"/>
                    <a:pt x="28" y="27"/>
                    <a:pt x="27" y="26"/>
                  </a:cubicBezTo>
                  <a:cubicBezTo>
                    <a:pt x="26" y="26"/>
                    <a:pt x="25" y="25"/>
                    <a:pt x="24" y="25"/>
                  </a:cubicBezTo>
                  <a:cubicBezTo>
                    <a:pt x="23" y="24"/>
                    <a:pt x="23" y="24"/>
                    <a:pt x="23" y="23"/>
                  </a:cubicBezTo>
                  <a:cubicBezTo>
                    <a:pt x="23" y="22"/>
                    <a:pt x="22" y="21"/>
                    <a:pt x="23" y="21"/>
                  </a:cubicBezTo>
                  <a:cubicBezTo>
                    <a:pt x="23" y="20"/>
                    <a:pt x="23" y="19"/>
                    <a:pt x="24" y="18"/>
                  </a:cubicBezTo>
                  <a:cubicBezTo>
                    <a:pt x="25" y="18"/>
                    <a:pt x="26" y="17"/>
                    <a:pt x="28" y="17"/>
                  </a:cubicBezTo>
                  <a:cubicBezTo>
                    <a:pt x="28" y="17"/>
                    <a:pt x="28" y="17"/>
                    <a:pt x="28" y="17"/>
                  </a:cubicBezTo>
                  <a:cubicBezTo>
                    <a:pt x="27" y="16"/>
                    <a:pt x="26" y="16"/>
                    <a:pt x="25" y="15"/>
                  </a:cubicBezTo>
                  <a:cubicBezTo>
                    <a:pt x="25" y="14"/>
                    <a:pt x="25" y="14"/>
                    <a:pt x="25" y="13"/>
                  </a:cubicBezTo>
                  <a:cubicBezTo>
                    <a:pt x="25" y="12"/>
                    <a:pt x="26" y="11"/>
                    <a:pt x="28" y="10"/>
                  </a:cubicBezTo>
                  <a:cubicBezTo>
                    <a:pt x="29" y="9"/>
                    <a:pt x="31" y="9"/>
                    <a:pt x="34" y="10"/>
                  </a:cubicBezTo>
                  <a:cubicBezTo>
                    <a:pt x="36" y="10"/>
                    <a:pt x="38" y="10"/>
                    <a:pt x="39" y="11"/>
                  </a:cubicBezTo>
                  <a:cubicBezTo>
                    <a:pt x="40" y="12"/>
                    <a:pt x="41" y="14"/>
                    <a:pt x="40" y="15"/>
                  </a:cubicBezTo>
                  <a:cubicBezTo>
                    <a:pt x="40" y="16"/>
                    <a:pt x="40" y="16"/>
                    <a:pt x="39" y="17"/>
                  </a:cubicBezTo>
                  <a:cubicBezTo>
                    <a:pt x="38" y="18"/>
                    <a:pt x="37" y="18"/>
                    <a:pt x="36" y="18"/>
                  </a:cubicBezTo>
                  <a:cubicBezTo>
                    <a:pt x="36" y="18"/>
                    <a:pt x="36" y="18"/>
                    <a:pt x="36" y="18"/>
                  </a:cubicBezTo>
                  <a:cubicBezTo>
                    <a:pt x="37" y="19"/>
                    <a:pt x="38" y="20"/>
                    <a:pt x="39" y="20"/>
                  </a:cubicBezTo>
                  <a:cubicBezTo>
                    <a:pt x="39" y="21"/>
                    <a:pt x="40" y="22"/>
                    <a:pt x="39" y="23"/>
                  </a:cubicBezTo>
                  <a:cubicBezTo>
                    <a:pt x="39" y="25"/>
                    <a:pt x="38" y="26"/>
                    <a:pt x="36" y="26"/>
                  </a:cubicBezTo>
                  <a:cubicBezTo>
                    <a:pt x="34" y="27"/>
                    <a:pt x="32" y="27"/>
                    <a:pt x="30" y="27"/>
                  </a:cubicBezTo>
                  <a:moveTo>
                    <a:pt x="63" y="17"/>
                  </a:moveTo>
                  <a:cubicBezTo>
                    <a:pt x="63" y="15"/>
                    <a:pt x="62" y="15"/>
                    <a:pt x="62" y="14"/>
                  </a:cubicBezTo>
                  <a:cubicBezTo>
                    <a:pt x="62" y="13"/>
                    <a:pt x="61" y="13"/>
                    <a:pt x="61" y="12"/>
                  </a:cubicBezTo>
                  <a:cubicBezTo>
                    <a:pt x="60" y="12"/>
                    <a:pt x="60" y="12"/>
                    <a:pt x="59" y="11"/>
                  </a:cubicBezTo>
                  <a:cubicBezTo>
                    <a:pt x="59" y="11"/>
                    <a:pt x="58" y="11"/>
                    <a:pt x="58" y="11"/>
                  </a:cubicBezTo>
                  <a:cubicBezTo>
                    <a:pt x="56" y="11"/>
                    <a:pt x="55" y="12"/>
                    <a:pt x="54" y="12"/>
                  </a:cubicBezTo>
                  <a:cubicBezTo>
                    <a:pt x="53" y="13"/>
                    <a:pt x="53" y="14"/>
                    <a:pt x="53" y="15"/>
                  </a:cubicBezTo>
                  <a:cubicBezTo>
                    <a:pt x="53" y="16"/>
                    <a:pt x="53" y="16"/>
                    <a:pt x="53" y="17"/>
                  </a:cubicBezTo>
                  <a:cubicBezTo>
                    <a:pt x="54" y="17"/>
                    <a:pt x="54" y="18"/>
                    <a:pt x="55" y="18"/>
                  </a:cubicBezTo>
                  <a:cubicBezTo>
                    <a:pt x="55" y="18"/>
                    <a:pt x="56" y="18"/>
                    <a:pt x="56" y="19"/>
                  </a:cubicBezTo>
                  <a:cubicBezTo>
                    <a:pt x="57" y="19"/>
                    <a:pt x="57" y="19"/>
                    <a:pt x="58" y="19"/>
                  </a:cubicBezTo>
                  <a:cubicBezTo>
                    <a:pt x="59" y="19"/>
                    <a:pt x="59" y="19"/>
                    <a:pt x="60" y="18"/>
                  </a:cubicBezTo>
                  <a:cubicBezTo>
                    <a:pt x="61" y="18"/>
                    <a:pt x="62" y="18"/>
                    <a:pt x="62" y="18"/>
                  </a:cubicBezTo>
                  <a:cubicBezTo>
                    <a:pt x="63" y="18"/>
                    <a:pt x="63" y="17"/>
                    <a:pt x="63" y="17"/>
                  </a:cubicBezTo>
                  <a:cubicBezTo>
                    <a:pt x="63" y="17"/>
                    <a:pt x="63" y="17"/>
                    <a:pt x="63" y="17"/>
                  </a:cubicBezTo>
                  <a:moveTo>
                    <a:pt x="50" y="15"/>
                  </a:moveTo>
                  <a:cubicBezTo>
                    <a:pt x="50" y="14"/>
                    <a:pt x="50" y="14"/>
                    <a:pt x="50" y="13"/>
                  </a:cubicBezTo>
                  <a:cubicBezTo>
                    <a:pt x="51" y="12"/>
                    <a:pt x="51" y="11"/>
                    <a:pt x="52" y="11"/>
                  </a:cubicBezTo>
                  <a:cubicBezTo>
                    <a:pt x="53" y="10"/>
                    <a:pt x="53" y="10"/>
                    <a:pt x="55" y="10"/>
                  </a:cubicBezTo>
                  <a:cubicBezTo>
                    <a:pt x="56" y="9"/>
                    <a:pt x="57" y="9"/>
                    <a:pt x="58" y="9"/>
                  </a:cubicBezTo>
                  <a:cubicBezTo>
                    <a:pt x="59" y="9"/>
                    <a:pt x="60" y="9"/>
                    <a:pt x="61" y="10"/>
                  </a:cubicBezTo>
                  <a:cubicBezTo>
                    <a:pt x="62" y="10"/>
                    <a:pt x="63" y="10"/>
                    <a:pt x="63" y="11"/>
                  </a:cubicBezTo>
                  <a:cubicBezTo>
                    <a:pt x="64" y="11"/>
                    <a:pt x="65" y="12"/>
                    <a:pt x="65" y="13"/>
                  </a:cubicBezTo>
                  <a:cubicBezTo>
                    <a:pt x="66" y="14"/>
                    <a:pt x="66" y="16"/>
                    <a:pt x="66" y="17"/>
                  </a:cubicBezTo>
                  <a:cubicBezTo>
                    <a:pt x="66" y="19"/>
                    <a:pt x="66" y="20"/>
                    <a:pt x="65" y="21"/>
                  </a:cubicBezTo>
                  <a:cubicBezTo>
                    <a:pt x="65" y="22"/>
                    <a:pt x="64" y="23"/>
                    <a:pt x="63" y="24"/>
                  </a:cubicBezTo>
                  <a:cubicBezTo>
                    <a:pt x="62" y="25"/>
                    <a:pt x="61" y="26"/>
                    <a:pt x="60" y="26"/>
                  </a:cubicBezTo>
                  <a:cubicBezTo>
                    <a:pt x="58" y="27"/>
                    <a:pt x="57" y="27"/>
                    <a:pt x="55" y="27"/>
                  </a:cubicBezTo>
                  <a:cubicBezTo>
                    <a:pt x="54" y="27"/>
                    <a:pt x="54" y="27"/>
                    <a:pt x="53" y="27"/>
                  </a:cubicBezTo>
                  <a:cubicBezTo>
                    <a:pt x="53" y="27"/>
                    <a:pt x="52" y="27"/>
                    <a:pt x="52" y="27"/>
                  </a:cubicBezTo>
                  <a:cubicBezTo>
                    <a:pt x="52" y="25"/>
                    <a:pt x="52" y="25"/>
                    <a:pt x="52" y="25"/>
                  </a:cubicBezTo>
                  <a:cubicBezTo>
                    <a:pt x="52" y="25"/>
                    <a:pt x="52" y="25"/>
                    <a:pt x="52" y="25"/>
                  </a:cubicBezTo>
                  <a:cubicBezTo>
                    <a:pt x="52" y="25"/>
                    <a:pt x="53" y="25"/>
                    <a:pt x="53" y="25"/>
                  </a:cubicBezTo>
                  <a:cubicBezTo>
                    <a:pt x="54" y="25"/>
                    <a:pt x="54" y="25"/>
                    <a:pt x="55" y="25"/>
                  </a:cubicBezTo>
                  <a:cubicBezTo>
                    <a:pt x="57" y="25"/>
                    <a:pt x="59" y="25"/>
                    <a:pt x="60" y="24"/>
                  </a:cubicBezTo>
                  <a:cubicBezTo>
                    <a:pt x="62" y="23"/>
                    <a:pt x="62" y="21"/>
                    <a:pt x="62" y="19"/>
                  </a:cubicBezTo>
                  <a:cubicBezTo>
                    <a:pt x="62" y="20"/>
                    <a:pt x="61" y="20"/>
                    <a:pt x="60" y="20"/>
                  </a:cubicBezTo>
                  <a:cubicBezTo>
                    <a:pt x="59" y="20"/>
                    <a:pt x="58" y="21"/>
                    <a:pt x="57" y="21"/>
                  </a:cubicBezTo>
                  <a:cubicBezTo>
                    <a:pt x="56" y="21"/>
                    <a:pt x="55" y="20"/>
                    <a:pt x="55" y="20"/>
                  </a:cubicBezTo>
                  <a:cubicBezTo>
                    <a:pt x="54" y="20"/>
                    <a:pt x="53" y="20"/>
                    <a:pt x="52" y="20"/>
                  </a:cubicBezTo>
                  <a:cubicBezTo>
                    <a:pt x="51" y="19"/>
                    <a:pt x="51" y="18"/>
                    <a:pt x="50" y="18"/>
                  </a:cubicBezTo>
                  <a:cubicBezTo>
                    <a:pt x="50" y="17"/>
                    <a:pt x="50" y="16"/>
                    <a:pt x="50" y="15"/>
                  </a:cubicBezTo>
                  <a:moveTo>
                    <a:pt x="86" y="1"/>
                  </a:moveTo>
                  <a:cubicBezTo>
                    <a:pt x="86" y="18"/>
                    <a:pt x="86" y="18"/>
                    <a:pt x="86" y="18"/>
                  </a:cubicBezTo>
                  <a:cubicBezTo>
                    <a:pt x="83" y="20"/>
                    <a:pt x="83" y="20"/>
                    <a:pt x="83" y="20"/>
                  </a:cubicBezTo>
                  <a:cubicBezTo>
                    <a:pt x="83" y="3"/>
                    <a:pt x="83" y="3"/>
                    <a:pt x="83" y="3"/>
                  </a:cubicBezTo>
                  <a:cubicBezTo>
                    <a:pt x="73" y="8"/>
                    <a:pt x="73" y="8"/>
                    <a:pt x="73" y="8"/>
                  </a:cubicBezTo>
                  <a:cubicBezTo>
                    <a:pt x="72" y="6"/>
                    <a:pt x="72" y="6"/>
                    <a:pt x="72" y="6"/>
                  </a:cubicBezTo>
                  <a:cubicBezTo>
                    <a:pt x="85" y="0"/>
                    <a:pt x="85" y="0"/>
                    <a:pt x="85" y="0"/>
                  </a:cubicBezTo>
                  <a:lnTo>
                    <a:pt x="86" y="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33" name="Freeform 126"/>
            <p:cNvSpPr/>
            <p:nvPr userDrawn="1"/>
          </p:nvSpPr>
          <p:spPr bwMode="auto">
            <a:xfrm>
              <a:off x="5778096" y="2774166"/>
              <a:ext cx="105882" cy="105882"/>
            </a:xfrm>
            <a:custGeom>
              <a:avLst/>
              <a:gdLst>
                <a:gd name="T0" fmla="*/ 2 w 11"/>
                <a:gd name="T1" fmla="*/ 12 h 12"/>
                <a:gd name="T2" fmla="*/ 2 w 11"/>
                <a:gd name="T3" fmla="*/ 8 h 12"/>
                <a:gd name="T4" fmla="*/ 1 w 11"/>
                <a:gd name="T5" fmla="*/ 3 h 12"/>
                <a:gd name="T6" fmla="*/ 8 w 11"/>
                <a:gd name="T7" fmla="*/ 3 h 12"/>
                <a:gd name="T8" fmla="*/ 9 w 11"/>
                <a:gd name="T9" fmla="*/ 5 h 12"/>
                <a:gd name="T10" fmla="*/ 8 w 11"/>
                <a:gd name="T11" fmla="*/ 11 h 12"/>
                <a:gd name="T12" fmla="*/ 2 w 11"/>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1" h="12">
                  <a:moveTo>
                    <a:pt x="2" y="12"/>
                  </a:moveTo>
                  <a:cubicBezTo>
                    <a:pt x="0" y="11"/>
                    <a:pt x="1" y="10"/>
                    <a:pt x="2" y="8"/>
                  </a:cubicBezTo>
                  <a:cubicBezTo>
                    <a:pt x="2" y="7"/>
                    <a:pt x="1" y="5"/>
                    <a:pt x="1" y="3"/>
                  </a:cubicBezTo>
                  <a:cubicBezTo>
                    <a:pt x="2" y="0"/>
                    <a:pt x="6" y="2"/>
                    <a:pt x="8" y="3"/>
                  </a:cubicBezTo>
                  <a:cubicBezTo>
                    <a:pt x="8" y="3"/>
                    <a:pt x="9" y="4"/>
                    <a:pt x="9" y="5"/>
                  </a:cubicBezTo>
                  <a:cubicBezTo>
                    <a:pt x="10" y="7"/>
                    <a:pt x="11" y="10"/>
                    <a:pt x="8" y="11"/>
                  </a:cubicBezTo>
                  <a:cubicBezTo>
                    <a:pt x="6" y="12"/>
                    <a:pt x="4" y="12"/>
                    <a:pt x="2" y="12"/>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34" name="Freeform 127"/>
            <p:cNvSpPr/>
            <p:nvPr userDrawn="1"/>
          </p:nvSpPr>
          <p:spPr bwMode="auto">
            <a:xfrm>
              <a:off x="5505827" y="2456519"/>
              <a:ext cx="385714" cy="340336"/>
            </a:xfrm>
            <a:custGeom>
              <a:avLst/>
              <a:gdLst>
                <a:gd name="T0" fmla="*/ 7 w 41"/>
                <a:gd name="T1" fmla="*/ 35 h 36"/>
                <a:gd name="T2" fmla="*/ 7 w 41"/>
                <a:gd name="T3" fmla="*/ 35 h 36"/>
                <a:gd name="T4" fmla="*/ 7 w 41"/>
                <a:gd name="T5" fmla="*/ 34 h 36"/>
                <a:gd name="T6" fmla="*/ 15 w 41"/>
                <a:gd name="T7" fmla="*/ 32 h 36"/>
                <a:gd name="T8" fmla="*/ 20 w 41"/>
                <a:gd name="T9" fmla="*/ 28 h 36"/>
                <a:gd name="T10" fmla="*/ 6 w 41"/>
                <a:gd name="T11" fmla="*/ 29 h 36"/>
                <a:gd name="T12" fmla="*/ 2 w 41"/>
                <a:gd name="T13" fmla="*/ 26 h 36"/>
                <a:gd name="T14" fmla="*/ 2 w 41"/>
                <a:gd name="T15" fmla="*/ 26 h 36"/>
                <a:gd name="T16" fmla="*/ 3 w 41"/>
                <a:gd name="T17" fmla="*/ 21 h 36"/>
                <a:gd name="T18" fmla="*/ 19 w 41"/>
                <a:gd name="T19" fmla="*/ 21 h 36"/>
                <a:gd name="T20" fmla="*/ 24 w 41"/>
                <a:gd name="T21" fmla="*/ 20 h 36"/>
                <a:gd name="T22" fmla="*/ 29 w 41"/>
                <a:gd name="T23" fmla="*/ 3 h 36"/>
                <a:gd name="T24" fmla="*/ 35 w 41"/>
                <a:gd name="T25" fmla="*/ 6 h 36"/>
                <a:gd name="T26" fmla="*/ 36 w 41"/>
                <a:gd name="T27" fmla="*/ 7 h 36"/>
                <a:gd name="T28" fmla="*/ 36 w 41"/>
                <a:gd name="T29" fmla="*/ 7 h 36"/>
                <a:gd name="T30" fmla="*/ 35 w 41"/>
                <a:gd name="T31" fmla="*/ 11 h 36"/>
                <a:gd name="T32" fmla="*/ 31 w 41"/>
                <a:gd name="T33" fmla="*/ 20 h 36"/>
                <a:gd name="T34" fmla="*/ 40 w 41"/>
                <a:gd name="T35" fmla="*/ 19 h 36"/>
                <a:gd name="T36" fmla="*/ 38 w 41"/>
                <a:gd name="T37" fmla="*/ 23 h 36"/>
                <a:gd name="T38" fmla="*/ 29 w 41"/>
                <a:gd name="T39" fmla="*/ 24 h 36"/>
                <a:gd name="T40" fmla="*/ 23 w 41"/>
                <a:gd name="T41" fmla="*/ 32 h 36"/>
                <a:gd name="T42" fmla="*/ 21 w 41"/>
                <a:gd name="T43" fmla="*/ 34 h 36"/>
                <a:gd name="T44" fmla="*/ 14 w 41"/>
                <a:gd name="T45" fmla="*/ 35 h 36"/>
                <a:gd name="T46" fmla="*/ 7 w 41"/>
                <a:gd name="T47" fmla="*/ 3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36">
                  <a:moveTo>
                    <a:pt x="7" y="35"/>
                  </a:moveTo>
                  <a:cubicBezTo>
                    <a:pt x="7" y="35"/>
                    <a:pt x="7" y="35"/>
                    <a:pt x="7" y="35"/>
                  </a:cubicBezTo>
                  <a:cubicBezTo>
                    <a:pt x="7" y="35"/>
                    <a:pt x="7" y="35"/>
                    <a:pt x="7" y="34"/>
                  </a:cubicBezTo>
                  <a:cubicBezTo>
                    <a:pt x="8" y="34"/>
                    <a:pt x="15" y="32"/>
                    <a:pt x="15" y="32"/>
                  </a:cubicBezTo>
                  <a:cubicBezTo>
                    <a:pt x="17" y="31"/>
                    <a:pt x="19" y="30"/>
                    <a:pt x="20" y="28"/>
                  </a:cubicBezTo>
                  <a:cubicBezTo>
                    <a:pt x="15" y="28"/>
                    <a:pt x="11" y="30"/>
                    <a:pt x="6" y="29"/>
                  </a:cubicBezTo>
                  <a:cubicBezTo>
                    <a:pt x="4" y="28"/>
                    <a:pt x="3" y="27"/>
                    <a:pt x="2" y="26"/>
                  </a:cubicBezTo>
                  <a:cubicBezTo>
                    <a:pt x="2" y="26"/>
                    <a:pt x="2" y="26"/>
                    <a:pt x="2" y="26"/>
                  </a:cubicBezTo>
                  <a:cubicBezTo>
                    <a:pt x="0" y="24"/>
                    <a:pt x="0" y="22"/>
                    <a:pt x="3" y="21"/>
                  </a:cubicBezTo>
                  <a:cubicBezTo>
                    <a:pt x="7" y="23"/>
                    <a:pt x="15" y="22"/>
                    <a:pt x="19" y="21"/>
                  </a:cubicBezTo>
                  <a:cubicBezTo>
                    <a:pt x="20" y="21"/>
                    <a:pt x="23" y="21"/>
                    <a:pt x="24" y="20"/>
                  </a:cubicBezTo>
                  <a:cubicBezTo>
                    <a:pt x="26" y="15"/>
                    <a:pt x="27" y="9"/>
                    <a:pt x="29" y="3"/>
                  </a:cubicBezTo>
                  <a:cubicBezTo>
                    <a:pt x="31" y="0"/>
                    <a:pt x="33" y="3"/>
                    <a:pt x="35" y="6"/>
                  </a:cubicBezTo>
                  <a:cubicBezTo>
                    <a:pt x="35" y="6"/>
                    <a:pt x="36" y="6"/>
                    <a:pt x="36" y="7"/>
                  </a:cubicBezTo>
                  <a:cubicBezTo>
                    <a:pt x="36" y="7"/>
                    <a:pt x="36" y="7"/>
                    <a:pt x="36" y="7"/>
                  </a:cubicBezTo>
                  <a:cubicBezTo>
                    <a:pt x="37" y="9"/>
                    <a:pt x="37" y="10"/>
                    <a:pt x="35" y="11"/>
                  </a:cubicBezTo>
                  <a:cubicBezTo>
                    <a:pt x="33" y="14"/>
                    <a:pt x="32" y="17"/>
                    <a:pt x="31" y="20"/>
                  </a:cubicBezTo>
                  <a:cubicBezTo>
                    <a:pt x="34" y="20"/>
                    <a:pt x="37" y="18"/>
                    <a:pt x="40" y="19"/>
                  </a:cubicBezTo>
                  <a:cubicBezTo>
                    <a:pt x="41" y="21"/>
                    <a:pt x="40" y="22"/>
                    <a:pt x="38" y="23"/>
                  </a:cubicBezTo>
                  <a:cubicBezTo>
                    <a:pt x="36" y="23"/>
                    <a:pt x="33" y="24"/>
                    <a:pt x="29" y="24"/>
                  </a:cubicBezTo>
                  <a:cubicBezTo>
                    <a:pt x="28" y="27"/>
                    <a:pt x="26" y="30"/>
                    <a:pt x="23" y="32"/>
                  </a:cubicBezTo>
                  <a:cubicBezTo>
                    <a:pt x="23" y="33"/>
                    <a:pt x="21" y="34"/>
                    <a:pt x="21" y="34"/>
                  </a:cubicBezTo>
                  <a:cubicBezTo>
                    <a:pt x="19" y="34"/>
                    <a:pt x="17" y="35"/>
                    <a:pt x="14" y="35"/>
                  </a:cubicBezTo>
                  <a:cubicBezTo>
                    <a:pt x="8" y="36"/>
                    <a:pt x="8" y="35"/>
                    <a:pt x="7" y="3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35" name="Freeform 128"/>
            <p:cNvSpPr/>
            <p:nvPr userDrawn="1"/>
          </p:nvSpPr>
          <p:spPr bwMode="auto">
            <a:xfrm>
              <a:off x="4862970" y="2668283"/>
              <a:ext cx="151261" cy="310084"/>
            </a:xfrm>
            <a:custGeom>
              <a:avLst/>
              <a:gdLst>
                <a:gd name="T0" fmla="*/ 7 w 16"/>
                <a:gd name="T1" fmla="*/ 33 h 33"/>
                <a:gd name="T2" fmla="*/ 0 w 16"/>
                <a:gd name="T3" fmla="*/ 30 h 33"/>
                <a:gd name="T4" fmla="*/ 0 w 16"/>
                <a:gd name="T5" fmla="*/ 28 h 33"/>
                <a:gd name="T6" fmla="*/ 10 w 16"/>
                <a:gd name="T7" fmla="*/ 11 h 33"/>
                <a:gd name="T8" fmla="*/ 12 w 16"/>
                <a:gd name="T9" fmla="*/ 3 h 33"/>
                <a:gd name="T10" fmla="*/ 12 w 16"/>
                <a:gd name="T11" fmla="*/ 2 h 33"/>
                <a:gd name="T12" fmla="*/ 12 w 16"/>
                <a:gd name="T13" fmla="*/ 2 h 33"/>
                <a:gd name="T14" fmla="*/ 15 w 16"/>
                <a:gd name="T15" fmla="*/ 2 h 33"/>
                <a:gd name="T16" fmla="*/ 14 w 16"/>
                <a:gd name="T17" fmla="*/ 7 h 33"/>
                <a:gd name="T18" fmla="*/ 13 w 16"/>
                <a:gd name="T19" fmla="*/ 16 h 33"/>
                <a:gd name="T20" fmla="*/ 13 w 16"/>
                <a:gd name="T21" fmla="*/ 19 h 33"/>
                <a:gd name="T22" fmla="*/ 11 w 16"/>
                <a:gd name="T23" fmla="*/ 26 h 33"/>
                <a:gd name="T24" fmla="*/ 9 w 16"/>
                <a:gd name="T25" fmla="*/ 33 h 33"/>
                <a:gd name="T26" fmla="*/ 7 w 16"/>
                <a:gd name="T27"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33">
                  <a:moveTo>
                    <a:pt x="7" y="33"/>
                  </a:moveTo>
                  <a:cubicBezTo>
                    <a:pt x="5" y="33"/>
                    <a:pt x="2" y="31"/>
                    <a:pt x="0" y="30"/>
                  </a:cubicBezTo>
                  <a:cubicBezTo>
                    <a:pt x="0" y="30"/>
                    <a:pt x="0" y="29"/>
                    <a:pt x="0" y="28"/>
                  </a:cubicBezTo>
                  <a:cubicBezTo>
                    <a:pt x="4" y="23"/>
                    <a:pt x="7" y="17"/>
                    <a:pt x="10" y="11"/>
                  </a:cubicBezTo>
                  <a:cubicBezTo>
                    <a:pt x="11" y="8"/>
                    <a:pt x="11" y="5"/>
                    <a:pt x="12" y="3"/>
                  </a:cubicBezTo>
                  <a:cubicBezTo>
                    <a:pt x="12" y="3"/>
                    <a:pt x="12" y="3"/>
                    <a:pt x="12" y="2"/>
                  </a:cubicBezTo>
                  <a:cubicBezTo>
                    <a:pt x="12" y="2"/>
                    <a:pt x="12" y="2"/>
                    <a:pt x="12" y="2"/>
                  </a:cubicBezTo>
                  <a:cubicBezTo>
                    <a:pt x="13" y="1"/>
                    <a:pt x="14" y="0"/>
                    <a:pt x="15" y="2"/>
                  </a:cubicBezTo>
                  <a:cubicBezTo>
                    <a:pt x="16" y="3"/>
                    <a:pt x="14" y="5"/>
                    <a:pt x="14" y="7"/>
                  </a:cubicBezTo>
                  <a:cubicBezTo>
                    <a:pt x="14" y="10"/>
                    <a:pt x="14" y="13"/>
                    <a:pt x="13" y="16"/>
                  </a:cubicBezTo>
                  <a:cubicBezTo>
                    <a:pt x="13" y="16"/>
                    <a:pt x="13" y="16"/>
                    <a:pt x="13" y="19"/>
                  </a:cubicBezTo>
                  <a:cubicBezTo>
                    <a:pt x="12" y="21"/>
                    <a:pt x="11" y="24"/>
                    <a:pt x="11" y="26"/>
                  </a:cubicBezTo>
                  <a:cubicBezTo>
                    <a:pt x="10" y="28"/>
                    <a:pt x="10" y="31"/>
                    <a:pt x="9" y="33"/>
                  </a:cubicBezTo>
                  <a:cubicBezTo>
                    <a:pt x="8" y="33"/>
                    <a:pt x="8" y="33"/>
                    <a:pt x="7"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36" name="Freeform 129"/>
            <p:cNvSpPr/>
            <p:nvPr userDrawn="1"/>
          </p:nvSpPr>
          <p:spPr bwMode="auto">
            <a:xfrm>
              <a:off x="5067172" y="2592653"/>
              <a:ext cx="121008" cy="121008"/>
            </a:xfrm>
            <a:custGeom>
              <a:avLst/>
              <a:gdLst>
                <a:gd name="T0" fmla="*/ 8 w 13"/>
                <a:gd name="T1" fmla="*/ 12 h 13"/>
                <a:gd name="T2" fmla="*/ 1 w 13"/>
                <a:gd name="T3" fmla="*/ 10 h 13"/>
                <a:gd name="T4" fmla="*/ 1 w 13"/>
                <a:gd name="T5" fmla="*/ 8 h 13"/>
                <a:gd name="T6" fmla="*/ 2 w 13"/>
                <a:gd name="T7" fmla="*/ 7 h 13"/>
                <a:gd name="T8" fmla="*/ 5 w 13"/>
                <a:gd name="T9" fmla="*/ 6 h 13"/>
                <a:gd name="T10" fmla="*/ 12 w 13"/>
                <a:gd name="T11" fmla="*/ 1 h 13"/>
                <a:gd name="T12" fmla="*/ 8 w 13"/>
                <a:gd name="T13" fmla="*/ 12 h 13"/>
              </a:gdLst>
              <a:ahLst/>
              <a:cxnLst>
                <a:cxn ang="0">
                  <a:pos x="T0" y="T1"/>
                </a:cxn>
                <a:cxn ang="0">
                  <a:pos x="T2" y="T3"/>
                </a:cxn>
                <a:cxn ang="0">
                  <a:pos x="T4" y="T5"/>
                </a:cxn>
                <a:cxn ang="0">
                  <a:pos x="T6" y="T7"/>
                </a:cxn>
                <a:cxn ang="0">
                  <a:pos x="T8" y="T9"/>
                </a:cxn>
                <a:cxn ang="0">
                  <a:pos x="T10" y="T11"/>
                </a:cxn>
                <a:cxn ang="0">
                  <a:pos x="T12" y="T13"/>
                </a:cxn>
              </a:cxnLst>
              <a:rect l="0" t="0" r="r" b="b"/>
              <a:pathLst>
                <a:path w="13" h="13">
                  <a:moveTo>
                    <a:pt x="8" y="12"/>
                  </a:moveTo>
                  <a:cubicBezTo>
                    <a:pt x="5" y="13"/>
                    <a:pt x="3" y="12"/>
                    <a:pt x="1" y="10"/>
                  </a:cubicBezTo>
                  <a:cubicBezTo>
                    <a:pt x="0" y="10"/>
                    <a:pt x="1" y="9"/>
                    <a:pt x="1" y="8"/>
                  </a:cubicBezTo>
                  <a:cubicBezTo>
                    <a:pt x="1" y="8"/>
                    <a:pt x="1" y="8"/>
                    <a:pt x="2" y="7"/>
                  </a:cubicBezTo>
                  <a:cubicBezTo>
                    <a:pt x="3" y="7"/>
                    <a:pt x="3" y="7"/>
                    <a:pt x="5" y="6"/>
                  </a:cubicBezTo>
                  <a:cubicBezTo>
                    <a:pt x="6" y="5"/>
                    <a:pt x="10" y="0"/>
                    <a:pt x="12" y="1"/>
                  </a:cubicBezTo>
                  <a:cubicBezTo>
                    <a:pt x="13" y="4"/>
                    <a:pt x="11" y="10"/>
                    <a:pt x="8" y="12"/>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37" name="Freeform 130"/>
            <p:cNvSpPr/>
            <p:nvPr userDrawn="1"/>
          </p:nvSpPr>
          <p:spPr bwMode="auto">
            <a:xfrm>
              <a:off x="4855407" y="2638031"/>
              <a:ext cx="90756" cy="105882"/>
            </a:xfrm>
            <a:custGeom>
              <a:avLst/>
              <a:gdLst>
                <a:gd name="T0" fmla="*/ 5 w 10"/>
                <a:gd name="T1" fmla="*/ 11 h 11"/>
                <a:gd name="T2" fmla="*/ 1 w 10"/>
                <a:gd name="T3" fmla="*/ 4 h 11"/>
                <a:gd name="T4" fmla="*/ 6 w 10"/>
                <a:gd name="T5" fmla="*/ 1 h 11"/>
                <a:gd name="T6" fmla="*/ 10 w 10"/>
                <a:gd name="T7" fmla="*/ 6 h 11"/>
                <a:gd name="T8" fmla="*/ 5 w 10"/>
                <a:gd name="T9" fmla="*/ 11 h 11"/>
              </a:gdLst>
              <a:ahLst/>
              <a:cxnLst>
                <a:cxn ang="0">
                  <a:pos x="T0" y="T1"/>
                </a:cxn>
                <a:cxn ang="0">
                  <a:pos x="T2" y="T3"/>
                </a:cxn>
                <a:cxn ang="0">
                  <a:pos x="T4" y="T5"/>
                </a:cxn>
                <a:cxn ang="0">
                  <a:pos x="T6" y="T7"/>
                </a:cxn>
                <a:cxn ang="0">
                  <a:pos x="T8" y="T9"/>
                </a:cxn>
              </a:cxnLst>
              <a:rect l="0" t="0" r="r" b="b"/>
              <a:pathLst>
                <a:path w="10" h="11">
                  <a:moveTo>
                    <a:pt x="5" y="11"/>
                  </a:moveTo>
                  <a:cubicBezTo>
                    <a:pt x="3" y="10"/>
                    <a:pt x="1" y="5"/>
                    <a:pt x="1" y="4"/>
                  </a:cubicBezTo>
                  <a:cubicBezTo>
                    <a:pt x="0" y="1"/>
                    <a:pt x="3" y="0"/>
                    <a:pt x="6" y="1"/>
                  </a:cubicBezTo>
                  <a:cubicBezTo>
                    <a:pt x="9" y="2"/>
                    <a:pt x="10" y="3"/>
                    <a:pt x="10" y="6"/>
                  </a:cubicBezTo>
                  <a:cubicBezTo>
                    <a:pt x="8" y="9"/>
                    <a:pt x="7" y="9"/>
                    <a:pt x="5" y="1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38" name="Freeform 131"/>
            <p:cNvSpPr/>
            <p:nvPr userDrawn="1"/>
          </p:nvSpPr>
          <p:spPr bwMode="auto">
            <a:xfrm>
              <a:off x="5029357" y="2471645"/>
              <a:ext cx="143698" cy="158823"/>
            </a:xfrm>
            <a:custGeom>
              <a:avLst/>
              <a:gdLst>
                <a:gd name="T0" fmla="*/ 8 w 15"/>
                <a:gd name="T1" fmla="*/ 17 h 17"/>
                <a:gd name="T2" fmla="*/ 7 w 15"/>
                <a:gd name="T3" fmla="*/ 12 h 17"/>
                <a:gd name="T4" fmla="*/ 5 w 15"/>
                <a:gd name="T5" fmla="*/ 13 h 17"/>
                <a:gd name="T6" fmla="*/ 0 w 15"/>
                <a:gd name="T7" fmla="*/ 9 h 17"/>
                <a:gd name="T8" fmla="*/ 2 w 15"/>
                <a:gd name="T9" fmla="*/ 7 h 17"/>
                <a:gd name="T10" fmla="*/ 7 w 15"/>
                <a:gd name="T11" fmla="*/ 2 h 17"/>
                <a:gd name="T12" fmla="*/ 14 w 15"/>
                <a:gd name="T13" fmla="*/ 4 h 17"/>
                <a:gd name="T14" fmla="*/ 13 w 15"/>
                <a:gd name="T15" fmla="*/ 11 h 17"/>
                <a:gd name="T16" fmla="*/ 9 w 15"/>
                <a:gd name="T17" fmla="*/ 16 h 17"/>
                <a:gd name="T18" fmla="*/ 8 w 15"/>
                <a:gd name="T19"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7">
                  <a:moveTo>
                    <a:pt x="8" y="17"/>
                  </a:moveTo>
                  <a:cubicBezTo>
                    <a:pt x="7" y="16"/>
                    <a:pt x="8" y="12"/>
                    <a:pt x="7" y="12"/>
                  </a:cubicBezTo>
                  <a:cubicBezTo>
                    <a:pt x="6" y="12"/>
                    <a:pt x="6" y="13"/>
                    <a:pt x="5" y="13"/>
                  </a:cubicBezTo>
                  <a:cubicBezTo>
                    <a:pt x="3" y="13"/>
                    <a:pt x="0" y="11"/>
                    <a:pt x="0" y="9"/>
                  </a:cubicBezTo>
                  <a:cubicBezTo>
                    <a:pt x="1" y="7"/>
                    <a:pt x="0" y="8"/>
                    <a:pt x="2" y="7"/>
                  </a:cubicBezTo>
                  <a:cubicBezTo>
                    <a:pt x="4" y="5"/>
                    <a:pt x="6" y="3"/>
                    <a:pt x="7" y="2"/>
                  </a:cubicBezTo>
                  <a:cubicBezTo>
                    <a:pt x="11" y="0"/>
                    <a:pt x="13" y="1"/>
                    <a:pt x="14" y="4"/>
                  </a:cubicBezTo>
                  <a:cubicBezTo>
                    <a:pt x="15" y="7"/>
                    <a:pt x="14" y="9"/>
                    <a:pt x="13" y="11"/>
                  </a:cubicBezTo>
                  <a:cubicBezTo>
                    <a:pt x="12" y="13"/>
                    <a:pt x="10" y="15"/>
                    <a:pt x="9" y="16"/>
                  </a:cubicBezTo>
                  <a:cubicBezTo>
                    <a:pt x="9" y="17"/>
                    <a:pt x="8" y="17"/>
                    <a:pt x="8" y="1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39" name="Freeform 132"/>
            <p:cNvSpPr/>
            <p:nvPr userDrawn="1"/>
          </p:nvSpPr>
          <p:spPr bwMode="auto">
            <a:xfrm>
              <a:off x="4855407" y="2509460"/>
              <a:ext cx="90756" cy="98319"/>
            </a:xfrm>
            <a:custGeom>
              <a:avLst/>
              <a:gdLst>
                <a:gd name="T0" fmla="*/ 4 w 10"/>
                <a:gd name="T1" fmla="*/ 11 h 11"/>
                <a:gd name="T2" fmla="*/ 3 w 10"/>
                <a:gd name="T3" fmla="*/ 9 h 11"/>
                <a:gd name="T4" fmla="*/ 1 w 10"/>
                <a:gd name="T5" fmla="*/ 6 h 11"/>
                <a:gd name="T6" fmla="*/ 1 w 10"/>
                <a:gd name="T7" fmla="*/ 0 h 11"/>
                <a:gd name="T8" fmla="*/ 10 w 10"/>
                <a:gd name="T9" fmla="*/ 5 h 11"/>
                <a:gd name="T10" fmla="*/ 4 w 10"/>
                <a:gd name="T11" fmla="*/ 11 h 11"/>
              </a:gdLst>
              <a:ahLst/>
              <a:cxnLst>
                <a:cxn ang="0">
                  <a:pos x="T0" y="T1"/>
                </a:cxn>
                <a:cxn ang="0">
                  <a:pos x="T2" y="T3"/>
                </a:cxn>
                <a:cxn ang="0">
                  <a:pos x="T4" y="T5"/>
                </a:cxn>
                <a:cxn ang="0">
                  <a:pos x="T6" y="T7"/>
                </a:cxn>
                <a:cxn ang="0">
                  <a:pos x="T8" y="T9"/>
                </a:cxn>
                <a:cxn ang="0">
                  <a:pos x="T10" y="T11"/>
                </a:cxn>
              </a:cxnLst>
              <a:rect l="0" t="0" r="r" b="b"/>
              <a:pathLst>
                <a:path w="10" h="11">
                  <a:moveTo>
                    <a:pt x="4" y="11"/>
                  </a:moveTo>
                  <a:cubicBezTo>
                    <a:pt x="3" y="11"/>
                    <a:pt x="3" y="10"/>
                    <a:pt x="3" y="9"/>
                  </a:cubicBezTo>
                  <a:cubicBezTo>
                    <a:pt x="3" y="8"/>
                    <a:pt x="2" y="7"/>
                    <a:pt x="1" y="6"/>
                  </a:cubicBezTo>
                  <a:cubicBezTo>
                    <a:pt x="0" y="3"/>
                    <a:pt x="0" y="2"/>
                    <a:pt x="1" y="0"/>
                  </a:cubicBezTo>
                  <a:cubicBezTo>
                    <a:pt x="3" y="0"/>
                    <a:pt x="10" y="1"/>
                    <a:pt x="10" y="5"/>
                  </a:cubicBezTo>
                  <a:cubicBezTo>
                    <a:pt x="9" y="7"/>
                    <a:pt x="6" y="10"/>
                    <a:pt x="4" y="1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40" name="Freeform 133"/>
            <p:cNvSpPr/>
            <p:nvPr userDrawn="1"/>
          </p:nvSpPr>
          <p:spPr bwMode="auto">
            <a:xfrm>
              <a:off x="4356247" y="2880048"/>
              <a:ext cx="355462" cy="627731"/>
            </a:xfrm>
            <a:custGeom>
              <a:avLst/>
              <a:gdLst>
                <a:gd name="T0" fmla="*/ 22 w 38"/>
                <a:gd name="T1" fmla="*/ 64 h 66"/>
                <a:gd name="T2" fmla="*/ 13 w 38"/>
                <a:gd name="T3" fmla="*/ 61 h 66"/>
                <a:gd name="T4" fmla="*/ 13 w 38"/>
                <a:gd name="T5" fmla="*/ 59 h 66"/>
                <a:gd name="T6" fmla="*/ 13 w 38"/>
                <a:gd name="T7" fmla="*/ 59 h 66"/>
                <a:gd name="T8" fmla="*/ 8 w 38"/>
                <a:gd name="T9" fmla="*/ 46 h 66"/>
                <a:gd name="T10" fmla="*/ 7 w 38"/>
                <a:gd name="T11" fmla="*/ 42 h 66"/>
                <a:gd name="T12" fmla="*/ 10 w 38"/>
                <a:gd name="T13" fmla="*/ 44 h 66"/>
                <a:gd name="T14" fmla="*/ 11 w 38"/>
                <a:gd name="T15" fmla="*/ 42 h 66"/>
                <a:gd name="T16" fmla="*/ 11 w 38"/>
                <a:gd name="T17" fmla="*/ 33 h 66"/>
                <a:gd name="T18" fmla="*/ 8 w 38"/>
                <a:gd name="T19" fmla="*/ 31 h 66"/>
                <a:gd name="T20" fmla="*/ 4 w 38"/>
                <a:gd name="T21" fmla="*/ 34 h 66"/>
                <a:gd name="T22" fmla="*/ 4 w 38"/>
                <a:gd name="T23" fmla="*/ 27 h 66"/>
                <a:gd name="T24" fmla="*/ 0 w 38"/>
                <a:gd name="T25" fmla="*/ 23 h 66"/>
                <a:gd name="T26" fmla="*/ 6 w 38"/>
                <a:gd name="T27" fmla="*/ 21 h 66"/>
                <a:gd name="T28" fmla="*/ 10 w 38"/>
                <a:gd name="T29" fmla="*/ 23 h 66"/>
                <a:gd name="T30" fmla="*/ 11 w 38"/>
                <a:gd name="T31" fmla="*/ 25 h 66"/>
                <a:gd name="T32" fmla="*/ 12 w 38"/>
                <a:gd name="T33" fmla="*/ 24 h 66"/>
                <a:gd name="T34" fmla="*/ 12 w 38"/>
                <a:gd name="T35" fmla="*/ 17 h 66"/>
                <a:gd name="T36" fmla="*/ 7 w 38"/>
                <a:gd name="T37" fmla="*/ 10 h 66"/>
                <a:gd name="T38" fmla="*/ 12 w 38"/>
                <a:gd name="T39" fmla="*/ 6 h 66"/>
                <a:gd name="T40" fmla="*/ 13 w 38"/>
                <a:gd name="T41" fmla="*/ 1 h 66"/>
                <a:gd name="T42" fmla="*/ 14 w 38"/>
                <a:gd name="T43" fmla="*/ 0 h 66"/>
                <a:gd name="T44" fmla="*/ 16 w 38"/>
                <a:gd name="T45" fmla="*/ 1 h 66"/>
                <a:gd name="T46" fmla="*/ 18 w 38"/>
                <a:gd name="T47" fmla="*/ 12 h 66"/>
                <a:gd name="T48" fmla="*/ 17 w 38"/>
                <a:gd name="T49" fmla="*/ 8 h 66"/>
                <a:gd name="T50" fmla="*/ 22 w 38"/>
                <a:gd name="T51" fmla="*/ 3 h 66"/>
                <a:gd name="T52" fmla="*/ 25 w 38"/>
                <a:gd name="T53" fmla="*/ 7 h 66"/>
                <a:gd name="T54" fmla="*/ 26 w 38"/>
                <a:gd name="T55" fmla="*/ 8 h 66"/>
                <a:gd name="T56" fmla="*/ 35 w 38"/>
                <a:gd name="T57" fmla="*/ 15 h 66"/>
                <a:gd name="T58" fmla="*/ 37 w 38"/>
                <a:gd name="T59" fmla="*/ 19 h 66"/>
                <a:gd name="T60" fmla="*/ 37 w 38"/>
                <a:gd name="T61" fmla="*/ 20 h 66"/>
                <a:gd name="T62" fmla="*/ 37 w 38"/>
                <a:gd name="T63" fmla="*/ 20 h 66"/>
                <a:gd name="T64" fmla="*/ 36 w 38"/>
                <a:gd name="T65" fmla="*/ 24 h 66"/>
                <a:gd name="T66" fmla="*/ 23 w 38"/>
                <a:gd name="T67" fmla="*/ 15 h 66"/>
                <a:gd name="T68" fmla="*/ 23 w 38"/>
                <a:gd name="T69" fmla="*/ 15 h 66"/>
                <a:gd name="T70" fmla="*/ 27 w 38"/>
                <a:gd name="T71" fmla="*/ 25 h 66"/>
                <a:gd name="T72" fmla="*/ 22 w 38"/>
                <a:gd name="T73" fmla="*/ 27 h 66"/>
                <a:gd name="T74" fmla="*/ 22 w 38"/>
                <a:gd name="T75" fmla="*/ 25 h 66"/>
                <a:gd name="T76" fmla="*/ 15 w 38"/>
                <a:gd name="T77" fmla="*/ 19 h 66"/>
                <a:gd name="T78" fmla="*/ 16 w 38"/>
                <a:gd name="T79" fmla="*/ 27 h 66"/>
                <a:gd name="T80" fmla="*/ 17 w 38"/>
                <a:gd name="T81" fmla="*/ 31 h 66"/>
                <a:gd name="T82" fmla="*/ 21 w 38"/>
                <a:gd name="T83" fmla="*/ 35 h 66"/>
                <a:gd name="T84" fmla="*/ 22 w 38"/>
                <a:gd name="T85" fmla="*/ 38 h 66"/>
                <a:gd name="T86" fmla="*/ 22 w 38"/>
                <a:gd name="T87" fmla="*/ 39 h 66"/>
                <a:gd name="T88" fmla="*/ 22 w 38"/>
                <a:gd name="T89" fmla="*/ 44 h 66"/>
                <a:gd name="T90" fmla="*/ 21 w 38"/>
                <a:gd name="T91" fmla="*/ 44 h 66"/>
                <a:gd name="T92" fmla="*/ 17 w 38"/>
                <a:gd name="T93" fmla="*/ 38 h 66"/>
                <a:gd name="T94" fmla="*/ 16 w 38"/>
                <a:gd name="T95" fmla="*/ 44 h 66"/>
                <a:gd name="T96" fmla="*/ 13 w 38"/>
                <a:gd name="T97" fmla="*/ 46 h 66"/>
                <a:gd name="T98" fmla="*/ 13 w 38"/>
                <a:gd name="T99" fmla="*/ 46 h 66"/>
                <a:gd name="T100" fmla="*/ 12 w 38"/>
                <a:gd name="T101" fmla="*/ 47 h 66"/>
                <a:gd name="T102" fmla="*/ 14 w 38"/>
                <a:gd name="T103" fmla="*/ 50 h 66"/>
                <a:gd name="T104" fmla="*/ 23 w 38"/>
                <a:gd name="T105" fmla="*/ 62 h 66"/>
                <a:gd name="T106" fmla="*/ 22 w 38"/>
                <a:gd name="T107" fmla="*/ 6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8" h="66">
                  <a:moveTo>
                    <a:pt x="22" y="64"/>
                  </a:moveTo>
                  <a:cubicBezTo>
                    <a:pt x="19" y="66"/>
                    <a:pt x="12" y="65"/>
                    <a:pt x="13" y="61"/>
                  </a:cubicBezTo>
                  <a:cubicBezTo>
                    <a:pt x="13" y="60"/>
                    <a:pt x="13" y="59"/>
                    <a:pt x="13" y="59"/>
                  </a:cubicBezTo>
                  <a:cubicBezTo>
                    <a:pt x="13" y="59"/>
                    <a:pt x="13" y="59"/>
                    <a:pt x="13" y="59"/>
                  </a:cubicBezTo>
                  <a:cubicBezTo>
                    <a:pt x="12" y="54"/>
                    <a:pt x="9" y="50"/>
                    <a:pt x="8" y="46"/>
                  </a:cubicBezTo>
                  <a:cubicBezTo>
                    <a:pt x="7" y="45"/>
                    <a:pt x="7" y="44"/>
                    <a:pt x="7" y="42"/>
                  </a:cubicBezTo>
                  <a:cubicBezTo>
                    <a:pt x="8" y="42"/>
                    <a:pt x="9" y="43"/>
                    <a:pt x="10" y="44"/>
                  </a:cubicBezTo>
                  <a:cubicBezTo>
                    <a:pt x="11" y="44"/>
                    <a:pt x="11" y="43"/>
                    <a:pt x="11" y="42"/>
                  </a:cubicBezTo>
                  <a:cubicBezTo>
                    <a:pt x="11" y="39"/>
                    <a:pt x="11" y="36"/>
                    <a:pt x="11" y="33"/>
                  </a:cubicBezTo>
                  <a:cubicBezTo>
                    <a:pt x="10" y="32"/>
                    <a:pt x="9" y="31"/>
                    <a:pt x="8" y="31"/>
                  </a:cubicBezTo>
                  <a:cubicBezTo>
                    <a:pt x="8" y="32"/>
                    <a:pt x="6" y="37"/>
                    <a:pt x="4" y="34"/>
                  </a:cubicBezTo>
                  <a:cubicBezTo>
                    <a:pt x="5" y="32"/>
                    <a:pt x="5" y="29"/>
                    <a:pt x="4" y="27"/>
                  </a:cubicBezTo>
                  <a:cubicBezTo>
                    <a:pt x="2" y="25"/>
                    <a:pt x="0" y="24"/>
                    <a:pt x="0" y="23"/>
                  </a:cubicBezTo>
                  <a:cubicBezTo>
                    <a:pt x="0" y="20"/>
                    <a:pt x="4" y="20"/>
                    <a:pt x="6" y="21"/>
                  </a:cubicBezTo>
                  <a:cubicBezTo>
                    <a:pt x="8" y="21"/>
                    <a:pt x="8" y="17"/>
                    <a:pt x="10" y="23"/>
                  </a:cubicBezTo>
                  <a:cubicBezTo>
                    <a:pt x="10" y="24"/>
                    <a:pt x="11" y="24"/>
                    <a:pt x="11" y="25"/>
                  </a:cubicBezTo>
                  <a:cubicBezTo>
                    <a:pt x="12" y="25"/>
                    <a:pt x="12" y="24"/>
                    <a:pt x="12" y="24"/>
                  </a:cubicBezTo>
                  <a:cubicBezTo>
                    <a:pt x="12" y="22"/>
                    <a:pt x="12" y="19"/>
                    <a:pt x="12" y="17"/>
                  </a:cubicBezTo>
                  <a:cubicBezTo>
                    <a:pt x="10" y="15"/>
                    <a:pt x="8" y="13"/>
                    <a:pt x="7" y="10"/>
                  </a:cubicBezTo>
                  <a:cubicBezTo>
                    <a:pt x="7" y="8"/>
                    <a:pt x="10" y="6"/>
                    <a:pt x="12" y="6"/>
                  </a:cubicBezTo>
                  <a:cubicBezTo>
                    <a:pt x="13" y="4"/>
                    <a:pt x="13" y="3"/>
                    <a:pt x="13" y="1"/>
                  </a:cubicBezTo>
                  <a:cubicBezTo>
                    <a:pt x="13" y="1"/>
                    <a:pt x="13" y="1"/>
                    <a:pt x="14" y="0"/>
                  </a:cubicBezTo>
                  <a:cubicBezTo>
                    <a:pt x="15" y="0"/>
                    <a:pt x="15" y="0"/>
                    <a:pt x="16" y="1"/>
                  </a:cubicBezTo>
                  <a:cubicBezTo>
                    <a:pt x="18" y="3"/>
                    <a:pt x="14" y="11"/>
                    <a:pt x="18" y="12"/>
                  </a:cubicBezTo>
                  <a:cubicBezTo>
                    <a:pt x="19" y="11"/>
                    <a:pt x="18" y="9"/>
                    <a:pt x="17" y="8"/>
                  </a:cubicBezTo>
                  <a:cubicBezTo>
                    <a:pt x="17" y="6"/>
                    <a:pt x="20" y="4"/>
                    <a:pt x="22" y="3"/>
                  </a:cubicBezTo>
                  <a:cubicBezTo>
                    <a:pt x="26" y="3"/>
                    <a:pt x="25" y="4"/>
                    <a:pt x="25" y="7"/>
                  </a:cubicBezTo>
                  <a:cubicBezTo>
                    <a:pt x="26" y="7"/>
                    <a:pt x="26" y="8"/>
                    <a:pt x="26" y="8"/>
                  </a:cubicBezTo>
                  <a:cubicBezTo>
                    <a:pt x="30" y="11"/>
                    <a:pt x="30" y="11"/>
                    <a:pt x="35" y="15"/>
                  </a:cubicBezTo>
                  <a:cubicBezTo>
                    <a:pt x="36" y="16"/>
                    <a:pt x="37" y="17"/>
                    <a:pt x="37" y="19"/>
                  </a:cubicBezTo>
                  <a:cubicBezTo>
                    <a:pt x="37" y="19"/>
                    <a:pt x="37" y="19"/>
                    <a:pt x="37" y="20"/>
                  </a:cubicBezTo>
                  <a:cubicBezTo>
                    <a:pt x="37" y="20"/>
                    <a:pt x="37" y="20"/>
                    <a:pt x="37" y="20"/>
                  </a:cubicBezTo>
                  <a:cubicBezTo>
                    <a:pt x="38" y="21"/>
                    <a:pt x="38" y="24"/>
                    <a:pt x="36" y="24"/>
                  </a:cubicBezTo>
                  <a:cubicBezTo>
                    <a:pt x="32" y="21"/>
                    <a:pt x="27" y="18"/>
                    <a:pt x="23" y="15"/>
                  </a:cubicBezTo>
                  <a:cubicBezTo>
                    <a:pt x="23" y="15"/>
                    <a:pt x="23" y="15"/>
                    <a:pt x="23" y="15"/>
                  </a:cubicBezTo>
                  <a:cubicBezTo>
                    <a:pt x="25" y="17"/>
                    <a:pt x="27" y="22"/>
                    <a:pt x="27" y="25"/>
                  </a:cubicBezTo>
                  <a:cubicBezTo>
                    <a:pt x="26" y="26"/>
                    <a:pt x="24" y="27"/>
                    <a:pt x="22" y="27"/>
                  </a:cubicBezTo>
                  <a:cubicBezTo>
                    <a:pt x="22" y="26"/>
                    <a:pt x="22" y="26"/>
                    <a:pt x="22" y="25"/>
                  </a:cubicBezTo>
                  <a:cubicBezTo>
                    <a:pt x="21" y="23"/>
                    <a:pt x="17" y="21"/>
                    <a:pt x="15" y="19"/>
                  </a:cubicBezTo>
                  <a:cubicBezTo>
                    <a:pt x="14" y="21"/>
                    <a:pt x="16" y="25"/>
                    <a:pt x="16" y="27"/>
                  </a:cubicBezTo>
                  <a:cubicBezTo>
                    <a:pt x="16" y="28"/>
                    <a:pt x="16" y="30"/>
                    <a:pt x="17" y="31"/>
                  </a:cubicBezTo>
                  <a:cubicBezTo>
                    <a:pt x="18" y="32"/>
                    <a:pt x="19" y="34"/>
                    <a:pt x="21" y="35"/>
                  </a:cubicBezTo>
                  <a:cubicBezTo>
                    <a:pt x="21" y="36"/>
                    <a:pt x="22" y="37"/>
                    <a:pt x="22" y="38"/>
                  </a:cubicBezTo>
                  <a:cubicBezTo>
                    <a:pt x="22" y="38"/>
                    <a:pt x="22" y="38"/>
                    <a:pt x="22" y="39"/>
                  </a:cubicBezTo>
                  <a:cubicBezTo>
                    <a:pt x="23" y="40"/>
                    <a:pt x="24" y="44"/>
                    <a:pt x="22" y="44"/>
                  </a:cubicBezTo>
                  <a:cubicBezTo>
                    <a:pt x="21" y="44"/>
                    <a:pt x="21" y="44"/>
                    <a:pt x="21" y="44"/>
                  </a:cubicBezTo>
                  <a:cubicBezTo>
                    <a:pt x="20" y="41"/>
                    <a:pt x="18" y="39"/>
                    <a:pt x="17" y="38"/>
                  </a:cubicBezTo>
                  <a:cubicBezTo>
                    <a:pt x="16" y="40"/>
                    <a:pt x="17" y="42"/>
                    <a:pt x="16" y="44"/>
                  </a:cubicBezTo>
                  <a:cubicBezTo>
                    <a:pt x="15" y="45"/>
                    <a:pt x="14" y="46"/>
                    <a:pt x="13" y="46"/>
                  </a:cubicBezTo>
                  <a:cubicBezTo>
                    <a:pt x="13" y="46"/>
                    <a:pt x="13" y="46"/>
                    <a:pt x="13" y="46"/>
                  </a:cubicBezTo>
                  <a:cubicBezTo>
                    <a:pt x="12" y="46"/>
                    <a:pt x="12" y="46"/>
                    <a:pt x="12" y="47"/>
                  </a:cubicBezTo>
                  <a:cubicBezTo>
                    <a:pt x="12" y="48"/>
                    <a:pt x="13" y="49"/>
                    <a:pt x="14" y="50"/>
                  </a:cubicBezTo>
                  <a:cubicBezTo>
                    <a:pt x="16" y="54"/>
                    <a:pt x="19" y="58"/>
                    <a:pt x="23" y="62"/>
                  </a:cubicBezTo>
                  <a:cubicBezTo>
                    <a:pt x="23" y="63"/>
                    <a:pt x="23" y="63"/>
                    <a:pt x="22" y="6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41" name="Freeform 134"/>
            <p:cNvSpPr/>
            <p:nvPr userDrawn="1"/>
          </p:nvSpPr>
          <p:spPr bwMode="auto">
            <a:xfrm>
              <a:off x="4303306" y="3235510"/>
              <a:ext cx="98319" cy="83193"/>
            </a:xfrm>
            <a:custGeom>
              <a:avLst/>
              <a:gdLst>
                <a:gd name="T0" fmla="*/ 9 w 11"/>
                <a:gd name="T1" fmla="*/ 9 h 9"/>
                <a:gd name="T2" fmla="*/ 7 w 11"/>
                <a:gd name="T3" fmla="*/ 7 h 9"/>
                <a:gd name="T4" fmla="*/ 0 w 11"/>
                <a:gd name="T5" fmla="*/ 2 h 9"/>
                <a:gd name="T6" fmla="*/ 0 w 11"/>
                <a:gd name="T7" fmla="*/ 1 h 9"/>
                <a:gd name="T8" fmla="*/ 7 w 11"/>
                <a:gd name="T9" fmla="*/ 0 h 9"/>
                <a:gd name="T10" fmla="*/ 9 w 11"/>
                <a:gd name="T11" fmla="*/ 9 h 9"/>
              </a:gdLst>
              <a:ahLst/>
              <a:cxnLst>
                <a:cxn ang="0">
                  <a:pos x="T0" y="T1"/>
                </a:cxn>
                <a:cxn ang="0">
                  <a:pos x="T2" y="T3"/>
                </a:cxn>
                <a:cxn ang="0">
                  <a:pos x="T4" y="T5"/>
                </a:cxn>
                <a:cxn ang="0">
                  <a:pos x="T6" y="T7"/>
                </a:cxn>
                <a:cxn ang="0">
                  <a:pos x="T8" y="T9"/>
                </a:cxn>
                <a:cxn ang="0">
                  <a:pos x="T10" y="T11"/>
                </a:cxn>
              </a:cxnLst>
              <a:rect l="0" t="0" r="r" b="b"/>
              <a:pathLst>
                <a:path w="11" h="9">
                  <a:moveTo>
                    <a:pt x="9" y="9"/>
                  </a:moveTo>
                  <a:cubicBezTo>
                    <a:pt x="8" y="9"/>
                    <a:pt x="7" y="8"/>
                    <a:pt x="7" y="7"/>
                  </a:cubicBezTo>
                  <a:cubicBezTo>
                    <a:pt x="3" y="6"/>
                    <a:pt x="1" y="5"/>
                    <a:pt x="0" y="2"/>
                  </a:cubicBezTo>
                  <a:cubicBezTo>
                    <a:pt x="0" y="2"/>
                    <a:pt x="0" y="2"/>
                    <a:pt x="0" y="1"/>
                  </a:cubicBezTo>
                  <a:cubicBezTo>
                    <a:pt x="2" y="1"/>
                    <a:pt x="5" y="0"/>
                    <a:pt x="7" y="0"/>
                  </a:cubicBezTo>
                  <a:cubicBezTo>
                    <a:pt x="11" y="1"/>
                    <a:pt x="10" y="6"/>
                    <a:pt x="9" y="9"/>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42" name="Freeform 135"/>
            <p:cNvSpPr/>
            <p:nvPr userDrawn="1"/>
          </p:nvSpPr>
          <p:spPr bwMode="auto">
            <a:xfrm>
              <a:off x="4212550" y="3137191"/>
              <a:ext cx="105882" cy="98319"/>
            </a:xfrm>
            <a:custGeom>
              <a:avLst/>
              <a:gdLst>
                <a:gd name="T0" fmla="*/ 10 w 11"/>
                <a:gd name="T1" fmla="*/ 10 h 10"/>
                <a:gd name="T2" fmla="*/ 9 w 11"/>
                <a:gd name="T3" fmla="*/ 10 h 10"/>
                <a:gd name="T4" fmla="*/ 8 w 11"/>
                <a:gd name="T5" fmla="*/ 8 h 10"/>
                <a:gd name="T6" fmla="*/ 1 w 11"/>
                <a:gd name="T7" fmla="*/ 2 h 10"/>
                <a:gd name="T8" fmla="*/ 4 w 11"/>
                <a:gd name="T9" fmla="*/ 2 h 10"/>
                <a:gd name="T10" fmla="*/ 11 w 11"/>
                <a:gd name="T11" fmla="*/ 5 h 10"/>
                <a:gd name="T12" fmla="*/ 10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10" y="10"/>
                  </a:moveTo>
                  <a:cubicBezTo>
                    <a:pt x="9" y="10"/>
                    <a:pt x="9" y="10"/>
                    <a:pt x="9" y="10"/>
                  </a:cubicBezTo>
                  <a:cubicBezTo>
                    <a:pt x="8" y="9"/>
                    <a:pt x="8" y="9"/>
                    <a:pt x="8" y="8"/>
                  </a:cubicBezTo>
                  <a:cubicBezTo>
                    <a:pt x="4" y="8"/>
                    <a:pt x="0" y="6"/>
                    <a:pt x="1" y="2"/>
                  </a:cubicBezTo>
                  <a:cubicBezTo>
                    <a:pt x="2" y="1"/>
                    <a:pt x="2" y="2"/>
                    <a:pt x="4" y="2"/>
                  </a:cubicBezTo>
                  <a:cubicBezTo>
                    <a:pt x="7" y="2"/>
                    <a:pt x="11" y="0"/>
                    <a:pt x="11" y="5"/>
                  </a:cubicBezTo>
                  <a:cubicBezTo>
                    <a:pt x="11" y="6"/>
                    <a:pt x="10" y="8"/>
                    <a:pt x="10" y="1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43" name="Freeform 136"/>
            <p:cNvSpPr/>
            <p:nvPr userDrawn="1"/>
          </p:nvSpPr>
          <p:spPr bwMode="auto">
            <a:xfrm>
              <a:off x="4749525" y="3212821"/>
              <a:ext cx="1232773" cy="1066386"/>
            </a:xfrm>
            <a:custGeom>
              <a:avLst/>
              <a:gdLst>
                <a:gd name="T0" fmla="*/ 132 w 132"/>
                <a:gd name="T1" fmla="*/ 6 h 113"/>
                <a:gd name="T2" fmla="*/ 98 w 132"/>
                <a:gd name="T3" fmla="*/ 6 h 113"/>
                <a:gd name="T4" fmla="*/ 79 w 132"/>
                <a:gd name="T5" fmla="*/ 25 h 113"/>
                <a:gd name="T6" fmla="*/ 73 w 132"/>
                <a:gd name="T7" fmla="*/ 12 h 113"/>
                <a:gd name="T8" fmla="*/ 83 w 132"/>
                <a:gd name="T9" fmla="*/ 8 h 113"/>
                <a:gd name="T10" fmla="*/ 57 w 132"/>
                <a:gd name="T11" fmla="*/ 8 h 113"/>
                <a:gd name="T12" fmla="*/ 53 w 132"/>
                <a:gd name="T13" fmla="*/ 25 h 113"/>
                <a:gd name="T14" fmla="*/ 34 w 132"/>
                <a:gd name="T15" fmla="*/ 6 h 113"/>
                <a:gd name="T16" fmla="*/ 0 w 132"/>
                <a:gd name="T17" fmla="*/ 6 h 113"/>
                <a:gd name="T18" fmla="*/ 24 w 132"/>
                <a:gd name="T19" fmla="*/ 16 h 113"/>
                <a:gd name="T20" fmla="*/ 27 w 132"/>
                <a:gd name="T21" fmla="*/ 22 h 113"/>
                <a:gd name="T22" fmla="*/ 9 w 132"/>
                <a:gd name="T23" fmla="*/ 22 h 113"/>
                <a:gd name="T24" fmla="*/ 31 w 132"/>
                <a:gd name="T25" fmla="*/ 32 h 113"/>
                <a:gd name="T26" fmla="*/ 34 w 132"/>
                <a:gd name="T27" fmla="*/ 38 h 113"/>
                <a:gd name="T28" fmla="*/ 20 w 132"/>
                <a:gd name="T29" fmla="*/ 39 h 113"/>
                <a:gd name="T30" fmla="*/ 38 w 132"/>
                <a:gd name="T31" fmla="*/ 48 h 113"/>
                <a:gd name="T32" fmla="*/ 41 w 132"/>
                <a:gd name="T33" fmla="*/ 54 h 113"/>
                <a:gd name="T34" fmla="*/ 30 w 132"/>
                <a:gd name="T35" fmla="*/ 54 h 113"/>
                <a:gd name="T36" fmla="*/ 45 w 132"/>
                <a:gd name="T37" fmla="*/ 63 h 113"/>
                <a:gd name="T38" fmla="*/ 47 w 132"/>
                <a:gd name="T39" fmla="*/ 69 h 113"/>
                <a:gd name="T40" fmla="*/ 39 w 132"/>
                <a:gd name="T41" fmla="*/ 69 h 113"/>
                <a:gd name="T42" fmla="*/ 51 w 132"/>
                <a:gd name="T43" fmla="*/ 78 h 113"/>
                <a:gd name="T44" fmla="*/ 51 w 132"/>
                <a:gd name="T45" fmla="*/ 89 h 113"/>
                <a:gd name="T46" fmla="*/ 66 w 132"/>
                <a:gd name="T47" fmla="*/ 113 h 113"/>
                <a:gd name="T48" fmla="*/ 81 w 132"/>
                <a:gd name="T49" fmla="*/ 89 h 113"/>
                <a:gd name="T50" fmla="*/ 81 w 132"/>
                <a:gd name="T51" fmla="*/ 78 h 113"/>
                <a:gd name="T52" fmla="*/ 92 w 132"/>
                <a:gd name="T53" fmla="*/ 69 h 113"/>
                <a:gd name="T54" fmla="*/ 85 w 132"/>
                <a:gd name="T55" fmla="*/ 69 h 113"/>
                <a:gd name="T56" fmla="*/ 87 w 132"/>
                <a:gd name="T57" fmla="*/ 63 h 113"/>
                <a:gd name="T58" fmla="*/ 102 w 132"/>
                <a:gd name="T59" fmla="*/ 54 h 113"/>
                <a:gd name="T60" fmla="*/ 91 w 132"/>
                <a:gd name="T61" fmla="*/ 54 h 113"/>
                <a:gd name="T62" fmla="*/ 93 w 132"/>
                <a:gd name="T63" fmla="*/ 48 h 113"/>
                <a:gd name="T64" fmla="*/ 111 w 132"/>
                <a:gd name="T65" fmla="*/ 39 h 113"/>
                <a:gd name="T66" fmla="*/ 97 w 132"/>
                <a:gd name="T67" fmla="*/ 38 h 113"/>
                <a:gd name="T68" fmla="*/ 100 w 132"/>
                <a:gd name="T69" fmla="*/ 32 h 113"/>
                <a:gd name="T70" fmla="*/ 123 w 132"/>
                <a:gd name="T71" fmla="*/ 22 h 113"/>
                <a:gd name="T72" fmla="*/ 105 w 132"/>
                <a:gd name="T73" fmla="*/ 22 h 113"/>
                <a:gd name="T74" fmla="*/ 107 w 132"/>
                <a:gd name="T75" fmla="*/ 16 h 113"/>
                <a:gd name="T76" fmla="*/ 132 w 132"/>
                <a:gd name="T77" fmla="*/ 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2" h="113">
                  <a:moveTo>
                    <a:pt x="132" y="6"/>
                  </a:moveTo>
                  <a:cubicBezTo>
                    <a:pt x="98" y="6"/>
                    <a:pt x="98" y="6"/>
                    <a:pt x="98" y="6"/>
                  </a:cubicBezTo>
                  <a:cubicBezTo>
                    <a:pt x="88" y="6"/>
                    <a:pt x="83" y="16"/>
                    <a:pt x="79" y="25"/>
                  </a:cubicBezTo>
                  <a:cubicBezTo>
                    <a:pt x="73" y="12"/>
                    <a:pt x="73" y="12"/>
                    <a:pt x="73" y="12"/>
                  </a:cubicBezTo>
                  <a:cubicBezTo>
                    <a:pt x="83" y="8"/>
                    <a:pt x="83" y="8"/>
                    <a:pt x="83" y="8"/>
                  </a:cubicBezTo>
                  <a:cubicBezTo>
                    <a:pt x="77" y="3"/>
                    <a:pt x="59" y="0"/>
                    <a:pt x="57" y="8"/>
                  </a:cubicBezTo>
                  <a:cubicBezTo>
                    <a:pt x="53" y="25"/>
                    <a:pt x="53" y="25"/>
                    <a:pt x="53" y="25"/>
                  </a:cubicBezTo>
                  <a:cubicBezTo>
                    <a:pt x="50" y="17"/>
                    <a:pt x="45" y="6"/>
                    <a:pt x="34" y="6"/>
                  </a:cubicBezTo>
                  <a:cubicBezTo>
                    <a:pt x="0" y="6"/>
                    <a:pt x="0" y="6"/>
                    <a:pt x="0" y="6"/>
                  </a:cubicBezTo>
                  <a:cubicBezTo>
                    <a:pt x="4" y="14"/>
                    <a:pt x="8" y="17"/>
                    <a:pt x="24" y="16"/>
                  </a:cubicBezTo>
                  <a:cubicBezTo>
                    <a:pt x="27" y="22"/>
                    <a:pt x="27" y="22"/>
                    <a:pt x="27" y="22"/>
                  </a:cubicBezTo>
                  <a:cubicBezTo>
                    <a:pt x="9" y="22"/>
                    <a:pt x="9" y="22"/>
                    <a:pt x="9" y="22"/>
                  </a:cubicBezTo>
                  <a:cubicBezTo>
                    <a:pt x="14" y="32"/>
                    <a:pt x="17" y="32"/>
                    <a:pt x="31" y="32"/>
                  </a:cubicBezTo>
                  <a:cubicBezTo>
                    <a:pt x="34" y="38"/>
                    <a:pt x="34" y="38"/>
                    <a:pt x="34" y="38"/>
                  </a:cubicBezTo>
                  <a:cubicBezTo>
                    <a:pt x="20" y="39"/>
                    <a:pt x="20" y="39"/>
                    <a:pt x="20" y="39"/>
                  </a:cubicBezTo>
                  <a:cubicBezTo>
                    <a:pt x="23" y="45"/>
                    <a:pt x="27" y="48"/>
                    <a:pt x="38" y="48"/>
                  </a:cubicBezTo>
                  <a:cubicBezTo>
                    <a:pt x="41" y="54"/>
                    <a:pt x="41" y="54"/>
                    <a:pt x="41" y="54"/>
                  </a:cubicBezTo>
                  <a:cubicBezTo>
                    <a:pt x="30" y="54"/>
                    <a:pt x="30" y="54"/>
                    <a:pt x="30" y="54"/>
                  </a:cubicBezTo>
                  <a:cubicBezTo>
                    <a:pt x="34" y="61"/>
                    <a:pt x="36" y="64"/>
                    <a:pt x="45" y="63"/>
                  </a:cubicBezTo>
                  <a:cubicBezTo>
                    <a:pt x="47" y="69"/>
                    <a:pt x="47" y="69"/>
                    <a:pt x="47" y="69"/>
                  </a:cubicBezTo>
                  <a:cubicBezTo>
                    <a:pt x="39" y="69"/>
                    <a:pt x="39" y="69"/>
                    <a:pt x="39" y="69"/>
                  </a:cubicBezTo>
                  <a:cubicBezTo>
                    <a:pt x="43" y="77"/>
                    <a:pt x="46" y="77"/>
                    <a:pt x="51" y="78"/>
                  </a:cubicBezTo>
                  <a:cubicBezTo>
                    <a:pt x="55" y="78"/>
                    <a:pt x="56" y="86"/>
                    <a:pt x="51" y="89"/>
                  </a:cubicBezTo>
                  <a:cubicBezTo>
                    <a:pt x="66" y="113"/>
                    <a:pt x="66" y="113"/>
                    <a:pt x="66" y="113"/>
                  </a:cubicBezTo>
                  <a:cubicBezTo>
                    <a:pt x="81" y="89"/>
                    <a:pt x="81" y="89"/>
                    <a:pt x="81" y="89"/>
                  </a:cubicBezTo>
                  <a:cubicBezTo>
                    <a:pt x="76" y="86"/>
                    <a:pt x="76" y="78"/>
                    <a:pt x="81" y="78"/>
                  </a:cubicBezTo>
                  <a:cubicBezTo>
                    <a:pt x="85" y="77"/>
                    <a:pt x="89" y="77"/>
                    <a:pt x="92" y="69"/>
                  </a:cubicBezTo>
                  <a:cubicBezTo>
                    <a:pt x="85" y="69"/>
                    <a:pt x="85" y="69"/>
                    <a:pt x="85" y="69"/>
                  </a:cubicBezTo>
                  <a:cubicBezTo>
                    <a:pt x="87" y="63"/>
                    <a:pt x="87" y="63"/>
                    <a:pt x="87" y="63"/>
                  </a:cubicBezTo>
                  <a:cubicBezTo>
                    <a:pt x="96" y="64"/>
                    <a:pt x="98" y="60"/>
                    <a:pt x="102" y="54"/>
                  </a:cubicBezTo>
                  <a:cubicBezTo>
                    <a:pt x="91" y="54"/>
                    <a:pt x="91" y="54"/>
                    <a:pt x="91" y="54"/>
                  </a:cubicBezTo>
                  <a:cubicBezTo>
                    <a:pt x="93" y="48"/>
                    <a:pt x="93" y="48"/>
                    <a:pt x="93" y="48"/>
                  </a:cubicBezTo>
                  <a:cubicBezTo>
                    <a:pt x="105" y="48"/>
                    <a:pt x="108" y="45"/>
                    <a:pt x="111" y="39"/>
                  </a:cubicBezTo>
                  <a:cubicBezTo>
                    <a:pt x="97" y="38"/>
                    <a:pt x="97" y="38"/>
                    <a:pt x="97" y="38"/>
                  </a:cubicBezTo>
                  <a:cubicBezTo>
                    <a:pt x="100" y="32"/>
                    <a:pt x="100" y="32"/>
                    <a:pt x="100" y="32"/>
                  </a:cubicBezTo>
                  <a:cubicBezTo>
                    <a:pt x="115" y="32"/>
                    <a:pt x="118" y="32"/>
                    <a:pt x="123" y="22"/>
                  </a:cubicBezTo>
                  <a:cubicBezTo>
                    <a:pt x="105" y="22"/>
                    <a:pt x="105" y="22"/>
                    <a:pt x="105" y="22"/>
                  </a:cubicBezTo>
                  <a:cubicBezTo>
                    <a:pt x="107" y="16"/>
                    <a:pt x="107" y="16"/>
                    <a:pt x="107" y="16"/>
                  </a:cubicBezTo>
                  <a:cubicBezTo>
                    <a:pt x="123" y="17"/>
                    <a:pt x="128" y="14"/>
                    <a:pt x="132" y="6"/>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dirty="0"/>
            </a:p>
          </p:txBody>
        </p:sp>
        <p:sp>
          <p:nvSpPr>
            <p:cNvPr id="44" name="Freeform 137"/>
            <p:cNvSpPr>
              <a:spLocks noEditPoints="1"/>
            </p:cNvSpPr>
            <p:nvPr userDrawn="1"/>
          </p:nvSpPr>
          <p:spPr bwMode="auto">
            <a:xfrm>
              <a:off x="6004987" y="2993493"/>
              <a:ext cx="484034" cy="325210"/>
            </a:xfrm>
            <a:custGeom>
              <a:avLst/>
              <a:gdLst>
                <a:gd name="T0" fmla="*/ 51 w 52"/>
                <a:gd name="T1" fmla="*/ 10 h 34"/>
                <a:gd name="T2" fmla="*/ 48 w 52"/>
                <a:gd name="T3" fmla="*/ 10 h 34"/>
                <a:gd name="T4" fmla="*/ 47 w 52"/>
                <a:gd name="T5" fmla="*/ 8 h 34"/>
                <a:gd name="T6" fmla="*/ 50 w 52"/>
                <a:gd name="T7" fmla="*/ 7 h 34"/>
                <a:gd name="T8" fmla="*/ 52 w 52"/>
                <a:gd name="T9" fmla="*/ 2 h 34"/>
                <a:gd name="T10" fmla="*/ 44 w 52"/>
                <a:gd name="T11" fmla="*/ 3 h 34"/>
                <a:gd name="T12" fmla="*/ 36 w 52"/>
                <a:gd name="T13" fmla="*/ 1 h 34"/>
                <a:gd name="T14" fmla="*/ 36 w 52"/>
                <a:gd name="T15" fmla="*/ 3 h 34"/>
                <a:gd name="T16" fmla="*/ 35 w 52"/>
                <a:gd name="T17" fmla="*/ 4 h 34"/>
                <a:gd name="T18" fmla="*/ 35 w 52"/>
                <a:gd name="T19" fmla="*/ 5 h 34"/>
                <a:gd name="T20" fmla="*/ 34 w 52"/>
                <a:gd name="T21" fmla="*/ 7 h 34"/>
                <a:gd name="T22" fmla="*/ 34 w 52"/>
                <a:gd name="T23" fmla="*/ 6 h 34"/>
                <a:gd name="T24" fmla="*/ 30 w 52"/>
                <a:gd name="T25" fmla="*/ 5 h 34"/>
                <a:gd name="T26" fmla="*/ 28 w 52"/>
                <a:gd name="T27" fmla="*/ 9 h 34"/>
                <a:gd name="T28" fmla="*/ 28 w 52"/>
                <a:gd name="T29" fmla="*/ 10 h 34"/>
                <a:gd name="T30" fmla="*/ 31 w 52"/>
                <a:gd name="T31" fmla="*/ 11 h 34"/>
                <a:gd name="T32" fmla="*/ 33 w 52"/>
                <a:gd name="T33" fmla="*/ 12 h 34"/>
                <a:gd name="T34" fmla="*/ 30 w 52"/>
                <a:gd name="T35" fmla="*/ 14 h 34"/>
                <a:gd name="T36" fmla="*/ 26 w 52"/>
                <a:gd name="T37" fmla="*/ 14 h 34"/>
                <a:gd name="T38" fmla="*/ 13 w 52"/>
                <a:gd name="T39" fmla="*/ 11 h 34"/>
                <a:gd name="T40" fmla="*/ 13 w 52"/>
                <a:gd name="T41" fmla="*/ 12 h 34"/>
                <a:gd name="T42" fmla="*/ 20 w 52"/>
                <a:gd name="T43" fmla="*/ 16 h 34"/>
                <a:gd name="T44" fmla="*/ 32 w 52"/>
                <a:gd name="T45" fmla="*/ 20 h 34"/>
                <a:gd name="T46" fmla="*/ 31 w 52"/>
                <a:gd name="T47" fmla="*/ 20 h 34"/>
                <a:gd name="T48" fmla="*/ 24 w 52"/>
                <a:gd name="T49" fmla="*/ 20 h 34"/>
                <a:gd name="T50" fmla="*/ 19 w 52"/>
                <a:gd name="T51" fmla="*/ 19 h 34"/>
                <a:gd name="T52" fmla="*/ 18 w 52"/>
                <a:gd name="T53" fmla="*/ 19 h 34"/>
                <a:gd name="T54" fmla="*/ 4 w 52"/>
                <a:gd name="T55" fmla="*/ 14 h 34"/>
                <a:gd name="T56" fmla="*/ 2 w 52"/>
                <a:gd name="T57" fmla="*/ 12 h 34"/>
                <a:gd name="T58" fmla="*/ 3 w 52"/>
                <a:gd name="T59" fmla="*/ 20 h 34"/>
                <a:gd name="T60" fmla="*/ 13 w 52"/>
                <a:gd name="T61" fmla="*/ 23 h 34"/>
                <a:gd name="T62" fmla="*/ 13 w 52"/>
                <a:gd name="T63" fmla="*/ 24 h 34"/>
                <a:gd name="T64" fmla="*/ 9 w 52"/>
                <a:gd name="T65" fmla="*/ 27 h 34"/>
                <a:gd name="T66" fmla="*/ 4 w 52"/>
                <a:gd name="T67" fmla="*/ 26 h 34"/>
                <a:gd name="T68" fmla="*/ 9 w 52"/>
                <a:gd name="T69" fmla="*/ 33 h 34"/>
                <a:gd name="T70" fmla="*/ 10 w 52"/>
                <a:gd name="T71" fmla="*/ 34 h 34"/>
                <a:gd name="T72" fmla="*/ 18 w 52"/>
                <a:gd name="T73" fmla="*/ 28 h 34"/>
                <a:gd name="T74" fmla="*/ 23 w 52"/>
                <a:gd name="T75" fmla="*/ 28 h 34"/>
                <a:gd name="T76" fmla="*/ 22 w 52"/>
                <a:gd name="T77" fmla="*/ 23 h 34"/>
                <a:gd name="T78" fmla="*/ 23 w 52"/>
                <a:gd name="T79" fmla="*/ 21 h 34"/>
                <a:gd name="T80" fmla="*/ 30 w 52"/>
                <a:gd name="T81" fmla="*/ 22 h 34"/>
                <a:gd name="T82" fmla="*/ 36 w 52"/>
                <a:gd name="T83" fmla="*/ 25 h 34"/>
                <a:gd name="T84" fmla="*/ 39 w 52"/>
                <a:gd name="T85" fmla="*/ 21 h 34"/>
                <a:gd name="T86" fmla="*/ 39 w 52"/>
                <a:gd name="T87" fmla="*/ 20 h 34"/>
                <a:gd name="T88" fmla="*/ 51 w 52"/>
                <a:gd name="T89" fmla="*/ 14 h 34"/>
                <a:gd name="T90" fmla="*/ 38 w 52"/>
                <a:gd name="T91" fmla="*/ 14 h 34"/>
                <a:gd name="T92" fmla="*/ 38 w 52"/>
                <a:gd name="T93" fmla="*/ 12 h 34"/>
                <a:gd name="T94" fmla="*/ 36 w 52"/>
                <a:gd name="T95" fmla="*/ 11 h 34"/>
                <a:gd name="T96" fmla="*/ 36 w 52"/>
                <a:gd name="T97" fmla="*/ 10 h 34"/>
                <a:gd name="T98" fmla="*/ 40 w 52"/>
                <a:gd name="T99" fmla="*/ 9 h 34"/>
                <a:gd name="T100" fmla="*/ 43 w 52"/>
                <a:gd name="T101" fmla="*/ 14 h 34"/>
                <a:gd name="T102" fmla="*/ 38 w 52"/>
                <a:gd name="T103" fmla="*/ 1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 h="34">
                  <a:moveTo>
                    <a:pt x="51" y="13"/>
                  </a:moveTo>
                  <a:cubicBezTo>
                    <a:pt x="51" y="12"/>
                    <a:pt x="51" y="12"/>
                    <a:pt x="51" y="12"/>
                  </a:cubicBezTo>
                  <a:cubicBezTo>
                    <a:pt x="51" y="11"/>
                    <a:pt x="51" y="11"/>
                    <a:pt x="51" y="10"/>
                  </a:cubicBezTo>
                  <a:cubicBezTo>
                    <a:pt x="51" y="10"/>
                    <a:pt x="50" y="10"/>
                    <a:pt x="50" y="10"/>
                  </a:cubicBezTo>
                  <a:cubicBezTo>
                    <a:pt x="49" y="10"/>
                    <a:pt x="49" y="10"/>
                    <a:pt x="49" y="10"/>
                  </a:cubicBezTo>
                  <a:cubicBezTo>
                    <a:pt x="48" y="10"/>
                    <a:pt x="48" y="10"/>
                    <a:pt x="48" y="10"/>
                  </a:cubicBezTo>
                  <a:cubicBezTo>
                    <a:pt x="48" y="9"/>
                    <a:pt x="48" y="9"/>
                    <a:pt x="48" y="9"/>
                  </a:cubicBezTo>
                  <a:cubicBezTo>
                    <a:pt x="48" y="9"/>
                    <a:pt x="48" y="9"/>
                    <a:pt x="48" y="9"/>
                  </a:cubicBezTo>
                  <a:cubicBezTo>
                    <a:pt x="47" y="8"/>
                    <a:pt x="47" y="8"/>
                    <a:pt x="47" y="8"/>
                  </a:cubicBezTo>
                  <a:cubicBezTo>
                    <a:pt x="47" y="8"/>
                    <a:pt x="47" y="8"/>
                    <a:pt x="47" y="8"/>
                  </a:cubicBezTo>
                  <a:cubicBezTo>
                    <a:pt x="48" y="8"/>
                    <a:pt x="48" y="8"/>
                    <a:pt x="48" y="8"/>
                  </a:cubicBezTo>
                  <a:cubicBezTo>
                    <a:pt x="48" y="7"/>
                    <a:pt x="49" y="7"/>
                    <a:pt x="50" y="7"/>
                  </a:cubicBezTo>
                  <a:cubicBezTo>
                    <a:pt x="50" y="7"/>
                    <a:pt x="50" y="7"/>
                    <a:pt x="50" y="7"/>
                  </a:cubicBezTo>
                  <a:cubicBezTo>
                    <a:pt x="50" y="7"/>
                    <a:pt x="50" y="7"/>
                    <a:pt x="50" y="7"/>
                  </a:cubicBezTo>
                  <a:cubicBezTo>
                    <a:pt x="51" y="6"/>
                    <a:pt x="52" y="4"/>
                    <a:pt x="52" y="2"/>
                  </a:cubicBezTo>
                  <a:cubicBezTo>
                    <a:pt x="52" y="2"/>
                    <a:pt x="51" y="2"/>
                    <a:pt x="50" y="2"/>
                  </a:cubicBezTo>
                  <a:cubicBezTo>
                    <a:pt x="49" y="2"/>
                    <a:pt x="48" y="2"/>
                    <a:pt x="46" y="3"/>
                  </a:cubicBezTo>
                  <a:cubicBezTo>
                    <a:pt x="46" y="3"/>
                    <a:pt x="45" y="3"/>
                    <a:pt x="44" y="3"/>
                  </a:cubicBezTo>
                  <a:cubicBezTo>
                    <a:pt x="43" y="3"/>
                    <a:pt x="43" y="3"/>
                    <a:pt x="43" y="3"/>
                  </a:cubicBezTo>
                  <a:cubicBezTo>
                    <a:pt x="41" y="2"/>
                    <a:pt x="41" y="2"/>
                    <a:pt x="36" y="0"/>
                  </a:cubicBezTo>
                  <a:cubicBezTo>
                    <a:pt x="36" y="0"/>
                    <a:pt x="36" y="0"/>
                    <a:pt x="36" y="1"/>
                  </a:cubicBezTo>
                  <a:cubicBezTo>
                    <a:pt x="35" y="1"/>
                    <a:pt x="35" y="2"/>
                    <a:pt x="36" y="3"/>
                  </a:cubicBezTo>
                  <a:cubicBezTo>
                    <a:pt x="36" y="3"/>
                    <a:pt x="36" y="3"/>
                    <a:pt x="36" y="3"/>
                  </a:cubicBezTo>
                  <a:cubicBezTo>
                    <a:pt x="36" y="3"/>
                    <a:pt x="36" y="3"/>
                    <a:pt x="36" y="3"/>
                  </a:cubicBezTo>
                  <a:cubicBezTo>
                    <a:pt x="36" y="3"/>
                    <a:pt x="36" y="3"/>
                    <a:pt x="36" y="3"/>
                  </a:cubicBezTo>
                  <a:cubicBezTo>
                    <a:pt x="35" y="4"/>
                    <a:pt x="35" y="4"/>
                    <a:pt x="35" y="4"/>
                  </a:cubicBezTo>
                  <a:cubicBezTo>
                    <a:pt x="35" y="4"/>
                    <a:pt x="35" y="4"/>
                    <a:pt x="35" y="4"/>
                  </a:cubicBezTo>
                  <a:cubicBezTo>
                    <a:pt x="35" y="4"/>
                    <a:pt x="35" y="4"/>
                    <a:pt x="35" y="4"/>
                  </a:cubicBezTo>
                  <a:cubicBezTo>
                    <a:pt x="35" y="4"/>
                    <a:pt x="35" y="4"/>
                    <a:pt x="35" y="4"/>
                  </a:cubicBezTo>
                  <a:cubicBezTo>
                    <a:pt x="35" y="4"/>
                    <a:pt x="35" y="5"/>
                    <a:pt x="35" y="5"/>
                  </a:cubicBezTo>
                  <a:cubicBezTo>
                    <a:pt x="35" y="5"/>
                    <a:pt x="35" y="5"/>
                    <a:pt x="35" y="5"/>
                  </a:cubicBezTo>
                  <a:cubicBezTo>
                    <a:pt x="35" y="6"/>
                    <a:pt x="35" y="6"/>
                    <a:pt x="35" y="6"/>
                  </a:cubicBezTo>
                  <a:cubicBezTo>
                    <a:pt x="34" y="7"/>
                    <a:pt x="34" y="7"/>
                    <a:pt x="34" y="7"/>
                  </a:cubicBezTo>
                  <a:cubicBezTo>
                    <a:pt x="34" y="7"/>
                    <a:pt x="34" y="7"/>
                    <a:pt x="34" y="7"/>
                  </a:cubicBezTo>
                  <a:cubicBezTo>
                    <a:pt x="34" y="7"/>
                    <a:pt x="34" y="7"/>
                    <a:pt x="34" y="7"/>
                  </a:cubicBezTo>
                  <a:cubicBezTo>
                    <a:pt x="34" y="6"/>
                    <a:pt x="34" y="6"/>
                    <a:pt x="34" y="6"/>
                  </a:cubicBezTo>
                  <a:cubicBezTo>
                    <a:pt x="33" y="6"/>
                    <a:pt x="33" y="6"/>
                    <a:pt x="32" y="5"/>
                  </a:cubicBezTo>
                  <a:cubicBezTo>
                    <a:pt x="32" y="5"/>
                    <a:pt x="32" y="5"/>
                    <a:pt x="32" y="5"/>
                  </a:cubicBezTo>
                  <a:cubicBezTo>
                    <a:pt x="31" y="5"/>
                    <a:pt x="31" y="5"/>
                    <a:pt x="30" y="5"/>
                  </a:cubicBezTo>
                  <a:cubicBezTo>
                    <a:pt x="30" y="6"/>
                    <a:pt x="30" y="6"/>
                    <a:pt x="30" y="6"/>
                  </a:cubicBezTo>
                  <a:cubicBezTo>
                    <a:pt x="30" y="7"/>
                    <a:pt x="30" y="7"/>
                    <a:pt x="30" y="7"/>
                  </a:cubicBezTo>
                  <a:cubicBezTo>
                    <a:pt x="30" y="7"/>
                    <a:pt x="30" y="8"/>
                    <a:pt x="28" y="9"/>
                  </a:cubicBezTo>
                  <a:cubicBezTo>
                    <a:pt x="27" y="8"/>
                    <a:pt x="27" y="8"/>
                    <a:pt x="27" y="8"/>
                  </a:cubicBezTo>
                  <a:cubicBezTo>
                    <a:pt x="26" y="8"/>
                    <a:pt x="26" y="9"/>
                    <a:pt x="26" y="9"/>
                  </a:cubicBezTo>
                  <a:cubicBezTo>
                    <a:pt x="26" y="10"/>
                    <a:pt x="26" y="10"/>
                    <a:pt x="28" y="10"/>
                  </a:cubicBezTo>
                  <a:cubicBezTo>
                    <a:pt x="29" y="10"/>
                    <a:pt x="29" y="11"/>
                    <a:pt x="30" y="11"/>
                  </a:cubicBezTo>
                  <a:cubicBezTo>
                    <a:pt x="30" y="11"/>
                    <a:pt x="30" y="11"/>
                    <a:pt x="30" y="11"/>
                  </a:cubicBezTo>
                  <a:cubicBezTo>
                    <a:pt x="31" y="11"/>
                    <a:pt x="31" y="11"/>
                    <a:pt x="31" y="11"/>
                  </a:cubicBezTo>
                  <a:cubicBezTo>
                    <a:pt x="32" y="11"/>
                    <a:pt x="32" y="11"/>
                    <a:pt x="32" y="11"/>
                  </a:cubicBezTo>
                  <a:cubicBezTo>
                    <a:pt x="33" y="11"/>
                    <a:pt x="33" y="11"/>
                    <a:pt x="33" y="11"/>
                  </a:cubicBezTo>
                  <a:cubicBezTo>
                    <a:pt x="33" y="12"/>
                    <a:pt x="33" y="12"/>
                    <a:pt x="33" y="12"/>
                  </a:cubicBezTo>
                  <a:cubicBezTo>
                    <a:pt x="31" y="12"/>
                    <a:pt x="31" y="12"/>
                    <a:pt x="31" y="12"/>
                  </a:cubicBezTo>
                  <a:cubicBezTo>
                    <a:pt x="31" y="12"/>
                    <a:pt x="31" y="13"/>
                    <a:pt x="30" y="13"/>
                  </a:cubicBezTo>
                  <a:cubicBezTo>
                    <a:pt x="30" y="14"/>
                    <a:pt x="30" y="14"/>
                    <a:pt x="30" y="14"/>
                  </a:cubicBezTo>
                  <a:cubicBezTo>
                    <a:pt x="29" y="15"/>
                    <a:pt x="29" y="15"/>
                    <a:pt x="29" y="15"/>
                  </a:cubicBezTo>
                  <a:cubicBezTo>
                    <a:pt x="29" y="14"/>
                    <a:pt x="29" y="14"/>
                    <a:pt x="29" y="14"/>
                  </a:cubicBezTo>
                  <a:cubicBezTo>
                    <a:pt x="28" y="14"/>
                    <a:pt x="27" y="14"/>
                    <a:pt x="26" y="14"/>
                  </a:cubicBezTo>
                  <a:cubicBezTo>
                    <a:pt x="24" y="13"/>
                    <a:pt x="24" y="13"/>
                    <a:pt x="24" y="13"/>
                  </a:cubicBezTo>
                  <a:cubicBezTo>
                    <a:pt x="22" y="13"/>
                    <a:pt x="18" y="12"/>
                    <a:pt x="15" y="11"/>
                  </a:cubicBezTo>
                  <a:cubicBezTo>
                    <a:pt x="15" y="11"/>
                    <a:pt x="14" y="11"/>
                    <a:pt x="13" y="11"/>
                  </a:cubicBezTo>
                  <a:cubicBezTo>
                    <a:pt x="12" y="10"/>
                    <a:pt x="12" y="10"/>
                    <a:pt x="12" y="10"/>
                  </a:cubicBezTo>
                  <a:cubicBezTo>
                    <a:pt x="11" y="11"/>
                    <a:pt x="11" y="11"/>
                    <a:pt x="11" y="11"/>
                  </a:cubicBezTo>
                  <a:cubicBezTo>
                    <a:pt x="12" y="11"/>
                    <a:pt x="12" y="12"/>
                    <a:pt x="13" y="12"/>
                  </a:cubicBezTo>
                  <a:cubicBezTo>
                    <a:pt x="13" y="12"/>
                    <a:pt x="13" y="12"/>
                    <a:pt x="13" y="12"/>
                  </a:cubicBezTo>
                  <a:cubicBezTo>
                    <a:pt x="14" y="13"/>
                    <a:pt x="14" y="15"/>
                    <a:pt x="16" y="16"/>
                  </a:cubicBezTo>
                  <a:cubicBezTo>
                    <a:pt x="17" y="16"/>
                    <a:pt x="18" y="16"/>
                    <a:pt x="20" y="16"/>
                  </a:cubicBezTo>
                  <a:cubicBezTo>
                    <a:pt x="23" y="16"/>
                    <a:pt x="28" y="17"/>
                    <a:pt x="31" y="19"/>
                  </a:cubicBezTo>
                  <a:cubicBezTo>
                    <a:pt x="32" y="20"/>
                    <a:pt x="32" y="20"/>
                    <a:pt x="32" y="20"/>
                  </a:cubicBezTo>
                  <a:cubicBezTo>
                    <a:pt x="32" y="20"/>
                    <a:pt x="32" y="20"/>
                    <a:pt x="32" y="20"/>
                  </a:cubicBezTo>
                  <a:cubicBezTo>
                    <a:pt x="32" y="20"/>
                    <a:pt x="32" y="20"/>
                    <a:pt x="32" y="20"/>
                  </a:cubicBezTo>
                  <a:cubicBezTo>
                    <a:pt x="32" y="20"/>
                    <a:pt x="32" y="20"/>
                    <a:pt x="32" y="20"/>
                  </a:cubicBezTo>
                  <a:cubicBezTo>
                    <a:pt x="31" y="20"/>
                    <a:pt x="31" y="20"/>
                    <a:pt x="31" y="20"/>
                  </a:cubicBezTo>
                  <a:cubicBezTo>
                    <a:pt x="30" y="20"/>
                    <a:pt x="30" y="21"/>
                    <a:pt x="30" y="21"/>
                  </a:cubicBezTo>
                  <a:cubicBezTo>
                    <a:pt x="29" y="21"/>
                    <a:pt x="29" y="21"/>
                    <a:pt x="29" y="21"/>
                  </a:cubicBezTo>
                  <a:cubicBezTo>
                    <a:pt x="26" y="20"/>
                    <a:pt x="26" y="20"/>
                    <a:pt x="24" y="20"/>
                  </a:cubicBezTo>
                  <a:cubicBezTo>
                    <a:pt x="23" y="19"/>
                    <a:pt x="22" y="18"/>
                    <a:pt x="21" y="18"/>
                  </a:cubicBezTo>
                  <a:cubicBezTo>
                    <a:pt x="21" y="18"/>
                    <a:pt x="20" y="19"/>
                    <a:pt x="19" y="19"/>
                  </a:cubicBezTo>
                  <a:cubicBezTo>
                    <a:pt x="19" y="19"/>
                    <a:pt x="19" y="19"/>
                    <a:pt x="19" y="19"/>
                  </a:cubicBezTo>
                  <a:cubicBezTo>
                    <a:pt x="19" y="19"/>
                    <a:pt x="19" y="19"/>
                    <a:pt x="19" y="19"/>
                  </a:cubicBezTo>
                  <a:cubicBezTo>
                    <a:pt x="19" y="20"/>
                    <a:pt x="19" y="20"/>
                    <a:pt x="19" y="20"/>
                  </a:cubicBezTo>
                  <a:cubicBezTo>
                    <a:pt x="18" y="19"/>
                    <a:pt x="18" y="19"/>
                    <a:pt x="18" y="19"/>
                  </a:cubicBezTo>
                  <a:cubicBezTo>
                    <a:pt x="18" y="19"/>
                    <a:pt x="18" y="19"/>
                    <a:pt x="17" y="19"/>
                  </a:cubicBezTo>
                  <a:cubicBezTo>
                    <a:pt x="16" y="19"/>
                    <a:pt x="15" y="18"/>
                    <a:pt x="14" y="18"/>
                  </a:cubicBezTo>
                  <a:cubicBezTo>
                    <a:pt x="10" y="17"/>
                    <a:pt x="7" y="16"/>
                    <a:pt x="4" y="14"/>
                  </a:cubicBezTo>
                  <a:cubicBezTo>
                    <a:pt x="3" y="13"/>
                    <a:pt x="3" y="13"/>
                    <a:pt x="2" y="12"/>
                  </a:cubicBezTo>
                  <a:cubicBezTo>
                    <a:pt x="2" y="12"/>
                    <a:pt x="2" y="12"/>
                    <a:pt x="2" y="12"/>
                  </a:cubicBezTo>
                  <a:cubicBezTo>
                    <a:pt x="2" y="12"/>
                    <a:pt x="2" y="12"/>
                    <a:pt x="2" y="12"/>
                  </a:cubicBezTo>
                  <a:cubicBezTo>
                    <a:pt x="2" y="11"/>
                    <a:pt x="2" y="11"/>
                    <a:pt x="2" y="11"/>
                  </a:cubicBezTo>
                  <a:cubicBezTo>
                    <a:pt x="1" y="11"/>
                    <a:pt x="1" y="12"/>
                    <a:pt x="0" y="12"/>
                  </a:cubicBezTo>
                  <a:cubicBezTo>
                    <a:pt x="0" y="14"/>
                    <a:pt x="2" y="19"/>
                    <a:pt x="3" y="20"/>
                  </a:cubicBezTo>
                  <a:cubicBezTo>
                    <a:pt x="4" y="20"/>
                    <a:pt x="5" y="21"/>
                    <a:pt x="6" y="21"/>
                  </a:cubicBezTo>
                  <a:cubicBezTo>
                    <a:pt x="8" y="21"/>
                    <a:pt x="11" y="22"/>
                    <a:pt x="12" y="23"/>
                  </a:cubicBezTo>
                  <a:cubicBezTo>
                    <a:pt x="13" y="23"/>
                    <a:pt x="13" y="23"/>
                    <a:pt x="13" y="23"/>
                  </a:cubicBezTo>
                  <a:cubicBezTo>
                    <a:pt x="13" y="23"/>
                    <a:pt x="13" y="23"/>
                    <a:pt x="13" y="23"/>
                  </a:cubicBezTo>
                  <a:cubicBezTo>
                    <a:pt x="13" y="23"/>
                    <a:pt x="13" y="23"/>
                    <a:pt x="13" y="23"/>
                  </a:cubicBezTo>
                  <a:cubicBezTo>
                    <a:pt x="13" y="24"/>
                    <a:pt x="13" y="24"/>
                    <a:pt x="13" y="24"/>
                  </a:cubicBezTo>
                  <a:cubicBezTo>
                    <a:pt x="12" y="25"/>
                    <a:pt x="11" y="26"/>
                    <a:pt x="10" y="26"/>
                  </a:cubicBezTo>
                  <a:cubicBezTo>
                    <a:pt x="10" y="27"/>
                    <a:pt x="10" y="27"/>
                    <a:pt x="10" y="27"/>
                  </a:cubicBezTo>
                  <a:cubicBezTo>
                    <a:pt x="10" y="27"/>
                    <a:pt x="9" y="27"/>
                    <a:pt x="9" y="27"/>
                  </a:cubicBezTo>
                  <a:cubicBezTo>
                    <a:pt x="9" y="27"/>
                    <a:pt x="9" y="27"/>
                    <a:pt x="9" y="27"/>
                  </a:cubicBezTo>
                  <a:cubicBezTo>
                    <a:pt x="9" y="28"/>
                    <a:pt x="8" y="28"/>
                    <a:pt x="8" y="28"/>
                  </a:cubicBezTo>
                  <a:cubicBezTo>
                    <a:pt x="7" y="28"/>
                    <a:pt x="5" y="27"/>
                    <a:pt x="4" y="26"/>
                  </a:cubicBezTo>
                  <a:cubicBezTo>
                    <a:pt x="4" y="26"/>
                    <a:pt x="3" y="26"/>
                    <a:pt x="3" y="26"/>
                  </a:cubicBezTo>
                  <a:cubicBezTo>
                    <a:pt x="3" y="26"/>
                    <a:pt x="3" y="26"/>
                    <a:pt x="3" y="26"/>
                  </a:cubicBezTo>
                  <a:cubicBezTo>
                    <a:pt x="4" y="29"/>
                    <a:pt x="6" y="31"/>
                    <a:pt x="9" y="33"/>
                  </a:cubicBezTo>
                  <a:cubicBezTo>
                    <a:pt x="9" y="34"/>
                    <a:pt x="9" y="34"/>
                    <a:pt x="9" y="34"/>
                  </a:cubicBezTo>
                  <a:cubicBezTo>
                    <a:pt x="10" y="34"/>
                    <a:pt x="10" y="34"/>
                    <a:pt x="10" y="34"/>
                  </a:cubicBezTo>
                  <a:cubicBezTo>
                    <a:pt x="10" y="34"/>
                    <a:pt x="10" y="34"/>
                    <a:pt x="10" y="34"/>
                  </a:cubicBezTo>
                  <a:cubicBezTo>
                    <a:pt x="12" y="34"/>
                    <a:pt x="15" y="31"/>
                    <a:pt x="16" y="29"/>
                  </a:cubicBezTo>
                  <a:cubicBezTo>
                    <a:pt x="16" y="29"/>
                    <a:pt x="17" y="28"/>
                    <a:pt x="17" y="28"/>
                  </a:cubicBezTo>
                  <a:cubicBezTo>
                    <a:pt x="18" y="28"/>
                    <a:pt x="18" y="28"/>
                    <a:pt x="18" y="28"/>
                  </a:cubicBezTo>
                  <a:cubicBezTo>
                    <a:pt x="19" y="27"/>
                    <a:pt x="19" y="27"/>
                    <a:pt x="19" y="27"/>
                  </a:cubicBezTo>
                  <a:cubicBezTo>
                    <a:pt x="19" y="27"/>
                    <a:pt x="19" y="27"/>
                    <a:pt x="19" y="27"/>
                  </a:cubicBezTo>
                  <a:cubicBezTo>
                    <a:pt x="21" y="27"/>
                    <a:pt x="22" y="27"/>
                    <a:pt x="23" y="28"/>
                  </a:cubicBezTo>
                  <a:cubicBezTo>
                    <a:pt x="24" y="28"/>
                    <a:pt x="25" y="26"/>
                    <a:pt x="25" y="25"/>
                  </a:cubicBezTo>
                  <a:cubicBezTo>
                    <a:pt x="25" y="25"/>
                    <a:pt x="25" y="25"/>
                    <a:pt x="25" y="25"/>
                  </a:cubicBezTo>
                  <a:cubicBezTo>
                    <a:pt x="24" y="24"/>
                    <a:pt x="23" y="23"/>
                    <a:pt x="22" y="23"/>
                  </a:cubicBezTo>
                  <a:cubicBezTo>
                    <a:pt x="22" y="23"/>
                    <a:pt x="22" y="23"/>
                    <a:pt x="22" y="23"/>
                  </a:cubicBezTo>
                  <a:cubicBezTo>
                    <a:pt x="22" y="22"/>
                    <a:pt x="22" y="22"/>
                    <a:pt x="22" y="22"/>
                  </a:cubicBezTo>
                  <a:cubicBezTo>
                    <a:pt x="23" y="21"/>
                    <a:pt x="23" y="21"/>
                    <a:pt x="23" y="21"/>
                  </a:cubicBezTo>
                  <a:cubicBezTo>
                    <a:pt x="23" y="20"/>
                    <a:pt x="23" y="20"/>
                    <a:pt x="23" y="20"/>
                  </a:cubicBezTo>
                  <a:cubicBezTo>
                    <a:pt x="24" y="20"/>
                    <a:pt x="24" y="20"/>
                    <a:pt x="24" y="20"/>
                  </a:cubicBezTo>
                  <a:cubicBezTo>
                    <a:pt x="26" y="21"/>
                    <a:pt x="28" y="22"/>
                    <a:pt x="30" y="22"/>
                  </a:cubicBezTo>
                  <a:cubicBezTo>
                    <a:pt x="32" y="23"/>
                    <a:pt x="32" y="23"/>
                    <a:pt x="32" y="23"/>
                  </a:cubicBezTo>
                  <a:cubicBezTo>
                    <a:pt x="33" y="23"/>
                    <a:pt x="33" y="23"/>
                    <a:pt x="33" y="23"/>
                  </a:cubicBezTo>
                  <a:cubicBezTo>
                    <a:pt x="34" y="24"/>
                    <a:pt x="35" y="25"/>
                    <a:pt x="36" y="25"/>
                  </a:cubicBezTo>
                  <a:cubicBezTo>
                    <a:pt x="36" y="25"/>
                    <a:pt x="37" y="25"/>
                    <a:pt x="37" y="25"/>
                  </a:cubicBezTo>
                  <a:cubicBezTo>
                    <a:pt x="38" y="23"/>
                    <a:pt x="39" y="22"/>
                    <a:pt x="39" y="21"/>
                  </a:cubicBezTo>
                  <a:cubicBezTo>
                    <a:pt x="39" y="21"/>
                    <a:pt x="39" y="21"/>
                    <a:pt x="39" y="21"/>
                  </a:cubicBezTo>
                  <a:cubicBezTo>
                    <a:pt x="39" y="21"/>
                    <a:pt x="40" y="21"/>
                    <a:pt x="40" y="21"/>
                  </a:cubicBezTo>
                  <a:cubicBezTo>
                    <a:pt x="39" y="21"/>
                    <a:pt x="39" y="21"/>
                    <a:pt x="39" y="21"/>
                  </a:cubicBezTo>
                  <a:cubicBezTo>
                    <a:pt x="39" y="20"/>
                    <a:pt x="39" y="20"/>
                    <a:pt x="39" y="20"/>
                  </a:cubicBezTo>
                  <a:cubicBezTo>
                    <a:pt x="39" y="20"/>
                    <a:pt x="40" y="20"/>
                    <a:pt x="40" y="20"/>
                  </a:cubicBezTo>
                  <a:cubicBezTo>
                    <a:pt x="43" y="19"/>
                    <a:pt x="47" y="17"/>
                    <a:pt x="50" y="16"/>
                  </a:cubicBezTo>
                  <a:cubicBezTo>
                    <a:pt x="51" y="15"/>
                    <a:pt x="52" y="15"/>
                    <a:pt x="51" y="14"/>
                  </a:cubicBezTo>
                  <a:cubicBezTo>
                    <a:pt x="51" y="13"/>
                    <a:pt x="51" y="13"/>
                    <a:pt x="51" y="13"/>
                  </a:cubicBezTo>
                  <a:moveTo>
                    <a:pt x="37" y="15"/>
                  </a:moveTo>
                  <a:cubicBezTo>
                    <a:pt x="38" y="14"/>
                    <a:pt x="38" y="14"/>
                    <a:pt x="38" y="14"/>
                  </a:cubicBezTo>
                  <a:cubicBezTo>
                    <a:pt x="39" y="13"/>
                    <a:pt x="39" y="13"/>
                    <a:pt x="39" y="13"/>
                  </a:cubicBezTo>
                  <a:cubicBezTo>
                    <a:pt x="39" y="13"/>
                    <a:pt x="39" y="12"/>
                    <a:pt x="38" y="12"/>
                  </a:cubicBezTo>
                  <a:cubicBezTo>
                    <a:pt x="38" y="12"/>
                    <a:pt x="38" y="12"/>
                    <a:pt x="38" y="12"/>
                  </a:cubicBezTo>
                  <a:cubicBezTo>
                    <a:pt x="38" y="12"/>
                    <a:pt x="38" y="12"/>
                    <a:pt x="38" y="12"/>
                  </a:cubicBezTo>
                  <a:cubicBezTo>
                    <a:pt x="37" y="12"/>
                    <a:pt x="37" y="12"/>
                    <a:pt x="37" y="12"/>
                  </a:cubicBezTo>
                  <a:cubicBezTo>
                    <a:pt x="36" y="11"/>
                    <a:pt x="36" y="11"/>
                    <a:pt x="36" y="11"/>
                  </a:cubicBezTo>
                  <a:cubicBezTo>
                    <a:pt x="36" y="11"/>
                    <a:pt x="36" y="11"/>
                    <a:pt x="36" y="11"/>
                  </a:cubicBezTo>
                  <a:cubicBezTo>
                    <a:pt x="37" y="10"/>
                    <a:pt x="37" y="10"/>
                    <a:pt x="37" y="10"/>
                  </a:cubicBezTo>
                  <a:cubicBezTo>
                    <a:pt x="36" y="10"/>
                    <a:pt x="36" y="10"/>
                    <a:pt x="36" y="10"/>
                  </a:cubicBezTo>
                  <a:cubicBezTo>
                    <a:pt x="37" y="10"/>
                    <a:pt x="37" y="10"/>
                    <a:pt x="37" y="10"/>
                  </a:cubicBezTo>
                  <a:cubicBezTo>
                    <a:pt x="40" y="9"/>
                    <a:pt x="40" y="9"/>
                    <a:pt x="40" y="9"/>
                  </a:cubicBezTo>
                  <a:cubicBezTo>
                    <a:pt x="40" y="9"/>
                    <a:pt x="40" y="9"/>
                    <a:pt x="40" y="9"/>
                  </a:cubicBezTo>
                  <a:cubicBezTo>
                    <a:pt x="41" y="9"/>
                    <a:pt x="41" y="9"/>
                    <a:pt x="41" y="9"/>
                  </a:cubicBezTo>
                  <a:cubicBezTo>
                    <a:pt x="41" y="10"/>
                    <a:pt x="43" y="11"/>
                    <a:pt x="43" y="13"/>
                  </a:cubicBezTo>
                  <a:cubicBezTo>
                    <a:pt x="43" y="14"/>
                    <a:pt x="43" y="14"/>
                    <a:pt x="43" y="14"/>
                  </a:cubicBezTo>
                  <a:cubicBezTo>
                    <a:pt x="42" y="15"/>
                    <a:pt x="40" y="16"/>
                    <a:pt x="38" y="16"/>
                  </a:cubicBezTo>
                  <a:cubicBezTo>
                    <a:pt x="38" y="16"/>
                    <a:pt x="38" y="16"/>
                    <a:pt x="38" y="16"/>
                  </a:cubicBezTo>
                  <a:cubicBezTo>
                    <a:pt x="38" y="15"/>
                    <a:pt x="38" y="15"/>
                    <a:pt x="38" y="15"/>
                  </a:cubicBezTo>
                  <a:cubicBezTo>
                    <a:pt x="37" y="15"/>
                    <a:pt x="37" y="15"/>
                    <a:pt x="37" y="15"/>
                  </a:cubicBez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dirty="0"/>
            </a:p>
          </p:txBody>
        </p:sp>
        <p:sp>
          <p:nvSpPr>
            <p:cNvPr id="45" name="Freeform 138"/>
            <p:cNvSpPr/>
            <p:nvPr userDrawn="1"/>
          </p:nvSpPr>
          <p:spPr bwMode="auto">
            <a:xfrm>
              <a:off x="6194063" y="2940552"/>
              <a:ext cx="75630" cy="143697"/>
            </a:xfrm>
            <a:custGeom>
              <a:avLst/>
              <a:gdLst>
                <a:gd name="T0" fmla="*/ 2 w 8"/>
                <a:gd name="T1" fmla="*/ 15 h 15"/>
                <a:gd name="T2" fmla="*/ 0 w 8"/>
                <a:gd name="T3" fmla="*/ 14 h 15"/>
                <a:gd name="T4" fmla="*/ 2 w 8"/>
                <a:gd name="T5" fmla="*/ 9 h 15"/>
                <a:gd name="T6" fmla="*/ 3 w 8"/>
                <a:gd name="T7" fmla="*/ 8 h 15"/>
                <a:gd name="T8" fmla="*/ 3 w 8"/>
                <a:gd name="T9" fmla="*/ 8 h 15"/>
                <a:gd name="T10" fmla="*/ 3 w 8"/>
                <a:gd name="T11" fmla="*/ 7 h 15"/>
                <a:gd name="T12" fmla="*/ 4 w 8"/>
                <a:gd name="T13" fmla="*/ 5 h 15"/>
                <a:gd name="T14" fmla="*/ 5 w 8"/>
                <a:gd name="T15" fmla="*/ 4 h 15"/>
                <a:gd name="T16" fmla="*/ 7 w 8"/>
                <a:gd name="T17" fmla="*/ 0 h 15"/>
                <a:gd name="T18" fmla="*/ 8 w 8"/>
                <a:gd name="T19" fmla="*/ 1 h 15"/>
                <a:gd name="T20" fmla="*/ 8 w 8"/>
                <a:gd name="T21" fmla="*/ 2 h 15"/>
                <a:gd name="T22" fmla="*/ 8 w 8"/>
                <a:gd name="T23" fmla="*/ 2 h 15"/>
                <a:gd name="T24" fmla="*/ 8 w 8"/>
                <a:gd name="T25" fmla="*/ 3 h 15"/>
                <a:gd name="T26" fmla="*/ 8 w 8"/>
                <a:gd name="T27" fmla="*/ 7 h 15"/>
                <a:gd name="T28" fmla="*/ 8 w 8"/>
                <a:gd name="T29" fmla="*/ 8 h 15"/>
                <a:gd name="T30" fmla="*/ 8 w 8"/>
                <a:gd name="T31" fmla="*/ 9 h 15"/>
                <a:gd name="T32" fmla="*/ 6 w 8"/>
                <a:gd name="T33" fmla="*/ 13 h 15"/>
                <a:gd name="T34" fmla="*/ 5 w 8"/>
                <a:gd name="T35" fmla="*/ 14 h 15"/>
                <a:gd name="T36" fmla="*/ 5 w 8"/>
                <a:gd name="T37" fmla="*/ 14 h 15"/>
                <a:gd name="T38" fmla="*/ 3 w 8"/>
                <a:gd name="T39" fmla="*/ 15 h 15"/>
                <a:gd name="T40" fmla="*/ 2 w 8"/>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 h="15">
                  <a:moveTo>
                    <a:pt x="2" y="15"/>
                  </a:moveTo>
                  <a:cubicBezTo>
                    <a:pt x="2" y="15"/>
                    <a:pt x="1" y="14"/>
                    <a:pt x="0" y="14"/>
                  </a:cubicBezTo>
                  <a:cubicBezTo>
                    <a:pt x="0" y="12"/>
                    <a:pt x="1" y="11"/>
                    <a:pt x="2" y="9"/>
                  </a:cubicBezTo>
                  <a:cubicBezTo>
                    <a:pt x="2" y="9"/>
                    <a:pt x="3" y="8"/>
                    <a:pt x="3" y="8"/>
                  </a:cubicBezTo>
                  <a:cubicBezTo>
                    <a:pt x="3" y="8"/>
                    <a:pt x="3" y="8"/>
                    <a:pt x="3" y="8"/>
                  </a:cubicBezTo>
                  <a:cubicBezTo>
                    <a:pt x="3" y="7"/>
                    <a:pt x="3" y="7"/>
                    <a:pt x="3" y="7"/>
                  </a:cubicBezTo>
                  <a:cubicBezTo>
                    <a:pt x="4" y="7"/>
                    <a:pt x="4" y="6"/>
                    <a:pt x="4" y="5"/>
                  </a:cubicBezTo>
                  <a:cubicBezTo>
                    <a:pt x="4" y="5"/>
                    <a:pt x="4" y="4"/>
                    <a:pt x="5" y="4"/>
                  </a:cubicBezTo>
                  <a:cubicBezTo>
                    <a:pt x="5" y="2"/>
                    <a:pt x="6" y="0"/>
                    <a:pt x="7" y="0"/>
                  </a:cubicBezTo>
                  <a:cubicBezTo>
                    <a:pt x="7" y="0"/>
                    <a:pt x="8" y="0"/>
                    <a:pt x="8" y="1"/>
                  </a:cubicBezTo>
                  <a:cubicBezTo>
                    <a:pt x="8" y="1"/>
                    <a:pt x="8" y="1"/>
                    <a:pt x="8" y="2"/>
                  </a:cubicBezTo>
                  <a:cubicBezTo>
                    <a:pt x="8" y="2"/>
                    <a:pt x="8" y="2"/>
                    <a:pt x="8" y="2"/>
                  </a:cubicBezTo>
                  <a:cubicBezTo>
                    <a:pt x="8" y="3"/>
                    <a:pt x="8" y="3"/>
                    <a:pt x="8" y="3"/>
                  </a:cubicBezTo>
                  <a:cubicBezTo>
                    <a:pt x="8" y="5"/>
                    <a:pt x="8" y="6"/>
                    <a:pt x="8" y="7"/>
                  </a:cubicBezTo>
                  <a:cubicBezTo>
                    <a:pt x="8" y="8"/>
                    <a:pt x="8" y="8"/>
                    <a:pt x="8" y="8"/>
                  </a:cubicBezTo>
                  <a:cubicBezTo>
                    <a:pt x="8" y="8"/>
                    <a:pt x="8" y="9"/>
                    <a:pt x="8" y="9"/>
                  </a:cubicBezTo>
                  <a:cubicBezTo>
                    <a:pt x="7" y="11"/>
                    <a:pt x="7" y="12"/>
                    <a:pt x="6" y="13"/>
                  </a:cubicBezTo>
                  <a:cubicBezTo>
                    <a:pt x="5" y="14"/>
                    <a:pt x="5" y="14"/>
                    <a:pt x="5" y="14"/>
                  </a:cubicBezTo>
                  <a:cubicBezTo>
                    <a:pt x="5" y="14"/>
                    <a:pt x="5" y="14"/>
                    <a:pt x="5" y="14"/>
                  </a:cubicBezTo>
                  <a:cubicBezTo>
                    <a:pt x="4" y="14"/>
                    <a:pt x="3" y="15"/>
                    <a:pt x="3" y="15"/>
                  </a:cubicBezTo>
                  <a:lnTo>
                    <a:pt x="2" y="1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46" name="Freeform 139"/>
            <p:cNvSpPr/>
            <p:nvPr userDrawn="1"/>
          </p:nvSpPr>
          <p:spPr bwMode="auto">
            <a:xfrm>
              <a:off x="6194063" y="2940552"/>
              <a:ext cx="75630" cy="143697"/>
            </a:xfrm>
            <a:custGeom>
              <a:avLst/>
              <a:gdLst>
                <a:gd name="T0" fmla="*/ 2 w 8"/>
                <a:gd name="T1" fmla="*/ 15 h 15"/>
                <a:gd name="T2" fmla="*/ 3 w 8"/>
                <a:gd name="T3" fmla="*/ 15 h 15"/>
                <a:gd name="T4" fmla="*/ 5 w 8"/>
                <a:gd name="T5" fmla="*/ 14 h 15"/>
                <a:gd name="T6" fmla="*/ 5 w 8"/>
                <a:gd name="T7" fmla="*/ 14 h 15"/>
                <a:gd name="T8" fmla="*/ 6 w 8"/>
                <a:gd name="T9" fmla="*/ 13 h 15"/>
                <a:gd name="T10" fmla="*/ 8 w 8"/>
                <a:gd name="T11" fmla="*/ 9 h 15"/>
                <a:gd name="T12" fmla="*/ 8 w 8"/>
                <a:gd name="T13" fmla="*/ 8 h 15"/>
                <a:gd name="T14" fmla="*/ 8 w 8"/>
                <a:gd name="T15" fmla="*/ 7 h 15"/>
                <a:gd name="T16" fmla="*/ 8 w 8"/>
                <a:gd name="T17" fmla="*/ 3 h 15"/>
                <a:gd name="T18" fmla="*/ 8 w 8"/>
                <a:gd name="T19" fmla="*/ 2 h 15"/>
                <a:gd name="T20" fmla="*/ 8 w 8"/>
                <a:gd name="T21" fmla="*/ 2 h 15"/>
                <a:gd name="T22" fmla="*/ 8 w 8"/>
                <a:gd name="T23" fmla="*/ 2 h 15"/>
                <a:gd name="T24" fmla="*/ 8 w 8"/>
                <a:gd name="T25" fmla="*/ 1 h 15"/>
                <a:gd name="T26" fmla="*/ 7 w 8"/>
                <a:gd name="T27" fmla="*/ 0 h 15"/>
                <a:gd name="T28" fmla="*/ 5 w 8"/>
                <a:gd name="T29" fmla="*/ 4 h 15"/>
                <a:gd name="T30" fmla="*/ 4 w 8"/>
                <a:gd name="T31" fmla="*/ 5 h 15"/>
                <a:gd name="T32" fmla="*/ 3 w 8"/>
                <a:gd name="T33" fmla="*/ 7 h 15"/>
                <a:gd name="T34" fmla="*/ 3 w 8"/>
                <a:gd name="T35" fmla="*/ 8 h 15"/>
                <a:gd name="T36" fmla="*/ 3 w 8"/>
                <a:gd name="T37" fmla="*/ 8 h 15"/>
                <a:gd name="T38" fmla="*/ 2 w 8"/>
                <a:gd name="T39" fmla="*/ 9 h 15"/>
                <a:gd name="T40" fmla="*/ 0 w 8"/>
                <a:gd name="T41" fmla="*/ 14 h 15"/>
                <a:gd name="T42" fmla="*/ 2 w 8"/>
                <a:gd name="T43"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 h="15">
                  <a:moveTo>
                    <a:pt x="2" y="15"/>
                  </a:moveTo>
                  <a:cubicBezTo>
                    <a:pt x="3" y="15"/>
                    <a:pt x="3" y="15"/>
                    <a:pt x="3" y="15"/>
                  </a:cubicBezTo>
                  <a:cubicBezTo>
                    <a:pt x="3" y="15"/>
                    <a:pt x="4" y="14"/>
                    <a:pt x="5" y="14"/>
                  </a:cubicBezTo>
                  <a:cubicBezTo>
                    <a:pt x="5" y="14"/>
                    <a:pt x="5" y="14"/>
                    <a:pt x="5" y="14"/>
                  </a:cubicBezTo>
                  <a:cubicBezTo>
                    <a:pt x="6" y="13"/>
                    <a:pt x="6" y="13"/>
                    <a:pt x="6" y="13"/>
                  </a:cubicBezTo>
                  <a:cubicBezTo>
                    <a:pt x="7" y="12"/>
                    <a:pt x="7" y="10"/>
                    <a:pt x="8" y="9"/>
                  </a:cubicBezTo>
                  <a:cubicBezTo>
                    <a:pt x="8" y="9"/>
                    <a:pt x="8" y="8"/>
                    <a:pt x="8" y="8"/>
                  </a:cubicBezTo>
                  <a:cubicBezTo>
                    <a:pt x="8" y="7"/>
                    <a:pt x="8" y="7"/>
                    <a:pt x="8" y="7"/>
                  </a:cubicBezTo>
                  <a:cubicBezTo>
                    <a:pt x="8" y="6"/>
                    <a:pt x="8" y="5"/>
                    <a:pt x="8" y="3"/>
                  </a:cubicBezTo>
                  <a:cubicBezTo>
                    <a:pt x="8" y="3"/>
                    <a:pt x="8" y="3"/>
                    <a:pt x="8" y="2"/>
                  </a:cubicBezTo>
                  <a:cubicBezTo>
                    <a:pt x="8" y="2"/>
                    <a:pt x="8" y="2"/>
                    <a:pt x="8" y="2"/>
                  </a:cubicBezTo>
                  <a:cubicBezTo>
                    <a:pt x="8" y="2"/>
                    <a:pt x="8" y="2"/>
                    <a:pt x="8" y="2"/>
                  </a:cubicBezTo>
                  <a:cubicBezTo>
                    <a:pt x="8" y="1"/>
                    <a:pt x="8" y="1"/>
                    <a:pt x="8" y="1"/>
                  </a:cubicBezTo>
                  <a:cubicBezTo>
                    <a:pt x="8" y="0"/>
                    <a:pt x="7" y="0"/>
                    <a:pt x="7" y="0"/>
                  </a:cubicBezTo>
                  <a:cubicBezTo>
                    <a:pt x="6" y="0"/>
                    <a:pt x="5" y="2"/>
                    <a:pt x="5" y="4"/>
                  </a:cubicBezTo>
                  <a:cubicBezTo>
                    <a:pt x="5" y="4"/>
                    <a:pt x="4" y="5"/>
                    <a:pt x="4" y="5"/>
                  </a:cubicBezTo>
                  <a:cubicBezTo>
                    <a:pt x="4" y="6"/>
                    <a:pt x="4" y="7"/>
                    <a:pt x="3" y="7"/>
                  </a:cubicBezTo>
                  <a:cubicBezTo>
                    <a:pt x="3" y="8"/>
                    <a:pt x="3" y="8"/>
                    <a:pt x="3" y="8"/>
                  </a:cubicBezTo>
                  <a:cubicBezTo>
                    <a:pt x="3" y="8"/>
                    <a:pt x="3" y="8"/>
                    <a:pt x="3" y="8"/>
                  </a:cubicBezTo>
                  <a:cubicBezTo>
                    <a:pt x="3" y="8"/>
                    <a:pt x="2" y="9"/>
                    <a:pt x="2" y="9"/>
                  </a:cubicBezTo>
                  <a:cubicBezTo>
                    <a:pt x="1" y="11"/>
                    <a:pt x="0" y="12"/>
                    <a:pt x="0" y="14"/>
                  </a:cubicBezTo>
                  <a:cubicBezTo>
                    <a:pt x="1" y="14"/>
                    <a:pt x="2" y="15"/>
                    <a:pt x="2" y="1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47" name="Freeform 140"/>
            <p:cNvSpPr/>
            <p:nvPr userDrawn="1"/>
          </p:nvSpPr>
          <p:spPr bwMode="auto">
            <a:xfrm>
              <a:off x="6118433" y="2993493"/>
              <a:ext cx="52941" cy="68067"/>
            </a:xfrm>
            <a:custGeom>
              <a:avLst/>
              <a:gdLst>
                <a:gd name="T0" fmla="*/ 3 w 6"/>
                <a:gd name="T1" fmla="*/ 7 h 7"/>
                <a:gd name="T2" fmla="*/ 1 w 6"/>
                <a:gd name="T3" fmla="*/ 6 h 7"/>
                <a:gd name="T4" fmla="*/ 5 w 6"/>
                <a:gd name="T5" fmla="*/ 0 h 7"/>
                <a:gd name="T6" fmla="*/ 6 w 6"/>
                <a:gd name="T7" fmla="*/ 1 h 7"/>
                <a:gd name="T8" fmla="*/ 5 w 6"/>
                <a:gd name="T9" fmla="*/ 5 h 7"/>
                <a:gd name="T10" fmla="*/ 3 w 6"/>
                <a:gd name="T11" fmla="*/ 7 h 7"/>
              </a:gdLst>
              <a:ahLst/>
              <a:cxnLst>
                <a:cxn ang="0">
                  <a:pos x="T0" y="T1"/>
                </a:cxn>
                <a:cxn ang="0">
                  <a:pos x="T2" y="T3"/>
                </a:cxn>
                <a:cxn ang="0">
                  <a:pos x="T4" y="T5"/>
                </a:cxn>
                <a:cxn ang="0">
                  <a:pos x="T6" y="T7"/>
                </a:cxn>
                <a:cxn ang="0">
                  <a:pos x="T8" y="T9"/>
                </a:cxn>
                <a:cxn ang="0">
                  <a:pos x="T10" y="T11"/>
                </a:cxn>
              </a:cxnLst>
              <a:rect l="0" t="0" r="r" b="b"/>
              <a:pathLst>
                <a:path w="6" h="7">
                  <a:moveTo>
                    <a:pt x="3" y="7"/>
                  </a:moveTo>
                  <a:cubicBezTo>
                    <a:pt x="3" y="7"/>
                    <a:pt x="2" y="6"/>
                    <a:pt x="1" y="6"/>
                  </a:cubicBezTo>
                  <a:cubicBezTo>
                    <a:pt x="0" y="3"/>
                    <a:pt x="4" y="0"/>
                    <a:pt x="5" y="0"/>
                  </a:cubicBezTo>
                  <a:cubicBezTo>
                    <a:pt x="5" y="0"/>
                    <a:pt x="6" y="1"/>
                    <a:pt x="6" y="1"/>
                  </a:cubicBezTo>
                  <a:cubicBezTo>
                    <a:pt x="6" y="2"/>
                    <a:pt x="6" y="4"/>
                    <a:pt x="5" y="5"/>
                  </a:cubicBezTo>
                  <a:cubicBezTo>
                    <a:pt x="4" y="6"/>
                    <a:pt x="3" y="7"/>
                    <a:pt x="3" y="7"/>
                  </a:cubicBez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48" name="Freeform 141"/>
            <p:cNvSpPr/>
            <p:nvPr userDrawn="1"/>
          </p:nvSpPr>
          <p:spPr bwMode="auto">
            <a:xfrm>
              <a:off x="6118433" y="2993493"/>
              <a:ext cx="52941" cy="68067"/>
            </a:xfrm>
            <a:custGeom>
              <a:avLst/>
              <a:gdLst>
                <a:gd name="T0" fmla="*/ 3 w 6"/>
                <a:gd name="T1" fmla="*/ 7 h 7"/>
                <a:gd name="T2" fmla="*/ 3 w 6"/>
                <a:gd name="T3" fmla="*/ 7 h 7"/>
                <a:gd name="T4" fmla="*/ 5 w 6"/>
                <a:gd name="T5" fmla="*/ 5 h 7"/>
                <a:gd name="T6" fmla="*/ 6 w 6"/>
                <a:gd name="T7" fmla="*/ 1 h 7"/>
                <a:gd name="T8" fmla="*/ 5 w 6"/>
                <a:gd name="T9" fmla="*/ 0 h 7"/>
                <a:gd name="T10" fmla="*/ 1 w 6"/>
                <a:gd name="T11" fmla="*/ 6 h 7"/>
                <a:gd name="T12" fmla="*/ 3 w 6"/>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6" h="7">
                  <a:moveTo>
                    <a:pt x="3" y="7"/>
                  </a:moveTo>
                  <a:cubicBezTo>
                    <a:pt x="3" y="7"/>
                    <a:pt x="3" y="7"/>
                    <a:pt x="3" y="7"/>
                  </a:cubicBezTo>
                  <a:cubicBezTo>
                    <a:pt x="3" y="7"/>
                    <a:pt x="4" y="6"/>
                    <a:pt x="5" y="5"/>
                  </a:cubicBezTo>
                  <a:cubicBezTo>
                    <a:pt x="6" y="4"/>
                    <a:pt x="6" y="2"/>
                    <a:pt x="6" y="1"/>
                  </a:cubicBezTo>
                  <a:cubicBezTo>
                    <a:pt x="6" y="1"/>
                    <a:pt x="5" y="0"/>
                    <a:pt x="5" y="0"/>
                  </a:cubicBezTo>
                  <a:cubicBezTo>
                    <a:pt x="4" y="0"/>
                    <a:pt x="0" y="3"/>
                    <a:pt x="1" y="6"/>
                  </a:cubicBezTo>
                  <a:cubicBezTo>
                    <a:pt x="2" y="6"/>
                    <a:pt x="3" y="7"/>
                    <a:pt x="3" y="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grpSp>
      <p:sp>
        <p:nvSpPr>
          <p:cNvPr id="50" name="文本占位符 49"/>
          <p:cNvSpPr>
            <a:spLocks noGrp="1"/>
          </p:cNvSpPr>
          <p:nvPr>
            <p:ph type="body" sz="quarter" idx="11"/>
          </p:nvPr>
        </p:nvSpPr>
        <p:spPr>
          <a:xfrm>
            <a:off x="1514475" y="2442615"/>
            <a:ext cx="8734844" cy="827736"/>
          </a:xfrm>
        </p:spPr>
        <p:txBody>
          <a:bodyPr/>
          <a:lstStyle/>
          <a:p>
            <a:r>
              <a:rPr lang="zh-CN" altLang="en-US" sz="6000" dirty="0">
                <a:latin typeface="Times New Roman" panose="02020603050405020304" pitchFamily="18" charset="0"/>
                <a:cs typeface="Times New Roman" panose="02020603050405020304" pitchFamily="18" charset="0"/>
              </a:rPr>
              <a:t>敏捷开发</a:t>
            </a:r>
          </a:p>
        </p:txBody>
      </p:sp>
      <p:sp>
        <p:nvSpPr>
          <p:cNvPr id="4" name="文本占位符 3"/>
          <p:cNvSpPr>
            <a:spLocks noGrp="1"/>
          </p:cNvSpPr>
          <p:nvPr>
            <p:ph type="body" sz="quarter" idx="15"/>
          </p:nvPr>
        </p:nvSpPr>
        <p:spPr/>
        <p:txBody>
          <a:bodyPr/>
          <a:lstStyle/>
          <a:p>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10" y="5"/>
            <a:ext cx="12191980" cy="6857990"/>
          </a:xfrm>
          <a:prstGeom prst="rect">
            <a:avLst/>
          </a:prstGeom>
          <a:blipFill dpi="0" rotWithShape="1">
            <a:blip r:embed="rId3">
              <a:alphaModFix amt="10000"/>
              <a:duotone>
                <a:schemeClr val="bg2">
                  <a:shade val="45000"/>
                  <a:satMod val="135000"/>
                </a:schemeClr>
                <a:prstClr val="white"/>
              </a:duotone>
            </a:blip>
            <a:srcRect/>
            <a:tile tx="0" ty="0" sx="60000" sy="6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00"/>
              </a:spcAft>
            </a:pPr>
            <a:endParaRPr lang="zh-CN" altLang="en-US"/>
          </a:p>
        </p:txBody>
      </p:sp>
      <p:grpSp>
        <p:nvGrpSpPr>
          <p:cNvPr id="3" name="组合 2"/>
          <p:cNvGrpSpPr/>
          <p:nvPr/>
        </p:nvGrpSpPr>
        <p:grpSpPr>
          <a:xfrm>
            <a:off x="793780" y="2608487"/>
            <a:ext cx="2974123" cy="3387729"/>
            <a:chOff x="870884" y="1648624"/>
            <a:chExt cx="2974123" cy="3387729"/>
          </a:xfrm>
        </p:grpSpPr>
        <p:sp>
          <p:nvSpPr>
            <p:cNvPr id="11" name="椭圆 10"/>
            <p:cNvSpPr/>
            <p:nvPr/>
          </p:nvSpPr>
          <p:spPr>
            <a:xfrm>
              <a:off x="870884" y="2062230"/>
              <a:ext cx="2974123" cy="297412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pic>
          <p:nvPicPr>
            <p:cNvPr id="10" name="图片 9"/>
            <p:cNvPicPr>
              <a:picLocks noChangeAspect="1"/>
            </p:cNvPicPr>
            <p:nvPr/>
          </p:nvPicPr>
          <p:blipFill rotWithShape="1">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r="32998"/>
            <a:stretch>
              <a:fillRect/>
            </a:stretch>
          </p:blipFill>
          <p:spPr>
            <a:xfrm>
              <a:off x="1220247" y="1857063"/>
              <a:ext cx="1957015" cy="3160925"/>
            </a:xfrm>
            <a:prstGeom prst="rect">
              <a:avLst/>
            </a:prstGeom>
          </p:spPr>
        </p:pic>
        <p:sp>
          <p:nvSpPr>
            <p:cNvPr id="5" name="文本框 4"/>
            <p:cNvSpPr txBox="1"/>
            <p:nvPr/>
          </p:nvSpPr>
          <p:spPr>
            <a:xfrm>
              <a:off x="2749140" y="1648624"/>
              <a:ext cx="258532" cy="1586951"/>
            </a:xfrm>
            <a:prstGeom prst="rect">
              <a:avLst/>
            </a:prstGeom>
            <a:noFill/>
          </p:spPr>
          <p:txBody>
            <a:bodyPr vert="eaVert" wrap="square" lIns="0" tIns="0" rIns="0" bIns="0" rtlCol="0" anchor="ctr">
              <a:spAutoFit/>
            </a:bodyPr>
            <a:lstStyle/>
            <a:p>
              <a:pPr marL="0" marR="0" lvl="0" indent="0" algn="dist" defTabSz="914400" rtl="0" eaLnBrk="1" fontAlgn="auto" latinLnBrk="0" hangingPunct="1">
                <a:lnSpc>
                  <a:spcPct val="120000"/>
                </a:lnSpc>
                <a:spcBef>
                  <a:spcPts val="0"/>
                </a:spcBef>
                <a:spcAft>
                  <a:spcPts val="100"/>
                </a:spcAft>
                <a:buClrTx/>
                <a:buSzTx/>
                <a:buFontTx/>
                <a:buNone/>
                <a:defRPr/>
              </a:pPr>
              <a:r>
                <a:rPr kumimoji="0" lang="en-US" altLang="zh-CN" sz="1400" b="1" i="0" u="none" strike="noStrike" kern="1200" cap="none" spc="0" normalizeH="0" baseline="0" noProof="0" dirty="0">
                  <a:ln>
                    <a:noFill/>
                  </a:ln>
                  <a:solidFill>
                    <a:srgbClr val="003F88"/>
                  </a:solidFill>
                  <a:effectLst/>
                  <a:uLnTx/>
                  <a:uFillTx/>
                  <a:latin typeface="Arial" panose="020B0604020202020204"/>
                  <a:ea typeface="微软雅黑" panose="020B0503020204020204" charset="-122"/>
                  <a:cs typeface="+mn-cs"/>
                </a:rPr>
                <a:t>CON</a:t>
              </a:r>
              <a:r>
                <a:rPr kumimoji="0" lang="en-US" altLang="zh-CN" sz="14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rPr>
                <a:t>TENTS</a:t>
              </a:r>
              <a:endParaRPr kumimoji="0" lang="zh-CN" altLang="en-US" sz="14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endParaRPr>
            </a:p>
          </p:txBody>
        </p:sp>
        <p:sp>
          <p:nvSpPr>
            <p:cNvPr id="6" name="文本框 5"/>
            <p:cNvSpPr txBox="1"/>
            <p:nvPr/>
          </p:nvSpPr>
          <p:spPr>
            <a:xfrm>
              <a:off x="2958610" y="1648624"/>
              <a:ext cx="886397" cy="1586951"/>
            </a:xfrm>
            <a:prstGeom prst="rect">
              <a:avLst/>
            </a:prstGeom>
            <a:noFill/>
          </p:spPr>
          <p:txBody>
            <a:bodyPr vert="eaVert" wrap="square" lIns="0" tIns="0" rIns="0" bIns="0" rtlCol="0" anchor="ctr">
              <a:spAutoFit/>
            </a:bodyPr>
            <a:lstStyle/>
            <a:p>
              <a:pPr marL="0" marR="0" lvl="0" indent="0" algn="dist" defTabSz="914400" rtl="0" eaLnBrk="1" fontAlgn="auto" latinLnBrk="0" hangingPunct="1">
                <a:lnSpc>
                  <a:spcPct val="120000"/>
                </a:lnSpc>
                <a:spcBef>
                  <a:spcPts val="0"/>
                </a:spcBef>
                <a:spcAft>
                  <a:spcPts val="100"/>
                </a:spcAft>
                <a:buClrTx/>
                <a:buSzTx/>
                <a:buFontTx/>
                <a:buNone/>
                <a:defRPr/>
              </a:pPr>
              <a:r>
                <a:rPr kumimoji="0" lang="zh-CN" altLang="en-US" sz="4800" b="1" i="0" u="none" strike="noStrike" kern="1200" cap="none" spc="0" normalizeH="0" baseline="0" noProof="0" dirty="0">
                  <a:ln>
                    <a:noFill/>
                  </a:ln>
                  <a:solidFill>
                    <a:srgbClr val="3F3F3F"/>
                  </a:solidFill>
                  <a:effectLst/>
                  <a:uLnTx/>
                  <a:uFillTx/>
                  <a:latin typeface="方正粗雅宋简体" panose="02000000000000000000" pitchFamily="2" charset="-122"/>
                  <a:ea typeface="方正粗雅宋简体" panose="02000000000000000000" pitchFamily="2" charset="-122"/>
                  <a:cs typeface="+mn-cs"/>
                </a:rPr>
                <a:t>目</a:t>
              </a:r>
              <a:r>
                <a:rPr kumimoji="0" lang="zh-CN" altLang="en-US" sz="4800" b="1" i="0" u="none" strike="noStrike" kern="1200" cap="none" spc="0" normalizeH="0" baseline="0" noProof="0" dirty="0">
                  <a:ln>
                    <a:noFill/>
                  </a:ln>
                  <a:solidFill>
                    <a:srgbClr val="FFFFFF"/>
                  </a:solidFill>
                  <a:effectLst/>
                  <a:uLnTx/>
                  <a:uFillTx/>
                  <a:latin typeface="方正粗雅宋简体" panose="02000000000000000000" pitchFamily="2" charset="-122"/>
                  <a:ea typeface="方正粗雅宋简体" panose="02000000000000000000" pitchFamily="2" charset="-122"/>
                  <a:cs typeface="+mn-cs"/>
                </a:rPr>
                <a:t>录</a:t>
              </a:r>
            </a:p>
          </p:txBody>
        </p:sp>
      </p:grpSp>
      <p:pic>
        <p:nvPicPr>
          <p:cNvPr id="54" name="图片 53"/>
          <p:cNvPicPr>
            <a:picLocks noChangeAspect="1"/>
          </p:cNvPicPr>
          <p:nvPr/>
        </p:nvPicPr>
        <p:blipFill rotWithShape="1">
          <a:blip r:embed="rId4">
            <a:alphaModFix amt="50000"/>
            <a:duotone>
              <a:prstClr val="black"/>
              <a:schemeClr val="accent4">
                <a:tint val="45000"/>
                <a:satMod val="400000"/>
              </a:schemeClr>
            </a:duotone>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r="32998"/>
          <a:stretch>
            <a:fillRect/>
          </a:stretch>
        </p:blipFill>
        <p:spPr>
          <a:xfrm>
            <a:off x="5586820" y="-1357083"/>
            <a:ext cx="5553465" cy="8969827"/>
          </a:xfrm>
          <a:prstGeom prst="rect">
            <a:avLst/>
          </a:prstGeom>
        </p:spPr>
      </p:pic>
      <p:grpSp>
        <p:nvGrpSpPr>
          <p:cNvPr id="4" name="组合 3">
            <a:extLst>
              <a:ext uri="{FF2B5EF4-FFF2-40B4-BE49-F238E27FC236}">
                <a16:creationId xmlns:a16="http://schemas.microsoft.com/office/drawing/2014/main" id="{2FABB331-6E84-E723-ABDF-0CBDEE801949}"/>
              </a:ext>
            </a:extLst>
          </p:cNvPr>
          <p:cNvGrpSpPr/>
          <p:nvPr/>
        </p:nvGrpSpPr>
        <p:grpSpPr>
          <a:xfrm>
            <a:off x="6096000" y="1687438"/>
            <a:ext cx="5810119" cy="3458306"/>
            <a:chOff x="6096000" y="1687438"/>
            <a:chExt cx="5810119" cy="3458306"/>
          </a:xfrm>
        </p:grpSpPr>
        <p:sp>
          <p:nvSpPr>
            <p:cNvPr id="56" name="文本框 55"/>
            <p:cNvSpPr txBox="1"/>
            <p:nvPr/>
          </p:nvSpPr>
          <p:spPr>
            <a:xfrm>
              <a:off x="6096000" y="3056591"/>
              <a:ext cx="5210523" cy="720000"/>
            </a:xfrm>
            <a:prstGeom prst="rect">
              <a:avLst/>
            </a:prstGeom>
            <a:noFill/>
          </p:spPr>
          <p:txBody>
            <a:bodyPr wrap="square" lIns="0" tIns="0" rIns="0" bIns="0" rtlCol="0" anchor="ctr">
              <a:noAutofit/>
            </a:bodyPr>
            <a:lstStyle/>
            <a:p>
              <a:pPr>
                <a:lnSpc>
                  <a:spcPct val="120000"/>
                </a:lnSpc>
                <a:defRPr/>
              </a:pPr>
              <a:r>
                <a:rPr kumimoji="0" lang="en-US" altLang="zh-CN" sz="3600" b="1" i="0" u="none" strike="noStrike" kern="1200" cap="none" spc="0" normalizeH="0" baseline="0" noProof="0" dirty="0">
                  <a:ln>
                    <a:noFill/>
                  </a:ln>
                  <a:solidFill>
                    <a:srgbClr val="3F3F3F"/>
                  </a:solidFill>
                  <a:effectLst/>
                  <a:uLnTx/>
                  <a:uFillTx/>
                  <a:latin typeface="Arial" panose="020B0604020202020204"/>
                  <a:ea typeface="微软雅黑" panose="020B0503020204020204" charset="-122"/>
                  <a:cs typeface="+mn-cs"/>
                </a:rPr>
                <a:t>02 </a:t>
              </a:r>
              <a:r>
                <a:rPr kumimoji="0" lang="zh-CN" altLang="en-US" sz="3600" b="1" i="0" u="none" strike="noStrike" kern="1200" cap="none" spc="0" normalizeH="0" baseline="0" noProof="0" dirty="0">
                  <a:ln>
                    <a:noFill/>
                  </a:ln>
                  <a:solidFill>
                    <a:srgbClr val="3F3F3F"/>
                  </a:solidFill>
                  <a:effectLst/>
                  <a:uLnTx/>
                  <a:uFillTx/>
                  <a:latin typeface="Arial" panose="020B0604020202020204"/>
                  <a:ea typeface="微软雅黑" panose="020B0503020204020204" charset="-122"/>
                  <a:cs typeface="+mn-cs"/>
                </a:rPr>
                <a:t>敏捷开发流程</a:t>
              </a:r>
              <a:endParaRPr lang="zh-CN" altLang="en-US" sz="3600" b="1" dirty="0">
                <a:solidFill>
                  <a:srgbClr val="3F3F3F"/>
                </a:solidFill>
                <a:latin typeface="Arial" panose="020B0604020202020204"/>
                <a:ea typeface="微软雅黑" panose="020B0503020204020204" charset="-122"/>
              </a:endParaRPr>
            </a:p>
          </p:txBody>
        </p:sp>
        <p:sp>
          <p:nvSpPr>
            <p:cNvPr id="60" name="文本框 59"/>
            <p:cNvSpPr txBox="1"/>
            <p:nvPr/>
          </p:nvSpPr>
          <p:spPr>
            <a:xfrm>
              <a:off x="6096000" y="1687438"/>
              <a:ext cx="5210523" cy="720000"/>
            </a:xfrm>
            <a:prstGeom prst="rect">
              <a:avLst/>
            </a:prstGeom>
            <a:noFill/>
          </p:spPr>
          <p:txBody>
            <a:bodyPr wrap="square" lIns="0" tIns="0" rIns="0" bIns="0" rtlCol="0" anchor="ctr">
              <a:noAutofit/>
            </a:bodyPr>
            <a:lstStyle/>
            <a:p>
              <a:pPr marL="0" marR="0" lvl="0" indent="0" defTabSz="914400" rtl="0" eaLnBrk="1" fontAlgn="auto" latinLnBrk="0" hangingPunct="1">
                <a:lnSpc>
                  <a:spcPct val="12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3F3F3F"/>
                  </a:solidFill>
                  <a:effectLst/>
                  <a:uLnTx/>
                  <a:uFillTx/>
                  <a:latin typeface="Arial" panose="020B0604020202020204"/>
                  <a:ea typeface="微软雅黑" panose="020B0503020204020204" charset="-122"/>
                  <a:cs typeface="+mn-cs"/>
                </a:rPr>
                <a:t>01 </a:t>
              </a:r>
              <a:r>
                <a:rPr lang="zh-CN" altLang="en-US" sz="3600" b="1" dirty="0">
                  <a:solidFill>
                    <a:srgbClr val="3F3F3F"/>
                  </a:solidFill>
                  <a:latin typeface="Arial" panose="020B0604020202020204"/>
                  <a:ea typeface="微软雅黑" panose="020B0503020204020204" charset="-122"/>
                </a:rPr>
                <a:t>敏捷开发内涵</a:t>
              </a:r>
              <a:endParaRPr lang="en-US" altLang="zh-CN" sz="3600" b="1" dirty="0">
                <a:solidFill>
                  <a:srgbClr val="3F3F3F"/>
                </a:solidFill>
                <a:latin typeface="Arial" panose="020B0604020202020204"/>
                <a:ea typeface="微软雅黑" panose="020B0503020204020204" charset="-122"/>
              </a:endParaRPr>
            </a:p>
          </p:txBody>
        </p:sp>
        <p:sp>
          <p:nvSpPr>
            <p:cNvPr id="2" name="文本框 1">
              <a:extLst>
                <a:ext uri="{FF2B5EF4-FFF2-40B4-BE49-F238E27FC236}">
                  <a16:creationId xmlns:a16="http://schemas.microsoft.com/office/drawing/2014/main" id="{2943B2D3-1F2A-5478-3365-C92D47483386}"/>
                </a:ext>
              </a:extLst>
            </p:cNvPr>
            <p:cNvSpPr txBox="1"/>
            <p:nvPr/>
          </p:nvSpPr>
          <p:spPr>
            <a:xfrm>
              <a:off x="6096000" y="4425744"/>
              <a:ext cx="5810119" cy="720000"/>
            </a:xfrm>
            <a:prstGeom prst="rect">
              <a:avLst/>
            </a:prstGeom>
            <a:noFill/>
          </p:spPr>
          <p:txBody>
            <a:bodyPr wrap="square" lIns="0" tIns="0" rIns="0" bIns="0" rtlCol="0" anchor="ctr">
              <a:noAutofit/>
            </a:bodyPr>
            <a:lstStyle/>
            <a:p>
              <a:pPr>
                <a:lnSpc>
                  <a:spcPct val="120000"/>
                </a:lnSpc>
                <a:defRPr/>
              </a:pPr>
              <a:r>
                <a:rPr kumimoji="0" lang="en-US" altLang="zh-CN" sz="3600" b="1" i="0" u="none" strike="noStrike" kern="1200" cap="none" spc="0" normalizeH="0" baseline="0" noProof="0" dirty="0">
                  <a:ln>
                    <a:noFill/>
                  </a:ln>
                  <a:solidFill>
                    <a:srgbClr val="3F3F3F"/>
                  </a:solidFill>
                  <a:effectLst/>
                  <a:uLnTx/>
                  <a:uFillTx/>
                  <a:latin typeface="Arial" panose="020B0604020202020204"/>
                  <a:ea typeface="微软雅黑" panose="020B0503020204020204" charset="-122"/>
                  <a:cs typeface="+mn-cs"/>
                </a:rPr>
                <a:t>03 </a:t>
              </a:r>
              <a:r>
                <a:rPr kumimoji="0" lang="zh-CN" altLang="en-US" sz="3600" b="1" i="0" u="none" strike="noStrike" kern="1200" cap="none" spc="0" normalizeH="0" baseline="0" noProof="0" dirty="0">
                  <a:ln>
                    <a:noFill/>
                  </a:ln>
                  <a:solidFill>
                    <a:srgbClr val="3F3F3F"/>
                  </a:solidFill>
                  <a:effectLst/>
                  <a:uLnTx/>
                  <a:uFillTx/>
                  <a:latin typeface="Arial" panose="020B0604020202020204"/>
                  <a:ea typeface="微软雅黑" panose="020B0503020204020204" charset="-122"/>
                  <a:cs typeface="+mn-cs"/>
                </a:rPr>
                <a:t>敏捷开发方法</a:t>
              </a:r>
              <a:r>
                <a:rPr kumimoji="0" lang="en-US" altLang="zh-CN" sz="3600" b="1" i="0" u="none" strike="noStrike" kern="1200" cap="none" spc="0" normalizeH="0" baseline="0" noProof="0" dirty="0">
                  <a:ln>
                    <a:noFill/>
                  </a:ln>
                  <a:solidFill>
                    <a:srgbClr val="3F3F3F"/>
                  </a:solidFill>
                  <a:effectLst/>
                  <a:uLnTx/>
                  <a:uFillTx/>
                  <a:latin typeface="Arial" panose="020B0604020202020204"/>
                  <a:ea typeface="微软雅黑" panose="020B0503020204020204" charset="-122"/>
                  <a:cs typeface="+mn-cs"/>
                </a:rPr>
                <a:t>—Scrum</a:t>
              </a:r>
              <a:endParaRPr lang="zh-CN" altLang="en-US" sz="3600" b="1" dirty="0">
                <a:solidFill>
                  <a:srgbClr val="3F3F3F"/>
                </a:solidFill>
                <a:latin typeface="Arial" panose="020B0604020202020204"/>
                <a:ea typeface="微软雅黑" panose="020B0503020204020204" charset="-122"/>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10" y="5"/>
            <a:ext cx="12191980" cy="6857990"/>
          </a:xfrm>
          <a:prstGeom prst="rect">
            <a:avLst/>
          </a:prstGeom>
          <a:blipFill dpi="0" rotWithShape="1">
            <a:blip r:embed="rId3">
              <a:alphaModFix amt="10000"/>
              <a:duotone>
                <a:schemeClr val="bg2">
                  <a:shade val="45000"/>
                  <a:satMod val="135000"/>
                </a:schemeClr>
                <a:prstClr val="white"/>
              </a:duotone>
            </a:blip>
            <a:srcRect/>
            <a:tile tx="0" ty="0" sx="60000" sy="6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00"/>
              </a:spcAft>
            </a:pPr>
            <a:endParaRPr lang="zh-CN" altLang="en-US"/>
          </a:p>
        </p:txBody>
      </p:sp>
      <p:grpSp>
        <p:nvGrpSpPr>
          <p:cNvPr id="3" name="组合 2"/>
          <p:cNvGrpSpPr/>
          <p:nvPr/>
        </p:nvGrpSpPr>
        <p:grpSpPr>
          <a:xfrm>
            <a:off x="793780" y="2608487"/>
            <a:ext cx="2974123" cy="3387729"/>
            <a:chOff x="870884" y="1648624"/>
            <a:chExt cx="2974123" cy="3387729"/>
          </a:xfrm>
        </p:grpSpPr>
        <p:sp>
          <p:nvSpPr>
            <p:cNvPr id="11" name="椭圆 10"/>
            <p:cNvSpPr/>
            <p:nvPr/>
          </p:nvSpPr>
          <p:spPr>
            <a:xfrm>
              <a:off x="870884" y="2062230"/>
              <a:ext cx="2974123" cy="297412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pic>
          <p:nvPicPr>
            <p:cNvPr id="10" name="图片 9"/>
            <p:cNvPicPr>
              <a:picLocks noChangeAspect="1"/>
            </p:cNvPicPr>
            <p:nvPr/>
          </p:nvPicPr>
          <p:blipFill rotWithShape="1">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r="32998"/>
            <a:stretch>
              <a:fillRect/>
            </a:stretch>
          </p:blipFill>
          <p:spPr>
            <a:xfrm>
              <a:off x="1220247" y="1857063"/>
              <a:ext cx="1957015" cy="3160925"/>
            </a:xfrm>
            <a:prstGeom prst="rect">
              <a:avLst/>
            </a:prstGeom>
          </p:spPr>
        </p:pic>
        <p:sp>
          <p:nvSpPr>
            <p:cNvPr id="5" name="文本框 4"/>
            <p:cNvSpPr txBox="1"/>
            <p:nvPr/>
          </p:nvSpPr>
          <p:spPr>
            <a:xfrm>
              <a:off x="2749140" y="1648624"/>
              <a:ext cx="258532" cy="1586951"/>
            </a:xfrm>
            <a:prstGeom prst="rect">
              <a:avLst/>
            </a:prstGeom>
            <a:noFill/>
          </p:spPr>
          <p:txBody>
            <a:bodyPr vert="eaVert" wrap="square" lIns="0" tIns="0" rIns="0" bIns="0" rtlCol="0" anchor="ctr">
              <a:spAutoFit/>
            </a:bodyPr>
            <a:lstStyle/>
            <a:p>
              <a:pPr marL="0" marR="0" lvl="0" indent="0" algn="dist" defTabSz="914400" rtl="0" eaLnBrk="1" fontAlgn="auto" latinLnBrk="0" hangingPunct="1">
                <a:lnSpc>
                  <a:spcPct val="120000"/>
                </a:lnSpc>
                <a:spcBef>
                  <a:spcPts val="0"/>
                </a:spcBef>
                <a:spcAft>
                  <a:spcPts val="100"/>
                </a:spcAft>
                <a:buClrTx/>
                <a:buSzTx/>
                <a:buFontTx/>
                <a:buNone/>
                <a:defRPr/>
              </a:pPr>
              <a:r>
                <a:rPr kumimoji="0" lang="en-US" altLang="zh-CN" sz="1400" b="1" i="0" u="none" strike="noStrike" kern="1200" cap="none" spc="0" normalizeH="0" baseline="0" noProof="0" dirty="0">
                  <a:ln>
                    <a:noFill/>
                  </a:ln>
                  <a:solidFill>
                    <a:srgbClr val="003F88"/>
                  </a:solidFill>
                  <a:effectLst/>
                  <a:uLnTx/>
                  <a:uFillTx/>
                  <a:latin typeface="Arial" panose="020B0604020202020204"/>
                  <a:ea typeface="微软雅黑" panose="020B0503020204020204" charset="-122"/>
                  <a:cs typeface="+mn-cs"/>
                </a:rPr>
                <a:t>CON</a:t>
              </a:r>
              <a:r>
                <a:rPr kumimoji="0" lang="en-US" altLang="zh-CN" sz="14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rPr>
                <a:t>TENTS</a:t>
              </a:r>
              <a:endParaRPr kumimoji="0" lang="zh-CN" altLang="en-US" sz="14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endParaRPr>
            </a:p>
          </p:txBody>
        </p:sp>
        <p:sp>
          <p:nvSpPr>
            <p:cNvPr id="6" name="文本框 5"/>
            <p:cNvSpPr txBox="1"/>
            <p:nvPr/>
          </p:nvSpPr>
          <p:spPr>
            <a:xfrm>
              <a:off x="2958610" y="1648624"/>
              <a:ext cx="886397" cy="1586951"/>
            </a:xfrm>
            <a:prstGeom prst="rect">
              <a:avLst/>
            </a:prstGeom>
            <a:noFill/>
          </p:spPr>
          <p:txBody>
            <a:bodyPr vert="eaVert" wrap="square" lIns="0" tIns="0" rIns="0" bIns="0" rtlCol="0" anchor="ctr">
              <a:spAutoFit/>
            </a:bodyPr>
            <a:lstStyle/>
            <a:p>
              <a:pPr marL="0" marR="0" lvl="0" indent="0" algn="dist" defTabSz="914400" rtl="0" eaLnBrk="1" fontAlgn="auto" latinLnBrk="0" hangingPunct="1">
                <a:lnSpc>
                  <a:spcPct val="120000"/>
                </a:lnSpc>
                <a:spcBef>
                  <a:spcPts val="0"/>
                </a:spcBef>
                <a:spcAft>
                  <a:spcPts val="100"/>
                </a:spcAft>
                <a:buClrTx/>
                <a:buSzTx/>
                <a:buFontTx/>
                <a:buNone/>
                <a:defRPr/>
              </a:pPr>
              <a:r>
                <a:rPr kumimoji="0" lang="zh-CN" altLang="en-US" sz="4800" b="1" i="0" u="none" strike="noStrike" kern="1200" cap="none" spc="0" normalizeH="0" baseline="0" noProof="0" dirty="0">
                  <a:ln>
                    <a:noFill/>
                  </a:ln>
                  <a:solidFill>
                    <a:srgbClr val="3F3F3F"/>
                  </a:solidFill>
                  <a:effectLst/>
                  <a:uLnTx/>
                  <a:uFillTx/>
                  <a:latin typeface="方正粗雅宋简体" panose="02000000000000000000" pitchFamily="2" charset="-122"/>
                  <a:ea typeface="方正粗雅宋简体" panose="02000000000000000000" pitchFamily="2" charset="-122"/>
                  <a:cs typeface="+mn-cs"/>
                </a:rPr>
                <a:t>目</a:t>
              </a:r>
              <a:r>
                <a:rPr kumimoji="0" lang="zh-CN" altLang="en-US" sz="4800" b="1" i="0" u="none" strike="noStrike" kern="1200" cap="none" spc="0" normalizeH="0" baseline="0" noProof="0" dirty="0">
                  <a:ln>
                    <a:noFill/>
                  </a:ln>
                  <a:solidFill>
                    <a:srgbClr val="FFFFFF"/>
                  </a:solidFill>
                  <a:effectLst/>
                  <a:uLnTx/>
                  <a:uFillTx/>
                  <a:latin typeface="方正粗雅宋简体" panose="02000000000000000000" pitchFamily="2" charset="-122"/>
                  <a:ea typeface="方正粗雅宋简体" panose="02000000000000000000" pitchFamily="2" charset="-122"/>
                  <a:cs typeface="+mn-cs"/>
                </a:rPr>
                <a:t>录</a:t>
              </a:r>
            </a:p>
          </p:txBody>
        </p:sp>
      </p:grpSp>
      <p:pic>
        <p:nvPicPr>
          <p:cNvPr id="54" name="图片 53"/>
          <p:cNvPicPr>
            <a:picLocks noChangeAspect="1"/>
          </p:cNvPicPr>
          <p:nvPr/>
        </p:nvPicPr>
        <p:blipFill rotWithShape="1">
          <a:blip r:embed="rId4">
            <a:alphaModFix amt="50000"/>
            <a:duotone>
              <a:prstClr val="black"/>
              <a:schemeClr val="accent4">
                <a:tint val="45000"/>
                <a:satMod val="400000"/>
              </a:schemeClr>
            </a:duotone>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r="32998"/>
          <a:stretch>
            <a:fillRect/>
          </a:stretch>
        </p:blipFill>
        <p:spPr>
          <a:xfrm>
            <a:off x="5586820" y="-1357083"/>
            <a:ext cx="5553465" cy="8969827"/>
          </a:xfrm>
          <a:prstGeom prst="rect">
            <a:avLst/>
          </a:prstGeom>
        </p:spPr>
      </p:pic>
      <p:grpSp>
        <p:nvGrpSpPr>
          <p:cNvPr id="2" name="组合 1">
            <a:extLst>
              <a:ext uri="{FF2B5EF4-FFF2-40B4-BE49-F238E27FC236}">
                <a16:creationId xmlns:a16="http://schemas.microsoft.com/office/drawing/2014/main" id="{0BA39782-877D-C2FC-2963-EF3AA6DE80BC}"/>
              </a:ext>
            </a:extLst>
          </p:cNvPr>
          <p:cNvGrpSpPr/>
          <p:nvPr/>
        </p:nvGrpSpPr>
        <p:grpSpPr>
          <a:xfrm>
            <a:off x="6096000" y="1687438"/>
            <a:ext cx="5810119" cy="3458306"/>
            <a:chOff x="6096000" y="1687438"/>
            <a:chExt cx="5810119" cy="3458306"/>
          </a:xfrm>
        </p:grpSpPr>
        <p:sp>
          <p:nvSpPr>
            <p:cNvPr id="4" name="文本框 3">
              <a:extLst>
                <a:ext uri="{FF2B5EF4-FFF2-40B4-BE49-F238E27FC236}">
                  <a16:creationId xmlns:a16="http://schemas.microsoft.com/office/drawing/2014/main" id="{489FB117-3B13-D07A-CB5F-E8CAC299FF91}"/>
                </a:ext>
              </a:extLst>
            </p:cNvPr>
            <p:cNvSpPr txBox="1"/>
            <p:nvPr/>
          </p:nvSpPr>
          <p:spPr>
            <a:xfrm>
              <a:off x="6096000" y="3056591"/>
              <a:ext cx="5210523" cy="720000"/>
            </a:xfrm>
            <a:prstGeom prst="rect">
              <a:avLst/>
            </a:prstGeom>
            <a:noFill/>
          </p:spPr>
          <p:txBody>
            <a:bodyPr wrap="square" lIns="0" tIns="0" rIns="0" bIns="0" rtlCol="0" anchor="ctr">
              <a:noAutofit/>
            </a:bodyPr>
            <a:lstStyle/>
            <a:p>
              <a:pPr>
                <a:lnSpc>
                  <a:spcPct val="120000"/>
                </a:lnSpc>
                <a:defRPr/>
              </a:pPr>
              <a:r>
                <a:rPr kumimoji="0" lang="en-US" altLang="zh-CN" sz="3600" b="1" i="0" u="none" strike="noStrike" kern="1200" cap="none" spc="0" normalizeH="0" baseline="0" noProof="0" dirty="0">
                  <a:ln>
                    <a:noFill/>
                  </a:ln>
                  <a:solidFill>
                    <a:schemeClr val="bg1">
                      <a:lumMod val="85000"/>
                    </a:schemeClr>
                  </a:solidFill>
                  <a:effectLst/>
                  <a:uLnTx/>
                  <a:uFillTx/>
                  <a:latin typeface="Arial" panose="020B0604020202020204"/>
                  <a:ea typeface="微软雅黑" panose="020B0503020204020204" charset="-122"/>
                  <a:cs typeface="+mn-cs"/>
                </a:rPr>
                <a:t>02 </a:t>
              </a:r>
              <a:r>
                <a:rPr kumimoji="0" lang="zh-CN" altLang="en-US" sz="3600" b="1" i="0" u="none" strike="noStrike" kern="1200" cap="none" spc="0" normalizeH="0" baseline="0" noProof="0" dirty="0">
                  <a:ln>
                    <a:noFill/>
                  </a:ln>
                  <a:solidFill>
                    <a:schemeClr val="bg1">
                      <a:lumMod val="85000"/>
                    </a:schemeClr>
                  </a:solidFill>
                  <a:effectLst/>
                  <a:uLnTx/>
                  <a:uFillTx/>
                  <a:latin typeface="Arial" panose="020B0604020202020204"/>
                  <a:ea typeface="微软雅黑" panose="020B0503020204020204" charset="-122"/>
                  <a:cs typeface="+mn-cs"/>
                </a:rPr>
                <a:t>敏捷开发流程</a:t>
              </a:r>
              <a:endParaRPr lang="zh-CN" altLang="en-US" sz="3600" b="1" dirty="0">
                <a:solidFill>
                  <a:schemeClr val="bg1">
                    <a:lumMod val="85000"/>
                  </a:schemeClr>
                </a:solidFill>
                <a:latin typeface="Arial" panose="020B0604020202020204"/>
                <a:ea typeface="微软雅黑" panose="020B0503020204020204" charset="-122"/>
              </a:endParaRPr>
            </a:p>
          </p:txBody>
        </p:sp>
        <p:sp>
          <p:nvSpPr>
            <p:cNvPr id="7" name="文本框 6">
              <a:extLst>
                <a:ext uri="{FF2B5EF4-FFF2-40B4-BE49-F238E27FC236}">
                  <a16:creationId xmlns:a16="http://schemas.microsoft.com/office/drawing/2014/main" id="{8A8F8831-3BCF-EA74-DBA0-D2AE3091C4E8}"/>
                </a:ext>
              </a:extLst>
            </p:cNvPr>
            <p:cNvSpPr txBox="1"/>
            <p:nvPr/>
          </p:nvSpPr>
          <p:spPr>
            <a:xfrm>
              <a:off x="6096000" y="1687438"/>
              <a:ext cx="5210523" cy="720000"/>
            </a:xfrm>
            <a:prstGeom prst="rect">
              <a:avLst/>
            </a:prstGeom>
            <a:noFill/>
          </p:spPr>
          <p:txBody>
            <a:bodyPr wrap="square" lIns="0" tIns="0" rIns="0" bIns="0" rtlCol="0" anchor="ctr">
              <a:noAutofit/>
            </a:bodyPr>
            <a:lstStyle/>
            <a:p>
              <a:pPr marL="0" marR="0" lvl="0" indent="0" defTabSz="914400" rtl="0" eaLnBrk="1" fontAlgn="auto" latinLnBrk="0" hangingPunct="1">
                <a:lnSpc>
                  <a:spcPct val="12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3F3F3F"/>
                  </a:solidFill>
                  <a:effectLst/>
                  <a:uLnTx/>
                  <a:uFillTx/>
                  <a:latin typeface="Arial" panose="020B0604020202020204"/>
                  <a:ea typeface="微软雅黑" panose="020B0503020204020204" charset="-122"/>
                  <a:cs typeface="+mn-cs"/>
                </a:rPr>
                <a:t>01 </a:t>
              </a:r>
              <a:r>
                <a:rPr lang="zh-CN" altLang="en-US" sz="3600" b="1" dirty="0">
                  <a:solidFill>
                    <a:srgbClr val="3F3F3F"/>
                  </a:solidFill>
                  <a:latin typeface="Arial" panose="020B0604020202020204"/>
                  <a:ea typeface="微软雅黑" panose="020B0503020204020204" charset="-122"/>
                </a:rPr>
                <a:t>敏捷开发内涵</a:t>
              </a:r>
              <a:endParaRPr lang="en-US" altLang="zh-CN" sz="3600" b="1" dirty="0">
                <a:solidFill>
                  <a:srgbClr val="3F3F3F"/>
                </a:solidFill>
                <a:latin typeface="Arial" panose="020B0604020202020204"/>
                <a:ea typeface="微软雅黑" panose="020B0503020204020204" charset="-122"/>
              </a:endParaRPr>
            </a:p>
          </p:txBody>
        </p:sp>
        <p:sp>
          <p:nvSpPr>
            <p:cNvPr id="8" name="文本框 7">
              <a:extLst>
                <a:ext uri="{FF2B5EF4-FFF2-40B4-BE49-F238E27FC236}">
                  <a16:creationId xmlns:a16="http://schemas.microsoft.com/office/drawing/2014/main" id="{878F69F1-5D4F-D5BB-286A-8E3EC8563158}"/>
                </a:ext>
              </a:extLst>
            </p:cNvPr>
            <p:cNvSpPr txBox="1"/>
            <p:nvPr/>
          </p:nvSpPr>
          <p:spPr>
            <a:xfrm>
              <a:off x="6096000" y="4425744"/>
              <a:ext cx="5810119" cy="720000"/>
            </a:xfrm>
            <a:prstGeom prst="rect">
              <a:avLst/>
            </a:prstGeom>
            <a:noFill/>
          </p:spPr>
          <p:txBody>
            <a:bodyPr wrap="square" lIns="0" tIns="0" rIns="0" bIns="0" rtlCol="0" anchor="ctr">
              <a:noAutofit/>
            </a:bodyPr>
            <a:lstStyle/>
            <a:p>
              <a:pPr>
                <a:lnSpc>
                  <a:spcPct val="120000"/>
                </a:lnSpc>
                <a:defRPr/>
              </a:pPr>
              <a:r>
                <a:rPr kumimoji="0" lang="en-US" altLang="zh-CN" sz="3600" b="1" i="0" u="none" strike="noStrike" kern="1200" cap="none" spc="0" normalizeH="0" baseline="0" noProof="0" dirty="0">
                  <a:ln>
                    <a:noFill/>
                  </a:ln>
                  <a:solidFill>
                    <a:schemeClr val="bg1">
                      <a:lumMod val="85000"/>
                    </a:schemeClr>
                  </a:solidFill>
                  <a:effectLst/>
                  <a:uLnTx/>
                  <a:uFillTx/>
                  <a:latin typeface="Arial" panose="020B0604020202020204"/>
                  <a:ea typeface="微软雅黑" panose="020B0503020204020204" charset="-122"/>
                  <a:cs typeface="+mn-cs"/>
                </a:rPr>
                <a:t>03 </a:t>
              </a:r>
              <a:r>
                <a:rPr kumimoji="0" lang="zh-CN" altLang="en-US" sz="3600" b="1" i="0" u="none" strike="noStrike" kern="1200" cap="none" spc="0" normalizeH="0" baseline="0" noProof="0" dirty="0">
                  <a:ln>
                    <a:noFill/>
                  </a:ln>
                  <a:solidFill>
                    <a:schemeClr val="bg1">
                      <a:lumMod val="85000"/>
                    </a:schemeClr>
                  </a:solidFill>
                  <a:effectLst/>
                  <a:uLnTx/>
                  <a:uFillTx/>
                  <a:latin typeface="Arial" panose="020B0604020202020204"/>
                  <a:ea typeface="微软雅黑" panose="020B0503020204020204" charset="-122"/>
                  <a:cs typeface="+mn-cs"/>
                </a:rPr>
                <a:t>敏捷开发方法</a:t>
              </a:r>
              <a:r>
                <a:rPr kumimoji="0" lang="en-US" altLang="zh-CN" sz="3600" b="1" i="0" u="none" strike="noStrike" kern="1200" cap="none" spc="0" normalizeH="0" baseline="0" noProof="0" dirty="0">
                  <a:ln>
                    <a:noFill/>
                  </a:ln>
                  <a:solidFill>
                    <a:schemeClr val="bg1">
                      <a:lumMod val="85000"/>
                    </a:schemeClr>
                  </a:solidFill>
                  <a:effectLst/>
                  <a:uLnTx/>
                  <a:uFillTx/>
                  <a:latin typeface="Arial" panose="020B0604020202020204"/>
                  <a:ea typeface="微软雅黑" panose="020B0503020204020204" charset="-122"/>
                  <a:cs typeface="+mn-cs"/>
                </a:rPr>
                <a:t>—Scrum</a:t>
              </a:r>
              <a:endParaRPr lang="zh-CN" altLang="en-US" sz="3600" b="1" dirty="0">
                <a:solidFill>
                  <a:schemeClr val="bg1">
                    <a:lumMod val="85000"/>
                  </a:schemeClr>
                </a:solidFill>
                <a:latin typeface="Arial" panose="020B0604020202020204"/>
                <a:ea typeface="微软雅黑" panose="020B0503020204020204" charset="-122"/>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sym typeface="+mn-ea"/>
              </a:rPr>
              <a:t>01 </a:t>
            </a:r>
            <a:r>
              <a:rPr lang="zh-CN" altLang="en-US" dirty="0">
                <a:sym typeface="+mn-ea"/>
              </a:rPr>
              <a:t>敏捷开发内涵</a:t>
            </a:r>
            <a:endParaRPr lang="zh-CN" altLang="en-US" dirty="0"/>
          </a:p>
        </p:txBody>
      </p:sp>
      <p:sp>
        <p:nvSpPr>
          <p:cNvPr id="3" name="灯片编号占位符 2"/>
          <p:cNvSpPr>
            <a:spLocks noGrp="1"/>
          </p:cNvSpPr>
          <p:nvPr>
            <p:ph type="sldNum" sz="quarter" idx="12"/>
          </p:nvPr>
        </p:nvSpPr>
        <p:spPr/>
        <p:txBody>
          <a:bodyPr/>
          <a:lstStyle/>
          <a:p>
            <a:fld id="{1AAC388E-FA9E-4A2C-95EA-1F6B3A07935A}" type="slidenum">
              <a:rPr lang="zh-CN" altLang="en-US" sz="1400" smtClean="0">
                <a:solidFill>
                  <a:srgbClr val="000000"/>
                </a:solidFill>
              </a:rPr>
              <a:t>4</a:t>
            </a:fld>
            <a:endParaRPr lang="zh-CN" altLang="en-US" sz="1400" dirty="0">
              <a:solidFill>
                <a:srgbClr val="000000"/>
              </a:solidFill>
            </a:endParaRPr>
          </a:p>
        </p:txBody>
      </p:sp>
      <p:sp>
        <p:nvSpPr>
          <p:cNvPr id="11" name="文本框 10"/>
          <p:cNvSpPr txBox="1"/>
          <p:nvPr/>
        </p:nvSpPr>
        <p:spPr>
          <a:xfrm>
            <a:off x="718185" y="2621915"/>
            <a:ext cx="5455920" cy="3085465"/>
          </a:xfrm>
          <a:prstGeom prst="rect">
            <a:avLst/>
          </a:prstGeom>
          <a:noFill/>
        </p:spPr>
        <p:txBody>
          <a:bodyPr wrap="square" lIns="0" tIns="0" rIns="0" bIns="0" rtlCol="0" anchor="ctr">
            <a:noAutofit/>
          </a:bodyPr>
          <a:lstStyle/>
          <a:p>
            <a:pPr indent="0" algn="just" fontAlgn="auto">
              <a:lnSpc>
                <a:spcPct val="150000"/>
              </a:lnSpc>
              <a:buFont typeface="Arial" panose="020B0604020202020204" pitchFamily="34" charset="0"/>
              <a:buNone/>
            </a:pPr>
            <a:endParaRPr lang="zh-CN" sz="1600" kern="100" dirty="0">
              <a:latin typeface="+mn-ea"/>
              <a:cs typeface="Times New Roman" panose="02020603050405020304" pitchFamily="18" charset="0"/>
            </a:endParaRPr>
          </a:p>
        </p:txBody>
      </p:sp>
      <p:sp>
        <p:nvSpPr>
          <p:cNvPr id="5" name="矩形 4"/>
          <p:cNvSpPr/>
          <p:nvPr/>
        </p:nvSpPr>
        <p:spPr>
          <a:xfrm>
            <a:off x="920706" y="1686561"/>
            <a:ext cx="10553109" cy="4537710"/>
          </a:xfrm>
          <a:prstGeom prst="rect">
            <a:avLst/>
          </a:prstGeom>
          <a:noFill/>
          <a:ln w="28575" cmpd="sng">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just" fontAlgn="auto">
              <a:lnSpc>
                <a:spcPct val="150000"/>
              </a:lnSpc>
              <a:buFont typeface="Arial" panose="020B0604020202020204" pitchFamily="34" charset="0"/>
              <a:buNone/>
            </a:pPr>
            <a:r>
              <a:rPr lang="zh-CN" altLang="zh-CN" sz="2000" kern="100" dirty="0">
                <a:solidFill>
                  <a:schemeClr val="tx1">
                    <a:lumMod val="75000"/>
                  </a:schemeClr>
                </a:solidFill>
                <a:latin typeface="+mn-ea"/>
                <a:cs typeface="Times New Roman" panose="02020603050405020304" pitchFamily="18" charset="0"/>
              </a:rPr>
              <a:t>历经瀑布开发模型、快速原型模型、螺旋开发模型的1995年前后，CMMI、IEEE、ISO等标准规范大行其道，但由于其重型化，使得软件开发依然变得困难，主要表现在：</a:t>
            </a:r>
          </a:p>
          <a:p>
            <a:pPr indent="0" algn="just" fontAlgn="auto">
              <a:lnSpc>
                <a:spcPct val="150000"/>
              </a:lnSpc>
              <a:buFont typeface="Arial" panose="020B0604020202020204" pitchFamily="34" charset="0"/>
              <a:buNone/>
            </a:pPr>
            <a:endParaRPr lang="zh-CN" altLang="zh-CN" sz="2000" kern="100" dirty="0">
              <a:solidFill>
                <a:schemeClr val="tx1">
                  <a:lumMod val="75000"/>
                </a:schemeClr>
              </a:solidFill>
              <a:latin typeface="+mn-ea"/>
              <a:cs typeface="Times New Roman" panose="02020603050405020304" pitchFamily="18" charset="0"/>
            </a:endParaRPr>
          </a:p>
          <a:p>
            <a:pPr marL="285750" indent="-285750" algn="just" fontAlgn="auto">
              <a:lnSpc>
                <a:spcPct val="150000"/>
              </a:lnSpc>
              <a:buFont typeface="Wingdings" panose="05000000000000000000" charset="0"/>
              <a:buChar char="u"/>
            </a:pPr>
            <a:r>
              <a:rPr lang="zh-CN" altLang="zh-CN" sz="2000" kern="100" dirty="0">
                <a:solidFill>
                  <a:schemeClr val="tx1">
                    <a:lumMod val="75000"/>
                  </a:schemeClr>
                </a:solidFill>
                <a:latin typeface="+mn-ea"/>
                <a:cs typeface="Times New Roman" panose="02020603050405020304" pitchFamily="18" charset="0"/>
              </a:rPr>
              <a:t>需求总在变化，导致项目不断延期。</a:t>
            </a:r>
          </a:p>
          <a:p>
            <a:pPr marL="285750" indent="-285750" algn="just" fontAlgn="auto">
              <a:lnSpc>
                <a:spcPct val="150000"/>
              </a:lnSpc>
              <a:buFont typeface="Wingdings" panose="05000000000000000000" charset="0"/>
              <a:buChar char="u"/>
            </a:pPr>
            <a:r>
              <a:rPr lang="zh-CN" altLang="zh-CN" sz="2000" kern="100" dirty="0">
                <a:solidFill>
                  <a:schemeClr val="tx1">
                    <a:lumMod val="75000"/>
                  </a:schemeClr>
                </a:solidFill>
                <a:latin typeface="+mn-ea"/>
                <a:cs typeface="Times New Roman" panose="02020603050405020304" pitchFamily="18" charset="0"/>
              </a:rPr>
              <a:t>系统越来越复杂，Bug越来越多，质量越来越差。</a:t>
            </a:r>
          </a:p>
          <a:p>
            <a:pPr marL="285750" indent="-285750" algn="just" fontAlgn="auto">
              <a:lnSpc>
                <a:spcPct val="150000"/>
              </a:lnSpc>
              <a:buFont typeface="Wingdings" panose="05000000000000000000" charset="0"/>
              <a:buChar char="u"/>
            </a:pPr>
            <a:r>
              <a:rPr lang="zh-CN" altLang="zh-CN" sz="2000" kern="100" dirty="0">
                <a:solidFill>
                  <a:schemeClr val="tx1">
                    <a:lumMod val="75000"/>
                  </a:schemeClr>
                </a:solidFill>
                <a:latin typeface="+mn-ea"/>
                <a:cs typeface="Times New Roman" panose="02020603050405020304" pitchFamily="18" charset="0"/>
              </a:rPr>
              <a:t>文档要求规范繁重，维护难度极高，投入成本极大。</a:t>
            </a:r>
          </a:p>
          <a:p>
            <a:pPr marL="285750" indent="-285750" algn="just" fontAlgn="auto">
              <a:lnSpc>
                <a:spcPct val="150000"/>
              </a:lnSpc>
              <a:buFont typeface="Wingdings" panose="05000000000000000000" charset="0"/>
              <a:buChar char="u"/>
            </a:pPr>
            <a:r>
              <a:rPr lang="zh-CN" altLang="zh-CN" sz="2000" kern="100" dirty="0">
                <a:solidFill>
                  <a:schemeClr val="tx1">
                    <a:lumMod val="75000"/>
                  </a:schemeClr>
                </a:solidFill>
                <a:latin typeface="+mn-ea"/>
                <a:cs typeface="Times New Roman" panose="02020603050405020304" pitchFamily="18" charset="0"/>
              </a:rPr>
              <a:t>团队之间相互独立，部门隔阂严重。</a:t>
            </a:r>
          </a:p>
          <a:p>
            <a:pPr marL="285750" indent="-285750" algn="just" fontAlgn="auto">
              <a:lnSpc>
                <a:spcPct val="150000"/>
              </a:lnSpc>
              <a:buFont typeface="Wingdings" panose="05000000000000000000" charset="0"/>
              <a:buChar char="u"/>
            </a:pPr>
            <a:r>
              <a:rPr lang="zh-CN" altLang="zh-CN" sz="2000" kern="100" dirty="0">
                <a:solidFill>
                  <a:schemeClr val="tx1">
                    <a:lumMod val="75000"/>
                  </a:schemeClr>
                </a:solidFill>
                <a:latin typeface="+mn-ea"/>
                <a:cs typeface="Times New Roman" panose="02020603050405020304" pitchFamily="18" charset="0"/>
              </a:rPr>
              <a:t>互联网的高速发展更加强调软件交付的速度。</a:t>
            </a:r>
          </a:p>
        </p:txBody>
      </p:sp>
      <p:sp>
        <p:nvSpPr>
          <p:cNvPr id="6" name="文本框 5"/>
          <p:cNvSpPr txBox="1"/>
          <p:nvPr/>
        </p:nvSpPr>
        <p:spPr>
          <a:xfrm>
            <a:off x="718218" y="874354"/>
            <a:ext cx="4747862" cy="601075"/>
          </a:xfrm>
          <a:prstGeom prst="rect">
            <a:avLst/>
          </a:prstGeom>
          <a:noFill/>
        </p:spPr>
        <p:txBody>
          <a:bodyPr wrap="square" lIns="0" tIns="0" rIns="0" bIns="0" rtlCol="0" anchor="ctr">
            <a:noAutofit/>
          </a:bodyPr>
          <a:lstStyle/>
          <a:p>
            <a:pPr marL="285750" indent="-285750" algn="l">
              <a:lnSpc>
                <a:spcPct val="125000"/>
              </a:lnSpc>
              <a:spcAft>
                <a:spcPts val="500"/>
              </a:spcAft>
              <a:buFont typeface="Wingdings" panose="05000000000000000000" pitchFamily="2" charset="2"/>
              <a:buChar char="p"/>
            </a:pPr>
            <a:r>
              <a:rPr lang="zh-CN" altLang="en-US" sz="2400" dirty="0">
                <a:solidFill>
                  <a:srgbClr val="003F88"/>
                </a:solidFill>
              </a:rPr>
              <a:t> 敏捷开发的背景</a:t>
            </a:r>
            <a:endParaRPr lang="en-US" altLang="zh-CN" sz="2400" dirty="0">
              <a:solidFill>
                <a:srgbClr val="003F88"/>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sym typeface="+mn-ea"/>
              </a:rPr>
              <a:t>01 </a:t>
            </a:r>
            <a:r>
              <a:rPr lang="zh-CN" altLang="en-US" dirty="0">
                <a:sym typeface="+mn-ea"/>
              </a:rPr>
              <a:t>敏捷开发内涵</a:t>
            </a:r>
            <a:endParaRPr lang="zh-CN" altLang="en-US" dirty="0"/>
          </a:p>
        </p:txBody>
      </p:sp>
      <p:sp>
        <p:nvSpPr>
          <p:cNvPr id="3" name="灯片编号占位符 2"/>
          <p:cNvSpPr>
            <a:spLocks noGrp="1"/>
          </p:cNvSpPr>
          <p:nvPr>
            <p:ph type="sldNum" sz="quarter" idx="12"/>
          </p:nvPr>
        </p:nvSpPr>
        <p:spPr/>
        <p:txBody>
          <a:bodyPr/>
          <a:lstStyle/>
          <a:p>
            <a:fld id="{1AAC388E-FA9E-4A2C-95EA-1F6B3A07935A}" type="slidenum">
              <a:rPr lang="zh-CN" altLang="en-US" sz="1400" smtClean="0">
                <a:solidFill>
                  <a:srgbClr val="000000"/>
                </a:solidFill>
              </a:rPr>
              <a:t>5</a:t>
            </a:fld>
            <a:endParaRPr lang="zh-CN" altLang="en-US" sz="1400" dirty="0">
              <a:solidFill>
                <a:srgbClr val="000000"/>
              </a:solidFill>
            </a:endParaRPr>
          </a:p>
        </p:txBody>
      </p:sp>
      <p:sp>
        <p:nvSpPr>
          <p:cNvPr id="5" name="矩形 4"/>
          <p:cNvSpPr/>
          <p:nvPr/>
        </p:nvSpPr>
        <p:spPr>
          <a:xfrm>
            <a:off x="913764" y="1721595"/>
            <a:ext cx="10638155" cy="4065796"/>
          </a:xfrm>
          <a:prstGeom prst="rect">
            <a:avLst/>
          </a:prstGeom>
          <a:noFill/>
          <a:ln w="28575" cmpd="sng">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457200" algn="just" fontAlgn="auto">
              <a:lnSpc>
                <a:spcPct val="200000"/>
              </a:lnSpc>
              <a:buFont typeface="Arial" panose="020B0604020202020204" pitchFamily="34" charset="0"/>
              <a:buNone/>
            </a:pPr>
            <a:r>
              <a:rPr lang="zh-CN" altLang="en-US" sz="2000" kern="100" dirty="0">
                <a:solidFill>
                  <a:schemeClr val="tx1"/>
                </a:solidFill>
                <a:latin typeface="+mn-ea"/>
                <a:cs typeface="Times New Roman" panose="02020603050405020304" pitchFamily="18" charset="0"/>
              </a:rPr>
              <a:t>敏捷（</a:t>
            </a:r>
            <a:r>
              <a:rPr lang="en-US" altLang="zh-CN" sz="2000" kern="100" dirty="0">
                <a:solidFill>
                  <a:schemeClr val="tx1"/>
                </a:solidFill>
                <a:latin typeface="+mn-ea"/>
                <a:cs typeface="Times New Roman" panose="02020603050405020304" pitchFamily="18" charset="0"/>
              </a:rPr>
              <a:t>Agile</a:t>
            </a:r>
            <a:r>
              <a:rPr lang="zh-CN" altLang="en-US" sz="2000" kern="100" dirty="0">
                <a:solidFill>
                  <a:schemeClr val="tx1"/>
                </a:solidFill>
                <a:latin typeface="+mn-ea"/>
                <a:cs typeface="Times New Roman" panose="02020603050405020304" pitchFamily="18" charset="0"/>
              </a:rPr>
              <a:t>）是一种思想，是一种理念，是</a:t>
            </a:r>
            <a:r>
              <a:rPr lang="zh-CN" altLang="en-US" sz="2000" b="1" kern="100" dirty="0">
                <a:solidFill>
                  <a:schemeClr val="tx1"/>
                </a:solidFill>
                <a:latin typeface="+mn-ea"/>
                <a:cs typeface="Times New Roman" panose="02020603050405020304" pitchFamily="18" charset="0"/>
              </a:rPr>
              <a:t>以用户需求进化</a:t>
            </a:r>
            <a:r>
              <a:rPr lang="zh-CN" altLang="en-US" sz="2000" kern="100" dirty="0">
                <a:solidFill>
                  <a:schemeClr val="tx1"/>
                </a:solidFill>
                <a:latin typeface="+mn-ea"/>
                <a:cs typeface="Times New Roman" panose="02020603050405020304" pitchFamily="18" charset="0"/>
              </a:rPr>
              <a:t>为核心，采用</a:t>
            </a:r>
            <a:r>
              <a:rPr lang="zh-CN" altLang="en-US" sz="2000" b="1" kern="100" dirty="0">
                <a:solidFill>
                  <a:schemeClr val="tx1"/>
                </a:solidFill>
                <a:latin typeface="+mn-ea"/>
                <a:cs typeface="Times New Roman" panose="02020603050405020304" pitchFamily="18" charset="0"/>
              </a:rPr>
              <a:t>迭代、循序渐进</a:t>
            </a:r>
            <a:r>
              <a:rPr lang="zh-CN" altLang="en-US" sz="2000" kern="100" dirty="0">
                <a:solidFill>
                  <a:schemeClr val="tx1"/>
                </a:solidFill>
                <a:latin typeface="+mn-ea"/>
                <a:cs typeface="Times New Roman" panose="02020603050405020304" pitchFamily="18" charset="0"/>
              </a:rPr>
              <a:t>的方式进行软件开发。</a:t>
            </a:r>
          </a:p>
          <a:p>
            <a:pPr indent="457200" algn="just" fontAlgn="auto">
              <a:lnSpc>
                <a:spcPct val="200000"/>
              </a:lnSpc>
              <a:buFont typeface="Arial" panose="020B0604020202020204" pitchFamily="34" charset="0"/>
              <a:buNone/>
            </a:pPr>
            <a:r>
              <a:rPr lang="zh-CN" altLang="en-US" sz="2000" kern="100" dirty="0">
                <a:solidFill>
                  <a:schemeClr val="tx1"/>
                </a:solidFill>
                <a:latin typeface="+mn-ea"/>
                <a:cs typeface="Times New Roman" panose="02020603050405020304" pitchFamily="18" charset="0"/>
              </a:rPr>
              <a:t>敏捷的目的是为了降低需求变化所带来的成本，其最大特点是</a:t>
            </a:r>
            <a:r>
              <a:rPr lang="zh-CN" altLang="en-US" sz="2000" b="1" kern="100" dirty="0">
                <a:solidFill>
                  <a:schemeClr val="tx1"/>
                </a:solidFill>
                <a:latin typeface="+mn-ea"/>
                <a:cs typeface="Times New Roman" panose="02020603050405020304" pitchFamily="18" charset="0"/>
              </a:rPr>
              <a:t>响应变化</a:t>
            </a:r>
            <a:r>
              <a:rPr lang="zh-CN" altLang="en-US" sz="2000" kern="100" dirty="0">
                <a:solidFill>
                  <a:schemeClr val="tx1"/>
                </a:solidFill>
                <a:latin typeface="+mn-ea"/>
                <a:cs typeface="Times New Roman" panose="02020603050405020304" pitchFamily="18" charset="0"/>
              </a:rPr>
              <a:t>。项目初期，软件会被切分成多个子项目，每个子项目周期内（</a:t>
            </a:r>
            <a:r>
              <a:rPr lang="en-US" altLang="zh-CN" sz="2000" kern="100" dirty="0">
                <a:solidFill>
                  <a:schemeClr val="tx1"/>
                </a:solidFill>
                <a:latin typeface="+mn-ea"/>
                <a:cs typeface="Times New Roman" panose="02020603050405020304" pitchFamily="18" charset="0"/>
              </a:rPr>
              <a:t>1~4</a:t>
            </a:r>
            <a:r>
              <a:rPr lang="zh-CN" altLang="en-US" sz="2000" kern="100" dirty="0">
                <a:solidFill>
                  <a:schemeClr val="tx1"/>
                </a:solidFill>
                <a:latin typeface="+mn-ea"/>
                <a:cs typeface="Times New Roman" panose="02020603050405020304" pitchFamily="18" charset="0"/>
              </a:rPr>
              <a:t>周）的活动称为迭代。每次迭代都会发布一个运行的软件，并且在整个迭代过程中，软件一直处于可用状态。</a:t>
            </a:r>
          </a:p>
        </p:txBody>
      </p:sp>
      <p:sp>
        <p:nvSpPr>
          <p:cNvPr id="10" name="文本框 9"/>
          <p:cNvSpPr txBox="1"/>
          <p:nvPr/>
        </p:nvSpPr>
        <p:spPr>
          <a:xfrm>
            <a:off x="718218" y="874354"/>
            <a:ext cx="3762342" cy="601075"/>
          </a:xfrm>
          <a:prstGeom prst="rect">
            <a:avLst/>
          </a:prstGeom>
          <a:noFill/>
        </p:spPr>
        <p:txBody>
          <a:bodyPr wrap="square" lIns="0" tIns="0" rIns="0" bIns="0" rtlCol="0" anchor="ctr">
            <a:noAutofit/>
          </a:bodyPr>
          <a:lstStyle/>
          <a:p>
            <a:pPr marL="285750" indent="-285750" algn="l">
              <a:lnSpc>
                <a:spcPct val="125000"/>
              </a:lnSpc>
              <a:spcAft>
                <a:spcPts val="500"/>
              </a:spcAft>
              <a:buFont typeface="Wingdings" panose="05000000000000000000" pitchFamily="2" charset="2"/>
              <a:buChar char="p"/>
            </a:pPr>
            <a:r>
              <a:rPr lang="zh-CN" altLang="en-US" sz="2400" dirty="0">
                <a:solidFill>
                  <a:srgbClr val="003F88"/>
                </a:solidFill>
              </a:rPr>
              <a:t> 敏捷开发的定义</a:t>
            </a:r>
            <a:endParaRPr lang="en-US" altLang="zh-CN" sz="2400" dirty="0">
              <a:solidFill>
                <a:srgbClr val="003F88"/>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sym typeface="+mn-ea"/>
              </a:rPr>
              <a:t>01 </a:t>
            </a:r>
            <a:r>
              <a:rPr lang="zh-CN" altLang="en-US" dirty="0">
                <a:sym typeface="+mn-ea"/>
              </a:rPr>
              <a:t>敏捷开发内涵</a:t>
            </a:r>
            <a:endParaRPr lang="zh-CN" altLang="en-US" dirty="0"/>
          </a:p>
        </p:txBody>
      </p:sp>
      <p:sp>
        <p:nvSpPr>
          <p:cNvPr id="3" name="灯片编号占位符 2"/>
          <p:cNvSpPr>
            <a:spLocks noGrp="1"/>
          </p:cNvSpPr>
          <p:nvPr>
            <p:ph type="sldNum" sz="quarter" idx="12"/>
          </p:nvPr>
        </p:nvSpPr>
        <p:spPr/>
        <p:txBody>
          <a:bodyPr/>
          <a:lstStyle/>
          <a:p>
            <a:fld id="{1AAC388E-FA9E-4A2C-95EA-1F6B3A07935A}" type="slidenum">
              <a:rPr lang="zh-CN" altLang="en-US" sz="1400" smtClean="0">
                <a:solidFill>
                  <a:srgbClr val="000000"/>
                </a:solidFill>
              </a:rPr>
              <a:t>6</a:t>
            </a:fld>
            <a:endParaRPr lang="zh-CN" altLang="en-US" sz="1400" dirty="0">
              <a:solidFill>
                <a:srgbClr val="000000"/>
              </a:solidFill>
            </a:endParaRPr>
          </a:p>
        </p:txBody>
      </p:sp>
      <p:pic>
        <p:nvPicPr>
          <p:cNvPr id="100" name="图片 99"/>
          <p:cNvPicPr/>
          <p:nvPr>
            <p:custDataLst>
              <p:tags r:id="rId1"/>
            </p:custDataLst>
          </p:nvPr>
        </p:nvPicPr>
        <p:blipFill>
          <a:blip r:embed="rId4"/>
          <a:stretch>
            <a:fillRect/>
          </a:stretch>
        </p:blipFill>
        <p:spPr>
          <a:xfrm>
            <a:off x="2794952" y="1634566"/>
            <a:ext cx="6602095" cy="4859769"/>
          </a:xfrm>
          <a:prstGeom prst="rect">
            <a:avLst/>
          </a:prstGeom>
          <a:noFill/>
          <a:ln w="9525">
            <a:noFill/>
          </a:ln>
        </p:spPr>
      </p:pic>
      <p:sp>
        <p:nvSpPr>
          <p:cNvPr id="6" name="文本框 5"/>
          <p:cNvSpPr txBox="1"/>
          <p:nvPr/>
        </p:nvSpPr>
        <p:spPr>
          <a:xfrm>
            <a:off x="718218" y="874354"/>
            <a:ext cx="5499702" cy="601075"/>
          </a:xfrm>
          <a:prstGeom prst="rect">
            <a:avLst/>
          </a:prstGeom>
          <a:noFill/>
        </p:spPr>
        <p:txBody>
          <a:bodyPr wrap="square" lIns="0" tIns="0" rIns="0" bIns="0" rtlCol="0" anchor="ctr">
            <a:noAutofit/>
          </a:bodyPr>
          <a:lstStyle/>
          <a:p>
            <a:pPr marL="285750" indent="-285750" algn="l">
              <a:lnSpc>
                <a:spcPct val="125000"/>
              </a:lnSpc>
              <a:spcAft>
                <a:spcPts val="500"/>
              </a:spcAft>
              <a:buFont typeface="Wingdings" panose="05000000000000000000" pitchFamily="2" charset="2"/>
              <a:buChar char="p"/>
            </a:pPr>
            <a:r>
              <a:rPr lang="zh-CN" altLang="en-US" sz="2400" dirty="0">
                <a:solidFill>
                  <a:srgbClr val="003F88"/>
                </a:solidFill>
              </a:rPr>
              <a:t> 敏捷软件开发宣言和四个敏捷价值观</a:t>
            </a:r>
            <a:endParaRPr lang="en-US" altLang="zh-CN" sz="2400" dirty="0">
              <a:solidFill>
                <a:srgbClr val="003F88"/>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sym typeface="+mn-ea"/>
              </a:rPr>
              <a:t>01 </a:t>
            </a:r>
            <a:r>
              <a:rPr lang="zh-CN" altLang="en-US" dirty="0">
                <a:sym typeface="+mn-ea"/>
              </a:rPr>
              <a:t>敏捷开发定义内涵</a:t>
            </a:r>
            <a:endParaRPr lang="zh-CN" altLang="en-US" dirty="0"/>
          </a:p>
        </p:txBody>
      </p:sp>
      <p:sp>
        <p:nvSpPr>
          <p:cNvPr id="3" name="灯片编号占位符 2"/>
          <p:cNvSpPr>
            <a:spLocks noGrp="1"/>
          </p:cNvSpPr>
          <p:nvPr>
            <p:ph type="sldNum" sz="quarter" idx="12"/>
          </p:nvPr>
        </p:nvSpPr>
        <p:spPr/>
        <p:txBody>
          <a:bodyPr/>
          <a:lstStyle/>
          <a:p>
            <a:fld id="{1AAC388E-FA9E-4A2C-95EA-1F6B3A07935A}" type="slidenum">
              <a:rPr lang="zh-CN" altLang="en-US" sz="1400" smtClean="0">
                <a:solidFill>
                  <a:srgbClr val="000000"/>
                </a:solidFill>
              </a:rPr>
              <a:t>7</a:t>
            </a:fld>
            <a:endParaRPr lang="zh-CN" altLang="en-US" sz="1400" dirty="0">
              <a:solidFill>
                <a:srgbClr val="000000"/>
              </a:solidFill>
            </a:endParaRPr>
          </a:p>
        </p:txBody>
      </p:sp>
      <p:sp>
        <p:nvSpPr>
          <p:cNvPr id="6" name="文本框 5"/>
          <p:cNvSpPr txBox="1"/>
          <p:nvPr/>
        </p:nvSpPr>
        <p:spPr>
          <a:xfrm>
            <a:off x="718218" y="874354"/>
            <a:ext cx="5499702" cy="601075"/>
          </a:xfrm>
          <a:prstGeom prst="rect">
            <a:avLst/>
          </a:prstGeom>
          <a:noFill/>
        </p:spPr>
        <p:txBody>
          <a:bodyPr wrap="square" lIns="0" tIns="0" rIns="0" bIns="0" rtlCol="0" anchor="ctr">
            <a:noAutofit/>
          </a:bodyPr>
          <a:lstStyle/>
          <a:p>
            <a:pPr marL="285750" indent="-285750" algn="l">
              <a:lnSpc>
                <a:spcPct val="125000"/>
              </a:lnSpc>
              <a:spcAft>
                <a:spcPts val="500"/>
              </a:spcAft>
              <a:buFont typeface="Wingdings" panose="05000000000000000000" pitchFamily="2" charset="2"/>
              <a:buChar char="p"/>
            </a:pPr>
            <a:r>
              <a:rPr lang="zh-CN" altLang="en-US" sz="2400" dirty="0">
                <a:solidFill>
                  <a:srgbClr val="003F88"/>
                </a:solidFill>
              </a:rPr>
              <a:t> 敏捷软件开发宣言和十二条敏捷原则</a:t>
            </a:r>
            <a:endParaRPr lang="en-US" altLang="zh-CN" sz="2400" dirty="0">
              <a:solidFill>
                <a:srgbClr val="003F88"/>
              </a:solidFill>
            </a:endParaRPr>
          </a:p>
        </p:txBody>
      </p:sp>
      <p:pic>
        <p:nvPicPr>
          <p:cNvPr id="1026" name="Picture 2" descr="敏捷宣言背后的 12 条敏捷原则"/>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2482" y="1475429"/>
            <a:ext cx="8027035" cy="537458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sym typeface="+mn-ea"/>
              </a:rPr>
              <a:t>01 </a:t>
            </a:r>
            <a:r>
              <a:rPr lang="zh-CN" altLang="en-US" dirty="0">
                <a:sym typeface="+mn-ea"/>
              </a:rPr>
              <a:t>敏捷开发内涵</a:t>
            </a:r>
            <a:endParaRPr lang="zh-CN" altLang="en-US" dirty="0"/>
          </a:p>
        </p:txBody>
      </p:sp>
      <p:sp>
        <p:nvSpPr>
          <p:cNvPr id="3" name="灯片编号占位符 2"/>
          <p:cNvSpPr>
            <a:spLocks noGrp="1"/>
          </p:cNvSpPr>
          <p:nvPr>
            <p:ph type="sldNum" sz="quarter" idx="12"/>
          </p:nvPr>
        </p:nvSpPr>
        <p:spPr/>
        <p:txBody>
          <a:bodyPr/>
          <a:lstStyle/>
          <a:p>
            <a:fld id="{1AAC388E-FA9E-4A2C-95EA-1F6B3A07935A}" type="slidenum">
              <a:rPr lang="zh-CN" altLang="en-US" sz="1400" smtClean="0">
                <a:solidFill>
                  <a:srgbClr val="000000"/>
                </a:solidFill>
              </a:rPr>
              <a:t>8</a:t>
            </a:fld>
            <a:endParaRPr lang="zh-CN" altLang="en-US" sz="1400" dirty="0">
              <a:solidFill>
                <a:srgbClr val="000000"/>
              </a:solidFill>
            </a:endParaRPr>
          </a:p>
        </p:txBody>
      </p:sp>
      <p:sp>
        <p:nvSpPr>
          <p:cNvPr id="6" name="文本框 5"/>
          <p:cNvSpPr txBox="1"/>
          <p:nvPr/>
        </p:nvSpPr>
        <p:spPr>
          <a:xfrm>
            <a:off x="718218" y="874354"/>
            <a:ext cx="5499702" cy="601075"/>
          </a:xfrm>
          <a:prstGeom prst="rect">
            <a:avLst/>
          </a:prstGeom>
          <a:noFill/>
        </p:spPr>
        <p:txBody>
          <a:bodyPr wrap="square" lIns="0" tIns="0" rIns="0" bIns="0" rtlCol="0" anchor="ctr">
            <a:noAutofit/>
          </a:bodyPr>
          <a:lstStyle/>
          <a:p>
            <a:pPr marL="285750" indent="-285750" algn="l">
              <a:lnSpc>
                <a:spcPct val="125000"/>
              </a:lnSpc>
              <a:spcAft>
                <a:spcPts val="500"/>
              </a:spcAft>
              <a:buFont typeface="Wingdings" panose="05000000000000000000" pitchFamily="2" charset="2"/>
              <a:buChar char="p"/>
            </a:pPr>
            <a:r>
              <a:rPr lang="zh-CN" altLang="en-US" sz="2400" dirty="0">
                <a:solidFill>
                  <a:srgbClr val="003F88"/>
                </a:solidFill>
              </a:rPr>
              <a:t> 敏捷软件开发宣言和十二条敏捷原则</a:t>
            </a:r>
            <a:endParaRPr lang="en-US" altLang="zh-CN" sz="2400" dirty="0">
              <a:solidFill>
                <a:srgbClr val="003F88"/>
              </a:solidFill>
            </a:endParaRPr>
          </a:p>
        </p:txBody>
      </p:sp>
      <p:pic>
        <p:nvPicPr>
          <p:cNvPr id="1026" name="Picture 2" descr="敏捷宣言背后的 12 条敏捷原则"/>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2482" y="1475429"/>
            <a:ext cx="8027035" cy="537458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sym typeface="+mn-ea"/>
              </a:rPr>
              <a:t>01 </a:t>
            </a:r>
            <a:r>
              <a:rPr lang="zh-CN" altLang="en-US" dirty="0">
                <a:sym typeface="+mn-ea"/>
              </a:rPr>
              <a:t>敏捷开发内涵</a:t>
            </a:r>
            <a:endParaRPr lang="zh-CN" altLang="en-US" dirty="0"/>
          </a:p>
        </p:txBody>
      </p:sp>
      <p:sp>
        <p:nvSpPr>
          <p:cNvPr id="3" name="灯片编号占位符 2"/>
          <p:cNvSpPr>
            <a:spLocks noGrp="1"/>
          </p:cNvSpPr>
          <p:nvPr>
            <p:ph type="sldNum" sz="quarter" idx="12"/>
          </p:nvPr>
        </p:nvSpPr>
        <p:spPr/>
        <p:txBody>
          <a:bodyPr/>
          <a:lstStyle/>
          <a:p>
            <a:fld id="{1AAC388E-FA9E-4A2C-95EA-1F6B3A07935A}" type="slidenum">
              <a:rPr lang="zh-CN" altLang="en-US" sz="1400" smtClean="0">
                <a:solidFill>
                  <a:srgbClr val="000000"/>
                </a:solidFill>
              </a:rPr>
              <a:t>9</a:t>
            </a:fld>
            <a:endParaRPr lang="zh-CN" altLang="en-US" sz="1400" dirty="0">
              <a:solidFill>
                <a:srgbClr val="000000"/>
              </a:solidFill>
            </a:endParaRPr>
          </a:p>
        </p:txBody>
      </p:sp>
      <p:sp>
        <p:nvSpPr>
          <p:cNvPr id="6" name="文本框 5"/>
          <p:cNvSpPr txBox="1"/>
          <p:nvPr/>
        </p:nvSpPr>
        <p:spPr>
          <a:xfrm>
            <a:off x="718218" y="874354"/>
            <a:ext cx="5499702" cy="601075"/>
          </a:xfrm>
          <a:prstGeom prst="rect">
            <a:avLst/>
          </a:prstGeom>
          <a:noFill/>
        </p:spPr>
        <p:txBody>
          <a:bodyPr wrap="square" lIns="0" tIns="0" rIns="0" bIns="0" rtlCol="0" anchor="ctr">
            <a:noAutofit/>
          </a:bodyPr>
          <a:lstStyle/>
          <a:p>
            <a:pPr marL="285750" indent="-285750" algn="l">
              <a:lnSpc>
                <a:spcPct val="125000"/>
              </a:lnSpc>
              <a:spcAft>
                <a:spcPts val="500"/>
              </a:spcAft>
              <a:buFont typeface="Wingdings" panose="05000000000000000000" pitchFamily="2" charset="2"/>
              <a:buChar char="p"/>
            </a:pPr>
            <a:r>
              <a:rPr lang="zh-CN" altLang="en-US" sz="2400" dirty="0">
                <a:solidFill>
                  <a:srgbClr val="003F88"/>
                </a:solidFill>
              </a:rPr>
              <a:t> 敏捷软件开发宣言和十二条敏捷原则</a:t>
            </a:r>
            <a:endParaRPr lang="en-US" altLang="zh-CN" sz="2400" dirty="0">
              <a:solidFill>
                <a:srgbClr val="003F88"/>
              </a:solidFill>
            </a:endParaRPr>
          </a:p>
        </p:txBody>
      </p:sp>
      <p:pic>
        <p:nvPicPr>
          <p:cNvPr id="1026" name="Picture 2" descr="敏捷宣言背后的 12 条敏捷原则"/>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2482" y="1475429"/>
            <a:ext cx="8027035" cy="537458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sym typeface="+mn-ea"/>
              </a:rPr>
              <a:t>01 </a:t>
            </a:r>
            <a:r>
              <a:rPr lang="zh-CN" altLang="en-US" dirty="0">
                <a:sym typeface="+mn-ea"/>
              </a:rPr>
              <a:t>敏捷开发内涵</a:t>
            </a:r>
            <a:endParaRPr lang="zh-CN" altLang="en-US" dirty="0"/>
          </a:p>
        </p:txBody>
      </p:sp>
      <p:sp>
        <p:nvSpPr>
          <p:cNvPr id="3" name="灯片编号占位符 2"/>
          <p:cNvSpPr>
            <a:spLocks noGrp="1"/>
          </p:cNvSpPr>
          <p:nvPr>
            <p:ph type="sldNum" sz="quarter" idx="12"/>
          </p:nvPr>
        </p:nvSpPr>
        <p:spPr/>
        <p:txBody>
          <a:bodyPr/>
          <a:lstStyle/>
          <a:p>
            <a:fld id="{1AAC388E-FA9E-4A2C-95EA-1F6B3A07935A}" type="slidenum">
              <a:rPr lang="zh-CN" altLang="en-US" sz="1400" smtClean="0">
                <a:solidFill>
                  <a:srgbClr val="000000"/>
                </a:solidFill>
              </a:rPr>
              <a:t>10</a:t>
            </a:fld>
            <a:endParaRPr lang="zh-CN" altLang="en-US" sz="1400" dirty="0">
              <a:solidFill>
                <a:srgbClr val="000000"/>
              </a:solidFill>
            </a:endParaRPr>
          </a:p>
        </p:txBody>
      </p:sp>
      <p:sp>
        <p:nvSpPr>
          <p:cNvPr id="6" name="文本框 5"/>
          <p:cNvSpPr txBox="1"/>
          <p:nvPr/>
        </p:nvSpPr>
        <p:spPr>
          <a:xfrm>
            <a:off x="718218" y="874354"/>
            <a:ext cx="5499702" cy="601075"/>
          </a:xfrm>
          <a:prstGeom prst="rect">
            <a:avLst/>
          </a:prstGeom>
          <a:noFill/>
        </p:spPr>
        <p:txBody>
          <a:bodyPr wrap="square" lIns="0" tIns="0" rIns="0" bIns="0" rtlCol="0" anchor="ctr">
            <a:noAutofit/>
          </a:bodyPr>
          <a:lstStyle/>
          <a:p>
            <a:pPr marL="285750" indent="-285750" algn="l">
              <a:lnSpc>
                <a:spcPct val="125000"/>
              </a:lnSpc>
              <a:spcAft>
                <a:spcPts val="500"/>
              </a:spcAft>
              <a:buFont typeface="Wingdings" panose="05000000000000000000" pitchFamily="2" charset="2"/>
              <a:buChar char="p"/>
            </a:pPr>
            <a:r>
              <a:rPr lang="zh-CN" altLang="en-US" sz="2400" dirty="0">
                <a:solidFill>
                  <a:srgbClr val="003F88"/>
                </a:solidFill>
              </a:rPr>
              <a:t> 敏捷软件开发宣言和十二条敏捷原则</a:t>
            </a:r>
            <a:endParaRPr lang="en-US" altLang="zh-CN" sz="2400" dirty="0">
              <a:solidFill>
                <a:srgbClr val="003F88"/>
              </a:solidFill>
            </a:endParaRPr>
          </a:p>
        </p:txBody>
      </p:sp>
      <p:pic>
        <p:nvPicPr>
          <p:cNvPr id="1026" name="Picture 2" descr="敏捷宣言背后的 12 条敏捷原则"/>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2482" y="1475429"/>
            <a:ext cx="8027035" cy="537458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10" y="5"/>
            <a:ext cx="12191980" cy="6857990"/>
          </a:xfrm>
          <a:prstGeom prst="rect">
            <a:avLst/>
          </a:prstGeom>
          <a:blipFill dpi="0" rotWithShape="1">
            <a:blip r:embed="rId3">
              <a:alphaModFix amt="10000"/>
              <a:duotone>
                <a:schemeClr val="bg2">
                  <a:shade val="45000"/>
                  <a:satMod val="135000"/>
                </a:schemeClr>
                <a:prstClr val="white"/>
              </a:duotone>
            </a:blip>
            <a:srcRect/>
            <a:tile tx="0" ty="0" sx="60000" sy="6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00"/>
              </a:spcAft>
            </a:pPr>
            <a:endParaRPr lang="zh-CN" altLang="en-US"/>
          </a:p>
        </p:txBody>
      </p:sp>
      <p:grpSp>
        <p:nvGrpSpPr>
          <p:cNvPr id="3" name="组合 2"/>
          <p:cNvGrpSpPr/>
          <p:nvPr/>
        </p:nvGrpSpPr>
        <p:grpSpPr>
          <a:xfrm>
            <a:off x="793780" y="2608487"/>
            <a:ext cx="2974123" cy="3387729"/>
            <a:chOff x="870884" y="1648624"/>
            <a:chExt cx="2974123" cy="3387729"/>
          </a:xfrm>
        </p:grpSpPr>
        <p:sp>
          <p:nvSpPr>
            <p:cNvPr id="11" name="椭圆 10"/>
            <p:cNvSpPr/>
            <p:nvPr/>
          </p:nvSpPr>
          <p:spPr>
            <a:xfrm>
              <a:off x="870884" y="2062230"/>
              <a:ext cx="2974123" cy="297412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pic>
          <p:nvPicPr>
            <p:cNvPr id="10" name="图片 9"/>
            <p:cNvPicPr>
              <a:picLocks noChangeAspect="1"/>
            </p:cNvPicPr>
            <p:nvPr/>
          </p:nvPicPr>
          <p:blipFill rotWithShape="1">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r="32998"/>
            <a:stretch>
              <a:fillRect/>
            </a:stretch>
          </p:blipFill>
          <p:spPr>
            <a:xfrm>
              <a:off x="1220247" y="1857063"/>
              <a:ext cx="1957015" cy="3160925"/>
            </a:xfrm>
            <a:prstGeom prst="rect">
              <a:avLst/>
            </a:prstGeom>
          </p:spPr>
        </p:pic>
        <p:sp>
          <p:nvSpPr>
            <p:cNvPr id="5" name="文本框 4"/>
            <p:cNvSpPr txBox="1"/>
            <p:nvPr/>
          </p:nvSpPr>
          <p:spPr>
            <a:xfrm>
              <a:off x="2749140" y="1648624"/>
              <a:ext cx="258532" cy="1586951"/>
            </a:xfrm>
            <a:prstGeom prst="rect">
              <a:avLst/>
            </a:prstGeom>
            <a:noFill/>
          </p:spPr>
          <p:txBody>
            <a:bodyPr vert="eaVert" wrap="square" lIns="0" tIns="0" rIns="0" bIns="0" rtlCol="0" anchor="ctr">
              <a:spAutoFit/>
            </a:bodyPr>
            <a:lstStyle/>
            <a:p>
              <a:pPr marL="0" marR="0" lvl="0" indent="0" algn="dist" defTabSz="914400" rtl="0" eaLnBrk="1" fontAlgn="auto" latinLnBrk="0" hangingPunct="1">
                <a:lnSpc>
                  <a:spcPct val="120000"/>
                </a:lnSpc>
                <a:spcBef>
                  <a:spcPts val="0"/>
                </a:spcBef>
                <a:spcAft>
                  <a:spcPts val="100"/>
                </a:spcAft>
                <a:buClrTx/>
                <a:buSzTx/>
                <a:buFontTx/>
                <a:buNone/>
                <a:defRPr/>
              </a:pPr>
              <a:r>
                <a:rPr kumimoji="0" lang="en-US" altLang="zh-CN" sz="1400" b="1" i="0" u="none" strike="noStrike" kern="1200" cap="none" spc="0" normalizeH="0" baseline="0" noProof="0" dirty="0">
                  <a:ln>
                    <a:noFill/>
                  </a:ln>
                  <a:solidFill>
                    <a:srgbClr val="003F88"/>
                  </a:solidFill>
                  <a:effectLst/>
                  <a:uLnTx/>
                  <a:uFillTx/>
                  <a:latin typeface="Arial" panose="020B0604020202020204"/>
                  <a:ea typeface="微软雅黑" panose="020B0503020204020204" charset="-122"/>
                  <a:cs typeface="+mn-cs"/>
                </a:rPr>
                <a:t>CON</a:t>
              </a:r>
              <a:r>
                <a:rPr kumimoji="0" lang="en-US" altLang="zh-CN" sz="14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rPr>
                <a:t>TENTS</a:t>
              </a:r>
              <a:endParaRPr kumimoji="0" lang="zh-CN" altLang="en-US" sz="14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endParaRPr>
            </a:p>
          </p:txBody>
        </p:sp>
        <p:sp>
          <p:nvSpPr>
            <p:cNvPr id="6" name="文本框 5"/>
            <p:cNvSpPr txBox="1"/>
            <p:nvPr/>
          </p:nvSpPr>
          <p:spPr>
            <a:xfrm>
              <a:off x="2958610" y="1648624"/>
              <a:ext cx="886397" cy="1586951"/>
            </a:xfrm>
            <a:prstGeom prst="rect">
              <a:avLst/>
            </a:prstGeom>
            <a:noFill/>
          </p:spPr>
          <p:txBody>
            <a:bodyPr vert="eaVert" wrap="square" lIns="0" tIns="0" rIns="0" bIns="0" rtlCol="0" anchor="ctr">
              <a:spAutoFit/>
            </a:bodyPr>
            <a:lstStyle/>
            <a:p>
              <a:pPr marL="0" marR="0" lvl="0" indent="0" algn="dist" defTabSz="914400" rtl="0" eaLnBrk="1" fontAlgn="auto" latinLnBrk="0" hangingPunct="1">
                <a:lnSpc>
                  <a:spcPct val="120000"/>
                </a:lnSpc>
                <a:spcBef>
                  <a:spcPts val="0"/>
                </a:spcBef>
                <a:spcAft>
                  <a:spcPts val="100"/>
                </a:spcAft>
                <a:buClrTx/>
                <a:buSzTx/>
                <a:buFontTx/>
                <a:buNone/>
                <a:defRPr/>
              </a:pPr>
              <a:r>
                <a:rPr kumimoji="0" lang="zh-CN" altLang="en-US" sz="4800" b="1" i="0" u="none" strike="noStrike" kern="1200" cap="none" spc="0" normalizeH="0" baseline="0" noProof="0" dirty="0">
                  <a:ln>
                    <a:noFill/>
                  </a:ln>
                  <a:solidFill>
                    <a:srgbClr val="3F3F3F"/>
                  </a:solidFill>
                  <a:effectLst/>
                  <a:uLnTx/>
                  <a:uFillTx/>
                  <a:latin typeface="方正粗雅宋简体" panose="02000000000000000000" pitchFamily="2" charset="-122"/>
                  <a:ea typeface="方正粗雅宋简体" panose="02000000000000000000" pitchFamily="2" charset="-122"/>
                  <a:cs typeface="+mn-cs"/>
                </a:rPr>
                <a:t>目</a:t>
              </a:r>
              <a:r>
                <a:rPr kumimoji="0" lang="zh-CN" altLang="en-US" sz="4800" b="1" i="0" u="none" strike="noStrike" kern="1200" cap="none" spc="0" normalizeH="0" baseline="0" noProof="0" dirty="0">
                  <a:ln>
                    <a:noFill/>
                  </a:ln>
                  <a:solidFill>
                    <a:srgbClr val="FFFFFF"/>
                  </a:solidFill>
                  <a:effectLst/>
                  <a:uLnTx/>
                  <a:uFillTx/>
                  <a:latin typeface="方正粗雅宋简体" panose="02000000000000000000" pitchFamily="2" charset="-122"/>
                  <a:ea typeface="方正粗雅宋简体" panose="02000000000000000000" pitchFamily="2" charset="-122"/>
                  <a:cs typeface="+mn-cs"/>
                </a:rPr>
                <a:t>录</a:t>
              </a:r>
            </a:p>
          </p:txBody>
        </p:sp>
      </p:grpSp>
      <p:pic>
        <p:nvPicPr>
          <p:cNvPr id="54" name="图片 53"/>
          <p:cNvPicPr>
            <a:picLocks noChangeAspect="1"/>
          </p:cNvPicPr>
          <p:nvPr/>
        </p:nvPicPr>
        <p:blipFill rotWithShape="1">
          <a:blip r:embed="rId4">
            <a:alphaModFix amt="50000"/>
            <a:duotone>
              <a:prstClr val="black"/>
              <a:schemeClr val="accent4">
                <a:tint val="45000"/>
                <a:satMod val="400000"/>
              </a:schemeClr>
            </a:duotone>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r="32998"/>
          <a:stretch>
            <a:fillRect/>
          </a:stretch>
        </p:blipFill>
        <p:spPr>
          <a:xfrm>
            <a:off x="5586820" y="-1357083"/>
            <a:ext cx="5553465" cy="8969827"/>
          </a:xfrm>
          <a:prstGeom prst="rect">
            <a:avLst/>
          </a:prstGeom>
        </p:spPr>
      </p:pic>
      <p:grpSp>
        <p:nvGrpSpPr>
          <p:cNvPr id="2" name="组合 1">
            <a:extLst>
              <a:ext uri="{FF2B5EF4-FFF2-40B4-BE49-F238E27FC236}">
                <a16:creationId xmlns:a16="http://schemas.microsoft.com/office/drawing/2014/main" id="{0BA39782-877D-C2FC-2963-EF3AA6DE80BC}"/>
              </a:ext>
            </a:extLst>
          </p:cNvPr>
          <p:cNvGrpSpPr/>
          <p:nvPr/>
        </p:nvGrpSpPr>
        <p:grpSpPr>
          <a:xfrm>
            <a:off x="6096000" y="1687438"/>
            <a:ext cx="5810119" cy="3458306"/>
            <a:chOff x="6096000" y="1687438"/>
            <a:chExt cx="5810119" cy="3458306"/>
          </a:xfrm>
        </p:grpSpPr>
        <p:sp>
          <p:nvSpPr>
            <p:cNvPr id="4" name="文本框 3">
              <a:extLst>
                <a:ext uri="{FF2B5EF4-FFF2-40B4-BE49-F238E27FC236}">
                  <a16:creationId xmlns:a16="http://schemas.microsoft.com/office/drawing/2014/main" id="{489FB117-3B13-D07A-CB5F-E8CAC299FF91}"/>
                </a:ext>
              </a:extLst>
            </p:cNvPr>
            <p:cNvSpPr txBox="1"/>
            <p:nvPr/>
          </p:nvSpPr>
          <p:spPr>
            <a:xfrm>
              <a:off x="6096000" y="3056591"/>
              <a:ext cx="5210523" cy="720000"/>
            </a:xfrm>
            <a:prstGeom prst="rect">
              <a:avLst/>
            </a:prstGeom>
            <a:noFill/>
          </p:spPr>
          <p:txBody>
            <a:bodyPr wrap="square" lIns="0" tIns="0" rIns="0" bIns="0" rtlCol="0" anchor="ctr">
              <a:noAutofit/>
            </a:bodyPr>
            <a:lstStyle/>
            <a:p>
              <a:pPr>
                <a:lnSpc>
                  <a:spcPct val="120000"/>
                </a:lnSpc>
                <a:defRPr/>
              </a:pPr>
              <a:r>
                <a:rPr lang="en-US" altLang="zh-CN" sz="3600" b="1" dirty="0">
                  <a:solidFill>
                    <a:srgbClr val="3F3F3F"/>
                  </a:solidFill>
                  <a:latin typeface="Arial" panose="020B0604020202020204"/>
                  <a:ea typeface="微软雅黑" panose="020B0503020204020204" charset="-122"/>
                </a:rPr>
                <a:t>02 </a:t>
              </a:r>
              <a:r>
                <a:rPr lang="zh-CN" altLang="en-US" sz="3600" b="1" dirty="0">
                  <a:solidFill>
                    <a:srgbClr val="3F3F3F"/>
                  </a:solidFill>
                  <a:latin typeface="Arial" panose="020B0604020202020204"/>
                  <a:ea typeface="微软雅黑" panose="020B0503020204020204" charset="-122"/>
                </a:rPr>
                <a:t>敏捷开发流程</a:t>
              </a:r>
            </a:p>
          </p:txBody>
        </p:sp>
        <p:sp>
          <p:nvSpPr>
            <p:cNvPr id="7" name="文本框 6">
              <a:extLst>
                <a:ext uri="{FF2B5EF4-FFF2-40B4-BE49-F238E27FC236}">
                  <a16:creationId xmlns:a16="http://schemas.microsoft.com/office/drawing/2014/main" id="{8A8F8831-3BCF-EA74-DBA0-D2AE3091C4E8}"/>
                </a:ext>
              </a:extLst>
            </p:cNvPr>
            <p:cNvSpPr txBox="1"/>
            <p:nvPr/>
          </p:nvSpPr>
          <p:spPr>
            <a:xfrm>
              <a:off x="6096000" y="1687438"/>
              <a:ext cx="5210523" cy="720000"/>
            </a:xfrm>
            <a:prstGeom prst="rect">
              <a:avLst/>
            </a:prstGeom>
            <a:noFill/>
          </p:spPr>
          <p:txBody>
            <a:bodyPr wrap="square" lIns="0" tIns="0" rIns="0" bIns="0" rtlCol="0" anchor="ctr">
              <a:noAutofit/>
            </a:bodyPr>
            <a:lstStyle/>
            <a:p>
              <a:pPr marL="0" marR="0" lvl="0" indent="0" defTabSz="914400" rtl="0" eaLnBrk="1" fontAlgn="auto" latinLnBrk="0" hangingPunct="1">
                <a:lnSpc>
                  <a:spcPct val="12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chemeClr val="bg1">
                      <a:lumMod val="85000"/>
                    </a:schemeClr>
                  </a:solidFill>
                  <a:effectLst/>
                  <a:uLnTx/>
                  <a:uFillTx/>
                  <a:latin typeface="Arial" panose="020B0604020202020204"/>
                  <a:ea typeface="微软雅黑" panose="020B0503020204020204" charset="-122"/>
                  <a:cs typeface="+mn-cs"/>
                </a:rPr>
                <a:t>01 </a:t>
              </a:r>
              <a:r>
                <a:rPr lang="zh-CN" altLang="en-US" sz="3600" b="1" dirty="0">
                  <a:solidFill>
                    <a:schemeClr val="bg1">
                      <a:lumMod val="85000"/>
                    </a:schemeClr>
                  </a:solidFill>
                  <a:latin typeface="Arial" panose="020B0604020202020204"/>
                  <a:ea typeface="微软雅黑" panose="020B0503020204020204" charset="-122"/>
                </a:rPr>
                <a:t>敏捷开发内涵</a:t>
              </a:r>
              <a:endParaRPr lang="en-US" altLang="zh-CN" sz="3600" b="1" dirty="0">
                <a:solidFill>
                  <a:schemeClr val="bg1">
                    <a:lumMod val="85000"/>
                  </a:schemeClr>
                </a:solidFill>
                <a:latin typeface="Arial" panose="020B0604020202020204"/>
                <a:ea typeface="微软雅黑" panose="020B0503020204020204" charset="-122"/>
              </a:endParaRPr>
            </a:p>
          </p:txBody>
        </p:sp>
        <p:sp>
          <p:nvSpPr>
            <p:cNvPr id="8" name="文本框 7">
              <a:extLst>
                <a:ext uri="{FF2B5EF4-FFF2-40B4-BE49-F238E27FC236}">
                  <a16:creationId xmlns:a16="http://schemas.microsoft.com/office/drawing/2014/main" id="{878F69F1-5D4F-D5BB-286A-8E3EC8563158}"/>
                </a:ext>
              </a:extLst>
            </p:cNvPr>
            <p:cNvSpPr txBox="1"/>
            <p:nvPr/>
          </p:nvSpPr>
          <p:spPr>
            <a:xfrm>
              <a:off x="6096000" y="4425744"/>
              <a:ext cx="5810119" cy="720000"/>
            </a:xfrm>
            <a:prstGeom prst="rect">
              <a:avLst/>
            </a:prstGeom>
            <a:noFill/>
          </p:spPr>
          <p:txBody>
            <a:bodyPr wrap="square" lIns="0" tIns="0" rIns="0" bIns="0" rtlCol="0" anchor="ctr">
              <a:noAutofit/>
            </a:bodyPr>
            <a:lstStyle/>
            <a:p>
              <a:pPr>
                <a:lnSpc>
                  <a:spcPct val="120000"/>
                </a:lnSpc>
                <a:defRPr/>
              </a:pPr>
              <a:r>
                <a:rPr kumimoji="0" lang="en-US" altLang="zh-CN" sz="3600" b="1" i="0" u="none" strike="noStrike" kern="1200" cap="none" spc="0" normalizeH="0" baseline="0" noProof="0" dirty="0">
                  <a:ln>
                    <a:noFill/>
                  </a:ln>
                  <a:solidFill>
                    <a:schemeClr val="bg1">
                      <a:lumMod val="85000"/>
                    </a:schemeClr>
                  </a:solidFill>
                  <a:effectLst/>
                  <a:uLnTx/>
                  <a:uFillTx/>
                  <a:latin typeface="Arial" panose="020B0604020202020204"/>
                  <a:ea typeface="微软雅黑" panose="020B0503020204020204" charset="-122"/>
                  <a:cs typeface="+mn-cs"/>
                </a:rPr>
                <a:t>03 </a:t>
              </a:r>
              <a:r>
                <a:rPr kumimoji="0" lang="zh-CN" altLang="en-US" sz="3600" b="1" i="0" u="none" strike="noStrike" kern="1200" cap="none" spc="0" normalizeH="0" baseline="0" noProof="0" dirty="0">
                  <a:ln>
                    <a:noFill/>
                  </a:ln>
                  <a:solidFill>
                    <a:schemeClr val="bg1">
                      <a:lumMod val="85000"/>
                    </a:schemeClr>
                  </a:solidFill>
                  <a:effectLst/>
                  <a:uLnTx/>
                  <a:uFillTx/>
                  <a:latin typeface="Arial" panose="020B0604020202020204"/>
                  <a:ea typeface="微软雅黑" panose="020B0503020204020204" charset="-122"/>
                  <a:cs typeface="+mn-cs"/>
                </a:rPr>
                <a:t>敏捷开发方法</a:t>
              </a:r>
              <a:r>
                <a:rPr kumimoji="0" lang="en-US" altLang="zh-CN" sz="3600" b="1" i="0" u="none" strike="noStrike" kern="1200" cap="none" spc="0" normalizeH="0" baseline="0" noProof="0" dirty="0">
                  <a:ln>
                    <a:noFill/>
                  </a:ln>
                  <a:solidFill>
                    <a:schemeClr val="bg1">
                      <a:lumMod val="85000"/>
                    </a:schemeClr>
                  </a:solidFill>
                  <a:effectLst/>
                  <a:uLnTx/>
                  <a:uFillTx/>
                  <a:latin typeface="Arial" panose="020B0604020202020204"/>
                  <a:ea typeface="微软雅黑" panose="020B0503020204020204" charset="-122"/>
                  <a:cs typeface="+mn-cs"/>
                </a:rPr>
                <a:t>—Scrum</a:t>
              </a:r>
              <a:endParaRPr lang="zh-CN" altLang="en-US" sz="3600" b="1" dirty="0">
                <a:solidFill>
                  <a:schemeClr val="bg1">
                    <a:lumMod val="85000"/>
                  </a:schemeClr>
                </a:solidFill>
                <a:latin typeface="Arial" panose="020B0604020202020204"/>
                <a:ea typeface="微软雅黑" panose="020B0503020204020204" charset="-122"/>
              </a:endParaRPr>
            </a:p>
          </p:txBody>
        </p:sp>
      </p:grpSp>
    </p:spTree>
    <p:extLst>
      <p:ext uri="{BB962C8B-B14F-4D97-AF65-F5344CB8AC3E}">
        <p14:creationId xmlns:p14="http://schemas.microsoft.com/office/powerpoint/2010/main" val="24229716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sym typeface="+mn-ea"/>
              </a:rPr>
              <a:t>02 </a:t>
            </a:r>
            <a:r>
              <a:rPr lang="zh-CN" altLang="en-US" dirty="0">
                <a:sym typeface="+mn-ea"/>
              </a:rPr>
              <a:t>敏捷开发流程</a:t>
            </a:r>
            <a:endParaRPr lang="zh-CN" altLang="en-US" dirty="0"/>
          </a:p>
        </p:txBody>
      </p:sp>
      <p:sp>
        <p:nvSpPr>
          <p:cNvPr id="3" name="灯片编号占位符 2"/>
          <p:cNvSpPr>
            <a:spLocks noGrp="1"/>
          </p:cNvSpPr>
          <p:nvPr>
            <p:ph type="sldNum" sz="quarter" idx="12"/>
          </p:nvPr>
        </p:nvSpPr>
        <p:spPr/>
        <p:txBody>
          <a:bodyPr/>
          <a:lstStyle/>
          <a:p>
            <a:fld id="{1AAC388E-FA9E-4A2C-95EA-1F6B3A07935A}" type="slidenum">
              <a:rPr lang="zh-CN" altLang="en-US" sz="1400" smtClean="0">
                <a:solidFill>
                  <a:srgbClr val="000000"/>
                </a:solidFill>
              </a:rPr>
              <a:t>12</a:t>
            </a:fld>
            <a:endParaRPr lang="zh-CN" altLang="en-US" sz="1400" dirty="0">
              <a:solidFill>
                <a:srgbClr val="000000"/>
              </a:solidFill>
            </a:endParaRPr>
          </a:p>
        </p:txBody>
      </p:sp>
      <p:sp>
        <p:nvSpPr>
          <p:cNvPr id="11" name="文本框 10"/>
          <p:cNvSpPr txBox="1"/>
          <p:nvPr/>
        </p:nvSpPr>
        <p:spPr>
          <a:xfrm>
            <a:off x="991870" y="2775585"/>
            <a:ext cx="9883775" cy="3312160"/>
          </a:xfrm>
          <a:prstGeom prst="rect">
            <a:avLst/>
          </a:prstGeom>
          <a:noFill/>
        </p:spPr>
        <p:txBody>
          <a:bodyPr wrap="square" lIns="0" tIns="0" rIns="0" bIns="0" rtlCol="0" anchor="ctr">
            <a:noAutofit/>
          </a:bodyPr>
          <a:lstStyle/>
          <a:p>
            <a:pPr indent="0" algn="just" fontAlgn="auto">
              <a:lnSpc>
                <a:spcPct val="200000"/>
              </a:lnSpc>
              <a:buFont typeface="Wingdings" panose="05000000000000000000" charset="0"/>
              <a:buNone/>
            </a:pPr>
            <a:endParaRPr lang="en-US" sz="1600" kern="100" dirty="0">
              <a:effectLst/>
              <a:latin typeface="+mn-ea"/>
              <a:cs typeface="Times New Roman" panose="02020603050405020304" pitchFamily="18" charset="0"/>
            </a:endParaRPr>
          </a:p>
        </p:txBody>
      </p:sp>
      <p:sp>
        <p:nvSpPr>
          <p:cNvPr id="5" name="矩形 4"/>
          <p:cNvSpPr/>
          <p:nvPr/>
        </p:nvSpPr>
        <p:spPr>
          <a:xfrm>
            <a:off x="913765" y="933319"/>
            <a:ext cx="10512000" cy="5561016"/>
          </a:xfrm>
          <a:prstGeom prst="rect">
            <a:avLst/>
          </a:prstGeom>
          <a:noFill/>
          <a:ln w="28575" cmpd="sng">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85750" indent="-285750" algn="just" fontAlgn="auto">
              <a:lnSpc>
                <a:spcPct val="125000"/>
              </a:lnSpc>
              <a:buFont typeface="Wingdings" panose="05000000000000000000" charset="0"/>
              <a:buChar char="n"/>
            </a:pPr>
            <a:r>
              <a:rPr lang="en-US" altLang="zh-CN" b="1" kern="100" dirty="0" err="1">
                <a:solidFill>
                  <a:schemeClr val="tx1"/>
                </a:solidFill>
                <a:effectLst/>
                <a:latin typeface="+mn-ea"/>
                <a:cs typeface="Times New Roman" panose="02020603050405020304" pitchFamily="18" charset="0"/>
              </a:rPr>
              <a:t>需求分析（requirements</a:t>
            </a:r>
            <a:r>
              <a:rPr lang="en-US" altLang="zh-CN" b="1" kern="100" dirty="0">
                <a:solidFill>
                  <a:schemeClr val="tx1"/>
                </a:solidFill>
                <a:effectLst/>
                <a:latin typeface="+mn-ea"/>
                <a:cs typeface="Times New Roman" panose="02020603050405020304" pitchFamily="18" charset="0"/>
              </a:rPr>
              <a:t> analysis）</a:t>
            </a:r>
          </a:p>
          <a:p>
            <a:pPr marL="742950" lvl="1" indent="-285750" algn="just">
              <a:lnSpc>
                <a:spcPct val="125000"/>
              </a:lnSpc>
              <a:buFont typeface="Wingdings" panose="05000000000000000000" pitchFamily="2" charset="2"/>
              <a:buChar char="Ø"/>
            </a:pPr>
            <a:r>
              <a:rPr lang="en-US" altLang="zh-CN" b="1" kern="100" dirty="0" err="1">
                <a:solidFill>
                  <a:schemeClr val="tx1"/>
                </a:solidFill>
                <a:effectLst/>
                <a:latin typeface="+mn-ea"/>
                <a:cs typeface="Times New Roman" panose="02020603050405020304" pitchFamily="18" charset="0"/>
              </a:rPr>
              <a:t>确定利益相关者：</a:t>
            </a:r>
            <a:r>
              <a:rPr lang="en-US" altLang="zh-CN" kern="100" dirty="0" err="1">
                <a:solidFill>
                  <a:schemeClr val="tx1"/>
                </a:solidFill>
                <a:effectLst/>
                <a:latin typeface="+mn-ea"/>
                <a:cs typeface="Times New Roman" panose="02020603050405020304" pitchFamily="18" charset="0"/>
              </a:rPr>
              <a:t>确定项目中的各个利益相关者，他们对项目的关注点和需求，以及他们如何参与项目</a:t>
            </a:r>
            <a:r>
              <a:rPr lang="en-US" altLang="zh-CN" kern="100" dirty="0">
                <a:solidFill>
                  <a:schemeClr val="tx1"/>
                </a:solidFill>
                <a:effectLst/>
                <a:latin typeface="+mn-ea"/>
                <a:cs typeface="Times New Roman" panose="02020603050405020304" pitchFamily="18" charset="0"/>
              </a:rPr>
              <a:t>。</a:t>
            </a:r>
          </a:p>
          <a:p>
            <a:pPr marL="742950" lvl="1" indent="-285750" algn="just">
              <a:lnSpc>
                <a:spcPct val="125000"/>
              </a:lnSpc>
              <a:buFont typeface="Wingdings" panose="05000000000000000000" pitchFamily="2" charset="2"/>
              <a:buChar char="Ø"/>
            </a:pPr>
            <a:r>
              <a:rPr lang="en-US" altLang="zh-CN" b="1" kern="100" dirty="0">
                <a:solidFill>
                  <a:schemeClr val="tx1"/>
                </a:solidFill>
                <a:effectLst/>
                <a:latin typeface="+mn-ea"/>
                <a:cs typeface="Times New Roman" panose="02020603050405020304" pitchFamily="18" charset="0"/>
              </a:rPr>
              <a:t>确定用户故事：</a:t>
            </a:r>
            <a:r>
              <a:rPr lang="en-US" altLang="zh-CN" kern="100" dirty="0">
                <a:solidFill>
                  <a:schemeClr val="tx1"/>
                </a:solidFill>
                <a:effectLst/>
                <a:latin typeface="+mn-ea"/>
                <a:cs typeface="Times New Roman" panose="02020603050405020304" pitchFamily="18" charset="0"/>
              </a:rPr>
              <a:t>用户故事是一个简短的描述，描述了用户要完成的任务以及他们为什么要完成这个任务。用户故事通常采用以下格式：“作为一个[</a:t>
            </a:r>
            <a:r>
              <a:rPr lang="en-US" altLang="zh-CN" kern="100" dirty="0" err="1">
                <a:solidFill>
                  <a:schemeClr val="tx1"/>
                </a:solidFill>
                <a:effectLst/>
                <a:latin typeface="+mn-ea"/>
                <a:cs typeface="Times New Roman" panose="02020603050405020304" pitchFamily="18" charset="0"/>
              </a:rPr>
              <a:t>角色</a:t>
            </a:r>
            <a:r>
              <a:rPr lang="en-US" altLang="zh-CN" kern="100" dirty="0">
                <a:solidFill>
                  <a:schemeClr val="tx1"/>
                </a:solidFill>
                <a:effectLst/>
                <a:latin typeface="+mn-ea"/>
                <a:cs typeface="Times New Roman" panose="02020603050405020304" pitchFamily="18" charset="0"/>
              </a:rPr>
              <a:t>]，</a:t>
            </a:r>
            <a:r>
              <a:rPr lang="en-US" altLang="zh-CN" kern="100" dirty="0" err="1">
                <a:solidFill>
                  <a:schemeClr val="tx1"/>
                </a:solidFill>
                <a:effectLst/>
                <a:latin typeface="+mn-ea"/>
                <a:cs typeface="Times New Roman" panose="02020603050405020304" pitchFamily="18" charset="0"/>
              </a:rPr>
              <a:t>我想要</a:t>
            </a:r>
            <a:r>
              <a:rPr lang="en-US" altLang="zh-CN" kern="100" dirty="0">
                <a:solidFill>
                  <a:schemeClr val="tx1"/>
                </a:solidFill>
                <a:effectLst/>
                <a:latin typeface="+mn-ea"/>
                <a:cs typeface="Times New Roman" panose="02020603050405020304" pitchFamily="18" charset="0"/>
              </a:rPr>
              <a:t>[</a:t>
            </a:r>
            <a:r>
              <a:rPr lang="en-US" altLang="zh-CN" kern="100" dirty="0" err="1">
                <a:solidFill>
                  <a:schemeClr val="tx1"/>
                </a:solidFill>
                <a:effectLst/>
                <a:latin typeface="+mn-ea"/>
                <a:cs typeface="Times New Roman" panose="02020603050405020304" pitchFamily="18" charset="0"/>
              </a:rPr>
              <a:t>目标</a:t>
            </a:r>
            <a:r>
              <a:rPr lang="en-US" altLang="zh-CN" kern="100" dirty="0">
                <a:solidFill>
                  <a:schemeClr val="tx1"/>
                </a:solidFill>
                <a:effectLst/>
                <a:latin typeface="+mn-ea"/>
                <a:cs typeface="Times New Roman" panose="02020603050405020304" pitchFamily="18" charset="0"/>
              </a:rPr>
              <a:t>]，</a:t>
            </a:r>
            <a:r>
              <a:rPr lang="en-US" altLang="zh-CN" kern="100" dirty="0" err="1">
                <a:solidFill>
                  <a:schemeClr val="tx1"/>
                </a:solidFill>
                <a:effectLst/>
                <a:latin typeface="+mn-ea"/>
                <a:cs typeface="Times New Roman" panose="02020603050405020304" pitchFamily="18" charset="0"/>
              </a:rPr>
              <a:t>以便于</a:t>
            </a:r>
            <a:r>
              <a:rPr lang="en-US" altLang="zh-CN" kern="100" dirty="0">
                <a:solidFill>
                  <a:schemeClr val="tx1"/>
                </a:solidFill>
                <a:effectLst/>
                <a:latin typeface="+mn-ea"/>
                <a:cs typeface="Times New Roman" panose="02020603050405020304" pitchFamily="18" charset="0"/>
              </a:rPr>
              <a:t>[</a:t>
            </a:r>
            <a:r>
              <a:rPr lang="en-US" altLang="zh-CN" kern="100" dirty="0" err="1">
                <a:solidFill>
                  <a:schemeClr val="tx1"/>
                </a:solidFill>
                <a:effectLst/>
                <a:latin typeface="+mn-ea"/>
                <a:cs typeface="Times New Roman" panose="02020603050405020304" pitchFamily="18" charset="0"/>
              </a:rPr>
              <a:t>原因</a:t>
            </a:r>
            <a:r>
              <a:rPr lang="en-US" altLang="zh-CN" kern="100" dirty="0">
                <a:solidFill>
                  <a:schemeClr val="tx1"/>
                </a:solidFill>
                <a:effectLst/>
                <a:latin typeface="+mn-ea"/>
                <a:cs typeface="Times New Roman" panose="02020603050405020304" pitchFamily="18" charset="0"/>
              </a:rPr>
              <a:t>]”。</a:t>
            </a:r>
          </a:p>
          <a:p>
            <a:pPr marL="742950" lvl="1" indent="-285750" algn="just">
              <a:lnSpc>
                <a:spcPct val="125000"/>
              </a:lnSpc>
              <a:buFont typeface="Wingdings" panose="05000000000000000000" pitchFamily="2" charset="2"/>
              <a:buChar char="Ø"/>
            </a:pPr>
            <a:r>
              <a:rPr lang="en-US" altLang="zh-CN" b="1" kern="100" dirty="0" err="1">
                <a:solidFill>
                  <a:schemeClr val="tx1"/>
                </a:solidFill>
                <a:effectLst/>
                <a:latin typeface="+mn-ea"/>
                <a:cs typeface="Times New Roman" panose="02020603050405020304" pitchFamily="18" charset="0"/>
              </a:rPr>
              <a:t>评估和排序用户故事：</a:t>
            </a:r>
            <a:r>
              <a:rPr lang="en-US" altLang="zh-CN" kern="100" dirty="0" err="1">
                <a:solidFill>
                  <a:schemeClr val="tx1"/>
                </a:solidFill>
                <a:effectLst/>
                <a:latin typeface="+mn-ea"/>
                <a:cs typeface="Times New Roman" panose="02020603050405020304" pitchFamily="18" charset="0"/>
              </a:rPr>
              <a:t>将用户故事按照优先级排序，以便于团队可以集中精力完成最重要的功能</a:t>
            </a:r>
            <a:r>
              <a:rPr lang="en-US" altLang="zh-CN" kern="100" dirty="0">
                <a:solidFill>
                  <a:schemeClr val="tx1"/>
                </a:solidFill>
                <a:effectLst/>
                <a:latin typeface="+mn-ea"/>
                <a:cs typeface="Times New Roman" panose="02020603050405020304" pitchFamily="18" charset="0"/>
              </a:rPr>
              <a:t>。</a:t>
            </a:r>
          </a:p>
          <a:p>
            <a:pPr marL="742950" lvl="1" indent="-285750" algn="just">
              <a:lnSpc>
                <a:spcPct val="125000"/>
              </a:lnSpc>
              <a:buFont typeface="Wingdings" panose="05000000000000000000" pitchFamily="2" charset="2"/>
              <a:buChar char="Ø"/>
            </a:pPr>
            <a:r>
              <a:rPr lang="en-US" altLang="zh-CN" b="1" kern="100" dirty="0">
                <a:solidFill>
                  <a:schemeClr val="tx1"/>
                </a:solidFill>
                <a:effectLst/>
                <a:latin typeface="+mn-ea"/>
                <a:cs typeface="Times New Roman" panose="02020603050405020304" pitchFamily="18" charset="0"/>
              </a:rPr>
              <a:t>划分迭代：</a:t>
            </a:r>
            <a:r>
              <a:rPr lang="en-US" altLang="zh-CN" kern="100" dirty="0">
                <a:solidFill>
                  <a:schemeClr val="tx1"/>
                </a:solidFill>
                <a:effectLst/>
                <a:latin typeface="+mn-ea"/>
                <a:cs typeface="Times New Roman" panose="02020603050405020304" pitchFamily="18" charset="0"/>
              </a:rPr>
              <a:t>将用户故事分配到迭代中，以便于团队可以集中精力完成一小部分功能。每个迭代通常持续1到4周。</a:t>
            </a:r>
          </a:p>
          <a:p>
            <a:pPr marL="742950" lvl="1" indent="-285750" algn="just">
              <a:lnSpc>
                <a:spcPct val="125000"/>
              </a:lnSpc>
              <a:buFont typeface="Wingdings" panose="05000000000000000000" pitchFamily="2" charset="2"/>
              <a:buChar char="Ø"/>
            </a:pPr>
            <a:r>
              <a:rPr lang="en-US" altLang="zh-CN" b="1" kern="100" dirty="0" err="1">
                <a:solidFill>
                  <a:schemeClr val="tx1"/>
                </a:solidFill>
                <a:effectLst/>
                <a:latin typeface="+mn-ea"/>
                <a:cs typeface="Times New Roman" panose="02020603050405020304" pitchFamily="18" charset="0"/>
              </a:rPr>
              <a:t>详细说明用户故事：</a:t>
            </a:r>
            <a:r>
              <a:rPr lang="en-US" altLang="zh-CN" kern="100" dirty="0" err="1">
                <a:solidFill>
                  <a:schemeClr val="tx1"/>
                </a:solidFill>
                <a:effectLst/>
                <a:latin typeface="+mn-ea"/>
                <a:cs typeface="Times New Roman" panose="02020603050405020304" pitchFamily="18" charset="0"/>
              </a:rPr>
              <a:t>在每个迭代开始之前，团队将会对即将完成的用户故事进行详细说明，以确保团队对需求的理解是一致的</a:t>
            </a:r>
            <a:r>
              <a:rPr lang="en-US" altLang="zh-CN" kern="100" dirty="0">
                <a:solidFill>
                  <a:schemeClr val="tx1"/>
                </a:solidFill>
                <a:effectLst/>
                <a:latin typeface="+mn-ea"/>
                <a:cs typeface="Times New Roman" panose="02020603050405020304" pitchFamily="18" charset="0"/>
              </a:rPr>
              <a:t>。</a:t>
            </a:r>
          </a:p>
          <a:p>
            <a:pPr marL="742950" lvl="1" indent="-285750" algn="just">
              <a:lnSpc>
                <a:spcPct val="125000"/>
              </a:lnSpc>
              <a:buFont typeface="Wingdings" panose="05000000000000000000" pitchFamily="2" charset="2"/>
              <a:buChar char="Ø"/>
            </a:pPr>
            <a:r>
              <a:rPr lang="en-US" altLang="zh-CN" b="1" kern="100" dirty="0" err="1">
                <a:solidFill>
                  <a:schemeClr val="tx1"/>
                </a:solidFill>
                <a:effectLst/>
                <a:latin typeface="+mn-ea"/>
                <a:cs typeface="Times New Roman" panose="02020603050405020304" pitchFamily="18" charset="0"/>
              </a:rPr>
              <a:t>确定验收标准：</a:t>
            </a:r>
            <a:r>
              <a:rPr lang="en-US" altLang="zh-CN" kern="100" dirty="0" err="1">
                <a:solidFill>
                  <a:schemeClr val="tx1"/>
                </a:solidFill>
                <a:effectLst/>
                <a:latin typeface="+mn-ea"/>
                <a:cs typeface="Times New Roman" panose="02020603050405020304" pitchFamily="18" charset="0"/>
              </a:rPr>
              <a:t>团队将会与客户一起确定验收标准，以确保团队按照客户的期望完成用户故事</a:t>
            </a:r>
            <a:r>
              <a:rPr lang="en-US" altLang="zh-CN" kern="100" dirty="0">
                <a:solidFill>
                  <a:schemeClr val="tx1"/>
                </a:solidFill>
                <a:effectLst/>
                <a:latin typeface="+mn-ea"/>
                <a:cs typeface="Times New Roman" panose="02020603050405020304" pitchFamily="18" charset="0"/>
              </a:rPr>
              <a:t>。</a:t>
            </a:r>
          </a:p>
          <a:p>
            <a:pPr marL="742950" lvl="1" indent="-285750" algn="just">
              <a:lnSpc>
                <a:spcPct val="125000"/>
              </a:lnSpc>
              <a:buFont typeface="Wingdings" panose="05000000000000000000" pitchFamily="2" charset="2"/>
              <a:buChar char="Ø"/>
            </a:pPr>
            <a:r>
              <a:rPr lang="en-US" altLang="zh-CN" b="1" kern="100" dirty="0" err="1">
                <a:solidFill>
                  <a:schemeClr val="tx1"/>
                </a:solidFill>
                <a:effectLst/>
                <a:latin typeface="+mn-ea"/>
                <a:cs typeface="Times New Roman" panose="02020603050405020304" pitchFamily="18" charset="0"/>
              </a:rPr>
              <a:t>完成用户故事：</a:t>
            </a:r>
            <a:r>
              <a:rPr lang="en-US" altLang="zh-CN" kern="100" dirty="0" err="1">
                <a:solidFill>
                  <a:schemeClr val="tx1"/>
                </a:solidFill>
                <a:effectLst/>
                <a:latin typeface="+mn-ea"/>
                <a:cs typeface="Times New Roman" panose="02020603050405020304" pitchFamily="18" charset="0"/>
              </a:rPr>
              <a:t>在每个迭代结束时，团队将会完成一些用户故事，并在下一个迭代中继续完成其他用户故事</a:t>
            </a:r>
            <a:r>
              <a:rPr lang="en-US" altLang="zh-CN" kern="100" dirty="0">
                <a:solidFill>
                  <a:schemeClr val="tx1"/>
                </a:solidFill>
                <a:effectLst/>
                <a:latin typeface="+mn-ea"/>
                <a:cs typeface="Times New Roman" panose="02020603050405020304" pitchFamily="18" charset="0"/>
              </a:rPr>
              <a: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sym typeface="+mn-ea"/>
              </a:rPr>
              <a:t>02 </a:t>
            </a:r>
            <a:r>
              <a:rPr lang="zh-CN" altLang="en-US" dirty="0">
                <a:sym typeface="+mn-ea"/>
              </a:rPr>
              <a:t>敏捷开发流程</a:t>
            </a:r>
            <a:endParaRPr lang="zh-CN" altLang="en-US" dirty="0"/>
          </a:p>
        </p:txBody>
      </p:sp>
      <p:sp>
        <p:nvSpPr>
          <p:cNvPr id="3" name="灯片编号占位符 2"/>
          <p:cNvSpPr>
            <a:spLocks noGrp="1"/>
          </p:cNvSpPr>
          <p:nvPr>
            <p:ph type="sldNum" sz="quarter" idx="12"/>
          </p:nvPr>
        </p:nvSpPr>
        <p:spPr/>
        <p:txBody>
          <a:bodyPr/>
          <a:lstStyle/>
          <a:p>
            <a:fld id="{1AAC388E-FA9E-4A2C-95EA-1F6B3A07935A}" type="slidenum">
              <a:rPr lang="zh-CN" altLang="en-US" sz="1400" smtClean="0">
                <a:solidFill>
                  <a:srgbClr val="000000"/>
                </a:solidFill>
              </a:rPr>
              <a:t>13</a:t>
            </a:fld>
            <a:endParaRPr lang="zh-CN" altLang="en-US" sz="1400" dirty="0">
              <a:solidFill>
                <a:srgbClr val="000000"/>
              </a:solidFill>
            </a:endParaRPr>
          </a:p>
        </p:txBody>
      </p:sp>
      <p:sp>
        <p:nvSpPr>
          <p:cNvPr id="11" name="文本框 10"/>
          <p:cNvSpPr txBox="1"/>
          <p:nvPr/>
        </p:nvSpPr>
        <p:spPr>
          <a:xfrm>
            <a:off x="991870" y="2775585"/>
            <a:ext cx="10008235" cy="3312160"/>
          </a:xfrm>
          <a:prstGeom prst="rect">
            <a:avLst/>
          </a:prstGeom>
          <a:noFill/>
        </p:spPr>
        <p:txBody>
          <a:bodyPr wrap="square" lIns="0" tIns="0" rIns="0" bIns="0" rtlCol="0" anchor="ctr">
            <a:noAutofit/>
          </a:bodyPr>
          <a:lstStyle/>
          <a:p>
            <a:pPr indent="0" algn="just" fontAlgn="auto">
              <a:lnSpc>
                <a:spcPct val="200000"/>
              </a:lnSpc>
              <a:buFont typeface="Wingdings" panose="05000000000000000000" charset="0"/>
              <a:buNone/>
            </a:pPr>
            <a:endParaRPr lang="en-US" sz="1600" kern="100" dirty="0">
              <a:effectLst/>
              <a:latin typeface="+mn-ea"/>
              <a:cs typeface="Times New Roman" panose="02020603050405020304" pitchFamily="18" charset="0"/>
            </a:endParaRPr>
          </a:p>
        </p:txBody>
      </p:sp>
      <p:sp>
        <p:nvSpPr>
          <p:cNvPr id="5" name="矩形 4"/>
          <p:cNvSpPr/>
          <p:nvPr/>
        </p:nvSpPr>
        <p:spPr>
          <a:xfrm>
            <a:off x="913764" y="927012"/>
            <a:ext cx="10512000" cy="5392508"/>
          </a:xfrm>
          <a:prstGeom prst="rect">
            <a:avLst/>
          </a:prstGeom>
          <a:noFill/>
          <a:ln w="28575" cmpd="sng">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85750" indent="-285750" algn="just" fontAlgn="auto">
              <a:lnSpc>
                <a:spcPct val="125000"/>
              </a:lnSpc>
              <a:buFont typeface="Wingdings" panose="05000000000000000000" charset="0"/>
              <a:buChar char="n"/>
            </a:pPr>
            <a:r>
              <a:rPr lang="en-US" altLang="zh-CN" sz="1800" b="1" kern="100" dirty="0" err="1">
                <a:solidFill>
                  <a:schemeClr val="tx1"/>
                </a:solidFill>
                <a:effectLst/>
                <a:latin typeface="+mn-ea"/>
                <a:cs typeface="Times New Roman" panose="02020603050405020304" pitchFamily="18" charset="0"/>
              </a:rPr>
              <a:t>产品设计（design</a:t>
            </a:r>
            <a:r>
              <a:rPr lang="en-US" altLang="zh-CN" sz="1800" b="1" kern="100" dirty="0">
                <a:solidFill>
                  <a:schemeClr val="tx1"/>
                </a:solidFill>
                <a:effectLst/>
                <a:latin typeface="+mn-ea"/>
                <a:cs typeface="Times New Roman" panose="02020603050405020304" pitchFamily="18" charset="0"/>
              </a:rPr>
              <a:t>）</a:t>
            </a:r>
          </a:p>
          <a:p>
            <a:pPr marL="742950" lvl="1" indent="-285750" algn="just">
              <a:lnSpc>
                <a:spcPct val="125000"/>
              </a:lnSpc>
              <a:buFont typeface="Wingdings" panose="05000000000000000000" pitchFamily="2" charset="2"/>
              <a:buChar char="Ø"/>
            </a:pPr>
            <a:r>
              <a:rPr lang="en-US" altLang="zh-CN" b="1" kern="100" dirty="0" err="1">
                <a:solidFill>
                  <a:schemeClr val="tx1"/>
                </a:solidFill>
                <a:effectLst/>
                <a:latin typeface="+mn-ea"/>
                <a:cs typeface="Times New Roman" panose="02020603050405020304" pitchFamily="18" charset="0"/>
              </a:rPr>
              <a:t>确定产品愿景：</a:t>
            </a:r>
            <a:r>
              <a:rPr lang="en-US" altLang="zh-CN" kern="100" dirty="0" err="1">
                <a:solidFill>
                  <a:schemeClr val="tx1"/>
                </a:solidFill>
                <a:effectLst/>
                <a:latin typeface="+mn-ea"/>
                <a:cs typeface="Times New Roman" panose="02020603050405020304" pitchFamily="18" charset="0"/>
              </a:rPr>
              <a:t>产品愿景是产品的长期目标和方向，它应该与客户需求相匹配，并且可以激励团队实现这些目标</a:t>
            </a:r>
            <a:r>
              <a:rPr lang="en-US" altLang="zh-CN" kern="100" dirty="0">
                <a:solidFill>
                  <a:schemeClr val="tx1"/>
                </a:solidFill>
                <a:effectLst/>
                <a:latin typeface="+mn-ea"/>
                <a:cs typeface="Times New Roman" panose="02020603050405020304" pitchFamily="18" charset="0"/>
              </a:rPr>
              <a:t>。</a:t>
            </a:r>
          </a:p>
          <a:p>
            <a:pPr marL="742950" lvl="1" indent="-285750" algn="just">
              <a:lnSpc>
                <a:spcPct val="125000"/>
              </a:lnSpc>
              <a:buFont typeface="Wingdings" panose="05000000000000000000" pitchFamily="2" charset="2"/>
              <a:buChar char="Ø"/>
            </a:pPr>
            <a:r>
              <a:rPr lang="en-US" altLang="zh-CN" b="1" kern="100" dirty="0" err="1">
                <a:solidFill>
                  <a:schemeClr val="tx1"/>
                </a:solidFill>
                <a:effectLst/>
                <a:latin typeface="+mn-ea"/>
                <a:cs typeface="Times New Roman" panose="02020603050405020304" pitchFamily="18" charset="0"/>
              </a:rPr>
              <a:t>确定用户画像：</a:t>
            </a:r>
            <a:r>
              <a:rPr lang="en-US" altLang="zh-CN" kern="100" dirty="0" err="1">
                <a:solidFill>
                  <a:schemeClr val="tx1"/>
                </a:solidFill>
                <a:effectLst/>
                <a:latin typeface="+mn-ea"/>
                <a:cs typeface="Times New Roman" panose="02020603050405020304" pitchFamily="18" charset="0"/>
              </a:rPr>
              <a:t>用户画像是一个描述用户特点和需求的模型。它可以帮助团队更好地理解目标用户，并将设计重点放在关键功能上</a:t>
            </a:r>
            <a:r>
              <a:rPr lang="en-US" altLang="zh-CN" kern="100" dirty="0">
                <a:solidFill>
                  <a:schemeClr val="tx1"/>
                </a:solidFill>
                <a:effectLst/>
                <a:latin typeface="+mn-ea"/>
                <a:cs typeface="Times New Roman" panose="02020603050405020304" pitchFamily="18" charset="0"/>
              </a:rPr>
              <a:t>。</a:t>
            </a:r>
          </a:p>
          <a:p>
            <a:pPr marL="742950" lvl="1" indent="-285750" algn="just">
              <a:lnSpc>
                <a:spcPct val="125000"/>
              </a:lnSpc>
              <a:buFont typeface="Wingdings" panose="05000000000000000000" pitchFamily="2" charset="2"/>
              <a:buChar char="Ø"/>
            </a:pPr>
            <a:r>
              <a:rPr lang="en-US" altLang="zh-CN" b="1" kern="100" dirty="0">
                <a:solidFill>
                  <a:schemeClr val="tx1"/>
                </a:solidFill>
                <a:effectLst/>
                <a:latin typeface="+mn-ea"/>
                <a:cs typeface="Times New Roman" panose="02020603050405020304" pitchFamily="18" charset="0"/>
              </a:rPr>
              <a:t>制定产品路线图：</a:t>
            </a:r>
            <a:r>
              <a:rPr lang="en-US" altLang="zh-CN" kern="100" dirty="0">
                <a:solidFill>
                  <a:schemeClr val="tx1"/>
                </a:solidFill>
                <a:effectLst/>
                <a:latin typeface="+mn-ea"/>
                <a:cs typeface="Times New Roman" panose="02020603050405020304" pitchFamily="18" charset="0"/>
              </a:rPr>
              <a:t>产品路线图是产品的高层计划，它描述了产品的演进路径和功能的优先级。它可以帮助团队在整个开发过程中保持一致，并确保产品的开发方向符合客户的期望。</a:t>
            </a:r>
          </a:p>
          <a:p>
            <a:pPr marL="742950" lvl="1" indent="-285750" algn="just">
              <a:lnSpc>
                <a:spcPct val="125000"/>
              </a:lnSpc>
              <a:buFont typeface="Wingdings" panose="05000000000000000000" pitchFamily="2" charset="2"/>
              <a:buChar char="Ø"/>
            </a:pPr>
            <a:r>
              <a:rPr lang="en-US" altLang="zh-CN" b="1" kern="100" dirty="0">
                <a:solidFill>
                  <a:schemeClr val="tx1"/>
                </a:solidFill>
                <a:effectLst/>
                <a:latin typeface="+mn-ea"/>
                <a:cs typeface="Times New Roman" panose="02020603050405020304" pitchFamily="18" charset="0"/>
              </a:rPr>
              <a:t>制定用户故事：</a:t>
            </a:r>
            <a:r>
              <a:rPr lang="en-US" altLang="zh-CN" kern="100" dirty="0">
                <a:solidFill>
                  <a:schemeClr val="tx1"/>
                </a:solidFill>
                <a:effectLst/>
                <a:latin typeface="+mn-ea"/>
                <a:cs typeface="Times New Roman" panose="02020603050405020304" pitchFamily="18" charset="0"/>
              </a:rPr>
              <a:t>用户故事是一个简短的描述，描述了用户要完成的任务以及他们为什么要完成这个任务。它可以帮助团队更好地理解用户需求，并将需求转化为可执行的设计任务。</a:t>
            </a:r>
          </a:p>
          <a:p>
            <a:pPr marL="742950" lvl="1" indent="-285750" algn="just">
              <a:lnSpc>
                <a:spcPct val="125000"/>
              </a:lnSpc>
              <a:buFont typeface="Wingdings" panose="05000000000000000000" pitchFamily="2" charset="2"/>
              <a:buChar char="Ø"/>
            </a:pPr>
            <a:r>
              <a:rPr lang="en-US" altLang="zh-CN" b="1" kern="100" dirty="0" err="1">
                <a:solidFill>
                  <a:schemeClr val="tx1"/>
                </a:solidFill>
                <a:effectLst/>
                <a:latin typeface="+mn-ea"/>
                <a:cs typeface="Times New Roman" panose="02020603050405020304" pitchFamily="18" charset="0"/>
              </a:rPr>
              <a:t>进行原型设计和测试：</a:t>
            </a:r>
            <a:r>
              <a:rPr lang="en-US" altLang="zh-CN" kern="100" dirty="0" err="1">
                <a:solidFill>
                  <a:schemeClr val="tx1"/>
                </a:solidFill>
                <a:effectLst/>
                <a:latin typeface="+mn-ea"/>
                <a:cs typeface="Times New Roman" panose="02020603050405020304" pitchFamily="18" charset="0"/>
              </a:rPr>
              <a:t>在设计过程中，团队应该制作原型并与客户进行测试，以确保设计符合客户需求</a:t>
            </a:r>
            <a:r>
              <a:rPr lang="en-US" altLang="zh-CN" kern="100" dirty="0">
                <a:solidFill>
                  <a:schemeClr val="tx1"/>
                </a:solidFill>
                <a:effectLst/>
                <a:latin typeface="+mn-ea"/>
                <a:cs typeface="Times New Roman" panose="02020603050405020304" pitchFamily="18" charset="0"/>
              </a:rPr>
              <a:t>。</a:t>
            </a:r>
          </a:p>
          <a:p>
            <a:pPr marL="742950" lvl="1" indent="-285750" algn="just">
              <a:lnSpc>
                <a:spcPct val="125000"/>
              </a:lnSpc>
              <a:buFont typeface="Wingdings" panose="05000000000000000000" pitchFamily="2" charset="2"/>
              <a:buChar char="Ø"/>
            </a:pPr>
            <a:r>
              <a:rPr lang="en-US" altLang="zh-CN" kern="100" dirty="0" err="1">
                <a:solidFill>
                  <a:schemeClr val="tx1"/>
                </a:solidFill>
                <a:effectLst/>
                <a:latin typeface="+mn-ea"/>
                <a:cs typeface="Times New Roman" panose="02020603050405020304" pitchFamily="18" charset="0"/>
              </a:rPr>
              <a:t>持续迭代和改进：在整个开发过程中，团队应该持续地与客户合作，收集反馈，并根据反馈不断改进产品设计</a:t>
            </a:r>
            <a:r>
              <a:rPr lang="en-US" altLang="zh-CN" kern="100" dirty="0">
                <a:solidFill>
                  <a:schemeClr val="tx1"/>
                </a:solidFill>
                <a:effectLst/>
                <a:latin typeface="+mn-ea"/>
                <a:cs typeface="Times New Roman" panose="02020603050405020304" pitchFamily="18" charset="0"/>
              </a:rPr>
              <a: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sym typeface="+mn-ea"/>
              </a:rPr>
              <a:t>02 </a:t>
            </a:r>
            <a:r>
              <a:rPr lang="zh-CN" altLang="en-US" dirty="0">
                <a:sym typeface="+mn-ea"/>
              </a:rPr>
              <a:t>敏捷开发流程</a:t>
            </a:r>
            <a:endParaRPr lang="zh-CN" altLang="en-US" dirty="0"/>
          </a:p>
        </p:txBody>
      </p:sp>
      <p:sp>
        <p:nvSpPr>
          <p:cNvPr id="3" name="灯片编号占位符 2"/>
          <p:cNvSpPr>
            <a:spLocks noGrp="1"/>
          </p:cNvSpPr>
          <p:nvPr>
            <p:ph type="sldNum" sz="quarter" idx="12"/>
          </p:nvPr>
        </p:nvSpPr>
        <p:spPr/>
        <p:txBody>
          <a:bodyPr/>
          <a:lstStyle/>
          <a:p>
            <a:fld id="{1AAC388E-FA9E-4A2C-95EA-1F6B3A07935A}" type="slidenum">
              <a:rPr lang="zh-CN" altLang="en-US" sz="1400" smtClean="0">
                <a:solidFill>
                  <a:srgbClr val="000000"/>
                </a:solidFill>
              </a:rPr>
              <a:t>14</a:t>
            </a:fld>
            <a:endParaRPr lang="zh-CN" altLang="en-US" sz="1400" dirty="0">
              <a:solidFill>
                <a:srgbClr val="000000"/>
              </a:solidFill>
            </a:endParaRPr>
          </a:p>
        </p:txBody>
      </p:sp>
      <p:sp>
        <p:nvSpPr>
          <p:cNvPr id="7" name="矩形 6"/>
          <p:cNvSpPr/>
          <p:nvPr/>
        </p:nvSpPr>
        <p:spPr>
          <a:xfrm>
            <a:off x="913764" y="945931"/>
            <a:ext cx="10512000" cy="5373590"/>
          </a:xfrm>
          <a:prstGeom prst="rect">
            <a:avLst/>
          </a:prstGeom>
          <a:noFill/>
          <a:ln w="28575" cmpd="sng">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85750" indent="-285750" algn="just" fontAlgn="auto">
              <a:lnSpc>
                <a:spcPct val="125000"/>
              </a:lnSpc>
              <a:buFont typeface="Wingdings" panose="05000000000000000000" charset="0"/>
              <a:buChar char="n"/>
            </a:pPr>
            <a:r>
              <a:rPr lang="en-US" altLang="zh-CN" sz="1800" b="1" kern="100" dirty="0" err="1">
                <a:solidFill>
                  <a:schemeClr val="tx1"/>
                </a:solidFill>
                <a:effectLst/>
                <a:latin typeface="+mn-ea"/>
                <a:cs typeface="Times New Roman" panose="02020603050405020304" pitchFamily="18" charset="0"/>
              </a:rPr>
              <a:t>功能编码（coding</a:t>
            </a:r>
            <a:r>
              <a:rPr lang="en-US" altLang="zh-CN" sz="1800" b="1" kern="100" dirty="0">
                <a:solidFill>
                  <a:schemeClr val="tx1"/>
                </a:solidFill>
                <a:effectLst/>
                <a:latin typeface="+mn-ea"/>
                <a:cs typeface="Times New Roman" panose="02020603050405020304" pitchFamily="18" charset="0"/>
              </a:rPr>
              <a:t>）</a:t>
            </a:r>
          </a:p>
          <a:p>
            <a:pPr marL="742950" lvl="1" indent="-285750" algn="just">
              <a:lnSpc>
                <a:spcPct val="125000"/>
              </a:lnSpc>
              <a:buFont typeface="Wingdings" panose="05000000000000000000" pitchFamily="2" charset="2"/>
              <a:buChar char="Ø"/>
            </a:pPr>
            <a:r>
              <a:rPr lang="en-US" altLang="zh-CN" b="1" kern="100" dirty="0" err="1">
                <a:solidFill>
                  <a:schemeClr val="tx1"/>
                </a:solidFill>
                <a:effectLst/>
                <a:latin typeface="+mn-ea"/>
                <a:cs typeface="Times New Roman" panose="02020603050405020304" pitchFamily="18" charset="0"/>
              </a:rPr>
              <a:t>制定编码标准：</a:t>
            </a:r>
            <a:r>
              <a:rPr lang="en-US" altLang="zh-CN" kern="100" dirty="0" err="1">
                <a:solidFill>
                  <a:schemeClr val="tx1"/>
                </a:solidFill>
                <a:effectLst/>
                <a:latin typeface="+mn-ea"/>
                <a:cs typeface="Times New Roman" panose="02020603050405020304" pitchFamily="18" charset="0"/>
              </a:rPr>
              <a:t>团队应该制定一致的编码标准，以确保所有代码都符合同一标准，并且易于维护和修改</a:t>
            </a:r>
            <a:r>
              <a:rPr lang="en-US" altLang="zh-CN" kern="100" dirty="0">
                <a:solidFill>
                  <a:schemeClr val="tx1"/>
                </a:solidFill>
                <a:effectLst/>
                <a:latin typeface="+mn-ea"/>
                <a:cs typeface="Times New Roman" panose="02020603050405020304" pitchFamily="18" charset="0"/>
              </a:rPr>
              <a:t>。</a:t>
            </a:r>
          </a:p>
          <a:p>
            <a:pPr marL="742950" lvl="1" indent="-285750" algn="just">
              <a:lnSpc>
                <a:spcPct val="125000"/>
              </a:lnSpc>
              <a:buFont typeface="Wingdings" panose="05000000000000000000" pitchFamily="2" charset="2"/>
              <a:buChar char="Ø"/>
            </a:pPr>
            <a:r>
              <a:rPr lang="en-US" altLang="zh-CN" b="1" kern="100" dirty="0" err="1">
                <a:solidFill>
                  <a:schemeClr val="tx1"/>
                </a:solidFill>
                <a:effectLst/>
                <a:latin typeface="+mn-ea"/>
                <a:cs typeface="Times New Roman" panose="02020603050405020304" pitchFamily="18" charset="0"/>
              </a:rPr>
              <a:t>小步快速迭代：</a:t>
            </a:r>
            <a:r>
              <a:rPr lang="en-US" altLang="zh-CN" kern="100" dirty="0" err="1">
                <a:solidFill>
                  <a:schemeClr val="tx1"/>
                </a:solidFill>
                <a:effectLst/>
                <a:latin typeface="+mn-ea"/>
                <a:cs typeface="Times New Roman" panose="02020603050405020304" pitchFamily="18" charset="0"/>
              </a:rPr>
              <a:t>团队应该采用小步快速迭代的方式进行开发，每个迭代完成一些用户故事或功能点</a:t>
            </a:r>
            <a:r>
              <a:rPr lang="en-US" altLang="zh-CN" kern="100" dirty="0">
                <a:solidFill>
                  <a:schemeClr val="tx1"/>
                </a:solidFill>
                <a:effectLst/>
                <a:latin typeface="+mn-ea"/>
                <a:cs typeface="Times New Roman" panose="02020603050405020304" pitchFamily="18" charset="0"/>
              </a:rPr>
              <a:t>。</a:t>
            </a:r>
          </a:p>
          <a:p>
            <a:pPr marL="742950" lvl="1" indent="-285750" algn="just">
              <a:lnSpc>
                <a:spcPct val="125000"/>
              </a:lnSpc>
              <a:buFont typeface="Wingdings" panose="05000000000000000000" pitchFamily="2" charset="2"/>
              <a:buChar char="Ø"/>
            </a:pPr>
            <a:r>
              <a:rPr lang="en-US" altLang="zh-CN" b="1" kern="100" dirty="0" err="1">
                <a:solidFill>
                  <a:schemeClr val="tx1"/>
                </a:solidFill>
                <a:effectLst/>
                <a:latin typeface="+mn-ea"/>
                <a:cs typeface="Times New Roman" panose="02020603050405020304" pitchFamily="18" charset="0"/>
              </a:rPr>
              <a:t>持续集成：</a:t>
            </a:r>
            <a:r>
              <a:rPr lang="en-US" altLang="zh-CN" kern="100" dirty="0" err="1">
                <a:solidFill>
                  <a:schemeClr val="tx1"/>
                </a:solidFill>
                <a:effectLst/>
                <a:latin typeface="+mn-ea"/>
                <a:cs typeface="Times New Roman" panose="02020603050405020304" pitchFamily="18" charset="0"/>
              </a:rPr>
              <a:t>团队应该持续集成代码，并进行自动化测试，以确保代码质量和可靠性</a:t>
            </a:r>
            <a:r>
              <a:rPr lang="en-US" altLang="zh-CN" kern="100" dirty="0">
                <a:solidFill>
                  <a:schemeClr val="tx1"/>
                </a:solidFill>
                <a:effectLst/>
                <a:latin typeface="+mn-ea"/>
                <a:cs typeface="Times New Roman" panose="02020603050405020304" pitchFamily="18" charset="0"/>
              </a:rPr>
              <a:t>。</a:t>
            </a:r>
          </a:p>
          <a:p>
            <a:pPr marL="742950" lvl="1" indent="-285750" algn="just">
              <a:lnSpc>
                <a:spcPct val="125000"/>
              </a:lnSpc>
              <a:buFont typeface="Wingdings" panose="05000000000000000000" pitchFamily="2" charset="2"/>
              <a:buChar char="Ø"/>
            </a:pPr>
            <a:r>
              <a:rPr lang="en-US" altLang="zh-CN" b="1" kern="100" dirty="0" err="1">
                <a:solidFill>
                  <a:schemeClr val="tx1"/>
                </a:solidFill>
                <a:effectLst/>
                <a:latin typeface="+mn-ea"/>
                <a:cs typeface="Times New Roman" panose="02020603050405020304" pitchFamily="18" charset="0"/>
              </a:rPr>
              <a:t>编写单元测试：</a:t>
            </a:r>
            <a:r>
              <a:rPr lang="en-US" altLang="zh-CN" kern="100" dirty="0" err="1">
                <a:solidFill>
                  <a:schemeClr val="tx1"/>
                </a:solidFill>
                <a:effectLst/>
                <a:latin typeface="+mn-ea"/>
                <a:cs typeface="Times New Roman" panose="02020603050405020304" pitchFamily="18" charset="0"/>
              </a:rPr>
              <a:t>团队应该编写单元测试，以确保代码的正确性和可维护性。单元测试应该在持续集成和交付过程中自动运行</a:t>
            </a:r>
            <a:r>
              <a:rPr lang="en-US" altLang="zh-CN" kern="100" dirty="0">
                <a:solidFill>
                  <a:schemeClr val="tx1"/>
                </a:solidFill>
                <a:effectLst/>
                <a:latin typeface="+mn-ea"/>
                <a:cs typeface="Times New Roman" panose="02020603050405020304" pitchFamily="18" charset="0"/>
              </a:rPr>
              <a:t>。</a:t>
            </a:r>
          </a:p>
          <a:p>
            <a:pPr marL="742950" lvl="1" indent="-285750" algn="just">
              <a:lnSpc>
                <a:spcPct val="125000"/>
              </a:lnSpc>
              <a:buFont typeface="Wingdings" panose="05000000000000000000" pitchFamily="2" charset="2"/>
              <a:buChar char="Ø"/>
            </a:pPr>
            <a:r>
              <a:rPr lang="en-US" altLang="zh-CN" b="1" kern="100" dirty="0" err="1">
                <a:solidFill>
                  <a:schemeClr val="tx1"/>
                </a:solidFill>
                <a:effectLst/>
                <a:latin typeface="+mn-ea"/>
                <a:cs typeface="Times New Roman" panose="02020603050405020304" pitchFamily="18" charset="0"/>
              </a:rPr>
              <a:t>代码审查：</a:t>
            </a:r>
            <a:r>
              <a:rPr lang="en-US" altLang="zh-CN" kern="100" dirty="0" err="1">
                <a:solidFill>
                  <a:schemeClr val="tx1"/>
                </a:solidFill>
                <a:effectLst/>
                <a:latin typeface="+mn-ea"/>
                <a:cs typeface="Times New Roman" panose="02020603050405020304" pitchFamily="18" charset="0"/>
              </a:rPr>
              <a:t>团队应该进行代码审查，以确保代码符合编码标准，并且没有潜在的问题</a:t>
            </a:r>
            <a:r>
              <a:rPr lang="en-US" altLang="zh-CN" kern="100" dirty="0">
                <a:solidFill>
                  <a:schemeClr val="tx1"/>
                </a:solidFill>
                <a:effectLst/>
                <a:latin typeface="+mn-ea"/>
                <a:cs typeface="Times New Roman" panose="02020603050405020304" pitchFamily="18" charset="0"/>
              </a:rPr>
              <a:t>。</a:t>
            </a:r>
          </a:p>
          <a:p>
            <a:pPr marL="742950" lvl="1" indent="-285750" algn="just">
              <a:lnSpc>
                <a:spcPct val="125000"/>
              </a:lnSpc>
              <a:buFont typeface="Wingdings" panose="05000000000000000000" pitchFamily="2" charset="2"/>
              <a:buChar char="Ø"/>
            </a:pPr>
            <a:r>
              <a:rPr lang="en-US" altLang="zh-CN" b="1" kern="100" dirty="0" err="1">
                <a:solidFill>
                  <a:schemeClr val="tx1"/>
                </a:solidFill>
                <a:effectLst/>
                <a:latin typeface="+mn-ea"/>
                <a:cs typeface="Times New Roman" panose="02020603050405020304" pitchFamily="18" charset="0"/>
              </a:rPr>
              <a:t>交付可工作软件：</a:t>
            </a:r>
            <a:r>
              <a:rPr lang="en-US" altLang="zh-CN" kern="100" dirty="0" err="1">
                <a:solidFill>
                  <a:schemeClr val="tx1"/>
                </a:solidFill>
                <a:effectLst/>
                <a:latin typeface="+mn-ea"/>
                <a:cs typeface="Times New Roman" panose="02020603050405020304" pitchFamily="18" charset="0"/>
              </a:rPr>
              <a:t>团队应该持续地交付可工作的软件，并与客户进行测试和反馈</a:t>
            </a:r>
            <a:r>
              <a:rPr lang="en-US" altLang="zh-CN" kern="100" dirty="0">
                <a:solidFill>
                  <a:schemeClr val="tx1"/>
                </a:solidFill>
                <a:effectLst/>
                <a:latin typeface="+mn-ea"/>
                <a:cs typeface="Times New Roman" panose="02020603050405020304" pitchFamily="18" charset="0"/>
              </a:rPr>
              <a: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sym typeface="+mn-ea"/>
              </a:rPr>
              <a:t>02 </a:t>
            </a:r>
            <a:r>
              <a:rPr lang="zh-CN" altLang="en-US" dirty="0">
                <a:sym typeface="+mn-ea"/>
              </a:rPr>
              <a:t>敏捷开发流程</a:t>
            </a:r>
            <a:endParaRPr lang="zh-CN" altLang="en-US" dirty="0"/>
          </a:p>
        </p:txBody>
      </p:sp>
      <p:sp>
        <p:nvSpPr>
          <p:cNvPr id="3" name="灯片编号占位符 2"/>
          <p:cNvSpPr>
            <a:spLocks noGrp="1"/>
          </p:cNvSpPr>
          <p:nvPr>
            <p:ph type="sldNum" sz="quarter" idx="12"/>
          </p:nvPr>
        </p:nvSpPr>
        <p:spPr/>
        <p:txBody>
          <a:bodyPr/>
          <a:lstStyle/>
          <a:p>
            <a:fld id="{1AAC388E-FA9E-4A2C-95EA-1F6B3A07935A}" type="slidenum">
              <a:rPr lang="zh-CN" altLang="en-US" sz="1400" smtClean="0">
                <a:solidFill>
                  <a:srgbClr val="000000"/>
                </a:solidFill>
              </a:rPr>
              <a:t>15</a:t>
            </a:fld>
            <a:endParaRPr lang="zh-CN" altLang="en-US" sz="1400" dirty="0">
              <a:solidFill>
                <a:srgbClr val="000000"/>
              </a:solidFill>
            </a:endParaRPr>
          </a:p>
        </p:txBody>
      </p:sp>
      <p:sp>
        <p:nvSpPr>
          <p:cNvPr id="7" name="矩形 6"/>
          <p:cNvSpPr/>
          <p:nvPr/>
        </p:nvSpPr>
        <p:spPr>
          <a:xfrm>
            <a:off x="913764" y="945931"/>
            <a:ext cx="10512000" cy="5373589"/>
          </a:xfrm>
          <a:prstGeom prst="rect">
            <a:avLst/>
          </a:prstGeom>
          <a:noFill/>
          <a:ln w="28575" cmpd="sng">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85750" indent="-285750" algn="just" fontAlgn="auto">
              <a:lnSpc>
                <a:spcPct val="125000"/>
              </a:lnSpc>
              <a:buFont typeface="Wingdings" panose="05000000000000000000" charset="0"/>
              <a:buChar char="n"/>
            </a:pPr>
            <a:r>
              <a:rPr lang="en-US" altLang="zh-CN" sz="1800" b="1" kern="100" dirty="0" err="1">
                <a:solidFill>
                  <a:schemeClr val="tx1"/>
                </a:solidFill>
                <a:effectLst/>
                <a:latin typeface="+mn-ea"/>
                <a:cs typeface="Times New Roman" panose="02020603050405020304" pitchFamily="18" charset="0"/>
              </a:rPr>
              <a:t>功能</a:t>
            </a:r>
            <a:r>
              <a:rPr lang="zh-CN" altLang="en-US" sz="1800" b="1" kern="100" dirty="0">
                <a:solidFill>
                  <a:schemeClr val="tx1"/>
                </a:solidFill>
                <a:effectLst/>
                <a:latin typeface="+mn-ea"/>
                <a:cs typeface="Times New Roman" panose="02020603050405020304" pitchFamily="18" charset="0"/>
              </a:rPr>
              <a:t>测试</a:t>
            </a:r>
            <a:r>
              <a:rPr lang="en-US" altLang="zh-CN" sz="1800" b="1" kern="100" dirty="0">
                <a:solidFill>
                  <a:schemeClr val="tx1"/>
                </a:solidFill>
                <a:effectLst/>
                <a:latin typeface="+mn-ea"/>
                <a:cs typeface="Times New Roman" panose="02020603050405020304" pitchFamily="18" charset="0"/>
              </a:rPr>
              <a:t>（testing）</a:t>
            </a:r>
          </a:p>
          <a:p>
            <a:pPr marL="742950" lvl="1" indent="-285750" algn="just">
              <a:lnSpc>
                <a:spcPct val="125000"/>
              </a:lnSpc>
              <a:buFont typeface="Wingdings" panose="05000000000000000000" pitchFamily="2" charset="2"/>
              <a:buChar char="Ø"/>
            </a:pPr>
            <a:r>
              <a:rPr lang="en-US" altLang="zh-CN" b="1" kern="100" dirty="0" err="1">
                <a:solidFill>
                  <a:schemeClr val="tx1"/>
                </a:solidFill>
                <a:effectLst/>
                <a:latin typeface="+mn-ea"/>
                <a:cs typeface="Times New Roman" panose="02020603050405020304" pitchFamily="18" charset="0"/>
              </a:rPr>
              <a:t>制定测试计划：</a:t>
            </a:r>
            <a:r>
              <a:rPr lang="en-US" altLang="zh-CN" kern="100" dirty="0" err="1">
                <a:solidFill>
                  <a:schemeClr val="tx1"/>
                </a:solidFill>
                <a:effectLst/>
                <a:latin typeface="+mn-ea"/>
                <a:cs typeface="Times New Roman" panose="02020603050405020304" pitchFamily="18" charset="0"/>
              </a:rPr>
              <a:t>团队应该制定一致的测试计划，以确保所有功能都得到了测试，并且测试方法符合标准</a:t>
            </a:r>
            <a:r>
              <a:rPr lang="en-US" altLang="zh-CN" kern="100" dirty="0">
                <a:solidFill>
                  <a:schemeClr val="tx1"/>
                </a:solidFill>
                <a:effectLst/>
                <a:latin typeface="+mn-ea"/>
                <a:cs typeface="Times New Roman" panose="02020603050405020304" pitchFamily="18" charset="0"/>
              </a:rPr>
              <a:t>。</a:t>
            </a:r>
          </a:p>
          <a:p>
            <a:pPr marL="742950" lvl="1" indent="-285750" algn="just">
              <a:lnSpc>
                <a:spcPct val="125000"/>
              </a:lnSpc>
              <a:buFont typeface="Wingdings" panose="05000000000000000000" pitchFamily="2" charset="2"/>
              <a:buChar char="Ø"/>
            </a:pPr>
            <a:r>
              <a:rPr lang="en-US" altLang="zh-CN" b="1" kern="100" dirty="0" err="1">
                <a:solidFill>
                  <a:schemeClr val="tx1"/>
                </a:solidFill>
                <a:effectLst/>
                <a:latin typeface="+mn-ea"/>
                <a:cs typeface="Times New Roman" panose="02020603050405020304" pitchFamily="18" charset="0"/>
              </a:rPr>
              <a:t>编写测试用例：</a:t>
            </a:r>
            <a:r>
              <a:rPr lang="en-US" altLang="zh-CN" kern="100" dirty="0" err="1">
                <a:solidFill>
                  <a:schemeClr val="tx1"/>
                </a:solidFill>
                <a:effectLst/>
                <a:latin typeface="+mn-ea"/>
                <a:cs typeface="Times New Roman" panose="02020603050405020304" pitchFamily="18" charset="0"/>
              </a:rPr>
              <a:t>团队应该编写测试用例，以覆盖所有功能和场景，并确保测试用例易于理解和执行</a:t>
            </a:r>
            <a:r>
              <a:rPr lang="en-US" altLang="zh-CN" kern="100" dirty="0">
                <a:solidFill>
                  <a:schemeClr val="tx1"/>
                </a:solidFill>
                <a:effectLst/>
                <a:latin typeface="+mn-ea"/>
                <a:cs typeface="Times New Roman" panose="02020603050405020304" pitchFamily="18" charset="0"/>
              </a:rPr>
              <a:t>。</a:t>
            </a:r>
          </a:p>
          <a:p>
            <a:pPr marL="742950" lvl="1" indent="-285750" algn="just">
              <a:lnSpc>
                <a:spcPct val="125000"/>
              </a:lnSpc>
              <a:buFont typeface="Wingdings" panose="05000000000000000000" pitchFamily="2" charset="2"/>
              <a:buChar char="Ø"/>
            </a:pPr>
            <a:r>
              <a:rPr lang="en-US" altLang="zh-CN" b="1" kern="100" dirty="0">
                <a:solidFill>
                  <a:schemeClr val="tx1"/>
                </a:solidFill>
                <a:effectLst/>
                <a:latin typeface="+mn-ea"/>
                <a:cs typeface="Times New Roman" panose="02020603050405020304" pitchFamily="18" charset="0"/>
              </a:rPr>
              <a:t>执行功能测试：</a:t>
            </a:r>
            <a:r>
              <a:rPr lang="en-US" altLang="zh-CN" kern="100" dirty="0">
                <a:solidFill>
                  <a:schemeClr val="tx1"/>
                </a:solidFill>
                <a:effectLst/>
                <a:latin typeface="+mn-ea"/>
                <a:cs typeface="Times New Roman" panose="02020603050405020304" pitchFamily="18" charset="0"/>
              </a:rPr>
              <a:t>团队应该执行功能测试，以验证软件的正确性和可靠性。测试应该在每个迭代中持续进行，以确保团队可以及时发现和修复问题。</a:t>
            </a:r>
          </a:p>
          <a:p>
            <a:pPr marL="742950" lvl="1" indent="-285750" algn="just">
              <a:lnSpc>
                <a:spcPct val="125000"/>
              </a:lnSpc>
              <a:buFont typeface="Wingdings" panose="05000000000000000000" pitchFamily="2" charset="2"/>
              <a:buChar char="Ø"/>
            </a:pPr>
            <a:r>
              <a:rPr lang="en-US" altLang="zh-CN" b="1" kern="100" dirty="0" err="1">
                <a:solidFill>
                  <a:schemeClr val="tx1"/>
                </a:solidFill>
                <a:effectLst/>
                <a:latin typeface="+mn-ea"/>
                <a:cs typeface="Times New Roman" panose="02020603050405020304" pitchFamily="18" charset="0"/>
              </a:rPr>
              <a:t>自动化测试：</a:t>
            </a:r>
            <a:r>
              <a:rPr lang="en-US" altLang="zh-CN" kern="100" dirty="0" err="1">
                <a:solidFill>
                  <a:schemeClr val="tx1"/>
                </a:solidFill>
                <a:effectLst/>
                <a:latin typeface="+mn-ea"/>
                <a:cs typeface="Times New Roman" panose="02020603050405020304" pitchFamily="18" charset="0"/>
              </a:rPr>
              <a:t>团队应该编写自动化测试脚本，并将其集成到持续集成和交付过程中。自动化测试可以提高测试效率，并降低测试成本</a:t>
            </a:r>
            <a:r>
              <a:rPr lang="en-US" altLang="zh-CN" kern="100" dirty="0">
                <a:solidFill>
                  <a:schemeClr val="tx1"/>
                </a:solidFill>
                <a:effectLst/>
                <a:latin typeface="+mn-ea"/>
                <a:cs typeface="Times New Roman" panose="02020603050405020304" pitchFamily="18" charset="0"/>
              </a:rPr>
              <a:t>。</a:t>
            </a:r>
          </a:p>
          <a:p>
            <a:pPr marL="742950" lvl="1" indent="-285750" algn="just">
              <a:lnSpc>
                <a:spcPct val="125000"/>
              </a:lnSpc>
              <a:buFont typeface="Wingdings" panose="05000000000000000000" pitchFamily="2" charset="2"/>
              <a:buChar char="Ø"/>
            </a:pPr>
            <a:r>
              <a:rPr lang="en-US" altLang="zh-CN" b="1" kern="100" dirty="0" err="1">
                <a:solidFill>
                  <a:schemeClr val="tx1"/>
                </a:solidFill>
                <a:effectLst/>
                <a:latin typeface="+mn-ea"/>
                <a:cs typeface="Times New Roman" panose="02020603050405020304" pitchFamily="18" charset="0"/>
              </a:rPr>
              <a:t>确定缺陷优先级：</a:t>
            </a:r>
            <a:r>
              <a:rPr lang="en-US" altLang="zh-CN" kern="100" dirty="0" err="1">
                <a:solidFill>
                  <a:schemeClr val="tx1"/>
                </a:solidFill>
                <a:effectLst/>
                <a:latin typeface="+mn-ea"/>
                <a:cs typeface="Times New Roman" panose="02020603050405020304" pitchFamily="18" charset="0"/>
              </a:rPr>
              <a:t>在测试过程中，团队应该确定缺陷的优先级，并将其及时通知开发人员进行修复</a:t>
            </a:r>
            <a:r>
              <a:rPr lang="en-US" altLang="zh-CN" kern="100" dirty="0">
                <a:solidFill>
                  <a:schemeClr val="tx1"/>
                </a:solidFill>
                <a:effectLst/>
                <a:latin typeface="+mn-ea"/>
                <a:cs typeface="Times New Roman" panose="02020603050405020304" pitchFamily="18" charset="0"/>
              </a:rPr>
              <a:t>。</a:t>
            </a:r>
          </a:p>
          <a:p>
            <a:pPr marL="742950" lvl="1" indent="-285750" algn="just">
              <a:lnSpc>
                <a:spcPct val="125000"/>
              </a:lnSpc>
              <a:buFont typeface="Wingdings" panose="05000000000000000000" pitchFamily="2" charset="2"/>
              <a:buChar char="Ø"/>
            </a:pPr>
            <a:r>
              <a:rPr lang="en-US" altLang="zh-CN" b="1" kern="100" dirty="0" err="1">
                <a:solidFill>
                  <a:schemeClr val="tx1"/>
                </a:solidFill>
                <a:effectLst/>
                <a:latin typeface="+mn-ea"/>
                <a:cs typeface="Times New Roman" panose="02020603050405020304" pitchFamily="18" charset="0"/>
              </a:rPr>
              <a:t>确认问题解决：</a:t>
            </a:r>
            <a:r>
              <a:rPr lang="en-US" altLang="zh-CN" kern="100" dirty="0" err="1">
                <a:solidFill>
                  <a:schemeClr val="tx1"/>
                </a:solidFill>
                <a:effectLst/>
                <a:latin typeface="+mn-ea"/>
                <a:cs typeface="Times New Roman" panose="02020603050405020304" pitchFamily="18" charset="0"/>
              </a:rPr>
              <a:t>当缺陷得到修复时，团队应该重新执行相关测试用例，以确保问题已经解决</a:t>
            </a:r>
            <a:r>
              <a:rPr lang="en-US" altLang="zh-CN" kern="100" dirty="0">
                <a:solidFill>
                  <a:schemeClr val="tx1"/>
                </a:solidFill>
                <a:effectLst/>
                <a:latin typeface="+mn-ea"/>
                <a:cs typeface="Times New Roman" panose="02020603050405020304" pitchFamily="18" charset="0"/>
              </a:rPr>
              <a: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sym typeface="+mn-ea"/>
              </a:rPr>
              <a:t>02 </a:t>
            </a:r>
            <a:r>
              <a:rPr lang="zh-CN" altLang="en-US" dirty="0">
                <a:sym typeface="+mn-ea"/>
              </a:rPr>
              <a:t>敏捷开发流程</a:t>
            </a:r>
            <a:endParaRPr lang="zh-CN" altLang="en-US" dirty="0"/>
          </a:p>
        </p:txBody>
      </p:sp>
      <p:sp>
        <p:nvSpPr>
          <p:cNvPr id="3" name="灯片编号占位符 2"/>
          <p:cNvSpPr>
            <a:spLocks noGrp="1"/>
          </p:cNvSpPr>
          <p:nvPr>
            <p:ph type="sldNum" sz="quarter" idx="12"/>
          </p:nvPr>
        </p:nvSpPr>
        <p:spPr/>
        <p:txBody>
          <a:bodyPr/>
          <a:lstStyle/>
          <a:p>
            <a:fld id="{1AAC388E-FA9E-4A2C-95EA-1F6B3A07935A}" type="slidenum">
              <a:rPr lang="zh-CN" altLang="en-US" sz="1400" smtClean="0">
                <a:solidFill>
                  <a:srgbClr val="000000"/>
                </a:solidFill>
              </a:rPr>
              <a:t>16</a:t>
            </a:fld>
            <a:endParaRPr lang="zh-CN" altLang="en-US" sz="1400" dirty="0">
              <a:solidFill>
                <a:srgbClr val="000000"/>
              </a:solidFill>
            </a:endParaRPr>
          </a:p>
        </p:txBody>
      </p:sp>
      <p:sp>
        <p:nvSpPr>
          <p:cNvPr id="9" name="矩形 8"/>
          <p:cNvSpPr/>
          <p:nvPr/>
        </p:nvSpPr>
        <p:spPr>
          <a:xfrm>
            <a:off x="913764" y="945931"/>
            <a:ext cx="10512000" cy="5373589"/>
          </a:xfrm>
          <a:prstGeom prst="rect">
            <a:avLst/>
          </a:prstGeom>
          <a:noFill/>
          <a:ln w="28575" cmpd="sng">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85750" indent="-285750" algn="just" fontAlgn="auto">
              <a:lnSpc>
                <a:spcPct val="125000"/>
              </a:lnSpc>
              <a:buFont typeface="Wingdings" panose="05000000000000000000" charset="0"/>
              <a:buChar char="n"/>
            </a:pPr>
            <a:r>
              <a:rPr lang="zh-CN" altLang="en-US" sz="1800" b="1" kern="100" dirty="0">
                <a:solidFill>
                  <a:schemeClr val="tx1"/>
                </a:solidFill>
                <a:effectLst/>
                <a:latin typeface="+mn-ea"/>
                <a:cs typeface="Times New Roman" panose="02020603050405020304" pitchFamily="18" charset="0"/>
              </a:rPr>
              <a:t>部署评估（</a:t>
            </a:r>
            <a:r>
              <a:rPr lang="en-US" altLang="zh-CN" sz="1800" b="1" kern="100" dirty="0">
                <a:solidFill>
                  <a:schemeClr val="tx1"/>
                </a:solidFill>
                <a:effectLst/>
                <a:latin typeface="+mn-ea"/>
                <a:cs typeface="Times New Roman" panose="02020603050405020304" pitchFamily="18" charset="0"/>
              </a:rPr>
              <a:t>deployment / evaluation</a:t>
            </a:r>
            <a:r>
              <a:rPr lang="zh-CN" altLang="en-US" sz="1800" b="1" kern="100" dirty="0">
                <a:solidFill>
                  <a:schemeClr val="tx1"/>
                </a:solidFill>
                <a:effectLst/>
                <a:latin typeface="+mn-ea"/>
                <a:cs typeface="Times New Roman" panose="02020603050405020304" pitchFamily="18" charset="0"/>
              </a:rPr>
              <a:t>）</a:t>
            </a:r>
          </a:p>
          <a:p>
            <a:pPr marL="742950" lvl="1" indent="-285750" algn="just">
              <a:lnSpc>
                <a:spcPct val="125000"/>
              </a:lnSpc>
              <a:buFont typeface="Wingdings" panose="05000000000000000000" pitchFamily="2" charset="2"/>
              <a:buChar char="Ø"/>
            </a:pPr>
            <a:r>
              <a:rPr lang="zh-CN" altLang="en-US" b="1" kern="100" dirty="0">
                <a:solidFill>
                  <a:schemeClr val="tx1"/>
                </a:solidFill>
                <a:effectLst/>
                <a:latin typeface="+mn-ea"/>
                <a:cs typeface="Times New Roman" panose="02020603050405020304" pitchFamily="18" charset="0"/>
              </a:rPr>
              <a:t>确定部署策略：</a:t>
            </a:r>
            <a:r>
              <a:rPr lang="zh-CN" altLang="en-US" kern="100" dirty="0">
                <a:solidFill>
                  <a:schemeClr val="tx1"/>
                </a:solidFill>
                <a:effectLst/>
                <a:latin typeface="+mn-ea"/>
                <a:cs typeface="Times New Roman" panose="02020603050405020304" pitchFamily="18" charset="0"/>
              </a:rPr>
              <a:t>团队应该确定软件部署的策略和流程，并确保团队成员了解和遵守这些策略和流程。</a:t>
            </a:r>
          </a:p>
          <a:p>
            <a:pPr marL="742950" lvl="1" indent="-285750" algn="just">
              <a:lnSpc>
                <a:spcPct val="125000"/>
              </a:lnSpc>
              <a:buFont typeface="Wingdings" panose="05000000000000000000" pitchFamily="2" charset="2"/>
              <a:buChar char="Ø"/>
            </a:pPr>
            <a:r>
              <a:rPr lang="zh-CN" altLang="en-US" b="1" kern="100" dirty="0">
                <a:solidFill>
                  <a:schemeClr val="tx1"/>
                </a:solidFill>
                <a:effectLst/>
                <a:latin typeface="+mn-ea"/>
                <a:cs typeface="Times New Roman" panose="02020603050405020304" pitchFamily="18" charset="0"/>
              </a:rPr>
              <a:t>确定环境需求：</a:t>
            </a:r>
            <a:r>
              <a:rPr lang="zh-CN" altLang="en-US" kern="100" dirty="0">
                <a:solidFill>
                  <a:schemeClr val="tx1"/>
                </a:solidFill>
                <a:effectLst/>
                <a:latin typeface="+mn-ea"/>
                <a:cs typeface="Times New Roman" panose="02020603050405020304" pitchFamily="18" charset="0"/>
              </a:rPr>
              <a:t>团队应该确定软件部署所需的环境和资源，并确保团队成员了解和遵守这些需求。</a:t>
            </a:r>
          </a:p>
          <a:p>
            <a:pPr marL="742950" lvl="1" indent="-285750" algn="just">
              <a:lnSpc>
                <a:spcPct val="125000"/>
              </a:lnSpc>
              <a:buFont typeface="Wingdings" panose="05000000000000000000" pitchFamily="2" charset="2"/>
              <a:buChar char="Ø"/>
            </a:pPr>
            <a:r>
              <a:rPr lang="zh-CN" altLang="en-US" b="1" kern="100" dirty="0">
                <a:solidFill>
                  <a:schemeClr val="tx1"/>
                </a:solidFill>
                <a:effectLst/>
                <a:latin typeface="+mn-ea"/>
                <a:cs typeface="Times New Roman" panose="02020603050405020304" pitchFamily="18" charset="0"/>
              </a:rPr>
              <a:t>执行集成测试：</a:t>
            </a:r>
            <a:r>
              <a:rPr lang="zh-CN" altLang="en-US" kern="100" dirty="0">
                <a:solidFill>
                  <a:schemeClr val="tx1"/>
                </a:solidFill>
                <a:effectLst/>
                <a:latin typeface="+mn-ea"/>
                <a:cs typeface="Times New Roman" panose="02020603050405020304" pitchFamily="18" charset="0"/>
              </a:rPr>
              <a:t>在部署之前，团队应该执行集成测试，并确保软件可以在目标环境中正常运行。</a:t>
            </a:r>
          </a:p>
          <a:p>
            <a:pPr marL="742950" lvl="1" indent="-285750" algn="just">
              <a:lnSpc>
                <a:spcPct val="125000"/>
              </a:lnSpc>
              <a:buFont typeface="Wingdings" panose="05000000000000000000" pitchFamily="2" charset="2"/>
              <a:buChar char="Ø"/>
            </a:pPr>
            <a:r>
              <a:rPr lang="zh-CN" altLang="en-US" b="1" kern="100" dirty="0">
                <a:solidFill>
                  <a:schemeClr val="tx1"/>
                </a:solidFill>
                <a:effectLst/>
                <a:latin typeface="+mn-ea"/>
                <a:cs typeface="Times New Roman" panose="02020603050405020304" pitchFamily="18" charset="0"/>
              </a:rPr>
              <a:t>编写部署脚本：</a:t>
            </a:r>
            <a:r>
              <a:rPr lang="zh-CN" altLang="en-US" kern="100" dirty="0">
                <a:solidFill>
                  <a:schemeClr val="tx1"/>
                </a:solidFill>
                <a:effectLst/>
                <a:latin typeface="+mn-ea"/>
                <a:cs typeface="Times New Roman" panose="02020603050405020304" pitchFamily="18" charset="0"/>
              </a:rPr>
              <a:t>团队应该编写部署脚本，并确保脚本易于理解和执行。</a:t>
            </a:r>
          </a:p>
          <a:p>
            <a:pPr marL="742950" lvl="1" indent="-285750" algn="just">
              <a:lnSpc>
                <a:spcPct val="125000"/>
              </a:lnSpc>
              <a:buFont typeface="Wingdings" panose="05000000000000000000" pitchFamily="2" charset="2"/>
              <a:buChar char="Ø"/>
            </a:pPr>
            <a:r>
              <a:rPr lang="zh-CN" altLang="en-US" b="1" kern="100" dirty="0">
                <a:solidFill>
                  <a:schemeClr val="tx1"/>
                </a:solidFill>
                <a:effectLst/>
                <a:latin typeface="+mn-ea"/>
                <a:cs typeface="Times New Roman" panose="02020603050405020304" pitchFamily="18" charset="0"/>
              </a:rPr>
              <a:t>自动化部署：</a:t>
            </a:r>
            <a:r>
              <a:rPr lang="zh-CN" altLang="en-US" kern="100" dirty="0">
                <a:solidFill>
                  <a:schemeClr val="tx1"/>
                </a:solidFill>
                <a:effectLst/>
                <a:latin typeface="+mn-ea"/>
                <a:cs typeface="Times New Roman" panose="02020603050405020304" pitchFamily="18" charset="0"/>
              </a:rPr>
              <a:t>团队应该自动化部署过程，并将其集成到持续集成和交付过程中。自动化部署可以提高部署效率，并降低部署成本。</a:t>
            </a:r>
          </a:p>
          <a:p>
            <a:pPr marL="742950" lvl="1" indent="-285750" algn="just">
              <a:lnSpc>
                <a:spcPct val="125000"/>
              </a:lnSpc>
              <a:buFont typeface="Wingdings" panose="05000000000000000000" pitchFamily="2" charset="2"/>
              <a:buChar char="Ø"/>
            </a:pPr>
            <a:r>
              <a:rPr lang="zh-CN" altLang="en-US" b="1" kern="100" dirty="0">
                <a:solidFill>
                  <a:schemeClr val="tx1"/>
                </a:solidFill>
                <a:effectLst/>
                <a:latin typeface="+mn-ea"/>
                <a:cs typeface="Times New Roman" panose="02020603050405020304" pitchFamily="18" charset="0"/>
              </a:rPr>
              <a:t>监控和管理：</a:t>
            </a:r>
            <a:r>
              <a:rPr lang="zh-CN" altLang="en-US" kern="100" dirty="0">
                <a:solidFill>
                  <a:schemeClr val="tx1"/>
                </a:solidFill>
                <a:effectLst/>
                <a:latin typeface="+mn-ea"/>
                <a:cs typeface="Times New Roman" panose="02020603050405020304" pitchFamily="18" charset="0"/>
              </a:rPr>
              <a:t>一旦软件部署完成，团队应该实时监控和管理软件运行状态，以确保软件可以正常运行，并及时发现和修复问题。</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10" y="5"/>
            <a:ext cx="12191980" cy="6857990"/>
          </a:xfrm>
          <a:prstGeom prst="rect">
            <a:avLst/>
          </a:prstGeom>
          <a:blipFill dpi="0" rotWithShape="1">
            <a:blip r:embed="rId3">
              <a:alphaModFix amt="10000"/>
              <a:duotone>
                <a:schemeClr val="bg2">
                  <a:shade val="45000"/>
                  <a:satMod val="135000"/>
                </a:schemeClr>
                <a:prstClr val="white"/>
              </a:duotone>
            </a:blip>
            <a:srcRect/>
            <a:tile tx="0" ty="0" sx="60000" sy="6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00"/>
              </a:spcAft>
            </a:pPr>
            <a:endParaRPr lang="zh-CN" altLang="en-US"/>
          </a:p>
        </p:txBody>
      </p:sp>
      <p:grpSp>
        <p:nvGrpSpPr>
          <p:cNvPr id="3" name="组合 2"/>
          <p:cNvGrpSpPr/>
          <p:nvPr/>
        </p:nvGrpSpPr>
        <p:grpSpPr>
          <a:xfrm>
            <a:off x="793780" y="2608487"/>
            <a:ext cx="2974123" cy="3387729"/>
            <a:chOff x="870884" y="1648624"/>
            <a:chExt cx="2974123" cy="3387729"/>
          </a:xfrm>
        </p:grpSpPr>
        <p:sp>
          <p:nvSpPr>
            <p:cNvPr id="11" name="椭圆 10"/>
            <p:cNvSpPr/>
            <p:nvPr/>
          </p:nvSpPr>
          <p:spPr>
            <a:xfrm>
              <a:off x="870884" y="2062230"/>
              <a:ext cx="2974123" cy="297412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pic>
          <p:nvPicPr>
            <p:cNvPr id="10" name="图片 9"/>
            <p:cNvPicPr>
              <a:picLocks noChangeAspect="1"/>
            </p:cNvPicPr>
            <p:nvPr/>
          </p:nvPicPr>
          <p:blipFill rotWithShape="1">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r="32998"/>
            <a:stretch>
              <a:fillRect/>
            </a:stretch>
          </p:blipFill>
          <p:spPr>
            <a:xfrm>
              <a:off x="1220247" y="1857063"/>
              <a:ext cx="1957015" cy="3160925"/>
            </a:xfrm>
            <a:prstGeom prst="rect">
              <a:avLst/>
            </a:prstGeom>
          </p:spPr>
        </p:pic>
        <p:sp>
          <p:nvSpPr>
            <p:cNvPr id="5" name="文本框 4"/>
            <p:cNvSpPr txBox="1"/>
            <p:nvPr/>
          </p:nvSpPr>
          <p:spPr>
            <a:xfrm>
              <a:off x="2749140" y="1648624"/>
              <a:ext cx="258532" cy="1586951"/>
            </a:xfrm>
            <a:prstGeom prst="rect">
              <a:avLst/>
            </a:prstGeom>
            <a:noFill/>
          </p:spPr>
          <p:txBody>
            <a:bodyPr vert="eaVert" wrap="square" lIns="0" tIns="0" rIns="0" bIns="0" rtlCol="0" anchor="ctr">
              <a:spAutoFit/>
            </a:bodyPr>
            <a:lstStyle/>
            <a:p>
              <a:pPr marL="0" marR="0" lvl="0" indent="0" algn="dist" defTabSz="914400" rtl="0" eaLnBrk="1" fontAlgn="auto" latinLnBrk="0" hangingPunct="1">
                <a:lnSpc>
                  <a:spcPct val="120000"/>
                </a:lnSpc>
                <a:spcBef>
                  <a:spcPts val="0"/>
                </a:spcBef>
                <a:spcAft>
                  <a:spcPts val="100"/>
                </a:spcAft>
                <a:buClrTx/>
                <a:buSzTx/>
                <a:buFontTx/>
                <a:buNone/>
                <a:defRPr/>
              </a:pPr>
              <a:r>
                <a:rPr kumimoji="0" lang="en-US" altLang="zh-CN" sz="1400" b="1" i="0" u="none" strike="noStrike" kern="1200" cap="none" spc="0" normalizeH="0" baseline="0" noProof="0" dirty="0">
                  <a:ln>
                    <a:noFill/>
                  </a:ln>
                  <a:solidFill>
                    <a:srgbClr val="003F88"/>
                  </a:solidFill>
                  <a:effectLst/>
                  <a:uLnTx/>
                  <a:uFillTx/>
                  <a:latin typeface="Arial" panose="020B0604020202020204"/>
                  <a:ea typeface="微软雅黑" panose="020B0503020204020204" charset="-122"/>
                  <a:cs typeface="+mn-cs"/>
                </a:rPr>
                <a:t>CON</a:t>
              </a:r>
              <a:r>
                <a:rPr kumimoji="0" lang="en-US" altLang="zh-CN" sz="14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rPr>
                <a:t>TENTS</a:t>
              </a:r>
              <a:endParaRPr kumimoji="0" lang="zh-CN" altLang="en-US" sz="14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endParaRPr>
            </a:p>
          </p:txBody>
        </p:sp>
        <p:sp>
          <p:nvSpPr>
            <p:cNvPr id="6" name="文本框 5"/>
            <p:cNvSpPr txBox="1"/>
            <p:nvPr/>
          </p:nvSpPr>
          <p:spPr>
            <a:xfrm>
              <a:off x="2958610" y="1648624"/>
              <a:ext cx="886397" cy="1586951"/>
            </a:xfrm>
            <a:prstGeom prst="rect">
              <a:avLst/>
            </a:prstGeom>
            <a:noFill/>
          </p:spPr>
          <p:txBody>
            <a:bodyPr vert="eaVert" wrap="square" lIns="0" tIns="0" rIns="0" bIns="0" rtlCol="0" anchor="ctr">
              <a:spAutoFit/>
            </a:bodyPr>
            <a:lstStyle/>
            <a:p>
              <a:pPr marL="0" marR="0" lvl="0" indent="0" algn="dist" defTabSz="914400" rtl="0" eaLnBrk="1" fontAlgn="auto" latinLnBrk="0" hangingPunct="1">
                <a:lnSpc>
                  <a:spcPct val="120000"/>
                </a:lnSpc>
                <a:spcBef>
                  <a:spcPts val="0"/>
                </a:spcBef>
                <a:spcAft>
                  <a:spcPts val="100"/>
                </a:spcAft>
                <a:buClrTx/>
                <a:buSzTx/>
                <a:buFontTx/>
                <a:buNone/>
                <a:defRPr/>
              </a:pPr>
              <a:r>
                <a:rPr kumimoji="0" lang="zh-CN" altLang="en-US" sz="4800" b="1" i="0" u="none" strike="noStrike" kern="1200" cap="none" spc="0" normalizeH="0" baseline="0" noProof="0" dirty="0">
                  <a:ln>
                    <a:noFill/>
                  </a:ln>
                  <a:solidFill>
                    <a:srgbClr val="3F3F3F"/>
                  </a:solidFill>
                  <a:effectLst/>
                  <a:uLnTx/>
                  <a:uFillTx/>
                  <a:latin typeface="方正粗雅宋简体" panose="02000000000000000000" pitchFamily="2" charset="-122"/>
                  <a:ea typeface="方正粗雅宋简体" panose="02000000000000000000" pitchFamily="2" charset="-122"/>
                  <a:cs typeface="+mn-cs"/>
                </a:rPr>
                <a:t>目</a:t>
              </a:r>
              <a:r>
                <a:rPr kumimoji="0" lang="zh-CN" altLang="en-US" sz="4800" b="1" i="0" u="none" strike="noStrike" kern="1200" cap="none" spc="0" normalizeH="0" baseline="0" noProof="0" dirty="0">
                  <a:ln>
                    <a:noFill/>
                  </a:ln>
                  <a:solidFill>
                    <a:srgbClr val="FFFFFF"/>
                  </a:solidFill>
                  <a:effectLst/>
                  <a:uLnTx/>
                  <a:uFillTx/>
                  <a:latin typeface="方正粗雅宋简体" panose="02000000000000000000" pitchFamily="2" charset="-122"/>
                  <a:ea typeface="方正粗雅宋简体" panose="02000000000000000000" pitchFamily="2" charset="-122"/>
                  <a:cs typeface="+mn-cs"/>
                </a:rPr>
                <a:t>录</a:t>
              </a:r>
            </a:p>
          </p:txBody>
        </p:sp>
      </p:grpSp>
      <p:pic>
        <p:nvPicPr>
          <p:cNvPr id="54" name="图片 53"/>
          <p:cNvPicPr>
            <a:picLocks noChangeAspect="1"/>
          </p:cNvPicPr>
          <p:nvPr/>
        </p:nvPicPr>
        <p:blipFill rotWithShape="1">
          <a:blip r:embed="rId4">
            <a:alphaModFix amt="50000"/>
            <a:duotone>
              <a:prstClr val="black"/>
              <a:schemeClr val="accent4">
                <a:tint val="45000"/>
                <a:satMod val="400000"/>
              </a:schemeClr>
            </a:duotone>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r="32998"/>
          <a:stretch>
            <a:fillRect/>
          </a:stretch>
        </p:blipFill>
        <p:spPr>
          <a:xfrm>
            <a:off x="5586820" y="-1357083"/>
            <a:ext cx="5553465" cy="8969827"/>
          </a:xfrm>
          <a:prstGeom prst="rect">
            <a:avLst/>
          </a:prstGeom>
        </p:spPr>
      </p:pic>
      <p:grpSp>
        <p:nvGrpSpPr>
          <p:cNvPr id="2" name="组合 1">
            <a:extLst>
              <a:ext uri="{FF2B5EF4-FFF2-40B4-BE49-F238E27FC236}">
                <a16:creationId xmlns:a16="http://schemas.microsoft.com/office/drawing/2014/main" id="{0BA39782-877D-C2FC-2963-EF3AA6DE80BC}"/>
              </a:ext>
            </a:extLst>
          </p:cNvPr>
          <p:cNvGrpSpPr/>
          <p:nvPr/>
        </p:nvGrpSpPr>
        <p:grpSpPr>
          <a:xfrm>
            <a:off x="6096000" y="1687438"/>
            <a:ext cx="5810119" cy="3458306"/>
            <a:chOff x="6096000" y="1687438"/>
            <a:chExt cx="5810119" cy="3458306"/>
          </a:xfrm>
        </p:grpSpPr>
        <p:sp>
          <p:nvSpPr>
            <p:cNvPr id="4" name="文本框 3">
              <a:extLst>
                <a:ext uri="{FF2B5EF4-FFF2-40B4-BE49-F238E27FC236}">
                  <a16:creationId xmlns:a16="http://schemas.microsoft.com/office/drawing/2014/main" id="{489FB117-3B13-D07A-CB5F-E8CAC299FF91}"/>
                </a:ext>
              </a:extLst>
            </p:cNvPr>
            <p:cNvSpPr txBox="1"/>
            <p:nvPr/>
          </p:nvSpPr>
          <p:spPr>
            <a:xfrm>
              <a:off x="6096000" y="3056591"/>
              <a:ext cx="5210523" cy="720000"/>
            </a:xfrm>
            <a:prstGeom prst="rect">
              <a:avLst/>
            </a:prstGeom>
            <a:noFill/>
          </p:spPr>
          <p:txBody>
            <a:bodyPr wrap="square" lIns="0" tIns="0" rIns="0" bIns="0" rtlCol="0" anchor="ctr">
              <a:noAutofit/>
            </a:bodyPr>
            <a:lstStyle/>
            <a:p>
              <a:pPr>
                <a:lnSpc>
                  <a:spcPct val="120000"/>
                </a:lnSpc>
                <a:defRPr/>
              </a:pPr>
              <a:r>
                <a:rPr lang="en-US" altLang="zh-CN" sz="3600" b="1" dirty="0">
                  <a:solidFill>
                    <a:schemeClr val="bg1">
                      <a:lumMod val="85000"/>
                    </a:schemeClr>
                  </a:solidFill>
                  <a:latin typeface="Arial" panose="020B0604020202020204"/>
                  <a:ea typeface="微软雅黑" panose="020B0503020204020204" charset="-122"/>
                </a:rPr>
                <a:t>02 </a:t>
              </a:r>
              <a:r>
                <a:rPr lang="zh-CN" altLang="en-US" sz="3600" b="1" dirty="0">
                  <a:solidFill>
                    <a:schemeClr val="bg1">
                      <a:lumMod val="85000"/>
                    </a:schemeClr>
                  </a:solidFill>
                  <a:latin typeface="Arial" panose="020B0604020202020204"/>
                  <a:ea typeface="微软雅黑" panose="020B0503020204020204" charset="-122"/>
                </a:rPr>
                <a:t>敏捷开发流程</a:t>
              </a:r>
            </a:p>
          </p:txBody>
        </p:sp>
        <p:sp>
          <p:nvSpPr>
            <p:cNvPr id="7" name="文本框 6">
              <a:extLst>
                <a:ext uri="{FF2B5EF4-FFF2-40B4-BE49-F238E27FC236}">
                  <a16:creationId xmlns:a16="http://schemas.microsoft.com/office/drawing/2014/main" id="{8A8F8831-3BCF-EA74-DBA0-D2AE3091C4E8}"/>
                </a:ext>
              </a:extLst>
            </p:cNvPr>
            <p:cNvSpPr txBox="1"/>
            <p:nvPr/>
          </p:nvSpPr>
          <p:spPr>
            <a:xfrm>
              <a:off x="6096000" y="1687438"/>
              <a:ext cx="5210523" cy="720000"/>
            </a:xfrm>
            <a:prstGeom prst="rect">
              <a:avLst/>
            </a:prstGeom>
            <a:noFill/>
          </p:spPr>
          <p:txBody>
            <a:bodyPr wrap="square" lIns="0" tIns="0" rIns="0" bIns="0" rtlCol="0" anchor="ctr">
              <a:noAutofit/>
            </a:bodyPr>
            <a:lstStyle/>
            <a:p>
              <a:pPr marL="0" marR="0" lvl="0" indent="0" defTabSz="914400" rtl="0" eaLnBrk="1" fontAlgn="auto" latinLnBrk="0" hangingPunct="1">
                <a:lnSpc>
                  <a:spcPct val="12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chemeClr val="bg1">
                      <a:lumMod val="85000"/>
                    </a:schemeClr>
                  </a:solidFill>
                  <a:effectLst/>
                  <a:uLnTx/>
                  <a:uFillTx/>
                  <a:latin typeface="Arial" panose="020B0604020202020204"/>
                  <a:ea typeface="微软雅黑" panose="020B0503020204020204" charset="-122"/>
                  <a:cs typeface="+mn-cs"/>
                </a:rPr>
                <a:t>01 </a:t>
              </a:r>
              <a:r>
                <a:rPr lang="zh-CN" altLang="en-US" sz="3600" b="1" dirty="0">
                  <a:solidFill>
                    <a:schemeClr val="bg1">
                      <a:lumMod val="85000"/>
                    </a:schemeClr>
                  </a:solidFill>
                  <a:latin typeface="Arial" panose="020B0604020202020204"/>
                  <a:ea typeface="微软雅黑" panose="020B0503020204020204" charset="-122"/>
                </a:rPr>
                <a:t>敏捷开发内涵</a:t>
              </a:r>
              <a:endParaRPr lang="en-US" altLang="zh-CN" sz="3600" b="1" dirty="0">
                <a:solidFill>
                  <a:schemeClr val="bg1">
                    <a:lumMod val="85000"/>
                  </a:schemeClr>
                </a:solidFill>
                <a:latin typeface="Arial" panose="020B0604020202020204"/>
                <a:ea typeface="微软雅黑" panose="020B0503020204020204" charset="-122"/>
              </a:endParaRPr>
            </a:p>
          </p:txBody>
        </p:sp>
        <p:sp>
          <p:nvSpPr>
            <p:cNvPr id="8" name="文本框 7">
              <a:extLst>
                <a:ext uri="{FF2B5EF4-FFF2-40B4-BE49-F238E27FC236}">
                  <a16:creationId xmlns:a16="http://schemas.microsoft.com/office/drawing/2014/main" id="{878F69F1-5D4F-D5BB-286A-8E3EC8563158}"/>
                </a:ext>
              </a:extLst>
            </p:cNvPr>
            <p:cNvSpPr txBox="1"/>
            <p:nvPr/>
          </p:nvSpPr>
          <p:spPr>
            <a:xfrm>
              <a:off x="6096000" y="4425744"/>
              <a:ext cx="5810119" cy="720000"/>
            </a:xfrm>
            <a:prstGeom prst="rect">
              <a:avLst/>
            </a:prstGeom>
            <a:noFill/>
          </p:spPr>
          <p:txBody>
            <a:bodyPr wrap="square" lIns="0" tIns="0" rIns="0" bIns="0" rtlCol="0" anchor="ctr">
              <a:noAutofit/>
            </a:bodyPr>
            <a:lstStyle/>
            <a:p>
              <a:pPr>
                <a:lnSpc>
                  <a:spcPct val="120000"/>
                </a:lnSpc>
                <a:defRPr/>
              </a:pPr>
              <a:r>
                <a:rPr lang="en-US" altLang="zh-CN" sz="3600" b="1" dirty="0">
                  <a:solidFill>
                    <a:srgbClr val="3F3F3F"/>
                  </a:solidFill>
                  <a:latin typeface="Arial" panose="020B0604020202020204"/>
                  <a:ea typeface="微软雅黑" panose="020B0503020204020204" charset="-122"/>
                </a:rPr>
                <a:t>03 </a:t>
              </a:r>
              <a:r>
                <a:rPr lang="zh-CN" altLang="en-US" sz="3600" b="1" dirty="0">
                  <a:solidFill>
                    <a:srgbClr val="3F3F3F"/>
                  </a:solidFill>
                  <a:latin typeface="Arial" panose="020B0604020202020204"/>
                  <a:ea typeface="微软雅黑" panose="020B0503020204020204" charset="-122"/>
                </a:rPr>
                <a:t>敏捷开发方法</a:t>
              </a:r>
              <a:r>
                <a:rPr lang="en-US" altLang="zh-CN" sz="3600" b="1" dirty="0">
                  <a:solidFill>
                    <a:srgbClr val="3F3F3F"/>
                  </a:solidFill>
                  <a:latin typeface="Arial" panose="020B0604020202020204"/>
                  <a:ea typeface="微软雅黑" panose="020B0503020204020204" charset="-122"/>
                </a:rPr>
                <a:t>—Scrum</a:t>
              </a:r>
              <a:endParaRPr lang="zh-CN" altLang="en-US" sz="3600" b="1" dirty="0">
                <a:solidFill>
                  <a:srgbClr val="3F3F3F"/>
                </a:solidFill>
                <a:latin typeface="Arial" panose="020B0604020202020204"/>
                <a:ea typeface="微软雅黑" panose="020B0503020204020204" charset="-122"/>
              </a:endParaRPr>
            </a:p>
          </p:txBody>
        </p:sp>
      </p:grpSp>
    </p:spTree>
    <p:extLst>
      <p:ext uri="{BB962C8B-B14F-4D97-AF65-F5344CB8AC3E}">
        <p14:creationId xmlns:p14="http://schemas.microsoft.com/office/powerpoint/2010/main" val="5622699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custDataLst>
              <p:tags r:id="rId1"/>
            </p:custDataLst>
          </p:nvPr>
        </p:nvPicPr>
        <p:blipFill>
          <a:blip r:embed="rId4"/>
          <a:stretch>
            <a:fillRect/>
          </a:stretch>
        </p:blipFill>
        <p:spPr>
          <a:xfrm>
            <a:off x="1748771" y="2489200"/>
            <a:ext cx="9256415" cy="3910830"/>
          </a:xfrm>
          <a:prstGeom prst="rect">
            <a:avLst/>
          </a:prstGeom>
        </p:spPr>
      </p:pic>
      <p:sp>
        <p:nvSpPr>
          <p:cNvPr id="2" name="标题 1"/>
          <p:cNvSpPr>
            <a:spLocks noGrp="1"/>
          </p:cNvSpPr>
          <p:nvPr>
            <p:ph type="title"/>
          </p:nvPr>
        </p:nvSpPr>
        <p:spPr/>
        <p:txBody>
          <a:bodyPr>
            <a:normAutofit/>
          </a:bodyPr>
          <a:lstStyle/>
          <a:p>
            <a:r>
              <a:rPr lang="en-US" altLang="zh-CN" dirty="0">
                <a:sym typeface="+mn-ea"/>
              </a:rPr>
              <a:t>03 </a:t>
            </a:r>
            <a:r>
              <a:rPr lang="zh-CN" altLang="en-US" dirty="0">
                <a:sym typeface="+mn-ea"/>
              </a:rPr>
              <a:t>敏捷开发方法</a:t>
            </a:r>
            <a:endParaRPr lang="zh-CN" altLang="en-US" dirty="0"/>
          </a:p>
        </p:txBody>
      </p:sp>
      <p:sp>
        <p:nvSpPr>
          <p:cNvPr id="3" name="灯片编号占位符 2"/>
          <p:cNvSpPr>
            <a:spLocks noGrp="1"/>
          </p:cNvSpPr>
          <p:nvPr>
            <p:ph type="sldNum" sz="quarter" idx="12"/>
          </p:nvPr>
        </p:nvSpPr>
        <p:spPr/>
        <p:txBody>
          <a:bodyPr/>
          <a:lstStyle/>
          <a:p>
            <a:fld id="{1AAC388E-FA9E-4A2C-95EA-1F6B3A07935A}" type="slidenum">
              <a:rPr lang="zh-CN" altLang="en-US" sz="1400" smtClean="0">
                <a:solidFill>
                  <a:srgbClr val="000000"/>
                </a:solidFill>
              </a:rPr>
              <a:t>18</a:t>
            </a:fld>
            <a:endParaRPr lang="zh-CN" altLang="en-US" sz="1400" dirty="0">
              <a:solidFill>
                <a:srgbClr val="000000"/>
              </a:solidFill>
            </a:endParaRPr>
          </a:p>
        </p:txBody>
      </p:sp>
      <p:sp>
        <p:nvSpPr>
          <p:cNvPr id="4" name="文本框 3"/>
          <p:cNvSpPr txBox="1"/>
          <p:nvPr/>
        </p:nvSpPr>
        <p:spPr>
          <a:xfrm>
            <a:off x="718218" y="874354"/>
            <a:ext cx="3762342" cy="601075"/>
          </a:xfrm>
          <a:prstGeom prst="rect">
            <a:avLst/>
          </a:prstGeom>
          <a:noFill/>
        </p:spPr>
        <p:txBody>
          <a:bodyPr wrap="square" lIns="0" tIns="0" rIns="0" bIns="0" rtlCol="0" anchor="ctr">
            <a:noAutofit/>
          </a:bodyPr>
          <a:lstStyle/>
          <a:p>
            <a:pPr marL="285750" indent="-285750" algn="l">
              <a:lnSpc>
                <a:spcPct val="125000"/>
              </a:lnSpc>
              <a:spcAft>
                <a:spcPts val="500"/>
              </a:spcAft>
              <a:buFont typeface="Wingdings" panose="05000000000000000000" pitchFamily="2" charset="2"/>
              <a:buChar char="p"/>
            </a:pPr>
            <a:r>
              <a:rPr lang="zh-CN" altLang="en-US" sz="2400" dirty="0">
                <a:solidFill>
                  <a:srgbClr val="003F88"/>
                </a:solidFill>
              </a:rPr>
              <a:t> 敏捷开发方法</a:t>
            </a:r>
            <a:r>
              <a:rPr lang="en-US" altLang="zh-CN" sz="2400" dirty="0">
                <a:solidFill>
                  <a:srgbClr val="003F88"/>
                </a:solidFill>
              </a:rPr>
              <a:t>——Scrum</a:t>
            </a:r>
          </a:p>
        </p:txBody>
      </p:sp>
      <p:sp>
        <p:nvSpPr>
          <p:cNvPr id="11" name="文本框 10"/>
          <p:cNvSpPr txBox="1"/>
          <p:nvPr/>
        </p:nvSpPr>
        <p:spPr>
          <a:xfrm>
            <a:off x="1186814" y="1506057"/>
            <a:ext cx="10243185" cy="942503"/>
          </a:xfrm>
          <a:prstGeom prst="rect">
            <a:avLst/>
          </a:prstGeom>
          <a:noFill/>
        </p:spPr>
        <p:txBody>
          <a:bodyPr wrap="square" lIns="0" tIns="0" rIns="0" bIns="0" rtlCol="0" anchor="ctr">
            <a:noAutofit/>
          </a:bodyPr>
          <a:lstStyle/>
          <a:p>
            <a:pPr indent="457200" algn="just" fontAlgn="auto">
              <a:lnSpc>
                <a:spcPct val="125000"/>
              </a:lnSpc>
              <a:buFont typeface="Wingdings" panose="05000000000000000000" charset="0"/>
              <a:buNone/>
            </a:pPr>
            <a:r>
              <a:rPr lang="en-US" altLang="zh-CN" sz="1600" b="1" dirty="0">
                <a:ea typeface="微软雅黑" panose="020B0503020204020204" charset="-122"/>
                <a:sym typeface="+mn-ea"/>
              </a:rPr>
              <a:t>Scrum</a:t>
            </a:r>
            <a:r>
              <a:rPr lang="zh-CN" altLang="en-US" sz="1600" b="1" dirty="0">
                <a:ea typeface="微软雅黑" panose="020B0503020204020204" charset="-122"/>
                <a:sym typeface="+mn-ea"/>
              </a:rPr>
              <a:t>是管理软件项目的一个轻量级的敏捷方法，</a:t>
            </a:r>
            <a:r>
              <a:rPr lang="en-US" altLang="zh-CN" sz="1600" b="1" dirty="0">
                <a:ea typeface="微软雅黑" panose="020B0503020204020204" charset="-122"/>
                <a:sym typeface="+mn-ea"/>
              </a:rPr>
              <a:t>它是一种基于迭代、增量式开发的框架，用于管理和完成复杂的项目。Scrum强调团队合作、自组织、快速反馈和不断改进，以最大程度地提高项目的灵活性和适应性。 </a:t>
            </a:r>
            <a:endParaRPr lang="en-US" sz="1600" b="1" kern="100" dirty="0">
              <a:effectLst/>
              <a:latin typeface="微软雅黑" panose="020B0503020204020204" charset="-122"/>
              <a:ea typeface="微软雅黑" panose="020B0503020204020204" charset="-122"/>
              <a:cs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custDataLst>
              <p:tags r:id="rId1"/>
            </p:custDataLst>
          </p:nvPr>
        </p:nvPicPr>
        <p:blipFill>
          <a:blip r:embed="rId4"/>
          <a:stretch>
            <a:fillRect/>
          </a:stretch>
        </p:blipFill>
        <p:spPr>
          <a:xfrm>
            <a:off x="6902450" y="2607310"/>
            <a:ext cx="4977765" cy="2681605"/>
          </a:xfrm>
          <a:prstGeom prst="rect">
            <a:avLst/>
          </a:prstGeom>
        </p:spPr>
      </p:pic>
      <p:sp>
        <p:nvSpPr>
          <p:cNvPr id="2" name="标题 1"/>
          <p:cNvSpPr>
            <a:spLocks noGrp="1"/>
          </p:cNvSpPr>
          <p:nvPr>
            <p:ph type="title"/>
          </p:nvPr>
        </p:nvSpPr>
        <p:spPr/>
        <p:txBody>
          <a:bodyPr>
            <a:normAutofit/>
          </a:bodyPr>
          <a:lstStyle/>
          <a:p>
            <a:r>
              <a:rPr lang="en-US" altLang="zh-CN" dirty="0">
                <a:sym typeface="+mn-ea"/>
              </a:rPr>
              <a:t>03 </a:t>
            </a:r>
            <a:r>
              <a:rPr lang="zh-CN" altLang="en-US" dirty="0">
                <a:sym typeface="+mn-ea"/>
              </a:rPr>
              <a:t>敏捷开发方法</a:t>
            </a:r>
            <a:endParaRPr lang="zh-CN" altLang="en-US" dirty="0"/>
          </a:p>
        </p:txBody>
      </p:sp>
      <p:sp>
        <p:nvSpPr>
          <p:cNvPr id="3" name="灯片编号占位符 2"/>
          <p:cNvSpPr>
            <a:spLocks noGrp="1"/>
          </p:cNvSpPr>
          <p:nvPr>
            <p:ph type="sldNum" sz="quarter" idx="12"/>
          </p:nvPr>
        </p:nvSpPr>
        <p:spPr/>
        <p:txBody>
          <a:bodyPr/>
          <a:lstStyle/>
          <a:p>
            <a:fld id="{1AAC388E-FA9E-4A2C-95EA-1F6B3A07935A}" type="slidenum">
              <a:rPr lang="zh-CN" altLang="en-US" sz="1400" smtClean="0">
                <a:solidFill>
                  <a:srgbClr val="000000"/>
                </a:solidFill>
              </a:rPr>
              <a:t>19</a:t>
            </a:fld>
            <a:endParaRPr lang="zh-CN" altLang="en-US" sz="1400" dirty="0">
              <a:solidFill>
                <a:srgbClr val="000000"/>
              </a:solidFill>
            </a:endParaRPr>
          </a:p>
        </p:txBody>
      </p:sp>
      <p:sp>
        <p:nvSpPr>
          <p:cNvPr id="11" name="文本框 10"/>
          <p:cNvSpPr txBox="1"/>
          <p:nvPr/>
        </p:nvSpPr>
        <p:spPr>
          <a:xfrm>
            <a:off x="1087120" y="1777365"/>
            <a:ext cx="5603875" cy="4107815"/>
          </a:xfrm>
          <a:prstGeom prst="rect">
            <a:avLst/>
          </a:prstGeom>
          <a:noFill/>
        </p:spPr>
        <p:txBody>
          <a:bodyPr wrap="square" lIns="0" tIns="0" rIns="0" bIns="0" rtlCol="0" anchor="ctr">
            <a:noAutofit/>
          </a:bodyPr>
          <a:lstStyle/>
          <a:p>
            <a:pPr marL="285750" indent="-285750" algn="just" fontAlgn="auto">
              <a:lnSpc>
                <a:spcPct val="200000"/>
              </a:lnSpc>
              <a:buFont typeface="Wingdings" panose="05000000000000000000" charset="0"/>
              <a:buChar char="u"/>
            </a:pPr>
            <a:r>
              <a:rPr lang="en-US" altLang="zh-CN" b="1" dirty="0">
                <a:latin typeface="+mj-ea"/>
                <a:ea typeface="+mj-ea"/>
                <a:sym typeface="+mn-ea"/>
              </a:rPr>
              <a:t>Scrum</a:t>
            </a:r>
            <a:r>
              <a:rPr lang="zh-CN" b="1" dirty="0">
                <a:latin typeface="+mj-ea"/>
                <a:ea typeface="+mj-ea"/>
                <a:sym typeface="+mn-ea"/>
              </a:rPr>
              <a:t>中的三种角色</a:t>
            </a:r>
          </a:p>
          <a:p>
            <a:pPr algn="just" fontAlgn="auto">
              <a:lnSpc>
                <a:spcPct val="200000"/>
              </a:lnSpc>
            </a:pPr>
            <a:r>
              <a:rPr lang="zh-CN" b="1" dirty="0">
                <a:latin typeface="+mj-ea"/>
                <a:ea typeface="+mj-ea"/>
                <a:sym typeface="+mn-ea"/>
              </a:rPr>
              <a:t>产品负责人（Product Owner）：</a:t>
            </a:r>
            <a:r>
              <a:rPr lang="zh-CN" b="1" dirty="0">
                <a:solidFill>
                  <a:schemeClr val="accent2"/>
                </a:solidFill>
                <a:latin typeface="+mj-ea"/>
                <a:ea typeface="+mj-ea"/>
                <a:sym typeface="+mn-ea"/>
              </a:rPr>
              <a:t>产品负责人的责任在于帮助企业获得最高的投资回报（ROI）。</a:t>
            </a:r>
            <a:r>
              <a:rPr lang="zh-CN" dirty="0">
                <a:latin typeface="+mj-ea"/>
                <a:ea typeface="+mj-ea"/>
                <a:sym typeface="+mn-ea"/>
              </a:rPr>
              <a:t>其中一个最大化ROI的方法是引导团队做最有价值的工作，同时远离那些低价值的工作。产品负责人控制团队的待办列表中待办事项的优先级顺序。</a:t>
            </a:r>
            <a:r>
              <a:rPr lang="zh-CN" b="1" dirty="0">
                <a:solidFill>
                  <a:schemeClr val="accent2"/>
                </a:solidFill>
                <a:latin typeface="+mj-ea"/>
                <a:ea typeface="+mj-ea"/>
                <a:sym typeface="+mn-ea"/>
              </a:rPr>
              <a:t>在Scrum中，产品负责人是唯一有权给团队布置任务，或改变待办事项的优先级顺序的人。</a:t>
            </a:r>
            <a:endParaRPr lang="zh-CN" dirty="0">
              <a:latin typeface="+mj-ea"/>
              <a:ea typeface="+mj-ea"/>
              <a:sym typeface="+mn-ea"/>
            </a:endParaRPr>
          </a:p>
          <a:p>
            <a:pPr marL="285750" indent="-285750" algn="just" fontAlgn="auto">
              <a:lnSpc>
                <a:spcPct val="150000"/>
              </a:lnSpc>
              <a:buFont typeface="微软雅黑" panose="020B0503020204020204" charset="-122"/>
              <a:buChar char="-"/>
            </a:pPr>
            <a:endParaRPr lang="zh-CN" b="1" kern="100" dirty="0">
              <a:effectLst/>
              <a:latin typeface="+mj-ea"/>
              <a:ea typeface="+mj-ea"/>
              <a:cs typeface="Times New Roman" panose="02020603050405020304" pitchFamily="18" charset="0"/>
              <a:sym typeface="+mn-ea"/>
            </a:endParaRPr>
          </a:p>
        </p:txBody>
      </p:sp>
      <p:sp>
        <p:nvSpPr>
          <p:cNvPr id="5" name="文本框 4"/>
          <p:cNvSpPr txBox="1"/>
          <p:nvPr/>
        </p:nvSpPr>
        <p:spPr>
          <a:xfrm>
            <a:off x="718218" y="874354"/>
            <a:ext cx="3762342" cy="601075"/>
          </a:xfrm>
          <a:prstGeom prst="rect">
            <a:avLst/>
          </a:prstGeom>
          <a:noFill/>
        </p:spPr>
        <p:txBody>
          <a:bodyPr wrap="square" lIns="0" tIns="0" rIns="0" bIns="0" rtlCol="0" anchor="ctr">
            <a:noAutofit/>
          </a:bodyPr>
          <a:lstStyle/>
          <a:p>
            <a:pPr marL="285750" indent="-285750" algn="l">
              <a:lnSpc>
                <a:spcPct val="125000"/>
              </a:lnSpc>
              <a:spcAft>
                <a:spcPts val="500"/>
              </a:spcAft>
              <a:buFont typeface="Wingdings" panose="05000000000000000000" pitchFamily="2" charset="2"/>
              <a:buChar char="p"/>
            </a:pPr>
            <a:r>
              <a:rPr lang="zh-CN" altLang="en-US" sz="2400" dirty="0">
                <a:solidFill>
                  <a:srgbClr val="003F88"/>
                </a:solidFill>
              </a:rPr>
              <a:t> 敏捷开发方法</a:t>
            </a:r>
            <a:r>
              <a:rPr lang="en-US" altLang="zh-CN" sz="2400" dirty="0">
                <a:solidFill>
                  <a:srgbClr val="003F88"/>
                </a:solidFill>
              </a:rPr>
              <a:t>——Scrum</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custDataLst>
              <p:tags r:id="rId1"/>
            </p:custDataLst>
          </p:nvPr>
        </p:nvPicPr>
        <p:blipFill>
          <a:blip r:embed="rId4"/>
          <a:stretch>
            <a:fillRect/>
          </a:stretch>
        </p:blipFill>
        <p:spPr>
          <a:xfrm>
            <a:off x="6902450" y="2607310"/>
            <a:ext cx="4977765" cy="2681605"/>
          </a:xfrm>
          <a:prstGeom prst="rect">
            <a:avLst/>
          </a:prstGeom>
        </p:spPr>
      </p:pic>
      <p:sp>
        <p:nvSpPr>
          <p:cNvPr id="2" name="标题 1"/>
          <p:cNvSpPr>
            <a:spLocks noGrp="1"/>
          </p:cNvSpPr>
          <p:nvPr>
            <p:ph type="title"/>
          </p:nvPr>
        </p:nvSpPr>
        <p:spPr/>
        <p:txBody>
          <a:bodyPr>
            <a:normAutofit/>
          </a:bodyPr>
          <a:lstStyle/>
          <a:p>
            <a:r>
              <a:rPr lang="en-US" altLang="zh-CN" dirty="0">
                <a:sym typeface="+mn-ea"/>
              </a:rPr>
              <a:t>03 </a:t>
            </a:r>
            <a:r>
              <a:rPr lang="zh-CN" altLang="en-US" dirty="0">
                <a:sym typeface="+mn-ea"/>
              </a:rPr>
              <a:t>敏捷开发方法</a:t>
            </a:r>
            <a:endParaRPr lang="zh-CN" altLang="en-US" dirty="0"/>
          </a:p>
        </p:txBody>
      </p:sp>
      <p:sp>
        <p:nvSpPr>
          <p:cNvPr id="3" name="灯片编号占位符 2"/>
          <p:cNvSpPr>
            <a:spLocks noGrp="1"/>
          </p:cNvSpPr>
          <p:nvPr>
            <p:ph type="sldNum" sz="quarter" idx="12"/>
          </p:nvPr>
        </p:nvSpPr>
        <p:spPr/>
        <p:txBody>
          <a:bodyPr/>
          <a:lstStyle/>
          <a:p>
            <a:fld id="{1AAC388E-FA9E-4A2C-95EA-1F6B3A07935A}" type="slidenum">
              <a:rPr lang="zh-CN" altLang="en-US" sz="1400" smtClean="0">
                <a:solidFill>
                  <a:srgbClr val="000000"/>
                </a:solidFill>
              </a:rPr>
              <a:t>20</a:t>
            </a:fld>
            <a:endParaRPr lang="zh-CN" altLang="en-US" sz="1400" dirty="0">
              <a:solidFill>
                <a:srgbClr val="000000"/>
              </a:solidFill>
            </a:endParaRPr>
          </a:p>
        </p:txBody>
      </p:sp>
      <p:sp>
        <p:nvSpPr>
          <p:cNvPr id="11" name="文本框 10"/>
          <p:cNvSpPr txBox="1"/>
          <p:nvPr/>
        </p:nvSpPr>
        <p:spPr>
          <a:xfrm>
            <a:off x="1076960" y="1474470"/>
            <a:ext cx="5583555" cy="4107815"/>
          </a:xfrm>
          <a:prstGeom prst="rect">
            <a:avLst/>
          </a:prstGeom>
          <a:noFill/>
        </p:spPr>
        <p:txBody>
          <a:bodyPr wrap="square" lIns="0" tIns="0" rIns="0" bIns="0" rtlCol="0" anchor="t" anchorCtr="0">
            <a:noAutofit/>
          </a:bodyPr>
          <a:lstStyle/>
          <a:p>
            <a:pPr marL="285750" indent="-285750" algn="just" fontAlgn="auto">
              <a:lnSpc>
                <a:spcPct val="200000"/>
              </a:lnSpc>
              <a:buFont typeface="Wingdings" panose="05000000000000000000" charset="0"/>
              <a:buChar char="u"/>
            </a:pPr>
            <a:r>
              <a:rPr lang="en-US" altLang="zh-CN" b="1" dirty="0">
                <a:latin typeface="+mj-ea"/>
                <a:ea typeface="+mj-ea"/>
                <a:sym typeface="+mn-ea"/>
              </a:rPr>
              <a:t>Scrum</a:t>
            </a:r>
            <a:r>
              <a:rPr lang="zh-CN" b="1" dirty="0">
                <a:latin typeface="+mj-ea"/>
                <a:ea typeface="+mj-ea"/>
                <a:sym typeface="+mn-ea"/>
              </a:rPr>
              <a:t>中的三种角色</a:t>
            </a:r>
          </a:p>
          <a:p>
            <a:pPr algn="just" fontAlgn="auto">
              <a:lnSpc>
                <a:spcPct val="200000"/>
              </a:lnSpc>
            </a:pPr>
            <a:r>
              <a:rPr lang="zh-CN" b="1" dirty="0">
                <a:latin typeface="+mj-ea"/>
                <a:ea typeface="+mj-ea"/>
                <a:sym typeface="+mn-ea"/>
              </a:rPr>
              <a:t>流程管理人（Scrum Master）：</a:t>
            </a:r>
            <a:r>
              <a:rPr lang="zh-CN" dirty="0">
                <a:latin typeface="+mj-ea"/>
                <a:ea typeface="+mj-ea"/>
                <a:sym typeface="+mn-ea"/>
              </a:rPr>
              <a:t>Scrum master担当教练的角色，</a:t>
            </a:r>
            <a:r>
              <a:rPr lang="zh-CN" b="1" dirty="0">
                <a:solidFill>
                  <a:schemeClr val="accent2"/>
                </a:solidFill>
                <a:latin typeface="+mj-ea"/>
                <a:ea typeface="+mj-ea"/>
                <a:sym typeface="+mn-ea"/>
              </a:rPr>
              <a:t>引导团队提升凝聚力、自组织能力和团队效能</a:t>
            </a:r>
            <a:r>
              <a:rPr lang="zh-CN" dirty="0">
                <a:latin typeface="+mj-ea"/>
                <a:ea typeface="+mj-ea"/>
                <a:sym typeface="+mn-ea"/>
              </a:rPr>
              <a:t>。团队的交付物是产品，而Scrum master的交付物是更高效自组织的团队。Scrum Master从团队实际出发，帮助团队学习和运用scrum和其他的敏捷实践，并持续帮助团队清除工作障碍。</a:t>
            </a:r>
          </a:p>
        </p:txBody>
      </p:sp>
      <p:sp>
        <p:nvSpPr>
          <p:cNvPr id="5" name="文本框 4"/>
          <p:cNvSpPr txBox="1"/>
          <p:nvPr/>
        </p:nvSpPr>
        <p:spPr>
          <a:xfrm>
            <a:off x="718218" y="874354"/>
            <a:ext cx="3762342" cy="601075"/>
          </a:xfrm>
          <a:prstGeom prst="rect">
            <a:avLst/>
          </a:prstGeom>
          <a:noFill/>
        </p:spPr>
        <p:txBody>
          <a:bodyPr wrap="square" lIns="0" tIns="0" rIns="0" bIns="0" rtlCol="0" anchor="ctr">
            <a:noAutofit/>
          </a:bodyPr>
          <a:lstStyle/>
          <a:p>
            <a:pPr marL="285750" indent="-285750" algn="l">
              <a:lnSpc>
                <a:spcPct val="125000"/>
              </a:lnSpc>
              <a:spcAft>
                <a:spcPts val="500"/>
              </a:spcAft>
              <a:buFont typeface="Wingdings" panose="05000000000000000000" pitchFamily="2" charset="2"/>
              <a:buChar char="p"/>
            </a:pPr>
            <a:r>
              <a:rPr lang="zh-CN" altLang="en-US" sz="2400" dirty="0">
                <a:solidFill>
                  <a:srgbClr val="003F88"/>
                </a:solidFill>
              </a:rPr>
              <a:t> 敏捷开发方法</a:t>
            </a:r>
            <a:r>
              <a:rPr lang="en-US" altLang="zh-CN" sz="2400" dirty="0">
                <a:solidFill>
                  <a:srgbClr val="003F88"/>
                </a:solidFill>
              </a:rPr>
              <a:t>——Scrum</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custDataLst>
              <p:tags r:id="rId1"/>
            </p:custDataLst>
          </p:nvPr>
        </p:nvPicPr>
        <p:blipFill>
          <a:blip r:embed="rId4"/>
          <a:stretch>
            <a:fillRect/>
          </a:stretch>
        </p:blipFill>
        <p:spPr>
          <a:xfrm>
            <a:off x="6902450" y="2607310"/>
            <a:ext cx="4977765" cy="2681605"/>
          </a:xfrm>
          <a:prstGeom prst="rect">
            <a:avLst/>
          </a:prstGeom>
        </p:spPr>
      </p:pic>
      <p:sp>
        <p:nvSpPr>
          <p:cNvPr id="2" name="标题 1"/>
          <p:cNvSpPr>
            <a:spLocks noGrp="1"/>
          </p:cNvSpPr>
          <p:nvPr>
            <p:ph type="title"/>
          </p:nvPr>
        </p:nvSpPr>
        <p:spPr/>
        <p:txBody>
          <a:bodyPr>
            <a:normAutofit/>
          </a:bodyPr>
          <a:lstStyle/>
          <a:p>
            <a:r>
              <a:rPr lang="en-US" altLang="zh-CN" dirty="0">
                <a:sym typeface="+mn-ea"/>
              </a:rPr>
              <a:t>03 </a:t>
            </a:r>
            <a:r>
              <a:rPr lang="zh-CN" altLang="en-US" dirty="0">
                <a:sym typeface="+mn-ea"/>
              </a:rPr>
              <a:t>敏捷开发方法</a:t>
            </a:r>
            <a:endParaRPr lang="zh-CN" altLang="en-US" dirty="0"/>
          </a:p>
        </p:txBody>
      </p:sp>
      <p:sp>
        <p:nvSpPr>
          <p:cNvPr id="3" name="灯片编号占位符 2"/>
          <p:cNvSpPr>
            <a:spLocks noGrp="1"/>
          </p:cNvSpPr>
          <p:nvPr>
            <p:ph type="sldNum" sz="quarter" idx="12"/>
          </p:nvPr>
        </p:nvSpPr>
        <p:spPr/>
        <p:txBody>
          <a:bodyPr/>
          <a:lstStyle/>
          <a:p>
            <a:fld id="{1AAC388E-FA9E-4A2C-95EA-1F6B3A07935A}" type="slidenum">
              <a:rPr lang="zh-CN" altLang="en-US" sz="1400" smtClean="0">
                <a:solidFill>
                  <a:srgbClr val="000000"/>
                </a:solidFill>
              </a:rPr>
              <a:t>21</a:t>
            </a:fld>
            <a:endParaRPr lang="zh-CN" altLang="en-US" sz="1400" dirty="0">
              <a:solidFill>
                <a:srgbClr val="000000"/>
              </a:solidFill>
            </a:endParaRPr>
          </a:p>
        </p:txBody>
      </p:sp>
      <p:sp>
        <p:nvSpPr>
          <p:cNvPr id="11" name="文本框 10"/>
          <p:cNvSpPr txBox="1"/>
          <p:nvPr/>
        </p:nvSpPr>
        <p:spPr>
          <a:xfrm>
            <a:off x="1056640" y="1475430"/>
            <a:ext cx="5634355" cy="4350696"/>
          </a:xfrm>
          <a:prstGeom prst="rect">
            <a:avLst/>
          </a:prstGeom>
          <a:noFill/>
        </p:spPr>
        <p:txBody>
          <a:bodyPr wrap="square" lIns="0" tIns="0" rIns="0" bIns="0" rtlCol="0" anchor="t" anchorCtr="0">
            <a:noAutofit/>
          </a:bodyPr>
          <a:lstStyle/>
          <a:p>
            <a:pPr marL="285750" indent="-285750" algn="just" fontAlgn="auto">
              <a:lnSpc>
                <a:spcPct val="200000"/>
              </a:lnSpc>
              <a:buFont typeface="Wingdings" panose="05000000000000000000" charset="0"/>
              <a:buChar char="u"/>
            </a:pPr>
            <a:r>
              <a:rPr lang="en-US" altLang="zh-CN" b="1" dirty="0">
                <a:latin typeface="+mj-ea"/>
                <a:ea typeface="+mj-ea"/>
                <a:sym typeface="+mn-ea"/>
              </a:rPr>
              <a:t>Scrum</a:t>
            </a:r>
            <a:r>
              <a:rPr lang="zh-CN" b="1" dirty="0">
                <a:latin typeface="+mj-ea"/>
                <a:ea typeface="+mj-ea"/>
                <a:sym typeface="+mn-ea"/>
              </a:rPr>
              <a:t>中的三种角色</a:t>
            </a:r>
          </a:p>
          <a:p>
            <a:pPr algn="just" fontAlgn="auto">
              <a:lnSpc>
                <a:spcPct val="200000"/>
              </a:lnSpc>
            </a:pPr>
            <a:r>
              <a:rPr lang="zh-CN" b="1" dirty="0">
                <a:latin typeface="+mj-ea"/>
                <a:ea typeface="+mj-ea"/>
                <a:sym typeface="+mn-ea"/>
              </a:rPr>
              <a:t>团队成员（Team Member）：</a:t>
            </a:r>
            <a:r>
              <a:rPr lang="zh-CN" dirty="0">
                <a:latin typeface="+mj-ea"/>
                <a:ea typeface="+mj-ea"/>
                <a:sym typeface="+mn-ea"/>
              </a:rPr>
              <a:t>高效能的Scrum团队是高度协同和自组织的。团队成员可以全权决定如何完成工作；团队可以自行决定使用什么工具和技术，以及团队成员如何瓜分任务。团队负责完成用户故事以持续增加产品的价值，并自组织地完成所有工作。团队成员有权决定如何完成工作。</a:t>
            </a:r>
          </a:p>
        </p:txBody>
      </p:sp>
      <p:sp>
        <p:nvSpPr>
          <p:cNvPr id="5" name="文本框 4"/>
          <p:cNvSpPr txBox="1"/>
          <p:nvPr/>
        </p:nvSpPr>
        <p:spPr>
          <a:xfrm>
            <a:off x="718218" y="874354"/>
            <a:ext cx="3762342" cy="601075"/>
          </a:xfrm>
          <a:prstGeom prst="rect">
            <a:avLst/>
          </a:prstGeom>
          <a:noFill/>
        </p:spPr>
        <p:txBody>
          <a:bodyPr wrap="square" lIns="0" tIns="0" rIns="0" bIns="0" rtlCol="0" anchor="ctr">
            <a:noAutofit/>
          </a:bodyPr>
          <a:lstStyle/>
          <a:p>
            <a:pPr marL="285750" indent="-285750" algn="l">
              <a:lnSpc>
                <a:spcPct val="125000"/>
              </a:lnSpc>
              <a:spcAft>
                <a:spcPts val="500"/>
              </a:spcAft>
              <a:buFont typeface="Wingdings" panose="05000000000000000000" pitchFamily="2" charset="2"/>
              <a:buChar char="p"/>
            </a:pPr>
            <a:r>
              <a:rPr lang="zh-CN" altLang="en-US" sz="2400" dirty="0">
                <a:solidFill>
                  <a:srgbClr val="003F88"/>
                </a:solidFill>
              </a:rPr>
              <a:t> 敏捷开发方法</a:t>
            </a:r>
            <a:r>
              <a:rPr lang="en-US" altLang="zh-CN" sz="2400" dirty="0">
                <a:solidFill>
                  <a:srgbClr val="003F88"/>
                </a:solidFill>
              </a:rPr>
              <a:t>——Scrum</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custDataLst>
              <p:tags r:id="rId1"/>
            </p:custDataLst>
          </p:nvPr>
        </p:nvPicPr>
        <p:blipFill>
          <a:blip r:embed="rId4"/>
          <a:stretch>
            <a:fillRect/>
          </a:stretch>
        </p:blipFill>
        <p:spPr>
          <a:xfrm>
            <a:off x="8035925" y="2211070"/>
            <a:ext cx="3761740" cy="3035300"/>
          </a:xfrm>
          <a:prstGeom prst="rect">
            <a:avLst/>
          </a:prstGeom>
        </p:spPr>
      </p:pic>
      <p:sp>
        <p:nvSpPr>
          <p:cNvPr id="2" name="标题 1"/>
          <p:cNvSpPr>
            <a:spLocks noGrp="1"/>
          </p:cNvSpPr>
          <p:nvPr>
            <p:ph type="title"/>
          </p:nvPr>
        </p:nvSpPr>
        <p:spPr/>
        <p:txBody>
          <a:bodyPr>
            <a:normAutofit/>
          </a:bodyPr>
          <a:lstStyle/>
          <a:p>
            <a:r>
              <a:rPr lang="en-US" altLang="zh-CN" dirty="0">
                <a:sym typeface="+mn-ea"/>
              </a:rPr>
              <a:t>03 </a:t>
            </a:r>
            <a:r>
              <a:rPr lang="zh-CN" altLang="en-US" dirty="0">
                <a:sym typeface="+mn-ea"/>
              </a:rPr>
              <a:t>敏捷开发方法</a:t>
            </a:r>
            <a:endParaRPr lang="zh-CN" altLang="en-US" dirty="0"/>
          </a:p>
        </p:txBody>
      </p:sp>
      <p:sp>
        <p:nvSpPr>
          <p:cNvPr id="3" name="灯片编号占位符 2"/>
          <p:cNvSpPr>
            <a:spLocks noGrp="1"/>
          </p:cNvSpPr>
          <p:nvPr>
            <p:ph type="sldNum" sz="quarter" idx="12"/>
          </p:nvPr>
        </p:nvSpPr>
        <p:spPr/>
        <p:txBody>
          <a:bodyPr/>
          <a:lstStyle/>
          <a:p>
            <a:fld id="{1AAC388E-FA9E-4A2C-95EA-1F6B3A07935A}" type="slidenum">
              <a:rPr lang="zh-CN" altLang="en-US" sz="1400" smtClean="0">
                <a:solidFill>
                  <a:srgbClr val="000000"/>
                </a:solidFill>
              </a:rPr>
              <a:t>22</a:t>
            </a:fld>
            <a:endParaRPr lang="zh-CN" altLang="en-US" sz="1400" dirty="0">
              <a:solidFill>
                <a:srgbClr val="000000"/>
              </a:solidFill>
            </a:endParaRPr>
          </a:p>
        </p:txBody>
      </p:sp>
      <p:sp>
        <p:nvSpPr>
          <p:cNvPr id="11" name="文本框 10"/>
          <p:cNvSpPr txBox="1"/>
          <p:nvPr/>
        </p:nvSpPr>
        <p:spPr>
          <a:xfrm>
            <a:off x="991870" y="1546697"/>
            <a:ext cx="6526530" cy="4541683"/>
          </a:xfrm>
          <a:prstGeom prst="rect">
            <a:avLst/>
          </a:prstGeom>
          <a:noFill/>
        </p:spPr>
        <p:txBody>
          <a:bodyPr wrap="square" lIns="0" tIns="0" rIns="0" bIns="0" rtlCol="0" anchor="ctr">
            <a:noAutofit/>
          </a:bodyPr>
          <a:lstStyle/>
          <a:p>
            <a:pPr marL="285750" indent="-285750" algn="just" fontAlgn="auto">
              <a:lnSpc>
                <a:spcPct val="200000"/>
              </a:lnSpc>
              <a:buFont typeface="Wingdings" panose="05000000000000000000" charset="0"/>
              <a:buChar char="u"/>
            </a:pPr>
            <a:r>
              <a:rPr lang="en-US" altLang="zh-CN" b="1" dirty="0">
                <a:latin typeface="+mj-ea"/>
                <a:ea typeface="+mj-ea"/>
                <a:sym typeface="+mn-ea"/>
              </a:rPr>
              <a:t>Scrum</a:t>
            </a:r>
            <a:r>
              <a:rPr lang="zh-CN" b="1" dirty="0">
                <a:latin typeface="+mj-ea"/>
                <a:ea typeface="+mj-ea"/>
                <a:sym typeface="+mn-ea"/>
              </a:rPr>
              <a:t>中的四种会议</a:t>
            </a:r>
          </a:p>
          <a:p>
            <a:pPr marL="742950" lvl="1" indent="-285750" algn="just">
              <a:lnSpc>
                <a:spcPct val="150000"/>
              </a:lnSpc>
              <a:buFont typeface="微软雅黑" panose="020B0503020204020204" charset="-122"/>
              <a:buChar char="-"/>
            </a:pPr>
            <a:r>
              <a:rPr lang="zh-CN" b="1" dirty="0">
                <a:latin typeface="+mj-ea"/>
                <a:ea typeface="+mj-ea"/>
                <a:sym typeface="+mn-ea"/>
              </a:rPr>
              <a:t>冲刺计划会议（Sprint Planning Meeting）：</a:t>
            </a:r>
            <a:r>
              <a:rPr lang="zh-CN" dirty="0">
                <a:latin typeface="+mj-ea"/>
                <a:ea typeface="+mj-ea"/>
                <a:sym typeface="+mn-ea"/>
              </a:rPr>
              <a:t>在每个冲刺开始前召开，由</a:t>
            </a:r>
            <a:r>
              <a:rPr lang="zh-CN" dirty="0">
                <a:solidFill>
                  <a:schemeClr val="accent2"/>
                </a:solidFill>
                <a:latin typeface="+mj-ea"/>
                <a:ea typeface="+mj-ea"/>
                <a:sym typeface="+mn-ea"/>
              </a:rPr>
              <a:t>整个Scrum团队和产品负责人参加</a:t>
            </a:r>
            <a:r>
              <a:rPr lang="zh-CN" dirty="0">
                <a:latin typeface="+mj-ea"/>
                <a:ea typeface="+mj-ea"/>
                <a:sym typeface="+mn-ea"/>
              </a:rPr>
              <a:t>。在会议上，产品负责人阐述产品需求和优先级，Scrum团队讨论并承诺在本次冲刺中要完成的工作。</a:t>
            </a:r>
          </a:p>
          <a:p>
            <a:pPr marL="742950" lvl="1" indent="-285750" algn="just">
              <a:lnSpc>
                <a:spcPct val="150000"/>
              </a:lnSpc>
              <a:buFont typeface="微软雅黑" panose="020B0503020204020204" charset="-122"/>
              <a:buChar char="-"/>
            </a:pPr>
            <a:r>
              <a:rPr lang="zh-CN" b="1" dirty="0">
                <a:latin typeface="+mj-ea"/>
                <a:ea typeface="+mj-ea"/>
                <a:sym typeface="+mn-ea"/>
              </a:rPr>
              <a:t>每日站会（Daily Scrum）：</a:t>
            </a:r>
            <a:r>
              <a:rPr lang="zh-CN" dirty="0">
                <a:latin typeface="+mj-ea"/>
                <a:ea typeface="+mj-ea"/>
                <a:sym typeface="+mn-ea"/>
              </a:rPr>
              <a:t>每天15分钟的短会议，</a:t>
            </a:r>
            <a:r>
              <a:rPr lang="zh-CN" dirty="0">
                <a:solidFill>
                  <a:schemeClr val="accent2"/>
                </a:solidFill>
                <a:latin typeface="+mj-ea"/>
                <a:ea typeface="+mj-ea"/>
                <a:sym typeface="+mn-ea"/>
              </a:rPr>
              <a:t>由Scrum团队成员参加。</a:t>
            </a:r>
            <a:r>
              <a:rPr lang="zh-CN" dirty="0">
                <a:latin typeface="+mj-ea"/>
                <a:ea typeface="+mj-ea"/>
                <a:sym typeface="+mn-ea"/>
              </a:rPr>
              <a:t>在会议上，每个成员简要汇报前一天的工作进展、今天的工作计划和遇到的问题。会议的目的是确保团队成员了解当前的工作状态，及时发现和解决问题。</a:t>
            </a:r>
            <a:endParaRPr lang="zh-CN" b="1" dirty="0">
              <a:latin typeface="+mj-ea"/>
              <a:ea typeface="+mj-ea"/>
              <a:sym typeface="+mn-ea"/>
            </a:endParaRPr>
          </a:p>
          <a:p>
            <a:pPr indent="0" algn="just" fontAlgn="auto">
              <a:lnSpc>
                <a:spcPct val="200000"/>
              </a:lnSpc>
              <a:buFont typeface="Wingdings" panose="05000000000000000000" charset="0"/>
              <a:buNone/>
            </a:pPr>
            <a:endParaRPr lang="zh-CN" b="1" kern="100" dirty="0">
              <a:effectLst/>
              <a:latin typeface="+mj-ea"/>
              <a:ea typeface="+mj-ea"/>
              <a:cs typeface="Times New Roman" panose="02020603050405020304" pitchFamily="18" charset="0"/>
              <a:sym typeface="+mn-ea"/>
            </a:endParaRPr>
          </a:p>
        </p:txBody>
      </p:sp>
      <p:sp>
        <p:nvSpPr>
          <p:cNvPr id="6" name="文本框 5"/>
          <p:cNvSpPr txBox="1"/>
          <p:nvPr/>
        </p:nvSpPr>
        <p:spPr>
          <a:xfrm>
            <a:off x="718218" y="874354"/>
            <a:ext cx="3762342" cy="601075"/>
          </a:xfrm>
          <a:prstGeom prst="rect">
            <a:avLst/>
          </a:prstGeom>
          <a:noFill/>
        </p:spPr>
        <p:txBody>
          <a:bodyPr wrap="square" lIns="0" tIns="0" rIns="0" bIns="0" rtlCol="0" anchor="ctr">
            <a:noAutofit/>
          </a:bodyPr>
          <a:lstStyle/>
          <a:p>
            <a:pPr marL="285750" indent="-285750" algn="l">
              <a:lnSpc>
                <a:spcPct val="125000"/>
              </a:lnSpc>
              <a:spcAft>
                <a:spcPts val="500"/>
              </a:spcAft>
              <a:buFont typeface="Wingdings" panose="05000000000000000000" pitchFamily="2" charset="2"/>
              <a:buChar char="p"/>
            </a:pPr>
            <a:r>
              <a:rPr lang="zh-CN" altLang="en-US" sz="2400" dirty="0">
                <a:solidFill>
                  <a:srgbClr val="003F88"/>
                </a:solidFill>
              </a:rPr>
              <a:t> 敏捷开发方法</a:t>
            </a:r>
            <a:r>
              <a:rPr lang="en-US" altLang="zh-CN" sz="2400" dirty="0">
                <a:solidFill>
                  <a:srgbClr val="003F88"/>
                </a:solidFill>
              </a:rPr>
              <a:t>——Scrum</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sym typeface="+mn-ea"/>
              </a:rPr>
              <a:t>03 </a:t>
            </a:r>
            <a:r>
              <a:rPr lang="zh-CN" altLang="en-US" dirty="0">
                <a:sym typeface="+mn-ea"/>
              </a:rPr>
              <a:t>敏捷开发方法</a:t>
            </a:r>
            <a:endParaRPr lang="zh-CN" altLang="en-US" dirty="0"/>
          </a:p>
        </p:txBody>
      </p:sp>
      <p:sp>
        <p:nvSpPr>
          <p:cNvPr id="3" name="灯片编号占位符 2"/>
          <p:cNvSpPr>
            <a:spLocks noGrp="1"/>
          </p:cNvSpPr>
          <p:nvPr>
            <p:ph type="sldNum" sz="quarter" idx="12"/>
          </p:nvPr>
        </p:nvSpPr>
        <p:spPr/>
        <p:txBody>
          <a:bodyPr/>
          <a:lstStyle/>
          <a:p>
            <a:fld id="{1AAC388E-FA9E-4A2C-95EA-1F6B3A07935A}" type="slidenum">
              <a:rPr lang="zh-CN" altLang="en-US" sz="1400" smtClean="0">
                <a:solidFill>
                  <a:srgbClr val="000000"/>
                </a:solidFill>
              </a:rPr>
              <a:t>23</a:t>
            </a:fld>
            <a:endParaRPr lang="zh-CN" altLang="en-US" sz="1400" dirty="0">
              <a:solidFill>
                <a:srgbClr val="000000"/>
              </a:solidFill>
            </a:endParaRPr>
          </a:p>
        </p:txBody>
      </p:sp>
      <p:sp>
        <p:nvSpPr>
          <p:cNvPr id="11" name="文本框 10"/>
          <p:cNvSpPr txBox="1"/>
          <p:nvPr/>
        </p:nvSpPr>
        <p:spPr>
          <a:xfrm>
            <a:off x="991870" y="1475430"/>
            <a:ext cx="6607810" cy="4635176"/>
          </a:xfrm>
          <a:prstGeom prst="rect">
            <a:avLst/>
          </a:prstGeom>
          <a:noFill/>
        </p:spPr>
        <p:txBody>
          <a:bodyPr wrap="square" lIns="0" tIns="0" rIns="0" bIns="0" rtlCol="0" anchor="ctr">
            <a:noAutofit/>
          </a:bodyPr>
          <a:lstStyle/>
          <a:p>
            <a:pPr marL="285750" indent="-285750" algn="just" fontAlgn="auto">
              <a:lnSpc>
                <a:spcPct val="200000"/>
              </a:lnSpc>
              <a:buFont typeface="Wingdings" panose="05000000000000000000" charset="0"/>
              <a:buChar char="u"/>
            </a:pPr>
            <a:r>
              <a:rPr lang="en-US" altLang="zh-CN" b="1" dirty="0">
                <a:latin typeface="+mj-ea"/>
                <a:ea typeface="+mj-ea"/>
                <a:sym typeface="+mn-ea"/>
              </a:rPr>
              <a:t>Scrum</a:t>
            </a:r>
            <a:r>
              <a:rPr lang="zh-CN" b="1" dirty="0">
                <a:latin typeface="+mj-ea"/>
                <a:ea typeface="+mj-ea"/>
                <a:sym typeface="+mn-ea"/>
              </a:rPr>
              <a:t>中的四种会议</a:t>
            </a:r>
          </a:p>
          <a:p>
            <a:pPr marL="742950" lvl="1" indent="-285750" algn="just">
              <a:lnSpc>
                <a:spcPct val="150000"/>
              </a:lnSpc>
              <a:buFont typeface="微软雅黑" panose="020B0503020204020204" charset="-122"/>
              <a:buChar char="-"/>
            </a:pPr>
            <a:r>
              <a:rPr lang="zh-CN" b="1" dirty="0">
                <a:latin typeface="+mj-ea"/>
                <a:ea typeface="+mj-ea"/>
                <a:sym typeface="+mn-ea"/>
              </a:rPr>
              <a:t>冲刺评审会议（Sprint Review Meeting）：</a:t>
            </a:r>
            <a:r>
              <a:rPr lang="zh-CN" dirty="0">
                <a:latin typeface="+mj-ea"/>
                <a:ea typeface="+mj-ea"/>
                <a:sym typeface="+mn-ea"/>
              </a:rPr>
              <a:t>在每个冲刺结束后召开，由整个Scrum团队和利益相关者参加。在会议上，Scrum团队展示完成的工作成果，利益相关者提供反馈和建议。会议的目的是确保产品符合客户需求，同时促进团队和客户之间的沟通和合作。</a:t>
            </a:r>
          </a:p>
          <a:p>
            <a:pPr marL="742950" lvl="1" indent="-285750" algn="just">
              <a:lnSpc>
                <a:spcPct val="150000"/>
              </a:lnSpc>
              <a:buFont typeface="微软雅黑" panose="020B0503020204020204" charset="-122"/>
              <a:buChar char="-"/>
            </a:pPr>
            <a:r>
              <a:rPr lang="zh-CN" b="1" dirty="0">
                <a:latin typeface="+mj-ea"/>
                <a:ea typeface="+mj-ea"/>
                <a:sym typeface="+mn-ea"/>
              </a:rPr>
              <a:t>冲刺回顾会议（Sprint Retrospective Meeting）：</a:t>
            </a:r>
            <a:r>
              <a:rPr lang="zh-CN" dirty="0">
                <a:latin typeface="+mj-ea"/>
                <a:ea typeface="+mj-ea"/>
                <a:sym typeface="+mn-ea"/>
              </a:rPr>
              <a:t>在每个冲刺评审会议后召开，由整个Scrum团队参加。在会议上，团队回顾上一个冲刺的工作过程，检讨遇到的问题和改进措施。会议的目的是帮助团队不断改进工作流程和工作效率，提高团队合作和软件开发质量。</a:t>
            </a:r>
          </a:p>
        </p:txBody>
      </p:sp>
      <p:sp>
        <p:nvSpPr>
          <p:cNvPr id="6" name="文本框 5"/>
          <p:cNvSpPr txBox="1"/>
          <p:nvPr/>
        </p:nvSpPr>
        <p:spPr>
          <a:xfrm>
            <a:off x="718218" y="874354"/>
            <a:ext cx="3762342" cy="601075"/>
          </a:xfrm>
          <a:prstGeom prst="rect">
            <a:avLst/>
          </a:prstGeom>
          <a:noFill/>
        </p:spPr>
        <p:txBody>
          <a:bodyPr wrap="square" lIns="0" tIns="0" rIns="0" bIns="0" rtlCol="0" anchor="ctr">
            <a:noAutofit/>
          </a:bodyPr>
          <a:lstStyle/>
          <a:p>
            <a:pPr marL="285750" indent="-285750" algn="l">
              <a:lnSpc>
                <a:spcPct val="125000"/>
              </a:lnSpc>
              <a:spcAft>
                <a:spcPts val="500"/>
              </a:spcAft>
              <a:buFont typeface="Wingdings" panose="05000000000000000000" pitchFamily="2" charset="2"/>
              <a:buChar char="p"/>
            </a:pPr>
            <a:r>
              <a:rPr lang="zh-CN" altLang="en-US" sz="2400" dirty="0">
                <a:solidFill>
                  <a:srgbClr val="003F88"/>
                </a:solidFill>
              </a:rPr>
              <a:t> 敏捷开发方法</a:t>
            </a:r>
            <a:r>
              <a:rPr lang="en-US" altLang="zh-CN" sz="2400" dirty="0">
                <a:solidFill>
                  <a:srgbClr val="003F88"/>
                </a:solidFill>
              </a:rPr>
              <a:t>——Scrum</a:t>
            </a:r>
          </a:p>
        </p:txBody>
      </p:sp>
      <p:pic>
        <p:nvPicPr>
          <p:cNvPr id="7" name="图片 6"/>
          <p:cNvPicPr>
            <a:picLocks noChangeAspect="1"/>
          </p:cNvPicPr>
          <p:nvPr>
            <p:custDataLst>
              <p:tags r:id="rId1"/>
            </p:custDataLst>
          </p:nvPr>
        </p:nvPicPr>
        <p:blipFill>
          <a:blip r:embed="rId4"/>
          <a:stretch>
            <a:fillRect/>
          </a:stretch>
        </p:blipFill>
        <p:spPr>
          <a:xfrm>
            <a:off x="8035925" y="2211070"/>
            <a:ext cx="3761740" cy="30353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custDataLst>
              <p:tags r:id="rId1"/>
            </p:custDataLst>
          </p:nvPr>
        </p:nvPicPr>
        <p:blipFill>
          <a:blip r:embed="rId4"/>
          <a:srcRect l="21972"/>
          <a:stretch>
            <a:fillRect/>
          </a:stretch>
        </p:blipFill>
        <p:spPr>
          <a:xfrm>
            <a:off x="6010275" y="2686685"/>
            <a:ext cx="5869940" cy="3347720"/>
          </a:xfrm>
          <a:prstGeom prst="rect">
            <a:avLst/>
          </a:prstGeom>
        </p:spPr>
      </p:pic>
      <p:sp>
        <p:nvSpPr>
          <p:cNvPr id="2" name="标题 1"/>
          <p:cNvSpPr>
            <a:spLocks noGrp="1"/>
          </p:cNvSpPr>
          <p:nvPr>
            <p:ph type="title"/>
          </p:nvPr>
        </p:nvSpPr>
        <p:spPr/>
        <p:txBody>
          <a:bodyPr>
            <a:normAutofit/>
          </a:bodyPr>
          <a:lstStyle/>
          <a:p>
            <a:r>
              <a:rPr lang="en-US" altLang="zh-CN" dirty="0">
                <a:sym typeface="+mn-ea"/>
              </a:rPr>
              <a:t>03 </a:t>
            </a:r>
            <a:r>
              <a:rPr lang="zh-CN" altLang="en-US" dirty="0">
                <a:sym typeface="+mn-ea"/>
              </a:rPr>
              <a:t>敏捷开发方法</a:t>
            </a:r>
            <a:endParaRPr lang="zh-CN" altLang="en-US" dirty="0"/>
          </a:p>
        </p:txBody>
      </p:sp>
      <p:sp>
        <p:nvSpPr>
          <p:cNvPr id="3" name="灯片编号占位符 2"/>
          <p:cNvSpPr>
            <a:spLocks noGrp="1"/>
          </p:cNvSpPr>
          <p:nvPr>
            <p:ph type="sldNum" sz="quarter" idx="12"/>
          </p:nvPr>
        </p:nvSpPr>
        <p:spPr/>
        <p:txBody>
          <a:bodyPr/>
          <a:lstStyle/>
          <a:p>
            <a:fld id="{1AAC388E-FA9E-4A2C-95EA-1F6B3A07935A}" type="slidenum">
              <a:rPr lang="zh-CN" altLang="en-US" sz="1400" smtClean="0">
                <a:solidFill>
                  <a:srgbClr val="000000"/>
                </a:solidFill>
              </a:rPr>
              <a:t>24</a:t>
            </a:fld>
            <a:endParaRPr lang="zh-CN" altLang="en-US" sz="1400" dirty="0">
              <a:solidFill>
                <a:srgbClr val="000000"/>
              </a:solidFill>
            </a:endParaRPr>
          </a:p>
        </p:txBody>
      </p:sp>
      <p:sp>
        <p:nvSpPr>
          <p:cNvPr id="11" name="文本框 10"/>
          <p:cNvSpPr txBox="1"/>
          <p:nvPr/>
        </p:nvSpPr>
        <p:spPr>
          <a:xfrm>
            <a:off x="1066800" y="1495750"/>
            <a:ext cx="4655185" cy="4313866"/>
          </a:xfrm>
          <a:prstGeom prst="rect">
            <a:avLst/>
          </a:prstGeom>
          <a:noFill/>
        </p:spPr>
        <p:txBody>
          <a:bodyPr wrap="square" lIns="0" tIns="0" rIns="0" bIns="0" rtlCol="0" anchor="t" anchorCtr="0">
            <a:noAutofit/>
          </a:bodyPr>
          <a:lstStyle/>
          <a:p>
            <a:pPr marL="285750" indent="-285750" algn="just" fontAlgn="auto">
              <a:lnSpc>
                <a:spcPct val="200000"/>
              </a:lnSpc>
              <a:buFont typeface="Wingdings" panose="05000000000000000000" charset="0"/>
              <a:buChar char="u"/>
            </a:pPr>
            <a:r>
              <a:rPr lang="en-US" altLang="zh-CN" b="1" dirty="0">
                <a:latin typeface="+mj-ea"/>
                <a:ea typeface="+mj-ea"/>
                <a:sym typeface="+mn-ea"/>
              </a:rPr>
              <a:t>Scrum</a:t>
            </a:r>
            <a:r>
              <a:rPr lang="zh-CN" b="1" dirty="0">
                <a:latin typeface="+mj-ea"/>
                <a:ea typeface="+mj-ea"/>
                <a:sym typeface="+mn-ea"/>
              </a:rPr>
              <a:t>中的三种工具</a:t>
            </a:r>
          </a:p>
          <a:p>
            <a:pPr algn="just" fontAlgn="auto">
              <a:lnSpc>
                <a:spcPct val="200000"/>
              </a:lnSpc>
              <a:buClrTx/>
              <a:buSzTx/>
            </a:pPr>
            <a:r>
              <a:rPr b="1" dirty="0">
                <a:latin typeface="+mj-ea"/>
                <a:ea typeface="+mj-ea"/>
              </a:rPr>
              <a:t>产品待办列表（The Product Backlog）</a:t>
            </a:r>
            <a:r>
              <a:rPr lang="zh-CN" b="1" dirty="0">
                <a:latin typeface="+mj-ea"/>
                <a:ea typeface="+mj-ea"/>
                <a:sym typeface="+mn-ea"/>
              </a:rPr>
              <a:t>：</a:t>
            </a:r>
            <a:r>
              <a:rPr lang="zh-CN" dirty="0">
                <a:latin typeface="+mj-ea"/>
                <a:ea typeface="+mj-ea"/>
                <a:sym typeface="+mn-ea"/>
              </a:rPr>
              <a:t>产品待办列表是产品预期交付物的累积清单，清单中包括了特性、缺陷修复、文档变更和任何对产品有意义和有价值的东西，通常称之为“待办事项”。产品待办列表是按优先级排序的，最重要的故事，也就是团队接下来就要实现的故事，位于列表的顶部，排在它下面的是第二个要实现的故事，以此类推。</a:t>
            </a:r>
          </a:p>
        </p:txBody>
      </p:sp>
      <p:sp>
        <p:nvSpPr>
          <p:cNvPr id="5" name="文本框 4"/>
          <p:cNvSpPr txBox="1"/>
          <p:nvPr/>
        </p:nvSpPr>
        <p:spPr>
          <a:xfrm>
            <a:off x="718218" y="874354"/>
            <a:ext cx="3762342" cy="601075"/>
          </a:xfrm>
          <a:prstGeom prst="rect">
            <a:avLst/>
          </a:prstGeom>
          <a:noFill/>
        </p:spPr>
        <p:txBody>
          <a:bodyPr wrap="square" lIns="0" tIns="0" rIns="0" bIns="0" rtlCol="0" anchor="ctr">
            <a:noAutofit/>
          </a:bodyPr>
          <a:lstStyle/>
          <a:p>
            <a:pPr marL="285750" indent="-285750" algn="l">
              <a:lnSpc>
                <a:spcPct val="125000"/>
              </a:lnSpc>
              <a:spcAft>
                <a:spcPts val="500"/>
              </a:spcAft>
              <a:buFont typeface="Wingdings" panose="05000000000000000000" pitchFamily="2" charset="2"/>
              <a:buChar char="p"/>
            </a:pPr>
            <a:r>
              <a:rPr lang="zh-CN" altLang="en-US" sz="2400" dirty="0">
                <a:solidFill>
                  <a:srgbClr val="003F88"/>
                </a:solidFill>
              </a:rPr>
              <a:t> 敏捷开发方法</a:t>
            </a:r>
            <a:r>
              <a:rPr lang="en-US" altLang="zh-CN" sz="2400" dirty="0">
                <a:solidFill>
                  <a:srgbClr val="003F88"/>
                </a:solidFill>
              </a:rPr>
              <a:t>——Scrum</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custDataLst>
              <p:tags r:id="rId1"/>
            </p:custDataLst>
          </p:nvPr>
        </p:nvPicPr>
        <p:blipFill>
          <a:blip r:embed="rId4"/>
          <a:stretch>
            <a:fillRect/>
          </a:stretch>
        </p:blipFill>
        <p:spPr>
          <a:xfrm>
            <a:off x="6327140" y="2603500"/>
            <a:ext cx="5747385" cy="3361055"/>
          </a:xfrm>
          <a:prstGeom prst="rect">
            <a:avLst/>
          </a:prstGeom>
        </p:spPr>
      </p:pic>
      <p:sp>
        <p:nvSpPr>
          <p:cNvPr id="2" name="标题 1"/>
          <p:cNvSpPr>
            <a:spLocks noGrp="1"/>
          </p:cNvSpPr>
          <p:nvPr>
            <p:ph type="title"/>
          </p:nvPr>
        </p:nvSpPr>
        <p:spPr/>
        <p:txBody>
          <a:bodyPr>
            <a:normAutofit/>
          </a:bodyPr>
          <a:lstStyle/>
          <a:p>
            <a:r>
              <a:rPr lang="en-US" altLang="zh-CN" dirty="0">
                <a:sym typeface="+mn-ea"/>
              </a:rPr>
              <a:t>03 </a:t>
            </a:r>
            <a:r>
              <a:rPr lang="zh-CN" altLang="en-US" dirty="0">
                <a:sym typeface="+mn-ea"/>
              </a:rPr>
              <a:t>敏捷开发方法</a:t>
            </a:r>
            <a:endParaRPr lang="zh-CN" altLang="en-US" dirty="0"/>
          </a:p>
        </p:txBody>
      </p:sp>
      <p:sp>
        <p:nvSpPr>
          <p:cNvPr id="3" name="灯片编号占位符 2"/>
          <p:cNvSpPr>
            <a:spLocks noGrp="1"/>
          </p:cNvSpPr>
          <p:nvPr>
            <p:ph type="sldNum" sz="quarter" idx="12"/>
          </p:nvPr>
        </p:nvSpPr>
        <p:spPr/>
        <p:txBody>
          <a:bodyPr/>
          <a:lstStyle/>
          <a:p>
            <a:fld id="{1AAC388E-FA9E-4A2C-95EA-1F6B3A07935A}" type="slidenum">
              <a:rPr lang="zh-CN" altLang="en-US" sz="1400" smtClean="0">
                <a:solidFill>
                  <a:srgbClr val="000000"/>
                </a:solidFill>
              </a:rPr>
              <a:t>25</a:t>
            </a:fld>
            <a:endParaRPr lang="zh-CN" altLang="en-US" sz="1400" dirty="0">
              <a:solidFill>
                <a:srgbClr val="000000"/>
              </a:solidFill>
            </a:endParaRPr>
          </a:p>
        </p:txBody>
      </p:sp>
      <p:sp>
        <p:nvSpPr>
          <p:cNvPr id="11" name="文本框 10"/>
          <p:cNvSpPr txBox="1"/>
          <p:nvPr/>
        </p:nvSpPr>
        <p:spPr>
          <a:xfrm>
            <a:off x="1087120" y="1475429"/>
            <a:ext cx="5008245" cy="4489126"/>
          </a:xfrm>
          <a:prstGeom prst="rect">
            <a:avLst/>
          </a:prstGeom>
          <a:noFill/>
        </p:spPr>
        <p:txBody>
          <a:bodyPr wrap="square" lIns="0" tIns="0" rIns="0" bIns="0" rtlCol="0" anchor="t" anchorCtr="0">
            <a:noAutofit/>
          </a:bodyPr>
          <a:lstStyle/>
          <a:p>
            <a:pPr marL="285750" indent="-285750" algn="just" fontAlgn="auto">
              <a:lnSpc>
                <a:spcPct val="200000"/>
              </a:lnSpc>
              <a:buFont typeface="Wingdings" panose="05000000000000000000" charset="0"/>
              <a:buChar char="u"/>
            </a:pPr>
            <a:r>
              <a:rPr lang="en-US" altLang="zh-CN" b="1" dirty="0">
                <a:latin typeface="+mj-ea"/>
                <a:ea typeface="+mj-ea"/>
                <a:sym typeface="+mn-ea"/>
              </a:rPr>
              <a:t>Scrum</a:t>
            </a:r>
            <a:r>
              <a:rPr lang="zh-CN" b="1" dirty="0">
                <a:latin typeface="+mj-ea"/>
                <a:ea typeface="+mj-ea"/>
                <a:sym typeface="+mn-ea"/>
              </a:rPr>
              <a:t>中的三种工具</a:t>
            </a:r>
          </a:p>
          <a:p>
            <a:pPr algn="just" fontAlgn="auto">
              <a:lnSpc>
                <a:spcPct val="200000"/>
              </a:lnSpc>
            </a:pPr>
            <a:r>
              <a:rPr b="1" dirty="0">
                <a:latin typeface="+mj-ea"/>
                <a:ea typeface="+mj-ea"/>
                <a:sym typeface="+mn-ea"/>
              </a:rPr>
              <a:t>任务</a:t>
            </a:r>
            <a:r>
              <a:rPr lang="zh-CN" b="1" dirty="0">
                <a:latin typeface="+mj-ea"/>
                <a:ea typeface="+mj-ea"/>
                <a:sym typeface="+mn-ea"/>
              </a:rPr>
              <a:t>看</a:t>
            </a:r>
            <a:r>
              <a:rPr b="1" dirty="0">
                <a:latin typeface="+mj-ea"/>
                <a:ea typeface="+mj-ea"/>
                <a:sym typeface="+mn-ea"/>
              </a:rPr>
              <a:t>板（Task Board）</a:t>
            </a:r>
            <a:r>
              <a:rPr lang="zh-CN" b="1" dirty="0">
                <a:latin typeface="+mj-ea"/>
                <a:ea typeface="+mj-ea"/>
                <a:sym typeface="+mn-ea"/>
              </a:rPr>
              <a:t>：</a:t>
            </a:r>
            <a:r>
              <a:rPr lang="zh-CN" dirty="0">
                <a:latin typeface="+mj-ea"/>
                <a:ea typeface="+mj-ea"/>
                <a:sym typeface="+mn-ea"/>
              </a:rPr>
              <a:t>最简单的任务板包括三列：</a:t>
            </a:r>
            <a:r>
              <a:rPr lang="zh-CN" b="1" dirty="0">
                <a:solidFill>
                  <a:schemeClr val="accent2"/>
                </a:solidFill>
                <a:latin typeface="+mj-ea"/>
                <a:ea typeface="+mj-ea"/>
                <a:sym typeface="+mn-ea"/>
              </a:rPr>
              <a:t>待开发（ to do）、开发中（doing）、已完成（done）</a:t>
            </a:r>
            <a:r>
              <a:rPr lang="zh-CN" dirty="0">
                <a:latin typeface="+mj-ea"/>
                <a:ea typeface="+mj-ea"/>
                <a:sym typeface="+mn-ea"/>
              </a:rPr>
              <a:t>。任务在板上移动，可以直观地看到哪些任务已完成、哪些任务进行中、哪些任务还没有开始。这种可视化有助于团队检查他们当前的状况并根据需要适时调整。任务板还有助于干系人看到团队取得的进展。</a:t>
            </a:r>
          </a:p>
        </p:txBody>
      </p:sp>
      <p:sp>
        <p:nvSpPr>
          <p:cNvPr id="6" name="文本框 5"/>
          <p:cNvSpPr txBox="1"/>
          <p:nvPr/>
        </p:nvSpPr>
        <p:spPr>
          <a:xfrm>
            <a:off x="718218" y="874354"/>
            <a:ext cx="3762342" cy="601075"/>
          </a:xfrm>
          <a:prstGeom prst="rect">
            <a:avLst/>
          </a:prstGeom>
          <a:noFill/>
        </p:spPr>
        <p:txBody>
          <a:bodyPr wrap="square" lIns="0" tIns="0" rIns="0" bIns="0" rtlCol="0" anchor="ctr">
            <a:noAutofit/>
          </a:bodyPr>
          <a:lstStyle/>
          <a:p>
            <a:pPr marL="285750" indent="-285750" algn="l">
              <a:lnSpc>
                <a:spcPct val="125000"/>
              </a:lnSpc>
              <a:spcAft>
                <a:spcPts val="500"/>
              </a:spcAft>
              <a:buFont typeface="Wingdings" panose="05000000000000000000" pitchFamily="2" charset="2"/>
              <a:buChar char="p"/>
            </a:pPr>
            <a:r>
              <a:rPr lang="zh-CN" altLang="en-US" sz="2400" dirty="0">
                <a:solidFill>
                  <a:srgbClr val="003F88"/>
                </a:solidFill>
              </a:rPr>
              <a:t> 敏捷开发方法</a:t>
            </a:r>
            <a:r>
              <a:rPr lang="en-US" altLang="zh-CN" sz="2400" dirty="0">
                <a:solidFill>
                  <a:srgbClr val="003F88"/>
                </a:solidFill>
              </a:rPr>
              <a:t>——Scrum</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 name="图片 102"/>
          <p:cNvPicPr/>
          <p:nvPr>
            <p:custDataLst>
              <p:tags r:id="rId1"/>
            </p:custDataLst>
          </p:nvPr>
        </p:nvPicPr>
        <p:blipFill>
          <a:blip r:embed="rId4"/>
          <a:stretch>
            <a:fillRect/>
          </a:stretch>
        </p:blipFill>
        <p:spPr>
          <a:xfrm>
            <a:off x="6942455" y="2561590"/>
            <a:ext cx="5106670" cy="3151505"/>
          </a:xfrm>
          <a:prstGeom prst="rect">
            <a:avLst/>
          </a:prstGeom>
          <a:noFill/>
          <a:ln w="9525">
            <a:noFill/>
          </a:ln>
        </p:spPr>
      </p:pic>
      <p:sp>
        <p:nvSpPr>
          <p:cNvPr id="2" name="标题 1"/>
          <p:cNvSpPr>
            <a:spLocks noGrp="1"/>
          </p:cNvSpPr>
          <p:nvPr>
            <p:ph type="title"/>
          </p:nvPr>
        </p:nvSpPr>
        <p:spPr/>
        <p:txBody>
          <a:bodyPr>
            <a:normAutofit/>
          </a:bodyPr>
          <a:lstStyle/>
          <a:p>
            <a:r>
              <a:rPr lang="en-US" altLang="zh-CN" dirty="0">
                <a:sym typeface="+mn-ea"/>
              </a:rPr>
              <a:t>03 </a:t>
            </a:r>
            <a:r>
              <a:rPr lang="zh-CN" altLang="en-US" dirty="0">
                <a:sym typeface="+mn-ea"/>
              </a:rPr>
              <a:t>敏捷开发方法</a:t>
            </a:r>
            <a:endParaRPr lang="zh-CN" altLang="en-US" dirty="0"/>
          </a:p>
        </p:txBody>
      </p:sp>
      <p:sp>
        <p:nvSpPr>
          <p:cNvPr id="3" name="灯片编号占位符 2"/>
          <p:cNvSpPr>
            <a:spLocks noGrp="1"/>
          </p:cNvSpPr>
          <p:nvPr>
            <p:ph type="sldNum" sz="quarter" idx="12"/>
          </p:nvPr>
        </p:nvSpPr>
        <p:spPr/>
        <p:txBody>
          <a:bodyPr/>
          <a:lstStyle/>
          <a:p>
            <a:fld id="{1AAC388E-FA9E-4A2C-95EA-1F6B3A07935A}" type="slidenum">
              <a:rPr lang="zh-CN" altLang="en-US" sz="1400" smtClean="0">
                <a:solidFill>
                  <a:srgbClr val="000000"/>
                </a:solidFill>
              </a:rPr>
              <a:t>26</a:t>
            </a:fld>
            <a:endParaRPr lang="zh-CN" altLang="en-US" sz="1400" dirty="0">
              <a:solidFill>
                <a:srgbClr val="000000"/>
              </a:solidFill>
            </a:endParaRPr>
          </a:p>
        </p:txBody>
      </p:sp>
      <p:sp>
        <p:nvSpPr>
          <p:cNvPr id="11" name="文本框 10"/>
          <p:cNvSpPr txBox="1"/>
          <p:nvPr/>
        </p:nvSpPr>
        <p:spPr>
          <a:xfrm>
            <a:off x="1056640" y="1546698"/>
            <a:ext cx="5733415" cy="4417858"/>
          </a:xfrm>
          <a:prstGeom prst="rect">
            <a:avLst/>
          </a:prstGeom>
          <a:noFill/>
        </p:spPr>
        <p:txBody>
          <a:bodyPr wrap="square" lIns="0" tIns="0" rIns="0" bIns="0" rtlCol="0" anchor="t" anchorCtr="0">
            <a:noAutofit/>
          </a:bodyPr>
          <a:lstStyle/>
          <a:p>
            <a:pPr marL="285750" indent="-285750" algn="just" fontAlgn="auto">
              <a:lnSpc>
                <a:spcPct val="200000"/>
              </a:lnSpc>
              <a:buFont typeface="Wingdings" panose="05000000000000000000" charset="0"/>
              <a:buChar char="u"/>
            </a:pPr>
            <a:r>
              <a:rPr lang="en-US" altLang="zh-CN" b="1" dirty="0">
                <a:latin typeface="+mj-ea"/>
                <a:ea typeface="+mj-ea"/>
                <a:sym typeface="+mn-ea"/>
              </a:rPr>
              <a:t>Scrum</a:t>
            </a:r>
            <a:r>
              <a:rPr lang="zh-CN" b="1" dirty="0">
                <a:latin typeface="+mj-ea"/>
                <a:ea typeface="+mj-ea"/>
                <a:sym typeface="+mn-ea"/>
              </a:rPr>
              <a:t>中的三种工具</a:t>
            </a:r>
          </a:p>
          <a:p>
            <a:pPr algn="just" fontAlgn="auto">
              <a:lnSpc>
                <a:spcPct val="200000"/>
              </a:lnSpc>
            </a:pPr>
            <a:r>
              <a:rPr lang="zh-CN" b="1" dirty="0">
                <a:latin typeface="+mj-ea"/>
                <a:ea typeface="+mj-ea"/>
                <a:sym typeface="+mn-ea"/>
              </a:rPr>
              <a:t>燃尽图（</a:t>
            </a:r>
            <a:r>
              <a:rPr lang="en-US" altLang="zh-CN" b="1" dirty="0">
                <a:latin typeface="+mj-ea"/>
                <a:ea typeface="+mj-ea"/>
                <a:sym typeface="+mn-ea"/>
              </a:rPr>
              <a:t>Burndown Chart</a:t>
            </a:r>
            <a:r>
              <a:rPr lang="zh-CN" b="1" dirty="0">
                <a:latin typeface="+mj-ea"/>
                <a:ea typeface="+mj-ea"/>
                <a:sym typeface="+mn-ea"/>
              </a:rPr>
              <a:t>）：</a:t>
            </a:r>
            <a:r>
              <a:rPr lang="zh-CN" dirty="0">
                <a:solidFill>
                  <a:schemeClr val="accent2"/>
                </a:solidFill>
                <a:latin typeface="+mj-ea"/>
                <a:ea typeface="+mj-ea"/>
                <a:sym typeface="+mn-ea"/>
              </a:rPr>
              <a:t>燃尽图表示时间与范围的关系，横轴是时间，纵轴是范围。</a:t>
            </a:r>
            <a:r>
              <a:rPr lang="zh-CN" dirty="0">
                <a:latin typeface="+mj-ea"/>
                <a:ea typeface="+mj-ea"/>
                <a:sym typeface="+mn-ea"/>
              </a:rPr>
              <a:t>燃起图描述了已完成工作随时间变化的情况，随着工作的不断完成，曲线从左到右向上增长。燃尽图描述了剩余工作随时间变化的情况。通常来说，团队会按照团队工作的速度来预计剩余的工作量。有时，需求的增加或移除，会导致剩余工作量发生突然变化，此时燃尽图会有垂直线出现，增加工作时该线向上，移除工作时该线向下。</a:t>
            </a:r>
          </a:p>
        </p:txBody>
      </p:sp>
      <p:sp>
        <p:nvSpPr>
          <p:cNvPr id="5" name="文本框 4"/>
          <p:cNvSpPr txBox="1"/>
          <p:nvPr/>
        </p:nvSpPr>
        <p:spPr>
          <a:xfrm>
            <a:off x="718218" y="874354"/>
            <a:ext cx="3762342" cy="601075"/>
          </a:xfrm>
          <a:prstGeom prst="rect">
            <a:avLst/>
          </a:prstGeom>
          <a:noFill/>
        </p:spPr>
        <p:txBody>
          <a:bodyPr wrap="square" lIns="0" tIns="0" rIns="0" bIns="0" rtlCol="0" anchor="ctr">
            <a:noAutofit/>
          </a:bodyPr>
          <a:lstStyle/>
          <a:p>
            <a:pPr marL="285750" indent="-285750" algn="l">
              <a:lnSpc>
                <a:spcPct val="125000"/>
              </a:lnSpc>
              <a:spcAft>
                <a:spcPts val="500"/>
              </a:spcAft>
              <a:buFont typeface="Wingdings" panose="05000000000000000000" pitchFamily="2" charset="2"/>
              <a:buChar char="p"/>
            </a:pPr>
            <a:r>
              <a:rPr lang="zh-CN" altLang="en-US" sz="2400" dirty="0">
                <a:solidFill>
                  <a:srgbClr val="003F88"/>
                </a:solidFill>
              </a:rPr>
              <a:t> 敏捷开发方法</a:t>
            </a:r>
            <a:r>
              <a:rPr lang="en-US" altLang="zh-CN" sz="2400" dirty="0">
                <a:solidFill>
                  <a:srgbClr val="003F88"/>
                </a:solidFill>
              </a:rPr>
              <a:t>——Scrum</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2"/>
          <p:cNvSpPr txBox="1"/>
          <p:nvPr/>
        </p:nvSpPr>
        <p:spPr>
          <a:xfrm>
            <a:off x="311779" y="6517525"/>
            <a:ext cx="2743200" cy="340476"/>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Aft>
                <a:spcPts val="100"/>
              </a:spcAft>
            </a:pPr>
            <a:fld id="{87A43631-42BC-4255-9B30-786C9543311F}" type="datetimeFigureOut">
              <a:rPr lang="zh-CN" altLang="en-US" smtClean="0"/>
              <a:t>2026/5/22</a:t>
            </a:fld>
            <a:endParaRPr lang="zh-CN" altLang="en-US"/>
          </a:p>
        </p:txBody>
      </p:sp>
      <p:sp>
        <p:nvSpPr>
          <p:cNvPr id="3" name="灯片编号占位符 4"/>
          <p:cNvSpPr txBox="1"/>
          <p:nvPr/>
        </p:nvSpPr>
        <p:spPr>
          <a:xfrm>
            <a:off x="9137021" y="6516239"/>
            <a:ext cx="2743200" cy="341761"/>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Aft>
                <a:spcPts val="100"/>
              </a:spcAft>
            </a:pPr>
            <a:fld id="{1AAC388E-FA9E-4A2C-95EA-1F6B3A07935A}" type="slidenum">
              <a:rPr lang="zh-CN" altLang="en-US" smtClean="0"/>
              <a:t>27</a:t>
            </a:fld>
            <a:endParaRPr lang="zh-CN" altLang="en-US"/>
          </a:p>
        </p:txBody>
      </p:sp>
      <p:pic>
        <p:nvPicPr>
          <p:cNvPr id="4" name="图片占位符 16" descr="图片包含 建筑物, 蛋糕&#10;&#10;描述已自动生成"/>
          <p:cNvPicPr>
            <a:picLocks noChangeAspect="1"/>
          </p:cNvPicPr>
          <p:nvPr/>
        </p:nvPicPr>
        <p:blipFill>
          <a:blip r:embed="rId3">
            <a:duotone>
              <a:schemeClr val="accent6">
                <a:shade val="45000"/>
                <a:satMod val="135000"/>
              </a:schemeClr>
              <a:prstClr val="white"/>
            </a:duotone>
            <a:extLst>
              <a:ext uri="{28A0092B-C50C-407E-A947-70E740481C1C}">
                <a14:useLocalDpi xmlns:a14="http://schemas.microsoft.com/office/drawing/2010/main" val="0"/>
              </a:ext>
            </a:extLst>
          </a:blip>
          <a:srcRect t="3926" b="3926"/>
          <a:stretch>
            <a:fillRect/>
          </a:stretch>
        </p:blipFill>
        <p:spPr>
          <a:xfrm>
            <a:off x="0" y="0"/>
            <a:ext cx="12192000" cy="6858000"/>
          </a:xfrm>
          <a:prstGeom prst="rect">
            <a:avLst/>
          </a:prstGeom>
        </p:spPr>
      </p:pic>
      <p:sp>
        <p:nvSpPr>
          <p:cNvPr id="5" name="任意多边形: 形状 4"/>
          <p:cNvSpPr/>
          <p:nvPr/>
        </p:nvSpPr>
        <p:spPr>
          <a:xfrm>
            <a:off x="0" y="2820188"/>
            <a:ext cx="12192000" cy="4037813"/>
          </a:xfrm>
          <a:custGeom>
            <a:avLst/>
            <a:gdLst>
              <a:gd name="connsiteX0" fmla="*/ 0 w 12192000"/>
              <a:gd name="connsiteY0" fmla="*/ 0 h 4037813"/>
              <a:gd name="connsiteX1" fmla="*/ 106773 w 12192000"/>
              <a:gd name="connsiteY1" fmla="*/ 36445 h 4037813"/>
              <a:gd name="connsiteX2" fmla="*/ 6096001 w 12192000"/>
              <a:gd name="connsiteY2" fmla="*/ 883678 h 4037813"/>
              <a:gd name="connsiteX3" fmla="*/ 12085229 w 12192000"/>
              <a:gd name="connsiteY3" fmla="*/ 36445 h 4037813"/>
              <a:gd name="connsiteX4" fmla="*/ 12192000 w 12192000"/>
              <a:gd name="connsiteY4" fmla="*/ 1 h 4037813"/>
              <a:gd name="connsiteX5" fmla="*/ 12192000 w 12192000"/>
              <a:gd name="connsiteY5" fmla="*/ 4037813 h 4037813"/>
              <a:gd name="connsiteX6" fmla="*/ 0 w 12192000"/>
              <a:gd name="connsiteY6" fmla="*/ 4037813 h 4037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4037813">
                <a:moveTo>
                  <a:pt x="0" y="0"/>
                </a:moveTo>
                <a:lnTo>
                  <a:pt x="106773" y="36445"/>
                </a:lnTo>
                <a:cubicBezTo>
                  <a:pt x="1734353" y="565729"/>
                  <a:pt x="3820949" y="883678"/>
                  <a:pt x="6096001" y="883678"/>
                </a:cubicBezTo>
                <a:cubicBezTo>
                  <a:pt x="8371054" y="883678"/>
                  <a:pt x="10457649" y="565729"/>
                  <a:pt x="12085229" y="36445"/>
                </a:cubicBezTo>
                <a:lnTo>
                  <a:pt x="12192000" y="1"/>
                </a:lnTo>
                <a:lnTo>
                  <a:pt x="12192000" y="4037813"/>
                </a:lnTo>
                <a:lnTo>
                  <a:pt x="0" y="4037813"/>
                </a:lnTo>
                <a:close/>
              </a:path>
            </a:pathLst>
          </a:custGeom>
          <a:solidFill>
            <a:srgbClr val="0442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00"/>
              </a:spcAft>
            </a:pPr>
            <a:endParaRPr lang="zh-CN" altLang="en-US"/>
          </a:p>
        </p:txBody>
      </p:sp>
      <p:sp>
        <p:nvSpPr>
          <p:cNvPr id="6" name="矩形 5"/>
          <p:cNvSpPr/>
          <p:nvPr/>
        </p:nvSpPr>
        <p:spPr>
          <a:xfrm>
            <a:off x="2786743" y="5736210"/>
            <a:ext cx="6618515" cy="260008"/>
          </a:xfrm>
          <a:prstGeom prst="rect">
            <a:avLst/>
          </a:prstGeom>
        </p:spPr>
        <p:txBody>
          <a:bodyPr wrap="square" lIns="0" rIns="0">
            <a:spAutoFit/>
          </a:bodyPr>
          <a:lstStyle/>
          <a:p>
            <a:pPr algn="dist">
              <a:lnSpc>
                <a:spcPct val="120000"/>
              </a:lnSpc>
              <a:spcAft>
                <a:spcPts val="100"/>
              </a:spcAft>
            </a:pPr>
            <a:r>
              <a:rPr lang="en-US" altLang="zh-CN" sz="1000" b="1" dirty="0">
                <a:solidFill>
                  <a:schemeClr val="bg1">
                    <a:lumMod val="95000"/>
                  </a:schemeClr>
                </a:solidFill>
              </a:rPr>
              <a:t>ACCEPT MY ENDLESS GRATITUDE</a:t>
            </a:r>
            <a:endParaRPr lang="zh-CN" altLang="zh-CN" sz="1000" b="1" dirty="0">
              <a:solidFill>
                <a:schemeClr val="bg1">
                  <a:lumMod val="95000"/>
                </a:schemeClr>
              </a:solidFill>
            </a:endParaRPr>
          </a:p>
        </p:txBody>
      </p:sp>
      <p:sp>
        <p:nvSpPr>
          <p:cNvPr id="75" name="标题 86"/>
          <p:cNvSpPr txBox="1"/>
          <p:nvPr/>
        </p:nvSpPr>
        <p:spPr>
          <a:xfrm>
            <a:off x="2337220" y="4743697"/>
            <a:ext cx="7517561" cy="1108170"/>
          </a:xfrm>
          <a:prstGeom prst="rect">
            <a:avLst/>
          </a:prstGeom>
        </p:spPr>
        <p:txBody>
          <a:bodyPr anchor="ctr"/>
          <a:lstStyle>
            <a:lvl1pPr algn="l" defTabSz="914400" rtl="0" eaLnBrk="1" latinLnBrk="0" hangingPunct="1">
              <a:lnSpc>
                <a:spcPct val="90000"/>
              </a:lnSpc>
              <a:spcBef>
                <a:spcPct val="0"/>
              </a:spcBef>
              <a:buNone/>
              <a:defRPr lang="zh-CN" altLang="en-US" sz="5400" b="1" kern="1200" dirty="0">
                <a:solidFill>
                  <a:schemeClr val="bg1"/>
                </a:solidFill>
                <a:latin typeface="+mj-lt"/>
                <a:ea typeface="+mj-ea"/>
                <a:cs typeface="+mj-cs"/>
              </a:defRPr>
            </a:lvl1pPr>
          </a:lstStyle>
          <a:p>
            <a:pPr algn="ctr">
              <a:lnSpc>
                <a:spcPct val="120000"/>
              </a:lnSpc>
              <a:spcAft>
                <a:spcPts val="100"/>
              </a:spcAft>
            </a:pPr>
            <a:r>
              <a:rPr lang="en-US" altLang="zh-CN" sz="4800" dirty="0">
                <a:latin typeface="方正粗雅宋简体" panose="02000000000000000000" pitchFamily="2" charset="-122"/>
                <a:ea typeface="方正粗雅宋简体" panose="02000000000000000000" pitchFamily="2" charset="-122"/>
              </a:rPr>
              <a:t>Q</a:t>
            </a:r>
            <a:r>
              <a:rPr lang="zh-CN" altLang="en-US" sz="4800" dirty="0">
                <a:latin typeface="方正粗雅宋简体" panose="02000000000000000000" pitchFamily="2" charset="-122"/>
                <a:ea typeface="方正粗雅宋简体" panose="02000000000000000000" pitchFamily="2" charset="-122"/>
              </a:rPr>
              <a:t> </a:t>
            </a:r>
            <a:r>
              <a:rPr lang="en-US" altLang="zh-CN" sz="4800" dirty="0">
                <a:latin typeface="方正粗雅宋简体" panose="02000000000000000000" pitchFamily="2" charset="-122"/>
                <a:ea typeface="方正粗雅宋简体" panose="02000000000000000000" pitchFamily="2" charset="-122"/>
              </a:rPr>
              <a:t>&amp;</a:t>
            </a:r>
            <a:r>
              <a:rPr lang="zh-CN" altLang="en-US" sz="4800" dirty="0">
                <a:latin typeface="方正粗雅宋简体" panose="02000000000000000000" pitchFamily="2" charset="-122"/>
                <a:ea typeface="方正粗雅宋简体" panose="02000000000000000000" pitchFamily="2" charset="-122"/>
              </a:rPr>
              <a:t> </a:t>
            </a:r>
            <a:r>
              <a:rPr lang="en-US" altLang="zh-CN" sz="4800" dirty="0">
                <a:latin typeface="方正粗雅宋简体" panose="02000000000000000000" pitchFamily="2" charset="-122"/>
                <a:ea typeface="方正粗雅宋简体" panose="02000000000000000000" pitchFamily="2" charset="-122"/>
              </a:rPr>
              <a:t>A</a:t>
            </a:r>
            <a:endParaRPr lang="zh-CN" altLang="en-US" sz="4800" dirty="0">
              <a:latin typeface="方正粗雅宋简体" panose="02000000000000000000" pitchFamily="2" charset="-122"/>
              <a:ea typeface="方正粗雅宋简体" panose="02000000000000000000" pitchFamily="2" charset="-122"/>
            </a:endParaRPr>
          </a:p>
        </p:txBody>
      </p:sp>
      <p:grpSp>
        <p:nvGrpSpPr>
          <p:cNvPr id="76" name="Group 74"/>
          <p:cNvGrpSpPr>
            <a:grpSpLocks noChangeAspect="1"/>
          </p:cNvGrpSpPr>
          <p:nvPr/>
        </p:nvGrpSpPr>
        <p:grpSpPr bwMode="auto">
          <a:xfrm>
            <a:off x="5159308" y="4066421"/>
            <a:ext cx="1873383" cy="521119"/>
            <a:chOff x="954" y="660"/>
            <a:chExt cx="1269" cy="353"/>
          </a:xfrm>
          <a:solidFill>
            <a:schemeClr val="bg1"/>
          </a:solidFill>
        </p:grpSpPr>
        <p:sp>
          <p:nvSpPr>
            <p:cNvPr id="77" name="Freeform 75"/>
            <p:cNvSpPr/>
            <p:nvPr userDrawn="1"/>
          </p:nvSpPr>
          <p:spPr bwMode="auto">
            <a:xfrm>
              <a:off x="1968" y="833"/>
              <a:ext cx="45" cy="46"/>
            </a:xfrm>
            <a:custGeom>
              <a:avLst/>
              <a:gdLst>
                <a:gd name="T0" fmla="*/ 10 w 36"/>
                <a:gd name="T1" fmla="*/ 35 h 37"/>
                <a:gd name="T2" fmla="*/ 6 w 36"/>
                <a:gd name="T3" fmla="*/ 25 h 37"/>
                <a:gd name="T4" fmla="*/ 0 w 36"/>
                <a:gd name="T5" fmla="*/ 11 h 37"/>
                <a:gd name="T6" fmla="*/ 23 w 36"/>
                <a:gd name="T7" fmla="*/ 4 h 37"/>
                <a:gd name="T8" fmla="*/ 28 w 36"/>
                <a:gd name="T9" fmla="*/ 9 h 37"/>
                <a:gd name="T10" fmla="*/ 30 w 36"/>
                <a:gd name="T11" fmla="*/ 29 h 37"/>
                <a:gd name="T12" fmla="*/ 10 w 36"/>
                <a:gd name="T13" fmla="*/ 35 h 37"/>
              </a:gdLst>
              <a:ahLst/>
              <a:cxnLst>
                <a:cxn ang="0">
                  <a:pos x="T0" y="T1"/>
                </a:cxn>
                <a:cxn ang="0">
                  <a:pos x="T2" y="T3"/>
                </a:cxn>
                <a:cxn ang="0">
                  <a:pos x="T4" y="T5"/>
                </a:cxn>
                <a:cxn ang="0">
                  <a:pos x="T6" y="T7"/>
                </a:cxn>
                <a:cxn ang="0">
                  <a:pos x="T8" y="T9"/>
                </a:cxn>
                <a:cxn ang="0">
                  <a:pos x="T10" y="T11"/>
                </a:cxn>
                <a:cxn ang="0">
                  <a:pos x="T12" y="T13"/>
                </a:cxn>
              </a:cxnLst>
              <a:rect l="0" t="0" r="r" b="b"/>
              <a:pathLst>
                <a:path w="36" h="37">
                  <a:moveTo>
                    <a:pt x="10" y="35"/>
                  </a:moveTo>
                  <a:cubicBezTo>
                    <a:pt x="3" y="34"/>
                    <a:pt x="7" y="31"/>
                    <a:pt x="6" y="25"/>
                  </a:cubicBezTo>
                  <a:cubicBezTo>
                    <a:pt x="5" y="20"/>
                    <a:pt x="0" y="14"/>
                    <a:pt x="0" y="11"/>
                  </a:cubicBezTo>
                  <a:cubicBezTo>
                    <a:pt x="1" y="0"/>
                    <a:pt x="15" y="0"/>
                    <a:pt x="23" y="4"/>
                  </a:cubicBezTo>
                  <a:cubicBezTo>
                    <a:pt x="25" y="4"/>
                    <a:pt x="26" y="7"/>
                    <a:pt x="28" y="9"/>
                  </a:cubicBezTo>
                  <a:cubicBezTo>
                    <a:pt x="32" y="14"/>
                    <a:pt x="36" y="23"/>
                    <a:pt x="30" y="29"/>
                  </a:cubicBezTo>
                  <a:cubicBezTo>
                    <a:pt x="25" y="34"/>
                    <a:pt x="17" y="37"/>
                    <a:pt x="10" y="3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78" name="Freeform 76"/>
            <p:cNvSpPr/>
            <p:nvPr userDrawn="1"/>
          </p:nvSpPr>
          <p:spPr bwMode="auto">
            <a:xfrm>
              <a:off x="1837" y="698"/>
              <a:ext cx="160" cy="165"/>
            </a:xfrm>
            <a:custGeom>
              <a:avLst/>
              <a:gdLst>
                <a:gd name="T0" fmla="*/ 33 w 129"/>
                <a:gd name="T1" fmla="*/ 133 h 133"/>
                <a:gd name="T2" fmla="*/ 32 w 129"/>
                <a:gd name="T3" fmla="*/ 133 h 133"/>
                <a:gd name="T4" fmla="*/ 33 w 129"/>
                <a:gd name="T5" fmla="*/ 130 h 133"/>
                <a:gd name="T6" fmla="*/ 55 w 129"/>
                <a:gd name="T7" fmla="*/ 116 h 133"/>
                <a:gd name="T8" fmla="*/ 67 w 129"/>
                <a:gd name="T9" fmla="*/ 99 h 133"/>
                <a:gd name="T10" fmla="*/ 25 w 129"/>
                <a:gd name="T11" fmla="*/ 115 h 133"/>
                <a:gd name="T12" fmla="*/ 8 w 129"/>
                <a:gd name="T13" fmla="*/ 108 h 133"/>
                <a:gd name="T14" fmla="*/ 8 w 129"/>
                <a:gd name="T15" fmla="*/ 107 h 133"/>
                <a:gd name="T16" fmla="*/ 8 w 129"/>
                <a:gd name="T17" fmla="*/ 92 h 133"/>
                <a:gd name="T18" fmla="*/ 60 w 129"/>
                <a:gd name="T19" fmla="*/ 80 h 133"/>
                <a:gd name="T20" fmla="*/ 75 w 129"/>
                <a:gd name="T21" fmla="*/ 72 h 133"/>
                <a:gd name="T22" fmla="*/ 77 w 129"/>
                <a:gd name="T23" fmla="*/ 14 h 133"/>
                <a:gd name="T24" fmla="*/ 99 w 129"/>
                <a:gd name="T25" fmla="*/ 16 h 133"/>
                <a:gd name="T26" fmla="*/ 103 w 129"/>
                <a:gd name="T27" fmla="*/ 21 h 133"/>
                <a:gd name="T28" fmla="*/ 104 w 129"/>
                <a:gd name="T29" fmla="*/ 21 h 133"/>
                <a:gd name="T30" fmla="*/ 103 w 129"/>
                <a:gd name="T31" fmla="*/ 35 h 133"/>
                <a:gd name="T32" fmla="*/ 98 w 129"/>
                <a:gd name="T33" fmla="*/ 65 h 133"/>
                <a:gd name="T34" fmla="*/ 126 w 129"/>
                <a:gd name="T35" fmla="*/ 54 h 133"/>
                <a:gd name="T36" fmla="*/ 123 w 129"/>
                <a:gd name="T37" fmla="*/ 69 h 133"/>
                <a:gd name="T38" fmla="*/ 95 w 129"/>
                <a:gd name="T39" fmla="*/ 81 h 133"/>
                <a:gd name="T40" fmla="*/ 82 w 129"/>
                <a:gd name="T41" fmla="*/ 111 h 133"/>
                <a:gd name="T42" fmla="*/ 75 w 129"/>
                <a:gd name="T43" fmla="*/ 118 h 133"/>
                <a:gd name="T44" fmla="*/ 56 w 129"/>
                <a:gd name="T45" fmla="*/ 128 h 133"/>
                <a:gd name="T46" fmla="*/ 33 w 129"/>
                <a:gd name="T47" fmla="*/ 13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9" h="133">
                  <a:moveTo>
                    <a:pt x="33" y="133"/>
                  </a:moveTo>
                  <a:cubicBezTo>
                    <a:pt x="33" y="133"/>
                    <a:pt x="33" y="133"/>
                    <a:pt x="32" y="133"/>
                  </a:cubicBezTo>
                  <a:cubicBezTo>
                    <a:pt x="32" y="132"/>
                    <a:pt x="32" y="131"/>
                    <a:pt x="33" y="130"/>
                  </a:cubicBezTo>
                  <a:cubicBezTo>
                    <a:pt x="35" y="130"/>
                    <a:pt x="55" y="117"/>
                    <a:pt x="55" y="116"/>
                  </a:cubicBezTo>
                  <a:cubicBezTo>
                    <a:pt x="60" y="111"/>
                    <a:pt x="66" y="106"/>
                    <a:pt x="67" y="99"/>
                  </a:cubicBezTo>
                  <a:cubicBezTo>
                    <a:pt x="53" y="104"/>
                    <a:pt x="40" y="114"/>
                    <a:pt x="25" y="115"/>
                  </a:cubicBezTo>
                  <a:cubicBezTo>
                    <a:pt x="18" y="113"/>
                    <a:pt x="13" y="110"/>
                    <a:pt x="8" y="108"/>
                  </a:cubicBezTo>
                  <a:cubicBezTo>
                    <a:pt x="8" y="107"/>
                    <a:pt x="8" y="107"/>
                    <a:pt x="8" y="107"/>
                  </a:cubicBezTo>
                  <a:cubicBezTo>
                    <a:pt x="1" y="102"/>
                    <a:pt x="0" y="95"/>
                    <a:pt x="8" y="92"/>
                  </a:cubicBezTo>
                  <a:cubicBezTo>
                    <a:pt x="23" y="96"/>
                    <a:pt x="46" y="85"/>
                    <a:pt x="60" y="80"/>
                  </a:cubicBezTo>
                  <a:cubicBezTo>
                    <a:pt x="63" y="78"/>
                    <a:pt x="72" y="75"/>
                    <a:pt x="75" y="72"/>
                  </a:cubicBezTo>
                  <a:cubicBezTo>
                    <a:pt x="78" y="52"/>
                    <a:pt x="76" y="33"/>
                    <a:pt x="77" y="14"/>
                  </a:cubicBezTo>
                  <a:cubicBezTo>
                    <a:pt x="82" y="0"/>
                    <a:pt x="90" y="10"/>
                    <a:pt x="99" y="16"/>
                  </a:cubicBezTo>
                  <a:cubicBezTo>
                    <a:pt x="99" y="18"/>
                    <a:pt x="101" y="19"/>
                    <a:pt x="103" y="21"/>
                  </a:cubicBezTo>
                  <a:cubicBezTo>
                    <a:pt x="103" y="21"/>
                    <a:pt x="103" y="21"/>
                    <a:pt x="104" y="21"/>
                  </a:cubicBezTo>
                  <a:cubicBezTo>
                    <a:pt x="107" y="27"/>
                    <a:pt x="108" y="30"/>
                    <a:pt x="103" y="35"/>
                  </a:cubicBezTo>
                  <a:cubicBezTo>
                    <a:pt x="99" y="44"/>
                    <a:pt x="97" y="54"/>
                    <a:pt x="98" y="65"/>
                  </a:cubicBezTo>
                  <a:cubicBezTo>
                    <a:pt x="108" y="63"/>
                    <a:pt x="114" y="55"/>
                    <a:pt x="126" y="54"/>
                  </a:cubicBezTo>
                  <a:cubicBezTo>
                    <a:pt x="129" y="60"/>
                    <a:pt x="128" y="65"/>
                    <a:pt x="123" y="69"/>
                  </a:cubicBezTo>
                  <a:cubicBezTo>
                    <a:pt x="114" y="73"/>
                    <a:pt x="105" y="77"/>
                    <a:pt x="95" y="81"/>
                  </a:cubicBezTo>
                  <a:cubicBezTo>
                    <a:pt x="93" y="91"/>
                    <a:pt x="89" y="103"/>
                    <a:pt x="82" y="111"/>
                  </a:cubicBezTo>
                  <a:cubicBezTo>
                    <a:pt x="81" y="113"/>
                    <a:pt x="76" y="117"/>
                    <a:pt x="75" y="118"/>
                  </a:cubicBezTo>
                  <a:cubicBezTo>
                    <a:pt x="69" y="122"/>
                    <a:pt x="63" y="126"/>
                    <a:pt x="56" y="128"/>
                  </a:cubicBezTo>
                  <a:cubicBezTo>
                    <a:pt x="37" y="133"/>
                    <a:pt x="37" y="133"/>
                    <a:pt x="33" y="1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79" name="Freeform 77"/>
            <p:cNvSpPr/>
            <p:nvPr userDrawn="1"/>
          </p:nvSpPr>
          <p:spPr bwMode="auto">
            <a:xfrm>
              <a:off x="1630" y="796"/>
              <a:ext cx="94" cy="110"/>
            </a:xfrm>
            <a:custGeom>
              <a:avLst/>
              <a:gdLst>
                <a:gd name="T0" fmla="*/ 17 w 76"/>
                <a:gd name="T1" fmla="*/ 88 h 88"/>
                <a:gd name="T2" fmla="*/ 0 w 76"/>
                <a:gd name="T3" fmla="*/ 70 h 88"/>
                <a:gd name="T4" fmla="*/ 2 w 76"/>
                <a:gd name="T5" fmla="*/ 65 h 88"/>
                <a:gd name="T6" fmla="*/ 50 w 76"/>
                <a:gd name="T7" fmla="*/ 26 h 88"/>
                <a:gd name="T8" fmla="*/ 65 w 76"/>
                <a:gd name="T9" fmla="*/ 5 h 88"/>
                <a:gd name="T10" fmla="*/ 66 w 76"/>
                <a:gd name="T11" fmla="*/ 4 h 88"/>
                <a:gd name="T12" fmla="*/ 66 w 76"/>
                <a:gd name="T13" fmla="*/ 4 h 88"/>
                <a:gd name="T14" fmla="*/ 76 w 76"/>
                <a:gd name="T15" fmla="*/ 5 h 88"/>
                <a:gd name="T16" fmla="*/ 65 w 76"/>
                <a:gd name="T17" fmla="*/ 19 h 88"/>
                <a:gd name="T18" fmla="*/ 54 w 76"/>
                <a:gd name="T19" fmla="*/ 43 h 88"/>
                <a:gd name="T20" fmla="*/ 48 w 76"/>
                <a:gd name="T21" fmla="*/ 54 h 88"/>
                <a:gd name="T22" fmla="*/ 35 w 76"/>
                <a:gd name="T23" fmla="*/ 72 h 88"/>
                <a:gd name="T24" fmla="*/ 21 w 76"/>
                <a:gd name="T25" fmla="*/ 87 h 88"/>
                <a:gd name="T26" fmla="*/ 17 w 76"/>
                <a:gd name="T27"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 h="88">
                  <a:moveTo>
                    <a:pt x="17" y="88"/>
                  </a:moveTo>
                  <a:cubicBezTo>
                    <a:pt x="10" y="84"/>
                    <a:pt x="3" y="76"/>
                    <a:pt x="0" y="70"/>
                  </a:cubicBezTo>
                  <a:cubicBezTo>
                    <a:pt x="0" y="69"/>
                    <a:pt x="1" y="67"/>
                    <a:pt x="2" y="65"/>
                  </a:cubicBezTo>
                  <a:cubicBezTo>
                    <a:pt x="18" y="52"/>
                    <a:pt x="35" y="41"/>
                    <a:pt x="50" y="26"/>
                  </a:cubicBezTo>
                  <a:cubicBezTo>
                    <a:pt x="54" y="19"/>
                    <a:pt x="60" y="12"/>
                    <a:pt x="65" y="5"/>
                  </a:cubicBezTo>
                  <a:cubicBezTo>
                    <a:pt x="65" y="5"/>
                    <a:pt x="66" y="5"/>
                    <a:pt x="66" y="4"/>
                  </a:cubicBezTo>
                  <a:cubicBezTo>
                    <a:pt x="66" y="4"/>
                    <a:pt x="66" y="4"/>
                    <a:pt x="66" y="4"/>
                  </a:cubicBezTo>
                  <a:cubicBezTo>
                    <a:pt x="70" y="0"/>
                    <a:pt x="72" y="0"/>
                    <a:pt x="76" y="5"/>
                  </a:cubicBezTo>
                  <a:cubicBezTo>
                    <a:pt x="76" y="10"/>
                    <a:pt x="68" y="14"/>
                    <a:pt x="65" y="19"/>
                  </a:cubicBezTo>
                  <a:cubicBezTo>
                    <a:pt x="62" y="27"/>
                    <a:pt x="58" y="35"/>
                    <a:pt x="54" y="43"/>
                  </a:cubicBezTo>
                  <a:cubicBezTo>
                    <a:pt x="53" y="45"/>
                    <a:pt x="53" y="45"/>
                    <a:pt x="48" y="54"/>
                  </a:cubicBezTo>
                  <a:cubicBezTo>
                    <a:pt x="43" y="57"/>
                    <a:pt x="37" y="66"/>
                    <a:pt x="35" y="72"/>
                  </a:cubicBezTo>
                  <a:cubicBezTo>
                    <a:pt x="29" y="75"/>
                    <a:pt x="27" y="84"/>
                    <a:pt x="21" y="87"/>
                  </a:cubicBezTo>
                  <a:cubicBezTo>
                    <a:pt x="19" y="87"/>
                    <a:pt x="18" y="87"/>
                    <a:pt x="17" y="8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80" name="Freeform 78"/>
            <p:cNvSpPr/>
            <p:nvPr userDrawn="1"/>
          </p:nvSpPr>
          <p:spPr bwMode="auto">
            <a:xfrm>
              <a:off x="1749" y="791"/>
              <a:ext cx="53" cy="41"/>
            </a:xfrm>
            <a:custGeom>
              <a:avLst/>
              <a:gdLst>
                <a:gd name="T0" fmla="*/ 19 w 43"/>
                <a:gd name="T1" fmla="*/ 33 h 33"/>
                <a:gd name="T2" fmla="*/ 0 w 43"/>
                <a:gd name="T3" fmla="*/ 20 h 33"/>
                <a:gd name="T4" fmla="*/ 2 w 43"/>
                <a:gd name="T5" fmla="*/ 14 h 33"/>
                <a:gd name="T6" fmla="*/ 6 w 43"/>
                <a:gd name="T7" fmla="*/ 13 h 33"/>
                <a:gd name="T8" fmla="*/ 17 w 43"/>
                <a:gd name="T9" fmla="*/ 12 h 33"/>
                <a:gd name="T10" fmla="*/ 43 w 43"/>
                <a:gd name="T11" fmla="*/ 5 h 33"/>
                <a:gd name="T12" fmla="*/ 19 w 43"/>
                <a:gd name="T13" fmla="*/ 33 h 33"/>
              </a:gdLst>
              <a:ahLst/>
              <a:cxnLst>
                <a:cxn ang="0">
                  <a:pos x="T0" y="T1"/>
                </a:cxn>
                <a:cxn ang="0">
                  <a:pos x="T2" y="T3"/>
                </a:cxn>
                <a:cxn ang="0">
                  <a:pos x="T4" y="T5"/>
                </a:cxn>
                <a:cxn ang="0">
                  <a:pos x="T6" y="T7"/>
                </a:cxn>
                <a:cxn ang="0">
                  <a:pos x="T8" y="T9"/>
                </a:cxn>
                <a:cxn ang="0">
                  <a:pos x="T10" y="T11"/>
                </a:cxn>
                <a:cxn ang="0">
                  <a:pos x="T12" y="T13"/>
                </a:cxn>
              </a:cxnLst>
              <a:rect l="0" t="0" r="r" b="b"/>
              <a:pathLst>
                <a:path w="43" h="33">
                  <a:moveTo>
                    <a:pt x="19" y="33"/>
                  </a:moveTo>
                  <a:cubicBezTo>
                    <a:pt x="9" y="33"/>
                    <a:pt x="6" y="26"/>
                    <a:pt x="0" y="20"/>
                  </a:cubicBezTo>
                  <a:cubicBezTo>
                    <a:pt x="0" y="18"/>
                    <a:pt x="2" y="16"/>
                    <a:pt x="2" y="14"/>
                  </a:cubicBezTo>
                  <a:cubicBezTo>
                    <a:pt x="4" y="14"/>
                    <a:pt x="4" y="14"/>
                    <a:pt x="6" y="13"/>
                  </a:cubicBezTo>
                  <a:cubicBezTo>
                    <a:pt x="10" y="12"/>
                    <a:pt x="12" y="12"/>
                    <a:pt x="17" y="12"/>
                  </a:cubicBezTo>
                  <a:cubicBezTo>
                    <a:pt x="22" y="11"/>
                    <a:pt x="38" y="0"/>
                    <a:pt x="43" y="5"/>
                  </a:cubicBezTo>
                  <a:cubicBezTo>
                    <a:pt x="43" y="17"/>
                    <a:pt x="30" y="30"/>
                    <a:pt x="19"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81" name="Freeform 79"/>
            <p:cNvSpPr/>
            <p:nvPr userDrawn="1"/>
          </p:nvSpPr>
          <p:spPr bwMode="auto">
            <a:xfrm>
              <a:off x="1668" y="766"/>
              <a:ext cx="36" cy="42"/>
            </a:xfrm>
            <a:custGeom>
              <a:avLst/>
              <a:gdLst>
                <a:gd name="T0" fmla="*/ 5 w 29"/>
                <a:gd name="T1" fmla="*/ 34 h 34"/>
                <a:gd name="T2" fmla="*/ 0 w 29"/>
                <a:gd name="T3" fmla="*/ 9 h 34"/>
                <a:gd name="T4" fmla="*/ 19 w 29"/>
                <a:gd name="T5" fmla="*/ 6 h 34"/>
                <a:gd name="T6" fmla="*/ 23 w 29"/>
                <a:gd name="T7" fmla="*/ 26 h 34"/>
                <a:gd name="T8" fmla="*/ 5 w 29"/>
                <a:gd name="T9" fmla="*/ 34 h 34"/>
              </a:gdLst>
              <a:ahLst/>
              <a:cxnLst>
                <a:cxn ang="0">
                  <a:pos x="T0" y="T1"/>
                </a:cxn>
                <a:cxn ang="0">
                  <a:pos x="T2" y="T3"/>
                </a:cxn>
                <a:cxn ang="0">
                  <a:pos x="T4" y="T5"/>
                </a:cxn>
                <a:cxn ang="0">
                  <a:pos x="T6" y="T7"/>
                </a:cxn>
                <a:cxn ang="0">
                  <a:pos x="T8" y="T9"/>
                </a:cxn>
              </a:cxnLst>
              <a:rect l="0" t="0" r="r" b="b"/>
              <a:pathLst>
                <a:path w="29" h="34">
                  <a:moveTo>
                    <a:pt x="5" y="34"/>
                  </a:moveTo>
                  <a:cubicBezTo>
                    <a:pt x="1" y="30"/>
                    <a:pt x="0" y="14"/>
                    <a:pt x="0" y="9"/>
                  </a:cubicBezTo>
                  <a:cubicBezTo>
                    <a:pt x="3" y="0"/>
                    <a:pt x="12" y="0"/>
                    <a:pt x="19" y="6"/>
                  </a:cubicBezTo>
                  <a:cubicBezTo>
                    <a:pt x="25" y="14"/>
                    <a:pt x="29" y="17"/>
                    <a:pt x="23" y="26"/>
                  </a:cubicBezTo>
                  <a:cubicBezTo>
                    <a:pt x="16" y="32"/>
                    <a:pt x="13" y="32"/>
                    <a:pt x="5" y="3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82" name="Freeform 80"/>
            <p:cNvSpPr/>
            <p:nvPr userDrawn="1"/>
          </p:nvSpPr>
          <p:spPr bwMode="auto">
            <a:xfrm>
              <a:off x="1748" y="739"/>
              <a:ext cx="63" cy="60"/>
            </a:xfrm>
            <a:custGeom>
              <a:avLst/>
              <a:gdLst>
                <a:gd name="T0" fmla="*/ 17 w 51"/>
                <a:gd name="T1" fmla="*/ 48 h 48"/>
                <a:gd name="T2" fmla="*/ 21 w 51"/>
                <a:gd name="T3" fmla="*/ 30 h 48"/>
                <a:gd name="T4" fmla="*/ 13 w 51"/>
                <a:gd name="T5" fmla="*/ 32 h 48"/>
                <a:gd name="T6" fmla="*/ 3 w 51"/>
                <a:gd name="T7" fmla="*/ 15 h 48"/>
                <a:gd name="T8" fmla="*/ 13 w 51"/>
                <a:gd name="T9" fmla="*/ 11 h 48"/>
                <a:gd name="T10" fmla="*/ 33 w 51"/>
                <a:gd name="T11" fmla="*/ 2 h 48"/>
                <a:gd name="T12" fmla="*/ 51 w 51"/>
                <a:gd name="T13" fmla="*/ 18 h 48"/>
                <a:gd name="T14" fmla="*/ 39 w 51"/>
                <a:gd name="T15" fmla="*/ 36 h 48"/>
                <a:gd name="T16" fmla="*/ 22 w 51"/>
                <a:gd name="T17" fmla="*/ 47 h 48"/>
                <a:gd name="T18" fmla="*/ 17 w 51"/>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 h="48">
                  <a:moveTo>
                    <a:pt x="17" y="48"/>
                  </a:moveTo>
                  <a:cubicBezTo>
                    <a:pt x="16" y="43"/>
                    <a:pt x="23" y="33"/>
                    <a:pt x="21" y="30"/>
                  </a:cubicBezTo>
                  <a:cubicBezTo>
                    <a:pt x="18" y="31"/>
                    <a:pt x="16" y="32"/>
                    <a:pt x="13" y="32"/>
                  </a:cubicBezTo>
                  <a:cubicBezTo>
                    <a:pt x="7" y="29"/>
                    <a:pt x="0" y="21"/>
                    <a:pt x="3" y="15"/>
                  </a:cubicBezTo>
                  <a:cubicBezTo>
                    <a:pt x="7" y="10"/>
                    <a:pt x="6" y="12"/>
                    <a:pt x="13" y="11"/>
                  </a:cubicBezTo>
                  <a:cubicBezTo>
                    <a:pt x="19" y="8"/>
                    <a:pt x="26" y="5"/>
                    <a:pt x="33" y="2"/>
                  </a:cubicBezTo>
                  <a:cubicBezTo>
                    <a:pt x="45" y="0"/>
                    <a:pt x="50" y="6"/>
                    <a:pt x="51" y="18"/>
                  </a:cubicBezTo>
                  <a:cubicBezTo>
                    <a:pt x="49" y="25"/>
                    <a:pt x="44" y="31"/>
                    <a:pt x="39" y="36"/>
                  </a:cubicBezTo>
                  <a:cubicBezTo>
                    <a:pt x="33" y="40"/>
                    <a:pt x="27" y="44"/>
                    <a:pt x="22" y="47"/>
                  </a:cubicBezTo>
                  <a:cubicBezTo>
                    <a:pt x="20" y="47"/>
                    <a:pt x="19" y="48"/>
                    <a:pt x="17" y="4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83" name="Freeform 81"/>
            <p:cNvSpPr/>
            <p:nvPr userDrawn="1"/>
          </p:nvSpPr>
          <p:spPr bwMode="auto">
            <a:xfrm>
              <a:off x="1687" y="715"/>
              <a:ext cx="38" cy="42"/>
            </a:xfrm>
            <a:custGeom>
              <a:avLst/>
              <a:gdLst>
                <a:gd name="T0" fmla="*/ 3 w 31"/>
                <a:gd name="T1" fmla="*/ 34 h 34"/>
                <a:gd name="T2" fmla="*/ 3 w 31"/>
                <a:gd name="T3" fmla="*/ 29 h 34"/>
                <a:gd name="T4" fmla="*/ 0 w 31"/>
                <a:gd name="T5" fmla="*/ 16 h 34"/>
                <a:gd name="T6" fmla="*/ 7 w 31"/>
                <a:gd name="T7" fmla="*/ 0 h 34"/>
                <a:gd name="T8" fmla="*/ 26 w 31"/>
                <a:gd name="T9" fmla="*/ 23 h 34"/>
                <a:gd name="T10" fmla="*/ 3 w 31"/>
                <a:gd name="T11" fmla="*/ 34 h 34"/>
              </a:gdLst>
              <a:ahLst/>
              <a:cxnLst>
                <a:cxn ang="0">
                  <a:pos x="T0" y="T1"/>
                </a:cxn>
                <a:cxn ang="0">
                  <a:pos x="T2" y="T3"/>
                </a:cxn>
                <a:cxn ang="0">
                  <a:pos x="T4" y="T5"/>
                </a:cxn>
                <a:cxn ang="0">
                  <a:pos x="T6" y="T7"/>
                </a:cxn>
                <a:cxn ang="0">
                  <a:pos x="T8" y="T9"/>
                </a:cxn>
                <a:cxn ang="0">
                  <a:pos x="T10" y="T11"/>
                </a:cxn>
              </a:cxnLst>
              <a:rect l="0" t="0" r="r" b="b"/>
              <a:pathLst>
                <a:path w="31" h="34">
                  <a:moveTo>
                    <a:pt x="3" y="34"/>
                  </a:moveTo>
                  <a:cubicBezTo>
                    <a:pt x="1" y="32"/>
                    <a:pt x="2" y="31"/>
                    <a:pt x="3" y="29"/>
                  </a:cubicBezTo>
                  <a:cubicBezTo>
                    <a:pt x="3" y="24"/>
                    <a:pt x="0" y="20"/>
                    <a:pt x="0" y="16"/>
                  </a:cubicBezTo>
                  <a:cubicBezTo>
                    <a:pt x="1" y="7"/>
                    <a:pt x="0" y="4"/>
                    <a:pt x="7" y="0"/>
                  </a:cubicBezTo>
                  <a:cubicBezTo>
                    <a:pt x="12" y="3"/>
                    <a:pt x="31" y="12"/>
                    <a:pt x="26" y="23"/>
                  </a:cubicBezTo>
                  <a:cubicBezTo>
                    <a:pt x="21" y="29"/>
                    <a:pt x="11" y="33"/>
                    <a:pt x="3" y="3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84" name="Freeform 82"/>
            <p:cNvSpPr/>
            <p:nvPr userDrawn="1"/>
          </p:nvSpPr>
          <p:spPr bwMode="auto">
            <a:xfrm>
              <a:off x="1365" y="728"/>
              <a:ext cx="244" cy="186"/>
            </a:xfrm>
            <a:custGeom>
              <a:avLst/>
              <a:gdLst>
                <a:gd name="T0" fmla="*/ 20 w 197"/>
                <a:gd name="T1" fmla="*/ 150 h 150"/>
                <a:gd name="T2" fmla="*/ 13 w 197"/>
                <a:gd name="T3" fmla="*/ 119 h 150"/>
                <a:gd name="T4" fmla="*/ 17 w 197"/>
                <a:gd name="T5" fmla="*/ 114 h 150"/>
                <a:gd name="T6" fmla="*/ 17 w 197"/>
                <a:gd name="T7" fmla="*/ 113 h 150"/>
                <a:gd name="T8" fmla="*/ 44 w 197"/>
                <a:gd name="T9" fmla="*/ 77 h 150"/>
                <a:gd name="T10" fmla="*/ 52 w 197"/>
                <a:gd name="T11" fmla="*/ 67 h 150"/>
                <a:gd name="T12" fmla="*/ 53 w 197"/>
                <a:gd name="T13" fmla="*/ 78 h 150"/>
                <a:gd name="T14" fmla="*/ 60 w 197"/>
                <a:gd name="T15" fmla="*/ 77 h 150"/>
                <a:gd name="T16" fmla="*/ 85 w 197"/>
                <a:gd name="T17" fmla="*/ 58 h 150"/>
                <a:gd name="T18" fmla="*/ 87 w 197"/>
                <a:gd name="T19" fmla="*/ 48 h 150"/>
                <a:gd name="T20" fmla="*/ 68 w 197"/>
                <a:gd name="T21" fmla="*/ 44 h 150"/>
                <a:gd name="T22" fmla="*/ 88 w 197"/>
                <a:gd name="T23" fmla="*/ 29 h 150"/>
                <a:gd name="T24" fmla="*/ 92 w 197"/>
                <a:gd name="T25" fmla="*/ 9 h 150"/>
                <a:gd name="T26" fmla="*/ 109 w 197"/>
                <a:gd name="T27" fmla="*/ 22 h 150"/>
                <a:gd name="T28" fmla="*/ 110 w 197"/>
                <a:gd name="T29" fmla="*/ 37 h 150"/>
                <a:gd name="T30" fmla="*/ 108 w 197"/>
                <a:gd name="T31" fmla="*/ 46 h 150"/>
                <a:gd name="T32" fmla="*/ 111 w 197"/>
                <a:gd name="T33" fmla="*/ 46 h 150"/>
                <a:gd name="T34" fmla="*/ 131 w 197"/>
                <a:gd name="T35" fmla="*/ 32 h 150"/>
                <a:gd name="T36" fmla="*/ 140 w 197"/>
                <a:gd name="T37" fmla="*/ 5 h 150"/>
                <a:gd name="T38" fmla="*/ 163 w 197"/>
                <a:gd name="T39" fmla="*/ 11 h 150"/>
                <a:gd name="T40" fmla="*/ 176 w 197"/>
                <a:gd name="T41" fmla="*/ 5 h 150"/>
                <a:gd name="T42" fmla="*/ 182 w 197"/>
                <a:gd name="T43" fmla="*/ 4 h 150"/>
                <a:gd name="T44" fmla="*/ 184 w 197"/>
                <a:gd name="T45" fmla="*/ 13 h 150"/>
                <a:gd name="T46" fmla="*/ 157 w 197"/>
                <a:gd name="T47" fmla="*/ 39 h 150"/>
                <a:gd name="T48" fmla="*/ 166 w 197"/>
                <a:gd name="T49" fmla="*/ 29 h 150"/>
                <a:gd name="T50" fmla="*/ 190 w 197"/>
                <a:gd name="T51" fmla="*/ 34 h 150"/>
                <a:gd name="T52" fmla="*/ 184 w 197"/>
                <a:gd name="T53" fmla="*/ 50 h 150"/>
                <a:gd name="T54" fmla="*/ 182 w 197"/>
                <a:gd name="T55" fmla="*/ 54 h 150"/>
                <a:gd name="T56" fmla="*/ 182 w 197"/>
                <a:gd name="T57" fmla="*/ 93 h 150"/>
                <a:gd name="T58" fmla="*/ 173 w 197"/>
                <a:gd name="T59" fmla="*/ 107 h 150"/>
                <a:gd name="T60" fmla="*/ 173 w 197"/>
                <a:gd name="T61" fmla="*/ 107 h 150"/>
                <a:gd name="T62" fmla="*/ 172 w 197"/>
                <a:gd name="T63" fmla="*/ 107 h 150"/>
                <a:gd name="T64" fmla="*/ 158 w 197"/>
                <a:gd name="T65" fmla="*/ 113 h 150"/>
                <a:gd name="T66" fmla="*/ 158 w 197"/>
                <a:gd name="T67" fmla="*/ 58 h 150"/>
                <a:gd name="T68" fmla="*/ 157 w 197"/>
                <a:gd name="T69" fmla="*/ 58 h 150"/>
                <a:gd name="T70" fmla="*/ 139 w 197"/>
                <a:gd name="T71" fmla="*/ 89 h 150"/>
                <a:gd name="T72" fmla="*/ 124 w 197"/>
                <a:gd name="T73" fmla="*/ 80 h 150"/>
                <a:gd name="T74" fmla="*/ 128 w 197"/>
                <a:gd name="T75" fmla="*/ 76 h 150"/>
                <a:gd name="T76" fmla="*/ 130 w 197"/>
                <a:gd name="T77" fmla="*/ 45 h 150"/>
                <a:gd name="T78" fmla="*/ 111 w 197"/>
                <a:gd name="T79" fmla="*/ 64 h 150"/>
                <a:gd name="T80" fmla="*/ 102 w 197"/>
                <a:gd name="T81" fmla="*/ 70 h 150"/>
                <a:gd name="T82" fmla="*/ 97 w 197"/>
                <a:gd name="T83" fmla="*/ 91 h 150"/>
                <a:gd name="T84" fmla="*/ 92 w 197"/>
                <a:gd name="T85" fmla="*/ 101 h 150"/>
                <a:gd name="T86" fmla="*/ 91 w 197"/>
                <a:gd name="T87" fmla="*/ 102 h 150"/>
                <a:gd name="T88" fmla="*/ 74 w 197"/>
                <a:gd name="T89" fmla="*/ 110 h 150"/>
                <a:gd name="T90" fmla="*/ 74 w 197"/>
                <a:gd name="T91" fmla="*/ 107 h 150"/>
                <a:gd name="T92" fmla="*/ 82 w 197"/>
                <a:gd name="T93" fmla="*/ 85 h 150"/>
                <a:gd name="T94" fmla="*/ 63 w 197"/>
                <a:gd name="T95" fmla="*/ 94 h 150"/>
                <a:gd name="T96" fmla="*/ 53 w 197"/>
                <a:gd name="T97" fmla="*/ 91 h 150"/>
                <a:gd name="T98" fmla="*/ 52 w 197"/>
                <a:gd name="T99" fmla="*/ 90 h 150"/>
                <a:gd name="T100" fmla="*/ 48 w 197"/>
                <a:gd name="T101" fmla="*/ 88 h 150"/>
                <a:gd name="T102" fmla="*/ 44 w 197"/>
                <a:gd name="T103" fmla="*/ 100 h 150"/>
                <a:gd name="T104" fmla="*/ 27 w 197"/>
                <a:gd name="T105" fmla="*/ 147 h 150"/>
                <a:gd name="T106" fmla="*/ 20 w 197"/>
                <a:gd name="T107"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7" h="150">
                  <a:moveTo>
                    <a:pt x="20" y="150"/>
                  </a:moveTo>
                  <a:cubicBezTo>
                    <a:pt x="9" y="146"/>
                    <a:pt x="0" y="124"/>
                    <a:pt x="13" y="119"/>
                  </a:cubicBezTo>
                  <a:cubicBezTo>
                    <a:pt x="13" y="117"/>
                    <a:pt x="15" y="115"/>
                    <a:pt x="17" y="114"/>
                  </a:cubicBezTo>
                  <a:cubicBezTo>
                    <a:pt x="17" y="114"/>
                    <a:pt x="17" y="113"/>
                    <a:pt x="17" y="113"/>
                  </a:cubicBezTo>
                  <a:cubicBezTo>
                    <a:pt x="27" y="103"/>
                    <a:pt x="35" y="88"/>
                    <a:pt x="44" y="77"/>
                  </a:cubicBezTo>
                  <a:cubicBezTo>
                    <a:pt x="46" y="72"/>
                    <a:pt x="47" y="68"/>
                    <a:pt x="52" y="67"/>
                  </a:cubicBezTo>
                  <a:cubicBezTo>
                    <a:pt x="55" y="69"/>
                    <a:pt x="54" y="74"/>
                    <a:pt x="53" y="78"/>
                  </a:cubicBezTo>
                  <a:cubicBezTo>
                    <a:pt x="54" y="79"/>
                    <a:pt x="58" y="78"/>
                    <a:pt x="60" y="77"/>
                  </a:cubicBezTo>
                  <a:cubicBezTo>
                    <a:pt x="68" y="71"/>
                    <a:pt x="78" y="65"/>
                    <a:pt x="85" y="58"/>
                  </a:cubicBezTo>
                  <a:cubicBezTo>
                    <a:pt x="86" y="55"/>
                    <a:pt x="86" y="52"/>
                    <a:pt x="87" y="48"/>
                  </a:cubicBezTo>
                  <a:cubicBezTo>
                    <a:pt x="81" y="50"/>
                    <a:pt x="64" y="54"/>
                    <a:pt x="68" y="44"/>
                  </a:cubicBezTo>
                  <a:cubicBezTo>
                    <a:pt x="75" y="41"/>
                    <a:pt x="84" y="36"/>
                    <a:pt x="88" y="29"/>
                  </a:cubicBezTo>
                  <a:cubicBezTo>
                    <a:pt x="90" y="22"/>
                    <a:pt x="89" y="14"/>
                    <a:pt x="92" y="9"/>
                  </a:cubicBezTo>
                  <a:cubicBezTo>
                    <a:pt x="99" y="5"/>
                    <a:pt x="108" y="14"/>
                    <a:pt x="109" y="22"/>
                  </a:cubicBezTo>
                  <a:cubicBezTo>
                    <a:pt x="112" y="27"/>
                    <a:pt x="121" y="21"/>
                    <a:pt x="110" y="37"/>
                  </a:cubicBezTo>
                  <a:cubicBezTo>
                    <a:pt x="108" y="39"/>
                    <a:pt x="108" y="42"/>
                    <a:pt x="108" y="46"/>
                  </a:cubicBezTo>
                  <a:cubicBezTo>
                    <a:pt x="109" y="46"/>
                    <a:pt x="110" y="46"/>
                    <a:pt x="111" y="46"/>
                  </a:cubicBezTo>
                  <a:cubicBezTo>
                    <a:pt x="117" y="41"/>
                    <a:pt x="124" y="36"/>
                    <a:pt x="131" y="32"/>
                  </a:cubicBezTo>
                  <a:cubicBezTo>
                    <a:pt x="133" y="22"/>
                    <a:pt x="135" y="14"/>
                    <a:pt x="140" y="5"/>
                  </a:cubicBezTo>
                  <a:cubicBezTo>
                    <a:pt x="147" y="0"/>
                    <a:pt x="156" y="5"/>
                    <a:pt x="163" y="11"/>
                  </a:cubicBezTo>
                  <a:cubicBezTo>
                    <a:pt x="168" y="11"/>
                    <a:pt x="172" y="8"/>
                    <a:pt x="176" y="5"/>
                  </a:cubicBezTo>
                  <a:cubicBezTo>
                    <a:pt x="178" y="4"/>
                    <a:pt x="178" y="4"/>
                    <a:pt x="182" y="4"/>
                  </a:cubicBezTo>
                  <a:cubicBezTo>
                    <a:pt x="183" y="7"/>
                    <a:pt x="184" y="9"/>
                    <a:pt x="184" y="13"/>
                  </a:cubicBezTo>
                  <a:cubicBezTo>
                    <a:pt x="181" y="24"/>
                    <a:pt x="151" y="27"/>
                    <a:pt x="157" y="39"/>
                  </a:cubicBezTo>
                  <a:cubicBezTo>
                    <a:pt x="162" y="39"/>
                    <a:pt x="164" y="33"/>
                    <a:pt x="166" y="29"/>
                  </a:cubicBezTo>
                  <a:cubicBezTo>
                    <a:pt x="171" y="26"/>
                    <a:pt x="184" y="30"/>
                    <a:pt x="190" y="34"/>
                  </a:cubicBezTo>
                  <a:cubicBezTo>
                    <a:pt x="197" y="42"/>
                    <a:pt x="192" y="45"/>
                    <a:pt x="184" y="50"/>
                  </a:cubicBezTo>
                  <a:cubicBezTo>
                    <a:pt x="183" y="52"/>
                    <a:pt x="183" y="53"/>
                    <a:pt x="182" y="54"/>
                  </a:cubicBezTo>
                  <a:cubicBezTo>
                    <a:pt x="181" y="70"/>
                    <a:pt x="181" y="70"/>
                    <a:pt x="182" y="93"/>
                  </a:cubicBezTo>
                  <a:cubicBezTo>
                    <a:pt x="179" y="99"/>
                    <a:pt x="177" y="102"/>
                    <a:pt x="173" y="107"/>
                  </a:cubicBezTo>
                  <a:cubicBezTo>
                    <a:pt x="173" y="107"/>
                    <a:pt x="173" y="107"/>
                    <a:pt x="173" y="107"/>
                  </a:cubicBezTo>
                  <a:cubicBezTo>
                    <a:pt x="172" y="107"/>
                    <a:pt x="172" y="107"/>
                    <a:pt x="172" y="107"/>
                  </a:cubicBezTo>
                  <a:cubicBezTo>
                    <a:pt x="169" y="112"/>
                    <a:pt x="162" y="117"/>
                    <a:pt x="158" y="113"/>
                  </a:cubicBezTo>
                  <a:cubicBezTo>
                    <a:pt x="158" y="94"/>
                    <a:pt x="159" y="75"/>
                    <a:pt x="158" y="58"/>
                  </a:cubicBezTo>
                  <a:cubicBezTo>
                    <a:pt x="158" y="58"/>
                    <a:pt x="157" y="58"/>
                    <a:pt x="157" y="58"/>
                  </a:cubicBezTo>
                  <a:cubicBezTo>
                    <a:pt x="156" y="67"/>
                    <a:pt x="147" y="84"/>
                    <a:pt x="139" y="89"/>
                  </a:cubicBezTo>
                  <a:cubicBezTo>
                    <a:pt x="132" y="90"/>
                    <a:pt x="126" y="86"/>
                    <a:pt x="124" y="80"/>
                  </a:cubicBezTo>
                  <a:cubicBezTo>
                    <a:pt x="125" y="78"/>
                    <a:pt x="126" y="77"/>
                    <a:pt x="128" y="76"/>
                  </a:cubicBezTo>
                  <a:cubicBezTo>
                    <a:pt x="132" y="68"/>
                    <a:pt x="130" y="53"/>
                    <a:pt x="130" y="45"/>
                  </a:cubicBezTo>
                  <a:cubicBezTo>
                    <a:pt x="125" y="46"/>
                    <a:pt x="115" y="59"/>
                    <a:pt x="111" y="64"/>
                  </a:cubicBezTo>
                  <a:cubicBezTo>
                    <a:pt x="108" y="66"/>
                    <a:pt x="105" y="68"/>
                    <a:pt x="102" y="70"/>
                  </a:cubicBezTo>
                  <a:cubicBezTo>
                    <a:pt x="100" y="77"/>
                    <a:pt x="98" y="84"/>
                    <a:pt x="97" y="91"/>
                  </a:cubicBezTo>
                  <a:cubicBezTo>
                    <a:pt x="95" y="95"/>
                    <a:pt x="93" y="98"/>
                    <a:pt x="92" y="101"/>
                  </a:cubicBezTo>
                  <a:cubicBezTo>
                    <a:pt x="91" y="101"/>
                    <a:pt x="91" y="101"/>
                    <a:pt x="91" y="102"/>
                  </a:cubicBezTo>
                  <a:cubicBezTo>
                    <a:pt x="88" y="106"/>
                    <a:pt x="80" y="118"/>
                    <a:pt x="74" y="110"/>
                  </a:cubicBezTo>
                  <a:cubicBezTo>
                    <a:pt x="74" y="109"/>
                    <a:pt x="74" y="108"/>
                    <a:pt x="74" y="107"/>
                  </a:cubicBezTo>
                  <a:cubicBezTo>
                    <a:pt x="79" y="101"/>
                    <a:pt x="82" y="92"/>
                    <a:pt x="82" y="85"/>
                  </a:cubicBezTo>
                  <a:cubicBezTo>
                    <a:pt x="75" y="87"/>
                    <a:pt x="70" y="94"/>
                    <a:pt x="63" y="94"/>
                  </a:cubicBezTo>
                  <a:cubicBezTo>
                    <a:pt x="59" y="93"/>
                    <a:pt x="55" y="92"/>
                    <a:pt x="53" y="91"/>
                  </a:cubicBezTo>
                  <a:cubicBezTo>
                    <a:pt x="53" y="90"/>
                    <a:pt x="53" y="90"/>
                    <a:pt x="52" y="90"/>
                  </a:cubicBezTo>
                  <a:cubicBezTo>
                    <a:pt x="51" y="89"/>
                    <a:pt x="49" y="87"/>
                    <a:pt x="48" y="88"/>
                  </a:cubicBezTo>
                  <a:cubicBezTo>
                    <a:pt x="47" y="91"/>
                    <a:pt x="45" y="96"/>
                    <a:pt x="44" y="100"/>
                  </a:cubicBezTo>
                  <a:cubicBezTo>
                    <a:pt x="37" y="115"/>
                    <a:pt x="32" y="130"/>
                    <a:pt x="27" y="147"/>
                  </a:cubicBezTo>
                  <a:cubicBezTo>
                    <a:pt x="24" y="149"/>
                    <a:pt x="23" y="150"/>
                    <a:pt x="20" y="15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85" name="Freeform 83"/>
            <p:cNvSpPr/>
            <p:nvPr userDrawn="1"/>
          </p:nvSpPr>
          <p:spPr bwMode="auto">
            <a:xfrm>
              <a:off x="1401" y="757"/>
              <a:ext cx="37" cy="49"/>
            </a:xfrm>
            <a:custGeom>
              <a:avLst/>
              <a:gdLst>
                <a:gd name="T0" fmla="*/ 5 w 30"/>
                <a:gd name="T1" fmla="*/ 39 h 39"/>
                <a:gd name="T2" fmla="*/ 6 w 30"/>
                <a:gd name="T3" fmla="*/ 28 h 39"/>
                <a:gd name="T4" fmla="*/ 6 w 30"/>
                <a:gd name="T5" fmla="*/ 1 h 39"/>
                <a:gd name="T6" fmla="*/ 10 w 30"/>
                <a:gd name="T7" fmla="*/ 0 h 39"/>
                <a:gd name="T8" fmla="*/ 25 w 30"/>
                <a:gd name="T9" fmla="*/ 17 h 39"/>
                <a:gd name="T10" fmla="*/ 5 w 30"/>
                <a:gd name="T11" fmla="*/ 39 h 39"/>
              </a:gdLst>
              <a:ahLst/>
              <a:cxnLst>
                <a:cxn ang="0">
                  <a:pos x="T0" y="T1"/>
                </a:cxn>
                <a:cxn ang="0">
                  <a:pos x="T2" y="T3"/>
                </a:cxn>
                <a:cxn ang="0">
                  <a:pos x="T4" y="T5"/>
                </a:cxn>
                <a:cxn ang="0">
                  <a:pos x="T6" y="T7"/>
                </a:cxn>
                <a:cxn ang="0">
                  <a:pos x="T8" y="T9"/>
                </a:cxn>
                <a:cxn ang="0">
                  <a:pos x="T10" y="T11"/>
                </a:cxn>
              </a:cxnLst>
              <a:rect l="0" t="0" r="r" b="b"/>
              <a:pathLst>
                <a:path w="30" h="39">
                  <a:moveTo>
                    <a:pt x="5" y="39"/>
                  </a:moveTo>
                  <a:cubicBezTo>
                    <a:pt x="3" y="35"/>
                    <a:pt x="6" y="31"/>
                    <a:pt x="6" y="28"/>
                  </a:cubicBezTo>
                  <a:cubicBezTo>
                    <a:pt x="3" y="17"/>
                    <a:pt x="0" y="9"/>
                    <a:pt x="6" y="1"/>
                  </a:cubicBezTo>
                  <a:cubicBezTo>
                    <a:pt x="7" y="0"/>
                    <a:pt x="9" y="0"/>
                    <a:pt x="10" y="0"/>
                  </a:cubicBezTo>
                  <a:cubicBezTo>
                    <a:pt x="14" y="4"/>
                    <a:pt x="21" y="11"/>
                    <a:pt x="25" y="17"/>
                  </a:cubicBezTo>
                  <a:cubicBezTo>
                    <a:pt x="30" y="29"/>
                    <a:pt x="14" y="35"/>
                    <a:pt x="5" y="39"/>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86" name="Freeform 84"/>
            <p:cNvSpPr/>
            <p:nvPr userDrawn="1"/>
          </p:nvSpPr>
          <p:spPr bwMode="auto">
            <a:xfrm>
              <a:off x="1411" y="708"/>
              <a:ext cx="46" cy="47"/>
            </a:xfrm>
            <a:custGeom>
              <a:avLst/>
              <a:gdLst>
                <a:gd name="T0" fmla="*/ 7 w 37"/>
                <a:gd name="T1" fmla="*/ 38 h 38"/>
                <a:gd name="T2" fmla="*/ 4 w 37"/>
                <a:gd name="T3" fmla="*/ 36 h 38"/>
                <a:gd name="T4" fmla="*/ 6 w 37"/>
                <a:gd name="T5" fmla="*/ 29 h 38"/>
                <a:gd name="T6" fmla="*/ 11 w 37"/>
                <a:gd name="T7" fmla="*/ 0 h 38"/>
                <a:gd name="T8" fmla="*/ 16 w 37"/>
                <a:gd name="T9" fmla="*/ 7 h 38"/>
                <a:gd name="T10" fmla="*/ 24 w 37"/>
                <a:gd name="T11" fmla="*/ 32 h 38"/>
                <a:gd name="T12" fmla="*/ 7 w 37"/>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37" h="38">
                  <a:moveTo>
                    <a:pt x="7" y="38"/>
                  </a:moveTo>
                  <a:cubicBezTo>
                    <a:pt x="5" y="37"/>
                    <a:pt x="5" y="37"/>
                    <a:pt x="4" y="36"/>
                  </a:cubicBezTo>
                  <a:cubicBezTo>
                    <a:pt x="6" y="33"/>
                    <a:pt x="7" y="32"/>
                    <a:pt x="6" y="29"/>
                  </a:cubicBezTo>
                  <a:cubicBezTo>
                    <a:pt x="0" y="20"/>
                    <a:pt x="0" y="5"/>
                    <a:pt x="11" y="0"/>
                  </a:cubicBezTo>
                  <a:cubicBezTo>
                    <a:pt x="14" y="0"/>
                    <a:pt x="15" y="3"/>
                    <a:pt x="16" y="7"/>
                  </a:cubicBezTo>
                  <a:cubicBezTo>
                    <a:pt x="23" y="14"/>
                    <a:pt x="37" y="23"/>
                    <a:pt x="24" y="32"/>
                  </a:cubicBezTo>
                  <a:cubicBezTo>
                    <a:pt x="18" y="35"/>
                    <a:pt x="13" y="36"/>
                    <a:pt x="7" y="38"/>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87" name="Freeform 85"/>
            <p:cNvSpPr/>
            <p:nvPr userDrawn="1"/>
          </p:nvSpPr>
          <p:spPr bwMode="auto">
            <a:xfrm>
              <a:off x="2067" y="765"/>
              <a:ext cx="26" cy="39"/>
            </a:xfrm>
            <a:custGeom>
              <a:avLst/>
              <a:gdLst>
                <a:gd name="T0" fmla="*/ 10 w 21"/>
                <a:gd name="T1" fmla="*/ 31 h 31"/>
                <a:gd name="T2" fmla="*/ 3 w 21"/>
                <a:gd name="T3" fmla="*/ 4 h 31"/>
                <a:gd name="T4" fmla="*/ 21 w 21"/>
                <a:gd name="T5" fmla="*/ 18 h 31"/>
                <a:gd name="T6" fmla="*/ 10 w 21"/>
                <a:gd name="T7" fmla="*/ 31 h 31"/>
              </a:gdLst>
              <a:ahLst/>
              <a:cxnLst>
                <a:cxn ang="0">
                  <a:pos x="T0" y="T1"/>
                </a:cxn>
                <a:cxn ang="0">
                  <a:pos x="T2" y="T3"/>
                </a:cxn>
                <a:cxn ang="0">
                  <a:pos x="T4" y="T5"/>
                </a:cxn>
                <a:cxn ang="0">
                  <a:pos x="T6" y="T7"/>
                </a:cxn>
              </a:cxnLst>
              <a:rect l="0" t="0" r="r" b="b"/>
              <a:pathLst>
                <a:path w="21" h="31">
                  <a:moveTo>
                    <a:pt x="10" y="31"/>
                  </a:moveTo>
                  <a:cubicBezTo>
                    <a:pt x="0" y="27"/>
                    <a:pt x="2" y="11"/>
                    <a:pt x="3" y="4"/>
                  </a:cubicBezTo>
                  <a:cubicBezTo>
                    <a:pt x="11" y="0"/>
                    <a:pt x="20" y="9"/>
                    <a:pt x="21" y="18"/>
                  </a:cubicBezTo>
                  <a:cubicBezTo>
                    <a:pt x="19" y="27"/>
                    <a:pt x="19" y="29"/>
                    <a:pt x="10" y="3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88" name="Freeform 86"/>
            <p:cNvSpPr>
              <a:spLocks noEditPoints="1"/>
            </p:cNvSpPr>
            <p:nvPr userDrawn="1"/>
          </p:nvSpPr>
          <p:spPr bwMode="auto">
            <a:xfrm>
              <a:off x="2057" y="673"/>
              <a:ext cx="166" cy="224"/>
            </a:xfrm>
            <a:custGeom>
              <a:avLst/>
              <a:gdLst>
                <a:gd name="T0" fmla="*/ 71 w 134"/>
                <a:gd name="T1" fmla="*/ 180 h 180"/>
                <a:gd name="T2" fmla="*/ 34 w 134"/>
                <a:gd name="T3" fmla="*/ 173 h 180"/>
                <a:gd name="T4" fmla="*/ 56 w 134"/>
                <a:gd name="T5" fmla="*/ 148 h 180"/>
                <a:gd name="T6" fmla="*/ 0 w 134"/>
                <a:gd name="T7" fmla="*/ 147 h 180"/>
                <a:gd name="T8" fmla="*/ 56 w 134"/>
                <a:gd name="T9" fmla="*/ 124 h 180"/>
                <a:gd name="T10" fmla="*/ 75 w 134"/>
                <a:gd name="T11" fmla="*/ 108 h 180"/>
                <a:gd name="T12" fmla="*/ 91 w 134"/>
                <a:gd name="T13" fmla="*/ 96 h 180"/>
                <a:gd name="T14" fmla="*/ 32 w 134"/>
                <a:gd name="T15" fmla="*/ 119 h 180"/>
                <a:gd name="T16" fmla="*/ 34 w 134"/>
                <a:gd name="T17" fmla="*/ 108 h 180"/>
                <a:gd name="T18" fmla="*/ 73 w 134"/>
                <a:gd name="T19" fmla="*/ 81 h 180"/>
                <a:gd name="T20" fmla="*/ 71 w 134"/>
                <a:gd name="T21" fmla="*/ 78 h 180"/>
                <a:gd name="T22" fmla="*/ 39 w 134"/>
                <a:gd name="T23" fmla="*/ 93 h 180"/>
                <a:gd name="T24" fmla="*/ 27 w 134"/>
                <a:gd name="T25" fmla="*/ 61 h 180"/>
                <a:gd name="T26" fmla="*/ 33 w 134"/>
                <a:gd name="T27" fmla="*/ 44 h 180"/>
                <a:gd name="T28" fmla="*/ 46 w 134"/>
                <a:gd name="T29" fmla="*/ 56 h 180"/>
                <a:gd name="T30" fmla="*/ 60 w 134"/>
                <a:gd name="T31" fmla="*/ 66 h 180"/>
                <a:gd name="T32" fmla="*/ 68 w 134"/>
                <a:gd name="T33" fmla="*/ 55 h 180"/>
                <a:gd name="T34" fmla="*/ 64 w 134"/>
                <a:gd name="T35" fmla="*/ 45 h 180"/>
                <a:gd name="T36" fmla="*/ 84 w 134"/>
                <a:gd name="T37" fmla="*/ 25 h 180"/>
                <a:gd name="T38" fmla="*/ 111 w 134"/>
                <a:gd name="T39" fmla="*/ 20 h 180"/>
                <a:gd name="T40" fmla="*/ 110 w 134"/>
                <a:gd name="T41" fmla="*/ 29 h 180"/>
                <a:gd name="T42" fmla="*/ 132 w 134"/>
                <a:gd name="T43" fmla="*/ 44 h 180"/>
                <a:gd name="T44" fmla="*/ 115 w 134"/>
                <a:gd name="T45" fmla="*/ 77 h 180"/>
                <a:gd name="T46" fmla="*/ 120 w 134"/>
                <a:gd name="T47" fmla="*/ 94 h 180"/>
                <a:gd name="T48" fmla="*/ 78 w 134"/>
                <a:gd name="T49" fmla="*/ 114 h 180"/>
                <a:gd name="T50" fmla="*/ 92 w 134"/>
                <a:gd name="T51" fmla="*/ 119 h 180"/>
                <a:gd name="T52" fmla="*/ 81 w 134"/>
                <a:gd name="T53" fmla="*/ 140 h 180"/>
                <a:gd name="T54" fmla="*/ 72 w 134"/>
                <a:gd name="T55" fmla="*/ 180 h 180"/>
                <a:gd name="T56" fmla="*/ 106 w 134"/>
                <a:gd name="T57" fmla="*/ 53 h 180"/>
                <a:gd name="T58" fmla="*/ 87 w 134"/>
                <a:gd name="T59" fmla="*/ 59 h 180"/>
                <a:gd name="T60" fmla="*/ 87 w 134"/>
                <a:gd name="T61" fmla="*/ 60 h 180"/>
                <a:gd name="T62" fmla="*/ 92 w 134"/>
                <a:gd name="T63" fmla="*/ 58 h 180"/>
                <a:gd name="T64" fmla="*/ 99 w 134"/>
                <a:gd name="T65" fmla="*/ 67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4" h="180">
                  <a:moveTo>
                    <a:pt x="72" y="180"/>
                  </a:moveTo>
                  <a:cubicBezTo>
                    <a:pt x="71" y="180"/>
                    <a:pt x="71" y="180"/>
                    <a:pt x="71" y="180"/>
                  </a:cubicBezTo>
                  <a:cubicBezTo>
                    <a:pt x="58" y="180"/>
                    <a:pt x="46" y="179"/>
                    <a:pt x="34" y="175"/>
                  </a:cubicBezTo>
                  <a:cubicBezTo>
                    <a:pt x="34" y="174"/>
                    <a:pt x="34" y="174"/>
                    <a:pt x="34" y="173"/>
                  </a:cubicBezTo>
                  <a:cubicBezTo>
                    <a:pt x="41" y="169"/>
                    <a:pt x="50" y="170"/>
                    <a:pt x="55" y="163"/>
                  </a:cubicBezTo>
                  <a:cubicBezTo>
                    <a:pt x="56" y="157"/>
                    <a:pt x="57" y="152"/>
                    <a:pt x="56" y="148"/>
                  </a:cubicBezTo>
                  <a:cubicBezTo>
                    <a:pt x="43" y="148"/>
                    <a:pt x="37" y="157"/>
                    <a:pt x="27" y="161"/>
                  </a:cubicBezTo>
                  <a:cubicBezTo>
                    <a:pt x="18" y="162"/>
                    <a:pt x="3" y="154"/>
                    <a:pt x="0" y="147"/>
                  </a:cubicBezTo>
                  <a:cubicBezTo>
                    <a:pt x="0" y="136"/>
                    <a:pt x="3" y="141"/>
                    <a:pt x="14" y="140"/>
                  </a:cubicBezTo>
                  <a:cubicBezTo>
                    <a:pt x="28" y="138"/>
                    <a:pt x="43" y="130"/>
                    <a:pt x="56" y="124"/>
                  </a:cubicBezTo>
                  <a:cubicBezTo>
                    <a:pt x="59" y="121"/>
                    <a:pt x="59" y="121"/>
                    <a:pt x="61" y="121"/>
                  </a:cubicBezTo>
                  <a:cubicBezTo>
                    <a:pt x="64" y="112"/>
                    <a:pt x="66" y="110"/>
                    <a:pt x="75" y="108"/>
                  </a:cubicBezTo>
                  <a:cubicBezTo>
                    <a:pt x="79" y="106"/>
                    <a:pt x="79" y="106"/>
                    <a:pt x="90" y="100"/>
                  </a:cubicBezTo>
                  <a:cubicBezTo>
                    <a:pt x="90" y="99"/>
                    <a:pt x="91" y="98"/>
                    <a:pt x="91" y="96"/>
                  </a:cubicBezTo>
                  <a:cubicBezTo>
                    <a:pt x="74" y="98"/>
                    <a:pt x="61" y="112"/>
                    <a:pt x="48" y="121"/>
                  </a:cubicBezTo>
                  <a:cubicBezTo>
                    <a:pt x="41" y="122"/>
                    <a:pt x="36" y="121"/>
                    <a:pt x="32" y="119"/>
                  </a:cubicBezTo>
                  <a:cubicBezTo>
                    <a:pt x="29" y="120"/>
                    <a:pt x="12" y="123"/>
                    <a:pt x="20" y="116"/>
                  </a:cubicBezTo>
                  <a:cubicBezTo>
                    <a:pt x="25" y="114"/>
                    <a:pt x="29" y="111"/>
                    <a:pt x="34" y="108"/>
                  </a:cubicBezTo>
                  <a:cubicBezTo>
                    <a:pt x="47" y="100"/>
                    <a:pt x="61" y="93"/>
                    <a:pt x="74" y="85"/>
                  </a:cubicBezTo>
                  <a:cubicBezTo>
                    <a:pt x="74" y="83"/>
                    <a:pt x="73" y="82"/>
                    <a:pt x="73" y="81"/>
                  </a:cubicBezTo>
                  <a:cubicBezTo>
                    <a:pt x="73" y="79"/>
                    <a:pt x="74" y="77"/>
                    <a:pt x="74" y="75"/>
                  </a:cubicBezTo>
                  <a:cubicBezTo>
                    <a:pt x="72" y="76"/>
                    <a:pt x="71" y="76"/>
                    <a:pt x="71" y="78"/>
                  </a:cubicBezTo>
                  <a:cubicBezTo>
                    <a:pt x="63" y="81"/>
                    <a:pt x="59" y="88"/>
                    <a:pt x="53" y="81"/>
                  </a:cubicBezTo>
                  <a:cubicBezTo>
                    <a:pt x="51" y="88"/>
                    <a:pt x="46" y="93"/>
                    <a:pt x="39" y="93"/>
                  </a:cubicBezTo>
                  <a:cubicBezTo>
                    <a:pt x="32" y="89"/>
                    <a:pt x="32" y="77"/>
                    <a:pt x="31" y="72"/>
                  </a:cubicBezTo>
                  <a:cubicBezTo>
                    <a:pt x="30" y="71"/>
                    <a:pt x="29" y="67"/>
                    <a:pt x="27" y="61"/>
                  </a:cubicBezTo>
                  <a:cubicBezTo>
                    <a:pt x="24" y="55"/>
                    <a:pt x="18" y="47"/>
                    <a:pt x="22" y="42"/>
                  </a:cubicBezTo>
                  <a:cubicBezTo>
                    <a:pt x="27" y="38"/>
                    <a:pt x="29" y="37"/>
                    <a:pt x="33" y="44"/>
                  </a:cubicBezTo>
                  <a:cubicBezTo>
                    <a:pt x="37" y="47"/>
                    <a:pt x="42" y="51"/>
                    <a:pt x="45" y="56"/>
                  </a:cubicBezTo>
                  <a:cubicBezTo>
                    <a:pt x="45" y="56"/>
                    <a:pt x="46" y="56"/>
                    <a:pt x="46" y="56"/>
                  </a:cubicBezTo>
                  <a:cubicBezTo>
                    <a:pt x="48" y="62"/>
                    <a:pt x="54" y="69"/>
                    <a:pt x="53" y="77"/>
                  </a:cubicBezTo>
                  <a:cubicBezTo>
                    <a:pt x="57" y="75"/>
                    <a:pt x="62" y="71"/>
                    <a:pt x="60" y="66"/>
                  </a:cubicBezTo>
                  <a:cubicBezTo>
                    <a:pt x="53" y="63"/>
                    <a:pt x="57" y="57"/>
                    <a:pt x="61" y="55"/>
                  </a:cubicBezTo>
                  <a:cubicBezTo>
                    <a:pt x="64" y="55"/>
                    <a:pt x="64" y="55"/>
                    <a:pt x="68" y="55"/>
                  </a:cubicBezTo>
                  <a:cubicBezTo>
                    <a:pt x="68" y="53"/>
                    <a:pt x="68" y="53"/>
                    <a:pt x="67" y="52"/>
                  </a:cubicBezTo>
                  <a:cubicBezTo>
                    <a:pt x="62" y="50"/>
                    <a:pt x="63" y="49"/>
                    <a:pt x="64" y="45"/>
                  </a:cubicBezTo>
                  <a:cubicBezTo>
                    <a:pt x="58" y="43"/>
                    <a:pt x="56" y="37"/>
                    <a:pt x="58" y="32"/>
                  </a:cubicBezTo>
                  <a:cubicBezTo>
                    <a:pt x="76" y="28"/>
                    <a:pt x="76" y="28"/>
                    <a:pt x="84" y="25"/>
                  </a:cubicBezTo>
                  <a:cubicBezTo>
                    <a:pt x="89" y="19"/>
                    <a:pt x="95" y="0"/>
                    <a:pt x="106" y="4"/>
                  </a:cubicBezTo>
                  <a:cubicBezTo>
                    <a:pt x="109" y="7"/>
                    <a:pt x="111" y="14"/>
                    <a:pt x="111" y="20"/>
                  </a:cubicBezTo>
                  <a:cubicBezTo>
                    <a:pt x="109" y="23"/>
                    <a:pt x="107" y="25"/>
                    <a:pt x="107" y="28"/>
                  </a:cubicBezTo>
                  <a:cubicBezTo>
                    <a:pt x="108" y="28"/>
                    <a:pt x="109" y="28"/>
                    <a:pt x="110" y="29"/>
                  </a:cubicBezTo>
                  <a:cubicBezTo>
                    <a:pt x="117" y="25"/>
                    <a:pt x="121" y="21"/>
                    <a:pt x="125" y="31"/>
                  </a:cubicBezTo>
                  <a:cubicBezTo>
                    <a:pt x="132" y="35"/>
                    <a:pt x="134" y="34"/>
                    <a:pt x="132" y="44"/>
                  </a:cubicBezTo>
                  <a:cubicBezTo>
                    <a:pt x="127" y="55"/>
                    <a:pt x="121" y="66"/>
                    <a:pt x="115" y="76"/>
                  </a:cubicBezTo>
                  <a:cubicBezTo>
                    <a:pt x="115" y="76"/>
                    <a:pt x="115" y="77"/>
                    <a:pt x="115" y="77"/>
                  </a:cubicBezTo>
                  <a:cubicBezTo>
                    <a:pt x="117" y="77"/>
                    <a:pt x="118" y="78"/>
                    <a:pt x="119" y="78"/>
                  </a:cubicBezTo>
                  <a:cubicBezTo>
                    <a:pt x="120" y="83"/>
                    <a:pt x="120" y="88"/>
                    <a:pt x="120" y="94"/>
                  </a:cubicBezTo>
                  <a:cubicBezTo>
                    <a:pt x="116" y="100"/>
                    <a:pt x="110" y="100"/>
                    <a:pt x="103" y="101"/>
                  </a:cubicBezTo>
                  <a:cubicBezTo>
                    <a:pt x="94" y="106"/>
                    <a:pt x="86" y="109"/>
                    <a:pt x="78" y="114"/>
                  </a:cubicBezTo>
                  <a:cubicBezTo>
                    <a:pt x="78" y="116"/>
                    <a:pt x="78" y="118"/>
                    <a:pt x="79" y="120"/>
                  </a:cubicBezTo>
                  <a:cubicBezTo>
                    <a:pt x="83" y="120"/>
                    <a:pt x="87" y="120"/>
                    <a:pt x="92" y="119"/>
                  </a:cubicBezTo>
                  <a:cubicBezTo>
                    <a:pt x="96" y="123"/>
                    <a:pt x="96" y="131"/>
                    <a:pt x="93" y="136"/>
                  </a:cubicBezTo>
                  <a:cubicBezTo>
                    <a:pt x="88" y="137"/>
                    <a:pt x="85" y="138"/>
                    <a:pt x="81" y="140"/>
                  </a:cubicBezTo>
                  <a:cubicBezTo>
                    <a:pt x="81" y="142"/>
                    <a:pt x="81" y="144"/>
                    <a:pt x="80" y="147"/>
                  </a:cubicBezTo>
                  <a:cubicBezTo>
                    <a:pt x="81" y="156"/>
                    <a:pt x="85" y="178"/>
                    <a:pt x="72" y="180"/>
                  </a:cubicBezTo>
                  <a:moveTo>
                    <a:pt x="99" y="67"/>
                  </a:moveTo>
                  <a:cubicBezTo>
                    <a:pt x="103" y="63"/>
                    <a:pt x="106" y="58"/>
                    <a:pt x="106" y="53"/>
                  </a:cubicBezTo>
                  <a:cubicBezTo>
                    <a:pt x="102" y="49"/>
                    <a:pt x="96" y="49"/>
                    <a:pt x="92" y="49"/>
                  </a:cubicBezTo>
                  <a:cubicBezTo>
                    <a:pt x="92" y="51"/>
                    <a:pt x="92" y="51"/>
                    <a:pt x="87" y="59"/>
                  </a:cubicBezTo>
                  <a:cubicBezTo>
                    <a:pt x="88" y="59"/>
                    <a:pt x="88" y="59"/>
                    <a:pt x="89" y="59"/>
                  </a:cubicBezTo>
                  <a:cubicBezTo>
                    <a:pt x="88" y="60"/>
                    <a:pt x="88" y="60"/>
                    <a:pt x="87" y="60"/>
                  </a:cubicBezTo>
                  <a:cubicBezTo>
                    <a:pt x="87" y="60"/>
                    <a:pt x="88" y="60"/>
                    <a:pt x="88" y="61"/>
                  </a:cubicBezTo>
                  <a:cubicBezTo>
                    <a:pt x="90" y="61"/>
                    <a:pt x="91" y="59"/>
                    <a:pt x="92" y="58"/>
                  </a:cubicBezTo>
                  <a:cubicBezTo>
                    <a:pt x="98" y="57"/>
                    <a:pt x="98" y="59"/>
                    <a:pt x="98" y="67"/>
                  </a:cubicBezTo>
                  <a:cubicBezTo>
                    <a:pt x="98" y="67"/>
                    <a:pt x="98" y="67"/>
                    <a:pt x="99" y="6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89" name="Freeform 87"/>
            <p:cNvSpPr/>
            <p:nvPr userDrawn="1"/>
          </p:nvSpPr>
          <p:spPr bwMode="auto">
            <a:xfrm>
              <a:off x="1415" y="933"/>
              <a:ext cx="31" cy="40"/>
            </a:xfrm>
            <a:custGeom>
              <a:avLst/>
              <a:gdLst>
                <a:gd name="T0" fmla="*/ 0 w 31"/>
                <a:gd name="T1" fmla="*/ 35 h 40"/>
                <a:gd name="T2" fmla="*/ 24 w 31"/>
                <a:gd name="T3" fmla="*/ 5 h 40"/>
                <a:gd name="T4" fmla="*/ 2 w 31"/>
                <a:gd name="T5" fmla="*/ 5 h 40"/>
                <a:gd name="T6" fmla="*/ 2 w 31"/>
                <a:gd name="T7" fmla="*/ 3 h 40"/>
                <a:gd name="T8" fmla="*/ 2 w 31"/>
                <a:gd name="T9" fmla="*/ 0 h 40"/>
                <a:gd name="T10" fmla="*/ 31 w 31"/>
                <a:gd name="T11" fmla="*/ 0 h 40"/>
                <a:gd name="T12" fmla="*/ 31 w 31"/>
                <a:gd name="T13" fmla="*/ 3 h 40"/>
                <a:gd name="T14" fmla="*/ 31 w 31"/>
                <a:gd name="T15" fmla="*/ 5 h 40"/>
                <a:gd name="T16" fmla="*/ 6 w 31"/>
                <a:gd name="T17" fmla="*/ 35 h 40"/>
                <a:gd name="T18" fmla="*/ 31 w 31"/>
                <a:gd name="T19" fmla="*/ 35 h 40"/>
                <a:gd name="T20" fmla="*/ 31 w 31"/>
                <a:gd name="T21" fmla="*/ 37 h 40"/>
                <a:gd name="T22" fmla="*/ 31 w 31"/>
                <a:gd name="T23" fmla="*/ 40 h 40"/>
                <a:gd name="T24" fmla="*/ 0 w 31"/>
                <a:gd name="T25" fmla="*/ 40 h 40"/>
                <a:gd name="T26" fmla="*/ 0 w 31"/>
                <a:gd name="T27" fmla="*/ 37 h 40"/>
                <a:gd name="T28" fmla="*/ 0 w 31"/>
                <a:gd name="T29" fmla="*/ 3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0" y="35"/>
                  </a:moveTo>
                  <a:lnTo>
                    <a:pt x="24" y="5"/>
                  </a:lnTo>
                  <a:lnTo>
                    <a:pt x="2" y="5"/>
                  </a:lnTo>
                  <a:lnTo>
                    <a:pt x="2" y="3"/>
                  </a:lnTo>
                  <a:lnTo>
                    <a:pt x="2" y="0"/>
                  </a:lnTo>
                  <a:lnTo>
                    <a:pt x="31" y="0"/>
                  </a:lnTo>
                  <a:lnTo>
                    <a:pt x="31" y="3"/>
                  </a:lnTo>
                  <a:lnTo>
                    <a:pt x="31" y="5"/>
                  </a:lnTo>
                  <a:lnTo>
                    <a:pt x="6" y="35"/>
                  </a:lnTo>
                  <a:lnTo>
                    <a:pt x="31" y="35"/>
                  </a:lnTo>
                  <a:lnTo>
                    <a:pt x="31" y="37"/>
                  </a:lnTo>
                  <a:lnTo>
                    <a:pt x="31" y="40"/>
                  </a:lnTo>
                  <a:lnTo>
                    <a:pt x="0" y="40"/>
                  </a:lnTo>
                  <a:lnTo>
                    <a:pt x="0" y="37"/>
                  </a:lnTo>
                  <a:lnTo>
                    <a:pt x="0" y="3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0" name="Freeform 88"/>
            <p:cNvSpPr/>
            <p:nvPr userDrawn="1"/>
          </p:nvSpPr>
          <p:spPr bwMode="auto">
            <a:xfrm>
              <a:off x="1458" y="933"/>
              <a:ext cx="31" cy="40"/>
            </a:xfrm>
            <a:custGeom>
              <a:avLst/>
              <a:gdLst>
                <a:gd name="T0" fmla="*/ 0 w 31"/>
                <a:gd name="T1" fmla="*/ 0 h 40"/>
                <a:gd name="T2" fmla="*/ 2 w 31"/>
                <a:gd name="T3" fmla="*/ 0 h 40"/>
                <a:gd name="T4" fmla="*/ 5 w 31"/>
                <a:gd name="T5" fmla="*/ 0 h 40"/>
                <a:gd name="T6" fmla="*/ 5 w 31"/>
                <a:gd name="T7" fmla="*/ 16 h 40"/>
                <a:gd name="T8" fmla="*/ 26 w 31"/>
                <a:gd name="T9" fmla="*/ 16 h 40"/>
                <a:gd name="T10" fmla="*/ 26 w 31"/>
                <a:gd name="T11" fmla="*/ 0 h 40"/>
                <a:gd name="T12" fmla="*/ 28 w 31"/>
                <a:gd name="T13" fmla="*/ 0 h 40"/>
                <a:gd name="T14" fmla="*/ 31 w 31"/>
                <a:gd name="T15" fmla="*/ 0 h 40"/>
                <a:gd name="T16" fmla="*/ 31 w 31"/>
                <a:gd name="T17" fmla="*/ 40 h 40"/>
                <a:gd name="T18" fmla="*/ 28 w 31"/>
                <a:gd name="T19" fmla="*/ 40 h 40"/>
                <a:gd name="T20" fmla="*/ 26 w 31"/>
                <a:gd name="T21" fmla="*/ 40 h 40"/>
                <a:gd name="T22" fmla="*/ 26 w 31"/>
                <a:gd name="T23" fmla="*/ 21 h 40"/>
                <a:gd name="T24" fmla="*/ 5 w 31"/>
                <a:gd name="T25" fmla="*/ 21 h 40"/>
                <a:gd name="T26" fmla="*/ 5 w 31"/>
                <a:gd name="T27" fmla="*/ 40 h 40"/>
                <a:gd name="T28" fmla="*/ 2 w 31"/>
                <a:gd name="T29" fmla="*/ 40 h 40"/>
                <a:gd name="T30" fmla="*/ 0 w 31"/>
                <a:gd name="T31" fmla="*/ 40 h 40"/>
                <a:gd name="T32" fmla="*/ 0 w 31"/>
                <a:gd name="T3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40">
                  <a:moveTo>
                    <a:pt x="0" y="0"/>
                  </a:moveTo>
                  <a:lnTo>
                    <a:pt x="2" y="0"/>
                  </a:lnTo>
                  <a:lnTo>
                    <a:pt x="5" y="0"/>
                  </a:lnTo>
                  <a:lnTo>
                    <a:pt x="5" y="16"/>
                  </a:lnTo>
                  <a:lnTo>
                    <a:pt x="26" y="16"/>
                  </a:lnTo>
                  <a:lnTo>
                    <a:pt x="26" y="0"/>
                  </a:lnTo>
                  <a:lnTo>
                    <a:pt x="28" y="0"/>
                  </a:lnTo>
                  <a:lnTo>
                    <a:pt x="31" y="0"/>
                  </a:lnTo>
                  <a:lnTo>
                    <a:pt x="31" y="40"/>
                  </a:lnTo>
                  <a:lnTo>
                    <a:pt x="28" y="40"/>
                  </a:lnTo>
                  <a:lnTo>
                    <a:pt x="26" y="40"/>
                  </a:lnTo>
                  <a:lnTo>
                    <a:pt x="26" y="21"/>
                  </a:lnTo>
                  <a:lnTo>
                    <a:pt x="5" y="21"/>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1" name="Freeform 89"/>
            <p:cNvSpPr/>
            <p:nvPr userDrawn="1"/>
          </p:nvSpPr>
          <p:spPr bwMode="auto">
            <a:xfrm>
              <a:off x="1503" y="933"/>
              <a:ext cx="29" cy="40"/>
            </a:xfrm>
            <a:custGeom>
              <a:avLst/>
              <a:gdLst>
                <a:gd name="T0" fmla="*/ 0 w 29"/>
                <a:gd name="T1" fmla="*/ 40 h 40"/>
                <a:gd name="T2" fmla="*/ 0 w 29"/>
                <a:gd name="T3" fmla="*/ 0 h 40"/>
                <a:gd name="T4" fmla="*/ 29 w 29"/>
                <a:gd name="T5" fmla="*/ 0 h 40"/>
                <a:gd name="T6" fmla="*/ 29 w 29"/>
                <a:gd name="T7" fmla="*/ 3 h 40"/>
                <a:gd name="T8" fmla="*/ 29 w 29"/>
                <a:gd name="T9" fmla="*/ 5 h 40"/>
                <a:gd name="T10" fmla="*/ 6 w 29"/>
                <a:gd name="T11" fmla="*/ 5 h 40"/>
                <a:gd name="T12" fmla="*/ 6 w 29"/>
                <a:gd name="T13" fmla="*/ 16 h 40"/>
                <a:gd name="T14" fmla="*/ 27 w 29"/>
                <a:gd name="T15" fmla="*/ 16 h 40"/>
                <a:gd name="T16" fmla="*/ 27 w 29"/>
                <a:gd name="T17" fmla="*/ 19 h 40"/>
                <a:gd name="T18" fmla="*/ 27 w 29"/>
                <a:gd name="T19" fmla="*/ 21 h 40"/>
                <a:gd name="T20" fmla="*/ 6 w 29"/>
                <a:gd name="T21" fmla="*/ 21 h 40"/>
                <a:gd name="T22" fmla="*/ 6 w 29"/>
                <a:gd name="T23" fmla="*/ 35 h 40"/>
                <a:gd name="T24" fmla="*/ 29 w 29"/>
                <a:gd name="T25" fmla="*/ 35 h 40"/>
                <a:gd name="T26" fmla="*/ 29 w 29"/>
                <a:gd name="T27" fmla="*/ 37 h 40"/>
                <a:gd name="T28" fmla="*/ 29 w 29"/>
                <a:gd name="T29" fmla="*/ 40 h 40"/>
                <a:gd name="T30" fmla="*/ 0 w 29"/>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 h="40">
                  <a:moveTo>
                    <a:pt x="0" y="40"/>
                  </a:moveTo>
                  <a:lnTo>
                    <a:pt x="0" y="0"/>
                  </a:lnTo>
                  <a:lnTo>
                    <a:pt x="29" y="0"/>
                  </a:lnTo>
                  <a:lnTo>
                    <a:pt x="29" y="3"/>
                  </a:lnTo>
                  <a:lnTo>
                    <a:pt x="29" y="5"/>
                  </a:lnTo>
                  <a:lnTo>
                    <a:pt x="6" y="5"/>
                  </a:lnTo>
                  <a:lnTo>
                    <a:pt x="6" y="16"/>
                  </a:lnTo>
                  <a:lnTo>
                    <a:pt x="27" y="16"/>
                  </a:lnTo>
                  <a:lnTo>
                    <a:pt x="27" y="19"/>
                  </a:lnTo>
                  <a:lnTo>
                    <a:pt x="27" y="21"/>
                  </a:lnTo>
                  <a:lnTo>
                    <a:pt x="6" y="21"/>
                  </a:lnTo>
                  <a:lnTo>
                    <a:pt x="6" y="35"/>
                  </a:lnTo>
                  <a:lnTo>
                    <a:pt x="29" y="35"/>
                  </a:lnTo>
                  <a:lnTo>
                    <a:pt x="29" y="37"/>
                  </a:lnTo>
                  <a:lnTo>
                    <a:pt x="29" y="40"/>
                  </a:lnTo>
                  <a:lnTo>
                    <a:pt x="0"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2" name="Freeform 90"/>
            <p:cNvSpPr/>
            <p:nvPr userDrawn="1"/>
          </p:nvSpPr>
          <p:spPr bwMode="auto">
            <a:xfrm>
              <a:off x="1542" y="933"/>
              <a:ext cx="22" cy="40"/>
            </a:xfrm>
            <a:custGeom>
              <a:avLst/>
              <a:gdLst>
                <a:gd name="T0" fmla="*/ 14 w 18"/>
                <a:gd name="T1" fmla="*/ 0 h 32"/>
                <a:gd name="T2" fmla="*/ 16 w 18"/>
                <a:gd name="T3" fmla="*/ 0 h 32"/>
                <a:gd name="T4" fmla="*/ 18 w 18"/>
                <a:gd name="T5" fmla="*/ 0 h 32"/>
                <a:gd name="T6" fmla="*/ 18 w 18"/>
                <a:gd name="T7" fmla="*/ 23 h 32"/>
                <a:gd name="T8" fmla="*/ 16 w 18"/>
                <a:gd name="T9" fmla="*/ 30 h 32"/>
                <a:gd name="T10" fmla="*/ 9 w 18"/>
                <a:gd name="T11" fmla="*/ 32 h 32"/>
                <a:gd name="T12" fmla="*/ 2 w 18"/>
                <a:gd name="T13" fmla="*/ 30 h 32"/>
                <a:gd name="T14" fmla="*/ 0 w 18"/>
                <a:gd name="T15" fmla="*/ 23 h 32"/>
                <a:gd name="T16" fmla="*/ 0 w 18"/>
                <a:gd name="T17" fmla="*/ 21 h 32"/>
                <a:gd name="T18" fmla="*/ 4 w 18"/>
                <a:gd name="T19" fmla="*/ 21 h 32"/>
                <a:gd name="T20" fmla="*/ 4 w 18"/>
                <a:gd name="T21" fmla="*/ 23 h 32"/>
                <a:gd name="T22" fmla="*/ 6 w 18"/>
                <a:gd name="T23" fmla="*/ 27 h 32"/>
                <a:gd name="T24" fmla="*/ 9 w 18"/>
                <a:gd name="T25" fmla="*/ 29 h 32"/>
                <a:gd name="T26" fmla="*/ 13 w 18"/>
                <a:gd name="T27" fmla="*/ 27 h 32"/>
                <a:gd name="T28" fmla="*/ 14 w 18"/>
                <a:gd name="T29" fmla="*/ 23 h 32"/>
                <a:gd name="T30" fmla="*/ 14 w 18"/>
                <a:gd name="T31"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32">
                  <a:moveTo>
                    <a:pt x="14" y="0"/>
                  </a:moveTo>
                  <a:cubicBezTo>
                    <a:pt x="16" y="0"/>
                    <a:pt x="16" y="0"/>
                    <a:pt x="16" y="0"/>
                  </a:cubicBezTo>
                  <a:cubicBezTo>
                    <a:pt x="18" y="0"/>
                    <a:pt x="18" y="0"/>
                    <a:pt x="18" y="0"/>
                  </a:cubicBezTo>
                  <a:cubicBezTo>
                    <a:pt x="18" y="23"/>
                    <a:pt x="18" y="23"/>
                    <a:pt x="18" y="23"/>
                  </a:cubicBezTo>
                  <a:cubicBezTo>
                    <a:pt x="18" y="26"/>
                    <a:pt x="18" y="28"/>
                    <a:pt x="16" y="30"/>
                  </a:cubicBezTo>
                  <a:cubicBezTo>
                    <a:pt x="14" y="32"/>
                    <a:pt x="12" y="32"/>
                    <a:pt x="9" y="32"/>
                  </a:cubicBezTo>
                  <a:cubicBezTo>
                    <a:pt x="6" y="32"/>
                    <a:pt x="4" y="32"/>
                    <a:pt x="2" y="30"/>
                  </a:cubicBezTo>
                  <a:cubicBezTo>
                    <a:pt x="1" y="28"/>
                    <a:pt x="0" y="26"/>
                    <a:pt x="0" y="23"/>
                  </a:cubicBezTo>
                  <a:cubicBezTo>
                    <a:pt x="0" y="21"/>
                    <a:pt x="0" y="21"/>
                    <a:pt x="0" y="21"/>
                  </a:cubicBezTo>
                  <a:cubicBezTo>
                    <a:pt x="4" y="21"/>
                    <a:pt x="4" y="21"/>
                    <a:pt x="4" y="21"/>
                  </a:cubicBezTo>
                  <a:cubicBezTo>
                    <a:pt x="4" y="23"/>
                    <a:pt x="4" y="23"/>
                    <a:pt x="4" y="23"/>
                  </a:cubicBezTo>
                  <a:cubicBezTo>
                    <a:pt x="4" y="25"/>
                    <a:pt x="5" y="26"/>
                    <a:pt x="6" y="27"/>
                  </a:cubicBezTo>
                  <a:cubicBezTo>
                    <a:pt x="6" y="28"/>
                    <a:pt x="8" y="29"/>
                    <a:pt x="9" y="29"/>
                  </a:cubicBezTo>
                  <a:cubicBezTo>
                    <a:pt x="11" y="29"/>
                    <a:pt x="12" y="28"/>
                    <a:pt x="13" y="27"/>
                  </a:cubicBezTo>
                  <a:cubicBezTo>
                    <a:pt x="14" y="26"/>
                    <a:pt x="14" y="24"/>
                    <a:pt x="14" y="23"/>
                  </a:cubicBezTo>
                  <a:lnTo>
                    <a:pt x="14"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3" name="Freeform 91"/>
            <p:cNvSpPr/>
            <p:nvPr userDrawn="1"/>
          </p:nvSpPr>
          <p:spPr bwMode="auto">
            <a:xfrm>
              <a:off x="1579" y="933"/>
              <a:ext cx="5" cy="40"/>
            </a:xfrm>
            <a:custGeom>
              <a:avLst/>
              <a:gdLst>
                <a:gd name="T0" fmla="*/ 0 w 5"/>
                <a:gd name="T1" fmla="*/ 0 h 40"/>
                <a:gd name="T2" fmla="*/ 3 w 5"/>
                <a:gd name="T3" fmla="*/ 0 h 40"/>
                <a:gd name="T4" fmla="*/ 5 w 5"/>
                <a:gd name="T5" fmla="*/ 0 h 40"/>
                <a:gd name="T6" fmla="*/ 5 w 5"/>
                <a:gd name="T7" fmla="*/ 40 h 40"/>
                <a:gd name="T8" fmla="*/ 3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3" y="0"/>
                  </a:lnTo>
                  <a:lnTo>
                    <a:pt x="5" y="0"/>
                  </a:lnTo>
                  <a:lnTo>
                    <a:pt x="5" y="40"/>
                  </a:lnTo>
                  <a:lnTo>
                    <a:pt x="3"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4" name="Freeform 92"/>
            <p:cNvSpPr>
              <a:spLocks noEditPoints="1"/>
            </p:cNvSpPr>
            <p:nvPr userDrawn="1"/>
          </p:nvSpPr>
          <p:spPr bwMode="auto">
            <a:xfrm>
              <a:off x="1595" y="933"/>
              <a:ext cx="36" cy="40"/>
            </a:xfrm>
            <a:custGeom>
              <a:avLst/>
              <a:gdLst>
                <a:gd name="T0" fmla="*/ 15 w 36"/>
                <a:gd name="T1" fmla="*/ 0 h 40"/>
                <a:gd name="T2" fmla="*/ 19 w 36"/>
                <a:gd name="T3" fmla="*/ 0 h 40"/>
                <a:gd name="T4" fmla="*/ 21 w 36"/>
                <a:gd name="T5" fmla="*/ 0 h 40"/>
                <a:gd name="T6" fmla="*/ 36 w 36"/>
                <a:gd name="T7" fmla="*/ 40 h 40"/>
                <a:gd name="T8" fmla="*/ 33 w 36"/>
                <a:gd name="T9" fmla="*/ 40 h 40"/>
                <a:gd name="T10" fmla="*/ 30 w 36"/>
                <a:gd name="T11" fmla="*/ 40 h 40"/>
                <a:gd name="T12" fmla="*/ 26 w 36"/>
                <a:gd name="T13" fmla="*/ 27 h 40"/>
                <a:gd name="T14" fmla="*/ 10 w 36"/>
                <a:gd name="T15" fmla="*/ 27 h 40"/>
                <a:gd name="T16" fmla="*/ 7 w 36"/>
                <a:gd name="T17" fmla="*/ 40 h 40"/>
                <a:gd name="T18" fmla="*/ 4 w 36"/>
                <a:gd name="T19" fmla="*/ 40 h 40"/>
                <a:gd name="T20" fmla="*/ 0 w 36"/>
                <a:gd name="T21" fmla="*/ 40 h 40"/>
                <a:gd name="T22" fmla="*/ 15 w 36"/>
                <a:gd name="T23" fmla="*/ 0 h 40"/>
                <a:gd name="T24" fmla="*/ 12 w 36"/>
                <a:gd name="T25" fmla="*/ 24 h 40"/>
                <a:gd name="T26" fmla="*/ 24 w 36"/>
                <a:gd name="T27" fmla="*/ 24 h 40"/>
                <a:gd name="T28" fmla="*/ 19 w 36"/>
                <a:gd name="T29" fmla="*/ 5 h 40"/>
                <a:gd name="T30" fmla="*/ 19 w 36"/>
                <a:gd name="T31" fmla="*/ 5 h 40"/>
                <a:gd name="T32" fmla="*/ 12 w 36"/>
                <a:gd name="T33"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 h="40">
                  <a:moveTo>
                    <a:pt x="15" y="0"/>
                  </a:moveTo>
                  <a:lnTo>
                    <a:pt x="19" y="0"/>
                  </a:lnTo>
                  <a:lnTo>
                    <a:pt x="21" y="0"/>
                  </a:lnTo>
                  <a:lnTo>
                    <a:pt x="36" y="40"/>
                  </a:lnTo>
                  <a:lnTo>
                    <a:pt x="33" y="40"/>
                  </a:lnTo>
                  <a:lnTo>
                    <a:pt x="30" y="40"/>
                  </a:lnTo>
                  <a:lnTo>
                    <a:pt x="26" y="27"/>
                  </a:lnTo>
                  <a:lnTo>
                    <a:pt x="10" y="27"/>
                  </a:lnTo>
                  <a:lnTo>
                    <a:pt x="7" y="40"/>
                  </a:lnTo>
                  <a:lnTo>
                    <a:pt x="4" y="40"/>
                  </a:lnTo>
                  <a:lnTo>
                    <a:pt x="0" y="40"/>
                  </a:lnTo>
                  <a:lnTo>
                    <a:pt x="15" y="0"/>
                  </a:lnTo>
                  <a:close/>
                  <a:moveTo>
                    <a:pt x="12" y="24"/>
                  </a:moveTo>
                  <a:lnTo>
                    <a:pt x="24" y="24"/>
                  </a:lnTo>
                  <a:lnTo>
                    <a:pt x="19" y="5"/>
                  </a:lnTo>
                  <a:lnTo>
                    <a:pt x="19" y="5"/>
                  </a:lnTo>
                  <a:lnTo>
                    <a:pt x="12" y="2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5" name="Freeform 93"/>
            <p:cNvSpPr/>
            <p:nvPr userDrawn="1"/>
          </p:nvSpPr>
          <p:spPr bwMode="auto">
            <a:xfrm>
              <a:off x="1641" y="933"/>
              <a:ext cx="31" cy="40"/>
            </a:xfrm>
            <a:custGeom>
              <a:avLst/>
              <a:gdLst>
                <a:gd name="T0" fmla="*/ 5 w 31"/>
                <a:gd name="T1" fmla="*/ 40 h 40"/>
                <a:gd name="T2" fmla="*/ 3 w 31"/>
                <a:gd name="T3" fmla="*/ 40 h 40"/>
                <a:gd name="T4" fmla="*/ 0 w 31"/>
                <a:gd name="T5" fmla="*/ 40 h 40"/>
                <a:gd name="T6" fmla="*/ 0 w 31"/>
                <a:gd name="T7" fmla="*/ 0 h 40"/>
                <a:gd name="T8" fmla="*/ 4 w 31"/>
                <a:gd name="T9" fmla="*/ 0 h 40"/>
                <a:gd name="T10" fmla="*/ 6 w 31"/>
                <a:gd name="T11" fmla="*/ 0 h 40"/>
                <a:gd name="T12" fmla="*/ 26 w 31"/>
                <a:gd name="T13" fmla="*/ 32 h 40"/>
                <a:gd name="T14" fmla="*/ 26 w 31"/>
                <a:gd name="T15" fmla="*/ 0 h 40"/>
                <a:gd name="T16" fmla="*/ 29 w 31"/>
                <a:gd name="T17" fmla="*/ 0 h 40"/>
                <a:gd name="T18" fmla="*/ 31 w 31"/>
                <a:gd name="T19" fmla="*/ 0 h 40"/>
                <a:gd name="T20" fmla="*/ 31 w 31"/>
                <a:gd name="T21" fmla="*/ 40 h 40"/>
                <a:gd name="T22" fmla="*/ 29 w 31"/>
                <a:gd name="T23" fmla="*/ 40 h 40"/>
                <a:gd name="T24" fmla="*/ 26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3" y="40"/>
                  </a:lnTo>
                  <a:lnTo>
                    <a:pt x="0" y="40"/>
                  </a:lnTo>
                  <a:lnTo>
                    <a:pt x="0" y="0"/>
                  </a:lnTo>
                  <a:lnTo>
                    <a:pt x="4" y="0"/>
                  </a:lnTo>
                  <a:lnTo>
                    <a:pt x="6" y="0"/>
                  </a:lnTo>
                  <a:lnTo>
                    <a:pt x="26" y="32"/>
                  </a:lnTo>
                  <a:lnTo>
                    <a:pt x="26" y="0"/>
                  </a:lnTo>
                  <a:lnTo>
                    <a:pt x="29" y="0"/>
                  </a:lnTo>
                  <a:lnTo>
                    <a:pt x="31" y="0"/>
                  </a:lnTo>
                  <a:lnTo>
                    <a:pt x="31" y="40"/>
                  </a:lnTo>
                  <a:lnTo>
                    <a:pt x="29" y="40"/>
                  </a:lnTo>
                  <a:lnTo>
                    <a:pt x="26" y="40"/>
                  </a:lnTo>
                  <a:lnTo>
                    <a:pt x="5" y="8"/>
                  </a:lnTo>
                  <a:lnTo>
                    <a:pt x="5"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6" name="Freeform 94"/>
            <p:cNvSpPr/>
            <p:nvPr userDrawn="1"/>
          </p:nvSpPr>
          <p:spPr bwMode="auto">
            <a:xfrm>
              <a:off x="1687" y="932"/>
              <a:ext cx="36" cy="41"/>
            </a:xfrm>
            <a:custGeom>
              <a:avLst/>
              <a:gdLst>
                <a:gd name="T0" fmla="*/ 15 w 29"/>
                <a:gd name="T1" fmla="*/ 33 h 33"/>
                <a:gd name="T2" fmla="*/ 4 w 29"/>
                <a:gd name="T3" fmla="*/ 29 h 33"/>
                <a:gd name="T4" fmla="*/ 0 w 29"/>
                <a:gd name="T5" fmla="*/ 17 h 33"/>
                <a:gd name="T6" fmla="*/ 4 w 29"/>
                <a:gd name="T7" fmla="*/ 5 h 33"/>
                <a:gd name="T8" fmla="*/ 15 w 29"/>
                <a:gd name="T9" fmla="*/ 0 h 33"/>
                <a:gd name="T10" fmla="*/ 24 w 29"/>
                <a:gd name="T11" fmla="*/ 3 h 33"/>
                <a:gd name="T12" fmla="*/ 28 w 29"/>
                <a:gd name="T13" fmla="*/ 10 h 33"/>
                <a:gd name="T14" fmla="*/ 24 w 29"/>
                <a:gd name="T15" fmla="*/ 10 h 33"/>
                <a:gd name="T16" fmla="*/ 21 w 29"/>
                <a:gd name="T17" fmla="*/ 5 h 33"/>
                <a:gd name="T18" fmla="*/ 15 w 29"/>
                <a:gd name="T19" fmla="*/ 4 h 33"/>
                <a:gd name="T20" fmla="*/ 7 w 29"/>
                <a:gd name="T21" fmla="*/ 7 h 33"/>
                <a:gd name="T22" fmla="*/ 4 w 29"/>
                <a:gd name="T23" fmla="*/ 17 h 33"/>
                <a:gd name="T24" fmla="*/ 7 w 29"/>
                <a:gd name="T25" fmla="*/ 26 h 33"/>
                <a:gd name="T26" fmla="*/ 15 w 29"/>
                <a:gd name="T27" fmla="*/ 30 h 33"/>
                <a:gd name="T28" fmla="*/ 23 w 29"/>
                <a:gd name="T29" fmla="*/ 26 h 33"/>
                <a:gd name="T30" fmla="*/ 24 w 29"/>
                <a:gd name="T31" fmla="*/ 25 h 33"/>
                <a:gd name="T32" fmla="*/ 25 w 29"/>
                <a:gd name="T33" fmla="*/ 23 h 33"/>
                <a:gd name="T34" fmla="*/ 25 w 29"/>
                <a:gd name="T35" fmla="*/ 20 h 33"/>
                <a:gd name="T36" fmla="*/ 25 w 29"/>
                <a:gd name="T37" fmla="*/ 19 h 33"/>
                <a:gd name="T38" fmla="*/ 15 w 29"/>
                <a:gd name="T39" fmla="*/ 19 h 33"/>
                <a:gd name="T40" fmla="*/ 15 w 29"/>
                <a:gd name="T41" fmla="*/ 16 h 33"/>
                <a:gd name="T42" fmla="*/ 29 w 29"/>
                <a:gd name="T43" fmla="*/ 16 h 33"/>
                <a:gd name="T44" fmla="*/ 29 w 29"/>
                <a:gd name="T45" fmla="*/ 32 h 33"/>
                <a:gd name="T46" fmla="*/ 26 w 29"/>
                <a:gd name="T47" fmla="*/ 32 h 33"/>
                <a:gd name="T48" fmla="*/ 25 w 29"/>
                <a:gd name="T49" fmla="*/ 28 h 33"/>
                <a:gd name="T50" fmla="*/ 25 w 29"/>
                <a:gd name="T51" fmla="*/ 29 h 33"/>
                <a:gd name="T52" fmla="*/ 15 w 29"/>
                <a:gd name="T53"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 h="33">
                  <a:moveTo>
                    <a:pt x="15" y="33"/>
                  </a:moveTo>
                  <a:cubicBezTo>
                    <a:pt x="10" y="33"/>
                    <a:pt x="7" y="32"/>
                    <a:pt x="4" y="29"/>
                  </a:cubicBezTo>
                  <a:cubicBezTo>
                    <a:pt x="1" y="26"/>
                    <a:pt x="0" y="22"/>
                    <a:pt x="0" y="17"/>
                  </a:cubicBezTo>
                  <a:cubicBezTo>
                    <a:pt x="0" y="12"/>
                    <a:pt x="1" y="8"/>
                    <a:pt x="4" y="5"/>
                  </a:cubicBezTo>
                  <a:cubicBezTo>
                    <a:pt x="7" y="1"/>
                    <a:pt x="10" y="0"/>
                    <a:pt x="15" y="0"/>
                  </a:cubicBezTo>
                  <a:cubicBezTo>
                    <a:pt x="18" y="0"/>
                    <a:pt x="21" y="1"/>
                    <a:pt x="24" y="3"/>
                  </a:cubicBezTo>
                  <a:cubicBezTo>
                    <a:pt x="26" y="5"/>
                    <a:pt x="28" y="7"/>
                    <a:pt x="28" y="10"/>
                  </a:cubicBezTo>
                  <a:cubicBezTo>
                    <a:pt x="24" y="10"/>
                    <a:pt x="24" y="10"/>
                    <a:pt x="24" y="10"/>
                  </a:cubicBezTo>
                  <a:cubicBezTo>
                    <a:pt x="24" y="8"/>
                    <a:pt x="23" y="7"/>
                    <a:pt x="21" y="5"/>
                  </a:cubicBezTo>
                  <a:cubicBezTo>
                    <a:pt x="19" y="4"/>
                    <a:pt x="17" y="4"/>
                    <a:pt x="15" y="4"/>
                  </a:cubicBezTo>
                  <a:cubicBezTo>
                    <a:pt x="12" y="4"/>
                    <a:pt x="9" y="5"/>
                    <a:pt x="7" y="7"/>
                  </a:cubicBezTo>
                  <a:cubicBezTo>
                    <a:pt x="5" y="10"/>
                    <a:pt x="4" y="13"/>
                    <a:pt x="4" y="17"/>
                  </a:cubicBezTo>
                  <a:cubicBezTo>
                    <a:pt x="4" y="21"/>
                    <a:pt x="5" y="24"/>
                    <a:pt x="7" y="26"/>
                  </a:cubicBezTo>
                  <a:cubicBezTo>
                    <a:pt x="9" y="29"/>
                    <a:pt x="12" y="30"/>
                    <a:pt x="15" y="30"/>
                  </a:cubicBezTo>
                  <a:cubicBezTo>
                    <a:pt x="18" y="30"/>
                    <a:pt x="21" y="29"/>
                    <a:pt x="23" y="26"/>
                  </a:cubicBezTo>
                  <a:cubicBezTo>
                    <a:pt x="23" y="26"/>
                    <a:pt x="23" y="25"/>
                    <a:pt x="24" y="25"/>
                  </a:cubicBezTo>
                  <a:cubicBezTo>
                    <a:pt x="24" y="24"/>
                    <a:pt x="24" y="24"/>
                    <a:pt x="25" y="23"/>
                  </a:cubicBezTo>
                  <a:cubicBezTo>
                    <a:pt x="25" y="22"/>
                    <a:pt x="25" y="21"/>
                    <a:pt x="25" y="20"/>
                  </a:cubicBezTo>
                  <a:cubicBezTo>
                    <a:pt x="25" y="19"/>
                    <a:pt x="25" y="19"/>
                    <a:pt x="25" y="19"/>
                  </a:cubicBezTo>
                  <a:cubicBezTo>
                    <a:pt x="15" y="19"/>
                    <a:pt x="15" y="19"/>
                    <a:pt x="15" y="19"/>
                  </a:cubicBezTo>
                  <a:cubicBezTo>
                    <a:pt x="15" y="16"/>
                    <a:pt x="15" y="16"/>
                    <a:pt x="15" y="16"/>
                  </a:cubicBezTo>
                  <a:cubicBezTo>
                    <a:pt x="29" y="16"/>
                    <a:pt x="29" y="16"/>
                    <a:pt x="29" y="16"/>
                  </a:cubicBezTo>
                  <a:cubicBezTo>
                    <a:pt x="29" y="32"/>
                    <a:pt x="29" y="32"/>
                    <a:pt x="29" y="32"/>
                  </a:cubicBezTo>
                  <a:cubicBezTo>
                    <a:pt x="26" y="32"/>
                    <a:pt x="26" y="32"/>
                    <a:pt x="26" y="32"/>
                  </a:cubicBezTo>
                  <a:cubicBezTo>
                    <a:pt x="25" y="28"/>
                    <a:pt x="25" y="28"/>
                    <a:pt x="25" y="28"/>
                  </a:cubicBezTo>
                  <a:cubicBezTo>
                    <a:pt x="25" y="29"/>
                    <a:pt x="25" y="29"/>
                    <a:pt x="25" y="29"/>
                  </a:cubicBezTo>
                  <a:cubicBezTo>
                    <a:pt x="22" y="32"/>
                    <a:pt x="19" y="33"/>
                    <a:pt x="15"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7" name="Freeform 95"/>
            <p:cNvSpPr/>
            <p:nvPr userDrawn="1"/>
          </p:nvSpPr>
          <p:spPr bwMode="auto">
            <a:xfrm>
              <a:off x="1760" y="933"/>
              <a:ext cx="31" cy="40"/>
            </a:xfrm>
            <a:custGeom>
              <a:avLst/>
              <a:gdLst>
                <a:gd name="T0" fmla="*/ 25 w 25"/>
                <a:gd name="T1" fmla="*/ 20 h 32"/>
                <a:gd name="T2" fmla="*/ 21 w 25"/>
                <a:gd name="T3" fmla="*/ 29 h 32"/>
                <a:gd name="T4" fmla="*/ 12 w 25"/>
                <a:gd name="T5" fmla="*/ 32 h 32"/>
                <a:gd name="T6" fmla="*/ 3 w 25"/>
                <a:gd name="T7" fmla="*/ 29 h 32"/>
                <a:gd name="T8" fmla="*/ 0 w 25"/>
                <a:gd name="T9" fmla="*/ 20 h 32"/>
                <a:gd name="T10" fmla="*/ 0 w 25"/>
                <a:gd name="T11" fmla="*/ 0 h 32"/>
                <a:gd name="T12" fmla="*/ 2 w 25"/>
                <a:gd name="T13" fmla="*/ 0 h 32"/>
                <a:gd name="T14" fmla="*/ 4 w 25"/>
                <a:gd name="T15" fmla="*/ 0 h 32"/>
                <a:gd name="T16" fmla="*/ 4 w 25"/>
                <a:gd name="T17" fmla="*/ 20 h 32"/>
                <a:gd name="T18" fmla="*/ 6 w 25"/>
                <a:gd name="T19" fmla="*/ 26 h 32"/>
                <a:gd name="T20" fmla="*/ 12 w 25"/>
                <a:gd name="T21" fmla="*/ 29 h 32"/>
                <a:gd name="T22" fmla="*/ 18 w 25"/>
                <a:gd name="T23" fmla="*/ 26 h 32"/>
                <a:gd name="T24" fmla="*/ 20 w 25"/>
                <a:gd name="T25" fmla="*/ 20 h 32"/>
                <a:gd name="T26" fmla="*/ 20 w 25"/>
                <a:gd name="T27" fmla="*/ 0 h 32"/>
                <a:gd name="T28" fmla="*/ 22 w 25"/>
                <a:gd name="T29" fmla="*/ 0 h 32"/>
                <a:gd name="T30" fmla="*/ 25 w 25"/>
                <a:gd name="T31" fmla="*/ 0 h 32"/>
                <a:gd name="T32" fmla="*/ 25 w 25"/>
                <a:gd name="T33"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 h="32">
                  <a:moveTo>
                    <a:pt x="25" y="20"/>
                  </a:moveTo>
                  <a:cubicBezTo>
                    <a:pt x="25" y="24"/>
                    <a:pt x="23" y="27"/>
                    <a:pt x="21" y="29"/>
                  </a:cubicBezTo>
                  <a:cubicBezTo>
                    <a:pt x="19" y="31"/>
                    <a:pt x="16" y="32"/>
                    <a:pt x="12" y="32"/>
                  </a:cubicBezTo>
                  <a:cubicBezTo>
                    <a:pt x="8" y="32"/>
                    <a:pt x="5" y="31"/>
                    <a:pt x="3" y="29"/>
                  </a:cubicBezTo>
                  <a:cubicBezTo>
                    <a:pt x="1" y="27"/>
                    <a:pt x="0" y="24"/>
                    <a:pt x="0" y="20"/>
                  </a:cubicBezTo>
                  <a:cubicBezTo>
                    <a:pt x="0" y="0"/>
                    <a:pt x="0" y="0"/>
                    <a:pt x="0" y="0"/>
                  </a:cubicBezTo>
                  <a:cubicBezTo>
                    <a:pt x="2" y="0"/>
                    <a:pt x="2" y="0"/>
                    <a:pt x="2" y="0"/>
                  </a:cubicBezTo>
                  <a:cubicBezTo>
                    <a:pt x="4" y="0"/>
                    <a:pt x="4" y="0"/>
                    <a:pt x="4" y="0"/>
                  </a:cubicBezTo>
                  <a:cubicBezTo>
                    <a:pt x="4" y="20"/>
                    <a:pt x="4" y="20"/>
                    <a:pt x="4" y="20"/>
                  </a:cubicBezTo>
                  <a:cubicBezTo>
                    <a:pt x="4" y="23"/>
                    <a:pt x="5" y="25"/>
                    <a:pt x="6" y="26"/>
                  </a:cubicBezTo>
                  <a:cubicBezTo>
                    <a:pt x="7" y="28"/>
                    <a:pt x="9" y="29"/>
                    <a:pt x="12" y="29"/>
                  </a:cubicBezTo>
                  <a:cubicBezTo>
                    <a:pt x="15" y="29"/>
                    <a:pt x="17" y="28"/>
                    <a:pt x="18" y="26"/>
                  </a:cubicBezTo>
                  <a:cubicBezTo>
                    <a:pt x="20" y="25"/>
                    <a:pt x="20" y="23"/>
                    <a:pt x="20" y="20"/>
                  </a:cubicBezTo>
                  <a:cubicBezTo>
                    <a:pt x="20" y="0"/>
                    <a:pt x="20" y="0"/>
                    <a:pt x="20" y="0"/>
                  </a:cubicBezTo>
                  <a:cubicBezTo>
                    <a:pt x="22" y="0"/>
                    <a:pt x="22" y="0"/>
                    <a:pt x="22" y="0"/>
                  </a:cubicBezTo>
                  <a:cubicBezTo>
                    <a:pt x="25" y="0"/>
                    <a:pt x="25" y="0"/>
                    <a:pt x="25" y="0"/>
                  </a:cubicBezTo>
                  <a:lnTo>
                    <a:pt x="25" y="2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8" name="Freeform 96"/>
            <p:cNvSpPr/>
            <p:nvPr userDrawn="1"/>
          </p:nvSpPr>
          <p:spPr bwMode="auto">
            <a:xfrm>
              <a:off x="1806" y="933"/>
              <a:ext cx="31" cy="40"/>
            </a:xfrm>
            <a:custGeom>
              <a:avLst/>
              <a:gdLst>
                <a:gd name="T0" fmla="*/ 5 w 31"/>
                <a:gd name="T1" fmla="*/ 40 h 40"/>
                <a:gd name="T2" fmla="*/ 2 w 31"/>
                <a:gd name="T3" fmla="*/ 40 h 40"/>
                <a:gd name="T4" fmla="*/ 0 w 31"/>
                <a:gd name="T5" fmla="*/ 40 h 40"/>
                <a:gd name="T6" fmla="*/ 0 w 31"/>
                <a:gd name="T7" fmla="*/ 0 h 40"/>
                <a:gd name="T8" fmla="*/ 2 w 31"/>
                <a:gd name="T9" fmla="*/ 0 h 40"/>
                <a:gd name="T10" fmla="*/ 6 w 31"/>
                <a:gd name="T11" fmla="*/ 0 h 40"/>
                <a:gd name="T12" fmla="*/ 26 w 31"/>
                <a:gd name="T13" fmla="*/ 32 h 40"/>
                <a:gd name="T14" fmla="*/ 26 w 31"/>
                <a:gd name="T15" fmla="*/ 0 h 40"/>
                <a:gd name="T16" fmla="*/ 28 w 31"/>
                <a:gd name="T17" fmla="*/ 0 h 40"/>
                <a:gd name="T18" fmla="*/ 31 w 31"/>
                <a:gd name="T19" fmla="*/ 0 h 40"/>
                <a:gd name="T20" fmla="*/ 31 w 31"/>
                <a:gd name="T21" fmla="*/ 40 h 40"/>
                <a:gd name="T22" fmla="*/ 28 w 31"/>
                <a:gd name="T23" fmla="*/ 40 h 40"/>
                <a:gd name="T24" fmla="*/ 25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2" y="40"/>
                  </a:lnTo>
                  <a:lnTo>
                    <a:pt x="0" y="40"/>
                  </a:lnTo>
                  <a:lnTo>
                    <a:pt x="0" y="0"/>
                  </a:lnTo>
                  <a:lnTo>
                    <a:pt x="2" y="0"/>
                  </a:lnTo>
                  <a:lnTo>
                    <a:pt x="6" y="0"/>
                  </a:lnTo>
                  <a:lnTo>
                    <a:pt x="26" y="32"/>
                  </a:lnTo>
                  <a:lnTo>
                    <a:pt x="26" y="0"/>
                  </a:lnTo>
                  <a:lnTo>
                    <a:pt x="28" y="0"/>
                  </a:lnTo>
                  <a:lnTo>
                    <a:pt x="31" y="0"/>
                  </a:lnTo>
                  <a:lnTo>
                    <a:pt x="31" y="40"/>
                  </a:lnTo>
                  <a:lnTo>
                    <a:pt x="28" y="40"/>
                  </a:lnTo>
                  <a:lnTo>
                    <a:pt x="25" y="40"/>
                  </a:lnTo>
                  <a:lnTo>
                    <a:pt x="5" y="8"/>
                  </a:lnTo>
                  <a:lnTo>
                    <a:pt x="5"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99" name="Freeform 97"/>
            <p:cNvSpPr/>
            <p:nvPr userDrawn="1"/>
          </p:nvSpPr>
          <p:spPr bwMode="auto">
            <a:xfrm>
              <a:off x="1852"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0" name="Freeform 98"/>
            <p:cNvSpPr/>
            <p:nvPr userDrawn="1"/>
          </p:nvSpPr>
          <p:spPr bwMode="auto">
            <a:xfrm>
              <a:off x="1867" y="933"/>
              <a:ext cx="34" cy="40"/>
            </a:xfrm>
            <a:custGeom>
              <a:avLst/>
              <a:gdLst>
                <a:gd name="T0" fmla="*/ 0 w 34"/>
                <a:gd name="T1" fmla="*/ 0 h 40"/>
                <a:gd name="T2" fmla="*/ 3 w 34"/>
                <a:gd name="T3" fmla="*/ 0 h 40"/>
                <a:gd name="T4" fmla="*/ 6 w 34"/>
                <a:gd name="T5" fmla="*/ 0 h 40"/>
                <a:gd name="T6" fmla="*/ 17 w 34"/>
                <a:gd name="T7" fmla="*/ 34 h 40"/>
                <a:gd name="T8" fmla="*/ 17 w 34"/>
                <a:gd name="T9" fmla="*/ 34 h 40"/>
                <a:gd name="T10" fmla="*/ 28 w 34"/>
                <a:gd name="T11" fmla="*/ 0 h 40"/>
                <a:gd name="T12" fmla="*/ 32 w 34"/>
                <a:gd name="T13" fmla="*/ 0 h 40"/>
                <a:gd name="T14" fmla="*/ 34 w 34"/>
                <a:gd name="T15" fmla="*/ 0 h 40"/>
                <a:gd name="T16" fmla="*/ 21 w 34"/>
                <a:gd name="T17" fmla="*/ 40 h 40"/>
                <a:gd name="T18" fmla="*/ 17 w 34"/>
                <a:gd name="T19" fmla="*/ 40 h 40"/>
                <a:gd name="T20" fmla="*/ 15 w 34"/>
                <a:gd name="T21" fmla="*/ 40 h 40"/>
                <a:gd name="T22" fmla="*/ 0 w 34"/>
                <a:gd name="T2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40">
                  <a:moveTo>
                    <a:pt x="0" y="0"/>
                  </a:moveTo>
                  <a:lnTo>
                    <a:pt x="3" y="0"/>
                  </a:lnTo>
                  <a:lnTo>
                    <a:pt x="6" y="0"/>
                  </a:lnTo>
                  <a:lnTo>
                    <a:pt x="17" y="34"/>
                  </a:lnTo>
                  <a:lnTo>
                    <a:pt x="17" y="34"/>
                  </a:lnTo>
                  <a:lnTo>
                    <a:pt x="28" y="0"/>
                  </a:lnTo>
                  <a:lnTo>
                    <a:pt x="32" y="0"/>
                  </a:lnTo>
                  <a:lnTo>
                    <a:pt x="34" y="0"/>
                  </a:lnTo>
                  <a:lnTo>
                    <a:pt x="21" y="40"/>
                  </a:lnTo>
                  <a:lnTo>
                    <a:pt x="17" y="40"/>
                  </a:lnTo>
                  <a:lnTo>
                    <a:pt x="15"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1" name="Freeform 99"/>
            <p:cNvSpPr/>
            <p:nvPr userDrawn="1"/>
          </p:nvSpPr>
          <p:spPr bwMode="auto">
            <a:xfrm>
              <a:off x="1911" y="933"/>
              <a:ext cx="30" cy="40"/>
            </a:xfrm>
            <a:custGeom>
              <a:avLst/>
              <a:gdLst>
                <a:gd name="T0" fmla="*/ 0 w 30"/>
                <a:gd name="T1" fmla="*/ 40 h 40"/>
                <a:gd name="T2" fmla="*/ 0 w 30"/>
                <a:gd name="T3" fmla="*/ 0 h 40"/>
                <a:gd name="T4" fmla="*/ 30 w 30"/>
                <a:gd name="T5" fmla="*/ 0 h 40"/>
                <a:gd name="T6" fmla="*/ 30 w 30"/>
                <a:gd name="T7" fmla="*/ 3 h 40"/>
                <a:gd name="T8" fmla="*/ 30 w 30"/>
                <a:gd name="T9" fmla="*/ 5 h 40"/>
                <a:gd name="T10" fmla="*/ 6 w 30"/>
                <a:gd name="T11" fmla="*/ 5 h 40"/>
                <a:gd name="T12" fmla="*/ 6 w 30"/>
                <a:gd name="T13" fmla="*/ 16 h 40"/>
                <a:gd name="T14" fmla="*/ 27 w 30"/>
                <a:gd name="T15" fmla="*/ 16 h 40"/>
                <a:gd name="T16" fmla="*/ 27 w 30"/>
                <a:gd name="T17" fmla="*/ 19 h 40"/>
                <a:gd name="T18" fmla="*/ 27 w 30"/>
                <a:gd name="T19" fmla="*/ 21 h 40"/>
                <a:gd name="T20" fmla="*/ 6 w 30"/>
                <a:gd name="T21" fmla="*/ 21 h 40"/>
                <a:gd name="T22" fmla="*/ 6 w 30"/>
                <a:gd name="T23" fmla="*/ 35 h 40"/>
                <a:gd name="T24" fmla="*/ 30 w 30"/>
                <a:gd name="T25" fmla="*/ 35 h 40"/>
                <a:gd name="T26" fmla="*/ 30 w 30"/>
                <a:gd name="T27" fmla="*/ 37 h 40"/>
                <a:gd name="T28" fmla="*/ 30 w 30"/>
                <a:gd name="T29" fmla="*/ 40 h 40"/>
                <a:gd name="T30" fmla="*/ 0 w 30"/>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40">
                  <a:moveTo>
                    <a:pt x="0" y="40"/>
                  </a:moveTo>
                  <a:lnTo>
                    <a:pt x="0" y="0"/>
                  </a:lnTo>
                  <a:lnTo>
                    <a:pt x="30" y="0"/>
                  </a:lnTo>
                  <a:lnTo>
                    <a:pt x="30" y="3"/>
                  </a:lnTo>
                  <a:lnTo>
                    <a:pt x="30" y="5"/>
                  </a:lnTo>
                  <a:lnTo>
                    <a:pt x="6" y="5"/>
                  </a:lnTo>
                  <a:lnTo>
                    <a:pt x="6" y="16"/>
                  </a:lnTo>
                  <a:lnTo>
                    <a:pt x="27" y="16"/>
                  </a:lnTo>
                  <a:lnTo>
                    <a:pt x="27" y="19"/>
                  </a:lnTo>
                  <a:lnTo>
                    <a:pt x="27" y="21"/>
                  </a:lnTo>
                  <a:lnTo>
                    <a:pt x="6" y="21"/>
                  </a:lnTo>
                  <a:lnTo>
                    <a:pt x="6" y="35"/>
                  </a:lnTo>
                  <a:lnTo>
                    <a:pt x="30" y="35"/>
                  </a:lnTo>
                  <a:lnTo>
                    <a:pt x="30" y="37"/>
                  </a:lnTo>
                  <a:lnTo>
                    <a:pt x="30" y="40"/>
                  </a:lnTo>
                  <a:lnTo>
                    <a:pt x="0" y="4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2" name="Freeform 100"/>
            <p:cNvSpPr>
              <a:spLocks noEditPoints="1"/>
            </p:cNvSpPr>
            <p:nvPr userDrawn="1"/>
          </p:nvSpPr>
          <p:spPr bwMode="auto">
            <a:xfrm>
              <a:off x="1955" y="933"/>
              <a:ext cx="33" cy="40"/>
            </a:xfrm>
            <a:custGeom>
              <a:avLst/>
              <a:gdLst>
                <a:gd name="T0" fmla="*/ 0 w 27"/>
                <a:gd name="T1" fmla="*/ 0 h 32"/>
                <a:gd name="T2" fmla="*/ 2 w 27"/>
                <a:gd name="T3" fmla="*/ 0 h 32"/>
                <a:gd name="T4" fmla="*/ 15 w 27"/>
                <a:gd name="T5" fmla="*/ 0 h 32"/>
                <a:gd name="T6" fmla="*/ 23 w 27"/>
                <a:gd name="T7" fmla="*/ 2 h 32"/>
                <a:gd name="T8" fmla="*/ 25 w 27"/>
                <a:gd name="T9" fmla="*/ 8 h 32"/>
                <a:gd name="T10" fmla="*/ 23 w 27"/>
                <a:gd name="T11" fmla="*/ 15 h 32"/>
                <a:gd name="T12" fmla="*/ 21 w 27"/>
                <a:gd name="T13" fmla="*/ 16 h 32"/>
                <a:gd name="T14" fmla="*/ 22 w 27"/>
                <a:gd name="T15" fmla="*/ 16 h 32"/>
                <a:gd name="T16" fmla="*/ 25 w 27"/>
                <a:gd name="T17" fmla="*/ 22 h 32"/>
                <a:gd name="T18" fmla="*/ 25 w 27"/>
                <a:gd name="T19" fmla="*/ 28 h 32"/>
                <a:gd name="T20" fmla="*/ 25 w 27"/>
                <a:gd name="T21" fmla="*/ 30 h 32"/>
                <a:gd name="T22" fmla="*/ 27 w 27"/>
                <a:gd name="T23" fmla="*/ 31 h 32"/>
                <a:gd name="T24" fmla="*/ 27 w 27"/>
                <a:gd name="T25" fmla="*/ 31 h 32"/>
                <a:gd name="T26" fmla="*/ 21 w 27"/>
                <a:gd name="T27" fmla="*/ 31 h 32"/>
                <a:gd name="T28" fmla="*/ 21 w 27"/>
                <a:gd name="T29" fmla="*/ 29 h 32"/>
                <a:gd name="T30" fmla="*/ 21 w 27"/>
                <a:gd name="T31" fmla="*/ 26 h 32"/>
                <a:gd name="T32" fmla="*/ 21 w 27"/>
                <a:gd name="T33" fmla="*/ 23 h 32"/>
                <a:gd name="T34" fmla="*/ 19 w 27"/>
                <a:gd name="T35" fmla="*/ 19 h 32"/>
                <a:gd name="T36" fmla="*/ 15 w 27"/>
                <a:gd name="T37" fmla="*/ 18 h 32"/>
                <a:gd name="T38" fmla="*/ 4 w 27"/>
                <a:gd name="T39" fmla="*/ 18 h 32"/>
                <a:gd name="T40" fmla="*/ 4 w 27"/>
                <a:gd name="T41" fmla="*/ 32 h 32"/>
                <a:gd name="T42" fmla="*/ 2 w 27"/>
                <a:gd name="T43" fmla="*/ 32 h 32"/>
                <a:gd name="T44" fmla="*/ 0 w 27"/>
                <a:gd name="T45" fmla="*/ 32 h 32"/>
                <a:gd name="T46" fmla="*/ 0 w 27"/>
                <a:gd name="T47" fmla="*/ 0 h 32"/>
                <a:gd name="T48" fmla="*/ 4 w 27"/>
                <a:gd name="T49" fmla="*/ 14 h 32"/>
                <a:gd name="T50" fmla="*/ 15 w 27"/>
                <a:gd name="T51" fmla="*/ 14 h 32"/>
                <a:gd name="T52" fmla="*/ 19 w 27"/>
                <a:gd name="T53" fmla="*/ 13 h 32"/>
                <a:gd name="T54" fmla="*/ 21 w 27"/>
                <a:gd name="T55" fmla="*/ 9 h 32"/>
                <a:gd name="T56" fmla="*/ 19 w 27"/>
                <a:gd name="T57" fmla="*/ 5 h 32"/>
                <a:gd name="T58" fmla="*/ 15 w 27"/>
                <a:gd name="T59" fmla="*/ 3 h 32"/>
                <a:gd name="T60" fmla="*/ 4 w 27"/>
                <a:gd name="T61" fmla="*/ 3 h 32"/>
                <a:gd name="T62" fmla="*/ 4 w 27"/>
                <a:gd name="T63" fmla="*/ 1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 h="32">
                  <a:moveTo>
                    <a:pt x="0" y="0"/>
                  </a:moveTo>
                  <a:cubicBezTo>
                    <a:pt x="2" y="0"/>
                    <a:pt x="2" y="0"/>
                    <a:pt x="2" y="0"/>
                  </a:cubicBezTo>
                  <a:cubicBezTo>
                    <a:pt x="15" y="0"/>
                    <a:pt x="15" y="0"/>
                    <a:pt x="15" y="0"/>
                  </a:cubicBezTo>
                  <a:cubicBezTo>
                    <a:pt x="18" y="0"/>
                    <a:pt x="21" y="1"/>
                    <a:pt x="23" y="2"/>
                  </a:cubicBezTo>
                  <a:cubicBezTo>
                    <a:pt x="24" y="3"/>
                    <a:pt x="25" y="6"/>
                    <a:pt x="25" y="8"/>
                  </a:cubicBezTo>
                  <a:cubicBezTo>
                    <a:pt x="25" y="11"/>
                    <a:pt x="24" y="13"/>
                    <a:pt x="23" y="15"/>
                  </a:cubicBezTo>
                  <a:cubicBezTo>
                    <a:pt x="22" y="15"/>
                    <a:pt x="22" y="16"/>
                    <a:pt x="21" y="16"/>
                  </a:cubicBezTo>
                  <a:cubicBezTo>
                    <a:pt x="22" y="16"/>
                    <a:pt x="22" y="16"/>
                    <a:pt x="22" y="16"/>
                  </a:cubicBezTo>
                  <a:cubicBezTo>
                    <a:pt x="24" y="17"/>
                    <a:pt x="25" y="19"/>
                    <a:pt x="25" y="22"/>
                  </a:cubicBezTo>
                  <a:cubicBezTo>
                    <a:pt x="25" y="28"/>
                    <a:pt x="25" y="28"/>
                    <a:pt x="25" y="28"/>
                  </a:cubicBezTo>
                  <a:cubicBezTo>
                    <a:pt x="25" y="29"/>
                    <a:pt x="25" y="29"/>
                    <a:pt x="25" y="30"/>
                  </a:cubicBezTo>
                  <a:cubicBezTo>
                    <a:pt x="26" y="30"/>
                    <a:pt x="26" y="30"/>
                    <a:pt x="27" y="31"/>
                  </a:cubicBezTo>
                  <a:cubicBezTo>
                    <a:pt x="27" y="31"/>
                    <a:pt x="27" y="31"/>
                    <a:pt x="27" y="31"/>
                  </a:cubicBezTo>
                  <a:cubicBezTo>
                    <a:pt x="21" y="31"/>
                    <a:pt x="21" y="31"/>
                    <a:pt x="21" y="31"/>
                  </a:cubicBezTo>
                  <a:cubicBezTo>
                    <a:pt x="21" y="31"/>
                    <a:pt x="21" y="31"/>
                    <a:pt x="21" y="29"/>
                  </a:cubicBezTo>
                  <a:cubicBezTo>
                    <a:pt x="21" y="28"/>
                    <a:pt x="21" y="27"/>
                    <a:pt x="21" y="26"/>
                  </a:cubicBezTo>
                  <a:cubicBezTo>
                    <a:pt x="21" y="23"/>
                    <a:pt x="21" y="23"/>
                    <a:pt x="21" y="23"/>
                  </a:cubicBezTo>
                  <a:cubicBezTo>
                    <a:pt x="21" y="21"/>
                    <a:pt x="20" y="20"/>
                    <a:pt x="19" y="19"/>
                  </a:cubicBezTo>
                  <a:cubicBezTo>
                    <a:pt x="18" y="18"/>
                    <a:pt x="17" y="18"/>
                    <a:pt x="15" y="18"/>
                  </a:cubicBezTo>
                  <a:cubicBezTo>
                    <a:pt x="4" y="18"/>
                    <a:pt x="4" y="18"/>
                    <a:pt x="4" y="18"/>
                  </a:cubicBezTo>
                  <a:cubicBezTo>
                    <a:pt x="4" y="32"/>
                    <a:pt x="4" y="32"/>
                    <a:pt x="4" y="32"/>
                  </a:cubicBezTo>
                  <a:cubicBezTo>
                    <a:pt x="2" y="32"/>
                    <a:pt x="2" y="32"/>
                    <a:pt x="2" y="32"/>
                  </a:cubicBezTo>
                  <a:cubicBezTo>
                    <a:pt x="0" y="32"/>
                    <a:pt x="0" y="32"/>
                    <a:pt x="0" y="32"/>
                  </a:cubicBezTo>
                  <a:lnTo>
                    <a:pt x="0" y="0"/>
                  </a:lnTo>
                  <a:close/>
                  <a:moveTo>
                    <a:pt x="4" y="14"/>
                  </a:moveTo>
                  <a:cubicBezTo>
                    <a:pt x="15" y="14"/>
                    <a:pt x="15" y="14"/>
                    <a:pt x="15" y="14"/>
                  </a:cubicBezTo>
                  <a:cubicBezTo>
                    <a:pt x="17" y="14"/>
                    <a:pt x="19" y="14"/>
                    <a:pt x="19" y="13"/>
                  </a:cubicBezTo>
                  <a:cubicBezTo>
                    <a:pt x="20" y="12"/>
                    <a:pt x="21" y="11"/>
                    <a:pt x="21" y="9"/>
                  </a:cubicBezTo>
                  <a:cubicBezTo>
                    <a:pt x="21" y="7"/>
                    <a:pt x="20" y="5"/>
                    <a:pt x="19" y="5"/>
                  </a:cubicBezTo>
                  <a:cubicBezTo>
                    <a:pt x="18" y="4"/>
                    <a:pt x="17" y="3"/>
                    <a:pt x="15" y="3"/>
                  </a:cubicBezTo>
                  <a:cubicBezTo>
                    <a:pt x="4" y="3"/>
                    <a:pt x="4" y="3"/>
                    <a:pt x="4" y="3"/>
                  </a:cubicBezTo>
                  <a:lnTo>
                    <a:pt x="4" y="1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3" name="Freeform 101"/>
            <p:cNvSpPr/>
            <p:nvPr userDrawn="1"/>
          </p:nvSpPr>
          <p:spPr bwMode="auto">
            <a:xfrm>
              <a:off x="1999" y="932"/>
              <a:ext cx="31" cy="41"/>
            </a:xfrm>
            <a:custGeom>
              <a:avLst/>
              <a:gdLst>
                <a:gd name="T0" fmla="*/ 20 w 25"/>
                <a:gd name="T1" fmla="*/ 10 h 33"/>
                <a:gd name="T2" fmla="*/ 18 w 25"/>
                <a:gd name="T3" fmla="*/ 5 h 33"/>
                <a:gd name="T4" fmla="*/ 12 w 25"/>
                <a:gd name="T5" fmla="*/ 4 h 33"/>
                <a:gd name="T6" fmla="*/ 7 w 25"/>
                <a:gd name="T7" fmla="*/ 5 h 33"/>
                <a:gd name="T8" fmla="*/ 5 w 25"/>
                <a:gd name="T9" fmla="*/ 9 h 33"/>
                <a:gd name="T10" fmla="*/ 6 w 25"/>
                <a:gd name="T11" fmla="*/ 12 h 33"/>
                <a:gd name="T12" fmla="*/ 11 w 25"/>
                <a:gd name="T13" fmla="*/ 14 h 33"/>
                <a:gd name="T14" fmla="*/ 17 w 25"/>
                <a:gd name="T15" fmla="*/ 15 h 33"/>
                <a:gd name="T16" fmla="*/ 23 w 25"/>
                <a:gd name="T17" fmla="*/ 18 h 33"/>
                <a:gd name="T18" fmla="*/ 25 w 25"/>
                <a:gd name="T19" fmla="*/ 24 h 33"/>
                <a:gd name="T20" fmla="*/ 22 w 25"/>
                <a:gd name="T21" fmla="*/ 31 h 33"/>
                <a:gd name="T22" fmla="*/ 13 w 25"/>
                <a:gd name="T23" fmla="*/ 33 h 33"/>
                <a:gd name="T24" fmla="*/ 3 w 25"/>
                <a:gd name="T25" fmla="*/ 30 h 33"/>
                <a:gd name="T26" fmla="*/ 0 w 25"/>
                <a:gd name="T27" fmla="*/ 23 h 33"/>
                <a:gd name="T28" fmla="*/ 0 w 25"/>
                <a:gd name="T29" fmla="*/ 22 h 33"/>
                <a:gd name="T30" fmla="*/ 4 w 25"/>
                <a:gd name="T31" fmla="*/ 22 h 33"/>
                <a:gd name="T32" fmla="*/ 6 w 25"/>
                <a:gd name="T33" fmla="*/ 28 h 33"/>
                <a:gd name="T34" fmla="*/ 13 w 25"/>
                <a:gd name="T35" fmla="*/ 30 h 33"/>
                <a:gd name="T36" fmla="*/ 19 w 25"/>
                <a:gd name="T37" fmla="*/ 28 h 33"/>
                <a:gd name="T38" fmla="*/ 21 w 25"/>
                <a:gd name="T39" fmla="*/ 24 h 33"/>
                <a:gd name="T40" fmla="*/ 20 w 25"/>
                <a:gd name="T41" fmla="*/ 21 h 33"/>
                <a:gd name="T42" fmla="*/ 14 w 25"/>
                <a:gd name="T43" fmla="*/ 19 h 33"/>
                <a:gd name="T44" fmla="*/ 9 w 25"/>
                <a:gd name="T45" fmla="*/ 17 h 33"/>
                <a:gd name="T46" fmla="*/ 3 w 25"/>
                <a:gd name="T47" fmla="*/ 15 h 33"/>
                <a:gd name="T48" fmla="*/ 1 w 25"/>
                <a:gd name="T49" fmla="*/ 10 h 33"/>
                <a:gd name="T50" fmla="*/ 4 w 25"/>
                <a:gd name="T51" fmla="*/ 3 h 33"/>
                <a:gd name="T52" fmla="*/ 12 w 25"/>
                <a:gd name="T53" fmla="*/ 0 h 33"/>
                <a:gd name="T54" fmla="*/ 21 w 25"/>
                <a:gd name="T55" fmla="*/ 3 h 33"/>
                <a:gd name="T56" fmla="*/ 24 w 25"/>
                <a:gd name="T57" fmla="*/ 10 h 33"/>
                <a:gd name="T58" fmla="*/ 20 w 25"/>
                <a:gd name="T59"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3">
                  <a:moveTo>
                    <a:pt x="20" y="10"/>
                  </a:moveTo>
                  <a:cubicBezTo>
                    <a:pt x="20" y="8"/>
                    <a:pt x="19" y="6"/>
                    <a:pt x="18" y="5"/>
                  </a:cubicBezTo>
                  <a:cubicBezTo>
                    <a:pt x="17" y="4"/>
                    <a:pt x="15" y="4"/>
                    <a:pt x="12" y="4"/>
                  </a:cubicBezTo>
                  <a:cubicBezTo>
                    <a:pt x="10" y="4"/>
                    <a:pt x="8" y="4"/>
                    <a:pt x="7" y="5"/>
                  </a:cubicBezTo>
                  <a:cubicBezTo>
                    <a:pt x="6" y="6"/>
                    <a:pt x="5" y="7"/>
                    <a:pt x="5" y="9"/>
                  </a:cubicBezTo>
                  <a:cubicBezTo>
                    <a:pt x="5" y="10"/>
                    <a:pt x="5" y="11"/>
                    <a:pt x="6" y="12"/>
                  </a:cubicBezTo>
                  <a:cubicBezTo>
                    <a:pt x="7" y="13"/>
                    <a:pt x="9" y="13"/>
                    <a:pt x="11" y="14"/>
                  </a:cubicBezTo>
                  <a:cubicBezTo>
                    <a:pt x="17" y="15"/>
                    <a:pt x="17" y="15"/>
                    <a:pt x="17" y="15"/>
                  </a:cubicBezTo>
                  <a:cubicBezTo>
                    <a:pt x="20" y="16"/>
                    <a:pt x="22" y="17"/>
                    <a:pt x="23" y="18"/>
                  </a:cubicBezTo>
                  <a:cubicBezTo>
                    <a:pt x="24" y="20"/>
                    <a:pt x="25" y="22"/>
                    <a:pt x="25" y="24"/>
                  </a:cubicBezTo>
                  <a:cubicBezTo>
                    <a:pt x="25" y="27"/>
                    <a:pt x="24" y="29"/>
                    <a:pt x="22" y="31"/>
                  </a:cubicBezTo>
                  <a:cubicBezTo>
                    <a:pt x="20" y="33"/>
                    <a:pt x="17" y="33"/>
                    <a:pt x="13" y="33"/>
                  </a:cubicBezTo>
                  <a:cubicBezTo>
                    <a:pt x="9" y="33"/>
                    <a:pt x="5" y="32"/>
                    <a:pt x="3" y="30"/>
                  </a:cubicBezTo>
                  <a:cubicBezTo>
                    <a:pt x="1" y="29"/>
                    <a:pt x="0" y="26"/>
                    <a:pt x="0" y="23"/>
                  </a:cubicBezTo>
                  <a:cubicBezTo>
                    <a:pt x="0" y="22"/>
                    <a:pt x="0" y="22"/>
                    <a:pt x="0" y="22"/>
                  </a:cubicBezTo>
                  <a:cubicBezTo>
                    <a:pt x="4" y="22"/>
                    <a:pt x="4" y="22"/>
                    <a:pt x="4" y="22"/>
                  </a:cubicBezTo>
                  <a:cubicBezTo>
                    <a:pt x="4" y="25"/>
                    <a:pt x="5" y="26"/>
                    <a:pt x="6" y="28"/>
                  </a:cubicBezTo>
                  <a:cubicBezTo>
                    <a:pt x="8" y="29"/>
                    <a:pt x="10" y="30"/>
                    <a:pt x="13" y="30"/>
                  </a:cubicBezTo>
                  <a:cubicBezTo>
                    <a:pt x="15" y="30"/>
                    <a:pt x="17" y="29"/>
                    <a:pt x="19" y="28"/>
                  </a:cubicBezTo>
                  <a:cubicBezTo>
                    <a:pt x="20" y="27"/>
                    <a:pt x="21" y="26"/>
                    <a:pt x="21" y="24"/>
                  </a:cubicBezTo>
                  <a:cubicBezTo>
                    <a:pt x="21" y="23"/>
                    <a:pt x="20" y="22"/>
                    <a:pt x="20" y="21"/>
                  </a:cubicBezTo>
                  <a:cubicBezTo>
                    <a:pt x="19" y="20"/>
                    <a:pt x="17" y="19"/>
                    <a:pt x="14" y="19"/>
                  </a:cubicBezTo>
                  <a:cubicBezTo>
                    <a:pt x="9" y="17"/>
                    <a:pt x="9" y="17"/>
                    <a:pt x="9" y="17"/>
                  </a:cubicBezTo>
                  <a:cubicBezTo>
                    <a:pt x="6" y="17"/>
                    <a:pt x="4" y="16"/>
                    <a:pt x="3" y="15"/>
                  </a:cubicBezTo>
                  <a:cubicBezTo>
                    <a:pt x="1" y="14"/>
                    <a:pt x="1" y="12"/>
                    <a:pt x="1" y="10"/>
                  </a:cubicBezTo>
                  <a:cubicBezTo>
                    <a:pt x="1" y="7"/>
                    <a:pt x="2" y="4"/>
                    <a:pt x="4" y="3"/>
                  </a:cubicBezTo>
                  <a:cubicBezTo>
                    <a:pt x="6" y="1"/>
                    <a:pt x="9" y="0"/>
                    <a:pt x="12" y="0"/>
                  </a:cubicBezTo>
                  <a:cubicBezTo>
                    <a:pt x="16" y="0"/>
                    <a:pt x="19" y="1"/>
                    <a:pt x="21" y="3"/>
                  </a:cubicBezTo>
                  <a:cubicBezTo>
                    <a:pt x="23" y="4"/>
                    <a:pt x="24" y="7"/>
                    <a:pt x="24" y="10"/>
                  </a:cubicBezTo>
                  <a:lnTo>
                    <a:pt x="20" y="1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4" name="Freeform 102"/>
            <p:cNvSpPr/>
            <p:nvPr userDrawn="1"/>
          </p:nvSpPr>
          <p:spPr bwMode="auto">
            <a:xfrm>
              <a:off x="2044"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5" name="Freeform 103"/>
            <p:cNvSpPr/>
            <p:nvPr userDrawn="1"/>
          </p:nvSpPr>
          <p:spPr bwMode="auto">
            <a:xfrm>
              <a:off x="2060" y="933"/>
              <a:ext cx="32" cy="40"/>
            </a:xfrm>
            <a:custGeom>
              <a:avLst/>
              <a:gdLst>
                <a:gd name="T0" fmla="*/ 13 w 32"/>
                <a:gd name="T1" fmla="*/ 5 h 40"/>
                <a:gd name="T2" fmla="*/ 0 w 32"/>
                <a:gd name="T3" fmla="*/ 5 h 40"/>
                <a:gd name="T4" fmla="*/ 0 w 32"/>
                <a:gd name="T5" fmla="*/ 3 h 40"/>
                <a:gd name="T6" fmla="*/ 0 w 32"/>
                <a:gd name="T7" fmla="*/ 0 h 40"/>
                <a:gd name="T8" fmla="*/ 32 w 32"/>
                <a:gd name="T9" fmla="*/ 0 h 40"/>
                <a:gd name="T10" fmla="*/ 32 w 32"/>
                <a:gd name="T11" fmla="*/ 3 h 40"/>
                <a:gd name="T12" fmla="*/ 32 w 32"/>
                <a:gd name="T13" fmla="*/ 5 h 40"/>
                <a:gd name="T14" fmla="*/ 18 w 32"/>
                <a:gd name="T15" fmla="*/ 5 h 40"/>
                <a:gd name="T16" fmla="*/ 18 w 32"/>
                <a:gd name="T17" fmla="*/ 40 h 40"/>
                <a:gd name="T18" fmla="*/ 16 w 32"/>
                <a:gd name="T19" fmla="*/ 40 h 40"/>
                <a:gd name="T20" fmla="*/ 13 w 32"/>
                <a:gd name="T21" fmla="*/ 40 h 40"/>
                <a:gd name="T22" fmla="*/ 13 w 32"/>
                <a:gd name="T23" fmla="*/ 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 h="40">
                  <a:moveTo>
                    <a:pt x="13" y="5"/>
                  </a:moveTo>
                  <a:lnTo>
                    <a:pt x="0" y="5"/>
                  </a:lnTo>
                  <a:lnTo>
                    <a:pt x="0" y="3"/>
                  </a:lnTo>
                  <a:lnTo>
                    <a:pt x="0" y="0"/>
                  </a:lnTo>
                  <a:lnTo>
                    <a:pt x="32" y="0"/>
                  </a:lnTo>
                  <a:lnTo>
                    <a:pt x="32" y="3"/>
                  </a:lnTo>
                  <a:lnTo>
                    <a:pt x="32" y="5"/>
                  </a:lnTo>
                  <a:lnTo>
                    <a:pt x="18" y="5"/>
                  </a:lnTo>
                  <a:lnTo>
                    <a:pt x="18" y="40"/>
                  </a:lnTo>
                  <a:lnTo>
                    <a:pt x="16" y="40"/>
                  </a:lnTo>
                  <a:lnTo>
                    <a:pt x="13" y="40"/>
                  </a:lnTo>
                  <a:lnTo>
                    <a:pt x="13" y="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6" name="Freeform 104"/>
            <p:cNvSpPr/>
            <p:nvPr userDrawn="1"/>
          </p:nvSpPr>
          <p:spPr bwMode="auto">
            <a:xfrm>
              <a:off x="2101" y="933"/>
              <a:ext cx="34" cy="40"/>
            </a:xfrm>
            <a:custGeom>
              <a:avLst/>
              <a:gdLst>
                <a:gd name="T0" fmla="*/ 15 w 34"/>
                <a:gd name="T1" fmla="*/ 24 h 40"/>
                <a:gd name="T2" fmla="*/ 0 w 34"/>
                <a:gd name="T3" fmla="*/ 0 h 40"/>
                <a:gd name="T4" fmla="*/ 3 w 34"/>
                <a:gd name="T5" fmla="*/ 0 h 40"/>
                <a:gd name="T6" fmla="*/ 6 w 34"/>
                <a:gd name="T7" fmla="*/ 0 h 40"/>
                <a:gd name="T8" fmla="*/ 17 w 34"/>
                <a:gd name="T9" fmla="*/ 19 h 40"/>
                <a:gd name="T10" fmla="*/ 17 w 34"/>
                <a:gd name="T11" fmla="*/ 19 h 40"/>
                <a:gd name="T12" fmla="*/ 28 w 34"/>
                <a:gd name="T13" fmla="*/ 0 h 40"/>
                <a:gd name="T14" fmla="*/ 32 w 34"/>
                <a:gd name="T15" fmla="*/ 0 h 40"/>
                <a:gd name="T16" fmla="*/ 34 w 34"/>
                <a:gd name="T17" fmla="*/ 0 h 40"/>
                <a:gd name="T18" fmla="*/ 20 w 34"/>
                <a:gd name="T19" fmla="*/ 24 h 40"/>
                <a:gd name="T20" fmla="*/ 20 w 34"/>
                <a:gd name="T21" fmla="*/ 40 h 40"/>
                <a:gd name="T22" fmla="*/ 17 w 34"/>
                <a:gd name="T23" fmla="*/ 40 h 40"/>
                <a:gd name="T24" fmla="*/ 15 w 34"/>
                <a:gd name="T25" fmla="*/ 40 h 40"/>
                <a:gd name="T26" fmla="*/ 15 w 34"/>
                <a:gd name="T27"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4" h="40">
                  <a:moveTo>
                    <a:pt x="15" y="24"/>
                  </a:moveTo>
                  <a:lnTo>
                    <a:pt x="0" y="0"/>
                  </a:lnTo>
                  <a:lnTo>
                    <a:pt x="3" y="0"/>
                  </a:lnTo>
                  <a:lnTo>
                    <a:pt x="6" y="0"/>
                  </a:lnTo>
                  <a:lnTo>
                    <a:pt x="17" y="19"/>
                  </a:lnTo>
                  <a:lnTo>
                    <a:pt x="17" y="19"/>
                  </a:lnTo>
                  <a:lnTo>
                    <a:pt x="28" y="0"/>
                  </a:lnTo>
                  <a:lnTo>
                    <a:pt x="32" y="0"/>
                  </a:lnTo>
                  <a:lnTo>
                    <a:pt x="34" y="0"/>
                  </a:lnTo>
                  <a:lnTo>
                    <a:pt x="20" y="24"/>
                  </a:lnTo>
                  <a:lnTo>
                    <a:pt x="20" y="40"/>
                  </a:lnTo>
                  <a:lnTo>
                    <a:pt x="17" y="40"/>
                  </a:lnTo>
                  <a:lnTo>
                    <a:pt x="15" y="40"/>
                  </a:lnTo>
                  <a:lnTo>
                    <a:pt x="15" y="24"/>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7" name="Freeform 105"/>
            <p:cNvSpPr>
              <a:spLocks noEditPoints="1"/>
            </p:cNvSpPr>
            <p:nvPr userDrawn="1"/>
          </p:nvSpPr>
          <p:spPr bwMode="auto">
            <a:xfrm>
              <a:off x="954" y="660"/>
              <a:ext cx="350" cy="353"/>
            </a:xfrm>
            <a:custGeom>
              <a:avLst/>
              <a:gdLst>
                <a:gd name="T0" fmla="*/ 142 w 283"/>
                <a:gd name="T1" fmla="*/ 0 h 283"/>
                <a:gd name="T2" fmla="*/ 283 w 283"/>
                <a:gd name="T3" fmla="*/ 142 h 283"/>
                <a:gd name="T4" fmla="*/ 142 w 283"/>
                <a:gd name="T5" fmla="*/ 283 h 283"/>
                <a:gd name="T6" fmla="*/ 0 w 283"/>
                <a:gd name="T7" fmla="*/ 142 h 283"/>
                <a:gd name="T8" fmla="*/ 142 w 283"/>
                <a:gd name="T9" fmla="*/ 0 h 283"/>
                <a:gd name="T10" fmla="*/ 142 w 283"/>
                <a:gd name="T11" fmla="*/ 6 h 283"/>
                <a:gd name="T12" fmla="*/ 6 w 283"/>
                <a:gd name="T13" fmla="*/ 142 h 283"/>
                <a:gd name="T14" fmla="*/ 142 w 283"/>
                <a:gd name="T15" fmla="*/ 277 h 283"/>
                <a:gd name="T16" fmla="*/ 278 w 283"/>
                <a:gd name="T17" fmla="*/ 142 h 283"/>
                <a:gd name="T18" fmla="*/ 142 w 283"/>
                <a:gd name="T19" fmla="*/ 6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3" h="283">
                  <a:moveTo>
                    <a:pt x="142" y="0"/>
                  </a:moveTo>
                  <a:cubicBezTo>
                    <a:pt x="220" y="0"/>
                    <a:pt x="283" y="64"/>
                    <a:pt x="283" y="142"/>
                  </a:cubicBezTo>
                  <a:cubicBezTo>
                    <a:pt x="283" y="219"/>
                    <a:pt x="220" y="283"/>
                    <a:pt x="142" y="283"/>
                  </a:cubicBezTo>
                  <a:cubicBezTo>
                    <a:pt x="64" y="283"/>
                    <a:pt x="0" y="219"/>
                    <a:pt x="0" y="142"/>
                  </a:cubicBezTo>
                  <a:cubicBezTo>
                    <a:pt x="0" y="64"/>
                    <a:pt x="64" y="0"/>
                    <a:pt x="142" y="0"/>
                  </a:cubicBezTo>
                  <a:moveTo>
                    <a:pt x="142" y="6"/>
                  </a:moveTo>
                  <a:cubicBezTo>
                    <a:pt x="67" y="6"/>
                    <a:pt x="6" y="67"/>
                    <a:pt x="6" y="142"/>
                  </a:cubicBezTo>
                  <a:cubicBezTo>
                    <a:pt x="6" y="216"/>
                    <a:pt x="67" y="277"/>
                    <a:pt x="142" y="277"/>
                  </a:cubicBezTo>
                  <a:cubicBezTo>
                    <a:pt x="217" y="277"/>
                    <a:pt x="278" y="216"/>
                    <a:pt x="278" y="142"/>
                  </a:cubicBezTo>
                  <a:cubicBezTo>
                    <a:pt x="278" y="67"/>
                    <a:pt x="217" y="6"/>
                    <a:pt x="142" y="6"/>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8" name="Freeform 106"/>
            <p:cNvSpPr/>
            <p:nvPr userDrawn="1"/>
          </p:nvSpPr>
          <p:spPr bwMode="auto">
            <a:xfrm>
              <a:off x="1033" y="739"/>
              <a:ext cx="193" cy="173"/>
            </a:xfrm>
            <a:custGeom>
              <a:avLst/>
              <a:gdLst>
                <a:gd name="T0" fmla="*/ 28 w 156"/>
                <a:gd name="T1" fmla="*/ 139 h 139"/>
                <a:gd name="T2" fmla="*/ 7 w 156"/>
                <a:gd name="T3" fmla="*/ 112 h 139"/>
                <a:gd name="T4" fmla="*/ 0 w 156"/>
                <a:gd name="T5" fmla="*/ 79 h 139"/>
                <a:gd name="T6" fmla="*/ 78 w 156"/>
                <a:gd name="T7" fmla="*/ 0 h 139"/>
                <a:gd name="T8" fmla="*/ 156 w 156"/>
                <a:gd name="T9" fmla="*/ 79 h 139"/>
                <a:gd name="T10" fmla="*/ 149 w 156"/>
                <a:gd name="T11" fmla="*/ 112 h 139"/>
                <a:gd name="T12" fmla="*/ 128 w 156"/>
                <a:gd name="T13" fmla="*/ 139 h 139"/>
                <a:gd name="T14" fmla="*/ 126 w 156"/>
                <a:gd name="T15" fmla="*/ 137 h 139"/>
                <a:gd name="T16" fmla="*/ 146 w 156"/>
                <a:gd name="T17" fmla="*/ 111 h 139"/>
                <a:gd name="T18" fmla="*/ 153 w 156"/>
                <a:gd name="T19" fmla="*/ 79 h 139"/>
                <a:gd name="T20" fmla="*/ 78 w 156"/>
                <a:gd name="T21" fmla="*/ 3 h 139"/>
                <a:gd name="T22" fmla="*/ 3 w 156"/>
                <a:gd name="T23" fmla="*/ 79 h 139"/>
                <a:gd name="T24" fmla="*/ 10 w 156"/>
                <a:gd name="T25" fmla="*/ 111 h 139"/>
                <a:gd name="T26" fmla="*/ 30 w 156"/>
                <a:gd name="T27" fmla="*/ 137 h 139"/>
                <a:gd name="T28" fmla="*/ 28 w 156"/>
                <a:gd name="T29" fmla="*/ 13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6" h="139">
                  <a:moveTo>
                    <a:pt x="28" y="139"/>
                  </a:moveTo>
                  <a:cubicBezTo>
                    <a:pt x="19" y="132"/>
                    <a:pt x="12" y="122"/>
                    <a:pt x="7" y="112"/>
                  </a:cubicBezTo>
                  <a:cubicBezTo>
                    <a:pt x="2" y="102"/>
                    <a:pt x="0" y="90"/>
                    <a:pt x="0" y="79"/>
                  </a:cubicBezTo>
                  <a:cubicBezTo>
                    <a:pt x="0" y="36"/>
                    <a:pt x="35" y="0"/>
                    <a:pt x="78" y="0"/>
                  </a:cubicBezTo>
                  <a:cubicBezTo>
                    <a:pt x="121" y="0"/>
                    <a:pt x="156" y="36"/>
                    <a:pt x="156" y="79"/>
                  </a:cubicBezTo>
                  <a:cubicBezTo>
                    <a:pt x="156" y="90"/>
                    <a:pt x="153" y="102"/>
                    <a:pt x="149" y="112"/>
                  </a:cubicBezTo>
                  <a:cubicBezTo>
                    <a:pt x="144" y="122"/>
                    <a:pt x="136" y="132"/>
                    <a:pt x="128" y="139"/>
                  </a:cubicBezTo>
                  <a:cubicBezTo>
                    <a:pt x="126" y="137"/>
                    <a:pt x="126" y="137"/>
                    <a:pt x="126" y="137"/>
                  </a:cubicBezTo>
                  <a:cubicBezTo>
                    <a:pt x="134" y="130"/>
                    <a:pt x="141" y="121"/>
                    <a:pt x="146" y="111"/>
                  </a:cubicBezTo>
                  <a:cubicBezTo>
                    <a:pt x="151" y="101"/>
                    <a:pt x="153" y="90"/>
                    <a:pt x="153" y="79"/>
                  </a:cubicBezTo>
                  <a:cubicBezTo>
                    <a:pt x="153" y="37"/>
                    <a:pt x="119" y="3"/>
                    <a:pt x="78" y="3"/>
                  </a:cubicBezTo>
                  <a:cubicBezTo>
                    <a:pt x="36" y="3"/>
                    <a:pt x="3" y="37"/>
                    <a:pt x="3" y="79"/>
                  </a:cubicBezTo>
                  <a:cubicBezTo>
                    <a:pt x="3" y="90"/>
                    <a:pt x="5" y="101"/>
                    <a:pt x="10" y="111"/>
                  </a:cubicBezTo>
                  <a:cubicBezTo>
                    <a:pt x="14" y="121"/>
                    <a:pt x="21" y="130"/>
                    <a:pt x="30" y="137"/>
                  </a:cubicBezTo>
                  <a:lnTo>
                    <a:pt x="28" y="13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09" name="Freeform 107"/>
            <p:cNvSpPr/>
            <p:nvPr userDrawn="1"/>
          </p:nvSpPr>
          <p:spPr bwMode="auto">
            <a:xfrm>
              <a:off x="972" y="867"/>
              <a:ext cx="40" cy="29"/>
            </a:xfrm>
            <a:custGeom>
              <a:avLst/>
              <a:gdLst>
                <a:gd name="T0" fmla="*/ 8 w 40"/>
                <a:gd name="T1" fmla="*/ 29 h 29"/>
                <a:gd name="T2" fmla="*/ 0 w 40"/>
                <a:gd name="T3" fmla="*/ 10 h 29"/>
                <a:gd name="T4" fmla="*/ 4 w 40"/>
                <a:gd name="T5" fmla="*/ 9 h 29"/>
                <a:gd name="T6" fmla="*/ 35 w 40"/>
                <a:gd name="T7" fmla="*/ 14 h 29"/>
                <a:gd name="T8" fmla="*/ 30 w 40"/>
                <a:gd name="T9" fmla="*/ 1 h 29"/>
                <a:gd name="T10" fmla="*/ 34 w 40"/>
                <a:gd name="T11" fmla="*/ 0 h 29"/>
                <a:gd name="T12" fmla="*/ 40 w 40"/>
                <a:gd name="T13" fmla="*/ 16 h 29"/>
                <a:gd name="T14" fmla="*/ 36 w 40"/>
                <a:gd name="T15" fmla="*/ 17 h 29"/>
                <a:gd name="T16" fmla="*/ 7 w 40"/>
                <a:gd name="T17" fmla="*/ 14 h 29"/>
                <a:gd name="T18" fmla="*/ 12 w 40"/>
                <a:gd name="T19" fmla="*/ 27 h 29"/>
                <a:gd name="T20" fmla="*/ 8 w 40"/>
                <a:gd name="T21"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29">
                  <a:moveTo>
                    <a:pt x="8" y="29"/>
                  </a:moveTo>
                  <a:lnTo>
                    <a:pt x="0" y="10"/>
                  </a:lnTo>
                  <a:lnTo>
                    <a:pt x="4" y="9"/>
                  </a:lnTo>
                  <a:lnTo>
                    <a:pt x="35" y="14"/>
                  </a:lnTo>
                  <a:lnTo>
                    <a:pt x="30" y="1"/>
                  </a:lnTo>
                  <a:lnTo>
                    <a:pt x="34" y="0"/>
                  </a:lnTo>
                  <a:lnTo>
                    <a:pt x="40" y="16"/>
                  </a:lnTo>
                  <a:lnTo>
                    <a:pt x="36" y="17"/>
                  </a:lnTo>
                  <a:lnTo>
                    <a:pt x="7" y="14"/>
                  </a:lnTo>
                  <a:lnTo>
                    <a:pt x="12" y="27"/>
                  </a:lnTo>
                  <a:lnTo>
                    <a:pt x="8"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0" name="Freeform 108"/>
            <p:cNvSpPr/>
            <p:nvPr userDrawn="1"/>
          </p:nvSpPr>
          <p:spPr bwMode="auto">
            <a:xfrm>
              <a:off x="984" y="888"/>
              <a:ext cx="38" cy="31"/>
            </a:xfrm>
            <a:custGeom>
              <a:avLst/>
              <a:gdLst>
                <a:gd name="T0" fmla="*/ 7 w 38"/>
                <a:gd name="T1" fmla="*/ 31 h 31"/>
                <a:gd name="T2" fmla="*/ 6 w 38"/>
                <a:gd name="T3" fmla="*/ 28 h 31"/>
                <a:gd name="T4" fmla="*/ 19 w 38"/>
                <a:gd name="T5" fmla="*/ 21 h 31"/>
                <a:gd name="T6" fmla="*/ 14 w 38"/>
                <a:gd name="T7" fmla="*/ 11 h 31"/>
                <a:gd name="T8" fmla="*/ 1 w 38"/>
                <a:gd name="T9" fmla="*/ 19 h 31"/>
                <a:gd name="T10" fmla="*/ 0 w 38"/>
                <a:gd name="T11" fmla="*/ 15 h 31"/>
                <a:gd name="T12" fmla="*/ 29 w 38"/>
                <a:gd name="T13" fmla="*/ 0 h 31"/>
                <a:gd name="T14" fmla="*/ 32 w 38"/>
                <a:gd name="T15" fmla="*/ 4 h 31"/>
                <a:gd name="T16" fmla="*/ 18 w 38"/>
                <a:gd name="T17" fmla="*/ 10 h 31"/>
                <a:gd name="T18" fmla="*/ 23 w 38"/>
                <a:gd name="T19" fmla="*/ 19 h 31"/>
                <a:gd name="T20" fmla="*/ 35 w 38"/>
                <a:gd name="T21" fmla="*/ 13 h 31"/>
                <a:gd name="T22" fmla="*/ 38 w 38"/>
                <a:gd name="T23" fmla="*/ 16 h 31"/>
                <a:gd name="T24" fmla="*/ 7 w 38"/>
                <a:gd name="T25"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1">
                  <a:moveTo>
                    <a:pt x="7" y="31"/>
                  </a:moveTo>
                  <a:lnTo>
                    <a:pt x="6" y="28"/>
                  </a:lnTo>
                  <a:lnTo>
                    <a:pt x="19" y="21"/>
                  </a:lnTo>
                  <a:lnTo>
                    <a:pt x="14" y="11"/>
                  </a:lnTo>
                  <a:lnTo>
                    <a:pt x="1" y="19"/>
                  </a:lnTo>
                  <a:lnTo>
                    <a:pt x="0" y="15"/>
                  </a:lnTo>
                  <a:lnTo>
                    <a:pt x="29" y="0"/>
                  </a:lnTo>
                  <a:lnTo>
                    <a:pt x="32" y="4"/>
                  </a:lnTo>
                  <a:lnTo>
                    <a:pt x="18" y="10"/>
                  </a:lnTo>
                  <a:lnTo>
                    <a:pt x="23" y="19"/>
                  </a:lnTo>
                  <a:lnTo>
                    <a:pt x="35" y="13"/>
                  </a:lnTo>
                  <a:lnTo>
                    <a:pt x="38" y="16"/>
                  </a:lnTo>
                  <a:lnTo>
                    <a:pt x="7" y="3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1" name="Freeform 109"/>
            <p:cNvSpPr/>
            <p:nvPr userDrawn="1"/>
          </p:nvSpPr>
          <p:spPr bwMode="auto">
            <a:xfrm>
              <a:off x="995" y="906"/>
              <a:ext cx="38" cy="33"/>
            </a:xfrm>
            <a:custGeom>
              <a:avLst/>
              <a:gdLst>
                <a:gd name="T0" fmla="*/ 11 w 38"/>
                <a:gd name="T1" fmla="*/ 33 h 33"/>
                <a:gd name="T2" fmla="*/ 0 w 38"/>
                <a:gd name="T3" fmla="*/ 18 h 33"/>
                <a:gd name="T4" fmla="*/ 28 w 38"/>
                <a:gd name="T5" fmla="*/ 0 h 33"/>
                <a:gd name="T6" fmla="*/ 38 w 38"/>
                <a:gd name="T7" fmla="*/ 15 h 33"/>
                <a:gd name="T8" fmla="*/ 36 w 38"/>
                <a:gd name="T9" fmla="*/ 17 h 33"/>
                <a:gd name="T10" fmla="*/ 27 w 38"/>
                <a:gd name="T11" fmla="*/ 6 h 33"/>
                <a:gd name="T12" fmla="*/ 18 w 38"/>
                <a:gd name="T13" fmla="*/ 11 h 33"/>
                <a:gd name="T14" fmla="*/ 26 w 38"/>
                <a:gd name="T15" fmla="*/ 21 h 33"/>
                <a:gd name="T16" fmla="*/ 23 w 38"/>
                <a:gd name="T17" fmla="*/ 23 h 33"/>
                <a:gd name="T18" fmla="*/ 16 w 38"/>
                <a:gd name="T19" fmla="*/ 13 h 33"/>
                <a:gd name="T20" fmla="*/ 6 w 38"/>
                <a:gd name="T21" fmla="*/ 20 h 33"/>
                <a:gd name="T22" fmla="*/ 13 w 38"/>
                <a:gd name="T23" fmla="*/ 31 h 33"/>
                <a:gd name="T24" fmla="*/ 11 w 38"/>
                <a:gd name="T25"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3">
                  <a:moveTo>
                    <a:pt x="11" y="33"/>
                  </a:moveTo>
                  <a:lnTo>
                    <a:pt x="0" y="18"/>
                  </a:lnTo>
                  <a:lnTo>
                    <a:pt x="28" y="0"/>
                  </a:lnTo>
                  <a:lnTo>
                    <a:pt x="38" y="15"/>
                  </a:lnTo>
                  <a:lnTo>
                    <a:pt x="36" y="17"/>
                  </a:lnTo>
                  <a:lnTo>
                    <a:pt x="27" y="6"/>
                  </a:lnTo>
                  <a:lnTo>
                    <a:pt x="18" y="11"/>
                  </a:lnTo>
                  <a:lnTo>
                    <a:pt x="26" y="21"/>
                  </a:lnTo>
                  <a:lnTo>
                    <a:pt x="23" y="23"/>
                  </a:lnTo>
                  <a:lnTo>
                    <a:pt x="16" y="13"/>
                  </a:lnTo>
                  <a:lnTo>
                    <a:pt x="6" y="20"/>
                  </a:lnTo>
                  <a:lnTo>
                    <a:pt x="13" y="31"/>
                  </a:lnTo>
                  <a:lnTo>
                    <a:pt x="11" y="3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2" name="Freeform 110"/>
            <p:cNvSpPr/>
            <p:nvPr userDrawn="1"/>
          </p:nvSpPr>
          <p:spPr bwMode="auto">
            <a:xfrm>
              <a:off x="1026" y="934"/>
              <a:ext cx="24" cy="29"/>
            </a:xfrm>
            <a:custGeom>
              <a:avLst/>
              <a:gdLst>
                <a:gd name="T0" fmla="*/ 3 w 24"/>
                <a:gd name="T1" fmla="*/ 29 h 29"/>
                <a:gd name="T2" fmla="*/ 0 w 24"/>
                <a:gd name="T3" fmla="*/ 26 h 29"/>
                <a:gd name="T4" fmla="*/ 21 w 24"/>
                <a:gd name="T5" fmla="*/ 0 h 29"/>
                <a:gd name="T6" fmla="*/ 24 w 24"/>
                <a:gd name="T7" fmla="*/ 3 h 29"/>
                <a:gd name="T8" fmla="*/ 3 w 24"/>
                <a:gd name="T9" fmla="*/ 29 h 29"/>
              </a:gdLst>
              <a:ahLst/>
              <a:cxnLst>
                <a:cxn ang="0">
                  <a:pos x="T0" y="T1"/>
                </a:cxn>
                <a:cxn ang="0">
                  <a:pos x="T2" y="T3"/>
                </a:cxn>
                <a:cxn ang="0">
                  <a:pos x="T4" y="T5"/>
                </a:cxn>
                <a:cxn ang="0">
                  <a:pos x="T6" y="T7"/>
                </a:cxn>
                <a:cxn ang="0">
                  <a:pos x="T8" y="T9"/>
                </a:cxn>
              </a:cxnLst>
              <a:rect l="0" t="0" r="r" b="b"/>
              <a:pathLst>
                <a:path w="24" h="29">
                  <a:moveTo>
                    <a:pt x="3" y="29"/>
                  </a:moveTo>
                  <a:lnTo>
                    <a:pt x="0" y="26"/>
                  </a:lnTo>
                  <a:lnTo>
                    <a:pt x="21" y="0"/>
                  </a:lnTo>
                  <a:lnTo>
                    <a:pt x="24" y="3"/>
                  </a:lnTo>
                  <a:lnTo>
                    <a:pt x="3"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3" name="Freeform 111"/>
            <p:cNvSpPr>
              <a:spLocks noEditPoints="1"/>
            </p:cNvSpPr>
            <p:nvPr userDrawn="1"/>
          </p:nvSpPr>
          <p:spPr bwMode="auto">
            <a:xfrm>
              <a:off x="1034" y="942"/>
              <a:ext cx="29" cy="35"/>
            </a:xfrm>
            <a:custGeom>
              <a:avLst/>
              <a:gdLst>
                <a:gd name="T0" fmla="*/ 11 w 29"/>
                <a:gd name="T1" fmla="*/ 32 h 35"/>
                <a:gd name="T2" fmla="*/ 16 w 29"/>
                <a:gd name="T3" fmla="*/ 23 h 35"/>
                <a:gd name="T4" fmla="*/ 11 w 29"/>
                <a:gd name="T5" fmla="*/ 20 h 35"/>
                <a:gd name="T6" fmla="*/ 3 w 29"/>
                <a:gd name="T7" fmla="*/ 27 h 35"/>
                <a:gd name="T8" fmla="*/ 0 w 29"/>
                <a:gd name="T9" fmla="*/ 25 h 35"/>
                <a:gd name="T10" fmla="*/ 24 w 29"/>
                <a:gd name="T11" fmla="*/ 0 h 35"/>
                <a:gd name="T12" fmla="*/ 29 w 29"/>
                <a:gd name="T13" fmla="*/ 2 h 35"/>
                <a:gd name="T14" fmla="*/ 16 w 29"/>
                <a:gd name="T15" fmla="*/ 35 h 35"/>
                <a:gd name="T16" fmla="*/ 11 w 29"/>
                <a:gd name="T17" fmla="*/ 32 h 35"/>
                <a:gd name="T18" fmla="*/ 19 w 29"/>
                <a:gd name="T19" fmla="*/ 18 h 35"/>
                <a:gd name="T20" fmla="*/ 24 w 29"/>
                <a:gd name="T21" fmla="*/ 7 h 35"/>
                <a:gd name="T22" fmla="*/ 23 w 29"/>
                <a:gd name="T23" fmla="*/ 6 h 35"/>
                <a:gd name="T24" fmla="*/ 14 w 29"/>
                <a:gd name="T25" fmla="*/ 16 h 35"/>
                <a:gd name="T26" fmla="*/ 19 w 29"/>
                <a:gd name="T2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35">
                  <a:moveTo>
                    <a:pt x="11" y="32"/>
                  </a:moveTo>
                  <a:lnTo>
                    <a:pt x="16" y="23"/>
                  </a:lnTo>
                  <a:lnTo>
                    <a:pt x="11" y="20"/>
                  </a:lnTo>
                  <a:lnTo>
                    <a:pt x="3" y="27"/>
                  </a:lnTo>
                  <a:lnTo>
                    <a:pt x="0" y="25"/>
                  </a:lnTo>
                  <a:lnTo>
                    <a:pt x="24" y="0"/>
                  </a:lnTo>
                  <a:lnTo>
                    <a:pt x="29" y="2"/>
                  </a:lnTo>
                  <a:lnTo>
                    <a:pt x="16" y="35"/>
                  </a:lnTo>
                  <a:lnTo>
                    <a:pt x="11" y="32"/>
                  </a:lnTo>
                  <a:close/>
                  <a:moveTo>
                    <a:pt x="19" y="18"/>
                  </a:moveTo>
                  <a:lnTo>
                    <a:pt x="24" y="7"/>
                  </a:lnTo>
                  <a:lnTo>
                    <a:pt x="23" y="6"/>
                  </a:lnTo>
                  <a:lnTo>
                    <a:pt x="14" y="16"/>
                  </a:lnTo>
                  <a:lnTo>
                    <a:pt x="19" y="18"/>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4" name="Freeform 112"/>
            <p:cNvSpPr/>
            <p:nvPr userDrawn="1"/>
          </p:nvSpPr>
          <p:spPr bwMode="auto">
            <a:xfrm>
              <a:off x="1054" y="948"/>
              <a:ext cx="32" cy="39"/>
            </a:xfrm>
            <a:custGeom>
              <a:avLst/>
              <a:gdLst>
                <a:gd name="T0" fmla="*/ 16 w 32"/>
                <a:gd name="T1" fmla="*/ 39 h 39"/>
                <a:gd name="T2" fmla="*/ 13 w 32"/>
                <a:gd name="T3" fmla="*/ 36 h 39"/>
                <a:gd name="T4" fmla="*/ 15 w 32"/>
                <a:gd name="T5" fmla="*/ 12 h 39"/>
                <a:gd name="T6" fmla="*/ 5 w 32"/>
                <a:gd name="T7" fmla="*/ 32 h 39"/>
                <a:gd name="T8" fmla="*/ 0 w 32"/>
                <a:gd name="T9" fmla="*/ 30 h 39"/>
                <a:gd name="T10" fmla="*/ 16 w 32"/>
                <a:gd name="T11" fmla="*/ 0 h 39"/>
                <a:gd name="T12" fmla="*/ 20 w 32"/>
                <a:gd name="T13" fmla="*/ 1 h 39"/>
                <a:gd name="T14" fmla="*/ 19 w 32"/>
                <a:gd name="T15" fmla="*/ 25 h 39"/>
                <a:gd name="T16" fmla="*/ 29 w 32"/>
                <a:gd name="T17" fmla="*/ 5 h 39"/>
                <a:gd name="T18" fmla="*/ 32 w 32"/>
                <a:gd name="T19" fmla="*/ 7 h 39"/>
                <a:gd name="T20" fmla="*/ 16 w 32"/>
                <a:gd name="T21"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39">
                  <a:moveTo>
                    <a:pt x="16" y="39"/>
                  </a:moveTo>
                  <a:lnTo>
                    <a:pt x="13" y="36"/>
                  </a:lnTo>
                  <a:lnTo>
                    <a:pt x="15" y="12"/>
                  </a:lnTo>
                  <a:lnTo>
                    <a:pt x="5" y="32"/>
                  </a:lnTo>
                  <a:lnTo>
                    <a:pt x="0" y="30"/>
                  </a:lnTo>
                  <a:lnTo>
                    <a:pt x="16" y="0"/>
                  </a:lnTo>
                  <a:lnTo>
                    <a:pt x="20" y="1"/>
                  </a:lnTo>
                  <a:lnTo>
                    <a:pt x="19" y="25"/>
                  </a:lnTo>
                  <a:lnTo>
                    <a:pt x="29" y="5"/>
                  </a:lnTo>
                  <a:lnTo>
                    <a:pt x="32" y="7"/>
                  </a:lnTo>
                  <a:lnTo>
                    <a:pt x="16" y="3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5" name="Freeform 113"/>
            <p:cNvSpPr/>
            <p:nvPr userDrawn="1"/>
          </p:nvSpPr>
          <p:spPr bwMode="auto">
            <a:xfrm>
              <a:off x="1079" y="957"/>
              <a:ext cx="23" cy="36"/>
            </a:xfrm>
            <a:custGeom>
              <a:avLst/>
              <a:gdLst>
                <a:gd name="T0" fmla="*/ 12 w 19"/>
                <a:gd name="T1" fmla="*/ 29 h 29"/>
                <a:gd name="T2" fmla="*/ 10 w 19"/>
                <a:gd name="T3" fmla="*/ 29 h 29"/>
                <a:gd name="T4" fmla="*/ 10 w 19"/>
                <a:gd name="T5" fmla="*/ 26 h 29"/>
                <a:gd name="T6" fmla="*/ 8 w 19"/>
                <a:gd name="T7" fmla="*/ 27 h 29"/>
                <a:gd name="T8" fmla="*/ 5 w 19"/>
                <a:gd name="T9" fmla="*/ 27 h 29"/>
                <a:gd name="T10" fmla="*/ 1 w 19"/>
                <a:gd name="T11" fmla="*/ 23 h 29"/>
                <a:gd name="T12" fmla="*/ 1 w 19"/>
                <a:gd name="T13" fmla="*/ 13 h 29"/>
                <a:gd name="T14" fmla="*/ 6 w 19"/>
                <a:gd name="T15" fmla="*/ 3 h 29"/>
                <a:gd name="T16" fmla="*/ 14 w 19"/>
                <a:gd name="T17" fmla="*/ 1 h 29"/>
                <a:gd name="T18" fmla="*/ 18 w 19"/>
                <a:gd name="T19" fmla="*/ 11 h 29"/>
                <a:gd name="T20" fmla="*/ 15 w 19"/>
                <a:gd name="T21" fmla="*/ 11 h 29"/>
                <a:gd name="T22" fmla="*/ 13 w 19"/>
                <a:gd name="T23" fmla="*/ 4 h 29"/>
                <a:gd name="T24" fmla="*/ 8 w 19"/>
                <a:gd name="T25" fmla="*/ 6 h 29"/>
                <a:gd name="T26" fmla="*/ 5 w 19"/>
                <a:gd name="T27" fmla="*/ 14 h 29"/>
                <a:gd name="T28" fmla="*/ 4 w 19"/>
                <a:gd name="T29" fmla="*/ 21 h 29"/>
                <a:gd name="T30" fmla="*/ 6 w 19"/>
                <a:gd name="T31" fmla="*/ 24 h 29"/>
                <a:gd name="T32" fmla="*/ 9 w 19"/>
                <a:gd name="T33" fmla="*/ 24 h 29"/>
                <a:gd name="T34" fmla="*/ 12 w 19"/>
                <a:gd name="T35" fmla="*/ 20 h 29"/>
                <a:gd name="T36" fmla="*/ 12 w 19"/>
                <a:gd name="T37" fmla="*/ 18 h 29"/>
                <a:gd name="T38" fmla="*/ 8 w 19"/>
                <a:gd name="T39" fmla="*/ 17 h 29"/>
                <a:gd name="T40" fmla="*/ 9 w 19"/>
                <a:gd name="T41" fmla="*/ 14 h 29"/>
                <a:gd name="T42" fmla="*/ 16 w 19"/>
                <a:gd name="T43" fmla="*/ 17 h 29"/>
                <a:gd name="T44" fmla="*/ 12 w 19"/>
                <a:gd name="T45"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29">
                  <a:moveTo>
                    <a:pt x="12" y="29"/>
                  </a:moveTo>
                  <a:cubicBezTo>
                    <a:pt x="10" y="29"/>
                    <a:pt x="10" y="29"/>
                    <a:pt x="10" y="29"/>
                  </a:cubicBezTo>
                  <a:cubicBezTo>
                    <a:pt x="10" y="26"/>
                    <a:pt x="10" y="26"/>
                    <a:pt x="10" y="26"/>
                  </a:cubicBezTo>
                  <a:cubicBezTo>
                    <a:pt x="9" y="27"/>
                    <a:pt x="9" y="27"/>
                    <a:pt x="8" y="27"/>
                  </a:cubicBezTo>
                  <a:cubicBezTo>
                    <a:pt x="7" y="27"/>
                    <a:pt x="6" y="27"/>
                    <a:pt x="5" y="27"/>
                  </a:cubicBezTo>
                  <a:cubicBezTo>
                    <a:pt x="3" y="26"/>
                    <a:pt x="2" y="25"/>
                    <a:pt x="1" y="23"/>
                  </a:cubicBezTo>
                  <a:cubicBezTo>
                    <a:pt x="0" y="20"/>
                    <a:pt x="0" y="17"/>
                    <a:pt x="1" y="13"/>
                  </a:cubicBezTo>
                  <a:cubicBezTo>
                    <a:pt x="3" y="8"/>
                    <a:pt x="4" y="5"/>
                    <a:pt x="6" y="3"/>
                  </a:cubicBezTo>
                  <a:cubicBezTo>
                    <a:pt x="9" y="1"/>
                    <a:pt x="12" y="0"/>
                    <a:pt x="14" y="1"/>
                  </a:cubicBezTo>
                  <a:cubicBezTo>
                    <a:pt x="17" y="2"/>
                    <a:pt x="19" y="6"/>
                    <a:pt x="18" y="11"/>
                  </a:cubicBezTo>
                  <a:cubicBezTo>
                    <a:pt x="15" y="11"/>
                    <a:pt x="15" y="11"/>
                    <a:pt x="15" y="11"/>
                  </a:cubicBezTo>
                  <a:cubicBezTo>
                    <a:pt x="16" y="9"/>
                    <a:pt x="15" y="5"/>
                    <a:pt x="13" y="4"/>
                  </a:cubicBezTo>
                  <a:cubicBezTo>
                    <a:pt x="11" y="4"/>
                    <a:pt x="9" y="4"/>
                    <a:pt x="8" y="6"/>
                  </a:cubicBezTo>
                  <a:cubicBezTo>
                    <a:pt x="7" y="7"/>
                    <a:pt x="6" y="10"/>
                    <a:pt x="5" y="14"/>
                  </a:cubicBezTo>
                  <a:cubicBezTo>
                    <a:pt x="4" y="17"/>
                    <a:pt x="3" y="20"/>
                    <a:pt x="4" y="21"/>
                  </a:cubicBezTo>
                  <a:cubicBezTo>
                    <a:pt x="4" y="23"/>
                    <a:pt x="5" y="24"/>
                    <a:pt x="6" y="24"/>
                  </a:cubicBezTo>
                  <a:cubicBezTo>
                    <a:pt x="7" y="25"/>
                    <a:pt x="9" y="25"/>
                    <a:pt x="9" y="24"/>
                  </a:cubicBezTo>
                  <a:cubicBezTo>
                    <a:pt x="10" y="23"/>
                    <a:pt x="11" y="22"/>
                    <a:pt x="12" y="20"/>
                  </a:cubicBezTo>
                  <a:cubicBezTo>
                    <a:pt x="12" y="18"/>
                    <a:pt x="12" y="18"/>
                    <a:pt x="12" y="18"/>
                  </a:cubicBezTo>
                  <a:cubicBezTo>
                    <a:pt x="8" y="17"/>
                    <a:pt x="8" y="17"/>
                    <a:pt x="8" y="17"/>
                  </a:cubicBezTo>
                  <a:cubicBezTo>
                    <a:pt x="9" y="14"/>
                    <a:pt x="9" y="14"/>
                    <a:pt x="9" y="14"/>
                  </a:cubicBezTo>
                  <a:cubicBezTo>
                    <a:pt x="16" y="17"/>
                    <a:pt x="16" y="17"/>
                    <a:pt x="16" y="17"/>
                  </a:cubicBezTo>
                  <a:lnTo>
                    <a:pt x="12"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6" name="Freeform 114"/>
            <p:cNvSpPr/>
            <p:nvPr userDrawn="1"/>
          </p:nvSpPr>
          <p:spPr bwMode="auto">
            <a:xfrm>
              <a:off x="1121" y="962"/>
              <a:ext cx="19" cy="33"/>
            </a:xfrm>
            <a:custGeom>
              <a:avLst/>
              <a:gdLst>
                <a:gd name="T0" fmla="*/ 15 w 15"/>
                <a:gd name="T1" fmla="*/ 19 h 27"/>
                <a:gd name="T2" fmla="*/ 13 w 15"/>
                <a:gd name="T3" fmla="*/ 25 h 27"/>
                <a:gd name="T4" fmla="*/ 7 w 15"/>
                <a:gd name="T5" fmla="*/ 27 h 27"/>
                <a:gd name="T6" fmla="*/ 1 w 15"/>
                <a:gd name="T7" fmla="*/ 25 h 27"/>
                <a:gd name="T8" fmla="*/ 0 w 15"/>
                <a:gd name="T9" fmla="*/ 19 h 27"/>
                <a:gd name="T10" fmla="*/ 0 w 15"/>
                <a:gd name="T11" fmla="*/ 0 h 27"/>
                <a:gd name="T12" fmla="*/ 4 w 15"/>
                <a:gd name="T13" fmla="*/ 0 h 27"/>
                <a:gd name="T14" fmla="*/ 3 w 15"/>
                <a:gd name="T15" fmla="*/ 19 h 27"/>
                <a:gd name="T16" fmla="*/ 4 w 15"/>
                <a:gd name="T17" fmla="*/ 23 h 27"/>
                <a:gd name="T18" fmla="*/ 7 w 15"/>
                <a:gd name="T19" fmla="*/ 24 h 27"/>
                <a:gd name="T20" fmla="*/ 10 w 15"/>
                <a:gd name="T21" fmla="*/ 23 h 27"/>
                <a:gd name="T22" fmla="*/ 11 w 15"/>
                <a:gd name="T23" fmla="*/ 19 h 27"/>
                <a:gd name="T24" fmla="*/ 12 w 15"/>
                <a:gd name="T25" fmla="*/ 0 h 27"/>
                <a:gd name="T26" fmla="*/ 15 w 15"/>
                <a:gd name="T27" fmla="*/ 0 h 27"/>
                <a:gd name="T28" fmla="*/ 15 w 15"/>
                <a:gd name="T29"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7">
                  <a:moveTo>
                    <a:pt x="15" y="19"/>
                  </a:moveTo>
                  <a:cubicBezTo>
                    <a:pt x="15" y="22"/>
                    <a:pt x="14" y="24"/>
                    <a:pt x="13" y="25"/>
                  </a:cubicBezTo>
                  <a:cubicBezTo>
                    <a:pt x="11" y="27"/>
                    <a:pt x="10" y="27"/>
                    <a:pt x="7" y="27"/>
                  </a:cubicBezTo>
                  <a:cubicBezTo>
                    <a:pt x="4" y="27"/>
                    <a:pt x="2" y="26"/>
                    <a:pt x="1" y="25"/>
                  </a:cubicBezTo>
                  <a:cubicBezTo>
                    <a:pt x="0" y="23"/>
                    <a:pt x="0" y="21"/>
                    <a:pt x="0" y="19"/>
                  </a:cubicBezTo>
                  <a:cubicBezTo>
                    <a:pt x="0" y="0"/>
                    <a:pt x="0" y="0"/>
                    <a:pt x="0" y="0"/>
                  </a:cubicBezTo>
                  <a:cubicBezTo>
                    <a:pt x="4" y="0"/>
                    <a:pt x="4" y="0"/>
                    <a:pt x="4" y="0"/>
                  </a:cubicBezTo>
                  <a:cubicBezTo>
                    <a:pt x="3" y="19"/>
                    <a:pt x="3" y="19"/>
                    <a:pt x="3" y="19"/>
                  </a:cubicBezTo>
                  <a:cubicBezTo>
                    <a:pt x="3" y="21"/>
                    <a:pt x="3" y="22"/>
                    <a:pt x="4" y="23"/>
                  </a:cubicBezTo>
                  <a:cubicBezTo>
                    <a:pt x="5" y="24"/>
                    <a:pt x="6" y="24"/>
                    <a:pt x="7" y="24"/>
                  </a:cubicBezTo>
                  <a:cubicBezTo>
                    <a:pt x="8" y="24"/>
                    <a:pt x="9" y="24"/>
                    <a:pt x="10" y="23"/>
                  </a:cubicBezTo>
                  <a:cubicBezTo>
                    <a:pt x="11" y="22"/>
                    <a:pt x="11" y="21"/>
                    <a:pt x="11" y="19"/>
                  </a:cubicBezTo>
                  <a:cubicBezTo>
                    <a:pt x="12" y="0"/>
                    <a:pt x="12" y="0"/>
                    <a:pt x="12" y="0"/>
                  </a:cubicBezTo>
                  <a:cubicBezTo>
                    <a:pt x="15" y="0"/>
                    <a:pt x="15" y="0"/>
                    <a:pt x="15" y="0"/>
                  </a:cubicBezTo>
                  <a:lnTo>
                    <a:pt x="15" y="1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7" name="Freeform 115"/>
            <p:cNvSpPr/>
            <p:nvPr userDrawn="1"/>
          </p:nvSpPr>
          <p:spPr bwMode="auto">
            <a:xfrm>
              <a:off x="1142" y="959"/>
              <a:ext cx="21" cy="36"/>
            </a:xfrm>
            <a:custGeom>
              <a:avLst/>
              <a:gdLst>
                <a:gd name="T0" fmla="*/ 21 w 21"/>
                <a:gd name="T1" fmla="*/ 33 h 36"/>
                <a:gd name="T2" fmla="*/ 17 w 21"/>
                <a:gd name="T3" fmla="*/ 34 h 36"/>
                <a:gd name="T4" fmla="*/ 5 w 21"/>
                <a:gd name="T5" fmla="*/ 11 h 36"/>
                <a:gd name="T6" fmla="*/ 8 w 21"/>
                <a:gd name="T7" fmla="*/ 35 h 36"/>
                <a:gd name="T8" fmla="*/ 3 w 21"/>
                <a:gd name="T9" fmla="*/ 36 h 36"/>
                <a:gd name="T10" fmla="*/ 0 w 21"/>
                <a:gd name="T11" fmla="*/ 3 h 36"/>
                <a:gd name="T12" fmla="*/ 5 w 21"/>
                <a:gd name="T13" fmla="*/ 1 h 36"/>
                <a:gd name="T14" fmla="*/ 15 w 21"/>
                <a:gd name="T15" fmla="*/ 18 h 36"/>
                <a:gd name="T16" fmla="*/ 12 w 21"/>
                <a:gd name="T17" fmla="*/ 0 h 36"/>
                <a:gd name="T18" fmla="*/ 16 w 21"/>
                <a:gd name="T19" fmla="*/ 0 h 36"/>
                <a:gd name="T20" fmla="*/ 21 w 21"/>
                <a:gd name="T21" fmla="*/ 3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36">
                  <a:moveTo>
                    <a:pt x="21" y="33"/>
                  </a:moveTo>
                  <a:lnTo>
                    <a:pt x="17" y="34"/>
                  </a:lnTo>
                  <a:lnTo>
                    <a:pt x="5" y="11"/>
                  </a:lnTo>
                  <a:lnTo>
                    <a:pt x="8" y="35"/>
                  </a:lnTo>
                  <a:lnTo>
                    <a:pt x="3" y="36"/>
                  </a:lnTo>
                  <a:lnTo>
                    <a:pt x="0" y="3"/>
                  </a:lnTo>
                  <a:lnTo>
                    <a:pt x="5" y="1"/>
                  </a:lnTo>
                  <a:lnTo>
                    <a:pt x="15" y="18"/>
                  </a:lnTo>
                  <a:lnTo>
                    <a:pt x="12" y="0"/>
                  </a:lnTo>
                  <a:lnTo>
                    <a:pt x="16" y="0"/>
                  </a:lnTo>
                  <a:lnTo>
                    <a:pt x="21" y="3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8" name="Freeform 116"/>
            <p:cNvSpPr/>
            <p:nvPr userDrawn="1"/>
          </p:nvSpPr>
          <p:spPr bwMode="auto">
            <a:xfrm>
              <a:off x="1162" y="957"/>
              <a:ext cx="14" cy="33"/>
            </a:xfrm>
            <a:custGeom>
              <a:avLst/>
              <a:gdLst>
                <a:gd name="T0" fmla="*/ 14 w 14"/>
                <a:gd name="T1" fmla="*/ 31 h 33"/>
                <a:gd name="T2" fmla="*/ 9 w 14"/>
                <a:gd name="T3" fmla="*/ 33 h 33"/>
                <a:gd name="T4" fmla="*/ 0 w 14"/>
                <a:gd name="T5" fmla="*/ 1 h 33"/>
                <a:gd name="T6" fmla="*/ 4 w 14"/>
                <a:gd name="T7" fmla="*/ 0 h 33"/>
                <a:gd name="T8" fmla="*/ 14 w 14"/>
                <a:gd name="T9" fmla="*/ 31 h 33"/>
              </a:gdLst>
              <a:ahLst/>
              <a:cxnLst>
                <a:cxn ang="0">
                  <a:pos x="T0" y="T1"/>
                </a:cxn>
                <a:cxn ang="0">
                  <a:pos x="T2" y="T3"/>
                </a:cxn>
                <a:cxn ang="0">
                  <a:pos x="T4" y="T5"/>
                </a:cxn>
                <a:cxn ang="0">
                  <a:pos x="T6" y="T7"/>
                </a:cxn>
                <a:cxn ang="0">
                  <a:pos x="T8" y="T9"/>
                </a:cxn>
              </a:cxnLst>
              <a:rect l="0" t="0" r="r" b="b"/>
              <a:pathLst>
                <a:path w="14" h="33">
                  <a:moveTo>
                    <a:pt x="14" y="31"/>
                  </a:moveTo>
                  <a:lnTo>
                    <a:pt x="9" y="33"/>
                  </a:lnTo>
                  <a:lnTo>
                    <a:pt x="0" y="1"/>
                  </a:lnTo>
                  <a:lnTo>
                    <a:pt x="4" y="0"/>
                  </a:lnTo>
                  <a:lnTo>
                    <a:pt x="14" y="3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19" name="Freeform 117"/>
            <p:cNvSpPr/>
            <p:nvPr userDrawn="1"/>
          </p:nvSpPr>
          <p:spPr bwMode="auto">
            <a:xfrm>
              <a:off x="1169" y="948"/>
              <a:ext cx="23" cy="37"/>
            </a:xfrm>
            <a:custGeom>
              <a:avLst/>
              <a:gdLst>
                <a:gd name="T0" fmla="*/ 18 w 23"/>
                <a:gd name="T1" fmla="*/ 0 h 37"/>
                <a:gd name="T2" fmla="*/ 23 w 23"/>
                <a:gd name="T3" fmla="*/ 35 h 37"/>
                <a:gd name="T4" fmla="*/ 19 w 23"/>
                <a:gd name="T5" fmla="*/ 37 h 37"/>
                <a:gd name="T6" fmla="*/ 0 w 23"/>
                <a:gd name="T7" fmla="*/ 7 h 37"/>
                <a:gd name="T8" fmla="*/ 4 w 23"/>
                <a:gd name="T9" fmla="*/ 6 h 37"/>
                <a:gd name="T10" fmla="*/ 18 w 23"/>
                <a:gd name="T11" fmla="*/ 26 h 37"/>
                <a:gd name="T12" fmla="*/ 14 w 23"/>
                <a:gd name="T13" fmla="*/ 1 h 37"/>
                <a:gd name="T14" fmla="*/ 18 w 23"/>
                <a:gd name="T15" fmla="*/ 0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7">
                  <a:moveTo>
                    <a:pt x="18" y="0"/>
                  </a:moveTo>
                  <a:lnTo>
                    <a:pt x="23" y="35"/>
                  </a:lnTo>
                  <a:lnTo>
                    <a:pt x="19" y="37"/>
                  </a:lnTo>
                  <a:lnTo>
                    <a:pt x="0" y="7"/>
                  </a:lnTo>
                  <a:lnTo>
                    <a:pt x="4" y="6"/>
                  </a:lnTo>
                  <a:lnTo>
                    <a:pt x="18" y="26"/>
                  </a:lnTo>
                  <a:lnTo>
                    <a:pt x="14" y="1"/>
                  </a:lnTo>
                  <a:lnTo>
                    <a:pt x="18"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0" name="Freeform 118"/>
            <p:cNvSpPr/>
            <p:nvPr userDrawn="1"/>
          </p:nvSpPr>
          <p:spPr bwMode="auto">
            <a:xfrm>
              <a:off x="1188" y="939"/>
              <a:ext cx="33" cy="38"/>
            </a:xfrm>
            <a:custGeom>
              <a:avLst/>
              <a:gdLst>
                <a:gd name="T0" fmla="*/ 33 w 33"/>
                <a:gd name="T1" fmla="*/ 29 h 38"/>
                <a:gd name="T2" fmla="*/ 17 w 33"/>
                <a:gd name="T3" fmla="*/ 38 h 38"/>
                <a:gd name="T4" fmla="*/ 0 w 33"/>
                <a:gd name="T5" fmla="*/ 8 h 38"/>
                <a:gd name="T6" fmla="*/ 15 w 33"/>
                <a:gd name="T7" fmla="*/ 0 h 38"/>
                <a:gd name="T8" fmla="*/ 17 w 33"/>
                <a:gd name="T9" fmla="*/ 3 h 38"/>
                <a:gd name="T10" fmla="*/ 6 w 33"/>
                <a:gd name="T11" fmla="*/ 9 h 38"/>
                <a:gd name="T12" fmla="*/ 11 w 33"/>
                <a:gd name="T13" fmla="*/ 19 h 38"/>
                <a:gd name="T14" fmla="*/ 22 w 33"/>
                <a:gd name="T15" fmla="*/ 13 h 38"/>
                <a:gd name="T16" fmla="*/ 23 w 33"/>
                <a:gd name="T17" fmla="*/ 16 h 38"/>
                <a:gd name="T18" fmla="*/ 14 w 33"/>
                <a:gd name="T19" fmla="*/ 21 h 38"/>
                <a:gd name="T20" fmla="*/ 20 w 33"/>
                <a:gd name="T21" fmla="*/ 33 h 38"/>
                <a:gd name="T22" fmla="*/ 31 w 33"/>
                <a:gd name="T23" fmla="*/ 25 h 38"/>
                <a:gd name="T24" fmla="*/ 33 w 33"/>
                <a:gd name="T25" fmla="*/ 2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8">
                  <a:moveTo>
                    <a:pt x="33" y="29"/>
                  </a:moveTo>
                  <a:lnTo>
                    <a:pt x="17" y="38"/>
                  </a:lnTo>
                  <a:lnTo>
                    <a:pt x="0" y="8"/>
                  </a:lnTo>
                  <a:lnTo>
                    <a:pt x="15" y="0"/>
                  </a:lnTo>
                  <a:lnTo>
                    <a:pt x="17" y="3"/>
                  </a:lnTo>
                  <a:lnTo>
                    <a:pt x="6" y="9"/>
                  </a:lnTo>
                  <a:lnTo>
                    <a:pt x="11" y="19"/>
                  </a:lnTo>
                  <a:lnTo>
                    <a:pt x="22" y="13"/>
                  </a:lnTo>
                  <a:lnTo>
                    <a:pt x="23" y="16"/>
                  </a:lnTo>
                  <a:lnTo>
                    <a:pt x="14" y="21"/>
                  </a:lnTo>
                  <a:lnTo>
                    <a:pt x="20" y="33"/>
                  </a:lnTo>
                  <a:lnTo>
                    <a:pt x="31" y="25"/>
                  </a:lnTo>
                  <a:lnTo>
                    <a:pt x="33" y="29"/>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1" name="Freeform 119"/>
            <p:cNvSpPr>
              <a:spLocks noEditPoints="1"/>
            </p:cNvSpPr>
            <p:nvPr userDrawn="1"/>
          </p:nvSpPr>
          <p:spPr bwMode="auto">
            <a:xfrm>
              <a:off x="1205" y="931"/>
              <a:ext cx="34" cy="34"/>
            </a:xfrm>
            <a:custGeom>
              <a:avLst/>
              <a:gdLst>
                <a:gd name="T0" fmla="*/ 27 w 27"/>
                <a:gd name="T1" fmla="*/ 20 h 28"/>
                <a:gd name="T2" fmla="*/ 24 w 27"/>
                <a:gd name="T3" fmla="*/ 22 h 28"/>
                <a:gd name="T4" fmla="*/ 15 w 27"/>
                <a:gd name="T5" fmla="*/ 14 h 28"/>
                <a:gd name="T6" fmla="*/ 12 w 27"/>
                <a:gd name="T7" fmla="*/ 17 h 28"/>
                <a:gd name="T8" fmla="*/ 19 w 27"/>
                <a:gd name="T9" fmla="*/ 26 h 28"/>
                <a:gd name="T10" fmla="*/ 16 w 27"/>
                <a:gd name="T11" fmla="*/ 28 h 28"/>
                <a:gd name="T12" fmla="*/ 0 w 27"/>
                <a:gd name="T13" fmla="*/ 6 h 28"/>
                <a:gd name="T14" fmla="*/ 5 w 27"/>
                <a:gd name="T15" fmla="*/ 2 h 28"/>
                <a:gd name="T16" fmla="*/ 11 w 27"/>
                <a:gd name="T17" fmla="*/ 0 h 28"/>
                <a:gd name="T18" fmla="*/ 18 w 27"/>
                <a:gd name="T19" fmla="*/ 8 h 28"/>
                <a:gd name="T20" fmla="*/ 17 w 27"/>
                <a:gd name="T21" fmla="*/ 12 h 28"/>
                <a:gd name="T22" fmla="*/ 27 w 27"/>
                <a:gd name="T23" fmla="*/ 20 h 28"/>
                <a:gd name="T24" fmla="*/ 10 w 27"/>
                <a:gd name="T25" fmla="*/ 4 h 28"/>
                <a:gd name="T26" fmla="*/ 5 w 27"/>
                <a:gd name="T27" fmla="*/ 6 h 28"/>
                <a:gd name="T28" fmla="*/ 10 w 27"/>
                <a:gd name="T29" fmla="*/ 13 h 28"/>
                <a:gd name="T30" fmla="*/ 14 w 27"/>
                <a:gd name="T31" fmla="*/ 10 h 28"/>
                <a:gd name="T32" fmla="*/ 10 w 27"/>
                <a:gd name="T33"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8">
                  <a:moveTo>
                    <a:pt x="27" y="20"/>
                  </a:moveTo>
                  <a:cubicBezTo>
                    <a:pt x="24" y="22"/>
                    <a:pt x="24" y="22"/>
                    <a:pt x="24" y="22"/>
                  </a:cubicBezTo>
                  <a:cubicBezTo>
                    <a:pt x="15" y="14"/>
                    <a:pt x="15" y="14"/>
                    <a:pt x="15" y="14"/>
                  </a:cubicBezTo>
                  <a:cubicBezTo>
                    <a:pt x="12" y="17"/>
                    <a:pt x="12" y="17"/>
                    <a:pt x="12" y="17"/>
                  </a:cubicBezTo>
                  <a:cubicBezTo>
                    <a:pt x="19" y="26"/>
                    <a:pt x="19" y="26"/>
                    <a:pt x="19" y="26"/>
                  </a:cubicBezTo>
                  <a:cubicBezTo>
                    <a:pt x="16" y="28"/>
                    <a:pt x="16" y="28"/>
                    <a:pt x="16" y="28"/>
                  </a:cubicBezTo>
                  <a:cubicBezTo>
                    <a:pt x="0" y="6"/>
                    <a:pt x="0" y="6"/>
                    <a:pt x="0" y="6"/>
                  </a:cubicBezTo>
                  <a:cubicBezTo>
                    <a:pt x="5" y="2"/>
                    <a:pt x="5" y="2"/>
                    <a:pt x="5" y="2"/>
                  </a:cubicBezTo>
                  <a:cubicBezTo>
                    <a:pt x="7" y="1"/>
                    <a:pt x="9" y="0"/>
                    <a:pt x="11" y="0"/>
                  </a:cubicBezTo>
                  <a:cubicBezTo>
                    <a:pt x="16" y="1"/>
                    <a:pt x="18" y="4"/>
                    <a:pt x="18" y="8"/>
                  </a:cubicBezTo>
                  <a:cubicBezTo>
                    <a:pt x="18" y="9"/>
                    <a:pt x="18" y="11"/>
                    <a:pt x="17" y="12"/>
                  </a:cubicBezTo>
                  <a:lnTo>
                    <a:pt x="27" y="20"/>
                  </a:lnTo>
                  <a:close/>
                  <a:moveTo>
                    <a:pt x="10" y="4"/>
                  </a:moveTo>
                  <a:cubicBezTo>
                    <a:pt x="8" y="3"/>
                    <a:pt x="6" y="5"/>
                    <a:pt x="5" y="6"/>
                  </a:cubicBezTo>
                  <a:cubicBezTo>
                    <a:pt x="10" y="13"/>
                    <a:pt x="10" y="13"/>
                    <a:pt x="10" y="13"/>
                  </a:cubicBezTo>
                  <a:cubicBezTo>
                    <a:pt x="12" y="12"/>
                    <a:pt x="12" y="12"/>
                    <a:pt x="14" y="10"/>
                  </a:cubicBezTo>
                  <a:cubicBezTo>
                    <a:pt x="14" y="7"/>
                    <a:pt x="13" y="5"/>
                    <a:pt x="10" y="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2" name="Freeform 120"/>
            <p:cNvSpPr/>
            <p:nvPr userDrawn="1"/>
          </p:nvSpPr>
          <p:spPr bwMode="auto">
            <a:xfrm>
              <a:off x="1223" y="916"/>
              <a:ext cx="34" cy="29"/>
            </a:xfrm>
            <a:custGeom>
              <a:avLst/>
              <a:gdLst>
                <a:gd name="T0" fmla="*/ 22 w 28"/>
                <a:gd name="T1" fmla="*/ 10 h 24"/>
                <a:gd name="T2" fmla="*/ 19 w 28"/>
                <a:gd name="T3" fmla="*/ 24 h 24"/>
                <a:gd name="T4" fmla="*/ 14 w 28"/>
                <a:gd name="T5" fmla="*/ 23 h 24"/>
                <a:gd name="T6" fmla="*/ 15 w 28"/>
                <a:gd name="T7" fmla="*/ 20 h 24"/>
                <a:gd name="T8" fmla="*/ 18 w 28"/>
                <a:gd name="T9" fmla="*/ 21 h 24"/>
                <a:gd name="T10" fmla="*/ 20 w 28"/>
                <a:gd name="T11" fmla="*/ 13 h 24"/>
                <a:gd name="T12" fmla="*/ 17 w 28"/>
                <a:gd name="T13" fmla="*/ 12 h 24"/>
                <a:gd name="T14" fmla="*/ 8 w 28"/>
                <a:gd name="T15" fmla="*/ 15 h 24"/>
                <a:gd name="T16" fmla="*/ 0 w 28"/>
                <a:gd name="T17" fmla="*/ 9 h 24"/>
                <a:gd name="T18" fmla="*/ 2 w 28"/>
                <a:gd name="T19" fmla="*/ 4 h 24"/>
                <a:gd name="T20" fmla="*/ 11 w 28"/>
                <a:gd name="T21" fmla="*/ 2 h 24"/>
                <a:gd name="T22" fmla="*/ 10 w 28"/>
                <a:gd name="T23" fmla="*/ 5 h 24"/>
                <a:gd name="T24" fmla="*/ 4 w 28"/>
                <a:gd name="T25" fmla="*/ 6 h 24"/>
                <a:gd name="T26" fmla="*/ 3 w 28"/>
                <a:gd name="T27" fmla="*/ 9 h 24"/>
                <a:gd name="T28" fmla="*/ 7 w 28"/>
                <a:gd name="T29" fmla="*/ 12 h 24"/>
                <a:gd name="T30" fmla="*/ 17 w 28"/>
                <a:gd name="T31" fmla="*/ 9 h 24"/>
                <a:gd name="T32" fmla="*/ 22 w 28"/>
                <a:gd name="T33" fmla="*/ 1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 h="24">
                  <a:moveTo>
                    <a:pt x="22" y="10"/>
                  </a:moveTo>
                  <a:cubicBezTo>
                    <a:pt x="28" y="13"/>
                    <a:pt x="26" y="23"/>
                    <a:pt x="19" y="24"/>
                  </a:cubicBezTo>
                  <a:cubicBezTo>
                    <a:pt x="17" y="24"/>
                    <a:pt x="15" y="24"/>
                    <a:pt x="14" y="23"/>
                  </a:cubicBezTo>
                  <a:cubicBezTo>
                    <a:pt x="15" y="20"/>
                    <a:pt x="15" y="20"/>
                    <a:pt x="15" y="20"/>
                  </a:cubicBezTo>
                  <a:cubicBezTo>
                    <a:pt x="16" y="21"/>
                    <a:pt x="17" y="21"/>
                    <a:pt x="18" y="21"/>
                  </a:cubicBezTo>
                  <a:cubicBezTo>
                    <a:pt x="23" y="20"/>
                    <a:pt x="23" y="15"/>
                    <a:pt x="20" y="13"/>
                  </a:cubicBezTo>
                  <a:cubicBezTo>
                    <a:pt x="19" y="12"/>
                    <a:pt x="18" y="12"/>
                    <a:pt x="17" y="12"/>
                  </a:cubicBezTo>
                  <a:cubicBezTo>
                    <a:pt x="13" y="13"/>
                    <a:pt x="11" y="15"/>
                    <a:pt x="8" y="15"/>
                  </a:cubicBezTo>
                  <a:cubicBezTo>
                    <a:pt x="4" y="15"/>
                    <a:pt x="1" y="13"/>
                    <a:pt x="0" y="9"/>
                  </a:cubicBezTo>
                  <a:cubicBezTo>
                    <a:pt x="0" y="7"/>
                    <a:pt x="1" y="5"/>
                    <a:pt x="2" y="4"/>
                  </a:cubicBezTo>
                  <a:cubicBezTo>
                    <a:pt x="4" y="0"/>
                    <a:pt x="8" y="0"/>
                    <a:pt x="11" y="2"/>
                  </a:cubicBezTo>
                  <a:cubicBezTo>
                    <a:pt x="10" y="5"/>
                    <a:pt x="10" y="5"/>
                    <a:pt x="10" y="5"/>
                  </a:cubicBezTo>
                  <a:cubicBezTo>
                    <a:pt x="8" y="4"/>
                    <a:pt x="5" y="4"/>
                    <a:pt x="4" y="6"/>
                  </a:cubicBezTo>
                  <a:cubicBezTo>
                    <a:pt x="3" y="7"/>
                    <a:pt x="3" y="8"/>
                    <a:pt x="3" y="9"/>
                  </a:cubicBezTo>
                  <a:cubicBezTo>
                    <a:pt x="4" y="11"/>
                    <a:pt x="5" y="12"/>
                    <a:pt x="7" y="12"/>
                  </a:cubicBezTo>
                  <a:cubicBezTo>
                    <a:pt x="11" y="11"/>
                    <a:pt x="13" y="8"/>
                    <a:pt x="17" y="9"/>
                  </a:cubicBezTo>
                  <a:cubicBezTo>
                    <a:pt x="18" y="9"/>
                    <a:pt x="20" y="9"/>
                    <a:pt x="22" y="1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3" name="Freeform 121"/>
            <p:cNvSpPr/>
            <p:nvPr userDrawn="1"/>
          </p:nvSpPr>
          <p:spPr bwMode="auto">
            <a:xfrm>
              <a:off x="1234" y="906"/>
              <a:ext cx="31" cy="21"/>
            </a:xfrm>
            <a:custGeom>
              <a:avLst/>
              <a:gdLst>
                <a:gd name="T0" fmla="*/ 31 w 31"/>
                <a:gd name="T1" fmla="*/ 17 h 21"/>
                <a:gd name="T2" fmla="*/ 28 w 31"/>
                <a:gd name="T3" fmla="*/ 21 h 21"/>
                <a:gd name="T4" fmla="*/ 0 w 31"/>
                <a:gd name="T5" fmla="*/ 2 h 21"/>
                <a:gd name="T6" fmla="*/ 2 w 31"/>
                <a:gd name="T7" fmla="*/ 0 h 21"/>
                <a:gd name="T8" fmla="*/ 31 w 31"/>
                <a:gd name="T9" fmla="*/ 17 h 21"/>
              </a:gdLst>
              <a:ahLst/>
              <a:cxnLst>
                <a:cxn ang="0">
                  <a:pos x="T0" y="T1"/>
                </a:cxn>
                <a:cxn ang="0">
                  <a:pos x="T2" y="T3"/>
                </a:cxn>
                <a:cxn ang="0">
                  <a:pos x="T4" y="T5"/>
                </a:cxn>
                <a:cxn ang="0">
                  <a:pos x="T6" y="T7"/>
                </a:cxn>
                <a:cxn ang="0">
                  <a:pos x="T8" y="T9"/>
                </a:cxn>
              </a:cxnLst>
              <a:rect l="0" t="0" r="r" b="b"/>
              <a:pathLst>
                <a:path w="31" h="21">
                  <a:moveTo>
                    <a:pt x="31" y="17"/>
                  </a:moveTo>
                  <a:lnTo>
                    <a:pt x="28" y="21"/>
                  </a:lnTo>
                  <a:lnTo>
                    <a:pt x="0" y="2"/>
                  </a:lnTo>
                  <a:lnTo>
                    <a:pt x="2" y="0"/>
                  </a:lnTo>
                  <a:lnTo>
                    <a:pt x="31" y="17"/>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4" name="Freeform 122"/>
            <p:cNvSpPr/>
            <p:nvPr userDrawn="1"/>
          </p:nvSpPr>
          <p:spPr bwMode="auto">
            <a:xfrm>
              <a:off x="1239" y="884"/>
              <a:ext cx="36" cy="28"/>
            </a:xfrm>
            <a:custGeom>
              <a:avLst/>
              <a:gdLst>
                <a:gd name="T0" fmla="*/ 11 w 36"/>
                <a:gd name="T1" fmla="*/ 3 h 28"/>
                <a:gd name="T2" fmla="*/ 8 w 36"/>
                <a:gd name="T3" fmla="*/ 9 h 28"/>
                <a:gd name="T4" fmla="*/ 36 w 36"/>
                <a:gd name="T5" fmla="*/ 25 h 28"/>
                <a:gd name="T6" fmla="*/ 33 w 36"/>
                <a:gd name="T7" fmla="*/ 28 h 28"/>
                <a:gd name="T8" fmla="*/ 6 w 36"/>
                <a:gd name="T9" fmla="*/ 13 h 28"/>
                <a:gd name="T10" fmla="*/ 3 w 36"/>
                <a:gd name="T11" fmla="*/ 18 h 28"/>
                <a:gd name="T12" fmla="*/ 0 w 36"/>
                <a:gd name="T13" fmla="*/ 17 h 28"/>
                <a:gd name="T14" fmla="*/ 7 w 36"/>
                <a:gd name="T15" fmla="*/ 0 h 28"/>
                <a:gd name="T16" fmla="*/ 11 w 36"/>
                <a:gd name="T17"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28">
                  <a:moveTo>
                    <a:pt x="11" y="3"/>
                  </a:moveTo>
                  <a:lnTo>
                    <a:pt x="8" y="9"/>
                  </a:lnTo>
                  <a:lnTo>
                    <a:pt x="36" y="25"/>
                  </a:lnTo>
                  <a:lnTo>
                    <a:pt x="33" y="28"/>
                  </a:lnTo>
                  <a:lnTo>
                    <a:pt x="6" y="13"/>
                  </a:lnTo>
                  <a:lnTo>
                    <a:pt x="3" y="18"/>
                  </a:lnTo>
                  <a:lnTo>
                    <a:pt x="0" y="17"/>
                  </a:lnTo>
                  <a:lnTo>
                    <a:pt x="7" y="0"/>
                  </a:lnTo>
                  <a:lnTo>
                    <a:pt x="11" y="3"/>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5" name="Freeform 123"/>
            <p:cNvSpPr/>
            <p:nvPr userDrawn="1"/>
          </p:nvSpPr>
          <p:spPr bwMode="auto">
            <a:xfrm>
              <a:off x="1247" y="865"/>
              <a:ext cx="36" cy="23"/>
            </a:xfrm>
            <a:custGeom>
              <a:avLst/>
              <a:gdLst>
                <a:gd name="T0" fmla="*/ 8 w 36"/>
                <a:gd name="T1" fmla="*/ 0 h 23"/>
                <a:gd name="T2" fmla="*/ 25 w 36"/>
                <a:gd name="T3" fmla="*/ 14 h 23"/>
                <a:gd name="T4" fmla="*/ 36 w 36"/>
                <a:gd name="T5" fmla="*/ 19 h 23"/>
                <a:gd name="T6" fmla="*/ 34 w 36"/>
                <a:gd name="T7" fmla="*/ 23 h 23"/>
                <a:gd name="T8" fmla="*/ 24 w 36"/>
                <a:gd name="T9" fmla="*/ 18 h 23"/>
                <a:gd name="T10" fmla="*/ 0 w 36"/>
                <a:gd name="T11" fmla="*/ 18 h 23"/>
                <a:gd name="T12" fmla="*/ 2 w 36"/>
                <a:gd name="T13" fmla="*/ 14 h 23"/>
                <a:gd name="T14" fmla="*/ 18 w 36"/>
                <a:gd name="T15" fmla="*/ 14 h 23"/>
                <a:gd name="T16" fmla="*/ 7 w 36"/>
                <a:gd name="T17" fmla="*/ 5 h 23"/>
                <a:gd name="T18" fmla="*/ 8 w 36"/>
                <a:gd name="T1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23">
                  <a:moveTo>
                    <a:pt x="8" y="0"/>
                  </a:moveTo>
                  <a:lnTo>
                    <a:pt x="25" y="14"/>
                  </a:lnTo>
                  <a:lnTo>
                    <a:pt x="36" y="19"/>
                  </a:lnTo>
                  <a:lnTo>
                    <a:pt x="34" y="23"/>
                  </a:lnTo>
                  <a:lnTo>
                    <a:pt x="24" y="18"/>
                  </a:lnTo>
                  <a:lnTo>
                    <a:pt x="0" y="18"/>
                  </a:lnTo>
                  <a:lnTo>
                    <a:pt x="2" y="14"/>
                  </a:lnTo>
                  <a:lnTo>
                    <a:pt x="18" y="14"/>
                  </a:lnTo>
                  <a:lnTo>
                    <a:pt x="7" y="5"/>
                  </a:lnTo>
                  <a:lnTo>
                    <a:pt x="8" y="0"/>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6" name="Freeform 124"/>
            <p:cNvSpPr/>
            <p:nvPr userDrawn="1"/>
          </p:nvSpPr>
          <p:spPr bwMode="auto">
            <a:xfrm>
              <a:off x="1010" y="928"/>
              <a:ext cx="34" cy="25"/>
            </a:xfrm>
            <a:custGeom>
              <a:avLst/>
              <a:gdLst>
                <a:gd name="T0" fmla="*/ 14 w 28"/>
                <a:gd name="T1" fmla="*/ 16 h 20"/>
                <a:gd name="T2" fmla="*/ 8 w 28"/>
                <a:gd name="T3" fmla="*/ 20 h 20"/>
                <a:gd name="T4" fmla="*/ 2 w 28"/>
                <a:gd name="T5" fmla="*/ 17 h 20"/>
                <a:gd name="T6" fmla="*/ 0 w 28"/>
                <a:gd name="T7" fmla="*/ 12 h 20"/>
                <a:gd name="T8" fmla="*/ 1 w 28"/>
                <a:gd name="T9" fmla="*/ 9 h 20"/>
                <a:gd name="T10" fmla="*/ 4 w 28"/>
                <a:gd name="T11" fmla="*/ 10 h 20"/>
                <a:gd name="T12" fmla="*/ 3 w 28"/>
                <a:gd name="T13" fmla="*/ 12 h 20"/>
                <a:gd name="T14" fmla="*/ 4 w 28"/>
                <a:gd name="T15" fmla="*/ 15 h 20"/>
                <a:gd name="T16" fmla="*/ 8 w 28"/>
                <a:gd name="T17" fmla="*/ 16 h 20"/>
                <a:gd name="T18" fmla="*/ 12 w 28"/>
                <a:gd name="T19" fmla="*/ 14 h 20"/>
                <a:gd name="T20" fmla="*/ 25 w 28"/>
                <a:gd name="T21" fmla="*/ 0 h 20"/>
                <a:gd name="T22" fmla="*/ 28 w 28"/>
                <a:gd name="T23" fmla="*/ 3 h 20"/>
                <a:gd name="T24" fmla="*/ 14 w 28"/>
                <a:gd name="T25"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 h="20">
                  <a:moveTo>
                    <a:pt x="14" y="16"/>
                  </a:moveTo>
                  <a:cubicBezTo>
                    <a:pt x="12" y="18"/>
                    <a:pt x="10" y="20"/>
                    <a:pt x="8" y="20"/>
                  </a:cubicBezTo>
                  <a:cubicBezTo>
                    <a:pt x="6" y="20"/>
                    <a:pt x="4" y="19"/>
                    <a:pt x="2" y="17"/>
                  </a:cubicBezTo>
                  <a:cubicBezTo>
                    <a:pt x="1" y="16"/>
                    <a:pt x="0" y="14"/>
                    <a:pt x="0" y="12"/>
                  </a:cubicBezTo>
                  <a:cubicBezTo>
                    <a:pt x="0" y="11"/>
                    <a:pt x="0" y="10"/>
                    <a:pt x="1" y="9"/>
                  </a:cubicBezTo>
                  <a:cubicBezTo>
                    <a:pt x="4" y="10"/>
                    <a:pt x="4" y="10"/>
                    <a:pt x="4" y="10"/>
                  </a:cubicBezTo>
                  <a:cubicBezTo>
                    <a:pt x="3" y="11"/>
                    <a:pt x="3" y="11"/>
                    <a:pt x="3" y="12"/>
                  </a:cubicBezTo>
                  <a:cubicBezTo>
                    <a:pt x="3" y="13"/>
                    <a:pt x="4" y="14"/>
                    <a:pt x="4" y="15"/>
                  </a:cubicBezTo>
                  <a:cubicBezTo>
                    <a:pt x="5" y="16"/>
                    <a:pt x="6" y="16"/>
                    <a:pt x="8" y="16"/>
                  </a:cubicBezTo>
                  <a:cubicBezTo>
                    <a:pt x="9" y="16"/>
                    <a:pt x="10" y="15"/>
                    <a:pt x="12" y="14"/>
                  </a:cubicBezTo>
                  <a:cubicBezTo>
                    <a:pt x="25" y="0"/>
                    <a:pt x="25" y="0"/>
                    <a:pt x="25" y="0"/>
                  </a:cubicBezTo>
                  <a:cubicBezTo>
                    <a:pt x="28" y="3"/>
                    <a:pt x="28" y="3"/>
                    <a:pt x="28" y="3"/>
                  </a:cubicBezTo>
                  <a:lnTo>
                    <a:pt x="14" y="16"/>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7" name="Freeform 125"/>
            <p:cNvSpPr>
              <a:spLocks noEditPoints="1"/>
            </p:cNvSpPr>
            <p:nvPr userDrawn="1"/>
          </p:nvSpPr>
          <p:spPr bwMode="auto">
            <a:xfrm>
              <a:off x="1073" y="917"/>
              <a:ext cx="106" cy="33"/>
            </a:xfrm>
            <a:custGeom>
              <a:avLst/>
              <a:gdLst>
                <a:gd name="T0" fmla="*/ 0 w 86"/>
                <a:gd name="T1" fmla="*/ 15 h 27"/>
                <a:gd name="T2" fmla="*/ 4 w 86"/>
                <a:gd name="T3" fmla="*/ 15 h 27"/>
                <a:gd name="T4" fmla="*/ 6 w 86"/>
                <a:gd name="T5" fmla="*/ 3 h 27"/>
                <a:gd name="T6" fmla="*/ 10 w 86"/>
                <a:gd name="T7" fmla="*/ 3 h 27"/>
                <a:gd name="T8" fmla="*/ 14 w 86"/>
                <a:gd name="T9" fmla="*/ 4 h 27"/>
                <a:gd name="T10" fmla="*/ 10 w 86"/>
                <a:gd name="T11" fmla="*/ 19 h 27"/>
                <a:gd name="T12" fmla="*/ 37 w 86"/>
                <a:gd name="T13" fmla="*/ 14 h 27"/>
                <a:gd name="T14" fmla="*/ 33 w 86"/>
                <a:gd name="T15" fmla="*/ 11 h 27"/>
                <a:gd name="T16" fmla="*/ 28 w 86"/>
                <a:gd name="T17" fmla="*/ 13 h 27"/>
                <a:gd name="T18" fmla="*/ 30 w 86"/>
                <a:gd name="T19" fmla="*/ 16 h 27"/>
                <a:gd name="T20" fmla="*/ 34 w 86"/>
                <a:gd name="T21" fmla="*/ 17 h 27"/>
                <a:gd name="T22" fmla="*/ 37 w 86"/>
                <a:gd name="T23" fmla="*/ 14 h 27"/>
                <a:gd name="T24" fmla="*/ 36 w 86"/>
                <a:gd name="T25" fmla="*/ 21 h 27"/>
                <a:gd name="T26" fmla="*/ 32 w 86"/>
                <a:gd name="T27" fmla="*/ 19 h 27"/>
                <a:gd name="T28" fmla="*/ 27 w 86"/>
                <a:gd name="T29" fmla="*/ 19 h 27"/>
                <a:gd name="T30" fmla="*/ 27 w 86"/>
                <a:gd name="T31" fmla="*/ 24 h 27"/>
                <a:gd name="T32" fmla="*/ 34 w 86"/>
                <a:gd name="T33" fmla="*/ 25 h 27"/>
                <a:gd name="T34" fmla="*/ 30 w 86"/>
                <a:gd name="T35" fmla="*/ 27 h 27"/>
                <a:gd name="T36" fmla="*/ 24 w 86"/>
                <a:gd name="T37" fmla="*/ 25 h 27"/>
                <a:gd name="T38" fmla="*/ 23 w 86"/>
                <a:gd name="T39" fmla="*/ 21 h 27"/>
                <a:gd name="T40" fmla="*/ 28 w 86"/>
                <a:gd name="T41" fmla="*/ 17 h 27"/>
                <a:gd name="T42" fmla="*/ 25 w 86"/>
                <a:gd name="T43" fmla="*/ 15 h 27"/>
                <a:gd name="T44" fmla="*/ 28 w 86"/>
                <a:gd name="T45" fmla="*/ 10 h 27"/>
                <a:gd name="T46" fmla="*/ 39 w 86"/>
                <a:gd name="T47" fmla="*/ 11 h 27"/>
                <a:gd name="T48" fmla="*/ 39 w 86"/>
                <a:gd name="T49" fmla="*/ 17 h 27"/>
                <a:gd name="T50" fmla="*/ 36 w 86"/>
                <a:gd name="T51" fmla="*/ 18 h 27"/>
                <a:gd name="T52" fmla="*/ 39 w 86"/>
                <a:gd name="T53" fmla="*/ 23 h 27"/>
                <a:gd name="T54" fmla="*/ 30 w 86"/>
                <a:gd name="T55" fmla="*/ 27 h 27"/>
                <a:gd name="T56" fmla="*/ 62 w 86"/>
                <a:gd name="T57" fmla="*/ 14 h 27"/>
                <a:gd name="T58" fmla="*/ 59 w 86"/>
                <a:gd name="T59" fmla="*/ 11 h 27"/>
                <a:gd name="T60" fmla="*/ 54 w 86"/>
                <a:gd name="T61" fmla="*/ 12 h 27"/>
                <a:gd name="T62" fmla="*/ 53 w 86"/>
                <a:gd name="T63" fmla="*/ 17 h 27"/>
                <a:gd name="T64" fmla="*/ 56 w 86"/>
                <a:gd name="T65" fmla="*/ 19 h 27"/>
                <a:gd name="T66" fmla="*/ 60 w 86"/>
                <a:gd name="T67" fmla="*/ 18 h 27"/>
                <a:gd name="T68" fmla="*/ 63 w 86"/>
                <a:gd name="T69" fmla="*/ 17 h 27"/>
                <a:gd name="T70" fmla="*/ 50 w 86"/>
                <a:gd name="T71" fmla="*/ 15 h 27"/>
                <a:gd name="T72" fmla="*/ 52 w 86"/>
                <a:gd name="T73" fmla="*/ 11 h 27"/>
                <a:gd name="T74" fmla="*/ 58 w 86"/>
                <a:gd name="T75" fmla="*/ 9 h 27"/>
                <a:gd name="T76" fmla="*/ 63 w 86"/>
                <a:gd name="T77" fmla="*/ 11 h 27"/>
                <a:gd name="T78" fmla="*/ 66 w 86"/>
                <a:gd name="T79" fmla="*/ 17 h 27"/>
                <a:gd name="T80" fmla="*/ 63 w 86"/>
                <a:gd name="T81" fmla="*/ 24 h 27"/>
                <a:gd name="T82" fmla="*/ 55 w 86"/>
                <a:gd name="T83" fmla="*/ 27 h 27"/>
                <a:gd name="T84" fmla="*/ 52 w 86"/>
                <a:gd name="T85" fmla="*/ 27 h 27"/>
                <a:gd name="T86" fmla="*/ 52 w 86"/>
                <a:gd name="T87" fmla="*/ 25 h 27"/>
                <a:gd name="T88" fmla="*/ 55 w 86"/>
                <a:gd name="T89" fmla="*/ 25 h 27"/>
                <a:gd name="T90" fmla="*/ 62 w 86"/>
                <a:gd name="T91" fmla="*/ 19 h 27"/>
                <a:gd name="T92" fmla="*/ 57 w 86"/>
                <a:gd name="T93" fmla="*/ 21 h 27"/>
                <a:gd name="T94" fmla="*/ 52 w 86"/>
                <a:gd name="T95" fmla="*/ 20 h 27"/>
                <a:gd name="T96" fmla="*/ 50 w 86"/>
                <a:gd name="T97" fmla="*/ 15 h 27"/>
                <a:gd name="T98" fmla="*/ 86 w 86"/>
                <a:gd name="T99" fmla="*/ 18 h 27"/>
                <a:gd name="T100" fmla="*/ 83 w 86"/>
                <a:gd name="T101" fmla="*/ 3 h 27"/>
                <a:gd name="T102" fmla="*/ 72 w 86"/>
                <a:gd name="T103" fmla="*/ 6 h 27"/>
                <a:gd name="T104" fmla="*/ 86 w 86"/>
                <a:gd name="T105"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6" h="27">
                  <a:moveTo>
                    <a:pt x="9" y="20"/>
                  </a:moveTo>
                  <a:cubicBezTo>
                    <a:pt x="0" y="15"/>
                    <a:pt x="0" y="15"/>
                    <a:pt x="0" y="15"/>
                  </a:cubicBezTo>
                  <a:cubicBezTo>
                    <a:pt x="0" y="13"/>
                    <a:pt x="0" y="13"/>
                    <a:pt x="0" y="13"/>
                  </a:cubicBezTo>
                  <a:cubicBezTo>
                    <a:pt x="4" y="15"/>
                    <a:pt x="4" y="15"/>
                    <a:pt x="4" y="15"/>
                  </a:cubicBezTo>
                  <a:cubicBezTo>
                    <a:pt x="10" y="5"/>
                    <a:pt x="10" y="5"/>
                    <a:pt x="10" y="5"/>
                  </a:cubicBezTo>
                  <a:cubicBezTo>
                    <a:pt x="6" y="3"/>
                    <a:pt x="6" y="3"/>
                    <a:pt x="6" y="3"/>
                  </a:cubicBezTo>
                  <a:cubicBezTo>
                    <a:pt x="7" y="2"/>
                    <a:pt x="7" y="2"/>
                    <a:pt x="7" y="2"/>
                  </a:cubicBezTo>
                  <a:cubicBezTo>
                    <a:pt x="8" y="3"/>
                    <a:pt x="9" y="3"/>
                    <a:pt x="10" y="3"/>
                  </a:cubicBezTo>
                  <a:cubicBezTo>
                    <a:pt x="11" y="3"/>
                    <a:pt x="11" y="3"/>
                    <a:pt x="12" y="2"/>
                  </a:cubicBezTo>
                  <a:cubicBezTo>
                    <a:pt x="14" y="4"/>
                    <a:pt x="14" y="4"/>
                    <a:pt x="14" y="4"/>
                  </a:cubicBezTo>
                  <a:cubicBezTo>
                    <a:pt x="6" y="17"/>
                    <a:pt x="6" y="17"/>
                    <a:pt x="6" y="17"/>
                  </a:cubicBezTo>
                  <a:cubicBezTo>
                    <a:pt x="10" y="19"/>
                    <a:pt x="10" y="19"/>
                    <a:pt x="10" y="19"/>
                  </a:cubicBezTo>
                  <a:lnTo>
                    <a:pt x="9" y="20"/>
                  </a:lnTo>
                  <a:close/>
                  <a:moveTo>
                    <a:pt x="37" y="14"/>
                  </a:moveTo>
                  <a:cubicBezTo>
                    <a:pt x="37" y="14"/>
                    <a:pt x="37" y="13"/>
                    <a:pt x="36" y="12"/>
                  </a:cubicBezTo>
                  <a:cubicBezTo>
                    <a:pt x="36" y="12"/>
                    <a:pt x="35" y="11"/>
                    <a:pt x="33" y="11"/>
                  </a:cubicBezTo>
                  <a:cubicBezTo>
                    <a:pt x="32" y="11"/>
                    <a:pt x="31" y="11"/>
                    <a:pt x="30" y="11"/>
                  </a:cubicBezTo>
                  <a:cubicBezTo>
                    <a:pt x="29" y="12"/>
                    <a:pt x="29" y="12"/>
                    <a:pt x="28" y="13"/>
                  </a:cubicBezTo>
                  <a:cubicBezTo>
                    <a:pt x="28" y="14"/>
                    <a:pt x="28" y="14"/>
                    <a:pt x="29" y="15"/>
                  </a:cubicBezTo>
                  <a:cubicBezTo>
                    <a:pt x="29" y="15"/>
                    <a:pt x="30" y="15"/>
                    <a:pt x="30" y="16"/>
                  </a:cubicBezTo>
                  <a:cubicBezTo>
                    <a:pt x="31" y="16"/>
                    <a:pt x="31" y="16"/>
                    <a:pt x="32" y="17"/>
                  </a:cubicBezTo>
                  <a:cubicBezTo>
                    <a:pt x="33" y="17"/>
                    <a:pt x="33" y="17"/>
                    <a:pt x="34" y="17"/>
                  </a:cubicBezTo>
                  <a:cubicBezTo>
                    <a:pt x="35" y="17"/>
                    <a:pt x="36" y="17"/>
                    <a:pt x="36" y="16"/>
                  </a:cubicBezTo>
                  <a:cubicBezTo>
                    <a:pt x="37" y="16"/>
                    <a:pt x="37" y="15"/>
                    <a:pt x="37" y="14"/>
                  </a:cubicBezTo>
                  <a:moveTo>
                    <a:pt x="36" y="23"/>
                  </a:moveTo>
                  <a:cubicBezTo>
                    <a:pt x="36" y="22"/>
                    <a:pt x="36" y="22"/>
                    <a:pt x="36" y="21"/>
                  </a:cubicBezTo>
                  <a:cubicBezTo>
                    <a:pt x="35" y="21"/>
                    <a:pt x="34" y="20"/>
                    <a:pt x="33" y="20"/>
                  </a:cubicBezTo>
                  <a:cubicBezTo>
                    <a:pt x="33" y="19"/>
                    <a:pt x="33" y="19"/>
                    <a:pt x="32" y="19"/>
                  </a:cubicBezTo>
                  <a:cubicBezTo>
                    <a:pt x="31" y="19"/>
                    <a:pt x="31" y="18"/>
                    <a:pt x="30" y="18"/>
                  </a:cubicBezTo>
                  <a:cubicBezTo>
                    <a:pt x="29" y="18"/>
                    <a:pt x="28" y="19"/>
                    <a:pt x="27" y="19"/>
                  </a:cubicBezTo>
                  <a:cubicBezTo>
                    <a:pt x="27" y="20"/>
                    <a:pt x="26" y="20"/>
                    <a:pt x="26" y="21"/>
                  </a:cubicBezTo>
                  <a:cubicBezTo>
                    <a:pt x="26" y="22"/>
                    <a:pt x="26" y="23"/>
                    <a:pt x="27" y="24"/>
                  </a:cubicBezTo>
                  <a:cubicBezTo>
                    <a:pt x="28" y="25"/>
                    <a:pt x="29" y="25"/>
                    <a:pt x="30" y="25"/>
                  </a:cubicBezTo>
                  <a:cubicBezTo>
                    <a:pt x="32" y="26"/>
                    <a:pt x="33" y="25"/>
                    <a:pt x="34" y="25"/>
                  </a:cubicBezTo>
                  <a:cubicBezTo>
                    <a:pt x="35" y="24"/>
                    <a:pt x="36" y="24"/>
                    <a:pt x="36" y="23"/>
                  </a:cubicBezTo>
                  <a:moveTo>
                    <a:pt x="30" y="27"/>
                  </a:moveTo>
                  <a:cubicBezTo>
                    <a:pt x="29" y="27"/>
                    <a:pt x="28" y="27"/>
                    <a:pt x="27" y="26"/>
                  </a:cubicBezTo>
                  <a:cubicBezTo>
                    <a:pt x="26" y="26"/>
                    <a:pt x="25" y="25"/>
                    <a:pt x="24" y="25"/>
                  </a:cubicBezTo>
                  <a:cubicBezTo>
                    <a:pt x="23" y="24"/>
                    <a:pt x="23" y="24"/>
                    <a:pt x="23" y="23"/>
                  </a:cubicBezTo>
                  <a:cubicBezTo>
                    <a:pt x="23" y="22"/>
                    <a:pt x="22" y="21"/>
                    <a:pt x="23" y="21"/>
                  </a:cubicBezTo>
                  <a:cubicBezTo>
                    <a:pt x="23" y="20"/>
                    <a:pt x="23" y="19"/>
                    <a:pt x="24" y="18"/>
                  </a:cubicBezTo>
                  <a:cubicBezTo>
                    <a:pt x="25" y="18"/>
                    <a:pt x="26" y="17"/>
                    <a:pt x="28" y="17"/>
                  </a:cubicBezTo>
                  <a:cubicBezTo>
                    <a:pt x="28" y="17"/>
                    <a:pt x="28" y="17"/>
                    <a:pt x="28" y="17"/>
                  </a:cubicBezTo>
                  <a:cubicBezTo>
                    <a:pt x="27" y="16"/>
                    <a:pt x="26" y="16"/>
                    <a:pt x="25" y="15"/>
                  </a:cubicBezTo>
                  <a:cubicBezTo>
                    <a:pt x="25" y="14"/>
                    <a:pt x="25" y="14"/>
                    <a:pt x="25" y="13"/>
                  </a:cubicBezTo>
                  <a:cubicBezTo>
                    <a:pt x="25" y="12"/>
                    <a:pt x="26" y="11"/>
                    <a:pt x="28" y="10"/>
                  </a:cubicBezTo>
                  <a:cubicBezTo>
                    <a:pt x="29" y="9"/>
                    <a:pt x="31" y="9"/>
                    <a:pt x="34" y="10"/>
                  </a:cubicBezTo>
                  <a:cubicBezTo>
                    <a:pt x="36" y="10"/>
                    <a:pt x="38" y="10"/>
                    <a:pt x="39" y="11"/>
                  </a:cubicBezTo>
                  <a:cubicBezTo>
                    <a:pt x="40" y="12"/>
                    <a:pt x="41" y="14"/>
                    <a:pt x="40" y="15"/>
                  </a:cubicBezTo>
                  <a:cubicBezTo>
                    <a:pt x="40" y="16"/>
                    <a:pt x="40" y="16"/>
                    <a:pt x="39" y="17"/>
                  </a:cubicBezTo>
                  <a:cubicBezTo>
                    <a:pt x="38" y="18"/>
                    <a:pt x="37" y="18"/>
                    <a:pt x="36" y="18"/>
                  </a:cubicBezTo>
                  <a:cubicBezTo>
                    <a:pt x="36" y="18"/>
                    <a:pt x="36" y="18"/>
                    <a:pt x="36" y="18"/>
                  </a:cubicBezTo>
                  <a:cubicBezTo>
                    <a:pt x="37" y="19"/>
                    <a:pt x="38" y="20"/>
                    <a:pt x="39" y="20"/>
                  </a:cubicBezTo>
                  <a:cubicBezTo>
                    <a:pt x="39" y="21"/>
                    <a:pt x="40" y="22"/>
                    <a:pt x="39" y="23"/>
                  </a:cubicBezTo>
                  <a:cubicBezTo>
                    <a:pt x="39" y="25"/>
                    <a:pt x="38" y="26"/>
                    <a:pt x="36" y="26"/>
                  </a:cubicBezTo>
                  <a:cubicBezTo>
                    <a:pt x="34" y="27"/>
                    <a:pt x="32" y="27"/>
                    <a:pt x="30" y="27"/>
                  </a:cubicBezTo>
                  <a:moveTo>
                    <a:pt x="63" y="17"/>
                  </a:moveTo>
                  <a:cubicBezTo>
                    <a:pt x="63" y="15"/>
                    <a:pt x="62" y="15"/>
                    <a:pt x="62" y="14"/>
                  </a:cubicBezTo>
                  <a:cubicBezTo>
                    <a:pt x="62" y="13"/>
                    <a:pt x="61" y="13"/>
                    <a:pt x="61" y="12"/>
                  </a:cubicBezTo>
                  <a:cubicBezTo>
                    <a:pt x="60" y="12"/>
                    <a:pt x="60" y="12"/>
                    <a:pt x="59" y="11"/>
                  </a:cubicBezTo>
                  <a:cubicBezTo>
                    <a:pt x="59" y="11"/>
                    <a:pt x="58" y="11"/>
                    <a:pt x="58" y="11"/>
                  </a:cubicBezTo>
                  <a:cubicBezTo>
                    <a:pt x="56" y="11"/>
                    <a:pt x="55" y="12"/>
                    <a:pt x="54" y="12"/>
                  </a:cubicBezTo>
                  <a:cubicBezTo>
                    <a:pt x="53" y="13"/>
                    <a:pt x="53" y="14"/>
                    <a:pt x="53" y="15"/>
                  </a:cubicBezTo>
                  <a:cubicBezTo>
                    <a:pt x="53" y="16"/>
                    <a:pt x="53" y="16"/>
                    <a:pt x="53" y="17"/>
                  </a:cubicBezTo>
                  <a:cubicBezTo>
                    <a:pt x="54" y="17"/>
                    <a:pt x="54" y="18"/>
                    <a:pt x="55" y="18"/>
                  </a:cubicBezTo>
                  <a:cubicBezTo>
                    <a:pt x="55" y="18"/>
                    <a:pt x="56" y="18"/>
                    <a:pt x="56" y="19"/>
                  </a:cubicBezTo>
                  <a:cubicBezTo>
                    <a:pt x="57" y="19"/>
                    <a:pt x="57" y="19"/>
                    <a:pt x="58" y="19"/>
                  </a:cubicBezTo>
                  <a:cubicBezTo>
                    <a:pt x="59" y="19"/>
                    <a:pt x="59" y="19"/>
                    <a:pt x="60" y="18"/>
                  </a:cubicBezTo>
                  <a:cubicBezTo>
                    <a:pt x="61" y="18"/>
                    <a:pt x="62" y="18"/>
                    <a:pt x="62" y="18"/>
                  </a:cubicBezTo>
                  <a:cubicBezTo>
                    <a:pt x="63" y="18"/>
                    <a:pt x="63" y="17"/>
                    <a:pt x="63" y="17"/>
                  </a:cubicBezTo>
                  <a:cubicBezTo>
                    <a:pt x="63" y="17"/>
                    <a:pt x="63" y="17"/>
                    <a:pt x="63" y="17"/>
                  </a:cubicBezTo>
                  <a:moveTo>
                    <a:pt x="50" y="15"/>
                  </a:moveTo>
                  <a:cubicBezTo>
                    <a:pt x="50" y="14"/>
                    <a:pt x="50" y="14"/>
                    <a:pt x="50" y="13"/>
                  </a:cubicBezTo>
                  <a:cubicBezTo>
                    <a:pt x="51" y="12"/>
                    <a:pt x="51" y="11"/>
                    <a:pt x="52" y="11"/>
                  </a:cubicBezTo>
                  <a:cubicBezTo>
                    <a:pt x="53" y="10"/>
                    <a:pt x="53" y="10"/>
                    <a:pt x="55" y="10"/>
                  </a:cubicBezTo>
                  <a:cubicBezTo>
                    <a:pt x="56" y="9"/>
                    <a:pt x="57" y="9"/>
                    <a:pt x="58" y="9"/>
                  </a:cubicBezTo>
                  <a:cubicBezTo>
                    <a:pt x="59" y="9"/>
                    <a:pt x="60" y="9"/>
                    <a:pt x="61" y="10"/>
                  </a:cubicBezTo>
                  <a:cubicBezTo>
                    <a:pt x="62" y="10"/>
                    <a:pt x="63" y="10"/>
                    <a:pt x="63" y="11"/>
                  </a:cubicBezTo>
                  <a:cubicBezTo>
                    <a:pt x="64" y="11"/>
                    <a:pt x="65" y="12"/>
                    <a:pt x="65" y="13"/>
                  </a:cubicBezTo>
                  <a:cubicBezTo>
                    <a:pt x="66" y="14"/>
                    <a:pt x="66" y="16"/>
                    <a:pt x="66" y="17"/>
                  </a:cubicBezTo>
                  <a:cubicBezTo>
                    <a:pt x="66" y="19"/>
                    <a:pt x="66" y="20"/>
                    <a:pt x="65" y="21"/>
                  </a:cubicBezTo>
                  <a:cubicBezTo>
                    <a:pt x="65" y="22"/>
                    <a:pt x="64" y="23"/>
                    <a:pt x="63" y="24"/>
                  </a:cubicBezTo>
                  <a:cubicBezTo>
                    <a:pt x="62" y="25"/>
                    <a:pt x="61" y="26"/>
                    <a:pt x="60" y="26"/>
                  </a:cubicBezTo>
                  <a:cubicBezTo>
                    <a:pt x="58" y="27"/>
                    <a:pt x="57" y="27"/>
                    <a:pt x="55" y="27"/>
                  </a:cubicBezTo>
                  <a:cubicBezTo>
                    <a:pt x="54" y="27"/>
                    <a:pt x="54" y="27"/>
                    <a:pt x="53" y="27"/>
                  </a:cubicBezTo>
                  <a:cubicBezTo>
                    <a:pt x="53" y="27"/>
                    <a:pt x="52" y="27"/>
                    <a:pt x="52" y="27"/>
                  </a:cubicBezTo>
                  <a:cubicBezTo>
                    <a:pt x="52" y="25"/>
                    <a:pt x="52" y="25"/>
                    <a:pt x="52" y="25"/>
                  </a:cubicBezTo>
                  <a:cubicBezTo>
                    <a:pt x="52" y="25"/>
                    <a:pt x="52" y="25"/>
                    <a:pt x="52" y="25"/>
                  </a:cubicBezTo>
                  <a:cubicBezTo>
                    <a:pt x="52" y="25"/>
                    <a:pt x="53" y="25"/>
                    <a:pt x="53" y="25"/>
                  </a:cubicBezTo>
                  <a:cubicBezTo>
                    <a:pt x="54" y="25"/>
                    <a:pt x="54" y="25"/>
                    <a:pt x="55" y="25"/>
                  </a:cubicBezTo>
                  <a:cubicBezTo>
                    <a:pt x="57" y="25"/>
                    <a:pt x="59" y="25"/>
                    <a:pt x="60" y="24"/>
                  </a:cubicBezTo>
                  <a:cubicBezTo>
                    <a:pt x="62" y="23"/>
                    <a:pt x="62" y="21"/>
                    <a:pt x="62" y="19"/>
                  </a:cubicBezTo>
                  <a:cubicBezTo>
                    <a:pt x="62" y="20"/>
                    <a:pt x="61" y="20"/>
                    <a:pt x="60" y="20"/>
                  </a:cubicBezTo>
                  <a:cubicBezTo>
                    <a:pt x="59" y="20"/>
                    <a:pt x="58" y="21"/>
                    <a:pt x="57" y="21"/>
                  </a:cubicBezTo>
                  <a:cubicBezTo>
                    <a:pt x="56" y="21"/>
                    <a:pt x="55" y="20"/>
                    <a:pt x="55" y="20"/>
                  </a:cubicBezTo>
                  <a:cubicBezTo>
                    <a:pt x="54" y="20"/>
                    <a:pt x="53" y="20"/>
                    <a:pt x="52" y="20"/>
                  </a:cubicBezTo>
                  <a:cubicBezTo>
                    <a:pt x="51" y="19"/>
                    <a:pt x="51" y="18"/>
                    <a:pt x="50" y="18"/>
                  </a:cubicBezTo>
                  <a:cubicBezTo>
                    <a:pt x="50" y="17"/>
                    <a:pt x="50" y="16"/>
                    <a:pt x="50" y="15"/>
                  </a:cubicBezTo>
                  <a:moveTo>
                    <a:pt x="86" y="1"/>
                  </a:moveTo>
                  <a:cubicBezTo>
                    <a:pt x="86" y="18"/>
                    <a:pt x="86" y="18"/>
                    <a:pt x="86" y="18"/>
                  </a:cubicBezTo>
                  <a:cubicBezTo>
                    <a:pt x="83" y="20"/>
                    <a:pt x="83" y="20"/>
                    <a:pt x="83" y="20"/>
                  </a:cubicBezTo>
                  <a:cubicBezTo>
                    <a:pt x="83" y="3"/>
                    <a:pt x="83" y="3"/>
                    <a:pt x="83" y="3"/>
                  </a:cubicBezTo>
                  <a:cubicBezTo>
                    <a:pt x="73" y="8"/>
                    <a:pt x="73" y="8"/>
                    <a:pt x="73" y="8"/>
                  </a:cubicBezTo>
                  <a:cubicBezTo>
                    <a:pt x="72" y="6"/>
                    <a:pt x="72" y="6"/>
                    <a:pt x="72" y="6"/>
                  </a:cubicBezTo>
                  <a:cubicBezTo>
                    <a:pt x="85" y="0"/>
                    <a:pt x="85" y="0"/>
                    <a:pt x="85" y="0"/>
                  </a:cubicBezTo>
                  <a:lnTo>
                    <a:pt x="86" y="1"/>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8" name="Freeform 126"/>
            <p:cNvSpPr/>
            <p:nvPr userDrawn="1"/>
          </p:nvSpPr>
          <p:spPr bwMode="auto">
            <a:xfrm>
              <a:off x="1184" y="728"/>
              <a:ext cx="14" cy="14"/>
            </a:xfrm>
            <a:custGeom>
              <a:avLst/>
              <a:gdLst>
                <a:gd name="T0" fmla="*/ 2 w 11"/>
                <a:gd name="T1" fmla="*/ 12 h 12"/>
                <a:gd name="T2" fmla="*/ 2 w 11"/>
                <a:gd name="T3" fmla="*/ 8 h 12"/>
                <a:gd name="T4" fmla="*/ 1 w 11"/>
                <a:gd name="T5" fmla="*/ 3 h 12"/>
                <a:gd name="T6" fmla="*/ 8 w 11"/>
                <a:gd name="T7" fmla="*/ 3 h 12"/>
                <a:gd name="T8" fmla="*/ 9 w 11"/>
                <a:gd name="T9" fmla="*/ 5 h 12"/>
                <a:gd name="T10" fmla="*/ 8 w 11"/>
                <a:gd name="T11" fmla="*/ 11 h 12"/>
                <a:gd name="T12" fmla="*/ 2 w 11"/>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1" h="12">
                  <a:moveTo>
                    <a:pt x="2" y="12"/>
                  </a:moveTo>
                  <a:cubicBezTo>
                    <a:pt x="0" y="11"/>
                    <a:pt x="1" y="10"/>
                    <a:pt x="2" y="8"/>
                  </a:cubicBezTo>
                  <a:cubicBezTo>
                    <a:pt x="2" y="7"/>
                    <a:pt x="1" y="5"/>
                    <a:pt x="1" y="3"/>
                  </a:cubicBezTo>
                  <a:cubicBezTo>
                    <a:pt x="2" y="0"/>
                    <a:pt x="6" y="2"/>
                    <a:pt x="8" y="3"/>
                  </a:cubicBezTo>
                  <a:cubicBezTo>
                    <a:pt x="8" y="3"/>
                    <a:pt x="9" y="4"/>
                    <a:pt x="9" y="5"/>
                  </a:cubicBezTo>
                  <a:cubicBezTo>
                    <a:pt x="10" y="7"/>
                    <a:pt x="11" y="10"/>
                    <a:pt x="8" y="11"/>
                  </a:cubicBezTo>
                  <a:cubicBezTo>
                    <a:pt x="6" y="12"/>
                    <a:pt x="4" y="12"/>
                    <a:pt x="2" y="12"/>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29" name="Freeform 127"/>
            <p:cNvSpPr/>
            <p:nvPr userDrawn="1"/>
          </p:nvSpPr>
          <p:spPr bwMode="auto">
            <a:xfrm>
              <a:off x="1148" y="686"/>
              <a:ext cx="51" cy="45"/>
            </a:xfrm>
            <a:custGeom>
              <a:avLst/>
              <a:gdLst>
                <a:gd name="T0" fmla="*/ 7 w 41"/>
                <a:gd name="T1" fmla="*/ 35 h 36"/>
                <a:gd name="T2" fmla="*/ 7 w 41"/>
                <a:gd name="T3" fmla="*/ 35 h 36"/>
                <a:gd name="T4" fmla="*/ 7 w 41"/>
                <a:gd name="T5" fmla="*/ 34 h 36"/>
                <a:gd name="T6" fmla="*/ 15 w 41"/>
                <a:gd name="T7" fmla="*/ 32 h 36"/>
                <a:gd name="T8" fmla="*/ 20 w 41"/>
                <a:gd name="T9" fmla="*/ 28 h 36"/>
                <a:gd name="T10" fmla="*/ 6 w 41"/>
                <a:gd name="T11" fmla="*/ 29 h 36"/>
                <a:gd name="T12" fmla="*/ 2 w 41"/>
                <a:gd name="T13" fmla="*/ 26 h 36"/>
                <a:gd name="T14" fmla="*/ 2 w 41"/>
                <a:gd name="T15" fmla="*/ 26 h 36"/>
                <a:gd name="T16" fmla="*/ 3 w 41"/>
                <a:gd name="T17" fmla="*/ 21 h 36"/>
                <a:gd name="T18" fmla="*/ 19 w 41"/>
                <a:gd name="T19" fmla="*/ 21 h 36"/>
                <a:gd name="T20" fmla="*/ 24 w 41"/>
                <a:gd name="T21" fmla="*/ 20 h 36"/>
                <a:gd name="T22" fmla="*/ 29 w 41"/>
                <a:gd name="T23" fmla="*/ 3 h 36"/>
                <a:gd name="T24" fmla="*/ 35 w 41"/>
                <a:gd name="T25" fmla="*/ 6 h 36"/>
                <a:gd name="T26" fmla="*/ 36 w 41"/>
                <a:gd name="T27" fmla="*/ 7 h 36"/>
                <a:gd name="T28" fmla="*/ 36 w 41"/>
                <a:gd name="T29" fmla="*/ 7 h 36"/>
                <a:gd name="T30" fmla="*/ 35 w 41"/>
                <a:gd name="T31" fmla="*/ 11 h 36"/>
                <a:gd name="T32" fmla="*/ 31 w 41"/>
                <a:gd name="T33" fmla="*/ 20 h 36"/>
                <a:gd name="T34" fmla="*/ 40 w 41"/>
                <a:gd name="T35" fmla="*/ 19 h 36"/>
                <a:gd name="T36" fmla="*/ 38 w 41"/>
                <a:gd name="T37" fmla="*/ 23 h 36"/>
                <a:gd name="T38" fmla="*/ 29 w 41"/>
                <a:gd name="T39" fmla="*/ 24 h 36"/>
                <a:gd name="T40" fmla="*/ 23 w 41"/>
                <a:gd name="T41" fmla="*/ 32 h 36"/>
                <a:gd name="T42" fmla="*/ 21 w 41"/>
                <a:gd name="T43" fmla="*/ 34 h 36"/>
                <a:gd name="T44" fmla="*/ 14 w 41"/>
                <a:gd name="T45" fmla="*/ 35 h 36"/>
                <a:gd name="T46" fmla="*/ 7 w 41"/>
                <a:gd name="T47" fmla="*/ 3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36">
                  <a:moveTo>
                    <a:pt x="7" y="35"/>
                  </a:moveTo>
                  <a:cubicBezTo>
                    <a:pt x="7" y="35"/>
                    <a:pt x="7" y="35"/>
                    <a:pt x="7" y="35"/>
                  </a:cubicBezTo>
                  <a:cubicBezTo>
                    <a:pt x="7" y="35"/>
                    <a:pt x="7" y="35"/>
                    <a:pt x="7" y="34"/>
                  </a:cubicBezTo>
                  <a:cubicBezTo>
                    <a:pt x="8" y="34"/>
                    <a:pt x="15" y="32"/>
                    <a:pt x="15" y="32"/>
                  </a:cubicBezTo>
                  <a:cubicBezTo>
                    <a:pt x="17" y="31"/>
                    <a:pt x="19" y="30"/>
                    <a:pt x="20" y="28"/>
                  </a:cubicBezTo>
                  <a:cubicBezTo>
                    <a:pt x="15" y="28"/>
                    <a:pt x="11" y="30"/>
                    <a:pt x="6" y="29"/>
                  </a:cubicBezTo>
                  <a:cubicBezTo>
                    <a:pt x="4" y="28"/>
                    <a:pt x="3" y="27"/>
                    <a:pt x="2" y="26"/>
                  </a:cubicBezTo>
                  <a:cubicBezTo>
                    <a:pt x="2" y="26"/>
                    <a:pt x="2" y="26"/>
                    <a:pt x="2" y="26"/>
                  </a:cubicBezTo>
                  <a:cubicBezTo>
                    <a:pt x="0" y="24"/>
                    <a:pt x="0" y="22"/>
                    <a:pt x="3" y="21"/>
                  </a:cubicBezTo>
                  <a:cubicBezTo>
                    <a:pt x="7" y="23"/>
                    <a:pt x="15" y="22"/>
                    <a:pt x="19" y="21"/>
                  </a:cubicBezTo>
                  <a:cubicBezTo>
                    <a:pt x="20" y="21"/>
                    <a:pt x="23" y="21"/>
                    <a:pt x="24" y="20"/>
                  </a:cubicBezTo>
                  <a:cubicBezTo>
                    <a:pt x="26" y="15"/>
                    <a:pt x="27" y="9"/>
                    <a:pt x="29" y="3"/>
                  </a:cubicBezTo>
                  <a:cubicBezTo>
                    <a:pt x="31" y="0"/>
                    <a:pt x="33" y="3"/>
                    <a:pt x="35" y="6"/>
                  </a:cubicBezTo>
                  <a:cubicBezTo>
                    <a:pt x="35" y="6"/>
                    <a:pt x="36" y="6"/>
                    <a:pt x="36" y="7"/>
                  </a:cubicBezTo>
                  <a:cubicBezTo>
                    <a:pt x="36" y="7"/>
                    <a:pt x="36" y="7"/>
                    <a:pt x="36" y="7"/>
                  </a:cubicBezTo>
                  <a:cubicBezTo>
                    <a:pt x="37" y="9"/>
                    <a:pt x="37" y="10"/>
                    <a:pt x="35" y="11"/>
                  </a:cubicBezTo>
                  <a:cubicBezTo>
                    <a:pt x="33" y="14"/>
                    <a:pt x="32" y="17"/>
                    <a:pt x="31" y="20"/>
                  </a:cubicBezTo>
                  <a:cubicBezTo>
                    <a:pt x="34" y="20"/>
                    <a:pt x="37" y="18"/>
                    <a:pt x="40" y="19"/>
                  </a:cubicBezTo>
                  <a:cubicBezTo>
                    <a:pt x="41" y="21"/>
                    <a:pt x="40" y="22"/>
                    <a:pt x="38" y="23"/>
                  </a:cubicBezTo>
                  <a:cubicBezTo>
                    <a:pt x="36" y="23"/>
                    <a:pt x="33" y="24"/>
                    <a:pt x="29" y="24"/>
                  </a:cubicBezTo>
                  <a:cubicBezTo>
                    <a:pt x="28" y="27"/>
                    <a:pt x="26" y="30"/>
                    <a:pt x="23" y="32"/>
                  </a:cubicBezTo>
                  <a:cubicBezTo>
                    <a:pt x="23" y="33"/>
                    <a:pt x="21" y="34"/>
                    <a:pt x="21" y="34"/>
                  </a:cubicBezTo>
                  <a:cubicBezTo>
                    <a:pt x="19" y="34"/>
                    <a:pt x="17" y="35"/>
                    <a:pt x="14" y="35"/>
                  </a:cubicBezTo>
                  <a:cubicBezTo>
                    <a:pt x="8" y="36"/>
                    <a:pt x="8" y="35"/>
                    <a:pt x="7" y="3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0" name="Freeform 128"/>
            <p:cNvSpPr/>
            <p:nvPr userDrawn="1"/>
          </p:nvSpPr>
          <p:spPr bwMode="auto">
            <a:xfrm>
              <a:off x="1063" y="714"/>
              <a:ext cx="20" cy="41"/>
            </a:xfrm>
            <a:custGeom>
              <a:avLst/>
              <a:gdLst>
                <a:gd name="T0" fmla="*/ 7 w 16"/>
                <a:gd name="T1" fmla="*/ 33 h 33"/>
                <a:gd name="T2" fmla="*/ 0 w 16"/>
                <a:gd name="T3" fmla="*/ 30 h 33"/>
                <a:gd name="T4" fmla="*/ 0 w 16"/>
                <a:gd name="T5" fmla="*/ 28 h 33"/>
                <a:gd name="T6" fmla="*/ 10 w 16"/>
                <a:gd name="T7" fmla="*/ 11 h 33"/>
                <a:gd name="T8" fmla="*/ 12 w 16"/>
                <a:gd name="T9" fmla="*/ 3 h 33"/>
                <a:gd name="T10" fmla="*/ 12 w 16"/>
                <a:gd name="T11" fmla="*/ 2 h 33"/>
                <a:gd name="T12" fmla="*/ 12 w 16"/>
                <a:gd name="T13" fmla="*/ 2 h 33"/>
                <a:gd name="T14" fmla="*/ 15 w 16"/>
                <a:gd name="T15" fmla="*/ 2 h 33"/>
                <a:gd name="T16" fmla="*/ 14 w 16"/>
                <a:gd name="T17" fmla="*/ 7 h 33"/>
                <a:gd name="T18" fmla="*/ 13 w 16"/>
                <a:gd name="T19" fmla="*/ 16 h 33"/>
                <a:gd name="T20" fmla="*/ 13 w 16"/>
                <a:gd name="T21" fmla="*/ 19 h 33"/>
                <a:gd name="T22" fmla="*/ 11 w 16"/>
                <a:gd name="T23" fmla="*/ 26 h 33"/>
                <a:gd name="T24" fmla="*/ 9 w 16"/>
                <a:gd name="T25" fmla="*/ 33 h 33"/>
                <a:gd name="T26" fmla="*/ 7 w 16"/>
                <a:gd name="T27"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33">
                  <a:moveTo>
                    <a:pt x="7" y="33"/>
                  </a:moveTo>
                  <a:cubicBezTo>
                    <a:pt x="5" y="33"/>
                    <a:pt x="2" y="31"/>
                    <a:pt x="0" y="30"/>
                  </a:cubicBezTo>
                  <a:cubicBezTo>
                    <a:pt x="0" y="30"/>
                    <a:pt x="0" y="29"/>
                    <a:pt x="0" y="28"/>
                  </a:cubicBezTo>
                  <a:cubicBezTo>
                    <a:pt x="4" y="23"/>
                    <a:pt x="7" y="17"/>
                    <a:pt x="10" y="11"/>
                  </a:cubicBezTo>
                  <a:cubicBezTo>
                    <a:pt x="11" y="8"/>
                    <a:pt x="11" y="5"/>
                    <a:pt x="12" y="3"/>
                  </a:cubicBezTo>
                  <a:cubicBezTo>
                    <a:pt x="12" y="3"/>
                    <a:pt x="12" y="3"/>
                    <a:pt x="12" y="2"/>
                  </a:cubicBezTo>
                  <a:cubicBezTo>
                    <a:pt x="12" y="2"/>
                    <a:pt x="12" y="2"/>
                    <a:pt x="12" y="2"/>
                  </a:cubicBezTo>
                  <a:cubicBezTo>
                    <a:pt x="13" y="1"/>
                    <a:pt x="14" y="0"/>
                    <a:pt x="15" y="2"/>
                  </a:cubicBezTo>
                  <a:cubicBezTo>
                    <a:pt x="16" y="3"/>
                    <a:pt x="14" y="5"/>
                    <a:pt x="14" y="7"/>
                  </a:cubicBezTo>
                  <a:cubicBezTo>
                    <a:pt x="14" y="10"/>
                    <a:pt x="14" y="13"/>
                    <a:pt x="13" y="16"/>
                  </a:cubicBezTo>
                  <a:cubicBezTo>
                    <a:pt x="13" y="16"/>
                    <a:pt x="13" y="16"/>
                    <a:pt x="13" y="19"/>
                  </a:cubicBezTo>
                  <a:cubicBezTo>
                    <a:pt x="12" y="21"/>
                    <a:pt x="11" y="24"/>
                    <a:pt x="11" y="26"/>
                  </a:cubicBezTo>
                  <a:cubicBezTo>
                    <a:pt x="10" y="28"/>
                    <a:pt x="10" y="31"/>
                    <a:pt x="9" y="33"/>
                  </a:cubicBezTo>
                  <a:cubicBezTo>
                    <a:pt x="8" y="33"/>
                    <a:pt x="8" y="33"/>
                    <a:pt x="7" y="33"/>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1" name="Freeform 129"/>
            <p:cNvSpPr/>
            <p:nvPr userDrawn="1"/>
          </p:nvSpPr>
          <p:spPr bwMode="auto">
            <a:xfrm>
              <a:off x="1090" y="704"/>
              <a:ext cx="16" cy="16"/>
            </a:xfrm>
            <a:custGeom>
              <a:avLst/>
              <a:gdLst>
                <a:gd name="T0" fmla="*/ 8 w 13"/>
                <a:gd name="T1" fmla="*/ 12 h 13"/>
                <a:gd name="T2" fmla="*/ 1 w 13"/>
                <a:gd name="T3" fmla="*/ 10 h 13"/>
                <a:gd name="T4" fmla="*/ 1 w 13"/>
                <a:gd name="T5" fmla="*/ 8 h 13"/>
                <a:gd name="T6" fmla="*/ 2 w 13"/>
                <a:gd name="T7" fmla="*/ 7 h 13"/>
                <a:gd name="T8" fmla="*/ 5 w 13"/>
                <a:gd name="T9" fmla="*/ 6 h 13"/>
                <a:gd name="T10" fmla="*/ 12 w 13"/>
                <a:gd name="T11" fmla="*/ 1 h 13"/>
                <a:gd name="T12" fmla="*/ 8 w 13"/>
                <a:gd name="T13" fmla="*/ 12 h 13"/>
              </a:gdLst>
              <a:ahLst/>
              <a:cxnLst>
                <a:cxn ang="0">
                  <a:pos x="T0" y="T1"/>
                </a:cxn>
                <a:cxn ang="0">
                  <a:pos x="T2" y="T3"/>
                </a:cxn>
                <a:cxn ang="0">
                  <a:pos x="T4" y="T5"/>
                </a:cxn>
                <a:cxn ang="0">
                  <a:pos x="T6" y="T7"/>
                </a:cxn>
                <a:cxn ang="0">
                  <a:pos x="T8" y="T9"/>
                </a:cxn>
                <a:cxn ang="0">
                  <a:pos x="T10" y="T11"/>
                </a:cxn>
                <a:cxn ang="0">
                  <a:pos x="T12" y="T13"/>
                </a:cxn>
              </a:cxnLst>
              <a:rect l="0" t="0" r="r" b="b"/>
              <a:pathLst>
                <a:path w="13" h="13">
                  <a:moveTo>
                    <a:pt x="8" y="12"/>
                  </a:moveTo>
                  <a:cubicBezTo>
                    <a:pt x="5" y="13"/>
                    <a:pt x="3" y="12"/>
                    <a:pt x="1" y="10"/>
                  </a:cubicBezTo>
                  <a:cubicBezTo>
                    <a:pt x="0" y="10"/>
                    <a:pt x="1" y="9"/>
                    <a:pt x="1" y="8"/>
                  </a:cubicBezTo>
                  <a:cubicBezTo>
                    <a:pt x="1" y="8"/>
                    <a:pt x="1" y="8"/>
                    <a:pt x="2" y="7"/>
                  </a:cubicBezTo>
                  <a:cubicBezTo>
                    <a:pt x="3" y="7"/>
                    <a:pt x="3" y="7"/>
                    <a:pt x="5" y="6"/>
                  </a:cubicBezTo>
                  <a:cubicBezTo>
                    <a:pt x="6" y="5"/>
                    <a:pt x="10" y="0"/>
                    <a:pt x="12" y="1"/>
                  </a:cubicBezTo>
                  <a:cubicBezTo>
                    <a:pt x="13" y="4"/>
                    <a:pt x="11" y="10"/>
                    <a:pt x="8" y="12"/>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2" name="Freeform 130"/>
            <p:cNvSpPr/>
            <p:nvPr userDrawn="1"/>
          </p:nvSpPr>
          <p:spPr bwMode="auto">
            <a:xfrm>
              <a:off x="1062" y="710"/>
              <a:ext cx="12" cy="14"/>
            </a:xfrm>
            <a:custGeom>
              <a:avLst/>
              <a:gdLst>
                <a:gd name="T0" fmla="*/ 5 w 10"/>
                <a:gd name="T1" fmla="*/ 11 h 11"/>
                <a:gd name="T2" fmla="*/ 1 w 10"/>
                <a:gd name="T3" fmla="*/ 4 h 11"/>
                <a:gd name="T4" fmla="*/ 6 w 10"/>
                <a:gd name="T5" fmla="*/ 1 h 11"/>
                <a:gd name="T6" fmla="*/ 10 w 10"/>
                <a:gd name="T7" fmla="*/ 6 h 11"/>
                <a:gd name="T8" fmla="*/ 5 w 10"/>
                <a:gd name="T9" fmla="*/ 11 h 11"/>
              </a:gdLst>
              <a:ahLst/>
              <a:cxnLst>
                <a:cxn ang="0">
                  <a:pos x="T0" y="T1"/>
                </a:cxn>
                <a:cxn ang="0">
                  <a:pos x="T2" y="T3"/>
                </a:cxn>
                <a:cxn ang="0">
                  <a:pos x="T4" y="T5"/>
                </a:cxn>
                <a:cxn ang="0">
                  <a:pos x="T6" y="T7"/>
                </a:cxn>
                <a:cxn ang="0">
                  <a:pos x="T8" y="T9"/>
                </a:cxn>
              </a:cxnLst>
              <a:rect l="0" t="0" r="r" b="b"/>
              <a:pathLst>
                <a:path w="10" h="11">
                  <a:moveTo>
                    <a:pt x="5" y="11"/>
                  </a:moveTo>
                  <a:cubicBezTo>
                    <a:pt x="3" y="10"/>
                    <a:pt x="1" y="5"/>
                    <a:pt x="1" y="4"/>
                  </a:cubicBezTo>
                  <a:cubicBezTo>
                    <a:pt x="0" y="1"/>
                    <a:pt x="3" y="0"/>
                    <a:pt x="6" y="1"/>
                  </a:cubicBezTo>
                  <a:cubicBezTo>
                    <a:pt x="9" y="2"/>
                    <a:pt x="10" y="3"/>
                    <a:pt x="10" y="6"/>
                  </a:cubicBezTo>
                  <a:cubicBezTo>
                    <a:pt x="8" y="9"/>
                    <a:pt x="7" y="9"/>
                    <a:pt x="5" y="1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3" name="Freeform 131"/>
            <p:cNvSpPr/>
            <p:nvPr userDrawn="1"/>
          </p:nvSpPr>
          <p:spPr bwMode="auto">
            <a:xfrm>
              <a:off x="1085" y="688"/>
              <a:ext cx="19" cy="21"/>
            </a:xfrm>
            <a:custGeom>
              <a:avLst/>
              <a:gdLst>
                <a:gd name="T0" fmla="*/ 8 w 15"/>
                <a:gd name="T1" fmla="*/ 17 h 17"/>
                <a:gd name="T2" fmla="*/ 7 w 15"/>
                <a:gd name="T3" fmla="*/ 12 h 17"/>
                <a:gd name="T4" fmla="*/ 5 w 15"/>
                <a:gd name="T5" fmla="*/ 13 h 17"/>
                <a:gd name="T6" fmla="*/ 0 w 15"/>
                <a:gd name="T7" fmla="*/ 9 h 17"/>
                <a:gd name="T8" fmla="*/ 2 w 15"/>
                <a:gd name="T9" fmla="*/ 7 h 17"/>
                <a:gd name="T10" fmla="*/ 7 w 15"/>
                <a:gd name="T11" fmla="*/ 2 h 17"/>
                <a:gd name="T12" fmla="*/ 14 w 15"/>
                <a:gd name="T13" fmla="*/ 4 h 17"/>
                <a:gd name="T14" fmla="*/ 13 w 15"/>
                <a:gd name="T15" fmla="*/ 11 h 17"/>
                <a:gd name="T16" fmla="*/ 9 w 15"/>
                <a:gd name="T17" fmla="*/ 16 h 17"/>
                <a:gd name="T18" fmla="*/ 8 w 15"/>
                <a:gd name="T19"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7">
                  <a:moveTo>
                    <a:pt x="8" y="17"/>
                  </a:moveTo>
                  <a:cubicBezTo>
                    <a:pt x="7" y="16"/>
                    <a:pt x="8" y="12"/>
                    <a:pt x="7" y="12"/>
                  </a:cubicBezTo>
                  <a:cubicBezTo>
                    <a:pt x="6" y="12"/>
                    <a:pt x="6" y="13"/>
                    <a:pt x="5" y="13"/>
                  </a:cubicBezTo>
                  <a:cubicBezTo>
                    <a:pt x="3" y="13"/>
                    <a:pt x="0" y="11"/>
                    <a:pt x="0" y="9"/>
                  </a:cubicBezTo>
                  <a:cubicBezTo>
                    <a:pt x="1" y="7"/>
                    <a:pt x="0" y="8"/>
                    <a:pt x="2" y="7"/>
                  </a:cubicBezTo>
                  <a:cubicBezTo>
                    <a:pt x="4" y="5"/>
                    <a:pt x="6" y="3"/>
                    <a:pt x="7" y="2"/>
                  </a:cubicBezTo>
                  <a:cubicBezTo>
                    <a:pt x="11" y="0"/>
                    <a:pt x="13" y="1"/>
                    <a:pt x="14" y="4"/>
                  </a:cubicBezTo>
                  <a:cubicBezTo>
                    <a:pt x="15" y="7"/>
                    <a:pt x="14" y="9"/>
                    <a:pt x="13" y="11"/>
                  </a:cubicBezTo>
                  <a:cubicBezTo>
                    <a:pt x="12" y="13"/>
                    <a:pt x="10" y="15"/>
                    <a:pt x="9" y="16"/>
                  </a:cubicBezTo>
                  <a:cubicBezTo>
                    <a:pt x="9" y="17"/>
                    <a:pt x="8" y="17"/>
                    <a:pt x="8" y="1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4" name="Freeform 132"/>
            <p:cNvSpPr/>
            <p:nvPr userDrawn="1"/>
          </p:nvSpPr>
          <p:spPr bwMode="auto">
            <a:xfrm>
              <a:off x="1062" y="693"/>
              <a:ext cx="12" cy="13"/>
            </a:xfrm>
            <a:custGeom>
              <a:avLst/>
              <a:gdLst>
                <a:gd name="T0" fmla="*/ 4 w 10"/>
                <a:gd name="T1" fmla="*/ 11 h 11"/>
                <a:gd name="T2" fmla="*/ 3 w 10"/>
                <a:gd name="T3" fmla="*/ 9 h 11"/>
                <a:gd name="T4" fmla="*/ 1 w 10"/>
                <a:gd name="T5" fmla="*/ 6 h 11"/>
                <a:gd name="T6" fmla="*/ 1 w 10"/>
                <a:gd name="T7" fmla="*/ 0 h 11"/>
                <a:gd name="T8" fmla="*/ 10 w 10"/>
                <a:gd name="T9" fmla="*/ 5 h 11"/>
                <a:gd name="T10" fmla="*/ 4 w 10"/>
                <a:gd name="T11" fmla="*/ 11 h 11"/>
              </a:gdLst>
              <a:ahLst/>
              <a:cxnLst>
                <a:cxn ang="0">
                  <a:pos x="T0" y="T1"/>
                </a:cxn>
                <a:cxn ang="0">
                  <a:pos x="T2" y="T3"/>
                </a:cxn>
                <a:cxn ang="0">
                  <a:pos x="T4" y="T5"/>
                </a:cxn>
                <a:cxn ang="0">
                  <a:pos x="T6" y="T7"/>
                </a:cxn>
                <a:cxn ang="0">
                  <a:pos x="T8" y="T9"/>
                </a:cxn>
                <a:cxn ang="0">
                  <a:pos x="T10" y="T11"/>
                </a:cxn>
              </a:cxnLst>
              <a:rect l="0" t="0" r="r" b="b"/>
              <a:pathLst>
                <a:path w="10" h="11">
                  <a:moveTo>
                    <a:pt x="4" y="11"/>
                  </a:moveTo>
                  <a:cubicBezTo>
                    <a:pt x="3" y="11"/>
                    <a:pt x="3" y="10"/>
                    <a:pt x="3" y="9"/>
                  </a:cubicBezTo>
                  <a:cubicBezTo>
                    <a:pt x="3" y="8"/>
                    <a:pt x="2" y="7"/>
                    <a:pt x="1" y="6"/>
                  </a:cubicBezTo>
                  <a:cubicBezTo>
                    <a:pt x="0" y="3"/>
                    <a:pt x="0" y="2"/>
                    <a:pt x="1" y="0"/>
                  </a:cubicBezTo>
                  <a:cubicBezTo>
                    <a:pt x="3" y="0"/>
                    <a:pt x="10" y="1"/>
                    <a:pt x="10" y="5"/>
                  </a:cubicBezTo>
                  <a:cubicBezTo>
                    <a:pt x="9" y="7"/>
                    <a:pt x="6" y="10"/>
                    <a:pt x="4" y="11"/>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5" name="Freeform 133"/>
            <p:cNvSpPr/>
            <p:nvPr userDrawn="1"/>
          </p:nvSpPr>
          <p:spPr bwMode="auto">
            <a:xfrm>
              <a:off x="996" y="742"/>
              <a:ext cx="47" cy="83"/>
            </a:xfrm>
            <a:custGeom>
              <a:avLst/>
              <a:gdLst>
                <a:gd name="T0" fmla="*/ 22 w 38"/>
                <a:gd name="T1" fmla="*/ 64 h 66"/>
                <a:gd name="T2" fmla="*/ 13 w 38"/>
                <a:gd name="T3" fmla="*/ 61 h 66"/>
                <a:gd name="T4" fmla="*/ 13 w 38"/>
                <a:gd name="T5" fmla="*/ 59 h 66"/>
                <a:gd name="T6" fmla="*/ 13 w 38"/>
                <a:gd name="T7" fmla="*/ 59 h 66"/>
                <a:gd name="T8" fmla="*/ 8 w 38"/>
                <a:gd name="T9" fmla="*/ 46 h 66"/>
                <a:gd name="T10" fmla="*/ 7 w 38"/>
                <a:gd name="T11" fmla="*/ 42 h 66"/>
                <a:gd name="T12" fmla="*/ 10 w 38"/>
                <a:gd name="T13" fmla="*/ 44 h 66"/>
                <a:gd name="T14" fmla="*/ 11 w 38"/>
                <a:gd name="T15" fmla="*/ 42 h 66"/>
                <a:gd name="T16" fmla="*/ 11 w 38"/>
                <a:gd name="T17" fmla="*/ 33 h 66"/>
                <a:gd name="T18" fmla="*/ 8 w 38"/>
                <a:gd name="T19" fmla="*/ 31 h 66"/>
                <a:gd name="T20" fmla="*/ 4 w 38"/>
                <a:gd name="T21" fmla="*/ 34 h 66"/>
                <a:gd name="T22" fmla="*/ 4 w 38"/>
                <a:gd name="T23" fmla="*/ 27 h 66"/>
                <a:gd name="T24" fmla="*/ 0 w 38"/>
                <a:gd name="T25" fmla="*/ 23 h 66"/>
                <a:gd name="T26" fmla="*/ 6 w 38"/>
                <a:gd name="T27" fmla="*/ 21 h 66"/>
                <a:gd name="T28" fmla="*/ 10 w 38"/>
                <a:gd name="T29" fmla="*/ 23 h 66"/>
                <a:gd name="T30" fmla="*/ 11 w 38"/>
                <a:gd name="T31" fmla="*/ 25 h 66"/>
                <a:gd name="T32" fmla="*/ 12 w 38"/>
                <a:gd name="T33" fmla="*/ 24 h 66"/>
                <a:gd name="T34" fmla="*/ 12 w 38"/>
                <a:gd name="T35" fmla="*/ 17 h 66"/>
                <a:gd name="T36" fmla="*/ 7 w 38"/>
                <a:gd name="T37" fmla="*/ 10 h 66"/>
                <a:gd name="T38" fmla="*/ 12 w 38"/>
                <a:gd name="T39" fmla="*/ 6 h 66"/>
                <a:gd name="T40" fmla="*/ 13 w 38"/>
                <a:gd name="T41" fmla="*/ 1 h 66"/>
                <a:gd name="T42" fmla="*/ 14 w 38"/>
                <a:gd name="T43" fmla="*/ 0 h 66"/>
                <a:gd name="T44" fmla="*/ 16 w 38"/>
                <a:gd name="T45" fmla="*/ 1 h 66"/>
                <a:gd name="T46" fmla="*/ 18 w 38"/>
                <a:gd name="T47" fmla="*/ 12 h 66"/>
                <a:gd name="T48" fmla="*/ 17 w 38"/>
                <a:gd name="T49" fmla="*/ 8 h 66"/>
                <a:gd name="T50" fmla="*/ 22 w 38"/>
                <a:gd name="T51" fmla="*/ 3 h 66"/>
                <a:gd name="T52" fmla="*/ 25 w 38"/>
                <a:gd name="T53" fmla="*/ 7 h 66"/>
                <a:gd name="T54" fmla="*/ 26 w 38"/>
                <a:gd name="T55" fmla="*/ 8 h 66"/>
                <a:gd name="T56" fmla="*/ 35 w 38"/>
                <a:gd name="T57" fmla="*/ 15 h 66"/>
                <a:gd name="T58" fmla="*/ 37 w 38"/>
                <a:gd name="T59" fmla="*/ 19 h 66"/>
                <a:gd name="T60" fmla="*/ 37 w 38"/>
                <a:gd name="T61" fmla="*/ 20 h 66"/>
                <a:gd name="T62" fmla="*/ 37 w 38"/>
                <a:gd name="T63" fmla="*/ 20 h 66"/>
                <a:gd name="T64" fmla="*/ 36 w 38"/>
                <a:gd name="T65" fmla="*/ 24 h 66"/>
                <a:gd name="T66" fmla="*/ 23 w 38"/>
                <a:gd name="T67" fmla="*/ 15 h 66"/>
                <a:gd name="T68" fmla="*/ 23 w 38"/>
                <a:gd name="T69" fmla="*/ 15 h 66"/>
                <a:gd name="T70" fmla="*/ 27 w 38"/>
                <a:gd name="T71" fmla="*/ 25 h 66"/>
                <a:gd name="T72" fmla="*/ 22 w 38"/>
                <a:gd name="T73" fmla="*/ 27 h 66"/>
                <a:gd name="T74" fmla="*/ 22 w 38"/>
                <a:gd name="T75" fmla="*/ 25 h 66"/>
                <a:gd name="T76" fmla="*/ 15 w 38"/>
                <a:gd name="T77" fmla="*/ 19 h 66"/>
                <a:gd name="T78" fmla="*/ 16 w 38"/>
                <a:gd name="T79" fmla="*/ 27 h 66"/>
                <a:gd name="T80" fmla="*/ 17 w 38"/>
                <a:gd name="T81" fmla="*/ 31 h 66"/>
                <a:gd name="T82" fmla="*/ 21 w 38"/>
                <a:gd name="T83" fmla="*/ 35 h 66"/>
                <a:gd name="T84" fmla="*/ 22 w 38"/>
                <a:gd name="T85" fmla="*/ 38 h 66"/>
                <a:gd name="T86" fmla="*/ 22 w 38"/>
                <a:gd name="T87" fmla="*/ 39 h 66"/>
                <a:gd name="T88" fmla="*/ 22 w 38"/>
                <a:gd name="T89" fmla="*/ 44 h 66"/>
                <a:gd name="T90" fmla="*/ 21 w 38"/>
                <a:gd name="T91" fmla="*/ 44 h 66"/>
                <a:gd name="T92" fmla="*/ 17 w 38"/>
                <a:gd name="T93" fmla="*/ 38 h 66"/>
                <a:gd name="T94" fmla="*/ 16 w 38"/>
                <a:gd name="T95" fmla="*/ 44 h 66"/>
                <a:gd name="T96" fmla="*/ 13 w 38"/>
                <a:gd name="T97" fmla="*/ 46 h 66"/>
                <a:gd name="T98" fmla="*/ 13 w 38"/>
                <a:gd name="T99" fmla="*/ 46 h 66"/>
                <a:gd name="T100" fmla="*/ 12 w 38"/>
                <a:gd name="T101" fmla="*/ 47 h 66"/>
                <a:gd name="T102" fmla="*/ 14 w 38"/>
                <a:gd name="T103" fmla="*/ 50 h 66"/>
                <a:gd name="T104" fmla="*/ 23 w 38"/>
                <a:gd name="T105" fmla="*/ 62 h 66"/>
                <a:gd name="T106" fmla="*/ 22 w 38"/>
                <a:gd name="T107" fmla="*/ 6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8" h="66">
                  <a:moveTo>
                    <a:pt x="22" y="64"/>
                  </a:moveTo>
                  <a:cubicBezTo>
                    <a:pt x="19" y="66"/>
                    <a:pt x="12" y="65"/>
                    <a:pt x="13" y="61"/>
                  </a:cubicBezTo>
                  <a:cubicBezTo>
                    <a:pt x="13" y="60"/>
                    <a:pt x="13" y="59"/>
                    <a:pt x="13" y="59"/>
                  </a:cubicBezTo>
                  <a:cubicBezTo>
                    <a:pt x="13" y="59"/>
                    <a:pt x="13" y="59"/>
                    <a:pt x="13" y="59"/>
                  </a:cubicBezTo>
                  <a:cubicBezTo>
                    <a:pt x="12" y="54"/>
                    <a:pt x="9" y="50"/>
                    <a:pt x="8" y="46"/>
                  </a:cubicBezTo>
                  <a:cubicBezTo>
                    <a:pt x="7" y="45"/>
                    <a:pt x="7" y="44"/>
                    <a:pt x="7" y="42"/>
                  </a:cubicBezTo>
                  <a:cubicBezTo>
                    <a:pt x="8" y="42"/>
                    <a:pt x="9" y="43"/>
                    <a:pt x="10" y="44"/>
                  </a:cubicBezTo>
                  <a:cubicBezTo>
                    <a:pt x="11" y="44"/>
                    <a:pt x="11" y="43"/>
                    <a:pt x="11" y="42"/>
                  </a:cubicBezTo>
                  <a:cubicBezTo>
                    <a:pt x="11" y="39"/>
                    <a:pt x="11" y="36"/>
                    <a:pt x="11" y="33"/>
                  </a:cubicBezTo>
                  <a:cubicBezTo>
                    <a:pt x="10" y="32"/>
                    <a:pt x="9" y="31"/>
                    <a:pt x="8" y="31"/>
                  </a:cubicBezTo>
                  <a:cubicBezTo>
                    <a:pt x="8" y="32"/>
                    <a:pt x="6" y="37"/>
                    <a:pt x="4" y="34"/>
                  </a:cubicBezTo>
                  <a:cubicBezTo>
                    <a:pt x="5" y="32"/>
                    <a:pt x="5" y="29"/>
                    <a:pt x="4" y="27"/>
                  </a:cubicBezTo>
                  <a:cubicBezTo>
                    <a:pt x="2" y="25"/>
                    <a:pt x="0" y="24"/>
                    <a:pt x="0" y="23"/>
                  </a:cubicBezTo>
                  <a:cubicBezTo>
                    <a:pt x="0" y="20"/>
                    <a:pt x="4" y="20"/>
                    <a:pt x="6" y="21"/>
                  </a:cubicBezTo>
                  <a:cubicBezTo>
                    <a:pt x="8" y="21"/>
                    <a:pt x="8" y="17"/>
                    <a:pt x="10" y="23"/>
                  </a:cubicBezTo>
                  <a:cubicBezTo>
                    <a:pt x="10" y="24"/>
                    <a:pt x="11" y="24"/>
                    <a:pt x="11" y="25"/>
                  </a:cubicBezTo>
                  <a:cubicBezTo>
                    <a:pt x="12" y="25"/>
                    <a:pt x="12" y="24"/>
                    <a:pt x="12" y="24"/>
                  </a:cubicBezTo>
                  <a:cubicBezTo>
                    <a:pt x="12" y="22"/>
                    <a:pt x="12" y="19"/>
                    <a:pt x="12" y="17"/>
                  </a:cubicBezTo>
                  <a:cubicBezTo>
                    <a:pt x="10" y="15"/>
                    <a:pt x="8" y="13"/>
                    <a:pt x="7" y="10"/>
                  </a:cubicBezTo>
                  <a:cubicBezTo>
                    <a:pt x="7" y="8"/>
                    <a:pt x="10" y="6"/>
                    <a:pt x="12" y="6"/>
                  </a:cubicBezTo>
                  <a:cubicBezTo>
                    <a:pt x="13" y="4"/>
                    <a:pt x="13" y="3"/>
                    <a:pt x="13" y="1"/>
                  </a:cubicBezTo>
                  <a:cubicBezTo>
                    <a:pt x="13" y="1"/>
                    <a:pt x="13" y="1"/>
                    <a:pt x="14" y="0"/>
                  </a:cubicBezTo>
                  <a:cubicBezTo>
                    <a:pt x="15" y="0"/>
                    <a:pt x="15" y="0"/>
                    <a:pt x="16" y="1"/>
                  </a:cubicBezTo>
                  <a:cubicBezTo>
                    <a:pt x="18" y="3"/>
                    <a:pt x="14" y="11"/>
                    <a:pt x="18" y="12"/>
                  </a:cubicBezTo>
                  <a:cubicBezTo>
                    <a:pt x="19" y="11"/>
                    <a:pt x="18" y="9"/>
                    <a:pt x="17" y="8"/>
                  </a:cubicBezTo>
                  <a:cubicBezTo>
                    <a:pt x="17" y="6"/>
                    <a:pt x="20" y="4"/>
                    <a:pt x="22" y="3"/>
                  </a:cubicBezTo>
                  <a:cubicBezTo>
                    <a:pt x="26" y="3"/>
                    <a:pt x="25" y="4"/>
                    <a:pt x="25" y="7"/>
                  </a:cubicBezTo>
                  <a:cubicBezTo>
                    <a:pt x="26" y="7"/>
                    <a:pt x="26" y="8"/>
                    <a:pt x="26" y="8"/>
                  </a:cubicBezTo>
                  <a:cubicBezTo>
                    <a:pt x="30" y="11"/>
                    <a:pt x="30" y="11"/>
                    <a:pt x="35" y="15"/>
                  </a:cubicBezTo>
                  <a:cubicBezTo>
                    <a:pt x="36" y="16"/>
                    <a:pt x="37" y="17"/>
                    <a:pt x="37" y="19"/>
                  </a:cubicBezTo>
                  <a:cubicBezTo>
                    <a:pt x="37" y="19"/>
                    <a:pt x="37" y="19"/>
                    <a:pt x="37" y="20"/>
                  </a:cubicBezTo>
                  <a:cubicBezTo>
                    <a:pt x="37" y="20"/>
                    <a:pt x="37" y="20"/>
                    <a:pt x="37" y="20"/>
                  </a:cubicBezTo>
                  <a:cubicBezTo>
                    <a:pt x="38" y="21"/>
                    <a:pt x="38" y="24"/>
                    <a:pt x="36" y="24"/>
                  </a:cubicBezTo>
                  <a:cubicBezTo>
                    <a:pt x="32" y="21"/>
                    <a:pt x="27" y="18"/>
                    <a:pt x="23" y="15"/>
                  </a:cubicBezTo>
                  <a:cubicBezTo>
                    <a:pt x="23" y="15"/>
                    <a:pt x="23" y="15"/>
                    <a:pt x="23" y="15"/>
                  </a:cubicBezTo>
                  <a:cubicBezTo>
                    <a:pt x="25" y="17"/>
                    <a:pt x="27" y="22"/>
                    <a:pt x="27" y="25"/>
                  </a:cubicBezTo>
                  <a:cubicBezTo>
                    <a:pt x="26" y="26"/>
                    <a:pt x="24" y="27"/>
                    <a:pt x="22" y="27"/>
                  </a:cubicBezTo>
                  <a:cubicBezTo>
                    <a:pt x="22" y="26"/>
                    <a:pt x="22" y="26"/>
                    <a:pt x="22" y="25"/>
                  </a:cubicBezTo>
                  <a:cubicBezTo>
                    <a:pt x="21" y="23"/>
                    <a:pt x="17" y="21"/>
                    <a:pt x="15" y="19"/>
                  </a:cubicBezTo>
                  <a:cubicBezTo>
                    <a:pt x="14" y="21"/>
                    <a:pt x="16" y="25"/>
                    <a:pt x="16" y="27"/>
                  </a:cubicBezTo>
                  <a:cubicBezTo>
                    <a:pt x="16" y="28"/>
                    <a:pt x="16" y="30"/>
                    <a:pt x="17" y="31"/>
                  </a:cubicBezTo>
                  <a:cubicBezTo>
                    <a:pt x="18" y="32"/>
                    <a:pt x="19" y="34"/>
                    <a:pt x="21" y="35"/>
                  </a:cubicBezTo>
                  <a:cubicBezTo>
                    <a:pt x="21" y="36"/>
                    <a:pt x="22" y="37"/>
                    <a:pt x="22" y="38"/>
                  </a:cubicBezTo>
                  <a:cubicBezTo>
                    <a:pt x="22" y="38"/>
                    <a:pt x="22" y="38"/>
                    <a:pt x="22" y="39"/>
                  </a:cubicBezTo>
                  <a:cubicBezTo>
                    <a:pt x="23" y="40"/>
                    <a:pt x="24" y="44"/>
                    <a:pt x="22" y="44"/>
                  </a:cubicBezTo>
                  <a:cubicBezTo>
                    <a:pt x="21" y="44"/>
                    <a:pt x="21" y="44"/>
                    <a:pt x="21" y="44"/>
                  </a:cubicBezTo>
                  <a:cubicBezTo>
                    <a:pt x="20" y="41"/>
                    <a:pt x="18" y="39"/>
                    <a:pt x="17" y="38"/>
                  </a:cubicBezTo>
                  <a:cubicBezTo>
                    <a:pt x="16" y="40"/>
                    <a:pt x="17" y="42"/>
                    <a:pt x="16" y="44"/>
                  </a:cubicBezTo>
                  <a:cubicBezTo>
                    <a:pt x="15" y="45"/>
                    <a:pt x="14" y="46"/>
                    <a:pt x="13" y="46"/>
                  </a:cubicBezTo>
                  <a:cubicBezTo>
                    <a:pt x="13" y="46"/>
                    <a:pt x="13" y="46"/>
                    <a:pt x="13" y="46"/>
                  </a:cubicBezTo>
                  <a:cubicBezTo>
                    <a:pt x="12" y="46"/>
                    <a:pt x="12" y="46"/>
                    <a:pt x="12" y="47"/>
                  </a:cubicBezTo>
                  <a:cubicBezTo>
                    <a:pt x="12" y="48"/>
                    <a:pt x="13" y="49"/>
                    <a:pt x="14" y="50"/>
                  </a:cubicBezTo>
                  <a:cubicBezTo>
                    <a:pt x="16" y="54"/>
                    <a:pt x="19" y="58"/>
                    <a:pt x="23" y="62"/>
                  </a:cubicBezTo>
                  <a:cubicBezTo>
                    <a:pt x="23" y="63"/>
                    <a:pt x="23" y="63"/>
                    <a:pt x="22" y="64"/>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6" name="Freeform 134"/>
            <p:cNvSpPr/>
            <p:nvPr userDrawn="1"/>
          </p:nvSpPr>
          <p:spPr bwMode="auto">
            <a:xfrm>
              <a:off x="989" y="789"/>
              <a:ext cx="13" cy="11"/>
            </a:xfrm>
            <a:custGeom>
              <a:avLst/>
              <a:gdLst>
                <a:gd name="T0" fmla="*/ 9 w 11"/>
                <a:gd name="T1" fmla="*/ 9 h 9"/>
                <a:gd name="T2" fmla="*/ 7 w 11"/>
                <a:gd name="T3" fmla="*/ 7 h 9"/>
                <a:gd name="T4" fmla="*/ 0 w 11"/>
                <a:gd name="T5" fmla="*/ 2 h 9"/>
                <a:gd name="T6" fmla="*/ 0 w 11"/>
                <a:gd name="T7" fmla="*/ 1 h 9"/>
                <a:gd name="T8" fmla="*/ 7 w 11"/>
                <a:gd name="T9" fmla="*/ 0 h 9"/>
                <a:gd name="T10" fmla="*/ 9 w 11"/>
                <a:gd name="T11" fmla="*/ 9 h 9"/>
              </a:gdLst>
              <a:ahLst/>
              <a:cxnLst>
                <a:cxn ang="0">
                  <a:pos x="T0" y="T1"/>
                </a:cxn>
                <a:cxn ang="0">
                  <a:pos x="T2" y="T3"/>
                </a:cxn>
                <a:cxn ang="0">
                  <a:pos x="T4" y="T5"/>
                </a:cxn>
                <a:cxn ang="0">
                  <a:pos x="T6" y="T7"/>
                </a:cxn>
                <a:cxn ang="0">
                  <a:pos x="T8" y="T9"/>
                </a:cxn>
                <a:cxn ang="0">
                  <a:pos x="T10" y="T11"/>
                </a:cxn>
              </a:cxnLst>
              <a:rect l="0" t="0" r="r" b="b"/>
              <a:pathLst>
                <a:path w="11" h="9">
                  <a:moveTo>
                    <a:pt x="9" y="9"/>
                  </a:moveTo>
                  <a:cubicBezTo>
                    <a:pt x="8" y="9"/>
                    <a:pt x="7" y="8"/>
                    <a:pt x="7" y="7"/>
                  </a:cubicBezTo>
                  <a:cubicBezTo>
                    <a:pt x="3" y="6"/>
                    <a:pt x="1" y="5"/>
                    <a:pt x="0" y="2"/>
                  </a:cubicBezTo>
                  <a:cubicBezTo>
                    <a:pt x="0" y="2"/>
                    <a:pt x="0" y="2"/>
                    <a:pt x="0" y="1"/>
                  </a:cubicBezTo>
                  <a:cubicBezTo>
                    <a:pt x="2" y="1"/>
                    <a:pt x="5" y="0"/>
                    <a:pt x="7" y="0"/>
                  </a:cubicBezTo>
                  <a:cubicBezTo>
                    <a:pt x="11" y="1"/>
                    <a:pt x="10" y="6"/>
                    <a:pt x="9" y="9"/>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7" name="Freeform 135"/>
            <p:cNvSpPr/>
            <p:nvPr userDrawn="1"/>
          </p:nvSpPr>
          <p:spPr bwMode="auto">
            <a:xfrm>
              <a:off x="977" y="776"/>
              <a:ext cx="14" cy="13"/>
            </a:xfrm>
            <a:custGeom>
              <a:avLst/>
              <a:gdLst>
                <a:gd name="T0" fmla="*/ 10 w 11"/>
                <a:gd name="T1" fmla="*/ 10 h 10"/>
                <a:gd name="T2" fmla="*/ 9 w 11"/>
                <a:gd name="T3" fmla="*/ 10 h 10"/>
                <a:gd name="T4" fmla="*/ 8 w 11"/>
                <a:gd name="T5" fmla="*/ 8 h 10"/>
                <a:gd name="T6" fmla="*/ 1 w 11"/>
                <a:gd name="T7" fmla="*/ 2 h 10"/>
                <a:gd name="T8" fmla="*/ 4 w 11"/>
                <a:gd name="T9" fmla="*/ 2 h 10"/>
                <a:gd name="T10" fmla="*/ 11 w 11"/>
                <a:gd name="T11" fmla="*/ 5 h 10"/>
                <a:gd name="T12" fmla="*/ 10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10" y="10"/>
                  </a:moveTo>
                  <a:cubicBezTo>
                    <a:pt x="9" y="10"/>
                    <a:pt x="9" y="10"/>
                    <a:pt x="9" y="10"/>
                  </a:cubicBezTo>
                  <a:cubicBezTo>
                    <a:pt x="8" y="9"/>
                    <a:pt x="8" y="9"/>
                    <a:pt x="8" y="8"/>
                  </a:cubicBezTo>
                  <a:cubicBezTo>
                    <a:pt x="4" y="8"/>
                    <a:pt x="0" y="6"/>
                    <a:pt x="1" y="2"/>
                  </a:cubicBezTo>
                  <a:cubicBezTo>
                    <a:pt x="2" y="1"/>
                    <a:pt x="2" y="2"/>
                    <a:pt x="4" y="2"/>
                  </a:cubicBezTo>
                  <a:cubicBezTo>
                    <a:pt x="7" y="2"/>
                    <a:pt x="11" y="0"/>
                    <a:pt x="11" y="5"/>
                  </a:cubicBezTo>
                  <a:cubicBezTo>
                    <a:pt x="11" y="6"/>
                    <a:pt x="10" y="8"/>
                    <a:pt x="10" y="10"/>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8" name="Freeform 136"/>
            <p:cNvSpPr/>
            <p:nvPr userDrawn="1"/>
          </p:nvSpPr>
          <p:spPr bwMode="auto">
            <a:xfrm>
              <a:off x="1048" y="786"/>
              <a:ext cx="163" cy="141"/>
            </a:xfrm>
            <a:custGeom>
              <a:avLst/>
              <a:gdLst>
                <a:gd name="T0" fmla="*/ 132 w 132"/>
                <a:gd name="T1" fmla="*/ 6 h 113"/>
                <a:gd name="T2" fmla="*/ 98 w 132"/>
                <a:gd name="T3" fmla="*/ 6 h 113"/>
                <a:gd name="T4" fmla="*/ 79 w 132"/>
                <a:gd name="T5" fmla="*/ 25 h 113"/>
                <a:gd name="T6" fmla="*/ 73 w 132"/>
                <a:gd name="T7" fmla="*/ 12 h 113"/>
                <a:gd name="T8" fmla="*/ 83 w 132"/>
                <a:gd name="T9" fmla="*/ 8 h 113"/>
                <a:gd name="T10" fmla="*/ 57 w 132"/>
                <a:gd name="T11" fmla="*/ 8 h 113"/>
                <a:gd name="T12" fmla="*/ 53 w 132"/>
                <a:gd name="T13" fmla="*/ 25 h 113"/>
                <a:gd name="T14" fmla="*/ 34 w 132"/>
                <a:gd name="T15" fmla="*/ 6 h 113"/>
                <a:gd name="T16" fmla="*/ 0 w 132"/>
                <a:gd name="T17" fmla="*/ 6 h 113"/>
                <a:gd name="T18" fmla="*/ 24 w 132"/>
                <a:gd name="T19" fmla="*/ 16 h 113"/>
                <a:gd name="T20" fmla="*/ 27 w 132"/>
                <a:gd name="T21" fmla="*/ 22 h 113"/>
                <a:gd name="T22" fmla="*/ 9 w 132"/>
                <a:gd name="T23" fmla="*/ 22 h 113"/>
                <a:gd name="T24" fmla="*/ 31 w 132"/>
                <a:gd name="T25" fmla="*/ 32 h 113"/>
                <a:gd name="T26" fmla="*/ 34 w 132"/>
                <a:gd name="T27" fmla="*/ 38 h 113"/>
                <a:gd name="T28" fmla="*/ 20 w 132"/>
                <a:gd name="T29" fmla="*/ 39 h 113"/>
                <a:gd name="T30" fmla="*/ 38 w 132"/>
                <a:gd name="T31" fmla="*/ 48 h 113"/>
                <a:gd name="T32" fmla="*/ 41 w 132"/>
                <a:gd name="T33" fmla="*/ 54 h 113"/>
                <a:gd name="T34" fmla="*/ 30 w 132"/>
                <a:gd name="T35" fmla="*/ 54 h 113"/>
                <a:gd name="T36" fmla="*/ 45 w 132"/>
                <a:gd name="T37" fmla="*/ 63 h 113"/>
                <a:gd name="T38" fmla="*/ 47 w 132"/>
                <a:gd name="T39" fmla="*/ 69 h 113"/>
                <a:gd name="T40" fmla="*/ 39 w 132"/>
                <a:gd name="T41" fmla="*/ 69 h 113"/>
                <a:gd name="T42" fmla="*/ 51 w 132"/>
                <a:gd name="T43" fmla="*/ 78 h 113"/>
                <a:gd name="T44" fmla="*/ 51 w 132"/>
                <a:gd name="T45" fmla="*/ 89 h 113"/>
                <a:gd name="T46" fmla="*/ 66 w 132"/>
                <a:gd name="T47" fmla="*/ 113 h 113"/>
                <a:gd name="T48" fmla="*/ 81 w 132"/>
                <a:gd name="T49" fmla="*/ 89 h 113"/>
                <a:gd name="T50" fmla="*/ 81 w 132"/>
                <a:gd name="T51" fmla="*/ 78 h 113"/>
                <a:gd name="T52" fmla="*/ 92 w 132"/>
                <a:gd name="T53" fmla="*/ 69 h 113"/>
                <a:gd name="T54" fmla="*/ 85 w 132"/>
                <a:gd name="T55" fmla="*/ 69 h 113"/>
                <a:gd name="T56" fmla="*/ 87 w 132"/>
                <a:gd name="T57" fmla="*/ 63 h 113"/>
                <a:gd name="T58" fmla="*/ 102 w 132"/>
                <a:gd name="T59" fmla="*/ 54 h 113"/>
                <a:gd name="T60" fmla="*/ 91 w 132"/>
                <a:gd name="T61" fmla="*/ 54 h 113"/>
                <a:gd name="T62" fmla="*/ 93 w 132"/>
                <a:gd name="T63" fmla="*/ 48 h 113"/>
                <a:gd name="T64" fmla="*/ 111 w 132"/>
                <a:gd name="T65" fmla="*/ 39 h 113"/>
                <a:gd name="T66" fmla="*/ 97 w 132"/>
                <a:gd name="T67" fmla="*/ 38 h 113"/>
                <a:gd name="T68" fmla="*/ 100 w 132"/>
                <a:gd name="T69" fmla="*/ 32 h 113"/>
                <a:gd name="T70" fmla="*/ 123 w 132"/>
                <a:gd name="T71" fmla="*/ 22 h 113"/>
                <a:gd name="T72" fmla="*/ 105 w 132"/>
                <a:gd name="T73" fmla="*/ 22 h 113"/>
                <a:gd name="T74" fmla="*/ 107 w 132"/>
                <a:gd name="T75" fmla="*/ 16 h 113"/>
                <a:gd name="T76" fmla="*/ 132 w 132"/>
                <a:gd name="T77" fmla="*/ 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2" h="113">
                  <a:moveTo>
                    <a:pt x="132" y="6"/>
                  </a:moveTo>
                  <a:cubicBezTo>
                    <a:pt x="98" y="6"/>
                    <a:pt x="98" y="6"/>
                    <a:pt x="98" y="6"/>
                  </a:cubicBezTo>
                  <a:cubicBezTo>
                    <a:pt x="88" y="6"/>
                    <a:pt x="83" y="16"/>
                    <a:pt x="79" y="25"/>
                  </a:cubicBezTo>
                  <a:cubicBezTo>
                    <a:pt x="73" y="12"/>
                    <a:pt x="73" y="12"/>
                    <a:pt x="73" y="12"/>
                  </a:cubicBezTo>
                  <a:cubicBezTo>
                    <a:pt x="83" y="8"/>
                    <a:pt x="83" y="8"/>
                    <a:pt x="83" y="8"/>
                  </a:cubicBezTo>
                  <a:cubicBezTo>
                    <a:pt x="77" y="3"/>
                    <a:pt x="59" y="0"/>
                    <a:pt x="57" y="8"/>
                  </a:cubicBezTo>
                  <a:cubicBezTo>
                    <a:pt x="53" y="25"/>
                    <a:pt x="53" y="25"/>
                    <a:pt x="53" y="25"/>
                  </a:cubicBezTo>
                  <a:cubicBezTo>
                    <a:pt x="50" y="17"/>
                    <a:pt x="45" y="6"/>
                    <a:pt x="34" y="6"/>
                  </a:cubicBezTo>
                  <a:cubicBezTo>
                    <a:pt x="0" y="6"/>
                    <a:pt x="0" y="6"/>
                    <a:pt x="0" y="6"/>
                  </a:cubicBezTo>
                  <a:cubicBezTo>
                    <a:pt x="4" y="14"/>
                    <a:pt x="8" y="17"/>
                    <a:pt x="24" y="16"/>
                  </a:cubicBezTo>
                  <a:cubicBezTo>
                    <a:pt x="27" y="22"/>
                    <a:pt x="27" y="22"/>
                    <a:pt x="27" y="22"/>
                  </a:cubicBezTo>
                  <a:cubicBezTo>
                    <a:pt x="9" y="22"/>
                    <a:pt x="9" y="22"/>
                    <a:pt x="9" y="22"/>
                  </a:cubicBezTo>
                  <a:cubicBezTo>
                    <a:pt x="14" y="32"/>
                    <a:pt x="17" y="32"/>
                    <a:pt x="31" y="32"/>
                  </a:cubicBezTo>
                  <a:cubicBezTo>
                    <a:pt x="34" y="38"/>
                    <a:pt x="34" y="38"/>
                    <a:pt x="34" y="38"/>
                  </a:cubicBezTo>
                  <a:cubicBezTo>
                    <a:pt x="20" y="39"/>
                    <a:pt x="20" y="39"/>
                    <a:pt x="20" y="39"/>
                  </a:cubicBezTo>
                  <a:cubicBezTo>
                    <a:pt x="23" y="45"/>
                    <a:pt x="27" y="48"/>
                    <a:pt x="38" y="48"/>
                  </a:cubicBezTo>
                  <a:cubicBezTo>
                    <a:pt x="41" y="54"/>
                    <a:pt x="41" y="54"/>
                    <a:pt x="41" y="54"/>
                  </a:cubicBezTo>
                  <a:cubicBezTo>
                    <a:pt x="30" y="54"/>
                    <a:pt x="30" y="54"/>
                    <a:pt x="30" y="54"/>
                  </a:cubicBezTo>
                  <a:cubicBezTo>
                    <a:pt x="34" y="61"/>
                    <a:pt x="36" y="64"/>
                    <a:pt x="45" y="63"/>
                  </a:cubicBezTo>
                  <a:cubicBezTo>
                    <a:pt x="47" y="69"/>
                    <a:pt x="47" y="69"/>
                    <a:pt x="47" y="69"/>
                  </a:cubicBezTo>
                  <a:cubicBezTo>
                    <a:pt x="39" y="69"/>
                    <a:pt x="39" y="69"/>
                    <a:pt x="39" y="69"/>
                  </a:cubicBezTo>
                  <a:cubicBezTo>
                    <a:pt x="43" y="77"/>
                    <a:pt x="46" y="77"/>
                    <a:pt x="51" y="78"/>
                  </a:cubicBezTo>
                  <a:cubicBezTo>
                    <a:pt x="55" y="78"/>
                    <a:pt x="56" y="86"/>
                    <a:pt x="51" y="89"/>
                  </a:cubicBezTo>
                  <a:cubicBezTo>
                    <a:pt x="66" y="113"/>
                    <a:pt x="66" y="113"/>
                    <a:pt x="66" y="113"/>
                  </a:cubicBezTo>
                  <a:cubicBezTo>
                    <a:pt x="81" y="89"/>
                    <a:pt x="81" y="89"/>
                    <a:pt x="81" y="89"/>
                  </a:cubicBezTo>
                  <a:cubicBezTo>
                    <a:pt x="76" y="86"/>
                    <a:pt x="76" y="78"/>
                    <a:pt x="81" y="78"/>
                  </a:cubicBezTo>
                  <a:cubicBezTo>
                    <a:pt x="85" y="77"/>
                    <a:pt x="89" y="77"/>
                    <a:pt x="92" y="69"/>
                  </a:cubicBezTo>
                  <a:cubicBezTo>
                    <a:pt x="85" y="69"/>
                    <a:pt x="85" y="69"/>
                    <a:pt x="85" y="69"/>
                  </a:cubicBezTo>
                  <a:cubicBezTo>
                    <a:pt x="87" y="63"/>
                    <a:pt x="87" y="63"/>
                    <a:pt x="87" y="63"/>
                  </a:cubicBezTo>
                  <a:cubicBezTo>
                    <a:pt x="96" y="64"/>
                    <a:pt x="98" y="60"/>
                    <a:pt x="102" y="54"/>
                  </a:cubicBezTo>
                  <a:cubicBezTo>
                    <a:pt x="91" y="54"/>
                    <a:pt x="91" y="54"/>
                    <a:pt x="91" y="54"/>
                  </a:cubicBezTo>
                  <a:cubicBezTo>
                    <a:pt x="93" y="48"/>
                    <a:pt x="93" y="48"/>
                    <a:pt x="93" y="48"/>
                  </a:cubicBezTo>
                  <a:cubicBezTo>
                    <a:pt x="105" y="48"/>
                    <a:pt x="108" y="45"/>
                    <a:pt x="111" y="39"/>
                  </a:cubicBezTo>
                  <a:cubicBezTo>
                    <a:pt x="97" y="38"/>
                    <a:pt x="97" y="38"/>
                    <a:pt x="97" y="38"/>
                  </a:cubicBezTo>
                  <a:cubicBezTo>
                    <a:pt x="100" y="32"/>
                    <a:pt x="100" y="32"/>
                    <a:pt x="100" y="32"/>
                  </a:cubicBezTo>
                  <a:cubicBezTo>
                    <a:pt x="115" y="32"/>
                    <a:pt x="118" y="32"/>
                    <a:pt x="123" y="22"/>
                  </a:cubicBezTo>
                  <a:cubicBezTo>
                    <a:pt x="105" y="22"/>
                    <a:pt x="105" y="22"/>
                    <a:pt x="105" y="22"/>
                  </a:cubicBezTo>
                  <a:cubicBezTo>
                    <a:pt x="107" y="16"/>
                    <a:pt x="107" y="16"/>
                    <a:pt x="107" y="16"/>
                  </a:cubicBezTo>
                  <a:cubicBezTo>
                    <a:pt x="123" y="17"/>
                    <a:pt x="128" y="14"/>
                    <a:pt x="132" y="6"/>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39" name="Freeform 137"/>
            <p:cNvSpPr>
              <a:spLocks noEditPoints="1"/>
            </p:cNvSpPr>
            <p:nvPr userDrawn="1"/>
          </p:nvSpPr>
          <p:spPr bwMode="auto">
            <a:xfrm>
              <a:off x="1214" y="757"/>
              <a:ext cx="64" cy="43"/>
            </a:xfrm>
            <a:custGeom>
              <a:avLst/>
              <a:gdLst>
                <a:gd name="T0" fmla="*/ 51 w 52"/>
                <a:gd name="T1" fmla="*/ 10 h 34"/>
                <a:gd name="T2" fmla="*/ 48 w 52"/>
                <a:gd name="T3" fmla="*/ 10 h 34"/>
                <a:gd name="T4" fmla="*/ 47 w 52"/>
                <a:gd name="T5" fmla="*/ 8 h 34"/>
                <a:gd name="T6" fmla="*/ 50 w 52"/>
                <a:gd name="T7" fmla="*/ 7 h 34"/>
                <a:gd name="T8" fmla="*/ 52 w 52"/>
                <a:gd name="T9" fmla="*/ 2 h 34"/>
                <a:gd name="T10" fmla="*/ 44 w 52"/>
                <a:gd name="T11" fmla="*/ 3 h 34"/>
                <a:gd name="T12" fmla="*/ 36 w 52"/>
                <a:gd name="T13" fmla="*/ 1 h 34"/>
                <a:gd name="T14" fmla="*/ 36 w 52"/>
                <a:gd name="T15" fmla="*/ 3 h 34"/>
                <a:gd name="T16" fmla="*/ 35 w 52"/>
                <a:gd name="T17" fmla="*/ 4 h 34"/>
                <a:gd name="T18" fmla="*/ 35 w 52"/>
                <a:gd name="T19" fmla="*/ 5 h 34"/>
                <a:gd name="T20" fmla="*/ 34 w 52"/>
                <a:gd name="T21" fmla="*/ 7 h 34"/>
                <a:gd name="T22" fmla="*/ 34 w 52"/>
                <a:gd name="T23" fmla="*/ 6 h 34"/>
                <a:gd name="T24" fmla="*/ 30 w 52"/>
                <a:gd name="T25" fmla="*/ 5 h 34"/>
                <a:gd name="T26" fmla="*/ 28 w 52"/>
                <a:gd name="T27" fmla="*/ 9 h 34"/>
                <a:gd name="T28" fmla="*/ 28 w 52"/>
                <a:gd name="T29" fmla="*/ 10 h 34"/>
                <a:gd name="T30" fmla="*/ 31 w 52"/>
                <a:gd name="T31" fmla="*/ 11 h 34"/>
                <a:gd name="T32" fmla="*/ 33 w 52"/>
                <a:gd name="T33" fmla="*/ 12 h 34"/>
                <a:gd name="T34" fmla="*/ 30 w 52"/>
                <a:gd name="T35" fmla="*/ 14 h 34"/>
                <a:gd name="T36" fmla="*/ 26 w 52"/>
                <a:gd name="T37" fmla="*/ 14 h 34"/>
                <a:gd name="T38" fmla="*/ 13 w 52"/>
                <a:gd name="T39" fmla="*/ 11 h 34"/>
                <a:gd name="T40" fmla="*/ 13 w 52"/>
                <a:gd name="T41" fmla="*/ 12 h 34"/>
                <a:gd name="T42" fmla="*/ 20 w 52"/>
                <a:gd name="T43" fmla="*/ 16 h 34"/>
                <a:gd name="T44" fmla="*/ 32 w 52"/>
                <a:gd name="T45" fmla="*/ 20 h 34"/>
                <a:gd name="T46" fmla="*/ 31 w 52"/>
                <a:gd name="T47" fmla="*/ 20 h 34"/>
                <a:gd name="T48" fmla="*/ 24 w 52"/>
                <a:gd name="T49" fmla="*/ 20 h 34"/>
                <a:gd name="T50" fmla="*/ 19 w 52"/>
                <a:gd name="T51" fmla="*/ 19 h 34"/>
                <a:gd name="T52" fmla="*/ 18 w 52"/>
                <a:gd name="T53" fmla="*/ 19 h 34"/>
                <a:gd name="T54" fmla="*/ 4 w 52"/>
                <a:gd name="T55" fmla="*/ 14 h 34"/>
                <a:gd name="T56" fmla="*/ 2 w 52"/>
                <a:gd name="T57" fmla="*/ 12 h 34"/>
                <a:gd name="T58" fmla="*/ 3 w 52"/>
                <a:gd name="T59" fmla="*/ 20 h 34"/>
                <a:gd name="T60" fmla="*/ 13 w 52"/>
                <a:gd name="T61" fmla="*/ 23 h 34"/>
                <a:gd name="T62" fmla="*/ 13 w 52"/>
                <a:gd name="T63" fmla="*/ 24 h 34"/>
                <a:gd name="T64" fmla="*/ 9 w 52"/>
                <a:gd name="T65" fmla="*/ 27 h 34"/>
                <a:gd name="T66" fmla="*/ 4 w 52"/>
                <a:gd name="T67" fmla="*/ 26 h 34"/>
                <a:gd name="T68" fmla="*/ 9 w 52"/>
                <a:gd name="T69" fmla="*/ 33 h 34"/>
                <a:gd name="T70" fmla="*/ 10 w 52"/>
                <a:gd name="T71" fmla="*/ 34 h 34"/>
                <a:gd name="T72" fmla="*/ 18 w 52"/>
                <a:gd name="T73" fmla="*/ 28 h 34"/>
                <a:gd name="T74" fmla="*/ 23 w 52"/>
                <a:gd name="T75" fmla="*/ 28 h 34"/>
                <a:gd name="T76" fmla="*/ 22 w 52"/>
                <a:gd name="T77" fmla="*/ 23 h 34"/>
                <a:gd name="T78" fmla="*/ 23 w 52"/>
                <a:gd name="T79" fmla="*/ 21 h 34"/>
                <a:gd name="T80" fmla="*/ 30 w 52"/>
                <a:gd name="T81" fmla="*/ 22 h 34"/>
                <a:gd name="T82" fmla="*/ 36 w 52"/>
                <a:gd name="T83" fmla="*/ 25 h 34"/>
                <a:gd name="T84" fmla="*/ 39 w 52"/>
                <a:gd name="T85" fmla="*/ 21 h 34"/>
                <a:gd name="T86" fmla="*/ 39 w 52"/>
                <a:gd name="T87" fmla="*/ 20 h 34"/>
                <a:gd name="T88" fmla="*/ 51 w 52"/>
                <a:gd name="T89" fmla="*/ 14 h 34"/>
                <a:gd name="T90" fmla="*/ 38 w 52"/>
                <a:gd name="T91" fmla="*/ 14 h 34"/>
                <a:gd name="T92" fmla="*/ 38 w 52"/>
                <a:gd name="T93" fmla="*/ 12 h 34"/>
                <a:gd name="T94" fmla="*/ 36 w 52"/>
                <a:gd name="T95" fmla="*/ 11 h 34"/>
                <a:gd name="T96" fmla="*/ 36 w 52"/>
                <a:gd name="T97" fmla="*/ 10 h 34"/>
                <a:gd name="T98" fmla="*/ 40 w 52"/>
                <a:gd name="T99" fmla="*/ 9 h 34"/>
                <a:gd name="T100" fmla="*/ 43 w 52"/>
                <a:gd name="T101" fmla="*/ 14 h 34"/>
                <a:gd name="T102" fmla="*/ 38 w 52"/>
                <a:gd name="T103" fmla="*/ 1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 h="34">
                  <a:moveTo>
                    <a:pt x="51" y="13"/>
                  </a:moveTo>
                  <a:cubicBezTo>
                    <a:pt x="51" y="12"/>
                    <a:pt x="51" y="12"/>
                    <a:pt x="51" y="12"/>
                  </a:cubicBezTo>
                  <a:cubicBezTo>
                    <a:pt x="51" y="11"/>
                    <a:pt x="51" y="11"/>
                    <a:pt x="51" y="10"/>
                  </a:cubicBezTo>
                  <a:cubicBezTo>
                    <a:pt x="51" y="10"/>
                    <a:pt x="50" y="10"/>
                    <a:pt x="50" y="10"/>
                  </a:cubicBezTo>
                  <a:cubicBezTo>
                    <a:pt x="49" y="10"/>
                    <a:pt x="49" y="10"/>
                    <a:pt x="49" y="10"/>
                  </a:cubicBezTo>
                  <a:cubicBezTo>
                    <a:pt x="48" y="10"/>
                    <a:pt x="48" y="10"/>
                    <a:pt x="48" y="10"/>
                  </a:cubicBezTo>
                  <a:cubicBezTo>
                    <a:pt x="48" y="9"/>
                    <a:pt x="48" y="9"/>
                    <a:pt x="48" y="9"/>
                  </a:cubicBezTo>
                  <a:cubicBezTo>
                    <a:pt x="48" y="9"/>
                    <a:pt x="48" y="9"/>
                    <a:pt x="48" y="9"/>
                  </a:cubicBezTo>
                  <a:cubicBezTo>
                    <a:pt x="47" y="8"/>
                    <a:pt x="47" y="8"/>
                    <a:pt x="47" y="8"/>
                  </a:cubicBezTo>
                  <a:cubicBezTo>
                    <a:pt x="47" y="8"/>
                    <a:pt x="47" y="8"/>
                    <a:pt x="47" y="8"/>
                  </a:cubicBezTo>
                  <a:cubicBezTo>
                    <a:pt x="48" y="8"/>
                    <a:pt x="48" y="8"/>
                    <a:pt x="48" y="8"/>
                  </a:cubicBezTo>
                  <a:cubicBezTo>
                    <a:pt x="48" y="7"/>
                    <a:pt x="49" y="7"/>
                    <a:pt x="50" y="7"/>
                  </a:cubicBezTo>
                  <a:cubicBezTo>
                    <a:pt x="50" y="7"/>
                    <a:pt x="50" y="7"/>
                    <a:pt x="50" y="7"/>
                  </a:cubicBezTo>
                  <a:cubicBezTo>
                    <a:pt x="50" y="7"/>
                    <a:pt x="50" y="7"/>
                    <a:pt x="50" y="7"/>
                  </a:cubicBezTo>
                  <a:cubicBezTo>
                    <a:pt x="51" y="6"/>
                    <a:pt x="52" y="4"/>
                    <a:pt x="52" y="2"/>
                  </a:cubicBezTo>
                  <a:cubicBezTo>
                    <a:pt x="52" y="2"/>
                    <a:pt x="51" y="2"/>
                    <a:pt x="50" y="2"/>
                  </a:cubicBezTo>
                  <a:cubicBezTo>
                    <a:pt x="49" y="2"/>
                    <a:pt x="48" y="2"/>
                    <a:pt x="46" y="3"/>
                  </a:cubicBezTo>
                  <a:cubicBezTo>
                    <a:pt x="46" y="3"/>
                    <a:pt x="45" y="3"/>
                    <a:pt x="44" y="3"/>
                  </a:cubicBezTo>
                  <a:cubicBezTo>
                    <a:pt x="43" y="3"/>
                    <a:pt x="43" y="3"/>
                    <a:pt x="43" y="3"/>
                  </a:cubicBezTo>
                  <a:cubicBezTo>
                    <a:pt x="41" y="2"/>
                    <a:pt x="41" y="2"/>
                    <a:pt x="36" y="0"/>
                  </a:cubicBezTo>
                  <a:cubicBezTo>
                    <a:pt x="36" y="0"/>
                    <a:pt x="36" y="0"/>
                    <a:pt x="36" y="1"/>
                  </a:cubicBezTo>
                  <a:cubicBezTo>
                    <a:pt x="35" y="1"/>
                    <a:pt x="35" y="2"/>
                    <a:pt x="36" y="3"/>
                  </a:cubicBezTo>
                  <a:cubicBezTo>
                    <a:pt x="36" y="3"/>
                    <a:pt x="36" y="3"/>
                    <a:pt x="36" y="3"/>
                  </a:cubicBezTo>
                  <a:cubicBezTo>
                    <a:pt x="36" y="3"/>
                    <a:pt x="36" y="3"/>
                    <a:pt x="36" y="3"/>
                  </a:cubicBezTo>
                  <a:cubicBezTo>
                    <a:pt x="36" y="3"/>
                    <a:pt x="36" y="3"/>
                    <a:pt x="36" y="3"/>
                  </a:cubicBezTo>
                  <a:cubicBezTo>
                    <a:pt x="35" y="4"/>
                    <a:pt x="35" y="4"/>
                    <a:pt x="35" y="4"/>
                  </a:cubicBezTo>
                  <a:cubicBezTo>
                    <a:pt x="35" y="4"/>
                    <a:pt x="35" y="4"/>
                    <a:pt x="35" y="4"/>
                  </a:cubicBezTo>
                  <a:cubicBezTo>
                    <a:pt x="35" y="4"/>
                    <a:pt x="35" y="4"/>
                    <a:pt x="35" y="4"/>
                  </a:cubicBezTo>
                  <a:cubicBezTo>
                    <a:pt x="35" y="4"/>
                    <a:pt x="35" y="4"/>
                    <a:pt x="35" y="4"/>
                  </a:cubicBezTo>
                  <a:cubicBezTo>
                    <a:pt x="35" y="4"/>
                    <a:pt x="35" y="5"/>
                    <a:pt x="35" y="5"/>
                  </a:cubicBezTo>
                  <a:cubicBezTo>
                    <a:pt x="35" y="5"/>
                    <a:pt x="35" y="5"/>
                    <a:pt x="35" y="5"/>
                  </a:cubicBezTo>
                  <a:cubicBezTo>
                    <a:pt x="35" y="6"/>
                    <a:pt x="35" y="6"/>
                    <a:pt x="35" y="6"/>
                  </a:cubicBezTo>
                  <a:cubicBezTo>
                    <a:pt x="34" y="7"/>
                    <a:pt x="34" y="7"/>
                    <a:pt x="34" y="7"/>
                  </a:cubicBezTo>
                  <a:cubicBezTo>
                    <a:pt x="34" y="7"/>
                    <a:pt x="34" y="7"/>
                    <a:pt x="34" y="7"/>
                  </a:cubicBezTo>
                  <a:cubicBezTo>
                    <a:pt x="34" y="7"/>
                    <a:pt x="34" y="7"/>
                    <a:pt x="34" y="7"/>
                  </a:cubicBezTo>
                  <a:cubicBezTo>
                    <a:pt x="34" y="6"/>
                    <a:pt x="34" y="6"/>
                    <a:pt x="34" y="6"/>
                  </a:cubicBezTo>
                  <a:cubicBezTo>
                    <a:pt x="33" y="6"/>
                    <a:pt x="33" y="6"/>
                    <a:pt x="32" y="5"/>
                  </a:cubicBezTo>
                  <a:cubicBezTo>
                    <a:pt x="32" y="5"/>
                    <a:pt x="32" y="5"/>
                    <a:pt x="32" y="5"/>
                  </a:cubicBezTo>
                  <a:cubicBezTo>
                    <a:pt x="31" y="5"/>
                    <a:pt x="31" y="5"/>
                    <a:pt x="30" y="5"/>
                  </a:cubicBezTo>
                  <a:cubicBezTo>
                    <a:pt x="30" y="6"/>
                    <a:pt x="30" y="6"/>
                    <a:pt x="30" y="6"/>
                  </a:cubicBezTo>
                  <a:cubicBezTo>
                    <a:pt x="30" y="7"/>
                    <a:pt x="30" y="7"/>
                    <a:pt x="30" y="7"/>
                  </a:cubicBezTo>
                  <a:cubicBezTo>
                    <a:pt x="30" y="7"/>
                    <a:pt x="30" y="8"/>
                    <a:pt x="28" y="9"/>
                  </a:cubicBezTo>
                  <a:cubicBezTo>
                    <a:pt x="27" y="8"/>
                    <a:pt x="27" y="8"/>
                    <a:pt x="27" y="8"/>
                  </a:cubicBezTo>
                  <a:cubicBezTo>
                    <a:pt x="26" y="8"/>
                    <a:pt x="26" y="9"/>
                    <a:pt x="26" y="9"/>
                  </a:cubicBezTo>
                  <a:cubicBezTo>
                    <a:pt x="26" y="10"/>
                    <a:pt x="26" y="10"/>
                    <a:pt x="28" y="10"/>
                  </a:cubicBezTo>
                  <a:cubicBezTo>
                    <a:pt x="29" y="10"/>
                    <a:pt x="29" y="11"/>
                    <a:pt x="30" y="11"/>
                  </a:cubicBezTo>
                  <a:cubicBezTo>
                    <a:pt x="30" y="11"/>
                    <a:pt x="30" y="11"/>
                    <a:pt x="30" y="11"/>
                  </a:cubicBezTo>
                  <a:cubicBezTo>
                    <a:pt x="31" y="11"/>
                    <a:pt x="31" y="11"/>
                    <a:pt x="31" y="11"/>
                  </a:cubicBezTo>
                  <a:cubicBezTo>
                    <a:pt x="32" y="11"/>
                    <a:pt x="32" y="11"/>
                    <a:pt x="32" y="11"/>
                  </a:cubicBezTo>
                  <a:cubicBezTo>
                    <a:pt x="33" y="11"/>
                    <a:pt x="33" y="11"/>
                    <a:pt x="33" y="11"/>
                  </a:cubicBezTo>
                  <a:cubicBezTo>
                    <a:pt x="33" y="12"/>
                    <a:pt x="33" y="12"/>
                    <a:pt x="33" y="12"/>
                  </a:cubicBezTo>
                  <a:cubicBezTo>
                    <a:pt x="31" y="12"/>
                    <a:pt x="31" y="12"/>
                    <a:pt x="31" y="12"/>
                  </a:cubicBezTo>
                  <a:cubicBezTo>
                    <a:pt x="31" y="12"/>
                    <a:pt x="31" y="13"/>
                    <a:pt x="30" y="13"/>
                  </a:cubicBezTo>
                  <a:cubicBezTo>
                    <a:pt x="30" y="14"/>
                    <a:pt x="30" y="14"/>
                    <a:pt x="30" y="14"/>
                  </a:cubicBezTo>
                  <a:cubicBezTo>
                    <a:pt x="29" y="15"/>
                    <a:pt x="29" y="15"/>
                    <a:pt x="29" y="15"/>
                  </a:cubicBezTo>
                  <a:cubicBezTo>
                    <a:pt x="29" y="14"/>
                    <a:pt x="29" y="14"/>
                    <a:pt x="29" y="14"/>
                  </a:cubicBezTo>
                  <a:cubicBezTo>
                    <a:pt x="28" y="14"/>
                    <a:pt x="27" y="14"/>
                    <a:pt x="26" y="14"/>
                  </a:cubicBezTo>
                  <a:cubicBezTo>
                    <a:pt x="24" y="13"/>
                    <a:pt x="24" y="13"/>
                    <a:pt x="24" y="13"/>
                  </a:cubicBezTo>
                  <a:cubicBezTo>
                    <a:pt x="22" y="13"/>
                    <a:pt x="18" y="12"/>
                    <a:pt x="15" y="11"/>
                  </a:cubicBezTo>
                  <a:cubicBezTo>
                    <a:pt x="15" y="11"/>
                    <a:pt x="14" y="11"/>
                    <a:pt x="13" y="11"/>
                  </a:cubicBezTo>
                  <a:cubicBezTo>
                    <a:pt x="12" y="10"/>
                    <a:pt x="12" y="10"/>
                    <a:pt x="12" y="10"/>
                  </a:cubicBezTo>
                  <a:cubicBezTo>
                    <a:pt x="11" y="11"/>
                    <a:pt x="11" y="11"/>
                    <a:pt x="11" y="11"/>
                  </a:cubicBezTo>
                  <a:cubicBezTo>
                    <a:pt x="12" y="11"/>
                    <a:pt x="12" y="12"/>
                    <a:pt x="13" y="12"/>
                  </a:cubicBezTo>
                  <a:cubicBezTo>
                    <a:pt x="13" y="12"/>
                    <a:pt x="13" y="12"/>
                    <a:pt x="13" y="12"/>
                  </a:cubicBezTo>
                  <a:cubicBezTo>
                    <a:pt x="14" y="13"/>
                    <a:pt x="14" y="15"/>
                    <a:pt x="16" y="16"/>
                  </a:cubicBezTo>
                  <a:cubicBezTo>
                    <a:pt x="17" y="16"/>
                    <a:pt x="18" y="16"/>
                    <a:pt x="20" y="16"/>
                  </a:cubicBezTo>
                  <a:cubicBezTo>
                    <a:pt x="23" y="16"/>
                    <a:pt x="28" y="17"/>
                    <a:pt x="31" y="19"/>
                  </a:cubicBezTo>
                  <a:cubicBezTo>
                    <a:pt x="32" y="20"/>
                    <a:pt x="32" y="20"/>
                    <a:pt x="32" y="20"/>
                  </a:cubicBezTo>
                  <a:cubicBezTo>
                    <a:pt x="32" y="20"/>
                    <a:pt x="32" y="20"/>
                    <a:pt x="32" y="20"/>
                  </a:cubicBezTo>
                  <a:cubicBezTo>
                    <a:pt x="32" y="20"/>
                    <a:pt x="32" y="20"/>
                    <a:pt x="32" y="20"/>
                  </a:cubicBezTo>
                  <a:cubicBezTo>
                    <a:pt x="32" y="20"/>
                    <a:pt x="32" y="20"/>
                    <a:pt x="32" y="20"/>
                  </a:cubicBezTo>
                  <a:cubicBezTo>
                    <a:pt x="31" y="20"/>
                    <a:pt x="31" y="20"/>
                    <a:pt x="31" y="20"/>
                  </a:cubicBezTo>
                  <a:cubicBezTo>
                    <a:pt x="30" y="20"/>
                    <a:pt x="30" y="21"/>
                    <a:pt x="30" y="21"/>
                  </a:cubicBezTo>
                  <a:cubicBezTo>
                    <a:pt x="29" y="21"/>
                    <a:pt x="29" y="21"/>
                    <a:pt x="29" y="21"/>
                  </a:cubicBezTo>
                  <a:cubicBezTo>
                    <a:pt x="26" y="20"/>
                    <a:pt x="26" y="20"/>
                    <a:pt x="24" y="20"/>
                  </a:cubicBezTo>
                  <a:cubicBezTo>
                    <a:pt x="23" y="19"/>
                    <a:pt x="22" y="18"/>
                    <a:pt x="21" y="18"/>
                  </a:cubicBezTo>
                  <a:cubicBezTo>
                    <a:pt x="21" y="18"/>
                    <a:pt x="20" y="19"/>
                    <a:pt x="19" y="19"/>
                  </a:cubicBezTo>
                  <a:cubicBezTo>
                    <a:pt x="19" y="19"/>
                    <a:pt x="19" y="19"/>
                    <a:pt x="19" y="19"/>
                  </a:cubicBezTo>
                  <a:cubicBezTo>
                    <a:pt x="19" y="19"/>
                    <a:pt x="19" y="19"/>
                    <a:pt x="19" y="19"/>
                  </a:cubicBezTo>
                  <a:cubicBezTo>
                    <a:pt x="19" y="20"/>
                    <a:pt x="19" y="20"/>
                    <a:pt x="19" y="20"/>
                  </a:cubicBezTo>
                  <a:cubicBezTo>
                    <a:pt x="18" y="19"/>
                    <a:pt x="18" y="19"/>
                    <a:pt x="18" y="19"/>
                  </a:cubicBezTo>
                  <a:cubicBezTo>
                    <a:pt x="18" y="19"/>
                    <a:pt x="18" y="19"/>
                    <a:pt x="17" y="19"/>
                  </a:cubicBezTo>
                  <a:cubicBezTo>
                    <a:pt x="16" y="19"/>
                    <a:pt x="15" y="18"/>
                    <a:pt x="14" y="18"/>
                  </a:cubicBezTo>
                  <a:cubicBezTo>
                    <a:pt x="10" y="17"/>
                    <a:pt x="7" y="16"/>
                    <a:pt x="4" y="14"/>
                  </a:cubicBezTo>
                  <a:cubicBezTo>
                    <a:pt x="3" y="13"/>
                    <a:pt x="3" y="13"/>
                    <a:pt x="2" y="12"/>
                  </a:cubicBezTo>
                  <a:cubicBezTo>
                    <a:pt x="2" y="12"/>
                    <a:pt x="2" y="12"/>
                    <a:pt x="2" y="12"/>
                  </a:cubicBezTo>
                  <a:cubicBezTo>
                    <a:pt x="2" y="12"/>
                    <a:pt x="2" y="12"/>
                    <a:pt x="2" y="12"/>
                  </a:cubicBezTo>
                  <a:cubicBezTo>
                    <a:pt x="2" y="11"/>
                    <a:pt x="2" y="11"/>
                    <a:pt x="2" y="11"/>
                  </a:cubicBezTo>
                  <a:cubicBezTo>
                    <a:pt x="1" y="11"/>
                    <a:pt x="1" y="12"/>
                    <a:pt x="0" y="12"/>
                  </a:cubicBezTo>
                  <a:cubicBezTo>
                    <a:pt x="0" y="14"/>
                    <a:pt x="2" y="19"/>
                    <a:pt x="3" y="20"/>
                  </a:cubicBezTo>
                  <a:cubicBezTo>
                    <a:pt x="4" y="20"/>
                    <a:pt x="5" y="21"/>
                    <a:pt x="6" y="21"/>
                  </a:cubicBezTo>
                  <a:cubicBezTo>
                    <a:pt x="8" y="21"/>
                    <a:pt x="11" y="22"/>
                    <a:pt x="12" y="23"/>
                  </a:cubicBezTo>
                  <a:cubicBezTo>
                    <a:pt x="13" y="23"/>
                    <a:pt x="13" y="23"/>
                    <a:pt x="13" y="23"/>
                  </a:cubicBezTo>
                  <a:cubicBezTo>
                    <a:pt x="13" y="23"/>
                    <a:pt x="13" y="23"/>
                    <a:pt x="13" y="23"/>
                  </a:cubicBezTo>
                  <a:cubicBezTo>
                    <a:pt x="13" y="23"/>
                    <a:pt x="13" y="23"/>
                    <a:pt x="13" y="23"/>
                  </a:cubicBezTo>
                  <a:cubicBezTo>
                    <a:pt x="13" y="24"/>
                    <a:pt x="13" y="24"/>
                    <a:pt x="13" y="24"/>
                  </a:cubicBezTo>
                  <a:cubicBezTo>
                    <a:pt x="12" y="25"/>
                    <a:pt x="11" y="26"/>
                    <a:pt x="10" y="26"/>
                  </a:cubicBezTo>
                  <a:cubicBezTo>
                    <a:pt x="10" y="27"/>
                    <a:pt x="10" y="27"/>
                    <a:pt x="10" y="27"/>
                  </a:cubicBezTo>
                  <a:cubicBezTo>
                    <a:pt x="10" y="27"/>
                    <a:pt x="9" y="27"/>
                    <a:pt x="9" y="27"/>
                  </a:cubicBezTo>
                  <a:cubicBezTo>
                    <a:pt x="9" y="27"/>
                    <a:pt x="9" y="27"/>
                    <a:pt x="9" y="27"/>
                  </a:cubicBezTo>
                  <a:cubicBezTo>
                    <a:pt x="9" y="28"/>
                    <a:pt x="8" y="28"/>
                    <a:pt x="8" y="28"/>
                  </a:cubicBezTo>
                  <a:cubicBezTo>
                    <a:pt x="7" y="28"/>
                    <a:pt x="5" y="27"/>
                    <a:pt x="4" y="26"/>
                  </a:cubicBezTo>
                  <a:cubicBezTo>
                    <a:pt x="4" y="26"/>
                    <a:pt x="3" y="26"/>
                    <a:pt x="3" y="26"/>
                  </a:cubicBezTo>
                  <a:cubicBezTo>
                    <a:pt x="3" y="26"/>
                    <a:pt x="3" y="26"/>
                    <a:pt x="3" y="26"/>
                  </a:cubicBezTo>
                  <a:cubicBezTo>
                    <a:pt x="4" y="29"/>
                    <a:pt x="6" y="31"/>
                    <a:pt x="9" y="33"/>
                  </a:cubicBezTo>
                  <a:cubicBezTo>
                    <a:pt x="9" y="34"/>
                    <a:pt x="9" y="34"/>
                    <a:pt x="9" y="34"/>
                  </a:cubicBezTo>
                  <a:cubicBezTo>
                    <a:pt x="10" y="34"/>
                    <a:pt x="10" y="34"/>
                    <a:pt x="10" y="34"/>
                  </a:cubicBezTo>
                  <a:cubicBezTo>
                    <a:pt x="10" y="34"/>
                    <a:pt x="10" y="34"/>
                    <a:pt x="10" y="34"/>
                  </a:cubicBezTo>
                  <a:cubicBezTo>
                    <a:pt x="12" y="34"/>
                    <a:pt x="15" y="31"/>
                    <a:pt x="16" y="29"/>
                  </a:cubicBezTo>
                  <a:cubicBezTo>
                    <a:pt x="16" y="29"/>
                    <a:pt x="17" y="28"/>
                    <a:pt x="17" y="28"/>
                  </a:cubicBezTo>
                  <a:cubicBezTo>
                    <a:pt x="18" y="28"/>
                    <a:pt x="18" y="28"/>
                    <a:pt x="18" y="28"/>
                  </a:cubicBezTo>
                  <a:cubicBezTo>
                    <a:pt x="19" y="27"/>
                    <a:pt x="19" y="27"/>
                    <a:pt x="19" y="27"/>
                  </a:cubicBezTo>
                  <a:cubicBezTo>
                    <a:pt x="19" y="27"/>
                    <a:pt x="19" y="27"/>
                    <a:pt x="19" y="27"/>
                  </a:cubicBezTo>
                  <a:cubicBezTo>
                    <a:pt x="21" y="27"/>
                    <a:pt x="22" y="27"/>
                    <a:pt x="23" y="28"/>
                  </a:cubicBezTo>
                  <a:cubicBezTo>
                    <a:pt x="24" y="28"/>
                    <a:pt x="25" y="26"/>
                    <a:pt x="25" y="25"/>
                  </a:cubicBezTo>
                  <a:cubicBezTo>
                    <a:pt x="25" y="25"/>
                    <a:pt x="25" y="25"/>
                    <a:pt x="25" y="25"/>
                  </a:cubicBezTo>
                  <a:cubicBezTo>
                    <a:pt x="24" y="24"/>
                    <a:pt x="23" y="23"/>
                    <a:pt x="22" y="23"/>
                  </a:cubicBezTo>
                  <a:cubicBezTo>
                    <a:pt x="22" y="23"/>
                    <a:pt x="22" y="23"/>
                    <a:pt x="22" y="23"/>
                  </a:cubicBezTo>
                  <a:cubicBezTo>
                    <a:pt x="22" y="22"/>
                    <a:pt x="22" y="22"/>
                    <a:pt x="22" y="22"/>
                  </a:cubicBezTo>
                  <a:cubicBezTo>
                    <a:pt x="23" y="21"/>
                    <a:pt x="23" y="21"/>
                    <a:pt x="23" y="21"/>
                  </a:cubicBezTo>
                  <a:cubicBezTo>
                    <a:pt x="23" y="20"/>
                    <a:pt x="23" y="20"/>
                    <a:pt x="23" y="20"/>
                  </a:cubicBezTo>
                  <a:cubicBezTo>
                    <a:pt x="24" y="20"/>
                    <a:pt x="24" y="20"/>
                    <a:pt x="24" y="20"/>
                  </a:cubicBezTo>
                  <a:cubicBezTo>
                    <a:pt x="26" y="21"/>
                    <a:pt x="28" y="22"/>
                    <a:pt x="30" y="22"/>
                  </a:cubicBezTo>
                  <a:cubicBezTo>
                    <a:pt x="32" y="23"/>
                    <a:pt x="32" y="23"/>
                    <a:pt x="32" y="23"/>
                  </a:cubicBezTo>
                  <a:cubicBezTo>
                    <a:pt x="33" y="23"/>
                    <a:pt x="33" y="23"/>
                    <a:pt x="33" y="23"/>
                  </a:cubicBezTo>
                  <a:cubicBezTo>
                    <a:pt x="34" y="24"/>
                    <a:pt x="35" y="25"/>
                    <a:pt x="36" y="25"/>
                  </a:cubicBezTo>
                  <a:cubicBezTo>
                    <a:pt x="36" y="25"/>
                    <a:pt x="37" y="25"/>
                    <a:pt x="37" y="25"/>
                  </a:cubicBezTo>
                  <a:cubicBezTo>
                    <a:pt x="38" y="23"/>
                    <a:pt x="39" y="22"/>
                    <a:pt x="39" y="21"/>
                  </a:cubicBezTo>
                  <a:cubicBezTo>
                    <a:pt x="39" y="21"/>
                    <a:pt x="39" y="21"/>
                    <a:pt x="39" y="21"/>
                  </a:cubicBezTo>
                  <a:cubicBezTo>
                    <a:pt x="39" y="21"/>
                    <a:pt x="40" y="21"/>
                    <a:pt x="40" y="21"/>
                  </a:cubicBezTo>
                  <a:cubicBezTo>
                    <a:pt x="39" y="21"/>
                    <a:pt x="39" y="21"/>
                    <a:pt x="39" y="21"/>
                  </a:cubicBezTo>
                  <a:cubicBezTo>
                    <a:pt x="39" y="20"/>
                    <a:pt x="39" y="20"/>
                    <a:pt x="39" y="20"/>
                  </a:cubicBezTo>
                  <a:cubicBezTo>
                    <a:pt x="39" y="20"/>
                    <a:pt x="40" y="20"/>
                    <a:pt x="40" y="20"/>
                  </a:cubicBezTo>
                  <a:cubicBezTo>
                    <a:pt x="43" y="19"/>
                    <a:pt x="47" y="17"/>
                    <a:pt x="50" y="16"/>
                  </a:cubicBezTo>
                  <a:cubicBezTo>
                    <a:pt x="51" y="15"/>
                    <a:pt x="52" y="15"/>
                    <a:pt x="51" y="14"/>
                  </a:cubicBezTo>
                  <a:cubicBezTo>
                    <a:pt x="51" y="13"/>
                    <a:pt x="51" y="13"/>
                    <a:pt x="51" y="13"/>
                  </a:cubicBezTo>
                  <a:moveTo>
                    <a:pt x="37" y="15"/>
                  </a:moveTo>
                  <a:cubicBezTo>
                    <a:pt x="38" y="14"/>
                    <a:pt x="38" y="14"/>
                    <a:pt x="38" y="14"/>
                  </a:cubicBezTo>
                  <a:cubicBezTo>
                    <a:pt x="39" y="13"/>
                    <a:pt x="39" y="13"/>
                    <a:pt x="39" y="13"/>
                  </a:cubicBezTo>
                  <a:cubicBezTo>
                    <a:pt x="39" y="13"/>
                    <a:pt x="39" y="12"/>
                    <a:pt x="38" y="12"/>
                  </a:cubicBezTo>
                  <a:cubicBezTo>
                    <a:pt x="38" y="12"/>
                    <a:pt x="38" y="12"/>
                    <a:pt x="38" y="12"/>
                  </a:cubicBezTo>
                  <a:cubicBezTo>
                    <a:pt x="38" y="12"/>
                    <a:pt x="38" y="12"/>
                    <a:pt x="38" y="12"/>
                  </a:cubicBezTo>
                  <a:cubicBezTo>
                    <a:pt x="37" y="12"/>
                    <a:pt x="37" y="12"/>
                    <a:pt x="37" y="12"/>
                  </a:cubicBezTo>
                  <a:cubicBezTo>
                    <a:pt x="36" y="11"/>
                    <a:pt x="36" y="11"/>
                    <a:pt x="36" y="11"/>
                  </a:cubicBezTo>
                  <a:cubicBezTo>
                    <a:pt x="36" y="11"/>
                    <a:pt x="36" y="11"/>
                    <a:pt x="36" y="11"/>
                  </a:cubicBezTo>
                  <a:cubicBezTo>
                    <a:pt x="37" y="10"/>
                    <a:pt x="37" y="10"/>
                    <a:pt x="37" y="10"/>
                  </a:cubicBezTo>
                  <a:cubicBezTo>
                    <a:pt x="36" y="10"/>
                    <a:pt x="36" y="10"/>
                    <a:pt x="36" y="10"/>
                  </a:cubicBezTo>
                  <a:cubicBezTo>
                    <a:pt x="37" y="10"/>
                    <a:pt x="37" y="10"/>
                    <a:pt x="37" y="10"/>
                  </a:cubicBezTo>
                  <a:cubicBezTo>
                    <a:pt x="40" y="9"/>
                    <a:pt x="40" y="9"/>
                    <a:pt x="40" y="9"/>
                  </a:cubicBezTo>
                  <a:cubicBezTo>
                    <a:pt x="40" y="9"/>
                    <a:pt x="40" y="9"/>
                    <a:pt x="40" y="9"/>
                  </a:cubicBezTo>
                  <a:cubicBezTo>
                    <a:pt x="41" y="9"/>
                    <a:pt x="41" y="9"/>
                    <a:pt x="41" y="9"/>
                  </a:cubicBezTo>
                  <a:cubicBezTo>
                    <a:pt x="41" y="10"/>
                    <a:pt x="43" y="11"/>
                    <a:pt x="43" y="13"/>
                  </a:cubicBezTo>
                  <a:cubicBezTo>
                    <a:pt x="43" y="14"/>
                    <a:pt x="43" y="14"/>
                    <a:pt x="43" y="14"/>
                  </a:cubicBezTo>
                  <a:cubicBezTo>
                    <a:pt x="42" y="15"/>
                    <a:pt x="40" y="16"/>
                    <a:pt x="38" y="16"/>
                  </a:cubicBezTo>
                  <a:cubicBezTo>
                    <a:pt x="38" y="16"/>
                    <a:pt x="38" y="16"/>
                    <a:pt x="38" y="16"/>
                  </a:cubicBezTo>
                  <a:cubicBezTo>
                    <a:pt x="38" y="15"/>
                    <a:pt x="38" y="15"/>
                    <a:pt x="38" y="15"/>
                  </a:cubicBezTo>
                  <a:cubicBezTo>
                    <a:pt x="37" y="15"/>
                    <a:pt x="37" y="15"/>
                    <a:pt x="37" y="15"/>
                  </a:cubicBez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0" name="Freeform 138"/>
            <p:cNvSpPr/>
            <p:nvPr userDrawn="1"/>
          </p:nvSpPr>
          <p:spPr bwMode="auto">
            <a:xfrm>
              <a:off x="1239" y="750"/>
              <a:ext cx="10" cy="19"/>
            </a:xfrm>
            <a:custGeom>
              <a:avLst/>
              <a:gdLst>
                <a:gd name="T0" fmla="*/ 2 w 8"/>
                <a:gd name="T1" fmla="*/ 15 h 15"/>
                <a:gd name="T2" fmla="*/ 0 w 8"/>
                <a:gd name="T3" fmla="*/ 14 h 15"/>
                <a:gd name="T4" fmla="*/ 2 w 8"/>
                <a:gd name="T5" fmla="*/ 9 h 15"/>
                <a:gd name="T6" fmla="*/ 3 w 8"/>
                <a:gd name="T7" fmla="*/ 8 h 15"/>
                <a:gd name="T8" fmla="*/ 3 w 8"/>
                <a:gd name="T9" fmla="*/ 8 h 15"/>
                <a:gd name="T10" fmla="*/ 3 w 8"/>
                <a:gd name="T11" fmla="*/ 7 h 15"/>
                <a:gd name="T12" fmla="*/ 4 w 8"/>
                <a:gd name="T13" fmla="*/ 5 h 15"/>
                <a:gd name="T14" fmla="*/ 5 w 8"/>
                <a:gd name="T15" fmla="*/ 4 h 15"/>
                <a:gd name="T16" fmla="*/ 7 w 8"/>
                <a:gd name="T17" fmla="*/ 0 h 15"/>
                <a:gd name="T18" fmla="*/ 8 w 8"/>
                <a:gd name="T19" fmla="*/ 1 h 15"/>
                <a:gd name="T20" fmla="*/ 8 w 8"/>
                <a:gd name="T21" fmla="*/ 2 h 15"/>
                <a:gd name="T22" fmla="*/ 8 w 8"/>
                <a:gd name="T23" fmla="*/ 2 h 15"/>
                <a:gd name="T24" fmla="*/ 8 w 8"/>
                <a:gd name="T25" fmla="*/ 3 h 15"/>
                <a:gd name="T26" fmla="*/ 8 w 8"/>
                <a:gd name="T27" fmla="*/ 7 h 15"/>
                <a:gd name="T28" fmla="*/ 8 w 8"/>
                <a:gd name="T29" fmla="*/ 8 h 15"/>
                <a:gd name="T30" fmla="*/ 8 w 8"/>
                <a:gd name="T31" fmla="*/ 9 h 15"/>
                <a:gd name="T32" fmla="*/ 6 w 8"/>
                <a:gd name="T33" fmla="*/ 13 h 15"/>
                <a:gd name="T34" fmla="*/ 5 w 8"/>
                <a:gd name="T35" fmla="*/ 14 h 15"/>
                <a:gd name="T36" fmla="*/ 5 w 8"/>
                <a:gd name="T37" fmla="*/ 14 h 15"/>
                <a:gd name="T38" fmla="*/ 3 w 8"/>
                <a:gd name="T39" fmla="*/ 15 h 15"/>
                <a:gd name="T40" fmla="*/ 2 w 8"/>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 h="15">
                  <a:moveTo>
                    <a:pt x="2" y="15"/>
                  </a:moveTo>
                  <a:cubicBezTo>
                    <a:pt x="2" y="15"/>
                    <a:pt x="1" y="14"/>
                    <a:pt x="0" y="14"/>
                  </a:cubicBezTo>
                  <a:cubicBezTo>
                    <a:pt x="0" y="12"/>
                    <a:pt x="1" y="11"/>
                    <a:pt x="2" y="9"/>
                  </a:cubicBezTo>
                  <a:cubicBezTo>
                    <a:pt x="2" y="9"/>
                    <a:pt x="3" y="8"/>
                    <a:pt x="3" y="8"/>
                  </a:cubicBezTo>
                  <a:cubicBezTo>
                    <a:pt x="3" y="8"/>
                    <a:pt x="3" y="8"/>
                    <a:pt x="3" y="8"/>
                  </a:cubicBezTo>
                  <a:cubicBezTo>
                    <a:pt x="3" y="7"/>
                    <a:pt x="3" y="7"/>
                    <a:pt x="3" y="7"/>
                  </a:cubicBezTo>
                  <a:cubicBezTo>
                    <a:pt x="4" y="7"/>
                    <a:pt x="4" y="6"/>
                    <a:pt x="4" y="5"/>
                  </a:cubicBezTo>
                  <a:cubicBezTo>
                    <a:pt x="4" y="5"/>
                    <a:pt x="4" y="4"/>
                    <a:pt x="5" y="4"/>
                  </a:cubicBezTo>
                  <a:cubicBezTo>
                    <a:pt x="5" y="2"/>
                    <a:pt x="6" y="0"/>
                    <a:pt x="7" y="0"/>
                  </a:cubicBezTo>
                  <a:cubicBezTo>
                    <a:pt x="7" y="0"/>
                    <a:pt x="8" y="0"/>
                    <a:pt x="8" y="1"/>
                  </a:cubicBezTo>
                  <a:cubicBezTo>
                    <a:pt x="8" y="1"/>
                    <a:pt x="8" y="1"/>
                    <a:pt x="8" y="2"/>
                  </a:cubicBezTo>
                  <a:cubicBezTo>
                    <a:pt x="8" y="2"/>
                    <a:pt x="8" y="2"/>
                    <a:pt x="8" y="2"/>
                  </a:cubicBezTo>
                  <a:cubicBezTo>
                    <a:pt x="8" y="3"/>
                    <a:pt x="8" y="3"/>
                    <a:pt x="8" y="3"/>
                  </a:cubicBezTo>
                  <a:cubicBezTo>
                    <a:pt x="8" y="5"/>
                    <a:pt x="8" y="6"/>
                    <a:pt x="8" y="7"/>
                  </a:cubicBezTo>
                  <a:cubicBezTo>
                    <a:pt x="8" y="8"/>
                    <a:pt x="8" y="8"/>
                    <a:pt x="8" y="8"/>
                  </a:cubicBezTo>
                  <a:cubicBezTo>
                    <a:pt x="8" y="8"/>
                    <a:pt x="8" y="9"/>
                    <a:pt x="8" y="9"/>
                  </a:cubicBezTo>
                  <a:cubicBezTo>
                    <a:pt x="7" y="11"/>
                    <a:pt x="7" y="12"/>
                    <a:pt x="6" y="13"/>
                  </a:cubicBezTo>
                  <a:cubicBezTo>
                    <a:pt x="5" y="14"/>
                    <a:pt x="5" y="14"/>
                    <a:pt x="5" y="14"/>
                  </a:cubicBezTo>
                  <a:cubicBezTo>
                    <a:pt x="5" y="14"/>
                    <a:pt x="5" y="14"/>
                    <a:pt x="5" y="14"/>
                  </a:cubicBezTo>
                  <a:cubicBezTo>
                    <a:pt x="4" y="14"/>
                    <a:pt x="3" y="15"/>
                    <a:pt x="3" y="15"/>
                  </a:cubicBezTo>
                  <a:lnTo>
                    <a:pt x="2" y="15"/>
                  </a:ln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1" name="Freeform 139"/>
            <p:cNvSpPr/>
            <p:nvPr userDrawn="1"/>
          </p:nvSpPr>
          <p:spPr bwMode="auto">
            <a:xfrm>
              <a:off x="1239" y="750"/>
              <a:ext cx="10" cy="19"/>
            </a:xfrm>
            <a:custGeom>
              <a:avLst/>
              <a:gdLst>
                <a:gd name="T0" fmla="*/ 2 w 8"/>
                <a:gd name="T1" fmla="*/ 15 h 15"/>
                <a:gd name="T2" fmla="*/ 3 w 8"/>
                <a:gd name="T3" fmla="*/ 15 h 15"/>
                <a:gd name="T4" fmla="*/ 5 w 8"/>
                <a:gd name="T5" fmla="*/ 14 h 15"/>
                <a:gd name="T6" fmla="*/ 5 w 8"/>
                <a:gd name="T7" fmla="*/ 14 h 15"/>
                <a:gd name="T8" fmla="*/ 6 w 8"/>
                <a:gd name="T9" fmla="*/ 13 h 15"/>
                <a:gd name="T10" fmla="*/ 8 w 8"/>
                <a:gd name="T11" fmla="*/ 9 h 15"/>
                <a:gd name="T12" fmla="*/ 8 w 8"/>
                <a:gd name="T13" fmla="*/ 8 h 15"/>
                <a:gd name="T14" fmla="*/ 8 w 8"/>
                <a:gd name="T15" fmla="*/ 7 h 15"/>
                <a:gd name="T16" fmla="*/ 8 w 8"/>
                <a:gd name="T17" fmla="*/ 3 h 15"/>
                <a:gd name="T18" fmla="*/ 8 w 8"/>
                <a:gd name="T19" fmla="*/ 2 h 15"/>
                <a:gd name="T20" fmla="*/ 8 w 8"/>
                <a:gd name="T21" fmla="*/ 2 h 15"/>
                <a:gd name="T22" fmla="*/ 8 w 8"/>
                <a:gd name="T23" fmla="*/ 2 h 15"/>
                <a:gd name="T24" fmla="*/ 8 w 8"/>
                <a:gd name="T25" fmla="*/ 1 h 15"/>
                <a:gd name="T26" fmla="*/ 7 w 8"/>
                <a:gd name="T27" fmla="*/ 0 h 15"/>
                <a:gd name="T28" fmla="*/ 5 w 8"/>
                <a:gd name="T29" fmla="*/ 4 h 15"/>
                <a:gd name="T30" fmla="*/ 4 w 8"/>
                <a:gd name="T31" fmla="*/ 5 h 15"/>
                <a:gd name="T32" fmla="*/ 3 w 8"/>
                <a:gd name="T33" fmla="*/ 7 h 15"/>
                <a:gd name="T34" fmla="*/ 3 w 8"/>
                <a:gd name="T35" fmla="*/ 8 h 15"/>
                <a:gd name="T36" fmla="*/ 3 w 8"/>
                <a:gd name="T37" fmla="*/ 8 h 15"/>
                <a:gd name="T38" fmla="*/ 2 w 8"/>
                <a:gd name="T39" fmla="*/ 9 h 15"/>
                <a:gd name="T40" fmla="*/ 0 w 8"/>
                <a:gd name="T41" fmla="*/ 14 h 15"/>
                <a:gd name="T42" fmla="*/ 2 w 8"/>
                <a:gd name="T43"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 h="15">
                  <a:moveTo>
                    <a:pt x="2" y="15"/>
                  </a:moveTo>
                  <a:cubicBezTo>
                    <a:pt x="3" y="15"/>
                    <a:pt x="3" y="15"/>
                    <a:pt x="3" y="15"/>
                  </a:cubicBezTo>
                  <a:cubicBezTo>
                    <a:pt x="3" y="15"/>
                    <a:pt x="4" y="14"/>
                    <a:pt x="5" y="14"/>
                  </a:cubicBezTo>
                  <a:cubicBezTo>
                    <a:pt x="5" y="14"/>
                    <a:pt x="5" y="14"/>
                    <a:pt x="5" y="14"/>
                  </a:cubicBezTo>
                  <a:cubicBezTo>
                    <a:pt x="6" y="13"/>
                    <a:pt x="6" y="13"/>
                    <a:pt x="6" y="13"/>
                  </a:cubicBezTo>
                  <a:cubicBezTo>
                    <a:pt x="7" y="12"/>
                    <a:pt x="7" y="10"/>
                    <a:pt x="8" y="9"/>
                  </a:cubicBezTo>
                  <a:cubicBezTo>
                    <a:pt x="8" y="9"/>
                    <a:pt x="8" y="8"/>
                    <a:pt x="8" y="8"/>
                  </a:cubicBezTo>
                  <a:cubicBezTo>
                    <a:pt x="8" y="7"/>
                    <a:pt x="8" y="7"/>
                    <a:pt x="8" y="7"/>
                  </a:cubicBezTo>
                  <a:cubicBezTo>
                    <a:pt x="8" y="6"/>
                    <a:pt x="8" y="5"/>
                    <a:pt x="8" y="3"/>
                  </a:cubicBezTo>
                  <a:cubicBezTo>
                    <a:pt x="8" y="3"/>
                    <a:pt x="8" y="3"/>
                    <a:pt x="8" y="2"/>
                  </a:cubicBezTo>
                  <a:cubicBezTo>
                    <a:pt x="8" y="2"/>
                    <a:pt x="8" y="2"/>
                    <a:pt x="8" y="2"/>
                  </a:cubicBezTo>
                  <a:cubicBezTo>
                    <a:pt x="8" y="2"/>
                    <a:pt x="8" y="2"/>
                    <a:pt x="8" y="2"/>
                  </a:cubicBezTo>
                  <a:cubicBezTo>
                    <a:pt x="8" y="1"/>
                    <a:pt x="8" y="1"/>
                    <a:pt x="8" y="1"/>
                  </a:cubicBezTo>
                  <a:cubicBezTo>
                    <a:pt x="8" y="0"/>
                    <a:pt x="7" y="0"/>
                    <a:pt x="7" y="0"/>
                  </a:cubicBezTo>
                  <a:cubicBezTo>
                    <a:pt x="6" y="0"/>
                    <a:pt x="5" y="2"/>
                    <a:pt x="5" y="4"/>
                  </a:cubicBezTo>
                  <a:cubicBezTo>
                    <a:pt x="5" y="4"/>
                    <a:pt x="4" y="5"/>
                    <a:pt x="4" y="5"/>
                  </a:cubicBezTo>
                  <a:cubicBezTo>
                    <a:pt x="4" y="6"/>
                    <a:pt x="4" y="7"/>
                    <a:pt x="3" y="7"/>
                  </a:cubicBezTo>
                  <a:cubicBezTo>
                    <a:pt x="3" y="8"/>
                    <a:pt x="3" y="8"/>
                    <a:pt x="3" y="8"/>
                  </a:cubicBezTo>
                  <a:cubicBezTo>
                    <a:pt x="3" y="8"/>
                    <a:pt x="3" y="8"/>
                    <a:pt x="3" y="8"/>
                  </a:cubicBezTo>
                  <a:cubicBezTo>
                    <a:pt x="3" y="8"/>
                    <a:pt x="2" y="9"/>
                    <a:pt x="2" y="9"/>
                  </a:cubicBezTo>
                  <a:cubicBezTo>
                    <a:pt x="1" y="11"/>
                    <a:pt x="0" y="12"/>
                    <a:pt x="0" y="14"/>
                  </a:cubicBezTo>
                  <a:cubicBezTo>
                    <a:pt x="1" y="14"/>
                    <a:pt x="2" y="15"/>
                    <a:pt x="2" y="15"/>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2" name="Freeform 140"/>
            <p:cNvSpPr/>
            <p:nvPr userDrawn="1"/>
          </p:nvSpPr>
          <p:spPr bwMode="auto">
            <a:xfrm>
              <a:off x="1229" y="757"/>
              <a:ext cx="7" cy="9"/>
            </a:xfrm>
            <a:custGeom>
              <a:avLst/>
              <a:gdLst>
                <a:gd name="T0" fmla="*/ 3 w 6"/>
                <a:gd name="T1" fmla="*/ 7 h 7"/>
                <a:gd name="T2" fmla="*/ 1 w 6"/>
                <a:gd name="T3" fmla="*/ 6 h 7"/>
                <a:gd name="T4" fmla="*/ 5 w 6"/>
                <a:gd name="T5" fmla="*/ 0 h 7"/>
                <a:gd name="T6" fmla="*/ 6 w 6"/>
                <a:gd name="T7" fmla="*/ 1 h 7"/>
                <a:gd name="T8" fmla="*/ 5 w 6"/>
                <a:gd name="T9" fmla="*/ 5 h 7"/>
                <a:gd name="T10" fmla="*/ 3 w 6"/>
                <a:gd name="T11" fmla="*/ 7 h 7"/>
              </a:gdLst>
              <a:ahLst/>
              <a:cxnLst>
                <a:cxn ang="0">
                  <a:pos x="T0" y="T1"/>
                </a:cxn>
                <a:cxn ang="0">
                  <a:pos x="T2" y="T3"/>
                </a:cxn>
                <a:cxn ang="0">
                  <a:pos x="T4" y="T5"/>
                </a:cxn>
                <a:cxn ang="0">
                  <a:pos x="T6" y="T7"/>
                </a:cxn>
                <a:cxn ang="0">
                  <a:pos x="T8" y="T9"/>
                </a:cxn>
                <a:cxn ang="0">
                  <a:pos x="T10" y="T11"/>
                </a:cxn>
              </a:cxnLst>
              <a:rect l="0" t="0" r="r" b="b"/>
              <a:pathLst>
                <a:path w="6" h="7">
                  <a:moveTo>
                    <a:pt x="3" y="7"/>
                  </a:moveTo>
                  <a:cubicBezTo>
                    <a:pt x="3" y="7"/>
                    <a:pt x="2" y="6"/>
                    <a:pt x="1" y="6"/>
                  </a:cubicBezTo>
                  <a:cubicBezTo>
                    <a:pt x="0" y="3"/>
                    <a:pt x="4" y="0"/>
                    <a:pt x="5" y="0"/>
                  </a:cubicBezTo>
                  <a:cubicBezTo>
                    <a:pt x="5" y="0"/>
                    <a:pt x="6" y="1"/>
                    <a:pt x="6" y="1"/>
                  </a:cubicBezTo>
                  <a:cubicBezTo>
                    <a:pt x="6" y="2"/>
                    <a:pt x="6" y="4"/>
                    <a:pt x="5" y="5"/>
                  </a:cubicBezTo>
                  <a:cubicBezTo>
                    <a:pt x="4" y="6"/>
                    <a:pt x="3" y="7"/>
                    <a:pt x="3" y="7"/>
                  </a:cubicBezTo>
                  <a:close/>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sp>
          <p:nvSpPr>
            <p:cNvPr id="143" name="Freeform 141"/>
            <p:cNvSpPr/>
            <p:nvPr userDrawn="1"/>
          </p:nvSpPr>
          <p:spPr bwMode="auto">
            <a:xfrm>
              <a:off x="1229" y="757"/>
              <a:ext cx="7" cy="9"/>
            </a:xfrm>
            <a:custGeom>
              <a:avLst/>
              <a:gdLst>
                <a:gd name="T0" fmla="*/ 3 w 6"/>
                <a:gd name="T1" fmla="*/ 7 h 7"/>
                <a:gd name="T2" fmla="*/ 3 w 6"/>
                <a:gd name="T3" fmla="*/ 7 h 7"/>
                <a:gd name="T4" fmla="*/ 5 w 6"/>
                <a:gd name="T5" fmla="*/ 5 h 7"/>
                <a:gd name="T6" fmla="*/ 6 w 6"/>
                <a:gd name="T7" fmla="*/ 1 h 7"/>
                <a:gd name="T8" fmla="*/ 5 w 6"/>
                <a:gd name="T9" fmla="*/ 0 h 7"/>
                <a:gd name="T10" fmla="*/ 1 w 6"/>
                <a:gd name="T11" fmla="*/ 6 h 7"/>
                <a:gd name="T12" fmla="*/ 3 w 6"/>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6" h="7">
                  <a:moveTo>
                    <a:pt x="3" y="7"/>
                  </a:moveTo>
                  <a:cubicBezTo>
                    <a:pt x="3" y="7"/>
                    <a:pt x="3" y="7"/>
                    <a:pt x="3" y="7"/>
                  </a:cubicBezTo>
                  <a:cubicBezTo>
                    <a:pt x="3" y="7"/>
                    <a:pt x="4" y="6"/>
                    <a:pt x="5" y="5"/>
                  </a:cubicBezTo>
                  <a:cubicBezTo>
                    <a:pt x="6" y="4"/>
                    <a:pt x="6" y="2"/>
                    <a:pt x="6" y="1"/>
                  </a:cubicBezTo>
                  <a:cubicBezTo>
                    <a:pt x="6" y="1"/>
                    <a:pt x="5" y="0"/>
                    <a:pt x="5" y="0"/>
                  </a:cubicBezTo>
                  <a:cubicBezTo>
                    <a:pt x="4" y="0"/>
                    <a:pt x="0" y="3"/>
                    <a:pt x="1" y="6"/>
                  </a:cubicBezTo>
                  <a:cubicBezTo>
                    <a:pt x="2" y="6"/>
                    <a:pt x="3" y="7"/>
                    <a:pt x="3" y="7"/>
                  </a:cubicBezTo>
                </a:path>
              </a:pathLst>
            </a:custGeom>
            <a:grpFill/>
            <a:ln>
              <a:noFill/>
            </a:ln>
          </p:spPr>
          <p:txBody>
            <a:bodyPr vert="horz" wrap="square" lIns="91440" tIns="45720" rIns="91440" bIns="45720" numCol="1" anchor="t" anchorCtr="0" compatLnSpc="1"/>
            <a:lstStyle/>
            <a:p>
              <a:pPr>
                <a:lnSpc>
                  <a:spcPct val="120000"/>
                </a:lnSpc>
                <a:spcAft>
                  <a:spcPts val="100"/>
                </a:spcAft>
              </a:pPr>
              <a:endParaRPr lang="zh-CN" altLang="en-US"/>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50">
            <a:extLst>
              <a:ext uri="{FF2B5EF4-FFF2-40B4-BE49-F238E27FC236}">
                <a16:creationId xmlns:a16="http://schemas.microsoft.com/office/drawing/2014/main" id="{61B86F49-CCE0-4E1A-8F78-9E6856803B19}"/>
              </a:ext>
            </a:extLst>
          </p:cNvPr>
          <p:cNvSpPr/>
          <p:nvPr/>
        </p:nvSpPr>
        <p:spPr>
          <a:xfrm>
            <a:off x="10" y="5"/>
            <a:ext cx="12191980" cy="6857990"/>
          </a:xfrm>
          <a:prstGeom prst="rect">
            <a:avLst/>
          </a:prstGeom>
          <a:blipFill dpi="0" rotWithShape="1">
            <a:blip r:embed="rId3">
              <a:alphaModFix amt="10000"/>
              <a:duotone>
                <a:schemeClr val="bg2">
                  <a:shade val="45000"/>
                  <a:satMod val="135000"/>
                </a:schemeClr>
                <a:prstClr val="white"/>
              </a:duotone>
            </a:blip>
            <a:srcRect/>
            <a:tile tx="0" ty="0" sx="60000" sy="6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00"/>
              </a:spcAft>
            </a:pPr>
            <a:endParaRPr lang="zh-CN" altLang="en-US" dirty="0"/>
          </a:p>
        </p:txBody>
      </p:sp>
      <p:sp>
        <p:nvSpPr>
          <p:cNvPr id="3" name="灯片编号占位符 2">
            <a:extLst>
              <a:ext uri="{FF2B5EF4-FFF2-40B4-BE49-F238E27FC236}">
                <a16:creationId xmlns:a16="http://schemas.microsoft.com/office/drawing/2014/main" id="{69F979B7-E451-4522-8C01-CC410F5A8A58}"/>
              </a:ext>
            </a:extLst>
          </p:cNvPr>
          <p:cNvSpPr>
            <a:spLocks noGrp="1"/>
          </p:cNvSpPr>
          <p:nvPr>
            <p:ph type="sldNum" sz="quarter" idx="4294967295"/>
          </p:nvPr>
        </p:nvSpPr>
        <p:spPr>
          <a:xfrm>
            <a:off x="9448800" y="6516688"/>
            <a:ext cx="2743200" cy="341312"/>
          </a:xfrm>
          <a:prstGeom prst="rect">
            <a:avLst/>
          </a:prstGeom>
        </p:spPr>
        <p:txBody>
          <a:bodyPr/>
          <a:lstStyle/>
          <a:p>
            <a:fld id="{1AAC388E-FA9E-4A2C-95EA-1F6B3A07935A}" type="slidenum">
              <a:rPr lang="zh-CN" altLang="en-US" smtClean="0"/>
              <a:t>28</a:t>
            </a:fld>
            <a:endParaRPr lang="zh-CN" altLang="en-US"/>
          </a:p>
        </p:txBody>
      </p:sp>
      <p:grpSp>
        <p:nvGrpSpPr>
          <p:cNvPr id="8" name="组合 7">
            <a:extLst>
              <a:ext uri="{FF2B5EF4-FFF2-40B4-BE49-F238E27FC236}">
                <a16:creationId xmlns:a16="http://schemas.microsoft.com/office/drawing/2014/main" id="{103856E2-83DF-4A42-B13B-E4BE07600984}"/>
              </a:ext>
            </a:extLst>
          </p:cNvPr>
          <p:cNvGrpSpPr/>
          <p:nvPr/>
        </p:nvGrpSpPr>
        <p:grpSpPr>
          <a:xfrm>
            <a:off x="7027667" y="537616"/>
            <a:ext cx="6961907" cy="7021575"/>
            <a:chOff x="4038600" y="2259880"/>
            <a:chExt cx="2647060" cy="2669747"/>
          </a:xfrm>
          <a:solidFill>
            <a:srgbClr val="A6A6A6">
              <a:alpha val="20000"/>
            </a:srgbClr>
          </a:solidFill>
        </p:grpSpPr>
        <p:sp>
          <p:nvSpPr>
            <p:cNvPr id="9" name="Freeform 105">
              <a:extLst>
                <a:ext uri="{FF2B5EF4-FFF2-40B4-BE49-F238E27FC236}">
                  <a16:creationId xmlns:a16="http://schemas.microsoft.com/office/drawing/2014/main" id="{0C74C6B0-082A-4FE6-B113-8737E0AD6FCC}"/>
                </a:ext>
              </a:extLst>
            </p:cNvPr>
            <p:cNvSpPr>
              <a:spLocks noEditPoints="1"/>
            </p:cNvSpPr>
            <p:nvPr userDrawn="1"/>
          </p:nvSpPr>
          <p:spPr bwMode="auto">
            <a:xfrm>
              <a:off x="4038600" y="2259880"/>
              <a:ext cx="2647060" cy="2669747"/>
            </a:xfrm>
            <a:custGeom>
              <a:avLst/>
              <a:gdLst>
                <a:gd name="T0" fmla="*/ 142 w 283"/>
                <a:gd name="T1" fmla="*/ 0 h 283"/>
                <a:gd name="T2" fmla="*/ 283 w 283"/>
                <a:gd name="T3" fmla="*/ 142 h 283"/>
                <a:gd name="T4" fmla="*/ 142 w 283"/>
                <a:gd name="T5" fmla="*/ 283 h 283"/>
                <a:gd name="T6" fmla="*/ 0 w 283"/>
                <a:gd name="T7" fmla="*/ 142 h 283"/>
                <a:gd name="T8" fmla="*/ 142 w 283"/>
                <a:gd name="T9" fmla="*/ 0 h 283"/>
                <a:gd name="T10" fmla="*/ 142 w 283"/>
                <a:gd name="T11" fmla="*/ 6 h 283"/>
                <a:gd name="T12" fmla="*/ 6 w 283"/>
                <a:gd name="T13" fmla="*/ 142 h 283"/>
                <a:gd name="T14" fmla="*/ 142 w 283"/>
                <a:gd name="T15" fmla="*/ 277 h 283"/>
                <a:gd name="T16" fmla="*/ 278 w 283"/>
                <a:gd name="T17" fmla="*/ 142 h 283"/>
                <a:gd name="T18" fmla="*/ 142 w 283"/>
                <a:gd name="T19" fmla="*/ 6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3" h="283">
                  <a:moveTo>
                    <a:pt x="142" y="0"/>
                  </a:moveTo>
                  <a:cubicBezTo>
                    <a:pt x="220" y="0"/>
                    <a:pt x="283" y="64"/>
                    <a:pt x="283" y="142"/>
                  </a:cubicBezTo>
                  <a:cubicBezTo>
                    <a:pt x="283" y="219"/>
                    <a:pt x="220" y="283"/>
                    <a:pt x="142" y="283"/>
                  </a:cubicBezTo>
                  <a:cubicBezTo>
                    <a:pt x="64" y="283"/>
                    <a:pt x="0" y="219"/>
                    <a:pt x="0" y="142"/>
                  </a:cubicBezTo>
                  <a:cubicBezTo>
                    <a:pt x="0" y="64"/>
                    <a:pt x="64" y="0"/>
                    <a:pt x="142" y="0"/>
                  </a:cubicBezTo>
                  <a:moveTo>
                    <a:pt x="142" y="6"/>
                  </a:moveTo>
                  <a:cubicBezTo>
                    <a:pt x="67" y="6"/>
                    <a:pt x="6" y="67"/>
                    <a:pt x="6" y="142"/>
                  </a:cubicBezTo>
                  <a:cubicBezTo>
                    <a:pt x="6" y="216"/>
                    <a:pt x="67" y="277"/>
                    <a:pt x="142" y="277"/>
                  </a:cubicBezTo>
                  <a:cubicBezTo>
                    <a:pt x="217" y="277"/>
                    <a:pt x="278" y="216"/>
                    <a:pt x="278" y="142"/>
                  </a:cubicBezTo>
                  <a:cubicBezTo>
                    <a:pt x="278" y="67"/>
                    <a:pt x="217" y="6"/>
                    <a:pt x="142" y="6"/>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0" name="Freeform 106">
              <a:extLst>
                <a:ext uri="{FF2B5EF4-FFF2-40B4-BE49-F238E27FC236}">
                  <a16:creationId xmlns:a16="http://schemas.microsoft.com/office/drawing/2014/main" id="{C6EF5BF6-05E2-4F85-93D9-F0D1A10104EA}"/>
                </a:ext>
              </a:extLst>
            </p:cNvPr>
            <p:cNvSpPr>
              <a:spLocks/>
            </p:cNvSpPr>
            <p:nvPr userDrawn="1"/>
          </p:nvSpPr>
          <p:spPr bwMode="auto">
            <a:xfrm>
              <a:off x="4636079" y="2857359"/>
              <a:ext cx="1459664" cy="1308403"/>
            </a:xfrm>
            <a:custGeom>
              <a:avLst/>
              <a:gdLst>
                <a:gd name="T0" fmla="*/ 28 w 156"/>
                <a:gd name="T1" fmla="*/ 139 h 139"/>
                <a:gd name="T2" fmla="*/ 7 w 156"/>
                <a:gd name="T3" fmla="*/ 112 h 139"/>
                <a:gd name="T4" fmla="*/ 0 w 156"/>
                <a:gd name="T5" fmla="*/ 79 h 139"/>
                <a:gd name="T6" fmla="*/ 78 w 156"/>
                <a:gd name="T7" fmla="*/ 0 h 139"/>
                <a:gd name="T8" fmla="*/ 156 w 156"/>
                <a:gd name="T9" fmla="*/ 79 h 139"/>
                <a:gd name="T10" fmla="*/ 149 w 156"/>
                <a:gd name="T11" fmla="*/ 112 h 139"/>
                <a:gd name="T12" fmla="*/ 128 w 156"/>
                <a:gd name="T13" fmla="*/ 139 h 139"/>
                <a:gd name="T14" fmla="*/ 126 w 156"/>
                <a:gd name="T15" fmla="*/ 137 h 139"/>
                <a:gd name="T16" fmla="*/ 146 w 156"/>
                <a:gd name="T17" fmla="*/ 111 h 139"/>
                <a:gd name="T18" fmla="*/ 153 w 156"/>
                <a:gd name="T19" fmla="*/ 79 h 139"/>
                <a:gd name="T20" fmla="*/ 78 w 156"/>
                <a:gd name="T21" fmla="*/ 3 h 139"/>
                <a:gd name="T22" fmla="*/ 3 w 156"/>
                <a:gd name="T23" fmla="*/ 79 h 139"/>
                <a:gd name="T24" fmla="*/ 10 w 156"/>
                <a:gd name="T25" fmla="*/ 111 h 139"/>
                <a:gd name="T26" fmla="*/ 30 w 156"/>
                <a:gd name="T27" fmla="*/ 137 h 139"/>
                <a:gd name="T28" fmla="*/ 28 w 156"/>
                <a:gd name="T29" fmla="*/ 13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6" h="139">
                  <a:moveTo>
                    <a:pt x="28" y="139"/>
                  </a:moveTo>
                  <a:cubicBezTo>
                    <a:pt x="19" y="132"/>
                    <a:pt x="12" y="122"/>
                    <a:pt x="7" y="112"/>
                  </a:cubicBezTo>
                  <a:cubicBezTo>
                    <a:pt x="2" y="102"/>
                    <a:pt x="0" y="90"/>
                    <a:pt x="0" y="79"/>
                  </a:cubicBezTo>
                  <a:cubicBezTo>
                    <a:pt x="0" y="36"/>
                    <a:pt x="35" y="0"/>
                    <a:pt x="78" y="0"/>
                  </a:cubicBezTo>
                  <a:cubicBezTo>
                    <a:pt x="121" y="0"/>
                    <a:pt x="156" y="36"/>
                    <a:pt x="156" y="79"/>
                  </a:cubicBezTo>
                  <a:cubicBezTo>
                    <a:pt x="156" y="90"/>
                    <a:pt x="153" y="102"/>
                    <a:pt x="149" y="112"/>
                  </a:cubicBezTo>
                  <a:cubicBezTo>
                    <a:pt x="144" y="122"/>
                    <a:pt x="136" y="132"/>
                    <a:pt x="128" y="139"/>
                  </a:cubicBezTo>
                  <a:cubicBezTo>
                    <a:pt x="126" y="137"/>
                    <a:pt x="126" y="137"/>
                    <a:pt x="126" y="137"/>
                  </a:cubicBezTo>
                  <a:cubicBezTo>
                    <a:pt x="134" y="130"/>
                    <a:pt x="141" y="121"/>
                    <a:pt x="146" y="111"/>
                  </a:cubicBezTo>
                  <a:cubicBezTo>
                    <a:pt x="151" y="101"/>
                    <a:pt x="153" y="90"/>
                    <a:pt x="153" y="79"/>
                  </a:cubicBezTo>
                  <a:cubicBezTo>
                    <a:pt x="153" y="37"/>
                    <a:pt x="119" y="3"/>
                    <a:pt x="78" y="3"/>
                  </a:cubicBezTo>
                  <a:cubicBezTo>
                    <a:pt x="36" y="3"/>
                    <a:pt x="3" y="37"/>
                    <a:pt x="3" y="79"/>
                  </a:cubicBezTo>
                  <a:cubicBezTo>
                    <a:pt x="3" y="90"/>
                    <a:pt x="5" y="101"/>
                    <a:pt x="10" y="111"/>
                  </a:cubicBezTo>
                  <a:cubicBezTo>
                    <a:pt x="14" y="121"/>
                    <a:pt x="21" y="130"/>
                    <a:pt x="30" y="137"/>
                  </a:cubicBezTo>
                  <a:lnTo>
                    <a:pt x="28" y="13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3" name="Freeform 107">
              <a:extLst>
                <a:ext uri="{FF2B5EF4-FFF2-40B4-BE49-F238E27FC236}">
                  <a16:creationId xmlns:a16="http://schemas.microsoft.com/office/drawing/2014/main" id="{74A3CA29-3875-4FBF-B857-1E2AC5244835}"/>
                </a:ext>
              </a:extLst>
            </p:cNvPr>
            <p:cNvSpPr>
              <a:spLocks/>
            </p:cNvSpPr>
            <p:nvPr userDrawn="1"/>
          </p:nvSpPr>
          <p:spPr bwMode="auto">
            <a:xfrm>
              <a:off x="4174734" y="3825426"/>
              <a:ext cx="302521" cy="219328"/>
            </a:xfrm>
            <a:custGeom>
              <a:avLst/>
              <a:gdLst>
                <a:gd name="T0" fmla="*/ 8 w 40"/>
                <a:gd name="T1" fmla="*/ 29 h 29"/>
                <a:gd name="T2" fmla="*/ 0 w 40"/>
                <a:gd name="T3" fmla="*/ 10 h 29"/>
                <a:gd name="T4" fmla="*/ 4 w 40"/>
                <a:gd name="T5" fmla="*/ 9 h 29"/>
                <a:gd name="T6" fmla="*/ 35 w 40"/>
                <a:gd name="T7" fmla="*/ 14 h 29"/>
                <a:gd name="T8" fmla="*/ 30 w 40"/>
                <a:gd name="T9" fmla="*/ 1 h 29"/>
                <a:gd name="T10" fmla="*/ 34 w 40"/>
                <a:gd name="T11" fmla="*/ 0 h 29"/>
                <a:gd name="T12" fmla="*/ 40 w 40"/>
                <a:gd name="T13" fmla="*/ 16 h 29"/>
                <a:gd name="T14" fmla="*/ 36 w 40"/>
                <a:gd name="T15" fmla="*/ 17 h 29"/>
                <a:gd name="T16" fmla="*/ 7 w 40"/>
                <a:gd name="T17" fmla="*/ 14 h 29"/>
                <a:gd name="T18" fmla="*/ 12 w 40"/>
                <a:gd name="T19" fmla="*/ 27 h 29"/>
                <a:gd name="T20" fmla="*/ 8 w 40"/>
                <a:gd name="T21"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29">
                  <a:moveTo>
                    <a:pt x="8" y="29"/>
                  </a:moveTo>
                  <a:lnTo>
                    <a:pt x="0" y="10"/>
                  </a:lnTo>
                  <a:lnTo>
                    <a:pt x="4" y="9"/>
                  </a:lnTo>
                  <a:lnTo>
                    <a:pt x="35" y="14"/>
                  </a:lnTo>
                  <a:lnTo>
                    <a:pt x="30" y="1"/>
                  </a:lnTo>
                  <a:lnTo>
                    <a:pt x="34" y="0"/>
                  </a:lnTo>
                  <a:lnTo>
                    <a:pt x="40" y="16"/>
                  </a:lnTo>
                  <a:lnTo>
                    <a:pt x="36" y="17"/>
                  </a:lnTo>
                  <a:lnTo>
                    <a:pt x="7" y="14"/>
                  </a:lnTo>
                  <a:lnTo>
                    <a:pt x="12" y="27"/>
                  </a:lnTo>
                  <a:lnTo>
                    <a:pt x="8" y="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4" name="Freeform 108">
              <a:extLst>
                <a:ext uri="{FF2B5EF4-FFF2-40B4-BE49-F238E27FC236}">
                  <a16:creationId xmlns:a16="http://schemas.microsoft.com/office/drawing/2014/main" id="{8A6A3030-1B0B-45A3-8834-0E70378D460E}"/>
                </a:ext>
              </a:extLst>
            </p:cNvPr>
            <p:cNvSpPr>
              <a:spLocks/>
            </p:cNvSpPr>
            <p:nvPr userDrawn="1"/>
          </p:nvSpPr>
          <p:spPr bwMode="auto">
            <a:xfrm>
              <a:off x="4265491" y="3984249"/>
              <a:ext cx="287395" cy="234454"/>
            </a:xfrm>
            <a:custGeom>
              <a:avLst/>
              <a:gdLst>
                <a:gd name="T0" fmla="*/ 7 w 38"/>
                <a:gd name="T1" fmla="*/ 31 h 31"/>
                <a:gd name="T2" fmla="*/ 6 w 38"/>
                <a:gd name="T3" fmla="*/ 28 h 31"/>
                <a:gd name="T4" fmla="*/ 19 w 38"/>
                <a:gd name="T5" fmla="*/ 21 h 31"/>
                <a:gd name="T6" fmla="*/ 14 w 38"/>
                <a:gd name="T7" fmla="*/ 11 h 31"/>
                <a:gd name="T8" fmla="*/ 1 w 38"/>
                <a:gd name="T9" fmla="*/ 19 h 31"/>
                <a:gd name="T10" fmla="*/ 0 w 38"/>
                <a:gd name="T11" fmla="*/ 15 h 31"/>
                <a:gd name="T12" fmla="*/ 29 w 38"/>
                <a:gd name="T13" fmla="*/ 0 h 31"/>
                <a:gd name="T14" fmla="*/ 32 w 38"/>
                <a:gd name="T15" fmla="*/ 4 h 31"/>
                <a:gd name="T16" fmla="*/ 18 w 38"/>
                <a:gd name="T17" fmla="*/ 10 h 31"/>
                <a:gd name="T18" fmla="*/ 23 w 38"/>
                <a:gd name="T19" fmla="*/ 19 h 31"/>
                <a:gd name="T20" fmla="*/ 35 w 38"/>
                <a:gd name="T21" fmla="*/ 13 h 31"/>
                <a:gd name="T22" fmla="*/ 38 w 38"/>
                <a:gd name="T23" fmla="*/ 16 h 31"/>
                <a:gd name="T24" fmla="*/ 7 w 38"/>
                <a:gd name="T25"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1">
                  <a:moveTo>
                    <a:pt x="7" y="31"/>
                  </a:moveTo>
                  <a:lnTo>
                    <a:pt x="6" y="28"/>
                  </a:lnTo>
                  <a:lnTo>
                    <a:pt x="19" y="21"/>
                  </a:lnTo>
                  <a:lnTo>
                    <a:pt x="14" y="11"/>
                  </a:lnTo>
                  <a:lnTo>
                    <a:pt x="1" y="19"/>
                  </a:lnTo>
                  <a:lnTo>
                    <a:pt x="0" y="15"/>
                  </a:lnTo>
                  <a:lnTo>
                    <a:pt x="29" y="0"/>
                  </a:lnTo>
                  <a:lnTo>
                    <a:pt x="32" y="4"/>
                  </a:lnTo>
                  <a:lnTo>
                    <a:pt x="18" y="10"/>
                  </a:lnTo>
                  <a:lnTo>
                    <a:pt x="23" y="19"/>
                  </a:lnTo>
                  <a:lnTo>
                    <a:pt x="35" y="13"/>
                  </a:lnTo>
                  <a:lnTo>
                    <a:pt x="38" y="16"/>
                  </a:lnTo>
                  <a:lnTo>
                    <a:pt x="7" y="3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5" name="Freeform 109">
              <a:extLst>
                <a:ext uri="{FF2B5EF4-FFF2-40B4-BE49-F238E27FC236}">
                  <a16:creationId xmlns:a16="http://schemas.microsoft.com/office/drawing/2014/main" id="{FA0D935A-7038-4326-8E09-B9EC4B14CCCD}"/>
                </a:ext>
              </a:extLst>
            </p:cNvPr>
            <p:cNvSpPr>
              <a:spLocks/>
            </p:cNvSpPr>
            <p:nvPr userDrawn="1"/>
          </p:nvSpPr>
          <p:spPr bwMode="auto">
            <a:xfrm>
              <a:off x="4348684" y="4120384"/>
              <a:ext cx="287395" cy="249580"/>
            </a:xfrm>
            <a:custGeom>
              <a:avLst/>
              <a:gdLst>
                <a:gd name="T0" fmla="*/ 11 w 38"/>
                <a:gd name="T1" fmla="*/ 33 h 33"/>
                <a:gd name="T2" fmla="*/ 0 w 38"/>
                <a:gd name="T3" fmla="*/ 18 h 33"/>
                <a:gd name="T4" fmla="*/ 28 w 38"/>
                <a:gd name="T5" fmla="*/ 0 h 33"/>
                <a:gd name="T6" fmla="*/ 38 w 38"/>
                <a:gd name="T7" fmla="*/ 15 h 33"/>
                <a:gd name="T8" fmla="*/ 36 w 38"/>
                <a:gd name="T9" fmla="*/ 17 h 33"/>
                <a:gd name="T10" fmla="*/ 27 w 38"/>
                <a:gd name="T11" fmla="*/ 6 h 33"/>
                <a:gd name="T12" fmla="*/ 18 w 38"/>
                <a:gd name="T13" fmla="*/ 11 h 33"/>
                <a:gd name="T14" fmla="*/ 26 w 38"/>
                <a:gd name="T15" fmla="*/ 21 h 33"/>
                <a:gd name="T16" fmla="*/ 23 w 38"/>
                <a:gd name="T17" fmla="*/ 23 h 33"/>
                <a:gd name="T18" fmla="*/ 16 w 38"/>
                <a:gd name="T19" fmla="*/ 13 h 33"/>
                <a:gd name="T20" fmla="*/ 6 w 38"/>
                <a:gd name="T21" fmla="*/ 20 h 33"/>
                <a:gd name="T22" fmla="*/ 13 w 38"/>
                <a:gd name="T23" fmla="*/ 31 h 33"/>
                <a:gd name="T24" fmla="*/ 11 w 38"/>
                <a:gd name="T25"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3">
                  <a:moveTo>
                    <a:pt x="11" y="33"/>
                  </a:moveTo>
                  <a:lnTo>
                    <a:pt x="0" y="18"/>
                  </a:lnTo>
                  <a:lnTo>
                    <a:pt x="28" y="0"/>
                  </a:lnTo>
                  <a:lnTo>
                    <a:pt x="38" y="15"/>
                  </a:lnTo>
                  <a:lnTo>
                    <a:pt x="36" y="17"/>
                  </a:lnTo>
                  <a:lnTo>
                    <a:pt x="27" y="6"/>
                  </a:lnTo>
                  <a:lnTo>
                    <a:pt x="18" y="11"/>
                  </a:lnTo>
                  <a:lnTo>
                    <a:pt x="26" y="21"/>
                  </a:lnTo>
                  <a:lnTo>
                    <a:pt x="23" y="23"/>
                  </a:lnTo>
                  <a:lnTo>
                    <a:pt x="16" y="13"/>
                  </a:lnTo>
                  <a:lnTo>
                    <a:pt x="6" y="20"/>
                  </a:lnTo>
                  <a:lnTo>
                    <a:pt x="13" y="31"/>
                  </a:lnTo>
                  <a:lnTo>
                    <a:pt x="11" y="3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6" name="Freeform 110">
              <a:extLst>
                <a:ext uri="{FF2B5EF4-FFF2-40B4-BE49-F238E27FC236}">
                  <a16:creationId xmlns:a16="http://schemas.microsoft.com/office/drawing/2014/main" id="{9EBBCFEF-6D9B-4A6A-BA75-0855E648AFE0}"/>
                </a:ext>
              </a:extLst>
            </p:cNvPr>
            <p:cNvSpPr>
              <a:spLocks/>
            </p:cNvSpPr>
            <p:nvPr userDrawn="1"/>
          </p:nvSpPr>
          <p:spPr bwMode="auto">
            <a:xfrm>
              <a:off x="4583138" y="4332148"/>
              <a:ext cx="181513" cy="219328"/>
            </a:xfrm>
            <a:custGeom>
              <a:avLst/>
              <a:gdLst>
                <a:gd name="T0" fmla="*/ 3 w 24"/>
                <a:gd name="T1" fmla="*/ 29 h 29"/>
                <a:gd name="T2" fmla="*/ 0 w 24"/>
                <a:gd name="T3" fmla="*/ 26 h 29"/>
                <a:gd name="T4" fmla="*/ 21 w 24"/>
                <a:gd name="T5" fmla="*/ 0 h 29"/>
                <a:gd name="T6" fmla="*/ 24 w 24"/>
                <a:gd name="T7" fmla="*/ 3 h 29"/>
                <a:gd name="T8" fmla="*/ 3 w 24"/>
                <a:gd name="T9" fmla="*/ 29 h 29"/>
              </a:gdLst>
              <a:ahLst/>
              <a:cxnLst>
                <a:cxn ang="0">
                  <a:pos x="T0" y="T1"/>
                </a:cxn>
                <a:cxn ang="0">
                  <a:pos x="T2" y="T3"/>
                </a:cxn>
                <a:cxn ang="0">
                  <a:pos x="T4" y="T5"/>
                </a:cxn>
                <a:cxn ang="0">
                  <a:pos x="T6" y="T7"/>
                </a:cxn>
                <a:cxn ang="0">
                  <a:pos x="T8" y="T9"/>
                </a:cxn>
              </a:cxnLst>
              <a:rect l="0" t="0" r="r" b="b"/>
              <a:pathLst>
                <a:path w="24" h="29">
                  <a:moveTo>
                    <a:pt x="3" y="29"/>
                  </a:moveTo>
                  <a:lnTo>
                    <a:pt x="0" y="26"/>
                  </a:lnTo>
                  <a:lnTo>
                    <a:pt x="21" y="0"/>
                  </a:lnTo>
                  <a:lnTo>
                    <a:pt x="24" y="3"/>
                  </a:lnTo>
                  <a:lnTo>
                    <a:pt x="3" y="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7" name="Freeform 111">
              <a:extLst>
                <a:ext uri="{FF2B5EF4-FFF2-40B4-BE49-F238E27FC236}">
                  <a16:creationId xmlns:a16="http://schemas.microsoft.com/office/drawing/2014/main" id="{532838F4-8272-409B-AAFB-49782DF201C1}"/>
                </a:ext>
              </a:extLst>
            </p:cNvPr>
            <p:cNvSpPr>
              <a:spLocks noEditPoints="1"/>
            </p:cNvSpPr>
            <p:nvPr userDrawn="1"/>
          </p:nvSpPr>
          <p:spPr bwMode="auto">
            <a:xfrm>
              <a:off x="4643642" y="4392652"/>
              <a:ext cx="219328" cy="264706"/>
            </a:xfrm>
            <a:custGeom>
              <a:avLst/>
              <a:gdLst>
                <a:gd name="T0" fmla="*/ 11 w 29"/>
                <a:gd name="T1" fmla="*/ 32 h 35"/>
                <a:gd name="T2" fmla="*/ 16 w 29"/>
                <a:gd name="T3" fmla="*/ 23 h 35"/>
                <a:gd name="T4" fmla="*/ 11 w 29"/>
                <a:gd name="T5" fmla="*/ 20 h 35"/>
                <a:gd name="T6" fmla="*/ 3 w 29"/>
                <a:gd name="T7" fmla="*/ 27 h 35"/>
                <a:gd name="T8" fmla="*/ 0 w 29"/>
                <a:gd name="T9" fmla="*/ 25 h 35"/>
                <a:gd name="T10" fmla="*/ 24 w 29"/>
                <a:gd name="T11" fmla="*/ 0 h 35"/>
                <a:gd name="T12" fmla="*/ 29 w 29"/>
                <a:gd name="T13" fmla="*/ 2 h 35"/>
                <a:gd name="T14" fmla="*/ 16 w 29"/>
                <a:gd name="T15" fmla="*/ 35 h 35"/>
                <a:gd name="T16" fmla="*/ 11 w 29"/>
                <a:gd name="T17" fmla="*/ 32 h 35"/>
                <a:gd name="T18" fmla="*/ 19 w 29"/>
                <a:gd name="T19" fmla="*/ 18 h 35"/>
                <a:gd name="T20" fmla="*/ 24 w 29"/>
                <a:gd name="T21" fmla="*/ 7 h 35"/>
                <a:gd name="T22" fmla="*/ 23 w 29"/>
                <a:gd name="T23" fmla="*/ 6 h 35"/>
                <a:gd name="T24" fmla="*/ 14 w 29"/>
                <a:gd name="T25" fmla="*/ 16 h 35"/>
                <a:gd name="T26" fmla="*/ 19 w 29"/>
                <a:gd name="T2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35">
                  <a:moveTo>
                    <a:pt x="11" y="32"/>
                  </a:moveTo>
                  <a:lnTo>
                    <a:pt x="16" y="23"/>
                  </a:lnTo>
                  <a:lnTo>
                    <a:pt x="11" y="20"/>
                  </a:lnTo>
                  <a:lnTo>
                    <a:pt x="3" y="27"/>
                  </a:lnTo>
                  <a:lnTo>
                    <a:pt x="0" y="25"/>
                  </a:lnTo>
                  <a:lnTo>
                    <a:pt x="24" y="0"/>
                  </a:lnTo>
                  <a:lnTo>
                    <a:pt x="29" y="2"/>
                  </a:lnTo>
                  <a:lnTo>
                    <a:pt x="16" y="35"/>
                  </a:lnTo>
                  <a:lnTo>
                    <a:pt x="11" y="32"/>
                  </a:lnTo>
                  <a:close/>
                  <a:moveTo>
                    <a:pt x="19" y="18"/>
                  </a:moveTo>
                  <a:lnTo>
                    <a:pt x="24" y="7"/>
                  </a:lnTo>
                  <a:lnTo>
                    <a:pt x="23" y="6"/>
                  </a:lnTo>
                  <a:lnTo>
                    <a:pt x="14" y="16"/>
                  </a:lnTo>
                  <a:lnTo>
                    <a:pt x="19" y="1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8" name="Freeform 112">
              <a:extLst>
                <a:ext uri="{FF2B5EF4-FFF2-40B4-BE49-F238E27FC236}">
                  <a16:creationId xmlns:a16="http://schemas.microsoft.com/office/drawing/2014/main" id="{14976D5B-ADE0-4308-8B01-3778690342FA}"/>
                </a:ext>
              </a:extLst>
            </p:cNvPr>
            <p:cNvSpPr>
              <a:spLocks/>
            </p:cNvSpPr>
            <p:nvPr/>
          </p:nvSpPr>
          <p:spPr bwMode="auto">
            <a:xfrm>
              <a:off x="4794903" y="4438031"/>
              <a:ext cx="242017" cy="294958"/>
            </a:xfrm>
            <a:custGeom>
              <a:avLst/>
              <a:gdLst>
                <a:gd name="T0" fmla="*/ 16 w 32"/>
                <a:gd name="T1" fmla="*/ 39 h 39"/>
                <a:gd name="T2" fmla="*/ 13 w 32"/>
                <a:gd name="T3" fmla="*/ 36 h 39"/>
                <a:gd name="T4" fmla="*/ 15 w 32"/>
                <a:gd name="T5" fmla="*/ 12 h 39"/>
                <a:gd name="T6" fmla="*/ 5 w 32"/>
                <a:gd name="T7" fmla="*/ 32 h 39"/>
                <a:gd name="T8" fmla="*/ 0 w 32"/>
                <a:gd name="T9" fmla="*/ 30 h 39"/>
                <a:gd name="T10" fmla="*/ 16 w 32"/>
                <a:gd name="T11" fmla="*/ 0 h 39"/>
                <a:gd name="T12" fmla="*/ 20 w 32"/>
                <a:gd name="T13" fmla="*/ 1 h 39"/>
                <a:gd name="T14" fmla="*/ 19 w 32"/>
                <a:gd name="T15" fmla="*/ 25 h 39"/>
                <a:gd name="T16" fmla="*/ 29 w 32"/>
                <a:gd name="T17" fmla="*/ 5 h 39"/>
                <a:gd name="T18" fmla="*/ 32 w 32"/>
                <a:gd name="T19" fmla="*/ 7 h 39"/>
                <a:gd name="T20" fmla="*/ 16 w 32"/>
                <a:gd name="T21"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39">
                  <a:moveTo>
                    <a:pt x="16" y="39"/>
                  </a:moveTo>
                  <a:lnTo>
                    <a:pt x="13" y="36"/>
                  </a:lnTo>
                  <a:lnTo>
                    <a:pt x="15" y="12"/>
                  </a:lnTo>
                  <a:lnTo>
                    <a:pt x="5" y="32"/>
                  </a:lnTo>
                  <a:lnTo>
                    <a:pt x="0" y="30"/>
                  </a:lnTo>
                  <a:lnTo>
                    <a:pt x="16" y="0"/>
                  </a:lnTo>
                  <a:lnTo>
                    <a:pt x="20" y="1"/>
                  </a:lnTo>
                  <a:lnTo>
                    <a:pt x="19" y="25"/>
                  </a:lnTo>
                  <a:lnTo>
                    <a:pt x="29" y="5"/>
                  </a:lnTo>
                  <a:lnTo>
                    <a:pt x="32" y="7"/>
                  </a:lnTo>
                  <a:lnTo>
                    <a:pt x="16" y="3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9" name="Freeform 113">
              <a:extLst>
                <a:ext uri="{FF2B5EF4-FFF2-40B4-BE49-F238E27FC236}">
                  <a16:creationId xmlns:a16="http://schemas.microsoft.com/office/drawing/2014/main" id="{2AD8889C-7A54-43D5-A52C-D31B39B2F309}"/>
                </a:ext>
              </a:extLst>
            </p:cNvPr>
            <p:cNvSpPr>
              <a:spLocks/>
            </p:cNvSpPr>
            <p:nvPr userDrawn="1"/>
          </p:nvSpPr>
          <p:spPr bwMode="auto">
            <a:xfrm>
              <a:off x="4983978" y="4506098"/>
              <a:ext cx="173950" cy="272269"/>
            </a:xfrm>
            <a:custGeom>
              <a:avLst/>
              <a:gdLst>
                <a:gd name="T0" fmla="*/ 12 w 19"/>
                <a:gd name="T1" fmla="*/ 29 h 29"/>
                <a:gd name="T2" fmla="*/ 10 w 19"/>
                <a:gd name="T3" fmla="*/ 29 h 29"/>
                <a:gd name="T4" fmla="*/ 10 w 19"/>
                <a:gd name="T5" fmla="*/ 26 h 29"/>
                <a:gd name="T6" fmla="*/ 8 w 19"/>
                <a:gd name="T7" fmla="*/ 27 h 29"/>
                <a:gd name="T8" fmla="*/ 5 w 19"/>
                <a:gd name="T9" fmla="*/ 27 h 29"/>
                <a:gd name="T10" fmla="*/ 1 w 19"/>
                <a:gd name="T11" fmla="*/ 23 h 29"/>
                <a:gd name="T12" fmla="*/ 1 w 19"/>
                <a:gd name="T13" fmla="*/ 13 h 29"/>
                <a:gd name="T14" fmla="*/ 6 w 19"/>
                <a:gd name="T15" fmla="*/ 3 h 29"/>
                <a:gd name="T16" fmla="*/ 14 w 19"/>
                <a:gd name="T17" fmla="*/ 1 h 29"/>
                <a:gd name="T18" fmla="*/ 18 w 19"/>
                <a:gd name="T19" fmla="*/ 11 h 29"/>
                <a:gd name="T20" fmla="*/ 15 w 19"/>
                <a:gd name="T21" fmla="*/ 11 h 29"/>
                <a:gd name="T22" fmla="*/ 13 w 19"/>
                <a:gd name="T23" fmla="*/ 4 h 29"/>
                <a:gd name="T24" fmla="*/ 8 w 19"/>
                <a:gd name="T25" fmla="*/ 6 h 29"/>
                <a:gd name="T26" fmla="*/ 5 w 19"/>
                <a:gd name="T27" fmla="*/ 14 h 29"/>
                <a:gd name="T28" fmla="*/ 4 w 19"/>
                <a:gd name="T29" fmla="*/ 21 h 29"/>
                <a:gd name="T30" fmla="*/ 6 w 19"/>
                <a:gd name="T31" fmla="*/ 24 h 29"/>
                <a:gd name="T32" fmla="*/ 9 w 19"/>
                <a:gd name="T33" fmla="*/ 24 h 29"/>
                <a:gd name="T34" fmla="*/ 12 w 19"/>
                <a:gd name="T35" fmla="*/ 20 h 29"/>
                <a:gd name="T36" fmla="*/ 12 w 19"/>
                <a:gd name="T37" fmla="*/ 18 h 29"/>
                <a:gd name="T38" fmla="*/ 8 w 19"/>
                <a:gd name="T39" fmla="*/ 17 h 29"/>
                <a:gd name="T40" fmla="*/ 9 w 19"/>
                <a:gd name="T41" fmla="*/ 14 h 29"/>
                <a:gd name="T42" fmla="*/ 16 w 19"/>
                <a:gd name="T43" fmla="*/ 17 h 29"/>
                <a:gd name="T44" fmla="*/ 12 w 19"/>
                <a:gd name="T45"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29">
                  <a:moveTo>
                    <a:pt x="12" y="29"/>
                  </a:moveTo>
                  <a:cubicBezTo>
                    <a:pt x="10" y="29"/>
                    <a:pt x="10" y="29"/>
                    <a:pt x="10" y="29"/>
                  </a:cubicBezTo>
                  <a:cubicBezTo>
                    <a:pt x="10" y="26"/>
                    <a:pt x="10" y="26"/>
                    <a:pt x="10" y="26"/>
                  </a:cubicBezTo>
                  <a:cubicBezTo>
                    <a:pt x="9" y="27"/>
                    <a:pt x="9" y="27"/>
                    <a:pt x="8" y="27"/>
                  </a:cubicBezTo>
                  <a:cubicBezTo>
                    <a:pt x="7" y="27"/>
                    <a:pt x="6" y="27"/>
                    <a:pt x="5" y="27"/>
                  </a:cubicBezTo>
                  <a:cubicBezTo>
                    <a:pt x="3" y="26"/>
                    <a:pt x="2" y="25"/>
                    <a:pt x="1" y="23"/>
                  </a:cubicBezTo>
                  <a:cubicBezTo>
                    <a:pt x="0" y="20"/>
                    <a:pt x="0" y="17"/>
                    <a:pt x="1" y="13"/>
                  </a:cubicBezTo>
                  <a:cubicBezTo>
                    <a:pt x="3" y="8"/>
                    <a:pt x="4" y="5"/>
                    <a:pt x="6" y="3"/>
                  </a:cubicBezTo>
                  <a:cubicBezTo>
                    <a:pt x="9" y="1"/>
                    <a:pt x="12" y="0"/>
                    <a:pt x="14" y="1"/>
                  </a:cubicBezTo>
                  <a:cubicBezTo>
                    <a:pt x="17" y="2"/>
                    <a:pt x="19" y="6"/>
                    <a:pt x="18" y="11"/>
                  </a:cubicBezTo>
                  <a:cubicBezTo>
                    <a:pt x="15" y="11"/>
                    <a:pt x="15" y="11"/>
                    <a:pt x="15" y="11"/>
                  </a:cubicBezTo>
                  <a:cubicBezTo>
                    <a:pt x="16" y="9"/>
                    <a:pt x="15" y="5"/>
                    <a:pt x="13" y="4"/>
                  </a:cubicBezTo>
                  <a:cubicBezTo>
                    <a:pt x="11" y="4"/>
                    <a:pt x="9" y="4"/>
                    <a:pt x="8" y="6"/>
                  </a:cubicBezTo>
                  <a:cubicBezTo>
                    <a:pt x="7" y="7"/>
                    <a:pt x="6" y="10"/>
                    <a:pt x="5" y="14"/>
                  </a:cubicBezTo>
                  <a:cubicBezTo>
                    <a:pt x="4" y="17"/>
                    <a:pt x="3" y="20"/>
                    <a:pt x="4" y="21"/>
                  </a:cubicBezTo>
                  <a:cubicBezTo>
                    <a:pt x="4" y="23"/>
                    <a:pt x="5" y="24"/>
                    <a:pt x="6" y="24"/>
                  </a:cubicBezTo>
                  <a:cubicBezTo>
                    <a:pt x="7" y="25"/>
                    <a:pt x="9" y="25"/>
                    <a:pt x="9" y="24"/>
                  </a:cubicBezTo>
                  <a:cubicBezTo>
                    <a:pt x="10" y="23"/>
                    <a:pt x="11" y="22"/>
                    <a:pt x="12" y="20"/>
                  </a:cubicBezTo>
                  <a:cubicBezTo>
                    <a:pt x="12" y="18"/>
                    <a:pt x="12" y="18"/>
                    <a:pt x="12" y="18"/>
                  </a:cubicBezTo>
                  <a:cubicBezTo>
                    <a:pt x="8" y="17"/>
                    <a:pt x="8" y="17"/>
                    <a:pt x="8" y="17"/>
                  </a:cubicBezTo>
                  <a:cubicBezTo>
                    <a:pt x="9" y="14"/>
                    <a:pt x="9" y="14"/>
                    <a:pt x="9" y="14"/>
                  </a:cubicBezTo>
                  <a:cubicBezTo>
                    <a:pt x="16" y="17"/>
                    <a:pt x="16" y="17"/>
                    <a:pt x="16" y="17"/>
                  </a:cubicBezTo>
                  <a:lnTo>
                    <a:pt x="12" y="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21" name="Freeform 114">
              <a:extLst>
                <a:ext uri="{FF2B5EF4-FFF2-40B4-BE49-F238E27FC236}">
                  <a16:creationId xmlns:a16="http://schemas.microsoft.com/office/drawing/2014/main" id="{F9ADC5C7-AE4D-4181-B4E7-C308ED7B481C}"/>
                </a:ext>
              </a:extLst>
            </p:cNvPr>
            <p:cNvSpPr>
              <a:spLocks/>
            </p:cNvSpPr>
            <p:nvPr userDrawn="1"/>
          </p:nvSpPr>
          <p:spPr bwMode="auto">
            <a:xfrm>
              <a:off x="5301626" y="4543913"/>
              <a:ext cx="143698" cy="249580"/>
            </a:xfrm>
            <a:custGeom>
              <a:avLst/>
              <a:gdLst>
                <a:gd name="T0" fmla="*/ 15 w 15"/>
                <a:gd name="T1" fmla="*/ 19 h 27"/>
                <a:gd name="T2" fmla="*/ 13 w 15"/>
                <a:gd name="T3" fmla="*/ 25 h 27"/>
                <a:gd name="T4" fmla="*/ 7 w 15"/>
                <a:gd name="T5" fmla="*/ 27 h 27"/>
                <a:gd name="T6" fmla="*/ 1 w 15"/>
                <a:gd name="T7" fmla="*/ 25 h 27"/>
                <a:gd name="T8" fmla="*/ 0 w 15"/>
                <a:gd name="T9" fmla="*/ 19 h 27"/>
                <a:gd name="T10" fmla="*/ 0 w 15"/>
                <a:gd name="T11" fmla="*/ 0 h 27"/>
                <a:gd name="T12" fmla="*/ 4 w 15"/>
                <a:gd name="T13" fmla="*/ 0 h 27"/>
                <a:gd name="T14" fmla="*/ 3 w 15"/>
                <a:gd name="T15" fmla="*/ 19 h 27"/>
                <a:gd name="T16" fmla="*/ 4 w 15"/>
                <a:gd name="T17" fmla="*/ 23 h 27"/>
                <a:gd name="T18" fmla="*/ 7 w 15"/>
                <a:gd name="T19" fmla="*/ 24 h 27"/>
                <a:gd name="T20" fmla="*/ 10 w 15"/>
                <a:gd name="T21" fmla="*/ 23 h 27"/>
                <a:gd name="T22" fmla="*/ 11 w 15"/>
                <a:gd name="T23" fmla="*/ 19 h 27"/>
                <a:gd name="T24" fmla="*/ 12 w 15"/>
                <a:gd name="T25" fmla="*/ 0 h 27"/>
                <a:gd name="T26" fmla="*/ 15 w 15"/>
                <a:gd name="T27" fmla="*/ 0 h 27"/>
                <a:gd name="T28" fmla="*/ 15 w 15"/>
                <a:gd name="T29"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7">
                  <a:moveTo>
                    <a:pt x="15" y="19"/>
                  </a:moveTo>
                  <a:cubicBezTo>
                    <a:pt x="15" y="22"/>
                    <a:pt x="14" y="24"/>
                    <a:pt x="13" y="25"/>
                  </a:cubicBezTo>
                  <a:cubicBezTo>
                    <a:pt x="11" y="27"/>
                    <a:pt x="10" y="27"/>
                    <a:pt x="7" y="27"/>
                  </a:cubicBezTo>
                  <a:cubicBezTo>
                    <a:pt x="4" y="27"/>
                    <a:pt x="2" y="26"/>
                    <a:pt x="1" y="25"/>
                  </a:cubicBezTo>
                  <a:cubicBezTo>
                    <a:pt x="0" y="23"/>
                    <a:pt x="0" y="21"/>
                    <a:pt x="0" y="19"/>
                  </a:cubicBezTo>
                  <a:cubicBezTo>
                    <a:pt x="0" y="0"/>
                    <a:pt x="0" y="0"/>
                    <a:pt x="0" y="0"/>
                  </a:cubicBezTo>
                  <a:cubicBezTo>
                    <a:pt x="4" y="0"/>
                    <a:pt x="4" y="0"/>
                    <a:pt x="4" y="0"/>
                  </a:cubicBezTo>
                  <a:cubicBezTo>
                    <a:pt x="3" y="19"/>
                    <a:pt x="3" y="19"/>
                    <a:pt x="3" y="19"/>
                  </a:cubicBezTo>
                  <a:cubicBezTo>
                    <a:pt x="3" y="21"/>
                    <a:pt x="3" y="22"/>
                    <a:pt x="4" y="23"/>
                  </a:cubicBezTo>
                  <a:cubicBezTo>
                    <a:pt x="5" y="24"/>
                    <a:pt x="6" y="24"/>
                    <a:pt x="7" y="24"/>
                  </a:cubicBezTo>
                  <a:cubicBezTo>
                    <a:pt x="8" y="24"/>
                    <a:pt x="9" y="24"/>
                    <a:pt x="10" y="23"/>
                  </a:cubicBezTo>
                  <a:cubicBezTo>
                    <a:pt x="11" y="22"/>
                    <a:pt x="11" y="21"/>
                    <a:pt x="11" y="19"/>
                  </a:cubicBezTo>
                  <a:cubicBezTo>
                    <a:pt x="12" y="0"/>
                    <a:pt x="12" y="0"/>
                    <a:pt x="12" y="0"/>
                  </a:cubicBezTo>
                  <a:cubicBezTo>
                    <a:pt x="15" y="0"/>
                    <a:pt x="15" y="0"/>
                    <a:pt x="15" y="0"/>
                  </a:cubicBezTo>
                  <a:lnTo>
                    <a:pt x="15" y="1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22" name="Freeform 115">
              <a:extLst>
                <a:ext uri="{FF2B5EF4-FFF2-40B4-BE49-F238E27FC236}">
                  <a16:creationId xmlns:a16="http://schemas.microsoft.com/office/drawing/2014/main" id="{74DC3C10-2966-493A-A54D-90406DF61F66}"/>
                </a:ext>
              </a:extLst>
            </p:cNvPr>
            <p:cNvSpPr>
              <a:spLocks/>
            </p:cNvSpPr>
            <p:nvPr userDrawn="1"/>
          </p:nvSpPr>
          <p:spPr bwMode="auto">
            <a:xfrm>
              <a:off x="5460449" y="4521224"/>
              <a:ext cx="158824" cy="272269"/>
            </a:xfrm>
            <a:custGeom>
              <a:avLst/>
              <a:gdLst>
                <a:gd name="T0" fmla="*/ 21 w 21"/>
                <a:gd name="T1" fmla="*/ 33 h 36"/>
                <a:gd name="T2" fmla="*/ 17 w 21"/>
                <a:gd name="T3" fmla="*/ 34 h 36"/>
                <a:gd name="T4" fmla="*/ 5 w 21"/>
                <a:gd name="T5" fmla="*/ 11 h 36"/>
                <a:gd name="T6" fmla="*/ 8 w 21"/>
                <a:gd name="T7" fmla="*/ 35 h 36"/>
                <a:gd name="T8" fmla="*/ 3 w 21"/>
                <a:gd name="T9" fmla="*/ 36 h 36"/>
                <a:gd name="T10" fmla="*/ 0 w 21"/>
                <a:gd name="T11" fmla="*/ 3 h 36"/>
                <a:gd name="T12" fmla="*/ 5 w 21"/>
                <a:gd name="T13" fmla="*/ 1 h 36"/>
                <a:gd name="T14" fmla="*/ 15 w 21"/>
                <a:gd name="T15" fmla="*/ 18 h 36"/>
                <a:gd name="T16" fmla="*/ 12 w 21"/>
                <a:gd name="T17" fmla="*/ 0 h 36"/>
                <a:gd name="T18" fmla="*/ 16 w 21"/>
                <a:gd name="T19" fmla="*/ 0 h 36"/>
                <a:gd name="T20" fmla="*/ 21 w 21"/>
                <a:gd name="T21" fmla="*/ 3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36">
                  <a:moveTo>
                    <a:pt x="21" y="33"/>
                  </a:moveTo>
                  <a:lnTo>
                    <a:pt x="17" y="34"/>
                  </a:lnTo>
                  <a:lnTo>
                    <a:pt x="5" y="11"/>
                  </a:lnTo>
                  <a:lnTo>
                    <a:pt x="8" y="35"/>
                  </a:lnTo>
                  <a:lnTo>
                    <a:pt x="3" y="36"/>
                  </a:lnTo>
                  <a:lnTo>
                    <a:pt x="0" y="3"/>
                  </a:lnTo>
                  <a:lnTo>
                    <a:pt x="5" y="1"/>
                  </a:lnTo>
                  <a:lnTo>
                    <a:pt x="15" y="18"/>
                  </a:lnTo>
                  <a:lnTo>
                    <a:pt x="12" y="0"/>
                  </a:lnTo>
                  <a:lnTo>
                    <a:pt x="16" y="0"/>
                  </a:lnTo>
                  <a:lnTo>
                    <a:pt x="21" y="3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23" name="Freeform 116">
              <a:extLst>
                <a:ext uri="{FF2B5EF4-FFF2-40B4-BE49-F238E27FC236}">
                  <a16:creationId xmlns:a16="http://schemas.microsoft.com/office/drawing/2014/main" id="{7D19AB60-7877-47D3-B258-5CC5D3394B31}"/>
                </a:ext>
              </a:extLst>
            </p:cNvPr>
            <p:cNvSpPr>
              <a:spLocks/>
            </p:cNvSpPr>
            <p:nvPr userDrawn="1"/>
          </p:nvSpPr>
          <p:spPr bwMode="auto">
            <a:xfrm>
              <a:off x="5611710" y="4506098"/>
              <a:ext cx="105882" cy="249580"/>
            </a:xfrm>
            <a:custGeom>
              <a:avLst/>
              <a:gdLst>
                <a:gd name="T0" fmla="*/ 14 w 14"/>
                <a:gd name="T1" fmla="*/ 31 h 33"/>
                <a:gd name="T2" fmla="*/ 9 w 14"/>
                <a:gd name="T3" fmla="*/ 33 h 33"/>
                <a:gd name="T4" fmla="*/ 0 w 14"/>
                <a:gd name="T5" fmla="*/ 1 h 33"/>
                <a:gd name="T6" fmla="*/ 4 w 14"/>
                <a:gd name="T7" fmla="*/ 0 h 33"/>
                <a:gd name="T8" fmla="*/ 14 w 14"/>
                <a:gd name="T9" fmla="*/ 31 h 33"/>
              </a:gdLst>
              <a:ahLst/>
              <a:cxnLst>
                <a:cxn ang="0">
                  <a:pos x="T0" y="T1"/>
                </a:cxn>
                <a:cxn ang="0">
                  <a:pos x="T2" y="T3"/>
                </a:cxn>
                <a:cxn ang="0">
                  <a:pos x="T4" y="T5"/>
                </a:cxn>
                <a:cxn ang="0">
                  <a:pos x="T6" y="T7"/>
                </a:cxn>
                <a:cxn ang="0">
                  <a:pos x="T8" y="T9"/>
                </a:cxn>
              </a:cxnLst>
              <a:rect l="0" t="0" r="r" b="b"/>
              <a:pathLst>
                <a:path w="14" h="33">
                  <a:moveTo>
                    <a:pt x="14" y="31"/>
                  </a:moveTo>
                  <a:lnTo>
                    <a:pt x="9" y="33"/>
                  </a:lnTo>
                  <a:lnTo>
                    <a:pt x="0" y="1"/>
                  </a:lnTo>
                  <a:lnTo>
                    <a:pt x="4" y="0"/>
                  </a:lnTo>
                  <a:lnTo>
                    <a:pt x="14" y="3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24" name="Freeform 117">
              <a:extLst>
                <a:ext uri="{FF2B5EF4-FFF2-40B4-BE49-F238E27FC236}">
                  <a16:creationId xmlns:a16="http://schemas.microsoft.com/office/drawing/2014/main" id="{10EA4C77-ABB2-409A-8BA8-A3840B394FEE}"/>
                </a:ext>
              </a:extLst>
            </p:cNvPr>
            <p:cNvSpPr>
              <a:spLocks/>
            </p:cNvSpPr>
            <p:nvPr userDrawn="1"/>
          </p:nvSpPr>
          <p:spPr bwMode="auto">
            <a:xfrm>
              <a:off x="5664651" y="4438031"/>
              <a:ext cx="173950" cy="279832"/>
            </a:xfrm>
            <a:custGeom>
              <a:avLst/>
              <a:gdLst>
                <a:gd name="T0" fmla="*/ 18 w 23"/>
                <a:gd name="T1" fmla="*/ 0 h 37"/>
                <a:gd name="T2" fmla="*/ 23 w 23"/>
                <a:gd name="T3" fmla="*/ 35 h 37"/>
                <a:gd name="T4" fmla="*/ 19 w 23"/>
                <a:gd name="T5" fmla="*/ 37 h 37"/>
                <a:gd name="T6" fmla="*/ 0 w 23"/>
                <a:gd name="T7" fmla="*/ 7 h 37"/>
                <a:gd name="T8" fmla="*/ 4 w 23"/>
                <a:gd name="T9" fmla="*/ 6 h 37"/>
                <a:gd name="T10" fmla="*/ 18 w 23"/>
                <a:gd name="T11" fmla="*/ 26 h 37"/>
                <a:gd name="T12" fmla="*/ 14 w 23"/>
                <a:gd name="T13" fmla="*/ 1 h 37"/>
                <a:gd name="T14" fmla="*/ 18 w 23"/>
                <a:gd name="T15" fmla="*/ 0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7">
                  <a:moveTo>
                    <a:pt x="18" y="0"/>
                  </a:moveTo>
                  <a:lnTo>
                    <a:pt x="23" y="35"/>
                  </a:lnTo>
                  <a:lnTo>
                    <a:pt x="19" y="37"/>
                  </a:lnTo>
                  <a:lnTo>
                    <a:pt x="0" y="7"/>
                  </a:lnTo>
                  <a:lnTo>
                    <a:pt x="4" y="6"/>
                  </a:lnTo>
                  <a:lnTo>
                    <a:pt x="18" y="26"/>
                  </a:lnTo>
                  <a:lnTo>
                    <a:pt x="14" y="1"/>
                  </a:lnTo>
                  <a:lnTo>
                    <a:pt x="18"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25" name="Freeform 118">
              <a:extLst>
                <a:ext uri="{FF2B5EF4-FFF2-40B4-BE49-F238E27FC236}">
                  <a16:creationId xmlns:a16="http://schemas.microsoft.com/office/drawing/2014/main" id="{F5893858-415F-428D-A831-326ED5810C77}"/>
                </a:ext>
              </a:extLst>
            </p:cNvPr>
            <p:cNvSpPr>
              <a:spLocks/>
            </p:cNvSpPr>
            <p:nvPr userDrawn="1"/>
          </p:nvSpPr>
          <p:spPr bwMode="auto">
            <a:xfrm>
              <a:off x="5808348" y="4369963"/>
              <a:ext cx="249580" cy="287395"/>
            </a:xfrm>
            <a:custGeom>
              <a:avLst/>
              <a:gdLst>
                <a:gd name="T0" fmla="*/ 33 w 33"/>
                <a:gd name="T1" fmla="*/ 29 h 38"/>
                <a:gd name="T2" fmla="*/ 17 w 33"/>
                <a:gd name="T3" fmla="*/ 38 h 38"/>
                <a:gd name="T4" fmla="*/ 0 w 33"/>
                <a:gd name="T5" fmla="*/ 8 h 38"/>
                <a:gd name="T6" fmla="*/ 15 w 33"/>
                <a:gd name="T7" fmla="*/ 0 h 38"/>
                <a:gd name="T8" fmla="*/ 17 w 33"/>
                <a:gd name="T9" fmla="*/ 3 h 38"/>
                <a:gd name="T10" fmla="*/ 6 w 33"/>
                <a:gd name="T11" fmla="*/ 9 h 38"/>
                <a:gd name="T12" fmla="*/ 11 w 33"/>
                <a:gd name="T13" fmla="*/ 19 h 38"/>
                <a:gd name="T14" fmla="*/ 22 w 33"/>
                <a:gd name="T15" fmla="*/ 13 h 38"/>
                <a:gd name="T16" fmla="*/ 23 w 33"/>
                <a:gd name="T17" fmla="*/ 16 h 38"/>
                <a:gd name="T18" fmla="*/ 14 w 33"/>
                <a:gd name="T19" fmla="*/ 21 h 38"/>
                <a:gd name="T20" fmla="*/ 20 w 33"/>
                <a:gd name="T21" fmla="*/ 33 h 38"/>
                <a:gd name="T22" fmla="*/ 31 w 33"/>
                <a:gd name="T23" fmla="*/ 25 h 38"/>
                <a:gd name="T24" fmla="*/ 33 w 33"/>
                <a:gd name="T25" fmla="*/ 2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8">
                  <a:moveTo>
                    <a:pt x="33" y="29"/>
                  </a:moveTo>
                  <a:lnTo>
                    <a:pt x="17" y="38"/>
                  </a:lnTo>
                  <a:lnTo>
                    <a:pt x="0" y="8"/>
                  </a:lnTo>
                  <a:lnTo>
                    <a:pt x="15" y="0"/>
                  </a:lnTo>
                  <a:lnTo>
                    <a:pt x="17" y="3"/>
                  </a:lnTo>
                  <a:lnTo>
                    <a:pt x="6" y="9"/>
                  </a:lnTo>
                  <a:lnTo>
                    <a:pt x="11" y="19"/>
                  </a:lnTo>
                  <a:lnTo>
                    <a:pt x="22" y="13"/>
                  </a:lnTo>
                  <a:lnTo>
                    <a:pt x="23" y="16"/>
                  </a:lnTo>
                  <a:lnTo>
                    <a:pt x="14" y="21"/>
                  </a:lnTo>
                  <a:lnTo>
                    <a:pt x="20" y="33"/>
                  </a:lnTo>
                  <a:lnTo>
                    <a:pt x="31" y="25"/>
                  </a:lnTo>
                  <a:lnTo>
                    <a:pt x="33" y="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26" name="Freeform 119">
              <a:extLst>
                <a:ext uri="{FF2B5EF4-FFF2-40B4-BE49-F238E27FC236}">
                  <a16:creationId xmlns:a16="http://schemas.microsoft.com/office/drawing/2014/main" id="{5D21FEF0-573F-48FD-82AE-714F73D01D63}"/>
                </a:ext>
              </a:extLst>
            </p:cNvPr>
            <p:cNvSpPr>
              <a:spLocks noEditPoints="1"/>
            </p:cNvSpPr>
            <p:nvPr userDrawn="1"/>
          </p:nvSpPr>
          <p:spPr bwMode="auto">
            <a:xfrm>
              <a:off x="5936920" y="4309459"/>
              <a:ext cx="257143" cy="257143"/>
            </a:xfrm>
            <a:custGeom>
              <a:avLst/>
              <a:gdLst>
                <a:gd name="T0" fmla="*/ 27 w 27"/>
                <a:gd name="T1" fmla="*/ 20 h 28"/>
                <a:gd name="T2" fmla="*/ 24 w 27"/>
                <a:gd name="T3" fmla="*/ 22 h 28"/>
                <a:gd name="T4" fmla="*/ 15 w 27"/>
                <a:gd name="T5" fmla="*/ 14 h 28"/>
                <a:gd name="T6" fmla="*/ 12 w 27"/>
                <a:gd name="T7" fmla="*/ 17 h 28"/>
                <a:gd name="T8" fmla="*/ 19 w 27"/>
                <a:gd name="T9" fmla="*/ 26 h 28"/>
                <a:gd name="T10" fmla="*/ 16 w 27"/>
                <a:gd name="T11" fmla="*/ 28 h 28"/>
                <a:gd name="T12" fmla="*/ 0 w 27"/>
                <a:gd name="T13" fmla="*/ 6 h 28"/>
                <a:gd name="T14" fmla="*/ 5 w 27"/>
                <a:gd name="T15" fmla="*/ 2 h 28"/>
                <a:gd name="T16" fmla="*/ 11 w 27"/>
                <a:gd name="T17" fmla="*/ 0 h 28"/>
                <a:gd name="T18" fmla="*/ 18 w 27"/>
                <a:gd name="T19" fmla="*/ 8 h 28"/>
                <a:gd name="T20" fmla="*/ 17 w 27"/>
                <a:gd name="T21" fmla="*/ 12 h 28"/>
                <a:gd name="T22" fmla="*/ 27 w 27"/>
                <a:gd name="T23" fmla="*/ 20 h 28"/>
                <a:gd name="T24" fmla="*/ 10 w 27"/>
                <a:gd name="T25" fmla="*/ 4 h 28"/>
                <a:gd name="T26" fmla="*/ 5 w 27"/>
                <a:gd name="T27" fmla="*/ 6 h 28"/>
                <a:gd name="T28" fmla="*/ 10 w 27"/>
                <a:gd name="T29" fmla="*/ 13 h 28"/>
                <a:gd name="T30" fmla="*/ 14 w 27"/>
                <a:gd name="T31" fmla="*/ 10 h 28"/>
                <a:gd name="T32" fmla="*/ 10 w 27"/>
                <a:gd name="T33"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8">
                  <a:moveTo>
                    <a:pt x="27" y="20"/>
                  </a:moveTo>
                  <a:cubicBezTo>
                    <a:pt x="24" y="22"/>
                    <a:pt x="24" y="22"/>
                    <a:pt x="24" y="22"/>
                  </a:cubicBezTo>
                  <a:cubicBezTo>
                    <a:pt x="15" y="14"/>
                    <a:pt x="15" y="14"/>
                    <a:pt x="15" y="14"/>
                  </a:cubicBezTo>
                  <a:cubicBezTo>
                    <a:pt x="12" y="17"/>
                    <a:pt x="12" y="17"/>
                    <a:pt x="12" y="17"/>
                  </a:cubicBezTo>
                  <a:cubicBezTo>
                    <a:pt x="19" y="26"/>
                    <a:pt x="19" y="26"/>
                    <a:pt x="19" y="26"/>
                  </a:cubicBezTo>
                  <a:cubicBezTo>
                    <a:pt x="16" y="28"/>
                    <a:pt x="16" y="28"/>
                    <a:pt x="16" y="28"/>
                  </a:cubicBezTo>
                  <a:cubicBezTo>
                    <a:pt x="0" y="6"/>
                    <a:pt x="0" y="6"/>
                    <a:pt x="0" y="6"/>
                  </a:cubicBezTo>
                  <a:cubicBezTo>
                    <a:pt x="5" y="2"/>
                    <a:pt x="5" y="2"/>
                    <a:pt x="5" y="2"/>
                  </a:cubicBezTo>
                  <a:cubicBezTo>
                    <a:pt x="7" y="1"/>
                    <a:pt x="9" y="0"/>
                    <a:pt x="11" y="0"/>
                  </a:cubicBezTo>
                  <a:cubicBezTo>
                    <a:pt x="16" y="1"/>
                    <a:pt x="18" y="4"/>
                    <a:pt x="18" y="8"/>
                  </a:cubicBezTo>
                  <a:cubicBezTo>
                    <a:pt x="18" y="9"/>
                    <a:pt x="18" y="11"/>
                    <a:pt x="17" y="12"/>
                  </a:cubicBezTo>
                  <a:lnTo>
                    <a:pt x="27" y="20"/>
                  </a:lnTo>
                  <a:close/>
                  <a:moveTo>
                    <a:pt x="10" y="4"/>
                  </a:moveTo>
                  <a:cubicBezTo>
                    <a:pt x="8" y="3"/>
                    <a:pt x="6" y="5"/>
                    <a:pt x="5" y="6"/>
                  </a:cubicBezTo>
                  <a:cubicBezTo>
                    <a:pt x="10" y="13"/>
                    <a:pt x="10" y="13"/>
                    <a:pt x="10" y="13"/>
                  </a:cubicBezTo>
                  <a:cubicBezTo>
                    <a:pt x="12" y="12"/>
                    <a:pt x="12" y="12"/>
                    <a:pt x="14" y="10"/>
                  </a:cubicBezTo>
                  <a:cubicBezTo>
                    <a:pt x="14" y="7"/>
                    <a:pt x="13" y="5"/>
                    <a:pt x="10" y="4"/>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27" name="Freeform 120">
              <a:extLst>
                <a:ext uri="{FF2B5EF4-FFF2-40B4-BE49-F238E27FC236}">
                  <a16:creationId xmlns:a16="http://schemas.microsoft.com/office/drawing/2014/main" id="{3A8E9DDA-2C4F-4E92-8370-0CC50BE55AC2}"/>
                </a:ext>
              </a:extLst>
            </p:cNvPr>
            <p:cNvSpPr>
              <a:spLocks/>
            </p:cNvSpPr>
            <p:nvPr userDrawn="1"/>
          </p:nvSpPr>
          <p:spPr bwMode="auto">
            <a:xfrm>
              <a:off x="6073054" y="4196014"/>
              <a:ext cx="257143" cy="219328"/>
            </a:xfrm>
            <a:custGeom>
              <a:avLst/>
              <a:gdLst>
                <a:gd name="T0" fmla="*/ 22 w 28"/>
                <a:gd name="T1" fmla="*/ 10 h 24"/>
                <a:gd name="T2" fmla="*/ 19 w 28"/>
                <a:gd name="T3" fmla="*/ 24 h 24"/>
                <a:gd name="T4" fmla="*/ 14 w 28"/>
                <a:gd name="T5" fmla="*/ 23 h 24"/>
                <a:gd name="T6" fmla="*/ 15 w 28"/>
                <a:gd name="T7" fmla="*/ 20 h 24"/>
                <a:gd name="T8" fmla="*/ 18 w 28"/>
                <a:gd name="T9" fmla="*/ 21 h 24"/>
                <a:gd name="T10" fmla="*/ 20 w 28"/>
                <a:gd name="T11" fmla="*/ 13 h 24"/>
                <a:gd name="T12" fmla="*/ 17 w 28"/>
                <a:gd name="T13" fmla="*/ 12 h 24"/>
                <a:gd name="T14" fmla="*/ 8 w 28"/>
                <a:gd name="T15" fmla="*/ 15 h 24"/>
                <a:gd name="T16" fmla="*/ 0 w 28"/>
                <a:gd name="T17" fmla="*/ 9 h 24"/>
                <a:gd name="T18" fmla="*/ 2 w 28"/>
                <a:gd name="T19" fmla="*/ 4 h 24"/>
                <a:gd name="T20" fmla="*/ 11 w 28"/>
                <a:gd name="T21" fmla="*/ 2 h 24"/>
                <a:gd name="T22" fmla="*/ 10 w 28"/>
                <a:gd name="T23" fmla="*/ 5 h 24"/>
                <a:gd name="T24" fmla="*/ 4 w 28"/>
                <a:gd name="T25" fmla="*/ 6 h 24"/>
                <a:gd name="T26" fmla="*/ 3 w 28"/>
                <a:gd name="T27" fmla="*/ 9 h 24"/>
                <a:gd name="T28" fmla="*/ 7 w 28"/>
                <a:gd name="T29" fmla="*/ 12 h 24"/>
                <a:gd name="T30" fmla="*/ 17 w 28"/>
                <a:gd name="T31" fmla="*/ 9 h 24"/>
                <a:gd name="T32" fmla="*/ 22 w 28"/>
                <a:gd name="T33" fmla="*/ 1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 h="24">
                  <a:moveTo>
                    <a:pt x="22" y="10"/>
                  </a:moveTo>
                  <a:cubicBezTo>
                    <a:pt x="28" y="13"/>
                    <a:pt x="26" y="23"/>
                    <a:pt x="19" y="24"/>
                  </a:cubicBezTo>
                  <a:cubicBezTo>
                    <a:pt x="17" y="24"/>
                    <a:pt x="15" y="24"/>
                    <a:pt x="14" y="23"/>
                  </a:cubicBezTo>
                  <a:cubicBezTo>
                    <a:pt x="15" y="20"/>
                    <a:pt x="15" y="20"/>
                    <a:pt x="15" y="20"/>
                  </a:cubicBezTo>
                  <a:cubicBezTo>
                    <a:pt x="16" y="21"/>
                    <a:pt x="17" y="21"/>
                    <a:pt x="18" y="21"/>
                  </a:cubicBezTo>
                  <a:cubicBezTo>
                    <a:pt x="23" y="20"/>
                    <a:pt x="23" y="15"/>
                    <a:pt x="20" y="13"/>
                  </a:cubicBezTo>
                  <a:cubicBezTo>
                    <a:pt x="19" y="12"/>
                    <a:pt x="18" y="12"/>
                    <a:pt x="17" y="12"/>
                  </a:cubicBezTo>
                  <a:cubicBezTo>
                    <a:pt x="13" y="13"/>
                    <a:pt x="11" y="15"/>
                    <a:pt x="8" y="15"/>
                  </a:cubicBezTo>
                  <a:cubicBezTo>
                    <a:pt x="4" y="15"/>
                    <a:pt x="1" y="13"/>
                    <a:pt x="0" y="9"/>
                  </a:cubicBezTo>
                  <a:cubicBezTo>
                    <a:pt x="0" y="7"/>
                    <a:pt x="1" y="5"/>
                    <a:pt x="2" y="4"/>
                  </a:cubicBezTo>
                  <a:cubicBezTo>
                    <a:pt x="4" y="0"/>
                    <a:pt x="8" y="0"/>
                    <a:pt x="11" y="2"/>
                  </a:cubicBezTo>
                  <a:cubicBezTo>
                    <a:pt x="10" y="5"/>
                    <a:pt x="10" y="5"/>
                    <a:pt x="10" y="5"/>
                  </a:cubicBezTo>
                  <a:cubicBezTo>
                    <a:pt x="8" y="4"/>
                    <a:pt x="5" y="4"/>
                    <a:pt x="4" y="6"/>
                  </a:cubicBezTo>
                  <a:cubicBezTo>
                    <a:pt x="3" y="7"/>
                    <a:pt x="3" y="8"/>
                    <a:pt x="3" y="9"/>
                  </a:cubicBezTo>
                  <a:cubicBezTo>
                    <a:pt x="4" y="11"/>
                    <a:pt x="5" y="12"/>
                    <a:pt x="7" y="12"/>
                  </a:cubicBezTo>
                  <a:cubicBezTo>
                    <a:pt x="11" y="11"/>
                    <a:pt x="13" y="8"/>
                    <a:pt x="17" y="9"/>
                  </a:cubicBezTo>
                  <a:cubicBezTo>
                    <a:pt x="18" y="9"/>
                    <a:pt x="20" y="9"/>
                    <a:pt x="22" y="10"/>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28" name="Freeform 121">
              <a:extLst>
                <a:ext uri="{FF2B5EF4-FFF2-40B4-BE49-F238E27FC236}">
                  <a16:creationId xmlns:a16="http://schemas.microsoft.com/office/drawing/2014/main" id="{9CE66337-D592-4BE6-90D6-704CADAA212B}"/>
                </a:ext>
              </a:extLst>
            </p:cNvPr>
            <p:cNvSpPr>
              <a:spLocks/>
            </p:cNvSpPr>
            <p:nvPr userDrawn="1"/>
          </p:nvSpPr>
          <p:spPr bwMode="auto">
            <a:xfrm>
              <a:off x="6156248" y="4120384"/>
              <a:ext cx="234454" cy="158823"/>
            </a:xfrm>
            <a:custGeom>
              <a:avLst/>
              <a:gdLst>
                <a:gd name="T0" fmla="*/ 31 w 31"/>
                <a:gd name="T1" fmla="*/ 17 h 21"/>
                <a:gd name="T2" fmla="*/ 28 w 31"/>
                <a:gd name="T3" fmla="*/ 21 h 21"/>
                <a:gd name="T4" fmla="*/ 0 w 31"/>
                <a:gd name="T5" fmla="*/ 2 h 21"/>
                <a:gd name="T6" fmla="*/ 2 w 31"/>
                <a:gd name="T7" fmla="*/ 0 h 21"/>
                <a:gd name="T8" fmla="*/ 31 w 31"/>
                <a:gd name="T9" fmla="*/ 17 h 21"/>
              </a:gdLst>
              <a:ahLst/>
              <a:cxnLst>
                <a:cxn ang="0">
                  <a:pos x="T0" y="T1"/>
                </a:cxn>
                <a:cxn ang="0">
                  <a:pos x="T2" y="T3"/>
                </a:cxn>
                <a:cxn ang="0">
                  <a:pos x="T4" y="T5"/>
                </a:cxn>
                <a:cxn ang="0">
                  <a:pos x="T6" y="T7"/>
                </a:cxn>
                <a:cxn ang="0">
                  <a:pos x="T8" y="T9"/>
                </a:cxn>
              </a:cxnLst>
              <a:rect l="0" t="0" r="r" b="b"/>
              <a:pathLst>
                <a:path w="31" h="21">
                  <a:moveTo>
                    <a:pt x="31" y="17"/>
                  </a:moveTo>
                  <a:lnTo>
                    <a:pt x="28" y="21"/>
                  </a:lnTo>
                  <a:lnTo>
                    <a:pt x="0" y="2"/>
                  </a:lnTo>
                  <a:lnTo>
                    <a:pt x="2" y="0"/>
                  </a:lnTo>
                  <a:lnTo>
                    <a:pt x="31" y="1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29" name="Freeform 122">
              <a:extLst>
                <a:ext uri="{FF2B5EF4-FFF2-40B4-BE49-F238E27FC236}">
                  <a16:creationId xmlns:a16="http://schemas.microsoft.com/office/drawing/2014/main" id="{B843AF31-47DA-4453-971F-FF5E89F7F70E}"/>
                </a:ext>
              </a:extLst>
            </p:cNvPr>
            <p:cNvSpPr>
              <a:spLocks/>
            </p:cNvSpPr>
            <p:nvPr userDrawn="1"/>
          </p:nvSpPr>
          <p:spPr bwMode="auto">
            <a:xfrm>
              <a:off x="6194063" y="3953997"/>
              <a:ext cx="272269" cy="211765"/>
            </a:xfrm>
            <a:custGeom>
              <a:avLst/>
              <a:gdLst>
                <a:gd name="T0" fmla="*/ 11 w 36"/>
                <a:gd name="T1" fmla="*/ 3 h 28"/>
                <a:gd name="T2" fmla="*/ 8 w 36"/>
                <a:gd name="T3" fmla="*/ 9 h 28"/>
                <a:gd name="T4" fmla="*/ 36 w 36"/>
                <a:gd name="T5" fmla="*/ 25 h 28"/>
                <a:gd name="T6" fmla="*/ 33 w 36"/>
                <a:gd name="T7" fmla="*/ 28 h 28"/>
                <a:gd name="T8" fmla="*/ 6 w 36"/>
                <a:gd name="T9" fmla="*/ 13 h 28"/>
                <a:gd name="T10" fmla="*/ 3 w 36"/>
                <a:gd name="T11" fmla="*/ 18 h 28"/>
                <a:gd name="T12" fmla="*/ 0 w 36"/>
                <a:gd name="T13" fmla="*/ 17 h 28"/>
                <a:gd name="T14" fmla="*/ 7 w 36"/>
                <a:gd name="T15" fmla="*/ 0 h 28"/>
                <a:gd name="T16" fmla="*/ 11 w 36"/>
                <a:gd name="T17"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28">
                  <a:moveTo>
                    <a:pt x="11" y="3"/>
                  </a:moveTo>
                  <a:lnTo>
                    <a:pt x="8" y="9"/>
                  </a:lnTo>
                  <a:lnTo>
                    <a:pt x="36" y="25"/>
                  </a:lnTo>
                  <a:lnTo>
                    <a:pt x="33" y="28"/>
                  </a:lnTo>
                  <a:lnTo>
                    <a:pt x="6" y="13"/>
                  </a:lnTo>
                  <a:lnTo>
                    <a:pt x="3" y="18"/>
                  </a:lnTo>
                  <a:lnTo>
                    <a:pt x="0" y="17"/>
                  </a:lnTo>
                  <a:lnTo>
                    <a:pt x="7" y="0"/>
                  </a:lnTo>
                  <a:lnTo>
                    <a:pt x="11" y="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30" name="Freeform 123">
              <a:extLst>
                <a:ext uri="{FF2B5EF4-FFF2-40B4-BE49-F238E27FC236}">
                  <a16:creationId xmlns:a16="http://schemas.microsoft.com/office/drawing/2014/main" id="{E43294E8-EC60-4FC6-98A2-77968F2A96CD}"/>
                </a:ext>
              </a:extLst>
            </p:cNvPr>
            <p:cNvSpPr>
              <a:spLocks/>
            </p:cNvSpPr>
            <p:nvPr userDrawn="1"/>
          </p:nvSpPr>
          <p:spPr bwMode="auto">
            <a:xfrm>
              <a:off x="6254567" y="3810300"/>
              <a:ext cx="272269" cy="173950"/>
            </a:xfrm>
            <a:custGeom>
              <a:avLst/>
              <a:gdLst>
                <a:gd name="T0" fmla="*/ 8 w 36"/>
                <a:gd name="T1" fmla="*/ 0 h 23"/>
                <a:gd name="T2" fmla="*/ 25 w 36"/>
                <a:gd name="T3" fmla="*/ 14 h 23"/>
                <a:gd name="T4" fmla="*/ 36 w 36"/>
                <a:gd name="T5" fmla="*/ 19 h 23"/>
                <a:gd name="T6" fmla="*/ 34 w 36"/>
                <a:gd name="T7" fmla="*/ 23 h 23"/>
                <a:gd name="T8" fmla="*/ 24 w 36"/>
                <a:gd name="T9" fmla="*/ 18 h 23"/>
                <a:gd name="T10" fmla="*/ 0 w 36"/>
                <a:gd name="T11" fmla="*/ 18 h 23"/>
                <a:gd name="T12" fmla="*/ 2 w 36"/>
                <a:gd name="T13" fmla="*/ 14 h 23"/>
                <a:gd name="T14" fmla="*/ 18 w 36"/>
                <a:gd name="T15" fmla="*/ 14 h 23"/>
                <a:gd name="T16" fmla="*/ 7 w 36"/>
                <a:gd name="T17" fmla="*/ 5 h 23"/>
                <a:gd name="T18" fmla="*/ 8 w 36"/>
                <a:gd name="T1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23">
                  <a:moveTo>
                    <a:pt x="8" y="0"/>
                  </a:moveTo>
                  <a:lnTo>
                    <a:pt x="25" y="14"/>
                  </a:lnTo>
                  <a:lnTo>
                    <a:pt x="36" y="19"/>
                  </a:lnTo>
                  <a:lnTo>
                    <a:pt x="34" y="23"/>
                  </a:lnTo>
                  <a:lnTo>
                    <a:pt x="24" y="18"/>
                  </a:lnTo>
                  <a:lnTo>
                    <a:pt x="0" y="18"/>
                  </a:lnTo>
                  <a:lnTo>
                    <a:pt x="2" y="14"/>
                  </a:lnTo>
                  <a:lnTo>
                    <a:pt x="18" y="14"/>
                  </a:lnTo>
                  <a:lnTo>
                    <a:pt x="7" y="5"/>
                  </a:lnTo>
                  <a:lnTo>
                    <a:pt x="8"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31" name="Freeform 124">
              <a:extLst>
                <a:ext uri="{FF2B5EF4-FFF2-40B4-BE49-F238E27FC236}">
                  <a16:creationId xmlns:a16="http://schemas.microsoft.com/office/drawing/2014/main" id="{6C9AE238-B07C-4DD1-B7A2-E2583E1AAA37}"/>
                </a:ext>
              </a:extLst>
            </p:cNvPr>
            <p:cNvSpPr>
              <a:spLocks/>
            </p:cNvSpPr>
            <p:nvPr userDrawn="1"/>
          </p:nvSpPr>
          <p:spPr bwMode="auto">
            <a:xfrm>
              <a:off x="4462130" y="4286770"/>
              <a:ext cx="257143" cy="189076"/>
            </a:xfrm>
            <a:custGeom>
              <a:avLst/>
              <a:gdLst>
                <a:gd name="T0" fmla="*/ 14 w 28"/>
                <a:gd name="T1" fmla="*/ 16 h 20"/>
                <a:gd name="T2" fmla="*/ 8 w 28"/>
                <a:gd name="T3" fmla="*/ 20 h 20"/>
                <a:gd name="T4" fmla="*/ 2 w 28"/>
                <a:gd name="T5" fmla="*/ 17 h 20"/>
                <a:gd name="T6" fmla="*/ 0 w 28"/>
                <a:gd name="T7" fmla="*/ 12 h 20"/>
                <a:gd name="T8" fmla="*/ 1 w 28"/>
                <a:gd name="T9" fmla="*/ 9 h 20"/>
                <a:gd name="T10" fmla="*/ 4 w 28"/>
                <a:gd name="T11" fmla="*/ 10 h 20"/>
                <a:gd name="T12" fmla="*/ 3 w 28"/>
                <a:gd name="T13" fmla="*/ 12 h 20"/>
                <a:gd name="T14" fmla="*/ 4 w 28"/>
                <a:gd name="T15" fmla="*/ 15 h 20"/>
                <a:gd name="T16" fmla="*/ 8 w 28"/>
                <a:gd name="T17" fmla="*/ 16 h 20"/>
                <a:gd name="T18" fmla="*/ 12 w 28"/>
                <a:gd name="T19" fmla="*/ 14 h 20"/>
                <a:gd name="T20" fmla="*/ 25 w 28"/>
                <a:gd name="T21" fmla="*/ 0 h 20"/>
                <a:gd name="T22" fmla="*/ 28 w 28"/>
                <a:gd name="T23" fmla="*/ 3 h 20"/>
                <a:gd name="T24" fmla="*/ 14 w 28"/>
                <a:gd name="T25"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 h="20">
                  <a:moveTo>
                    <a:pt x="14" y="16"/>
                  </a:moveTo>
                  <a:cubicBezTo>
                    <a:pt x="12" y="18"/>
                    <a:pt x="10" y="20"/>
                    <a:pt x="8" y="20"/>
                  </a:cubicBezTo>
                  <a:cubicBezTo>
                    <a:pt x="6" y="20"/>
                    <a:pt x="4" y="19"/>
                    <a:pt x="2" y="17"/>
                  </a:cubicBezTo>
                  <a:cubicBezTo>
                    <a:pt x="1" y="16"/>
                    <a:pt x="0" y="14"/>
                    <a:pt x="0" y="12"/>
                  </a:cubicBezTo>
                  <a:cubicBezTo>
                    <a:pt x="0" y="11"/>
                    <a:pt x="0" y="10"/>
                    <a:pt x="1" y="9"/>
                  </a:cubicBezTo>
                  <a:cubicBezTo>
                    <a:pt x="4" y="10"/>
                    <a:pt x="4" y="10"/>
                    <a:pt x="4" y="10"/>
                  </a:cubicBezTo>
                  <a:cubicBezTo>
                    <a:pt x="3" y="11"/>
                    <a:pt x="3" y="11"/>
                    <a:pt x="3" y="12"/>
                  </a:cubicBezTo>
                  <a:cubicBezTo>
                    <a:pt x="3" y="13"/>
                    <a:pt x="4" y="14"/>
                    <a:pt x="4" y="15"/>
                  </a:cubicBezTo>
                  <a:cubicBezTo>
                    <a:pt x="5" y="16"/>
                    <a:pt x="6" y="16"/>
                    <a:pt x="8" y="16"/>
                  </a:cubicBezTo>
                  <a:cubicBezTo>
                    <a:pt x="9" y="16"/>
                    <a:pt x="10" y="15"/>
                    <a:pt x="12" y="14"/>
                  </a:cubicBezTo>
                  <a:cubicBezTo>
                    <a:pt x="25" y="0"/>
                    <a:pt x="25" y="0"/>
                    <a:pt x="25" y="0"/>
                  </a:cubicBezTo>
                  <a:cubicBezTo>
                    <a:pt x="28" y="3"/>
                    <a:pt x="28" y="3"/>
                    <a:pt x="28" y="3"/>
                  </a:cubicBezTo>
                  <a:lnTo>
                    <a:pt x="14" y="1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32" name="Freeform 125">
              <a:extLst>
                <a:ext uri="{FF2B5EF4-FFF2-40B4-BE49-F238E27FC236}">
                  <a16:creationId xmlns:a16="http://schemas.microsoft.com/office/drawing/2014/main" id="{3C9D1F14-488C-4523-B9D6-15B19B5EAFA5}"/>
                </a:ext>
              </a:extLst>
            </p:cNvPr>
            <p:cNvSpPr>
              <a:spLocks noEditPoints="1"/>
            </p:cNvSpPr>
            <p:nvPr userDrawn="1"/>
          </p:nvSpPr>
          <p:spPr bwMode="auto">
            <a:xfrm>
              <a:off x="4938600" y="4203577"/>
              <a:ext cx="801681" cy="249580"/>
            </a:xfrm>
            <a:custGeom>
              <a:avLst/>
              <a:gdLst>
                <a:gd name="T0" fmla="*/ 0 w 86"/>
                <a:gd name="T1" fmla="*/ 15 h 27"/>
                <a:gd name="T2" fmla="*/ 4 w 86"/>
                <a:gd name="T3" fmla="*/ 15 h 27"/>
                <a:gd name="T4" fmla="*/ 6 w 86"/>
                <a:gd name="T5" fmla="*/ 3 h 27"/>
                <a:gd name="T6" fmla="*/ 10 w 86"/>
                <a:gd name="T7" fmla="*/ 3 h 27"/>
                <a:gd name="T8" fmla="*/ 14 w 86"/>
                <a:gd name="T9" fmla="*/ 4 h 27"/>
                <a:gd name="T10" fmla="*/ 10 w 86"/>
                <a:gd name="T11" fmla="*/ 19 h 27"/>
                <a:gd name="T12" fmla="*/ 37 w 86"/>
                <a:gd name="T13" fmla="*/ 14 h 27"/>
                <a:gd name="T14" fmla="*/ 33 w 86"/>
                <a:gd name="T15" fmla="*/ 11 h 27"/>
                <a:gd name="T16" fmla="*/ 28 w 86"/>
                <a:gd name="T17" fmla="*/ 13 h 27"/>
                <a:gd name="T18" fmla="*/ 30 w 86"/>
                <a:gd name="T19" fmla="*/ 16 h 27"/>
                <a:gd name="T20" fmla="*/ 34 w 86"/>
                <a:gd name="T21" fmla="*/ 17 h 27"/>
                <a:gd name="T22" fmla="*/ 37 w 86"/>
                <a:gd name="T23" fmla="*/ 14 h 27"/>
                <a:gd name="T24" fmla="*/ 36 w 86"/>
                <a:gd name="T25" fmla="*/ 21 h 27"/>
                <a:gd name="T26" fmla="*/ 32 w 86"/>
                <a:gd name="T27" fmla="*/ 19 h 27"/>
                <a:gd name="T28" fmla="*/ 27 w 86"/>
                <a:gd name="T29" fmla="*/ 19 h 27"/>
                <a:gd name="T30" fmla="*/ 27 w 86"/>
                <a:gd name="T31" fmla="*/ 24 h 27"/>
                <a:gd name="T32" fmla="*/ 34 w 86"/>
                <a:gd name="T33" fmla="*/ 25 h 27"/>
                <a:gd name="T34" fmla="*/ 30 w 86"/>
                <a:gd name="T35" fmla="*/ 27 h 27"/>
                <a:gd name="T36" fmla="*/ 24 w 86"/>
                <a:gd name="T37" fmla="*/ 25 h 27"/>
                <a:gd name="T38" fmla="*/ 23 w 86"/>
                <a:gd name="T39" fmla="*/ 21 h 27"/>
                <a:gd name="T40" fmla="*/ 28 w 86"/>
                <a:gd name="T41" fmla="*/ 17 h 27"/>
                <a:gd name="T42" fmla="*/ 25 w 86"/>
                <a:gd name="T43" fmla="*/ 15 h 27"/>
                <a:gd name="T44" fmla="*/ 28 w 86"/>
                <a:gd name="T45" fmla="*/ 10 h 27"/>
                <a:gd name="T46" fmla="*/ 39 w 86"/>
                <a:gd name="T47" fmla="*/ 11 h 27"/>
                <a:gd name="T48" fmla="*/ 39 w 86"/>
                <a:gd name="T49" fmla="*/ 17 h 27"/>
                <a:gd name="T50" fmla="*/ 36 w 86"/>
                <a:gd name="T51" fmla="*/ 18 h 27"/>
                <a:gd name="T52" fmla="*/ 39 w 86"/>
                <a:gd name="T53" fmla="*/ 23 h 27"/>
                <a:gd name="T54" fmla="*/ 30 w 86"/>
                <a:gd name="T55" fmla="*/ 27 h 27"/>
                <a:gd name="T56" fmla="*/ 62 w 86"/>
                <a:gd name="T57" fmla="*/ 14 h 27"/>
                <a:gd name="T58" fmla="*/ 59 w 86"/>
                <a:gd name="T59" fmla="*/ 11 h 27"/>
                <a:gd name="T60" fmla="*/ 54 w 86"/>
                <a:gd name="T61" fmla="*/ 12 h 27"/>
                <a:gd name="T62" fmla="*/ 53 w 86"/>
                <a:gd name="T63" fmla="*/ 17 h 27"/>
                <a:gd name="T64" fmla="*/ 56 w 86"/>
                <a:gd name="T65" fmla="*/ 19 h 27"/>
                <a:gd name="T66" fmla="*/ 60 w 86"/>
                <a:gd name="T67" fmla="*/ 18 h 27"/>
                <a:gd name="T68" fmla="*/ 63 w 86"/>
                <a:gd name="T69" fmla="*/ 17 h 27"/>
                <a:gd name="T70" fmla="*/ 50 w 86"/>
                <a:gd name="T71" fmla="*/ 15 h 27"/>
                <a:gd name="T72" fmla="*/ 52 w 86"/>
                <a:gd name="T73" fmla="*/ 11 h 27"/>
                <a:gd name="T74" fmla="*/ 58 w 86"/>
                <a:gd name="T75" fmla="*/ 9 h 27"/>
                <a:gd name="T76" fmla="*/ 63 w 86"/>
                <a:gd name="T77" fmla="*/ 11 h 27"/>
                <a:gd name="T78" fmla="*/ 66 w 86"/>
                <a:gd name="T79" fmla="*/ 17 h 27"/>
                <a:gd name="T80" fmla="*/ 63 w 86"/>
                <a:gd name="T81" fmla="*/ 24 h 27"/>
                <a:gd name="T82" fmla="*/ 55 w 86"/>
                <a:gd name="T83" fmla="*/ 27 h 27"/>
                <a:gd name="T84" fmla="*/ 52 w 86"/>
                <a:gd name="T85" fmla="*/ 27 h 27"/>
                <a:gd name="T86" fmla="*/ 52 w 86"/>
                <a:gd name="T87" fmla="*/ 25 h 27"/>
                <a:gd name="T88" fmla="*/ 55 w 86"/>
                <a:gd name="T89" fmla="*/ 25 h 27"/>
                <a:gd name="T90" fmla="*/ 62 w 86"/>
                <a:gd name="T91" fmla="*/ 19 h 27"/>
                <a:gd name="T92" fmla="*/ 57 w 86"/>
                <a:gd name="T93" fmla="*/ 21 h 27"/>
                <a:gd name="T94" fmla="*/ 52 w 86"/>
                <a:gd name="T95" fmla="*/ 20 h 27"/>
                <a:gd name="T96" fmla="*/ 50 w 86"/>
                <a:gd name="T97" fmla="*/ 15 h 27"/>
                <a:gd name="T98" fmla="*/ 86 w 86"/>
                <a:gd name="T99" fmla="*/ 18 h 27"/>
                <a:gd name="T100" fmla="*/ 83 w 86"/>
                <a:gd name="T101" fmla="*/ 3 h 27"/>
                <a:gd name="T102" fmla="*/ 72 w 86"/>
                <a:gd name="T103" fmla="*/ 6 h 27"/>
                <a:gd name="T104" fmla="*/ 86 w 86"/>
                <a:gd name="T105"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6" h="27">
                  <a:moveTo>
                    <a:pt x="9" y="20"/>
                  </a:moveTo>
                  <a:cubicBezTo>
                    <a:pt x="0" y="15"/>
                    <a:pt x="0" y="15"/>
                    <a:pt x="0" y="15"/>
                  </a:cubicBezTo>
                  <a:cubicBezTo>
                    <a:pt x="0" y="13"/>
                    <a:pt x="0" y="13"/>
                    <a:pt x="0" y="13"/>
                  </a:cubicBezTo>
                  <a:cubicBezTo>
                    <a:pt x="4" y="15"/>
                    <a:pt x="4" y="15"/>
                    <a:pt x="4" y="15"/>
                  </a:cubicBezTo>
                  <a:cubicBezTo>
                    <a:pt x="10" y="5"/>
                    <a:pt x="10" y="5"/>
                    <a:pt x="10" y="5"/>
                  </a:cubicBezTo>
                  <a:cubicBezTo>
                    <a:pt x="6" y="3"/>
                    <a:pt x="6" y="3"/>
                    <a:pt x="6" y="3"/>
                  </a:cubicBezTo>
                  <a:cubicBezTo>
                    <a:pt x="7" y="2"/>
                    <a:pt x="7" y="2"/>
                    <a:pt x="7" y="2"/>
                  </a:cubicBezTo>
                  <a:cubicBezTo>
                    <a:pt x="8" y="3"/>
                    <a:pt x="9" y="3"/>
                    <a:pt x="10" y="3"/>
                  </a:cubicBezTo>
                  <a:cubicBezTo>
                    <a:pt x="11" y="3"/>
                    <a:pt x="11" y="3"/>
                    <a:pt x="12" y="2"/>
                  </a:cubicBezTo>
                  <a:cubicBezTo>
                    <a:pt x="14" y="4"/>
                    <a:pt x="14" y="4"/>
                    <a:pt x="14" y="4"/>
                  </a:cubicBezTo>
                  <a:cubicBezTo>
                    <a:pt x="6" y="17"/>
                    <a:pt x="6" y="17"/>
                    <a:pt x="6" y="17"/>
                  </a:cubicBezTo>
                  <a:cubicBezTo>
                    <a:pt x="10" y="19"/>
                    <a:pt x="10" y="19"/>
                    <a:pt x="10" y="19"/>
                  </a:cubicBezTo>
                  <a:lnTo>
                    <a:pt x="9" y="20"/>
                  </a:lnTo>
                  <a:close/>
                  <a:moveTo>
                    <a:pt x="37" y="14"/>
                  </a:moveTo>
                  <a:cubicBezTo>
                    <a:pt x="37" y="14"/>
                    <a:pt x="37" y="13"/>
                    <a:pt x="36" y="12"/>
                  </a:cubicBezTo>
                  <a:cubicBezTo>
                    <a:pt x="36" y="12"/>
                    <a:pt x="35" y="11"/>
                    <a:pt x="33" y="11"/>
                  </a:cubicBezTo>
                  <a:cubicBezTo>
                    <a:pt x="32" y="11"/>
                    <a:pt x="31" y="11"/>
                    <a:pt x="30" y="11"/>
                  </a:cubicBezTo>
                  <a:cubicBezTo>
                    <a:pt x="29" y="12"/>
                    <a:pt x="29" y="12"/>
                    <a:pt x="28" y="13"/>
                  </a:cubicBezTo>
                  <a:cubicBezTo>
                    <a:pt x="28" y="14"/>
                    <a:pt x="28" y="14"/>
                    <a:pt x="29" y="15"/>
                  </a:cubicBezTo>
                  <a:cubicBezTo>
                    <a:pt x="29" y="15"/>
                    <a:pt x="30" y="15"/>
                    <a:pt x="30" y="16"/>
                  </a:cubicBezTo>
                  <a:cubicBezTo>
                    <a:pt x="31" y="16"/>
                    <a:pt x="31" y="16"/>
                    <a:pt x="32" y="17"/>
                  </a:cubicBezTo>
                  <a:cubicBezTo>
                    <a:pt x="33" y="17"/>
                    <a:pt x="33" y="17"/>
                    <a:pt x="34" y="17"/>
                  </a:cubicBezTo>
                  <a:cubicBezTo>
                    <a:pt x="35" y="17"/>
                    <a:pt x="36" y="17"/>
                    <a:pt x="36" y="16"/>
                  </a:cubicBezTo>
                  <a:cubicBezTo>
                    <a:pt x="37" y="16"/>
                    <a:pt x="37" y="15"/>
                    <a:pt x="37" y="14"/>
                  </a:cubicBezTo>
                  <a:moveTo>
                    <a:pt x="36" y="23"/>
                  </a:moveTo>
                  <a:cubicBezTo>
                    <a:pt x="36" y="22"/>
                    <a:pt x="36" y="22"/>
                    <a:pt x="36" y="21"/>
                  </a:cubicBezTo>
                  <a:cubicBezTo>
                    <a:pt x="35" y="21"/>
                    <a:pt x="34" y="20"/>
                    <a:pt x="33" y="20"/>
                  </a:cubicBezTo>
                  <a:cubicBezTo>
                    <a:pt x="33" y="19"/>
                    <a:pt x="33" y="19"/>
                    <a:pt x="32" y="19"/>
                  </a:cubicBezTo>
                  <a:cubicBezTo>
                    <a:pt x="31" y="19"/>
                    <a:pt x="31" y="18"/>
                    <a:pt x="30" y="18"/>
                  </a:cubicBezTo>
                  <a:cubicBezTo>
                    <a:pt x="29" y="18"/>
                    <a:pt x="28" y="19"/>
                    <a:pt x="27" y="19"/>
                  </a:cubicBezTo>
                  <a:cubicBezTo>
                    <a:pt x="27" y="20"/>
                    <a:pt x="26" y="20"/>
                    <a:pt x="26" y="21"/>
                  </a:cubicBezTo>
                  <a:cubicBezTo>
                    <a:pt x="26" y="22"/>
                    <a:pt x="26" y="23"/>
                    <a:pt x="27" y="24"/>
                  </a:cubicBezTo>
                  <a:cubicBezTo>
                    <a:pt x="28" y="25"/>
                    <a:pt x="29" y="25"/>
                    <a:pt x="30" y="25"/>
                  </a:cubicBezTo>
                  <a:cubicBezTo>
                    <a:pt x="32" y="26"/>
                    <a:pt x="33" y="25"/>
                    <a:pt x="34" y="25"/>
                  </a:cubicBezTo>
                  <a:cubicBezTo>
                    <a:pt x="35" y="24"/>
                    <a:pt x="36" y="24"/>
                    <a:pt x="36" y="23"/>
                  </a:cubicBezTo>
                  <a:moveTo>
                    <a:pt x="30" y="27"/>
                  </a:moveTo>
                  <a:cubicBezTo>
                    <a:pt x="29" y="27"/>
                    <a:pt x="28" y="27"/>
                    <a:pt x="27" y="26"/>
                  </a:cubicBezTo>
                  <a:cubicBezTo>
                    <a:pt x="26" y="26"/>
                    <a:pt x="25" y="25"/>
                    <a:pt x="24" y="25"/>
                  </a:cubicBezTo>
                  <a:cubicBezTo>
                    <a:pt x="23" y="24"/>
                    <a:pt x="23" y="24"/>
                    <a:pt x="23" y="23"/>
                  </a:cubicBezTo>
                  <a:cubicBezTo>
                    <a:pt x="23" y="22"/>
                    <a:pt x="22" y="21"/>
                    <a:pt x="23" y="21"/>
                  </a:cubicBezTo>
                  <a:cubicBezTo>
                    <a:pt x="23" y="20"/>
                    <a:pt x="23" y="19"/>
                    <a:pt x="24" y="18"/>
                  </a:cubicBezTo>
                  <a:cubicBezTo>
                    <a:pt x="25" y="18"/>
                    <a:pt x="26" y="17"/>
                    <a:pt x="28" y="17"/>
                  </a:cubicBezTo>
                  <a:cubicBezTo>
                    <a:pt x="28" y="17"/>
                    <a:pt x="28" y="17"/>
                    <a:pt x="28" y="17"/>
                  </a:cubicBezTo>
                  <a:cubicBezTo>
                    <a:pt x="27" y="16"/>
                    <a:pt x="26" y="16"/>
                    <a:pt x="25" y="15"/>
                  </a:cubicBezTo>
                  <a:cubicBezTo>
                    <a:pt x="25" y="14"/>
                    <a:pt x="25" y="14"/>
                    <a:pt x="25" y="13"/>
                  </a:cubicBezTo>
                  <a:cubicBezTo>
                    <a:pt x="25" y="12"/>
                    <a:pt x="26" y="11"/>
                    <a:pt x="28" y="10"/>
                  </a:cubicBezTo>
                  <a:cubicBezTo>
                    <a:pt x="29" y="9"/>
                    <a:pt x="31" y="9"/>
                    <a:pt x="34" y="10"/>
                  </a:cubicBezTo>
                  <a:cubicBezTo>
                    <a:pt x="36" y="10"/>
                    <a:pt x="38" y="10"/>
                    <a:pt x="39" y="11"/>
                  </a:cubicBezTo>
                  <a:cubicBezTo>
                    <a:pt x="40" y="12"/>
                    <a:pt x="41" y="14"/>
                    <a:pt x="40" y="15"/>
                  </a:cubicBezTo>
                  <a:cubicBezTo>
                    <a:pt x="40" y="16"/>
                    <a:pt x="40" y="16"/>
                    <a:pt x="39" y="17"/>
                  </a:cubicBezTo>
                  <a:cubicBezTo>
                    <a:pt x="38" y="18"/>
                    <a:pt x="37" y="18"/>
                    <a:pt x="36" y="18"/>
                  </a:cubicBezTo>
                  <a:cubicBezTo>
                    <a:pt x="36" y="18"/>
                    <a:pt x="36" y="18"/>
                    <a:pt x="36" y="18"/>
                  </a:cubicBezTo>
                  <a:cubicBezTo>
                    <a:pt x="37" y="19"/>
                    <a:pt x="38" y="20"/>
                    <a:pt x="39" y="20"/>
                  </a:cubicBezTo>
                  <a:cubicBezTo>
                    <a:pt x="39" y="21"/>
                    <a:pt x="40" y="22"/>
                    <a:pt x="39" y="23"/>
                  </a:cubicBezTo>
                  <a:cubicBezTo>
                    <a:pt x="39" y="25"/>
                    <a:pt x="38" y="26"/>
                    <a:pt x="36" y="26"/>
                  </a:cubicBezTo>
                  <a:cubicBezTo>
                    <a:pt x="34" y="27"/>
                    <a:pt x="32" y="27"/>
                    <a:pt x="30" y="27"/>
                  </a:cubicBezTo>
                  <a:moveTo>
                    <a:pt x="63" y="17"/>
                  </a:moveTo>
                  <a:cubicBezTo>
                    <a:pt x="63" y="15"/>
                    <a:pt x="62" y="15"/>
                    <a:pt x="62" y="14"/>
                  </a:cubicBezTo>
                  <a:cubicBezTo>
                    <a:pt x="62" y="13"/>
                    <a:pt x="61" y="13"/>
                    <a:pt x="61" y="12"/>
                  </a:cubicBezTo>
                  <a:cubicBezTo>
                    <a:pt x="60" y="12"/>
                    <a:pt x="60" y="12"/>
                    <a:pt x="59" y="11"/>
                  </a:cubicBezTo>
                  <a:cubicBezTo>
                    <a:pt x="59" y="11"/>
                    <a:pt x="58" y="11"/>
                    <a:pt x="58" y="11"/>
                  </a:cubicBezTo>
                  <a:cubicBezTo>
                    <a:pt x="56" y="11"/>
                    <a:pt x="55" y="12"/>
                    <a:pt x="54" y="12"/>
                  </a:cubicBezTo>
                  <a:cubicBezTo>
                    <a:pt x="53" y="13"/>
                    <a:pt x="53" y="14"/>
                    <a:pt x="53" y="15"/>
                  </a:cubicBezTo>
                  <a:cubicBezTo>
                    <a:pt x="53" y="16"/>
                    <a:pt x="53" y="16"/>
                    <a:pt x="53" y="17"/>
                  </a:cubicBezTo>
                  <a:cubicBezTo>
                    <a:pt x="54" y="17"/>
                    <a:pt x="54" y="18"/>
                    <a:pt x="55" y="18"/>
                  </a:cubicBezTo>
                  <a:cubicBezTo>
                    <a:pt x="55" y="18"/>
                    <a:pt x="56" y="18"/>
                    <a:pt x="56" y="19"/>
                  </a:cubicBezTo>
                  <a:cubicBezTo>
                    <a:pt x="57" y="19"/>
                    <a:pt x="57" y="19"/>
                    <a:pt x="58" y="19"/>
                  </a:cubicBezTo>
                  <a:cubicBezTo>
                    <a:pt x="59" y="19"/>
                    <a:pt x="59" y="19"/>
                    <a:pt x="60" y="18"/>
                  </a:cubicBezTo>
                  <a:cubicBezTo>
                    <a:pt x="61" y="18"/>
                    <a:pt x="62" y="18"/>
                    <a:pt x="62" y="18"/>
                  </a:cubicBezTo>
                  <a:cubicBezTo>
                    <a:pt x="63" y="18"/>
                    <a:pt x="63" y="17"/>
                    <a:pt x="63" y="17"/>
                  </a:cubicBezTo>
                  <a:cubicBezTo>
                    <a:pt x="63" y="17"/>
                    <a:pt x="63" y="17"/>
                    <a:pt x="63" y="17"/>
                  </a:cubicBezTo>
                  <a:moveTo>
                    <a:pt x="50" y="15"/>
                  </a:moveTo>
                  <a:cubicBezTo>
                    <a:pt x="50" y="14"/>
                    <a:pt x="50" y="14"/>
                    <a:pt x="50" y="13"/>
                  </a:cubicBezTo>
                  <a:cubicBezTo>
                    <a:pt x="51" y="12"/>
                    <a:pt x="51" y="11"/>
                    <a:pt x="52" y="11"/>
                  </a:cubicBezTo>
                  <a:cubicBezTo>
                    <a:pt x="53" y="10"/>
                    <a:pt x="53" y="10"/>
                    <a:pt x="55" y="10"/>
                  </a:cubicBezTo>
                  <a:cubicBezTo>
                    <a:pt x="56" y="9"/>
                    <a:pt x="57" y="9"/>
                    <a:pt x="58" y="9"/>
                  </a:cubicBezTo>
                  <a:cubicBezTo>
                    <a:pt x="59" y="9"/>
                    <a:pt x="60" y="9"/>
                    <a:pt x="61" y="10"/>
                  </a:cubicBezTo>
                  <a:cubicBezTo>
                    <a:pt x="62" y="10"/>
                    <a:pt x="63" y="10"/>
                    <a:pt x="63" y="11"/>
                  </a:cubicBezTo>
                  <a:cubicBezTo>
                    <a:pt x="64" y="11"/>
                    <a:pt x="65" y="12"/>
                    <a:pt x="65" y="13"/>
                  </a:cubicBezTo>
                  <a:cubicBezTo>
                    <a:pt x="66" y="14"/>
                    <a:pt x="66" y="16"/>
                    <a:pt x="66" y="17"/>
                  </a:cubicBezTo>
                  <a:cubicBezTo>
                    <a:pt x="66" y="19"/>
                    <a:pt x="66" y="20"/>
                    <a:pt x="65" y="21"/>
                  </a:cubicBezTo>
                  <a:cubicBezTo>
                    <a:pt x="65" y="22"/>
                    <a:pt x="64" y="23"/>
                    <a:pt x="63" y="24"/>
                  </a:cubicBezTo>
                  <a:cubicBezTo>
                    <a:pt x="62" y="25"/>
                    <a:pt x="61" y="26"/>
                    <a:pt x="60" y="26"/>
                  </a:cubicBezTo>
                  <a:cubicBezTo>
                    <a:pt x="58" y="27"/>
                    <a:pt x="57" y="27"/>
                    <a:pt x="55" y="27"/>
                  </a:cubicBezTo>
                  <a:cubicBezTo>
                    <a:pt x="54" y="27"/>
                    <a:pt x="54" y="27"/>
                    <a:pt x="53" y="27"/>
                  </a:cubicBezTo>
                  <a:cubicBezTo>
                    <a:pt x="53" y="27"/>
                    <a:pt x="52" y="27"/>
                    <a:pt x="52" y="27"/>
                  </a:cubicBezTo>
                  <a:cubicBezTo>
                    <a:pt x="52" y="25"/>
                    <a:pt x="52" y="25"/>
                    <a:pt x="52" y="25"/>
                  </a:cubicBezTo>
                  <a:cubicBezTo>
                    <a:pt x="52" y="25"/>
                    <a:pt x="52" y="25"/>
                    <a:pt x="52" y="25"/>
                  </a:cubicBezTo>
                  <a:cubicBezTo>
                    <a:pt x="52" y="25"/>
                    <a:pt x="53" y="25"/>
                    <a:pt x="53" y="25"/>
                  </a:cubicBezTo>
                  <a:cubicBezTo>
                    <a:pt x="54" y="25"/>
                    <a:pt x="54" y="25"/>
                    <a:pt x="55" y="25"/>
                  </a:cubicBezTo>
                  <a:cubicBezTo>
                    <a:pt x="57" y="25"/>
                    <a:pt x="59" y="25"/>
                    <a:pt x="60" y="24"/>
                  </a:cubicBezTo>
                  <a:cubicBezTo>
                    <a:pt x="62" y="23"/>
                    <a:pt x="62" y="21"/>
                    <a:pt x="62" y="19"/>
                  </a:cubicBezTo>
                  <a:cubicBezTo>
                    <a:pt x="62" y="20"/>
                    <a:pt x="61" y="20"/>
                    <a:pt x="60" y="20"/>
                  </a:cubicBezTo>
                  <a:cubicBezTo>
                    <a:pt x="59" y="20"/>
                    <a:pt x="58" y="21"/>
                    <a:pt x="57" y="21"/>
                  </a:cubicBezTo>
                  <a:cubicBezTo>
                    <a:pt x="56" y="21"/>
                    <a:pt x="55" y="20"/>
                    <a:pt x="55" y="20"/>
                  </a:cubicBezTo>
                  <a:cubicBezTo>
                    <a:pt x="54" y="20"/>
                    <a:pt x="53" y="20"/>
                    <a:pt x="52" y="20"/>
                  </a:cubicBezTo>
                  <a:cubicBezTo>
                    <a:pt x="51" y="19"/>
                    <a:pt x="51" y="18"/>
                    <a:pt x="50" y="18"/>
                  </a:cubicBezTo>
                  <a:cubicBezTo>
                    <a:pt x="50" y="17"/>
                    <a:pt x="50" y="16"/>
                    <a:pt x="50" y="15"/>
                  </a:cubicBezTo>
                  <a:moveTo>
                    <a:pt x="86" y="1"/>
                  </a:moveTo>
                  <a:cubicBezTo>
                    <a:pt x="86" y="18"/>
                    <a:pt x="86" y="18"/>
                    <a:pt x="86" y="18"/>
                  </a:cubicBezTo>
                  <a:cubicBezTo>
                    <a:pt x="83" y="20"/>
                    <a:pt x="83" y="20"/>
                    <a:pt x="83" y="20"/>
                  </a:cubicBezTo>
                  <a:cubicBezTo>
                    <a:pt x="83" y="3"/>
                    <a:pt x="83" y="3"/>
                    <a:pt x="83" y="3"/>
                  </a:cubicBezTo>
                  <a:cubicBezTo>
                    <a:pt x="73" y="8"/>
                    <a:pt x="73" y="8"/>
                    <a:pt x="73" y="8"/>
                  </a:cubicBezTo>
                  <a:cubicBezTo>
                    <a:pt x="72" y="6"/>
                    <a:pt x="72" y="6"/>
                    <a:pt x="72" y="6"/>
                  </a:cubicBezTo>
                  <a:cubicBezTo>
                    <a:pt x="85" y="0"/>
                    <a:pt x="85" y="0"/>
                    <a:pt x="85" y="0"/>
                  </a:cubicBezTo>
                  <a:lnTo>
                    <a:pt x="86" y="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33" name="Freeform 126">
              <a:extLst>
                <a:ext uri="{FF2B5EF4-FFF2-40B4-BE49-F238E27FC236}">
                  <a16:creationId xmlns:a16="http://schemas.microsoft.com/office/drawing/2014/main" id="{80B6BA1D-29FA-4BF0-B063-B79098AA730B}"/>
                </a:ext>
              </a:extLst>
            </p:cNvPr>
            <p:cNvSpPr>
              <a:spLocks/>
            </p:cNvSpPr>
            <p:nvPr userDrawn="1"/>
          </p:nvSpPr>
          <p:spPr bwMode="auto">
            <a:xfrm>
              <a:off x="5778096" y="2774166"/>
              <a:ext cx="105882" cy="105882"/>
            </a:xfrm>
            <a:custGeom>
              <a:avLst/>
              <a:gdLst>
                <a:gd name="T0" fmla="*/ 2 w 11"/>
                <a:gd name="T1" fmla="*/ 12 h 12"/>
                <a:gd name="T2" fmla="*/ 2 w 11"/>
                <a:gd name="T3" fmla="*/ 8 h 12"/>
                <a:gd name="T4" fmla="*/ 1 w 11"/>
                <a:gd name="T5" fmla="*/ 3 h 12"/>
                <a:gd name="T6" fmla="*/ 8 w 11"/>
                <a:gd name="T7" fmla="*/ 3 h 12"/>
                <a:gd name="T8" fmla="*/ 9 w 11"/>
                <a:gd name="T9" fmla="*/ 5 h 12"/>
                <a:gd name="T10" fmla="*/ 8 w 11"/>
                <a:gd name="T11" fmla="*/ 11 h 12"/>
                <a:gd name="T12" fmla="*/ 2 w 11"/>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1" h="12">
                  <a:moveTo>
                    <a:pt x="2" y="12"/>
                  </a:moveTo>
                  <a:cubicBezTo>
                    <a:pt x="0" y="11"/>
                    <a:pt x="1" y="10"/>
                    <a:pt x="2" y="8"/>
                  </a:cubicBezTo>
                  <a:cubicBezTo>
                    <a:pt x="2" y="7"/>
                    <a:pt x="1" y="5"/>
                    <a:pt x="1" y="3"/>
                  </a:cubicBezTo>
                  <a:cubicBezTo>
                    <a:pt x="2" y="0"/>
                    <a:pt x="6" y="2"/>
                    <a:pt x="8" y="3"/>
                  </a:cubicBezTo>
                  <a:cubicBezTo>
                    <a:pt x="8" y="3"/>
                    <a:pt x="9" y="4"/>
                    <a:pt x="9" y="5"/>
                  </a:cubicBezTo>
                  <a:cubicBezTo>
                    <a:pt x="10" y="7"/>
                    <a:pt x="11" y="10"/>
                    <a:pt x="8" y="11"/>
                  </a:cubicBezTo>
                  <a:cubicBezTo>
                    <a:pt x="6" y="12"/>
                    <a:pt x="4" y="12"/>
                    <a:pt x="2" y="12"/>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34" name="Freeform 127">
              <a:extLst>
                <a:ext uri="{FF2B5EF4-FFF2-40B4-BE49-F238E27FC236}">
                  <a16:creationId xmlns:a16="http://schemas.microsoft.com/office/drawing/2014/main" id="{FF588F2B-6141-460A-831A-5295757DE650}"/>
                </a:ext>
              </a:extLst>
            </p:cNvPr>
            <p:cNvSpPr>
              <a:spLocks/>
            </p:cNvSpPr>
            <p:nvPr userDrawn="1"/>
          </p:nvSpPr>
          <p:spPr bwMode="auto">
            <a:xfrm>
              <a:off x="5505827" y="2456519"/>
              <a:ext cx="385714" cy="340336"/>
            </a:xfrm>
            <a:custGeom>
              <a:avLst/>
              <a:gdLst>
                <a:gd name="T0" fmla="*/ 7 w 41"/>
                <a:gd name="T1" fmla="*/ 35 h 36"/>
                <a:gd name="T2" fmla="*/ 7 w 41"/>
                <a:gd name="T3" fmla="*/ 35 h 36"/>
                <a:gd name="T4" fmla="*/ 7 w 41"/>
                <a:gd name="T5" fmla="*/ 34 h 36"/>
                <a:gd name="T6" fmla="*/ 15 w 41"/>
                <a:gd name="T7" fmla="*/ 32 h 36"/>
                <a:gd name="T8" fmla="*/ 20 w 41"/>
                <a:gd name="T9" fmla="*/ 28 h 36"/>
                <a:gd name="T10" fmla="*/ 6 w 41"/>
                <a:gd name="T11" fmla="*/ 29 h 36"/>
                <a:gd name="T12" fmla="*/ 2 w 41"/>
                <a:gd name="T13" fmla="*/ 26 h 36"/>
                <a:gd name="T14" fmla="*/ 2 w 41"/>
                <a:gd name="T15" fmla="*/ 26 h 36"/>
                <a:gd name="T16" fmla="*/ 3 w 41"/>
                <a:gd name="T17" fmla="*/ 21 h 36"/>
                <a:gd name="T18" fmla="*/ 19 w 41"/>
                <a:gd name="T19" fmla="*/ 21 h 36"/>
                <a:gd name="T20" fmla="*/ 24 w 41"/>
                <a:gd name="T21" fmla="*/ 20 h 36"/>
                <a:gd name="T22" fmla="*/ 29 w 41"/>
                <a:gd name="T23" fmla="*/ 3 h 36"/>
                <a:gd name="T24" fmla="*/ 35 w 41"/>
                <a:gd name="T25" fmla="*/ 6 h 36"/>
                <a:gd name="T26" fmla="*/ 36 w 41"/>
                <a:gd name="T27" fmla="*/ 7 h 36"/>
                <a:gd name="T28" fmla="*/ 36 w 41"/>
                <a:gd name="T29" fmla="*/ 7 h 36"/>
                <a:gd name="T30" fmla="*/ 35 w 41"/>
                <a:gd name="T31" fmla="*/ 11 h 36"/>
                <a:gd name="T32" fmla="*/ 31 w 41"/>
                <a:gd name="T33" fmla="*/ 20 h 36"/>
                <a:gd name="T34" fmla="*/ 40 w 41"/>
                <a:gd name="T35" fmla="*/ 19 h 36"/>
                <a:gd name="T36" fmla="*/ 38 w 41"/>
                <a:gd name="T37" fmla="*/ 23 h 36"/>
                <a:gd name="T38" fmla="*/ 29 w 41"/>
                <a:gd name="T39" fmla="*/ 24 h 36"/>
                <a:gd name="T40" fmla="*/ 23 w 41"/>
                <a:gd name="T41" fmla="*/ 32 h 36"/>
                <a:gd name="T42" fmla="*/ 21 w 41"/>
                <a:gd name="T43" fmla="*/ 34 h 36"/>
                <a:gd name="T44" fmla="*/ 14 w 41"/>
                <a:gd name="T45" fmla="*/ 35 h 36"/>
                <a:gd name="T46" fmla="*/ 7 w 41"/>
                <a:gd name="T47" fmla="*/ 3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36">
                  <a:moveTo>
                    <a:pt x="7" y="35"/>
                  </a:moveTo>
                  <a:cubicBezTo>
                    <a:pt x="7" y="35"/>
                    <a:pt x="7" y="35"/>
                    <a:pt x="7" y="35"/>
                  </a:cubicBezTo>
                  <a:cubicBezTo>
                    <a:pt x="7" y="35"/>
                    <a:pt x="7" y="35"/>
                    <a:pt x="7" y="34"/>
                  </a:cubicBezTo>
                  <a:cubicBezTo>
                    <a:pt x="8" y="34"/>
                    <a:pt x="15" y="32"/>
                    <a:pt x="15" y="32"/>
                  </a:cubicBezTo>
                  <a:cubicBezTo>
                    <a:pt x="17" y="31"/>
                    <a:pt x="19" y="30"/>
                    <a:pt x="20" y="28"/>
                  </a:cubicBezTo>
                  <a:cubicBezTo>
                    <a:pt x="15" y="28"/>
                    <a:pt x="11" y="30"/>
                    <a:pt x="6" y="29"/>
                  </a:cubicBezTo>
                  <a:cubicBezTo>
                    <a:pt x="4" y="28"/>
                    <a:pt x="3" y="27"/>
                    <a:pt x="2" y="26"/>
                  </a:cubicBezTo>
                  <a:cubicBezTo>
                    <a:pt x="2" y="26"/>
                    <a:pt x="2" y="26"/>
                    <a:pt x="2" y="26"/>
                  </a:cubicBezTo>
                  <a:cubicBezTo>
                    <a:pt x="0" y="24"/>
                    <a:pt x="0" y="22"/>
                    <a:pt x="3" y="21"/>
                  </a:cubicBezTo>
                  <a:cubicBezTo>
                    <a:pt x="7" y="23"/>
                    <a:pt x="15" y="22"/>
                    <a:pt x="19" y="21"/>
                  </a:cubicBezTo>
                  <a:cubicBezTo>
                    <a:pt x="20" y="21"/>
                    <a:pt x="23" y="21"/>
                    <a:pt x="24" y="20"/>
                  </a:cubicBezTo>
                  <a:cubicBezTo>
                    <a:pt x="26" y="15"/>
                    <a:pt x="27" y="9"/>
                    <a:pt x="29" y="3"/>
                  </a:cubicBezTo>
                  <a:cubicBezTo>
                    <a:pt x="31" y="0"/>
                    <a:pt x="33" y="3"/>
                    <a:pt x="35" y="6"/>
                  </a:cubicBezTo>
                  <a:cubicBezTo>
                    <a:pt x="35" y="6"/>
                    <a:pt x="36" y="6"/>
                    <a:pt x="36" y="7"/>
                  </a:cubicBezTo>
                  <a:cubicBezTo>
                    <a:pt x="36" y="7"/>
                    <a:pt x="36" y="7"/>
                    <a:pt x="36" y="7"/>
                  </a:cubicBezTo>
                  <a:cubicBezTo>
                    <a:pt x="37" y="9"/>
                    <a:pt x="37" y="10"/>
                    <a:pt x="35" y="11"/>
                  </a:cubicBezTo>
                  <a:cubicBezTo>
                    <a:pt x="33" y="14"/>
                    <a:pt x="32" y="17"/>
                    <a:pt x="31" y="20"/>
                  </a:cubicBezTo>
                  <a:cubicBezTo>
                    <a:pt x="34" y="20"/>
                    <a:pt x="37" y="18"/>
                    <a:pt x="40" y="19"/>
                  </a:cubicBezTo>
                  <a:cubicBezTo>
                    <a:pt x="41" y="21"/>
                    <a:pt x="40" y="22"/>
                    <a:pt x="38" y="23"/>
                  </a:cubicBezTo>
                  <a:cubicBezTo>
                    <a:pt x="36" y="23"/>
                    <a:pt x="33" y="24"/>
                    <a:pt x="29" y="24"/>
                  </a:cubicBezTo>
                  <a:cubicBezTo>
                    <a:pt x="28" y="27"/>
                    <a:pt x="26" y="30"/>
                    <a:pt x="23" y="32"/>
                  </a:cubicBezTo>
                  <a:cubicBezTo>
                    <a:pt x="23" y="33"/>
                    <a:pt x="21" y="34"/>
                    <a:pt x="21" y="34"/>
                  </a:cubicBezTo>
                  <a:cubicBezTo>
                    <a:pt x="19" y="34"/>
                    <a:pt x="17" y="35"/>
                    <a:pt x="14" y="35"/>
                  </a:cubicBezTo>
                  <a:cubicBezTo>
                    <a:pt x="8" y="36"/>
                    <a:pt x="8" y="35"/>
                    <a:pt x="7" y="35"/>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35" name="Freeform 128">
              <a:extLst>
                <a:ext uri="{FF2B5EF4-FFF2-40B4-BE49-F238E27FC236}">
                  <a16:creationId xmlns:a16="http://schemas.microsoft.com/office/drawing/2014/main" id="{1DF8E1C6-ABBD-447F-9F35-F56C18575DD9}"/>
                </a:ext>
              </a:extLst>
            </p:cNvPr>
            <p:cNvSpPr>
              <a:spLocks/>
            </p:cNvSpPr>
            <p:nvPr userDrawn="1"/>
          </p:nvSpPr>
          <p:spPr bwMode="auto">
            <a:xfrm>
              <a:off x="4862970" y="2668283"/>
              <a:ext cx="151261" cy="310084"/>
            </a:xfrm>
            <a:custGeom>
              <a:avLst/>
              <a:gdLst>
                <a:gd name="T0" fmla="*/ 7 w 16"/>
                <a:gd name="T1" fmla="*/ 33 h 33"/>
                <a:gd name="T2" fmla="*/ 0 w 16"/>
                <a:gd name="T3" fmla="*/ 30 h 33"/>
                <a:gd name="T4" fmla="*/ 0 w 16"/>
                <a:gd name="T5" fmla="*/ 28 h 33"/>
                <a:gd name="T6" fmla="*/ 10 w 16"/>
                <a:gd name="T7" fmla="*/ 11 h 33"/>
                <a:gd name="T8" fmla="*/ 12 w 16"/>
                <a:gd name="T9" fmla="*/ 3 h 33"/>
                <a:gd name="T10" fmla="*/ 12 w 16"/>
                <a:gd name="T11" fmla="*/ 2 h 33"/>
                <a:gd name="T12" fmla="*/ 12 w 16"/>
                <a:gd name="T13" fmla="*/ 2 h 33"/>
                <a:gd name="T14" fmla="*/ 15 w 16"/>
                <a:gd name="T15" fmla="*/ 2 h 33"/>
                <a:gd name="T16" fmla="*/ 14 w 16"/>
                <a:gd name="T17" fmla="*/ 7 h 33"/>
                <a:gd name="T18" fmla="*/ 13 w 16"/>
                <a:gd name="T19" fmla="*/ 16 h 33"/>
                <a:gd name="T20" fmla="*/ 13 w 16"/>
                <a:gd name="T21" fmla="*/ 19 h 33"/>
                <a:gd name="T22" fmla="*/ 11 w 16"/>
                <a:gd name="T23" fmla="*/ 26 h 33"/>
                <a:gd name="T24" fmla="*/ 9 w 16"/>
                <a:gd name="T25" fmla="*/ 33 h 33"/>
                <a:gd name="T26" fmla="*/ 7 w 16"/>
                <a:gd name="T27"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33">
                  <a:moveTo>
                    <a:pt x="7" y="33"/>
                  </a:moveTo>
                  <a:cubicBezTo>
                    <a:pt x="5" y="33"/>
                    <a:pt x="2" y="31"/>
                    <a:pt x="0" y="30"/>
                  </a:cubicBezTo>
                  <a:cubicBezTo>
                    <a:pt x="0" y="30"/>
                    <a:pt x="0" y="29"/>
                    <a:pt x="0" y="28"/>
                  </a:cubicBezTo>
                  <a:cubicBezTo>
                    <a:pt x="4" y="23"/>
                    <a:pt x="7" y="17"/>
                    <a:pt x="10" y="11"/>
                  </a:cubicBezTo>
                  <a:cubicBezTo>
                    <a:pt x="11" y="8"/>
                    <a:pt x="11" y="5"/>
                    <a:pt x="12" y="3"/>
                  </a:cubicBezTo>
                  <a:cubicBezTo>
                    <a:pt x="12" y="3"/>
                    <a:pt x="12" y="3"/>
                    <a:pt x="12" y="2"/>
                  </a:cubicBezTo>
                  <a:cubicBezTo>
                    <a:pt x="12" y="2"/>
                    <a:pt x="12" y="2"/>
                    <a:pt x="12" y="2"/>
                  </a:cubicBezTo>
                  <a:cubicBezTo>
                    <a:pt x="13" y="1"/>
                    <a:pt x="14" y="0"/>
                    <a:pt x="15" y="2"/>
                  </a:cubicBezTo>
                  <a:cubicBezTo>
                    <a:pt x="16" y="3"/>
                    <a:pt x="14" y="5"/>
                    <a:pt x="14" y="7"/>
                  </a:cubicBezTo>
                  <a:cubicBezTo>
                    <a:pt x="14" y="10"/>
                    <a:pt x="14" y="13"/>
                    <a:pt x="13" y="16"/>
                  </a:cubicBezTo>
                  <a:cubicBezTo>
                    <a:pt x="13" y="16"/>
                    <a:pt x="13" y="16"/>
                    <a:pt x="13" y="19"/>
                  </a:cubicBezTo>
                  <a:cubicBezTo>
                    <a:pt x="12" y="21"/>
                    <a:pt x="11" y="24"/>
                    <a:pt x="11" y="26"/>
                  </a:cubicBezTo>
                  <a:cubicBezTo>
                    <a:pt x="10" y="28"/>
                    <a:pt x="10" y="31"/>
                    <a:pt x="9" y="33"/>
                  </a:cubicBezTo>
                  <a:cubicBezTo>
                    <a:pt x="8" y="33"/>
                    <a:pt x="8" y="33"/>
                    <a:pt x="7" y="33"/>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36" name="Freeform 129">
              <a:extLst>
                <a:ext uri="{FF2B5EF4-FFF2-40B4-BE49-F238E27FC236}">
                  <a16:creationId xmlns:a16="http://schemas.microsoft.com/office/drawing/2014/main" id="{EAC0FEAE-CA47-416B-8B3A-8EA358552EFF}"/>
                </a:ext>
              </a:extLst>
            </p:cNvPr>
            <p:cNvSpPr>
              <a:spLocks/>
            </p:cNvSpPr>
            <p:nvPr userDrawn="1"/>
          </p:nvSpPr>
          <p:spPr bwMode="auto">
            <a:xfrm>
              <a:off x="5067172" y="2592653"/>
              <a:ext cx="121008" cy="121008"/>
            </a:xfrm>
            <a:custGeom>
              <a:avLst/>
              <a:gdLst>
                <a:gd name="T0" fmla="*/ 8 w 13"/>
                <a:gd name="T1" fmla="*/ 12 h 13"/>
                <a:gd name="T2" fmla="*/ 1 w 13"/>
                <a:gd name="T3" fmla="*/ 10 h 13"/>
                <a:gd name="T4" fmla="*/ 1 w 13"/>
                <a:gd name="T5" fmla="*/ 8 h 13"/>
                <a:gd name="T6" fmla="*/ 2 w 13"/>
                <a:gd name="T7" fmla="*/ 7 h 13"/>
                <a:gd name="T8" fmla="*/ 5 w 13"/>
                <a:gd name="T9" fmla="*/ 6 h 13"/>
                <a:gd name="T10" fmla="*/ 12 w 13"/>
                <a:gd name="T11" fmla="*/ 1 h 13"/>
                <a:gd name="T12" fmla="*/ 8 w 13"/>
                <a:gd name="T13" fmla="*/ 12 h 13"/>
              </a:gdLst>
              <a:ahLst/>
              <a:cxnLst>
                <a:cxn ang="0">
                  <a:pos x="T0" y="T1"/>
                </a:cxn>
                <a:cxn ang="0">
                  <a:pos x="T2" y="T3"/>
                </a:cxn>
                <a:cxn ang="0">
                  <a:pos x="T4" y="T5"/>
                </a:cxn>
                <a:cxn ang="0">
                  <a:pos x="T6" y="T7"/>
                </a:cxn>
                <a:cxn ang="0">
                  <a:pos x="T8" y="T9"/>
                </a:cxn>
                <a:cxn ang="0">
                  <a:pos x="T10" y="T11"/>
                </a:cxn>
                <a:cxn ang="0">
                  <a:pos x="T12" y="T13"/>
                </a:cxn>
              </a:cxnLst>
              <a:rect l="0" t="0" r="r" b="b"/>
              <a:pathLst>
                <a:path w="13" h="13">
                  <a:moveTo>
                    <a:pt x="8" y="12"/>
                  </a:moveTo>
                  <a:cubicBezTo>
                    <a:pt x="5" y="13"/>
                    <a:pt x="3" y="12"/>
                    <a:pt x="1" y="10"/>
                  </a:cubicBezTo>
                  <a:cubicBezTo>
                    <a:pt x="0" y="10"/>
                    <a:pt x="1" y="9"/>
                    <a:pt x="1" y="8"/>
                  </a:cubicBezTo>
                  <a:cubicBezTo>
                    <a:pt x="1" y="8"/>
                    <a:pt x="1" y="8"/>
                    <a:pt x="2" y="7"/>
                  </a:cubicBezTo>
                  <a:cubicBezTo>
                    <a:pt x="3" y="7"/>
                    <a:pt x="3" y="7"/>
                    <a:pt x="5" y="6"/>
                  </a:cubicBezTo>
                  <a:cubicBezTo>
                    <a:pt x="6" y="5"/>
                    <a:pt x="10" y="0"/>
                    <a:pt x="12" y="1"/>
                  </a:cubicBezTo>
                  <a:cubicBezTo>
                    <a:pt x="13" y="4"/>
                    <a:pt x="11" y="10"/>
                    <a:pt x="8" y="12"/>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37" name="Freeform 130">
              <a:extLst>
                <a:ext uri="{FF2B5EF4-FFF2-40B4-BE49-F238E27FC236}">
                  <a16:creationId xmlns:a16="http://schemas.microsoft.com/office/drawing/2014/main" id="{9E7E5958-703A-42DF-B569-3D08B30E8166}"/>
                </a:ext>
              </a:extLst>
            </p:cNvPr>
            <p:cNvSpPr>
              <a:spLocks/>
            </p:cNvSpPr>
            <p:nvPr userDrawn="1"/>
          </p:nvSpPr>
          <p:spPr bwMode="auto">
            <a:xfrm>
              <a:off x="4855407" y="2638031"/>
              <a:ext cx="90756" cy="105882"/>
            </a:xfrm>
            <a:custGeom>
              <a:avLst/>
              <a:gdLst>
                <a:gd name="T0" fmla="*/ 5 w 10"/>
                <a:gd name="T1" fmla="*/ 11 h 11"/>
                <a:gd name="T2" fmla="*/ 1 w 10"/>
                <a:gd name="T3" fmla="*/ 4 h 11"/>
                <a:gd name="T4" fmla="*/ 6 w 10"/>
                <a:gd name="T5" fmla="*/ 1 h 11"/>
                <a:gd name="T6" fmla="*/ 10 w 10"/>
                <a:gd name="T7" fmla="*/ 6 h 11"/>
                <a:gd name="T8" fmla="*/ 5 w 10"/>
                <a:gd name="T9" fmla="*/ 11 h 11"/>
              </a:gdLst>
              <a:ahLst/>
              <a:cxnLst>
                <a:cxn ang="0">
                  <a:pos x="T0" y="T1"/>
                </a:cxn>
                <a:cxn ang="0">
                  <a:pos x="T2" y="T3"/>
                </a:cxn>
                <a:cxn ang="0">
                  <a:pos x="T4" y="T5"/>
                </a:cxn>
                <a:cxn ang="0">
                  <a:pos x="T6" y="T7"/>
                </a:cxn>
                <a:cxn ang="0">
                  <a:pos x="T8" y="T9"/>
                </a:cxn>
              </a:cxnLst>
              <a:rect l="0" t="0" r="r" b="b"/>
              <a:pathLst>
                <a:path w="10" h="11">
                  <a:moveTo>
                    <a:pt x="5" y="11"/>
                  </a:moveTo>
                  <a:cubicBezTo>
                    <a:pt x="3" y="10"/>
                    <a:pt x="1" y="5"/>
                    <a:pt x="1" y="4"/>
                  </a:cubicBezTo>
                  <a:cubicBezTo>
                    <a:pt x="0" y="1"/>
                    <a:pt x="3" y="0"/>
                    <a:pt x="6" y="1"/>
                  </a:cubicBezTo>
                  <a:cubicBezTo>
                    <a:pt x="9" y="2"/>
                    <a:pt x="10" y="3"/>
                    <a:pt x="10" y="6"/>
                  </a:cubicBezTo>
                  <a:cubicBezTo>
                    <a:pt x="8" y="9"/>
                    <a:pt x="7" y="9"/>
                    <a:pt x="5" y="11"/>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38" name="Freeform 131">
              <a:extLst>
                <a:ext uri="{FF2B5EF4-FFF2-40B4-BE49-F238E27FC236}">
                  <a16:creationId xmlns:a16="http://schemas.microsoft.com/office/drawing/2014/main" id="{88AA7563-CE86-449F-99A8-20D26F1B8770}"/>
                </a:ext>
              </a:extLst>
            </p:cNvPr>
            <p:cNvSpPr>
              <a:spLocks/>
            </p:cNvSpPr>
            <p:nvPr userDrawn="1"/>
          </p:nvSpPr>
          <p:spPr bwMode="auto">
            <a:xfrm>
              <a:off x="5029357" y="2471645"/>
              <a:ext cx="143698" cy="158823"/>
            </a:xfrm>
            <a:custGeom>
              <a:avLst/>
              <a:gdLst>
                <a:gd name="T0" fmla="*/ 8 w 15"/>
                <a:gd name="T1" fmla="*/ 17 h 17"/>
                <a:gd name="T2" fmla="*/ 7 w 15"/>
                <a:gd name="T3" fmla="*/ 12 h 17"/>
                <a:gd name="T4" fmla="*/ 5 w 15"/>
                <a:gd name="T5" fmla="*/ 13 h 17"/>
                <a:gd name="T6" fmla="*/ 0 w 15"/>
                <a:gd name="T7" fmla="*/ 9 h 17"/>
                <a:gd name="T8" fmla="*/ 2 w 15"/>
                <a:gd name="T9" fmla="*/ 7 h 17"/>
                <a:gd name="T10" fmla="*/ 7 w 15"/>
                <a:gd name="T11" fmla="*/ 2 h 17"/>
                <a:gd name="T12" fmla="*/ 14 w 15"/>
                <a:gd name="T13" fmla="*/ 4 h 17"/>
                <a:gd name="T14" fmla="*/ 13 w 15"/>
                <a:gd name="T15" fmla="*/ 11 h 17"/>
                <a:gd name="T16" fmla="*/ 9 w 15"/>
                <a:gd name="T17" fmla="*/ 16 h 17"/>
                <a:gd name="T18" fmla="*/ 8 w 15"/>
                <a:gd name="T19"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7">
                  <a:moveTo>
                    <a:pt x="8" y="17"/>
                  </a:moveTo>
                  <a:cubicBezTo>
                    <a:pt x="7" y="16"/>
                    <a:pt x="8" y="12"/>
                    <a:pt x="7" y="12"/>
                  </a:cubicBezTo>
                  <a:cubicBezTo>
                    <a:pt x="6" y="12"/>
                    <a:pt x="6" y="13"/>
                    <a:pt x="5" y="13"/>
                  </a:cubicBezTo>
                  <a:cubicBezTo>
                    <a:pt x="3" y="13"/>
                    <a:pt x="0" y="11"/>
                    <a:pt x="0" y="9"/>
                  </a:cubicBezTo>
                  <a:cubicBezTo>
                    <a:pt x="1" y="7"/>
                    <a:pt x="0" y="8"/>
                    <a:pt x="2" y="7"/>
                  </a:cubicBezTo>
                  <a:cubicBezTo>
                    <a:pt x="4" y="5"/>
                    <a:pt x="6" y="3"/>
                    <a:pt x="7" y="2"/>
                  </a:cubicBezTo>
                  <a:cubicBezTo>
                    <a:pt x="11" y="0"/>
                    <a:pt x="13" y="1"/>
                    <a:pt x="14" y="4"/>
                  </a:cubicBezTo>
                  <a:cubicBezTo>
                    <a:pt x="15" y="7"/>
                    <a:pt x="14" y="9"/>
                    <a:pt x="13" y="11"/>
                  </a:cubicBezTo>
                  <a:cubicBezTo>
                    <a:pt x="12" y="13"/>
                    <a:pt x="10" y="15"/>
                    <a:pt x="9" y="16"/>
                  </a:cubicBezTo>
                  <a:cubicBezTo>
                    <a:pt x="9" y="17"/>
                    <a:pt x="8" y="17"/>
                    <a:pt x="8" y="17"/>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39" name="Freeform 132">
              <a:extLst>
                <a:ext uri="{FF2B5EF4-FFF2-40B4-BE49-F238E27FC236}">
                  <a16:creationId xmlns:a16="http://schemas.microsoft.com/office/drawing/2014/main" id="{4ADF512A-1E9A-4177-89BD-D71F63AA0BCD}"/>
                </a:ext>
              </a:extLst>
            </p:cNvPr>
            <p:cNvSpPr>
              <a:spLocks/>
            </p:cNvSpPr>
            <p:nvPr userDrawn="1"/>
          </p:nvSpPr>
          <p:spPr bwMode="auto">
            <a:xfrm>
              <a:off x="4855407" y="2509460"/>
              <a:ext cx="90756" cy="98319"/>
            </a:xfrm>
            <a:custGeom>
              <a:avLst/>
              <a:gdLst>
                <a:gd name="T0" fmla="*/ 4 w 10"/>
                <a:gd name="T1" fmla="*/ 11 h 11"/>
                <a:gd name="T2" fmla="*/ 3 w 10"/>
                <a:gd name="T3" fmla="*/ 9 h 11"/>
                <a:gd name="T4" fmla="*/ 1 w 10"/>
                <a:gd name="T5" fmla="*/ 6 h 11"/>
                <a:gd name="T6" fmla="*/ 1 w 10"/>
                <a:gd name="T7" fmla="*/ 0 h 11"/>
                <a:gd name="T8" fmla="*/ 10 w 10"/>
                <a:gd name="T9" fmla="*/ 5 h 11"/>
                <a:gd name="T10" fmla="*/ 4 w 10"/>
                <a:gd name="T11" fmla="*/ 11 h 11"/>
              </a:gdLst>
              <a:ahLst/>
              <a:cxnLst>
                <a:cxn ang="0">
                  <a:pos x="T0" y="T1"/>
                </a:cxn>
                <a:cxn ang="0">
                  <a:pos x="T2" y="T3"/>
                </a:cxn>
                <a:cxn ang="0">
                  <a:pos x="T4" y="T5"/>
                </a:cxn>
                <a:cxn ang="0">
                  <a:pos x="T6" y="T7"/>
                </a:cxn>
                <a:cxn ang="0">
                  <a:pos x="T8" y="T9"/>
                </a:cxn>
                <a:cxn ang="0">
                  <a:pos x="T10" y="T11"/>
                </a:cxn>
              </a:cxnLst>
              <a:rect l="0" t="0" r="r" b="b"/>
              <a:pathLst>
                <a:path w="10" h="11">
                  <a:moveTo>
                    <a:pt x="4" y="11"/>
                  </a:moveTo>
                  <a:cubicBezTo>
                    <a:pt x="3" y="11"/>
                    <a:pt x="3" y="10"/>
                    <a:pt x="3" y="9"/>
                  </a:cubicBezTo>
                  <a:cubicBezTo>
                    <a:pt x="3" y="8"/>
                    <a:pt x="2" y="7"/>
                    <a:pt x="1" y="6"/>
                  </a:cubicBezTo>
                  <a:cubicBezTo>
                    <a:pt x="0" y="3"/>
                    <a:pt x="0" y="2"/>
                    <a:pt x="1" y="0"/>
                  </a:cubicBezTo>
                  <a:cubicBezTo>
                    <a:pt x="3" y="0"/>
                    <a:pt x="10" y="1"/>
                    <a:pt x="10" y="5"/>
                  </a:cubicBezTo>
                  <a:cubicBezTo>
                    <a:pt x="9" y="7"/>
                    <a:pt x="6" y="10"/>
                    <a:pt x="4" y="11"/>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40" name="Freeform 133">
              <a:extLst>
                <a:ext uri="{FF2B5EF4-FFF2-40B4-BE49-F238E27FC236}">
                  <a16:creationId xmlns:a16="http://schemas.microsoft.com/office/drawing/2014/main" id="{71BB6EFA-0FAD-4DE6-86F8-EE2AF219C12F}"/>
                </a:ext>
              </a:extLst>
            </p:cNvPr>
            <p:cNvSpPr>
              <a:spLocks/>
            </p:cNvSpPr>
            <p:nvPr userDrawn="1"/>
          </p:nvSpPr>
          <p:spPr bwMode="auto">
            <a:xfrm>
              <a:off x="4356247" y="2880048"/>
              <a:ext cx="355462" cy="627731"/>
            </a:xfrm>
            <a:custGeom>
              <a:avLst/>
              <a:gdLst>
                <a:gd name="T0" fmla="*/ 22 w 38"/>
                <a:gd name="T1" fmla="*/ 64 h 66"/>
                <a:gd name="T2" fmla="*/ 13 w 38"/>
                <a:gd name="T3" fmla="*/ 61 h 66"/>
                <a:gd name="T4" fmla="*/ 13 w 38"/>
                <a:gd name="T5" fmla="*/ 59 h 66"/>
                <a:gd name="T6" fmla="*/ 13 w 38"/>
                <a:gd name="T7" fmla="*/ 59 h 66"/>
                <a:gd name="T8" fmla="*/ 8 w 38"/>
                <a:gd name="T9" fmla="*/ 46 h 66"/>
                <a:gd name="T10" fmla="*/ 7 w 38"/>
                <a:gd name="T11" fmla="*/ 42 h 66"/>
                <a:gd name="T12" fmla="*/ 10 w 38"/>
                <a:gd name="T13" fmla="*/ 44 h 66"/>
                <a:gd name="T14" fmla="*/ 11 w 38"/>
                <a:gd name="T15" fmla="*/ 42 h 66"/>
                <a:gd name="T16" fmla="*/ 11 w 38"/>
                <a:gd name="T17" fmla="*/ 33 h 66"/>
                <a:gd name="T18" fmla="*/ 8 w 38"/>
                <a:gd name="T19" fmla="*/ 31 h 66"/>
                <a:gd name="T20" fmla="*/ 4 w 38"/>
                <a:gd name="T21" fmla="*/ 34 h 66"/>
                <a:gd name="T22" fmla="*/ 4 w 38"/>
                <a:gd name="T23" fmla="*/ 27 h 66"/>
                <a:gd name="T24" fmla="*/ 0 w 38"/>
                <a:gd name="T25" fmla="*/ 23 h 66"/>
                <a:gd name="T26" fmla="*/ 6 w 38"/>
                <a:gd name="T27" fmla="*/ 21 h 66"/>
                <a:gd name="T28" fmla="*/ 10 w 38"/>
                <a:gd name="T29" fmla="*/ 23 h 66"/>
                <a:gd name="T30" fmla="*/ 11 w 38"/>
                <a:gd name="T31" fmla="*/ 25 h 66"/>
                <a:gd name="T32" fmla="*/ 12 w 38"/>
                <a:gd name="T33" fmla="*/ 24 h 66"/>
                <a:gd name="T34" fmla="*/ 12 w 38"/>
                <a:gd name="T35" fmla="*/ 17 h 66"/>
                <a:gd name="T36" fmla="*/ 7 w 38"/>
                <a:gd name="T37" fmla="*/ 10 h 66"/>
                <a:gd name="T38" fmla="*/ 12 w 38"/>
                <a:gd name="T39" fmla="*/ 6 h 66"/>
                <a:gd name="T40" fmla="*/ 13 w 38"/>
                <a:gd name="T41" fmla="*/ 1 h 66"/>
                <a:gd name="T42" fmla="*/ 14 w 38"/>
                <a:gd name="T43" fmla="*/ 0 h 66"/>
                <a:gd name="T44" fmla="*/ 16 w 38"/>
                <a:gd name="T45" fmla="*/ 1 h 66"/>
                <a:gd name="T46" fmla="*/ 18 w 38"/>
                <a:gd name="T47" fmla="*/ 12 h 66"/>
                <a:gd name="T48" fmla="*/ 17 w 38"/>
                <a:gd name="T49" fmla="*/ 8 h 66"/>
                <a:gd name="T50" fmla="*/ 22 w 38"/>
                <a:gd name="T51" fmla="*/ 3 h 66"/>
                <a:gd name="T52" fmla="*/ 25 w 38"/>
                <a:gd name="T53" fmla="*/ 7 h 66"/>
                <a:gd name="T54" fmla="*/ 26 w 38"/>
                <a:gd name="T55" fmla="*/ 8 h 66"/>
                <a:gd name="T56" fmla="*/ 35 w 38"/>
                <a:gd name="T57" fmla="*/ 15 h 66"/>
                <a:gd name="T58" fmla="*/ 37 w 38"/>
                <a:gd name="T59" fmla="*/ 19 h 66"/>
                <a:gd name="T60" fmla="*/ 37 w 38"/>
                <a:gd name="T61" fmla="*/ 20 h 66"/>
                <a:gd name="T62" fmla="*/ 37 w 38"/>
                <a:gd name="T63" fmla="*/ 20 h 66"/>
                <a:gd name="T64" fmla="*/ 36 w 38"/>
                <a:gd name="T65" fmla="*/ 24 h 66"/>
                <a:gd name="T66" fmla="*/ 23 w 38"/>
                <a:gd name="T67" fmla="*/ 15 h 66"/>
                <a:gd name="T68" fmla="*/ 23 w 38"/>
                <a:gd name="T69" fmla="*/ 15 h 66"/>
                <a:gd name="T70" fmla="*/ 27 w 38"/>
                <a:gd name="T71" fmla="*/ 25 h 66"/>
                <a:gd name="T72" fmla="*/ 22 w 38"/>
                <a:gd name="T73" fmla="*/ 27 h 66"/>
                <a:gd name="T74" fmla="*/ 22 w 38"/>
                <a:gd name="T75" fmla="*/ 25 h 66"/>
                <a:gd name="T76" fmla="*/ 15 w 38"/>
                <a:gd name="T77" fmla="*/ 19 h 66"/>
                <a:gd name="T78" fmla="*/ 16 w 38"/>
                <a:gd name="T79" fmla="*/ 27 h 66"/>
                <a:gd name="T80" fmla="*/ 17 w 38"/>
                <a:gd name="T81" fmla="*/ 31 h 66"/>
                <a:gd name="T82" fmla="*/ 21 w 38"/>
                <a:gd name="T83" fmla="*/ 35 h 66"/>
                <a:gd name="T84" fmla="*/ 22 w 38"/>
                <a:gd name="T85" fmla="*/ 38 h 66"/>
                <a:gd name="T86" fmla="*/ 22 w 38"/>
                <a:gd name="T87" fmla="*/ 39 h 66"/>
                <a:gd name="T88" fmla="*/ 22 w 38"/>
                <a:gd name="T89" fmla="*/ 44 h 66"/>
                <a:gd name="T90" fmla="*/ 21 w 38"/>
                <a:gd name="T91" fmla="*/ 44 h 66"/>
                <a:gd name="T92" fmla="*/ 17 w 38"/>
                <a:gd name="T93" fmla="*/ 38 h 66"/>
                <a:gd name="T94" fmla="*/ 16 w 38"/>
                <a:gd name="T95" fmla="*/ 44 h 66"/>
                <a:gd name="T96" fmla="*/ 13 w 38"/>
                <a:gd name="T97" fmla="*/ 46 h 66"/>
                <a:gd name="T98" fmla="*/ 13 w 38"/>
                <a:gd name="T99" fmla="*/ 46 h 66"/>
                <a:gd name="T100" fmla="*/ 12 w 38"/>
                <a:gd name="T101" fmla="*/ 47 h 66"/>
                <a:gd name="T102" fmla="*/ 14 w 38"/>
                <a:gd name="T103" fmla="*/ 50 h 66"/>
                <a:gd name="T104" fmla="*/ 23 w 38"/>
                <a:gd name="T105" fmla="*/ 62 h 66"/>
                <a:gd name="T106" fmla="*/ 22 w 38"/>
                <a:gd name="T107" fmla="*/ 6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8" h="66">
                  <a:moveTo>
                    <a:pt x="22" y="64"/>
                  </a:moveTo>
                  <a:cubicBezTo>
                    <a:pt x="19" y="66"/>
                    <a:pt x="12" y="65"/>
                    <a:pt x="13" y="61"/>
                  </a:cubicBezTo>
                  <a:cubicBezTo>
                    <a:pt x="13" y="60"/>
                    <a:pt x="13" y="59"/>
                    <a:pt x="13" y="59"/>
                  </a:cubicBezTo>
                  <a:cubicBezTo>
                    <a:pt x="13" y="59"/>
                    <a:pt x="13" y="59"/>
                    <a:pt x="13" y="59"/>
                  </a:cubicBezTo>
                  <a:cubicBezTo>
                    <a:pt x="12" y="54"/>
                    <a:pt x="9" y="50"/>
                    <a:pt x="8" y="46"/>
                  </a:cubicBezTo>
                  <a:cubicBezTo>
                    <a:pt x="7" y="45"/>
                    <a:pt x="7" y="44"/>
                    <a:pt x="7" y="42"/>
                  </a:cubicBezTo>
                  <a:cubicBezTo>
                    <a:pt x="8" y="42"/>
                    <a:pt x="9" y="43"/>
                    <a:pt x="10" y="44"/>
                  </a:cubicBezTo>
                  <a:cubicBezTo>
                    <a:pt x="11" y="44"/>
                    <a:pt x="11" y="43"/>
                    <a:pt x="11" y="42"/>
                  </a:cubicBezTo>
                  <a:cubicBezTo>
                    <a:pt x="11" y="39"/>
                    <a:pt x="11" y="36"/>
                    <a:pt x="11" y="33"/>
                  </a:cubicBezTo>
                  <a:cubicBezTo>
                    <a:pt x="10" y="32"/>
                    <a:pt x="9" y="31"/>
                    <a:pt x="8" y="31"/>
                  </a:cubicBezTo>
                  <a:cubicBezTo>
                    <a:pt x="8" y="32"/>
                    <a:pt x="6" y="37"/>
                    <a:pt x="4" y="34"/>
                  </a:cubicBezTo>
                  <a:cubicBezTo>
                    <a:pt x="5" y="32"/>
                    <a:pt x="5" y="29"/>
                    <a:pt x="4" y="27"/>
                  </a:cubicBezTo>
                  <a:cubicBezTo>
                    <a:pt x="2" y="25"/>
                    <a:pt x="0" y="24"/>
                    <a:pt x="0" y="23"/>
                  </a:cubicBezTo>
                  <a:cubicBezTo>
                    <a:pt x="0" y="20"/>
                    <a:pt x="4" y="20"/>
                    <a:pt x="6" y="21"/>
                  </a:cubicBezTo>
                  <a:cubicBezTo>
                    <a:pt x="8" y="21"/>
                    <a:pt x="8" y="17"/>
                    <a:pt x="10" y="23"/>
                  </a:cubicBezTo>
                  <a:cubicBezTo>
                    <a:pt x="10" y="24"/>
                    <a:pt x="11" y="24"/>
                    <a:pt x="11" y="25"/>
                  </a:cubicBezTo>
                  <a:cubicBezTo>
                    <a:pt x="12" y="25"/>
                    <a:pt x="12" y="24"/>
                    <a:pt x="12" y="24"/>
                  </a:cubicBezTo>
                  <a:cubicBezTo>
                    <a:pt x="12" y="22"/>
                    <a:pt x="12" y="19"/>
                    <a:pt x="12" y="17"/>
                  </a:cubicBezTo>
                  <a:cubicBezTo>
                    <a:pt x="10" y="15"/>
                    <a:pt x="8" y="13"/>
                    <a:pt x="7" y="10"/>
                  </a:cubicBezTo>
                  <a:cubicBezTo>
                    <a:pt x="7" y="8"/>
                    <a:pt x="10" y="6"/>
                    <a:pt x="12" y="6"/>
                  </a:cubicBezTo>
                  <a:cubicBezTo>
                    <a:pt x="13" y="4"/>
                    <a:pt x="13" y="3"/>
                    <a:pt x="13" y="1"/>
                  </a:cubicBezTo>
                  <a:cubicBezTo>
                    <a:pt x="13" y="1"/>
                    <a:pt x="13" y="1"/>
                    <a:pt x="14" y="0"/>
                  </a:cubicBezTo>
                  <a:cubicBezTo>
                    <a:pt x="15" y="0"/>
                    <a:pt x="15" y="0"/>
                    <a:pt x="16" y="1"/>
                  </a:cubicBezTo>
                  <a:cubicBezTo>
                    <a:pt x="18" y="3"/>
                    <a:pt x="14" y="11"/>
                    <a:pt x="18" y="12"/>
                  </a:cubicBezTo>
                  <a:cubicBezTo>
                    <a:pt x="19" y="11"/>
                    <a:pt x="18" y="9"/>
                    <a:pt x="17" y="8"/>
                  </a:cubicBezTo>
                  <a:cubicBezTo>
                    <a:pt x="17" y="6"/>
                    <a:pt x="20" y="4"/>
                    <a:pt x="22" y="3"/>
                  </a:cubicBezTo>
                  <a:cubicBezTo>
                    <a:pt x="26" y="3"/>
                    <a:pt x="25" y="4"/>
                    <a:pt x="25" y="7"/>
                  </a:cubicBezTo>
                  <a:cubicBezTo>
                    <a:pt x="26" y="7"/>
                    <a:pt x="26" y="8"/>
                    <a:pt x="26" y="8"/>
                  </a:cubicBezTo>
                  <a:cubicBezTo>
                    <a:pt x="30" y="11"/>
                    <a:pt x="30" y="11"/>
                    <a:pt x="35" y="15"/>
                  </a:cubicBezTo>
                  <a:cubicBezTo>
                    <a:pt x="36" y="16"/>
                    <a:pt x="37" y="17"/>
                    <a:pt x="37" y="19"/>
                  </a:cubicBezTo>
                  <a:cubicBezTo>
                    <a:pt x="37" y="19"/>
                    <a:pt x="37" y="19"/>
                    <a:pt x="37" y="20"/>
                  </a:cubicBezTo>
                  <a:cubicBezTo>
                    <a:pt x="37" y="20"/>
                    <a:pt x="37" y="20"/>
                    <a:pt x="37" y="20"/>
                  </a:cubicBezTo>
                  <a:cubicBezTo>
                    <a:pt x="38" y="21"/>
                    <a:pt x="38" y="24"/>
                    <a:pt x="36" y="24"/>
                  </a:cubicBezTo>
                  <a:cubicBezTo>
                    <a:pt x="32" y="21"/>
                    <a:pt x="27" y="18"/>
                    <a:pt x="23" y="15"/>
                  </a:cubicBezTo>
                  <a:cubicBezTo>
                    <a:pt x="23" y="15"/>
                    <a:pt x="23" y="15"/>
                    <a:pt x="23" y="15"/>
                  </a:cubicBezTo>
                  <a:cubicBezTo>
                    <a:pt x="25" y="17"/>
                    <a:pt x="27" y="22"/>
                    <a:pt x="27" y="25"/>
                  </a:cubicBezTo>
                  <a:cubicBezTo>
                    <a:pt x="26" y="26"/>
                    <a:pt x="24" y="27"/>
                    <a:pt x="22" y="27"/>
                  </a:cubicBezTo>
                  <a:cubicBezTo>
                    <a:pt x="22" y="26"/>
                    <a:pt x="22" y="26"/>
                    <a:pt x="22" y="25"/>
                  </a:cubicBezTo>
                  <a:cubicBezTo>
                    <a:pt x="21" y="23"/>
                    <a:pt x="17" y="21"/>
                    <a:pt x="15" y="19"/>
                  </a:cubicBezTo>
                  <a:cubicBezTo>
                    <a:pt x="14" y="21"/>
                    <a:pt x="16" y="25"/>
                    <a:pt x="16" y="27"/>
                  </a:cubicBezTo>
                  <a:cubicBezTo>
                    <a:pt x="16" y="28"/>
                    <a:pt x="16" y="30"/>
                    <a:pt x="17" y="31"/>
                  </a:cubicBezTo>
                  <a:cubicBezTo>
                    <a:pt x="18" y="32"/>
                    <a:pt x="19" y="34"/>
                    <a:pt x="21" y="35"/>
                  </a:cubicBezTo>
                  <a:cubicBezTo>
                    <a:pt x="21" y="36"/>
                    <a:pt x="22" y="37"/>
                    <a:pt x="22" y="38"/>
                  </a:cubicBezTo>
                  <a:cubicBezTo>
                    <a:pt x="22" y="38"/>
                    <a:pt x="22" y="38"/>
                    <a:pt x="22" y="39"/>
                  </a:cubicBezTo>
                  <a:cubicBezTo>
                    <a:pt x="23" y="40"/>
                    <a:pt x="24" y="44"/>
                    <a:pt x="22" y="44"/>
                  </a:cubicBezTo>
                  <a:cubicBezTo>
                    <a:pt x="21" y="44"/>
                    <a:pt x="21" y="44"/>
                    <a:pt x="21" y="44"/>
                  </a:cubicBezTo>
                  <a:cubicBezTo>
                    <a:pt x="20" y="41"/>
                    <a:pt x="18" y="39"/>
                    <a:pt x="17" y="38"/>
                  </a:cubicBezTo>
                  <a:cubicBezTo>
                    <a:pt x="16" y="40"/>
                    <a:pt x="17" y="42"/>
                    <a:pt x="16" y="44"/>
                  </a:cubicBezTo>
                  <a:cubicBezTo>
                    <a:pt x="15" y="45"/>
                    <a:pt x="14" y="46"/>
                    <a:pt x="13" y="46"/>
                  </a:cubicBezTo>
                  <a:cubicBezTo>
                    <a:pt x="13" y="46"/>
                    <a:pt x="13" y="46"/>
                    <a:pt x="13" y="46"/>
                  </a:cubicBezTo>
                  <a:cubicBezTo>
                    <a:pt x="12" y="46"/>
                    <a:pt x="12" y="46"/>
                    <a:pt x="12" y="47"/>
                  </a:cubicBezTo>
                  <a:cubicBezTo>
                    <a:pt x="12" y="48"/>
                    <a:pt x="13" y="49"/>
                    <a:pt x="14" y="50"/>
                  </a:cubicBezTo>
                  <a:cubicBezTo>
                    <a:pt x="16" y="54"/>
                    <a:pt x="19" y="58"/>
                    <a:pt x="23" y="62"/>
                  </a:cubicBezTo>
                  <a:cubicBezTo>
                    <a:pt x="23" y="63"/>
                    <a:pt x="23" y="63"/>
                    <a:pt x="22" y="64"/>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41" name="Freeform 134">
              <a:extLst>
                <a:ext uri="{FF2B5EF4-FFF2-40B4-BE49-F238E27FC236}">
                  <a16:creationId xmlns:a16="http://schemas.microsoft.com/office/drawing/2014/main" id="{F5642261-90D8-4056-A8C5-7119F839A453}"/>
                </a:ext>
              </a:extLst>
            </p:cNvPr>
            <p:cNvSpPr>
              <a:spLocks/>
            </p:cNvSpPr>
            <p:nvPr userDrawn="1"/>
          </p:nvSpPr>
          <p:spPr bwMode="auto">
            <a:xfrm>
              <a:off x="4303306" y="3235510"/>
              <a:ext cx="98319" cy="83193"/>
            </a:xfrm>
            <a:custGeom>
              <a:avLst/>
              <a:gdLst>
                <a:gd name="T0" fmla="*/ 9 w 11"/>
                <a:gd name="T1" fmla="*/ 9 h 9"/>
                <a:gd name="T2" fmla="*/ 7 w 11"/>
                <a:gd name="T3" fmla="*/ 7 h 9"/>
                <a:gd name="T4" fmla="*/ 0 w 11"/>
                <a:gd name="T5" fmla="*/ 2 h 9"/>
                <a:gd name="T6" fmla="*/ 0 w 11"/>
                <a:gd name="T7" fmla="*/ 1 h 9"/>
                <a:gd name="T8" fmla="*/ 7 w 11"/>
                <a:gd name="T9" fmla="*/ 0 h 9"/>
                <a:gd name="T10" fmla="*/ 9 w 11"/>
                <a:gd name="T11" fmla="*/ 9 h 9"/>
              </a:gdLst>
              <a:ahLst/>
              <a:cxnLst>
                <a:cxn ang="0">
                  <a:pos x="T0" y="T1"/>
                </a:cxn>
                <a:cxn ang="0">
                  <a:pos x="T2" y="T3"/>
                </a:cxn>
                <a:cxn ang="0">
                  <a:pos x="T4" y="T5"/>
                </a:cxn>
                <a:cxn ang="0">
                  <a:pos x="T6" y="T7"/>
                </a:cxn>
                <a:cxn ang="0">
                  <a:pos x="T8" y="T9"/>
                </a:cxn>
                <a:cxn ang="0">
                  <a:pos x="T10" y="T11"/>
                </a:cxn>
              </a:cxnLst>
              <a:rect l="0" t="0" r="r" b="b"/>
              <a:pathLst>
                <a:path w="11" h="9">
                  <a:moveTo>
                    <a:pt x="9" y="9"/>
                  </a:moveTo>
                  <a:cubicBezTo>
                    <a:pt x="8" y="9"/>
                    <a:pt x="7" y="8"/>
                    <a:pt x="7" y="7"/>
                  </a:cubicBezTo>
                  <a:cubicBezTo>
                    <a:pt x="3" y="6"/>
                    <a:pt x="1" y="5"/>
                    <a:pt x="0" y="2"/>
                  </a:cubicBezTo>
                  <a:cubicBezTo>
                    <a:pt x="0" y="2"/>
                    <a:pt x="0" y="2"/>
                    <a:pt x="0" y="1"/>
                  </a:cubicBezTo>
                  <a:cubicBezTo>
                    <a:pt x="2" y="1"/>
                    <a:pt x="5" y="0"/>
                    <a:pt x="7" y="0"/>
                  </a:cubicBezTo>
                  <a:cubicBezTo>
                    <a:pt x="11" y="1"/>
                    <a:pt x="10" y="6"/>
                    <a:pt x="9" y="9"/>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42" name="Freeform 135">
              <a:extLst>
                <a:ext uri="{FF2B5EF4-FFF2-40B4-BE49-F238E27FC236}">
                  <a16:creationId xmlns:a16="http://schemas.microsoft.com/office/drawing/2014/main" id="{6D6796AF-621D-4F6E-B31C-AE2D3CDEF27A}"/>
                </a:ext>
              </a:extLst>
            </p:cNvPr>
            <p:cNvSpPr>
              <a:spLocks/>
            </p:cNvSpPr>
            <p:nvPr userDrawn="1"/>
          </p:nvSpPr>
          <p:spPr bwMode="auto">
            <a:xfrm>
              <a:off x="4212550" y="3137191"/>
              <a:ext cx="105882" cy="98319"/>
            </a:xfrm>
            <a:custGeom>
              <a:avLst/>
              <a:gdLst>
                <a:gd name="T0" fmla="*/ 10 w 11"/>
                <a:gd name="T1" fmla="*/ 10 h 10"/>
                <a:gd name="T2" fmla="*/ 9 w 11"/>
                <a:gd name="T3" fmla="*/ 10 h 10"/>
                <a:gd name="T4" fmla="*/ 8 w 11"/>
                <a:gd name="T5" fmla="*/ 8 h 10"/>
                <a:gd name="T6" fmla="*/ 1 w 11"/>
                <a:gd name="T7" fmla="*/ 2 h 10"/>
                <a:gd name="T8" fmla="*/ 4 w 11"/>
                <a:gd name="T9" fmla="*/ 2 h 10"/>
                <a:gd name="T10" fmla="*/ 11 w 11"/>
                <a:gd name="T11" fmla="*/ 5 h 10"/>
                <a:gd name="T12" fmla="*/ 10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10" y="10"/>
                  </a:moveTo>
                  <a:cubicBezTo>
                    <a:pt x="9" y="10"/>
                    <a:pt x="9" y="10"/>
                    <a:pt x="9" y="10"/>
                  </a:cubicBezTo>
                  <a:cubicBezTo>
                    <a:pt x="8" y="9"/>
                    <a:pt x="8" y="9"/>
                    <a:pt x="8" y="8"/>
                  </a:cubicBezTo>
                  <a:cubicBezTo>
                    <a:pt x="4" y="8"/>
                    <a:pt x="0" y="6"/>
                    <a:pt x="1" y="2"/>
                  </a:cubicBezTo>
                  <a:cubicBezTo>
                    <a:pt x="2" y="1"/>
                    <a:pt x="2" y="2"/>
                    <a:pt x="4" y="2"/>
                  </a:cubicBezTo>
                  <a:cubicBezTo>
                    <a:pt x="7" y="2"/>
                    <a:pt x="11" y="0"/>
                    <a:pt x="11" y="5"/>
                  </a:cubicBezTo>
                  <a:cubicBezTo>
                    <a:pt x="11" y="6"/>
                    <a:pt x="10" y="8"/>
                    <a:pt x="10" y="10"/>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43" name="Freeform 136">
              <a:extLst>
                <a:ext uri="{FF2B5EF4-FFF2-40B4-BE49-F238E27FC236}">
                  <a16:creationId xmlns:a16="http://schemas.microsoft.com/office/drawing/2014/main" id="{84EC43EE-5AC7-48AE-81CC-818064945072}"/>
                </a:ext>
              </a:extLst>
            </p:cNvPr>
            <p:cNvSpPr>
              <a:spLocks/>
            </p:cNvSpPr>
            <p:nvPr userDrawn="1"/>
          </p:nvSpPr>
          <p:spPr bwMode="auto">
            <a:xfrm>
              <a:off x="4749525" y="3212821"/>
              <a:ext cx="1232773" cy="1066386"/>
            </a:xfrm>
            <a:custGeom>
              <a:avLst/>
              <a:gdLst>
                <a:gd name="T0" fmla="*/ 132 w 132"/>
                <a:gd name="T1" fmla="*/ 6 h 113"/>
                <a:gd name="T2" fmla="*/ 98 w 132"/>
                <a:gd name="T3" fmla="*/ 6 h 113"/>
                <a:gd name="T4" fmla="*/ 79 w 132"/>
                <a:gd name="T5" fmla="*/ 25 h 113"/>
                <a:gd name="T6" fmla="*/ 73 w 132"/>
                <a:gd name="T7" fmla="*/ 12 h 113"/>
                <a:gd name="T8" fmla="*/ 83 w 132"/>
                <a:gd name="T9" fmla="*/ 8 h 113"/>
                <a:gd name="T10" fmla="*/ 57 w 132"/>
                <a:gd name="T11" fmla="*/ 8 h 113"/>
                <a:gd name="T12" fmla="*/ 53 w 132"/>
                <a:gd name="T13" fmla="*/ 25 h 113"/>
                <a:gd name="T14" fmla="*/ 34 w 132"/>
                <a:gd name="T15" fmla="*/ 6 h 113"/>
                <a:gd name="T16" fmla="*/ 0 w 132"/>
                <a:gd name="T17" fmla="*/ 6 h 113"/>
                <a:gd name="T18" fmla="*/ 24 w 132"/>
                <a:gd name="T19" fmla="*/ 16 h 113"/>
                <a:gd name="T20" fmla="*/ 27 w 132"/>
                <a:gd name="T21" fmla="*/ 22 h 113"/>
                <a:gd name="T22" fmla="*/ 9 w 132"/>
                <a:gd name="T23" fmla="*/ 22 h 113"/>
                <a:gd name="T24" fmla="*/ 31 w 132"/>
                <a:gd name="T25" fmla="*/ 32 h 113"/>
                <a:gd name="T26" fmla="*/ 34 w 132"/>
                <a:gd name="T27" fmla="*/ 38 h 113"/>
                <a:gd name="T28" fmla="*/ 20 w 132"/>
                <a:gd name="T29" fmla="*/ 39 h 113"/>
                <a:gd name="T30" fmla="*/ 38 w 132"/>
                <a:gd name="T31" fmla="*/ 48 h 113"/>
                <a:gd name="T32" fmla="*/ 41 w 132"/>
                <a:gd name="T33" fmla="*/ 54 h 113"/>
                <a:gd name="T34" fmla="*/ 30 w 132"/>
                <a:gd name="T35" fmla="*/ 54 h 113"/>
                <a:gd name="T36" fmla="*/ 45 w 132"/>
                <a:gd name="T37" fmla="*/ 63 h 113"/>
                <a:gd name="T38" fmla="*/ 47 w 132"/>
                <a:gd name="T39" fmla="*/ 69 h 113"/>
                <a:gd name="T40" fmla="*/ 39 w 132"/>
                <a:gd name="T41" fmla="*/ 69 h 113"/>
                <a:gd name="T42" fmla="*/ 51 w 132"/>
                <a:gd name="T43" fmla="*/ 78 h 113"/>
                <a:gd name="T44" fmla="*/ 51 w 132"/>
                <a:gd name="T45" fmla="*/ 89 h 113"/>
                <a:gd name="T46" fmla="*/ 66 w 132"/>
                <a:gd name="T47" fmla="*/ 113 h 113"/>
                <a:gd name="T48" fmla="*/ 81 w 132"/>
                <a:gd name="T49" fmla="*/ 89 h 113"/>
                <a:gd name="T50" fmla="*/ 81 w 132"/>
                <a:gd name="T51" fmla="*/ 78 h 113"/>
                <a:gd name="T52" fmla="*/ 92 w 132"/>
                <a:gd name="T53" fmla="*/ 69 h 113"/>
                <a:gd name="T54" fmla="*/ 85 w 132"/>
                <a:gd name="T55" fmla="*/ 69 h 113"/>
                <a:gd name="T56" fmla="*/ 87 w 132"/>
                <a:gd name="T57" fmla="*/ 63 h 113"/>
                <a:gd name="T58" fmla="*/ 102 w 132"/>
                <a:gd name="T59" fmla="*/ 54 h 113"/>
                <a:gd name="T60" fmla="*/ 91 w 132"/>
                <a:gd name="T61" fmla="*/ 54 h 113"/>
                <a:gd name="T62" fmla="*/ 93 w 132"/>
                <a:gd name="T63" fmla="*/ 48 h 113"/>
                <a:gd name="T64" fmla="*/ 111 w 132"/>
                <a:gd name="T65" fmla="*/ 39 h 113"/>
                <a:gd name="T66" fmla="*/ 97 w 132"/>
                <a:gd name="T67" fmla="*/ 38 h 113"/>
                <a:gd name="T68" fmla="*/ 100 w 132"/>
                <a:gd name="T69" fmla="*/ 32 h 113"/>
                <a:gd name="T70" fmla="*/ 123 w 132"/>
                <a:gd name="T71" fmla="*/ 22 h 113"/>
                <a:gd name="T72" fmla="*/ 105 w 132"/>
                <a:gd name="T73" fmla="*/ 22 h 113"/>
                <a:gd name="T74" fmla="*/ 107 w 132"/>
                <a:gd name="T75" fmla="*/ 16 h 113"/>
                <a:gd name="T76" fmla="*/ 132 w 132"/>
                <a:gd name="T77" fmla="*/ 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2" h="113">
                  <a:moveTo>
                    <a:pt x="132" y="6"/>
                  </a:moveTo>
                  <a:cubicBezTo>
                    <a:pt x="98" y="6"/>
                    <a:pt x="98" y="6"/>
                    <a:pt x="98" y="6"/>
                  </a:cubicBezTo>
                  <a:cubicBezTo>
                    <a:pt x="88" y="6"/>
                    <a:pt x="83" y="16"/>
                    <a:pt x="79" y="25"/>
                  </a:cubicBezTo>
                  <a:cubicBezTo>
                    <a:pt x="73" y="12"/>
                    <a:pt x="73" y="12"/>
                    <a:pt x="73" y="12"/>
                  </a:cubicBezTo>
                  <a:cubicBezTo>
                    <a:pt x="83" y="8"/>
                    <a:pt x="83" y="8"/>
                    <a:pt x="83" y="8"/>
                  </a:cubicBezTo>
                  <a:cubicBezTo>
                    <a:pt x="77" y="3"/>
                    <a:pt x="59" y="0"/>
                    <a:pt x="57" y="8"/>
                  </a:cubicBezTo>
                  <a:cubicBezTo>
                    <a:pt x="53" y="25"/>
                    <a:pt x="53" y="25"/>
                    <a:pt x="53" y="25"/>
                  </a:cubicBezTo>
                  <a:cubicBezTo>
                    <a:pt x="50" y="17"/>
                    <a:pt x="45" y="6"/>
                    <a:pt x="34" y="6"/>
                  </a:cubicBezTo>
                  <a:cubicBezTo>
                    <a:pt x="0" y="6"/>
                    <a:pt x="0" y="6"/>
                    <a:pt x="0" y="6"/>
                  </a:cubicBezTo>
                  <a:cubicBezTo>
                    <a:pt x="4" y="14"/>
                    <a:pt x="8" y="17"/>
                    <a:pt x="24" y="16"/>
                  </a:cubicBezTo>
                  <a:cubicBezTo>
                    <a:pt x="27" y="22"/>
                    <a:pt x="27" y="22"/>
                    <a:pt x="27" y="22"/>
                  </a:cubicBezTo>
                  <a:cubicBezTo>
                    <a:pt x="9" y="22"/>
                    <a:pt x="9" y="22"/>
                    <a:pt x="9" y="22"/>
                  </a:cubicBezTo>
                  <a:cubicBezTo>
                    <a:pt x="14" y="32"/>
                    <a:pt x="17" y="32"/>
                    <a:pt x="31" y="32"/>
                  </a:cubicBezTo>
                  <a:cubicBezTo>
                    <a:pt x="34" y="38"/>
                    <a:pt x="34" y="38"/>
                    <a:pt x="34" y="38"/>
                  </a:cubicBezTo>
                  <a:cubicBezTo>
                    <a:pt x="20" y="39"/>
                    <a:pt x="20" y="39"/>
                    <a:pt x="20" y="39"/>
                  </a:cubicBezTo>
                  <a:cubicBezTo>
                    <a:pt x="23" y="45"/>
                    <a:pt x="27" y="48"/>
                    <a:pt x="38" y="48"/>
                  </a:cubicBezTo>
                  <a:cubicBezTo>
                    <a:pt x="41" y="54"/>
                    <a:pt x="41" y="54"/>
                    <a:pt x="41" y="54"/>
                  </a:cubicBezTo>
                  <a:cubicBezTo>
                    <a:pt x="30" y="54"/>
                    <a:pt x="30" y="54"/>
                    <a:pt x="30" y="54"/>
                  </a:cubicBezTo>
                  <a:cubicBezTo>
                    <a:pt x="34" y="61"/>
                    <a:pt x="36" y="64"/>
                    <a:pt x="45" y="63"/>
                  </a:cubicBezTo>
                  <a:cubicBezTo>
                    <a:pt x="47" y="69"/>
                    <a:pt x="47" y="69"/>
                    <a:pt x="47" y="69"/>
                  </a:cubicBezTo>
                  <a:cubicBezTo>
                    <a:pt x="39" y="69"/>
                    <a:pt x="39" y="69"/>
                    <a:pt x="39" y="69"/>
                  </a:cubicBezTo>
                  <a:cubicBezTo>
                    <a:pt x="43" y="77"/>
                    <a:pt x="46" y="77"/>
                    <a:pt x="51" y="78"/>
                  </a:cubicBezTo>
                  <a:cubicBezTo>
                    <a:pt x="55" y="78"/>
                    <a:pt x="56" y="86"/>
                    <a:pt x="51" y="89"/>
                  </a:cubicBezTo>
                  <a:cubicBezTo>
                    <a:pt x="66" y="113"/>
                    <a:pt x="66" y="113"/>
                    <a:pt x="66" y="113"/>
                  </a:cubicBezTo>
                  <a:cubicBezTo>
                    <a:pt x="81" y="89"/>
                    <a:pt x="81" y="89"/>
                    <a:pt x="81" y="89"/>
                  </a:cubicBezTo>
                  <a:cubicBezTo>
                    <a:pt x="76" y="86"/>
                    <a:pt x="76" y="78"/>
                    <a:pt x="81" y="78"/>
                  </a:cubicBezTo>
                  <a:cubicBezTo>
                    <a:pt x="85" y="77"/>
                    <a:pt x="89" y="77"/>
                    <a:pt x="92" y="69"/>
                  </a:cubicBezTo>
                  <a:cubicBezTo>
                    <a:pt x="85" y="69"/>
                    <a:pt x="85" y="69"/>
                    <a:pt x="85" y="69"/>
                  </a:cubicBezTo>
                  <a:cubicBezTo>
                    <a:pt x="87" y="63"/>
                    <a:pt x="87" y="63"/>
                    <a:pt x="87" y="63"/>
                  </a:cubicBezTo>
                  <a:cubicBezTo>
                    <a:pt x="96" y="64"/>
                    <a:pt x="98" y="60"/>
                    <a:pt x="102" y="54"/>
                  </a:cubicBezTo>
                  <a:cubicBezTo>
                    <a:pt x="91" y="54"/>
                    <a:pt x="91" y="54"/>
                    <a:pt x="91" y="54"/>
                  </a:cubicBezTo>
                  <a:cubicBezTo>
                    <a:pt x="93" y="48"/>
                    <a:pt x="93" y="48"/>
                    <a:pt x="93" y="48"/>
                  </a:cubicBezTo>
                  <a:cubicBezTo>
                    <a:pt x="105" y="48"/>
                    <a:pt x="108" y="45"/>
                    <a:pt x="111" y="39"/>
                  </a:cubicBezTo>
                  <a:cubicBezTo>
                    <a:pt x="97" y="38"/>
                    <a:pt x="97" y="38"/>
                    <a:pt x="97" y="38"/>
                  </a:cubicBezTo>
                  <a:cubicBezTo>
                    <a:pt x="100" y="32"/>
                    <a:pt x="100" y="32"/>
                    <a:pt x="100" y="32"/>
                  </a:cubicBezTo>
                  <a:cubicBezTo>
                    <a:pt x="115" y="32"/>
                    <a:pt x="118" y="32"/>
                    <a:pt x="123" y="22"/>
                  </a:cubicBezTo>
                  <a:cubicBezTo>
                    <a:pt x="105" y="22"/>
                    <a:pt x="105" y="22"/>
                    <a:pt x="105" y="22"/>
                  </a:cubicBezTo>
                  <a:cubicBezTo>
                    <a:pt x="107" y="16"/>
                    <a:pt x="107" y="16"/>
                    <a:pt x="107" y="16"/>
                  </a:cubicBezTo>
                  <a:cubicBezTo>
                    <a:pt x="123" y="17"/>
                    <a:pt x="128" y="14"/>
                    <a:pt x="132" y="6"/>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dirty="0"/>
            </a:p>
          </p:txBody>
        </p:sp>
        <p:sp>
          <p:nvSpPr>
            <p:cNvPr id="44" name="Freeform 137">
              <a:extLst>
                <a:ext uri="{FF2B5EF4-FFF2-40B4-BE49-F238E27FC236}">
                  <a16:creationId xmlns:a16="http://schemas.microsoft.com/office/drawing/2014/main" id="{54564195-06AF-448F-8128-B2E7561C4C69}"/>
                </a:ext>
              </a:extLst>
            </p:cNvPr>
            <p:cNvSpPr>
              <a:spLocks noEditPoints="1"/>
            </p:cNvSpPr>
            <p:nvPr userDrawn="1"/>
          </p:nvSpPr>
          <p:spPr bwMode="auto">
            <a:xfrm>
              <a:off x="6004987" y="2993493"/>
              <a:ext cx="484034" cy="325210"/>
            </a:xfrm>
            <a:custGeom>
              <a:avLst/>
              <a:gdLst>
                <a:gd name="T0" fmla="*/ 51 w 52"/>
                <a:gd name="T1" fmla="*/ 10 h 34"/>
                <a:gd name="T2" fmla="*/ 48 w 52"/>
                <a:gd name="T3" fmla="*/ 10 h 34"/>
                <a:gd name="T4" fmla="*/ 47 w 52"/>
                <a:gd name="T5" fmla="*/ 8 h 34"/>
                <a:gd name="T6" fmla="*/ 50 w 52"/>
                <a:gd name="T7" fmla="*/ 7 h 34"/>
                <a:gd name="T8" fmla="*/ 52 w 52"/>
                <a:gd name="T9" fmla="*/ 2 h 34"/>
                <a:gd name="T10" fmla="*/ 44 w 52"/>
                <a:gd name="T11" fmla="*/ 3 h 34"/>
                <a:gd name="T12" fmla="*/ 36 w 52"/>
                <a:gd name="T13" fmla="*/ 1 h 34"/>
                <a:gd name="T14" fmla="*/ 36 w 52"/>
                <a:gd name="T15" fmla="*/ 3 h 34"/>
                <a:gd name="T16" fmla="*/ 35 w 52"/>
                <a:gd name="T17" fmla="*/ 4 h 34"/>
                <a:gd name="T18" fmla="*/ 35 w 52"/>
                <a:gd name="T19" fmla="*/ 5 h 34"/>
                <a:gd name="T20" fmla="*/ 34 w 52"/>
                <a:gd name="T21" fmla="*/ 7 h 34"/>
                <a:gd name="T22" fmla="*/ 34 w 52"/>
                <a:gd name="T23" fmla="*/ 6 h 34"/>
                <a:gd name="T24" fmla="*/ 30 w 52"/>
                <a:gd name="T25" fmla="*/ 5 h 34"/>
                <a:gd name="T26" fmla="*/ 28 w 52"/>
                <a:gd name="T27" fmla="*/ 9 h 34"/>
                <a:gd name="T28" fmla="*/ 28 w 52"/>
                <a:gd name="T29" fmla="*/ 10 h 34"/>
                <a:gd name="T30" fmla="*/ 31 w 52"/>
                <a:gd name="T31" fmla="*/ 11 h 34"/>
                <a:gd name="T32" fmla="*/ 33 w 52"/>
                <a:gd name="T33" fmla="*/ 12 h 34"/>
                <a:gd name="T34" fmla="*/ 30 w 52"/>
                <a:gd name="T35" fmla="*/ 14 h 34"/>
                <a:gd name="T36" fmla="*/ 26 w 52"/>
                <a:gd name="T37" fmla="*/ 14 h 34"/>
                <a:gd name="T38" fmla="*/ 13 w 52"/>
                <a:gd name="T39" fmla="*/ 11 h 34"/>
                <a:gd name="T40" fmla="*/ 13 w 52"/>
                <a:gd name="T41" fmla="*/ 12 h 34"/>
                <a:gd name="T42" fmla="*/ 20 w 52"/>
                <a:gd name="T43" fmla="*/ 16 h 34"/>
                <a:gd name="T44" fmla="*/ 32 w 52"/>
                <a:gd name="T45" fmla="*/ 20 h 34"/>
                <a:gd name="T46" fmla="*/ 31 w 52"/>
                <a:gd name="T47" fmla="*/ 20 h 34"/>
                <a:gd name="T48" fmla="*/ 24 w 52"/>
                <a:gd name="T49" fmla="*/ 20 h 34"/>
                <a:gd name="T50" fmla="*/ 19 w 52"/>
                <a:gd name="T51" fmla="*/ 19 h 34"/>
                <a:gd name="T52" fmla="*/ 18 w 52"/>
                <a:gd name="T53" fmla="*/ 19 h 34"/>
                <a:gd name="T54" fmla="*/ 4 w 52"/>
                <a:gd name="T55" fmla="*/ 14 h 34"/>
                <a:gd name="T56" fmla="*/ 2 w 52"/>
                <a:gd name="T57" fmla="*/ 12 h 34"/>
                <a:gd name="T58" fmla="*/ 3 w 52"/>
                <a:gd name="T59" fmla="*/ 20 h 34"/>
                <a:gd name="T60" fmla="*/ 13 w 52"/>
                <a:gd name="T61" fmla="*/ 23 h 34"/>
                <a:gd name="T62" fmla="*/ 13 w 52"/>
                <a:gd name="T63" fmla="*/ 24 h 34"/>
                <a:gd name="T64" fmla="*/ 9 w 52"/>
                <a:gd name="T65" fmla="*/ 27 h 34"/>
                <a:gd name="T66" fmla="*/ 4 w 52"/>
                <a:gd name="T67" fmla="*/ 26 h 34"/>
                <a:gd name="T68" fmla="*/ 9 w 52"/>
                <a:gd name="T69" fmla="*/ 33 h 34"/>
                <a:gd name="T70" fmla="*/ 10 w 52"/>
                <a:gd name="T71" fmla="*/ 34 h 34"/>
                <a:gd name="T72" fmla="*/ 18 w 52"/>
                <a:gd name="T73" fmla="*/ 28 h 34"/>
                <a:gd name="T74" fmla="*/ 23 w 52"/>
                <a:gd name="T75" fmla="*/ 28 h 34"/>
                <a:gd name="T76" fmla="*/ 22 w 52"/>
                <a:gd name="T77" fmla="*/ 23 h 34"/>
                <a:gd name="T78" fmla="*/ 23 w 52"/>
                <a:gd name="T79" fmla="*/ 21 h 34"/>
                <a:gd name="T80" fmla="*/ 30 w 52"/>
                <a:gd name="T81" fmla="*/ 22 h 34"/>
                <a:gd name="T82" fmla="*/ 36 w 52"/>
                <a:gd name="T83" fmla="*/ 25 h 34"/>
                <a:gd name="T84" fmla="*/ 39 w 52"/>
                <a:gd name="T85" fmla="*/ 21 h 34"/>
                <a:gd name="T86" fmla="*/ 39 w 52"/>
                <a:gd name="T87" fmla="*/ 20 h 34"/>
                <a:gd name="T88" fmla="*/ 51 w 52"/>
                <a:gd name="T89" fmla="*/ 14 h 34"/>
                <a:gd name="T90" fmla="*/ 38 w 52"/>
                <a:gd name="T91" fmla="*/ 14 h 34"/>
                <a:gd name="T92" fmla="*/ 38 w 52"/>
                <a:gd name="T93" fmla="*/ 12 h 34"/>
                <a:gd name="T94" fmla="*/ 36 w 52"/>
                <a:gd name="T95" fmla="*/ 11 h 34"/>
                <a:gd name="T96" fmla="*/ 36 w 52"/>
                <a:gd name="T97" fmla="*/ 10 h 34"/>
                <a:gd name="T98" fmla="*/ 40 w 52"/>
                <a:gd name="T99" fmla="*/ 9 h 34"/>
                <a:gd name="T100" fmla="*/ 43 w 52"/>
                <a:gd name="T101" fmla="*/ 14 h 34"/>
                <a:gd name="T102" fmla="*/ 38 w 52"/>
                <a:gd name="T103" fmla="*/ 1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 h="34">
                  <a:moveTo>
                    <a:pt x="51" y="13"/>
                  </a:moveTo>
                  <a:cubicBezTo>
                    <a:pt x="51" y="12"/>
                    <a:pt x="51" y="12"/>
                    <a:pt x="51" y="12"/>
                  </a:cubicBezTo>
                  <a:cubicBezTo>
                    <a:pt x="51" y="11"/>
                    <a:pt x="51" y="11"/>
                    <a:pt x="51" y="10"/>
                  </a:cubicBezTo>
                  <a:cubicBezTo>
                    <a:pt x="51" y="10"/>
                    <a:pt x="50" y="10"/>
                    <a:pt x="50" y="10"/>
                  </a:cubicBezTo>
                  <a:cubicBezTo>
                    <a:pt x="49" y="10"/>
                    <a:pt x="49" y="10"/>
                    <a:pt x="49" y="10"/>
                  </a:cubicBezTo>
                  <a:cubicBezTo>
                    <a:pt x="48" y="10"/>
                    <a:pt x="48" y="10"/>
                    <a:pt x="48" y="10"/>
                  </a:cubicBezTo>
                  <a:cubicBezTo>
                    <a:pt x="48" y="9"/>
                    <a:pt x="48" y="9"/>
                    <a:pt x="48" y="9"/>
                  </a:cubicBezTo>
                  <a:cubicBezTo>
                    <a:pt x="48" y="9"/>
                    <a:pt x="48" y="9"/>
                    <a:pt x="48" y="9"/>
                  </a:cubicBezTo>
                  <a:cubicBezTo>
                    <a:pt x="47" y="8"/>
                    <a:pt x="47" y="8"/>
                    <a:pt x="47" y="8"/>
                  </a:cubicBezTo>
                  <a:cubicBezTo>
                    <a:pt x="47" y="8"/>
                    <a:pt x="47" y="8"/>
                    <a:pt x="47" y="8"/>
                  </a:cubicBezTo>
                  <a:cubicBezTo>
                    <a:pt x="48" y="8"/>
                    <a:pt x="48" y="8"/>
                    <a:pt x="48" y="8"/>
                  </a:cubicBezTo>
                  <a:cubicBezTo>
                    <a:pt x="48" y="7"/>
                    <a:pt x="49" y="7"/>
                    <a:pt x="50" y="7"/>
                  </a:cubicBezTo>
                  <a:cubicBezTo>
                    <a:pt x="50" y="7"/>
                    <a:pt x="50" y="7"/>
                    <a:pt x="50" y="7"/>
                  </a:cubicBezTo>
                  <a:cubicBezTo>
                    <a:pt x="50" y="7"/>
                    <a:pt x="50" y="7"/>
                    <a:pt x="50" y="7"/>
                  </a:cubicBezTo>
                  <a:cubicBezTo>
                    <a:pt x="51" y="6"/>
                    <a:pt x="52" y="4"/>
                    <a:pt x="52" y="2"/>
                  </a:cubicBezTo>
                  <a:cubicBezTo>
                    <a:pt x="52" y="2"/>
                    <a:pt x="51" y="2"/>
                    <a:pt x="50" y="2"/>
                  </a:cubicBezTo>
                  <a:cubicBezTo>
                    <a:pt x="49" y="2"/>
                    <a:pt x="48" y="2"/>
                    <a:pt x="46" y="3"/>
                  </a:cubicBezTo>
                  <a:cubicBezTo>
                    <a:pt x="46" y="3"/>
                    <a:pt x="45" y="3"/>
                    <a:pt x="44" y="3"/>
                  </a:cubicBezTo>
                  <a:cubicBezTo>
                    <a:pt x="43" y="3"/>
                    <a:pt x="43" y="3"/>
                    <a:pt x="43" y="3"/>
                  </a:cubicBezTo>
                  <a:cubicBezTo>
                    <a:pt x="41" y="2"/>
                    <a:pt x="41" y="2"/>
                    <a:pt x="36" y="0"/>
                  </a:cubicBezTo>
                  <a:cubicBezTo>
                    <a:pt x="36" y="0"/>
                    <a:pt x="36" y="0"/>
                    <a:pt x="36" y="1"/>
                  </a:cubicBezTo>
                  <a:cubicBezTo>
                    <a:pt x="35" y="1"/>
                    <a:pt x="35" y="2"/>
                    <a:pt x="36" y="3"/>
                  </a:cubicBezTo>
                  <a:cubicBezTo>
                    <a:pt x="36" y="3"/>
                    <a:pt x="36" y="3"/>
                    <a:pt x="36" y="3"/>
                  </a:cubicBezTo>
                  <a:cubicBezTo>
                    <a:pt x="36" y="3"/>
                    <a:pt x="36" y="3"/>
                    <a:pt x="36" y="3"/>
                  </a:cubicBezTo>
                  <a:cubicBezTo>
                    <a:pt x="36" y="3"/>
                    <a:pt x="36" y="3"/>
                    <a:pt x="36" y="3"/>
                  </a:cubicBezTo>
                  <a:cubicBezTo>
                    <a:pt x="35" y="4"/>
                    <a:pt x="35" y="4"/>
                    <a:pt x="35" y="4"/>
                  </a:cubicBezTo>
                  <a:cubicBezTo>
                    <a:pt x="35" y="4"/>
                    <a:pt x="35" y="4"/>
                    <a:pt x="35" y="4"/>
                  </a:cubicBezTo>
                  <a:cubicBezTo>
                    <a:pt x="35" y="4"/>
                    <a:pt x="35" y="4"/>
                    <a:pt x="35" y="4"/>
                  </a:cubicBezTo>
                  <a:cubicBezTo>
                    <a:pt x="35" y="4"/>
                    <a:pt x="35" y="4"/>
                    <a:pt x="35" y="4"/>
                  </a:cubicBezTo>
                  <a:cubicBezTo>
                    <a:pt x="35" y="4"/>
                    <a:pt x="35" y="5"/>
                    <a:pt x="35" y="5"/>
                  </a:cubicBezTo>
                  <a:cubicBezTo>
                    <a:pt x="35" y="5"/>
                    <a:pt x="35" y="5"/>
                    <a:pt x="35" y="5"/>
                  </a:cubicBezTo>
                  <a:cubicBezTo>
                    <a:pt x="35" y="6"/>
                    <a:pt x="35" y="6"/>
                    <a:pt x="35" y="6"/>
                  </a:cubicBezTo>
                  <a:cubicBezTo>
                    <a:pt x="34" y="7"/>
                    <a:pt x="34" y="7"/>
                    <a:pt x="34" y="7"/>
                  </a:cubicBezTo>
                  <a:cubicBezTo>
                    <a:pt x="34" y="7"/>
                    <a:pt x="34" y="7"/>
                    <a:pt x="34" y="7"/>
                  </a:cubicBezTo>
                  <a:cubicBezTo>
                    <a:pt x="34" y="7"/>
                    <a:pt x="34" y="7"/>
                    <a:pt x="34" y="7"/>
                  </a:cubicBezTo>
                  <a:cubicBezTo>
                    <a:pt x="34" y="6"/>
                    <a:pt x="34" y="6"/>
                    <a:pt x="34" y="6"/>
                  </a:cubicBezTo>
                  <a:cubicBezTo>
                    <a:pt x="33" y="6"/>
                    <a:pt x="33" y="6"/>
                    <a:pt x="32" y="5"/>
                  </a:cubicBezTo>
                  <a:cubicBezTo>
                    <a:pt x="32" y="5"/>
                    <a:pt x="32" y="5"/>
                    <a:pt x="32" y="5"/>
                  </a:cubicBezTo>
                  <a:cubicBezTo>
                    <a:pt x="31" y="5"/>
                    <a:pt x="31" y="5"/>
                    <a:pt x="30" y="5"/>
                  </a:cubicBezTo>
                  <a:cubicBezTo>
                    <a:pt x="30" y="6"/>
                    <a:pt x="30" y="6"/>
                    <a:pt x="30" y="6"/>
                  </a:cubicBezTo>
                  <a:cubicBezTo>
                    <a:pt x="30" y="7"/>
                    <a:pt x="30" y="7"/>
                    <a:pt x="30" y="7"/>
                  </a:cubicBezTo>
                  <a:cubicBezTo>
                    <a:pt x="30" y="7"/>
                    <a:pt x="30" y="8"/>
                    <a:pt x="28" y="9"/>
                  </a:cubicBezTo>
                  <a:cubicBezTo>
                    <a:pt x="27" y="8"/>
                    <a:pt x="27" y="8"/>
                    <a:pt x="27" y="8"/>
                  </a:cubicBezTo>
                  <a:cubicBezTo>
                    <a:pt x="26" y="8"/>
                    <a:pt x="26" y="9"/>
                    <a:pt x="26" y="9"/>
                  </a:cubicBezTo>
                  <a:cubicBezTo>
                    <a:pt x="26" y="10"/>
                    <a:pt x="26" y="10"/>
                    <a:pt x="28" y="10"/>
                  </a:cubicBezTo>
                  <a:cubicBezTo>
                    <a:pt x="29" y="10"/>
                    <a:pt x="29" y="11"/>
                    <a:pt x="30" y="11"/>
                  </a:cubicBezTo>
                  <a:cubicBezTo>
                    <a:pt x="30" y="11"/>
                    <a:pt x="30" y="11"/>
                    <a:pt x="30" y="11"/>
                  </a:cubicBezTo>
                  <a:cubicBezTo>
                    <a:pt x="31" y="11"/>
                    <a:pt x="31" y="11"/>
                    <a:pt x="31" y="11"/>
                  </a:cubicBezTo>
                  <a:cubicBezTo>
                    <a:pt x="32" y="11"/>
                    <a:pt x="32" y="11"/>
                    <a:pt x="32" y="11"/>
                  </a:cubicBezTo>
                  <a:cubicBezTo>
                    <a:pt x="33" y="11"/>
                    <a:pt x="33" y="11"/>
                    <a:pt x="33" y="11"/>
                  </a:cubicBezTo>
                  <a:cubicBezTo>
                    <a:pt x="33" y="12"/>
                    <a:pt x="33" y="12"/>
                    <a:pt x="33" y="12"/>
                  </a:cubicBezTo>
                  <a:cubicBezTo>
                    <a:pt x="31" y="12"/>
                    <a:pt x="31" y="12"/>
                    <a:pt x="31" y="12"/>
                  </a:cubicBezTo>
                  <a:cubicBezTo>
                    <a:pt x="31" y="12"/>
                    <a:pt x="31" y="13"/>
                    <a:pt x="30" y="13"/>
                  </a:cubicBezTo>
                  <a:cubicBezTo>
                    <a:pt x="30" y="14"/>
                    <a:pt x="30" y="14"/>
                    <a:pt x="30" y="14"/>
                  </a:cubicBezTo>
                  <a:cubicBezTo>
                    <a:pt x="29" y="15"/>
                    <a:pt x="29" y="15"/>
                    <a:pt x="29" y="15"/>
                  </a:cubicBezTo>
                  <a:cubicBezTo>
                    <a:pt x="29" y="14"/>
                    <a:pt x="29" y="14"/>
                    <a:pt x="29" y="14"/>
                  </a:cubicBezTo>
                  <a:cubicBezTo>
                    <a:pt x="28" y="14"/>
                    <a:pt x="27" y="14"/>
                    <a:pt x="26" y="14"/>
                  </a:cubicBezTo>
                  <a:cubicBezTo>
                    <a:pt x="24" y="13"/>
                    <a:pt x="24" y="13"/>
                    <a:pt x="24" y="13"/>
                  </a:cubicBezTo>
                  <a:cubicBezTo>
                    <a:pt x="22" y="13"/>
                    <a:pt x="18" y="12"/>
                    <a:pt x="15" y="11"/>
                  </a:cubicBezTo>
                  <a:cubicBezTo>
                    <a:pt x="15" y="11"/>
                    <a:pt x="14" y="11"/>
                    <a:pt x="13" y="11"/>
                  </a:cubicBezTo>
                  <a:cubicBezTo>
                    <a:pt x="12" y="10"/>
                    <a:pt x="12" y="10"/>
                    <a:pt x="12" y="10"/>
                  </a:cubicBezTo>
                  <a:cubicBezTo>
                    <a:pt x="11" y="11"/>
                    <a:pt x="11" y="11"/>
                    <a:pt x="11" y="11"/>
                  </a:cubicBezTo>
                  <a:cubicBezTo>
                    <a:pt x="12" y="11"/>
                    <a:pt x="12" y="12"/>
                    <a:pt x="13" y="12"/>
                  </a:cubicBezTo>
                  <a:cubicBezTo>
                    <a:pt x="13" y="12"/>
                    <a:pt x="13" y="12"/>
                    <a:pt x="13" y="12"/>
                  </a:cubicBezTo>
                  <a:cubicBezTo>
                    <a:pt x="14" y="13"/>
                    <a:pt x="14" y="15"/>
                    <a:pt x="16" y="16"/>
                  </a:cubicBezTo>
                  <a:cubicBezTo>
                    <a:pt x="17" y="16"/>
                    <a:pt x="18" y="16"/>
                    <a:pt x="20" y="16"/>
                  </a:cubicBezTo>
                  <a:cubicBezTo>
                    <a:pt x="23" y="16"/>
                    <a:pt x="28" y="17"/>
                    <a:pt x="31" y="19"/>
                  </a:cubicBezTo>
                  <a:cubicBezTo>
                    <a:pt x="32" y="20"/>
                    <a:pt x="32" y="20"/>
                    <a:pt x="32" y="20"/>
                  </a:cubicBezTo>
                  <a:cubicBezTo>
                    <a:pt x="32" y="20"/>
                    <a:pt x="32" y="20"/>
                    <a:pt x="32" y="20"/>
                  </a:cubicBezTo>
                  <a:cubicBezTo>
                    <a:pt x="32" y="20"/>
                    <a:pt x="32" y="20"/>
                    <a:pt x="32" y="20"/>
                  </a:cubicBezTo>
                  <a:cubicBezTo>
                    <a:pt x="32" y="20"/>
                    <a:pt x="32" y="20"/>
                    <a:pt x="32" y="20"/>
                  </a:cubicBezTo>
                  <a:cubicBezTo>
                    <a:pt x="31" y="20"/>
                    <a:pt x="31" y="20"/>
                    <a:pt x="31" y="20"/>
                  </a:cubicBezTo>
                  <a:cubicBezTo>
                    <a:pt x="30" y="20"/>
                    <a:pt x="30" y="21"/>
                    <a:pt x="30" y="21"/>
                  </a:cubicBezTo>
                  <a:cubicBezTo>
                    <a:pt x="29" y="21"/>
                    <a:pt x="29" y="21"/>
                    <a:pt x="29" y="21"/>
                  </a:cubicBezTo>
                  <a:cubicBezTo>
                    <a:pt x="26" y="20"/>
                    <a:pt x="26" y="20"/>
                    <a:pt x="24" y="20"/>
                  </a:cubicBezTo>
                  <a:cubicBezTo>
                    <a:pt x="23" y="19"/>
                    <a:pt x="22" y="18"/>
                    <a:pt x="21" y="18"/>
                  </a:cubicBezTo>
                  <a:cubicBezTo>
                    <a:pt x="21" y="18"/>
                    <a:pt x="20" y="19"/>
                    <a:pt x="19" y="19"/>
                  </a:cubicBezTo>
                  <a:cubicBezTo>
                    <a:pt x="19" y="19"/>
                    <a:pt x="19" y="19"/>
                    <a:pt x="19" y="19"/>
                  </a:cubicBezTo>
                  <a:cubicBezTo>
                    <a:pt x="19" y="19"/>
                    <a:pt x="19" y="19"/>
                    <a:pt x="19" y="19"/>
                  </a:cubicBezTo>
                  <a:cubicBezTo>
                    <a:pt x="19" y="20"/>
                    <a:pt x="19" y="20"/>
                    <a:pt x="19" y="20"/>
                  </a:cubicBezTo>
                  <a:cubicBezTo>
                    <a:pt x="18" y="19"/>
                    <a:pt x="18" y="19"/>
                    <a:pt x="18" y="19"/>
                  </a:cubicBezTo>
                  <a:cubicBezTo>
                    <a:pt x="18" y="19"/>
                    <a:pt x="18" y="19"/>
                    <a:pt x="17" y="19"/>
                  </a:cubicBezTo>
                  <a:cubicBezTo>
                    <a:pt x="16" y="19"/>
                    <a:pt x="15" y="18"/>
                    <a:pt x="14" y="18"/>
                  </a:cubicBezTo>
                  <a:cubicBezTo>
                    <a:pt x="10" y="17"/>
                    <a:pt x="7" y="16"/>
                    <a:pt x="4" y="14"/>
                  </a:cubicBezTo>
                  <a:cubicBezTo>
                    <a:pt x="3" y="13"/>
                    <a:pt x="3" y="13"/>
                    <a:pt x="2" y="12"/>
                  </a:cubicBezTo>
                  <a:cubicBezTo>
                    <a:pt x="2" y="12"/>
                    <a:pt x="2" y="12"/>
                    <a:pt x="2" y="12"/>
                  </a:cubicBezTo>
                  <a:cubicBezTo>
                    <a:pt x="2" y="12"/>
                    <a:pt x="2" y="12"/>
                    <a:pt x="2" y="12"/>
                  </a:cubicBezTo>
                  <a:cubicBezTo>
                    <a:pt x="2" y="11"/>
                    <a:pt x="2" y="11"/>
                    <a:pt x="2" y="11"/>
                  </a:cubicBezTo>
                  <a:cubicBezTo>
                    <a:pt x="1" y="11"/>
                    <a:pt x="1" y="12"/>
                    <a:pt x="0" y="12"/>
                  </a:cubicBezTo>
                  <a:cubicBezTo>
                    <a:pt x="0" y="14"/>
                    <a:pt x="2" y="19"/>
                    <a:pt x="3" y="20"/>
                  </a:cubicBezTo>
                  <a:cubicBezTo>
                    <a:pt x="4" y="20"/>
                    <a:pt x="5" y="21"/>
                    <a:pt x="6" y="21"/>
                  </a:cubicBezTo>
                  <a:cubicBezTo>
                    <a:pt x="8" y="21"/>
                    <a:pt x="11" y="22"/>
                    <a:pt x="12" y="23"/>
                  </a:cubicBezTo>
                  <a:cubicBezTo>
                    <a:pt x="13" y="23"/>
                    <a:pt x="13" y="23"/>
                    <a:pt x="13" y="23"/>
                  </a:cubicBezTo>
                  <a:cubicBezTo>
                    <a:pt x="13" y="23"/>
                    <a:pt x="13" y="23"/>
                    <a:pt x="13" y="23"/>
                  </a:cubicBezTo>
                  <a:cubicBezTo>
                    <a:pt x="13" y="23"/>
                    <a:pt x="13" y="23"/>
                    <a:pt x="13" y="23"/>
                  </a:cubicBezTo>
                  <a:cubicBezTo>
                    <a:pt x="13" y="24"/>
                    <a:pt x="13" y="24"/>
                    <a:pt x="13" y="24"/>
                  </a:cubicBezTo>
                  <a:cubicBezTo>
                    <a:pt x="12" y="25"/>
                    <a:pt x="11" y="26"/>
                    <a:pt x="10" y="26"/>
                  </a:cubicBezTo>
                  <a:cubicBezTo>
                    <a:pt x="10" y="27"/>
                    <a:pt x="10" y="27"/>
                    <a:pt x="10" y="27"/>
                  </a:cubicBezTo>
                  <a:cubicBezTo>
                    <a:pt x="10" y="27"/>
                    <a:pt x="9" y="27"/>
                    <a:pt x="9" y="27"/>
                  </a:cubicBezTo>
                  <a:cubicBezTo>
                    <a:pt x="9" y="27"/>
                    <a:pt x="9" y="27"/>
                    <a:pt x="9" y="27"/>
                  </a:cubicBezTo>
                  <a:cubicBezTo>
                    <a:pt x="9" y="28"/>
                    <a:pt x="8" y="28"/>
                    <a:pt x="8" y="28"/>
                  </a:cubicBezTo>
                  <a:cubicBezTo>
                    <a:pt x="7" y="28"/>
                    <a:pt x="5" y="27"/>
                    <a:pt x="4" y="26"/>
                  </a:cubicBezTo>
                  <a:cubicBezTo>
                    <a:pt x="4" y="26"/>
                    <a:pt x="3" y="26"/>
                    <a:pt x="3" y="26"/>
                  </a:cubicBezTo>
                  <a:cubicBezTo>
                    <a:pt x="3" y="26"/>
                    <a:pt x="3" y="26"/>
                    <a:pt x="3" y="26"/>
                  </a:cubicBezTo>
                  <a:cubicBezTo>
                    <a:pt x="4" y="29"/>
                    <a:pt x="6" y="31"/>
                    <a:pt x="9" y="33"/>
                  </a:cubicBezTo>
                  <a:cubicBezTo>
                    <a:pt x="9" y="34"/>
                    <a:pt x="9" y="34"/>
                    <a:pt x="9" y="34"/>
                  </a:cubicBezTo>
                  <a:cubicBezTo>
                    <a:pt x="10" y="34"/>
                    <a:pt x="10" y="34"/>
                    <a:pt x="10" y="34"/>
                  </a:cubicBezTo>
                  <a:cubicBezTo>
                    <a:pt x="10" y="34"/>
                    <a:pt x="10" y="34"/>
                    <a:pt x="10" y="34"/>
                  </a:cubicBezTo>
                  <a:cubicBezTo>
                    <a:pt x="12" y="34"/>
                    <a:pt x="15" y="31"/>
                    <a:pt x="16" y="29"/>
                  </a:cubicBezTo>
                  <a:cubicBezTo>
                    <a:pt x="16" y="29"/>
                    <a:pt x="17" y="28"/>
                    <a:pt x="17" y="28"/>
                  </a:cubicBezTo>
                  <a:cubicBezTo>
                    <a:pt x="18" y="28"/>
                    <a:pt x="18" y="28"/>
                    <a:pt x="18" y="28"/>
                  </a:cubicBezTo>
                  <a:cubicBezTo>
                    <a:pt x="19" y="27"/>
                    <a:pt x="19" y="27"/>
                    <a:pt x="19" y="27"/>
                  </a:cubicBezTo>
                  <a:cubicBezTo>
                    <a:pt x="19" y="27"/>
                    <a:pt x="19" y="27"/>
                    <a:pt x="19" y="27"/>
                  </a:cubicBezTo>
                  <a:cubicBezTo>
                    <a:pt x="21" y="27"/>
                    <a:pt x="22" y="27"/>
                    <a:pt x="23" y="28"/>
                  </a:cubicBezTo>
                  <a:cubicBezTo>
                    <a:pt x="24" y="28"/>
                    <a:pt x="25" y="26"/>
                    <a:pt x="25" y="25"/>
                  </a:cubicBezTo>
                  <a:cubicBezTo>
                    <a:pt x="25" y="25"/>
                    <a:pt x="25" y="25"/>
                    <a:pt x="25" y="25"/>
                  </a:cubicBezTo>
                  <a:cubicBezTo>
                    <a:pt x="24" y="24"/>
                    <a:pt x="23" y="23"/>
                    <a:pt x="22" y="23"/>
                  </a:cubicBezTo>
                  <a:cubicBezTo>
                    <a:pt x="22" y="23"/>
                    <a:pt x="22" y="23"/>
                    <a:pt x="22" y="23"/>
                  </a:cubicBezTo>
                  <a:cubicBezTo>
                    <a:pt x="22" y="22"/>
                    <a:pt x="22" y="22"/>
                    <a:pt x="22" y="22"/>
                  </a:cubicBezTo>
                  <a:cubicBezTo>
                    <a:pt x="23" y="21"/>
                    <a:pt x="23" y="21"/>
                    <a:pt x="23" y="21"/>
                  </a:cubicBezTo>
                  <a:cubicBezTo>
                    <a:pt x="23" y="20"/>
                    <a:pt x="23" y="20"/>
                    <a:pt x="23" y="20"/>
                  </a:cubicBezTo>
                  <a:cubicBezTo>
                    <a:pt x="24" y="20"/>
                    <a:pt x="24" y="20"/>
                    <a:pt x="24" y="20"/>
                  </a:cubicBezTo>
                  <a:cubicBezTo>
                    <a:pt x="26" y="21"/>
                    <a:pt x="28" y="22"/>
                    <a:pt x="30" y="22"/>
                  </a:cubicBezTo>
                  <a:cubicBezTo>
                    <a:pt x="32" y="23"/>
                    <a:pt x="32" y="23"/>
                    <a:pt x="32" y="23"/>
                  </a:cubicBezTo>
                  <a:cubicBezTo>
                    <a:pt x="33" y="23"/>
                    <a:pt x="33" y="23"/>
                    <a:pt x="33" y="23"/>
                  </a:cubicBezTo>
                  <a:cubicBezTo>
                    <a:pt x="34" y="24"/>
                    <a:pt x="35" y="25"/>
                    <a:pt x="36" y="25"/>
                  </a:cubicBezTo>
                  <a:cubicBezTo>
                    <a:pt x="36" y="25"/>
                    <a:pt x="37" y="25"/>
                    <a:pt x="37" y="25"/>
                  </a:cubicBezTo>
                  <a:cubicBezTo>
                    <a:pt x="38" y="23"/>
                    <a:pt x="39" y="22"/>
                    <a:pt x="39" y="21"/>
                  </a:cubicBezTo>
                  <a:cubicBezTo>
                    <a:pt x="39" y="21"/>
                    <a:pt x="39" y="21"/>
                    <a:pt x="39" y="21"/>
                  </a:cubicBezTo>
                  <a:cubicBezTo>
                    <a:pt x="39" y="21"/>
                    <a:pt x="40" y="21"/>
                    <a:pt x="40" y="21"/>
                  </a:cubicBezTo>
                  <a:cubicBezTo>
                    <a:pt x="39" y="21"/>
                    <a:pt x="39" y="21"/>
                    <a:pt x="39" y="21"/>
                  </a:cubicBezTo>
                  <a:cubicBezTo>
                    <a:pt x="39" y="20"/>
                    <a:pt x="39" y="20"/>
                    <a:pt x="39" y="20"/>
                  </a:cubicBezTo>
                  <a:cubicBezTo>
                    <a:pt x="39" y="20"/>
                    <a:pt x="40" y="20"/>
                    <a:pt x="40" y="20"/>
                  </a:cubicBezTo>
                  <a:cubicBezTo>
                    <a:pt x="43" y="19"/>
                    <a:pt x="47" y="17"/>
                    <a:pt x="50" y="16"/>
                  </a:cubicBezTo>
                  <a:cubicBezTo>
                    <a:pt x="51" y="15"/>
                    <a:pt x="52" y="15"/>
                    <a:pt x="51" y="14"/>
                  </a:cubicBezTo>
                  <a:cubicBezTo>
                    <a:pt x="51" y="13"/>
                    <a:pt x="51" y="13"/>
                    <a:pt x="51" y="13"/>
                  </a:cubicBezTo>
                  <a:moveTo>
                    <a:pt x="37" y="15"/>
                  </a:moveTo>
                  <a:cubicBezTo>
                    <a:pt x="38" y="14"/>
                    <a:pt x="38" y="14"/>
                    <a:pt x="38" y="14"/>
                  </a:cubicBezTo>
                  <a:cubicBezTo>
                    <a:pt x="39" y="13"/>
                    <a:pt x="39" y="13"/>
                    <a:pt x="39" y="13"/>
                  </a:cubicBezTo>
                  <a:cubicBezTo>
                    <a:pt x="39" y="13"/>
                    <a:pt x="39" y="12"/>
                    <a:pt x="38" y="12"/>
                  </a:cubicBezTo>
                  <a:cubicBezTo>
                    <a:pt x="38" y="12"/>
                    <a:pt x="38" y="12"/>
                    <a:pt x="38" y="12"/>
                  </a:cubicBezTo>
                  <a:cubicBezTo>
                    <a:pt x="38" y="12"/>
                    <a:pt x="38" y="12"/>
                    <a:pt x="38" y="12"/>
                  </a:cubicBezTo>
                  <a:cubicBezTo>
                    <a:pt x="37" y="12"/>
                    <a:pt x="37" y="12"/>
                    <a:pt x="37" y="12"/>
                  </a:cubicBezTo>
                  <a:cubicBezTo>
                    <a:pt x="36" y="11"/>
                    <a:pt x="36" y="11"/>
                    <a:pt x="36" y="11"/>
                  </a:cubicBezTo>
                  <a:cubicBezTo>
                    <a:pt x="36" y="11"/>
                    <a:pt x="36" y="11"/>
                    <a:pt x="36" y="11"/>
                  </a:cubicBezTo>
                  <a:cubicBezTo>
                    <a:pt x="37" y="10"/>
                    <a:pt x="37" y="10"/>
                    <a:pt x="37" y="10"/>
                  </a:cubicBezTo>
                  <a:cubicBezTo>
                    <a:pt x="36" y="10"/>
                    <a:pt x="36" y="10"/>
                    <a:pt x="36" y="10"/>
                  </a:cubicBezTo>
                  <a:cubicBezTo>
                    <a:pt x="37" y="10"/>
                    <a:pt x="37" y="10"/>
                    <a:pt x="37" y="10"/>
                  </a:cubicBezTo>
                  <a:cubicBezTo>
                    <a:pt x="40" y="9"/>
                    <a:pt x="40" y="9"/>
                    <a:pt x="40" y="9"/>
                  </a:cubicBezTo>
                  <a:cubicBezTo>
                    <a:pt x="40" y="9"/>
                    <a:pt x="40" y="9"/>
                    <a:pt x="40" y="9"/>
                  </a:cubicBezTo>
                  <a:cubicBezTo>
                    <a:pt x="41" y="9"/>
                    <a:pt x="41" y="9"/>
                    <a:pt x="41" y="9"/>
                  </a:cubicBezTo>
                  <a:cubicBezTo>
                    <a:pt x="41" y="10"/>
                    <a:pt x="43" y="11"/>
                    <a:pt x="43" y="13"/>
                  </a:cubicBezTo>
                  <a:cubicBezTo>
                    <a:pt x="43" y="14"/>
                    <a:pt x="43" y="14"/>
                    <a:pt x="43" y="14"/>
                  </a:cubicBezTo>
                  <a:cubicBezTo>
                    <a:pt x="42" y="15"/>
                    <a:pt x="40" y="16"/>
                    <a:pt x="38" y="16"/>
                  </a:cubicBezTo>
                  <a:cubicBezTo>
                    <a:pt x="38" y="16"/>
                    <a:pt x="38" y="16"/>
                    <a:pt x="38" y="16"/>
                  </a:cubicBezTo>
                  <a:cubicBezTo>
                    <a:pt x="38" y="15"/>
                    <a:pt x="38" y="15"/>
                    <a:pt x="38" y="15"/>
                  </a:cubicBezTo>
                  <a:cubicBezTo>
                    <a:pt x="37" y="15"/>
                    <a:pt x="37" y="15"/>
                    <a:pt x="37" y="15"/>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dirty="0"/>
            </a:p>
          </p:txBody>
        </p:sp>
        <p:sp>
          <p:nvSpPr>
            <p:cNvPr id="45" name="Freeform 138">
              <a:extLst>
                <a:ext uri="{FF2B5EF4-FFF2-40B4-BE49-F238E27FC236}">
                  <a16:creationId xmlns:a16="http://schemas.microsoft.com/office/drawing/2014/main" id="{4CDFC31A-1071-4CF3-A4E0-72FB37B40058}"/>
                </a:ext>
              </a:extLst>
            </p:cNvPr>
            <p:cNvSpPr>
              <a:spLocks/>
            </p:cNvSpPr>
            <p:nvPr userDrawn="1"/>
          </p:nvSpPr>
          <p:spPr bwMode="auto">
            <a:xfrm>
              <a:off x="6194063" y="2940552"/>
              <a:ext cx="75630" cy="143697"/>
            </a:xfrm>
            <a:custGeom>
              <a:avLst/>
              <a:gdLst>
                <a:gd name="T0" fmla="*/ 2 w 8"/>
                <a:gd name="T1" fmla="*/ 15 h 15"/>
                <a:gd name="T2" fmla="*/ 0 w 8"/>
                <a:gd name="T3" fmla="*/ 14 h 15"/>
                <a:gd name="T4" fmla="*/ 2 w 8"/>
                <a:gd name="T5" fmla="*/ 9 h 15"/>
                <a:gd name="T6" fmla="*/ 3 w 8"/>
                <a:gd name="T7" fmla="*/ 8 h 15"/>
                <a:gd name="T8" fmla="*/ 3 w 8"/>
                <a:gd name="T9" fmla="*/ 8 h 15"/>
                <a:gd name="T10" fmla="*/ 3 w 8"/>
                <a:gd name="T11" fmla="*/ 7 h 15"/>
                <a:gd name="T12" fmla="*/ 4 w 8"/>
                <a:gd name="T13" fmla="*/ 5 h 15"/>
                <a:gd name="T14" fmla="*/ 5 w 8"/>
                <a:gd name="T15" fmla="*/ 4 h 15"/>
                <a:gd name="T16" fmla="*/ 7 w 8"/>
                <a:gd name="T17" fmla="*/ 0 h 15"/>
                <a:gd name="T18" fmla="*/ 8 w 8"/>
                <a:gd name="T19" fmla="*/ 1 h 15"/>
                <a:gd name="T20" fmla="*/ 8 w 8"/>
                <a:gd name="T21" fmla="*/ 2 h 15"/>
                <a:gd name="T22" fmla="*/ 8 w 8"/>
                <a:gd name="T23" fmla="*/ 2 h 15"/>
                <a:gd name="T24" fmla="*/ 8 w 8"/>
                <a:gd name="T25" fmla="*/ 3 h 15"/>
                <a:gd name="T26" fmla="*/ 8 w 8"/>
                <a:gd name="T27" fmla="*/ 7 h 15"/>
                <a:gd name="T28" fmla="*/ 8 w 8"/>
                <a:gd name="T29" fmla="*/ 8 h 15"/>
                <a:gd name="T30" fmla="*/ 8 w 8"/>
                <a:gd name="T31" fmla="*/ 9 h 15"/>
                <a:gd name="T32" fmla="*/ 6 w 8"/>
                <a:gd name="T33" fmla="*/ 13 h 15"/>
                <a:gd name="T34" fmla="*/ 5 w 8"/>
                <a:gd name="T35" fmla="*/ 14 h 15"/>
                <a:gd name="T36" fmla="*/ 5 w 8"/>
                <a:gd name="T37" fmla="*/ 14 h 15"/>
                <a:gd name="T38" fmla="*/ 3 w 8"/>
                <a:gd name="T39" fmla="*/ 15 h 15"/>
                <a:gd name="T40" fmla="*/ 2 w 8"/>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 h="15">
                  <a:moveTo>
                    <a:pt x="2" y="15"/>
                  </a:moveTo>
                  <a:cubicBezTo>
                    <a:pt x="2" y="15"/>
                    <a:pt x="1" y="14"/>
                    <a:pt x="0" y="14"/>
                  </a:cubicBezTo>
                  <a:cubicBezTo>
                    <a:pt x="0" y="12"/>
                    <a:pt x="1" y="11"/>
                    <a:pt x="2" y="9"/>
                  </a:cubicBezTo>
                  <a:cubicBezTo>
                    <a:pt x="2" y="9"/>
                    <a:pt x="3" y="8"/>
                    <a:pt x="3" y="8"/>
                  </a:cubicBezTo>
                  <a:cubicBezTo>
                    <a:pt x="3" y="8"/>
                    <a:pt x="3" y="8"/>
                    <a:pt x="3" y="8"/>
                  </a:cubicBezTo>
                  <a:cubicBezTo>
                    <a:pt x="3" y="7"/>
                    <a:pt x="3" y="7"/>
                    <a:pt x="3" y="7"/>
                  </a:cubicBezTo>
                  <a:cubicBezTo>
                    <a:pt x="4" y="7"/>
                    <a:pt x="4" y="6"/>
                    <a:pt x="4" y="5"/>
                  </a:cubicBezTo>
                  <a:cubicBezTo>
                    <a:pt x="4" y="5"/>
                    <a:pt x="4" y="4"/>
                    <a:pt x="5" y="4"/>
                  </a:cubicBezTo>
                  <a:cubicBezTo>
                    <a:pt x="5" y="2"/>
                    <a:pt x="6" y="0"/>
                    <a:pt x="7" y="0"/>
                  </a:cubicBezTo>
                  <a:cubicBezTo>
                    <a:pt x="7" y="0"/>
                    <a:pt x="8" y="0"/>
                    <a:pt x="8" y="1"/>
                  </a:cubicBezTo>
                  <a:cubicBezTo>
                    <a:pt x="8" y="1"/>
                    <a:pt x="8" y="1"/>
                    <a:pt x="8" y="2"/>
                  </a:cubicBezTo>
                  <a:cubicBezTo>
                    <a:pt x="8" y="2"/>
                    <a:pt x="8" y="2"/>
                    <a:pt x="8" y="2"/>
                  </a:cubicBezTo>
                  <a:cubicBezTo>
                    <a:pt x="8" y="3"/>
                    <a:pt x="8" y="3"/>
                    <a:pt x="8" y="3"/>
                  </a:cubicBezTo>
                  <a:cubicBezTo>
                    <a:pt x="8" y="5"/>
                    <a:pt x="8" y="6"/>
                    <a:pt x="8" y="7"/>
                  </a:cubicBezTo>
                  <a:cubicBezTo>
                    <a:pt x="8" y="8"/>
                    <a:pt x="8" y="8"/>
                    <a:pt x="8" y="8"/>
                  </a:cubicBezTo>
                  <a:cubicBezTo>
                    <a:pt x="8" y="8"/>
                    <a:pt x="8" y="9"/>
                    <a:pt x="8" y="9"/>
                  </a:cubicBezTo>
                  <a:cubicBezTo>
                    <a:pt x="7" y="11"/>
                    <a:pt x="7" y="12"/>
                    <a:pt x="6" y="13"/>
                  </a:cubicBezTo>
                  <a:cubicBezTo>
                    <a:pt x="5" y="14"/>
                    <a:pt x="5" y="14"/>
                    <a:pt x="5" y="14"/>
                  </a:cubicBezTo>
                  <a:cubicBezTo>
                    <a:pt x="5" y="14"/>
                    <a:pt x="5" y="14"/>
                    <a:pt x="5" y="14"/>
                  </a:cubicBezTo>
                  <a:cubicBezTo>
                    <a:pt x="4" y="14"/>
                    <a:pt x="3" y="15"/>
                    <a:pt x="3" y="15"/>
                  </a:cubicBezTo>
                  <a:lnTo>
                    <a:pt x="2" y="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46" name="Freeform 139">
              <a:extLst>
                <a:ext uri="{FF2B5EF4-FFF2-40B4-BE49-F238E27FC236}">
                  <a16:creationId xmlns:a16="http://schemas.microsoft.com/office/drawing/2014/main" id="{A4D93FDB-C0E9-4F0D-B304-0EC2B1C7531A}"/>
                </a:ext>
              </a:extLst>
            </p:cNvPr>
            <p:cNvSpPr>
              <a:spLocks/>
            </p:cNvSpPr>
            <p:nvPr userDrawn="1"/>
          </p:nvSpPr>
          <p:spPr bwMode="auto">
            <a:xfrm>
              <a:off x="6194063" y="2940552"/>
              <a:ext cx="75630" cy="143697"/>
            </a:xfrm>
            <a:custGeom>
              <a:avLst/>
              <a:gdLst>
                <a:gd name="T0" fmla="*/ 2 w 8"/>
                <a:gd name="T1" fmla="*/ 15 h 15"/>
                <a:gd name="T2" fmla="*/ 3 w 8"/>
                <a:gd name="T3" fmla="*/ 15 h 15"/>
                <a:gd name="T4" fmla="*/ 5 w 8"/>
                <a:gd name="T5" fmla="*/ 14 h 15"/>
                <a:gd name="T6" fmla="*/ 5 w 8"/>
                <a:gd name="T7" fmla="*/ 14 h 15"/>
                <a:gd name="T8" fmla="*/ 6 w 8"/>
                <a:gd name="T9" fmla="*/ 13 h 15"/>
                <a:gd name="T10" fmla="*/ 8 w 8"/>
                <a:gd name="T11" fmla="*/ 9 h 15"/>
                <a:gd name="T12" fmla="*/ 8 w 8"/>
                <a:gd name="T13" fmla="*/ 8 h 15"/>
                <a:gd name="T14" fmla="*/ 8 w 8"/>
                <a:gd name="T15" fmla="*/ 7 h 15"/>
                <a:gd name="T16" fmla="*/ 8 w 8"/>
                <a:gd name="T17" fmla="*/ 3 h 15"/>
                <a:gd name="T18" fmla="*/ 8 w 8"/>
                <a:gd name="T19" fmla="*/ 2 h 15"/>
                <a:gd name="T20" fmla="*/ 8 w 8"/>
                <a:gd name="T21" fmla="*/ 2 h 15"/>
                <a:gd name="T22" fmla="*/ 8 w 8"/>
                <a:gd name="T23" fmla="*/ 2 h 15"/>
                <a:gd name="T24" fmla="*/ 8 w 8"/>
                <a:gd name="T25" fmla="*/ 1 h 15"/>
                <a:gd name="T26" fmla="*/ 7 w 8"/>
                <a:gd name="T27" fmla="*/ 0 h 15"/>
                <a:gd name="T28" fmla="*/ 5 w 8"/>
                <a:gd name="T29" fmla="*/ 4 h 15"/>
                <a:gd name="T30" fmla="*/ 4 w 8"/>
                <a:gd name="T31" fmla="*/ 5 h 15"/>
                <a:gd name="T32" fmla="*/ 3 w 8"/>
                <a:gd name="T33" fmla="*/ 7 h 15"/>
                <a:gd name="T34" fmla="*/ 3 w 8"/>
                <a:gd name="T35" fmla="*/ 8 h 15"/>
                <a:gd name="T36" fmla="*/ 3 w 8"/>
                <a:gd name="T37" fmla="*/ 8 h 15"/>
                <a:gd name="T38" fmla="*/ 2 w 8"/>
                <a:gd name="T39" fmla="*/ 9 h 15"/>
                <a:gd name="T40" fmla="*/ 0 w 8"/>
                <a:gd name="T41" fmla="*/ 14 h 15"/>
                <a:gd name="T42" fmla="*/ 2 w 8"/>
                <a:gd name="T43"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 h="15">
                  <a:moveTo>
                    <a:pt x="2" y="15"/>
                  </a:moveTo>
                  <a:cubicBezTo>
                    <a:pt x="3" y="15"/>
                    <a:pt x="3" y="15"/>
                    <a:pt x="3" y="15"/>
                  </a:cubicBezTo>
                  <a:cubicBezTo>
                    <a:pt x="3" y="15"/>
                    <a:pt x="4" y="14"/>
                    <a:pt x="5" y="14"/>
                  </a:cubicBezTo>
                  <a:cubicBezTo>
                    <a:pt x="5" y="14"/>
                    <a:pt x="5" y="14"/>
                    <a:pt x="5" y="14"/>
                  </a:cubicBezTo>
                  <a:cubicBezTo>
                    <a:pt x="6" y="13"/>
                    <a:pt x="6" y="13"/>
                    <a:pt x="6" y="13"/>
                  </a:cubicBezTo>
                  <a:cubicBezTo>
                    <a:pt x="7" y="12"/>
                    <a:pt x="7" y="10"/>
                    <a:pt x="8" y="9"/>
                  </a:cubicBezTo>
                  <a:cubicBezTo>
                    <a:pt x="8" y="9"/>
                    <a:pt x="8" y="8"/>
                    <a:pt x="8" y="8"/>
                  </a:cubicBezTo>
                  <a:cubicBezTo>
                    <a:pt x="8" y="7"/>
                    <a:pt x="8" y="7"/>
                    <a:pt x="8" y="7"/>
                  </a:cubicBezTo>
                  <a:cubicBezTo>
                    <a:pt x="8" y="6"/>
                    <a:pt x="8" y="5"/>
                    <a:pt x="8" y="3"/>
                  </a:cubicBezTo>
                  <a:cubicBezTo>
                    <a:pt x="8" y="3"/>
                    <a:pt x="8" y="3"/>
                    <a:pt x="8" y="2"/>
                  </a:cubicBezTo>
                  <a:cubicBezTo>
                    <a:pt x="8" y="2"/>
                    <a:pt x="8" y="2"/>
                    <a:pt x="8" y="2"/>
                  </a:cubicBezTo>
                  <a:cubicBezTo>
                    <a:pt x="8" y="2"/>
                    <a:pt x="8" y="2"/>
                    <a:pt x="8" y="2"/>
                  </a:cubicBezTo>
                  <a:cubicBezTo>
                    <a:pt x="8" y="1"/>
                    <a:pt x="8" y="1"/>
                    <a:pt x="8" y="1"/>
                  </a:cubicBezTo>
                  <a:cubicBezTo>
                    <a:pt x="8" y="0"/>
                    <a:pt x="7" y="0"/>
                    <a:pt x="7" y="0"/>
                  </a:cubicBezTo>
                  <a:cubicBezTo>
                    <a:pt x="6" y="0"/>
                    <a:pt x="5" y="2"/>
                    <a:pt x="5" y="4"/>
                  </a:cubicBezTo>
                  <a:cubicBezTo>
                    <a:pt x="5" y="4"/>
                    <a:pt x="4" y="5"/>
                    <a:pt x="4" y="5"/>
                  </a:cubicBezTo>
                  <a:cubicBezTo>
                    <a:pt x="4" y="6"/>
                    <a:pt x="4" y="7"/>
                    <a:pt x="3" y="7"/>
                  </a:cubicBezTo>
                  <a:cubicBezTo>
                    <a:pt x="3" y="8"/>
                    <a:pt x="3" y="8"/>
                    <a:pt x="3" y="8"/>
                  </a:cubicBezTo>
                  <a:cubicBezTo>
                    <a:pt x="3" y="8"/>
                    <a:pt x="3" y="8"/>
                    <a:pt x="3" y="8"/>
                  </a:cubicBezTo>
                  <a:cubicBezTo>
                    <a:pt x="3" y="8"/>
                    <a:pt x="2" y="9"/>
                    <a:pt x="2" y="9"/>
                  </a:cubicBezTo>
                  <a:cubicBezTo>
                    <a:pt x="1" y="11"/>
                    <a:pt x="0" y="12"/>
                    <a:pt x="0" y="14"/>
                  </a:cubicBezTo>
                  <a:cubicBezTo>
                    <a:pt x="1" y="14"/>
                    <a:pt x="2" y="15"/>
                    <a:pt x="2" y="15"/>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47" name="Freeform 140">
              <a:extLst>
                <a:ext uri="{FF2B5EF4-FFF2-40B4-BE49-F238E27FC236}">
                  <a16:creationId xmlns:a16="http://schemas.microsoft.com/office/drawing/2014/main" id="{9BEB7FDB-5870-481A-9021-4BBB67FA23C4}"/>
                </a:ext>
              </a:extLst>
            </p:cNvPr>
            <p:cNvSpPr>
              <a:spLocks/>
            </p:cNvSpPr>
            <p:nvPr userDrawn="1"/>
          </p:nvSpPr>
          <p:spPr bwMode="auto">
            <a:xfrm>
              <a:off x="6118433" y="2993493"/>
              <a:ext cx="52941" cy="68067"/>
            </a:xfrm>
            <a:custGeom>
              <a:avLst/>
              <a:gdLst>
                <a:gd name="T0" fmla="*/ 3 w 6"/>
                <a:gd name="T1" fmla="*/ 7 h 7"/>
                <a:gd name="T2" fmla="*/ 1 w 6"/>
                <a:gd name="T3" fmla="*/ 6 h 7"/>
                <a:gd name="T4" fmla="*/ 5 w 6"/>
                <a:gd name="T5" fmla="*/ 0 h 7"/>
                <a:gd name="T6" fmla="*/ 6 w 6"/>
                <a:gd name="T7" fmla="*/ 1 h 7"/>
                <a:gd name="T8" fmla="*/ 5 w 6"/>
                <a:gd name="T9" fmla="*/ 5 h 7"/>
                <a:gd name="T10" fmla="*/ 3 w 6"/>
                <a:gd name="T11" fmla="*/ 7 h 7"/>
              </a:gdLst>
              <a:ahLst/>
              <a:cxnLst>
                <a:cxn ang="0">
                  <a:pos x="T0" y="T1"/>
                </a:cxn>
                <a:cxn ang="0">
                  <a:pos x="T2" y="T3"/>
                </a:cxn>
                <a:cxn ang="0">
                  <a:pos x="T4" y="T5"/>
                </a:cxn>
                <a:cxn ang="0">
                  <a:pos x="T6" y="T7"/>
                </a:cxn>
                <a:cxn ang="0">
                  <a:pos x="T8" y="T9"/>
                </a:cxn>
                <a:cxn ang="0">
                  <a:pos x="T10" y="T11"/>
                </a:cxn>
              </a:cxnLst>
              <a:rect l="0" t="0" r="r" b="b"/>
              <a:pathLst>
                <a:path w="6" h="7">
                  <a:moveTo>
                    <a:pt x="3" y="7"/>
                  </a:moveTo>
                  <a:cubicBezTo>
                    <a:pt x="3" y="7"/>
                    <a:pt x="2" y="6"/>
                    <a:pt x="1" y="6"/>
                  </a:cubicBezTo>
                  <a:cubicBezTo>
                    <a:pt x="0" y="3"/>
                    <a:pt x="4" y="0"/>
                    <a:pt x="5" y="0"/>
                  </a:cubicBezTo>
                  <a:cubicBezTo>
                    <a:pt x="5" y="0"/>
                    <a:pt x="6" y="1"/>
                    <a:pt x="6" y="1"/>
                  </a:cubicBezTo>
                  <a:cubicBezTo>
                    <a:pt x="6" y="2"/>
                    <a:pt x="6" y="4"/>
                    <a:pt x="5" y="5"/>
                  </a:cubicBezTo>
                  <a:cubicBezTo>
                    <a:pt x="4" y="6"/>
                    <a:pt x="3" y="7"/>
                    <a:pt x="3" y="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48" name="Freeform 141">
              <a:extLst>
                <a:ext uri="{FF2B5EF4-FFF2-40B4-BE49-F238E27FC236}">
                  <a16:creationId xmlns:a16="http://schemas.microsoft.com/office/drawing/2014/main" id="{BFD481FF-5CF2-4A0E-8664-D727A0D2C569}"/>
                </a:ext>
              </a:extLst>
            </p:cNvPr>
            <p:cNvSpPr>
              <a:spLocks/>
            </p:cNvSpPr>
            <p:nvPr userDrawn="1"/>
          </p:nvSpPr>
          <p:spPr bwMode="auto">
            <a:xfrm>
              <a:off x="6118433" y="2993493"/>
              <a:ext cx="52941" cy="68067"/>
            </a:xfrm>
            <a:custGeom>
              <a:avLst/>
              <a:gdLst>
                <a:gd name="T0" fmla="*/ 3 w 6"/>
                <a:gd name="T1" fmla="*/ 7 h 7"/>
                <a:gd name="T2" fmla="*/ 3 w 6"/>
                <a:gd name="T3" fmla="*/ 7 h 7"/>
                <a:gd name="T4" fmla="*/ 5 w 6"/>
                <a:gd name="T5" fmla="*/ 5 h 7"/>
                <a:gd name="T6" fmla="*/ 6 w 6"/>
                <a:gd name="T7" fmla="*/ 1 h 7"/>
                <a:gd name="T8" fmla="*/ 5 w 6"/>
                <a:gd name="T9" fmla="*/ 0 h 7"/>
                <a:gd name="T10" fmla="*/ 1 w 6"/>
                <a:gd name="T11" fmla="*/ 6 h 7"/>
                <a:gd name="T12" fmla="*/ 3 w 6"/>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6" h="7">
                  <a:moveTo>
                    <a:pt x="3" y="7"/>
                  </a:moveTo>
                  <a:cubicBezTo>
                    <a:pt x="3" y="7"/>
                    <a:pt x="3" y="7"/>
                    <a:pt x="3" y="7"/>
                  </a:cubicBezTo>
                  <a:cubicBezTo>
                    <a:pt x="3" y="7"/>
                    <a:pt x="4" y="6"/>
                    <a:pt x="5" y="5"/>
                  </a:cubicBezTo>
                  <a:cubicBezTo>
                    <a:pt x="6" y="4"/>
                    <a:pt x="6" y="2"/>
                    <a:pt x="6" y="1"/>
                  </a:cubicBezTo>
                  <a:cubicBezTo>
                    <a:pt x="6" y="1"/>
                    <a:pt x="5" y="0"/>
                    <a:pt x="5" y="0"/>
                  </a:cubicBezTo>
                  <a:cubicBezTo>
                    <a:pt x="4" y="0"/>
                    <a:pt x="0" y="3"/>
                    <a:pt x="1" y="6"/>
                  </a:cubicBezTo>
                  <a:cubicBezTo>
                    <a:pt x="2" y="6"/>
                    <a:pt x="3" y="7"/>
                    <a:pt x="3" y="7"/>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grpSp>
      <p:sp>
        <p:nvSpPr>
          <p:cNvPr id="50" name="文本占位符 49">
            <a:extLst>
              <a:ext uri="{FF2B5EF4-FFF2-40B4-BE49-F238E27FC236}">
                <a16:creationId xmlns:a16="http://schemas.microsoft.com/office/drawing/2014/main" id="{83B14AAE-3F24-4D56-BD9F-745431B50034}"/>
              </a:ext>
            </a:extLst>
          </p:cNvPr>
          <p:cNvSpPr>
            <a:spLocks noGrp="1"/>
          </p:cNvSpPr>
          <p:nvPr>
            <p:ph type="body" sz="quarter" idx="11"/>
          </p:nvPr>
        </p:nvSpPr>
        <p:spPr>
          <a:xfrm>
            <a:off x="1514475" y="2442615"/>
            <a:ext cx="8734844" cy="827736"/>
          </a:xfrm>
        </p:spPr>
        <p:txBody>
          <a:bodyPr/>
          <a:lstStyle/>
          <a:p>
            <a:r>
              <a:rPr lang="en-US" altLang="zh-CN" sz="6000" dirty="0">
                <a:latin typeface="Times New Roman" panose="02020603050405020304" pitchFamily="18" charset="0"/>
                <a:cs typeface="Times New Roman" panose="02020603050405020304" pitchFamily="18" charset="0"/>
              </a:rPr>
              <a:t>DevOps</a:t>
            </a:r>
            <a:r>
              <a:rPr lang="zh-CN" altLang="en-US" sz="6000" dirty="0">
                <a:latin typeface="Times New Roman" panose="02020603050405020304" pitchFamily="18" charset="0"/>
                <a:cs typeface="Times New Roman" panose="02020603050405020304" pitchFamily="18" charset="0"/>
              </a:rPr>
              <a:t>概述</a:t>
            </a:r>
          </a:p>
        </p:txBody>
      </p:sp>
    </p:spTree>
    <p:extLst>
      <p:ext uri="{BB962C8B-B14F-4D97-AF65-F5344CB8AC3E}">
        <p14:creationId xmlns:p14="http://schemas.microsoft.com/office/powerpoint/2010/main" val="30217956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B84E9945-F3C2-4023-A547-697A62835A1F}"/>
              </a:ext>
            </a:extLst>
          </p:cNvPr>
          <p:cNvSpPr/>
          <p:nvPr/>
        </p:nvSpPr>
        <p:spPr>
          <a:xfrm>
            <a:off x="10" y="5"/>
            <a:ext cx="12191980" cy="6857990"/>
          </a:xfrm>
          <a:prstGeom prst="rect">
            <a:avLst/>
          </a:prstGeom>
          <a:blipFill dpi="0" rotWithShape="1">
            <a:blip r:embed="rId3">
              <a:alphaModFix amt="10000"/>
              <a:duotone>
                <a:schemeClr val="bg2">
                  <a:shade val="45000"/>
                  <a:satMod val="135000"/>
                </a:schemeClr>
                <a:prstClr val="white"/>
              </a:duotone>
            </a:blip>
            <a:srcRect/>
            <a:tile tx="0" ty="0" sx="60000" sy="6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00"/>
              </a:spcAft>
            </a:pPr>
            <a:endParaRPr lang="zh-CN" altLang="en-US"/>
          </a:p>
        </p:txBody>
      </p:sp>
      <p:grpSp>
        <p:nvGrpSpPr>
          <p:cNvPr id="3" name="组合 2">
            <a:extLst>
              <a:ext uri="{FF2B5EF4-FFF2-40B4-BE49-F238E27FC236}">
                <a16:creationId xmlns:a16="http://schemas.microsoft.com/office/drawing/2014/main" id="{BDEEF630-E241-47AA-BBEA-5014DEE18790}"/>
              </a:ext>
            </a:extLst>
          </p:cNvPr>
          <p:cNvGrpSpPr/>
          <p:nvPr/>
        </p:nvGrpSpPr>
        <p:grpSpPr>
          <a:xfrm>
            <a:off x="793780" y="2608487"/>
            <a:ext cx="2974123" cy="3387729"/>
            <a:chOff x="870884" y="1648624"/>
            <a:chExt cx="2974123" cy="3387729"/>
          </a:xfrm>
        </p:grpSpPr>
        <p:sp>
          <p:nvSpPr>
            <p:cNvPr id="11" name="椭圆 10">
              <a:extLst>
                <a:ext uri="{FF2B5EF4-FFF2-40B4-BE49-F238E27FC236}">
                  <a16:creationId xmlns:a16="http://schemas.microsoft.com/office/drawing/2014/main" id="{50233245-EB31-4DE9-831A-0D881E502C02}"/>
                </a:ext>
              </a:extLst>
            </p:cNvPr>
            <p:cNvSpPr/>
            <p:nvPr/>
          </p:nvSpPr>
          <p:spPr>
            <a:xfrm>
              <a:off x="870884" y="2062230"/>
              <a:ext cx="2974123" cy="297412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icrosoft YaHei"/>
                <a:cs typeface="+mn-cs"/>
              </a:endParaRPr>
            </a:p>
          </p:txBody>
        </p:sp>
        <p:pic>
          <p:nvPicPr>
            <p:cNvPr id="10" name="图片 9">
              <a:extLst>
                <a:ext uri="{FF2B5EF4-FFF2-40B4-BE49-F238E27FC236}">
                  <a16:creationId xmlns:a16="http://schemas.microsoft.com/office/drawing/2014/main" id="{3573E33A-B581-4106-913A-FFF18735F53C}"/>
                </a:ext>
              </a:extLst>
            </p:cNvPr>
            <p:cNvPicPr>
              <a:picLocks noChangeAspect="1"/>
            </p:cNvPicPr>
            <p:nvPr/>
          </p:nvPicPr>
          <p:blipFill rotWithShape="1">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r="32998"/>
            <a:stretch/>
          </p:blipFill>
          <p:spPr>
            <a:xfrm>
              <a:off x="1220247" y="1857063"/>
              <a:ext cx="1957015" cy="3160925"/>
            </a:xfrm>
            <a:prstGeom prst="rect">
              <a:avLst/>
            </a:prstGeom>
          </p:spPr>
        </p:pic>
        <p:sp>
          <p:nvSpPr>
            <p:cNvPr id="5" name="文本框 4">
              <a:extLst>
                <a:ext uri="{FF2B5EF4-FFF2-40B4-BE49-F238E27FC236}">
                  <a16:creationId xmlns:a16="http://schemas.microsoft.com/office/drawing/2014/main" id="{62147B20-C522-4B7C-ABB1-0C68667B5D15}"/>
                </a:ext>
              </a:extLst>
            </p:cNvPr>
            <p:cNvSpPr txBox="1"/>
            <p:nvPr/>
          </p:nvSpPr>
          <p:spPr>
            <a:xfrm>
              <a:off x="2749140" y="1648624"/>
              <a:ext cx="258532" cy="1586951"/>
            </a:xfrm>
            <a:prstGeom prst="rect">
              <a:avLst/>
            </a:prstGeom>
            <a:noFill/>
          </p:spPr>
          <p:txBody>
            <a:bodyPr vert="eaVert" wrap="square" lIns="0" tIns="0" rIns="0" bIns="0" rtlCol="0" anchor="ctr">
              <a:spAutoFit/>
            </a:bodyPr>
            <a:lstStyle/>
            <a:p>
              <a:pPr marL="0" marR="0" lvl="0" indent="0" algn="dist" defTabSz="914400" rtl="0" eaLnBrk="1" fontAlgn="auto" latinLnBrk="0" hangingPunct="1">
                <a:lnSpc>
                  <a:spcPct val="120000"/>
                </a:lnSpc>
                <a:spcBef>
                  <a:spcPts val="0"/>
                </a:spcBef>
                <a:spcAft>
                  <a:spcPts val="100"/>
                </a:spcAft>
                <a:buClrTx/>
                <a:buSzTx/>
                <a:buFontTx/>
                <a:buNone/>
                <a:tabLst/>
                <a:defRPr/>
              </a:pPr>
              <a:r>
                <a:rPr kumimoji="0" lang="en-US" altLang="zh-CN" sz="1400" b="1" i="0" u="none" strike="noStrike" kern="1200" cap="none" spc="0" normalizeH="0" baseline="0" noProof="0" dirty="0">
                  <a:ln>
                    <a:noFill/>
                  </a:ln>
                  <a:solidFill>
                    <a:srgbClr val="003F88"/>
                  </a:solidFill>
                  <a:effectLst/>
                  <a:uLnTx/>
                  <a:uFillTx/>
                  <a:latin typeface="Arial"/>
                  <a:ea typeface="Microsoft YaHei"/>
                  <a:cs typeface="+mn-cs"/>
                </a:rPr>
                <a:t>CON</a:t>
              </a:r>
              <a:r>
                <a:rPr kumimoji="0" lang="en-US" altLang="zh-CN" sz="1400" b="1" i="0" u="none" strike="noStrike" kern="1200" cap="none" spc="0" normalizeH="0" baseline="0" noProof="0" dirty="0">
                  <a:ln>
                    <a:noFill/>
                  </a:ln>
                  <a:solidFill>
                    <a:srgbClr val="FFFFFF"/>
                  </a:solidFill>
                  <a:effectLst/>
                  <a:uLnTx/>
                  <a:uFillTx/>
                  <a:latin typeface="Arial"/>
                  <a:ea typeface="Microsoft YaHei"/>
                  <a:cs typeface="+mn-cs"/>
                </a:rPr>
                <a:t>TENTS</a:t>
              </a:r>
              <a:endParaRPr kumimoji="0" lang="zh-CN" altLang="en-US" sz="1400" b="1" i="0" u="none" strike="noStrike" kern="1200" cap="none" spc="0" normalizeH="0" baseline="0" noProof="0" dirty="0">
                <a:ln>
                  <a:noFill/>
                </a:ln>
                <a:solidFill>
                  <a:srgbClr val="FFFFFF"/>
                </a:solidFill>
                <a:effectLst/>
                <a:uLnTx/>
                <a:uFillTx/>
                <a:latin typeface="Arial"/>
                <a:ea typeface="Microsoft YaHei"/>
                <a:cs typeface="+mn-cs"/>
              </a:endParaRPr>
            </a:p>
          </p:txBody>
        </p:sp>
        <p:sp>
          <p:nvSpPr>
            <p:cNvPr id="6" name="文本框 5">
              <a:extLst>
                <a:ext uri="{FF2B5EF4-FFF2-40B4-BE49-F238E27FC236}">
                  <a16:creationId xmlns:a16="http://schemas.microsoft.com/office/drawing/2014/main" id="{3DD3D9B8-D4D5-4E08-89D2-9CEB9C2292E1}"/>
                </a:ext>
              </a:extLst>
            </p:cNvPr>
            <p:cNvSpPr txBox="1"/>
            <p:nvPr/>
          </p:nvSpPr>
          <p:spPr>
            <a:xfrm>
              <a:off x="2958610" y="1648624"/>
              <a:ext cx="886397" cy="1586951"/>
            </a:xfrm>
            <a:prstGeom prst="rect">
              <a:avLst/>
            </a:prstGeom>
            <a:noFill/>
          </p:spPr>
          <p:txBody>
            <a:bodyPr vert="eaVert" wrap="square" lIns="0" tIns="0" rIns="0" bIns="0" rtlCol="0" anchor="ctr">
              <a:spAutoFit/>
            </a:bodyPr>
            <a:lstStyle/>
            <a:p>
              <a:pPr marL="0" marR="0" lvl="0" indent="0" algn="dist" defTabSz="914400" rtl="0" eaLnBrk="1" fontAlgn="auto" latinLnBrk="0" hangingPunct="1">
                <a:lnSpc>
                  <a:spcPct val="120000"/>
                </a:lnSpc>
                <a:spcBef>
                  <a:spcPts val="0"/>
                </a:spcBef>
                <a:spcAft>
                  <a:spcPts val="100"/>
                </a:spcAft>
                <a:buClrTx/>
                <a:buSzTx/>
                <a:buFontTx/>
                <a:buNone/>
                <a:tabLst/>
                <a:defRPr/>
              </a:pPr>
              <a:r>
                <a:rPr kumimoji="0" lang="zh-CN" altLang="en-US" sz="4800" b="1" i="0" u="none" strike="noStrike" kern="1200" cap="none" spc="0" normalizeH="0" baseline="0" noProof="0" dirty="0">
                  <a:ln>
                    <a:noFill/>
                  </a:ln>
                  <a:solidFill>
                    <a:srgbClr val="3F3F3F"/>
                  </a:solidFill>
                  <a:effectLst/>
                  <a:uLnTx/>
                  <a:uFillTx/>
                  <a:latin typeface="方正粗雅宋简体" panose="02000000000000000000" pitchFamily="2" charset="-122"/>
                  <a:ea typeface="方正粗雅宋简体" panose="02000000000000000000" pitchFamily="2" charset="-122"/>
                  <a:cs typeface="+mn-cs"/>
                </a:rPr>
                <a:t>目</a:t>
              </a:r>
              <a:r>
                <a:rPr kumimoji="0" lang="zh-CN" altLang="en-US" sz="4800" b="1" i="0" u="none" strike="noStrike" kern="1200" cap="none" spc="0" normalizeH="0" baseline="0" noProof="0" dirty="0">
                  <a:ln>
                    <a:noFill/>
                  </a:ln>
                  <a:solidFill>
                    <a:srgbClr val="FFFFFF"/>
                  </a:solidFill>
                  <a:effectLst/>
                  <a:uLnTx/>
                  <a:uFillTx/>
                  <a:latin typeface="方正粗雅宋简体" panose="02000000000000000000" pitchFamily="2" charset="-122"/>
                  <a:ea typeface="方正粗雅宋简体" panose="02000000000000000000" pitchFamily="2" charset="-122"/>
                  <a:cs typeface="+mn-cs"/>
                </a:rPr>
                <a:t>录</a:t>
              </a:r>
            </a:p>
          </p:txBody>
        </p:sp>
      </p:grpSp>
      <p:pic>
        <p:nvPicPr>
          <p:cNvPr id="54" name="图片 53">
            <a:extLst>
              <a:ext uri="{FF2B5EF4-FFF2-40B4-BE49-F238E27FC236}">
                <a16:creationId xmlns:a16="http://schemas.microsoft.com/office/drawing/2014/main" id="{181BDF26-C17E-48A9-88CD-AAC5E09300F1}"/>
              </a:ext>
            </a:extLst>
          </p:cNvPr>
          <p:cNvPicPr>
            <a:picLocks noChangeAspect="1"/>
          </p:cNvPicPr>
          <p:nvPr/>
        </p:nvPicPr>
        <p:blipFill rotWithShape="1">
          <a:blip r:embed="rId4">
            <a:duotone>
              <a:prstClr val="black"/>
              <a:schemeClr val="accent4">
                <a:tint val="45000"/>
                <a:satMod val="400000"/>
              </a:schemeClr>
            </a:duotone>
            <a:alphaModFix amt="50000"/>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r="32998"/>
          <a:stretch/>
        </p:blipFill>
        <p:spPr>
          <a:xfrm>
            <a:off x="5586820" y="-1357083"/>
            <a:ext cx="5553465" cy="8969827"/>
          </a:xfrm>
          <a:prstGeom prst="rect">
            <a:avLst/>
          </a:prstGeom>
        </p:spPr>
      </p:pic>
      <p:grpSp>
        <p:nvGrpSpPr>
          <p:cNvPr id="4" name="组合 3">
            <a:extLst>
              <a:ext uri="{FF2B5EF4-FFF2-40B4-BE49-F238E27FC236}">
                <a16:creationId xmlns:a16="http://schemas.microsoft.com/office/drawing/2014/main" id="{9D464AB2-464B-8809-D25A-0EDE462140EB}"/>
              </a:ext>
            </a:extLst>
          </p:cNvPr>
          <p:cNvGrpSpPr/>
          <p:nvPr/>
        </p:nvGrpSpPr>
        <p:grpSpPr>
          <a:xfrm>
            <a:off x="6096000" y="1910233"/>
            <a:ext cx="5210523" cy="2983458"/>
            <a:chOff x="6096000" y="1910233"/>
            <a:chExt cx="5210523" cy="2983458"/>
          </a:xfrm>
        </p:grpSpPr>
        <p:sp>
          <p:nvSpPr>
            <p:cNvPr id="56" name="文本框 55">
              <a:extLst>
                <a:ext uri="{FF2B5EF4-FFF2-40B4-BE49-F238E27FC236}">
                  <a16:creationId xmlns:a16="http://schemas.microsoft.com/office/drawing/2014/main" id="{CBE8EAC9-8496-4C87-BFDB-13866B96CD0D}"/>
                </a:ext>
              </a:extLst>
            </p:cNvPr>
            <p:cNvSpPr txBox="1"/>
            <p:nvPr/>
          </p:nvSpPr>
          <p:spPr>
            <a:xfrm>
              <a:off x="6096000" y="4173691"/>
              <a:ext cx="5210523" cy="720000"/>
            </a:xfrm>
            <a:prstGeom prst="rect">
              <a:avLst/>
            </a:prstGeom>
            <a:noFill/>
          </p:spPr>
          <p:txBody>
            <a:bodyPr wrap="square" lIns="0" tIns="0" rIns="0" bIns="0" rtlCol="0" anchor="ctr">
              <a:noAutofit/>
            </a:bodyPr>
            <a:lstStyle/>
            <a:p>
              <a:pPr>
                <a:lnSpc>
                  <a:spcPct val="120000"/>
                </a:lnSpc>
                <a:defRPr/>
              </a:pPr>
              <a:r>
                <a:rPr kumimoji="0" lang="en-US" altLang="zh-CN" sz="3600" b="1" i="0" u="none" strike="noStrike" kern="1200" cap="none" spc="0" normalizeH="0" baseline="0" noProof="0" dirty="0">
                  <a:ln>
                    <a:noFill/>
                  </a:ln>
                  <a:solidFill>
                    <a:srgbClr val="3F3F3F"/>
                  </a:solidFill>
                  <a:effectLst/>
                  <a:uLnTx/>
                  <a:uFillTx/>
                  <a:latin typeface="Arial"/>
                  <a:ea typeface="Microsoft YaHei"/>
                  <a:cs typeface="+mn-cs"/>
                </a:rPr>
                <a:t>03 </a:t>
              </a:r>
              <a:r>
                <a:rPr lang="en-US" altLang="zh-CN" sz="3600" b="1" dirty="0">
                  <a:solidFill>
                    <a:srgbClr val="3F3F3F"/>
                  </a:solidFill>
                  <a:latin typeface="Arial"/>
                  <a:ea typeface="Microsoft YaHei"/>
                </a:rPr>
                <a:t>DevOps</a:t>
              </a:r>
              <a:r>
                <a:rPr lang="zh-CN" altLang="en-US" sz="3600" b="1" dirty="0">
                  <a:solidFill>
                    <a:srgbClr val="3F3F3F"/>
                  </a:solidFill>
                  <a:latin typeface="Arial"/>
                  <a:ea typeface="Microsoft YaHei"/>
                </a:rPr>
                <a:t>标准能力</a:t>
              </a:r>
            </a:p>
          </p:txBody>
        </p:sp>
        <p:sp>
          <p:nvSpPr>
            <p:cNvPr id="57" name="文本框 56">
              <a:extLst>
                <a:ext uri="{FF2B5EF4-FFF2-40B4-BE49-F238E27FC236}">
                  <a16:creationId xmlns:a16="http://schemas.microsoft.com/office/drawing/2014/main" id="{40E3827C-003B-4936-B561-F5EC80597BFF}"/>
                </a:ext>
              </a:extLst>
            </p:cNvPr>
            <p:cNvSpPr txBox="1"/>
            <p:nvPr/>
          </p:nvSpPr>
          <p:spPr>
            <a:xfrm>
              <a:off x="6096000" y="3041962"/>
              <a:ext cx="5210523" cy="720000"/>
            </a:xfrm>
            <a:prstGeom prst="rect">
              <a:avLst/>
            </a:prstGeom>
            <a:noFill/>
          </p:spPr>
          <p:txBody>
            <a:bodyPr wrap="square" lIns="0" tIns="0" rIns="0" bIns="0" rtlCol="0" anchor="ctr">
              <a:noAutofit/>
            </a:bodyPr>
            <a:lstStyle/>
            <a:p>
              <a:pPr marL="0" marR="0" lvl="0" indent="0" defTabSz="914400" rtl="0" eaLnBrk="1" fontAlgn="auto" latinLnBrk="0" hangingPunct="1">
                <a:lnSpc>
                  <a:spcPct val="120000"/>
                </a:lnSpc>
                <a:spcBef>
                  <a:spcPts val="0"/>
                </a:spcBef>
                <a:spcAft>
                  <a:spcPts val="0"/>
                </a:spcAft>
                <a:buClrTx/>
                <a:buSzTx/>
                <a:buFontTx/>
                <a:buNone/>
                <a:tabLst/>
                <a:defRPr/>
              </a:pPr>
              <a:r>
                <a:rPr kumimoji="0" lang="en-US" altLang="zh-CN" sz="3600" b="1" i="0" u="none" strike="noStrike" kern="1200" cap="none" spc="0" normalizeH="0" baseline="0" noProof="0" dirty="0">
                  <a:ln>
                    <a:noFill/>
                  </a:ln>
                  <a:solidFill>
                    <a:srgbClr val="3F3F3F"/>
                  </a:solidFill>
                  <a:effectLst/>
                  <a:uLnTx/>
                  <a:uFillTx/>
                  <a:latin typeface="Arial"/>
                  <a:ea typeface="Microsoft YaHei"/>
                  <a:cs typeface="+mn-cs"/>
                </a:rPr>
                <a:t>02 </a:t>
              </a:r>
              <a:r>
                <a:rPr lang="en-US" altLang="zh-CN" sz="3600" b="1" dirty="0">
                  <a:solidFill>
                    <a:srgbClr val="3F3F3F"/>
                  </a:solidFill>
                  <a:latin typeface="Arial"/>
                  <a:ea typeface="Microsoft YaHei"/>
                </a:rPr>
                <a:t>DevOps</a:t>
              </a:r>
              <a:r>
                <a:rPr lang="zh-CN" altLang="en-US" sz="3600" b="1" dirty="0">
                  <a:solidFill>
                    <a:srgbClr val="3F3F3F"/>
                  </a:solidFill>
                  <a:latin typeface="Arial"/>
                  <a:ea typeface="Microsoft YaHei"/>
                </a:rPr>
                <a:t>历史溯源</a:t>
              </a:r>
              <a:endParaRPr kumimoji="0" lang="zh-CN" altLang="zh-CN" sz="3600" b="0" i="0" u="none" strike="noStrike" kern="1200" cap="none" spc="0" normalizeH="0" baseline="0" noProof="0" dirty="0">
                <a:ln>
                  <a:noFill/>
                </a:ln>
                <a:solidFill>
                  <a:srgbClr val="3F3F3F"/>
                </a:solidFill>
                <a:effectLst/>
                <a:uLnTx/>
                <a:uFillTx/>
                <a:latin typeface="Arial"/>
                <a:ea typeface="Microsoft YaHei"/>
                <a:cs typeface="+mn-cs"/>
              </a:endParaRPr>
            </a:p>
          </p:txBody>
        </p:sp>
        <p:sp>
          <p:nvSpPr>
            <p:cNvPr id="60" name="文本框 59">
              <a:extLst>
                <a:ext uri="{FF2B5EF4-FFF2-40B4-BE49-F238E27FC236}">
                  <a16:creationId xmlns:a16="http://schemas.microsoft.com/office/drawing/2014/main" id="{C8307703-D4D9-4F72-82D7-4288F459977B}"/>
                </a:ext>
              </a:extLst>
            </p:cNvPr>
            <p:cNvSpPr txBox="1"/>
            <p:nvPr/>
          </p:nvSpPr>
          <p:spPr>
            <a:xfrm>
              <a:off x="6096000" y="1910233"/>
              <a:ext cx="5210523" cy="720000"/>
            </a:xfrm>
            <a:prstGeom prst="rect">
              <a:avLst/>
            </a:prstGeom>
            <a:noFill/>
          </p:spPr>
          <p:txBody>
            <a:bodyPr wrap="square" lIns="0" tIns="0" rIns="0" bIns="0" rtlCol="0" anchor="ctr">
              <a:noAutofit/>
            </a:bodyPr>
            <a:lstStyle/>
            <a:p>
              <a:pPr marL="0" marR="0" lvl="0" indent="0" defTabSz="914400" rtl="0" eaLnBrk="1" fontAlgn="auto" latinLnBrk="0" hangingPunct="1">
                <a:lnSpc>
                  <a:spcPct val="120000"/>
                </a:lnSpc>
                <a:spcBef>
                  <a:spcPts val="0"/>
                </a:spcBef>
                <a:spcAft>
                  <a:spcPts val="0"/>
                </a:spcAft>
                <a:buClrTx/>
                <a:buSzTx/>
                <a:buFontTx/>
                <a:buNone/>
                <a:tabLst/>
                <a:defRPr/>
              </a:pPr>
              <a:r>
                <a:rPr kumimoji="0" lang="en-US" altLang="zh-CN" sz="3600" b="1" i="0" u="none" strike="noStrike" kern="1200" cap="none" spc="0" normalizeH="0" baseline="0" noProof="0" dirty="0">
                  <a:ln>
                    <a:noFill/>
                  </a:ln>
                  <a:solidFill>
                    <a:srgbClr val="3F3F3F"/>
                  </a:solidFill>
                  <a:effectLst/>
                  <a:uLnTx/>
                  <a:uFillTx/>
                  <a:latin typeface="Arial"/>
                  <a:ea typeface="Microsoft YaHei"/>
                  <a:cs typeface="+mn-cs"/>
                </a:rPr>
                <a:t>01 DevOps</a:t>
              </a:r>
              <a:r>
                <a:rPr kumimoji="0" lang="zh-CN" altLang="en-US" sz="3600" b="1" i="0" u="none" strike="noStrike" kern="1200" cap="none" spc="0" normalizeH="0" baseline="0" noProof="0" dirty="0">
                  <a:ln>
                    <a:noFill/>
                  </a:ln>
                  <a:solidFill>
                    <a:srgbClr val="3F3F3F"/>
                  </a:solidFill>
                  <a:effectLst/>
                  <a:uLnTx/>
                  <a:uFillTx/>
                  <a:latin typeface="Arial"/>
                  <a:ea typeface="Microsoft YaHei"/>
                  <a:cs typeface="+mn-cs"/>
                </a:rPr>
                <a:t>概念</a:t>
              </a:r>
              <a:endParaRPr lang="en-US" altLang="zh-CN" sz="3600" b="1" dirty="0">
                <a:solidFill>
                  <a:srgbClr val="3F3F3F"/>
                </a:solidFill>
                <a:latin typeface="Arial"/>
                <a:ea typeface="Microsoft YaHei"/>
              </a:endParaRPr>
            </a:p>
          </p:txBody>
        </p:sp>
      </p:grpSp>
    </p:spTree>
    <p:extLst>
      <p:ext uri="{BB962C8B-B14F-4D97-AF65-F5344CB8AC3E}">
        <p14:creationId xmlns:p14="http://schemas.microsoft.com/office/powerpoint/2010/main" val="20800634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B84E9945-F3C2-4023-A547-697A62835A1F}"/>
              </a:ext>
            </a:extLst>
          </p:cNvPr>
          <p:cNvSpPr/>
          <p:nvPr/>
        </p:nvSpPr>
        <p:spPr>
          <a:xfrm>
            <a:off x="10" y="5"/>
            <a:ext cx="12191980" cy="6857990"/>
          </a:xfrm>
          <a:prstGeom prst="rect">
            <a:avLst/>
          </a:prstGeom>
          <a:blipFill dpi="0" rotWithShape="1">
            <a:blip r:embed="rId3">
              <a:alphaModFix amt="10000"/>
              <a:duotone>
                <a:schemeClr val="bg2">
                  <a:shade val="45000"/>
                  <a:satMod val="135000"/>
                </a:schemeClr>
                <a:prstClr val="white"/>
              </a:duotone>
            </a:blip>
            <a:srcRect/>
            <a:tile tx="0" ty="0" sx="60000" sy="6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00"/>
              </a:spcAft>
            </a:pPr>
            <a:endParaRPr lang="zh-CN" altLang="en-US"/>
          </a:p>
        </p:txBody>
      </p:sp>
      <p:grpSp>
        <p:nvGrpSpPr>
          <p:cNvPr id="3" name="组合 2">
            <a:extLst>
              <a:ext uri="{FF2B5EF4-FFF2-40B4-BE49-F238E27FC236}">
                <a16:creationId xmlns:a16="http://schemas.microsoft.com/office/drawing/2014/main" id="{BDEEF630-E241-47AA-BBEA-5014DEE18790}"/>
              </a:ext>
            </a:extLst>
          </p:cNvPr>
          <p:cNvGrpSpPr/>
          <p:nvPr/>
        </p:nvGrpSpPr>
        <p:grpSpPr>
          <a:xfrm>
            <a:off x="793780" y="2608487"/>
            <a:ext cx="2974123" cy="3387729"/>
            <a:chOff x="870884" y="1648624"/>
            <a:chExt cx="2974123" cy="3387729"/>
          </a:xfrm>
        </p:grpSpPr>
        <p:sp>
          <p:nvSpPr>
            <p:cNvPr id="11" name="椭圆 10">
              <a:extLst>
                <a:ext uri="{FF2B5EF4-FFF2-40B4-BE49-F238E27FC236}">
                  <a16:creationId xmlns:a16="http://schemas.microsoft.com/office/drawing/2014/main" id="{50233245-EB31-4DE9-831A-0D881E502C02}"/>
                </a:ext>
              </a:extLst>
            </p:cNvPr>
            <p:cNvSpPr/>
            <p:nvPr/>
          </p:nvSpPr>
          <p:spPr>
            <a:xfrm>
              <a:off x="870884" y="2062230"/>
              <a:ext cx="2974123" cy="297412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icrosoft YaHei"/>
                <a:cs typeface="+mn-cs"/>
              </a:endParaRPr>
            </a:p>
          </p:txBody>
        </p:sp>
        <p:pic>
          <p:nvPicPr>
            <p:cNvPr id="10" name="图片 9">
              <a:extLst>
                <a:ext uri="{FF2B5EF4-FFF2-40B4-BE49-F238E27FC236}">
                  <a16:creationId xmlns:a16="http://schemas.microsoft.com/office/drawing/2014/main" id="{3573E33A-B581-4106-913A-FFF18735F53C}"/>
                </a:ext>
              </a:extLst>
            </p:cNvPr>
            <p:cNvPicPr>
              <a:picLocks noChangeAspect="1"/>
            </p:cNvPicPr>
            <p:nvPr/>
          </p:nvPicPr>
          <p:blipFill rotWithShape="1">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r="32998"/>
            <a:stretch/>
          </p:blipFill>
          <p:spPr>
            <a:xfrm>
              <a:off x="1220247" y="1857063"/>
              <a:ext cx="1957015" cy="3160925"/>
            </a:xfrm>
            <a:prstGeom prst="rect">
              <a:avLst/>
            </a:prstGeom>
          </p:spPr>
        </p:pic>
        <p:sp>
          <p:nvSpPr>
            <p:cNvPr id="5" name="文本框 4">
              <a:extLst>
                <a:ext uri="{FF2B5EF4-FFF2-40B4-BE49-F238E27FC236}">
                  <a16:creationId xmlns:a16="http://schemas.microsoft.com/office/drawing/2014/main" id="{62147B20-C522-4B7C-ABB1-0C68667B5D15}"/>
                </a:ext>
              </a:extLst>
            </p:cNvPr>
            <p:cNvSpPr txBox="1"/>
            <p:nvPr/>
          </p:nvSpPr>
          <p:spPr>
            <a:xfrm>
              <a:off x="2749140" y="1648624"/>
              <a:ext cx="258532" cy="1586951"/>
            </a:xfrm>
            <a:prstGeom prst="rect">
              <a:avLst/>
            </a:prstGeom>
            <a:noFill/>
          </p:spPr>
          <p:txBody>
            <a:bodyPr vert="eaVert" wrap="square" lIns="0" tIns="0" rIns="0" bIns="0" rtlCol="0" anchor="ctr">
              <a:spAutoFit/>
            </a:bodyPr>
            <a:lstStyle/>
            <a:p>
              <a:pPr marL="0" marR="0" lvl="0" indent="0" algn="dist" defTabSz="914400" rtl="0" eaLnBrk="1" fontAlgn="auto" latinLnBrk="0" hangingPunct="1">
                <a:lnSpc>
                  <a:spcPct val="120000"/>
                </a:lnSpc>
                <a:spcBef>
                  <a:spcPts val="0"/>
                </a:spcBef>
                <a:spcAft>
                  <a:spcPts val="100"/>
                </a:spcAft>
                <a:buClrTx/>
                <a:buSzTx/>
                <a:buFontTx/>
                <a:buNone/>
                <a:tabLst/>
                <a:defRPr/>
              </a:pPr>
              <a:r>
                <a:rPr kumimoji="0" lang="en-US" altLang="zh-CN" sz="1400" b="1" i="0" u="none" strike="noStrike" kern="1200" cap="none" spc="0" normalizeH="0" baseline="0" noProof="0" dirty="0">
                  <a:ln>
                    <a:noFill/>
                  </a:ln>
                  <a:solidFill>
                    <a:srgbClr val="003F88"/>
                  </a:solidFill>
                  <a:effectLst/>
                  <a:uLnTx/>
                  <a:uFillTx/>
                  <a:latin typeface="Arial"/>
                  <a:ea typeface="Microsoft YaHei"/>
                  <a:cs typeface="+mn-cs"/>
                </a:rPr>
                <a:t>CON</a:t>
              </a:r>
              <a:r>
                <a:rPr kumimoji="0" lang="en-US" altLang="zh-CN" sz="1400" b="1" i="0" u="none" strike="noStrike" kern="1200" cap="none" spc="0" normalizeH="0" baseline="0" noProof="0" dirty="0">
                  <a:ln>
                    <a:noFill/>
                  </a:ln>
                  <a:solidFill>
                    <a:srgbClr val="FFFFFF"/>
                  </a:solidFill>
                  <a:effectLst/>
                  <a:uLnTx/>
                  <a:uFillTx/>
                  <a:latin typeface="Arial"/>
                  <a:ea typeface="Microsoft YaHei"/>
                  <a:cs typeface="+mn-cs"/>
                </a:rPr>
                <a:t>TENTS</a:t>
              </a:r>
              <a:endParaRPr kumimoji="0" lang="zh-CN" altLang="en-US" sz="1400" b="1" i="0" u="none" strike="noStrike" kern="1200" cap="none" spc="0" normalizeH="0" baseline="0" noProof="0" dirty="0">
                <a:ln>
                  <a:noFill/>
                </a:ln>
                <a:solidFill>
                  <a:srgbClr val="FFFFFF"/>
                </a:solidFill>
                <a:effectLst/>
                <a:uLnTx/>
                <a:uFillTx/>
                <a:latin typeface="Arial"/>
                <a:ea typeface="Microsoft YaHei"/>
                <a:cs typeface="+mn-cs"/>
              </a:endParaRPr>
            </a:p>
          </p:txBody>
        </p:sp>
        <p:sp>
          <p:nvSpPr>
            <p:cNvPr id="6" name="文本框 5">
              <a:extLst>
                <a:ext uri="{FF2B5EF4-FFF2-40B4-BE49-F238E27FC236}">
                  <a16:creationId xmlns:a16="http://schemas.microsoft.com/office/drawing/2014/main" id="{3DD3D9B8-D4D5-4E08-89D2-9CEB9C2292E1}"/>
                </a:ext>
              </a:extLst>
            </p:cNvPr>
            <p:cNvSpPr txBox="1"/>
            <p:nvPr/>
          </p:nvSpPr>
          <p:spPr>
            <a:xfrm>
              <a:off x="2958610" y="1648624"/>
              <a:ext cx="886397" cy="1586951"/>
            </a:xfrm>
            <a:prstGeom prst="rect">
              <a:avLst/>
            </a:prstGeom>
            <a:noFill/>
          </p:spPr>
          <p:txBody>
            <a:bodyPr vert="eaVert" wrap="square" lIns="0" tIns="0" rIns="0" bIns="0" rtlCol="0" anchor="ctr">
              <a:spAutoFit/>
            </a:bodyPr>
            <a:lstStyle/>
            <a:p>
              <a:pPr marL="0" marR="0" lvl="0" indent="0" algn="dist" defTabSz="914400" rtl="0" eaLnBrk="1" fontAlgn="auto" latinLnBrk="0" hangingPunct="1">
                <a:lnSpc>
                  <a:spcPct val="120000"/>
                </a:lnSpc>
                <a:spcBef>
                  <a:spcPts val="0"/>
                </a:spcBef>
                <a:spcAft>
                  <a:spcPts val="100"/>
                </a:spcAft>
                <a:buClrTx/>
                <a:buSzTx/>
                <a:buFontTx/>
                <a:buNone/>
                <a:tabLst/>
                <a:defRPr/>
              </a:pPr>
              <a:r>
                <a:rPr kumimoji="0" lang="zh-CN" altLang="en-US" sz="4800" b="1" i="0" u="none" strike="noStrike" kern="1200" cap="none" spc="0" normalizeH="0" baseline="0" noProof="0" dirty="0">
                  <a:ln>
                    <a:noFill/>
                  </a:ln>
                  <a:solidFill>
                    <a:srgbClr val="3F3F3F"/>
                  </a:solidFill>
                  <a:effectLst/>
                  <a:uLnTx/>
                  <a:uFillTx/>
                  <a:latin typeface="方正粗雅宋简体" panose="02000000000000000000" pitchFamily="2" charset="-122"/>
                  <a:ea typeface="方正粗雅宋简体" panose="02000000000000000000" pitchFamily="2" charset="-122"/>
                  <a:cs typeface="+mn-cs"/>
                </a:rPr>
                <a:t>目</a:t>
              </a:r>
              <a:r>
                <a:rPr kumimoji="0" lang="zh-CN" altLang="en-US" sz="4800" b="1" i="0" u="none" strike="noStrike" kern="1200" cap="none" spc="0" normalizeH="0" baseline="0" noProof="0" dirty="0">
                  <a:ln>
                    <a:noFill/>
                  </a:ln>
                  <a:solidFill>
                    <a:srgbClr val="FFFFFF"/>
                  </a:solidFill>
                  <a:effectLst/>
                  <a:uLnTx/>
                  <a:uFillTx/>
                  <a:latin typeface="方正粗雅宋简体" panose="02000000000000000000" pitchFamily="2" charset="-122"/>
                  <a:ea typeface="方正粗雅宋简体" panose="02000000000000000000" pitchFamily="2" charset="-122"/>
                  <a:cs typeface="+mn-cs"/>
                </a:rPr>
                <a:t>录</a:t>
              </a:r>
            </a:p>
          </p:txBody>
        </p:sp>
      </p:grpSp>
      <p:pic>
        <p:nvPicPr>
          <p:cNvPr id="54" name="图片 53">
            <a:extLst>
              <a:ext uri="{FF2B5EF4-FFF2-40B4-BE49-F238E27FC236}">
                <a16:creationId xmlns:a16="http://schemas.microsoft.com/office/drawing/2014/main" id="{181BDF26-C17E-48A9-88CD-AAC5E09300F1}"/>
              </a:ext>
            </a:extLst>
          </p:cNvPr>
          <p:cNvPicPr>
            <a:picLocks noChangeAspect="1"/>
          </p:cNvPicPr>
          <p:nvPr/>
        </p:nvPicPr>
        <p:blipFill rotWithShape="1">
          <a:blip r:embed="rId4">
            <a:duotone>
              <a:prstClr val="black"/>
              <a:schemeClr val="accent4">
                <a:tint val="45000"/>
                <a:satMod val="400000"/>
              </a:schemeClr>
            </a:duotone>
            <a:alphaModFix amt="50000"/>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r="32998"/>
          <a:stretch/>
        </p:blipFill>
        <p:spPr>
          <a:xfrm>
            <a:off x="5586820" y="-1357083"/>
            <a:ext cx="5553465" cy="8969827"/>
          </a:xfrm>
          <a:prstGeom prst="rect">
            <a:avLst/>
          </a:prstGeom>
        </p:spPr>
      </p:pic>
      <p:grpSp>
        <p:nvGrpSpPr>
          <p:cNvPr id="4" name="组合 3">
            <a:extLst>
              <a:ext uri="{FF2B5EF4-FFF2-40B4-BE49-F238E27FC236}">
                <a16:creationId xmlns:a16="http://schemas.microsoft.com/office/drawing/2014/main" id="{9D464AB2-464B-8809-D25A-0EDE462140EB}"/>
              </a:ext>
            </a:extLst>
          </p:cNvPr>
          <p:cNvGrpSpPr/>
          <p:nvPr/>
        </p:nvGrpSpPr>
        <p:grpSpPr>
          <a:xfrm>
            <a:off x="6096000" y="1910233"/>
            <a:ext cx="5210523" cy="2983458"/>
            <a:chOff x="6096000" y="1910233"/>
            <a:chExt cx="5210523" cy="2983458"/>
          </a:xfrm>
        </p:grpSpPr>
        <p:sp>
          <p:nvSpPr>
            <p:cNvPr id="56" name="文本框 55">
              <a:extLst>
                <a:ext uri="{FF2B5EF4-FFF2-40B4-BE49-F238E27FC236}">
                  <a16:creationId xmlns:a16="http://schemas.microsoft.com/office/drawing/2014/main" id="{CBE8EAC9-8496-4C87-BFDB-13866B96CD0D}"/>
                </a:ext>
              </a:extLst>
            </p:cNvPr>
            <p:cNvSpPr txBox="1"/>
            <p:nvPr/>
          </p:nvSpPr>
          <p:spPr>
            <a:xfrm>
              <a:off x="6096000" y="4173691"/>
              <a:ext cx="5210523" cy="720000"/>
            </a:xfrm>
            <a:prstGeom prst="rect">
              <a:avLst/>
            </a:prstGeom>
            <a:noFill/>
          </p:spPr>
          <p:txBody>
            <a:bodyPr wrap="square" lIns="0" tIns="0" rIns="0" bIns="0" rtlCol="0" anchor="ctr">
              <a:noAutofit/>
            </a:bodyPr>
            <a:lstStyle/>
            <a:p>
              <a:pPr>
                <a:lnSpc>
                  <a:spcPct val="120000"/>
                </a:lnSpc>
                <a:defRPr/>
              </a:pPr>
              <a:r>
                <a:rPr kumimoji="0" lang="en-US" altLang="zh-CN" sz="3600" b="1" i="0" u="none" strike="noStrike" kern="1200" cap="none" spc="0" normalizeH="0" baseline="0" noProof="0" dirty="0">
                  <a:ln>
                    <a:noFill/>
                  </a:ln>
                  <a:solidFill>
                    <a:schemeClr val="bg1">
                      <a:lumMod val="85000"/>
                    </a:schemeClr>
                  </a:solidFill>
                  <a:effectLst/>
                  <a:uLnTx/>
                  <a:uFillTx/>
                  <a:latin typeface="Arial"/>
                  <a:ea typeface="Microsoft YaHei"/>
                  <a:cs typeface="+mn-cs"/>
                </a:rPr>
                <a:t>03 </a:t>
              </a:r>
              <a:r>
                <a:rPr lang="en-US" altLang="zh-CN" sz="3600" b="1" dirty="0">
                  <a:solidFill>
                    <a:schemeClr val="bg1">
                      <a:lumMod val="85000"/>
                    </a:schemeClr>
                  </a:solidFill>
                  <a:latin typeface="Arial"/>
                  <a:ea typeface="Microsoft YaHei"/>
                </a:rPr>
                <a:t>DevOps</a:t>
              </a:r>
              <a:r>
                <a:rPr lang="zh-CN" altLang="en-US" sz="3600" b="1" dirty="0">
                  <a:solidFill>
                    <a:schemeClr val="bg1">
                      <a:lumMod val="85000"/>
                    </a:schemeClr>
                  </a:solidFill>
                  <a:latin typeface="Arial"/>
                  <a:ea typeface="Microsoft YaHei"/>
                </a:rPr>
                <a:t>标准能力</a:t>
              </a:r>
            </a:p>
          </p:txBody>
        </p:sp>
        <p:sp>
          <p:nvSpPr>
            <p:cNvPr id="57" name="文本框 56">
              <a:extLst>
                <a:ext uri="{FF2B5EF4-FFF2-40B4-BE49-F238E27FC236}">
                  <a16:creationId xmlns:a16="http://schemas.microsoft.com/office/drawing/2014/main" id="{40E3827C-003B-4936-B561-F5EC80597BFF}"/>
                </a:ext>
              </a:extLst>
            </p:cNvPr>
            <p:cNvSpPr txBox="1"/>
            <p:nvPr/>
          </p:nvSpPr>
          <p:spPr>
            <a:xfrm>
              <a:off x="6096000" y="3041962"/>
              <a:ext cx="5210523" cy="720000"/>
            </a:xfrm>
            <a:prstGeom prst="rect">
              <a:avLst/>
            </a:prstGeom>
            <a:noFill/>
          </p:spPr>
          <p:txBody>
            <a:bodyPr wrap="square" lIns="0" tIns="0" rIns="0" bIns="0" rtlCol="0" anchor="ctr">
              <a:noAutofit/>
            </a:bodyPr>
            <a:lstStyle/>
            <a:p>
              <a:pPr marL="0" marR="0" lvl="0" indent="0" defTabSz="914400" rtl="0" eaLnBrk="1" fontAlgn="auto" latinLnBrk="0" hangingPunct="1">
                <a:lnSpc>
                  <a:spcPct val="120000"/>
                </a:lnSpc>
                <a:spcBef>
                  <a:spcPts val="0"/>
                </a:spcBef>
                <a:spcAft>
                  <a:spcPts val="0"/>
                </a:spcAft>
                <a:buClrTx/>
                <a:buSzTx/>
                <a:buFontTx/>
                <a:buNone/>
                <a:tabLst/>
                <a:defRPr/>
              </a:pPr>
              <a:r>
                <a:rPr kumimoji="0" lang="en-US" altLang="zh-CN" sz="3600" b="1" i="0" u="none" strike="noStrike" kern="1200" cap="none" spc="0" normalizeH="0" baseline="0" noProof="0" dirty="0">
                  <a:ln>
                    <a:noFill/>
                  </a:ln>
                  <a:solidFill>
                    <a:schemeClr val="bg1">
                      <a:lumMod val="85000"/>
                    </a:schemeClr>
                  </a:solidFill>
                  <a:effectLst/>
                  <a:uLnTx/>
                  <a:uFillTx/>
                  <a:latin typeface="Arial"/>
                  <a:ea typeface="Microsoft YaHei"/>
                  <a:cs typeface="+mn-cs"/>
                </a:rPr>
                <a:t>02 </a:t>
              </a:r>
              <a:r>
                <a:rPr lang="en-US" altLang="zh-CN" sz="3600" b="1" dirty="0">
                  <a:solidFill>
                    <a:schemeClr val="bg1">
                      <a:lumMod val="85000"/>
                    </a:schemeClr>
                  </a:solidFill>
                  <a:latin typeface="Arial"/>
                  <a:ea typeface="Microsoft YaHei"/>
                </a:rPr>
                <a:t>DevOps</a:t>
              </a:r>
              <a:r>
                <a:rPr lang="zh-CN" altLang="en-US" sz="3600" b="1" dirty="0">
                  <a:solidFill>
                    <a:schemeClr val="bg1">
                      <a:lumMod val="85000"/>
                    </a:schemeClr>
                  </a:solidFill>
                  <a:latin typeface="Arial"/>
                  <a:ea typeface="Microsoft YaHei"/>
                </a:rPr>
                <a:t>历史溯源</a:t>
              </a:r>
              <a:endParaRPr kumimoji="0" lang="zh-CN" altLang="zh-CN" sz="3600" b="0" i="0" u="none" strike="noStrike" kern="1200" cap="none" spc="0" normalizeH="0" baseline="0" noProof="0" dirty="0">
                <a:ln>
                  <a:noFill/>
                </a:ln>
                <a:solidFill>
                  <a:schemeClr val="bg1">
                    <a:lumMod val="85000"/>
                  </a:schemeClr>
                </a:solidFill>
                <a:effectLst/>
                <a:uLnTx/>
                <a:uFillTx/>
                <a:latin typeface="Arial"/>
                <a:ea typeface="Microsoft YaHei"/>
                <a:cs typeface="+mn-cs"/>
              </a:endParaRPr>
            </a:p>
          </p:txBody>
        </p:sp>
        <p:sp>
          <p:nvSpPr>
            <p:cNvPr id="60" name="文本框 59">
              <a:extLst>
                <a:ext uri="{FF2B5EF4-FFF2-40B4-BE49-F238E27FC236}">
                  <a16:creationId xmlns:a16="http://schemas.microsoft.com/office/drawing/2014/main" id="{C8307703-D4D9-4F72-82D7-4288F459977B}"/>
                </a:ext>
              </a:extLst>
            </p:cNvPr>
            <p:cNvSpPr txBox="1"/>
            <p:nvPr/>
          </p:nvSpPr>
          <p:spPr>
            <a:xfrm>
              <a:off x="6096000" y="1910233"/>
              <a:ext cx="5210523" cy="720000"/>
            </a:xfrm>
            <a:prstGeom prst="rect">
              <a:avLst/>
            </a:prstGeom>
            <a:noFill/>
          </p:spPr>
          <p:txBody>
            <a:bodyPr wrap="square" lIns="0" tIns="0" rIns="0" bIns="0" rtlCol="0" anchor="ctr">
              <a:noAutofit/>
            </a:bodyPr>
            <a:lstStyle/>
            <a:p>
              <a:pPr marL="0" marR="0" lvl="0" indent="0" defTabSz="914400" rtl="0" eaLnBrk="1" fontAlgn="auto" latinLnBrk="0" hangingPunct="1">
                <a:lnSpc>
                  <a:spcPct val="120000"/>
                </a:lnSpc>
                <a:spcBef>
                  <a:spcPts val="0"/>
                </a:spcBef>
                <a:spcAft>
                  <a:spcPts val="0"/>
                </a:spcAft>
                <a:buClrTx/>
                <a:buSzTx/>
                <a:buFontTx/>
                <a:buNone/>
                <a:tabLst/>
                <a:defRPr/>
              </a:pPr>
              <a:r>
                <a:rPr kumimoji="0" lang="en-US" altLang="zh-CN" sz="3600" b="1" i="0" u="none" strike="noStrike" kern="1200" cap="none" spc="0" normalizeH="0" baseline="0" noProof="0" dirty="0">
                  <a:ln>
                    <a:noFill/>
                  </a:ln>
                  <a:solidFill>
                    <a:srgbClr val="3F3F3F"/>
                  </a:solidFill>
                  <a:effectLst/>
                  <a:uLnTx/>
                  <a:uFillTx/>
                  <a:latin typeface="Arial"/>
                  <a:ea typeface="Microsoft YaHei"/>
                  <a:cs typeface="+mn-cs"/>
                </a:rPr>
                <a:t>01 DevOps</a:t>
              </a:r>
              <a:r>
                <a:rPr kumimoji="0" lang="zh-CN" altLang="en-US" sz="3600" b="1" i="0" u="none" strike="noStrike" kern="1200" cap="none" spc="0" normalizeH="0" baseline="0" noProof="0" dirty="0">
                  <a:ln>
                    <a:noFill/>
                  </a:ln>
                  <a:solidFill>
                    <a:srgbClr val="3F3F3F"/>
                  </a:solidFill>
                  <a:effectLst/>
                  <a:uLnTx/>
                  <a:uFillTx/>
                  <a:latin typeface="Arial"/>
                  <a:ea typeface="Microsoft YaHei"/>
                  <a:cs typeface="+mn-cs"/>
                </a:rPr>
                <a:t>概念</a:t>
              </a:r>
              <a:endParaRPr lang="en-US" altLang="zh-CN" sz="3600" b="1" dirty="0">
                <a:solidFill>
                  <a:srgbClr val="3F3F3F"/>
                </a:solidFill>
                <a:latin typeface="Arial"/>
                <a:ea typeface="Microsoft YaHei"/>
              </a:endParaRPr>
            </a:p>
          </p:txBody>
        </p:sp>
      </p:grpSp>
    </p:spTree>
    <p:extLst>
      <p:ext uri="{BB962C8B-B14F-4D97-AF65-F5344CB8AC3E}">
        <p14:creationId xmlns:p14="http://schemas.microsoft.com/office/powerpoint/2010/main" val="32482135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01 DevOps</a:t>
            </a:r>
            <a:r>
              <a:rPr lang="zh-CN" altLang="en-US" dirty="0"/>
              <a:t>概念</a:t>
            </a:r>
          </a:p>
        </p:txBody>
      </p:sp>
      <p:sp>
        <p:nvSpPr>
          <p:cNvPr id="3" name="灯片编号占位符 2"/>
          <p:cNvSpPr>
            <a:spLocks noGrp="1"/>
          </p:cNvSpPr>
          <p:nvPr>
            <p:ph type="sldNum" sz="quarter" idx="12"/>
          </p:nvPr>
        </p:nvSpPr>
        <p:spPr/>
        <p:txBody>
          <a:bodyPr/>
          <a:lstStyle/>
          <a:p>
            <a:fld id="{1AAC388E-FA9E-4A2C-95EA-1F6B3A07935A}" type="slidenum">
              <a:rPr lang="zh-CN" altLang="en-US" sz="1400" smtClean="0">
                <a:solidFill>
                  <a:srgbClr val="000000"/>
                </a:solidFill>
              </a:rPr>
              <a:t>31</a:t>
            </a:fld>
            <a:endParaRPr lang="zh-CN" altLang="en-US" sz="1400" dirty="0">
              <a:solidFill>
                <a:srgbClr val="000000"/>
              </a:solidFill>
            </a:endParaRPr>
          </a:p>
        </p:txBody>
      </p:sp>
      <p:sp>
        <p:nvSpPr>
          <p:cNvPr id="4" name="文本框 3"/>
          <p:cNvSpPr txBox="1"/>
          <p:nvPr/>
        </p:nvSpPr>
        <p:spPr>
          <a:xfrm>
            <a:off x="718218" y="874354"/>
            <a:ext cx="2789363" cy="601075"/>
          </a:xfrm>
          <a:prstGeom prst="rect">
            <a:avLst/>
          </a:prstGeom>
          <a:noFill/>
        </p:spPr>
        <p:txBody>
          <a:bodyPr wrap="square" lIns="0" tIns="0" rIns="0" bIns="0" rtlCol="0" anchor="ctr">
            <a:noAutofit/>
          </a:bodyPr>
          <a:lstStyle>
            <a:defPPr>
              <a:defRPr lang="zh-CN"/>
            </a:defPPr>
            <a:lvl1pPr marL="285750" indent="-285750">
              <a:lnSpc>
                <a:spcPct val="125000"/>
              </a:lnSpc>
              <a:spcAft>
                <a:spcPts val="500"/>
              </a:spcAft>
              <a:buFont typeface="Wingdings" panose="05000000000000000000" pitchFamily="2" charset="2"/>
              <a:buChar char="p"/>
              <a:defRPr sz="2400">
                <a:solidFill>
                  <a:srgbClr val="003F88"/>
                </a:solidFill>
              </a:defRPr>
            </a:lvl1pPr>
          </a:lstStyle>
          <a:p>
            <a:r>
              <a:rPr lang="en-US" altLang="zh-CN" dirty="0"/>
              <a:t> DevOps</a:t>
            </a:r>
            <a:r>
              <a:rPr lang="zh-CN" altLang="en-US" dirty="0"/>
              <a:t>定义</a:t>
            </a:r>
          </a:p>
        </p:txBody>
      </p:sp>
      <p:sp>
        <p:nvSpPr>
          <p:cNvPr id="7" name="文本框 6">
            <a:extLst>
              <a:ext uri="{FF2B5EF4-FFF2-40B4-BE49-F238E27FC236}">
                <a16:creationId xmlns:a16="http://schemas.microsoft.com/office/drawing/2014/main" id="{368EF088-2BA1-C275-4A46-D3BC05BCB456}"/>
              </a:ext>
            </a:extLst>
          </p:cNvPr>
          <p:cNvSpPr txBox="1"/>
          <p:nvPr/>
        </p:nvSpPr>
        <p:spPr>
          <a:xfrm>
            <a:off x="1086902" y="1634493"/>
            <a:ext cx="10152000" cy="1884106"/>
          </a:xfrm>
          <a:prstGeom prst="rect">
            <a:avLst/>
          </a:prstGeom>
          <a:noFill/>
        </p:spPr>
        <p:txBody>
          <a:bodyPr wrap="square">
            <a:spAutoFit/>
          </a:bodyPr>
          <a:lstStyle/>
          <a:p>
            <a:pPr algn="just">
              <a:lnSpc>
                <a:spcPct val="150000"/>
              </a:lnSpc>
            </a:pPr>
            <a:r>
              <a:rPr lang="en-US" altLang="zh-CN" sz="2000" dirty="0"/>
              <a:t>DevOps</a:t>
            </a:r>
            <a:r>
              <a:rPr lang="zh-CN" altLang="en-US" sz="2000" dirty="0"/>
              <a:t>（</a:t>
            </a:r>
            <a:r>
              <a:rPr lang="en-US" altLang="zh-CN" sz="2000" dirty="0"/>
              <a:t>Development</a:t>
            </a:r>
            <a:r>
              <a:rPr lang="zh-CN" altLang="en-US" sz="2000" dirty="0"/>
              <a:t>和</a:t>
            </a:r>
            <a:r>
              <a:rPr lang="en-US" altLang="zh-CN" sz="2000" dirty="0"/>
              <a:t>Operations</a:t>
            </a:r>
            <a:r>
              <a:rPr lang="zh-CN" altLang="en-US" sz="2000" dirty="0"/>
              <a:t>的合成词）是一种重视</a:t>
            </a:r>
            <a:r>
              <a:rPr lang="zh-CN" altLang="en-US" sz="2000" b="1" dirty="0">
                <a:solidFill>
                  <a:srgbClr val="00B050"/>
                </a:solidFill>
              </a:rPr>
              <a:t>“软件开发人员（</a:t>
            </a:r>
            <a:r>
              <a:rPr lang="en-US" altLang="zh-CN" sz="2000" b="1" dirty="0">
                <a:solidFill>
                  <a:srgbClr val="00B050"/>
                </a:solidFill>
              </a:rPr>
              <a:t>Dev</a:t>
            </a:r>
            <a:r>
              <a:rPr lang="zh-CN" altLang="en-US" sz="2000" b="1" dirty="0">
                <a:solidFill>
                  <a:srgbClr val="00B050"/>
                </a:solidFill>
              </a:rPr>
              <a:t>）”和“</a:t>
            </a:r>
            <a:r>
              <a:rPr lang="en-US" altLang="zh-CN" sz="2000" b="1" dirty="0">
                <a:solidFill>
                  <a:srgbClr val="00B050"/>
                </a:solidFill>
              </a:rPr>
              <a:t>IT</a:t>
            </a:r>
            <a:r>
              <a:rPr lang="zh-CN" altLang="en-US" sz="2000" b="1" dirty="0">
                <a:solidFill>
                  <a:srgbClr val="00B050"/>
                </a:solidFill>
              </a:rPr>
              <a:t>运维技术人员（</a:t>
            </a:r>
            <a:r>
              <a:rPr lang="en-US" altLang="zh-CN" sz="2000" b="1" dirty="0">
                <a:solidFill>
                  <a:srgbClr val="00B050"/>
                </a:solidFill>
              </a:rPr>
              <a:t>Ops</a:t>
            </a:r>
            <a:r>
              <a:rPr lang="zh-CN" altLang="en-US" sz="2000" b="1" dirty="0">
                <a:solidFill>
                  <a:srgbClr val="00B050"/>
                </a:solidFill>
              </a:rPr>
              <a:t>）”之间沟通合作</a:t>
            </a:r>
            <a:r>
              <a:rPr lang="zh-CN" altLang="en-US" sz="2000" dirty="0"/>
              <a:t>的</a:t>
            </a:r>
            <a:r>
              <a:rPr lang="zh-CN" altLang="en-US" sz="2000" b="1" dirty="0">
                <a:solidFill>
                  <a:srgbClr val="C00000"/>
                </a:solidFill>
              </a:rPr>
              <a:t>文化、运动或惯例</a:t>
            </a:r>
            <a:r>
              <a:rPr lang="zh-CN" altLang="en-US" sz="2000" dirty="0"/>
              <a:t>。通过自动化</a:t>
            </a:r>
            <a:r>
              <a:rPr lang="zh-CN" altLang="en-US" sz="2000" dirty="0">
                <a:solidFill>
                  <a:schemeClr val="tx1">
                    <a:lumMod val="75000"/>
                  </a:schemeClr>
                </a:solidFill>
              </a:rPr>
              <a:t>“软件交付”和“架构变更”</a:t>
            </a:r>
            <a:r>
              <a:rPr lang="zh-CN" altLang="en-US" sz="2000" dirty="0"/>
              <a:t>的流程，来</a:t>
            </a:r>
            <a:r>
              <a:rPr lang="zh-CN" altLang="en-US" sz="2000" b="1" dirty="0">
                <a:solidFill>
                  <a:srgbClr val="0070C0"/>
                </a:solidFill>
              </a:rPr>
              <a:t>使得构建、测试、发布软件能够更加地快捷、频繁和可靠</a:t>
            </a:r>
            <a:r>
              <a:rPr lang="zh-CN" altLang="en-US" sz="2000" dirty="0"/>
              <a:t>。</a:t>
            </a:r>
            <a:endParaRPr lang="en-US" altLang="zh-CN" sz="2000" dirty="0"/>
          </a:p>
          <a:p>
            <a:pPr algn="r">
              <a:lnSpc>
                <a:spcPct val="150000"/>
              </a:lnSpc>
            </a:pPr>
            <a:r>
              <a:rPr lang="en-US" altLang="zh-CN" sz="2000" dirty="0"/>
              <a:t>——</a:t>
            </a:r>
            <a:r>
              <a:rPr lang="zh-CN" altLang="en-US" sz="2000" dirty="0"/>
              <a:t>维基百科</a:t>
            </a:r>
          </a:p>
        </p:txBody>
      </p:sp>
      <p:sp>
        <p:nvSpPr>
          <p:cNvPr id="10" name="文本框 9">
            <a:extLst>
              <a:ext uri="{FF2B5EF4-FFF2-40B4-BE49-F238E27FC236}">
                <a16:creationId xmlns:a16="http://schemas.microsoft.com/office/drawing/2014/main" id="{E528D1BC-6F88-ED33-66EB-BB7BC8AAD0F4}"/>
              </a:ext>
            </a:extLst>
          </p:cNvPr>
          <p:cNvSpPr txBox="1"/>
          <p:nvPr/>
        </p:nvSpPr>
        <p:spPr>
          <a:xfrm>
            <a:off x="1086903" y="3637876"/>
            <a:ext cx="10151999" cy="2807435"/>
          </a:xfrm>
          <a:prstGeom prst="rect">
            <a:avLst/>
          </a:prstGeom>
          <a:noFill/>
        </p:spPr>
        <p:txBody>
          <a:bodyPr wrap="square">
            <a:spAutoFit/>
          </a:bodyPr>
          <a:lstStyle>
            <a:defPPr>
              <a:defRPr lang="zh-CN"/>
            </a:defPPr>
            <a:lvl1pPr algn="just">
              <a:lnSpc>
                <a:spcPct val="150000"/>
              </a:lnSpc>
              <a:defRPr sz="2000"/>
            </a:lvl1pPr>
          </a:lstStyle>
          <a:p>
            <a:r>
              <a:rPr lang="en-US" altLang="zh-CN" dirty="0"/>
              <a:t>DevOps</a:t>
            </a:r>
            <a:r>
              <a:rPr lang="zh-CN" altLang="en-US" dirty="0"/>
              <a:t>是 </a:t>
            </a:r>
            <a:r>
              <a:rPr lang="en-US" altLang="zh-CN" dirty="0"/>
              <a:t>Development </a:t>
            </a:r>
            <a:r>
              <a:rPr lang="zh-CN" altLang="en-US" dirty="0"/>
              <a:t>和 </a:t>
            </a:r>
            <a:r>
              <a:rPr lang="en-US" altLang="zh-CN" dirty="0"/>
              <a:t>Operations </a:t>
            </a:r>
            <a:r>
              <a:rPr lang="zh-CN" altLang="en-US" dirty="0"/>
              <a:t>的组合词，它是</a:t>
            </a:r>
            <a:r>
              <a:rPr lang="zh-CN" altLang="en-US" b="1" dirty="0">
                <a:solidFill>
                  <a:srgbClr val="C00000"/>
                </a:solidFill>
              </a:rPr>
              <a:t>一组过程、方法与系统的统称</a:t>
            </a:r>
            <a:r>
              <a:rPr lang="zh-CN" altLang="en-US" dirty="0"/>
              <a:t>，用于</a:t>
            </a:r>
            <a:r>
              <a:rPr lang="zh-CN" altLang="en-US" b="1" dirty="0">
                <a:solidFill>
                  <a:srgbClr val="00B050"/>
                </a:solidFill>
              </a:rPr>
              <a:t>促进开发（应用程序</a:t>
            </a:r>
            <a:r>
              <a:rPr lang="en-US" altLang="zh-CN" b="1" dirty="0">
                <a:solidFill>
                  <a:srgbClr val="00B050"/>
                </a:solidFill>
              </a:rPr>
              <a:t>/</a:t>
            </a:r>
            <a:r>
              <a:rPr lang="zh-CN" altLang="en-US" b="1" dirty="0">
                <a:solidFill>
                  <a:srgbClr val="00B050"/>
                </a:solidFill>
              </a:rPr>
              <a:t>软件工程）、技术运营和质量保障（</a:t>
            </a:r>
            <a:r>
              <a:rPr lang="en-US" altLang="zh-CN" b="1" dirty="0">
                <a:solidFill>
                  <a:srgbClr val="00B050"/>
                </a:solidFill>
              </a:rPr>
              <a:t>QA</a:t>
            </a:r>
            <a:r>
              <a:rPr lang="zh-CN" altLang="en-US" b="1" dirty="0">
                <a:solidFill>
                  <a:srgbClr val="00B050"/>
                </a:solidFill>
              </a:rPr>
              <a:t>）部门之间的沟通、协作与整合</a:t>
            </a:r>
            <a:r>
              <a:rPr lang="zh-CN" altLang="en-US" dirty="0"/>
              <a:t>。研发运营一体化是将应用的需求、开发、测试、部署和运营统一起来，基于整个组织的协作和应用架构的优化，实现</a:t>
            </a:r>
            <a:r>
              <a:rPr lang="zh-CN" altLang="en-US" dirty="0">
                <a:solidFill>
                  <a:schemeClr val="tx1">
                    <a:lumMod val="75000"/>
                  </a:schemeClr>
                </a:solidFill>
              </a:rPr>
              <a:t>敏捷开发、持续交付和应用运营</a:t>
            </a:r>
            <a:r>
              <a:rPr lang="zh-CN" altLang="en-US" dirty="0"/>
              <a:t>的无缝集成，</a:t>
            </a:r>
            <a:r>
              <a:rPr lang="zh-CN" altLang="en-US" b="1" dirty="0">
                <a:solidFill>
                  <a:srgbClr val="0070C0"/>
                </a:solidFill>
              </a:rPr>
              <a:t>在保证稳定的同时，快速交付高质量的软件及服务，灵活应对快速变化的业务需求和市场环境</a:t>
            </a:r>
            <a:r>
              <a:rPr lang="zh-CN" altLang="en-US" dirty="0"/>
              <a:t>。</a:t>
            </a:r>
            <a:endParaRPr lang="en-US" altLang="zh-CN" dirty="0"/>
          </a:p>
          <a:p>
            <a:pPr algn="r"/>
            <a:r>
              <a:rPr lang="en-US" altLang="zh-CN" sz="2000" dirty="0"/>
              <a:t>——</a:t>
            </a:r>
            <a:r>
              <a:rPr lang="zh-CN" altLang="en-US" sz="2000" dirty="0"/>
              <a:t>云计算开源产业联盟</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01 DevOps</a:t>
            </a:r>
            <a:r>
              <a:rPr lang="zh-CN" altLang="en-US" dirty="0"/>
              <a:t>概念</a:t>
            </a:r>
          </a:p>
        </p:txBody>
      </p:sp>
      <p:sp>
        <p:nvSpPr>
          <p:cNvPr id="3" name="灯片编号占位符 2"/>
          <p:cNvSpPr>
            <a:spLocks noGrp="1"/>
          </p:cNvSpPr>
          <p:nvPr>
            <p:ph type="sldNum" sz="quarter" idx="12"/>
          </p:nvPr>
        </p:nvSpPr>
        <p:spPr/>
        <p:txBody>
          <a:bodyPr/>
          <a:lstStyle/>
          <a:p>
            <a:fld id="{1AAC388E-FA9E-4A2C-95EA-1F6B3A07935A}" type="slidenum">
              <a:rPr lang="zh-CN" altLang="en-US" sz="1400" smtClean="0">
                <a:solidFill>
                  <a:srgbClr val="000000"/>
                </a:solidFill>
              </a:rPr>
              <a:t>32</a:t>
            </a:fld>
            <a:endParaRPr lang="zh-CN" altLang="en-US" sz="1400" dirty="0">
              <a:solidFill>
                <a:srgbClr val="000000"/>
              </a:solidFill>
            </a:endParaRPr>
          </a:p>
        </p:txBody>
      </p:sp>
      <p:sp>
        <p:nvSpPr>
          <p:cNvPr id="4" name="文本框 3"/>
          <p:cNvSpPr txBox="1"/>
          <p:nvPr/>
        </p:nvSpPr>
        <p:spPr>
          <a:xfrm>
            <a:off x="718218" y="874354"/>
            <a:ext cx="2789363" cy="601075"/>
          </a:xfrm>
          <a:prstGeom prst="rect">
            <a:avLst/>
          </a:prstGeom>
          <a:noFill/>
        </p:spPr>
        <p:txBody>
          <a:bodyPr wrap="square" lIns="0" tIns="0" rIns="0" bIns="0" rtlCol="0" anchor="ctr">
            <a:noAutofit/>
          </a:bodyPr>
          <a:lstStyle>
            <a:defPPr>
              <a:defRPr lang="zh-CN"/>
            </a:defPPr>
            <a:lvl1pPr marL="285750" indent="-285750">
              <a:lnSpc>
                <a:spcPct val="125000"/>
              </a:lnSpc>
              <a:spcAft>
                <a:spcPts val="500"/>
              </a:spcAft>
              <a:buFont typeface="Wingdings" panose="05000000000000000000" pitchFamily="2" charset="2"/>
              <a:buChar char="p"/>
              <a:defRPr sz="2400">
                <a:solidFill>
                  <a:srgbClr val="003F88"/>
                </a:solidFill>
              </a:defRPr>
            </a:lvl1pPr>
          </a:lstStyle>
          <a:p>
            <a:r>
              <a:rPr lang="en-US" altLang="zh-CN" dirty="0"/>
              <a:t> DevOps</a:t>
            </a:r>
            <a:r>
              <a:rPr lang="zh-CN" altLang="en-US" dirty="0"/>
              <a:t>不是</a:t>
            </a:r>
            <a:r>
              <a:rPr lang="en-US" altLang="zh-CN" dirty="0"/>
              <a:t>…</a:t>
            </a:r>
            <a:endParaRPr lang="zh-CN" altLang="en-US" dirty="0"/>
          </a:p>
        </p:txBody>
      </p:sp>
      <p:graphicFrame>
        <p:nvGraphicFramePr>
          <p:cNvPr id="14" name="图示 13">
            <a:extLst>
              <a:ext uri="{FF2B5EF4-FFF2-40B4-BE49-F238E27FC236}">
                <a16:creationId xmlns:a16="http://schemas.microsoft.com/office/drawing/2014/main" id="{FF4DA5C1-073A-6569-BD19-AB78BDB65046}"/>
              </a:ext>
            </a:extLst>
          </p:cNvPr>
          <p:cNvGraphicFramePr/>
          <p:nvPr/>
        </p:nvGraphicFramePr>
        <p:xfrm>
          <a:off x="1084347" y="1945177"/>
          <a:ext cx="10262525" cy="37359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55851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01 DevOps</a:t>
            </a:r>
            <a:r>
              <a:rPr lang="zh-CN" altLang="en-US" dirty="0"/>
              <a:t>概念</a:t>
            </a:r>
          </a:p>
        </p:txBody>
      </p:sp>
      <p:sp>
        <p:nvSpPr>
          <p:cNvPr id="3" name="灯片编号占位符 2"/>
          <p:cNvSpPr>
            <a:spLocks noGrp="1"/>
          </p:cNvSpPr>
          <p:nvPr>
            <p:ph type="sldNum" sz="quarter" idx="12"/>
          </p:nvPr>
        </p:nvSpPr>
        <p:spPr/>
        <p:txBody>
          <a:bodyPr/>
          <a:lstStyle/>
          <a:p>
            <a:fld id="{1AAC388E-FA9E-4A2C-95EA-1F6B3A07935A}" type="slidenum">
              <a:rPr lang="zh-CN" altLang="en-US" sz="1400" smtClean="0">
                <a:solidFill>
                  <a:srgbClr val="000000"/>
                </a:solidFill>
              </a:rPr>
              <a:t>33</a:t>
            </a:fld>
            <a:endParaRPr lang="zh-CN" altLang="en-US" sz="1400" dirty="0">
              <a:solidFill>
                <a:srgbClr val="000000"/>
              </a:solidFill>
            </a:endParaRPr>
          </a:p>
        </p:txBody>
      </p:sp>
      <p:sp>
        <p:nvSpPr>
          <p:cNvPr id="4" name="文本框 3"/>
          <p:cNvSpPr txBox="1"/>
          <p:nvPr/>
        </p:nvSpPr>
        <p:spPr>
          <a:xfrm>
            <a:off x="718218" y="874354"/>
            <a:ext cx="5149182" cy="601075"/>
          </a:xfrm>
          <a:prstGeom prst="rect">
            <a:avLst/>
          </a:prstGeom>
          <a:noFill/>
        </p:spPr>
        <p:txBody>
          <a:bodyPr wrap="square" lIns="0" tIns="0" rIns="0" bIns="0" rtlCol="0" anchor="ctr">
            <a:noAutofit/>
          </a:bodyPr>
          <a:lstStyle>
            <a:defPPr>
              <a:defRPr lang="zh-CN"/>
            </a:defPPr>
            <a:lvl1pPr marL="285750" indent="-285750">
              <a:lnSpc>
                <a:spcPct val="125000"/>
              </a:lnSpc>
              <a:spcAft>
                <a:spcPts val="500"/>
              </a:spcAft>
              <a:buFont typeface="Wingdings" panose="05000000000000000000" pitchFamily="2" charset="2"/>
              <a:buChar char="p"/>
              <a:defRPr sz="2400">
                <a:solidFill>
                  <a:srgbClr val="003F88"/>
                </a:solidFill>
              </a:defRPr>
            </a:lvl1pPr>
          </a:lstStyle>
          <a:p>
            <a:r>
              <a:rPr lang="en-US" altLang="zh-CN" dirty="0"/>
              <a:t> </a:t>
            </a:r>
            <a:r>
              <a:rPr lang="en-US" altLang="zh-CN" dirty="0" err="1"/>
              <a:t>BizDevOps</a:t>
            </a:r>
            <a:r>
              <a:rPr lang="zh-CN" altLang="en-US" dirty="0"/>
              <a:t>定义</a:t>
            </a:r>
          </a:p>
        </p:txBody>
      </p:sp>
      <p:sp>
        <p:nvSpPr>
          <p:cNvPr id="5" name="文本框 4">
            <a:extLst>
              <a:ext uri="{FF2B5EF4-FFF2-40B4-BE49-F238E27FC236}">
                <a16:creationId xmlns:a16="http://schemas.microsoft.com/office/drawing/2014/main" id="{A7322D15-1A86-F7BE-1571-CF185950AB19}"/>
              </a:ext>
            </a:extLst>
          </p:cNvPr>
          <p:cNvSpPr txBox="1"/>
          <p:nvPr/>
        </p:nvSpPr>
        <p:spPr>
          <a:xfrm>
            <a:off x="718218" y="2822302"/>
            <a:ext cx="5149182" cy="601075"/>
          </a:xfrm>
          <a:prstGeom prst="rect">
            <a:avLst/>
          </a:prstGeom>
          <a:noFill/>
        </p:spPr>
        <p:txBody>
          <a:bodyPr wrap="square" lIns="0" tIns="0" rIns="0" bIns="0" rtlCol="0" anchor="ctr">
            <a:noAutofit/>
          </a:bodyPr>
          <a:lstStyle>
            <a:defPPr>
              <a:defRPr lang="zh-CN"/>
            </a:defPPr>
            <a:lvl1pPr marL="285750" indent="-285750">
              <a:lnSpc>
                <a:spcPct val="125000"/>
              </a:lnSpc>
              <a:spcAft>
                <a:spcPts val="500"/>
              </a:spcAft>
              <a:buFont typeface="Wingdings" panose="05000000000000000000" pitchFamily="2" charset="2"/>
              <a:buChar char="p"/>
              <a:defRPr sz="2400">
                <a:solidFill>
                  <a:srgbClr val="003F88"/>
                </a:solidFill>
              </a:defRPr>
            </a:lvl1pPr>
          </a:lstStyle>
          <a:p>
            <a:r>
              <a:rPr lang="en-US" altLang="zh-CN" dirty="0"/>
              <a:t> </a:t>
            </a:r>
            <a:r>
              <a:rPr lang="en-US" altLang="zh-CN" dirty="0" err="1"/>
              <a:t>DevSecOps</a:t>
            </a:r>
            <a:r>
              <a:rPr lang="zh-CN" altLang="en-US" dirty="0"/>
              <a:t>定义</a:t>
            </a:r>
          </a:p>
        </p:txBody>
      </p:sp>
      <p:sp>
        <p:nvSpPr>
          <p:cNvPr id="9" name="文本框 8">
            <a:extLst>
              <a:ext uri="{FF2B5EF4-FFF2-40B4-BE49-F238E27FC236}">
                <a16:creationId xmlns:a16="http://schemas.microsoft.com/office/drawing/2014/main" id="{376D500A-C397-9602-BAC7-625CE34B7E76}"/>
              </a:ext>
            </a:extLst>
          </p:cNvPr>
          <p:cNvSpPr txBox="1"/>
          <p:nvPr/>
        </p:nvSpPr>
        <p:spPr>
          <a:xfrm>
            <a:off x="806334" y="1546697"/>
            <a:ext cx="10740044" cy="1077218"/>
          </a:xfrm>
          <a:prstGeom prst="rect">
            <a:avLst/>
          </a:prstGeom>
          <a:noFill/>
        </p:spPr>
        <p:txBody>
          <a:bodyPr wrap="square">
            <a:spAutoFit/>
          </a:bodyPr>
          <a:lstStyle/>
          <a:p>
            <a:pPr algn="just"/>
            <a:r>
              <a:rPr lang="zh-CN" altLang="en-US" sz="1600" dirty="0">
                <a:latin typeface="+mj-ea"/>
                <a:ea typeface="+mj-ea"/>
              </a:rPr>
              <a:t>企业围绕业务商业价值实现，贯通 </a:t>
            </a:r>
            <a:r>
              <a:rPr lang="en-US" altLang="zh-CN" sz="1600" dirty="0">
                <a:latin typeface="+mj-ea"/>
                <a:ea typeface="+mj-ea"/>
              </a:rPr>
              <a:t>IT</a:t>
            </a:r>
            <a:r>
              <a:rPr lang="zh-CN" altLang="en-US" sz="1600" dirty="0">
                <a:latin typeface="+mj-ea"/>
                <a:ea typeface="+mj-ea"/>
              </a:rPr>
              <a:t>、运维、业务三大职能部门，形成利益相关的全功能混编团队，并借助一体化作业流程，以及低技术门槛作业平台／工具，支撑对业务商业价值端到端的交付及生命周期管理，帮助企业持续满足转型对</a:t>
            </a:r>
            <a:r>
              <a:rPr lang="en-US" altLang="zh-CN" sz="1600" dirty="0">
                <a:latin typeface="+mj-ea"/>
                <a:ea typeface="+mj-ea"/>
              </a:rPr>
              <a:t>IT</a:t>
            </a:r>
            <a:r>
              <a:rPr lang="zh-CN" altLang="en-US" sz="1600" dirty="0">
                <a:latin typeface="+mj-ea"/>
                <a:ea typeface="+mj-ea"/>
              </a:rPr>
              <a:t>研发、传统运维、业务运营提出的更高诉求，实现研发、运维、运营能力的无缝连接及有效治理与协同发展，以敏捷应对商业模式、运营模式、管理模式等的变化，实现企业商业价值最大化。</a:t>
            </a:r>
          </a:p>
        </p:txBody>
      </p:sp>
      <p:sp>
        <p:nvSpPr>
          <p:cNvPr id="11" name="文本框 10">
            <a:extLst>
              <a:ext uri="{FF2B5EF4-FFF2-40B4-BE49-F238E27FC236}">
                <a16:creationId xmlns:a16="http://schemas.microsoft.com/office/drawing/2014/main" id="{89EA28BC-998F-7B2D-704F-C6E2B79C7CC1}"/>
              </a:ext>
            </a:extLst>
          </p:cNvPr>
          <p:cNvSpPr txBox="1"/>
          <p:nvPr/>
        </p:nvSpPr>
        <p:spPr>
          <a:xfrm>
            <a:off x="806334" y="3423377"/>
            <a:ext cx="10740044" cy="2800767"/>
          </a:xfrm>
          <a:prstGeom prst="rect">
            <a:avLst/>
          </a:prstGeom>
          <a:noFill/>
        </p:spPr>
        <p:txBody>
          <a:bodyPr wrap="square">
            <a:spAutoFit/>
          </a:bodyPr>
          <a:lstStyle/>
          <a:p>
            <a:pPr marL="285750" indent="-285750" algn="just">
              <a:buFont typeface="Wingdings" panose="05000000000000000000" pitchFamily="2" charset="2"/>
              <a:buChar char="Ø"/>
            </a:pPr>
            <a:r>
              <a:rPr lang="en-US" altLang="zh-CN" sz="1600" dirty="0" err="1"/>
              <a:t>DevSecOps</a:t>
            </a:r>
            <a:r>
              <a:rPr lang="en-US" altLang="zh-CN" sz="1600" dirty="0"/>
              <a:t> </a:t>
            </a:r>
            <a:r>
              <a:rPr lang="zh-CN" altLang="en-US" sz="1600" dirty="0"/>
              <a:t>是“开发、安全和运营”的缩写，它可在软件开发生命周期的各个阶段自动集成安全性 </a:t>
            </a:r>
            <a:r>
              <a:rPr lang="en-US" altLang="zh-CN" sz="1600" dirty="0"/>
              <a:t>- </a:t>
            </a:r>
            <a:r>
              <a:rPr lang="zh-CN" altLang="en-US" sz="1600" dirty="0"/>
              <a:t>从最初的设计到集成、测试、部署，一直到软件交付。  </a:t>
            </a:r>
          </a:p>
          <a:p>
            <a:pPr marL="285750" indent="-285750" algn="just">
              <a:buFont typeface="Wingdings" panose="05000000000000000000" pitchFamily="2" charset="2"/>
              <a:buChar char="Ø"/>
            </a:pPr>
            <a:r>
              <a:rPr lang="en-US" altLang="zh-CN" sz="1600" dirty="0" err="1"/>
              <a:t>DevSecOps</a:t>
            </a:r>
            <a:r>
              <a:rPr lang="en-US" altLang="zh-CN" sz="1600" dirty="0"/>
              <a:t> </a:t>
            </a:r>
            <a:r>
              <a:rPr lang="zh-CN" altLang="en-US" sz="1600" dirty="0"/>
              <a:t>代表着开发组织实施安全性的自然且必要的发展过程。 过去，安全性总是由单独的安全团队在开发周期结束时（几乎是事后）添加到软件中，并由单独的质量保证 </a:t>
            </a:r>
            <a:r>
              <a:rPr lang="en-US" altLang="zh-CN" sz="1600" dirty="0"/>
              <a:t>(QA) </a:t>
            </a:r>
            <a:r>
              <a:rPr lang="zh-CN" altLang="en-US" sz="1600" dirty="0"/>
              <a:t>团队进行测试。</a:t>
            </a:r>
          </a:p>
          <a:p>
            <a:pPr marL="285750" indent="-285750" algn="just">
              <a:buFont typeface="Wingdings" panose="05000000000000000000" pitchFamily="2" charset="2"/>
              <a:buChar char="Ø"/>
            </a:pPr>
            <a:r>
              <a:rPr lang="zh-CN" altLang="en-US" sz="1600" dirty="0"/>
              <a:t>如果每年只发布一两次软件更新，这种方法还能够应付。 但是，随着软件开发人员采用了敏捷和 </a:t>
            </a:r>
            <a:r>
              <a:rPr lang="en-US" altLang="zh-CN" sz="1600" dirty="0"/>
              <a:t>DevOps </a:t>
            </a:r>
            <a:r>
              <a:rPr lang="zh-CN" altLang="en-US" sz="1600" dirty="0"/>
              <a:t>实践，软件开发 周期缩短到几周甚至几天，传统的“添加式”安全方法就造成了让人无法接受的瓶颈。</a:t>
            </a:r>
          </a:p>
          <a:p>
            <a:pPr marL="285750" indent="-285750" algn="just">
              <a:buFont typeface="Wingdings" panose="05000000000000000000" pitchFamily="2" charset="2"/>
              <a:buChar char="Ø"/>
            </a:pPr>
            <a:r>
              <a:rPr lang="en-US" altLang="zh-CN" sz="1600" dirty="0" err="1"/>
              <a:t>DevSecOps</a:t>
            </a:r>
            <a:r>
              <a:rPr lang="en-US" altLang="zh-CN" sz="1600" dirty="0"/>
              <a:t> </a:t>
            </a:r>
            <a:r>
              <a:rPr lang="zh-CN" altLang="en-US" sz="1600" dirty="0"/>
              <a:t>可将应用和基础架构安全性无缝集成到敏捷和 </a:t>
            </a:r>
            <a:r>
              <a:rPr lang="en-US" altLang="zh-CN" sz="1600" dirty="0"/>
              <a:t>DevOps </a:t>
            </a:r>
            <a:r>
              <a:rPr lang="zh-CN" altLang="en-US" sz="1600" dirty="0"/>
              <a:t>流程和工具中。 它可以在安全问题一出现就解决这些问题，处理起来更加得心应手、速度更快，且成本更低，并且不会将这些问题带入生产环境。 此外，</a:t>
            </a:r>
            <a:r>
              <a:rPr lang="en-US" altLang="zh-CN" sz="1600" dirty="0" err="1"/>
              <a:t>DevSecOps</a:t>
            </a:r>
            <a:r>
              <a:rPr lang="en-US" altLang="zh-CN" sz="1600" dirty="0"/>
              <a:t> </a:t>
            </a:r>
            <a:r>
              <a:rPr lang="zh-CN" altLang="en-US" sz="1600" dirty="0"/>
              <a:t>使应用和基础架构安全性成为开发、安全和 </a:t>
            </a:r>
            <a:r>
              <a:rPr lang="en-US" altLang="zh-CN" sz="1600" dirty="0"/>
              <a:t>IT </a:t>
            </a:r>
            <a:r>
              <a:rPr lang="zh-CN" altLang="en-US" sz="1600" dirty="0"/>
              <a:t>运营团队的共同责任，而不仅仅是安全团队一方的责任。 它支持“更安全、更迅速地交付软件”</a:t>
            </a:r>
            <a:r>
              <a:rPr lang="en-US" altLang="zh-CN" sz="1600" dirty="0"/>
              <a:t>- </a:t>
            </a:r>
            <a:r>
              <a:rPr lang="zh-CN" altLang="en-US" sz="1600" dirty="0"/>
              <a:t>这是 </a:t>
            </a:r>
            <a:r>
              <a:rPr lang="en-US" altLang="zh-CN" sz="1600" dirty="0" err="1"/>
              <a:t>DevSecOps</a:t>
            </a:r>
            <a:r>
              <a:rPr lang="en-US" altLang="zh-CN" sz="1600" dirty="0"/>
              <a:t> </a:t>
            </a:r>
            <a:r>
              <a:rPr lang="zh-CN" altLang="en-US" sz="1600" dirty="0"/>
              <a:t>的座右铭，可在不减慢软件开发周期的情况下自动交付安全的软件。 </a:t>
            </a:r>
          </a:p>
        </p:txBody>
      </p:sp>
    </p:spTree>
    <p:extLst>
      <p:ext uri="{BB962C8B-B14F-4D97-AF65-F5344CB8AC3E}">
        <p14:creationId xmlns:p14="http://schemas.microsoft.com/office/powerpoint/2010/main" val="8669743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B84E9945-F3C2-4023-A547-697A62835A1F}"/>
              </a:ext>
            </a:extLst>
          </p:cNvPr>
          <p:cNvSpPr/>
          <p:nvPr/>
        </p:nvSpPr>
        <p:spPr>
          <a:xfrm>
            <a:off x="10" y="5"/>
            <a:ext cx="12191980" cy="6857990"/>
          </a:xfrm>
          <a:prstGeom prst="rect">
            <a:avLst/>
          </a:prstGeom>
          <a:blipFill dpi="0" rotWithShape="1">
            <a:blip r:embed="rId3">
              <a:alphaModFix amt="10000"/>
              <a:duotone>
                <a:schemeClr val="bg2">
                  <a:shade val="45000"/>
                  <a:satMod val="135000"/>
                </a:schemeClr>
                <a:prstClr val="white"/>
              </a:duotone>
            </a:blip>
            <a:srcRect/>
            <a:tile tx="0" ty="0" sx="60000" sy="6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00"/>
              </a:spcAft>
            </a:pPr>
            <a:endParaRPr lang="zh-CN" altLang="en-US"/>
          </a:p>
        </p:txBody>
      </p:sp>
      <p:grpSp>
        <p:nvGrpSpPr>
          <p:cNvPr id="3" name="组合 2">
            <a:extLst>
              <a:ext uri="{FF2B5EF4-FFF2-40B4-BE49-F238E27FC236}">
                <a16:creationId xmlns:a16="http://schemas.microsoft.com/office/drawing/2014/main" id="{BDEEF630-E241-47AA-BBEA-5014DEE18790}"/>
              </a:ext>
            </a:extLst>
          </p:cNvPr>
          <p:cNvGrpSpPr/>
          <p:nvPr/>
        </p:nvGrpSpPr>
        <p:grpSpPr>
          <a:xfrm>
            <a:off x="793780" y="2608487"/>
            <a:ext cx="2974123" cy="3387729"/>
            <a:chOff x="870884" y="1648624"/>
            <a:chExt cx="2974123" cy="3387729"/>
          </a:xfrm>
        </p:grpSpPr>
        <p:sp>
          <p:nvSpPr>
            <p:cNvPr id="11" name="椭圆 10">
              <a:extLst>
                <a:ext uri="{FF2B5EF4-FFF2-40B4-BE49-F238E27FC236}">
                  <a16:creationId xmlns:a16="http://schemas.microsoft.com/office/drawing/2014/main" id="{50233245-EB31-4DE9-831A-0D881E502C02}"/>
                </a:ext>
              </a:extLst>
            </p:cNvPr>
            <p:cNvSpPr/>
            <p:nvPr/>
          </p:nvSpPr>
          <p:spPr>
            <a:xfrm>
              <a:off x="870884" y="2062230"/>
              <a:ext cx="2974123" cy="297412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icrosoft YaHei"/>
                <a:cs typeface="+mn-cs"/>
              </a:endParaRPr>
            </a:p>
          </p:txBody>
        </p:sp>
        <p:pic>
          <p:nvPicPr>
            <p:cNvPr id="10" name="图片 9">
              <a:extLst>
                <a:ext uri="{FF2B5EF4-FFF2-40B4-BE49-F238E27FC236}">
                  <a16:creationId xmlns:a16="http://schemas.microsoft.com/office/drawing/2014/main" id="{3573E33A-B581-4106-913A-FFF18735F53C}"/>
                </a:ext>
              </a:extLst>
            </p:cNvPr>
            <p:cNvPicPr>
              <a:picLocks noChangeAspect="1"/>
            </p:cNvPicPr>
            <p:nvPr/>
          </p:nvPicPr>
          <p:blipFill rotWithShape="1">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r="32998"/>
            <a:stretch/>
          </p:blipFill>
          <p:spPr>
            <a:xfrm>
              <a:off x="1220247" y="1857063"/>
              <a:ext cx="1957015" cy="3160925"/>
            </a:xfrm>
            <a:prstGeom prst="rect">
              <a:avLst/>
            </a:prstGeom>
          </p:spPr>
        </p:pic>
        <p:sp>
          <p:nvSpPr>
            <p:cNvPr id="5" name="文本框 4">
              <a:extLst>
                <a:ext uri="{FF2B5EF4-FFF2-40B4-BE49-F238E27FC236}">
                  <a16:creationId xmlns:a16="http://schemas.microsoft.com/office/drawing/2014/main" id="{62147B20-C522-4B7C-ABB1-0C68667B5D15}"/>
                </a:ext>
              </a:extLst>
            </p:cNvPr>
            <p:cNvSpPr txBox="1"/>
            <p:nvPr/>
          </p:nvSpPr>
          <p:spPr>
            <a:xfrm>
              <a:off x="2749140" y="1648624"/>
              <a:ext cx="258532" cy="1586951"/>
            </a:xfrm>
            <a:prstGeom prst="rect">
              <a:avLst/>
            </a:prstGeom>
            <a:noFill/>
          </p:spPr>
          <p:txBody>
            <a:bodyPr vert="eaVert" wrap="square" lIns="0" tIns="0" rIns="0" bIns="0" rtlCol="0" anchor="ctr">
              <a:spAutoFit/>
            </a:bodyPr>
            <a:lstStyle/>
            <a:p>
              <a:pPr marL="0" marR="0" lvl="0" indent="0" algn="dist" defTabSz="914400" rtl="0" eaLnBrk="1" fontAlgn="auto" latinLnBrk="0" hangingPunct="1">
                <a:lnSpc>
                  <a:spcPct val="120000"/>
                </a:lnSpc>
                <a:spcBef>
                  <a:spcPts val="0"/>
                </a:spcBef>
                <a:spcAft>
                  <a:spcPts val="100"/>
                </a:spcAft>
                <a:buClrTx/>
                <a:buSzTx/>
                <a:buFontTx/>
                <a:buNone/>
                <a:tabLst/>
                <a:defRPr/>
              </a:pPr>
              <a:r>
                <a:rPr kumimoji="0" lang="en-US" altLang="zh-CN" sz="1400" b="1" i="0" u="none" strike="noStrike" kern="1200" cap="none" spc="0" normalizeH="0" baseline="0" noProof="0" dirty="0">
                  <a:ln>
                    <a:noFill/>
                  </a:ln>
                  <a:solidFill>
                    <a:srgbClr val="003F88"/>
                  </a:solidFill>
                  <a:effectLst/>
                  <a:uLnTx/>
                  <a:uFillTx/>
                  <a:latin typeface="Arial"/>
                  <a:ea typeface="Microsoft YaHei"/>
                  <a:cs typeface="+mn-cs"/>
                </a:rPr>
                <a:t>CON</a:t>
              </a:r>
              <a:r>
                <a:rPr kumimoji="0" lang="en-US" altLang="zh-CN" sz="1400" b="1" i="0" u="none" strike="noStrike" kern="1200" cap="none" spc="0" normalizeH="0" baseline="0" noProof="0" dirty="0">
                  <a:ln>
                    <a:noFill/>
                  </a:ln>
                  <a:solidFill>
                    <a:srgbClr val="FFFFFF"/>
                  </a:solidFill>
                  <a:effectLst/>
                  <a:uLnTx/>
                  <a:uFillTx/>
                  <a:latin typeface="Arial"/>
                  <a:ea typeface="Microsoft YaHei"/>
                  <a:cs typeface="+mn-cs"/>
                </a:rPr>
                <a:t>TENTS</a:t>
              </a:r>
              <a:endParaRPr kumimoji="0" lang="zh-CN" altLang="en-US" sz="1400" b="1" i="0" u="none" strike="noStrike" kern="1200" cap="none" spc="0" normalizeH="0" baseline="0" noProof="0" dirty="0">
                <a:ln>
                  <a:noFill/>
                </a:ln>
                <a:solidFill>
                  <a:srgbClr val="FFFFFF"/>
                </a:solidFill>
                <a:effectLst/>
                <a:uLnTx/>
                <a:uFillTx/>
                <a:latin typeface="Arial"/>
                <a:ea typeface="Microsoft YaHei"/>
                <a:cs typeface="+mn-cs"/>
              </a:endParaRPr>
            </a:p>
          </p:txBody>
        </p:sp>
        <p:sp>
          <p:nvSpPr>
            <p:cNvPr id="6" name="文本框 5">
              <a:extLst>
                <a:ext uri="{FF2B5EF4-FFF2-40B4-BE49-F238E27FC236}">
                  <a16:creationId xmlns:a16="http://schemas.microsoft.com/office/drawing/2014/main" id="{3DD3D9B8-D4D5-4E08-89D2-9CEB9C2292E1}"/>
                </a:ext>
              </a:extLst>
            </p:cNvPr>
            <p:cNvSpPr txBox="1"/>
            <p:nvPr/>
          </p:nvSpPr>
          <p:spPr>
            <a:xfrm>
              <a:off x="2958610" y="1648624"/>
              <a:ext cx="886397" cy="1586951"/>
            </a:xfrm>
            <a:prstGeom prst="rect">
              <a:avLst/>
            </a:prstGeom>
            <a:noFill/>
          </p:spPr>
          <p:txBody>
            <a:bodyPr vert="eaVert" wrap="square" lIns="0" tIns="0" rIns="0" bIns="0" rtlCol="0" anchor="ctr">
              <a:spAutoFit/>
            </a:bodyPr>
            <a:lstStyle/>
            <a:p>
              <a:pPr marL="0" marR="0" lvl="0" indent="0" algn="dist" defTabSz="914400" rtl="0" eaLnBrk="1" fontAlgn="auto" latinLnBrk="0" hangingPunct="1">
                <a:lnSpc>
                  <a:spcPct val="120000"/>
                </a:lnSpc>
                <a:spcBef>
                  <a:spcPts val="0"/>
                </a:spcBef>
                <a:spcAft>
                  <a:spcPts val="100"/>
                </a:spcAft>
                <a:buClrTx/>
                <a:buSzTx/>
                <a:buFontTx/>
                <a:buNone/>
                <a:tabLst/>
                <a:defRPr/>
              </a:pPr>
              <a:r>
                <a:rPr kumimoji="0" lang="zh-CN" altLang="en-US" sz="4800" b="1" i="0" u="none" strike="noStrike" kern="1200" cap="none" spc="0" normalizeH="0" baseline="0" noProof="0" dirty="0">
                  <a:ln>
                    <a:noFill/>
                  </a:ln>
                  <a:solidFill>
                    <a:srgbClr val="3F3F3F"/>
                  </a:solidFill>
                  <a:effectLst/>
                  <a:uLnTx/>
                  <a:uFillTx/>
                  <a:latin typeface="方正粗雅宋简体" panose="02000000000000000000" pitchFamily="2" charset="-122"/>
                  <a:ea typeface="方正粗雅宋简体" panose="02000000000000000000" pitchFamily="2" charset="-122"/>
                  <a:cs typeface="+mn-cs"/>
                </a:rPr>
                <a:t>目</a:t>
              </a:r>
              <a:r>
                <a:rPr kumimoji="0" lang="zh-CN" altLang="en-US" sz="4800" b="1" i="0" u="none" strike="noStrike" kern="1200" cap="none" spc="0" normalizeH="0" baseline="0" noProof="0" dirty="0">
                  <a:ln>
                    <a:noFill/>
                  </a:ln>
                  <a:solidFill>
                    <a:srgbClr val="FFFFFF"/>
                  </a:solidFill>
                  <a:effectLst/>
                  <a:uLnTx/>
                  <a:uFillTx/>
                  <a:latin typeface="方正粗雅宋简体" panose="02000000000000000000" pitchFamily="2" charset="-122"/>
                  <a:ea typeface="方正粗雅宋简体" panose="02000000000000000000" pitchFamily="2" charset="-122"/>
                  <a:cs typeface="+mn-cs"/>
                </a:rPr>
                <a:t>录</a:t>
              </a:r>
            </a:p>
          </p:txBody>
        </p:sp>
      </p:grpSp>
      <p:pic>
        <p:nvPicPr>
          <p:cNvPr id="54" name="图片 53">
            <a:extLst>
              <a:ext uri="{FF2B5EF4-FFF2-40B4-BE49-F238E27FC236}">
                <a16:creationId xmlns:a16="http://schemas.microsoft.com/office/drawing/2014/main" id="{181BDF26-C17E-48A9-88CD-AAC5E09300F1}"/>
              </a:ext>
            </a:extLst>
          </p:cNvPr>
          <p:cNvPicPr>
            <a:picLocks noChangeAspect="1"/>
          </p:cNvPicPr>
          <p:nvPr/>
        </p:nvPicPr>
        <p:blipFill rotWithShape="1">
          <a:blip r:embed="rId4">
            <a:duotone>
              <a:prstClr val="black"/>
              <a:schemeClr val="accent4">
                <a:tint val="45000"/>
                <a:satMod val="400000"/>
              </a:schemeClr>
            </a:duotone>
            <a:alphaModFix amt="50000"/>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r="32998"/>
          <a:stretch/>
        </p:blipFill>
        <p:spPr>
          <a:xfrm>
            <a:off x="5586820" y="-1357083"/>
            <a:ext cx="5553465" cy="8969827"/>
          </a:xfrm>
          <a:prstGeom prst="rect">
            <a:avLst/>
          </a:prstGeom>
        </p:spPr>
      </p:pic>
      <p:grpSp>
        <p:nvGrpSpPr>
          <p:cNvPr id="4" name="组合 3">
            <a:extLst>
              <a:ext uri="{FF2B5EF4-FFF2-40B4-BE49-F238E27FC236}">
                <a16:creationId xmlns:a16="http://schemas.microsoft.com/office/drawing/2014/main" id="{9D464AB2-464B-8809-D25A-0EDE462140EB}"/>
              </a:ext>
            </a:extLst>
          </p:cNvPr>
          <p:cNvGrpSpPr/>
          <p:nvPr/>
        </p:nvGrpSpPr>
        <p:grpSpPr>
          <a:xfrm>
            <a:off x="6096000" y="1910233"/>
            <a:ext cx="5210523" cy="2983458"/>
            <a:chOff x="6096000" y="1910233"/>
            <a:chExt cx="5210523" cy="2983458"/>
          </a:xfrm>
        </p:grpSpPr>
        <p:sp>
          <p:nvSpPr>
            <p:cNvPr id="56" name="文本框 55">
              <a:extLst>
                <a:ext uri="{FF2B5EF4-FFF2-40B4-BE49-F238E27FC236}">
                  <a16:creationId xmlns:a16="http://schemas.microsoft.com/office/drawing/2014/main" id="{CBE8EAC9-8496-4C87-BFDB-13866B96CD0D}"/>
                </a:ext>
              </a:extLst>
            </p:cNvPr>
            <p:cNvSpPr txBox="1"/>
            <p:nvPr/>
          </p:nvSpPr>
          <p:spPr>
            <a:xfrm>
              <a:off x="6096000" y="4173691"/>
              <a:ext cx="5210523" cy="720000"/>
            </a:xfrm>
            <a:prstGeom prst="rect">
              <a:avLst/>
            </a:prstGeom>
            <a:noFill/>
          </p:spPr>
          <p:txBody>
            <a:bodyPr wrap="square" lIns="0" tIns="0" rIns="0" bIns="0" rtlCol="0" anchor="ctr">
              <a:noAutofit/>
            </a:bodyPr>
            <a:lstStyle/>
            <a:p>
              <a:pPr>
                <a:lnSpc>
                  <a:spcPct val="120000"/>
                </a:lnSpc>
                <a:defRPr/>
              </a:pPr>
              <a:r>
                <a:rPr kumimoji="0" lang="en-US" altLang="zh-CN" sz="3600" b="1" i="0" u="none" strike="noStrike" kern="1200" cap="none" spc="0" normalizeH="0" baseline="0" noProof="0" dirty="0">
                  <a:ln>
                    <a:noFill/>
                  </a:ln>
                  <a:solidFill>
                    <a:schemeClr val="bg1">
                      <a:lumMod val="85000"/>
                    </a:schemeClr>
                  </a:solidFill>
                  <a:effectLst/>
                  <a:uLnTx/>
                  <a:uFillTx/>
                  <a:latin typeface="Arial"/>
                  <a:ea typeface="Microsoft YaHei"/>
                  <a:cs typeface="+mn-cs"/>
                </a:rPr>
                <a:t>03 </a:t>
              </a:r>
              <a:r>
                <a:rPr lang="en-US" altLang="zh-CN" sz="3600" b="1" dirty="0">
                  <a:solidFill>
                    <a:schemeClr val="bg1">
                      <a:lumMod val="85000"/>
                    </a:schemeClr>
                  </a:solidFill>
                  <a:latin typeface="Arial"/>
                  <a:ea typeface="Microsoft YaHei"/>
                </a:rPr>
                <a:t>DevOps</a:t>
              </a:r>
              <a:r>
                <a:rPr lang="zh-CN" altLang="en-US" sz="3600" b="1" dirty="0">
                  <a:solidFill>
                    <a:schemeClr val="bg1">
                      <a:lumMod val="85000"/>
                    </a:schemeClr>
                  </a:solidFill>
                  <a:latin typeface="Arial"/>
                  <a:ea typeface="Microsoft YaHei"/>
                </a:rPr>
                <a:t>标准能力</a:t>
              </a:r>
            </a:p>
          </p:txBody>
        </p:sp>
        <p:sp>
          <p:nvSpPr>
            <p:cNvPr id="57" name="文本框 56">
              <a:extLst>
                <a:ext uri="{FF2B5EF4-FFF2-40B4-BE49-F238E27FC236}">
                  <a16:creationId xmlns:a16="http://schemas.microsoft.com/office/drawing/2014/main" id="{40E3827C-003B-4936-B561-F5EC80597BFF}"/>
                </a:ext>
              </a:extLst>
            </p:cNvPr>
            <p:cNvSpPr txBox="1"/>
            <p:nvPr/>
          </p:nvSpPr>
          <p:spPr>
            <a:xfrm>
              <a:off x="6096000" y="3041962"/>
              <a:ext cx="5210523" cy="720000"/>
            </a:xfrm>
            <a:prstGeom prst="rect">
              <a:avLst/>
            </a:prstGeom>
            <a:noFill/>
          </p:spPr>
          <p:txBody>
            <a:bodyPr wrap="square" lIns="0" tIns="0" rIns="0" bIns="0" rtlCol="0" anchor="ctr">
              <a:noAutofit/>
            </a:bodyPr>
            <a:lstStyle/>
            <a:p>
              <a:pPr marL="0" marR="0" lvl="0" indent="0" defTabSz="914400" rtl="0" eaLnBrk="1" fontAlgn="auto" latinLnBrk="0" hangingPunct="1">
                <a:lnSpc>
                  <a:spcPct val="120000"/>
                </a:lnSpc>
                <a:spcBef>
                  <a:spcPts val="0"/>
                </a:spcBef>
                <a:spcAft>
                  <a:spcPts val="0"/>
                </a:spcAft>
                <a:buClrTx/>
                <a:buSzTx/>
                <a:buFontTx/>
                <a:buNone/>
                <a:tabLst/>
                <a:defRPr/>
              </a:pPr>
              <a:r>
                <a:rPr kumimoji="0" lang="en-US" altLang="zh-CN" sz="3600" b="1" i="0" u="none" strike="noStrike" kern="1200" cap="none" spc="0" normalizeH="0" baseline="0" noProof="0" dirty="0">
                  <a:ln>
                    <a:noFill/>
                  </a:ln>
                  <a:solidFill>
                    <a:srgbClr val="3F3F3F"/>
                  </a:solidFill>
                  <a:effectLst/>
                  <a:uLnTx/>
                  <a:uFillTx/>
                  <a:latin typeface="Arial"/>
                  <a:ea typeface="Microsoft YaHei"/>
                  <a:cs typeface="+mn-cs"/>
                </a:rPr>
                <a:t>02 </a:t>
              </a:r>
              <a:r>
                <a:rPr lang="en-US" altLang="zh-CN" sz="3600" b="1" dirty="0">
                  <a:solidFill>
                    <a:srgbClr val="3F3F3F"/>
                  </a:solidFill>
                  <a:latin typeface="Arial"/>
                  <a:ea typeface="Microsoft YaHei"/>
                </a:rPr>
                <a:t>DevOps</a:t>
              </a:r>
              <a:r>
                <a:rPr lang="zh-CN" altLang="en-US" sz="3600" b="1" dirty="0">
                  <a:solidFill>
                    <a:srgbClr val="3F3F3F"/>
                  </a:solidFill>
                  <a:latin typeface="Arial"/>
                  <a:ea typeface="Microsoft YaHei"/>
                </a:rPr>
                <a:t>历史溯源</a:t>
              </a:r>
              <a:endParaRPr kumimoji="0" lang="zh-CN" altLang="zh-CN" sz="3600" b="0" i="0" u="none" strike="noStrike" kern="1200" cap="none" spc="0" normalizeH="0" baseline="0" noProof="0" dirty="0">
                <a:ln>
                  <a:noFill/>
                </a:ln>
                <a:solidFill>
                  <a:srgbClr val="3F3F3F"/>
                </a:solidFill>
                <a:effectLst/>
                <a:uLnTx/>
                <a:uFillTx/>
                <a:latin typeface="Arial"/>
                <a:ea typeface="Microsoft YaHei"/>
                <a:cs typeface="+mn-cs"/>
              </a:endParaRPr>
            </a:p>
          </p:txBody>
        </p:sp>
        <p:sp>
          <p:nvSpPr>
            <p:cNvPr id="60" name="文本框 59">
              <a:extLst>
                <a:ext uri="{FF2B5EF4-FFF2-40B4-BE49-F238E27FC236}">
                  <a16:creationId xmlns:a16="http://schemas.microsoft.com/office/drawing/2014/main" id="{C8307703-D4D9-4F72-82D7-4288F459977B}"/>
                </a:ext>
              </a:extLst>
            </p:cNvPr>
            <p:cNvSpPr txBox="1"/>
            <p:nvPr/>
          </p:nvSpPr>
          <p:spPr>
            <a:xfrm>
              <a:off x="6096000" y="1910233"/>
              <a:ext cx="5210523" cy="720000"/>
            </a:xfrm>
            <a:prstGeom prst="rect">
              <a:avLst/>
            </a:prstGeom>
            <a:noFill/>
          </p:spPr>
          <p:txBody>
            <a:bodyPr wrap="square" lIns="0" tIns="0" rIns="0" bIns="0" rtlCol="0" anchor="ctr">
              <a:noAutofit/>
            </a:bodyPr>
            <a:lstStyle/>
            <a:p>
              <a:pPr marL="0" marR="0" lvl="0" indent="0" defTabSz="914400" rtl="0" eaLnBrk="1" fontAlgn="auto" latinLnBrk="0" hangingPunct="1">
                <a:lnSpc>
                  <a:spcPct val="120000"/>
                </a:lnSpc>
                <a:spcBef>
                  <a:spcPts val="0"/>
                </a:spcBef>
                <a:spcAft>
                  <a:spcPts val="0"/>
                </a:spcAft>
                <a:buClrTx/>
                <a:buSzTx/>
                <a:buFontTx/>
                <a:buNone/>
                <a:tabLst/>
                <a:defRPr/>
              </a:pPr>
              <a:r>
                <a:rPr kumimoji="0" lang="en-US" altLang="zh-CN" sz="3600" b="1" i="0" u="none" strike="noStrike" kern="1200" cap="none" spc="0" normalizeH="0" baseline="0" noProof="0" dirty="0">
                  <a:ln>
                    <a:noFill/>
                  </a:ln>
                  <a:solidFill>
                    <a:schemeClr val="bg1">
                      <a:lumMod val="85000"/>
                    </a:schemeClr>
                  </a:solidFill>
                  <a:effectLst/>
                  <a:uLnTx/>
                  <a:uFillTx/>
                  <a:latin typeface="Arial"/>
                  <a:ea typeface="Microsoft YaHei"/>
                  <a:cs typeface="+mn-cs"/>
                </a:rPr>
                <a:t>01 DevOps</a:t>
              </a:r>
              <a:r>
                <a:rPr kumimoji="0" lang="zh-CN" altLang="en-US" sz="3600" b="1" i="0" u="none" strike="noStrike" kern="1200" cap="none" spc="0" normalizeH="0" baseline="0" noProof="0" dirty="0">
                  <a:ln>
                    <a:noFill/>
                  </a:ln>
                  <a:solidFill>
                    <a:schemeClr val="bg1">
                      <a:lumMod val="85000"/>
                    </a:schemeClr>
                  </a:solidFill>
                  <a:effectLst/>
                  <a:uLnTx/>
                  <a:uFillTx/>
                  <a:latin typeface="Arial"/>
                  <a:ea typeface="Microsoft YaHei"/>
                  <a:cs typeface="+mn-cs"/>
                </a:rPr>
                <a:t>概念</a:t>
              </a:r>
              <a:endParaRPr lang="en-US" altLang="zh-CN" sz="3600" b="1" dirty="0">
                <a:solidFill>
                  <a:schemeClr val="bg1">
                    <a:lumMod val="85000"/>
                  </a:schemeClr>
                </a:solidFill>
                <a:latin typeface="Arial"/>
                <a:ea typeface="Microsoft YaHei"/>
              </a:endParaRPr>
            </a:p>
          </p:txBody>
        </p:sp>
      </p:grpSp>
    </p:spTree>
    <p:extLst>
      <p:ext uri="{BB962C8B-B14F-4D97-AF65-F5344CB8AC3E}">
        <p14:creationId xmlns:p14="http://schemas.microsoft.com/office/powerpoint/2010/main" val="13361056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02 DevOps</a:t>
            </a:r>
            <a:r>
              <a:rPr lang="zh-CN" altLang="en-US" dirty="0"/>
              <a:t>历史溯源</a:t>
            </a:r>
          </a:p>
        </p:txBody>
      </p:sp>
      <p:sp>
        <p:nvSpPr>
          <p:cNvPr id="3" name="灯片编号占位符 2"/>
          <p:cNvSpPr>
            <a:spLocks noGrp="1"/>
          </p:cNvSpPr>
          <p:nvPr>
            <p:ph type="sldNum" sz="quarter" idx="12"/>
          </p:nvPr>
        </p:nvSpPr>
        <p:spPr/>
        <p:txBody>
          <a:bodyPr/>
          <a:lstStyle/>
          <a:p>
            <a:fld id="{1AAC388E-FA9E-4A2C-95EA-1F6B3A07935A}" type="slidenum">
              <a:rPr lang="zh-CN" altLang="en-US" sz="1400" smtClean="0">
                <a:solidFill>
                  <a:srgbClr val="000000"/>
                </a:solidFill>
              </a:rPr>
              <a:t>35</a:t>
            </a:fld>
            <a:endParaRPr lang="zh-CN" altLang="en-US" sz="1400" dirty="0">
              <a:solidFill>
                <a:srgbClr val="000000"/>
              </a:solidFill>
            </a:endParaRPr>
          </a:p>
        </p:txBody>
      </p:sp>
      <p:sp>
        <p:nvSpPr>
          <p:cNvPr id="5" name="文本框 4">
            <a:extLst>
              <a:ext uri="{FF2B5EF4-FFF2-40B4-BE49-F238E27FC236}">
                <a16:creationId xmlns:a16="http://schemas.microsoft.com/office/drawing/2014/main" id="{4AA64805-5FBA-B77A-CFD4-5115694A9845}"/>
              </a:ext>
            </a:extLst>
          </p:cNvPr>
          <p:cNvSpPr txBox="1"/>
          <p:nvPr/>
        </p:nvSpPr>
        <p:spPr>
          <a:xfrm>
            <a:off x="718218" y="1426642"/>
            <a:ext cx="10919600" cy="874407"/>
          </a:xfrm>
          <a:prstGeom prst="rect">
            <a:avLst/>
          </a:prstGeom>
          <a:noFill/>
        </p:spPr>
        <p:txBody>
          <a:bodyPr wrap="square">
            <a:spAutoFit/>
          </a:bodyPr>
          <a:lstStyle/>
          <a:p>
            <a:pPr marL="0" lvl="0" indent="0" algn="just">
              <a:lnSpc>
                <a:spcPct val="150000"/>
              </a:lnSpc>
              <a:buFont typeface="Arial" panose="020B0604020202020204" pitchFamily="34" charset="0"/>
            </a:pPr>
            <a:r>
              <a:rPr lang="zh-CN" altLang="zh-CN" sz="1800" kern="100" dirty="0">
                <a:solidFill>
                  <a:schemeClr val="tx1"/>
                </a:solidFill>
                <a:effectLst/>
                <a:latin typeface="+mn-ea"/>
                <a:cs typeface="Times New Roman" panose="02020603050405020304" pitchFamily="18" charset="0"/>
              </a:rPr>
              <a:t>2007年，比利时IT咨询师Patrick Debois</a:t>
            </a:r>
            <a:r>
              <a:rPr lang="zh-CN" altLang="en-US" sz="1800" kern="100" dirty="0">
                <a:solidFill>
                  <a:schemeClr val="tx1"/>
                </a:solidFill>
                <a:effectLst/>
                <a:latin typeface="+mn-ea"/>
                <a:cs typeface="Times New Roman" panose="02020603050405020304" pitchFamily="18" charset="0"/>
              </a:rPr>
              <a:t>（</a:t>
            </a:r>
            <a:r>
              <a:rPr lang="en-US" altLang="zh-CN" sz="1800" b="1" kern="100" dirty="0">
                <a:solidFill>
                  <a:schemeClr val="tx1"/>
                </a:solidFill>
                <a:effectLst/>
                <a:latin typeface="+mn-ea"/>
                <a:cs typeface="Times New Roman" panose="02020603050405020304" pitchFamily="18" charset="0"/>
              </a:rPr>
              <a:t>DevOps</a:t>
            </a:r>
            <a:r>
              <a:rPr lang="zh-CN" altLang="en-US" sz="1800" b="1" kern="100" dirty="0">
                <a:solidFill>
                  <a:schemeClr val="tx1"/>
                </a:solidFill>
                <a:effectLst/>
                <a:latin typeface="+mn-ea"/>
                <a:cs typeface="Times New Roman" panose="02020603050405020304" pitchFamily="18" charset="0"/>
              </a:rPr>
              <a:t>之父</a:t>
            </a:r>
            <a:r>
              <a:rPr lang="zh-CN" altLang="en-US" sz="1800" kern="100" dirty="0">
                <a:solidFill>
                  <a:schemeClr val="tx1"/>
                </a:solidFill>
                <a:effectLst/>
                <a:latin typeface="+mn-ea"/>
                <a:cs typeface="Times New Roman" panose="02020603050405020304" pitchFamily="18" charset="0"/>
              </a:rPr>
              <a:t>）</a:t>
            </a:r>
            <a:r>
              <a:rPr lang="zh-CN" altLang="zh-CN" sz="1800" kern="100" dirty="0">
                <a:solidFill>
                  <a:schemeClr val="tx1"/>
                </a:solidFill>
                <a:effectLst/>
                <a:latin typeface="+mn-ea"/>
                <a:cs typeface="Times New Roman" panose="02020603050405020304" pitchFamily="18" charset="0"/>
              </a:rPr>
              <a:t>参与数据中心迁移项目，意识到开发和运维存在巨大差异。</a:t>
            </a:r>
          </a:p>
        </p:txBody>
      </p:sp>
      <p:grpSp>
        <p:nvGrpSpPr>
          <p:cNvPr id="6" name="object 2">
            <a:extLst>
              <a:ext uri="{FF2B5EF4-FFF2-40B4-BE49-F238E27FC236}">
                <a16:creationId xmlns:a16="http://schemas.microsoft.com/office/drawing/2014/main" id="{5DD01063-90D2-862B-5216-0089836301E3}"/>
              </a:ext>
            </a:extLst>
          </p:cNvPr>
          <p:cNvGrpSpPr/>
          <p:nvPr/>
        </p:nvGrpSpPr>
        <p:grpSpPr>
          <a:xfrm>
            <a:off x="5240137" y="1884392"/>
            <a:ext cx="2658477" cy="2645642"/>
            <a:chOff x="4611839" y="406400"/>
            <a:chExt cx="5129530" cy="5104765"/>
          </a:xfrm>
        </p:grpSpPr>
        <p:pic>
          <p:nvPicPr>
            <p:cNvPr id="7" name="object 3">
              <a:extLst>
                <a:ext uri="{FF2B5EF4-FFF2-40B4-BE49-F238E27FC236}">
                  <a16:creationId xmlns:a16="http://schemas.microsoft.com/office/drawing/2014/main" id="{A6C07C6E-8905-5B5B-9B0F-FD532415894B}"/>
                </a:ext>
              </a:extLst>
            </p:cNvPr>
            <p:cNvPicPr/>
            <p:nvPr/>
          </p:nvPicPr>
          <p:blipFill>
            <a:blip r:embed="rId3" cstate="print"/>
            <a:stretch>
              <a:fillRect/>
            </a:stretch>
          </p:blipFill>
          <p:spPr>
            <a:xfrm>
              <a:off x="5856513" y="406400"/>
              <a:ext cx="3884386" cy="2273300"/>
            </a:xfrm>
            <a:prstGeom prst="rect">
              <a:avLst/>
            </a:prstGeom>
          </p:spPr>
        </p:pic>
        <p:pic>
          <p:nvPicPr>
            <p:cNvPr id="9" name="object 4">
              <a:extLst>
                <a:ext uri="{FF2B5EF4-FFF2-40B4-BE49-F238E27FC236}">
                  <a16:creationId xmlns:a16="http://schemas.microsoft.com/office/drawing/2014/main" id="{DE855D04-290E-D70F-75EB-AA9205B055E3}"/>
                </a:ext>
              </a:extLst>
            </p:cNvPr>
            <p:cNvPicPr/>
            <p:nvPr/>
          </p:nvPicPr>
          <p:blipFill>
            <a:blip r:embed="rId4" cstate="print"/>
            <a:stretch>
              <a:fillRect/>
            </a:stretch>
          </p:blipFill>
          <p:spPr>
            <a:xfrm>
              <a:off x="6019799" y="1094646"/>
              <a:ext cx="1380025" cy="909320"/>
            </a:xfrm>
            <a:prstGeom prst="rect">
              <a:avLst/>
            </a:prstGeom>
          </p:spPr>
        </p:pic>
        <p:pic>
          <p:nvPicPr>
            <p:cNvPr id="10" name="object 5">
              <a:extLst>
                <a:ext uri="{FF2B5EF4-FFF2-40B4-BE49-F238E27FC236}">
                  <a16:creationId xmlns:a16="http://schemas.microsoft.com/office/drawing/2014/main" id="{1355BE17-F24F-9781-3EC4-C7CF02A9B816}"/>
                </a:ext>
              </a:extLst>
            </p:cNvPr>
            <p:cNvPicPr/>
            <p:nvPr/>
          </p:nvPicPr>
          <p:blipFill>
            <a:blip r:embed="rId5" cstate="print"/>
            <a:stretch>
              <a:fillRect/>
            </a:stretch>
          </p:blipFill>
          <p:spPr>
            <a:xfrm>
              <a:off x="4611839" y="2425700"/>
              <a:ext cx="2817660" cy="3085465"/>
            </a:xfrm>
            <a:prstGeom prst="rect">
              <a:avLst/>
            </a:prstGeom>
          </p:spPr>
        </p:pic>
      </p:grpSp>
      <p:pic>
        <p:nvPicPr>
          <p:cNvPr id="12" name="object 6">
            <a:extLst>
              <a:ext uri="{FF2B5EF4-FFF2-40B4-BE49-F238E27FC236}">
                <a16:creationId xmlns:a16="http://schemas.microsoft.com/office/drawing/2014/main" id="{977FF3C8-4BF5-F3BC-D19E-E0D0AB1C189A}"/>
              </a:ext>
            </a:extLst>
          </p:cNvPr>
          <p:cNvPicPr/>
          <p:nvPr/>
        </p:nvPicPr>
        <p:blipFill>
          <a:blip r:embed="rId6" cstate="print"/>
          <a:stretch>
            <a:fillRect/>
          </a:stretch>
        </p:blipFill>
        <p:spPr>
          <a:xfrm>
            <a:off x="3312159" y="5080635"/>
            <a:ext cx="1912054" cy="1573645"/>
          </a:xfrm>
          <a:prstGeom prst="rect">
            <a:avLst/>
          </a:prstGeom>
        </p:spPr>
      </p:pic>
      <p:pic>
        <p:nvPicPr>
          <p:cNvPr id="13" name="object 7">
            <a:extLst>
              <a:ext uri="{FF2B5EF4-FFF2-40B4-BE49-F238E27FC236}">
                <a16:creationId xmlns:a16="http://schemas.microsoft.com/office/drawing/2014/main" id="{98527B9B-7EBA-D275-3D31-D683B26B93FF}"/>
              </a:ext>
            </a:extLst>
          </p:cNvPr>
          <p:cNvPicPr/>
          <p:nvPr/>
        </p:nvPicPr>
        <p:blipFill>
          <a:blip r:embed="rId6" cstate="print"/>
          <a:stretch>
            <a:fillRect/>
          </a:stretch>
        </p:blipFill>
        <p:spPr>
          <a:xfrm>
            <a:off x="6652259" y="5080635"/>
            <a:ext cx="1917700" cy="1574799"/>
          </a:xfrm>
          <a:prstGeom prst="rect">
            <a:avLst/>
          </a:prstGeom>
        </p:spPr>
      </p:pic>
      <p:sp>
        <p:nvSpPr>
          <p:cNvPr id="14" name="object 8">
            <a:extLst>
              <a:ext uri="{FF2B5EF4-FFF2-40B4-BE49-F238E27FC236}">
                <a16:creationId xmlns:a16="http://schemas.microsoft.com/office/drawing/2014/main" id="{0FB6D24C-6778-B1F4-325E-3C96574F5709}"/>
              </a:ext>
            </a:extLst>
          </p:cNvPr>
          <p:cNvSpPr/>
          <p:nvPr/>
        </p:nvSpPr>
        <p:spPr>
          <a:xfrm>
            <a:off x="5407659" y="5652135"/>
            <a:ext cx="1092200" cy="419100"/>
          </a:xfrm>
          <a:custGeom>
            <a:avLst/>
            <a:gdLst/>
            <a:ahLst/>
            <a:cxnLst/>
            <a:rect l="l" t="t" r="r" b="b"/>
            <a:pathLst>
              <a:path w="1092200" h="419100">
                <a:moveTo>
                  <a:pt x="622300" y="317500"/>
                </a:moveTo>
                <a:lnTo>
                  <a:pt x="622300" y="419100"/>
                </a:lnTo>
                <a:lnTo>
                  <a:pt x="1092200" y="209550"/>
                </a:lnTo>
                <a:lnTo>
                  <a:pt x="622300" y="0"/>
                </a:lnTo>
                <a:lnTo>
                  <a:pt x="622300" y="101600"/>
                </a:lnTo>
                <a:lnTo>
                  <a:pt x="0" y="101600"/>
                </a:lnTo>
                <a:lnTo>
                  <a:pt x="0" y="317500"/>
                </a:lnTo>
                <a:lnTo>
                  <a:pt x="622300" y="317500"/>
                </a:lnTo>
                <a:close/>
              </a:path>
            </a:pathLst>
          </a:custGeom>
          <a:ln w="25400">
            <a:solidFill>
              <a:srgbClr val="DD3C20"/>
            </a:solidFill>
          </a:ln>
        </p:spPr>
        <p:txBody>
          <a:bodyPr wrap="square" lIns="0" tIns="0" rIns="0" bIns="0" rtlCol="0"/>
          <a:lstStyle/>
          <a:p>
            <a:endParaRPr/>
          </a:p>
        </p:txBody>
      </p:sp>
      <p:sp>
        <p:nvSpPr>
          <p:cNvPr id="15" name="object 9">
            <a:extLst>
              <a:ext uri="{FF2B5EF4-FFF2-40B4-BE49-F238E27FC236}">
                <a16:creationId xmlns:a16="http://schemas.microsoft.com/office/drawing/2014/main" id="{D450A6C9-3980-C1E1-7B41-CA0EC9C29835}"/>
              </a:ext>
            </a:extLst>
          </p:cNvPr>
          <p:cNvSpPr txBox="1"/>
          <p:nvPr/>
        </p:nvSpPr>
        <p:spPr>
          <a:xfrm>
            <a:off x="3324859" y="5093335"/>
            <a:ext cx="5257800" cy="1574800"/>
          </a:xfrm>
          <a:prstGeom prst="rect">
            <a:avLst/>
          </a:prstGeom>
          <a:ln w="25400">
            <a:solidFill>
              <a:srgbClr val="DD3C20"/>
            </a:solidFill>
          </a:ln>
        </p:spPr>
        <p:txBody>
          <a:bodyPr vert="horz" wrap="square" lIns="0" tIns="6985" rIns="0" bIns="0" rtlCol="0">
            <a:spAutoFit/>
          </a:bodyPr>
          <a:lstStyle/>
          <a:p>
            <a:pPr>
              <a:lnSpc>
                <a:spcPct val="100000"/>
              </a:lnSpc>
              <a:spcBef>
                <a:spcPts val="55"/>
              </a:spcBef>
            </a:pPr>
            <a:endParaRPr sz="6300" dirty="0">
              <a:latin typeface="Times New Roman"/>
              <a:cs typeface="Times New Roman"/>
            </a:endParaRPr>
          </a:p>
          <a:p>
            <a:pPr marL="1435100">
              <a:lnSpc>
                <a:spcPct val="100000"/>
              </a:lnSpc>
              <a:tabLst>
                <a:tab pos="4825365" algn="l"/>
              </a:tabLst>
            </a:pPr>
            <a:r>
              <a:rPr sz="4200" b="1" spc="405" dirty="0">
                <a:solidFill>
                  <a:srgbClr val="DD3C20"/>
                </a:solidFill>
                <a:latin typeface="Arial"/>
                <a:cs typeface="Arial"/>
              </a:rPr>
              <a:t>A</a:t>
            </a:r>
            <a:r>
              <a:rPr sz="4200" b="1" dirty="0">
                <a:solidFill>
                  <a:srgbClr val="DD3C20"/>
                </a:solidFill>
                <a:latin typeface="Arial"/>
                <a:cs typeface="Arial"/>
              </a:rPr>
              <a:t>	</a:t>
            </a:r>
            <a:r>
              <a:rPr sz="4200" b="1" spc="40" dirty="0">
                <a:solidFill>
                  <a:srgbClr val="DD3C20"/>
                </a:solidFill>
                <a:latin typeface="Arial"/>
                <a:cs typeface="Arial"/>
              </a:rPr>
              <a:t>B</a:t>
            </a:r>
            <a:endParaRPr sz="4200" dirty="0">
              <a:latin typeface="Arial"/>
              <a:cs typeface="Arial"/>
            </a:endParaRPr>
          </a:p>
        </p:txBody>
      </p:sp>
      <p:sp>
        <p:nvSpPr>
          <p:cNvPr id="20" name="object 14">
            <a:extLst>
              <a:ext uri="{FF2B5EF4-FFF2-40B4-BE49-F238E27FC236}">
                <a16:creationId xmlns:a16="http://schemas.microsoft.com/office/drawing/2014/main" id="{3C1A040E-DF24-8F37-DEDF-5565EF06DF1A}"/>
              </a:ext>
            </a:extLst>
          </p:cNvPr>
          <p:cNvSpPr txBox="1"/>
          <p:nvPr/>
        </p:nvSpPr>
        <p:spPr>
          <a:xfrm>
            <a:off x="9652000" y="3454400"/>
            <a:ext cx="1591310" cy="1000760"/>
          </a:xfrm>
          <a:prstGeom prst="rect">
            <a:avLst/>
          </a:prstGeom>
        </p:spPr>
        <p:txBody>
          <a:bodyPr vert="horz" wrap="square" lIns="0" tIns="12700" rIns="0" bIns="0" rtlCol="0">
            <a:spAutoFit/>
          </a:bodyPr>
          <a:lstStyle/>
          <a:p>
            <a:pPr marL="12700">
              <a:lnSpc>
                <a:spcPct val="100000"/>
              </a:lnSpc>
              <a:spcBef>
                <a:spcPts val="100"/>
              </a:spcBef>
            </a:pPr>
            <a:r>
              <a:rPr sz="6400" b="1" spc="-30" dirty="0">
                <a:latin typeface="Arial"/>
                <a:cs typeface="Arial"/>
              </a:rPr>
              <a:t>Ops</a:t>
            </a:r>
            <a:endParaRPr sz="6400">
              <a:latin typeface="Arial"/>
              <a:cs typeface="Arial"/>
            </a:endParaRPr>
          </a:p>
        </p:txBody>
      </p:sp>
      <p:sp>
        <p:nvSpPr>
          <p:cNvPr id="21" name="object 15">
            <a:extLst>
              <a:ext uri="{FF2B5EF4-FFF2-40B4-BE49-F238E27FC236}">
                <a16:creationId xmlns:a16="http://schemas.microsoft.com/office/drawing/2014/main" id="{EF4C4121-662D-672A-D8C9-96E5D68A7FC3}"/>
              </a:ext>
            </a:extLst>
          </p:cNvPr>
          <p:cNvSpPr txBox="1"/>
          <p:nvPr/>
        </p:nvSpPr>
        <p:spPr>
          <a:xfrm>
            <a:off x="812800" y="3454400"/>
            <a:ext cx="1517015" cy="1000760"/>
          </a:xfrm>
          <a:prstGeom prst="rect">
            <a:avLst/>
          </a:prstGeom>
        </p:spPr>
        <p:txBody>
          <a:bodyPr vert="horz" wrap="square" lIns="0" tIns="12700" rIns="0" bIns="0" rtlCol="0">
            <a:spAutoFit/>
          </a:bodyPr>
          <a:lstStyle/>
          <a:p>
            <a:pPr marL="12700">
              <a:lnSpc>
                <a:spcPct val="100000"/>
              </a:lnSpc>
              <a:spcBef>
                <a:spcPts val="100"/>
              </a:spcBef>
            </a:pPr>
            <a:r>
              <a:rPr sz="6400" b="1" spc="-25" dirty="0">
                <a:latin typeface="Arial"/>
                <a:cs typeface="Arial"/>
              </a:rPr>
              <a:t>Dev</a:t>
            </a:r>
            <a:endParaRPr sz="6400">
              <a:latin typeface="Arial"/>
              <a:cs typeface="Arial"/>
            </a:endParaRPr>
          </a:p>
        </p:txBody>
      </p:sp>
      <p:sp>
        <p:nvSpPr>
          <p:cNvPr id="28" name="箭头: 左右 27">
            <a:extLst>
              <a:ext uri="{FF2B5EF4-FFF2-40B4-BE49-F238E27FC236}">
                <a16:creationId xmlns:a16="http://schemas.microsoft.com/office/drawing/2014/main" id="{9A7BF8FC-2DAD-B196-5D16-AEABF159AC6C}"/>
              </a:ext>
            </a:extLst>
          </p:cNvPr>
          <p:cNvSpPr/>
          <p:nvPr/>
        </p:nvSpPr>
        <p:spPr>
          <a:xfrm>
            <a:off x="3128475" y="3635576"/>
            <a:ext cx="1354237" cy="629940"/>
          </a:xfrm>
          <a:prstGeom prst="lef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9" name="箭头: 左右 28">
            <a:extLst>
              <a:ext uri="{FF2B5EF4-FFF2-40B4-BE49-F238E27FC236}">
                <a16:creationId xmlns:a16="http://schemas.microsoft.com/office/drawing/2014/main" id="{DC51248A-13FD-59B1-C1E1-E133EE4015B6}"/>
              </a:ext>
            </a:extLst>
          </p:cNvPr>
          <p:cNvSpPr/>
          <p:nvPr/>
        </p:nvSpPr>
        <p:spPr>
          <a:xfrm>
            <a:off x="7410480" y="3635576"/>
            <a:ext cx="1354237" cy="629940"/>
          </a:xfrm>
          <a:prstGeom prst="lef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0" name="文本框 29">
            <a:extLst>
              <a:ext uri="{FF2B5EF4-FFF2-40B4-BE49-F238E27FC236}">
                <a16:creationId xmlns:a16="http://schemas.microsoft.com/office/drawing/2014/main" id="{CF6170A3-D12F-935D-D836-CFA272127202}"/>
              </a:ext>
            </a:extLst>
          </p:cNvPr>
          <p:cNvSpPr txBox="1"/>
          <p:nvPr/>
        </p:nvSpPr>
        <p:spPr>
          <a:xfrm>
            <a:off x="718218" y="874354"/>
            <a:ext cx="4328344" cy="601075"/>
          </a:xfrm>
          <a:prstGeom prst="rect">
            <a:avLst/>
          </a:prstGeom>
          <a:noFill/>
        </p:spPr>
        <p:txBody>
          <a:bodyPr wrap="square" lIns="0" tIns="0" rIns="0" bIns="0" rtlCol="0" anchor="ctr">
            <a:noAutofit/>
          </a:bodyPr>
          <a:lstStyle>
            <a:defPPr>
              <a:defRPr lang="zh-CN"/>
            </a:defPPr>
            <a:lvl1pPr marL="285750" indent="-285750">
              <a:lnSpc>
                <a:spcPct val="125000"/>
              </a:lnSpc>
              <a:spcAft>
                <a:spcPts val="500"/>
              </a:spcAft>
              <a:buFont typeface="Wingdings" panose="05000000000000000000" pitchFamily="2" charset="2"/>
              <a:buChar char="p"/>
              <a:defRPr sz="2400">
                <a:solidFill>
                  <a:srgbClr val="003F88"/>
                </a:solidFill>
              </a:defRPr>
            </a:lvl1pPr>
          </a:lstStyle>
          <a:p>
            <a:r>
              <a:rPr lang="en-US" altLang="zh-CN" dirty="0"/>
              <a:t> </a:t>
            </a:r>
            <a:r>
              <a:rPr lang="zh-CN" altLang="en-US" dirty="0"/>
              <a:t>萌芽阶段（</a:t>
            </a:r>
            <a:r>
              <a:rPr lang="en-US" altLang="zh-CN" dirty="0"/>
              <a:t>2007~2008</a:t>
            </a:r>
            <a:r>
              <a:rPr lang="zh-CN" altLang="en-US" dirty="0"/>
              <a:t>）</a:t>
            </a:r>
          </a:p>
        </p:txBody>
      </p:sp>
    </p:spTree>
    <p:extLst>
      <p:ext uri="{BB962C8B-B14F-4D97-AF65-F5344CB8AC3E}">
        <p14:creationId xmlns:p14="http://schemas.microsoft.com/office/powerpoint/2010/main" val="14596807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 name="object 6">
            <a:extLst>
              <a:ext uri="{FF2B5EF4-FFF2-40B4-BE49-F238E27FC236}">
                <a16:creationId xmlns:a16="http://schemas.microsoft.com/office/drawing/2014/main" id="{D1F6C5FB-BF7A-4314-B0E7-2A17CB72C74F}"/>
              </a:ext>
            </a:extLst>
          </p:cNvPr>
          <p:cNvPicPr/>
          <p:nvPr/>
        </p:nvPicPr>
        <p:blipFill>
          <a:blip r:embed="rId3" cstate="print"/>
          <a:stretch>
            <a:fillRect/>
          </a:stretch>
        </p:blipFill>
        <p:spPr>
          <a:xfrm>
            <a:off x="1886673" y="3599561"/>
            <a:ext cx="8166013" cy="2550876"/>
          </a:xfrm>
          <a:prstGeom prst="rect">
            <a:avLst/>
          </a:prstGeom>
        </p:spPr>
      </p:pic>
      <p:sp>
        <p:nvSpPr>
          <p:cNvPr id="2" name="标题 1"/>
          <p:cNvSpPr>
            <a:spLocks noGrp="1"/>
          </p:cNvSpPr>
          <p:nvPr>
            <p:ph type="title"/>
          </p:nvPr>
        </p:nvSpPr>
        <p:spPr/>
        <p:txBody>
          <a:bodyPr>
            <a:normAutofit/>
          </a:bodyPr>
          <a:lstStyle/>
          <a:p>
            <a:r>
              <a:rPr lang="en-US" altLang="zh-CN" dirty="0"/>
              <a:t>02 DevOps</a:t>
            </a:r>
            <a:r>
              <a:rPr lang="zh-CN" altLang="en-US" dirty="0"/>
              <a:t>历史溯源</a:t>
            </a:r>
          </a:p>
        </p:txBody>
      </p:sp>
      <p:sp>
        <p:nvSpPr>
          <p:cNvPr id="3" name="灯片编号占位符 2"/>
          <p:cNvSpPr>
            <a:spLocks noGrp="1"/>
          </p:cNvSpPr>
          <p:nvPr>
            <p:ph type="sldNum" sz="quarter" idx="12"/>
          </p:nvPr>
        </p:nvSpPr>
        <p:spPr/>
        <p:txBody>
          <a:bodyPr/>
          <a:lstStyle/>
          <a:p>
            <a:fld id="{1AAC388E-FA9E-4A2C-95EA-1F6B3A07935A}" type="slidenum">
              <a:rPr lang="zh-CN" altLang="en-US" sz="1400" smtClean="0">
                <a:solidFill>
                  <a:srgbClr val="000000"/>
                </a:solidFill>
              </a:rPr>
              <a:t>36</a:t>
            </a:fld>
            <a:endParaRPr lang="zh-CN" altLang="en-US" sz="1400" dirty="0">
              <a:solidFill>
                <a:srgbClr val="000000"/>
              </a:solidFill>
            </a:endParaRPr>
          </a:p>
        </p:txBody>
      </p:sp>
      <p:sp>
        <p:nvSpPr>
          <p:cNvPr id="5" name="文本框 4">
            <a:extLst>
              <a:ext uri="{FF2B5EF4-FFF2-40B4-BE49-F238E27FC236}">
                <a16:creationId xmlns:a16="http://schemas.microsoft.com/office/drawing/2014/main" id="{4AA64805-5FBA-B77A-CFD4-5115694A9845}"/>
              </a:ext>
            </a:extLst>
          </p:cNvPr>
          <p:cNvSpPr txBox="1"/>
          <p:nvPr/>
        </p:nvSpPr>
        <p:spPr>
          <a:xfrm>
            <a:off x="718218" y="1426642"/>
            <a:ext cx="10679382" cy="874407"/>
          </a:xfrm>
          <a:prstGeom prst="rect">
            <a:avLst/>
          </a:prstGeom>
          <a:noFill/>
        </p:spPr>
        <p:txBody>
          <a:bodyPr wrap="square">
            <a:spAutoFit/>
          </a:bodyPr>
          <a:lstStyle/>
          <a:p>
            <a:pPr marL="0" lvl="0" indent="0" algn="just">
              <a:lnSpc>
                <a:spcPct val="150000"/>
              </a:lnSpc>
              <a:buFont typeface="Arial" panose="020B0604020202020204" pitchFamily="34" charset="0"/>
            </a:pPr>
            <a:r>
              <a:rPr lang="en-US" altLang="zh-CN" sz="1800" kern="100" dirty="0">
                <a:solidFill>
                  <a:schemeClr val="tx1"/>
                </a:solidFill>
                <a:effectLst/>
                <a:latin typeface="+mn-ea"/>
                <a:cs typeface="Times New Roman" panose="02020603050405020304" pitchFamily="18" charset="0"/>
              </a:rPr>
              <a:t>Patrick</a:t>
            </a:r>
            <a:r>
              <a:rPr lang="zh-CN" altLang="en-US" sz="1800" kern="100" dirty="0">
                <a:solidFill>
                  <a:schemeClr val="tx1"/>
                </a:solidFill>
                <a:effectLst/>
                <a:latin typeface="+mn-ea"/>
                <a:cs typeface="Times New Roman" panose="02020603050405020304" pitchFamily="18" charset="0"/>
              </a:rPr>
              <a:t>在加拿大多伦多的</a:t>
            </a:r>
            <a:r>
              <a:rPr lang="en-US" altLang="zh-CN" sz="1800" kern="100" dirty="0">
                <a:solidFill>
                  <a:schemeClr val="tx1"/>
                </a:solidFill>
                <a:effectLst/>
                <a:latin typeface="+mn-ea"/>
                <a:cs typeface="Times New Roman" panose="02020603050405020304" pitchFamily="18" charset="0"/>
              </a:rPr>
              <a:t>Agile Conference 2008</a:t>
            </a:r>
            <a:r>
              <a:rPr lang="zh-CN" altLang="en-US" sz="1800" kern="100" dirty="0">
                <a:solidFill>
                  <a:schemeClr val="tx1"/>
                </a:solidFill>
                <a:effectLst/>
                <a:latin typeface="+mn-ea"/>
                <a:cs typeface="Times New Roman" panose="02020603050405020304" pitchFamily="18" charset="0"/>
              </a:rPr>
              <a:t>上遇到了</a:t>
            </a:r>
            <a:r>
              <a:rPr lang="en-US" altLang="zh-CN" sz="1800" kern="100" dirty="0">
                <a:solidFill>
                  <a:schemeClr val="tx1"/>
                </a:solidFill>
                <a:effectLst/>
                <a:latin typeface="+mn-ea"/>
                <a:cs typeface="Times New Roman" panose="02020603050405020304" pitchFamily="18" charset="0"/>
              </a:rPr>
              <a:t>Andrew Shafer</a:t>
            </a:r>
            <a:r>
              <a:rPr lang="zh-CN" altLang="en-US" sz="1800" kern="100" dirty="0">
                <a:solidFill>
                  <a:schemeClr val="tx1"/>
                </a:solidFill>
                <a:effectLst/>
                <a:latin typeface="+mn-ea"/>
                <a:cs typeface="Times New Roman" panose="02020603050405020304" pitchFamily="18" charset="0"/>
              </a:rPr>
              <a:t>，两人后来建立了一个叫</a:t>
            </a:r>
            <a:r>
              <a:rPr lang="en-US" altLang="zh-CN" sz="1800" kern="100" dirty="0">
                <a:solidFill>
                  <a:schemeClr val="tx1"/>
                </a:solidFill>
                <a:effectLst/>
                <a:latin typeface="+mn-ea"/>
                <a:cs typeface="Times New Roman" panose="02020603050405020304" pitchFamily="18" charset="0"/>
              </a:rPr>
              <a:t>Agile System Administration </a:t>
            </a:r>
            <a:r>
              <a:rPr lang="zh-CN" altLang="en-US" sz="1800" kern="100" dirty="0">
                <a:solidFill>
                  <a:schemeClr val="tx1"/>
                </a:solidFill>
                <a:effectLst/>
                <a:latin typeface="+mn-ea"/>
                <a:cs typeface="Times New Roman" panose="02020603050405020304" pitchFamily="18" charset="0"/>
              </a:rPr>
              <a:t>的</a:t>
            </a:r>
            <a:r>
              <a:rPr lang="en-US" altLang="zh-CN" sz="1800" kern="100" dirty="0">
                <a:solidFill>
                  <a:schemeClr val="tx1"/>
                </a:solidFill>
                <a:effectLst/>
                <a:latin typeface="+mn-ea"/>
                <a:cs typeface="Times New Roman" panose="02020603050405020304" pitchFamily="18" charset="0"/>
              </a:rPr>
              <a:t>Google</a:t>
            </a:r>
            <a:r>
              <a:rPr lang="zh-CN" altLang="en-US" sz="1800" kern="100" dirty="0">
                <a:solidFill>
                  <a:schemeClr val="tx1"/>
                </a:solidFill>
                <a:effectLst/>
                <a:latin typeface="+mn-ea"/>
                <a:cs typeface="Times New Roman" panose="02020603050405020304" pitchFamily="18" charset="0"/>
              </a:rPr>
              <a:t>讨论组。</a:t>
            </a:r>
            <a:endParaRPr lang="zh-CN" altLang="zh-CN" sz="1800" kern="100" dirty="0">
              <a:solidFill>
                <a:schemeClr val="tx1"/>
              </a:solidFill>
              <a:effectLst/>
              <a:latin typeface="+mn-ea"/>
              <a:cs typeface="Times New Roman" panose="02020603050405020304" pitchFamily="18" charset="0"/>
            </a:endParaRPr>
          </a:p>
        </p:txBody>
      </p:sp>
      <p:sp>
        <p:nvSpPr>
          <p:cNvPr id="30" name="文本框 29">
            <a:extLst>
              <a:ext uri="{FF2B5EF4-FFF2-40B4-BE49-F238E27FC236}">
                <a16:creationId xmlns:a16="http://schemas.microsoft.com/office/drawing/2014/main" id="{CF6170A3-D12F-935D-D836-CFA272127202}"/>
              </a:ext>
            </a:extLst>
          </p:cNvPr>
          <p:cNvSpPr txBox="1"/>
          <p:nvPr/>
        </p:nvSpPr>
        <p:spPr>
          <a:xfrm>
            <a:off x="718218" y="874354"/>
            <a:ext cx="4328344" cy="601075"/>
          </a:xfrm>
          <a:prstGeom prst="rect">
            <a:avLst/>
          </a:prstGeom>
          <a:noFill/>
        </p:spPr>
        <p:txBody>
          <a:bodyPr wrap="square" lIns="0" tIns="0" rIns="0" bIns="0" rtlCol="0" anchor="ctr">
            <a:noAutofit/>
          </a:bodyPr>
          <a:lstStyle>
            <a:defPPr>
              <a:defRPr lang="zh-CN"/>
            </a:defPPr>
            <a:lvl1pPr marL="285750" indent="-285750">
              <a:lnSpc>
                <a:spcPct val="125000"/>
              </a:lnSpc>
              <a:spcAft>
                <a:spcPts val="500"/>
              </a:spcAft>
              <a:buFont typeface="Wingdings" panose="05000000000000000000" pitchFamily="2" charset="2"/>
              <a:buChar char="p"/>
              <a:defRPr sz="2400">
                <a:solidFill>
                  <a:srgbClr val="003F88"/>
                </a:solidFill>
              </a:defRPr>
            </a:lvl1pPr>
          </a:lstStyle>
          <a:p>
            <a:r>
              <a:rPr lang="en-US" altLang="zh-CN" dirty="0"/>
              <a:t> </a:t>
            </a:r>
            <a:r>
              <a:rPr lang="zh-CN" altLang="en-US" dirty="0"/>
              <a:t>萌芽阶段（</a:t>
            </a:r>
            <a:r>
              <a:rPr lang="en-US" altLang="zh-CN" dirty="0"/>
              <a:t>2007~2008</a:t>
            </a:r>
            <a:r>
              <a:rPr lang="zh-CN" altLang="en-US" dirty="0"/>
              <a:t>）</a:t>
            </a:r>
          </a:p>
        </p:txBody>
      </p:sp>
      <p:grpSp>
        <p:nvGrpSpPr>
          <p:cNvPr id="35" name="object 2">
            <a:extLst>
              <a:ext uri="{FF2B5EF4-FFF2-40B4-BE49-F238E27FC236}">
                <a16:creationId xmlns:a16="http://schemas.microsoft.com/office/drawing/2014/main" id="{E2009432-9769-D661-D63F-02A5F6BE8567}"/>
              </a:ext>
            </a:extLst>
          </p:cNvPr>
          <p:cNvGrpSpPr/>
          <p:nvPr/>
        </p:nvGrpSpPr>
        <p:grpSpPr>
          <a:xfrm>
            <a:off x="6439163" y="2286890"/>
            <a:ext cx="3411242" cy="1580789"/>
            <a:chOff x="4470400" y="596900"/>
            <a:chExt cx="5257800" cy="2436495"/>
          </a:xfrm>
        </p:grpSpPr>
        <p:pic>
          <p:nvPicPr>
            <p:cNvPr id="36" name="object 3">
              <a:extLst>
                <a:ext uri="{FF2B5EF4-FFF2-40B4-BE49-F238E27FC236}">
                  <a16:creationId xmlns:a16="http://schemas.microsoft.com/office/drawing/2014/main" id="{CA2B03E1-8563-FCDB-F50E-F9F81B71E928}"/>
                </a:ext>
              </a:extLst>
            </p:cNvPr>
            <p:cNvPicPr/>
            <p:nvPr/>
          </p:nvPicPr>
          <p:blipFill>
            <a:blip r:embed="rId4" cstate="print"/>
            <a:stretch>
              <a:fillRect/>
            </a:stretch>
          </p:blipFill>
          <p:spPr>
            <a:xfrm>
              <a:off x="4470400" y="1728261"/>
              <a:ext cx="4229100" cy="1304874"/>
            </a:xfrm>
            <a:prstGeom prst="rect">
              <a:avLst/>
            </a:prstGeom>
          </p:spPr>
        </p:pic>
        <p:pic>
          <p:nvPicPr>
            <p:cNvPr id="37" name="object 4">
              <a:extLst>
                <a:ext uri="{FF2B5EF4-FFF2-40B4-BE49-F238E27FC236}">
                  <a16:creationId xmlns:a16="http://schemas.microsoft.com/office/drawing/2014/main" id="{B74E81D8-8CFA-AB6B-BD13-496C5394C3BF}"/>
                </a:ext>
              </a:extLst>
            </p:cNvPr>
            <p:cNvPicPr/>
            <p:nvPr/>
          </p:nvPicPr>
          <p:blipFill>
            <a:blip r:embed="rId5" cstate="print"/>
            <a:stretch>
              <a:fillRect/>
            </a:stretch>
          </p:blipFill>
          <p:spPr>
            <a:xfrm>
              <a:off x="7989604" y="596900"/>
              <a:ext cx="1738595" cy="1305935"/>
            </a:xfrm>
            <a:prstGeom prst="rect">
              <a:avLst/>
            </a:prstGeom>
          </p:spPr>
        </p:pic>
      </p:grpSp>
      <p:sp>
        <p:nvSpPr>
          <p:cNvPr id="38" name="object 9">
            <a:extLst>
              <a:ext uri="{FF2B5EF4-FFF2-40B4-BE49-F238E27FC236}">
                <a16:creationId xmlns:a16="http://schemas.microsoft.com/office/drawing/2014/main" id="{3032D8D6-3251-1BE0-7895-408082B78E1F}"/>
              </a:ext>
            </a:extLst>
          </p:cNvPr>
          <p:cNvSpPr txBox="1"/>
          <p:nvPr/>
        </p:nvSpPr>
        <p:spPr>
          <a:xfrm>
            <a:off x="4152165" y="4227299"/>
            <a:ext cx="3434715" cy="1295400"/>
          </a:xfrm>
          <a:prstGeom prst="rect">
            <a:avLst/>
          </a:prstGeom>
        </p:spPr>
        <p:txBody>
          <a:bodyPr vert="horz" wrap="square" lIns="0" tIns="12700" rIns="0" bIns="0" rtlCol="0">
            <a:spAutoFit/>
          </a:bodyPr>
          <a:lstStyle/>
          <a:p>
            <a:pPr marL="12700" marR="5080" indent="1079500">
              <a:lnSpc>
                <a:spcPct val="115700"/>
              </a:lnSpc>
              <a:spcBef>
                <a:spcPts val="100"/>
              </a:spcBef>
            </a:pPr>
            <a:r>
              <a:rPr sz="3600" spc="-10" dirty="0">
                <a:latin typeface="Comic Sans MS"/>
                <a:cs typeface="Comic Sans MS"/>
              </a:rPr>
              <a:t>“Agile Infrastructure”</a:t>
            </a:r>
            <a:endParaRPr sz="3600" dirty="0">
              <a:latin typeface="Comic Sans MS"/>
              <a:cs typeface="Comic Sans MS"/>
            </a:endParaRPr>
          </a:p>
        </p:txBody>
      </p:sp>
      <p:pic>
        <p:nvPicPr>
          <p:cNvPr id="39" name="object 10">
            <a:extLst>
              <a:ext uri="{FF2B5EF4-FFF2-40B4-BE49-F238E27FC236}">
                <a16:creationId xmlns:a16="http://schemas.microsoft.com/office/drawing/2014/main" id="{96F857A2-D8B5-3589-554A-98E0F0A0CC25}"/>
              </a:ext>
            </a:extLst>
          </p:cNvPr>
          <p:cNvPicPr/>
          <p:nvPr/>
        </p:nvPicPr>
        <p:blipFill>
          <a:blip r:embed="rId6" cstate="print"/>
          <a:stretch>
            <a:fillRect/>
          </a:stretch>
        </p:blipFill>
        <p:spPr>
          <a:xfrm>
            <a:off x="10052686" y="4081561"/>
            <a:ext cx="1852460" cy="2025840"/>
          </a:xfrm>
          <a:prstGeom prst="rect">
            <a:avLst/>
          </a:prstGeom>
        </p:spPr>
      </p:pic>
      <p:pic>
        <p:nvPicPr>
          <p:cNvPr id="43" name="object 14">
            <a:extLst>
              <a:ext uri="{FF2B5EF4-FFF2-40B4-BE49-F238E27FC236}">
                <a16:creationId xmlns:a16="http://schemas.microsoft.com/office/drawing/2014/main" id="{14BCC005-0D01-8D1B-72FF-41BE4321EA41}"/>
              </a:ext>
            </a:extLst>
          </p:cNvPr>
          <p:cNvPicPr/>
          <p:nvPr/>
        </p:nvPicPr>
        <p:blipFill>
          <a:blip r:embed="rId7" cstate="print"/>
          <a:stretch>
            <a:fillRect/>
          </a:stretch>
        </p:blipFill>
        <p:spPr>
          <a:xfrm>
            <a:off x="718218" y="4092744"/>
            <a:ext cx="1524000" cy="2032000"/>
          </a:xfrm>
          <a:prstGeom prst="rect">
            <a:avLst/>
          </a:prstGeom>
        </p:spPr>
      </p:pic>
      <p:pic>
        <p:nvPicPr>
          <p:cNvPr id="44" name="object 15">
            <a:extLst>
              <a:ext uri="{FF2B5EF4-FFF2-40B4-BE49-F238E27FC236}">
                <a16:creationId xmlns:a16="http://schemas.microsoft.com/office/drawing/2014/main" id="{0CA953AA-690B-06F8-A236-1C42BD9FBAEA}"/>
              </a:ext>
            </a:extLst>
          </p:cNvPr>
          <p:cNvPicPr/>
          <p:nvPr/>
        </p:nvPicPr>
        <p:blipFill>
          <a:blip r:embed="rId8" cstate="print"/>
          <a:stretch>
            <a:fillRect/>
          </a:stretch>
        </p:blipFill>
        <p:spPr>
          <a:xfrm>
            <a:off x="3412289" y="5589266"/>
            <a:ext cx="5143500" cy="1270000"/>
          </a:xfrm>
          <a:prstGeom prst="rect">
            <a:avLst/>
          </a:prstGeom>
        </p:spPr>
      </p:pic>
      <p:sp>
        <p:nvSpPr>
          <p:cNvPr id="45" name="object 16">
            <a:extLst>
              <a:ext uri="{FF2B5EF4-FFF2-40B4-BE49-F238E27FC236}">
                <a16:creationId xmlns:a16="http://schemas.microsoft.com/office/drawing/2014/main" id="{841C2B79-C56C-4400-BFD6-76FCDC38C532}"/>
              </a:ext>
            </a:extLst>
          </p:cNvPr>
          <p:cNvSpPr/>
          <p:nvPr/>
        </p:nvSpPr>
        <p:spPr>
          <a:xfrm>
            <a:off x="3412289" y="5589266"/>
            <a:ext cx="5143500" cy="1270000"/>
          </a:xfrm>
          <a:custGeom>
            <a:avLst/>
            <a:gdLst/>
            <a:ahLst/>
            <a:cxnLst/>
            <a:rect l="l" t="t" r="r" b="b"/>
            <a:pathLst>
              <a:path w="5143500" h="1270000">
                <a:moveTo>
                  <a:pt x="0" y="0"/>
                </a:moveTo>
                <a:lnTo>
                  <a:pt x="5143500" y="0"/>
                </a:lnTo>
                <a:lnTo>
                  <a:pt x="5143500" y="1270000"/>
                </a:lnTo>
                <a:lnTo>
                  <a:pt x="0" y="1270000"/>
                </a:lnTo>
                <a:lnTo>
                  <a:pt x="0" y="0"/>
                </a:lnTo>
                <a:close/>
              </a:path>
            </a:pathLst>
          </a:custGeom>
          <a:ln w="12700">
            <a:solidFill>
              <a:srgbClr val="4E91E9"/>
            </a:solidFill>
          </a:ln>
        </p:spPr>
        <p:txBody>
          <a:bodyPr wrap="square" lIns="0" tIns="0" rIns="0" bIns="0" rtlCol="0"/>
          <a:lstStyle/>
          <a:p>
            <a:endParaRPr/>
          </a:p>
        </p:txBody>
      </p:sp>
      <p:pic>
        <p:nvPicPr>
          <p:cNvPr id="47" name="object 18">
            <a:extLst>
              <a:ext uri="{FF2B5EF4-FFF2-40B4-BE49-F238E27FC236}">
                <a16:creationId xmlns:a16="http://schemas.microsoft.com/office/drawing/2014/main" id="{FB16F676-1978-F033-48E0-016EF8DDE942}"/>
              </a:ext>
            </a:extLst>
          </p:cNvPr>
          <p:cNvPicPr/>
          <p:nvPr/>
        </p:nvPicPr>
        <p:blipFill>
          <a:blip r:embed="rId9" cstate="print"/>
          <a:stretch>
            <a:fillRect/>
          </a:stretch>
        </p:blipFill>
        <p:spPr>
          <a:xfrm>
            <a:off x="4300306" y="2482972"/>
            <a:ext cx="1495663" cy="1100164"/>
          </a:xfrm>
          <a:prstGeom prst="rect">
            <a:avLst/>
          </a:prstGeom>
        </p:spPr>
      </p:pic>
      <p:sp>
        <p:nvSpPr>
          <p:cNvPr id="48" name="object 19">
            <a:extLst>
              <a:ext uri="{FF2B5EF4-FFF2-40B4-BE49-F238E27FC236}">
                <a16:creationId xmlns:a16="http://schemas.microsoft.com/office/drawing/2014/main" id="{D447AC61-3355-73B2-8F22-A7D90420BDBD}"/>
              </a:ext>
            </a:extLst>
          </p:cNvPr>
          <p:cNvSpPr/>
          <p:nvPr/>
        </p:nvSpPr>
        <p:spPr>
          <a:xfrm>
            <a:off x="4160405" y="2375856"/>
            <a:ext cx="1812737" cy="1301875"/>
          </a:xfrm>
          <a:custGeom>
            <a:avLst/>
            <a:gdLst/>
            <a:ahLst/>
            <a:cxnLst/>
            <a:rect l="l" t="t" r="r" b="b"/>
            <a:pathLst>
              <a:path w="2794000" h="2006600">
                <a:moveTo>
                  <a:pt x="2384557" y="293859"/>
                </a:moveTo>
                <a:lnTo>
                  <a:pt x="2425447" y="324471"/>
                </a:lnTo>
                <a:lnTo>
                  <a:pt x="2464186" y="355993"/>
                </a:lnTo>
                <a:lnTo>
                  <a:pt x="2500772" y="388377"/>
                </a:lnTo>
                <a:lnTo>
                  <a:pt x="2535206" y="421574"/>
                </a:lnTo>
                <a:lnTo>
                  <a:pt x="2567488" y="455534"/>
                </a:lnTo>
                <a:lnTo>
                  <a:pt x="2597618" y="490209"/>
                </a:lnTo>
                <a:lnTo>
                  <a:pt x="2625596" y="525548"/>
                </a:lnTo>
                <a:lnTo>
                  <a:pt x="2651421" y="561502"/>
                </a:lnTo>
                <a:lnTo>
                  <a:pt x="2675095" y="598023"/>
                </a:lnTo>
                <a:lnTo>
                  <a:pt x="2696616" y="635062"/>
                </a:lnTo>
                <a:lnTo>
                  <a:pt x="2715985" y="672568"/>
                </a:lnTo>
                <a:lnTo>
                  <a:pt x="2733202" y="710492"/>
                </a:lnTo>
                <a:lnTo>
                  <a:pt x="2748267" y="748786"/>
                </a:lnTo>
                <a:lnTo>
                  <a:pt x="2761180" y="787400"/>
                </a:lnTo>
                <a:lnTo>
                  <a:pt x="2771941" y="826285"/>
                </a:lnTo>
                <a:lnTo>
                  <a:pt x="2780549" y="865392"/>
                </a:lnTo>
                <a:lnTo>
                  <a:pt x="2787005" y="904670"/>
                </a:lnTo>
                <a:lnTo>
                  <a:pt x="2791310" y="944072"/>
                </a:lnTo>
                <a:lnTo>
                  <a:pt x="2793462" y="983548"/>
                </a:lnTo>
                <a:lnTo>
                  <a:pt x="2793462" y="1023049"/>
                </a:lnTo>
                <a:lnTo>
                  <a:pt x="2791310" y="1062525"/>
                </a:lnTo>
                <a:lnTo>
                  <a:pt x="2787005" y="1101927"/>
                </a:lnTo>
                <a:lnTo>
                  <a:pt x="2780549" y="1141206"/>
                </a:lnTo>
                <a:lnTo>
                  <a:pt x="2771941" y="1180312"/>
                </a:lnTo>
                <a:lnTo>
                  <a:pt x="2761180" y="1219197"/>
                </a:lnTo>
                <a:lnTo>
                  <a:pt x="2748267" y="1257811"/>
                </a:lnTo>
                <a:lnTo>
                  <a:pt x="2733202" y="1296105"/>
                </a:lnTo>
                <a:lnTo>
                  <a:pt x="2715985" y="1334030"/>
                </a:lnTo>
                <a:lnTo>
                  <a:pt x="2696616" y="1371536"/>
                </a:lnTo>
                <a:lnTo>
                  <a:pt x="2675095" y="1408574"/>
                </a:lnTo>
                <a:lnTo>
                  <a:pt x="2651421" y="1445095"/>
                </a:lnTo>
                <a:lnTo>
                  <a:pt x="2625596" y="1481050"/>
                </a:lnTo>
                <a:lnTo>
                  <a:pt x="2597618" y="1516389"/>
                </a:lnTo>
                <a:lnTo>
                  <a:pt x="2567488" y="1551064"/>
                </a:lnTo>
                <a:lnTo>
                  <a:pt x="2535206" y="1585024"/>
                </a:lnTo>
                <a:lnTo>
                  <a:pt x="2500772" y="1618221"/>
                </a:lnTo>
                <a:lnTo>
                  <a:pt x="2464186" y="1650605"/>
                </a:lnTo>
                <a:lnTo>
                  <a:pt x="2425447" y="1682128"/>
                </a:lnTo>
                <a:lnTo>
                  <a:pt x="2384557" y="1712739"/>
                </a:lnTo>
                <a:lnTo>
                  <a:pt x="2346842" y="1738847"/>
                </a:lnTo>
                <a:lnTo>
                  <a:pt x="2308125" y="1763740"/>
                </a:lnTo>
                <a:lnTo>
                  <a:pt x="2268452" y="1787419"/>
                </a:lnTo>
                <a:lnTo>
                  <a:pt x="2227872" y="1809883"/>
                </a:lnTo>
                <a:lnTo>
                  <a:pt x="2186433" y="1831133"/>
                </a:lnTo>
                <a:lnTo>
                  <a:pt x="2144182" y="1851169"/>
                </a:lnTo>
                <a:lnTo>
                  <a:pt x="2101167" y="1869991"/>
                </a:lnTo>
                <a:lnTo>
                  <a:pt x="2057436" y="1887598"/>
                </a:lnTo>
                <a:lnTo>
                  <a:pt x="2013036" y="1903991"/>
                </a:lnTo>
                <a:lnTo>
                  <a:pt x="1968015" y="1919170"/>
                </a:lnTo>
                <a:lnTo>
                  <a:pt x="1922422" y="1933135"/>
                </a:lnTo>
                <a:lnTo>
                  <a:pt x="1876303" y="1945885"/>
                </a:lnTo>
                <a:lnTo>
                  <a:pt x="1829706" y="1957421"/>
                </a:lnTo>
                <a:lnTo>
                  <a:pt x="1782680" y="1967742"/>
                </a:lnTo>
                <a:lnTo>
                  <a:pt x="1735272" y="1976849"/>
                </a:lnTo>
                <a:lnTo>
                  <a:pt x="1687530" y="1984742"/>
                </a:lnTo>
                <a:lnTo>
                  <a:pt x="1639501" y="1991421"/>
                </a:lnTo>
                <a:lnTo>
                  <a:pt x="1591233" y="1996885"/>
                </a:lnTo>
                <a:lnTo>
                  <a:pt x="1542774" y="2001135"/>
                </a:lnTo>
                <a:lnTo>
                  <a:pt x="1494172" y="2004171"/>
                </a:lnTo>
                <a:lnTo>
                  <a:pt x="1445475" y="2005993"/>
                </a:lnTo>
                <a:lnTo>
                  <a:pt x="1396730" y="2006600"/>
                </a:lnTo>
                <a:lnTo>
                  <a:pt x="1347984" y="2005993"/>
                </a:lnTo>
                <a:lnTo>
                  <a:pt x="1299287" y="2004171"/>
                </a:lnTo>
                <a:lnTo>
                  <a:pt x="1250685" y="2001135"/>
                </a:lnTo>
                <a:lnTo>
                  <a:pt x="1202226" y="1996885"/>
                </a:lnTo>
                <a:lnTo>
                  <a:pt x="1153959" y="1991421"/>
                </a:lnTo>
                <a:lnTo>
                  <a:pt x="1105930" y="1984742"/>
                </a:lnTo>
                <a:lnTo>
                  <a:pt x="1058187" y="1976849"/>
                </a:lnTo>
                <a:lnTo>
                  <a:pt x="1010779" y="1967742"/>
                </a:lnTo>
                <a:lnTo>
                  <a:pt x="963753" y="1957421"/>
                </a:lnTo>
                <a:lnTo>
                  <a:pt x="917156" y="1945885"/>
                </a:lnTo>
                <a:lnTo>
                  <a:pt x="871038" y="1933135"/>
                </a:lnTo>
                <a:lnTo>
                  <a:pt x="825444" y="1919170"/>
                </a:lnTo>
                <a:lnTo>
                  <a:pt x="780423" y="1903991"/>
                </a:lnTo>
                <a:lnTo>
                  <a:pt x="736023" y="1887598"/>
                </a:lnTo>
                <a:lnTo>
                  <a:pt x="692292" y="1869991"/>
                </a:lnTo>
                <a:lnTo>
                  <a:pt x="649277" y="1851169"/>
                </a:lnTo>
                <a:lnTo>
                  <a:pt x="607026" y="1831133"/>
                </a:lnTo>
                <a:lnTo>
                  <a:pt x="565587" y="1809883"/>
                </a:lnTo>
                <a:lnTo>
                  <a:pt x="525007" y="1787419"/>
                </a:lnTo>
                <a:lnTo>
                  <a:pt x="485334" y="1763740"/>
                </a:lnTo>
                <a:lnTo>
                  <a:pt x="446617" y="1738847"/>
                </a:lnTo>
                <a:lnTo>
                  <a:pt x="408902" y="1712739"/>
                </a:lnTo>
                <a:lnTo>
                  <a:pt x="368012" y="1682128"/>
                </a:lnTo>
                <a:lnTo>
                  <a:pt x="329274" y="1650605"/>
                </a:lnTo>
                <a:lnTo>
                  <a:pt x="292688" y="1618221"/>
                </a:lnTo>
                <a:lnTo>
                  <a:pt x="258254" y="1585024"/>
                </a:lnTo>
                <a:lnTo>
                  <a:pt x="225972" y="1551064"/>
                </a:lnTo>
                <a:lnTo>
                  <a:pt x="195842" y="1516389"/>
                </a:lnTo>
                <a:lnTo>
                  <a:pt x="167865" y="1481050"/>
                </a:lnTo>
                <a:lnTo>
                  <a:pt x="142039" y="1445095"/>
                </a:lnTo>
                <a:lnTo>
                  <a:pt x="118366" y="1408574"/>
                </a:lnTo>
                <a:lnTo>
                  <a:pt x="96845" y="1371536"/>
                </a:lnTo>
                <a:lnTo>
                  <a:pt x="77476" y="1334030"/>
                </a:lnTo>
                <a:lnTo>
                  <a:pt x="60259" y="1296105"/>
                </a:lnTo>
                <a:lnTo>
                  <a:pt x="45194" y="1257811"/>
                </a:lnTo>
                <a:lnTo>
                  <a:pt x="32281" y="1219197"/>
                </a:lnTo>
                <a:lnTo>
                  <a:pt x="21521" y="1180312"/>
                </a:lnTo>
                <a:lnTo>
                  <a:pt x="12912" y="1141206"/>
                </a:lnTo>
                <a:lnTo>
                  <a:pt x="6456" y="1101927"/>
                </a:lnTo>
                <a:lnTo>
                  <a:pt x="2152" y="1062525"/>
                </a:lnTo>
                <a:lnTo>
                  <a:pt x="0" y="1023049"/>
                </a:lnTo>
                <a:lnTo>
                  <a:pt x="0" y="983548"/>
                </a:lnTo>
                <a:lnTo>
                  <a:pt x="2152" y="944072"/>
                </a:lnTo>
                <a:lnTo>
                  <a:pt x="6456" y="904670"/>
                </a:lnTo>
                <a:lnTo>
                  <a:pt x="12912" y="865392"/>
                </a:lnTo>
                <a:lnTo>
                  <a:pt x="21521" y="826285"/>
                </a:lnTo>
                <a:lnTo>
                  <a:pt x="32281" y="787400"/>
                </a:lnTo>
                <a:lnTo>
                  <a:pt x="45194" y="748786"/>
                </a:lnTo>
                <a:lnTo>
                  <a:pt x="60259" y="710492"/>
                </a:lnTo>
                <a:lnTo>
                  <a:pt x="77476" y="672568"/>
                </a:lnTo>
                <a:lnTo>
                  <a:pt x="96845" y="635062"/>
                </a:lnTo>
                <a:lnTo>
                  <a:pt x="118366" y="598023"/>
                </a:lnTo>
                <a:lnTo>
                  <a:pt x="142039" y="561502"/>
                </a:lnTo>
                <a:lnTo>
                  <a:pt x="167865" y="525548"/>
                </a:lnTo>
                <a:lnTo>
                  <a:pt x="195842" y="490209"/>
                </a:lnTo>
                <a:lnTo>
                  <a:pt x="225972" y="455534"/>
                </a:lnTo>
                <a:lnTo>
                  <a:pt x="258254" y="421574"/>
                </a:lnTo>
                <a:lnTo>
                  <a:pt x="292688" y="388377"/>
                </a:lnTo>
                <a:lnTo>
                  <a:pt x="329274" y="355993"/>
                </a:lnTo>
                <a:lnTo>
                  <a:pt x="368012" y="324471"/>
                </a:lnTo>
                <a:lnTo>
                  <a:pt x="408902" y="293859"/>
                </a:lnTo>
                <a:lnTo>
                  <a:pt x="446617" y="267752"/>
                </a:lnTo>
                <a:lnTo>
                  <a:pt x="485334" y="242859"/>
                </a:lnTo>
                <a:lnTo>
                  <a:pt x="525007" y="219180"/>
                </a:lnTo>
                <a:lnTo>
                  <a:pt x="565587" y="196715"/>
                </a:lnTo>
                <a:lnTo>
                  <a:pt x="607026" y="175465"/>
                </a:lnTo>
                <a:lnTo>
                  <a:pt x="649277" y="155429"/>
                </a:lnTo>
                <a:lnTo>
                  <a:pt x="692292" y="136608"/>
                </a:lnTo>
                <a:lnTo>
                  <a:pt x="736023" y="119001"/>
                </a:lnTo>
                <a:lnTo>
                  <a:pt x="780423" y="102608"/>
                </a:lnTo>
                <a:lnTo>
                  <a:pt x="825444" y="87429"/>
                </a:lnTo>
                <a:lnTo>
                  <a:pt x="871038" y="73464"/>
                </a:lnTo>
                <a:lnTo>
                  <a:pt x="917156" y="60714"/>
                </a:lnTo>
                <a:lnTo>
                  <a:pt x="963753" y="49178"/>
                </a:lnTo>
                <a:lnTo>
                  <a:pt x="1010779" y="38857"/>
                </a:lnTo>
                <a:lnTo>
                  <a:pt x="1058187" y="29750"/>
                </a:lnTo>
                <a:lnTo>
                  <a:pt x="1105930" y="21857"/>
                </a:lnTo>
                <a:lnTo>
                  <a:pt x="1153959" y="15178"/>
                </a:lnTo>
                <a:lnTo>
                  <a:pt x="1202226" y="9714"/>
                </a:lnTo>
                <a:lnTo>
                  <a:pt x="1250685" y="5464"/>
                </a:lnTo>
                <a:lnTo>
                  <a:pt x="1299287" y="2428"/>
                </a:lnTo>
                <a:lnTo>
                  <a:pt x="1347984" y="607"/>
                </a:lnTo>
                <a:lnTo>
                  <a:pt x="1396730" y="0"/>
                </a:lnTo>
                <a:lnTo>
                  <a:pt x="1445475" y="607"/>
                </a:lnTo>
                <a:lnTo>
                  <a:pt x="1494172" y="2428"/>
                </a:lnTo>
                <a:lnTo>
                  <a:pt x="1542774" y="5464"/>
                </a:lnTo>
                <a:lnTo>
                  <a:pt x="1591233" y="9714"/>
                </a:lnTo>
                <a:lnTo>
                  <a:pt x="1639501" y="15178"/>
                </a:lnTo>
                <a:lnTo>
                  <a:pt x="1687530" y="21857"/>
                </a:lnTo>
                <a:lnTo>
                  <a:pt x="1735272" y="29750"/>
                </a:lnTo>
                <a:lnTo>
                  <a:pt x="1782680" y="38857"/>
                </a:lnTo>
                <a:lnTo>
                  <a:pt x="1829706" y="49178"/>
                </a:lnTo>
                <a:lnTo>
                  <a:pt x="1876303" y="60714"/>
                </a:lnTo>
                <a:lnTo>
                  <a:pt x="1922422" y="73464"/>
                </a:lnTo>
                <a:lnTo>
                  <a:pt x="1968015" y="87429"/>
                </a:lnTo>
                <a:lnTo>
                  <a:pt x="2013036" y="102608"/>
                </a:lnTo>
                <a:lnTo>
                  <a:pt x="2057436" y="119001"/>
                </a:lnTo>
                <a:lnTo>
                  <a:pt x="2101167" y="136608"/>
                </a:lnTo>
                <a:lnTo>
                  <a:pt x="2144182" y="155429"/>
                </a:lnTo>
                <a:lnTo>
                  <a:pt x="2186433" y="175465"/>
                </a:lnTo>
                <a:lnTo>
                  <a:pt x="2227872" y="196715"/>
                </a:lnTo>
                <a:lnTo>
                  <a:pt x="2268452" y="219180"/>
                </a:lnTo>
                <a:lnTo>
                  <a:pt x="2308125" y="242859"/>
                </a:lnTo>
                <a:lnTo>
                  <a:pt x="2346842" y="267752"/>
                </a:lnTo>
                <a:lnTo>
                  <a:pt x="2384557" y="293859"/>
                </a:lnTo>
              </a:path>
            </a:pathLst>
          </a:custGeom>
          <a:ln w="25399">
            <a:solidFill>
              <a:srgbClr val="000000"/>
            </a:solidFill>
          </a:ln>
        </p:spPr>
        <p:txBody>
          <a:bodyPr wrap="square" lIns="0" tIns="0" rIns="0" bIns="0" rtlCol="0"/>
          <a:lstStyle/>
          <a:p>
            <a:endParaRPr/>
          </a:p>
        </p:txBody>
      </p:sp>
      <p:sp>
        <p:nvSpPr>
          <p:cNvPr id="49" name="object 20">
            <a:extLst>
              <a:ext uri="{FF2B5EF4-FFF2-40B4-BE49-F238E27FC236}">
                <a16:creationId xmlns:a16="http://schemas.microsoft.com/office/drawing/2014/main" id="{1B211AFC-E992-C944-64A1-B9B54C1578B4}"/>
              </a:ext>
            </a:extLst>
          </p:cNvPr>
          <p:cNvSpPr/>
          <p:nvPr/>
        </p:nvSpPr>
        <p:spPr>
          <a:xfrm>
            <a:off x="5887627" y="3278303"/>
            <a:ext cx="164794" cy="164794"/>
          </a:xfrm>
          <a:custGeom>
            <a:avLst/>
            <a:gdLst/>
            <a:ahLst/>
            <a:cxnLst/>
            <a:rect l="l" t="t" r="r" b="b"/>
            <a:pathLst>
              <a:path w="254000" h="254000">
                <a:moveTo>
                  <a:pt x="216802" y="37197"/>
                </a:moveTo>
                <a:lnTo>
                  <a:pt x="244700" y="79209"/>
                </a:lnTo>
                <a:lnTo>
                  <a:pt x="254000" y="126999"/>
                </a:lnTo>
                <a:lnTo>
                  <a:pt x="244700" y="174790"/>
                </a:lnTo>
                <a:lnTo>
                  <a:pt x="216802" y="216802"/>
                </a:lnTo>
                <a:lnTo>
                  <a:pt x="174790" y="244700"/>
                </a:lnTo>
                <a:lnTo>
                  <a:pt x="126999" y="253999"/>
                </a:lnTo>
                <a:lnTo>
                  <a:pt x="79209" y="244700"/>
                </a:lnTo>
                <a:lnTo>
                  <a:pt x="37197" y="216802"/>
                </a:lnTo>
                <a:lnTo>
                  <a:pt x="9299" y="174790"/>
                </a:lnTo>
                <a:lnTo>
                  <a:pt x="0" y="126999"/>
                </a:lnTo>
                <a:lnTo>
                  <a:pt x="9299" y="79209"/>
                </a:lnTo>
                <a:lnTo>
                  <a:pt x="37197" y="37197"/>
                </a:lnTo>
                <a:lnTo>
                  <a:pt x="79209" y="9299"/>
                </a:lnTo>
                <a:lnTo>
                  <a:pt x="126999" y="0"/>
                </a:lnTo>
                <a:lnTo>
                  <a:pt x="174790" y="9299"/>
                </a:lnTo>
                <a:lnTo>
                  <a:pt x="216802" y="37197"/>
                </a:lnTo>
              </a:path>
            </a:pathLst>
          </a:custGeom>
          <a:ln w="25399">
            <a:solidFill>
              <a:srgbClr val="000000"/>
            </a:solidFill>
          </a:ln>
        </p:spPr>
        <p:txBody>
          <a:bodyPr wrap="square" lIns="0" tIns="0" rIns="0" bIns="0" rtlCol="0"/>
          <a:lstStyle/>
          <a:p>
            <a:endParaRPr/>
          </a:p>
        </p:txBody>
      </p:sp>
      <p:pic>
        <p:nvPicPr>
          <p:cNvPr id="50" name="object 21">
            <a:extLst>
              <a:ext uri="{FF2B5EF4-FFF2-40B4-BE49-F238E27FC236}">
                <a16:creationId xmlns:a16="http://schemas.microsoft.com/office/drawing/2014/main" id="{B0F17549-40CE-FF79-574D-03A9E0A0B760}"/>
              </a:ext>
            </a:extLst>
          </p:cNvPr>
          <p:cNvPicPr/>
          <p:nvPr/>
        </p:nvPicPr>
        <p:blipFill>
          <a:blip r:embed="rId10" cstate="print"/>
          <a:stretch>
            <a:fillRect/>
          </a:stretch>
        </p:blipFill>
        <p:spPr>
          <a:xfrm>
            <a:off x="6077143" y="3416613"/>
            <a:ext cx="140075" cy="140074"/>
          </a:xfrm>
          <a:prstGeom prst="rect">
            <a:avLst/>
          </a:prstGeom>
        </p:spPr>
      </p:pic>
      <p:pic>
        <p:nvPicPr>
          <p:cNvPr id="51" name="object 22">
            <a:extLst>
              <a:ext uri="{FF2B5EF4-FFF2-40B4-BE49-F238E27FC236}">
                <a16:creationId xmlns:a16="http://schemas.microsoft.com/office/drawing/2014/main" id="{CB249D98-104E-BE8A-4BCE-DF3759FD6C9A}"/>
              </a:ext>
            </a:extLst>
          </p:cNvPr>
          <p:cNvPicPr/>
          <p:nvPr/>
        </p:nvPicPr>
        <p:blipFill>
          <a:blip r:embed="rId11" cstate="print"/>
          <a:stretch>
            <a:fillRect/>
          </a:stretch>
        </p:blipFill>
        <p:spPr>
          <a:xfrm>
            <a:off x="6265006" y="3554419"/>
            <a:ext cx="98877" cy="98877"/>
          </a:xfrm>
          <a:prstGeom prst="rect">
            <a:avLst/>
          </a:prstGeom>
        </p:spPr>
      </p:pic>
      <p:cxnSp>
        <p:nvCxnSpPr>
          <p:cNvPr id="54" name="直接箭头连接符 53">
            <a:extLst>
              <a:ext uri="{FF2B5EF4-FFF2-40B4-BE49-F238E27FC236}">
                <a16:creationId xmlns:a16="http://schemas.microsoft.com/office/drawing/2014/main" id="{C838D1C1-B8D5-19A1-C14F-95FCB140D3C1}"/>
              </a:ext>
            </a:extLst>
          </p:cNvPr>
          <p:cNvCxnSpPr/>
          <p:nvPr/>
        </p:nvCxnSpPr>
        <p:spPr>
          <a:xfrm>
            <a:off x="2442258" y="4826643"/>
            <a:ext cx="1319514"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55" name="直接箭头连接符 54">
            <a:extLst>
              <a:ext uri="{FF2B5EF4-FFF2-40B4-BE49-F238E27FC236}">
                <a16:creationId xmlns:a16="http://schemas.microsoft.com/office/drawing/2014/main" id="{153BD2AA-0251-A764-A243-5D55F9DF2535}"/>
              </a:ext>
            </a:extLst>
          </p:cNvPr>
          <p:cNvCxnSpPr>
            <a:cxnSpLocks/>
          </p:cNvCxnSpPr>
          <p:nvPr/>
        </p:nvCxnSpPr>
        <p:spPr>
          <a:xfrm flipH="1">
            <a:off x="8583108" y="4838218"/>
            <a:ext cx="1280194"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952169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02 DevOps</a:t>
            </a:r>
            <a:r>
              <a:rPr lang="zh-CN" altLang="en-US" dirty="0"/>
              <a:t>历史溯源</a:t>
            </a:r>
          </a:p>
        </p:txBody>
      </p:sp>
      <p:sp>
        <p:nvSpPr>
          <p:cNvPr id="5" name="文本框 4">
            <a:extLst>
              <a:ext uri="{FF2B5EF4-FFF2-40B4-BE49-F238E27FC236}">
                <a16:creationId xmlns:a16="http://schemas.microsoft.com/office/drawing/2014/main" id="{4AA64805-5FBA-B77A-CFD4-5115694A9845}"/>
              </a:ext>
            </a:extLst>
          </p:cNvPr>
          <p:cNvSpPr txBox="1"/>
          <p:nvPr/>
        </p:nvSpPr>
        <p:spPr>
          <a:xfrm>
            <a:off x="718219" y="1426642"/>
            <a:ext cx="3592536" cy="3367397"/>
          </a:xfrm>
          <a:prstGeom prst="rect">
            <a:avLst/>
          </a:prstGeom>
          <a:noFill/>
        </p:spPr>
        <p:txBody>
          <a:bodyPr wrap="square">
            <a:spAutoFit/>
          </a:bodyPr>
          <a:lstStyle/>
          <a:p>
            <a:pPr marL="0" lvl="0" indent="0" algn="just">
              <a:lnSpc>
                <a:spcPct val="150000"/>
              </a:lnSpc>
              <a:buFont typeface="Arial" panose="020B0604020202020204" pitchFamily="34" charset="0"/>
            </a:pPr>
            <a:r>
              <a:rPr lang="en-US" altLang="zh-CN" sz="1800" kern="100" dirty="0">
                <a:solidFill>
                  <a:schemeClr val="tx1"/>
                </a:solidFill>
                <a:effectLst/>
                <a:latin typeface="+mn-ea"/>
                <a:cs typeface="Times New Roman" panose="02020603050405020304" pitchFamily="18" charset="0"/>
              </a:rPr>
              <a:t>2009 </a:t>
            </a:r>
            <a:r>
              <a:rPr lang="zh-CN" altLang="en-US" sz="1800" kern="100" dirty="0">
                <a:solidFill>
                  <a:schemeClr val="tx1"/>
                </a:solidFill>
                <a:effectLst/>
                <a:latin typeface="+mn-ea"/>
                <a:cs typeface="Times New Roman" panose="02020603050405020304" pitchFamily="18" charset="0"/>
              </a:rPr>
              <a:t>年</a:t>
            </a:r>
            <a:r>
              <a:rPr lang="en-US" altLang="zh-CN" sz="1800" kern="100" dirty="0">
                <a:solidFill>
                  <a:schemeClr val="tx1"/>
                </a:solidFill>
                <a:effectLst/>
                <a:latin typeface="+mn-ea"/>
                <a:cs typeface="Times New Roman" panose="02020603050405020304" pitchFamily="18" charset="0"/>
              </a:rPr>
              <a:t>6 </a:t>
            </a:r>
            <a:r>
              <a:rPr lang="zh-CN" altLang="en-US" sz="1800" kern="100" dirty="0">
                <a:solidFill>
                  <a:schemeClr val="tx1"/>
                </a:solidFill>
                <a:effectLst/>
                <a:latin typeface="+mn-ea"/>
                <a:cs typeface="Times New Roman" panose="02020603050405020304" pitchFamily="18" charset="0"/>
              </a:rPr>
              <a:t>月，第二届</a:t>
            </a:r>
            <a:r>
              <a:rPr lang="en-US" altLang="zh-CN" sz="1800" kern="100" dirty="0">
                <a:solidFill>
                  <a:schemeClr val="tx1"/>
                </a:solidFill>
                <a:effectLst/>
                <a:latin typeface="+mn-ea"/>
                <a:cs typeface="Times New Roman" panose="02020603050405020304" pitchFamily="18" charset="0"/>
              </a:rPr>
              <a:t>Velocity</a:t>
            </a:r>
            <a:r>
              <a:rPr lang="zh-CN" altLang="en-US" sz="1800" kern="100" dirty="0">
                <a:solidFill>
                  <a:schemeClr val="tx1"/>
                </a:solidFill>
                <a:effectLst/>
                <a:latin typeface="+mn-ea"/>
                <a:cs typeface="Times New Roman" panose="02020603050405020304" pitchFamily="18" charset="0"/>
              </a:rPr>
              <a:t>大会在美国圣荷西召开，当时的</a:t>
            </a:r>
            <a:r>
              <a:rPr lang="en-US" altLang="zh-CN" sz="1800" kern="100" dirty="0">
                <a:solidFill>
                  <a:schemeClr val="tx1"/>
                </a:solidFill>
                <a:effectLst/>
                <a:latin typeface="+mn-ea"/>
                <a:cs typeface="Times New Roman" panose="02020603050405020304" pitchFamily="18" charset="0"/>
              </a:rPr>
              <a:t>Flickr </a:t>
            </a:r>
            <a:r>
              <a:rPr lang="zh-CN" altLang="en-US" sz="1800" kern="100" dirty="0">
                <a:solidFill>
                  <a:schemeClr val="tx1"/>
                </a:solidFill>
                <a:effectLst/>
                <a:latin typeface="+mn-ea"/>
                <a:cs typeface="Times New Roman" panose="02020603050405020304" pitchFamily="18" charset="0"/>
              </a:rPr>
              <a:t>技术运维资深副总裁</a:t>
            </a:r>
            <a:r>
              <a:rPr lang="en-US" altLang="zh-CN" sz="1800" kern="100" dirty="0">
                <a:solidFill>
                  <a:schemeClr val="tx1"/>
                </a:solidFill>
                <a:effectLst/>
                <a:latin typeface="+mn-ea"/>
                <a:cs typeface="Times New Roman" panose="02020603050405020304" pitchFamily="18" charset="0"/>
              </a:rPr>
              <a:t>John </a:t>
            </a:r>
            <a:r>
              <a:rPr lang="en-US" altLang="zh-CN" sz="1800" kern="100" dirty="0" err="1">
                <a:solidFill>
                  <a:schemeClr val="tx1"/>
                </a:solidFill>
                <a:effectLst/>
                <a:latin typeface="+mn-ea"/>
                <a:cs typeface="Times New Roman" panose="02020603050405020304" pitchFamily="18" charset="0"/>
              </a:rPr>
              <a:t>Allspaw</a:t>
            </a:r>
            <a:r>
              <a:rPr lang="zh-CN" altLang="en-US" sz="1800" kern="100" dirty="0">
                <a:solidFill>
                  <a:schemeClr val="tx1"/>
                </a:solidFill>
                <a:effectLst/>
                <a:latin typeface="+mn-ea"/>
                <a:cs typeface="Times New Roman" panose="02020603050405020304" pitchFamily="18" charset="0"/>
              </a:rPr>
              <a:t>和工程总监</a:t>
            </a:r>
            <a:r>
              <a:rPr lang="en-US" altLang="zh-CN" sz="1800" kern="100" dirty="0">
                <a:solidFill>
                  <a:schemeClr val="tx1"/>
                </a:solidFill>
                <a:effectLst/>
                <a:latin typeface="+mn-ea"/>
                <a:cs typeface="Times New Roman" panose="02020603050405020304" pitchFamily="18" charset="0"/>
              </a:rPr>
              <a:t>Paul Hammond</a:t>
            </a:r>
            <a:r>
              <a:rPr lang="zh-CN" altLang="en-US" sz="1800" kern="100" dirty="0">
                <a:solidFill>
                  <a:schemeClr val="tx1"/>
                </a:solidFill>
                <a:effectLst/>
                <a:latin typeface="+mn-ea"/>
                <a:cs typeface="Times New Roman" panose="02020603050405020304" pitchFamily="18" charset="0"/>
              </a:rPr>
              <a:t>一起在大会上做了一个题目为“</a:t>
            </a:r>
            <a:r>
              <a:rPr lang="en-US" altLang="zh-CN" sz="1800" kern="100" dirty="0">
                <a:solidFill>
                  <a:schemeClr val="tx1"/>
                </a:solidFill>
                <a:effectLst/>
                <a:latin typeface="+mn-ea"/>
                <a:cs typeface="Times New Roman" panose="02020603050405020304" pitchFamily="18" charset="0"/>
              </a:rPr>
              <a:t>10+ Deploys per Day: Dev and Ops Cooperation at Flickr ” </a:t>
            </a:r>
            <a:r>
              <a:rPr lang="zh-CN" altLang="en-US" sz="1800" kern="100" dirty="0">
                <a:solidFill>
                  <a:schemeClr val="tx1"/>
                </a:solidFill>
                <a:effectLst/>
                <a:latin typeface="+mn-ea"/>
                <a:cs typeface="Times New Roman" panose="02020603050405020304" pitchFamily="18" charset="0"/>
              </a:rPr>
              <a:t>的演讲</a:t>
            </a:r>
            <a:endParaRPr lang="en-US" altLang="zh-CN" sz="1800" kern="100" dirty="0">
              <a:solidFill>
                <a:schemeClr val="tx1"/>
              </a:solidFill>
              <a:effectLst/>
              <a:latin typeface="+mn-ea"/>
              <a:cs typeface="Times New Roman" panose="02020603050405020304" pitchFamily="18" charset="0"/>
            </a:endParaRPr>
          </a:p>
        </p:txBody>
      </p:sp>
      <p:sp>
        <p:nvSpPr>
          <p:cNvPr id="30" name="文本框 29">
            <a:extLst>
              <a:ext uri="{FF2B5EF4-FFF2-40B4-BE49-F238E27FC236}">
                <a16:creationId xmlns:a16="http://schemas.microsoft.com/office/drawing/2014/main" id="{CF6170A3-D12F-935D-D836-CFA272127202}"/>
              </a:ext>
            </a:extLst>
          </p:cNvPr>
          <p:cNvSpPr txBox="1"/>
          <p:nvPr/>
        </p:nvSpPr>
        <p:spPr>
          <a:xfrm>
            <a:off x="718218" y="874354"/>
            <a:ext cx="4328344" cy="601075"/>
          </a:xfrm>
          <a:prstGeom prst="rect">
            <a:avLst/>
          </a:prstGeom>
          <a:noFill/>
        </p:spPr>
        <p:txBody>
          <a:bodyPr wrap="square" lIns="0" tIns="0" rIns="0" bIns="0" rtlCol="0" anchor="ctr">
            <a:noAutofit/>
          </a:bodyPr>
          <a:lstStyle>
            <a:defPPr>
              <a:defRPr lang="zh-CN"/>
            </a:defPPr>
            <a:lvl1pPr marL="285750" indent="-285750">
              <a:lnSpc>
                <a:spcPct val="125000"/>
              </a:lnSpc>
              <a:spcAft>
                <a:spcPts val="500"/>
              </a:spcAft>
              <a:buFont typeface="Wingdings" panose="05000000000000000000" pitchFamily="2" charset="2"/>
              <a:buChar char="p"/>
              <a:defRPr sz="2400">
                <a:solidFill>
                  <a:srgbClr val="003F88"/>
                </a:solidFill>
              </a:defRPr>
            </a:lvl1pPr>
          </a:lstStyle>
          <a:p>
            <a:r>
              <a:rPr lang="en-US" altLang="zh-CN" dirty="0"/>
              <a:t> </a:t>
            </a:r>
            <a:r>
              <a:rPr lang="zh-CN" altLang="en-US" dirty="0"/>
              <a:t>社区确立阶段（</a:t>
            </a:r>
            <a:r>
              <a:rPr lang="en-US" altLang="zh-CN" dirty="0"/>
              <a:t>2009~2010</a:t>
            </a:r>
            <a:r>
              <a:rPr lang="zh-CN" altLang="en-US" dirty="0"/>
              <a:t>）</a:t>
            </a:r>
          </a:p>
        </p:txBody>
      </p:sp>
      <p:sp>
        <p:nvSpPr>
          <p:cNvPr id="4" name="object 2">
            <a:extLst>
              <a:ext uri="{FF2B5EF4-FFF2-40B4-BE49-F238E27FC236}">
                <a16:creationId xmlns:a16="http://schemas.microsoft.com/office/drawing/2014/main" id="{CDC61A3D-4586-FAD9-98BE-1FFFD1D8D0C7}"/>
              </a:ext>
            </a:extLst>
          </p:cNvPr>
          <p:cNvSpPr/>
          <p:nvPr/>
        </p:nvSpPr>
        <p:spPr>
          <a:xfrm>
            <a:off x="-29209" y="1790023"/>
            <a:ext cx="45719" cy="168809"/>
          </a:xfrm>
          <a:custGeom>
            <a:avLst/>
            <a:gdLst/>
            <a:ahLst/>
            <a:cxnLst/>
            <a:rect l="l" t="t" r="r" b="b"/>
            <a:pathLst>
              <a:path w="16510" h="60960">
                <a:moveTo>
                  <a:pt x="0" y="0"/>
                </a:moveTo>
                <a:lnTo>
                  <a:pt x="0" y="60700"/>
                </a:lnTo>
                <a:lnTo>
                  <a:pt x="5938" y="54761"/>
                </a:lnTo>
                <a:lnTo>
                  <a:pt x="13848" y="42876"/>
                </a:lnTo>
                <a:lnTo>
                  <a:pt x="16485" y="29353"/>
                </a:lnTo>
                <a:lnTo>
                  <a:pt x="13848" y="15831"/>
                </a:lnTo>
                <a:lnTo>
                  <a:pt x="5938" y="3947"/>
                </a:lnTo>
                <a:lnTo>
                  <a:pt x="0" y="0"/>
                </a:lnTo>
                <a:close/>
              </a:path>
            </a:pathLst>
          </a:custGeom>
          <a:solidFill>
            <a:srgbClr val="000000"/>
          </a:solidFill>
        </p:spPr>
        <p:txBody>
          <a:bodyPr wrap="square" lIns="0" tIns="0" rIns="0" bIns="0" rtlCol="0"/>
          <a:lstStyle/>
          <a:p>
            <a:endParaRPr/>
          </a:p>
        </p:txBody>
      </p:sp>
      <p:grpSp>
        <p:nvGrpSpPr>
          <p:cNvPr id="6" name="object 3">
            <a:extLst>
              <a:ext uri="{FF2B5EF4-FFF2-40B4-BE49-F238E27FC236}">
                <a16:creationId xmlns:a16="http://schemas.microsoft.com/office/drawing/2014/main" id="{69833AC7-F571-A98A-4ADD-38B5D6BB28FA}"/>
              </a:ext>
            </a:extLst>
          </p:cNvPr>
          <p:cNvGrpSpPr/>
          <p:nvPr/>
        </p:nvGrpSpPr>
        <p:grpSpPr>
          <a:xfrm>
            <a:off x="4383904" y="1100748"/>
            <a:ext cx="7808096" cy="5757252"/>
            <a:chOff x="0" y="164186"/>
            <a:chExt cx="13005348" cy="9589413"/>
          </a:xfrm>
        </p:grpSpPr>
        <p:pic>
          <p:nvPicPr>
            <p:cNvPr id="7" name="object 4">
              <a:extLst>
                <a:ext uri="{FF2B5EF4-FFF2-40B4-BE49-F238E27FC236}">
                  <a16:creationId xmlns:a16="http://schemas.microsoft.com/office/drawing/2014/main" id="{1F0E2A9E-AE85-3B2F-B88E-9E11229C598B}"/>
                </a:ext>
              </a:extLst>
            </p:cNvPr>
            <p:cNvPicPr/>
            <p:nvPr/>
          </p:nvPicPr>
          <p:blipFill>
            <a:blip r:embed="rId3" cstate="print"/>
            <a:stretch>
              <a:fillRect/>
            </a:stretch>
          </p:blipFill>
          <p:spPr>
            <a:xfrm>
              <a:off x="8396946" y="254247"/>
              <a:ext cx="103882" cy="103851"/>
            </a:xfrm>
            <a:prstGeom prst="rect">
              <a:avLst/>
            </a:prstGeom>
          </p:spPr>
        </p:pic>
        <p:pic>
          <p:nvPicPr>
            <p:cNvPr id="8" name="object 5">
              <a:extLst>
                <a:ext uri="{FF2B5EF4-FFF2-40B4-BE49-F238E27FC236}">
                  <a16:creationId xmlns:a16="http://schemas.microsoft.com/office/drawing/2014/main" id="{A2CD2A39-FA25-B49F-8868-140A7CA06319}"/>
                </a:ext>
              </a:extLst>
            </p:cNvPr>
            <p:cNvPicPr/>
            <p:nvPr/>
          </p:nvPicPr>
          <p:blipFill>
            <a:blip r:embed="rId4" cstate="print"/>
            <a:stretch>
              <a:fillRect/>
            </a:stretch>
          </p:blipFill>
          <p:spPr>
            <a:xfrm>
              <a:off x="0" y="164186"/>
              <a:ext cx="13004800" cy="9589413"/>
            </a:xfrm>
            <a:prstGeom prst="rect">
              <a:avLst/>
            </a:prstGeom>
          </p:spPr>
        </p:pic>
        <p:pic>
          <p:nvPicPr>
            <p:cNvPr id="9" name="object 6">
              <a:extLst>
                <a:ext uri="{FF2B5EF4-FFF2-40B4-BE49-F238E27FC236}">
                  <a16:creationId xmlns:a16="http://schemas.microsoft.com/office/drawing/2014/main" id="{ED415B6A-04EF-6B10-456A-D3270C8467B9}"/>
                </a:ext>
              </a:extLst>
            </p:cNvPr>
            <p:cNvPicPr/>
            <p:nvPr/>
          </p:nvPicPr>
          <p:blipFill>
            <a:blip r:embed="rId5" cstate="print"/>
            <a:stretch>
              <a:fillRect/>
            </a:stretch>
          </p:blipFill>
          <p:spPr>
            <a:xfrm>
              <a:off x="9565125" y="357084"/>
              <a:ext cx="137107" cy="137094"/>
            </a:xfrm>
            <a:prstGeom prst="rect">
              <a:avLst/>
            </a:prstGeom>
          </p:spPr>
        </p:pic>
        <p:pic>
          <p:nvPicPr>
            <p:cNvPr id="10" name="object 7">
              <a:extLst>
                <a:ext uri="{FF2B5EF4-FFF2-40B4-BE49-F238E27FC236}">
                  <a16:creationId xmlns:a16="http://schemas.microsoft.com/office/drawing/2014/main" id="{F050BF81-3321-6A37-5B9C-FA40F8F835A8}"/>
                </a:ext>
              </a:extLst>
            </p:cNvPr>
            <p:cNvPicPr/>
            <p:nvPr/>
          </p:nvPicPr>
          <p:blipFill>
            <a:blip r:embed="rId6" cstate="print"/>
            <a:stretch>
              <a:fillRect/>
            </a:stretch>
          </p:blipFill>
          <p:spPr>
            <a:xfrm>
              <a:off x="9645026" y="331488"/>
              <a:ext cx="245831" cy="245796"/>
            </a:xfrm>
            <a:prstGeom prst="rect">
              <a:avLst/>
            </a:prstGeom>
          </p:spPr>
        </p:pic>
        <p:pic>
          <p:nvPicPr>
            <p:cNvPr id="11" name="object 8">
              <a:extLst>
                <a:ext uri="{FF2B5EF4-FFF2-40B4-BE49-F238E27FC236}">
                  <a16:creationId xmlns:a16="http://schemas.microsoft.com/office/drawing/2014/main" id="{B8E76A49-9DEB-0E35-63FB-21B4CC0AD52C}"/>
                </a:ext>
              </a:extLst>
            </p:cNvPr>
            <p:cNvPicPr/>
            <p:nvPr/>
          </p:nvPicPr>
          <p:blipFill>
            <a:blip r:embed="rId7" cstate="print"/>
            <a:stretch>
              <a:fillRect/>
            </a:stretch>
          </p:blipFill>
          <p:spPr>
            <a:xfrm>
              <a:off x="9875367" y="331586"/>
              <a:ext cx="178410" cy="178377"/>
            </a:xfrm>
            <a:prstGeom prst="rect">
              <a:avLst/>
            </a:prstGeom>
          </p:spPr>
        </p:pic>
        <p:pic>
          <p:nvPicPr>
            <p:cNvPr id="12" name="object 9">
              <a:extLst>
                <a:ext uri="{FF2B5EF4-FFF2-40B4-BE49-F238E27FC236}">
                  <a16:creationId xmlns:a16="http://schemas.microsoft.com/office/drawing/2014/main" id="{5C3D8FFA-D2F7-8556-847A-43C552720E24}"/>
                </a:ext>
              </a:extLst>
            </p:cNvPr>
            <p:cNvPicPr/>
            <p:nvPr/>
          </p:nvPicPr>
          <p:blipFill>
            <a:blip r:embed="rId8" cstate="print"/>
            <a:stretch>
              <a:fillRect/>
            </a:stretch>
          </p:blipFill>
          <p:spPr>
            <a:xfrm>
              <a:off x="10093454" y="327730"/>
              <a:ext cx="127218" cy="127213"/>
            </a:xfrm>
            <a:prstGeom prst="rect">
              <a:avLst/>
            </a:prstGeom>
          </p:spPr>
        </p:pic>
        <p:pic>
          <p:nvPicPr>
            <p:cNvPr id="13" name="object 10">
              <a:extLst>
                <a:ext uri="{FF2B5EF4-FFF2-40B4-BE49-F238E27FC236}">
                  <a16:creationId xmlns:a16="http://schemas.microsoft.com/office/drawing/2014/main" id="{FF115485-4075-5A4A-08D2-66F239BD7944}"/>
                </a:ext>
              </a:extLst>
            </p:cNvPr>
            <p:cNvPicPr/>
            <p:nvPr/>
          </p:nvPicPr>
          <p:blipFill>
            <a:blip r:embed="rId9" cstate="print"/>
            <a:stretch>
              <a:fillRect/>
            </a:stretch>
          </p:blipFill>
          <p:spPr>
            <a:xfrm>
              <a:off x="10953791" y="305204"/>
              <a:ext cx="104561" cy="104571"/>
            </a:xfrm>
            <a:prstGeom prst="rect">
              <a:avLst/>
            </a:prstGeom>
          </p:spPr>
        </p:pic>
        <p:pic>
          <p:nvPicPr>
            <p:cNvPr id="14" name="object 11">
              <a:extLst>
                <a:ext uri="{FF2B5EF4-FFF2-40B4-BE49-F238E27FC236}">
                  <a16:creationId xmlns:a16="http://schemas.microsoft.com/office/drawing/2014/main" id="{828CF488-5E6F-9572-881B-25CE57598A45}"/>
                </a:ext>
              </a:extLst>
            </p:cNvPr>
            <p:cNvPicPr/>
            <p:nvPr/>
          </p:nvPicPr>
          <p:blipFill>
            <a:blip r:embed="rId10" cstate="print"/>
            <a:stretch>
              <a:fillRect/>
            </a:stretch>
          </p:blipFill>
          <p:spPr>
            <a:xfrm>
              <a:off x="11130112" y="310136"/>
              <a:ext cx="86342" cy="86297"/>
            </a:xfrm>
            <a:prstGeom prst="rect">
              <a:avLst/>
            </a:prstGeom>
          </p:spPr>
        </p:pic>
        <p:pic>
          <p:nvPicPr>
            <p:cNvPr id="15" name="object 12">
              <a:extLst>
                <a:ext uri="{FF2B5EF4-FFF2-40B4-BE49-F238E27FC236}">
                  <a16:creationId xmlns:a16="http://schemas.microsoft.com/office/drawing/2014/main" id="{6DAB0528-ED61-086D-3B0A-6A11C716260E}"/>
                </a:ext>
              </a:extLst>
            </p:cNvPr>
            <p:cNvPicPr/>
            <p:nvPr/>
          </p:nvPicPr>
          <p:blipFill>
            <a:blip r:embed="rId11" cstate="print"/>
            <a:stretch>
              <a:fillRect/>
            </a:stretch>
          </p:blipFill>
          <p:spPr>
            <a:xfrm>
              <a:off x="11320172" y="275716"/>
              <a:ext cx="93754" cy="93746"/>
            </a:xfrm>
            <a:prstGeom prst="rect">
              <a:avLst/>
            </a:prstGeom>
          </p:spPr>
        </p:pic>
        <p:pic>
          <p:nvPicPr>
            <p:cNvPr id="16" name="object 13">
              <a:extLst>
                <a:ext uri="{FF2B5EF4-FFF2-40B4-BE49-F238E27FC236}">
                  <a16:creationId xmlns:a16="http://schemas.microsoft.com/office/drawing/2014/main" id="{43244532-5B22-0E3B-17A9-BACEA76EC50F}"/>
                </a:ext>
              </a:extLst>
            </p:cNvPr>
            <p:cNvPicPr/>
            <p:nvPr/>
          </p:nvPicPr>
          <p:blipFill>
            <a:blip r:embed="rId12" cstate="print"/>
            <a:stretch>
              <a:fillRect/>
            </a:stretch>
          </p:blipFill>
          <p:spPr>
            <a:xfrm>
              <a:off x="11438135" y="327991"/>
              <a:ext cx="86485" cy="86531"/>
            </a:xfrm>
            <a:prstGeom prst="rect">
              <a:avLst/>
            </a:prstGeom>
          </p:spPr>
        </p:pic>
        <p:pic>
          <p:nvPicPr>
            <p:cNvPr id="17" name="object 14">
              <a:extLst>
                <a:ext uri="{FF2B5EF4-FFF2-40B4-BE49-F238E27FC236}">
                  <a16:creationId xmlns:a16="http://schemas.microsoft.com/office/drawing/2014/main" id="{2FE46977-A4A6-84BB-7FC1-E5BC86FFBF71}"/>
                </a:ext>
              </a:extLst>
            </p:cNvPr>
            <p:cNvPicPr/>
            <p:nvPr/>
          </p:nvPicPr>
          <p:blipFill>
            <a:blip r:embed="rId13" cstate="print"/>
            <a:stretch>
              <a:fillRect/>
            </a:stretch>
          </p:blipFill>
          <p:spPr>
            <a:xfrm>
              <a:off x="11634990" y="298318"/>
              <a:ext cx="82417" cy="82400"/>
            </a:xfrm>
            <a:prstGeom prst="rect">
              <a:avLst/>
            </a:prstGeom>
          </p:spPr>
        </p:pic>
        <p:pic>
          <p:nvPicPr>
            <p:cNvPr id="18" name="object 15">
              <a:extLst>
                <a:ext uri="{FF2B5EF4-FFF2-40B4-BE49-F238E27FC236}">
                  <a16:creationId xmlns:a16="http://schemas.microsoft.com/office/drawing/2014/main" id="{6AAB1247-D04B-C76F-8967-CB9D4D93D973}"/>
                </a:ext>
              </a:extLst>
            </p:cNvPr>
            <p:cNvPicPr/>
            <p:nvPr/>
          </p:nvPicPr>
          <p:blipFill>
            <a:blip r:embed="rId14" cstate="print"/>
            <a:stretch>
              <a:fillRect/>
            </a:stretch>
          </p:blipFill>
          <p:spPr>
            <a:xfrm>
              <a:off x="12026013" y="515602"/>
              <a:ext cx="126184" cy="126198"/>
            </a:xfrm>
            <a:prstGeom prst="rect">
              <a:avLst/>
            </a:prstGeom>
          </p:spPr>
        </p:pic>
        <p:pic>
          <p:nvPicPr>
            <p:cNvPr id="19" name="object 16">
              <a:extLst>
                <a:ext uri="{FF2B5EF4-FFF2-40B4-BE49-F238E27FC236}">
                  <a16:creationId xmlns:a16="http://schemas.microsoft.com/office/drawing/2014/main" id="{3D3B9DCE-9625-290B-5913-F02ADF433C8F}"/>
                </a:ext>
              </a:extLst>
            </p:cNvPr>
            <p:cNvPicPr/>
            <p:nvPr/>
          </p:nvPicPr>
          <p:blipFill>
            <a:blip r:embed="rId15" cstate="print"/>
            <a:stretch>
              <a:fillRect/>
            </a:stretch>
          </p:blipFill>
          <p:spPr>
            <a:xfrm>
              <a:off x="12905102" y="285556"/>
              <a:ext cx="99698" cy="129254"/>
            </a:xfrm>
            <a:prstGeom prst="rect">
              <a:avLst/>
            </a:prstGeom>
          </p:spPr>
        </p:pic>
        <p:sp>
          <p:nvSpPr>
            <p:cNvPr id="20" name="object 17">
              <a:extLst>
                <a:ext uri="{FF2B5EF4-FFF2-40B4-BE49-F238E27FC236}">
                  <a16:creationId xmlns:a16="http://schemas.microsoft.com/office/drawing/2014/main" id="{093F9DE9-BFAD-AE24-C247-1F7D734E4BA2}"/>
                </a:ext>
              </a:extLst>
            </p:cNvPr>
            <p:cNvSpPr/>
            <p:nvPr/>
          </p:nvSpPr>
          <p:spPr>
            <a:xfrm>
              <a:off x="11132734" y="1568526"/>
              <a:ext cx="1872614" cy="1923414"/>
            </a:xfrm>
            <a:custGeom>
              <a:avLst/>
              <a:gdLst/>
              <a:ahLst/>
              <a:cxnLst/>
              <a:rect l="l" t="t" r="r" b="b"/>
              <a:pathLst>
                <a:path w="1872615" h="1923414">
                  <a:moveTo>
                    <a:pt x="1872065" y="0"/>
                  </a:moveTo>
                  <a:lnTo>
                    <a:pt x="10518" y="1861478"/>
                  </a:lnTo>
                  <a:lnTo>
                    <a:pt x="2629" y="1873362"/>
                  </a:lnTo>
                  <a:lnTo>
                    <a:pt x="0" y="1886889"/>
                  </a:lnTo>
                  <a:lnTo>
                    <a:pt x="2629" y="1900422"/>
                  </a:lnTo>
                  <a:lnTo>
                    <a:pt x="35943" y="1922863"/>
                  </a:lnTo>
                  <a:lnTo>
                    <a:pt x="42814" y="1922203"/>
                  </a:lnTo>
                  <a:lnTo>
                    <a:pt x="49480" y="1920224"/>
                  </a:lnTo>
                  <a:lnTo>
                    <a:pt x="55733" y="1916931"/>
                  </a:lnTo>
                  <a:lnTo>
                    <a:pt x="61370" y="1912327"/>
                  </a:lnTo>
                  <a:lnTo>
                    <a:pt x="1872065" y="101698"/>
                  </a:lnTo>
                  <a:lnTo>
                    <a:pt x="1872065" y="0"/>
                  </a:lnTo>
                  <a:close/>
                </a:path>
              </a:pathLst>
            </a:custGeom>
            <a:solidFill>
              <a:srgbClr val="000000"/>
            </a:solidFill>
          </p:spPr>
          <p:txBody>
            <a:bodyPr wrap="square" lIns="0" tIns="0" rIns="0" bIns="0" rtlCol="0"/>
            <a:lstStyle/>
            <a:p>
              <a:endParaRPr/>
            </a:p>
          </p:txBody>
        </p:sp>
        <p:pic>
          <p:nvPicPr>
            <p:cNvPr id="21" name="object 18">
              <a:extLst>
                <a:ext uri="{FF2B5EF4-FFF2-40B4-BE49-F238E27FC236}">
                  <a16:creationId xmlns:a16="http://schemas.microsoft.com/office/drawing/2014/main" id="{33CBF45C-D881-8873-3F8B-78C415CC5E02}"/>
                </a:ext>
              </a:extLst>
            </p:cNvPr>
            <p:cNvPicPr/>
            <p:nvPr/>
          </p:nvPicPr>
          <p:blipFill>
            <a:blip r:embed="rId16" cstate="print"/>
            <a:stretch>
              <a:fillRect/>
            </a:stretch>
          </p:blipFill>
          <p:spPr>
            <a:xfrm>
              <a:off x="8735104" y="1731517"/>
              <a:ext cx="4269695" cy="7253857"/>
            </a:xfrm>
            <a:prstGeom prst="rect">
              <a:avLst/>
            </a:prstGeom>
          </p:spPr>
        </p:pic>
        <p:pic>
          <p:nvPicPr>
            <p:cNvPr id="22" name="object 19">
              <a:extLst>
                <a:ext uri="{FF2B5EF4-FFF2-40B4-BE49-F238E27FC236}">
                  <a16:creationId xmlns:a16="http://schemas.microsoft.com/office/drawing/2014/main" id="{2A689586-B7B5-92B0-0884-EDEE4BF2E0FC}"/>
                </a:ext>
              </a:extLst>
            </p:cNvPr>
            <p:cNvPicPr/>
            <p:nvPr/>
          </p:nvPicPr>
          <p:blipFill>
            <a:blip r:embed="rId17" cstate="print"/>
            <a:stretch>
              <a:fillRect/>
            </a:stretch>
          </p:blipFill>
          <p:spPr>
            <a:xfrm>
              <a:off x="1219200" y="1879600"/>
              <a:ext cx="2445647" cy="1739900"/>
            </a:xfrm>
            <a:prstGeom prst="rect">
              <a:avLst/>
            </a:prstGeom>
          </p:spPr>
        </p:pic>
        <p:pic>
          <p:nvPicPr>
            <p:cNvPr id="23" name="object 20">
              <a:extLst>
                <a:ext uri="{FF2B5EF4-FFF2-40B4-BE49-F238E27FC236}">
                  <a16:creationId xmlns:a16="http://schemas.microsoft.com/office/drawing/2014/main" id="{C62E2D93-3D76-BFA1-F7AF-DC49E12E9355}"/>
                </a:ext>
              </a:extLst>
            </p:cNvPr>
            <p:cNvPicPr/>
            <p:nvPr/>
          </p:nvPicPr>
          <p:blipFill>
            <a:blip r:embed="rId18" cstate="print"/>
            <a:stretch>
              <a:fillRect/>
            </a:stretch>
          </p:blipFill>
          <p:spPr>
            <a:xfrm>
              <a:off x="457200" y="1879600"/>
              <a:ext cx="914400" cy="1739900"/>
            </a:xfrm>
            <a:prstGeom prst="rect">
              <a:avLst/>
            </a:prstGeom>
          </p:spPr>
        </p:pic>
        <p:sp>
          <p:nvSpPr>
            <p:cNvPr id="24" name="object 21">
              <a:extLst>
                <a:ext uri="{FF2B5EF4-FFF2-40B4-BE49-F238E27FC236}">
                  <a16:creationId xmlns:a16="http://schemas.microsoft.com/office/drawing/2014/main" id="{54F42A63-1844-BFCB-5C04-8682472F3279}"/>
                </a:ext>
              </a:extLst>
            </p:cNvPr>
            <p:cNvSpPr/>
            <p:nvPr/>
          </p:nvSpPr>
          <p:spPr>
            <a:xfrm>
              <a:off x="36266" y="3591066"/>
              <a:ext cx="4269694" cy="733589"/>
            </a:xfrm>
            <a:custGeom>
              <a:avLst/>
              <a:gdLst/>
              <a:ahLst/>
              <a:cxnLst/>
              <a:rect l="l" t="t" r="r" b="b"/>
              <a:pathLst>
                <a:path w="3759200" h="679450">
                  <a:moveTo>
                    <a:pt x="0" y="0"/>
                  </a:moveTo>
                  <a:lnTo>
                    <a:pt x="3759200" y="0"/>
                  </a:lnTo>
                  <a:lnTo>
                    <a:pt x="3759200" y="679168"/>
                  </a:lnTo>
                  <a:lnTo>
                    <a:pt x="0" y="679168"/>
                  </a:lnTo>
                  <a:lnTo>
                    <a:pt x="0" y="0"/>
                  </a:lnTo>
                  <a:close/>
                </a:path>
              </a:pathLst>
            </a:custGeom>
            <a:solidFill>
              <a:srgbClr val="FBF199"/>
            </a:solidFill>
          </p:spPr>
          <p:txBody>
            <a:bodyPr wrap="square" lIns="0" tIns="0" rIns="0" bIns="0" rtlCol="0"/>
            <a:lstStyle/>
            <a:p>
              <a:r>
                <a:rPr lang="en-US" altLang="zh-CN" sz="1400" b="1" dirty="0">
                  <a:latin typeface="Arial"/>
                  <a:cs typeface="Arial"/>
                </a:rPr>
                <a:t>"10+</a:t>
              </a:r>
              <a:r>
                <a:rPr lang="en-US" altLang="zh-CN" sz="1400" b="1" spc="-35" dirty="0">
                  <a:latin typeface="Arial"/>
                  <a:cs typeface="Arial"/>
                </a:rPr>
                <a:t> </a:t>
              </a:r>
              <a:r>
                <a:rPr lang="en-US" altLang="zh-CN" sz="1400" b="1" spc="-10" dirty="0">
                  <a:latin typeface="Arial"/>
                  <a:cs typeface="Arial"/>
                </a:rPr>
                <a:t>Deploys</a:t>
              </a:r>
              <a:r>
                <a:rPr lang="en-US" altLang="zh-CN" sz="1400" b="1" spc="-30" dirty="0">
                  <a:latin typeface="Arial"/>
                  <a:cs typeface="Arial"/>
                </a:rPr>
                <a:t> </a:t>
              </a:r>
              <a:r>
                <a:rPr lang="en-US" altLang="zh-CN" sz="1400" b="1" dirty="0">
                  <a:latin typeface="Arial"/>
                  <a:cs typeface="Arial"/>
                </a:rPr>
                <a:t>Per</a:t>
              </a:r>
              <a:r>
                <a:rPr lang="en-US" altLang="zh-CN" sz="1400" b="1" spc="-30" dirty="0">
                  <a:latin typeface="Arial"/>
                  <a:cs typeface="Arial"/>
                </a:rPr>
                <a:t> </a:t>
              </a:r>
              <a:r>
                <a:rPr lang="en-US" altLang="zh-CN" sz="1400" b="1" dirty="0">
                  <a:latin typeface="Arial"/>
                  <a:cs typeface="Arial"/>
                </a:rPr>
                <a:t>Day:</a:t>
              </a:r>
              <a:r>
                <a:rPr lang="en-US" altLang="zh-CN" sz="1400" b="1" spc="-35" dirty="0">
                  <a:latin typeface="Arial"/>
                  <a:cs typeface="Arial"/>
                </a:rPr>
                <a:t> </a:t>
              </a:r>
              <a:r>
                <a:rPr lang="en-US" altLang="zh-CN" sz="1400" b="1" dirty="0">
                  <a:latin typeface="Arial"/>
                  <a:cs typeface="Arial"/>
                </a:rPr>
                <a:t>Dev</a:t>
              </a:r>
              <a:r>
                <a:rPr lang="en-US" altLang="zh-CN" sz="1400" b="1" spc="-30" dirty="0">
                  <a:latin typeface="Arial"/>
                  <a:cs typeface="Arial"/>
                </a:rPr>
                <a:t> </a:t>
              </a:r>
              <a:r>
                <a:rPr lang="en-US" altLang="zh-CN" sz="1400" b="1" spc="-25" dirty="0">
                  <a:latin typeface="Arial"/>
                  <a:cs typeface="Arial"/>
                </a:rPr>
                <a:t>and </a:t>
              </a:r>
              <a:r>
                <a:rPr lang="en-US" altLang="zh-CN" sz="1400" b="1" dirty="0">
                  <a:latin typeface="Arial"/>
                  <a:cs typeface="Arial"/>
                </a:rPr>
                <a:t>Ops</a:t>
              </a:r>
              <a:r>
                <a:rPr lang="en-US" altLang="zh-CN" sz="1400" b="1" spc="5" dirty="0">
                  <a:latin typeface="Arial"/>
                  <a:cs typeface="Arial"/>
                </a:rPr>
                <a:t> </a:t>
              </a:r>
              <a:r>
                <a:rPr lang="en-US" altLang="zh-CN" sz="1400" b="1" dirty="0">
                  <a:latin typeface="Arial"/>
                  <a:cs typeface="Arial"/>
                </a:rPr>
                <a:t>Cooperation</a:t>
              </a:r>
              <a:r>
                <a:rPr lang="en-US" altLang="zh-CN" sz="1400" b="1" spc="10" dirty="0">
                  <a:latin typeface="Arial"/>
                  <a:cs typeface="Arial"/>
                </a:rPr>
                <a:t> </a:t>
              </a:r>
              <a:r>
                <a:rPr lang="en-US" altLang="zh-CN" sz="1400" b="1" dirty="0">
                  <a:latin typeface="Arial"/>
                  <a:cs typeface="Arial"/>
                </a:rPr>
                <a:t>at</a:t>
              </a:r>
              <a:r>
                <a:rPr lang="en-US" altLang="zh-CN" sz="1400" b="1" spc="10" dirty="0">
                  <a:latin typeface="Arial"/>
                  <a:cs typeface="Arial"/>
                </a:rPr>
                <a:t> </a:t>
              </a:r>
              <a:r>
                <a:rPr lang="en-US" altLang="zh-CN" sz="1400" b="1" spc="-10" dirty="0">
                  <a:latin typeface="Arial"/>
                  <a:cs typeface="Arial"/>
                </a:rPr>
                <a:t>Flickr”</a:t>
              </a:r>
              <a:endParaRPr lang="en-US" altLang="zh-CN" sz="1400" dirty="0">
                <a:latin typeface="Arial"/>
                <a:cs typeface="Arial"/>
              </a:endParaRPr>
            </a:p>
            <a:p>
              <a:endParaRPr sz="1400" dirty="0"/>
            </a:p>
          </p:txBody>
        </p:sp>
      </p:grpSp>
      <p:sp>
        <p:nvSpPr>
          <p:cNvPr id="42" name="灯片编号占位符 2">
            <a:extLst>
              <a:ext uri="{FF2B5EF4-FFF2-40B4-BE49-F238E27FC236}">
                <a16:creationId xmlns:a16="http://schemas.microsoft.com/office/drawing/2014/main" id="{95C9289A-7A8B-611B-A1AA-1EC90A060843}"/>
              </a:ext>
            </a:extLst>
          </p:cNvPr>
          <p:cNvSpPr>
            <a:spLocks noGrp="1"/>
          </p:cNvSpPr>
          <p:nvPr>
            <p:ph type="sldNum" sz="quarter" idx="12"/>
          </p:nvPr>
        </p:nvSpPr>
        <p:spPr>
          <a:xfrm>
            <a:off x="9137021" y="6494335"/>
            <a:ext cx="2743200" cy="341761"/>
          </a:xfrm>
        </p:spPr>
        <p:txBody>
          <a:bodyPr/>
          <a:lstStyle/>
          <a:p>
            <a:fld id="{1AAC388E-FA9E-4A2C-95EA-1F6B3A07935A}" type="slidenum">
              <a:rPr lang="zh-CN" altLang="en-US" sz="1400" smtClean="0">
                <a:solidFill>
                  <a:srgbClr val="000000"/>
                </a:solidFill>
              </a:rPr>
              <a:t>37</a:t>
            </a:fld>
            <a:endParaRPr lang="zh-CN" altLang="en-US" sz="1400" dirty="0">
              <a:solidFill>
                <a:srgbClr val="000000"/>
              </a:solidFill>
            </a:endParaRPr>
          </a:p>
        </p:txBody>
      </p:sp>
    </p:spTree>
    <p:extLst>
      <p:ext uri="{BB962C8B-B14F-4D97-AF65-F5344CB8AC3E}">
        <p14:creationId xmlns:p14="http://schemas.microsoft.com/office/powerpoint/2010/main" val="33009444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02 DevOps</a:t>
            </a:r>
            <a:r>
              <a:rPr lang="zh-CN" altLang="en-US" dirty="0"/>
              <a:t>历史溯源</a:t>
            </a:r>
          </a:p>
        </p:txBody>
      </p:sp>
      <p:sp>
        <p:nvSpPr>
          <p:cNvPr id="5" name="文本框 4">
            <a:extLst>
              <a:ext uri="{FF2B5EF4-FFF2-40B4-BE49-F238E27FC236}">
                <a16:creationId xmlns:a16="http://schemas.microsoft.com/office/drawing/2014/main" id="{4AA64805-5FBA-B77A-CFD4-5115694A9845}"/>
              </a:ext>
            </a:extLst>
          </p:cNvPr>
          <p:cNvSpPr txBox="1"/>
          <p:nvPr/>
        </p:nvSpPr>
        <p:spPr>
          <a:xfrm>
            <a:off x="718219" y="1426642"/>
            <a:ext cx="3592536" cy="1705403"/>
          </a:xfrm>
          <a:prstGeom prst="rect">
            <a:avLst/>
          </a:prstGeom>
          <a:noFill/>
        </p:spPr>
        <p:txBody>
          <a:bodyPr wrap="square">
            <a:spAutoFit/>
          </a:bodyPr>
          <a:lstStyle/>
          <a:p>
            <a:pPr marL="0" lvl="0" indent="0" algn="just">
              <a:lnSpc>
                <a:spcPct val="150000"/>
              </a:lnSpc>
              <a:buFont typeface="Arial" panose="020B0604020202020204" pitchFamily="34" charset="0"/>
            </a:pPr>
            <a:r>
              <a:rPr lang="en-US" altLang="zh-CN" sz="1800" kern="100" dirty="0">
                <a:solidFill>
                  <a:schemeClr val="tx1"/>
                </a:solidFill>
                <a:effectLst/>
                <a:latin typeface="+mn-ea"/>
                <a:cs typeface="Times New Roman" panose="02020603050405020304" pitchFamily="18" charset="0"/>
              </a:rPr>
              <a:t>Patrick</a:t>
            </a:r>
            <a:r>
              <a:rPr lang="zh-CN" altLang="en-US" sz="1800" kern="100" dirty="0">
                <a:solidFill>
                  <a:schemeClr val="tx1"/>
                </a:solidFill>
                <a:effectLst/>
                <a:latin typeface="+mn-ea"/>
                <a:cs typeface="Times New Roman" panose="02020603050405020304" pitchFamily="18" charset="0"/>
              </a:rPr>
              <a:t>在网上看到这个演讲后非常激动，受此大会的启发，他在比利时也发起了名为</a:t>
            </a:r>
            <a:r>
              <a:rPr lang="en-US" altLang="zh-CN" sz="1800" kern="100" dirty="0" err="1">
                <a:solidFill>
                  <a:schemeClr val="tx1"/>
                </a:solidFill>
                <a:effectLst/>
                <a:latin typeface="+mn-ea"/>
                <a:cs typeface="Times New Roman" panose="02020603050405020304" pitchFamily="18" charset="0"/>
              </a:rPr>
              <a:t>DevOpsDays</a:t>
            </a:r>
            <a:r>
              <a:rPr lang="en-US" altLang="zh-CN" sz="1800" kern="100" dirty="0">
                <a:solidFill>
                  <a:schemeClr val="tx1"/>
                </a:solidFill>
                <a:effectLst/>
                <a:latin typeface="+mn-ea"/>
                <a:cs typeface="Times New Roman" panose="02020603050405020304" pitchFamily="18" charset="0"/>
              </a:rPr>
              <a:t> </a:t>
            </a:r>
            <a:r>
              <a:rPr lang="zh-CN" altLang="en-US" sz="1800" kern="100" dirty="0">
                <a:solidFill>
                  <a:schemeClr val="tx1"/>
                </a:solidFill>
                <a:effectLst/>
                <a:latin typeface="+mn-ea"/>
                <a:cs typeface="Times New Roman" panose="02020603050405020304" pitchFamily="18" charset="0"/>
              </a:rPr>
              <a:t>的会议。</a:t>
            </a:r>
            <a:endParaRPr lang="en-US" altLang="zh-CN" sz="1800" kern="100" dirty="0">
              <a:solidFill>
                <a:schemeClr val="tx1"/>
              </a:solidFill>
              <a:effectLst/>
              <a:latin typeface="+mn-ea"/>
              <a:cs typeface="Times New Roman" panose="02020603050405020304" pitchFamily="18" charset="0"/>
            </a:endParaRPr>
          </a:p>
        </p:txBody>
      </p:sp>
      <p:sp>
        <p:nvSpPr>
          <p:cNvPr id="30" name="文本框 29">
            <a:extLst>
              <a:ext uri="{FF2B5EF4-FFF2-40B4-BE49-F238E27FC236}">
                <a16:creationId xmlns:a16="http://schemas.microsoft.com/office/drawing/2014/main" id="{CF6170A3-D12F-935D-D836-CFA272127202}"/>
              </a:ext>
            </a:extLst>
          </p:cNvPr>
          <p:cNvSpPr txBox="1"/>
          <p:nvPr/>
        </p:nvSpPr>
        <p:spPr>
          <a:xfrm>
            <a:off x="718218" y="874354"/>
            <a:ext cx="4328344" cy="601075"/>
          </a:xfrm>
          <a:prstGeom prst="rect">
            <a:avLst/>
          </a:prstGeom>
          <a:noFill/>
        </p:spPr>
        <p:txBody>
          <a:bodyPr wrap="square" lIns="0" tIns="0" rIns="0" bIns="0" rtlCol="0" anchor="ctr">
            <a:noAutofit/>
          </a:bodyPr>
          <a:lstStyle>
            <a:defPPr>
              <a:defRPr lang="zh-CN"/>
            </a:defPPr>
            <a:lvl1pPr marL="285750" indent="-285750">
              <a:lnSpc>
                <a:spcPct val="125000"/>
              </a:lnSpc>
              <a:spcAft>
                <a:spcPts val="500"/>
              </a:spcAft>
              <a:buFont typeface="Wingdings" panose="05000000000000000000" pitchFamily="2" charset="2"/>
              <a:buChar char="p"/>
              <a:defRPr sz="2400">
                <a:solidFill>
                  <a:srgbClr val="003F88"/>
                </a:solidFill>
              </a:defRPr>
            </a:lvl1pPr>
          </a:lstStyle>
          <a:p>
            <a:r>
              <a:rPr lang="en-US" altLang="zh-CN" dirty="0"/>
              <a:t> </a:t>
            </a:r>
            <a:r>
              <a:rPr lang="zh-CN" altLang="en-US" dirty="0"/>
              <a:t>社区确立阶段（</a:t>
            </a:r>
            <a:r>
              <a:rPr lang="en-US" altLang="zh-CN" dirty="0"/>
              <a:t>2009~2010</a:t>
            </a:r>
            <a:r>
              <a:rPr lang="zh-CN" altLang="en-US" dirty="0"/>
              <a:t>）</a:t>
            </a:r>
          </a:p>
        </p:txBody>
      </p:sp>
      <p:sp>
        <p:nvSpPr>
          <p:cNvPr id="4" name="object 2">
            <a:extLst>
              <a:ext uri="{FF2B5EF4-FFF2-40B4-BE49-F238E27FC236}">
                <a16:creationId xmlns:a16="http://schemas.microsoft.com/office/drawing/2014/main" id="{CDC61A3D-4586-FAD9-98BE-1FFFD1D8D0C7}"/>
              </a:ext>
            </a:extLst>
          </p:cNvPr>
          <p:cNvSpPr/>
          <p:nvPr/>
        </p:nvSpPr>
        <p:spPr>
          <a:xfrm>
            <a:off x="-29209" y="1790023"/>
            <a:ext cx="45719" cy="168809"/>
          </a:xfrm>
          <a:custGeom>
            <a:avLst/>
            <a:gdLst/>
            <a:ahLst/>
            <a:cxnLst/>
            <a:rect l="l" t="t" r="r" b="b"/>
            <a:pathLst>
              <a:path w="16510" h="60960">
                <a:moveTo>
                  <a:pt x="0" y="0"/>
                </a:moveTo>
                <a:lnTo>
                  <a:pt x="0" y="60700"/>
                </a:lnTo>
                <a:lnTo>
                  <a:pt x="5938" y="54761"/>
                </a:lnTo>
                <a:lnTo>
                  <a:pt x="13848" y="42876"/>
                </a:lnTo>
                <a:lnTo>
                  <a:pt x="16485" y="29353"/>
                </a:lnTo>
                <a:lnTo>
                  <a:pt x="13848" y="15831"/>
                </a:lnTo>
                <a:lnTo>
                  <a:pt x="5938" y="3947"/>
                </a:lnTo>
                <a:lnTo>
                  <a:pt x="0" y="0"/>
                </a:lnTo>
                <a:close/>
              </a:path>
            </a:pathLst>
          </a:custGeom>
          <a:solidFill>
            <a:srgbClr val="000000"/>
          </a:solidFill>
        </p:spPr>
        <p:txBody>
          <a:bodyPr wrap="square" lIns="0" tIns="0" rIns="0" bIns="0" rtlCol="0"/>
          <a:lstStyle/>
          <a:p>
            <a:endParaRPr/>
          </a:p>
        </p:txBody>
      </p:sp>
      <p:grpSp>
        <p:nvGrpSpPr>
          <p:cNvPr id="6" name="object 3">
            <a:extLst>
              <a:ext uri="{FF2B5EF4-FFF2-40B4-BE49-F238E27FC236}">
                <a16:creationId xmlns:a16="http://schemas.microsoft.com/office/drawing/2014/main" id="{69833AC7-F571-A98A-4ADD-38B5D6BB28FA}"/>
              </a:ext>
            </a:extLst>
          </p:cNvPr>
          <p:cNvGrpSpPr/>
          <p:nvPr/>
        </p:nvGrpSpPr>
        <p:grpSpPr>
          <a:xfrm>
            <a:off x="4383904" y="1100748"/>
            <a:ext cx="7808096" cy="5757252"/>
            <a:chOff x="0" y="164186"/>
            <a:chExt cx="13005348" cy="9589413"/>
          </a:xfrm>
        </p:grpSpPr>
        <p:pic>
          <p:nvPicPr>
            <p:cNvPr id="7" name="object 4">
              <a:extLst>
                <a:ext uri="{FF2B5EF4-FFF2-40B4-BE49-F238E27FC236}">
                  <a16:creationId xmlns:a16="http://schemas.microsoft.com/office/drawing/2014/main" id="{1F0E2A9E-AE85-3B2F-B88E-9E11229C598B}"/>
                </a:ext>
              </a:extLst>
            </p:cNvPr>
            <p:cNvPicPr/>
            <p:nvPr/>
          </p:nvPicPr>
          <p:blipFill>
            <a:blip r:embed="rId3" cstate="print"/>
            <a:stretch>
              <a:fillRect/>
            </a:stretch>
          </p:blipFill>
          <p:spPr>
            <a:xfrm>
              <a:off x="8396946" y="254247"/>
              <a:ext cx="103882" cy="103851"/>
            </a:xfrm>
            <a:prstGeom prst="rect">
              <a:avLst/>
            </a:prstGeom>
          </p:spPr>
        </p:pic>
        <p:pic>
          <p:nvPicPr>
            <p:cNvPr id="8" name="object 5">
              <a:extLst>
                <a:ext uri="{FF2B5EF4-FFF2-40B4-BE49-F238E27FC236}">
                  <a16:creationId xmlns:a16="http://schemas.microsoft.com/office/drawing/2014/main" id="{A2CD2A39-FA25-B49F-8868-140A7CA06319}"/>
                </a:ext>
              </a:extLst>
            </p:cNvPr>
            <p:cNvPicPr/>
            <p:nvPr/>
          </p:nvPicPr>
          <p:blipFill>
            <a:blip r:embed="rId4" cstate="print"/>
            <a:stretch>
              <a:fillRect/>
            </a:stretch>
          </p:blipFill>
          <p:spPr>
            <a:xfrm>
              <a:off x="0" y="164186"/>
              <a:ext cx="13004800" cy="9589413"/>
            </a:xfrm>
            <a:prstGeom prst="rect">
              <a:avLst/>
            </a:prstGeom>
          </p:spPr>
        </p:pic>
        <p:pic>
          <p:nvPicPr>
            <p:cNvPr id="9" name="object 6">
              <a:extLst>
                <a:ext uri="{FF2B5EF4-FFF2-40B4-BE49-F238E27FC236}">
                  <a16:creationId xmlns:a16="http://schemas.microsoft.com/office/drawing/2014/main" id="{ED415B6A-04EF-6B10-456A-D3270C8467B9}"/>
                </a:ext>
              </a:extLst>
            </p:cNvPr>
            <p:cNvPicPr/>
            <p:nvPr/>
          </p:nvPicPr>
          <p:blipFill>
            <a:blip r:embed="rId5" cstate="print"/>
            <a:stretch>
              <a:fillRect/>
            </a:stretch>
          </p:blipFill>
          <p:spPr>
            <a:xfrm>
              <a:off x="9565125" y="357084"/>
              <a:ext cx="137107" cy="137094"/>
            </a:xfrm>
            <a:prstGeom prst="rect">
              <a:avLst/>
            </a:prstGeom>
          </p:spPr>
        </p:pic>
        <p:pic>
          <p:nvPicPr>
            <p:cNvPr id="10" name="object 7">
              <a:extLst>
                <a:ext uri="{FF2B5EF4-FFF2-40B4-BE49-F238E27FC236}">
                  <a16:creationId xmlns:a16="http://schemas.microsoft.com/office/drawing/2014/main" id="{F050BF81-3321-6A37-5B9C-FA40F8F835A8}"/>
                </a:ext>
              </a:extLst>
            </p:cNvPr>
            <p:cNvPicPr/>
            <p:nvPr/>
          </p:nvPicPr>
          <p:blipFill>
            <a:blip r:embed="rId6" cstate="print"/>
            <a:stretch>
              <a:fillRect/>
            </a:stretch>
          </p:blipFill>
          <p:spPr>
            <a:xfrm>
              <a:off x="9645026" y="331488"/>
              <a:ext cx="245831" cy="245796"/>
            </a:xfrm>
            <a:prstGeom prst="rect">
              <a:avLst/>
            </a:prstGeom>
          </p:spPr>
        </p:pic>
        <p:pic>
          <p:nvPicPr>
            <p:cNvPr id="11" name="object 8">
              <a:extLst>
                <a:ext uri="{FF2B5EF4-FFF2-40B4-BE49-F238E27FC236}">
                  <a16:creationId xmlns:a16="http://schemas.microsoft.com/office/drawing/2014/main" id="{B8E76A49-9DEB-0E35-63FB-21B4CC0AD52C}"/>
                </a:ext>
              </a:extLst>
            </p:cNvPr>
            <p:cNvPicPr/>
            <p:nvPr/>
          </p:nvPicPr>
          <p:blipFill>
            <a:blip r:embed="rId7" cstate="print"/>
            <a:stretch>
              <a:fillRect/>
            </a:stretch>
          </p:blipFill>
          <p:spPr>
            <a:xfrm>
              <a:off x="9875367" y="331586"/>
              <a:ext cx="178410" cy="178377"/>
            </a:xfrm>
            <a:prstGeom prst="rect">
              <a:avLst/>
            </a:prstGeom>
          </p:spPr>
        </p:pic>
        <p:pic>
          <p:nvPicPr>
            <p:cNvPr id="12" name="object 9">
              <a:extLst>
                <a:ext uri="{FF2B5EF4-FFF2-40B4-BE49-F238E27FC236}">
                  <a16:creationId xmlns:a16="http://schemas.microsoft.com/office/drawing/2014/main" id="{5C3D8FFA-D2F7-8556-847A-43C552720E24}"/>
                </a:ext>
              </a:extLst>
            </p:cNvPr>
            <p:cNvPicPr/>
            <p:nvPr/>
          </p:nvPicPr>
          <p:blipFill>
            <a:blip r:embed="rId8" cstate="print"/>
            <a:stretch>
              <a:fillRect/>
            </a:stretch>
          </p:blipFill>
          <p:spPr>
            <a:xfrm>
              <a:off x="10093454" y="327730"/>
              <a:ext cx="127218" cy="127213"/>
            </a:xfrm>
            <a:prstGeom prst="rect">
              <a:avLst/>
            </a:prstGeom>
          </p:spPr>
        </p:pic>
        <p:pic>
          <p:nvPicPr>
            <p:cNvPr id="13" name="object 10">
              <a:extLst>
                <a:ext uri="{FF2B5EF4-FFF2-40B4-BE49-F238E27FC236}">
                  <a16:creationId xmlns:a16="http://schemas.microsoft.com/office/drawing/2014/main" id="{FF115485-4075-5A4A-08D2-66F239BD7944}"/>
                </a:ext>
              </a:extLst>
            </p:cNvPr>
            <p:cNvPicPr/>
            <p:nvPr/>
          </p:nvPicPr>
          <p:blipFill>
            <a:blip r:embed="rId9" cstate="print"/>
            <a:stretch>
              <a:fillRect/>
            </a:stretch>
          </p:blipFill>
          <p:spPr>
            <a:xfrm>
              <a:off x="10953791" y="305204"/>
              <a:ext cx="104561" cy="104571"/>
            </a:xfrm>
            <a:prstGeom prst="rect">
              <a:avLst/>
            </a:prstGeom>
          </p:spPr>
        </p:pic>
        <p:pic>
          <p:nvPicPr>
            <p:cNvPr id="14" name="object 11">
              <a:extLst>
                <a:ext uri="{FF2B5EF4-FFF2-40B4-BE49-F238E27FC236}">
                  <a16:creationId xmlns:a16="http://schemas.microsoft.com/office/drawing/2014/main" id="{828CF488-5E6F-9572-881B-25CE57598A45}"/>
                </a:ext>
              </a:extLst>
            </p:cNvPr>
            <p:cNvPicPr/>
            <p:nvPr/>
          </p:nvPicPr>
          <p:blipFill>
            <a:blip r:embed="rId10" cstate="print"/>
            <a:stretch>
              <a:fillRect/>
            </a:stretch>
          </p:blipFill>
          <p:spPr>
            <a:xfrm>
              <a:off x="11130112" y="310136"/>
              <a:ext cx="86342" cy="86297"/>
            </a:xfrm>
            <a:prstGeom prst="rect">
              <a:avLst/>
            </a:prstGeom>
          </p:spPr>
        </p:pic>
        <p:pic>
          <p:nvPicPr>
            <p:cNvPr id="15" name="object 12">
              <a:extLst>
                <a:ext uri="{FF2B5EF4-FFF2-40B4-BE49-F238E27FC236}">
                  <a16:creationId xmlns:a16="http://schemas.microsoft.com/office/drawing/2014/main" id="{6DAB0528-ED61-086D-3B0A-6A11C716260E}"/>
                </a:ext>
              </a:extLst>
            </p:cNvPr>
            <p:cNvPicPr/>
            <p:nvPr/>
          </p:nvPicPr>
          <p:blipFill>
            <a:blip r:embed="rId11" cstate="print"/>
            <a:stretch>
              <a:fillRect/>
            </a:stretch>
          </p:blipFill>
          <p:spPr>
            <a:xfrm>
              <a:off x="11320172" y="275716"/>
              <a:ext cx="93754" cy="93746"/>
            </a:xfrm>
            <a:prstGeom prst="rect">
              <a:avLst/>
            </a:prstGeom>
          </p:spPr>
        </p:pic>
        <p:pic>
          <p:nvPicPr>
            <p:cNvPr id="16" name="object 13">
              <a:extLst>
                <a:ext uri="{FF2B5EF4-FFF2-40B4-BE49-F238E27FC236}">
                  <a16:creationId xmlns:a16="http://schemas.microsoft.com/office/drawing/2014/main" id="{43244532-5B22-0E3B-17A9-BACEA76EC50F}"/>
                </a:ext>
              </a:extLst>
            </p:cNvPr>
            <p:cNvPicPr/>
            <p:nvPr/>
          </p:nvPicPr>
          <p:blipFill>
            <a:blip r:embed="rId12" cstate="print"/>
            <a:stretch>
              <a:fillRect/>
            </a:stretch>
          </p:blipFill>
          <p:spPr>
            <a:xfrm>
              <a:off x="11438135" y="327991"/>
              <a:ext cx="86485" cy="86531"/>
            </a:xfrm>
            <a:prstGeom prst="rect">
              <a:avLst/>
            </a:prstGeom>
          </p:spPr>
        </p:pic>
        <p:pic>
          <p:nvPicPr>
            <p:cNvPr id="17" name="object 14">
              <a:extLst>
                <a:ext uri="{FF2B5EF4-FFF2-40B4-BE49-F238E27FC236}">
                  <a16:creationId xmlns:a16="http://schemas.microsoft.com/office/drawing/2014/main" id="{2FE46977-A4A6-84BB-7FC1-E5BC86FFBF71}"/>
                </a:ext>
              </a:extLst>
            </p:cNvPr>
            <p:cNvPicPr/>
            <p:nvPr/>
          </p:nvPicPr>
          <p:blipFill>
            <a:blip r:embed="rId13" cstate="print"/>
            <a:stretch>
              <a:fillRect/>
            </a:stretch>
          </p:blipFill>
          <p:spPr>
            <a:xfrm>
              <a:off x="11634990" y="298318"/>
              <a:ext cx="82417" cy="82400"/>
            </a:xfrm>
            <a:prstGeom prst="rect">
              <a:avLst/>
            </a:prstGeom>
          </p:spPr>
        </p:pic>
        <p:pic>
          <p:nvPicPr>
            <p:cNvPr id="18" name="object 15">
              <a:extLst>
                <a:ext uri="{FF2B5EF4-FFF2-40B4-BE49-F238E27FC236}">
                  <a16:creationId xmlns:a16="http://schemas.microsoft.com/office/drawing/2014/main" id="{6AAB1247-D04B-C76F-8967-CB9D4D93D973}"/>
                </a:ext>
              </a:extLst>
            </p:cNvPr>
            <p:cNvPicPr/>
            <p:nvPr/>
          </p:nvPicPr>
          <p:blipFill>
            <a:blip r:embed="rId14" cstate="print"/>
            <a:stretch>
              <a:fillRect/>
            </a:stretch>
          </p:blipFill>
          <p:spPr>
            <a:xfrm>
              <a:off x="12026013" y="515602"/>
              <a:ext cx="126184" cy="126198"/>
            </a:xfrm>
            <a:prstGeom prst="rect">
              <a:avLst/>
            </a:prstGeom>
          </p:spPr>
        </p:pic>
        <p:pic>
          <p:nvPicPr>
            <p:cNvPr id="19" name="object 16">
              <a:extLst>
                <a:ext uri="{FF2B5EF4-FFF2-40B4-BE49-F238E27FC236}">
                  <a16:creationId xmlns:a16="http://schemas.microsoft.com/office/drawing/2014/main" id="{3D3B9DCE-9625-290B-5913-F02ADF433C8F}"/>
                </a:ext>
              </a:extLst>
            </p:cNvPr>
            <p:cNvPicPr/>
            <p:nvPr/>
          </p:nvPicPr>
          <p:blipFill>
            <a:blip r:embed="rId15" cstate="print"/>
            <a:stretch>
              <a:fillRect/>
            </a:stretch>
          </p:blipFill>
          <p:spPr>
            <a:xfrm>
              <a:off x="12905102" y="285556"/>
              <a:ext cx="99698" cy="129254"/>
            </a:xfrm>
            <a:prstGeom prst="rect">
              <a:avLst/>
            </a:prstGeom>
          </p:spPr>
        </p:pic>
        <p:sp>
          <p:nvSpPr>
            <p:cNvPr id="20" name="object 17">
              <a:extLst>
                <a:ext uri="{FF2B5EF4-FFF2-40B4-BE49-F238E27FC236}">
                  <a16:creationId xmlns:a16="http://schemas.microsoft.com/office/drawing/2014/main" id="{093F9DE9-BFAD-AE24-C247-1F7D734E4BA2}"/>
                </a:ext>
              </a:extLst>
            </p:cNvPr>
            <p:cNvSpPr/>
            <p:nvPr/>
          </p:nvSpPr>
          <p:spPr>
            <a:xfrm>
              <a:off x="11132734" y="1568526"/>
              <a:ext cx="1872614" cy="1923414"/>
            </a:xfrm>
            <a:custGeom>
              <a:avLst/>
              <a:gdLst/>
              <a:ahLst/>
              <a:cxnLst/>
              <a:rect l="l" t="t" r="r" b="b"/>
              <a:pathLst>
                <a:path w="1872615" h="1923414">
                  <a:moveTo>
                    <a:pt x="1872065" y="0"/>
                  </a:moveTo>
                  <a:lnTo>
                    <a:pt x="10518" y="1861478"/>
                  </a:lnTo>
                  <a:lnTo>
                    <a:pt x="2629" y="1873362"/>
                  </a:lnTo>
                  <a:lnTo>
                    <a:pt x="0" y="1886889"/>
                  </a:lnTo>
                  <a:lnTo>
                    <a:pt x="2629" y="1900422"/>
                  </a:lnTo>
                  <a:lnTo>
                    <a:pt x="35943" y="1922863"/>
                  </a:lnTo>
                  <a:lnTo>
                    <a:pt x="42814" y="1922203"/>
                  </a:lnTo>
                  <a:lnTo>
                    <a:pt x="49480" y="1920224"/>
                  </a:lnTo>
                  <a:lnTo>
                    <a:pt x="55733" y="1916931"/>
                  </a:lnTo>
                  <a:lnTo>
                    <a:pt x="61370" y="1912327"/>
                  </a:lnTo>
                  <a:lnTo>
                    <a:pt x="1872065" y="101698"/>
                  </a:lnTo>
                  <a:lnTo>
                    <a:pt x="1872065" y="0"/>
                  </a:lnTo>
                  <a:close/>
                </a:path>
              </a:pathLst>
            </a:custGeom>
            <a:solidFill>
              <a:srgbClr val="000000"/>
            </a:solidFill>
          </p:spPr>
          <p:txBody>
            <a:bodyPr wrap="square" lIns="0" tIns="0" rIns="0" bIns="0" rtlCol="0"/>
            <a:lstStyle/>
            <a:p>
              <a:endParaRPr/>
            </a:p>
          </p:txBody>
        </p:sp>
        <p:pic>
          <p:nvPicPr>
            <p:cNvPr id="21" name="object 18">
              <a:extLst>
                <a:ext uri="{FF2B5EF4-FFF2-40B4-BE49-F238E27FC236}">
                  <a16:creationId xmlns:a16="http://schemas.microsoft.com/office/drawing/2014/main" id="{33CBF45C-D881-8873-3F8B-78C415CC5E02}"/>
                </a:ext>
              </a:extLst>
            </p:cNvPr>
            <p:cNvPicPr/>
            <p:nvPr/>
          </p:nvPicPr>
          <p:blipFill>
            <a:blip r:embed="rId16" cstate="print"/>
            <a:stretch>
              <a:fillRect/>
            </a:stretch>
          </p:blipFill>
          <p:spPr>
            <a:xfrm>
              <a:off x="8735104" y="1731517"/>
              <a:ext cx="4269695" cy="7253857"/>
            </a:xfrm>
            <a:prstGeom prst="rect">
              <a:avLst/>
            </a:prstGeom>
          </p:spPr>
        </p:pic>
        <p:pic>
          <p:nvPicPr>
            <p:cNvPr id="22" name="object 19">
              <a:extLst>
                <a:ext uri="{FF2B5EF4-FFF2-40B4-BE49-F238E27FC236}">
                  <a16:creationId xmlns:a16="http://schemas.microsoft.com/office/drawing/2014/main" id="{2A689586-B7B5-92B0-0884-EDEE4BF2E0FC}"/>
                </a:ext>
              </a:extLst>
            </p:cNvPr>
            <p:cNvPicPr/>
            <p:nvPr/>
          </p:nvPicPr>
          <p:blipFill>
            <a:blip r:embed="rId17" cstate="print"/>
            <a:stretch>
              <a:fillRect/>
            </a:stretch>
          </p:blipFill>
          <p:spPr>
            <a:xfrm>
              <a:off x="1219200" y="1879600"/>
              <a:ext cx="2445647" cy="1739900"/>
            </a:xfrm>
            <a:prstGeom prst="rect">
              <a:avLst/>
            </a:prstGeom>
          </p:spPr>
        </p:pic>
        <p:pic>
          <p:nvPicPr>
            <p:cNvPr id="23" name="object 20">
              <a:extLst>
                <a:ext uri="{FF2B5EF4-FFF2-40B4-BE49-F238E27FC236}">
                  <a16:creationId xmlns:a16="http://schemas.microsoft.com/office/drawing/2014/main" id="{C62E2D93-3D76-BFA1-F7AF-DC49E12E9355}"/>
                </a:ext>
              </a:extLst>
            </p:cNvPr>
            <p:cNvPicPr/>
            <p:nvPr/>
          </p:nvPicPr>
          <p:blipFill>
            <a:blip r:embed="rId18" cstate="print"/>
            <a:stretch>
              <a:fillRect/>
            </a:stretch>
          </p:blipFill>
          <p:spPr>
            <a:xfrm>
              <a:off x="457200" y="1879600"/>
              <a:ext cx="914400" cy="1739900"/>
            </a:xfrm>
            <a:prstGeom prst="rect">
              <a:avLst/>
            </a:prstGeom>
          </p:spPr>
        </p:pic>
        <p:sp>
          <p:nvSpPr>
            <p:cNvPr id="24" name="object 21">
              <a:extLst>
                <a:ext uri="{FF2B5EF4-FFF2-40B4-BE49-F238E27FC236}">
                  <a16:creationId xmlns:a16="http://schemas.microsoft.com/office/drawing/2014/main" id="{54F42A63-1844-BFCB-5C04-8682472F3279}"/>
                </a:ext>
              </a:extLst>
            </p:cNvPr>
            <p:cNvSpPr/>
            <p:nvPr/>
          </p:nvSpPr>
          <p:spPr>
            <a:xfrm>
              <a:off x="36266" y="3591066"/>
              <a:ext cx="4269694" cy="733589"/>
            </a:xfrm>
            <a:custGeom>
              <a:avLst/>
              <a:gdLst/>
              <a:ahLst/>
              <a:cxnLst/>
              <a:rect l="l" t="t" r="r" b="b"/>
              <a:pathLst>
                <a:path w="3759200" h="679450">
                  <a:moveTo>
                    <a:pt x="0" y="0"/>
                  </a:moveTo>
                  <a:lnTo>
                    <a:pt x="3759200" y="0"/>
                  </a:lnTo>
                  <a:lnTo>
                    <a:pt x="3759200" y="679168"/>
                  </a:lnTo>
                  <a:lnTo>
                    <a:pt x="0" y="679168"/>
                  </a:lnTo>
                  <a:lnTo>
                    <a:pt x="0" y="0"/>
                  </a:lnTo>
                  <a:close/>
                </a:path>
              </a:pathLst>
            </a:custGeom>
            <a:solidFill>
              <a:srgbClr val="FBF199"/>
            </a:solidFill>
          </p:spPr>
          <p:txBody>
            <a:bodyPr wrap="square" lIns="0" tIns="0" rIns="0" bIns="0" rtlCol="0"/>
            <a:lstStyle/>
            <a:p>
              <a:r>
                <a:rPr lang="en-US" altLang="zh-CN" sz="1400" b="1" dirty="0">
                  <a:latin typeface="Arial"/>
                  <a:cs typeface="Arial"/>
                </a:rPr>
                <a:t>"10+</a:t>
              </a:r>
              <a:r>
                <a:rPr lang="en-US" altLang="zh-CN" sz="1400" b="1" spc="-35" dirty="0">
                  <a:latin typeface="Arial"/>
                  <a:cs typeface="Arial"/>
                </a:rPr>
                <a:t> </a:t>
              </a:r>
              <a:r>
                <a:rPr lang="en-US" altLang="zh-CN" sz="1400" b="1" spc="-10" dirty="0">
                  <a:latin typeface="Arial"/>
                  <a:cs typeface="Arial"/>
                </a:rPr>
                <a:t>Deploys</a:t>
              </a:r>
              <a:r>
                <a:rPr lang="en-US" altLang="zh-CN" sz="1400" b="1" spc="-30" dirty="0">
                  <a:latin typeface="Arial"/>
                  <a:cs typeface="Arial"/>
                </a:rPr>
                <a:t> </a:t>
              </a:r>
              <a:r>
                <a:rPr lang="en-US" altLang="zh-CN" sz="1400" b="1" dirty="0">
                  <a:latin typeface="Arial"/>
                  <a:cs typeface="Arial"/>
                </a:rPr>
                <a:t>Per</a:t>
              </a:r>
              <a:r>
                <a:rPr lang="en-US" altLang="zh-CN" sz="1400" b="1" spc="-30" dirty="0">
                  <a:latin typeface="Arial"/>
                  <a:cs typeface="Arial"/>
                </a:rPr>
                <a:t> </a:t>
              </a:r>
              <a:r>
                <a:rPr lang="en-US" altLang="zh-CN" sz="1400" b="1" dirty="0">
                  <a:latin typeface="Arial"/>
                  <a:cs typeface="Arial"/>
                </a:rPr>
                <a:t>Day:</a:t>
              </a:r>
              <a:r>
                <a:rPr lang="en-US" altLang="zh-CN" sz="1400" b="1" spc="-35" dirty="0">
                  <a:latin typeface="Arial"/>
                  <a:cs typeface="Arial"/>
                </a:rPr>
                <a:t> </a:t>
              </a:r>
              <a:r>
                <a:rPr lang="en-US" altLang="zh-CN" sz="1400" b="1" dirty="0">
                  <a:latin typeface="Arial"/>
                  <a:cs typeface="Arial"/>
                </a:rPr>
                <a:t>Dev</a:t>
              </a:r>
              <a:r>
                <a:rPr lang="en-US" altLang="zh-CN" sz="1400" b="1" spc="-30" dirty="0">
                  <a:latin typeface="Arial"/>
                  <a:cs typeface="Arial"/>
                </a:rPr>
                <a:t> </a:t>
              </a:r>
              <a:r>
                <a:rPr lang="en-US" altLang="zh-CN" sz="1400" b="1" spc="-25" dirty="0">
                  <a:latin typeface="Arial"/>
                  <a:cs typeface="Arial"/>
                </a:rPr>
                <a:t>and </a:t>
              </a:r>
              <a:r>
                <a:rPr lang="en-US" altLang="zh-CN" sz="1400" b="1" dirty="0">
                  <a:latin typeface="Arial"/>
                  <a:cs typeface="Arial"/>
                </a:rPr>
                <a:t>Ops</a:t>
              </a:r>
              <a:r>
                <a:rPr lang="en-US" altLang="zh-CN" sz="1400" b="1" spc="5" dirty="0">
                  <a:latin typeface="Arial"/>
                  <a:cs typeface="Arial"/>
                </a:rPr>
                <a:t> </a:t>
              </a:r>
              <a:r>
                <a:rPr lang="en-US" altLang="zh-CN" sz="1400" b="1" dirty="0">
                  <a:latin typeface="Arial"/>
                  <a:cs typeface="Arial"/>
                </a:rPr>
                <a:t>Cooperation</a:t>
              </a:r>
              <a:r>
                <a:rPr lang="en-US" altLang="zh-CN" sz="1400" b="1" spc="10" dirty="0">
                  <a:latin typeface="Arial"/>
                  <a:cs typeface="Arial"/>
                </a:rPr>
                <a:t> </a:t>
              </a:r>
              <a:r>
                <a:rPr lang="en-US" altLang="zh-CN" sz="1400" b="1" dirty="0">
                  <a:latin typeface="Arial"/>
                  <a:cs typeface="Arial"/>
                </a:rPr>
                <a:t>at</a:t>
              </a:r>
              <a:r>
                <a:rPr lang="en-US" altLang="zh-CN" sz="1400" b="1" spc="10" dirty="0">
                  <a:latin typeface="Arial"/>
                  <a:cs typeface="Arial"/>
                </a:rPr>
                <a:t> </a:t>
              </a:r>
              <a:r>
                <a:rPr lang="en-US" altLang="zh-CN" sz="1400" b="1" spc="-10" dirty="0">
                  <a:latin typeface="Arial"/>
                  <a:cs typeface="Arial"/>
                </a:rPr>
                <a:t>Flickr”</a:t>
              </a:r>
              <a:endParaRPr lang="en-US" altLang="zh-CN" sz="1400" dirty="0">
                <a:latin typeface="Arial"/>
                <a:cs typeface="Arial"/>
              </a:endParaRPr>
            </a:p>
            <a:p>
              <a:endParaRPr sz="1400" dirty="0"/>
            </a:p>
          </p:txBody>
        </p:sp>
      </p:grpSp>
      <p:pic>
        <p:nvPicPr>
          <p:cNvPr id="27" name="object 24">
            <a:extLst>
              <a:ext uri="{FF2B5EF4-FFF2-40B4-BE49-F238E27FC236}">
                <a16:creationId xmlns:a16="http://schemas.microsoft.com/office/drawing/2014/main" id="{EE4A28F5-AF61-85A5-08C1-A6E5DDC75506}"/>
              </a:ext>
            </a:extLst>
          </p:cNvPr>
          <p:cNvPicPr/>
          <p:nvPr/>
        </p:nvPicPr>
        <p:blipFill>
          <a:blip r:embed="rId19" cstate="print"/>
          <a:stretch>
            <a:fillRect/>
          </a:stretch>
        </p:blipFill>
        <p:spPr>
          <a:xfrm>
            <a:off x="9915384" y="1377970"/>
            <a:ext cx="587108" cy="640481"/>
          </a:xfrm>
          <a:prstGeom prst="rect">
            <a:avLst/>
          </a:prstGeom>
        </p:spPr>
      </p:pic>
      <p:sp>
        <p:nvSpPr>
          <p:cNvPr id="36" name="对话气泡: 圆角矩形 35">
            <a:extLst>
              <a:ext uri="{FF2B5EF4-FFF2-40B4-BE49-F238E27FC236}">
                <a16:creationId xmlns:a16="http://schemas.microsoft.com/office/drawing/2014/main" id="{922C8870-6DAF-02AE-404A-CDBA1971C95E}"/>
              </a:ext>
            </a:extLst>
          </p:cNvPr>
          <p:cNvSpPr/>
          <p:nvPr/>
        </p:nvSpPr>
        <p:spPr>
          <a:xfrm>
            <a:off x="8873066" y="2130641"/>
            <a:ext cx="3256236" cy="1194404"/>
          </a:xfrm>
          <a:prstGeom prst="wedgeRoundRectCallout">
            <a:avLst>
              <a:gd name="adj1" fmla="val -16378"/>
              <a:gd name="adj2" fmla="val -59727"/>
              <a:gd name="adj3" fmla="val 16667"/>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sz="1800" u="none" dirty="0"/>
              <a:t>Why</a:t>
            </a:r>
            <a:r>
              <a:rPr lang="en-US" altLang="zh-CN" sz="1800" u="none" spc="-180" dirty="0"/>
              <a:t> </a:t>
            </a:r>
            <a:r>
              <a:rPr lang="en-US" altLang="zh-CN" sz="1800" u="none" spc="-10" dirty="0"/>
              <a:t>isn’t</a:t>
            </a:r>
            <a:r>
              <a:rPr lang="en-US" altLang="zh-CN" sz="1800" u="none" spc="-175" dirty="0"/>
              <a:t> </a:t>
            </a:r>
            <a:r>
              <a:rPr lang="en-US" altLang="zh-CN" sz="1800" u="none" dirty="0"/>
              <a:t>there</a:t>
            </a:r>
            <a:r>
              <a:rPr lang="en-US" altLang="zh-CN" sz="1800" u="none" spc="-175" dirty="0"/>
              <a:t> </a:t>
            </a:r>
            <a:r>
              <a:rPr lang="en-US" altLang="zh-CN" sz="1800" u="none" spc="-10" dirty="0"/>
              <a:t>conferences </a:t>
            </a:r>
            <a:r>
              <a:rPr lang="en-US" altLang="zh-CN" sz="1800" u="none" spc="50" dirty="0"/>
              <a:t>were</a:t>
            </a:r>
            <a:r>
              <a:rPr lang="en-US" altLang="zh-CN" sz="1800" u="none" dirty="0"/>
              <a:t> Dev </a:t>
            </a:r>
            <a:r>
              <a:rPr lang="en-US" altLang="zh-CN" sz="1800" i="1" u="none" dirty="0">
                <a:latin typeface="Arial"/>
                <a:cs typeface="Arial"/>
              </a:rPr>
              <a:t>and </a:t>
            </a:r>
            <a:r>
              <a:rPr lang="en-US" altLang="zh-CN" sz="1800" u="none" dirty="0"/>
              <a:t>Ops gets </a:t>
            </a:r>
            <a:r>
              <a:rPr lang="en-US" altLang="zh-CN" sz="1800" u="none" spc="-10" dirty="0"/>
              <a:t>together </a:t>
            </a:r>
            <a:r>
              <a:rPr lang="en-US" altLang="zh-CN" sz="1800" u="none" dirty="0"/>
              <a:t>to</a:t>
            </a:r>
            <a:r>
              <a:rPr lang="en-US" altLang="zh-CN" sz="1800" u="none" spc="30" dirty="0"/>
              <a:t> </a:t>
            </a:r>
            <a:r>
              <a:rPr lang="en-US" altLang="zh-CN" sz="1800" u="none" dirty="0"/>
              <a:t>talk</a:t>
            </a:r>
            <a:r>
              <a:rPr lang="en-US" altLang="zh-CN" sz="1800" u="none" spc="35" dirty="0"/>
              <a:t> </a:t>
            </a:r>
            <a:r>
              <a:rPr lang="en-US" altLang="zh-CN" sz="1800" u="none" dirty="0"/>
              <a:t>about</a:t>
            </a:r>
            <a:r>
              <a:rPr lang="en-US" altLang="zh-CN" sz="1800" u="none" spc="30" dirty="0"/>
              <a:t> </a:t>
            </a:r>
            <a:r>
              <a:rPr lang="en-US" altLang="zh-CN" sz="1800" u="none" dirty="0"/>
              <a:t>their</a:t>
            </a:r>
            <a:r>
              <a:rPr lang="en-US" altLang="zh-CN" sz="1800" u="none" spc="35" dirty="0"/>
              <a:t> </a:t>
            </a:r>
            <a:r>
              <a:rPr lang="en-US" altLang="zh-CN" sz="1800" u="none" spc="-10" dirty="0"/>
              <a:t>problems?</a:t>
            </a:r>
            <a:endParaRPr lang="zh-CN" altLang="en-US" dirty="0"/>
          </a:p>
        </p:txBody>
      </p:sp>
      <p:sp>
        <p:nvSpPr>
          <p:cNvPr id="37" name="灯片编号占位符 2">
            <a:extLst>
              <a:ext uri="{FF2B5EF4-FFF2-40B4-BE49-F238E27FC236}">
                <a16:creationId xmlns:a16="http://schemas.microsoft.com/office/drawing/2014/main" id="{9518B7D9-E057-495E-6C66-3C711839528A}"/>
              </a:ext>
            </a:extLst>
          </p:cNvPr>
          <p:cNvSpPr>
            <a:spLocks noGrp="1"/>
          </p:cNvSpPr>
          <p:nvPr>
            <p:ph type="sldNum" sz="quarter" idx="12"/>
          </p:nvPr>
        </p:nvSpPr>
        <p:spPr>
          <a:xfrm>
            <a:off x="9137021" y="6494335"/>
            <a:ext cx="2743200" cy="341761"/>
          </a:xfrm>
        </p:spPr>
        <p:txBody>
          <a:bodyPr/>
          <a:lstStyle/>
          <a:p>
            <a:fld id="{1AAC388E-FA9E-4A2C-95EA-1F6B3A07935A}" type="slidenum">
              <a:rPr lang="zh-CN" altLang="en-US" sz="1400" smtClean="0">
                <a:solidFill>
                  <a:srgbClr val="000000"/>
                </a:solidFill>
              </a:rPr>
              <a:t>38</a:t>
            </a:fld>
            <a:endParaRPr lang="zh-CN" altLang="en-US" sz="1400" dirty="0">
              <a:solidFill>
                <a:srgbClr val="000000"/>
              </a:solidFill>
            </a:endParaRPr>
          </a:p>
        </p:txBody>
      </p:sp>
    </p:spTree>
    <p:extLst>
      <p:ext uri="{BB962C8B-B14F-4D97-AF65-F5344CB8AC3E}">
        <p14:creationId xmlns:p14="http://schemas.microsoft.com/office/powerpoint/2010/main" val="26686365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02 DevOps</a:t>
            </a:r>
            <a:r>
              <a:rPr lang="zh-CN" altLang="en-US" dirty="0"/>
              <a:t>历史溯源</a:t>
            </a:r>
          </a:p>
        </p:txBody>
      </p:sp>
      <p:sp>
        <p:nvSpPr>
          <p:cNvPr id="30" name="文本框 29">
            <a:extLst>
              <a:ext uri="{FF2B5EF4-FFF2-40B4-BE49-F238E27FC236}">
                <a16:creationId xmlns:a16="http://schemas.microsoft.com/office/drawing/2014/main" id="{CF6170A3-D12F-935D-D836-CFA272127202}"/>
              </a:ext>
            </a:extLst>
          </p:cNvPr>
          <p:cNvSpPr txBox="1"/>
          <p:nvPr/>
        </p:nvSpPr>
        <p:spPr>
          <a:xfrm>
            <a:off x="718218" y="874354"/>
            <a:ext cx="4328344" cy="601075"/>
          </a:xfrm>
          <a:prstGeom prst="rect">
            <a:avLst/>
          </a:prstGeom>
          <a:noFill/>
        </p:spPr>
        <p:txBody>
          <a:bodyPr wrap="square" lIns="0" tIns="0" rIns="0" bIns="0" rtlCol="0" anchor="ctr">
            <a:noAutofit/>
          </a:bodyPr>
          <a:lstStyle>
            <a:defPPr>
              <a:defRPr lang="zh-CN"/>
            </a:defPPr>
            <a:lvl1pPr marL="285750" indent="-285750">
              <a:lnSpc>
                <a:spcPct val="125000"/>
              </a:lnSpc>
              <a:spcAft>
                <a:spcPts val="500"/>
              </a:spcAft>
              <a:buFont typeface="Wingdings" panose="05000000000000000000" pitchFamily="2" charset="2"/>
              <a:buChar char="p"/>
              <a:defRPr sz="2400">
                <a:solidFill>
                  <a:srgbClr val="003F88"/>
                </a:solidFill>
              </a:defRPr>
            </a:lvl1pPr>
          </a:lstStyle>
          <a:p>
            <a:r>
              <a:rPr lang="en-US" altLang="zh-CN" dirty="0"/>
              <a:t> </a:t>
            </a:r>
            <a:r>
              <a:rPr lang="zh-CN" altLang="en-US" dirty="0"/>
              <a:t>社区确立阶段（</a:t>
            </a:r>
            <a:r>
              <a:rPr lang="en-US" altLang="zh-CN" dirty="0"/>
              <a:t>2009~2010</a:t>
            </a:r>
            <a:r>
              <a:rPr lang="zh-CN" altLang="en-US" dirty="0"/>
              <a:t>）</a:t>
            </a:r>
          </a:p>
        </p:txBody>
      </p:sp>
      <p:sp>
        <p:nvSpPr>
          <p:cNvPr id="4" name="object 2">
            <a:extLst>
              <a:ext uri="{FF2B5EF4-FFF2-40B4-BE49-F238E27FC236}">
                <a16:creationId xmlns:a16="http://schemas.microsoft.com/office/drawing/2014/main" id="{CDC61A3D-4586-FAD9-98BE-1FFFD1D8D0C7}"/>
              </a:ext>
            </a:extLst>
          </p:cNvPr>
          <p:cNvSpPr/>
          <p:nvPr/>
        </p:nvSpPr>
        <p:spPr>
          <a:xfrm>
            <a:off x="-29209" y="1790023"/>
            <a:ext cx="45719" cy="168809"/>
          </a:xfrm>
          <a:custGeom>
            <a:avLst/>
            <a:gdLst/>
            <a:ahLst/>
            <a:cxnLst/>
            <a:rect l="l" t="t" r="r" b="b"/>
            <a:pathLst>
              <a:path w="16510" h="60960">
                <a:moveTo>
                  <a:pt x="0" y="0"/>
                </a:moveTo>
                <a:lnTo>
                  <a:pt x="0" y="60700"/>
                </a:lnTo>
                <a:lnTo>
                  <a:pt x="5938" y="54761"/>
                </a:lnTo>
                <a:lnTo>
                  <a:pt x="13848" y="42876"/>
                </a:lnTo>
                <a:lnTo>
                  <a:pt x="16485" y="29353"/>
                </a:lnTo>
                <a:lnTo>
                  <a:pt x="13848" y="15831"/>
                </a:lnTo>
                <a:lnTo>
                  <a:pt x="5938" y="3947"/>
                </a:lnTo>
                <a:lnTo>
                  <a:pt x="0" y="0"/>
                </a:lnTo>
                <a:close/>
              </a:path>
            </a:pathLst>
          </a:custGeom>
          <a:solidFill>
            <a:srgbClr val="000000"/>
          </a:solidFill>
        </p:spPr>
        <p:txBody>
          <a:bodyPr wrap="square" lIns="0" tIns="0" rIns="0" bIns="0" rtlCol="0"/>
          <a:lstStyle/>
          <a:p>
            <a:endParaRPr/>
          </a:p>
        </p:txBody>
      </p:sp>
      <p:pic>
        <p:nvPicPr>
          <p:cNvPr id="68" name="图片 67">
            <a:extLst>
              <a:ext uri="{FF2B5EF4-FFF2-40B4-BE49-F238E27FC236}">
                <a16:creationId xmlns:a16="http://schemas.microsoft.com/office/drawing/2014/main" id="{F4285C95-8497-B1B3-A4C9-A14B1613AD1A}"/>
              </a:ext>
            </a:extLst>
          </p:cNvPr>
          <p:cNvPicPr>
            <a:picLocks noChangeAspect="1"/>
          </p:cNvPicPr>
          <p:nvPr/>
        </p:nvPicPr>
        <p:blipFill>
          <a:blip r:embed="rId3"/>
          <a:stretch>
            <a:fillRect/>
          </a:stretch>
        </p:blipFill>
        <p:spPr>
          <a:xfrm>
            <a:off x="4735616" y="1468179"/>
            <a:ext cx="6957097" cy="5389821"/>
          </a:xfrm>
          <a:prstGeom prst="rect">
            <a:avLst/>
          </a:prstGeom>
        </p:spPr>
      </p:pic>
      <p:sp>
        <p:nvSpPr>
          <p:cNvPr id="69" name="文本框 68">
            <a:extLst>
              <a:ext uri="{FF2B5EF4-FFF2-40B4-BE49-F238E27FC236}">
                <a16:creationId xmlns:a16="http://schemas.microsoft.com/office/drawing/2014/main" id="{D508468D-AEC8-79F3-1100-6B3845CF5E9E}"/>
              </a:ext>
            </a:extLst>
          </p:cNvPr>
          <p:cNvSpPr txBox="1"/>
          <p:nvPr/>
        </p:nvSpPr>
        <p:spPr>
          <a:xfrm>
            <a:off x="718219" y="1426642"/>
            <a:ext cx="3592536" cy="2951898"/>
          </a:xfrm>
          <a:prstGeom prst="rect">
            <a:avLst/>
          </a:prstGeom>
          <a:noFill/>
        </p:spPr>
        <p:txBody>
          <a:bodyPr wrap="square">
            <a:spAutoFit/>
          </a:bodyPr>
          <a:lstStyle/>
          <a:p>
            <a:pPr marL="0" lvl="0" indent="0" algn="just">
              <a:lnSpc>
                <a:spcPct val="150000"/>
              </a:lnSpc>
              <a:buFont typeface="Arial" panose="020B0604020202020204" pitchFamily="34" charset="0"/>
            </a:pPr>
            <a:r>
              <a:rPr lang="zh-CN" altLang="en-US" sz="1800" kern="100" dirty="0">
                <a:solidFill>
                  <a:schemeClr val="tx1"/>
                </a:solidFill>
                <a:effectLst/>
                <a:latin typeface="+mn-ea"/>
                <a:cs typeface="Times New Roman" panose="02020603050405020304" pitchFamily="18" charset="0"/>
              </a:rPr>
              <a:t>最后大会出奇地成功，以至于大家在</a:t>
            </a:r>
            <a:r>
              <a:rPr lang="en-US" altLang="zh-CN" sz="1800" kern="100" dirty="0">
                <a:solidFill>
                  <a:schemeClr val="tx1"/>
                </a:solidFill>
                <a:effectLst/>
                <a:latin typeface="+mn-ea"/>
                <a:cs typeface="Times New Roman" panose="02020603050405020304" pitchFamily="18" charset="0"/>
              </a:rPr>
              <a:t>Twitter</a:t>
            </a:r>
            <a:r>
              <a:rPr lang="zh-CN" altLang="en-US" sz="1800" kern="100" dirty="0">
                <a:solidFill>
                  <a:schemeClr val="tx1"/>
                </a:solidFill>
                <a:effectLst/>
                <a:latin typeface="+mn-ea"/>
                <a:cs typeface="Times New Roman" panose="02020603050405020304" pitchFamily="18" charset="0"/>
              </a:rPr>
              <a:t>上的讨论热情不减。受限于</a:t>
            </a:r>
            <a:r>
              <a:rPr lang="en-US" altLang="zh-CN" sz="1800" kern="100" dirty="0">
                <a:solidFill>
                  <a:schemeClr val="tx1"/>
                </a:solidFill>
                <a:effectLst/>
                <a:latin typeface="+mn-ea"/>
                <a:cs typeface="Times New Roman" panose="02020603050405020304" pitchFamily="18" charset="0"/>
              </a:rPr>
              <a:t>Twitter</a:t>
            </a:r>
            <a:r>
              <a:rPr lang="zh-CN" altLang="en-US" sz="1800" kern="100" dirty="0">
                <a:solidFill>
                  <a:schemeClr val="tx1"/>
                </a:solidFill>
                <a:effectLst/>
                <a:latin typeface="+mn-ea"/>
                <a:cs typeface="Times New Roman" panose="02020603050405020304" pitchFamily="18" charset="0"/>
              </a:rPr>
              <a:t>上字符的长度，为了精简，大家就把</a:t>
            </a:r>
            <a:r>
              <a:rPr lang="en-US" altLang="zh-CN" sz="1800" kern="100" dirty="0">
                <a:solidFill>
                  <a:schemeClr val="tx1"/>
                </a:solidFill>
                <a:effectLst/>
                <a:latin typeface="+mn-ea"/>
                <a:cs typeface="Times New Roman" panose="02020603050405020304" pitchFamily="18" charset="0"/>
              </a:rPr>
              <a:t>Twitter </a:t>
            </a:r>
            <a:r>
              <a:rPr lang="zh-CN" altLang="en-US" sz="1800" kern="100" dirty="0">
                <a:solidFill>
                  <a:schemeClr val="tx1"/>
                </a:solidFill>
                <a:effectLst/>
                <a:latin typeface="+mn-ea"/>
                <a:cs typeface="Times New Roman" panose="02020603050405020304" pitchFamily="18" charset="0"/>
              </a:rPr>
              <a:t>上的话题</a:t>
            </a:r>
            <a:r>
              <a:rPr lang="en-US" altLang="zh-CN" sz="1800" kern="100" dirty="0">
                <a:solidFill>
                  <a:schemeClr val="tx1"/>
                </a:solidFill>
                <a:effectLst/>
                <a:latin typeface="+mn-ea"/>
                <a:cs typeface="Times New Roman" panose="02020603050405020304" pitchFamily="18" charset="0"/>
              </a:rPr>
              <a:t>#DevOpsdays </a:t>
            </a:r>
            <a:r>
              <a:rPr lang="zh-CN" altLang="en-US" sz="1800" kern="100" dirty="0">
                <a:solidFill>
                  <a:schemeClr val="tx1"/>
                </a:solidFill>
                <a:effectLst/>
                <a:latin typeface="+mn-ea"/>
                <a:cs typeface="Times New Roman" panose="02020603050405020304" pitchFamily="18" charset="0"/>
              </a:rPr>
              <a:t>简写成＃</a:t>
            </a:r>
            <a:r>
              <a:rPr lang="en-US" altLang="zh-CN" sz="1800" kern="100" dirty="0">
                <a:solidFill>
                  <a:schemeClr val="tx1"/>
                </a:solidFill>
                <a:effectLst/>
                <a:latin typeface="+mn-ea"/>
                <a:cs typeface="Times New Roman" panose="02020603050405020304" pitchFamily="18" charset="0"/>
              </a:rPr>
              <a:t>DevOps</a:t>
            </a:r>
            <a:r>
              <a:rPr lang="zh-CN" altLang="en-US" sz="1800" kern="100" dirty="0">
                <a:solidFill>
                  <a:schemeClr val="tx1"/>
                </a:solidFill>
                <a:effectLst/>
                <a:latin typeface="+mn-ea"/>
                <a:cs typeface="Times New Roman" panose="02020603050405020304" pitchFamily="18" charset="0"/>
              </a:rPr>
              <a:t>了，于是</a:t>
            </a:r>
            <a:r>
              <a:rPr lang="en-US" altLang="zh-CN" sz="1800" kern="100" dirty="0">
                <a:solidFill>
                  <a:schemeClr val="tx1"/>
                </a:solidFill>
                <a:effectLst/>
                <a:latin typeface="+mn-ea"/>
                <a:cs typeface="Times New Roman" panose="02020603050405020304" pitchFamily="18" charset="0"/>
              </a:rPr>
              <a:t>DevOps </a:t>
            </a:r>
            <a:r>
              <a:rPr lang="zh-CN" altLang="en-US" sz="1800" kern="100" dirty="0">
                <a:solidFill>
                  <a:schemeClr val="tx1"/>
                </a:solidFill>
                <a:effectLst/>
                <a:latin typeface="+mn-ea"/>
                <a:cs typeface="Times New Roman" panose="02020603050405020304" pitchFamily="18" charset="0"/>
              </a:rPr>
              <a:t>一词便在社区中慢慢确立了。</a:t>
            </a:r>
            <a:endParaRPr lang="en-US" altLang="zh-CN" sz="1800" kern="100" dirty="0">
              <a:solidFill>
                <a:schemeClr val="tx1"/>
              </a:solidFill>
              <a:effectLst/>
              <a:latin typeface="+mn-ea"/>
              <a:cs typeface="Times New Roman" panose="02020603050405020304" pitchFamily="18" charset="0"/>
            </a:endParaRPr>
          </a:p>
        </p:txBody>
      </p:sp>
      <p:sp>
        <p:nvSpPr>
          <p:cNvPr id="70" name="灯片编号占位符 2">
            <a:extLst>
              <a:ext uri="{FF2B5EF4-FFF2-40B4-BE49-F238E27FC236}">
                <a16:creationId xmlns:a16="http://schemas.microsoft.com/office/drawing/2014/main" id="{B387BB8A-DA8F-4217-53B8-00A5B93C3776}"/>
              </a:ext>
            </a:extLst>
          </p:cNvPr>
          <p:cNvSpPr>
            <a:spLocks noGrp="1"/>
          </p:cNvSpPr>
          <p:nvPr>
            <p:ph type="sldNum" sz="quarter" idx="12"/>
          </p:nvPr>
        </p:nvSpPr>
        <p:spPr>
          <a:xfrm>
            <a:off x="9137021" y="6494335"/>
            <a:ext cx="2743200" cy="341761"/>
          </a:xfrm>
        </p:spPr>
        <p:txBody>
          <a:bodyPr/>
          <a:lstStyle/>
          <a:p>
            <a:fld id="{1AAC388E-FA9E-4A2C-95EA-1F6B3A07935A}" type="slidenum">
              <a:rPr lang="zh-CN" altLang="en-US" sz="1400" smtClean="0">
                <a:solidFill>
                  <a:srgbClr val="000000"/>
                </a:solidFill>
              </a:rPr>
              <a:t>39</a:t>
            </a:fld>
            <a:endParaRPr lang="zh-CN" altLang="en-US" sz="1400" dirty="0">
              <a:solidFill>
                <a:srgbClr val="000000"/>
              </a:solidFill>
            </a:endParaRPr>
          </a:p>
        </p:txBody>
      </p:sp>
    </p:spTree>
    <p:extLst>
      <p:ext uri="{BB962C8B-B14F-4D97-AF65-F5344CB8AC3E}">
        <p14:creationId xmlns:p14="http://schemas.microsoft.com/office/powerpoint/2010/main" val="10890190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02 DevOps</a:t>
            </a:r>
            <a:r>
              <a:rPr lang="zh-CN" altLang="en-US" dirty="0"/>
              <a:t>历史溯源</a:t>
            </a:r>
          </a:p>
        </p:txBody>
      </p:sp>
      <p:sp>
        <p:nvSpPr>
          <p:cNvPr id="30" name="文本框 29">
            <a:extLst>
              <a:ext uri="{FF2B5EF4-FFF2-40B4-BE49-F238E27FC236}">
                <a16:creationId xmlns:a16="http://schemas.microsoft.com/office/drawing/2014/main" id="{CF6170A3-D12F-935D-D836-CFA272127202}"/>
              </a:ext>
            </a:extLst>
          </p:cNvPr>
          <p:cNvSpPr txBox="1"/>
          <p:nvPr/>
        </p:nvSpPr>
        <p:spPr>
          <a:xfrm>
            <a:off x="718218" y="874354"/>
            <a:ext cx="4328344" cy="601075"/>
          </a:xfrm>
          <a:prstGeom prst="rect">
            <a:avLst/>
          </a:prstGeom>
          <a:noFill/>
        </p:spPr>
        <p:txBody>
          <a:bodyPr wrap="square" lIns="0" tIns="0" rIns="0" bIns="0" rtlCol="0" anchor="ctr">
            <a:noAutofit/>
          </a:bodyPr>
          <a:lstStyle>
            <a:defPPr>
              <a:defRPr lang="zh-CN"/>
            </a:defPPr>
            <a:lvl1pPr marL="285750" indent="-285750">
              <a:lnSpc>
                <a:spcPct val="125000"/>
              </a:lnSpc>
              <a:spcAft>
                <a:spcPts val="500"/>
              </a:spcAft>
              <a:buFont typeface="Wingdings" panose="05000000000000000000" pitchFamily="2" charset="2"/>
              <a:buChar char="p"/>
              <a:defRPr sz="2400">
                <a:solidFill>
                  <a:srgbClr val="003F88"/>
                </a:solidFill>
              </a:defRPr>
            </a:lvl1pPr>
          </a:lstStyle>
          <a:p>
            <a:r>
              <a:rPr lang="en-US" altLang="zh-CN" dirty="0"/>
              <a:t> </a:t>
            </a:r>
            <a:r>
              <a:rPr lang="zh-CN" altLang="en-US" dirty="0"/>
              <a:t>社区确立阶段（</a:t>
            </a:r>
            <a:r>
              <a:rPr lang="en-US" altLang="zh-CN" dirty="0"/>
              <a:t>2009~2010</a:t>
            </a:r>
            <a:r>
              <a:rPr lang="zh-CN" altLang="en-US" dirty="0"/>
              <a:t>）</a:t>
            </a:r>
          </a:p>
        </p:txBody>
      </p:sp>
      <p:sp>
        <p:nvSpPr>
          <p:cNvPr id="4" name="object 2">
            <a:extLst>
              <a:ext uri="{FF2B5EF4-FFF2-40B4-BE49-F238E27FC236}">
                <a16:creationId xmlns:a16="http://schemas.microsoft.com/office/drawing/2014/main" id="{CDC61A3D-4586-FAD9-98BE-1FFFD1D8D0C7}"/>
              </a:ext>
            </a:extLst>
          </p:cNvPr>
          <p:cNvSpPr/>
          <p:nvPr/>
        </p:nvSpPr>
        <p:spPr>
          <a:xfrm>
            <a:off x="-29209" y="1790023"/>
            <a:ext cx="45719" cy="168809"/>
          </a:xfrm>
          <a:custGeom>
            <a:avLst/>
            <a:gdLst/>
            <a:ahLst/>
            <a:cxnLst/>
            <a:rect l="l" t="t" r="r" b="b"/>
            <a:pathLst>
              <a:path w="16510" h="60960">
                <a:moveTo>
                  <a:pt x="0" y="0"/>
                </a:moveTo>
                <a:lnTo>
                  <a:pt x="0" y="60700"/>
                </a:lnTo>
                <a:lnTo>
                  <a:pt x="5938" y="54761"/>
                </a:lnTo>
                <a:lnTo>
                  <a:pt x="13848" y="42876"/>
                </a:lnTo>
                <a:lnTo>
                  <a:pt x="16485" y="29353"/>
                </a:lnTo>
                <a:lnTo>
                  <a:pt x="13848" y="15831"/>
                </a:lnTo>
                <a:lnTo>
                  <a:pt x="5938" y="3947"/>
                </a:lnTo>
                <a:lnTo>
                  <a:pt x="0" y="0"/>
                </a:lnTo>
                <a:close/>
              </a:path>
            </a:pathLst>
          </a:custGeom>
          <a:solidFill>
            <a:srgbClr val="000000"/>
          </a:solidFill>
        </p:spPr>
        <p:txBody>
          <a:bodyPr wrap="square" lIns="0" tIns="0" rIns="0" bIns="0" rtlCol="0"/>
          <a:lstStyle/>
          <a:p>
            <a:endParaRPr/>
          </a:p>
        </p:txBody>
      </p:sp>
      <p:grpSp>
        <p:nvGrpSpPr>
          <p:cNvPr id="15" name="组合 14">
            <a:extLst>
              <a:ext uri="{FF2B5EF4-FFF2-40B4-BE49-F238E27FC236}">
                <a16:creationId xmlns:a16="http://schemas.microsoft.com/office/drawing/2014/main" id="{A4FF6479-C2BA-9D9E-6974-37721C1633DC}"/>
              </a:ext>
            </a:extLst>
          </p:cNvPr>
          <p:cNvGrpSpPr/>
          <p:nvPr/>
        </p:nvGrpSpPr>
        <p:grpSpPr>
          <a:xfrm>
            <a:off x="4452395" y="1475429"/>
            <a:ext cx="6908800" cy="5181600"/>
            <a:chOff x="0" y="0"/>
            <a:chExt cx="13004800" cy="9753600"/>
          </a:xfrm>
        </p:grpSpPr>
        <p:pic>
          <p:nvPicPr>
            <p:cNvPr id="5" name="object 2">
              <a:extLst>
                <a:ext uri="{FF2B5EF4-FFF2-40B4-BE49-F238E27FC236}">
                  <a16:creationId xmlns:a16="http://schemas.microsoft.com/office/drawing/2014/main" id="{55F9B7F7-CA0D-74F0-CC32-39D0F07CDB6A}"/>
                </a:ext>
              </a:extLst>
            </p:cNvPr>
            <p:cNvPicPr/>
            <p:nvPr/>
          </p:nvPicPr>
          <p:blipFill>
            <a:blip r:embed="rId3" cstate="print"/>
            <a:stretch>
              <a:fillRect/>
            </a:stretch>
          </p:blipFill>
          <p:spPr>
            <a:xfrm>
              <a:off x="0" y="0"/>
              <a:ext cx="5448300" cy="2654300"/>
            </a:xfrm>
            <a:prstGeom prst="rect">
              <a:avLst/>
            </a:prstGeom>
          </p:spPr>
        </p:pic>
        <p:pic>
          <p:nvPicPr>
            <p:cNvPr id="6" name="object 3">
              <a:extLst>
                <a:ext uri="{FF2B5EF4-FFF2-40B4-BE49-F238E27FC236}">
                  <a16:creationId xmlns:a16="http://schemas.microsoft.com/office/drawing/2014/main" id="{45FEFF70-5CE2-0D78-7AAF-9CC509D6115B}"/>
                </a:ext>
              </a:extLst>
            </p:cNvPr>
            <p:cNvPicPr/>
            <p:nvPr/>
          </p:nvPicPr>
          <p:blipFill>
            <a:blip r:embed="rId4" cstate="print"/>
            <a:stretch>
              <a:fillRect/>
            </a:stretch>
          </p:blipFill>
          <p:spPr>
            <a:xfrm>
              <a:off x="4046606" y="6212508"/>
              <a:ext cx="5929657" cy="3479385"/>
            </a:xfrm>
            <a:prstGeom prst="rect">
              <a:avLst/>
            </a:prstGeom>
          </p:spPr>
        </p:pic>
        <p:pic>
          <p:nvPicPr>
            <p:cNvPr id="7" name="object 4">
              <a:extLst>
                <a:ext uri="{FF2B5EF4-FFF2-40B4-BE49-F238E27FC236}">
                  <a16:creationId xmlns:a16="http://schemas.microsoft.com/office/drawing/2014/main" id="{8801D511-79DB-0143-C744-47FD420FA3C2}"/>
                </a:ext>
              </a:extLst>
            </p:cNvPr>
            <p:cNvPicPr/>
            <p:nvPr/>
          </p:nvPicPr>
          <p:blipFill>
            <a:blip r:embed="rId5" cstate="print"/>
            <a:stretch>
              <a:fillRect/>
            </a:stretch>
          </p:blipFill>
          <p:spPr>
            <a:xfrm>
              <a:off x="38100" y="2667000"/>
              <a:ext cx="4876799" cy="3454400"/>
            </a:xfrm>
            <a:prstGeom prst="rect">
              <a:avLst/>
            </a:prstGeom>
          </p:spPr>
        </p:pic>
        <p:grpSp>
          <p:nvGrpSpPr>
            <p:cNvPr id="8" name="object 5">
              <a:extLst>
                <a:ext uri="{FF2B5EF4-FFF2-40B4-BE49-F238E27FC236}">
                  <a16:creationId xmlns:a16="http://schemas.microsoft.com/office/drawing/2014/main" id="{BED4BD1C-4E2D-9BE2-BBA1-9C2A957C1BD3}"/>
                </a:ext>
              </a:extLst>
            </p:cNvPr>
            <p:cNvGrpSpPr/>
            <p:nvPr/>
          </p:nvGrpSpPr>
          <p:grpSpPr>
            <a:xfrm>
              <a:off x="0" y="0"/>
              <a:ext cx="13004800" cy="9753600"/>
              <a:chOff x="0" y="0"/>
              <a:chExt cx="13004800" cy="9753600"/>
            </a:xfrm>
          </p:grpSpPr>
          <p:pic>
            <p:nvPicPr>
              <p:cNvPr id="9" name="object 6">
                <a:extLst>
                  <a:ext uri="{FF2B5EF4-FFF2-40B4-BE49-F238E27FC236}">
                    <a16:creationId xmlns:a16="http://schemas.microsoft.com/office/drawing/2014/main" id="{A8E702F4-2570-FF0E-C257-0DC99FEDAC65}"/>
                  </a:ext>
                </a:extLst>
              </p:cNvPr>
              <p:cNvPicPr/>
              <p:nvPr/>
            </p:nvPicPr>
            <p:blipFill>
              <a:blip r:embed="rId6" cstate="print"/>
              <a:stretch>
                <a:fillRect/>
              </a:stretch>
            </p:blipFill>
            <p:spPr>
              <a:xfrm>
                <a:off x="9588500" y="3060700"/>
                <a:ext cx="3416300" cy="3365500"/>
              </a:xfrm>
              <a:prstGeom prst="rect">
                <a:avLst/>
              </a:prstGeom>
            </p:spPr>
          </p:pic>
          <p:pic>
            <p:nvPicPr>
              <p:cNvPr id="10" name="object 7">
                <a:extLst>
                  <a:ext uri="{FF2B5EF4-FFF2-40B4-BE49-F238E27FC236}">
                    <a16:creationId xmlns:a16="http://schemas.microsoft.com/office/drawing/2014/main" id="{4CBBDB6D-6C69-6F94-ED62-04125DC386CF}"/>
                  </a:ext>
                </a:extLst>
              </p:cNvPr>
              <p:cNvPicPr/>
              <p:nvPr/>
            </p:nvPicPr>
            <p:blipFill>
              <a:blip r:embed="rId7" cstate="print"/>
              <a:stretch>
                <a:fillRect/>
              </a:stretch>
            </p:blipFill>
            <p:spPr>
              <a:xfrm>
                <a:off x="9067800" y="6426200"/>
                <a:ext cx="3937000" cy="3327400"/>
              </a:xfrm>
              <a:prstGeom prst="rect">
                <a:avLst/>
              </a:prstGeom>
            </p:spPr>
          </p:pic>
          <p:pic>
            <p:nvPicPr>
              <p:cNvPr id="11" name="object 8">
                <a:extLst>
                  <a:ext uri="{FF2B5EF4-FFF2-40B4-BE49-F238E27FC236}">
                    <a16:creationId xmlns:a16="http://schemas.microsoft.com/office/drawing/2014/main" id="{24A90486-9E21-9E21-00CC-8BE3A217198D}"/>
                  </a:ext>
                </a:extLst>
              </p:cNvPr>
              <p:cNvPicPr/>
              <p:nvPr/>
            </p:nvPicPr>
            <p:blipFill>
              <a:blip r:embed="rId8" cstate="print"/>
              <a:stretch>
                <a:fillRect/>
              </a:stretch>
            </p:blipFill>
            <p:spPr>
              <a:xfrm>
                <a:off x="5232400" y="0"/>
                <a:ext cx="4927600" cy="3041879"/>
              </a:xfrm>
              <a:prstGeom prst="rect">
                <a:avLst/>
              </a:prstGeom>
            </p:spPr>
          </p:pic>
          <p:pic>
            <p:nvPicPr>
              <p:cNvPr id="12" name="object 9">
                <a:extLst>
                  <a:ext uri="{FF2B5EF4-FFF2-40B4-BE49-F238E27FC236}">
                    <a16:creationId xmlns:a16="http://schemas.microsoft.com/office/drawing/2014/main" id="{4DE4630B-D427-F34C-C8FB-3A2F597F593F}"/>
                  </a:ext>
                </a:extLst>
              </p:cNvPr>
              <p:cNvPicPr/>
              <p:nvPr/>
            </p:nvPicPr>
            <p:blipFill>
              <a:blip r:embed="rId9" cstate="print"/>
              <a:stretch>
                <a:fillRect/>
              </a:stretch>
            </p:blipFill>
            <p:spPr>
              <a:xfrm>
                <a:off x="9944100" y="0"/>
                <a:ext cx="3060700" cy="3042050"/>
              </a:xfrm>
              <a:prstGeom prst="rect">
                <a:avLst/>
              </a:prstGeom>
            </p:spPr>
          </p:pic>
          <p:pic>
            <p:nvPicPr>
              <p:cNvPr id="13" name="object 10">
                <a:extLst>
                  <a:ext uri="{FF2B5EF4-FFF2-40B4-BE49-F238E27FC236}">
                    <a16:creationId xmlns:a16="http://schemas.microsoft.com/office/drawing/2014/main" id="{5C22B1D8-3F42-FC53-C074-4B73BC86A3F2}"/>
                  </a:ext>
                </a:extLst>
              </p:cNvPr>
              <p:cNvPicPr/>
              <p:nvPr/>
            </p:nvPicPr>
            <p:blipFill>
              <a:blip r:embed="rId10" cstate="print"/>
              <a:stretch>
                <a:fillRect/>
              </a:stretch>
            </p:blipFill>
            <p:spPr>
              <a:xfrm>
                <a:off x="4914900" y="2743200"/>
                <a:ext cx="4711700" cy="3390900"/>
              </a:xfrm>
              <a:prstGeom prst="rect">
                <a:avLst/>
              </a:prstGeom>
            </p:spPr>
          </p:pic>
          <p:pic>
            <p:nvPicPr>
              <p:cNvPr id="14" name="object 11">
                <a:extLst>
                  <a:ext uri="{FF2B5EF4-FFF2-40B4-BE49-F238E27FC236}">
                    <a16:creationId xmlns:a16="http://schemas.microsoft.com/office/drawing/2014/main" id="{E3F1A7C5-CB1B-9934-64E3-6224005EC5E2}"/>
                  </a:ext>
                </a:extLst>
              </p:cNvPr>
              <p:cNvPicPr/>
              <p:nvPr/>
            </p:nvPicPr>
            <p:blipFill>
              <a:blip r:embed="rId11" cstate="print"/>
              <a:stretch>
                <a:fillRect/>
              </a:stretch>
            </p:blipFill>
            <p:spPr>
              <a:xfrm>
                <a:off x="0" y="6057900"/>
                <a:ext cx="5041900" cy="3644900"/>
              </a:xfrm>
              <a:prstGeom prst="rect">
                <a:avLst/>
              </a:prstGeom>
            </p:spPr>
          </p:pic>
        </p:grpSp>
      </p:grpSp>
      <p:sp>
        <p:nvSpPr>
          <p:cNvPr id="16" name="文本框 15">
            <a:extLst>
              <a:ext uri="{FF2B5EF4-FFF2-40B4-BE49-F238E27FC236}">
                <a16:creationId xmlns:a16="http://schemas.microsoft.com/office/drawing/2014/main" id="{D1283D3A-6A15-CF74-DFCD-0716DB4AF150}"/>
              </a:ext>
            </a:extLst>
          </p:cNvPr>
          <p:cNvSpPr txBox="1"/>
          <p:nvPr/>
        </p:nvSpPr>
        <p:spPr>
          <a:xfrm>
            <a:off x="718219" y="1426642"/>
            <a:ext cx="3592536" cy="1289905"/>
          </a:xfrm>
          <a:prstGeom prst="rect">
            <a:avLst/>
          </a:prstGeom>
          <a:noFill/>
        </p:spPr>
        <p:txBody>
          <a:bodyPr wrap="square">
            <a:spAutoFit/>
          </a:bodyPr>
          <a:lstStyle/>
          <a:p>
            <a:pPr marL="0" lvl="0" indent="0" algn="just">
              <a:lnSpc>
                <a:spcPct val="150000"/>
              </a:lnSpc>
              <a:buFont typeface="Arial" panose="020B0604020202020204" pitchFamily="34" charset="0"/>
            </a:pPr>
            <a:r>
              <a:rPr lang="en-US" altLang="zh-CN" sz="1800" kern="100" dirty="0">
                <a:solidFill>
                  <a:schemeClr val="tx1"/>
                </a:solidFill>
                <a:effectLst/>
                <a:latin typeface="+mn-ea"/>
                <a:cs typeface="Times New Roman" panose="02020603050405020304" pitchFamily="18" charset="0"/>
              </a:rPr>
              <a:t>DevOps</a:t>
            </a:r>
            <a:r>
              <a:rPr lang="zh-CN" altLang="en-US" sz="1800" kern="100" dirty="0">
                <a:solidFill>
                  <a:schemeClr val="tx1"/>
                </a:solidFill>
                <a:effectLst/>
                <a:latin typeface="+mn-ea"/>
                <a:cs typeface="Times New Roman" panose="02020603050405020304" pitchFamily="18" charset="0"/>
              </a:rPr>
              <a:t>得到了越来越多的关注，相关话题的</a:t>
            </a:r>
            <a:r>
              <a:rPr lang="zh-CN" altLang="en-US" kern="100" dirty="0">
                <a:latin typeface="+mn-ea"/>
                <a:cs typeface="Times New Roman" panose="02020603050405020304" pitchFamily="18" charset="0"/>
              </a:rPr>
              <a:t>演讲</a:t>
            </a:r>
            <a:r>
              <a:rPr lang="zh-CN" altLang="en-US" sz="1800" kern="100" dirty="0">
                <a:solidFill>
                  <a:schemeClr val="tx1"/>
                </a:solidFill>
                <a:effectLst/>
                <a:latin typeface="+mn-ea"/>
                <a:cs typeface="Times New Roman" panose="02020603050405020304" pitchFamily="18" charset="0"/>
              </a:rPr>
              <a:t>频繁出现在各类技术活动上。</a:t>
            </a:r>
            <a:endParaRPr lang="en-US" altLang="zh-CN" sz="1800" kern="100" dirty="0">
              <a:solidFill>
                <a:schemeClr val="tx1"/>
              </a:solidFill>
              <a:effectLst/>
              <a:latin typeface="+mn-ea"/>
              <a:cs typeface="Times New Roman" panose="02020603050405020304" pitchFamily="18" charset="0"/>
            </a:endParaRPr>
          </a:p>
        </p:txBody>
      </p:sp>
      <p:sp>
        <p:nvSpPr>
          <p:cNvPr id="17" name="灯片编号占位符 2">
            <a:extLst>
              <a:ext uri="{FF2B5EF4-FFF2-40B4-BE49-F238E27FC236}">
                <a16:creationId xmlns:a16="http://schemas.microsoft.com/office/drawing/2014/main" id="{BC9892AE-0C82-9BB1-88BB-8EB5140013F4}"/>
              </a:ext>
            </a:extLst>
          </p:cNvPr>
          <p:cNvSpPr>
            <a:spLocks noGrp="1"/>
          </p:cNvSpPr>
          <p:nvPr>
            <p:ph type="sldNum" sz="quarter" idx="12"/>
          </p:nvPr>
        </p:nvSpPr>
        <p:spPr>
          <a:xfrm>
            <a:off x="9137021" y="6494335"/>
            <a:ext cx="2743200" cy="341761"/>
          </a:xfrm>
        </p:spPr>
        <p:txBody>
          <a:bodyPr/>
          <a:lstStyle/>
          <a:p>
            <a:fld id="{1AAC388E-FA9E-4A2C-95EA-1F6B3A07935A}" type="slidenum">
              <a:rPr lang="zh-CN" altLang="en-US" sz="1400" smtClean="0">
                <a:solidFill>
                  <a:srgbClr val="000000"/>
                </a:solidFill>
              </a:rPr>
              <a:t>40</a:t>
            </a:fld>
            <a:endParaRPr lang="zh-CN" altLang="en-US" sz="1400" dirty="0">
              <a:solidFill>
                <a:srgbClr val="000000"/>
              </a:solidFill>
            </a:endParaRPr>
          </a:p>
        </p:txBody>
      </p:sp>
    </p:spTree>
    <p:extLst>
      <p:ext uri="{BB962C8B-B14F-4D97-AF65-F5344CB8AC3E}">
        <p14:creationId xmlns:p14="http://schemas.microsoft.com/office/powerpoint/2010/main" val="6653971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02 DevOps</a:t>
            </a:r>
            <a:r>
              <a:rPr lang="zh-CN" altLang="en-US" dirty="0"/>
              <a:t>历史溯源</a:t>
            </a:r>
          </a:p>
        </p:txBody>
      </p:sp>
      <p:sp>
        <p:nvSpPr>
          <p:cNvPr id="30" name="文本框 29">
            <a:extLst>
              <a:ext uri="{FF2B5EF4-FFF2-40B4-BE49-F238E27FC236}">
                <a16:creationId xmlns:a16="http://schemas.microsoft.com/office/drawing/2014/main" id="{CF6170A3-D12F-935D-D836-CFA272127202}"/>
              </a:ext>
            </a:extLst>
          </p:cNvPr>
          <p:cNvSpPr txBox="1"/>
          <p:nvPr/>
        </p:nvSpPr>
        <p:spPr>
          <a:xfrm>
            <a:off x="718218" y="874354"/>
            <a:ext cx="4328344" cy="601075"/>
          </a:xfrm>
          <a:prstGeom prst="rect">
            <a:avLst/>
          </a:prstGeom>
          <a:noFill/>
        </p:spPr>
        <p:txBody>
          <a:bodyPr wrap="square" lIns="0" tIns="0" rIns="0" bIns="0" rtlCol="0" anchor="ctr">
            <a:noAutofit/>
          </a:bodyPr>
          <a:lstStyle>
            <a:defPPr>
              <a:defRPr lang="zh-CN"/>
            </a:defPPr>
            <a:lvl1pPr marL="285750" indent="-285750">
              <a:lnSpc>
                <a:spcPct val="125000"/>
              </a:lnSpc>
              <a:spcAft>
                <a:spcPts val="500"/>
              </a:spcAft>
              <a:buFont typeface="Wingdings" panose="05000000000000000000" pitchFamily="2" charset="2"/>
              <a:buChar char="p"/>
              <a:defRPr sz="2400">
                <a:solidFill>
                  <a:srgbClr val="003F88"/>
                </a:solidFill>
              </a:defRPr>
            </a:lvl1pPr>
          </a:lstStyle>
          <a:p>
            <a:r>
              <a:rPr lang="en-US" altLang="zh-CN" dirty="0"/>
              <a:t> </a:t>
            </a:r>
            <a:r>
              <a:rPr lang="zh-CN" altLang="en-US" dirty="0"/>
              <a:t>社区确立阶段（</a:t>
            </a:r>
            <a:r>
              <a:rPr lang="en-US" altLang="zh-CN" dirty="0"/>
              <a:t>2009~2010</a:t>
            </a:r>
            <a:r>
              <a:rPr lang="zh-CN" altLang="en-US" dirty="0"/>
              <a:t>）</a:t>
            </a:r>
          </a:p>
        </p:txBody>
      </p:sp>
      <p:sp>
        <p:nvSpPr>
          <p:cNvPr id="4" name="object 2">
            <a:extLst>
              <a:ext uri="{FF2B5EF4-FFF2-40B4-BE49-F238E27FC236}">
                <a16:creationId xmlns:a16="http://schemas.microsoft.com/office/drawing/2014/main" id="{CDC61A3D-4586-FAD9-98BE-1FFFD1D8D0C7}"/>
              </a:ext>
            </a:extLst>
          </p:cNvPr>
          <p:cNvSpPr/>
          <p:nvPr/>
        </p:nvSpPr>
        <p:spPr>
          <a:xfrm>
            <a:off x="-29209" y="1790023"/>
            <a:ext cx="45719" cy="168809"/>
          </a:xfrm>
          <a:custGeom>
            <a:avLst/>
            <a:gdLst/>
            <a:ahLst/>
            <a:cxnLst/>
            <a:rect l="l" t="t" r="r" b="b"/>
            <a:pathLst>
              <a:path w="16510" h="60960">
                <a:moveTo>
                  <a:pt x="0" y="0"/>
                </a:moveTo>
                <a:lnTo>
                  <a:pt x="0" y="60700"/>
                </a:lnTo>
                <a:lnTo>
                  <a:pt x="5938" y="54761"/>
                </a:lnTo>
                <a:lnTo>
                  <a:pt x="13848" y="42876"/>
                </a:lnTo>
                <a:lnTo>
                  <a:pt x="16485" y="29353"/>
                </a:lnTo>
                <a:lnTo>
                  <a:pt x="13848" y="15831"/>
                </a:lnTo>
                <a:lnTo>
                  <a:pt x="5938" y="3947"/>
                </a:lnTo>
                <a:lnTo>
                  <a:pt x="0" y="0"/>
                </a:lnTo>
                <a:close/>
              </a:path>
            </a:pathLst>
          </a:custGeom>
          <a:solidFill>
            <a:srgbClr val="000000"/>
          </a:solidFill>
        </p:spPr>
        <p:txBody>
          <a:bodyPr wrap="square" lIns="0" tIns="0" rIns="0" bIns="0" rtlCol="0"/>
          <a:lstStyle/>
          <a:p>
            <a:endParaRPr/>
          </a:p>
        </p:txBody>
      </p:sp>
      <p:sp>
        <p:nvSpPr>
          <p:cNvPr id="16" name="文本框 15">
            <a:extLst>
              <a:ext uri="{FF2B5EF4-FFF2-40B4-BE49-F238E27FC236}">
                <a16:creationId xmlns:a16="http://schemas.microsoft.com/office/drawing/2014/main" id="{D1283D3A-6A15-CF74-DFCD-0716DB4AF150}"/>
              </a:ext>
            </a:extLst>
          </p:cNvPr>
          <p:cNvSpPr txBox="1"/>
          <p:nvPr/>
        </p:nvSpPr>
        <p:spPr>
          <a:xfrm>
            <a:off x="718219" y="1426642"/>
            <a:ext cx="4565196" cy="874407"/>
          </a:xfrm>
          <a:prstGeom prst="rect">
            <a:avLst/>
          </a:prstGeom>
          <a:noFill/>
        </p:spPr>
        <p:txBody>
          <a:bodyPr wrap="square">
            <a:spAutoFit/>
          </a:bodyPr>
          <a:lstStyle/>
          <a:p>
            <a:pPr marL="0" lvl="0" indent="0" algn="just">
              <a:lnSpc>
                <a:spcPct val="150000"/>
              </a:lnSpc>
              <a:buFont typeface="Arial" panose="020B0604020202020204" pitchFamily="34" charset="0"/>
            </a:pPr>
            <a:r>
              <a:rPr lang="en-US" altLang="zh-CN" sz="1800" kern="100" dirty="0">
                <a:solidFill>
                  <a:schemeClr val="tx1"/>
                </a:solidFill>
                <a:effectLst/>
                <a:latin typeface="+mn-ea"/>
                <a:cs typeface="Times New Roman" panose="02020603050405020304" pitchFamily="18" charset="0"/>
              </a:rPr>
              <a:t>DevOps</a:t>
            </a:r>
            <a:r>
              <a:rPr lang="zh-CN" altLang="en-US" sz="1800" kern="100" dirty="0">
                <a:solidFill>
                  <a:schemeClr val="tx1"/>
                </a:solidFill>
                <a:effectLst/>
                <a:latin typeface="+mn-ea"/>
                <a:cs typeface="Times New Roman" panose="02020603050405020304" pitchFamily="18" charset="0"/>
              </a:rPr>
              <a:t>得到了越来越多的关注，相关技术文章和播客也开始介绍</a:t>
            </a:r>
            <a:r>
              <a:rPr lang="en-US" altLang="zh-CN" sz="1800" kern="100" dirty="0">
                <a:solidFill>
                  <a:schemeClr val="tx1"/>
                </a:solidFill>
                <a:effectLst/>
                <a:latin typeface="+mn-ea"/>
                <a:cs typeface="Times New Roman" panose="02020603050405020304" pitchFamily="18" charset="0"/>
              </a:rPr>
              <a:t>DevOps</a:t>
            </a:r>
            <a:r>
              <a:rPr lang="zh-CN" altLang="en-US" sz="1800" kern="100" dirty="0">
                <a:solidFill>
                  <a:schemeClr val="tx1"/>
                </a:solidFill>
                <a:effectLst/>
                <a:latin typeface="+mn-ea"/>
                <a:cs typeface="Times New Roman" panose="02020603050405020304" pitchFamily="18" charset="0"/>
              </a:rPr>
              <a:t>理念。</a:t>
            </a:r>
            <a:endParaRPr lang="en-US" altLang="zh-CN" sz="1800" kern="100" dirty="0">
              <a:solidFill>
                <a:schemeClr val="tx1"/>
              </a:solidFill>
              <a:effectLst/>
              <a:latin typeface="+mn-ea"/>
              <a:cs typeface="Times New Roman" panose="02020603050405020304" pitchFamily="18" charset="0"/>
            </a:endParaRPr>
          </a:p>
        </p:txBody>
      </p:sp>
      <p:sp>
        <p:nvSpPr>
          <p:cNvPr id="17" name="灯片编号占位符 2">
            <a:extLst>
              <a:ext uri="{FF2B5EF4-FFF2-40B4-BE49-F238E27FC236}">
                <a16:creationId xmlns:a16="http://schemas.microsoft.com/office/drawing/2014/main" id="{BC9892AE-0C82-9BB1-88BB-8EB5140013F4}"/>
              </a:ext>
            </a:extLst>
          </p:cNvPr>
          <p:cNvSpPr>
            <a:spLocks noGrp="1"/>
          </p:cNvSpPr>
          <p:nvPr>
            <p:ph type="sldNum" sz="quarter" idx="12"/>
          </p:nvPr>
        </p:nvSpPr>
        <p:spPr>
          <a:xfrm>
            <a:off x="9137021" y="6494335"/>
            <a:ext cx="2743200" cy="341761"/>
          </a:xfrm>
        </p:spPr>
        <p:txBody>
          <a:bodyPr/>
          <a:lstStyle/>
          <a:p>
            <a:fld id="{1AAC388E-FA9E-4A2C-95EA-1F6B3A07935A}" type="slidenum">
              <a:rPr lang="zh-CN" altLang="en-US" sz="1400" smtClean="0">
                <a:solidFill>
                  <a:srgbClr val="000000"/>
                </a:solidFill>
              </a:rPr>
              <a:t>41</a:t>
            </a:fld>
            <a:endParaRPr lang="zh-CN" altLang="en-US" sz="1400" dirty="0">
              <a:solidFill>
                <a:srgbClr val="000000"/>
              </a:solidFill>
            </a:endParaRPr>
          </a:p>
        </p:txBody>
      </p:sp>
      <p:pic>
        <p:nvPicPr>
          <p:cNvPr id="3" name="object 22">
            <a:extLst>
              <a:ext uri="{FF2B5EF4-FFF2-40B4-BE49-F238E27FC236}">
                <a16:creationId xmlns:a16="http://schemas.microsoft.com/office/drawing/2014/main" id="{15638372-9545-59AD-12E3-CE6604D9A3FA}"/>
              </a:ext>
            </a:extLst>
          </p:cNvPr>
          <p:cNvPicPr/>
          <p:nvPr/>
        </p:nvPicPr>
        <p:blipFill>
          <a:blip r:embed="rId3" cstate="print"/>
          <a:stretch>
            <a:fillRect/>
          </a:stretch>
        </p:blipFill>
        <p:spPr>
          <a:xfrm>
            <a:off x="5486400" y="874355"/>
            <a:ext cx="5778787" cy="5198884"/>
          </a:xfrm>
          <a:prstGeom prst="rect">
            <a:avLst/>
          </a:prstGeom>
        </p:spPr>
      </p:pic>
      <p:pic>
        <p:nvPicPr>
          <p:cNvPr id="19" name="object 27">
            <a:extLst>
              <a:ext uri="{FF2B5EF4-FFF2-40B4-BE49-F238E27FC236}">
                <a16:creationId xmlns:a16="http://schemas.microsoft.com/office/drawing/2014/main" id="{646DEA41-5842-DAA3-C175-5DDB63CCBF20}"/>
              </a:ext>
            </a:extLst>
          </p:cNvPr>
          <p:cNvPicPr/>
          <p:nvPr/>
        </p:nvPicPr>
        <p:blipFill>
          <a:blip r:embed="rId4" cstate="print"/>
          <a:stretch>
            <a:fillRect/>
          </a:stretch>
        </p:blipFill>
        <p:spPr>
          <a:xfrm>
            <a:off x="802640" y="3169771"/>
            <a:ext cx="4565197" cy="2903468"/>
          </a:xfrm>
          <a:prstGeom prst="rect">
            <a:avLst/>
          </a:prstGeom>
        </p:spPr>
      </p:pic>
    </p:spTree>
    <p:extLst>
      <p:ext uri="{BB962C8B-B14F-4D97-AF65-F5344CB8AC3E}">
        <p14:creationId xmlns:p14="http://schemas.microsoft.com/office/powerpoint/2010/main" val="26058763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02 DevOps</a:t>
            </a:r>
            <a:r>
              <a:rPr lang="zh-CN" altLang="en-US" dirty="0"/>
              <a:t>历史溯源</a:t>
            </a:r>
          </a:p>
        </p:txBody>
      </p:sp>
      <p:sp>
        <p:nvSpPr>
          <p:cNvPr id="30" name="文本框 29">
            <a:extLst>
              <a:ext uri="{FF2B5EF4-FFF2-40B4-BE49-F238E27FC236}">
                <a16:creationId xmlns:a16="http://schemas.microsoft.com/office/drawing/2014/main" id="{CF6170A3-D12F-935D-D836-CFA272127202}"/>
              </a:ext>
            </a:extLst>
          </p:cNvPr>
          <p:cNvSpPr txBox="1"/>
          <p:nvPr/>
        </p:nvSpPr>
        <p:spPr>
          <a:xfrm>
            <a:off x="718218" y="874354"/>
            <a:ext cx="4328344" cy="601075"/>
          </a:xfrm>
          <a:prstGeom prst="rect">
            <a:avLst/>
          </a:prstGeom>
          <a:noFill/>
        </p:spPr>
        <p:txBody>
          <a:bodyPr wrap="square" lIns="0" tIns="0" rIns="0" bIns="0" rtlCol="0" anchor="ctr">
            <a:noAutofit/>
          </a:bodyPr>
          <a:lstStyle>
            <a:defPPr>
              <a:defRPr lang="zh-CN"/>
            </a:defPPr>
            <a:lvl1pPr marL="285750" indent="-285750">
              <a:lnSpc>
                <a:spcPct val="125000"/>
              </a:lnSpc>
              <a:spcAft>
                <a:spcPts val="500"/>
              </a:spcAft>
              <a:buFont typeface="Wingdings" panose="05000000000000000000" pitchFamily="2" charset="2"/>
              <a:buChar char="p"/>
              <a:defRPr sz="2400">
                <a:solidFill>
                  <a:srgbClr val="003F88"/>
                </a:solidFill>
              </a:defRPr>
            </a:lvl1pPr>
          </a:lstStyle>
          <a:p>
            <a:r>
              <a:rPr lang="en-US" altLang="zh-CN" dirty="0"/>
              <a:t> </a:t>
            </a:r>
            <a:r>
              <a:rPr lang="zh-CN" altLang="en-US" dirty="0"/>
              <a:t>产业关注阶段（</a:t>
            </a:r>
            <a:r>
              <a:rPr lang="en-US" altLang="zh-CN" dirty="0"/>
              <a:t>2011~2012</a:t>
            </a:r>
            <a:r>
              <a:rPr lang="zh-CN" altLang="en-US" dirty="0"/>
              <a:t>）</a:t>
            </a:r>
          </a:p>
        </p:txBody>
      </p:sp>
      <p:sp>
        <p:nvSpPr>
          <p:cNvPr id="4" name="object 2">
            <a:extLst>
              <a:ext uri="{FF2B5EF4-FFF2-40B4-BE49-F238E27FC236}">
                <a16:creationId xmlns:a16="http://schemas.microsoft.com/office/drawing/2014/main" id="{CDC61A3D-4586-FAD9-98BE-1FFFD1D8D0C7}"/>
              </a:ext>
            </a:extLst>
          </p:cNvPr>
          <p:cNvSpPr/>
          <p:nvPr/>
        </p:nvSpPr>
        <p:spPr>
          <a:xfrm>
            <a:off x="-29209" y="1790023"/>
            <a:ext cx="45719" cy="168809"/>
          </a:xfrm>
          <a:custGeom>
            <a:avLst/>
            <a:gdLst/>
            <a:ahLst/>
            <a:cxnLst/>
            <a:rect l="l" t="t" r="r" b="b"/>
            <a:pathLst>
              <a:path w="16510" h="60960">
                <a:moveTo>
                  <a:pt x="0" y="0"/>
                </a:moveTo>
                <a:lnTo>
                  <a:pt x="0" y="60700"/>
                </a:lnTo>
                <a:lnTo>
                  <a:pt x="5938" y="54761"/>
                </a:lnTo>
                <a:lnTo>
                  <a:pt x="13848" y="42876"/>
                </a:lnTo>
                <a:lnTo>
                  <a:pt x="16485" y="29353"/>
                </a:lnTo>
                <a:lnTo>
                  <a:pt x="13848" y="15831"/>
                </a:lnTo>
                <a:lnTo>
                  <a:pt x="5938" y="3947"/>
                </a:lnTo>
                <a:lnTo>
                  <a:pt x="0" y="0"/>
                </a:lnTo>
                <a:close/>
              </a:path>
            </a:pathLst>
          </a:custGeom>
          <a:solidFill>
            <a:srgbClr val="000000"/>
          </a:solidFill>
        </p:spPr>
        <p:txBody>
          <a:bodyPr wrap="square" lIns="0" tIns="0" rIns="0" bIns="0" rtlCol="0"/>
          <a:lstStyle/>
          <a:p>
            <a:endParaRPr/>
          </a:p>
        </p:txBody>
      </p:sp>
      <p:sp>
        <p:nvSpPr>
          <p:cNvPr id="16" name="文本框 15">
            <a:extLst>
              <a:ext uri="{FF2B5EF4-FFF2-40B4-BE49-F238E27FC236}">
                <a16:creationId xmlns:a16="http://schemas.microsoft.com/office/drawing/2014/main" id="{D1283D3A-6A15-CF74-DFCD-0716DB4AF150}"/>
              </a:ext>
            </a:extLst>
          </p:cNvPr>
          <p:cNvSpPr txBox="1"/>
          <p:nvPr/>
        </p:nvSpPr>
        <p:spPr>
          <a:xfrm>
            <a:off x="718219" y="1426642"/>
            <a:ext cx="3900080" cy="3367397"/>
          </a:xfrm>
          <a:prstGeom prst="rect">
            <a:avLst/>
          </a:prstGeom>
          <a:noFill/>
        </p:spPr>
        <p:txBody>
          <a:bodyPr wrap="square">
            <a:spAutoFit/>
          </a:bodyPr>
          <a:lstStyle/>
          <a:p>
            <a:pPr marL="0" lvl="0" indent="0" algn="just">
              <a:lnSpc>
                <a:spcPct val="150000"/>
              </a:lnSpc>
              <a:buFont typeface="Arial" panose="020B0604020202020204" pitchFamily="34" charset="0"/>
            </a:pPr>
            <a:r>
              <a:rPr lang="zh-CN" altLang="en-US" sz="1800" kern="100" dirty="0">
                <a:solidFill>
                  <a:schemeClr val="tx1"/>
                </a:solidFill>
                <a:effectLst/>
                <a:latin typeface="+mn-ea"/>
                <a:cs typeface="Times New Roman" panose="02020603050405020304" pitchFamily="18" charset="0"/>
              </a:rPr>
              <a:t>在</a:t>
            </a:r>
            <a:r>
              <a:rPr lang="en-US" altLang="zh-CN" sz="1800" kern="100" dirty="0">
                <a:solidFill>
                  <a:schemeClr val="tx1"/>
                </a:solidFill>
                <a:effectLst/>
                <a:latin typeface="+mn-ea"/>
                <a:cs typeface="Times New Roman" panose="02020603050405020304" pitchFamily="18" charset="0"/>
              </a:rPr>
              <a:t>2010</a:t>
            </a:r>
            <a:r>
              <a:rPr lang="zh-CN" altLang="en-US" sz="1800" kern="100" dirty="0">
                <a:solidFill>
                  <a:schemeClr val="tx1"/>
                </a:solidFill>
                <a:effectLst/>
                <a:latin typeface="+mn-ea"/>
                <a:cs typeface="Times New Roman" panose="02020603050405020304" pitchFamily="18" charset="0"/>
              </a:rPr>
              <a:t>年之前， </a:t>
            </a:r>
            <a:r>
              <a:rPr lang="en-US" altLang="zh-CN" sz="1800" kern="100" dirty="0">
                <a:solidFill>
                  <a:schemeClr val="tx1"/>
                </a:solidFill>
                <a:effectLst/>
                <a:latin typeface="+mn-ea"/>
                <a:cs typeface="Times New Roman" panose="02020603050405020304" pitchFamily="18" charset="0"/>
              </a:rPr>
              <a:t>DevOps</a:t>
            </a:r>
            <a:r>
              <a:rPr lang="zh-CN" altLang="en-US" sz="1800" kern="100" dirty="0">
                <a:solidFill>
                  <a:schemeClr val="tx1"/>
                </a:solidFill>
                <a:effectLst/>
                <a:latin typeface="+mn-ea"/>
                <a:cs typeface="Times New Roman" panose="02020603050405020304" pitchFamily="18" charset="0"/>
              </a:rPr>
              <a:t>运动还主要停留在技术社区中的讨论， 探讨的一些开源工具也很少受厂商和分析师们的关注。直到</a:t>
            </a:r>
            <a:r>
              <a:rPr lang="en-US" altLang="zh-CN" sz="1800" kern="100" dirty="0">
                <a:solidFill>
                  <a:schemeClr val="tx1"/>
                </a:solidFill>
                <a:effectLst/>
                <a:latin typeface="+mn-ea"/>
                <a:cs typeface="Times New Roman" panose="02020603050405020304" pitchFamily="18" charset="0"/>
              </a:rPr>
              <a:t>2011</a:t>
            </a:r>
            <a:r>
              <a:rPr lang="zh-CN" altLang="en-US" sz="1800" kern="100" dirty="0">
                <a:solidFill>
                  <a:schemeClr val="tx1"/>
                </a:solidFill>
                <a:effectLst/>
                <a:latin typeface="+mn-ea"/>
                <a:cs typeface="Times New Roman" panose="02020603050405020304" pitchFamily="18" charset="0"/>
              </a:rPr>
              <a:t>年， </a:t>
            </a:r>
            <a:r>
              <a:rPr lang="en-US" altLang="zh-CN" sz="1800" kern="100" dirty="0">
                <a:solidFill>
                  <a:schemeClr val="tx1"/>
                </a:solidFill>
                <a:effectLst/>
                <a:latin typeface="+mn-ea"/>
                <a:cs typeface="Times New Roman" panose="02020603050405020304" pitchFamily="18" charset="0"/>
              </a:rPr>
              <a:t>DevOps </a:t>
            </a:r>
            <a:r>
              <a:rPr lang="zh-CN" altLang="en-US" sz="1800" kern="100" dirty="0">
                <a:solidFill>
                  <a:schemeClr val="tx1"/>
                </a:solidFill>
                <a:effectLst/>
                <a:latin typeface="+mn-ea"/>
                <a:cs typeface="Times New Roman" panose="02020603050405020304" pitchFamily="18" charset="0"/>
              </a:rPr>
              <a:t>突然受到</a:t>
            </a:r>
            <a:r>
              <a:rPr lang="en-US" altLang="zh-CN" sz="1800" kern="100" dirty="0">
                <a:solidFill>
                  <a:schemeClr val="tx1"/>
                </a:solidFill>
                <a:effectLst/>
                <a:latin typeface="+mn-ea"/>
                <a:cs typeface="Times New Roman" panose="02020603050405020304" pitchFamily="18" charset="0"/>
              </a:rPr>
              <a:t>Gartner</a:t>
            </a:r>
            <a:r>
              <a:rPr lang="zh-CN" altLang="en-US" sz="1800" kern="100" dirty="0">
                <a:solidFill>
                  <a:schemeClr val="tx1"/>
                </a:solidFill>
                <a:effectLst/>
                <a:latin typeface="+mn-ea"/>
                <a:cs typeface="Times New Roman" panose="02020603050405020304" pitchFamily="18" charset="0"/>
              </a:rPr>
              <a:t>分析师</a:t>
            </a:r>
            <a:r>
              <a:rPr lang="en-US" altLang="zh-CN" sz="1800" kern="100" dirty="0">
                <a:solidFill>
                  <a:schemeClr val="tx1"/>
                </a:solidFill>
                <a:effectLst/>
                <a:latin typeface="+mn-ea"/>
                <a:cs typeface="Times New Roman" panose="02020603050405020304" pitchFamily="18" charset="0"/>
              </a:rPr>
              <a:t>Cameron Haight </a:t>
            </a:r>
            <a:r>
              <a:rPr lang="zh-CN" altLang="en-US" sz="1800" kern="100" dirty="0">
                <a:solidFill>
                  <a:schemeClr val="tx1"/>
                </a:solidFill>
                <a:effectLst/>
                <a:latin typeface="+mn-ea"/>
                <a:cs typeface="Times New Roman" panose="02020603050405020304" pitchFamily="18" charset="0"/>
              </a:rPr>
              <a:t>和</a:t>
            </a:r>
            <a:r>
              <a:rPr lang="en-US" altLang="zh-CN" sz="1800" kern="100" dirty="0">
                <a:solidFill>
                  <a:schemeClr val="tx1"/>
                </a:solidFill>
                <a:effectLst/>
                <a:latin typeface="+mn-ea"/>
                <a:cs typeface="Times New Roman" panose="02020603050405020304" pitchFamily="18" charset="0"/>
              </a:rPr>
              <a:t>451 Research </a:t>
            </a:r>
            <a:r>
              <a:rPr lang="zh-CN" altLang="en-US" sz="1800" kern="100" dirty="0">
                <a:solidFill>
                  <a:schemeClr val="tx1"/>
                </a:solidFill>
                <a:effectLst/>
                <a:latin typeface="+mn-ea"/>
                <a:cs typeface="Times New Roman" panose="02020603050405020304" pitchFamily="18" charset="0"/>
              </a:rPr>
              <a:t>公司</a:t>
            </a:r>
            <a:r>
              <a:rPr lang="en-US" altLang="zh-CN" sz="1800" kern="100" dirty="0">
                <a:solidFill>
                  <a:schemeClr val="tx1"/>
                </a:solidFill>
                <a:effectLst/>
                <a:latin typeface="+mn-ea"/>
                <a:cs typeface="Times New Roman" panose="02020603050405020304" pitchFamily="18" charset="0"/>
              </a:rPr>
              <a:t>Jay Lyman </a:t>
            </a:r>
            <a:r>
              <a:rPr lang="zh-CN" altLang="en-US" sz="1800" kern="100" dirty="0">
                <a:solidFill>
                  <a:schemeClr val="tx1"/>
                </a:solidFill>
                <a:effectLst/>
                <a:latin typeface="+mn-ea"/>
                <a:cs typeface="Times New Roman" panose="02020603050405020304" pitchFamily="18" charset="0"/>
              </a:rPr>
              <a:t>等人的注意，他们开始正式研究这个市场。</a:t>
            </a:r>
            <a:endParaRPr lang="en-US" altLang="zh-CN" sz="1800" kern="100" dirty="0">
              <a:solidFill>
                <a:schemeClr val="tx1"/>
              </a:solidFill>
              <a:effectLst/>
              <a:latin typeface="+mn-ea"/>
              <a:cs typeface="Times New Roman" panose="02020603050405020304" pitchFamily="18" charset="0"/>
            </a:endParaRPr>
          </a:p>
        </p:txBody>
      </p:sp>
      <p:pic>
        <p:nvPicPr>
          <p:cNvPr id="43" name="图片 42">
            <a:extLst>
              <a:ext uri="{FF2B5EF4-FFF2-40B4-BE49-F238E27FC236}">
                <a16:creationId xmlns:a16="http://schemas.microsoft.com/office/drawing/2014/main" id="{43945EF7-F09D-4633-E9DA-8833CB16C6BD}"/>
              </a:ext>
            </a:extLst>
          </p:cNvPr>
          <p:cNvPicPr>
            <a:picLocks noChangeAspect="1"/>
          </p:cNvPicPr>
          <p:nvPr/>
        </p:nvPicPr>
        <p:blipFill>
          <a:blip r:embed="rId3"/>
          <a:stretch>
            <a:fillRect/>
          </a:stretch>
        </p:blipFill>
        <p:spPr>
          <a:xfrm>
            <a:off x="4766639" y="1442522"/>
            <a:ext cx="6865918" cy="5311303"/>
          </a:xfrm>
          <a:prstGeom prst="rect">
            <a:avLst/>
          </a:prstGeom>
        </p:spPr>
      </p:pic>
      <p:sp>
        <p:nvSpPr>
          <p:cNvPr id="3" name="灯片编号占位符 2">
            <a:extLst>
              <a:ext uri="{FF2B5EF4-FFF2-40B4-BE49-F238E27FC236}">
                <a16:creationId xmlns:a16="http://schemas.microsoft.com/office/drawing/2014/main" id="{0C4D3DC3-5F4F-CDAB-B556-1E2C7E577F01}"/>
              </a:ext>
            </a:extLst>
          </p:cNvPr>
          <p:cNvSpPr>
            <a:spLocks noGrp="1"/>
          </p:cNvSpPr>
          <p:nvPr>
            <p:ph type="sldNum" sz="quarter" idx="12"/>
          </p:nvPr>
        </p:nvSpPr>
        <p:spPr>
          <a:xfrm>
            <a:off x="9137021" y="6494335"/>
            <a:ext cx="2743200" cy="341761"/>
          </a:xfrm>
        </p:spPr>
        <p:txBody>
          <a:bodyPr/>
          <a:lstStyle/>
          <a:p>
            <a:fld id="{1AAC388E-FA9E-4A2C-95EA-1F6B3A07935A}" type="slidenum">
              <a:rPr lang="zh-CN" altLang="en-US" sz="1400" smtClean="0">
                <a:solidFill>
                  <a:srgbClr val="000000"/>
                </a:solidFill>
              </a:rPr>
              <a:t>42</a:t>
            </a:fld>
            <a:endParaRPr lang="zh-CN" altLang="en-US" sz="1400" dirty="0">
              <a:solidFill>
                <a:srgbClr val="000000"/>
              </a:solidFill>
            </a:endParaRPr>
          </a:p>
        </p:txBody>
      </p:sp>
    </p:spTree>
    <p:extLst>
      <p:ext uri="{BB962C8B-B14F-4D97-AF65-F5344CB8AC3E}">
        <p14:creationId xmlns:p14="http://schemas.microsoft.com/office/powerpoint/2010/main" val="38875068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02 DevOps</a:t>
            </a:r>
            <a:r>
              <a:rPr lang="zh-CN" altLang="en-US" dirty="0"/>
              <a:t>历史溯源</a:t>
            </a:r>
          </a:p>
        </p:txBody>
      </p:sp>
      <p:sp>
        <p:nvSpPr>
          <p:cNvPr id="30" name="文本框 29">
            <a:extLst>
              <a:ext uri="{FF2B5EF4-FFF2-40B4-BE49-F238E27FC236}">
                <a16:creationId xmlns:a16="http://schemas.microsoft.com/office/drawing/2014/main" id="{CF6170A3-D12F-935D-D836-CFA272127202}"/>
              </a:ext>
            </a:extLst>
          </p:cNvPr>
          <p:cNvSpPr txBox="1"/>
          <p:nvPr/>
        </p:nvSpPr>
        <p:spPr>
          <a:xfrm>
            <a:off x="718218" y="874354"/>
            <a:ext cx="4328344" cy="601075"/>
          </a:xfrm>
          <a:prstGeom prst="rect">
            <a:avLst/>
          </a:prstGeom>
          <a:noFill/>
        </p:spPr>
        <p:txBody>
          <a:bodyPr wrap="square" lIns="0" tIns="0" rIns="0" bIns="0" rtlCol="0" anchor="ctr">
            <a:noAutofit/>
          </a:bodyPr>
          <a:lstStyle>
            <a:defPPr>
              <a:defRPr lang="zh-CN"/>
            </a:defPPr>
            <a:lvl1pPr marL="285750" indent="-285750">
              <a:lnSpc>
                <a:spcPct val="125000"/>
              </a:lnSpc>
              <a:spcAft>
                <a:spcPts val="500"/>
              </a:spcAft>
              <a:buFont typeface="Wingdings" panose="05000000000000000000" pitchFamily="2" charset="2"/>
              <a:buChar char="p"/>
              <a:defRPr sz="2400">
                <a:solidFill>
                  <a:srgbClr val="003F88"/>
                </a:solidFill>
              </a:defRPr>
            </a:lvl1pPr>
          </a:lstStyle>
          <a:p>
            <a:r>
              <a:rPr lang="en-US" altLang="zh-CN" dirty="0"/>
              <a:t> </a:t>
            </a:r>
            <a:r>
              <a:rPr lang="zh-CN" altLang="en-US" dirty="0"/>
              <a:t>蓬勃发展阶段（</a:t>
            </a:r>
            <a:r>
              <a:rPr lang="en-US" altLang="zh-CN" dirty="0"/>
              <a:t>2013~</a:t>
            </a:r>
            <a:r>
              <a:rPr lang="zh-CN" altLang="en-US" dirty="0"/>
              <a:t>）</a:t>
            </a:r>
          </a:p>
        </p:txBody>
      </p:sp>
      <p:sp>
        <p:nvSpPr>
          <p:cNvPr id="4" name="object 2">
            <a:extLst>
              <a:ext uri="{FF2B5EF4-FFF2-40B4-BE49-F238E27FC236}">
                <a16:creationId xmlns:a16="http://schemas.microsoft.com/office/drawing/2014/main" id="{CDC61A3D-4586-FAD9-98BE-1FFFD1D8D0C7}"/>
              </a:ext>
            </a:extLst>
          </p:cNvPr>
          <p:cNvSpPr/>
          <p:nvPr/>
        </p:nvSpPr>
        <p:spPr>
          <a:xfrm>
            <a:off x="-29209" y="1790023"/>
            <a:ext cx="45719" cy="168809"/>
          </a:xfrm>
          <a:custGeom>
            <a:avLst/>
            <a:gdLst/>
            <a:ahLst/>
            <a:cxnLst/>
            <a:rect l="l" t="t" r="r" b="b"/>
            <a:pathLst>
              <a:path w="16510" h="60960">
                <a:moveTo>
                  <a:pt x="0" y="0"/>
                </a:moveTo>
                <a:lnTo>
                  <a:pt x="0" y="60700"/>
                </a:lnTo>
                <a:lnTo>
                  <a:pt x="5938" y="54761"/>
                </a:lnTo>
                <a:lnTo>
                  <a:pt x="13848" y="42876"/>
                </a:lnTo>
                <a:lnTo>
                  <a:pt x="16485" y="29353"/>
                </a:lnTo>
                <a:lnTo>
                  <a:pt x="13848" y="15831"/>
                </a:lnTo>
                <a:lnTo>
                  <a:pt x="5938" y="3947"/>
                </a:lnTo>
                <a:lnTo>
                  <a:pt x="0" y="0"/>
                </a:lnTo>
                <a:close/>
              </a:path>
            </a:pathLst>
          </a:custGeom>
          <a:solidFill>
            <a:srgbClr val="000000"/>
          </a:solidFill>
        </p:spPr>
        <p:txBody>
          <a:bodyPr wrap="square" lIns="0" tIns="0" rIns="0" bIns="0" rtlCol="0"/>
          <a:lstStyle/>
          <a:p>
            <a:endParaRPr/>
          </a:p>
        </p:txBody>
      </p:sp>
      <p:sp>
        <p:nvSpPr>
          <p:cNvPr id="16" name="文本框 15">
            <a:extLst>
              <a:ext uri="{FF2B5EF4-FFF2-40B4-BE49-F238E27FC236}">
                <a16:creationId xmlns:a16="http://schemas.microsoft.com/office/drawing/2014/main" id="{D1283D3A-6A15-CF74-DFCD-0716DB4AF150}"/>
              </a:ext>
            </a:extLst>
          </p:cNvPr>
          <p:cNvSpPr txBox="1"/>
          <p:nvPr/>
        </p:nvSpPr>
        <p:spPr>
          <a:xfrm>
            <a:off x="718218" y="1426642"/>
            <a:ext cx="6427221" cy="458908"/>
          </a:xfrm>
          <a:prstGeom prst="rect">
            <a:avLst/>
          </a:prstGeom>
          <a:noFill/>
        </p:spPr>
        <p:txBody>
          <a:bodyPr wrap="square">
            <a:spAutoFit/>
          </a:bodyPr>
          <a:lstStyle/>
          <a:p>
            <a:pPr marL="0" lvl="0" indent="0" algn="just">
              <a:lnSpc>
                <a:spcPct val="150000"/>
              </a:lnSpc>
              <a:buFont typeface="Arial" panose="020B0604020202020204" pitchFamily="34" charset="0"/>
            </a:pPr>
            <a:r>
              <a:rPr lang="zh-CN" altLang="en-US" sz="1800" kern="100" dirty="0">
                <a:solidFill>
                  <a:schemeClr val="tx1"/>
                </a:solidFill>
                <a:effectLst/>
                <a:latin typeface="+mn-ea"/>
                <a:cs typeface="Times New Roman" panose="02020603050405020304" pitchFamily="18" charset="0"/>
              </a:rPr>
              <a:t>越来越多的</a:t>
            </a:r>
            <a:r>
              <a:rPr lang="en-US" altLang="zh-CN" sz="1800" kern="100" dirty="0">
                <a:solidFill>
                  <a:schemeClr val="tx1"/>
                </a:solidFill>
                <a:effectLst/>
                <a:latin typeface="+mn-ea"/>
                <a:cs typeface="Times New Roman" panose="02020603050405020304" pitchFamily="18" charset="0"/>
              </a:rPr>
              <a:t>DevOps</a:t>
            </a:r>
            <a:r>
              <a:rPr lang="zh-CN" altLang="en-US" sz="1800" kern="100" dirty="0">
                <a:solidFill>
                  <a:schemeClr val="tx1"/>
                </a:solidFill>
                <a:effectLst/>
                <a:latin typeface="+mn-ea"/>
                <a:cs typeface="Times New Roman" panose="02020603050405020304" pitchFamily="18" charset="0"/>
              </a:rPr>
              <a:t>工具如雨后春笋般涌现出来。</a:t>
            </a:r>
            <a:endParaRPr lang="en-US" altLang="zh-CN" sz="1800" kern="100" dirty="0">
              <a:solidFill>
                <a:schemeClr val="tx1"/>
              </a:solidFill>
              <a:effectLst/>
              <a:latin typeface="+mn-ea"/>
              <a:cs typeface="Times New Roman" panose="02020603050405020304" pitchFamily="18" charset="0"/>
            </a:endParaRPr>
          </a:p>
        </p:txBody>
      </p:sp>
      <p:pic>
        <p:nvPicPr>
          <p:cNvPr id="44" name="object 44">
            <a:extLst>
              <a:ext uri="{FF2B5EF4-FFF2-40B4-BE49-F238E27FC236}">
                <a16:creationId xmlns:a16="http://schemas.microsoft.com/office/drawing/2014/main" id="{1C00EBB1-68ED-28D7-C554-2C5175E359D2}"/>
              </a:ext>
            </a:extLst>
          </p:cNvPr>
          <p:cNvPicPr/>
          <p:nvPr/>
        </p:nvPicPr>
        <p:blipFill>
          <a:blip r:embed="rId3" cstate="print"/>
          <a:stretch>
            <a:fillRect/>
          </a:stretch>
        </p:blipFill>
        <p:spPr>
          <a:xfrm>
            <a:off x="2225195" y="5764993"/>
            <a:ext cx="1207501" cy="861232"/>
          </a:xfrm>
          <a:prstGeom prst="rect">
            <a:avLst/>
          </a:prstGeom>
        </p:spPr>
      </p:pic>
      <p:pic>
        <p:nvPicPr>
          <p:cNvPr id="45" name="object 48">
            <a:extLst>
              <a:ext uri="{FF2B5EF4-FFF2-40B4-BE49-F238E27FC236}">
                <a16:creationId xmlns:a16="http://schemas.microsoft.com/office/drawing/2014/main" id="{8CE47BB7-33D8-3636-8D58-B499B2EB01BB}"/>
              </a:ext>
            </a:extLst>
          </p:cNvPr>
          <p:cNvPicPr/>
          <p:nvPr/>
        </p:nvPicPr>
        <p:blipFill>
          <a:blip r:embed="rId4" cstate="print"/>
          <a:stretch>
            <a:fillRect/>
          </a:stretch>
        </p:blipFill>
        <p:spPr>
          <a:xfrm>
            <a:off x="11123301" y="1885550"/>
            <a:ext cx="957016" cy="957075"/>
          </a:xfrm>
          <a:prstGeom prst="rect">
            <a:avLst/>
          </a:prstGeom>
        </p:spPr>
      </p:pic>
      <p:pic>
        <p:nvPicPr>
          <p:cNvPr id="46" name="object 60">
            <a:extLst>
              <a:ext uri="{FF2B5EF4-FFF2-40B4-BE49-F238E27FC236}">
                <a16:creationId xmlns:a16="http://schemas.microsoft.com/office/drawing/2014/main" id="{B9FB9EB0-12FB-44AE-4F2F-8B56183DD278}"/>
              </a:ext>
            </a:extLst>
          </p:cNvPr>
          <p:cNvPicPr/>
          <p:nvPr/>
        </p:nvPicPr>
        <p:blipFill>
          <a:blip r:embed="rId5" cstate="print"/>
          <a:stretch>
            <a:fillRect/>
          </a:stretch>
        </p:blipFill>
        <p:spPr>
          <a:xfrm>
            <a:off x="350388" y="5674368"/>
            <a:ext cx="1402833" cy="639266"/>
          </a:xfrm>
          <a:prstGeom prst="rect">
            <a:avLst/>
          </a:prstGeom>
        </p:spPr>
      </p:pic>
      <p:pic>
        <p:nvPicPr>
          <p:cNvPr id="47" name="object 59">
            <a:extLst>
              <a:ext uri="{FF2B5EF4-FFF2-40B4-BE49-F238E27FC236}">
                <a16:creationId xmlns:a16="http://schemas.microsoft.com/office/drawing/2014/main" id="{E550594B-B6AB-6581-DBCE-E525D6A31575}"/>
              </a:ext>
            </a:extLst>
          </p:cNvPr>
          <p:cNvPicPr/>
          <p:nvPr/>
        </p:nvPicPr>
        <p:blipFill>
          <a:blip r:embed="rId6" cstate="print"/>
          <a:stretch>
            <a:fillRect/>
          </a:stretch>
        </p:blipFill>
        <p:spPr>
          <a:xfrm>
            <a:off x="4291505" y="2098985"/>
            <a:ext cx="1509377" cy="408420"/>
          </a:xfrm>
          <a:prstGeom prst="rect">
            <a:avLst/>
          </a:prstGeom>
        </p:spPr>
      </p:pic>
      <p:pic>
        <p:nvPicPr>
          <p:cNvPr id="48" name="object 36">
            <a:extLst>
              <a:ext uri="{FF2B5EF4-FFF2-40B4-BE49-F238E27FC236}">
                <a16:creationId xmlns:a16="http://schemas.microsoft.com/office/drawing/2014/main" id="{D686CDA9-7AC2-CC65-B2BD-B4A46A8C4ECA}"/>
              </a:ext>
            </a:extLst>
          </p:cNvPr>
          <p:cNvPicPr/>
          <p:nvPr/>
        </p:nvPicPr>
        <p:blipFill>
          <a:blip r:embed="rId7" cstate="print"/>
          <a:stretch>
            <a:fillRect/>
          </a:stretch>
        </p:blipFill>
        <p:spPr>
          <a:xfrm>
            <a:off x="6339232" y="1253777"/>
            <a:ext cx="4856642" cy="878990"/>
          </a:xfrm>
          <a:prstGeom prst="rect">
            <a:avLst/>
          </a:prstGeom>
        </p:spPr>
      </p:pic>
      <p:pic>
        <p:nvPicPr>
          <p:cNvPr id="49" name="object 37">
            <a:extLst>
              <a:ext uri="{FF2B5EF4-FFF2-40B4-BE49-F238E27FC236}">
                <a16:creationId xmlns:a16="http://schemas.microsoft.com/office/drawing/2014/main" id="{ED1E978D-3443-1464-C599-878912266315}"/>
              </a:ext>
            </a:extLst>
          </p:cNvPr>
          <p:cNvPicPr/>
          <p:nvPr/>
        </p:nvPicPr>
        <p:blipFill>
          <a:blip r:embed="rId8" cstate="print"/>
          <a:stretch>
            <a:fillRect/>
          </a:stretch>
        </p:blipFill>
        <p:spPr>
          <a:xfrm>
            <a:off x="3904095" y="5476408"/>
            <a:ext cx="2876695" cy="799082"/>
          </a:xfrm>
          <a:prstGeom prst="rect">
            <a:avLst/>
          </a:prstGeom>
        </p:spPr>
      </p:pic>
      <p:pic>
        <p:nvPicPr>
          <p:cNvPr id="50" name="object 41">
            <a:extLst>
              <a:ext uri="{FF2B5EF4-FFF2-40B4-BE49-F238E27FC236}">
                <a16:creationId xmlns:a16="http://schemas.microsoft.com/office/drawing/2014/main" id="{CF647746-4546-4251-74B3-08D984455A11}"/>
              </a:ext>
            </a:extLst>
          </p:cNvPr>
          <p:cNvPicPr/>
          <p:nvPr/>
        </p:nvPicPr>
        <p:blipFill>
          <a:blip r:embed="rId9" cstate="print"/>
          <a:stretch>
            <a:fillRect/>
          </a:stretch>
        </p:blipFill>
        <p:spPr>
          <a:xfrm>
            <a:off x="6574966" y="6255357"/>
            <a:ext cx="1509377" cy="435056"/>
          </a:xfrm>
          <a:prstGeom prst="rect">
            <a:avLst/>
          </a:prstGeom>
        </p:spPr>
      </p:pic>
      <p:pic>
        <p:nvPicPr>
          <p:cNvPr id="51" name="object 49">
            <a:extLst>
              <a:ext uri="{FF2B5EF4-FFF2-40B4-BE49-F238E27FC236}">
                <a16:creationId xmlns:a16="http://schemas.microsoft.com/office/drawing/2014/main" id="{48581F0B-264B-86A3-CD55-B94484298B90}"/>
              </a:ext>
            </a:extLst>
          </p:cNvPr>
          <p:cNvPicPr/>
          <p:nvPr/>
        </p:nvPicPr>
        <p:blipFill>
          <a:blip r:embed="rId10" cstate="print"/>
          <a:stretch>
            <a:fillRect/>
          </a:stretch>
        </p:blipFill>
        <p:spPr>
          <a:xfrm>
            <a:off x="47204" y="2929028"/>
            <a:ext cx="2494911" cy="399541"/>
          </a:xfrm>
          <a:prstGeom prst="rect">
            <a:avLst/>
          </a:prstGeom>
        </p:spPr>
      </p:pic>
      <p:pic>
        <p:nvPicPr>
          <p:cNvPr id="54" name="object 57">
            <a:extLst>
              <a:ext uri="{FF2B5EF4-FFF2-40B4-BE49-F238E27FC236}">
                <a16:creationId xmlns:a16="http://schemas.microsoft.com/office/drawing/2014/main" id="{08C41D97-F1AF-06DF-FFD2-CE03F026E3B9}"/>
              </a:ext>
            </a:extLst>
          </p:cNvPr>
          <p:cNvPicPr/>
          <p:nvPr/>
        </p:nvPicPr>
        <p:blipFill>
          <a:blip r:embed="rId11" cstate="print"/>
          <a:stretch>
            <a:fillRect/>
          </a:stretch>
        </p:blipFill>
        <p:spPr>
          <a:xfrm>
            <a:off x="3561284" y="6365792"/>
            <a:ext cx="2237429" cy="497206"/>
          </a:xfrm>
          <a:prstGeom prst="rect">
            <a:avLst/>
          </a:prstGeom>
        </p:spPr>
      </p:pic>
      <p:pic>
        <p:nvPicPr>
          <p:cNvPr id="55" name="object 58">
            <a:extLst>
              <a:ext uri="{FF2B5EF4-FFF2-40B4-BE49-F238E27FC236}">
                <a16:creationId xmlns:a16="http://schemas.microsoft.com/office/drawing/2014/main" id="{0802F907-2E40-7007-9702-7C63CA942A5F}"/>
              </a:ext>
            </a:extLst>
          </p:cNvPr>
          <p:cNvPicPr/>
          <p:nvPr/>
        </p:nvPicPr>
        <p:blipFill>
          <a:blip r:embed="rId12" cstate="print"/>
          <a:stretch>
            <a:fillRect/>
          </a:stretch>
        </p:blipFill>
        <p:spPr>
          <a:xfrm>
            <a:off x="8459666" y="4169734"/>
            <a:ext cx="1829010" cy="470571"/>
          </a:xfrm>
          <a:prstGeom prst="rect">
            <a:avLst/>
          </a:prstGeom>
        </p:spPr>
      </p:pic>
      <p:pic>
        <p:nvPicPr>
          <p:cNvPr id="56" name="object 35">
            <a:extLst>
              <a:ext uri="{FF2B5EF4-FFF2-40B4-BE49-F238E27FC236}">
                <a16:creationId xmlns:a16="http://schemas.microsoft.com/office/drawing/2014/main" id="{812C5ACB-DF3B-F07E-BD9A-0D2E84B9502B}"/>
              </a:ext>
            </a:extLst>
          </p:cNvPr>
          <p:cNvPicPr/>
          <p:nvPr/>
        </p:nvPicPr>
        <p:blipFill>
          <a:blip r:embed="rId13" cstate="print"/>
          <a:stretch>
            <a:fillRect/>
          </a:stretch>
        </p:blipFill>
        <p:spPr>
          <a:xfrm>
            <a:off x="8556317" y="5752709"/>
            <a:ext cx="3427173" cy="932262"/>
          </a:xfrm>
          <a:prstGeom prst="rect">
            <a:avLst/>
          </a:prstGeom>
        </p:spPr>
      </p:pic>
      <p:pic>
        <p:nvPicPr>
          <p:cNvPr id="57" name="object 50">
            <a:extLst>
              <a:ext uri="{FF2B5EF4-FFF2-40B4-BE49-F238E27FC236}">
                <a16:creationId xmlns:a16="http://schemas.microsoft.com/office/drawing/2014/main" id="{3787C5ED-4BE7-09E9-9E3D-9C1898DFB8A5}"/>
              </a:ext>
            </a:extLst>
          </p:cNvPr>
          <p:cNvPicPr/>
          <p:nvPr/>
        </p:nvPicPr>
        <p:blipFill>
          <a:blip r:embed="rId14" cstate="print"/>
          <a:stretch>
            <a:fillRect/>
          </a:stretch>
        </p:blipFill>
        <p:spPr>
          <a:xfrm>
            <a:off x="500018" y="3544075"/>
            <a:ext cx="1589285" cy="603751"/>
          </a:xfrm>
          <a:prstGeom prst="rect">
            <a:avLst/>
          </a:prstGeom>
        </p:spPr>
      </p:pic>
      <p:pic>
        <p:nvPicPr>
          <p:cNvPr id="58" name="object 55">
            <a:extLst>
              <a:ext uri="{FF2B5EF4-FFF2-40B4-BE49-F238E27FC236}">
                <a16:creationId xmlns:a16="http://schemas.microsoft.com/office/drawing/2014/main" id="{2154F4C1-14A0-9D95-1DDA-4B936F3892F9}"/>
              </a:ext>
            </a:extLst>
          </p:cNvPr>
          <p:cNvPicPr/>
          <p:nvPr/>
        </p:nvPicPr>
        <p:blipFill>
          <a:blip r:embed="rId15" cstate="print"/>
          <a:stretch>
            <a:fillRect/>
          </a:stretch>
        </p:blipFill>
        <p:spPr>
          <a:xfrm>
            <a:off x="7445902" y="4769093"/>
            <a:ext cx="3089783" cy="781324"/>
          </a:xfrm>
          <a:prstGeom prst="rect">
            <a:avLst/>
          </a:prstGeom>
        </p:spPr>
      </p:pic>
      <p:pic>
        <p:nvPicPr>
          <p:cNvPr id="59" name="object 56">
            <a:extLst>
              <a:ext uri="{FF2B5EF4-FFF2-40B4-BE49-F238E27FC236}">
                <a16:creationId xmlns:a16="http://schemas.microsoft.com/office/drawing/2014/main" id="{15DB3258-5DFA-6E0A-F0E2-849B6EAA0228}"/>
              </a:ext>
            </a:extLst>
          </p:cNvPr>
          <p:cNvPicPr/>
          <p:nvPr/>
        </p:nvPicPr>
        <p:blipFill>
          <a:blip r:embed="rId16" cstate="print"/>
          <a:stretch>
            <a:fillRect/>
          </a:stretch>
        </p:blipFill>
        <p:spPr>
          <a:xfrm>
            <a:off x="507096" y="2206641"/>
            <a:ext cx="1163108" cy="506085"/>
          </a:xfrm>
          <a:prstGeom prst="rect">
            <a:avLst/>
          </a:prstGeom>
        </p:spPr>
      </p:pic>
      <p:pic>
        <p:nvPicPr>
          <p:cNvPr id="60" name="object 32">
            <a:extLst>
              <a:ext uri="{FF2B5EF4-FFF2-40B4-BE49-F238E27FC236}">
                <a16:creationId xmlns:a16="http://schemas.microsoft.com/office/drawing/2014/main" id="{16A1C6DE-0A44-6BC0-649B-892B1F7C440D}"/>
              </a:ext>
            </a:extLst>
          </p:cNvPr>
          <p:cNvPicPr/>
          <p:nvPr/>
        </p:nvPicPr>
        <p:blipFill>
          <a:blip r:embed="rId17" cstate="print"/>
          <a:stretch>
            <a:fillRect/>
          </a:stretch>
        </p:blipFill>
        <p:spPr>
          <a:xfrm>
            <a:off x="2707790" y="2393997"/>
            <a:ext cx="1775737" cy="1775737"/>
          </a:xfrm>
          <a:prstGeom prst="rect">
            <a:avLst/>
          </a:prstGeom>
        </p:spPr>
      </p:pic>
      <p:pic>
        <p:nvPicPr>
          <p:cNvPr id="61" name="object 34">
            <a:extLst>
              <a:ext uri="{FF2B5EF4-FFF2-40B4-BE49-F238E27FC236}">
                <a16:creationId xmlns:a16="http://schemas.microsoft.com/office/drawing/2014/main" id="{949F13AA-CE45-F7FA-BA1F-A7DC3501DA08}"/>
              </a:ext>
            </a:extLst>
          </p:cNvPr>
          <p:cNvPicPr/>
          <p:nvPr/>
        </p:nvPicPr>
        <p:blipFill>
          <a:blip r:embed="rId18" cstate="print"/>
          <a:stretch>
            <a:fillRect/>
          </a:stretch>
        </p:blipFill>
        <p:spPr>
          <a:xfrm>
            <a:off x="5158437" y="2543990"/>
            <a:ext cx="1873403" cy="1480874"/>
          </a:xfrm>
          <a:prstGeom prst="rect">
            <a:avLst/>
          </a:prstGeom>
        </p:spPr>
      </p:pic>
      <p:pic>
        <p:nvPicPr>
          <p:cNvPr id="62" name="object 38">
            <a:extLst>
              <a:ext uri="{FF2B5EF4-FFF2-40B4-BE49-F238E27FC236}">
                <a16:creationId xmlns:a16="http://schemas.microsoft.com/office/drawing/2014/main" id="{CF75F41E-C644-2A5C-76EC-718293A778DB}"/>
              </a:ext>
            </a:extLst>
          </p:cNvPr>
          <p:cNvPicPr/>
          <p:nvPr/>
        </p:nvPicPr>
        <p:blipFill>
          <a:blip r:embed="rId19" cstate="print"/>
          <a:stretch>
            <a:fillRect/>
          </a:stretch>
        </p:blipFill>
        <p:spPr>
          <a:xfrm>
            <a:off x="10503267" y="3429000"/>
            <a:ext cx="1420590" cy="1251895"/>
          </a:xfrm>
          <a:prstGeom prst="rect">
            <a:avLst/>
          </a:prstGeom>
        </p:spPr>
      </p:pic>
      <p:pic>
        <p:nvPicPr>
          <p:cNvPr id="63" name="object 39">
            <a:extLst>
              <a:ext uri="{FF2B5EF4-FFF2-40B4-BE49-F238E27FC236}">
                <a16:creationId xmlns:a16="http://schemas.microsoft.com/office/drawing/2014/main" id="{34AE365B-57A1-68C6-99C0-573DD83FD036}"/>
              </a:ext>
            </a:extLst>
          </p:cNvPr>
          <p:cNvPicPr/>
          <p:nvPr/>
        </p:nvPicPr>
        <p:blipFill>
          <a:blip r:embed="rId20" cstate="print"/>
          <a:stretch>
            <a:fillRect/>
          </a:stretch>
        </p:blipFill>
        <p:spPr>
          <a:xfrm>
            <a:off x="7848540" y="2399541"/>
            <a:ext cx="2654727" cy="985534"/>
          </a:xfrm>
          <a:prstGeom prst="rect">
            <a:avLst/>
          </a:prstGeom>
        </p:spPr>
      </p:pic>
      <p:pic>
        <p:nvPicPr>
          <p:cNvPr id="64" name="object 43">
            <a:extLst>
              <a:ext uri="{FF2B5EF4-FFF2-40B4-BE49-F238E27FC236}">
                <a16:creationId xmlns:a16="http://schemas.microsoft.com/office/drawing/2014/main" id="{3F6A007F-43F0-14D7-2C46-F437F623EC7D}"/>
              </a:ext>
            </a:extLst>
          </p:cNvPr>
          <p:cNvPicPr/>
          <p:nvPr/>
        </p:nvPicPr>
        <p:blipFill>
          <a:blip r:embed="rId21" cstate="print"/>
          <a:stretch>
            <a:fillRect/>
          </a:stretch>
        </p:blipFill>
        <p:spPr>
          <a:xfrm>
            <a:off x="510818" y="4436087"/>
            <a:ext cx="3586990" cy="950020"/>
          </a:xfrm>
          <a:prstGeom prst="rect">
            <a:avLst/>
          </a:prstGeom>
        </p:spPr>
      </p:pic>
      <p:pic>
        <p:nvPicPr>
          <p:cNvPr id="65" name="object 46">
            <a:extLst>
              <a:ext uri="{FF2B5EF4-FFF2-40B4-BE49-F238E27FC236}">
                <a16:creationId xmlns:a16="http://schemas.microsoft.com/office/drawing/2014/main" id="{4A653068-36DE-0914-91B7-7F36766F58F0}"/>
              </a:ext>
            </a:extLst>
          </p:cNvPr>
          <p:cNvPicPr/>
          <p:nvPr/>
        </p:nvPicPr>
        <p:blipFill>
          <a:blip r:embed="rId22" cstate="print"/>
          <a:stretch>
            <a:fillRect/>
          </a:stretch>
        </p:blipFill>
        <p:spPr>
          <a:xfrm>
            <a:off x="5641176" y="4436087"/>
            <a:ext cx="1243016" cy="932262"/>
          </a:xfrm>
          <a:prstGeom prst="rect">
            <a:avLst/>
          </a:prstGeom>
        </p:spPr>
      </p:pic>
      <p:pic>
        <p:nvPicPr>
          <p:cNvPr id="66" name="object 61">
            <a:extLst>
              <a:ext uri="{FF2B5EF4-FFF2-40B4-BE49-F238E27FC236}">
                <a16:creationId xmlns:a16="http://schemas.microsoft.com/office/drawing/2014/main" id="{5A480ACB-4A48-E533-86CE-7083A9CF5CB9}"/>
              </a:ext>
            </a:extLst>
          </p:cNvPr>
          <p:cNvPicPr/>
          <p:nvPr/>
        </p:nvPicPr>
        <p:blipFill>
          <a:blip r:embed="rId23" cstate="print"/>
          <a:stretch>
            <a:fillRect/>
          </a:stretch>
        </p:blipFill>
        <p:spPr>
          <a:xfrm>
            <a:off x="7928517" y="3736644"/>
            <a:ext cx="1678072" cy="364026"/>
          </a:xfrm>
          <a:prstGeom prst="rect">
            <a:avLst/>
          </a:prstGeom>
        </p:spPr>
      </p:pic>
      <p:sp>
        <p:nvSpPr>
          <p:cNvPr id="67" name="灯片编号占位符 2">
            <a:extLst>
              <a:ext uri="{FF2B5EF4-FFF2-40B4-BE49-F238E27FC236}">
                <a16:creationId xmlns:a16="http://schemas.microsoft.com/office/drawing/2014/main" id="{1906D4D8-9640-A791-8B39-2CF658428D69}"/>
              </a:ext>
            </a:extLst>
          </p:cNvPr>
          <p:cNvSpPr>
            <a:spLocks noGrp="1"/>
          </p:cNvSpPr>
          <p:nvPr>
            <p:ph type="sldNum" sz="quarter" idx="12"/>
          </p:nvPr>
        </p:nvSpPr>
        <p:spPr>
          <a:xfrm>
            <a:off x="9137021" y="6494335"/>
            <a:ext cx="2743200" cy="341761"/>
          </a:xfrm>
        </p:spPr>
        <p:txBody>
          <a:bodyPr/>
          <a:lstStyle/>
          <a:p>
            <a:fld id="{1AAC388E-FA9E-4A2C-95EA-1F6B3A07935A}" type="slidenum">
              <a:rPr lang="zh-CN" altLang="en-US" sz="1400" smtClean="0">
                <a:solidFill>
                  <a:srgbClr val="000000"/>
                </a:solidFill>
              </a:rPr>
              <a:t>43</a:t>
            </a:fld>
            <a:endParaRPr lang="zh-CN" altLang="en-US" sz="1400" dirty="0">
              <a:solidFill>
                <a:srgbClr val="000000"/>
              </a:solidFill>
            </a:endParaRPr>
          </a:p>
        </p:txBody>
      </p:sp>
    </p:spTree>
    <p:extLst>
      <p:ext uri="{BB962C8B-B14F-4D97-AF65-F5344CB8AC3E}">
        <p14:creationId xmlns:p14="http://schemas.microsoft.com/office/powerpoint/2010/main" val="4691311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par>
                                <p:cTn id="8" presetID="14" presetClass="entr" presetSubtype="10" fill="hold" nodeType="withEffect">
                                  <p:stCondLst>
                                    <p:cond delay="0"/>
                                  </p:stCondLst>
                                  <p:childTnLst>
                                    <p:set>
                                      <p:cBhvr>
                                        <p:cTn id="9" dur="1" fill="hold">
                                          <p:stCondLst>
                                            <p:cond delay="0"/>
                                          </p:stCondLst>
                                        </p:cTn>
                                        <p:tgtEl>
                                          <p:spTgt spid="44"/>
                                        </p:tgtEl>
                                        <p:attrNameLst>
                                          <p:attrName>style.visibility</p:attrName>
                                        </p:attrNameLst>
                                      </p:cBhvr>
                                      <p:to>
                                        <p:strVal val="visible"/>
                                      </p:to>
                                    </p:set>
                                    <p:animEffect transition="in" filter="randombar(horizontal)">
                                      <p:cBhvr>
                                        <p:cTn id="10" dur="500"/>
                                        <p:tgtEl>
                                          <p:spTgt spid="44"/>
                                        </p:tgtEl>
                                      </p:cBhvr>
                                    </p:animEffect>
                                  </p:childTnLst>
                                </p:cTn>
                              </p:par>
                              <p:par>
                                <p:cTn id="11" presetID="14" presetClass="entr" presetSubtype="10" fill="hold" nodeType="withEffect">
                                  <p:stCondLst>
                                    <p:cond delay="0"/>
                                  </p:stCondLst>
                                  <p:childTnLst>
                                    <p:set>
                                      <p:cBhvr>
                                        <p:cTn id="12" dur="1" fill="hold">
                                          <p:stCondLst>
                                            <p:cond delay="0"/>
                                          </p:stCondLst>
                                        </p:cTn>
                                        <p:tgtEl>
                                          <p:spTgt spid="45"/>
                                        </p:tgtEl>
                                        <p:attrNameLst>
                                          <p:attrName>style.visibility</p:attrName>
                                        </p:attrNameLst>
                                      </p:cBhvr>
                                      <p:to>
                                        <p:strVal val="visible"/>
                                      </p:to>
                                    </p:set>
                                    <p:animEffect transition="in" filter="randombar(horizontal)">
                                      <p:cBhvr>
                                        <p:cTn id="13" dur="500"/>
                                        <p:tgtEl>
                                          <p:spTgt spid="45"/>
                                        </p:tgtEl>
                                      </p:cBhvr>
                                    </p:animEffect>
                                  </p:childTnLst>
                                </p:cTn>
                              </p:par>
                              <p:par>
                                <p:cTn id="14" presetID="14" presetClass="entr" presetSubtype="10" fill="hold" nodeType="withEffect">
                                  <p:stCondLst>
                                    <p:cond delay="0"/>
                                  </p:stCondLst>
                                  <p:childTnLst>
                                    <p:set>
                                      <p:cBhvr>
                                        <p:cTn id="15" dur="1" fill="hold">
                                          <p:stCondLst>
                                            <p:cond delay="0"/>
                                          </p:stCondLst>
                                        </p:cTn>
                                        <p:tgtEl>
                                          <p:spTgt spid="47"/>
                                        </p:tgtEl>
                                        <p:attrNameLst>
                                          <p:attrName>style.visibility</p:attrName>
                                        </p:attrNameLst>
                                      </p:cBhvr>
                                      <p:to>
                                        <p:strVal val="visible"/>
                                      </p:to>
                                    </p:set>
                                    <p:animEffect transition="in" filter="randombar(horizontal)">
                                      <p:cBhvr>
                                        <p:cTn id="16" dur="500"/>
                                        <p:tgtEl>
                                          <p:spTgt spid="47"/>
                                        </p:tgtEl>
                                      </p:cBhvr>
                                    </p:animEffect>
                                  </p:childTnLst>
                                </p:cTn>
                              </p:par>
                              <p:par>
                                <p:cTn id="17" presetID="14" presetClass="entr" presetSubtype="10" fill="hold" nodeType="withEffect">
                                  <p:stCondLst>
                                    <p:cond delay="0"/>
                                  </p:stCondLst>
                                  <p:childTnLst>
                                    <p:set>
                                      <p:cBhvr>
                                        <p:cTn id="18" dur="1" fill="hold">
                                          <p:stCondLst>
                                            <p:cond delay="0"/>
                                          </p:stCondLst>
                                        </p:cTn>
                                        <p:tgtEl>
                                          <p:spTgt spid="48"/>
                                        </p:tgtEl>
                                        <p:attrNameLst>
                                          <p:attrName>style.visibility</p:attrName>
                                        </p:attrNameLst>
                                      </p:cBhvr>
                                      <p:to>
                                        <p:strVal val="visible"/>
                                      </p:to>
                                    </p:set>
                                    <p:animEffect transition="in" filter="randombar(horizontal)">
                                      <p:cBhvr>
                                        <p:cTn id="19" dur="500"/>
                                        <p:tgtEl>
                                          <p:spTgt spid="48"/>
                                        </p:tgtEl>
                                      </p:cBhvr>
                                    </p:animEffect>
                                  </p:childTnLst>
                                </p:cTn>
                              </p:par>
                              <p:par>
                                <p:cTn id="20" presetID="14" presetClass="entr" presetSubtype="10" fill="hold" nodeType="withEffect">
                                  <p:stCondLst>
                                    <p:cond delay="0"/>
                                  </p:stCondLst>
                                  <p:childTnLst>
                                    <p:set>
                                      <p:cBhvr>
                                        <p:cTn id="21" dur="1" fill="hold">
                                          <p:stCondLst>
                                            <p:cond delay="0"/>
                                          </p:stCondLst>
                                        </p:cTn>
                                        <p:tgtEl>
                                          <p:spTgt spid="49"/>
                                        </p:tgtEl>
                                        <p:attrNameLst>
                                          <p:attrName>style.visibility</p:attrName>
                                        </p:attrNameLst>
                                      </p:cBhvr>
                                      <p:to>
                                        <p:strVal val="visible"/>
                                      </p:to>
                                    </p:set>
                                    <p:animEffect transition="in" filter="randombar(horizontal)">
                                      <p:cBhvr>
                                        <p:cTn id="22" dur="500"/>
                                        <p:tgtEl>
                                          <p:spTgt spid="49"/>
                                        </p:tgtEl>
                                      </p:cBhvr>
                                    </p:animEffect>
                                  </p:childTnLst>
                                </p:cTn>
                              </p:par>
                              <p:par>
                                <p:cTn id="23" presetID="14" presetClass="entr" presetSubtype="10" fill="hold" nodeType="withEffect">
                                  <p:stCondLst>
                                    <p:cond delay="0"/>
                                  </p:stCondLst>
                                  <p:childTnLst>
                                    <p:set>
                                      <p:cBhvr>
                                        <p:cTn id="24" dur="1" fill="hold">
                                          <p:stCondLst>
                                            <p:cond delay="0"/>
                                          </p:stCondLst>
                                        </p:cTn>
                                        <p:tgtEl>
                                          <p:spTgt spid="50"/>
                                        </p:tgtEl>
                                        <p:attrNameLst>
                                          <p:attrName>style.visibility</p:attrName>
                                        </p:attrNameLst>
                                      </p:cBhvr>
                                      <p:to>
                                        <p:strVal val="visible"/>
                                      </p:to>
                                    </p:set>
                                    <p:animEffect transition="in" filter="randombar(horizontal)">
                                      <p:cBhvr>
                                        <p:cTn id="25" dur="500"/>
                                        <p:tgtEl>
                                          <p:spTgt spid="50"/>
                                        </p:tgtEl>
                                      </p:cBhvr>
                                    </p:animEffect>
                                  </p:childTnLst>
                                </p:cTn>
                              </p:par>
                              <p:par>
                                <p:cTn id="26" presetID="14" presetClass="entr" presetSubtype="10" fill="hold" nodeType="withEffect">
                                  <p:stCondLst>
                                    <p:cond delay="0"/>
                                  </p:stCondLst>
                                  <p:childTnLst>
                                    <p:set>
                                      <p:cBhvr>
                                        <p:cTn id="27" dur="1" fill="hold">
                                          <p:stCondLst>
                                            <p:cond delay="0"/>
                                          </p:stCondLst>
                                        </p:cTn>
                                        <p:tgtEl>
                                          <p:spTgt spid="51"/>
                                        </p:tgtEl>
                                        <p:attrNameLst>
                                          <p:attrName>style.visibility</p:attrName>
                                        </p:attrNameLst>
                                      </p:cBhvr>
                                      <p:to>
                                        <p:strVal val="visible"/>
                                      </p:to>
                                    </p:set>
                                    <p:animEffect transition="in" filter="randombar(horizontal)">
                                      <p:cBhvr>
                                        <p:cTn id="28" dur="500"/>
                                        <p:tgtEl>
                                          <p:spTgt spid="51"/>
                                        </p:tgtEl>
                                      </p:cBhvr>
                                    </p:animEffect>
                                  </p:childTnLst>
                                </p:cTn>
                              </p:par>
                              <p:par>
                                <p:cTn id="29" presetID="14" presetClass="entr" presetSubtype="10" fill="hold" nodeType="withEffect">
                                  <p:stCondLst>
                                    <p:cond delay="0"/>
                                  </p:stCondLst>
                                  <p:childTnLst>
                                    <p:set>
                                      <p:cBhvr>
                                        <p:cTn id="30" dur="1" fill="hold">
                                          <p:stCondLst>
                                            <p:cond delay="0"/>
                                          </p:stCondLst>
                                        </p:cTn>
                                        <p:tgtEl>
                                          <p:spTgt spid="54"/>
                                        </p:tgtEl>
                                        <p:attrNameLst>
                                          <p:attrName>style.visibility</p:attrName>
                                        </p:attrNameLst>
                                      </p:cBhvr>
                                      <p:to>
                                        <p:strVal val="visible"/>
                                      </p:to>
                                    </p:set>
                                    <p:animEffect transition="in" filter="randombar(horizontal)">
                                      <p:cBhvr>
                                        <p:cTn id="31" dur="500"/>
                                        <p:tgtEl>
                                          <p:spTgt spid="54"/>
                                        </p:tgtEl>
                                      </p:cBhvr>
                                    </p:animEffect>
                                  </p:childTnLst>
                                </p:cTn>
                              </p:par>
                              <p:par>
                                <p:cTn id="32" presetID="14" presetClass="entr" presetSubtype="10" fill="hold" nodeType="withEffect">
                                  <p:stCondLst>
                                    <p:cond delay="0"/>
                                  </p:stCondLst>
                                  <p:childTnLst>
                                    <p:set>
                                      <p:cBhvr>
                                        <p:cTn id="33" dur="1" fill="hold">
                                          <p:stCondLst>
                                            <p:cond delay="0"/>
                                          </p:stCondLst>
                                        </p:cTn>
                                        <p:tgtEl>
                                          <p:spTgt spid="56"/>
                                        </p:tgtEl>
                                        <p:attrNameLst>
                                          <p:attrName>style.visibility</p:attrName>
                                        </p:attrNameLst>
                                      </p:cBhvr>
                                      <p:to>
                                        <p:strVal val="visible"/>
                                      </p:to>
                                    </p:set>
                                    <p:animEffect transition="in" filter="randombar(horizontal)">
                                      <p:cBhvr>
                                        <p:cTn id="34" dur="500"/>
                                        <p:tgtEl>
                                          <p:spTgt spid="56"/>
                                        </p:tgtEl>
                                      </p:cBhvr>
                                    </p:animEffect>
                                  </p:childTnLst>
                                </p:cTn>
                              </p:par>
                              <p:par>
                                <p:cTn id="35" presetID="14" presetClass="entr" presetSubtype="10" fill="hold" nodeType="withEffect">
                                  <p:stCondLst>
                                    <p:cond delay="0"/>
                                  </p:stCondLst>
                                  <p:childTnLst>
                                    <p:set>
                                      <p:cBhvr>
                                        <p:cTn id="36" dur="1" fill="hold">
                                          <p:stCondLst>
                                            <p:cond delay="0"/>
                                          </p:stCondLst>
                                        </p:cTn>
                                        <p:tgtEl>
                                          <p:spTgt spid="57"/>
                                        </p:tgtEl>
                                        <p:attrNameLst>
                                          <p:attrName>style.visibility</p:attrName>
                                        </p:attrNameLst>
                                      </p:cBhvr>
                                      <p:to>
                                        <p:strVal val="visible"/>
                                      </p:to>
                                    </p:set>
                                    <p:animEffect transition="in" filter="randombar(horizontal)">
                                      <p:cBhvr>
                                        <p:cTn id="37" dur="500"/>
                                        <p:tgtEl>
                                          <p:spTgt spid="57"/>
                                        </p:tgtEl>
                                      </p:cBhvr>
                                    </p:animEffect>
                                  </p:childTnLst>
                                </p:cTn>
                              </p:par>
                              <p:par>
                                <p:cTn id="38" presetID="14" presetClass="entr" presetSubtype="10" fill="hold" nodeType="withEffect">
                                  <p:stCondLst>
                                    <p:cond delay="0"/>
                                  </p:stCondLst>
                                  <p:childTnLst>
                                    <p:set>
                                      <p:cBhvr>
                                        <p:cTn id="39" dur="1" fill="hold">
                                          <p:stCondLst>
                                            <p:cond delay="0"/>
                                          </p:stCondLst>
                                        </p:cTn>
                                        <p:tgtEl>
                                          <p:spTgt spid="58"/>
                                        </p:tgtEl>
                                        <p:attrNameLst>
                                          <p:attrName>style.visibility</p:attrName>
                                        </p:attrNameLst>
                                      </p:cBhvr>
                                      <p:to>
                                        <p:strVal val="visible"/>
                                      </p:to>
                                    </p:set>
                                    <p:animEffect transition="in" filter="randombar(horizontal)">
                                      <p:cBhvr>
                                        <p:cTn id="40" dur="500"/>
                                        <p:tgtEl>
                                          <p:spTgt spid="58"/>
                                        </p:tgtEl>
                                      </p:cBhvr>
                                    </p:animEffect>
                                  </p:childTnLst>
                                </p:cTn>
                              </p:par>
                              <p:par>
                                <p:cTn id="41" presetID="14" presetClass="entr" presetSubtype="10" fill="hold" nodeType="withEffect">
                                  <p:stCondLst>
                                    <p:cond delay="0"/>
                                  </p:stCondLst>
                                  <p:childTnLst>
                                    <p:set>
                                      <p:cBhvr>
                                        <p:cTn id="42" dur="1" fill="hold">
                                          <p:stCondLst>
                                            <p:cond delay="0"/>
                                          </p:stCondLst>
                                        </p:cTn>
                                        <p:tgtEl>
                                          <p:spTgt spid="59"/>
                                        </p:tgtEl>
                                        <p:attrNameLst>
                                          <p:attrName>style.visibility</p:attrName>
                                        </p:attrNameLst>
                                      </p:cBhvr>
                                      <p:to>
                                        <p:strVal val="visible"/>
                                      </p:to>
                                    </p:set>
                                    <p:animEffect transition="in" filter="randombar(horizontal)">
                                      <p:cBhvr>
                                        <p:cTn id="43" dur="500"/>
                                        <p:tgtEl>
                                          <p:spTgt spid="59"/>
                                        </p:tgtEl>
                                      </p:cBhvr>
                                    </p:animEffect>
                                  </p:childTnLst>
                                </p:cTn>
                              </p:par>
                              <p:par>
                                <p:cTn id="44" presetID="14" presetClass="entr" presetSubtype="10" fill="hold" nodeType="withEffect">
                                  <p:stCondLst>
                                    <p:cond delay="0"/>
                                  </p:stCondLst>
                                  <p:childTnLst>
                                    <p:set>
                                      <p:cBhvr>
                                        <p:cTn id="45" dur="1" fill="hold">
                                          <p:stCondLst>
                                            <p:cond delay="0"/>
                                          </p:stCondLst>
                                        </p:cTn>
                                        <p:tgtEl>
                                          <p:spTgt spid="60"/>
                                        </p:tgtEl>
                                        <p:attrNameLst>
                                          <p:attrName>style.visibility</p:attrName>
                                        </p:attrNameLst>
                                      </p:cBhvr>
                                      <p:to>
                                        <p:strVal val="visible"/>
                                      </p:to>
                                    </p:set>
                                    <p:animEffect transition="in" filter="randombar(horizontal)">
                                      <p:cBhvr>
                                        <p:cTn id="46" dur="500"/>
                                        <p:tgtEl>
                                          <p:spTgt spid="60"/>
                                        </p:tgtEl>
                                      </p:cBhvr>
                                    </p:animEffect>
                                  </p:childTnLst>
                                </p:cTn>
                              </p:par>
                              <p:par>
                                <p:cTn id="47" presetID="14" presetClass="entr" presetSubtype="10" fill="hold" nodeType="withEffect">
                                  <p:stCondLst>
                                    <p:cond delay="0"/>
                                  </p:stCondLst>
                                  <p:childTnLst>
                                    <p:set>
                                      <p:cBhvr>
                                        <p:cTn id="48" dur="1" fill="hold">
                                          <p:stCondLst>
                                            <p:cond delay="0"/>
                                          </p:stCondLst>
                                        </p:cTn>
                                        <p:tgtEl>
                                          <p:spTgt spid="61"/>
                                        </p:tgtEl>
                                        <p:attrNameLst>
                                          <p:attrName>style.visibility</p:attrName>
                                        </p:attrNameLst>
                                      </p:cBhvr>
                                      <p:to>
                                        <p:strVal val="visible"/>
                                      </p:to>
                                    </p:set>
                                    <p:animEffect transition="in" filter="randombar(horizontal)">
                                      <p:cBhvr>
                                        <p:cTn id="49" dur="500"/>
                                        <p:tgtEl>
                                          <p:spTgt spid="61"/>
                                        </p:tgtEl>
                                      </p:cBhvr>
                                    </p:animEffect>
                                  </p:childTnLst>
                                </p:cTn>
                              </p:par>
                              <p:par>
                                <p:cTn id="50" presetID="14" presetClass="entr" presetSubtype="10" fill="hold" nodeType="withEffect">
                                  <p:stCondLst>
                                    <p:cond delay="0"/>
                                  </p:stCondLst>
                                  <p:childTnLst>
                                    <p:set>
                                      <p:cBhvr>
                                        <p:cTn id="51" dur="1" fill="hold">
                                          <p:stCondLst>
                                            <p:cond delay="0"/>
                                          </p:stCondLst>
                                        </p:cTn>
                                        <p:tgtEl>
                                          <p:spTgt spid="62"/>
                                        </p:tgtEl>
                                        <p:attrNameLst>
                                          <p:attrName>style.visibility</p:attrName>
                                        </p:attrNameLst>
                                      </p:cBhvr>
                                      <p:to>
                                        <p:strVal val="visible"/>
                                      </p:to>
                                    </p:set>
                                    <p:animEffect transition="in" filter="randombar(horizontal)">
                                      <p:cBhvr>
                                        <p:cTn id="52" dur="500"/>
                                        <p:tgtEl>
                                          <p:spTgt spid="62"/>
                                        </p:tgtEl>
                                      </p:cBhvr>
                                    </p:animEffect>
                                  </p:childTnLst>
                                </p:cTn>
                              </p:par>
                              <p:par>
                                <p:cTn id="53" presetID="14" presetClass="entr" presetSubtype="10" fill="hold" nodeType="withEffect">
                                  <p:stCondLst>
                                    <p:cond delay="0"/>
                                  </p:stCondLst>
                                  <p:childTnLst>
                                    <p:set>
                                      <p:cBhvr>
                                        <p:cTn id="54" dur="1" fill="hold">
                                          <p:stCondLst>
                                            <p:cond delay="0"/>
                                          </p:stCondLst>
                                        </p:cTn>
                                        <p:tgtEl>
                                          <p:spTgt spid="63"/>
                                        </p:tgtEl>
                                        <p:attrNameLst>
                                          <p:attrName>style.visibility</p:attrName>
                                        </p:attrNameLst>
                                      </p:cBhvr>
                                      <p:to>
                                        <p:strVal val="visible"/>
                                      </p:to>
                                    </p:set>
                                    <p:animEffect transition="in" filter="randombar(horizontal)">
                                      <p:cBhvr>
                                        <p:cTn id="55" dur="500"/>
                                        <p:tgtEl>
                                          <p:spTgt spid="63"/>
                                        </p:tgtEl>
                                      </p:cBhvr>
                                    </p:animEffect>
                                  </p:childTnLst>
                                </p:cTn>
                              </p:par>
                              <p:par>
                                <p:cTn id="56" presetID="14" presetClass="entr" presetSubtype="10" fill="hold" nodeType="withEffect">
                                  <p:stCondLst>
                                    <p:cond delay="0"/>
                                  </p:stCondLst>
                                  <p:childTnLst>
                                    <p:set>
                                      <p:cBhvr>
                                        <p:cTn id="57" dur="1" fill="hold">
                                          <p:stCondLst>
                                            <p:cond delay="0"/>
                                          </p:stCondLst>
                                        </p:cTn>
                                        <p:tgtEl>
                                          <p:spTgt spid="64"/>
                                        </p:tgtEl>
                                        <p:attrNameLst>
                                          <p:attrName>style.visibility</p:attrName>
                                        </p:attrNameLst>
                                      </p:cBhvr>
                                      <p:to>
                                        <p:strVal val="visible"/>
                                      </p:to>
                                    </p:set>
                                    <p:animEffect transition="in" filter="randombar(horizontal)">
                                      <p:cBhvr>
                                        <p:cTn id="58" dur="500"/>
                                        <p:tgtEl>
                                          <p:spTgt spid="64"/>
                                        </p:tgtEl>
                                      </p:cBhvr>
                                    </p:animEffect>
                                  </p:childTnLst>
                                </p:cTn>
                              </p:par>
                              <p:par>
                                <p:cTn id="59" presetID="14" presetClass="entr" presetSubtype="10" fill="hold" nodeType="withEffect">
                                  <p:stCondLst>
                                    <p:cond delay="0"/>
                                  </p:stCondLst>
                                  <p:childTnLst>
                                    <p:set>
                                      <p:cBhvr>
                                        <p:cTn id="60" dur="1" fill="hold">
                                          <p:stCondLst>
                                            <p:cond delay="0"/>
                                          </p:stCondLst>
                                        </p:cTn>
                                        <p:tgtEl>
                                          <p:spTgt spid="65"/>
                                        </p:tgtEl>
                                        <p:attrNameLst>
                                          <p:attrName>style.visibility</p:attrName>
                                        </p:attrNameLst>
                                      </p:cBhvr>
                                      <p:to>
                                        <p:strVal val="visible"/>
                                      </p:to>
                                    </p:set>
                                    <p:animEffect transition="in" filter="randombar(horizontal)">
                                      <p:cBhvr>
                                        <p:cTn id="61" dur="500"/>
                                        <p:tgtEl>
                                          <p:spTgt spid="65"/>
                                        </p:tgtEl>
                                      </p:cBhvr>
                                    </p:animEffect>
                                  </p:childTnLst>
                                </p:cTn>
                              </p:par>
                              <p:par>
                                <p:cTn id="62" presetID="14" presetClass="entr" presetSubtype="10" fill="hold" nodeType="withEffect">
                                  <p:stCondLst>
                                    <p:cond delay="0"/>
                                  </p:stCondLst>
                                  <p:childTnLst>
                                    <p:set>
                                      <p:cBhvr>
                                        <p:cTn id="63" dur="1" fill="hold">
                                          <p:stCondLst>
                                            <p:cond delay="0"/>
                                          </p:stCondLst>
                                        </p:cTn>
                                        <p:tgtEl>
                                          <p:spTgt spid="66"/>
                                        </p:tgtEl>
                                        <p:attrNameLst>
                                          <p:attrName>style.visibility</p:attrName>
                                        </p:attrNameLst>
                                      </p:cBhvr>
                                      <p:to>
                                        <p:strVal val="visible"/>
                                      </p:to>
                                    </p:set>
                                    <p:animEffect transition="in" filter="randombar(horizontal)">
                                      <p:cBhvr>
                                        <p:cTn id="64"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02 DevOps</a:t>
            </a:r>
            <a:r>
              <a:rPr lang="zh-CN" altLang="en-US" dirty="0"/>
              <a:t>历史溯源</a:t>
            </a:r>
          </a:p>
        </p:txBody>
      </p:sp>
      <p:sp>
        <p:nvSpPr>
          <p:cNvPr id="30" name="文本框 29">
            <a:extLst>
              <a:ext uri="{FF2B5EF4-FFF2-40B4-BE49-F238E27FC236}">
                <a16:creationId xmlns:a16="http://schemas.microsoft.com/office/drawing/2014/main" id="{CF6170A3-D12F-935D-D836-CFA272127202}"/>
              </a:ext>
            </a:extLst>
          </p:cNvPr>
          <p:cNvSpPr txBox="1"/>
          <p:nvPr/>
        </p:nvSpPr>
        <p:spPr>
          <a:xfrm>
            <a:off x="718218" y="874354"/>
            <a:ext cx="4328344" cy="601075"/>
          </a:xfrm>
          <a:prstGeom prst="rect">
            <a:avLst/>
          </a:prstGeom>
          <a:noFill/>
        </p:spPr>
        <p:txBody>
          <a:bodyPr wrap="square" lIns="0" tIns="0" rIns="0" bIns="0" rtlCol="0" anchor="ctr">
            <a:noAutofit/>
          </a:bodyPr>
          <a:lstStyle>
            <a:defPPr>
              <a:defRPr lang="zh-CN"/>
            </a:defPPr>
            <a:lvl1pPr marL="285750" indent="-285750">
              <a:lnSpc>
                <a:spcPct val="125000"/>
              </a:lnSpc>
              <a:spcAft>
                <a:spcPts val="500"/>
              </a:spcAft>
              <a:buFont typeface="Wingdings" panose="05000000000000000000" pitchFamily="2" charset="2"/>
              <a:buChar char="p"/>
              <a:defRPr sz="2400">
                <a:solidFill>
                  <a:srgbClr val="003F88"/>
                </a:solidFill>
              </a:defRPr>
            </a:lvl1pPr>
          </a:lstStyle>
          <a:p>
            <a:r>
              <a:rPr lang="en-US" altLang="zh-CN" dirty="0"/>
              <a:t> </a:t>
            </a:r>
            <a:r>
              <a:rPr lang="zh-CN" altLang="en-US" dirty="0"/>
              <a:t>蓬勃发展阶段（</a:t>
            </a:r>
            <a:r>
              <a:rPr lang="en-US" altLang="zh-CN" dirty="0"/>
              <a:t>2013~</a:t>
            </a:r>
            <a:r>
              <a:rPr lang="zh-CN" altLang="en-US" dirty="0"/>
              <a:t>）</a:t>
            </a:r>
          </a:p>
        </p:txBody>
      </p:sp>
      <p:sp>
        <p:nvSpPr>
          <p:cNvPr id="16" name="文本框 15">
            <a:extLst>
              <a:ext uri="{FF2B5EF4-FFF2-40B4-BE49-F238E27FC236}">
                <a16:creationId xmlns:a16="http://schemas.microsoft.com/office/drawing/2014/main" id="{D1283D3A-6A15-CF74-DFCD-0716DB4AF150}"/>
              </a:ext>
            </a:extLst>
          </p:cNvPr>
          <p:cNvSpPr txBox="1"/>
          <p:nvPr/>
        </p:nvSpPr>
        <p:spPr>
          <a:xfrm>
            <a:off x="718219" y="1426642"/>
            <a:ext cx="10755564" cy="4480842"/>
          </a:xfrm>
          <a:prstGeom prst="rect">
            <a:avLst/>
          </a:prstGeom>
          <a:noFill/>
        </p:spPr>
        <p:txBody>
          <a:bodyPr wrap="square">
            <a:spAutoFit/>
          </a:bodyPr>
          <a:lstStyle/>
          <a:p>
            <a:pPr lvl="0" algn="just">
              <a:lnSpc>
                <a:spcPct val="150000"/>
              </a:lnSpc>
              <a:buFont typeface="Arial" panose="020B0604020202020204" pitchFamily="34" charset="0"/>
            </a:pPr>
            <a:r>
              <a:rPr lang="en-US" altLang="zh-CN" sz="1600" kern="100" dirty="0">
                <a:latin typeface="+mn-ea"/>
                <a:cs typeface="Times New Roman" panose="02020603050405020304" pitchFamily="18" charset="0"/>
              </a:rPr>
              <a:t>DevOps</a:t>
            </a:r>
            <a:r>
              <a:rPr lang="zh-CN" altLang="en-US" sz="1600" kern="100" dirty="0">
                <a:latin typeface="+mn-ea"/>
                <a:cs typeface="Times New Roman" panose="02020603050405020304" pitchFamily="18" charset="0"/>
              </a:rPr>
              <a:t>的蓬勃发展离不开相关技术的同步发展，特别是云计算技术和基础设施的成熟，以及新的架构范式的出现。</a:t>
            </a:r>
          </a:p>
          <a:p>
            <a:pPr marL="285750" lvl="0" indent="-285750" algn="just">
              <a:lnSpc>
                <a:spcPct val="150000"/>
              </a:lnSpc>
              <a:buFont typeface="Arial" panose="020B0604020202020204" pitchFamily="34" charset="0"/>
              <a:buChar char="•"/>
            </a:pPr>
            <a:r>
              <a:rPr lang="en-US" altLang="zh-CN" sz="1600" kern="100" dirty="0">
                <a:latin typeface="+mn-ea"/>
                <a:cs typeface="Times New Roman" panose="02020603050405020304" pitchFamily="18" charset="0"/>
              </a:rPr>
              <a:t>2013</a:t>
            </a:r>
            <a:r>
              <a:rPr lang="zh-CN" altLang="en-US" sz="1600" kern="100" dirty="0">
                <a:latin typeface="+mn-ea"/>
                <a:cs typeface="Times New Roman" panose="02020603050405020304" pitchFamily="18" charset="0"/>
              </a:rPr>
              <a:t>年，</a:t>
            </a:r>
            <a:r>
              <a:rPr lang="en-US" altLang="zh-CN" sz="1600" kern="100" dirty="0" err="1">
                <a:latin typeface="+mn-ea"/>
                <a:cs typeface="Times New Roman" panose="02020603050405020304" pitchFamily="18" charset="0"/>
              </a:rPr>
              <a:t>dotCloud</a:t>
            </a:r>
            <a:r>
              <a:rPr lang="zh-CN" altLang="en-US" sz="1600" kern="100" dirty="0">
                <a:latin typeface="+mn-ea"/>
                <a:cs typeface="Times New Roman" panose="02020603050405020304" pitchFamily="18" charset="0"/>
              </a:rPr>
              <a:t>公司（后更名为</a:t>
            </a:r>
            <a:r>
              <a:rPr lang="en-US" altLang="zh-CN" sz="1600" kern="100" dirty="0">
                <a:latin typeface="+mn-ea"/>
                <a:cs typeface="Times New Roman" panose="02020603050405020304" pitchFamily="18" charset="0"/>
              </a:rPr>
              <a:t>Docker</a:t>
            </a:r>
            <a:r>
              <a:rPr lang="zh-CN" altLang="en-US" sz="1600" kern="100" dirty="0">
                <a:latin typeface="+mn-ea"/>
                <a:cs typeface="Times New Roman" panose="02020603050405020304" pitchFamily="18" charset="0"/>
              </a:rPr>
              <a:t>）推出</a:t>
            </a:r>
            <a:r>
              <a:rPr lang="en-US" altLang="zh-CN" sz="1600" kern="100" dirty="0">
                <a:latin typeface="+mn-ea"/>
                <a:cs typeface="Times New Roman" panose="02020603050405020304" pitchFamily="18" charset="0"/>
              </a:rPr>
              <a:t>Docker</a:t>
            </a:r>
            <a:r>
              <a:rPr lang="zh-CN" altLang="en-US" sz="1600" kern="100" dirty="0">
                <a:latin typeface="+mn-ea"/>
                <a:cs typeface="Times New Roman" panose="02020603050405020304" pitchFamily="18" charset="0"/>
              </a:rPr>
              <a:t>项目，在容器技术的基础上，引入分层式容器镜像模型、全局及本地容器注册表、精简化</a:t>
            </a:r>
            <a:r>
              <a:rPr lang="en-US" altLang="zh-CN" sz="1600" kern="100" dirty="0">
                <a:latin typeface="+mn-ea"/>
                <a:cs typeface="Times New Roman" panose="02020603050405020304" pitchFamily="18" charset="0"/>
              </a:rPr>
              <a:t>REST</a:t>
            </a:r>
            <a:r>
              <a:rPr lang="zh-CN" altLang="en-US" sz="1600" kern="100" dirty="0">
                <a:latin typeface="+mn-ea"/>
                <a:cs typeface="Times New Roman" panose="02020603050405020304" pitchFamily="18" charset="0"/>
              </a:rPr>
              <a:t>。同年，</a:t>
            </a:r>
            <a:r>
              <a:rPr lang="en-US" altLang="zh-CN" sz="1600" kern="100" dirty="0">
                <a:latin typeface="+mn-ea"/>
                <a:cs typeface="Times New Roman" panose="02020603050405020304" pitchFamily="18" charset="0"/>
              </a:rPr>
              <a:t>Google</a:t>
            </a:r>
            <a:r>
              <a:rPr lang="zh-CN" altLang="en-US" sz="1600" kern="100" dirty="0">
                <a:latin typeface="+mn-ea"/>
                <a:cs typeface="Times New Roman" panose="02020603050405020304" pitchFamily="18" charset="0"/>
              </a:rPr>
              <a:t>推出开源项目</a:t>
            </a:r>
            <a:r>
              <a:rPr lang="en-US" altLang="zh-CN" sz="1600" kern="100" dirty="0">
                <a:latin typeface="+mn-ea"/>
                <a:cs typeface="Times New Roman" panose="02020603050405020304" pitchFamily="18" charset="0"/>
              </a:rPr>
              <a:t>Kubernetes</a:t>
            </a:r>
            <a:r>
              <a:rPr lang="zh-CN" altLang="en-US" sz="1600" kern="100" dirty="0">
                <a:latin typeface="+mn-ea"/>
                <a:cs typeface="Times New Roman" panose="02020603050405020304" pitchFamily="18" charset="0"/>
              </a:rPr>
              <a:t>，提供了以容器为中心的部署、伸缩和运维平台。</a:t>
            </a:r>
            <a:r>
              <a:rPr lang="en-US" altLang="zh-CN" sz="1600" kern="100" dirty="0">
                <a:latin typeface="+mn-ea"/>
                <a:cs typeface="Times New Roman" panose="02020603050405020304" pitchFamily="18" charset="0"/>
              </a:rPr>
              <a:t>Kubernetes</a:t>
            </a:r>
            <a:r>
              <a:rPr lang="zh-CN" altLang="en-US" sz="1600" kern="100" dirty="0">
                <a:latin typeface="+mn-ea"/>
                <a:cs typeface="Times New Roman" panose="02020603050405020304" pitchFamily="18" charset="0"/>
              </a:rPr>
              <a:t>支持</a:t>
            </a:r>
            <a:r>
              <a:rPr lang="en-US" altLang="zh-CN" sz="1600" kern="100" dirty="0">
                <a:latin typeface="+mn-ea"/>
                <a:cs typeface="Times New Roman" panose="02020603050405020304" pitchFamily="18" charset="0"/>
              </a:rPr>
              <a:t>Docker</a:t>
            </a:r>
            <a:r>
              <a:rPr lang="zh-CN" altLang="en-US" sz="1600" kern="100" dirty="0">
                <a:latin typeface="+mn-ea"/>
                <a:cs typeface="Times New Roman" panose="02020603050405020304" pitchFamily="18" charset="0"/>
              </a:rPr>
              <a:t>、</a:t>
            </a:r>
            <a:r>
              <a:rPr lang="en-US" altLang="zh-CN" sz="1600" kern="100" dirty="0" err="1">
                <a:latin typeface="+mn-ea"/>
                <a:cs typeface="Times New Roman" panose="02020603050405020304" pitchFamily="18" charset="0"/>
              </a:rPr>
              <a:t>rkt</a:t>
            </a:r>
            <a:r>
              <a:rPr lang="zh-CN" altLang="en-US" sz="1600" kern="100" dirty="0">
                <a:latin typeface="+mn-ea"/>
                <a:cs typeface="Times New Roman" panose="02020603050405020304" pitchFamily="18" charset="0"/>
              </a:rPr>
              <a:t>以及</a:t>
            </a:r>
            <a:r>
              <a:rPr lang="en-US" altLang="zh-CN" sz="1600" kern="100" dirty="0">
                <a:latin typeface="+mn-ea"/>
                <a:cs typeface="Times New Roman" panose="02020603050405020304" pitchFamily="18" charset="0"/>
              </a:rPr>
              <a:t>OCI</a:t>
            </a:r>
            <a:r>
              <a:rPr lang="zh-CN" altLang="en-US" sz="1600" kern="100" dirty="0">
                <a:latin typeface="+mn-ea"/>
                <a:cs typeface="Times New Roman" panose="02020603050405020304" pitchFamily="18" charset="0"/>
              </a:rPr>
              <a:t>等容器标准，能够实现在各种云环境中快速部署</a:t>
            </a:r>
            <a:r>
              <a:rPr lang="en-US" altLang="zh-CN" sz="1600" kern="100" dirty="0" err="1">
                <a:latin typeface="+mn-ea"/>
                <a:cs typeface="Times New Roman" panose="02020603050405020304" pitchFamily="18" charset="0"/>
              </a:rPr>
              <a:t>kubernetes</a:t>
            </a:r>
            <a:r>
              <a:rPr lang="en-US" altLang="zh-CN" sz="1600" kern="100" dirty="0">
                <a:latin typeface="+mn-ea"/>
                <a:cs typeface="Times New Roman" panose="02020603050405020304" pitchFamily="18" charset="0"/>
              </a:rPr>
              <a:t> </a:t>
            </a:r>
            <a:r>
              <a:rPr lang="zh-CN" altLang="en-US" sz="1600" kern="100" dirty="0">
                <a:latin typeface="+mn-ea"/>
                <a:cs typeface="Times New Roman" panose="02020603050405020304" pitchFamily="18" charset="0"/>
              </a:rPr>
              <a:t>集群。</a:t>
            </a:r>
          </a:p>
          <a:p>
            <a:pPr marL="285750" lvl="0" indent="-285750" algn="just">
              <a:lnSpc>
                <a:spcPct val="150000"/>
              </a:lnSpc>
              <a:buFont typeface="Arial" panose="020B0604020202020204" pitchFamily="34" charset="0"/>
              <a:buChar char="•"/>
            </a:pPr>
            <a:r>
              <a:rPr lang="en-US" altLang="zh-CN" sz="1600" kern="100" dirty="0">
                <a:latin typeface="+mn-ea"/>
                <a:cs typeface="Times New Roman" panose="02020603050405020304" pitchFamily="18" charset="0"/>
              </a:rPr>
              <a:t>2015</a:t>
            </a:r>
            <a:r>
              <a:rPr lang="zh-CN" altLang="en-US" sz="1600" kern="100" dirty="0">
                <a:latin typeface="+mn-ea"/>
                <a:cs typeface="Times New Roman" panose="02020603050405020304" pitchFamily="18" charset="0"/>
              </a:rPr>
              <a:t>年，基于</a:t>
            </a:r>
            <a:r>
              <a:rPr lang="en-US" altLang="zh-CN" sz="1600" kern="100" dirty="0">
                <a:latin typeface="+mn-ea"/>
                <a:cs typeface="Times New Roman" panose="02020603050405020304" pitchFamily="18" charset="0"/>
              </a:rPr>
              <a:t>Cloud-Native</a:t>
            </a:r>
            <a:r>
              <a:rPr lang="zh-CN" altLang="en-US" sz="1600" kern="100" dirty="0">
                <a:latin typeface="+mn-ea"/>
                <a:cs typeface="Times New Roman" panose="02020603050405020304" pitchFamily="18" charset="0"/>
              </a:rPr>
              <a:t>（云原生）概念的逐步成熟，</a:t>
            </a:r>
            <a:r>
              <a:rPr lang="en-US" altLang="zh-CN" sz="1600" kern="100" dirty="0">
                <a:latin typeface="+mn-ea"/>
                <a:cs typeface="Times New Roman" panose="02020603050405020304" pitchFamily="18" charset="0"/>
              </a:rPr>
              <a:t>Google</a:t>
            </a:r>
            <a:r>
              <a:rPr lang="zh-CN" altLang="en-US" sz="1600" kern="100" dirty="0">
                <a:latin typeface="+mn-ea"/>
                <a:cs typeface="Times New Roman" panose="02020603050405020304" pitchFamily="18" charset="0"/>
              </a:rPr>
              <a:t>联合其他</a:t>
            </a:r>
            <a:r>
              <a:rPr lang="en-US" altLang="zh-CN" sz="1600" kern="100" dirty="0">
                <a:latin typeface="+mn-ea"/>
                <a:cs typeface="Times New Roman" panose="02020603050405020304" pitchFamily="18" charset="0"/>
              </a:rPr>
              <a:t>20</a:t>
            </a:r>
            <a:r>
              <a:rPr lang="zh-CN" altLang="en-US" sz="1600" kern="100" dirty="0">
                <a:latin typeface="+mn-ea"/>
                <a:cs typeface="Times New Roman" panose="02020603050405020304" pitchFamily="18" charset="0"/>
              </a:rPr>
              <a:t>家公司宣布成立了开源组织</a:t>
            </a:r>
            <a:r>
              <a:rPr lang="en-US" altLang="zh-CN" sz="1600" kern="100" dirty="0">
                <a:latin typeface="+mn-ea"/>
                <a:cs typeface="Times New Roman" panose="02020603050405020304" pitchFamily="18" charset="0"/>
              </a:rPr>
              <a:t>Cloud Native Computing Foundation (CNCF</a:t>
            </a:r>
            <a:r>
              <a:rPr lang="zh-CN" altLang="en-US" sz="1600" kern="100" dirty="0">
                <a:latin typeface="+mn-ea"/>
                <a:cs typeface="Times New Roman" panose="02020603050405020304" pitchFamily="18" charset="0"/>
              </a:rPr>
              <a:t>） 。同年， </a:t>
            </a:r>
            <a:r>
              <a:rPr lang="en-US" altLang="zh-CN" sz="1600" kern="100" dirty="0">
                <a:latin typeface="+mn-ea"/>
                <a:cs typeface="Times New Roman" panose="02020603050405020304" pitchFamily="18" charset="0"/>
              </a:rPr>
              <a:t>O’Reilly</a:t>
            </a:r>
            <a:r>
              <a:rPr lang="zh-CN" altLang="en-US" sz="1600" kern="100" dirty="0">
                <a:latin typeface="+mn-ea"/>
                <a:cs typeface="Times New Roman" panose="02020603050405020304" pitchFamily="18" charset="0"/>
              </a:rPr>
              <a:t>出版了</a:t>
            </a:r>
            <a:r>
              <a:rPr lang="en-US" altLang="zh-CN" sz="1600" kern="100" dirty="0">
                <a:latin typeface="+mn-ea"/>
                <a:cs typeface="Times New Roman" panose="02020603050405020304" pitchFamily="18" charset="0"/>
              </a:rPr>
              <a:t>Pivotal</a:t>
            </a:r>
            <a:r>
              <a:rPr lang="zh-CN" altLang="en-US" sz="1600" kern="100" dirty="0">
                <a:latin typeface="+mn-ea"/>
                <a:cs typeface="Times New Roman" panose="02020603050405020304" pitchFamily="18" charset="0"/>
              </a:rPr>
              <a:t>公司产品经理</a:t>
            </a:r>
            <a:r>
              <a:rPr lang="en-US" altLang="zh-CN" sz="1600" kern="100" dirty="0">
                <a:latin typeface="+mn-ea"/>
                <a:cs typeface="Times New Roman" panose="02020603050405020304" pitchFamily="18" charset="0"/>
              </a:rPr>
              <a:t>Matt Stine</a:t>
            </a:r>
            <a:r>
              <a:rPr lang="zh-CN" altLang="en-US" sz="1600" kern="100" dirty="0">
                <a:latin typeface="+mn-ea"/>
                <a:cs typeface="Times New Roman" panose="02020603050405020304" pitchFamily="18" charset="0"/>
              </a:rPr>
              <a:t>写的</a:t>
            </a:r>
            <a:r>
              <a:rPr lang="en-US" altLang="zh-CN" sz="1600" kern="100" dirty="0">
                <a:latin typeface="+mn-ea"/>
                <a:cs typeface="Times New Roman" panose="02020603050405020304" pitchFamily="18" charset="0"/>
              </a:rPr>
              <a:t>《Migrating to Cloud-Native Application Architecture》</a:t>
            </a:r>
            <a:r>
              <a:rPr lang="zh-CN" altLang="en-US" sz="1600" kern="100" dirty="0">
                <a:latin typeface="+mn-ea"/>
                <a:cs typeface="Times New Roman" panose="02020603050405020304" pitchFamily="18" charset="0"/>
              </a:rPr>
              <a:t>一书，其中， </a:t>
            </a:r>
            <a:r>
              <a:rPr lang="en-US" altLang="zh-CN" sz="1600" kern="100" dirty="0">
                <a:latin typeface="+mn-ea"/>
                <a:cs typeface="Times New Roman" panose="02020603050405020304" pitchFamily="18" charset="0"/>
              </a:rPr>
              <a:t>Matt Stine</a:t>
            </a:r>
            <a:r>
              <a:rPr lang="zh-CN" altLang="en-US" sz="1600" kern="100" dirty="0">
                <a:latin typeface="+mn-ea"/>
                <a:cs typeface="Times New Roman" panose="02020603050405020304" pitchFamily="18" charset="0"/>
              </a:rPr>
              <a:t>对</a:t>
            </a:r>
            <a:r>
              <a:rPr lang="en-US" altLang="zh-CN" sz="1600" kern="100" dirty="0">
                <a:latin typeface="+mn-ea"/>
                <a:cs typeface="Times New Roman" panose="02020603050405020304" pitchFamily="18" charset="0"/>
              </a:rPr>
              <a:t>Cloud-Native</a:t>
            </a:r>
            <a:r>
              <a:rPr lang="zh-CN" altLang="en-US" sz="1600" kern="100" dirty="0">
                <a:latin typeface="+mn-ea"/>
                <a:cs typeface="Times New Roman" panose="02020603050405020304" pitchFamily="18" charset="0"/>
              </a:rPr>
              <a:t>关键架构特征进行补充，也融入早在</a:t>
            </a:r>
            <a:r>
              <a:rPr lang="en-US" altLang="zh-CN" sz="1600" kern="100" dirty="0">
                <a:latin typeface="+mn-ea"/>
                <a:cs typeface="Times New Roman" panose="02020603050405020304" pitchFamily="18" charset="0"/>
              </a:rPr>
              <a:t>2012</a:t>
            </a:r>
            <a:r>
              <a:rPr lang="zh-CN" altLang="en-US" sz="1600" kern="100" dirty="0">
                <a:latin typeface="+mn-ea"/>
                <a:cs typeface="Times New Roman" panose="02020603050405020304" pitchFamily="18" charset="0"/>
              </a:rPr>
              <a:t>年由</a:t>
            </a:r>
            <a:r>
              <a:rPr lang="en-US" altLang="zh-CN" sz="1600" kern="100" dirty="0">
                <a:latin typeface="+mn-ea"/>
                <a:cs typeface="Times New Roman" panose="02020603050405020304" pitchFamily="18" charset="0"/>
              </a:rPr>
              <a:t>Heroku</a:t>
            </a:r>
            <a:r>
              <a:rPr lang="zh-CN" altLang="en-US" sz="1600" kern="100" dirty="0">
                <a:latin typeface="+mn-ea"/>
                <a:cs typeface="Times New Roman" panose="02020603050405020304" pitchFamily="18" charset="0"/>
              </a:rPr>
              <a:t>创始人</a:t>
            </a:r>
            <a:r>
              <a:rPr lang="en-US" altLang="zh-CN" sz="1600" kern="100" dirty="0">
                <a:latin typeface="+mn-ea"/>
                <a:cs typeface="Times New Roman" panose="02020603050405020304" pitchFamily="18" charset="0"/>
              </a:rPr>
              <a:t>Adam Wiggins</a:t>
            </a:r>
            <a:r>
              <a:rPr lang="zh-CN" altLang="en-US" sz="1600" kern="100" dirty="0">
                <a:latin typeface="+mn-ea"/>
                <a:cs typeface="Times New Roman" panose="02020603050405020304" pitchFamily="18" charset="0"/>
              </a:rPr>
              <a:t>发布的“十二要素”（</a:t>
            </a:r>
            <a:r>
              <a:rPr lang="en-US" altLang="zh-CN" sz="1600" kern="100" dirty="0">
                <a:latin typeface="+mn-ea"/>
                <a:cs typeface="Times New Roman" panose="02020603050405020304" pitchFamily="18" charset="0"/>
              </a:rPr>
              <a:t>The Twelve-Factor)</a:t>
            </a:r>
            <a:r>
              <a:rPr lang="zh-CN" altLang="en-US" sz="1600" kern="100" dirty="0">
                <a:latin typeface="+mn-ea"/>
                <a:cs typeface="Times New Roman" panose="02020603050405020304" pitchFamily="18" charset="0"/>
              </a:rPr>
              <a:t>应用宣言等重要理念。此书较为完整地描述了</a:t>
            </a:r>
            <a:r>
              <a:rPr lang="en-US" altLang="zh-CN" sz="1600" kern="100" dirty="0">
                <a:latin typeface="+mn-ea"/>
                <a:cs typeface="Times New Roman" panose="02020603050405020304" pitchFamily="18" charset="0"/>
              </a:rPr>
              <a:t>Cloud-Native</a:t>
            </a:r>
            <a:r>
              <a:rPr lang="zh-CN" altLang="en-US" sz="1600" kern="100" dirty="0">
                <a:latin typeface="+mn-ea"/>
                <a:cs typeface="Times New Roman" panose="02020603050405020304" pitchFamily="18" charset="0"/>
              </a:rPr>
              <a:t>的落地方法和实践。</a:t>
            </a:r>
          </a:p>
          <a:p>
            <a:pPr marL="285750" lvl="0" indent="-285750" algn="just">
              <a:lnSpc>
                <a:spcPct val="150000"/>
              </a:lnSpc>
              <a:buFont typeface="Arial" panose="020B0604020202020204" pitchFamily="34" charset="0"/>
              <a:buChar char="•"/>
            </a:pPr>
            <a:r>
              <a:rPr lang="zh-CN" altLang="en-US" sz="1600" kern="100" dirty="0">
                <a:latin typeface="+mn-ea"/>
                <a:cs typeface="Times New Roman" panose="02020603050405020304" pitchFamily="18" charset="0"/>
              </a:rPr>
              <a:t>至</a:t>
            </a:r>
            <a:r>
              <a:rPr lang="en-US" altLang="zh-CN" sz="1600" kern="100" dirty="0">
                <a:latin typeface="+mn-ea"/>
                <a:cs typeface="Times New Roman" panose="02020603050405020304" pitchFamily="18" charset="0"/>
              </a:rPr>
              <a:t>2016 </a:t>
            </a:r>
            <a:r>
              <a:rPr lang="zh-CN" altLang="en-US" sz="1600" kern="100" dirty="0">
                <a:latin typeface="+mn-ea"/>
                <a:cs typeface="Times New Roman" panose="02020603050405020304" pitchFamily="18" charset="0"/>
              </a:rPr>
              <a:t>年，随着</a:t>
            </a:r>
            <a:r>
              <a:rPr lang="en-US" altLang="zh-CN" sz="1600" kern="100" dirty="0">
                <a:latin typeface="+mn-ea"/>
                <a:cs typeface="Times New Roman" panose="02020603050405020304" pitchFamily="18" charset="0"/>
              </a:rPr>
              <a:t>DevOps</a:t>
            </a:r>
            <a:r>
              <a:rPr lang="zh-CN" altLang="en-US" sz="1600" kern="100" dirty="0">
                <a:latin typeface="+mn-ea"/>
                <a:cs typeface="Times New Roman" panose="02020603050405020304" pitchFamily="18" charset="0"/>
              </a:rPr>
              <a:t>应用的逐步深入，行业开始关注系统的安全和合规性，出现了</a:t>
            </a:r>
            <a:r>
              <a:rPr lang="en-US" altLang="zh-CN" sz="1600" kern="100" dirty="0" err="1">
                <a:latin typeface="+mn-ea"/>
                <a:cs typeface="Times New Roman" panose="02020603050405020304" pitchFamily="18" charset="0"/>
              </a:rPr>
              <a:t>DevSecOps</a:t>
            </a:r>
            <a:r>
              <a:rPr lang="zh-CN" altLang="en-US" sz="1600" kern="100" dirty="0">
                <a:latin typeface="+mn-ea"/>
                <a:cs typeface="Times New Roman" panose="02020603050405020304" pitchFamily="18" charset="0"/>
              </a:rPr>
              <a:t>等细分探讨领域，开始倡导</a:t>
            </a:r>
            <a:r>
              <a:rPr lang="en-US" altLang="zh-CN" sz="1600" kern="100" dirty="0">
                <a:latin typeface="+mn-ea"/>
                <a:cs typeface="Times New Roman" panose="02020603050405020304" pitchFamily="18" charset="0"/>
              </a:rPr>
              <a:t>Security as Code </a:t>
            </a:r>
            <a:r>
              <a:rPr lang="zh-CN" altLang="en-US" sz="1600" kern="100" dirty="0">
                <a:latin typeface="+mn-ea"/>
                <a:cs typeface="Times New Roman" panose="02020603050405020304" pitchFamily="18" charset="0"/>
              </a:rPr>
              <a:t>、</a:t>
            </a:r>
            <a:r>
              <a:rPr lang="en-US" altLang="zh-CN" sz="1600" kern="100" dirty="0">
                <a:latin typeface="+mn-ea"/>
                <a:cs typeface="Times New Roman" panose="02020603050405020304" pitchFamily="18" charset="0"/>
              </a:rPr>
              <a:t>Compliance as Code</a:t>
            </a:r>
            <a:r>
              <a:rPr lang="zh-CN" altLang="en-US" sz="1600" kern="100" dirty="0">
                <a:latin typeface="+mn-ea"/>
                <a:cs typeface="Times New Roman" panose="02020603050405020304" pitchFamily="18" charset="0"/>
              </a:rPr>
              <a:t>等新理念。</a:t>
            </a:r>
            <a:endParaRPr lang="en-US" altLang="zh-CN" sz="1600" kern="100" dirty="0">
              <a:solidFill>
                <a:schemeClr val="tx1"/>
              </a:solidFill>
              <a:effectLst/>
              <a:latin typeface="+mn-ea"/>
              <a:cs typeface="Times New Roman" panose="02020603050405020304" pitchFamily="18" charset="0"/>
            </a:endParaRPr>
          </a:p>
        </p:txBody>
      </p:sp>
      <p:sp>
        <p:nvSpPr>
          <p:cNvPr id="3" name="灯片编号占位符 2">
            <a:extLst>
              <a:ext uri="{FF2B5EF4-FFF2-40B4-BE49-F238E27FC236}">
                <a16:creationId xmlns:a16="http://schemas.microsoft.com/office/drawing/2014/main" id="{BF71D03B-9F73-0B7C-B247-A3441F4D242C}"/>
              </a:ext>
            </a:extLst>
          </p:cNvPr>
          <p:cNvSpPr>
            <a:spLocks noGrp="1"/>
          </p:cNvSpPr>
          <p:nvPr>
            <p:ph type="sldNum" sz="quarter" idx="12"/>
          </p:nvPr>
        </p:nvSpPr>
        <p:spPr>
          <a:xfrm>
            <a:off x="9137021" y="6494335"/>
            <a:ext cx="2743200" cy="341761"/>
          </a:xfrm>
        </p:spPr>
        <p:txBody>
          <a:bodyPr/>
          <a:lstStyle/>
          <a:p>
            <a:fld id="{1AAC388E-FA9E-4A2C-95EA-1F6B3A07935A}" type="slidenum">
              <a:rPr lang="zh-CN" altLang="en-US" sz="1400" smtClean="0">
                <a:solidFill>
                  <a:srgbClr val="000000"/>
                </a:solidFill>
              </a:rPr>
              <a:t>44</a:t>
            </a:fld>
            <a:endParaRPr lang="zh-CN" altLang="en-US" sz="1400" dirty="0">
              <a:solidFill>
                <a:srgbClr val="000000"/>
              </a:solidFill>
            </a:endParaRPr>
          </a:p>
        </p:txBody>
      </p:sp>
    </p:spTree>
    <p:extLst>
      <p:ext uri="{BB962C8B-B14F-4D97-AF65-F5344CB8AC3E}">
        <p14:creationId xmlns:p14="http://schemas.microsoft.com/office/powerpoint/2010/main" val="21218517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B84E9945-F3C2-4023-A547-697A62835A1F}"/>
              </a:ext>
            </a:extLst>
          </p:cNvPr>
          <p:cNvSpPr/>
          <p:nvPr/>
        </p:nvSpPr>
        <p:spPr>
          <a:xfrm>
            <a:off x="10" y="5"/>
            <a:ext cx="12191980" cy="6857990"/>
          </a:xfrm>
          <a:prstGeom prst="rect">
            <a:avLst/>
          </a:prstGeom>
          <a:blipFill dpi="0" rotWithShape="1">
            <a:blip r:embed="rId3">
              <a:alphaModFix amt="10000"/>
              <a:duotone>
                <a:schemeClr val="bg2">
                  <a:shade val="45000"/>
                  <a:satMod val="135000"/>
                </a:schemeClr>
                <a:prstClr val="white"/>
              </a:duotone>
            </a:blip>
            <a:srcRect/>
            <a:tile tx="0" ty="0" sx="60000" sy="6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00"/>
              </a:spcAft>
            </a:pPr>
            <a:endParaRPr lang="zh-CN" altLang="en-US"/>
          </a:p>
        </p:txBody>
      </p:sp>
      <p:grpSp>
        <p:nvGrpSpPr>
          <p:cNvPr id="3" name="组合 2">
            <a:extLst>
              <a:ext uri="{FF2B5EF4-FFF2-40B4-BE49-F238E27FC236}">
                <a16:creationId xmlns:a16="http://schemas.microsoft.com/office/drawing/2014/main" id="{BDEEF630-E241-47AA-BBEA-5014DEE18790}"/>
              </a:ext>
            </a:extLst>
          </p:cNvPr>
          <p:cNvGrpSpPr/>
          <p:nvPr/>
        </p:nvGrpSpPr>
        <p:grpSpPr>
          <a:xfrm>
            <a:off x="793780" y="2608487"/>
            <a:ext cx="2974123" cy="3387729"/>
            <a:chOff x="870884" y="1648624"/>
            <a:chExt cx="2974123" cy="3387729"/>
          </a:xfrm>
        </p:grpSpPr>
        <p:sp>
          <p:nvSpPr>
            <p:cNvPr id="11" name="椭圆 10">
              <a:extLst>
                <a:ext uri="{FF2B5EF4-FFF2-40B4-BE49-F238E27FC236}">
                  <a16:creationId xmlns:a16="http://schemas.microsoft.com/office/drawing/2014/main" id="{50233245-EB31-4DE9-831A-0D881E502C02}"/>
                </a:ext>
              </a:extLst>
            </p:cNvPr>
            <p:cNvSpPr/>
            <p:nvPr/>
          </p:nvSpPr>
          <p:spPr>
            <a:xfrm>
              <a:off x="870884" y="2062230"/>
              <a:ext cx="2974123" cy="297412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icrosoft YaHei"/>
                <a:cs typeface="+mn-cs"/>
              </a:endParaRPr>
            </a:p>
          </p:txBody>
        </p:sp>
        <p:pic>
          <p:nvPicPr>
            <p:cNvPr id="10" name="图片 9">
              <a:extLst>
                <a:ext uri="{FF2B5EF4-FFF2-40B4-BE49-F238E27FC236}">
                  <a16:creationId xmlns:a16="http://schemas.microsoft.com/office/drawing/2014/main" id="{3573E33A-B581-4106-913A-FFF18735F53C}"/>
                </a:ext>
              </a:extLst>
            </p:cNvPr>
            <p:cNvPicPr>
              <a:picLocks noChangeAspect="1"/>
            </p:cNvPicPr>
            <p:nvPr/>
          </p:nvPicPr>
          <p:blipFill rotWithShape="1">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r="32998"/>
            <a:stretch/>
          </p:blipFill>
          <p:spPr>
            <a:xfrm>
              <a:off x="1220247" y="1857063"/>
              <a:ext cx="1957015" cy="3160925"/>
            </a:xfrm>
            <a:prstGeom prst="rect">
              <a:avLst/>
            </a:prstGeom>
          </p:spPr>
        </p:pic>
        <p:sp>
          <p:nvSpPr>
            <p:cNvPr id="5" name="文本框 4">
              <a:extLst>
                <a:ext uri="{FF2B5EF4-FFF2-40B4-BE49-F238E27FC236}">
                  <a16:creationId xmlns:a16="http://schemas.microsoft.com/office/drawing/2014/main" id="{62147B20-C522-4B7C-ABB1-0C68667B5D15}"/>
                </a:ext>
              </a:extLst>
            </p:cNvPr>
            <p:cNvSpPr txBox="1"/>
            <p:nvPr/>
          </p:nvSpPr>
          <p:spPr>
            <a:xfrm>
              <a:off x="2749140" y="1648624"/>
              <a:ext cx="258532" cy="1586951"/>
            </a:xfrm>
            <a:prstGeom prst="rect">
              <a:avLst/>
            </a:prstGeom>
            <a:noFill/>
          </p:spPr>
          <p:txBody>
            <a:bodyPr vert="eaVert" wrap="square" lIns="0" tIns="0" rIns="0" bIns="0" rtlCol="0" anchor="ctr">
              <a:spAutoFit/>
            </a:bodyPr>
            <a:lstStyle/>
            <a:p>
              <a:pPr marL="0" marR="0" lvl="0" indent="0" algn="dist" defTabSz="914400" rtl="0" eaLnBrk="1" fontAlgn="auto" latinLnBrk="0" hangingPunct="1">
                <a:lnSpc>
                  <a:spcPct val="120000"/>
                </a:lnSpc>
                <a:spcBef>
                  <a:spcPts val="0"/>
                </a:spcBef>
                <a:spcAft>
                  <a:spcPts val="100"/>
                </a:spcAft>
                <a:buClrTx/>
                <a:buSzTx/>
                <a:buFontTx/>
                <a:buNone/>
                <a:tabLst/>
                <a:defRPr/>
              </a:pPr>
              <a:r>
                <a:rPr kumimoji="0" lang="en-US" altLang="zh-CN" sz="1400" b="1" i="0" u="none" strike="noStrike" kern="1200" cap="none" spc="0" normalizeH="0" baseline="0" noProof="0" dirty="0">
                  <a:ln>
                    <a:noFill/>
                  </a:ln>
                  <a:solidFill>
                    <a:srgbClr val="003F88"/>
                  </a:solidFill>
                  <a:effectLst/>
                  <a:uLnTx/>
                  <a:uFillTx/>
                  <a:latin typeface="Arial"/>
                  <a:ea typeface="Microsoft YaHei"/>
                  <a:cs typeface="+mn-cs"/>
                </a:rPr>
                <a:t>CON</a:t>
              </a:r>
              <a:r>
                <a:rPr kumimoji="0" lang="en-US" altLang="zh-CN" sz="1400" b="1" i="0" u="none" strike="noStrike" kern="1200" cap="none" spc="0" normalizeH="0" baseline="0" noProof="0" dirty="0">
                  <a:ln>
                    <a:noFill/>
                  </a:ln>
                  <a:solidFill>
                    <a:srgbClr val="FFFFFF"/>
                  </a:solidFill>
                  <a:effectLst/>
                  <a:uLnTx/>
                  <a:uFillTx/>
                  <a:latin typeface="Arial"/>
                  <a:ea typeface="Microsoft YaHei"/>
                  <a:cs typeface="+mn-cs"/>
                </a:rPr>
                <a:t>TENTS</a:t>
              </a:r>
              <a:endParaRPr kumimoji="0" lang="zh-CN" altLang="en-US" sz="1400" b="1" i="0" u="none" strike="noStrike" kern="1200" cap="none" spc="0" normalizeH="0" baseline="0" noProof="0" dirty="0">
                <a:ln>
                  <a:noFill/>
                </a:ln>
                <a:solidFill>
                  <a:srgbClr val="FFFFFF"/>
                </a:solidFill>
                <a:effectLst/>
                <a:uLnTx/>
                <a:uFillTx/>
                <a:latin typeface="Arial"/>
                <a:ea typeface="Microsoft YaHei"/>
                <a:cs typeface="+mn-cs"/>
              </a:endParaRPr>
            </a:p>
          </p:txBody>
        </p:sp>
        <p:sp>
          <p:nvSpPr>
            <p:cNvPr id="6" name="文本框 5">
              <a:extLst>
                <a:ext uri="{FF2B5EF4-FFF2-40B4-BE49-F238E27FC236}">
                  <a16:creationId xmlns:a16="http://schemas.microsoft.com/office/drawing/2014/main" id="{3DD3D9B8-D4D5-4E08-89D2-9CEB9C2292E1}"/>
                </a:ext>
              </a:extLst>
            </p:cNvPr>
            <p:cNvSpPr txBox="1"/>
            <p:nvPr/>
          </p:nvSpPr>
          <p:spPr>
            <a:xfrm>
              <a:off x="2958610" y="1648624"/>
              <a:ext cx="886397" cy="1586951"/>
            </a:xfrm>
            <a:prstGeom prst="rect">
              <a:avLst/>
            </a:prstGeom>
            <a:noFill/>
          </p:spPr>
          <p:txBody>
            <a:bodyPr vert="eaVert" wrap="square" lIns="0" tIns="0" rIns="0" bIns="0" rtlCol="0" anchor="ctr">
              <a:spAutoFit/>
            </a:bodyPr>
            <a:lstStyle/>
            <a:p>
              <a:pPr marL="0" marR="0" lvl="0" indent="0" algn="dist" defTabSz="914400" rtl="0" eaLnBrk="1" fontAlgn="auto" latinLnBrk="0" hangingPunct="1">
                <a:lnSpc>
                  <a:spcPct val="120000"/>
                </a:lnSpc>
                <a:spcBef>
                  <a:spcPts val="0"/>
                </a:spcBef>
                <a:spcAft>
                  <a:spcPts val="100"/>
                </a:spcAft>
                <a:buClrTx/>
                <a:buSzTx/>
                <a:buFontTx/>
                <a:buNone/>
                <a:tabLst/>
                <a:defRPr/>
              </a:pPr>
              <a:r>
                <a:rPr kumimoji="0" lang="zh-CN" altLang="en-US" sz="4800" b="1" i="0" u="none" strike="noStrike" kern="1200" cap="none" spc="0" normalizeH="0" baseline="0" noProof="0" dirty="0">
                  <a:ln>
                    <a:noFill/>
                  </a:ln>
                  <a:solidFill>
                    <a:srgbClr val="3F3F3F"/>
                  </a:solidFill>
                  <a:effectLst/>
                  <a:uLnTx/>
                  <a:uFillTx/>
                  <a:latin typeface="方正粗雅宋简体" panose="02000000000000000000" pitchFamily="2" charset="-122"/>
                  <a:ea typeface="方正粗雅宋简体" panose="02000000000000000000" pitchFamily="2" charset="-122"/>
                  <a:cs typeface="+mn-cs"/>
                </a:rPr>
                <a:t>目</a:t>
              </a:r>
              <a:r>
                <a:rPr kumimoji="0" lang="zh-CN" altLang="en-US" sz="4800" b="1" i="0" u="none" strike="noStrike" kern="1200" cap="none" spc="0" normalizeH="0" baseline="0" noProof="0" dirty="0">
                  <a:ln>
                    <a:noFill/>
                  </a:ln>
                  <a:solidFill>
                    <a:srgbClr val="FFFFFF"/>
                  </a:solidFill>
                  <a:effectLst/>
                  <a:uLnTx/>
                  <a:uFillTx/>
                  <a:latin typeface="方正粗雅宋简体" panose="02000000000000000000" pitchFamily="2" charset="-122"/>
                  <a:ea typeface="方正粗雅宋简体" panose="02000000000000000000" pitchFamily="2" charset="-122"/>
                  <a:cs typeface="+mn-cs"/>
                </a:rPr>
                <a:t>录</a:t>
              </a:r>
            </a:p>
          </p:txBody>
        </p:sp>
      </p:grpSp>
      <p:pic>
        <p:nvPicPr>
          <p:cNvPr id="54" name="图片 53">
            <a:extLst>
              <a:ext uri="{FF2B5EF4-FFF2-40B4-BE49-F238E27FC236}">
                <a16:creationId xmlns:a16="http://schemas.microsoft.com/office/drawing/2014/main" id="{181BDF26-C17E-48A9-88CD-AAC5E09300F1}"/>
              </a:ext>
            </a:extLst>
          </p:cNvPr>
          <p:cNvPicPr>
            <a:picLocks noChangeAspect="1"/>
          </p:cNvPicPr>
          <p:nvPr/>
        </p:nvPicPr>
        <p:blipFill rotWithShape="1">
          <a:blip r:embed="rId4">
            <a:duotone>
              <a:prstClr val="black"/>
              <a:schemeClr val="accent4">
                <a:tint val="45000"/>
                <a:satMod val="400000"/>
              </a:schemeClr>
            </a:duotone>
            <a:alphaModFix amt="50000"/>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r="32998"/>
          <a:stretch/>
        </p:blipFill>
        <p:spPr>
          <a:xfrm>
            <a:off x="5586820" y="-1357083"/>
            <a:ext cx="5553465" cy="8969827"/>
          </a:xfrm>
          <a:prstGeom prst="rect">
            <a:avLst/>
          </a:prstGeom>
        </p:spPr>
      </p:pic>
      <p:grpSp>
        <p:nvGrpSpPr>
          <p:cNvPr id="4" name="组合 3">
            <a:extLst>
              <a:ext uri="{FF2B5EF4-FFF2-40B4-BE49-F238E27FC236}">
                <a16:creationId xmlns:a16="http://schemas.microsoft.com/office/drawing/2014/main" id="{9D464AB2-464B-8809-D25A-0EDE462140EB}"/>
              </a:ext>
            </a:extLst>
          </p:cNvPr>
          <p:cNvGrpSpPr/>
          <p:nvPr/>
        </p:nvGrpSpPr>
        <p:grpSpPr>
          <a:xfrm>
            <a:off x="6096000" y="1910233"/>
            <a:ext cx="5210523" cy="2983458"/>
            <a:chOff x="6096000" y="1910233"/>
            <a:chExt cx="5210523" cy="2983458"/>
          </a:xfrm>
        </p:grpSpPr>
        <p:sp>
          <p:nvSpPr>
            <p:cNvPr id="56" name="文本框 55">
              <a:extLst>
                <a:ext uri="{FF2B5EF4-FFF2-40B4-BE49-F238E27FC236}">
                  <a16:creationId xmlns:a16="http://schemas.microsoft.com/office/drawing/2014/main" id="{CBE8EAC9-8496-4C87-BFDB-13866B96CD0D}"/>
                </a:ext>
              </a:extLst>
            </p:cNvPr>
            <p:cNvSpPr txBox="1"/>
            <p:nvPr/>
          </p:nvSpPr>
          <p:spPr>
            <a:xfrm>
              <a:off x="6096000" y="4173691"/>
              <a:ext cx="5210523" cy="720000"/>
            </a:xfrm>
            <a:prstGeom prst="rect">
              <a:avLst/>
            </a:prstGeom>
            <a:noFill/>
          </p:spPr>
          <p:txBody>
            <a:bodyPr wrap="square" lIns="0" tIns="0" rIns="0" bIns="0" rtlCol="0" anchor="ctr">
              <a:noAutofit/>
            </a:bodyPr>
            <a:lstStyle/>
            <a:p>
              <a:pPr>
                <a:lnSpc>
                  <a:spcPct val="120000"/>
                </a:lnSpc>
                <a:defRPr/>
              </a:pPr>
              <a:r>
                <a:rPr kumimoji="0" lang="en-US" altLang="zh-CN" sz="3600" b="1" i="0" u="none" strike="noStrike" kern="1200" cap="none" spc="0" normalizeH="0" baseline="0" noProof="0" dirty="0">
                  <a:ln>
                    <a:noFill/>
                  </a:ln>
                  <a:solidFill>
                    <a:srgbClr val="3F3F3F"/>
                  </a:solidFill>
                  <a:effectLst/>
                  <a:uLnTx/>
                  <a:uFillTx/>
                  <a:latin typeface="Arial"/>
                  <a:ea typeface="Microsoft YaHei"/>
                  <a:cs typeface="+mn-cs"/>
                </a:rPr>
                <a:t>03 </a:t>
              </a:r>
              <a:r>
                <a:rPr lang="en-US" altLang="zh-CN" sz="3600" b="1" dirty="0">
                  <a:solidFill>
                    <a:srgbClr val="3F3F3F"/>
                  </a:solidFill>
                  <a:latin typeface="Arial"/>
                  <a:ea typeface="Microsoft YaHei"/>
                </a:rPr>
                <a:t>DevOps</a:t>
              </a:r>
              <a:r>
                <a:rPr lang="zh-CN" altLang="en-US" sz="3600" b="1" dirty="0">
                  <a:solidFill>
                    <a:srgbClr val="3F3F3F"/>
                  </a:solidFill>
                  <a:latin typeface="Arial"/>
                  <a:ea typeface="Microsoft YaHei"/>
                </a:rPr>
                <a:t>标准能力</a:t>
              </a:r>
            </a:p>
          </p:txBody>
        </p:sp>
        <p:sp>
          <p:nvSpPr>
            <p:cNvPr id="57" name="文本框 56">
              <a:extLst>
                <a:ext uri="{FF2B5EF4-FFF2-40B4-BE49-F238E27FC236}">
                  <a16:creationId xmlns:a16="http://schemas.microsoft.com/office/drawing/2014/main" id="{40E3827C-003B-4936-B561-F5EC80597BFF}"/>
                </a:ext>
              </a:extLst>
            </p:cNvPr>
            <p:cNvSpPr txBox="1"/>
            <p:nvPr/>
          </p:nvSpPr>
          <p:spPr>
            <a:xfrm>
              <a:off x="6096000" y="3041962"/>
              <a:ext cx="5210523" cy="720000"/>
            </a:xfrm>
            <a:prstGeom prst="rect">
              <a:avLst/>
            </a:prstGeom>
            <a:noFill/>
          </p:spPr>
          <p:txBody>
            <a:bodyPr wrap="square" lIns="0" tIns="0" rIns="0" bIns="0" rtlCol="0" anchor="ctr">
              <a:noAutofit/>
            </a:bodyPr>
            <a:lstStyle/>
            <a:p>
              <a:pPr marL="0" marR="0" lvl="0" indent="0" defTabSz="914400" rtl="0" eaLnBrk="1" fontAlgn="auto" latinLnBrk="0" hangingPunct="1">
                <a:lnSpc>
                  <a:spcPct val="120000"/>
                </a:lnSpc>
                <a:spcBef>
                  <a:spcPts val="0"/>
                </a:spcBef>
                <a:spcAft>
                  <a:spcPts val="0"/>
                </a:spcAft>
                <a:buClrTx/>
                <a:buSzTx/>
                <a:buFontTx/>
                <a:buNone/>
                <a:tabLst/>
                <a:defRPr/>
              </a:pPr>
              <a:r>
                <a:rPr kumimoji="0" lang="en-US" altLang="zh-CN" sz="3600" b="1" i="0" u="none" strike="noStrike" kern="1200" cap="none" spc="0" normalizeH="0" baseline="0" noProof="0" dirty="0">
                  <a:ln>
                    <a:noFill/>
                  </a:ln>
                  <a:solidFill>
                    <a:schemeClr val="bg1">
                      <a:lumMod val="85000"/>
                    </a:schemeClr>
                  </a:solidFill>
                  <a:effectLst/>
                  <a:uLnTx/>
                  <a:uFillTx/>
                  <a:latin typeface="Arial"/>
                  <a:ea typeface="Microsoft YaHei"/>
                  <a:cs typeface="+mn-cs"/>
                </a:rPr>
                <a:t>02 </a:t>
              </a:r>
              <a:r>
                <a:rPr lang="en-US" altLang="zh-CN" sz="3600" b="1" dirty="0">
                  <a:solidFill>
                    <a:schemeClr val="bg1">
                      <a:lumMod val="85000"/>
                    </a:schemeClr>
                  </a:solidFill>
                  <a:latin typeface="Arial"/>
                  <a:ea typeface="Microsoft YaHei"/>
                </a:rPr>
                <a:t>DevOps</a:t>
              </a:r>
              <a:r>
                <a:rPr lang="zh-CN" altLang="en-US" sz="3600" b="1" dirty="0">
                  <a:solidFill>
                    <a:schemeClr val="bg1">
                      <a:lumMod val="85000"/>
                    </a:schemeClr>
                  </a:solidFill>
                  <a:latin typeface="Arial"/>
                  <a:ea typeface="Microsoft YaHei"/>
                </a:rPr>
                <a:t>历史溯源</a:t>
              </a:r>
              <a:endParaRPr kumimoji="0" lang="zh-CN" altLang="zh-CN" sz="3600" b="0" i="0" u="none" strike="noStrike" kern="1200" cap="none" spc="0" normalizeH="0" baseline="0" noProof="0" dirty="0">
                <a:ln>
                  <a:noFill/>
                </a:ln>
                <a:solidFill>
                  <a:schemeClr val="bg1">
                    <a:lumMod val="85000"/>
                  </a:schemeClr>
                </a:solidFill>
                <a:effectLst/>
                <a:uLnTx/>
                <a:uFillTx/>
                <a:latin typeface="Arial"/>
                <a:ea typeface="Microsoft YaHei"/>
                <a:cs typeface="+mn-cs"/>
              </a:endParaRPr>
            </a:p>
          </p:txBody>
        </p:sp>
        <p:sp>
          <p:nvSpPr>
            <p:cNvPr id="60" name="文本框 59">
              <a:extLst>
                <a:ext uri="{FF2B5EF4-FFF2-40B4-BE49-F238E27FC236}">
                  <a16:creationId xmlns:a16="http://schemas.microsoft.com/office/drawing/2014/main" id="{C8307703-D4D9-4F72-82D7-4288F459977B}"/>
                </a:ext>
              </a:extLst>
            </p:cNvPr>
            <p:cNvSpPr txBox="1"/>
            <p:nvPr/>
          </p:nvSpPr>
          <p:spPr>
            <a:xfrm>
              <a:off x="6096000" y="1910233"/>
              <a:ext cx="5210523" cy="720000"/>
            </a:xfrm>
            <a:prstGeom prst="rect">
              <a:avLst/>
            </a:prstGeom>
            <a:noFill/>
          </p:spPr>
          <p:txBody>
            <a:bodyPr wrap="square" lIns="0" tIns="0" rIns="0" bIns="0" rtlCol="0" anchor="ctr">
              <a:noAutofit/>
            </a:bodyPr>
            <a:lstStyle/>
            <a:p>
              <a:pPr marL="0" marR="0" lvl="0" indent="0" defTabSz="914400" rtl="0" eaLnBrk="1" fontAlgn="auto" latinLnBrk="0" hangingPunct="1">
                <a:lnSpc>
                  <a:spcPct val="120000"/>
                </a:lnSpc>
                <a:spcBef>
                  <a:spcPts val="0"/>
                </a:spcBef>
                <a:spcAft>
                  <a:spcPts val="0"/>
                </a:spcAft>
                <a:buClrTx/>
                <a:buSzTx/>
                <a:buFontTx/>
                <a:buNone/>
                <a:tabLst/>
                <a:defRPr/>
              </a:pPr>
              <a:r>
                <a:rPr kumimoji="0" lang="en-US" altLang="zh-CN" sz="3600" b="1" i="0" u="none" strike="noStrike" kern="1200" cap="none" spc="0" normalizeH="0" baseline="0" noProof="0" dirty="0">
                  <a:ln>
                    <a:noFill/>
                  </a:ln>
                  <a:solidFill>
                    <a:schemeClr val="bg1">
                      <a:lumMod val="85000"/>
                    </a:schemeClr>
                  </a:solidFill>
                  <a:effectLst/>
                  <a:uLnTx/>
                  <a:uFillTx/>
                  <a:latin typeface="Arial"/>
                  <a:ea typeface="Microsoft YaHei"/>
                  <a:cs typeface="+mn-cs"/>
                </a:rPr>
                <a:t>01 DevOps</a:t>
              </a:r>
              <a:r>
                <a:rPr kumimoji="0" lang="zh-CN" altLang="en-US" sz="3600" b="1" i="0" u="none" strike="noStrike" kern="1200" cap="none" spc="0" normalizeH="0" baseline="0" noProof="0" dirty="0">
                  <a:ln>
                    <a:noFill/>
                  </a:ln>
                  <a:solidFill>
                    <a:schemeClr val="bg1">
                      <a:lumMod val="85000"/>
                    </a:schemeClr>
                  </a:solidFill>
                  <a:effectLst/>
                  <a:uLnTx/>
                  <a:uFillTx/>
                  <a:latin typeface="Arial"/>
                  <a:ea typeface="Microsoft YaHei"/>
                  <a:cs typeface="+mn-cs"/>
                </a:rPr>
                <a:t>概念</a:t>
              </a:r>
              <a:endParaRPr lang="en-US" altLang="zh-CN" sz="3600" b="1" dirty="0">
                <a:solidFill>
                  <a:schemeClr val="bg1">
                    <a:lumMod val="85000"/>
                  </a:schemeClr>
                </a:solidFill>
                <a:latin typeface="Arial"/>
                <a:ea typeface="Microsoft YaHei"/>
              </a:endParaRPr>
            </a:p>
          </p:txBody>
        </p:sp>
      </p:grpSp>
    </p:spTree>
    <p:extLst>
      <p:ext uri="{BB962C8B-B14F-4D97-AF65-F5344CB8AC3E}">
        <p14:creationId xmlns:p14="http://schemas.microsoft.com/office/powerpoint/2010/main" val="30081851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03 DevOps</a:t>
            </a:r>
            <a:r>
              <a:rPr lang="zh-CN" altLang="en-US" dirty="0"/>
              <a:t>工具体系</a:t>
            </a:r>
          </a:p>
        </p:txBody>
      </p:sp>
      <p:sp>
        <p:nvSpPr>
          <p:cNvPr id="3" name="灯片编号占位符 2"/>
          <p:cNvSpPr>
            <a:spLocks noGrp="1"/>
          </p:cNvSpPr>
          <p:nvPr>
            <p:ph type="sldNum" sz="quarter" idx="12"/>
          </p:nvPr>
        </p:nvSpPr>
        <p:spPr/>
        <p:txBody>
          <a:bodyPr/>
          <a:lstStyle/>
          <a:p>
            <a:fld id="{1AAC388E-FA9E-4A2C-95EA-1F6B3A07935A}" type="slidenum">
              <a:rPr lang="zh-CN" altLang="en-US" sz="1400" smtClean="0">
                <a:solidFill>
                  <a:srgbClr val="000000"/>
                </a:solidFill>
              </a:rPr>
              <a:t>46</a:t>
            </a:fld>
            <a:endParaRPr lang="zh-CN" altLang="en-US" sz="1400" dirty="0">
              <a:solidFill>
                <a:srgbClr val="000000"/>
              </a:solidFill>
            </a:endParaRPr>
          </a:p>
        </p:txBody>
      </p:sp>
      <p:pic>
        <p:nvPicPr>
          <p:cNvPr id="1026" name="Picture 2">
            <a:extLst>
              <a:ext uri="{FF2B5EF4-FFF2-40B4-BE49-F238E27FC236}">
                <a16:creationId xmlns:a16="http://schemas.microsoft.com/office/drawing/2014/main" id="{D7547259-5225-E1F7-A723-CE1F68FCD3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7499" y="1295106"/>
            <a:ext cx="9773855" cy="5490158"/>
          </a:xfrm>
          <a:prstGeom prst="rect">
            <a:avLst/>
          </a:prstGeom>
          <a:noFill/>
          <a:extLst>
            <a:ext uri="{909E8E84-426E-40DD-AFC4-6F175D3DCCD1}">
              <a14:hiddenFill xmlns:a14="http://schemas.microsoft.com/office/drawing/2010/main">
                <a:solidFill>
                  <a:srgbClr val="FFFFFF"/>
                </a:solidFill>
              </a14:hiddenFill>
            </a:ext>
          </a:extLst>
        </p:spPr>
      </p:pic>
      <p:sp>
        <p:nvSpPr>
          <p:cNvPr id="6" name="object 2">
            <a:extLst>
              <a:ext uri="{FF2B5EF4-FFF2-40B4-BE49-F238E27FC236}">
                <a16:creationId xmlns:a16="http://schemas.microsoft.com/office/drawing/2014/main" id="{7C05B8A0-5E8A-AAC7-773F-76803E8AF80F}"/>
              </a:ext>
            </a:extLst>
          </p:cNvPr>
          <p:cNvSpPr txBox="1">
            <a:spLocks/>
          </p:cNvSpPr>
          <p:nvPr/>
        </p:nvSpPr>
        <p:spPr>
          <a:xfrm>
            <a:off x="718218" y="988758"/>
            <a:ext cx="10318115" cy="381515"/>
          </a:xfrm>
          <a:prstGeom prst="rect">
            <a:avLst/>
          </a:prstGeom>
        </p:spPr>
        <p:txBody>
          <a:bodyPr vert="horz" wrap="square" lIns="0" tIns="12065" rIns="0" bIns="0" rtlCol="0" anchor="ctr">
            <a:spAutoFit/>
          </a:bodyPr>
          <a:lstStyle>
            <a:lvl1pPr algn="l" defTabSz="914400" rtl="0" eaLnBrk="1" latinLnBrk="0" hangingPunct="1">
              <a:lnSpc>
                <a:spcPct val="90000"/>
              </a:lnSpc>
              <a:spcBef>
                <a:spcPct val="0"/>
              </a:spcBef>
              <a:buNone/>
              <a:defRPr sz="2800" b="1" kern="1200">
                <a:solidFill>
                  <a:schemeClr val="tx1"/>
                </a:solidFill>
                <a:latin typeface="方正粗雅宋简体" panose="02000000000000000000" pitchFamily="2" charset="-122"/>
                <a:ea typeface="方正粗雅宋简体" panose="02000000000000000000" pitchFamily="2" charset="-122"/>
                <a:cs typeface="+mj-cs"/>
              </a:defRPr>
            </a:lvl1pPr>
          </a:lstStyle>
          <a:p>
            <a:pPr marL="355600" indent="-342900">
              <a:lnSpc>
                <a:spcPct val="100000"/>
              </a:lnSpc>
              <a:spcBef>
                <a:spcPts val="95"/>
              </a:spcBef>
              <a:buFont typeface="Wingdings" panose="05000000000000000000" pitchFamily="2" charset="2"/>
              <a:buChar char="p"/>
            </a:pPr>
            <a:r>
              <a:rPr lang="zh-CN" altLang="en-US" sz="2400" dirty="0">
                <a:solidFill>
                  <a:srgbClr val="003F88"/>
                </a:solidFill>
                <a:latin typeface="+mn-lt"/>
                <a:ea typeface="+mn-ea"/>
                <a:cs typeface="+mn-cs"/>
              </a:rPr>
              <a:t>百花齐放的</a:t>
            </a:r>
            <a:r>
              <a:rPr lang="en-US" altLang="zh-CN" sz="2400" dirty="0">
                <a:solidFill>
                  <a:srgbClr val="003F88"/>
                </a:solidFill>
                <a:latin typeface="+mn-lt"/>
                <a:ea typeface="+mn-ea"/>
                <a:cs typeface="+mn-cs"/>
              </a:rPr>
              <a:t>DevOps</a:t>
            </a:r>
            <a:r>
              <a:rPr lang="zh-CN" altLang="en-US" sz="2400" dirty="0">
                <a:solidFill>
                  <a:srgbClr val="003F88"/>
                </a:solidFill>
                <a:latin typeface="+mn-lt"/>
                <a:ea typeface="+mn-ea"/>
                <a:cs typeface="+mn-cs"/>
              </a:rPr>
              <a:t>工具</a:t>
            </a:r>
            <a:endParaRPr lang="zh-CN" altLang="en-US" dirty="0">
              <a:solidFill>
                <a:srgbClr val="003F88"/>
              </a:solidFill>
              <a:latin typeface="宋体"/>
              <a:cs typeface="宋体"/>
            </a:endParaRPr>
          </a:p>
        </p:txBody>
      </p:sp>
    </p:spTree>
    <p:extLst>
      <p:ext uri="{BB962C8B-B14F-4D97-AF65-F5344CB8AC3E}">
        <p14:creationId xmlns:p14="http://schemas.microsoft.com/office/powerpoint/2010/main" val="28640216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03 DevOps</a:t>
            </a:r>
            <a:r>
              <a:rPr lang="zh-CN" altLang="en-US" dirty="0"/>
              <a:t>工具体系</a:t>
            </a:r>
          </a:p>
        </p:txBody>
      </p:sp>
      <p:sp>
        <p:nvSpPr>
          <p:cNvPr id="3" name="灯片编号占位符 2"/>
          <p:cNvSpPr>
            <a:spLocks noGrp="1"/>
          </p:cNvSpPr>
          <p:nvPr>
            <p:ph type="sldNum" sz="quarter" idx="12"/>
          </p:nvPr>
        </p:nvSpPr>
        <p:spPr/>
        <p:txBody>
          <a:bodyPr/>
          <a:lstStyle/>
          <a:p>
            <a:fld id="{1AAC388E-FA9E-4A2C-95EA-1F6B3A07935A}" type="slidenum">
              <a:rPr lang="zh-CN" altLang="en-US" sz="1400" smtClean="0">
                <a:solidFill>
                  <a:srgbClr val="000000"/>
                </a:solidFill>
              </a:rPr>
              <a:t>47</a:t>
            </a:fld>
            <a:endParaRPr lang="zh-CN" altLang="en-US" sz="1400" dirty="0">
              <a:solidFill>
                <a:srgbClr val="000000"/>
              </a:solidFill>
            </a:endParaRPr>
          </a:p>
        </p:txBody>
      </p:sp>
      <p:grpSp>
        <p:nvGrpSpPr>
          <p:cNvPr id="4" name="object 3">
            <a:extLst>
              <a:ext uri="{FF2B5EF4-FFF2-40B4-BE49-F238E27FC236}">
                <a16:creationId xmlns:a16="http://schemas.microsoft.com/office/drawing/2014/main" id="{DA3D461E-187E-913B-C3A5-98A8F443A187}"/>
              </a:ext>
            </a:extLst>
          </p:cNvPr>
          <p:cNvGrpSpPr/>
          <p:nvPr/>
        </p:nvGrpSpPr>
        <p:grpSpPr>
          <a:xfrm>
            <a:off x="1015163" y="2771433"/>
            <a:ext cx="1381125" cy="731520"/>
            <a:chOff x="626363" y="2703576"/>
            <a:chExt cx="1381125" cy="731520"/>
          </a:xfrm>
        </p:grpSpPr>
        <p:sp>
          <p:nvSpPr>
            <p:cNvPr id="5" name="object 4">
              <a:extLst>
                <a:ext uri="{FF2B5EF4-FFF2-40B4-BE49-F238E27FC236}">
                  <a16:creationId xmlns:a16="http://schemas.microsoft.com/office/drawing/2014/main" id="{56DB270F-71C1-6A90-AFD0-42D3C1825C68}"/>
                </a:ext>
              </a:extLst>
            </p:cNvPr>
            <p:cNvSpPr/>
            <p:nvPr/>
          </p:nvSpPr>
          <p:spPr>
            <a:xfrm>
              <a:off x="632459" y="2709672"/>
              <a:ext cx="1369060" cy="719455"/>
            </a:xfrm>
            <a:custGeom>
              <a:avLst/>
              <a:gdLst/>
              <a:ahLst/>
              <a:cxnLst/>
              <a:rect l="l" t="t" r="r" b="b"/>
              <a:pathLst>
                <a:path w="1369060" h="719454">
                  <a:moveTo>
                    <a:pt x="1248664" y="0"/>
                  </a:moveTo>
                  <a:lnTo>
                    <a:pt x="119888" y="0"/>
                  </a:lnTo>
                  <a:lnTo>
                    <a:pt x="73225" y="9427"/>
                  </a:lnTo>
                  <a:lnTo>
                    <a:pt x="35117" y="35131"/>
                  </a:lnTo>
                  <a:lnTo>
                    <a:pt x="9422" y="73241"/>
                  </a:lnTo>
                  <a:lnTo>
                    <a:pt x="0" y="119887"/>
                  </a:lnTo>
                  <a:lnTo>
                    <a:pt x="0" y="599439"/>
                  </a:lnTo>
                  <a:lnTo>
                    <a:pt x="9422" y="646086"/>
                  </a:lnTo>
                  <a:lnTo>
                    <a:pt x="35117" y="684196"/>
                  </a:lnTo>
                  <a:lnTo>
                    <a:pt x="73225" y="709900"/>
                  </a:lnTo>
                  <a:lnTo>
                    <a:pt x="119888" y="719327"/>
                  </a:lnTo>
                  <a:lnTo>
                    <a:pt x="1248664" y="719327"/>
                  </a:lnTo>
                  <a:lnTo>
                    <a:pt x="1295310" y="709900"/>
                  </a:lnTo>
                  <a:lnTo>
                    <a:pt x="1333420" y="684196"/>
                  </a:lnTo>
                  <a:lnTo>
                    <a:pt x="1359124" y="646086"/>
                  </a:lnTo>
                  <a:lnTo>
                    <a:pt x="1368552" y="599439"/>
                  </a:lnTo>
                  <a:lnTo>
                    <a:pt x="1368552" y="119887"/>
                  </a:lnTo>
                  <a:lnTo>
                    <a:pt x="1359124" y="73241"/>
                  </a:lnTo>
                  <a:lnTo>
                    <a:pt x="1333420" y="35131"/>
                  </a:lnTo>
                  <a:lnTo>
                    <a:pt x="1295310" y="9427"/>
                  </a:lnTo>
                  <a:lnTo>
                    <a:pt x="1248664" y="0"/>
                  </a:lnTo>
                  <a:close/>
                </a:path>
              </a:pathLst>
            </a:custGeom>
            <a:solidFill>
              <a:srgbClr val="E8F4F5"/>
            </a:solidFill>
          </p:spPr>
          <p:txBody>
            <a:bodyPr wrap="square" lIns="0" tIns="0" rIns="0" bIns="0" rtlCol="0"/>
            <a:lstStyle/>
            <a:p>
              <a:endParaRPr lang="zh-CN" altLang="en-US" dirty="0"/>
            </a:p>
          </p:txBody>
        </p:sp>
        <p:sp>
          <p:nvSpPr>
            <p:cNvPr id="6" name="object 5">
              <a:extLst>
                <a:ext uri="{FF2B5EF4-FFF2-40B4-BE49-F238E27FC236}">
                  <a16:creationId xmlns:a16="http://schemas.microsoft.com/office/drawing/2014/main" id="{CDCC7520-8C91-0FF2-A99F-6638FEF679E2}"/>
                </a:ext>
              </a:extLst>
            </p:cNvPr>
            <p:cNvSpPr/>
            <p:nvPr/>
          </p:nvSpPr>
          <p:spPr>
            <a:xfrm>
              <a:off x="632459" y="2709672"/>
              <a:ext cx="1369060" cy="719455"/>
            </a:xfrm>
            <a:custGeom>
              <a:avLst/>
              <a:gdLst/>
              <a:ahLst/>
              <a:cxnLst/>
              <a:rect l="l" t="t" r="r" b="b"/>
              <a:pathLst>
                <a:path w="1369060" h="719454">
                  <a:moveTo>
                    <a:pt x="0" y="119887"/>
                  </a:moveTo>
                  <a:lnTo>
                    <a:pt x="9422" y="73241"/>
                  </a:lnTo>
                  <a:lnTo>
                    <a:pt x="35117" y="35131"/>
                  </a:lnTo>
                  <a:lnTo>
                    <a:pt x="73225" y="9427"/>
                  </a:lnTo>
                  <a:lnTo>
                    <a:pt x="119888" y="0"/>
                  </a:lnTo>
                  <a:lnTo>
                    <a:pt x="1248664" y="0"/>
                  </a:lnTo>
                  <a:lnTo>
                    <a:pt x="1295310" y="9427"/>
                  </a:lnTo>
                  <a:lnTo>
                    <a:pt x="1333420" y="35131"/>
                  </a:lnTo>
                  <a:lnTo>
                    <a:pt x="1359124" y="73241"/>
                  </a:lnTo>
                  <a:lnTo>
                    <a:pt x="1368552" y="119887"/>
                  </a:lnTo>
                  <a:lnTo>
                    <a:pt x="1368552" y="599439"/>
                  </a:lnTo>
                  <a:lnTo>
                    <a:pt x="1359124" y="646086"/>
                  </a:lnTo>
                  <a:lnTo>
                    <a:pt x="1333420" y="684196"/>
                  </a:lnTo>
                  <a:lnTo>
                    <a:pt x="1295310" y="709900"/>
                  </a:lnTo>
                  <a:lnTo>
                    <a:pt x="1248664" y="719327"/>
                  </a:lnTo>
                  <a:lnTo>
                    <a:pt x="119888" y="719327"/>
                  </a:lnTo>
                  <a:lnTo>
                    <a:pt x="73225" y="709900"/>
                  </a:lnTo>
                  <a:lnTo>
                    <a:pt x="35117" y="684196"/>
                  </a:lnTo>
                  <a:lnTo>
                    <a:pt x="9422" y="646086"/>
                  </a:lnTo>
                  <a:lnTo>
                    <a:pt x="0" y="599439"/>
                  </a:lnTo>
                  <a:lnTo>
                    <a:pt x="0" y="119887"/>
                  </a:lnTo>
                  <a:close/>
                </a:path>
              </a:pathLst>
            </a:custGeom>
            <a:ln w="12192">
              <a:solidFill>
                <a:srgbClr val="E8F4F5"/>
              </a:solidFill>
            </a:ln>
          </p:spPr>
          <p:txBody>
            <a:bodyPr wrap="square" lIns="0" tIns="0" rIns="0" bIns="0" rtlCol="0"/>
            <a:lstStyle/>
            <a:p>
              <a:endParaRPr/>
            </a:p>
          </p:txBody>
        </p:sp>
      </p:grpSp>
      <p:sp>
        <p:nvSpPr>
          <p:cNvPr id="7" name="object 6">
            <a:extLst>
              <a:ext uri="{FF2B5EF4-FFF2-40B4-BE49-F238E27FC236}">
                <a16:creationId xmlns:a16="http://schemas.microsoft.com/office/drawing/2014/main" id="{9277B887-C4BB-D4F8-F2C8-C06F79470109}"/>
              </a:ext>
            </a:extLst>
          </p:cNvPr>
          <p:cNvSpPr txBox="1"/>
          <p:nvPr/>
        </p:nvSpPr>
        <p:spPr>
          <a:xfrm>
            <a:off x="1235026" y="2987333"/>
            <a:ext cx="939800" cy="299720"/>
          </a:xfrm>
          <a:prstGeom prst="rect">
            <a:avLst/>
          </a:prstGeom>
        </p:spPr>
        <p:txBody>
          <a:bodyPr vert="horz" wrap="square" lIns="0" tIns="12700" rIns="0" bIns="0" rtlCol="0">
            <a:spAutoFit/>
          </a:bodyPr>
          <a:lstStyle/>
          <a:p>
            <a:pPr marL="12700">
              <a:lnSpc>
                <a:spcPct val="100000"/>
              </a:lnSpc>
              <a:spcBef>
                <a:spcPts val="100"/>
              </a:spcBef>
            </a:pPr>
            <a:r>
              <a:rPr lang="zh-CN" altLang="en-US" sz="1800" spc="-15" dirty="0">
                <a:latin typeface="宋体"/>
                <a:cs typeface="宋体"/>
              </a:rPr>
              <a:t>内容范围</a:t>
            </a:r>
            <a:endParaRPr lang="zh-CN" altLang="en-US" sz="1800" dirty="0">
              <a:latin typeface="宋体"/>
              <a:cs typeface="宋体"/>
            </a:endParaRPr>
          </a:p>
        </p:txBody>
      </p:sp>
      <p:grpSp>
        <p:nvGrpSpPr>
          <p:cNvPr id="8" name="object 7">
            <a:extLst>
              <a:ext uri="{FF2B5EF4-FFF2-40B4-BE49-F238E27FC236}">
                <a16:creationId xmlns:a16="http://schemas.microsoft.com/office/drawing/2014/main" id="{9B82B898-DDF6-1765-61AA-9B3E750B6AD7}"/>
              </a:ext>
            </a:extLst>
          </p:cNvPr>
          <p:cNvGrpSpPr/>
          <p:nvPr/>
        </p:nvGrpSpPr>
        <p:grpSpPr>
          <a:xfrm>
            <a:off x="1006019" y="4046155"/>
            <a:ext cx="1381125" cy="733425"/>
            <a:chOff x="617219" y="3819144"/>
            <a:chExt cx="1381125" cy="733425"/>
          </a:xfrm>
        </p:grpSpPr>
        <p:sp>
          <p:nvSpPr>
            <p:cNvPr id="9" name="object 8">
              <a:extLst>
                <a:ext uri="{FF2B5EF4-FFF2-40B4-BE49-F238E27FC236}">
                  <a16:creationId xmlns:a16="http://schemas.microsoft.com/office/drawing/2014/main" id="{F2D5B8D6-DFEA-46C4-F235-483490E82A87}"/>
                </a:ext>
              </a:extLst>
            </p:cNvPr>
            <p:cNvSpPr/>
            <p:nvPr/>
          </p:nvSpPr>
          <p:spPr>
            <a:xfrm>
              <a:off x="623315" y="3825240"/>
              <a:ext cx="1369060" cy="721360"/>
            </a:xfrm>
            <a:custGeom>
              <a:avLst/>
              <a:gdLst/>
              <a:ahLst/>
              <a:cxnLst/>
              <a:rect l="l" t="t" r="r" b="b"/>
              <a:pathLst>
                <a:path w="1369060" h="721360">
                  <a:moveTo>
                    <a:pt x="1248410" y="0"/>
                  </a:moveTo>
                  <a:lnTo>
                    <a:pt x="120142" y="0"/>
                  </a:lnTo>
                  <a:lnTo>
                    <a:pt x="73375" y="9449"/>
                  </a:lnTo>
                  <a:lnTo>
                    <a:pt x="35186" y="35210"/>
                  </a:lnTo>
                  <a:lnTo>
                    <a:pt x="9440" y="73402"/>
                  </a:lnTo>
                  <a:lnTo>
                    <a:pt x="0" y="120142"/>
                  </a:lnTo>
                  <a:lnTo>
                    <a:pt x="0" y="600710"/>
                  </a:lnTo>
                  <a:lnTo>
                    <a:pt x="9440" y="647449"/>
                  </a:lnTo>
                  <a:lnTo>
                    <a:pt x="35186" y="685641"/>
                  </a:lnTo>
                  <a:lnTo>
                    <a:pt x="73375" y="711402"/>
                  </a:lnTo>
                  <a:lnTo>
                    <a:pt x="120142" y="720852"/>
                  </a:lnTo>
                  <a:lnTo>
                    <a:pt x="1248410" y="720852"/>
                  </a:lnTo>
                  <a:lnTo>
                    <a:pt x="1295149" y="711402"/>
                  </a:lnTo>
                  <a:lnTo>
                    <a:pt x="1333341" y="685641"/>
                  </a:lnTo>
                  <a:lnTo>
                    <a:pt x="1359102" y="647449"/>
                  </a:lnTo>
                  <a:lnTo>
                    <a:pt x="1368552" y="600710"/>
                  </a:lnTo>
                  <a:lnTo>
                    <a:pt x="1368552" y="120142"/>
                  </a:lnTo>
                  <a:lnTo>
                    <a:pt x="1359102" y="73402"/>
                  </a:lnTo>
                  <a:lnTo>
                    <a:pt x="1333341" y="35210"/>
                  </a:lnTo>
                  <a:lnTo>
                    <a:pt x="1295149" y="9449"/>
                  </a:lnTo>
                  <a:lnTo>
                    <a:pt x="1248410" y="0"/>
                  </a:lnTo>
                  <a:close/>
                </a:path>
              </a:pathLst>
            </a:custGeom>
            <a:solidFill>
              <a:srgbClr val="E8F4F5"/>
            </a:solidFill>
          </p:spPr>
          <p:txBody>
            <a:bodyPr wrap="square" lIns="0" tIns="0" rIns="0" bIns="0" rtlCol="0"/>
            <a:lstStyle/>
            <a:p>
              <a:endParaRPr/>
            </a:p>
          </p:txBody>
        </p:sp>
        <p:sp>
          <p:nvSpPr>
            <p:cNvPr id="10" name="object 9">
              <a:extLst>
                <a:ext uri="{FF2B5EF4-FFF2-40B4-BE49-F238E27FC236}">
                  <a16:creationId xmlns:a16="http://schemas.microsoft.com/office/drawing/2014/main" id="{7F3911F1-6D26-604F-64BD-FB6C22B3E3D0}"/>
                </a:ext>
              </a:extLst>
            </p:cNvPr>
            <p:cNvSpPr/>
            <p:nvPr/>
          </p:nvSpPr>
          <p:spPr>
            <a:xfrm>
              <a:off x="623315" y="3825240"/>
              <a:ext cx="1369060" cy="721360"/>
            </a:xfrm>
            <a:custGeom>
              <a:avLst/>
              <a:gdLst/>
              <a:ahLst/>
              <a:cxnLst/>
              <a:rect l="l" t="t" r="r" b="b"/>
              <a:pathLst>
                <a:path w="1369060" h="721360">
                  <a:moveTo>
                    <a:pt x="0" y="120142"/>
                  </a:moveTo>
                  <a:lnTo>
                    <a:pt x="9440" y="73402"/>
                  </a:lnTo>
                  <a:lnTo>
                    <a:pt x="35186" y="35210"/>
                  </a:lnTo>
                  <a:lnTo>
                    <a:pt x="73375" y="9449"/>
                  </a:lnTo>
                  <a:lnTo>
                    <a:pt x="120142" y="0"/>
                  </a:lnTo>
                  <a:lnTo>
                    <a:pt x="1248410" y="0"/>
                  </a:lnTo>
                  <a:lnTo>
                    <a:pt x="1295149" y="9449"/>
                  </a:lnTo>
                  <a:lnTo>
                    <a:pt x="1333341" y="35210"/>
                  </a:lnTo>
                  <a:lnTo>
                    <a:pt x="1359102" y="73402"/>
                  </a:lnTo>
                  <a:lnTo>
                    <a:pt x="1368552" y="120142"/>
                  </a:lnTo>
                  <a:lnTo>
                    <a:pt x="1368552" y="600710"/>
                  </a:lnTo>
                  <a:lnTo>
                    <a:pt x="1359102" y="647449"/>
                  </a:lnTo>
                  <a:lnTo>
                    <a:pt x="1333341" y="685641"/>
                  </a:lnTo>
                  <a:lnTo>
                    <a:pt x="1295149" y="711402"/>
                  </a:lnTo>
                  <a:lnTo>
                    <a:pt x="1248410" y="720852"/>
                  </a:lnTo>
                  <a:lnTo>
                    <a:pt x="120142" y="720852"/>
                  </a:lnTo>
                  <a:lnTo>
                    <a:pt x="73375" y="711402"/>
                  </a:lnTo>
                  <a:lnTo>
                    <a:pt x="35186" y="685641"/>
                  </a:lnTo>
                  <a:lnTo>
                    <a:pt x="9440" y="647449"/>
                  </a:lnTo>
                  <a:lnTo>
                    <a:pt x="0" y="600710"/>
                  </a:lnTo>
                  <a:lnTo>
                    <a:pt x="0" y="120142"/>
                  </a:lnTo>
                  <a:close/>
                </a:path>
              </a:pathLst>
            </a:custGeom>
            <a:ln w="12192">
              <a:solidFill>
                <a:srgbClr val="E8F4F5"/>
              </a:solidFill>
            </a:ln>
          </p:spPr>
          <p:txBody>
            <a:bodyPr wrap="square" lIns="0" tIns="0" rIns="0" bIns="0" rtlCol="0"/>
            <a:lstStyle/>
            <a:p>
              <a:endParaRPr/>
            </a:p>
          </p:txBody>
        </p:sp>
      </p:grpSp>
      <p:sp>
        <p:nvSpPr>
          <p:cNvPr id="11" name="object 10">
            <a:extLst>
              <a:ext uri="{FF2B5EF4-FFF2-40B4-BE49-F238E27FC236}">
                <a16:creationId xmlns:a16="http://schemas.microsoft.com/office/drawing/2014/main" id="{1A8CCD8F-424C-D68F-7389-A9DFED1C8554}"/>
              </a:ext>
            </a:extLst>
          </p:cNvPr>
          <p:cNvSpPr txBox="1"/>
          <p:nvPr/>
        </p:nvSpPr>
        <p:spPr>
          <a:xfrm>
            <a:off x="1225577" y="4263007"/>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latin typeface="宋体"/>
                <a:cs typeface="宋体"/>
              </a:rPr>
              <a:t>分级要求</a:t>
            </a:r>
            <a:endParaRPr sz="1800" dirty="0">
              <a:latin typeface="宋体"/>
              <a:cs typeface="宋体"/>
            </a:endParaRPr>
          </a:p>
        </p:txBody>
      </p:sp>
      <p:grpSp>
        <p:nvGrpSpPr>
          <p:cNvPr id="12" name="object 11">
            <a:extLst>
              <a:ext uri="{FF2B5EF4-FFF2-40B4-BE49-F238E27FC236}">
                <a16:creationId xmlns:a16="http://schemas.microsoft.com/office/drawing/2014/main" id="{38899118-84C9-83BA-388E-156094BF963F}"/>
              </a:ext>
            </a:extLst>
          </p:cNvPr>
          <p:cNvGrpSpPr/>
          <p:nvPr/>
        </p:nvGrpSpPr>
        <p:grpSpPr>
          <a:xfrm>
            <a:off x="1015163" y="5322782"/>
            <a:ext cx="1381125" cy="731520"/>
            <a:chOff x="626363" y="4936235"/>
            <a:chExt cx="1381125" cy="731520"/>
          </a:xfrm>
        </p:grpSpPr>
        <p:sp>
          <p:nvSpPr>
            <p:cNvPr id="13" name="object 12">
              <a:extLst>
                <a:ext uri="{FF2B5EF4-FFF2-40B4-BE49-F238E27FC236}">
                  <a16:creationId xmlns:a16="http://schemas.microsoft.com/office/drawing/2014/main" id="{030BE5E1-ACC2-43C8-2288-708315DF3763}"/>
                </a:ext>
              </a:extLst>
            </p:cNvPr>
            <p:cNvSpPr/>
            <p:nvPr/>
          </p:nvSpPr>
          <p:spPr>
            <a:xfrm>
              <a:off x="632459" y="4942331"/>
              <a:ext cx="1369060" cy="719455"/>
            </a:xfrm>
            <a:custGeom>
              <a:avLst/>
              <a:gdLst/>
              <a:ahLst/>
              <a:cxnLst/>
              <a:rect l="l" t="t" r="r" b="b"/>
              <a:pathLst>
                <a:path w="1369060" h="719454">
                  <a:moveTo>
                    <a:pt x="1248664" y="0"/>
                  </a:moveTo>
                  <a:lnTo>
                    <a:pt x="119888" y="0"/>
                  </a:lnTo>
                  <a:lnTo>
                    <a:pt x="73225" y="9427"/>
                  </a:lnTo>
                  <a:lnTo>
                    <a:pt x="35117" y="35131"/>
                  </a:lnTo>
                  <a:lnTo>
                    <a:pt x="9422" y="73241"/>
                  </a:lnTo>
                  <a:lnTo>
                    <a:pt x="0" y="119888"/>
                  </a:lnTo>
                  <a:lnTo>
                    <a:pt x="0" y="599440"/>
                  </a:lnTo>
                  <a:lnTo>
                    <a:pt x="9422" y="646102"/>
                  </a:lnTo>
                  <a:lnTo>
                    <a:pt x="35117" y="684210"/>
                  </a:lnTo>
                  <a:lnTo>
                    <a:pt x="73225" y="709905"/>
                  </a:lnTo>
                  <a:lnTo>
                    <a:pt x="119888" y="719328"/>
                  </a:lnTo>
                  <a:lnTo>
                    <a:pt x="1248664" y="719328"/>
                  </a:lnTo>
                  <a:lnTo>
                    <a:pt x="1295310" y="709905"/>
                  </a:lnTo>
                  <a:lnTo>
                    <a:pt x="1333420" y="684210"/>
                  </a:lnTo>
                  <a:lnTo>
                    <a:pt x="1359124" y="646102"/>
                  </a:lnTo>
                  <a:lnTo>
                    <a:pt x="1368552" y="599440"/>
                  </a:lnTo>
                  <a:lnTo>
                    <a:pt x="1368552" y="119888"/>
                  </a:lnTo>
                  <a:lnTo>
                    <a:pt x="1359124" y="73241"/>
                  </a:lnTo>
                  <a:lnTo>
                    <a:pt x="1333420" y="35131"/>
                  </a:lnTo>
                  <a:lnTo>
                    <a:pt x="1295310" y="9427"/>
                  </a:lnTo>
                  <a:lnTo>
                    <a:pt x="1248664" y="0"/>
                  </a:lnTo>
                  <a:close/>
                </a:path>
              </a:pathLst>
            </a:custGeom>
            <a:solidFill>
              <a:srgbClr val="E8F4F5"/>
            </a:solidFill>
          </p:spPr>
          <p:txBody>
            <a:bodyPr wrap="square" lIns="0" tIns="0" rIns="0" bIns="0" rtlCol="0"/>
            <a:lstStyle/>
            <a:p>
              <a:endParaRPr/>
            </a:p>
          </p:txBody>
        </p:sp>
        <p:sp>
          <p:nvSpPr>
            <p:cNvPr id="14" name="object 13">
              <a:extLst>
                <a:ext uri="{FF2B5EF4-FFF2-40B4-BE49-F238E27FC236}">
                  <a16:creationId xmlns:a16="http://schemas.microsoft.com/office/drawing/2014/main" id="{F05C50CA-7749-1D43-B64D-B461AE349526}"/>
                </a:ext>
              </a:extLst>
            </p:cNvPr>
            <p:cNvSpPr/>
            <p:nvPr/>
          </p:nvSpPr>
          <p:spPr>
            <a:xfrm>
              <a:off x="632459" y="4942331"/>
              <a:ext cx="1369060" cy="719455"/>
            </a:xfrm>
            <a:custGeom>
              <a:avLst/>
              <a:gdLst/>
              <a:ahLst/>
              <a:cxnLst/>
              <a:rect l="l" t="t" r="r" b="b"/>
              <a:pathLst>
                <a:path w="1369060" h="719454">
                  <a:moveTo>
                    <a:pt x="0" y="119888"/>
                  </a:moveTo>
                  <a:lnTo>
                    <a:pt x="9422" y="73241"/>
                  </a:lnTo>
                  <a:lnTo>
                    <a:pt x="35117" y="35131"/>
                  </a:lnTo>
                  <a:lnTo>
                    <a:pt x="73225" y="9427"/>
                  </a:lnTo>
                  <a:lnTo>
                    <a:pt x="119888" y="0"/>
                  </a:lnTo>
                  <a:lnTo>
                    <a:pt x="1248664" y="0"/>
                  </a:lnTo>
                  <a:lnTo>
                    <a:pt x="1295310" y="9427"/>
                  </a:lnTo>
                  <a:lnTo>
                    <a:pt x="1333420" y="35131"/>
                  </a:lnTo>
                  <a:lnTo>
                    <a:pt x="1359124" y="73241"/>
                  </a:lnTo>
                  <a:lnTo>
                    <a:pt x="1368552" y="119888"/>
                  </a:lnTo>
                  <a:lnTo>
                    <a:pt x="1368552" y="599440"/>
                  </a:lnTo>
                  <a:lnTo>
                    <a:pt x="1359124" y="646102"/>
                  </a:lnTo>
                  <a:lnTo>
                    <a:pt x="1333420" y="684210"/>
                  </a:lnTo>
                  <a:lnTo>
                    <a:pt x="1295310" y="709905"/>
                  </a:lnTo>
                  <a:lnTo>
                    <a:pt x="1248664" y="719328"/>
                  </a:lnTo>
                  <a:lnTo>
                    <a:pt x="119888" y="719328"/>
                  </a:lnTo>
                  <a:lnTo>
                    <a:pt x="73225" y="709905"/>
                  </a:lnTo>
                  <a:lnTo>
                    <a:pt x="35117" y="684210"/>
                  </a:lnTo>
                  <a:lnTo>
                    <a:pt x="9422" y="646102"/>
                  </a:lnTo>
                  <a:lnTo>
                    <a:pt x="0" y="599440"/>
                  </a:lnTo>
                  <a:lnTo>
                    <a:pt x="0" y="119888"/>
                  </a:lnTo>
                  <a:close/>
                </a:path>
              </a:pathLst>
            </a:custGeom>
            <a:ln w="12192">
              <a:solidFill>
                <a:srgbClr val="E8F4F5"/>
              </a:solidFill>
            </a:ln>
          </p:spPr>
          <p:txBody>
            <a:bodyPr wrap="square" lIns="0" tIns="0" rIns="0" bIns="0" rtlCol="0"/>
            <a:lstStyle/>
            <a:p>
              <a:endParaRPr/>
            </a:p>
          </p:txBody>
        </p:sp>
      </p:grpSp>
      <p:sp>
        <p:nvSpPr>
          <p:cNvPr id="15" name="object 14">
            <a:extLst>
              <a:ext uri="{FF2B5EF4-FFF2-40B4-BE49-F238E27FC236}">
                <a16:creationId xmlns:a16="http://schemas.microsoft.com/office/drawing/2014/main" id="{2E13AFAA-27CF-A8BB-D522-FE6CAD18B593}"/>
              </a:ext>
            </a:extLst>
          </p:cNvPr>
          <p:cNvSpPr txBox="1"/>
          <p:nvPr/>
        </p:nvSpPr>
        <p:spPr>
          <a:xfrm>
            <a:off x="1235026" y="5538682"/>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latin typeface="宋体"/>
                <a:cs typeface="宋体"/>
              </a:rPr>
              <a:t>面向对象</a:t>
            </a:r>
            <a:endParaRPr sz="1800">
              <a:latin typeface="宋体"/>
              <a:cs typeface="宋体"/>
            </a:endParaRPr>
          </a:p>
        </p:txBody>
      </p:sp>
      <p:sp>
        <p:nvSpPr>
          <p:cNvPr id="17" name="object 16">
            <a:extLst>
              <a:ext uri="{FF2B5EF4-FFF2-40B4-BE49-F238E27FC236}">
                <a16:creationId xmlns:a16="http://schemas.microsoft.com/office/drawing/2014/main" id="{44C0292E-7456-761C-C853-3D98A8E839F0}"/>
              </a:ext>
            </a:extLst>
          </p:cNvPr>
          <p:cNvSpPr txBox="1"/>
          <p:nvPr/>
        </p:nvSpPr>
        <p:spPr>
          <a:xfrm>
            <a:off x="2676277" y="2597193"/>
            <a:ext cx="4680000" cy="1080000"/>
          </a:xfrm>
          <a:prstGeom prst="rect">
            <a:avLst/>
          </a:prstGeom>
          <a:ln w="9144">
            <a:solidFill>
              <a:srgbClr val="D9D9D9"/>
            </a:solidFill>
          </a:ln>
        </p:spPr>
        <p:txBody>
          <a:bodyPr vert="horz" wrap="square" lIns="72000" tIns="0" rIns="72000" bIns="0" rtlCol="0" anchor="ctr" anchorCtr="0">
            <a:noAutofit/>
          </a:bodyPr>
          <a:lstStyle/>
          <a:p>
            <a:pPr algn="just">
              <a:lnSpc>
                <a:spcPct val="125000"/>
              </a:lnSpc>
            </a:pPr>
            <a:r>
              <a:rPr sz="1400" dirty="0">
                <a:latin typeface="+mj-ea"/>
                <a:ea typeface="+mj-ea"/>
                <a:cs typeface="宋体"/>
              </a:rPr>
              <a:t>本标准规范了研发运营（</a:t>
            </a:r>
            <a:r>
              <a:rPr sz="1400" dirty="0">
                <a:latin typeface="+mj-ea"/>
                <a:ea typeface="+mj-ea"/>
                <a:cs typeface="Arial"/>
              </a:rPr>
              <a:t>DevOps</a:t>
            </a:r>
            <a:r>
              <a:rPr sz="1400" dirty="0">
                <a:latin typeface="+mj-ea"/>
                <a:ea typeface="+mj-ea"/>
                <a:cs typeface="宋体"/>
              </a:rPr>
              <a:t>）解决方案应具备的服务能力，覆盖</a:t>
            </a:r>
            <a:r>
              <a:rPr sz="1400" b="1" dirty="0">
                <a:latin typeface="+mj-ea"/>
                <a:ea typeface="+mj-ea"/>
                <a:cs typeface="Microsoft JhengHei"/>
              </a:rPr>
              <a:t>项目管理域</a:t>
            </a:r>
            <a:r>
              <a:rPr sz="1400" dirty="0">
                <a:latin typeface="+mj-ea"/>
                <a:ea typeface="+mj-ea"/>
                <a:cs typeface="宋体"/>
              </a:rPr>
              <a:t>、</a:t>
            </a:r>
            <a:r>
              <a:rPr sz="1400" b="1" dirty="0">
                <a:latin typeface="+mj-ea"/>
                <a:ea typeface="+mj-ea"/>
                <a:cs typeface="Microsoft JhengHei"/>
              </a:rPr>
              <a:t>应用开发域</a:t>
            </a:r>
            <a:r>
              <a:rPr sz="1400" dirty="0">
                <a:latin typeface="+mj-ea"/>
                <a:ea typeface="+mj-ea"/>
                <a:cs typeface="宋体"/>
              </a:rPr>
              <a:t>、</a:t>
            </a:r>
            <a:r>
              <a:rPr sz="1400" b="1" dirty="0">
                <a:latin typeface="+mj-ea"/>
                <a:ea typeface="+mj-ea"/>
                <a:cs typeface="Microsoft JhengHei"/>
              </a:rPr>
              <a:t>测试域</a:t>
            </a:r>
            <a:r>
              <a:rPr sz="1400" dirty="0">
                <a:latin typeface="+mj-ea"/>
                <a:ea typeface="+mj-ea"/>
                <a:cs typeface="宋体"/>
              </a:rPr>
              <a:t>、</a:t>
            </a:r>
            <a:r>
              <a:rPr sz="1400" b="1" dirty="0">
                <a:latin typeface="+mj-ea"/>
                <a:ea typeface="+mj-ea"/>
                <a:cs typeface="Microsoft JhengHei"/>
              </a:rPr>
              <a:t>运维</a:t>
            </a:r>
            <a:r>
              <a:rPr sz="1400" b="1" dirty="0">
                <a:latin typeface="+mj-ea"/>
                <a:ea typeface="+mj-ea"/>
                <a:cs typeface="Arial"/>
              </a:rPr>
              <a:t>/</a:t>
            </a:r>
            <a:r>
              <a:rPr sz="1400" b="1" dirty="0" err="1">
                <a:latin typeface="+mj-ea"/>
                <a:ea typeface="+mj-ea"/>
                <a:cs typeface="Microsoft JhengHei"/>
              </a:rPr>
              <a:t>运营域</a:t>
            </a:r>
            <a:r>
              <a:rPr sz="1400" dirty="0" err="1">
                <a:latin typeface="+mj-ea"/>
                <a:ea typeface="+mj-ea"/>
                <a:cs typeface="宋体"/>
              </a:rPr>
              <a:t>等应用开发运营全生命周期。同时，本标准对解决方案的安全能力进行要求</a:t>
            </a:r>
            <a:r>
              <a:rPr sz="1400" dirty="0">
                <a:latin typeface="+mj-ea"/>
                <a:ea typeface="+mj-ea"/>
                <a:cs typeface="宋体"/>
              </a:rPr>
              <a:t> 。</a:t>
            </a:r>
          </a:p>
        </p:txBody>
      </p:sp>
      <p:sp>
        <p:nvSpPr>
          <p:cNvPr id="18" name="object 17">
            <a:extLst>
              <a:ext uri="{FF2B5EF4-FFF2-40B4-BE49-F238E27FC236}">
                <a16:creationId xmlns:a16="http://schemas.microsoft.com/office/drawing/2014/main" id="{58058055-C5CA-1B03-543C-6EA711A689A2}"/>
              </a:ext>
            </a:extLst>
          </p:cNvPr>
          <p:cNvSpPr txBox="1"/>
          <p:nvPr/>
        </p:nvSpPr>
        <p:spPr>
          <a:xfrm>
            <a:off x="2676277" y="3872867"/>
            <a:ext cx="4680000" cy="1080000"/>
          </a:xfrm>
          <a:prstGeom prst="rect">
            <a:avLst/>
          </a:prstGeom>
          <a:ln w="9144">
            <a:solidFill>
              <a:srgbClr val="D9D9D9"/>
            </a:solidFill>
          </a:ln>
        </p:spPr>
        <p:txBody>
          <a:bodyPr vert="horz" wrap="square" lIns="72000" tIns="0" rIns="72000" bIns="0" rtlCol="0" anchor="ctr" anchorCtr="0">
            <a:noAutofit/>
          </a:bodyPr>
          <a:lstStyle/>
          <a:p>
            <a:pPr marR="170815" algn="just">
              <a:lnSpc>
                <a:spcPct val="125000"/>
              </a:lnSpc>
              <a:tabLst>
                <a:tab pos="1517015" algn="l"/>
                <a:tab pos="2228850" algn="l"/>
              </a:tabLst>
            </a:pPr>
            <a:r>
              <a:rPr lang="zh-CN" altLang="en-US" sz="1400" dirty="0">
                <a:latin typeface="+mj-ea"/>
                <a:ea typeface="+mj-ea"/>
                <a:cs typeface="宋体"/>
              </a:rPr>
              <a:t>本标准对研发运营（</a:t>
            </a:r>
            <a:r>
              <a:rPr lang="en-US" altLang="zh-CN" sz="1400" dirty="0">
                <a:latin typeface="+mj-ea"/>
                <a:ea typeface="+mj-ea"/>
                <a:cs typeface="宋体"/>
              </a:rPr>
              <a:t>DevOps</a:t>
            </a:r>
            <a:r>
              <a:rPr lang="zh-CN" altLang="en-US" sz="1400" dirty="0">
                <a:latin typeface="+mj-ea"/>
                <a:ea typeface="+mj-ea"/>
                <a:cs typeface="宋体"/>
              </a:rPr>
              <a:t>）解决方案及相关工具能力进行分级，分为基础级、增强级、先进级。</a:t>
            </a:r>
            <a:endParaRPr sz="1400" dirty="0">
              <a:latin typeface="+mj-ea"/>
              <a:ea typeface="+mj-ea"/>
              <a:cs typeface="宋体"/>
            </a:endParaRPr>
          </a:p>
        </p:txBody>
      </p:sp>
      <p:sp>
        <p:nvSpPr>
          <p:cNvPr id="19" name="object 18">
            <a:extLst>
              <a:ext uri="{FF2B5EF4-FFF2-40B4-BE49-F238E27FC236}">
                <a16:creationId xmlns:a16="http://schemas.microsoft.com/office/drawing/2014/main" id="{468A0F9A-4791-2758-9E0E-2251A564B4C0}"/>
              </a:ext>
            </a:extLst>
          </p:cNvPr>
          <p:cNvSpPr txBox="1"/>
          <p:nvPr/>
        </p:nvSpPr>
        <p:spPr>
          <a:xfrm>
            <a:off x="2676277" y="5148542"/>
            <a:ext cx="4680000" cy="1080000"/>
          </a:xfrm>
          <a:prstGeom prst="rect">
            <a:avLst/>
          </a:prstGeom>
          <a:ln w="9144">
            <a:solidFill>
              <a:srgbClr val="D9D9D9"/>
            </a:solidFill>
          </a:ln>
        </p:spPr>
        <p:txBody>
          <a:bodyPr vert="horz" wrap="square" lIns="72000" tIns="0" rIns="36000" bIns="0" rtlCol="0" anchor="ctr" anchorCtr="0">
            <a:noAutofit/>
          </a:bodyPr>
          <a:lstStyle/>
          <a:p>
            <a:pPr marR="100330" algn="just">
              <a:lnSpc>
                <a:spcPct val="125000"/>
              </a:lnSpc>
            </a:pPr>
            <a:r>
              <a:rPr sz="1400" dirty="0">
                <a:latin typeface="+mj-ea"/>
                <a:ea typeface="+mj-ea"/>
                <a:cs typeface="宋体"/>
              </a:rPr>
              <a:t>本标准同时适用于</a:t>
            </a:r>
            <a:r>
              <a:rPr sz="1400" b="1" dirty="0">
                <a:latin typeface="+mj-ea"/>
                <a:ea typeface="+mj-ea"/>
                <a:cs typeface="Microsoft JhengHei"/>
              </a:rPr>
              <a:t>云服务</a:t>
            </a:r>
            <a:r>
              <a:rPr sz="1400" dirty="0">
                <a:latin typeface="+mj-ea"/>
                <a:ea typeface="+mj-ea"/>
                <a:cs typeface="宋体"/>
              </a:rPr>
              <a:t>、</a:t>
            </a:r>
            <a:r>
              <a:rPr sz="1400" b="1" dirty="0">
                <a:latin typeface="+mj-ea"/>
                <a:ea typeface="+mj-ea"/>
                <a:cs typeface="Microsoft JhengHei"/>
              </a:rPr>
              <a:t>软件产品</a:t>
            </a:r>
            <a:r>
              <a:rPr sz="1400" dirty="0">
                <a:latin typeface="+mj-ea"/>
                <a:ea typeface="+mj-ea"/>
                <a:cs typeface="宋体"/>
              </a:rPr>
              <a:t>和</a:t>
            </a:r>
            <a:r>
              <a:rPr sz="1400" b="1" dirty="0">
                <a:latin typeface="+mj-ea"/>
                <a:ea typeface="+mj-ea"/>
                <a:cs typeface="Microsoft JhengHei"/>
              </a:rPr>
              <a:t>工具产品</a:t>
            </a:r>
            <a:r>
              <a:rPr sz="1400" dirty="0">
                <a:latin typeface="+mj-ea"/>
                <a:ea typeface="+mj-ea"/>
                <a:cs typeface="宋体"/>
              </a:rPr>
              <a:t>，即面向公共用户提供公有云服务和私有环境下的</a:t>
            </a:r>
            <a:r>
              <a:rPr sz="1400" b="1" dirty="0">
                <a:latin typeface="+mj-ea"/>
                <a:ea typeface="+mj-ea"/>
                <a:cs typeface="Microsoft JhengHei"/>
              </a:rPr>
              <a:t>解决方案</a:t>
            </a:r>
            <a:r>
              <a:rPr sz="1400" dirty="0">
                <a:latin typeface="+mj-ea"/>
                <a:ea typeface="+mj-ea"/>
                <a:cs typeface="宋体"/>
              </a:rPr>
              <a:t>或</a:t>
            </a:r>
            <a:r>
              <a:rPr sz="1400" b="1" dirty="0">
                <a:latin typeface="+mj-ea"/>
                <a:ea typeface="+mj-ea"/>
                <a:cs typeface="Microsoft JhengHei"/>
              </a:rPr>
              <a:t>工具产品</a:t>
            </a:r>
            <a:r>
              <a:rPr sz="1400" dirty="0">
                <a:latin typeface="+mj-ea"/>
                <a:ea typeface="+mj-ea"/>
                <a:cs typeface="宋体"/>
              </a:rPr>
              <a:t>。依据交付形式的差异，本标准针对不同的使用</a:t>
            </a:r>
            <a:r>
              <a:rPr lang="zh-CN" altLang="en-US" sz="1400" dirty="0">
                <a:latin typeface="+mj-ea"/>
                <a:ea typeface="+mj-ea"/>
                <a:cs typeface="宋体"/>
              </a:rPr>
              <a:t>场景</a:t>
            </a:r>
            <a:r>
              <a:rPr sz="1400" dirty="0" err="1">
                <a:latin typeface="+mj-ea"/>
                <a:ea typeface="+mj-ea"/>
                <a:cs typeface="宋体"/>
              </a:rPr>
              <a:t>其技术指标要求略有不同</a:t>
            </a:r>
            <a:r>
              <a:rPr sz="1400" dirty="0">
                <a:latin typeface="+mj-ea"/>
                <a:ea typeface="+mj-ea"/>
                <a:cs typeface="宋体"/>
              </a:rPr>
              <a:t> 。</a:t>
            </a:r>
          </a:p>
        </p:txBody>
      </p:sp>
      <p:grpSp>
        <p:nvGrpSpPr>
          <p:cNvPr id="20" name="object 20">
            <a:extLst>
              <a:ext uri="{FF2B5EF4-FFF2-40B4-BE49-F238E27FC236}">
                <a16:creationId xmlns:a16="http://schemas.microsoft.com/office/drawing/2014/main" id="{9CF7F1AE-64CA-0393-C216-8286219DC3C9}"/>
              </a:ext>
            </a:extLst>
          </p:cNvPr>
          <p:cNvGrpSpPr/>
          <p:nvPr/>
        </p:nvGrpSpPr>
        <p:grpSpPr>
          <a:xfrm>
            <a:off x="7961376" y="2407991"/>
            <a:ext cx="3100070" cy="299085"/>
            <a:chOff x="7961376" y="1962911"/>
            <a:chExt cx="3100070" cy="299085"/>
          </a:xfrm>
        </p:grpSpPr>
        <p:sp>
          <p:nvSpPr>
            <p:cNvPr id="21" name="object 21">
              <a:extLst>
                <a:ext uri="{FF2B5EF4-FFF2-40B4-BE49-F238E27FC236}">
                  <a16:creationId xmlns:a16="http://schemas.microsoft.com/office/drawing/2014/main" id="{04FECAE4-C60F-7A57-2EC2-E00771BAD411}"/>
                </a:ext>
              </a:extLst>
            </p:cNvPr>
            <p:cNvSpPr/>
            <p:nvPr/>
          </p:nvSpPr>
          <p:spPr>
            <a:xfrm>
              <a:off x="7967472" y="1969007"/>
              <a:ext cx="3088005" cy="287020"/>
            </a:xfrm>
            <a:custGeom>
              <a:avLst/>
              <a:gdLst/>
              <a:ahLst/>
              <a:cxnLst/>
              <a:rect l="l" t="t" r="r" b="b"/>
              <a:pathLst>
                <a:path w="3088004" h="287019">
                  <a:moveTo>
                    <a:pt x="3039872" y="0"/>
                  </a:moveTo>
                  <a:lnTo>
                    <a:pt x="47751" y="0"/>
                  </a:lnTo>
                  <a:lnTo>
                    <a:pt x="29146" y="3746"/>
                  </a:lnTo>
                  <a:lnTo>
                    <a:pt x="13969" y="13970"/>
                  </a:lnTo>
                  <a:lnTo>
                    <a:pt x="3746" y="29146"/>
                  </a:lnTo>
                  <a:lnTo>
                    <a:pt x="0" y="47751"/>
                  </a:lnTo>
                  <a:lnTo>
                    <a:pt x="0" y="238759"/>
                  </a:lnTo>
                  <a:lnTo>
                    <a:pt x="3746" y="257365"/>
                  </a:lnTo>
                  <a:lnTo>
                    <a:pt x="13969" y="272541"/>
                  </a:lnTo>
                  <a:lnTo>
                    <a:pt x="29146" y="282765"/>
                  </a:lnTo>
                  <a:lnTo>
                    <a:pt x="47751" y="286512"/>
                  </a:lnTo>
                  <a:lnTo>
                    <a:pt x="3039872" y="286512"/>
                  </a:lnTo>
                  <a:lnTo>
                    <a:pt x="3058477" y="282765"/>
                  </a:lnTo>
                  <a:lnTo>
                    <a:pt x="3073654" y="272541"/>
                  </a:lnTo>
                  <a:lnTo>
                    <a:pt x="3083877" y="257365"/>
                  </a:lnTo>
                  <a:lnTo>
                    <a:pt x="3087624" y="238759"/>
                  </a:lnTo>
                  <a:lnTo>
                    <a:pt x="3087624" y="47751"/>
                  </a:lnTo>
                  <a:lnTo>
                    <a:pt x="3083877" y="29146"/>
                  </a:lnTo>
                  <a:lnTo>
                    <a:pt x="3073654" y="13970"/>
                  </a:lnTo>
                  <a:lnTo>
                    <a:pt x="3058477" y="3746"/>
                  </a:lnTo>
                  <a:lnTo>
                    <a:pt x="3039872" y="0"/>
                  </a:lnTo>
                  <a:close/>
                </a:path>
              </a:pathLst>
            </a:custGeom>
            <a:solidFill>
              <a:srgbClr val="38A666"/>
            </a:solidFill>
          </p:spPr>
          <p:txBody>
            <a:bodyPr wrap="square" lIns="0" tIns="0" rIns="0" bIns="0" rtlCol="0"/>
            <a:lstStyle/>
            <a:p>
              <a:endParaRPr/>
            </a:p>
          </p:txBody>
        </p:sp>
        <p:sp>
          <p:nvSpPr>
            <p:cNvPr id="22" name="object 22">
              <a:extLst>
                <a:ext uri="{FF2B5EF4-FFF2-40B4-BE49-F238E27FC236}">
                  <a16:creationId xmlns:a16="http://schemas.microsoft.com/office/drawing/2014/main" id="{904C0447-B8DF-2770-C6EA-F9E9C99815B3}"/>
                </a:ext>
              </a:extLst>
            </p:cNvPr>
            <p:cNvSpPr/>
            <p:nvPr/>
          </p:nvSpPr>
          <p:spPr>
            <a:xfrm>
              <a:off x="7967472" y="1969007"/>
              <a:ext cx="3088005" cy="287020"/>
            </a:xfrm>
            <a:custGeom>
              <a:avLst/>
              <a:gdLst/>
              <a:ahLst/>
              <a:cxnLst/>
              <a:rect l="l" t="t" r="r" b="b"/>
              <a:pathLst>
                <a:path w="3088004" h="287019">
                  <a:moveTo>
                    <a:pt x="0" y="47751"/>
                  </a:moveTo>
                  <a:lnTo>
                    <a:pt x="3746" y="29146"/>
                  </a:lnTo>
                  <a:lnTo>
                    <a:pt x="13969" y="13970"/>
                  </a:lnTo>
                  <a:lnTo>
                    <a:pt x="29146" y="3746"/>
                  </a:lnTo>
                  <a:lnTo>
                    <a:pt x="47751" y="0"/>
                  </a:lnTo>
                  <a:lnTo>
                    <a:pt x="3039872" y="0"/>
                  </a:lnTo>
                  <a:lnTo>
                    <a:pt x="3058477" y="3746"/>
                  </a:lnTo>
                  <a:lnTo>
                    <a:pt x="3073654" y="13970"/>
                  </a:lnTo>
                  <a:lnTo>
                    <a:pt x="3083877" y="29146"/>
                  </a:lnTo>
                  <a:lnTo>
                    <a:pt x="3087624" y="47751"/>
                  </a:lnTo>
                  <a:lnTo>
                    <a:pt x="3087624" y="238759"/>
                  </a:lnTo>
                  <a:lnTo>
                    <a:pt x="3083877" y="257365"/>
                  </a:lnTo>
                  <a:lnTo>
                    <a:pt x="3073654" y="272541"/>
                  </a:lnTo>
                  <a:lnTo>
                    <a:pt x="3058477" y="282765"/>
                  </a:lnTo>
                  <a:lnTo>
                    <a:pt x="3039872" y="286512"/>
                  </a:lnTo>
                  <a:lnTo>
                    <a:pt x="47751" y="286512"/>
                  </a:lnTo>
                  <a:lnTo>
                    <a:pt x="29146" y="282765"/>
                  </a:lnTo>
                  <a:lnTo>
                    <a:pt x="13969" y="272541"/>
                  </a:lnTo>
                  <a:lnTo>
                    <a:pt x="3746" y="257365"/>
                  </a:lnTo>
                  <a:lnTo>
                    <a:pt x="0" y="238759"/>
                  </a:lnTo>
                  <a:lnTo>
                    <a:pt x="0" y="47751"/>
                  </a:lnTo>
                  <a:close/>
                </a:path>
              </a:pathLst>
            </a:custGeom>
            <a:ln w="12191">
              <a:solidFill>
                <a:srgbClr val="E8F4F5"/>
              </a:solidFill>
            </a:ln>
          </p:spPr>
          <p:txBody>
            <a:bodyPr wrap="square" lIns="0" tIns="0" rIns="0" bIns="0" rtlCol="0"/>
            <a:lstStyle/>
            <a:p>
              <a:endParaRPr/>
            </a:p>
          </p:txBody>
        </p:sp>
      </p:grpSp>
      <p:grpSp>
        <p:nvGrpSpPr>
          <p:cNvPr id="23" name="object 23">
            <a:extLst>
              <a:ext uri="{FF2B5EF4-FFF2-40B4-BE49-F238E27FC236}">
                <a16:creationId xmlns:a16="http://schemas.microsoft.com/office/drawing/2014/main" id="{55D3FC1D-EC2B-24B1-0C50-0A21A38C7330}"/>
              </a:ext>
            </a:extLst>
          </p:cNvPr>
          <p:cNvGrpSpPr/>
          <p:nvPr/>
        </p:nvGrpSpPr>
        <p:grpSpPr>
          <a:xfrm>
            <a:off x="7961121" y="2752162"/>
            <a:ext cx="3100705" cy="299720"/>
            <a:chOff x="7961121" y="2307082"/>
            <a:chExt cx="3100705" cy="299720"/>
          </a:xfrm>
        </p:grpSpPr>
        <p:sp>
          <p:nvSpPr>
            <p:cNvPr id="24" name="object 24">
              <a:extLst>
                <a:ext uri="{FF2B5EF4-FFF2-40B4-BE49-F238E27FC236}">
                  <a16:creationId xmlns:a16="http://schemas.microsoft.com/office/drawing/2014/main" id="{58102BF8-2EB6-7169-3650-B83BD6FADD34}"/>
                </a:ext>
              </a:extLst>
            </p:cNvPr>
            <p:cNvSpPr/>
            <p:nvPr/>
          </p:nvSpPr>
          <p:spPr>
            <a:xfrm>
              <a:off x="7967471" y="2313432"/>
              <a:ext cx="3088005" cy="287020"/>
            </a:xfrm>
            <a:custGeom>
              <a:avLst/>
              <a:gdLst/>
              <a:ahLst/>
              <a:cxnLst/>
              <a:rect l="l" t="t" r="r" b="b"/>
              <a:pathLst>
                <a:path w="3088004" h="287019">
                  <a:moveTo>
                    <a:pt x="3039872" y="0"/>
                  </a:moveTo>
                  <a:lnTo>
                    <a:pt x="47751" y="0"/>
                  </a:lnTo>
                  <a:lnTo>
                    <a:pt x="29146" y="3746"/>
                  </a:lnTo>
                  <a:lnTo>
                    <a:pt x="13969" y="13969"/>
                  </a:lnTo>
                  <a:lnTo>
                    <a:pt x="3746" y="29146"/>
                  </a:lnTo>
                  <a:lnTo>
                    <a:pt x="0" y="47751"/>
                  </a:lnTo>
                  <a:lnTo>
                    <a:pt x="0" y="238759"/>
                  </a:lnTo>
                  <a:lnTo>
                    <a:pt x="3746" y="257365"/>
                  </a:lnTo>
                  <a:lnTo>
                    <a:pt x="13969" y="272541"/>
                  </a:lnTo>
                  <a:lnTo>
                    <a:pt x="29146" y="282765"/>
                  </a:lnTo>
                  <a:lnTo>
                    <a:pt x="47751" y="286512"/>
                  </a:lnTo>
                  <a:lnTo>
                    <a:pt x="3039872" y="286512"/>
                  </a:lnTo>
                  <a:lnTo>
                    <a:pt x="3058477" y="282765"/>
                  </a:lnTo>
                  <a:lnTo>
                    <a:pt x="3073654" y="272541"/>
                  </a:lnTo>
                  <a:lnTo>
                    <a:pt x="3083877" y="257365"/>
                  </a:lnTo>
                  <a:lnTo>
                    <a:pt x="3087624" y="238759"/>
                  </a:lnTo>
                  <a:lnTo>
                    <a:pt x="3087624" y="47751"/>
                  </a:lnTo>
                  <a:lnTo>
                    <a:pt x="3083877" y="29146"/>
                  </a:lnTo>
                  <a:lnTo>
                    <a:pt x="3073654" y="13970"/>
                  </a:lnTo>
                  <a:lnTo>
                    <a:pt x="3058477" y="3746"/>
                  </a:lnTo>
                  <a:lnTo>
                    <a:pt x="3039872" y="0"/>
                  </a:lnTo>
                  <a:close/>
                </a:path>
              </a:pathLst>
            </a:custGeom>
            <a:solidFill>
              <a:srgbClr val="38A666"/>
            </a:solidFill>
          </p:spPr>
          <p:txBody>
            <a:bodyPr wrap="square" lIns="0" tIns="0" rIns="0" bIns="0" rtlCol="0"/>
            <a:lstStyle/>
            <a:p>
              <a:endParaRPr/>
            </a:p>
          </p:txBody>
        </p:sp>
        <p:sp>
          <p:nvSpPr>
            <p:cNvPr id="25" name="object 25">
              <a:extLst>
                <a:ext uri="{FF2B5EF4-FFF2-40B4-BE49-F238E27FC236}">
                  <a16:creationId xmlns:a16="http://schemas.microsoft.com/office/drawing/2014/main" id="{FE9D27C9-DDD7-5493-4934-44291C371550}"/>
                </a:ext>
              </a:extLst>
            </p:cNvPr>
            <p:cNvSpPr/>
            <p:nvPr/>
          </p:nvSpPr>
          <p:spPr>
            <a:xfrm>
              <a:off x="7967471" y="2313432"/>
              <a:ext cx="3088005" cy="287020"/>
            </a:xfrm>
            <a:custGeom>
              <a:avLst/>
              <a:gdLst/>
              <a:ahLst/>
              <a:cxnLst/>
              <a:rect l="l" t="t" r="r" b="b"/>
              <a:pathLst>
                <a:path w="3088004" h="287019">
                  <a:moveTo>
                    <a:pt x="0" y="47751"/>
                  </a:moveTo>
                  <a:lnTo>
                    <a:pt x="3746" y="29146"/>
                  </a:lnTo>
                  <a:lnTo>
                    <a:pt x="13969" y="13969"/>
                  </a:lnTo>
                  <a:lnTo>
                    <a:pt x="29146" y="3746"/>
                  </a:lnTo>
                  <a:lnTo>
                    <a:pt x="47751" y="0"/>
                  </a:lnTo>
                  <a:lnTo>
                    <a:pt x="3039872" y="0"/>
                  </a:lnTo>
                  <a:lnTo>
                    <a:pt x="3058477" y="3746"/>
                  </a:lnTo>
                  <a:lnTo>
                    <a:pt x="3073654" y="13970"/>
                  </a:lnTo>
                  <a:lnTo>
                    <a:pt x="3083877" y="29146"/>
                  </a:lnTo>
                  <a:lnTo>
                    <a:pt x="3087624" y="47751"/>
                  </a:lnTo>
                  <a:lnTo>
                    <a:pt x="3087624" y="238759"/>
                  </a:lnTo>
                  <a:lnTo>
                    <a:pt x="3083877" y="257365"/>
                  </a:lnTo>
                  <a:lnTo>
                    <a:pt x="3073654" y="272541"/>
                  </a:lnTo>
                  <a:lnTo>
                    <a:pt x="3058477" y="282765"/>
                  </a:lnTo>
                  <a:lnTo>
                    <a:pt x="3039872" y="286512"/>
                  </a:lnTo>
                  <a:lnTo>
                    <a:pt x="47751" y="286512"/>
                  </a:lnTo>
                  <a:lnTo>
                    <a:pt x="29146" y="282765"/>
                  </a:lnTo>
                  <a:lnTo>
                    <a:pt x="13969" y="272541"/>
                  </a:lnTo>
                  <a:lnTo>
                    <a:pt x="3746" y="257365"/>
                  </a:lnTo>
                  <a:lnTo>
                    <a:pt x="0" y="238759"/>
                  </a:lnTo>
                  <a:lnTo>
                    <a:pt x="0" y="47751"/>
                  </a:lnTo>
                  <a:close/>
                </a:path>
              </a:pathLst>
            </a:custGeom>
            <a:ln w="12191">
              <a:solidFill>
                <a:srgbClr val="E8F4F5"/>
              </a:solidFill>
            </a:ln>
          </p:spPr>
          <p:txBody>
            <a:bodyPr wrap="square" lIns="0" tIns="0" rIns="0" bIns="0" rtlCol="0"/>
            <a:lstStyle/>
            <a:p>
              <a:endParaRPr/>
            </a:p>
          </p:txBody>
        </p:sp>
      </p:grpSp>
      <p:sp>
        <p:nvSpPr>
          <p:cNvPr id="26" name="object 26">
            <a:extLst>
              <a:ext uri="{FF2B5EF4-FFF2-40B4-BE49-F238E27FC236}">
                <a16:creationId xmlns:a16="http://schemas.microsoft.com/office/drawing/2014/main" id="{1096C8F5-CBBF-D239-EEAE-3D6E2269F9F8}"/>
              </a:ext>
            </a:extLst>
          </p:cNvPr>
          <p:cNvSpPr txBox="1"/>
          <p:nvPr/>
        </p:nvSpPr>
        <p:spPr>
          <a:xfrm>
            <a:off x="7980553" y="2435550"/>
            <a:ext cx="3061970" cy="583565"/>
          </a:xfrm>
          <a:prstGeom prst="rect">
            <a:avLst/>
          </a:prstGeom>
        </p:spPr>
        <p:txBody>
          <a:bodyPr vert="horz" wrap="square" lIns="0" tIns="13335" rIns="0" bIns="0" rtlCol="0">
            <a:spAutoFit/>
          </a:bodyPr>
          <a:lstStyle/>
          <a:p>
            <a:pPr marL="728345">
              <a:lnSpc>
                <a:spcPct val="100000"/>
              </a:lnSpc>
              <a:spcBef>
                <a:spcPts val="105"/>
              </a:spcBef>
            </a:pPr>
            <a:r>
              <a:rPr sz="1400" spc="-10" dirty="0">
                <a:solidFill>
                  <a:srgbClr val="FFFFFF"/>
                </a:solidFill>
                <a:latin typeface="宋体"/>
                <a:cs typeface="宋体"/>
              </a:rPr>
              <a:t>中国信息通信研究院</a:t>
            </a:r>
            <a:endParaRPr sz="1400">
              <a:latin typeface="宋体"/>
              <a:cs typeface="宋体"/>
            </a:endParaRPr>
          </a:p>
          <a:p>
            <a:pPr marL="728345">
              <a:lnSpc>
                <a:spcPct val="100000"/>
              </a:lnSpc>
              <a:spcBef>
                <a:spcPts val="1025"/>
              </a:spcBef>
            </a:pPr>
            <a:r>
              <a:rPr sz="1400" spc="-10" dirty="0">
                <a:solidFill>
                  <a:srgbClr val="FFFFFF"/>
                </a:solidFill>
                <a:latin typeface="宋体"/>
                <a:cs typeface="宋体"/>
              </a:rPr>
              <a:t>阿里云计算有限公司</a:t>
            </a:r>
            <a:endParaRPr sz="1400">
              <a:latin typeface="宋体"/>
              <a:cs typeface="宋体"/>
            </a:endParaRPr>
          </a:p>
        </p:txBody>
      </p:sp>
      <p:grpSp>
        <p:nvGrpSpPr>
          <p:cNvPr id="27" name="object 27">
            <a:extLst>
              <a:ext uri="{FF2B5EF4-FFF2-40B4-BE49-F238E27FC236}">
                <a16:creationId xmlns:a16="http://schemas.microsoft.com/office/drawing/2014/main" id="{F3F0CB2B-1849-8C5D-9466-0DD42ED31E7B}"/>
              </a:ext>
            </a:extLst>
          </p:cNvPr>
          <p:cNvGrpSpPr/>
          <p:nvPr/>
        </p:nvGrpSpPr>
        <p:grpSpPr>
          <a:xfrm>
            <a:off x="7961121" y="3095062"/>
            <a:ext cx="3100705" cy="300990"/>
            <a:chOff x="7961121" y="2649982"/>
            <a:chExt cx="3100705" cy="300990"/>
          </a:xfrm>
        </p:grpSpPr>
        <p:sp>
          <p:nvSpPr>
            <p:cNvPr id="28" name="object 28">
              <a:extLst>
                <a:ext uri="{FF2B5EF4-FFF2-40B4-BE49-F238E27FC236}">
                  <a16:creationId xmlns:a16="http://schemas.microsoft.com/office/drawing/2014/main" id="{2B133C80-9A9E-DA8C-1658-F6A9D7C1E0FC}"/>
                </a:ext>
              </a:extLst>
            </p:cNvPr>
            <p:cNvSpPr/>
            <p:nvPr/>
          </p:nvSpPr>
          <p:spPr>
            <a:xfrm>
              <a:off x="7967471" y="2656332"/>
              <a:ext cx="3088005" cy="288290"/>
            </a:xfrm>
            <a:custGeom>
              <a:avLst/>
              <a:gdLst/>
              <a:ahLst/>
              <a:cxnLst/>
              <a:rect l="l" t="t" r="r" b="b"/>
              <a:pathLst>
                <a:path w="3088004" h="288289">
                  <a:moveTo>
                    <a:pt x="3039618" y="0"/>
                  </a:moveTo>
                  <a:lnTo>
                    <a:pt x="48005" y="0"/>
                  </a:lnTo>
                  <a:lnTo>
                    <a:pt x="29307" y="3768"/>
                  </a:lnTo>
                  <a:lnTo>
                    <a:pt x="14049" y="14049"/>
                  </a:lnTo>
                  <a:lnTo>
                    <a:pt x="3768" y="29307"/>
                  </a:lnTo>
                  <a:lnTo>
                    <a:pt x="0" y="48005"/>
                  </a:lnTo>
                  <a:lnTo>
                    <a:pt x="0" y="240029"/>
                  </a:lnTo>
                  <a:lnTo>
                    <a:pt x="3768" y="258728"/>
                  </a:lnTo>
                  <a:lnTo>
                    <a:pt x="14049" y="273986"/>
                  </a:lnTo>
                  <a:lnTo>
                    <a:pt x="29307" y="284267"/>
                  </a:lnTo>
                  <a:lnTo>
                    <a:pt x="48005" y="288035"/>
                  </a:lnTo>
                  <a:lnTo>
                    <a:pt x="3039618" y="288035"/>
                  </a:lnTo>
                  <a:lnTo>
                    <a:pt x="3058316" y="284267"/>
                  </a:lnTo>
                  <a:lnTo>
                    <a:pt x="3073574" y="273986"/>
                  </a:lnTo>
                  <a:lnTo>
                    <a:pt x="3083855" y="258728"/>
                  </a:lnTo>
                  <a:lnTo>
                    <a:pt x="3087624" y="240029"/>
                  </a:lnTo>
                  <a:lnTo>
                    <a:pt x="3087624" y="48005"/>
                  </a:lnTo>
                  <a:lnTo>
                    <a:pt x="3083855" y="29307"/>
                  </a:lnTo>
                  <a:lnTo>
                    <a:pt x="3073574" y="14049"/>
                  </a:lnTo>
                  <a:lnTo>
                    <a:pt x="3058316" y="3768"/>
                  </a:lnTo>
                  <a:lnTo>
                    <a:pt x="3039618" y="0"/>
                  </a:lnTo>
                  <a:close/>
                </a:path>
              </a:pathLst>
            </a:custGeom>
            <a:solidFill>
              <a:srgbClr val="38A666"/>
            </a:solidFill>
          </p:spPr>
          <p:txBody>
            <a:bodyPr wrap="square" lIns="0" tIns="0" rIns="0" bIns="0" rtlCol="0"/>
            <a:lstStyle/>
            <a:p>
              <a:endParaRPr/>
            </a:p>
          </p:txBody>
        </p:sp>
        <p:sp>
          <p:nvSpPr>
            <p:cNvPr id="29" name="object 29">
              <a:extLst>
                <a:ext uri="{FF2B5EF4-FFF2-40B4-BE49-F238E27FC236}">
                  <a16:creationId xmlns:a16="http://schemas.microsoft.com/office/drawing/2014/main" id="{B4EEDFE0-53B9-EA94-395C-943DD54EFF35}"/>
                </a:ext>
              </a:extLst>
            </p:cNvPr>
            <p:cNvSpPr/>
            <p:nvPr/>
          </p:nvSpPr>
          <p:spPr>
            <a:xfrm>
              <a:off x="7967471" y="2656332"/>
              <a:ext cx="3088005" cy="288290"/>
            </a:xfrm>
            <a:custGeom>
              <a:avLst/>
              <a:gdLst/>
              <a:ahLst/>
              <a:cxnLst/>
              <a:rect l="l" t="t" r="r" b="b"/>
              <a:pathLst>
                <a:path w="3088004" h="288289">
                  <a:moveTo>
                    <a:pt x="0" y="48005"/>
                  </a:moveTo>
                  <a:lnTo>
                    <a:pt x="3768" y="29307"/>
                  </a:lnTo>
                  <a:lnTo>
                    <a:pt x="14049" y="14049"/>
                  </a:lnTo>
                  <a:lnTo>
                    <a:pt x="29307" y="3768"/>
                  </a:lnTo>
                  <a:lnTo>
                    <a:pt x="48005" y="0"/>
                  </a:lnTo>
                  <a:lnTo>
                    <a:pt x="3039618" y="0"/>
                  </a:lnTo>
                  <a:lnTo>
                    <a:pt x="3058316" y="3768"/>
                  </a:lnTo>
                  <a:lnTo>
                    <a:pt x="3073574" y="14049"/>
                  </a:lnTo>
                  <a:lnTo>
                    <a:pt x="3083855" y="29307"/>
                  </a:lnTo>
                  <a:lnTo>
                    <a:pt x="3087624" y="48005"/>
                  </a:lnTo>
                  <a:lnTo>
                    <a:pt x="3087624" y="240029"/>
                  </a:lnTo>
                  <a:lnTo>
                    <a:pt x="3083855" y="258728"/>
                  </a:lnTo>
                  <a:lnTo>
                    <a:pt x="3073574" y="273986"/>
                  </a:lnTo>
                  <a:lnTo>
                    <a:pt x="3058316" y="284267"/>
                  </a:lnTo>
                  <a:lnTo>
                    <a:pt x="3039618" y="288035"/>
                  </a:lnTo>
                  <a:lnTo>
                    <a:pt x="48005" y="288035"/>
                  </a:lnTo>
                  <a:lnTo>
                    <a:pt x="29307" y="284267"/>
                  </a:lnTo>
                  <a:lnTo>
                    <a:pt x="14049" y="273986"/>
                  </a:lnTo>
                  <a:lnTo>
                    <a:pt x="3768" y="258728"/>
                  </a:lnTo>
                  <a:lnTo>
                    <a:pt x="0" y="240029"/>
                  </a:lnTo>
                  <a:lnTo>
                    <a:pt x="0" y="48005"/>
                  </a:lnTo>
                  <a:close/>
                </a:path>
              </a:pathLst>
            </a:custGeom>
            <a:ln w="12192">
              <a:solidFill>
                <a:srgbClr val="E8F4F5"/>
              </a:solidFill>
            </a:ln>
          </p:spPr>
          <p:txBody>
            <a:bodyPr wrap="square" lIns="0" tIns="0" rIns="0" bIns="0" rtlCol="0"/>
            <a:lstStyle/>
            <a:p>
              <a:endParaRPr/>
            </a:p>
          </p:txBody>
        </p:sp>
      </p:grpSp>
      <p:sp>
        <p:nvSpPr>
          <p:cNvPr id="30" name="object 30">
            <a:extLst>
              <a:ext uri="{FF2B5EF4-FFF2-40B4-BE49-F238E27FC236}">
                <a16:creationId xmlns:a16="http://schemas.microsoft.com/office/drawing/2014/main" id="{19B654BA-9202-D975-60E0-4FE4E000B523}"/>
              </a:ext>
            </a:extLst>
          </p:cNvPr>
          <p:cNvSpPr txBox="1"/>
          <p:nvPr/>
        </p:nvSpPr>
        <p:spPr>
          <a:xfrm>
            <a:off x="7980592" y="3123763"/>
            <a:ext cx="3061970" cy="239395"/>
          </a:xfrm>
          <a:prstGeom prst="rect">
            <a:avLst/>
          </a:prstGeom>
        </p:spPr>
        <p:txBody>
          <a:bodyPr vert="horz" wrap="square" lIns="0" tIns="13335" rIns="0" bIns="0" rtlCol="0">
            <a:spAutoFit/>
          </a:bodyPr>
          <a:lstStyle/>
          <a:p>
            <a:pPr marL="373380">
              <a:lnSpc>
                <a:spcPct val="100000"/>
              </a:lnSpc>
              <a:spcBef>
                <a:spcPts val="105"/>
              </a:spcBef>
            </a:pPr>
            <a:r>
              <a:rPr sz="1400" dirty="0">
                <a:solidFill>
                  <a:srgbClr val="FFFFFF"/>
                </a:solidFill>
                <a:latin typeface="宋体"/>
                <a:cs typeface="宋体"/>
              </a:rPr>
              <a:t>腾讯云计算（北京）</a:t>
            </a:r>
            <a:r>
              <a:rPr sz="1400" spc="-20" dirty="0">
                <a:solidFill>
                  <a:srgbClr val="FFFFFF"/>
                </a:solidFill>
                <a:latin typeface="宋体"/>
                <a:cs typeface="宋体"/>
              </a:rPr>
              <a:t>有限公司</a:t>
            </a:r>
            <a:endParaRPr sz="1400">
              <a:latin typeface="宋体"/>
              <a:cs typeface="宋体"/>
            </a:endParaRPr>
          </a:p>
        </p:txBody>
      </p:sp>
      <p:grpSp>
        <p:nvGrpSpPr>
          <p:cNvPr id="31" name="object 31">
            <a:extLst>
              <a:ext uri="{FF2B5EF4-FFF2-40B4-BE49-F238E27FC236}">
                <a16:creationId xmlns:a16="http://schemas.microsoft.com/office/drawing/2014/main" id="{910B9365-98C4-EBA6-25F9-F75C14CD1739}"/>
              </a:ext>
            </a:extLst>
          </p:cNvPr>
          <p:cNvGrpSpPr/>
          <p:nvPr/>
        </p:nvGrpSpPr>
        <p:grpSpPr>
          <a:xfrm>
            <a:off x="7961121" y="3439485"/>
            <a:ext cx="3100705" cy="300990"/>
            <a:chOff x="7961121" y="2994405"/>
            <a:chExt cx="3100705" cy="300990"/>
          </a:xfrm>
        </p:grpSpPr>
        <p:sp>
          <p:nvSpPr>
            <p:cNvPr id="32" name="object 32">
              <a:extLst>
                <a:ext uri="{FF2B5EF4-FFF2-40B4-BE49-F238E27FC236}">
                  <a16:creationId xmlns:a16="http://schemas.microsoft.com/office/drawing/2014/main" id="{DB894E8B-FEBE-36E2-DB0F-21894A71B2F8}"/>
                </a:ext>
              </a:extLst>
            </p:cNvPr>
            <p:cNvSpPr/>
            <p:nvPr/>
          </p:nvSpPr>
          <p:spPr>
            <a:xfrm>
              <a:off x="7967471" y="3000755"/>
              <a:ext cx="3088005" cy="288290"/>
            </a:xfrm>
            <a:custGeom>
              <a:avLst/>
              <a:gdLst/>
              <a:ahLst/>
              <a:cxnLst/>
              <a:rect l="l" t="t" r="r" b="b"/>
              <a:pathLst>
                <a:path w="3088004" h="288289">
                  <a:moveTo>
                    <a:pt x="3039618" y="0"/>
                  </a:moveTo>
                  <a:lnTo>
                    <a:pt x="48005" y="0"/>
                  </a:lnTo>
                  <a:lnTo>
                    <a:pt x="29307" y="3768"/>
                  </a:lnTo>
                  <a:lnTo>
                    <a:pt x="14049" y="14049"/>
                  </a:lnTo>
                  <a:lnTo>
                    <a:pt x="3768" y="29307"/>
                  </a:lnTo>
                  <a:lnTo>
                    <a:pt x="0" y="48006"/>
                  </a:lnTo>
                  <a:lnTo>
                    <a:pt x="0" y="240030"/>
                  </a:lnTo>
                  <a:lnTo>
                    <a:pt x="3768" y="258728"/>
                  </a:lnTo>
                  <a:lnTo>
                    <a:pt x="14049" y="273986"/>
                  </a:lnTo>
                  <a:lnTo>
                    <a:pt x="29307" y="284267"/>
                  </a:lnTo>
                  <a:lnTo>
                    <a:pt x="48005" y="288036"/>
                  </a:lnTo>
                  <a:lnTo>
                    <a:pt x="3039618" y="288036"/>
                  </a:lnTo>
                  <a:lnTo>
                    <a:pt x="3058316" y="284267"/>
                  </a:lnTo>
                  <a:lnTo>
                    <a:pt x="3073574" y="273986"/>
                  </a:lnTo>
                  <a:lnTo>
                    <a:pt x="3083855" y="258728"/>
                  </a:lnTo>
                  <a:lnTo>
                    <a:pt x="3087624" y="240030"/>
                  </a:lnTo>
                  <a:lnTo>
                    <a:pt x="3087624" y="48006"/>
                  </a:lnTo>
                  <a:lnTo>
                    <a:pt x="3083855" y="29307"/>
                  </a:lnTo>
                  <a:lnTo>
                    <a:pt x="3073574" y="14049"/>
                  </a:lnTo>
                  <a:lnTo>
                    <a:pt x="3058316" y="3768"/>
                  </a:lnTo>
                  <a:lnTo>
                    <a:pt x="3039618" y="0"/>
                  </a:lnTo>
                  <a:close/>
                </a:path>
              </a:pathLst>
            </a:custGeom>
            <a:solidFill>
              <a:srgbClr val="38A666"/>
            </a:solidFill>
          </p:spPr>
          <p:txBody>
            <a:bodyPr wrap="square" lIns="0" tIns="0" rIns="0" bIns="0" rtlCol="0"/>
            <a:lstStyle/>
            <a:p>
              <a:endParaRPr/>
            </a:p>
          </p:txBody>
        </p:sp>
        <p:sp>
          <p:nvSpPr>
            <p:cNvPr id="33" name="object 33">
              <a:extLst>
                <a:ext uri="{FF2B5EF4-FFF2-40B4-BE49-F238E27FC236}">
                  <a16:creationId xmlns:a16="http://schemas.microsoft.com/office/drawing/2014/main" id="{4296A609-56FA-3A17-AFE1-40E92044CF63}"/>
                </a:ext>
              </a:extLst>
            </p:cNvPr>
            <p:cNvSpPr/>
            <p:nvPr/>
          </p:nvSpPr>
          <p:spPr>
            <a:xfrm>
              <a:off x="7967471" y="3000755"/>
              <a:ext cx="3088005" cy="288290"/>
            </a:xfrm>
            <a:custGeom>
              <a:avLst/>
              <a:gdLst/>
              <a:ahLst/>
              <a:cxnLst/>
              <a:rect l="l" t="t" r="r" b="b"/>
              <a:pathLst>
                <a:path w="3088004" h="288289">
                  <a:moveTo>
                    <a:pt x="0" y="48006"/>
                  </a:moveTo>
                  <a:lnTo>
                    <a:pt x="3768" y="29307"/>
                  </a:lnTo>
                  <a:lnTo>
                    <a:pt x="14049" y="14049"/>
                  </a:lnTo>
                  <a:lnTo>
                    <a:pt x="29307" y="3768"/>
                  </a:lnTo>
                  <a:lnTo>
                    <a:pt x="48005" y="0"/>
                  </a:lnTo>
                  <a:lnTo>
                    <a:pt x="3039618" y="0"/>
                  </a:lnTo>
                  <a:lnTo>
                    <a:pt x="3058316" y="3768"/>
                  </a:lnTo>
                  <a:lnTo>
                    <a:pt x="3073574" y="14049"/>
                  </a:lnTo>
                  <a:lnTo>
                    <a:pt x="3083855" y="29307"/>
                  </a:lnTo>
                  <a:lnTo>
                    <a:pt x="3087624" y="48006"/>
                  </a:lnTo>
                  <a:lnTo>
                    <a:pt x="3087624" y="240030"/>
                  </a:lnTo>
                  <a:lnTo>
                    <a:pt x="3083855" y="258728"/>
                  </a:lnTo>
                  <a:lnTo>
                    <a:pt x="3073574" y="273986"/>
                  </a:lnTo>
                  <a:lnTo>
                    <a:pt x="3058316" y="284267"/>
                  </a:lnTo>
                  <a:lnTo>
                    <a:pt x="3039618" y="288036"/>
                  </a:lnTo>
                  <a:lnTo>
                    <a:pt x="48005" y="288036"/>
                  </a:lnTo>
                  <a:lnTo>
                    <a:pt x="29307" y="284267"/>
                  </a:lnTo>
                  <a:lnTo>
                    <a:pt x="14049" y="273986"/>
                  </a:lnTo>
                  <a:lnTo>
                    <a:pt x="3768" y="258728"/>
                  </a:lnTo>
                  <a:lnTo>
                    <a:pt x="0" y="240030"/>
                  </a:lnTo>
                  <a:lnTo>
                    <a:pt x="0" y="48006"/>
                  </a:lnTo>
                  <a:close/>
                </a:path>
              </a:pathLst>
            </a:custGeom>
            <a:ln w="12192">
              <a:solidFill>
                <a:srgbClr val="E8F4F5"/>
              </a:solidFill>
            </a:ln>
          </p:spPr>
          <p:txBody>
            <a:bodyPr wrap="square" lIns="0" tIns="0" rIns="0" bIns="0" rtlCol="0"/>
            <a:lstStyle/>
            <a:p>
              <a:endParaRPr/>
            </a:p>
          </p:txBody>
        </p:sp>
      </p:grpSp>
      <p:sp>
        <p:nvSpPr>
          <p:cNvPr id="34" name="object 34">
            <a:extLst>
              <a:ext uri="{FF2B5EF4-FFF2-40B4-BE49-F238E27FC236}">
                <a16:creationId xmlns:a16="http://schemas.microsoft.com/office/drawing/2014/main" id="{9B91F7E8-C492-4288-CF40-8A538DA5BC9D}"/>
              </a:ext>
            </a:extLst>
          </p:cNvPr>
          <p:cNvSpPr txBox="1"/>
          <p:nvPr/>
        </p:nvSpPr>
        <p:spPr>
          <a:xfrm>
            <a:off x="7980592" y="3467934"/>
            <a:ext cx="3061970" cy="239395"/>
          </a:xfrm>
          <a:prstGeom prst="rect">
            <a:avLst/>
          </a:prstGeom>
        </p:spPr>
        <p:txBody>
          <a:bodyPr vert="horz" wrap="square" lIns="0" tIns="13335" rIns="0" bIns="0" rtlCol="0">
            <a:spAutoFit/>
          </a:bodyPr>
          <a:lstStyle/>
          <a:p>
            <a:pPr marL="461645">
              <a:lnSpc>
                <a:spcPct val="100000"/>
              </a:lnSpc>
              <a:spcBef>
                <a:spcPts val="105"/>
              </a:spcBef>
            </a:pPr>
            <a:r>
              <a:rPr sz="1400" spc="-10" dirty="0">
                <a:solidFill>
                  <a:srgbClr val="FFFFFF"/>
                </a:solidFill>
                <a:latin typeface="宋体"/>
                <a:cs typeface="宋体"/>
              </a:rPr>
              <a:t>杭州笨马网络技术有限公司</a:t>
            </a:r>
            <a:endParaRPr sz="1400">
              <a:latin typeface="宋体"/>
              <a:cs typeface="宋体"/>
            </a:endParaRPr>
          </a:p>
        </p:txBody>
      </p:sp>
      <p:grpSp>
        <p:nvGrpSpPr>
          <p:cNvPr id="35" name="object 35">
            <a:extLst>
              <a:ext uri="{FF2B5EF4-FFF2-40B4-BE49-F238E27FC236}">
                <a16:creationId xmlns:a16="http://schemas.microsoft.com/office/drawing/2014/main" id="{4507D14D-8DC8-7D8C-36D9-2C8BF632F3FA}"/>
              </a:ext>
            </a:extLst>
          </p:cNvPr>
          <p:cNvGrpSpPr/>
          <p:nvPr/>
        </p:nvGrpSpPr>
        <p:grpSpPr>
          <a:xfrm>
            <a:off x="7961376" y="3784164"/>
            <a:ext cx="3100070" cy="299085"/>
            <a:chOff x="7961376" y="3339084"/>
            <a:chExt cx="3100070" cy="299085"/>
          </a:xfrm>
        </p:grpSpPr>
        <p:sp>
          <p:nvSpPr>
            <p:cNvPr id="36" name="object 36">
              <a:extLst>
                <a:ext uri="{FF2B5EF4-FFF2-40B4-BE49-F238E27FC236}">
                  <a16:creationId xmlns:a16="http://schemas.microsoft.com/office/drawing/2014/main" id="{F936C9CA-AA21-6AF0-681A-2BA80B91D51A}"/>
                </a:ext>
              </a:extLst>
            </p:cNvPr>
            <p:cNvSpPr/>
            <p:nvPr/>
          </p:nvSpPr>
          <p:spPr>
            <a:xfrm>
              <a:off x="7967472" y="3345180"/>
              <a:ext cx="3088005" cy="287020"/>
            </a:xfrm>
            <a:custGeom>
              <a:avLst/>
              <a:gdLst/>
              <a:ahLst/>
              <a:cxnLst/>
              <a:rect l="l" t="t" r="r" b="b"/>
              <a:pathLst>
                <a:path w="3088004" h="287020">
                  <a:moveTo>
                    <a:pt x="3039872" y="0"/>
                  </a:moveTo>
                  <a:lnTo>
                    <a:pt x="47751" y="0"/>
                  </a:lnTo>
                  <a:lnTo>
                    <a:pt x="29146" y="3746"/>
                  </a:lnTo>
                  <a:lnTo>
                    <a:pt x="13969" y="13970"/>
                  </a:lnTo>
                  <a:lnTo>
                    <a:pt x="3746" y="29146"/>
                  </a:lnTo>
                  <a:lnTo>
                    <a:pt x="0" y="47752"/>
                  </a:lnTo>
                  <a:lnTo>
                    <a:pt x="0" y="238760"/>
                  </a:lnTo>
                  <a:lnTo>
                    <a:pt x="3746" y="257365"/>
                  </a:lnTo>
                  <a:lnTo>
                    <a:pt x="13969" y="272542"/>
                  </a:lnTo>
                  <a:lnTo>
                    <a:pt x="29146" y="282765"/>
                  </a:lnTo>
                  <a:lnTo>
                    <a:pt x="47751" y="286512"/>
                  </a:lnTo>
                  <a:lnTo>
                    <a:pt x="3039872" y="286512"/>
                  </a:lnTo>
                  <a:lnTo>
                    <a:pt x="3058477" y="282765"/>
                  </a:lnTo>
                  <a:lnTo>
                    <a:pt x="3073654" y="272542"/>
                  </a:lnTo>
                  <a:lnTo>
                    <a:pt x="3083877" y="257365"/>
                  </a:lnTo>
                  <a:lnTo>
                    <a:pt x="3087624" y="238760"/>
                  </a:lnTo>
                  <a:lnTo>
                    <a:pt x="3087624" y="47752"/>
                  </a:lnTo>
                  <a:lnTo>
                    <a:pt x="3083877" y="29146"/>
                  </a:lnTo>
                  <a:lnTo>
                    <a:pt x="3073654" y="13970"/>
                  </a:lnTo>
                  <a:lnTo>
                    <a:pt x="3058477" y="3746"/>
                  </a:lnTo>
                  <a:lnTo>
                    <a:pt x="3039872" y="0"/>
                  </a:lnTo>
                  <a:close/>
                </a:path>
              </a:pathLst>
            </a:custGeom>
            <a:solidFill>
              <a:srgbClr val="38A666"/>
            </a:solidFill>
          </p:spPr>
          <p:txBody>
            <a:bodyPr wrap="square" lIns="0" tIns="0" rIns="0" bIns="0" rtlCol="0"/>
            <a:lstStyle/>
            <a:p>
              <a:endParaRPr/>
            </a:p>
          </p:txBody>
        </p:sp>
        <p:sp>
          <p:nvSpPr>
            <p:cNvPr id="37" name="object 37">
              <a:extLst>
                <a:ext uri="{FF2B5EF4-FFF2-40B4-BE49-F238E27FC236}">
                  <a16:creationId xmlns:a16="http://schemas.microsoft.com/office/drawing/2014/main" id="{4E4C6145-6A77-F0C3-2309-31916D05A585}"/>
                </a:ext>
              </a:extLst>
            </p:cNvPr>
            <p:cNvSpPr/>
            <p:nvPr/>
          </p:nvSpPr>
          <p:spPr>
            <a:xfrm>
              <a:off x="7967472" y="3345180"/>
              <a:ext cx="3088005" cy="287020"/>
            </a:xfrm>
            <a:custGeom>
              <a:avLst/>
              <a:gdLst/>
              <a:ahLst/>
              <a:cxnLst/>
              <a:rect l="l" t="t" r="r" b="b"/>
              <a:pathLst>
                <a:path w="3088004" h="287020">
                  <a:moveTo>
                    <a:pt x="0" y="47752"/>
                  </a:moveTo>
                  <a:lnTo>
                    <a:pt x="3746" y="29146"/>
                  </a:lnTo>
                  <a:lnTo>
                    <a:pt x="13969" y="13970"/>
                  </a:lnTo>
                  <a:lnTo>
                    <a:pt x="29146" y="3746"/>
                  </a:lnTo>
                  <a:lnTo>
                    <a:pt x="47751" y="0"/>
                  </a:lnTo>
                  <a:lnTo>
                    <a:pt x="3039872" y="0"/>
                  </a:lnTo>
                  <a:lnTo>
                    <a:pt x="3058477" y="3746"/>
                  </a:lnTo>
                  <a:lnTo>
                    <a:pt x="3073654" y="13970"/>
                  </a:lnTo>
                  <a:lnTo>
                    <a:pt x="3083877" y="29146"/>
                  </a:lnTo>
                  <a:lnTo>
                    <a:pt x="3087624" y="47752"/>
                  </a:lnTo>
                  <a:lnTo>
                    <a:pt x="3087624" y="238760"/>
                  </a:lnTo>
                  <a:lnTo>
                    <a:pt x="3083877" y="257365"/>
                  </a:lnTo>
                  <a:lnTo>
                    <a:pt x="3073654" y="272542"/>
                  </a:lnTo>
                  <a:lnTo>
                    <a:pt x="3058477" y="282765"/>
                  </a:lnTo>
                  <a:lnTo>
                    <a:pt x="3039872" y="286512"/>
                  </a:lnTo>
                  <a:lnTo>
                    <a:pt x="47751" y="286512"/>
                  </a:lnTo>
                  <a:lnTo>
                    <a:pt x="29146" y="282765"/>
                  </a:lnTo>
                  <a:lnTo>
                    <a:pt x="13969" y="272542"/>
                  </a:lnTo>
                  <a:lnTo>
                    <a:pt x="3746" y="257365"/>
                  </a:lnTo>
                  <a:lnTo>
                    <a:pt x="0" y="238760"/>
                  </a:lnTo>
                  <a:lnTo>
                    <a:pt x="0" y="47752"/>
                  </a:lnTo>
                  <a:close/>
                </a:path>
              </a:pathLst>
            </a:custGeom>
            <a:ln w="12192">
              <a:solidFill>
                <a:srgbClr val="E8F4F5"/>
              </a:solidFill>
            </a:ln>
          </p:spPr>
          <p:txBody>
            <a:bodyPr wrap="square" lIns="0" tIns="0" rIns="0" bIns="0" rtlCol="0"/>
            <a:lstStyle/>
            <a:p>
              <a:endParaRPr/>
            </a:p>
          </p:txBody>
        </p:sp>
      </p:grpSp>
      <p:sp>
        <p:nvSpPr>
          <p:cNvPr id="38" name="object 38">
            <a:extLst>
              <a:ext uri="{FF2B5EF4-FFF2-40B4-BE49-F238E27FC236}">
                <a16:creationId xmlns:a16="http://schemas.microsoft.com/office/drawing/2014/main" id="{94A5CDB7-6F2D-A807-940D-0D9FC0FA9EC1}"/>
              </a:ext>
            </a:extLst>
          </p:cNvPr>
          <p:cNvSpPr txBox="1"/>
          <p:nvPr/>
        </p:nvSpPr>
        <p:spPr>
          <a:xfrm>
            <a:off x="7980553" y="3811976"/>
            <a:ext cx="3061970" cy="239395"/>
          </a:xfrm>
          <a:prstGeom prst="rect">
            <a:avLst/>
          </a:prstGeom>
        </p:spPr>
        <p:txBody>
          <a:bodyPr vert="horz" wrap="square" lIns="0" tIns="13335" rIns="0" bIns="0" rtlCol="0">
            <a:spAutoFit/>
          </a:bodyPr>
          <a:lstStyle/>
          <a:p>
            <a:pPr marL="461645">
              <a:lnSpc>
                <a:spcPct val="100000"/>
              </a:lnSpc>
              <a:spcBef>
                <a:spcPts val="105"/>
              </a:spcBef>
            </a:pPr>
            <a:r>
              <a:rPr sz="1400" spc="-10" dirty="0">
                <a:solidFill>
                  <a:srgbClr val="FFFFFF"/>
                </a:solidFill>
                <a:latin typeface="宋体"/>
                <a:cs typeface="宋体"/>
              </a:rPr>
              <a:t>普元信息技术股份有限公司</a:t>
            </a:r>
            <a:endParaRPr sz="1400">
              <a:latin typeface="宋体"/>
              <a:cs typeface="宋体"/>
            </a:endParaRPr>
          </a:p>
        </p:txBody>
      </p:sp>
      <p:grpSp>
        <p:nvGrpSpPr>
          <p:cNvPr id="39" name="object 39">
            <a:extLst>
              <a:ext uri="{FF2B5EF4-FFF2-40B4-BE49-F238E27FC236}">
                <a16:creationId xmlns:a16="http://schemas.microsoft.com/office/drawing/2014/main" id="{1C2BA9A3-D73F-F741-7B07-8656A937AE5F}"/>
              </a:ext>
            </a:extLst>
          </p:cNvPr>
          <p:cNvGrpSpPr/>
          <p:nvPr/>
        </p:nvGrpSpPr>
        <p:grpSpPr>
          <a:xfrm>
            <a:off x="7961121" y="4128333"/>
            <a:ext cx="3100705" cy="299720"/>
            <a:chOff x="7961121" y="3683253"/>
            <a:chExt cx="3100705" cy="299720"/>
          </a:xfrm>
        </p:grpSpPr>
        <p:sp>
          <p:nvSpPr>
            <p:cNvPr id="40" name="object 40">
              <a:extLst>
                <a:ext uri="{FF2B5EF4-FFF2-40B4-BE49-F238E27FC236}">
                  <a16:creationId xmlns:a16="http://schemas.microsoft.com/office/drawing/2014/main" id="{9E94CAA3-9904-40E7-1618-DE21F9C0B4F3}"/>
                </a:ext>
              </a:extLst>
            </p:cNvPr>
            <p:cNvSpPr/>
            <p:nvPr/>
          </p:nvSpPr>
          <p:spPr>
            <a:xfrm>
              <a:off x="7967471" y="3689603"/>
              <a:ext cx="3088005" cy="287020"/>
            </a:xfrm>
            <a:custGeom>
              <a:avLst/>
              <a:gdLst/>
              <a:ahLst/>
              <a:cxnLst/>
              <a:rect l="l" t="t" r="r" b="b"/>
              <a:pathLst>
                <a:path w="3088004" h="287020">
                  <a:moveTo>
                    <a:pt x="3039872" y="0"/>
                  </a:moveTo>
                  <a:lnTo>
                    <a:pt x="47751" y="0"/>
                  </a:lnTo>
                  <a:lnTo>
                    <a:pt x="29146" y="3746"/>
                  </a:lnTo>
                  <a:lnTo>
                    <a:pt x="13969" y="13970"/>
                  </a:lnTo>
                  <a:lnTo>
                    <a:pt x="3746" y="29146"/>
                  </a:lnTo>
                  <a:lnTo>
                    <a:pt x="0" y="47752"/>
                  </a:lnTo>
                  <a:lnTo>
                    <a:pt x="0" y="238760"/>
                  </a:lnTo>
                  <a:lnTo>
                    <a:pt x="3746" y="257365"/>
                  </a:lnTo>
                  <a:lnTo>
                    <a:pt x="13969" y="272542"/>
                  </a:lnTo>
                  <a:lnTo>
                    <a:pt x="29146" y="282765"/>
                  </a:lnTo>
                  <a:lnTo>
                    <a:pt x="47751" y="286512"/>
                  </a:lnTo>
                  <a:lnTo>
                    <a:pt x="3039872" y="286512"/>
                  </a:lnTo>
                  <a:lnTo>
                    <a:pt x="3058477" y="282765"/>
                  </a:lnTo>
                  <a:lnTo>
                    <a:pt x="3073654" y="272542"/>
                  </a:lnTo>
                  <a:lnTo>
                    <a:pt x="3083877" y="257365"/>
                  </a:lnTo>
                  <a:lnTo>
                    <a:pt x="3087624" y="238760"/>
                  </a:lnTo>
                  <a:lnTo>
                    <a:pt x="3087624" y="47752"/>
                  </a:lnTo>
                  <a:lnTo>
                    <a:pt x="3083877" y="29146"/>
                  </a:lnTo>
                  <a:lnTo>
                    <a:pt x="3073654" y="13970"/>
                  </a:lnTo>
                  <a:lnTo>
                    <a:pt x="3058477" y="3746"/>
                  </a:lnTo>
                  <a:lnTo>
                    <a:pt x="3039872" y="0"/>
                  </a:lnTo>
                  <a:close/>
                </a:path>
              </a:pathLst>
            </a:custGeom>
            <a:solidFill>
              <a:srgbClr val="38A666"/>
            </a:solidFill>
          </p:spPr>
          <p:txBody>
            <a:bodyPr wrap="square" lIns="0" tIns="0" rIns="0" bIns="0" rtlCol="0"/>
            <a:lstStyle/>
            <a:p>
              <a:endParaRPr/>
            </a:p>
          </p:txBody>
        </p:sp>
        <p:sp>
          <p:nvSpPr>
            <p:cNvPr id="41" name="object 41">
              <a:extLst>
                <a:ext uri="{FF2B5EF4-FFF2-40B4-BE49-F238E27FC236}">
                  <a16:creationId xmlns:a16="http://schemas.microsoft.com/office/drawing/2014/main" id="{47FB9B0D-4018-1410-E516-8147DEBF7721}"/>
                </a:ext>
              </a:extLst>
            </p:cNvPr>
            <p:cNvSpPr/>
            <p:nvPr/>
          </p:nvSpPr>
          <p:spPr>
            <a:xfrm>
              <a:off x="7967471" y="3689603"/>
              <a:ext cx="3088005" cy="287020"/>
            </a:xfrm>
            <a:custGeom>
              <a:avLst/>
              <a:gdLst/>
              <a:ahLst/>
              <a:cxnLst/>
              <a:rect l="l" t="t" r="r" b="b"/>
              <a:pathLst>
                <a:path w="3088004" h="287020">
                  <a:moveTo>
                    <a:pt x="0" y="47752"/>
                  </a:moveTo>
                  <a:lnTo>
                    <a:pt x="3746" y="29146"/>
                  </a:lnTo>
                  <a:lnTo>
                    <a:pt x="13969" y="13970"/>
                  </a:lnTo>
                  <a:lnTo>
                    <a:pt x="29146" y="3746"/>
                  </a:lnTo>
                  <a:lnTo>
                    <a:pt x="47751" y="0"/>
                  </a:lnTo>
                  <a:lnTo>
                    <a:pt x="3039872" y="0"/>
                  </a:lnTo>
                  <a:lnTo>
                    <a:pt x="3058477" y="3746"/>
                  </a:lnTo>
                  <a:lnTo>
                    <a:pt x="3073654" y="13970"/>
                  </a:lnTo>
                  <a:lnTo>
                    <a:pt x="3083877" y="29146"/>
                  </a:lnTo>
                  <a:lnTo>
                    <a:pt x="3087624" y="47752"/>
                  </a:lnTo>
                  <a:lnTo>
                    <a:pt x="3087624" y="238760"/>
                  </a:lnTo>
                  <a:lnTo>
                    <a:pt x="3083877" y="257365"/>
                  </a:lnTo>
                  <a:lnTo>
                    <a:pt x="3073654" y="272542"/>
                  </a:lnTo>
                  <a:lnTo>
                    <a:pt x="3058477" y="282765"/>
                  </a:lnTo>
                  <a:lnTo>
                    <a:pt x="3039872" y="286512"/>
                  </a:lnTo>
                  <a:lnTo>
                    <a:pt x="47751" y="286512"/>
                  </a:lnTo>
                  <a:lnTo>
                    <a:pt x="29146" y="282765"/>
                  </a:lnTo>
                  <a:lnTo>
                    <a:pt x="13969" y="272542"/>
                  </a:lnTo>
                  <a:lnTo>
                    <a:pt x="3746" y="257365"/>
                  </a:lnTo>
                  <a:lnTo>
                    <a:pt x="0" y="238760"/>
                  </a:lnTo>
                  <a:lnTo>
                    <a:pt x="0" y="47752"/>
                  </a:lnTo>
                  <a:close/>
                </a:path>
              </a:pathLst>
            </a:custGeom>
            <a:ln w="12191">
              <a:solidFill>
                <a:srgbClr val="E8F4F5"/>
              </a:solidFill>
            </a:ln>
          </p:spPr>
          <p:txBody>
            <a:bodyPr wrap="square" lIns="0" tIns="0" rIns="0" bIns="0" rtlCol="0"/>
            <a:lstStyle/>
            <a:p>
              <a:endParaRPr/>
            </a:p>
          </p:txBody>
        </p:sp>
      </p:grpSp>
      <p:sp>
        <p:nvSpPr>
          <p:cNvPr id="42" name="object 42">
            <a:extLst>
              <a:ext uri="{FF2B5EF4-FFF2-40B4-BE49-F238E27FC236}">
                <a16:creationId xmlns:a16="http://schemas.microsoft.com/office/drawing/2014/main" id="{6DA60D34-81B0-F13F-DB16-5A4BDB7F856F}"/>
              </a:ext>
            </a:extLst>
          </p:cNvPr>
          <p:cNvSpPr txBox="1"/>
          <p:nvPr/>
        </p:nvSpPr>
        <p:spPr>
          <a:xfrm>
            <a:off x="7980553" y="4156146"/>
            <a:ext cx="3061970" cy="239395"/>
          </a:xfrm>
          <a:prstGeom prst="rect">
            <a:avLst/>
          </a:prstGeom>
        </p:spPr>
        <p:txBody>
          <a:bodyPr vert="horz" wrap="square" lIns="0" tIns="12700" rIns="0" bIns="0" rtlCol="0">
            <a:spAutoFit/>
          </a:bodyPr>
          <a:lstStyle/>
          <a:p>
            <a:pPr marL="728345">
              <a:lnSpc>
                <a:spcPct val="100000"/>
              </a:lnSpc>
              <a:spcBef>
                <a:spcPts val="100"/>
              </a:spcBef>
            </a:pPr>
            <a:r>
              <a:rPr sz="1400" spc="-10" dirty="0">
                <a:solidFill>
                  <a:srgbClr val="FFFFFF"/>
                </a:solidFill>
                <a:latin typeface="宋体"/>
                <a:cs typeface="宋体"/>
              </a:rPr>
              <a:t>新华三技术有限公司</a:t>
            </a:r>
            <a:endParaRPr sz="1400">
              <a:latin typeface="宋体"/>
              <a:cs typeface="宋体"/>
            </a:endParaRPr>
          </a:p>
        </p:txBody>
      </p:sp>
      <p:grpSp>
        <p:nvGrpSpPr>
          <p:cNvPr id="43" name="object 43">
            <a:extLst>
              <a:ext uri="{FF2B5EF4-FFF2-40B4-BE49-F238E27FC236}">
                <a16:creationId xmlns:a16="http://schemas.microsoft.com/office/drawing/2014/main" id="{237D0D8D-36B9-1A6E-8070-EF8FCB0F418A}"/>
              </a:ext>
            </a:extLst>
          </p:cNvPr>
          <p:cNvGrpSpPr/>
          <p:nvPr/>
        </p:nvGrpSpPr>
        <p:grpSpPr>
          <a:xfrm>
            <a:off x="7961121" y="4471233"/>
            <a:ext cx="3100705" cy="300990"/>
            <a:chOff x="7961121" y="4026153"/>
            <a:chExt cx="3100705" cy="300990"/>
          </a:xfrm>
        </p:grpSpPr>
        <p:sp>
          <p:nvSpPr>
            <p:cNvPr id="44" name="object 44">
              <a:extLst>
                <a:ext uri="{FF2B5EF4-FFF2-40B4-BE49-F238E27FC236}">
                  <a16:creationId xmlns:a16="http://schemas.microsoft.com/office/drawing/2014/main" id="{A44EB81C-297D-0F62-4D6C-3392804ABA91}"/>
                </a:ext>
              </a:extLst>
            </p:cNvPr>
            <p:cNvSpPr/>
            <p:nvPr/>
          </p:nvSpPr>
          <p:spPr>
            <a:xfrm>
              <a:off x="7967471" y="4032503"/>
              <a:ext cx="3088005" cy="288290"/>
            </a:xfrm>
            <a:custGeom>
              <a:avLst/>
              <a:gdLst/>
              <a:ahLst/>
              <a:cxnLst/>
              <a:rect l="l" t="t" r="r" b="b"/>
              <a:pathLst>
                <a:path w="3088004" h="288289">
                  <a:moveTo>
                    <a:pt x="3039618" y="0"/>
                  </a:moveTo>
                  <a:lnTo>
                    <a:pt x="48005" y="0"/>
                  </a:lnTo>
                  <a:lnTo>
                    <a:pt x="29307" y="3768"/>
                  </a:lnTo>
                  <a:lnTo>
                    <a:pt x="14049" y="14049"/>
                  </a:lnTo>
                  <a:lnTo>
                    <a:pt x="3768" y="29307"/>
                  </a:lnTo>
                  <a:lnTo>
                    <a:pt x="0" y="48006"/>
                  </a:lnTo>
                  <a:lnTo>
                    <a:pt x="0" y="240030"/>
                  </a:lnTo>
                  <a:lnTo>
                    <a:pt x="3768" y="258728"/>
                  </a:lnTo>
                  <a:lnTo>
                    <a:pt x="14049" y="273986"/>
                  </a:lnTo>
                  <a:lnTo>
                    <a:pt x="29307" y="284267"/>
                  </a:lnTo>
                  <a:lnTo>
                    <a:pt x="48005" y="288036"/>
                  </a:lnTo>
                  <a:lnTo>
                    <a:pt x="3039618" y="288036"/>
                  </a:lnTo>
                  <a:lnTo>
                    <a:pt x="3058316" y="284267"/>
                  </a:lnTo>
                  <a:lnTo>
                    <a:pt x="3073574" y="273986"/>
                  </a:lnTo>
                  <a:lnTo>
                    <a:pt x="3083855" y="258728"/>
                  </a:lnTo>
                  <a:lnTo>
                    <a:pt x="3087624" y="240030"/>
                  </a:lnTo>
                  <a:lnTo>
                    <a:pt x="3087624" y="48006"/>
                  </a:lnTo>
                  <a:lnTo>
                    <a:pt x="3083855" y="29307"/>
                  </a:lnTo>
                  <a:lnTo>
                    <a:pt x="3073574" y="14049"/>
                  </a:lnTo>
                  <a:lnTo>
                    <a:pt x="3058316" y="3768"/>
                  </a:lnTo>
                  <a:lnTo>
                    <a:pt x="3039618" y="0"/>
                  </a:lnTo>
                  <a:close/>
                </a:path>
              </a:pathLst>
            </a:custGeom>
            <a:solidFill>
              <a:srgbClr val="38A666"/>
            </a:solidFill>
          </p:spPr>
          <p:txBody>
            <a:bodyPr wrap="square" lIns="0" tIns="0" rIns="0" bIns="0" rtlCol="0"/>
            <a:lstStyle/>
            <a:p>
              <a:endParaRPr/>
            </a:p>
          </p:txBody>
        </p:sp>
        <p:sp>
          <p:nvSpPr>
            <p:cNvPr id="45" name="object 45">
              <a:extLst>
                <a:ext uri="{FF2B5EF4-FFF2-40B4-BE49-F238E27FC236}">
                  <a16:creationId xmlns:a16="http://schemas.microsoft.com/office/drawing/2014/main" id="{C7BE059B-379C-1D40-157F-7FD04921AA9E}"/>
                </a:ext>
              </a:extLst>
            </p:cNvPr>
            <p:cNvSpPr/>
            <p:nvPr/>
          </p:nvSpPr>
          <p:spPr>
            <a:xfrm>
              <a:off x="7967471" y="4032503"/>
              <a:ext cx="3088005" cy="288290"/>
            </a:xfrm>
            <a:custGeom>
              <a:avLst/>
              <a:gdLst/>
              <a:ahLst/>
              <a:cxnLst/>
              <a:rect l="l" t="t" r="r" b="b"/>
              <a:pathLst>
                <a:path w="3088004" h="288289">
                  <a:moveTo>
                    <a:pt x="0" y="48006"/>
                  </a:moveTo>
                  <a:lnTo>
                    <a:pt x="3768" y="29307"/>
                  </a:lnTo>
                  <a:lnTo>
                    <a:pt x="14049" y="14049"/>
                  </a:lnTo>
                  <a:lnTo>
                    <a:pt x="29307" y="3768"/>
                  </a:lnTo>
                  <a:lnTo>
                    <a:pt x="48005" y="0"/>
                  </a:lnTo>
                  <a:lnTo>
                    <a:pt x="3039618" y="0"/>
                  </a:lnTo>
                  <a:lnTo>
                    <a:pt x="3058316" y="3768"/>
                  </a:lnTo>
                  <a:lnTo>
                    <a:pt x="3073574" y="14049"/>
                  </a:lnTo>
                  <a:lnTo>
                    <a:pt x="3083855" y="29307"/>
                  </a:lnTo>
                  <a:lnTo>
                    <a:pt x="3087624" y="48006"/>
                  </a:lnTo>
                  <a:lnTo>
                    <a:pt x="3087624" y="240030"/>
                  </a:lnTo>
                  <a:lnTo>
                    <a:pt x="3083855" y="258728"/>
                  </a:lnTo>
                  <a:lnTo>
                    <a:pt x="3073574" y="273986"/>
                  </a:lnTo>
                  <a:lnTo>
                    <a:pt x="3058316" y="284267"/>
                  </a:lnTo>
                  <a:lnTo>
                    <a:pt x="3039618" y="288036"/>
                  </a:lnTo>
                  <a:lnTo>
                    <a:pt x="48005" y="288036"/>
                  </a:lnTo>
                  <a:lnTo>
                    <a:pt x="29307" y="284267"/>
                  </a:lnTo>
                  <a:lnTo>
                    <a:pt x="14049" y="273986"/>
                  </a:lnTo>
                  <a:lnTo>
                    <a:pt x="3768" y="258728"/>
                  </a:lnTo>
                  <a:lnTo>
                    <a:pt x="0" y="240030"/>
                  </a:lnTo>
                  <a:lnTo>
                    <a:pt x="0" y="48006"/>
                  </a:lnTo>
                  <a:close/>
                </a:path>
              </a:pathLst>
            </a:custGeom>
            <a:ln w="12192">
              <a:solidFill>
                <a:srgbClr val="E8F4F5"/>
              </a:solidFill>
            </a:ln>
          </p:spPr>
          <p:txBody>
            <a:bodyPr wrap="square" lIns="0" tIns="0" rIns="0" bIns="0" rtlCol="0"/>
            <a:lstStyle/>
            <a:p>
              <a:endParaRPr/>
            </a:p>
          </p:txBody>
        </p:sp>
      </p:grpSp>
      <p:sp>
        <p:nvSpPr>
          <p:cNvPr id="46" name="object 46">
            <a:extLst>
              <a:ext uri="{FF2B5EF4-FFF2-40B4-BE49-F238E27FC236}">
                <a16:creationId xmlns:a16="http://schemas.microsoft.com/office/drawing/2014/main" id="{D9090F6B-E0DA-FADC-6DF0-E6B7AA4EECFA}"/>
              </a:ext>
            </a:extLst>
          </p:cNvPr>
          <p:cNvSpPr txBox="1"/>
          <p:nvPr/>
        </p:nvSpPr>
        <p:spPr>
          <a:xfrm>
            <a:off x="7980592" y="4500189"/>
            <a:ext cx="3061970" cy="239395"/>
          </a:xfrm>
          <a:prstGeom prst="rect">
            <a:avLst/>
          </a:prstGeom>
        </p:spPr>
        <p:txBody>
          <a:bodyPr vert="horz" wrap="square" lIns="0" tIns="12700" rIns="0" bIns="0" rtlCol="0">
            <a:spAutoFit/>
          </a:bodyPr>
          <a:lstStyle/>
          <a:p>
            <a:pPr marL="373380">
              <a:lnSpc>
                <a:spcPct val="100000"/>
              </a:lnSpc>
              <a:spcBef>
                <a:spcPts val="100"/>
              </a:spcBef>
            </a:pPr>
            <a:r>
              <a:rPr sz="1400" spc="-10" dirty="0">
                <a:solidFill>
                  <a:srgbClr val="FFFFFF"/>
                </a:solidFill>
                <a:latin typeface="宋体"/>
                <a:cs typeface="宋体"/>
              </a:rPr>
              <a:t>北京金山云网络技术有限公司</a:t>
            </a:r>
            <a:endParaRPr sz="1400">
              <a:latin typeface="宋体"/>
              <a:cs typeface="宋体"/>
            </a:endParaRPr>
          </a:p>
        </p:txBody>
      </p:sp>
      <p:grpSp>
        <p:nvGrpSpPr>
          <p:cNvPr id="47" name="object 47">
            <a:extLst>
              <a:ext uri="{FF2B5EF4-FFF2-40B4-BE49-F238E27FC236}">
                <a16:creationId xmlns:a16="http://schemas.microsoft.com/office/drawing/2014/main" id="{8BAACFC7-5689-AD56-A853-FC84ACA47563}"/>
              </a:ext>
            </a:extLst>
          </p:cNvPr>
          <p:cNvGrpSpPr/>
          <p:nvPr/>
        </p:nvGrpSpPr>
        <p:grpSpPr>
          <a:xfrm>
            <a:off x="7961121" y="4815658"/>
            <a:ext cx="3100705" cy="300990"/>
            <a:chOff x="7961121" y="4370578"/>
            <a:chExt cx="3100705" cy="300990"/>
          </a:xfrm>
        </p:grpSpPr>
        <p:sp>
          <p:nvSpPr>
            <p:cNvPr id="48" name="object 48">
              <a:extLst>
                <a:ext uri="{FF2B5EF4-FFF2-40B4-BE49-F238E27FC236}">
                  <a16:creationId xmlns:a16="http://schemas.microsoft.com/office/drawing/2014/main" id="{E3DD1AE6-40D5-D15D-0464-85198F0E29BD}"/>
                </a:ext>
              </a:extLst>
            </p:cNvPr>
            <p:cNvSpPr/>
            <p:nvPr/>
          </p:nvSpPr>
          <p:spPr>
            <a:xfrm>
              <a:off x="7967471" y="4376928"/>
              <a:ext cx="3088005" cy="288290"/>
            </a:xfrm>
            <a:custGeom>
              <a:avLst/>
              <a:gdLst/>
              <a:ahLst/>
              <a:cxnLst/>
              <a:rect l="l" t="t" r="r" b="b"/>
              <a:pathLst>
                <a:path w="3088004" h="288289">
                  <a:moveTo>
                    <a:pt x="3039618" y="0"/>
                  </a:moveTo>
                  <a:lnTo>
                    <a:pt x="48005" y="0"/>
                  </a:lnTo>
                  <a:lnTo>
                    <a:pt x="29307" y="3768"/>
                  </a:lnTo>
                  <a:lnTo>
                    <a:pt x="14049" y="14049"/>
                  </a:lnTo>
                  <a:lnTo>
                    <a:pt x="3768" y="29307"/>
                  </a:lnTo>
                  <a:lnTo>
                    <a:pt x="0" y="48006"/>
                  </a:lnTo>
                  <a:lnTo>
                    <a:pt x="0" y="240030"/>
                  </a:lnTo>
                  <a:lnTo>
                    <a:pt x="3768" y="258728"/>
                  </a:lnTo>
                  <a:lnTo>
                    <a:pt x="14049" y="273986"/>
                  </a:lnTo>
                  <a:lnTo>
                    <a:pt x="29307" y="284267"/>
                  </a:lnTo>
                  <a:lnTo>
                    <a:pt x="48005" y="288036"/>
                  </a:lnTo>
                  <a:lnTo>
                    <a:pt x="3039618" y="288036"/>
                  </a:lnTo>
                  <a:lnTo>
                    <a:pt x="3058316" y="284267"/>
                  </a:lnTo>
                  <a:lnTo>
                    <a:pt x="3073574" y="273986"/>
                  </a:lnTo>
                  <a:lnTo>
                    <a:pt x="3083855" y="258728"/>
                  </a:lnTo>
                  <a:lnTo>
                    <a:pt x="3087624" y="240030"/>
                  </a:lnTo>
                  <a:lnTo>
                    <a:pt x="3087624" y="48006"/>
                  </a:lnTo>
                  <a:lnTo>
                    <a:pt x="3083855" y="29307"/>
                  </a:lnTo>
                  <a:lnTo>
                    <a:pt x="3073574" y="14049"/>
                  </a:lnTo>
                  <a:lnTo>
                    <a:pt x="3058316" y="3768"/>
                  </a:lnTo>
                  <a:lnTo>
                    <a:pt x="3039618" y="0"/>
                  </a:lnTo>
                  <a:close/>
                </a:path>
              </a:pathLst>
            </a:custGeom>
            <a:solidFill>
              <a:srgbClr val="38A666"/>
            </a:solidFill>
          </p:spPr>
          <p:txBody>
            <a:bodyPr wrap="square" lIns="0" tIns="0" rIns="0" bIns="0" rtlCol="0"/>
            <a:lstStyle/>
            <a:p>
              <a:endParaRPr/>
            </a:p>
          </p:txBody>
        </p:sp>
        <p:sp>
          <p:nvSpPr>
            <p:cNvPr id="49" name="object 49">
              <a:extLst>
                <a:ext uri="{FF2B5EF4-FFF2-40B4-BE49-F238E27FC236}">
                  <a16:creationId xmlns:a16="http://schemas.microsoft.com/office/drawing/2014/main" id="{BBE634BC-7D12-8E58-9F34-553BC064A032}"/>
                </a:ext>
              </a:extLst>
            </p:cNvPr>
            <p:cNvSpPr/>
            <p:nvPr/>
          </p:nvSpPr>
          <p:spPr>
            <a:xfrm>
              <a:off x="7967471" y="4376928"/>
              <a:ext cx="3088005" cy="288290"/>
            </a:xfrm>
            <a:custGeom>
              <a:avLst/>
              <a:gdLst/>
              <a:ahLst/>
              <a:cxnLst/>
              <a:rect l="l" t="t" r="r" b="b"/>
              <a:pathLst>
                <a:path w="3088004" h="288289">
                  <a:moveTo>
                    <a:pt x="0" y="48006"/>
                  </a:moveTo>
                  <a:lnTo>
                    <a:pt x="3768" y="29307"/>
                  </a:lnTo>
                  <a:lnTo>
                    <a:pt x="14049" y="14049"/>
                  </a:lnTo>
                  <a:lnTo>
                    <a:pt x="29307" y="3768"/>
                  </a:lnTo>
                  <a:lnTo>
                    <a:pt x="48005" y="0"/>
                  </a:lnTo>
                  <a:lnTo>
                    <a:pt x="3039618" y="0"/>
                  </a:lnTo>
                  <a:lnTo>
                    <a:pt x="3058316" y="3768"/>
                  </a:lnTo>
                  <a:lnTo>
                    <a:pt x="3073574" y="14049"/>
                  </a:lnTo>
                  <a:lnTo>
                    <a:pt x="3083855" y="29307"/>
                  </a:lnTo>
                  <a:lnTo>
                    <a:pt x="3087624" y="48006"/>
                  </a:lnTo>
                  <a:lnTo>
                    <a:pt x="3087624" y="240030"/>
                  </a:lnTo>
                  <a:lnTo>
                    <a:pt x="3083855" y="258728"/>
                  </a:lnTo>
                  <a:lnTo>
                    <a:pt x="3073574" y="273986"/>
                  </a:lnTo>
                  <a:lnTo>
                    <a:pt x="3058316" y="284267"/>
                  </a:lnTo>
                  <a:lnTo>
                    <a:pt x="3039618" y="288036"/>
                  </a:lnTo>
                  <a:lnTo>
                    <a:pt x="48005" y="288036"/>
                  </a:lnTo>
                  <a:lnTo>
                    <a:pt x="29307" y="284267"/>
                  </a:lnTo>
                  <a:lnTo>
                    <a:pt x="14049" y="273986"/>
                  </a:lnTo>
                  <a:lnTo>
                    <a:pt x="3768" y="258728"/>
                  </a:lnTo>
                  <a:lnTo>
                    <a:pt x="0" y="240030"/>
                  </a:lnTo>
                  <a:lnTo>
                    <a:pt x="0" y="48006"/>
                  </a:lnTo>
                  <a:close/>
                </a:path>
              </a:pathLst>
            </a:custGeom>
            <a:ln w="12192">
              <a:solidFill>
                <a:srgbClr val="E8F4F5"/>
              </a:solidFill>
            </a:ln>
          </p:spPr>
          <p:txBody>
            <a:bodyPr wrap="square" lIns="0" tIns="0" rIns="0" bIns="0" rtlCol="0"/>
            <a:lstStyle/>
            <a:p>
              <a:endParaRPr/>
            </a:p>
          </p:txBody>
        </p:sp>
      </p:grpSp>
      <p:sp>
        <p:nvSpPr>
          <p:cNvPr id="50" name="object 50">
            <a:extLst>
              <a:ext uri="{FF2B5EF4-FFF2-40B4-BE49-F238E27FC236}">
                <a16:creationId xmlns:a16="http://schemas.microsoft.com/office/drawing/2014/main" id="{7AE608EA-3C2D-03CF-9AF1-31DA20601163}"/>
              </a:ext>
            </a:extLst>
          </p:cNvPr>
          <p:cNvSpPr txBox="1"/>
          <p:nvPr/>
        </p:nvSpPr>
        <p:spPr>
          <a:xfrm>
            <a:off x="7980592" y="4844359"/>
            <a:ext cx="3061970" cy="239395"/>
          </a:xfrm>
          <a:prstGeom prst="rect">
            <a:avLst/>
          </a:prstGeom>
        </p:spPr>
        <p:txBody>
          <a:bodyPr vert="horz" wrap="square" lIns="0" tIns="12700" rIns="0" bIns="0" rtlCol="0">
            <a:spAutoFit/>
          </a:bodyPr>
          <a:lstStyle/>
          <a:p>
            <a:pPr marL="461645">
              <a:lnSpc>
                <a:spcPct val="100000"/>
              </a:lnSpc>
              <a:spcBef>
                <a:spcPts val="100"/>
              </a:spcBef>
            </a:pPr>
            <a:r>
              <a:rPr sz="1400" spc="-10" dirty="0">
                <a:solidFill>
                  <a:srgbClr val="FFFFFF"/>
                </a:solidFill>
                <a:latin typeface="宋体"/>
                <a:cs typeface="宋体"/>
              </a:rPr>
              <a:t>北京简单一点科技有限公司</a:t>
            </a:r>
            <a:endParaRPr sz="1400">
              <a:latin typeface="宋体"/>
              <a:cs typeface="宋体"/>
            </a:endParaRPr>
          </a:p>
        </p:txBody>
      </p:sp>
      <p:grpSp>
        <p:nvGrpSpPr>
          <p:cNvPr id="51" name="object 51">
            <a:extLst>
              <a:ext uri="{FF2B5EF4-FFF2-40B4-BE49-F238E27FC236}">
                <a16:creationId xmlns:a16="http://schemas.microsoft.com/office/drawing/2014/main" id="{1B0496FA-5EE2-B113-5271-56AC6AF1503E}"/>
              </a:ext>
            </a:extLst>
          </p:cNvPr>
          <p:cNvGrpSpPr/>
          <p:nvPr/>
        </p:nvGrpSpPr>
        <p:grpSpPr>
          <a:xfrm>
            <a:off x="7961376" y="5160335"/>
            <a:ext cx="3100070" cy="299085"/>
            <a:chOff x="7961376" y="4715255"/>
            <a:chExt cx="3100070" cy="299085"/>
          </a:xfrm>
        </p:grpSpPr>
        <p:sp>
          <p:nvSpPr>
            <p:cNvPr id="52" name="object 52">
              <a:extLst>
                <a:ext uri="{FF2B5EF4-FFF2-40B4-BE49-F238E27FC236}">
                  <a16:creationId xmlns:a16="http://schemas.microsoft.com/office/drawing/2014/main" id="{7FFE0737-5127-ACB3-094C-9D26E7A06147}"/>
                </a:ext>
              </a:extLst>
            </p:cNvPr>
            <p:cNvSpPr/>
            <p:nvPr/>
          </p:nvSpPr>
          <p:spPr>
            <a:xfrm>
              <a:off x="7967472" y="4721351"/>
              <a:ext cx="3088005" cy="287020"/>
            </a:xfrm>
            <a:custGeom>
              <a:avLst/>
              <a:gdLst/>
              <a:ahLst/>
              <a:cxnLst/>
              <a:rect l="l" t="t" r="r" b="b"/>
              <a:pathLst>
                <a:path w="3088004" h="287020">
                  <a:moveTo>
                    <a:pt x="3039872" y="0"/>
                  </a:moveTo>
                  <a:lnTo>
                    <a:pt x="47751" y="0"/>
                  </a:lnTo>
                  <a:lnTo>
                    <a:pt x="29146" y="3746"/>
                  </a:lnTo>
                  <a:lnTo>
                    <a:pt x="13969" y="13970"/>
                  </a:lnTo>
                  <a:lnTo>
                    <a:pt x="3746" y="29146"/>
                  </a:lnTo>
                  <a:lnTo>
                    <a:pt x="0" y="47752"/>
                  </a:lnTo>
                  <a:lnTo>
                    <a:pt x="0" y="238760"/>
                  </a:lnTo>
                  <a:lnTo>
                    <a:pt x="3746" y="257365"/>
                  </a:lnTo>
                  <a:lnTo>
                    <a:pt x="13969" y="272542"/>
                  </a:lnTo>
                  <a:lnTo>
                    <a:pt x="29146" y="282765"/>
                  </a:lnTo>
                  <a:lnTo>
                    <a:pt x="47751" y="286512"/>
                  </a:lnTo>
                  <a:lnTo>
                    <a:pt x="3039872" y="286512"/>
                  </a:lnTo>
                  <a:lnTo>
                    <a:pt x="3058477" y="282765"/>
                  </a:lnTo>
                  <a:lnTo>
                    <a:pt x="3073654" y="272542"/>
                  </a:lnTo>
                  <a:lnTo>
                    <a:pt x="3083877" y="257365"/>
                  </a:lnTo>
                  <a:lnTo>
                    <a:pt x="3087624" y="238760"/>
                  </a:lnTo>
                  <a:lnTo>
                    <a:pt x="3087624" y="47752"/>
                  </a:lnTo>
                  <a:lnTo>
                    <a:pt x="3083877" y="29146"/>
                  </a:lnTo>
                  <a:lnTo>
                    <a:pt x="3073654" y="13969"/>
                  </a:lnTo>
                  <a:lnTo>
                    <a:pt x="3058477" y="3746"/>
                  </a:lnTo>
                  <a:lnTo>
                    <a:pt x="3039872" y="0"/>
                  </a:lnTo>
                  <a:close/>
                </a:path>
              </a:pathLst>
            </a:custGeom>
            <a:solidFill>
              <a:srgbClr val="38A666"/>
            </a:solidFill>
          </p:spPr>
          <p:txBody>
            <a:bodyPr wrap="square" lIns="0" tIns="0" rIns="0" bIns="0" rtlCol="0"/>
            <a:lstStyle/>
            <a:p>
              <a:endParaRPr/>
            </a:p>
          </p:txBody>
        </p:sp>
        <p:sp>
          <p:nvSpPr>
            <p:cNvPr id="53" name="object 53">
              <a:extLst>
                <a:ext uri="{FF2B5EF4-FFF2-40B4-BE49-F238E27FC236}">
                  <a16:creationId xmlns:a16="http://schemas.microsoft.com/office/drawing/2014/main" id="{07A9567F-77F3-BC34-B086-7F867D23B7A9}"/>
                </a:ext>
              </a:extLst>
            </p:cNvPr>
            <p:cNvSpPr/>
            <p:nvPr/>
          </p:nvSpPr>
          <p:spPr>
            <a:xfrm>
              <a:off x="7967472" y="4721351"/>
              <a:ext cx="3088005" cy="287020"/>
            </a:xfrm>
            <a:custGeom>
              <a:avLst/>
              <a:gdLst/>
              <a:ahLst/>
              <a:cxnLst/>
              <a:rect l="l" t="t" r="r" b="b"/>
              <a:pathLst>
                <a:path w="3088004" h="287020">
                  <a:moveTo>
                    <a:pt x="0" y="47752"/>
                  </a:moveTo>
                  <a:lnTo>
                    <a:pt x="3746" y="29146"/>
                  </a:lnTo>
                  <a:lnTo>
                    <a:pt x="13969" y="13970"/>
                  </a:lnTo>
                  <a:lnTo>
                    <a:pt x="29146" y="3746"/>
                  </a:lnTo>
                  <a:lnTo>
                    <a:pt x="47751" y="0"/>
                  </a:lnTo>
                  <a:lnTo>
                    <a:pt x="3039872" y="0"/>
                  </a:lnTo>
                  <a:lnTo>
                    <a:pt x="3058477" y="3746"/>
                  </a:lnTo>
                  <a:lnTo>
                    <a:pt x="3073654" y="13969"/>
                  </a:lnTo>
                  <a:lnTo>
                    <a:pt x="3083877" y="29146"/>
                  </a:lnTo>
                  <a:lnTo>
                    <a:pt x="3087624" y="47752"/>
                  </a:lnTo>
                  <a:lnTo>
                    <a:pt x="3087624" y="238760"/>
                  </a:lnTo>
                  <a:lnTo>
                    <a:pt x="3083877" y="257365"/>
                  </a:lnTo>
                  <a:lnTo>
                    <a:pt x="3073654" y="272542"/>
                  </a:lnTo>
                  <a:lnTo>
                    <a:pt x="3058477" y="282765"/>
                  </a:lnTo>
                  <a:lnTo>
                    <a:pt x="3039872" y="286512"/>
                  </a:lnTo>
                  <a:lnTo>
                    <a:pt x="47751" y="286512"/>
                  </a:lnTo>
                  <a:lnTo>
                    <a:pt x="29146" y="282765"/>
                  </a:lnTo>
                  <a:lnTo>
                    <a:pt x="13969" y="272542"/>
                  </a:lnTo>
                  <a:lnTo>
                    <a:pt x="3746" y="257365"/>
                  </a:lnTo>
                  <a:lnTo>
                    <a:pt x="0" y="238760"/>
                  </a:lnTo>
                  <a:lnTo>
                    <a:pt x="0" y="47752"/>
                  </a:lnTo>
                  <a:close/>
                </a:path>
              </a:pathLst>
            </a:custGeom>
            <a:ln w="12191">
              <a:solidFill>
                <a:srgbClr val="E8F4F5"/>
              </a:solidFill>
            </a:ln>
          </p:spPr>
          <p:txBody>
            <a:bodyPr wrap="square" lIns="0" tIns="0" rIns="0" bIns="0" rtlCol="0"/>
            <a:lstStyle/>
            <a:p>
              <a:endParaRPr/>
            </a:p>
          </p:txBody>
        </p:sp>
      </p:grpSp>
      <p:sp>
        <p:nvSpPr>
          <p:cNvPr id="54" name="object 54">
            <a:extLst>
              <a:ext uri="{FF2B5EF4-FFF2-40B4-BE49-F238E27FC236}">
                <a16:creationId xmlns:a16="http://schemas.microsoft.com/office/drawing/2014/main" id="{F6395404-196C-BC9E-EDED-4F471660E315}"/>
              </a:ext>
            </a:extLst>
          </p:cNvPr>
          <p:cNvSpPr txBox="1"/>
          <p:nvPr/>
        </p:nvSpPr>
        <p:spPr>
          <a:xfrm>
            <a:off x="7980553" y="5188530"/>
            <a:ext cx="3061970" cy="239395"/>
          </a:xfrm>
          <a:prstGeom prst="rect">
            <a:avLst/>
          </a:prstGeom>
        </p:spPr>
        <p:txBody>
          <a:bodyPr vert="horz" wrap="square" lIns="0" tIns="12700" rIns="0" bIns="0" rtlCol="0">
            <a:spAutoFit/>
          </a:bodyPr>
          <a:lstStyle/>
          <a:p>
            <a:pPr marL="818515">
              <a:lnSpc>
                <a:spcPct val="100000"/>
              </a:lnSpc>
              <a:spcBef>
                <a:spcPts val="100"/>
              </a:spcBef>
            </a:pPr>
            <a:r>
              <a:rPr sz="1400" spc="-10" dirty="0">
                <a:solidFill>
                  <a:srgbClr val="FFFFFF"/>
                </a:solidFill>
                <a:latin typeface="宋体"/>
                <a:cs typeface="宋体"/>
              </a:rPr>
              <a:t>杰娃科技有限公司</a:t>
            </a:r>
            <a:endParaRPr sz="1400">
              <a:latin typeface="宋体"/>
              <a:cs typeface="宋体"/>
            </a:endParaRPr>
          </a:p>
        </p:txBody>
      </p:sp>
      <p:grpSp>
        <p:nvGrpSpPr>
          <p:cNvPr id="55" name="object 55">
            <a:extLst>
              <a:ext uri="{FF2B5EF4-FFF2-40B4-BE49-F238E27FC236}">
                <a16:creationId xmlns:a16="http://schemas.microsoft.com/office/drawing/2014/main" id="{EB260F5E-E487-FB84-959A-9B71C89F45E2}"/>
              </a:ext>
            </a:extLst>
          </p:cNvPr>
          <p:cNvGrpSpPr/>
          <p:nvPr/>
        </p:nvGrpSpPr>
        <p:grpSpPr>
          <a:xfrm>
            <a:off x="7961121" y="5504506"/>
            <a:ext cx="3100705" cy="299720"/>
            <a:chOff x="7961121" y="5059426"/>
            <a:chExt cx="3100705" cy="299720"/>
          </a:xfrm>
        </p:grpSpPr>
        <p:sp>
          <p:nvSpPr>
            <p:cNvPr id="56" name="object 56">
              <a:extLst>
                <a:ext uri="{FF2B5EF4-FFF2-40B4-BE49-F238E27FC236}">
                  <a16:creationId xmlns:a16="http://schemas.microsoft.com/office/drawing/2014/main" id="{4C85E539-E641-A5F1-D45B-16E514E5BBC2}"/>
                </a:ext>
              </a:extLst>
            </p:cNvPr>
            <p:cNvSpPr/>
            <p:nvPr/>
          </p:nvSpPr>
          <p:spPr>
            <a:xfrm>
              <a:off x="7967471" y="5065776"/>
              <a:ext cx="3088005" cy="287020"/>
            </a:xfrm>
            <a:custGeom>
              <a:avLst/>
              <a:gdLst/>
              <a:ahLst/>
              <a:cxnLst/>
              <a:rect l="l" t="t" r="r" b="b"/>
              <a:pathLst>
                <a:path w="3088004" h="287020">
                  <a:moveTo>
                    <a:pt x="3039872" y="0"/>
                  </a:moveTo>
                  <a:lnTo>
                    <a:pt x="47751" y="0"/>
                  </a:lnTo>
                  <a:lnTo>
                    <a:pt x="29146" y="3746"/>
                  </a:lnTo>
                  <a:lnTo>
                    <a:pt x="13969" y="13969"/>
                  </a:lnTo>
                  <a:lnTo>
                    <a:pt x="3746" y="29146"/>
                  </a:lnTo>
                  <a:lnTo>
                    <a:pt x="0" y="47751"/>
                  </a:lnTo>
                  <a:lnTo>
                    <a:pt x="0" y="238760"/>
                  </a:lnTo>
                  <a:lnTo>
                    <a:pt x="3746" y="257365"/>
                  </a:lnTo>
                  <a:lnTo>
                    <a:pt x="13969" y="272542"/>
                  </a:lnTo>
                  <a:lnTo>
                    <a:pt x="29146" y="282765"/>
                  </a:lnTo>
                  <a:lnTo>
                    <a:pt x="47751" y="286512"/>
                  </a:lnTo>
                  <a:lnTo>
                    <a:pt x="3039872" y="286512"/>
                  </a:lnTo>
                  <a:lnTo>
                    <a:pt x="3058477" y="282765"/>
                  </a:lnTo>
                  <a:lnTo>
                    <a:pt x="3073654" y="272542"/>
                  </a:lnTo>
                  <a:lnTo>
                    <a:pt x="3083877" y="257365"/>
                  </a:lnTo>
                  <a:lnTo>
                    <a:pt x="3087624" y="238760"/>
                  </a:lnTo>
                  <a:lnTo>
                    <a:pt x="3087624" y="47751"/>
                  </a:lnTo>
                  <a:lnTo>
                    <a:pt x="3083877" y="29146"/>
                  </a:lnTo>
                  <a:lnTo>
                    <a:pt x="3073654" y="13969"/>
                  </a:lnTo>
                  <a:lnTo>
                    <a:pt x="3058477" y="3746"/>
                  </a:lnTo>
                  <a:lnTo>
                    <a:pt x="3039872" y="0"/>
                  </a:lnTo>
                  <a:close/>
                </a:path>
              </a:pathLst>
            </a:custGeom>
            <a:solidFill>
              <a:srgbClr val="38A666"/>
            </a:solidFill>
          </p:spPr>
          <p:txBody>
            <a:bodyPr wrap="square" lIns="0" tIns="0" rIns="0" bIns="0" rtlCol="0"/>
            <a:lstStyle/>
            <a:p>
              <a:endParaRPr/>
            </a:p>
          </p:txBody>
        </p:sp>
        <p:sp>
          <p:nvSpPr>
            <p:cNvPr id="57" name="object 57">
              <a:extLst>
                <a:ext uri="{FF2B5EF4-FFF2-40B4-BE49-F238E27FC236}">
                  <a16:creationId xmlns:a16="http://schemas.microsoft.com/office/drawing/2014/main" id="{5C440341-CFD0-E65E-078F-5ABD72F1BB16}"/>
                </a:ext>
              </a:extLst>
            </p:cNvPr>
            <p:cNvSpPr/>
            <p:nvPr/>
          </p:nvSpPr>
          <p:spPr>
            <a:xfrm>
              <a:off x="7967471" y="5065776"/>
              <a:ext cx="3088005" cy="287020"/>
            </a:xfrm>
            <a:custGeom>
              <a:avLst/>
              <a:gdLst/>
              <a:ahLst/>
              <a:cxnLst/>
              <a:rect l="l" t="t" r="r" b="b"/>
              <a:pathLst>
                <a:path w="3088004" h="287020">
                  <a:moveTo>
                    <a:pt x="0" y="47751"/>
                  </a:moveTo>
                  <a:lnTo>
                    <a:pt x="3746" y="29146"/>
                  </a:lnTo>
                  <a:lnTo>
                    <a:pt x="13969" y="13969"/>
                  </a:lnTo>
                  <a:lnTo>
                    <a:pt x="29146" y="3746"/>
                  </a:lnTo>
                  <a:lnTo>
                    <a:pt x="47751" y="0"/>
                  </a:lnTo>
                  <a:lnTo>
                    <a:pt x="3039872" y="0"/>
                  </a:lnTo>
                  <a:lnTo>
                    <a:pt x="3058477" y="3746"/>
                  </a:lnTo>
                  <a:lnTo>
                    <a:pt x="3073654" y="13969"/>
                  </a:lnTo>
                  <a:lnTo>
                    <a:pt x="3083877" y="29146"/>
                  </a:lnTo>
                  <a:lnTo>
                    <a:pt x="3087624" y="47751"/>
                  </a:lnTo>
                  <a:lnTo>
                    <a:pt x="3087624" y="238760"/>
                  </a:lnTo>
                  <a:lnTo>
                    <a:pt x="3083877" y="257365"/>
                  </a:lnTo>
                  <a:lnTo>
                    <a:pt x="3073654" y="272542"/>
                  </a:lnTo>
                  <a:lnTo>
                    <a:pt x="3058477" y="282765"/>
                  </a:lnTo>
                  <a:lnTo>
                    <a:pt x="3039872" y="286512"/>
                  </a:lnTo>
                  <a:lnTo>
                    <a:pt x="47751" y="286512"/>
                  </a:lnTo>
                  <a:lnTo>
                    <a:pt x="29146" y="282765"/>
                  </a:lnTo>
                  <a:lnTo>
                    <a:pt x="13969" y="272542"/>
                  </a:lnTo>
                  <a:lnTo>
                    <a:pt x="3746" y="257365"/>
                  </a:lnTo>
                  <a:lnTo>
                    <a:pt x="0" y="238760"/>
                  </a:lnTo>
                  <a:lnTo>
                    <a:pt x="0" y="47751"/>
                  </a:lnTo>
                  <a:close/>
                </a:path>
              </a:pathLst>
            </a:custGeom>
            <a:ln w="12191">
              <a:solidFill>
                <a:srgbClr val="E8F4F5"/>
              </a:solidFill>
            </a:ln>
          </p:spPr>
          <p:txBody>
            <a:bodyPr wrap="square" lIns="0" tIns="0" rIns="0" bIns="0" rtlCol="0"/>
            <a:lstStyle/>
            <a:p>
              <a:endParaRPr/>
            </a:p>
          </p:txBody>
        </p:sp>
      </p:grpSp>
      <p:sp>
        <p:nvSpPr>
          <p:cNvPr id="58" name="object 58">
            <a:extLst>
              <a:ext uri="{FF2B5EF4-FFF2-40B4-BE49-F238E27FC236}">
                <a16:creationId xmlns:a16="http://schemas.microsoft.com/office/drawing/2014/main" id="{76FF43A9-B0A7-17C8-3087-37C23A8C6E75}"/>
              </a:ext>
            </a:extLst>
          </p:cNvPr>
          <p:cNvSpPr txBox="1"/>
          <p:nvPr/>
        </p:nvSpPr>
        <p:spPr>
          <a:xfrm>
            <a:off x="7980553" y="5532572"/>
            <a:ext cx="3061970" cy="239395"/>
          </a:xfrm>
          <a:prstGeom prst="rect">
            <a:avLst/>
          </a:prstGeom>
        </p:spPr>
        <p:txBody>
          <a:bodyPr vert="horz" wrap="square" lIns="0" tIns="12700" rIns="0" bIns="0" rtlCol="0">
            <a:spAutoFit/>
          </a:bodyPr>
          <a:lstStyle/>
          <a:p>
            <a:pPr marL="461645">
              <a:lnSpc>
                <a:spcPct val="100000"/>
              </a:lnSpc>
              <a:spcBef>
                <a:spcPts val="100"/>
              </a:spcBef>
            </a:pPr>
            <a:r>
              <a:rPr sz="1400" spc="-10" dirty="0">
                <a:solidFill>
                  <a:srgbClr val="FFFFFF"/>
                </a:solidFill>
                <a:latin typeface="宋体"/>
                <a:cs typeface="宋体"/>
              </a:rPr>
              <a:t>苏州博纳讯动软件有限公司</a:t>
            </a:r>
            <a:endParaRPr sz="1400">
              <a:latin typeface="宋体"/>
              <a:cs typeface="宋体"/>
            </a:endParaRPr>
          </a:p>
        </p:txBody>
      </p:sp>
      <p:grpSp>
        <p:nvGrpSpPr>
          <p:cNvPr id="59" name="object 59">
            <a:extLst>
              <a:ext uri="{FF2B5EF4-FFF2-40B4-BE49-F238E27FC236}">
                <a16:creationId xmlns:a16="http://schemas.microsoft.com/office/drawing/2014/main" id="{4CB48DB5-5687-7A08-B4F6-EA0F1A5F9B45}"/>
              </a:ext>
            </a:extLst>
          </p:cNvPr>
          <p:cNvGrpSpPr/>
          <p:nvPr/>
        </p:nvGrpSpPr>
        <p:grpSpPr>
          <a:xfrm>
            <a:off x="7961121" y="5844358"/>
            <a:ext cx="3100705" cy="300990"/>
            <a:chOff x="7961121" y="5399278"/>
            <a:chExt cx="3100705" cy="300990"/>
          </a:xfrm>
        </p:grpSpPr>
        <p:sp>
          <p:nvSpPr>
            <p:cNvPr id="60" name="object 60">
              <a:extLst>
                <a:ext uri="{FF2B5EF4-FFF2-40B4-BE49-F238E27FC236}">
                  <a16:creationId xmlns:a16="http://schemas.microsoft.com/office/drawing/2014/main" id="{9B9F849B-27AB-6743-22B4-81F5B16BB3B2}"/>
                </a:ext>
              </a:extLst>
            </p:cNvPr>
            <p:cNvSpPr/>
            <p:nvPr/>
          </p:nvSpPr>
          <p:spPr>
            <a:xfrm>
              <a:off x="7967471" y="5405628"/>
              <a:ext cx="3088005" cy="288290"/>
            </a:xfrm>
            <a:custGeom>
              <a:avLst/>
              <a:gdLst/>
              <a:ahLst/>
              <a:cxnLst/>
              <a:rect l="l" t="t" r="r" b="b"/>
              <a:pathLst>
                <a:path w="3088004" h="288289">
                  <a:moveTo>
                    <a:pt x="3039618" y="0"/>
                  </a:moveTo>
                  <a:lnTo>
                    <a:pt x="48005" y="0"/>
                  </a:lnTo>
                  <a:lnTo>
                    <a:pt x="29307" y="3768"/>
                  </a:lnTo>
                  <a:lnTo>
                    <a:pt x="14049" y="14049"/>
                  </a:lnTo>
                  <a:lnTo>
                    <a:pt x="3768" y="29307"/>
                  </a:lnTo>
                  <a:lnTo>
                    <a:pt x="0" y="48006"/>
                  </a:lnTo>
                  <a:lnTo>
                    <a:pt x="0" y="240030"/>
                  </a:lnTo>
                  <a:lnTo>
                    <a:pt x="3768" y="258718"/>
                  </a:lnTo>
                  <a:lnTo>
                    <a:pt x="14049" y="273977"/>
                  </a:lnTo>
                  <a:lnTo>
                    <a:pt x="29307" y="284264"/>
                  </a:lnTo>
                  <a:lnTo>
                    <a:pt x="48005" y="288036"/>
                  </a:lnTo>
                  <a:lnTo>
                    <a:pt x="3039618" y="288036"/>
                  </a:lnTo>
                  <a:lnTo>
                    <a:pt x="3058316" y="284264"/>
                  </a:lnTo>
                  <a:lnTo>
                    <a:pt x="3073574" y="273977"/>
                  </a:lnTo>
                  <a:lnTo>
                    <a:pt x="3083855" y="258718"/>
                  </a:lnTo>
                  <a:lnTo>
                    <a:pt x="3087624" y="240030"/>
                  </a:lnTo>
                  <a:lnTo>
                    <a:pt x="3087624" y="48006"/>
                  </a:lnTo>
                  <a:lnTo>
                    <a:pt x="3083855" y="29307"/>
                  </a:lnTo>
                  <a:lnTo>
                    <a:pt x="3073574" y="14049"/>
                  </a:lnTo>
                  <a:lnTo>
                    <a:pt x="3058316" y="3768"/>
                  </a:lnTo>
                  <a:lnTo>
                    <a:pt x="3039618" y="0"/>
                  </a:lnTo>
                  <a:close/>
                </a:path>
              </a:pathLst>
            </a:custGeom>
            <a:solidFill>
              <a:srgbClr val="38A666"/>
            </a:solidFill>
          </p:spPr>
          <p:txBody>
            <a:bodyPr wrap="square" lIns="0" tIns="0" rIns="0" bIns="0" rtlCol="0"/>
            <a:lstStyle/>
            <a:p>
              <a:endParaRPr/>
            </a:p>
          </p:txBody>
        </p:sp>
        <p:sp>
          <p:nvSpPr>
            <p:cNvPr id="61" name="object 61">
              <a:extLst>
                <a:ext uri="{FF2B5EF4-FFF2-40B4-BE49-F238E27FC236}">
                  <a16:creationId xmlns:a16="http://schemas.microsoft.com/office/drawing/2014/main" id="{D38F147B-97C6-DBAD-A664-1B661F396E1B}"/>
                </a:ext>
              </a:extLst>
            </p:cNvPr>
            <p:cNvSpPr/>
            <p:nvPr/>
          </p:nvSpPr>
          <p:spPr>
            <a:xfrm>
              <a:off x="7967471" y="5405628"/>
              <a:ext cx="3088005" cy="288290"/>
            </a:xfrm>
            <a:custGeom>
              <a:avLst/>
              <a:gdLst/>
              <a:ahLst/>
              <a:cxnLst/>
              <a:rect l="l" t="t" r="r" b="b"/>
              <a:pathLst>
                <a:path w="3088004" h="288289">
                  <a:moveTo>
                    <a:pt x="0" y="48006"/>
                  </a:moveTo>
                  <a:lnTo>
                    <a:pt x="3768" y="29307"/>
                  </a:lnTo>
                  <a:lnTo>
                    <a:pt x="14049" y="14049"/>
                  </a:lnTo>
                  <a:lnTo>
                    <a:pt x="29307" y="3768"/>
                  </a:lnTo>
                  <a:lnTo>
                    <a:pt x="48005" y="0"/>
                  </a:lnTo>
                  <a:lnTo>
                    <a:pt x="3039618" y="0"/>
                  </a:lnTo>
                  <a:lnTo>
                    <a:pt x="3058316" y="3768"/>
                  </a:lnTo>
                  <a:lnTo>
                    <a:pt x="3073574" y="14049"/>
                  </a:lnTo>
                  <a:lnTo>
                    <a:pt x="3083855" y="29307"/>
                  </a:lnTo>
                  <a:lnTo>
                    <a:pt x="3087624" y="48006"/>
                  </a:lnTo>
                  <a:lnTo>
                    <a:pt x="3087624" y="240030"/>
                  </a:lnTo>
                  <a:lnTo>
                    <a:pt x="3083855" y="258718"/>
                  </a:lnTo>
                  <a:lnTo>
                    <a:pt x="3073574" y="273977"/>
                  </a:lnTo>
                  <a:lnTo>
                    <a:pt x="3058316" y="284264"/>
                  </a:lnTo>
                  <a:lnTo>
                    <a:pt x="3039618" y="288036"/>
                  </a:lnTo>
                  <a:lnTo>
                    <a:pt x="48005" y="288036"/>
                  </a:lnTo>
                  <a:lnTo>
                    <a:pt x="29307" y="284264"/>
                  </a:lnTo>
                  <a:lnTo>
                    <a:pt x="14049" y="273977"/>
                  </a:lnTo>
                  <a:lnTo>
                    <a:pt x="3768" y="258718"/>
                  </a:lnTo>
                  <a:lnTo>
                    <a:pt x="0" y="240030"/>
                  </a:lnTo>
                  <a:lnTo>
                    <a:pt x="0" y="48006"/>
                  </a:lnTo>
                  <a:close/>
                </a:path>
              </a:pathLst>
            </a:custGeom>
            <a:ln w="12192">
              <a:solidFill>
                <a:srgbClr val="E8F4F5"/>
              </a:solidFill>
            </a:ln>
          </p:spPr>
          <p:txBody>
            <a:bodyPr wrap="square" lIns="0" tIns="0" rIns="0" bIns="0" rtlCol="0"/>
            <a:lstStyle/>
            <a:p>
              <a:endParaRPr/>
            </a:p>
          </p:txBody>
        </p:sp>
      </p:grpSp>
      <p:sp>
        <p:nvSpPr>
          <p:cNvPr id="62" name="object 62">
            <a:extLst>
              <a:ext uri="{FF2B5EF4-FFF2-40B4-BE49-F238E27FC236}">
                <a16:creationId xmlns:a16="http://schemas.microsoft.com/office/drawing/2014/main" id="{4FC948B5-9F30-AFBF-994A-A5E70FB572D7}"/>
              </a:ext>
            </a:extLst>
          </p:cNvPr>
          <p:cNvSpPr txBox="1"/>
          <p:nvPr/>
        </p:nvSpPr>
        <p:spPr>
          <a:xfrm>
            <a:off x="7980592" y="5873364"/>
            <a:ext cx="3061970" cy="239395"/>
          </a:xfrm>
          <a:prstGeom prst="rect">
            <a:avLst/>
          </a:prstGeom>
        </p:spPr>
        <p:txBody>
          <a:bodyPr vert="horz" wrap="square" lIns="0" tIns="12700" rIns="0" bIns="0" rtlCol="0">
            <a:spAutoFit/>
          </a:bodyPr>
          <a:lstStyle/>
          <a:p>
            <a:pPr marL="906780">
              <a:lnSpc>
                <a:spcPct val="100000"/>
              </a:lnSpc>
              <a:spcBef>
                <a:spcPts val="100"/>
              </a:spcBef>
            </a:pPr>
            <a:r>
              <a:rPr sz="1400" spc="-10" dirty="0">
                <a:solidFill>
                  <a:srgbClr val="FFFFFF"/>
                </a:solidFill>
                <a:latin typeface="宋体"/>
                <a:cs typeface="宋体"/>
              </a:rPr>
              <a:t>中国移动研究院</a:t>
            </a:r>
            <a:endParaRPr sz="1400">
              <a:latin typeface="宋体"/>
              <a:cs typeface="宋体"/>
            </a:endParaRPr>
          </a:p>
        </p:txBody>
      </p:sp>
      <p:grpSp>
        <p:nvGrpSpPr>
          <p:cNvPr id="63" name="object 63">
            <a:extLst>
              <a:ext uri="{FF2B5EF4-FFF2-40B4-BE49-F238E27FC236}">
                <a16:creationId xmlns:a16="http://schemas.microsoft.com/office/drawing/2014/main" id="{9A4346DC-2E26-0B94-A269-D2157F3585DD}"/>
              </a:ext>
            </a:extLst>
          </p:cNvPr>
          <p:cNvGrpSpPr/>
          <p:nvPr/>
        </p:nvGrpSpPr>
        <p:grpSpPr>
          <a:xfrm>
            <a:off x="7961376" y="6189035"/>
            <a:ext cx="3100070" cy="299085"/>
            <a:chOff x="7961376" y="5743955"/>
            <a:chExt cx="3100070" cy="299085"/>
          </a:xfrm>
        </p:grpSpPr>
        <p:sp>
          <p:nvSpPr>
            <p:cNvPr id="1024" name="object 64">
              <a:extLst>
                <a:ext uri="{FF2B5EF4-FFF2-40B4-BE49-F238E27FC236}">
                  <a16:creationId xmlns:a16="http://schemas.microsoft.com/office/drawing/2014/main" id="{AC292317-18FB-856B-448F-67726B826209}"/>
                </a:ext>
              </a:extLst>
            </p:cNvPr>
            <p:cNvSpPr/>
            <p:nvPr/>
          </p:nvSpPr>
          <p:spPr>
            <a:xfrm>
              <a:off x="7967472" y="5750051"/>
              <a:ext cx="3088005" cy="287020"/>
            </a:xfrm>
            <a:custGeom>
              <a:avLst/>
              <a:gdLst/>
              <a:ahLst/>
              <a:cxnLst/>
              <a:rect l="l" t="t" r="r" b="b"/>
              <a:pathLst>
                <a:path w="3088004" h="287020">
                  <a:moveTo>
                    <a:pt x="3039872" y="0"/>
                  </a:moveTo>
                  <a:lnTo>
                    <a:pt x="47751" y="0"/>
                  </a:lnTo>
                  <a:lnTo>
                    <a:pt x="29146" y="3751"/>
                  </a:lnTo>
                  <a:lnTo>
                    <a:pt x="13969" y="13984"/>
                  </a:lnTo>
                  <a:lnTo>
                    <a:pt x="3746" y="29162"/>
                  </a:lnTo>
                  <a:lnTo>
                    <a:pt x="0" y="47752"/>
                  </a:lnTo>
                  <a:lnTo>
                    <a:pt x="0" y="238760"/>
                  </a:lnTo>
                  <a:lnTo>
                    <a:pt x="3746" y="257349"/>
                  </a:lnTo>
                  <a:lnTo>
                    <a:pt x="13969" y="272527"/>
                  </a:lnTo>
                  <a:lnTo>
                    <a:pt x="29146" y="282760"/>
                  </a:lnTo>
                  <a:lnTo>
                    <a:pt x="47751" y="286512"/>
                  </a:lnTo>
                  <a:lnTo>
                    <a:pt x="3039872" y="286512"/>
                  </a:lnTo>
                  <a:lnTo>
                    <a:pt x="3058477" y="282760"/>
                  </a:lnTo>
                  <a:lnTo>
                    <a:pt x="3073654" y="272527"/>
                  </a:lnTo>
                  <a:lnTo>
                    <a:pt x="3083877" y="257349"/>
                  </a:lnTo>
                  <a:lnTo>
                    <a:pt x="3087624" y="238760"/>
                  </a:lnTo>
                  <a:lnTo>
                    <a:pt x="3087624" y="47752"/>
                  </a:lnTo>
                  <a:lnTo>
                    <a:pt x="3083877" y="29162"/>
                  </a:lnTo>
                  <a:lnTo>
                    <a:pt x="3073654" y="13984"/>
                  </a:lnTo>
                  <a:lnTo>
                    <a:pt x="3058477" y="3751"/>
                  </a:lnTo>
                  <a:lnTo>
                    <a:pt x="3039872" y="0"/>
                  </a:lnTo>
                  <a:close/>
                </a:path>
              </a:pathLst>
            </a:custGeom>
            <a:solidFill>
              <a:srgbClr val="38A666"/>
            </a:solidFill>
          </p:spPr>
          <p:txBody>
            <a:bodyPr wrap="square" lIns="0" tIns="0" rIns="0" bIns="0" rtlCol="0"/>
            <a:lstStyle/>
            <a:p>
              <a:endParaRPr/>
            </a:p>
          </p:txBody>
        </p:sp>
        <p:sp>
          <p:nvSpPr>
            <p:cNvPr id="1025" name="object 65">
              <a:extLst>
                <a:ext uri="{FF2B5EF4-FFF2-40B4-BE49-F238E27FC236}">
                  <a16:creationId xmlns:a16="http://schemas.microsoft.com/office/drawing/2014/main" id="{63D744A2-00FB-EEBE-7D04-3C990A9464F4}"/>
                </a:ext>
              </a:extLst>
            </p:cNvPr>
            <p:cNvSpPr/>
            <p:nvPr/>
          </p:nvSpPr>
          <p:spPr>
            <a:xfrm>
              <a:off x="7967472" y="5750051"/>
              <a:ext cx="3088005" cy="287020"/>
            </a:xfrm>
            <a:custGeom>
              <a:avLst/>
              <a:gdLst/>
              <a:ahLst/>
              <a:cxnLst/>
              <a:rect l="l" t="t" r="r" b="b"/>
              <a:pathLst>
                <a:path w="3088004" h="287020">
                  <a:moveTo>
                    <a:pt x="0" y="47752"/>
                  </a:moveTo>
                  <a:lnTo>
                    <a:pt x="3746" y="29162"/>
                  </a:lnTo>
                  <a:lnTo>
                    <a:pt x="13969" y="13984"/>
                  </a:lnTo>
                  <a:lnTo>
                    <a:pt x="29146" y="3751"/>
                  </a:lnTo>
                  <a:lnTo>
                    <a:pt x="47751" y="0"/>
                  </a:lnTo>
                  <a:lnTo>
                    <a:pt x="3039872" y="0"/>
                  </a:lnTo>
                  <a:lnTo>
                    <a:pt x="3058477" y="3751"/>
                  </a:lnTo>
                  <a:lnTo>
                    <a:pt x="3073654" y="13984"/>
                  </a:lnTo>
                  <a:lnTo>
                    <a:pt x="3083877" y="29162"/>
                  </a:lnTo>
                  <a:lnTo>
                    <a:pt x="3087624" y="47752"/>
                  </a:lnTo>
                  <a:lnTo>
                    <a:pt x="3087624" y="238760"/>
                  </a:lnTo>
                  <a:lnTo>
                    <a:pt x="3083877" y="257349"/>
                  </a:lnTo>
                  <a:lnTo>
                    <a:pt x="3073654" y="272527"/>
                  </a:lnTo>
                  <a:lnTo>
                    <a:pt x="3058477" y="282760"/>
                  </a:lnTo>
                  <a:lnTo>
                    <a:pt x="3039872" y="286512"/>
                  </a:lnTo>
                  <a:lnTo>
                    <a:pt x="47751" y="286512"/>
                  </a:lnTo>
                  <a:lnTo>
                    <a:pt x="29146" y="282760"/>
                  </a:lnTo>
                  <a:lnTo>
                    <a:pt x="13969" y="272527"/>
                  </a:lnTo>
                  <a:lnTo>
                    <a:pt x="3746" y="257349"/>
                  </a:lnTo>
                  <a:lnTo>
                    <a:pt x="0" y="238760"/>
                  </a:lnTo>
                  <a:lnTo>
                    <a:pt x="0" y="47752"/>
                  </a:lnTo>
                  <a:close/>
                </a:path>
              </a:pathLst>
            </a:custGeom>
            <a:ln w="12191">
              <a:solidFill>
                <a:srgbClr val="E8F4F5"/>
              </a:solidFill>
            </a:ln>
          </p:spPr>
          <p:txBody>
            <a:bodyPr wrap="square" lIns="0" tIns="0" rIns="0" bIns="0" rtlCol="0"/>
            <a:lstStyle/>
            <a:p>
              <a:endParaRPr/>
            </a:p>
          </p:txBody>
        </p:sp>
      </p:grpSp>
      <p:grpSp>
        <p:nvGrpSpPr>
          <p:cNvPr id="1027" name="object 66">
            <a:extLst>
              <a:ext uri="{FF2B5EF4-FFF2-40B4-BE49-F238E27FC236}">
                <a16:creationId xmlns:a16="http://schemas.microsoft.com/office/drawing/2014/main" id="{85CF5CCF-399B-2855-C11C-340DE2BF8020}"/>
              </a:ext>
            </a:extLst>
          </p:cNvPr>
          <p:cNvGrpSpPr/>
          <p:nvPr/>
        </p:nvGrpSpPr>
        <p:grpSpPr>
          <a:xfrm>
            <a:off x="7961376" y="6533459"/>
            <a:ext cx="3100070" cy="299085"/>
            <a:chOff x="7961376" y="6088379"/>
            <a:chExt cx="3100070" cy="299085"/>
          </a:xfrm>
        </p:grpSpPr>
        <p:sp>
          <p:nvSpPr>
            <p:cNvPr id="1028" name="object 67">
              <a:extLst>
                <a:ext uri="{FF2B5EF4-FFF2-40B4-BE49-F238E27FC236}">
                  <a16:creationId xmlns:a16="http://schemas.microsoft.com/office/drawing/2014/main" id="{994220DD-65D8-C976-68F4-730F7591E160}"/>
                </a:ext>
              </a:extLst>
            </p:cNvPr>
            <p:cNvSpPr/>
            <p:nvPr/>
          </p:nvSpPr>
          <p:spPr>
            <a:xfrm>
              <a:off x="7967472" y="6094475"/>
              <a:ext cx="3088005" cy="287020"/>
            </a:xfrm>
            <a:custGeom>
              <a:avLst/>
              <a:gdLst/>
              <a:ahLst/>
              <a:cxnLst/>
              <a:rect l="l" t="t" r="r" b="b"/>
              <a:pathLst>
                <a:path w="3088004" h="287020">
                  <a:moveTo>
                    <a:pt x="3039872" y="0"/>
                  </a:moveTo>
                  <a:lnTo>
                    <a:pt x="47751" y="0"/>
                  </a:lnTo>
                  <a:lnTo>
                    <a:pt x="29146" y="3751"/>
                  </a:lnTo>
                  <a:lnTo>
                    <a:pt x="13969" y="13984"/>
                  </a:lnTo>
                  <a:lnTo>
                    <a:pt x="3746" y="29162"/>
                  </a:lnTo>
                  <a:lnTo>
                    <a:pt x="0" y="47752"/>
                  </a:lnTo>
                  <a:lnTo>
                    <a:pt x="0" y="238760"/>
                  </a:lnTo>
                  <a:lnTo>
                    <a:pt x="3746" y="257349"/>
                  </a:lnTo>
                  <a:lnTo>
                    <a:pt x="13969" y="272527"/>
                  </a:lnTo>
                  <a:lnTo>
                    <a:pt x="29146" y="282760"/>
                  </a:lnTo>
                  <a:lnTo>
                    <a:pt x="47751" y="286512"/>
                  </a:lnTo>
                  <a:lnTo>
                    <a:pt x="3039872" y="286512"/>
                  </a:lnTo>
                  <a:lnTo>
                    <a:pt x="3058477" y="282760"/>
                  </a:lnTo>
                  <a:lnTo>
                    <a:pt x="3073654" y="272527"/>
                  </a:lnTo>
                  <a:lnTo>
                    <a:pt x="3083877" y="257349"/>
                  </a:lnTo>
                  <a:lnTo>
                    <a:pt x="3087624" y="238760"/>
                  </a:lnTo>
                  <a:lnTo>
                    <a:pt x="3087624" y="47752"/>
                  </a:lnTo>
                  <a:lnTo>
                    <a:pt x="3083877" y="29162"/>
                  </a:lnTo>
                  <a:lnTo>
                    <a:pt x="3073654" y="13984"/>
                  </a:lnTo>
                  <a:lnTo>
                    <a:pt x="3058477" y="3751"/>
                  </a:lnTo>
                  <a:lnTo>
                    <a:pt x="3039872" y="0"/>
                  </a:lnTo>
                  <a:close/>
                </a:path>
              </a:pathLst>
            </a:custGeom>
            <a:solidFill>
              <a:srgbClr val="38A666"/>
            </a:solidFill>
          </p:spPr>
          <p:txBody>
            <a:bodyPr wrap="square" lIns="0" tIns="0" rIns="0" bIns="0" rtlCol="0"/>
            <a:lstStyle/>
            <a:p>
              <a:endParaRPr/>
            </a:p>
          </p:txBody>
        </p:sp>
        <p:sp>
          <p:nvSpPr>
            <p:cNvPr id="1029" name="object 68">
              <a:extLst>
                <a:ext uri="{FF2B5EF4-FFF2-40B4-BE49-F238E27FC236}">
                  <a16:creationId xmlns:a16="http://schemas.microsoft.com/office/drawing/2014/main" id="{506BA124-C841-CCEE-E396-C325695B25F6}"/>
                </a:ext>
              </a:extLst>
            </p:cNvPr>
            <p:cNvSpPr/>
            <p:nvPr/>
          </p:nvSpPr>
          <p:spPr>
            <a:xfrm>
              <a:off x="7967472" y="6094475"/>
              <a:ext cx="3088005" cy="287020"/>
            </a:xfrm>
            <a:custGeom>
              <a:avLst/>
              <a:gdLst/>
              <a:ahLst/>
              <a:cxnLst/>
              <a:rect l="l" t="t" r="r" b="b"/>
              <a:pathLst>
                <a:path w="3088004" h="287020">
                  <a:moveTo>
                    <a:pt x="0" y="47752"/>
                  </a:moveTo>
                  <a:lnTo>
                    <a:pt x="3746" y="29162"/>
                  </a:lnTo>
                  <a:lnTo>
                    <a:pt x="13969" y="13984"/>
                  </a:lnTo>
                  <a:lnTo>
                    <a:pt x="29146" y="3751"/>
                  </a:lnTo>
                  <a:lnTo>
                    <a:pt x="47751" y="0"/>
                  </a:lnTo>
                  <a:lnTo>
                    <a:pt x="3039872" y="0"/>
                  </a:lnTo>
                  <a:lnTo>
                    <a:pt x="3058477" y="3751"/>
                  </a:lnTo>
                  <a:lnTo>
                    <a:pt x="3073654" y="13984"/>
                  </a:lnTo>
                  <a:lnTo>
                    <a:pt x="3083877" y="29162"/>
                  </a:lnTo>
                  <a:lnTo>
                    <a:pt x="3087624" y="47752"/>
                  </a:lnTo>
                  <a:lnTo>
                    <a:pt x="3087624" y="238760"/>
                  </a:lnTo>
                  <a:lnTo>
                    <a:pt x="3083877" y="257349"/>
                  </a:lnTo>
                  <a:lnTo>
                    <a:pt x="3073654" y="272527"/>
                  </a:lnTo>
                  <a:lnTo>
                    <a:pt x="3058477" y="282760"/>
                  </a:lnTo>
                  <a:lnTo>
                    <a:pt x="3039872" y="286512"/>
                  </a:lnTo>
                  <a:lnTo>
                    <a:pt x="47751" y="286512"/>
                  </a:lnTo>
                  <a:lnTo>
                    <a:pt x="29146" y="282760"/>
                  </a:lnTo>
                  <a:lnTo>
                    <a:pt x="13969" y="272527"/>
                  </a:lnTo>
                  <a:lnTo>
                    <a:pt x="3746" y="257349"/>
                  </a:lnTo>
                  <a:lnTo>
                    <a:pt x="0" y="238760"/>
                  </a:lnTo>
                  <a:lnTo>
                    <a:pt x="0" y="47752"/>
                  </a:lnTo>
                  <a:close/>
                </a:path>
              </a:pathLst>
            </a:custGeom>
            <a:ln w="12191">
              <a:solidFill>
                <a:srgbClr val="E8F4F5"/>
              </a:solidFill>
            </a:ln>
          </p:spPr>
          <p:txBody>
            <a:bodyPr wrap="square" lIns="0" tIns="0" rIns="0" bIns="0" rtlCol="0"/>
            <a:lstStyle/>
            <a:p>
              <a:endParaRPr/>
            </a:p>
          </p:txBody>
        </p:sp>
      </p:grpSp>
      <p:sp>
        <p:nvSpPr>
          <p:cNvPr id="1030" name="object 69">
            <a:extLst>
              <a:ext uri="{FF2B5EF4-FFF2-40B4-BE49-F238E27FC236}">
                <a16:creationId xmlns:a16="http://schemas.microsoft.com/office/drawing/2014/main" id="{4B30A9CD-2D21-D9ED-9EB4-B49B3B06A412}"/>
              </a:ext>
            </a:extLst>
          </p:cNvPr>
          <p:cNvSpPr txBox="1"/>
          <p:nvPr/>
        </p:nvSpPr>
        <p:spPr>
          <a:xfrm>
            <a:off x="7980553" y="6217483"/>
            <a:ext cx="3061970" cy="583565"/>
          </a:xfrm>
          <a:prstGeom prst="rect">
            <a:avLst/>
          </a:prstGeom>
        </p:spPr>
        <p:txBody>
          <a:bodyPr vert="horz" wrap="square" lIns="0" tIns="12700" rIns="0" bIns="0" rtlCol="0">
            <a:spAutoFit/>
          </a:bodyPr>
          <a:lstStyle/>
          <a:p>
            <a:pPr marL="3810" algn="ctr">
              <a:lnSpc>
                <a:spcPct val="100000"/>
              </a:lnSpc>
              <a:spcBef>
                <a:spcPts val="100"/>
              </a:spcBef>
            </a:pPr>
            <a:r>
              <a:rPr sz="1400" spc="-5" dirty="0">
                <a:solidFill>
                  <a:srgbClr val="FFFFFF"/>
                </a:solidFill>
                <a:latin typeface="宋体"/>
                <a:cs typeface="宋体"/>
              </a:rPr>
              <a:t>深圳华大生命科学研究院</a:t>
            </a:r>
            <a:endParaRPr sz="1400">
              <a:latin typeface="宋体"/>
              <a:cs typeface="宋体"/>
            </a:endParaRPr>
          </a:p>
          <a:p>
            <a:pPr marL="635" algn="ctr">
              <a:lnSpc>
                <a:spcPct val="100000"/>
              </a:lnSpc>
              <a:spcBef>
                <a:spcPts val="1030"/>
              </a:spcBef>
            </a:pPr>
            <a:r>
              <a:rPr sz="1400" spc="-10" dirty="0">
                <a:solidFill>
                  <a:srgbClr val="FFFFFF"/>
                </a:solidFill>
                <a:latin typeface="宋体"/>
                <a:cs typeface="宋体"/>
              </a:rPr>
              <a:t>上海道客网络科技有限公司</a:t>
            </a:r>
            <a:endParaRPr sz="1400">
              <a:latin typeface="宋体"/>
              <a:cs typeface="宋体"/>
            </a:endParaRPr>
          </a:p>
        </p:txBody>
      </p:sp>
      <p:sp>
        <p:nvSpPr>
          <p:cNvPr id="1031" name="object 2">
            <a:extLst>
              <a:ext uri="{FF2B5EF4-FFF2-40B4-BE49-F238E27FC236}">
                <a16:creationId xmlns:a16="http://schemas.microsoft.com/office/drawing/2014/main" id="{1712E68C-815F-C77C-BE34-F2A7A748846E}"/>
              </a:ext>
            </a:extLst>
          </p:cNvPr>
          <p:cNvSpPr txBox="1">
            <a:spLocks/>
          </p:cNvSpPr>
          <p:nvPr/>
        </p:nvSpPr>
        <p:spPr>
          <a:xfrm>
            <a:off x="718218" y="988758"/>
            <a:ext cx="10318115" cy="381515"/>
          </a:xfrm>
          <a:prstGeom prst="rect">
            <a:avLst/>
          </a:prstGeom>
        </p:spPr>
        <p:txBody>
          <a:bodyPr vert="horz" wrap="square" lIns="0" tIns="12065" rIns="0" bIns="0" rtlCol="0" anchor="t" anchorCtr="0">
            <a:noAutofit/>
          </a:bodyPr>
          <a:lstStyle>
            <a:lvl1pPr algn="l" defTabSz="914400" rtl="0" eaLnBrk="1" latinLnBrk="0" hangingPunct="1">
              <a:lnSpc>
                <a:spcPct val="90000"/>
              </a:lnSpc>
              <a:spcBef>
                <a:spcPct val="0"/>
              </a:spcBef>
              <a:buNone/>
              <a:defRPr sz="2800" b="1" kern="1200">
                <a:solidFill>
                  <a:schemeClr val="tx1"/>
                </a:solidFill>
                <a:latin typeface="方正粗雅宋简体" panose="02000000000000000000" pitchFamily="2" charset="-122"/>
                <a:ea typeface="方正粗雅宋简体" panose="02000000000000000000" pitchFamily="2" charset="-122"/>
                <a:cs typeface="+mj-cs"/>
              </a:defRPr>
            </a:lvl1pPr>
          </a:lstStyle>
          <a:p>
            <a:pPr marL="355600" indent="-342900">
              <a:lnSpc>
                <a:spcPct val="100000"/>
              </a:lnSpc>
              <a:spcBef>
                <a:spcPts val="95"/>
              </a:spcBef>
              <a:buFont typeface="Wingdings" panose="05000000000000000000" pitchFamily="2" charset="2"/>
              <a:buChar char="p"/>
            </a:pPr>
            <a:r>
              <a:rPr lang="zh-CN" altLang="en-US" sz="2400" dirty="0">
                <a:solidFill>
                  <a:srgbClr val="003F88"/>
                </a:solidFill>
                <a:latin typeface="+mj-ea"/>
                <a:ea typeface="+mj-ea"/>
                <a:cs typeface="+mn-cs"/>
              </a:rPr>
              <a:t>一站式的</a:t>
            </a:r>
            <a:r>
              <a:rPr lang="en-US" altLang="zh-CN" sz="2400" dirty="0">
                <a:solidFill>
                  <a:srgbClr val="003F88"/>
                </a:solidFill>
                <a:latin typeface="+mj-ea"/>
                <a:ea typeface="+mj-ea"/>
                <a:cs typeface="+mn-cs"/>
              </a:rPr>
              <a:t>DevOps</a:t>
            </a:r>
            <a:r>
              <a:rPr lang="zh-CN" altLang="en-US" sz="2400" dirty="0">
                <a:solidFill>
                  <a:srgbClr val="003F88"/>
                </a:solidFill>
                <a:latin typeface="+mj-ea"/>
                <a:ea typeface="+mj-ea"/>
                <a:cs typeface="+mn-cs"/>
              </a:rPr>
              <a:t>解决方案</a:t>
            </a:r>
            <a:endParaRPr lang="en-US" altLang="zh-CN" sz="2400" dirty="0">
              <a:solidFill>
                <a:srgbClr val="003F88"/>
              </a:solidFill>
              <a:latin typeface="+mj-ea"/>
              <a:ea typeface="+mj-ea"/>
              <a:cs typeface="+mn-cs"/>
            </a:endParaRPr>
          </a:p>
        </p:txBody>
      </p:sp>
      <p:sp>
        <p:nvSpPr>
          <p:cNvPr id="1036" name="文本框 1035">
            <a:extLst>
              <a:ext uri="{FF2B5EF4-FFF2-40B4-BE49-F238E27FC236}">
                <a16:creationId xmlns:a16="http://schemas.microsoft.com/office/drawing/2014/main" id="{5606A5DB-7C45-A138-1AA7-7EE26447B4C9}"/>
              </a:ext>
            </a:extLst>
          </p:cNvPr>
          <p:cNvSpPr txBox="1"/>
          <p:nvPr/>
        </p:nvSpPr>
        <p:spPr>
          <a:xfrm>
            <a:off x="876618" y="1375271"/>
            <a:ext cx="10657782" cy="1308179"/>
          </a:xfrm>
          <a:prstGeom prst="rect">
            <a:avLst/>
          </a:prstGeom>
          <a:noFill/>
        </p:spPr>
        <p:txBody>
          <a:bodyPr wrap="square">
            <a:spAutoFit/>
          </a:bodyPr>
          <a:lstStyle/>
          <a:p>
            <a:pPr marL="298450" indent="-285750" algn="just">
              <a:lnSpc>
                <a:spcPct val="125000"/>
              </a:lnSpc>
              <a:spcBef>
                <a:spcPts val="95"/>
              </a:spcBef>
              <a:buFont typeface="Wingdings" panose="05000000000000000000" pitchFamily="2" charset="2"/>
              <a:buChar char="Ø"/>
            </a:pPr>
            <a:r>
              <a:rPr lang="zh-CN" altLang="en-US" sz="1600" b="0" dirty="0">
                <a:solidFill>
                  <a:schemeClr val="tx1">
                    <a:lumMod val="75000"/>
                  </a:schemeClr>
                </a:solidFill>
                <a:latin typeface="+mj-ea"/>
                <a:ea typeface="+mj-ea"/>
                <a:cs typeface="宋体"/>
              </a:rPr>
              <a:t>包含面向企业级客户用于应用的研发运营全生命周期管理的平台和工具，覆盖应用项目管理、开发、测试、运维</a:t>
            </a:r>
            <a:r>
              <a:rPr lang="en-US" altLang="zh-CN" sz="1600" b="0" dirty="0">
                <a:solidFill>
                  <a:schemeClr val="tx1">
                    <a:lumMod val="75000"/>
                  </a:schemeClr>
                </a:solidFill>
                <a:latin typeface="+mj-ea"/>
                <a:ea typeface="+mj-ea"/>
                <a:cs typeface="宋体"/>
              </a:rPr>
              <a:t>/</a:t>
            </a:r>
            <a:r>
              <a:rPr lang="zh-CN" altLang="en-US" sz="1600" b="0" dirty="0">
                <a:solidFill>
                  <a:schemeClr val="tx1">
                    <a:lumMod val="75000"/>
                  </a:schemeClr>
                </a:solidFill>
                <a:latin typeface="+mj-ea"/>
                <a:ea typeface="+mj-ea"/>
                <a:cs typeface="宋体"/>
              </a:rPr>
              <a:t>运营管理等阶段，帮助企业实现应用研发运营协同工作，全面提升企业应用研发运营质量和效率。</a:t>
            </a:r>
            <a:endParaRPr lang="en-US" altLang="zh-CN" sz="1600" b="0" dirty="0">
              <a:solidFill>
                <a:schemeClr val="tx1">
                  <a:lumMod val="75000"/>
                </a:schemeClr>
              </a:solidFill>
              <a:latin typeface="+mj-ea"/>
              <a:ea typeface="+mj-ea"/>
              <a:cs typeface="宋体"/>
            </a:endParaRPr>
          </a:p>
          <a:p>
            <a:pPr marL="298450" indent="-285750" algn="just">
              <a:lnSpc>
                <a:spcPct val="125000"/>
              </a:lnSpc>
              <a:spcBef>
                <a:spcPts val="95"/>
              </a:spcBef>
              <a:buFont typeface="Wingdings" panose="05000000000000000000" pitchFamily="2" charset="2"/>
              <a:buChar char="Ø"/>
            </a:pPr>
            <a:r>
              <a:rPr lang="zh-CN" altLang="en-US" sz="1600" b="0" dirty="0">
                <a:solidFill>
                  <a:schemeClr val="tx1">
                    <a:lumMod val="75000"/>
                  </a:schemeClr>
                </a:solidFill>
                <a:latin typeface="+mj-ea"/>
                <a:ea typeface="+mj-ea"/>
                <a:cs typeface="宋体"/>
              </a:rPr>
              <a:t>由中国信通院牵头，联合阿里云、腾讯云等企业，历经大半年时间，经历了十余次讨论，推出了</a:t>
            </a:r>
            <a:r>
              <a:rPr lang="en-US" altLang="zh-CN" sz="1600" b="0" dirty="0">
                <a:solidFill>
                  <a:schemeClr val="tx1">
                    <a:lumMod val="75000"/>
                  </a:schemeClr>
                </a:solidFill>
                <a:latin typeface="+mj-ea"/>
                <a:ea typeface="+mj-ea"/>
                <a:cs typeface="宋体"/>
              </a:rPr>
              <a:t>DevOps</a:t>
            </a:r>
            <a:r>
              <a:rPr lang="zh-CN" altLang="en-US" sz="1600" b="0" dirty="0">
                <a:solidFill>
                  <a:schemeClr val="tx1">
                    <a:lumMod val="75000"/>
                  </a:schemeClr>
                </a:solidFill>
                <a:latin typeface="+mj-ea"/>
                <a:ea typeface="+mj-ea"/>
                <a:cs typeface="宋体"/>
              </a:rPr>
              <a:t>解决方案标准。</a:t>
            </a:r>
          </a:p>
        </p:txBody>
      </p:sp>
    </p:spTree>
    <p:extLst>
      <p:ext uri="{BB962C8B-B14F-4D97-AF65-F5344CB8AC3E}">
        <p14:creationId xmlns:p14="http://schemas.microsoft.com/office/powerpoint/2010/main" val="3968948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03 DevOps</a:t>
            </a:r>
            <a:r>
              <a:rPr lang="zh-CN" altLang="en-US" dirty="0"/>
              <a:t>工具体系</a:t>
            </a:r>
          </a:p>
        </p:txBody>
      </p:sp>
      <p:sp>
        <p:nvSpPr>
          <p:cNvPr id="3" name="灯片编号占位符 2"/>
          <p:cNvSpPr>
            <a:spLocks noGrp="1"/>
          </p:cNvSpPr>
          <p:nvPr>
            <p:ph type="sldNum" sz="quarter" idx="12"/>
          </p:nvPr>
        </p:nvSpPr>
        <p:spPr/>
        <p:txBody>
          <a:bodyPr/>
          <a:lstStyle/>
          <a:p>
            <a:fld id="{1AAC388E-FA9E-4A2C-95EA-1F6B3A07935A}" type="slidenum">
              <a:rPr lang="zh-CN" altLang="en-US" sz="1400" smtClean="0">
                <a:solidFill>
                  <a:srgbClr val="000000"/>
                </a:solidFill>
              </a:rPr>
              <a:t>48</a:t>
            </a:fld>
            <a:endParaRPr lang="zh-CN" altLang="en-US" sz="1400" dirty="0">
              <a:solidFill>
                <a:srgbClr val="000000"/>
              </a:solidFill>
            </a:endParaRPr>
          </a:p>
        </p:txBody>
      </p:sp>
      <p:sp>
        <p:nvSpPr>
          <p:cNvPr id="1026" name="object 3">
            <a:extLst>
              <a:ext uri="{FF2B5EF4-FFF2-40B4-BE49-F238E27FC236}">
                <a16:creationId xmlns:a16="http://schemas.microsoft.com/office/drawing/2014/main" id="{82911D9D-BAB1-D56F-ACBB-C0B6CB4D5C8A}"/>
              </a:ext>
            </a:extLst>
          </p:cNvPr>
          <p:cNvSpPr txBox="1"/>
          <p:nvPr/>
        </p:nvSpPr>
        <p:spPr>
          <a:xfrm>
            <a:off x="1588139" y="1496255"/>
            <a:ext cx="1344295" cy="443865"/>
          </a:xfrm>
          <a:prstGeom prst="rect">
            <a:avLst/>
          </a:prstGeom>
          <a:solidFill>
            <a:srgbClr val="248ED0"/>
          </a:solidFill>
        </p:spPr>
        <p:txBody>
          <a:bodyPr vert="horz" wrap="square" lIns="0" tIns="120015" rIns="0" bIns="0" rtlCol="0">
            <a:noAutofit/>
          </a:bodyPr>
          <a:lstStyle/>
          <a:p>
            <a:pPr marL="225425">
              <a:lnSpc>
                <a:spcPct val="100000"/>
              </a:lnSpc>
              <a:spcBef>
                <a:spcPts val="945"/>
              </a:spcBef>
            </a:pPr>
            <a:r>
              <a:rPr sz="1400" b="1" spc="-10" dirty="0">
                <a:solidFill>
                  <a:srgbClr val="FFFFFF"/>
                </a:solidFill>
                <a:latin typeface="+mj-ea"/>
                <a:ea typeface="+mj-ea"/>
                <a:cs typeface="Microsoft JhengHei"/>
              </a:rPr>
              <a:t>项目管理域</a:t>
            </a:r>
            <a:endParaRPr sz="1400">
              <a:latin typeface="+mj-ea"/>
              <a:ea typeface="+mj-ea"/>
              <a:cs typeface="Microsoft JhengHei"/>
            </a:endParaRPr>
          </a:p>
        </p:txBody>
      </p:sp>
      <p:sp>
        <p:nvSpPr>
          <p:cNvPr id="1031" name="object 4">
            <a:extLst>
              <a:ext uri="{FF2B5EF4-FFF2-40B4-BE49-F238E27FC236}">
                <a16:creationId xmlns:a16="http://schemas.microsoft.com/office/drawing/2014/main" id="{669CDE9A-EF7E-61CA-AED7-59A77E4D7B82}"/>
              </a:ext>
            </a:extLst>
          </p:cNvPr>
          <p:cNvSpPr txBox="1"/>
          <p:nvPr/>
        </p:nvSpPr>
        <p:spPr>
          <a:xfrm>
            <a:off x="4003679" y="1496255"/>
            <a:ext cx="1344295" cy="443865"/>
          </a:xfrm>
          <a:prstGeom prst="rect">
            <a:avLst/>
          </a:prstGeom>
          <a:solidFill>
            <a:srgbClr val="248ED0"/>
          </a:solidFill>
        </p:spPr>
        <p:txBody>
          <a:bodyPr vert="horz" wrap="square" lIns="0" tIns="120015" rIns="0" bIns="0" rtlCol="0">
            <a:noAutofit/>
          </a:bodyPr>
          <a:lstStyle/>
          <a:p>
            <a:pPr marL="225425">
              <a:lnSpc>
                <a:spcPct val="100000"/>
              </a:lnSpc>
              <a:spcBef>
                <a:spcPts val="945"/>
              </a:spcBef>
            </a:pPr>
            <a:r>
              <a:rPr sz="1400" b="1" spc="-10" dirty="0">
                <a:solidFill>
                  <a:srgbClr val="FFFFFF"/>
                </a:solidFill>
                <a:latin typeface="+mj-ea"/>
                <a:ea typeface="+mj-ea"/>
                <a:cs typeface="Microsoft JhengHei"/>
              </a:rPr>
              <a:t>应用开发域</a:t>
            </a:r>
            <a:endParaRPr sz="1400">
              <a:latin typeface="+mj-ea"/>
              <a:ea typeface="+mj-ea"/>
              <a:cs typeface="Microsoft JhengHei"/>
            </a:endParaRPr>
          </a:p>
        </p:txBody>
      </p:sp>
      <p:sp>
        <p:nvSpPr>
          <p:cNvPr id="1032" name="object 5">
            <a:extLst>
              <a:ext uri="{FF2B5EF4-FFF2-40B4-BE49-F238E27FC236}">
                <a16:creationId xmlns:a16="http://schemas.microsoft.com/office/drawing/2014/main" id="{7B42E2FC-8CBF-EF35-316D-BE5AF4FAE7D5}"/>
              </a:ext>
            </a:extLst>
          </p:cNvPr>
          <p:cNvSpPr txBox="1"/>
          <p:nvPr/>
        </p:nvSpPr>
        <p:spPr>
          <a:xfrm>
            <a:off x="6588384" y="1496255"/>
            <a:ext cx="1344295" cy="443865"/>
          </a:xfrm>
          <a:prstGeom prst="rect">
            <a:avLst/>
          </a:prstGeom>
          <a:solidFill>
            <a:srgbClr val="248ED0"/>
          </a:solidFill>
        </p:spPr>
        <p:txBody>
          <a:bodyPr vert="horz" wrap="square" lIns="0" tIns="120015" rIns="0" bIns="0" rtlCol="0">
            <a:noAutofit/>
          </a:bodyPr>
          <a:lstStyle/>
          <a:p>
            <a:pPr marL="402590">
              <a:lnSpc>
                <a:spcPct val="100000"/>
              </a:lnSpc>
              <a:spcBef>
                <a:spcPts val="945"/>
              </a:spcBef>
            </a:pPr>
            <a:r>
              <a:rPr sz="1400" b="1" spc="-20" dirty="0">
                <a:solidFill>
                  <a:srgbClr val="FFFFFF"/>
                </a:solidFill>
                <a:latin typeface="+mj-ea"/>
                <a:ea typeface="+mj-ea"/>
                <a:cs typeface="Microsoft JhengHei"/>
              </a:rPr>
              <a:t>测试域</a:t>
            </a:r>
            <a:endParaRPr sz="1400">
              <a:latin typeface="+mj-ea"/>
              <a:ea typeface="+mj-ea"/>
              <a:cs typeface="Microsoft JhengHei"/>
            </a:endParaRPr>
          </a:p>
        </p:txBody>
      </p:sp>
      <p:sp>
        <p:nvSpPr>
          <p:cNvPr id="1033" name="object 6">
            <a:extLst>
              <a:ext uri="{FF2B5EF4-FFF2-40B4-BE49-F238E27FC236}">
                <a16:creationId xmlns:a16="http://schemas.microsoft.com/office/drawing/2014/main" id="{19FA48AA-628D-2AE1-4172-EA710D64BC02}"/>
              </a:ext>
            </a:extLst>
          </p:cNvPr>
          <p:cNvSpPr txBox="1"/>
          <p:nvPr/>
        </p:nvSpPr>
        <p:spPr>
          <a:xfrm>
            <a:off x="9165467" y="1496255"/>
            <a:ext cx="1346200" cy="443865"/>
          </a:xfrm>
          <a:prstGeom prst="rect">
            <a:avLst/>
          </a:prstGeom>
          <a:solidFill>
            <a:srgbClr val="248ED0"/>
          </a:solidFill>
        </p:spPr>
        <p:txBody>
          <a:bodyPr vert="horz" wrap="square" lIns="0" tIns="120015" rIns="0" bIns="0" rtlCol="0">
            <a:noAutofit/>
          </a:bodyPr>
          <a:lstStyle/>
          <a:p>
            <a:pPr marL="181610">
              <a:lnSpc>
                <a:spcPct val="100000"/>
              </a:lnSpc>
              <a:spcBef>
                <a:spcPts val="945"/>
              </a:spcBef>
            </a:pPr>
            <a:r>
              <a:rPr sz="1400" b="1" dirty="0">
                <a:solidFill>
                  <a:srgbClr val="FFFFFF"/>
                </a:solidFill>
                <a:latin typeface="+mj-ea"/>
                <a:ea typeface="+mj-ea"/>
                <a:cs typeface="Microsoft JhengHei"/>
              </a:rPr>
              <a:t>运营/运维域</a:t>
            </a:r>
            <a:endParaRPr sz="1400">
              <a:latin typeface="+mj-ea"/>
              <a:ea typeface="+mj-ea"/>
              <a:cs typeface="Microsoft JhengHei"/>
            </a:endParaRPr>
          </a:p>
        </p:txBody>
      </p:sp>
      <p:sp>
        <p:nvSpPr>
          <p:cNvPr id="1034" name="object 7">
            <a:extLst>
              <a:ext uri="{FF2B5EF4-FFF2-40B4-BE49-F238E27FC236}">
                <a16:creationId xmlns:a16="http://schemas.microsoft.com/office/drawing/2014/main" id="{8BE58006-90D5-D8CC-7C20-477990AECDA9}"/>
              </a:ext>
            </a:extLst>
          </p:cNvPr>
          <p:cNvSpPr/>
          <p:nvPr/>
        </p:nvSpPr>
        <p:spPr>
          <a:xfrm>
            <a:off x="951108" y="2105854"/>
            <a:ext cx="2415540" cy="3282950"/>
          </a:xfrm>
          <a:custGeom>
            <a:avLst/>
            <a:gdLst/>
            <a:ahLst/>
            <a:cxnLst/>
            <a:rect l="l" t="t" r="r" b="b"/>
            <a:pathLst>
              <a:path w="2415540" h="3282950">
                <a:moveTo>
                  <a:pt x="0" y="3282696"/>
                </a:moveTo>
                <a:lnTo>
                  <a:pt x="2415540" y="3282696"/>
                </a:lnTo>
                <a:lnTo>
                  <a:pt x="2415540" y="0"/>
                </a:lnTo>
                <a:lnTo>
                  <a:pt x="0" y="0"/>
                </a:lnTo>
                <a:lnTo>
                  <a:pt x="0" y="3282696"/>
                </a:lnTo>
                <a:close/>
              </a:path>
            </a:pathLst>
          </a:custGeom>
          <a:ln w="9144">
            <a:solidFill>
              <a:srgbClr val="404040"/>
            </a:solidFill>
          </a:ln>
        </p:spPr>
        <p:txBody>
          <a:bodyPr wrap="square" lIns="0" tIns="0" rIns="0" bIns="0" rtlCol="0">
            <a:noAutofit/>
          </a:bodyPr>
          <a:lstStyle/>
          <a:p>
            <a:endParaRPr>
              <a:latin typeface="+mj-ea"/>
              <a:ea typeface="+mj-ea"/>
            </a:endParaRPr>
          </a:p>
        </p:txBody>
      </p:sp>
      <p:sp>
        <p:nvSpPr>
          <p:cNvPr id="1035" name="object 8">
            <a:extLst>
              <a:ext uri="{FF2B5EF4-FFF2-40B4-BE49-F238E27FC236}">
                <a16:creationId xmlns:a16="http://schemas.microsoft.com/office/drawing/2014/main" id="{A294416F-E5FD-E098-CF40-15469B6D0DF0}"/>
              </a:ext>
            </a:extLst>
          </p:cNvPr>
          <p:cNvSpPr txBox="1"/>
          <p:nvPr/>
        </p:nvSpPr>
        <p:spPr>
          <a:xfrm>
            <a:off x="1069980" y="3027875"/>
            <a:ext cx="1047115" cy="600710"/>
          </a:xfrm>
          <a:prstGeom prst="rect">
            <a:avLst/>
          </a:prstGeom>
          <a:solidFill>
            <a:srgbClr val="38A666"/>
          </a:solidFill>
        </p:spPr>
        <p:txBody>
          <a:bodyPr vert="horz" wrap="square" lIns="0" tIns="1905" rIns="0" bIns="0" rtlCol="0">
            <a:noAutofit/>
          </a:bodyPr>
          <a:lstStyle/>
          <a:p>
            <a:pPr>
              <a:lnSpc>
                <a:spcPct val="100000"/>
              </a:lnSpc>
              <a:spcBef>
                <a:spcPts val="15"/>
              </a:spcBef>
            </a:pPr>
            <a:endParaRPr sz="1400">
              <a:latin typeface="+mj-ea"/>
              <a:ea typeface="+mj-ea"/>
              <a:cs typeface="Times New Roman"/>
            </a:endParaRPr>
          </a:p>
          <a:p>
            <a:pPr marL="217804">
              <a:lnSpc>
                <a:spcPct val="100000"/>
              </a:lnSpc>
            </a:pPr>
            <a:r>
              <a:rPr sz="1200" spc="-15" dirty="0">
                <a:solidFill>
                  <a:srgbClr val="FFFFFF"/>
                </a:solidFill>
                <a:latin typeface="+mj-ea"/>
                <a:ea typeface="+mj-ea"/>
                <a:cs typeface="宋体"/>
              </a:rPr>
              <a:t>文档管理</a:t>
            </a:r>
            <a:endParaRPr sz="1200">
              <a:latin typeface="+mj-ea"/>
              <a:ea typeface="+mj-ea"/>
              <a:cs typeface="宋体"/>
            </a:endParaRPr>
          </a:p>
        </p:txBody>
      </p:sp>
      <p:sp>
        <p:nvSpPr>
          <p:cNvPr id="1036" name="object 9">
            <a:extLst>
              <a:ext uri="{FF2B5EF4-FFF2-40B4-BE49-F238E27FC236}">
                <a16:creationId xmlns:a16="http://schemas.microsoft.com/office/drawing/2014/main" id="{9CA70AC7-BE5C-9285-93F4-43864F858CB6}"/>
              </a:ext>
            </a:extLst>
          </p:cNvPr>
          <p:cNvSpPr txBox="1"/>
          <p:nvPr/>
        </p:nvSpPr>
        <p:spPr>
          <a:xfrm>
            <a:off x="2254128" y="3027875"/>
            <a:ext cx="1047115" cy="600710"/>
          </a:xfrm>
          <a:prstGeom prst="rect">
            <a:avLst/>
          </a:prstGeom>
          <a:solidFill>
            <a:srgbClr val="38A666"/>
          </a:solidFill>
        </p:spPr>
        <p:txBody>
          <a:bodyPr vert="horz" wrap="square" lIns="0" tIns="1905" rIns="0" bIns="0" rtlCol="0">
            <a:noAutofit/>
          </a:bodyPr>
          <a:lstStyle/>
          <a:p>
            <a:pPr>
              <a:lnSpc>
                <a:spcPct val="100000"/>
              </a:lnSpc>
              <a:spcBef>
                <a:spcPts val="15"/>
              </a:spcBef>
            </a:pPr>
            <a:endParaRPr sz="1400">
              <a:latin typeface="+mj-ea"/>
              <a:ea typeface="+mj-ea"/>
              <a:cs typeface="Times New Roman"/>
            </a:endParaRPr>
          </a:p>
          <a:p>
            <a:pPr marL="218440">
              <a:lnSpc>
                <a:spcPct val="100000"/>
              </a:lnSpc>
            </a:pPr>
            <a:r>
              <a:rPr sz="1200" spc="-15" dirty="0">
                <a:solidFill>
                  <a:srgbClr val="FFFFFF"/>
                </a:solidFill>
                <a:latin typeface="+mj-ea"/>
                <a:ea typeface="+mj-ea"/>
                <a:cs typeface="宋体"/>
              </a:rPr>
              <a:t>缺陷管理</a:t>
            </a:r>
            <a:endParaRPr sz="1200">
              <a:latin typeface="+mj-ea"/>
              <a:ea typeface="+mj-ea"/>
              <a:cs typeface="宋体"/>
            </a:endParaRPr>
          </a:p>
        </p:txBody>
      </p:sp>
      <p:sp>
        <p:nvSpPr>
          <p:cNvPr id="1037" name="object 10">
            <a:extLst>
              <a:ext uri="{FF2B5EF4-FFF2-40B4-BE49-F238E27FC236}">
                <a16:creationId xmlns:a16="http://schemas.microsoft.com/office/drawing/2014/main" id="{7F203F9B-F8EB-56C4-216C-5BE577897A77}"/>
              </a:ext>
            </a:extLst>
          </p:cNvPr>
          <p:cNvSpPr txBox="1"/>
          <p:nvPr/>
        </p:nvSpPr>
        <p:spPr>
          <a:xfrm>
            <a:off x="2254128" y="2192723"/>
            <a:ext cx="1047115" cy="600710"/>
          </a:xfrm>
          <a:prstGeom prst="rect">
            <a:avLst/>
          </a:prstGeom>
          <a:solidFill>
            <a:srgbClr val="38A666"/>
          </a:solidFill>
        </p:spPr>
        <p:txBody>
          <a:bodyPr vert="horz" wrap="square" lIns="0" tIns="1905" rIns="0" bIns="0" rtlCol="0">
            <a:noAutofit/>
          </a:bodyPr>
          <a:lstStyle/>
          <a:p>
            <a:pPr>
              <a:lnSpc>
                <a:spcPct val="100000"/>
              </a:lnSpc>
              <a:spcBef>
                <a:spcPts val="15"/>
              </a:spcBef>
            </a:pPr>
            <a:endParaRPr sz="1400">
              <a:latin typeface="+mj-ea"/>
              <a:ea typeface="+mj-ea"/>
              <a:cs typeface="Times New Roman"/>
            </a:endParaRPr>
          </a:p>
          <a:p>
            <a:pPr marL="218440">
              <a:lnSpc>
                <a:spcPct val="100000"/>
              </a:lnSpc>
            </a:pPr>
            <a:r>
              <a:rPr sz="1200" spc="-15" dirty="0">
                <a:solidFill>
                  <a:srgbClr val="FFFFFF"/>
                </a:solidFill>
                <a:latin typeface="+mj-ea"/>
                <a:ea typeface="+mj-ea"/>
                <a:cs typeface="宋体"/>
              </a:rPr>
              <a:t>任务管理</a:t>
            </a:r>
            <a:endParaRPr sz="1200">
              <a:latin typeface="+mj-ea"/>
              <a:ea typeface="+mj-ea"/>
              <a:cs typeface="宋体"/>
            </a:endParaRPr>
          </a:p>
        </p:txBody>
      </p:sp>
      <p:sp>
        <p:nvSpPr>
          <p:cNvPr id="1038" name="object 11">
            <a:extLst>
              <a:ext uri="{FF2B5EF4-FFF2-40B4-BE49-F238E27FC236}">
                <a16:creationId xmlns:a16="http://schemas.microsoft.com/office/drawing/2014/main" id="{1C11E399-CBBF-4A39-9640-358340655C2E}"/>
              </a:ext>
            </a:extLst>
          </p:cNvPr>
          <p:cNvSpPr txBox="1"/>
          <p:nvPr/>
        </p:nvSpPr>
        <p:spPr>
          <a:xfrm>
            <a:off x="1069980" y="2192723"/>
            <a:ext cx="1047115" cy="599440"/>
          </a:xfrm>
          <a:prstGeom prst="rect">
            <a:avLst/>
          </a:prstGeom>
          <a:solidFill>
            <a:srgbClr val="38A666"/>
          </a:solidFill>
        </p:spPr>
        <p:txBody>
          <a:bodyPr vert="horz" wrap="square" lIns="0" tIns="635" rIns="0" bIns="0" rtlCol="0">
            <a:noAutofit/>
          </a:bodyPr>
          <a:lstStyle/>
          <a:p>
            <a:pPr>
              <a:lnSpc>
                <a:spcPct val="100000"/>
              </a:lnSpc>
              <a:spcBef>
                <a:spcPts val="5"/>
              </a:spcBef>
            </a:pPr>
            <a:endParaRPr sz="1400">
              <a:latin typeface="+mj-ea"/>
              <a:ea typeface="+mj-ea"/>
              <a:cs typeface="Times New Roman"/>
            </a:endParaRPr>
          </a:p>
          <a:p>
            <a:pPr marL="217804">
              <a:lnSpc>
                <a:spcPct val="100000"/>
              </a:lnSpc>
            </a:pPr>
            <a:r>
              <a:rPr sz="1200" spc="-15" dirty="0">
                <a:solidFill>
                  <a:srgbClr val="FFFFFF"/>
                </a:solidFill>
                <a:latin typeface="+mj-ea"/>
                <a:ea typeface="+mj-ea"/>
                <a:cs typeface="宋体"/>
              </a:rPr>
              <a:t>需求管理</a:t>
            </a:r>
            <a:endParaRPr sz="1200">
              <a:latin typeface="+mj-ea"/>
              <a:ea typeface="+mj-ea"/>
              <a:cs typeface="宋体"/>
            </a:endParaRPr>
          </a:p>
        </p:txBody>
      </p:sp>
      <p:sp>
        <p:nvSpPr>
          <p:cNvPr id="1039" name="object 12">
            <a:extLst>
              <a:ext uri="{FF2B5EF4-FFF2-40B4-BE49-F238E27FC236}">
                <a16:creationId xmlns:a16="http://schemas.microsoft.com/office/drawing/2014/main" id="{3F8E34D0-43E3-3A98-ABA2-CBB5D9376AD1}"/>
              </a:ext>
            </a:extLst>
          </p:cNvPr>
          <p:cNvSpPr txBox="1"/>
          <p:nvPr/>
        </p:nvSpPr>
        <p:spPr>
          <a:xfrm>
            <a:off x="1069980" y="3864550"/>
            <a:ext cx="1047115" cy="599440"/>
          </a:xfrm>
          <a:prstGeom prst="rect">
            <a:avLst/>
          </a:prstGeom>
          <a:solidFill>
            <a:srgbClr val="38A666"/>
          </a:solidFill>
        </p:spPr>
        <p:txBody>
          <a:bodyPr vert="horz" wrap="square" lIns="0" tIns="1270" rIns="0" bIns="0" rtlCol="0">
            <a:noAutofit/>
          </a:bodyPr>
          <a:lstStyle/>
          <a:p>
            <a:pPr>
              <a:lnSpc>
                <a:spcPct val="100000"/>
              </a:lnSpc>
              <a:spcBef>
                <a:spcPts val="10"/>
              </a:spcBef>
            </a:pPr>
            <a:endParaRPr sz="1400">
              <a:latin typeface="+mj-ea"/>
              <a:ea typeface="+mj-ea"/>
              <a:cs typeface="Times New Roman"/>
            </a:endParaRPr>
          </a:p>
          <a:p>
            <a:pPr marL="217804">
              <a:lnSpc>
                <a:spcPct val="100000"/>
              </a:lnSpc>
            </a:pPr>
            <a:r>
              <a:rPr sz="1200" spc="-15" dirty="0">
                <a:solidFill>
                  <a:srgbClr val="FFFFFF"/>
                </a:solidFill>
                <a:latin typeface="+mj-ea"/>
                <a:ea typeface="+mj-ea"/>
                <a:cs typeface="宋体"/>
              </a:rPr>
              <a:t>度量管理</a:t>
            </a:r>
            <a:endParaRPr sz="1200">
              <a:latin typeface="+mj-ea"/>
              <a:ea typeface="+mj-ea"/>
              <a:cs typeface="宋体"/>
            </a:endParaRPr>
          </a:p>
        </p:txBody>
      </p:sp>
      <p:sp>
        <p:nvSpPr>
          <p:cNvPr id="1040" name="object 13">
            <a:extLst>
              <a:ext uri="{FF2B5EF4-FFF2-40B4-BE49-F238E27FC236}">
                <a16:creationId xmlns:a16="http://schemas.microsoft.com/office/drawing/2014/main" id="{74BA0C71-1A79-4510-B6E3-963FC7E11D13}"/>
              </a:ext>
            </a:extLst>
          </p:cNvPr>
          <p:cNvSpPr txBox="1"/>
          <p:nvPr/>
        </p:nvSpPr>
        <p:spPr>
          <a:xfrm>
            <a:off x="1069980" y="4701226"/>
            <a:ext cx="1047115" cy="596265"/>
          </a:xfrm>
          <a:prstGeom prst="rect">
            <a:avLst/>
          </a:prstGeom>
          <a:solidFill>
            <a:srgbClr val="38A666"/>
          </a:solidFill>
        </p:spPr>
        <p:txBody>
          <a:bodyPr vert="horz" wrap="square" lIns="0" tIns="112395" rIns="0" bIns="0" rtlCol="0">
            <a:noAutofit/>
          </a:bodyPr>
          <a:lstStyle/>
          <a:p>
            <a:pPr marL="370205" marR="211454" indent="-152400">
              <a:lnSpc>
                <a:spcPct val="100000"/>
              </a:lnSpc>
              <a:spcBef>
                <a:spcPts val="885"/>
              </a:spcBef>
            </a:pPr>
            <a:r>
              <a:rPr sz="1200" spc="-15" dirty="0">
                <a:solidFill>
                  <a:srgbClr val="FFFFFF"/>
                </a:solidFill>
                <a:latin typeface="+mj-ea"/>
                <a:ea typeface="+mj-ea"/>
                <a:cs typeface="宋体"/>
              </a:rPr>
              <a:t>版本迭代</a:t>
            </a:r>
            <a:r>
              <a:rPr sz="1200" spc="-25" dirty="0">
                <a:solidFill>
                  <a:srgbClr val="FFFFFF"/>
                </a:solidFill>
                <a:latin typeface="+mj-ea"/>
                <a:ea typeface="+mj-ea"/>
                <a:cs typeface="宋体"/>
              </a:rPr>
              <a:t>管理</a:t>
            </a:r>
            <a:endParaRPr sz="1200">
              <a:latin typeface="+mj-ea"/>
              <a:ea typeface="+mj-ea"/>
              <a:cs typeface="宋体"/>
            </a:endParaRPr>
          </a:p>
        </p:txBody>
      </p:sp>
      <p:sp>
        <p:nvSpPr>
          <p:cNvPr id="1041" name="object 14">
            <a:extLst>
              <a:ext uri="{FF2B5EF4-FFF2-40B4-BE49-F238E27FC236}">
                <a16:creationId xmlns:a16="http://schemas.microsoft.com/office/drawing/2014/main" id="{CB7FEE19-40F5-60C0-E70A-0424B977648D}"/>
              </a:ext>
            </a:extLst>
          </p:cNvPr>
          <p:cNvSpPr txBox="1"/>
          <p:nvPr/>
        </p:nvSpPr>
        <p:spPr>
          <a:xfrm>
            <a:off x="2254128" y="4698179"/>
            <a:ext cx="1047115" cy="600710"/>
          </a:xfrm>
          <a:prstGeom prst="rect">
            <a:avLst/>
          </a:prstGeom>
          <a:solidFill>
            <a:srgbClr val="38A666"/>
          </a:solidFill>
        </p:spPr>
        <p:txBody>
          <a:bodyPr vert="horz" wrap="square" lIns="0" tIns="2540" rIns="0" bIns="0" rtlCol="0">
            <a:noAutofit/>
          </a:bodyPr>
          <a:lstStyle/>
          <a:p>
            <a:pPr>
              <a:lnSpc>
                <a:spcPct val="100000"/>
              </a:lnSpc>
              <a:spcBef>
                <a:spcPts val="20"/>
              </a:spcBef>
            </a:pPr>
            <a:endParaRPr sz="1400">
              <a:latin typeface="+mj-ea"/>
              <a:ea typeface="+mj-ea"/>
              <a:cs typeface="Times New Roman"/>
            </a:endParaRPr>
          </a:p>
          <a:p>
            <a:pPr marL="294640">
              <a:lnSpc>
                <a:spcPct val="100000"/>
              </a:lnSpc>
            </a:pPr>
            <a:r>
              <a:rPr sz="1200" spc="-20" dirty="0">
                <a:solidFill>
                  <a:srgbClr val="FFFFFF"/>
                </a:solidFill>
                <a:latin typeface="+mj-ea"/>
                <a:ea typeface="+mj-ea"/>
                <a:cs typeface="宋体"/>
              </a:rPr>
              <a:t>知识库</a:t>
            </a:r>
            <a:endParaRPr sz="1200">
              <a:latin typeface="+mj-ea"/>
              <a:ea typeface="+mj-ea"/>
              <a:cs typeface="宋体"/>
            </a:endParaRPr>
          </a:p>
        </p:txBody>
      </p:sp>
      <p:sp>
        <p:nvSpPr>
          <p:cNvPr id="1042" name="object 15">
            <a:extLst>
              <a:ext uri="{FF2B5EF4-FFF2-40B4-BE49-F238E27FC236}">
                <a16:creationId xmlns:a16="http://schemas.microsoft.com/office/drawing/2014/main" id="{27FCA553-941E-C8F5-F376-1224BAF02507}"/>
              </a:ext>
            </a:extLst>
          </p:cNvPr>
          <p:cNvSpPr txBox="1"/>
          <p:nvPr/>
        </p:nvSpPr>
        <p:spPr>
          <a:xfrm>
            <a:off x="2254128" y="3863026"/>
            <a:ext cx="1047115" cy="600710"/>
          </a:xfrm>
          <a:prstGeom prst="rect">
            <a:avLst/>
          </a:prstGeom>
          <a:solidFill>
            <a:srgbClr val="38A666"/>
          </a:solidFill>
        </p:spPr>
        <p:txBody>
          <a:bodyPr vert="horz" wrap="square" lIns="0" tIns="1905" rIns="0" bIns="0" rtlCol="0">
            <a:noAutofit/>
          </a:bodyPr>
          <a:lstStyle/>
          <a:p>
            <a:pPr>
              <a:lnSpc>
                <a:spcPct val="100000"/>
              </a:lnSpc>
              <a:spcBef>
                <a:spcPts val="15"/>
              </a:spcBef>
            </a:pPr>
            <a:endParaRPr sz="1400">
              <a:latin typeface="+mj-ea"/>
              <a:ea typeface="+mj-ea"/>
              <a:cs typeface="Times New Roman"/>
            </a:endParaRPr>
          </a:p>
          <a:p>
            <a:pPr marL="218440">
              <a:lnSpc>
                <a:spcPct val="100000"/>
              </a:lnSpc>
            </a:pPr>
            <a:r>
              <a:rPr sz="1200" spc="-15" dirty="0">
                <a:solidFill>
                  <a:srgbClr val="FFFFFF"/>
                </a:solidFill>
                <a:latin typeface="+mj-ea"/>
                <a:ea typeface="+mj-ea"/>
                <a:cs typeface="宋体"/>
              </a:rPr>
              <a:t>项目管理</a:t>
            </a:r>
            <a:endParaRPr sz="1200">
              <a:latin typeface="+mj-ea"/>
              <a:ea typeface="+mj-ea"/>
              <a:cs typeface="宋体"/>
            </a:endParaRPr>
          </a:p>
        </p:txBody>
      </p:sp>
      <p:sp>
        <p:nvSpPr>
          <p:cNvPr id="1043" name="object 16">
            <a:extLst>
              <a:ext uri="{FF2B5EF4-FFF2-40B4-BE49-F238E27FC236}">
                <a16:creationId xmlns:a16="http://schemas.microsoft.com/office/drawing/2014/main" id="{CFA7FB8D-8FF1-FDF6-A644-E5F98DB7DD42}"/>
              </a:ext>
            </a:extLst>
          </p:cNvPr>
          <p:cNvSpPr/>
          <p:nvPr/>
        </p:nvSpPr>
        <p:spPr>
          <a:xfrm>
            <a:off x="3503808" y="2105854"/>
            <a:ext cx="2414270" cy="3282950"/>
          </a:xfrm>
          <a:custGeom>
            <a:avLst/>
            <a:gdLst/>
            <a:ahLst/>
            <a:cxnLst/>
            <a:rect l="l" t="t" r="r" b="b"/>
            <a:pathLst>
              <a:path w="2414270" h="3282950">
                <a:moveTo>
                  <a:pt x="0" y="3282696"/>
                </a:moveTo>
                <a:lnTo>
                  <a:pt x="2414016" y="3282696"/>
                </a:lnTo>
                <a:lnTo>
                  <a:pt x="2414016" y="0"/>
                </a:lnTo>
                <a:lnTo>
                  <a:pt x="0" y="0"/>
                </a:lnTo>
                <a:lnTo>
                  <a:pt x="0" y="3282696"/>
                </a:lnTo>
                <a:close/>
              </a:path>
            </a:pathLst>
          </a:custGeom>
          <a:ln w="9144">
            <a:solidFill>
              <a:srgbClr val="404040"/>
            </a:solidFill>
          </a:ln>
        </p:spPr>
        <p:txBody>
          <a:bodyPr wrap="square" lIns="0" tIns="0" rIns="0" bIns="0" rtlCol="0">
            <a:noAutofit/>
          </a:bodyPr>
          <a:lstStyle/>
          <a:p>
            <a:endParaRPr>
              <a:latin typeface="+mj-ea"/>
              <a:ea typeface="+mj-ea"/>
            </a:endParaRPr>
          </a:p>
        </p:txBody>
      </p:sp>
      <p:sp>
        <p:nvSpPr>
          <p:cNvPr id="1044" name="object 17">
            <a:extLst>
              <a:ext uri="{FF2B5EF4-FFF2-40B4-BE49-F238E27FC236}">
                <a16:creationId xmlns:a16="http://schemas.microsoft.com/office/drawing/2014/main" id="{5677A75A-7717-687B-5060-C10E0C6BF63E}"/>
              </a:ext>
            </a:extLst>
          </p:cNvPr>
          <p:cNvSpPr txBox="1"/>
          <p:nvPr/>
        </p:nvSpPr>
        <p:spPr>
          <a:xfrm>
            <a:off x="3622679" y="3027875"/>
            <a:ext cx="1047115" cy="600710"/>
          </a:xfrm>
          <a:prstGeom prst="rect">
            <a:avLst/>
          </a:prstGeom>
          <a:solidFill>
            <a:srgbClr val="38A666"/>
          </a:solidFill>
        </p:spPr>
        <p:txBody>
          <a:bodyPr vert="horz" wrap="square" lIns="0" tIns="1905" rIns="0" bIns="0" rtlCol="0">
            <a:noAutofit/>
          </a:bodyPr>
          <a:lstStyle/>
          <a:p>
            <a:pPr>
              <a:lnSpc>
                <a:spcPct val="100000"/>
              </a:lnSpc>
              <a:spcBef>
                <a:spcPts val="15"/>
              </a:spcBef>
            </a:pPr>
            <a:endParaRPr sz="1400">
              <a:latin typeface="+mj-ea"/>
              <a:ea typeface="+mj-ea"/>
              <a:cs typeface="Times New Roman"/>
            </a:endParaRPr>
          </a:p>
          <a:p>
            <a:pPr marL="217804">
              <a:lnSpc>
                <a:spcPct val="100000"/>
              </a:lnSpc>
            </a:pPr>
            <a:r>
              <a:rPr sz="1200" spc="-15" dirty="0">
                <a:solidFill>
                  <a:srgbClr val="FFFFFF"/>
                </a:solidFill>
                <a:latin typeface="+mj-ea"/>
                <a:ea typeface="+mj-ea"/>
                <a:cs typeface="宋体"/>
              </a:rPr>
              <a:t>代码评审</a:t>
            </a:r>
            <a:endParaRPr sz="1200">
              <a:latin typeface="+mj-ea"/>
              <a:ea typeface="+mj-ea"/>
              <a:cs typeface="宋体"/>
            </a:endParaRPr>
          </a:p>
        </p:txBody>
      </p:sp>
      <p:sp>
        <p:nvSpPr>
          <p:cNvPr id="1045" name="object 18">
            <a:extLst>
              <a:ext uri="{FF2B5EF4-FFF2-40B4-BE49-F238E27FC236}">
                <a16:creationId xmlns:a16="http://schemas.microsoft.com/office/drawing/2014/main" id="{6E319CEE-55DB-D08F-FFE0-CD6ED5BC0B68}"/>
              </a:ext>
            </a:extLst>
          </p:cNvPr>
          <p:cNvSpPr txBox="1"/>
          <p:nvPr/>
        </p:nvSpPr>
        <p:spPr>
          <a:xfrm>
            <a:off x="4806827" y="3027875"/>
            <a:ext cx="1047115" cy="600710"/>
          </a:xfrm>
          <a:prstGeom prst="rect">
            <a:avLst/>
          </a:prstGeom>
          <a:solidFill>
            <a:srgbClr val="38A666"/>
          </a:solidFill>
        </p:spPr>
        <p:txBody>
          <a:bodyPr vert="horz" wrap="square" lIns="0" tIns="1905" rIns="0" bIns="0" rtlCol="0">
            <a:noAutofit/>
          </a:bodyPr>
          <a:lstStyle/>
          <a:p>
            <a:pPr>
              <a:lnSpc>
                <a:spcPct val="100000"/>
              </a:lnSpc>
              <a:spcBef>
                <a:spcPts val="15"/>
              </a:spcBef>
            </a:pPr>
            <a:endParaRPr sz="1400">
              <a:latin typeface="+mj-ea"/>
              <a:ea typeface="+mj-ea"/>
              <a:cs typeface="Times New Roman"/>
            </a:endParaRPr>
          </a:p>
          <a:p>
            <a:pPr marL="218440">
              <a:lnSpc>
                <a:spcPct val="100000"/>
              </a:lnSpc>
            </a:pPr>
            <a:r>
              <a:rPr sz="1200" spc="-15" dirty="0">
                <a:solidFill>
                  <a:srgbClr val="FFFFFF"/>
                </a:solidFill>
                <a:latin typeface="+mj-ea"/>
                <a:ea typeface="+mj-ea"/>
                <a:cs typeface="宋体"/>
              </a:rPr>
              <a:t>编译构建</a:t>
            </a:r>
            <a:endParaRPr sz="1200">
              <a:latin typeface="+mj-ea"/>
              <a:ea typeface="+mj-ea"/>
              <a:cs typeface="宋体"/>
            </a:endParaRPr>
          </a:p>
        </p:txBody>
      </p:sp>
      <p:sp>
        <p:nvSpPr>
          <p:cNvPr id="1046" name="object 19">
            <a:extLst>
              <a:ext uri="{FF2B5EF4-FFF2-40B4-BE49-F238E27FC236}">
                <a16:creationId xmlns:a16="http://schemas.microsoft.com/office/drawing/2014/main" id="{C4027ECC-3EF1-BA76-F237-27992D1E1A06}"/>
              </a:ext>
            </a:extLst>
          </p:cNvPr>
          <p:cNvSpPr txBox="1"/>
          <p:nvPr/>
        </p:nvSpPr>
        <p:spPr>
          <a:xfrm>
            <a:off x="4806827" y="2192723"/>
            <a:ext cx="1047115" cy="600710"/>
          </a:xfrm>
          <a:prstGeom prst="rect">
            <a:avLst/>
          </a:prstGeom>
          <a:solidFill>
            <a:srgbClr val="38A666"/>
          </a:solidFill>
        </p:spPr>
        <p:txBody>
          <a:bodyPr vert="horz" wrap="square" lIns="0" tIns="1905" rIns="0" bIns="0" rtlCol="0">
            <a:noAutofit/>
          </a:bodyPr>
          <a:lstStyle/>
          <a:p>
            <a:pPr>
              <a:lnSpc>
                <a:spcPct val="100000"/>
              </a:lnSpc>
              <a:spcBef>
                <a:spcPts val="15"/>
              </a:spcBef>
            </a:pPr>
            <a:endParaRPr sz="1400">
              <a:latin typeface="+mj-ea"/>
              <a:ea typeface="+mj-ea"/>
              <a:cs typeface="Times New Roman"/>
            </a:endParaRPr>
          </a:p>
          <a:p>
            <a:pPr marL="218440">
              <a:lnSpc>
                <a:spcPct val="100000"/>
              </a:lnSpc>
            </a:pPr>
            <a:r>
              <a:rPr sz="1200" spc="-15" dirty="0">
                <a:solidFill>
                  <a:srgbClr val="FFFFFF"/>
                </a:solidFill>
                <a:latin typeface="+mj-ea"/>
                <a:ea typeface="+mj-ea"/>
                <a:cs typeface="宋体"/>
              </a:rPr>
              <a:t>代码托管</a:t>
            </a:r>
            <a:endParaRPr sz="1200">
              <a:latin typeface="+mj-ea"/>
              <a:ea typeface="+mj-ea"/>
              <a:cs typeface="宋体"/>
            </a:endParaRPr>
          </a:p>
        </p:txBody>
      </p:sp>
      <p:sp>
        <p:nvSpPr>
          <p:cNvPr id="1047" name="object 20">
            <a:extLst>
              <a:ext uri="{FF2B5EF4-FFF2-40B4-BE49-F238E27FC236}">
                <a16:creationId xmlns:a16="http://schemas.microsoft.com/office/drawing/2014/main" id="{89B54CDC-4BA0-8C6F-3C5C-A587EACEA1C4}"/>
              </a:ext>
            </a:extLst>
          </p:cNvPr>
          <p:cNvSpPr txBox="1"/>
          <p:nvPr/>
        </p:nvSpPr>
        <p:spPr>
          <a:xfrm>
            <a:off x="3622679" y="2192723"/>
            <a:ext cx="1047115" cy="599440"/>
          </a:xfrm>
          <a:prstGeom prst="rect">
            <a:avLst/>
          </a:prstGeom>
          <a:solidFill>
            <a:srgbClr val="38A666"/>
          </a:solidFill>
        </p:spPr>
        <p:txBody>
          <a:bodyPr vert="horz" wrap="square" lIns="0" tIns="113664" rIns="0" bIns="0" rtlCol="0">
            <a:noAutofit/>
          </a:bodyPr>
          <a:lstStyle/>
          <a:p>
            <a:pPr marL="370205" marR="211454" indent="-152400">
              <a:lnSpc>
                <a:spcPct val="100000"/>
              </a:lnSpc>
              <a:spcBef>
                <a:spcPts val="894"/>
              </a:spcBef>
            </a:pPr>
            <a:r>
              <a:rPr sz="1200" spc="-15" dirty="0">
                <a:solidFill>
                  <a:srgbClr val="FFFFFF"/>
                </a:solidFill>
                <a:latin typeface="+mj-ea"/>
                <a:ea typeface="+mj-ea"/>
                <a:cs typeface="宋体"/>
              </a:rPr>
              <a:t>集成开发</a:t>
            </a:r>
            <a:r>
              <a:rPr sz="1200" spc="-25" dirty="0">
                <a:solidFill>
                  <a:srgbClr val="FFFFFF"/>
                </a:solidFill>
                <a:latin typeface="+mj-ea"/>
                <a:ea typeface="+mj-ea"/>
                <a:cs typeface="宋体"/>
              </a:rPr>
              <a:t>环境</a:t>
            </a:r>
            <a:endParaRPr sz="1200">
              <a:latin typeface="+mj-ea"/>
              <a:ea typeface="+mj-ea"/>
              <a:cs typeface="宋体"/>
            </a:endParaRPr>
          </a:p>
        </p:txBody>
      </p:sp>
      <p:sp>
        <p:nvSpPr>
          <p:cNvPr id="1048" name="object 21">
            <a:extLst>
              <a:ext uri="{FF2B5EF4-FFF2-40B4-BE49-F238E27FC236}">
                <a16:creationId xmlns:a16="http://schemas.microsoft.com/office/drawing/2014/main" id="{44622806-6192-FA5E-40CD-DA76CE94F6FA}"/>
              </a:ext>
            </a:extLst>
          </p:cNvPr>
          <p:cNvSpPr txBox="1"/>
          <p:nvPr/>
        </p:nvSpPr>
        <p:spPr>
          <a:xfrm>
            <a:off x="3622679" y="3864550"/>
            <a:ext cx="1047115" cy="599440"/>
          </a:xfrm>
          <a:prstGeom prst="rect">
            <a:avLst/>
          </a:prstGeom>
          <a:solidFill>
            <a:srgbClr val="38A666"/>
          </a:solidFill>
        </p:spPr>
        <p:txBody>
          <a:bodyPr vert="horz" wrap="square" lIns="0" tIns="1270" rIns="0" bIns="0" rtlCol="0">
            <a:noAutofit/>
          </a:bodyPr>
          <a:lstStyle/>
          <a:p>
            <a:pPr>
              <a:lnSpc>
                <a:spcPct val="100000"/>
              </a:lnSpc>
              <a:spcBef>
                <a:spcPts val="10"/>
              </a:spcBef>
            </a:pPr>
            <a:endParaRPr sz="1400">
              <a:latin typeface="+mj-ea"/>
              <a:ea typeface="+mj-ea"/>
              <a:cs typeface="Times New Roman"/>
            </a:endParaRPr>
          </a:p>
          <a:p>
            <a:pPr marL="217804">
              <a:lnSpc>
                <a:spcPct val="100000"/>
              </a:lnSpc>
            </a:pPr>
            <a:r>
              <a:rPr sz="1200" spc="-15" dirty="0">
                <a:solidFill>
                  <a:srgbClr val="FFFFFF"/>
                </a:solidFill>
                <a:latin typeface="+mj-ea"/>
                <a:ea typeface="+mj-ea"/>
                <a:cs typeface="宋体"/>
              </a:rPr>
              <a:t>部署发布</a:t>
            </a:r>
            <a:endParaRPr sz="1200">
              <a:latin typeface="+mj-ea"/>
              <a:ea typeface="+mj-ea"/>
              <a:cs typeface="宋体"/>
            </a:endParaRPr>
          </a:p>
        </p:txBody>
      </p:sp>
      <p:sp>
        <p:nvSpPr>
          <p:cNvPr id="1049" name="object 22">
            <a:extLst>
              <a:ext uri="{FF2B5EF4-FFF2-40B4-BE49-F238E27FC236}">
                <a16:creationId xmlns:a16="http://schemas.microsoft.com/office/drawing/2014/main" id="{A0355E1D-CF06-DA19-D28D-1AB72193C250}"/>
              </a:ext>
            </a:extLst>
          </p:cNvPr>
          <p:cNvSpPr txBox="1"/>
          <p:nvPr/>
        </p:nvSpPr>
        <p:spPr>
          <a:xfrm>
            <a:off x="3622679" y="4701226"/>
            <a:ext cx="1047115" cy="599440"/>
          </a:xfrm>
          <a:prstGeom prst="rect">
            <a:avLst/>
          </a:prstGeom>
          <a:solidFill>
            <a:srgbClr val="38A666"/>
          </a:solidFill>
        </p:spPr>
        <p:txBody>
          <a:bodyPr vert="horz" wrap="square" lIns="0" tIns="133350" rIns="0" bIns="0" rtlCol="0">
            <a:noAutofit/>
          </a:bodyPr>
          <a:lstStyle/>
          <a:p>
            <a:pPr marL="370205" marR="135255" indent="-228600">
              <a:lnSpc>
                <a:spcPts val="1380"/>
              </a:lnSpc>
              <a:spcBef>
                <a:spcPts val="1050"/>
              </a:spcBef>
            </a:pPr>
            <a:r>
              <a:rPr sz="1200" spc="-10" dirty="0">
                <a:solidFill>
                  <a:srgbClr val="FFFFFF"/>
                </a:solidFill>
                <a:latin typeface="+mj-ea"/>
                <a:ea typeface="+mj-ea"/>
                <a:cs typeface="宋体"/>
              </a:rPr>
              <a:t>移动端发布</a:t>
            </a:r>
            <a:r>
              <a:rPr sz="1200" spc="-25" dirty="0">
                <a:solidFill>
                  <a:srgbClr val="FFFFFF"/>
                </a:solidFill>
                <a:latin typeface="+mj-ea"/>
                <a:ea typeface="+mj-ea"/>
                <a:cs typeface="宋体"/>
              </a:rPr>
              <a:t>管理</a:t>
            </a:r>
            <a:endParaRPr sz="1200" dirty="0">
              <a:latin typeface="+mj-ea"/>
              <a:ea typeface="+mj-ea"/>
              <a:cs typeface="宋体"/>
            </a:endParaRPr>
          </a:p>
        </p:txBody>
      </p:sp>
      <p:sp>
        <p:nvSpPr>
          <p:cNvPr id="1050" name="object 23">
            <a:extLst>
              <a:ext uri="{FF2B5EF4-FFF2-40B4-BE49-F238E27FC236}">
                <a16:creationId xmlns:a16="http://schemas.microsoft.com/office/drawing/2014/main" id="{54AE8409-886C-568D-4C5E-B3D15B9181B6}"/>
              </a:ext>
            </a:extLst>
          </p:cNvPr>
          <p:cNvSpPr txBox="1"/>
          <p:nvPr/>
        </p:nvSpPr>
        <p:spPr>
          <a:xfrm>
            <a:off x="4806827" y="4698179"/>
            <a:ext cx="1047115" cy="600710"/>
          </a:xfrm>
          <a:prstGeom prst="rect">
            <a:avLst/>
          </a:prstGeom>
          <a:solidFill>
            <a:srgbClr val="38A666"/>
          </a:solidFill>
        </p:spPr>
        <p:txBody>
          <a:bodyPr vert="horz" wrap="square" lIns="0" tIns="2540" rIns="0" bIns="0" rtlCol="0">
            <a:noAutofit/>
          </a:bodyPr>
          <a:lstStyle/>
          <a:p>
            <a:pPr>
              <a:lnSpc>
                <a:spcPct val="100000"/>
              </a:lnSpc>
              <a:spcBef>
                <a:spcPts val="20"/>
              </a:spcBef>
            </a:pPr>
            <a:endParaRPr sz="1400" dirty="0">
              <a:latin typeface="+mj-ea"/>
              <a:ea typeface="+mj-ea"/>
              <a:cs typeface="Times New Roman"/>
            </a:endParaRPr>
          </a:p>
          <a:p>
            <a:pPr marL="218440">
              <a:lnSpc>
                <a:spcPct val="100000"/>
              </a:lnSpc>
            </a:pPr>
            <a:r>
              <a:rPr sz="1200" spc="-15" dirty="0">
                <a:solidFill>
                  <a:srgbClr val="FFFFFF"/>
                </a:solidFill>
                <a:latin typeface="+mj-ea"/>
                <a:ea typeface="+mj-ea"/>
                <a:cs typeface="宋体"/>
              </a:rPr>
              <a:t>制品管理</a:t>
            </a:r>
            <a:endParaRPr sz="1200" dirty="0">
              <a:latin typeface="+mj-ea"/>
              <a:ea typeface="+mj-ea"/>
              <a:cs typeface="宋体"/>
            </a:endParaRPr>
          </a:p>
        </p:txBody>
      </p:sp>
      <p:sp>
        <p:nvSpPr>
          <p:cNvPr id="1051" name="object 24">
            <a:extLst>
              <a:ext uri="{FF2B5EF4-FFF2-40B4-BE49-F238E27FC236}">
                <a16:creationId xmlns:a16="http://schemas.microsoft.com/office/drawing/2014/main" id="{95BF5E0D-12C4-26EB-0242-B8E23B1F8F61}"/>
              </a:ext>
            </a:extLst>
          </p:cNvPr>
          <p:cNvSpPr txBox="1"/>
          <p:nvPr/>
        </p:nvSpPr>
        <p:spPr>
          <a:xfrm>
            <a:off x="4806827" y="3863026"/>
            <a:ext cx="1047115" cy="600710"/>
          </a:xfrm>
          <a:prstGeom prst="rect">
            <a:avLst/>
          </a:prstGeom>
          <a:solidFill>
            <a:srgbClr val="38A666"/>
          </a:solidFill>
        </p:spPr>
        <p:txBody>
          <a:bodyPr vert="horz" wrap="square" lIns="0" tIns="1905" rIns="0" bIns="0" rtlCol="0">
            <a:noAutofit/>
          </a:bodyPr>
          <a:lstStyle/>
          <a:p>
            <a:pPr>
              <a:lnSpc>
                <a:spcPct val="100000"/>
              </a:lnSpc>
              <a:spcBef>
                <a:spcPts val="15"/>
              </a:spcBef>
            </a:pPr>
            <a:endParaRPr sz="1400">
              <a:latin typeface="+mj-ea"/>
              <a:ea typeface="+mj-ea"/>
              <a:cs typeface="Times New Roman"/>
            </a:endParaRPr>
          </a:p>
          <a:p>
            <a:pPr marL="294640">
              <a:lnSpc>
                <a:spcPct val="100000"/>
              </a:lnSpc>
            </a:pPr>
            <a:r>
              <a:rPr sz="1200" spc="-20" dirty="0">
                <a:solidFill>
                  <a:srgbClr val="FFFFFF"/>
                </a:solidFill>
                <a:latin typeface="+mj-ea"/>
                <a:ea typeface="+mj-ea"/>
                <a:cs typeface="宋体"/>
              </a:rPr>
              <a:t>流水线</a:t>
            </a:r>
            <a:endParaRPr sz="1200">
              <a:latin typeface="+mj-ea"/>
              <a:ea typeface="+mj-ea"/>
              <a:cs typeface="宋体"/>
            </a:endParaRPr>
          </a:p>
        </p:txBody>
      </p:sp>
      <p:sp>
        <p:nvSpPr>
          <p:cNvPr id="1052" name="object 25">
            <a:extLst>
              <a:ext uri="{FF2B5EF4-FFF2-40B4-BE49-F238E27FC236}">
                <a16:creationId xmlns:a16="http://schemas.microsoft.com/office/drawing/2014/main" id="{5DC0EEEC-BE4A-F222-2AAF-9AC1998B6773}"/>
              </a:ext>
            </a:extLst>
          </p:cNvPr>
          <p:cNvSpPr/>
          <p:nvPr/>
        </p:nvSpPr>
        <p:spPr>
          <a:xfrm>
            <a:off x="6056508" y="2105854"/>
            <a:ext cx="2414270" cy="3282950"/>
          </a:xfrm>
          <a:custGeom>
            <a:avLst/>
            <a:gdLst/>
            <a:ahLst/>
            <a:cxnLst/>
            <a:rect l="l" t="t" r="r" b="b"/>
            <a:pathLst>
              <a:path w="2414270" h="3282950">
                <a:moveTo>
                  <a:pt x="0" y="3282696"/>
                </a:moveTo>
                <a:lnTo>
                  <a:pt x="2414016" y="3282696"/>
                </a:lnTo>
                <a:lnTo>
                  <a:pt x="2414016" y="0"/>
                </a:lnTo>
                <a:lnTo>
                  <a:pt x="0" y="0"/>
                </a:lnTo>
                <a:lnTo>
                  <a:pt x="0" y="3282696"/>
                </a:lnTo>
                <a:close/>
              </a:path>
            </a:pathLst>
          </a:custGeom>
          <a:ln w="9144">
            <a:solidFill>
              <a:srgbClr val="404040"/>
            </a:solidFill>
          </a:ln>
        </p:spPr>
        <p:txBody>
          <a:bodyPr wrap="square" lIns="0" tIns="0" rIns="0" bIns="0" rtlCol="0">
            <a:noAutofit/>
          </a:bodyPr>
          <a:lstStyle/>
          <a:p>
            <a:endParaRPr>
              <a:latin typeface="+mj-ea"/>
              <a:ea typeface="+mj-ea"/>
            </a:endParaRPr>
          </a:p>
        </p:txBody>
      </p:sp>
      <p:sp>
        <p:nvSpPr>
          <p:cNvPr id="1053" name="object 26">
            <a:extLst>
              <a:ext uri="{FF2B5EF4-FFF2-40B4-BE49-F238E27FC236}">
                <a16:creationId xmlns:a16="http://schemas.microsoft.com/office/drawing/2014/main" id="{BADA86AE-ED03-D390-A643-EB81E7F9791D}"/>
              </a:ext>
            </a:extLst>
          </p:cNvPr>
          <p:cNvSpPr txBox="1"/>
          <p:nvPr/>
        </p:nvSpPr>
        <p:spPr>
          <a:xfrm>
            <a:off x="6173856" y="3027875"/>
            <a:ext cx="1049020" cy="600710"/>
          </a:xfrm>
          <a:prstGeom prst="rect">
            <a:avLst/>
          </a:prstGeom>
          <a:solidFill>
            <a:srgbClr val="38A666"/>
          </a:solidFill>
        </p:spPr>
        <p:txBody>
          <a:bodyPr vert="horz" wrap="square" lIns="0" tIns="1905" rIns="0" bIns="0" rtlCol="0">
            <a:noAutofit/>
          </a:bodyPr>
          <a:lstStyle/>
          <a:p>
            <a:pPr>
              <a:lnSpc>
                <a:spcPct val="100000"/>
              </a:lnSpc>
              <a:spcBef>
                <a:spcPts val="15"/>
              </a:spcBef>
            </a:pPr>
            <a:endParaRPr sz="1400">
              <a:latin typeface="+mj-ea"/>
              <a:ea typeface="+mj-ea"/>
              <a:cs typeface="Times New Roman"/>
            </a:endParaRPr>
          </a:p>
          <a:p>
            <a:pPr marL="219710">
              <a:lnSpc>
                <a:spcPct val="100000"/>
              </a:lnSpc>
            </a:pPr>
            <a:r>
              <a:rPr sz="1200" spc="-15" dirty="0">
                <a:solidFill>
                  <a:srgbClr val="FFFFFF"/>
                </a:solidFill>
                <a:latin typeface="+mj-ea"/>
                <a:ea typeface="+mj-ea"/>
                <a:cs typeface="宋体"/>
              </a:rPr>
              <a:t>代码扫描</a:t>
            </a:r>
            <a:endParaRPr sz="1200">
              <a:latin typeface="+mj-ea"/>
              <a:ea typeface="+mj-ea"/>
              <a:cs typeface="宋体"/>
            </a:endParaRPr>
          </a:p>
        </p:txBody>
      </p:sp>
      <p:sp>
        <p:nvSpPr>
          <p:cNvPr id="1054" name="object 27">
            <a:extLst>
              <a:ext uri="{FF2B5EF4-FFF2-40B4-BE49-F238E27FC236}">
                <a16:creationId xmlns:a16="http://schemas.microsoft.com/office/drawing/2014/main" id="{26752006-C2EC-3894-AA2A-49DDCAC1711B}"/>
              </a:ext>
            </a:extLst>
          </p:cNvPr>
          <p:cNvSpPr txBox="1"/>
          <p:nvPr/>
        </p:nvSpPr>
        <p:spPr>
          <a:xfrm>
            <a:off x="7359527" y="3027875"/>
            <a:ext cx="1047115" cy="600710"/>
          </a:xfrm>
          <a:prstGeom prst="rect">
            <a:avLst/>
          </a:prstGeom>
          <a:solidFill>
            <a:srgbClr val="38A666"/>
          </a:solidFill>
        </p:spPr>
        <p:txBody>
          <a:bodyPr vert="horz" wrap="square" lIns="0" tIns="1905" rIns="0" bIns="0" rtlCol="0">
            <a:noAutofit/>
          </a:bodyPr>
          <a:lstStyle/>
          <a:p>
            <a:pPr>
              <a:lnSpc>
                <a:spcPct val="100000"/>
              </a:lnSpc>
              <a:spcBef>
                <a:spcPts val="15"/>
              </a:spcBef>
            </a:pPr>
            <a:endParaRPr sz="1400">
              <a:latin typeface="+mj-ea"/>
              <a:ea typeface="+mj-ea"/>
              <a:cs typeface="Times New Roman"/>
            </a:endParaRPr>
          </a:p>
          <a:p>
            <a:pPr marL="218440">
              <a:lnSpc>
                <a:spcPct val="100000"/>
              </a:lnSpc>
            </a:pPr>
            <a:r>
              <a:rPr sz="1200" spc="-15" dirty="0">
                <a:solidFill>
                  <a:srgbClr val="FFFFFF"/>
                </a:solidFill>
                <a:latin typeface="+mj-ea"/>
                <a:ea typeface="+mj-ea"/>
                <a:cs typeface="宋体"/>
              </a:rPr>
              <a:t>接口测试</a:t>
            </a:r>
            <a:endParaRPr sz="1200">
              <a:latin typeface="+mj-ea"/>
              <a:ea typeface="+mj-ea"/>
              <a:cs typeface="宋体"/>
            </a:endParaRPr>
          </a:p>
        </p:txBody>
      </p:sp>
      <p:sp>
        <p:nvSpPr>
          <p:cNvPr id="1055" name="object 28">
            <a:extLst>
              <a:ext uri="{FF2B5EF4-FFF2-40B4-BE49-F238E27FC236}">
                <a16:creationId xmlns:a16="http://schemas.microsoft.com/office/drawing/2014/main" id="{022E7F04-A154-58F8-FD12-84359152A39E}"/>
              </a:ext>
            </a:extLst>
          </p:cNvPr>
          <p:cNvSpPr txBox="1"/>
          <p:nvPr/>
        </p:nvSpPr>
        <p:spPr>
          <a:xfrm>
            <a:off x="7359527" y="2192723"/>
            <a:ext cx="1047115" cy="600710"/>
          </a:xfrm>
          <a:prstGeom prst="rect">
            <a:avLst/>
          </a:prstGeom>
          <a:solidFill>
            <a:srgbClr val="38A666"/>
          </a:solidFill>
        </p:spPr>
        <p:txBody>
          <a:bodyPr vert="horz" wrap="square" lIns="0" tIns="1905" rIns="0" bIns="0" rtlCol="0">
            <a:noAutofit/>
          </a:bodyPr>
          <a:lstStyle/>
          <a:p>
            <a:pPr>
              <a:lnSpc>
                <a:spcPct val="100000"/>
              </a:lnSpc>
              <a:spcBef>
                <a:spcPts val="15"/>
              </a:spcBef>
            </a:pPr>
            <a:endParaRPr sz="1400">
              <a:latin typeface="+mj-ea"/>
              <a:ea typeface="+mj-ea"/>
              <a:cs typeface="Times New Roman"/>
            </a:endParaRPr>
          </a:p>
          <a:p>
            <a:pPr marL="218440">
              <a:lnSpc>
                <a:spcPct val="100000"/>
              </a:lnSpc>
            </a:pPr>
            <a:r>
              <a:rPr sz="1200" spc="-15" dirty="0">
                <a:solidFill>
                  <a:srgbClr val="FFFFFF"/>
                </a:solidFill>
                <a:latin typeface="+mj-ea"/>
                <a:ea typeface="+mj-ea"/>
                <a:cs typeface="宋体"/>
              </a:rPr>
              <a:t>数据管理</a:t>
            </a:r>
            <a:endParaRPr sz="1200">
              <a:latin typeface="+mj-ea"/>
              <a:ea typeface="+mj-ea"/>
              <a:cs typeface="宋体"/>
            </a:endParaRPr>
          </a:p>
        </p:txBody>
      </p:sp>
      <p:sp>
        <p:nvSpPr>
          <p:cNvPr id="1056" name="object 29">
            <a:extLst>
              <a:ext uri="{FF2B5EF4-FFF2-40B4-BE49-F238E27FC236}">
                <a16:creationId xmlns:a16="http://schemas.microsoft.com/office/drawing/2014/main" id="{EA049FB6-31C5-7281-63E2-182DD950EFB7}"/>
              </a:ext>
            </a:extLst>
          </p:cNvPr>
          <p:cNvSpPr txBox="1"/>
          <p:nvPr/>
        </p:nvSpPr>
        <p:spPr>
          <a:xfrm>
            <a:off x="6173856" y="2192723"/>
            <a:ext cx="1049020" cy="599440"/>
          </a:xfrm>
          <a:prstGeom prst="rect">
            <a:avLst/>
          </a:prstGeom>
          <a:solidFill>
            <a:srgbClr val="38A666"/>
          </a:solidFill>
        </p:spPr>
        <p:txBody>
          <a:bodyPr vert="horz" wrap="square" lIns="0" tIns="635" rIns="0" bIns="0" rtlCol="0">
            <a:noAutofit/>
          </a:bodyPr>
          <a:lstStyle/>
          <a:p>
            <a:pPr>
              <a:lnSpc>
                <a:spcPct val="100000"/>
              </a:lnSpc>
              <a:spcBef>
                <a:spcPts val="5"/>
              </a:spcBef>
            </a:pPr>
            <a:endParaRPr sz="1400">
              <a:latin typeface="+mj-ea"/>
              <a:ea typeface="+mj-ea"/>
              <a:cs typeface="Times New Roman"/>
            </a:endParaRPr>
          </a:p>
          <a:p>
            <a:pPr marL="219710">
              <a:lnSpc>
                <a:spcPct val="100000"/>
              </a:lnSpc>
            </a:pPr>
            <a:r>
              <a:rPr sz="1200" spc="-15" dirty="0">
                <a:solidFill>
                  <a:srgbClr val="FFFFFF"/>
                </a:solidFill>
                <a:latin typeface="+mj-ea"/>
                <a:ea typeface="+mj-ea"/>
                <a:cs typeface="宋体"/>
              </a:rPr>
              <a:t>用例管理</a:t>
            </a:r>
            <a:endParaRPr sz="1200">
              <a:latin typeface="+mj-ea"/>
              <a:ea typeface="+mj-ea"/>
              <a:cs typeface="宋体"/>
            </a:endParaRPr>
          </a:p>
        </p:txBody>
      </p:sp>
      <p:sp>
        <p:nvSpPr>
          <p:cNvPr id="1057" name="object 30">
            <a:extLst>
              <a:ext uri="{FF2B5EF4-FFF2-40B4-BE49-F238E27FC236}">
                <a16:creationId xmlns:a16="http://schemas.microsoft.com/office/drawing/2014/main" id="{246D6876-47C9-6D36-D1B8-88E7970A297C}"/>
              </a:ext>
            </a:extLst>
          </p:cNvPr>
          <p:cNvSpPr txBox="1"/>
          <p:nvPr/>
        </p:nvSpPr>
        <p:spPr>
          <a:xfrm>
            <a:off x="6173856" y="3864550"/>
            <a:ext cx="1049020" cy="599440"/>
          </a:xfrm>
          <a:prstGeom prst="rect">
            <a:avLst/>
          </a:prstGeom>
          <a:solidFill>
            <a:srgbClr val="38A666"/>
          </a:solidFill>
        </p:spPr>
        <p:txBody>
          <a:bodyPr vert="horz" wrap="square" lIns="0" tIns="1270" rIns="0" bIns="0" rtlCol="0">
            <a:noAutofit/>
          </a:bodyPr>
          <a:lstStyle/>
          <a:p>
            <a:pPr>
              <a:lnSpc>
                <a:spcPct val="100000"/>
              </a:lnSpc>
              <a:spcBef>
                <a:spcPts val="10"/>
              </a:spcBef>
            </a:pPr>
            <a:endParaRPr sz="1400">
              <a:latin typeface="+mj-ea"/>
              <a:ea typeface="+mj-ea"/>
              <a:cs typeface="Times New Roman"/>
            </a:endParaRPr>
          </a:p>
          <a:p>
            <a:pPr marL="295910">
              <a:lnSpc>
                <a:spcPct val="100000"/>
              </a:lnSpc>
            </a:pPr>
            <a:r>
              <a:rPr sz="1200" spc="-10" dirty="0">
                <a:solidFill>
                  <a:srgbClr val="FFFFFF"/>
                </a:solidFill>
                <a:latin typeface="+mj-ea"/>
                <a:ea typeface="+mj-ea"/>
                <a:cs typeface="Arial"/>
              </a:rPr>
              <a:t>UI</a:t>
            </a:r>
            <a:r>
              <a:rPr sz="1200" spc="-25" dirty="0">
                <a:solidFill>
                  <a:srgbClr val="FFFFFF"/>
                </a:solidFill>
                <a:latin typeface="+mj-ea"/>
                <a:ea typeface="+mj-ea"/>
                <a:cs typeface="宋体"/>
              </a:rPr>
              <a:t>测试</a:t>
            </a:r>
            <a:endParaRPr sz="1200">
              <a:latin typeface="+mj-ea"/>
              <a:ea typeface="+mj-ea"/>
              <a:cs typeface="宋体"/>
            </a:endParaRPr>
          </a:p>
        </p:txBody>
      </p:sp>
      <p:sp>
        <p:nvSpPr>
          <p:cNvPr id="1058" name="object 31">
            <a:extLst>
              <a:ext uri="{FF2B5EF4-FFF2-40B4-BE49-F238E27FC236}">
                <a16:creationId xmlns:a16="http://schemas.microsoft.com/office/drawing/2014/main" id="{8F7B2B86-0B34-F280-4B1A-AB70B5FEBCCF}"/>
              </a:ext>
            </a:extLst>
          </p:cNvPr>
          <p:cNvSpPr txBox="1"/>
          <p:nvPr/>
        </p:nvSpPr>
        <p:spPr>
          <a:xfrm>
            <a:off x="6173856" y="4701226"/>
            <a:ext cx="1049020" cy="599440"/>
          </a:xfrm>
          <a:prstGeom prst="rect">
            <a:avLst/>
          </a:prstGeom>
          <a:solidFill>
            <a:srgbClr val="38A666"/>
          </a:solidFill>
        </p:spPr>
        <p:txBody>
          <a:bodyPr vert="horz" wrap="square" lIns="0" tIns="635" rIns="0" bIns="0" rtlCol="0">
            <a:noAutofit/>
          </a:bodyPr>
          <a:lstStyle/>
          <a:p>
            <a:pPr>
              <a:lnSpc>
                <a:spcPct val="100000"/>
              </a:lnSpc>
              <a:spcBef>
                <a:spcPts val="5"/>
              </a:spcBef>
            </a:pPr>
            <a:endParaRPr sz="1400">
              <a:latin typeface="+mj-ea"/>
              <a:ea typeface="+mj-ea"/>
              <a:cs typeface="Times New Roman"/>
            </a:endParaRPr>
          </a:p>
          <a:p>
            <a:pPr marL="219710">
              <a:lnSpc>
                <a:spcPct val="100000"/>
              </a:lnSpc>
            </a:pPr>
            <a:r>
              <a:rPr sz="1200" spc="-15" dirty="0">
                <a:solidFill>
                  <a:srgbClr val="FFFFFF"/>
                </a:solidFill>
                <a:latin typeface="+mj-ea"/>
                <a:ea typeface="+mj-ea"/>
                <a:cs typeface="宋体"/>
              </a:rPr>
              <a:t>单元测试</a:t>
            </a:r>
            <a:endParaRPr sz="1200">
              <a:latin typeface="+mj-ea"/>
              <a:ea typeface="+mj-ea"/>
              <a:cs typeface="宋体"/>
            </a:endParaRPr>
          </a:p>
        </p:txBody>
      </p:sp>
      <p:sp>
        <p:nvSpPr>
          <p:cNvPr id="1059" name="object 32">
            <a:extLst>
              <a:ext uri="{FF2B5EF4-FFF2-40B4-BE49-F238E27FC236}">
                <a16:creationId xmlns:a16="http://schemas.microsoft.com/office/drawing/2014/main" id="{58441614-BB2C-AAA1-FF8C-EB5E2A8B072E}"/>
              </a:ext>
            </a:extLst>
          </p:cNvPr>
          <p:cNvSpPr txBox="1"/>
          <p:nvPr/>
        </p:nvSpPr>
        <p:spPr>
          <a:xfrm>
            <a:off x="7359527" y="4698179"/>
            <a:ext cx="1047115" cy="600710"/>
          </a:xfrm>
          <a:prstGeom prst="rect">
            <a:avLst/>
          </a:prstGeom>
          <a:solidFill>
            <a:srgbClr val="38A666"/>
          </a:solidFill>
        </p:spPr>
        <p:txBody>
          <a:bodyPr vert="horz" wrap="square" lIns="0" tIns="1905" rIns="0" bIns="0" rtlCol="0">
            <a:noAutofit/>
          </a:bodyPr>
          <a:lstStyle/>
          <a:p>
            <a:pPr>
              <a:lnSpc>
                <a:spcPct val="100000"/>
              </a:lnSpc>
              <a:spcBef>
                <a:spcPts val="15"/>
              </a:spcBef>
            </a:pPr>
            <a:endParaRPr sz="1100">
              <a:latin typeface="+mj-ea"/>
              <a:ea typeface="+mj-ea"/>
              <a:cs typeface="Times New Roman"/>
            </a:endParaRPr>
          </a:p>
          <a:p>
            <a:pPr marL="1270" algn="ctr">
              <a:lnSpc>
                <a:spcPct val="100000"/>
              </a:lnSpc>
            </a:pPr>
            <a:r>
              <a:rPr sz="900" dirty="0">
                <a:solidFill>
                  <a:srgbClr val="FFFFFF"/>
                </a:solidFill>
                <a:latin typeface="+mj-ea"/>
                <a:ea typeface="+mj-ea"/>
                <a:cs typeface="宋体"/>
              </a:rPr>
              <a:t>性能测试</a:t>
            </a:r>
            <a:r>
              <a:rPr sz="900" spc="-50" dirty="0">
                <a:solidFill>
                  <a:srgbClr val="FFFFFF"/>
                </a:solidFill>
                <a:latin typeface="+mj-ea"/>
                <a:ea typeface="+mj-ea"/>
                <a:cs typeface="Arial"/>
              </a:rPr>
              <a:t>/</a:t>
            </a:r>
            <a:endParaRPr sz="900">
              <a:latin typeface="+mj-ea"/>
              <a:ea typeface="+mj-ea"/>
              <a:cs typeface="Arial"/>
            </a:endParaRPr>
          </a:p>
          <a:p>
            <a:pPr marL="1270" algn="ctr">
              <a:lnSpc>
                <a:spcPct val="100000"/>
              </a:lnSpc>
            </a:pPr>
            <a:r>
              <a:rPr sz="900" spc="-10" dirty="0">
                <a:solidFill>
                  <a:srgbClr val="FFFFFF"/>
                </a:solidFill>
                <a:latin typeface="+mj-ea"/>
                <a:ea typeface="+mj-ea"/>
                <a:cs typeface="宋体"/>
              </a:rPr>
              <a:t>客户端性能测试</a:t>
            </a:r>
            <a:endParaRPr sz="900">
              <a:latin typeface="+mj-ea"/>
              <a:ea typeface="+mj-ea"/>
              <a:cs typeface="宋体"/>
            </a:endParaRPr>
          </a:p>
        </p:txBody>
      </p:sp>
      <p:sp>
        <p:nvSpPr>
          <p:cNvPr id="1060" name="object 33">
            <a:extLst>
              <a:ext uri="{FF2B5EF4-FFF2-40B4-BE49-F238E27FC236}">
                <a16:creationId xmlns:a16="http://schemas.microsoft.com/office/drawing/2014/main" id="{27A9FB84-ECDC-E00B-6512-72B4AC6714F7}"/>
              </a:ext>
            </a:extLst>
          </p:cNvPr>
          <p:cNvSpPr txBox="1"/>
          <p:nvPr/>
        </p:nvSpPr>
        <p:spPr>
          <a:xfrm>
            <a:off x="7359527" y="3863026"/>
            <a:ext cx="1047115" cy="600710"/>
          </a:xfrm>
          <a:prstGeom prst="rect">
            <a:avLst/>
          </a:prstGeom>
          <a:solidFill>
            <a:srgbClr val="38A666"/>
          </a:solidFill>
        </p:spPr>
        <p:txBody>
          <a:bodyPr vert="horz" wrap="square" lIns="0" tIns="1905" rIns="0" bIns="0" rtlCol="0">
            <a:noAutofit/>
          </a:bodyPr>
          <a:lstStyle/>
          <a:p>
            <a:pPr>
              <a:lnSpc>
                <a:spcPct val="100000"/>
              </a:lnSpc>
              <a:spcBef>
                <a:spcPts val="15"/>
              </a:spcBef>
            </a:pPr>
            <a:endParaRPr sz="1400">
              <a:latin typeface="+mj-ea"/>
              <a:ea typeface="+mj-ea"/>
              <a:cs typeface="Times New Roman"/>
            </a:endParaRPr>
          </a:p>
          <a:p>
            <a:pPr marL="218440">
              <a:lnSpc>
                <a:spcPct val="100000"/>
              </a:lnSpc>
            </a:pPr>
            <a:r>
              <a:rPr sz="1200" spc="-15" dirty="0">
                <a:solidFill>
                  <a:srgbClr val="FFFFFF"/>
                </a:solidFill>
                <a:latin typeface="+mj-ea"/>
                <a:ea typeface="+mj-ea"/>
                <a:cs typeface="宋体"/>
              </a:rPr>
              <a:t>适配测试</a:t>
            </a:r>
            <a:endParaRPr sz="1200">
              <a:latin typeface="+mj-ea"/>
              <a:ea typeface="+mj-ea"/>
              <a:cs typeface="宋体"/>
            </a:endParaRPr>
          </a:p>
        </p:txBody>
      </p:sp>
      <p:sp>
        <p:nvSpPr>
          <p:cNvPr id="1061" name="object 34">
            <a:extLst>
              <a:ext uri="{FF2B5EF4-FFF2-40B4-BE49-F238E27FC236}">
                <a16:creationId xmlns:a16="http://schemas.microsoft.com/office/drawing/2014/main" id="{B8C0A7A5-079E-2AC1-530D-5031B0147170}"/>
              </a:ext>
            </a:extLst>
          </p:cNvPr>
          <p:cNvSpPr/>
          <p:nvPr/>
        </p:nvSpPr>
        <p:spPr>
          <a:xfrm>
            <a:off x="8589396" y="2104331"/>
            <a:ext cx="2415540" cy="3282950"/>
          </a:xfrm>
          <a:custGeom>
            <a:avLst/>
            <a:gdLst/>
            <a:ahLst/>
            <a:cxnLst/>
            <a:rect l="l" t="t" r="r" b="b"/>
            <a:pathLst>
              <a:path w="2415540" h="3282950">
                <a:moveTo>
                  <a:pt x="0" y="3282696"/>
                </a:moveTo>
                <a:lnTo>
                  <a:pt x="2415540" y="3282696"/>
                </a:lnTo>
                <a:lnTo>
                  <a:pt x="2415540" y="0"/>
                </a:lnTo>
                <a:lnTo>
                  <a:pt x="0" y="0"/>
                </a:lnTo>
                <a:lnTo>
                  <a:pt x="0" y="3282696"/>
                </a:lnTo>
                <a:close/>
              </a:path>
            </a:pathLst>
          </a:custGeom>
          <a:ln w="9143">
            <a:solidFill>
              <a:srgbClr val="404040"/>
            </a:solidFill>
          </a:ln>
        </p:spPr>
        <p:txBody>
          <a:bodyPr wrap="square" lIns="0" tIns="0" rIns="0" bIns="0" rtlCol="0">
            <a:noAutofit/>
          </a:bodyPr>
          <a:lstStyle/>
          <a:p>
            <a:endParaRPr>
              <a:latin typeface="+mj-ea"/>
              <a:ea typeface="+mj-ea"/>
            </a:endParaRPr>
          </a:p>
        </p:txBody>
      </p:sp>
      <p:sp>
        <p:nvSpPr>
          <p:cNvPr id="1062" name="object 35">
            <a:extLst>
              <a:ext uri="{FF2B5EF4-FFF2-40B4-BE49-F238E27FC236}">
                <a16:creationId xmlns:a16="http://schemas.microsoft.com/office/drawing/2014/main" id="{84178AD1-3834-5866-46CE-14F894BCB85E}"/>
              </a:ext>
            </a:extLst>
          </p:cNvPr>
          <p:cNvSpPr txBox="1"/>
          <p:nvPr/>
        </p:nvSpPr>
        <p:spPr>
          <a:xfrm>
            <a:off x="8708267" y="2192723"/>
            <a:ext cx="1047115" cy="599440"/>
          </a:xfrm>
          <a:prstGeom prst="rect">
            <a:avLst/>
          </a:prstGeom>
          <a:solidFill>
            <a:srgbClr val="38A666"/>
          </a:solidFill>
        </p:spPr>
        <p:txBody>
          <a:bodyPr vert="horz" wrap="square" lIns="0" tIns="635" rIns="0" bIns="0" rtlCol="0">
            <a:noAutofit/>
          </a:bodyPr>
          <a:lstStyle/>
          <a:p>
            <a:pPr>
              <a:lnSpc>
                <a:spcPct val="100000"/>
              </a:lnSpc>
              <a:spcBef>
                <a:spcPts val="5"/>
              </a:spcBef>
            </a:pPr>
            <a:endParaRPr sz="1400">
              <a:latin typeface="+mj-ea"/>
              <a:ea typeface="+mj-ea"/>
              <a:cs typeface="Times New Roman"/>
            </a:endParaRPr>
          </a:p>
          <a:p>
            <a:pPr marL="219075">
              <a:lnSpc>
                <a:spcPct val="100000"/>
              </a:lnSpc>
            </a:pPr>
            <a:r>
              <a:rPr sz="1200" spc="-15" dirty="0">
                <a:solidFill>
                  <a:srgbClr val="FFFFFF"/>
                </a:solidFill>
                <a:latin typeface="+mj-ea"/>
                <a:ea typeface="+mj-ea"/>
                <a:cs typeface="宋体"/>
              </a:rPr>
              <a:t>监控管理</a:t>
            </a:r>
            <a:endParaRPr sz="1200">
              <a:latin typeface="+mj-ea"/>
              <a:ea typeface="+mj-ea"/>
              <a:cs typeface="宋体"/>
            </a:endParaRPr>
          </a:p>
        </p:txBody>
      </p:sp>
      <p:sp>
        <p:nvSpPr>
          <p:cNvPr id="1063" name="object 36">
            <a:extLst>
              <a:ext uri="{FF2B5EF4-FFF2-40B4-BE49-F238E27FC236}">
                <a16:creationId xmlns:a16="http://schemas.microsoft.com/office/drawing/2014/main" id="{9425DA59-4863-5C2A-E39B-5612FD4BD1AD}"/>
              </a:ext>
            </a:extLst>
          </p:cNvPr>
          <p:cNvSpPr txBox="1"/>
          <p:nvPr/>
        </p:nvSpPr>
        <p:spPr>
          <a:xfrm>
            <a:off x="9892415" y="3027875"/>
            <a:ext cx="1047115" cy="599440"/>
          </a:xfrm>
          <a:prstGeom prst="rect">
            <a:avLst/>
          </a:prstGeom>
          <a:solidFill>
            <a:srgbClr val="38A666"/>
          </a:solidFill>
        </p:spPr>
        <p:txBody>
          <a:bodyPr vert="horz" wrap="square" lIns="0" tIns="635" rIns="0" bIns="0" rtlCol="0">
            <a:noAutofit/>
          </a:bodyPr>
          <a:lstStyle/>
          <a:p>
            <a:pPr>
              <a:lnSpc>
                <a:spcPct val="100000"/>
              </a:lnSpc>
              <a:spcBef>
                <a:spcPts val="5"/>
              </a:spcBef>
            </a:pPr>
            <a:endParaRPr sz="1400">
              <a:latin typeface="+mj-ea"/>
              <a:ea typeface="+mj-ea"/>
              <a:cs typeface="Times New Roman"/>
            </a:endParaRPr>
          </a:p>
          <a:p>
            <a:pPr marL="219710">
              <a:lnSpc>
                <a:spcPct val="100000"/>
              </a:lnSpc>
            </a:pPr>
            <a:r>
              <a:rPr sz="1200" spc="-15" dirty="0">
                <a:solidFill>
                  <a:srgbClr val="FFFFFF"/>
                </a:solidFill>
                <a:latin typeface="+mj-ea"/>
                <a:ea typeface="+mj-ea"/>
                <a:cs typeface="宋体"/>
              </a:rPr>
              <a:t>变更管理</a:t>
            </a:r>
            <a:endParaRPr sz="1200">
              <a:latin typeface="+mj-ea"/>
              <a:ea typeface="+mj-ea"/>
              <a:cs typeface="宋体"/>
            </a:endParaRPr>
          </a:p>
        </p:txBody>
      </p:sp>
      <p:sp>
        <p:nvSpPr>
          <p:cNvPr id="1064" name="object 37">
            <a:extLst>
              <a:ext uri="{FF2B5EF4-FFF2-40B4-BE49-F238E27FC236}">
                <a16:creationId xmlns:a16="http://schemas.microsoft.com/office/drawing/2014/main" id="{E790979C-A2D9-F63D-E396-6D263005B0CD}"/>
              </a:ext>
            </a:extLst>
          </p:cNvPr>
          <p:cNvSpPr txBox="1"/>
          <p:nvPr/>
        </p:nvSpPr>
        <p:spPr>
          <a:xfrm>
            <a:off x="9892415" y="2192723"/>
            <a:ext cx="1047115" cy="599440"/>
          </a:xfrm>
          <a:prstGeom prst="rect">
            <a:avLst/>
          </a:prstGeom>
          <a:solidFill>
            <a:srgbClr val="38A666"/>
          </a:solidFill>
        </p:spPr>
        <p:txBody>
          <a:bodyPr vert="horz" wrap="square" lIns="0" tIns="635" rIns="0" bIns="0" rtlCol="0">
            <a:noAutofit/>
          </a:bodyPr>
          <a:lstStyle/>
          <a:p>
            <a:pPr>
              <a:lnSpc>
                <a:spcPct val="100000"/>
              </a:lnSpc>
              <a:spcBef>
                <a:spcPts val="5"/>
              </a:spcBef>
            </a:pPr>
            <a:endParaRPr sz="1400">
              <a:latin typeface="+mj-ea"/>
              <a:ea typeface="+mj-ea"/>
              <a:cs typeface="Times New Roman"/>
            </a:endParaRPr>
          </a:p>
          <a:p>
            <a:pPr marL="219710">
              <a:lnSpc>
                <a:spcPct val="100000"/>
              </a:lnSpc>
            </a:pPr>
            <a:r>
              <a:rPr sz="1200" spc="-15" dirty="0">
                <a:solidFill>
                  <a:srgbClr val="FFFFFF"/>
                </a:solidFill>
                <a:latin typeface="+mj-ea"/>
                <a:ea typeface="+mj-ea"/>
                <a:cs typeface="宋体"/>
              </a:rPr>
              <a:t>资源管理</a:t>
            </a:r>
            <a:endParaRPr sz="1200">
              <a:latin typeface="+mj-ea"/>
              <a:ea typeface="+mj-ea"/>
              <a:cs typeface="宋体"/>
            </a:endParaRPr>
          </a:p>
        </p:txBody>
      </p:sp>
      <p:sp>
        <p:nvSpPr>
          <p:cNvPr id="1065" name="object 38">
            <a:extLst>
              <a:ext uri="{FF2B5EF4-FFF2-40B4-BE49-F238E27FC236}">
                <a16:creationId xmlns:a16="http://schemas.microsoft.com/office/drawing/2014/main" id="{4AC07EA7-9B11-8F11-95F7-CF60E2934990}"/>
              </a:ext>
            </a:extLst>
          </p:cNvPr>
          <p:cNvSpPr txBox="1"/>
          <p:nvPr/>
        </p:nvSpPr>
        <p:spPr>
          <a:xfrm>
            <a:off x="8708267" y="3027875"/>
            <a:ext cx="1047115" cy="599440"/>
          </a:xfrm>
          <a:prstGeom prst="rect">
            <a:avLst/>
          </a:prstGeom>
          <a:solidFill>
            <a:srgbClr val="38A666"/>
          </a:solidFill>
        </p:spPr>
        <p:txBody>
          <a:bodyPr vert="horz" wrap="square" lIns="0" tIns="635" rIns="0" bIns="0" rtlCol="0">
            <a:noAutofit/>
          </a:bodyPr>
          <a:lstStyle/>
          <a:p>
            <a:pPr>
              <a:lnSpc>
                <a:spcPct val="100000"/>
              </a:lnSpc>
              <a:spcBef>
                <a:spcPts val="5"/>
              </a:spcBef>
            </a:pPr>
            <a:endParaRPr sz="1400">
              <a:latin typeface="+mj-ea"/>
              <a:ea typeface="+mj-ea"/>
              <a:cs typeface="Times New Roman"/>
            </a:endParaRPr>
          </a:p>
          <a:p>
            <a:pPr marL="219075">
              <a:lnSpc>
                <a:spcPct val="100000"/>
              </a:lnSpc>
            </a:pPr>
            <a:r>
              <a:rPr sz="1200" spc="-15" dirty="0">
                <a:solidFill>
                  <a:srgbClr val="FFFFFF"/>
                </a:solidFill>
                <a:latin typeface="+mj-ea"/>
                <a:ea typeface="+mj-ea"/>
                <a:cs typeface="宋体"/>
              </a:rPr>
              <a:t>日志管理</a:t>
            </a:r>
            <a:endParaRPr sz="1200">
              <a:latin typeface="+mj-ea"/>
              <a:ea typeface="+mj-ea"/>
              <a:cs typeface="宋体"/>
            </a:endParaRPr>
          </a:p>
        </p:txBody>
      </p:sp>
      <p:sp>
        <p:nvSpPr>
          <p:cNvPr id="1066" name="object 39">
            <a:extLst>
              <a:ext uri="{FF2B5EF4-FFF2-40B4-BE49-F238E27FC236}">
                <a16:creationId xmlns:a16="http://schemas.microsoft.com/office/drawing/2014/main" id="{D9404501-D0B4-5FB9-A9A5-CE59E6B0D1ED}"/>
              </a:ext>
            </a:extLst>
          </p:cNvPr>
          <p:cNvSpPr txBox="1"/>
          <p:nvPr/>
        </p:nvSpPr>
        <p:spPr>
          <a:xfrm>
            <a:off x="8708267" y="3863026"/>
            <a:ext cx="1047115" cy="599440"/>
          </a:xfrm>
          <a:prstGeom prst="rect">
            <a:avLst/>
          </a:prstGeom>
          <a:solidFill>
            <a:srgbClr val="38A666"/>
          </a:solidFill>
        </p:spPr>
        <p:txBody>
          <a:bodyPr vert="horz" wrap="square" lIns="0" tIns="635" rIns="0" bIns="0" rtlCol="0">
            <a:noAutofit/>
          </a:bodyPr>
          <a:lstStyle/>
          <a:p>
            <a:pPr>
              <a:lnSpc>
                <a:spcPct val="100000"/>
              </a:lnSpc>
              <a:spcBef>
                <a:spcPts val="5"/>
              </a:spcBef>
            </a:pPr>
            <a:endParaRPr sz="1400">
              <a:latin typeface="+mj-ea"/>
              <a:ea typeface="+mj-ea"/>
              <a:cs typeface="Times New Roman"/>
            </a:endParaRPr>
          </a:p>
          <a:p>
            <a:pPr marL="219075">
              <a:lnSpc>
                <a:spcPct val="100000"/>
              </a:lnSpc>
            </a:pPr>
            <a:r>
              <a:rPr sz="1200" spc="-15" dirty="0">
                <a:solidFill>
                  <a:srgbClr val="FFFFFF"/>
                </a:solidFill>
                <a:latin typeface="+mj-ea"/>
                <a:ea typeface="+mj-ea"/>
                <a:cs typeface="宋体"/>
              </a:rPr>
              <a:t>故障管理</a:t>
            </a:r>
            <a:endParaRPr sz="1200">
              <a:latin typeface="+mj-ea"/>
              <a:ea typeface="+mj-ea"/>
              <a:cs typeface="宋体"/>
            </a:endParaRPr>
          </a:p>
        </p:txBody>
      </p:sp>
      <p:sp>
        <p:nvSpPr>
          <p:cNvPr id="1067" name="object 40">
            <a:extLst>
              <a:ext uri="{FF2B5EF4-FFF2-40B4-BE49-F238E27FC236}">
                <a16:creationId xmlns:a16="http://schemas.microsoft.com/office/drawing/2014/main" id="{EA7BD381-EF2E-91A6-27D2-6876FA7E5803}"/>
              </a:ext>
            </a:extLst>
          </p:cNvPr>
          <p:cNvSpPr txBox="1"/>
          <p:nvPr/>
        </p:nvSpPr>
        <p:spPr>
          <a:xfrm>
            <a:off x="9892415" y="3863026"/>
            <a:ext cx="1047115" cy="599440"/>
          </a:xfrm>
          <a:prstGeom prst="rect">
            <a:avLst/>
          </a:prstGeom>
          <a:solidFill>
            <a:srgbClr val="38A666"/>
          </a:solidFill>
        </p:spPr>
        <p:txBody>
          <a:bodyPr vert="horz" wrap="square" lIns="0" tIns="6350" rIns="0" bIns="0" rtlCol="0">
            <a:noAutofit/>
          </a:bodyPr>
          <a:lstStyle/>
          <a:p>
            <a:pPr>
              <a:lnSpc>
                <a:spcPct val="100000"/>
              </a:lnSpc>
              <a:spcBef>
                <a:spcPts val="50"/>
              </a:spcBef>
            </a:pPr>
            <a:endParaRPr sz="1350">
              <a:latin typeface="+mj-ea"/>
              <a:ea typeface="+mj-ea"/>
              <a:cs typeface="Times New Roman"/>
            </a:endParaRPr>
          </a:p>
          <a:p>
            <a:pPr marL="300355">
              <a:lnSpc>
                <a:spcPct val="100000"/>
              </a:lnSpc>
            </a:pPr>
            <a:r>
              <a:rPr sz="1200" spc="-20" dirty="0">
                <a:solidFill>
                  <a:srgbClr val="FFFFFF"/>
                </a:solidFill>
                <a:latin typeface="+mj-ea"/>
                <a:ea typeface="+mj-ea"/>
                <a:cs typeface="Arial"/>
              </a:rPr>
              <a:t>CMDB</a:t>
            </a:r>
            <a:endParaRPr sz="1200">
              <a:latin typeface="+mj-ea"/>
              <a:ea typeface="+mj-ea"/>
              <a:cs typeface="Arial"/>
            </a:endParaRPr>
          </a:p>
        </p:txBody>
      </p:sp>
      <p:sp>
        <p:nvSpPr>
          <p:cNvPr id="1068" name="object 41">
            <a:extLst>
              <a:ext uri="{FF2B5EF4-FFF2-40B4-BE49-F238E27FC236}">
                <a16:creationId xmlns:a16="http://schemas.microsoft.com/office/drawing/2014/main" id="{F2CF903B-C3B3-360E-9722-0648D97E40D6}"/>
              </a:ext>
            </a:extLst>
          </p:cNvPr>
          <p:cNvSpPr txBox="1"/>
          <p:nvPr/>
        </p:nvSpPr>
        <p:spPr>
          <a:xfrm>
            <a:off x="945011" y="5554667"/>
            <a:ext cx="518159" cy="792480"/>
          </a:xfrm>
          <a:prstGeom prst="rect">
            <a:avLst/>
          </a:prstGeom>
          <a:solidFill>
            <a:srgbClr val="248ED0"/>
          </a:solidFill>
        </p:spPr>
        <p:txBody>
          <a:bodyPr vert="horz" wrap="square" lIns="0" tIns="0" rIns="0" bIns="0" rtlCol="0">
            <a:noAutofit/>
          </a:bodyPr>
          <a:lstStyle/>
          <a:p>
            <a:pPr>
              <a:lnSpc>
                <a:spcPct val="100000"/>
              </a:lnSpc>
            </a:pPr>
            <a:endParaRPr sz="1500">
              <a:latin typeface="+mj-ea"/>
              <a:ea typeface="+mj-ea"/>
              <a:cs typeface="Times New Roman"/>
            </a:endParaRPr>
          </a:p>
          <a:p>
            <a:pPr marL="104139">
              <a:lnSpc>
                <a:spcPts val="1410"/>
              </a:lnSpc>
            </a:pPr>
            <a:r>
              <a:rPr sz="1200" b="1" spc="-25" dirty="0">
                <a:solidFill>
                  <a:srgbClr val="FFFFFF"/>
                </a:solidFill>
                <a:latin typeface="+mj-ea"/>
                <a:ea typeface="+mj-ea"/>
                <a:cs typeface="Microsoft JhengHei"/>
              </a:rPr>
              <a:t>安全</a:t>
            </a:r>
            <a:endParaRPr sz="1200">
              <a:latin typeface="+mj-ea"/>
              <a:ea typeface="+mj-ea"/>
              <a:cs typeface="Microsoft JhengHei"/>
            </a:endParaRPr>
          </a:p>
          <a:p>
            <a:pPr marL="104139">
              <a:lnSpc>
                <a:spcPts val="1410"/>
              </a:lnSpc>
            </a:pPr>
            <a:r>
              <a:rPr sz="1200" b="1" spc="-25" dirty="0">
                <a:solidFill>
                  <a:srgbClr val="FFFFFF"/>
                </a:solidFill>
                <a:latin typeface="+mj-ea"/>
                <a:ea typeface="+mj-ea"/>
                <a:cs typeface="Microsoft JhengHei"/>
              </a:rPr>
              <a:t>能力</a:t>
            </a:r>
            <a:endParaRPr sz="1200">
              <a:latin typeface="+mj-ea"/>
              <a:ea typeface="+mj-ea"/>
              <a:cs typeface="Microsoft JhengHei"/>
            </a:endParaRPr>
          </a:p>
        </p:txBody>
      </p:sp>
      <p:sp>
        <p:nvSpPr>
          <p:cNvPr id="1069" name="object 42">
            <a:extLst>
              <a:ext uri="{FF2B5EF4-FFF2-40B4-BE49-F238E27FC236}">
                <a16:creationId xmlns:a16="http://schemas.microsoft.com/office/drawing/2014/main" id="{2B0AE82D-3B16-7199-901E-C6289A7C9E80}"/>
              </a:ext>
            </a:extLst>
          </p:cNvPr>
          <p:cNvSpPr/>
          <p:nvPr/>
        </p:nvSpPr>
        <p:spPr>
          <a:xfrm>
            <a:off x="1513464" y="5560762"/>
            <a:ext cx="9491472" cy="780415"/>
          </a:xfrm>
          <a:custGeom>
            <a:avLst/>
            <a:gdLst/>
            <a:ahLst/>
            <a:cxnLst/>
            <a:rect l="l" t="t" r="r" b="b"/>
            <a:pathLst>
              <a:path w="9324340" h="780414">
                <a:moveTo>
                  <a:pt x="0" y="780288"/>
                </a:moveTo>
                <a:lnTo>
                  <a:pt x="9323832" y="780288"/>
                </a:lnTo>
                <a:lnTo>
                  <a:pt x="9323832" y="0"/>
                </a:lnTo>
                <a:lnTo>
                  <a:pt x="0" y="0"/>
                </a:lnTo>
                <a:lnTo>
                  <a:pt x="0" y="780288"/>
                </a:lnTo>
                <a:close/>
              </a:path>
            </a:pathLst>
          </a:custGeom>
          <a:ln w="9144">
            <a:solidFill>
              <a:srgbClr val="404040"/>
            </a:solidFill>
          </a:ln>
        </p:spPr>
        <p:txBody>
          <a:bodyPr wrap="square" lIns="0" tIns="0" rIns="0" bIns="0" rtlCol="0">
            <a:noAutofit/>
          </a:bodyPr>
          <a:lstStyle/>
          <a:p>
            <a:endParaRPr>
              <a:latin typeface="+mj-ea"/>
              <a:ea typeface="+mj-ea"/>
            </a:endParaRPr>
          </a:p>
        </p:txBody>
      </p:sp>
      <p:sp>
        <p:nvSpPr>
          <p:cNvPr id="1070" name="object 43">
            <a:extLst>
              <a:ext uri="{FF2B5EF4-FFF2-40B4-BE49-F238E27FC236}">
                <a16:creationId xmlns:a16="http://schemas.microsoft.com/office/drawing/2014/main" id="{BB61CCD1-6D98-276B-60E7-12DEAA21A95F}"/>
              </a:ext>
            </a:extLst>
          </p:cNvPr>
          <p:cNvSpPr txBox="1"/>
          <p:nvPr/>
        </p:nvSpPr>
        <p:spPr>
          <a:xfrm>
            <a:off x="6804791" y="5723830"/>
            <a:ext cx="1262380" cy="448309"/>
          </a:xfrm>
          <a:prstGeom prst="rect">
            <a:avLst/>
          </a:prstGeom>
          <a:solidFill>
            <a:srgbClr val="38A666"/>
          </a:solidFill>
        </p:spPr>
        <p:txBody>
          <a:bodyPr vert="horz" wrap="square" lIns="0" tIns="130810" rIns="0" bIns="0" rtlCol="0">
            <a:noAutofit/>
          </a:bodyPr>
          <a:lstStyle/>
          <a:p>
            <a:pPr marL="325120">
              <a:lnSpc>
                <a:spcPct val="100000"/>
              </a:lnSpc>
              <a:spcBef>
                <a:spcPts val="1030"/>
              </a:spcBef>
            </a:pPr>
            <a:r>
              <a:rPr sz="1200" spc="-15" dirty="0">
                <a:solidFill>
                  <a:srgbClr val="FFFFFF"/>
                </a:solidFill>
                <a:latin typeface="+mj-ea"/>
                <a:ea typeface="+mj-ea"/>
                <a:cs typeface="宋体"/>
              </a:rPr>
              <a:t>权限控制</a:t>
            </a:r>
            <a:endParaRPr sz="1200">
              <a:latin typeface="+mj-ea"/>
              <a:ea typeface="+mj-ea"/>
              <a:cs typeface="宋体"/>
            </a:endParaRPr>
          </a:p>
        </p:txBody>
      </p:sp>
      <p:sp>
        <p:nvSpPr>
          <p:cNvPr id="1071" name="object 44">
            <a:extLst>
              <a:ext uri="{FF2B5EF4-FFF2-40B4-BE49-F238E27FC236}">
                <a16:creationId xmlns:a16="http://schemas.microsoft.com/office/drawing/2014/main" id="{4327E599-0FFB-0085-A060-B3F8EF682751}"/>
              </a:ext>
            </a:extLst>
          </p:cNvPr>
          <p:cNvSpPr txBox="1"/>
          <p:nvPr/>
        </p:nvSpPr>
        <p:spPr>
          <a:xfrm>
            <a:off x="1927991" y="5723830"/>
            <a:ext cx="1260475" cy="448309"/>
          </a:xfrm>
          <a:prstGeom prst="rect">
            <a:avLst/>
          </a:prstGeom>
          <a:solidFill>
            <a:srgbClr val="38A666"/>
          </a:solidFill>
        </p:spPr>
        <p:txBody>
          <a:bodyPr vert="horz" wrap="square" lIns="0" tIns="130810" rIns="0" bIns="0" rtlCol="0">
            <a:noAutofit/>
          </a:bodyPr>
          <a:lstStyle/>
          <a:p>
            <a:pPr marL="324485">
              <a:lnSpc>
                <a:spcPct val="100000"/>
              </a:lnSpc>
              <a:spcBef>
                <a:spcPts val="1030"/>
              </a:spcBef>
            </a:pPr>
            <a:r>
              <a:rPr sz="1200" spc="-15" dirty="0">
                <a:solidFill>
                  <a:srgbClr val="FFFFFF"/>
                </a:solidFill>
                <a:latin typeface="+mj-ea"/>
                <a:ea typeface="+mj-ea"/>
                <a:cs typeface="宋体"/>
              </a:rPr>
              <a:t>身份认证</a:t>
            </a:r>
            <a:endParaRPr sz="1200">
              <a:latin typeface="+mj-ea"/>
              <a:ea typeface="+mj-ea"/>
              <a:cs typeface="宋体"/>
            </a:endParaRPr>
          </a:p>
        </p:txBody>
      </p:sp>
      <p:sp>
        <p:nvSpPr>
          <p:cNvPr id="1072" name="object 45">
            <a:extLst>
              <a:ext uri="{FF2B5EF4-FFF2-40B4-BE49-F238E27FC236}">
                <a16:creationId xmlns:a16="http://schemas.microsoft.com/office/drawing/2014/main" id="{AA20B298-E96D-5291-DDDA-2278B41AFAA3}"/>
              </a:ext>
            </a:extLst>
          </p:cNvPr>
          <p:cNvSpPr txBox="1"/>
          <p:nvPr/>
        </p:nvSpPr>
        <p:spPr>
          <a:xfrm>
            <a:off x="4366391" y="5723830"/>
            <a:ext cx="1262380" cy="448309"/>
          </a:xfrm>
          <a:prstGeom prst="rect">
            <a:avLst/>
          </a:prstGeom>
          <a:solidFill>
            <a:srgbClr val="38A666"/>
          </a:solidFill>
        </p:spPr>
        <p:txBody>
          <a:bodyPr vert="horz" wrap="square" lIns="0" tIns="130810" rIns="0" bIns="0" rtlCol="0">
            <a:noAutofit/>
          </a:bodyPr>
          <a:lstStyle/>
          <a:p>
            <a:pPr marL="325120">
              <a:lnSpc>
                <a:spcPct val="100000"/>
              </a:lnSpc>
              <a:spcBef>
                <a:spcPts val="1030"/>
              </a:spcBef>
            </a:pPr>
            <a:r>
              <a:rPr sz="1200" spc="-15" dirty="0">
                <a:solidFill>
                  <a:srgbClr val="FFFFFF"/>
                </a:solidFill>
                <a:latin typeface="+mj-ea"/>
                <a:ea typeface="+mj-ea"/>
                <a:cs typeface="宋体"/>
              </a:rPr>
              <a:t>安全审计</a:t>
            </a:r>
            <a:endParaRPr sz="1200">
              <a:latin typeface="+mj-ea"/>
              <a:ea typeface="+mj-ea"/>
              <a:cs typeface="宋体"/>
            </a:endParaRPr>
          </a:p>
        </p:txBody>
      </p:sp>
      <p:sp>
        <p:nvSpPr>
          <p:cNvPr id="1073" name="object 46">
            <a:extLst>
              <a:ext uri="{FF2B5EF4-FFF2-40B4-BE49-F238E27FC236}">
                <a16:creationId xmlns:a16="http://schemas.microsoft.com/office/drawing/2014/main" id="{639DCB73-BDAF-488F-61AF-55AB24AF9BE6}"/>
              </a:ext>
            </a:extLst>
          </p:cNvPr>
          <p:cNvSpPr txBox="1"/>
          <p:nvPr/>
        </p:nvSpPr>
        <p:spPr>
          <a:xfrm>
            <a:off x="9243191" y="5723830"/>
            <a:ext cx="1262380" cy="448309"/>
          </a:xfrm>
          <a:prstGeom prst="rect">
            <a:avLst/>
          </a:prstGeom>
          <a:solidFill>
            <a:srgbClr val="38A666"/>
          </a:solidFill>
        </p:spPr>
        <p:txBody>
          <a:bodyPr vert="horz" wrap="square" lIns="0" tIns="130810" rIns="0" bIns="0" rtlCol="0">
            <a:noAutofit/>
          </a:bodyPr>
          <a:lstStyle/>
          <a:p>
            <a:pPr marL="401955">
              <a:lnSpc>
                <a:spcPct val="100000"/>
              </a:lnSpc>
              <a:spcBef>
                <a:spcPts val="1030"/>
              </a:spcBef>
            </a:pPr>
            <a:r>
              <a:rPr sz="1200" spc="-20" dirty="0">
                <a:solidFill>
                  <a:srgbClr val="FFFFFF"/>
                </a:solidFill>
                <a:latin typeface="+mj-ea"/>
                <a:ea typeface="+mj-ea"/>
                <a:cs typeface="宋体"/>
              </a:rPr>
              <a:t>高可用</a:t>
            </a:r>
            <a:endParaRPr sz="1200">
              <a:latin typeface="+mj-ea"/>
              <a:ea typeface="+mj-ea"/>
              <a:cs typeface="宋体"/>
            </a:endParaRPr>
          </a:p>
        </p:txBody>
      </p:sp>
      <p:sp>
        <p:nvSpPr>
          <p:cNvPr id="1074" name="object 2">
            <a:extLst>
              <a:ext uri="{FF2B5EF4-FFF2-40B4-BE49-F238E27FC236}">
                <a16:creationId xmlns:a16="http://schemas.microsoft.com/office/drawing/2014/main" id="{8B555EF0-D5AF-B589-F66F-8444096DDA52}"/>
              </a:ext>
            </a:extLst>
          </p:cNvPr>
          <p:cNvSpPr txBox="1">
            <a:spLocks/>
          </p:cNvSpPr>
          <p:nvPr/>
        </p:nvSpPr>
        <p:spPr>
          <a:xfrm>
            <a:off x="718218" y="988758"/>
            <a:ext cx="10318115" cy="381515"/>
          </a:xfrm>
          <a:prstGeom prst="rect">
            <a:avLst/>
          </a:prstGeom>
        </p:spPr>
        <p:txBody>
          <a:bodyPr vert="horz" wrap="square" lIns="0" tIns="12065" rIns="0" bIns="0" rtlCol="0" anchor="ctr">
            <a:spAutoFit/>
          </a:bodyPr>
          <a:lstStyle>
            <a:lvl1pPr algn="l" defTabSz="914400" rtl="0" eaLnBrk="1" latinLnBrk="0" hangingPunct="1">
              <a:lnSpc>
                <a:spcPct val="90000"/>
              </a:lnSpc>
              <a:spcBef>
                <a:spcPct val="0"/>
              </a:spcBef>
              <a:buNone/>
              <a:defRPr sz="2800" b="1" kern="1200">
                <a:solidFill>
                  <a:schemeClr val="tx1"/>
                </a:solidFill>
                <a:latin typeface="方正粗雅宋简体" panose="02000000000000000000" pitchFamily="2" charset="-122"/>
                <a:ea typeface="方正粗雅宋简体" panose="02000000000000000000" pitchFamily="2" charset="-122"/>
                <a:cs typeface="+mj-cs"/>
              </a:defRPr>
            </a:lvl1pPr>
          </a:lstStyle>
          <a:p>
            <a:pPr marL="355600" indent="-342900">
              <a:lnSpc>
                <a:spcPct val="100000"/>
              </a:lnSpc>
              <a:spcBef>
                <a:spcPts val="95"/>
              </a:spcBef>
              <a:buFont typeface="Wingdings" panose="05000000000000000000" pitchFamily="2" charset="2"/>
              <a:buChar char="p"/>
            </a:pPr>
            <a:r>
              <a:rPr lang="en-US" altLang="zh-CN" sz="2400" dirty="0">
                <a:solidFill>
                  <a:srgbClr val="003F88"/>
                </a:solidFill>
                <a:latin typeface="+mn-lt"/>
                <a:ea typeface="+mn-ea"/>
                <a:cs typeface="+mn-cs"/>
              </a:rPr>
              <a:t>DevOps</a:t>
            </a:r>
            <a:r>
              <a:rPr lang="zh-CN" altLang="en-US" sz="2400" dirty="0">
                <a:solidFill>
                  <a:srgbClr val="003F88"/>
                </a:solidFill>
                <a:latin typeface="+mn-lt"/>
                <a:ea typeface="+mn-ea"/>
                <a:cs typeface="+mn-cs"/>
              </a:rPr>
              <a:t>标准能力框架图</a:t>
            </a:r>
            <a:r>
              <a:rPr lang="zh-CN" altLang="en-US" sz="2400" b="0" spc="-35" dirty="0">
                <a:solidFill>
                  <a:srgbClr val="003F88"/>
                </a:solidFill>
                <a:latin typeface="宋体"/>
                <a:cs typeface="宋体"/>
              </a:rPr>
              <a:t>「</a:t>
            </a:r>
            <a:r>
              <a:rPr lang="en-US" altLang="zh-CN" sz="2400" b="0" spc="-20" dirty="0">
                <a:solidFill>
                  <a:srgbClr val="003F88"/>
                </a:solidFill>
                <a:latin typeface="Arial"/>
                <a:cs typeface="Arial"/>
              </a:rPr>
              <a:t>5</a:t>
            </a:r>
            <a:r>
              <a:rPr lang="zh-CN" altLang="en-US" sz="2400" b="0" spc="-35" dirty="0">
                <a:solidFill>
                  <a:srgbClr val="003F88"/>
                </a:solidFill>
                <a:latin typeface="宋体"/>
                <a:cs typeface="宋体"/>
              </a:rPr>
              <a:t>大域</a:t>
            </a:r>
            <a:r>
              <a:rPr lang="zh-CN" altLang="en-US" sz="2400" b="0" spc="-25" dirty="0">
                <a:solidFill>
                  <a:srgbClr val="003F88"/>
                </a:solidFill>
                <a:latin typeface="宋体"/>
                <a:cs typeface="宋体"/>
              </a:rPr>
              <a:t>，</a:t>
            </a:r>
            <a:r>
              <a:rPr lang="en-US" altLang="zh-CN" sz="2400" b="0" spc="-25" dirty="0">
                <a:solidFill>
                  <a:srgbClr val="003F88"/>
                </a:solidFill>
                <a:latin typeface="Arial"/>
                <a:cs typeface="Arial"/>
              </a:rPr>
              <a:t>34</a:t>
            </a:r>
            <a:r>
              <a:rPr lang="zh-CN" altLang="en-US" sz="2400" b="0" spc="-25" dirty="0">
                <a:solidFill>
                  <a:srgbClr val="003F88"/>
                </a:solidFill>
                <a:latin typeface="宋体"/>
                <a:cs typeface="宋体"/>
              </a:rPr>
              <a:t>个</a:t>
            </a:r>
            <a:r>
              <a:rPr lang="zh-CN" altLang="en-US" sz="2400" b="0" spc="-35" dirty="0">
                <a:solidFill>
                  <a:srgbClr val="003F88"/>
                </a:solidFill>
                <a:latin typeface="宋体"/>
                <a:cs typeface="宋体"/>
              </a:rPr>
              <a:t>二级</a:t>
            </a:r>
            <a:r>
              <a:rPr lang="zh-CN" altLang="en-US" sz="2400" b="0" spc="-30" dirty="0">
                <a:solidFill>
                  <a:srgbClr val="003F88"/>
                </a:solidFill>
                <a:latin typeface="宋体"/>
                <a:cs typeface="宋体"/>
              </a:rPr>
              <a:t>模块，</a:t>
            </a:r>
            <a:r>
              <a:rPr lang="en-US" altLang="zh-CN" sz="2400" b="0" spc="-20" dirty="0">
                <a:solidFill>
                  <a:srgbClr val="003F88"/>
                </a:solidFill>
                <a:latin typeface="Arial"/>
                <a:cs typeface="Arial"/>
              </a:rPr>
              <a:t>550</a:t>
            </a:r>
            <a:r>
              <a:rPr lang="zh-CN" altLang="en-US" sz="2400" b="0" spc="-35" dirty="0">
                <a:solidFill>
                  <a:srgbClr val="003F88"/>
                </a:solidFill>
                <a:latin typeface="宋体"/>
                <a:cs typeface="宋体"/>
              </a:rPr>
              <a:t>个能力项</a:t>
            </a:r>
            <a:r>
              <a:rPr lang="zh-CN" altLang="en-US" sz="2400" b="0" spc="-50" dirty="0">
                <a:solidFill>
                  <a:srgbClr val="003F88"/>
                </a:solidFill>
                <a:latin typeface="宋体"/>
                <a:cs typeface="宋体"/>
              </a:rPr>
              <a:t>」</a:t>
            </a:r>
            <a:endParaRPr lang="zh-CN" altLang="en-US" dirty="0">
              <a:solidFill>
                <a:srgbClr val="003F88"/>
              </a:solidFill>
              <a:latin typeface="宋体"/>
              <a:cs typeface="宋体"/>
            </a:endParaRPr>
          </a:p>
        </p:txBody>
      </p:sp>
    </p:spTree>
    <p:extLst>
      <p:ext uri="{BB962C8B-B14F-4D97-AF65-F5344CB8AC3E}">
        <p14:creationId xmlns:p14="http://schemas.microsoft.com/office/powerpoint/2010/main" val="33666234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03 DevOps</a:t>
            </a:r>
            <a:r>
              <a:rPr lang="zh-CN" altLang="en-US" dirty="0"/>
              <a:t>工具体系</a:t>
            </a:r>
          </a:p>
        </p:txBody>
      </p:sp>
      <p:sp>
        <p:nvSpPr>
          <p:cNvPr id="3" name="灯片编号占位符 2"/>
          <p:cNvSpPr>
            <a:spLocks noGrp="1"/>
          </p:cNvSpPr>
          <p:nvPr>
            <p:ph type="sldNum" sz="quarter" idx="12"/>
          </p:nvPr>
        </p:nvSpPr>
        <p:spPr/>
        <p:txBody>
          <a:bodyPr/>
          <a:lstStyle/>
          <a:p>
            <a:fld id="{1AAC388E-FA9E-4A2C-95EA-1F6B3A07935A}" type="slidenum">
              <a:rPr lang="zh-CN" altLang="en-US" sz="1400" smtClean="0">
                <a:solidFill>
                  <a:srgbClr val="000000"/>
                </a:solidFill>
              </a:rPr>
              <a:t>49</a:t>
            </a:fld>
            <a:endParaRPr lang="zh-CN" altLang="en-US" sz="1400" dirty="0">
              <a:solidFill>
                <a:srgbClr val="000000"/>
              </a:solidFill>
            </a:endParaRPr>
          </a:p>
        </p:txBody>
      </p:sp>
      <p:sp>
        <p:nvSpPr>
          <p:cNvPr id="4" name="object 4">
            <a:extLst>
              <a:ext uri="{FF2B5EF4-FFF2-40B4-BE49-F238E27FC236}">
                <a16:creationId xmlns:a16="http://schemas.microsoft.com/office/drawing/2014/main" id="{508EC6DA-8823-7003-E02D-B99A0B4A64F1}"/>
              </a:ext>
            </a:extLst>
          </p:cNvPr>
          <p:cNvSpPr txBox="1"/>
          <p:nvPr/>
        </p:nvSpPr>
        <p:spPr>
          <a:xfrm>
            <a:off x="752508" y="3053905"/>
            <a:ext cx="864235" cy="570230"/>
          </a:xfrm>
          <a:prstGeom prst="rect">
            <a:avLst/>
          </a:prstGeom>
          <a:solidFill>
            <a:srgbClr val="38A666"/>
          </a:solidFill>
        </p:spPr>
        <p:txBody>
          <a:bodyPr vert="horz" wrap="square" lIns="36000" tIns="0" rIns="36000" bIns="0" rtlCol="0" anchor="ctr" anchorCtr="0">
            <a:noAutofit/>
          </a:bodyPr>
          <a:lstStyle/>
          <a:p>
            <a:pPr algn="ctr">
              <a:lnSpc>
                <a:spcPct val="100000"/>
              </a:lnSpc>
            </a:pPr>
            <a:r>
              <a:rPr sz="1400" b="1" spc="-15" dirty="0" err="1">
                <a:latin typeface="宋体"/>
                <a:cs typeface="宋体"/>
              </a:rPr>
              <a:t>文档管理</a:t>
            </a:r>
            <a:endParaRPr sz="1400" b="1" dirty="0">
              <a:latin typeface="宋体"/>
              <a:cs typeface="宋体"/>
            </a:endParaRPr>
          </a:p>
        </p:txBody>
      </p:sp>
      <p:sp>
        <p:nvSpPr>
          <p:cNvPr id="5" name="object 5">
            <a:extLst>
              <a:ext uri="{FF2B5EF4-FFF2-40B4-BE49-F238E27FC236}">
                <a16:creationId xmlns:a16="http://schemas.microsoft.com/office/drawing/2014/main" id="{080D30BA-F0DF-8FA7-0E93-CE671E1B1F5D}"/>
              </a:ext>
            </a:extLst>
          </p:cNvPr>
          <p:cNvSpPr txBox="1"/>
          <p:nvPr/>
        </p:nvSpPr>
        <p:spPr>
          <a:xfrm>
            <a:off x="10632947" y="3054328"/>
            <a:ext cx="1007744" cy="568960"/>
          </a:xfrm>
          <a:prstGeom prst="rect">
            <a:avLst/>
          </a:prstGeom>
          <a:solidFill>
            <a:srgbClr val="38A666"/>
          </a:solidFill>
        </p:spPr>
        <p:txBody>
          <a:bodyPr vert="horz" wrap="square" lIns="36000" tIns="0" rIns="36000" bIns="0" rtlCol="0" anchor="ctr" anchorCtr="0">
            <a:noAutofit/>
          </a:bodyPr>
          <a:lstStyle>
            <a:defPPr>
              <a:defRPr lang="zh-CN"/>
            </a:defPPr>
            <a:lvl1pPr algn="ctr">
              <a:lnSpc>
                <a:spcPct val="100000"/>
              </a:lnSpc>
              <a:defRPr sz="1400" b="1" spc="-15">
                <a:latin typeface="宋体"/>
                <a:cs typeface="宋体"/>
              </a:defRPr>
            </a:lvl1pPr>
          </a:lstStyle>
          <a:p>
            <a:r>
              <a:rPr dirty="0" err="1"/>
              <a:t>缺陷管理</a:t>
            </a:r>
            <a:endParaRPr dirty="0"/>
          </a:p>
        </p:txBody>
      </p:sp>
      <p:sp>
        <p:nvSpPr>
          <p:cNvPr id="6" name="object 6">
            <a:extLst>
              <a:ext uri="{FF2B5EF4-FFF2-40B4-BE49-F238E27FC236}">
                <a16:creationId xmlns:a16="http://schemas.microsoft.com/office/drawing/2014/main" id="{6AABE17D-F2AD-B91B-8A92-A2418B448464}"/>
              </a:ext>
            </a:extLst>
          </p:cNvPr>
          <p:cNvSpPr txBox="1"/>
          <p:nvPr/>
        </p:nvSpPr>
        <p:spPr>
          <a:xfrm>
            <a:off x="10632947" y="1979488"/>
            <a:ext cx="1007744" cy="568960"/>
          </a:xfrm>
          <a:prstGeom prst="rect">
            <a:avLst/>
          </a:prstGeom>
          <a:solidFill>
            <a:srgbClr val="38A666"/>
          </a:solidFill>
        </p:spPr>
        <p:txBody>
          <a:bodyPr vert="horz" wrap="square" lIns="36000" tIns="0" rIns="36000" bIns="0" rtlCol="0" anchor="ctr" anchorCtr="0">
            <a:noAutofit/>
          </a:bodyPr>
          <a:lstStyle>
            <a:defPPr>
              <a:defRPr lang="zh-CN"/>
            </a:defPPr>
            <a:lvl1pPr algn="ctr">
              <a:lnSpc>
                <a:spcPct val="100000"/>
              </a:lnSpc>
              <a:defRPr sz="1400" b="1" spc="-15">
                <a:latin typeface="宋体"/>
                <a:cs typeface="宋体"/>
              </a:defRPr>
            </a:lvl1pPr>
          </a:lstStyle>
          <a:p>
            <a:r>
              <a:rPr dirty="0" err="1"/>
              <a:t>任务管理</a:t>
            </a:r>
            <a:endParaRPr dirty="0"/>
          </a:p>
        </p:txBody>
      </p:sp>
      <p:sp>
        <p:nvSpPr>
          <p:cNvPr id="7" name="object 7">
            <a:extLst>
              <a:ext uri="{FF2B5EF4-FFF2-40B4-BE49-F238E27FC236}">
                <a16:creationId xmlns:a16="http://schemas.microsoft.com/office/drawing/2014/main" id="{8D75CBD7-84C6-2712-C76B-FE84D2F53326}"/>
              </a:ext>
            </a:extLst>
          </p:cNvPr>
          <p:cNvSpPr txBox="1"/>
          <p:nvPr/>
        </p:nvSpPr>
        <p:spPr>
          <a:xfrm>
            <a:off x="752508" y="1978218"/>
            <a:ext cx="864235" cy="571500"/>
          </a:xfrm>
          <a:prstGeom prst="rect">
            <a:avLst/>
          </a:prstGeom>
          <a:solidFill>
            <a:srgbClr val="38A666"/>
          </a:solidFill>
        </p:spPr>
        <p:txBody>
          <a:bodyPr vert="horz" wrap="square" lIns="36000" tIns="0" rIns="36000" bIns="0" rtlCol="0" anchor="ctr" anchorCtr="0">
            <a:noAutofit/>
          </a:bodyPr>
          <a:lstStyle/>
          <a:p>
            <a:pPr algn="ctr">
              <a:lnSpc>
                <a:spcPct val="100000"/>
              </a:lnSpc>
            </a:pPr>
            <a:r>
              <a:rPr sz="1400" b="1" spc="-15" dirty="0" err="1">
                <a:latin typeface="宋体"/>
                <a:cs typeface="宋体"/>
              </a:rPr>
              <a:t>需求管理</a:t>
            </a:r>
            <a:endParaRPr sz="1400" b="1" dirty="0">
              <a:latin typeface="宋体"/>
              <a:cs typeface="宋体"/>
            </a:endParaRPr>
          </a:p>
        </p:txBody>
      </p:sp>
      <p:sp>
        <p:nvSpPr>
          <p:cNvPr id="8" name="object 8">
            <a:extLst>
              <a:ext uri="{FF2B5EF4-FFF2-40B4-BE49-F238E27FC236}">
                <a16:creationId xmlns:a16="http://schemas.microsoft.com/office/drawing/2014/main" id="{AEBFC6B6-BFD4-A345-29E5-21CF72268A13}"/>
              </a:ext>
            </a:extLst>
          </p:cNvPr>
          <p:cNvSpPr txBox="1"/>
          <p:nvPr/>
        </p:nvSpPr>
        <p:spPr>
          <a:xfrm>
            <a:off x="752508" y="4128322"/>
            <a:ext cx="864235" cy="571500"/>
          </a:xfrm>
          <a:prstGeom prst="rect">
            <a:avLst/>
          </a:prstGeom>
          <a:solidFill>
            <a:srgbClr val="38A666"/>
          </a:solidFill>
        </p:spPr>
        <p:txBody>
          <a:bodyPr vert="horz" wrap="square" lIns="36000" tIns="0" rIns="36000" bIns="0" rtlCol="0" anchor="ctr" anchorCtr="0">
            <a:noAutofit/>
          </a:bodyPr>
          <a:lstStyle/>
          <a:p>
            <a:pPr algn="ctr">
              <a:lnSpc>
                <a:spcPct val="100000"/>
              </a:lnSpc>
            </a:pPr>
            <a:r>
              <a:rPr sz="1400" b="1" spc="-15" dirty="0" err="1">
                <a:latin typeface="宋体"/>
                <a:cs typeface="宋体"/>
              </a:rPr>
              <a:t>度量管理</a:t>
            </a:r>
            <a:endParaRPr sz="1400" b="1" dirty="0">
              <a:latin typeface="宋体"/>
              <a:cs typeface="宋体"/>
            </a:endParaRPr>
          </a:p>
        </p:txBody>
      </p:sp>
      <p:sp>
        <p:nvSpPr>
          <p:cNvPr id="9" name="object 9">
            <a:extLst>
              <a:ext uri="{FF2B5EF4-FFF2-40B4-BE49-F238E27FC236}">
                <a16:creationId xmlns:a16="http://schemas.microsoft.com/office/drawing/2014/main" id="{2C92D9ED-511A-50C7-DB6D-78377996AC50}"/>
              </a:ext>
            </a:extLst>
          </p:cNvPr>
          <p:cNvSpPr txBox="1"/>
          <p:nvPr/>
        </p:nvSpPr>
        <p:spPr>
          <a:xfrm>
            <a:off x="752508" y="5204009"/>
            <a:ext cx="864235" cy="568960"/>
          </a:xfrm>
          <a:prstGeom prst="rect">
            <a:avLst/>
          </a:prstGeom>
          <a:solidFill>
            <a:srgbClr val="38A666"/>
          </a:solidFill>
        </p:spPr>
        <p:txBody>
          <a:bodyPr vert="horz" wrap="square" lIns="36000" tIns="0" rIns="36000" bIns="0" rtlCol="0" anchor="ctr" anchorCtr="0">
            <a:noAutofit/>
          </a:bodyPr>
          <a:lstStyle>
            <a:defPPr>
              <a:defRPr lang="zh-CN"/>
            </a:defPPr>
            <a:lvl1pPr algn="ctr">
              <a:lnSpc>
                <a:spcPct val="100000"/>
              </a:lnSpc>
              <a:defRPr sz="1400" b="1" spc="-15">
                <a:latin typeface="宋体"/>
                <a:cs typeface="宋体"/>
              </a:defRPr>
            </a:lvl1pPr>
          </a:lstStyle>
          <a:p>
            <a:r>
              <a:rPr dirty="0" err="1"/>
              <a:t>版本</a:t>
            </a:r>
            <a:r>
              <a:rPr lang="zh-CN" altLang="en-US" dirty="0"/>
              <a:t>迭</a:t>
            </a:r>
            <a:r>
              <a:rPr dirty="0" err="1"/>
              <a:t>代管理</a:t>
            </a:r>
            <a:endParaRPr dirty="0"/>
          </a:p>
        </p:txBody>
      </p:sp>
      <p:sp>
        <p:nvSpPr>
          <p:cNvPr id="10" name="object 10">
            <a:extLst>
              <a:ext uri="{FF2B5EF4-FFF2-40B4-BE49-F238E27FC236}">
                <a16:creationId xmlns:a16="http://schemas.microsoft.com/office/drawing/2014/main" id="{F6CBC2C1-EF51-7096-04C5-D40A0A5A38CC}"/>
              </a:ext>
            </a:extLst>
          </p:cNvPr>
          <p:cNvSpPr txBox="1"/>
          <p:nvPr/>
        </p:nvSpPr>
        <p:spPr>
          <a:xfrm>
            <a:off x="10632947" y="5204009"/>
            <a:ext cx="1007744" cy="568960"/>
          </a:xfrm>
          <a:prstGeom prst="rect">
            <a:avLst/>
          </a:prstGeom>
          <a:solidFill>
            <a:srgbClr val="38A666"/>
          </a:solidFill>
        </p:spPr>
        <p:txBody>
          <a:bodyPr vert="horz" wrap="square" lIns="36000" tIns="0" rIns="36000" bIns="0" rtlCol="0" anchor="ctr" anchorCtr="0">
            <a:noAutofit/>
          </a:bodyPr>
          <a:lstStyle>
            <a:defPPr>
              <a:defRPr lang="zh-CN"/>
            </a:defPPr>
            <a:lvl1pPr algn="ctr">
              <a:lnSpc>
                <a:spcPct val="100000"/>
              </a:lnSpc>
              <a:defRPr sz="1400" b="1" spc="-15">
                <a:latin typeface="宋体"/>
                <a:cs typeface="宋体"/>
              </a:defRPr>
            </a:lvl1pPr>
          </a:lstStyle>
          <a:p>
            <a:r>
              <a:rPr dirty="0" err="1"/>
              <a:t>知识库</a:t>
            </a:r>
            <a:endParaRPr dirty="0"/>
          </a:p>
        </p:txBody>
      </p:sp>
      <p:sp>
        <p:nvSpPr>
          <p:cNvPr id="11" name="object 11">
            <a:extLst>
              <a:ext uri="{FF2B5EF4-FFF2-40B4-BE49-F238E27FC236}">
                <a16:creationId xmlns:a16="http://schemas.microsoft.com/office/drawing/2014/main" id="{8B3BFB04-D2D4-D174-D4C0-95E9EBA867EC}"/>
              </a:ext>
            </a:extLst>
          </p:cNvPr>
          <p:cNvSpPr txBox="1"/>
          <p:nvPr/>
        </p:nvSpPr>
        <p:spPr>
          <a:xfrm>
            <a:off x="10632947" y="4129168"/>
            <a:ext cx="1007744" cy="568960"/>
          </a:xfrm>
          <a:prstGeom prst="rect">
            <a:avLst/>
          </a:prstGeom>
          <a:solidFill>
            <a:srgbClr val="38A666"/>
          </a:solidFill>
        </p:spPr>
        <p:txBody>
          <a:bodyPr vert="horz" wrap="square" lIns="36000" tIns="0" rIns="36000" bIns="0" rtlCol="0" anchor="ctr" anchorCtr="0">
            <a:noAutofit/>
          </a:bodyPr>
          <a:lstStyle>
            <a:defPPr>
              <a:defRPr lang="zh-CN"/>
            </a:defPPr>
            <a:lvl1pPr algn="ctr">
              <a:lnSpc>
                <a:spcPct val="100000"/>
              </a:lnSpc>
              <a:defRPr sz="1400" b="1" spc="-15">
                <a:latin typeface="宋体"/>
                <a:cs typeface="宋体"/>
              </a:defRPr>
            </a:lvl1pPr>
          </a:lstStyle>
          <a:p>
            <a:r>
              <a:rPr dirty="0" err="1"/>
              <a:t>项目管理</a:t>
            </a:r>
            <a:endParaRPr dirty="0"/>
          </a:p>
        </p:txBody>
      </p:sp>
      <p:grpSp>
        <p:nvGrpSpPr>
          <p:cNvPr id="12" name="object 12">
            <a:extLst>
              <a:ext uri="{FF2B5EF4-FFF2-40B4-BE49-F238E27FC236}">
                <a16:creationId xmlns:a16="http://schemas.microsoft.com/office/drawing/2014/main" id="{A7355E95-56B6-E80C-FFB6-BB7893CF52C1}"/>
              </a:ext>
            </a:extLst>
          </p:cNvPr>
          <p:cNvGrpSpPr/>
          <p:nvPr/>
        </p:nvGrpSpPr>
        <p:grpSpPr>
          <a:xfrm>
            <a:off x="1826927" y="2173798"/>
            <a:ext cx="535305" cy="180340"/>
            <a:chOff x="1481327" y="1969007"/>
            <a:chExt cx="535305" cy="180340"/>
          </a:xfrm>
        </p:grpSpPr>
        <p:pic>
          <p:nvPicPr>
            <p:cNvPr id="13" name="object 13">
              <a:extLst>
                <a:ext uri="{FF2B5EF4-FFF2-40B4-BE49-F238E27FC236}">
                  <a16:creationId xmlns:a16="http://schemas.microsoft.com/office/drawing/2014/main" id="{1D3E65F0-B7AB-ACD0-B424-D4CFC95E0FFE}"/>
                </a:ext>
              </a:extLst>
            </p:cNvPr>
            <p:cNvPicPr/>
            <p:nvPr/>
          </p:nvPicPr>
          <p:blipFill>
            <a:blip r:embed="rId3" cstate="print"/>
            <a:stretch>
              <a:fillRect/>
            </a:stretch>
          </p:blipFill>
          <p:spPr>
            <a:xfrm>
              <a:off x="1481327" y="1969007"/>
              <a:ext cx="158496" cy="179831"/>
            </a:xfrm>
            <a:prstGeom prst="rect">
              <a:avLst/>
            </a:prstGeom>
          </p:spPr>
        </p:pic>
        <p:pic>
          <p:nvPicPr>
            <p:cNvPr id="14" name="object 14">
              <a:extLst>
                <a:ext uri="{FF2B5EF4-FFF2-40B4-BE49-F238E27FC236}">
                  <a16:creationId xmlns:a16="http://schemas.microsoft.com/office/drawing/2014/main" id="{DA2BECBD-FDDD-A7FC-6C0E-A8E76F9FA63C}"/>
                </a:ext>
              </a:extLst>
            </p:cNvPr>
            <p:cNvPicPr/>
            <p:nvPr/>
          </p:nvPicPr>
          <p:blipFill>
            <a:blip r:embed="rId4" cstate="print"/>
            <a:stretch>
              <a:fillRect/>
            </a:stretch>
          </p:blipFill>
          <p:spPr>
            <a:xfrm>
              <a:off x="1677923" y="1969007"/>
              <a:ext cx="158495" cy="179831"/>
            </a:xfrm>
            <a:prstGeom prst="rect">
              <a:avLst/>
            </a:prstGeom>
          </p:spPr>
        </p:pic>
        <p:pic>
          <p:nvPicPr>
            <p:cNvPr id="15" name="object 15">
              <a:extLst>
                <a:ext uri="{FF2B5EF4-FFF2-40B4-BE49-F238E27FC236}">
                  <a16:creationId xmlns:a16="http://schemas.microsoft.com/office/drawing/2014/main" id="{B5B96A76-B0EB-7FB2-2144-1F4CECD3A174}"/>
                </a:ext>
              </a:extLst>
            </p:cNvPr>
            <p:cNvPicPr/>
            <p:nvPr/>
          </p:nvPicPr>
          <p:blipFill>
            <a:blip r:embed="rId3" cstate="print"/>
            <a:stretch>
              <a:fillRect/>
            </a:stretch>
          </p:blipFill>
          <p:spPr>
            <a:xfrm>
              <a:off x="1857755" y="1969007"/>
              <a:ext cx="158495" cy="179831"/>
            </a:xfrm>
            <a:prstGeom prst="rect">
              <a:avLst/>
            </a:prstGeom>
          </p:spPr>
        </p:pic>
      </p:grpSp>
      <p:grpSp>
        <p:nvGrpSpPr>
          <p:cNvPr id="16" name="object 16">
            <a:extLst>
              <a:ext uri="{FF2B5EF4-FFF2-40B4-BE49-F238E27FC236}">
                <a16:creationId xmlns:a16="http://schemas.microsoft.com/office/drawing/2014/main" id="{9102B260-C8FB-2673-5175-A390D239DFDC}"/>
              </a:ext>
            </a:extLst>
          </p:cNvPr>
          <p:cNvGrpSpPr/>
          <p:nvPr/>
        </p:nvGrpSpPr>
        <p:grpSpPr>
          <a:xfrm>
            <a:off x="1826927" y="3248638"/>
            <a:ext cx="535305" cy="180340"/>
            <a:chOff x="1481327" y="2665476"/>
            <a:chExt cx="535305" cy="180340"/>
          </a:xfrm>
        </p:grpSpPr>
        <p:pic>
          <p:nvPicPr>
            <p:cNvPr id="17" name="object 17">
              <a:extLst>
                <a:ext uri="{FF2B5EF4-FFF2-40B4-BE49-F238E27FC236}">
                  <a16:creationId xmlns:a16="http://schemas.microsoft.com/office/drawing/2014/main" id="{8C34D627-BFAE-6B49-2004-54C8470A4656}"/>
                </a:ext>
              </a:extLst>
            </p:cNvPr>
            <p:cNvPicPr/>
            <p:nvPr/>
          </p:nvPicPr>
          <p:blipFill>
            <a:blip r:embed="rId5" cstate="print"/>
            <a:stretch>
              <a:fillRect/>
            </a:stretch>
          </p:blipFill>
          <p:spPr>
            <a:xfrm>
              <a:off x="1481327" y="2665476"/>
              <a:ext cx="158496" cy="179832"/>
            </a:xfrm>
            <a:prstGeom prst="rect">
              <a:avLst/>
            </a:prstGeom>
          </p:spPr>
        </p:pic>
        <p:pic>
          <p:nvPicPr>
            <p:cNvPr id="18" name="object 18">
              <a:extLst>
                <a:ext uri="{FF2B5EF4-FFF2-40B4-BE49-F238E27FC236}">
                  <a16:creationId xmlns:a16="http://schemas.microsoft.com/office/drawing/2014/main" id="{7619DD61-3D22-B988-FAE4-0DBBEA20EA68}"/>
                </a:ext>
              </a:extLst>
            </p:cNvPr>
            <p:cNvPicPr/>
            <p:nvPr/>
          </p:nvPicPr>
          <p:blipFill>
            <a:blip r:embed="rId6" cstate="print"/>
            <a:stretch>
              <a:fillRect/>
            </a:stretch>
          </p:blipFill>
          <p:spPr>
            <a:xfrm>
              <a:off x="1677923" y="2665476"/>
              <a:ext cx="158495" cy="179832"/>
            </a:xfrm>
            <a:prstGeom prst="rect">
              <a:avLst/>
            </a:prstGeom>
          </p:spPr>
        </p:pic>
        <p:pic>
          <p:nvPicPr>
            <p:cNvPr id="19" name="object 19">
              <a:extLst>
                <a:ext uri="{FF2B5EF4-FFF2-40B4-BE49-F238E27FC236}">
                  <a16:creationId xmlns:a16="http://schemas.microsoft.com/office/drawing/2014/main" id="{CB3964CD-D6E1-40E0-2B59-998AD6B2D54C}"/>
                </a:ext>
              </a:extLst>
            </p:cNvPr>
            <p:cNvPicPr/>
            <p:nvPr/>
          </p:nvPicPr>
          <p:blipFill>
            <a:blip r:embed="rId5" cstate="print"/>
            <a:stretch>
              <a:fillRect/>
            </a:stretch>
          </p:blipFill>
          <p:spPr>
            <a:xfrm>
              <a:off x="1857755" y="2665476"/>
              <a:ext cx="158495" cy="179832"/>
            </a:xfrm>
            <a:prstGeom prst="rect">
              <a:avLst/>
            </a:prstGeom>
          </p:spPr>
        </p:pic>
      </p:grpSp>
      <p:grpSp>
        <p:nvGrpSpPr>
          <p:cNvPr id="20" name="object 20">
            <a:extLst>
              <a:ext uri="{FF2B5EF4-FFF2-40B4-BE49-F238E27FC236}">
                <a16:creationId xmlns:a16="http://schemas.microsoft.com/office/drawing/2014/main" id="{DE6F4D1E-9005-3790-8D6A-5E1AC75D8B8A}"/>
              </a:ext>
            </a:extLst>
          </p:cNvPr>
          <p:cNvGrpSpPr/>
          <p:nvPr/>
        </p:nvGrpSpPr>
        <p:grpSpPr>
          <a:xfrm>
            <a:off x="1826927" y="4323478"/>
            <a:ext cx="535305" cy="180340"/>
            <a:chOff x="1481327" y="3361944"/>
            <a:chExt cx="535305" cy="180340"/>
          </a:xfrm>
        </p:grpSpPr>
        <p:pic>
          <p:nvPicPr>
            <p:cNvPr id="21" name="object 21">
              <a:extLst>
                <a:ext uri="{FF2B5EF4-FFF2-40B4-BE49-F238E27FC236}">
                  <a16:creationId xmlns:a16="http://schemas.microsoft.com/office/drawing/2014/main" id="{75237B0C-8743-5D12-8208-92E580DF1B46}"/>
                </a:ext>
              </a:extLst>
            </p:cNvPr>
            <p:cNvPicPr/>
            <p:nvPr/>
          </p:nvPicPr>
          <p:blipFill>
            <a:blip r:embed="rId3" cstate="print"/>
            <a:stretch>
              <a:fillRect/>
            </a:stretch>
          </p:blipFill>
          <p:spPr>
            <a:xfrm>
              <a:off x="1481327" y="3361944"/>
              <a:ext cx="158496" cy="179831"/>
            </a:xfrm>
            <a:prstGeom prst="rect">
              <a:avLst/>
            </a:prstGeom>
          </p:spPr>
        </p:pic>
        <p:pic>
          <p:nvPicPr>
            <p:cNvPr id="22" name="object 22">
              <a:extLst>
                <a:ext uri="{FF2B5EF4-FFF2-40B4-BE49-F238E27FC236}">
                  <a16:creationId xmlns:a16="http://schemas.microsoft.com/office/drawing/2014/main" id="{D0E0A3EE-1B49-2AE3-71AF-247A6038DEE8}"/>
                </a:ext>
              </a:extLst>
            </p:cNvPr>
            <p:cNvPicPr/>
            <p:nvPr/>
          </p:nvPicPr>
          <p:blipFill>
            <a:blip r:embed="rId4" cstate="print"/>
            <a:stretch>
              <a:fillRect/>
            </a:stretch>
          </p:blipFill>
          <p:spPr>
            <a:xfrm>
              <a:off x="1677923" y="3361944"/>
              <a:ext cx="158495" cy="179831"/>
            </a:xfrm>
            <a:prstGeom prst="rect">
              <a:avLst/>
            </a:prstGeom>
          </p:spPr>
        </p:pic>
        <p:pic>
          <p:nvPicPr>
            <p:cNvPr id="23" name="object 23">
              <a:extLst>
                <a:ext uri="{FF2B5EF4-FFF2-40B4-BE49-F238E27FC236}">
                  <a16:creationId xmlns:a16="http://schemas.microsoft.com/office/drawing/2014/main" id="{D2C6E968-3089-2E68-13E1-BAF5F918AF6E}"/>
                </a:ext>
              </a:extLst>
            </p:cNvPr>
            <p:cNvPicPr/>
            <p:nvPr/>
          </p:nvPicPr>
          <p:blipFill>
            <a:blip r:embed="rId3" cstate="print"/>
            <a:stretch>
              <a:fillRect/>
            </a:stretch>
          </p:blipFill>
          <p:spPr>
            <a:xfrm>
              <a:off x="1857755" y="3361944"/>
              <a:ext cx="158495" cy="179831"/>
            </a:xfrm>
            <a:prstGeom prst="rect">
              <a:avLst/>
            </a:prstGeom>
          </p:spPr>
        </p:pic>
      </p:grpSp>
      <p:grpSp>
        <p:nvGrpSpPr>
          <p:cNvPr id="24" name="object 24">
            <a:extLst>
              <a:ext uri="{FF2B5EF4-FFF2-40B4-BE49-F238E27FC236}">
                <a16:creationId xmlns:a16="http://schemas.microsoft.com/office/drawing/2014/main" id="{A5409B6E-5739-182B-AD35-077E62A44B96}"/>
              </a:ext>
            </a:extLst>
          </p:cNvPr>
          <p:cNvGrpSpPr/>
          <p:nvPr/>
        </p:nvGrpSpPr>
        <p:grpSpPr>
          <a:xfrm>
            <a:off x="1826927" y="5398319"/>
            <a:ext cx="535305" cy="180340"/>
            <a:chOff x="1481327" y="4058411"/>
            <a:chExt cx="535305" cy="180340"/>
          </a:xfrm>
        </p:grpSpPr>
        <p:pic>
          <p:nvPicPr>
            <p:cNvPr id="25" name="object 25">
              <a:extLst>
                <a:ext uri="{FF2B5EF4-FFF2-40B4-BE49-F238E27FC236}">
                  <a16:creationId xmlns:a16="http://schemas.microsoft.com/office/drawing/2014/main" id="{00E0D14C-6F18-441A-C8B6-0F7ABC390BEE}"/>
                </a:ext>
              </a:extLst>
            </p:cNvPr>
            <p:cNvPicPr/>
            <p:nvPr/>
          </p:nvPicPr>
          <p:blipFill>
            <a:blip r:embed="rId3" cstate="print"/>
            <a:stretch>
              <a:fillRect/>
            </a:stretch>
          </p:blipFill>
          <p:spPr>
            <a:xfrm>
              <a:off x="1481327" y="4058411"/>
              <a:ext cx="158496" cy="179831"/>
            </a:xfrm>
            <a:prstGeom prst="rect">
              <a:avLst/>
            </a:prstGeom>
          </p:spPr>
        </p:pic>
        <p:pic>
          <p:nvPicPr>
            <p:cNvPr id="26" name="object 26">
              <a:extLst>
                <a:ext uri="{FF2B5EF4-FFF2-40B4-BE49-F238E27FC236}">
                  <a16:creationId xmlns:a16="http://schemas.microsoft.com/office/drawing/2014/main" id="{B7A82E60-F82D-19F0-C98D-D24F40708979}"/>
                </a:ext>
              </a:extLst>
            </p:cNvPr>
            <p:cNvPicPr/>
            <p:nvPr/>
          </p:nvPicPr>
          <p:blipFill>
            <a:blip r:embed="rId4" cstate="print"/>
            <a:stretch>
              <a:fillRect/>
            </a:stretch>
          </p:blipFill>
          <p:spPr>
            <a:xfrm>
              <a:off x="1677923" y="4058411"/>
              <a:ext cx="158495" cy="179831"/>
            </a:xfrm>
            <a:prstGeom prst="rect">
              <a:avLst/>
            </a:prstGeom>
          </p:spPr>
        </p:pic>
        <p:pic>
          <p:nvPicPr>
            <p:cNvPr id="27" name="object 27">
              <a:extLst>
                <a:ext uri="{FF2B5EF4-FFF2-40B4-BE49-F238E27FC236}">
                  <a16:creationId xmlns:a16="http://schemas.microsoft.com/office/drawing/2014/main" id="{CCED580D-954E-A066-B0C2-1294451E491D}"/>
                </a:ext>
              </a:extLst>
            </p:cNvPr>
            <p:cNvPicPr/>
            <p:nvPr/>
          </p:nvPicPr>
          <p:blipFill>
            <a:blip r:embed="rId3" cstate="print"/>
            <a:stretch>
              <a:fillRect/>
            </a:stretch>
          </p:blipFill>
          <p:spPr>
            <a:xfrm>
              <a:off x="1857755" y="4058411"/>
              <a:ext cx="158495" cy="179831"/>
            </a:xfrm>
            <a:prstGeom prst="rect">
              <a:avLst/>
            </a:prstGeom>
          </p:spPr>
        </p:pic>
      </p:grpSp>
      <p:grpSp>
        <p:nvGrpSpPr>
          <p:cNvPr id="28" name="object 28">
            <a:extLst>
              <a:ext uri="{FF2B5EF4-FFF2-40B4-BE49-F238E27FC236}">
                <a16:creationId xmlns:a16="http://schemas.microsoft.com/office/drawing/2014/main" id="{7A351EDB-E5A3-CA33-AD2B-E942837098CA}"/>
              </a:ext>
            </a:extLst>
          </p:cNvPr>
          <p:cNvGrpSpPr/>
          <p:nvPr/>
        </p:nvGrpSpPr>
        <p:grpSpPr>
          <a:xfrm>
            <a:off x="9809988" y="3249908"/>
            <a:ext cx="535305" cy="178435"/>
            <a:chOff x="9809988" y="2697479"/>
            <a:chExt cx="535305" cy="178435"/>
          </a:xfrm>
        </p:grpSpPr>
        <p:pic>
          <p:nvPicPr>
            <p:cNvPr id="29" name="object 29">
              <a:extLst>
                <a:ext uri="{FF2B5EF4-FFF2-40B4-BE49-F238E27FC236}">
                  <a16:creationId xmlns:a16="http://schemas.microsoft.com/office/drawing/2014/main" id="{ED9BAC4F-B1BD-CA85-01FF-3A4F37787C1D}"/>
                </a:ext>
              </a:extLst>
            </p:cNvPr>
            <p:cNvPicPr/>
            <p:nvPr/>
          </p:nvPicPr>
          <p:blipFill>
            <a:blip r:embed="rId7" cstate="print"/>
            <a:stretch>
              <a:fillRect/>
            </a:stretch>
          </p:blipFill>
          <p:spPr>
            <a:xfrm>
              <a:off x="10186416" y="2697479"/>
              <a:ext cx="158495" cy="178308"/>
            </a:xfrm>
            <a:prstGeom prst="rect">
              <a:avLst/>
            </a:prstGeom>
          </p:spPr>
        </p:pic>
        <p:pic>
          <p:nvPicPr>
            <p:cNvPr id="30" name="object 30">
              <a:extLst>
                <a:ext uri="{FF2B5EF4-FFF2-40B4-BE49-F238E27FC236}">
                  <a16:creationId xmlns:a16="http://schemas.microsoft.com/office/drawing/2014/main" id="{F4383A03-486F-1C3B-367E-234B47D94545}"/>
                </a:ext>
              </a:extLst>
            </p:cNvPr>
            <p:cNvPicPr/>
            <p:nvPr/>
          </p:nvPicPr>
          <p:blipFill>
            <a:blip r:embed="rId7" cstate="print"/>
            <a:stretch>
              <a:fillRect/>
            </a:stretch>
          </p:blipFill>
          <p:spPr>
            <a:xfrm>
              <a:off x="9989820" y="2697479"/>
              <a:ext cx="158496" cy="178308"/>
            </a:xfrm>
            <a:prstGeom prst="rect">
              <a:avLst/>
            </a:prstGeom>
          </p:spPr>
        </p:pic>
        <p:pic>
          <p:nvPicPr>
            <p:cNvPr id="31" name="object 31">
              <a:extLst>
                <a:ext uri="{FF2B5EF4-FFF2-40B4-BE49-F238E27FC236}">
                  <a16:creationId xmlns:a16="http://schemas.microsoft.com/office/drawing/2014/main" id="{38A69509-79B9-9EF6-D450-B1F04585B4B3}"/>
                </a:ext>
              </a:extLst>
            </p:cNvPr>
            <p:cNvPicPr/>
            <p:nvPr/>
          </p:nvPicPr>
          <p:blipFill>
            <a:blip r:embed="rId7" cstate="print"/>
            <a:stretch>
              <a:fillRect/>
            </a:stretch>
          </p:blipFill>
          <p:spPr>
            <a:xfrm>
              <a:off x="9809988" y="2697479"/>
              <a:ext cx="158495" cy="178308"/>
            </a:xfrm>
            <a:prstGeom prst="rect">
              <a:avLst/>
            </a:prstGeom>
          </p:spPr>
        </p:pic>
      </p:grpSp>
      <p:grpSp>
        <p:nvGrpSpPr>
          <p:cNvPr id="32" name="object 32">
            <a:extLst>
              <a:ext uri="{FF2B5EF4-FFF2-40B4-BE49-F238E27FC236}">
                <a16:creationId xmlns:a16="http://schemas.microsoft.com/office/drawing/2014/main" id="{907C50F7-5432-043E-D7C7-62D28655323B}"/>
              </a:ext>
            </a:extLst>
          </p:cNvPr>
          <p:cNvGrpSpPr/>
          <p:nvPr/>
        </p:nvGrpSpPr>
        <p:grpSpPr>
          <a:xfrm>
            <a:off x="9809988" y="4324113"/>
            <a:ext cx="535305" cy="178435"/>
            <a:chOff x="9809988" y="3406140"/>
            <a:chExt cx="535305" cy="178435"/>
          </a:xfrm>
        </p:grpSpPr>
        <p:pic>
          <p:nvPicPr>
            <p:cNvPr id="33" name="object 33">
              <a:extLst>
                <a:ext uri="{FF2B5EF4-FFF2-40B4-BE49-F238E27FC236}">
                  <a16:creationId xmlns:a16="http://schemas.microsoft.com/office/drawing/2014/main" id="{ACCA1412-DD9E-1DC9-297C-8C9EFFE1AF12}"/>
                </a:ext>
              </a:extLst>
            </p:cNvPr>
            <p:cNvPicPr/>
            <p:nvPr/>
          </p:nvPicPr>
          <p:blipFill>
            <a:blip r:embed="rId7" cstate="print"/>
            <a:stretch>
              <a:fillRect/>
            </a:stretch>
          </p:blipFill>
          <p:spPr>
            <a:xfrm>
              <a:off x="10186416" y="3406140"/>
              <a:ext cx="158495" cy="178308"/>
            </a:xfrm>
            <a:prstGeom prst="rect">
              <a:avLst/>
            </a:prstGeom>
          </p:spPr>
        </p:pic>
        <p:pic>
          <p:nvPicPr>
            <p:cNvPr id="34" name="object 34">
              <a:extLst>
                <a:ext uri="{FF2B5EF4-FFF2-40B4-BE49-F238E27FC236}">
                  <a16:creationId xmlns:a16="http://schemas.microsoft.com/office/drawing/2014/main" id="{8D0FA047-10E8-0B21-6BD4-3273D6149F8B}"/>
                </a:ext>
              </a:extLst>
            </p:cNvPr>
            <p:cNvPicPr/>
            <p:nvPr/>
          </p:nvPicPr>
          <p:blipFill>
            <a:blip r:embed="rId7" cstate="print"/>
            <a:stretch>
              <a:fillRect/>
            </a:stretch>
          </p:blipFill>
          <p:spPr>
            <a:xfrm>
              <a:off x="9989820" y="3406140"/>
              <a:ext cx="158496" cy="178308"/>
            </a:xfrm>
            <a:prstGeom prst="rect">
              <a:avLst/>
            </a:prstGeom>
          </p:spPr>
        </p:pic>
        <p:pic>
          <p:nvPicPr>
            <p:cNvPr id="35" name="object 35">
              <a:extLst>
                <a:ext uri="{FF2B5EF4-FFF2-40B4-BE49-F238E27FC236}">
                  <a16:creationId xmlns:a16="http://schemas.microsoft.com/office/drawing/2014/main" id="{E314DA06-B4B3-6761-17D5-A6FD7BDF177C}"/>
                </a:ext>
              </a:extLst>
            </p:cNvPr>
            <p:cNvPicPr/>
            <p:nvPr/>
          </p:nvPicPr>
          <p:blipFill>
            <a:blip r:embed="rId7" cstate="print"/>
            <a:stretch>
              <a:fillRect/>
            </a:stretch>
          </p:blipFill>
          <p:spPr>
            <a:xfrm>
              <a:off x="9809988" y="3406140"/>
              <a:ext cx="158495" cy="178308"/>
            </a:xfrm>
            <a:prstGeom prst="rect">
              <a:avLst/>
            </a:prstGeom>
          </p:spPr>
        </p:pic>
      </p:grpSp>
      <p:grpSp>
        <p:nvGrpSpPr>
          <p:cNvPr id="36" name="object 36">
            <a:extLst>
              <a:ext uri="{FF2B5EF4-FFF2-40B4-BE49-F238E27FC236}">
                <a16:creationId xmlns:a16="http://schemas.microsoft.com/office/drawing/2014/main" id="{0E6376DA-09BD-51CC-759D-A6B90EA101E8}"/>
              </a:ext>
            </a:extLst>
          </p:cNvPr>
          <p:cNvGrpSpPr/>
          <p:nvPr/>
        </p:nvGrpSpPr>
        <p:grpSpPr>
          <a:xfrm>
            <a:off x="9809988" y="5398319"/>
            <a:ext cx="535305" cy="180340"/>
            <a:chOff x="9809988" y="4113276"/>
            <a:chExt cx="535305" cy="180340"/>
          </a:xfrm>
        </p:grpSpPr>
        <p:pic>
          <p:nvPicPr>
            <p:cNvPr id="37" name="object 37">
              <a:extLst>
                <a:ext uri="{FF2B5EF4-FFF2-40B4-BE49-F238E27FC236}">
                  <a16:creationId xmlns:a16="http://schemas.microsoft.com/office/drawing/2014/main" id="{1A9F26DA-6620-220F-1340-B15BA64F6A8F}"/>
                </a:ext>
              </a:extLst>
            </p:cNvPr>
            <p:cNvPicPr/>
            <p:nvPr/>
          </p:nvPicPr>
          <p:blipFill>
            <a:blip r:embed="rId8" cstate="print"/>
            <a:stretch>
              <a:fillRect/>
            </a:stretch>
          </p:blipFill>
          <p:spPr>
            <a:xfrm>
              <a:off x="10186416" y="4113276"/>
              <a:ext cx="158495" cy="179831"/>
            </a:xfrm>
            <a:prstGeom prst="rect">
              <a:avLst/>
            </a:prstGeom>
          </p:spPr>
        </p:pic>
        <p:pic>
          <p:nvPicPr>
            <p:cNvPr id="38" name="object 38">
              <a:extLst>
                <a:ext uri="{FF2B5EF4-FFF2-40B4-BE49-F238E27FC236}">
                  <a16:creationId xmlns:a16="http://schemas.microsoft.com/office/drawing/2014/main" id="{F4C0003A-E091-1530-1577-68E989D5A428}"/>
                </a:ext>
              </a:extLst>
            </p:cNvPr>
            <p:cNvPicPr/>
            <p:nvPr/>
          </p:nvPicPr>
          <p:blipFill>
            <a:blip r:embed="rId8" cstate="print"/>
            <a:stretch>
              <a:fillRect/>
            </a:stretch>
          </p:blipFill>
          <p:spPr>
            <a:xfrm>
              <a:off x="9989820" y="4113276"/>
              <a:ext cx="158496" cy="179831"/>
            </a:xfrm>
            <a:prstGeom prst="rect">
              <a:avLst/>
            </a:prstGeom>
          </p:spPr>
        </p:pic>
        <p:pic>
          <p:nvPicPr>
            <p:cNvPr id="39" name="object 39">
              <a:extLst>
                <a:ext uri="{FF2B5EF4-FFF2-40B4-BE49-F238E27FC236}">
                  <a16:creationId xmlns:a16="http://schemas.microsoft.com/office/drawing/2014/main" id="{FC0395BF-0158-9D02-8DCF-7D6D953EF980}"/>
                </a:ext>
              </a:extLst>
            </p:cNvPr>
            <p:cNvPicPr/>
            <p:nvPr/>
          </p:nvPicPr>
          <p:blipFill>
            <a:blip r:embed="rId8" cstate="print"/>
            <a:stretch>
              <a:fillRect/>
            </a:stretch>
          </p:blipFill>
          <p:spPr>
            <a:xfrm>
              <a:off x="9809988" y="4113276"/>
              <a:ext cx="158495" cy="179831"/>
            </a:xfrm>
            <a:prstGeom prst="rect">
              <a:avLst/>
            </a:prstGeom>
          </p:spPr>
        </p:pic>
      </p:grpSp>
      <p:grpSp>
        <p:nvGrpSpPr>
          <p:cNvPr id="40" name="object 40">
            <a:extLst>
              <a:ext uri="{FF2B5EF4-FFF2-40B4-BE49-F238E27FC236}">
                <a16:creationId xmlns:a16="http://schemas.microsoft.com/office/drawing/2014/main" id="{42A27B10-2D5C-6E82-F879-ED2CB9D46063}"/>
              </a:ext>
            </a:extLst>
          </p:cNvPr>
          <p:cNvGrpSpPr/>
          <p:nvPr/>
        </p:nvGrpSpPr>
        <p:grpSpPr>
          <a:xfrm>
            <a:off x="9809988" y="2173798"/>
            <a:ext cx="535305" cy="180340"/>
            <a:chOff x="9809988" y="1988820"/>
            <a:chExt cx="535305" cy="180340"/>
          </a:xfrm>
        </p:grpSpPr>
        <p:pic>
          <p:nvPicPr>
            <p:cNvPr id="41" name="object 41">
              <a:extLst>
                <a:ext uri="{FF2B5EF4-FFF2-40B4-BE49-F238E27FC236}">
                  <a16:creationId xmlns:a16="http://schemas.microsoft.com/office/drawing/2014/main" id="{D6B48738-F347-BFF4-9B51-848891CC34CB}"/>
                </a:ext>
              </a:extLst>
            </p:cNvPr>
            <p:cNvPicPr/>
            <p:nvPr/>
          </p:nvPicPr>
          <p:blipFill>
            <a:blip r:embed="rId8" cstate="print"/>
            <a:stretch>
              <a:fillRect/>
            </a:stretch>
          </p:blipFill>
          <p:spPr>
            <a:xfrm>
              <a:off x="10186416" y="1988820"/>
              <a:ext cx="158495" cy="179831"/>
            </a:xfrm>
            <a:prstGeom prst="rect">
              <a:avLst/>
            </a:prstGeom>
          </p:spPr>
        </p:pic>
        <p:pic>
          <p:nvPicPr>
            <p:cNvPr id="42" name="object 42">
              <a:extLst>
                <a:ext uri="{FF2B5EF4-FFF2-40B4-BE49-F238E27FC236}">
                  <a16:creationId xmlns:a16="http://schemas.microsoft.com/office/drawing/2014/main" id="{4CDC41B9-3D99-CF6E-0717-0DC62CE457DA}"/>
                </a:ext>
              </a:extLst>
            </p:cNvPr>
            <p:cNvPicPr/>
            <p:nvPr/>
          </p:nvPicPr>
          <p:blipFill>
            <a:blip r:embed="rId8" cstate="print"/>
            <a:stretch>
              <a:fillRect/>
            </a:stretch>
          </p:blipFill>
          <p:spPr>
            <a:xfrm>
              <a:off x="9989820" y="1988820"/>
              <a:ext cx="158496" cy="179831"/>
            </a:xfrm>
            <a:prstGeom prst="rect">
              <a:avLst/>
            </a:prstGeom>
          </p:spPr>
        </p:pic>
        <p:pic>
          <p:nvPicPr>
            <p:cNvPr id="43" name="object 43">
              <a:extLst>
                <a:ext uri="{FF2B5EF4-FFF2-40B4-BE49-F238E27FC236}">
                  <a16:creationId xmlns:a16="http://schemas.microsoft.com/office/drawing/2014/main" id="{AC99CA56-FC14-7702-01D7-66D5A33E7FD7}"/>
                </a:ext>
              </a:extLst>
            </p:cNvPr>
            <p:cNvPicPr/>
            <p:nvPr/>
          </p:nvPicPr>
          <p:blipFill>
            <a:blip r:embed="rId8" cstate="print"/>
            <a:stretch>
              <a:fillRect/>
            </a:stretch>
          </p:blipFill>
          <p:spPr>
            <a:xfrm>
              <a:off x="9809988" y="1988820"/>
              <a:ext cx="158495" cy="179831"/>
            </a:xfrm>
            <a:prstGeom prst="rect">
              <a:avLst/>
            </a:prstGeom>
          </p:spPr>
        </p:pic>
      </p:grpSp>
      <p:sp>
        <p:nvSpPr>
          <p:cNvPr id="44" name="object 44">
            <a:extLst>
              <a:ext uri="{FF2B5EF4-FFF2-40B4-BE49-F238E27FC236}">
                <a16:creationId xmlns:a16="http://schemas.microsoft.com/office/drawing/2014/main" id="{1C02C6B0-EA75-ECE7-B7FC-5555B7C49594}"/>
              </a:ext>
            </a:extLst>
          </p:cNvPr>
          <p:cNvSpPr txBox="1"/>
          <p:nvPr/>
        </p:nvSpPr>
        <p:spPr>
          <a:xfrm>
            <a:off x="2474627" y="1831968"/>
            <a:ext cx="3240000" cy="864000"/>
          </a:xfrm>
          <a:prstGeom prst="rect">
            <a:avLst/>
          </a:prstGeom>
          <a:ln w="9144">
            <a:solidFill>
              <a:srgbClr val="D9D9D9"/>
            </a:solidFill>
          </a:ln>
        </p:spPr>
        <p:txBody>
          <a:bodyPr vert="horz" wrap="square" lIns="0" tIns="43180" rIns="0" bIns="0" rtlCol="0" anchor="ctr" anchorCtr="0">
            <a:noAutofit/>
          </a:bodyPr>
          <a:lstStyle/>
          <a:p>
            <a:pPr marL="90805">
              <a:lnSpc>
                <a:spcPct val="100000"/>
              </a:lnSpc>
              <a:spcBef>
                <a:spcPts val="340"/>
              </a:spcBef>
            </a:pPr>
            <a:r>
              <a:rPr sz="1600" spc="-20" dirty="0">
                <a:latin typeface="宋体"/>
                <a:cs typeface="宋体"/>
              </a:rPr>
              <a:t>指项目研发过程中针对用户需求的管理活动</a:t>
            </a:r>
            <a:endParaRPr sz="1600" dirty="0">
              <a:latin typeface="宋体"/>
              <a:cs typeface="宋体"/>
            </a:endParaRPr>
          </a:p>
        </p:txBody>
      </p:sp>
      <p:sp>
        <p:nvSpPr>
          <p:cNvPr id="45" name="object 45">
            <a:extLst>
              <a:ext uri="{FF2B5EF4-FFF2-40B4-BE49-F238E27FC236}">
                <a16:creationId xmlns:a16="http://schemas.microsoft.com/office/drawing/2014/main" id="{3504518B-A622-86BF-1EA4-7A88DBA77DB9}"/>
              </a:ext>
            </a:extLst>
          </p:cNvPr>
          <p:cNvSpPr/>
          <p:nvPr/>
        </p:nvSpPr>
        <p:spPr>
          <a:xfrm>
            <a:off x="2474627" y="2906808"/>
            <a:ext cx="3240000" cy="864000"/>
          </a:xfrm>
          <a:custGeom>
            <a:avLst/>
            <a:gdLst/>
            <a:ahLst/>
            <a:cxnLst/>
            <a:rect l="l" t="t" r="r" b="b"/>
            <a:pathLst>
              <a:path w="3599815" h="523239">
                <a:moveTo>
                  <a:pt x="0" y="522732"/>
                </a:moveTo>
                <a:lnTo>
                  <a:pt x="3599688" y="522732"/>
                </a:lnTo>
                <a:lnTo>
                  <a:pt x="3599688" y="0"/>
                </a:lnTo>
                <a:lnTo>
                  <a:pt x="0" y="0"/>
                </a:lnTo>
                <a:lnTo>
                  <a:pt x="0" y="522732"/>
                </a:lnTo>
                <a:close/>
              </a:path>
            </a:pathLst>
          </a:custGeom>
          <a:ln w="9144">
            <a:solidFill>
              <a:srgbClr val="D9D9D9"/>
            </a:solidFill>
          </a:ln>
        </p:spPr>
        <p:txBody>
          <a:bodyPr vert="horz" wrap="square" lIns="0" tIns="43180" rIns="0" bIns="0" rtlCol="0" anchor="ctr" anchorCtr="0">
            <a:noAutofit/>
          </a:bodyPr>
          <a:lstStyle/>
          <a:p>
            <a:pPr marL="90805">
              <a:spcBef>
                <a:spcPts val="340"/>
              </a:spcBef>
            </a:pPr>
            <a:r>
              <a:rPr lang="zh-CN" altLang="en-US" sz="1600" spc="-20" dirty="0">
                <a:latin typeface="宋体"/>
              </a:rPr>
              <a:t>指对项目过程中产生的架构设计、操作手册、产品说明等文档材料进行管理</a:t>
            </a:r>
          </a:p>
        </p:txBody>
      </p:sp>
      <p:sp>
        <p:nvSpPr>
          <p:cNvPr id="48" name="object 48">
            <a:extLst>
              <a:ext uri="{FF2B5EF4-FFF2-40B4-BE49-F238E27FC236}">
                <a16:creationId xmlns:a16="http://schemas.microsoft.com/office/drawing/2014/main" id="{7CAA2F7F-2DAE-A7A6-A8AD-75EB2D03DDF5}"/>
              </a:ext>
            </a:extLst>
          </p:cNvPr>
          <p:cNvSpPr txBox="1"/>
          <p:nvPr/>
        </p:nvSpPr>
        <p:spPr>
          <a:xfrm>
            <a:off x="2474627" y="3981648"/>
            <a:ext cx="3240000" cy="864000"/>
          </a:xfrm>
          <a:prstGeom prst="rect">
            <a:avLst/>
          </a:prstGeom>
          <a:ln w="9144">
            <a:solidFill>
              <a:srgbClr val="D9D9D9"/>
            </a:solidFill>
          </a:ln>
        </p:spPr>
        <p:txBody>
          <a:bodyPr vert="horz" wrap="square" lIns="0" tIns="64135" rIns="0" bIns="0" rtlCol="0" anchor="ctr" anchorCtr="0">
            <a:noAutofit/>
          </a:bodyPr>
          <a:lstStyle/>
          <a:p>
            <a:pPr marL="90805" marR="117475">
              <a:lnSpc>
                <a:spcPts val="1620"/>
              </a:lnSpc>
              <a:spcBef>
                <a:spcPts val="505"/>
              </a:spcBef>
            </a:pPr>
            <a:r>
              <a:rPr sz="1600" spc="-20" dirty="0">
                <a:latin typeface="宋体"/>
                <a:cs typeface="宋体"/>
              </a:rPr>
              <a:t>指对研发运营过程进行可执行指标提取和量</a:t>
            </a:r>
            <a:r>
              <a:rPr sz="1600" spc="-15" dirty="0">
                <a:latin typeface="宋体"/>
                <a:cs typeface="宋体"/>
              </a:rPr>
              <a:t>化的过程</a:t>
            </a:r>
            <a:endParaRPr sz="1600" dirty="0">
              <a:latin typeface="宋体"/>
              <a:cs typeface="宋体"/>
            </a:endParaRPr>
          </a:p>
        </p:txBody>
      </p:sp>
      <p:sp>
        <p:nvSpPr>
          <p:cNvPr id="49" name="object 49">
            <a:extLst>
              <a:ext uri="{FF2B5EF4-FFF2-40B4-BE49-F238E27FC236}">
                <a16:creationId xmlns:a16="http://schemas.microsoft.com/office/drawing/2014/main" id="{76533DB3-4F26-CF07-3202-A5517454D636}"/>
              </a:ext>
            </a:extLst>
          </p:cNvPr>
          <p:cNvSpPr txBox="1"/>
          <p:nvPr/>
        </p:nvSpPr>
        <p:spPr>
          <a:xfrm>
            <a:off x="2474627" y="5056489"/>
            <a:ext cx="3240000" cy="864000"/>
          </a:xfrm>
          <a:prstGeom prst="rect">
            <a:avLst/>
          </a:prstGeom>
          <a:ln w="9144">
            <a:solidFill>
              <a:srgbClr val="D9D9D9"/>
            </a:solidFill>
          </a:ln>
        </p:spPr>
        <p:txBody>
          <a:bodyPr vert="horz" wrap="square" lIns="0" tIns="43815" rIns="0" bIns="0" rtlCol="0" anchor="ctr" anchorCtr="0">
            <a:noAutofit/>
          </a:bodyPr>
          <a:lstStyle/>
          <a:p>
            <a:pPr marL="90805">
              <a:lnSpc>
                <a:spcPct val="100000"/>
              </a:lnSpc>
              <a:spcBef>
                <a:spcPts val="345"/>
              </a:spcBef>
            </a:pPr>
            <a:r>
              <a:rPr sz="1600" spc="-15" dirty="0">
                <a:latin typeface="宋体"/>
                <a:cs typeface="宋体"/>
              </a:rPr>
              <a:t>指对集成版本进行相关管理的活动</a:t>
            </a:r>
            <a:endParaRPr sz="1600">
              <a:latin typeface="宋体"/>
              <a:cs typeface="宋体"/>
            </a:endParaRPr>
          </a:p>
        </p:txBody>
      </p:sp>
      <p:sp>
        <p:nvSpPr>
          <p:cNvPr id="50" name="object 50">
            <a:extLst>
              <a:ext uri="{FF2B5EF4-FFF2-40B4-BE49-F238E27FC236}">
                <a16:creationId xmlns:a16="http://schemas.microsoft.com/office/drawing/2014/main" id="{6C84F320-B1E9-67B6-AA0D-15E76D4DE0AE}"/>
              </a:ext>
            </a:extLst>
          </p:cNvPr>
          <p:cNvSpPr txBox="1"/>
          <p:nvPr/>
        </p:nvSpPr>
        <p:spPr>
          <a:xfrm>
            <a:off x="6096000" y="1831968"/>
            <a:ext cx="3240000" cy="864000"/>
          </a:xfrm>
          <a:prstGeom prst="rect">
            <a:avLst/>
          </a:prstGeom>
          <a:ln w="9144">
            <a:solidFill>
              <a:srgbClr val="D9D9D9"/>
            </a:solidFill>
          </a:ln>
        </p:spPr>
        <p:txBody>
          <a:bodyPr vert="horz" wrap="square" lIns="0" tIns="43180" rIns="0" bIns="0" rtlCol="0" anchor="ctr" anchorCtr="0">
            <a:noAutofit/>
          </a:bodyPr>
          <a:lstStyle/>
          <a:p>
            <a:pPr marL="92075">
              <a:lnSpc>
                <a:spcPct val="100000"/>
              </a:lnSpc>
              <a:spcBef>
                <a:spcPts val="340"/>
              </a:spcBef>
            </a:pPr>
            <a:r>
              <a:rPr sz="1600" spc="-15" dirty="0">
                <a:latin typeface="宋体"/>
                <a:cs typeface="宋体"/>
              </a:rPr>
              <a:t>指项目在不同研发阶段任务的管理活动</a:t>
            </a:r>
            <a:endParaRPr sz="1600">
              <a:latin typeface="宋体"/>
              <a:cs typeface="宋体"/>
            </a:endParaRPr>
          </a:p>
        </p:txBody>
      </p:sp>
      <p:sp>
        <p:nvSpPr>
          <p:cNvPr id="51" name="object 51">
            <a:extLst>
              <a:ext uri="{FF2B5EF4-FFF2-40B4-BE49-F238E27FC236}">
                <a16:creationId xmlns:a16="http://schemas.microsoft.com/office/drawing/2014/main" id="{71E1DF1C-14DA-717F-E8A2-5456CCD61608}"/>
              </a:ext>
            </a:extLst>
          </p:cNvPr>
          <p:cNvSpPr txBox="1"/>
          <p:nvPr/>
        </p:nvSpPr>
        <p:spPr>
          <a:xfrm>
            <a:off x="6096000" y="2906808"/>
            <a:ext cx="3240000" cy="864000"/>
          </a:xfrm>
          <a:prstGeom prst="rect">
            <a:avLst/>
          </a:prstGeom>
          <a:ln w="9144">
            <a:solidFill>
              <a:srgbClr val="D9D9D9"/>
            </a:solidFill>
          </a:ln>
        </p:spPr>
        <p:txBody>
          <a:bodyPr vert="horz" wrap="square" lIns="0" tIns="52069" rIns="0" bIns="0" rtlCol="0" anchor="ctr" anchorCtr="0">
            <a:noAutofit/>
          </a:bodyPr>
          <a:lstStyle/>
          <a:p>
            <a:pPr marL="92075">
              <a:lnSpc>
                <a:spcPts val="1650"/>
              </a:lnSpc>
              <a:spcBef>
                <a:spcPts val="409"/>
              </a:spcBef>
            </a:pPr>
            <a:r>
              <a:rPr sz="1600" spc="-20" dirty="0" err="1">
                <a:latin typeface="宋体"/>
                <a:cs typeface="宋体"/>
              </a:rPr>
              <a:t>指对于软件生命周期内发生的缺陷发现及解决的过程</a:t>
            </a:r>
            <a:endParaRPr sz="1600" dirty="0">
              <a:latin typeface="宋体"/>
              <a:cs typeface="宋体"/>
            </a:endParaRPr>
          </a:p>
        </p:txBody>
      </p:sp>
      <p:sp>
        <p:nvSpPr>
          <p:cNvPr id="52" name="object 52">
            <a:extLst>
              <a:ext uri="{FF2B5EF4-FFF2-40B4-BE49-F238E27FC236}">
                <a16:creationId xmlns:a16="http://schemas.microsoft.com/office/drawing/2014/main" id="{20996B9F-96CD-AA4B-5106-00AD8BECA819}"/>
              </a:ext>
            </a:extLst>
          </p:cNvPr>
          <p:cNvSpPr txBox="1"/>
          <p:nvPr/>
        </p:nvSpPr>
        <p:spPr>
          <a:xfrm>
            <a:off x="6096000" y="3981648"/>
            <a:ext cx="3240000" cy="864000"/>
          </a:xfrm>
          <a:prstGeom prst="rect">
            <a:avLst/>
          </a:prstGeom>
          <a:ln w="9144">
            <a:solidFill>
              <a:srgbClr val="D9D9D9"/>
            </a:solidFill>
          </a:ln>
        </p:spPr>
        <p:txBody>
          <a:bodyPr vert="horz" wrap="square" lIns="0" tIns="43815" rIns="0" bIns="0" rtlCol="0" anchor="ctr" anchorCtr="0">
            <a:noAutofit/>
          </a:bodyPr>
          <a:lstStyle/>
          <a:p>
            <a:pPr marL="92075">
              <a:lnSpc>
                <a:spcPct val="100000"/>
              </a:lnSpc>
              <a:spcBef>
                <a:spcPts val="345"/>
              </a:spcBef>
            </a:pPr>
            <a:r>
              <a:rPr sz="1600" spc="-20" dirty="0">
                <a:latin typeface="宋体"/>
                <a:cs typeface="宋体"/>
              </a:rPr>
              <a:t>指对多个关联项目的集中管理与协调管理</a:t>
            </a:r>
            <a:endParaRPr sz="1600">
              <a:latin typeface="宋体"/>
              <a:cs typeface="宋体"/>
            </a:endParaRPr>
          </a:p>
        </p:txBody>
      </p:sp>
      <p:sp>
        <p:nvSpPr>
          <p:cNvPr id="53" name="object 53">
            <a:extLst>
              <a:ext uri="{FF2B5EF4-FFF2-40B4-BE49-F238E27FC236}">
                <a16:creationId xmlns:a16="http://schemas.microsoft.com/office/drawing/2014/main" id="{B321A721-3426-4C79-28E4-66544AE75EFA}"/>
              </a:ext>
            </a:extLst>
          </p:cNvPr>
          <p:cNvSpPr txBox="1"/>
          <p:nvPr/>
        </p:nvSpPr>
        <p:spPr>
          <a:xfrm>
            <a:off x="6096000" y="5056489"/>
            <a:ext cx="3240000" cy="864000"/>
          </a:xfrm>
          <a:prstGeom prst="rect">
            <a:avLst/>
          </a:prstGeom>
          <a:ln w="9144">
            <a:solidFill>
              <a:srgbClr val="D9D9D9"/>
            </a:solidFill>
          </a:ln>
        </p:spPr>
        <p:txBody>
          <a:bodyPr vert="horz" wrap="square" lIns="0" tIns="55244" rIns="0" bIns="0" rtlCol="0" anchor="ctr" anchorCtr="0">
            <a:noAutofit/>
          </a:bodyPr>
          <a:lstStyle/>
          <a:p>
            <a:pPr marL="92075" marR="116205" algn="just">
              <a:lnSpc>
                <a:spcPct val="98200"/>
              </a:lnSpc>
              <a:spcBef>
                <a:spcPts val="434"/>
              </a:spcBef>
            </a:pPr>
            <a:r>
              <a:rPr sz="1600" spc="-20" dirty="0">
                <a:latin typeface="宋体"/>
                <a:cs typeface="宋体"/>
              </a:rPr>
              <a:t>提供成员知识共享的平台，用于企业知识管理，通过可协作文档将知识积累沉淀，提高</a:t>
            </a:r>
            <a:r>
              <a:rPr sz="1600" spc="-10" dirty="0">
                <a:latin typeface="宋体"/>
                <a:cs typeface="宋体"/>
              </a:rPr>
              <a:t>企业运营效率</a:t>
            </a:r>
            <a:endParaRPr sz="1600">
              <a:latin typeface="宋体"/>
              <a:cs typeface="宋体"/>
            </a:endParaRPr>
          </a:p>
        </p:txBody>
      </p:sp>
      <p:sp>
        <p:nvSpPr>
          <p:cNvPr id="55" name="object 2">
            <a:extLst>
              <a:ext uri="{FF2B5EF4-FFF2-40B4-BE49-F238E27FC236}">
                <a16:creationId xmlns:a16="http://schemas.microsoft.com/office/drawing/2014/main" id="{C5744E07-9A9B-12FA-1124-7467E2431FFB}"/>
              </a:ext>
            </a:extLst>
          </p:cNvPr>
          <p:cNvSpPr txBox="1">
            <a:spLocks/>
          </p:cNvSpPr>
          <p:nvPr/>
        </p:nvSpPr>
        <p:spPr>
          <a:xfrm>
            <a:off x="718218" y="988758"/>
            <a:ext cx="10318115" cy="381515"/>
          </a:xfrm>
          <a:prstGeom prst="rect">
            <a:avLst/>
          </a:prstGeom>
        </p:spPr>
        <p:txBody>
          <a:bodyPr vert="horz" wrap="square" lIns="0" tIns="12065" rIns="0" bIns="0" rtlCol="0" anchor="ctr">
            <a:spAutoFit/>
          </a:bodyPr>
          <a:lstStyle>
            <a:lvl1pPr algn="l" defTabSz="914400" rtl="0" eaLnBrk="1" latinLnBrk="0" hangingPunct="1">
              <a:lnSpc>
                <a:spcPct val="90000"/>
              </a:lnSpc>
              <a:spcBef>
                <a:spcPct val="0"/>
              </a:spcBef>
              <a:buNone/>
              <a:defRPr sz="2800" b="1" kern="1200">
                <a:solidFill>
                  <a:schemeClr val="tx1"/>
                </a:solidFill>
                <a:latin typeface="方正粗雅宋简体" panose="02000000000000000000" pitchFamily="2" charset="-122"/>
                <a:ea typeface="方正粗雅宋简体" panose="02000000000000000000" pitchFamily="2" charset="-122"/>
                <a:cs typeface="+mj-cs"/>
              </a:defRPr>
            </a:lvl1pPr>
          </a:lstStyle>
          <a:p>
            <a:pPr marL="355600" indent="-342900">
              <a:lnSpc>
                <a:spcPct val="100000"/>
              </a:lnSpc>
              <a:spcBef>
                <a:spcPts val="95"/>
              </a:spcBef>
              <a:buFont typeface="Wingdings" panose="05000000000000000000" pitchFamily="2" charset="2"/>
              <a:buChar char="p"/>
            </a:pPr>
            <a:r>
              <a:rPr lang="en-US" altLang="zh-CN" sz="2400" dirty="0">
                <a:solidFill>
                  <a:srgbClr val="003F88"/>
                </a:solidFill>
                <a:latin typeface="+mn-lt"/>
                <a:ea typeface="+mn-ea"/>
                <a:cs typeface="+mn-cs"/>
              </a:rPr>
              <a:t>DevOps</a:t>
            </a:r>
            <a:r>
              <a:rPr lang="zh-CN" altLang="en-US" sz="2400" dirty="0">
                <a:solidFill>
                  <a:srgbClr val="003F88"/>
                </a:solidFill>
                <a:latin typeface="+mn-lt"/>
                <a:ea typeface="+mn-ea"/>
                <a:cs typeface="+mn-cs"/>
              </a:rPr>
              <a:t>标准能力框架图</a:t>
            </a:r>
            <a:r>
              <a:rPr lang="en-US" altLang="zh-CN" sz="2400" dirty="0">
                <a:solidFill>
                  <a:srgbClr val="003F88"/>
                </a:solidFill>
                <a:latin typeface="+mn-lt"/>
                <a:ea typeface="+mn-ea"/>
                <a:cs typeface="+mn-cs"/>
              </a:rPr>
              <a:t>——</a:t>
            </a:r>
            <a:r>
              <a:rPr lang="zh-CN" altLang="en-US" sz="2400" dirty="0">
                <a:solidFill>
                  <a:srgbClr val="003F88"/>
                </a:solidFill>
                <a:latin typeface="+mn-lt"/>
                <a:ea typeface="+mn-ea"/>
                <a:cs typeface="+mn-cs"/>
              </a:rPr>
              <a:t>项目管理域</a:t>
            </a:r>
          </a:p>
        </p:txBody>
      </p:sp>
    </p:spTree>
    <p:extLst>
      <p:ext uri="{BB962C8B-B14F-4D97-AF65-F5344CB8AC3E}">
        <p14:creationId xmlns:p14="http://schemas.microsoft.com/office/powerpoint/2010/main" val="30611711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03 DevOps</a:t>
            </a:r>
            <a:r>
              <a:rPr lang="zh-CN" altLang="en-US" dirty="0"/>
              <a:t>工具体系</a:t>
            </a:r>
          </a:p>
        </p:txBody>
      </p:sp>
      <p:sp>
        <p:nvSpPr>
          <p:cNvPr id="3" name="灯片编号占位符 2"/>
          <p:cNvSpPr>
            <a:spLocks noGrp="1"/>
          </p:cNvSpPr>
          <p:nvPr>
            <p:ph type="sldNum" sz="quarter" idx="12"/>
          </p:nvPr>
        </p:nvSpPr>
        <p:spPr/>
        <p:txBody>
          <a:bodyPr/>
          <a:lstStyle/>
          <a:p>
            <a:fld id="{1AAC388E-FA9E-4A2C-95EA-1F6B3A07935A}" type="slidenum">
              <a:rPr lang="zh-CN" altLang="en-US" sz="1400" smtClean="0">
                <a:solidFill>
                  <a:srgbClr val="000000"/>
                </a:solidFill>
              </a:rPr>
              <a:t>50</a:t>
            </a:fld>
            <a:endParaRPr lang="zh-CN" altLang="en-US" sz="1400" dirty="0">
              <a:solidFill>
                <a:srgbClr val="000000"/>
              </a:solidFill>
            </a:endParaRPr>
          </a:p>
        </p:txBody>
      </p:sp>
      <p:sp>
        <p:nvSpPr>
          <p:cNvPr id="4" name="object 4">
            <a:extLst>
              <a:ext uri="{FF2B5EF4-FFF2-40B4-BE49-F238E27FC236}">
                <a16:creationId xmlns:a16="http://schemas.microsoft.com/office/drawing/2014/main" id="{508EC6DA-8823-7003-E02D-B99A0B4A64F1}"/>
              </a:ext>
            </a:extLst>
          </p:cNvPr>
          <p:cNvSpPr txBox="1"/>
          <p:nvPr/>
        </p:nvSpPr>
        <p:spPr>
          <a:xfrm>
            <a:off x="752508" y="3053905"/>
            <a:ext cx="864235" cy="570230"/>
          </a:xfrm>
          <a:prstGeom prst="rect">
            <a:avLst/>
          </a:prstGeom>
          <a:solidFill>
            <a:srgbClr val="38A666"/>
          </a:solidFill>
        </p:spPr>
        <p:txBody>
          <a:bodyPr vert="horz" wrap="square" lIns="36000" tIns="0" rIns="36000" bIns="0" rtlCol="0" anchor="ctr" anchorCtr="0">
            <a:noAutofit/>
          </a:bodyPr>
          <a:lstStyle/>
          <a:p>
            <a:pPr algn="ctr">
              <a:lnSpc>
                <a:spcPct val="100000"/>
              </a:lnSpc>
            </a:pPr>
            <a:r>
              <a:rPr lang="zh-CN" altLang="en-US" sz="1400" b="1" dirty="0">
                <a:latin typeface="宋体"/>
                <a:cs typeface="宋体"/>
              </a:rPr>
              <a:t>代码评审</a:t>
            </a:r>
          </a:p>
        </p:txBody>
      </p:sp>
      <p:sp>
        <p:nvSpPr>
          <p:cNvPr id="5" name="object 5">
            <a:extLst>
              <a:ext uri="{FF2B5EF4-FFF2-40B4-BE49-F238E27FC236}">
                <a16:creationId xmlns:a16="http://schemas.microsoft.com/office/drawing/2014/main" id="{080D30BA-F0DF-8FA7-0E93-CE671E1B1F5D}"/>
              </a:ext>
            </a:extLst>
          </p:cNvPr>
          <p:cNvSpPr txBox="1"/>
          <p:nvPr/>
        </p:nvSpPr>
        <p:spPr>
          <a:xfrm>
            <a:off x="10632947" y="3054328"/>
            <a:ext cx="1007744" cy="568960"/>
          </a:xfrm>
          <a:prstGeom prst="rect">
            <a:avLst/>
          </a:prstGeom>
          <a:solidFill>
            <a:srgbClr val="38A666"/>
          </a:solidFill>
        </p:spPr>
        <p:txBody>
          <a:bodyPr vert="horz" wrap="square" lIns="36000" tIns="0" rIns="36000" bIns="0" rtlCol="0" anchor="ctr" anchorCtr="0">
            <a:noAutofit/>
          </a:bodyPr>
          <a:lstStyle>
            <a:defPPr>
              <a:defRPr lang="zh-CN"/>
            </a:defPPr>
            <a:lvl1pPr algn="ctr">
              <a:lnSpc>
                <a:spcPct val="100000"/>
              </a:lnSpc>
              <a:defRPr sz="1400" b="1" spc="-15">
                <a:latin typeface="宋体"/>
                <a:cs typeface="宋体"/>
              </a:defRPr>
            </a:lvl1pPr>
          </a:lstStyle>
          <a:p>
            <a:r>
              <a:rPr lang="zh-CN" altLang="en-US" dirty="0"/>
              <a:t>编译构建</a:t>
            </a:r>
            <a:endParaRPr dirty="0"/>
          </a:p>
        </p:txBody>
      </p:sp>
      <p:sp>
        <p:nvSpPr>
          <p:cNvPr id="6" name="object 6">
            <a:extLst>
              <a:ext uri="{FF2B5EF4-FFF2-40B4-BE49-F238E27FC236}">
                <a16:creationId xmlns:a16="http://schemas.microsoft.com/office/drawing/2014/main" id="{6AABE17D-F2AD-B91B-8A92-A2418B448464}"/>
              </a:ext>
            </a:extLst>
          </p:cNvPr>
          <p:cNvSpPr txBox="1"/>
          <p:nvPr/>
        </p:nvSpPr>
        <p:spPr>
          <a:xfrm>
            <a:off x="10632947" y="1979488"/>
            <a:ext cx="1007744" cy="568960"/>
          </a:xfrm>
          <a:prstGeom prst="rect">
            <a:avLst/>
          </a:prstGeom>
          <a:solidFill>
            <a:srgbClr val="38A666"/>
          </a:solidFill>
        </p:spPr>
        <p:txBody>
          <a:bodyPr vert="horz" wrap="square" lIns="36000" tIns="0" rIns="36000" bIns="0" rtlCol="0" anchor="ctr" anchorCtr="0">
            <a:noAutofit/>
          </a:bodyPr>
          <a:lstStyle>
            <a:defPPr>
              <a:defRPr lang="zh-CN"/>
            </a:defPPr>
            <a:lvl1pPr algn="ctr">
              <a:lnSpc>
                <a:spcPct val="100000"/>
              </a:lnSpc>
              <a:defRPr sz="1400" b="1" spc="-15">
                <a:latin typeface="宋体"/>
                <a:cs typeface="宋体"/>
              </a:defRPr>
            </a:lvl1pPr>
          </a:lstStyle>
          <a:p>
            <a:r>
              <a:rPr lang="zh-CN" altLang="en-US" dirty="0"/>
              <a:t>代码托管</a:t>
            </a:r>
            <a:endParaRPr dirty="0"/>
          </a:p>
        </p:txBody>
      </p:sp>
      <p:sp>
        <p:nvSpPr>
          <p:cNvPr id="7" name="object 7">
            <a:extLst>
              <a:ext uri="{FF2B5EF4-FFF2-40B4-BE49-F238E27FC236}">
                <a16:creationId xmlns:a16="http://schemas.microsoft.com/office/drawing/2014/main" id="{8D75CBD7-84C6-2712-C76B-FE84D2F53326}"/>
              </a:ext>
            </a:extLst>
          </p:cNvPr>
          <p:cNvSpPr txBox="1"/>
          <p:nvPr/>
        </p:nvSpPr>
        <p:spPr>
          <a:xfrm>
            <a:off x="752508" y="1978218"/>
            <a:ext cx="864235" cy="571500"/>
          </a:xfrm>
          <a:prstGeom prst="rect">
            <a:avLst/>
          </a:prstGeom>
          <a:solidFill>
            <a:srgbClr val="38A666"/>
          </a:solidFill>
        </p:spPr>
        <p:txBody>
          <a:bodyPr vert="horz" wrap="square" lIns="36000" tIns="0" rIns="36000" bIns="0" rtlCol="0" anchor="ctr" anchorCtr="0">
            <a:noAutofit/>
          </a:bodyPr>
          <a:lstStyle/>
          <a:p>
            <a:pPr algn="ctr">
              <a:lnSpc>
                <a:spcPct val="100000"/>
              </a:lnSpc>
            </a:pPr>
            <a:r>
              <a:rPr lang="zh-CN" altLang="en-US" sz="1400" b="1" spc="-15" dirty="0">
                <a:latin typeface="宋体"/>
                <a:cs typeface="宋体"/>
              </a:rPr>
              <a:t>集成开发环境</a:t>
            </a:r>
          </a:p>
        </p:txBody>
      </p:sp>
      <p:sp>
        <p:nvSpPr>
          <p:cNvPr id="8" name="object 8">
            <a:extLst>
              <a:ext uri="{FF2B5EF4-FFF2-40B4-BE49-F238E27FC236}">
                <a16:creationId xmlns:a16="http://schemas.microsoft.com/office/drawing/2014/main" id="{AEBFC6B6-BFD4-A345-29E5-21CF72268A13}"/>
              </a:ext>
            </a:extLst>
          </p:cNvPr>
          <p:cNvSpPr txBox="1"/>
          <p:nvPr/>
        </p:nvSpPr>
        <p:spPr>
          <a:xfrm>
            <a:off x="752508" y="4128322"/>
            <a:ext cx="864235" cy="571500"/>
          </a:xfrm>
          <a:prstGeom prst="rect">
            <a:avLst/>
          </a:prstGeom>
          <a:solidFill>
            <a:srgbClr val="38A666"/>
          </a:solidFill>
        </p:spPr>
        <p:txBody>
          <a:bodyPr vert="horz" wrap="square" lIns="36000" tIns="0" rIns="36000" bIns="0" rtlCol="0" anchor="ctr" anchorCtr="0">
            <a:noAutofit/>
          </a:bodyPr>
          <a:lstStyle/>
          <a:p>
            <a:pPr algn="ctr">
              <a:lnSpc>
                <a:spcPct val="100000"/>
              </a:lnSpc>
            </a:pPr>
            <a:r>
              <a:rPr lang="zh-CN" altLang="en-US" sz="1400" b="1" dirty="0">
                <a:latin typeface="宋体"/>
                <a:cs typeface="宋体"/>
              </a:rPr>
              <a:t>部署发布</a:t>
            </a:r>
            <a:endParaRPr sz="1400" b="1" dirty="0">
              <a:latin typeface="宋体"/>
              <a:cs typeface="宋体"/>
            </a:endParaRPr>
          </a:p>
        </p:txBody>
      </p:sp>
      <p:sp>
        <p:nvSpPr>
          <p:cNvPr id="9" name="object 9">
            <a:extLst>
              <a:ext uri="{FF2B5EF4-FFF2-40B4-BE49-F238E27FC236}">
                <a16:creationId xmlns:a16="http://schemas.microsoft.com/office/drawing/2014/main" id="{2C92D9ED-511A-50C7-DB6D-78377996AC50}"/>
              </a:ext>
            </a:extLst>
          </p:cNvPr>
          <p:cNvSpPr txBox="1"/>
          <p:nvPr/>
        </p:nvSpPr>
        <p:spPr>
          <a:xfrm>
            <a:off x="752508" y="5204009"/>
            <a:ext cx="864235" cy="568960"/>
          </a:xfrm>
          <a:prstGeom prst="rect">
            <a:avLst/>
          </a:prstGeom>
          <a:solidFill>
            <a:srgbClr val="38A666"/>
          </a:solidFill>
        </p:spPr>
        <p:txBody>
          <a:bodyPr vert="horz" wrap="square" lIns="36000" tIns="0" rIns="36000" bIns="0" rtlCol="0" anchor="ctr" anchorCtr="0">
            <a:noAutofit/>
          </a:bodyPr>
          <a:lstStyle>
            <a:defPPr>
              <a:defRPr lang="zh-CN"/>
            </a:defPPr>
            <a:lvl1pPr algn="ctr">
              <a:lnSpc>
                <a:spcPct val="100000"/>
              </a:lnSpc>
              <a:defRPr sz="1400" b="1" spc="-15">
                <a:latin typeface="宋体"/>
                <a:cs typeface="宋体"/>
              </a:defRPr>
            </a:lvl1pPr>
          </a:lstStyle>
          <a:p>
            <a:r>
              <a:rPr lang="zh-CN" altLang="en-US" dirty="0"/>
              <a:t>移动端发布管理</a:t>
            </a:r>
            <a:endParaRPr dirty="0"/>
          </a:p>
        </p:txBody>
      </p:sp>
      <p:sp>
        <p:nvSpPr>
          <p:cNvPr id="10" name="object 10">
            <a:extLst>
              <a:ext uri="{FF2B5EF4-FFF2-40B4-BE49-F238E27FC236}">
                <a16:creationId xmlns:a16="http://schemas.microsoft.com/office/drawing/2014/main" id="{F6CBC2C1-EF51-7096-04C5-D40A0A5A38CC}"/>
              </a:ext>
            </a:extLst>
          </p:cNvPr>
          <p:cNvSpPr txBox="1"/>
          <p:nvPr/>
        </p:nvSpPr>
        <p:spPr>
          <a:xfrm>
            <a:off x="10632947" y="5204009"/>
            <a:ext cx="1007744" cy="568960"/>
          </a:xfrm>
          <a:prstGeom prst="rect">
            <a:avLst/>
          </a:prstGeom>
          <a:solidFill>
            <a:srgbClr val="38A666"/>
          </a:solidFill>
        </p:spPr>
        <p:txBody>
          <a:bodyPr vert="horz" wrap="square" lIns="36000" tIns="0" rIns="36000" bIns="0" rtlCol="0" anchor="ctr" anchorCtr="0">
            <a:noAutofit/>
          </a:bodyPr>
          <a:lstStyle>
            <a:defPPr>
              <a:defRPr lang="zh-CN"/>
            </a:defPPr>
            <a:lvl1pPr algn="ctr">
              <a:lnSpc>
                <a:spcPct val="100000"/>
              </a:lnSpc>
              <a:defRPr sz="1400" b="1" spc="-15">
                <a:latin typeface="宋体"/>
                <a:cs typeface="宋体"/>
              </a:defRPr>
            </a:lvl1pPr>
          </a:lstStyle>
          <a:p>
            <a:r>
              <a:rPr lang="zh-CN" altLang="en-US" dirty="0"/>
              <a:t>制品管理</a:t>
            </a:r>
            <a:endParaRPr dirty="0"/>
          </a:p>
        </p:txBody>
      </p:sp>
      <p:sp>
        <p:nvSpPr>
          <p:cNvPr id="11" name="object 11">
            <a:extLst>
              <a:ext uri="{FF2B5EF4-FFF2-40B4-BE49-F238E27FC236}">
                <a16:creationId xmlns:a16="http://schemas.microsoft.com/office/drawing/2014/main" id="{8B3BFB04-D2D4-D174-D4C0-95E9EBA867EC}"/>
              </a:ext>
            </a:extLst>
          </p:cNvPr>
          <p:cNvSpPr txBox="1"/>
          <p:nvPr/>
        </p:nvSpPr>
        <p:spPr>
          <a:xfrm>
            <a:off x="10632947" y="4129168"/>
            <a:ext cx="1007744" cy="568960"/>
          </a:xfrm>
          <a:prstGeom prst="rect">
            <a:avLst/>
          </a:prstGeom>
          <a:solidFill>
            <a:srgbClr val="38A666"/>
          </a:solidFill>
        </p:spPr>
        <p:txBody>
          <a:bodyPr vert="horz" wrap="square" lIns="36000" tIns="0" rIns="36000" bIns="0" rtlCol="0" anchor="ctr" anchorCtr="0">
            <a:noAutofit/>
          </a:bodyPr>
          <a:lstStyle>
            <a:defPPr>
              <a:defRPr lang="zh-CN"/>
            </a:defPPr>
            <a:lvl1pPr algn="ctr">
              <a:lnSpc>
                <a:spcPct val="100000"/>
              </a:lnSpc>
              <a:defRPr sz="1400" b="1" spc="-15">
                <a:latin typeface="宋体"/>
                <a:cs typeface="宋体"/>
              </a:defRPr>
            </a:lvl1pPr>
          </a:lstStyle>
          <a:p>
            <a:r>
              <a:rPr lang="zh-CN" altLang="en-US" dirty="0"/>
              <a:t>流水线</a:t>
            </a:r>
            <a:endParaRPr dirty="0"/>
          </a:p>
        </p:txBody>
      </p:sp>
      <p:grpSp>
        <p:nvGrpSpPr>
          <p:cNvPr id="12" name="object 12">
            <a:extLst>
              <a:ext uri="{FF2B5EF4-FFF2-40B4-BE49-F238E27FC236}">
                <a16:creationId xmlns:a16="http://schemas.microsoft.com/office/drawing/2014/main" id="{A7355E95-56B6-E80C-FFB6-BB7893CF52C1}"/>
              </a:ext>
            </a:extLst>
          </p:cNvPr>
          <p:cNvGrpSpPr/>
          <p:nvPr/>
        </p:nvGrpSpPr>
        <p:grpSpPr>
          <a:xfrm>
            <a:off x="1826927" y="2173798"/>
            <a:ext cx="535305" cy="180340"/>
            <a:chOff x="1481327" y="1969007"/>
            <a:chExt cx="535305" cy="180340"/>
          </a:xfrm>
        </p:grpSpPr>
        <p:pic>
          <p:nvPicPr>
            <p:cNvPr id="13" name="object 13">
              <a:extLst>
                <a:ext uri="{FF2B5EF4-FFF2-40B4-BE49-F238E27FC236}">
                  <a16:creationId xmlns:a16="http://schemas.microsoft.com/office/drawing/2014/main" id="{1D3E65F0-B7AB-ACD0-B424-D4CFC95E0FFE}"/>
                </a:ext>
              </a:extLst>
            </p:cNvPr>
            <p:cNvPicPr/>
            <p:nvPr/>
          </p:nvPicPr>
          <p:blipFill>
            <a:blip r:embed="rId3" cstate="print"/>
            <a:stretch>
              <a:fillRect/>
            </a:stretch>
          </p:blipFill>
          <p:spPr>
            <a:xfrm>
              <a:off x="1481327" y="1969007"/>
              <a:ext cx="158496" cy="179831"/>
            </a:xfrm>
            <a:prstGeom prst="rect">
              <a:avLst/>
            </a:prstGeom>
          </p:spPr>
        </p:pic>
        <p:pic>
          <p:nvPicPr>
            <p:cNvPr id="14" name="object 14">
              <a:extLst>
                <a:ext uri="{FF2B5EF4-FFF2-40B4-BE49-F238E27FC236}">
                  <a16:creationId xmlns:a16="http://schemas.microsoft.com/office/drawing/2014/main" id="{DA2BECBD-FDDD-A7FC-6C0E-A8E76F9FA63C}"/>
                </a:ext>
              </a:extLst>
            </p:cNvPr>
            <p:cNvPicPr/>
            <p:nvPr/>
          </p:nvPicPr>
          <p:blipFill>
            <a:blip r:embed="rId4" cstate="print"/>
            <a:stretch>
              <a:fillRect/>
            </a:stretch>
          </p:blipFill>
          <p:spPr>
            <a:xfrm>
              <a:off x="1677923" y="1969007"/>
              <a:ext cx="158495" cy="179831"/>
            </a:xfrm>
            <a:prstGeom prst="rect">
              <a:avLst/>
            </a:prstGeom>
          </p:spPr>
        </p:pic>
        <p:pic>
          <p:nvPicPr>
            <p:cNvPr id="15" name="object 15">
              <a:extLst>
                <a:ext uri="{FF2B5EF4-FFF2-40B4-BE49-F238E27FC236}">
                  <a16:creationId xmlns:a16="http://schemas.microsoft.com/office/drawing/2014/main" id="{B5B96A76-B0EB-7FB2-2144-1F4CECD3A174}"/>
                </a:ext>
              </a:extLst>
            </p:cNvPr>
            <p:cNvPicPr/>
            <p:nvPr/>
          </p:nvPicPr>
          <p:blipFill>
            <a:blip r:embed="rId3" cstate="print"/>
            <a:stretch>
              <a:fillRect/>
            </a:stretch>
          </p:blipFill>
          <p:spPr>
            <a:xfrm>
              <a:off x="1857755" y="1969007"/>
              <a:ext cx="158495" cy="179831"/>
            </a:xfrm>
            <a:prstGeom prst="rect">
              <a:avLst/>
            </a:prstGeom>
          </p:spPr>
        </p:pic>
      </p:grpSp>
      <p:grpSp>
        <p:nvGrpSpPr>
          <p:cNvPr id="16" name="object 16">
            <a:extLst>
              <a:ext uri="{FF2B5EF4-FFF2-40B4-BE49-F238E27FC236}">
                <a16:creationId xmlns:a16="http://schemas.microsoft.com/office/drawing/2014/main" id="{9102B260-C8FB-2673-5175-A390D239DFDC}"/>
              </a:ext>
            </a:extLst>
          </p:cNvPr>
          <p:cNvGrpSpPr/>
          <p:nvPr/>
        </p:nvGrpSpPr>
        <p:grpSpPr>
          <a:xfrm>
            <a:off x="1826927" y="3248638"/>
            <a:ext cx="535305" cy="180340"/>
            <a:chOff x="1481327" y="2665476"/>
            <a:chExt cx="535305" cy="180340"/>
          </a:xfrm>
        </p:grpSpPr>
        <p:pic>
          <p:nvPicPr>
            <p:cNvPr id="17" name="object 17">
              <a:extLst>
                <a:ext uri="{FF2B5EF4-FFF2-40B4-BE49-F238E27FC236}">
                  <a16:creationId xmlns:a16="http://schemas.microsoft.com/office/drawing/2014/main" id="{8C34D627-BFAE-6B49-2004-54C8470A4656}"/>
                </a:ext>
              </a:extLst>
            </p:cNvPr>
            <p:cNvPicPr/>
            <p:nvPr/>
          </p:nvPicPr>
          <p:blipFill>
            <a:blip r:embed="rId5" cstate="print"/>
            <a:stretch>
              <a:fillRect/>
            </a:stretch>
          </p:blipFill>
          <p:spPr>
            <a:xfrm>
              <a:off x="1481327" y="2665476"/>
              <a:ext cx="158496" cy="179832"/>
            </a:xfrm>
            <a:prstGeom prst="rect">
              <a:avLst/>
            </a:prstGeom>
          </p:spPr>
        </p:pic>
        <p:pic>
          <p:nvPicPr>
            <p:cNvPr id="18" name="object 18">
              <a:extLst>
                <a:ext uri="{FF2B5EF4-FFF2-40B4-BE49-F238E27FC236}">
                  <a16:creationId xmlns:a16="http://schemas.microsoft.com/office/drawing/2014/main" id="{7619DD61-3D22-B988-FAE4-0DBBEA20EA68}"/>
                </a:ext>
              </a:extLst>
            </p:cNvPr>
            <p:cNvPicPr/>
            <p:nvPr/>
          </p:nvPicPr>
          <p:blipFill>
            <a:blip r:embed="rId6" cstate="print"/>
            <a:stretch>
              <a:fillRect/>
            </a:stretch>
          </p:blipFill>
          <p:spPr>
            <a:xfrm>
              <a:off x="1677923" y="2665476"/>
              <a:ext cx="158495" cy="179832"/>
            </a:xfrm>
            <a:prstGeom prst="rect">
              <a:avLst/>
            </a:prstGeom>
          </p:spPr>
        </p:pic>
        <p:pic>
          <p:nvPicPr>
            <p:cNvPr id="19" name="object 19">
              <a:extLst>
                <a:ext uri="{FF2B5EF4-FFF2-40B4-BE49-F238E27FC236}">
                  <a16:creationId xmlns:a16="http://schemas.microsoft.com/office/drawing/2014/main" id="{CB3964CD-D6E1-40E0-2B59-998AD6B2D54C}"/>
                </a:ext>
              </a:extLst>
            </p:cNvPr>
            <p:cNvPicPr/>
            <p:nvPr/>
          </p:nvPicPr>
          <p:blipFill>
            <a:blip r:embed="rId5" cstate="print"/>
            <a:stretch>
              <a:fillRect/>
            </a:stretch>
          </p:blipFill>
          <p:spPr>
            <a:xfrm>
              <a:off x="1857755" y="2665476"/>
              <a:ext cx="158495" cy="179832"/>
            </a:xfrm>
            <a:prstGeom prst="rect">
              <a:avLst/>
            </a:prstGeom>
          </p:spPr>
        </p:pic>
      </p:grpSp>
      <p:grpSp>
        <p:nvGrpSpPr>
          <p:cNvPr id="20" name="object 20">
            <a:extLst>
              <a:ext uri="{FF2B5EF4-FFF2-40B4-BE49-F238E27FC236}">
                <a16:creationId xmlns:a16="http://schemas.microsoft.com/office/drawing/2014/main" id="{DE6F4D1E-9005-3790-8D6A-5E1AC75D8B8A}"/>
              </a:ext>
            </a:extLst>
          </p:cNvPr>
          <p:cNvGrpSpPr/>
          <p:nvPr/>
        </p:nvGrpSpPr>
        <p:grpSpPr>
          <a:xfrm>
            <a:off x="1826927" y="4323478"/>
            <a:ext cx="535305" cy="180340"/>
            <a:chOff x="1481327" y="3361944"/>
            <a:chExt cx="535305" cy="180340"/>
          </a:xfrm>
        </p:grpSpPr>
        <p:pic>
          <p:nvPicPr>
            <p:cNvPr id="21" name="object 21">
              <a:extLst>
                <a:ext uri="{FF2B5EF4-FFF2-40B4-BE49-F238E27FC236}">
                  <a16:creationId xmlns:a16="http://schemas.microsoft.com/office/drawing/2014/main" id="{75237B0C-8743-5D12-8208-92E580DF1B46}"/>
                </a:ext>
              </a:extLst>
            </p:cNvPr>
            <p:cNvPicPr/>
            <p:nvPr/>
          </p:nvPicPr>
          <p:blipFill>
            <a:blip r:embed="rId3" cstate="print"/>
            <a:stretch>
              <a:fillRect/>
            </a:stretch>
          </p:blipFill>
          <p:spPr>
            <a:xfrm>
              <a:off x="1481327" y="3361944"/>
              <a:ext cx="158496" cy="179831"/>
            </a:xfrm>
            <a:prstGeom prst="rect">
              <a:avLst/>
            </a:prstGeom>
          </p:spPr>
        </p:pic>
        <p:pic>
          <p:nvPicPr>
            <p:cNvPr id="22" name="object 22">
              <a:extLst>
                <a:ext uri="{FF2B5EF4-FFF2-40B4-BE49-F238E27FC236}">
                  <a16:creationId xmlns:a16="http://schemas.microsoft.com/office/drawing/2014/main" id="{D0E0A3EE-1B49-2AE3-71AF-247A6038DEE8}"/>
                </a:ext>
              </a:extLst>
            </p:cNvPr>
            <p:cNvPicPr/>
            <p:nvPr/>
          </p:nvPicPr>
          <p:blipFill>
            <a:blip r:embed="rId4" cstate="print"/>
            <a:stretch>
              <a:fillRect/>
            </a:stretch>
          </p:blipFill>
          <p:spPr>
            <a:xfrm>
              <a:off x="1677923" y="3361944"/>
              <a:ext cx="158495" cy="179831"/>
            </a:xfrm>
            <a:prstGeom prst="rect">
              <a:avLst/>
            </a:prstGeom>
          </p:spPr>
        </p:pic>
        <p:pic>
          <p:nvPicPr>
            <p:cNvPr id="23" name="object 23">
              <a:extLst>
                <a:ext uri="{FF2B5EF4-FFF2-40B4-BE49-F238E27FC236}">
                  <a16:creationId xmlns:a16="http://schemas.microsoft.com/office/drawing/2014/main" id="{D2C6E968-3089-2E68-13E1-BAF5F918AF6E}"/>
                </a:ext>
              </a:extLst>
            </p:cNvPr>
            <p:cNvPicPr/>
            <p:nvPr/>
          </p:nvPicPr>
          <p:blipFill>
            <a:blip r:embed="rId3" cstate="print"/>
            <a:stretch>
              <a:fillRect/>
            </a:stretch>
          </p:blipFill>
          <p:spPr>
            <a:xfrm>
              <a:off x="1857755" y="3361944"/>
              <a:ext cx="158495" cy="179831"/>
            </a:xfrm>
            <a:prstGeom prst="rect">
              <a:avLst/>
            </a:prstGeom>
          </p:spPr>
        </p:pic>
      </p:grpSp>
      <p:grpSp>
        <p:nvGrpSpPr>
          <p:cNvPr id="24" name="object 24">
            <a:extLst>
              <a:ext uri="{FF2B5EF4-FFF2-40B4-BE49-F238E27FC236}">
                <a16:creationId xmlns:a16="http://schemas.microsoft.com/office/drawing/2014/main" id="{A5409B6E-5739-182B-AD35-077E62A44B96}"/>
              </a:ext>
            </a:extLst>
          </p:cNvPr>
          <p:cNvGrpSpPr/>
          <p:nvPr/>
        </p:nvGrpSpPr>
        <p:grpSpPr>
          <a:xfrm>
            <a:off x="1826927" y="5398319"/>
            <a:ext cx="535305" cy="180340"/>
            <a:chOff x="1481327" y="4058411"/>
            <a:chExt cx="535305" cy="180340"/>
          </a:xfrm>
        </p:grpSpPr>
        <p:pic>
          <p:nvPicPr>
            <p:cNvPr id="25" name="object 25">
              <a:extLst>
                <a:ext uri="{FF2B5EF4-FFF2-40B4-BE49-F238E27FC236}">
                  <a16:creationId xmlns:a16="http://schemas.microsoft.com/office/drawing/2014/main" id="{00E0D14C-6F18-441A-C8B6-0F7ABC390BEE}"/>
                </a:ext>
              </a:extLst>
            </p:cNvPr>
            <p:cNvPicPr/>
            <p:nvPr/>
          </p:nvPicPr>
          <p:blipFill>
            <a:blip r:embed="rId3" cstate="print"/>
            <a:stretch>
              <a:fillRect/>
            </a:stretch>
          </p:blipFill>
          <p:spPr>
            <a:xfrm>
              <a:off x="1481327" y="4058411"/>
              <a:ext cx="158496" cy="179831"/>
            </a:xfrm>
            <a:prstGeom prst="rect">
              <a:avLst/>
            </a:prstGeom>
          </p:spPr>
        </p:pic>
        <p:pic>
          <p:nvPicPr>
            <p:cNvPr id="26" name="object 26">
              <a:extLst>
                <a:ext uri="{FF2B5EF4-FFF2-40B4-BE49-F238E27FC236}">
                  <a16:creationId xmlns:a16="http://schemas.microsoft.com/office/drawing/2014/main" id="{B7A82E60-F82D-19F0-C98D-D24F40708979}"/>
                </a:ext>
              </a:extLst>
            </p:cNvPr>
            <p:cNvPicPr/>
            <p:nvPr/>
          </p:nvPicPr>
          <p:blipFill>
            <a:blip r:embed="rId4" cstate="print"/>
            <a:stretch>
              <a:fillRect/>
            </a:stretch>
          </p:blipFill>
          <p:spPr>
            <a:xfrm>
              <a:off x="1677923" y="4058411"/>
              <a:ext cx="158495" cy="179831"/>
            </a:xfrm>
            <a:prstGeom prst="rect">
              <a:avLst/>
            </a:prstGeom>
          </p:spPr>
        </p:pic>
        <p:pic>
          <p:nvPicPr>
            <p:cNvPr id="27" name="object 27">
              <a:extLst>
                <a:ext uri="{FF2B5EF4-FFF2-40B4-BE49-F238E27FC236}">
                  <a16:creationId xmlns:a16="http://schemas.microsoft.com/office/drawing/2014/main" id="{CCED580D-954E-A066-B0C2-1294451E491D}"/>
                </a:ext>
              </a:extLst>
            </p:cNvPr>
            <p:cNvPicPr/>
            <p:nvPr/>
          </p:nvPicPr>
          <p:blipFill>
            <a:blip r:embed="rId3" cstate="print"/>
            <a:stretch>
              <a:fillRect/>
            </a:stretch>
          </p:blipFill>
          <p:spPr>
            <a:xfrm>
              <a:off x="1857755" y="4058411"/>
              <a:ext cx="158495" cy="179831"/>
            </a:xfrm>
            <a:prstGeom prst="rect">
              <a:avLst/>
            </a:prstGeom>
          </p:spPr>
        </p:pic>
      </p:grpSp>
      <p:grpSp>
        <p:nvGrpSpPr>
          <p:cNvPr id="28" name="object 28">
            <a:extLst>
              <a:ext uri="{FF2B5EF4-FFF2-40B4-BE49-F238E27FC236}">
                <a16:creationId xmlns:a16="http://schemas.microsoft.com/office/drawing/2014/main" id="{7A351EDB-E5A3-CA33-AD2B-E942837098CA}"/>
              </a:ext>
            </a:extLst>
          </p:cNvPr>
          <p:cNvGrpSpPr/>
          <p:nvPr/>
        </p:nvGrpSpPr>
        <p:grpSpPr>
          <a:xfrm>
            <a:off x="9809988" y="3249908"/>
            <a:ext cx="535305" cy="178435"/>
            <a:chOff x="9809988" y="2697479"/>
            <a:chExt cx="535305" cy="178435"/>
          </a:xfrm>
        </p:grpSpPr>
        <p:pic>
          <p:nvPicPr>
            <p:cNvPr id="29" name="object 29">
              <a:extLst>
                <a:ext uri="{FF2B5EF4-FFF2-40B4-BE49-F238E27FC236}">
                  <a16:creationId xmlns:a16="http://schemas.microsoft.com/office/drawing/2014/main" id="{ED9BAC4F-B1BD-CA85-01FF-3A4F37787C1D}"/>
                </a:ext>
              </a:extLst>
            </p:cNvPr>
            <p:cNvPicPr/>
            <p:nvPr/>
          </p:nvPicPr>
          <p:blipFill>
            <a:blip r:embed="rId7" cstate="print"/>
            <a:stretch>
              <a:fillRect/>
            </a:stretch>
          </p:blipFill>
          <p:spPr>
            <a:xfrm>
              <a:off x="10186416" y="2697479"/>
              <a:ext cx="158495" cy="178308"/>
            </a:xfrm>
            <a:prstGeom prst="rect">
              <a:avLst/>
            </a:prstGeom>
          </p:spPr>
        </p:pic>
        <p:pic>
          <p:nvPicPr>
            <p:cNvPr id="30" name="object 30">
              <a:extLst>
                <a:ext uri="{FF2B5EF4-FFF2-40B4-BE49-F238E27FC236}">
                  <a16:creationId xmlns:a16="http://schemas.microsoft.com/office/drawing/2014/main" id="{F4383A03-486F-1C3B-367E-234B47D94545}"/>
                </a:ext>
              </a:extLst>
            </p:cNvPr>
            <p:cNvPicPr/>
            <p:nvPr/>
          </p:nvPicPr>
          <p:blipFill>
            <a:blip r:embed="rId7" cstate="print"/>
            <a:stretch>
              <a:fillRect/>
            </a:stretch>
          </p:blipFill>
          <p:spPr>
            <a:xfrm>
              <a:off x="9989820" y="2697479"/>
              <a:ext cx="158496" cy="178308"/>
            </a:xfrm>
            <a:prstGeom prst="rect">
              <a:avLst/>
            </a:prstGeom>
          </p:spPr>
        </p:pic>
        <p:pic>
          <p:nvPicPr>
            <p:cNvPr id="31" name="object 31">
              <a:extLst>
                <a:ext uri="{FF2B5EF4-FFF2-40B4-BE49-F238E27FC236}">
                  <a16:creationId xmlns:a16="http://schemas.microsoft.com/office/drawing/2014/main" id="{38A69509-79B9-9EF6-D450-B1F04585B4B3}"/>
                </a:ext>
              </a:extLst>
            </p:cNvPr>
            <p:cNvPicPr/>
            <p:nvPr/>
          </p:nvPicPr>
          <p:blipFill>
            <a:blip r:embed="rId7" cstate="print"/>
            <a:stretch>
              <a:fillRect/>
            </a:stretch>
          </p:blipFill>
          <p:spPr>
            <a:xfrm>
              <a:off x="9809988" y="2697479"/>
              <a:ext cx="158495" cy="178308"/>
            </a:xfrm>
            <a:prstGeom prst="rect">
              <a:avLst/>
            </a:prstGeom>
          </p:spPr>
        </p:pic>
      </p:grpSp>
      <p:grpSp>
        <p:nvGrpSpPr>
          <p:cNvPr id="32" name="object 32">
            <a:extLst>
              <a:ext uri="{FF2B5EF4-FFF2-40B4-BE49-F238E27FC236}">
                <a16:creationId xmlns:a16="http://schemas.microsoft.com/office/drawing/2014/main" id="{907C50F7-5432-043E-D7C7-62D28655323B}"/>
              </a:ext>
            </a:extLst>
          </p:cNvPr>
          <p:cNvGrpSpPr/>
          <p:nvPr/>
        </p:nvGrpSpPr>
        <p:grpSpPr>
          <a:xfrm>
            <a:off x="9809988" y="4324113"/>
            <a:ext cx="535305" cy="178435"/>
            <a:chOff x="9809988" y="3406140"/>
            <a:chExt cx="535305" cy="178435"/>
          </a:xfrm>
        </p:grpSpPr>
        <p:pic>
          <p:nvPicPr>
            <p:cNvPr id="33" name="object 33">
              <a:extLst>
                <a:ext uri="{FF2B5EF4-FFF2-40B4-BE49-F238E27FC236}">
                  <a16:creationId xmlns:a16="http://schemas.microsoft.com/office/drawing/2014/main" id="{ACCA1412-DD9E-1DC9-297C-8C9EFFE1AF12}"/>
                </a:ext>
              </a:extLst>
            </p:cNvPr>
            <p:cNvPicPr/>
            <p:nvPr/>
          </p:nvPicPr>
          <p:blipFill>
            <a:blip r:embed="rId7" cstate="print"/>
            <a:stretch>
              <a:fillRect/>
            </a:stretch>
          </p:blipFill>
          <p:spPr>
            <a:xfrm>
              <a:off x="10186416" y="3406140"/>
              <a:ext cx="158495" cy="178308"/>
            </a:xfrm>
            <a:prstGeom prst="rect">
              <a:avLst/>
            </a:prstGeom>
          </p:spPr>
        </p:pic>
        <p:pic>
          <p:nvPicPr>
            <p:cNvPr id="34" name="object 34">
              <a:extLst>
                <a:ext uri="{FF2B5EF4-FFF2-40B4-BE49-F238E27FC236}">
                  <a16:creationId xmlns:a16="http://schemas.microsoft.com/office/drawing/2014/main" id="{8D0FA047-10E8-0B21-6BD4-3273D6149F8B}"/>
                </a:ext>
              </a:extLst>
            </p:cNvPr>
            <p:cNvPicPr/>
            <p:nvPr/>
          </p:nvPicPr>
          <p:blipFill>
            <a:blip r:embed="rId7" cstate="print"/>
            <a:stretch>
              <a:fillRect/>
            </a:stretch>
          </p:blipFill>
          <p:spPr>
            <a:xfrm>
              <a:off x="9989820" y="3406140"/>
              <a:ext cx="158496" cy="178308"/>
            </a:xfrm>
            <a:prstGeom prst="rect">
              <a:avLst/>
            </a:prstGeom>
          </p:spPr>
        </p:pic>
        <p:pic>
          <p:nvPicPr>
            <p:cNvPr id="35" name="object 35">
              <a:extLst>
                <a:ext uri="{FF2B5EF4-FFF2-40B4-BE49-F238E27FC236}">
                  <a16:creationId xmlns:a16="http://schemas.microsoft.com/office/drawing/2014/main" id="{E314DA06-B4B3-6761-17D5-A6FD7BDF177C}"/>
                </a:ext>
              </a:extLst>
            </p:cNvPr>
            <p:cNvPicPr/>
            <p:nvPr/>
          </p:nvPicPr>
          <p:blipFill>
            <a:blip r:embed="rId7" cstate="print"/>
            <a:stretch>
              <a:fillRect/>
            </a:stretch>
          </p:blipFill>
          <p:spPr>
            <a:xfrm>
              <a:off x="9809988" y="3406140"/>
              <a:ext cx="158495" cy="178308"/>
            </a:xfrm>
            <a:prstGeom prst="rect">
              <a:avLst/>
            </a:prstGeom>
          </p:spPr>
        </p:pic>
      </p:grpSp>
      <p:grpSp>
        <p:nvGrpSpPr>
          <p:cNvPr id="36" name="object 36">
            <a:extLst>
              <a:ext uri="{FF2B5EF4-FFF2-40B4-BE49-F238E27FC236}">
                <a16:creationId xmlns:a16="http://schemas.microsoft.com/office/drawing/2014/main" id="{0E6376DA-09BD-51CC-759D-A6B90EA101E8}"/>
              </a:ext>
            </a:extLst>
          </p:cNvPr>
          <p:cNvGrpSpPr/>
          <p:nvPr/>
        </p:nvGrpSpPr>
        <p:grpSpPr>
          <a:xfrm>
            <a:off x="9809988" y="5398319"/>
            <a:ext cx="535305" cy="180340"/>
            <a:chOff x="9809988" y="4113276"/>
            <a:chExt cx="535305" cy="180340"/>
          </a:xfrm>
        </p:grpSpPr>
        <p:pic>
          <p:nvPicPr>
            <p:cNvPr id="37" name="object 37">
              <a:extLst>
                <a:ext uri="{FF2B5EF4-FFF2-40B4-BE49-F238E27FC236}">
                  <a16:creationId xmlns:a16="http://schemas.microsoft.com/office/drawing/2014/main" id="{1A9F26DA-6620-220F-1340-B15BA64F6A8F}"/>
                </a:ext>
              </a:extLst>
            </p:cNvPr>
            <p:cNvPicPr/>
            <p:nvPr/>
          </p:nvPicPr>
          <p:blipFill>
            <a:blip r:embed="rId8" cstate="print"/>
            <a:stretch>
              <a:fillRect/>
            </a:stretch>
          </p:blipFill>
          <p:spPr>
            <a:xfrm>
              <a:off x="10186416" y="4113276"/>
              <a:ext cx="158495" cy="179831"/>
            </a:xfrm>
            <a:prstGeom prst="rect">
              <a:avLst/>
            </a:prstGeom>
          </p:spPr>
        </p:pic>
        <p:pic>
          <p:nvPicPr>
            <p:cNvPr id="38" name="object 38">
              <a:extLst>
                <a:ext uri="{FF2B5EF4-FFF2-40B4-BE49-F238E27FC236}">
                  <a16:creationId xmlns:a16="http://schemas.microsoft.com/office/drawing/2014/main" id="{F4C0003A-E091-1530-1577-68E989D5A428}"/>
                </a:ext>
              </a:extLst>
            </p:cNvPr>
            <p:cNvPicPr/>
            <p:nvPr/>
          </p:nvPicPr>
          <p:blipFill>
            <a:blip r:embed="rId8" cstate="print"/>
            <a:stretch>
              <a:fillRect/>
            </a:stretch>
          </p:blipFill>
          <p:spPr>
            <a:xfrm>
              <a:off x="9989820" y="4113276"/>
              <a:ext cx="158496" cy="179831"/>
            </a:xfrm>
            <a:prstGeom prst="rect">
              <a:avLst/>
            </a:prstGeom>
          </p:spPr>
        </p:pic>
        <p:pic>
          <p:nvPicPr>
            <p:cNvPr id="39" name="object 39">
              <a:extLst>
                <a:ext uri="{FF2B5EF4-FFF2-40B4-BE49-F238E27FC236}">
                  <a16:creationId xmlns:a16="http://schemas.microsoft.com/office/drawing/2014/main" id="{FC0395BF-0158-9D02-8DCF-7D6D953EF980}"/>
                </a:ext>
              </a:extLst>
            </p:cNvPr>
            <p:cNvPicPr/>
            <p:nvPr/>
          </p:nvPicPr>
          <p:blipFill>
            <a:blip r:embed="rId8" cstate="print"/>
            <a:stretch>
              <a:fillRect/>
            </a:stretch>
          </p:blipFill>
          <p:spPr>
            <a:xfrm>
              <a:off x="9809988" y="4113276"/>
              <a:ext cx="158495" cy="179831"/>
            </a:xfrm>
            <a:prstGeom prst="rect">
              <a:avLst/>
            </a:prstGeom>
          </p:spPr>
        </p:pic>
      </p:grpSp>
      <p:grpSp>
        <p:nvGrpSpPr>
          <p:cNvPr id="40" name="object 40">
            <a:extLst>
              <a:ext uri="{FF2B5EF4-FFF2-40B4-BE49-F238E27FC236}">
                <a16:creationId xmlns:a16="http://schemas.microsoft.com/office/drawing/2014/main" id="{42A27B10-2D5C-6E82-F879-ED2CB9D46063}"/>
              </a:ext>
            </a:extLst>
          </p:cNvPr>
          <p:cNvGrpSpPr/>
          <p:nvPr/>
        </p:nvGrpSpPr>
        <p:grpSpPr>
          <a:xfrm>
            <a:off x="9809988" y="2173798"/>
            <a:ext cx="535305" cy="180340"/>
            <a:chOff x="9809988" y="1988820"/>
            <a:chExt cx="535305" cy="180340"/>
          </a:xfrm>
        </p:grpSpPr>
        <p:pic>
          <p:nvPicPr>
            <p:cNvPr id="41" name="object 41">
              <a:extLst>
                <a:ext uri="{FF2B5EF4-FFF2-40B4-BE49-F238E27FC236}">
                  <a16:creationId xmlns:a16="http://schemas.microsoft.com/office/drawing/2014/main" id="{D6B48738-F347-BFF4-9B51-848891CC34CB}"/>
                </a:ext>
              </a:extLst>
            </p:cNvPr>
            <p:cNvPicPr/>
            <p:nvPr/>
          </p:nvPicPr>
          <p:blipFill>
            <a:blip r:embed="rId8" cstate="print"/>
            <a:stretch>
              <a:fillRect/>
            </a:stretch>
          </p:blipFill>
          <p:spPr>
            <a:xfrm>
              <a:off x="10186416" y="1988820"/>
              <a:ext cx="158495" cy="179831"/>
            </a:xfrm>
            <a:prstGeom prst="rect">
              <a:avLst/>
            </a:prstGeom>
          </p:spPr>
        </p:pic>
        <p:pic>
          <p:nvPicPr>
            <p:cNvPr id="42" name="object 42">
              <a:extLst>
                <a:ext uri="{FF2B5EF4-FFF2-40B4-BE49-F238E27FC236}">
                  <a16:creationId xmlns:a16="http://schemas.microsoft.com/office/drawing/2014/main" id="{4CDC41B9-3D99-CF6E-0717-0DC62CE457DA}"/>
                </a:ext>
              </a:extLst>
            </p:cNvPr>
            <p:cNvPicPr/>
            <p:nvPr/>
          </p:nvPicPr>
          <p:blipFill>
            <a:blip r:embed="rId8" cstate="print"/>
            <a:stretch>
              <a:fillRect/>
            </a:stretch>
          </p:blipFill>
          <p:spPr>
            <a:xfrm>
              <a:off x="9989820" y="1988820"/>
              <a:ext cx="158496" cy="179831"/>
            </a:xfrm>
            <a:prstGeom prst="rect">
              <a:avLst/>
            </a:prstGeom>
          </p:spPr>
        </p:pic>
        <p:pic>
          <p:nvPicPr>
            <p:cNvPr id="43" name="object 43">
              <a:extLst>
                <a:ext uri="{FF2B5EF4-FFF2-40B4-BE49-F238E27FC236}">
                  <a16:creationId xmlns:a16="http://schemas.microsoft.com/office/drawing/2014/main" id="{AC99CA56-FC14-7702-01D7-66D5A33E7FD7}"/>
                </a:ext>
              </a:extLst>
            </p:cNvPr>
            <p:cNvPicPr/>
            <p:nvPr/>
          </p:nvPicPr>
          <p:blipFill>
            <a:blip r:embed="rId8" cstate="print"/>
            <a:stretch>
              <a:fillRect/>
            </a:stretch>
          </p:blipFill>
          <p:spPr>
            <a:xfrm>
              <a:off x="9809988" y="1988820"/>
              <a:ext cx="158495" cy="179831"/>
            </a:xfrm>
            <a:prstGeom prst="rect">
              <a:avLst/>
            </a:prstGeom>
          </p:spPr>
        </p:pic>
      </p:grpSp>
      <p:sp>
        <p:nvSpPr>
          <p:cNvPr id="44" name="object 44">
            <a:extLst>
              <a:ext uri="{FF2B5EF4-FFF2-40B4-BE49-F238E27FC236}">
                <a16:creationId xmlns:a16="http://schemas.microsoft.com/office/drawing/2014/main" id="{1C02C6B0-EA75-ECE7-B7FC-5555B7C49594}"/>
              </a:ext>
            </a:extLst>
          </p:cNvPr>
          <p:cNvSpPr txBox="1"/>
          <p:nvPr/>
        </p:nvSpPr>
        <p:spPr>
          <a:xfrm>
            <a:off x="2474627" y="1831968"/>
            <a:ext cx="3240000" cy="864000"/>
          </a:xfrm>
          <a:prstGeom prst="rect">
            <a:avLst/>
          </a:prstGeom>
          <a:ln w="9144">
            <a:solidFill>
              <a:srgbClr val="D9D9D9"/>
            </a:solidFill>
          </a:ln>
        </p:spPr>
        <p:txBody>
          <a:bodyPr vert="horz" wrap="square" lIns="0" tIns="43180" rIns="0" bIns="0" rtlCol="0" anchor="ctr" anchorCtr="0">
            <a:noAutofit/>
          </a:bodyPr>
          <a:lstStyle/>
          <a:p>
            <a:pPr marL="90805">
              <a:lnSpc>
                <a:spcPct val="100000"/>
              </a:lnSpc>
              <a:spcBef>
                <a:spcPts val="340"/>
              </a:spcBef>
            </a:pPr>
            <a:r>
              <a:rPr lang="zh-CN" altLang="en-US" sz="1600" spc="-20" dirty="0">
                <a:latin typeface="宋体"/>
                <a:cs typeface="宋体"/>
              </a:rPr>
              <a:t>指解决方案提供的开发环境，用户可以开箱即用进行应用的开发。</a:t>
            </a:r>
          </a:p>
        </p:txBody>
      </p:sp>
      <p:sp>
        <p:nvSpPr>
          <p:cNvPr id="45" name="object 45">
            <a:extLst>
              <a:ext uri="{FF2B5EF4-FFF2-40B4-BE49-F238E27FC236}">
                <a16:creationId xmlns:a16="http://schemas.microsoft.com/office/drawing/2014/main" id="{3504518B-A622-86BF-1EA4-7A88DBA77DB9}"/>
              </a:ext>
            </a:extLst>
          </p:cNvPr>
          <p:cNvSpPr/>
          <p:nvPr/>
        </p:nvSpPr>
        <p:spPr>
          <a:xfrm>
            <a:off x="2474627" y="2906808"/>
            <a:ext cx="3240000" cy="864000"/>
          </a:xfrm>
          <a:custGeom>
            <a:avLst/>
            <a:gdLst/>
            <a:ahLst/>
            <a:cxnLst/>
            <a:rect l="l" t="t" r="r" b="b"/>
            <a:pathLst>
              <a:path w="3599815" h="523239">
                <a:moveTo>
                  <a:pt x="0" y="522732"/>
                </a:moveTo>
                <a:lnTo>
                  <a:pt x="3599688" y="522732"/>
                </a:lnTo>
                <a:lnTo>
                  <a:pt x="3599688" y="0"/>
                </a:lnTo>
                <a:lnTo>
                  <a:pt x="0" y="0"/>
                </a:lnTo>
                <a:lnTo>
                  <a:pt x="0" y="522732"/>
                </a:lnTo>
                <a:close/>
              </a:path>
            </a:pathLst>
          </a:custGeom>
          <a:ln w="9144">
            <a:solidFill>
              <a:srgbClr val="D9D9D9"/>
            </a:solidFill>
          </a:ln>
        </p:spPr>
        <p:txBody>
          <a:bodyPr vert="horz" wrap="square" lIns="0" tIns="43180" rIns="0" bIns="0" rtlCol="0" anchor="ctr" anchorCtr="0">
            <a:noAutofit/>
          </a:bodyPr>
          <a:lstStyle/>
          <a:p>
            <a:pPr marL="90805">
              <a:spcBef>
                <a:spcPts val="340"/>
              </a:spcBef>
            </a:pPr>
            <a:r>
              <a:rPr lang="zh-CN" altLang="en-US" sz="1600" spc="-20" dirty="0">
                <a:latin typeface="宋体"/>
              </a:rPr>
              <a:t>指对开发完毕的代码进行评审、审批的流程。</a:t>
            </a:r>
          </a:p>
        </p:txBody>
      </p:sp>
      <p:sp>
        <p:nvSpPr>
          <p:cNvPr id="48" name="object 48">
            <a:extLst>
              <a:ext uri="{FF2B5EF4-FFF2-40B4-BE49-F238E27FC236}">
                <a16:creationId xmlns:a16="http://schemas.microsoft.com/office/drawing/2014/main" id="{7CAA2F7F-2DAE-A7A6-A8AD-75EB2D03DDF5}"/>
              </a:ext>
            </a:extLst>
          </p:cNvPr>
          <p:cNvSpPr txBox="1"/>
          <p:nvPr/>
        </p:nvSpPr>
        <p:spPr>
          <a:xfrm>
            <a:off x="2474627" y="3981648"/>
            <a:ext cx="3240000" cy="864000"/>
          </a:xfrm>
          <a:prstGeom prst="rect">
            <a:avLst/>
          </a:prstGeom>
          <a:ln w="9144">
            <a:solidFill>
              <a:srgbClr val="D9D9D9"/>
            </a:solidFill>
          </a:ln>
        </p:spPr>
        <p:txBody>
          <a:bodyPr vert="horz" wrap="square" lIns="0" tIns="64135" rIns="0" bIns="0" rtlCol="0" anchor="ctr" anchorCtr="0">
            <a:noAutofit/>
          </a:bodyPr>
          <a:lstStyle/>
          <a:p>
            <a:pPr marL="90805" marR="117475">
              <a:lnSpc>
                <a:spcPts val="1620"/>
              </a:lnSpc>
              <a:spcBef>
                <a:spcPts val="505"/>
              </a:spcBef>
            </a:pPr>
            <a:r>
              <a:rPr lang="zh-CN" altLang="en-US" sz="1600" spc="-20" dirty="0">
                <a:latin typeface="宋体"/>
                <a:cs typeface="宋体"/>
              </a:rPr>
              <a:t>为应用部署提供标准化和自动化的能力以及发布到生产环境的过程管理。</a:t>
            </a:r>
          </a:p>
        </p:txBody>
      </p:sp>
      <p:sp>
        <p:nvSpPr>
          <p:cNvPr id="49" name="object 49">
            <a:extLst>
              <a:ext uri="{FF2B5EF4-FFF2-40B4-BE49-F238E27FC236}">
                <a16:creationId xmlns:a16="http://schemas.microsoft.com/office/drawing/2014/main" id="{76533DB3-4F26-CF07-3202-A5517454D636}"/>
              </a:ext>
            </a:extLst>
          </p:cNvPr>
          <p:cNvSpPr txBox="1"/>
          <p:nvPr/>
        </p:nvSpPr>
        <p:spPr>
          <a:xfrm>
            <a:off x="2474627" y="5056489"/>
            <a:ext cx="3240000" cy="864000"/>
          </a:xfrm>
          <a:prstGeom prst="rect">
            <a:avLst/>
          </a:prstGeom>
          <a:ln w="9144">
            <a:solidFill>
              <a:srgbClr val="D9D9D9"/>
            </a:solidFill>
          </a:ln>
        </p:spPr>
        <p:txBody>
          <a:bodyPr vert="horz" wrap="square" lIns="0" tIns="43815" rIns="0" bIns="0" rtlCol="0" anchor="ctr" anchorCtr="0">
            <a:noAutofit/>
          </a:bodyPr>
          <a:lstStyle/>
          <a:p>
            <a:pPr marL="90805">
              <a:lnSpc>
                <a:spcPct val="100000"/>
              </a:lnSpc>
              <a:spcBef>
                <a:spcPts val="345"/>
              </a:spcBef>
            </a:pPr>
            <a:r>
              <a:rPr lang="zh-CN" altLang="en-US" sz="1600" spc="-15" dirty="0">
                <a:latin typeface="宋体"/>
                <a:cs typeface="宋体"/>
              </a:rPr>
              <a:t>考察将客户端安装包推送到用户手机端的能力。</a:t>
            </a:r>
          </a:p>
        </p:txBody>
      </p:sp>
      <p:sp>
        <p:nvSpPr>
          <p:cNvPr id="50" name="object 50">
            <a:extLst>
              <a:ext uri="{FF2B5EF4-FFF2-40B4-BE49-F238E27FC236}">
                <a16:creationId xmlns:a16="http://schemas.microsoft.com/office/drawing/2014/main" id="{6C84F320-B1E9-67B6-AA0D-15E76D4DE0AE}"/>
              </a:ext>
            </a:extLst>
          </p:cNvPr>
          <p:cNvSpPr txBox="1"/>
          <p:nvPr/>
        </p:nvSpPr>
        <p:spPr>
          <a:xfrm>
            <a:off x="6096000" y="1831968"/>
            <a:ext cx="3240000" cy="864000"/>
          </a:xfrm>
          <a:prstGeom prst="rect">
            <a:avLst/>
          </a:prstGeom>
          <a:ln w="9144">
            <a:solidFill>
              <a:srgbClr val="D9D9D9"/>
            </a:solidFill>
          </a:ln>
        </p:spPr>
        <p:txBody>
          <a:bodyPr vert="horz" wrap="square" lIns="0" tIns="43180" rIns="0" bIns="0" rtlCol="0" anchor="ctr" anchorCtr="0">
            <a:noAutofit/>
          </a:bodyPr>
          <a:lstStyle/>
          <a:p>
            <a:pPr marL="92075">
              <a:lnSpc>
                <a:spcPct val="100000"/>
              </a:lnSpc>
              <a:spcBef>
                <a:spcPts val="340"/>
              </a:spcBef>
            </a:pPr>
            <a:r>
              <a:rPr lang="zh-CN" altLang="en-US" sz="1600" spc="-15" dirty="0">
                <a:latin typeface="宋体"/>
                <a:cs typeface="宋体"/>
              </a:rPr>
              <a:t>指为开发者提供在线代码托管服务。</a:t>
            </a:r>
          </a:p>
        </p:txBody>
      </p:sp>
      <p:sp>
        <p:nvSpPr>
          <p:cNvPr id="51" name="object 51">
            <a:extLst>
              <a:ext uri="{FF2B5EF4-FFF2-40B4-BE49-F238E27FC236}">
                <a16:creationId xmlns:a16="http://schemas.microsoft.com/office/drawing/2014/main" id="{71E1DF1C-14DA-717F-E8A2-5456CCD61608}"/>
              </a:ext>
            </a:extLst>
          </p:cNvPr>
          <p:cNvSpPr txBox="1"/>
          <p:nvPr/>
        </p:nvSpPr>
        <p:spPr>
          <a:xfrm>
            <a:off x="6096000" y="2906808"/>
            <a:ext cx="3240000" cy="864000"/>
          </a:xfrm>
          <a:prstGeom prst="rect">
            <a:avLst/>
          </a:prstGeom>
          <a:ln w="9144">
            <a:solidFill>
              <a:srgbClr val="D9D9D9"/>
            </a:solidFill>
          </a:ln>
        </p:spPr>
        <p:txBody>
          <a:bodyPr vert="horz" wrap="square" lIns="0" tIns="52069" rIns="0" bIns="0" rtlCol="0" anchor="ctr" anchorCtr="0">
            <a:noAutofit/>
          </a:bodyPr>
          <a:lstStyle/>
          <a:p>
            <a:pPr marL="92075">
              <a:lnSpc>
                <a:spcPts val="1650"/>
              </a:lnSpc>
              <a:spcBef>
                <a:spcPts val="409"/>
              </a:spcBef>
            </a:pPr>
            <a:r>
              <a:rPr lang="zh-CN" altLang="en-US" sz="1600" dirty="0">
                <a:latin typeface="宋体"/>
                <a:cs typeface="宋体"/>
              </a:rPr>
              <a:t>考察为开发者提供将源代码转换为可执行程序的能力。</a:t>
            </a:r>
          </a:p>
        </p:txBody>
      </p:sp>
      <p:sp>
        <p:nvSpPr>
          <p:cNvPr id="52" name="object 52">
            <a:extLst>
              <a:ext uri="{FF2B5EF4-FFF2-40B4-BE49-F238E27FC236}">
                <a16:creationId xmlns:a16="http://schemas.microsoft.com/office/drawing/2014/main" id="{20996B9F-96CD-AA4B-5106-00AD8BECA819}"/>
              </a:ext>
            </a:extLst>
          </p:cNvPr>
          <p:cNvSpPr txBox="1"/>
          <p:nvPr/>
        </p:nvSpPr>
        <p:spPr>
          <a:xfrm>
            <a:off x="6096000" y="3981648"/>
            <a:ext cx="3240000" cy="864000"/>
          </a:xfrm>
          <a:prstGeom prst="rect">
            <a:avLst/>
          </a:prstGeom>
          <a:ln w="9144">
            <a:solidFill>
              <a:srgbClr val="D9D9D9"/>
            </a:solidFill>
          </a:ln>
        </p:spPr>
        <p:txBody>
          <a:bodyPr vert="horz" wrap="square" lIns="0" tIns="43815" rIns="0" bIns="0" rtlCol="0" anchor="ctr" anchorCtr="0">
            <a:noAutofit/>
          </a:bodyPr>
          <a:lstStyle/>
          <a:p>
            <a:pPr marL="92075">
              <a:lnSpc>
                <a:spcPct val="100000"/>
              </a:lnSpc>
              <a:spcBef>
                <a:spcPts val="345"/>
              </a:spcBef>
            </a:pPr>
            <a:r>
              <a:rPr lang="zh-CN" altLang="en-US" sz="1600" spc="-20" dirty="0">
                <a:latin typeface="宋体"/>
                <a:cs typeface="宋体"/>
              </a:rPr>
              <a:t>考察解决方案提供的可视化、可定制的自动化历程编排能力。</a:t>
            </a:r>
          </a:p>
        </p:txBody>
      </p:sp>
      <p:sp>
        <p:nvSpPr>
          <p:cNvPr id="53" name="object 53">
            <a:extLst>
              <a:ext uri="{FF2B5EF4-FFF2-40B4-BE49-F238E27FC236}">
                <a16:creationId xmlns:a16="http://schemas.microsoft.com/office/drawing/2014/main" id="{B321A721-3426-4C79-28E4-66544AE75EFA}"/>
              </a:ext>
            </a:extLst>
          </p:cNvPr>
          <p:cNvSpPr txBox="1"/>
          <p:nvPr/>
        </p:nvSpPr>
        <p:spPr>
          <a:xfrm>
            <a:off x="6096000" y="5056489"/>
            <a:ext cx="3240000" cy="864000"/>
          </a:xfrm>
          <a:prstGeom prst="rect">
            <a:avLst/>
          </a:prstGeom>
          <a:ln w="9144">
            <a:solidFill>
              <a:srgbClr val="D9D9D9"/>
            </a:solidFill>
          </a:ln>
        </p:spPr>
        <p:txBody>
          <a:bodyPr vert="horz" wrap="square" lIns="0" tIns="55244" rIns="0" bIns="0" rtlCol="0" anchor="ctr" anchorCtr="0">
            <a:noAutofit/>
          </a:bodyPr>
          <a:lstStyle/>
          <a:p>
            <a:pPr marL="92075" marR="116205" algn="just">
              <a:lnSpc>
                <a:spcPct val="98200"/>
              </a:lnSpc>
              <a:spcBef>
                <a:spcPts val="434"/>
              </a:spcBef>
            </a:pPr>
            <a:r>
              <a:rPr lang="zh-CN" altLang="en-US" sz="1600" spc="-20" dirty="0">
                <a:latin typeface="宋体"/>
                <a:cs typeface="宋体"/>
              </a:rPr>
              <a:t>考察管理软件源代码变异构建后的产物的能力。</a:t>
            </a:r>
          </a:p>
        </p:txBody>
      </p:sp>
      <p:sp>
        <p:nvSpPr>
          <p:cNvPr id="55" name="object 2">
            <a:extLst>
              <a:ext uri="{FF2B5EF4-FFF2-40B4-BE49-F238E27FC236}">
                <a16:creationId xmlns:a16="http://schemas.microsoft.com/office/drawing/2014/main" id="{C5744E07-9A9B-12FA-1124-7467E2431FFB}"/>
              </a:ext>
            </a:extLst>
          </p:cNvPr>
          <p:cNvSpPr txBox="1">
            <a:spLocks/>
          </p:cNvSpPr>
          <p:nvPr/>
        </p:nvSpPr>
        <p:spPr>
          <a:xfrm>
            <a:off x="718218" y="988758"/>
            <a:ext cx="10318115" cy="381515"/>
          </a:xfrm>
          <a:prstGeom prst="rect">
            <a:avLst/>
          </a:prstGeom>
        </p:spPr>
        <p:txBody>
          <a:bodyPr vert="horz" wrap="square" lIns="0" tIns="12065" rIns="0" bIns="0" rtlCol="0" anchor="ctr">
            <a:spAutoFit/>
          </a:bodyPr>
          <a:lstStyle>
            <a:lvl1pPr algn="l" defTabSz="914400" rtl="0" eaLnBrk="1" latinLnBrk="0" hangingPunct="1">
              <a:lnSpc>
                <a:spcPct val="90000"/>
              </a:lnSpc>
              <a:spcBef>
                <a:spcPct val="0"/>
              </a:spcBef>
              <a:buNone/>
              <a:defRPr sz="2800" b="1" kern="1200">
                <a:solidFill>
                  <a:schemeClr val="tx1"/>
                </a:solidFill>
                <a:latin typeface="方正粗雅宋简体" panose="02000000000000000000" pitchFamily="2" charset="-122"/>
                <a:ea typeface="方正粗雅宋简体" panose="02000000000000000000" pitchFamily="2" charset="-122"/>
                <a:cs typeface="+mj-cs"/>
              </a:defRPr>
            </a:lvl1pPr>
          </a:lstStyle>
          <a:p>
            <a:pPr marL="355600" indent="-342900">
              <a:lnSpc>
                <a:spcPct val="100000"/>
              </a:lnSpc>
              <a:spcBef>
                <a:spcPts val="95"/>
              </a:spcBef>
              <a:buFont typeface="Wingdings" panose="05000000000000000000" pitchFamily="2" charset="2"/>
              <a:buChar char="p"/>
            </a:pPr>
            <a:r>
              <a:rPr lang="en-US" altLang="zh-CN" sz="2400" dirty="0">
                <a:solidFill>
                  <a:srgbClr val="003F88"/>
                </a:solidFill>
                <a:latin typeface="+mn-lt"/>
                <a:ea typeface="+mn-ea"/>
                <a:cs typeface="+mn-cs"/>
              </a:rPr>
              <a:t>DevOps</a:t>
            </a:r>
            <a:r>
              <a:rPr lang="zh-CN" altLang="en-US" sz="2400" dirty="0">
                <a:solidFill>
                  <a:srgbClr val="003F88"/>
                </a:solidFill>
                <a:latin typeface="+mn-lt"/>
                <a:ea typeface="+mn-ea"/>
                <a:cs typeface="+mn-cs"/>
              </a:rPr>
              <a:t>标准能力框架图</a:t>
            </a:r>
            <a:r>
              <a:rPr lang="en-US" altLang="zh-CN" sz="2400" dirty="0">
                <a:solidFill>
                  <a:srgbClr val="003F88"/>
                </a:solidFill>
                <a:latin typeface="+mn-lt"/>
                <a:ea typeface="+mn-ea"/>
                <a:cs typeface="+mn-cs"/>
              </a:rPr>
              <a:t>——</a:t>
            </a:r>
            <a:r>
              <a:rPr lang="zh-CN" altLang="en-US" sz="2400" dirty="0">
                <a:solidFill>
                  <a:srgbClr val="003F88"/>
                </a:solidFill>
                <a:latin typeface="+mn-lt"/>
                <a:ea typeface="+mn-ea"/>
                <a:cs typeface="+mn-cs"/>
              </a:rPr>
              <a:t>应用开发域</a:t>
            </a:r>
          </a:p>
        </p:txBody>
      </p:sp>
    </p:spTree>
    <p:extLst>
      <p:ext uri="{BB962C8B-B14F-4D97-AF65-F5344CB8AC3E}">
        <p14:creationId xmlns:p14="http://schemas.microsoft.com/office/powerpoint/2010/main" val="2632480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03 DevOps</a:t>
            </a:r>
            <a:r>
              <a:rPr lang="zh-CN" altLang="en-US" dirty="0"/>
              <a:t>工具体系</a:t>
            </a:r>
          </a:p>
        </p:txBody>
      </p:sp>
      <p:sp>
        <p:nvSpPr>
          <p:cNvPr id="3" name="灯片编号占位符 2"/>
          <p:cNvSpPr>
            <a:spLocks noGrp="1"/>
          </p:cNvSpPr>
          <p:nvPr>
            <p:ph type="sldNum" sz="quarter" idx="12"/>
          </p:nvPr>
        </p:nvSpPr>
        <p:spPr/>
        <p:txBody>
          <a:bodyPr/>
          <a:lstStyle/>
          <a:p>
            <a:fld id="{1AAC388E-FA9E-4A2C-95EA-1F6B3A07935A}" type="slidenum">
              <a:rPr lang="zh-CN" altLang="en-US" sz="1400" smtClean="0">
                <a:solidFill>
                  <a:srgbClr val="000000"/>
                </a:solidFill>
              </a:rPr>
              <a:t>51</a:t>
            </a:fld>
            <a:endParaRPr lang="zh-CN" altLang="en-US" sz="1400" dirty="0">
              <a:solidFill>
                <a:srgbClr val="000000"/>
              </a:solidFill>
            </a:endParaRPr>
          </a:p>
        </p:txBody>
      </p:sp>
      <p:sp>
        <p:nvSpPr>
          <p:cNvPr id="4" name="object 4">
            <a:extLst>
              <a:ext uri="{FF2B5EF4-FFF2-40B4-BE49-F238E27FC236}">
                <a16:creationId xmlns:a16="http://schemas.microsoft.com/office/drawing/2014/main" id="{508EC6DA-8823-7003-E02D-B99A0B4A64F1}"/>
              </a:ext>
            </a:extLst>
          </p:cNvPr>
          <p:cNvSpPr txBox="1"/>
          <p:nvPr/>
        </p:nvSpPr>
        <p:spPr>
          <a:xfrm>
            <a:off x="752508" y="3053905"/>
            <a:ext cx="864235" cy="570230"/>
          </a:xfrm>
          <a:prstGeom prst="rect">
            <a:avLst/>
          </a:prstGeom>
          <a:solidFill>
            <a:srgbClr val="38A666"/>
          </a:solidFill>
        </p:spPr>
        <p:txBody>
          <a:bodyPr vert="horz" wrap="square" lIns="36000" tIns="0" rIns="36000" bIns="0" rtlCol="0" anchor="ctr" anchorCtr="0">
            <a:noAutofit/>
          </a:bodyPr>
          <a:lstStyle/>
          <a:p>
            <a:pPr algn="ctr">
              <a:lnSpc>
                <a:spcPct val="100000"/>
              </a:lnSpc>
            </a:pPr>
            <a:r>
              <a:rPr lang="zh-CN" altLang="en-US" sz="1400" b="1" dirty="0">
                <a:latin typeface="宋体"/>
                <a:cs typeface="宋体"/>
              </a:rPr>
              <a:t>数据管理</a:t>
            </a:r>
          </a:p>
        </p:txBody>
      </p:sp>
      <p:sp>
        <p:nvSpPr>
          <p:cNvPr id="5" name="object 5">
            <a:extLst>
              <a:ext uri="{FF2B5EF4-FFF2-40B4-BE49-F238E27FC236}">
                <a16:creationId xmlns:a16="http://schemas.microsoft.com/office/drawing/2014/main" id="{080D30BA-F0DF-8FA7-0E93-CE671E1B1F5D}"/>
              </a:ext>
            </a:extLst>
          </p:cNvPr>
          <p:cNvSpPr txBox="1"/>
          <p:nvPr/>
        </p:nvSpPr>
        <p:spPr>
          <a:xfrm>
            <a:off x="10632947" y="3054328"/>
            <a:ext cx="1007744" cy="568960"/>
          </a:xfrm>
          <a:prstGeom prst="rect">
            <a:avLst/>
          </a:prstGeom>
          <a:solidFill>
            <a:srgbClr val="38A666"/>
          </a:solidFill>
        </p:spPr>
        <p:txBody>
          <a:bodyPr vert="horz" wrap="square" lIns="36000" tIns="0" rIns="36000" bIns="0" rtlCol="0" anchor="ctr" anchorCtr="0">
            <a:noAutofit/>
          </a:bodyPr>
          <a:lstStyle>
            <a:defPPr>
              <a:defRPr lang="zh-CN"/>
            </a:defPPr>
            <a:lvl1pPr algn="ctr">
              <a:lnSpc>
                <a:spcPct val="100000"/>
              </a:lnSpc>
              <a:defRPr sz="1400" b="1" spc="-15">
                <a:latin typeface="宋体"/>
                <a:cs typeface="宋体"/>
              </a:defRPr>
            </a:lvl1pPr>
          </a:lstStyle>
          <a:p>
            <a:r>
              <a:rPr lang="zh-CN" altLang="en-US" dirty="0"/>
              <a:t>适配测试</a:t>
            </a:r>
            <a:endParaRPr dirty="0"/>
          </a:p>
        </p:txBody>
      </p:sp>
      <p:sp>
        <p:nvSpPr>
          <p:cNvPr id="6" name="object 6">
            <a:extLst>
              <a:ext uri="{FF2B5EF4-FFF2-40B4-BE49-F238E27FC236}">
                <a16:creationId xmlns:a16="http://schemas.microsoft.com/office/drawing/2014/main" id="{6AABE17D-F2AD-B91B-8A92-A2418B448464}"/>
              </a:ext>
            </a:extLst>
          </p:cNvPr>
          <p:cNvSpPr txBox="1"/>
          <p:nvPr/>
        </p:nvSpPr>
        <p:spPr>
          <a:xfrm>
            <a:off x="10632947" y="1979488"/>
            <a:ext cx="1007744" cy="568960"/>
          </a:xfrm>
          <a:prstGeom prst="rect">
            <a:avLst/>
          </a:prstGeom>
          <a:solidFill>
            <a:srgbClr val="38A666"/>
          </a:solidFill>
        </p:spPr>
        <p:txBody>
          <a:bodyPr vert="horz" wrap="square" lIns="36000" tIns="0" rIns="36000" bIns="0" rtlCol="0" anchor="ctr" anchorCtr="0">
            <a:noAutofit/>
          </a:bodyPr>
          <a:lstStyle>
            <a:defPPr>
              <a:defRPr lang="zh-CN"/>
            </a:defPPr>
            <a:lvl1pPr algn="ctr">
              <a:lnSpc>
                <a:spcPct val="100000"/>
              </a:lnSpc>
              <a:defRPr sz="1400" b="1" spc="-15">
                <a:latin typeface="宋体"/>
                <a:cs typeface="宋体"/>
              </a:defRPr>
            </a:lvl1pPr>
          </a:lstStyle>
          <a:p>
            <a:r>
              <a:rPr lang="en-US" altLang="zh-CN" dirty="0">
                <a:latin typeface="+mj-ea"/>
                <a:ea typeface="+mj-ea"/>
              </a:rPr>
              <a:t>UI</a:t>
            </a:r>
            <a:r>
              <a:rPr lang="zh-CN" altLang="en-US" dirty="0">
                <a:latin typeface="+mj-ea"/>
                <a:ea typeface="+mj-ea"/>
              </a:rPr>
              <a:t>测试</a:t>
            </a:r>
            <a:endParaRPr dirty="0">
              <a:latin typeface="+mj-ea"/>
              <a:ea typeface="+mj-ea"/>
            </a:endParaRPr>
          </a:p>
        </p:txBody>
      </p:sp>
      <p:sp>
        <p:nvSpPr>
          <p:cNvPr id="7" name="object 7">
            <a:extLst>
              <a:ext uri="{FF2B5EF4-FFF2-40B4-BE49-F238E27FC236}">
                <a16:creationId xmlns:a16="http://schemas.microsoft.com/office/drawing/2014/main" id="{8D75CBD7-84C6-2712-C76B-FE84D2F53326}"/>
              </a:ext>
            </a:extLst>
          </p:cNvPr>
          <p:cNvSpPr txBox="1"/>
          <p:nvPr/>
        </p:nvSpPr>
        <p:spPr>
          <a:xfrm>
            <a:off x="752508" y="1978218"/>
            <a:ext cx="864235" cy="571500"/>
          </a:xfrm>
          <a:prstGeom prst="rect">
            <a:avLst/>
          </a:prstGeom>
          <a:solidFill>
            <a:srgbClr val="38A666"/>
          </a:solidFill>
        </p:spPr>
        <p:txBody>
          <a:bodyPr vert="horz" wrap="square" lIns="36000" tIns="0" rIns="36000" bIns="0" rtlCol="0" anchor="ctr" anchorCtr="0">
            <a:noAutofit/>
          </a:bodyPr>
          <a:lstStyle/>
          <a:p>
            <a:pPr algn="ctr">
              <a:lnSpc>
                <a:spcPct val="100000"/>
              </a:lnSpc>
            </a:pPr>
            <a:r>
              <a:rPr lang="zh-CN" altLang="en-US" sz="1400" b="1" spc="-15" dirty="0">
                <a:latin typeface="宋体"/>
                <a:cs typeface="宋体"/>
              </a:rPr>
              <a:t>用例管理</a:t>
            </a:r>
          </a:p>
        </p:txBody>
      </p:sp>
      <p:sp>
        <p:nvSpPr>
          <p:cNvPr id="8" name="object 8">
            <a:extLst>
              <a:ext uri="{FF2B5EF4-FFF2-40B4-BE49-F238E27FC236}">
                <a16:creationId xmlns:a16="http://schemas.microsoft.com/office/drawing/2014/main" id="{AEBFC6B6-BFD4-A345-29E5-21CF72268A13}"/>
              </a:ext>
            </a:extLst>
          </p:cNvPr>
          <p:cNvSpPr txBox="1"/>
          <p:nvPr/>
        </p:nvSpPr>
        <p:spPr>
          <a:xfrm>
            <a:off x="752508" y="4128322"/>
            <a:ext cx="864235" cy="571500"/>
          </a:xfrm>
          <a:prstGeom prst="rect">
            <a:avLst/>
          </a:prstGeom>
          <a:solidFill>
            <a:srgbClr val="38A666"/>
          </a:solidFill>
        </p:spPr>
        <p:txBody>
          <a:bodyPr vert="horz" wrap="square" lIns="36000" tIns="0" rIns="36000" bIns="0" rtlCol="0" anchor="ctr" anchorCtr="0">
            <a:noAutofit/>
          </a:bodyPr>
          <a:lstStyle/>
          <a:p>
            <a:pPr algn="ctr">
              <a:lnSpc>
                <a:spcPct val="100000"/>
              </a:lnSpc>
            </a:pPr>
            <a:r>
              <a:rPr lang="zh-CN" altLang="en-US" sz="1400" b="1" dirty="0">
                <a:latin typeface="宋体"/>
                <a:cs typeface="宋体"/>
              </a:rPr>
              <a:t>代码扫描</a:t>
            </a:r>
            <a:endParaRPr sz="1400" b="1" dirty="0">
              <a:latin typeface="宋体"/>
              <a:cs typeface="宋体"/>
            </a:endParaRPr>
          </a:p>
        </p:txBody>
      </p:sp>
      <p:sp>
        <p:nvSpPr>
          <p:cNvPr id="9" name="object 9">
            <a:extLst>
              <a:ext uri="{FF2B5EF4-FFF2-40B4-BE49-F238E27FC236}">
                <a16:creationId xmlns:a16="http://schemas.microsoft.com/office/drawing/2014/main" id="{2C92D9ED-511A-50C7-DB6D-78377996AC50}"/>
              </a:ext>
            </a:extLst>
          </p:cNvPr>
          <p:cNvSpPr txBox="1"/>
          <p:nvPr/>
        </p:nvSpPr>
        <p:spPr>
          <a:xfrm>
            <a:off x="752508" y="5204009"/>
            <a:ext cx="864235" cy="568960"/>
          </a:xfrm>
          <a:prstGeom prst="rect">
            <a:avLst/>
          </a:prstGeom>
          <a:solidFill>
            <a:srgbClr val="38A666"/>
          </a:solidFill>
        </p:spPr>
        <p:txBody>
          <a:bodyPr vert="horz" wrap="square" lIns="36000" tIns="0" rIns="36000" bIns="0" rtlCol="0" anchor="ctr" anchorCtr="0">
            <a:noAutofit/>
          </a:bodyPr>
          <a:lstStyle>
            <a:defPPr>
              <a:defRPr lang="zh-CN"/>
            </a:defPPr>
            <a:lvl1pPr algn="ctr">
              <a:lnSpc>
                <a:spcPct val="100000"/>
              </a:lnSpc>
              <a:defRPr sz="1400" b="1" spc="-15">
                <a:latin typeface="宋体"/>
                <a:cs typeface="宋体"/>
              </a:defRPr>
            </a:lvl1pPr>
          </a:lstStyle>
          <a:p>
            <a:r>
              <a:rPr lang="zh-CN" altLang="en-US" dirty="0"/>
              <a:t>接口测试</a:t>
            </a:r>
            <a:endParaRPr dirty="0"/>
          </a:p>
        </p:txBody>
      </p:sp>
      <p:sp>
        <p:nvSpPr>
          <p:cNvPr id="10" name="object 10">
            <a:extLst>
              <a:ext uri="{FF2B5EF4-FFF2-40B4-BE49-F238E27FC236}">
                <a16:creationId xmlns:a16="http://schemas.microsoft.com/office/drawing/2014/main" id="{F6CBC2C1-EF51-7096-04C5-D40A0A5A38CC}"/>
              </a:ext>
            </a:extLst>
          </p:cNvPr>
          <p:cNvSpPr txBox="1"/>
          <p:nvPr/>
        </p:nvSpPr>
        <p:spPr>
          <a:xfrm>
            <a:off x="10632947" y="5204009"/>
            <a:ext cx="1007744" cy="568960"/>
          </a:xfrm>
          <a:prstGeom prst="rect">
            <a:avLst/>
          </a:prstGeom>
          <a:solidFill>
            <a:srgbClr val="38A666"/>
          </a:solidFill>
        </p:spPr>
        <p:txBody>
          <a:bodyPr vert="horz" wrap="square" lIns="36000" tIns="0" rIns="36000" bIns="0" rtlCol="0" anchor="ctr" anchorCtr="0">
            <a:noAutofit/>
          </a:bodyPr>
          <a:lstStyle>
            <a:defPPr>
              <a:defRPr lang="zh-CN"/>
            </a:defPPr>
            <a:lvl1pPr algn="ctr">
              <a:lnSpc>
                <a:spcPct val="100000"/>
              </a:lnSpc>
              <a:defRPr sz="1400" b="1" spc="-15">
                <a:latin typeface="宋体"/>
                <a:cs typeface="宋体"/>
              </a:defRPr>
            </a:lvl1pPr>
          </a:lstStyle>
          <a:p>
            <a:r>
              <a:rPr lang="zh-CN" altLang="en-US" dirty="0"/>
              <a:t>（客户端）性能测试</a:t>
            </a:r>
            <a:endParaRPr dirty="0"/>
          </a:p>
        </p:txBody>
      </p:sp>
      <p:sp>
        <p:nvSpPr>
          <p:cNvPr id="11" name="object 11">
            <a:extLst>
              <a:ext uri="{FF2B5EF4-FFF2-40B4-BE49-F238E27FC236}">
                <a16:creationId xmlns:a16="http://schemas.microsoft.com/office/drawing/2014/main" id="{8B3BFB04-D2D4-D174-D4C0-95E9EBA867EC}"/>
              </a:ext>
            </a:extLst>
          </p:cNvPr>
          <p:cNvSpPr txBox="1"/>
          <p:nvPr/>
        </p:nvSpPr>
        <p:spPr>
          <a:xfrm>
            <a:off x="10632947" y="4129168"/>
            <a:ext cx="1007744" cy="568960"/>
          </a:xfrm>
          <a:prstGeom prst="rect">
            <a:avLst/>
          </a:prstGeom>
          <a:solidFill>
            <a:srgbClr val="38A666"/>
          </a:solidFill>
        </p:spPr>
        <p:txBody>
          <a:bodyPr vert="horz" wrap="square" lIns="36000" tIns="0" rIns="36000" bIns="0" rtlCol="0" anchor="ctr" anchorCtr="0">
            <a:noAutofit/>
          </a:bodyPr>
          <a:lstStyle>
            <a:defPPr>
              <a:defRPr lang="zh-CN"/>
            </a:defPPr>
            <a:lvl1pPr algn="ctr">
              <a:lnSpc>
                <a:spcPct val="100000"/>
              </a:lnSpc>
              <a:defRPr sz="1400" b="1" spc="-15">
                <a:latin typeface="宋体"/>
                <a:cs typeface="宋体"/>
              </a:defRPr>
            </a:lvl1pPr>
          </a:lstStyle>
          <a:p>
            <a:r>
              <a:rPr lang="zh-CN" altLang="en-US" dirty="0"/>
              <a:t>单元测试</a:t>
            </a:r>
            <a:endParaRPr dirty="0"/>
          </a:p>
        </p:txBody>
      </p:sp>
      <p:grpSp>
        <p:nvGrpSpPr>
          <p:cNvPr id="12" name="object 12">
            <a:extLst>
              <a:ext uri="{FF2B5EF4-FFF2-40B4-BE49-F238E27FC236}">
                <a16:creationId xmlns:a16="http://schemas.microsoft.com/office/drawing/2014/main" id="{A7355E95-56B6-E80C-FFB6-BB7893CF52C1}"/>
              </a:ext>
            </a:extLst>
          </p:cNvPr>
          <p:cNvGrpSpPr/>
          <p:nvPr/>
        </p:nvGrpSpPr>
        <p:grpSpPr>
          <a:xfrm>
            <a:off x="1826927" y="2173798"/>
            <a:ext cx="535305" cy="180340"/>
            <a:chOff x="1481327" y="1969007"/>
            <a:chExt cx="535305" cy="180340"/>
          </a:xfrm>
        </p:grpSpPr>
        <p:pic>
          <p:nvPicPr>
            <p:cNvPr id="13" name="object 13">
              <a:extLst>
                <a:ext uri="{FF2B5EF4-FFF2-40B4-BE49-F238E27FC236}">
                  <a16:creationId xmlns:a16="http://schemas.microsoft.com/office/drawing/2014/main" id="{1D3E65F0-B7AB-ACD0-B424-D4CFC95E0FFE}"/>
                </a:ext>
              </a:extLst>
            </p:cNvPr>
            <p:cNvPicPr/>
            <p:nvPr/>
          </p:nvPicPr>
          <p:blipFill>
            <a:blip r:embed="rId3" cstate="print"/>
            <a:stretch>
              <a:fillRect/>
            </a:stretch>
          </p:blipFill>
          <p:spPr>
            <a:xfrm>
              <a:off x="1481327" y="1969007"/>
              <a:ext cx="158496" cy="179831"/>
            </a:xfrm>
            <a:prstGeom prst="rect">
              <a:avLst/>
            </a:prstGeom>
          </p:spPr>
        </p:pic>
        <p:pic>
          <p:nvPicPr>
            <p:cNvPr id="14" name="object 14">
              <a:extLst>
                <a:ext uri="{FF2B5EF4-FFF2-40B4-BE49-F238E27FC236}">
                  <a16:creationId xmlns:a16="http://schemas.microsoft.com/office/drawing/2014/main" id="{DA2BECBD-FDDD-A7FC-6C0E-A8E76F9FA63C}"/>
                </a:ext>
              </a:extLst>
            </p:cNvPr>
            <p:cNvPicPr/>
            <p:nvPr/>
          </p:nvPicPr>
          <p:blipFill>
            <a:blip r:embed="rId4" cstate="print"/>
            <a:stretch>
              <a:fillRect/>
            </a:stretch>
          </p:blipFill>
          <p:spPr>
            <a:xfrm>
              <a:off x="1677923" y="1969007"/>
              <a:ext cx="158495" cy="179831"/>
            </a:xfrm>
            <a:prstGeom prst="rect">
              <a:avLst/>
            </a:prstGeom>
          </p:spPr>
        </p:pic>
        <p:pic>
          <p:nvPicPr>
            <p:cNvPr id="15" name="object 15">
              <a:extLst>
                <a:ext uri="{FF2B5EF4-FFF2-40B4-BE49-F238E27FC236}">
                  <a16:creationId xmlns:a16="http://schemas.microsoft.com/office/drawing/2014/main" id="{B5B96A76-B0EB-7FB2-2144-1F4CECD3A174}"/>
                </a:ext>
              </a:extLst>
            </p:cNvPr>
            <p:cNvPicPr/>
            <p:nvPr/>
          </p:nvPicPr>
          <p:blipFill>
            <a:blip r:embed="rId3" cstate="print"/>
            <a:stretch>
              <a:fillRect/>
            </a:stretch>
          </p:blipFill>
          <p:spPr>
            <a:xfrm>
              <a:off x="1857755" y="1969007"/>
              <a:ext cx="158495" cy="179831"/>
            </a:xfrm>
            <a:prstGeom prst="rect">
              <a:avLst/>
            </a:prstGeom>
          </p:spPr>
        </p:pic>
      </p:grpSp>
      <p:grpSp>
        <p:nvGrpSpPr>
          <p:cNvPr id="16" name="object 16">
            <a:extLst>
              <a:ext uri="{FF2B5EF4-FFF2-40B4-BE49-F238E27FC236}">
                <a16:creationId xmlns:a16="http://schemas.microsoft.com/office/drawing/2014/main" id="{9102B260-C8FB-2673-5175-A390D239DFDC}"/>
              </a:ext>
            </a:extLst>
          </p:cNvPr>
          <p:cNvGrpSpPr/>
          <p:nvPr/>
        </p:nvGrpSpPr>
        <p:grpSpPr>
          <a:xfrm>
            <a:off x="1826927" y="3248638"/>
            <a:ext cx="535305" cy="180340"/>
            <a:chOff x="1481327" y="2665476"/>
            <a:chExt cx="535305" cy="180340"/>
          </a:xfrm>
        </p:grpSpPr>
        <p:pic>
          <p:nvPicPr>
            <p:cNvPr id="17" name="object 17">
              <a:extLst>
                <a:ext uri="{FF2B5EF4-FFF2-40B4-BE49-F238E27FC236}">
                  <a16:creationId xmlns:a16="http://schemas.microsoft.com/office/drawing/2014/main" id="{8C34D627-BFAE-6B49-2004-54C8470A4656}"/>
                </a:ext>
              </a:extLst>
            </p:cNvPr>
            <p:cNvPicPr/>
            <p:nvPr/>
          </p:nvPicPr>
          <p:blipFill>
            <a:blip r:embed="rId5" cstate="print"/>
            <a:stretch>
              <a:fillRect/>
            </a:stretch>
          </p:blipFill>
          <p:spPr>
            <a:xfrm>
              <a:off x="1481327" y="2665476"/>
              <a:ext cx="158496" cy="179832"/>
            </a:xfrm>
            <a:prstGeom prst="rect">
              <a:avLst/>
            </a:prstGeom>
          </p:spPr>
        </p:pic>
        <p:pic>
          <p:nvPicPr>
            <p:cNvPr id="18" name="object 18">
              <a:extLst>
                <a:ext uri="{FF2B5EF4-FFF2-40B4-BE49-F238E27FC236}">
                  <a16:creationId xmlns:a16="http://schemas.microsoft.com/office/drawing/2014/main" id="{7619DD61-3D22-B988-FAE4-0DBBEA20EA68}"/>
                </a:ext>
              </a:extLst>
            </p:cNvPr>
            <p:cNvPicPr/>
            <p:nvPr/>
          </p:nvPicPr>
          <p:blipFill>
            <a:blip r:embed="rId6" cstate="print"/>
            <a:stretch>
              <a:fillRect/>
            </a:stretch>
          </p:blipFill>
          <p:spPr>
            <a:xfrm>
              <a:off x="1677923" y="2665476"/>
              <a:ext cx="158495" cy="179832"/>
            </a:xfrm>
            <a:prstGeom prst="rect">
              <a:avLst/>
            </a:prstGeom>
          </p:spPr>
        </p:pic>
        <p:pic>
          <p:nvPicPr>
            <p:cNvPr id="19" name="object 19">
              <a:extLst>
                <a:ext uri="{FF2B5EF4-FFF2-40B4-BE49-F238E27FC236}">
                  <a16:creationId xmlns:a16="http://schemas.microsoft.com/office/drawing/2014/main" id="{CB3964CD-D6E1-40E0-2B59-998AD6B2D54C}"/>
                </a:ext>
              </a:extLst>
            </p:cNvPr>
            <p:cNvPicPr/>
            <p:nvPr/>
          </p:nvPicPr>
          <p:blipFill>
            <a:blip r:embed="rId5" cstate="print"/>
            <a:stretch>
              <a:fillRect/>
            </a:stretch>
          </p:blipFill>
          <p:spPr>
            <a:xfrm>
              <a:off x="1857755" y="2665476"/>
              <a:ext cx="158495" cy="179832"/>
            </a:xfrm>
            <a:prstGeom prst="rect">
              <a:avLst/>
            </a:prstGeom>
          </p:spPr>
        </p:pic>
      </p:grpSp>
      <p:grpSp>
        <p:nvGrpSpPr>
          <p:cNvPr id="20" name="object 20">
            <a:extLst>
              <a:ext uri="{FF2B5EF4-FFF2-40B4-BE49-F238E27FC236}">
                <a16:creationId xmlns:a16="http://schemas.microsoft.com/office/drawing/2014/main" id="{DE6F4D1E-9005-3790-8D6A-5E1AC75D8B8A}"/>
              </a:ext>
            </a:extLst>
          </p:cNvPr>
          <p:cNvGrpSpPr/>
          <p:nvPr/>
        </p:nvGrpSpPr>
        <p:grpSpPr>
          <a:xfrm>
            <a:off x="1826927" y="4323478"/>
            <a:ext cx="535305" cy="180340"/>
            <a:chOff x="1481327" y="3361944"/>
            <a:chExt cx="535305" cy="180340"/>
          </a:xfrm>
        </p:grpSpPr>
        <p:pic>
          <p:nvPicPr>
            <p:cNvPr id="21" name="object 21">
              <a:extLst>
                <a:ext uri="{FF2B5EF4-FFF2-40B4-BE49-F238E27FC236}">
                  <a16:creationId xmlns:a16="http://schemas.microsoft.com/office/drawing/2014/main" id="{75237B0C-8743-5D12-8208-92E580DF1B46}"/>
                </a:ext>
              </a:extLst>
            </p:cNvPr>
            <p:cNvPicPr/>
            <p:nvPr/>
          </p:nvPicPr>
          <p:blipFill>
            <a:blip r:embed="rId3" cstate="print"/>
            <a:stretch>
              <a:fillRect/>
            </a:stretch>
          </p:blipFill>
          <p:spPr>
            <a:xfrm>
              <a:off x="1481327" y="3361944"/>
              <a:ext cx="158496" cy="179831"/>
            </a:xfrm>
            <a:prstGeom prst="rect">
              <a:avLst/>
            </a:prstGeom>
          </p:spPr>
        </p:pic>
        <p:pic>
          <p:nvPicPr>
            <p:cNvPr id="22" name="object 22">
              <a:extLst>
                <a:ext uri="{FF2B5EF4-FFF2-40B4-BE49-F238E27FC236}">
                  <a16:creationId xmlns:a16="http://schemas.microsoft.com/office/drawing/2014/main" id="{D0E0A3EE-1B49-2AE3-71AF-247A6038DEE8}"/>
                </a:ext>
              </a:extLst>
            </p:cNvPr>
            <p:cNvPicPr/>
            <p:nvPr/>
          </p:nvPicPr>
          <p:blipFill>
            <a:blip r:embed="rId4" cstate="print"/>
            <a:stretch>
              <a:fillRect/>
            </a:stretch>
          </p:blipFill>
          <p:spPr>
            <a:xfrm>
              <a:off x="1677923" y="3361944"/>
              <a:ext cx="158495" cy="179831"/>
            </a:xfrm>
            <a:prstGeom prst="rect">
              <a:avLst/>
            </a:prstGeom>
          </p:spPr>
        </p:pic>
        <p:pic>
          <p:nvPicPr>
            <p:cNvPr id="23" name="object 23">
              <a:extLst>
                <a:ext uri="{FF2B5EF4-FFF2-40B4-BE49-F238E27FC236}">
                  <a16:creationId xmlns:a16="http://schemas.microsoft.com/office/drawing/2014/main" id="{D2C6E968-3089-2E68-13E1-BAF5F918AF6E}"/>
                </a:ext>
              </a:extLst>
            </p:cNvPr>
            <p:cNvPicPr/>
            <p:nvPr/>
          </p:nvPicPr>
          <p:blipFill>
            <a:blip r:embed="rId3" cstate="print"/>
            <a:stretch>
              <a:fillRect/>
            </a:stretch>
          </p:blipFill>
          <p:spPr>
            <a:xfrm>
              <a:off x="1857755" y="3361944"/>
              <a:ext cx="158495" cy="179831"/>
            </a:xfrm>
            <a:prstGeom prst="rect">
              <a:avLst/>
            </a:prstGeom>
          </p:spPr>
        </p:pic>
      </p:grpSp>
      <p:grpSp>
        <p:nvGrpSpPr>
          <p:cNvPr id="24" name="object 24">
            <a:extLst>
              <a:ext uri="{FF2B5EF4-FFF2-40B4-BE49-F238E27FC236}">
                <a16:creationId xmlns:a16="http://schemas.microsoft.com/office/drawing/2014/main" id="{A5409B6E-5739-182B-AD35-077E62A44B96}"/>
              </a:ext>
            </a:extLst>
          </p:cNvPr>
          <p:cNvGrpSpPr/>
          <p:nvPr/>
        </p:nvGrpSpPr>
        <p:grpSpPr>
          <a:xfrm>
            <a:off x="1826927" y="5398319"/>
            <a:ext cx="535305" cy="180340"/>
            <a:chOff x="1481327" y="4058411"/>
            <a:chExt cx="535305" cy="180340"/>
          </a:xfrm>
        </p:grpSpPr>
        <p:pic>
          <p:nvPicPr>
            <p:cNvPr id="25" name="object 25">
              <a:extLst>
                <a:ext uri="{FF2B5EF4-FFF2-40B4-BE49-F238E27FC236}">
                  <a16:creationId xmlns:a16="http://schemas.microsoft.com/office/drawing/2014/main" id="{00E0D14C-6F18-441A-C8B6-0F7ABC390BEE}"/>
                </a:ext>
              </a:extLst>
            </p:cNvPr>
            <p:cNvPicPr/>
            <p:nvPr/>
          </p:nvPicPr>
          <p:blipFill>
            <a:blip r:embed="rId3" cstate="print"/>
            <a:stretch>
              <a:fillRect/>
            </a:stretch>
          </p:blipFill>
          <p:spPr>
            <a:xfrm>
              <a:off x="1481327" y="4058411"/>
              <a:ext cx="158496" cy="179831"/>
            </a:xfrm>
            <a:prstGeom prst="rect">
              <a:avLst/>
            </a:prstGeom>
          </p:spPr>
        </p:pic>
        <p:pic>
          <p:nvPicPr>
            <p:cNvPr id="26" name="object 26">
              <a:extLst>
                <a:ext uri="{FF2B5EF4-FFF2-40B4-BE49-F238E27FC236}">
                  <a16:creationId xmlns:a16="http://schemas.microsoft.com/office/drawing/2014/main" id="{B7A82E60-F82D-19F0-C98D-D24F40708979}"/>
                </a:ext>
              </a:extLst>
            </p:cNvPr>
            <p:cNvPicPr/>
            <p:nvPr/>
          </p:nvPicPr>
          <p:blipFill>
            <a:blip r:embed="rId4" cstate="print"/>
            <a:stretch>
              <a:fillRect/>
            </a:stretch>
          </p:blipFill>
          <p:spPr>
            <a:xfrm>
              <a:off x="1677923" y="4058411"/>
              <a:ext cx="158495" cy="179831"/>
            </a:xfrm>
            <a:prstGeom prst="rect">
              <a:avLst/>
            </a:prstGeom>
          </p:spPr>
        </p:pic>
        <p:pic>
          <p:nvPicPr>
            <p:cNvPr id="27" name="object 27">
              <a:extLst>
                <a:ext uri="{FF2B5EF4-FFF2-40B4-BE49-F238E27FC236}">
                  <a16:creationId xmlns:a16="http://schemas.microsoft.com/office/drawing/2014/main" id="{CCED580D-954E-A066-B0C2-1294451E491D}"/>
                </a:ext>
              </a:extLst>
            </p:cNvPr>
            <p:cNvPicPr/>
            <p:nvPr/>
          </p:nvPicPr>
          <p:blipFill>
            <a:blip r:embed="rId3" cstate="print"/>
            <a:stretch>
              <a:fillRect/>
            </a:stretch>
          </p:blipFill>
          <p:spPr>
            <a:xfrm>
              <a:off x="1857755" y="4058411"/>
              <a:ext cx="158495" cy="179831"/>
            </a:xfrm>
            <a:prstGeom prst="rect">
              <a:avLst/>
            </a:prstGeom>
          </p:spPr>
        </p:pic>
      </p:grpSp>
      <p:grpSp>
        <p:nvGrpSpPr>
          <p:cNvPr id="28" name="object 28">
            <a:extLst>
              <a:ext uri="{FF2B5EF4-FFF2-40B4-BE49-F238E27FC236}">
                <a16:creationId xmlns:a16="http://schemas.microsoft.com/office/drawing/2014/main" id="{7A351EDB-E5A3-CA33-AD2B-E942837098CA}"/>
              </a:ext>
            </a:extLst>
          </p:cNvPr>
          <p:cNvGrpSpPr/>
          <p:nvPr/>
        </p:nvGrpSpPr>
        <p:grpSpPr>
          <a:xfrm>
            <a:off x="9809988" y="3249908"/>
            <a:ext cx="535305" cy="178435"/>
            <a:chOff x="9809988" y="2697479"/>
            <a:chExt cx="535305" cy="178435"/>
          </a:xfrm>
        </p:grpSpPr>
        <p:pic>
          <p:nvPicPr>
            <p:cNvPr id="29" name="object 29">
              <a:extLst>
                <a:ext uri="{FF2B5EF4-FFF2-40B4-BE49-F238E27FC236}">
                  <a16:creationId xmlns:a16="http://schemas.microsoft.com/office/drawing/2014/main" id="{ED9BAC4F-B1BD-CA85-01FF-3A4F37787C1D}"/>
                </a:ext>
              </a:extLst>
            </p:cNvPr>
            <p:cNvPicPr/>
            <p:nvPr/>
          </p:nvPicPr>
          <p:blipFill>
            <a:blip r:embed="rId7" cstate="print"/>
            <a:stretch>
              <a:fillRect/>
            </a:stretch>
          </p:blipFill>
          <p:spPr>
            <a:xfrm>
              <a:off x="10186416" y="2697479"/>
              <a:ext cx="158495" cy="178308"/>
            </a:xfrm>
            <a:prstGeom prst="rect">
              <a:avLst/>
            </a:prstGeom>
          </p:spPr>
        </p:pic>
        <p:pic>
          <p:nvPicPr>
            <p:cNvPr id="30" name="object 30">
              <a:extLst>
                <a:ext uri="{FF2B5EF4-FFF2-40B4-BE49-F238E27FC236}">
                  <a16:creationId xmlns:a16="http://schemas.microsoft.com/office/drawing/2014/main" id="{F4383A03-486F-1C3B-367E-234B47D94545}"/>
                </a:ext>
              </a:extLst>
            </p:cNvPr>
            <p:cNvPicPr/>
            <p:nvPr/>
          </p:nvPicPr>
          <p:blipFill>
            <a:blip r:embed="rId7" cstate="print"/>
            <a:stretch>
              <a:fillRect/>
            </a:stretch>
          </p:blipFill>
          <p:spPr>
            <a:xfrm>
              <a:off x="9989820" y="2697479"/>
              <a:ext cx="158496" cy="178308"/>
            </a:xfrm>
            <a:prstGeom prst="rect">
              <a:avLst/>
            </a:prstGeom>
          </p:spPr>
        </p:pic>
        <p:pic>
          <p:nvPicPr>
            <p:cNvPr id="31" name="object 31">
              <a:extLst>
                <a:ext uri="{FF2B5EF4-FFF2-40B4-BE49-F238E27FC236}">
                  <a16:creationId xmlns:a16="http://schemas.microsoft.com/office/drawing/2014/main" id="{38A69509-79B9-9EF6-D450-B1F04585B4B3}"/>
                </a:ext>
              </a:extLst>
            </p:cNvPr>
            <p:cNvPicPr/>
            <p:nvPr/>
          </p:nvPicPr>
          <p:blipFill>
            <a:blip r:embed="rId7" cstate="print"/>
            <a:stretch>
              <a:fillRect/>
            </a:stretch>
          </p:blipFill>
          <p:spPr>
            <a:xfrm>
              <a:off x="9809988" y="2697479"/>
              <a:ext cx="158495" cy="178308"/>
            </a:xfrm>
            <a:prstGeom prst="rect">
              <a:avLst/>
            </a:prstGeom>
          </p:spPr>
        </p:pic>
      </p:grpSp>
      <p:grpSp>
        <p:nvGrpSpPr>
          <p:cNvPr id="32" name="object 32">
            <a:extLst>
              <a:ext uri="{FF2B5EF4-FFF2-40B4-BE49-F238E27FC236}">
                <a16:creationId xmlns:a16="http://schemas.microsoft.com/office/drawing/2014/main" id="{907C50F7-5432-043E-D7C7-62D28655323B}"/>
              </a:ext>
            </a:extLst>
          </p:cNvPr>
          <p:cNvGrpSpPr/>
          <p:nvPr/>
        </p:nvGrpSpPr>
        <p:grpSpPr>
          <a:xfrm>
            <a:off x="9809988" y="4324113"/>
            <a:ext cx="535305" cy="178435"/>
            <a:chOff x="9809988" y="3406140"/>
            <a:chExt cx="535305" cy="178435"/>
          </a:xfrm>
        </p:grpSpPr>
        <p:pic>
          <p:nvPicPr>
            <p:cNvPr id="33" name="object 33">
              <a:extLst>
                <a:ext uri="{FF2B5EF4-FFF2-40B4-BE49-F238E27FC236}">
                  <a16:creationId xmlns:a16="http://schemas.microsoft.com/office/drawing/2014/main" id="{ACCA1412-DD9E-1DC9-297C-8C9EFFE1AF12}"/>
                </a:ext>
              </a:extLst>
            </p:cNvPr>
            <p:cNvPicPr/>
            <p:nvPr/>
          </p:nvPicPr>
          <p:blipFill>
            <a:blip r:embed="rId7" cstate="print"/>
            <a:stretch>
              <a:fillRect/>
            </a:stretch>
          </p:blipFill>
          <p:spPr>
            <a:xfrm>
              <a:off x="10186416" y="3406140"/>
              <a:ext cx="158495" cy="178308"/>
            </a:xfrm>
            <a:prstGeom prst="rect">
              <a:avLst/>
            </a:prstGeom>
          </p:spPr>
        </p:pic>
        <p:pic>
          <p:nvPicPr>
            <p:cNvPr id="34" name="object 34">
              <a:extLst>
                <a:ext uri="{FF2B5EF4-FFF2-40B4-BE49-F238E27FC236}">
                  <a16:creationId xmlns:a16="http://schemas.microsoft.com/office/drawing/2014/main" id="{8D0FA047-10E8-0B21-6BD4-3273D6149F8B}"/>
                </a:ext>
              </a:extLst>
            </p:cNvPr>
            <p:cNvPicPr/>
            <p:nvPr/>
          </p:nvPicPr>
          <p:blipFill>
            <a:blip r:embed="rId7" cstate="print"/>
            <a:stretch>
              <a:fillRect/>
            </a:stretch>
          </p:blipFill>
          <p:spPr>
            <a:xfrm>
              <a:off x="9989820" y="3406140"/>
              <a:ext cx="158496" cy="178308"/>
            </a:xfrm>
            <a:prstGeom prst="rect">
              <a:avLst/>
            </a:prstGeom>
          </p:spPr>
        </p:pic>
        <p:pic>
          <p:nvPicPr>
            <p:cNvPr id="35" name="object 35">
              <a:extLst>
                <a:ext uri="{FF2B5EF4-FFF2-40B4-BE49-F238E27FC236}">
                  <a16:creationId xmlns:a16="http://schemas.microsoft.com/office/drawing/2014/main" id="{E314DA06-B4B3-6761-17D5-A6FD7BDF177C}"/>
                </a:ext>
              </a:extLst>
            </p:cNvPr>
            <p:cNvPicPr/>
            <p:nvPr/>
          </p:nvPicPr>
          <p:blipFill>
            <a:blip r:embed="rId7" cstate="print"/>
            <a:stretch>
              <a:fillRect/>
            </a:stretch>
          </p:blipFill>
          <p:spPr>
            <a:xfrm>
              <a:off x="9809988" y="3406140"/>
              <a:ext cx="158495" cy="178308"/>
            </a:xfrm>
            <a:prstGeom prst="rect">
              <a:avLst/>
            </a:prstGeom>
          </p:spPr>
        </p:pic>
      </p:grpSp>
      <p:grpSp>
        <p:nvGrpSpPr>
          <p:cNvPr id="36" name="object 36">
            <a:extLst>
              <a:ext uri="{FF2B5EF4-FFF2-40B4-BE49-F238E27FC236}">
                <a16:creationId xmlns:a16="http://schemas.microsoft.com/office/drawing/2014/main" id="{0E6376DA-09BD-51CC-759D-A6B90EA101E8}"/>
              </a:ext>
            </a:extLst>
          </p:cNvPr>
          <p:cNvGrpSpPr/>
          <p:nvPr/>
        </p:nvGrpSpPr>
        <p:grpSpPr>
          <a:xfrm>
            <a:off x="9809988" y="5398319"/>
            <a:ext cx="535305" cy="180340"/>
            <a:chOff x="9809988" y="4113276"/>
            <a:chExt cx="535305" cy="180340"/>
          </a:xfrm>
        </p:grpSpPr>
        <p:pic>
          <p:nvPicPr>
            <p:cNvPr id="37" name="object 37">
              <a:extLst>
                <a:ext uri="{FF2B5EF4-FFF2-40B4-BE49-F238E27FC236}">
                  <a16:creationId xmlns:a16="http://schemas.microsoft.com/office/drawing/2014/main" id="{1A9F26DA-6620-220F-1340-B15BA64F6A8F}"/>
                </a:ext>
              </a:extLst>
            </p:cNvPr>
            <p:cNvPicPr/>
            <p:nvPr/>
          </p:nvPicPr>
          <p:blipFill>
            <a:blip r:embed="rId8" cstate="print"/>
            <a:stretch>
              <a:fillRect/>
            </a:stretch>
          </p:blipFill>
          <p:spPr>
            <a:xfrm>
              <a:off x="10186416" y="4113276"/>
              <a:ext cx="158495" cy="179831"/>
            </a:xfrm>
            <a:prstGeom prst="rect">
              <a:avLst/>
            </a:prstGeom>
          </p:spPr>
        </p:pic>
        <p:pic>
          <p:nvPicPr>
            <p:cNvPr id="38" name="object 38">
              <a:extLst>
                <a:ext uri="{FF2B5EF4-FFF2-40B4-BE49-F238E27FC236}">
                  <a16:creationId xmlns:a16="http://schemas.microsoft.com/office/drawing/2014/main" id="{F4C0003A-E091-1530-1577-68E989D5A428}"/>
                </a:ext>
              </a:extLst>
            </p:cNvPr>
            <p:cNvPicPr/>
            <p:nvPr/>
          </p:nvPicPr>
          <p:blipFill>
            <a:blip r:embed="rId8" cstate="print"/>
            <a:stretch>
              <a:fillRect/>
            </a:stretch>
          </p:blipFill>
          <p:spPr>
            <a:xfrm>
              <a:off x="9989820" y="4113276"/>
              <a:ext cx="158496" cy="179831"/>
            </a:xfrm>
            <a:prstGeom prst="rect">
              <a:avLst/>
            </a:prstGeom>
          </p:spPr>
        </p:pic>
        <p:pic>
          <p:nvPicPr>
            <p:cNvPr id="39" name="object 39">
              <a:extLst>
                <a:ext uri="{FF2B5EF4-FFF2-40B4-BE49-F238E27FC236}">
                  <a16:creationId xmlns:a16="http://schemas.microsoft.com/office/drawing/2014/main" id="{FC0395BF-0158-9D02-8DCF-7D6D953EF980}"/>
                </a:ext>
              </a:extLst>
            </p:cNvPr>
            <p:cNvPicPr/>
            <p:nvPr/>
          </p:nvPicPr>
          <p:blipFill>
            <a:blip r:embed="rId8" cstate="print"/>
            <a:stretch>
              <a:fillRect/>
            </a:stretch>
          </p:blipFill>
          <p:spPr>
            <a:xfrm>
              <a:off x="9809988" y="4113276"/>
              <a:ext cx="158495" cy="179831"/>
            </a:xfrm>
            <a:prstGeom prst="rect">
              <a:avLst/>
            </a:prstGeom>
          </p:spPr>
        </p:pic>
      </p:grpSp>
      <p:grpSp>
        <p:nvGrpSpPr>
          <p:cNvPr id="40" name="object 40">
            <a:extLst>
              <a:ext uri="{FF2B5EF4-FFF2-40B4-BE49-F238E27FC236}">
                <a16:creationId xmlns:a16="http://schemas.microsoft.com/office/drawing/2014/main" id="{42A27B10-2D5C-6E82-F879-ED2CB9D46063}"/>
              </a:ext>
            </a:extLst>
          </p:cNvPr>
          <p:cNvGrpSpPr/>
          <p:nvPr/>
        </p:nvGrpSpPr>
        <p:grpSpPr>
          <a:xfrm>
            <a:off x="9809988" y="2173798"/>
            <a:ext cx="535305" cy="180340"/>
            <a:chOff x="9809988" y="1988820"/>
            <a:chExt cx="535305" cy="180340"/>
          </a:xfrm>
        </p:grpSpPr>
        <p:pic>
          <p:nvPicPr>
            <p:cNvPr id="41" name="object 41">
              <a:extLst>
                <a:ext uri="{FF2B5EF4-FFF2-40B4-BE49-F238E27FC236}">
                  <a16:creationId xmlns:a16="http://schemas.microsoft.com/office/drawing/2014/main" id="{D6B48738-F347-BFF4-9B51-848891CC34CB}"/>
                </a:ext>
              </a:extLst>
            </p:cNvPr>
            <p:cNvPicPr/>
            <p:nvPr/>
          </p:nvPicPr>
          <p:blipFill>
            <a:blip r:embed="rId8" cstate="print"/>
            <a:stretch>
              <a:fillRect/>
            </a:stretch>
          </p:blipFill>
          <p:spPr>
            <a:xfrm>
              <a:off x="10186416" y="1988820"/>
              <a:ext cx="158495" cy="179831"/>
            </a:xfrm>
            <a:prstGeom prst="rect">
              <a:avLst/>
            </a:prstGeom>
          </p:spPr>
        </p:pic>
        <p:pic>
          <p:nvPicPr>
            <p:cNvPr id="42" name="object 42">
              <a:extLst>
                <a:ext uri="{FF2B5EF4-FFF2-40B4-BE49-F238E27FC236}">
                  <a16:creationId xmlns:a16="http://schemas.microsoft.com/office/drawing/2014/main" id="{4CDC41B9-3D99-CF6E-0717-0DC62CE457DA}"/>
                </a:ext>
              </a:extLst>
            </p:cNvPr>
            <p:cNvPicPr/>
            <p:nvPr/>
          </p:nvPicPr>
          <p:blipFill>
            <a:blip r:embed="rId8" cstate="print"/>
            <a:stretch>
              <a:fillRect/>
            </a:stretch>
          </p:blipFill>
          <p:spPr>
            <a:xfrm>
              <a:off x="9989820" y="1988820"/>
              <a:ext cx="158496" cy="179831"/>
            </a:xfrm>
            <a:prstGeom prst="rect">
              <a:avLst/>
            </a:prstGeom>
          </p:spPr>
        </p:pic>
        <p:pic>
          <p:nvPicPr>
            <p:cNvPr id="43" name="object 43">
              <a:extLst>
                <a:ext uri="{FF2B5EF4-FFF2-40B4-BE49-F238E27FC236}">
                  <a16:creationId xmlns:a16="http://schemas.microsoft.com/office/drawing/2014/main" id="{AC99CA56-FC14-7702-01D7-66D5A33E7FD7}"/>
                </a:ext>
              </a:extLst>
            </p:cNvPr>
            <p:cNvPicPr/>
            <p:nvPr/>
          </p:nvPicPr>
          <p:blipFill>
            <a:blip r:embed="rId8" cstate="print"/>
            <a:stretch>
              <a:fillRect/>
            </a:stretch>
          </p:blipFill>
          <p:spPr>
            <a:xfrm>
              <a:off x="9809988" y="1988820"/>
              <a:ext cx="158495" cy="179831"/>
            </a:xfrm>
            <a:prstGeom prst="rect">
              <a:avLst/>
            </a:prstGeom>
          </p:spPr>
        </p:pic>
      </p:grpSp>
      <p:sp>
        <p:nvSpPr>
          <p:cNvPr id="44" name="object 44">
            <a:extLst>
              <a:ext uri="{FF2B5EF4-FFF2-40B4-BE49-F238E27FC236}">
                <a16:creationId xmlns:a16="http://schemas.microsoft.com/office/drawing/2014/main" id="{1C02C6B0-EA75-ECE7-B7FC-5555B7C49594}"/>
              </a:ext>
            </a:extLst>
          </p:cNvPr>
          <p:cNvSpPr txBox="1"/>
          <p:nvPr/>
        </p:nvSpPr>
        <p:spPr>
          <a:xfrm>
            <a:off x="2474627" y="1831968"/>
            <a:ext cx="3240000" cy="864000"/>
          </a:xfrm>
          <a:prstGeom prst="rect">
            <a:avLst/>
          </a:prstGeom>
          <a:ln w="9144">
            <a:solidFill>
              <a:srgbClr val="D9D9D9"/>
            </a:solidFill>
          </a:ln>
        </p:spPr>
        <p:txBody>
          <a:bodyPr vert="horz" wrap="square" lIns="0" tIns="43180" rIns="0" bIns="0" rtlCol="0" anchor="ctr" anchorCtr="0">
            <a:noAutofit/>
          </a:bodyPr>
          <a:lstStyle/>
          <a:p>
            <a:pPr marL="90805">
              <a:lnSpc>
                <a:spcPct val="100000"/>
              </a:lnSpc>
              <a:spcBef>
                <a:spcPts val="340"/>
              </a:spcBef>
            </a:pPr>
            <a:r>
              <a:rPr lang="zh-CN" altLang="en-US" sz="1600" spc="-20" dirty="0">
                <a:latin typeface="宋体"/>
                <a:cs typeface="宋体"/>
              </a:rPr>
              <a:t>针对测试过程中涉及到的用例的管理活动。</a:t>
            </a:r>
          </a:p>
        </p:txBody>
      </p:sp>
      <p:sp>
        <p:nvSpPr>
          <p:cNvPr id="45" name="object 45">
            <a:extLst>
              <a:ext uri="{FF2B5EF4-FFF2-40B4-BE49-F238E27FC236}">
                <a16:creationId xmlns:a16="http://schemas.microsoft.com/office/drawing/2014/main" id="{3504518B-A622-86BF-1EA4-7A88DBA77DB9}"/>
              </a:ext>
            </a:extLst>
          </p:cNvPr>
          <p:cNvSpPr/>
          <p:nvPr/>
        </p:nvSpPr>
        <p:spPr>
          <a:xfrm>
            <a:off x="2474627" y="2906808"/>
            <a:ext cx="3240000" cy="864000"/>
          </a:xfrm>
          <a:custGeom>
            <a:avLst/>
            <a:gdLst/>
            <a:ahLst/>
            <a:cxnLst/>
            <a:rect l="l" t="t" r="r" b="b"/>
            <a:pathLst>
              <a:path w="3599815" h="523239">
                <a:moveTo>
                  <a:pt x="0" y="522732"/>
                </a:moveTo>
                <a:lnTo>
                  <a:pt x="3599688" y="522732"/>
                </a:lnTo>
                <a:lnTo>
                  <a:pt x="3599688" y="0"/>
                </a:lnTo>
                <a:lnTo>
                  <a:pt x="0" y="0"/>
                </a:lnTo>
                <a:lnTo>
                  <a:pt x="0" y="522732"/>
                </a:lnTo>
                <a:close/>
              </a:path>
            </a:pathLst>
          </a:custGeom>
          <a:ln w="9144">
            <a:solidFill>
              <a:srgbClr val="D9D9D9"/>
            </a:solidFill>
          </a:ln>
        </p:spPr>
        <p:txBody>
          <a:bodyPr vert="horz" wrap="square" lIns="0" tIns="43180" rIns="0" bIns="0" rtlCol="0" anchor="ctr" anchorCtr="0">
            <a:noAutofit/>
          </a:bodyPr>
          <a:lstStyle/>
          <a:p>
            <a:pPr marL="90805">
              <a:spcBef>
                <a:spcPts val="340"/>
              </a:spcBef>
            </a:pPr>
            <a:r>
              <a:rPr lang="zh-CN" altLang="en-US" sz="1600" spc="-20" dirty="0">
                <a:latin typeface="宋体"/>
              </a:rPr>
              <a:t>指在测试过程中涉及到的数据的管理活动。</a:t>
            </a:r>
          </a:p>
        </p:txBody>
      </p:sp>
      <p:sp>
        <p:nvSpPr>
          <p:cNvPr id="48" name="object 48">
            <a:extLst>
              <a:ext uri="{FF2B5EF4-FFF2-40B4-BE49-F238E27FC236}">
                <a16:creationId xmlns:a16="http://schemas.microsoft.com/office/drawing/2014/main" id="{7CAA2F7F-2DAE-A7A6-A8AD-75EB2D03DDF5}"/>
              </a:ext>
            </a:extLst>
          </p:cNvPr>
          <p:cNvSpPr txBox="1"/>
          <p:nvPr/>
        </p:nvSpPr>
        <p:spPr>
          <a:xfrm>
            <a:off x="2474627" y="3981648"/>
            <a:ext cx="3240000" cy="864000"/>
          </a:xfrm>
          <a:prstGeom prst="rect">
            <a:avLst/>
          </a:prstGeom>
          <a:ln w="9144">
            <a:solidFill>
              <a:srgbClr val="D9D9D9"/>
            </a:solidFill>
          </a:ln>
        </p:spPr>
        <p:txBody>
          <a:bodyPr vert="horz" wrap="square" lIns="0" tIns="64135" rIns="0" bIns="0" rtlCol="0" anchor="ctr" anchorCtr="0">
            <a:noAutofit/>
          </a:bodyPr>
          <a:lstStyle/>
          <a:p>
            <a:pPr marL="90805" marR="117475">
              <a:lnSpc>
                <a:spcPts val="1620"/>
              </a:lnSpc>
              <a:spcBef>
                <a:spcPts val="505"/>
              </a:spcBef>
            </a:pPr>
            <a:r>
              <a:rPr lang="zh-CN" altLang="en-US" sz="1600" spc="-20" dirty="0">
                <a:latin typeface="宋体"/>
                <a:cs typeface="宋体"/>
              </a:rPr>
              <a:t>考察对开发者代码进行安全检查的能力，通过对代码进行质量检查，提供改进意见，保证代码开发阶段不因为代码漏洞影响整个建设。</a:t>
            </a:r>
          </a:p>
        </p:txBody>
      </p:sp>
      <p:sp>
        <p:nvSpPr>
          <p:cNvPr id="49" name="object 49">
            <a:extLst>
              <a:ext uri="{FF2B5EF4-FFF2-40B4-BE49-F238E27FC236}">
                <a16:creationId xmlns:a16="http://schemas.microsoft.com/office/drawing/2014/main" id="{76533DB3-4F26-CF07-3202-A5517454D636}"/>
              </a:ext>
            </a:extLst>
          </p:cNvPr>
          <p:cNvSpPr txBox="1"/>
          <p:nvPr/>
        </p:nvSpPr>
        <p:spPr>
          <a:xfrm>
            <a:off x="2474627" y="5056489"/>
            <a:ext cx="3240000" cy="864000"/>
          </a:xfrm>
          <a:prstGeom prst="rect">
            <a:avLst/>
          </a:prstGeom>
          <a:ln w="9144">
            <a:solidFill>
              <a:srgbClr val="D9D9D9"/>
            </a:solidFill>
          </a:ln>
        </p:spPr>
        <p:txBody>
          <a:bodyPr vert="horz" wrap="square" lIns="0" tIns="43815" rIns="0" bIns="0" rtlCol="0" anchor="ctr" anchorCtr="0">
            <a:noAutofit/>
          </a:bodyPr>
          <a:lstStyle/>
          <a:p>
            <a:pPr marL="90805">
              <a:lnSpc>
                <a:spcPct val="100000"/>
              </a:lnSpc>
              <a:spcBef>
                <a:spcPts val="345"/>
              </a:spcBef>
            </a:pPr>
            <a:r>
              <a:rPr lang="zh-CN" altLang="en-US" sz="1600" spc="-15" dirty="0">
                <a:latin typeface="宋体"/>
                <a:cs typeface="宋体"/>
              </a:rPr>
              <a:t>指对软件接口的功能、性能、安全性进行测试的方法。</a:t>
            </a:r>
          </a:p>
        </p:txBody>
      </p:sp>
      <p:sp>
        <p:nvSpPr>
          <p:cNvPr id="50" name="object 50">
            <a:extLst>
              <a:ext uri="{FF2B5EF4-FFF2-40B4-BE49-F238E27FC236}">
                <a16:creationId xmlns:a16="http://schemas.microsoft.com/office/drawing/2014/main" id="{6C84F320-B1E9-67B6-AA0D-15E76D4DE0AE}"/>
              </a:ext>
            </a:extLst>
          </p:cNvPr>
          <p:cNvSpPr txBox="1"/>
          <p:nvPr/>
        </p:nvSpPr>
        <p:spPr>
          <a:xfrm>
            <a:off x="6096000" y="1831968"/>
            <a:ext cx="3240000" cy="864000"/>
          </a:xfrm>
          <a:prstGeom prst="rect">
            <a:avLst/>
          </a:prstGeom>
          <a:ln w="9144">
            <a:solidFill>
              <a:srgbClr val="D9D9D9"/>
            </a:solidFill>
          </a:ln>
        </p:spPr>
        <p:txBody>
          <a:bodyPr vert="horz" wrap="square" lIns="0" tIns="43180" rIns="0" bIns="0" rtlCol="0" anchor="ctr" anchorCtr="0">
            <a:noAutofit/>
          </a:bodyPr>
          <a:lstStyle/>
          <a:p>
            <a:pPr marL="92075">
              <a:lnSpc>
                <a:spcPct val="100000"/>
              </a:lnSpc>
              <a:spcBef>
                <a:spcPts val="340"/>
              </a:spcBef>
            </a:pPr>
            <a:r>
              <a:rPr lang="zh-CN" altLang="en-US" sz="1600" spc="-15" dirty="0">
                <a:latin typeface="宋体"/>
                <a:cs typeface="宋体"/>
              </a:rPr>
              <a:t>指对于软件界面风格、通用性、准确性、美观性、易操作行测试的方法 。</a:t>
            </a:r>
          </a:p>
        </p:txBody>
      </p:sp>
      <p:sp>
        <p:nvSpPr>
          <p:cNvPr id="51" name="object 51">
            <a:extLst>
              <a:ext uri="{FF2B5EF4-FFF2-40B4-BE49-F238E27FC236}">
                <a16:creationId xmlns:a16="http://schemas.microsoft.com/office/drawing/2014/main" id="{71E1DF1C-14DA-717F-E8A2-5456CCD61608}"/>
              </a:ext>
            </a:extLst>
          </p:cNvPr>
          <p:cNvSpPr txBox="1"/>
          <p:nvPr/>
        </p:nvSpPr>
        <p:spPr>
          <a:xfrm>
            <a:off x="6096000" y="2906808"/>
            <a:ext cx="3240000" cy="864000"/>
          </a:xfrm>
          <a:prstGeom prst="rect">
            <a:avLst/>
          </a:prstGeom>
          <a:ln w="9144">
            <a:solidFill>
              <a:srgbClr val="D9D9D9"/>
            </a:solidFill>
          </a:ln>
        </p:spPr>
        <p:txBody>
          <a:bodyPr vert="horz" wrap="square" lIns="0" tIns="52069" rIns="0" bIns="0" rtlCol="0" anchor="ctr" anchorCtr="0">
            <a:noAutofit/>
          </a:bodyPr>
          <a:lstStyle/>
          <a:p>
            <a:pPr marL="92075">
              <a:lnSpc>
                <a:spcPts val="1650"/>
              </a:lnSpc>
              <a:spcBef>
                <a:spcPts val="409"/>
              </a:spcBef>
            </a:pPr>
            <a:r>
              <a:rPr lang="zh-CN" altLang="en-US" sz="1600" dirty="0">
                <a:latin typeface="宋体"/>
                <a:cs typeface="宋体"/>
              </a:rPr>
              <a:t>指提供移动端适配性测试的服务。</a:t>
            </a:r>
          </a:p>
        </p:txBody>
      </p:sp>
      <p:sp>
        <p:nvSpPr>
          <p:cNvPr id="52" name="object 52">
            <a:extLst>
              <a:ext uri="{FF2B5EF4-FFF2-40B4-BE49-F238E27FC236}">
                <a16:creationId xmlns:a16="http://schemas.microsoft.com/office/drawing/2014/main" id="{20996B9F-96CD-AA4B-5106-00AD8BECA819}"/>
              </a:ext>
            </a:extLst>
          </p:cNvPr>
          <p:cNvSpPr txBox="1"/>
          <p:nvPr/>
        </p:nvSpPr>
        <p:spPr>
          <a:xfrm>
            <a:off x="6096000" y="3981648"/>
            <a:ext cx="3240000" cy="864000"/>
          </a:xfrm>
          <a:prstGeom prst="rect">
            <a:avLst/>
          </a:prstGeom>
          <a:ln w="9144">
            <a:solidFill>
              <a:srgbClr val="D9D9D9"/>
            </a:solidFill>
          </a:ln>
        </p:spPr>
        <p:txBody>
          <a:bodyPr vert="horz" wrap="square" lIns="0" tIns="43815" rIns="0" bIns="0" rtlCol="0" anchor="ctr" anchorCtr="0">
            <a:noAutofit/>
          </a:bodyPr>
          <a:lstStyle/>
          <a:p>
            <a:pPr marL="92075">
              <a:lnSpc>
                <a:spcPct val="100000"/>
              </a:lnSpc>
              <a:spcBef>
                <a:spcPts val="345"/>
              </a:spcBef>
            </a:pPr>
            <a:r>
              <a:rPr lang="zh-CN" altLang="en-US" sz="1600" spc="-20" dirty="0">
                <a:latin typeface="宋体"/>
                <a:cs typeface="宋体"/>
              </a:rPr>
              <a:t>指对软件开发过程中某个模块、某个函数或某个类进行正确性检验的测试工作。</a:t>
            </a:r>
          </a:p>
        </p:txBody>
      </p:sp>
      <p:sp>
        <p:nvSpPr>
          <p:cNvPr id="53" name="object 53">
            <a:extLst>
              <a:ext uri="{FF2B5EF4-FFF2-40B4-BE49-F238E27FC236}">
                <a16:creationId xmlns:a16="http://schemas.microsoft.com/office/drawing/2014/main" id="{B321A721-3426-4C79-28E4-66544AE75EFA}"/>
              </a:ext>
            </a:extLst>
          </p:cNvPr>
          <p:cNvSpPr txBox="1"/>
          <p:nvPr/>
        </p:nvSpPr>
        <p:spPr>
          <a:xfrm>
            <a:off x="6096000" y="5056489"/>
            <a:ext cx="3240000" cy="864000"/>
          </a:xfrm>
          <a:prstGeom prst="rect">
            <a:avLst/>
          </a:prstGeom>
          <a:ln w="9144">
            <a:solidFill>
              <a:srgbClr val="D9D9D9"/>
            </a:solidFill>
          </a:ln>
        </p:spPr>
        <p:txBody>
          <a:bodyPr vert="horz" wrap="square" lIns="0" tIns="55244" rIns="0" bIns="0" rtlCol="0" anchor="ctr" anchorCtr="0">
            <a:noAutofit/>
          </a:bodyPr>
          <a:lstStyle/>
          <a:p>
            <a:pPr marL="92075" marR="116205" algn="just">
              <a:lnSpc>
                <a:spcPct val="98200"/>
              </a:lnSpc>
              <a:spcBef>
                <a:spcPts val="434"/>
              </a:spcBef>
            </a:pPr>
            <a:r>
              <a:rPr lang="zh-CN" altLang="en-US" sz="1600" spc="-20" dirty="0">
                <a:latin typeface="宋体"/>
                <a:cs typeface="宋体"/>
              </a:rPr>
              <a:t>通过借助特定的系统</a:t>
            </a:r>
            <a:r>
              <a:rPr lang="en-US" altLang="zh-CN" sz="1600" spc="-20" dirty="0">
                <a:latin typeface="宋体"/>
                <a:cs typeface="宋体"/>
              </a:rPr>
              <a:t>/</a:t>
            </a:r>
            <a:r>
              <a:rPr lang="zh-CN" altLang="en-US" sz="1600" spc="-20" dirty="0">
                <a:latin typeface="宋体"/>
                <a:cs typeface="宋体"/>
              </a:rPr>
              <a:t>工具对移动客户端平台</a:t>
            </a:r>
            <a:r>
              <a:rPr lang="en-US" altLang="zh-CN" sz="1600" spc="-20" dirty="0">
                <a:latin typeface="宋体"/>
                <a:cs typeface="宋体"/>
              </a:rPr>
              <a:t>/</a:t>
            </a:r>
            <a:r>
              <a:rPr lang="zh-CN" altLang="en-US" sz="1600" spc="-20" dirty="0">
                <a:latin typeface="宋体"/>
                <a:cs typeface="宋体"/>
              </a:rPr>
              <a:t>程序进行测试。</a:t>
            </a:r>
          </a:p>
        </p:txBody>
      </p:sp>
      <p:sp>
        <p:nvSpPr>
          <p:cNvPr id="55" name="object 2">
            <a:extLst>
              <a:ext uri="{FF2B5EF4-FFF2-40B4-BE49-F238E27FC236}">
                <a16:creationId xmlns:a16="http://schemas.microsoft.com/office/drawing/2014/main" id="{C5744E07-9A9B-12FA-1124-7467E2431FFB}"/>
              </a:ext>
            </a:extLst>
          </p:cNvPr>
          <p:cNvSpPr txBox="1">
            <a:spLocks/>
          </p:cNvSpPr>
          <p:nvPr/>
        </p:nvSpPr>
        <p:spPr>
          <a:xfrm>
            <a:off x="718218" y="988758"/>
            <a:ext cx="10318115" cy="381515"/>
          </a:xfrm>
          <a:prstGeom prst="rect">
            <a:avLst/>
          </a:prstGeom>
        </p:spPr>
        <p:txBody>
          <a:bodyPr vert="horz" wrap="square" lIns="0" tIns="12065" rIns="0" bIns="0" rtlCol="0" anchor="ctr">
            <a:spAutoFit/>
          </a:bodyPr>
          <a:lstStyle>
            <a:lvl1pPr algn="l" defTabSz="914400" rtl="0" eaLnBrk="1" latinLnBrk="0" hangingPunct="1">
              <a:lnSpc>
                <a:spcPct val="90000"/>
              </a:lnSpc>
              <a:spcBef>
                <a:spcPct val="0"/>
              </a:spcBef>
              <a:buNone/>
              <a:defRPr sz="2800" b="1" kern="1200">
                <a:solidFill>
                  <a:schemeClr val="tx1"/>
                </a:solidFill>
                <a:latin typeface="方正粗雅宋简体" panose="02000000000000000000" pitchFamily="2" charset="-122"/>
                <a:ea typeface="方正粗雅宋简体" panose="02000000000000000000" pitchFamily="2" charset="-122"/>
                <a:cs typeface="+mj-cs"/>
              </a:defRPr>
            </a:lvl1pPr>
          </a:lstStyle>
          <a:p>
            <a:pPr marL="355600" indent="-342900">
              <a:lnSpc>
                <a:spcPct val="100000"/>
              </a:lnSpc>
              <a:spcBef>
                <a:spcPts val="95"/>
              </a:spcBef>
              <a:buFont typeface="Wingdings" panose="05000000000000000000" pitchFamily="2" charset="2"/>
              <a:buChar char="p"/>
            </a:pPr>
            <a:r>
              <a:rPr lang="en-US" altLang="zh-CN" sz="2400" dirty="0">
                <a:solidFill>
                  <a:srgbClr val="003F88"/>
                </a:solidFill>
                <a:latin typeface="+mn-lt"/>
                <a:ea typeface="+mn-ea"/>
                <a:cs typeface="+mn-cs"/>
              </a:rPr>
              <a:t>DevOps</a:t>
            </a:r>
            <a:r>
              <a:rPr lang="zh-CN" altLang="en-US" sz="2400" dirty="0">
                <a:solidFill>
                  <a:srgbClr val="003F88"/>
                </a:solidFill>
                <a:latin typeface="+mn-lt"/>
                <a:ea typeface="+mn-ea"/>
                <a:cs typeface="+mn-cs"/>
              </a:rPr>
              <a:t>标准能力框架图</a:t>
            </a:r>
            <a:r>
              <a:rPr lang="en-US" altLang="zh-CN" sz="2400" dirty="0">
                <a:solidFill>
                  <a:srgbClr val="003F88"/>
                </a:solidFill>
                <a:latin typeface="+mn-lt"/>
                <a:ea typeface="+mn-ea"/>
                <a:cs typeface="+mn-cs"/>
              </a:rPr>
              <a:t>——</a:t>
            </a:r>
            <a:r>
              <a:rPr lang="zh-CN" altLang="en-US" sz="2400" dirty="0">
                <a:solidFill>
                  <a:srgbClr val="003F88"/>
                </a:solidFill>
                <a:latin typeface="+mn-lt"/>
                <a:ea typeface="+mn-ea"/>
                <a:cs typeface="+mn-cs"/>
              </a:rPr>
              <a:t>测试域</a:t>
            </a:r>
          </a:p>
        </p:txBody>
      </p:sp>
    </p:spTree>
    <p:extLst>
      <p:ext uri="{BB962C8B-B14F-4D97-AF65-F5344CB8AC3E}">
        <p14:creationId xmlns:p14="http://schemas.microsoft.com/office/powerpoint/2010/main" val="8686908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03 DevOps</a:t>
            </a:r>
            <a:r>
              <a:rPr lang="zh-CN" altLang="en-US" dirty="0"/>
              <a:t>工具体系</a:t>
            </a:r>
          </a:p>
        </p:txBody>
      </p:sp>
      <p:sp>
        <p:nvSpPr>
          <p:cNvPr id="3" name="灯片编号占位符 2"/>
          <p:cNvSpPr>
            <a:spLocks noGrp="1"/>
          </p:cNvSpPr>
          <p:nvPr>
            <p:ph type="sldNum" sz="quarter" idx="12"/>
          </p:nvPr>
        </p:nvSpPr>
        <p:spPr/>
        <p:txBody>
          <a:bodyPr/>
          <a:lstStyle/>
          <a:p>
            <a:fld id="{1AAC388E-FA9E-4A2C-95EA-1F6B3A07935A}" type="slidenum">
              <a:rPr lang="zh-CN" altLang="en-US" sz="1400" smtClean="0">
                <a:solidFill>
                  <a:srgbClr val="000000"/>
                </a:solidFill>
              </a:rPr>
              <a:t>52</a:t>
            </a:fld>
            <a:endParaRPr lang="zh-CN" altLang="en-US" sz="1400" dirty="0">
              <a:solidFill>
                <a:srgbClr val="000000"/>
              </a:solidFill>
            </a:endParaRPr>
          </a:p>
        </p:txBody>
      </p:sp>
      <p:sp>
        <p:nvSpPr>
          <p:cNvPr id="4" name="object 4">
            <a:extLst>
              <a:ext uri="{FF2B5EF4-FFF2-40B4-BE49-F238E27FC236}">
                <a16:creationId xmlns:a16="http://schemas.microsoft.com/office/drawing/2014/main" id="{508EC6DA-8823-7003-E02D-B99A0B4A64F1}"/>
              </a:ext>
            </a:extLst>
          </p:cNvPr>
          <p:cNvSpPr txBox="1"/>
          <p:nvPr/>
        </p:nvSpPr>
        <p:spPr>
          <a:xfrm>
            <a:off x="752508" y="3683693"/>
            <a:ext cx="864235" cy="570230"/>
          </a:xfrm>
          <a:prstGeom prst="rect">
            <a:avLst/>
          </a:prstGeom>
          <a:solidFill>
            <a:srgbClr val="38A666"/>
          </a:solidFill>
        </p:spPr>
        <p:txBody>
          <a:bodyPr vert="horz" wrap="square" lIns="36000" tIns="0" rIns="36000" bIns="0" rtlCol="0" anchor="ctr" anchorCtr="0">
            <a:noAutofit/>
          </a:bodyPr>
          <a:lstStyle/>
          <a:p>
            <a:pPr algn="ctr">
              <a:lnSpc>
                <a:spcPct val="100000"/>
              </a:lnSpc>
            </a:pPr>
            <a:r>
              <a:rPr lang="zh-CN" altLang="en-US" sz="1400" b="1" dirty="0">
                <a:latin typeface="宋体"/>
                <a:cs typeface="宋体"/>
              </a:rPr>
              <a:t>监控管理</a:t>
            </a:r>
          </a:p>
        </p:txBody>
      </p:sp>
      <p:sp>
        <p:nvSpPr>
          <p:cNvPr id="5" name="object 5">
            <a:extLst>
              <a:ext uri="{FF2B5EF4-FFF2-40B4-BE49-F238E27FC236}">
                <a16:creationId xmlns:a16="http://schemas.microsoft.com/office/drawing/2014/main" id="{080D30BA-F0DF-8FA7-0E93-CE671E1B1F5D}"/>
              </a:ext>
            </a:extLst>
          </p:cNvPr>
          <p:cNvSpPr txBox="1"/>
          <p:nvPr/>
        </p:nvSpPr>
        <p:spPr>
          <a:xfrm>
            <a:off x="10632947" y="3684328"/>
            <a:ext cx="1007744" cy="568960"/>
          </a:xfrm>
          <a:prstGeom prst="rect">
            <a:avLst/>
          </a:prstGeom>
          <a:solidFill>
            <a:srgbClr val="38A666"/>
          </a:solidFill>
        </p:spPr>
        <p:txBody>
          <a:bodyPr vert="horz" wrap="square" lIns="36000" tIns="0" rIns="36000" bIns="0" rtlCol="0" anchor="ctr" anchorCtr="0">
            <a:noAutofit/>
          </a:bodyPr>
          <a:lstStyle>
            <a:defPPr>
              <a:defRPr lang="zh-CN"/>
            </a:defPPr>
            <a:lvl1pPr algn="ctr">
              <a:lnSpc>
                <a:spcPct val="100000"/>
              </a:lnSpc>
              <a:defRPr sz="1400" b="1" spc="-15">
                <a:latin typeface="宋体"/>
                <a:cs typeface="宋体"/>
              </a:defRPr>
            </a:lvl1pPr>
          </a:lstStyle>
          <a:p>
            <a:r>
              <a:rPr lang="en-US" altLang="zh-CN" dirty="0">
                <a:latin typeface="+mj-ea"/>
                <a:ea typeface="+mj-ea"/>
              </a:rPr>
              <a:t>CMDB</a:t>
            </a:r>
            <a:endParaRPr dirty="0">
              <a:latin typeface="+mj-ea"/>
              <a:ea typeface="+mj-ea"/>
            </a:endParaRPr>
          </a:p>
        </p:txBody>
      </p:sp>
      <p:sp>
        <p:nvSpPr>
          <p:cNvPr id="6" name="object 6">
            <a:extLst>
              <a:ext uri="{FF2B5EF4-FFF2-40B4-BE49-F238E27FC236}">
                <a16:creationId xmlns:a16="http://schemas.microsoft.com/office/drawing/2014/main" id="{6AABE17D-F2AD-B91B-8A92-A2418B448464}"/>
              </a:ext>
            </a:extLst>
          </p:cNvPr>
          <p:cNvSpPr txBox="1"/>
          <p:nvPr/>
        </p:nvSpPr>
        <p:spPr>
          <a:xfrm>
            <a:off x="10632947" y="2195488"/>
            <a:ext cx="1007744" cy="568960"/>
          </a:xfrm>
          <a:prstGeom prst="rect">
            <a:avLst/>
          </a:prstGeom>
          <a:solidFill>
            <a:srgbClr val="38A666"/>
          </a:solidFill>
        </p:spPr>
        <p:txBody>
          <a:bodyPr vert="horz" wrap="square" lIns="36000" tIns="0" rIns="36000" bIns="0" rtlCol="0" anchor="ctr" anchorCtr="0">
            <a:noAutofit/>
          </a:bodyPr>
          <a:lstStyle>
            <a:defPPr>
              <a:defRPr lang="zh-CN"/>
            </a:defPPr>
            <a:lvl1pPr algn="ctr">
              <a:lnSpc>
                <a:spcPct val="100000"/>
              </a:lnSpc>
              <a:defRPr sz="1400" b="1" spc="-15">
                <a:latin typeface="宋体"/>
                <a:cs typeface="宋体"/>
              </a:defRPr>
            </a:lvl1pPr>
          </a:lstStyle>
          <a:p>
            <a:r>
              <a:rPr lang="zh-CN" altLang="en-US" dirty="0">
                <a:latin typeface="+mj-ea"/>
                <a:ea typeface="+mj-ea"/>
              </a:rPr>
              <a:t>日志管理</a:t>
            </a:r>
            <a:endParaRPr dirty="0">
              <a:latin typeface="+mj-ea"/>
              <a:ea typeface="+mj-ea"/>
            </a:endParaRPr>
          </a:p>
        </p:txBody>
      </p:sp>
      <p:sp>
        <p:nvSpPr>
          <p:cNvPr id="7" name="object 7">
            <a:extLst>
              <a:ext uri="{FF2B5EF4-FFF2-40B4-BE49-F238E27FC236}">
                <a16:creationId xmlns:a16="http://schemas.microsoft.com/office/drawing/2014/main" id="{8D75CBD7-84C6-2712-C76B-FE84D2F53326}"/>
              </a:ext>
            </a:extLst>
          </p:cNvPr>
          <p:cNvSpPr txBox="1"/>
          <p:nvPr/>
        </p:nvSpPr>
        <p:spPr>
          <a:xfrm>
            <a:off x="752508" y="2194218"/>
            <a:ext cx="864235" cy="571500"/>
          </a:xfrm>
          <a:prstGeom prst="rect">
            <a:avLst/>
          </a:prstGeom>
          <a:solidFill>
            <a:srgbClr val="38A666"/>
          </a:solidFill>
        </p:spPr>
        <p:txBody>
          <a:bodyPr vert="horz" wrap="square" lIns="36000" tIns="0" rIns="36000" bIns="0" rtlCol="0" anchor="ctr" anchorCtr="0">
            <a:noAutofit/>
          </a:bodyPr>
          <a:lstStyle/>
          <a:p>
            <a:pPr algn="ctr">
              <a:lnSpc>
                <a:spcPct val="100000"/>
              </a:lnSpc>
            </a:pPr>
            <a:r>
              <a:rPr lang="zh-CN" altLang="en-US" sz="1400" b="1" spc="-15" dirty="0">
                <a:latin typeface="宋体"/>
                <a:cs typeface="宋体"/>
              </a:rPr>
              <a:t>资源管理</a:t>
            </a:r>
          </a:p>
        </p:txBody>
      </p:sp>
      <p:sp>
        <p:nvSpPr>
          <p:cNvPr id="8" name="object 8">
            <a:extLst>
              <a:ext uri="{FF2B5EF4-FFF2-40B4-BE49-F238E27FC236}">
                <a16:creationId xmlns:a16="http://schemas.microsoft.com/office/drawing/2014/main" id="{AEBFC6B6-BFD4-A345-29E5-21CF72268A13}"/>
              </a:ext>
            </a:extLst>
          </p:cNvPr>
          <p:cNvSpPr txBox="1"/>
          <p:nvPr/>
        </p:nvSpPr>
        <p:spPr>
          <a:xfrm>
            <a:off x="752508" y="5171898"/>
            <a:ext cx="864235" cy="571500"/>
          </a:xfrm>
          <a:prstGeom prst="rect">
            <a:avLst/>
          </a:prstGeom>
          <a:solidFill>
            <a:srgbClr val="38A666"/>
          </a:solidFill>
        </p:spPr>
        <p:txBody>
          <a:bodyPr vert="horz" wrap="square" lIns="36000" tIns="0" rIns="36000" bIns="0" rtlCol="0" anchor="ctr" anchorCtr="0">
            <a:noAutofit/>
          </a:bodyPr>
          <a:lstStyle/>
          <a:p>
            <a:pPr algn="ctr">
              <a:lnSpc>
                <a:spcPct val="100000"/>
              </a:lnSpc>
            </a:pPr>
            <a:r>
              <a:rPr lang="zh-CN" altLang="en-US" sz="1400" b="1" dirty="0">
                <a:latin typeface="宋体"/>
                <a:cs typeface="宋体"/>
              </a:rPr>
              <a:t>变更管理</a:t>
            </a:r>
            <a:endParaRPr sz="1400" b="1" dirty="0">
              <a:latin typeface="宋体"/>
              <a:cs typeface="宋体"/>
            </a:endParaRPr>
          </a:p>
        </p:txBody>
      </p:sp>
      <p:sp>
        <p:nvSpPr>
          <p:cNvPr id="11" name="object 11">
            <a:extLst>
              <a:ext uri="{FF2B5EF4-FFF2-40B4-BE49-F238E27FC236}">
                <a16:creationId xmlns:a16="http://schemas.microsoft.com/office/drawing/2014/main" id="{8B3BFB04-D2D4-D174-D4C0-95E9EBA867EC}"/>
              </a:ext>
            </a:extLst>
          </p:cNvPr>
          <p:cNvSpPr txBox="1"/>
          <p:nvPr/>
        </p:nvSpPr>
        <p:spPr>
          <a:xfrm>
            <a:off x="10632947" y="5173168"/>
            <a:ext cx="1007744" cy="568960"/>
          </a:xfrm>
          <a:prstGeom prst="rect">
            <a:avLst/>
          </a:prstGeom>
          <a:solidFill>
            <a:srgbClr val="38A666"/>
          </a:solidFill>
        </p:spPr>
        <p:txBody>
          <a:bodyPr vert="horz" wrap="square" lIns="36000" tIns="0" rIns="36000" bIns="0" rtlCol="0" anchor="ctr" anchorCtr="0">
            <a:noAutofit/>
          </a:bodyPr>
          <a:lstStyle>
            <a:defPPr>
              <a:defRPr lang="zh-CN"/>
            </a:defPPr>
            <a:lvl1pPr algn="ctr">
              <a:lnSpc>
                <a:spcPct val="100000"/>
              </a:lnSpc>
              <a:defRPr sz="1400" b="1" spc="-15">
                <a:latin typeface="宋体"/>
                <a:cs typeface="宋体"/>
              </a:defRPr>
            </a:lvl1pPr>
          </a:lstStyle>
          <a:p>
            <a:r>
              <a:rPr lang="zh-CN" altLang="en-US" dirty="0"/>
              <a:t>故障管理</a:t>
            </a:r>
            <a:endParaRPr dirty="0"/>
          </a:p>
        </p:txBody>
      </p:sp>
      <p:grpSp>
        <p:nvGrpSpPr>
          <p:cNvPr id="12" name="object 12">
            <a:extLst>
              <a:ext uri="{FF2B5EF4-FFF2-40B4-BE49-F238E27FC236}">
                <a16:creationId xmlns:a16="http://schemas.microsoft.com/office/drawing/2014/main" id="{A7355E95-56B6-E80C-FFB6-BB7893CF52C1}"/>
              </a:ext>
            </a:extLst>
          </p:cNvPr>
          <p:cNvGrpSpPr/>
          <p:nvPr/>
        </p:nvGrpSpPr>
        <p:grpSpPr>
          <a:xfrm>
            <a:off x="1826927" y="2389798"/>
            <a:ext cx="535305" cy="180340"/>
            <a:chOff x="1481327" y="1969007"/>
            <a:chExt cx="535305" cy="180340"/>
          </a:xfrm>
        </p:grpSpPr>
        <p:pic>
          <p:nvPicPr>
            <p:cNvPr id="13" name="object 13">
              <a:extLst>
                <a:ext uri="{FF2B5EF4-FFF2-40B4-BE49-F238E27FC236}">
                  <a16:creationId xmlns:a16="http://schemas.microsoft.com/office/drawing/2014/main" id="{1D3E65F0-B7AB-ACD0-B424-D4CFC95E0FFE}"/>
                </a:ext>
              </a:extLst>
            </p:cNvPr>
            <p:cNvPicPr/>
            <p:nvPr/>
          </p:nvPicPr>
          <p:blipFill>
            <a:blip r:embed="rId3" cstate="print"/>
            <a:stretch>
              <a:fillRect/>
            </a:stretch>
          </p:blipFill>
          <p:spPr>
            <a:xfrm>
              <a:off x="1481327" y="1969007"/>
              <a:ext cx="158496" cy="179831"/>
            </a:xfrm>
            <a:prstGeom prst="rect">
              <a:avLst/>
            </a:prstGeom>
          </p:spPr>
        </p:pic>
        <p:pic>
          <p:nvPicPr>
            <p:cNvPr id="14" name="object 14">
              <a:extLst>
                <a:ext uri="{FF2B5EF4-FFF2-40B4-BE49-F238E27FC236}">
                  <a16:creationId xmlns:a16="http://schemas.microsoft.com/office/drawing/2014/main" id="{DA2BECBD-FDDD-A7FC-6C0E-A8E76F9FA63C}"/>
                </a:ext>
              </a:extLst>
            </p:cNvPr>
            <p:cNvPicPr/>
            <p:nvPr/>
          </p:nvPicPr>
          <p:blipFill>
            <a:blip r:embed="rId4" cstate="print"/>
            <a:stretch>
              <a:fillRect/>
            </a:stretch>
          </p:blipFill>
          <p:spPr>
            <a:xfrm>
              <a:off x="1677923" y="1969007"/>
              <a:ext cx="158495" cy="179831"/>
            </a:xfrm>
            <a:prstGeom prst="rect">
              <a:avLst/>
            </a:prstGeom>
          </p:spPr>
        </p:pic>
        <p:pic>
          <p:nvPicPr>
            <p:cNvPr id="15" name="object 15">
              <a:extLst>
                <a:ext uri="{FF2B5EF4-FFF2-40B4-BE49-F238E27FC236}">
                  <a16:creationId xmlns:a16="http://schemas.microsoft.com/office/drawing/2014/main" id="{B5B96A76-B0EB-7FB2-2144-1F4CECD3A174}"/>
                </a:ext>
              </a:extLst>
            </p:cNvPr>
            <p:cNvPicPr/>
            <p:nvPr/>
          </p:nvPicPr>
          <p:blipFill>
            <a:blip r:embed="rId3" cstate="print"/>
            <a:stretch>
              <a:fillRect/>
            </a:stretch>
          </p:blipFill>
          <p:spPr>
            <a:xfrm>
              <a:off x="1857755" y="1969007"/>
              <a:ext cx="158495" cy="179831"/>
            </a:xfrm>
            <a:prstGeom prst="rect">
              <a:avLst/>
            </a:prstGeom>
          </p:spPr>
        </p:pic>
      </p:grpSp>
      <p:grpSp>
        <p:nvGrpSpPr>
          <p:cNvPr id="16" name="object 16">
            <a:extLst>
              <a:ext uri="{FF2B5EF4-FFF2-40B4-BE49-F238E27FC236}">
                <a16:creationId xmlns:a16="http://schemas.microsoft.com/office/drawing/2014/main" id="{9102B260-C8FB-2673-5175-A390D239DFDC}"/>
              </a:ext>
            </a:extLst>
          </p:cNvPr>
          <p:cNvGrpSpPr/>
          <p:nvPr/>
        </p:nvGrpSpPr>
        <p:grpSpPr>
          <a:xfrm>
            <a:off x="1826927" y="3878638"/>
            <a:ext cx="535305" cy="180340"/>
            <a:chOff x="1481327" y="2665476"/>
            <a:chExt cx="535305" cy="180340"/>
          </a:xfrm>
        </p:grpSpPr>
        <p:pic>
          <p:nvPicPr>
            <p:cNvPr id="17" name="object 17">
              <a:extLst>
                <a:ext uri="{FF2B5EF4-FFF2-40B4-BE49-F238E27FC236}">
                  <a16:creationId xmlns:a16="http://schemas.microsoft.com/office/drawing/2014/main" id="{8C34D627-BFAE-6B49-2004-54C8470A4656}"/>
                </a:ext>
              </a:extLst>
            </p:cNvPr>
            <p:cNvPicPr/>
            <p:nvPr/>
          </p:nvPicPr>
          <p:blipFill>
            <a:blip r:embed="rId5" cstate="print"/>
            <a:stretch>
              <a:fillRect/>
            </a:stretch>
          </p:blipFill>
          <p:spPr>
            <a:xfrm>
              <a:off x="1481327" y="2665476"/>
              <a:ext cx="158496" cy="179832"/>
            </a:xfrm>
            <a:prstGeom prst="rect">
              <a:avLst/>
            </a:prstGeom>
          </p:spPr>
        </p:pic>
        <p:pic>
          <p:nvPicPr>
            <p:cNvPr id="18" name="object 18">
              <a:extLst>
                <a:ext uri="{FF2B5EF4-FFF2-40B4-BE49-F238E27FC236}">
                  <a16:creationId xmlns:a16="http://schemas.microsoft.com/office/drawing/2014/main" id="{7619DD61-3D22-B988-FAE4-0DBBEA20EA68}"/>
                </a:ext>
              </a:extLst>
            </p:cNvPr>
            <p:cNvPicPr/>
            <p:nvPr/>
          </p:nvPicPr>
          <p:blipFill>
            <a:blip r:embed="rId6" cstate="print"/>
            <a:stretch>
              <a:fillRect/>
            </a:stretch>
          </p:blipFill>
          <p:spPr>
            <a:xfrm>
              <a:off x="1677923" y="2665476"/>
              <a:ext cx="158495" cy="179832"/>
            </a:xfrm>
            <a:prstGeom prst="rect">
              <a:avLst/>
            </a:prstGeom>
          </p:spPr>
        </p:pic>
        <p:pic>
          <p:nvPicPr>
            <p:cNvPr id="19" name="object 19">
              <a:extLst>
                <a:ext uri="{FF2B5EF4-FFF2-40B4-BE49-F238E27FC236}">
                  <a16:creationId xmlns:a16="http://schemas.microsoft.com/office/drawing/2014/main" id="{CB3964CD-D6E1-40E0-2B59-998AD6B2D54C}"/>
                </a:ext>
              </a:extLst>
            </p:cNvPr>
            <p:cNvPicPr/>
            <p:nvPr/>
          </p:nvPicPr>
          <p:blipFill>
            <a:blip r:embed="rId5" cstate="print"/>
            <a:stretch>
              <a:fillRect/>
            </a:stretch>
          </p:blipFill>
          <p:spPr>
            <a:xfrm>
              <a:off x="1857755" y="2665476"/>
              <a:ext cx="158495" cy="179832"/>
            </a:xfrm>
            <a:prstGeom prst="rect">
              <a:avLst/>
            </a:prstGeom>
          </p:spPr>
        </p:pic>
      </p:grpSp>
      <p:grpSp>
        <p:nvGrpSpPr>
          <p:cNvPr id="20" name="object 20">
            <a:extLst>
              <a:ext uri="{FF2B5EF4-FFF2-40B4-BE49-F238E27FC236}">
                <a16:creationId xmlns:a16="http://schemas.microsoft.com/office/drawing/2014/main" id="{DE6F4D1E-9005-3790-8D6A-5E1AC75D8B8A}"/>
              </a:ext>
            </a:extLst>
          </p:cNvPr>
          <p:cNvGrpSpPr/>
          <p:nvPr/>
        </p:nvGrpSpPr>
        <p:grpSpPr>
          <a:xfrm>
            <a:off x="1826927" y="5367478"/>
            <a:ext cx="535305" cy="180340"/>
            <a:chOff x="1481327" y="3361944"/>
            <a:chExt cx="535305" cy="180340"/>
          </a:xfrm>
        </p:grpSpPr>
        <p:pic>
          <p:nvPicPr>
            <p:cNvPr id="21" name="object 21">
              <a:extLst>
                <a:ext uri="{FF2B5EF4-FFF2-40B4-BE49-F238E27FC236}">
                  <a16:creationId xmlns:a16="http://schemas.microsoft.com/office/drawing/2014/main" id="{75237B0C-8743-5D12-8208-92E580DF1B46}"/>
                </a:ext>
              </a:extLst>
            </p:cNvPr>
            <p:cNvPicPr/>
            <p:nvPr/>
          </p:nvPicPr>
          <p:blipFill>
            <a:blip r:embed="rId3" cstate="print"/>
            <a:stretch>
              <a:fillRect/>
            </a:stretch>
          </p:blipFill>
          <p:spPr>
            <a:xfrm>
              <a:off x="1481327" y="3361944"/>
              <a:ext cx="158496" cy="179831"/>
            </a:xfrm>
            <a:prstGeom prst="rect">
              <a:avLst/>
            </a:prstGeom>
          </p:spPr>
        </p:pic>
        <p:pic>
          <p:nvPicPr>
            <p:cNvPr id="22" name="object 22">
              <a:extLst>
                <a:ext uri="{FF2B5EF4-FFF2-40B4-BE49-F238E27FC236}">
                  <a16:creationId xmlns:a16="http://schemas.microsoft.com/office/drawing/2014/main" id="{D0E0A3EE-1B49-2AE3-71AF-247A6038DEE8}"/>
                </a:ext>
              </a:extLst>
            </p:cNvPr>
            <p:cNvPicPr/>
            <p:nvPr/>
          </p:nvPicPr>
          <p:blipFill>
            <a:blip r:embed="rId4" cstate="print"/>
            <a:stretch>
              <a:fillRect/>
            </a:stretch>
          </p:blipFill>
          <p:spPr>
            <a:xfrm>
              <a:off x="1677923" y="3361944"/>
              <a:ext cx="158495" cy="179831"/>
            </a:xfrm>
            <a:prstGeom prst="rect">
              <a:avLst/>
            </a:prstGeom>
          </p:spPr>
        </p:pic>
        <p:pic>
          <p:nvPicPr>
            <p:cNvPr id="23" name="object 23">
              <a:extLst>
                <a:ext uri="{FF2B5EF4-FFF2-40B4-BE49-F238E27FC236}">
                  <a16:creationId xmlns:a16="http://schemas.microsoft.com/office/drawing/2014/main" id="{D2C6E968-3089-2E68-13E1-BAF5F918AF6E}"/>
                </a:ext>
              </a:extLst>
            </p:cNvPr>
            <p:cNvPicPr/>
            <p:nvPr/>
          </p:nvPicPr>
          <p:blipFill>
            <a:blip r:embed="rId3" cstate="print"/>
            <a:stretch>
              <a:fillRect/>
            </a:stretch>
          </p:blipFill>
          <p:spPr>
            <a:xfrm>
              <a:off x="1857755" y="3361944"/>
              <a:ext cx="158495" cy="179831"/>
            </a:xfrm>
            <a:prstGeom prst="rect">
              <a:avLst/>
            </a:prstGeom>
          </p:spPr>
        </p:pic>
      </p:grpSp>
      <p:grpSp>
        <p:nvGrpSpPr>
          <p:cNvPr id="28" name="object 28">
            <a:extLst>
              <a:ext uri="{FF2B5EF4-FFF2-40B4-BE49-F238E27FC236}">
                <a16:creationId xmlns:a16="http://schemas.microsoft.com/office/drawing/2014/main" id="{7A351EDB-E5A3-CA33-AD2B-E942837098CA}"/>
              </a:ext>
            </a:extLst>
          </p:cNvPr>
          <p:cNvGrpSpPr/>
          <p:nvPr/>
        </p:nvGrpSpPr>
        <p:grpSpPr>
          <a:xfrm>
            <a:off x="9809988" y="3879591"/>
            <a:ext cx="535305" cy="178435"/>
            <a:chOff x="9809988" y="2697479"/>
            <a:chExt cx="535305" cy="178435"/>
          </a:xfrm>
        </p:grpSpPr>
        <p:pic>
          <p:nvPicPr>
            <p:cNvPr id="29" name="object 29">
              <a:extLst>
                <a:ext uri="{FF2B5EF4-FFF2-40B4-BE49-F238E27FC236}">
                  <a16:creationId xmlns:a16="http://schemas.microsoft.com/office/drawing/2014/main" id="{ED9BAC4F-B1BD-CA85-01FF-3A4F37787C1D}"/>
                </a:ext>
              </a:extLst>
            </p:cNvPr>
            <p:cNvPicPr/>
            <p:nvPr/>
          </p:nvPicPr>
          <p:blipFill>
            <a:blip r:embed="rId7" cstate="print"/>
            <a:stretch>
              <a:fillRect/>
            </a:stretch>
          </p:blipFill>
          <p:spPr>
            <a:xfrm>
              <a:off x="10186416" y="2697479"/>
              <a:ext cx="158495" cy="178308"/>
            </a:xfrm>
            <a:prstGeom prst="rect">
              <a:avLst/>
            </a:prstGeom>
          </p:spPr>
        </p:pic>
        <p:pic>
          <p:nvPicPr>
            <p:cNvPr id="30" name="object 30">
              <a:extLst>
                <a:ext uri="{FF2B5EF4-FFF2-40B4-BE49-F238E27FC236}">
                  <a16:creationId xmlns:a16="http://schemas.microsoft.com/office/drawing/2014/main" id="{F4383A03-486F-1C3B-367E-234B47D94545}"/>
                </a:ext>
              </a:extLst>
            </p:cNvPr>
            <p:cNvPicPr/>
            <p:nvPr/>
          </p:nvPicPr>
          <p:blipFill>
            <a:blip r:embed="rId7" cstate="print"/>
            <a:stretch>
              <a:fillRect/>
            </a:stretch>
          </p:blipFill>
          <p:spPr>
            <a:xfrm>
              <a:off x="9989820" y="2697479"/>
              <a:ext cx="158496" cy="178308"/>
            </a:xfrm>
            <a:prstGeom prst="rect">
              <a:avLst/>
            </a:prstGeom>
          </p:spPr>
        </p:pic>
        <p:pic>
          <p:nvPicPr>
            <p:cNvPr id="31" name="object 31">
              <a:extLst>
                <a:ext uri="{FF2B5EF4-FFF2-40B4-BE49-F238E27FC236}">
                  <a16:creationId xmlns:a16="http://schemas.microsoft.com/office/drawing/2014/main" id="{38A69509-79B9-9EF6-D450-B1F04585B4B3}"/>
                </a:ext>
              </a:extLst>
            </p:cNvPr>
            <p:cNvPicPr/>
            <p:nvPr/>
          </p:nvPicPr>
          <p:blipFill>
            <a:blip r:embed="rId7" cstate="print"/>
            <a:stretch>
              <a:fillRect/>
            </a:stretch>
          </p:blipFill>
          <p:spPr>
            <a:xfrm>
              <a:off x="9809988" y="2697479"/>
              <a:ext cx="158495" cy="178308"/>
            </a:xfrm>
            <a:prstGeom prst="rect">
              <a:avLst/>
            </a:prstGeom>
          </p:spPr>
        </p:pic>
      </p:grpSp>
      <p:grpSp>
        <p:nvGrpSpPr>
          <p:cNvPr id="32" name="object 32">
            <a:extLst>
              <a:ext uri="{FF2B5EF4-FFF2-40B4-BE49-F238E27FC236}">
                <a16:creationId xmlns:a16="http://schemas.microsoft.com/office/drawing/2014/main" id="{907C50F7-5432-043E-D7C7-62D28655323B}"/>
              </a:ext>
            </a:extLst>
          </p:cNvPr>
          <p:cNvGrpSpPr/>
          <p:nvPr/>
        </p:nvGrpSpPr>
        <p:grpSpPr>
          <a:xfrm>
            <a:off x="9809988" y="5368431"/>
            <a:ext cx="535305" cy="178435"/>
            <a:chOff x="9809988" y="3406140"/>
            <a:chExt cx="535305" cy="178435"/>
          </a:xfrm>
        </p:grpSpPr>
        <p:pic>
          <p:nvPicPr>
            <p:cNvPr id="33" name="object 33">
              <a:extLst>
                <a:ext uri="{FF2B5EF4-FFF2-40B4-BE49-F238E27FC236}">
                  <a16:creationId xmlns:a16="http://schemas.microsoft.com/office/drawing/2014/main" id="{ACCA1412-DD9E-1DC9-297C-8C9EFFE1AF12}"/>
                </a:ext>
              </a:extLst>
            </p:cNvPr>
            <p:cNvPicPr/>
            <p:nvPr/>
          </p:nvPicPr>
          <p:blipFill>
            <a:blip r:embed="rId7" cstate="print"/>
            <a:stretch>
              <a:fillRect/>
            </a:stretch>
          </p:blipFill>
          <p:spPr>
            <a:xfrm>
              <a:off x="10186416" y="3406140"/>
              <a:ext cx="158495" cy="178308"/>
            </a:xfrm>
            <a:prstGeom prst="rect">
              <a:avLst/>
            </a:prstGeom>
          </p:spPr>
        </p:pic>
        <p:pic>
          <p:nvPicPr>
            <p:cNvPr id="34" name="object 34">
              <a:extLst>
                <a:ext uri="{FF2B5EF4-FFF2-40B4-BE49-F238E27FC236}">
                  <a16:creationId xmlns:a16="http://schemas.microsoft.com/office/drawing/2014/main" id="{8D0FA047-10E8-0B21-6BD4-3273D6149F8B}"/>
                </a:ext>
              </a:extLst>
            </p:cNvPr>
            <p:cNvPicPr/>
            <p:nvPr/>
          </p:nvPicPr>
          <p:blipFill>
            <a:blip r:embed="rId7" cstate="print"/>
            <a:stretch>
              <a:fillRect/>
            </a:stretch>
          </p:blipFill>
          <p:spPr>
            <a:xfrm>
              <a:off x="9989820" y="3406140"/>
              <a:ext cx="158496" cy="178308"/>
            </a:xfrm>
            <a:prstGeom prst="rect">
              <a:avLst/>
            </a:prstGeom>
          </p:spPr>
        </p:pic>
        <p:pic>
          <p:nvPicPr>
            <p:cNvPr id="35" name="object 35">
              <a:extLst>
                <a:ext uri="{FF2B5EF4-FFF2-40B4-BE49-F238E27FC236}">
                  <a16:creationId xmlns:a16="http://schemas.microsoft.com/office/drawing/2014/main" id="{E314DA06-B4B3-6761-17D5-A6FD7BDF177C}"/>
                </a:ext>
              </a:extLst>
            </p:cNvPr>
            <p:cNvPicPr/>
            <p:nvPr/>
          </p:nvPicPr>
          <p:blipFill>
            <a:blip r:embed="rId7" cstate="print"/>
            <a:stretch>
              <a:fillRect/>
            </a:stretch>
          </p:blipFill>
          <p:spPr>
            <a:xfrm>
              <a:off x="9809988" y="3406140"/>
              <a:ext cx="158495" cy="178308"/>
            </a:xfrm>
            <a:prstGeom prst="rect">
              <a:avLst/>
            </a:prstGeom>
          </p:spPr>
        </p:pic>
      </p:grpSp>
      <p:grpSp>
        <p:nvGrpSpPr>
          <p:cNvPr id="40" name="object 40">
            <a:extLst>
              <a:ext uri="{FF2B5EF4-FFF2-40B4-BE49-F238E27FC236}">
                <a16:creationId xmlns:a16="http://schemas.microsoft.com/office/drawing/2014/main" id="{42A27B10-2D5C-6E82-F879-ED2CB9D46063}"/>
              </a:ext>
            </a:extLst>
          </p:cNvPr>
          <p:cNvGrpSpPr/>
          <p:nvPr/>
        </p:nvGrpSpPr>
        <p:grpSpPr>
          <a:xfrm>
            <a:off x="9809988" y="2389798"/>
            <a:ext cx="535305" cy="180340"/>
            <a:chOff x="9809988" y="1988820"/>
            <a:chExt cx="535305" cy="180340"/>
          </a:xfrm>
        </p:grpSpPr>
        <p:pic>
          <p:nvPicPr>
            <p:cNvPr id="41" name="object 41">
              <a:extLst>
                <a:ext uri="{FF2B5EF4-FFF2-40B4-BE49-F238E27FC236}">
                  <a16:creationId xmlns:a16="http://schemas.microsoft.com/office/drawing/2014/main" id="{D6B48738-F347-BFF4-9B51-848891CC34CB}"/>
                </a:ext>
              </a:extLst>
            </p:cNvPr>
            <p:cNvPicPr/>
            <p:nvPr/>
          </p:nvPicPr>
          <p:blipFill>
            <a:blip r:embed="rId8" cstate="print"/>
            <a:stretch>
              <a:fillRect/>
            </a:stretch>
          </p:blipFill>
          <p:spPr>
            <a:xfrm>
              <a:off x="10186416" y="1988820"/>
              <a:ext cx="158495" cy="179831"/>
            </a:xfrm>
            <a:prstGeom prst="rect">
              <a:avLst/>
            </a:prstGeom>
          </p:spPr>
        </p:pic>
        <p:pic>
          <p:nvPicPr>
            <p:cNvPr id="42" name="object 42">
              <a:extLst>
                <a:ext uri="{FF2B5EF4-FFF2-40B4-BE49-F238E27FC236}">
                  <a16:creationId xmlns:a16="http://schemas.microsoft.com/office/drawing/2014/main" id="{4CDC41B9-3D99-CF6E-0717-0DC62CE457DA}"/>
                </a:ext>
              </a:extLst>
            </p:cNvPr>
            <p:cNvPicPr/>
            <p:nvPr/>
          </p:nvPicPr>
          <p:blipFill>
            <a:blip r:embed="rId8" cstate="print"/>
            <a:stretch>
              <a:fillRect/>
            </a:stretch>
          </p:blipFill>
          <p:spPr>
            <a:xfrm>
              <a:off x="9989820" y="1988820"/>
              <a:ext cx="158496" cy="179831"/>
            </a:xfrm>
            <a:prstGeom prst="rect">
              <a:avLst/>
            </a:prstGeom>
          </p:spPr>
        </p:pic>
        <p:pic>
          <p:nvPicPr>
            <p:cNvPr id="43" name="object 43">
              <a:extLst>
                <a:ext uri="{FF2B5EF4-FFF2-40B4-BE49-F238E27FC236}">
                  <a16:creationId xmlns:a16="http://schemas.microsoft.com/office/drawing/2014/main" id="{AC99CA56-FC14-7702-01D7-66D5A33E7FD7}"/>
                </a:ext>
              </a:extLst>
            </p:cNvPr>
            <p:cNvPicPr/>
            <p:nvPr/>
          </p:nvPicPr>
          <p:blipFill>
            <a:blip r:embed="rId8" cstate="print"/>
            <a:stretch>
              <a:fillRect/>
            </a:stretch>
          </p:blipFill>
          <p:spPr>
            <a:xfrm>
              <a:off x="9809988" y="1988820"/>
              <a:ext cx="158495" cy="179831"/>
            </a:xfrm>
            <a:prstGeom prst="rect">
              <a:avLst/>
            </a:prstGeom>
          </p:spPr>
        </p:pic>
      </p:grpSp>
      <p:sp>
        <p:nvSpPr>
          <p:cNvPr id="44" name="object 44">
            <a:extLst>
              <a:ext uri="{FF2B5EF4-FFF2-40B4-BE49-F238E27FC236}">
                <a16:creationId xmlns:a16="http://schemas.microsoft.com/office/drawing/2014/main" id="{1C02C6B0-EA75-ECE7-B7FC-5555B7C49594}"/>
              </a:ext>
            </a:extLst>
          </p:cNvPr>
          <p:cNvSpPr txBox="1"/>
          <p:nvPr/>
        </p:nvSpPr>
        <p:spPr>
          <a:xfrm>
            <a:off x="2474627" y="1831968"/>
            <a:ext cx="3240000" cy="1296000"/>
          </a:xfrm>
          <a:prstGeom prst="rect">
            <a:avLst/>
          </a:prstGeom>
          <a:ln w="9144">
            <a:solidFill>
              <a:srgbClr val="D9D9D9"/>
            </a:solidFill>
          </a:ln>
        </p:spPr>
        <p:txBody>
          <a:bodyPr vert="horz" wrap="square" lIns="0" tIns="43180" rIns="0" bIns="0" rtlCol="0" anchor="ctr" anchorCtr="0">
            <a:noAutofit/>
          </a:bodyPr>
          <a:lstStyle/>
          <a:p>
            <a:pPr marL="90805">
              <a:lnSpc>
                <a:spcPct val="100000"/>
              </a:lnSpc>
              <a:spcBef>
                <a:spcPts val="340"/>
              </a:spcBef>
            </a:pPr>
            <a:r>
              <a:rPr lang="zh-CN" altLang="en-US" sz="1600" spc="-20" dirty="0">
                <a:latin typeface="+mj-ea"/>
                <a:ea typeface="+mj-ea"/>
                <a:cs typeface="宋体"/>
              </a:rPr>
              <a:t>指对于应用发布运行期间所需的</a:t>
            </a:r>
            <a:r>
              <a:rPr lang="en-US" altLang="zh-CN" sz="1600" spc="-20" dirty="0">
                <a:latin typeface="+mj-ea"/>
                <a:ea typeface="+mj-ea"/>
                <a:cs typeface="宋体"/>
              </a:rPr>
              <a:t>IT</a:t>
            </a:r>
            <a:r>
              <a:rPr lang="zh-CN" altLang="en-US" sz="1600" spc="-20" dirty="0">
                <a:latin typeface="+mj-ea"/>
                <a:ea typeface="+mj-ea"/>
                <a:cs typeface="宋体"/>
              </a:rPr>
              <a:t>资源的调度和管理，以保证</a:t>
            </a:r>
            <a:r>
              <a:rPr lang="en-US" altLang="zh-CN" sz="1600" spc="-20" dirty="0">
                <a:latin typeface="+mj-ea"/>
                <a:ea typeface="+mj-ea"/>
                <a:cs typeface="宋体"/>
              </a:rPr>
              <a:t>IT</a:t>
            </a:r>
            <a:r>
              <a:rPr lang="zh-CN" altLang="en-US" sz="1600" spc="-20" dirty="0">
                <a:latin typeface="+mj-ea"/>
                <a:ea typeface="+mj-ea"/>
                <a:cs typeface="宋体"/>
              </a:rPr>
              <a:t>资源的高效利用。</a:t>
            </a:r>
          </a:p>
        </p:txBody>
      </p:sp>
      <p:sp>
        <p:nvSpPr>
          <p:cNvPr id="45" name="object 45">
            <a:extLst>
              <a:ext uri="{FF2B5EF4-FFF2-40B4-BE49-F238E27FC236}">
                <a16:creationId xmlns:a16="http://schemas.microsoft.com/office/drawing/2014/main" id="{3504518B-A622-86BF-1EA4-7A88DBA77DB9}"/>
              </a:ext>
            </a:extLst>
          </p:cNvPr>
          <p:cNvSpPr/>
          <p:nvPr/>
        </p:nvSpPr>
        <p:spPr>
          <a:xfrm>
            <a:off x="2474627" y="3320808"/>
            <a:ext cx="3240000" cy="1296000"/>
          </a:xfrm>
          <a:custGeom>
            <a:avLst/>
            <a:gdLst/>
            <a:ahLst/>
            <a:cxnLst/>
            <a:rect l="l" t="t" r="r" b="b"/>
            <a:pathLst>
              <a:path w="3599815" h="523239">
                <a:moveTo>
                  <a:pt x="0" y="522732"/>
                </a:moveTo>
                <a:lnTo>
                  <a:pt x="3599688" y="522732"/>
                </a:lnTo>
                <a:lnTo>
                  <a:pt x="3599688" y="0"/>
                </a:lnTo>
                <a:lnTo>
                  <a:pt x="0" y="0"/>
                </a:lnTo>
                <a:lnTo>
                  <a:pt x="0" y="522732"/>
                </a:lnTo>
                <a:close/>
              </a:path>
            </a:pathLst>
          </a:custGeom>
          <a:ln w="9144">
            <a:solidFill>
              <a:srgbClr val="D9D9D9"/>
            </a:solidFill>
          </a:ln>
        </p:spPr>
        <p:txBody>
          <a:bodyPr vert="horz" wrap="square" lIns="0" tIns="43180" rIns="0" bIns="0" rtlCol="0" anchor="ctr" anchorCtr="0">
            <a:noAutofit/>
          </a:bodyPr>
          <a:lstStyle/>
          <a:p>
            <a:pPr marL="90805">
              <a:spcBef>
                <a:spcPts val="340"/>
              </a:spcBef>
            </a:pPr>
            <a:r>
              <a:rPr lang="zh-CN" altLang="en-US" sz="1600" spc="-20" dirty="0">
                <a:latin typeface="+mj-ea"/>
                <a:ea typeface="+mj-ea"/>
              </a:rPr>
              <a:t>指在研发运营过程中对于应用、资源、配置等不同状态的采集、分析、可视化的过程。</a:t>
            </a:r>
          </a:p>
        </p:txBody>
      </p:sp>
      <p:sp>
        <p:nvSpPr>
          <p:cNvPr id="48" name="object 48">
            <a:extLst>
              <a:ext uri="{FF2B5EF4-FFF2-40B4-BE49-F238E27FC236}">
                <a16:creationId xmlns:a16="http://schemas.microsoft.com/office/drawing/2014/main" id="{7CAA2F7F-2DAE-A7A6-A8AD-75EB2D03DDF5}"/>
              </a:ext>
            </a:extLst>
          </p:cNvPr>
          <p:cNvSpPr txBox="1"/>
          <p:nvPr/>
        </p:nvSpPr>
        <p:spPr>
          <a:xfrm>
            <a:off x="2474627" y="4809648"/>
            <a:ext cx="3240000" cy="1296000"/>
          </a:xfrm>
          <a:prstGeom prst="rect">
            <a:avLst/>
          </a:prstGeom>
          <a:ln w="9144">
            <a:solidFill>
              <a:srgbClr val="D9D9D9"/>
            </a:solidFill>
          </a:ln>
        </p:spPr>
        <p:txBody>
          <a:bodyPr vert="horz" wrap="square" lIns="0" tIns="64135" rIns="0" bIns="0" rtlCol="0" anchor="ctr" anchorCtr="0">
            <a:noAutofit/>
          </a:bodyPr>
          <a:lstStyle/>
          <a:p>
            <a:pPr marL="90805" marR="117475">
              <a:lnSpc>
                <a:spcPts val="1620"/>
              </a:lnSpc>
              <a:spcBef>
                <a:spcPts val="505"/>
              </a:spcBef>
            </a:pPr>
            <a:r>
              <a:rPr lang="zh-CN" altLang="en-US" sz="1600" spc="-20" dirty="0">
                <a:latin typeface="+mj-ea"/>
                <a:ea typeface="+mj-ea"/>
                <a:cs typeface="宋体"/>
              </a:rPr>
              <a:t>指在整个请求生命周期内管理变更请求的过程，旨在最大限度地减少由于实施变更而对现有 </a:t>
            </a:r>
            <a:r>
              <a:rPr lang="en-US" altLang="zh-CN" sz="1600" spc="-20" dirty="0">
                <a:latin typeface="+mj-ea"/>
                <a:ea typeface="+mj-ea"/>
                <a:cs typeface="宋体"/>
              </a:rPr>
              <a:t>IT </a:t>
            </a:r>
            <a:r>
              <a:rPr lang="zh-CN" altLang="en-US" sz="1600" spc="-20" dirty="0">
                <a:latin typeface="+mj-ea"/>
                <a:ea typeface="+mj-ea"/>
                <a:cs typeface="宋体"/>
              </a:rPr>
              <a:t>服务造成的任何不良干扰，变更管理确保使用标准化方法和步骤来处理变更。</a:t>
            </a:r>
          </a:p>
        </p:txBody>
      </p:sp>
      <p:sp>
        <p:nvSpPr>
          <p:cNvPr id="50" name="object 50">
            <a:extLst>
              <a:ext uri="{FF2B5EF4-FFF2-40B4-BE49-F238E27FC236}">
                <a16:creationId xmlns:a16="http://schemas.microsoft.com/office/drawing/2014/main" id="{6C84F320-B1E9-67B6-AA0D-15E76D4DE0AE}"/>
              </a:ext>
            </a:extLst>
          </p:cNvPr>
          <p:cNvSpPr txBox="1"/>
          <p:nvPr/>
        </p:nvSpPr>
        <p:spPr>
          <a:xfrm>
            <a:off x="6096000" y="1831968"/>
            <a:ext cx="3240000" cy="1296000"/>
          </a:xfrm>
          <a:prstGeom prst="rect">
            <a:avLst/>
          </a:prstGeom>
          <a:ln w="9144">
            <a:solidFill>
              <a:srgbClr val="D9D9D9"/>
            </a:solidFill>
          </a:ln>
        </p:spPr>
        <p:txBody>
          <a:bodyPr vert="horz" wrap="square" lIns="0" tIns="43180" rIns="0" bIns="0" rtlCol="0" anchor="ctr" anchorCtr="0">
            <a:noAutofit/>
          </a:bodyPr>
          <a:lstStyle/>
          <a:p>
            <a:pPr marL="92075">
              <a:lnSpc>
                <a:spcPct val="100000"/>
              </a:lnSpc>
              <a:spcBef>
                <a:spcPts val="340"/>
              </a:spcBef>
            </a:pPr>
            <a:r>
              <a:rPr lang="zh-CN" altLang="en-US" sz="1600" spc="-15" dirty="0">
                <a:latin typeface="+mj-ea"/>
                <a:ea typeface="+mj-ea"/>
                <a:cs typeface="宋体"/>
              </a:rPr>
              <a:t>针对研发运营过程中，应用系统日志、业务状态日志的收集、管理及分析行为 。</a:t>
            </a:r>
          </a:p>
        </p:txBody>
      </p:sp>
      <p:sp>
        <p:nvSpPr>
          <p:cNvPr id="51" name="object 51">
            <a:extLst>
              <a:ext uri="{FF2B5EF4-FFF2-40B4-BE49-F238E27FC236}">
                <a16:creationId xmlns:a16="http://schemas.microsoft.com/office/drawing/2014/main" id="{71E1DF1C-14DA-717F-E8A2-5456CCD61608}"/>
              </a:ext>
            </a:extLst>
          </p:cNvPr>
          <p:cNvSpPr txBox="1"/>
          <p:nvPr/>
        </p:nvSpPr>
        <p:spPr>
          <a:xfrm>
            <a:off x="6096000" y="3320808"/>
            <a:ext cx="3240000" cy="1296000"/>
          </a:xfrm>
          <a:prstGeom prst="rect">
            <a:avLst/>
          </a:prstGeom>
          <a:ln w="9144">
            <a:solidFill>
              <a:srgbClr val="D9D9D9"/>
            </a:solidFill>
          </a:ln>
        </p:spPr>
        <p:txBody>
          <a:bodyPr vert="horz" wrap="square" lIns="0" tIns="52069" rIns="0" bIns="0" rtlCol="0" anchor="ctr" anchorCtr="0">
            <a:noAutofit/>
          </a:bodyPr>
          <a:lstStyle/>
          <a:p>
            <a:pPr marL="92075">
              <a:lnSpc>
                <a:spcPts val="1650"/>
              </a:lnSpc>
              <a:spcBef>
                <a:spcPts val="409"/>
              </a:spcBef>
            </a:pPr>
            <a:r>
              <a:rPr lang="zh-CN" altLang="en-US" sz="1600" dirty="0">
                <a:latin typeface="+mj-ea"/>
                <a:ea typeface="+mj-ea"/>
                <a:cs typeface="宋体"/>
              </a:rPr>
              <a:t>存储与管理企业</a:t>
            </a:r>
            <a:r>
              <a:rPr lang="en-US" altLang="zh-CN" sz="1600" dirty="0">
                <a:latin typeface="+mj-ea"/>
                <a:ea typeface="+mj-ea"/>
                <a:cs typeface="宋体"/>
              </a:rPr>
              <a:t>IT</a:t>
            </a:r>
            <a:r>
              <a:rPr lang="zh-CN" altLang="en-US" sz="1600" dirty="0">
                <a:latin typeface="+mj-ea"/>
                <a:ea typeface="+mj-ea"/>
                <a:cs typeface="宋体"/>
              </a:rPr>
              <a:t>架构中设备的各种配置信息，它与所有服务支持和服务交付流程都紧密相联，支持这些流程的运转、发挥配置信息的价值，同时依赖于相关流程保证数据的准确性。</a:t>
            </a:r>
          </a:p>
        </p:txBody>
      </p:sp>
      <p:sp>
        <p:nvSpPr>
          <p:cNvPr id="52" name="object 52">
            <a:extLst>
              <a:ext uri="{FF2B5EF4-FFF2-40B4-BE49-F238E27FC236}">
                <a16:creationId xmlns:a16="http://schemas.microsoft.com/office/drawing/2014/main" id="{20996B9F-96CD-AA4B-5106-00AD8BECA819}"/>
              </a:ext>
            </a:extLst>
          </p:cNvPr>
          <p:cNvSpPr txBox="1"/>
          <p:nvPr/>
        </p:nvSpPr>
        <p:spPr>
          <a:xfrm>
            <a:off x="6096000" y="4809648"/>
            <a:ext cx="3240000" cy="1296000"/>
          </a:xfrm>
          <a:prstGeom prst="rect">
            <a:avLst/>
          </a:prstGeom>
          <a:ln w="9144">
            <a:solidFill>
              <a:srgbClr val="D9D9D9"/>
            </a:solidFill>
          </a:ln>
        </p:spPr>
        <p:txBody>
          <a:bodyPr vert="horz" wrap="square" lIns="0" tIns="43815" rIns="0" bIns="0" rtlCol="0" anchor="ctr" anchorCtr="0">
            <a:noAutofit/>
          </a:bodyPr>
          <a:lstStyle/>
          <a:p>
            <a:pPr marL="92075">
              <a:lnSpc>
                <a:spcPct val="100000"/>
              </a:lnSpc>
              <a:spcBef>
                <a:spcPts val="345"/>
              </a:spcBef>
            </a:pPr>
            <a:r>
              <a:rPr lang="zh-CN" altLang="en-US" sz="1600" spc="-20" dirty="0">
                <a:latin typeface="+mj-ea"/>
                <a:ea typeface="+mj-ea"/>
                <a:cs typeface="宋体"/>
              </a:rPr>
              <a:t>指对系统发生的故障进行管理的行为，旨在尽快恢复正常服务运营。</a:t>
            </a:r>
          </a:p>
        </p:txBody>
      </p:sp>
      <p:sp>
        <p:nvSpPr>
          <p:cNvPr id="55" name="object 2">
            <a:extLst>
              <a:ext uri="{FF2B5EF4-FFF2-40B4-BE49-F238E27FC236}">
                <a16:creationId xmlns:a16="http://schemas.microsoft.com/office/drawing/2014/main" id="{C5744E07-9A9B-12FA-1124-7467E2431FFB}"/>
              </a:ext>
            </a:extLst>
          </p:cNvPr>
          <p:cNvSpPr txBox="1">
            <a:spLocks/>
          </p:cNvSpPr>
          <p:nvPr/>
        </p:nvSpPr>
        <p:spPr>
          <a:xfrm>
            <a:off x="718218" y="988758"/>
            <a:ext cx="10318115" cy="381515"/>
          </a:xfrm>
          <a:prstGeom prst="rect">
            <a:avLst/>
          </a:prstGeom>
        </p:spPr>
        <p:txBody>
          <a:bodyPr vert="horz" wrap="square" lIns="0" tIns="12065" rIns="0" bIns="0" rtlCol="0" anchor="ctr">
            <a:spAutoFit/>
          </a:bodyPr>
          <a:lstStyle>
            <a:lvl1pPr algn="l" defTabSz="914400" rtl="0" eaLnBrk="1" latinLnBrk="0" hangingPunct="1">
              <a:lnSpc>
                <a:spcPct val="90000"/>
              </a:lnSpc>
              <a:spcBef>
                <a:spcPct val="0"/>
              </a:spcBef>
              <a:buNone/>
              <a:defRPr sz="2800" b="1" kern="1200">
                <a:solidFill>
                  <a:schemeClr val="tx1"/>
                </a:solidFill>
                <a:latin typeface="方正粗雅宋简体" panose="02000000000000000000" pitchFamily="2" charset="-122"/>
                <a:ea typeface="方正粗雅宋简体" panose="02000000000000000000" pitchFamily="2" charset="-122"/>
                <a:cs typeface="+mj-cs"/>
              </a:defRPr>
            </a:lvl1pPr>
          </a:lstStyle>
          <a:p>
            <a:pPr marL="355600" indent="-342900">
              <a:lnSpc>
                <a:spcPct val="100000"/>
              </a:lnSpc>
              <a:spcBef>
                <a:spcPts val="95"/>
              </a:spcBef>
              <a:buFont typeface="Wingdings" panose="05000000000000000000" pitchFamily="2" charset="2"/>
              <a:buChar char="p"/>
            </a:pPr>
            <a:r>
              <a:rPr lang="en-US" altLang="zh-CN" sz="2400" dirty="0">
                <a:solidFill>
                  <a:srgbClr val="003F88"/>
                </a:solidFill>
                <a:latin typeface="+mn-lt"/>
                <a:ea typeface="+mn-ea"/>
                <a:cs typeface="+mn-cs"/>
              </a:rPr>
              <a:t>DevOps</a:t>
            </a:r>
            <a:r>
              <a:rPr lang="zh-CN" altLang="en-US" sz="2400" dirty="0">
                <a:solidFill>
                  <a:srgbClr val="003F88"/>
                </a:solidFill>
                <a:latin typeface="+mn-lt"/>
                <a:ea typeface="+mn-ea"/>
                <a:cs typeface="+mn-cs"/>
              </a:rPr>
              <a:t>标准能力框架图</a:t>
            </a:r>
            <a:r>
              <a:rPr lang="en-US" altLang="zh-CN" sz="2400" dirty="0">
                <a:solidFill>
                  <a:srgbClr val="003F88"/>
                </a:solidFill>
                <a:latin typeface="+mn-lt"/>
                <a:ea typeface="+mn-ea"/>
                <a:cs typeface="+mn-cs"/>
              </a:rPr>
              <a:t>——</a:t>
            </a:r>
            <a:r>
              <a:rPr lang="zh-CN" altLang="en-US" sz="2400" dirty="0">
                <a:solidFill>
                  <a:srgbClr val="003F88"/>
                </a:solidFill>
                <a:latin typeface="+mn-lt"/>
                <a:ea typeface="+mn-ea"/>
                <a:cs typeface="+mn-cs"/>
              </a:rPr>
              <a:t>运营运维域</a:t>
            </a:r>
          </a:p>
        </p:txBody>
      </p:sp>
    </p:spTree>
    <p:extLst>
      <p:ext uri="{BB962C8B-B14F-4D97-AF65-F5344CB8AC3E}">
        <p14:creationId xmlns:p14="http://schemas.microsoft.com/office/powerpoint/2010/main" val="778443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03 DevOps</a:t>
            </a:r>
            <a:r>
              <a:rPr lang="zh-CN" altLang="en-US" dirty="0"/>
              <a:t>工具体系</a:t>
            </a:r>
          </a:p>
        </p:txBody>
      </p:sp>
      <p:sp>
        <p:nvSpPr>
          <p:cNvPr id="3" name="灯片编号占位符 2"/>
          <p:cNvSpPr>
            <a:spLocks noGrp="1"/>
          </p:cNvSpPr>
          <p:nvPr>
            <p:ph type="sldNum" sz="quarter" idx="12"/>
          </p:nvPr>
        </p:nvSpPr>
        <p:spPr/>
        <p:txBody>
          <a:bodyPr/>
          <a:lstStyle/>
          <a:p>
            <a:fld id="{1AAC388E-FA9E-4A2C-95EA-1F6B3A07935A}" type="slidenum">
              <a:rPr lang="zh-CN" altLang="en-US" sz="1400" smtClean="0">
                <a:solidFill>
                  <a:srgbClr val="000000"/>
                </a:solidFill>
              </a:rPr>
              <a:t>53</a:t>
            </a:fld>
            <a:endParaRPr lang="zh-CN" altLang="en-US" sz="1400" dirty="0">
              <a:solidFill>
                <a:srgbClr val="000000"/>
              </a:solidFill>
            </a:endParaRPr>
          </a:p>
        </p:txBody>
      </p:sp>
      <p:sp>
        <p:nvSpPr>
          <p:cNvPr id="55" name="object 2">
            <a:extLst>
              <a:ext uri="{FF2B5EF4-FFF2-40B4-BE49-F238E27FC236}">
                <a16:creationId xmlns:a16="http://schemas.microsoft.com/office/drawing/2014/main" id="{C5744E07-9A9B-12FA-1124-7467E2431FFB}"/>
              </a:ext>
            </a:extLst>
          </p:cNvPr>
          <p:cNvSpPr txBox="1">
            <a:spLocks/>
          </p:cNvSpPr>
          <p:nvPr/>
        </p:nvSpPr>
        <p:spPr>
          <a:xfrm>
            <a:off x="718218" y="988758"/>
            <a:ext cx="10318115" cy="381515"/>
          </a:xfrm>
          <a:prstGeom prst="rect">
            <a:avLst/>
          </a:prstGeom>
        </p:spPr>
        <p:txBody>
          <a:bodyPr vert="horz" wrap="square" lIns="0" tIns="12065" rIns="0" bIns="0" rtlCol="0" anchor="ctr">
            <a:spAutoFit/>
          </a:bodyPr>
          <a:lstStyle>
            <a:lvl1pPr algn="l" defTabSz="914400" rtl="0" eaLnBrk="1" latinLnBrk="0" hangingPunct="1">
              <a:lnSpc>
                <a:spcPct val="90000"/>
              </a:lnSpc>
              <a:spcBef>
                <a:spcPct val="0"/>
              </a:spcBef>
              <a:buNone/>
              <a:defRPr sz="2800" b="1" kern="1200">
                <a:solidFill>
                  <a:schemeClr val="tx1"/>
                </a:solidFill>
                <a:latin typeface="方正粗雅宋简体" panose="02000000000000000000" pitchFamily="2" charset="-122"/>
                <a:ea typeface="方正粗雅宋简体" panose="02000000000000000000" pitchFamily="2" charset="-122"/>
                <a:cs typeface="+mj-cs"/>
              </a:defRPr>
            </a:lvl1pPr>
          </a:lstStyle>
          <a:p>
            <a:pPr marL="355600" indent="-342900">
              <a:lnSpc>
                <a:spcPct val="100000"/>
              </a:lnSpc>
              <a:spcBef>
                <a:spcPts val="95"/>
              </a:spcBef>
              <a:buFont typeface="Wingdings" panose="05000000000000000000" pitchFamily="2" charset="2"/>
              <a:buChar char="p"/>
            </a:pPr>
            <a:r>
              <a:rPr lang="en-US" altLang="zh-CN" sz="2400" dirty="0">
                <a:solidFill>
                  <a:srgbClr val="003F88"/>
                </a:solidFill>
                <a:latin typeface="+mn-lt"/>
                <a:ea typeface="+mn-ea"/>
                <a:cs typeface="+mn-cs"/>
              </a:rPr>
              <a:t>DevOps</a:t>
            </a:r>
            <a:r>
              <a:rPr lang="zh-CN" altLang="en-US" sz="2400" dirty="0">
                <a:solidFill>
                  <a:srgbClr val="003F88"/>
                </a:solidFill>
                <a:latin typeface="+mn-lt"/>
                <a:ea typeface="+mn-ea"/>
                <a:cs typeface="+mn-cs"/>
              </a:rPr>
              <a:t>标准能力框架图</a:t>
            </a:r>
            <a:r>
              <a:rPr lang="en-US" altLang="zh-CN" sz="2400" dirty="0">
                <a:solidFill>
                  <a:srgbClr val="003F88"/>
                </a:solidFill>
                <a:latin typeface="+mn-lt"/>
                <a:ea typeface="+mn-ea"/>
                <a:cs typeface="+mn-cs"/>
              </a:rPr>
              <a:t>——</a:t>
            </a:r>
            <a:r>
              <a:rPr lang="zh-CN" altLang="en-US" sz="2400" dirty="0">
                <a:solidFill>
                  <a:srgbClr val="003F88"/>
                </a:solidFill>
                <a:latin typeface="+mn-lt"/>
                <a:ea typeface="+mn-ea"/>
                <a:cs typeface="+mn-cs"/>
              </a:rPr>
              <a:t>安全能力</a:t>
            </a:r>
          </a:p>
        </p:txBody>
      </p:sp>
      <p:sp>
        <p:nvSpPr>
          <p:cNvPr id="9" name="object 4">
            <a:extLst>
              <a:ext uri="{FF2B5EF4-FFF2-40B4-BE49-F238E27FC236}">
                <a16:creationId xmlns:a16="http://schemas.microsoft.com/office/drawing/2014/main" id="{FB842F30-A420-869E-90D8-B7F52DFC7B44}"/>
              </a:ext>
            </a:extLst>
          </p:cNvPr>
          <p:cNvSpPr txBox="1"/>
          <p:nvPr/>
        </p:nvSpPr>
        <p:spPr>
          <a:xfrm>
            <a:off x="1257033" y="3109980"/>
            <a:ext cx="864235" cy="570230"/>
          </a:xfrm>
          <a:prstGeom prst="rect">
            <a:avLst/>
          </a:prstGeom>
          <a:solidFill>
            <a:srgbClr val="38A666"/>
          </a:solidFill>
        </p:spPr>
        <p:txBody>
          <a:bodyPr vert="horz" wrap="square" lIns="36000" tIns="0" rIns="36000" bIns="0" rtlCol="0" anchor="ctr" anchorCtr="0">
            <a:noAutofit/>
          </a:bodyPr>
          <a:lstStyle/>
          <a:p>
            <a:pPr algn="ctr">
              <a:lnSpc>
                <a:spcPct val="100000"/>
              </a:lnSpc>
            </a:pPr>
            <a:r>
              <a:rPr lang="zh-CN" altLang="en-US" sz="1400" b="1" dirty="0">
                <a:latin typeface="宋体"/>
                <a:cs typeface="宋体"/>
              </a:rPr>
              <a:t>安全审计</a:t>
            </a:r>
          </a:p>
        </p:txBody>
      </p:sp>
      <p:sp>
        <p:nvSpPr>
          <p:cNvPr id="10" name="object 7">
            <a:extLst>
              <a:ext uri="{FF2B5EF4-FFF2-40B4-BE49-F238E27FC236}">
                <a16:creationId xmlns:a16="http://schemas.microsoft.com/office/drawing/2014/main" id="{B8D6A60E-9A26-591C-E553-4D985F5ED51D}"/>
              </a:ext>
            </a:extLst>
          </p:cNvPr>
          <p:cNvSpPr txBox="1"/>
          <p:nvPr/>
        </p:nvSpPr>
        <p:spPr>
          <a:xfrm>
            <a:off x="1257033" y="2034293"/>
            <a:ext cx="864235" cy="571500"/>
          </a:xfrm>
          <a:prstGeom prst="rect">
            <a:avLst/>
          </a:prstGeom>
          <a:solidFill>
            <a:srgbClr val="38A666"/>
          </a:solidFill>
        </p:spPr>
        <p:txBody>
          <a:bodyPr vert="horz" wrap="square" lIns="36000" tIns="0" rIns="36000" bIns="0" rtlCol="0" anchor="ctr" anchorCtr="0">
            <a:noAutofit/>
          </a:bodyPr>
          <a:lstStyle/>
          <a:p>
            <a:pPr algn="ctr">
              <a:lnSpc>
                <a:spcPct val="100000"/>
              </a:lnSpc>
            </a:pPr>
            <a:r>
              <a:rPr lang="zh-CN" altLang="en-US" sz="1400" b="1" spc="-15" dirty="0">
                <a:latin typeface="宋体"/>
                <a:cs typeface="宋体"/>
              </a:rPr>
              <a:t>身份认证</a:t>
            </a:r>
          </a:p>
        </p:txBody>
      </p:sp>
      <p:sp>
        <p:nvSpPr>
          <p:cNvPr id="24" name="object 8">
            <a:extLst>
              <a:ext uri="{FF2B5EF4-FFF2-40B4-BE49-F238E27FC236}">
                <a16:creationId xmlns:a16="http://schemas.microsoft.com/office/drawing/2014/main" id="{E0079FCB-F9B1-CAD9-1312-92A1EE12713A}"/>
              </a:ext>
            </a:extLst>
          </p:cNvPr>
          <p:cNvSpPr txBox="1"/>
          <p:nvPr/>
        </p:nvSpPr>
        <p:spPr>
          <a:xfrm>
            <a:off x="1257033" y="4184397"/>
            <a:ext cx="864235" cy="571500"/>
          </a:xfrm>
          <a:prstGeom prst="rect">
            <a:avLst/>
          </a:prstGeom>
          <a:solidFill>
            <a:srgbClr val="38A666"/>
          </a:solidFill>
        </p:spPr>
        <p:txBody>
          <a:bodyPr vert="horz" wrap="square" lIns="36000" tIns="0" rIns="36000" bIns="0" rtlCol="0" anchor="ctr" anchorCtr="0">
            <a:noAutofit/>
          </a:bodyPr>
          <a:lstStyle/>
          <a:p>
            <a:pPr algn="ctr">
              <a:lnSpc>
                <a:spcPct val="100000"/>
              </a:lnSpc>
            </a:pPr>
            <a:r>
              <a:rPr lang="zh-CN" altLang="en-US" sz="1400" b="1" dirty="0">
                <a:latin typeface="宋体"/>
                <a:cs typeface="宋体"/>
              </a:rPr>
              <a:t>授权控制</a:t>
            </a:r>
            <a:endParaRPr sz="1400" b="1" dirty="0">
              <a:latin typeface="宋体"/>
              <a:cs typeface="宋体"/>
            </a:endParaRPr>
          </a:p>
        </p:txBody>
      </p:sp>
      <p:sp>
        <p:nvSpPr>
          <p:cNvPr id="25" name="object 9">
            <a:extLst>
              <a:ext uri="{FF2B5EF4-FFF2-40B4-BE49-F238E27FC236}">
                <a16:creationId xmlns:a16="http://schemas.microsoft.com/office/drawing/2014/main" id="{1E640EF6-5714-AD02-D38E-97F1285959AA}"/>
              </a:ext>
            </a:extLst>
          </p:cNvPr>
          <p:cNvSpPr txBox="1"/>
          <p:nvPr/>
        </p:nvSpPr>
        <p:spPr>
          <a:xfrm>
            <a:off x="1257033" y="5260084"/>
            <a:ext cx="864235" cy="568960"/>
          </a:xfrm>
          <a:prstGeom prst="rect">
            <a:avLst/>
          </a:prstGeom>
          <a:solidFill>
            <a:srgbClr val="38A666"/>
          </a:solidFill>
        </p:spPr>
        <p:txBody>
          <a:bodyPr vert="horz" wrap="square" lIns="36000" tIns="0" rIns="36000" bIns="0" rtlCol="0" anchor="ctr" anchorCtr="0">
            <a:noAutofit/>
          </a:bodyPr>
          <a:lstStyle>
            <a:defPPr>
              <a:defRPr lang="zh-CN"/>
            </a:defPPr>
            <a:lvl1pPr algn="ctr">
              <a:lnSpc>
                <a:spcPct val="100000"/>
              </a:lnSpc>
              <a:defRPr sz="1400" b="1" spc="-15">
                <a:latin typeface="宋体"/>
                <a:cs typeface="宋体"/>
              </a:defRPr>
            </a:lvl1pPr>
          </a:lstStyle>
          <a:p>
            <a:r>
              <a:rPr lang="zh-CN" altLang="en-US" dirty="0"/>
              <a:t>高可用</a:t>
            </a:r>
            <a:endParaRPr dirty="0"/>
          </a:p>
        </p:txBody>
      </p:sp>
      <p:grpSp>
        <p:nvGrpSpPr>
          <p:cNvPr id="26" name="object 12">
            <a:extLst>
              <a:ext uri="{FF2B5EF4-FFF2-40B4-BE49-F238E27FC236}">
                <a16:creationId xmlns:a16="http://schemas.microsoft.com/office/drawing/2014/main" id="{4900460B-FF66-D2F7-1F27-B741262FDA01}"/>
              </a:ext>
            </a:extLst>
          </p:cNvPr>
          <p:cNvGrpSpPr/>
          <p:nvPr/>
        </p:nvGrpSpPr>
        <p:grpSpPr>
          <a:xfrm>
            <a:off x="2331452" y="2229873"/>
            <a:ext cx="535305" cy="180340"/>
            <a:chOff x="1481327" y="1969007"/>
            <a:chExt cx="535305" cy="180340"/>
          </a:xfrm>
        </p:grpSpPr>
        <p:pic>
          <p:nvPicPr>
            <p:cNvPr id="27" name="object 13">
              <a:extLst>
                <a:ext uri="{FF2B5EF4-FFF2-40B4-BE49-F238E27FC236}">
                  <a16:creationId xmlns:a16="http://schemas.microsoft.com/office/drawing/2014/main" id="{FE2A093D-600D-6149-1724-121A89DF8D75}"/>
                </a:ext>
              </a:extLst>
            </p:cNvPr>
            <p:cNvPicPr/>
            <p:nvPr/>
          </p:nvPicPr>
          <p:blipFill>
            <a:blip r:embed="rId3" cstate="print"/>
            <a:stretch>
              <a:fillRect/>
            </a:stretch>
          </p:blipFill>
          <p:spPr>
            <a:xfrm>
              <a:off x="1481327" y="1969007"/>
              <a:ext cx="158496" cy="179831"/>
            </a:xfrm>
            <a:prstGeom prst="rect">
              <a:avLst/>
            </a:prstGeom>
          </p:spPr>
        </p:pic>
        <p:pic>
          <p:nvPicPr>
            <p:cNvPr id="36" name="object 14">
              <a:extLst>
                <a:ext uri="{FF2B5EF4-FFF2-40B4-BE49-F238E27FC236}">
                  <a16:creationId xmlns:a16="http://schemas.microsoft.com/office/drawing/2014/main" id="{0DF38A37-2A5E-960C-0836-ACEB92143646}"/>
                </a:ext>
              </a:extLst>
            </p:cNvPr>
            <p:cNvPicPr/>
            <p:nvPr/>
          </p:nvPicPr>
          <p:blipFill>
            <a:blip r:embed="rId4" cstate="print"/>
            <a:stretch>
              <a:fillRect/>
            </a:stretch>
          </p:blipFill>
          <p:spPr>
            <a:xfrm>
              <a:off x="1677923" y="1969007"/>
              <a:ext cx="158495" cy="179831"/>
            </a:xfrm>
            <a:prstGeom prst="rect">
              <a:avLst/>
            </a:prstGeom>
          </p:spPr>
        </p:pic>
        <p:pic>
          <p:nvPicPr>
            <p:cNvPr id="37" name="object 15">
              <a:extLst>
                <a:ext uri="{FF2B5EF4-FFF2-40B4-BE49-F238E27FC236}">
                  <a16:creationId xmlns:a16="http://schemas.microsoft.com/office/drawing/2014/main" id="{47E3D483-7C3D-18C7-6DA1-3989D8F2F1D0}"/>
                </a:ext>
              </a:extLst>
            </p:cNvPr>
            <p:cNvPicPr/>
            <p:nvPr/>
          </p:nvPicPr>
          <p:blipFill>
            <a:blip r:embed="rId3" cstate="print"/>
            <a:stretch>
              <a:fillRect/>
            </a:stretch>
          </p:blipFill>
          <p:spPr>
            <a:xfrm>
              <a:off x="1857755" y="1969007"/>
              <a:ext cx="158495" cy="179831"/>
            </a:xfrm>
            <a:prstGeom prst="rect">
              <a:avLst/>
            </a:prstGeom>
          </p:spPr>
        </p:pic>
      </p:grpSp>
      <p:grpSp>
        <p:nvGrpSpPr>
          <p:cNvPr id="38" name="object 16">
            <a:extLst>
              <a:ext uri="{FF2B5EF4-FFF2-40B4-BE49-F238E27FC236}">
                <a16:creationId xmlns:a16="http://schemas.microsoft.com/office/drawing/2014/main" id="{40DE0A82-8BEF-7BB7-C7DA-056036937CD8}"/>
              </a:ext>
            </a:extLst>
          </p:cNvPr>
          <p:cNvGrpSpPr/>
          <p:nvPr/>
        </p:nvGrpSpPr>
        <p:grpSpPr>
          <a:xfrm>
            <a:off x="2331452" y="3304713"/>
            <a:ext cx="535305" cy="180340"/>
            <a:chOff x="1481327" y="2665476"/>
            <a:chExt cx="535305" cy="180340"/>
          </a:xfrm>
        </p:grpSpPr>
        <p:pic>
          <p:nvPicPr>
            <p:cNvPr id="39" name="object 17">
              <a:extLst>
                <a:ext uri="{FF2B5EF4-FFF2-40B4-BE49-F238E27FC236}">
                  <a16:creationId xmlns:a16="http://schemas.microsoft.com/office/drawing/2014/main" id="{82CB412B-1FB9-8917-E90D-7EC72D3C112E}"/>
                </a:ext>
              </a:extLst>
            </p:cNvPr>
            <p:cNvPicPr/>
            <p:nvPr/>
          </p:nvPicPr>
          <p:blipFill>
            <a:blip r:embed="rId5" cstate="print"/>
            <a:stretch>
              <a:fillRect/>
            </a:stretch>
          </p:blipFill>
          <p:spPr>
            <a:xfrm>
              <a:off x="1481327" y="2665476"/>
              <a:ext cx="158496" cy="179832"/>
            </a:xfrm>
            <a:prstGeom prst="rect">
              <a:avLst/>
            </a:prstGeom>
          </p:spPr>
        </p:pic>
        <p:pic>
          <p:nvPicPr>
            <p:cNvPr id="46" name="object 18">
              <a:extLst>
                <a:ext uri="{FF2B5EF4-FFF2-40B4-BE49-F238E27FC236}">
                  <a16:creationId xmlns:a16="http://schemas.microsoft.com/office/drawing/2014/main" id="{8FD8DE52-2B5E-A925-BD6B-2FBA7D9B3549}"/>
                </a:ext>
              </a:extLst>
            </p:cNvPr>
            <p:cNvPicPr/>
            <p:nvPr/>
          </p:nvPicPr>
          <p:blipFill>
            <a:blip r:embed="rId6" cstate="print"/>
            <a:stretch>
              <a:fillRect/>
            </a:stretch>
          </p:blipFill>
          <p:spPr>
            <a:xfrm>
              <a:off x="1677923" y="2665476"/>
              <a:ext cx="158495" cy="179832"/>
            </a:xfrm>
            <a:prstGeom prst="rect">
              <a:avLst/>
            </a:prstGeom>
          </p:spPr>
        </p:pic>
        <p:pic>
          <p:nvPicPr>
            <p:cNvPr id="47" name="object 19">
              <a:extLst>
                <a:ext uri="{FF2B5EF4-FFF2-40B4-BE49-F238E27FC236}">
                  <a16:creationId xmlns:a16="http://schemas.microsoft.com/office/drawing/2014/main" id="{7D7C7BFF-4C1E-A265-CEA1-3C9B87821A19}"/>
                </a:ext>
              </a:extLst>
            </p:cNvPr>
            <p:cNvPicPr/>
            <p:nvPr/>
          </p:nvPicPr>
          <p:blipFill>
            <a:blip r:embed="rId5" cstate="print"/>
            <a:stretch>
              <a:fillRect/>
            </a:stretch>
          </p:blipFill>
          <p:spPr>
            <a:xfrm>
              <a:off x="1857755" y="2665476"/>
              <a:ext cx="158495" cy="179832"/>
            </a:xfrm>
            <a:prstGeom prst="rect">
              <a:avLst/>
            </a:prstGeom>
          </p:spPr>
        </p:pic>
      </p:grpSp>
      <p:grpSp>
        <p:nvGrpSpPr>
          <p:cNvPr id="49" name="object 20">
            <a:extLst>
              <a:ext uri="{FF2B5EF4-FFF2-40B4-BE49-F238E27FC236}">
                <a16:creationId xmlns:a16="http://schemas.microsoft.com/office/drawing/2014/main" id="{D8F4E271-CB10-8A04-2573-37BF294C0677}"/>
              </a:ext>
            </a:extLst>
          </p:cNvPr>
          <p:cNvGrpSpPr/>
          <p:nvPr/>
        </p:nvGrpSpPr>
        <p:grpSpPr>
          <a:xfrm>
            <a:off x="2331452" y="4379553"/>
            <a:ext cx="535305" cy="180340"/>
            <a:chOff x="1481327" y="3361944"/>
            <a:chExt cx="535305" cy="180340"/>
          </a:xfrm>
        </p:grpSpPr>
        <p:pic>
          <p:nvPicPr>
            <p:cNvPr id="53" name="object 21">
              <a:extLst>
                <a:ext uri="{FF2B5EF4-FFF2-40B4-BE49-F238E27FC236}">
                  <a16:creationId xmlns:a16="http://schemas.microsoft.com/office/drawing/2014/main" id="{C607A4B9-04C9-3F7B-1902-3283F403BC24}"/>
                </a:ext>
              </a:extLst>
            </p:cNvPr>
            <p:cNvPicPr/>
            <p:nvPr/>
          </p:nvPicPr>
          <p:blipFill>
            <a:blip r:embed="rId3" cstate="print"/>
            <a:stretch>
              <a:fillRect/>
            </a:stretch>
          </p:blipFill>
          <p:spPr>
            <a:xfrm>
              <a:off x="1481327" y="3361944"/>
              <a:ext cx="158496" cy="179831"/>
            </a:xfrm>
            <a:prstGeom prst="rect">
              <a:avLst/>
            </a:prstGeom>
          </p:spPr>
        </p:pic>
        <p:pic>
          <p:nvPicPr>
            <p:cNvPr id="54" name="object 22">
              <a:extLst>
                <a:ext uri="{FF2B5EF4-FFF2-40B4-BE49-F238E27FC236}">
                  <a16:creationId xmlns:a16="http://schemas.microsoft.com/office/drawing/2014/main" id="{A342D232-D649-171B-13A9-E071A593B560}"/>
                </a:ext>
              </a:extLst>
            </p:cNvPr>
            <p:cNvPicPr/>
            <p:nvPr/>
          </p:nvPicPr>
          <p:blipFill>
            <a:blip r:embed="rId4" cstate="print"/>
            <a:stretch>
              <a:fillRect/>
            </a:stretch>
          </p:blipFill>
          <p:spPr>
            <a:xfrm>
              <a:off x="1677923" y="3361944"/>
              <a:ext cx="158495" cy="179831"/>
            </a:xfrm>
            <a:prstGeom prst="rect">
              <a:avLst/>
            </a:prstGeom>
          </p:spPr>
        </p:pic>
        <p:pic>
          <p:nvPicPr>
            <p:cNvPr id="56" name="object 23">
              <a:extLst>
                <a:ext uri="{FF2B5EF4-FFF2-40B4-BE49-F238E27FC236}">
                  <a16:creationId xmlns:a16="http://schemas.microsoft.com/office/drawing/2014/main" id="{A958299C-5C8F-2B30-00DC-E07546722C9C}"/>
                </a:ext>
              </a:extLst>
            </p:cNvPr>
            <p:cNvPicPr/>
            <p:nvPr/>
          </p:nvPicPr>
          <p:blipFill>
            <a:blip r:embed="rId3" cstate="print"/>
            <a:stretch>
              <a:fillRect/>
            </a:stretch>
          </p:blipFill>
          <p:spPr>
            <a:xfrm>
              <a:off x="1857755" y="3361944"/>
              <a:ext cx="158495" cy="179831"/>
            </a:xfrm>
            <a:prstGeom prst="rect">
              <a:avLst/>
            </a:prstGeom>
          </p:spPr>
        </p:pic>
      </p:grpSp>
      <p:grpSp>
        <p:nvGrpSpPr>
          <p:cNvPr id="57" name="object 24">
            <a:extLst>
              <a:ext uri="{FF2B5EF4-FFF2-40B4-BE49-F238E27FC236}">
                <a16:creationId xmlns:a16="http://schemas.microsoft.com/office/drawing/2014/main" id="{3E676B0E-1EA2-7C45-4032-52BD1A4032AE}"/>
              </a:ext>
            </a:extLst>
          </p:cNvPr>
          <p:cNvGrpSpPr/>
          <p:nvPr/>
        </p:nvGrpSpPr>
        <p:grpSpPr>
          <a:xfrm>
            <a:off x="2331452" y="5454394"/>
            <a:ext cx="535305" cy="180340"/>
            <a:chOff x="1481327" y="4058411"/>
            <a:chExt cx="535305" cy="180340"/>
          </a:xfrm>
        </p:grpSpPr>
        <p:pic>
          <p:nvPicPr>
            <p:cNvPr id="58" name="object 25">
              <a:extLst>
                <a:ext uri="{FF2B5EF4-FFF2-40B4-BE49-F238E27FC236}">
                  <a16:creationId xmlns:a16="http://schemas.microsoft.com/office/drawing/2014/main" id="{0BB785CD-C83A-F15B-2A9E-630845734559}"/>
                </a:ext>
              </a:extLst>
            </p:cNvPr>
            <p:cNvPicPr/>
            <p:nvPr/>
          </p:nvPicPr>
          <p:blipFill>
            <a:blip r:embed="rId3" cstate="print"/>
            <a:stretch>
              <a:fillRect/>
            </a:stretch>
          </p:blipFill>
          <p:spPr>
            <a:xfrm>
              <a:off x="1481327" y="4058411"/>
              <a:ext cx="158496" cy="179831"/>
            </a:xfrm>
            <a:prstGeom prst="rect">
              <a:avLst/>
            </a:prstGeom>
          </p:spPr>
        </p:pic>
        <p:pic>
          <p:nvPicPr>
            <p:cNvPr id="59" name="object 26">
              <a:extLst>
                <a:ext uri="{FF2B5EF4-FFF2-40B4-BE49-F238E27FC236}">
                  <a16:creationId xmlns:a16="http://schemas.microsoft.com/office/drawing/2014/main" id="{103A8ECF-8F54-7BD0-79C4-7517158FEE61}"/>
                </a:ext>
              </a:extLst>
            </p:cNvPr>
            <p:cNvPicPr/>
            <p:nvPr/>
          </p:nvPicPr>
          <p:blipFill>
            <a:blip r:embed="rId4" cstate="print"/>
            <a:stretch>
              <a:fillRect/>
            </a:stretch>
          </p:blipFill>
          <p:spPr>
            <a:xfrm>
              <a:off x="1677923" y="4058411"/>
              <a:ext cx="158495" cy="179831"/>
            </a:xfrm>
            <a:prstGeom prst="rect">
              <a:avLst/>
            </a:prstGeom>
          </p:spPr>
        </p:pic>
        <p:pic>
          <p:nvPicPr>
            <p:cNvPr id="60" name="object 27">
              <a:extLst>
                <a:ext uri="{FF2B5EF4-FFF2-40B4-BE49-F238E27FC236}">
                  <a16:creationId xmlns:a16="http://schemas.microsoft.com/office/drawing/2014/main" id="{3D007739-848D-BCA9-12FB-363EDA6B5C96}"/>
                </a:ext>
              </a:extLst>
            </p:cNvPr>
            <p:cNvPicPr/>
            <p:nvPr/>
          </p:nvPicPr>
          <p:blipFill>
            <a:blip r:embed="rId3" cstate="print"/>
            <a:stretch>
              <a:fillRect/>
            </a:stretch>
          </p:blipFill>
          <p:spPr>
            <a:xfrm>
              <a:off x="1857755" y="4058411"/>
              <a:ext cx="158495" cy="179831"/>
            </a:xfrm>
            <a:prstGeom prst="rect">
              <a:avLst/>
            </a:prstGeom>
          </p:spPr>
        </p:pic>
      </p:grpSp>
      <p:sp>
        <p:nvSpPr>
          <p:cNvPr id="61" name="object 44">
            <a:extLst>
              <a:ext uri="{FF2B5EF4-FFF2-40B4-BE49-F238E27FC236}">
                <a16:creationId xmlns:a16="http://schemas.microsoft.com/office/drawing/2014/main" id="{FF2AB31F-E5BD-178F-B92E-843E34A7F3D3}"/>
              </a:ext>
            </a:extLst>
          </p:cNvPr>
          <p:cNvSpPr txBox="1"/>
          <p:nvPr/>
        </p:nvSpPr>
        <p:spPr>
          <a:xfrm>
            <a:off x="2979152" y="1888043"/>
            <a:ext cx="3240000" cy="864000"/>
          </a:xfrm>
          <a:prstGeom prst="rect">
            <a:avLst/>
          </a:prstGeom>
          <a:ln w="9144">
            <a:solidFill>
              <a:srgbClr val="D9D9D9"/>
            </a:solidFill>
          </a:ln>
        </p:spPr>
        <p:txBody>
          <a:bodyPr vert="horz" wrap="square" lIns="0" tIns="43180" rIns="0" bIns="0" rtlCol="0" anchor="ctr" anchorCtr="0">
            <a:noAutofit/>
          </a:bodyPr>
          <a:lstStyle/>
          <a:p>
            <a:pPr marL="90805">
              <a:lnSpc>
                <a:spcPct val="100000"/>
              </a:lnSpc>
              <a:spcBef>
                <a:spcPts val="340"/>
              </a:spcBef>
            </a:pPr>
            <a:r>
              <a:rPr lang="zh-CN" altLang="en-US" sz="1600" spc="-20" dirty="0">
                <a:latin typeface="宋体"/>
                <a:cs typeface="宋体"/>
              </a:rPr>
              <a:t>指平台针对用户提供身份认证能力，便于人员安全管理</a:t>
            </a:r>
          </a:p>
        </p:txBody>
      </p:sp>
      <p:sp>
        <p:nvSpPr>
          <p:cNvPr id="62" name="object 45">
            <a:extLst>
              <a:ext uri="{FF2B5EF4-FFF2-40B4-BE49-F238E27FC236}">
                <a16:creationId xmlns:a16="http://schemas.microsoft.com/office/drawing/2014/main" id="{F0BD2459-F98C-DDF5-2DF0-AAA5D3D8481C}"/>
              </a:ext>
            </a:extLst>
          </p:cNvPr>
          <p:cNvSpPr/>
          <p:nvPr/>
        </p:nvSpPr>
        <p:spPr>
          <a:xfrm>
            <a:off x="2979152" y="2962883"/>
            <a:ext cx="3240000" cy="864000"/>
          </a:xfrm>
          <a:custGeom>
            <a:avLst/>
            <a:gdLst/>
            <a:ahLst/>
            <a:cxnLst/>
            <a:rect l="l" t="t" r="r" b="b"/>
            <a:pathLst>
              <a:path w="3599815" h="523239">
                <a:moveTo>
                  <a:pt x="0" y="522732"/>
                </a:moveTo>
                <a:lnTo>
                  <a:pt x="3599688" y="522732"/>
                </a:lnTo>
                <a:lnTo>
                  <a:pt x="3599688" y="0"/>
                </a:lnTo>
                <a:lnTo>
                  <a:pt x="0" y="0"/>
                </a:lnTo>
                <a:lnTo>
                  <a:pt x="0" y="522732"/>
                </a:lnTo>
                <a:close/>
              </a:path>
            </a:pathLst>
          </a:custGeom>
          <a:ln w="9144">
            <a:solidFill>
              <a:srgbClr val="D9D9D9"/>
            </a:solidFill>
          </a:ln>
        </p:spPr>
        <p:txBody>
          <a:bodyPr vert="horz" wrap="square" lIns="0" tIns="43180" rIns="0" bIns="0" rtlCol="0" anchor="ctr" anchorCtr="0">
            <a:noAutofit/>
          </a:bodyPr>
          <a:lstStyle/>
          <a:p>
            <a:pPr marL="90805">
              <a:spcBef>
                <a:spcPts val="340"/>
              </a:spcBef>
            </a:pPr>
            <a:r>
              <a:rPr lang="zh-CN" altLang="en-US" sz="1600" spc="-20" dirty="0">
                <a:latin typeface="宋体"/>
              </a:rPr>
              <a:t>指对平台中与安全有关的活动和执行关键操作行为的相关信息进行识别、记录、存储和分析。</a:t>
            </a:r>
          </a:p>
        </p:txBody>
      </p:sp>
      <p:sp>
        <p:nvSpPr>
          <p:cNvPr id="63" name="object 48">
            <a:extLst>
              <a:ext uri="{FF2B5EF4-FFF2-40B4-BE49-F238E27FC236}">
                <a16:creationId xmlns:a16="http://schemas.microsoft.com/office/drawing/2014/main" id="{C5274487-CD4E-79DD-4358-452481C26428}"/>
              </a:ext>
            </a:extLst>
          </p:cNvPr>
          <p:cNvSpPr txBox="1"/>
          <p:nvPr/>
        </p:nvSpPr>
        <p:spPr>
          <a:xfrm>
            <a:off x="2979152" y="4037723"/>
            <a:ext cx="3240000" cy="864000"/>
          </a:xfrm>
          <a:prstGeom prst="rect">
            <a:avLst/>
          </a:prstGeom>
          <a:ln w="9144">
            <a:solidFill>
              <a:srgbClr val="D9D9D9"/>
            </a:solidFill>
          </a:ln>
        </p:spPr>
        <p:txBody>
          <a:bodyPr vert="horz" wrap="square" lIns="0" tIns="64135" rIns="0" bIns="0" rtlCol="0" anchor="ctr" anchorCtr="0">
            <a:noAutofit/>
          </a:bodyPr>
          <a:lstStyle/>
          <a:p>
            <a:pPr marL="90805" marR="117475">
              <a:lnSpc>
                <a:spcPts val="1620"/>
              </a:lnSpc>
              <a:spcBef>
                <a:spcPts val="505"/>
              </a:spcBef>
            </a:pPr>
            <a:r>
              <a:rPr lang="zh-CN" altLang="en-US" sz="1600" spc="-20" dirty="0">
                <a:latin typeface="宋体"/>
                <a:cs typeface="宋体"/>
              </a:rPr>
              <a:t>研发运营平台具备针对不同用户、角色进行功能和权限的控制，可针对不同的租户进行资源有效隔离。</a:t>
            </a:r>
          </a:p>
        </p:txBody>
      </p:sp>
      <p:sp>
        <p:nvSpPr>
          <p:cNvPr id="64" name="object 49">
            <a:extLst>
              <a:ext uri="{FF2B5EF4-FFF2-40B4-BE49-F238E27FC236}">
                <a16:creationId xmlns:a16="http://schemas.microsoft.com/office/drawing/2014/main" id="{72EF2566-29AF-0F59-CB82-61F24F6CDBFB}"/>
              </a:ext>
            </a:extLst>
          </p:cNvPr>
          <p:cNvSpPr txBox="1"/>
          <p:nvPr/>
        </p:nvSpPr>
        <p:spPr>
          <a:xfrm>
            <a:off x="2979152" y="5112564"/>
            <a:ext cx="3240000" cy="864000"/>
          </a:xfrm>
          <a:prstGeom prst="rect">
            <a:avLst/>
          </a:prstGeom>
          <a:ln w="9144">
            <a:solidFill>
              <a:srgbClr val="D9D9D9"/>
            </a:solidFill>
          </a:ln>
        </p:spPr>
        <p:txBody>
          <a:bodyPr vert="horz" wrap="square" lIns="0" tIns="43815" rIns="0" bIns="0" rtlCol="0" anchor="ctr" anchorCtr="0">
            <a:noAutofit/>
          </a:bodyPr>
          <a:lstStyle/>
          <a:p>
            <a:pPr marL="90805">
              <a:lnSpc>
                <a:spcPct val="100000"/>
              </a:lnSpc>
              <a:spcBef>
                <a:spcPts val="345"/>
              </a:spcBef>
            </a:pPr>
            <a:r>
              <a:rPr lang="zh-CN" altLang="en-US" sz="1600" spc="-15" dirty="0">
                <a:latin typeface="宋体"/>
                <a:cs typeface="宋体"/>
              </a:rPr>
              <a:t>指通过故障检测、数据备份等手段提供系统的可用性。</a:t>
            </a:r>
          </a:p>
        </p:txBody>
      </p:sp>
      <p:pic>
        <p:nvPicPr>
          <p:cNvPr id="66" name="图片 65">
            <a:extLst>
              <a:ext uri="{FF2B5EF4-FFF2-40B4-BE49-F238E27FC236}">
                <a16:creationId xmlns:a16="http://schemas.microsoft.com/office/drawing/2014/main" id="{DF5C1F89-FB10-56F3-20F6-E4A5FCA72D32}"/>
              </a:ext>
            </a:extLst>
          </p:cNvPr>
          <p:cNvPicPr>
            <a:picLocks noChangeAspect="1"/>
          </p:cNvPicPr>
          <p:nvPr/>
        </p:nvPicPr>
        <p:blipFill>
          <a:blip r:embed="rId7"/>
          <a:stretch>
            <a:fillRect/>
          </a:stretch>
        </p:blipFill>
        <p:spPr>
          <a:xfrm>
            <a:off x="6511761" y="1888043"/>
            <a:ext cx="5519318" cy="4088521"/>
          </a:xfrm>
          <a:prstGeom prst="rect">
            <a:avLst/>
          </a:prstGeom>
        </p:spPr>
      </p:pic>
    </p:spTree>
    <p:extLst>
      <p:ext uri="{BB962C8B-B14F-4D97-AF65-F5344CB8AC3E}">
        <p14:creationId xmlns:p14="http://schemas.microsoft.com/office/powerpoint/2010/main" val="9363717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2">
            <a:extLst>
              <a:ext uri="{FF2B5EF4-FFF2-40B4-BE49-F238E27FC236}">
                <a16:creationId xmlns:a16="http://schemas.microsoft.com/office/drawing/2014/main" id="{D68E5461-33C8-4ECD-B0EA-78223C314149}"/>
              </a:ext>
            </a:extLst>
          </p:cNvPr>
          <p:cNvSpPr txBox="1">
            <a:spLocks/>
          </p:cNvSpPr>
          <p:nvPr/>
        </p:nvSpPr>
        <p:spPr>
          <a:xfrm>
            <a:off x="311779" y="6517525"/>
            <a:ext cx="2743200" cy="340476"/>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Aft>
                <a:spcPts val="100"/>
              </a:spcAft>
            </a:pPr>
            <a:fld id="{87A43631-42BC-4255-9B30-786C9543311F}" type="datetimeFigureOut">
              <a:rPr lang="zh-CN" altLang="en-US" smtClean="0"/>
              <a:pPr>
                <a:lnSpc>
                  <a:spcPct val="120000"/>
                </a:lnSpc>
                <a:spcAft>
                  <a:spcPts val="100"/>
                </a:spcAft>
              </a:pPr>
              <a:t>2026/5/22</a:t>
            </a:fld>
            <a:endParaRPr lang="zh-CN" altLang="en-US"/>
          </a:p>
        </p:txBody>
      </p:sp>
      <p:sp>
        <p:nvSpPr>
          <p:cNvPr id="3" name="灯片编号占位符 4">
            <a:extLst>
              <a:ext uri="{FF2B5EF4-FFF2-40B4-BE49-F238E27FC236}">
                <a16:creationId xmlns:a16="http://schemas.microsoft.com/office/drawing/2014/main" id="{6EA75E7D-BC97-4B1B-B614-6CEC5627A44A}"/>
              </a:ext>
            </a:extLst>
          </p:cNvPr>
          <p:cNvSpPr txBox="1">
            <a:spLocks/>
          </p:cNvSpPr>
          <p:nvPr/>
        </p:nvSpPr>
        <p:spPr>
          <a:xfrm>
            <a:off x="9137021" y="6516239"/>
            <a:ext cx="2743200" cy="341761"/>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Aft>
                <a:spcPts val="100"/>
              </a:spcAft>
            </a:pPr>
            <a:fld id="{1AAC388E-FA9E-4A2C-95EA-1F6B3A07935A}" type="slidenum">
              <a:rPr lang="zh-CN" altLang="en-US" smtClean="0"/>
              <a:pPr>
                <a:lnSpc>
                  <a:spcPct val="120000"/>
                </a:lnSpc>
                <a:spcAft>
                  <a:spcPts val="100"/>
                </a:spcAft>
              </a:pPr>
              <a:t>54</a:t>
            </a:fld>
            <a:endParaRPr lang="zh-CN" altLang="en-US"/>
          </a:p>
        </p:txBody>
      </p:sp>
      <p:pic>
        <p:nvPicPr>
          <p:cNvPr id="4" name="图片占位符 16" descr="图片包含 建筑物, 蛋糕&#10;&#10;描述已自动生成">
            <a:extLst>
              <a:ext uri="{FF2B5EF4-FFF2-40B4-BE49-F238E27FC236}">
                <a16:creationId xmlns:a16="http://schemas.microsoft.com/office/drawing/2014/main" id="{FB82ED54-5D9B-4BE2-B820-EC20C87D730D}"/>
              </a:ext>
            </a:extLst>
          </p:cNvPr>
          <p:cNvPicPr>
            <a:picLocks noChangeAspect="1"/>
          </p:cNvPicPr>
          <p:nvPr/>
        </p:nvPicPr>
        <p:blipFill>
          <a:blip r:embed="rId2">
            <a:duotone>
              <a:schemeClr val="accent6">
                <a:shade val="45000"/>
                <a:satMod val="135000"/>
              </a:schemeClr>
              <a:prstClr val="white"/>
            </a:duotone>
            <a:extLst>
              <a:ext uri="{28A0092B-C50C-407E-A947-70E740481C1C}">
                <a14:useLocalDpi xmlns:a14="http://schemas.microsoft.com/office/drawing/2010/main" val="0"/>
              </a:ext>
            </a:extLst>
          </a:blip>
          <a:srcRect t="3926" b="3926"/>
          <a:stretch>
            <a:fillRect/>
          </a:stretch>
        </p:blipFill>
        <p:spPr>
          <a:xfrm>
            <a:off x="0" y="0"/>
            <a:ext cx="12192000" cy="6858000"/>
          </a:xfrm>
          <a:prstGeom prst="rect">
            <a:avLst/>
          </a:prstGeom>
        </p:spPr>
      </p:pic>
      <p:sp>
        <p:nvSpPr>
          <p:cNvPr id="5" name="任意多边形: 形状 4">
            <a:extLst>
              <a:ext uri="{FF2B5EF4-FFF2-40B4-BE49-F238E27FC236}">
                <a16:creationId xmlns:a16="http://schemas.microsoft.com/office/drawing/2014/main" id="{49559A8C-B727-4F4A-8F37-516EADD8DB9C}"/>
              </a:ext>
            </a:extLst>
          </p:cNvPr>
          <p:cNvSpPr/>
          <p:nvPr/>
        </p:nvSpPr>
        <p:spPr>
          <a:xfrm>
            <a:off x="0" y="2820188"/>
            <a:ext cx="12192000" cy="4037813"/>
          </a:xfrm>
          <a:custGeom>
            <a:avLst/>
            <a:gdLst>
              <a:gd name="connsiteX0" fmla="*/ 0 w 12192000"/>
              <a:gd name="connsiteY0" fmla="*/ 0 h 4037813"/>
              <a:gd name="connsiteX1" fmla="*/ 106773 w 12192000"/>
              <a:gd name="connsiteY1" fmla="*/ 36445 h 4037813"/>
              <a:gd name="connsiteX2" fmla="*/ 6096001 w 12192000"/>
              <a:gd name="connsiteY2" fmla="*/ 883678 h 4037813"/>
              <a:gd name="connsiteX3" fmla="*/ 12085229 w 12192000"/>
              <a:gd name="connsiteY3" fmla="*/ 36445 h 4037813"/>
              <a:gd name="connsiteX4" fmla="*/ 12192000 w 12192000"/>
              <a:gd name="connsiteY4" fmla="*/ 1 h 4037813"/>
              <a:gd name="connsiteX5" fmla="*/ 12192000 w 12192000"/>
              <a:gd name="connsiteY5" fmla="*/ 4037813 h 4037813"/>
              <a:gd name="connsiteX6" fmla="*/ 0 w 12192000"/>
              <a:gd name="connsiteY6" fmla="*/ 4037813 h 4037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4037813">
                <a:moveTo>
                  <a:pt x="0" y="0"/>
                </a:moveTo>
                <a:lnTo>
                  <a:pt x="106773" y="36445"/>
                </a:lnTo>
                <a:cubicBezTo>
                  <a:pt x="1734353" y="565729"/>
                  <a:pt x="3820949" y="883678"/>
                  <a:pt x="6096001" y="883678"/>
                </a:cubicBezTo>
                <a:cubicBezTo>
                  <a:pt x="8371054" y="883678"/>
                  <a:pt x="10457649" y="565729"/>
                  <a:pt x="12085229" y="36445"/>
                </a:cubicBezTo>
                <a:lnTo>
                  <a:pt x="12192000" y="1"/>
                </a:lnTo>
                <a:lnTo>
                  <a:pt x="12192000" y="4037813"/>
                </a:lnTo>
                <a:lnTo>
                  <a:pt x="0" y="4037813"/>
                </a:lnTo>
                <a:close/>
              </a:path>
            </a:pathLst>
          </a:custGeom>
          <a:solidFill>
            <a:srgbClr val="0442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00"/>
              </a:spcAft>
            </a:pPr>
            <a:endParaRPr lang="zh-CN" altLang="en-US"/>
          </a:p>
        </p:txBody>
      </p:sp>
      <p:sp>
        <p:nvSpPr>
          <p:cNvPr id="6" name="矩形 5">
            <a:extLst>
              <a:ext uri="{FF2B5EF4-FFF2-40B4-BE49-F238E27FC236}">
                <a16:creationId xmlns:a16="http://schemas.microsoft.com/office/drawing/2014/main" id="{1B796463-649D-4F3B-96D9-6941FF04955C}"/>
              </a:ext>
            </a:extLst>
          </p:cNvPr>
          <p:cNvSpPr/>
          <p:nvPr/>
        </p:nvSpPr>
        <p:spPr>
          <a:xfrm>
            <a:off x="2786743" y="5736210"/>
            <a:ext cx="6618515" cy="260008"/>
          </a:xfrm>
          <a:prstGeom prst="rect">
            <a:avLst/>
          </a:prstGeom>
        </p:spPr>
        <p:txBody>
          <a:bodyPr wrap="square" lIns="0" rIns="0">
            <a:spAutoFit/>
          </a:bodyPr>
          <a:lstStyle/>
          <a:p>
            <a:pPr algn="dist">
              <a:lnSpc>
                <a:spcPct val="120000"/>
              </a:lnSpc>
              <a:spcAft>
                <a:spcPts val="100"/>
              </a:spcAft>
            </a:pPr>
            <a:r>
              <a:rPr lang="en-US" altLang="zh-CN" sz="1000" b="1" dirty="0">
                <a:solidFill>
                  <a:schemeClr val="bg1">
                    <a:lumMod val="95000"/>
                  </a:schemeClr>
                </a:solidFill>
              </a:rPr>
              <a:t>ACCEPT MY ENDLESS GRATITUDE</a:t>
            </a:r>
            <a:endParaRPr lang="zh-CN" altLang="zh-CN" sz="1000" b="1" dirty="0">
              <a:solidFill>
                <a:schemeClr val="bg1">
                  <a:lumMod val="95000"/>
                </a:schemeClr>
              </a:solidFill>
            </a:endParaRPr>
          </a:p>
        </p:txBody>
      </p:sp>
      <p:sp>
        <p:nvSpPr>
          <p:cNvPr id="75" name="标题 86">
            <a:extLst>
              <a:ext uri="{FF2B5EF4-FFF2-40B4-BE49-F238E27FC236}">
                <a16:creationId xmlns:a16="http://schemas.microsoft.com/office/drawing/2014/main" id="{5EB85CF2-AA21-4BD0-A643-6F92E41264B6}"/>
              </a:ext>
            </a:extLst>
          </p:cNvPr>
          <p:cNvSpPr txBox="1">
            <a:spLocks/>
          </p:cNvSpPr>
          <p:nvPr/>
        </p:nvSpPr>
        <p:spPr>
          <a:xfrm>
            <a:off x="2337220" y="4743697"/>
            <a:ext cx="7517561" cy="1108170"/>
          </a:xfrm>
          <a:prstGeom prst="rect">
            <a:avLst/>
          </a:prstGeom>
        </p:spPr>
        <p:txBody>
          <a:bodyPr anchor="ctr"/>
          <a:lstStyle>
            <a:lvl1pPr algn="l" defTabSz="914400" rtl="0" eaLnBrk="1" latinLnBrk="0" hangingPunct="1">
              <a:lnSpc>
                <a:spcPct val="90000"/>
              </a:lnSpc>
              <a:spcBef>
                <a:spcPct val="0"/>
              </a:spcBef>
              <a:buNone/>
              <a:defRPr lang="zh-CN" altLang="en-US" sz="5400" b="1" kern="1200" dirty="0">
                <a:solidFill>
                  <a:schemeClr val="bg1"/>
                </a:solidFill>
                <a:latin typeface="+mj-lt"/>
                <a:ea typeface="+mj-ea"/>
                <a:cs typeface="+mj-cs"/>
              </a:defRPr>
            </a:lvl1pPr>
          </a:lstStyle>
          <a:p>
            <a:pPr algn="ctr">
              <a:lnSpc>
                <a:spcPct val="120000"/>
              </a:lnSpc>
              <a:spcAft>
                <a:spcPts val="100"/>
              </a:spcAft>
            </a:pPr>
            <a:r>
              <a:rPr lang="en-US" altLang="zh-CN" sz="4800" dirty="0">
                <a:latin typeface="方正粗雅宋简体" panose="02000000000000000000" pitchFamily="2" charset="-122"/>
                <a:ea typeface="方正粗雅宋简体" panose="02000000000000000000" pitchFamily="2" charset="-122"/>
              </a:rPr>
              <a:t>Q</a:t>
            </a:r>
            <a:r>
              <a:rPr lang="zh-CN" altLang="en-US" sz="4800" dirty="0">
                <a:latin typeface="方正粗雅宋简体" panose="02000000000000000000" pitchFamily="2" charset="-122"/>
                <a:ea typeface="方正粗雅宋简体" panose="02000000000000000000" pitchFamily="2" charset="-122"/>
              </a:rPr>
              <a:t> </a:t>
            </a:r>
            <a:r>
              <a:rPr lang="en-US" altLang="zh-CN" sz="4800" dirty="0">
                <a:latin typeface="方正粗雅宋简体" panose="02000000000000000000" pitchFamily="2" charset="-122"/>
                <a:ea typeface="方正粗雅宋简体" panose="02000000000000000000" pitchFamily="2" charset="-122"/>
              </a:rPr>
              <a:t>&amp;</a:t>
            </a:r>
            <a:r>
              <a:rPr lang="zh-CN" altLang="en-US" sz="4800" dirty="0">
                <a:latin typeface="方正粗雅宋简体" panose="02000000000000000000" pitchFamily="2" charset="-122"/>
                <a:ea typeface="方正粗雅宋简体" panose="02000000000000000000" pitchFamily="2" charset="-122"/>
              </a:rPr>
              <a:t> </a:t>
            </a:r>
            <a:r>
              <a:rPr lang="en-US" altLang="zh-CN" sz="4800" dirty="0">
                <a:latin typeface="方正粗雅宋简体" panose="02000000000000000000" pitchFamily="2" charset="-122"/>
                <a:ea typeface="方正粗雅宋简体" panose="02000000000000000000" pitchFamily="2" charset="-122"/>
              </a:rPr>
              <a:t>A</a:t>
            </a:r>
            <a:endParaRPr lang="zh-CN" altLang="en-US" sz="4800" dirty="0">
              <a:latin typeface="方正粗雅宋简体" panose="02000000000000000000" pitchFamily="2" charset="-122"/>
              <a:ea typeface="方正粗雅宋简体" panose="02000000000000000000" pitchFamily="2" charset="-122"/>
            </a:endParaRPr>
          </a:p>
        </p:txBody>
      </p:sp>
      <p:grpSp>
        <p:nvGrpSpPr>
          <p:cNvPr id="76" name="Group 74">
            <a:extLst>
              <a:ext uri="{FF2B5EF4-FFF2-40B4-BE49-F238E27FC236}">
                <a16:creationId xmlns:a16="http://schemas.microsoft.com/office/drawing/2014/main" id="{806E9086-0A2B-466D-9839-DB17018E62C6}"/>
              </a:ext>
            </a:extLst>
          </p:cNvPr>
          <p:cNvGrpSpPr>
            <a:grpSpLocks noChangeAspect="1"/>
          </p:cNvGrpSpPr>
          <p:nvPr/>
        </p:nvGrpSpPr>
        <p:grpSpPr bwMode="auto">
          <a:xfrm>
            <a:off x="5159308" y="4066421"/>
            <a:ext cx="1873383" cy="521119"/>
            <a:chOff x="954" y="660"/>
            <a:chExt cx="1269" cy="353"/>
          </a:xfrm>
          <a:solidFill>
            <a:schemeClr val="bg1"/>
          </a:solidFill>
        </p:grpSpPr>
        <p:sp>
          <p:nvSpPr>
            <p:cNvPr id="77" name="Freeform 75">
              <a:extLst>
                <a:ext uri="{FF2B5EF4-FFF2-40B4-BE49-F238E27FC236}">
                  <a16:creationId xmlns:a16="http://schemas.microsoft.com/office/drawing/2014/main" id="{37CE5326-F493-4E8C-BDF8-7FAD10D84CC6}"/>
                </a:ext>
              </a:extLst>
            </p:cNvPr>
            <p:cNvSpPr>
              <a:spLocks/>
            </p:cNvSpPr>
            <p:nvPr userDrawn="1"/>
          </p:nvSpPr>
          <p:spPr bwMode="auto">
            <a:xfrm>
              <a:off x="1968" y="833"/>
              <a:ext cx="45" cy="46"/>
            </a:xfrm>
            <a:custGeom>
              <a:avLst/>
              <a:gdLst>
                <a:gd name="T0" fmla="*/ 10 w 36"/>
                <a:gd name="T1" fmla="*/ 35 h 37"/>
                <a:gd name="T2" fmla="*/ 6 w 36"/>
                <a:gd name="T3" fmla="*/ 25 h 37"/>
                <a:gd name="T4" fmla="*/ 0 w 36"/>
                <a:gd name="T5" fmla="*/ 11 h 37"/>
                <a:gd name="T6" fmla="*/ 23 w 36"/>
                <a:gd name="T7" fmla="*/ 4 h 37"/>
                <a:gd name="T8" fmla="*/ 28 w 36"/>
                <a:gd name="T9" fmla="*/ 9 h 37"/>
                <a:gd name="T10" fmla="*/ 30 w 36"/>
                <a:gd name="T11" fmla="*/ 29 h 37"/>
                <a:gd name="T12" fmla="*/ 10 w 36"/>
                <a:gd name="T13" fmla="*/ 35 h 37"/>
              </a:gdLst>
              <a:ahLst/>
              <a:cxnLst>
                <a:cxn ang="0">
                  <a:pos x="T0" y="T1"/>
                </a:cxn>
                <a:cxn ang="0">
                  <a:pos x="T2" y="T3"/>
                </a:cxn>
                <a:cxn ang="0">
                  <a:pos x="T4" y="T5"/>
                </a:cxn>
                <a:cxn ang="0">
                  <a:pos x="T6" y="T7"/>
                </a:cxn>
                <a:cxn ang="0">
                  <a:pos x="T8" y="T9"/>
                </a:cxn>
                <a:cxn ang="0">
                  <a:pos x="T10" y="T11"/>
                </a:cxn>
                <a:cxn ang="0">
                  <a:pos x="T12" y="T13"/>
                </a:cxn>
              </a:cxnLst>
              <a:rect l="0" t="0" r="r" b="b"/>
              <a:pathLst>
                <a:path w="36" h="37">
                  <a:moveTo>
                    <a:pt x="10" y="35"/>
                  </a:moveTo>
                  <a:cubicBezTo>
                    <a:pt x="3" y="34"/>
                    <a:pt x="7" y="31"/>
                    <a:pt x="6" y="25"/>
                  </a:cubicBezTo>
                  <a:cubicBezTo>
                    <a:pt x="5" y="20"/>
                    <a:pt x="0" y="14"/>
                    <a:pt x="0" y="11"/>
                  </a:cubicBezTo>
                  <a:cubicBezTo>
                    <a:pt x="1" y="0"/>
                    <a:pt x="15" y="0"/>
                    <a:pt x="23" y="4"/>
                  </a:cubicBezTo>
                  <a:cubicBezTo>
                    <a:pt x="25" y="4"/>
                    <a:pt x="26" y="7"/>
                    <a:pt x="28" y="9"/>
                  </a:cubicBezTo>
                  <a:cubicBezTo>
                    <a:pt x="32" y="14"/>
                    <a:pt x="36" y="23"/>
                    <a:pt x="30" y="29"/>
                  </a:cubicBezTo>
                  <a:cubicBezTo>
                    <a:pt x="25" y="34"/>
                    <a:pt x="17" y="37"/>
                    <a:pt x="10" y="35"/>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78" name="Freeform 76">
              <a:extLst>
                <a:ext uri="{FF2B5EF4-FFF2-40B4-BE49-F238E27FC236}">
                  <a16:creationId xmlns:a16="http://schemas.microsoft.com/office/drawing/2014/main" id="{ED4BA523-69BC-4844-8879-90BD88E7F01D}"/>
                </a:ext>
              </a:extLst>
            </p:cNvPr>
            <p:cNvSpPr>
              <a:spLocks/>
            </p:cNvSpPr>
            <p:nvPr userDrawn="1"/>
          </p:nvSpPr>
          <p:spPr bwMode="auto">
            <a:xfrm>
              <a:off x="1837" y="698"/>
              <a:ext cx="160" cy="165"/>
            </a:xfrm>
            <a:custGeom>
              <a:avLst/>
              <a:gdLst>
                <a:gd name="T0" fmla="*/ 33 w 129"/>
                <a:gd name="T1" fmla="*/ 133 h 133"/>
                <a:gd name="T2" fmla="*/ 32 w 129"/>
                <a:gd name="T3" fmla="*/ 133 h 133"/>
                <a:gd name="T4" fmla="*/ 33 w 129"/>
                <a:gd name="T5" fmla="*/ 130 h 133"/>
                <a:gd name="T6" fmla="*/ 55 w 129"/>
                <a:gd name="T7" fmla="*/ 116 h 133"/>
                <a:gd name="T8" fmla="*/ 67 w 129"/>
                <a:gd name="T9" fmla="*/ 99 h 133"/>
                <a:gd name="T10" fmla="*/ 25 w 129"/>
                <a:gd name="T11" fmla="*/ 115 h 133"/>
                <a:gd name="T12" fmla="*/ 8 w 129"/>
                <a:gd name="T13" fmla="*/ 108 h 133"/>
                <a:gd name="T14" fmla="*/ 8 w 129"/>
                <a:gd name="T15" fmla="*/ 107 h 133"/>
                <a:gd name="T16" fmla="*/ 8 w 129"/>
                <a:gd name="T17" fmla="*/ 92 h 133"/>
                <a:gd name="T18" fmla="*/ 60 w 129"/>
                <a:gd name="T19" fmla="*/ 80 h 133"/>
                <a:gd name="T20" fmla="*/ 75 w 129"/>
                <a:gd name="T21" fmla="*/ 72 h 133"/>
                <a:gd name="T22" fmla="*/ 77 w 129"/>
                <a:gd name="T23" fmla="*/ 14 h 133"/>
                <a:gd name="T24" fmla="*/ 99 w 129"/>
                <a:gd name="T25" fmla="*/ 16 h 133"/>
                <a:gd name="T26" fmla="*/ 103 w 129"/>
                <a:gd name="T27" fmla="*/ 21 h 133"/>
                <a:gd name="T28" fmla="*/ 104 w 129"/>
                <a:gd name="T29" fmla="*/ 21 h 133"/>
                <a:gd name="T30" fmla="*/ 103 w 129"/>
                <a:gd name="T31" fmla="*/ 35 h 133"/>
                <a:gd name="T32" fmla="*/ 98 w 129"/>
                <a:gd name="T33" fmla="*/ 65 h 133"/>
                <a:gd name="T34" fmla="*/ 126 w 129"/>
                <a:gd name="T35" fmla="*/ 54 h 133"/>
                <a:gd name="T36" fmla="*/ 123 w 129"/>
                <a:gd name="T37" fmla="*/ 69 h 133"/>
                <a:gd name="T38" fmla="*/ 95 w 129"/>
                <a:gd name="T39" fmla="*/ 81 h 133"/>
                <a:gd name="T40" fmla="*/ 82 w 129"/>
                <a:gd name="T41" fmla="*/ 111 h 133"/>
                <a:gd name="T42" fmla="*/ 75 w 129"/>
                <a:gd name="T43" fmla="*/ 118 h 133"/>
                <a:gd name="T44" fmla="*/ 56 w 129"/>
                <a:gd name="T45" fmla="*/ 128 h 133"/>
                <a:gd name="T46" fmla="*/ 33 w 129"/>
                <a:gd name="T47" fmla="*/ 13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9" h="133">
                  <a:moveTo>
                    <a:pt x="33" y="133"/>
                  </a:moveTo>
                  <a:cubicBezTo>
                    <a:pt x="33" y="133"/>
                    <a:pt x="33" y="133"/>
                    <a:pt x="32" y="133"/>
                  </a:cubicBezTo>
                  <a:cubicBezTo>
                    <a:pt x="32" y="132"/>
                    <a:pt x="32" y="131"/>
                    <a:pt x="33" y="130"/>
                  </a:cubicBezTo>
                  <a:cubicBezTo>
                    <a:pt x="35" y="130"/>
                    <a:pt x="55" y="117"/>
                    <a:pt x="55" y="116"/>
                  </a:cubicBezTo>
                  <a:cubicBezTo>
                    <a:pt x="60" y="111"/>
                    <a:pt x="66" y="106"/>
                    <a:pt x="67" y="99"/>
                  </a:cubicBezTo>
                  <a:cubicBezTo>
                    <a:pt x="53" y="104"/>
                    <a:pt x="40" y="114"/>
                    <a:pt x="25" y="115"/>
                  </a:cubicBezTo>
                  <a:cubicBezTo>
                    <a:pt x="18" y="113"/>
                    <a:pt x="13" y="110"/>
                    <a:pt x="8" y="108"/>
                  </a:cubicBezTo>
                  <a:cubicBezTo>
                    <a:pt x="8" y="107"/>
                    <a:pt x="8" y="107"/>
                    <a:pt x="8" y="107"/>
                  </a:cubicBezTo>
                  <a:cubicBezTo>
                    <a:pt x="1" y="102"/>
                    <a:pt x="0" y="95"/>
                    <a:pt x="8" y="92"/>
                  </a:cubicBezTo>
                  <a:cubicBezTo>
                    <a:pt x="23" y="96"/>
                    <a:pt x="46" y="85"/>
                    <a:pt x="60" y="80"/>
                  </a:cubicBezTo>
                  <a:cubicBezTo>
                    <a:pt x="63" y="78"/>
                    <a:pt x="72" y="75"/>
                    <a:pt x="75" y="72"/>
                  </a:cubicBezTo>
                  <a:cubicBezTo>
                    <a:pt x="78" y="52"/>
                    <a:pt x="76" y="33"/>
                    <a:pt x="77" y="14"/>
                  </a:cubicBezTo>
                  <a:cubicBezTo>
                    <a:pt x="82" y="0"/>
                    <a:pt x="90" y="10"/>
                    <a:pt x="99" y="16"/>
                  </a:cubicBezTo>
                  <a:cubicBezTo>
                    <a:pt x="99" y="18"/>
                    <a:pt x="101" y="19"/>
                    <a:pt x="103" y="21"/>
                  </a:cubicBezTo>
                  <a:cubicBezTo>
                    <a:pt x="103" y="21"/>
                    <a:pt x="103" y="21"/>
                    <a:pt x="104" y="21"/>
                  </a:cubicBezTo>
                  <a:cubicBezTo>
                    <a:pt x="107" y="27"/>
                    <a:pt x="108" y="30"/>
                    <a:pt x="103" y="35"/>
                  </a:cubicBezTo>
                  <a:cubicBezTo>
                    <a:pt x="99" y="44"/>
                    <a:pt x="97" y="54"/>
                    <a:pt x="98" y="65"/>
                  </a:cubicBezTo>
                  <a:cubicBezTo>
                    <a:pt x="108" y="63"/>
                    <a:pt x="114" y="55"/>
                    <a:pt x="126" y="54"/>
                  </a:cubicBezTo>
                  <a:cubicBezTo>
                    <a:pt x="129" y="60"/>
                    <a:pt x="128" y="65"/>
                    <a:pt x="123" y="69"/>
                  </a:cubicBezTo>
                  <a:cubicBezTo>
                    <a:pt x="114" y="73"/>
                    <a:pt x="105" y="77"/>
                    <a:pt x="95" y="81"/>
                  </a:cubicBezTo>
                  <a:cubicBezTo>
                    <a:pt x="93" y="91"/>
                    <a:pt x="89" y="103"/>
                    <a:pt x="82" y="111"/>
                  </a:cubicBezTo>
                  <a:cubicBezTo>
                    <a:pt x="81" y="113"/>
                    <a:pt x="76" y="117"/>
                    <a:pt x="75" y="118"/>
                  </a:cubicBezTo>
                  <a:cubicBezTo>
                    <a:pt x="69" y="122"/>
                    <a:pt x="63" y="126"/>
                    <a:pt x="56" y="128"/>
                  </a:cubicBezTo>
                  <a:cubicBezTo>
                    <a:pt x="37" y="133"/>
                    <a:pt x="37" y="133"/>
                    <a:pt x="33" y="133"/>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79" name="Freeform 77">
              <a:extLst>
                <a:ext uri="{FF2B5EF4-FFF2-40B4-BE49-F238E27FC236}">
                  <a16:creationId xmlns:a16="http://schemas.microsoft.com/office/drawing/2014/main" id="{D7316549-5B7A-42CD-A2F5-1A7CAB944CE5}"/>
                </a:ext>
              </a:extLst>
            </p:cNvPr>
            <p:cNvSpPr>
              <a:spLocks/>
            </p:cNvSpPr>
            <p:nvPr userDrawn="1"/>
          </p:nvSpPr>
          <p:spPr bwMode="auto">
            <a:xfrm>
              <a:off x="1630" y="796"/>
              <a:ext cx="94" cy="110"/>
            </a:xfrm>
            <a:custGeom>
              <a:avLst/>
              <a:gdLst>
                <a:gd name="T0" fmla="*/ 17 w 76"/>
                <a:gd name="T1" fmla="*/ 88 h 88"/>
                <a:gd name="T2" fmla="*/ 0 w 76"/>
                <a:gd name="T3" fmla="*/ 70 h 88"/>
                <a:gd name="T4" fmla="*/ 2 w 76"/>
                <a:gd name="T5" fmla="*/ 65 h 88"/>
                <a:gd name="T6" fmla="*/ 50 w 76"/>
                <a:gd name="T7" fmla="*/ 26 h 88"/>
                <a:gd name="T8" fmla="*/ 65 w 76"/>
                <a:gd name="T9" fmla="*/ 5 h 88"/>
                <a:gd name="T10" fmla="*/ 66 w 76"/>
                <a:gd name="T11" fmla="*/ 4 h 88"/>
                <a:gd name="T12" fmla="*/ 66 w 76"/>
                <a:gd name="T13" fmla="*/ 4 h 88"/>
                <a:gd name="T14" fmla="*/ 76 w 76"/>
                <a:gd name="T15" fmla="*/ 5 h 88"/>
                <a:gd name="T16" fmla="*/ 65 w 76"/>
                <a:gd name="T17" fmla="*/ 19 h 88"/>
                <a:gd name="T18" fmla="*/ 54 w 76"/>
                <a:gd name="T19" fmla="*/ 43 h 88"/>
                <a:gd name="T20" fmla="*/ 48 w 76"/>
                <a:gd name="T21" fmla="*/ 54 h 88"/>
                <a:gd name="T22" fmla="*/ 35 w 76"/>
                <a:gd name="T23" fmla="*/ 72 h 88"/>
                <a:gd name="T24" fmla="*/ 21 w 76"/>
                <a:gd name="T25" fmla="*/ 87 h 88"/>
                <a:gd name="T26" fmla="*/ 17 w 76"/>
                <a:gd name="T27"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 h="88">
                  <a:moveTo>
                    <a:pt x="17" y="88"/>
                  </a:moveTo>
                  <a:cubicBezTo>
                    <a:pt x="10" y="84"/>
                    <a:pt x="3" y="76"/>
                    <a:pt x="0" y="70"/>
                  </a:cubicBezTo>
                  <a:cubicBezTo>
                    <a:pt x="0" y="69"/>
                    <a:pt x="1" y="67"/>
                    <a:pt x="2" y="65"/>
                  </a:cubicBezTo>
                  <a:cubicBezTo>
                    <a:pt x="18" y="52"/>
                    <a:pt x="35" y="41"/>
                    <a:pt x="50" y="26"/>
                  </a:cubicBezTo>
                  <a:cubicBezTo>
                    <a:pt x="54" y="19"/>
                    <a:pt x="60" y="12"/>
                    <a:pt x="65" y="5"/>
                  </a:cubicBezTo>
                  <a:cubicBezTo>
                    <a:pt x="65" y="5"/>
                    <a:pt x="66" y="5"/>
                    <a:pt x="66" y="4"/>
                  </a:cubicBezTo>
                  <a:cubicBezTo>
                    <a:pt x="66" y="4"/>
                    <a:pt x="66" y="4"/>
                    <a:pt x="66" y="4"/>
                  </a:cubicBezTo>
                  <a:cubicBezTo>
                    <a:pt x="70" y="0"/>
                    <a:pt x="72" y="0"/>
                    <a:pt x="76" y="5"/>
                  </a:cubicBezTo>
                  <a:cubicBezTo>
                    <a:pt x="76" y="10"/>
                    <a:pt x="68" y="14"/>
                    <a:pt x="65" y="19"/>
                  </a:cubicBezTo>
                  <a:cubicBezTo>
                    <a:pt x="62" y="27"/>
                    <a:pt x="58" y="35"/>
                    <a:pt x="54" y="43"/>
                  </a:cubicBezTo>
                  <a:cubicBezTo>
                    <a:pt x="53" y="45"/>
                    <a:pt x="53" y="45"/>
                    <a:pt x="48" y="54"/>
                  </a:cubicBezTo>
                  <a:cubicBezTo>
                    <a:pt x="43" y="57"/>
                    <a:pt x="37" y="66"/>
                    <a:pt x="35" y="72"/>
                  </a:cubicBezTo>
                  <a:cubicBezTo>
                    <a:pt x="29" y="75"/>
                    <a:pt x="27" y="84"/>
                    <a:pt x="21" y="87"/>
                  </a:cubicBezTo>
                  <a:cubicBezTo>
                    <a:pt x="19" y="87"/>
                    <a:pt x="18" y="87"/>
                    <a:pt x="17" y="88"/>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80" name="Freeform 78">
              <a:extLst>
                <a:ext uri="{FF2B5EF4-FFF2-40B4-BE49-F238E27FC236}">
                  <a16:creationId xmlns:a16="http://schemas.microsoft.com/office/drawing/2014/main" id="{D31D834B-6C6E-48D6-9D85-A0D19A33D7DD}"/>
                </a:ext>
              </a:extLst>
            </p:cNvPr>
            <p:cNvSpPr>
              <a:spLocks/>
            </p:cNvSpPr>
            <p:nvPr userDrawn="1"/>
          </p:nvSpPr>
          <p:spPr bwMode="auto">
            <a:xfrm>
              <a:off x="1749" y="791"/>
              <a:ext cx="53" cy="41"/>
            </a:xfrm>
            <a:custGeom>
              <a:avLst/>
              <a:gdLst>
                <a:gd name="T0" fmla="*/ 19 w 43"/>
                <a:gd name="T1" fmla="*/ 33 h 33"/>
                <a:gd name="T2" fmla="*/ 0 w 43"/>
                <a:gd name="T3" fmla="*/ 20 h 33"/>
                <a:gd name="T4" fmla="*/ 2 w 43"/>
                <a:gd name="T5" fmla="*/ 14 h 33"/>
                <a:gd name="T6" fmla="*/ 6 w 43"/>
                <a:gd name="T7" fmla="*/ 13 h 33"/>
                <a:gd name="T8" fmla="*/ 17 w 43"/>
                <a:gd name="T9" fmla="*/ 12 h 33"/>
                <a:gd name="T10" fmla="*/ 43 w 43"/>
                <a:gd name="T11" fmla="*/ 5 h 33"/>
                <a:gd name="T12" fmla="*/ 19 w 43"/>
                <a:gd name="T13" fmla="*/ 33 h 33"/>
              </a:gdLst>
              <a:ahLst/>
              <a:cxnLst>
                <a:cxn ang="0">
                  <a:pos x="T0" y="T1"/>
                </a:cxn>
                <a:cxn ang="0">
                  <a:pos x="T2" y="T3"/>
                </a:cxn>
                <a:cxn ang="0">
                  <a:pos x="T4" y="T5"/>
                </a:cxn>
                <a:cxn ang="0">
                  <a:pos x="T6" y="T7"/>
                </a:cxn>
                <a:cxn ang="0">
                  <a:pos x="T8" y="T9"/>
                </a:cxn>
                <a:cxn ang="0">
                  <a:pos x="T10" y="T11"/>
                </a:cxn>
                <a:cxn ang="0">
                  <a:pos x="T12" y="T13"/>
                </a:cxn>
              </a:cxnLst>
              <a:rect l="0" t="0" r="r" b="b"/>
              <a:pathLst>
                <a:path w="43" h="33">
                  <a:moveTo>
                    <a:pt x="19" y="33"/>
                  </a:moveTo>
                  <a:cubicBezTo>
                    <a:pt x="9" y="33"/>
                    <a:pt x="6" y="26"/>
                    <a:pt x="0" y="20"/>
                  </a:cubicBezTo>
                  <a:cubicBezTo>
                    <a:pt x="0" y="18"/>
                    <a:pt x="2" y="16"/>
                    <a:pt x="2" y="14"/>
                  </a:cubicBezTo>
                  <a:cubicBezTo>
                    <a:pt x="4" y="14"/>
                    <a:pt x="4" y="14"/>
                    <a:pt x="6" y="13"/>
                  </a:cubicBezTo>
                  <a:cubicBezTo>
                    <a:pt x="10" y="12"/>
                    <a:pt x="12" y="12"/>
                    <a:pt x="17" y="12"/>
                  </a:cubicBezTo>
                  <a:cubicBezTo>
                    <a:pt x="22" y="11"/>
                    <a:pt x="38" y="0"/>
                    <a:pt x="43" y="5"/>
                  </a:cubicBezTo>
                  <a:cubicBezTo>
                    <a:pt x="43" y="17"/>
                    <a:pt x="30" y="30"/>
                    <a:pt x="19" y="33"/>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81" name="Freeform 79">
              <a:extLst>
                <a:ext uri="{FF2B5EF4-FFF2-40B4-BE49-F238E27FC236}">
                  <a16:creationId xmlns:a16="http://schemas.microsoft.com/office/drawing/2014/main" id="{B3FEA7DB-A0E4-4F94-8534-D3E08B6CA1AF}"/>
                </a:ext>
              </a:extLst>
            </p:cNvPr>
            <p:cNvSpPr>
              <a:spLocks/>
            </p:cNvSpPr>
            <p:nvPr userDrawn="1"/>
          </p:nvSpPr>
          <p:spPr bwMode="auto">
            <a:xfrm>
              <a:off x="1668" y="766"/>
              <a:ext cx="36" cy="42"/>
            </a:xfrm>
            <a:custGeom>
              <a:avLst/>
              <a:gdLst>
                <a:gd name="T0" fmla="*/ 5 w 29"/>
                <a:gd name="T1" fmla="*/ 34 h 34"/>
                <a:gd name="T2" fmla="*/ 0 w 29"/>
                <a:gd name="T3" fmla="*/ 9 h 34"/>
                <a:gd name="T4" fmla="*/ 19 w 29"/>
                <a:gd name="T5" fmla="*/ 6 h 34"/>
                <a:gd name="T6" fmla="*/ 23 w 29"/>
                <a:gd name="T7" fmla="*/ 26 h 34"/>
                <a:gd name="T8" fmla="*/ 5 w 29"/>
                <a:gd name="T9" fmla="*/ 34 h 34"/>
              </a:gdLst>
              <a:ahLst/>
              <a:cxnLst>
                <a:cxn ang="0">
                  <a:pos x="T0" y="T1"/>
                </a:cxn>
                <a:cxn ang="0">
                  <a:pos x="T2" y="T3"/>
                </a:cxn>
                <a:cxn ang="0">
                  <a:pos x="T4" y="T5"/>
                </a:cxn>
                <a:cxn ang="0">
                  <a:pos x="T6" y="T7"/>
                </a:cxn>
                <a:cxn ang="0">
                  <a:pos x="T8" y="T9"/>
                </a:cxn>
              </a:cxnLst>
              <a:rect l="0" t="0" r="r" b="b"/>
              <a:pathLst>
                <a:path w="29" h="34">
                  <a:moveTo>
                    <a:pt x="5" y="34"/>
                  </a:moveTo>
                  <a:cubicBezTo>
                    <a:pt x="1" y="30"/>
                    <a:pt x="0" y="14"/>
                    <a:pt x="0" y="9"/>
                  </a:cubicBezTo>
                  <a:cubicBezTo>
                    <a:pt x="3" y="0"/>
                    <a:pt x="12" y="0"/>
                    <a:pt x="19" y="6"/>
                  </a:cubicBezTo>
                  <a:cubicBezTo>
                    <a:pt x="25" y="14"/>
                    <a:pt x="29" y="17"/>
                    <a:pt x="23" y="26"/>
                  </a:cubicBezTo>
                  <a:cubicBezTo>
                    <a:pt x="16" y="32"/>
                    <a:pt x="13" y="32"/>
                    <a:pt x="5" y="34"/>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82" name="Freeform 80">
              <a:extLst>
                <a:ext uri="{FF2B5EF4-FFF2-40B4-BE49-F238E27FC236}">
                  <a16:creationId xmlns:a16="http://schemas.microsoft.com/office/drawing/2014/main" id="{07E66D22-E488-4214-9457-D6E59D1064F6}"/>
                </a:ext>
              </a:extLst>
            </p:cNvPr>
            <p:cNvSpPr>
              <a:spLocks/>
            </p:cNvSpPr>
            <p:nvPr userDrawn="1"/>
          </p:nvSpPr>
          <p:spPr bwMode="auto">
            <a:xfrm>
              <a:off x="1748" y="739"/>
              <a:ext cx="63" cy="60"/>
            </a:xfrm>
            <a:custGeom>
              <a:avLst/>
              <a:gdLst>
                <a:gd name="T0" fmla="*/ 17 w 51"/>
                <a:gd name="T1" fmla="*/ 48 h 48"/>
                <a:gd name="T2" fmla="*/ 21 w 51"/>
                <a:gd name="T3" fmla="*/ 30 h 48"/>
                <a:gd name="T4" fmla="*/ 13 w 51"/>
                <a:gd name="T5" fmla="*/ 32 h 48"/>
                <a:gd name="T6" fmla="*/ 3 w 51"/>
                <a:gd name="T7" fmla="*/ 15 h 48"/>
                <a:gd name="T8" fmla="*/ 13 w 51"/>
                <a:gd name="T9" fmla="*/ 11 h 48"/>
                <a:gd name="T10" fmla="*/ 33 w 51"/>
                <a:gd name="T11" fmla="*/ 2 h 48"/>
                <a:gd name="T12" fmla="*/ 51 w 51"/>
                <a:gd name="T13" fmla="*/ 18 h 48"/>
                <a:gd name="T14" fmla="*/ 39 w 51"/>
                <a:gd name="T15" fmla="*/ 36 h 48"/>
                <a:gd name="T16" fmla="*/ 22 w 51"/>
                <a:gd name="T17" fmla="*/ 47 h 48"/>
                <a:gd name="T18" fmla="*/ 17 w 51"/>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 h="48">
                  <a:moveTo>
                    <a:pt x="17" y="48"/>
                  </a:moveTo>
                  <a:cubicBezTo>
                    <a:pt x="16" y="43"/>
                    <a:pt x="23" y="33"/>
                    <a:pt x="21" y="30"/>
                  </a:cubicBezTo>
                  <a:cubicBezTo>
                    <a:pt x="18" y="31"/>
                    <a:pt x="16" y="32"/>
                    <a:pt x="13" y="32"/>
                  </a:cubicBezTo>
                  <a:cubicBezTo>
                    <a:pt x="7" y="29"/>
                    <a:pt x="0" y="21"/>
                    <a:pt x="3" y="15"/>
                  </a:cubicBezTo>
                  <a:cubicBezTo>
                    <a:pt x="7" y="10"/>
                    <a:pt x="6" y="12"/>
                    <a:pt x="13" y="11"/>
                  </a:cubicBezTo>
                  <a:cubicBezTo>
                    <a:pt x="19" y="8"/>
                    <a:pt x="26" y="5"/>
                    <a:pt x="33" y="2"/>
                  </a:cubicBezTo>
                  <a:cubicBezTo>
                    <a:pt x="45" y="0"/>
                    <a:pt x="50" y="6"/>
                    <a:pt x="51" y="18"/>
                  </a:cubicBezTo>
                  <a:cubicBezTo>
                    <a:pt x="49" y="25"/>
                    <a:pt x="44" y="31"/>
                    <a:pt x="39" y="36"/>
                  </a:cubicBezTo>
                  <a:cubicBezTo>
                    <a:pt x="33" y="40"/>
                    <a:pt x="27" y="44"/>
                    <a:pt x="22" y="47"/>
                  </a:cubicBezTo>
                  <a:cubicBezTo>
                    <a:pt x="20" y="47"/>
                    <a:pt x="19" y="48"/>
                    <a:pt x="17" y="48"/>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83" name="Freeform 81">
              <a:extLst>
                <a:ext uri="{FF2B5EF4-FFF2-40B4-BE49-F238E27FC236}">
                  <a16:creationId xmlns:a16="http://schemas.microsoft.com/office/drawing/2014/main" id="{906B859D-6B39-4F90-936E-AD59A8DC6EE1}"/>
                </a:ext>
              </a:extLst>
            </p:cNvPr>
            <p:cNvSpPr>
              <a:spLocks/>
            </p:cNvSpPr>
            <p:nvPr userDrawn="1"/>
          </p:nvSpPr>
          <p:spPr bwMode="auto">
            <a:xfrm>
              <a:off x="1687" y="715"/>
              <a:ext cx="38" cy="42"/>
            </a:xfrm>
            <a:custGeom>
              <a:avLst/>
              <a:gdLst>
                <a:gd name="T0" fmla="*/ 3 w 31"/>
                <a:gd name="T1" fmla="*/ 34 h 34"/>
                <a:gd name="T2" fmla="*/ 3 w 31"/>
                <a:gd name="T3" fmla="*/ 29 h 34"/>
                <a:gd name="T4" fmla="*/ 0 w 31"/>
                <a:gd name="T5" fmla="*/ 16 h 34"/>
                <a:gd name="T6" fmla="*/ 7 w 31"/>
                <a:gd name="T7" fmla="*/ 0 h 34"/>
                <a:gd name="T8" fmla="*/ 26 w 31"/>
                <a:gd name="T9" fmla="*/ 23 h 34"/>
                <a:gd name="T10" fmla="*/ 3 w 31"/>
                <a:gd name="T11" fmla="*/ 34 h 34"/>
              </a:gdLst>
              <a:ahLst/>
              <a:cxnLst>
                <a:cxn ang="0">
                  <a:pos x="T0" y="T1"/>
                </a:cxn>
                <a:cxn ang="0">
                  <a:pos x="T2" y="T3"/>
                </a:cxn>
                <a:cxn ang="0">
                  <a:pos x="T4" y="T5"/>
                </a:cxn>
                <a:cxn ang="0">
                  <a:pos x="T6" y="T7"/>
                </a:cxn>
                <a:cxn ang="0">
                  <a:pos x="T8" y="T9"/>
                </a:cxn>
                <a:cxn ang="0">
                  <a:pos x="T10" y="T11"/>
                </a:cxn>
              </a:cxnLst>
              <a:rect l="0" t="0" r="r" b="b"/>
              <a:pathLst>
                <a:path w="31" h="34">
                  <a:moveTo>
                    <a:pt x="3" y="34"/>
                  </a:moveTo>
                  <a:cubicBezTo>
                    <a:pt x="1" y="32"/>
                    <a:pt x="2" y="31"/>
                    <a:pt x="3" y="29"/>
                  </a:cubicBezTo>
                  <a:cubicBezTo>
                    <a:pt x="3" y="24"/>
                    <a:pt x="0" y="20"/>
                    <a:pt x="0" y="16"/>
                  </a:cubicBezTo>
                  <a:cubicBezTo>
                    <a:pt x="1" y="7"/>
                    <a:pt x="0" y="4"/>
                    <a:pt x="7" y="0"/>
                  </a:cubicBezTo>
                  <a:cubicBezTo>
                    <a:pt x="12" y="3"/>
                    <a:pt x="31" y="12"/>
                    <a:pt x="26" y="23"/>
                  </a:cubicBezTo>
                  <a:cubicBezTo>
                    <a:pt x="21" y="29"/>
                    <a:pt x="11" y="33"/>
                    <a:pt x="3" y="34"/>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84" name="Freeform 82">
              <a:extLst>
                <a:ext uri="{FF2B5EF4-FFF2-40B4-BE49-F238E27FC236}">
                  <a16:creationId xmlns:a16="http://schemas.microsoft.com/office/drawing/2014/main" id="{9E5CDC41-94AD-4D99-A4AF-AAD69D30A910}"/>
                </a:ext>
              </a:extLst>
            </p:cNvPr>
            <p:cNvSpPr>
              <a:spLocks/>
            </p:cNvSpPr>
            <p:nvPr userDrawn="1"/>
          </p:nvSpPr>
          <p:spPr bwMode="auto">
            <a:xfrm>
              <a:off x="1365" y="728"/>
              <a:ext cx="244" cy="186"/>
            </a:xfrm>
            <a:custGeom>
              <a:avLst/>
              <a:gdLst>
                <a:gd name="T0" fmla="*/ 20 w 197"/>
                <a:gd name="T1" fmla="*/ 150 h 150"/>
                <a:gd name="T2" fmla="*/ 13 w 197"/>
                <a:gd name="T3" fmla="*/ 119 h 150"/>
                <a:gd name="T4" fmla="*/ 17 w 197"/>
                <a:gd name="T5" fmla="*/ 114 h 150"/>
                <a:gd name="T6" fmla="*/ 17 w 197"/>
                <a:gd name="T7" fmla="*/ 113 h 150"/>
                <a:gd name="T8" fmla="*/ 44 w 197"/>
                <a:gd name="T9" fmla="*/ 77 h 150"/>
                <a:gd name="T10" fmla="*/ 52 w 197"/>
                <a:gd name="T11" fmla="*/ 67 h 150"/>
                <a:gd name="T12" fmla="*/ 53 w 197"/>
                <a:gd name="T13" fmla="*/ 78 h 150"/>
                <a:gd name="T14" fmla="*/ 60 w 197"/>
                <a:gd name="T15" fmla="*/ 77 h 150"/>
                <a:gd name="T16" fmla="*/ 85 w 197"/>
                <a:gd name="T17" fmla="*/ 58 h 150"/>
                <a:gd name="T18" fmla="*/ 87 w 197"/>
                <a:gd name="T19" fmla="*/ 48 h 150"/>
                <a:gd name="T20" fmla="*/ 68 w 197"/>
                <a:gd name="T21" fmla="*/ 44 h 150"/>
                <a:gd name="T22" fmla="*/ 88 w 197"/>
                <a:gd name="T23" fmla="*/ 29 h 150"/>
                <a:gd name="T24" fmla="*/ 92 w 197"/>
                <a:gd name="T25" fmla="*/ 9 h 150"/>
                <a:gd name="T26" fmla="*/ 109 w 197"/>
                <a:gd name="T27" fmla="*/ 22 h 150"/>
                <a:gd name="T28" fmla="*/ 110 w 197"/>
                <a:gd name="T29" fmla="*/ 37 h 150"/>
                <a:gd name="T30" fmla="*/ 108 w 197"/>
                <a:gd name="T31" fmla="*/ 46 h 150"/>
                <a:gd name="T32" fmla="*/ 111 w 197"/>
                <a:gd name="T33" fmla="*/ 46 h 150"/>
                <a:gd name="T34" fmla="*/ 131 w 197"/>
                <a:gd name="T35" fmla="*/ 32 h 150"/>
                <a:gd name="T36" fmla="*/ 140 w 197"/>
                <a:gd name="T37" fmla="*/ 5 h 150"/>
                <a:gd name="T38" fmla="*/ 163 w 197"/>
                <a:gd name="T39" fmla="*/ 11 h 150"/>
                <a:gd name="T40" fmla="*/ 176 w 197"/>
                <a:gd name="T41" fmla="*/ 5 h 150"/>
                <a:gd name="T42" fmla="*/ 182 w 197"/>
                <a:gd name="T43" fmla="*/ 4 h 150"/>
                <a:gd name="T44" fmla="*/ 184 w 197"/>
                <a:gd name="T45" fmla="*/ 13 h 150"/>
                <a:gd name="T46" fmla="*/ 157 w 197"/>
                <a:gd name="T47" fmla="*/ 39 h 150"/>
                <a:gd name="T48" fmla="*/ 166 w 197"/>
                <a:gd name="T49" fmla="*/ 29 h 150"/>
                <a:gd name="T50" fmla="*/ 190 w 197"/>
                <a:gd name="T51" fmla="*/ 34 h 150"/>
                <a:gd name="T52" fmla="*/ 184 w 197"/>
                <a:gd name="T53" fmla="*/ 50 h 150"/>
                <a:gd name="T54" fmla="*/ 182 w 197"/>
                <a:gd name="T55" fmla="*/ 54 h 150"/>
                <a:gd name="T56" fmla="*/ 182 w 197"/>
                <a:gd name="T57" fmla="*/ 93 h 150"/>
                <a:gd name="T58" fmla="*/ 173 w 197"/>
                <a:gd name="T59" fmla="*/ 107 h 150"/>
                <a:gd name="T60" fmla="*/ 173 w 197"/>
                <a:gd name="T61" fmla="*/ 107 h 150"/>
                <a:gd name="T62" fmla="*/ 172 w 197"/>
                <a:gd name="T63" fmla="*/ 107 h 150"/>
                <a:gd name="T64" fmla="*/ 158 w 197"/>
                <a:gd name="T65" fmla="*/ 113 h 150"/>
                <a:gd name="T66" fmla="*/ 158 w 197"/>
                <a:gd name="T67" fmla="*/ 58 h 150"/>
                <a:gd name="T68" fmla="*/ 157 w 197"/>
                <a:gd name="T69" fmla="*/ 58 h 150"/>
                <a:gd name="T70" fmla="*/ 139 w 197"/>
                <a:gd name="T71" fmla="*/ 89 h 150"/>
                <a:gd name="T72" fmla="*/ 124 w 197"/>
                <a:gd name="T73" fmla="*/ 80 h 150"/>
                <a:gd name="T74" fmla="*/ 128 w 197"/>
                <a:gd name="T75" fmla="*/ 76 h 150"/>
                <a:gd name="T76" fmla="*/ 130 w 197"/>
                <a:gd name="T77" fmla="*/ 45 h 150"/>
                <a:gd name="T78" fmla="*/ 111 w 197"/>
                <a:gd name="T79" fmla="*/ 64 h 150"/>
                <a:gd name="T80" fmla="*/ 102 w 197"/>
                <a:gd name="T81" fmla="*/ 70 h 150"/>
                <a:gd name="T82" fmla="*/ 97 w 197"/>
                <a:gd name="T83" fmla="*/ 91 h 150"/>
                <a:gd name="T84" fmla="*/ 92 w 197"/>
                <a:gd name="T85" fmla="*/ 101 h 150"/>
                <a:gd name="T86" fmla="*/ 91 w 197"/>
                <a:gd name="T87" fmla="*/ 102 h 150"/>
                <a:gd name="T88" fmla="*/ 74 w 197"/>
                <a:gd name="T89" fmla="*/ 110 h 150"/>
                <a:gd name="T90" fmla="*/ 74 w 197"/>
                <a:gd name="T91" fmla="*/ 107 h 150"/>
                <a:gd name="T92" fmla="*/ 82 w 197"/>
                <a:gd name="T93" fmla="*/ 85 h 150"/>
                <a:gd name="T94" fmla="*/ 63 w 197"/>
                <a:gd name="T95" fmla="*/ 94 h 150"/>
                <a:gd name="T96" fmla="*/ 53 w 197"/>
                <a:gd name="T97" fmla="*/ 91 h 150"/>
                <a:gd name="T98" fmla="*/ 52 w 197"/>
                <a:gd name="T99" fmla="*/ 90 h 150"/>
                <a:gd name="T100" fmla="*/ 48 w 197"/>
                <a:gd name="T101" fmla="*/ 88 h 150"/>
                <a:gd name="T102" fmla="*/ 44 w 197"/>
                <a:gd name="T103" fmla="*/ 100 h 150"/>
                <a:gd name="T104" fmla="*/ 27 w 197"/>
                <a:gd name="T105" fmla="*/ 147 h 150"/>
                <a:gd name="T106" fmla="*/ 20 w 197"/>
                <a:gd name="T107"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7" h="150">
                  <a:moveTo>
                    <a:pt x="20" y="150"/>
                  </a:moveTo>
                  <a:cubicBezTo>
                    <a:pt x="9" y="146"/>
                    <a:pt x="0" y="124"/>
                    <a:pt x="13" y="119"/>
                  </a:cubicBezTo>
                  <a:cubicBezTo>
                    <a:pt x="13" y="117"/>
                    <a:pt x="15" y="115"/>
                    <a:pt x="17" y="114"/>
                  </a:cubicBezTo>
                  <a:cubicBezTo>
                    <a:pt x="17" y="114"/>
                    <a:pt x="17" y="113"/>
                    <a:pt x="17" y="113"/>
                  </a:cubicBezTo>
                  <a:cubicBezTo>
                    <a:pt x="27" y="103"/>
                    <a:pt x="35" y="88"/>
                    <a:pt x="44" y="77"/>
                  </a:cubicBezTo>
                  <a:cubicBezTo>
                    <a:pt x="46" y="72"/>
                    <a:pt x="47" y="68"/>
                    <a:pt x="52" y="67"/>
                  </a:cubicBezTo>
                  <a:cubicBezTo>
                    <a:pt x="55" y="69"/>
                    <a:pt x="54" y="74"/>
                    <a:pt x="53" y="78"/>
                  </a:cubicBezTo>
                  <a:cubicBezTo>
                    <a:pt x="54" y="79"/>
                    <a:pt x="58" y="78"/>
                    <a:pt x="60" y="77"/>
                  </a:cubicBezTo>
                  <a:cubicBezTo>
                    <a:pt x="68" y="71"/>
                    <a:pt x="78" y="65"/>
                    <a:pt x="85" y="58"/>
                  </a:cubicBezTo>
                  <a:cubicBezTo>
                    <a:pt x="86" y="55"/>
                    <a:pt x="86" y="52"/>
                    <a:pt x="87" y="48"/>
                  </a:cubicBezTo>
                  <a:cubicBezTo>
                    <a:pt x="81" y="50"/>
                    <a:pt x="64" y="54"/>
                    <a:pt x="68" y="44"/>
                  </a:cubicBezTo>
                  <a:cubicBezTo>
                    <a:pt x="75" y="41"/>
                    <a:pt x="84" y="36"/>
                    <a:pt x="88" y="29"/>
                  </a:cubicBezTo>
                  <a:cubicBezTo>
                    <a:pt x="90" y="22"/>
                    <a:pt x="89" y="14"/>
                    <a:pt x="92" y="9"/>
                  </a:cubicBezTo>
                  <a:cubicBezTo>
                    <a:pt x="99" y="5"/>
                    <a:pt x="108" y="14"/>
                    <a:pt x="109" y="22"/>
                  </a:cubicBezTo>
                  <a:cubicBezTo>
                    <a:pt x="112" y="27"/>
                    <a:pt x="121" y="21"/>
                    <a:pt x="110" y="37"/>
                  </a:cubicBezTo>
                  <a:cubicBezTo>
                    <a:pt x="108" y="39"/>
                    <a:pt x="108" y="42"/>
                    <a:pt x="108" y="46"/>
                  </a:cubicBezTo>
                  <a:cubicBezTo>
                    <a:pt x="109" y="46"/>
                    <a:pt x="110" y="46"/>
                    <a:pt x="111" y="46"/>
                  </a:cubicBezTo>
                  <a:cubicBezTo>
                    <a:pt x="117" y="41"/>
                    <a:pt x="124" y="36"/>
                    <a:pt x="131" y="32"/>
                  </a:cubicBezTo>
                  <a:cubicBezTo>
                    <a:pt x="133" y="22"/>
                    <a:pt x="135" y="14"/>
                    <a:pt x="140" y="5"/>
                  </a:cubicBezTo>
                  <a:cubicBezTo>
                    <a:pt x="147" y="0"/>
                    <a:pt x="156" y="5"/>
                    <a:pt x="163" y="11"/>
                  </a:cubicBezTo>
                  <a:cubicBezTo>
                    <a:pt x="168" y="11"/>
                    <a:pt x="172" y="8"/>
                    <a:pt x="176" y="5"/>
                  </a:cubicBezTo>
                  <a:cubicBezTo>
                    <a:pt x="178" y="4"/>
                    <a:pt x="178" y="4"/>
                    <a:pt x="182" y="4"/>
                  </a:cubicBezTo>
                  <a:cubicBezTo>
                    <a:pt x="183" y="7"/>
                    <a:pt x="184" y="9"/>
                    <a:pt x="184" y="13"/>
                  </a:cubicBezTo>
                  <a:cubicBezTo>
                    <a:pt x="181" y="24"/>
                    <a:pt x="151" y="27"/>
                    <a:pt x="157" y="39"/>
                  </a:cubicBezTo>
                  <a:cubicBezTo>
                    <a:pt x="162" y="39"/>
                    <a:pt x="164" y="33"/>
                    <a:pt x="166" y="29"/>
                  </a:cubicBezTo>
                  <a:cubicBezTo>
                    <a:pt x="171" y="26"/>
                    <a:pt x="184" y="30"/>
                    <a:pt x="190" y="34"/>
                  </a:cubicBezTo>
                  <a:cubicBezTo>
                    <a:pt x="197" y="42"/>
                    <a:pt x="192" y="45"/>
                    <a:pt x="184" y="50"/>
                  </a:cubicBezTo>
                  <a:cubicBezTo>
                    <a:pt x="183" y="52"/>
                    <a:pt x="183" y="53"/>
                    <a:pt x="182" y="54"/>
                  </a:cubicBezTo>
                  <a:cubicBezTo>
                    <a:pt x="181" y="70"/>
                    <a:pt x="181" y="70"/>
                    <a:pt x="182" y="93"/>
                  </a:cubicBezTo>
                  <a:cubicBezTo>
                    <a:pt x="179" y="99"/>
                    <a:pt x="177" y="102"/>
                    <a:pt x="173" y="107"/>
                  </a:cubicBezTo>
                  <a:cubicBezTo>
                    <a:pt x="173" y="107"/>
                    <a:pt x="173" y="107"/>
                    <a:pt x="173" y="107"/>
                  </a:cubicBezTo>
                  <a:cubicBezTo>
                    <a:pt x="172" y="107"/>
                    <a:pt x="172" y="107"/>
                    <a:pt x="172" y="107"/>
                  </a:cubicBezTo>
                  <a:cubicBezTo>
                    <a:pt x="169" y="112"/>
                    <a:pt x="162" y="117"/>
                    <a:pt x="158" y="113"/>
                  </a:cubicBezTo>
                  <a:cubicBezTo>
                    <a:pt x="158" y="94"/>
                    <a:pt x="159" y="75"/>
                    <a:pt x="158" y="58"/>
                  </a:cubicBezTo>
                  <a:cubicBezTo>
                    <a:pt x="158" y="58"/>
                    <a:pt x="157" y="58"/>
                    <a:pt x="157" y="58"/>
                  </a:cubicBezTo>
                  <a:cubicBezTo>
                    <a:pt x="156" y="67"/>
                    <a:pt x="147" y="84"/>
                    <a:pt x="139" y="89"/>
                  </a:cubicBezTo>
                  <a:cubicBezTo>
                    <a:pt x="132" y="90"/>
                    <a:pt x="126" y="86"/>
                    <a:pt x="124" y="80"/>
                  </a:cubicBezTo>
                  <a:cubicBezTo>
                    <a:pt x="125" y="78"/>
                    <a:pt x="126" y="77"/>
                    <a:pt x="128" y="76"/>
                  </a:cubicBezTo>
                  <a:cubicBezTo>
                    <a:pt x="132" y="68"/>
                    <a:pt x="130" y="53"/>
                    <a:pt x="130" y="45"/>
                  </a:cubicBezTo>
                  <a:cubicBezTo>
                    <a:pt x="125" y="46"/>
                    <a:pt x="115" y="59"/>
                    <a:pt x="111" y="64"/>
                  </a:cubicBezTo>
                  <a:cubicBezTo>
                    <a:pt x="108" y="66"/>
                    <a:pt x="105" y="68"/>
                    <a:pt x="102" y="70"/>
                  </a:cubicBezTo>
                  <a:cubicBezTo>
                    <a:pt x="100" y="77"/>
                    <a:pt x="98" y="84"/>
                    <a:pt x="97" y="91"/>
                  </a:cubicBezTo>
                  <a:cubicBezTo>
                    <a:pt x="95" y="95"/>
                    <a:pt x="93" y="98"/>
                    <a:pt x="92" y="101"/>
                  </a:cubicBezTo>
                  <a:cubicBezTo>
                    <a:pt x="91" y="101"/>
                    <a:pt x="91" y="101"/>
                    <a:pt x="91" y="102"/>
                  </a:cubicBezTo>
                  <a:cubicBezTo>
                    <a:pt x="88" y="106"/>
                    <a:pt x="80" y="118"/>
                    <a:pt x="74" y="110"/>
                  </a:cubicBezTo>
                  <a:cubicBezTo>
                    <a:pt x="74" y="109"/>
                    <a:pt x="74" y="108"/>
                    <a:pt x="74" y="107"/>
                  </a:cubicBezTo>
                  <a:cubicBezTo>
                    <a:pt x="79" y="101"/>
                    <a:pt x="82" y="92"/>
                    <a:pt x="82" y="85"/>
                  </a:cubicBezTo>
                  <a:cubicBezTo>
                    <a:pt x="75" y="87"/>
                    <a:pt x="70" y="94"/>
                    <a:pt x="63" y="94"/>
                  </a:cubicBezTo>
                  <a:cubicBezTo>
                    <a:pt x="59" y="93"/>
                    <a:pt x="55" y="92"/>
                    <a:pt x="53" y="91"/>
                  </a:cubicBezTo>
                  <a:cubicBezTo>
                    <a:pt x="53" y="90"/>
                    <a:pt x="53" y="90"/>
                    <a:pt x="52" y="90"/>
                  </a:cubicBezTo>
                  <a:cubicBezTo>
                    <a:pt x="51" y="89"/>
                    <a:pt x="49" y="87"/>
                    <a:pt x="48" y="88"/>
                  </a:cubicBezTo>
                  <a:cubicBezTo>
                    <a:pt x="47" y="91"/>
                    <a:pt x="45" y="96"/>
                    <a:pt x="44" y="100"/>
                  </a:cubicBezTo>
                  <a:cubicBezTo>
                    <a:pt x="37" y="115"/>
                    <a:pt x="32" y="130"/>
                    <a:pt x="27" y="147"/>
                  </a:cubicBezTo>
                  <a:cubicBezTo>
                    <a:pt x="24" y="149"/>
                    <a:pt x="23" y="150"/>
                    <a:pt x="20" y="150"/>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85" name="Freeform 83">
              <a:extLst>
                <a:ext uri="{FF2B5EF4-FFF2-40B4-BE49-F238E27FC236}">
                  <a16:creationId xmlns:a16="http://schemas.microsoft.com/office/drawing/2014/main" id="{CD0AAE36-9DBE-490B-BD59-F61A2AED45D9}"/>
                </a:ext>
              </a:extLst>
            </p:cNvPr>
            <p:cNvSpPr>
              <a:spLocks/>
            </p:cNvSpPr>
            <p:nvPr userDrawn="1"/>
          </p:nvSpPr>
          <p:spPr bwMode="auto">
            <a:xfrm>
              <a:off x="1401" y="757"/>
              <a:ext cx="37" cy="49"/>
            </a:xfrm>
            <a:custGeom>
              <a:avLst/>
              <a:gdLst>
                <a:gd name="T0" fmla="*/ 5 w 30"/>
                <a:gd name="T1" fmla="*/ 39 h 39"/>
                <a:gd name="T2" fmla="*/ 6 w 30"/>
                <a:gd name="T3" fmla="*/ 28 h 39"/>
                <a:gd name="T4" fmla="*/ 6 w 30"/>
                <a:gd name="T5" fmla="*/ 1 h 39"/>
                <a:gd name="T6" fmla="*/ 10 w 30"/>
                <a:gd name="T7" fmla="*/ 0 h 39"/>
                <a:gd name="T8" fmla="*/ 25 w 30"/>
                <a:gd name="T9" fmla="*/ 17 h 39"/>
                <a:gd name="T10" fmla="*/ 5 w 30"/>
                <a:gd name="T11" fmla="*/ 39 h 39"/>
              </a:gdLst>
              <a:ahLst/>
              <a:cxnLst>
                <a:cxn ang="0">
                  <a:pos x="T0" y="T1"/>
                </a:cxn>
                <a:cxn ang="0">
                  <a:pos x="T2" y="T3"/>
                </a:cxn>
                <a:cxn ang="0">
                  <a:pos x="T4" y="T5"/>
                </a:cxn>
                <a:cxn ang="0">
                  <a:pos x="T6" y="T7"/>
                </a:cxn>
                <a:cxn ang="0">
                  <a:pos x="T8" y="T9"/>
                </a:cxn>
                <a:cxn ang="0">
                  <a:pos x="T10" y="T11"/>
                </a:cxn>
              </a:cxnLst>
              <a:rect l="0" t="0" r="r" b="b"/>
              <a:pathLst>
                <a:path w="30" h="39">
                  <a:moveTo>
                    <a:pt x="5" y="39"/>
                  </a:moveTo>
                  <a:cubicBezTo>
                    <a:pt x="3" y="35"/>
                    <a:pt x="6" y="31"/>
                    <a:pt x="6" y="28"/>
                  </a:cubicBezTo>
                  <a:cubicBezTo>
                    <a:pt x="3" y="17"/>
                    <a:pt x="0" y="9"/>
                    <a:pt x="6" y="1"/>
                  </a:cubicBezTo>
                  <a:cubicBezTo>
                    <a:pt x="7" y="0"/>
                    <a:pt x="9" y="0"/>
                    <a:pt x="10" y="0"/>
                  </a:cubicBezTo>
                  <a:cubicBezTo>
                    <a:pt x="14" y="4"/>
                    <a:pt x="21" y="11"/>
                    <a:pt x="25" y="17"/>
                  </a:cubicBezTo>
                  <a:cubicBezTo>
                    <a:pt x="30" y="29"/>
                    <a:pt x="14" y="35"/>
                    <a:pt x="5" y="39"/>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86" name="Freeform 84">
              <a:extLst>
                <a:ext uri="{FF2B5EF4-FFF2-40B4-BE49-F238E27FC236}">
                  <a16:creationId xmlns:a16="http://schemas.microsoft.com/office/drawing/2014/main" id="{707372F4-6AC9-4216-9F31-8EA84034705F}"/>
                </a:ext>
              </a:extLst>
            </p:cNvPr>
            <p:cNvSpPr>
              <a:spLocks/>
            </p:cNvSpPr>
            <p:nvPr userDrawn="1"/>
          </p:nvSpPr>
          <p:spPr bwMode="auto">
            <a:xfrm>
              <a:off x="1411" y="708"/>
              <a:ext cx="46" cy="47"/>
            </a:xfrm>
            <a:custGeom>
              <a:avLst/>
              <a:gdLst>
                <a:gd name="T0" fmla="*/ 7 w 37"/>
                <a:gd name="T1" fmla="*/ 38 h 38"/>
                <a:gd name="T2" fmla="*/ 4 w 37"/>
                <a:gd name="T3" fmla="*/ 36 h 38"/>
                <a:gd name="T4" fmla="*/ 6 w 37"/>
                <a:gd name="T5" fmla="*/ 29 h 38"/>
                <a:gd name="T6" fmla="*/ 11 w 37"/>
                <a:gd name="T7" fmla="*/ 0 h 38"/>
                <a:gd name="T8" fmla="*/ 16 w 37"/>
                <a:gd name="T9" fmla="*/ 7 h 38"/>
                <a:gd name="T10" fmla="*/ 24 w 37"/>
                <a:gd name="T11" fmla="*/ 32 h 38"/>
                <a:gd name="T12" fmla="*/ 7 w 37"/>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37" h="38">
                  <a:moveTo>
                    <a:pt x="7" y="38"/>
                  </a:moveTo>
                  <a:cubicBezTo>
                    <a:pt x="5" y="37"/>
                    <a:pt x="5" y="37"/>
                    <a:pt x="4" y="36"/>
                  </a:cubicBezTo>
                  <a:cubicBezTo>
                    <a:pt x="6" y="33"/>
                    <a:pt x="7" y="32"/>
                    <a:pt x="6" y="29"/>
                  </a:cubicBezTo>
                  <a:cubicBezTo>
                    <a:pt x="0" y="20"/>
                    <a:pt x="0" y="5"/>
                    <a:pt x="11" y="0"/>
                  </a:cubicBezTo>
                  <a:cubicBezTo>
                    <a:pt x="14" y="0"/>
                    <a:pt x="15" y="3"/>
                    <a:pt x="16" y="7"/>
                  </a:cubicBezTo>
                  <a:cubicBezTo>
                    <a:pt x="23" y="14"/>
                    <a:pt x="37" y="23"/>
                    <a:pt x="24" y="32"/>
                  </a:cubicBezTo>
                  <a:cubicBezTo>
                    <a:pt x="18" y="35"/>
                    <a:pt x="13" y="36"/>
                    <a:pt x="7" y="38"/>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87" name="Freeform 85">
              <a:extLst>
                <a:ext uri="{FF2B5EF4-FFF2-40B4-BE49-F238E27FC236}">
                  <a16:creationId xmlns:a16="http://schemas.microsoft.com/office/drawing/2014/main" id="{51ED8FEB-4EE3-41A1-AD91-FEE41E02420B}"/>
                </a:ext>
              </a:extLst>
            </p:cNvPr>
            <p:cNvSpPr>
              <a:spLocks/>
            </p:cNvSpPr>
            <p:nvPr userDrawn="1"/>
          </p:nvSpPr>
          <p:spPr bwMode="auto">
            <a:xfrm>
              <a:off x="2067" y="765"/>
              <a:ext cx="26" cy="39"/>
            </a:xfrm>
            <a:custGeom>
              <a:avLst/>
              <a:gdLst>
                <a:gd name="T0" fmla="*/ 10 w 21"/>
                <a:gd name="T1" fmla="*/ 31 h 31"/>
                <a:gd name="T2" fmla="*/ 3 w 21"/>
                <a:gd name="T3" fmla="*/ 4 h 31"/>
                <a:gd name="T4" fmla="*/ 21 w 21"/>
                <a:gd name="T5" fmla="*/ 18 h 31"/>
                <a:gd name="T6" fmla="*/ 10 w 21"/>
                <a:gd name="T7" fmla="*/ 31 h 31"/>
              </a:gdLst>
              <a:ahLst/>
              <a:cxnLst>
                <a:cxn ang="0">
                  <a:pos x="T0" y="T1"/>
                </a:cxn>
                <a:cxn ang="0">
                  <a:pos x="T2" y="T3"/>
                </a:cxn>
                <a:cxn ang="0">
                  <a:pos x="T4" y="T5"/>
                </a:cxn>
                <a:cxn ang="0">
                  <a:pos x="T6" y="T7"/>
                </a:cxn>
              </a:cxnLst>
              <a:rect l="0" t="0" r="r" b="b"/>
              <a:pathLst>
                <a:path w="21" h="31">
                  <a:moveTo>
                    <a:pt x="10" y="31"/>
                  </a:moveTo>
                  <a:cubicBezTo>
                    <a:pt x="0" y="27"/>
                    <a:pt x="2" y="11"/>
                    <a:pt x="3" y="4"/>
                  </a:cubicBezTo>
                  <a:cubicBezTo>
                    <a:pt x="11" y="0"/>
                    <a:pt x="20" y="9"/>
                    <a:pt x="21" y="18"/>
                  </a:cubicBezTo>
                  <a:cubicBezTo>
                    <a:pt x="19" y="27"/>
                    <a:pt x="19" y="29"/>
                    <a:pt x="10" y="31"/>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88" name="Freeform 86">
              <a:extLst>
                <a:ext uri="{FF2B5EF4-FFF2-40B4-BE49-F238E27FC236}">
                  <a16:creationId xmlns:a16="http://schemas.microsoft.com/office/drawing/2014/main" id="{4244F7A9-8DC7-4B7B-A505-47B451E60CCA}"/>
                </a:ext>
              </a:extLst>
            </p:cNvPr>
            <p:cNvSpPr>
              <a:spLocks noEditPoints="1"/>
            </p:cNvSpPr>
            <p:nvPr userDrawn="1"/>
          </p:nvSpPr>
          <p:spPr bwMode="auto">
            <a:xfrm>
              <a:off x="2057" y="673"/>
              <a:ext cx="166" cy="224"/>
            </a:xfrm>
            <a:custGeom>
              <a:avLst/>
              <a:gdLst>
                <a:gd name="T0" fmla="*/ 71 w 134"/>
                <a:gd name="T1" fmla="*/ 180 h 180"/>
                <a:gd name="T2" fmla="*/ 34 w 134"/>
                <a:gd name="T3" fmla="*/ 173 h 180"/>
                <a:gd name="T4" fmla="*/ 56 w 134"/>
                <a:gd name="T5" fmla="*/ 148 h 180"/>
                <a:gd name="T6" fmla="*/ 0 w 134"/>
                <a:gd name="T7" fmla="*/ 147 h 180"/>
                <a:gd name="T8" fmla="*/ 56 w 134"/>
                <a:gd name="T9" fmla="*/ 124 h 180"/>
                <a:gd name="T10" fmla="*/ 75 w 134"/>
                <a:gd name="T11" fmla="*/ 108 h 180"/>
                <a:gd name="T12" fmla="*/ 91 w 134"/>
                <a:gd name="T13" fmla="*/ 96 h 180"/>
                <a:gd name="T14" fmla="*/ 32 w 134"/>
                <a:gd name="T15" fmla="*/ 119 h 180"/>
                <a:gd name="T16" fmla="*/ 34 w 134"/>
                <a:gd name="T17" fmla="*/ 108 h 180"/>
                <a:gd name="T18" fmla="*/ 73 w 134"/>
                <a:gd name="T19" fmla="*/ 81 h 180"/>
                <a:gd name="T20" fmla="*/ 71 w 134"/>
                <a:gd name="T21" fmla="*/ 78 h 180"/>
                <a:gd name="T22" fmla="*/ 39 w 134"/>
                <a:gd name="T23" fmla="*/ 93 h 180"/>
                <a:gd name="T24" fmla="*/ 27 w 134"/>
                <a:gd name="T25" fmla="*/ 61 h 180"/>
                <a:gd name="T26" fmla="*/ 33 w 134"/>
                <a:gd name="T27" fmla="*/ 44 h 180"/>
                <a:gd name="T28" fmla="*/ 46 w 134"/>
                <a:gd name="T29" fmla="*/ 56 h 180"/>
                <a:gd name="T30" fmla="*/ 60 w 134"/>
                <a:gd name="T31" fmla="*/ 66 h 180"/>
                <a:gd name="T32" fmla="*/ 68 w 134"/>
                <a:gd name="T33" fmla="*/ 55 h 180"/>
                <a:gd name="T34" fmla="*/ 64 w 134"/>
                <a:gd name="T35" fmla="*/ 45 h 180"/>
                <a:gd name="T36" fmla="*/ 84 w 134"/>
                <a:gd name="T37" fmla="*/ 25 h 180"/>
                <a:gd name="T38" fmla="*/ 111 w 134"/>
                <a:gd name="T39" fmla="*/ 20 h 180"/>
                <a:gd name="T40" fmla="*/ 110 w 134"/>
                <a:gd name="T41" fmla="*/ 29 h 180"/>
                <a:gd name="T42" fmla="*/ 132 w 134"/>
                <a:gd name="T43" fmla="*/ 44 h 180"/>
                <a:gd name="T44" fmla="*/ 115 w 134"/>
                <a:gd name="T45" fmla="*/ 77 h 180"/>
                <a:gd name="T46" fmla="*/ 120 w 134"/>
                <a:gd name="T47" fmla="*/ 94 h 180"/>
                <a:gd name="T48" fmla="*/ 78 w 134"/>
                <a:gd name="T49" fmla="*/ 114 h 180"/>
                <a:gd name="T50" fmla="*/ 92 w 134"/>
                <a:gd name="T51" fmla="*/ 119 h 180"/>
                <a:gd name="T52" fmla="*/ 81 w 134"/>
                <a:gd name="T53" fmla="*/ 140 h 180"/>
                <a:gd name="T54" fmla="*/ 72 w 134"/>
                <a:gd name="T55" fmla="*/ 180 h 180"/>
                <a:gd name="T56" fmla="*/ 106 w 134"/>
                <a:gd name="T57" fmla="*/ 53 h 180"/>
                <a:gd name="T58" fmla="*/ 87 w 134"/>
                <a:gd name="T59" fmla="*/ 59 h 180"/>
                <a:gd name="T60" fmla="*/ 87 w 134"/>
                <a:gd name="T61" fmla="*/ 60 h 180"/>
                <a:gd name="T62" fmla="*/ 92 w 134"/>
                <a:gd name="T63" fmla="*/ 58 h 180"/>
                <a:gd name="T64" fmla="*/ 99 w 134"/>
                <a:gd name="T65" fmla="*/ 67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4" h="180">
                  <a:moveTo>
                    <a:pt x="72" y="180"/>
                  </a:moveTo>
                  <a:cubicBezTo>
                    <a:pt x="71" y="180"/>
                    <a:pt x="71" y="180"/>
                    <a:pt x="71" y="180"/>
                  </a:cubicBezTo>
                  <a:cubicBezTo>
                    <a:pt x="58" y="180"/>
                    <a:pt x="46" y="179"/>
                    <a:pt x="34" y="175"/>
                  </a:cubicBezTo>
                  <a:cubicBezTo>
                    <a:pt x="34" y="174"/>
                    <a:pt x="34" y="174"/>
                    <a:pt x="34" y="173"/>
                  </a:cubicBezTo>
                  <a:cubicBezTo>
                    <a:pt x="41" y="169"/>
                    <a:pt x="50" y="170"/>
                    <a:pt x="55" y="163"/>
                  </a:cubicBezTo>
                  <a:cubicBezTo>
                    <a:pt x="56" y="157"/>
                    <a:pt x="57" y="152"/>
                    <a:pt x="56" y="148"/>
                  </a:cubicBezTo>
                  <a:cubicBezTo>
                    <a:pt x="43" y="148"/>
                    <a:pt x="37" y="157"/>
                    <a:pt x="27" y="161"/>
                  </a:cubicBezTo>
                  <a:cubicBezTo>
                    <a:pt x="18" y="162"/>
                    <a:pt x="3" y="154"/>
                    <a:pt x="0" y="147"/>
                  </a:cubicBezTo>
                  <a:cubicBezTo>
                    <a:pt x="0" y="136"/>
                    <a:pt x="3" y="141"/>
                    <a:pt x="14" y="140"/>
                  </a:cubicBezTo>
                  <a:cubicBezTo>
                    <a:pt x="28" y="138"/>
                    <a:pt x="43" y="130"/>
                    <a:pt x="56" y="124"/>
                  </a:cubicBezTo>
                  <a:cubicBezTo>
                    <a:pt x="59" y="121"/>
                    <a:pt x="59" y="121"/>
                    <a:pt x="61" y="121"/>
                  </a:cubicBezTo>
                  <a:cubicBezTo>
                    <a:pt x="64" y="112"/>
                    <a:pt x="66" y="110"/>
                    <a:pt x="75" y="108"/>
                  </a:cubicBezTo>
                  <a:cubicBezTo>
                    <a:pt x="79" y="106"/>
                    <a:pt x="79" y="106"/>
                    <a:pt x="90" y="100"/>
                  </a:cubicBezTo>
                  <a:cubicBezTo>
                    <a:pt x="90" y="99"/>
                    <a:pt x="91" y="98"/>
                    <a:pt x="91" y="96"/>
                  </a:cubicBezTo>
                  <a:cubicBezTo>
                    <a:pt x="74" y="98"/>
                    <a:pt x="61" y="112"/>
                    <a:pt x="48" y="121"/>
                  </a:cubicBezTo>
                  <a:cubicBezTo>
                    <a:pt x="41" y="122"/>
                    <a:pt x="36" y="121"/>
                    <a:pt x="32" y="119"/>
                  </a:cubicBezTo>
                  <a:cubicBezTo>
                    <a:pt x="29" y="120"/>
                    <a:pt x="12" y="123"/>
                    <a:pt x="20" y="116"/>
                  </a:cubicBezTo>
                  <a:cubicBezTo>
                    <a:pt x="25" y="114"/>
                    <a:pt x="29" y="111"/>
                    <a:pt x="34" y="108"/>
                  </a:cubicBezTo>
                  <a:cubicBezTo>
                    <a:pt x="47" y="100"/>
                    <a:pt x="61" y="93"/>
                    <a:pt x="74" y="85"/>
                  </a:cubicBezTo>
                  <a:cubicBezTo>
                    <a:pt x="74" y="83"/>
                    <a:pt x="73" y="82"/>
                    <a:pt x="73" y="81"/>
                  </a:cubicBezTo>
                  <a:cubicBezTo>
                    <a:pt x="73" y="79"/>
                    <a:pt x="74" y="77"/>
                    <a:pt x="74" y="75"/>
                  </a:cubicBezTo>
                  <a:cubicBezTo>
                    <a:pt x="72" y="76"/>
                    <a:pt x="71" y="76"/>
                    <a:pt x="71" y="78"/>
                  </a:cubicBezTo>
                  <a:cubicBezTo>
                    <a:pt x="63" y="81"/>
                    <a:pt x="59" y="88"/>
                    <a:pt x="53" y="81"/>
                  </a:cubicBezTo>
                  <a:cubicBezTo>
                    <a:pt x="51" y="88"/>
                    <a:pt x="46" y="93"/>
                    <a:pt x="39" y="93"/>
                  </a:cubicBezTo>
                  <a:cubicBezTo>
                    <a:pt x="32" y="89"/>
                    <a:pt x="32" y="77"/>
                    <a:pt x="31" y="72"/>
                  </a:cubicBezTo>
                  <a:cubicBezTo>
                    <a:pt x="30" y="71"/>
                    <a:pt x="29" y="67"/>
                    <a:pt x="27" y="61"/>
                  </a:cubicBezTo>
                  <a:cubicBezTo>
                    <a:pt x="24" y="55"/>
                    <a:pt x="18" y="47"/>
                    <a:pt x="22" y="42"/>
                  </a:cubicBezTo>
                  <a:cubicBezTo>
                    <a:pt x="27" y="38"/>
                    <a:pt x="29" y="37"/>
                    <a:pt x="33" y="44"/>
                  </a:cubicBezTo>
                  <a:cubicBezTo>
                    <a:pt x="37" y="47"/>
                    <a:pt x="42" y="51"/>
                    <a:pt x="45" y="56"/>
                  </a:cubicBezTo>
                  <a:cubicBezTo>
                    <a:pt x="45" y="56"/>
                    <a:pt x="46" y="56"/>
                    <a:pt x="46" y="56"/>
                  </a:cubicBezTo>
                  <a:cubicBezTo>
                    <a:pt x="48" y="62"/>
                    <a:pt x="54" y="69"/>
                    <a:pt x="53" y="77"/>
                  </a:cubicBezTo>
                  <a:cubicBezTo>
                    <a:pt x="57" y="75"/>
                    <a:pt x="62" y="71"/>
                    <a:pt x="60" y="66"/>
                  </a:cubicBezTo>
                  <a:cubicBezTo>
                    <a:pt x="53" y="63"/>
                    <a:pt x="57" y="57"/>
                    <a:pt x="61" y="55"/>
                  </a:cubicBezTo>
                  <a:cubicBezTo>
                    <a:pt x="64" y="55"/>
                    <a:pt x="64" y="55"/>
                    <a:pt x="68" y="55"/>
                  </a:cubicBezTo>
                  <a:cubicBezTo>
                    <a:pt x="68" y="53"/>
                    <a:pt x="68" y="53"/>
                    <a:pt x="67" y="52"/>
                  </a:cubicBezTo>
                  <a:cubicBezTo>
                    <a:pt x="62" y="50"/>
                    <a:pt x="63" y="49"/>
                    <a:pt x="64" y="45"/>
                  </a:cubicBezTo>
                  <a:cubicBezTo>
                    <a:pt x="58" y="43"/>
                    <a:pt x="56" y="37"/>
                    <a:pt x="58" y="32"/>
                  </a:cubicBezTo>
                  <a:cubicBezTo>
                    <a:pt x="76" y="28"/>
                    <a:pt x="76" y="28"/>
                    <a:pt x="84" y="25"/>
                  </a:cubicBezTo>
                  <a:cubicBezTo>
                    <a:pt x="89" y="19"/>
                    <a:pt x="95" y="0"/>
                    <a:pt x="106" y="4"/>
                  </a:cubicBezTo>
                  <a:cubicBezTo>
                    <a:pt x="109" y="7"/>
                    <a:pt x="111" y="14"/>
                    <a:pt x="111" y="20"/>
                  </a:cubicBezTo>
                  <a:cubicBezTo>
                    <a:pt x="109" y="23"/>
                    <a:pt x="107" y="25"/>
                    <a:pt x="107" y="28"/>
                  </a:cubicBezTo>
                  <a:cubicBezTo>
                    <a:pt x="108" y="28"/>
                    <a:pt x="109" y="28"/>
                    <a:pt x="110" y="29"/>
                  </a:cubicBezTo>
                  <a:cubicBezTo>
                    <a:pt x="117" y="25"/>
                    <a:pt x="121" y="21"/>
                    <a:pt x="125" y="31"/>
                  </a:cubicBezTo>
                  <a:cubicBezTo>
                    <a:pt x="132" y="35"/>
                    <a:pt x="134" y="34"/>
                    <a:pt x="132" y="44"/>
                  </a:cubicBezTo>
                  <a:cubicBezTo>
                    <a:pt x="127" y="55"/>
                    <a:pt x="121" y="66"/>
                    <a:pt x="115" y="76"/>
                  </a:cubicBezTo>
                  <a:cubicBezTo>
                    <a:pt x="115" y="76"/>
                    <a:pt x="115" y="77"/>
                    <a:pt x="115" y="77"/>
                  </a:cubicBezTo>
                  <a:cubicBezTo>
                    <a:pt x="117" y="77"/>
                    <a:pt x="118" y="78"/>
                    <a:pt x="119" y="78"/>
                  </a:cubicBezTo>
                  <a:cubicBezTo>
                    <a:pt x="120" y="83"/>
                    <a:pt x="120" y="88"/>
                    <a:pt x="120" y="94"/>
                  </a:cubicBezTo>
                  <a:cubicBezTo>
                    <a:pt x="116" y="100"/>
                    <a:pt x="110" y="100"/>
                    <a:pt x="103" y="101"/>
                  </a:cubicBezTo>
                  <a:cubicBezTo>
                    <a:pt x="94" y="106"/>
                    <a:pt x="86" y="109"/>
                    <a:pt x="78" y="114"/>
                  </a:cubicBezTo>
                  <a:cubicBezTo>
                    <a:pt x="78" y="116"/>
                    <a:pt x="78" y="118"/>
                    <a:pt x="79" y="120"/>
                  </a:cubicBezTo>
                  <a:cubicBezTo>
                    <a:pt x="83" y="120"/>
                    <a:pt x="87" y="120"/>
                    <a:pt x="92" y="119"/>
                  </a:cubicBezTo>
                  <a:cubicBezTo>
                    <a:pt x="96" y="123"/>
                    <a:pt x="96" y="131"/>
                    <a:pt x="93" y="136"/>
                  </a:cubicBezTo>
                  <a:cubicBezTo>
                    <a:pt x="88" y="137"/>
                    <a:pt x="85" y="138"/>
                    <a:pt x="81" y="140"/>
                  </a:cubicBezTo>
                  <a:cubicBezTo>
                    <a:pt x="81" y="142"/>
                    <a:pt x="81" y="144"/>
                    <a:pt x="80" y="147"/>
                  </a:cubicBezTo>
                  <a:cubicBezTo>
                    <a:pt x="81" y="156"/>
                    <a:pt x="85" y="178"/>
                    <a:pt x="72" y="180"/>
                  </a:cubicBezTo>
                  <a:moveTo>
                    <a:pt x="99" y="67"/>
                  </a:moveTo>
                  <a:cubicBezTo>
                    <a:pt x="103" y="63"/>
                    <a:pt x="106" y="58"/>
                    <a:pt x="106" y="53"/>
                  </a:cubicBezTo>
                  <a:cubicBezTo>
                    <a:pt x="102" y="49"/>
                    <a:pt x="96" y="49"/>
                    <a:pt x="92" y="49"/>
                  </a:cubicBezTo>
                  <a:cubicBezTo>
                    <a:pt x="92" y="51"/>
                    <a:pt x="92" y="51"/>
                    <a:pt x="87" y="59"/>
                  </a:cubicBezTo>
                  <a:cubicBezTo>
                    <a:pt x="88" y="59"/>
                    <a:pt x="88" y="59"/>
                    <a:pt x="89" y="59"/>
                  </a:cubicBezTo>
                  <a:cubicBezTo>
                    <a:pt x="88" y="60"/>
                    <a:pt x="88" y="60"/>
                    <a:pt x="87" y="60"/>
                  </a:cubicBezTo>
                  <a:cubicBezTo>
                    <a:pt x="87" y="60"/>
                    <a:pt x="88" y="60"/>
                    <a:pt x="88" y="61"/>
                  </a:cubicBezTo>
                  <a:cubicBezTo>
                    <a:pt x="90" y="61"/>
                    <a:pt x="91" y="59"/>
                    <a:pt x="92" y="58"/>
                  </a:cubicBezTo>
                  <a:cubicBezTo>
                    <a:pt x="98" y="57"/>
                    <a:pt x="98" y="59"/>
                    <a:pt x="98" y="67"/>
                  </a:cubicBezTo>
                  <a:cubicBezTo>
                    <a:pt x="98" y="67"/>
                    <a:pt x="98" y="67"/>
                    <a:pt x="99" y="67"/>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89" name="Freeform 87">
              <a:extLst>
                <a:ext uri="{FF2B5EF4-FFF2-40B4-BE49-F238E27FC236}">
                  <a16:creationId xmlns:a16="http://schemas.microsoft.com/office/drawing/2014/main" id="{F2EC1E1E-4A75-461B-9D02-FBA8E8622D71}"/>
                </a:ext>
              </a:extLst>
            </p:cNvPr>
            <p:cNvSpPr>
              <a:spLocks/>
            </p:cNvSpPr>
            <p:nvPr userDrawn="1"/>
          </p:nvSpPr>
          <p:spPr bwMode="auto">
            <a:xfrm>
              <a:off x="1415" y="933"/>
              <a:ext cx="31" cy="40"/>
            </a:xfrm>
            <a:custGeom>
              <a:avLst/>
              <a:gdLst>
                <a:gd name="T0" fmla="*/ 0 w 31"/>
                <a:gd name="T1" fmla="*/ 35 h 40"/>
                <a:gd name="T2" fmla="*/ 24 w 31"/>
                <a:gd name="T3" fmla="*/ 5 h 40"/>
                <a:gd name="T4" fmla="*/ 2 w 31"/>
                <a:gd name="T5" fmla="*/ 5 h 40"/>
                <a:gd name="T6" fmla="*/ 2 w 31"/>
                <a:gd name="T7" fmla="*/ 3 h 40"/>
                <a:gd name="T8" fmla="*/ 2 w 31"/>
                <a:gd name="T9" fmla="*/ 0 h 40"/>
                <a:gd name="T10" fmla="*/ 31 w 31"/>
                <a:gd name="T11" fmla="*/ 0 h 40"/>
                <a:gd name="T12" fmla="*/ 31 w 31"/>
                <a:gd name="T13" fmla="*/ 3 h 40"/>
                <a:gd name="T14" fmla="*/ 31 w 31"/>
                <a:gd name="T15" fmla="*/ 5 h 40"/>
                <a:gd name="T16" fmla="*/ 6 w 31"/>
                <a:gd name="T17" fmla="*/ 35 h 40"/>
                <a:gd name="T18" fmla="*/ 31 w 31"/>
                <a:gd name="T19" fmla="*/ 35 h 40"/>
                <a:gd name="T20" fmla="*/ 31 w 31"/>
                <a:gd name="T21" fmla="*/ 37 h 40"/>
                <a:gd name="T22" fmla="*/ 31 w 31"/>
                <a:gd name="T23" fmla="*/ 40 h 40"/>
                <a:gd name="T24" fmla="*/ 0 w 31"/>
                <a:gd name="T25" fmla="*/ 40 h 40"/>
                <a:gd name="T26" fmla="*/ 0 w 31"/>
                <a:gd name="T27" fmla="*/ 37 h 40"/>
                <a:gd name="T28" fmla="*/ 0 w 31"/>
                <a:gd name="T29" fmla="*/ 3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0" y="35"/>
                  </a:moveTo>
                  <a:lnTo>
                    <a:pt x="24" y="5"/>
                  </a:lnTo>
                  <a:lnTo>
                    <a:pt x="2" y="5"/>
                  </a:lnTo>
                  <a:lnTo>
                    <a:pt x="2" y="3"/>
                  </a:lnTo>
                  <a:lnTo>
                    <a:pt x="2" y="0"/>
                  </a:lnTo>
                  <a:lnTo>
                    <a:pt x="31" y="0"/>
                  </a:lnTo>
                  <a:lnTo>
                    <a:pt x="31" y="3"/>
                  </a:lnTo>
                  <a:lnTo>
                    <a:pt x="31" y="5"/>
                  </a:lnTo>
                  <a:lnTo>
                    <a:pt x="6" y="35"/>
                  </a:lnTo>
                  <a:lnTo>
                    <a:pt x="31" y="35"/>
                  </a:lnTo>
                  <a:lnTo>
                    <a:pt x="31" y="37"/>
                  </a:lnTo>
                  <a:lnTo>
                    <a:pt x="31" y="40"/>
                  </a:lnTo>
                  <a:lnTo>
                    <a:pt x="0" y="40"/>
                  </a:lnTo>
                  <a:lnTo>
                    <a:pt x="0" y="37"/>
                  </a:lnTo>
                  <a:lnTo>
                    <a:pt x="0" y="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90" name="Freeform 88">
              <a:extLst>
                <a:ext uri="{FF2B5EF4-FFF2-40B4-BE49-F238E27FC236}">
                  <a16:creationId xmlns:a16="http://schemas.microsoft.com/office/drawing/2014/main" id="{DB7E826D-636D-40B7-857D-408BE8B4CF7E}"/>
                </a:ext>
              </a:extLst>
            </p:cNvPr>
            <p:cNvSpPr>
              <a:spLocks/>
            </p:cNvSpPr>
            <p:nvPr userDrawn="1"/>
          </p:nvSpPr>
          <p:spPr bwMode="auto">
            <a:xfrm>
              <a:off x="1458" y="933"/>
              <a:ext cx="31" cy="40"/>
            </a:xfrm>
            <a:custGeom>
              <a:avLst/>
              <a:gdLst>
                <a:gd name="T0" fmla="*/ 0 w 31"/>
                <a:gd name="T1" fmla="*/ 0 h 40"/>
                <a:gd name="T2" fmla="*/ 2 w 31"/>
                <a:gd name="T3" fmla="*/ 0 h 40"/>
                <a:gd name="T4" fmla="*/ 5 w 31"/>
                <a:gd name="T5" fmla="*/ 0 h 40"/>
                <a:gd name="T6" fmla="*/ 5 w 31"/>
                <a:gd name="T7" fmla="*/ 16 h 40"/>
                <a:gd name="T8" fmla="*/ 26 w 31"/>
                <a:gd name="T9" fmla="*/ 16 h 40"/>
                <a:gd name="T10" fmla="*/ 26 w 31"/>
                <a:gd name="T11" fmla="*/ 0 h 40"/>
                <a:gd name="T12" fmla="*/ 28 w 31"/>
                <a:gd name="T13" fmla="*/ 0 h 40"/>
                <a:gd name="T14" fmla="*/ 31 w 31"/>
                <a:gd name="T15" fmla="*/ 0 h 40"/>
                <a:gd name="T16" fmla="*/ 31 w 31"/>
                <a:gd name="T17" fmla="*/ 40 h 40"/>
                <a:gd name="T18" fmla="*/ 28 w 31"/>
                <a:gd name="T19" fmla="*/ 40 h 40"/>
                <a:gd name="T20" fmla="*/ 26 w 31"/>
                <a:gd name="T21" fmla="*/ 40 h 40"/>
                <a:gd name="T22" fmla="*/ 26 w 31"/>
                <a:gd name="T23" fmla="*/ 21 h 40"/>
                <a:gd name="T24" fmla="*/ 5 w 31"/>
                <a:gd name="T25" fmla="*/ 21 h 40"/>
                <a:gd name="T26" fmla="*/ 5 w 31"/>
                <a:gd name="T27" fmla="*/ 40 h 40"/>
                <a:gd name="T28" fmla="*/ 2 w 31"/>
                <a:gd name="T29" fmla="*/ 40 h 40"/>
                <a:gd name="T30" fmla="*/ 0 w 31"/>
                <a:gd name="T31" fmla="*/ 40 h 40"/>
                <a:gd name="T32" fmla="*/ 0 w 31"/>
                <a:gd name="T3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40">
                  <a:moveTo>
                    <a:pt x="0" y="0"/>
                  </a:moveTo>
                  <a:lnTo>
                    <a:pt x="2" y="0"/>
                  </a:lnTo>
                  <a:lnTo>
                    <a:pt x="5" y="0"/>
                  </a:lnTo>
                  <a:lnTo>
                    <a:pt x="5" y="16"/>
                  </a:lnTo>
                  <a:lnTo>
                    <a:pt x="26" y="16"/>
                  </a:lnTo>
                  <a:lnTo>
                    <a:pt x="26" y="0"/>
                  </a:lnTo>
                  <a:lnTo>
                    <a:pt x="28" y="0"/>
                  </a:lnTo>
                  <a:lnTo>
                    <a:pt x="31" y="0"/>
                  </a:lnTo>
                  <a:lnTo>
                    <a:pt x="31" y="40"/>
                  </a:lnTo>
                  <a:lnTo>
                    <a:pt x="28" y="40"/>
                  </a:lnTo>
                  <a:lnTo>
                    <a:pt x="26" y="40"/>
                  </a:lnTo>
                  <a:lnTo>
                    <a:pt x="26" y="21"/>
                  </a:lnTo>
                  <a:lnTo>
                    <a:pt x="5" y="21"/>
                  </a:lnTo>
                  <a:lnTo>
                    <a:pt x="5" y="40"/>
                  </a:lnTo>
                  <a:lnTo>
                    <a:pt x="2" y="40"/>
                  </a:lnTo>
                  <a:lnTo>
                    <a:pt x="0" y="40"/>
                  </a:lnTo>
                  <a:lnTo>
                    <a:pt x="0"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91" name="Freeform 89">
              <a:extLst>
                <a:ext uri="{FF2B5EF4-FFF2-40B4-BE49-F238E27FC236}">
                  <a16:creationId xmlns:a16="http://schemas.microsoft.com/office/drawing/2014/main" id="{4A2C7FF0-E099-4CB6-89FC-0C752C8A0EAA}"/>
                </a:ext>
              </a:extLst>
            </p:cNvPr>
            <p:cNvSpPr>
              <a:spLocks/>
            </p:cNvSpPr>
            <p:nvPr userDrawn="1"/>
          </p:nvSpPr>
          <p:spPr bwMode="auto">
            <a:xfrm>
              <a:off x="1503" y="933"/>
              <a:ext cx="29" cy="40"/>
            </a:xfrm>
            <a:custGeom>
              <a:avLst/>
              <a:gdLst>
                <a:gd name="T0" fmla="*/ 0 w 29"/>
                <a:gd name="T1" fmla="*/ 40 h 40"/>
                <a:gd name="T2" fmla="*/ 0 w 29"/>
                <a:gd name="T3" fmla="*/ 0 h 40"/>
                <a:gd name="T4" fmla="*/ 29 w 29"/>
                <a:gd name="T5" fmla="*/ 0 h 40"/>
                <a:gd name="T6" fmla="*/ 29 w 29"/>
                <a:gd name="T7" fmla="*/ 3 h 40"/>
                <a:gd name="T8" fmla="*/ 29 w 29"/>
                <a:gd name="T9" fmla="*/ 5 h 40"/>
                <a:gd name="T10" fmla="*/ 6 w 29"/>
                <a:gd name="T11" fmla="*/ 5 h 40"/>
                <a:gd name="T12" fmla="*/ 6 w 29"/>
                <a:gd name="T13" fmla="*/ 16 h 40"/>
                <a:gd name="T14" fmla="*/ 27 w 29"/>
                <a:gd name="T15" fmla="*/ 16 h 40"/>
                <a:gd name="T16" fmla="*/ 27 w 29"/>
                <a:gd name="T17" fmla="*/ 19 h 40"/>
                <a:gd name="T18" fmla="*/ 27 w 29"/>
                <a:gd name="T19" fmla="*/ 21 h 40"/>
                <a:gd name="T20" fmla="*/ 6 w 29"/>
                <a:gd name="T21" fmla="*/ 21 h 40"/>
                <a:gd name="T22" fmla="*/ 6 w 29"/>
                <a:gd name="T23" fmla="*/ 35 h 40"/>
                <a:gd name="T24" fmla="*/ 29 w 29"/>
                <a:gd name="T25" fmla="*/ 35 h 40"/>
                <a:gd name="T26" fmla="*/ 29 w 29"/>
                <a:gd name="T27" fmla="*/ 37 h 40"/>
                <a:gd name="T28" fmla="*/ 29 w 29"/>
                <a:gd name="T29" fmla="*/ 40 h 40"/>
                <a:gd name="T30" fmla="*/ 0 w 29"/>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 h="40">
                  <a:moveTo>
                    <a:pt x="0" y="40"/>
                  </a:moveTo>
                  <a:lnTo>
                    <a:pt x="0" y="0"/>
                  </a:lnTo>
                  <a:lnTo>
                    <a:pt x="29" y="0"/>
                  </a:lnTo>
                  <a:lnTo>
                    <a:pt x="29" y="3"/>
                  </a:lnTo>
                  <a:lnTo>
                    <a:pt x="29" y="5"/>
                  </a:lnTo>
                  <a:lnTo>
                    <a:pt x="6" y="5"/>
                  </a:lnTo>
                  <a:lnTo>
                    <a:pt x="6" y="16"/>
                  </a:lnTo>
                  <a:lnTo>
                    <a:pt x="27" y="16"/>
                  </a:lnTo>
                  <a:lnTo>
                    <a:pt x="27" y="19"/>
                  </a:lnTo>
                  <a:lnTo>
                    <a:pt x="27" y="21"/>
                  </a:lnTo>
                  <a:lnTo>
                    <a:pt x="6" y="21"/>
                  </a:lnTo>
                  <a:lnTo>
                    <a:pt x="6" y="35"/>
                  </a:lnTo>
                  <a:lnTo>
                    <a:pt x="29" y="35"/>
                  </a:lnTo>
                  <a:lnTo>
                    <a:pt x="29" y="37"/>
                  </a:lnTo>
                  <a:lnTo>
                    <a:pt x="29" y="40"/>
                  </a:lnTo>
                  <a:lnTo>
                    <a:pt x="0" y="4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92" name="Freeform 90">
              <a:extLst>
                <a:ext uri="{FF2B5EF4-FFF2-40B4-BE49-F238E27FC236}">
                  <a16:creationId xmlns:a16="http://schemas.microsoft.com/office/drawing/2014/main" id="{72A14B52-FCF5-439F-8F7A-307EB1FB6C08}"/>
                </a:ext>
              </a:extLst>
            </p:cNvPr>
            <p:cNvSpPr>
              <a:spLocks/>
            </p:cNvSpPr>
            <p:nvPr userDrawn="1"/>
          </p:nvSpPr>
          <p:spPr bwMode="auto">
            <a:xfrm>
              <a:off x="1542" y="933"/>
              <a:ext cx="22" cy="40"/>
            </a:xfrm>
            <a:custGeom>
              <a:avLst/>
              <a:gdLst>
                <a:gd name="T0" fmla="*/ 14 w 18"/>
                <a:gd name="T1" fmla="*/ 0 h 32"/>
                <a:gd name="T2" fmla="*/ 16 w 18"/>
                <a:gd name="T3" fmla="*/ 0 h 32"/>
                <a:gd name="T4" fmla="*/ 18 w 18"/>
                <a:gd name="T5" fmla="*/ 0 h 32"/>
                <a:gd name="T6" fmla="*/ 18 w 18"/>
                <a:gd name="T7" fmla="*/ 23 h 32"/>
                <a:gd name="T8" fmla="*/ 16 w 18"/>
                <a:gd name="T9" fmla="*/ 30 h 32"/>
                <a:gd name="T10" fmla="*/ 9 w 18"/>
                <a:gd name="T11" fmla="*/ 32 h 32"/>
                <a:gd name="T12" fmla="*/ 2 w 18"/>
                <a:gd name="T13" fmla="*/ 30 h 32"/>
                <a:gd name="T14" fmla="*/ 0 w 18"/>
                <a:gd name="T15" fmla="*/ 23 h 32"/>
                <a:gd name="T16" fmla="*/ 0 w 18"/>
                <a:gd name="T17" fmla="*/ 21 h 32"/>
                <a:gd name="T18" fmla="*/ 4 w 18"/>
                <a:gd name="T19" fmla="*/ 21 h 32"/>
                <a:gd name="T20" fmla="*/ 4 w 18"/>
                <a:gd name="T21" fmla="*/ 23 h 32"/>
                <a:gd name="T22" fmla="*/ 6 w 18"/>
                <a:gd name="T23" fmla="*/ 27 h 32"/>
                <a:gd name="T24" fmla="*/ 9 w 18"/>
                <a:gd name="T25" fmla="*/ 29 h 32"/>
                <a:gd name="T26" fmla="*/ 13 w 18"/>
                <a:gd name="T27" fmla="*/ 27 h 32"/>
                <a:gd name="T28" fmla="*/ 14 w 18"/>
                <a:gd name="T29" fmla="*/ 23 h 32"/>
                <a:gd name="T30" fmla="*/ 14 w 18"/>
                <a:gd name="T31"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32">
                  <a:moveTo>
                    <a:pt x="14" y="0"/>
                  </a:moveTo>
                  <a:cubicBezTo>
                    <a:pt x="16" y="0"/>
                    <a:pt x="16" y="0"/>
                    <a:pt x="16" y="0"/>
                  </a:cubicBezTo>
                  <a:cubicBezTo>
                    <a:pt x="18" y="0"/>
                    <a:pt x="18" y="0"/>
                    <a:pt x="18" y="0"/>
                  </a:cubicBezTo>
                  <a:cubicBezTo>
                    <a:pt x="18" y="23"/>
                    <a:pt x="18" y="23"/>
                    <a:pt x="18" y="23"/>
                  </a:cubicBezTo>
                  <a:cubicBezTo>
                    <a:pt x="18" y="26"/>
                    <a:pt x="18" y="28"/>
                    <a:pt x="16" y="30"/>
                  </a:cubicBezTo>
                  <a:cubicBezTo>
                    <a:pt x="14" y="32"/>
                    <a:pt x="12" y="32"/>
                    <a:pt x="9" y="32"/>
                  </a:cubicBezTo>
                  <a:cubicBezTo>
                    <a:pt x="6" y="32"/>
                    <a:pt x="4" y="32"/>
                    <a:pt x="2" y="30"/>
                  </a:cubicBezTo>
                  <a:cubicBezTo>
                    <a:pt x="1" y="28"/>
                    <a:pt x="0" y="26"/>
                    <a:pt x="0" y="23"/>
                  </a:cubicBezTo>
                  <a:cubicBezTo>
                    <a:pt x="0" y="21"/>
                    <a:pt x="0" y="21"/>
                    <a:pt x="0" y="21"/>
                  </a:cubicBezTo>
                  <a:cubicBezTo>
                    <a:pt x="4" y="21"/>
                    <a:pt x="4" y="21"/>
                    <a:pt x="4" y="21"/>
                  </a:cubicBezTo>
                  <a:cubicBezTo>
                    <a:pt x="4" y="23"/>
                    <a:pt x="4" y="23"/>
                    <a:pt x="4" y="23"/>
                  </a:cubicBezTo>
                  <a:cubicBezTo>
                    <a:pt x="4" y="25"/>
                    <a:pt x="5" y="26"/>
                    <a:pt x="6" y="27"/>
                  </a:cubicBezTo>
                  <a:cubicBezTo>
                    <a:pt x="6" y="28"/>
                    <a:pt x="8" y="29"/>
                    <a:pt x="9" y="29"/>
                  </a:cubicBezTo>
                  <a:cubicBezTo>
                    <a:pt x="11" y="29"/>
                    <a:pt x="12" y="28"/>
                    <a:pt x="13" y="27"/>
                  </a:cubicBezTo>
                  <a:cubicBezTo>
                    <a:pt x="14" y="26"/>
                    <a:pt x="14" y="24"/>
                    <a:pt x="14" y="23"/>
                  </a:cubicBezTo>
                  <a:lnTo>
                    <a:pt x="14"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93" name="Freeform 91">
              <a:extLst>
                <a:ext uri="{FF2B5EF4-FFF2-40B4-BE49-F238E27FC236}">
                  <a16:creationId xmlns:a16="http://schemas.microsoft.com/office/drawing/2014/main" id="{210DDF3A-7FB1-455B-83D3-6853374F938C}"/>
                </a:ext>
              </a:extLst>
            </p:cNvPr>
            <p:cNvSpPr>
              <a:spLocks/>
            </p:cNvSpPr>
            <p:nvPr userDrawn="1"/>
          </p:nvSpPr>
          <p:spPr bwMode="auto">
            <a:xfrm>
              <a:off x="1579" y="933"/>
              <a:ext cx="5" cy="40"/>
            </a:xfrm>
            <a:custGeom>
              <a:avLst/>
              <a:gdLst>
                <a:gd name="T0" fmla="*/ 0 w 5"/>
                <a:gd name="T1" fmla="*/ 0 h 40"/>
                <a:gd name="T2" fmla="*/ 3 w 5"/>
                <a:gd name="T3" fmla="*/ 0 h 40"/>
                <a:gd name="T4" fmla="*/ 5 w 5"/>
                <a:gd name="T5" fmla="*/ 0 h 40"/>
                <a:gd name="T6" fmla="*/ 5 w 5"/>
                <a:gd name="T7" fmla="*/ 40 h 40"/>
                <a:gd name="T8" fmla="*/ 3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3" y="0"/>
                  </a:lnTo>
                  <a:lnTo>
                    <a:pt x="5" y="0"/>
                  </a:lnTo>
                  <a:lnTo>
                    <a:pt x="5" y="40"/>
                  </a:lnTo>
                  <a:lnTo>
                    <a:pt x="3" y="40"/>
                  </a:lnTo>
                  <a:lnTo>
                    <a:pt x="0" y="40"/>
                  </a:lnTo>
                  <a:lnTo>
                    <a:pt x="0"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94" name="Freeform 92">
              <a:extLst>
                <a:ext uri="{FF2B5EF4-FFF2-40B4-BE49-F238E27FC236}">
                  <a16:creationId xmlns:a16="http://schemas.microsoft.com/office/drawing/2014/main" id="{D8FBA249-873A-420A-8F92-6795A43C934A}"/>
                </a:ext>
              </a:extLst>
            </p:cNvPr>
            <p:cNvSpPr>
              <a:spLocks noEditPoints="1"/>
            </p:cNvSpPr>
            <p:nvPr userDrawn="1"/>
          </p:nvSpPr>
          <p:spPr bwMode="auto">
            <a:xfrm>
              <a:off x="1595" y="933"/>
              <a:ext cx="36" cy="40"/>
            </a:xfrm>
            <a:custGeom>
              <a:avLst/>
              <a:gdLst>
                <a:gd name="T0" fmla="*/ 15 w 36"/>
                <a:gd name="T1" fmla="*/ 0 h 40"/>
                <a:gd name="T2" fmla="*/ 19 w 36"/>
                <a:gd name="T3" fmla="*/ 0 h 40"/>
                <a:gd name="T4" fmla="*/ 21 w 36"/>
                <a:gd name="T5" fmla="*/ 0 h 40"/>
                <a:gd name="T6" fmla="*/ 36 w 36"/>
                <a:gd name="T7" fmla="*/ 40 h 40"/>
                <a:gd name="T8" fmla="*/ 33 w 36"/>
                <a:gd name="T9" fmla="*/ 40 h 40"/>
                <a:gd name="T10" fmla="*/ 30 w 36"/>
                <a:gd name="T11" fmla="*/ 40 h 40"/>
                <a:gd name="T12" fmla="*/ 26 w 36"/>
                <a:gd name="T13" fmla="*/ 27 h 40"/>
                <a:gd name="T14" fmla="*/ 10 w 36"/>
                <a:gd name="T15" fmla="*/ 27 h 40"/>
                <a:gd name="T16" fmla="*/ 7 w 36"/>
                <a:gd name="T17" fmla="*/ 40 h 40"/>
                <a:gd name="T18" fmla="*/ 4 w 36"/>
                <a:gd name="T19" fmla="*/ 40 h 40"/>
                <a:gd name="T20" fmla="*/ 0 w 36"/>
                <a:gd name="T21" fmla="*/ 40 h 40"/>
                <a:gd name="T22" fmla="*/ 15 w 36"/>
                <a:gd name="T23" fmla="*/ 0 h 40"/>
                <a:gd name="T24" fmla="*/ 12 w 36"/>
                <a:gd name="T25" fmla="*/ 24 h 40"/>
                <a:gd name="T26" fmla="*/ 24 w 36"/>
                <a:gd name="T27" fmla="*/ 24 h 40"/>
                <a:gd name="T28" fmla="*/ 19 w 36"/>
                <a:gd name="T29" fmla="*/ 5 h 40"/>
                <a:gd name="T30" fmla="*/ 19 w 36"/>
                <a:gd name="T31" fmla="*/ 5 h 40"/>
                <a:gd name="T32" fmla="*/ 12 w 36"/>
                <a:gd name="T33"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 h="40">
                  <a:moveTo>
                    <a:pt x="15" y="0"/>
                  </a:moveTo>
                  <a:lnTo>
                    <a:pt x="19" y="0"/>
                  </a:lnTo>
                  <a:lnTo>
                    <a:pt x="21" y="0"/>
                  </a:lnTo>
                  <a:lnTo>
                    <a:pt x="36" y="40"/>
                  </a:lnTo>
                  <a:lnTo>
                    <a:pt x="33" y="40"/>
                  </a:lnTo>
                  <a:lnTo>
                    <a:pt x="30" y="40"/>
                  </a:lnTo>
                  <a:lnTo>
                    <a:pt x="26" y="27"/>
                  </a:lnTo>
                  <a:lnTo>
                    <a:pt x="10" y="27"/>
                  </a:lnTo>
                  <a:lnTo>
                    <a:pt x="7" y="40"/>
                  </a:lnTo>
                  <a:lnTo>
                    <a:pt x="4" y="40"/>
                  </a:lnTo>
                  <a:lnTo>
                    <a:pt x="0" y="40"/>
                  </a:lnTo>
                  <a:lnTo>
                    <a:pt x="15" y="0"/>
                  </a:lnTo>
                  <a:close/>
                  <a:moveTo>
                    <a:pt x="12" y="24"/>
                  </a:moveTo>
                  <a:lnTo>
                    <a:pt x="24" y="24"/>
                  </a:lnTo>
                  <a:lnTo>
                    <a:pt x="19" y="5"/>
                  </a:lnTo>
                  <a:lnTo>
                    <a:pt x="19" y="5"/>
                  </a:lnTo>
                  <a:lnTo>
                    <a:pt x="12" y="24"/>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95" name="Freeform 93">
              <a:extLst>
                <a:ext uri="{FF2B5EF4-FFF2-40B4-BE49-F238E27FC236}">
                  <a16:creationId xmlns:a16="http://schemas.microsoft.com/office/drawing/2014/main" id="{721B5B9A-3D91-4F40-B602-9C38F08BFDB0}"/>
                </a:ext>
              </a:extLst>
            </p:cNvPr>
            <p:cNvSpPr>
              <a:spLocks/>
            </p:cNvSpPr>
            <p:nvPr userDrawn="1"/>
          </p:nvSpPr>
          <p:spPr bwMode="auto">
            <a:xfrm>
              <a:off x="1641" y="933"/>
              <a:ext cx="31" cy="40"/>
            </a:xfrm>
            <a:custGeom>
              <a:avLst/>
              <a:gdLst>
                <a:gd name="T0" fmla="*/ 5 w 31"/>
                <a:gd name="T1" fmla="*/ 40 h 40"/>
                <a:gd name="T2" fmla="*/ 3 w 31"/>
                <a:gd name="T3" fmla="*/ 40 h 40"/>
                <a:gd name="T4" fmla="*/ 0 w 31"/>
                <a:gd name="T5" fmla="*/ 40 h 40"/>
                <a:gd name="T6" fmla="*/ 0 w 31"/>
                <a:gd name="T7" fmla="*/ 0 h 40"/>
                <a:gd name="T8" fmla="*/ 4 w 31"/>
                <a:gd name="T9" fmla="*/ 0 h 40"/>
                <a:gd name="T10" fmla="*/ 6 w 31"/>
                <a:gd name="T11" fmla="*/ 0 h 40"/>
                <a:gd name="T12" fmla="*/ 26 w 31"/>
                <a:gd name="T13" fmla="*/ 32 h 40"/>
                <a:gd name="T14" fmla="*/ 26 w 31"/>
                <a:gd name="T15" fmla="*/ 0 h 40"/>
                <a:gd name="T16" fmla="*/ 29 w 31"/>
                <a:gd name="T17" fmla="*/ 0 h 40"/>
                <a:gd name="T18" fmla="*/ 31 w 31"/>
                <a:gd name="T19" fmla="*/ 0 h 40"/>
                <a:gd name="T20" fmla="*/ 31 w 31"/>
                <a:gd name="T21" fmla="*/ 40 h 40"/>
                <a:gd name="T22" fmla="*/ 29 w 31"/>
                <a:gd name="T23" fmla="*/ 40 h 40"/>
                <a:gd name="T24" fmla="*/ 26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3" y="40"/>
                  </a:lnTo>
                  <a:lnTo>
                    <a:pt x="0" y="40"/>
                  </a:lnTo>
                  <a:lnTo>
                    <a:pt x="0" y="0"/>
                  </a:lnTo>
                  <a:lnTo>
                    <a:pt x="4" y="0"/>
                  </a:lnTo>
                  <a:lnTo>
                    <a:pt x="6" y="0"/>
                  </a:lnTo>
                  <a:lnTo>
                    <a:pt x="26" y="32"/>
                  </a:lnTo>
                  <a:lnTo>
                    <a:pt x="26" y="0"/>
                  </a:lnTo>
                  <a:lnTo>
                    <a:pt x="29" y="0"/>
                  </a:lnTo>
                  <a:lnTo>
                    <a:pt x="31" y="0"/>
                  </a:lnTo>
                  <a:lnTo>
                    <a:pt x="31" y="40"/>
                  </a:lnTo>
                  <a:lnTo>
                    <a:pt x="29" y="40"/>
                  </a:lnTo>
                  <a:lnTo>
                    <a:pt x="26" y="40"/>
                  </a:lnTo>
                  <a:lnTo>
                    <a:pt x="5" y="8"/>
                  </a:lnTo>
                  <a:lnTo>
                    <a:pt x="5" y="4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96" name="Freeform 94">
              <a:extLst>
                <a:ext uri="{FF2B5EF4-FFF2-40B4-BE49-F238E27FC236}">
                  <a16:creationId xmlns:a16="http://schemas.microsoft.com/office/drawing/2014/main" id="{920685BB-4B2A-4121-BE0E-CB335C38FA24}"/>
                </a:ext>
              </a:extLst>
            </p:cNvPr>
            <p:cNvSpPr>
              <a:spLocks/>
            </p:cNvSpPr>
            <p:nvPr userDrawn="1"/>
          </p:nvSpPr>
          <p:spPr bwMode="auto">
            <a:xfrm>
              <a:off x="1687" y="932"/>
              <a:ext cx="36" cy="41"/>
            </a:xfrm>
            <a:custGeom>
              <a:avLst/>
              <a:gdLst>
                <a:gd name="T0" fmla="*/ 15 w 29"/>
                <a:gd name="T1" fmla="*/ 33 h 33"/>
                <a:gd name="T2" fmla="*/ 4 w 29"/>
                <a:gd name="T3" fmla="*/ 29 h 33"/>
                <a:gd name="T4" fmla="*/ 0 w 29"/>
                <a:gd name="T5" fmla="*/ 17 h 33"/>
                <a:gd name="T6" fmla="*/ 4 w 29"/>
                <a:gd name="T7" fmla="*/ 5 h 33"/>
                <a:gd name="T8" fmla="*/ 15 w 29"/>
                <a:gd name="T9" fmla="*/ 0 h 33"/>
                <a:gd name="T10" fmla="*/ 24 w 29"/>
                <a:gd name="T11" fmla="*/ 3 h 33"/>
                <a:gd name="T12" fmla="*/ 28 w 29"/>
                <a:gd name="T13" fmla="*/ 10 h 33"/>
                <a:gd name="T14" fmla="*/ 24 w 29"/>
                <a:gd name="T15" fmla="*/ 10 h 33"/>
                <a:gd name="T16" fmla="*/ 21 w 29"/>
                <a:gd name="T17" fmla="*/ 5 h 33"/>
                <a:gd name="T18" fmla="*/ 15 w 29"/>
                <a:gd name="T19" fmla="*/ 4 h 33"/>
                <a:gd name="T20" fmla="*/ 7 w 29"/>
                <a:gd name="T21" fmla="*/ 7 h 33"/>
                <a:gd name="T22" fmla="*/ 4 w 29"/>
                <a:gd name="T23" fmla="*/ 17 h 33"/>
                <a:gd name="T24" fmla="*/ 7 w 29"/>
                <a:gd name="T25" fmla="*/ 26 h 33"/>
                <a:gd name="T26" fmla="*/ 15 w 29"/>
                <a:gd name="T27" fmla="*/ 30 h 33"/>
                <a:gd name="T28" fmla="*/ 23 w 29"/>
                <a:gd name="T29" fmla="*/ 26 h 33"/>
                <a:gd name="T30" fmla="*/ 24 w 29"/>
                <a:gd name="T31" fmla="*/ 25 h 33"/>
                <a:gd name="T32" fmla="*/ 25 w 29"/>
                <a:gd name="T33" fmla="*/ 23 h 33"/>
                <a:gd name="T34" fmla="*/ 25 w 29"/>
                <a:gd name="T35" fmla="*/ 20 h 33"/>
                <a:gd name="T36" fmla="*/ 25 w 29"/>
                <a:gd name="T37" fmla="*/ 19 h 33"/>
                <a:gd name="T38" fmla="*/ 15 w 29"/>
                <a:gd name="T39" fmla="*/ 19 h 33"/>
                <a:gd name="T40" fmla="*/ 15 w 29"/>
                <a:gd name="T41" fmla="*/ 16 h 33"/>
                <a:gd name="T42" fmla="*/ 29 w 29"/>
                <a:gd name="T43" fmla="*/ 16 h 33"/>
                <a:gd name="T44" fmla="*/ 29 w 29"/>
                <a:gd name="T45" fmla="*/ 32 h 33"/>
                <a:gd name="T46" fmla="*/ 26 w 29"/>
                <a:gd name="T47" fmla="*/ 32 h 33"/>
                <a:gd name="T48" fmla="*/ 25 w 29"/>
                <a:gd name="T49" fmla="*/ 28 h 33"/>
                <a:gd name="T50" fmla="*/ 25 w 29"/>
                <a:gd name="T51" fmla="*/ 29 h 33"/>
                <a:gd name="T52" fmla="*/ 15 w 29"/>
                <a:gd name="T53"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 h="33">
                  <a:moveTo>
                    <a:pt x="15" y="33"/>
                  </a:moveTo>
                  <a:cubicBezTo>
                    <a:pt x="10" y="33"/>
                    <a:pt x="7" y="32"/>
                    <a:pt x="4" y="29"/>
                  </a:cubicBezTo>
                  <a:cubicBezTo>
                    <a:pt x="1" y="26"/>
                    <a:pt x="0" y="22"/>
                    <a:pt x="0" y="17"/>
                  </a:cubicBezTo>
                  <a:cubicBezTo>
                    <a:pt x="0" y="12"/>
                    <a:pt x="1" y="8"/>
                    <a:pt x="4" y="5"/>
                  </a:cubicBezTo>
                  <a:cubicBezTo>
                    <a:pt x="7" y="1"/>
                    <a:pt x="10" y="0"/>
                    <a:pt x="15" y="0"/>
                  </a:cubicBezTo>
                  <a:cubicBezTo>
                    <a:pt x="18" y="0"/>
                    <a:pt x="21" y="1"/>
                    <a:pt x="24" y="3"/>
                  </a:cubicBezTo>
                  <a:cubicBezTo>
                    <a:pt x="26" y="5"/>
                    <a:pt x="28" y="7"/>
                    <a:pt x="28" y="10"/>
                  </a:cubicBezTo>
                  <a:cubicBezTo>
                    <a:pt x="24" y="10"/>
                    <a:pt x="24" y="10"/>
                    <a:pt x="24" y="10"/>
                  </a:cubicBezTo>
                  <a:cubicBezTo>
                    <a:pt x="24" y="8"/>
                    <a:pt x="23" y="7"/>
                    <a:pt x="21" y="5"/>
                  </a:cubicBezTo>
                  <a:cubicBezTo>
                    <a:pt x="19" y="4"/>
                    <a:pt x="17" y="4"/>
                    <a:pt x="15" y="4"/>
                  </a:cubicBezTo>
                  <a:cubicBezTo>
                    <a:pt x="12" y="4"/>
                    <a:pt x="9" y="5"/>
                    <a:pt x="7" y="7"/>
                  </a:cubicBezTo>
                  <a:cubicBezTo>
                    <a:pt x="5" y="10"/>
                    <a:pt x="4" y="13"/>
                    <a:pt x="4" y="17"/>
                  </a:cubicBezTo>
                  <a:cubicBezTo>
                    <a:pt x="4" y="21"/>
                    <a:pt x="5" y="24"/>
                    <a:pt x="7" y="26"/>
                  </a:cubicBezTo>
                  <a:cubicBezTo>
                    <a:pt x="9" y="29"/>
                    <a:pt x="12" y="30"/>
                    <a:pt x="15" y="30"/>
                  </a:cubicBezTo>
                  <a:cubicBezTo>
                    <a:pt x="18" y="30"/>
                    <a:pt x="21" y="29"/>
                    <a:pt x="23" y="26"/>
                  </a:cubicBezTo>
                  <a:cubicBezTo>
                    <a:pt x="23" y="26"/>
                    <a:pt x="23" y="25"/>
                    <a:pt x="24" y="25"/>
                  </a:cubicBezTo>
                  <a:cubicBezTo>
                    <a:pt x="24" y="24"/>
                    <a:pt x="24" y="24"/>
                    <a:pt x="25" y="23"/>
                  </a:cubicBezTo>
                  <a:cubicBezTo>
                    <a:pt x="25" y="22"/>
                    <a:pt x="25" y="21"/>
                    <a:pt x="25" y="20"/>
                  </a:cubicBezTo>
                  <a:cubicBezTo>
                    <a:pt x="25" y="19"/>
                    <a:pt x="25" y="19"/>
                    <a:pt x="25" y="19"/>
                  </a:cubicBezTo>
                  <a:cubicBezTo>
                    <a:pt x="15" y="19"/>
                    <a:pt x="15" y="19"/>
                    <a:pt x="15" y="19"/>
                  </a:cubicBezTo>
                  <a:cubicBezTo>
                    <a:pt x="15" y="16"/>
                    <a:pt x="15" y="16"/>
                    <a:pt x="15" y="16"/>
                  </a:cubicBezTo>
                  <a:cubicBezTo>
                    <a:pt x="29" y="16"/>
                    <a:pt x="29" y="16"/>
                    <a:pt x="29" y="16"/>
                  </a:cubicBezTo>
                  <a:cubicBezTo>
                    <a:pt x="29" y="32"/>
                    <a:pt x="29" y="32"/>
                    <a:pt x="29" y="32"/>
                  </a:cubicBezTo>
                  <a:cubicBezTo>
                    <a:pt x="26" y="32"/>
                    <a:pt x="26" y="32"/>
                    <a:pt x="26" y="32"/>
                  </a:cubicBezTo>
                  <a:cubicBezTo>
                    <a:pt x="25" y="28"/>
                    <a:pt x="25" y="28"/>
                    <a:pt x="25" y="28"/>
                  </a:cubicBezTo>
                  <a:cubicBezTo>
                    <a:pt x="25" y="29"/>
                    <a:pt x="25" y="29"/>
                    <a:pt x="25" y="29"/>
                  </a:cubicBezTo>
                  <a:cubicBezTo>
                    <a:pt x="22" y="32"/>
                    <a:pt x="19" y="33"/>
                    <a:pt x="15" y="33"/>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97" name="Freeform 95">
              <a:extLst>
                <a:ext uri="{FF2B5EF4-FFF2-40B4-BE49-F238E27FC236}">
                  <a16:creationId xmlns:a16="http://schemas.microsoft.com/office/drawing/2014/main" id="{6B6540AF-832C-47B2-9EC6-335A1E45BD43}"/>
                </a:ext>
              </a:extLst>
            </p:cNvPr>
            <p:cNvSpPr>
              <a:spLocks/>
            </p:cNvSpPr>
            <p:nvPr userDrawn="1"/>
          </p:nvSpPr>
          <p:spPr bwMode="auto">
            <a:xfrm>
              <a:off x="1760" y="933"/>
              <a:ext cx="31" cy="40"/>
            </a:xfrm>
            <a:custGeom>
              <a:avLst/>
              <a:gdLst>
                <a:gd name="T0" fmla="*/ 25 w 25"/>
                <a:gd name="T1" fmla="*/ 20 h 32"/>
                <a:gd name="T2" fmla="*/ 21 w 25"/>
                <a:gd name="T3" fmla="*/ 29 h 32"/>
                <a:gd name="T4" fmla="*/ 12 w 25"/>
                <a:gd name="T5" fmla="*/ 32 h 32"/>
                <a:gd name="T6" fmla="*/ 3 w 25"/>
                <a:gd name="T7" fmla="*/ 29 h 32"/>
                <a:gd name="T8" fmla="*/ 0 w 25"/>
                <a:gd name="T9" fmla="*/ 20 h 32"/>
                <a:gd name="T10" fmla="*/ 0 w 25"/>
                <a:gd name="T11" fmla="*/ 0 h 32"/>
                <a:gd name="T12" fmla="*/ 2 w 25"/>
                <a:gd name="T13" fmla="*/ 0 h 32"/>
                <a:gd name="T14" fmla="*/ 4 w 25"/>
                <a:gd name="T15" fmla="*/ 0 h 32"/>
                <a:gd name="T16" fmla="*/ 4 w 25"/>
                <a:gd name="T17" fmla="*/ 20 h 32"/>
                <a:gd name="T18" fmla="*/ 6 w 25"/>
                <a:gd name="T19" fmla="*/ 26 h 32"/>
                <a:gd name="T20" fmla="*/ 12 w 25"/>
                <a:gd name="T21" fmla="*/ 29 h 32"/>
                <a:gd name="T22" fmla="*/ 18 w 25"/>
                <a:gd name="T23" fmla="*/ 26 h 32"/>
                <a:gd name="T24" fmla="*/ 20 w 25"/>
                <a:gd name="T25" fmla="*/ 20 h 32"/>
                <a:gd name="T26" fmla="*/ 20 w 25"/>
                <a:gd name="T27" fmla="*/ 0 h 32"/>
                <a:gd name="T28" fmla="*/ 22 w 25"/>
                <a:gd name="T29" fmla="*/ 0 h 32"/>
                <a:gd name="T30" fmla="*/ 25 w 25"/>
                <a:gd name="T31" fmla="*/ 0 h 32"/>
                <a:gd name="T32" fmla="*/ 25 w 25"/>
                <a:gd name="T33"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 h="32">
                  <a:moveTo>
                    <a:pt x="25" y="20"/>
                  </a:moveTo>
                  <a:cubicBezTo>
                    <a:pt x="25" y="24"/>
                    <a:pt x="23" y="27"/>
                    <a:pt x="21" y="29"/>
                  </a:cubicBezTo>
                  <a:cubicBezTo>
                    <a:pt x="19" y="31"/>
                    <a:pt x="16" y="32"/>
                    <a:pt x="12" y="32"/>
                  </a:cubicBezTo>
                  <a:cubicBezTo>
                    <a:pt x="8" y="32"/>
                    <a:pt x="5" y="31"/>
                    <a:pt x="3" y="29"/>
                  </a:cubicBezTo>
                  <a:cubicBezTo>
                    <a:pt x="1" y="27"/>
                    <a:pt x="0" y="24"/>
                    <a:pt x="0" y="20"/>
                  </a:cubicBezTo>
                  <a:cubicBezTo>
                    <a:pt x="0" y="0"/>
                    <a:pt x="0" y="0"/>
                    <a:pt x="0" y="0"/>
                  </a:cubicBezTo>
                  <a:cubicBezTo>
                    <a:pt x="2" y="0"/>
                    <a:pt x="2" y="0"/>
                    <a:pt x="2" y="0"/>
                  </a:cubicBezTo>
                  <a:cubicBezTo>
                    <a:pt x="4" y="0"/>
                    <a:pt x="4" y="0"/>
                    <a:pt x="4" y="0"/>
                  </a:cubicBezTo>
                  <a:cubicBezTo>
                    <a:pt x="4" y="20"/>
                    <a:pt x="4" y="20"/>
                    <a:pt x="4" y="20"/>
                  </a:cubicBezTo>
                  <a:cubicBezTo>
                    <a:pt x="4" y="23"/>
                    <a:pt x="5" y="25"/>
                    <a:pt x="6" y="26"/>
                  </a:cubicBezTo>
                  <a:cubicBezTo>
                    <a:pt x="7" y="28"/>
                    <a:pt x="9" y="29"/>
                    <a:pt x="12" y="29"/>
                  </a:cubicBezTo>
                  <a:cubicBezTo>
                    <a:pt x="15" y="29"/>
                    <a:pt x="17" y="28"/>
                    <a:pt x="18" y="26"/>
                  </a:cubicBezTo>
                  <a:cubicBezTo>
                    <a:pt x="20" y="25"/>
                    <a:pt x="20" y="23"/>
                    <a:pt x="20" y="20"/>
                  </a:cubicBezTo>
                  <a:cubicBezTo>
                    <a:pt x="20" y="0"/>
                    <a:pt x="20" y="0"/>
                    <a:pt x="20" y="0"/>
                  </a:cubicBezTo>
                  <a:cubicBezTo>
                    <a:pt x="22" y="0"/>
                    <a:pt x="22" y="0"/>
                    <a:pt x="22" y="0"/>
                  </a:cubicBezTo>
                  <a:cubicBezTo>
                    <a:pt x="25" y="0"/>
                    <a:pt x="25" y="0"/>
                    <a:pt x="25" y="0"/>
                  </a:cubicBezTo>
                  <a:lnTo>
                    <a:pt x="25" y="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98" name="Freeform 96">
              <a:extLst>
                <a:ext uri="{FF2B5EF4-FFF2-40B4-BE49-F238E27FC236}">
                  <a16:creationId xmlns:a16="http://schemas.microsoft.com/office/drawing/2014/main" id="{588ED9FE-724F-427D-86C5-C3B3FE65912A}"/>
                </a:ext>
              </a:extLst>
            </p:cNvPr>
            <p:cNvSpPr>
              <a:spLocks/>
            </p:cNvSpPr>
            <p:nvPr userDrawn="1"/>
          </p:nvSpPr>
          <p:spPr bwMode="auto">
            <a:xfrm>
              <a:off x="1806" y="933"/>
              <a:ext cx="31" cy="40"/>
            </a:xfrm>
            <a:custGeom>
              <a:avLst/>
              <a:gdLst>
                <a:gd name="T0" fmla="*/ 5 w 31"/>
                <a:gd name="T1" fmla="*/ 40 h 40"/>
                <a:gd name="T2" fmla="*/ 2 w 31"/>
                <a:gd name="T3" fmla="*/ 40 h 40"/>
                <a:gd name="T4" fmla="*/ 0 w 31"/>
                <a:gd name="T5" fmla="*/ 40 h 40"/>
                <a:gd name="T6" fmla="*/ 0 w 31"/>
                <a:gd name="T7" fmla="*/ 0 h 40"/>
                <a:gd name="T8" fmla="*/ 2 w 31"/>
                <a:gd name="T9" fmla="*/ 0 h 40"/>
                <a:gd name="T10" fmla="*/ 6 w 31"/>
                <a:gd name="T11" fmla="*/ 0 h 40"/>
                <a:gd name="T12" fmla="*/ 26 w 31"/>
                <a:gd name="T13" fmla="*/ 32 h 40"/>
                <a:gd name="T14" fmla="*/ 26 w 31"/>
                <a:gd name="T15" fmla="*/ 0 h 40"/>
                <a:gd name="T16" fmla="*/ 28 w 31"/>
                <a:gd name="T17" fmla="*/ 0 h 40"/>
                <a:gd name="T18" fmla="*/ 31 w 31"/>
                <a:gd name="T19" fmla="*/ 0 h 40"/>
                <a:gd name="T20" fmla="*/ 31 w 31"/>
                <a:gd name="T21" fmla="*/ 40 h 40"/>
                <a:gd name="T22" fmla="*/ 28 w 31"/>
                <a:gd name="T23" fmla="*/ 40 h 40"/>
                <a:gd name="T24" fmla="*/ 25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2" y="40"/>
                  </a:lnTo>
                  <a:lnTo>
                    <a:pt x="0" y="40"/>
                  </a:lnTo>
                  <a:lnTo>
                    <a:pt x="0" y="0"/>
                  </a:lnTo>
                  <a:lnTo>
                    <a:pt x="2" y="0"/>
                  </a:lnTo>
                  <a:lnTo>
                    <a:pt x="6" y="0"/>
                  </a:lnTo>
                  <a:lnTo>
                    <a:pt x="26" y="32"/>
                  </a:lnTo>
                  <a:lnTo>
                    <a:pt x="26" y="0"/>
                  </a:lnTo>
                  <a:lnTo>
                    <a:pt x="28" y="0"/>
                  </a:lnTo>
                  <a:lnTo>
                    <a:pt x="31" y="0"/>
                  </a:lnTo>
                  <a:lnTo>
                    <a:pt x="31" y="40"/>
                  </a:lnTo>
                  <a:lnTo>
                    <a:pt x="28" y="40"/>
                  </a:lnTo>
                  <a:lnTo>
                    <a:pt x="25" y="40"/>
                  </a:lnTo>
                  <a:lnTo>
                    <a:pt x="5" y="8"/>
                  </a:lnTo>
                  <a:lnTo>
                    <a:pt x="5" y="4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99" name="Freeform 97">
              <a:extLst>
                <a:ext uri="{FF2B5EF4-FFF2-40B4-BE49-F238E27FC236}">
                  <a16:creationId xmlns:a16="http://schemas.microsoft.com/office/drawing/2014/main" id="{6B341F3B-45D5-464B-926B-23F379D9D5FE}"/>
                </a:ext>
              </a:extLst>
            </p:cNvPr>
            <p:cNvSpPr>
              <a:spLocks/>
            </p:cNvSpPr>
            <p:nvPr userDrawn="1"/>
          </p:nvSpPr>
          <p:spPr bwMode="auto">
            <a:xfrm>
              <a:off x="1852"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00" name="Freeform 98">
              <a:extLst>
                <a:ext uri="{FF2B5EF4-FFF2-40B4-BE49-F238E27FC236}">
                  <a16:creationId xmlns:a16="http://schemas.microsoft.com/office/drawing/2014/main" id="{A675F9CE-73F1-4F07-AEDB-430F25BAF2A0}"/>
                </a:ext>
              </a:extLst>
            </p:cNvPr>
            <p:cNvSpPr>
              <a:spLocks/>
            </p:cNvSpPr>
            <p:nvPr userDrawn="1"/>
          </p:nvSpPr>
          <p:spPr bwMode="auto">
            <a:xfrm>
              <a:off x="1867" y="933"/>
              <a:ext cx="34" cy="40"/>
            </a:xfrm>
            <a:custGeom>
              <a:avLst/>
              <a:gdLst>
                <a:gd name="T0" fmla="*/ 0 w 34"/>
                <a:gd name="T1" fmla="*/ 0 h 40"/>
                <a:gd name="T2" fmla="*/ 3 w 34"/>
                <a:gd name="T3" fmla="*/ 0 h 40"/>
                <a:gd name="T4" fmla="*/ 6 w 34"/>
                <a:gd name="T5" fmla="*/ 0 h 40"/>
                <a:gd name="T6" fmla="*/ 17 w 34"/>
                <a:gd name="T7" fmla="*/ 34 h 40"/>
                <a:gd name="T8" fmla="*/ 17 w 34"/>
                <a:gd name="T9" fmla="*/ 34 h 40"/>
                <a:gd name="T10" fmla="*/ 28 w 34"/>
                <a:gd name="T11" fmla="*/ 0 h 40"/>
                <a:gd name="T12" fmla="*/ 32 w 34"/>
                <a:gd name="T13" fmla="*/ 0 h 40"/>
                <a:gd name="T14" fmla="*/ 34 w 34"/>
                <a:gd name="T15" fmla="*/ 0 h 40"/>
                <a:gd name="T16" fmla="*/ 21 w 34"/>
                <a:gd name="T17" fmla="*/ 40 h 40"/>
                <a:gd name="T18" fmla="*/ 17 w 34"/>
                <a:gd name="T19" fmla="*/ 40 h 40"/>
                <a:gd name="T20" fmla="*/ 15 w 34"/>
                <a:gd name="T21" fmla="*/ 40 h 40"/>
                <a:gd name="T22" fmla="*/ 0 w 34"/>
                <a:gd name="T2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40">
                  <a:moveTo>
                    <a:pt x="0" y="0"/>
                  </a:moveTo>
                  <a:lnTo>
                    <a:pt x="3" y="0"/>
                  </a:lnTo>
                  <a:lnTo>
                    <a:pt x="6" y="0"/>
                  </a:lnTo>
                  <a:lnTo>
                    <a:pt x="17" y="34"/>
                  </a:lnTo>
                  <a:lnTo>
                    <a:pt x="17" y="34"/>
                  </a:lnTo>
                  <a:lnTo>
                    <a:pt x="28" y="0"/>
                  </a:lnTo>
                  <a:lnTo>
                    <a:pt x="32" y="0"/>
                  </a:lnTo>
                  <a:lnTo>
                    <a:pt x="34" y="0"/>
                  </a:lnTo>
                  <a:lnTo>
                    <a:pt x="21" y="40"/>
                  </a:lnTo>
                  <a:lnTo>
                    <a:pt x="17" y="40"/>
                  </a:lnTo>
                  <a:lnTo>
                    <a:pt x="15" y="40"/>
                  </a:lnTo>
                  <a:lnTo>
                    <a:pt x="0"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01" name="Freeform 99">
              <a:extLst>
                <a:ext uri="{FF2B5EF4-FFF2-40B4-BE49-F238E27FC236}">
                  <a16:creationId xmlns:a16="http://schemas.microsoft.com/office/drawing/2014/main" id="{3BF318CA-8EFA-438F-9DBD-429F10DFC55E}"/>
                </a:ext>
              </a:extLst>
            </p:cNvPr>
            <p:cNvSpPr>
              <a:spLocks/>
            </p:cNvSpPr>
            <p:nvPr userDrawn="1"/>
          </p:nvSpPr>
          <p:spPr bwMode="auto">
            <a:xfrm>
              <a:off x="1911" y="933"/>
              <a:ext cx="30" cy="40"/>
            </a:xfrm>
            <a:custGeom>
              <a:avLst/>
              <a:gdLst>
                <a:gd name="T0" fmla="*/ 0 w 30"/>
                <a:gd name="T1" fmla="*/ 40 h 40"/>
                <a:gd name="T2" fmla="*/ 0 w 30"/>
                <a:gd name="T3" fmla="*/ 0 h 40"/>
                <a:gd name="T4" fmla="*/ 30 w 30"/>
                <a:gd name="T5" fmla="*/ 0 h 40"/>
                <a:gd name="T6" fmla="*/ 30 w 30"/>
                <a:gd name="T7" fmla="*/ 3 h 40"/>
                <a:gd name="T8" fmla="*/ 30 w 30"/>
                <a:gd name="T9" fmla="*/ 5 h 40"/>
                <a:gd name="T10" fmla="*/ 6 w 30"/>
                <a:gd name="T11" fmla="*/ 5 h 40"/>
                <a:gd name="T12" fmla="*/ 6 w 30"/>
                <a:gd name="T13" fmla="*/ 16 h 40"/>
                <a:gd name="T14" fmla="*/ 27 w 30"/>
                <a:gd name="T15" fmla="*/ 16 h 40"/>
                <a:gd name="T16" fmla="*/ 27 w 30"/>
                <a:gd name="T17" fmla="*/ 19 h 40"/>
                <a:gd name="T18" fmla="*/ 27 w 30"/>
                <a:gd name="T19" fmla="*/ 21 h 40"/>
                <a:gd name="T20" fmla="*/ 6 w 30"/>
                <a:gd name="T21" fmla="*/ 21 h 40"/>
                <a:gd name="T22" fmla="*/ 6 w 30"/>
                <a:gd name="T23" fmla="*/ 35 h 40"/>
                <a:gd name="T24" fmla="*/ 30 w 30"/>
                <a:gd name="T25" fmla="*/ 35 h 40"/>
                <a:gd name="T26" fmla="*/ 30 w 30"/>
                <a:gd name="T27" fmla="*/ 37 h 40"/>
                <a:gd name="T28" fmla="*/ 30 w 30"/>
                <a:gd name="T29" fmla="*/ 40 h 40"/>
                <a:gd name="T30" fmla="*/ 0 w 30"/>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40">
                  <a:moveTo>
                    <a:pt x="0" y="40"/>
                  </a:moveTo>
                  <a:lnTo>
                    <a:pt x="0" y="0"/>
                  </a:lnTo>
                  <a:lnTo>
                    <a:pt x="30" y="0"/>
                  </a:lnTo>
                  <a:lnTo>
                    <a:pt x="30" y="3"/>
                  </a:lnTo>
                  <a:lnTo>
                    <a:pt x="30" y="5"/>
                  </a:lnTo>
                  <a:lnTo>
                    <a:pt x="6" y="5"/>
                  </a:lnTo>
                  <a:lnTo>
                    <a:pt x="6" y="16"/>
                  </a:lnTo>
                  <a:lnTo>
                    <a:pt x="27" y="16"/>
                  </a:lnTo>
                  <a:lnTo>
                    <a:pt x="27" y="19"/>
                  </a:lnTo>
                  <a:lnTo>
                    <a:pt x="27" y="21"/>
                  </a:lnTo>
                  <a:lnTo>
                    <a:pt x="6" y="21"/>
                  </a:lnTo>
                  <a:lnTo>
                    <a:pt x="6" y="35"/>
                  </a:lnTo>
                  <a:lnTo>
                    <a:pt x="30" y="35"/>
                  </a:lnTo>
                  <a:lnTo>
                    <a:pt x="30" y="37"/>
                  </a:lnTo>
                  <a:lnTo>
                    <a:pt x="30" y="40"/>
                  </a:lnTo>
                  <a:lnTo>
                    <a:pt x="0" y="4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02" name="Freeform 100">
              <a:extLst>
                <a:ext uri="{FF2B5EF4-FFF2-40B4-BE49-F238E27FC236}">
                  <a16:creationId xmlns:a16="http://schemas.microsoft.com/office/drawing/2014/main" id="{9077264B-7436-45B4-917D-4AE2F59543DE}"/>
                </a:ext>
              </a:extLst>
            </p:cNvPr>
            <p:cNvSpPr>
              <a:spLocks noEditPoints="1"/>
            </p:cNvSpPr>
            <p:nvPr userDrawn="1"/>
          </p:nvSpPr>
          <p:spPr bwMode="auto">
            <a:xfrm>
              <a:off x="1955" y="933"/>
              <a:ext cx="33" cy="40"/>
            </a:xfrm>
            <a:custGeom>
              <a:avLst/>
              <a:gdLst>
                <a:gd name="T0" fmla="*/ 0 w 27"/>
                <a:gd name="T1" fmla="*/ 0 h 32"/>
                <a:gd name="T2" fmla="*/ 2 w 27"/>
                <a:gd name="T3" fmla="*/ 0 h 32"/>
                <a:gd name="T4" fmla="*/ 15 w 27"/>
                <a:gd name="T5" fmla="*/ 0 h 32"/>
                <a:gd name="T6" fmla="*/ 23 w 27"/>
                <a:gd name="T7" fmla="*/ 2 h 32"/>
                <a:gd name="T8" fmla="*/ 25 w 27"/>
                <a:gd name="T9" fmla="*/ 8 h 32"/>
                <a:gd name="T10" fmla="*/ 23 w 27"/>
                <a:gd name="T11" fmla="*/ 15 h 32"/>
                <a:gd name="T12" fmla="*/ 21 w 27"/>
                <a:gd name="T13" fmla="*/ 16 h 32"/>
                <a:gd name="T14" fmla="*/ 22 w 27"/>
                <a:gd name="T15" fmla="*/ 16 h 32"/>
                <a:gd name="T16" fmla="*/ 25 w 27"/>
                <a:gd name="T17" fmla="*/ 22 h 32"/>
                <a:gd name="T18" fmla="*/ 25 w 27"/>
                <a:gd name="T19" fmla="*/ 28 h 32"/>
                <a:gd name="T20" fmla="*/ 25 w 27"/>
                <a:gd name="T21" fmla="*/ 30 h 32"/>
                <a:gd name="T22" fmla="*/ 27 w 27"/>
                <a:gd name="T23" fmla="*/ 31 h 32"/>
                <a:gd name="T24" fmla="*/ 27 w 27"/>
                <a:gd name="T25" fmla="*/ 31 h 32"/>
                <a:gd name="T26" fmla="*/ 21 w 27"/>
                <a:gd name="T27" fmla="*/ 31 h 32"/>
                <a:gd name="T28" fmla="*/ 21 w 27"/>
                <a:gd name="T29" fmla="*/ 29 h 32"/>
                <a:gd name="T30" fmla="*/ 21 w 27"/>
                <a:gd name="T31" fmla="*/ 26 h 32"/>
                <a:gd name="T32" fmla="*/ 21 w 27"/>
                <a:gd name="T33" fmla="*/ 23 h 32"/>
                <a:gd name="T34" fmla="*/ 19 w 27"/>
                <a:gd name="T35" fmla="*/ 19 h 32"/>
                <a:gd name="T36" fmla="*/ 15 w 27"/>
                <a:gd name="T37" fmla="*/ 18 h 32"/>
                <a:gd name="T38" fmla="*/ 4 w 27"/>
                <a:gd name="T39" fmla="*/ 18 h 32"/>
                <a:gd name="T40" fmla="*/ 4 w 27"/>
                <a:gd name="T41" fmla="*/ 32 h 32"/>
                <a:gd name="T42" fmla="*/ 2 w 27"/>
                <a:gd name="T43" fmla="*/ 32 h 32"/>
                <a:gd name="T44" fmla="*/ 0 w 27"/>
                <a:gd name="T45" fmla="*/ 32 h 32"/>
                <a:gd name="T46" fmla="*/ 0 w 27"/>
                <a:gd name="T47" fmla="*/ 0 h 32"/>
                <a:gd name="T48" fmla="*/ 4 w 27"/>
                <a:gd name="T49" fmla="*/ 14 h 32"/>
                <a:gd name="T50" fmla="*/ 15 w 27"/>
                <a:gd name="T51" fmla="*/ 14 h 32"/>
                <a:gd name="T52" fmla="*/ 19 w 27"/>
                <a:gd name="T53" fmla="*/ 13 h 32"/>
                <a:gd name="T54" fmla="*/ 21 w 27"/>
                <a:gd name="T55" fmla="*/ 9 h 32"/>
                <a:gd name="T56" fmla="*/ 19 w 27"/>
                <a:gd name="T57" fmla="*/ 5 h 32"/>
                <a:gd name="T58" fmla="*/ 15 w 27"/>
                <a:gd name="T59" fmla="*/ 3 h 32"/>
                <a:gd name="T60" fmla="*/ 4 w 27"/>
                <a:gd name="T61" fmla="*/ 3 h 32"/>
                <a:gd name="T62" fmla="*/ 4 w 27"/>
                <a:gd name="T63" fmla="*/ 1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 h="32">
                  <a:moveTo>
                    <a:pt x="0" y="0"/>
                  </a:moveTo>
                  <a:cubicBezTo>
                    <a:pt x="2" y="0"/>
                    <a:pt x="2" y="0"/>
                    <a:pt x="2" y="0"/>
                  </a:cubicBezTo>
                  <a:cubicBezTo>
                    <a:pt x="15" y="0"/>
                    <a:pt x="15" y="0"/>
                    <a:pt x="15" y="0"/>
                  </a:cubicBezTo>
                  <a:cubicBezTo>
                    <a:pt x="18" y="0"/>
                    <a:pt x="21" y="1"/>
                    <a:pt x="23" y="2"/>
                  </a:cubicBezTo>
                  <a:cubicBezTo>
                    <a:pt x="24" y="3"/>
                    <a:pt x="25" y="6"/>
                    <a:pt x="25" y="8"/>
                  </a:cubicBezTo>
                  <a:cubicBezTo>
                    <a:pt x="25" y="11"/>
                    <a:pt x="24" y="13"/>
                    <a:pt x="23" y="15"/>
                  </a:cubicBezTo>
                  <a:cubicBezTo>
                    <a:pt x="22" y="15"/>
                    <a:pt x="22" y="16"/>
                    <a:pt x="21" y="16"/>
                  </a:cubicBezTo>
                  <a:cubicBezTo>
                    <a:pt x="22" y="16"/>
                    <a:pt x="22" y="16"/>
                    <a:pt x="22" y="16"/>
                  </a:cubicBezTo>
                  <a:cubicBezTo>
                    <a:pt x="24" y="17"/>
                    <a:pt x="25" y="19"/>
                    <a:pt x="25" y="22"/>
                  </a:cubicBezTo>
                  <a:cubicBezTo>
                    <a:pt x="25" y="28"/>
                    <a:pt x="25" y="28"/>
                    <a:pt x="25" y="28"/>
                  </a:cubicBezTo>
                  <a:cubicBezTo>
                    <a:pt x="25" y="29"/>
                    <a:pt x="25" y="29"/>
                    <a:pt x="25" y="30"/>
                  </a:cubicBezTo>
                  <a:cubicBezTo>
                    <a:pt x="26" y="30"/>
                    <a:pt x="26" y="30"/>
                    <a:pt x="27" y="31"/>
                  </a:cubicBezTo>
                  <a:cubicBezTo>
                    <a:pt x="27" y="31"/>
                    <a:pt x="27" y="31"/>
                    <a:pt x="27" y="31"/>
                  </a:cubicBezTo>
                  <a:cubicBezTo>
                    <a:pt x="21" y="31"/>
                    <a:pt x="21" y="31"/>
                    <a:pt x="21" y="31"/>
                  </a:cubicBezTo>
                  <a:cubicBezTo>
                    <a:pt x="21" y="31"/>
                    <a:pt x="21" y="31"/>
                    <a:pt x="21" y="29"/>
                  </a:cubicBezTo>
                  <a:cubicBezTo>
                    <a:pt x="21" y="28"/>
                    <a:pt x="21" y="27"/>
                    <a:pt x="21" y="26"/>
                  </a:cubicBezTo>
                  <a:cubicBezTo>
                    <a:pt x="21" y="23"/>
                    <a:pt x="21" y="23"/>
                    <a:pt x="21" y="23"/>
                  </a:cubicBezTo>
                  <a:cubicBezTo>
                    <a:pt x="21" y="21"/>
                    <a:pt x="20" y="20"/>
                    <a:pt x="19" y="19"/>
                  </a:cubicBezTo>
                  <a:cubicBezTo>
                    <a:pt x="18" y="18"/>
                    <a:pt x="17" y="18"/>
                    <a:pt x="15" y="18"/>
                  </a:cubicBezTo>
                  <a:cubicBezTo>
                    <a:pt x="4" y="18"/>
                    <a:pt x="4" y="18"/>
                    <a:pt x="4" y="18"/>
                  </a:cubicBezTo>
                  <a:cubicBezTo>
                    <a:pt x="4" y="32"/>
                    <a:pt x="4" y="32"/>
                    <a:pt x="4" y="32"/>
                  </a:cubicBezTo>
                  <a:cubicBezTo>
                    <a:pt x="2" y="32"/>
                    <a:pt x="2" y="32"/>
                    <a:pt x="2" y="32"/>
                  </a:cubicBezTo>
                  <a:cubicBezTo>
                    <a:pt x="0" y="32"/>
                    <a:pt x="0" y="32"/>
                    <a:pt x="0" y="32"/>
                  </a:cubicBezTo>
                  <a:lnTo>
                    <a:pt x="0" y="0"/>
                  </a:lnTo>
                  <a:close/>
                  <a:moveTo>
                    <a:pt x="4" y="14"/>
                  </a:moveTo>
                  <a:cubicBezTo>
                    <a:pt x="15" y="14"/>
                    <a:pt x="15" y="14"/>
                    <a:pt x="15" y="14"/>
                  </a:cubicBezTo>
                  <a:cubicBezTo>
                    <a:pt x="17" y="14"/>
                    <a:pt x="19" y="14"/>
                    <a:pt x="19" y="13"/>
                  </a:cubicBezTo>
                  <a:cubicBezTo>
                    <a:pt x="20" y="12"/>
                    <a:pt x="21" y="11"/>
                    <a:pt x="21" y="9"/>
                  </a:cubicBezTo>
                  <a:cubicBezTo>
                    <a:pt x="21" y="7"/>
                    <a:pt x="20" y="5"/>
                    <a:pt x="19" y="5"/>
                  </a:cubicBezTo>
                  <a:cubicBezTo>
                    <a:pt x="18" y="4"/>
                    <a:pt x="17" y="3"/>
                    <a:pt x="15" y="3"/>
                  </a:cubicBezTo>
                  <a:cubicBezTo>
                    <a:pt x="4" y="3"/>
                    <a:pt x="4" y="3"/>
                    <a:pt x="4" y="3"/>
                  </a:cubicBezTo>
                  <a:lnTo>
                    <a:pt x="4" y="14"/>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03" name="Freeform 101">
              <a:extLst>
                <a:ext uri="{FF2B5EF4-FFF2-40B4-BE49-F238E27FC236}">
                  <a16:creationId xmlns:a16="http://schemas.microsoft.com/office/drawing/2014/main" id="{F8DF5FB6-E020-4BA0-9852-054D87A07B8E}"/>
                </a:ext>
              </a:extLst>
            </p:cNvPr>
            <p:cNvSpPr>
              <a:spLocks/>
            </p:cNvSpPr>
            <p:nvPr userDrawn="1"/>
          </p:nvSpPr>
          <p:spPr bwMode="auto">
            <a:xfrm>
              <a:off x="1999" y="932"/>
              <a:ext cx="31" cy="41"/>
            </a:xfrm>
            <a:custGeom>
              <a:avLst/>
              <a:gdLst>
                <a:gd name="T0" fmla="*/ 20 w 25"/>
                <a:gd name="T1" fmla="*/ 10 h 33"/>
                <a:gd name="T2" fmla="*/ 18 w 25"/>
                <a:gd name="T3" fmla="*/ 5 h 33"/>
                <a:gd name="T4" fmla="*/ 12 w 25"/>
                <a:gd name="T5" fmla="*/ 4 h 33"/>
                <a:gd name="T6" fmla="*/ 7 w 25"/>
                <a:gd name="T7" fmla="*/ 5 h 33"/>
                <a:gd name="T8" fmla="*/ 5 w 25"/>
                <a:gd name="T9" fmla="*/ 9 h 33"/>
                <a:gd name="T10" fmla="*/ 6 w 25"/>
                <a:gd name="T11" fmla="*/ 12 h 33"/>
                <a:gd name="T12" fmla="*/ 11 w 25"/>
                <a:gd name="T13" fmla="*/ 14 h 33"/>
                <a:gd name="T14" fmla="*/ 17 w 25"/>
                <a:gd name="T15" fmla="*/ 15 h 33"/>
                <a:gd name="T16" fmla="*/ 23 w 25"/>
                <a:gd name="T17" fmla="*/ 18 h 33"/>
                <a:gd name="T18" fmla="*/ 25 w 25"/>
                <a:gd name="T19" fmla="*/ 24 h 33"/>
                <a:gd name="T20" fmla="*/ 22 w 25"/>
                <a:gd name="T21" fmla="*/ 31 h 33"/>
                <a:gd name="T22" fmla="*/ 13 w 25"/>
                <a:gd name="T23" fmla="*/ 33 h 33"/>
                <a:gd name="T24" fmla="*/ 3 w 25"/>
                <a:gd name="T25" fmla="*/ 30 h 33"/>
                <a:gd name="T26" fmla="*/ 0 w 25"/>
                <a:gd name="T27" fmla="*/ 23 h 33"/>
                <a:gd name="T28" fmla="*/ 0 w 25"/>
                <a:gd name="T29" fmla="*/ 22 h 33"/>
                <a:gd name="T30" fmla="*/ 4 w 25"/>
                <a:gd name="T31" fmla="*/ 22 h 33"/>
                <a:gd name="T32" fmla="*/ 6 w 25"/>
                <a:gd name="T33" fmla="*/ 28 h 33"/>
                <a:gd name="T34" fmla="*/ 13 w 25"/>
                <a:gd name="T35" fmla="*/ 30 h 33"/>
                <a:gd name="T36" fmla="*/ 19 w 25"/>
                <a:gd name="T37" fmla="*/ 28 h 33"/>
                <a:gd name="T38" fmla="*/ 21 w 25"/>
                <a:gd name="T39" fmla="*/ 24 h 33"/>
                <a:gd name="T40" fmla="*/ 20 w 25"/>
                <a:gd name="T41" fmla="*/ 21 h 33"/>
                <a:gd name="T42" fmla="*/ 14 w 25"/>
                <a:gd name="T43" fmla="*/ 19 h 33"/>
                <a:gd name="T44" fmla="*/ 9 w 25"/>
                <a:gd name="T45" fmla="*/ 17 h 33"/>
                <a:gd name="T46" fmla="*/ 3 w 25"/>
                <a:gd name="T47" fmla="*/ 15 h 33"/>
                <a:gd name="T48" fmla="*/ 1 w 25"/>
                <a:gd name="T49" fmla="*/ 10 h 33"/>
                <a:gd name="T50" fmla="*/ 4 w 25"/>
                <a:gd name="T51" fmla="*/ 3 h 33"/>
                <a:gd name="T52" fmla="*/ 12 w 25"/>
                <a:gd name="T53" fmla="*/ 0 h 33"/>
                <a:gd name="T54" fmla="*/ 21 w 25"/>
                <a:gd name="T55" fmla="*/ 3 h 33"/>
                <a:gd name="T56" fmla="*/ 24 w 25"/>
                <a:gd name="T57" fmla="*/ 10 h 33"/>
                <a:gd name="T58" fmla="*/ 20 w 25"/>
                <a:gd name="T59"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3">
                  <a:moveTo>
                    <a:pt x="20" y="10"/>
                  </a:moveTo>
                  <a:cubicBezTo>
                    <a:pt x="20" y="8"/>
                    <a:pt x="19" y="6"/>
                    <a:pt x="18" y="5"/>
                  </a:cubicBezTo>
                  <a:cubicBezTo>
                    <a:pt x="17" y="4"/>
                    <a:pt x="15" y="4"/>
                    <a:pt x="12" y="4"/>
                  </a:cubicBezTo>
                  <a:cubicBezTo>
                    <a:pt x="10" y="4"/>
                    <a:pt x="8" y="4"/>
                    <a:pt x="7" y="5"/>
                  </a:cubicBezTo>
                  <a:cubicBezTo>
                    <a:pt x="6" y="6"/>
                    <a:pt x="5" y="7"/>
                    <a:pt x="5" y="9"/>
                  </a:cubicBezTo>
                  <a:cubicBezTo>
                    <a:pt x="5" y="10"/>
                    <a:pt x="5" y="11"/>
                    <a:pt x="6" y="12"/>
                  </a:cubicBezTo>
                  <a:cubicBezTo>
                    <a:pt x="7" y="13"/>
                    <a:pt x="9" y="13"/>
                    <a:pt x="11" y="14"/>
                  </a:cubicBezTo>
                  <a:cubicBezTo>
                    <a:pt x="17" y="15"/>
                    <a:pt x="17" y="15"/>
                    <a:pt x="17" y="15"/>
                  </a:cubicBezTo>
                  <a:cubicBezTo>
                    <a:pt x="20" y="16"/>
                    <a:pt x="22" y="17"/>
                    <a:pt x="23" y="18"/>
                  </a:cubicBezTo>
                  <a:cubicBezTo>
                    <a:pt x="24" y="20"/>
                    <a:pt x="25" y="22"/>
                    <a:pt x="25" y="24"/>
                  </a:cubicBezTo>
                  <a:cubicBezTo>
                    <a:pt x="25" y="27"/>
                    <a:pt x="24" y="29"/>
                    <a:pt x="22" y="31"/>
                  </a:cubicBezTo>
                  <a:cubicBezTo>
                    <a:pt x="20" y="33"/>
                    <a:pt x="17" y="33"/>
                    <a:pt x="13" y="33"/>
                  </a:cubicBezTo>
                  <a:cubicBezTo>
                    <a:pt x="9" y="33"/>
                    <a:pt x="5" y="32"/>
                    <a:pt x="3" y="30"/>
                  </a:cubicBezTo>
                  <a:cubicBezTo>
                    <a:pt x="1" y="29"/>
                    <a:pt x="0" y="26"/>
                    <a:pt x="0" y="23"/>
                  </a:cubicBezTo>
                  <a:cubicBezTo>
                    <a:pt x="0" y="22"/>
                    <a:pt x="0" y="22"/>
                    <a:pt x="0" y="22"/>
                  </a:cubicBezTo>
                  <a:cubicBezTo>
                    <a:pt x="4" y="22"/>
                    <a:pt x="4" y="22"/>
                    <a:pt x="4" y="22"/>
                  </a:cubicBezTo>
                  <a:cubicBezTo>
                    <a:pt x="4" y="25"/>
                    <a:pt x="5" y="26"/>
                    <a:pt x="6" y="28"/>
                  </a:cubicBezTo>
                  <a:cubicBezTo>
                    <a:pt x="8" y="29"/>
                    <a:pt x="10" y="30"/>
                    <a:pt x="13" y="30"/>
                  </a:cubicBezTo>
                  <a:cubicBezTo>
                    <a:pt x="15" y="30"/>
                    <a:pt x="17" y="29"/>
                    <a:pt x="19" y="28"/>
                  </a:cubicBezTo>
                  <a:cubicBezTo>
                    <a:pt x="20" y="27"/>
                    <a:pt x="21" y="26"/>
                    <a:pt x="21" y="24"/>
                  </a:cubicBezTo>
                  <a:cubicBezTo>
                    <a:pt x="21" y="23"/>
                    <a:pt x="20" y="22"/>
                    <a:pt x="20" y="21"/>
                  </a:cubicBezTo>
                  <a:cubicBezTo>
                    <a:pt x="19" y="20"/>
                    <a:pt x="17" y="19"/>
                    <a:pt x="14" y="19"/>
                  </a:cubicBezTo>
                  <a:cubicBezTo>
                    <a:pt x="9" y="17"/>
                    <a:pt x="9" y="17"/>
                    <a:pt x="9" y="17"/>
                  </a:cubicBezTo>
                  <a:cubicBezTo>
                    <a:pt x="6" y="17"/>
                    <a:pt x="4" y="16"/>
                    <a:pt x="3" y="15"/>
                  </a:cubicBezTo>
                  <a:cubicBezTo>
                    <a:pt x="1" y="14"/>
                    <a:pt x="1" y="12"/>
                    <a:pt x="1" y="10"/>
                  </a:cubicBezTo>
                  <a:cubicBezTo>
                    <a:pt x="1" y="7"/>
                    <a:pt x="2" y="4"/>
                    <a:pt x="4" y="3"/>
                  </a:cubicBezTo>
                  <a:cubicBezTo>
                    <a:pt x="6" y="1"/>
                    <a:pt x="9" y="0"/>
                    <a:pt x="12" y="0"/>
                  </a:cubicBezTo>
                  <a:cubicBezTo>
                    <a:pt x="16" y="0"/>
                    <a:pt x="19" y="1"/>
                    <a:pt x="21" y="3"/>
                  </a:cubicBezTo>
                  <a:cubicBezTo>
                    <a:pt x="23" y="4"/>
                    <a:pt x="24" y="7"/>
                    <a:pt x="24" y="10"/>
                  </a:cubicBezTo>
                  <a:lnTo>
                    <a:pt x="20" y="1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04" name="Freeform 102">
              <a:extLst>
                <a:ext uri="{FF2B5EF4-FFF2-40B4-BE49-F238E27FC236}">
                  <a16:creationId xmlns:a16="http://schemas.microsoft.com/office/drawing/2014/main" id="{15D86F2D-B366-4E60-BB2F-800AEEBFC519}"/>
                </a:ext>
              </a:extLst>
            </p:cNvPr>
            <p:cNvSpPr>
              <a:spLocks/>
            </p:cNvSpPr>
            <p:nvPr userDrawn="1"/>
          </p:nvSpPr>
          <p:spPr bwMode="auto">
            <a:xfrm>
              <a:off x="2044"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05" name="Freeform 103">
              <a:extLst>
                <a:ext uri="{FF2B5EF4-FFF2-40B4-BE49-F238E27FC236}">
                  <a16:creationId xmlns:a16="http://schemas.microsoft.com/office/drawing/2014/main" id="{F0F228B6-44B5-47E7-9063-1647A0746FE8}"/>
                </a:ext>
              </a:extLst>
            </p:cNvPr>
            <p:cNvSpPr>
              <a:spLocks/>
            </p:cNvSpPr>
            <p:nvPr userDrawn="1"/>
          </p:nvSpPr>
          <p:spPr bwMode="auto">
            <a:xfrm>
              <a:off x="2060" y="933"/>
              <a:ext cx="32" cy="40"/>
            </a:xfrm>
            <a:custGeom>
              <a:avLst/>
              <a:gdLst>
                <a:gd name="T0" fmla="*/ 13 w 32"/>
                <a:gd name="T1" fmla="*/ 5 h 40"/>
                <a:gd name="T2" fmla="*/ 0 w 32"/>
                <a:gd name="T3" fmla="*/ 5 h 40"/>
                <a:gd name="T4" fmla="*/ 0 w 32"/>
                <a:gd name="T5" fmla="*/ 3 h 40"/>
                <a:gd name="T6" fmla="*/ 0 w 32"/>
                <a:gd name="T7" fmla="*/ 0 h 40"/>
                <a:gd name="T8" fmla="*/ 32 w 32"/>
                <a:gd name="T9" fmla="*/ 0 h 40"/>
                <a:gd name="T10" fmla="*/ 32 w 32"/>
                <a:gd name="T11" fmla="*/ 3 h 40"/>
                <a:gd name="T12" fmla="*/ 32 w 32"/>
                <a:gd name="T13" fmla="*/ 5 h 40"/>
                <a:gd name="T14" fmla="*/ 18 w 32"/>
                <a:gd name="T15" fmla="*/ 5 h 40"/>
                <a:gd name="T16" fmla="*/ 18 w 32"/>
                <a:gd name="T17" fmla="*/ 40 h 40"/>
                <a:gd name="T18" fmla="*/ 16 w 32"/>
                <a:gd name="T19" fmla="*/ 40 h 40"/>
                <a:gd name="T20" fmla="*/ 13 w 32"/>
                <a:gd name="T21" fmla="*/ 40 h 40"/>
                <a:gd name="T22" fmla="*/ 13 w 32"/>
                <a:gd name="T23" fmla="*/ 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 h="40">
                  <a:moveTo>
                    <a:pt x="13" y="5"/>
                  </a:moveTo>
                  <a:lnTo>
                    <a:pt x="0" y="5"/>
                  </a:lnTo>
                  <a:lnTo>
                    <a:pt x="0" y="3"/>
                  </a:lnTo>
                  <a:lnTo>
                    <a:pt x="0" y="0"/>
                  </a:lnTo>
                  <a:lnTo>
                    <a:pt x="32" y="0"/>
                  </a:lnTo>
                  <a:lnTo>
                    <a:pt x="32" y="3"/>
                  </a:lnTo>
                  <a:lnTo>
                    <a:pt x="32" y="5"/>
                  </a:lnTo>
                  <a:lnTo>
                    <a:pt x="18" y="5"/>
                  </a:lnTo>
                  <a:lnTo>
                    <a:pt x="18" y="40"/>
                  </a:lnTo>
                  <a:lnTo>
                    <a:pt x="16" y="40"/>
                  </a:lnTo>
                  <a:lnTo>
                    <a:pt x="13" y="40"/>
                  </a:lnTo>
                  <a:lnTo>
                    <a:pt x="13" y="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06" name="Freeform 104">
              <a:extLst>
                <a:ext uri="{FF2B5EF4-FFF2-40B4-BE49-F238E27FC236}">
                  <a16:creationId xmlns:a16="http://schemas.microsoft.com/office/drawing/2014/main" id="{05B41817-C9AC-4638-A15A-C65E648C89BE}"/>
                </a:ext>
              </a:extLst>
            </p:cNvPr>
            <p:cNvSpPr>
              <a:spLocks/>
            </p:cNvSpPr>
            <p:nvPr userDrawn="1"/>
          </p:nvSpPr>
          <p:spPr bwMode="auto">
            <a:xfrm>
              <a:off x="2101" y="933"/>
              <a:ext cx="34" cy="40"/>
            </a:xfrm>
            <a:custGeom>
              <a:avLst/>
              <a:gdLst>
                <a:gd name="T0" fmla="*/ 15 w 34"/>
                <a:gd name="T1" fmla="*/ 24 h 40"/>
                <a:gd name="T2" fmla="*/ 0 w 34"/>
                <a:gd name="T3" fmla="*/ 0 h 40"/>
                <a:gd name="T4" fmla="*/ 3 w 34"/>
                <a:gd name="T5" fmla="*/ 0 h 40"/>
                <a:gd name="T6" fmla="*/ 6 w 34"/>
                <a:gd name="T7" fmla="*/ 0 h 40"/>
                <a:gd name="T8" fmla="*/ 17 w 34"/>
                <a:gd name="T9" fmla="*/ 19 h 40"/>
                <a:gd name="T10" fmla="*/ 17 w 34"/>
                <a:gd name="T11" fmla="*/ 19 h 40"/>
                <a:gd name="T12" fmla="*/ 28 w 34"/>
                <a:gd name="T13" fmla="*/ 0 h 40"/>
                <a:gd name="T14" fmla="*/ 32 w 34"/>
                <a:gd name="T15" fmla="*/ 0 h 40"/>
                <a:gd name="T16" fmla="*/ 34 w 34"/>
                <a:gd name="T17" fmla="*/ 0 h 40"/>
                <a:gd name="T18" fmla="*/ 20 w 34"/>
                <a:gd name="T19" fmla="*/ 24 h 40"/>
                <a:gd name="T20" fmla="*/ 20 w 34"/>
                <a:gd name="T21" fmla="*/ 40 h 40"/>
                <a:gd name="T22" fmla="*/ 17 w 34"/>
                <a:gd name="T23" fmla="*/ 40 h 40"/>
                <a:gd name="T24" fmla="*/ 15 w 34"/>
                <a:gd name="T25" fmla="*/ 40 h 40"/>
                <a:gd name="T26" fmla="*/ 15 w 34"/>
                <a:gd name="T27"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4" h="40">
                  <a:moveTo>
                    <a:pt x="15" y="24"/>
                  </a:moveTo>
                  <a:lnTo>
                    <a:pt x="0" y="0"/>
                  </a:lnTo>
                  <a:lnTo>
                    <a:pt x="3" y="0"/>
                  </a:lnTo>
                  <a:lnTo>
                    <a:pt x="6" y="0"/>
                  </a:lnTo>
                  <a:lnTo>
                    <a:pt x="17" y="19"/>
                  </a:lnTo>
                  <a:lnTo>
                    <a:pt x="17" y="19"/>
                  </a:lnTo>
                  <a:lnTo>
                    <a:pt x="28" y="0"/>
                  </a:lnTo>
                  <a:lnTo>
                    <a:pt x="32" y="0"/>
                  </a:lnTo>
                  <a:lnTo>
                    <a:pt x="34" y="0"/>
                  </a:lnTo>
                  <a:lnTo>
                    <a:pt x="20" y="24"/>
                  </a:lnTo>
                  <a:lnTo>
                    <a:pt x="20" y="40"/>
                  </a:lnTo>
                  <a:lnTo>
                    <a:pt x="17" y="40"/>
                  </a:lnTo>
                  <a:lnTo>
                    <a:pt x="15" y="40"/>
                  </a:lnTo>
                  <a:lnTo>
                    <a:pt x="15" y="24"/>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07" name="Freeform 105">
              <a:extLst>
                <a:ext uri="{FF2B5EF4-FFF2-40B4-BE49-F238E27FC236}">
                  <a16:creationId xmlns:a16="http://schemas.microsoft.com/office/drawing/2014/main" id="{8D2C22D0-7B86-4535-83AD-2F518D99BB5B}"/>
                </a:ext>
              </a:extLst>
            </p:cNvPr>
            <p:cNvSpPr>
              <a:spLocks noEditPoints="1"/>
            </p:cNvSpPr>
            <p:nvPr userDrawn="1"/>
          </p:nvSpPr>
          <p:spPr bwMode="auto">
            <a:xfrm>
              <a:off x="954" y="660"/>
              <a:ext cx="350" cy="353"/>
            </a:xfrm>
            <a:custGeom>
              <a:avLst/>
              <a:gdLst>
                <a:gd name="T0" fmla="*/ 142 w 283"/>
                <a:gd name="T1" fmla="*/ 0 h 283"/>
                <a:gd name="T2" fmla="*/ 283 w 283"/>
                <a:gd name="T3" fmla="*/ 142 h 283"/>
                <a:gd name="T4" fmla="*/ 142 w 283"/>
                <a:gd name="T5" fmla="*/ 283 h 283"/>
                <a:gd name="T6" fmla="*/ 0 w 283"/>
                <a:gd name="T7" fmla="*/ 142 h 283"/>
                <a:gd name="T8" fmla="*/ 142 w 283"/>
                <a:gd name="T9" fmla="*/ 0 h 283"/>
                <a:gd name="T10" fmla="*/ 142 w 283"/>
                <a:gd name="T11" fmla="*/ 6 h 283"/>
                <a:gd name="T12" fmla="*/ 6 w 283"/>
                <a:gd name="T13" fmla="*/ 142 h 283"/>
                <a:gd name="T14" fmla="*/ 142 w 283"/>
                <a:gd name="T15" fmla="*/ 277 h 283"/>
                <a:gd name="T16" fmla="*/ 278 w 283"/>
                <a:gd name="T17" fmla="*/ 142 h 283"/>
                <a:gd name="T18" fmla="*/ 142 w 283"/>
                <a:gd name="T19" fmla="*/ 6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3" h="283">
                  <a:moveTo>
                    <a:pt x="142" y="0"/>
                  </a:moveTo>
                  <a:cubicBezTo>
                    <a:pt x="220" y="0"/>
                    <a:pt x="283" y="64"/>
                    <a:pt x="283" y="142"/>
                  </a:cubicBezTo>
                  <a:cubicBezTo>
                    <a:pt x="283" y="219"/>
                    <a:pt x="220" y="283"/>
                    <a:pt x="142" y="283"/>
                  </a:cubicBezTo>
                  <a:cubicBezTo>
                    <a:pt x="64" y="283"/>
                    <a:pt x="0" y="219"/>
                    <a:pt x="0" y="142"/>
                  </a:cubicBezTo>
                  <a:cubicBezTo>
                    <a:pt x="0" y="64"/>
                    <a:pt x="64" y="0"/>
                    <a:pt x="142" y="0"/>
                  </a:cubicBezTo>
                  <a:moveTo>
                    <a:pt x="142" y="6"/>
                  </a:moveTo>
                  <a:cubicBezTo>
                    <a:pt x="67" y="6"/>
                    <a:pt x="6" y="67"/>
                    <a:pt x="6" y="142"/>
                  </a:cubicBezTo>
                  <a:cubicBezTo>
                    <a:pt x="6" y="216"/>
                    <a:pt x="67" y="277"/>
                    <a:pt x="142" y="277"/>
                  </a:cubicBezTo>
                  <a:cubicBezTo>
                    <a:pt x="217" y="277"/>
                    <a:pt x="278" y="216"/>
                    <a:pt x="278" y="142"/>
                  </a:cubicBezTo>
                  <a:cubicBezTo>
                    <a:pt x="278" y="67"/>
                    <a:pt x="217" y="6"/>
                    <a:pt x="142" y="6"/>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08" name="Freeform 106">
              <a:extLst>
                <a:ext uri="{FF2B5EF4-FFF2-40B4-BE49-F238E27FC236}">
                  <a16:creationId xmlns:a16="http://schemas.microsoft.com/office/drawing/2014/main" id="{934A150E-A3B3-4FC2-BFE5-A3977D9AD978}"/>
                </a:ext>
              </a:extLst>
            </p:cNvPr>
            <p:cNvSpPr>
              <a:spLocks/>
            </p:cNvSpPr>
            <p:nvPr userDrawn="1"/>
          </p:nvSpPr>
          <p:spPr bwMode="auto">
            <a:xfrm>
              <a:off x="1033" y="739"/>
              <a:ext cx="193" cy="173"/>
            </a:xfrm>
            <a:custGeom>
              <a:avLst/>
              <a:gdLst>
                <a:gd name="T0" fmla="*/ 28 w 156"/>
                <a:gd name="T1" fmla="*/ 139 h 139"/>
                <a:gd name="T2" fmla="*/ 7 w 156"/>
                <a:gd name="T3" fmla="*/ 112 h 139"/>
                <a:gd name="T4" fmla="*/ 0 w 156"/>
                <a:gd name="T5" fmla="*/ 79 h 139"/>
                <a:gd name="T6" fmla="*/ 78 w 156"/>
                <a:gd name="T7" fmla="*/ 0 h 139"/>
                <a:gd name="T8" fmla="*/ 156 w 156"/>
                <a:gd name="T9" fmla="*/ 79 h 139"/>
                <a:gd name="T10" fmla="*/ 149 w 156"/>
                <a:gd name="T11" fmla="*/ 112 h 139"/>
                <a:gd name="T12" fmla="*/ 128 w 156"/>
                <a:gd name="T13" fmla="*/ 139 h 139"/>
                <a:gd name="T14" fmla="*/ 126 w 156"/>
                <a:gd name="T15" fmla="*/ 137 h 139"/>
                <a:gd name="T16" fmla="*/ 146 w 156"/>
                <a:gd name="T17" fmla="*/ 111 h 139"/>
                <a:gd name="T18" fmla="*/ 153 w 156"/>
                <a:gd name="T19" fmla="*/ 79 h 139"/>
                <a:gd name="T20" fmla="*/ 78 w 156"/>
                <a:gd name="T21" fmla="*/ 3 h 139"/>
                <a:gd name="T22" fmla="*/ 3 w 156"/>
                <a:gd name="T23" fmla="*/ 79 h 139"/>
                <a:gd name="T24" fmla="*/ 10 w 156"/>
                <a:gd name="T25" fmla="*/ 111 h 139"/>
                <a:gd name="T26" fmla="*/ 30 w 156"/>
                <a:gd name="T27" fmla="*/ 137 h 139"/>
                <a:gd name="T28" fmla="*/ 28 w 156"/>
                <a:gd name="T29" fmla="*/ 13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6" h="139">
                  <a:moveTo>
                    <a:pt x="28" y="139"/>
                  </a:moveTo>
                  <a:cubicBezTo>
                    <a:pt x="19" y="132"/>
                    <a:pt x="12" y="122"/>
                    <a:pt x="7" y="112"/>
                  </a:cubicBezTo>
                  <a:cubicBezTo>
                    <a:pt x="2" y="102"/>
                    <a:pt x="0" y="90"/>
                    <a:pt x="0" y="79"/>
                  </a:cubicBezTo>
                  <a:cubicBezTo>
                    <a:pt x="0" y="36"/>
                    <a:pt x="35" y="0"/>
                    <a:pt x="78" y="0"/>
                  </a:cubicBezTo>
                  <a:cubicBezTo>
                    <a:pt x="121" y="0"/>
                    <a:pt x="156" y="36"/>
                    <a:pt x="156" y="79"/>
                  </a:cubicBezTo>
                  <a:cubicBezTo>
                    <a:pt x="156" y="90"/>
                    <a:pt x="153" y="102"/>
                    <a:pt x="149" y="112"/>
                  </a:cubicBezTo>
                  <a:cubicBezTo>
                    <a:pt x="144" y="122"/>
                    <a:pt x="136" y="132"/>
                    <a:pt x="128" y="139"/>
                  </a:cubicBezTo>
                  <a:cubicBezTo>
                    <a:pt x="126" y="137"/>
                    <a:pt x="126" y="137"/>
                    <a:pt x="126" y="137"/>
                  </a:cubicBezTo>
                  <a:cubicBezTo>
                    <a:pt x="134" y="130"/>
                    <a:pt x="141" y="121"/>
                    <a:pt x="146" y="111"/>
                  </a:cubicBezTo>
                  <a:cubicBezTo>
                    <a:pt x="151" y="101"/>
                    <a:pt x="153" y="90"/>
                    <a:pt x="153" y="79"/>
                  </a:cubicBezTo>
                  <a:cubicBezTo>
                    <a:pt x="153" y="37"/>
                    <a:pt x="119" y="3"/>
                    <a:pt x="78" y="3"/>
                  </a:cubicBezTo>
                  <a:cubicBezTo>
                    <a:pt x="36" y="3"/>
                    <a:pt x="3" y="37"/>
                    <a:pt x="3" y="79"/>
                  </a:cubicBezTo>
                  <a:cubicBezTo>
                    <a:pt x="3" y="90"/>
                    <a:pt x="5" y="101"/>
                    <a:pt x="10" y="111"/>
                  </a:cubicBezTo>
                  <a:cubicBezTo>
                    <a:pt x="14" y="121"/>
                    <a:pt x="21" y="130"/>
                    <a:pt x="30" y="137"/>
                  </a:cubicBezTo>
                  <a:lnTo>
                    <a:pt x="28" y="13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09" name="Freeform 107">
              <a:extLst>
                <a:ext uri="{FF2B5EF4-FFF2-40B4-BE49-F238E27FC236}">
                  <a16:creationId xmlns:a16="http://schemas.microsoft.com/office/drawing/2014/main" id="{7EE6CE45-28C4-4F47-9729-2B0334E27C5E}"/>
                </a:ext>
              </a:extLst>
            </p:cNvPr>
            <p:cNvSpPr>
              <a:spLocks/>
            </p:cNvSpPr>
            <p:nvPr userDrawn="1"/>
          </p:nvSpPr>
          <p:spPr bwMode="auto">
            <a:xfrm>
              <a:off x="972" y="867"/>
              <a:ext cx="40" cy="29"/>
            </a:xfrm>
            <a:custGeom>
              <a:avLst/>
              <a:gdLst>
                <a:gd name="T0" fmla="*/ 8 w 40"/>
                <a:gd name="T1" fmla="*/ 29 h 29"/>
                <a:gd name="T2" fmla="*/ 0 w 40"/>
                <a:gd name="T3" fmla="*/ 10 h 29"/>
                <a:gd name="T4" fmla="*/ 4 w 40"/>
                <a:gd name="T5" fmla="*/ 9 h 29"/>
                <a:gd name="T6" fmla="*/ 35 w 40"/>
                <a:gd name="T7" fmla="*/ 14 h 29"/>
                <a:gd name="T8" fmla="*/ 30 w 40"/>
                <a:gd name="T9" fmla="*/ 1 h 29"/>
                <a:gd name="T10" fmla="*/ 34 w 40"/>
                <a:gd name="T11" fmla="*/ 0 h 29"/>
                <a:gd name="T12" fmla="*/ 40 w 40"/>
                <a:gd name="T13" fmla="*/ 16 h 29"/>
                <a:gd name="T14" fmla="*/ 36 w 40"/>
                <a:gd name="T15" fmla="*/ 17 h 29"/>
                <a:gd name="T16" fmla="*/ 7 w 40"/>
                <a:gd name="T17" fmla="*/ 14 h 29"/>
                <a:gd name="T18" fmla="*/ 12 w 40"/>
                <a:gd name="T19" fmla="*/ 27 h 29"/>
                <a:gd name="T20" fmla="*/ 8 w 40"/>
                <a:gd name="T21"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29">
                  <a:moveTo>
                    <a:pt x="8" y="29"/>
                  </a:moveTo>
                  <a:lnTo>
                    <a:pt x="0" y="10"/>
                  </a:lnTo>
                  <a:lnTo>
                    <a:pt x="4" y="9"/>
                  </a:lnTo>
                  <a:lnTo>
                    <a:pt x="35" y="14"/>
                  </a:lnTo>
                  <a:lnTo>
                    <a:pt x="30" y="1"/>
                  </a:lnTo>
                  <a:lnTo>
                    <a:pt x="34" y="0"/>
                  </a:lnTo>
                  <a:lnTo>
                    <a:pt x="40" y="16"/>
                  </a:lnTo>
                  <a:lnTo>
                    <a:pt x="36" y="17"/>
                  </a:lnTo>
                  <a:lnTo>
                    <a:pt x="7" y="14"/>
                  </a:lnTo>
                  <a:lnTo>
                    <a:pt x="12" y="27"/>
                  </a:lnTo>
                  <a:lnTo>
                    <a:pt x="8" y="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10" name="Freeform 108">
              <a:extLst>
                <a:ext uri="{FF2B5EF4-FFF2-40B4-BE49-F238E27FC236}">
                  <a16:creationId xmlns:a16="http://schemas.microsoft.com/office/drawing/2014/main" id="{15A327D2-7912-4808-B4A6-3FBABB3321D9}"/>
                </a:ext>
              </a:extLst>
            </p:cNvPr>
            <p:cNvSpPr>
              <a:spLocks/>
            </p:cNvSpPr>
            <p:nvPr userDrawn="1"/>
          </p:nvSpPr>
          <p:spPr bwMode="auto">
            <a:xfrm>
              <a:off x="984" y="888"/>
              <a:ext cx="38" cy="31"/>
            </a:xfrm>
            <a:custGeom>
              <a:avLst/>
              <a:gdLst>
                <a:gd name="T0" fmla="*/ 7 w 38"/>
                <a:gd name="T1" fmla="*/ 31 h 31"/>
                <a:gd name="T2" fmla="*/ 6 w 38"/>
                <a:gd name="T3" fmla="*/ 28 h 31"/>
                <a:gd name="T4" fmla="*/ 19 w 38"/>
                <a:gd name="T5" fmla="*/ 21 h 31"/>
                <a:gd name="T6" fmla="*/ 14 w 38"/>
                <a:gd name="T7" fmla="*/ 11 h 31"/>
                <a:gd name="T8" fmla="*/ 1 w 38"/>
                <a:gd name="T9" fmla="*/ 19 h 31"/>
                <a:gd name="T10" fmla="*/ 0 w 38"/>
                <a:gd name="T11" fmla="*/ 15 h 31"/>
                <a:gd name="T12" fmla="*/ 29 w 38"/>
                <a:gd name="T13" fmla="*/ 0 h 31"/>
                <a:gd name="T14" fmla="*/ 32 w 38"/>
                <a:gd name="T15" fmla="*/ 4 h 31"/>
                <a:gd name="T16" fmla="*/ 18 w 38"/>
                <a:gd name="T17" fmla="*/ 10 h 31"/>
                <a:gd name="T18" fmla="*/ 23 w 38"/>
                <a:gd name="T19" fmla="*/ 19 h 31"/>
                <a:gd name="T20" fmla="*/ 35 w 38"/>
                <a:gd name="T21" fmla="*/ 13 h 31"/>
                <a:gd name="T22" fmla="*/ 38 w 38"/>
                <a:gd name="T23" fmla="*/ 16 h 31"/>
                <a:gd name="T24" fmla="*/ 7 w 38"/>
                <a:gd name="T25"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1">
                  <a:moveTo>
                    <a:pt x="7" y="31"/>
                  </a:moveTo>
                  <a:lnTo>
                    <a:pt x="6" y="28"/>
                  </a:lnTo>
                  <a:lnTo>
                    <a:pt x="19" y="21"/>
                  </a:lnTo>
                  <a:lnTo>
                    <a:pt x="14" y="11"/>
                  </a:lnTo>
                  <a:lnTo>
                    <a:pt x="1" y="19"/>
                  </a:lnTo>
                  <a:lnTo>
                    <a:pt x="0" y="15"/>
                  </a:lnTo>
                  <a:lnTo>
                    <a:pt x="29" y="0"/>
                  </a:lnTo>
                  <a:lnTo>
                    <a:pt x="32" y="4"/>
                  </a:lnTo>
                  <a:lnTo>
                    <a:pt x="18" y="10"/>
                  </a:lnTo>
                  <a:lnTo>
                    <a:pt x="23" y="19"/>
                  </a:lnTo>
                  <a:lnTo>
                    <a:pt x="35" y="13"/>
                  </a:lnTo>
                  <a:lnTo>
                    <a:pt x="38" y="16"/>
                  </a:lnTo>
                  <a:lnTo>
                    <a:pt x="7" y="3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11" name="Freeform 109">
              <a:extLst>
                <a:ext uri="{FF2B5EF4-FFF2-40B4-BE49-F238E27FC236}">
                  <a16:creationId xmlns:a16="http://schemas.microsoft.com/office/drawing/2014/main" id="{B729E54D-35EF-4FCF-98ED-063EC9B36F12}"/>
                </a:ext>
              </a:extLst>
            </p:cNvPr>
            <p:cNvSpPr>
              <a:spLocks/>
            </p:cNvSpPr>
            <p:nvPr userDrawn="1"/>
          </p:nvSpPr>
          <p:spPr bwMode="auto">
            <a:xfrm>
              <a:off x="995" y="906"/>
              <a:ext cx="38" cy="33"/>
            </a:xfrm>
            <a:custGeom>
              <a:avLst/>
              <a:gdLst>
                <a:gd name="T0" fmla="*/ 11 w 38"/>
                <a:gd name="T1" fmla="*/ 33 h 33"/>
                <a:gd name="T2" fmla="*/ 0 w 38"/>
                <a:gd name="T3" fmla="*/ 18 h 33"/>
                <a:gd name="T4" fmla="*/ 28 w 38"/>
                <a:gd name="T5" fmla="*/ 0 h 33"/>
                <a:gd name="T6" fmla="*/ 38 w 38"/>
                <a:gd name="T7" fmla="*/ 15 h 33"/>
                <a:gd name="T8" fmla="*/ 36 w 38"/>
                <a:gd name="T9" fmla="*/ 17 h 33"/>
                <a:gd name="T10" fmla="*/ 27 w 38"/>
                <a:gd name="T11" fmla="*/ 6 h 33"/>
                <a:gd name="T12" fmla="*/ 18 w 38"/>
                <a:gd name="T13" fmla="*/ 11 h 33"/>
                <a:gd name="T14" fmla="*/ 26 w 38"/>
                <a:gd name="T15" fmla="*/ 21 h 33"/>
                <a:gd name="T16" fmla="*/ 23 w 38"/>
                <a:gd name="T17" fmla="*/ 23 h 33"/>
                <a:gd name="T18" fmla="*/ 16 w 38"/>
                <a:gd name="T19" fmla="*/ 13 h 33"/>
                <a:gd name="T20" fmla="*/ 6 w 38"/>
                <a:gd name="T21" fmla="*/ 20 h 33"/>
                <a:gd name="T22" fmla="*/ 13 w 38"/>
                <a:gd name="T23" fmla="*/ 31 h 33"/>
                <a:gd name="T24" fmla="*/ 11 w 38"/>
                <a:gd name="T25"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3">
                  <a:moveTo>
                    <a:pt x="11" y="33"/>
                  </a:moveTo>
                  <a:lnTo>
                    <a:pt x="0" y="18"/>
                  </a:lnTo>
                  <a:lnTo>
                    <a:pt x="28" y="0"/>
                  </a:lnTo>
                  <a:lnTo>
                    <a:pt x="38" y="15"/>
                  </a:lnTo>
                  <a:lnTo>
                    <a:pt x="36" y="17"/>
                  </a:lnTo>
                  <a:lnTo>
                    <a:pt x="27" y="6"/>
                  </a:lnTo>
                  <a:lnTo>
                    <a:pt x="18" y="11"/>
                  </a:lnTo>
                  <a:lnTo>
                    <a:pt x="26" y="21"/>
                  </a:lnTo>
                  <a:lnTo>
                    <a:pt x="23" y="23"/>
                  </a:lnTo>
                  <a:lnTo>
                    <a:pt x="16" y="13"/>
                  </a:lnTo>
                  <a:lnTo>
                    <a:pt x="6" y="20"/>
                  </a:lnTo>
                  <a:lnTo>
                    <a:pt x="13" y="31"/>
                  </a:lnTo>
                  <a:lnTo>
                    <a:pt x="11" y="3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12" name="Freeform 110">
              <a:extLst>
                <a:ext uri="{FF2B5EF4-FFF2-40B4-BE49-F238E27FC236}">
                  <a16:creationId xmlns:a16="http://schemas.microsoft.com/office/drawing/2014/main" id="{3F9BB731-9479-45C1-809F-6363624180B6}"/>
                </a:ext>
              </a:extLst>
            </p:cNvPr>
            <p:cNvSpPr>
              <a:spLocks/>
            </p:cNvSpPr>
            <p:nvPr userDrawn="1"/>
          </p:nvSpPr>
          <p:spPr bwMode="auto">
            <a:xfrm>
              <a:off x="1026" y="934"/>
              <a:ext cx="24" cy="29"/>
            </a:xfrm>
            <a:custGeom>
              <a:avLst/>
              <a:gdLst>
                <a:gd name="T0" fmla="*/ 3 w 24"/>
                <a:gd name="T1" fmla="*/ 29 h 29"/>
                <a:gd name="T2" fmla="*/ 0 w 24"/>
                <a:gd name="T3" fmla="*/ 26 h 29"/>
                <a:gd name="T4" fmla="*/ 21 w 24"/>
                <a:gd name="T5" fmla="*/ 0 h 29"/>
                <a:gd name="T6" fmla="*/ 24 w 24"/>
                <a:gd name="T7" fmla="*/ 3 h 29"/>
                <a:gd name="T8" fmla="*/ 3 w 24"/>
                <a:gd name="T9" fmla="*/ 29 h 29"/>
              </a:gdLst>
              <a:ahLst/>
              <a:cxnLst>
                <a:cxn ang="0">
                  <a:pos x="T0" y="T1"/>
                </a:cxn>
                <a:cxn ang="0">
                  <a:pos x="T2" y="T3"/>
                </a:cxn>
                <a:cxn ang="0">
                  <a:pos x="T4" y="T5"/>
                </a:cxn>
                <a:cxn ang="0">
                  <a:pos x="T6" y="T7"/>
                </a:cxn>
                <a:cxn ang="0">
                  <a:pos x="T8" y="T9"/>
                </a:cxn>
              </a:cxnLst>
              <a:rect l="0" t="0" r="r" b="b"/>
              <a:pathLst>
                <a:path w="24" h="29">
                  <a:moveTo>
                    <a:pt x="3" y="29"/>
                  </a:moveTo>
                  <a:lnTo>
                    <a:pt x="0" y="26"/>
                  </a:lnTo>
                  <a:lnTo>
                    <a:pt x="21" y="0"/>
                  </a:lnTo>
                  <a:lnTo>
                    <a:pt x="24" y="3"/>
                  </a:lnTo>
                  <a:lnTo>
                    <a:pt x="3" y="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13" name="Freeform 111">
              <a:extLst>
                <a:ext uri="{FF2B5EF4-FFF2-40B4-BE49-F238E27FC236}">
                  <a16:creationId xmlns:a16="http://schemas.microsoft.com/office/drawing/2014/main" id="{0171B7E7-9783-4C3F-8AC4-86548F27A2C8}"/>
                </a:ext>
              </a:extLst>
            </p:cNvPr>
            <p:cNvSpPr>
              <a:spLocks noEditPoints="1"/>
            </p:cNvSpPr>
            <p:nvPr userDrawn="1"/>
          </p:nvSpPr>
          <p:spPr bwMode="auto">
            <a:xfrm>
              <a:off x="1034" y="942"/>
              <a:ext cx="29" cy="35"/>
            </a:xfrm>
            <a:custGeom>
              <a:avLst/>
              <a:gdLst>
                <a:gd name="T0" fmla="*/ 11 w 29"/>
                <a:gd name="T1" fmla="*/ 32 h 35"/>
                <a:gd name="T2" fmla="*/ 16 w 29"/>
                <a:gd name="T3" fmla="*/ 23 h 35"/>
                <a:gd name="T4" fmla="*/ 11 w 29"/>
                <a:gd name="T5" fmla="*/ 20 h 35"/>
                <a:gd name="T6" fmla="*/ 3 w 29"/>
                <a:gd name="T7" fmla="*/ 27 h 35"/>
                <a:gd name="T8" fmla="*/ 0 w 29"/>
                <a:gd name="T9" fmla="*/ 25 h 35"/>
                <a:gd name="T10" fmla="*/ 24 w 29"/>
                <a:gd name="T11" fmla="*/ 0 h 35"/>
                <a:gd name="T12" fmla="*/ 29 w 29"/>
                <a:gd name="T13" fmla="*/ 2 h 35"/>
                <a:gd name="T14" fmla="*/ 16 w 29"/>
                <a:gd name="T15" fmla="*/ 35 h 35"/>
                <a:gd name="T16" fmla="*/ 11 w 29"/>
                <a:gd name="T17" fmla="*/ 32 h 35"/>
                <a:gd name="T18" fmla="*/ 19 w 29"/>
                <a:gd name="T19" fmla="*/ 18 h 35"/>
                <a:gd name="T20" fmla="*/ 24 w 29"/>
                <a:gd name="T21" fmla="*/ 7 h 35"/>
                <a:gd name="T22" fmla="*/ 23 w 29"/>
                <a:gd name="T23" fmla="*/ 6 h 35"/>
                <a:gd name="T24" fmla="*/ 14 w 29"/>
                <a:gd name="T25" fmla="*/ 16 h 35"/>
                <a:gd name="T26" fmla="*/ 19 w 29"/>
                <a:gd name="T2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35">
                  <a:moveTo>
                    <a:pt x="11" y="32"/>
                  </a:moveTo>
                  <a:lnTo>
                    <a:pt x="16" y="23"/>
                  </a:lnTo>
                  <a:lnTo>
                    <a:pt x="11" y="20"/>
                  </a:lnTo>
                  <a:lnTo>
                    <a:pt x="3" y="27"/>
                  </a:lnTo>
                  <a:lnTo>
                    <a:pt x="0" y="25"/>
                  </a:lnTo>
                  <a:lnTo>
                    <a:pt x="24" y="0"/>
                  </a:lnTo>
                  <a:lnTo>
                    <a:pt x="29" y="2"/>
                  </a:lnTo>
                  <a:lnTo>
                    <a:pt x="16" y="35"/>
                  </a:lnTo>
                  <a:lnTo>
                    <a:pt x="11" y="32"/>
                  </a:lnTo>
                  <a:close/>
                  <a:moveTo>
                    <a:pt x="19" y="18"/>
                  </a:moveTo>
                  <a:lnTo>
                    <a:pt x="24" y="7"/>
                  </a:lnTo>
                  <a:lnTo>
                    <a:pt x="23" y="6"/>
                  </a:lnTo>
                  <a:lnTo>
                    <a:pt x="14" y="16"/>
                  </a:lnTo>
                  <a:lnTo>
                    <a:pt x="19" y="1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14" name="Freeform 112">
              <a:extLst>
                <a:ext uri="{FF2B5EF4-FFF2-40B4-BE49-F238E27FC236}">
                  <a16:creationId xmlns:a16="http://schemas.microsoft.com/office/drawing/2014/main" id="{E2AD9E5D-C071-4007-92F5-3C0700220313}"/>
                </a:ext>
              </a:extLst>
            </p:cNvPr>
            <p:cNvSpPr>
              <a:spLocks/>
            </p:cNvSpPr>
            <p:nvPr userDrawn="1"/>
          </p:nvSpPr>
          <p:spPr bwMode="auto">
            <a:xfrm>
              <a:off x="1054" y="948"/>
              <a:ext cx="32" cy="39"/>
            </a:xfrm>
            <a:custGeom>
              <a:avLst/>
              <a:gdLst>
                <a:gd name="T0" fmla="*/ 16 w 32"/>
                <a:gd name="T1" fmla="*/ 39 h 39"/>
                <a:gd name="T2" fmla="*/ 13 w 32"/>
                <a:gd name="T3" fmla="*/ 36 h 39"/>
                <a:gd name="T4" fmla="*/ 15 w 32"/>
                <a:gd name="T5" fmla="*/ 12 h 39"/>
                <a:gd name="T6" fmla="*/ 5 w 32"/>
                <a:gd name="T7" fmla="*/ 32 h 39"/>
                <a:gd name="T8" fmla="*/ 0 w 32"/>
                <a:gd name="T9" fmla="*/ 30 h 39"/>
                <a:gd name="T10" fmla="*/ 16 w 32"/>
                <a:gd name="T11" fmla="*/ 0 h 39"/>
                <a:gd name="T12" fmla="*/ 20 w 32"/>
                <a:gd name="T13" fmla="*/ 1 h 39"/>
                <a:gd name="T14" fmla="*/ 19 w 32"/>
                <a:gd name="T15" fmla="*/ 25 h 39"/>
                <a:gd name="T16" fmla="*/ 29 w 32"/>
                <a:gd name="T17" fmla="*/ 5 h 39"/>
                <a:gd name="T18" fmla="*/ 32 w 32"/>
                <a:gd name="T19" fmla="*/ 7 h 39"/>
                <a:gd name="T20" fmla="*/ 16 w 32"/>
                <a:gd name="T21"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39">
                  <a:moveTo>
                    <a:pt x="16" y="39"/>
                  </a:moveTo>
                  <a:lnTo>
                    <a:pt x="13" y="36"/>
                  </a:lnTo>
                  <a:lnTo>
                    <a:pt x="15" y="12"/>
                  </a:lnTo>
                  <a:lnTo>
                    <a:pt x="5" y="32"/>
                  </a:lnTo>
                  <a:lnTo>
                    <a:pt x="0" y="30"/>
                  </a:lnTo>
                  <a:lnTo>
                    <a:pt x="16" y="0"/>
                  </a:lnTo>
                  <a:lnTo>
                    <a:pt x="20" y="1"/>
                  </a:lnTo>
                  <a:lnTo>
                    <a:pt x="19" y="25"/>
                  </a:lnTo>
                  <a:lnTo>
                    <a:pt x="29" y="5"/>
                  </a:lnTo>
                  <a:lnTo>
                    <a:pt x="32" y="7"/>
                  </a:lnTo>
                  <a:lnTo>
                    <a:pt x="16" y="3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15" name="Freeform 113">
              <a:extLst>
                <a:ext uri="{FF2B5EF4-FFF2-40B4-BE49-F238E27FC236}">
                  <a16:creationId xmlns:a16="http://schemas.microsoft.com/office/drawing/2014/main" id="{76C61428-4B8F-4211-BEEE-EFB70AD748E8}"/>
                </a:ext>
              </a:extLst>
            </p:cNvPr>
            <p:cNvSpPr>
              <a:spLocks/>
            </p:cNvSpPr>
            <p:nvPr userDrawn="1"/>
          </p:nvSpPr>
          <p:spPr bwMode="auto">
            <a:xfrm>
              <a:off x="1079" y="957"/>
              <a:ext cx="23" cy="36"/>
            </a:xfrm>
            <a:custGeom>
              <a:avLst/>
              <a:gdLst>
                <a:gd name="T0" fmla="*/ 12 w 19"/>
                <a:gd name="T1" fmla="*/ 29 h 29"/>
                <a:gd name="T2" fmla="*/ 10 w 19"/>
                <a:gd name="T3" fmla="*/ 29 h 29"/>
                <a:gd name="T4" fmla="*/ 10 w 19"/>
                <a:gd name="T5" fmla="*/ 26 h 29"/>
                <a:gd name="T6" fmla="*/ 8 w 19"/>
                <a:gd name="T7" fmla="*/ 27 h 29"/>
                <a:gd name="T8" fmla="*/ 5 w 19"/>
                <a:gd name="T9" fmla="*/ 27 h 29"/>
                <a:gd name="T10" fmla="*/ 1 w 19"/>
                <a:gd name="T11" fmla="*/ 23 h 29"/>
                <a:gd name="T12" fmla="*/ 1 w 19"/>
                <a:gd name="T13" fmla="*/ 13 h 29"/>
                <a:gd name="T14" fmla="*/ 6 w 19"/>
                <a:gd name="T15" fmla="*/ 3 h 29"/>
                <a:gd name="T16" fmla="*/ 14 w 19"/>
                <a:gd name="T17" fmla="*/ 1 h 29"/>
                <a:gd name="T18" fmla="*/ 18 w 19"/>
                <a:gd name="T19" fmla="*/ 11 h 29"/>
                <a:gd name="T20" fmla="*/ 15 w 19"/>
                <a:gd name="T21" fmla="*/ 11 h 29"/>
                <a:gd name="T22" fmla="*/ 13 w 19"/>
                <a:gd name="T23" fmla="*/ 4 h 29"/>
                <a:gd name="T24" fmla="*/ 8 w 19"/>
                <a:gd name="T25" fmla="*/ 6 h 29"/>
                <a:gd name="T26" fmla="*/ 5 w 19"/>
                <a:gd name="T27" fmla="*/ 14 h 29"/>
                <a:gd name="T28" fmla="*/ 4 w 19"/>
                <a:gd name="T29" fmla="*/ 21 h 29"/>
                <a:gd name="T30" fmla="*/ 6 w 19"/>
                <a:gd name="T31" fmla="*/ 24 h 29"/>
                <a:gd name="T32" fmla="*/ 9 w 19"/>
                <a:gd name="T33" fmla="*/ 24 h 29"/>
                <a:gd name="T34" fmla="*/ 12 w 19"/>
                <a:gd name="T35" fmla="*/ 20 h 29"/>
                <a:gd name="T36" fmla="*/ 12 w 19"/>
                <a:gd name="T37" fmla="*/ 18 h 29"/>
                <a:gd name="T38" fmla="*/ 8 w 19"/>
                <a:gd name="T39" fmla="*/ 17 h 29"/>
                <a:gd name="T40" fmla="*/ 9 w 19"/>
                <a:gd name="T41" fmla="*/ 14 h 29"/>
                <a:gd name="T42" fmla="*/ 16 w 19"/>
                <a:gd name="T43" fmla="*/ 17 h 29"/>
                <a:gd name="T44" fmla="*/ 12 w 19"/>
                <a:gd name="T45"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29">
                  <a:moveTo>
                    <a:pt x="12" y="29"/>
                  </a:moveTo>
                  <a:cubicBezTo>
                    <a:pt x="10" y="29"/>
                    <a:pt x="10" y="29"/>
                    <a:pt x="10" y="29"/>
                  </a:cubicBezTo>
                  <a:cubicBezTo>
                    <a:pt x="10" y="26"/>
                    <a:pt x="10" y="26"/>
                    <a:pt x="10" y="26"/>
                  </a:cubicBezTo>
                  <a:cubicBezTo>
                    <a:pt x="9" y="27"/>
                    <a:pt x="9" y="27"/>
                    <a:pt x="8" y="27"/>
                  </a:cubicBezTo>
                  <a:cubicBezTo>
                    <a:pt x="7" y="27"/>
                    <a:pt x="6" y="27"/>
                    <a:pt x="5" y="27"/>
                  </a:cubicBezTo>
                  <a:cubicBezTo>
                    <a:pt x="3" y="26"/>
                    <a:pt x="2" y="25"/>
                    <a:pt x="1" y="23"/>
                  </a:cubicBezTo>
                  <a:cubicBezTo>
                    <a:pt x="0" y="20"/>
                    <a:pt x="0" y="17"/>
                    <a:pt x="1" y="13"/>
                  </a:cubicBezTo>
                  <a:cubicBezTo>
                    <a:pt x="3" y="8"/>
                    <a:pt x="4" y="5"/>
                    <a:pt x="6" y="3"/>
                  </a:cubicBezTo>
                  <a:cubicBezTo>
                    <a:pt x="9" y="1"/>
                    <a:pt x="12" y="0"/>
                    <a:pt x="14" y="1"/>
                  </a:cubicBezTo>
                  <a:cubicBezTo>
                    <a:pt x="17" y="2"/>
                    <a:pt x="19" y="6"/>
                    <a:pt x="18" y="11"/>
                  </a:cubicBezTo>
                  <a:cubicBezTo>
                    <a:pt x="15" y="11"/>
                    <a:pt x="15" y="11"/>
                    <a:pt x="15" y="11"/>
                  </a:cubicBezTo>
                  <a:cubicBezTo>
                    <a:pt x="16" y="9"/>
                    <a:pt x="15" y="5"/>
                    <a:pt x="13" y="4"/>
                  </a:cubicBezTo>
                  <a:cubicBezTo>
                    <a:pt x="11" y="4"/>
                    <a:pt x="9" y="4"/>
                    <a:pt x="8" y="6"/>
                  </a:cubicBezTo>
                  <a:cubicBezTo>
                    <a:pt x="7" y="7"/>
                    <a:pt x="6" y="10"/>
                    <a:pt x="5" y="14"/>
                  </a:cubicBezTo>
                  <a:cubicBezTo>
                    <a:pt x="4" y="17"/>
                    <a:pt x="3" y="20"/>
                    <a:pt x="4" y="21"/>
                  </a:cubicBezTo>
                  <a:cubicBezTo>
                    <a:pt x="4" y="23"/>
                    <a:pt x="5" y="24"/>
                    <a:pt x="6" y="24"/>
                  </a:cubicBezTo>
                  <a:cubicBezTo>
                    <a:pt x="7" y="25"/>
                    <a:pt x="9" y="25"/>
                    <a:pt x="9" y="24"/>
                  </a:cubicBezTo>
                  <a:cubicBezTo>
                    <a:pt x="10" y="23"/>
                    <a:pt x="11" y="22"/>
                    <a:pt x="12" y="20"/>
                  </a:cubicBezTo>
                  <a:cubicBezTo>
                    <a:pt x="12" y="18"/>
                    <a:pt x="12" y="18"/>
                    <a:pt x="12" y="18"/>
                  </a:cubicBezTo>
                  <a:cubicBezTo>
                    <a:pt x="8" y="17"/>
                    <a:pt x="8" y="17"/>
                    <a:pt x="8" y="17"/>
                  </a:cubicBezTo>
                  <a:cubicBezTo>
                    <a:pt x="9" y="14"/>
                    <a:pt x="9" y="14"/>
                    <a:pt x="9" y="14"/>
                  </a:cubicBezTo>
                  <a:cubicBezTo>
                    <a:pt x="16" y="17"/>
                    <a:pt x="16" y="17"/>
                    <a:pt x="16" y="17"/>
                  </a:cubicBezTo>
                  <a:lnTo>
                    <a:pt x="12" y="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16" name="Freeform 114">
              <a:extLst>
                <a:ext uri="{FF2B5EF4-FFF2-40B4-BE49-F238E27FC236}">
                  <a16:creationId xmlns:a16="http://schemas.microsoft.com/office/drawing/2014/main" id="{9D715EB2-0A69-4AA7-B3E9-0775ED5E4B1B}"/>
                </a:ext>
              </a:extLst>
            </p:cNvPr>
            <p:cNvSpPr>
              <a:spLocks/>
            </p:cNvSpPr>
            <p:nvPr userDrawn="1"/>
          </p:nvSpPr>
          <p:spPr bwMode="auto">
            <a:xfrm>
              <a:off x="1121" y="962"/>
              <a:ext cx="19" cy="33"/>
            </a:xfrm>
            <a:custGeom>
              <a:avLst/>
              <a:gdLst>
                <a:gd name="T0" fmla="*/ 15 w 15"/>
                <a:gd name="T1" fmla="*/ 19 h 27"/>
                <a:gd name="T2" fmla="*/ 13 w 15"/>
                <a:gd name="T3" fmla="*/ 25 h 27"/>
                <a:gd name="T4" fmla="*/ 7 w 15"/>
                <a:gd name="T5" fmla="*/ 27 h 27"/>
                <a:gd name="T6" fmla="*/ 1 w 15"/>
                <a:gd name="T7" fmla="*/ 25 h 27"/>
                <a:gd name="T8" fmla="*/ 0 w 15"/>
                <a:gd name="T9" fmla="*/ 19 h 27"/>
                <a:gd name="T10" fmla="*/ 0 w 15"/>
                <a:gd name="T11" fmla="*/ 0 h 27"/>
                <a:gd name="T12" fmla="*/ 4 w 15"/>
                <a:gd name="T13" fmla="*/ 0 h 27"/>
                <a:gd name="T14" fmla="*/ 3 w 15"/>
                <a:gd name="T15" fmla="*/ 19 h 27"/>
                <a:gd name="T16" fmla="*/ 4 w 15"/>
                <a:gd name="T17" fmla="*/ 23 h 27"/>
                <a:gd name="T18" fmla="*/ 7 w 15"/>
                <a:gd name="T19" fmla="*/ 24 h 27"/>
                <a:gd name="T20" fmla="*/ 10 w 15"/>
                <a:gd name="T21" fmla="*/ 23 h 27"/>
                <a:gd name="T22" fmla="*/ 11 w 15"/>
                <a:gd name="T23" fmla="*/ 19 h 27"/>
                <a:gd name="T24" fmla="*/ 12 w 15"/>
                <a:gd name="T25" fmla="*/ 0 h 27"/>
                <a:gd name="T26" fmla="*/ 15 w 15"/>
                <a:gd name="T27" fmla="*/ 0 h 27"/>
                <a:gd name="T28" fmla="*/ 15 w 15"/>
                <a:gd name="T29"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7">
                  <a:moveTo>
                    <a:pt x="15" y="19"/>
                  </a:moveTo>
                  <a:cubicBezTo>
                    <a:pt x="15" y="22"/>
                    <a:pt x="14" y="24"/>
                    <a:pt x="13" y="25"/>
                  </a:cubicBezTo>
                  <a:cubicBezTo>
                    <a:pt x="11" y="27"/>
                    <a:pt x="10" y="27"/>
                    <a:pt x="7" y="27"/>
                  </a:cubicBezTo>
                  <a:cubicBezTo>
                    <a:pt x="4" y="27"/>
                    <a:pt x="2" y="26"/>
                    <a:pt x="1" y="25"/>
                  </a:cubicBezTo>
                  <a:cubicBezTo>
                    <a:pt x="0" y="23"/>
                    <a:pt x="0" y="21"/>
                    <a:pt x="0" y="19"/>
                  </a:cubicBezTo>
                  <a:cubicBezTo>
                    <a:pt x="0" y="0"/>
                    <a:pt x="0" y="0"/>
                    <a:pt x="0" y="0"/>
                  </a:cubicBezTo>
                  <a:cubicBezTo>
                    <a:pt x="4" y="0"/>
                    <a:pt x="4" y="0"/>
                    <a:pt x="4" y="0"/>
                  </a:cubicBezTo>
                  <a:cubicBezTo>
                    <a:pt x="3" y="19"/>
                    <a:pt x="3" y="19"/>
                    <a:pt x="3" y="19"/>
                  </a:cubicBezTo>
                  <a:cubicBezTo>
                    <a:pt x="3" y="21"/>
                    <a:pt x="3" y="22"/>
                    <a:pt x="4" y="23"/>
                  </a:cubicBezTo>
                  <a:cubicBezTo>
                    <a:pt x="5" y="24"/>
                    <a:pt x="6" y="24"/>
                    <a:pt x="7" y="24"/>
                  </a:cubicBezTo>
                  <a:cubicBezTo>
                    <a:pt x="8" y="24"/>
                    <a:pt x="9" y="24"/>
                    <a:pt x="10" y="23"/>
                  </a:cubicBezTo>
                  <a:cubicBezTo>
                    <a:pt x="11" y="22"/>
                    <a:pt x="11" y="21"/>
                    <a:pt x="11" y="19"/>
                  </a:cubicBezTo>
                  <a:cubicBezTo>
                    <a:pt x="12" y="0"/>
                    <a:pt x="12" y="0"/>
                    <a:pt x="12" y="0"/>
                  </a:cubicBezTo>
                  <a:cubicBezTo>
                    <a:pt x="15" y="0"/>
                    <a:pt x="15" y="0"/>
                    <a:pt x="15" y="0"/>
                  </a:cubicBezTo>
                  <a:lnTo>
                    <a:pt x="15" y="1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17" name="Freeform 115">
              <a:extLst>
                <a:ext uri="{FF2B5EF4-FFF2-40B4-BE49-F238E27FC236}">
                  <a16:creationId xmlns:a16="http://schemas.microsoft.com/office/drawing/2014/main" id="{E94DC579-550F-4749-B8B8-6374D698469A}"/>
                </a:ext>
              </a:extLst>
            </p:cNvPr>
            <p:cNvSpPr>
              <a:spLocks/>
            </p:cNvSpPr>
            <p:nvPr userDrawn="1"/>
          </p:nvSpPr>
          <p:spPr bwMode="auto">
            <a:xfrm>
              <a:off x="1142" y="959"/>
              <a:ext cx="21" cy="36"/>
            </a:xfrm>
            <a:custGeom>
              <a:avLst/>
              <a:gdLst>
                <a:gd name="T0" fmla="*/ 21 w 21"/>
                <a:gd name="T1" fmla="*/ 33 h 36"/>
                <a:gd name="T2" fmla="*/ 17 w 21"/>
                <a:gd name="T3" fmla="*/ 34 h 36"/>
                <a:gd name="T4" fmla="*/ 5 w 21"/>
                <a:gd name="T5" fmla="*/ 11 h 36"/>
                <a:gd name="T6" fmla="*/ 8 w 21"/>
                <a:gd name="T7" fmla="*/ 35 h 36"/>
                <a:gd name="T8" fmla="*/ 3 w 21"/>
                <a:gd name="T9" fmla="*/ 36 h 36"/>
                <a:gd name="T10" fmla="*/ 0 w 21"/>
                <a:gd name="T11" fmla="*/ 3 h 36"/>
                <a:gd name="T12" fmla="*/ 5 w 21"/>
                <a:gd name="T13" fmla="*/ 1 h 36"/>
                <a:gd name="T14" fmla="*/ 15 w 21"/>
                <a:gd name="T15" fmla="*/ 18 h 36"/>
                <a:gd name="T16" fmla="*/ 12 w 21"/>
                <a:gd name="T17" fmla="*/ 0 h 36"/>
                <a:gd name="T18" fmla="*/ 16 w 21"/>
                <a:gd name="T19" fmla="*/ 0 h 36"/>
                <a:gd name="T20" fmla="*/ 21 w 21"/>
                <a:gd name="T21" fmla="*/ 3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36">
                  <a:moveTo>
                    <a:pt x="21" y="33"/>
                  </a:moveTo>
                  <a:lnTo>
                    <a:pt x="17" y="34"/>
                  </a:lnTo>
                  <a:lnTo>
                    <a:pt x="5" y="11"/>
                  </a:lnTo>
                  <a:lnTo>
                    <a:pt x="8" y="35"/>
                  </a:lnTo>
                  <a:lnTo>
                    <a:pt x="3" y="36"/>
                  </a:lnTo>
                  <a:lnTo>
                    <a:pt x="0" y="3"/>
                  </a:lnTo>
                  <a:lnTo>
                    <a:pt x="5" y="1"/>
                  </a:lnTo>
                  <a:lnTo>
                    <a:pt x="15" y="18"/>
                  </a:lnTo>
                  <a:lnTo>
                    <a:pt x="12" y="0"/>
                  </a:lnTo>
                  <a:lnTo>
                    <a:pt x="16" y="0"/>
                  </a:lnTo>
                  <a:lnTo>
                    <a:pt x="21" y="3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18" name="Freeform 116">
              <a:extLst>
                <a:ext uri="{FF2B5EF4-FFF2-40B4-BE49-F238E27FC236}">
                  <a16:creationId xmlns:a16="http://schemas.microsoft.com/office/drawing/2014/main" id="{B9F917C8-E97B-4963-86CD-576E1FE89862}"/>
                </a:ext>
              </a:extLst>
            </p:cNvPr>
            <p:cNvSpPr>
              <a:spLocks/>
            </p:cNvSpPr>
            <p:nvPr userDrawn="1"/>
          </p:nvSpPr>
          <p:spPr bwMode="auto">
            <a:xfrm>
              <a:off x="1162" y="957"/>
              <a:ext cx="14" cy="33"/>
            </a:xfrm>
            <a:custGeom>
              <a:avLst/>
              <a:gdLst>
                <a:gd name="T0" fmla="*/ 14 w 14"/>
                <a:gd name="T1" fmla="*/ 31 h 33"/>
                <a:gd name="T2" fmla="*/ 9 w 14"/>
                <a:gd name="T3" fmla="*/ 33 h 33"/>
                <a:gd name="T4" fmla="*/ 0 w 14"/>
                <a:gd name="T5" fmla="*/ 1 h 33"/>
                <a:gd name="T6" fmla="*/ 4 w 14"/>
                <a:gd name="T7" fmla="*/ 0 h 33"/>
                <a:gd name="T8" fmla="*/ 14 w 14"/>
                <a:gd name="T9" fmla="*/ 31 h 33"/>
              </a:gdLst>
              <a:ahLst/>
              <a:cxnLst>
                <a:cxn ang="0">
                  <a:pos x="T0" y="T1"/>
                </a:cxn>
                <a:cxn ang="0">
                  <a:pos x="T2" y="T3"/>
                </a:cxn>
                <a:cxn ang="0">
                  <a:pos x="T4" y="T5"/>
                </a:cxn>
                <a:cxn ang="0">
                  <a:pos x="T6" y="T7"/>
                </a:cxn>
                <a:cxn ang="0">
                  <a:pos x="T8" y="T9"/>
                </a:cxn>
              </a:cxnLst>
              <a:rect l="0" t="0" r="r" b="b"/>
              <a:pathLst>
                <a:path w="14" h="33">
                  <a:moveTo>
                    <a:pt x="14" y="31"/>
                  </a:moveTo>
                  <a:lnTo>
                    <a:pt x="9" y="33"/>
                  </a:lnTo>
                  <a:lnTo>
                    <a:pt x="0" y="1"/>
                  </a:lnTo>
                  <a:lnTo>
                    <a:pt x="4" y="0"/>
                  </a:lnTo>
                  <a:lnTo>
                    <a:pt x="14" y="3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19" name="Freeform 117">
              <a:extLst>
                <a:ext uri="{FF2B5EF4-FFF2-40B4-BE49-F238E27FC236}">
                  <a16:creationId xmlns:a16="http://schemas.microsoft.com/office/drawing/2014/main" id="{5CBB8DD8-315B-4C08-8823-484B0E92D99A}"/>
                </a:ext>
              </a:extLst>
            </p:cNvPr>
            <p:cNvSpPr>
              <a:spLocks/>
            </p:cNvSpPr>
            <p:nvPr userDrawn="1"/>
          </p:nvSpPr>
          <p:spPr bwMode="auto">
            <a:xfrm>
              <a:off x="1169" y="948"/>
              <a:ext cx="23" cy="37"/>
            </a:xfrm>
            <a:custGeom>
              <a:avLst/>
              <a:gdLst>
                <a:gd name="T0" fmla="*/ 18 w 23"/>
                <a:gd name="T1" fmla="*/ 0 h 37"/>
                <a:gd name="T2" fmla="*/ 23 w 23"/>
                <a:gd name="T3" fmla="*/ 35 h 37"/>
                <a:gd name="T4" fmla="*/ 19 w 23"/>
                <a:gd name="T5" fmla="*/ 37 h 37"/>
                <a:gd name="T6" fmla="*/ 0 w 23"/>
                <a:gd name="T7" fmla="*/ 7 h 37"/>
                <a:gd name="T8" fmla="*/ 4 w 23"/>
                <a:gd name="T9" fmla="*/ 6 h 37"/>
                <a:gd name="T10" fmla="*/ 18 w 23"/>
                <a:gd name="T11" fmla="*/ 26 h 37"/>
                <a:gd name="T12" fmla="*/ 14 w 23"/>
                <a:gd name="T13" fmla="*/ 1 h 37"/>
                <a:gd name="T14" fmla="*/ 18 w 23"/>
                <a:gd name="T15" fmla="*/ 0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7">
                  <a:moveTo>
                    <a:pt x="18" y="0"/>
                  </a:moveTo>
                  <a:lnTo>
                    <a:pt x="23" y="35"/>
                  </a:lnTo>
                  <a:lnTo>
                    <a:pt x="19" y="37"/>
                  </a:lnTo>
                  <a:lnTo>
                    <a:pt x="0" y="7"/>
                  </a:lnTo>
                  <a:lnTo>
                    <a:pt x="4" y="6"/>
                  </a:lnTo>
                  <a:lnTo>
                    <a:pt x="18" y="26"/>
                  </a:lnTo>
                  <a:lnTo>
                    <a:pt x="14" y="1"/>
                  </a:lnTo>
                  <a:lnTo>
                    <a:pt x="18"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20" name="Freeform 118">
              <a:extLst>
                <a:ext uri="{FF2B5EF4-FFF2-40B4-BE49-F238E27FC236}">
                  <a16:creationId xmlns:a16="http://schemas.microsoft.com/office/drawing/2014/main" id="{3588299D-E1CF-439B-86A9-8384E797DDC2}"/>
                </a:ext>
              </a:extLst>
            </p:cNvPr>
            <p:cNvSpPr>
              <a:spLocks/>
            </p:cNvSpPr>
            <p:nvPr userDrawn="1"/>
          </p:nvSpPr>
          <p:spPr bwMode="auto">
            <a:xfrm>
              <a:off x="1188" y="939"/>
              <a:ext cx="33" cy="38"/>
            </a:xfrm>
            <a:custGeom>
              <a:avLst/>
              <a:gdLst>
                <a:gd name="T0" fmla="*/ 33 w 33"/>
                <a:gd name="T1" fmla="*/ 29 h 38"/>
                <a:gd name="T2" fmla="*/ 17 w 33"/>
                <a:gd name="T3" fmla="*/ 38 h 38"/>
                <a:gd name="T4" fmla="*/ 0 w 33"/>
                <a:gd name="T5" fmla="*/ 8 h 38"/>
                <a:gd name="T6" fmla="*/ 15 w 33"/>
                <a:gd name="T7" fmla="*/ 0 h 38"/>
                <a:gd name="T8" fmla="*/ 17 w 33"/>
                <a:gd name="T9" fmla="*/ 3 h 38"/>
                <a:gd name="T10" fmla="*/ 6 w 33"/>
                <a:gd name="T11" fmla="*/ 9 h 38"/>
                <a:gd name="T12" fmla="*/ 11 w 33"/>
                <a:gd name="T13" fmla="*/ 19 h 38"/>
                <a:gd name="T14" fmla="*/ 22 w 33"/>
                <a:gd name="T15" fmla="*/ 13 h 38"/>
                <a:gd name="T16" fmla="*/ 23 w 33"/>
                <a:gd name="T17" fmla="*/ 16 h 38"/>
                <a:gd name="T18" fmla="*/ 14 w 33"/>
                <a:gd name="T19" fmla="*/ 21 h 38"/>
                <a:gd name="T20" fmla="*/ 20 w 33"/>
                <a:gd name="T21" fmla="*/ 33 h 38"/>
                <a:gd name="T22" fmla="*/ 31 w 33"/>
                <a:gd name="T23" fmla="*/ 25 h 38"/>
                <a:gd name="T24" fmla="*/ 33 w 33"/>
                <a:gd name="T25" fmla="*/ 2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8">
                  <a:moveTo>
                    <a:pt x="33" y="29"/>
                  </a:moveTo>
                  <a:lnTo>
                    <a:pt x="17" y="38"/>
                  </a:lnTo>
                  <a:lnTo>
                    <a:pt x="0" y="8"/>
                  </a:lnTo>
                  <a:lnTo>
                    <a:pt x="15" y="0"/>
                  </a:lnTo>
                  <a:lnTo>
                    <a:pt x="17" y="3"/>
                  </a:lnTo>
                  <a:lnTo>
                    <a:pt x="6" y="9"/>
                  </a:lnTo>
                  <a:lnTo>
                    <a:pt x="11" y="19"/>
                  </a:lnTo>
                  <a:lnTo>
                    <a:pt x="22" y="13"/>
                  </a:lnTo>
                  <a:lnTo>
                    <a:pt x="23" y="16"/>
                  </a:lnTo>
                  <a:lnTo>
                    <a:pt x="14" y="21"/>
                  </a:lnTo>
                  <a:lnTo>
                    <a:pt x="20" y="33"/>
                  </a:lnTo>
                  <a:lnTo>
                    <a:pt x="31" y="25"/>
                  </a:lnTo>
                  <a:lnTo>
                    <a:pt x="33" y="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21" name="Freeform 119">
              <a:extLst>
                <a:ext uri="{FF2B5EF4-FFF2-40B4-BE49-F238E27FC236}">
                  <a16:creationId xmlns:a16="http://schemas.microsoft.com/office/drawing/2014/main" id="{556C29E1-34FC-4341-B0ED-731F3154DEBE}"/>
                </a:ext>
              </a:extLst>
            </p:cNvPr>
            <p:cNvSpPr>
              <a:spLocks noEditPoints="1"/>
            </p:cNvSpPr>
            <p:nvPr userDrawn="1"/>
          </p:nvSpPr>
          <p:spPr bwMode="auto">
            <a:xfrm>
              <a:off x="1205" y="931"/>
              <a:ext cx="34" cy="34"/>
            </a:xfrm>
            <a:custGeom>
              <a:avLst/>
              <a:gdLst>
                <a:gd name="T0" fmla="*/ 27 w 27"/>
                <a:gd name="T1" fmla="*/ 20 h 28"/>
                <a:gd name="T2" fmla="*/ 24 w 27"/>
                <a:gd name="T3" fmla="*/ 22 h 28"/>
                <a:gd name="T4" fmla="*/ 15 w 27"/>
                <a:gd name="T5" fmla="*/ 14 h 28"/>
                <a:gd name="T6" fmla="*/ 12 w 27"/>
                <a:gd name="T7" fmla="*/ 17 h 28"/>
                <a:gd name="T8" fmla="*/ 19 w 27"/>
                <a:gd name="T9" fmla="*/ 26 h 28"/>
                <a:gd name="T10" fmla="*/ 16 w 27"/>
                <a:gd name="T11" fmla="*/ 28 h 28"/>
                <a:gd name="T12" fmla="*/ 0 w 27"/>
                <a:gd name="T13" fmla="*/ 6 h 28"/>
                <a:gd name="T14" fmla="*/ 5 w 27"/>
                <a:gd name="T15" fmla="*/ 2 h 28"/>
                <a:gd name="T16" fmla="*/ 11 w 27"/>
                <a:gd name="T17" fmla="*/ 0 h 28"/>
                <a:gd name="T18" fmla="*/ 18 w 27"/>
                <a:gd name="T19" fmla="*/ 8 h 28"/>
                <a:gd name="T20" fmla="*/ 17 w 27"/>
                <a:gd name="T21" fmla="*/ 12 h 28"/>
                <a:gd name="T22" fmla="*/ 27 w 27"/>
                <a:gd name="T23" fmla="*/ 20 h 28"/>
                <a:gd name="T24" fmla="*/ 10 w 27"/>
                <a:gd name="T25" fmla="*/ 4 h 28"/>
                <a:gd name="T26" fmla="*/ 5 w 27"/>
                <a:gd name="T27" fmla="*/ 6 h 28"/>
                <a:gd name="T28" fmla="*/ 10 w 27"/>
                <a:gd name="T29" fmla="*/ 13 h 28"/>
                <a:gd name="T30" fmla="*/ 14 w 27"/>
                <a:gd name="T31" fmla="*/ 10 h 28"/>
                <a:gd name="T32" fmla="*/ 10 w 27"/>
                <a:gd name="T33"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8">
                  <a:moveTo>
                    <a:pt x="27" y="20"/>
                  </a:moveTo>
                  <a:cubicBezTo>
                    <a:pt x="24" y="22"/>
                    <a:pt x="24" y="22"/>
                    <a:pt x="24" y="22"/>
                  </a:cubicBezTo>
                  <a:cubicBezTo>
                    <a:pt x="15" y="14"/>
                    <a:pt x="15" y="14"/>
                    <a:pt x="15" y="14"/>
                  </a:cubicBezTo>
                  <a:cubicBezTo>
                    <a:pt x="12" y="17"/>
                    <a:pt x="12" y="17"/>
                    <a:pt x="12" y="17"/>
                  </a:cubicBezTo>
                  <a:cubicBezTo>
                    <a:pt x="19" y="26"/>
                    <a:pt x="19" y="26"/>
                    <a:pt x="19" y="26"/>
                  </a:cubicBezTo>
                  <a:cubicBezTo>
                    <a:pt x="16" y="28"/>
                    <a:pt x="16" y="28"/>
                    <a:pt x="16" y="28"/>
                  </a:cubicBezTo>
                  <a:cubicBezTo>
                    <a:pt x="0" y="6"/>
                    <a:pt x="0" y="6"/>
                    <a:pt x="0" y="6"/>
                  </a:cubicBezTo>
                  <a:cubicBezTo>
                    <a:pt x="5" y="2"/>
                    <a:pt x="5" y="2"/>
                    <a:pt x="5" y="2"/>
                  </a:cubicBezTo>
                  <a:cubicBezTo>
                    <a:pt x="7" y="1"/>
                    <a:pt x="9" y="0"/>
                    <a:pt x="11" y="0"/>
                  </a:cubicBezTo>
                  <a:cubicBezTo>
                    <a:pt x="16" y="1"/>
                    <a:pt x="18" y="4"/>
                    <a:pt x="18" y="8"/>
                  </a:cubicBezTo>
                  <a:cubicBezTo>
                    <a:pt x="18" y="9"/>
                    <a:pt x="18" y="11"/>
                    <a:pt x="17" y="12"/>
                  </a:cubicBezTo>
                  <a:lnTo>
                    <a:pt x="27" y="20"/>
                  </a:lnTo>
                  <a:close/>
                  <a:moveTo>
                    <a:pt x="10" y="4"/>
                  </a:moveTo>
                  <a:cubicBezTo>
                    <a:pt x="8" y="3"/>
                    <a:pt x="6" y="5"/>
                    <a:pt x="5" y="6"/>
                  </a:cubicBezTo>
                  <a:cubicBezTo>
                    <a:pt x="10" y="13"/>
                    <a:pt x="10" y="13"/>
                    <a:pt x="10" y="13"/>
                  </a:cubicBezTo>
                  <a:cubicBezTo>
                    <a:pt x="12" y="12"/>
                    <a:pt x="12" y="12"/>
                    <a:pt x="14" y="10"/>
                  </a:cubicBezTo>
                  <a:cubicBezTo>
                    <a:pt x="14" y="7"/>
                    <a:pt x="13" y="5"/>
                    <a:pt x="10" y="4"/>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22" name="Freeform 120">
              <a:extLst>
                <a:ext uri="{FF2B5EF4-FFF2-40B4-BE49-F238E27FC236}">
                  <a16:creationId xmlns:a16="http://schemas.microsoft.com/office/drawing/2014/main" id="{6F1CD009-B67E-4E0A-9DB0-EE2A8D2B384B}"/>
                </a:ext>
              </a:extLst>
            </p:cNvPr>
            <p:cNvSpPr>
              <a:spLocks/>
            </p:cNvSpPr>
            <p:nvPr userDrawn="1"/>
          </p:nvSpPr>
          <p:spPr bwMode="auto">
            <a:xfrm>
              <a:off x="1223" y="916"/>
              <a:ext cx="34" cy="29"/>
            </a:xfrm>
            <a:custGeom>
              <a:avLst/>
              <a:gdLst>
                <a:gd name="T0" fmla="*/ 22 w 28"/>
                <a:gd name="T1" fmla="*/ 10 h 24"/>
                <a:gd name="T2" fmla="*/ 19 w 28"/>
                <a:gd name="T3" fmla="*/ 24 h 24"/>
                <a:gd name="T4" fmla="*/ 14 w 28"/>
                <a:gd name="T5" fmla="*/ 23 h 24"/>
                <a:gd name="T6" fmla="*/ 15 w 28"/>
                <a:gd name="T7" fmla="*/ 20 h 24"/>
                <a:gd name="T8" fmla="*/ 18 w 28"/>
                <a:gd name="T9" fmla="*/ 21 h 24"/>
                <a:gd name="T10" fmla="*/ 20 w 28"/>
                <a:gd name="T11" fmla="*/ 13 h 24"/>
                <a:gd name="T12" fmla="*/ 17 w 28"/>
                <a:gd name="T13" fmla="*/ 12 h 24"/>
                <a:gd name="T14" fmla="*/ 8 w 28"/>
                <a:gd name="T15" fmla="*/ 15 h 24"/>
                <a:gd name="T16" fmla="*/ 0 w 28"/>
                <a:gd name="T17" fmla="*/ 9 h 24"/>
                <a:gd name="T18" fmla="*/ 2 w 28"/>
                <a:gd name="T19" fmla="*/ 4 h 24"/>
                <a:gd name="T20" fmla="*/ 11 w 28"/>
                <a:gd name="T21" fmla="*/ 2 h 24"/>
                <a:gd name="T22" fmla="*/ 10 w 28"/>
                <a:gd name="T23" fmla="*/ 5 h 24"/>
                <a:gd name="T24" fmla="*/ 4 w 28"/>
                <a:gd name="T25" fmla="*/ 6 h 24"/>
                <a:gd name="T26" fmla="*/ 3 w 28"/>
                <a:gd name="T27" fmla="*/ 9 h 24"/>
                <a:gd name="T28" fmla="*/ 7 w 28"/>
                <a:gd name="T29" fmla="*/ 12 h 24"/>
                <a:gd name="T30" fmla="*/ 17 w 28"/>
                <a:gd name="T31" fmla="*/ 9 h 24"/>
                <a:gd name="T32" fmla="*/ 22 w 28"/>
                <a:gd name="T33" fmla="*/ 1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 h="24">
                  <a:moveTo>
                    <a:pt x="22" y="10"/>
                  </a:moveTo>
                  <a:cubicBezTo>
                    <a:pt x="28" y="13"/>
                    <a:pt x="26" y="23"/>
                    <a:pt x="19" y="24"/>
                  </a:cubicBezTo>
                  <a:cubicBezTo>
                    <a:pt x="17" y="24"/>
                    <a:pt x="15" y="24"/>
                    <a:pt x="14" y="23"/>
                  </a:cubicBezTo>
                  <a:cubicBezTo>
                    <a:pt x="15" y="20"/>
                    <a:pt x="15" y="20"/>
                    <a:pt x="15" y="20"/>
                  </a:cubicBezTo>
                  <a:cubicBezTo>
                    <a:pt x="16" y="21"/>
                    <a:pt x="17" y="21"/>
                    <a:pt x="18" y="21"/>
                  </a:cubicBezTo>
                  <a:cubicBezTo>
                    <a:pt x="23" y="20"/>
                    <a:pt x="23" y="15"/>
                    <a:pt x="20" y="13"/>
                  </a:cubicBezTo>
                  <a:cubicBezTo>
                    <a:pt x="19" y="12"/>
                    <a:pt x="18" y="12"/>
                    <a:pt x="17" y="12"/>
                  </a:cubicBezTo>
                  <a:cubicBezTo>
                    <a:pt x="13" y="13"/>
                    <a:pt x="11" y="15"/>
                    <a:pt x="8" y="15"/>
                  </a:cubicBezTo>
                  <a:cubicBezTo>
                    <a:pt x="4" y="15"/>
                    <a:pt x="1" y="13"/>
                    <a:pt x="0" y="9"/>
                  </a:cubicBezTo>
                  <a:cubicBezTo>
                    <a:pt x="0" y="7"/>
                    <a:pt x="1" y="5"/>
                    <a:pt x="2" y="4"/>
                  </a:cubicBezTo>
                  <a:cubicBezTo>
                    <a:pt x="4" y="0"/>
                    <a:pt x="8" y="0"/>
                    <a:pt x="11" y="2"/>
                  </a:cubicBezTo>
                  <a:cubicBezTo>
                    <a:pt x="10" y="5"/>
                    <a:pt x="10" y="5"/>
                    <a:pt x="10" y="5"/>
                  </a:cubicBezTo>
                  <a:cubicBezTo>
                    <a:pt x="8" y="4"/>
                    <a:pt x="5" y="4"/>
                    <a:pt x="4" y="6"/>
                  </a:cubicBezTo>
                  <a:cubicBezTo>
                    <a:pt x="3" y="7"/>
                    <a:pt x="3" y="8"/>
                    <a:pt x="3" y="9"/>
                  </a:cubicBezTo>
                  <a:cubicBezTo>
                    <a:pt x="4" y="11"/>
                    <a:pt x="5" y="12"/>
                    <a:pt x="7" y="12"/>
                  </a:cubicBezTo>
                  <a:cubicBezTo>
                    <a:pt x="11" y="11"/>
                    <a:pt x="13" y="8"/>
                    <a:pt x="17" y="9"/>
                  </a:cubicBezTo>
                  <a:cubicBezTo>
                    <a:pt x="18" y="9"/>
                    <a:pt x="20" y="9"/>
                    <a:pt x="22" y="10"/>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23" name="Freeform 121">
              <a:extLst>
                <a:ext uri="{FF2B5EF4-FFF2-40B4-BE49-F238E27FC236}">
                  <a16:creationId xmlns:a16="http://schemas.microsoft.com/office/drawing/2014/main" id="{100665FC-9BB9-4BBD-A68E-D26D3F7AA00C}"/>
                </a:ext>
              </a:extLst>
            </p:cNvPr>
            <p:cNvSpPr>
              <a:spLocks/>
            </p:cNvSpPr>
            <p:nvPr userDrawn="1"/>
          </p:nvSpPr>
          <p:spPr bwMode="auto">
            <a:xfrm>
              <a:off x="1234" y="906"/>
              <a:ext cx="31" cy="21"/>
            </a:xfrm>
            <a:custGeom>
              <a:avLst/>
              <a:gdLst>
                <a:gd name="T0" fmla="*/ 31 w 31"/>
                <a:gd name="T1" fmla="*/ 17 h 21"/>
                <a:gd name="T2" fmla="*/ 28 w 31"/>
                <a:gd name="T3" fmla="*/ 21 h 21"/>
                <a:gd name="T4" fmla="*/ 0 w 31"/>
                <a:gd name="T5" fmla="*/ 2 h 21"/>
                <a:gd name="T6" fmla="*/ 2 w 31"/>
                <a:gd name="T7" fmla="*/ 0 h 21"/>
                <a:gd name="T8" fmla="*/ 31 w 31"/>
                <a:gd name="T9" fmla="*/ 17 h 21"/>
              </a:gdLst>
              <a:ahLst/>
              <a:cxnLst>
                <a:cxn ang="0">
                  <a:pos x="T0" y="T1"/>
                </a:cxn>
                <a:cxn ang="0">
                  <a:pos x="T2" y="T3"/>
                </a:cxn>
                <a:cxn ang="0">
                  <a:pos x="T4" y="T5"/>
                </a:cxn>
                <a:cxn ang="0">
                  <a:pos x="T6" y="T7"/>
                </a:cxn>
                <a:cxn ang="0">
                  <a:pos x="T8" y="T9"/>
                </a:cxn>
              </a:cxnLst>
              <a:rect l="0" t="0" r="r" b="b"/>
              <a:pathLst>
                <a:path w="31" h="21">
                  <a:moveTo>
                    <a:pt x="31" y="17"/>
                  </a:moveTo>
                  <a:lnTo>
                    <a:pt x="28" y="21"/>
                  </a:lnTo>
                  <a:lnTo>
                    <a:pt x="0" y="2"/>
                  </a:lnTo>
                  <a:lnTo>
                    <a:pt x="2" y="0"/>
                  </a:lnTo>
                  <a:lnTo>
                    <a:pt x="31" y="1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24" name="Freeform 122">
              <a:extLst>
                <a:ext uri="{FF2B5EF4-FFF2-40B4-BE49-F238E27FC236}">
                  <a16:creationId xmlns:a16="http://schemas.microsoft.com/office/drawing/2014/main" id="{DE552CF7-DB35-4305-9611-416F5DD98A7A}"/>
                </a:ext>
              </a:extLst>
            </p:cNvPr>
            <p:cNvSpPr>
              <a:spLocks/>
            </p:cNvSpPr>
            <p:nvPr userDrawn="1"/>
          </p:nvSpPr>
          <p:spPr bwMode="auto">
            <a:xfrm>
              <a:off x="1239" y="884"/>
              <a:ext cx="36" cy="28"/>
            </a:xfrm>
            <a:custGeom>
              <a:avLst/>
              <a:gdLst>
                <a:gd name="T0" fmla="*/ 11 w 36"/>
                <a:gd name="T1" fmla="*/ 3 h 28"/>
                <a:gd name="T2" fmla="*/ 8 w 36"/>
                <a:gd name="T3" fmla="*/ 9 h 28"/>
                <a:gd name="T4" fmla="*/ 36 w 36"/>
                <a:gd name="T5" fmla="*/ 25 h 28"/>
                <a:gd name="T6" fmla="*/ 33 w 36"/>
                <a:gd name="T7" fmla="*/ 28 h 28"/>
                <a:gd name="T8" fmla="*/ 6 w 36"/>
                <a:gd name="T9" fmla="*/ 13 h 28"/>
                <a:gd name="T10" fmla="*/ 3 w 36"/>
                <a:gd name="T11" fmla="*/ 18 h 28"/>
                <a:gd name="T12" fmla="*/ 0 w 36"/>
                <a:gd name="T13" fmla="*/ 17 h 28"/>
                <a:gd name="T14" fmla="*/ 7 w 36"/>
                <a:gd name="T15" fmla="*/ 0 h 28"/>
                <a:gd name="T16" fmla="*/ 11 w 36"/>
                <a:gd name="T17"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28">
                  <a:moveTo>
                    <a:pt x="11" y="3"/>
                  </a:moveTo>
                  <a:lnTo>
                    <a:pt x="8" y="9"/>
                  </a:lnTo>
                  <a:lnTo>
                    <a:pt x="36" y="25"/>
                  </a:lnTo>
                  <a:lnTo>
                    <a:pt x="33" y="28"/>
                  </a:lnTo>
                  <a:lnTo>
                    <a:pt x="6" y="13"/>
                  </a:lnTo>
                  <a:lnTo>
                    <a:pt x="3" y="18"/>
                  </a:lnTo>
                  <a:lnTo>
                    <a:pt x="0" y="17"/>
                  </a:lnTo>
                  <a:lnTo>
                    <a:pt x="7" y="0"/>
                  </a:lnTo>
                  <a:lnTo>
                    <a:pt x="11" y="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25" name="Freeform 123">
              <a:extLst>
                <a:ext uri="{FF2B5EF4-FFF2-40B4-BE49-F238E27FC236}">
                  <a16:creationId xmlns:a16="http://schemas.microsoft.com/office/drawing/2014/main" id="{43481D10-3A84-4760-B423-C9E6B9C3468E}"/>
                </a:ext>
              </a:extLst>
            </p:cNvPr>
            <p:cNvSpPr>
              <a:spLocks/>
            </p:cNvSpPr>
            <p:nvPr userDrawn="1"/>
          </p:nvSpPr>
          <p:spPr bwMode="auto">
            <a:xfrm>
              <a:off x="1247" y="865"/>
              <a:ext cx="36" cy="23"/>
            </a:xfrm>
            <a:custGeom>
              <a:avLst/>
              <a:gdLst>
                <a:gd name="T0" fmla="*/ 8 w 36"/>
                <a:gd name="T1" fmla="*/ 0 h 23"/>
                <a:gd name="T2" fmla="*/ 25 w 36"/>
                <a:gd name="T3" fmla="*/ 14 h 23"/>
                <a:gd name="T4" fmla="*/ 36 w 36"/>
                <a:gd name="T5" fmla="*/ 19 h 23"/>
                <a:gd name="T6" fmla="*/ 34 w 36"/>
                <a:gd name="T7" fmla="*/ 23 h 23"/>
                <a:gd name="T8" fmla="*/ 24 w 36"/>
                <a:gd name="T9" fmla="*/ 18 h 23"/>
                <a:gd name="T10" fmla="*/ 0 w 36"/>
                <a:gd name="T11" fmla="*/ 18 h 23"/>
                <a:gd name="T12" fmla="*/ 2 w 36"/>
                <a:gd name="T13" fmla="*/ 14 h 23"/>
                <a:gd name="T14" fmla="*/ 18 w 36"/>
                <a:gd name="T15" fmla="*/ 14 h 23"/>
                <a:gd name="T16" fmla="*/ 7 w 36"/>
                <a:gd name="T17" fmla="*/ 5 h 23"/>
                <a:gd name="T18" fmla="*/ 8 w 36"/>
                <a:gd name="T1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23">
                  <a:moveTo>
                    <a:pt x="8" y="0"/>
                  </a:moveTo>
                  <a:lnTo>
                    <a:pt x="25" y="14"/>
                  </a:lnTo>
                  <a:lnTo>
                    <a:pt x="36" y="19"/>
                  </a:lnTo>
                  <a:lnTo>
                    <a:pt x="34" y="23"/>
                  </a:lnTo>
                  <a:lnTo>
                    <a:pt x="24" y="18"/>
                  </a:lnTo>
                  <a:lnTo>
                    <a:pt x="0" y="18"/>
                  </a:lnTo>
                  <a:lnTo>
                    <a:pt x="2" y="14"/>
                  </a:lnTo>
                  <a:lnTo>
                    <a:pt x="18" y="14"/>
                  </a:lnTo>
                  <a:lnTo>
                    <a:pt x="7" y="5"/>
                  </a:lnTo>
                  <a:lnTo>
                    <a:pt x="8"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26" name="Freeform 124">
              <a:extLst>
                <a:ext uri="{FF2B5EF4-FFF2-40B4-BE49-F238E27FC236}">
                  <a16:creationId xmlns:a16="http://schemas.microsoft.com/office/drawing/2014/main" id="{B91F1097-9FE8-4D49-B517-456E78CFA7DC}"/>
                </a:ext>
              </a:extLst>
            </p:cNvPr>
            <p:cNvSpPr>
              <a:spLocks/>
            </p:cNvSpPr>
            <p:nvPr userDrawn="1"/>
          </p:nvSpPr>
          <p:spPr bwMode="auto">
            <a:xfrm>
              <a:off x="1010" y="928"/>
              <a:ext cx="34" cy="25"/>
            </a:xfrm>
            <a:custGeom>
              <a:avLst/>
              <a:gdLst>
                <a:gd name="T0" fmla="*/ 14 w 28"/>
                <a:gd name="T1" fmla="*/ 16 h 20"/>
                <a:gd name="T2" fmla="*/ 8 w 28"/>
                <a:gd name="T3" fmla="*/ 20 h 20"/>
                <a:gd name="T4" fmla="*/ 2 w 28"/>
                <a:gd name="T5" fmla="*/ 17 h 20"/>
                <a:gd name="T6" fmla="*/ 0 w 28"/>
                <a:gd name="T7" fmla="*/ 12 h 20"/>
                <a:gd name="T8" fmla="*/ 1 w 28"/>
                <a:gd name="T9" fmla="*/ 9 h 20"/>
                <a:gd name="T10" fmla="*/ 4 w 28"/>
                <a:gd name="T11" fmla="*/ 10 h 20"/>
                <a:gd name="T12" fmla="*/ 3 w 28"/>
                <a:gd name="T13" fmla="*/ 12 h 20"/>
                <a:gd name="T14" fmla="*/ 4 w 28"/>
                <a:gd name="T15" fmla="*/ 15 h 20"/>
                <a:gd name="T16" fmla="*/ 8 w 28"/>
                <a:gd name="T17" fmla="*/ 16 h 20"/>
                <a:gd name="T18" fmla="*/ 12 w 28"/>
                <a:gd name="T19" fmla="*/ 14 h 20"/>
                <a:gd name="T20" fmla="*/ 25 w 28"/>
                <a:gd name="T21" fmla="*/ 0 h 20"/>
                <a:gd name="T22" fmla="*/ 28 w 28"/>
                <a:gd name="T23" fmla="*/ 3 h 20"/>
                <a:gd name="T24" fmla="*/ 14 w 28"/>
                <a:gd name="T25"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 h="20">
                  <a:moveTo>
                    <a:pt x="14" y="16"/>
                  </a:moveTo>
                  <a:cubicBezTo>
                    <a:pt x="12" y="18"/>
                    <a:pt x="10" y="20"/>
                    <a:pt x="8" y="20"/>
                  </a:cubicBezTo>
                  <a:cubicBezTo>
                    <a:pt x="6" y="20"/>
                    <a:pt x="4" y="19"/>
                    <a:pt x="2" y="17"/>
                  </a:cubicBezTo>
                  <a:cubicBezTo>
                    <a:pt x="1" y="16"/>
                    <a:pt x="0" y="14"/>
                    <a:pt x="0" y="12"/>
                  </a:cubicBezTo>
                  <a:cubicBezTo>
                    <a:pt x="0" y="11"/>
                    <a:pt x="0" y="10"/>
                    <a:pt x="1" y="9"/>
                  </a:cubicBezTo>
                  <a:cubicBezTo>
                    <a:pt x="4" y="10"/>
                    <a:pt x="4" y="10"/>
                    <a:pt x="4" y="10"/>
                  </a:cubicBezTo>
                  <a:cubicBezTo>
                    <a:pt x="3" y="11"/>
                    <a:pt x="3" y="11"/>
                    <a:pt x="3" y="12"/>
                  </a:cubicBezTo>
                  <a:cubicBezTo>
                    <a:pt x="3" y="13"/>
                    <a:pt x="4" y="14"/>
                    <a:pt x="4" y="15"/>
                  </a:cubicBezTo>
                  <a:cubicBezTo>
                    <a:pt x="5" y="16"/>
                    <a:pt x="6" y="16"/>
                    <a:pt x="8" y="16"/>
                  </a:cubicBezTo>
                  <a:cubicBezTo>
                    <a:pt x="9" y="16"/>
                    <a:pt x="10" y="15"/>
                    <a:pt x="12" y="14"/>
                  </a:cubicBezTo>
                  <a:cubicBezTo>
                    <a:pt x="25" y="0"/>
                    <a:pt x="25" y="0"/>
                    <a:pt x="25" y="0"/>
                  </a:cubicBezTo>
                  <a:cubicBezTo>
                    <a:pt x="28" y="3"/>
                    <a:pt x="28" y="3"/>
                    <a:pt x="28" y="3"/>
                  </a:cubicBezTo>
                  <a:lnTo>
                    <a:pt x="14" y="1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27" name="Freeform 125">
              <a:extLst>
                <a:ext uri="{FF2B5EF4-FFF2-40B4-BE49-F238E27FC236}">
                  <a16:creationId xmlns:a16="http://schemas.microsoft.com/office/drawing/2014/main" id="{7907CC1D-D6D4-40D7-9A8F-EAB797FFECC2}"/>
                </a:ext>
              </a:extLst>
            </p:cNvPr>
            <p:cNvSpPr>
              <a:spLocks noEditPoints="1"/>
            </p:cNvSpPr>
            <p:nvPr userDrawn="1"/>
          </p:nvSpPr>
          <p:spPr bwMode="auto">
            <a:xfrm>
              <a:off x="1073" y="917"/>
              <a:ext cx="106" cy="33"/>
            </a:xfrm>
            <a:custGeom>
              <a:avLst/>
              <a:gdLst>
                <a:gd name="T0" fmla="*/ 0 w 86"/>
                <a:gd name="T1" fmla="*/ 15 h 27"/>
                <a:gd name="T2" fmla="*/ 4 w 86"/>
                <a:gd name="T3" fmla="*/ 15 h 27"/>
                <a:gd name="T4" fmla="*/ 6 w 86"/>
                <a:gd name="T5" fmla="*/ 3 h 27"/>
                <a:gd name="T6" fmla="*/ 10 w 86"/>
                <a:gd name="T7" fmla="*/ 3 h 27"/>
                <a:gd name="T8" fmla="*/ 14 w 86"/>
                <a:gd name="T9" fmla="*/ 4 h 27"/>
                <a:gd name="T10" fmla="*/ 10 w 86"/>
                <a:gd name="T11" fmla="*/ 19 h 27"/>
                <a:gd name="T12" fmla="*/ 37 w 86"/>
                <a:gd name="T13" fmla="*/ 14 h 27"/>
                <a:gd name="T14" fmla="*/ 33 w 86"/>
                <a:gd name="T15" fmla="*/ 11 h 27"/>
                <a:gd name="T16" fmla="*/ 28 w 86"/>
                <a:gd name="T17" fmla="*/ 13 h 27"/>
                <a:gd name="T18" fmla="*/ 30 w 86"/>
                <a:gd name="T19" fmla="*/ 16 h 27"/>
                <a:gd name="T20" fmla="*/ 34 w 86"/>
                <a:gd name="T21" fmla="*/ 17 h 27"/>
                <a:gd name="T22" fmla="*/ 37 w 86"/>
                <a:gd name="T23" fmla="*/ 14 h 27"/>
                <a:gd name="T24" fmla="*/ 36 w 86"/>
                <a:gd name="T25" fmla="*/ 21 h 27"/>
                <a:gd name="T26" fmla="*/ 32 w 86"/>
                <a:gd name="T27" fmla="*/ 19 h 27"/>
                <a:gd name="T28" fmla="*/ 27 w 86"/>
                <a:gd name="T29" fmla="*/ 19 h 27"/>
                <a:gd name="T30" fmla="*/ 27 w 86"/>
                <a:gd name="T31" fmla="*/ 24 h 27"/>
                <a:gd name="T32" fmla="*/ 34 w 86"/>
                <a:gd name="T33" fmla="*/ 25 h 27"/>
                <a:gd name="T34" fmla="*/ 30 w 86"/>
                <a:gd name="T35" fmla="*/ 27 h 27"/>
                <a:gd name="T36" fmla="*/ 24 w 86"/>
                <a:gd name="T37" fmla="*/ 25 h 27"/>
                <a:gd name="T38" fmla="*/ 23 w 86"/>
                <a:gd name="T39" fmla="*/ 21 h 27"/>
                <a:gd name="T40" fmla="*/ 28 w 86"/>
                <a:gd name="T41" fmla="*/ 17 h 27"/>
                <a:gd name="T42" fmla="*/ 25 w 86"/>
                <a:gd name="T43" fmla="*/ 15 h 27"/>
                <a:gd name="T44" fmla="*/ 28 w 86"/>
                <a:gd name="T45" fmla="*/ 10 h 27"/>
                <a:gd name="T46" fmla="*/ 39 w 86"/>
                <a:gd name="T47" fmla="*/ 11 h 27"/>
                <a:gd name="T48" fmla="*/ 39 w 86"/>
                <a:gd name="T49" fmla="*/ 17 h 27"/>
                <a:gd name="T50" fmla="*/ 36 w 86"/>
                <a:gd name="T51" fmla="*/ 18 h 27"/>
                <a:gd name="T52" fmla="*/ 39 w 86"/>
                <a:gd name="T53" fmla="*/ 23 h 27"/>
                <a:gd name="T54" fmla="*/ 30 w 86"/>
                <a:gd name="T55" fmla="*/ 27 h 27"/>
                <a:gd name="T56" fmla="*/ 62 w 86"/>
                <a:gd name="T57" fmla="*/ 14 h 27"/>
                <a:gd name="T58" fmla="*/ 59 w 86"/>
                <a:gd name="T59" fmla="*/ 11 h 27"/>
                <a:gd name="T60" fmla="*/ 54 w 86"/>
                <a:gd name="T61" fmla="*/ 12 h 27"/>
                <a:gd name="T62" fmla="*/ 53 w 86"/>
                <a:gd name="T63" fmla="*/ 17 h 27"/>
                <a:gd name="T64" fmla="*/ 56 w 86"/>
                <a:gd name="T65" fmla="*/ 19 h 27"/>
                <a:gd name="T66" fmla="*/ 60 w 86"/>
                <a:gd name="T67" fmla="*/ 18 h 27"/>
                <a:gd name="T68" fmla="*/ 63 w 86"/>
                <a:gd name="T69" fmla="*/ 17 h 27"/>
                <a:gd name="T70" fmla="*/ 50 w 86"/>
                <a:gd name="T71" fmla="*/ 15 h 27"/>
                <a:gd name="T72" fmla="*/ 52 w 86"/>
                <a:gd name="T73" fmla="*/ 11 h 27"/>
                <a:gd name="T74" fmla="*/ 58 w 86"/>
                <a:gd name="T75" fmla="*/ 9 h 27"/>
                <a:gd name="T76" fmla="*/ 63 w 86"/>
                <a:gd name="T77" fmla="*/ 11 h 27"/>
                <a:gd name="T78" fmla="*/ 66 w 86"/>
                <a:gd name="T79" fmla="*/ 17 h 27"/>
                <a:gd name="T80" fmla="*/ 63 w 86"/>
                <a:gd name="T81" fmla="*/ 24 h 27"/>
                <a:gd name="T82" fmla="*/ 55 w 86"/>
                <a:gd name="T83" fmla="*/ 27 h 27"/>
                <a:gd name="T84" fmla="*/ 52 w 86"/>
                <a:gd name="T85" fmla="*/ 27 h 27"/>
                <a:gd name="T86" fmla="*/ 52 w 86"/>
                <a:gd name="T87" fmla="*/ 25 h 27"/>
                <a:gd name="T88" fmla="*/ 55 w 86"/>
                <a:gd name="T89" fmla="*/ 25 h 27"/>
                <a:gd name="T90" fmla="*/ 62 w 86"/>
                <a:gd name="T91" fmla="*/ 19 h 27"/>
                <a:gd name="T92" fmla="*/ 57 w 86"/>
                <a:gd name="T93" fmla="*/ 21 h 27"/>
                <a:gd name="T94" fmla="*/ 52 w 86"/>
                <a:gd name="T95" fmla="*/ 20 h 27"/>
                <a:gd name="T96" fmla="*/ 50 w 86"/>
                <a:gd name="T97" fmla="*/ 15 h 27"/>
                <a:gd name="T98" fmla="*/ 86 w 86"/>
                <a:gd name="T99" fmla="*/ 18 h 27"/>
                <a:gd name="T100" fmla="*/ 83 w 86"/>
                <a:gd name="T101" fmla="*/ 3 h 27"/>
                <a:gd name="T102" fmla="*/ 72 w 86"/>
                <a:gd name="T103" fmla="*/ 6 h 27"/>
                <a:gd name="T104" fmla="*/ 86 w 86"/>
                <a:gd name="T105"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6" h="27">
                  <a:moveTo>
                    <a:pt x="9" y="20"/>
                  </a:moveTo>
                  <a:cubicBezTo>
                    <a:pt x="0" y="15"/>
                    <a:pt x="0" y="15"/>
                    <a:pt x="0" y="15"/>
                  </a:cubicBezTo>
                  <a:cubicBezTo>
                    <a:pt x="0" y="13"/>
                    <a:pt x="0" y="13"/>
                    <a:pt x="0" y="13"/>
                  </a:cubicBezTo>
                  <a:cubicBezTo>
                    <a:pt x="4" y="15"/>
                    <a:pt x="4" y="15"/>
                    <a:pt x="4" y="15"/>
                  </a:cubicBezTo>
                  <a:cubicBezTo>
                    <a:pt x="10" y="5"/>
                    <a:pt x="10" y="5"/>
                    <a:pt x="10" y="5"/>
                  </a:cubicBezTo>
                  <a:cubicBezTo>
                    <a:pt x="6" y="3"/>
                    <a:pt x="6" y="3"/>
                    <a:pt x="6" y="3"/>
                  </a:cubicBezTo>
                  <a:cubicBezTo>
                    <a:pt x="7" y="2"/>
                    <a:pt x="7" y="2"/>
                    <a:pt x="7" y="2"/>
                  </a:cubicBezTo>
                  <a:cubicBezTo>
                    <a:pt x="8" y="3"/>
                    <a:pt x="9" y="3"/>
                    <a:pt x="10" y="3"/>
                  </a:cubicBezTo>
                  <a:cubicBezTo>
                    <a:pt x="11" y="3"/>
                    <a:pt x="11" y="3"/>
                    <a:pt x="12" y="2"/>
                  </a:cubicBezTo>
                  <a:cubicBezTo>
                    <a:pt x="14" y="4"/>
                    <a:pt x="14" y="4"/>
                    <a:pt x="14" y="4"/>
                  </a:cubicBezTo>
                  <a:cubicBezTo>
                    <a:pt x="6" y="17"/>
                    <a:pt x="6" y="17"/>
                    <a:pt x="6" y="17"/>
                  </a:cubicBezTo>
                  <a:cubicBezTo>
                    <a:pt x="10" y="19"/>
                    <a:pt x="10" y="19"/>
                    <a:pt x="10" y="19"/>
                  </a:cubicBezTo>
                  <a:lnTo>
                    <a:pt x="9" y="20"/>
                  </a:lnTo>
                  <a:close/>
                  <a:moveTo>
                    <a:pt x="37" y="14"/>
                  </a:moveTo>
                  <a:cubicBezTo>
                    <a:pt x="37" y="14"/>
                    <a:pt x="37" y="13"/>
                    <a:pt x="36" y="12"/>
                  </a:cubicBezTo>
                  <a:cubicBezTo>
                    <a:pt x="36" y="12"/>
                    <a:pt x="35" y="11"/>
                    <a:pt x="33" y="11"/>
                  </a:cubicBezTo>
                  <a:cubicBezTo>
                    <a:pt x="32" y="11"/>
                    <a:pt x="31" y="11"/>
                    <a:pt x="30" y="11"/>
                  </a:cubicBezTo>
                  <a:cubicBezTo>
                    <a:pt x="29" y="12"/>
                    <a:pt x="29" y="12"/>
                    <a:pt x="28" y="13"/>
                  </a:cubicBezTo>
                  <a:cubicBezTo>
                    <a:pt x="28" y="14"/>
                    <a:pt x="28" y="14"/>
                    <a:pt x="29" y="15"/>
                  </a:cubicBezTo>
                  <a:cubicBezTo>
                    <a:pt x="29" y="15"/>
                    <a:pt x="30" y="15"/>
                    <a:pt x="30" y="16"/>
                  </a:cubicBezTo>
                  <a:cubicBezTo>
                    <a:pt x="31" y="16"/>
                    <a:pt x="31" y="16"/>
                    <a:pt x="32" y="17"/>
                  </a:cubicBezTo>
                  <a:cubicBezTo>
                    <a:pt x="33" y="17"/>
                    <a:pt x="33" y="17"/>
                    <a:pt x="34" y="17"/>
                  </a:cubicBezTo>
                  <a:cubicBezTo>
                    <a:pt x="35" y="17"/>
                    <a:pt x="36" y="17"/>
                    <a:pt x="36" y="16"/>
                  </a:cubicBezTo>
                  <a:cubicBezTo>
                    <a:pt x="37" y="16"/>
                    <a:pt x="37" y="15"/>
                    <a:pt x="37" y="14"/>
                  </a:cubicBezTo>
                  <a:moveTo>
                    <a:pt x="36" y="23"/>
                  </a:moveTo>
                  <a:cubicBezTo>
                    <a:pt x="36" y="22"/>
                    <a:pt x="36" y="22"/>
                    <a:pt x="36" y="21"/>
                  </a:cubicBezTo>
                  <a:cubicBezTo>
                    <a:pt x="35" y="21"/>
                    <a:pt x="34" y="20"/>
                    <a:pt x="33" y="20"/>
                  </a:cubicBezTo>
                  <a:cubicBezTo>
                    <a:pt x="33" y="19"/>
                    <a:pt x="33" y="19"/>
                    <a:pt x="32" y="19"/>
                  </a:cubicBezTo>
                  <a:cubicBezTo>
                    <a:pt x="31" y="19"/>
                    <a:pt x="31" y="18"/>
                    <a:pt x="30" y="18"/>
                  </a:cubicBezTo>
                  <a:cubicBezTo>
                    <a:pt x="29" y="18"/>
                    <a:pt x="28" y="19"/>
                    <a:pt x="27" y="19"/>
                  </a:cubicBezTo>
                  <a:cubicBezTo>
                    <a:pt x="27" y="20"/>
                    <a:pt x="26" y="20"/>
                    <a:pt x="26" y="21"/>
                  </a:cubicBezTo>
                  <a:cubicBezTo>
                    <a:pt x="26" y="22"/>
                    <a:pt x="26" y="23"/>
                    <a:pt x="27" y="24"/>
                  </a:cubicBezTo>
                  <a:cubicBezTo>
                    <a:pt x="28" y="25"/>
                    <a:pt x="29" y="25"/>
                    <a:pt x="30" y="25"/>
                  </a:cubicBezTo>
                  <a:cubicBezTo>
                    <a:pt x="32" y="26"/>
                    <a:pt x="33" y="25"/>
                    <a:pt x="34" y="25"/>
                  </a:cubicBezTo>
                  <a:cubicBezTo>
                    <a:pt x="35" y="24"/>
                    <a:pt x="36" y="24"/>
                    <a:pt x="36" y="23"/>
                  </a:cubicBezTo>
                  <a:moveTo>
                    <a:pt x="30" y="27"/>
                  </a:moveTo>
                  <a:cubicBezTo>
                    <a:pt x="29" y="27"/>
                    <a:pt x="28" y="27"/>
                    <a:pt x="27" y="26"/>
                  </a:cubicBezTo>
                  <a:cubicBezTo>
                    <a:pt x="26" y="26"/>
                    <a:pt x="25" y="25"/>
                    <a:pt x="24" y="25"/>
                  </a:cubicBezTo>
                  <a:cubicBezTo>
                    <a:pt x="23" y="24"/>
                    <a:pt x="23" y="24"/>
                    <a:pt x="23" y="23"/>
                  </a:cubicBezTo>
                  <a:cubicBezTo>
                    <a:pt x="23" y="22"/>
                    <a:pt x="22" y="21"/>
                    <a:pt x="23" y="21"/>
                  </a:cubicBezTo>
                  <a:cubicBezTo>
                    <a:pt x="23" y="20"/>
                    <a:pt x="23" y="19"/>
                    <a:pt x="24" y="18"/>
                  </a:cubicBezTo>
                  <a:cubicBezTo>
                    <a:pt x="25" y="18"/>
                    <a:pt x="26" y="17"/>
                    <a:pt x="28" y="17"/>
                  </a:cubicBezTo>
                  <a:cubicBezTo>
                    <a:pt x="28" y="17"/>
                    <a:pt x="28" y="17"/>
                    <a:pt x="28" y="17"/>
                  </a:cubicBezTo>
                  <a:cubicBezTo>
                    <a:pt x="27" y="16"/>
                    <a:pt x="26" y="16"/>
                    <a:pt x="25" y="15"/>
                  </a:cubicBezTo>
                  <a:cubicBezTo>
                    <a:pt x="25" y="14"/>
                    <a:pt x="25" y="14"/>
                    <a:pt x="25" y="13"/>
                  </a:cubicBezTo>
                  <a:cubicBezTo>
                    <a:pt x="25" y="12"/>
                    <a:pt x="26" y="11"/>
                    <a:pt x="28" y="10"/>
                  </a:cubicBezTo>
                  <a:cubicBezTo>
                    <a:pt x="29" y="9"/>
                    <a:pt x="31" y="9"/>
                    <a:pt x="34" y="10"/>
                  </a:cubicBezTo>
                  <a:cubicBezTo>
                    <a:pt x="36" y="10"/>
                    <a:pt x="38" y="10"/>
                    <a:pt x="39" y="11"/>
                  </a:cubicBezTo>
                  <a:cubicBezTo>
                    <a:pt x="40" y="12"/>
                    <a:pt x="41" y="14"/>
                    <a:pt x="40" y="15"/>
                  </a:cubicBezTo>
                  <a:cubicBezTo>
                    <a:pt x="40" y="16"/>
                    <a:pt x="40" y="16"/>
                    <a:pt x="39" y="17"/>
                  </a:cubicBezTo>
                  <a:cubicBezTo>
                    <a:pt x="38" y="18"/>
                    <a:pt x="37" y="18"/>
                    <a:pt x="36" y="18"/>
                  </a:cubicBezTo>
                  <a:cubicBezTo>
                    <a:pt x="36" y="18"/>
                    <a:pt x="36" y="18"/>
                    <a:pt x="36" y="18"/>
                  </a:cubicBezTo>
                  <a:cubicBezTo>
                    <a:pt x="37" y="19"/>
                    <a:pt x="38" y="20"/>
                    <a:pt x="39" y="20"/>
                  </a:cubicBezTo>
                  <a:cubicBezTo>
                    <a:pt x="39" y="21"/>
                    <a:pt x="40" y="22"/>
                    <a:pt x="39" y="23"/>
                  </a:cubicBezTo>
                  <a:cubicBezTo>
                    <a:pt x="39" y="25"/>
                    <a:pt x="38" y="26"/>
                    <a:pt x="36" y="26"/>
                  </a:cubicBezTo>
                  <a:cubicBezTo>
                    <a:pt x="34" y="27"/>
                    <a:pt x="32" y="27"/>
                    <a:pt x="30" y="27"/>
                  </a:cubicBezTo>
                  <a:moveTo>
                    <a:pt x="63" y="17"/>
                  </a:moveTo>
                  <a:cubicBezTo>
                    <a:pt x="63" y="15"/>
                    <a:pt x="62" y="15"/>
                    <a:pt x="62" y="14"/>
                  </a:cubicBezTo>
                  <a:cubicBezTo>
                    <a:pt x="62" y="13"/>
                    <a:pt x="61" y="13"/>
                    <a:pt x="61" y="12"/>
                  </a:cubicBezTo>
                  <a:cubicBezTo>
                    <a:pt x="60" y="12"/>
                    <a:pt x="60" y="12"/>
                    <a:pt x="59" y="11"/>
                  </a:cubicBezTo>
                  <a:cubicBezTo>
                    <a:pt x="59" y="11"/>
                    <a:pt x="58" y="11"/>
                    <a:pt x="58" y="11"/>
                  </a:cubicBezTo>
                  <a:cubicBezTo>
                    <a:pt x="56" y="11"/>
                    <a:pt x="55" y="12"/>
                    <a:pt x="54" y="12"/>
                  </a:cubicBezTo>
                  <a:cubicBezTo>
                    <a:pt x="53" y="13"/>
                    <a:pt x="53" y="14"/>
                    <a:pt x="53" y="15"/>
                  </a:cubicBezTo>
                  <a:cubicBezTo>
                    <a:pt x="53" y="16"/>
                    <a:pt x="53" y="16"/>
                    <a:pt x="53" y="17"/>
                  </a:cubicBezTo>
                  <a:cubicBezTo>
                    <a:pt x="54" y="17"/>
                    <a:pt x="54" y="18"/>
                    <a:pt x="55" y="18"/>
                  </a:cubicBezTo>
                  <a:cubicBezTo>
                    <a:pt x="55" y="18"/>
                    <a:pt x="56" y="18"/>
                    <a:pt x="56" y="19"/>
                  </a:cubicBezTo>
                  <a:cubicBezTo>
                    <a:pt x="57" y="19"/>
                    <a:pt x="57" y="19"/>
                    <a:pt x="58" y="19"/>
                  </a:cubicBezTo>
                  <a:cubicBezTo>
                    <a:pt x="59" y="19"/>
                    <a:pt x="59" y="19"/>
                    <a:pt x="60" y="18"/>
                  </a:cubicBezTo>
                  <a:cubicBezTo>
                    <a:pt x="61" y="18"/>
                    <a:pt x="62" y="18"/>
                    <a:pt x="62" y="18"/>
                  </a:cubicBezTo>
                  <a:cubicBezTo>
                    <a:pt x="63" y="18"/>
                    <a:pt x="63" y="17"/>
                    <a:pt x="63" y="17"/>
                  </a:cubicBezTo>
                  <a:cubicBezTo>
                    <a:pt x="63" y="17"/>
                    <a:pt x="63" y="17"/>
                    <a:pt x="63" y="17"/>
                  </a:cubicBezTo>
                  <a:moveTo>
                    <a:pt x="50" y="15"/>
                  </a:moveTo>
                  <a:cubicBezTo>
                    <a:pt x="50" y="14"/>
                    <a:pt x="50" y="14"/>
                    <a:pt x="50" y="13"/>
                  </a:cubicBezTo>
                  <a:cubicBezTo>
                    <a:pt x="51" y="12"/>
                    <a:pt x="51" y="11"/>
                    <a:pt x="52" y="11"/>
                  </a:cubicBezTo>
                  <a:cubicBezTo>
                    <a:pt x="53" y="10"/>
                    <a:pt x="53" y="10"/>
                    <a:pt x="55" y="10"/>
                  </a:cubicBezTo>
                  <a:cubicBezTo>
                    <a:pt x="56" y="9"/>
                    <a:pt x="57" y="9"/>
                    <a:pt x="58" y="9"/>
                  </a:cubicBezTo>
                  <a:cubicBezTo>
                    <a:pt x="59" y="9"/>
                    <a:pt x="60" y="9"/>
                    <a:pt x="61" y="10"/>
                  </a:cubicBezTo>
                  <a:cubicBezTo>
                    <a:pt x="62" y="10"/>
                    <a:pt x="63" y="10"/>
                    <a:pt x="63" y="11"/>
                  </a:cubicBezTo>
                  <a:cubicBezTo>
                    <a:pt x="64" y="11"/>
                    <a:pt x="65" y="12"/>
                    <a:pt x="65" y="13"/>
                  </a:cubicBezTo>
                  <a:cubicBezTo>
                    <a:pt x="66" y="14"/>
                    <a:pt x="66" y="16"/>
                    <a:pt x="66" y="17"/>
                  </a:cubicBezTo>
                  <a:cubicBezTo>
                    <a:pt x="66" y="19"/>
                    <a:pt x="66" y="20"/>
                    <a:pt x="65" y="21"/>
                  </a:cubicBezTo>
                  <a:cubicBezTo>
                    <a:pt x="65" y="22"/>
                    <a:pt x="64" y="23"/>
                    <a:pt x="63" y="24"/>
                  </a:cubicBezTo>
                  <a:cubicBezTo>
                    <a:pt x="62" y="25"/>
                    <a:pt x="61" y="26"/>
                    <a:pt x="60" y="26"/>
                  </a:cubicBezTo>
                  <a:cubicBezTo>
                    <a:pt x="58" y="27"/>
                    <a:pt x="57" y="27"/>
                    <a:pt x="55" y="27"/>
                  </a:cubicBezTo>
                  <a:cubicBezTo>
                    <a:pt x="54" y="27"/>
                    <a:pt x="54" y="27"/>
                    <a:pt x="53" y="27"/>
                  </a:cubicBezTo>
                  <a:cubicBezTo>
                    <a:pt x="53" y="27"/>
                    <a:pt x="52" y="27"/>
                    <a:pt x="52" y="27"/>
                  </a:cubicBezTo>
                  <a:cubicBezTo>
                    <a:pt x="52" y="25"/>
                    <a:pt x="52" y="25"/>
                    <a:pt x="52" y="25"/>
                  </a:cubicBezTo>
                  <a:cubicBezTo>
                    <a:pt x="52" y="25"/>
                    <a:pt x="52" y="25"/>
                    <a:pt x="52" y="25"/>
                  </a:cubicBezTo>
                  <a:cubicBezTo>
                    <a:pt x="52" y="25"/>
                    <a:pt x="53" y="25"/>
                    <a:pt x="53" y="25"/>
                  </a:cubicBezTo>
                  <a:cubicBezTo>
                    <a:pt x="54" y="25"/>
                    <a:pt x="54" y="25"/>
                    <a:pt x="55" y="25"/>
                  </a:cubicBezTo>
                  <a:cubicBezTo>
                    <a:pt x="57" y="25"/>
                    <a:pt x="59" y="25"/>
                    <a:pt x="60" y="24"/>
                  </a:cubicBezTo>
                  <a:cubicBezTo>
                    <a:pt x="62" y="23"/>
                    <a:pt x="62" y="21"/>
                    <a:pt x="62" y="19"/>
                  </a:cubicBezTo>
                  <a:cubicBezTo>
                    <a:pt x="62" y="20"/>
                    <a:pt x="61" y="20"/>
                    <a:pt x="60" y="20"/>
                  </a:cubicBezTo>
                  <a:cubicBezTo>
                    <a:pt x="59" y="20"/>
                    <a:pt x="58" y="21"/>
                    <a:pt x="57" y="21"/>
                  </a:cubicBezTo>
                  <a:cubicBezTo>
                    <a:pt x="56" y="21"/>
                    <a:pt x="55" y="20"/>
                    <a:pt x="55" y="20"/>
                  </a:cubicBezTo>
                  <a:cubicBezTo>
                    <a:pt x="54" y="20"/>
                    <a:pt x="53" y="20"/>
                    <a:pt x="52" y="20"/>
                  </a:cubicBezTo>
                  <a:cubicBezTo>
                    <a:pt x="51" y="19"/>
                    <a:pt x="51" y="18"/>
                    <a:pt x="50" y="18"/>
                  </a:cubicBezTo>
                  <a:cubicBezTo>
                    <a:pt x="50" y="17"/>
                    <a:pt x="50" y="16"/>
                    <a:pt x="50" y="15"/>
                  </a:cubicBezTo>
                  <a:moveTo>
                    <a:pt x="86" y="1"/>
                  </a:moveTo>
                  <a:cubicBezTo>
                    <a:pt x="86" y="18"/>
                    <a:pt x="86" y="18"/>
                    <a:pt x="86" y="18"/>
                  </a:cubicBezTo>
                  <a:cubicBezTo>
                    <a:pt x="83" y="20"/>
                    <a:pt x="83" y="20"/>
                    <a:pt x="83" y="20"/>
                  </a:cubicBezTo>
                  <a:cubicBezTo>
                    <a:pt x="83" y="3"/>
                    <a:pt x="83" y="3"/>
                    <a:pt x="83" y="3"/>
                  </a:cubicBezTo>
                  <a:cubicBezTo>
                    <a:pt x="73" y="8"/>
                    <a:pt x="73" y="8"/>
                    <a:pt x="73" y="8"/>
                  </a:cubicBezTo>
                  <a:cubicBezTo>
                    <a:pt x="72" y="6"/>
                    <a:pt x="72" y="6"/>
                    <a:pt x="72" y="6"/>
                  </a:cubicBezTo>
                  <a:cubicBezTo>
                    <a:pt x="85" y="0"/>
                    <a:pt x="85" y="0"/>
                    <a:pt x="85" y="0"/>
                  </a:cubicBezTo>
                  <a:lnTo>
                    <a:pt x="86" y="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28" name="Freeform 126">
              <a:extLst>
                <a:ext uri="{FF2B5EF4-FFF2-40B4-BE49-F238E27FC236}">
                  <a16:creationId xmlns:a16="http://schemas.microsoft.com/office/drawing/2014/main" id="{90B80DE8-04C8-460B-8745-62D16F902427}"/>
                </a:ext>
              </a:extLst>
            </p:cNvPr>
            <p:cNvSpPr>
              <a:spLocks/>
            </p:cNvSpPr>
            <p:nvPr userDrawn="1"/>
          </p:nvSpPr>
          <p:spPr bwMode="auto">
            <a:xfrm>
              <a:off x="1184" y="728"/>
              <a:ext cx="14" cy="14"/>
            </a:xfrm>
            <a:custGeom>
              <a:avLst/>
              <a:gdLst>
                <a:gd name="T0" fmla="*/ 2 w 11"/>
                <a:gd name="T1" fmla="*/ 12 h 12"/>
                <a:gd name="T2" fmla="*/ 2 w 11"/>
                <a:gd name="T3" fmla="*/ 8 h 12"/>
                <a:gd name="T4" fmla="*/ 1 w 11"/>
                <a:gd name="T5" fmla="*/ 3 h 12"/>
                <a:gd name="T6" fmla="*/ 8 w 11"/>
                <a:gd name="T7" fmla="*/ 3 h 12"/>
                <a:gd name="T8" fmla="*/ 9 w 11"/>
                <a:gd name="T9" fmla="*/ 5 h 12"/>
                <a:gd name="T10" fmla="*/ 8 w 11"/>
                <a:gd name="T11" fmla="*/ 11 h 12"/>
                <a:gd name="T12" fmla="*/ 2 w 11"/>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1" h="12">
                  <a:moveTo>
                    <a:pt x="2" y="12"/>
                  </a:moveTo>
                  <a:cubicBezTo>
                    <a:pt x="0" y="11"/>
                    <a:pt x="1" y="10"/>
                    <a:pt x="2" y="8"/>
                  </a:cubicBezTo>
                  <a:cubicBezTo>
                    <a:pt x="2" y="7"/>
                    <a:pt x="1" y="5"/>
                    <a:pt x="1" y="3"/>
                  </a:cubicBezTo>
                  <a:cubicBezTo>
                    <a:pt x="2" y="0"/>
                    <a:pt x="6" y="2"/>
                    <a:pt x="8" y="3"/>
                  </a:cubicBezTo>
                  <a:cubicBezTo>
                    <a:pt x="8" y="3"/>
                    <a:pt x="9" y="4"/>
                    <a:pt x="9" y="5"/>
                  </a:cubicBezTo>
                  <a:cubicBezTo>
                    <a:pt x="10" y="7"/>
                    <a:pt x="11" y="10"/>
                    <a:pt x="8" y="11"/>
                  </a:cubicBezTo>
                  <a:cubicBezTo>
                    <a:pt x="6" y="12"/>
                    <a:pt x="4" y="12"/>
                    <a:pt x="2" y="12"/>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29" name="Freeform 127">
              <a:extLst>
                <a:ext uri="{FF2B5EF4-FFF2-40B4-BE49-F238E27FC236}">
                  <a16:creationId xmlns:a16="http://schemas.microsoft.com/office/drawing/2014/main" id="{18AFFFC2-2771-472C-89AB-ACBA50ADF3D9}"/>
                </a:ext>
              </a:extLst>
            </p:cNvPr>
            <p:cNvSpPr>
              <a:spLocks/>
            </p:cNvSpPr>
            <p:nvPr userDrawn="1"/>
          </p:nvSpPr>
          <p:spPr bwMode="auto">
            <a:xfrm>
              <a:off x="1148" y="686"/>
              <a:ext cx="51" cy="45"/>
            </a:xfrm>
            <a:custGeom>
              <a:avLst/>
              <a:gdLst>
                <a:gd name="T0" fmla="*/ 7 w 41"/>
                <a:gd name="T1" fmla="*/ 35 h 36"/>
                <a:gd name="T2" fmla="*/ 7 w 41"/>
                <a:gd name="T3" fmla="*/ 35 h 36"/>
                <a:gd name="T4" fmla="*/ 7 w 41"/>
                <a:gd name="T5" fmla="*/ 34 h 36"/>
                <a:gd name="T6" fmla="*/ 15 w 41"/>
                <a:gd name="T7" fmla="*/ 32 h 36"/>
                <a:gd name="T8" fmla="*/ 20 w 41"/>
                <a:gd name="T9" fmla="*/ 28 h 36"/>
                <a:gd name="T10" fmla="*/ 6 w 41"/>
                <a:gd name="T11" fmla="*/ 29 h 36"/>
                <a:gd name="T12" fmla="*/ 2 w 41"/>
                <a:gd name="T13" fmla="*/ 26 h 36"/>
                <a:gd name="T14" fmla="*/ 2 w 41"/>
                <a:gd name="T15" fmla="*/ 26 h 36"/>
                <a:gd name="T16" fmla="*/ 3 w 41"/>
                <a:gd name="T17" fmla="*/ 21 h 36"/>
                <a:gd name="T18" fmla="*/ 19 w 41"/>
                <a:gd name="T19" fmla="*/ 21 h 36"/>
                <a:gd name="T20" fmla="*/ 24 w 41"/>
                <a:gd name="T21" fmla="*/ 20 h 36"/>
                <a:gd name="T22" fmla="*/ 29 w 41"/>
                <a:gd name="T23" fmla="*/ 3 h 36"/>
                <a:gd name="T24" fmla="*/ 35 w 41"/>
                <a:gd name="T25" fmla="*/ 6 h 36"/>
                <a:gd name="T26" fmla="*/ 36 w 41"/>
                <a:gd name="T27" fmla="*/ 7 h 36"/>
                <a:gd name="T28" fmla="*/ 36 w 41"/>
                <a:gd name="T29" fmla="*/ 7 h 36"/>
                <a:gd name="T30" fmla="*/ 35 w 41"/>
                <a:gd name="T31" fmla="*/ 11 h 36"/>
                <a:gd name="T32" fmla="*/ 31 w 41"/>
                <a:gd name="T33" fmla="*/ 20 h 36"/>
                <a:gd name="T34" fmla="*/ 40 w 41"/>
                <a:gd name="T35" fmla="*/ 19 h 36"/>
                <a:gd name="T36" fmla="*/ 38 w 41"/>
                <a:gd name="T37" fmla="*/ 23 h 36"/>
                <a:gd name="T38" fmla="*/ 29 w 41"/>
                <a:gd name="T39" fmla="*/ 24 h 36"/>
                <a:gd name="T40" fmla="*/ 23 w 41"/>
                <a:gd name="T41" fmla="*/ 32 h 36"/>
                <a:gd name="T42" fmla="*/ 21 w 41"/>
                <a:gd name="T43" fmla="*/ 34 h 36"/>
                <a:gd name="T44" fmla="*/ 14 w 41"/>
                <a:gd name="T45" fmla="*/ 35 h 36"/>
                <a:gd name="T46" fmla="*/ 7 w 41"/>
                <a:gd name="T47" fmla="*/ 3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36">
                  <a:moveTo>
                    <a:pt x="7" y="35"/>
                  </a:moveTo>
                  <a:cubicBezTo>
                    <a:pt x="7" y="35"/>
                    <a:pt x="7" y="35"/>
                    <a:pt x="7" y="35"/>
                  </a:cubicBezTo>
                  <a:cubicBezTo>
                    <a:pt x="7" y="35"/>
                    <a:pt x="7" y="35"/>
                    <a:pt x="7" y="34"/>
                  </a:cubicBezTo>
                  <a:cubicBezTo>
                    <a:pt x="8" y="34"/>
                    <a:pt x="15" y="32"/>
                    <a:pt x="15" y="32"/>
                  </a:cubicBezTo>
                  <a:cubicBezTo>
                    <a:pt x="17" y="31"/>
                    <a:pt x="19" y="30"/>
                    <a:pt x="20" y="28"/>
                  </a:cubicBezTo>
                  <a:cubicBezTo>
                    <a:pt x="15" y="28"/>
                    <a:pt x="11" y="30"/>
                    <a:pt x="6" y="29"/>
                  </a:cubicBezTo>
                  <a:cubicBezTo>
                    <a:pt x="4" y="28"/>
                    <a:pt x="3" y="27"/>
                    <a:pt x="2" y="26"/>
                  </a:cubicBezTo>
                  <a:cubicBezTo>
                    <a:pt x="2" y="26"/>
                    <a:pt x="2" y="26"/>
                    <a:pt x="2" y="26"/>
                  </a:cubicBezTo>
                  <a:cubicBezTo>
                    <a:pt x="0" y="24"/>
                    <a:pt x="0" y="22"/>
                    <a:pt x="3" y="21"/>
                  </a:cubicBezTo>
                  <a:cubicBezTo>
                    <a:pt x="7" y="23"/>
                    <a:pt x="15" y="22"/>
                    <a:pt x="19" y="21"/>
                  </a:cubicBezTo>
                  <a:cubicBezTo>
                    <a:pt x="20" y="21"/>
                    <a:pt x="23" y="21"/>
                    <a:pt x="24" y="20"/>
                  </a:cubicBezTo>
                  <a:cubicBezTo>
                    <a:pt x="26" y="15"/>
                    <a:pt x="27" y="9"/>
                    <a:pt x="29" y="3"/>
                  </a:cubicBezTo>
                  <a:cubicBezTo>
                    <a:pt x="31" y="0"/>
                    <a:pt x="33" y="3"/>
                    <a:pt x="35" y="6"/>
                  </a:cubicBezTo>
                  <a:cubicBezTo>
                    <a:pt x="35" y="6"/>
                    <a:pt x="36" y="6"/>
                    <a:pt x="36" y="7"/>
                  </a:cubicBezTo>
                  <a:cubicBezTo>
                    <a:pt x="36" y="7"/>
                    <a:pt x="36" y="7"/>
                    <a:pt x="36" y="7"/>
                  </a:cubicBezTo>
                  <a:cubicBezTo>
                    <a:pt x="37" y="9"/>
                    <a:pt x="37" y="10"/>
                    <a:pt x="35" y="11"/>
                  </a:cubicBezTo>
                  <a:cubicBezTo>
                    <a:pt x="33" y="14"/>
                    <a:pt x="32" y="17"/>
                    <a:pt x="31" y="20"/>
                  </a:cubicBezTo>
                  <a:cubicBezTo>
                    <a:pt x="34" y="20"/>
                    <a:pt x="37" y="18"/>
                    <a:pt x="40" y="19"/>
                  </a:cubicBezTo>
                  <a:cubicBezTo>
                    <a:pt x="41" y="21"/>
                    <a:pt x="40" y="22"/>
                    <a:pt x="38" y="23"/>
                  </a:cubicBezTo>
                  <a:cubicBezTo>
                    <a:pt x="36" y="23"/>
                    <a:pt x="33" y="24"/>
                    <a:pt x="29" y="24"/>
                  </a:cubicBezTo>
                  <a:cubicBezTo>
                    <a:pt x="28" y="27"/>
                    <a:pt x="26" y="30"/>
                    <a:pt x="23" y="32"/>
                  </a:cubicBezTo>
                  <a:cubicBezTo>
                    <a:pt x="23" y="33"/>
                    <a:pt x="21" y="34"/>
                    <a:pt x="21" y="34"/>
                  </a:cubicBezTo>
                  <a:cubicBezTo>
                    <a:pt x="19" y="34"/>
                    <a:pt x="17" y="35"/>
                    <a:pt x="14" y="35"/>
                  </a:cubicBezTo>
                  <a:cubicBezTo>
                    <a:pt x="8" y="36"/>
                    <a:pt x="8" y="35"/>
                    <a:pt x="7" y="35"/>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30" name="Freeform 128">
              <a:extLst>
                <a:ext uri="{FF2B5EF4-FFF2-40B4-BE49-F238E27FC236}">
                  <a16:creationId xmlns:a16="http://schemas.microsoft.com/office/drawing/2014/main" id="{D787ACE1-43A9-4AC9-864C-9660C717BB72}"/>
                </a:ext>
              </a:extLst>
            </p:cNvPr>
            <p:cNvSpPr>
              <a:spLocks/>
            </p:cNvSpPr>
            <p:nvPr userDrawn="1"/>
          </p:nvSpPr>
          <p:spPr bwMode="auto">
            <a:xfrm>
              <a:off x="1063" y="714"/>
              <a:ext cx="20" cy="41"/>
            </a:xfrm>
            <a:custGeom>
              <a:avLst/>
              <a:gdLst>
                <a:gd name="T0" fmla="*/ 7 w 16"/>
                <a:gd name="T1" fmla="*/ 33 h 33"/>
                <a:gd name="T2" fmla="*/ 0 w 16"/>
                <a:gd name="T3" fmla="*/ 30 h 33"/>
                <a:gd name="T4" fmla="*/ 0 w 16"/>
                <a:gd name="T5" fmla="*/ 28 h 33"/>
                <a:gd name="T6" fmla="*/ 10 w 16"/>
                <a:gd name="T7" fmla="*/ 11 h 33"/>
                <a:gd name="T8" fmla="*/ 12 w 16"/>
                <a:gd name="T9" fmla="*/ 3 h 33"/>
                <a:gd name="T10" fmla="*/ 12 w 16"/>
                <a:gd name="T11" fmla="*/ 2 h 33"/>
                <a:gd name="T12" fmla="*/ 12 w 16"/>
                <a:gd name="T13" fmla="*/ 2 h 33"/>
                <a:gd name="T14" fmla="*/ 15 w 16"/>
                <a:gd name="T15" fmla="*/ 2 h 33"/>
                <a:gd name="T16" fmla="*/ 14 w 16"/>
                <a:gd name="T17" fmla="*/ 7 h 33"/>
                <a:gd name="T18" fmla="*/ 13 w 16"/>
                <a:gd name="T19" fmla="*/ 16 h 33"/>
                <a:gd name="T20" fmla="*/ 13 w 16"/>
                <a:gd name="T21" fmla="*/ 19 h 33"/>
                <a:gd name="T22" fmla="*/ 11 w 16"/>
                <a:gd name="T23" fmla="*/ 26 h 33"/>
                <a:gd name="T24" fmla="*/ 9 w 16"/>
                <a:gd name="T25" fmla="*/ 33 h 33"/>
                <a:gd name="T26" fmla="*/ 7 w 16"/>
                <a:gd name="T27"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33">
                  <a:moveTo>
                    <a:pt x="7" y="33"/>
                  </a:moveTo>
                  <a:cubicBezTo>
                    <a:pt x="5" y="33"/>
                    <a:pt x="2" y="31"/>
                    <a:pt x="0" y="30"/>
                  </a:cubicBezTo>
                  <a:cubicBezTo>
                    <a:pt x="0" y="30"/>
                    <a:pt x="0" y="29"/>
                    <a:pt x="0" y="28"/>
                  </a:cubicBezTo>
                  <a:cubicBezTo>
                    <a:pt x="4" y="23"/>
                    <a:pt x="7" y="17"/>
                    <a:pt x="10" y="11"/>
                  </a:cubicBezTo>
                  <a:cubicBezTo>
                    <a:pt x="11" y="8"/>
                    <a:pt x="11" y="5"/>
                    <a:pt x="12" y="3"/>
                  </a:cubicBezTo>
                  <a:cubicBezTo>
                    <a:pt x="12" y="3"/>
                    <a:pt x="12" y="3"/>
                    <a:pt x="12" y="2"/>
                  </a:cubicBezTo>
                  <a:cubicBezTo>
                    <a:pt x="12" y="2"/>
                    <a:pt x="12" y="2"/>
                    <a:pt x="12" y="2"/>
                  </a:cubicBezTo>
                  <a:cubicBezTo>
                    <a:pt x="13" y="1"/>
                    <a:pt x="14" y="0"/>
                    <a:pt x="15" y="2"/>
                  </a:cubicBezTo>
                  <a:cubicBezTo>
                    <a:pt x="16" y="3"/>
                    <a:pt x="14" y="5"/>
                    <a:pt x="14" y="7"/>
                  </a:cubicBezTo>
                  <a:cubicBezTo>
                    <a:pt x="14" y="10"/>
                    <a:pt x="14" y="13"/>
                    <a:pt x="13" y="16"/>
                  </a:cubicBezTo>
                  <a:cubicBezTo>
                    <a:pt x="13" y="16"/>
                    <a:pt x="13" y="16"/>
                    <a:pt x="13" y="19"/>
                  </a:cubicBezTo>
                  <a:cubicBezTo>
                    <a:pt x="12" y="21"/>
                    <a:pt x="11" y="24"/>
                    <a:pt x="11" y="26"/>
                  </a:cubicBezTo>
                  <a:cubicBezTo>
                    <a:pt x="10" y="28"/>
                    <a:pt x="10" y="31"/>
                    <a:pt x="9" y="33"/>
                  </a:cubicBezTo>
                  <a:cubicBezTo>
                    <a:pt x="8" y="33"/>
                    <a:pt x="8" y="33"/>
                    <a:pt x="7" y="33"/>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31" name="Freeform 129">
              <a:extLst>
                <a:ext uri="{FF2B5EF4-FFF2-40B4-BE49-F238E27FC236}">
                  <a16:creationId xmlns:a16="http://schemas.microsoft.com/office/drawing/2014/main" id="{17F742A6-AF75-4186-BF58-723C3A75BAFE}"/>
                </a:ext>
              </a:extLst>
            </p:cNvPr>
            <p:cNvSpPr>
              <a:spLocks/>
            </p:cNvSpPr>
            <p:nvPr userDrawn="1"/>
          </p:nvSpPr>
          <p:spPr bwMode="auto">
            <a:xfrm>
              <a:off x="1090" y="704"/>
              <a:ext cx="16" cy="16"/>
            </a:xfrm>
            <a:custGeom>
              <a:avLst/>
              <a:gdLst>
                <a:gd name="T0" fmla="*/ 8 w 13"/>
                <a:gd name="T1" fmla="*/ 12 h 13"/>
                <a:gd name="T2" fmla="*/ 1 w 13"/>
                <a:gd name="T3" fmla="*/ 10 h 13"/>
                <a:gd name="T4" fmla="*/ 1 w 13"/>
                <a:gd name="T5" fmla="*/ 8 h 13"/>
                <a:gd name="T6" fmla="*/ 2 w 13"/>
                <a:gd name="T7" fmla="*/ 7 h 13"/>
                <a:gd name="T8" fmla="*/ 5 w 13"/>
                <a:gd name="T9" fmla="*/ 6 h 13"/>
                <a:gd name="T10" fmla="*/ 12 w 13"/>
                <a:gd name="T11" fmla="*/ 1 h 13"/>
                <a:gd name="T12" fmla="*/ 8 w 13"/>
                <a:gd name="T13" fmla="*/ 12 h 13"/>
              </a:gdLst>
              <a:ahLst/>
              <a:cxnLst>
                <a:cxn ang="0">
                  <a:pos x="T0" y="T1"/>
                </a:cxn>
                <a:cxn ang="0">
                  <a:pos x="T2" y="T3"/>
                </a:cxn>
                <a:cxn ang="0">
                  <a:pos x="T4" y="T5"/>
                </a:cxn>
                <a:cxn ang="0">
                  <a:pos x="T6" y="T7"/>
                </a:cxn>
                <a:cxn ang="0">
                  <a:pos x="T8" y="T9"/>
                </a:cxn>
                <a:cxn ang="0">
                  <a:pos x="T10" y="T11"/>
                </a:cxn>
                <a:cxn ang="0">
                  <a:pos x="T12" y="T13"/>
                </a:cxn>
              </a:cxnLst>
              <a:rect l="0" t="0" r="r" b="b"/>
              <a:pathLst>
                <a:path w="13" h="13">
                  <a:moveTo>
                    <a:pt x="8" y="12"/>
                  </a:moveTo>
                  <a:cubicBezTo>
                    <a:pt x="5" y="13"/>
                    <a:pt x="3" y="12"/>
                    <a:pt x="1" y="10"/>
                  </a:cubicBezTo>
                  <a:cubicBezTo>
                    <a:pt x="0" y="10"/>
                    <a:pt x="1" y="9"/>
                    <a:pt x="1" y="8"/>
                  </a:cubicBezTo>
                  <a:cubicBezTo>
                    <a:pt x="1" y="8"/>
                    <a:pt x="1" y="8"/>
                    <a:pt x="2" y="7"/>
                  </a:cubicBezTo>
                  <a:cubicBezTo>
                    <a:pt x="3" y="7"/>
                    <a:pt x="3" y="7"/>
                    <a:pt x="5" y="6"/>
                  </a:cubicBezTo>
                  <a:cubicBezTo>
                    <a:pt x="6" y="5"/>
                    <a:pt x="10" y="0"/>
                    <a:pt x="12" y="1"/>
                  </a:cubicBezTo>
                  <a:cubicBezTo>
                    <a:pt x="13" y="4"/>
                    <a:pt x="11" y="10"/>
                    <a:pt x="8" y="12"/>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32" name="Freeform 130">
              <a:extLst>
                <a:ext uri="{FF2B5EF4-FFF2-40B4-BE49-F238E27FC236}">
                  <a16:creationId xmlns:a16="http://schemas.microsoft.com/office/drawing/2014/main" id="{3734F72B-D5E7-450F-94BA-DCECFCA61725}"/>
                </a:ext>
              </a:extLst>
            </p:cNvPr>
            <p:cNvSpPr>
              <a:spLocks/>
            </p:cNvSpPr>
            <p:nvPr userDrawn="1"/>
          </p:nvSpPr>
          <p:spPr bwMode="auto">
            <a:xfrm>
              <a:off x="1062" y="710"/>
              <a:ext cx="12" cy="14"/>
            </a:xfrm>
            <a:custGeom>
              <a:avLst/>
              <a:gdLst>
                <a:gd name="T0" fmla="*/ 5 w 10"/>
                <a:gd name="T1" fmla="*/ 11 h 11"/>
                <a:gd name="T2" fmla="*/ 1 w 10"/>
                <a:gd name="T3" fmla="*/ 4 h 11"/>
                <a:gd name="T4" fmla="*/ 6 w 10"/>
                <a:gd name="T5" fmla="*/ 1 h 11"/>
                <a:gd name="T6" fmla="*/ 10 w 10"/>
                <a:gd name="T7" fmla="*/ 6 h 11"/>
                <a:gd name="T8" fmla="*/ 5 w 10"/>
                <a:gd name="T9" fmla="*/ 11 h 11"/>
              </a:gdLst>
              <a:ahLst/>
              <a:cxnLst>
                <a:cxn ang="0">
                  <a:pos x="T0" y="T1"/>
                </a:cxn>
                <a:cxn ang="0">
                  <a:pos x="T2" y="T3"/>
                </a:cxn>
                <a:cxn ang="0">
                  <a:pos x="T4" y="T5"/>
                </a:cxn>
                <a:cxn ang="0">
                  <a:pos x="T6" y="T7"/>
                </a:cxn>
                <a:cxn ang="0">
                  <a:pos x="T8" y="T9"/>
                </a:cxn>
              </a:cxnLst>
              <a:rect l="0" t="0" r="r" b="b"/>
              <a:pathLst>
                <a:path w="10" h="11">
                  <a:moveTo>
                    <a:pt x="5" y="11"/>
                  </a:moveTo>
                  <a:cubicBezTo>
                    <a:pt x="3" y="10"/>
                    <a:pt x="1" y="5"/>
                    <a:pt x="1" y="4"/>
                  </a:cubicBezTo>
                  <a:cubicBezTo>
                    <a:pt x="0" y="1"/>
                    <a:pt x="3" y="0"/>
                    <a:pt x="6" y="1"/>
                  </a:cubicBezTo>
                  <a:cubicBezTo>
                    <a:pt x="9" y="2"/>
                    <a:pt x="10" y="3"/>
                    <a:pt x="10" y="6"/>
                  </a:cubicBezTo>
                  <a:cubicBezTo>
                    <a:pt x="8" y="9"/>
                    <a:pt x="7" y="9"/>
                    <a:pt x="5" y="11"/>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33" name="Freeform 131">
              <a:extLst>
                <a:ext uri="{FF2B5EF4-FFF2-40B4-BE49-F238E27FC236}">
                  <a16:creationId xmlns:a16="http://schemas.microsoft.com/office/drawing/2014/main" id="{9A7BF1C3-CD39-4EB6-8809-1E68E6C1AD8C}"/>
                </a:ext>
              </a:extLst>
            </p:cNvPr>
            <p:cNvSpPr>
              <a:spLocks/>
            </p:cNvSpPr>
            <p:nvPr userDrawn="1"/>
          </p:nvSpPr>
          <p:spPr bwMode="auto">
            <a:xfrm>
              <a:off x="1085" y="688"/>
              <a:ext cx="19" cy="21"/>
            </a:xfrm>
            <a:custGeom>
              <a:avLst/>
              <a:gdLst>
                <a:gd name="T0" fmla="*/ 8 w 15"/>
                <a:gd name="T1" fmla="*/ 17 h 17"/>
                <a:gd name="T2" fmla="*/ 7 w 15"/>
                <a:gd name="T3" fmla="*/ 12 h 17"/>
                <a:gd name="T4" fmla="*/ 5 w 15"/>
                <a:gd name="T5" fmla="*/ 13 h 17"/>
                <a:gd name="T6" fmla="*/ 0 w 15"/>
                <a:gd name="T7" fmla="*/ 9 h 17"/>
                <a:gd name="T8" fmla="*/ 2 w 15"/>
                <a:gd name="T9" fmla="*/ 7 h 17"/>
                <a:gd name="T10" fmla="*/ 7 w 15"/>
                <a:gd name="T11" fmla="*/ 2 h 17"/>
                <a:gd name="T12" fmla="*/ 14 w 15"/>
                <a:gd name="T13" fmla="*/ 4 h 17"/>
                <a:gd name="T14" fmla="*/ 13 w 15"/>
                <a:gd name="T15" fmla="*/ 11 h 17"/>
                <a:gd name="T16" fmla="*/ 9 w 15"/>
                <a:gd name="T17" fmla="*/ 16 h 17"/>
                <a:gd name="T18" fmla="*/ 8 w 15"/>
                <a:gd name="T19"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7">
                  <a:moveTo>
                    <a:pt x="8" y="17"/>
                  </a:moveTo>
                  <a:cubicBezTo>
                    <a:pt x="7" y="16"/>
                    <a:pt x="8" y="12"/>
                    <a:pt x="7" y="12"/>
                  </a:cubicBezTo>
                  <a:cubicBezTo>
                    <a:pt x="6" y="12"/>
                    <a:pt x="6" y="13"/>
                    <a:pt x="5" y="13"/>
                  </a:cubicBezTo>
                  <a:cubicBezTo>
                    <a:pt x="3" y="13"/>
                    <a:pt x="0" y="11"/>
                    <a:pt x="0" y="9"/>
                  </a:cubicBezTo>
                  <a:cubicBezTo>
                    <a:pt x="1" y="7"/>
                    <a:pt x="0" y="8"/>
                    <a:pt x="2" y="7"/>
                  </a:cubicBezTo>
                  <a:cubicBezTo>
                    <a:pt x="4" y="5"/>
                    <a:pt x="6" y="3"/>
                    <a:pt x="7" y="2"/>
                  </a:cubicBezTo>
                  <a:cubicBezTo>
                    <a:pt x="11" y="0"/>
                    <a:pt x="13" y="1"/>
                    <a:pt x="14" y="4"/>
                  </a:cubicBezTo>
                  <a:cubicBezTo>
                    <a:pt x="15" y="7"/>
                    <a:pt x="14" y="9"/>
                    <a:pt x="13" y="11"/>
                  </a:cubicBezTo>
                  <a:cubicBezTo>
                    <a:pt x="12" y="13"/>
                    <a:pt x="10" y="15"/>
                    <a:pt x="9" y="16"/>
                  </a:cubicBezTo>
                  <a:cubicBezTo>
                    <a:pt x="9" y="17"/>
                    <a:pt x="8" y="17"/>
                    <a:pt x="8" y="17"/>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34" name="Freeform 132">
              <a:extLst>
                <a:ext uri="{FF2B5EF4-FFF2-40B4-BE49-F238E27FC236}">
                  <a16:creationId xmlns:a16="http://schemas.microsoft.com/office/drawing/2014/main" id="{719D0548-485E-43B5-AD82-2CC3D64092D2}"/>
                </a:ext>
              </a:extLst>
            </p:cNvPr>
            <p:cNvSpPr>
              <a:spLocks/>
            </p:cNvSpPr>
            <p:nvPr userDrawn="1"/>
          </p:nvSpPr>
          <p:spPr bwMode="auto">
            <a:xfrm>
              <a:off x="1062" y="693"/>
              <a:ext cx="12" cy="13"/>
            </a:xfrm>
            <a:custGeom>
              <a:avLst/>
              <a:gdLst>
                <a:gd name="T0" fmla="*/ 4 w 10"/>
                <a:gd name="T1" fmla="*/ 11 h 11"/>
                <a:gd name="T2" fmla="*/ 3 w 10"/>
                <a:gd name="T3" fmla="*/ 9 h 11"/>
                <a:gd name="T4" fmla="*/ 1 w 10"/>
                <a:gd name="T5" fmla="*/ 6 h 11"/>
                <a:gd name="T6" fmla="*/ 1 w 10"/>
                <a:gd name="T7" fmla="*/ 0 h 11"/>
                <a:gd name="T8" fmla="*/ 10 w 10"/>
                <a:gd name="T9" fmla="*/ 5 h 11"/>
                <a:gd name="T10" fmla="*/ 4 w 10"/>
                <a:gd name="T11" fmla="*/ 11 h 11"/>
              </a:gdLst>
              <a:ahLst/>
              <a:cxnLst>
                <a:cxn ang="0">
                  <a:pos x="T0" y="T1"/>
                </a:cxn>
                <a:cxn ang="0">
                  <a:pos x="T2" y="T3"/>
                </a:cxn>
                <a:cxn ang="0">
                  <a:pos x="T4" y="T5"/>
                </a:cxn>
                <a:cxn ang="0">
                  <a:pos x="T6" y="T7"/>
                </a:cxn>
                <a:cxn ang="0">
                  <a:pos x="T8" y="T9"/>
                </a:cxn>
                <a:cxn ang="0">
                  <a:pos x="T10" y="T11"/>
                </a:cxn>
              </a:cxnLst>
              <a:rect l="0" t="0" r="r" b="b"/>
              <a:pathLst>
                <a:path w="10" h="11">
                  <a:moveTo>
                    <a:pt x="4" y="11"/>
                  </a:moveTo>
                  <a:cubicBezTo>
                    <a:pt x="3" y="11"/>
                    <a:pt x="3" y="10"/>
                    <a:pt x="3" y="9"/>
                  </a:cubicBezTo>
                  <a:cubicBezTo>
                    <a:pt x="3" y="8"/>
                    <a:pt x="2" y="7"/>
                    <a:pt x="1" y="6"/>
                  </a:cubicBezTo>
                  <a:cubicBezTo>
                    <a:pt x="0" y="3"/>
                    <a:pt x="0" y="2"/>
                    <a:pt x="1" y="0"/>
                  </a:cubicBezTo>
                  <a:cubicBezTo>
                    <a:pt x="3" y="0"/>
                    <a:pt x="10" y="1"/>
                    <a:pt x="10" y="5"/>
                  </a:cubicBezTo>
                  <a:cubicBezTo>
                    <a:pt x="9" y="7"/>
                    <a:pt x="6" y="10"/>
                    <a:pt x="4" y="11"/>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35" name="Freeform 133">
              <a:extLst>
                <a:ext uri="{FF2B5EF4-FFF2-40B4-BE49-F238E27FC236}">
                  <a16:creationId xmlns:a16="http://schemas.microsoft.com/office/drawing/2014/main" id="{C1EFA3F7-3F39-4356-AFAF-79910B71870E}"/>
                </a:ext>
              </a:extLst>
            </p:cNvPr>
            <p:cNvSpPr>
              <a:spLocks/>
            </p:cNvSpPr>
            <p:nvPr userDrawn="1"/>
          </p:nvSpPr>
          <p:spPr bwMode="auto">
            <a:xfrm>
              <a:off x="996" y="742"/>
              <a:ext cx="47" cy="83"/>
            </a:xfrm>
            <a:custGeom>
              <a:avLst/>
              <a:gdLst>
                <a:gd name="T0" fmla="*/ 22 w 38"/>
                <a:gd name="T1" fmla="*/ 64 h 66"/>
                <a:gd name="T2" fmla="*/ 13 w 38"/>
                <a:gd name="T3" fmla="*/ 61 h 66"/>
                <a:gd name="T4" fmla="*/ 13 w 38"/>
                <a:gd name="T5" fmla="*/ 59 h 66"/>
                <a:gd name="T6" fmla="*/ 13 w 38"/>
                <a:gd name="T7" fmla="*/ 59 h 66"/>
                <a:gd name="T8" fmla="*/ 8 w 38"/>
                <a:gd name="T9" fmla="*/ 46 h 66"/>
                <a:gd name="T10" fmla="*/ 7 w 38"/>
                <a:gd name="T11" fmla="*/ 42 h 66"/>
                <a:gd name="T12" fmla="*/ 10 w 38"/>
                <a:gd name="T13" fmla="*/ 44 h 66"/>
                <a:gd name="T14" fmla="*/ 11 w 38"/>
                <a:gd name="T15" fmla="*/ 42 h 66"/>
                <a:gd name="T16" fmla="*/ 11 w 38"/>
                <a:gd name="T17" fmla="*/ 33 h 66"/>
                <a:gd name="T18" fmla="*/ 8 w 38"/>
                <a:gd name="T19" fmla="*/ 31 h 66"/>
                <a:gd name="T20" fmla="*/ 4 w 38"/>
                <a:gd name="T21" fmla="*/ 34 h 66"/>
                <a:gd name="T22" fmla="*/ 4 w 38"/>
                <a:gd name="T23" fmla="*/ 27 h 66"/>
                <a:gd name="T24" fmla="*/ 0 w 38"/>
                <a:gd name="T25" fmla="*/ 23 h 66"/>
                <a:gd name="T26" fmla="*/ 6 w 38"/>
                <a:gd name="T27" fmla="*/ 21 h 66"/>
                <a:gd name="T28" fmla="*/ 10 w 38"/>
                <a:gd name="T29" fmla="*/ 23 h 66"/>
                <a:gd name="T30" fmla="*/ 11 w 38"/>
                <a:gd name="T31" fmla="*/ 25 h 66"/>
                <a:gd name="T32" fmla="*/ 12 w 38"/>
                <a:gd name="T33" fmla="*/ 24 h 66"/>
                <a:gd name="T34" fmla="*/ 12 w 38"/>
                <a:gd name="T35" fmla="*/ 17 h 66"/>
                <a:gd name="T36" fmla="*/ 7 w 38"/>
                <a:gd name="T37" fmla="*/ 10 h 66"/>
                <a:gd name="T38" fmla="*/ 12 w 38"/>
                <a:gd name="T39" fmla="*/ 6 h 66"/>
                <a:gd name="T40" fmla="*/ 13 w 38"/>
                <a:gd name="T41" fmla="*/ 1 h 66"/>
                <a:gd name="T42" fmla="*/ 14 w 38"/>
                <a:gd name="T43" fmla="*/ 0 h 66"/>
                <a:gd name="T44" fmla="*/ 16 w 38"/>
                <a:gd name="T45" fmla="*/ 1 h 66"/>
                <a:gd name="T46" fmla="*/ 18 w 38"/>
                <a:gd name="T47" fmla="*/ 12 h 66"/>
                <a:gd name="T48" fmla="*/ 17 w 38"/>
                <a:gd name="T49" fmla="*/ 8 h 66"/>
                <a:gd name="T50" fmla="*/ 22 w 38"/>
                <a:gd name="T51" fmla="*/ 3 h 66"/>
                <a:gd name="T52" fmla="*/ 25 w 38"/>
                <a:gd name="T53" fmla="*/ 7 h 66"/>
                <a:gd name="T54" fmla="*/ 26 w 38"/>
                <a:gd name="T55" fmla="*/ 8 h 66"/>
                <a:gd name="T56" fmla="*/ 35 w 38"/>
                <a:gd name="T57" fmla="*/ 15 h 66"/>
                <a:gd name="T58" fmla="*/ 37 w 38"/>
                <a:gd name="T59" fmla="*/ 19 h 66"/>
                <a:gd name="T60" fmla="*/ 37 w 38"/>
                <a:gd name="T61" fmla="*/ 20 h 66"/>
                <a:gd name="T62" fmla="*/ 37 w 38"/>
                <a:gd name="T63" fmla="*/ 20 h 66"/>
                <a:gd name="T64" fmla="*/ 36 w 38"/>
                <a:gd name="T65" fmla="*/ 24 h 66"/>
                <a:gd name="T66" fmla="*/ 23 w 38"/>
                <a:gd name="T67" fmla="*/ 15 h 66"/>
                <a:gd name="T68" fmla="*/ 23 w 38"/>
                <a:gd name="T69" fmla="*/ 15 h 66"/>
                <a:gd name="T70" fmla="*/ 27 w 38"/>
                <a:gd name="T71" fmla="*/ 25 h 66"/>
                <a:gd name="T72" fmla="*/ 22 w 38"/>
                <a:gd name="T73" fmla="*/ 27 h 66"/>
                <a:gd name="T74" fmla="*/ 22 w 38"/>
                <a:gd name="T75" fmla="*/ 25 h 66"/>
                <a:gd name="T76" fmla="*/ 15 w 38"/>
                <a:gd name="T77" fmla="*/ 19 h 66"/>
                <a:gd name="T78" fmla="*/ 16 w 38"/>
                <a:gd name="T79" fmla="*/ 27 h 66"/>
                <a:gd name="T80" fmla="*/ 17 w 38"/>
                <a:gd name="T81" fmla="*/ 31 h 66"/>
                <a:gd name="T82" fmla="*/ 21 w 38"/>
                <a:gd name="T83" fmla="*/ 35 h 66"/>
                <a:gd name="T84" fmla="*/ 22 w 38"/>
                <a:gd name="T85" fmla="*/ 38 h 66"/>
                <a:gd name="T86" fmla="*/ 22 w 38"/>
                <a:gd name="T87" fmla="*/ 39 h 66"/>
                <a:gd name="T88" fmla="*/ 22 w 38"/>
                <a:gd name="T89" fmla="*/ 44 h 66"/>
                <a:gd name="T90" fmla="*/ 21 w 38"/>
                <a:gd name="T91" fmla="*/ 44 h 66"/>
                <a:gd name="T92" fmla="*/ 17 w 38"/>
                <a:gd name="T93" fmla="*/ 38 h 66"/>
                <a:gd name="T94" fmla="*/ 16 w 38"/>
                <a:gd name="T95" fmla="*/ 44 h 66"/>
                <a:gd name="T96" fmla="*/ 13 w 38"/>
                <a:gd name="T97" fmla="*/ 46 h 66"/>
                <a:gd name="T98" fmla="*/ 13 w 38"/>
                <a:gd name="T99" fmla="*/ 46 h 66"/>
                <a:gd name="T100" fmla="*/ 12 w 38"/>
                <a:gd name="T101" fmla="*/ 47 h 66"/>
                <a:gd name="T102" fmla="*/ 14 w 38"/>
                <a:gd name="T103" fmla="*/ 50 h 66"/>
                <a:gd name="T104" fmla="*/ 23 w 38"/>
                <a:gd name="T105" fmla="*/ 62 h 66"/>
                <a:gd name="T106" fmla="*/ 22 w 38"/>
                <a:gd name="T107" fmla="*/ 6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8" h="66">
                  <a:moveTo>
                    <a:pt x="22" y="64"/>
                  </a:moveTo>
                  <a:cubicBezTo>
                    <a:pt x="19" y="66"/>
                    <a:pt x="12" y="65"/>
                    <a:pt x="13" y="61"/>
                  </a:cubicBezTo>
                  <a:cubicBezTo>
                    <a:pt x="13" y="60"/>
                    <a:pt x="13" y="59"/>
                    <a:pt x="13" y="59"/>
                  </a:cubicBezTo>
                  <a:cubicBezTo>
                    <a:pt x="13" y="59"/>
                    <a:pt x="13" y="59"/>
                    <a:pt x="13" y="59"/>
                  </a:cubicBezTo>
                  <a:cubicBezTo>
                    <a:pt x="12" y="54"/>
                    <a:pt x="9" y="50"/>
                    <a:pt x="8" y="46"/>
                  </a:cubicBezTo>
                  <a:cubicBezTo>
                    <a:pt x="7" y="45"/>
                    <a:pt x="7" y="44"/>
                    <a:pt x="7" y="42"/>
                  </a:cubicBezTo>
                  <a:cubicBezTo>
                    <a:pt x="8" y="42"/>
                    <a:pt x="9" y="43"/>
                    <a:pt x="10" y="44"/>
                  </a:cubicBezTo>
                  <a:cubicBezTo>
                    <a:pt x="11" y="44"/>
                    <a:pt x="11" y="43"/>
                    <a:pt x="11" y="42"/>
                  </a:cubicBezTo>
                  <a:cubicBezTo>
                    <a:pt x="11" y="39"/>
                    <a:pt x="11" y="36"/>
                    <a:pt x="11" y="33"/>
                  </a:cubicBezTo>
                  <a:cubicBezTo>
                    <a:pt x="10" y="32"/>
                    <a:pt x="9" y="31"/>
                    <a:pt x="8" y="31"/>
                  </a:cubicBezTo>
                  <a:cubicBezTo>
                    <a:pt x="8" y="32"/>
                    <a:pt x="6" y="37"/>
                    <a:pt x="4" y="34"/>
                  </a:cubicBezTo>
                  <a:cubicBezTo>
                    <a:pt x="5" y="32"/>
                    <a:pt x="5" y="29"/>
                    <a:pt x="4" y="27"/>
                  </a:cubicBezTo>
                  <a:cubicBezTo>
                    <a:pt x="2" y="25"/>
                    <a:pt x="0" y="24"/>
                    <a:pt x="0" y="23"/>
                  </a:cubicBezTo>
                  <a:cubicBezTo>
                    <a:pt x="0" y="20"/>
                    <a:pt x="4" y="20"/>
                    <a:pt x="6" y="21"/>
                  </a:cubicBezTo>
                  <a:cubicBezTo>
                    <a:pt x="8" y="21"/>
                    <a:pt x="8" y="17"/>
                    <a:pt x="10" y="23"/>
                  </a:cubicBezTo>
                  <a:cubicBezTo>
                    <a:pt x="10" y="24"/>
                    <a:pt x="11" y="24"/>
                    <a:pt x="11" y="25"/>
                  </a:cubicBezTo>
                  <a:cubicBezTo>
                    <a:pt x="12" y="25"/>
                    <a:pt x="12" y="24"/>
                    <a:pt x="12" y="24"/>
                  </a:cubicBezTo>
                  <a:cubicBezTo>
                    <a:pt x="12" y="22"/>
                    <a:pt x="12" y="19"/>
                    <a:pt x="12" y="17"/>
                  </a:cubicBezTo>
                  <a:cubicBezTo>
                    <a:pt x="10" y="15"/>
                    <a:pt x="8" y="13"/>
                    <a:pt x="7" y="10"/>
                  </a:cubicBezTo>
                  <a:cubicBezTo>
                    <a:pt x="7" y="8"/>
                    <a:pt x="10" y="6"/>
                    <a:pt x="12" y="6"/>
                  </a:cubicBezTo>
                  <a:cubicBezTo>
                    <a:pt x="13" y="4"/>
                    <a:pt x="13" y="3"/>
                    <a:pt x="13" y="1"/>
                  </a:cubicBezTo>
                  <a:cubicBezTo>
                    <a:pt x="13" y="1"/>
                    <a:pt x="13" y="1"/>
                    <a:pt x="14" y="0"/>
                  </a:cubicBezTo>
                  <a:cubicBezTo>
                    <a:pt x="15" y="0"/>
                    <a:pt x="15" y="0"/>
                    <a:pt x="16" y="1"/>
                  </a:cubicBezTo>
                  <a:cubicBezTo>
                    <a:pt x="18" y="3"/>
                    <a:pt x="14" y="11"/>
                    <a:pt x="18" y="12"/>
                  </a:cubicBezTo>
                  <a:cubicBezTo>
                    <a:pt x="19" y="11"/>
                    <a:pt x="18" y="9"/>
                    <a:pt x="17" y="8"/>
                  </a:cubicBezTo>
                  <a:cubicBezTo>
                    <a:pt x="17" y="6"/>
                    <a:pt x="20" y="4"/>
                    <a:pt x="22" y="3"/>
                  </a:cubicBezTo>
                  <a:cubicBezTo>
                    <a:pt x="26" y="3"/>
                    <a:pt x="25" y="4"/>
                    <a:pt x="25" y="7"/>
                  </a:cubicBezTo>
                  <a:cubicBezTo>
                    <a:pt x="26" y="7"/>
                    <a:pt x="26" y="8"/>
                    <a:pt x="26" y="8"/>
                  </a:cubicBezTo>
                  <a:cubicBezTo>
                    <a:pt x="30" y="11"/>
                    <a:pt x="30" y="11"/>
                    <a:pt x="35" y="15"/>
                  </a:cubicBezTo>
                  <a:cubicBezTo>
                    <a:pt x="36" y="16"/>
                    <a:pt x="37" y="17"/>
                    <a:pt x="37" y="19"/>
                  </a:cubicBezTo>
                  <a:cubicBezTo>
                    <a:pt x="37" y="19"/>
                    <a:pt x="37" y="19"/>
                    <a:pt x="37" y="20"/>
                  </a:cubicBezTo>
                  <a:cubicBezTo>
                    <a:pt x="37" y="20"/>
                    <a:pt x="37" y="20"/>
                    <a:pt x="37" y="20"/>
                  </a:cubicBezTo>
                  <a:cubicBezTo>
                    <a:pt x="38" y="21"/>
                    <a:pt x="38" y="24"/>
                    <a:pt x="36" y="24"/>
                  </a:cubicBezTo>
                  <a:cubicBezTo>
                    <a:pt x="32" y="21"/>
                    <a:pt x="27" y="18"/>
                    <a:pt x="23" y="15"/>
                  </a:cubicBezTo>
                  <a:cubicBezTo>
                    <a:pt x="23" y="15"/>
                    <a:pt x="23" y="15"/>
                    <a:pt x="23" y="15"/>
                  </a:cubicBezTo>
                  <a:cubicBezTo>
                    <a:pt x="25" y="17"/>
                    <a:pt x="27" y="22"/>
                    <a:pt x="27" y="25"/>
                  </a:cubicBezTo>
                  <a:cubicBezTo>
                    <a:pt x="26" y="26"/>
                    <a:pt x="24" y="27"/>
                    <a:pt x="22" y="27"/>
                  </a:cubicBezTo>
                  <a:cubicBezTo>
                    <a:pt x="22" y="26"/>
                    <a:pt x="22" y="26"/>
                    <a:pt x="22" y="25"/>
                  </a:cubicBezTo>
                  <a:cubicBezTo>
                    <a:pt x="21" y="23"/>
                    <a:pt x="17" y="21"/>
                    <a:pt x="15" y="19"/>
                  </a:cubicBezTo>
                  <a:cubicBezTo>
                    <a:pt x="14" y="21"/>
                    <a:pt x="16" y="25"/>
                    <a:pt x="16" y="27"/>
                  </a:cubicBezTo>
                  <a:cubicBezTo>
                    <a:pt x="16" y="28"/>
                    <a:pt x="16" y="30"/>
                    <a:pt x="17" y="31"/>
                  </a:cubicBezTo>
                  <a:cubicBezTo>
                    <a:pt x="18" y="32"/>
                    <a:pt x="19" y="34"/>
                    <a:pt x="21" y="35"/>
                  </a:cubicBezTo>
                  <a:cubicBezTo>
                    <a:pt x="21" y="36"/>
                    <a:pt x="22" y="37"/>
                    <a:pt x="22" y="38"/>
                  </a:cubicBezTo>
                  <a:cubicBezTo>
                    <a:pt x="22" y="38"/>
                    <a:pt x="22" y="38"/>
                    <a:pt x="22" y="39"/>
                  </a:cubicBezTo>
                  <a:cubicBezTo>
                    <a:pt x="23" y="40"/>
                    <a:pt x="24" y="44"/>
                    <a:pt x="22" y="44"/>
                  </a:cubicBezTo>
                  <a:cubicBezTo>
                    <a:pt x="21" y="44"/>
                    <a:pt x="21" y="44"/>
                    <a:pt x="21" y="44"/>
                  </a:cubicBezTo>
                  <a:cubicBezTo>
                    <a:pt x="20" y="41"/>
                    <a:pt x="18" y="39"/>
                    <a:pt x="17" y="38"/>
                  </a:cubicBezTo>
                  <a:cubicBezTo>
                    <a:pt x="16" y="40"/>
                    <a:pt x="17" y="42"/>
                    <a:pt x="16" y="44"/>
                  </a:cubicBezTo>
                  <a:cubicBezTo>
                    <a:pt x="15" y="45"/>
                    <a:pt x="14" y="46"/>
                    <a:pt x="13" y="46"/>
                  </a:cubicBezTo>
                  <a:cubicBezTo>
                    <a:pt x="13" y="46"/>
                    <a:pt x="13" y="46"/>
                    <a:pt x="13" y="46"/>
                  </a:cubicBezTo>
                  <a:cubicBezTo>
                    <a:pt x="12" y="46"/>
                    <a:pt x="12" y="46"/>
                    <a:pt x="12" y="47"/>
                  </a:cubicBezTo>
                  <a:cubicBezTo>
                    <a:pt x="12" y="48"/>
                    <a:pt x="13" y="49"/>
                    <a:pt x="14" y="50"/>
                  </a:cubicBezTo>
                  <a:cubicBezTo>
                    <a:pt x="16" y="54"/>
                    <a:pt x="19" y="58"/>
                    <a:pt x="23" y="62"/>
                  </a:cubicBezTo>
                  <a:cubicBezTo>
                    <a:pt x="23" y="63"/>
                    <a:pt x="23" y="63"/>
                    <a:pt x="22" y="64"/>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36" name="Freeform 134">
              <a:extLst>
                <a:ext uri="{FF2B5EF4-FFF2-40B4-BE49-F238E27FC236}">
                  <a16:creationId xmlns:a16="http://schemas.microsoft.com/office/drawing/2014/main" id="{C4E9BC4A-679A-4347-96FC-9940AD3DB61F}"/>
                </a:ext>
              </a:extLst>
            </p:cNvPr>
            <p:cNvSpPr>
              <a:spLocks/>
            </p:cNvSpPr>
            <p:nvPr userDrawn="1"/>
          </p:nvSpPr>
          <p:spPr bwMode="auto">
            <a:xfrm>
              <a:off x="989" y="789"/>
              <a:ext cx="13" cy="11"/>
            </a:xfrm>
            <a:custGeom>
              <a:avLst/>
              <a:gdLst>
                <a:gd name="T0" fmla="*/ 9 w 11"/>
                <a:gd name="T1" fmla="*/ 9 h 9"/>
                <a:gd name="T2" fmla="*/ 7 w 11"/>
                <a:gd name="T3" fmla="*/ 7 h 9"/>
                <a:gd name="T4" fmla="*/ 0 w 11"/>
                <a:gd name="T5" fmla="*/ 2 h 9"/>
                <a:gd name="T6" fmla="*/ 0 w 11"/>
                <a:gd name="T7" fmla="*/ 1 h 9"/>
                <a:gd name="T8" fmla="*/ 7 w 11"/>
                <a:gd name="T9" fmla="*/ 0 h 9"/>
                <a:gd name="T10" fmla="*/ 9 w 11"/>
                <a:gd name="T11" fmla="*/ 9 h 9"/>
              </a:gdLst>
              <a:ahLst/>
              <a:cxnLst>
                <a:cxn ang="0">
                  <a:pos x="T0" y="T1"/>
                </a:cxn>
                <a:cxn ang="0">
                  <a:pos x="T2" y="T3"/>
                </a:cxn>
                <a:cxn ang="0">
                  <a:pos x="T4" y="T5"/>
                </a:cxn>
                <a:cxn ang="0">
                  <a:pos x="T6" y="T7"/>
                </a:cxn>
                <a:cxn ang="0">
                  <a:pos x="T8" y="T9"/>
                </a:cxn>
                <a:cxn ang="0">
                  <a:pos x="T10" y="T11"/>
                </a:cxn>
              </a:cxnLst>
              <a:rect l="0" t="0" r="r" b="b"/>
              <a:pathLst>
                <a:path w="11" h="9">
                  <a:moveTo>
                    <a:pt x="9" y="9"/>
                  </a:moveTo>
                  <a:cubicBezTo>
                    <a:pt x="8" y="9"/>
                    <a:pt x="7" y="8"/>
                    <a:pt x="7" y="7"/>
                  </a:cubicBezTo>
                  <a:cubicBezTo>
                    <a:pt x="3" y="6"/>
                    <a:pt x="1" y="5"/>
                    <a:pt x="0" y="2"/>
                  </a:cubicBezTo>
                  <a:cubicBezTo>
                    <a:pt x="0" y="2"/>
                    <a:pt x="0" y="2"/>
                    <a:pt x="0" y="1"/>
                  </a:cubicBezTo>
                  <a:cubicBezTo>
                    <a:pt x="2" y="1"/>
                    <a:pt x="5" y="0"/>
                    <a:pt x="7" y="0"/>
                  </a:cubicBezTo>
                  <a:cubicBezTo>
                    <a:pt x="11" y="1"/>
                    <a:pt x="10" y="6"/>
                    <a:pt x="9" y="9"/>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37" name="Freeform 135">
              <a:extLst>
                <a:ext uri="{FF2B5EF4-FFF2-40B4-BE49-F238E27FC236}">
                  <a16:creationId xmlns:a16="http://schemas.microsoft.com/office/drawing/2014/main" id="{FE354F88-3981-486D-AA2B-EBA070534EA7}"/>
                </a:ext>
              </a:extLst>
            </p:cNvPr>
            <p:cNvSpPr>
              <a:spLocks/>
            </p:cNvSpPr>
            <p:nvPr userDrawn="1"/>
          </p:nvSpPr>
          <p:spPr bwMode="auto">
            <a:xfrm>
              <a:off x="977" y="776"/>
              <a:ext cx="14" cy="13"/>
            </a:xfrm>
            <a:custGeom>
              <a:avLst/>
              <a:gdLst>
                <a:gd name="T0" fmla="*/ 10 w 11"/>
                <a:gd name="T1" fmla="*/ 10 h 10"/>
                <a:gd name="T2" fmla="*/ 9 w 11"/>
                <a:gd name="T3" fmla="*/ 10 h 10"/>
                <a:gd name="T4" fmla="*/ 8 w 11"/>
                <a:gd name="T5" fmla="*/ 8 h 10"/>
                <a:gd name="T6" fmla="*/ 1 w 11"/>
                <a:gd name="T7" fmla="*/ 2 h 10"/>
                <a:gd name="T8" fmla="*/ 4 w 11"/>
                <a:gd name="T9" fmla="*/ 2 h 10"/>
                <a:gd name="T10" fmla="*/ 11 w 11"/>
                <a:gd name="T11" fmla="*/ 5 h 10"/>
                <a:gd name="T12" fmla="*/ 10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10" y="10"/>
                  </a:moveTo>
                  <a:cubicBezTo>
                    <a:pt x="9" y="10"/>
                    <a:pt x="9" y="10"/>
                    <a:pt x="9" y="10"/>
                  </a:cubicBezTo>
                  <a:cubicBezTo>
                    <a:pt x="8" y="9"/>
                    <a:pt x="8" y="9"/>
                    <a:pt x="8" y="8"/>
                  </a:cubicBezTo>
                  <a:cubicBezTo>
                    <a:pt x="4" y="8"/>
                    <a:pt x="0" y="6"/>
                    <a:pt x="1" y="2"/>
                  </a:cubicBezTo>
                  <a:cubicBezTo>
                    <a:pt x="2" y="1"/>
                    <a:pt x="2" y="2"/>
                    <a:pt x="4" y="2"/>
                  </a:cubicBezTo>
                  <a:cubicBezTo>
                    <a:pt x="7" y="2"/>
                    <a:pt x="11" y="0"/>
                    <a:pt x="11" y="5"/>
                  </a:cubicBezTo>
                  <a:cubicBezTo>
                    <a:pt x="11" y="6"/>
                    <a:pt x="10" y="8"/>
                    <a:pt x="10" y="10"/>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38" name="Freeform 136">
              <a:extLst>
                <a:ext uri="{FF2B5EF4-FFF2-40B4-BE49-F238E27FC236}">
                  <a16:creationId xmlns:a16="http://schemas.microsoft.com/office/drawing/2014/main" id="{F5CCFB55-F671-4BA6-8BC8-AD5D5AE06937}"/>
                </a:ext>
              </a:extLst>
            </p:cNvPr>
            <p:cNvSpPr>
              <a:spLocks/>
            </p:cNvSpPr>
            <p:nvPr userDrawn="1"/>
          </p:nvSpPr>
          <p:spPr bwMode="auto">
            <a:xfrm>
              <a:off x="1048" y="786"/>
              <a:ext cx="163" cy="141"/>
            </a:xfrm>
            <a:custGeom>
              <a:avLst/>
              <a:gdLst>
                <a:gd name="T0" fmla="*/ 132 w 132"/>
                <a:gd name="T1" fmla="*/ 6 h 113"/>
                <a:gd name="T2" fmla="*/ 98 w 132"/>
                <a:gd name="T3" fmla="*/ 6 h 113"/>
                <a:gd name="T4" fmla="*/ 79 w 132"/>
                <a:gd name="T5" fmla="*/ 25 h 113"/>
                <a:gd name="T6" fmla="*/ 73 w 132"/>
                <a:gd name="T7" fmla="*/ 12 h 113"/>
                <a:gd name="T8" fmla="*/ 83 w 132"/>
                <a:gd name="T9" fmla="*/ 8 h 113"/>
                <a:gd name="T10" fmla="*/ 57 w 132"/>
                <a:gd name="T11" fmla="*/ 8 h 113"/>
                <a:gd name="T12" fmla="*/ 53 w 132"/>
                <a:gd name="T13" fmla="*/ 25 h 113"/>
                <a:gd name="T14" fmla="*/ 34 w 132"/>
                <a:gd name="T15" fmla="*/ 6 h 113"/>
                <a:gd name="T16" fmla="*/ 0 w 132"/>
                <a:gd name="T17" fmla="*/ 6 h 113"/>
                <a:gd name="T18" fmla="*/ 24 w 132"/>
                <a:gd name="T19" fmla="*/ 16 h 113"/>
                <a:gd name="T20" fmla="*/ 27 w 132"/>
                <a:gd name="T21" fmla="*/ 22 h 113"/>
                <a:gd name="T22" fmla="*/ 9 w 132"/>
                <a:gd name="T23" fmla="*/ 22 h 113"/>
                <a:gd name="T24" fmla="*/ 31 w 132"/>
                <a:gd name="T25" fmla="*/ 32 h 113"/>
                <a:gd name="T26" fmla="*/ 34 w 132"/>
                <a:gd name="T27" fmla="*/ 38 h 113"/>
                <a:gd name="T28" fmla="*/ 20 w 132"/>
                <a:gd name="T29" fmla="*/ 39 h 113"/>
                <a:gd name="T30" fmla="*/ 38 w 132"/>
                <a:gd name="T31" fmla="*/ 48 h 113"/>
                <a:gd name="T32" fmla="*/ 41 w 132"/>
                <a:gd name="T33" fmla="*/ 54 h 113"/>
                <a:gd name="T34" fmla="*/ 30 w 132"/>
                <a:gd name="T35" fmla="*/ 54 h 113"/>
                <a:gd name="T36" fmla="*/ 45 w 132"/>
                <a:gd name="T37" fmla="*/ 63 h 113"/>
                <a:gd name="T38" fmla="*/ 47 w 132"/>
                <a:gd name="T39" fmla="*/ 69 h 113"/>
                <a:gd name="T40" fmla="*/ 39 w 132"/>
                <a:gd name="T41" fmla="*/ 69 h 113"/>
                <a:gd name="T42" fmla="*/ 51 w 132"/>
                <a:gd name="T43" fmla="*/ 78 h 113"/>
                <a:gd name="T44" fmla="*/ 51 w 132"/>
                <a:gd name="T45" fmla="*/ 89 h 113"/>
                <a:gd name="T46" fmla="*/ 66 w 132"/>
                <a:gd name="T47" fmla="*/ 113 h 113"/>
                <a:gd name="T48" fmla="*/ 81 w 132"/>
                <a:gd name="T49" fmla="*/ 89 h 113"/>
                <a:gd name="T50" fmla="*/ 81 w 132"/>
                <a:gd name="T51" fmla="*/ 78 h 113"/>
                <a:gd name="T52" fmla="*/ 92 w 132"/>
                <a:gd name="T53" fmla="*/ 69 h 113"/>
                <a:gd name="T54" fmla="*/ 85 w 132"/>
                <a:gd name="T55" fmla="*/ 69 h 113"/>
                <a:gd name="T56" fmla="*/ 87 w 132"/>
                <a:gd name="T57" fmla="*/ 63 h 113"/>
                <a:gd name="T58" fmla="*/ 102 w 132"/>
                <a:gd name="T59" fmla="*/ 54 h 113"/>
                <a:gd name="T60" fmla="*/ 91 w 132"/>
                <a:gd name="T61" fmla="*/ 54 h 113"/>
                <a:gd name="T62" fmla="*/ 93 w 132"/>
                <a:gd name="T63" fmla="*/ 48 h 113"/>
                <a:gd name="T64" fmla="*/ 111 w 132"/>
                <a:gd name="T65" fmla="*/ 39 h 113"/>
                <a:gd name="T66" fmla="*/ 97 w 132"/>
                <a:gd name="T67" fmla="*/ 38 h 113"/>
                <a:gd name="T68" fmla="*/ 100 w 132"/>
                <a:gd name="T69" fmla="*/ 32 h 113"/>
                <a:gd name="T70" fmla="*/ 123 w 132"/>
                <a:gd name="T71" fmla="*/ 22 h 113"/>
                <a:gd name="T72" fmla="*/ 105 w 132"/>
                <a:gd name="T73" fmla="*/ 22 h 113"/>
                <a:gd name="T74" fmla="*/ 107 w 132"/>
                <a:gd name="T75" fmla="*/ 16 h 113"/>
                <a:gd name="T76" fmla="*/ 132 w 132"/>
                <a:gd name="T77" fmla="*/ 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2" h="113">
                  <a:moveTo>
                    <a:pt x="132" y="6"/>
                  </a:moveTo>
                  <a:cubicBezTo>
                    <a:pt x="98" y="6"/>
                    <a:pt x="98" y="6"/>
                    <a:pt x="98" y="6"/>
                  </a:cubicBezTo>
                  <a:cubicBezTo>
                    <a:pt x="88" y="6"/>
                    <a:pt x="83" y="16"/>
                    <a:pt x="79" y="25"/>
                  </a:cubicBezTo>
                  <a:cubicBezTo>
                    <a:pt x="73" y="12"/>
                    <a:pt x="73" y="12"/>
                    <a:pt x="73" y="12"/>
                  </a:cubicBezTo>
                  <a:cubicBezTo>
                    <a:pt x="83" y="8"/>
                    <a:pt x="83" y="8"/>
                    <a:pt x="83" y="8"/>
                  </a:cubicBezTo>
                  <a:cubicBezTo>
                    <a:pt x="77" y="3"/>
                    <a:pt x="59" y="0"/>
                    <a:pt x="57" y="8"/>
                  </a:cubicBezTo>
                  <a:cubicBezTo>
                    <a:pt x="53" y="25"/>
                    <a:pt x="53" y="25"/>
                    <a:pt x="53" y="25"/>
                  </a:cubicBezTo>
                  <a:cubicBezTo>
                    <a:pt x="50" y="17"/>
                    <a:pt x="45" y="6"/>
                    <a:pt x="34" y="6"/>
                  </a:cubicBezTo>
                  <a:cubicBezTo>
                    <a:pt x="0" y="6"/>
                    <a:pt x="0" y="6"/>
                    <a:pt x="0" y="6"/>
                  </a:cubicBezTo>
                  <a:cubicBezTo>
                    <a:pt x="4" y="14"/>
                    <a:pt x="8" y="17"/>
                    <a:pt x="24" y="16"/>
                  </a:cubicBezTo>
                  <a:cubicBezTo>
                    <a:pt x="27" y="22"/>
                    <a:pt x="27" y="22"/>
                    <a:pt x="27" y="22"/>
                  </a:cubicBezTo>
                  <a:cubicBezTo>
                    <a:pt x="9" y="22"/>
                    <a:pt x="9" y="22"/>
                    <a:pt x="9" y="22"/>
                  </a:cubicBezTo>
                  <a:cubicBezTo>
                    <a:pt x="14" y="32"/>
                    <a:pt x="17" y="32"/>
                    <a:pt x="31" y="32"/>
                  </a:cubicBezTo>
                  <a:cubicBezTo>
                    <a:pt x="34" y="38"/>
                    <a:pt x="34" y="38"/>
                    <a:pt x="34" y="38"/>
                  </a:cubicBezTo>
                  <a:cubicBezTo>
                    <a:pt x="20" y="39"/>
                    <a:pt x="20" y="39"/>
                    <a:pt x="20" y="39"/>
                  </a:cubicBezTo>
                  <a:cubicBezTo>
                    <a:pt x="23" y="45"/>
                    <a:pt x="27" y="48"/>
                    <a:pt x="38" y="48"/>
                  </a:cubicBezTo>
                  <a:cubicBezTo>
                    <a:pt x="41" y="54"/>
                    <a:pt x="41" y="54"/>
                    <a:pt x="41" y="54"/>
                  </a:cubicBezTo>
                  <a:cubicBezTo>
                    <a:pt x="30" y="54"/>
                    <a:pt x="30" y="54"/>
                    <a:pt x="30" y="54"/>
                  </a:cubicBezTo>
                  <a:cubicBezTo>
                    <a:pt x="34" y="61"/>
                    <a:pt x="36" y="64"/>
                    <a:pt x="45" y="63"/>
                  </a:cubicBezTo>
                  <a:cubicBezTo>
                    <a:pt x="47" y="69"/>
                    <a:pt x="47" y="69"/>
                    <a:pt x="47" y="69"/>
                  </a:cubicBezTo>
                  <a:cubicBezTo>
                    <a:pt x="39" y="69"/>
                    <a:pt x="39" y="69"/>
                    <a:pt x="39" y="69"/>
                  </a:cubicBezTo>
                  <a:cubicBezTo>
                    <a:pt x="43" y="77"/>
                    <a:pt x="46" y="77"/>
                    <a:pt x="51" y="78"/>
                  </a:cubicBezTo>
                  <a:cubicBezTo>
                    <a:pt x="55" y="78"/>
                    <a:pt x="56" y="86"/>
                    <a:pt x="51" y="89"/>
                  </a:cubicBezTo>
                  <a:cubicBezTo>
                    <a:pt x="66" y="113"/>
                    <a:pt x="66" y="113"/>
                    <a:pt x="66" y="113"/>
                  </a:cubicBezTo>
                  <a:cubicBezTo>
                    <a:pt x="81" y="89"/>
                    <a:pt x="81" y="89"/>
                    <a:pt x="81" y="89"/>
                  </a:cubicBezTo>
                  <a:cubicBezTo>
                    <a:pt x="76" y="86"/>
                    <a:pt x="76" y="78"/>
                    <a:pt x="81" y="78"/>
                  </a:cubicBezTo>
                  <a:cubicBezTo>
                    <a:pt x="85" y="77"/>
                    <a:pt x="89" y="77"/>
                    <a:pt x="92" y="69"/>
                  </a:cubicBezTo>
                  <a:cubicBezTo>
                    <a:pt x="85" y="69"/>
                    <a:pt x="85" y="69"/>
                    <a:pt x="85" y="69"/>
                  </a:cubicBezTo>
                  <a:cubicBezTo>
                    <a:pt x="87" y="63"/>
                    <a:pt x="87" y="63"/>
                    <a:pt x="87" y="63"/>
                  </a:cubicBezTo>
                  <a:cubicBezTo>
                    <a:pt x="96" y="64"/>
                    <a:pt x="98" y="60"/>
                    <a:pt x="102" y="54"/>
                  </a:cubicBezTo>
                  <a:cubicBezTo>
                    <a:pt x="91" y="54"/>
                    <a:pt x="91" y="54"/>
                    <a:pt x="91" y="54"/>
                  </a:cubicBezTo>
                  <a:cubicBezTo>
                    <a:pt x="93" y="48"/>
                    <a:pt x="93" y="48"/>
                    <a:pt x="93" y="48"/>
                  </a:cubicBezTo>
                  <a:cubicBezTo>
                    <a:pt x="105" y="48"/>
                    <a:pt x="108" y="45"/>
                    <a:pt x="111" y="39"/>
                  </a:cubicBezTo>
                  <a:cubicBezTo>
                    <a:pt x="97" y="38"/>
                    <a:pt x="97" y="38"/>
                    <a:pt x="97" y="38"/>
                  </a:cubicBezTo>
                  <a:cubicBezTo>
                    <a:pt x="100" y="32"/>
                    <a:pt x="100" y="32"/>
                    <a:pt x="100" y="32"/>
                  </a:cubicBezTo>
                  <a:cubicBezTo>
                    <a:pt x="115" y="32"/>
                    <a:pt x="118" y="32"/>
                    <a:pt x="123" y="22"/>
                  </a:cubicBezTo>
                  <a:cubicBezTo>
                    <a:pt x="105" y="22"/>
                    <a:pt x="105" y="22"/>
                    <a:pt x="105" y="22"/>
                  </a:cubicBezTo>
                  <a:cubicBezTo>
                    <a:pt x="107" y="16"/>
                    <a:pt x="107" y="16"/>
                    <a:pt x="107" y="16"/>
                  </a:cubicBezTo>
                  <a:cubicBezTo>
                    <a:pt x="123" y="17"/>
                    <a:pt x="128" y="14"/>
                    <a:pt x="132" y="6"/>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39" name="Freeform 137">
              <a:extLst>
                <a:ext uri="{FF2B5EF4-FFF2-40B4-BE49-F238E27FC236}">
                  <a16:creationId xmlns:a16="http://schemas.microsoft.com/office/drawing/2014/main" id="{AF9575AE-AA40-4DF3-8FCC-2E1907B1E601}"/>
                </a:ext>
              </a:extLst>
            </p:cNvPr>
            <p:cNvSpPr>
              <a:spLocks noEditPoints="1"/>
            </p:cNvSpPr>
            <p:nvPr userDrawn="1"/>
          </p:nvSpPr>
          <p:spPr bwMode="auto">
            <a:xfrm>
              <a:off x="1214" y="757"/>
              <a:ext cx="64" cy="43"/>
            </a:xfrm>
            <a:custGeom>
              <a:avLst/>
              <a:gdLst>
                <a:gd name="T0" fmla="*/ 51 w 52"/>
                <a:gd name="T1" fmla="*/ 10 h 34"/>
                <a:gd name="T2" fmla="*/ 48 w 52"/>
                <a:gd name="T3" fmla="*/ 10 h 34"/>
                <a:gd name="T4" fmla="*/ 47 w 52"/>
                <a:gd name="T5" fmla="*/ 8 h 34"/>
                <a:gd name="T6" fmla="*/ 50 w 52"/>
                <a:gd name="T7" fmla="*/ 7 h 34"/>
                <a:gd name="T8" fmla="*/ 52 w 52"/>
                <a:gd name="T9" fmla="*/ 2 h 34"/>
                <a:gd name="T10" fmla="*/ 44 w 52"/>
                <a:gd name="T11" fmla="*/ 3 h 34"/>
                <a:gd name="T12" fmla="*/ 36 w 52"/>
                <a:gd name="T13" fmla="*/ 1 h 34"/>
                <a:gd name="T14" fmla="*/ 36 w 52"/>
                <a:gd name="T15" fmla="*/ 3 h 34"/>
                <a:gd name="T16" fmla="*/ 35 w 52"/>
                <a:gd name="T17" fmla="*/ 4 h 34"/>
                <a:gd name="T18" fmla="*/ 35 w 52"/>
                <a:gd name="T19" fmla="*/ 5 h 34"/>
                <a:gd name="T20" fmla="*/ 34 w 52"/>
                <a:gd name="T21" fmla="*/ 7 h 34"/>
                <a:gd name="T22" fmla="*/ 34 w 52"/>
                <a:gd name="T23" fmla="*/ 6 h 34"/>
                <a:gd name="T24" fmla="*/ 30 w 52"/>
                <a:gd name="T25" fmla="*/ 5 h 34"/>
                <a:gd name="T26" fmla="*/ 28 w 52"/>
                <a:gd name="T27" fmla="*/ 9 h 34"/>
                <a:gd name="T28" fmla="*/ 28 w 52"/>
                <a:gd name="T29" fmla="*/ 10 h 34"/>
                <a:gd name="T30" fmla="*/ 31 w 52"/>
                <a:gd name="T31" fmla="*/ 11 h 34"/>
                <a:gd name="T32" fmla="*/ 33 w 52"/>
                <a:gd name="T33" fmla="*/ 12 h 34"/>
                <a:gd name="T34" fmla="*/ 30 w 52"/>
                <a:gd name="T35" fmla="*/ 14 h 34"/>
                <a:gd name="T36" fmla="*/ 26 w 52"/>
                <a:gd name="T37" fmla="*/ 14 h 34"/>
                <a:gd name="T38" fmla="*/ 13 w 52"/>
                <a:gd name="T39" fmla="*/ 11 h 34"/>
                <a:gd name="T40" fmla="*/ 13 w 52"/>
                <a:gd name="T41" fmla="*/ 12 h 34"/>
                <a:gd name="T42" fmla="*/ 20 w 52"/>
                <a:gd name="T43" fmla="*/ 16 h 34"/>
                <a:gd name="T44" fmla="*/ 32 w 52"/>
                <a:gd name="T45" fmla="*/ 20 h 34"/>
                <a:gd name="T46" fmla="*/ 31 w 52"/>
                <a:gd name="T47" fmla="*/ 20 h 34"/>
                <a:gd name="T48" fmla="*/ 24 w 52"/>
                <a:gd name="T49" fmla="*/ 20 h 34"/>
                <a:gd name="T50" fmla="*/ 19 w 52"/>
                <a:gd name="T51" fmla="*/ 19 h 34"/>
                <a:gd name="T52" fmla="*/ 18 w 52"/>
                <a:gd name="T53" fmla="*/ 19 h 34"/>
                <a:gd name="T54" fmla="*/ 4 w 52"/>
                <a:gd name="T55" fmla="*/ 14 h 34"/>
                <a:gd name="T56" fmla="*/ 2 w 52"/>
                <a:gd name="T57" fmla="*/ 12 h 34"/>
                <a:gd name="T58" fmla="*/ 3 w 52"/>
                <a:gd name="T59" fmla="*/ 20 h 34"/>
                <a:gd name="T60" fmla="*/ 13 w 52"/>
                <a:gd name="T61" fmla="*/ 23 h 34"/>
                <a:gd name="T62" fmla="*/ 13 w 52"/>
                <a:gd name="T63" fmla="*/ 24 h 34"/>
                <a:gd name="T64" fmla="*/ 9 w 52"/>
                <a:gd name="T65" fmla="*/ 27 h 34"/>
                <a:gd name="T66" fmla="*/ 4 w 52"/>
                <a:gd name="T67" fmla="*/ 26 h 34"/>
                <a:gd name="T68" fmla="*/ 9 w 52"/>
                <a:gd name="T69" fmla="*/ 33 h 34"/>
                <a:gd name="T70" fmla="*/ 10 w 52"/>
                <a:gd name="T71" fmla="*/ 34 h 34"/>
                <a:gd name="T72" fmla="*/ 18 w 52"/>
                <a:gd name="T73" fmla="*/ 28 h 34"/>
                <a:gd name="T74" fmla="*/ 23 w 52"/>
                <a:gd name="T75" fmla="*/ 28 h 34"/>
                <a:gd name="T76" fmla="*/ 22 w 52"/>
                <a:gd name="T77" fmla="*/ 23 h 34"/>
                <a:gd name="T78" fmla="*/ 23 w 52"/>
                <a:gd name="T79" fmla="*/ 21 h 34"/>
                <a:gd name="T80" fmla="*/ 30 w 52"/>
                <a:gd name="T81" fmla="*/ 22 h 34"/>
                <a:gd name="T82" fmla="*/ 36 w 52"/>
                <a:gd name="T83" fmla="*/ 25 h 34"/>
                <a:gd name="T84" fmla="*/ 39 w 52"/>
                <a:gd name="T85" fmla="*/ 21 h 34"/>
                <a:gd name="T86" fmla="*/ 39 w 52"/>
                <a:gd name="T87" fmla="*/ 20 h 34"/>
                <a:gd name="T88" fmla="*/ 51 w 52"/>
                <a:gd name="T89" fmla="*/ 14 h 34"/>
                <a:gd name="T90" fmla="*/ 38 w 52"/>
                <a:gd name="T91" fmla="*/ 14 h 34"/>
                <a:gd name="T92" fmla="*/ 38 w 52"/>
                <a:gd name="T93" fmla="*/ 12 h 34"/>
                <a:gd name="T94" fmla="*/ 36 w 52"/>
                <a:gd name="T95" fmla="*/ 11 h 34"/>
                <a:gd name="T96" fmla="*/ 36 w 52"/>
                <a:gd name="T97" fmla="*/ 10 h 34"/>
                <a:gd name="T98" fmla="*/ 40 w 52"/>
                <a:gd name="T99" fmla="*/ 9 h 34"/>
                <a:gd name="T100" fmla="*/ 43 w 52"/>
                <a:gd name="T101" fmla="*/ 14 h 34"/>
                <a:gd name="T102" fmla="*/ 38 w 52"/>
                <a:gd name="T103" fmla="*/ 1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 h="34">
                  <a:moveTo>
                    <a:pt x="51" y="13"/>
                  </a:moveTo>
                  <a:cubicBezTo>
                    <a:pt x="51" y="12"/>
                    <a:pt x="51" y="12"/>
                    <a:pt x="51" y="12"/>
                  </a:cubicBezTo>
                  <a:cubicBezTo>
                    <a:pt x="51" y="11"/>
                    <a:pt x="51" y="11"/>
                    <a:pt x="51" y="10"/>
                  </a:cubicBezTo>
                  <a:cubicBezTo>
                    <a:pt x="51" y="10"/>
                    <a:pt x="50" y="10"/>
                    <a:pt x="50" y="10"/>
                  </a:cubicBezTo>
                  <a:cubicBezTo>
                    <a:pt x="49" y="10"/>
                    <a:pt x="49" y="10"/>
                    <a:pt x="49" y="10"/>
                  </a:cubicBezTo>
                  <a:cubicBezTo>
                    <a:pt x="48" y="10"/>
                    <a:pt x="48" y="10"/>
                    <a:pt x="48" y="10"/>
                  </a:cubicBezTo>
                  <a:cubicBezTo>
                    <a:pt x="48" y="9"/>
                    <a:pt x="48" y="9"/>
                    <a:pt x="48" y="9"/>
                  </a:cubicBezTo>
                  <a:cubicBezTo>
                    <a:pt x="48" y="9"/>
                    <a:pt x="48" y="9"/>
                    <a:pt x="48" y="9"/>
                  </a:cubicBezTo>
                  <a:cubicBezTo>
                    <a:pt x="47" y="8"/>
                    <a:pt x="47" y="8"/>
                    <a:pt x="47" y="8"/>
                  </a:cubicBezTo>
                  <a:cubicBezTo>
                    <a:pt x="47" y="8"/>
                    <a:pt x="47" y="8"/>
                    <a:pt x="47" y="8"/>
                  </a:cubicBezTo>
                  <a:cubicBezTo>
                    <a:pt x="48" y="8"/>
                    <a:pt x="48" y="8"/>
                    <a:pt x="48" y="8"/>
                  </a:cubicBezTo>
                  <a:cubicBezTo>
                    <a:pt x="48" y="7"/>
                    <a:pt x="49" y="7"/>
                    <a:pt x="50" y="7"/>
                  </a:cubicBezTo>
                  <a:cubicBezTo>
                    <a:pt x="50" y="7"/>
                    <a:pt x="50" y="7"/>
                    <a:pt x="50" y="7"/>
                  </a:cubicBezTo>
                  <a:cubicBezTo>
                    <a:pt x="50" y="7"/>
                    <a:pt x="50" y="7"/>
                    <a:pt x="50" y="7"/>
                  </a:cubicBezTo>
                  <a:cubicBezTo>
                    <a:pt x="51" y="6"/>
                    <a:pt x="52" y="4"/>
                    <a:pt x="52" y="2"/>
                  </a:cubicBezTo>
                  <a:cubicBezTo>
                    <a:pt x="52" y="2"/>
                    <a:pt x="51" y="2"/>
                    <a:pt x="50" y="2"/>
                  </a:cubicBezTo>
                  <a:cubicBezTo>
                    <a:pt x="49" y="2"/>
                    <a:pt x="48" y="2"/>
                    <a:pt x="46" y="3"/>
                  </a:cubicBezTo>
                  <a:cubicBezTo>
                    <a:pt x="46" y="3"/>
                    <a:pt x="45" y="3"/>
                    <a:pt x="44" y="3"/>
                  </a:cubicBezTo>
                  <a:cubicBezTo>
                    <a:pt x="43" y="3"/>
                    <a:pt x="43" y="3"/>
                    <a:pt x="43" y="3"/>
                  </a:cubicBezTo>
                  <a:cubicBezTo>
                    <a:pt x="41" y="2"/>
                    <a:pt x="41" y="2"/>
                    <a:pt x="36" y="0"/>
                  </a:cubicBezTo>
                  <a:cubicBezTo>
                    <a:pt x="36" y="0"/>
                    <a:pt x="36" y="0"/>
                    <a:pt x="36" y="1"/>
                  </a:cubicBezTo>
                  <a:cubicBezTo>
                    <a:pt x="35" y="1"/>
                    <a:pt x="35" y="2"/>
                    <a:pt x="36" y="3"/>
                  </a:cubicBezTo>
                  <a:cubicBezTo>
                    <a:pt x="36" y="3"/>
                    <a:pt x="36" y="3"/>
                    <a:pt x="36" y="3"/>
                  </a:cubicBezTo>
                  <a:cubicBezTo>
                    <a:pt x="36" y="3"/>
                    <a:pt x="36" y="3"/>
                    <a:pt x="36" y="3"/>
                  </a:cubicBezTo>
                  <a:cubicBezTo>
                    <a:pt x="36" y="3"/>
                    <a:pt x="36" y="3"/>
                    <a:pt x="36" y="3"/>
                  </a:cubicBezTo>
                  <a:cubicBezTo>
                    <a:pt x="35" y="4"/>
                    <a:pt x="35" y="4"/>
                    <a:pt x="35" y="4"/>
                  </a:cubicBezTo>
                  <a:cubicBezTo>
                    <a:pt x="35" y="4"/>
                    <a:pt x="35" y="4"/>
                    <a:pt x="35" y="4"/>
                  </a:cubicBezTo>
                  <a:cubicBezTo>
                    <a:pt x="35" y="4"/>
                    <a:pt x="35" y="4"/>
                    <a:pt x="35" y="4"/>
                  </a:cubicBezTo>
                  <a:cubicBezTo>
                    <a:pt x="35" y="4"/>
                    <a:pt x="35" y="4"/>
                    <a:pt x="35" y="4"/>
                  </a:cubicBezTo>
                  <a:cubicBezTo>
                    <a:pt x="35" y="4"/>
                    <a:pt x="35" y="5"/>
                    <a:pt x="35" y="5"/>
                  </a:cubicBezTo>
                  <a:cubicBezTo>
                    <a:pt x="35" y="5"/>
                    <a:pt x="35" y="5"/>
                    <a:pt x="35" y="5"/>
                  </a:cubicBezTo>
                  <a:cubicBezTo>
                    <a:pt x="35" y="6"/>
                    <a:pt x="35" y="6"/>
                    <a:pt x="35" y="6"/>
                  </a:cubicBezTo>
                  <a:cubicBezTo>
                    <a:pt x="34" y="7"/>
                    <a:pt x="34" y="7"/>
                    <a:pt x="34" y="7"/>
                  </a:cubicBezTo>
                  <a:cubicBezTo>
                    <a:pt x="34" y="7"/>
                    <a:pt x="34" y="7"/>
                    <a:pt x="34" y="7"/>
                  </a:cubicBezTo>
                  <a:cubicBezTo>
                    <a:pt x="34" y="7"/>
                    <a:pt x="34" y="7"/>
                    <a:pt x="34" y="7"/>
                  </a:cubicBezTo>
                  <a:cubicBezTo>
                    <a:pt x="34" y="6"/>
                    <a:pt x="34" y="6"/>
                    <a:pt x="34" y="6"/>
                  </a:cubicBezTo>
                  <a:cubicBezTo>
                    <a:pt x="33" y="6"/>
                    <a:pt x="33" y="6"/>
                    <a:pt x="32" y="5"/>
                  </a:cubicBezTo>
                  <a:cubicBezTo>
                    <a:pt x="32" y="5"/>
                    <a:pt x="32" y="5"/>
                    <a:pt x="32" y="5"/>
                  </a:cubicBezTo>
                  <a:cubicBezTo>
                    <a:pt x="31" y="5"/>
                    <a:pt x="31" y="5"/>
                    <a:pt x="30" y="5"/>
                  </a:cubicBezTo>
                  <a:cubicBezTo>
                    <a:pt x="30" y="6"/>
                    <a:pt x="30" y="6"/>
                    <a:pt x="30" y="6"/>
                  </a:cubicBezTo>
                  <a:cubicBezTo>
                    <a:pt x="30" y="7"/>
                    <a:pt x="30" y="7"/>
                    <a:pt x="30" y="7"/>
                  </a:cubicBezTo>
                  <a:cubicBezTo>
                    <a:pt x="30" y="7"/>
                    <a:pt x="30" y="8"/>
                    <a:pt x="28" y="9"/>
                  </a:cubicBezTo>
                  <a:cubicBezTo>
                    <a:pt x="27" y="8"/>
                    <a:pt x="27" y="8"/>
                    <a:pt x="27" y="8"/>
                  </a:cubicBezTo>
                  <a:cubicBezTo>
                    <a:pt x="26" y="8"/>
                    <a:pt x="26" y="9"/>
                    <a:pt x="26" y="9"/>
                  </a:cubicBezTo>
                  <a:cubicBezTo>
                    <a:pt x="26" y="10"/>
                    <a:pt x="26" y="10"/>
                    <a:pt x="28" y="10"/>
                  </a:cubicBezTo>
                  <a:cubicBezTo>
                    <a:pt x="29" y="10"/>
                    <a:pt x="29" y="11"/>
                    <a:pt x="30" y="11"/>
                  </a:cubicBezTo>
                  <a:cubicBezTo>
                    <a:pt x="30" y="11"/>
                    <a:pt x="30" y="11"/>
                    <a:pt x="30" y="11"/>
                  </a:cubicBezTo>
                  <a:cubicBezTo>
                    <a:pt x="31" y="11"/>
                    <a:pt x="31" y="11"/>
                    <a:pt x="31" y="11"/>
                  </a:cubicBezTo>
                  <a:cubicBezTo>
                    <a:pt x="32" y="11"/>
                    <a:pt x="32" y="11"/>
                    <a:pt x="32" y="11"/>
                  </a:cubicBezTo>
                  <a:cubicBezTo>
                    <a:pt x="33" y="11"/>
                    <a:pt x="33" y="11"/>
                    <a:pt x="33" y="11"/>
                  </a:cubicBezTo>
                  <a:cubicBezTo>
                    <a:pt x="33" y="12"/>
                    <a:pt x="33" y="12"/>
                    <a:pt x="33" y="12"/>
                  </a:cubicBezTo>
                  <a:cubicBezTo>
                    <a:pt x="31" y="12"/>
                    <a:pt x="31" y="12"/>
                    <a:pt x="31" y="12"/>
                  </a:cubicBezTo>
                  <a:cubicBezTo>
                    <a:pt x="31" y="12"/>
                    <a:pt x="31" y="13"/>
                    <a:pt x="30" y="13"/>
                  </a:cubicBezTo>
                  <a:cubicBezTo>
                    <a:pt x="30" y="14"/>
                    <a:pt x="30" y="14"/>
                    <a:pt x="30" y="14"/>
                  </a:cubicBezTo>
                  <a:cubicBezTo>
                    <a:pt x="29" y="15"/>
                    <a:pt x="29" y="15"/>
                    <a:pt x="29" y="15"/>
                  </a:cubicBezTo>
                  <a:cubicBezTo>
                    <a:pt x="29" y="14"/>
                    <a:pt x="29" y="14"/>
                    <a:pt x="29" y="14"/>
                  </a:cubicBezTo>
                  <a:cubicBezTo>
                    <a:pt x="28" y="14"/>
                    <a:pt x="27" y="14"/>
                    <a:pt x="26" y="14"/>
                  </a:cubicBezTo>
                  <a:cubicBezTo>
                    <a:pt x="24" y="13"/>
                    <a:pt x="24" y="13"/>
                    <a:pt x="24" y="13"/>
                  </a:cubicBezTo>
                  <a:cubicBezTo>
                    <a:pt x="22" y="13"/>
                    <a:pt x="18" y="12"/>
                    <a:pt x="15" y="11"/>
                  </a:cubicBezTo>
                  <a:cubicBezTo>
                    <a:pt x="15" y="11"/>
                    <a:pt x="14" y="11"/>
                    <a:pt x="13" y="11"/>
                  </a:cubicBezTo>
                  <a:cubicBezTo>
                    <a:pt x="12" y="10"/>
                    <a:pt x="12" y="10"/>
                    <a:pt x="12" y="10"/>
                  </a:cubicBezTo>
                  <a:cubicBezTo>
                    <a:pt x="11" y="11"/>
                    <a:pt x="11" y="11"/>
                    <a:pt x="11" y="11"/>
                  </a:cubicBezTo>
                  <a:cubicBezTo>
                    <a:pt x="12" y="11"/>
                    <a:pt x="12" y="12"/>
                    <a:pt x="13" y="12"/>
                  </a:cubicBezTo>
                  <a:cubicBezTo>
                    <a:pt x="13" y="12"/>
                    <a:pt x="13" y="12"/>
                    <a:pt x="13" y="12"/>
                  </a:cubicBezTo>
                  <a:cubicBezTo>
                    <a:pt x="14" y="13"/>
                    <a:pt x="14" y="15"/>
                    <a:pt x="16" y="16"/>
                  </a:cubicBezTo>
                  <a:cubicBezTo>
                    <a:pt x="17" y="16"/>
                    <a:pt x="18" y="16"/>
                    <a:pt x="20" y="16"/>
                  </a:cubicBezTo>
                  <a:cubicBezTo>
                    <a:pt x="23" y="16"/>
                    <a:pt x="28" y="17"/>
                    <a:pt x="31" y="19"/>
                  </a:cubicBezTo>
                  <a:cubicBezTo>
                    <a:pt x="32" y="20"/>
                    <a:pt x="32" y="20"/>
                    <a:pt x="32" y="20"/>
                  </a:cubicBezTo>
                  <a:cubicBezTo>
                    <a:pt x="32" y="20"/>
                    <a:pt x="32" y="20"/>
                    <a:pt x="32" y="20"/>
                  </a:cubicBezTo>
                  <a:cubicBezTo>
                    <a:pt x="32" y="20"/>
                    <a:pt x="32" y="20"/>
                    <a:pt x="32" y="20"/>
                  </a:cubicBezTo>
                  <a:cubicBezTo>
                    <a:pt x="32" y="20"/>
                    <a:pt x="32" y="20"/>
                    <a:pt x="32" y="20"/>
                  </a:cubicBezTo>
                  <a:cubicBezTo>
                    <a:pt x="31" y="20"/>
                    <a:pt x="31" y="20"/>
                    <a:pt x="31" y="20"/>
                  </a:cubicBezTo>
                  <a:cubicBezTo>
                    <a:pt x="30" y="20"/>
                    <a:pt x="30" y="21"/>
                    <a:pt x="30" y="21"/>
                  </a:cubicBezTo>
                  <a:cubicBezTo>
                    <a:pt x="29" y="21"/>
                    <a:pt x="29" y="21"/>
                    <a:pt x="29" y="21"/>
                  </a:cubicBezTo>
                  <a:cubicBezTo>
                    <a:pt x="26" y="20"/>
                    <a:pt x="26" y="20"/>
                    <a:pt x="24" y="20"/>
                  </a:cubicBezTo>
                  <a:cubicBezTo>
                    <a:pt x="23" y="19"/>
                    <a:pt x="22" y="18"/>
                    <a:pt x="21" y="18"/>
                  </a:cubicBezTo>
                  <a:cubicBezTo>
                    <a:pt x="21" y="18"/>
                    <a:pt x="20" y="19"/>
                    <a:pt x="19" y="19"/>
                  </a:cubicBezTo>
                  <a:cubicBezTo>
                    <a:pt x="19" y="19"/>
                    <a:pt x="19" y="19"/>
                    <a:pt x="19" y="19"/>
                  </a:cubicBezTo>
                  <a:cubicBezTo>
                    <a:pt x="19" y="19"/>
                    <a:pt x="19" y="19"/>
                    <a:pt x="19" y="19"/>
                  </a:cubicBezTo>
                  <a:cubicBezTo>
                    <a:pt x="19" y="20"/>
                    <a:pt x="19" y="20"/>
                    <a:pt x="19" y="20"/>
                  </a:cubicBezTo>
                  <a:cubicBezTo>
                    <a:pt x="18" y="19"/>
                    <a:pt x="18" y="19"/>
                    <a:pt x="18" y="19"/>
                  </a:cubicBezTo>
                  <a:cubicBezTo>
                    <a:pt x="18" y="19"/>
                    <a:pt x="18" y="19"/>
                    <a:pt x="17" y="19"/>
                  </a:cubicBezTo>
                  <a:cubicBezTo>
                    <a:pt x="16" y="19"/>
                    <a:pt x="15" y="18"/>
                    <a:pt x="14" y="18"/>
                  </a:cubicBezTo>
                  <a:cubicBezTo>
                    <a:pt x="10" y="17"/>
                    <a:pt x="7" y="16"/>
                    <a:pt x="4" y="14"/>
                  </a:cubicBezTo>
                  <a:cubicBezTo>
                    <a:pt x="3" y="13"/>
                    <a:pt x="3" y="13"/>
                    <a:pt x="2" y="12"/>
                  </a:cubicBezTo>
                  <a:cubicBezTo>
                    <a:pt x="2" y="12"/>
                    <a:pt x="2" y="12"/>
                    <a:pt x="2" y="12"/>
                  </a:cubicBezTo>
                  <a:cubicBezTo>
                    <a:pt x="2" y="12"/>
                    <a:pt x="2" y="12"/>
                    <a:pt x="2" y="12"/>
                  </a:cubicBezTo>
                  <a:cubicBezTo>
                    <a:pt x="2" y="11"/>
                    <a:pt x="2" y="11"/>
                    <a:pt x="2" y="11"/>
                  </a:cubicBezTo>
                  <a:cubicBezTo>
                    <a:pt x="1" y="11"/>
                    <a:pt x="1" y="12"/>
                    <a:pt x="0" y="12"/>
                  </a:cubicBezTo>
                  <a:cubicBezTo>
                    <a:pt x="0" y="14"/>
                    <a:pt x="2" y="19"/>
                    <a:pt x="3" y="20"/>
                  </a:cubicBezTo>
                  <a:cubicBezTo>
                    <a:pt x="4" y="20"/>
                    <a:pt x="5" y="21"/>
                    <a:pt x="6" y="21"/>
                  </a:cubicBezTo>
                  <a:cubicBezTo>
                    <a:pt x="8" y="21"/>
                    <a:pt x="11" y="22"/>
                    <a:pt x="12" y="23"/>
                  </a:cubicBezTo>
                  <a:cubicBezTo>
                    <a:pt x="13" y="23"/>
                    <a:pt x="13" y="23"/>
                    <a:pt x="13" y="23"/>
                  </a:cubicBezTo>
                  <a:cubicBezTo>
                    <a:pt x="13" y="23"/>
                    <a:pt x="13" y="23"/>
                    <a:pt x="13" y="23"/>
                  </a:cubicBezTo>
                  <a:cubicBezTo>
                    <a:pt x="13" y="23"/>
                    <a:pt x="13" y="23"/>
                    <a:pt x="13" y="23"/>
                  </a:cubicBezTo>
                  <a:cubicBezTo>
                    <a:pt x="13" y="24"/>
                    <a:pt x="13" y="24"/>
                    <a:pt x="13" y="24"/>
                  </a:cubicBezTo>
                  <a:cubicBezTo>
                    <a:pt x="12" y="25"/>
                    <a:pt x="11" y="26"/>
                    <a:pt x="10" y="26"/>
                  </a:cubicBezTo>
                  <a:cubicBezTo>
                    <a:pt x="10" y="27"/>
                    <a:pt x="10" y="27"/>
                    <a:pt x="10" y="27"/>
                  </a:cubicBezTo>
                  <a:cubicBezTo>
                    <a:pt x="10" y="27"/>
                    <a:pt x="9" y="27"/>
                    <a:pt x="9" y="27"/>
                  </a:cubicBezTo>
                  <a:cubicBezTo>
                    <a:pt x="9" y="27"/>
                    <a:pt x="9" y="27"/>
                    <a:pt x="9" y="27"/>
                  </a:cubicBezTo>
                  <a:cubicBezTo>
                    <a:pt x="9" y="28"/>
                    <a:pt x="8" y="28"/>
                    <a:pt x="8" y="28"/>
                  </a:cubicBezTo>
                  <a:cubicBezTo>
                    <a:pt x="7" y="28"/>
                    <a:pt x="5" y="27"/>
                    <a:pt x="4" y="26"/>
                  </a:cubicBezTo>
                  <a:cubicBezTo>
                    <a:pt x="4" y="26"/>
                    <a:pt x="3" y="26"/>
                    <a:pt x="3" y="26"/>
                  </a:cubicBezTo>
                  <a:cubicBezTo>
                    <a:pt x="3" y="26"/>
                    <a:pt x="3" y="26"/>
                    <a:pt x="3" y="26"/>
                  </a:cubicBezTo>
                  <a:cubicBezTo>
                    <a:pt x="4" y="29"/>
                    <a:pt x="6" y="31"/>
                    <a:pt x="9" y="33"/>
                  </a:cubicBezTo>
                  <a:cubicBezTo>
                    <a:pt x="9" y="34"/>
                    <a:pt x="9" y="34"/>
                    <a:pt x="9" y="34"/>
                  </a:cubicBezTo>
                  <a:cubicBezTo>
                    <a:pt x="10" y="34"/>
                    <a:pt x="10" y="34"/>
                    <a:pt x="10" y="34"/>
                  </a:cubicBezTo>
                  <a:cubicBezTo>
                    <a:pt x="10" y="34"/>
                    <a:pt x="10" y="34"/>
                    <a:pt x="10" y="34"/>
                  </a:cubicBezTo>
                  <a:cubicBezTo>
                    <a:pt x="12" y="34"/>
                    <a:pt x="15" y="31"/>
                    <a:pt x="16" y="29"/>
                  </a:cubicBezTo>
                  <a:cubicBezTo>
                    <a:pt x="16" y="29"/>
                    <a:pt x="17" y="28"/>
                    <a:pt x="17" y="28"/>
                  </a:cubicBezTo>
                  <a:cubicBezTo>
                    <a:pt x="18" y="28"/>
                    <a:pt x="18" y="28"/>
                    <a:pt x="18" y="28"/>
                  </a:cubicBezTo>
                  <a:cubicBezTo>
                    <a:pt x="19" y="27"/>
                    <a:pt x="19" y="27"/>
                    <a:pt x="19" y="27"/>
                  </a:cubicBezTo>
                  <a:cubicBezTo>
                    <a:pt x="19" y="27"/>
                    <a:pt x="19" y="27"/>
                    <a:pt x="19" y="27"/>
                  </a:cubicBezTo>
                  <a:cubicBezTo>
                    <a:pt x="21" y="27"/>
                    <a:pt x="22" y="27"/>
                    <a:pt x="23" y="28"/>
                  </a:cubicBezTo>
                  <a:cubicBezTo>
                    <a:pt x="24" y="28"/>
                    <a:pt x="25" y="26"/>
                    <a:pt x="25" y="25"/>
                  </a:cubicBezTo>
                  <a:cubicBezTo>
                    <a:pt x="25" y="25"/>
                    <a:pt x="25" y="25"/>
                    <a:pt x="25" y="25"/>
                  </a:cubicBezTo>
                  <a:cubicBezTo>
                    <a:pt x="24" y="24"/>
                    <a:pt x="23" y="23"/>
                    <a:pt x="22" y="23"/>
                  </a:cubicBezTo>
                  <a:cubicBezTo>
                    <a:pt x="22" y="23"/>
                    <a:pt x="22" y="23"/>
                    <a:pt x="22" y="23"/>
                  </a:cubicBezTo>
                  <a:cubicBezTo>
                    <a:pt x="22" y="22"/>
                    <a:pt x="22" y="22"/>
                    <a:pt x="22" y="22"/>
                  </a:cubicBezTo>
                  <a:cubicBezTo>
                    <a:pt x="23" y="21"/>
                    <a:pt x="23" y="21"/>
                    <a:pt x="23" y="21"/>
                  </a:cubicBezTo>
                  <a:cubicBezTo>
                    <a:pt x="23" y="20"/>
                    <a:pt x="23" y="20"/>
                    <a:pt x="23" y="20"/>
                  </a:cubicBezTo>
                  <a:cubicBezTo>
                    <a:pt x="24" y="20"/>
                    <a:pt x="24" y="20"/>
                    <a:pt x="24" y="20"/>
                  </a:cubicBezTo>
                  <a:cubicBezTo>
                    <a:pt x="26" y="21"/>
                    <a:pt x="28" y="22"/>
                    <a:pt x="30" y="22"/>
                  </a:cubicBezTo>
                  <a:cubicBezTo>
                    <a:pt x="32" y="23"/>
                    <a:pt x="32" y="23"/>
                    <a:pt x="32" y="23"/>
                  </a:cubicBezTo>
                  <a:cubicBezTo>
                    <a:pt x="33" y="23"/>
                    <a:pt x="33" y="23"/>
                    <a:pt x="33" y="23"/>
                  </a:cubicBezTo>
                  <a:cubicBezTo>
                    <a:pt x="34" y="24"/>
                    <a:pt x="35" y="25"/>
                    <a:pt x="36" y="25"/>
                  </a:cubicBezTo>
                  <a:cubicBezTo>
                    <a:pt x="36" y="25"/>
                    <a:pt x="37" y="25"/>
                    <a:pt x="37" y="25"/>
                  </a:cubicBezTo>
                  <a:cubicBezTo>
                    <a:pt x="38" y="23"/>
                    <a:pt x="39" y="22"/>
                    <a:pt x="39" y="21"/>
                  </a:cubicBezTo>
                  <a:cubicBezTo>
                    <a:pt x="39" y="21"/>
                    <a:pt x="39" y="21"/>
                    <a:pt x="39" y="21"/>
                  </a:cubicBezTo>
                  <a:cubicBezTo>
                    <a:pt x="39" y="21"/>
                    <a:pt x="40" y="21"/>
                    <a:pt x="40" y="21"/>
                  </a:cubicBezTo>
                  <a:cubicBezTo>
                    <a:pt x="39" y="21"/>
                    <a:pt x="39" y="21"/>
                    <a:pt x="39" y="21"/>
                  </a:cubicBezTo>
                  <a:cubicBezTo>
                    <a:pt x="39" y="20"/>
                    <a:pt x="39" y="20"/>
                    <a:pt x="39" y="20"/>
                  </a:cubicBezTo>
                  <a:cubicBezTo>
                    <a:pt x="39" y="20"/>
                    <a:pt x="40" y="20"/>
                    <a:pt x="40" y="20"/>
                  </a:cubicBezTo>
                  <a:cubicBezTo>
                    <a:pt x="43" y="19"/>
                    <a:pt x="47" y="17"/>
                    <a:pt x="50" y="16"/>
                  </a:cubicBezTo>
                  <a:cubicBezTo>
                    <a:pt x="51" y="15"/>
                    <a:pt x="52" y="15"/>
                    <a:pt x="51" y="14"/>
                  </a:cubicBezTo>
                  <a:cubicBezTo>
                    <a:pt x="51" y="13"/>
                    <a:pt x="51" y="13"/>
                    <a:pt x="51" y="13"/>
                  </a:cubicBezTo>
                  <a:moveTo>
                    <a:pt x="37" y="15"/>
                  </a:moveTo>
                  <a:cubicBezTo>
                    <a:pt x="38" y="14"/>
                    <a:pt x="38" y="14"/>
                    <a:pt x="38" y="14"/>
                  </a:cubicBezTo>
                  <a:cubicBezTo>
                    <a:pt x="39" y="13"/>
                    <a:pt x="39" y="13"/>
                    <a:pt x="39" y="13"/>
                  </a:cubicBezTo>
                  <a:cubicBezTo>
                    <a:pt x="39" y="13"/>
                    <a:pt x="39" y="12"/>
                    <a:pt x="38" y="12"/>
                  </a:cubicBezTo>
                  <a:cubicBezTo>
                    <a:pt x="38" y="12"/>
                    <a:pt x="38" y="12"/>
                    <a:pt x="38" y="12"/>
                  </a:cubicBezTo>
                  <a:cubicBezTo>
                    <a:pt x="38" y="12"/>
                    <a:pt x="38" y="12"/>
                    <a:pt x="38" y="12"/>
                  </a:cubicBezTo>
                  <a:cubicBezTo>
                    <a:pt x="37" y="12"/>
                    <a:pt x="37" y="12"/>
                    <a:pt x="37" y="12"/>
                  </a:cubicBezTo>
                  <a:cubicBezTo>
                    <a:pt x="36" y="11"/>
                    <a:pt x="36" y="11"/>
                    <a:pt x="36" y="11"/>
                  </a:cubicBezTo>
                  <a:cubicBezTo>
                    <a:pt x="36" y="11"/>
                    <a:pt x="36" y="11"/>
                    <a:pt x="36" y="11"/>
                  </a:cubicBezTo>
                  <a:cubicBezTo>
                    <a:pt x="37" y="10"/>
                    <a:pt x="37" y="10"/>
                    <a:pt x="37" y="10"/>
                  </a:cubicBezTo>
                  <a:cubicBezTo>
                    <a:pt x="36" y="10"/>
                    <a:pt x="36" y="10"/>
                    <a:pt x="36" y="10"/>
                  </a:cubicBezTo>
                  <a:cubicBezTo>
                    <a:pt x="37" y="10"/>
                    <a:pt x="37" y="10"/>
                    <a:pt x="37" y="10"/>
                  </a:cubicBezTo>
                  <a:cubicBezTo>
                    <a:pt x="40" y="9"/>
                    <a:pt x="40" y="9"/>
                    <a:pt x="40" y="9"/>
                  </a:cubicBezTo>
                  <a:cubicBezTo>
                    <a:pt x="40" y="9"/>
                    <a:pt x="40" y="9"/>
                    <a:pt x="40" y="9"/>
                  </a:cubicBezTo>
                  <a:cubicBezTo>
                    <a:pt x="41" y="9"/>
                    <a:pt x="41" y="9"/>
                    <a:pt x="41" y="9"/>
                  </a:cubicBezTo>
                  <a:cubicBezTo>
                    <a:pt x="41" y="10"/>
                    <a:pt x="43" y="11"/>
                    <a:pt x="43" y="13"/>
                  </a:cubicBezTo>
                  <a:cubicBezTo>
                    <a:pt x="43" y="14"/>
                    <a:pt x="43" y="14"/>
                    <a:pt x="43" y="14"/>
                  </a:cubicBezTo>
                  <a:cubicBezTo>
                    <a:pt x="42" y="15"/>
                    <a:pt x="40" y="16"/>
                    <a:pt x="38" y="16"/>
                  </a:cubicBezTo>
                  <a:cubicBezTo>
                    <a:pt x="38" y="16"/>
                    <a:pt x="38" y="16"/>
                    <a:pt x="38" y="16"/>
                  </a:cubicBezTo>
                  <a:cubicBezTo>
                    <a:pt x="38" y="15"/>
                    <a:pt x="38" y="15"/>
                    <a:pt x="38" y="15"/>
                  </a:cubicBezTo>
                  <a:cubicBezTo>
                    <a:pt x="37" y="15"/>
                    <a:pt x="37" y="15"/>
                    <a:pt x="37" y="15"/>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40" name="Freeform 138">
              <a:extLst>
                <a:ext uri="{FF2B5EF4-FFF2-40B4-BE49-F238E27FC236}">
                  <a16:creationId xmlns:a16="http://schemas.microsoft.com/office/drawing/2014/main" id="{8C6EB293-1785-4387-A911-A04366190EC6}"/>
                </a:ext>
              </a:extLst>
            </p:cNvPr>
            <p:cNvSpPr>
              <a:spLocks/>
            </p:cNvSpPr>
            <p:nvPr userDrawn="1"/>
          </p:nvSpPr>
          <p:spPr bwMode="auto">
            <a:xfrm>
              <a:off x="1239" y="750"/>
              <a:ext cx="10" cy="19"/>
            </a:xfrm>
            <a:custGeom>
              <a:avLst/>
              <a:gdLst>
                <a:gd name="T0" fmla="*/ 2 w 8"/>
                <a:gd name="T1" fmla="*/ 15 h 15"/>
                <a:gd name="T2" fmla="*/ 0 w 8"/>
                <a:gd name="T3" fmla="*/ 14 h 15"/>
                <a:gd name="T4" fmla="*/ 2 w 8"/>
                <a:gd name="T5" fmla="*/ 9 h 15"/>
                <a:gd name="T6" fmla="*/ 3 w 8"/>
                <a:gd name="T7" fmla="*/ 8 h 15"/>
                <a:gd name="T8" fmla="*/ 3 w 8"/>
                <a:gd name="T9" fmla="*/ 8 h 15"/>
                <a:gd name="T10" fmla="*/ 3 w 8"/>
                <a:gd name="T11" fmla="*/ 7 h 15"/>
                <a:gd name="T12" fmla="*/ 4 w 8"/>
                <a:gd name="T13" fmla="*/ 5 h 15"/>
                <a:gd name="T14" fmla="*/ 5 w 8"/>
                <a:gd name="T15" fmla="*/ 4 h 15"/>
                <a:gd name="T16" fmla="*/ 7 w 8"/>
                <a:gd name="T17" fmla="*/ 0 h 15"/>
                <a:gd name="T18" fmla="*/ 8 w 8"/>
                <a:gd name="T19" fmla="*/ 1 h 15"/>
                <a:gd name="T20" fmla="*/ 8 w 8"/>
                <a:gd name="T21" fmla="*/ 2 h 15"/>
                <a:gd name="T22" fmla="*/ 8 w 8"/>
                <a:gd name="T23" fmla="*/ 2 h 15"/>
                <a:gd name="T24" fmla="*/ 8 w 8"/>
                <a:gd name="T25" fmla="*/ 3 h 15"/>
                <a:gd name="T26" fmla="*/ 8 w 8"/>
                <a:gd name="T27" fmla="*/ 7 h 15"/>
                <a:gd name="T28" fmla="*/ 8 w 8"/>
                <a:gd name="T29" fmla="*/ 8 h 15"/>
                <a:gd name="T30" fmla="*/ 8 w 8"/>
                <a:gd name="T31" fmla="*/ 9 h 15"/>
                <a:gd name="T32" fmla="*/ 6 w 8"/>
                <a:gd name="T33" fmla="*/ 13 h 15"/>
                <a:gd name="T34" fmla="*/ 5 w 8"/>
                <a:gd name="T35" fmla="*/ 14 h 15"/>
                <a:gd name="T36" fmla="*/ 5 w 8"/>
                <a:gd name="T37" fmla="*/ 14 h 15"/>
                <a:gd name="T38" fmla="*/ 3 w 8"/>
                <a:gd name="T39" fmla="*/ 15 h 15"/>
                <a:gd name="T40" fmla="*/ 2 w 8"/>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 h="15">
                  <a:moveTo>
                    <a:pt x="2" y="15"/>
                  </a:moveTo>
                  <a:cubicBezTo>
                    <a:pt x="2" y="15"/>
                    <a:pt x="1" y="14"/>
                    <a:pt x="0" y="14"/>
                  </a:cubicBezTo>
                  <a:cubicBezTo>
                    <a:pt x="0" y="12"/>
                    <a:pt x="1" y="11"/>
                    <a:pt x="2" y="9"/>
                  </a:cubicBezTo>
                  <a:cubicBezTo>
                    <a:pt x="2" y="9"/>
                    <a:pt x="3" y="8"/>
                    <a:pt x="3" y="8"/>
                  </a:cubicBezTo>
                  <a:cubicBezTo>
                    <a:pt x="3" y="8"/>
                    <a:pt x="3" y="8"/>
                    <a:pt x="3" y="8"/>
                  </a:cubicBezTo>
                  <a:cubicBezTo>
                    <a:pt x="3" y="7"/>
                    <a:pt x="3" y="7"/>
                    <a:pt x="3" y="7"/>
                  </a:cubicBezTo>
                  <a:cubicBezTo>
                    <a:pt x="4" y="7"/>
                    <a:pt x="4" y="6"/>
                    <a:pt x="4" y="5"/>
                  </a:cubicBezTo>
                  <a:cubicBezTo>
                    <a:pt x="4" y="5"/>
                    <a:pt x="4" y="4"/>
                    <a:pt x="5" y="4"/>
                  </a:cubicBezTo>
                  <a:cubicBezTo>
                    <a:pt x="5" y="2"/>
                    <a:pt x="6" y="0"/>
                    <a:pt x="7" y="0"/>
                  </a:cubicBezTo>
                  <a:cubicBezTo>
                    <a:pt x="7" y="0"/>
                    <a:pt x="8" y="0"/>
                    <a:pt x="8" y="1"/>
                  </a:cubicBezTo>
                  <a:cubicBezTo>
                    <a:pt x="8" y="1"/>
                    <a:pt x="8" y="1"/>
                    <a:pt x="8" y="2"/>
                  </a:cubicBezTo>
                  <a:cubicBezTo>
                    <a:pt x="8" y="2"/>
                    <a:pt x="8" y="2"/>
                    <a:pt x="8" y="2"/>
                  </a:cubicBezTo>
                  <a:cubicBezTo>
                    <a:pt x="8" y="3"/>
                    <a:pt x="8" y="3"/>
                    <a:pt x="8" y="3"/>
                  </a:cubicBezTo>
                  <a:cubicBezTo>
                    <a:pt x="8" y="5"/>
                    <a:pt x="8" y="6"/>
                    <a:pt x="8" y="7"/>
                  </a:cubicBezTo>
                  <a:cubicBezTo>
                    <a:pt x="8" y="8"/>
                    <a:pt x="8" y="8"/>
                    <a:pt x="8" y="8"/>
                  </a:cubicBezTo>
                  <a:cubicBezTo>
                    <a:pt x="8" y="8"/>
                    <a:pt x="8" y="9"/>
                    <a:pt x="8" y="9"/>
                  </a:cubicBezTo>
                  <a:cubicBezTo>
                    <a:pt x="7" y="11"/>
                    <a:pt x="7" y="12"/>
                    <a:pt x="6" y="13"/>
                  </a:cubicBezTo>
                  <a:cubicBezTo>
                    <a:pt x="5" y="14"/>
                    <a:pt x="5" y="14"/>
                    <a:pt x="5" y="14"/>
                  </a:cubicBezTo>
                  <a:cubicBezTo>
                    <a:pt x="5" y="14"/>
                    <a:pt x="5" y="14"/>
                    <a:pt x="5" y="14"/>
                  </a:cubicBezTo>
                  <a:cubicBezTo>
                    <a:pt x="4" y="14"/>
                    <a:pt x="3" y="15"/>
                    <a:pt x="3" y="15"/>
                  </a:cubicBezTo>
                  <a:lnTo>
                    <a:pt x="2" y="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41" name="Freeform 139">
              <a:extLst>
                <a:ext uri="{FF2B5EF4-FFF2-40B4-BE49-F238E27FC236}">
                  <a16:creationId xmlns:a16="http://schemas.microsoft.com/office/drawing/2014/main" id="{EBE5A59B-46BA-437F-AC44-4C90B0932C57}"/>
                </a:ext>
              </a:extLst>
            </p:cNvPr>
            <p:cNvSpPr>
              <a:spLocks/>
            </p:cNvSpPr>
            <p:nvPr userDrawn="1"/>
          </p:nvSpPr>
          <p:spPr bwMode="auto">
            <a:xfrm>
              <a:off x="1239" y="750"/>
              <a:ext cx="10" cy="19"/>
            </a:xfrm>
            <a:custGeom>
              <a:avLst/>
              <a:gdLst>
                <a:gd name="T0" fmla="*/ 2 w 8"/>
                <a:gd name="T1" fmla="*/ 15 h 15"/>
                <a:gd name="T2" fmla="*/ 3 w 8"/>
                <a:gd name="T3" fmla="*/ 15 h 15"/>
                <a:gd name="T4" fmla="*/ 5 w 8"/>
                <a:gd name="T5" fmla="*/ 14 h 15"/>
                <a:gd name="T6" fmla="*/ 5 w 8"/>
                <a:gd name="T7" fmla="*/ 14 h 15"/>
                <a:gd name="T8" fmla="*/ 6 w 8"/>
                <a:gd name="T9" fmla="*/ 13 h 15"/>
                <a:gd name="T10" fmla="*/ 8 w 8"/>
                <a:gd name="T11" fmla="*/ 9 h 15"/>
                <a:gd name="T12" fmla="*/ 8 w 8"/>
                <a:gd name="T13" fmla="*/ 8 h 15"/>
                <a:gd name="T14" fmla="*/ 8 w 8"/>
                <a:gd name="T15" fmla="*/ 7 h 15"/>
                <a:gd name="T16" fmla="*/ 8 w 8"/>
                <a:gd name="T17" fmla="*/ 3 h 15"/>
                <a:gd name="T18" fmla="*/ 8 w 8"/>
                <a:gd name="T19" fmla="*/ 2 h 15"/>
                <a:gd name="T20" fmla="*/ 8 w 8"/>
                <a:gd name="T21" fmla="*/ 2 h 15"/>
                <a:gd name="T22" fmla="*/ 8 w 8"/>
                <a:gd name="T23" fmla="*/ 2 h 15"/>
                <a:gd name="T24" fmla="*/ 8 w 8"/>
                <a:gd name="T25" fmla="*/ 1 h 15"/>
                <a:gd name="T26" fmla="*/ 7 w 8"/>
                <a:gd name="T27" fmla="*/ 0 h 15"/>
                <a:gd name="T28" fmla="*/ 5 w 8"/>
                <a:gd name="T29" fmla="*/ 4 h 15"/>
                <a:gd name="T30" fmla="*/ 4 w 8"/>
                <a:gd name="T31" fmla="*/ 5 h 15"/>
                <a:gd name="T32" fmla="*/ 3 w 8"/>
                <a:gd name="T33" fmla="*/ 7 h 15"/>
                <a:gd name="T34" fmla="*/ 3 w 8"/>
                <a:gd name="T35" fmla="*/ 8 h 15"/>
                <a:gd name="T36" fmla="*/ 3 w 8"/>
                <a:gd name="T37" fmla="*/ 8 h 15"/>
                <a:gd name="T38" fmla="*/ 2 w 8"/>
                <a:gd name="T39" fmla="*/ 9 h 15"/>
                <a:gd name="T40" fmla="*/ 0 w 8"/>
                <a:gd name="T41" fmla="*/ 14 h 15"/>
                <a:gd name="T42" fmla="*/ 2 w 8"/>
                <a:gd name="T43"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 h="15">
                  <a:moveTo>
                    <a:pt x="2" y="15"/>
                  </a:moveTo>
                  <a:cubicBezTo>
                    <a:pt x="3" y="15"/>
                    <a:pt x="3" y="15"/>
                    <a:pt x="3" y="15"/>
                  </a:cubicBezTo>
                  <a:cubicBezTo>
                    <a:pt x="3" y="15"/>
                    <a:pt x="4" y="14"/>
                    <a:pt x="5" y="14"/>
                  </a:cubicBezTo>
                  <a:cubicBezTo>
                    <a:pt x="5" y="14"/>
                    <a:pt x="5" y="14"/>
                    <a:pt x="5" y="14"/>
                  </a:cubicBezTo>
                  <a:cubicBezTo>
                    <a:pt x="6" y="13"/>
                    <a:pt x="6" y="13"/>
                    <a:pt x="6" y="13"/>
                  </a:cubicBezTo>
                  <a:cubicBezTo>
                    <a:pt x="7" y="12"/>
                    <a:pt x="7" y="10"/>
                    <a:pt x="8" y="9"/>
                  </a:cubicBezTo>
                  <a:cubicBezTo>
                    <a:pt x="8" y="9"/>
                    <a:pt x="8" y="8"/>
                    <a:pt x="8" y="8"/>
                  </a:cubicBezTo>
                  <a:cubicBezTo>
                    <a:pt x="8" y="7"/>
                    <a:pt x="8" y="7"/>
                    <a:pt x="8" y="7"/>
                  </a:cubicBezTo>
                  <a:cubicBezTo>
                    <a:pt x="8" y="6"/>
                    <a:pt x="8" y="5"/>
                    <a:pt x="8" y="3"/>
                  </a:cubicBezTo>
                  <a:cubicBezTo>
                    <a:pt x="8" y="3"/>
                    <a:pt x="8" y="3"/>
                    <a:pt x="8" y="2"/>
                  </a:cubicBezTo>
                  <a:cubicBezTo>
                    <a:pt x="8" y="2"/>
                    <a:pt x="8" y="2"/>
                    <a:pt x="8" y="2"/>
                  </a:cubicBezTo>
                  <a:cubicBezTo>
                    <a:pt x="8" y="2"/>
                    <a:pt x="8" y="2"/>
                    <a:pt x="8" y="2"/>
                  </a:cubicBezTo>
                  <a:cubicBezTo>
                    <a:pt x="8" y="1"/>
                    <a:pt x="8" y="1"/>
                    <a:pt x="8" y="1"/>
                  </a:cubicBezTo>
                  <a:cubicBezTo>
                    <a:pt x="8" y="0"/>
                    <a:pt x="7" y="0"/>
                    <a:pt x="7" y="0"/>
                  </a:cubicBezTo>
                  <a:cubicBezTo>
                    <a:pt x="6" y="0"/>
                    <a:pt x="5" y="2"/>
                    <a:pt x="5" y="4"/>
                  </a:cubicBezTo>
                  <a:cubicBezTo>
                    <a:pt x="5" y="4"/>
                    <a:pt x="4" y="5"/>
                    <a:pt x="4" y="5"/>
                  </a:cubicBezTo>
                  <a:cubicBezTo>
                    <a:pt x="4" y="6"/>
                    <a:pt x="4" y="7"/>
                    <a:pt x="3" y="7"/>
                  </a:cubicBezTo>
                  <a:cubicBezTo>
                    <a:pt x="3" y="8"/>
                    <a:pt x="3" y="8"/>
                    <a:pt x="3" y="8"/>
                  </a:cubicBezTo>
                  <a:cubicBezTo>
                    <a:pt x="3" y="8"/>
                    <a:pt x="3" y="8"/>
                    <a:pt x="3" y="8"/>
                  </a:cubicBezTo>
                  <a:cubicBezTo>
                    <a:pt x="3" y="8"/>
                    <a:pt x="2" y="9"/>
                    <a:pt x="2" y="9"/>
                  </a:cubicBezTo>
                  <a:cubicBezTo>
                    <a:pt x="1" y="11"/>
                    <a:pt x="0" y="12"/>
                    <a:pt x="0" y="14"/>
                  </a:cubicBezTo>
                  <a:cubicBezTo>
                    <a:pt x="1" y="14"/>
                    <a:pt x="2" y="15"/>
                    <a:pt x="2" y="15"/>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42" name="Freeform 140">
              <a:extLst>
                <a:ext uri="{FF2B5EF4-FFF2-40B4-BE49-F238E27FC236}">
                  <a16:creationId xmlns:a16="http://schemas.microsoft.com/office/drawing/2014/main" id="{ECCFDBAA-3402-4007-AA38-7DD1AC6BC749}"/>
                </a:ext>
              </a:extLst>
            </p:cNvPr>
            <p:cNvSpPr>
              <a:spLocks/>
            </p:cNvSpPr>
            <p:nvPr userDrawn="1"/>
          </p:nvSpPr>
          <p:spPr bwMode="auto">
            <a:xfrm>
              <a:off x="1229" y="757"/>
              <a:ext cx="7" cy="9"/>
            </a:xfrm>
            <a:custGeom>
              <a:avLst/>
              <a:gdLst>
                <a:gd name="T0" fmla="*/ 3 w 6"/>
                <a:gd name="T1" fmla="*/ 7 h 7"/>
                <a:gd name="T2" fmla="*/ 1 w 6"/>
                <a:gd name="T3" fmla="*/ 6 h 7"/>
                <a:gd name="T4" fmla="*/ 5 w 6"/>
                <a:gd name="T5" fmla="*/ 0 h 7"/>
                <a:gd name="T6" fmla="*/ 6 w 6"/>
                <a:gd name="T7" fmla="*/ 1 h 7"/>
                <a:gd name="T8" fmla="*/ 5 w 6"/>
                <a:gd name="T9" fmla="*/ 5 h 7"/>
                <a:gd name="T10" fmla="*/ 3 w 6"/>
                <a:gd name="T11" fmla="*/ 7 h 7"/>
              </a:gdLst>
              <a:ahLst/>
              <a:cxnLst>
                <a:cxn ang="0">
                  <a:pos x="T0" y="T1"/>
                </a:cxn>
                <a:cxn ang="0">
                  <a:pos x="T2" y="T3"/>
                </a:cxn>
                <a:cxn ang="0">
                  <a:pos x="T4" y="T5"/>
                </a:cxn>
                <a:cxn ang="0">
                  <a:pos x="T6" y="T7"/>
                </a:cxn>
                <a:cxn ang="0">
                  <a:pos x="T8" y="T9"/>
                </a:cxn>
                <a:cxn ang="0">
                  <a:pos x="T10" y="T11"/>
                </a:cxn>
              </a:cxnLst>
              <a:rect l="0" t="0" r="r" b="b"/>
              <a:pathLst>
                <a:path w="6" h="7">
                  <a:moveTo>
                    <a:pt x="3" y="7"/>
                  </a:moveTo>
                  <a:cubicBezTo>
                    <a:pt x="3" y="7"/>
                    <a:pt x="2" y="6"/>
                    <a:pt x="1" y="6"/>
                  </a:cubicBezTo>
                  <a:cubicBezTo>
                    <a:pt x="0" y="3"/>
                    <a:pt x="4" y="0"/>
                    <a:pt x="5" y="0"/>
                  </a:cubicBezTo>
                  <a:cubicBezTo>
                    <a:pt x="5" y="0"/>
                    <a:pt x="6" y="1"/>
                    <a:pt x="6" y="1"/>
                  </a:cubicBezTo>
                  <a:cubicBezTo>
                    <a:pt x="6" y="2"/>
                    <a:pt x="6" y="4"/>
                    <a:pt x="5" y="5"/>
                  </a:cubicBezTo>
                  <a:cubicBezTo>
                    <a:pt x="4" y="6"/>
                    <a:pt x="3" y="7"/>
                    <a:pt x="3" y="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43" name="Freeform 141">
              <a:extLst>
                <a:ext uri="{FF2B5EF4-FFF2-40B4-BE49-F238E27FC236}">
                  <a16:creationId xmlns:a16="http://schemas.microsoft.com/office/drawing/2014/main" id="{19AE5F3A-8955-4E1D-B915-DD5D96D332D2}"/>
                </a:ext>
              </a:extLst>
            </p:cNvPr>
            <p:cNvSpPr>
              <a:spLocks/>
            </p:cNvSpPr>
            <p:nvPr userDrawn="1"/>
          </p:nvSpPr>
          <p:spPr bwMode="auto">
            <a:xfrm>
              <a:off x="1229" y="757"/>
              <a:ext cx="7" cy="9"/>
            </a:xfrm>
            <a:custGeom>
              <a:avLst/>
              <a:gdLst>
                <a:gd name="T0" fmla="*/ 3 w 6"/>
                <a:gd name="T1" fmla="*/ 7 h 7"/>
                <a:gd name="T2" fmla="*/ 3 w 6"/>
                <a:gd name="T3" fmla="*/ 7 h 7"/>
                <a:gd name="T4" fmla="*/ 5 w 6"/>
                <a:gd name="T5" fmla="*/ 5 h 7"/>
                <a:gd name="T6" fmla="*/ 6 w 6"/>
                <a:gd name="T7" fmla="*/ 1 h 7"/>
                <a:gd name="T8" fmla="*/ 5 w 6"/>
                <a:gd name="T9" fmla="*/ 0 h 7"/>
                <a:gd name="T10" fmla="*/ 1 w 6"/>
                <a:gd name="T11" fmla="*/ 6 h 7"/>
                <a:gd name="T12" fmla="*/ 3 w 6"/>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6" h="7">
                  <a:moveTo>
                    <a:pt x="3" y="7"/>
                  </a:moveTo>
                  <a:cubicBezTo>
                    <a:pt x="3" y="7"/>
                    <a:pt x="3" y="7"/>
                    <a:pt x="3" y="7"/>
                  </a:cubicBezTo>
                  <a:cubicBezTo>
                    <a:pt x="3" y="7"/>
                    <a:pt x="4" y="6"/>
                    <a:pt x="5" y="5"/>
                  </a:cubicBezTo>
                  <a:cubicBezTo>
                    <a:pt x="6" y="4"/>
                    <a:pt x="6" y="2"/>
                    <a:pt x="6" y="1"/>
                  </a:cubicBezTo>
                  <a:cubicBezTo>
                    <a:pt x="6" y="1"/>
                    <a:pt x="5" y="0"/>
                    <a:pt x="5" y="0"/>
                  </a:cubicBezTo>
                  <a:cubicBezTo>
                    <a:pt x="4" y="0"/>
                    <a:pt x="0" y="3"/>
                    <a:pt x="1" y="6"/>
                  </a:cubicBezTo>
                  <a:cubicBezTo>
                    <a:pt x="2" y="6"/>
                    <a:pt x="3" y="7"/>
                    <a:pt x="3" y="7"/>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grpSp>
    </p:spTree>
    <p:extLst>
      <p:ext uri="{BB962C8B-B14F-4D97-AF65-F5344CB8AC3E}">
        <p14:creationId xmlns:p14="http://schemas.microsoft.com/office/powerpoint/2010/main" val="28820528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50">
            <a:extLst>
              <a:ext uri="{FF2B5EF4-FFF2-40B4-BE49-F238E27FC236}">
                <a16:creationId xmlns:a16="http://schemas.microsoft.com/office/drawing/2014/main" id="{61B86F49-CCE0-4E1A-8F78-9E6856803B19}"/>
              </a:ext>
            </a:extLst>
          </p:cNvPr>
          <p:cNvSpPr/>
          <p:nvPr/>
        </p:nvSpPr>
        <p:spPr>
          <a:xfrm>
            <a:off x="10" y="5"/>
            <a:ext cx="12191980" cy="6857990"/>
          </a:xfrm>
          <a:prstGeom prst="rect">
            <a:avLst/>
          </a:prstGeom>
          <a:blipFill dpi="0" rotWithShape="1">
            <a:blip r:embed="rId3">
              <a:alphaModFix amt="10000"/>
              <a:duotone>
                <a:schemeClr val="bg2">
                  <a:shade val="45000"/>
                  <a:satMod val="135000"/>
                </a:schemeClr>
                <a:prstClr val="white"/>
              </a:duotone>
            </a:blip>
            <a:srcRect/>
            <a:tile tx="0" ty="0" sx="60000" sy="6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00"/>
              </a:spcAft>
            </a:pPr>
            <a:endParaRPr lang="zh-CN" altLang="en-US"/>
          </a:p>
        </p:txBody>
      </p:sp>
      <p:sp>
        <p:nvSpPr>
          <p:cNvPr id="5" name="文本占位符 4">
            <a:extLst>
              <a:ext uri="{FF2B5EF4-FFF2-40B4-BE49-F238E27FC236}">
                <a16:creationId xmlns:a16="http://schemas.microsoft.com/office/drawing/2014/main" id="{2C86FE21-732E-44F5-8F1D-2ED5FD7FAA23}"/>
              </a:ext>
            </a:extLst>
          </p:cNvPr>
          <p:cNvSpPr>
            <a:spLocks noGrp="1"/>
          </p:cNvSpPr>
          <p:nvPr>
            <p:ph type="body" sz="quarter" idx="4294967295"/>
          </p:nvPr>
        </p:nvSpPr>
        <p:spPr>
          <a:xfrm>
            <a:off x="1515339" y="4747371"/>
            <a:ext cx="3177241" cy="1101181"/>
          </a:xfrm>
          <a:prstGeom prst="rect">
            <a:avLst/>
          </a:prstGeom>
        </p:spPr>
        <p:txBody>
          <a:bodyPr anchor="ctr" anchorCtr="0"/>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2000" b="1" i="0" u="none" strike="noStrike" kern="1200" cap="none" spc="0" normalizeH="0" baseline="0" noProof="0" dirty="0">
                <a:ln>
                  <a:noFill/>
                </a:ln>
                <a:solidFill>
                  <a:srgbClr val="FFFFFF"/>
                </a:solidFill>
                <a:effectLst/>
                <a:uLnTx/>
                <a:uFillTx/>
                <a:latin typeface="Microsoft YaHei"/>
                <a:ea typeface="Microsoft YaHei"/>
                <a:cs typeface="+mn-cs"/>
              </a:rPr>
              <a:t>智晨 副研究员</a:t>
            </a:r>
            <a:endParaRPr kumimoji="0" lang="en-US" altLang="zh-CN" sz="2000" b="1" i="0" u="none" strike="noStrike" kern="1200" cap="none" spc="0" normalizeH="0" baseline="0" noProof="0" dirty="0">
              <a:ln>
                <a:noFill/>
              </a:ln>
              <a:solidFill>
                <a:srgbClr val="FFFFFF"/>
              </a:solidFill>
              <a:effectLst/>
              <a:uLnTx/>
              <a:uFillTx/>
              <a:latin typeface="Microsoft YaHei"/>
              <a:ea typeface="Microsoft YaHei"/>
              <a:cs typeface="+mn-cs"/>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2000" b="1" i="0" u="none" strike="noStrike" kern="1200" cap="none" spc="0" normalizeH="0" baseline="0" noProof="0" dirty="0">
                <a:ln>
                  <a:noFill/>
                </a:ln>
                <a:solidFill>
                  <a:srgbClr val="FFFFFF"/>
                </a:solidFill>
                <a:effectLst/>
                <a:uLnTx/>
                <a:uFillTx/>
                <a:latin typeface="Microsoft YaHei"/>
                <a:ea typeface="Microsoft YaHei"/>
                <a:cs typeface="+mn-cs"/>
              </a:rPr>
              <a:t>浙江大学软件学院</a:t>
            </a:r>
            <a:endParaRPr kumimoji="0" lang="en-US" altLang="zh-CN" sz="2000" b="1" i="0" u="none" strike="noStrike" kern="1200" cap="none" spc="0" normalizeH="0" baseline="0" noProof="0" dirty="0">
              <a:ln>
                <a:noFill/>
              </a:ln>
              <a:solidFill>
                <a:srgbClr val="FFFFFF"/>
              </a:solidFill>
              <a:effectLst/>
              <a:uLnTx/>
              <a:uFillTx/>
              <a:latin typeface="Microsoft YaHei"/>
              <a:ea typeface="Microsoft YaHei"/>
              <a:cs typeface="+mn-cs"/>
            </a:endParaRPr>
          </a:p>
        </p:txBody>
      </p:sp>
      <p:sp>
        <p:nvSpPr>
          <p:cNvPr id="7" name="文本占位符 6">
            <a:extLst>
              <a:ext uri="{FF2B5EF4-FFF2-40B4-BE49-F238E27FC236}">
                <a16:creationId xmlns:a16="http://schemas.microsoft.com/office/drawing/2014/main" id="{B1B14B8F-A231-48E8-ACE8-EC35186C5474}"/>
              </a:ext>
            </a:extLst>
          </p:cNvPr>
          <p:cNvSpPr>
            <a:spLocks noGrp="1"/>
          </p:cNvSpPr>
          <p:nvPr>
            <p:ph type="body" sz="quarter" idx="15"/>
          </p:nvPr>
        </p:nvSpPr>
        <p:spPr>
          <a:xfrm>
            <a:off x="3446585" y="3430402"/>
            <a:ext cx="6445408" cy="485081"/>
          </a:xfrm>
        </p:spPr>
        <p:txBody>
          <a:bodyPr/>
          <a:lstStyle/>
          <a:p>
            <a:pPr algn="ctr"/>
            <a:endParaRPr lang="zh-CN" altLang="en-US" sz="2800" dirty="0">
              <a:latin typeface="Times New Roman" panose="02020603050405020304" pitchFamily="18" charset="0"/>
              <a:cs typeface="Times New Roman" panose="02020603050405020304" pitchFamily="18" charset="0"/>
            </a:endParaRPr>
          </a:p>
        </p:txBody>
      </p:sp>
      <p:sp>
        <p:nvSpPr>
          <p:cNvPr id="3" name="灯片编号占位符 2">
            <a:extLst>
              <a:ext uri="{FF2B5EF4-FFF2-40B4-BE49-F238E27FC236}">
                <a16:creationId xmlns:a16="http://schemas.microsoft.com/office/drawing/2014/main" id="{69F979B7-E451-4522-8C01-CC410F5A8A58}"/>
              </a:ext>
            </a:extLst>
          </p:cNvPr>
          <p:cNvSpPr>
            <a:spLocks noGrp="1"/>
          </p:cNvSpPr>
          <p:nvPr>
            <p:ph type="sldNum" sz="quarter" idx="4294967295"/>
          </p:nvPr>
        </p:nvSpPr>
        <p:spPr>
          <a:xfrm>
            <a:off x="9448800" y="6516688"/>
            <a:ext cx="2743200" cy="341312"/>
          </a:xfrm>
          <a:prstGeom prst="rect">
            <a:avLst/>
          </a:prstGeom>
        </p:spPr>
        <p:txBody>
          <a:bodyPr/>
          <a:lstStyle/>
          <a:p>
            <a:fld id="{1AAC388E-FA9E-4A2C-95EA-1F6B3A07935A}" type="slidenum">
              <a:rPr lang="zh-CN" altLang="en-US" smtClean="0"/>
              <a:t>55</a:t>
            </a:fld>
            <a:endParaRPr lang="zh-CN" altLang="en-US"/>
          </a:p>
        </p:txBody>
      </p:sp>
      <p:grpSp>
        <p:nvGrpSpPr>
          <p:cNvPr id="8" name="组合 7">
            <a:extLst>
              <a:ext uri="{FF2B5EF4-FFF2-40B4-BE49-F238E27FC236}">
                <a16:creationId xmlns:a16="http://schemas.microsoft.com/office/drawing/2014/main" id="{103856E2-83DF-4A42-B13B-E4BE07600984}"/>
              </a:ext>
            </a:extLst>
          </p:cNvPr>
          <p:cNvGrpSpPr/>
          <p:nvPr/>
        </p:nvGrpSpPr>
        <p:grpSpPr>
          <a:xfrm>
            <a:off x="7027667" y="537616"/>
            <a:ext cx="6961907" cy="7021575"/>
            <a:chOff x="4038600" y="2259880"/>
            <a:chExt cx="2647060" cy="2669747"/>
          </a:xfrm>
          <a:solidFill>
            <a:srgbClr val="A6A6A6">
              <a:alpha val="20000"/>
            </a:srgbClr>
          </a:solidFill>
        </p:grpSpPr>
        <p:sp>
          <p:nvSpPr>
            <p:cNvPr id="9" name="Freeform 105">
              <a:extLst>
                <a:ext uri="{FF2B5EF4-FFF2-40B4-BE49-F238E27FC236}">
                  <a16:creationId xmlns:a16="http://schemas.microsoft.com/office/drawing/2014/main" id="{0C74C6B0-082A-4FE6-B113-8737E0AD6FCC}"/>
                </a:ext>
              </a:extLst>
            </p:cNvPr>
            <p:cNvSpPr>
              <a:spLocks noEditPoints="1"/>
            </p:cNvSpPr>
            <p:nvPr userDrawn="1"/>
          </p:nvSpPr>
          <p:spPr bwMode="auto">
            <a:xfrm>
              <a:off x="4038600" y="2259880"/>
              <a:ext cx="2647060" cy="2669747"/>
            </a:xfrm>
            <a:custGeom>
              <a:avLst/>
              <a:gdLst>
                <a:gd name="T0" fmla="*/ 142 w 283"/>
                <a:gd name="T1" fmla="*/ 0 h 283"/>
                <a:gd name="T2" fmla="*/ 283 w 283"/>
                <a:gd name="T3" fmla="*/ 142 h 283"/>
                <a:gd name="T4" fmla="*/ 142 w 283"/>
                <a:gd name="T5" fmla="*/ 283 h 283"/>
                <a:gd name="T6" fmla="*/ 0 w 283"/>
                <a:gd name="T7" fmla="*/ 142 h 283"/>
                <a:gd name="T8" fmla="*/ 142 w 283"/>
                <a:gd name="T9" fmla="*/ 0 h 283"/>
                <a:gd name="T10" fmla="*/ 142 w 283"/>
                <a:gd name="T11" fmla="*/ 6 h 283"/>
                <a:gd name="T12" fmla="*/ 6 w 283"/>
                <a:gd name="T13" fmla="*/ 142 h 283"/>
                <a:gd name="T14" fmla="*/ 142 w 283"/>
                <a:gd name="T15" fmla="*/ 277 h 283"/>
                <a:gd name="T16" fmla="*/ 278 w 283"/>
                <a:gd name="T17" fmla="*/ 142 h 283"/>
                <a:gd name="T18" fmla="*/ 142 w 283"/>
                <a:gd name="T19" fmla="*/ 6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3" h="283">
                  <a:moveTo>
                    <a:pt x="142" y="0"/>
                  </a:moveTo>
                  <a:cubicBezTo>
                    <a:pt x="220" y="0"/>
                    <a:pt x="283" y="64"/>
                    <a:pt x="283" y="142"/>
                  </a:cubicBezTo>
                  <a:cubicBezTo>
                    <a:pt x="283" y="219"/>
                    <a:pt x="220" y="283"/>
                    <a:pt x="142" y="283"/>
                  </a:cubicBezTo>
                  <a:cubicBezTo>
                    <a:pt x="64" y="283"/>
                    <a:pt x="0" y="219"/>
                    <a:pt x="0" y="142"/>
                  </a:cubicBezTo>
                  <a:cubicBezTo>
                    <a:pt x="0" y="64"/>
                    <a:pt x="64" y="0"/>
                    <a:pt x="142" y="0"/>
                  </a:cubicBezTo>
                  <a:moveTo>
                    <a:pt x="142" y="6"/>
                  </a:moveTo>
                  <a:cubicBezTo>
                    <a:pt x="67" y="6"/>
                    <a:pt x="6" y="67"/>
                    <a:pt x="6" y="142"/>
                  </a:cubicBezTo>
                  <a:cubicBezTo>
                    <a:pt x="6" y="216"/>
                    <a:pt x="67" y="277"/>
                    <a:pt x="142" y="277"/>
                  </a:cubicBezTo>
                  <a:cubicBezTo>
                    <a:pt x="217" y="277"/>
                    <a:pt x="278" y="216"/>
                    <a:pt x="278" y="142"/>
                  </a:cubicBezTo>
                  <a:cubicBezTo>
                    <a:pt x="278" y="67"/>
                    <a:pt x="217" y="6"/>
                    <a:pt x="142" y="6"/>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0" name="Freeform 106">
              <a:extLst>
                <a:ext uri="{FF2B5EF4-FFF2-40B4-BE49-F238E27FC236}">
                  <a16:creationId xmlns:a16="http://schemas.microsoft.com/office/drawing/2014/main" id="{C6EF5BF6-05E2-4F85-93D9-F0D1A10104EA}"/>
                </a:ext>
              </a:extLst>
            </p:cNvPr>
            <p:cNvSpPr>
              <a:spLocks/>
            </p:cNvSpPr>
            <p:nvPr userDrawn="1"/>
          </p:nvSpPr>
          <p:spPr bwMode="auto">
            <a:xfrm>
              <a:off x="4636079" y="2857359"/>
              <a:ext cx="1459664" cy="1308403"/>
            </a:xfrm>
            <a:custGeom>
              <a:avLst/>
              <a:gdLst>
                <a:gd name="T0" fmla="*/ 28 w 156"/>
                <a:gd name="T1" fmla="*/ 139 h 139"/>
                <a:gd name="T2" fmla="*/ 7 w 156"/>
                <a:gd name="T3" fmla="*/ 112 h 139"/>
                <a:gd name="T4" fmla="*/ 0 w 156"/>
                <a:gd name="T5" fmla="*/ 79 h 139"/>
                <a:gd name="T6" fmla="*/ 78 w 156"/>
                <a:gd name="T7" fmla="*/ 0 h 139"/>
                <a:gd name="T8" fmla="*/ 156 w 156"/>
                <a:gd name="T9" fmla="*/ 79 h 139"/>
                <a:gd name="T10" fmla="*/ 149 w 156"/>
                <a:gd name="T11" fmla="*/ 112 h 139"/>
                <a:gd name="T12" fmla="*/ 128 w 156"/>
                <a:gd name="T13" fmla="*/ 139 h 139"/>
                <a:gd name="T14" fmla="*/ 126 w 156"/>
                <a:gd name="T15" fmla="*/ 137 h 139"/>
                <a:gd name="T16" fmla="*/ 146 w 156"/>
                <a:gd name="T17" fmla="*/ 111 h 139"/>
                <a:gd name="T18" fmla="*/ 153 w 156"/>
                <a:gd name="T19" fmla="*/ 79 h 139"/>
                <a:gd name="T20" fmla="*/ 78 w 156"/>
                <a:gd name="T21" fmla="*/ 3 h 139"/>
                <a:gd name="T22" fmla="*/ 3 w 156"/>
                <a:gd name="T23" fmla="*/ 79 h 139"/>
                <a:gd name="T24" fmla="*/ 10 w 156"/>
                <a:gd name="T25" fmla="*/ 111 h 139"/>
                <a:gd name="T26" fmla="*/ 30 w 156"/>
                <a:gd name="T27" fmla="*/ 137 h 139"/>
                <a:gd name="T28" fmla="*/ 28 w 156"/>
                <a:gd name="T29" fmla="*/ 13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6" h="139">
                  <a:moveTo>
                    <a:pt x="28" y="139"/>
                  </a:moveTo>
                  <a:cubicBezTo>
                    <a:pt x="19" y="132"/>
                    <a:pt x="12" y="122"/>
                    <a:pt x="7" y="112"/>
                  </a:cubicBezTo>
                  <a:cubicBezTo>
                    <a:pt x="2" y="102"/>
                    <a:pt x="0" y="90"/>
                    <a:pt x="0" y="79"/>
                  </a:cubicBezTo>
                  <a:cubicBezTo>
                    <a:pt x="0" y="36"/>
                    <a:pt x="35" y="0"/>
                    <a:pt x="78" y="0"/>
                  </a:cubicBezTo>
                  <a:cubicBezTo>
                    <a:pt x="121" y="0"/>
                    <a:pt x="156" y="36"/>
                    <a:pt x="156" y="79"/>
                  </a:cubicBezTo>
                  <a:cubicBezTo>
                    <a:pt x="156" y="90"/>
                    <a:pt x="153" y="102"/>
                    <a:pt x="149" y="112"/>
                  </a:cubicBezTo>
                  <a:cubicBezTo>
                    <a:pt x="144" y="122"/>
                    <a:pt x="136" y="132"/>
                    <a:pt x="128" y="139"/>
                  </a:cubicBezTo>
                  <a:cubicBezTo>
                    <a:pt x="126" y="137"/>
                    <a:pt x="126" y="137"/>
                    <a:pt x="126" y="137"/>
                  </a:cubicBezTo>
                  <a:cubicBezTo>
                    <a:pt x="134" y="130"/>
                    <a:pt x="141" y="121"/>
                    <a:pt x="146" y="111"/>
                  </a:cubicBezTo>
                  <a:cubicBezTo>
                    <a:pt x="151" y="101"/>
                    <a:pt x="153" y="90"/>
                    <a:pt x="153" y="79"/>
                  </a:cubicBezTo>
                  <a:cubicBezTo>
                    <a:pt x="153" y="37"/>
                    <a:pt x="119" y="3"/>
                    <a:pt x="78" y="3"/>
                  </a:cubicBezTo>
                  <a:cubicBezTo>
                    <a:pt x="36" y="3"/>
                    <a:pt x="3" y="37"/>
                    <a:pt x="3" y="79"/>
                  </a:cubicBezTo>
                  <a:cubicBezTo>
                    <a:pt x="3" y="90"/>
                    <a:pt x="5" y="101"/>
                    <a:pt x="10" y="111"/>
                  </a:cubicBezTo>
                  <a:cubicBezTo>
                    <a:pt x="14" y="121"/>
                    <a:pt x="21" y="130"/>
                    <a:pt x="30" y="137"/>
                  </a:cubicBezTo>
                  <a:lnTo>
                    <a:pt x="28" y="13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3" name="Freeform 107">
              <a:extLst>
                <a:ext uri="{FF2B5EF4-FFF2-40B4-BE49-F238E27FC236}">
                  <a16:creationId xmlns:a16="http://schemas.microsoft.com/office/drawing/2014/main" id="{74A3CA29-3875-4FBF-B857-1E2AC5244835}"/>
                </a:ext>
              </a:extLst>
            </p:cNvPr>
            <p:cNvSpPr>
              <a:spLocks/>
            </p:cNvSpPr>
            <p:nvPr userDrawn="1"/>
          </p:nvSpPr>
          <p:spPr bwMode="auto">
            <a:xfrm>
              <a:off x="4174734" y="3825426"/>
              <a:ext cx="302521" cy="219328"/>
            </a:xfrm>
            <a:custGeom>
              <a:avLst/>
              <a:gdLst>
                <a:gd name="T0" fmla="*/ 8 w 40"/>
                <a:gd name="T1" fmla="*/ 29 h 29"/>
                <a:gd name="T2" fmla="*/ 0 w 40"/>
                <a:gd name="T3" fmla="*/ 10 h 29"/>
                <a:gd name="T4" fmla="*/ 4 w 40"/>
                <a:gd name="T5" fmla="*/ 9 h 29"/>
                <a:gd name="T6" fmla="*/ 35 w 40"/>
                <a:gd name="T7" fmla="*/ 14 h 29"/>
                <a:gd name="T8" fmla="*/ 30 w 40"/>
                <a:gd name="T9" fmla="*/ 1 h 29"/>
                <a:gd name="T10" fmla="*/ 34 w 40"/>
                <a:gd name="T11" fmla="*/ 0 h 29"/>
                <a:gd name="T12" fmla="*/ 40 w 40"/>
                <a:gd name="T13" fmla="*/ 16 h 29"/>
                <a:gd name="T14" fmla="*/ 36 w 40"/>
                <a:gd name="T15" fmla="*/ 17 h 29"/>
                <a:gd name="T16" fmla="*/ 7 w 40"/>
                <a:gd name="T17" fmla="*/ 14 h 29"/>
                <a:gd name="T18" fmla="*/ 12 w 40"/>
                <a:gd name="T19" fmla="*/ 27 h 29"/>
                <a:gd name="T20" fmla="*/ 8 w 40"/>
                <a:gd name="T21"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29">
                  <a:moveTo>
                    <a:pt x="8" y="29"/>
                  </a:moveTo>
                  <a:lnTo>
                    <a:pt x="0" y="10"/>
                  </a:lnTo>
                  <a:lnTo>
                    <a:pt x="4" y="9"/>
                  </a:lnTo>
                  <a:lnTo>
                    <a:pt x="35" y="14"/>
                  </a:lnTo>
                  <a:lnTo>
                    <a:pt x="30" y="1"/>
                  </a:lnTo>
                  <a:lnTo>
                    <a:pt x="34" y="0"/>
                  </a:lnTo>
                  <a:lnTo>
                    <a:pt x="40" y="16"/>
                  </a:lnTo>
                  <a:lnTo>
                    <a:pt x="36" y="17"/>
                  </a:lnTo>
                  <a:lnTo>
                    <a:pt x="7" y="14"/>
                  </a:lnTo>
                  <a:lnTo>
                    <a:pt x="12" y="27"/>
                  </a:lnTo>
                  <a:lnTo>
                    <a:pt x="8" y="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4" name="Freeform 108">
              <a:extLst>
                <a:ext uri="{FF2B5EF4-FFF2-40B4-BE49-F238E27FC236}">
                  <a16:creationId xmlns:a16="http://schemas.microsoft.com/office/drawing/2014/main" id="{8A6A3030-1B0B-45A3-8834-0E70378D460E}"/>
                </a:ext>
              </a:extLst>
            </p:cNvPr>
            <p:cNvSpPr>
              <a:spLocks/>
            </p:cNvSpPr>
            <p:nvPr userDrawn="1"/>
          </p:nvSpPr>
          <p:spPr bwMode="auto">
            <a:xfrm>
              <a:off x="4265491" y="3984249"/>
              <a:ext cx="287395" cy="234454"/>
            </a:xfrm>
            <a:custGeom>
              <a:avLst/>
              <a:gdLst>
                <a:gd name="T0" fmla="*/ 7 w 38"/>
                <a:gd name="T1" fmla="*/ 31 h 31"/>
                <a:gd name="T2" fmla="*/ 6 w 38"/>
                <a:gd name="T3" fmla="*/ 28 h 31"/>
                <a:gd name="T4" fmla="*/ 19 w 38"/>
                <a:gd name="T5" fmla="*/ 21 h 31"/>
                <a:gd name="T6" fmla="*/ 14 w 38"/>
                <a:gd name="T7" fmla="*/ 11 h 31"/>
                <a:gd name="T8" fmla="*/ 1 w 38"/>
                <a:gd name="T9" fmla="*/ 19 h 31"/>
                <a:gd name="T10" fmla="*/ 0 w 38"/>
                <a:gd name="T11" fmla="*/ 15 h 31"/>
                <a:gd name="T12" fmla="*/ 29 w 38"/>
                <a:gd name="T13" fmla="*/ 0 h 31"/>
                <a:gd name="T14" fmla="*/ 32 w 38"/>
                <a:gd name="T15" fmla="*/ 4 h 31"/>
                <a:gd name="T16" fmla="*/ 18 w 38"/>
                <a:gd name="T17" fmla="*/ 10 h 31"/>
                <a:gd name="T18" fmla="*/ 23 w 38"/>
                <a:gd name="T19" fmla="*/ 19 h 31"/>
                <a:gd name="T20" fmla="*/ 35 w 38"/>
                <a:gd name="T21" fmla="*/ 13 h 31"/>
                <a:gd name="T22" fmla="*/ 38 w 38"/>
                <a:gd name="T23" fmla="*/ 16 h 31"/>
                <a:gd name="T24" fmla="*/ 7 w 38"/>
                <a:gd name="T25"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1">
                  <a:moveTo>
                    <a:pt x="7" y="31"/>
                  </a:moveTo>
                  <a:lnTo>
                    <a:pt x="6" y="28"/>
                  </a:lnTo>
                  <a:lnTo>
                    <a:pt x="19" y="21"/>
                  </a:lnTo>
                  <a:lnTo>
                    <a:pt x="14" y="11"/>
                  </a:lnTo>
                  <a:lnTo>
                    <a:pt x="1" y="19"/>
                  </a:lnTo>
                  <a:lnTo>
                    <a:pt x="0" y="15"/>
                  </a:lnTo>
                  <a:lnTo>
                    <a:pt x="29" y="0"/>
                  </a:lnTo>
                  <a:lnTo>
                    <a:pt x="32" y="4"/>
                  </a:lnTo>
                  <a:lnTo>
                    <a:pt x="18" y="10"/>
                  </a:lnTo>
                  <a:lnTo>
                    <a:pt x="23" y="19"/>
                  </a:lnTo>
                  <a:lnTo>
                    <a:pt x="35" y="13"/>
                  </a:lnTo>
                  <a:lnTo>
                    <a:pt x="38" y="16"/>
                  </a:lnTo>
                  <a:lnTo>
                    <a:pt x="7" y="3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5" name="Freeform 109">
              <a:extLst>
                <a:ext uri="{FF2B5EF4-FFF2-40B4-BE49-F238E27FC236}">
                  <a16:creationId xmlns:a16="http://schemas.microsoft.com/office/drawing/2014/main" id="{FA0D935A-7038-4326-8E09-B9EC4B14CCCD}"/>
                </a:ext>
              </a:extLst>
            </p:cNvPr>
            <p:cNvSpPr>
              <a:spLocks/>
            </p:cNvSpPr>
            <p:nvPr userDrawn="1"/>
          </p:nvSpPr>
          <p:spPr bwMode="auto">
            <a:xfrm>
              <a:off x="4348684" y="4120384"/>
              <a:ext cx="287395" cy="249580"/>
            </a:xfrm>
            <a:custGeom>
              <a:avLst/>
              <a:gdLst>
                <a:gd name="T0" fmla="*/ 11 w 38"/>
                <a:gd name="T1" fmla="*/ 33 h 33"/>
                <a:gd name="T2" fmla="*/ 0 w 38"/>
                <a:gd name="T3" fmla="*/ 18 h 33"/>
                <a:gd name="T4" fmla="*/ 28 w 38"/>
                <a:gd name="T5" fmla="*/ 0 h 33"/>
                <a:gd name="T6" fmla="*/ 38 w 38"/>
                <a:gd name="T7" fmla="*/ 15 h 33"/>
                <a:gd name="T8" fmla="*/ 36 w 38"/>
                <a:gd name="T9" fmla="*/ 17 h 33"/>
                <a:gd name="T10" fmla="*/ 27 w 38"/>
                <a:gd name="T11" fmla="*/ 6 h 33"/>
                <a:gd name="T12" fmla="*/ 18 w 38"/>
                <a:gd name="T13" fmla="*/ 11 h 33"/>
                <a:gd name="T14" fmla="*/ 26 w 38"/>
                <a:gd name="T15" fmla="*/ 21 h 33"/>
                <a:gd name="T16" fmla="*/ 23 w 38"/>
                <a:gd name="T17" fmla="*/ 23 h 33"/>
                <a:gd name="T18" fmla="*/ 16 w 38"/>
                <a:gd name="T19" fmla="*/ 13 h 33"/>
                <a:gd name="T20" fmla="*/ 6 w 38"/>
                <a:gd name="T21" fmla="*/ 20 h 33"/>
                <a:gd name="T22" fmla="*/ 13 w 38"/>
                <a:gd name="T23" fmla="*/ 31 h 33"/>
                <a:gd name="T24" fmla="*/ 11 w 38"/>
                <a:gd name="T25"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3">
                  <a:moveTo>
                    <a:pt x="11" y="33"/>
                  </a:moveTo>
                  <a:lnTo>
                    <a:pt x="0" y="18"/>
                  </a:lnTo>
                  <a:lnTo>
                    <a:pt x="28" y="0"/>
                  </a:lnTo>
                  <a:lnTo>
                    <a:pt x="38" y="15"/>
                  </a:lnTo>
                  <a:lnTo>
                    <a:pt x="36" y="17"/>
                  </a:lnTo>
                  <a:lnTo>
                    <a:pt x="27" y="6"/>
                  </a:lnTo>
                  <a:lnTo>
                    <a:pt x="18" y="11"/>
                  </a:lnTo>
                  <a:lnTo>
                    <a:pt x="26" y="21"/>
                  </a:lnTo>
                  <a:lnTo>
                    <a:pt x="23" y="23"/>
                  </a:lnTo>
                  <a:lnTo>
                    <a:pt x="16" y="13"/>
                  </a:lnTo>
                  <a:lnTo>
                    <a:pt x="6" y="20"/>
                  </a:lnTo>
                  <a:lnTo>
                    <a:pt x="13" y="31"/>
                  </a:lnTo>
                  <a:lnTo>
                    <a:pt x="11" y="3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6" name="Freeform 110">
              <a:extLst>
                <a:ext uri="{FF2B5EF4-FFF2-40B4-BE49-F238E27FC236}">
                  <a16:creationId xmlns:a16="http://schemas.microsoft.com/office/drawing/2014/main" id="{9EBBCFEF-6D9B-4A6A-BA75-0855E648AFE0}"/>
                </a:ext>
              </a:extLst>
            </p:cNvPr>
            <p:cNvSpPr>
              <a:spLocks/>
            </p:cNvSpPr>
            <p:nvPr userDrawn="1"/>
          </p:nvSpPr>
          <p:spPr bwMode="auto">
            <a:xfrm>
              <a:off x="4583138" y="4332148"/>
              <a:ext cx="181513" cy="219328"/>
            </a:xfrm>
            <a:custGeom>
              <a:avLst/>
              <a:gdLst>
                <a:gd name="T0" fmla="*/ 3 w 24"/>
                <a:gd name="T1" fmla="*/ 29 h 29"/>
                <a:gd name="T2" fmla="*/ 0 w 24"/>
                <a:gd name="T3" fmla="*/ 26 h 29"/>
                <a:gd name="T4" fmla="*/ 21 w 24"/>
                <a:gd name="T5" fmla="*/ 0 h 29"/>
                <a:gd name="T6" fmla="*/ 24 w 24"/>
                <a:gd name="T7" fmla="*/ 3 h 29"/>
                <a:gd name="T8" fmla="*/ 3 w 24"/>
                <a:gd name="T9" fmla="*/ 29 h 29"/>
              </a:gdLst>
              <a:ahLst/>
              <a:cxnLst>
                <a:cxn ang="0">
                  <a:pos x="T0" y="T1"/>
                </a:cxn>
                <a:cxn ang="0">
                  <a:pos x="T2" y="T3"/>
                </a:cxn>
                <a:cxn ang="0">
                  <a:pos x="T4" y="T5"/>
                </a:cxn>
                <a:cxn ang="0">
                  <a:pos x="T6" y="T7"/>
                </a:cxn>
                <a:cxn ang="0">
                  <a:pos x="T8" y="T9"/>
                </a:cxn>
              </a:cxnLst>
              <a:rect l="0" t="0" r="r" b="b"/>
              <a:pathLst>
                <a:path w="24" h="29">
                  <a:moveTo>
                    <a:pt x="3" y="29"/>
                  </a:moveTo>
                  <a:lnTo>
                    <a:pt x="0" y="26"/>
                  </a:lnTo>
                  <a:lnTo>
                    <a:pt x="21" y="0"/>
                  </a:lnTo>
                  <a:lnTo>
                    <a:pt x="24" y="3"/>
                  </a:lnTo>
                  <a:lnTo>
                    <a:pt x="3" y="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7" name="Freeform 111">
              <a:extLst>
                <a:ext uri="{FF2B5EF4-FFF2-40B4-BE49-F238E27FC236}">
                  <a16:creationId xmlns:a16="http://schemas.microsoft.com/office/drawing/2014/main" id="{532838F4-8272-409B-AAFB-49782DF201C1}"/>
                </a:ext>
              </a:extLst>
            </p:cNvPr>
            <p:cNvSpPr>
              <a:spLocks noEditPoints="1"/>
            </p:cNvSpPr>
            <p:nvPr userDrawn="1"/>
          </p:nvSpPr>
          <p:spPr bwMode="auto">
            <a:xfrm>
              <a:off x="4643642" y="4392652"/>
              <a:ext cx="219328" cy="264706"/>
            </a:xfrm>
            <a:custGeom>
              <a:avLst/>
              <a:gdLst>
                <a:gd name="T0" fmla="*/ 11 w 29"/>
                <a:gd name="T1" fmla="*/ 32 h 35"/>
                <a:gd name="T2" fmla="*/ 16 w 29"/>
                <a:gd name="T3" fmla="*/ 23 h 35"/>
                <a:gd name="T4" fmla="*/ 11 w 29"/>
                <a:gd name="T5" fmla="*/ 20 h 35"/>
                <a:gd name="T6" fmla="*/ 3 w 29"/>
                <a:gd name="T7" fmla="*/ 27 h 35"/>
                <a:gd name="T8" fmla="*/ 0 w 29"/>
                <a:gd name="T9" fmla="*/ 25 h 35"/>
                <a:gd name="T10" fmla="*/ 24 w 29"/>
                <a:gd name="T11" fmla="*/ 0 h 35"/>
                <a:gd name="T12" fmla="*/ 29 w 29"/>
                <a:gd name="T13" fmla="*/ 2 h 35"/>
                <a:gd name="T14" fmla="*/ 16 w 29"/>
                <a:gd name="T15" fmla="*/ 35 h 35"/>
                <a:gd name="T16" fmla="*/ 11 w 29"/>
                <a:gd name="T17" fmla="*/ 32 h 35"/>
                <a:gd name="T18" fmla="*/ 19 w 29"/>
                <a:gd name="T19" fmla="*/ 18 h 35"/>
                <a:gd name="T20" fmla="*/ 24 w 29"/>
                <a:gd name="T21" fmla="*/ 7 h 35"/>
                <a:gd name="T22" fmla="*/ 23 w 29"/>
                <a:gd name="T23" fmla="*/ 6 h 35"/>
                <a:gd name="T24" fmla="*/ 14 w 29"/>
                <a:gd name="T25" fmla="*/ 16 h 35"/>
                <a:gd name="T26" fmla="*/ 19 w 29"/>
                <a:gd name="T2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35">
                  <a:moveTo>
                    <a:pt x="11" y="32"/>
                  </a:moveTo>
                  <a:lnTo>
                    <a:pt x="16" y="23"/>
                  </a:lnTo>
                  <a:lnTo>
                    <a:pt x="11" y="20"/>
                  </a:lnTo>
                  <a:lnTo>
                    <a:pt x="3" y="27"/>
                  </a:lnTo>
                  <a:lnTo>
                    <a:pt x="0" y="25"/>
                  </a:lnTo>
                  <a:lnTo>
                    <a:pt x="24" y="0"/>
                  </a:lnTo>
                  <a:lnTo>
                    <a:pt x="29" y="2"/>
                  </a:lnTo>
                  <a:lnTo>
                    <a:pt x="16" y="35"/>
                  </a:lnTo>
                  <a:lnTo>
                    <a:pt x="11" y="32"/>
                  </a:lnTo>
                  <a:close/>
                  <a:moveTo>
                    <a:pt x="19" y="18"/>
                  </a:moveTo>
                  <a:lnTo>
                    <a:pt x="24" y="7"/>
                  </a:lnTo>
                  <a:lnTo>
                    <a:pt x="23" y="6"/>
                  </a:lnTo>
                  <a:lnTo>
                    <a:pt x="14" y="16"/>
                  </a:lnTo>
                  <a:lnTo>
                    <a:pt x="19" y="1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8" name="Freeform 112">
              <a:extLst>
                <a:ext uri="{FF2B5EF4-FFF2-40B4-BE49-F238E27FC236}">
                  <a16:creationId xmlns:a16="http://schemas.microsoft.com/office/drawing/2014/main" id="{14976D5B-ADE0-4308-8B01-3778690342FA}"/>
                </a:ext>
              </a:extLst>
            </p:cNvPr>
            <p:cNvSpPr>
              <a:spLocks/>
            </p:cNvSpPr>
            <p:nvPr/>
          </p:nvSpPr>
          <p:spPr bwMode="auto">
            <a:xfrm>
              <a:off x="4794903" y="4438031"/>
              <a:ext cx="242017" cy="294958"/>
            </a:xfrm>
            <a:custGeom>
              <a:avLst/>
              <a:gdLst>
                <a:gd name="T0" fmla="*/ 16 w 32"/>
                <a:gd name="T1" fmla="*/ 39 h 39"/>
                <a:gd name="T2" fmla="*/ 13 w 32"/>
                <a:gd name="T3" fmla="*/ 36 h 39"/>
                <a:gd name="T4" fmla="*/ 15 w 32"/>
                <a:gd name="T5" fmla="*/ 12 h 39"/>
                <a:gd name="T6" fmla="*/ 5 w 32"/>
                <a:gd name="T7" fmla="*/ 32 h 39"/>
                <a:gd name="T8" fmla="*/ 0 w 32"/>
                <a:gd name="T9" fmla="*/ 30 h 39"/>
                <a:gd name="T10" fmla="*/ 16 w 32"/>
                <a:gd name="T11" fmla="*/ 0 h 39"/>
                <a:gd name="T12" fmla="*/ 20 w 32"/>
                <a:gd name="T13" fmla="*/ 1 h 39"/>
                <a:gd name="T14" fmla="*/ 19 w 32"/>
                <a:gd name="T15" fmla="*/ 25 h 39"/>
                <a:gd name="T16" fmla="*/ 29 w 32"/>
                <a:gd name="T17" fmla="*/ 5 h 39"/>
                <a:gd name="T18" fmla="*/ 32 w 32"/>
                <a:gd name="T19" fmla="*/ 7 h 39"/>
                <a:gd name="T20" fmla="*/ 16 w 32"/>
                <a:gd name="T21"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39">
                  <a:moveTo>
                    <a:pt x="16" y="39"/>
                  </a:moveTo>
                  <a:lnTo>
                    <a:pt x="13" y="36"/>
                  </a:lnTo>
                  <a:lnTo>
                    <a:pt x="15" y="12"/>
                  </a:lnTo>
                  <a:lnTo>
                    <a:pt x="5" y="32"/>
                  </a:lnTo>
                  <a:lnTo>
                    <a:pt x="0" y="30"/>
                  </a:lnTo>
                  <a:lnTo>
                    <a:pt x="16" y="0"/>
                  </a:lnTo>
                  <a:lnTo>
                    <a:pt x="20" y="1"/>
                  </a:lnTo>
                  <a:lnTo>
                    <a:pt x="19" y="25"/>
                  </a:lnTo>
                  <a:lnTo>
                    <a:pt x="29" y="5"/>
                  </a:lnTo>
                  <a:lnTo>
                    <a:pt x="32" y="7"/>
                  </a:lnTo>
                  <a:lnTo>
                    <a:pt x="16" y="3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9" name="Freeform 113">
              <a:extLst>
                <a:ext uri="{FF2B5EF4-FFF2-40B4-BE49-F238E27FC236}">
                  <a16:creationId xmlns:a16="http://schemas.microsoft.com/office/drawing/2014/main" id="{2AD8889C-7A54-43D5-A52C-D31B39B2F309}"/>
                </a:ext>
              </a:extLst>
            </p:cNvPr>
            <p:cNvSpPr>
              <a:spLocks/>
            </p:cNvSpPr>
            <p:nvPr userDrawn="1"/>
          </p:nvSpPr>
          <p:spPr bwMode="auto">
            <a:xfrm>
              <a:off x="4983978" y="4506098"/>
              <a:ext cx="173950" cy="272269"/>
            </a:xfrm>
            <a:custGeom>
              <a:avLst/>
              <a:gdLst>
                <a:gd name="T0" fmla="*/ 12 w 19"/>
                <a:gd name="T1" fmla="*/ 29 h 29"/>
                <a:gd name="T2" fmla="*/ 10 w 19"/>
                <a:gd name="T3" fmla="*/ 29 h 29"/>
                <a:gd name="T4" fmla="*/ 10 w 19"/>
                <a:gd name="T5" fmla="*/ 26 h 29"/>
                <a:gd name="T6" fmla="*/ 8 w 19"/>
                <a:gd name="T7" fmla="*/ 27 h 29"/>
                <a:gd name="T8" fmla="*/ 5 w 19"/>
                <a:gd name="T9" fmla="*/ 27 h 29"/>
                <a:gd name="T10" fmla="*/ 1 w 19"/>
                <a:gd name="T11" fmla="*/ 23 h 29"/>
                <a:gd name="T12" fmla="*/ 1 w 19"/>
                <a:gd name="T13" fmla="*/ 13 h 29"/>
                <a:gd name="T14" fmla="*/ 6 w 19"/>
                <a:gd name="T15" fmla="*/ 3 h 29"/>
                <a:gd name="T16" fmla="*/ 14 w 19"/>
                <a:gd name="T17" fmla="*/ 1 h 29"/>
                <a:gd name="T18" fmla="*/ 18 w 19"/>
                <a:gd name="T19" fmla="*/ 11 h 29"/>
                <a:gd name="T20" fmla="*/ 15 w 19"/>
                <a:gd name="T21" fmla="*/ 11 h 29"/>
                <a:gd name="T22" fmla="*/ 13 w 19"/>
                <a:gd name="T23" fmla="*/ 4 h 29"/>
                <a:gd name="T24" fmla="*/ 8 w 19"/>
                <a:gd name="T25" fmla="*/ 6 h 29"/>
                <a:gd name="T26" fmla="*/ 5 w 19"/>
                <a:gd name="T27" fmla="*/ 14 h 29"/>
                <a:gd name="T28" fmla="*/ 4 w 19"/>
                <a:gd name="T29" fmla="*/ 21 h 29"/>
                <a:gd name="T30" fmla="*/ 6 w 19"/>
                <a:gd name="T31" fmla="*/ 24 h 29"/>
                <a:gd name="T32" fmla="*/ 9 w 19"/>
                <a:gd name="T33" fmla="*/ 24 h 29"/>
                <a:gd name="T34" fmla="*/ 12 w 19"/>
                <a:gd name="T35" fmla="*/ 20 h 29"/>
                <a:gd name="T36" fmla="*/ 12 w 19"/>
                <a:gd name="T37" fmla="*/ 18 h 29"/>
                <a:gd name="T38" fmla="*/ 8 w 19"/>
                <a:gd name="T39" fmla="*/ 17 h 29"/>
                <a:gd name="T40" fmla="*/ 9 w 19"/>
                <a:gd name="T41" fmla="*/ 14 h 29"/>
                <a:gd name="T42" fmla="*/ 16 w 19"/>
                <a:gd name="T43" fmla="*/ 17 h 29"/>
                <a:gd name="T44" fmla="*/ 12 w 19"/>
                <a:gd name="T45"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29">
                  <a:moveTo>
                    <a:pt x="12" y="29"/>
                  </a:moveTo>
                  <a:cubicBezTo>
                    <a:pt x="10" y="29"/>
                    <a:pt x="10" y="29"/>
                    <a:pt x="10" y="29"/>
                  </a:cubicBezTo>
                  <a:cubicBezTo>
                    <a:pt x="10" y="26"/>
                    <a:pt x="10" y="26"/>
                    <a:pt x="10" y="26"/>
                  </a:cubicBezTo>
                  <a:cubicBezTo>
                    <a:pt x="9" y="27"/>
                    <a:pt x="9" y="27"/>
                    <a:pt x="8" y="27"/>
                  </a:cubicBezTo>
                  <a:cubicBezTo>
                    <a:pt x="7" y="27"/>
                    <a:pt x="6" y="27"/>
                    <a:pt x="5" y="27"/>
                  </a:cubicBezTo>
                  <a:cubicBezTo>
                    <a:pt x="3" y="26"/>
                    <a:pt x="2" y="25"/>
                    <a:pt x="1" y="23"/>
                  </a:cubicBezTo>
                  <a:cubicBezTo>
                    <a:pt x="0" y="20"/>
                    <a:pt x="0" y="17"/>
                    <a:pt x="1" y="13"/>
                  </a:cubicBezTo>
                  <a:cubicBezTo>
                    <a:pt x="3" y="8"/>
                    <a:pt x="4" y="5"/>
                    <a:pt x="6" y="3"/>
                  </a:cubicBezTo>
                  <a:cubicBezTo>
                    <a:pt x="9" y="1"/>
                    <a:pt x="12" y="0"/>
                    <a:pt x="14" y="1"/>
                  </a:cubicBezTo>
                  <a:cubicBezTo>
                    <a:pt x="17" y="2"/>
                    <a:pt x="19" y="6"/>
                    <a:pt x="18" y="11"/>
                  </a:cubicBezTo>
                  <a:cubicBezTo>
                    <a:pt x="15" y="11"/>
                    <a:pt x="15" y="11"/>
                    <a:pt x="15" y="11"/>
                  </a:cubicBezTo>
                  <a:cubicBezTo>
                    <a:pt x="16" y="9"/>
                    <a:pt x="15" y="5"/>
                    <a:pt x="13" y="4"/>
                  </a:cubicBezTo>
                  <a:cubicBezTo>
                    <a:pt x="11" y="4"/>
                    <a:pt x="9" y="4"/>
                    <a:pt x="8" y="6"/>
                  </a:cubicBezTo>
                  <a:cubicBezTo>
                    <a:pt x="7" y="7"/>
                    <a:pt x="6" y="10"/>
                    <a:pt x="5" y="14"/>
                  </a:cubicBezTo>
                  <a:cubicBezTo>
                    <a:pt x="4" y="17"/>
                    <a:pt x="3" y="20"/>
                    <a:pt x="4" y="21"/>
                  </a:cubicBezTo>
                  <a:cubicBezTo>
                    <a:pt x="4" y="23"/>
                    <a:pt x="5" y="24"/>
                    <a:pt x="6" y="24"/>
                  </a:cubicBezTo>
                  <a:cubicBezTo>
                    <a:pt x="7" y="25"/>
                    <a:pt x="9" y="25"/>
                    <a:pt x="9" y="24"/>
                  </a:cubicBezTo>
                  <a:cubicBezTo>
                    <a:pt x="10" y="23"/>
                    <a:pt x="11" y="22"/>
                    <a:pt x="12" y="20"/>
                  </a:cubicBezTo>
                  <a:cubicBezTo>
                    <a:pt x="12" y="18"/>
                    <a:pt x="12" y="18"/>
                    <a:pt x="12" y="18"/>
                  </a:cubicBezTo>
                  <a:cubicBezTo>
                    <a:pt x="8" y="17"/>
                    <a:pt x="8" y="17"/>
                    <a:pt x="8" y="17"/>
                  </a:cubicBezTo>
                  <a:cubicBezTo>
                    <a:pt x="9" y="14"/>
                    <a:pt x="9" y="14"/>
                    <a:pt x="9" y="14"/>
                  </a:cubicBezTo>
                  <a:cubicBezTo>
                    <a:pt x="16" y="17"/>
                    <a:pt x="16" y="17"/>
                    <a:pt x="16" y="17"/>
                  </a:cubicBezTo>
                  <a:lnTo>
                    <a:pt x="12" y="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21" name="Freeform 114">
              <a:extLst>
                <a:ext uri="{FF2B5EF4-FFF2-40B4-BE49-F238E27FC236}">
                  <a16:creationId xmlns:a16="http://schemas.microsoft.com/office/drawing/2014/main" id="{F9ADC5C7-AE4D-4181-B4E7-C308ED7B481C}"/>
                </a:ext>
              </a:extLst>
            </p:cNvPr>
            <p:cNvSpPr>
              <a:spLocks/>
            </p:cNvSpPr>
            <p:nvPr userDrawn="1"/>
          </p:nvSpPr>
          <p:spPr bwMode="auto">
            <a:xfrm>
              <a:off x="5301626" y="4543913"/>
              <a:ext cx="143698" cy="249580"/>
            </a:xfrm>
            <a:custGeom>
              <a:avLst/>
              <a:gdLst>
                <a:gd name="T0" fmla="*/ 15 w 15"/>
                <a:gd name="T1" fmla="*/ 19 h 27"/>
                <a:gd name="T2" fmla="*/ 13 w 15"/>
                <a:gd name="T3" fmla="*/ 25 h 27"/>
                <a:gd name="T4" fmla="*/ 7 w 15"/>
                <a:gd name="T5" fmla="*/ 27 h 27"/>
                <a:gd name="T6" fmla="*/ 1 w 15"/>
                <a:gd name="T7" fmla="*/ 25 h 27"/>
                <a:gd name="T8" fmla="*/ 0 w 15"/>
                <a:gd name="T9" fmla="*/ 19 h 27"/>
                <a:gd name="T10" fmla="*/ 0 w 15"/>
                <a:gd name="T11" fmla="*/ 0 h 27"/>
                <a:gd name="T12" fmla="*/ 4 w 15"/>
                <a:gd name="T13" fmla="*/ 0 h 27"/>
                <a:gd name="T14" fmla="*/ 3 w 15"/>
                <a:gd name="T15" fmla="*/ 19 h 27"/>
                <a:gd name="T16" fmla="*/ 4 w 15"/>
                <a:gd name="T17" fmla="*/ 23 h 27"/>
                <a:gd name="T18" fmla="*/ 7 w 15"/>
                <a:gd name="T19" fmla="*/ 24 h 27"/>
                <a:gd name="T20" fmla="*/ 10 w 15"/>
                <a:gd name="T21" fmla="*/ 23 h 27"/>
                <a:gd name="T22" fmla="*/ 11 w 15"/>
                <a:gd name="T23" fmla="*/ 19 h 27"/>
                <a:gd name="T24" fmla="*/ 12 w 15"/>
                <a:gd name="T25" fmla="*/ 0 h 27"/>
                <a:gd name="T26" fmla="*/ 15 w 15"/>
                <a:gd name="T27" fmla="*/ 0 h 27"/>
                <a:gd name="T28" fmla="*/ 15 w 15"/>
                <a:gd name="T29"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7">
                  <a:moveTo>
                    <a:pt x="15" y="19"/>
                  </a:moveTo>
                  <a:cubicBezTo>
                    <a:pt x="15" y="22"/>
                    <a:pt x="14" y="24"/>
                    <a:pt x="13" y="25"/>
                  </a:cubicBezTo>
                  <a:cubicBezTo>
                    <a:pt x="11" y="27"/>
                    <a:pt x="10" y="27"/>
                    <a:pt x="7" y="27"/>
                  </a:cubicBezTo>
                  <a:cubicBezTo>
                    <a:pt x="4" y="27"/>
                    <a:pt x="2" y="26"/>
                    <a:pt x="1" y="25"/>
                  </a:cubicBezTo>
                  <a:cubicBezTo>
                    <a:pt x="0" y="23"/>
                    <a:pt x="0" y="21"/>
                    <a:pt x="0" y="19"/>
                  </a:cubicBezTo>
                  <a:cubicBezTo>
                    <a:pt x="0" y="0"/>
                    <a:pt x="0" y="0"/>
                    <a:pt x="0" y="0"/>
                  </a:cubicBezTo>
                  <a:cubicBezTo>
                    <a:pt x="4" y="0"/>
                    <a:pt x="4" y="0"/>
                    <a:pt x="4" y="0"/>
                  </a:cubicBezTo>
                  <a:cubicBezTo>
                    <a:pt x="3" y="19"/>
                    <a:pt x="3" y="19"/>
                    <a:pt x="3" y="19"/>
                  </a:cubicBezTo>
                  <a:cubicBezTo>
                    <a:pt x="3" y="21"/>
                    <a:pt x="3" y="22"/>
                    <a:pt x="4" y="23"/>
                  </a:cubicBezTo>
                  <a:cubicBezTo>
                    <a:pt x="5" y="24"/>
                    <a:pt x="6" y="24"/>
                    <a:pt x="7" y="24"/>
                  </a:cubicBezTo>
                  <a:cubicBezTo>
                    <a:pt x="8" y="24"/>
                    <a:pt x="9" y="24"/>
                    <a:pt x="10" y="23"/>
                  </a:cubicBezTo>
                  <a:cubicBezTo>
                    <a:pt x="11" y="22"/>
                    <a:pt x="11" y="21"/>
                    <a:pt x="11" y="19"/>
                  </a:cubicBezTo>
                  <a:cubicBezTo>
                    <a:pt x="12" y="0"/>
                    <a:pt x="12" y="0"/>
                    <a:pt x="12" y="0"/>
                  </a:cubicBezTo>
                  <a:cubicBezTo>
                    <a:pt x="15" y="0"/>
                    <a:pt x="15" y="0"/>
                    <a:pt x="15" y="0"/>
                  </a:cubicBezTo>
                  <a:lnTo>
                    <a:pt x="15" y="1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22" name="Freeform 115">
              <a:extLst>
                <a:ext uri="{FF2B5EF4-FFF2-40B4-BE49-F238E27FC236}">
                  <a16:creationId xmlns:a16="http://schemas.microsoft.com/office/drawing/2014/main" id="{74DC3C10-2966-493A-A54D-90406DF61F66}"/>
                </a:ext>
              </a:extLst>
            </p:cNvPr>
            <p:cNvSpPr>
              <a:spLocks/>
            </p:cNvSpPr>
            <p:nvPr userDrawn="1"/>
          </p:nvSpPr>
          <p:spPr bwMode="auto">
            <a:xfrm>
              <a:off x="5460449" y="4521224"/>
              <a:ext cx="158824" cy="272269"/>
            </a:xfrm>
            <a:custGeom>
              <a:avLst/>
              <a:gdLst>
                <a:gd name="T0" fmla="*/ 21 w 21"/>
                <a:gd name="T1" fmla="*/ 33 h 36"/>
                <a:gd name="T2" fmla="*/ 17 w 21"/>
                <a:gd name="T3" fmla="*/ 34 h 36"/>
                <a:gd name="T4" fmla="*/ 5 w 21"/>
                <a:gd name="T5" fmla="*/ 11 h 36"/>
                <a:gd name="T6" fmla="*/ 8 w 21"/>
                <a:gd name="T7" fmla="*/ 35 h 36"/>
                <a:gd name="T8" fmla="*/ 3 w 21"/>
                <a:gd name="T9" fmla="*/ 36 h 36"/>
                <a:gd name="T10" fmla="*/ 0 w 21"/>
                <a:gd name="T11" fmla="*/ 3 h 36"/>
                <a:gd name="T12" fmla="*/ 5 w 21"/>
                <a:gd name="T13" fmla="*/ 1 h 36"/>
                <a:gd name="T14" fmla="*/ 15 w 21"/>
                <a:gd name="T15" fmla="*/ 18 h 36"/>
                <a:gd name="T16" fmla="*/ 12 w 21"/>
                <a:gd name="T17" fmla="*/ 0 h 36"/>
                <a:gd name="T18" fmla="*/ 16 w 21"/>
                <a:gd name="T19" fmla="*/ 0 h 36"/>
                <a:gd name="T20" fmla="*/ 21 w 21"/>
                <a:gd name="T21" fmla="*/ 3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36">
                  <a:moveTo>
                    <a:pt x="21" y="33"/>
                  </a:moveTo>
                  <a:lnTo>
                    <a:pt x="17" y="34"/>
                  </a:lnTo>
                  <a:lnTo>
                    <a:pt x="5" y="11"/>
                  </a:lnTo>
                  <a:lnTo>
                    <a:pt x="8" y="35"/>
                  </a:lnTo>
                  <a:lnTo>
                    <a:pt x="3" y="36"/>
                  </a:lnTo>
                  <a:lnTo>
                    <a:pt x="0" y="3"/>
                  </a:lnTo>
                  <a:lnTo>
                    <a:pt x="5" y="1"/>
                  </a:lnTo>
                  <a:lnTo>
                    <a:pt x="15" y="18"/>
                  </a:lnTo>
                  <a:lnTo>
                    <a:pt x="12" y="0"/>
                  </a:lnTo>
                  <a:lnTo>
                    <a:pt x="16" y="0"/>
                  </a:lnTo>
                  <a:lnTo>
                    <a:pt x="21" y="3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23" name="Freeform 116">
              <a:extLst>
                <a:ext uri="{FF2B5EF4-FFF2-40B4-BE49-F238E27FC236}">
                  <a16:creationId xmlns:a16="http://schemas.microsoft.com/office/drawing/2014/main" id="{7D19AB60-7877-47D3-B258-5CC5D3394B31}"/>
                </a:ext>
              </a:extLst>
            </p:cNvPr>
            <p:cNvSpPr>
              <a:spLocks/>
            </p:cNvSpPr>
            <p:nvPr userDrawn="1"/>
          </p:nvSpPr>
          <p:spPr bwMode="auto">
            <a:xfrm>
              <a:off x="5611710" y="4506098"/>
              <a:ext cx="105882" cy="249580"/>
            </a:xfrm>
            <a:custGeom>
              <a:avLst/>
              <a:gdLst>
                <a:gd name="T0" fmla="*/ 14 w 14"/>
                <a:gd name="T1" fmla="*/ 31 h 33"/>
                <a:gd name="T2" fmla="*/ 9 w 14"/>
                <a:gd name="T3" fmla="*/ 33 h 33"/>
                <a:gd name="T4" fmla="*/ 0 w 14"/>
                <a:gd name="T5" fmla="*/ 1 h 33"/>
                <a:gd name="T6" fmla="*/ 4 w 14"/>
                <a:gd name="T7" fmla="*/ 0 h 33"/>
                <a:gd name="T8" fmla="*/ 14 w 14"/>
                <a:gd name="T9" fmla="*/ 31 h 33"/>
              </a:gdLst>
              <a:ahLst/>
              <a:cxnLst>
                <a:cxn ang="0">
                  <a:pos x="T0" y="T1"/>
                </a:cxn>
                <a:cxn ang="0">
                  <a:pos x="T2" y="T3"/>
                </a:cxn>
                <a:cxn ang="0">
                  <a:pos x="T4" y="T5"/>
                </a:cxn>
                <a:cxn ang="0">
                  <a:pos x="T6" y="T7"/>
                </a:cxn>
                <a:cxn ang="0">
                  <a:pos x="T8" y="T9"/>
                </a:cxn>
              </a:cxnLst>
              <a:rect l="0" t="0" r="r" b="b"/>
              <a:pathLst>
                <a:path w="14" h="33">
                  <a:moveTo>
                    <a:pt x="14" y="31"/>
                  </a:moveTo>
                  <a:lnTo>
                    <a:pt x="9" y="33"/>
                  </a:lnTo>
                  <a:lnTo>
                    <a:pt x="0" y="1"/>
                  </a:lnTo>
                  <a:lnTo>
                    <a:pt x="4" y="0"/>
                  </a:lnTo>
                  <a:lnTo>
                    <a:pt x="14" y="3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24" name="Freeform 117">
              <a:extLst>
                <a:ext uri="{FF2B5EF4-FFF2-40B4-BE49-F238E27FC236}">
                  <a16:creationId xmlns:a16="http://schemas.microsoft.com/office/drawing/2014/main" id="{10EA4C77-ABB2-409A-8BA8-A3840B394FEE}"/>
                </a:ext>
              </a:extLst>
            </p:cNvPr>
            <p:cNvSpPr>
              <a:spLocks/>
            </p:cNvSpPr>
            <p:nvPr userDrawn="1"/>
          </p:nvSpPr>
          <p:spPr bwMode="auto">
            <a:xfrm>
              <a:off x="5664651" y="4438031"/>
              <a:ext cx="173950" cy="279832"/>
            </a:xfrm>
            <a:custGeom>
              <a:avLst/>
              <a:gdLst>
                <a:gd name="T0" fmla="*/ 18 w 23"/>
                <a:gd name="T1" fmla="*/ 0 h 37"/>
                <a:gd name="T2" fmla="*/ 23 w 23"/>
                <a:gd name="T3" fmla="*/ 35 h 37"/>
                <a:gd name="T4" fmla="*/ 19 w 23"/>
                <a:gd name="T5" fmla="*/ 37 h 37"/>
                <a:gd name="T6" fmla="*/ 0 w 23"/>
                <a:gd name="T7" fmla="*/ 7 h 37"/>
                <a:gd name="T8" fmla="*/ 4 w 23"/>
                <a:gd name="T9" fmla="*/ 6 h 37"/>
                <a:gd name="T10" fmla="*/ 18 w 23"/>
                <a:gd name="T11" fmla="*/ 26 h 37"/>
                <a:gd name="T12" fmla="*/ 14 w 23"/>
                <a:gd name="T13" fmla="*/ 1 h 37"/>
                <a:gd name="T14" fmla="*/ 18 w 23"/>
                <a:gd name="T15" fmla="*/ 0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7">
                  <a:moveTo>
                    <a:pt x="18" y="0"/>
                  </a:moveTo>
                  <a:lnTo>
                    <a:pt x="23" y="35"/>
                  </a:lnTo>
                  <a:lnTo>
                    <a:pt x="19" y="37"/>
                  </a:lnTo>
                  <a:lnTo>
                    <a:pt x="0" y="7"/>
                  </a:lnTo>
                  <a:lnTo>
                    <a:pt x="4" y="6"/>
                  </a:lnTo>
                  <a:lnTo>
                    <a:pt x="18" y="26"/>
                  </a:lnTo>
                  <a:lnTo>
                    <a:pt x="14" y="1"/>
                  </a:lnTo>
                  <a:lnTo>
                    <a:pt x="18"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25" name="Freeform 118">
              <a:extLst>
                <a:ext uri="{FF2B5EF4-FFF2-40B4-BE49-F238E27FC236}">
                  <a16:creationId xmlns:a16="http://schemas.microsoft.com/office/drawing/2014/main" id="{F5893858-415F-428D-A831-326ED5810C77}"/>
                </a:ext>
              </a:extLst>
            </p:cNvPr>
            <p:cNvSpPr>
              <a:spLocks/>
            </p:cNvSpPr>
            <p:nvPr userDrawn="1"/>
          </p:nvSpPr>
          <p:spPr bwMode="auto">
            <a:xfrm>
              <a:off x="5808348" y="4369963"/>
              <a:ext cx="249580" cy="287395"/>
            </a:xfrm>
            <a:custGeom>
              <a:avLst/>
              <a:gdLst>
                <a:gd name="T0" fmla="*/ 33 w 33"/>
                <a:gd name="T1" fmla="*/ 29 h 38"/>
                <a:gd name="T2" fmla="*/ 17 w 33"/>
                <a:gd name="T3" fmla="*/ 38 h 38"/>
                <a:gd name="T4" fmla="*/ 0 w 33"/>
                <a:gd name="T5" fmla="*/ 8 h 38"/>
                <a:gd name="T6" fmla="*/ 15 w 33"/>
                <a:gd name="T7" fmla="*/ 0 h 38"/>
                <a:gd name="T8" fmla="*/ 17 w 33"/>
                <a:gd name="T9" fmla="*/ 3 h 38"/>
                <a:gd name="T10" fmla="*/ 6 w 33"/>
                <a:gd name="T11" fmla="*/ 9 h 38"/>
                <a:gd name="T12" fmla="*/ 11 w 33"/>
                <a:gd name="T13" fmla="*/ 19 h 38"/>
                <a:gd name="T14" fmla="*/ 22 w 33"/>
                <a:gd name="T15" fmla="*/ 13 h 38"/>
                <a:gd name="T16" fmla="*/ 23 w 33"/>
                <a:gd name="T17" fmla="*/ 16 h 38"/>
                <a:gd name="T18" fmla="*/ 14 w 33"/>
                <a:gd name="T19" fmla="*/ 21 h 38"/>
                <a:gd name="T20" fmla="*/ 20 w 33"/>
                <a:gd name="T21" fmla="*/ 33 h 38"/>
                <a:gd name="T22" fmla="*/ 31 w 33"/>
                <a:gd name="T23" fmla="*/ 25 h 38"/>
                <a:gd name="T24" fmla="*/ 33 w 33"/>
                <a:gd name="T25" fmla="*/ 2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8">
                  <a:moveTo>
                    <a:pt x="33" y="29"/>
                  </a:moveTo>
                  <a:lnTo>
                    <a:pt x="17" y="38"/>
                  </a:lnTo>
                  <a:lnTo>
                    <a:pt x="0" y="8"/>
                  </a:lnTo>
                  <a:lnTo>
                    <a:pt x="15" y="0"/>
                  </a:lnTo>
                  <a:lnTo>
                    <a:pt x="17" y="3"/>
                  </a:lnTo>
                  <a:lnTo>
                    <a:pt x="6" y="9"/>
                  </a:lnTo>
                  <a:lnTo>
                    <a:pt x="11" y="19"/>
                  </a:lnTo>
                  <a:lnTo>
                    <a:pt x="22" y="13"/>
                  </a:lnTo>
                  <a:lnTo>
                    <a:pt x="23" y="16"/>
                  </a:lnTo>
                  <a:lnTo>
                    <a:pt x="14" y="21"/>
                  </a:lnTo>
                  <a:lnTo>
                    <a:pt x="20" y="33"/>
                  </a:lnTo>
                  <a:lnTo>
                    <a:pt x="31" y="25"/>
                  </a:lnTo>
                  <a:lnTo>
                    <a:pt x="33" y="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26" name="Freeform 119">
              <a:extLst>
                <a:ext uri="{FF2B5EF4-FFF2-40B4-BE49-F238E27FC236}">
                  <a16:creationId xmlns:a16="http://schemas.microsoft.com/office/drawing/2014/main" id="{5D21FEF0-573F-48FD-82AE-714F73D01D63}"/>
                </a:ext>
              </a:extLst>
            </p:cNvPr>
            <p:cNvSpPr>
              <a:spLocks noEditPoints="1"/>
            </p:cNvSpPr>
            <p:nvPr userDrawn="1"/>
          </p:nvSpPr>
          <p:spPr bwMode="auto">
            <a:xfrm>
              <a:off x="5936920" y="4309459"/>
              <a:ext cx="257143" cy="257143"/>
            </a:xfrm>
            <a:custGeom>
              <a:avLst/>
              <a:gdLst>
                <a:gd name="T0" fmla="*/ 27 w 27"/>
                <a:gd name="T1" fmla="*/ 20 h 28"/>
                <a:gd name="T2" fmla="*/ 24 w 27"/>
                <a:gd name="T3" fmla="*/ 22 h 28"/>
                <a:gd name="T4" fmla="*/ 15 w 27"/>
                <a:gd name="T5" fmla="*/ 14 h 28"/>
                <a:gd name="T6" fmla="*/ 12 w 27"/>
                <a:gd name="T7" fmla="*/ 17 h 28"/>
                <a:gd name="T8" fmla="*/ 19 w 27"/>
                <a:gd name="T9" fmla="*/ 26 h 28"/>
                <a:gd name="T10" fmla="*/ 16 w 27"/>
                <a:gd name="T11" fmla="*/ 28 h 28"/>
                <a:gd name="T12" fmla="*/ 0 w 27"/>
                <a:gd name="T13" fmla="*/ 6 h 28"/>
                <a:gd name="T14" fmla="*/ 5 w 27"/>
                <a:gd name="T15" fmla="*/ 2 h 28"/>
                <a:gd name="T16" fmla="*/ 11 w 27"/>
                <a:gd name="T17" fmla="*/ 0 h 28"/>
                <a:gd name="T18" fmla="*/ 18 w 27"/>
                <a:gd name="T19" fmla="*/ 8 h 28"/>
                <a:gd name="T20" fmla="*/ 17 w 27"/>
                <a:gd name="T21" fmla="*/ 12 h 28"/>
                <a:gd name="T22" fmla="*/ 27 w 27"/>
                <a:gd name="T23" fmla="*/ 20 h 28"/>
                <a:gd name="T24" fmla="*/ 10 w 27"/>
                <a:gd name="T25" fmla="*/ 4 h 28"/>
                <a:gd name="T26" fmla="*/ 5 w 27"/>
                <a:gd name="T27" fmla="*/ 6 h 28"/>
                <a:gd name="T28" fmla="*/ 10 w 27"/>
                <a:gd name="T29" fmla="*/ 13 h 28"/>
                <a:gd name="T30" fmla="*/ 14 w 27"/>
                <a:gd name="T31" fmla="*/ 10 h 28"/>
                <a:gd name="T32" fmla="*/ 10 w 27"/>
                <a:gd name="T33"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8">
                  <a:moveTo>
                    <a:pt x="27" y="20"/>
                  </a:moveTo>
                  <a:cubicBezTo>
                    <a:pt x="24" y="22"/>
                    <a:pt x="24" y="22"/>
                    <a:pt x="24" y="22"/>
                  </a:cubicBezTo>
                  <a:cubicBezTo>
                    <a:pt x="15" y="14"/>
                    <a:pt x="15" y="14"/>
                    <a:pt x="15" y="14"/>
                  </a:cubicBezTo>
                  <a:cubicBezTo>
                    <a:pt x="12" y="17"/>
                    <a:pt x="12" y="17"/>
                    <a:pt x="12" y="17"/>
                  </a:cubicBezTo>
                  <a:cubicBezTo>
                    <a:pt x="19" y="26"/>
                    <a:pt x="19" y="26"/>
                    <a:pt x="19" y="26"/>
                  </a:cubicBezTo>
                  <a:cubicBezTo>
                    <a:pt x="16" y="28"/>
                    <a:pt x="16" y="28"/>
                    <a:pt x="16" y="28"/>
                  </a:cubicBezTo>
                  <a:cubicBezTo>
                    <a:pt x="0" y="6"/>
                    <a:pt x="0" y="6"/>
                    <a:pt x="0" y="6"/>
                  </a:cubicBezTo>
                  <a:cubicBezTo>
                    <a:pt x="5" y="2"/>
                    <a:pt x="5" y="2"/>
                    <a:pt x="5" y="2"/>
                  </a:cubicBezTo>
                  <a:cubicBezTo>
                    <a:pt x="7" y="1"/>
                    <a:pt x="9" y="0"/>
                    <a:pt x="11" y="0"/>
                  </a:cubicBezTo>
                  <a:cubicBezTo>
                    <a:pt x="16" y="1"/>
                    <a:pt x="18" y="4"/>
                    <a:pt x="18" y="8"/>
                  </a:cubicBezTo>
                  <a:cubicBezTo>
                    <a:pt x="18" y="9"/>
                    <a:pt x="18" y="11"/>
                    <a:pt x="17" y="12"/>
                  </a:cubicBezTo>
                  <a:lnTo>
                    <a:pt x="27" y="20"/>
                  </a:lnTo>
                  <a:close/>
                  <a:moveTo>
                    <a:pt x="10" y="4"/>
                  </a:moveTo>
                  <a:cubicBezTo>
                    <a:pt x="8" y="3"/>
                    <a:pt x="6" y="5"/>
                    <a:pt x="5" y="6"/>
                  </a:cubicBezTo>
                  <a:cubicBezTo>
                    <a:pt x="10" y="13"/>
                    <a:pt x="10" y="13"/>
                    <a:pt x="10" y="13"/>
                  </a:cubicBezTo>
                  <a:cubicBezTo>
                    <a:pt x="12" y="12"/>
                    <a:pt x="12" y="12"/>
                    <a:pt x="14" y="10"/>
                  </a:cubicBezTo>
                  <a:cubicBezTo>
                    <a:pt x="14" y="7"/>
                    <a:pt x="13" y="5"/>
                    <a:pt x="10" y="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27" name="Freeform 120">
              <a:extLst>
                <a:ext uri="{FF2B5EF4-FFF2-40B4-BE49-F238E27FC236}">
                  <a16:creationId xmlns:a16="http://schemas.microsoft.com/office/drawing/2014/main" id="{3A8E9DDA-2C4F-4E92-8370-0CC50BE55AC2}"/>
                </a:ext>
              </a:extLst>
            </p:cNvPr>
            <p:cNvSpPr>
              <a:spLocks/>
            </p:cNvSpPr>
            <p:nvPr userDrawn="1"/>
          </p:nvSpPr>
          <p:spPr bwMode="auto">
            <a:xfrm>
              <a:off x="6073054" y="4196014"/>
              <a:ext cx="257143" cy="219328"/>
            </a:xfrm>
            <a:custGeom>
              <a:avLst/>
              <a:gdLst>
                <a:gd name="T0" fmla="*/ 22 w 28"/>
                <a:gd name="T1" fmla="*/ 10 h 24"/>
                <a:gd name="T2" fmla="*/ 19 w 28"/>
                <a:gd name="T3" fmla="*/ 24 h 24"/>
                <a:gd name="T4" fmla="*/ 14 w 28"/>
                <a:gd name="T5" fmla="*/ 23 h 24"/>
                <a:gd name="T6" fmla="*/ 15 w 28"/>
                <a:gd name="T7" fmla="*/ 20 h 24"/>
                <a:gd name="T8" fmla="*/ 18 w 28"/>
                <a:gd name="T9" fmla="*/ 21 h 24"/>
                <a:gd name="T10" fmla="*/ 20 w 28"/>
                <a:gd name="T11" fmla="*/ 13 h 24"/>
                <a:gd name="T12" fmla="*/ 17 w 28"/>
                <a:gd name="T13" fmla="*/ 12 h 24"/>
                <a:gd name="T14" fmla="*/ 8 w 28"/>
                <a:gd name="T15" fmla="*/ 15 h 24"/>
                <a:gd name="T16" fmla="*/ 0 w 28"/>
                <a:gd name="T17" fmla="*/ 9 h 24"/>
                <a:gd name="T18" fmla="*/ 2 w 28"/>
                <a:gd name="T19" fmla="*/ 4 h 24"/>
                <a:gd name="T20" fmla="*/ 11 w 28"/>
                <a:gd name="T21" fmla="*/ 2 h 24"/>
                <a:gd name="T22" fmla="*/ 10 w 28"/>
                <a:gd name="T23" fmla="*/ 5 h 24"/>
                <a:gd name="T24" fmla="*/ 4 w 28"/>
                <a:gd name="T25" fmla="*/ 6 h 24"/>
                <a:gd name="T26" fmla="*/ 3 w 28"/>
                <a:gd name="T27" fmla="*/ 9 h 24"/>
                <a:gd name="T28" fmla="*/ 7 w 28"/>
                <a:gd name="T29" fmla="*/ 12 h 24"/>
                <a:gd name="T30" fmla="*/ 17 w 28"/>
                <a:gd name="T31" fmla="*/ 9 h 24"/>
                <a:gd name="T32" fmla="*/ 22 w 28"/>
                <a:gd name="T33" fmla="*/ 1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 h="24">
                  <a:moveTo>
                    <a:pt x="22" y="10"/>
                  </a:moveTo>
                  <a:cubicBezTo>
                    <a:pt x="28" y="13"/>
                    <a:pt x="26" y="23"/>
                    <a:pt x="19" y="24"/>
                  </a:cubicBezTo>
                  <a:cubicBezTo>
                    <a:pt x="17" y="24"/>
                    <a:pt x="15" y="24"/>
                    <a:pt x="14" y="23"/>
                  </a:cubicBezTo>
                  <a:cubicBezTo>
                    <a:pt x="15" y="20"/>
                    <a:pt x="15" y="20"/>
                    <a:pt x="15" y="20"/>
                  </a:cubicBezTo>
                  <a:cubicBezTo>
                    <a:pt x="16" y="21"/>
                    <a:pt x="17" y="21"/>
                    <a:pt x="18" y="21"/>
                  </a:cubicBezTo>
                  <a:cubicBezTo>
                    <a:pt x="23" y="20"/>
                    <a:pt x="23" y="15"/>
                    <a:pt x="20" y="13"/>
                  </a:cubicBezTo>
                  <a:cubicBezTo>
                    <a:pt x="19" y="12"/>
                    <a:pt x="18" y="12"/>
                    <a:pt x="17" y="12"/>
                  </a:cubicBezTo>
                  <a:cubicBezTo>
                    <a:pt x="13" y="13"/>
                    <a:pt x="11" y="15"/>
                    <a:pt x="8" y="15"/>
                  </a:cubicBezTo>
                  <a:cubicBezTo>
                    <a:pt x="4" y="15"/>
                    <a:pt x="1" y="13"/>
                    <a:pt x="0" y="9"/>
                  </a:cubicBezTo>
                  <a:cubicBezTo>
                    <a:pt x="0" y="7"/>
                    <a:pt x="1" y="5"/>
                    <a:pt x="2" y="4"/>
                  </a:cubicBezTo>
                  <a:cubicBezTo>
                    <a:pt x="4" y="0"/>
                    <a:pt x="8" y="0"/>
                    <a:pt x="11" y="2"/>
                  </a:cubicBezTo>
                  <a:cubicBezTo>
                    <a:pt x="10" y="5"/>
                    <a:pt x="10" y="5"/>
                    <a:pt x="10" y="5"/>
                  </a:cubicBezTo>
                  <a:cubicBezTo>
                    <a:pt x="8" y="4"/>
                    <a:pt x="5" y="4"/>
                    <a:pt x="4" y="6"/>
                  </a:cubicBezTo>
                  <a:cubicBezTo>
                    <a:pt x="3" y="7"/>
                    <a:pt x="3" y="8"/>
                    <a:pt x="3" y="9"/>
                  </a:cubicBezTo>
                  <a:cubicBezTo>
                    <a:pt x="4" y="11"/>
                    <a:pt x="5" y="12"/>
                    <a:pt x="7" y="12"/>
                  </a:cubicBezTo>
                  <a:cubicBezTo>
                    <a:pt x="11" y="11"/>
                    <a:pt x="13" y="8"/>
                    <a:pt x="17" y="9"/>
                  </a:cubicBezTo>
                  <a:cubicBezTo>
                    <a:pt x="18" y="9"/>
                    <a:pt x="20" y="9"/>
                    <a:pt x="22" y="10"/>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28" name="Freeform 121">
              <a:extLst>
                <a:ext uri="{FF2B5EF4-FFF2-40B4-BE49-F238E27FC236}">
                  <a16:creationId xmlns:a16="http://schemas.microsoft.com/office/drawing/2014/main" id="{9CE66337-D592-4BE6-90D6-704CADAA212B}"/>
                </a:ext>
              </a:extLst>
            </p:cNvPr>
            <p:cNvSpPr>
              <a:spLocks/>
            </p:cNvSpPr>
            <p:nvPr userDrawn="1"/>
          </p:nvSpPr>
          <p:spPr bwMode="auto">
            <a:xfrm>
              <a:off x="6156248" y="4120384"/>
              <a:ext cx="234454" cy="158823"/>
            </a:xfrm>
            <a:custGeom>
              <a:avLst/>
              <a:gdLst>
                <a:gd name="T0" fmla="*/ 31 w 31"/>
                <a:gd name="T1" fmla="*/ 17 h 21"/>
                <a:gd name="T2" fmla="*/ 28 w 31"/>
                <a:gd name="T3" fmla="*/ 21 h 21"/>
                <a:gd name="T4" fmla="*/ 0 w 31"/>
                <a:gd name="T5" fmla="*/ 2 h 21"/>
                <a:gd name="T6" fmla="*/ 2 w 31"/>
                <a:gd name="T7" fmla="*/ 0 h 21"/>
                <a:gd name="T8" fmla="*/ 31 w 31"/>
                <a:gd name="T9" fmla="*/ 17 h 21"/>
              </a:gdLst>
              <a:ahLst/>
              <a:cxnLst>
                <a:cxn ang="0">
                  <a:pos x="T0" y="T1"/>
                </a:cxn>
                <a:cxn ang="0">
                  <a:pos x="T2" y="T3"/>
                </a:cxn>
                <a:cxn ang="0">
                  <a:pos x="T4" y="T5"/>
                </a:cxn>
                <a:cxn ang="0">
                  <a:pos x="T6" y="T7"/>
                </a:cxn>
                <a:cxn ang="0">
                  <a:pos x="T8" y="T9"/>
                </a:cxn>
              </a:cxnLst>
              <a:rect l="0" t="0" r="r" b="b"/>
              <a:pathLst>
                <a:path w="31" h="21">
                  <a:moveTo>
                    <a:pt x="31" y="17"/>
                  </a:moveTo>
                  <a:lnTo>
                    <a:pt x="28" y="21"/>
                  </a:lnTo>
                  <a:lnTo>
                    <a:pt x="0" y="2"/>
                  </a:lnTo>
                  <a:lnTo>
                    <a:pt x="2" y="0"/>
                  </a:lnTo>
                  <a:lnTo>
                    <a:pt x="31" y="1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29" name="Freeform 122">
              <a:extLst>
                <a:ext uri="{FF2B5EF4-FFF2-40B4-BE49-F238E27FC236}">
                  <a16:creationId xmlns:a16="http://schemas.microsoft.com/office/drawing/2014/main" id="{B843AF31-47DA-4453-971F-FF5E89F7F70E}"/>
                </a:ext>
              </a:extLst>
            </p:cNvPr>
            <p:cNvSpPr>
              <a:spLocks/>
            </p:cNvSpPr>
            <p:nvPr userDrawn="1"/>
          </p:nvSpPr>
          <p:spPr bwMode="auto">
            <a:xfrm>
              <a:off x="6194063" y="3953997"/>
              <a:ext cx="272269" cy="211765"/>
            </a:xfrm>
            <a:custGeom>
              <a:avLst/>
              <a:gdLst>
                <a:gd name="T0" fmla="*/ 11 w 36"/>
                <a:gd name="T1" fmla="*/ 3 h 28"/>
                <a:gd name="T2" fmla="*/ 8 w 36"/>
                <a:gd name="T3" fmla="*/ 9 h 28"/>
                <a:gd name="T4" fmla="*/ 36 w 36"/>
                <a:gd name="T5" fmla="*/ 25 h 28"/>
                <a:gd name="T6" fmla="*/ 33 w 36"/>
                <a:gd name="T7" fmla="*/ 28 h 28"/>
                <a:gd name="T8" fmla="*/ 6 w 36"/>
                <a:gd name="T9" fmla="*/ 13 h 28"/>
                <a:gd name="T10" fmla="*/ 3 w 36"/>
                <a:gd name="T11" fmla="*/ 18 h 28"/>
                <a:gd name="T12" fmla="*/ 0 w 36"/>
                <a:gd name="T13" fmla="*/ 17 h 28"/>
                <a:gd name="T14" fmla="*/ 7 w 36"/>
                <a:gd name="T15" fmla="*/ 0 h 28"/>
                <a:gd name="T16" fmla="*/ 11 w 36"/>
                <a:gd name="T17"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28">
                  <a:moveTo>
                    <a:pt x="11" y="3"/>
                  </a:moveTo>
                  <a:lnTo>
                    <a:pt x="8" y="9"/>
                  </a:lnTo>
                  <a:lnTo>
                    <a:pt x="36" y="25"/>
                  </a:lnTo>
                  <a:lnTo>
                    <a:pt x="33" y="28"/>
                  </a:lnTo>
                  <a:lnTo>
                    <a:pt x="6" y="13"/>
                  </a:lnTo>
                  <a:lnTo>
                    <a:pt x="3" y="18"/>
                  </a:lnTo>
                  <a:lnTo>
                    <a:pt x="0" y="17"/>
                  </a:lnTo>
                  <a:lnTo>
                    <a:pt x="7" y="0"/>
                  </a:lnTo>
                  <a:lnTo>
                    <a:pt x="11" y="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30" name="Freeform 123">
              <a:extLst>
                <a:ext uri="{FF2B5EF4-FFF2-40B4-BE49-F238E27FC236}">
                  <a16:creationId xmlns:a16="http://schemas.microsoft.com/office/drawing/2014/main" id="{E43294E8-EC60-4FC6-98A2-77968F2A96CD}"/>
                </a:ext>
              </a:extLst>
            </p:cNvPr>
            <p:cNvSpPr>
              <a:spLocks/>
            </p:cNvSpPr>
            <p:nvPr userDrawn="1"/>
          </p:nvSpPr>
          <p:spPr bwMode="auto">
            <a:xfrm>
              <a:off x="6254567" y="3810300"/>
              <a:ext cx="272269" cy="173950"/>
            </a:xfrm>
            <a:custGeom>
              <a:avLst/>
              <a:gdLst>
                <a:gd name="T0" fmla="*/ 8 w 36"/>
                <a:gd name="T1" fmla="*/ 0 h 23"/>
                <a:gd name="T2" fmla="*/ 25 w 36"/>
                <a:gd name="T3" fmla="*/ 14 h 23"/>
                <a:gd name="T4" fmla="*/ 36 w 36"/>
                <a:gd name="T5" fmla="*/ 19 h 23"/>
                <a:gd name="T6" fmla="*/ 34 w 36"/>
                <a:gd name="T7" fmla="*/ 23 h 23"/>
                <a:gd name="T8" fmla="*/ 24 w 36"/>
                <a:gd name="T9" fmla="*/ 18 h 23"/>
                <a:gd name="T10" fmla="*/ 0 w 36"/>
                <a:gd name="T11" fmla="*/ 18 h 23"/>
                <a:gd name="T12" fmla="*/ 2 w 36"/>
                <a:gd name="T13" fmla="*/ 14 h 23"/>
                <a:gd name="T14" fmla="*/ 18 w 36"/>
                <a:gd name="T15" fmla="*/ 14 h 23"/>
                <a:gd name="T16" fmla="*/ 7 w 36"/>
                <a:gd name="T17" fmla="*/ 5 h 23"/>
                <a:gd name="T18" fmla="*/ 8 w 36"/>
                <a:gd name="T1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23">
                  <a:moveTo>
                    <a:pt x="8" y="0"/>
                  </a:moveTo>
                  <a:lnTo>
                    <a:pt x="25" y="14"/>
                  </a:lnTo>
                  <a:lnTo>
                    <a:pt x="36" y="19"/>
                  </a:lnTo>
                  <a:lnTo>
                    <a:pt x="34" y="23"/>
                  </a:lnTo>
                  <a:lnTo>
                    <a:pt x="24" y="18"/>
                  </a:lnTo>
                  <a:lnTo>
                    <a:pt x="0" y="18"/>
                  </a:lnTo>
                  <a:lnTo>
                    <a:pt x="2" y="14"/>
                  </a:lnTo>
                  <a:lnTo>
                    <a:pt x="18" y="14"/>
                  </a:lnTo>
                  <a:lnTo>
                    <a:pt x="7" y="5"/>
                  </a:lnTo>
                  <a:lnTo>
                    <a:pt x="8"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31" name="Freeform 124">
              <a:extLst>
                <a:ext uri="{FF2B5EF4-FFF2-40B4-BE49-F238E27FC236}">
                  <a16:creationId xmlns:a16="http://schemas.microsoft.com/office/drawing/2014/main" id="{6C9AE238-B07C-4DD1-B7A2-E2583E1AAA37}"/>
                </a:ext>
              </a:extLst>
            </p:cNvPr>
            <p:cNvSpPr>
              <a:spLocks/>
            </p:cNvSpPr>
            <p:nvPr userDrawn="1"/>
          </p:nvSpPr>
          <p:spPr bwMode="auto">
            <a:xfrm>
              <a:off x="4462130" y="4286770"/>
              <a:ext cx="257143" cy="189076"/>
            </a:xfrm>
            <a:custGeom>
              <a:avLst/>
              <a:gdLst>
                <a:gd name="T0" fmla="*/ 14 w 28"/>
                <a:gd name="T1" fmla="*/ 16 h 20"/>
                <a:gd name="T2" fmla="*/ 8 w 28"/>
                <a:gd name="T3" fmla="*/ 20 h 20"/>
                <a:gd name="T4" fmla="*/ 2 w 28"/>
                <a:gd name="T5" fmla="*/ 17 h 20"/>
                <a:gd name="T6" fmla="*/ 0 w 28"/>
                <a:gd name="T7" fmla="*/ 12 h 20"/>
                <a:gd name="T8" fmla="*/ 1 w 28"/>
                <a:gd name="T9" fmla="*/ 9 h 20"/>
                <a:gd name="T10" fmla="*/ 4 w 28"/>
                <a:gd name="T11" fmla="*/ 10 h 20"/>
                <a:gd name="T12" fmla="*/ 3 w 28"/>
                <a:gd name="T13" fmla="*/ 12 h 20"/>
                <a:gd name="T14" fmla="*/ 4 w 28"/>
                <a:gd name="T15" fmla="*/ 15 h 20"/>
                <a:gd name="T16" fmla="*/ 8 w 28"/>
                <a:gd name="T17" fmla="*/ 16 h 20"/>
                <a:gd name="T18" fmla="*/ 12 w 28"/>
                <a:gd name="T19" fmla="*/ 14 h 20"/>
                <a:gd name="T20" fmla="*/ 25 w 28"/>
                <a:gd name="T21" fmla="*/ 0 h 20"/>
                <a:gd name="T22" fmla="*/ 28 w 28"/>
                <a:gd name="T23" fmla="*/ 3 h 20"/>
                <a:gd name="T24" fmla="*/ 14 w 28"/>
                <a:gd name="T25"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 h="20">
                  <a:moveTo>
                    <a:pt x="14" y="16"/>
                  </a:moveTo>
                  <a:cubicBezTo>
                    <a:pt x="12" y="18"/>
                    <a:pt x="10" y="20"/>
                    <a:pt x="8" y="20"/>
                  </a:cubicBezTo>
                  <a:cubicBezTo>
                    <a:pt x="6" y="20"/>
                    <a:pt x="4" y="19"/>
                    <a:pt x="2" y="17"/>
                  </a:cubicBezTo>
                  <a:cubicBezTo>
                    <a:pt x="1" y="16"/>
                    <a:pt x="0" y="14"/>
                    <a:pt x="0" y="12"/>
                  </a:cubicBezTo>
                  <a:cubicBezTo>
                    <a:pt x="0" y="11"/>
                    <a:pt x="0" y="10"/>
                    <a:pt x="1" y="9"/>
                  </a:cubicBezTo>
                  <a:cubicBezTo>
                    <a:pt x="4" y="10"/>
                    <a:pt x="4" y="10"/>
                    <a:pt x="4" y="10"/>
                  </a:cubicBezTo>
                  <a:cubicBezTo>
                    <a:pt x="3" y="11"/>
                    <a:pt x="3" y="11"/>
                    <a:pt x="3" y="12"/>
                  </a:cubicBezTo>
                  <a:cubicBezTo>
                    <a:pt x="3" y="13"/>
                    <a:pt x="4" y="14"/>
                    <a:pt x="4" y="15"/>
                  </a:cubicBezTo>
                  <a:cubicBezTo>
                    <a:pt x="5" y="16"/>
                    <a:pt x="6" y="16"/>
                    <a:pt x="8" y="16"/>
                  </a:cubicBezTo>
                  <a:cubicBezTo>
                    <a:pt x="9" y="16"/>
                    <a:pt x="10" y="15"/>
                    <a:pt x="12" y="14"/>
                  </a:cubicBezTo>
                  <a:cubicBezTo>
                    <a:pt x="25" y="0"/>
                    <a:pt x="25" y="0"/>
                    <a:pt x="25" y="0"/>
                  </a:cubicBezTo>
                  <a:cubicBezTo>
                    <a:pt x="28" y="3"/>
                    <a:pt x="28" y="3"/>
                    <a:pt x="28" y="3"/>
                  </a:cubicBezTo>
                  <a:lnTo>
                    <a:pt x="14" y="1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32" name="Freeform 125">
              <a:extLst>
                <a:ext uri="{FF2B5EF4-FFF2-40B4-BE49-F238E27FC236}">
                  <a16:creationId xmlns:a16="http://schemas.microsoft.com/office/drawing/2014/main" id="{3C9D1F14-488C-4523-B9D6-15B19B5EAFA5}"/>
                </a:ext>
              </a:extLst>
            </p:cNvPr>
            <p:cNvSpPr>
              <a:spLocks noEditPoints="1"/>
            </p:cNvSpPr>
            <p:nvPr userDrawn="1"/>
          </p:nvSpPr>
          <p:spPr bwMode="auto">
            <a:xfrm>
              <a:off x="4938600" y="4203577"/>
              <a:ext cx="801681" cy="249580"/>
            </a:xfrm>
            <a:custGeom>
              <a:avLst/>
              <a:gdLst>
                <a:gd name="T0" fmla="*/ 0 w 86"/>
                <a:gd name="T1" fmla="*/ 15 h 27"/>
                <a:gd name="T2" fmla="*/ 4 w 86"/>
                <a:gd name="T3" fmla="*/ 15 h 27"/>
                <a:gd name="T4" fmla="*/ 6 w 86"/>
                <a:gd name="T5" fmla="*/ 3 h 27"/>
                <a:gd name="T6" fmla="*/ 10 w 86"/>
                <a:gd name="T7" fmla="*/ 3 h 27"/>
                <a:gd name="T8" fmla="*/ 14 w 86"/>
                <a:gd name="T9" fmla="*/ 4 h 27"/>
                <a:gd name="T10" fmla="*/ 10 w 86"/>
                <a:gd name="T11" fmla="*/ 19 h 27"/>
                <a:gd name="T12" fmla="*/ 37 w 86"/>
                <a:gd name="T13" fmla="*/ 14 h 27"/>
                <a:gd name="T14" fmla="*/ 33 w 86"/>
                <a:gd name="T15" fmla="*/ 11 h 27"/>
                <a:gd name="T16" fmla="*/ 28 w 86"/>
                <a:gd name="T17" fmla="*/ 13 h 27"/>
                <a:gd name="T18" fmla="*/ 30 w 86"/>
                <a:gd name="T19" fmla="*/ 16 h 27"/>
                <a:gd name="T20" fmla="*/ 34 w 86"/>
                <a:gd name="T21" fmla="*/ 17 h 27"/>
                <a:gd name="T22" fmla="*/ 37 w 86"/>
                <a:gd name="T23" fmla="*/ 14 h 27"/>
                <a:gd name="T24" fmla="*/ 36 w 86"/>
                <a:gd name="T25" fmla="*/ 21 h 27"/>
                <a:gd name="T26" fmla="*/ 32 w 86"/>
                <a:gd name="T27" fmla="*/ 19 h 27"/>
                <a:gd name="T28" fmla="*/ 27 w 86"/>
                <a:gd name="T29" fmla="*/ 19 h 27"/>
                <a:gd name="T30" fmla="*/ 27 w 86"/>
                <a:gd name="T31" fmla="*/ 24 h 27"/>
                <a:gd name="T32" fmla="*/ 34 w 86"/>
                <a:gd name="T33" fmla="*/ 25 h 27"/>
                <a:gd name="T34" fmla="*/ 30 w 86"/>
                <a:gd name="T35" fmla="*/ 27 h 27"/>
                <a:gd name="T36" fmla="*/ 24 w 86"/>
                <a:gd name="T37" fmla="*/ 25 h 27"/>
                <a:gd name="T38" fmla="*/ 23 w 86"/>
                <a:gd name="T39" fmla="*/ 21 h 27"/>
                <a:gd name="T40" fmla="*/ 28 w 86"/>
                <a:gd name="T41" fmla="*/ 17 h 27"/>
                <a:gd name="T42" fmla="*/ 25 w 86"/>
                <a:gd name="T43" fmla="*/ 15 h 27"/>
                <a:gd name="T44" fmla="*/ 28 w 86"/>
                <a:gd name="T45" fmla="*/ 10 h 27"/>
                <a:gd name="T46" fmla="*/ 39 w 86"/>
                <a:gd name="T47" fmla="*/ 11 h 27"/>
                <a:gd name="T48" fmla="*/ 39 w 86"/>
                <a:gd name="T49" fmla="*/ 17 h 27"/>
                <a:gd name="T50" fmla="*/ 36 w 86"/>
                <a:gd name="T51" fmla="*/ 18 h 27"/>
                <a:gd name="T52" fmla="*/ 39 w 86"/>
                <a:gd name="T53" fmla="*/ 23 h 27"/>
                <a:gd name="T54" fmla="*/ 30 w 86"/>
                <a:gd name="T55" fmla="*/ 27 h 27"/>
                <a:gd name="T56" fmla="*/ 62 w 86"/>
                <a:gd name="T57" fmla="*/ 14 h 27"/>
                <a:gd name="T58" fmla="*/ 59 w 86"/>
                <a:gd name="T59" fmla="*/ 11 h 27"/>
                <a:gd name="T60" fmla="*/ 54 w 86"/>
                <a:gd name="T61" fmla="*/ 12 h 27"/>
                <a:gd name="T62" fmla="*/ 53 w 86"/>
                <a:gd name="T63" fmla="*/ 17 h 27"/>
                <a:gd name="T64" fmla="*/ 56 w 86"/>
                <a:gd name="T65" fmla="*/ 19 h 27"/>
                <a:gd name="T66" fmla="*/ 60 w 86"/>
                <a:gd name="T67" fmla="*/ 18 h 27"/>
                <a:gd name="T68" fmla="*/ 63 w 86"/>
                <a:gd name="T69" fmla="*/ 17 h 27"/>
                <a:gd name="T70" fmla="*/ 50 w 86"/>
                <a:gd name="T71" fmla="*/ 15 h 27"/>
                <a:gd name="T72" fmla="*/ 52 w 86"/>
                <a:gd name="T73" fmla="*/ 11 h 27"/>
                <a:gd name="T74" fmla="*/ 58 w 86"/>
                <a:gd name="T75" fmla="*/ 9 h 27"/>
                <a:gd name="T76" fmla="*/ 63 w 86"/>
                <a:gd name="T77" fmla="*/ 11 h 27"/>
                <a:gd name="T78" fmla="*/ 66 w 86"/>
                <a:gd name="T79" fmla="*/ 17 h 27"/>
                <a:gd name="T80" fmla="*/ 63 w 86"/>
                <a:gd name="T81" fmla="*/ 24 h 27"/>
                <a:gd name="T82" fmla="*/ 55 w 86"/>
                <a:gd name="T83" fmla="*/ 27 h 27"/>
                <a:gd name="T84" fmla="*/ 52 w 86"/>
                <a:gd name="T85" fmla="*/ 27 h 27"/>
                <a:gd name="T86" fmla="*/ 52 w 86"/>
                <a:gd name="T87" fmla="*/ 25 h 27"/>
                <a:gd name="T88" fmla="*/ 55 w 86"/>
                <a:gd name="T89" fmla="*/ 25 h 27"/>
                <a:gd name="T90" fmla="*/ 62 w 86"/>
                <a:gd name="T91" fmla="*/ 19 h 27"/>
                <a:gd name="T92" fmla="*/ 57 w 86"/>
                <a:gd name="T93" fmla="*/ 21 h 27"/>
                <a:gd name="T94" fmla="*/ 52 w 86"/>
                <a:gd name="T95" fmla="*/ 20 h 27"/>
                <a:gd name="T96" fmla="*/ 50 w 86"/>
                <a:gd name="T97" fmla="*/ 15 h 27"/>
                <a:gd name="T98" fmla="*/ 86 w 86"/>
                <a:gd name="T99" fmla="*/ 18 h 27"/>
                <a:gd name="T100" fmla="*/ 83 w 86"/>
                <a:gd name="T101" fmla="*/ 3 h 27"/>
                <a:gd name="T102" fmla="*/ 72 w 86"/>
                <a:gd name="T103" fmla="*/ 6 h 27"/>
                <a:gd name="T104" fmla="*/ 86 w 86"/>
                <a:gd name="T105"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6" h="27">
                  <a:moveTo>
                    <a:pt x="9" y="20"/>
                  </a:moveTo>
                  <a:cubicBezTo>
                    <a:pt x="0" y="15"/>
                    <a:pt x="0" y="15"/>
                    <a:pt x="0" y="15"/>
                  </a:cubicBezTo>
                  <a:cubicBezTo>
                    <a:pt x="0" y="13"/>
                    <a:pt x="0" y="13"/>
                    <a:pt x="0" y="13"/>
                  </a:cubicBezTo>
                  <a:cubicBezTo>
                    <a:pt x="4" y="15"/>
                    <a:pt x="4" y="15"/>
                    <a:pt x="4" y="15"/>
                  </a:cubicBezTo>
                  <a:cubicBezTo>
                    <a:pt x="10" y="5"/>
                    <a:pt x="10" y="5"/>
                    <a:pt x="10" y="5"/>
                  </a:cubicBezTo>
                  <a:cubicBezTo>
                    <a:pt x="6" y="3"/>
                    <a:pt x="6" y="3"/>
                    <a:pt x="6" y="3"/>
                  </a:cubicBezTo>
                  <a:cubicBezTo>
                    <a:pt x="7" y="2"/>
                    <a:pt x="7" y="2"/>
                    <a:pt x="7" y="2"/>
                  </a:cubicBezTo>
                  <a:cubicBezTo>
                    <a:pt x="8" y="3"/>
                    <a:pt x="9" y="3"/>
                    <a:pt x="10" y="3"/>
                  </a:cubicBezTo>
                  <a:cubicBezTo>
                    <a:pt x="11" y="3"/>
                    <a:pt x="11" y="3"/>
                    <a:pt x="12" y="2"/>
                  </a:cubicBezTo>
                  <a:cubicBezTo>
                    <a:pt x="14" y="4"/>
                    <a:pt x="14" y="4"/>
                    <a:pt x="14" y="4"/>
                  </a:cubicBezTo>
                  <a:cubicBezTo>
                    <a:pt x="6" y="17"/>
                    <a:pt x="6" y="17"/>
                    <a:pt x="6" y="17"/>
                  </a:cubicBezTo>
                  <a:cubicBezTo>
                    <a:pt x="10" y="19"/>
                    <a:pt x="10" y="19"/>
                    <a:pt x="10" y="19"/>
                  </a:cubicBezTo>
                  <a:lnTo>
                    <a:pt x="9" y="20"/>
                  </a:lnTo>
                  <a:close/>
                  <a:moveTo>
                    <a:pt x="37" y="14"/>
                  </a:moveTo>
                  <a:cubicBezTo>
                    <a:pt x="37" y="14"/>
                    <a:pt x="37" y="13"/>
                    <a:pt x="36" y="12"/>
                  </a:cubicBezTo>
                  <a:cubicBezTo>
                    <a:pt x="36" y="12"/>
                    <a:pt x="35" y="11"/>
                    <a:pt x="33" y="11"/>
                  </a:cubicBezTo>
                  <a:cubicBezTo>
                    <a:pt x="32" y="11"/>
                    <a:pt x="31" y="11"/>
                    <a:pt x="30" y="11"/>
                  </a:cubicBezTo>
                  <a:cubicBezTo>
                    <a:pt x="29" y="12"/>
                    <a:pt x="29" y="12"/>
                    <a:pt x="28" y="13"/>
                  </a:cubicBezTo>
                  <a:cubicBezTo>
                    <a:pt x="28" y="14"/>
                    <a:pt x="28" y="14"/>
                    <a:pt x="29" y="15"/>
                  </a:cubicBezTo>
                  <a:cubicBezTo>
                    <a:pt x="29" y="15"/>
                    <a:pt x="30" y="15"/>
                    <a:pt x="30" y="16"/>
                  </a:cubicBezTo>
                  <a:cubicBezTo>
                    <a:pt x="31" y="16"/>
                    <a:pt x="31" y="16"/>
                    <a:pt x="32" y="17"/>
                  </a:cubicBezTo>
                  <a:cubicBezTo>
                    <a:pt x="33" y="17"/>
                    <a:pt x="33" y="17"/>
                    <a:pt x="34" y="17"/>
                  </a:cubicBezTo>
                  <a:cubicBezTo>
                    <a:pt x="35" y="17"/>
                    <a:pt x="36" y="17"/>
                    <a:pt x="36" y="16"/>
                  </a:cubicBezTo>
                  <a:cubicBezTo>
                    <a:pt x="37" y="16"/>
                    <a:pt x="37" y="15"/>
                    <a:pt x="37" y="14"/>
                  </a:cubicBezTo>
                  <a:moveTo>
                    <a:pt x="36" y="23"/>
                  </a:moveTo>
                  <a:cubicBezTo>
                    <a:pt x="36" y="22"/>
                    <a:pt x="36" y="22"/>
                    <a:pt x="36" y="21"/>
                  </a:cubicBezTo>
                  <a:cubicBezTo>
                    <a:pt x="35" y="21"/>
                    <a:pt x="34" y="20"/>
                    <a:pt x="33" y="20"/>
                  </a:cubicBezTo>
                  <a:cubicBezTo>
                    <a:pt x="33" y="19"/>
                    <a:pt x="33" y="19"/>
                    <a:pt x="32" y="19"/>
                  </a:cubicBezTo>
                  <a:cubicBezTo>
                    <a:pt x="31" y="19"/>
                    <a:pt x="31" y="18"/>
                    <a:pt x="30" y="18"/>
                  </a:cubicBezTo>
                  <a:cubicBezTo>
                    <a:pt x="29" y="18"/>
                    <a:pt x="28" y="19"/>
                    <a:pt x="27" y="19"/>
                  </a:cubicBezTo>
                  <a:cubicBezTo>
                    <a:pt x="27" y="20"/>
                    <a:pt x="26" y="20"/>
                    <a:pt x="26" y="21"/>
                  </a:cubicBezTo>
                  <a:cubicBezTo>
                    <a:pt x="26" y="22"/>
                    <a:pt x="26" y="23"/>
                    <a:pt x="27" y="24"/>
                  </a:cubicBezTo>
                  <a:cubicBezTo>
                    <a:pt x="28" y="25"/>
                    <a:pt x="29" y="25"/>
                    <a:pt x="30" y="25"/>
                  </a:cubicBezTo>
                  <a:cubicBezTo>
                    <a:pt x="32" y="26"/>
                    <a:pt x="33" y="25"/>
                    <a:pt x="34" y="25"/>
                  </a:cubicBezTo>
                  <a:cubicBezTo>
                    <a:pt x="35" y="24"/>
                    <a:pt x="36" y="24"/>
                    <a:pt x="36" y="23"/>
                  </a:cubicBezTo>
                  <a:moveTo>
                    <a:pt x="30" y="27"/>
                  </a:moveTo>
                  <a:cubicBezTo>
                    <a:pt x="29" y="27"/>
                    <a:pt x="28" y="27"/>
                    <a:pt x="27" y="26"/>
                  </a:cubicBezTo>
                  <a:cubicBezTo>
                    <a:pt x="26" y="26"/>
                    <a:pt x="25" y="25"/>
                    <a:pt x="24" y="25"/>
                  </a:cubicBezTo>
                  <a:cubicBezTo>
                    <a:pt x="23" y="24"/>
                    <a:pt x="23" y="24"/>
                    <a:pt x="23" y="23"/>
                  </a:cubicBezTo>
                  <a:cubicBezTo>
                    <a:pt x="23" y="22"/>
                    <a:pt x="22" y="21"/>
                    <a:pt x="23" y="21"/>
                  </a:cubicBezTo>
                  <a:cubicBezTo>
                    <a:pt x="23" y="20"/>
                    <a:pt x="23" y="19"/>
                    <a:pt x="24" y="18"/>
                  </a:cubicBezTo>
                  <a:cubicBezTo>
                    <a:pt x="25" y="18"/>
                    <a:pt x="26" y="17"/>
                    <a:pt x="28" y="17"/>
                  </a:cubicBezTo>
                  <a:cubicBezTo>
                    <a:pt x="28" y="17"/>
                    <a:pt x="28" y="17"/>
                    <a:pt x="28" y="17"/>
                  </a:cubicBezTo>
                  <a:cubicBezTo>
                    <a:pt x="27" y="16"/>
                    <a:pt x="26" y="16"/>
                    <a:pt x="25" y="15"/>
                  </a:cubicBezTo>
                  <a:cubicBezTo>
                    <a:pt x="25" y="14"/>
                    <a:pt x="25" y="14"/>
                    <a:pt x="25" y="13"/>
                  </a:cubicBezTo>
                  <a:cubicBezTo>
                    <a:pt x="25" y="12"/>
                    <a:pt x="26" y="11"/>
                    <a:pt x="28" y="10"/>
                  </a:cubicBezTo>
                  <a:cubicBezTo>
                    <a:pt x="29" y="9"/>
                    <a:pt x="31" y="9"/>
                    <a:pt x="34" y="10"/>
                  </a:cubicBezTo>
                  <a:cubicBezTo>
                    <a:pt x="36" y="10"/>
                    <a:pt x="38" y="10"/>
                    <a:pt x="39" y="11"/>
                  </a:cubicBezTo>
                  <a:cubicBezTo>
                    <a:pt x="40" y="12"/>
                    <a:pt x="41" y="14"/>
                    <a:pt x="40" y="15"/>
                  </a:cubicBezTo>
                  <a:cubicBezTo>
                    <a:pt x="40" y="16"/>
                    <a:pt x="40" y="16"/>
                    <a:pt x="39" y="17"/>
                  </a:cubicBezTo>
                  <a:cubicBezTo>
                    <a:pt x="38" y="18"/>
                    <a:pt x="37" y="18"/>
                    <a:pt x="36" y="18"/>
                  </a:cubicBezTo>
                  <a:cubicBezTo>
                    <a:pt x="36" y="18"/>
                    <a:pt x="36" y="18"/>
                    <a:pt x="36" y="18"/>
                  </a:cubicBezTo>
                  <a:cubicBezTo>
                    <a:pt x="37" y="19"/>
                    <a:pt x="38" y="20"/>
                    <a:pt x="39" y="20"/>
                  </a:cubicBezTo>
                  <a:cubicBezTo>
                    <a:pt x="39" y="21"/>
                    <a:pt x="40" y="22"/>
                    <a:pt x="39" y="23"/>
                  </a:cubicBezTo>
                  <a:cubicBezTo>
                    <a:pt x="39" y="25"/>
                    <a:pt x="38" y="26"/>
                    <a:pt x="36" y="26"/>
                  </a:cubicBezTo>
                  <a:cubicBezTo>
                    <a:pt x="34" y="27"/>
                    <a:pt x="32" y="27"/>
                    <a:pt x="30" y="27"/>
                  </a:cubicBezTo>
                  <a:moveTo>
                    <a:pt x="63" y="17"/>
                  </a:moveTo>
                  <a:cubicBezTo>
                    <a:pt x="63" y="15"/>
                    <a:pt x="62" y="15"/>
                    <a:pt x="62" y="14"/>
                  </a:cubicBezTo>
                  <a:cubicBezTo>
                    <a:pt x="62" y="13"/>
                    <a:pt x="61" y="13"/>
                    <a:pt x="61" y="12"/>
                  </a:cubicBezTo>
                  <a:cubicBezTo>
                    <a:pt x="60" y="12"/>
                    <a:pt x="60" y="12"/>
                    <a:pt x="59" y="11"/>
                  </a:cubicBezTo>
                  <a:cubicBezTo>
                    <a:pt x="59" y="11"/>
                    <a:pt x="58" y="11"/>
                    <a:pt x="58" y="11"/>
                  </a:cubicBezTo>
                  <a:cubicBezTo>
                    <a:pt x="56" y="11"/>
                    <a:pt x="55" y="12"/>
                    <a:pt x="54" y="12"/>
                  </a:cubicBezTo>
                  <a:cubicBezTo>
                    <a:pt x="53" y="13"/>
                    <a:pt x="53" y="14"/>
                    <a:pt x="53" y="15"/>
                  </a:cubicBezTo>
                  <a:cubicBezTo>
                    <a:pt x="53" y="16"/>
                    <a:pt x="53" y="16"/>
                    <a:pt x="53" y="17"/>
                  </a:cubicBezTo>
                  <a:cubicBezTo>
                    <a:pt x="54" y="17"/>
                    <a:pt x="54" y="18"/>
                    <a:pt x="55" y="18"/>
                  </a:cubicBezTo>
                  <a:cubicBezTo>
                    <a:pt x="55" y="18"/>
                    <a:pt x="56" y="18"/>
                    <a:pt x="56" y="19"/>
                  </a:cubicBezTo>
                  <a:cubicBezTo>
                    <a:pt x="57" y="19"/>
                    <a:pt x="57" y="19"/>
                    <a:pt x="58" y="19"/>
                  </a:cubicBezTo>
                  <a:cubicBezTo>
                    <a:pt x="59" y="19"/>
                    <a:pt x="59" y="19"/>
                    <a:pt x="60" y="18"/>
                  </a:cubicBezTo>
                  <a:cubicBezTo>
                    <a:pt x="61" y="18"/>
                    <a:pt x="62" y="18"/>
                    <a:pt x="62" y="18"/>
                  </a:cubicBezTo>
                  <a:cubicBezTo>
                    <a:pt x="63" y="18"/>
                    <a:pt x="63" y="17"/>
                    <a:pt x="63" y="17"/>
                  </a:cubicBezTo>
                  <a:cubicBezTo>
                    <a:pt x="63" y="17"/>
                    <a:pt x="63" y="17"/>
                    <a:pt x="63" y="17"/>
                  </a:cubicBezTo>
                  <a:moveTo>
                    <a:pt x="50" y="15"/>
                  </a:moveTo>
                  <a:cubicBezTo>
                    <a:pt x="50" y="14"/>
                    <a:pt x="50" y="14"/>
                    <a:pt x="50" y="13"/>
                  </a:cubicBezTo>
                  <a:cubicBezTo>
                    <a:pt x="51" y="12"/>
                    <a:pt x="51" y="11"/>
                    <a:pt x="52" y="11"/>
                  </a:cubicBezTo>
                  <a:cubicBezTo>
                    <a:pt x="53" y="10"/>
                    <a:pt x="53" y="10"/>
                    <a:pt x="55" y="10"/>
                  </a:cubicBezTo>
                  <a:cubicBezTo>
                    <a:pt x="56" y="9"/>
                    <a:pt x="57" y="9"/>
                    <a:pt x="58" y="9"/>
                  </a:cubicBezTo>
                  <a:cubicBezTo>
                    <a:pt x="59" y="9"/>
                    <a:pt x="60" y="9"/>
                    <a:pt x="61" y="10"/>
                  </a:cubicBezTo>
                  <a:cubicBezTo>
                    <a:pt x="62" y="10"/>
                    <a:pt x="63" y="10"/>
                    <a:pt x="63" y="11"/>
                  </a:cubicBezTo>
                  <a:cubicBezTo>
                    <a:pt x="64" y="11"/>
                    <a:pt x="65" y="12"/>
                    <a:pt x="65" y="13"/>
                  </a:cubicBezTo>
                  <a:cubicBezTo>
                    <a:pt x="66" y="14"/>
                    <a:pt x="66" y="16"/>
                    <a:pt x="66" y="17"/>
                  </a:cubicBezTo>
                  <a:cubicBezTo>
                    <a:pt x="66" y="19"/>
                    <a:pt x="66" y="20"/>
                    <a:pt x="65" y="21"/>
                  </a:cubicBezTo>
                  <a:cubicBezTo>
                    <a:pt x="65" y="22"/>
                    <a:pt x="64" y="23"/>
                    <a:pt x="63" y="24"/>
                  </a:cubicBezTo>
                  <a:cubicBezTo>
                    <a:pt x="62" y="25"/>
                    <a:pt x="61" y="26"/>
                    <a:pt x="60" y="26"/>
                  </a:cubicBezTo>
                  <a:cubicBezTo>
                    <a:pt x="58" y="27"/>
                    <a:pt x="57" y="27"/>
                    <a:pt x="55" y="27"/>
                  </a:cubicBezTo>
                  <a:cubicBezTo>
                    <a:pt x="54" y="27"/>
                    <a:pt x="54" y="27"/>
                    <a:pt x="53" y="27"/>
                  </a:cubicBezTo>
                  <a:cubicBezTo>
                    <a:pt x="53" y="27"/>
                    <a:pt x="52" y="27"/>
                    <a:pt x="52" y="27"/>
                  </a:cubicBezTo>
                  <a:cubicBezTo>
                    <a:pt x="52" y="25"/>
                    <a:pt x="52" y="25"/>
                    <a:pt x="52" y="25"/>
                  </a:cubicBezTo>
                  <a:cubicBezTo>
                    <a:pt x="52" y="25"/>
                    <a:pt x="52" y="25"/>
                    <a:pt x="52" y="25"/>
                  </a:cubicBezTo>
                  <a:cubicBezTo>
                    <a:pt x="52" y="25"/>
                    <a:pt x="53" y="25"/>
                    <a:pt x="53" y="25"/>
                  </a:cubicBezTo>
                  <a:cubicBezTo>
                    <a:pt x="54" y="25"/>
                    <a:pt x="54" y="25"/>
                    <a:pt x="55" y="25"/>
                  </a:cubicBezTo>
                  <a:cubicBezTo>
                    <a:pt x="57" y="25"/>
                    <a:pt x="59" y="25"/>
                    <a:pt x="60" y="24"/>
                  </a:cubicBezTo>
                  <a:cubicBezTo>
                    <a:pt x="62" y="23"/>
                    <a:pt x="62" y="21"/>
                    <a:pt x="62" y="19"/>
                  </a:cubicBezTo>
                  <a:cubicBezTo>
                    <a:pt x="62" y="20"/>
                    <a:pt x="61" y="20"/>
                    <a:pt x="60" y="20"/>
                  </a:cubicBezTo>
                  <a:cubicBezTo>
                    <a:pt x="59" y="20"/>
                    <a:pt x="58" y="21"/>
                    <a:pt x="57" y="21"/>
                  </a:cubicBezTo>
                  <a:cubicBezTo>
                    <a:pt x="56" y="21"/>
                    <a:pt x="55" y="20"/>
                    <a:pt x="55" y="20"/>
                  </a:cubicBezTo>
                  <a:cubicBezTo>
                    <a:pt x="54" y="20"/>
                    <a:pt x="53" y="20"/>
                    <a:pt x="52" y="20"/>
                  </a:cubicBezTo>
                  <a:cubicBezTo>
                    <a:pt x="51" y="19"/>
                    <a:pt x="51" y="18"/>
                    <a:pt x="50" y="18"/>
                  </a:cubicBezTo>
                  <a:cubicBezTo>
                    <a:pt x="50" y="17"/>
                    <a:pt x="50" y="16"/>
                    <a:pt x="50" y="15"/>
                  </a:cubicBezTo>
                  <a:moveTo>
                    <a:pt x="86" y="1"/>
                  </a:moveTo>
                  <a:cubicBezTo>
                    <a:pt x="86" y="18"/>
                    <a:pt x="86" y="18"/>
                    <a:pt x="86" y="18"/>
                  </a:cubicBezTo>
                  <a:cubicBezTo>
                    <a:pt x="83" y="20"/>
                    <a:pt x="83" y="20"/>
                    <a:pt x="83" y="20"/>
                  </a:cubicBezTo>
                  <a:cubicBezTo>
                    <a:pt x="83" y="3"/>
                    <a:pt x="83" y="3"/>
                    <a:pt x="83" y="3"/>
                  </a:cubicBezTo>
                  <a:cubicBezTo>
                    <a:pt x="73" y="8"/>
                    <a:pt x="73" y="8"/>
                    <a:pt x="73" y="8"/>
                  </a:cubicBezTo>
                  <a:cubicBezTo>
                    <a:pt x="72" y="6"/>
                    <a:pt x="72" y="6"/>
                    <a:pt x="72" y="6"/>
                  </a:cubicBezTo>
                  <a:cubicBezTo>
                    <a:pt x="85" y="0"/>
                    <a:pt x="85" y="0"/>
                    <a:pt x="85" y="0"/>
                  </a:cubicBezTo>
                  <a:lnTo>
                    <a:pt x="86" y="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33" name="Freeform 126">
              <a:extLst>
                <a:ext uri="{FF2B5EF4-FFF2-40B4-BE49-F238E27FC236}">
                  <a16:creationId xmlns:a16="http://schemas.microsoft.com/office/drawing/2014/main" id="{80B6BA1D-29FA-4BF0-B063-B79098AA730B}"/>
                </a:ext>
              </a:extLst>
            </p:cNvPr>
            <p:cNvSpPr>
              <a:spLocks/>
            </p:cNvSpPr>
            <p:nvPr userDrawn="1"/>
          </p:nvSpPr>
          <p:spPr bwMode="auto">
            <a:xfrm>
              <a:off x="5778096" y="2774166"/>
              <a:ext cx="105882" cy="105882"/>
            </a:xfrm>
            <a:custGeom>
              <a:avLst/>
              <a:gdLst>
                <a:gd name="T0" fmla="*/ 2 w 11"/>
                <a:gd name="T1" fmla="*/ 12 h 12"/>
                <a:gd name="T2" fmla="*/ 2 w 11"/>
                <a:gd name="T3" fmla="*/ 8 h 12"/>
                <a:gd name="T4" fmla="*/ 1 w 11"/>
                <a:gd name="T5" fmla="*/ 3 h 12"/>
                <a:gd name="T6" fmla="*/ 8 w 11"/>
                <a:gd name="T7" fmla="*/ 3 h 12"/>
                <a:gd name="T8" fmla="*/ 9 w 11"/>
                <a:gd name="T9" fmla="*/ 5 h 12"/>
                <a:gd name="T10" fmla="*/ 8 w 11"/>
                <a:gd name="T11" fmla="*/ 11 h 12"/>
                <a:gd name="T12" fmla="*/ 2 w 11"/>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1" h="12">
                  <a:moveTo>
                    <a:pt x="2" y="12"/>
                  </a:moveTo>
                  <a:cubicBezTo>
                    <a:pt x="0" y="11"/>
                    <a:pt x="1" y="10"/>
                    <a:pt x="2" y="8"/>
                  </a:cubicBezTo>
                  <a:cubicBezTo>
                    <a:pt x="2" y="7"/>
                    <a:pt x="1" y="5"/>
                    <a:pt x="1" y="3"/>
                  </a:cubicBezTo>
                  <a:cubicBezTo>
                    <a:pt x="2" y="0"/>
                    <a:pt x="6" y="2"/>
                    <a:pt x="8" y="3"/>
                  </a:cubicBezTo>
                  <a:cubicBezTo>
                    <a:pt x="8" y="3"/>
                    <a:pt x="9" y="4"/>
                    <a:pt x="9" y="5"/>
                  </a:cubicBezTo>
                  <a:cubicBezTo>
                    <a:pt x="10" y="7"/>
                    <a:pt x="11" y="10"/>
                    <a:pt x="8" y="11"/>
                  </a:cubicBezTo>
                  <a:cubicBezTo>
                    <a:pt x="6" y="12"/>
                    <a:pt x="4" y="12"/>
                    <a:pt x="2" y="12"/>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34" name="Freeform 127">
              <a:extLst>
                <a:ext uri="{FF2B5EF4-FFF2-40B4-BE49-F238E27FC236}">
                  <a16:creationId xmlns:a16="http://schemas.microsoft.com/office/drawing/2014/main" id="{FF588F2B-6141-460A-831A-5295757DE650}"/>
                </a:ext>
              </a:extLst>
            </p:cNvPr>
            <p:cNvSpPr>
              <a:spLocks/>
            </p:cNvSpPr>
            <p:nvPr userDrawn="1"/>
          </p:nvSpPr>
          <p:spPr bwMode="auto">
            <a:xfrm>
              <a:off x="5505827" y="2456519"/>
              <a:ext cx="385714" cy="340336"/>
            </a:xfrm>
            <a:custGeom>
              <a:avLst/>
              <a:gdLst>
                <a:gd name="T0" fmla="*/ 7 w 41"/>
                <a:gd name="T1" fmla="*/ 35 h 36"/>
                <a:gd name="T2" fmla="*/ 7 w 41"/>
                <a:gd name="T3" fmla="*/ 35 h 36"/>
                <a:gd name="T4" fmla="*/ 7 w 41"/>
                <a:gd name="T5" fmla="*/ 34 h 36"/>
                <a:gd name="T6" fmla="*/ 15 w 41"/>
                <a:gd name="T7" fmla="*/ 32 h 36"/>
                <a:gd name="T8" fmla="*/ 20 w 41"/>
                <a:gd name="T9" fmla="*/ 28 h 36"/>
                <a:gd name="T10" fmla="*/ 6 w 41"/>
                <a:gd name="T11" fmla="*/ 29 h 36"/>
                <a:gd name="T12" fmla="*/ 2 w 41"/>
                <a:gd name="T13" fmla="*/ 26 h 36"/>
                <a:gd name="T14" fmla="*/ 2 w 41"/>
                <a:gd name="T15" fmla="*/ 26 h 36"/>
                <a:gd name="T16" fmla="*/ 3 w 41"/>
                <a:gd name="T17" fmla="*/ 21 h 36"/>
                <a:gd name="T18" fmla="*/ 19 w 41"/>
                <a:gd name="T19" fmla="*/ 21 h 36"/>
                <a:gd name="T20" fmla="*/ 24 w 41"/>
                <a:gd name="T21" fmla="*/ 20 h 36"/>
                <a:gd name="T22" fmla="*/ 29 w 41"/>
                <a:gd name="T23" fmla="*/ 3 h 36"/>
                <a:gd name="T24" fmla="*/ 35 w 41"/>
                <a:gd name="T25" fmla="*/ 6 h 36"/>
                <a:gd name="T26" fmla="*/ 36 w 41"/>
                <a:gd name="T27" fmla="*/ 7 h 36"/>
                <a:gd name="T28" fmla="*/ 36 w 41"/>
                <a:gd name="T29" fmla="*/ 7 h 36"/>
                <a:gd name="T30" fmla="*/ 35 w 41"/>
                <a:gd name="T31" fmla="*/ 11 h 36"/>
                <a:gd name="T32" fmla="*/ 31 w 41"/>
                <a:gd name="T33" fmla="*/ 20 h 36"/>
                <a:gd name="T34" fmla="*/ 40 w 41"/>
                <a:gd name="T35" fmla="*/ 19 h 36"/>
                <a:gd name="T36" fmla="*/ 38 w 41"/>
                <a:gd name="T37" fmla="*/ 23 h 36"/>
                <a:gd name="T38" fmla="*/ 29 w 41"/>
                <a:gd name="T39" fmla="*/ 24 h 36"/>
                <a:gd name="T40" fmla="*/ 23 w 41"/>
                <a:gd name="T41" fmla="*/ 32 h 36"/>
                <a:gd name="T42" fmla="*/ 21 w 41"/>
                <a:gd name="T43" fmla="*/ 34 h 36"/>
                <a:gd name="T44" fmla="*/ 14 w 41"/>
                <a:gd name="T45" fmla="*/ 35 h 36"/>
                <a:gd name="T46" fmla="*/ 7 w 41"/>
                <a:gd name="T47" fmla="*/ 3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36">
                  <a:moveTo>
                    <a:pt x="7" y="35"/>
                  </a:moveTo>
                  <a:cubicBezTo>
                    <a:pt x="7" y="35"/>
                    <a:pt x="7" y="35"/>
                    <a:pt x="7" y="35"/>
                  </a:cubicBezTo>
                  <a:cubicBezTo>
                    <a:pt x="7" y="35"/>
                    <a:pt x="7" y="35"/>
                    <a:pt x="7" y="34"/>
                  </a:cubicBezTo>
                  <a:cubicBezTo>
                    <a:pt x="8" y="34"/>
                    <a:pt x="15" y="32"/>
                    <a:pt x="15" y="32"/>
                  </a:cubicBezTo>
                  <a:cubicBezTo>
                    <a:pt x="17" y="31"/>
                    <a:pt x="19" y="30"/>
                    <a:pt x="20" y="28"/>
                  </a:cubicBezTo>
                  <a:cubicBezTo>
                    <a:pt x="15" y="28"/>
                    <a:pt x="11" y="30"/>
                    <a:pt x="6" y="29"/>
                  </a:cubicBezTo>
                  <a:cubicBezTo>
                    <a:pt x="4" y="28"/>
                    <a:pt x="3" y="27"/>
                    <a:pt x="2" y="26"/>
                  </a:cubicBezTo>
                  <a:cubicBezTo>
                    <a:pt x="2" y="26"/>
                    <a:pt x="2" y="26"/>
                    <a:pt x="2" y="26"/>
                  </a:cubicBezTo>
                  <a:cubicBezTo>
                    <a:pt x="0" y="24"/>
                    <a:pt x="0" y="22"/>
                    <a:pt x="3" y="21"/>
                  </a:cubicBezTo>
                  <a:cubicBezTo>
                    <a:pt x="7" y="23"/>
                    <a:pt x="15" y="22"/>
                    <a:pt x="19" y="21"/>
                  </a:cubicBezTo>
                  <a:cubicBezTo>
                    <a:pt x="20" y="21"/>
                    <a:pt x="23" y="21"/>
                    <a:pt x="24" y="20"/>
                  </a:cubicBezTo>
                  <a:cubicBezTo>
                    <a:pt x="26" y="15"/>
                    <a:pt x="27" y="9"/>
                    <a:pt x="29" y="3"/>
                  </a:cubicBezTo>
                  <a:cubicBezTo>
                    <a:pt x="31" y="0"/>
                    <a:pt x="33" y="3"/>
                    <a:pt x="35" y="6"/>
                  </a:cubicBezTo>
                  <a:cubicBezTo>
                    <a:pt x="35" y="6"/>
                    <a:pt x="36" y="6"/>
                    <a:pt x="36" y="7"/>
                  </a:cubicBezTo>
                  <a:cubicBezTo>
                    <a:pt x="36" y="7"/>
                    <a:pt x="36" y="7"/>
                    <a:pt x="36" y="7"/>
                  </a:cubicBezTo>
                  <a:cubicBezTo>
                    <a:pt x="37" y="9"/>
                    <a:pt x="37" y="10"/>
                    <a:pt x="35" y="11"/>
                  </a:cubicBezTo>
                  <a:cubicBezTo>
                    <a:pt x="33" y="14"/>
                    <a:pt x="32" y="17"/>
                    <a:pt x="31" y="20"/>
                  </a:cubicBezTo>
                  <a:cubicBezTo>
                    <a:pt x="34" y="20"/>
                    <a:pt x="37" y="18"/>
                    <a:pt x="40" y="19"/>
                  </a:cubicBezTo>
                  <a:cubicBezTo>
                    <a:pt x="41" y="21"/>
                    <a:pt x="40" y="22"/>
                    <a:pt x="38" y="23"/>
                  </a:cubicBezTo>
                  <a:cubicBezTo>
                    <a:pt x="36" y="23"/>
                    <a:pt x="33" y="24"/>
                    <a:pt x="29" y="24"/>
                  </a:cubicBezTo>
                  <a:cubicBezTo>
                    <a:pt x="28" y="27"/>
                    <a:pt x="26" y="30"/>
                    <a:pt x="23" y="32"/>
                  </a:cubicBezTo>
                  <a:cubicBezTo>
                    <a:pt x="23" y="33"/>
                    <a:pt x="21" y="34"/>
                    <a:pt x="21" y="34"/>
                  </a:cubicBezTo>
                  <a:cubicBezTo>
                    <a:pt x="19" y="34"/>
                    <a:pt x="17" y="35"/>
                    <a:pt x="14" y="35"/>
                  </a:cubicBezTo>
                  <a:cubicBezTo>
                    <a:pt x="8" y="36"/>
                    <a:pt x="8" y="35"/>
                    <a:pt x="7" y="35"/>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35" name="Freeform 128">
              <a:extLst>
                <a:ext uri="{FF2B5EF4-FFF2-40B4-BE49-F238E27FC236}">
                  <a16:creationId xmlns:a16="http://schemas.microsoft.com/office/drawing/2014/main" id="{1DF8E1C6-ABBD-447F-9F35-F56C18575DD9}"/>
                </a:ext>
              </a:extLst>
            </p:cNvPr>
            <p:cNvSpPr>
              <a:spLocks/>
            </p:cNvSpPr>
            <p:nvPr userDrawn="1"/>
          </p:nvSpPr>
          <p:spPr bwMode="auto">
            <a:xfrm>
              <a:off x="4862970" y="2668283"/>
              <a:ext cx="151261" cy="310084"/>
            </a:xfrm>
            <a:custGeom>
              <a:avLst/>
              <a:gdLst>
                <a:gd name="T0" fmla="*/ 7 w 16"/>
                <a:gd name="T1" fmla="*/ 33 h 33"/>
                <a:gd name="T2" fmla="*/ 0 w 16"/>
                <a:gd name="T3" fmla="*/ 30 h 33"/>
                <a:gd name="T4" fmla="*/ 0 w 16"/>
                <a:gd name="T5" fmla="*/ 28 h 33"/>
                <a:gd name="T6" fmla="*/ 10 w 16"/>
                <a:gd name="T7" fmla="*/ 11 h 33"/>
                <a:gd name="T8" fmla="*/ 12 w 16"/>
                <a:gd name="T9" fmla="*/ 3 h 33"/>
                <a:gd name="T10" fmla="*/ 12 w 16"/>
                <a:gd name="T11" fmla="*/ 2 h 33"/>
                <a:gd name="T12" fmla="*/ 12 w 16"/>
                <a:gd name="T13" fmla="*/ 2 h 33"/>
                <a:gd name="T14" fmla="*/ 15 w 16"/>
                <a:gd name="T15" fmla="*/ 2 h 33"/>
                <a:gd name="T16" fmla="*/ 14 w 16"/>
                <a:gd name="T17" fmla="*/ 7 h 33"/>
                <a:gd name="T18" fmla="*/ 13 w 16"/>
                <a:gd name="T19" fmla="*/ 16 h 33"/>
                <a:gd name="T20" fmla="*/ 13 w 16"/>
                <a:gd name="T21" fmla="*/ 19 h 33"/>
                <a:gd name="T22" fmla="*/ 11 w 16"/>
                <a:gd name="T23" fmla="*/ 26 h 33"/>
                <a:gd name="T24" fmla="*/ 9 w 16"/>
                <a:gd name="T25" fmla="*/ 33 h 33"/>
                <a:gd name="T26" fmla="*/ 7 w 16"/>
                <a:gd name="T27"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33">
                  <a:moveTo>
                    <a:pt x="7" y="33"/>
                  </a:moveTo>
                  <a:cubicBezTo>
                    <a:pt x="5" y="33"/>
                    <a:pt x="2" y="31"/>
                    <a:pt x="0" y="30"/>
                  </a:cubicBezTo>
                  <a:cubicBezTo>
                    <a:pt x="0" y="30"/>
                    <a:pt x="0" y="29"/>
                    <a:pt x="0" y="28"/>
                  </a:cubicBezTo>
                  <a:cubicBezTo>
                    <a:pt x="4" y="23"/>
                    <a:pt x="7" y="17"/>
                    <a:pt x="10" y="11"/>
                  </a:cubicBezTo>
                  <a:cubicBezTo>
                    <a:pt x="11" y="8"/>
                    <a:pt x="11" y="5"/>
                    <a:pt x="12" y="3"/>
                  </a:cubicBezTo>
                  <a:cubicBezTo>
                    <a:pt x="12" y="3"/>
                    <a:pt x="12" y="3"/>
                    <a:pt x="12" y="2"/>
                  </a:cubicBezTo>
                  <a:cubicBezTo>
                    <a:pt x="12" y="2"/>
                    <a:pt x="12" y="2"/>
                    <a:pt x="12" y="2"/>
                  </a:cubicBezTo>
                  <a:cubicBezTo>
                    <a:pt x="13" y="1"/>
                    <a:pt x="14" y="0"/>
                    <a:pt x="15" y="2"/>
                  </a:cubicBezTo>
                  <a:cubicBezTo>
                    <a:pt x="16" y="3"/>
                    <a:pt x="14" y="5"/>
                    <a:pt x="14" y="7"/>
                  </a:cubicBezTo>
                  <a:cubicBezTo>
                    <a:pt x="14" y="10"/>
                    <a:pt x="14" y="13"/>
                    <a:pt x="13" y="16"/>
                  </a:cubicBezTo>
                  <a:cubicBezTo>
                    <a:pt x="13" y="16"/>
                    <a:pt x="13" y="16"/>
                    <a:pt x="13" y="19"/>
                  </a:cubicBezTo>
                  <a:cubicBezTo>
                    <a:pt x="12" y="21"/>
                    <a:pt x="11" y="24"/>
                    <a:pt x="11" y="26"/>
                  </a:cubicBezTo>
                  <a:cubicBezTo>
                    <a:pt x="10" y="28"/>
                    <a:pt x="10" y="31"/>
                    <a:pt x="9" y="33"/>
                  </a:cubicBezTo>
                  <a:cubicBezTo>
                    <a:pt x="8" y="33"/>
                    <a:pt x="8" y="33"/>
                    <a:pt x="7" y="33"/>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36" name="Freeform 129">
              <a:extLst>
                <a:ext uri="{FF2B5EF4-FFF2-40B4-BE49-F238E27FC236}">
                  <a16:creationId xmlns:a16="http://schemas.microsoft.com/office/drawing/2014/main" id="{EAC0FEAE-CA47-416B-8B3A-8EA358552EFF}"/>
                </a:ext>
              </a:extLst>
            </p:cNvPr>
            <p:cNvSpPr>
              <a:spLocks/>
            </p:cNvSpPr>
            <p:nvPr userDrawn="1"/>
          </p:nvSpPr>
          <p:spPr bwMode="auto">
            <a:xfrm>
              <a:off x="5067172" y="2592653"/>
              <a:ext cx="121008" cy="121008"/>
            </a:xfrm>
            <a:custGeom>
              <a:avLst/>
              <a:gdLst>
                <a:gd name="T0" fmla="*/ 8 w 13"/>
                <a:gd name="T1" fmla="*/ 12 h 13"/>
                <a:gd name="T2" fmla="*/ 1 w 13"/>
                <a:gd name="T3" fmla="*/ 10 h 13"/>
                <a:gd name="T4" fmla="*/ 1 w 13"/>
                <a:gd name="T5" fmla="*/ 8 h 13"/>
                <a:gd name="T6" fmla="*/ 2 w 13"/>
                <a:gd name="T7" fmla="*/ 7 h 13"/>
                <a:gd name="T8" fmla="*/ 5 w 13"/>
                <a:gd name="T9" fmla="*/ 6 h 13"/>
                <a:gd name="T10" fmla="*/ 12 w 13"/>
                <a:gd name="T11" fmla="*/ 1 h 13"/>
                <a:gd name="T12" fmla="*/ 8 w 13"/>
                <a:gd name="T13" fmla="*/ 12 h 13"/>
              </a:gdLst>
              <a:ahLst/>
              <a:cxnLst>
                <a:cxn ang="0">
                  <a:pos x="T0" y="T1"/>
                </a:cxn>
                <a:cxn ang="0">
                  <a:pos x="T2" y="T3"/>
                </a:cxn>
                <a:cxn ang="0">
                  <a:pos x="T4" y="T5"/>
                </a:cxn>
                <a:cxn ang="0">
                  <a:pos x="T6" y="T7"/>
                </a:cxn>
                <a:cxn ang="0">
                  <a:pos x="T8" y="T9"/>
                </a:cxn>
                <a:cxn ang="0">
                  <a:pos x="T10" y="T11"/>
                </a:cxn>
                <a:cxn ang="0">
                  <a:pos x="T12" y="T13"/>
                </a:cxn>
              </a:cxnLst>
              <a:rect l="0" t="0" r="r" b="b"/>
              <a:pathLst>
                <a:path w="13" h="13">
                  <a:moveTo>
                    <a:pt x="8" y="12"/>
                  </a:moveTo>
                  <a:cubicBezTo>
                    <a:pt x="5" y="13"/>
                    <a:pt x="3" y="12"/>
                    <a:pt x="1" y="10"/>
                  </a:cubicBezTo>
                  <a:cubicBezTo>
                    <a:pt x="0" y="10"/>
                    <a:pt x="1" y="9"/>
                    <a:pt x="1" y="8"/>
                  </a:cubicBezTo>
                  <a:cubicBezTo>
                    <a:pt x="1" y="8"/>
                    <a:pt x="1" y="8"/>
                    <a:pt x="2" y="7"/>
                  </a:cubicBezTo>
                  <a:cubicBezTo>
                    <a:pt x="3" y="7"/>
                    <a:pt x="3" y="7"/>
                    <a:pt x="5" y="6"/>
                  </a:cubicBezTo>
                  <a:cubicBezTo>
                    <a:pt x="6" y="5"/>
                    <a:pt x="10" y="0"/>
                    <a:pt x="12" y="1"/>
                  </a:cubicBezTo>
                  <a:cubicBezTo>
                    <a:pt x="13" y="4"/>
                    <a:pt x="11" y="10"/>
                    <a:pt x="8" y="12"/>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37" name="Freeform 130">
              <a:extLst>
                <a:ext uri="{FF2B5EF4-FFF2-40B4-BE49-F238E27FC236}">
                  <a16:creationId xmlns:a16="http://schemas.microsoft.com/office/drawing/2014/main" id="{9E7E5958-703A-42DF-B569-3D08B30E8166}"/>
                </a:ext>
              </a:extLst>
            </p:cNvPr>
            <p:cNvSpPr>
              <a:spLocks/>
            </p:cNvSpPr>
            <p:nvPr userDrawn="1"/>
          </p:nvSpPr>
          <p:spPr bwMode="auto">
            <a:xfrm>
              <a:off x="4855407" y="2638031"/>
              <a:ext cx="90756" cy="105882"/>
            </a:xfrm>
            <a:custGeom>
              <a:avLst/>
              <a:gdLst>
                <a:gd name="T0" fmla="*/ 5 w 10"/>
                <a:gd name="T1" fmla="*/ 11 h 11"/>
                <a:gd name="T2" fmla="*/ 1 w 10"/>
                <a:gd name="T3" fmla="*/ 4 h 11"/>
                <a:gd name="T4" fmla="*/ 6 w 10"/>
                <a:gd name="T5" fmla="*/ 1 h 11"/>
                <a:gd name="T6" fmla="*/ 10 w 10"/>
                <a:gd name="T7" fmla="*/ 6 h 11"/>
                <a:gd name="T8" fmla="*/ 5 w 10"/>
                <a:gd name="T9" fmla="*/ 11 h 11"/>
              </a:gdLst>
              <a:ahLst/>
              <a:cxnLst>
                <a:cxn ang="0">
                  <a:pos x="T0" y="T1"/>
                </a:cxn>
                <a:cxn ang="0">
                  <a:pos x="T2" y="T3"/>
                </a:cxn>
                <a:cxn ang="0">
                  <a:pos x="T4" y="T5"/>
                </a:cxn>
                <a:cxn ang="0">
                  <a:pos x="T6" y="T7"/>
                </a:cxn>
                <a:cxn ang="0">
                  <a:pos x="T8" y="T9"/>
                </a:cxn>
              </a:cxnLst>
              <a:rect l="0" t="0" r="r" b="b"/>
              <a:pathLst>
                <a:path w="10" h="11">
                  <a:moveTo>
                    <a:pt x="5" y="11"/>
                  </a:moveTo>
                  <a:cubicBezTo>
                    <a:pt x="3" y="10"/>
                    <a:pt x="1" y="5"/>
                    <a:pt x="1" y="4"/>
                  </a:cubicBezTo>
                  <a:cubicBezTo>
                    <a:pt x="0" y="1"/>
                    <a:pt x="3" y="0"/>
                    <a:pt x="6" y="1"/>
                  </a:cubicBezTo>
                  <a:cubicBezTo>
                    <a:pt x="9" y="2"/>
                    <a:pt x="10" y="3"/>
                    <a:pt x="10" y="6"/>
                  </a:cubicBezTo>
                  <a:cubicBezTo>
                    <a:pt x="8" y="9"/>
                    <a:pt x="7" y="9"/>
                    <a:pt x="5" y="11"/>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38" name="Freeform 131">
              <a:extLst>
                <a:ext uri="{FF2B5EF4-FFF2-40B4-BE49-F238E27FC236}">
                  <a16:creationId xmlns:a16="http://schemas.microsoft.com/office/drawing/2014/main" id="{88AA7563-CE86-449F-99A8-20D26F1B8770}"/>
                </a:ext>
              </a:extLst>
            </p:cNvPr>
            <p:cNvSpPr>
              <a:spLocks/>
            </p:cNvSpPr>
            <p:nvPr userDrawn="1"/>
          </p:nvSpPr>
          <p:spPr bwMode="auto">
            <a:xfrm>
              <a:off x="5029357" y="2471645"/>
              <a:ext cx="143698" cy="158823"/>
            </a:xfrm>
            <a:custGeom>
              <a:avLst/>
              <a:gdLst>
                <a:gd name="T0" fmla="*/ 8 w 15"/>
                <a:gd name="T1" fmla="*/ 17 h 17"/>
                <a:gd name="T2" fmla="*/ 7 w 15"/>
                <a:gd name="T3" fmla="*/ 12 h 17"/>
                <a:gd name="T4" fmla="*/ 5 w 15"/>
                <a:gd name="T5" fmla="*/ 13 h 17"/>
                <a:gd name="T6" fmla="*/ 0 w 15"/>
                <a:gd name="T7" fmla="*/ 9 h 17"/>
                <a:gd name="T8" fmla="*/ 2 w 15"/>
                <a:gd name="T9" fmla="*/ 7 h 17"/>
                <a:gd name="T10" fmla="*/ 7 w 15"/>
                <a:gd name="T11" fmla="*/ 2 h 17"/>
                <a:gd name="T12" fmla="*/ 14 w 15"/>
                <a:gd name="T13" fmla="*/ 4 h 17"/>
                <a:gd name="T14" fmla="*/ 13 w 15"/>
                <a:gd name="T15" fmla="*/ 11 h 17"/>
                <a:gd name="T16" fmla="*/ 9 w 15"/>
                <a:gd name="T17" fmla="*/ 16 h 17"/>
                <a:gd name="T18" fmla="*/ 8 w 15"/>
                <a:gd name="T19"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7">
                  <a:moveTo>
                    <a:pt x="8" y="17"/>
                  </a:moveTo>
                  <a:cubicBezTo>
                    <a:pt x="7" y="16"/>
                    <a:pt x="8" y="12"/>
                    <a:pt x="7" y="12"/>
                  </a:cubicBezTo>
                  <a:cubicBezTo>
                    <a:pt x="6" y="12"/>
                    <a:pt x="6" y="13"/>
                    <a:pt x="5" y="13"/>
                  </a:cubicBezTo>
                  <a:cubicBezTo>
                    <a:pt x="3" y="13"/>
                    <a:pt x="0" y="11"/>
                    <a:pt x="0" y="9"/>
                  </a:cubicBezTo>
                  <a:cubicBezTo>
                    <a:pt x="1" y="7"/>
                    <a:pt x="0" y="8"/>
                    <a:pt x="2" y="7"/>
                  </a:cubicBezTo>
                  <a:cubicBezTo>
                    <a:pt x="4" y="5"/>
                    <a:pt x="6" y="3"/>
                    <a:pt x="7" y="2"/>
                  </a:cubicBezTo>
                  <a:cubicBezTo>
                    <a:pt x="11" y="0"/>
                    <a:pt x="13" y="1"/>
                    <a:pt x="14" y="4"/>
                  </a:cubicBezTo>
                  <a:cubicBezTo>
                    <a:pt x="15" y="7"/>
                    <a:pt x="14" y="9"/>
                    <a:pt x="13" y="11"/>
                  </a:cubicBezTo>
                  <a:cubicBezTo>
                    <a:pt x="12" y="13"/>
                    <a:pt x="10" y="15"/>
                    <a:pt x="9" y="16"/>
                  </a:cubicBezTo>
                  <a:cubicBezTo>
                    <a:pt x="9" y="17"/>
                    <a:pt x="8" y="17"/>
                    <a:pt x="8" y="17"/>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39" name="Freeform 132">
              <a:extLst>
                <a:ext uri="{FF2B5EF4-FFF2-40B4-BE49-F238E27FC236}">
                  <a16:creationId xmlns:a16="http://schemas.microsoft.com/office/drawing/2014/main" id="{4ADF512A-1E9A-4177-89BD-D71F63AA0BCD}"/>
                </a:ext>
              </a:extLst>
            </p:cNvPr>
            <p:cNvSpPr>
              <a:spLocks/>
            </p:cNvSpPr>
            <p:nvPr userDrawn="1"/>
          </p:nvSpPr>
          <p:spPr bwMode="auto">
            <a:xfrm>
              <a:off x="4855407" y="2509460"/>
              <a:ext cx="90756" cy="98319"/>
            </a:xfrm>
            <a:custGeom>
              <a:avLst/>
              <a:gdLst>
                <a:gd name="T0" fmla="*/ 4 w 10"/>
                <a:gd name="T1" fmla="*/ 11 h 11"/>
                <a:gd name="T2" fmla="*/ 3 w 10"/>
                <a:gd name="T3" fmla="*/ 9 h 11"/>
                <a:gd name="T4" fmla="*/ 1 w 10"/>
                <a:gd name="T5" fmla="*/ 6 h 11"/>
                <a:gd name="T6" fmla="*/ 1 w 10"/>
                <a:gd name="T7" fmla="*/ 0 h 11"/>
                <a:gd name="T8" fmla="*/ 10 w 10"/>
                <a:gd name="T9" fmla="*/ 5 h 11"/>
                <a:gd name="T10" fmla="*/ 4 w 10"/>
                <a:gd name="T11" fmla="*/ 11 h 11"/>
              </a:gdLst>
              <a:ahLst/>
              <a:cxnLst>
                <a:cxn ang="0">
                  <a:pos x="T0" y="T1"/>
                </a:cxn>
                <a:cxn ang="0">
                  <a:pos x="T2" y="T3"/>
                </a:cxn>
                <a:cxn ang="0">
                  <a:pos x="T4" y="T5"/>
                </a:cxn>
                <a:cxn ang="0">
                  <a:pos x="T6" y="T7"/>
                </a:cxn>
                <a:cxn ang="0">
                  <a:pos x="T8" y="T9"/>
                </a:cxn>
                <a:cxn ang="0">
                  <a:pos x="T10" y="T11"/>
                </a:cxn>
              </a:cxnLst>
              <a:rect l="0" t="0" r="r" b="b"/>
              <a:pathLst>
                <a:path w="10" h="11">
                  <a:moveTo>
                    <a:pt x="4" y="11"/>
                  </a:moveTo>
                  <a:cubicBezTo>
                    <a:pt x="3" y="11"/>
                    <a:pt x="3" y="10"/>
                    <a:pt x="3" y="9"/>
                  </a:cubicBezTo>
                  <a:cubicBezTo>
                    <a:pt x="3" y="8"/>
                    <a:pt x="2" y="7"/>
                    <a:pt x="1" y="6"/>
                  </a:cubicBezTo>
                  <a:cubicBezTo>
                    <a:pt x="0" y="3"/>
                    <a:pt x="0" y="2"/>
                    <a:pt x="1" y="0"/>
                  </a:cubicBezTo>
                  <a:cubicBezTo>
                    <a:pt x="3" y="0"/>
                    <a:pt x="10" y="1"/>
                    <a:pt x="10" y="5"/>
                  </a:cubicBezTo>
                  <a:cubicBezTo>
                    <a:pt x="9" y="7"/>
                    <a:pt x="6" y="10"/>
                    <a:pt x="4" y="11"/>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40" name="Freeform 133">
              <a:extLst>
                <a:ext uri="{FF2B5EF4-FFF2-40B4-BE49-F238E27FC236}">
                  <a16:creationId xmlns:a16="http://schemas.microsoft.com/office/drawing/2014/main" id="{71BB6EFA-0FAD-4DE6-86F8-EE2AF219C12F}"/>
                </a:ext>
              </a:extLst>
            </p:cNvPr>
            <p:cNvSpPr>
              <a:spLocks/>
            </p:cNvSpPr>
            <p:nvPr userDrawn="1"/>
          </p:nvSpPr>
          <p:spPr bwMode="auto">
            <a:xfrm>
              <a:off x="4356247" y="2880048"/>
              <a:ext cx="355462" cy="627731"/>
            </a:xfrm>
            <a:custGeom>
              <a:avLst/>
              <a:gdLst>
                <a:gd name="T0" fmla="*/ 22 w 38"/>
                <a:gd name="T1" fmla="*/ 64 h 66"/>
                <a:gd name="T2" fmla="*/ 13 w 38"/>
                <a:gd name="T3" fmla="*/ 61 h 66"/>
                <a:gd name="T4" fmla="*/ 13 w 38"/>
                <a:gd name="T5" fmla="*/ 59 h 66"/>
                <a:gd name="T6" fmla="*/ 13 w 38"/>
                <a:gd name="T7" fmla="*/ 59 h 66"/>
                <a:gd name="T8" fmla="*/ 8 w 38"/>
                <a:gd name="T9" fmla="*/ 46 h 66"/>
                <a:gd name="T10" fmla="*/ 7 w 38"/>
                <a:gd name="T11" fmla="*/ 42 h 66"/>
                <a:gd name="T12" fmla="*/ 10 w 38"/>
                <a:gd name="T13" fmla="*/ 44 h 66"/>
                <a:gd name="T14" fmla="*/ 11 w 38"/>
                <a:gd name="T15" fmla="*/ 42 h 66"/>
                <a:gd name="T16" fmla="*/ 11 w 38"/>
                <a:gd name="T17" fmla="*/ 33 h 66"/>
                <a:gd name="T18" fmla="*/ 8 w 38"/>
                <a:gd name="T19" fmla="*/ 31 h 66"/>
                <a:gd name="T20" fmla="*/ 4 w 38"/>
                <a:gd name="T21" fmla="*/ 34 h 66"/>
                <a:gd name="T22" fmla="*/ 4 w 38"/>
                <a:gd name="T23" fmla="*/ 27 h 66"/>
                <a:gd name="T24" fmla="*/ 0 w 38"/>
                <a:gd name="T25" fmla="*/ 23 h 66"/>
                <a:gd name="T26" fmla="*/ 6 w 38"/>
                <a:gd name="T27" fmla="*/ 21 h 66"/>
                <a:gd name="T28" fmla="*/ 10 w 38"/>
                <a:gd name="T29" fmla="*/ 23 h 66"/>
                <a:gd name="T30" fmla="*/ 11 w 38"/>
                <a:gd name="T31" fmla="*/ 25 h 66"/>
                <a:gd name="T32" fmla="*/ 12 w 38"/>
                <a:gd name="T33" fmla="*/ 24 h 66"/>
                <a:gd name="T34" fmla="*/ 12 w 38"/>
                <a:gd name="T35" fmla="*/ 17 h 66"/>
                <a:gd name="T36" fmla="*/ 7 w 38"/>
                <a:gd name="T37" fmla="*/ 10 h 66"/>
                <a:gd name="T38" fmla="*/ 12 w 38"/>
                <a:gd name="T39" fmla="*/ 6 h 66"/>
                <a:gd name="T40" fmla="*/ 13 w 38"/>
                <a:gd name="T41" fmla="*/ 1 h 66"/>
                <a:gd name="T42" fmla="*/ 14 w 38"/>
                <a:gd name="T43" fmla="*/ 0 h 66"/>
                <a:gd name="T44" fmla="*/ 16 w 38"/>
                <a:gd name="T45" fmla="*/ 1 h 66"/>
                <a:gd name="T46" fmla="*/ 18 w 38"/>
                <a:gd name="T47" fmla="*/ 12 h 66"/>
                <a:gd name="T48" fmla="*/ 17 w 38"/>
                <a:gd name="T49" fmla="*/ 8 h 66"/>
                <a:gd name="T50" fmla="*/ 22 w 38"/>
                <a:gd name="T51" fmla="*/ 3 h 66"/>
                <a:gd name="T52" fmla="*/ 25 w 38"/>
                <a:gd name="T53" fmla="*/ 7 h 66"/>
                <a:gd name="T54" fmla="*/ 26 w 38"/>
                <a:gd name="T55" fmla="*/ 8 h 66"/>
                <a:gd name="T56" fmla="*/ 35 w 38"/>
                <a:gd name="T57" fmla="*/ 15 h 66"/>
                <a:gd name="T58" fmla="*/ 37 w 38"/>
                <a:gd name="T59" fmla="*/ 19 h 66"/>
                <a:gd name="T60" fmla="*/ 37 w 38"/>
                <a:gd name="T61" fmla="*/ 20 h 66"/>
                <a:gd name="T62" fmla="*/ 37 w 38"/>
                <a:gd name="T63" fmla="*/ 20 h 66"/>
                <a:gd name="T64" fmla="*/ 36 w 38"/>
                <a:gd name="T65" fmla="*/ 24 h 66"/>
                <a:gd name="T66" fmla="*/ 23 w 38"/>
                <a:gd name="T67" fmla="*/ 15 h 66"/>
                <a:gd name="T68" fmla="*/ 23 w 38"/>
                <a:gd name="T69" fmla="*/ 15 h 66"/>
                <a:gd name="T70" fmla="*/ 27 w 38"/>
                <a:gd name="T71" fmla="*/ 25 h 66"/>
                <a:gd name="T72" fmla="*/ 22 w 38"/>
                <a:gd name="T73" fmla="*/ 27 h 66"/>
                <a:gd name="T74" fmla="*/ 22 w 38"/>
                <a:gd name="T75" fmla="*/ 25 h 66"/>
                <a:gd name="T76" fmla="*/ 15 w 38"/>
                <a:gd name="T77" fmla="*/ 19 h 66"/>
                <a:gd name="T78" fmla="*/ 16 w 38"/>
                <a:gd name="T79" fmla="*/ 27 h 66"/>
                <a:gd name="T80" fmla="*/ 17 w 38"/>
                <a:gd name="T81" fmla="*/ 31 h 66"/>
                <a:gd name="T82" fmla="*/ 21 w 38"/>
                <a:gd name="T83" fmla="*/ 35 h 66"/>
                <a:gd name="T84" fmla="*/ 22 w 38"/>
                <a:gd name="T85" fmla="*/ 38 h 66"/>
                <a:gd name="T86" fmla="*/ 22 w 38"/>
                <a:gd name="T87" fmla="*/ 39 h 66"/>
                <a:gd name="T88" fmla="*/ 22 w 38"/>
                <a:gd name="T89" fmla="*/ 44 h 66"/>
                <a:gd name="T90" fmla="*/ 21 w 38"/>
                <a:gd name="T91" fmla="*/ 44 h 66"/>
                <a:gd name="T92" fmla="*/ 17 w 38"/>
                <a:gd name="T93" fmla="*/ 38 h 66"/>
                <a:gd name="T94" fmla="*/ 16 w 38"/>
                <a:gd name="T95" fmla="*/ 44 h 66"/>
                <a:gd name="T96" fmla="*/ 13 w 38"/>
                <a:gd name="T97" fmla="*/ 46 h 66"/>
                <a:gd name="T98" fmla="*/ 13 w 38"/>
                <a:gd name="T99" fmla="*/ 46 h 66"/>
                <a:gd name="T100" fmla="*/ 12 w 38"/>
                <a:gd name="T101" fmla="*/ 47 h 66"/>
                <a:gd name="T102" fmla="*/ 14 w 38"/>
                <a:gd name="T103" fmla="*/ 50 h 66"/>
                <a:gd name="T104" fmla="*/ 23 w 38"/>
                <a:gd name="T105" fmla="*/ 62 h 66"/>
                <a:gd name="T106" fmla="*/ 22 w 38"/>
                <a:gd name="T107" fmla="*/ 6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8" h="66">
                  <a:moveTo>
                    <a:pt x="22" y="64"/>
                  </a:moveTo>
                  <a:cubicBezTo>
                    <a:pt x="19" y="66"/>
                    <a:pt x="12" y="65"/>
                    <a:pt x="13" y="61"/>
                  </a:cubicBezTo>
                  <a:cubicBezTo>
                    <a:pt x="13" y="60"/>
                    <a:pt x="13" y="59"/>
                    <a:pt x="13" y="59"/>
                  </a:cubicBezTo>
                  <a:cubicBezTo>
                    <a:pt x="13" y="59"/>
                    <a:pt x="13" y="59"/>
                    <a:pt x="13" y="59"/>
                  </a:cubicBezTo>
                  <a:cubicBezTo>
                    <a:pt x="12" y="54"/>
                    <a:pt x="9" y="50"/>
                    <a:pt x="8" y="46"/>
                  </a:cubicBezTo>
                  <a:cubicBezTo>
                    <a:pt x="7" y="45"/>
                    <a:pt x="7" y="44"/>
                    <a:pt x="7" y="42"/>
                  </a:cubicBezTo>
                  <a:cubicBezTo>
                    <a:pt x="8" y="42"/>
                    <a:pt x="9" y="43"/>
                    <a:pt x="10" y="44"/>
                  </a:cubicBezTo>
                  <a:cubicBezTo>
                    <a:pt x="11" y="44"/>
                    <a:pt x="11" y="43"/>
                    <a:pt x="11" y="42"/>
                  </a:cubicBezTo>
                  <a:cubicBezTo>
                    <a:pt x="11" y="39"/>
                    <a:pt x="11" y="36"/>
                    <a:pt x="11" y="33"/>
                  </a:cubicBezTo>
                  <a:cubicBezTo>
                    <a:pt x="10" y="32"/>
                    <a:pt x="9" y="31"/>
                    <a:pt x="8" y="31"/>
                  </a:cubicBezTo>
                  <a:cubicBezTo>
                    <a:pt x="8" y="32"/>
                    <a:pt x="6" y="37"/>
                    <a:pt x="4" y="34"/>
                  </a:cubicBezTo>
                  <a:cubicBezTo>
                    <a:pt x="5" y="32"/>
                    <a:pt x="5" y="29"/>
                    <a:pt x="4" y="27"/>
                  </a:cubicBezTo>
                  <a:cubicBezTo>
                    <a:pt x="2" y="25"/>
                    <a:pt x="0" y="24"/>
                    <a:pt x="0" y="23"/>
                  </a:cubicBezTo>
                  <a:cubicBezTo>
                    <a:pt x="0" y="20"/>
                    <a:pt x="4" y="20"/>
                    <a:pt x="6" y="21"/>
                  </a:cubicBezTo>
                  <a:cubicBezTo>
                    <a:pt x="8" y="21"/>
                    <a:pt x="8" y="17"/>
                    <a:pt x="10" y="23"/>
                  </a:cubicBezTo>
                  <a:cubicBezTo>
                    <a:pt x="10" y="24"/>
                    <a:pt x="11" y="24"/>
                    <a:pt x="11" y="25"/>
                  </a:cubicBezTo>
                  <a:cubicBezTo>
                    <a:pt x="12" y="25"/>
                    <a:pt x="12" y="24"/>
                    <a:pt x="12" y="24"/>
                  </a:cubicBezTo>
                  <a:cubicBezTo>
                    <a:pt x="12" y="22"/>
                    <a:pt x="12" y="19"/>
                    <a:pt x="12" y="17"/>
                  </a:cubicBezTo>
                  <a:cubicBezTo>
                    <a:pt x="10" y="15"/>
                    <a:pt x="8" y="13"/>
                    <a:pt x="7" y="10"/>
                  </a:cubicBezTo>
                  <a:cubicBezTo>
                    <a:pt x="7" y="8"/>
                    <a:pt x="10" y="6"/>
                    <a:pt x="12" y="6"/>
                  </a:cubicBezTo>
                  <a:cubicBezTo>
                    <a:pt x="13" y="4"/>
                    <a:pt x="13" y="3"/>
                    <a:pt x="13" y="1"/>
                  </a:cubicBezTo>
                  <a:cubicBezTo>
                    <a:pt x="13" y="1"/>
                    <a:pt x="13" y="1"/>
                    <a:pt x="14" y="0"/>
                  </a:cubicBezTo>
                  <a:cubicBezTo>
                    <a:pt x="15" y="0"/>
                    <a:pt x="15" y="0"/>
                    <a:pt x="16" y="1"/>
                  </a:cubicBezTo>
                  <a:cubicBezTo>
                    <a:pt x="18" y="3"/>
                    <a:pt x="14" y="11"/>
                    <a:pt x="18" y="12"/>
                  </a:cubicBezTo>
                  <a:cubicBezTo>
                    <a:pt x="19" y="11"/>
                    <a:pt x="18" y="9"/>
                    <a:pt x="17" y="8"/>
                  </a:cubicBezTo>
                  <a:cubicBezTo>
                    <a:pt x="17" y="6"/>
                    <a:pt x="20" y="4"/>
                    <a:pt x="22" y="3"/>
                  </a:cubicBezTo>
                  <a:cubicBezTo>
                    <a:pt x="26" y="3"/>
                    <a:pt x="25" y="4"/>
                    <a:pt x="25" y="7"/>
                  </a:cubicBezTo>
                  <a:cubicBezTo>
                    <a:pt x="26" y="7"/>
                    <a:pt x="26" y="8"/>
                    <a:pt x="26" y="8"/>
                  </a:cubicBezTo>
                  <a:cubicBezTo>
                    <a:pt x="30" y="11"/>
                    <a:pt x="30" y="11"/>
                    <a:pt x="35" y="15"/>
                  </a:cubicBezTo>
                  <a:cubicBezTo>
                    <a:pt x="36" y="16"/>
                    <a:pt x="37" y="17"/>
                    <a:pt x="37" y="19"/>
                  </a:cubicBezTo>
                  <a:cubicBezTo>
                    <a:pt x="37" y="19"/>
                    <a:pt x="37" y="19"/>
                    <a:pt x="37" y="20"/>
                  </a:cubicBezTo>
                  <a:cubicBezTo>
                    <a:pt x="37" y="20"/>
                    <a:pt x="37" y="20"/>
                    <a:pt x="37" y="20"/>
                  </a:cubicBezTo>
                  <a:cubicBezTo>
                    <a:pt x="38" y="21"/>
                    <a:pt x="38" y="24"/>
                    <a:pt x="36" y="24"/>
                  </a:cubicBezTo>
                  <a:cubicBezTo>
                    <a:pt x="32" y="21"/>
                    <a:pt x="27" y="18"/>
                    <a:pt x="23" y="15"/>
                  </a:cubicBezTo>
                  <a:cubicBezTo>
                    <a:pt x="23" y="15"/>
                    <a:pt x="23" y="15"/>
                    <a:pt x="23" y="15"/>
                  </a:cubicBezTo>
                  <a:cubicBezTo>
                    <a:pt x="25" y="17"/>
                    <a:pt x="27" y="22"/>
                    <a:pt x="27" y="25"/>
                  </a:cubicBezTo>
                  <a:cubicBezTo>
                    <a:pt x="26" y="26"/>
                    <a:pt x="24" y="27"/>
                    <a:pt x="22" y="27"/>
                  </a:cubicBezTo>
                  <a:cubicBezTo>
                    <a:pt x="22" y="26"/>
                    <a:pt x="22" y="26"/>
                    <a:pt x="22" y="25"/>
                  </a:cubicBezTo>
                  <a:cubicBezTo>
                    <a:pt x="21" y="23"/>
                    <a:pt x="17" y="21"/>
                    <a:pt x="15" y="19"/>
                  </a:cubicBezTo>
                  <a:cubicBezTo>
                    <a:pt x="14" y="21"/>
                    <a:pt x="16" y="25"/>
                    <a:pt x="16" y="27"/>
                  </a:cubicBezTo>
                  <a:cubicBezTo>
                    <a:pt x="16" y="28"/>
                    <a:pt x="16" y="30"/>
                    <a:pt x="17" y="31"/>
                  </a:cubicBezTo>
                  <a:cubicBezTo>
                    <a:pt x="18" y="32"/>
                    <a:pt x="19" y="34"/>
                    <a:pt x="21" y="35"/>
                  </a:cubicBezTo>
                  <a:cubicBezTo>
                    <a:pt x="21" y="36"/>
                    <a:pt x="22" y="37"/>
                    <a:pt x="22" y="38"/>
                  </a:cubicBezTo>
                  <a:cubicBezTo>
                    <a:pt x="22" y="38"/>
                    <a:pt x="22" y="38"/>
                    <a:pt x="22" y="39"/>
                  </a:cubicBezTo>
                  <a:cubicBezTo>
                    <a:pt x="23" y="40"/>
                    <a:pt x="24" y="44"/>
                    <a:pt x="22" y="44"/>
                  </a:cubicBezTo>
                  <a:cubicBezTo>
                    <a:pt x="21" y="44"/>
                    <a:pt x="21" y="44"/>
                    <a:pt x="21" y="44"/>
                  </a:cubicBezTo>
                  <a:cubicBezTo>
                    <a:pt x="20" y="41"/>
                    <a:pt x="18" y="39"/>
                    <a:pt x="17" y="38"/>
                  </a:cubicBezTo>
                  <a:cubicBezTo>
                    <a:pt x="16" y="40"/>
                    <a:pt x="17" y="42"/>
                    <a:pt x="16" y="44"/>
                  </a:cubicBezTo>
                  <a:cubicBezTo>
                    <a:pt x="15" y="45"/>
                    <a:pt x="14" y="46"/>
                    <a:pt x="13" y="46"/>
                  </a:cubicBezTo>
                  <a:cubicBezTo>
                    <a:pt x="13" y="46"/>
                    <a:pt x="13" y="46"/>
                    <a:pt x="13" y="46"/>
                  </a:cubicBezTo>
                  <a:cubicBezTo>
                    <a:pt x="12" y="46"/>
                    <a:pt x="12" y="46"/>
                    <a:pt x="12" y="47"/>
                  </a:cubicBezTo>
                  <a:cubicBezTo>
                    <a:pt x="12" y="48"/>
                    <a:pt x="13" y="49"/>
                    <a:pt x="14" y="50"/>
                  </a:cubicBezTo>
                  <a:cubicBezTo>
                    <a:pt x="16" y="54"/>
                    <a:pt x="19" y="58"/>
                    <a:pt x="23" y="62"/>
                  </a:cubicBezTo>
                  <a:cubicBezTo>
                    <a:pt x="23" y="63"/>
                    <a:pt x="23" y="63"/>
                    <a:pt x="22" y="6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41" name="Freeform 134">
              <a:extLst>
                <a:ext uri="{FF2B5EF4-FFF2-40B4-BE49-F238E27FC236}">
                  <a16:creationId xmlns:a16="http://schemas.microsoft.com/office/drawing/2014/main" id="{F5642261-90D8-4056-A8C5-7119F839A453}"/>
                </a:ext>
              </a:extLst>
            </p:cNvPr>
            <p:cNvSpPr>
              <a:spLocks/>
            </p:cNvSpPr>
            <p:nvPr userDrawn="1"/>
          </p:nvSpPr>
          <p:spPr bwMode="auto">
            <a:xfrm>
              <a:off x="4303306" y="3235510"/>
              <a:ext cx="98319" cy="83193"/>
            </a:xfrm>
            <a:custGeom>
              <a:avLst/>
              <a:gdLst>
                <a:gd name="T0" fmla="*/ 9 w 11"/>
                <a:gd name="T1" fmla="*/ 9 h 9"/>
                <a:gd name="T2" fmla="*/ 7 w 11"/>
                <a:gd name="T3" fmla="*/ 7 h 9"/>
                <a:gd name="T4" fmla="*/ 0 w 11"/>
                <a:gd name="T5" fmla="*/ 2 h 9"/>
                <a:gd name="T6" fmla="*/ 0 w 11"/>
                <a:gd name="T7" fmla="*/ 1 h 9"/>
                <a:gd name="T8" fmla="*/ 7 w 11"/>
                <a:gd name="T9" fmla="*/ 0 h 9"/>
                <a:gd name="T10" fmla="*/ 9 w 11"/>
                <a:gd name="T11" fmla="*/ 9 h 9"/>
              </a:gdLst>
              <a:ahLst/>
              <a:cxnLst>
                <a:cxn ang="0">
                  <a:pos x="T0" y="T1"/>
                </a:cxn>
                <a:cxn ang="0">
                  <a:pos x="T2" y="T3"/>
                </a:cxn>
                <a:cxn ang="0">
                  <a:pos x="T4" y="T5"/>
                </a:cxn>
                <a:cxn ang="0">
                  <a:pos x="T6" y="T7"/>
                </a:cxn>
                <a:cxn ang="0">
                  <a:pos x="T8" y="T9"/>
                </a:cxn>
                <a:cxn ang="0">
                  <a:pos x="T10" y="T11"/>
                </a:cxn>
              </a:cxnLst>
              <a:rect l="0" t="0" r="r" b="b"/>
              <a:pathLst>
                <a:path w="11" h="9">
                  <a:moveTo>
                    <a:pt x="9" y="9"/>
                  </a:moveTo>
                  <a:cubicBezTo>
                    <a:pt x="8" y="9"/>
                    <a:pt x="7" y="8"/>
                    <a:pt x="7" y="7"/>
                  </a:cubicBezTo>
                  <a:cubicBezTo>
                    <a:pt x="3" y="6"/>
                    <a:pt x="1" y="5"/>
                    <a:pt x="0" y="2"/>
                  </a:cubicBezTo>
                  <a:cubicBezTo>
                    <a:pt x="0" y="2"/>
                    <a:pt x="0" y="2"/>
                    <a:pt x="0" y="1"/>
                  </a:cubicBezTo>
                  <a:cubicBezTo>
                    <a:pt x="2" y="1"/>
                    <a:pt x="5" y="0"/>
                    <a:pt x="7" y="0"/>
                  </a:cubicBezTo>
                  <a:cubicBezTo>
                    <a:pt x="11" y="1"/>
                    <a:pt x="10" y="6"/>
                    <a:pt x="9" y="9"/>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42" name="Freeform 135">
              <a:extLst>
                <a:ext uri="{FF2B5EF4-FFF2-40B4-BE49-F238E27FC236}">
                  <a16:creationId xmlns:a16="http://schemas.microsoft.com/office/drawing/2014/main" id="{6D6796AF-621D-4F6E-B31C-AE2D3CDEF27A}"/>
                </a:ext>
              </a:extLst>
            </p:cNvPr>
            <p:cNvSpPr>
              <a:spLocks/>
            </p:cNvSpPr>
            <p:nvPr userDrawn="1"/>
          </p:nvSpPr>
          <p:spPr bwMode="auto">
            <a:xfrm>
              <a:off x="4212550" y="3137191"/>
              <a:ext cx="105882" cy="98319"/>
            </a:xfrm>
            <a:custGeom>
              <a:avLst/>
              <a:gdLst>
                <a:gd name="T0" fmla="*/ 10 w 11"/>
                <a:gd name="T1" fmla="*/ 10 h 10"/>
                <a:gd name="T2" fmla="*/ 9 w 11"/>
                <a:gd name="T3" fmla="*/ 10 h 10"/>
                <a:gd name="T4" fmla="*/ 8 w 11"/>
                <a:gd name="T5" fmla="*/ 8 h 10"/>
                <a:gd name="T6" fmla="*/ 1 w 11"/>
                <a:gd name="T7" fmla="*/ 2 h 10"/>
                <a:gd name="T8" fmla="*/ 4 w 11"/>
                <a:gd name="T9" fmla="*/ 2 h 10"/>
                <a:gd name="T10" fmla="*/ 11 w 11"/>
                <a:gd name="T11" fmla="*/ 5 h 10"/>
                <a:gd name="T12" fmla="*/ 10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10" y="10"/>
                  </a:moveTo>
                  <a:cubicBezTo>
                    <a:pt x="9" y="10"/>
                    <a:pt x="9" y="10"/>
                    <a:pt x="9" y="10"/>
                  </a:cubicBezTo>
                  <a:cubicBezTo>
                    <a:pt x="8" y="9"/>
                    <a:pt x="8" y="9"/>
                    <a:pt x="8" y="8"/>
                  </a:cubicBezTo>
                  <a:cubicBezTo>
                    <a:pt x="4" y="8"/>
                    <a:pt x="0" y="6"/>
                    <a:pt x="1" y="2"/>
                  </a:cubicBezTo>
                  <a:cubicBezTo>
                    <a:pt x="2" y="1"/>
                    <a:pt x="2" y="2"/>
                    <a:pt x="4" y="2"/>
                  </a:cubicBezTo>
                  <a:cubicBezTo>
                    <a:pt x="7" y="2"/>
                    <a:pt x="11" y="0"/>
                    <a:pt x="11" y="5"/>
                  </a:cubicBezTo>
                  <a:cubicBezTo>
                    <a:pt x="11" y="6"/>
                    <a:pt x="10" y="8"/>
                    <a:pt x="10" y="10"/>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43" name="Freeform 136">
              <a:extLst>
                <a:ext uri="{FF2B5EF4-FFF2-40B4-BE49-F238E27FC236}">
                  <a16:creationId xmlns:a16="http://schemas.microsoft.com/office/drawing/2014/main" id="{84EC43EE-5AC7-48AE-81CC-818064945072}"/>
                </a:ext>
              </a:extLst>
            </p:cNvPr>
            <p:cNvSpPr>
              <a:spLocks/>
            </p:cNvSpPr>
            <p:nvPr userDrawn="1"/>
          </p:nvSpPr>
          <p:spPr bwMode="auto">
            <a:xfrm>
              <a:off x="4749525" y="3212821"/>
              <a:ext cx="1232773" cy="1066386"/>
            </a:xfrm>
            <a:custGeom>
              <a:avLst/>
              <a:gdLst>
                <a:gd name="T0" fmla="*/ 132 w 132"/>
                <a:gd name="T1" fmla="*/ 6 h 113"/>
                <a:gd name="T2" fmla="*/ 98 w 132"/>
                <a:gd name="T3" fmla="*/ 6 h 113"/>
                <a:gd name="T4" fmla="*/ 79 w 132"/>
                <a:gd name="T5" fmla="*/ 25 h 113"/>
                <a:gd name="T6" fmla="*/ 73 w 132"/>
                <a:gd name="T7" fmla="*/ 12 h 113"/>
                <a:gd name="T8" fmla="*/ 83 w 132"/>
                <a:gd name="T9" fmla="*/ 8 h 113"/>
                <a:gd name="T10" fmla="*/ 57 w 132"/>
                <a:gd name="T11" fmla="*/ 8 h 113"/>
                <a:gd name="T12" fmla="*/ 53 w 132"/>
                <a:gd name="T13" fmla="*/ 25 h 113"/>
                <a:gd name="T14" fmla="*/ 34 w 132"/>
                <a:gd name="T15" fmla="*/ 6 h 113"/>
                <a:gd name="T16" fmla="*/ 0 w 132"/>
                <a:gd name="T17" fmla="*/ 6 h 113"/>
                <a:gd name="T18" fmla="*/ 24 w 132"/>
                <a:gd name="T19" fmla="*/ 16 h 113"/>
                <a:gd name="T20" fmla="*/ 27 w 132"/>
                <a:gd name="T21" fmla="*/ 22 h 113"/>
                <a:gd name="T22" fmla="*/ 9 w 132"/>
                <a:gd name="T23" fmla="*/ 22 h 113"/>
                <a:gd name="T24" fmla="*/ 31 w 132"/>
                <a:gd name="T25" fmla="*/ 32 h 113"/>
                <a:gd name="T26" fmla="*/ 34 w 132"/>
                <a:gd name="T27" fmla="*/ 38 h 113"/>
                <a:gd name="T28" fmla="*/ 20 w 132"/>
                <a:gd name="T29" fmla="*/ 39 h 113"/>
                <a:gd name="T30" fmla="*/ 38 w 132"/>
                <a:gd name="T31" fmla="*/ 48 h 113"/>
                <a:gd name="T32" fmla="*/ 41 w 132"/>
                <a:gd name="T33" fmla="*/ 54 h 113"/>
                <a:gd name="T34" fmla="*/ 30 w 132"/>
                <a:gd name="T35" fmla="*/ 54 h 113"/>
                <a:gd name="T36" fmla="*/ 45 w 132"/>
                <a:gd name="T37" fmla="*/ 63 h 113"/>
                <a:gd name="T38" fmla="*/ 47 w 132"/>
                <a:gd name="T39" fmla="*/ 69 h 113"/>
                <a:gd name="T40" fmla="*/ 39 w 132"/>
                <a:gd name="T41" fmla="*/ 69 h 113"/>
                <a:gd name="T42" fmla="*/ 51 w 132"/>
                <a:gd name="T43" fmla="*/ 78 h 113"/>
                <a:gd name="T44" fmla="*/ 51 w 132"/>
                <a:gd name="T45" fmla="*/ 89 h 113"/>
                <a:gd name="T46" fmla="*/ 66 w 132"/>
                <a:gd name="T47" fmla="*/ 113 h 113"/>
                <a:gd name="T48" fmla="*/ 81 w 132"/>
                <a:gd name="T49" fmla="*/ 89 h 113"/>
                <a:gd name="T50" fmla="*/ 81 w 132"/>
                <a:gd name="T51" fmla="*/ 78 h 113"/>
                <a:gd name="T52" fmla="*/ 92 w 132"/>
                <a:gd name="T53" fmla="*/ 69 h 113"/>
                <a:gd name="T54" fmla="*/ 85 w 132"/>
                <a:gd name="T55" fmla="*/ 69 h 113"/>
                <a:gd name="T56" fmla="*/ 87 w 132"/>
                <a:gd name="T57" fmla="*/ 63 h 113"/>
                <a:gd name="T58" fmla="*/ 102 w 132"/>
                <a:gd name="T59" fmla="*/ 54 h 113"/>
                <a:gd name="T60" fmla="*/ 91 w 132"/>
                <a:gd name="T61" fmla="*/ 54 h 113"/>
                <a:gd name="T62" fmla="*/ 93 w 132"/>
                <a:gd name="T63" fmla="*/ 48 h 113"/>
                <a:gd name="T64" fmla="*/ 111 w 132"/>
                <a:gd name="T65" fmla="*/ 39 h 113"/>
                <a:gd name="T66" fmla="*/ 97 w 132"/>
                <a:gd name="T67" fmla="*/ 38 h 113"/>
                <a:gd name="T68" fmla="*/ 100 w 132"/>
                <a:gd name="T69" fmla="*/ 32 h 113"/>
                <a:gd name="T70" fmla="*/ 123 w 132"/>
                <a:gd name="T71" fmla="*/ 22 h 113"/>
                <a:gd name="T72" fmla="*/ 105 w 132"/>
                <a:gd name="T73" fmla="*/ 22 h 113"/>
                <a:gd name="T74" fmla="*/ 107 w 132"/>
                <a:gd name="T75" fmla="*/ 16 h 113"/>
                <a:gd name="T76" fmla="*/ 132 w 132"/>
                <a:gd name="T77" fmla="*/ 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2" h="113">
                  <a:moveTo>
                    <a:pt x="132" y="6"/>
                  </a:moveTo>
                  <a:cubicBezTo>
                    <a:pt x="98" y="6"/>
                    <a:pt x="98" y="6"/>
                    <a:pt x="98" y="6"/>
                  </a:cubicBezTo>
                  <a:cubicBezTo>
                    <a:pt x="88" y="6"/>
                    <a:pt x="83" y="16"/>
                    <a:pt x="79" y="25"/>
                  </a:cubicBezTo>
                  <a:cubicBezTo>
                    <a:pt x="73" y="12"/>
                    <a:pt x="73" y="12"/>
                    <a:pt x="73" y="12"/>
                  </a:cubicBezTo>
                  <a:cubicBezTo>
                    <a:pt x="83" y="8"/>
                    <a:pt x="83" y="8"/>
                    <a:pt x="83" y="8"/>
                  </a:cubicBezTo>
                  <a:cubicBezTo>
                    <a:pt x="77" y="3"/>
                    <a:pt x="59" y="0"/>
                    <a:pt x="57" y="8"/>
                  </a:cubicBezTo>
                  <a:cubicBezTo>
                    <a:pt x="53" y="25"/>
                    <a:pt x="53" y="25"/>
                    <a:pt x="53" y="25"/>
                  </a:cubicBezTo>
                  <a:cubicBezTo>
                    <a:pt x="50" y="17"/>
                    <a:pt x="45" y="6"/>
                    <a:pt x="34" y="6"/>
                  </a:cubicBezTo>
                  <a:cubicBezTo>
                    <a:pt x="0" y="6"/>
                    <a:pt x="0" y="6"/>
                    <a:pt x="0" y="6"/>
                  </a:cubicBezTo>
                  <a:cubicBezTo>
                    <a:pt x="4" y="14"/>
                    <a:pt x="8" y="17"/>
                    <a:pt x="24" y="16"/>
                  </a:cubicBezTo>
                  <a:cubicBezTo>
                    <a:pt x="27" y="22"/>
                    <a:pt x="27" y="22"/>
                    <a:pt x="27" y="22"/>
                  </a:cubicBezTo>
                  <a:cubicBezTo>
                    <a:pt x="9" y="22"/>
                    <a:pt x="9" y="22"/>
                    <a:pt x="9" y="22"/>
                  </a:cubicBezTo>
                  <a:cubicBezTo>
                    <a:pt x="14" y="32"/>
                    <a:pt x="17" y="32"/>
                    <a:pt x="31" y="32"/>
                  </a:cubicBezTo>
                  <a:cubicBezTo>
                    <a:pt x="34" y="38"/>
                    <a:pt x="34" y="38"/>
                    <a:pt x="34" y="38"/>
                  </a:cubicBezTo>
                  <a:cubicBezTo>
                    <a:pt x="20" y="39"/>
                    <a:pt x="20" y="39"/>
                    <a:pt x="20" y="39"/>
                  </a:cubicBezTo>
                  <a:cubicBezTo>
                    <a:pt x="23" y="45"/>
                    <a:pt x="27" y="48"/>
                    <a:pt x="38" y="48"/>
                  </a:cubicBezTo>
                  <a:cubicBezTo>
                    <a:pt x="41" y="54"/>
                    <a:pt x="41" y="54"/>
                    <a:pt x="41" y="54"/>
                  </a:cubicBezTo>
                  <a:cubicBezTo>
                    <a:pt x="30" y="54"/>
                    <a:pt x="30" y="54"/>
                    <a:pt x="30" y="54"/>
                  </a:cubicBezTo>
                  <a:cubicBezTo>
                    <a:pt x="34" y="61"/>
                    <a:pt x="36" y="64"/>
                    <a:pt x="45" y="63"/>
                  </a:cubicBezTo>
                  <a:cubicBezTo>
                    <a:pt x="47" y="69"/>
                    <a:pt x="47" y="69"/>
                    <a:pt x="47" y="69"/>
                  </a:cubicBezTo>
                  <a:cubicBezTo>
                    <a:pt x="39" y="69"/>
                    <a:pt x="39" y="69"/>
                    <a:pt x="39" y="69"/>
                  </a:cubicBezTo>
                  <a:cubicBezTo>
                    <a:pt x="43" y="77"/>
                    <a:pt x="46" y="77"/>
                    <a:pt x="51" y="78"/>
                  </a:cubicBezTo>
                  <a:cubicBezTo>
                    <a:pt x="55" y="78"/>
                    <a:pt x="56" y="86"/>
                    <a:pt x="51" y="89"/>
                  </a:cubicBezTo>
                  <a:cubicBezTo>
                    <a:pt x="66" y="113"/>
                    <a:pt x="66" y="113"/>
                    <a:pt x="66" y="113"/>
                  </a:cubicBezTo>
                  <a:cubicBezTo>
                    <a:pt x="81" y="89"/>
                    <a:pt x="81" y="89"/>
                    <a:pt x="81" y="89"/>
                  </a:cubicBezTo>
                  <a:cubicBezTo>
                    <a:pt x="76" y="86"/>
                    <a:pt x="76" y="78"/>
                    <a:pt x="81" y="78"/>
                  </a:cubicBezTo>
                  <a:cubicBezTo>
                    <a:pt x="85" y="77"/>
                    <a:pt x="89" y="77"/>
                    <a:pt x="92" y="69"/>
                  </a:cubicBezTo>
                  <a:cubicBezTo>
                    <a:pt x="85" y="69"/>
                    <a:pt x="85" y="69"/>
                    <a:pt x="85" y="69"/>
                  </a:cubicBezTo>
                  <a:cubicBezTo>
                    <a:pt x="87" y="63"/>
                    <a:pt x="87" y="63"/>
                    <a:pt x="87" y="63"/>
                  </a:cubicBezTo>
                  <a:cubicBezTo>
                    <a:pt x="96" y="64"/>
                    <a:pt x="98" y="60"/>
                    <a:pt x="102" y="54"/>
                  </a:cubicBezTo>
                  <a:cubicBezTo>
                    <a:pt x="91" y="54"/>
                    <a:pt x="91" y="54"/>
                    <a:pt x="91" y="54"/>
                  </a:cubicBezTo>
                  <a:cubicBezTo>
                    <a:pt x="93" y="48"/>
                    <a:pt x="93" y="48"/>
                    <a:pt x="93" y="48"/>
                  </a:cubicBezTo>
                  <a:cubicBezTo>
                    <a:pt x="105" y="48"/>
                    <a:pt x="108" y="45"/>
                    <a:pt x="111" y="39"/>
                  </a:cubicBezTo>
                  <a:cubicBezTo>
                    <a:pt x="97" y="38"/>
                    <a:pt x="97" y="38"/>
                    <a:pt x="97" y="38"/>
                  </a:cubicBezTo>
                  <a:cubicBezTo>
                    <a:pt x="100" y="32"/>
                    <a:pt x="100" y="32"/>
                    <a:pt x="100" y="32"/>
                  </a:cubicBezTo>
                  <a:cubicBezTo>
                    <a:pt x="115" y="32"/>
                    <a:pt x="118" y="32"/>
                    <a:pt x="123" y="22"/>
                  </a:cubicBezTo>
                  <a:cubicBezTo>
                    <a:pt x="105" y="22"/>
                    <a:pt x="105" y="22"/>
                    <a:pt x="105" y="22"/>
                  </a:cubicBezTo>
                  <a:cubicBezTo>
                    <a:pt x="107" y="16"/>
                    <a:pt x="107" y="16"/>
                    <a:pt x="107" y="16"/>
                  </a:cubicBezTo>
                  <a:cubicBezTo>
                    <a:pt x="123" y="17"/>
                    <a:pt x="128" y="14"/>
                    <a:pt x="132" y="6"/>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44" name="Freeform 137">
              <a:extLst>
                <a:ext uri="{FF2B5EF4-FFF2-40B4-BE49-F238E27FC236}">
                  <a16:creationId xmlns:a16="http://schemas.microsoft.com/office/drawing/2014/main" id="{54564195-06AF-448F-8128-B2E7561C4C69}"/>
                </a:ext>
              </a:extLst>
            </p:cNvPr>
            <p:cNvSpPr>
              <a:spLocks noEditPoints="1"/>
            </p:cNvSpPr>
            <p:nvPr userDrawn="1"/>
          </p:nvSpPr>
          <p:spPr bwMode="auto">
            <a:xfrm>
              <a:off x="6004987" y="2993493"/>
              <a:ext cx="484034" cy="325210"/>
            </a:xfrm>
            <a:custGeom>
              <a:avLst/>
              <a:gdLst>
                <a:gd name="T0" fmla="*/ 51 w 52"/>
                <a:gd name="T1" fmla="*/ 10 h 34"/>
                <a:gd name="T2" fmla="*/ 48 w 52"/>
                <a:gd name="T3" fmla="*/ 10 h 34"/>
                <a:gd name="T4" fmla="*/ 47 w 52"/>
                <a:gd name="T5" fmla="*/ 8 h 34"/>
                <a:gd name="T6" fmla="*/ 50 w 52"/>
                <a:gd name="T7" fmla="*/ 7 h 34"/>
                <a:gd name="T8" fmla="*/ 52 w 52"/>
                <a:gd name="T9" fmla="*/ 2 h 34"/>
                <a:gd name="T10" fmla="*/ 44 w 52"/>
                <a:gd name="T11" fmla="*/ 3 h 34"/>
                <a:gd name="T12" fmla="*/ 36 w 52"/>
                <a:gd name="T13" fmla="*/ 1 h 34"/>
                <a:gd name="T14" fmla="*/ 36 w 52"/>
                <a:gd name="T15" fmla="*/ 3 h 34"/>
                <a:gd name="T16" fmla="*/ 35 w 52"/>
                <a:gd name="T17" fmla="*/ 4 h 34"/>
                <a:gd name="T18" fmla="*/ 35 w 52"/>
                <a:gd name="T19" fmla="*/ 5 h 34"/>
                <a:gd name="T20" fmla="*/ 34 w 52"/>
                <a:gd name="T21" fmla="*/ 7 h 34"/>
                <a:gd name="T22" fmla="*/ 34 w 52"/>
                <a:gd name="T23" fmla="*/ 6 h 34"/>
                <a:gd name="T24" fmla="*/ 30 w 52"/>
                <a:gd name="T25" fmla="*/ 5 h 34"/>
                <a:gd name="T26" fmla="*/ 28 w 52"/>
                <a:gd name="T27" fmla="*/ 9 h 34"/>
                <a:gd name="T28" fmla="*/ 28 w 52"/>
                <a:gd name="T29" fmla="*/ 10 h 34"/>
                <a:gd name="T30" fmla="*/ 31 w 52"/>
                <a:gd name="T31" fmla="*/ 11 h 34"/>
                <a:gd name="T32" fmla="*/ 33 w 52"/>
                <a:gd name="T33" fmla="*/ 12 h 34"/>
                <a:gd name="T34" fmla="*/ 30 w 52"/>
                <a:gd name="T35" fmla="*/ 14 h 34"/>
                <a:gd name="T36" fmla="*/ 26 w 52"/>
                <a:gd name="T37" fmla="*/ 14 h 34"/>
                <a:gd name="T38" fmla="*/ 13 w 52"/>
                <a:gd name="T39" fmla="*/ 11 h 34"/>
                <a:gd name="T40" fmla="*/ 13 w 52"/>
                <a:gd name="T41" fmla="*/ 12 h 34"/>
                <a:gd name="T42" fmla="*/ 20 w 52"/>
                <a:gd name="T43" fmla="*/ 16 h 34"/>
                <a:gd name="T44" fmla="*/ 32 w 52"/>
                <a:gd name="T45" fmla="*/ 20 h 34"/>
                <a:gd name="T46" fmla="*/ 31 w 52"/>
                <a:gd name="T47" fmla="*/ 20 h 34"/>
                <a:gd name="T48" fmla="*/ 24 w 52"/>
                <a:gd name="T49" fmla="*/ 20 h 34"/>
                <a:gd name="T50" fmla="*/ 19 w 52"/>
                <a:gd name="T51" fmla="*/ 19 h 34"/>
                <a:gd name="T52" fmla="*/ 18 w 52"/>
                <a:gd name="T53" fmla="*/ 19 h 34"/>
                <a:gd name="T54" fmla="*/ 4 w 52"/>
                <a:gd name="T55" fmla="*/ 14 h 34"/>
                <a:gd name="T56" fmla="*/ 2 w 52"/>
                <a:gd name="T57" fmla="*/ 12 h 34"/>
                <a:gd name="T58" fmla="*/ 3 w 52"/>
                <a:gd name="T59" fmla="*/ 20 h 34"/>
                <a:gd name="T60" fmla="*/ 13 w 52"/>
                <a:gd name="T61" fmla="*/ 23 h 34"/>
                <a:gd name="T62" fmla="*/ 13 w 52"/>
                <a:gd name="T63" fmla="*/ 24 h 34"/>
                <a:gd name="T64" fmla="*/ 9 w 52"/>
                <a:gd name="T65" fmla="*/ 27 h 34"/>
                <a:gd name="T66" fmla="*/ 4 w 52"/>
                <a:gd name="T67" fmla="*/ 26 h 34"/>
                <a:gd name="T68" fmla="*/ 9 w 52"/>
                <a:gd name="T69" fmla="*/ 33 h 34"/>
                <a:gd name="T70" fmla="*/ 10 w 52"/>
                <a:gd name="T71" fmla="*/ 34 h 34"/>
                <a:gd name="T72" fmla="*/ 18 w 52"/>
                <a:gd name="T73" fmla="*/ 28 h 34"/>
                <a:gd name="T74" fmla="*/ 23 w 52"/>
                <a:gd name="T75" fmla="*/ 28 h 34"/>
                <a:gd name="T76" fmla="*/ 22 w 52"/>
                <a:gd name="T77" fmla="*/ 23 h 34"/>
                <a:gd name="T78" fmla="*/ 23 w 52"/>
                <a:gd name="T79" fmla="*/ 21 h 34"/>
                <a:gd name="T80" fmla="*/ 30 w 52"/>
                <a:gd name="T81" fmla="*/ 22 h 34"/>
                <a:gd name="T82" fmla="*/ 36 w 52"/>
                <a:gd name="T83" fmla="*/ 25 h 34"/>
                <a:gd name="T84" fmla="*/ 39 w 52"/>
                <a:gd name="T85" fmla="*/ 21 h 34"/>
                <a:gd name="T86" fmla="*/ 39 w 52"/>
                <a:gd name="T87" fmla="*/ 20 h 34"/>
                <a:gd name="T88" fmla="*/ 51 w 52"/>
                <a:gd name="T89" fmla="*/ 14 h 34"/>
                <a:gd name="T90" fmla="*/ 38 w 52"/>
                <a:gd name="T91" fmla="*/ 14 h 34"/>
                <a:gd name="T92" fmla="*/ 38 w 52"/>
                <a:gd name="T93" fmla="*/ 12 h 34"/>
                <a:gd name="T94" fmla="*/ 36 w 52"/>
                <a:gd name="T95" fmla="*/ 11 h 34"/>
                <a:gd name="T96" fmla="*/ 36 w 52"/>
                <a:gd name="T97" fmla="*/ 10 h 34"/>
                <a:gd name="T98" fmla="*/ 40 w 52"/>
                <a:gd name="T99" fmla="*/ 9 h 34"/>
                <a:gd name="T100" fmla="*/ 43 w 52"/>
                <a:gd name="T101" fmla="*/ 14 h 34"/>
                <a:gd name="T102" fmla="*/ 38 w 52"/>
                <a:gd name="T103" fmla="*/ 1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 h="34">
                  <a:moveTo>
                    <a:pt x="51" y="13"/>
                  </a:moveTo>
                  <a:cubicBezTo>
                    <a:pt x="51" y="12"/>
                    <a:pt x="51" y="12"/>
                    <a:pt x="51" y="12"/>
                  </a:cubicBezTo>
                  <a:cubicBezTo>
                    <a:pt x="51" y="11"/>
                    <a:pt x="51" y="11"/>
                    <a:pt x="51" y="10"/>
                  </a:cubicBezTo>
                  <a:cubicBezTo>
                    <a:pt x="51" y="10"/>
                    <a:pt x="50" y="10"/>
                    <a:pt x="50" y="10"/>
                  </a:cubicBezTo>
                  <a:cubicBezTo>
                    <a:pt x="49" y="10"/>
                    <a:pt x="49" y="10"/>
                    <a:pt x="49" y="10"/>
                  </a:cubicBezTo>
                  <a:cubicBezTo>
                    <a:pt x="48" y="10"/>
                    <a:pt x="48" y="10"/>
                    <a:pt x="48" y="10"/>
                  </a:cubicBezTo>
                  <a:cubicBezTo>
                    <a:pt x="48" y="9"/>
                    <a:pt x="48" y="9"/>
                    <a:pt x="48" y="9"/>
                  </a:cubicBezTo>
                  <a:cubicBezTo>
                    <a:pt x="48" y="9"/>
                    <a:pt x="48" y="9"/>
                    <a:pt x="48" y="9"/>
                  </a:cubicBezTo>
                  <a:cubicBezTo>
                    <a:pt x="47" y="8"/>
                    <a:pt x="47" y="8"/>
                    <a:pt x="47" y="8"/>
                  </a:cubicBezTo>
                  <a:cubicBezTo>
                    <a:pt x="47" y="8"/>
                    <a:pt x="47" y="8"/>
                    <a:pt x="47" y="8"/>
                  </a:cubicBezTo>
                  <a:cubicBezTo>
                    <a:pt x="48" y="8"/>
                    <a:pt x="48" y="8"/>
                    <a:pt x="48" y="8"/>
                  </a:cubicBezTo>
                  <a:cubicBezTo>
                    <a:pt x="48" y="7"/>
                    <a:pt x="49" y="7"/>
                    <a:pt x="50" y="7"/>
                  </a:cubicBezTo>
                  <a:cubicBezTo>
                    <a:pt x="50" y="7"/>
                    <a:pt x="50" y="7"/>
                    <a:pt x="50" y="7"/>
                  </a:cubicBezTo>
                  <a:cubicBezTo>
                    <a:pt x="50" y="7"/>
                    <a:pt x="50" y="7"/>
                    <a:pt x="50" y="7"/>
                  </a:cubicBezTo>
                  <a:cubicBezTo>
                    <a:pt x="51" y="6"/>
                    <a:pt x="52" y="4"/>
                    <a:pt x="52" y="2"/>
                  </a:cubicBezTo>
                  <a:cubicBezTo>
                    <a:pt x="52" y="2"/>
                    <a:pt x="51" y="2"/>
                    <a:pt x="50" y="2"/>
                  </a:cubicBezTo>
                  <a:cubicBezTo>
                    <a:pt x="49" y="2"/>
                    <a:pt x="48" y="2"/>
                    <a:pt x="46" y="3"/>
                  </a:cubicBezTo>
                  <a:cubicBezTo>
                    <a:pt x="46" y="3"/>
                    <a:pt x="45" y="3"/>
                    <a:pt x="44" y="3"/>
                  </a:cubicBezTo>
                  <a:cubicBezTo>
                    <a:pt x="43" y="3"/>
                    <a:pt x="43" y="3"/>
                    <a:pt x="43" y="3"/>
                  </a:cubicBezTo>
                  <a:cubicBezTo>
                    <a:pt x="41" y="2"/>
                    <a:pt x="41" y="2"/>
                    <a:pt x="36" y="0"/>
                  </a:cubicBezTo>
                  <a:cubicBezTo>
                    <a:pt x="36" y="0"/>
                    <a:pt x="36" y="0"/>
                    <a:pt x="36" y="1"/>
                  </a:cubicBezTo>
                  <a:cubicBezTo>
                    <a:pt x="35" y="1"/>
                    <a:pt x="35" y="2"/>
                    <a:pt x="36" y="3"/>
                  </a:cubicBezTo>
                  <a:cubicBezTo>
                    <a:pt x="36" y="3"/>
                    <a:pt x="36" y="3"/>
                    <a:pt x="36" y="3"/>
                  </a:cubicBezTo>
                  <a:cubicBezTo>
                    <a:pt x="36" y="3"/>
                    <a:pt x="36" y="3"/>
                    <a:pt x="36" y="3"/>
                  </a:cubicBezTo>
                  <a:cubicBezTo>
                    <a:pt x="36" y="3"/>
                    <a:pt x="36" y="3"/>
                    <a:pt x="36" y="3"/>
                  </a:cubicBezTo>
                  <a:cubicBezTo>
                    <a:pt x="35" y="4"/>
                    <a:pt x="35" y="4"/>
                    <a:pt x="35" y="4"/>
                  </a:cubicBezTo>
                  <a:cubicBezTo>
                    <a:pt x="35" y="4"/>
                    <a:pt x="35" y="4"/>
                    <a:pt x="35" y="4"/>
                  </a:cubicBezTo>
                  <a:cubicBezTo>
                    <a:pt x="35" y="4"/>
                    <a:pt x="35" y="4"/>
                    <a:pt x="35" y="4"/>
                  </a:cubicBezTo>
                  <a:cubicBezTo>
                    <a:pt x="35" y="4"/>
                    <a:pt x="35" y="4"/>
                    <a:pt x="35" y="4"/>
                  </a:cubicBezTo>
                  <a:cubicBezTo>
                    <a:pt x="35" y="4"/>
                    <a:pt x="35" y="5"/>
                    <a:pt x="35" y="5"/>
                  </a:cubicBezTo>
                  <a:cubicBezTo>
                    <a:pt x="35" y="5"/>
                    <a:pt x="35" y="5"/>
                    <a:pt x="35" y="5"/>
                  </a:cubicBezTo>
                  <a:cubicBezTo>
                    <a:pt x="35" y="6"/>
                    <a:pt x="35" y="6"/>
                    <a:pt x="35" y="6"/>
                  </a:cubicBezTo>
                  <a:cubicBezTo>
                    <a:pt x="34" y="7"/>
                    <a:pt x="34" y="7"/>
                    <a:pt x="34" y="7"/>
                  </a:cubicBezTo>
                  <a:cubicBezTo>
                    <a:pt x="34" y="7"/>
                    <a:pt x="34" y="7"/>
                    <a:pt x="34" y="7"/>
                  </a:cubicBezTo>
                  <a:cubicBezTo>
                    <a:pt x="34" y="7"/>
                    <a:pt x="34" y="7"/>
                    <a:pt x="34" y="7"/>
                  </a:cubicBezTo>
                  <a:cubicBezTo>
                    <a:pt x="34" y="6"/>
                    <a:pt x="34" y="6"/>
                    <a:pt x="34" y="6"/>
                  </a:cubicBezTo>
                  <a:cubicBezTo>
                    <a:pt x="33" y="6"/>
                    <a:pt x="33" y="6"/>
                    <a:pt x="32" y="5"/>
                  </a:cubicBezTo>
                  <a:cubicBezTo>
                    <a:pt x="32" y="5"/>
                    <a:pt x="32" y="5"/>
                    <a:pt x="32" y="5"/>
                  </a:cubicBezTo>
                  <a:cubicBezTo>
                    <a:pt x="31" y="5"/>
                    <a:pt x="31" y="5"/>
                    <a:pt x="30" y="5"/>
                  </a:cubicBezTo>
                  <a:cubicBezTo>
                    <a:pt x="30" y="6"/>
                    <a:pt x="30" y="6"/>
                    <a:pt x="30" y="6"/>
                  </a:cubicBezTo>
                  <a:cubicBezTo>
                    <a:pt x="30" y="7"/>
                    <a:pt x="30" y="7"/>
                    <a:pt x="30" y="7"/>
                  </a:cubicBezTo>
                  <a:cubicBezTo>
                    <a:pt x="30" y="7"/>
                    <a:pt x="30" y="8"/>
                    <a:pt x="28" y="9"/>
                  </a:cubicBezTo>
                  <a:cubicBezTo>
                    <a:pt x="27" y="8"/>
                    <a:pt x="27" y="8"/>
                    <a:pt x="27" y="8"/>
                  </a:cubicBezTo>
                  <a:cubicBezTo>
                    <a:pt x="26" y="8"/>
                    <a:pt x="26" y="9"/>
                    <a:pt x="26" y="9"/>
                  </a:cubicBezTo>
                  <a:cubicBezTo>
                    <a:pt x="26" y="10"/>
                    <a:pt x="26" y="10"/>
                    <a:pt x="28" y="10"/>
                  </a:cubicBezTo>
                  <a:cubicBezTo>
                    <a:pt x="29" y="10"/>
                    <a:pt x="29" y="11"/>
                    <a:pt x="30" y="11"/>
                  </a:cubicBezTo>
                  <a:cubicBezTo>
                    <a:pt x="30" y="11"/>
                    <a:pt x="30" y="11"/>
                    <a:pt x="30" y="11"/>
                  </a:cubicBezTo>
                  <a:cubicBezTo>
                    <a:pt x="31" y="11"/>
                    <a:pt x="31" y="11"/>
                    <a:pt x="31" y="11"/>
                  </a:cubicBezTo>
                  <a:cubicBezTo>
                    <a:pt x="32" y="11"/>
                    <a:pt x="32" y="11"/>
                    <a:pt x="32" y="11"/>
                  </a:cubicBezTo>
                  <a:cubicBezTo>
                    <a:pt x="33" y="11"/>
                    <a:pt x="33" y="11"/>
                    <a:pt x="33" y="11"/>
                  </a:cubicBezTo>
                  <a:cubicBezTo>
                    <a:pt x="33" y="12"/>
                    <a:pt x="33" y="12"/>
                    <a:pt x="33" y="12"/>
                  </a:cubicBezTo>
                  <a:cubicBezTo>
                    <a:pt x="31" y="12"/>
                    <a:pt x="31" y="12"/>
                    <a:pt x="31" y="12"/>
                  </a:cubicBezTo>
                  <a:cubicBezTo>
                    <a:pt x="31" y="12"/>
                    <a:pt x="31" y="13"/>
                    <a:pt x="30" y="13"/>
                  </a:cubicBezTo>
                  <a:cubicBezTo>
                    <a:pt x="30" y="14"/>
                    <a:pt x="30" y="14"/>
                    <a:pt x="30" y="14"/>
                  </a:cubicBezTo>
                  <a:cubicBezTo>
                    <a:pt x="29" y="15"/>
                    <a:pt x="29" y="15"/>
                    <a:pt x="29" y="15"/>
                  </a:cubicBezTo>
                  <a:cubicBezTo>
                    <a:pt x="29" y="14"/>
                    <a:pt x="29" y="14"/>
                    <a:pt x="29" y="14"/>
                  </a:cubicBezTo>
                  <a:cubicBezTo>
                    <a:pt x="28" y="14"/>
                    <a:pt x="27" y="14"/>
                    <a:pt x="26" y="14"/>
                  </a:cubicBezTo>
                  <a:cubicBezTo>
                    <a:pt x="24" y="13"/>
                    <a:pt x="24" y="13"/>
                    <a:pt x="24" y="13"/>
                  </a:cubicBezTo>
                  <a:cubicBezTo>
                    <a:pt x="22" y="13"/>
                    <a:pt x="18" y="12"/>
                    <a:pt x="15" y="11"/>
                  </a:cubicBezTo>
                  <a:cubicBezTo>
                    <a:pt x="15" y="11"/>
                    <a:pt x="14" y="11"/>
                    <a:pt x="13" y="11"/>
                  </a:cubicBezTo>
                  <a:cubicBezTo>
                    <a:pt x="12" y="10"/>
                    <a:pt x="12" y="10"/>
                    <a:pt x="12" y="10"/>
                  </a:cubicBezTo>
                  <a:cubicBezTo>
                    <a:pt x="11" y="11"/>
                    <a:pt x="11" y="11"/>
                    <a:pt x="11" y="11"/>
                  </a:cubicBezTo>
                  <a:cubicBezTo>
                    <a:pt x="12" y="11"/>
                    <a:pt x="12" y="12"/>
                    <a:pt x="13" y="12"/>
                  </a:cubicBezTo>
                  <a:cubicBezTo>
                    <a:pt x="13" y="12"/>
                    <a:pt x="13" y="12"/>
                    <a:pt x="13" y="12"/>
                  </a:cubicBezTo>
                  <a:cubicBezTo>
                    <a:pt x="14" y="13"/>
                    <a:pt x="14" y="15"/>
                    <a:pt x="16" y="16"/>
                  </a:cubicBezTo>
                  <a:cubicBezTo>
                    <a:pt x="17" y="16"/>
                    <a:pt x="18" y="16"/>
                    <a:pt x="20" y="16"/>
                  </a:cubicBezTo>
                  <a:cubicBezTo>
                    <a:pt x="23" y="16"/>
                    <a:pt x="28" y="17"/>
                    <a:pt x="31" y="19"/>
                  </a:cubicBezTo>
                  <a:cubicBezTo>
                    <a:pt x="32" y="20"/>
                    <a:pt x="32" y="20"/>
                    <a:pt x="32" y="20"/>
                  </a:cubicBezTo>
                  <a:cubicBezTo>
                    <a:pt x="32" y="20"/>
                    <a:pt x="32" y="20"/>
                    <a:pt x="32" y="20"/>
                  </a:cubicBezTo>
                  <a:cubicBezTo>
                    <a:pt x="32" y="20"/>
                    <a:pt x="32" y="20"/>
                    <a:pt x="32" y="20"/>
                  </a:cubicBezTo>
                  <a:cubicBezTo>
                    <a:pt x="32" y="20"/>
                    <a:pt x="32" y="20"/>
                    <a:pt x="32" y="20"/>
                  </a:cubicBezTo>
                  <a:cubicBezTo>
                    <a:pt x="31" y="20"/>
                    <a:pt x="31" y="20"/>
                    <a:pt x="31" y="20"/>
                  </a:cubicBezTo>
                  <a:cubicBezTo>
                    <a:pt x="30" y="20"/>
                    <a:pt x="30" y="21"/>
                    <a:pt x="30" y="21"/>
                  </a:cubicBezTo>
                  <a:cubicBezTo>
                    <a:pt x="29" y="21"/>
                    <a:pt x="29" y="21"/>
                    <a:pt x="29" y="21"/>
                  </a:cubicBezTo>
                  <a:cubicBezTo>
                    <a:pt x="26" y="20"/>
                    <a:pt x="26" y="20"/>
                    <a:pt x="24" y="20"/>
                  </a:cubicBezTo>
                  <a:cubicBezTo>
                    <a:pt x="23" y="19"/>
                    <a:pt x="22" y="18"/>
                    <a:pt x="21" y="18"/>
                  </a:cubicBezTo>
                  <a:cubicBezTo>
                    <a:pt x="21" y="18"/>
                    <a:pt x="20" y="19"/>
                    <a:pt x="19" y="19"/>
                  </a:cubicBezTo>
                  <a:cubicBezTo>
                    <a:pt x="19" y="19"/>
                    <a:pt x="19" y="19"/>
                    <a:pt x="19" y="19"/>
                  </a:cubicBezTo>
                  <a:cubicBezTo>
                    <a:pt x="19" y="19"/>
                    <a:pt x="19" y="19"/>
                    <a:pt x="19" y="19"/>
                  </a:cubicBezTo>
                  <a:cubicBezTo>
                    <a:pt x="19" y="20"/>
                    <a:pt x="19" y="20"/>
                    <a:pt x="19" y="20"/>
                  </a:cubicBezTo>
                  <a:cubicBezTo>
                    <a:pt x="18" y="19"/>
                    <a:pt x="18" y="19"/>
                    <a:pt x="18" y="19"/>
                  </a:cubicBezTo>
                  <a:cubicBezTo>
                    <a:pt x="18" y="19"/>
                    <a:pt x="18" y="19"/>
                    <a:pt x="17" y="19"/>
                  </a:cubicBezTo>
                  <a:cubicBezTo>
                    <a:pt x="16" y="19"/>
                    <a:pt x="15" y="18"/>
                    <a:pt x="14" y="18"/>
                  </a:cubicBezTo>
                  <a:cubicBezTo>
                    <a:pt x="10" y="17"/>
                    <a:pt x="7" y="16"/>
                    <a:pt x="4" y="14"/>
                  </a:cubicBezTo>
                  <a:cubicBezTo>
                    <a:pt x="3" y="13"/>
                    <a:pt x="3" y="13"/>
                    <a:pt x="2" y="12"/>
                  </a:cubicBezTo>
                  <a:cubicBezTo>
                    <a:pt x="2" y="12"/>
                    <a:pt x="2" y="12"/>
                    <a:pt x="2" y="12"/>
                  </a:cubicBezTo>
                  <a:cubicBezTo>
                    <a:pt x="2" y="12"/>
                    <a:pt x="2" y="12"/>
                    <a:pt x="2" y="12"/>
                  </a:cubicBezTo>
                  <a:cubicBezTo>
                    <a:pt x="2" y="11"/>
                    <a:pt x="2" y="11"/>
                    <a:pt x="2" y="11"/>
                  </a:cubicBezTo>
                  <a:cubicBezTo>
                    <a:pt x="1" y="11"/>
                    <a:pt x="1" y="12"/>
                    <a:pt x="0" y="12"/>
                  </a:cubicBezTo>
                  <a:cubicBezTo>
                    <a:pt x="0" y="14"/>
                    <a:pt x="2" y="19"/>
                    <a:pt x="3" y="20"/>
                  </a:cubicBezTo>
                  <a:cubicBezTo>
                    <a:pt x="4" y="20"/>
                    <a:pt x="5" y="21"/>
                    <a:pt x="6" y="21"/>
                  </a:cubicBezTo>
                  <a:cubicBezTo>
                    <a:pt x="8" y="21"/>
                    <a:pt x="11" y="22"/>
                    <a:pt x="12" y="23"/>
                  </a:cubicBezTo>
                  <a:cubicBezTo>
                    <a:pt x="13" y="23"/>
                    <a:pt x="13" y="23"/>
                    <a:pt x="13" y="23"/>
                  </a:cubicBezTo>
                  <a:cubicBezTo>
                    <a:pt x="13" y="23"/>
                    <a:pt x="13" y="23"/>
                    <a:pt x="13" y="23"/>
                  </a:cubicBezTo>
                  <a:cubicBezTo>
                    <a:pt x="13" y="23"/>
                    <a:pt x="13" y="23"/>
                    <a:pt x="13" y="23"/>
                  </a:cubicBezTo>
                  <a:cubicBezTo>
                    <a:pt x="13" y="24"/>
                    <a:pt x="13" y="24"/>
                    <a:pt x="13" y="24"/>
                  </a:cubicBezTo>
                  <a:cubicBezTo>
                    <a:pt x="12" y="25"/>
                    <a:pt x="11" y="26"/>
                    <a:pt x="10" y="26"/>
                  </a:cubicBezTo>
                  <a:cubicBezTo>
                    <a:pt x="10" y="27"/>
                    <a:pt x="10" y="27"/>
                    <a:pt x="10" y="27"/>
                  </a:cubicBezTo>
                  <a:cubicBezTo>
                    <a:pt x="10" y="27"/>
                    <a:pt x="9" y="27"/>
                    <a:pt x="9" y="27"/>
                  </a:cubicBezTo>
                  <a:cubicBezTo>
                    <a:pt x="9" y="27"/>
                    <a:pt x="9" y="27"/>
                    <a:pt x="9" y="27"/>
                  </a:cubicBezTo>
                  <a:cubicBezTo>
                    <a:pt x="9" y="28"/>
                    <a:pt x="8" y="28"/>
                    <a:pt x="8" y="28"/>
                  </a:cubicBezTo>
                  <a:cubicBezTo>
                    <a:pt x="7" y="28"/>
                    <a:pt x="5" y="27"/>
                    <a:pt x="4" y="26"/>
                  </a:cubicBezTo>
                  <a:cubicBezTo>
                    <a:pt x="4" y="26"/>
                    <a:pt x="3" y="26"/>
                    <a:pt x="3" y="26"/>
                  </a:cubicBezTo>
                  <a:cubicBezTo>
                    <a:pt x="3" y="26"/>
                    <a:pt x="3" y="26"/>
                    <a:pt x="3" y="26"/>
                  </a:cubicBezTo>
                  <a:cubicBezTo>
                    <a:pt x="4" y="29"/>
                    <a:pt x="6" y="31"/>
                    <a:pt x="9" y="33"/>
                  </a:cubicBezTo>
                  <a:cubicBezTo>
                    <a:pt x="9" y="34"/>
                    <a:pt x="9" y="34"/>
                    <a:pt x="9" y="34"/>
                  </a:cubicBezTo>
                  <a:cubicBezTo>
                    <a:pt x="10" y="34"/>
                    <a:pt x="10" y="34"/>
                    <a:pt x="10" y="34"/>
                  </a:cubicBezTo>
                  <a:cubicBezTo>
                    <a:pt x="10" y="34"/>
                    <a:pt x="10" y="34"/>
                    <a:pt x="10" y="34"/>
                  </a:cubicBezTo>
                  <a:cubicBezTo>
                    <a:pt x="12" y="34"/>
                    <a:pt x="15" y="31"/>
                    <a:pt x="16" y="29"/>
                  </a:cubicBezTo>
                  <a:cubicBezTo>
                    <a:pt x="16" y="29"/>
                    <a:pt x="17" y="28"/>
                    <a:pt x="17" y="28"/>
                  </a:cubicBezTo>
                  <a:cubicBezTo>
                    <a:pt x="18" y="28"/>
                    <a:pt x="18" y="28"/>
                    <a:pt x="18" y="28"/>
                  </a:cubicBezTo>
                  <a:cubicBezTo>
                    <a:pt x="19" y="27"/>
                    <a:pt x="19" y="27"/>
                    <a:pt x="19" y="27"/>
                  </a:cubicBezTo>
                  <a:cubicBezTo>
                    <a:pt x="19" y="27"/>
                    <a:pt x="19" y="27"/>
                    <a:pt x="19" y="27"/>
                  </a:cubicBezTo>
                  <a:cubicBezTo>
                    <a:pt x="21" y="27"/>
                    <a:pt x="22" y="27"/>
                    <a:pt x="23" y="28"/>
                  </a:cubicBezTo>
                  <a:cubicBezTo>
                    <a:pt x="24" y="28"/>
                    <a:pt x="25" y="26"/>
                    <a:pt x="25" y="25"/>
                  </a:cubicBezTo>
                  <a:cubicBezTo>
                    <a:pt x="25" y="25"/>
                    <a:pt x="25" y="25"/>
                    <a:pt x="25" y="25"/>
                  </a:cubicBezTo>
                  <a:cubicBezTo>
                    <a:pt x="24" y="24"/>
                    <a:pt x="23" y="23"/>
                    <a:pt x="22" y="23"/>
                  </a:cubicBezTo>
                  <a:cubicBezTo>
                    <a:pt x="22" y="23"/>
                    <a:pt x="22" y="23"/>
                    <a:pt x="22" y="23"/>
                  </a:cubicBezTo>
                  <a:cubicBezTo>
                    <a:pt x="22" y="22"/>
                    <a:pt x="22" y="22"/>
                    <a:pt x="22" y="22"/>
                  </a:cubicBezTo>
                  <a:cubicBezTo>
                    <a:pt x="23" y="21"/>
                    <a:pt x="23" y="21"/>
                    <a:pt x="23" y="21"/>
                  </a:cubicBezTo>
                  <a:cubicBezTo>
                    <a:pt x="23" y="20"/>
                    <a:pt x="23" y="20"/>
                    <a:pt x="23" y="20"/>
                  </a:cubicBezTo>
                  <a:cubicBezTo>
                    <a:pt x="24" y="20"/>
                    <a:pt x="24" y="20"/>
                    <a:pt x="24" y="20"/>
                  </a:cubicBezTo>
                  <a:cubicBezTo>
                    <a:pt x="26" y="21"/>
                    <a:pt x="28" y="22"/>
                    <a:pt x="30" y="22"/>
                  </a:cubicBezTo>
                  <a:cubicBezTo>
                    <a:pt x="32" y="23"/>
                    <a:pt x="32" y="23"/>
                    <a:pt x="32" y="23"/>
                  </a:cubicBezTo>
                  <a:cubicBezTo>
                    <a:pt x="33" y="23"/>
                    <a:pt x="33" y="23"/>
                    <a:pt x="33" y="23"/>
                  </a:cubicBezTo>
                  <a:cubicBezTo>
                    <a:pt x="34" y="24"/>
                    <a:pt x="35" y="25"/>
                    <a:pt x="36" y="25"/>
                  </a:cubicBezTo>
                  <a:cubicBezTo>
                    <a:pt x="36" y="25"/>
                    <a:pt x="37" y="25"/>
                    <a:pt x="37" y="25"/>
                  </a:cubicBezTo>
                  <a:cubicBezTo>
                    <a:pt x="38" y="23"/>
                    <a:pt x="39" y="22"/>
                    <a:pt x="39" y="21"/>
                  </a:cubicBezTo>
                  <a:cubicBezTo>
                    <a:pt x="39" y="21"/>
                    <a:pt x="39" y="21"/>
                    <a:pt x="39" y="21"/>
                  </a:cubicBezTo>
                  <a:cubicBezTo>
                    <a:pt x="39" y="21"/>
                    <a:pt x="40" y="21"/>
                    <a:pt x="40" y="21"/>
                  </a:cubicBezTo>
                  <a:cubicBezTo>
                    <a:pt x="39" y="21"/>
                    <a:pt x="39" y="21"/>
                    <a:pt x="39" y="21"/>
                  </a:cubicBezTo>
                  <a:cubicBezTo>
                    <a:pt x="39" y="20"/>
                    <a:pt x="39" y="20"/>
                    <a:pt x="39" y="20"/>
                  </a:cubicBezTo>
                  <a:cubicBezTo>
                    <a:pt x="39" y="20"/>
                    <a:pt x="40" y="20"/>
                    <a:pt x="40" y="20"/>
                  </a:cubicBezTo>
                  <a:cubicBezTo>
                    <a:pt x="43" y="19"/>
                    <a:pt x="47" y="17"/>
                    <a:pt x="50" y="16"/>
                  </a:cubicBezTo>
                  <a:cubicBezTo>
                    <a:pt x="51" y="15"/>
                    <a:pt x="52" y="15"/>
                    <a:pt x="51" y="14"/>
                  </a:cubicBezTo>
                  <a:cubicBezTo>
                    <a:pt x="51" y="13"/>
                    <a:pt x="51" y="13"/>
                    <a:pt x="51" y="13"/>
                  </a:cubicBezTo>
                  <a:moveTo>
                    <a:pt x="37" y="15"/>
                  </a:moveTo>
                  <a:cubicBezTo>
                    <a:pt x="38" y="14"/>
                    <a:pt x="38" y="14"/>
                    <a:pt x="38" y="14"/>
                  </a:cubicBezTo>
                  <a:cubicBezTo>
                    <a:pt x="39" y="13"/>
                    <a:pt x="39" y="13"/>
                    <a:pt x="39" y="13"/>
                  </a:cubicBezTo>
                  <a:cubicBezTo>
                    <a:pt x="39" y="13"/>
                    <a:pt x="39" y="12"/>
                    <a:pt x="38" y="12"/>
                  </a:cubicBezTo>
                  <a:cubicBezTo>
                    <a:pt x="38" y="12"/>
                    <a:pt x="38" y="12"/>
                    <a:pt x="38" y="12"/>
                  </a:cubicBezTo>
                  <a:cubicBezTo>
                    <a:pt x="38" y="12"/>
                    <a:pt x="38" y="12"/>
                    <a:pt x="38" y="12"/>
                  </a:cubicBezTo>
                  <a:cubicBezTo>
                    <a:pt x="37" y="12"/>
                    <a:pt x="37" y="12"/>
                    <a:pt x="37" y="12"/>
                  </a:cubicBezTo>
                  <a:cubicBezTo>
                    <a:pt x="36" y="11"/>
                    <a:pt x="36" y="11"/>
                    <a:pt x="36" y="11"/>
                  </a:cubicBezTo>
                  <a:cubicBezTo>
                    <a:pt x="36" y="11"/>
                    <a:pt x="36" y="11"/>
                    <a:pt x="36" y="11"/>
                  </a:cubicBezTo>
                  <a:cubicBezTo>
                    <a:pt x="37" y="10"/>
                    <a:pt x="37" y="10"/>
                    <a:pt x="37" y="10"/>
                  </a:cubicBezTo>
                  <a:cubicBezTo>
                    <a:pt x="36" y="10"/>
                    <a:pt x="36" y="10"/>
                    <a:pt x="36" y="10"/>
                  </a:cubicBezTo>
                  <a:cubicBezTo>
                    <a:pt x="37" y="10"/>
                    <a:pt x="37" y="10"/>
                    <a:pt x="37" y="10"/>
                  </a:cubicBezTo>
                  <a:cubicBezTo>
                    <a:pt x="40" y="9"/>
                    <a:pt x="40" y="9"/>
                    <a:pt x="40" y="9"/>
                  </a:cubicBezTo>
                  <a:cubicBezTo>
                    <a:pt x="40" y="9"/>
                    <a:pt x="40" y="9"/>
                    <a:pt x="40" y="9"/>
                  </a:cubicBezTo>
                  <a:cubicBezTo>
                    <a:pt x="41" y="9"/>
                    <a:pt x="41" y="9"/>
                    <a:pt x="41" y="9"/>
                  </a:cubicBezTo>
                  <a:cubicBezTo>
                    <a:pt x="41" y="10"/>
                    <a:pt x="43" y="11"/>
                    <a:pt x="43" y="13"/>
                  </a:cubicBezTo>
                  <a:cubicBezTo>
                    <a:pt x="43" y="14"/>
                    <a:pt x="43" y="14"/>
                    <a:pt x="43" y="14"/>
                  </a:cubicBezTo>
                  <a:cubicBezTo>
                    <a:pt x="42" y="15"/>
                    <a:pt x="40" y="16"/>
                    <a:pt x="38" y="16"/>
                  </a:cubicBezTo>
                  <a:cubicBezTo>
                    <a:pt x="38" y="16"/>
                    <a:pt x="38" y="16"/>
                    <a:pt x="38" y="16"/>
                  </a:cubicBezTo>
                  <a:cubicBezTo>
                    <a:pt x="38" y="15"/>
                    <a:pt x="38" y="15"/>
                    <a:pt x="38" y="15"/>
                  </a:cubicBezTo>
                  <a:cubicBezTo>
                    <a:pt x="37" y="15"/>
                    <a:pt x="37" y="15"/>
                    <a:pt x="37" y="15"/>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45" name="Freeform 138">
              <a:extLst>
                <a:ext uri="{FF2B5EF4-FFF2-40B4-BE49-F238E27FC236}">
                  <a16:creationId xmlns:a16="http://schemas.microsoft.com/office/drawing/2014/main" id="{4CDFC31A-1071-4CF3-A4E0-72FB37B40058}"/>
                </a:ext>
              </a:extLst>
            </p:cNvPr>
            <p:cNvSpPr>
              <a:spLocks/>
            </p:cNvSpPr>
            <p:nvPr userDrawn="1"/>
          </p:nvSpPr>
          <p:spPr bwMode="auto">
            <a:xfrm>
              <a:off x="6194063" y="2940552"/>
              <a:ext cx="75630" cy="143697"/>
            </a:xfrm>
            <a:custGeom>
              <a:avLst/>
              <a:gdLst>
                <a:gd name="T0" fmla="*/ 2 w 8"/>
                <a:gd name="T1" fmla="*/ 15 h 15"/>
                <a:gd name="T2" fmla="*/ 0 w 8"/>
                <a:gd name="T3" fmla="*/ 14 h 15"/>
                <a:gd name="T4" fmla="*/ 2 w 8"/>
                <a:gd name="T5" fmla="*/ 9 h 15"/>
                <a:gd name="T6" fmla="*/ 3 w 8"/>
                <a:gd name="T7" fmla="*/ 8 h 15"/>
                <a:gd name="T8" fmla="*/ 3 w 8"/>
                <a:gd name="T9" fmla="*/ 8 h 15"/>
                <a:gd name="T10" fmla="*/ 3 w 8"/>
                <a:gd name="T11" fmla="*/ 7 h 15"/>
                <a:gd name="T12" fmla="*/ 4 w 8"/>
                <a:gd name="T13" fmla="*/ 5 h 15"/>
                <a:gd name="T14" fmla="*/ 5 w 8"/>
                <a:gd name="T15" fmla="*/ 4 h 15"/>
                <a:gd name="T16" fmla="*/ 7 w 8"/>
                <a:gd name="T17" fmla="*/ 0 h 15"/>
                <a:gd name="T18" fmla="*/ 8 w 8"/>
                <a:gd name="T19" fmla="*/ 1 h 15"/>
                <a:gd name="T20" fmla="*/ 8 w 8"/>
                <a:gd name="T21" fmla="*/ 2 h 15"/>
                <a:gd name="T22" fmla="*/ 8 w 8"/>
                <a:gd name="T23" fmla="*/ 2 h 15"/>
                <a:gd name="T24" fmla="*/ 8 w 8"/>
                <a:gd name="T25" fmla="*/ 3 h 15"/>
                <a:gd name="T26" fmla="*/ 8 w 8"/>
                <a:gd name="T27" fmla="*/ 7 h 15"/>
                <a:gd name="T28" fmla="*/ 8 w 8"/>
                <a:gd name="T29" fmla="*/ 8 h 15"/>
                <a:gd name="T30" fmla="*/ 8 w 8"/>
                <a:gd name="T31" fmla="*/ 9 h 15"/>
                <a:gd name="T32" fmla="*/ 6 w 8"/>
                <a:gd name="T33" fmla="*/ 13 h 15"/>
                <a:gd name="T34" fmla="*/ 5 w 8"/>
                <a:gd name="T35" fmla="*/ 14 h 15"/>
                <a:gd name="T36" fmla="*/ 5 w 8"/>
                <a:gd name="T37" fmla="*/ 14 h 15"/>
                <a:gd name="T38" fmla="*/ 3 w 8"/>
                <a:gd name="T39" fmla="*/ 15 h 15"/>
                <a:gd name="T40" fmla="*/ 2 w 8"/>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 h="15">
                  <a:moveTo>
                    <a:pt x="2" y="15"/>
                  </a:moveTo>
                  <a:cubicBezTo>
                    <a:pt x="2" y="15"/>
                    <a:pt x="1" y="14"/>
                    <a:pt x="0" y="14"/>
                  </a:cubicBezTo>
                  <a:cubicBezTo>
                    <a:pt x="0" y="12"/>
                    <a:pt x="1" y="11"/>
                    <a:pt x="2" y="9"/>
                  </a:cubicBezTo>
                  <a:cubicBezTo>
                    <a:pt x="2" y="9"/>
                    <a:pt x="3" y="8"/>
                    <a:pt x="3" y="8"/>
                  </a:cubicBezTo>
                  <a:cubicBezTo>
                    <a:pt x="3" y="8"/>
                    <a:pt x="3" y="8"/>
                    <a:pt x="3" y="8"/>
                  </a:cubicBezTo>
                  <a:cubicBezTo>
                    <a:pt x="3" y="7"/>
                    <a:pt x="3" y="7"/>
                    <a:pt x="3" y="7"/>
                  </a:cubicBezTo>
                  <a:cubicBezTo>
                    <a:pt x="4" y="7"/>
                    <a:pt x="4" y="6"/>
                    <a:pt x="4" y="5"/>
                  </a:cubicBezTo>
                  <a:cubicBezTo>
                    <a:pt x="4" y="5"/>
                    <a:pt x="4" y="4"/>
                    <a:pt x="5" y="4"/>
                  </a:cubicBezTo>
                  <a:cubicBezTo>
                    <a:pt x="5" y="2"/>
                    <a:pt x="6" y="0"/>
                    <a:pt x="7" y="0"/>
                  </a:cubicBezTo>
                  <a:cubicBezTo>
                    <a:pt x="7" y="0"/>
                    <a:pt x="8" y="0"/>
                    <a:pt x="8" y="1"/>
                  </a:cubicBezTo>
                  <a:cubicBezTo>
                    <a:pt x="8" y="1"/>
                    <a:pt x="8" y="1"/>
                    <a:pt x="8" y="2"/>
                  </a:cubicBezTo>
                  <a:cubicBezTo>
                    <a:pt x="8" y="2"/>
                    <a:pt x="8" y="2"/>
                    <a:pt x="8" y="2"/>
                  </a:cubicBezTo>
                  <a:cubicBezTo>
                    <a:pt x="8" y="3"/>
                    <a:pt x="8" y="3"/>
                    <a:pt x="8" y="3"/>
                  </a:cubicBezTo>
                  <a:cubicBezTo>
                    <a:pt x="8" y="5"/>
                    <a:pt x="8" y="6"/>
                    <a:pt x="8" y="7"/>
                  </a:cubicBezTo>
                  <a:cubicBezTo>
                    <a:pt x="8" y="8"/>
                    <a:pt x="8" y="8"/>
                    <a:pt x="8" y="8"/>
                  </a:cubicBezTo>
                  <a:cubicBezTo>
                    <a:pt x="8" y="8"/>
                    <a:pt x="8" y="9"/>
                    <a:pt x="8" y="9"/>
                  </a:cubicBezTo>
                  <a:cubicBezTo>
                    <a:pt x="7" y="11"/>
                    <a:pt x="7" y="12"/>
                    <a:pt x="6" y="13"/>
                  </a:cubicBezTo>
                  <a:cubicBezTo>
                    <a:pt x="5" y="14"/>
                    <a:pt x="5" y="14"/>
                    <a:pt x="5" y="14"/>
                  </a:cubicBezTo>
                  <a:cubicBezTo>
                    <a:pt x="5" y="14"/>
                    <a:pt x="5" y="14"/>
                    <a:pt x="5" y="14"/>
                  </a:cubicBezTo>
                  <a:cubicBezTo>
                    <a:pt x="4" y="14"/>
                    <a:pt x="3" y="15"/>
                    <a:pt x="3" y="15"/>
                  </a:cubicBezTo>
                  <a:lnTo>
                    <a:pt x="2" y="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46" name="Freeform 139">
              <a:extLst>
                <a:ext uri="{FF2B5EF4-FFF2-40B4-BE49-F238E27FC236}">
                  <a16:creationId xmlns:a16="http://schemas.microsoft.com/office/drawing/2014/main" id="{A4D93FDB-C0E9-4F0D-B304-0EC2B1C7531A}"/>
                </a:ext>
              </a:extLst>
            </p:cNvPr>
            <p:cNvSpPr>
              <a:spLocks/>
            </p:cNvSpPr>
            <p:nvPr userDrawn="1"/>
          </p:nvSpPr>
          <p:spPr bwMode="auto">
            <a:xfrm>
              <a:off x="6194063" y="2940552"/>
              <a:ext cx="75630" cy="143697"/>
            </a:xfrm>
            <a:custGeom>
              <a:avLst/>
              <a:gdLst>
                <a:gd name="T0" fmla="*/ 2 w 8"/>
                <a:gd name="T1" fmla="*/ 15 h 15"/>
                <a:gd name="T2" fmla="*/ 3 w 8"/>
                <a:gd name="T3" fmla="*/ 15 h 15"/>
                <a:gd name="T4" fmla="*/ 5 w 8"/>
                <a:gd name="T5" fmla="*/ 14 h 15"/>
                <a:gd name="T6" fmla="*/ 5 w 8"/>
                <a:gd name="T7" fmla="*/ 14 h 15"/>
                <a:gd name="T8" fmla="*/ 6 w 8"/>
                <a:gd name="T9" fmla="*/ 13 h 15"/>
                <a:gd name="T10" fmla="*/ 8 w 8"/>
                <a:gd name="T11" fmla="*/ 9 h 15"/>
                <a:gd name="T12" fmla="*/ 8 w 8"/>
                <a:gd name="T13" fmla="*/ 8 h 15"/>
                <a:gd name="T14" fmla="*/ 8 w 8"/>
                <a:gd name="T15" fmla="*/ 7 h 15"/>
                <a:gd name="T16" fmla="*/ 8 w 8"/>
                <a:gd name="T17" fmla="*/ 3 h 15"/>
                <a:gd name="T18" fmla="*/ 8 w 8"/>
                <a:gd name="T19" fmla="*/ 2 h 15"/>
                <a:gd name="T20" fmla="*/ 8 w 8"/>
                <a:gd name="T21" fmla="*/ 2 h 15"/>
                <a:gd name="T22" fmla="*/ 8 w 8"/>
                <a:gd name="T23" fmla="*/ 2 h 15"/>
                <a:gd name="T24" fmla="*/ 8 w 8"/>
                <a:gd name="T25" fmla="*/ 1 h 15"/>
                <a:gd name="T26" fmla="*/ 7 w 8"/>
                <a:gd name="T27" fmla="*/ 0 h 15"/>
                <a:gd name="T28" fmla="*/ 5 w 8"/>
                <a:gd name="T29" fmla="*/ 4 h 15"/>
                <a:gd name="T30" fmla="*/ 4 w 8"/>
                <a:gd name="T31" fmla="*/ 5 h 15"/>
                <a:gd name="T32" fmla="*/ 3 w 8"/>
                <a:gd name="T33" fmla="*/ 7 h 15"/>
                <a:gd name="T34" fmla="*/ 3 w 8"/>
                <a:gd name="T35" fmla="*/ 8 h 15"/>
                <a:gd name="T36" fmla="*/ 3 w 8"/>
                <a:gd name="T37" fmla="*/ 8 h 15"/>
                <a:gd name="T38" fmla="*/ 2 w 8"/>
                <a:gd name="T39" fmla="*/ 9 h 15"/>
                <a:gd name="T40" fmla="*/ 0 w 8"/>
                <a:gd name="T41" fmla="*/ 14 h 15"/>
                <a:gd name="T42" fmla="*/ 2 w 8"/>
                <a:gd name="T43"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 h="15">
                  <a:moveTo>
                    <a:pt x="2" y="15"/>
                  </a:moveTo>
                  <a:cubicBezTo>
                    <a:pt x="3" y="15"/>
                    <a:pt x="3" y="15"/>
                    <a:pt x="3" y="15"/>
                  </a:cubicBezTo>
                  <a:cubicBezTo>
                    <a:pt x="3" y="15"/>
                    <a:pt x="4" y="14"/>
                    <a:pt x="5" y="14"/>
                  </a:cubicBezTo>
                  <a:cubicBezTo>
                    <a:pt x="5" y="14"/>
                    <a:pt x="5" y="14"/>
                    <a:pt x="5" y="14"/>
                  </a:cubicBezTo>
                  <a:cubicBezTo>
                    <a:pt x="6" y="13"/>
                    <a:pt x="6" y="13"/>
                    <a:pt x="6" y="13"/>
                  </a:cubicBezTo>
                  <a:cubicBezTo>
                    <a:pt x="7" y="12"/>
                    <a:pt x="7" y="10"/>
                    <a:pt x="8" y="9"/>
                  </a:cubicBezTo>
                  <a:cubicBezTo>
                    <a:pt x="8" y="9"/>
                    <a:pt x="8" y="8"/>
                    <a:pt x="8" y="8"/>
                  </a:cubicBezTo>
                  <a:cubicBezTo>
                    <a:pt x="8" y="7"/>
                    <a:pt x="8" y="7"/>
                    <a:pt x="8" y="7"/>
                  </a:cubicBezTo>
                  <a:cubicBezTo>
                    <a:pt x="8" y="6"/>
                    <a:pt x="8" y="5"/>
                    <a:pt x="8" y="3"/>
                  </a:cubicBezTo>
                  <a:cubicBezTo>
                    <a:pt x="8" y="3"/>
                    <a:pt x="8" y="3"/>
                    <a:pt x="8" y="2"/>
                  </a:cubicBezTo>
                  <a:cubicBezTo>
                    <a:pt x="8" y="2"/>
                    <a:pt x="8" y="2"/>
                    <a:pt x="8" y="2"/>
                  </a:cubicBezTo>
                  <a:cubicBezTo>
                    <a:pt x="8" y="2"/>
                    <a:pt x="8" y="2"/>
                    <a:pt x="8" y="2"/>
                  </a:cubicBezTo>
                  <a:cubicBezTo>
                    <a:pt x="8" y="1"/>
                    <a:pt x="8" y="1"/>
                    <a:pt x="8" y="1"/>
                  </a:cubicBezTo>
                  <a:cubicBezTo>
                    <a:pt x="8" y="0"/>
                    <a:pt x="7" y="0"/>
                    <a:pt x="7" y="0"/>
                  </a:cubicBezTo>
                  <a:cubicBezTo>
                    <a:pt x="6" y="0"/>
                    <a:pt x="5" y="2"/>
                    <a:pt x="5" y="4"/>
                  </a:cubicBezTo>
                  <a:cubicBezTo>
                    <a:pt x="5" y="4"/>
                    <a:pt x="4" y="5"/>
                    <a:pt x="4" y="5"/>
                  </a:cubicBezTo>
                  <a:cubicBezTo>
                    <a:pt x="4" y="6"/>
                    <a:pt x="4" y="7"/>
                    <a:pt x="3" y="7"/>
                  </a:cubicBezTo>
                  <a:cubicBezTo>
                    <a:pt x="3" y="8"/>
                    <a:pt x="3" y="8"/>
                    <a:pt x="3" y="8"/>
                  </a:cubicBezTo>
                  <a:cubicBezTo>
                    <a:pt x="3" y="8"/>
                    <a:pt x="3" y="8"/>
                    <a:pt x="3" y="8"/>
                  </a:cubicBezTo>
                  <a:cubicBezTo>
                    <a:pt x="3" y="8"/>
                    <a:pt x="2" y="9"/>
                    <a:pt x="2" y="9"/>
                  </a:cubicBezTo>
                  <a:cubicBezTo>
                    <a:pt x="1" y="11"/>
                    <a:pt x="0" y="12"/>
                    <a:pt x="0" y="14"/>
                  </a:cubicBezTo>
                  <a:cubicBezTo>
                    <a:pt x="1" y="14"/>
                    <a:pt x="2" y="15"/>
                    <a:pt x="2" y="15"/>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47" name="Freeform 140">
              <a:extLst>
                <a:ext uri="{FF2B5EF4-FFF2-40B4-BE49-F238E27FC236}">
                  <a16:creationId xmlns:a16="http://schemas.microsoft.com/office/drawing/2014/main" id="{9BEB7FDB-5870-481A-9021-4BBB67FA23C4}"/>
                </a:ext>
              </a:extLst>
            </p:cNvPr>
            <p:cNvSpPr>
              <a:spLocks/>
            </p:cNvSpPr>
            <p:nvPr userDrawn="1"/>
          </p:nvSpPr>
          <p:spPr bwMode="auto">
            <a:xfrm>
              <a:off x="6118433" y="2993493"/>
              <a:ext cx="52941" cy="68067"/>
            </a:xfrm>
            <a:custGeom>
              <a:avLst/>
              <a:gdLst>
                <a:gd name="T0" fmla="*/ 3 w 6"/>
                <a:gd name="T1" fmla="*/ 7 h 7"/>
                <a:gd name="T2" fmla="*/ 1 w 6"/>
                <a:gd name="T3" fmla="*/ 6 h 7"/>
                <a:gd name="T4" fmla="*/ 5 w 6"/>
                <a:gd name="T5" fmla="*/ 0 h 7"/>
                <a:gd name="T6" fmla="*/ 6 w 6"/>
                <a:gd name="T7" fmla="*/ 1 h 7"/>
                <a:gd name="T8" fmla="*/ 5 w 6"/>
                <a:gd name="T9" fmla="*/ 5 h 7"/>
                <a:gd name="T10" fmla="*/ 3 w 6"/>
                <a:gd name="T11" fmla="*/ 7 h 7"/>
              </a:gdLst>
              <a:ahLst/>
              <a:cxnLst>
                <a:cxn ang="0">
                  <a:pos x="T0" y="T1"/>
                </a:cxn>
                <a:cxn ang="0">
                  <a:pos x="T2" y="T3"/>
                </a:cxn>
                <a:cxn ang="0">
                  <a:pos x="T4" y="T5"/>
                </a:cxn>
                <a:cxn ang="0">
                  <a:pos x="T6" y="T7"/>
                </a:cxn>
                <a:cxn ang="0">
                  <a:pos x="T8" y="T9"/>
                </a:cxn>
                <a:cxn ang="0">
                  <a:pos x="T10" y="T11"/>
                </a:cxn>
              </a:cxnLst>
              <a:rect l="0" t="0" r="r" b="b"/>
              <a:pathLst>
                <a:path w="6" h="7">
                  <a:moveTo>
                    <a:pt x="3" y="7"/>
                  </a:moveTo>
                  <a:cubicBezTo>
                    <a:pt x="3" y="7"/>
                    <a:pt x="2" y="6"/>
                    <a:pt x="1" y="6"/>
                  </a:cubicBezTo>
                  <a:cubicBezTo>
                    <a:pt x="0" y="3"/>
                    <a:pt x="4" y="0"/>
                    <a:pt x="5" y="0"/>
                  </a:cubicBezTo>
                  <a:cubicBezTo>
                    <a:pt x="5" y="0"/>
                    <a:pt x="6" y="1"/>
                    <a:pt x="6" y="1"/>
                  </a:cubicBezTo>
                  <a:cubicBezTo>
                    <a:pt x="6" y="2"/>
                    <a:pt x="6" y="4"/>
                    <a:pt x="5" y="5"/>
                  </a:cubicBezTo>
                  <a:cubicBezTo>
                    <a:pt x="4" y="6"/>
                    <a:pt x="3" y="7"/>
                    <a:pt x="3" y="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48" name="Freeform 141">
              <a:extLst>
                <a:ext uri="{FF2B5EF4-FFF2-40B4-BE49-F238E27FC236}">
                  <a16:creationId xmlns:a16="http://schemas.microsoft.com/office/drawing/2014/main" id="{BFD481FF-5CF2-4A0E-8664-D727A0D2C569}"/>
                </a:ext>
              </a:extLst>
            </p:cNvPr>
            <p:cNvSpPr>
              <a:spLocks/>
            </p:cNvSpPr>
            <p:nvPr userDrawn="1"/>
          </p:nvSpPr>
          <p:spPr bwMode="auto">
            <a:xfrm>
              <a:off x="6118433" y="2993493"/>
              <a:ext cx="52941" cy="68067"/>
            </a:xfrm>
            <a:custGeom>
              <a:avLst/>
              <a:gdLst>
                <a:gd name="T0" fmla="*/ 3 w 6"/>
                <a:gd name="T1" fmla="*/ 7 h 7"/>
                <a:gd name="T2" fmla="*/ 3 w 6"/>
                <a:gd name="T3" fmla="*/ 7 h 7"/>
                <a:gd name="T4" fmla="*/ 5 w 6"/>
                <a:gd name="T5" fmla="*/ 5 h 7"/>
                <a:gd name="T6" fmla="*/ 6 w 6"/>
                <a:gd name="T7" fmla="*/ 1 h 7"/>
                <a:gd name="T8" fmla="*/ 5 w 6"/>
                <a:gd name="T9" fmla="*/ 0 h 7"/>
                <a:gd name="T10" fmla="*/ 1 w 6"/>
                <a:gd name="T11" fmla="*/ 6 h 7"/>
                <a:gd name="T12" fmla="*/ 3 w 6"/>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6" h="7">
                  <a:moveTo>
                    <a:pt x="3" y="7"/>
                  </a:moveTo>
                  <a:cubicBezTo>
                    <a:pt x="3" y="7"/>
                    <a:pt x="3" y="7"/>
                    <a:pt x="3" y="7"/>
                  </a:cubicBezTo>
                  <a:cubicBezTo>
                    <a:pt x="3" y="7"/>
                    <a:pt x="4" y="6"/>
                    <a:pt x="5" y="5"/>
                  </a:cubicBezTo>
                  <a:cubicBezTo>
                    <a:pt x="6" y="4"/>
                    <a:pt x="6" y="2"/>
                    <a:pt x="6" y="1"/>
                  </a:cubicBezTo>
                  <a:cubicBezTo>
                    <a:pt x="6" y="1"/>
                    <a:pt x="5" y="0"/>
                    <a:pt x="5" y="0"/>
                  </a:cubicBezTo>
                  <a:cubicBezTo>
                    <a:pt x="4" y="0"/>
                    <a:pt x="0" y="3"/>
                    <a:pt x="1" y="6"/>
                  </a:cubicBezTo>
                  <a:cubicBezTo>
                    <a:pt x="2" y="6"/>
                    <a:pt x="3" y="7"/>
                    <a:pt x="3" y="7"/>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grpSp>
      <p:sp>
        <p:nvSpPr>
          <p:cNvPr id="50" name="文本占位符 49">
            <a:extLst>
              <a:ext uri="{FF2B5EF4-FFF2-40B4-BE49-F238E27FC236}">
                <a16:creationId xmlns:a16="http://schemas.microsoft.com/office/drawing/2014/main" id="{83B14AAE-3F24-4D56-BD9F-745431B50034}"/>
              </a:ext>
            </a:extLst>
          </p:cNvPr>
          <p:cNvSpPr>
            <a:spLocks noGrp="1"/>
          </p:cNvSpPr>
          <p:nvPr>
            <p:ph type="body" sz="quarter" idx="11"/>
          </p:nvPr>
        </p:nvSpPr>
        <p:spPr>
          <a:xfrm>
            <a:off x="1514475" y="2442615"/>
            <a:ext cx="8734844" cy="827736"/>
          </a:xfrm>
        </p:spPr>
        <p:txBody>
          <a:bodyPr/>
          <a:lstStyle/>
          <a:p>
            <a:r>
              <a:rPr lang="en-US" altLang="zh-CN" sz="6000" dirty="0">
                <a:latin typeface="Times New Roman" panose="02020603050405020304" pitchFamily="18" charset="0"/>
                <a:cs typeface="Times New Roman" panose="02020603050405020304" pitchFamily="18" charset="0"/>
              </a:rPr>
              <a:t>CI/CD</a:t>
            </a:r>
            <a:endParaRPr lang="zh-CN" altLang="en-US" sz="6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62252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B84E9945-F3C2-4023-A547-697A62835A1F}"/>
              </a:ext>
            </a:extLst>
          </p:cNvPr>
          <p:cNvSpPr/>
          <p:nvPr/>
        </p:nvSpPr>
        <p:spPr>
          <a:xfrm>
            <a:off x="10" y="5"/>
            <a:ext cx="12191980" cy="6857990"/>
          </a:xfrm>
          <a:prstGeom prst="rect">
            <a:avLst/>
          </a:prstGeom>
          <a:blipFill dpi="0" rotWithShape="1">
            <a:blip r:embed="rId3">
              <a:alphaModFix amt="10000"/>
              <a:duotone>
                <a:schemeClr val="bg2">
                  <a:shade val="45000"/>
                  <a:satMod val="135000"/>
                </a:schemeClr>
                <a:prstClr val="white"/>
              </a:duotone>
            </a:blip>
            <a:srcRect/>
            <a:tile tx="0" ty="0" sx="60000" sy="6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00"/>
              </a:spcAft>
            </a:pPr>
            <a:endParaRPr lang="zh-CN" altLang="en-US"/>
          </a:p>
        </p:txBody>
      </p:sp>
      <p:grpSp>
        <p:nvGrpSpPr>
          <p:cNvPr id="3" name="组合 2">
            <a:extLst>
              <a:ext uri="{FF2B5EF4-FFF2-40B4-BE49-F238E27FC236}">
                <a16:creationId xmlns:a16="http://schemas.microsoft.com/office/drawing/2014/main" id="{BDEEF630-E241-47AA-BBEA-5014DEE18790}"/>
              </a:ext>
            </a:extLst>
          </p:cNvPr>
          <p:cNvGrpSpPr/>
          <p:nvPr/>
        </p:nvGrpSpPr>
        <p:grpSpPr>
          <a:xfrm>
            <a:off x="793780" y="2608487"/>
            <a:ext cx="2974123" cy="3387729"/>
            <a:chOff x="870884" y="1648624"/>
            <a:chExt cx="2974123" cy="3387729"/>
          </a:xfrm>
        </p:grpSpPr>
        <p:sp>
          <p:nvSpPr>
            <p:cNvPr id="11" name="椭圆 10">
              <a:extLst>
                <a:ext uri="{FF2B5EF4-FFF2-40B4-BE49-F238E27FC236}">
                  <a16:creationId xmlns:a16="http://schemas.microsoft.com/office/drawing/2014/main" id="{50233245-EB31-4DE9-831A-0D881E502C02}"/>
                </a:ext>
              </a:extLst>
            </p:cNvPr>
            <p:cNvSpPr/>
            <p:nvPr/>
          </p:nvSpPr>
          <p:spPr>
            <a:xfrm>
              <a:off x="870884" y="2062230"/>
              <a:ext cx="2974123" cy="297412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icrosoft YaHei"/>
                <a:cs typeface="+mn-cs"/>
              </a:endParaRPr>
            </a:p>
          </p:txBody>
        </p:sp>
        <p:pic>
          <p:nvPicPr>
            <p:cNvPr id="10" name="图片 9">
              <a:extLst>
                <a:ext uri="{FF2B5EF4-FFF2-40B4-BE49-F238E27FC236}">
                  <a16:creationId xmlns:a16="http://schemas.microsoft.com/office/drawing/2014/main" id="{3573E33A-B581-4106-913A-FFF18735F53C}"/>
                </a:ext>
              </a:extLst>
            </p:cNvPr>
            <p:cNvPicPr>
              <a:picLocks noChangeAspect="1"/>
            </p:cNvPicPr>
            <p:nvPr/>
          </p:nvPicPr>
          <p:blipFill rotWithShape="1">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r="32998"/>
            <a:stretch/>
          </p:blipFill>
          <p:spPr>
            <a:xfrm>
              <a:off x="1220247" y="1857063"/>
              <a:ext cx="1957015" cy="3160925"/>
            </a:xfrm>
            <a:prstGeom prst="rect">
              <a:avLst/>
            </a:prstGeom>
          </p:spPr>
        </p:pic>
        <p:sp>
          <p:nvSpPr>
            <p:cNvPr id="5" name="文本框 4">
              <a:extLst>
                <a:ext uri="{FF2B5EF4-FFF2-40B4-BE49-F238E27FC236}">
                  <a16:creationId xmlns:a16="http://schemas.microsoft.com/office/drawing/2014/main" id="{62147B20-C522-4B7C-ABB1-0C68667B5D15}"/>
                </a:ext>
              </a:extLst>
            </p:cNvPr>
            <p:cNvSpPr txBox="1"/>
            <p:nvPr/>
          </p:nvSpPr>
          <p:spPr>
            <a:xfrm>
              <a:off x="2749140" y="1648624"/>
              <a:ext cx="258532" cy="1586951"/>
            </a:xfrm>
            <a:prstGeom prst="rect">
              <a:avLst/>
            </a:prstGeom>
            <a:noFill/>
          </p:spPr>
          <p:txBody>
            <a:bodyPr vert="eaVert" wrap="square" lIns="0" tIns="0" rIns="0" bIns="0" rtlCol="0" anchor="ctr">
              <a:spAutoFit/>
            </a:bodyPr>
            <a:lstStyle/>
            <a:p>
              <a:pPr marL="0" marR="0" lvl="0" indent="0" algn="dist" defTabSz="914400" rtl="0" eaLnBrk="1" fontAlgn="auto" latinLnBrk="0" hangingPunct="1">
                <a:lnSpc>
                  <a:spcPct val="120000"/>
                </a:lnSpc>
                <a:spcBef>
                  <a:spcPts val="0"/>
                </a:spcBef>
                <a:spcAft>
                  <a:spcPts val="100"/>
                </a:spcAft>
                <a:buClrTx/>
                <a:buSzTx/>
                <a:buFontTx/>
                <a:buNone/>
                <a:tabLst/>
                <a:defRPr/>
              </a:pPr>
              <a:r>
                <a:rPr kumimoji="0" lang="en-US" altLang="zh-CN" sz="1400" b="1" i="0" u="none" strike="noStrike" kern="1200" cap="none" spc="0" normalizeH="0" baseline="0" noProof="0">
                  <a:ln>
                    <a:noFill/>
                  </a:ln>
                  <a:solidFill>
                    <a:srgbClr val="003F88"/>
                  </a:solidFill>
                  <a:effectLst/>
                  <a:uLnTx/>
                  <a:uFillTx/>
                  <a:latin typeface="Arial"/>
                  <a:ea typeface="Microsoft YaHei"/>
                  <a:cs typeface="+mn-cs"/>
                </a:rPr>
                <a:t>CON</a:t>
              </a:r>
              <a:r>
                <a:rPr kumimoji="0" lang="en-US" altLang="zh-CN" sz="1400" b="1" i="0" u="none" strike="noStrike" kern="1200" cap="none" spc="0" normalizeH="0" baseline="0" noProof="0">
                  <a:ln>
                    <a:noFill/>
                  </a:ln>
                  <a:solidFill>
                    <a:srgbClr val="FFFFFF"/>
                  </a:solidFill>
                  <a:effectLst/>
                  <a:uLnTx/>
                  <a:uFillTx/>
                  <a:latin typeface="Arial"/>
                  <a:ea typeface="Microsoft YaHei"/>
                  <a:cs typeface="+mn-cs"/>
                </a:rPr>
                <a:t>TENTS</a:t>
              </a:r>
              <a:endParaRPr kumimoji="0" lang="zh-CN" altLang="en-US" sz="1400" b="1" i="0" u="none" strike="noStrike" kern="1200" cap="none" spc="0" normalizeH="0" baseline="0" noProof="0">
                <a:ln>
                  <a:noFill/>
                </a:ln>
                <a:solidFill>
                  <a:srgbClr val="FFFFFF"/>
                </a:solidFill>
                <a:effectLst/>
                <a:uLnTx/>
                <a:uFillTx/>
                <a:latin typeface="Arial"/>
                <a:ea typeface="Microsoft YaHei"/>
                <a:cs typeface="+mn-cs"/>
              </a:endParaRPr>
            </a:p>
          </p:txBody>
        </p:sp>
        <p:sp>
          <p:nvSpPr>
            <p:cNvPr id="6" name="文本框 5">
              <a:extLst>
                <a:ext uri="{FF2B5EF4-FFF2-40B4-BE49-F238E27FC236}">
                  <a16:creationId xmlns:a16="http://schemas.microsoft.com/office/drawing/2014/main" id="{3DD3D9B8-D4D5-4E08-89D2-9CEB9C2292E1}"/>
                </a:ext>
              </a:extLst>
            </p:cNvPr>
            <p:cNvSpPr txBox="1"/>
            <p:nvPr/>
          </p:nvSpPr>
          <p:spPr>
            <a:xfrm>
              <a:off x="2958610" y="1648624"/>
              <a:ext cx="886397" cy="1586951"/>
            </a:xfrm>
            <a:prstGeom prst="rect">
              <a:avLst/>
            </a:prstGeom>
            <a:noFill/>
          </p:spPr>
          <p:txBody>
            <a:bodyPr vert="eaVert" wrap="square" lIns="0" tIns="0" rIns="0" bIns="0" rtlCol="0" anchor="ctr">
              <a:spAutoFit/>
            </a:bodyPr>
            <a:lstStyle/>
            <a:p>
              <a:pPr marL="0" marR="0" lvl="0" indent="0" algn="dist" defTabSz="914400" rtl="0" eaLnBrk="1" fontAlgn="auto" latinLnBrk="0" hangingPunct="1">
                <a:lnSpc>
                  <a:spcPct val="120000"/>
                </a:lnSpc>
                <a:spcBef>
                  <a:spcPts val="0"/>
                </a:spcBef>
                <a:spcAft>
                  <a:spcPts val="100"/>
                </a:spcAft>
                <a:buClrTx/>
                <a:buSzTx/>
                <a:buFontTx/>
                <a:buNone/>
                <a:tabLst/>
                <a:defRPr/>
              </a:pPr>
              <a:r>
                <a:rPr kumimoji="0" lang="zh-CN" altLang="en-US" sz="4800" b="1" i="0" u="none" strike="noStrike" kern="1200" cap="none" spc="0" normalizeH="0" baseline="0" noProof="0">
                  <a:ln>
                    <a:noFill/>
                  </a:ln>
                  <a:solidFill>
                    <a:srgbClr val="3F3F3F"/>
                  </a:solidFill>
                  <a:effectLst/>
                  <a:uLnTx/>
                  <a:uFillTx/>
                  <a:latin typeface="方正粗雅宋简体" panose="02000000000000000000" pitchFamily="2" charset="-122"/>
                  <a:ea typeface="方正粗雅宋简体" panose="02000000000000000000" pitchFamily="2" charset="-122"/>
                  <a:cs typeface="+mn-cs"/>
                </a:rPr>
                <a:t>目</a:t>
              </a:r>
              <a:r>
                <a:rPr kumimoji="0" lang="zh-CN" altLang="en-US" sz="4800" b="1" i="0" u="none" strike="noStrike" kern="1200" cap="none" spc="0" normalizeH="0" baseline="0" noProof="0">
                  <a:ln>
                    <a:noFill/>
                  </a:ln>
                  <a:solidFill>
                    <a:srgbClr val="FFFFFF"/>
                  </a:solidFill>
                  <a:effectLst/>
                  <a:uLnTx/>
                  <a:uFillTx/>
                  <a:latin typeface="方正粗雅宋简体" panose="02000000000000000000" pitchFamily="2" charset="-122"/>
                  <a:ea typeface="方正粗雅宋简体" panose="02000000000000000000" pitchFamily="2" charset="-122"/>
                  <a:cs typeface="+mn-cs"/>
                </a:rPr>
                <a:t>录</a:t>
              </a:r>
            </a:p>
          </p:txBody>
        </p:sp>
      </p:grpSp>
      <p:pic>
        <p:nvPicPr>
          <p:cNvPr id="54" name="图片 53">
            <a:extLst>
              <a:ext uri="{FF2B5EF4-FFF2-40B4-BE49-F238E27FC236}">
                <a16:creationId xmlns:a16="http://schemas.microsoft.com/office/drawing/2014/main" id="{181BDF26-C17E-48A9-88CD-AAC5E09300F1}"/>
              </a:ext>
            </a:extLst>
          </p:cNvPr>
          <p:cNvPicPr>
            <a:picLocks noChangeAspect="1"/>
          </p:cNvPicPr>
          <p:nvPr/>
        </p:nvPicPr>
        <p:blipFill rotWithShape="1">
          <a:blip r:embed="rId4">
            <a:duotone>
              <a:prstClr val="black"/>
              <a:schemeClr val="accent4">
                <a:tint val="45000"/>
                <a:satMod val="400000"/>
              </a:schemeClr>
            </a:duotone>
            <a:alphaModFix amt="50000"/>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r="32998"/>
          <a:stretch/>
        </p:blipFill>
        <p:spPr>
          <a:xfrm>
            <a:off x="5586820" y="-1357083"/>
            <a:ext cx="5553465" cy="8969827"/>
          </a:xfrm>
          <a:prstGeom prst="rect">
            <a:avLst/>
          </a:prstGeom>
        </p:spPr>
      </p:pic>
      <p:grpSp>
        <p:nvGrpSpPr>
          <p:cNvPr id="55" name="组合 54">
            <a:extLst>
              <a:ext uri="{FF2B5EF4-FFF2-40B4-BE49-F238E27FC236}">
                <a16:creationId xmlns:a16="http://schemas.microsoft.com/office/drawing/2014/main" id="{5AE38801-AAD9-45E9-945B-CF81079D404A}"/>
              </a:ext>
            </a:extLst>
          </p:cNvPr>
          <p:cNvGrpSpPr/>
          <p:nvPr/>
        </p:nvGrpSpPr>
        <p:grpSpPr>
          <a:xfrm>
            <a:off x="6096000" y="1910233"/>
            <a:ext cx="5210523" cy="2983458"/>
            <a:chOff x="5395536" y="685800"/>
            <a:chExt cx="3240000" cy="2983458"/>
          </a:xfrm>
        </p:grpSpPr>
        <p:sp>
          <p:nvSpPr>
            <p:cNvPr id="56" name="文本框 55">
              <a:extLst>
                <a:ext uri="{FF2B5EF4-FFF2-40B4-BE49-F238E27FC236}">
                  <a16:creationId xmlns:a16="http://schemas.microsoft.com/office/drawing/2014/main" id="{CBE8EAC9-8496-4C87-BFDB-13866B96CD0D}"/>
                </a:ext>
              </a:extLst>
            </p:cNvPr>
            <p:cNvSpPr txBox="1"/>
            <p:nvPr/>
          </p:nvSpPr>
          <p:spPr>
            <a:xfrm>
              <a:off x="5395536" y="2949258"/>
              <a:ext cx="3240000" cy="720000"/>
            </a:xfrm>
            <a:prstGeom prst="rect">
              <a:avLst/>
            </a:prstGeom>
            <a:noFill/>
          </p:spPr>
          <p:txBody>
            <a:bodyPr wrap="square" lIns="0" tIns="0" rIns="0" bIns="0" rtlCol="0" anchor="ctr">
              <a:noAutofit/>
            </a:bodyPr>
            <a:lstStyle/>
            <a:p>
              <a:pPr>
                <a:lnSpc>
                  <a:spcPct val="120000"/>
                </a:lnSpc>
                <a:defRPr/>
              </a:pPr>
              <a:r>
                <a:rPr kumimoji="0" lang="en-US" altLang="zh-CN" sz="3600" b="1" i="0" u="none" strike="noStrike" kern="1200" cap="none" spc="0" normalizeH="0" baseline="0" noProof="0">
                  <a:ln>
                    <a:noFill/>
                  </a:ln>
                  <a:solidFill>
                    <a:srgbClr val="3F3F3F"/>
                  </a:solidFill>
                  <a:effectLst/>
                  <a:uLnTx/>
                  <a:uFillTx/>
                  <a:latin typeface="Arial"/>
                  <a:ea typeface="Microsoft YaHei"/>
                  <a:cs typeface="+mn-cs"/>
                </a:rPr>
                <a:t>03 </a:t>
              </a:r>
              <a:r>
                <a:rPr lang="en-US" altLang="zh-CN" sz="3600" b="1">
                  <a:solidFill>
                    <a:srgbClr val="3F3F3F"/>
                  </a:solidFill>
                  <a:latin typeface="Arial"/>
                  <a:ea typeface="Microsoft YaHei"/>
                </a:rPr>
                <a:t>CI/CD</a:t>
              </a:r>
              <a:r>
                <a:rPr lang="zh-CN" altLang="en-US" sz="3600" b="1">
                  <a:solidFill>
                    <a:srgbClr val="3F3F3F"/>
                  </a:solidFill>
                  <a:latin typeface="Arial"/>
                  <a:ea typeface="Microsoft YaHei"/>
                </a:rPr>
                <a:t>工具简介与实践</a:t>
              </a:r>
            </a:p>
          </p:txBody>
        </p:sp>
        <p:sp>
          <p:nvSpPr>
            <p:cNvPr id="57" name="文本框 56">
              <a:extLst>
                <a:ext uri="{FF2B5EF4-FFF2-40B4-BE49-F238E27FC236}">
                  <a16:creationId xmlns:a16="http://schemas.microsoft.com/office/drawing/2014/main" id="{40E3827C-003B-4936-B561-F5EC80597BFF}"/>
                </a:ext>
              </a:extLst>
            </p:cNvPr>
            <p:cNvSpPr txBox="1"/>
            <p:nvPr/>
          </p:nvSpPr>
          <p:spPr>
            <a:xfrm>
              <a:off x="5395536" y="1817529"/>
              <a:ext cx="3240000" cy="720000"/>
            </a:xfrm>
            <a:prstGeom prst="rect">
              <a:avLst/>
            </a:prstGeom>
            <a:noFill/>
          </p:spPr>
          <p:txBody>
            <a:bodyPr wrap="square" lIns="0" tIns="0" rIns="0" bIns="0" rtlCol="0" anchor="ctr">
              <a:noAutofit/>
            </a:bodyPr>
            <a:lstStyle/>
            <a:p>
              <a:pPr marL="0" marR="0" lvl="0" indent="0" defTabSz="914400" rtl="0" eaLnBrk="1" fontAlgn="auto" latinLnBrk="0" hangingPunct="1">
                <a:lnSpc>
                  <a:spcPct val="120000"/>
                </a:lnSpc>
                <a:spcBef>
                  <a:spcPts val="0"/>
                </a:spcBef>
                <a:spcAft>
                  <a:spcPts val="0"/>
                </a:spcAft>
                <a:buClrTx/>
                <a:buSzTx/>
                <a:buFontTx/>
                <a:buNone/>
                <a:tabLst/>
                <a:defRPr/>
              </a:pPr>
              <a:r>
                <a:rPr kumimoji="0" lang="en-US" altLang="zh-CN" sz="3600" b="1" i="0" u="none" strike="noStrike" kern="1200" cap="none" spc="0" normalizeH="0" baseline="0" noProof="0" dirty="0">
                  <a:ln>
                    <a:noFill/>
                  </a:ln>
                  <a:solidFill>
                    <a:srgbClr val="3F3F3F"/>
                  </a:solidFill>
                  <a:effectLst/>
                  <a:uLnTx/>
                  <a:uFillTx/>
                  <a:latin typeface="Arial"/>
                  <a:ea typeface="Microsoft YaHei"/>
                  <a:cs typeface="+mn-cs"/>
                </a:rPr>
                <a:t>02 </a:t>
              </a:r>
              <a:r>
                <a:rPr lang="zh-CN" altLang="en-US" sz="3600" b="1" dirty="0">
                  <a:solidFill>
                    <a:srgbClr val="3F3F3F"/>
                  </a:solidFill>
                  <a:latin typeface="Arial"/>
                  <a:ea typeface="Microsoft YaHei"/>
                </a:rPr>
                <a:t>持续交付</a:t>
              </a:r>
              <a:endParaRPr kumimoji="0" lang="zh-CN" altLang="zh-CN" sz="3600" b="0" i="0" u="none" strike="noStrike" kern="1200" cap="none" spc="0" normalizeH="0" baseline="0" noProof="0" dirty="0">
                <a:ln>
                  <a:noFill/>
                </a:ln>
                <a:solidFill>
                  <a:srgbClr val="3F3F3F"/>
                </a:solidFill>
                <a:effectLst/>
                <a:uLnTx/>
                <a:uFillTx/>
                <a:latin typeface="Arial"/>
                <a:ea typeface="Microsoft YaHei"/>
                <a:cs typeface="+mn-cs"/>
              </a:endParaRPr>
            </a:p>
          </p:txBody>
        </p:sp>
        <p:sp>
          <p:nvSpPr>
            <p:cNvPr id="60" name="文本框 59">
              <a:extLst>
                <a:ext uri="{FF2B5EF4-FFF2-40B4-BE49-F238E27FC236}">
                  <a16:creationId xmlns:a16="http://schemas.microsoft.com/office/drawing/2014/main" id="{C8307703-D4D9-4F72-82D7-4288F459977B}"/>
                </a:ext>
              </a:extLst>
            </p:cNvPr>
            <p:cNvSpPr txBox="1"/>
            <p:nvPr/>
          </p:nvSpPr>
          <p:spPr>
            <a:xfrm>
              <a:off x="5395536" y="685800"/>
              <a:ext cx="3240000" cy="720000"/>
            </a:xfrm>
            <a:prstGeom prst="rect">
              <a:avLst/>
            </a:prstGeom>
            <a:noFill/>
          </p:spPr>
          <p:txBody>
            <a:bodyPr wrap="square" lIns="0" tIns="0" rIns="0" bIns="0" rtlCol="0" anchor="ctr">
              <a:noAutofit/>
            </a:bodyPr>
            <a:lstStyle/>
            <a:p>
              <a:pPr marL="0" marR="0" lvl="0" indent="0" defTabSz="914400" rtl="0" eaLnBrk="1" fontAlgn="auto" latinLnBrk="0" hangingPunct="1">
                <a:lnSpc>
                  <a:spcPct val="120000"/>
                </a:lnSpc>
                <a:spcBef>
                  <a:spcPts val="0"/>
                </a:spcBef>
                <a:spcAft>
                  <a:spcPts val="0"/>
                </a:spcAft>
                <a:buClrTx/>
                <a:buSzTx/>
                <a:buFontTx/>
                <a:buNone/>
                <a:tabLst/>
                <a:defRPr/>
              </a:pPr>
              <a:r>
                <a:rPr kumimoji="0" lang="en-US" altLang="zh-CN" sz="3600" b="1" i="0" u="none" strike="noStrike" kern="1200" cap="none" spc="0" normalizeH="0" baseline="0" noProof="0">
                  <a:ln>
                    <a:noFill/>
                  </a:ln>
                  <a:solidFill>
                    <a:srgbClr val="3F3F3F"/>
                  </a:solidFill>
                  <a:effectLst/>
                  <a:uLnTx/>
                  <a:uFillTx/>
                  <a:latin typeface="Arial"/>
                  <a:ea typeface="Microsoft YaHei"/>
                  <a:cs typeface="+mn-cs"/>
                </a:rPr>
                <a:t>01 </a:t>
              </a:r>
              <a:r>
                <a:rPr lang="zh-CN" altLang="en-US" sz="3600" b="1">
                  <a:solidFill>
                    <a:srgbClr val="3F3F3F"/>
                  </a:solidFill>
                  <a:latin typeface="Arial"/>
                  <a:ea typeface="Microsoft YaHei"/>
                </a:rPr>
                <a:t>持续集成</a:t>
              </a:r>
              <a:endParaRPr lang="en-US" altLang="zh-CN" sz="3600" b="1">
                <a:solidFill>
                  <a:srgbClr val="3F3F3F"/>
                </a:solidFill>
                <a:latin typeface="Arial"/>
                <a:ea typeface="Microsoft YaHei"/>
              </a:endParaRPr>
            </a:p>
          </p:txBody>
        </p:sp>
      </p:grpSp>
    </p:spTree>
    <p:extLst>
      <p:ext uri="{BB962C8B-B14F-4D97-AF65-F5344CB8AC3E}">
        <p14:creationId xmlns:p14="http://schemas.microsoft.com/office/powerpoint/2010/main" val="10837611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BA6B34F-1095-4AA9-9FA3-32FB5DBA4A2F}"/>
              </a:ext>
            </a:extLst>
          </p:cNvPr>
          <p:cNvGrpSpPr/>
          <p:nvPr/>
        </p:nvGrpSpPr>
        <p:grpSpPr>
          <a:xfrm>
            <a:off x="7027667" y="537616"/>
            <a:ext cx="6961907" cy="7021575"/>
            <a:chOff x="4038600" y="2259880"/>
            <a:chExt cx="2647060" cy="2669747"/>
          </a:xfrm>
          <a:solidFill>
            <a:srgbClr val="A6A6A6">
              <a:alpha val="20000"/>
            </a:srgbClr>
          </a:solidFill>
        </p:grpSpPr>
        <p:sp>
          <p:nvSpPr>
            <p:cNvPr id="6" name="Freeform 105">
              <a:extLst>
                <a:ext uri="{FF2B5EF4-FFF2-40B4-BE49-F238E27FC236}">
                  <a16:creationId xmlns:a16="http://schemas.microsoft.com/office/drawing/2014/main" id="{AEACAFD7-8CD2-4851-9DF5-532299C34ED7}"/>
                </a:ext>
              </a:extLst>
            </p:cNvPr>
            <p:cNvSpPr>
              <a:spLocks noEditPoints="1"/>
            </p:cNvSpPr>
            <p:nvPr userDrawn="1"/>
          </p:nvSpPr>
          <p:spPr bwMode="auto">
            <a:xfrm>
              <a:off x="4038600" y="2259880"/>
              <a:ext cx="2647060" cy="2669747"/>
            </a:xfrm>
            <a:custGeom>
              <a:avLst/>
              <a:gdLst>
                <a:gd name="T0" fmla="*/ 142 w 283"/>
                <a:gd name="T1" fmla="*/ 0 h 283"/>
                <a:gd name="T2" fmla="*/ 283 w 283"/>
                <a:gd name="T3" fmla="*/ 142 h 283"/>
                <a:gd name="T4" fmla="*/ 142 w 283"/>
                <a:gd name="T5" fmla="*/ 283 h 283"/>
                <a:gd name="T6" fmla="*/ 0 w 283"/>
                <a:gd name="T7" fmla="*/ 142 h 283"/>
                <a:gd name="T8" fmla="*/ 142 w 283"/>
                <a:gd name="T9" fmla="*/ 0 h 283"/>
                <a:gd name="T10" fmla="*/ 142 w 283"/>
                <a:gd name="T11" fmla="*/ 6 h 283"/>
                <a:gd name="T12" fmla="*/ 6 w 283"/>
                <a:gd name="T13" fmla="*/ 142 h 283"/>
                <a:gd name="T14" fmla="*/ 142 w 283"/>
                <a:gd name="T15" fmla="*/ 277 h 283"/>
                <a:gd name="T16" fmla="*/ 278 w 283"/>
                <a:gd name="T17" fmla="*/ 142 h 283"/>
                <a:gd name="T18" fmla="*/ 142 w 283"/>
                <a:gd name="T19" fmla="*/ 6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3" h="283">
                  <a:moveTo>
                    <a:pt x="142" y="0"/>
                  </a:moveTo>
                  <a:cubicBezTo>
                    <a:pt x="220" y="0"/>
                    <a:pt x="283" y="64"/>
                    <a:pt x="283" y="142"/>
                  </a:cubicBezTo>
                  <a:cubicBezTo>
                    <a:pt x="283" y="219"/>
                    <a:pt x="220" y="283"/>
                    <a:pt x="142" y="283"/>
                  </a:cubicBezTo>
                  <a:cubicBezTo>
                    <a:pt x="64" y="283"/>
                    <a:pt x="0" y="219"/>
                    <a:pt x="0" y="142"/>
                  </a:cubicBezTo>
                  <a:cubicBezTo>
                    <a:pt x="0" y="64"/>
                    <a:pt x="64" y="0"/>
                    <a:pt x="142" y="0"/>
                  </a:cubicBezTo>
                  <a:moveTo>
                    <a:pt x="142" y="6"/>
                  </a:moveTo>
                  <a:cubicBezTo>
                    <a:pt x="67" y="6"/>
                    <a:pt x="6" y="67"/>
                    <a:pt x="6" y="142"/>
                  </a:cubicBezTo>
                  <a:cubicBezTo>
                    <a:pt x="6" y="216"/>
                    <a:pt x="67" y="277"/>
                    <a:pt x="142" y="277"/>
                  </a:cubicBezTo>
                  <a:cubicBezTo>
                    <a:pt x="217" y="277"/>
                    <a:pt x="278" y="216"/>
                    <a:pt x="278" y="142"/>
                  </a:cubicBezTo>
                  <a:cubicBezTo>
                    <a:pt x="278" y="67"/>
                    <a:pt x="217" y="6"/>
                    <a:pt x="142" y="6"/>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7" name="Freeform 106">
              <a:extLst>
                <a:ext uri="{FF2B5EF4-FFF2-40B4-BE49-F238E27FC236}">
                  <a16:creationId xmlns:a16="http://schemas.microsoft.com/office/drawing/2014/main" id="{E777FC6C-7E1A-44CF-BBAE-D121B2711723}"/>
                </a:ext>
              </a:extLst>
            </p:cNvPr>
            <p:cNvSpPr>
              <a:spLocks/>
            </p:cNvSpPr>
            <p:nvPr userDrawn="1"/>
          </p:nvSpPr>
          <p:spPr bwMode="auto">
            <a:xfrm>
              <a:off x="4636079" y="2857359"/>
              <a:ext cx="1459664" cy="1308403"/>
            </a:xfrm>
            <a:custGeom>
              <a:avLst/>
              <a:gdLst>
                <a:gd name="T0" fmla="*/ 28 w 156"/>
                <a:gd name="T1" fmla="*/ 139 h 139"/>
                <a:gd name="T2" fmla="*/ 7 w 156"/>
                <a:gd name="T3" fmla="*/ 112 h 139"/>
                <a:gd name="T4" fmla="*/ 0 w 156"/>
                <a:gd name="T5" fmla="*/ 79 h 139"/>
                <a:gd name="T6" fmla="*/ 78 w 156"/>
                <a:gd name="T7" fmla="*/ 0 h 139"/>
                <a:gd name="T8" fmla="*/ 156 w 156"/>
                <a:gd name="T9" fmla="*/ 79 h 139"/>
                <a:gd name="T10" fmla="*/ 149 w 156"/>
                <a:gd name="T11" fmla="*/ 112 h 139"/>
                <a:gd name="T12" fmla="*/ 128 w 156"/>
                <a:gd name="T13" fmla="*/ 139 h 139"/>
                <a:gd name="T14" fmla="*/ 126 w 156"/>
                <a:gd name="T15" fmla="*/ 137 h 139"/>
                <a:gd name="T16" fmla="*/ 146 w 156"/>
                <a:gd name="T17" fmla="*/ 111 h 139"/>
                <a:gd name="T18" fmla="*/ 153 w 156"/>
                <a:gd name="T19" fmla="*/ 79 h 139"/>
                <a:gd name="T20" fmla="*/ 78 w 156"/>
                <a:gd name="T21" fmla="*/ 3 h 139"/>
                <a:gd name="T22" fmla="*/ 3 w 156"/>
                <a:gd name="T23" fmla="*/ 79 h 139"/>
                <a:gd name="T24" fmla="*/ 10 w 156"/>
                <a:gd name="T25" fmla="*/ 111 h 139"/>
                <a:gd name="T26" fmla="*/ 30 w 156"/>
                <a:gd name="T27" fmla="*/ 137 h 139"/>
                <a:gd name="T28" fmla="*/ 28 w 156"/>
                <a:gd name="T29" fmla="*/ 13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6" h="139">
                  <a:moveTo>
                    <a:pt x="28" y="139"/>
                  </a:moveTo>
                  <a:cubicBezTo>
                    <a:pt x="19" y="132"/>
                    <a:pt x="12" y="122"/>
                    <a:pt x="7" y="112"/>
                  </a:cubicBezTo>
                  <a:cubicBezTo>
                    <a:pt x="2" y="102"/>
                    <a:pt x="0" y="90"/>
                    <a:pt x="0" y="79"/>
                  </a:cubicBezTo>
                  <a:cubicBezTo>
                    <a:pt x="0" y="36"/>
                    <a:pt x="35" y="0"/>
                    <a:pt x="78" y="0"/>
                  </a:cubicBezTo>
                  <a:cubicBezTo>
                    <a:pt x="121" y="0"/>
                    <a:pt x="156" y="36"/>
                    <a:pt x="156" y="79"/>
                  </a:cubicBezTo>
                  <a:cubicBezTo>
                    <a:pt x="156" y="90"/>
                    <a:pt x="153" y="102"/>
                    <a:pt x="149" y="112"/>
                  </a:cubicBezTo>
                  <a:cubicBezTo>
                    <a:pt x="144" y="122"/>
                    <a:pt x="136" y="132"/>
                    <a:pt x="128" y="139"/>
                  </a:cubicBezTo>
                  <a:cubicBezTo>
                    <a:pt x="126" y="137"/>
                    <a:pt x="126" y="137"/>
                    <a:pt x="126" y="137"/>
                  </a:cubicBezTo>
                  <a:cubicBezTo>
                    <a:pt x="134" y="130"/>
                    <a:pt x="141" y="121"/>
                    <a:pt x="146" y="111"/>
                  </a:cubicBezTo>
                  <a:cubicBezTo>
                    <a:pt x="151" y="101"/>
                    <a:pt x="153" y="90"/>
                    <a:pt x="153" y="79"/>
                  </a:cubicBezTo>
                  <a:cubicBezTo>
                    <a:pt x="153" y="37"/>
                    <a:pt x="119" y="3"/>
                    <a:pt x="78" y="3"/>
                  </a:cubicBezTo>
                  <a:cubicBezTo>
                    <a:pt x="36" y="3"/>
                    <a:pt x="3" y="37"/>
                    <a:pt x="3" y="79"/>
                  </a:cubicBezTo>
                  <a:cubicBezTo>
                    <a:pt x="3" y="90"/>
                    <a:pt x="5" y="101"/>
                    <a:pt x="10" y="111"/>
                  </a:cubicBezTo>
                  <a:cubicBezTo>
                    <a:pt x="14" y="121"/>
                    <a:pt x="21" y="130"/>
                    <a:pt x="30" y="137"/>
                  </a:cubicBezTo>
                  <a:lnTo>
                    <a:pt x="28" y="13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8" name="Freeform 107">
              <a:extLst>
                <a:ext uri="{FF2B5EF4-FFF2-40B4-BE49-F238E27FC236}">
                  <a16:creationId xmlns:a16="http://schemas.microsoft.com/office/drawing/2014/main" id="{36F8082A-3F76-40F4-9F47-83E775854186}"/>
                </a:ext>
              </a:extLst>
            </p:cNvPr>
            <p:cNvSpPr>
              <a:spLocks/>
            </p:cNvSpPr>
            <p:nvPr userDrawn="1"/>
          </p:nvSpPr>
          <p:spPr bwMode="auto">
            <a:xfrm>
              <a:off x="4174734" y="3825426"/>
              <a:ext cx="302521" cy="219328"/>
            </a:xfrm>
            <a:custGeom>
              <a:avLst/>
              <a:gdLst>
                <a:gd name="T0" fmla="*/ 8 w 40"/>
                <a:gd name="T1" fmla="*/ 29 h 29"/>
                <a:gd name="T2" fmla="*/ 0 w 40"/>
                <a:gd name="T3" fmla="*/ 10 h 29"/>
                <a:gd name="T4" fmla="*/ 4 w 40"/>
                <a:gd name="T5" fmla="*/ 9 h 29"/>
                <a:gd name="T6" fmla="*/ 35 w 40"/>
                <a:gd name="T7" fmla="*/ 14 h 29"/>
                <a:gd name="T8" fmla="*/ 30 w 40"/>
                <a:gd name="T9" fmla="*/ 1 h 29"/>
                <a:gd name="T10" fmla="*/ 34 w 40"/>
                <a:gd name="T11" fmla="*/ 0 h 29"/>
                <a:gd name="T12" fmla="*/ 40 w 40"/>
                <a:gd name="T13" fmla="*/ 16 h 29"/>
                <a:gd name="T14" fmla="*/ 36 w 40"/>
                <a:gd name="T15" fmla="*/ 17 h 29"/>
                <a:gd name="T16" fmla="*/ 7 w 40"/>
                <a:gd name="T17" fmla="*/ 14 h 29"/>
                <a:gd name="T18" fmla="*/ 12 w 40"/>
                <a:gd name="T19" fmla="*/ 27 h 29"/>
                <a:gd name="T20" fmla="*/ 8 w 40"/>
                <a:gd name="T21"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29">
                  <a:moveTo>
                    <a:pt x="8" y="29"/>
                  </a:moveTo>
                  <a:lnTo>
                    <a:pt x="0" y="10"/>
                  </a:lnTo>
                  <a:lnTo>
                    <a:pt x="4" y="9"/>
                  </a:lnTo>
                  <a:lnTo>
                    <a:pt x="35" y="14"/>
                  </a:lnTo>
                  <a:lnTo>
                    <a:pt x="30" y="1"/>
                  </a:lnTo>
                  <a:lnTo>
                    <a:pt x="34" y="0"/>
                  </a:lnTo>
                  <a:lnTo>
                    <a:pt x="40" y="16"/>
                  </a:lnTo>
                  <a:lnTo>
                    <a:pt x="36" y="17"/>
                  </a:lnTo>
                  <a:lnTo>
                    <a:pt x="7" y="14"/>
                  </a:lnTo>
                  <a:lnTo>
                    <a:pt x="12" y="27"/>
                  </a:lnTo>
                  <a:lnTo>
                    <a:pt x="8" y="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9" name="Freeform 108">
              <a:extLst>
                <a:ext uri="{FF2B5EF4-FFF2-40B4-BE49-F238E27FC236}">
                  <a16:creationId xmlns:a16="http://schemas.microsoft.com/office/drawing/2014/main" id="{DF6771ED-587C-4E52-8B5A-9D7BA5AB3A4B}"/>
                </a:ext>
              </a:extLst>
            </p:cNvPr>
            <p:cNvSpPr>
              <a:spLocks/>
            </p:cNvSpPr>
            <p:nvPr userDrawn="1"/>
          </p:nvSpPr>
          <p:spPr bwMode="auto">
            <a:xfrm>
              <a:off x="4265491" y="3984249"/>
              <a:ext cx="287395" cy="234454"/>
            </a:xfrm>
            <a:custGeom>
              <a:avLst/>
              <a:gdLst>
                <a:gd name="T0" fmla="*/ 7 w 38"/>
                <a:gd name="T1" fmla="*/ 31 h 31"/>
                <a:gd name="T2" fmla="*/ 6 w 38"/>
                <a:gd name="T3" fmla="*/ 28 h 31"/>
                <a:gd name="T4" fmla="*/ 19 w 38"/>
                <a:gd name="T5" fmla="*/ 21 h 31"/>
                <a:gd name="T6" fmla="*/ 14 w 38"/>
                <a:gd name="T7" fmla="*/ 11 h 31"/>
                <a:gd name="T8" fmla="*/ 1 w 38"/>
                <a:gd name="T9" fmla="*/ 19 h 31"/>
                <a:gd name="T10" fmla="*/ 0 w 38"/>
                <a:gd name="T11" fmla="*/ 15 h 31"/>
                <a:gd name="T12" fmla="*/ 29 w 38"/>
                <a:gd name="T13" fmla="*/ 0 h 31"/>
                <a:gd name="T14" fmla="*/ 32 w 38"/>
                <a:gd name="T15" fmla="*/ 4 h 31"/>
                <a:gd name="T16" fmla="*/ 18 w 38"/>
                <a:gd name="T17" fmla="*/ 10 h 31"/>
                <a:gd name="T18" fmla="*/ 23 w 38"/>
                <a:gd name="T19" fmla="*/ 19 h 31"/>
                <a:gd name="T20" fmla="*/ 35 w 38"/>
                <a:gd name="T21" fmla="*/ 13 h 31"/>
                <a:gd name="T22" fmla="*/ 38 w 38"/>
                <a:gd name="T23" fmla="*/ 16 h 31"/>
                <a:gd name="T24" fmla="*/ 7 w 38"/>
                <a:gd name="T25"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1">
                  <a:moveTo>
                    <a:pt x="7" y="31"/>
                  </a:moveTo>
                  <a:lnTo>
                    <a:pt x="6" y="28"/>
                  </a:lnTo>
                  <a:lnTo>
                    <a:pt x="19" y="21"/>
                  </a:lnTo>
                  <a:lnTo>
                    <a:pt x="14" y="11"/>
                  </a:lnTo>
                  <a:lnTo>
                    <a:pt x="1" y="19"/>
                  </a:lnTo>
                  <a:lnTo>
                    <a:pt x="0" y="15"/>
                  </a:lnTo>
                  <a:lnTo>
                    <a:pt x="29" y="0"/>
                  </a:lnTo>
                  <a:lnTo>
                    <a:pt x="32" y="4"/>
                  </a:lnTo>
                  <a:lnTo>
                    <a:pt x="18" y="10"/>
                  </a:lnTo>
                  <a:lnTo>
                    <a:pt x="23" y="19"/>
                  </a:lnTo>
                  <a:lnTo>
                    <a:pt x="35" y="13"/>
                  </a:lnTo>
                  <a:lnTo>
                    <a:pt x="38" y="16"/>
                  </a:lnTo>
                  <a:lnTo>
                    <a:pt x="7" y="3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0" name="Freeform 109">
              <a:extLst>
                <a:ext uri="{FF2B5EF4-FFF2-40B4-BE49-F238E27FC236}">
                  <a16:creationId xmlns:a16="http://schemas.microsoft.com/office/drawing/2014/main" id="{AEF9C0F6-A509-41A8-97B5-E2D473CAA116}"/>
                </a:ext>
              </a:extLst>
            </p:cNvPr>
            <p:cNvSpPr>
              <a:spLocks/>
            </p:cNvSpPr>
            <p:nvPr userDrawn="1"/>
          </p:nvSpPr>
          <p:spPr bwMode="auto">
            <a:xfrm>
              <a:off x="4348684" y="4120384"/>
              <a:ext cx="287395" cy="249580"/>
            </a:xfrm>
            <a:custGeom>
              <a:avLst/>
              <a:gdLst>
                <a:gd name="T0" fmla="*/ 11 w 38"/>
                <a:gd name="T1" fmla="*/ 33 h 33"/>
                <a:gd name="T2" fmla="*/ 0 w 38"/>
                <a:gd name="T3" fmla="*/ 18 h 33"/>
                <a:gd name="T4" fmla="*/ 28 w 38"/>
                <a:gd name="T5" fmla="*/ 0 h 33"/>
                <a:gd name="T6" fmla="*/ 38 w 38"/>
                <a:gd name="T7" fmla="*/ 15 h 33"/>
                <a:gd name="T8" fmla="*/ 36 w 38"/>
                <a:gd name="T9" fmla="*/ 17 h 33"/>
                <a:gd name="T10" fmla="*/ 27 w 38"/>
                <a:gd name="T11" fmla="*/ 6 h 33"/>
                <a:gd name="T12" fmla="*/ 18 w 38"/>
                <a:gd name="T13" fmla="*/ 11 h 33"/>
                <a:gd name="T14" fmla="*/ 26 w 38"/>
                <a:gd name="T15" fmla="*/ 21 h 33"/>
                <a:gd name="T16" fmla="*/ 23 w 38"/>
                <a:gd name="T17" fmla="*/ 23 h 33"/>
                <a:gd name="T18" fmla="*/ 16 w 38"/>
                <a:gd name="T19" fmla="*/ 13 h 33"/>
                <a:gd name="T20" fmla="*/ 6 w 38"/>
                <a:gd name="T21" fmla="*/ 20 h 33"/>
                <a:gd name="T22" fmla="*/ 13 w 38"/>
                <a:gd name="T23" fmla="*/ 31 h 33"/>
                <a:gd name="T24" fmla="*/ 11 w 38"/>
                <a:gd name="T25"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3">
                  <a:moveTo>
                    <a:pt x="11" y="33"/>
                  </a:moveTo>
                  <a:lnTo>
                    <a:pt x="0" y="18"/>
                  </a:lnTo>
                  <a:lnTo>
                    <a:pt x="28" y="0"/>
                  </a:lnTo>
                  <a:lnTo>
                    <a:pt x="38" y="15"/>
                  </a:lnTo>
                  <a:lnTo>
                    <a:pt x="36" y="17"/>
                  </a:lnTo>
                  <a:lnTo>
                    <a:pt x="27" y="6"/>
                  </a:lnTo>
                  <a:lnTo>
                    <a:pt x="18" y="11"/>
                  </a:lnTo>
                  <a:lnTo>
                    <a:pt x="26" y="21"/>
                  </a:lnTo>
                  <a:lnTo>
                    <a:pt x="23" y="23"/>
                  </a:lnTo>
                  <a:lnTo>
                    <a:pt x="16" y="13"/>
                  </a:lnTo>
                  <a:lnTo>
                    <a:pt x="6" y="20"/>
                  </a:lnTo>
                  <a:lnTo>
                    <a:pt x="13" y="31"/>
                  </a:lnTo>
                  <a:lnTo>
                    <a:pt x="11" y="3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1" name="Freeform 110">
              <a:extLst>
                <a:ext uri="{FF2B5EF4-FFF2-40B4-BE49-F238E27FC236}">
                  <a16:creationId xmlns:a16="http://schemas.microsoft.com/office/drawing/2014/main" id="{E7BDE460-8171-489C-89C6-BFBBEA2DD347}"/>
                </a:ext>
              </a:extLst>
            </p:cNvPr>
            <p:cNvSpPr>
              <a:spLocks/>
            </p:cNvSpPr>
            <p:nvPr userDrawn="1"/>
          </p:nvSpPr>
          <p:spPr bwMode="auto">
            <a:xfrm>
              <a:off x="4583138" y="4332148"/>
              <a:ext cx="181513" cy="219328"/>
            </a:xfrm>
            <a:custGeom>
              <a:avLst/>
              <a:gdLst>
                <a:gd name="T0" fmla="*/ 3 w 24"/>
                <a:gd name="T1" fmla="*/ 29 h 29"/>
                <a:gd name="T2" fmla="*/ 0 w 24"/>
                <a:gd name="T3" fmla="*/ 26 h 29"/>
                <a:gd name="T4" fmla="*/ 21 w 24"/>
                <a:gd name="T5" fmla="*/ 0 h 29"/>
                <a:gd name="T6" fmla="*/ 24 w 24"/>
                <a:gd name="T7" fmla="*/ 3 h 29"/>
                <a:gd name="T8" fmla="*/ 3 w 24"/>
                <a:gd name="T9" fmla="*/ 29 h 29"/>
              </a:gdLst>
              <a:ahLst/>
              <a:cxnLst>
                <a:cxn ang="0">
                  <a:pos x="T0" y="T1"/>
                </a:cxn>
                <a:cxn ang="0">
                  <a:pos x="T2" y="T3"/>
                </a:cxn>
                <a:cxn ang="0">
                  <a:pos x="T4" y="T5"/>
                </a:cxn>
                <a:cxn ang="0">
                  <a:pos x="T6" y="T7"/>
                </a:cxn>
                <a:cxn ang="0">
                  <a:pos x="T8" y="T9"/>
                </a:cxn>
              </a:cxnLst>
              <a:rect l="0" t="0" r="r" b="b"/>
              <a:pathLst>
                <a:path w="24" h="29">
                  <a:moveTo>
                    <a:pt x="3" y="29"/>
                  </a:moveTo>
                  <a:lnTo>
                    <a:pt x="0" y="26"/>
                  </a:lnTo>
                  <a:lnTo>
                    <a:pt x="21" y="0"/>
                  </a:lnTo>
                  <a:lnTo>
                    <a:pt x="24" y="3"/>
                  </a:lnTo>
                  <a:lnTo>
                    <a:pt x="3" y="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2" name="Freeform 111">
              <a:extLst>
                <a:ext uri="{FF2B5EF4-FFF2-40B4-BE49-F238E27FC236}">
                  <a16:creationId xmlns:a16="http://schemas.microsoft.com/office/drawing/2014/main" id="{AE19B8C3-1874-4D0B-82BA-DC387529B52E}"/>
                </a:ext>
              </a:extLst>
            </p:cNvPr>
            <p:cNvSpPr>
              <a:spLocks noEditPoints="1"/>
            </p:cNvSpPr>
            <p:nvPr userDrawn="1"/>
          </p:nvSpPr>
          <p:spPr bwMode="auto">
            <a:xfrm>
              <a:off x="4643642" y="4392652"/>
              <a:ext cx="219328" cy="264706"/>
            </a:xfrm>
            <a:custGeom>
              <a:avLst/>
              <a:gdLst>
                <a:gd name="T0" fmla="*/ 11 w 29"/>
                <a:gd name="T1" fmla="*/ 32 h 35"/>
                <a:gd name="T2" fmla="*/ 16 w 29"/>
                <a:gd name="T3" fmla="*/ 23 h 35"/>
                <a:gd name="T4" fmla="*/ 11 w 29"/>
                <a:gd name="T5" fmla="*/ 20 h 35"/>
                <a:gd name="T6" fmla="*/ 3 w 29"/>
                <a:gd name="T7" fmla="*/ 27 h 35"/>
                <a:gd name="T8" fmla="*/ 0 w 29"/>
                <a:gd name="T9" fmla="*/ 25 h 35"/>
                <a:gd name="T10" fmla="*/ 24 w 29"/>
                <a:gd name="T11" fmla="*/ 0 h 35"/>
                <a:gd name="T12" fmla="*/ 29 w 29"/>
                <a:gd name="T13" fmla="*/ 2 h 35"/>
                <a:gd name="T14" fmla="*/ 16 w 29"/>
                <a:gd name="T15" fmla="*/ 35 h 35"/>
                <a:gd name="T16" fmla="*/ 11 w 29"/>
                <a:gd name="T17" fmla="*/ 32 h 35"/>
                <a:gd name="T18" fmla="*/ 19 w 29"/>
                <a:gd name="T19" fmla="*/ 18 h 35"/>
                <a:gd name="T20" fmla="*/ 24 w 29"/>
                <a:gd name="T21" fmla="*/ 7 h 35"/>
                <a:gd name="T22" fmla="*/ 23 w 29"/>
                <a:gd name="T23" fmla="*/ 6 h 35"/>
                <a:gd name="T24" fmla="*/ 14 w 29"/>
                <a:gd name="T25" fmla="*/ 16 h 35"/>
                <a:gd name="T26" fmla="*/ 19 w 29"/>
                <a:gd name="T2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35">
                  <a:moveTo>
                    <a:pt x="11" y="32"/>
                  </a:moveTo>
                  <a:lnTo>
                    <a:pt x="16" y="23"/>
                  </a:lnTo>
                  <a:lnTo>
                    <a:pt x="11" y="20"/>
                  </a:lnTo>
                  <a:lnTo>
                    <a:pt x="3" y="27"/>
                  </a:lnTo>
                  <a:lnTo>
                    <a:pt x="0" y="25"/>
                  </a:lnTo>
                  <a:lnTo>
                    <a:pt x="24" y="0"/>
                  </a:lnTo>
                  <a:lnTo>
                    <a:pt x="29" y="2"/>
                  </a:lnTo>
                  <a:lnTo>
                    <a:pt x="16" y="35"/>
                  </a:lnTo>
                  <a:lnTo>
                    <a:pt x="11" y="32"/>
                  </a:lnTo>
                  <a:close/>
                  <a:moveTo>
                    <a:pt x="19" y="18"/>
                  </a:moveTo>
                  <a:lnTo>
                    <a:pt x="24" y="7"/>
                  </a:lnTo>
                  <a:lnTo>
                    <a:pt x="23" y="6"/>
                  </a:lnTo>
                  <a:lnTo>
                    <a:pt x="14" y="16"/>
                  </a:lnTo>
                  <a:lnTo>
                    <a:pt x="19" y="1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3" name="Freeform 112">
              <a:extLst>
                <a:ext uri="{FF2B5EF4-FFF2-40B4-BE49-F238E27FC236}">
                  <a16:creationId xmlns:a16="http://schemas.microsoft.com/office/drawing/2014/main" id="{6A9C200D-F2D8-405E-B055-920E9C346F27}"/>
                </a:ext>
              </a:extLst>
            </p:cNvPr>
            <p:cNvSpPr>
              <a:spLocks/>
            </p:cNvSpPr>
            <p:nvPr/>
          </p:nvSpPr>
          <p:spPr bwMode="auto">
            <a:xfrm>
              <a:off x="4794903" y="4438031"/>
              <a:ext cx="242017" cy="294958"/>
            </a:xfrm>
            <a:custGeom>
              <a:avLst/>
              <a:gdLst>
                <a:gd name="T0" fmla="*/ 16 w 32"/>
                <a:gd name="T1" fmla="*/ 39 h 39"/>
                <a:gd name="T2" fmla="*/ 13 w 32"/>
                <a:gd name="T3" fmla="*/ 36 h 39"/>
                <a:gd name="T4" fmla="*/ 15 w 32"/>
                <a:gd name="T5" fmla="*/ 12 h 39"/>
                <a:gd name="T6" fmla="*/ 5 w 32"/>
                <a:gd name="T7" fmla="*/ 32 h 39"/>
                <a:gd name="T8" fmla="*/ 0 w 32"/>
                <a:gd name="T9" fmla="*/ 30 h 39"/>
                <a:gd name="T10" fmla="*/ 16 w 32"/>
                <a:gd name="T11" fmla="*/ 0 h 39"/>
                <a:gd name="T12" fmla="*/ 20 w 32"/>
                <a:gd name="T13" fmla="*/ 1 h 39"/>
                <a:gd name="T14" fmla="*/ 19 w 32"/>
                <a:gd name="T15" fmla="*/ 25 h 39"/>
                <a:gd name="T16" fmla="*/ 29 w 32"/>
                <a:gd name="T17" fmla="*/ 5 h 39"/>
                <a:gd name="T18" fmla="*/ 32 w 32"/>
                <a:gd name="T19" fmla="*/ 7 h 39"/>
                <a:gd name="T20" fmla="*/ 16 w 32"/>
                <a:gd name="T21"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39">
                  <a:moveTo>
                    <a:pt x="16" y="39"/>
                  </a:moveTo>
                  <a:lnTo>
                    <a:pt x="13" y="36"/>
                  </a:lnTo>
                  <a:lnTo>
                    <a:pt x="15" y="12"/>
                  </a:lnTo>
                  <a:lnTo>
                    <a:pt x="5" y="32"/>
                  </a:lnTo>
                  <a:lnTo>
                    <a:pt x="0" y="30"/>
                  </a:lnTo>
                  <a:lnTo>
                    <a:pt x="16" y="0"/>
                  </a:lnTo>
                  <a:lnTo>
                    <a:pt x="20" y="1"/>
                  </a:lnTo>
                  <a:lnTo>
                    <a:pt x="19" y="25"/>
                  </a:lnTo>
                  <a:lnTo>
                    <a:pt x="29" y="5"/>
                  </a:lnTo>
                  <a:lnTo>
                    <a:pt x="32" y="7"/>
                  </a:lnTo>
                  <a:lnTo>
                    <a:pt x="16" y="3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4" name="Freeform 113">
              <a:extLst>
                <a:ext uri="{FF2B5EF4-FFF2-40B4-BE49-F238E27FC236}">
                  <a16:creationId xmlns:a16="http://schemas.microsoft.com/office/drawing/2014/main" id="{79D64961-723F-4942-9007-A0B9C11912E6}"/>
                </a:ext>
              </a:extLst>
            </p:cNvPr>
            <p:cNvSpPr>
              <a:spLocks/>
            </p:cNvSpPr>
            <p:nvPr userDrawn="1"/>
          </p:nvSpPr>
          <p:spPr bwMode="auto">
            <a:xfrm>
              <a:off x="4983978" y="4506098"/>
              <a:ext cx="173950" cy="272269"/>
            </a:xfrm>
            <a:custGeom>
              <a:avLst/>
              <a:gdLst>
                <a:gd name="T0" fmla="*/ 12 w 19"/>
                <a:gd name="T1" fmla="*/ 29 h 29"/>
                <a:gd name="T2" fmla="*/ 10 w 19"/>
                <a:gd name="T3" fmla="*/ 29 h 29"/>
                <a:gd name="T4" fmla="*/ 10 w 19"/>
                <a:gd name="T5" fmla="*/ 26 h 29"/>
                <a:gd name="T6" fmla="*/ 8 w 19"/>
                <a:gd name="T7" fmla="*/ 27 h 29"/>
                <a:gd name="T8" fmla="*/ 5 w 19"/>
                <a:gd name="T9" fmla="*/ 27 h 29"/>
                <a:gd name="T10" fmla="*/ 1 w 19"/>
                <a:gd name="T11" fmla="*/ 23 h 29"/>
                <a:gd name="T12" fmla="*/ 1 w 19"/>
                <a:gd name="T13" fmla="*/ 13 h 29"/>
                <a:gd name="T14" fmla="*/ 6 w 19"/>
                <a:gd name="T15" fmla="*/ 3 h 29"/>
                <a:gd name="T16" fmla="*/ 14 w 19"/>
                <a:gd name="T17" fmla="*/ 1 h 29"/>
                <a:gd name="T18" fmla="*/ 18 w 19"/>
                <a:gd name="T19" fmla="*/ 11 h 29"/>
                <a:gd name="T20" fmla="*/ 15 w 19"/>
                <a:gd name="T21" fmla="*/ 11 h 29"/>
                <a:gd name="T22" fmla="*/ 13 w 19"/>
                <a:gd name="T23" fmla="*/ 4 h 29"/>
                <a:gd name="T24" fmla="*/ 8 w 19"/>
                <a:gd name="T25" fmla="*/ 6 h 29"/>
                <a:gd name="T26" fmla="*/ 5 w 19"/>
                <a:gd name="T27" fmla="*/ 14 h 29"/>
                <a:gd name="T28" fmla="*/ 4 w 19"/>
                <a:gd name="T29" fmla="*/ 21 h 29"/>
                <a:gd name="T30" fmla="*/ 6 w 19"/>
                <a:gd name="T31" fmla="*/ 24 h 29"/>
                <a:gd name="T32" fmla="*/ 9 w 19"/>
                <a:gd name="T33" fmla="*/ 24 h 29"/>
                <a:gd name="T34" fmla="*/ 12 w 19"/>
                <a:gd name="T35" fmla="*/ 20 h 29"/>
                <a:gd name="T36" fmla="*/ 12 w 19"/>
                <a:gd name="T37" fmla="*/ 18 h 29"/>
                <a:gd name="T38" fmla="*/ 8 w 19"/>
                <a:gd name="T39" fmla="*/ 17 h 29"/>
                <a:gd name="T40" fmla="*/ 9 w 19"/>
                <a:gd name="T41" fmla="*/ 14 h 29"/>
                <a:gd name="T42" fmla="*/ 16 w 19"/>
                <a:gd name="T43" fmla="*/ 17 h 29"/>
                <a:gd name="T44" fmla="*/ 12 w 19"/>
                <a:gd name="T45"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29">
                  <a:moveTo>
                    <a:pt x="12" y="29"/>
                  </a:moveTo>
                  <a:cubicBezTo>
                    <a:pt x="10" y="29"/>
                    <a:pt x="10" y="29"/>
                    <a:pt x="10" y="29"/>
                  </a:cubicBezTo>
                  <a:cubicBezTo>
                    <a:pt x="10" y="26"/>
                    <a:pt x="10" y="26"/>
                    <a:pt x="10" y="26"/>
                  </a:cubicBezTo>
                  <a:cubicBezTo>
                    <a:pt x="9" y="27"/>
                    <a:pt x="9" y="27"/>
                    <a:pt x="8" y="27"/>
                  </a:cubicBezTo>
                  <a:cubicBezTo>
                    <a:pt x="7" y="27"/>
                    <a:pt x="6" y="27"/>
                    <a:pt x="5" y="27"/>
                  </a:cubicBezTo>
                  <a:cubicBezTo>
                    <a:pt x="3" y="26"/>
                    <a:pt x="2" y="25"/>
                    <a:pt x="1" y="23"/>
                  </a:cubicBezTo>
                  <a:cubicBezTo>
                    <a:pt x="0" y="20"/>
                    <a:pt x="0" y="17"/>
                    <a:pt x="1" y="13"/>
                  </a:cubicBezTo>
                  <a:cubicBezTo>
                    <a:pt x="3" y="8"/>
                    <a:pt x="4" y="5"/>
                    <a:pt x="6" y="3"/>
                  </a:cubicBezTo>
                  <a:cubicBezTo>
                    <a:pt x="9" y="1"/>
                    <a:pt x="12" y="0"/>
                    <a:pt x="14" y="1"/>
                  </a:cubicBezTo>
                  <a:cubicBezTo>
                    <a:pt x="17" y="2"/>
                    <a:pt x="19" y="6"/>
                    <a:pt x="18" y="11"/>
                  </a:cubicBezTo>
                  <a:cubicBezTo>
                    <a:pt x="15" y="11"/>
                    <a:pt x="15" y="11"/>
                    <a:pt x="15" y="11"/>
                  </a:cubicBezTo>
                  <a:cubicBezTo>
                    <a:pt x="16" y="9"/>
                    <a:pt x="15" y="5"/>
                    <a:pt x="13" y="4"/>
                  </a:cubicBezTo>
                  <a:cubicBezTo>
                    <a:pt x="11" y="4"/>
                    <a:pt x="9" y="4"/>
                    <a:pt x="8" y="6"/>
                  </a:cubicBezTo>
                  <a:cubicBezTo>
                    <a:pt x="7" y="7"/>
                    <a:pt x="6" y="10"/>
                    <a:pt x="5" y="14"/>
                  </a:cubicBezTo>
                  <a:cubicBezTo>
                    <a:pt x="4" y="17"/>
                    <a:pt x="3" y="20"/>
                    <a:pt x="4" y="21"/>
                  </a:cubicBezTo>
                  <a:cubicBezTo>
                    <a:pt x="4" y="23"/>
                    <a:pt x="5" y="24"/>
                    <a:pt x="6" y="24"/>
                  </a:cubicBezTo>
                  <a:cubicBezTo>
                    <a:pt x="7" y="25"/>
                    <a:pt x="9" y="25"/>
                    <a:pt x="9" y="24"/>
                  </a:cubicBezTo>
                  <a:cubicBezTo>
                    <a:pt x="10" y="23"/>
                    <a:pt x="11" y="22"/>
                    <a:pt x="12" y="20"/>
                  </a:cubicBezTo>
                  <a:cubicBezTo>
                    <a:pt x="12" y="18"/>
                    <a:pt x="12" y="18"/>
                    <a:pt x="12" y="18"/>
                  </a:cubicBezTo>
                  <a:cubicBezTo>
                    <a:pt x="8" y="17"/>
                    <a:pt x="8" y="17"/>
                    <a:pt x="8" y="17"/>
                  </a:cubicBezTo>
                  <a:cubicBezTo>
                    <a:pt x="9" y="14"/>
                    <a:pt x="9" y="14"/>
                    <a:pt x="9" y="14"/>
                  </a:cubicBezTo>
                  <a:cubicBezTo>
                    <a:pt x="16" y="17"/>
                    <a:pt x="16" y="17"/>
                    <a:pt x="16" y="17"/>
                  </a:cubicBezTo>
                  <a:lnTo>
                    <a:pt x="12" y="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5" name="Freeform 114">
              <a:extLst>
                <a:ext uri="{FF2B5EF4-FFF2-40B4-BE49-F238E27FC236}">
                  <a16:creationId xmlns:a16="http://schemas.microsoft.com/office/drawing/2014/main" id="{BEA6281E-7FA3-4350-9E1A-ACF8DD23B645}"/>
                </a:ext>
              </a:extLst>
            </p:cNvPr>
            <p:cNvSpPr>
              <a:spLocks/>
            </p:cNvSpPr>
            <p:nvPr userDrawn="1"/>
          </p:nvSpPr>
          <p:spPr bwMode="auto">
            <a:xfrm>
              <a:off x="5301626" y="4543913"/>
              <a:ext cx="143698" cy="249580"/>
            </a:xfrm>
            <a:custGeom>
              <a:avLst/>
              <a:gdLst>
                <a:gd name="T0" fmla="*/ 15 w 15"/>
                <a:gd name="T1" fmla="*/ 19 h 27"/>
                <a:gd name="T2" fmla="*/ 13 w 15"/>
                <a:gd name="T3" fmla="*/ 25 h 27"/>
                <a:gd name="T4" fmla="*/ 7 w 15"/>
                <a:gd name="T5" fmla="*/ 27 h 27"/>
                <a:gd name="T6" fmla="*/ 1 w 15"/>
                <a:gd name="T7" fmla="*/ 25 h 27"/>
                <a:gd name="T8" fmla="*/ 0 w 15"/>
                <a:gd name="T9" fmla="*/ 19 h 27"/>
                <a:gd name="T10" fmla="*/ 0 w 15"/>
                <a:gd name="T11" fmla="*/ 0 h 27"/>
                <a:gd name="T12" fmla="*/ 4 w 15"/>
                <a:gd name="T13" fmla="*/ 0 h 27"/>
                <a:gd name="T14" fmla="*/ 3 w 15"/>
                <a:gd name="T15" fmla="*/ 19 h 27"/>
                <a:gd name="T16" fmla="*/ 4 w 15"/>
                <a:gd name="T17" fmla="*/ 23 h 27"/>
                <a:gd name="T18" fmla="*/ 7 w 15"/>
                <a:gd name="T19" fmla="*/ 24 h 27"/>
                <a:gd name="T20" fmla="*/ 10 w 15"/>
                <a:gd name="T21" fmla="*/ 23 h 27"/>
                <a:gd name="T22" fmla="*/ 11 w 15"/>
                <a:gd name="T23" fmla="*/ 19 h 27"/>
                <a:gd name="T24" fmla="*/ 12 w 15"/>
                <a:gd name="T25" fmla="*/ 0 h 27"/>
                <a:gd name="T26" fmla="*/ 15 w 15"/>
                <a:gd name="T27" fmla="*/ 0 h 27"/>
                <a:gd name="T28" fmla="*/ 15 w 15"/>
                <a:gd name="T29"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7">
                  <a:moveTo>
                    <a:pt x="15" y="19"/>
                  </a:moveTo>
                  <a:cubicBezTo>
                    <a:pt x="15" y="22"/>
                    <a:pt x="14" y="24"/>
                    <a:pt x="13" y="25"/>
                  </a:cubicBezTo>
                  <a:cubicBezTo>
                    <a:pt x="11" y="27"/>
                    <a:pt x="10" y="27"/>
                    <a:pt x="7" y="27"/>
                  </a:cubicBezTo>
                  <a:cubicBezTo>
                    <a:pt x="4" y="27"/>
                    <a:pt x="2" y="26"/>
                    <a:pt x="1" y="25"/>
                  </a:cubicBezTo>
                  <a:cubicBezTo>
                    <a:pt x="0" y="23"/>
                    <a:pt x="0" y="21"/>
                    <a:pt x="0" y="19"/>
                  </a:cubicBezTo>
                  <a:cubicBezTo>
                    <a:pt x="0" y="0"/>
                    <a:pt x="0" y="0"/>
                    <a:pt x="0" y="0"/>
                  </a:cubicBezTo>
                  <a:cubicBezTo>
                    <a:pt x="4" y="0"/>
                    <a:pt x="4" y="0"/>
                    <a:pt x="4" y="0"/>
                  </a:cubicBezTo>
                  <a:cubicBezTo>
                    <a:pt x="3" y="19"/>
                    <a:pt x="3" y="19"/>
                    <a:pt x="3" y="19"/>
                  </a:cubicBezTo>
                  <a:cubicBezTo>
                    <a:pt x="3" y="21"/>
                    <a:pt x="3" y="22"/>
                    <a:pt x="4" y="23"/>
                  </a:cubicBezTo>
                  <a:cubicBezTo>
                    <a:pt x="5" y="24"/>
                    <a:pt x="6" y="24"/>
                    <a:pt x="7" y="24"/>
                  </a:cubicBezTo>
                  <a:cubicBezTo>
                    <a:pt x="8" y="24"/>
                    <a:pt x="9" y="24"/>
                    <a:pt x="10" y="23"/>
                  </a:cubicBezTo>
                  <a:cubicBezTo>
                    <a:pt x="11" y="22"/>
                    <a:pt x="11" y="21"/>
                    <a:pt x="11" y="19"/>
                  </a:cubicBezTo>
                  <a:cubicBezTo>
                    <a:pt x="12" y="0"/>
                    <a:pt x="12" y="0"/>
                    <a:pt x="12" y="0"/>
                  </a:cubicBezTo>
                  <a:cubicBezTo>
                    <a:pt x="15" y="0"/>
                    <a:pt x="15" y="0"/>
                    <a:pt x="15" y="0"/>
                  </a:cubicBezTo>
                  <a:lnTo>
                    <a:pt x="15" y="1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6" name="Freeform 115">
              <a:extLst>
                <a:ext uri="{FF2B5EF4-FFF2-40B4-BE49-F238E27FC236}">
                  <a16:creationId xmlns:a16="http://schemas.microsoft.com/office/drawing/2014/main" id="{43977110-BEEA-484B-A0D5-55486378E03D}"/>
                </a:ext>
              </a:extLst>
            </p:cNvPr>
            <p:cNvSpPr>
              <a:spLocks/>
            </p:cNvSpPr>
            <p:nvPr userDrawn="1"/>
          </p:nvSpPr>
          <p:spPr bwMode="auto">
            <a:xfrm>
              <a:off x="5460449" y="4521224"/>
              <a:ext cx="158824" cy="272269"/>
            </a:xfrm>
            <a:custGeom>
              <a:avLst/>
              <a:gdLst>
                <a:gd name="T0" fmla="*/ 21 w 21"/>
                <a:gd name="T1" fmla="*/ 33 h 36"/>
                <a:gd name="T2" fmla="*/ 17 w 21"/>
                <a:gd name="T3" fmla="*/ 34 h 36"/>
                <a:gd name="T4" fmla="*/ 5 w 21"/>
                <a:gd name="T5" fmla="*/ 11 h 36"/>
                <a:gd name="T6" fmla="*/ 8 w 21"/>
                <a:gd name="T7" fmla="*/ 35 h 36"/>
                <a:gd name="T8" fmla="*/ 3 w 21"/>
                <a:gd name="T9" fmla="*/ 36 h 36"/>
                <a:gd name="T10" fmla="*/ 0 w 21"/>
                <a:gd name="T11" fmla="*/ 3 h 36"/>
                <a:gd name="T12" fmla="*/ 5 w 21"/>
                <a:gd name="T13" fmla="*/ 1 h 36"/>
                <a:gd name="T14" fmla="*/ 15 w 21"/>
                <a:gd name="T15" fmla="*/ 18 h 36"/>
                <a:gd name="T16" fmla="*/ 12 w 21"/>
                <a:gd name="T17" fmla="*/ 0 h 36"/>
                <a:gd name="T18" fmla="*/ 16 w 21"/>
                <a:gd name="T19" fmla="*/ 0 h 36"/>
                <a:gd name="T20" fmla="*/ 21 w 21"/>
                <a:gd name="T21" fmla="*/ 3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36">
                  <a:moveTo>
                    <a:pt x="21" y="33"/>
                  </a:moveTo>
                  <a:lnTo>
                    <a:pt x="17" y="34"/>
                  </a:lnTo>
                  <a:lnTo>
                    <a:pt x="5" y="11"/>
                  </a:lnTo>
                  <a:lnTo>
                    <a:pt x="8" y="35"/>
                  </a:lnTo>
                  <a:lnTo>
                    <a:pt x="3" y="36"/>
                  </a:lnTo>
                  <a:lnTo>
                    <a:pt x="0" y="3"/>
                  </a:lnTo>
                  <a:lnTo>
                    <a:pt x="5" y="1"/>
                  </a:lnTo>
                  <a:lnTo>
                    <a:pt x="15" y="18"/>
                  </a:lnTo>
                  <a:lnTo>
                    <a:pt x="12" y="0"/>
                  </a:lnTo>
                  <a:lnTo>
                    <a:pt x="16" y="0"/>
                  </a:lnTo>
                  <a:lnTo>
                    <a:pt x="21" y="3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7" name="Freeform 116">
              <a:extLst>
                <a:ext uri="{FF2B5EF4-FFF2-40B4-BE49-F238E27FC236}">
                  <a16:creationId xmlns:a16="http://schemas.microsoft.com/office/drawing/2014/main" id="{D264DB9A-110E-4683-80FE-E8DF2D747452}"/>
                </a:ext>
              </a:extLst>
            </p:cNvPr>
            <p:cNvSpPr>
              <a:spLocks/>
            </p:cNvSpPr>
            <p:nvPr userDrawn="1"/>
          </p:nvSpPr>
          <p:spPr bwMode="auto">
            <a:xfrm>
              <a:off x="5611710" y="4506098"/>
              <a:ext cx="105882" cy="249580"/>
            </a:xfrm>
            <a:custGeom>
              <a:avLst/>
              <a:gdLst>
                <a:gd name="T0" fmla="*/ 14 w 14"/>
                <a:gd name="T1" fmla="*/ 31 h 33"/>
                <a:gd name="T2" fmla="*/ 9 w 14"/>
                <a:gd name="T3" fmla="*/ 33 h 33"/>
                <a:gd name="T4" fmla="*/ 0 w 14"/>
                <a:gd name="T5" fmla="*/ 1 h 33"/>
                <a:gd name="T6" fmla="*/ 4 w 14"/>
                <a:gd name="T7" fmla="*/ 0 h 33"/>
                <a:gd name="T8" fmla="*/ 14 w 14"/>
                <a:gd name="T9" fmla="*/ 31 h 33"/>
              </a:gdLst>
              <a:ahLst/>
              <a:cxnLst>
                <a:cxn ang="0">
                  <a:pos x="T0" y="T1"/>
                </a:cxn>
                <a:cxn ang="0">
                  <a:pos x="T2" y="T3"/>
                </a:cxn>
                <a:cxn ang="0">
                  <a:pos x="T4" y="T5"/>
                </a:cxn>
                <a:cxn ang="0">
                  <a:pos x="T6" y="T7"/>
                </a:cxn>
                <a:cxn ang="0">
                  <a:pos x="T8" y="T9"/>
                </a:cxn>
              </a:cxnLst>
              <a:rect l="0" t="0" r="r" b="b"/>
              <a:pathLst>
                <a:path w="14" h="33">
                  <a:moveTo>
                    <a:pt x="14" y="31"/>
                  </a:moveTo>
                  <a:lnTo>
                    <a:pt x="9" y="33"/>
                  </a:lnTo>
                  <a:lnTo>
                    <a:pt x="0" y="1"/>
                  </a:lnTo>
                  <a:lnTo>
                    <a:pt x="4" y="0"/>
                  </a:lnTo>
                  <a:lnTo>
                    <a:pt x="14" y="3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8" name="Freeform 117">
              <a:extLst>
                <a:ext uri="{FF2B5EF4-FFF2-40B4-BE49-F238E27FC236}">
                  <a16:creationId xmlns:a16="http://schemas.microsoft.com/office/drawing/2014/main" id="{9876357A-8FD7-445C-A0FA-5DDD25A2B73E}"/>
                </a:ext>
              </a:extLst>
            </p:cNvPr>
            <p:cNvSpPr>
              <a:spLocks/>
            </p:cNvSpPr>
            <p:nvPr userDrawn="1"/>
          </p:nvSpPr>
          <p:spPr bwMode="auto">
            <a:xfrm>
              <a:off x="5664651" y="4438031"/>
              <a:ext cx="173950" cy="279832"/>
            </a:xfrm>
            <a:custGeom>
              <a:avLst/>
              <a:gdLst>
                <a:gd name="T0" fmla="*/ 18 w 23"/>
                <a:gd name="T1" fmla="*/ 0 h 37"/>
                <a:gd name="T2" fmla="*/ 23 w 23"/>
                <a:gd name="T3" fmla="*/ 35 h 37"/>
                <a:gd name="T4" fmla="*/ 19 w 23"/>
                <a:gd name="T5" fmla="*/ 37 h 37"/>
                <a:gd name="T6" fmla="*/ 0 w 23"/>
                <a:gd name="T7" fmla="*/ 7 h 37"/>
                <a:gd name="T8" fmla="*/ 4 w 23"/>
                <a:gd name="T9" fmla="*/ 6 h 37"/>
                <a:gd name="T10" fmla="*/ 18 w 23"/>
                <a:gd name="T11" fmla="*/ 26 h 37"/>
                <a:gd name="T12" fmla="*/ 14 w 23"/>
                <a:gd name="T13" fmla="*/ 1 h 37"/>
                <a:gd name="T14" fmla="*/ 18 w 23"/>
                <a:gd name="T15" fmla="*/ 0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7">
                  <a:moveTo>
                    <a:pt x="18" y="0"/>
                  </a:moveTo>
                  <a:lnTo>
                    <a:pt x="23" y="35"/>
                  </a:lnTo>
                  <a:lnTo>
                    <a:pt x="19" y="37"/>
                  </a:lnTo>
                  <a:lnTo>
                    <a:pt x="0" y="7"/>
                  </a:lnTo>
                  <a:lnTo>
                    <a:pt x="4" y="6"/>
                  </a:lnTo>
                  <a:lnTo>
                    <a:pt x="18" y="26"/>
                  </a:lnTo>
                  <a:lnTo>
                    <a:pt x="14" y="1"/>
                  </a:lnTo>
                  <a:lnTo>
                    <a:pt x="18"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9" name="Freeform 118">
              <a:extLst>
                <a:ext uri="{FF2B5EF4-FFF2-40B4-BE49-F238E27FC236}">
                  <a16:creationId xmlns:a16="http://schemas.microsoft.com/office/drawing/2014/main" id="{748C6219-3197-4865-B169-37EAD3DC936B}"/>
                </a:ext>
              </a:extLst>
            </p:cNvPr>
            <p:cNvSpPr>
              <a:spLocks/>
            </p:cNvSpPr>
            <p:nvPr userDrawn="1"/>
          </p:nvSpPr>
          <p:spPr bwMode="auto">
            <a:xfrm>
              <a:off x="5808348" y="4369963"/>
              <a:ext cx="249580" cy="287395"/>
            </a:xfrm>
            <a:custGeom>
              <a:avLst/>
              <a:gdLst>
                <a:gd name="T0" fmla="*/ 33 w 33"/>
                <a:gd name="T1" fmla="*/ 29 h 38"/>
                <a:gd name="T2" fmla="*/ 17 w 33"/>
                <a:gd name="T3" fmla="*/ 38 h 38"/>
                <a:gd name="T4" fmla="*/ 0 w 33"/>
                <a:gd name="T5" fmla="*/ 8 h 38"/>
                <a:gd name="T6" fmla="*/ 15 w 33"/>
                <a:gd name="T7" fmla="*/ 0 h 38"/>
                <a:gd name="T8" fmla="*/ 17 w 33"/>
                <a:gd name="T9" fmla="*/ 3 h 38"/>
                <a:gd name="T10" fmla="*/ 6 w 33"/>
                <a:gd name="T11" fmla="*/ 9 h 38"/>
                <a:gd name="T12" fmla="*/ 11 w 33"/>
                <a:gd name="T13" fmla="*/ 19 h 38"/>
                <a:gd name="T14" fmla="*/ 22 w 33"/>
                <a:gd name="T15" fmla="*/ 13 h 38"/>
                <a:gd name="T16" fmla="*/ 23 w 33"/>
                <a:gd name="T17" fmla="*/ 16 h 38"/>
                <a:gd name="T18" fmla="*/ 14 w 33"/>
                <a:gd name="T19" fmla="*/ 21 h 38"/>
                <a:gd name="T20" fmla="*/ 20 w 33"/>
                <a:gd name="T21" fmla="*/ 33 h 38"/>
                <a:gd name="T22" fmla="*/ 31 w 33"/>
                <a:gd name="T23" fmla="*/ 25 h 38"/>
                <a:gd name="T24" fmla="*/ 33 w 33"/>
                <a:gd name="T25" fmla="*/ 2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8">
                  <a:moveTo>
                    <a:pt x="33" y="29"/>
                  </a:moveTo>
                  <a:lnTo>
                    <a:pt x="17" y="38"/>
                  </a:lnTo>
                  <a:lnTo>
                    <a:pt x="0" y="8"/>
                  </a:lnTo>
                  <a:lnTo>
                    <a:pt x="15" y="0"/>
                  </a:lnTo>
                  <a:lnTo>
                    <a:pt x="17" y="3"/>
                  </a:lnTo>
                  <a:lnTo>
                    <a:pt x="6" y="9"/>
                  </a:lnTo>
                  <a:lnTo>
                    <a:pt x="11" y="19"/>
                  </a:lnTo>
                  <a:lnTo>
                    <a:pt x="22" y="13"/>
                  </a:lnTo>
                  <a:lnTo>
                    <a:pt x="23" y="16"/>
                  </a:lnTo>
                  <a:lnTo>
                    <a:pt x="14" y="21"/>
                  </a:lnTo>
                  <a:lnTo>
                    <a:pt x="20" y="33"/>
                  </a:lnTo>
                  <a:lnTo>
                    <a:pt x="31" y="25"/>
                  </a:lnTo>
                  <a:lnTo>
                    <a:pt x="33" y="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20" name="Freeform 119">
              <a:extLst>
                <a:ext uri="{FF2B5EF4-FFF2-40B4-BE49-F238E27FC236}">
                  <a16:creationId xmlns:a16="http://schemas.microsoft.com/office/drawing/2014/main" id="{2EA6F19F-39FB-46E1-9A7E-3BABC16B58E1}"/>
                </a:ext>
              </a:extLst>
            </p:cNvPr>
            <p:cNvSpPr>
              <a:spLocks noEditPoints="1"/>
            </p:cNvSpPr>
            <p:nvPr userDrawn="1"/>
          </p:nvSpPr>
          <p:spPr bwMode="auto">
            <a:xfrm>
              <a:off x="5936920" y="4309459"/>
              <a:ext cx="257143" cy="257143"/>
            </a:xfrm>
            <a:custGeom>
              <a:avLst/>
              <a:gdLst>
                <a:gd name="T0" fmla="*/ 27 w 27"/>
                <a:gd name="T1" fmla="*/ 20 h 28"/>
                <a:gd name="T2" fmla="*/ 24 w 27"/>
                <a:gd name="T3" fmla="*/ 22 h 28"/>
                <a:gd name="T4" fmla="*/ 15 w 27"/>
                <a:gd name="T5" fmla="*/ 14 h 28"/>
                <a:gd name="T6" fmla="*/ 12 w 27"/>
                <a:gd name="T7" fmla="*/ 17 h 28"/>
                <a:gd name="T8" fmla="*/ 19 w 27"/>
                <a:gd name="T9" fmla="*/ 26 h 28"/>
                <a:gd name="T10" fmla="*/ 16 w 27"/>
                <a:gd name="T11" fmla="*/ 28 h 28"/>
                <a:gd name="T12" fmla="*/ 0 w 27"/>
                <a:gd name="T13" fmla="*/ 6 h 28"/>
                <a:gd name="T14" fmla="*/ 5 w 27"/>
                <a:gd name="T15" fmla="*/ 2 h 28"/>
                <a:gd name="T16" fmla="*/ 11 w 27"/>
                <a:gd name="T17" fmla="*/ 0 h 28"/>
                <a:gd name="T18" fmla="*/ 18 w 27"/>
                <a:gd name="T19" fmla="*/ 8 h 28"/>
                <a:gd name="T20" fmla="*/ 17 w 27"/>
                <a:gd name="T21" fmla="*/ 12 h 28"/>
                <a:gd name="T22" fmla="*/ 27 w 27"/>
                <a:gd name="T23" fmla="*/ 20 h 28"/>
                <a:gd name="T24" fmla="*/ 10 w 27"/>
                <a:gd name="T25" fmla="*/ 4 h 28"/>
                <a:gd name="T26" fmla="*/ 5 w 27"/>
                <a:gd name="T27" fmla="*/ 6 h 28"/>
                <a:gd name="T28" fmla="*/ 10 w 27"/>
                <a:gd name="T29" fmla="*/ 13 h 28"/>
                <a:gd name="T30" fmla="*/ 14 w 27"/>
                <a:gd name="T31" fmla="*/ 10 h 28"/>
                <a:gd name="T32" fmla="*/ 10 w 27"/>
                <a:gd name="T33"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8">
                  <a:moveTo>
                    <a:pt x="27" y="20"/>
                  </a:moveTo>
                  <a:cubicBezTo>
                    <a:pt x="24" y="22"/>
                    <a:pt x="24" y="22"/>
                    <a:pt x="24" y="22"/>
                  </a:cubicBezTo>
                  <a:cubicBezTo>
                    <a:pt x="15" y="14"/>
                    <a:pt x="15" y="14"/>
                    <a:pt x="15" y="14"/>
                  </a:cubicBezTo>
                  <a:cubicBezTo>
                    <a:pt x="12" y="17"/>
                    <a:pt x="12" y="17"/>
                    <a:pt x="12" y="17"/>
                  </a:cubicBezTo>
                  <a:cubicBezTo>
                    <a:pt x="19" y="26"/>
                    <a:pt x="19" y="26"/>
                    <a:pt x="19" y="26"/>
                  </a:cubicBezTo>
                  <a:cubicBezTo>
                    <a:pt x="16" y="28"/>
                    <a:pt x="16" y="28"/>
                    <a:pt x="16" y="28"/>
                  </a:cubicBezTo>
                  <a:cubicBezTo>
                    <a:pt x="0" y="6"/>
                    <a:pt x="0" y="6"/>
                    <a:pt x="0" y="6"/>
                  </a:cubicBezTo>
                  <a:cubicBezTo>
                    <a:pt x="5" y="2"/>
                    <a:pt x="5" y="2"/>
                    <a:pt x="5" y="2"/>
                  </a:cubicBezTo>
                  <a:cubicBezTo>
                    <a:pt x="7" y="1"/>
                    <a:pt x="9" y="0"/>
                    <a:pt x="11" y="0"/>
                  </a:cubicBezTo>
                  <a:cubicBezTo>
                    <a:pt x="16" y="1"/>
                    <a:pt x="18" y="4"/>
                    <a:pt x="18" y="8"/>
                  </a:cubicBezTo>
                  <a:cubicBezTo>
                    <a:pt x="18" y="9"/>
                    <a:pt x="18" y="11"/>
                    <a:pt x="17" y="12"/>
                  </a:cubicBezTo>
                  <a:lnTo>
                    <a:pt x="27" y="20"/>
                  </a:lnTo>
                  <a:close/>
                  <a:moveTo>
                    <a:pt x="10" y="4"/>
                  </a:moveTo>
                  <a:cubicBezTo>
                    <a:pt x="8" y="3"/>
                    <a:pt x="6" y="5"/>
                    <a:pt x="5" y="6"/>
                  </a:cubicBezTo>
                  <a:cubicBezTo>
                    <a:pt x="10" y="13"/>
                    <a:pt x="10" y="13"/>
                    <a:pt x="10" y="13"/>
                  </a:cubicBezTo>
                  <a:cubicBezTo>
                    <a:pt x="12" y="12"/>
                    <a:pt x="12" y="12"/>
                    <a:pt x="14" y="10"/>
                  </a:cubicBezTo>
                  <a:cubicBezTo>
                    <a:pt x="14" y="7"/>
                    <a:pt x="13" y="5"/>
                    <a:pt x="10" y="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21" name="Freeform 120">
              <a:extLst>
                <a:ext uri="{FF2B5EF4-FFF2-40B4-BE49-F238E27FC236}">
                  <a16:creationId xmlns:a16="http://schemas.microsoft.com/office/drawing/2014/main" id="{8B70E9D2-031D-4C9E-940D-7A8D0A8516B0}"/>
                </a:ext>
              </a:extLst>
            </p:cNvPr>
            <p:cNvSpPr>
              <a:spLocks/>
            </p:cNvSpPr>
            <p:nvPr userDrawn="1"/>
          </p:nvSpPr>
          <p:spPr bwMode="auto">
            <a:xfrm>
              <a:off x="6073054" y="4196014"/>
              <a:ext cx="257143" cy="219328"/>
            </a:xfrm>
            <a:custGeom>
              <a:avLst/>
              <a:gdLst>
                <a:gd name="T0" fmla="*/ 22 w 28"/>
                <a:gd name="T1" fmla="*/ 10 h 24"/>
                <a:gd name="T2" fmla="*/ 19 w 28"/>
                <a:gd name="T3" fmla="*/ 24 h 24"/>
                <a:gd name="T4" fmla="*/ 14 w 28"/>
                <a:gd name="T5" fmla="*/ 23 h 24"/>
                <a:gd name="T6" fmla="*/ 15 w 28"/>
                <a:gd name="T7" fmla="*/ 20 h 24"/>
                <a:gd name="T8" fmla="*/ 18 w 28"/>
                <a:gd name="T9" fmla="*/ 21 h 24"/>
                <a:gd name="T10" fmla="*/ 20 w 28"/>
                <a:gd name="T11" fmla="*/ 13 h 24"/>
                <a:gd name="T12" fmla="*/ 17 w 28"/>
                <a:gd name="T13" fmla="*/ 12 h 24"/>
                <a:gd name="T14" fmla="*/ 8 w 28"/>
                <a:gd name="T15" fmla="*/ 15 h 24"/>
                <a:gd name="T16" fmla="*/ 0 w 28"/>
                <a:gd name="T17" fmla="*/ 9 h 24"/>
                <a:gd name="T18" fmla="*/ 2 w 28"/>
                <a:gd name="T19" fmla="*/ 4 h 24"/>
                <a:gd name="T20" fmla="*/ 11 w 28"/>
                <a:gd name="T21" fmla="*/ 2 h 24"/>
                <a:gd name="T22" fmla="*/ 10 w 28"/>
                <a:gd name="T23" fmla="*/ 5 h 24"/>
                <a:gd name="T24" fmla="*/ 4 w 28"/>
                <a:gd name="T25" fmla="*/ 6 h 24"/>
                <a:gd name="T26" fmla="*/ 3 w 28"/>
                <a:gd name="T27" fmla="*/ 9 h 24"/>
                <a:gd name="T28" fmla="*/ 7 w 28"/>
                <a:gd name="T29" fmla="*/ 12 h 24"/>
                <a:gd name="T30" fmla="*/ 17 w 28"/>
                <a:gd name="T31" fmla="*/ 9 h 24"/>
                <a:gd name="T32" fmla="*/ 22 w 28"/>
                <a:gd name="T33" fmla="*/ 1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 h="24">
                  <a:moveTo>
                    <a:pt x="22" y="10"/>
                  </a:moveTo>
                  <a:cubicBezTo>
                    <a:pt x="28" y="13"/>
                    <a:pt x="26" y="23"/>
                    <a:pt x="19" y="24"/>
                  </a:cubicBezTo>
                  <a:cubicBezTo>
                    <a:pt x="17" y="24"/>
                    <a:pt x="15" y="24"/>
                    <a:pt x="14" y="23"/>
                  </a:cubicBezTo>
                  <a:cubicBezTo>
                    <a:pt x="15" y="20"/>
                    <a:pt x="15" y="20"/>
                    <a:pt x="15" y="20"/>
                  </a:cubicBezTo>
                  <a:cubicBezTo>
                    <a:pt x="16" y="21"/>
                    <a:pt x="17" y="21"/>
                    <a:pt x="18" y="21"/>
                  </a:cubicBezTo>
                  <a:cubicBezTo>
                    <a:pt x="23" y="20"/>
                    <a:pt x="23" y="15"/>
                    <a:pt x="20" y="13"/>
                  </a:cubicBezTo>
                  <a:cubicBezTo>
                    <a:pt x="19" y="12"/>
                    <a:pt x="18" y="12"/>
                    <a:pt x="17" y="12"/>
                  </a:cubicBezTo>
                  <a:cubicBezTo>
                    <a:pt x="13" y="13"/>
                    <a:pt x="11" y="15"/>
                    <a:pt x="8" y="15"/>
                  </a:cubicBezTo>
                  <a:cubicBezTo>
                    <a:pt x="4" y="15"/>
                    <a:pt x="1" y="13"/>
                    <a:pt x="0" y="9"/>
                  </a:cubicBezTo>
                  <a:cubicBezTo>
                    <a:pt x="0" y="7"/>
                    <a:pt x="1" y="5"/>
                    <a:pt x="2" y="4"/>
                  </a:cubicBezTo>
                  <a:cubicBezTo>
                    <a:pt x="4" y="0"/>
                    <a:pt x="8" y="0"/>
                    <a:pt x="11" y="2"/>
                  </a:cubicBezTo>
                  <a:cubicBezTo>
                    <a:pt x="10" y="5"/>
                    <a:pt x="10" y="5"/>
                    <a:pt x="10" y="5"/>
                  </a:cubicBezTo>
                  <a:cubicBezTo>
                    <a:pt x="8" y="4"/>
                    <a:pt x="5" y="4"/>
                    <a:pt x="4" y="6"/>
                  </a:cubicBezTo>
                  <a:cubicBezTo>
                    <a:pt x="3" y="7"/>
                    <a:pt x="3" y="8"/>
                    <a:pt x="3" y="9"/>
                  </a:cubicBezTo>
                  <a:cubicBezTo>
                    <a:pt x="4" y="11"/>
                    <a:pt x="5" y="12"/>
                    <a:pt x="7" y="12"/>
                  </a:cubicBezTo>
                  <a:cubicBezTo>
                    <a:pt x="11" y="11"/>
                    <a:pt x="13" y="8"/>
                    <a:pt x="17" y="9"/>
                  </a:cubicBezTo>
                  <a:cubicBezTo>
                    <a:pt x="18" y="9"/>
                    <a:pt x="20" y="9"/>
                    <a:pt x="22" y="10"/>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22" name="Freeform 121">
              <a:extLst>
                <a:ext uri="{FF2B5EF4-FFF2-40B4-BE49-F238E27FC236}">
                  <a16:creationId xmlns:a16="http://schemas.microsoft.com/office/drawing/2014/main" id="{84E7033C-B306-4560-9427-FC568753EA4F}"/>
                </a:ext>
              </a:extLst>
            </p:cNvPr>
            <p:cNvSpPr>
              <a:spLocks/>
            </p:cNvSpPr>
            <p:nvPr userDrawn="1"/>
          </p:nvSpPr>
          <p:spPr bwMode="auto">
            <a:xfrm>
              <a:off x="6156248" y="4120384"/>
              <a:ext cx="234454" cy="158823"/>
            </a:xfrm>
            <a:custGeom>
              <a:avLst/>
              <a:gdLst>
                <a:gd name="T0" fmla="*/ 31 w 31"/>
                <a:gd name="T1" fmla="*/ 17 h 21"/>
                <a:gd name="T2" fmla="*/ 28 w 31"/>
                <a:gd name="T3" fmla="*/ 21 h 21"/>
                <a:gd name="T4" fmla="*/ 0 w 31"/>
                <a:gd name="T5" fmla="*/ 2 h 21"/>
                <a:gd name="T6" fmla="*/ 2 w 31"/>
                <a:gd name="T7" fmla="*/ 0 h 21"/>
                <a:gd name="T8" fmla="*/ 31 w 31"/>
                <a:gd name="T9" fmla="*/ 17 h 21"/>
              </a:gdLst>
              <a:ahLst/>
              <a:cxnLst>
                <a:cxn ang="0">
                  <a:pos x="T0" y="T1"/>
                </a:cxn>
                <a:cxn ang="0">
                  <a:pos x="T2" y="T3"/>
                </a:cxn>
                <a:cxn ang="0">
                  <a:pos x="T4" y="T5"/>
                </a:cxn>
                <a:cxn ang="0">
                  <a:pos x="T6" y="T7"/>
                </a:cxn>
                <a:cxn ang="0">
                  <a:pos x="T8" y="T9"/>
                </a:cxn>
              </a:cxnLst>
              <a:rect l="0" t="0" r="r" b="b"/>
              <a:pathLst>
                <a:path w="31" h="21">
                  <a:moveTo>
                    <a:pt x="31" y="17"/>
                  </a:moveTo>
                  <a:lnTo>
                    <a:pt x="28" y="21"/>
                  </a:lnTo>
                  <a:lnTo>
                    <a:pt x="0" y="2"/>
                  </a:lnTo>
                  <a:lnTo>
                    <a:pt x="2" y="0"/>
                  </a:lnTo>
                  <a:lnTo>
                    <a:pt x="31" y="1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23" name="Freeform 122">
              <a:extLst>
                <a:ext uri="{FF2B5EF4-FFF2-40B4-BE49-F238E27FC236}">
                  <a16:creationId xmlns:a16="http://schemas.microsoft.com/office/drawing/2014/main" id="{755FBA37-8EF9-4CDA-96C8-7FBE9682362B}"/>
                </a:ext>
              </a:extLst>
            </p:cNvPr>
            <p:cNvSpPr>
              <a:spLocks/>
            </p:cNvSpPr>
            <p:nvPr userDrawn="1"/>
          </p:nvSpPr>
          <p:spPr bwMode="auto">
            <a:xfrm>
              <a:off x="6194063" y="3953997"/>
              <a:ext cx="272269" cy="211765"/>
            </a:xfrm>
            <a:custGeom>
              <a:avLst/>
              <a:gdLst>
                <a:gd name="T0" fmla="*/ 11 w 36"/>
                <a:gd name="T1" fmla="*/ 3 h 28"/>
                <a:gd name="T2" fmla="*/ 8 w 36"/>
                <a:gd name="T3" fmla="*/ 9 h 28"/>
                <a:gd name="T4" fmla="*/ 36 w 36"/>
                <a:gd name="T5" fmla="*/ 25 h 28"/>
                <a:gd name="T6" fmla="*/ 33 w 36"/>
                <a:gd name="T7" fmla="*/ 28 h 28"/>
                <a:gd name="T8" fmla="*/ 6 w 36"/>
                <a:gd name="T9" fmla="*/ 13 h 28"/>
                <a:gd name="T10" fmla="*/ 3 w 36"/>
                <a:gd name="T11" fmla="*/ 18 h 28"/>
                <a:gd name="T12" fmla="*/ 0 w 36"/>
                <a:gd name="T13" fmla="*/ 17 h 28"/>
                <a:gd name="T14" fmla="*/ 7 w 36"/>
                <a:gd name="T15" fmla="*/ 0 h 28"/>
                <a:gd name="T16" fmla="*/ 11 w 36"/>
                <a:gd name="T17"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28">
                  <a:moveTo>
                    <a:pt x="11" y="3"/>
                  </a:moveTo>
                  <a:lnTo>
                    <a:pt x="8" y="9"/>
                  </a:lnTo>
                  <a:lnTo>
                    <a:pt x="36" y="25"/>
                  </a:lnTo>
                  <a:lnTo>
                    <a:pt x="33" y="28"/>
                  </a:lnTo>
                  <a:lnTo>
                    <a:pt x="6" y="13"/>
                  </a:lnTo>
                  <a:lnTo>
                    <a:pt x="3" y="18"/>
                  </a:lnTo>
                  <a:lnTo>
                    <a:pt x="0" y="17"/>
                  </a:lnTo>
                  <a:lnTo>
                    <a:pt x="7" y="0"/>
                  </a:lnTo>
                  <a:lnTo>
                    <a:pt x="11" y="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24" name="Freeform 123">
              <a:extLst>
                <a:ext uri="{FF2B5EF4-FFF2-40B4-BE49-F238E27FC236}">
                  <a16:creationId xmlns:a16="http://schemas.microsoft.com/office/drawing/2014/main" id="{3525CD63-6824-4A58-964F-DE8FA0D6CFB5}"/>
                </a:ext>
              </a:extLst>
            </p:cNvPr>
            <p:cNvSpPr>
              <a:spLocks/>
            </p:cNvSpPr>
            <p:nvPr userDrawn="1"/>
          </p:nvSpPr>
          <p:spPr bwMode="auto">
            <a:xfrm>
              <a:off x="6254567" y="3810300"/>
              <a:ext cx="272269" cy="173950"/>
            </a:xfrm>
            <a:custGeom>
              <a:avLst/>
              <a:gdLst>
                <a:gd name="T0" fmla="*/ 8 w 36"/>
                <a:gd name="T1" fmla="*/ 0 h 23"/>
                <a:gd name="T2" fmla="*/ 25 w 36"/>
                <a:gd name="T3" fmla="*/ 14 h 23"/>
                <a:gd name="T4" fmla="*/ 36 w 36"/>
                <a:gd name="T5" fmla="*/ 19 h 23"/>
                <a:gd name="T6" fmla="*/ 34 w 36"/>
                <a:gd name="T7" fmla="*/ 23 h 23"/>
                <a:gd name="T8" fmla="*/ 24 w 36"/>
                <a:gd name="T9" fmla="*/ 18 h 23"/>
                <a:gd name="T10" fmla="*/ 0 w 36"/>
                <a:gd name="T11" fmla="*/ 18 h 23"/>
                <a:gd name="T12" fmla="*/ 2 w 36"/>
                <a:gd name="T13" fmla="*/ 14 h 23"/>
                <a:gd name="T14" fmla="*/ 18 w 36"/>
                <a:gd name="T15" fmla="*/ 14 h 23"/>
                <a:gd name="T16" fmla="*/ 7 w 36"/>
                <a:gd name="T17" fmla="*/ 5 h 23"/>
                <a:gd name="T18" fmla="*/ 8 w 36"/>
                <a:gd name="T1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23">
                  <a:moveTo>
                    <a:pt x="8" y="0"/>
                  </a:moveTo>
                  <a:lnTo>
                    <a:pt x="25" y="14"/>
                  </a:lnTo>
                  <a:lnTo>
                    <a:pt x="36" y="19"/>
                  </a:lnTo>
                  <a:lnTo>
                    <a:pt x="34" y="23"/>
                  </a:lnTo>
                  <a:lnTo>
                    <a:pt x="24" y="18"/>
                  </a:lnTo>
                  <a:lnTo>
                    <a:pt x="0" y="18"/>
                  </a:lnTo>
                  <a:lnTo>
                    <a:pt x="2" y="14"/>
                  </a:lnTo>
                  <a:lnTo>
                    <a:pt x="18" y="14"/>
                  </a:lnTo>
                  <a:lnTo>
                    <a:pt x="7" y="5"/>
                  </a:lnTo>
                  <a:lnTo>
                    <a:pt x="8"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25" name="Freeform 124">
              <a:extLst>
                <a:ext uri="{FF2B5EF4-FFF2-40B4-BE49-F238E27FC236}">
                  <a16:creationId xmlns:a16="http://schemas.microsoft.com/office/drawing/2014/main" id="{7266553E-D5E7-44E7-82C8-0621B7DDE367}"/>
                </a:ext>
              </a:extLst>
            </p:cNvPr>
            <p:cNvSpPr>
              <a:spLocks/>
            </p:cNvSpPr>
            <p:nvPr userDrawn="1"/>
          </p:nvSpPr>
          <p:spPr bwMode="auto">
            <a:xfrm>
              <a:off x="4462130" y="4286770"/>
              <a:ext cx="257143" cy="189076"/>
            </a:xfrm>
            <a:custGeom>
              <a:avLst/>
              <a:gdLst>
                <a:gd name="T0" fmla="*/ 14 w 28"/>
                <a:gd name="T1" fmla="*/ 16 h 20"/>
                <a:gd name="T2" fmla="*/ 8 w 28"/>
                <a:gd name="T3" fmla="*/ 20 h 20"/>
                <a:gd name="T4" fmla="*/ 2 w 28"/>
                <a:gd name="T5" fmla="*/ 17 h 20"/>
                <a:gd name="T6" fmla="*/ 0 w 28"/>
                <a:gd name="T7" fmla="*/ 12 h 20"/>
                <a:gd name="T8" fmla="*/ 1 w 28"/>
                <a:gd name="T9" fmla="*/ 9 h 20"/>
                <a:gd name="T10" fmla="*/ 4 w 28"/>
                <a:gd name="T11" fmla="*/ 10 h 20"/>
                <a:gd name="T12" fmla="*/ 3 w 28"/>
                <a:gd name="T13" fmla="*/ 12 h 20"/>
                <a:gd name="T14" fmla="*/ 4 w 28"/>
                <a:gd name="T15" fmla="*/ 15 h 20"/>
                <a:gd name="T16" fmla="*/ 8 w 28"/>
                <a:gd name="T17" fmla="*/ 16 h 20"/>
                <a:gd name="T18" fmla="*/ 12 w 28"/>
                <a:gd name="T19" fmla="*/ 14 h 20"/>
                <a:gd name="T20" fmla="*/ 25 w 28"/>
                <a:gd name="T21" fmla="*/ 0 h 20"/>
                <a:gd name="T22" fmla="*/ 28 w 28"/>
                <a:gd name="T23" fmla="*/ 3 h 20"/>
                <a:gd name="T24" fmla="*/ 14 w 28"/>
                <a:gd name="T25"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 h="20">
                  <a:moveTo>
                    <a:pt x="14" y="16"/>
                  </a:moveTo>
                  <a:cubicBezTo>
                    <a:pt x="12" y="18"/>
                    <a:pt x="10" y="20"/>
                    <a:pt x="8" y="20"/>
                  </a:cubicBezTo>
                  <a:cubicBezTo>
                    <a:pt x="6" y="20"/>
                    <a:pt x="4" y="19"/>
                    <a:pt x="2" y="17"/>
                  </a:cubicBezTo>
                  <a:cubicBezTo>
                    <a:pt x="1" y="16"/>
                    <a:pt x="0" y="14"/>
                    <a:pt x="0" y="12"/>
                  </a:cubicBezTo>
                  <a:cubicBezTo>
                    <a:pt x="0" y="11"/>
                    <a:pt x="0" y="10"/>
                    <a:pt x="1" y="9"/>
                  </a:cubicBezTo>
                  <a:cubicBezTo>
                    <a:pt x="4" y="10"/>
                    <a:pt x="4" y="10"/>
                    <a:pt x="4" y="10"/>
                  </a:cubicBezTo>
                  <a:cubicBezTo>
                    <a:pt x="3" y="11"/>
                    <a:pt x="3" y="11"/>
                    <a:pt x="3" y="12"/>
                  </a:cubicBezTo>
                  <a:cubicBezTo>
                    <a:pt x="3" y="13"/>
                    <a:pt x="4" y="14"/>
                    <a:pt x="4" y="15"/>
                  </a:cubicBezTo>
                  <a:cubicBezTo>
                    <a:pt x="5" y="16"/>
                    <a:pt x="6" y="16"/>
                    <a:pt x="8" y="16"/>
                  </a:cubicBezTo>
                  <a:cubicBezTo>
                    <a:pt x="9" y="16"/>
                    <a:pt x="10" y="15"/>
                    <a:pt x="12" y="14"/>
                  </a:cubicBezTo>
                  <a:cubicBezTo>
                    <a:pt x="25" y="0"/>
                    <a:pt x="25" y="0"/>
                    <a:pt x="25" y="0"/>
                  </a:cubicBezTo>
                  <a:cubicBezTo>
                    <a:pt x="28" y="3"/>
                    <a:pt x="28" y="3"/>
                    <a:pt x="28" y="3"/>
                  </a:cubicBezTo>
                  <a:lnTo>
                    <a:pt x="14" y="1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26" name="Freeform 125">
              <a:extLst>
                <a:ext uri="{FF2B5EF4-FFF2-40B4-BE49-F238E27FC236}">
                  <a16:creationId xmlns:a16="http://schemas.microsoft.com/office/drawing/2014/main" id="{07574F3E-5B61-4AFC-B65E-3F2A8454C37F}"/>
                </a:ext>
              </a:extLst>
            </p:cNvPr>
            <p:cNvSpPr>
              <a:spLocks noEditPoints="1"/>
            </p:cNvSpPr>
            <p:nvPr userDrawn="1"/>
          </p:nvSpPr>
          <p:spPr bwMode="auto">
            <a:xfrm>
              <a:off x="4938600" y="4203577"/>
              <a:ext cx="801681" cy="249580"/>
            </a:xfrm>
            <a:custGeom>
              <a:avLst/>
              <a:gdLst>
                <a:gd name="T0" fmla="*/ 0 w 86"/>
                <a:gd name="T1" fmla="*/ 15 h 27"/>
                <a:gd name="T2" fmla="*/ 4 w 86"/>
                <a:gd name="T3" fmla="*/ 15 h 27"/>
                <a:gd name="T4" fmla="*/ 6 w 86"/>
                <a:gd name="T5" fmla="*/ 3 h 27"/>
                <a:gd name="T6" fmla="*/ 10 w 86"/>
                <a:gd name="T7" fmla="*/ 3 h 27"/>
                <a:gd name="T8" fmla="*/ 14 w 86"/>
                <a:gd name="T9" fmla="*/ 4 h 27"/>
                <a:gd name="T10" fmla="*/ 10 w 86"/>
                <a:gd name="T11" fmla="*/ 19 h 27"/>
                <a:gd name="T12" fmla="*/ 37 w 86"/>
                <a:gd name="T13" fmla="*/ 14 h 27"/>
                <a:gd name="T14" fmla="*/ 33 w 86"/>
                <a:gd name="T15" fmla="*/ 11 h 27"/>
                <a:gd name="T16" fmla="*/ 28 w 86"/>
                <a:gd name="T17" fmla="*/ 13 h 27"/>
                <a:gd name="T18" fmla="*/ 30 w 86"/>
                <a:gd name="T19" fmla="*/ 16 h 27"/>
                <a:gd name="T20" fmla="*/ 34 w 86"/>
                <a:gd name="T21" fmla="*/ 17 h 27"/>
                <a:gd name="T22" fmla="*/ 37 w 86"/>
                <a:gd name="T23" fmla="*/ 14 h 27"/>
                <a:gd name="T24" fmla="*/ 36 w 86"/>
                <a:gd name="T25" fmla="*/ 21 h 27"/>
                <a:gd name="T26" fmla="*/ 32 w 86"/>
                <a:gd name="T27" fmla="*/ 19 h 27"/>
                <a:gd name="T28" fmla="*/ 27 w 86"/>
                <a:gd name="T29" fmla="*/ 19 h 27"/>
                <a:gd name="T30" fmla="*/ 27 w 86"/>
                <a:gd name="T31" fmla="*/ 24 h 27"/>
                <a:gd name="T32" fmla="*/ 34 w 86"/>
                <a:gd name="T33" fmla="*/ 25 h 27"/>
                <a:gd name="T34" fmla="*/ 30 w 86"/>
                <a:gd name="T35" fmla="*/ 27 h 27"/>
                <a:gd name="T36" fmla="*/ 24 w 86"/>
                <a:gd name="T37" fmla="*/ 25 h 27"/>
                <a:gd name="T38" fmla="*/ 23 w 86"/>
                <a:gd name="T39" fmla="*/ 21 h 27"/>
                <a:gd name="T40" fmla="*/ 28 w 86"/>
                <a:gd name="T41" fmla="*/ 17 h 27"/>
                <a:gd name="T42" fmla="*/ 25 w 86"/>
                <a:gd name="T43" fmla="*/ 15 h 27"/>
                <a:gd name="T44" fmla="*/ 28 w 86"/>
                <a:gd name="T45" fmla="*/ 10 h 27"/>
                <a:gd name="T46" fmla="*/ 39 w 86"/>
                <a:gd name="T47" fmla="*/ 11 h 27"/>
                <a:gd name="T48" fmla="*/ 39 w 86"/>
                <a:gd name="T49" fmla="*/ 17 h 27"/>
                <a:gd name="T50" fmla="*/ 36 w 86"/>
                <a:gd name="T51" fmla="*/ 18 h 27"/>
                <a:gd name="T52" fmla="*/ 39 w 86"/>
                <a:gd name="T53" fmla="*/ 23 h 27"/>
                <a:gd name="T54" fmla="*/ 30 w 86"/>
                <a:gd name="T55" fmla="*/ 27 h 27"/>
                <a:gd name="T56" fmla="*/ 62 w 86"/>
                <a:gd name="T57" fmla="*/ 14 h 27"/>
                <a:gd name="T58" fmla="*/ 59 w 86"/>
                <a:gd name="T59" fmla="*/ 11 h 27"/>
                <a:gd name="T60" fmla="*/ 54 w 86"/>
                <a:gd name="T61" fmla="*/ 12 h 27"/>
                <a:gd name="T62" fmla="*/ 53 w 86"/>
                <a:gd name="T63" fmla="*/ 17 h 27"/>
                <a:gd name="T64" fmla="*/ 56 w 86"/>
                <a:gd name="T65" fmla="*/ 19 h 27"/>
                <a:gd name="T66" fmla="*/ 60 w 86"/>
                <a:gd name="T67" fmla="*/ 18 h 27"/>
                <a:gd name="T68" fmla="*/ 63 w 86"/>
                <a:gd name="T69" fmla="*/ 17 h 27"/>
                <a:gd name="T70" fmla="*/ 50 w 86"/>
                <a:gd name="T71" fmla="*/ 15 h 27"/>
                <a:gd name="T72" fmla="*/ 52 w 86"/>
                <a:gd name="T73" fmla="*/ 11 h 27"/>
                <a:gd name="T74" fmla="*/ 58 w 86"/>
                <a:gd name="T75" fmla="*/ 9 h 27"/>
                <a:gd name="T76" fmla="*/ 63 w 86"/>
                <a:gd name="T77" fmla="*/ 11 h 27"/>
                <a:gd name="T78" fmla="*/ 66 w 86"/>
                <a:gd name="T79" fmla="*/ 17 h 27"/>
                <a:gd name="T80" fmla="*/ 63 w 86"/>
                <a:gd name="T81" fmla="*/ 24 h 27"/>
                <a:gd name="T82" fmla="*/ 55 w 86"/>
                <a:gd name="T83" fmla="*/ 27 h 27"/>
                <a:gd name="T84" fmla="*/ 52 w 86"/>
                <a:gd name="T85" fmla="*/ 27 h 27"/>
                <a:gd name="T86" fmla="*/ 52 w 86"/>
                <a:gd name="T87" fmla="*/ 25 h 27"/>
                <a:gd name="T88" fmla="*/ 55 w 86"/>
                <a:gd name="T89" fmla="*/ 25 h 27"/>
                <a:gd name="T90" fmla="*/ 62 w 86"/>
                <a:gd name="T91" fmla="*/ 19 h 27"/>
                <a:gd name="T92" fmla="*/ 57 w 86"/>
                <a:gd name="T93" fmla="*/ 21 h 27"/>
                <a:gd name="T94" fmla="*/ 52 w 86"/>
                <a:gd name="T95" fmla="*/ 20 h 27"/>
                <a:gd name="T96" fmla="*/ 50 w 86"/>
                <a:gd name="T97" fmla="*/ 15 h 27"/>
                <a:gd name="T98" fmla="*/ 86 w 86"/>
                <a:gd name="T99" fmla="*/ 18 h 27"/>
                <a:gd name="T100" fmla="*/ 83 w 86"/>
                <a:gd name="T101" fmla="*/ 3 h 27"/>
                <a:gd name="T102" fmla="*/ 72 w 86"/>
                <a:gd name="T103" fmla="*/ 6 h 27"/>
                <a:gd name="T104" fmla="*/ 86 w 86"/>
                <a:gd name="T105"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6" h="27">
                  <a:moveTo>
                    <a:pt x="9" y="20"/>
                  </a:moveTo>
                  <a:cubicBezTo>
                    <a:pt x="0" y="15"/>
                    <a:pt x="0" y="15"/>
                    <a:pt x="0" y="15"/>
                  </a:cubicBezTo>
                  <a:cubicBezTo>
                    <a:pt x="0" y="13"/>
                    <a:pt x="0" y="13"/>
                    <a:pt x="0" y="13"/>
                  </a:cubicBezTo>
                  <a:cubicBezTo>
                    <a:pt x="4" y="15"/>
                    <a:pt x="4" y="15"/>
                    <a:pt x="4" y="15"/>
                  </a:cubicBezTo>
                  <a:cubicBezTo>
                    <a:pt x="10" y="5"/>
                    <a:pt x="10" y="5"/>
                    <a:pt x="10" y="5"/>
                  </a:cubicBezTo>
                  <a:cubicBezTo>
                    <a:pt x="6" y="3"/>
                    <a:pt x="6" y="3"/>
                    <a:pt x="6" y="3"/>
                  </a:cubicBezTo>
                  <a:cubicBezTo>
                    <a:pt x="7" y="2"/>
                    <a:pt x="7" y="2"/>
                    <a:pt x="7" y="2"/>
                  </a:cubicBezTo>
                  <a:cubicBezTo>
                    <a:pt x="8" y="3"/>
                    <a:pt x="9" y="3"/>
                    <a:pt x="10" y="3"/>
                  </a:cubicBezTo>
                  <a:cubicBezTo>
                    <a:pt x="11" y="3"/>
                    <a:pt x="11" y="3"/>
                    <a:pt x="12" y="2"/>
                  </a:cubicBezTo>
                  <a:cubicBezTo>
                    <a:pt x="14" y="4"/>
                    <a:pt x="14" y="4"/>
                    <a:pt x="14" y="4"/>
                  </a:cubicBezTo>
                  <a:cubicBezTo>
                    <a:pt x="6" y="17"/>
                    <a:pt x="6" y="17"/>
                    <a:pt x="6" y="17"/>
                  </a:cubicBezTo>
                  <a:cubicBezTo>
                    <a:pt x="10" y="19"/>
                    <a:pt x="10" y="19"/>
                    <a:pt x="10" y="19"/>
                  </a:cubicBezTo>
                  <a:lnTo>
                    <a:pt x="9" y="20"/>
                  </a:lnTo>
                  <a:close/>
                  <a:moveTo>
                    <a:pt x="37" y="14"/>
                  </a:moveTo>
                  <a:cubicBezTo>
                    <a:pt x="37" y="14"/>
                    <a:pt x="37" y="13"/>
                    <a:pt x="36" y="12"/>
                  </a:cubicBezTo>
                  <a:cubicBezTo>
                    <a:pt x="36" y="12"/>
                    <a:pt x="35" y="11"/>
                    <a:pt x="33" y="11"/>
                  </a:cubicBezTo>
                  <a:cubicBezTo>
                    <a:pt x="32" y="11"/>
                    <a:pt x="31" y="11"/>
                    <a:pt x="30" y="11"/>
                  </a:cubicBezTo>
                  <a:cubicBezTo>
                    <a:pt x="29" y="12"/>
                    <a:pt x="29" y="12"/>
                    <a:pt x="28" y="13"/>
                  </a:cubicBezTo>
                  <a:cubicBezTo>
                    <a:pt x="28" y="14"/>
                    <a:pt x="28" y="14"/>
                    <a:pt x="29" y="15"/>
                  </a:cubicBezTo>
                  <a:cubicBezTo>
                    <a:pt x="29" y="15"/>
                    <a:pt x="30" y="15"/>
                    <a:pt x="30" y="16"/>
                  </a:cubicBezTo>
                  <a:cubicBezTo>
                    <a:pt x="31" y="16"/>
                    <a:pt x="31" y="16"/>
                    <a:pt x="32" y="17"/>
                  </a:cubicBezTo>
                  <a:cubicBezTo>
                    <a:pt x="33" y="17"/>
                    <a:pt x="33" y="17"/>
                    <a:pt x="34" y="17"/>
                  </a:cubicBezTo>
                  <a:cubicBezTo>
                    <a:pt x="35" y="17"/>
                    <a:pt x="36" y="17"/>
                    <a:pt x="36" y="16"/>
                  </a:cubicBezTo>
                  <a:cubicBezTo>
                    <a:pt x="37" y="16"/>
                    <a:pt x="37" y="15"/>
                    <a:pt x="37" y="14"/>
                  </a:cubicBezTo>
                  <a:moveTo>
                    <a:pt x="36" y="23"/>
                  </a:moveTo>
                  <a:cubicBezTo>
                    <a:pt x="36" y="22"/>
                    <a:pt x="36" y="22"/>
                    <a:pt x="36" y="21"/>
                  </a:cubicBezTo>
                  <a:cubicBezTo>
                    <a:pt x="35" y="21"/>
                    <a:pt x="34" y="20"/>
                    <a:pt x="33" y="20"/>
                  </a:cubicBezTo>
                  <a:cubicBezTo>
                    <a:pt x="33" y="19"/>
                    <a:pt x="33" y="19"/>
                    <a:pt x="32" y="19"/>
                  </a:cubicBezTo>
                  <a:cubicBezTo>
                    <a:pt x="31" y="19"/>
                    <a:pt x="31" y="18"/>
                    <a:pt x="30" y="18"/>
                  </a:cubicBezTo>
                  <a:cubicBezTo>
                    <a:pt x="29" y="18"/>
                    <a:pt x="28" y="19"/>
                    <a:pt x="27" y="19"/>
                  </a:cubicBezTo>
                  <a:cubicBezTo>
                    <a:pt x="27" y="20"/>
                    <a:pt x="26" y="20"/>
                    <a:pt x="26" y="21"/>
                  </a:cubicBezTo>
                  <a:cubicBezTo>
                    <a:pt x="26" y="22"/>
                    <a:pt x="26" y="23"/>
                    <a:pt x="27" y="24"/>
                  </a:cubicBezTo>
                  <a:cubicBezTo>
                    <a:pt x="28" y="25"/>
                    <a:pt x="29" y="25"/>
                    <a:pt x="30" y="25"/>
                  </a:cubicBezTo>
                  <a:cubicBezTo>
                    <a:pt x="32" y="26"/>
                    <a:pt x="33" y="25"/>
                    <a:pt x="34" y="25"/>
                  </a:cubicBezTo>
                  <a:cubicBezTo>
                    <a:pt x="35" y="24"/>
                    <a:pt x="36" y="24"/>
                    <a:pt x="36" y="23"/>
                  </a:cubicBezTo>
                  <a:moveTo>
                    <a:pt x="30" y="27"/>
                  </a:moveTo>
                  <a:cubicBezTo>
                    <a:pt x="29" y="27"/>
                    <a:pt x="28" y="27"/>
                    <a:pt x="27" y="26"/>
                  </a:cubicBezTo>
                  <a:cubicBezTo>
                    <a:pt x="26" y="26"/>
                    <a:pt x="25" y="25"/>
                    <a:pt x="24" y="25"/>
                  </a:cubicBezTo>
                  <a:cubicBezTo>
                    <a:pt x="23" y="24"/>
                    <a:pt x="23" y="24"/>
                    <a:pt x="23" y="23"/>
                  </a:cubicBezTo>
                  <a:cubicBezTo>
                    <a:pt x="23" y="22"/>
                    <a:pt x="22" y="21"/>
                    <a:pt x="23" y="21"/>
                  </a:cubicBezTo>
                  <a:cubicBezTo>
                    <a:pt x="23" y="20"/>
                    <a:pt x="23" y="19"/>
                    <a:pt x="24" y="18"/>
                  </a:cubicBezTo>
                  <a:cubicBezTo>
                    <a:pt x="25" y="18"/>
                    <a:pt x="26" y="17"/>
                    <a:pt x="28" y="17"/>
                  </a:cubicBezTo>
                  <a:cubicBezTo>
                    <a:pt x="28" y="17"/>
                    <a:pt x="28" y="17"/>
                    <a:pt x="28" y="17"/>
                  </a:cubicBezTo>
                  <a:cubicBezTo>
                    <a:pt x="27" y="16"/>
                    <a:pt x="26" y="16"/>
                    <a:pt x="25" y="15"/>
                  </a:cubicBezTo>
                  <a:cubicBezTo>
                    <a:pt x="25" y="14"/>
                    <a:pt x="25" y="14"/>
                    <a:pt x="25" y="13"/>
                  </a:cubicBezTo>
                  <a:cubicBezTo>
                    <a:pt x="25" y="12"/>
                    <a:pt x="26" y="11"/>
                    <a:pt x="28" y="10"/>
                  </a:cubicBezTo>
                  <a:cubicBezTo>
                    <a:pt x="29" y="9"/>
                    <a:pt x="31" y="9"/>
                    <a:pt x="34" y="10"/>
                  </a:cubicBezTo>
                  <a:cubicBezTo>
                    <a:pt x="36" y="10"/>
                    <a:pt x="38" y="10"/>
                    <a:pt x="39" y="11"/>
                  </a:cubicBezTo>
                  <a:cubicBezTo>
                    <a:pt x="40" y="12"/>
                    <a:pt x="41" y="14"/>
                    <a:pt x="40" y="15"/>
                  </a:cubicBezTo>
                  <a:cubicBezTo>
                    <a:pt x="40" y="16"/>
                    <a:pt x="40" y="16"/>
                    <a:pt x="39" y="17"/>
                  </a:cubicBezTo>
                  <a:cubicBezTo>
                    <a:pt x="38" y="18"/>
                    <a:pt x="37" y="18"/>
                    <a:pt x="36" y="18"/>
                  </a:cubicBezTo>
                  <a:cubicBezTo>
                    <a:pt x="36" y="18"/>
                    <a:pt x="36" y="18"/>
                    <a:pt x="36" y="18"/>
                  </a:cubicBezTo>
                  <a:cubicBezTo>
                    <a:pt x="37" y="19"/>
                    <a:pt x="38" y="20"/>
                    <a:pt x="39" y="20"/>
                  </a:cubicBezTo>
                  <a:cubicBezTo>
                    <a:pt x="39" y="21"/>
                    <a:pt x="40" y="22"/>
                    <a:pt x="39" y="23"/>
                  </a:cubicBezTo>
                  <a:cubicBezTo>
                    <a:pt x="39" y="25"/>
                    <a:pt x="38" y="26"/>
                    <a:pt x="36" y="26"/>
                  </a:cubicBezTo>
                  <a:cubicBezTo>
                    <a:pt x="34" y="27"/>
                    <a:pt x="32" y="27"/>
                    <a:pt x="30" y="27"/>
                  </a:cubicBezTo>
                  <a:moveTo>
                    <a:pt x="63" y="17"/>
                  </a:moveTo>
                  <a:cubicBezTo>
                    <a:pt x="63" y="15"/>
                    <a:pt x="62" y="15"/>
                    <a:pt x="62" y="14"/>
                  </a:cubicBezTo>
                  <a:cubicBezTo>
                    <a:pt x="62" y="13"/>
                    <a:pt x="61" y="13"/>
                    <a:pt x="61" y="12"/>
                  </a:cubicBezTo>
                  <a:cubicBezTo>
                    <a:pt x="60" y="12"/>
                    <a:pt x="60" y="12"/>
                    <a:pt x="59" y="11"/>
                  </a:cubicBezTo>
                  <a:cubicBezTo>
                    <a:pt x="59" y="11"/>
                    <a:pt x="58" y="11"/>
                    <a:pt x="58" y="11"/>
                  </a:cubicBezTo>
                  <a:cubicBezTo>
                    <a:pt x="56" y="11"/>
                    <a:pt x="55" y="12"/>
                    <a:pt x="54" y="12"/>
                  </a:cubicBezTo>
                  <a:cubicBezTo>
                    <a:pt x="53" y="13"/>
                    <a:pt x="53" y="14"/>
                    <a:pt x="53" y="15"/>
                  </a:cubicBezTo>
                  <a:cubicBezTo>
                    <a:pt x="53" y="16"/>
                    <a:pt x="53" y="16"/>
                    <a:pt x="53" y="17"/>
                  </a:cubicBezTo>
                  <a:cubicBezTo>
                    <a:pt x="54" y="17"/>
                    <a:pt x="54" y="18"/>
                    <a:pt x="55" y="18"/>
                  </a:cubicBezTo>
                  <a:cubicBezTo>
                    <a:pt x="55" y="18"/>
                    <a:pt x="56" y="18"/>
                    <a:pt x="56" y="19"/>
                  </a:cubicBezTo>
                  <a:cubicBezTo>
                    <a:pt x="57" y="19"/>
                    <a:pt x="57" y="19"/>
                    <a:pt x="58" y="19"/>
                  </a:cubicBezTo>
                  <a:cubicBezTo>
                    <a:pt x="59" y="19"/>
                    <a:pt x="59" y="19"/>
                    <a:pt x="60" y="18"/>
                  </a:cubicBezTo>
                  <a:cubicBezTo>
                    <a:pt x="61" y="18"/>
                    <a:pt x="62" y="18"/>
                    <a:pt x="62" y="18"/>
                  </a:cubicBezTo>
                  <a:cubicBezTo>
                    <a:pt x="63" y="18"/>
                    <a:pt x="63" y="17"/>
                    <a:pt x="63" y="17"/>
                  </a:cubicBezTo>
                  <a:cubicBezTo>
                    <a:pt x="63" y="17"/>
                    <a:pt x="63" y="17"/>
                    <a:pt x="63" y="17"/>
                  </a:cubicBezTo>
                  <a:moveTo>
                    <a:pt x="50" y="15"/>
                  </a:moveTo>
                  <a:cubicBezTo>
                    <a:pt x="50" y="14"/>
                    <a:pt x="50" y="14"/>
                    <a:pt x="50" y="13"/>
                  </a:cubicBezTo>
                  <a:cubicBezTo>
                    <a:pt x="51" y="12"/>
                    <a:pt x="51" y="11"/>
                    <a:pt x="52" y="11"/>
                  </a:cubicBezTo>
                  <a:cubicBezTo>
                    <a:pt x="53" y="10"/>
                    <a:pt x="53" y="10"/>
                    <a:pt x="55" y="10"/>
                  </a:cubicBezTo>
                  <a:cubicBezTo>
                    <a:pt x="56" y="9"/>
                    <a:pt x="57" y="9"/>
                    <a:pt x="58" y="9"/>
                  </a:cubicBezTo>
                  <a:cubicBezTo>
                    <a:pt x="59" y="9"/>
                    <a:pt x="60" y="9"/>
                    <a:pt x="61" y="10"/>
                  </a:cubicBezTo>
                  <a:cubicBezTo>
                    <a:pt x="62" y="10"/>
                    <a:pt x="63" y="10"/>
                    <a:pt x="63" y="11"/>
                  </a:cubicBezTo>
                  <a:cubicBezTo>
                    <a:pt x="64" y="11"/>
                    <a:pt x="65" y="12"/>
                    <a:pt x="65" y="13"/>
                  </a:cubicBezTo>
                  <a:cubicBezTo>
                    <a:pt x="66" y="14"/>
                    <a:pt x="66" y="16"/>
                    <a:pt x="66" y="17"/>
                  </a:cubicBezTo>
                  <a:cubicBezTo>
                    <a:pt x="66" y="19"/>
                    <a:pt x="66" y="20"/>
                    <a:pt x="65" y="21"/>
                  </a:cubicBezTo>
                  <a:cubicBezTo>
                    <a:pt x="65" y="22"/>
                    <a:pt x="64" y="23"/>
                    <a:pt x="63" y="24"/>
                  </a:cubicBezTo>
                  <a:cubicBezTo>
                    <a:pt x="62" y="25"/>
                    <a:pt x="61" y="26"/>
                    <a:pt x="60" y="26"/>
                  </a:cubicBezTo>
                  <a:cubicBezTo>
                    <a:pt x="58" y="27"/>
                    <a:pt x="57" y="27"/>
                    <a:pt x="55" y="27"/>
                  </a:cubicBezTo>
                  <a:cubicBezTo>
                    <a:pt x="54" y="27"/>
                    <a:pt x="54" y="27"/>
                    <a:pt x="53" y="27"/>
                  </a:cubicBezTo>
                  <a:cubicBezTo>
                    <a:pt x="53" y="27"/>
                    <a:pt x="52" y="27"/>
                    <a:pt x="52" y="27"/>
                  </a:cubicBezTo>
                  <a:cubicBezTo>
                    <a:pt x="52" y="25"/>
                    <a:pt x="52" y="25"/>
                    <a:pt x="52" y="25"/>
                  </a:cubicBezTo>
                  <a:cubicBezTo>
                    <a:pt x="52" y="25"/>
                    <a:pt x="52" y="25"/>
                    <a:pt x="52" y="25"/>
                  </a:cubicBezTo>
                  <a:cubicBezTo>
                    <a:pt x="52" y="25"/>
                    <a:pt x="53" y="25"/>
                    <a:pt x="53" y="25"/>
                  </a:cubicBezTo>
                  <a:cubicBezTo>
                    <a:pt x="54" y="25"/>
                    <a:pt x="54" y="25"/>
                    <a:pt x="55" y="25"/>
                  </a:cubicBezTo>
                  <a:cubicBezTo>
                    <a:pt x="57" y="25"/>
                    <a:pt x="59" y="25"/>
                    <a:pt x="60" y="24"/>
                  </a:cubicBezTo>
                  <a:cubicBezTo>
                    <a:pt x="62" y="23"/>
                    <a:pt x="62" y="21"/>
                    <a:pt x="62" y="19"/>
                  </a:cubicBezTo>
                  <a:cubicBezTo>
                    <a:pt x="62" y="20"/>
                    <a:pt x="61" y="20"/>
                    <a:pt x="60" y="20"/>
                  </a:cubicBezTo>
                  <a:cubicBezTo>
                    <a:pt x="59" y="20"/>
                    <a:pt x="58" y="21"/>
                    <a:pt x="57" y="21"/>
                  </a:cubicBezTo>
                  <a:cubicBezTo>
                    <a:pt x="56" y="21"/>
                    <a:pt x="55" y="20"/>
                    <a:pt x="55" y="20"/>
                  </a:cubicBezTo>
                  <a:cubicBezTo>
                    <a:pt x="54" y="20"/>
                    <a:pt x="53" y="20"/>
                    <a:pt x="52" y="20"/>
                  </a:cubicBezTo>
                  <a:cubicBezTo>
                    <a:pt x="51" y="19"/>
                    <a:pt x="51" y="18"/>
                    <a:pt x="50" y="18"/>
                  </a:cubicBezTo>
                  <a:cubicBezTo>
                    <a:pt x="50" y="17"/>
                    <a:pt x="50" y="16"/>
                    <a:pt x="50" y="15"/>
                  </a:cubicBezTo>
                  <a:moveTo>
                    <a:pt x="86" y="1"/>
                  </a:moveTo>
                  <a:cubicBezTo>
                    <a:pt x="86" y="18"/>
                    <a:pt x="86" y="18"/>
                    <a:pt x="86" y="18"/>
                  </a:cubicBezTo>
                  <a:cubicBezTo>
                    <a:pt x="83" y="20"/>
                    <a:pt x="83" y="20"/>
                    <a:pt x="83" y="20"/>
                  </a:cubicBezTo>
                  <a:cubicBezTo>
                    <a:pt x="83" y="3"/>
                    <a:pt x="83" y="3"/>
                    <a:pt x="83" y="3"/>
                  </a:cubicBezTo>
                  <a:cubicBezTo>
                    <a:pt x="73" y="8"/>
                    <a:pt x="73" y="8"/>
                    <a:pt x="73" y="8"/>
                  </a:cubicBezTo>
                  <a:cubicBezTo>
                    <a:pt x="72" y="6"/>
                    <a:pt x="72" y="6"/>
                    <a:pt x="72" y="6"/>
                  </a:cubicBezTo>
                  <a:cubicBezTo>
                    <a:pt x="85" y="0"/>
                    <a:pt x="85" y="0"/>
                    <a:pt x="85" y="0"/>
                  </a:cubicBezTo>
                  <a:lnTo>
                    <a:pt x="86" y="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27" name="Freeform 126">
              <a:extLst>
                <a:ext uri="{FF2B5EF4-FFF2-40B4-BE49-F238E27FC236}">
                  <a16:creationId xmlns:a16="http://schemas.microsoft.com/office/drawing/2014/main" id="{4ED7559A-AF7D-4118-B1C6-071565F9FDFD}"/>
                </a:ext>
              </a:extLst>
            </p:cNvPr>
            <p:cNvSpPr>
              <a:spLocks/>
            </p:cNvSpPr>
            <p:nvPr userDrawn="1"/>
          </p:nvSpPr>
          <p:spPr bwMode="auto">
            <a:xfrm>
              <a:off x="5778096" y="2774166"/>
              <a:ext cx="105882" cy="105882"/>
            </a:xfrm>
            <a:custGeom>
              <a:avLst/>
              <a:gdLst>
                <a:gd name="T0" fmla="*/ 2 w 11"/>
                <a:gd name="T1" fmla="*/ 12 h 12"/>
                <a:gd name="T2" fmla="*/ 2 w 11"/>
                <a:gd name="T3" fmla="*/ 8 h 12"/>
                <a:gd name="T4" fmla="*/ 1 w 11"/>
                <a:gd name="T5" fmla="*/ 3 h 12"/>
                <a:gd name="T6" fmla="*/ 8 w 11"/>
                <a:gd name="T7" fmla="*/ 3 h 12"/>
                <a:gd name="T8" fmla="*/ 9 w 11"/>
                <a:gd name="T9" fmla="*/ 5 h 12"/>
                <a:gd name="T10" fmla="*/ 8 w 11"/>
                <a:gd name="T11" fmla="*/ 11 h 12"/>
                <a:gd name="T12" fmla="*/ 2 w 11"/>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1" h="12">
                  <a:moveTo>
                    <a:pt x="2" y="12"/>
                  </a:moveTo>
                  <a:cubicBezTo>
                    <a:pt x="0" y="11"/>
                    <a:pt x="1" y="10"/>
                    <a:pt x="2" y="8"/>
                  </a:cubicBezTo>
                  <a:cubicBezTo>
                    <a:pt x="2" y="7"/>
                    <a:pt x="1" y="5"/>
                    <a:pt x="1" y="3"/>
                  </a:cubicBezTo>
                  <a:cubicBezTo>
                    <a:pt x="2" y="0"/>
                    <a:pt x="6" y="2"/>
                    <a:pt x="8" y="3"/>
                  </a:cubicBezTo>
                  <a:cubicBezTo>
                    <a:pt x="8" y="3"/>
                    <a:pt x="9" y="4"/>
                    <a:pt x="9" y="5"/>
                  </a:cubicBezTo>
                  <a:cubicBezTo>
                    <a:pt x="10" y="7"/>
                    <a:pt x="11" y="10"/>
                    <a:pt x="8" y="11"/>
                  </a:cubicBezTo>
                  <a:cubicBezTo>
                    <a:pt x="6" y="12"/>
                    <a:pt x="4" y="12"/>
                    <a:pt x="2" y="12"/>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28" name="Freeform 127">
              <a:extLst>
                <a:ext uri="{FF2B5EF4-FFF2-40B4-BE49-F238E27FC236}">
                  <a16:creationId xmlns:a16="http://schemas.microsoft.com/office/drawing/2014/main" id="{6924A453-9ECB-4FEE-A843-659E0147A02B}"/>
                </a:ext>
              </a:extLst>
            </p:cNvPr>
            <p:cNvSpPr>
              <a:spLocks/>
            </p:cNvSpPr>
            <p:nvPr userDrawn="1"/>
          </p:nvSpPr>
          <p:spPr bwMode="auto">
            <a:xfrm>
              <a:off x="5505827" y="2456519"/>
              <a:ext cx="385714" cy="340336"/>
            </a:xfrm>
            <a:custGeom>
              <a:avLst/>
              <a:gdLst>
                <a:gd name="T0" fmla="*/ 7 w 41"/>
                <a:gd name="T1" fmla="*/ 35 h 36"/>
                <a:gd name="T2" fmla="*/ 7 w 41"/>
                <a:gd name="T3" fmla="*/ 35 h 36"/>
                <a:gd name="T4" fmla="*/ 7 w 41"/>
                <a:gd name="T5" fmla="*/ 34 h 36"/>
                <a:gd name="T6" fmla="*/ 15 w 41"/>
                <a:gd name="T7" fmla="*/ 32 h 36"/>
                <a:gd name="T8" fmla="*/ 20 w 41"/>
                <a:gd name="T9" fmla="*/ 28 h 36"/>
                <a:gd name="T10" fmla="*/ 6 w 41"/>
                <a:gd name="T11" fmla="*/ 29 h 36"/>
                <a:gd name="T12" fmla="*/ 2 w 41"/>
                <a:gd name="T13" fmla="*/ 26 h 36"/>
                <a:gd name="T14" fmla="*/ 2 w 41"/>
                <a:gd name="T15" fmla="*/ 26 h 36"/>
                <a:gd name="T16" fmla="*/ 3 w 41"/>
                <a:gd name="T17" fmla="*/ 21 h 36"/>
                <a:gd name="T18" fmla="*/ 19 w 41"/>
                <a:gd name="T19" fmla="*/ 21 h 36"/>
                <a:gd name="T20" fmla="*/ 24 w 41"/>
                <a:gd name="T21" fmla="*/ 20 h 36"/>
                <a:gd name="T22" fmla="*/ 29 w 41"/>
                <a:gd name="T23" fmla="*/ 3 h 36"/>
                <a:gd name="T24" fmla="*/ 35 w 41"/>
                <a:gd name="T25" fmla="*/ 6 h 36"/>
                <a:gd name="T26" fmla="*/ 36 w 41"/>
                <a:gd name="T27" fmla="*/ 7 h 36"/>
                <a:gd name="T28" fmla="*/ 36 w 41"/>
                <a:gd name="T29" fmla="*/ 7 h 36"/>
                <a:gd name="T30" fmla="*/ 35 w 41"/>
                <a:gd name="T31" fmla="*/ 11 h 36"/>
                <a:gd name="T32" fmla="*/ 31 w 41"/>
                <a:gd name="T33" fmla="*/ 20 h 36"/>
                <a:gd name="T34" fmla="*/ 40 w 41"/>
                <a:gd name="T35" fmla="*/ 19 h 36"/>
                <a:gd name="T36" fmla="*/ 38 w 41"/>
                <a:gd name="T37" fmla="*/ 23 h 36"/>
                <a:gd name="T38" fmla="*/ 29 w 41"/>
                <a:gd name="T39" fmla="*/ 24 h 36"/>
                <a:gd name="T40" fmla="*/ 23 w 41"/>
                <a:gd name="T41" fmla="*/ 32 h 36"/>
                <a:gd name="T42" fmla="*/ 21 w 41"/>
                <a:gd name="T43" fmla="*/ 34 h 36"/>
                <a:gd name="T44" fmla="*/ 14 w 41"/>
                <a:gd name="T45" fmla="*/ 35 h 36"/>
                <a:gd name="T46" fmla="*/ 7 w 41"/>
                <a:gd name="T47" fmla="*/ 3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36">
                  <a:moveTo>
                    <a:pt x="7" y="35"/>
                  </a:moveTo>
                  <a:cubicBezTo>
                    <a:pt x="7" y="35"/>
                    <a:pt x="7" y="35"/>
                    <a:pt x="7" y="35"/>
                  </a:cubicBezTo>
                  <a:cubicBezTo>
                    <a:pt x="7" y="35"/>
                    <a:pt x="7" y="35"/>
                    <a:pt x="7" y="34"/>
                  </a:cubicBezTo>
                  <a:cubicBezTo>
                    <a:pt x="8" y="34"/>
                    <a:pt x="15" y="32"/>
                    <a:pt x="15" y="32"/>
                  </a:cubicBezTo>
                  <a:cubicBezTo>
                    <a:pt x="17" y="31"/>
                    <a:pt x="19" y="30"/>
                    <a:pt x="20" y="28"/>
                  </a:cubicBezTo>
                  <a:cubicBezTo>
                    <a:pt x="15" y="28"/>
                    <a:pt x="11" y="30"/>
                    <a:pt x="6" y="29"/>
                  </a:cubicBezTo>
                  <a:cubicBezTo>
                    <a:pt x="4" y="28"/>
                    <a:pt x="3" y="27"/>
                    <a:pt x="2" y="26"/>
                  </a:cubicBezTo>
                  <a:cubicBezTo>
                    <a:pt x="2" y="26"/>
                    <a:pt x="2" y="26"/>
                    <a:pt x="2" y="26"/>
                  </a:cubicBezTo>
                  <a:cubicBezTo>
                    <a:pt x="0" y="24"/>
                    <a:pt x="0" y="22"/>
                    <a:pt x="3" y="21"/>
                  </a:cubicBezTo>
                  <a:cubicBezTo>
                    <a:pt x="7" y="23"/>
                    <a:pt x="15" y="22"/>
                    <a:pt x="19" y="21"/>
                  </a:cubicBezTo>
                  <a:cubicBezTo>
                    <a:pt x="20" y="21"/>
                    <a:pt x="23" y="21"/>
                    <a:pt x="24" y="20"/>
                  </a:cubicBezTo>
                  <a:cubicBezTo>
                    <a:pt x="26" y="15"/>
                    <a:pt x="27" y="9"/>
                    <a:pt x="29" y="3"/>
                  </a:cubicBezTo>
                  <a:cubicBezTo>
                    <a:pt x="31" y="0"/>
                    <a:pt x="33" y="3"/>
                    <a:pt x="35" y="6"/>
                  </a:cubicBezTo>
                  <a:cubicBezTo>
                    <a:pt x="35" y="6"/>
                    <a:pt x="36" y="6"/>
                    <a:pt x="36" y="7"/>
                  </a:cubicBezTo>
                  <a:cubicBezTo>
                    <a:pt x="36" y="7"/>
                    <a:pt x="36" y="7"/>
                    <a:pt x="36" y="7"/>
                  </a:cubicBezTo>
                  <a:cubicBezTo>
                    <a:pt x="37" y="9"/>
                    <a:pt x="37" y="10"/>
                    <a:pt x="35" y="11"/>
                  </a:cubicBezTo>
                  <a:cubicBezTo>
                    <a:pt x="33" y="14"/>
                    <a:pt x="32" y="17"/>
                    <a:pt x="31" y="20"/>
                  </a:cubicBezTo>
                  <a:cubicBezTo>
                    <a:pt x="34" y="20"/>
                    <a:pt x="37" y="18"/>
                    <a:pt x="40" y="19"/>
                  </a:cubicBezTo>
                  <a:cubicBezTo>
                    <a:pt x="41" y="21"/>
                    <a:pt x="40" y="22"/>
                    <a:pt x="38" y="23"/>
                  </a:cubicBezTo>
                  <a:cubicBezTo>
                    <a:pt x="36" y="23"/>
                    <a:pt x="33" y="24"/>
                    <a:pt x="29" y="24"/>
                  </a:cubicBezTo>
                  <a:cubicBezTo>
                    <a:pt x="28" y="27"/>
                    <a:pt x="26" y="30"/>
                    <a:pt x="23" y="32"/>
                  </a:cubicBezTo>
                  <a:cubicBezTo>
                    <a:pt x="23" y="33"/>
                    <a:pt x="21" y="34"/>
                    <a:pt x="21" y="34"/>
                  </a:cubicBezTo>
                  <a:cubicBezTo>
                    <a:pt x="19" y="34"/>
                    <a:pt x="17" y="35"/>
                    <a:pt x="14" y="35"/>
                  </a:cubicBezTo>
                  <a:cubicBezTo>
                    <a:pt x="8" y="36"/>
                    <a:pt x="8" y="35"/>
                    <a:pt x="7" y="35"/>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29" name="Freeform 128">
              <a:extLst>
                <a:ext uri="{FF2B5EF4-FFF2-40B4-BE49-F238E27FC236}">
                  <a16:creationId xmlns:a16="http://schemas.microsoft.com/office/drawing/2014/main" id="{3F838B94-31AA-44D3-BB5E-EE4C87B4217C}"/>
                </a:ext>
              </a:extLst>
            </p:cNvPr>
            <p:cNvSpPr>
              <a:spLocks/>
            </p:cNvSpPr>
            <p:nvPr userDrawn="1"/>
          </p:nvSpPr>
          <p:spPr bwMode="auto">
            <a:xfrm>
              <a:off x="4862970" y="2668283"/>
              <a:ext cx="151261" cy="310084"/>
            </a:xfrm>
            <a:custGeom>
              <a:avLst/>
              <a:gdLst>
                <a:gd name="T0" fmla="*/ 7 w 16"/>
                <a:gd name="T1" fmla="*/ 33 h 33"/>
                <a:gd name="T2" fmla="*/ 0 w 16"/>
                <a:gd name="T3" fmla="*/ 30 h 33"/>
                <a:gd name="T4" fmla="*/ 0 w 16"/>
                <a:gd name="T5" fmla="*/ 28 h 33"/>
                <a:gd name="T6" fmla="*/ 10 w 16"/>
                <a:gd name="T7" fmla="*/ 11 h 33"/>
                <a:gd name="T8" fmla="*/ 12 w 16"/>
                <a:gd name="T9" fmla="*/ 3 h 33"/>
                <a:gd name="T10" fmla="*/ 12 w 16"/>
                <a:gd name="T11" fmla="*/ 2 h 33"/>
                <a:gd name="T12" fmla="*/ 12 w 16"/>
                <a:gd name="T13" fmla="*/ 2 h 33"/>
                <a:gd name="T14" fmla="*/ 15 w 16"/>
                <a:gd name="T15" fmla="*/ 2 h 33"/>
                <a:gd name="T16" fmla="*/ 14 w 16"/>
                <a:gd name="T17" fmla="*/ 7 h 33"/>
                <a:gd name="T18" fmla="*/ 13 w 16"/>
                <a:gd name="T19" fmla="*/ 16 h 33"/>
                <a:gd name="T20" fmla="*/ 13 w 16"/>
                <a:gd name="T21" fmla="*/ 19 h 33"/>
                <a:gd name="T22" fmla="*/ 11 w 16"/>
                <a:gd name="T23" fmla="*/ 26 h 33"/>
                <a:gd name="T24" fmla="*/ 9 w 16"/>
                <a:gd name="T25" fmla="*/ 33 h 33"/>
                <a:gd name="T26" fmla="*/ 7 w 16"/>
                <a:gd name="T27"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33">
                  <a:moveTo>
                    <a:pt x="7" y="33"/>
                  </a:moveTo>
                  <a:cubicBezTo>
                    <a:pt x="5" y="33"/>
                    <a:pt x="2" y="31"/>
                    <a:pt x="0" y="30"/>
                  </a:cubicBezTo>
                  <a:cubicBezTo>
                    <a:pt x="0" y="30"/>
                    <a:pt x="0" y="29"/>
                    <a:pt x="0" y="28"/>
                  </a:cubicBezTo>
                  <a:cubicBezTo>
                    <a:pt x="4" y="23"/>
                    <a:pt x="7" y="17"/>
                    <a:pt x="10" y="11"/>
                  </a:cubicBezTo>
                  <a:cubicBezTo>
                    <a:pt x="11" y="8"/>
                    <a:pt x="11" y="5"/>
                    <a:pt x="12" y="3"/>
                  </a:cubicBezTo>
                  <a:cubicBezTo>
                    <a:pt x="12" y="3"/>
                    <a:pt x="12" y="3"/>
                    <a:pt x="12" y="2"/>
                  </a:cubicBezTo>
                  <a:cubicBezTo>
                    <a:pt x="12" y="2"/>
                    <a:pt x="12" y="2"/>
                    <a:pt x="12" y="2"/>
                  </a:cubicBezTo>
                  <a:cubicBezTo>
                    <a:pt x="13" y="1"/>
                    <a:pt x="14" y="0"/>
                    <a:pt x="15" y="2"/>
                  </a:cubicBezTo>
                  <a:cubicBezTo>
                    <a:pt x="16" y="3"/>
                    <a:pt x="14" y="5"/>
                    <a:pt x="14" y="7"/>
                  </a:cubicBezTo>
                  <a:cubicBezTo>
                    <a:pt x="14" y="10"/>
                    <a:pt x="14" y="13"/>
                    <a:pt x="13" y="16"/>
                  </a:cubicBezTo>
                  <a:cubicBezTo>
                    <a:pt x="13" y="16"/>
                    <a:pt x="13" y="16"/>
                    <a:pt x="13" y="19"/>
                  </a:cubicBezTo>
                  <a:cubicBezTo>
                    <a:pt x="12" y="21"/>
                    <a:pt x="11" y="24"/>
                    <a:pt x="11" y="26"/>
                  </a:cubicBezTo>
                  <a:cubicBezTo>
                    <a:pt x="10" y="28"/>
                    <a:pt x="10" y="31"/>
                    <a:pt x="9" y="33"/>
                  </a:cubicBezTo>
                  <a:cubicBezTo>
                    <a:pt x="8" y="33"/>
                    <a:pt x="8" y="33"/>
                    <a:pt x="7" y="33"/>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30" name="Freeform 129">
              <a:extLst>
                <a:ext uri="{FF2B5EF4-FFF2-40B4-BE49-F238E27FC236}">
                  <a16:creationId xmlns:a16="http://schemas.microsoft.com/office/drawing/2014/main" id="{9FE025CD-22FD-42F8-8D43-883C01BD11F7}"/>
                </a:ext>
              </a:extLst>
            </p:cNvPr>
            <p:cNvSpPr>
              <a:spLocks/>
            </p:cNvSpPr>
            <p:nvPr userDrawn="1"/>
          </p:nvSpPr>
          <p:spPr bwMode="auto">
            <a:xfrm>
              <a:off x="5067172" y="2592653"/>
              <a:ext cx="121008" cy="121008"/>
            </a:xfrm>
            <a:custGeom>
              <a:avLst/>
              <a:gdLst>
                <a:gd name="T0" fmla="*/ 8 w 13"/>
                <a:gd name="T1" fmla="*/ 12 h 13"/>
                <a:gd name="T2" fmla="*/ 1 w 13"/>
                <a:gd name="T3" fmla="*/ 10 h 13"/>
                <a:gd name="T4" fmla="*/ 1 w 13"/>
                <a:gd name="T5" fmla="*/ 8 h 13"/>
                <a:gd name="T6" fmla="*/ 2 w 13"/>
                <a:gd name="T7" fmla="*/ 7 h 13"/>
                <a:gd name="T8" fmla="*/ 5 w 13"/>
                <a:gd name="T9" fmla="*/ 6 h 13"/>
                <a:gd name="T10" fmla="*/ 12 w 13"/>
                <a:gd name="T11" fmla="*/ 1 h 13"/>
                <a:gd name="T12" fmla="*/ 8 w 13"/>
                <a:gd name="T13" fmla="*/ 12 h 13"/>
              </a:gdLst>
              <a:ahLst/>
              <a:cxnLst>
                <a:cxn ang="0">
                  <a:pos x="T0" y="T1"/>
                </a:cxn>
                <a:cxn ang="0">
                  <a:pos x="T2" y="T3"/>
                </a:cxn>
                <a:cxn ang="0">
                  <a:pos x="T4" y="T5"/>
                </a:cxn>
                <a:cxn ang="0">
                  <a:pos x="T6" y="T7"/>
                </a:cxn>
                <a:cxn ang="0">
                  <a:pos x="T8" y="T9"/>
                </a:cxn>
                <a:cxn ang="0">
                  <a:pos x="T10" y="T11"/>
                </a:cxn>
                <a:cxn ang="0">
                  <a:pos x="T12" y="T13"/>
                </a:cxn>
              </a:cxnLst>
              <a:rect l="0" t="0" r="r" b="b"/>
              <a:pathLst>
                <a:path w="13" h="13">
                  <a:moveTo>
                    <a:pt x="8" y="12"/>
                  </a:moveTo>
                  <a:cubicBezTo>
                    <a:pt x="5" y="13"/>
                    <a:pt x="3" y="12"/>
                    <a:pt x="1" y="10"/>
                  </a:cubicBezTo>
                  <a:cubicBezTo>
                    <a:pt x="0" y="10"/>
                    <a:pt x="1" y="9"/>
                    <a:pt x="1" y="8"/>
                  </a:cubicBezTo>
                  <a:cubicBezTo>
                    <a:pt x="1" y="8"/>
                    <a:pt x="1" y="8"/>
                    <a:pt x="2" y="7"/>
                  </a:cubicBezTo>
                  <a:cubicBezTo>
                    <a:pt x="3" y="7"/>
                    <a:pt x="3" y="7"/>
                    <a:pt x="5" y="6"/>
                  </a:cubicBezTo>
                  <a:cubicBezTo>
                    <a:pt x="6" y="5"/>
                    <a:pt x="10" y="0"/>
                    <a:pt x="12" y="1"/>
                  </a:cubicBezTo>
                  <a:cubicBezTo>
                    <a:pt x="13" y="4"/>
                    <a:pt x="11" y="10"/>
                    <a:pt x="8" y="12"/>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31" name="Freeform 130">
              <a:extLst>
                <a:ext uri="{FF2B5EF4-FFF2-40B4-BE49-F238E27FC236}">
                  <a16:creationId xmlns:a16="http://schemas.microsoft.com/office/drawing/2014/main" id="{AF98113F-7D78-49D7-B49C-74EC229CE5B1}"/>
                </a:ext>
              </a:extLst>
            </p:cNvPr>
            <p:cNvSpPr>
              <a:spLocks/>
            </p:cNvSpPr>
            <p:nvPr userDrawn="1"/>
          </p:nvSpPr>
          <p:spPr bwMode="auto">
            <a:xfrm>
              <a:off x="4855407" y="2638031"/>
              <a:ext cx="90756" cy="105882"/>
            </a:xfrm>
            <a:custGeom>
              <a:avLst/>
              <a:gdLst>
                <a:gd name="T0" fmla="*/ 5 w 10"/>
                <a:gd name="T1" fmla="*/ 11 h 11"/>
                <a:gd name="T2" fmla="*/ 1 w 10"/>
                <a:gd name="T3" fmla="*/ 4 h 11"/>
                <a:gd name="T4" fmla="*/ 6 w 10"/>
                <a:gd name="T5" fmla="*/ 1 h 11"/>
                <a:gd name="T6" fmla="*/ 10 w 10"/>
                <a:gd name="T7" fmla="*/ 6 h 11"/>
                <a:gd name="T8" fmla="*/ 5 w 10"/>
                <a:gd name="T9" fmla="*/ 11 h 11"/>
              </a:gdLst>
              <a:ahLst/>
              <a:cxnLst>
                <a:cxn ang="0">
                  <a:pos x="T0" y="T1"/>
                </a:cxn>
                <a:cxn ang="0">
                  <a:pos x="T2" y="T3"/>
                </a:cxn>
                <a:cxn ang="0">
                  <a:pos x="T4" y="T5"/>
                </a:cxn>
                <a:cxn ang="0">
                  <a:pos x="T6" y="T7"/>
                </a:cxn>
                <a:cxn ang="0">
                  <a:pos x="T8" y="T9"/>
                </a:cxn>
              </a:cxnLst>
              <a:rect l="0" t="0" r="r" b="b"/>
              <a:pathLst>
                <a:path w="10" h="11">
                  <a:moveTo>
                    <a:pt x="5" y="11"/>
                  </a:moveTo>
                  <a:cubicBezTo>
                    <a:pt x="3" y="10"/>
                    <a:pt x="1" y="5"/>
                    <a:pt x="1" y="4"/>
                  </a:cubicBezTo>
                  <a:cubicBezTo>
                    <a:pt x="0" y="1"/>
                    <a:pt x="3" y="0"/>
                    <a:pt x="6" y="1"/>
                  </a:cubicBezTo>
                  <a:cubicBezTo>
                    <a:pt x="9" y="2"/>
                    <a:pt x="10" y="3"/>
                    <a:pt x="10" y="6"/>
                  </a:cubicBezTo>
                  <a:cubicBezTo>
                    <a:pt x="8" y="9"/>
                    <a:pt x="7" y="9"/>
                    <a:pt x="5" y="11"/>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32" name="Freeform 131">
              <a:extLst>
                <a:ext uri="{FF2B5EF4-FFF2-40B4-BE49-F238E27FC236}">
                  <a16:creationId xmlns:a16="http://schemas.microsoft.com/office/drawing/2014/main" id="{987E95DB-C783-4500-A69A-C470060BEA07}"/>
                </a:ext>
              </a:extLst>
            </p:cNvPr>
            <p:cNvSpPr>
              <a:spLocks/>
            </p:cNvSpPr>
            <p:nvPr userDrawn="1"/>
          </p:nvSpPr>
          <p:spPr bwMode="auto">
            <a:xfrm>
              <a:off x="5029357" y="2471645"/>
              <a:ext cx="143698" cy="158823"/>
            </a:xfrm>
            <a:custGeom>
              <a:avLst/>
              <a:gdLst>
                <a:gd name="T0" fmla="*/ 8 w 15"/>
                <a:gd name="T1" fmla="*/ 17 h 17"/>
                <a:gd name="T2" fmla="*/ 7 w 15"/>
                <a:gd name="T3" fmla="*/ 12 h 17"/>
                <a:gd name="T4" fmla="*/ 5 w 15"/>
                <a:gd name="T5" fmla="*/ 13 h 17"/>
                <a:gd name="T6" fmla="*/ 0 w 15"/>
                <a:gd name="T7" fmla="*/ 9 h 17"/>
                <a:gd name="T8" fmla="*/ 2 w 15"/>
                <a:gd name="T9" fmla="*/ 7 h 17"/>
                <a:gd name="T10" fmla="*/ 7 w 15"/>
                <a:gd name="T11" fmla="*/ 2 h 17"/>
                <a:gd name="T12" fmla="*/ 14 w 15"/>
                <a:gd name="T13" fmla="*/ 4 h 17"/>
                <a:gd name="T14" fmla="*/ 13 w 15"/>
                <a:gd name="T15" fmla="*/ 11 h 17"/>
                <a:gd name="T16" fmla="*/ 9 w 15"/>
                <a:gd name="T17" fmla="*/ 16 h 17"/>
                <a:gd name="T18" fmla="*/ 8 w 15"/>
                <a:gd name="T19"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7">
                  <a:moveTo>
                    <a:pt x="8" y="17"/>
                  </a:moveTo>
                  <a:cubicBezTo>
                    <a:pt x="7" y="16"/>
                    <a:pt x="8" y="12"/>
                    <a:pt x="7" y="12"/>
                  </a:cubicBezTo>
                  <a:cubicBezTo>
                    <a:pt x="6" y="12"/>
                    <a:pt x="6" y="13"/>
                    <a:pt x="5" y="13"/>
                  </a:cubicBezTo>
                  <a:cubicBezTo>
                    <a:pt x="3" y="13"/>
                    <a:pt x="0" y="11"/>
                    <a:pt x="0" y="9"/>
                  </a:cubicBezTo>
                  <a:cubicBezTo>
                    <a:pt x="1" y="7"/>
                    <a:pt x="0" y="8"/>
                    <a:pt x="2" y="7"/>
                  </a:cubicBezTo>
                  <a:cubicBezTo>
                    <a:pt x="4" y="5"/>
                    <a:pt x="6" y="3"/>
                    <a:pt x="7" y="2"/>
                  </a:cubicBezTo>
                  <a:cubicBezTo>
                    <a:pt x="11" y="0"/>
                    <a:pt x="13" y="1"/>
                    <a:pt x="14" y="4"/>
                  </a:cubicBezTo>
                  <a:cubicBezTo>
                    <a:pt x="15" y="7"/>
                    <a:pt x="14" y="9"/>
                    <a:pt x="13" y="11"/>
                  </a:cubicBezTo>
                  <a:cubicBezTo>
                    <a:pt x="12" y="13"/>
                    <a:pt x="10" y="15"/>
                    <a:pt x="9" y="16"/>
                  </a:cubicBezTo>
                  <a:cubicBezTo>
                    <a:pt x="9" y="17"/>
                    <a:pt x="8" y="17"/>
                    <a:pt x="8" y="17"/>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33" name="Freeform 132">
              <a:extLst>
                <a:ext uri="{FF2B5EF4-FFF2-40B4-BE49-F238E27FC236}">
                  <a16:creationId xmlns:a16="http://schemas.microsoft.com/office/drawing/2014/main" id="{F71CF6BC-FD6C-4633-99AE-3DFBBA535E2B}"/>
                </a:ext>
              </a:extLst>
            </p:cNvPr>
            <p:cNvSpPr>
              <a:spLocks/>
            </p:cNvSpPr>
            <p:nvPr userDrawn="1"/>
          </p:nvSpPr>
          <p:spPr bwMode="auto">
            <a:xfrm>
              <a:off x="4855407" y="2509460"/>
              <a:ext cx="90756" cy="98319"/>
            </a:xfrm>
            <a:custGeom>
              <a:avLst/>
              <a:gdLst>
                <a:gd name="T0" fmla="*/ 4 w 10"/>
                <a:gd name="T1" fmla="*/ 11 h 11"/>
                <a:gd name="T2" fmla="*/ 3 w 10"/>
                <a:gd name="T3" fmla="*/ 9 h 11"/>
                <a:gd name="T4" fmla="*/ 1 w 10"/>
                <a:gd name="T5" fmla="*/ 6 h 11"/>
                <a:gd name="T6" fmla="*/ 1 w 10"/>
                <a:gd name="T7" fmla="*/ 0 h 11"/>
                <a:gd name="T8" fmla="*/ 10 w 10"/>
                <a:gd name="T9" fmla="*/ 5 h 11"/>
                <a:gd name="T10" fmla="*/ 4 w 10"/>
                <a:gd name="T11" fmla="*/ 11 h 11"/>
              </a:gdLst>
              <a:ahLst/>
              <a:cxnLst>
                <a:cxn ang="0">
                  <a:pos x="T0" y="T1"/>
                </a:cxn>
                <a:cxn ang="0">
                  <a:pos x="T2" y="T3"/>
                </a:cxn>
                <a:cxn ang="0">
                  <a:pos x="T4" y="T5"/>
                </a:cxn>
                <a:cxn ang="0">
                  <a:pos x="T6" y="T7"/>
                </a:cxn>
                <a:cxn ang="0">
                  <a:pos x="T8" y="T9"/>
                </a:cxn>
                <a:cxn ang="0">
                  <a:pos x="T10" y="T11"/>
                </a:cxn>
              </a:cxnLst>
              <a:rect l="0" t="0" r="r" b="b"/>
              <a:pathLst>
                <a:path w="10" h="11">
                  <a:moveTo>
                    <a:pt x="4" y="11"/>
                  </a:moveTo>
                  <a:cubicBezTo>
                    <a:pt x="3" y="11"/>
                    <a:pt x="3" y="10"/>
                    <a:pt x="3" y="9"/>
                  </a:cubicBezTo>
                  <a:cubicBezTo>
                    <a:pt x="3" y="8"/>
                    <a:pt x="2" y="7"/>
                    <a:pt x="1" y="6"/>
                  </a:cubicBezTo>
                  <a:cubicBezTo>
                    <a:pt x="0" y="3"/>
                    <a:pt x="0" y="2"/>
                    <a:pt x="1" y="0"/>
                  </a:cubicBezTo>
                  <a:cubicBezTo>
                    <a:pt x="3" y="0"/>
                    <a:pt x="10" y="1"/>
                    <a:pt x="10" y="5"/>
                  </a:cubicBezTo>
                  <a:cubicBezTo>
                    <a:pt x="9" y="7"/>
                    <a:pt x="6" y="10"/>
                    <a:pt x="4" y="11"/>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34" name="Freeform 133">
              <a:extLst>
                <a:ext uri="{FF2B5EF4-FFF2-40B4-BE49-F238E27FC236}">
                  <a16:creationId xmlns:a16="http://schemas.microsoft.com/office/drawing/2014/main" id="{6486144C-6B15-4CE8-B940-5B399C572D63}"/>
                </a:ext>
              </a:extLst>
            </p:cNvPr>
            <p:cNvSpPr>
              <a:spLocks/>
            </p:cNvSpPr>
            <p:nvPr userDrawn="1"/>
          </p:nvSpPr>
          <p:spPr bwMode="auto">
            <a:xfrm>
              <a:off x="4356247" y="2880048"/>
              <a:ext cx="355462" cy="627731"/>
            </a:xfrm>
            <a:custGeom>
              <a:avLst/>
              <a:gdLst>
                <a:gd name="T0" fmla="*/ 22 w 38"/>
                <a:gd name="T1" fmla="*/ 64 h 66"/>
                <a:gd name="T2" fmla="*/ 13 w 38"/>
                <a:gd name="T3" fmla="*/ 61 h 66"/>
                <a:gd name="T4" fmla="*/ 13 w 38"/>
                <a:gd name="T5" fmla="*/ 59 h 66"/>
                <a:gd name="T6" fmla="*/ 13 w 38"/>
                <a:gd name="T7" fmla="*/ 59 h 66"/>
                <a:gd name="T8" fmla="*/ 8 w 38"/>
                <a:gd name="T9" fmla="*/ 46 h 66"/>
                <a:gd name="T10" fmla="*/ 7 w 38"/>
                <a:gd name="T11" fmla="*/ 42 h 66"/>
                <a:gd name="T12" fmla="*/ 10 w 38"/>
                <a:gd name="T13" fmla="*/ 44 h 66"/>
                <a:gd name="T14" fmla="*/ 11 w 38"/>
                <a:gd name="T15" fmla="*/ 42 h 66"/>
                <a:gd name="T16" fmla="*/ 11 w 38"/>
                <a:gd name="T17" fmla="*/ 33 h 66"/>
                <a:gd name="T18" fmla="*/ 8 w 38"/>
                <a:gd name="T19" fmla="*/ 31 h 66"/>
                <a:gd name="T20" fmla="*/ 4 w 38"/>
                <a:gd name="T21" fmla="*/ 34 h 66"/>
                <a:gd name="T22" fmla="*/ 4 w 38"/>
                <a:gd name="T23" fmla="*/ 27 h 66"/>
                <a:gd name="T24" fmla="*/ 0 w 38"/>
                <a:gd name="T25" fmla="*/ 23 h 66"/>
                <a:gd name="T26" fmla="*/ 6 w 38"/>
                <a:gd name="T27" fmla="*/ 21 h 66"/>
                <a:gd name="T28" fmla="*/ 10 w 38"/>
                <a:gd name="T29" fmla="*/ 23 h 66"/>
                <a:gd name="T30" fmla="*/ 11 w 38"/>
                <a:gd name="T31" fmla="*/ 25 h 66"/>
                <a:gd name="T32" fmla="*/ 12 w 38"/>
                <a:gd name="T33" fmla="*/ 24 h 66"/>
                <a:gd name="T34" fmla="*/ 12 w 38"/>
                <a:gd name="T35" fmla="*/ 17 h 66"/>
                <a:gd name="T36" fmla="*/ 7 w 38"/>
                <a:gd name="T37" fmla="*/ 10 h 66"/>
                <a:gd name="T38" fmla="*/ 12 w 38"/>
                <a:gd name="T39" fmla="*/ 6 h 66"/>
                <a:gd name="T40" fmla="*/ 13 w 38"/>
                <a:gd name="T41" fmla="*/ 1 h 66"/>
                <a:gd name="T42" fmla="*/ 14 w 38"/>
                <a:gd name="T43" fmla="*/ 0 h 66"/>
                <a:gd name="T44" fmla="*/ 16 w 38"/>
                <a:gd name="T45" fmla="*/ 1 h 66"/>
                <a:gd name="T46" fmla="*/ 18 w 38"/>
                <a:gd name="T47" fmla="*/ 12 h 66"/>
                <a:gd name="T48" fmla="*/ 17 w 38"/>
                <a:gd name="T49" fmla="*/ 8 h 66"/>
                <a:gd name="T50" fmla="*/ 22 w 38"/>
                <a:gd name="T51" fmla="*/ 3 h 66"/>
                <a:gd name="T52" fmla="*/ 25 w 38"/>
                <a:gd name="T53" fmla="*/ 7 h 66"/>
                <a:gd name="T54" fmla="*/ 26 w 38"/>
                <a:gd name="T55" fmla="*/ 8 h 66"/>
                <a:gd name="T56" fmla="*/ 35 w 38"/>
                <a:gd name="T57" fmla="*/ 15 h 66"/>
                <a:gd name="T58" fmla="*/ 37 w 38"/>
                <a:gd name="T59" fmla="*/ 19 h 66"/>
                <a:gd name="T60" fmla="*/ 37 w 38"/>
                <a:gd name="T61" fmla="*/ 20 h 66"/>
                <a:gd name="T62" fmla="*/ 37 w 38"/>
                <a:gd name="T63" fmla="*/ 20 h 66"/>
                <a:gd name="T64" fmla="*/ 36 w 38"/>
                <a:gd name="T65" fmla="*/ 24 h 66"/>
                <a:gd name="T66" fmla="*/ 23 w 38"/>
                <a:gd name="T67" fmla="*/ 15 h 66"/>
                <a:gd name="T68" fmla="*/ 23 w 38"/>
                <a:gd name="T69" fmla="*/ 15 h 66"/>
                <a:gd name="T70" fmla="*/ 27 w 38"/>
                <a:gd name="T71" fmla="*/ 25 h 66"/>
                <a:gd name="T72" fmla="*/ 22 w 38"/>
                <a:gd name="T73" fmla="*/ 27 h 66"/>
                <a:gd name="T74" fmla="*/ 22 w 38"/>
                <a:gd name="T75" fmla="*/ 25 h 66"/>
                <a:gd name="T76" fmla="*/ 15 w 38"/>
                <a:gd name="T77" fmla="*/ 19 h 66"/>
                <a:gd name="T78" fmla="*/ 16 w 38"/>
                <a:gd name="T79" fmla="*/ 27 h 66"/>
                <a:gd name="T80" fmla="*/ 17 w 38"/>
                <a:gd name="T81" fmla="*/ 31 h 66"/>
                <a:gd name="T82" fmla="*/ 21 w 38"/>
                <a:gd name="T83" fmla="*/ 35 h 66"/>
                <a:gd name="T84" fmla="*/ 22 w 38"/>
                <a:gd name="T85" fmla="*/ 38 h 66"/>
                <a:gd name="T86" fmla="*/ 22 w 38"/>
                <a:gd name="T87" fmla="*/ 39 h 66"/>
                <a:gd name="T88" fmla="*/ 22 w 38"/>
                <a:gd name="T89" fmla="*/ 44 h 66"/>
                <a:gd name="T90" fmla="*/ 21 w 38"/>
                <a:gd name="T91" fmla="*/ 44 h 66"/>
                <a:gd name="T92" fmla="*/ 17 w 38"/>
                <a:gd name="T93" fmla="*/ 38 h 66"/>
                <a:gd name="T94" fmla="*/ 16 w 38"/>
                <a:gd name="T95" fmla="*/ 44 h 66"/>
                <a:gd name="T96" fmla="*/ 13 w 38"/>
                <a:gd name="T97" fmla="*/ 46 h 66"/>
                <a:gd name="T98" fmla="*/ 13 w 38"/>
                <a:gd name="T99" fmla="*/ 46 h 66"/>
                <a:gd name="T100" fmla="*/ 12 w 38"/>
                <a:gd name="T101" fmla="*/ 47 h 66"/>
                <a:gd name="T102" fmla="*/ 14 w 38"/>
                <a:gd name="T103" fmla="*/ 50 h 66"/>
                <a:gd name="T104" fmla="*/ 23 w 38"/>
                <a:gd name="T105" fmla="*/ 62 h 66"/>
                <a:gd name="T106" fmla="*/ 22 w 38"/>
                <a:gd name="T107" fmla="*/ 6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8" h="66">
                  <a:moveTo>
                    <a:pt x="22" y="64"/>
                  </a:moveTo>
                  <a:cubicBezTo>
                    <a:pt x="19" y="66"/>
                    <a:pt x="12" y="65"/>
                    <a:pt x="13" y="61"/>
                  </a:cubicBezTo>
                  <a:cubicBezTo>
                    <a:pt x="13" y="60"/>
                    <a:pt x="13" y="59"/>
                    <a:pt x="13" y="59"/>
                  </a:cubicBezTo>
                  <a:cubicBezTo>
                    <a:pt x="13" y="59"/>
                    <a:pt x="13" y="59"/>
                    <a:pt x="13" y="59"/>
                  </a:cubicBezTo>
                  <a:cubicBezTo>
                    <a:pt x="12" y="54"/>
                    <a:pt x="9" y="50"/>
                    <a:pt x="8" y="46"/>
                  </a:cubicBezTo>
                  <a:cubicBezTo>
                    <a:pt x="7" y="45"/>
                    <a:pt x="7" y="44"/>
                    <a:pt x="7" y="42"/>
                  </a:cubicBezTo>
                  <a:cubicBezTo>
                    <a:pt x="8" y="42"/>
                    <a:pt x="9" y="43"/>
                    <a:pt x="10" y="44"/>
                  </a:cubicBezTo>
                  <a:cubicBezTo>
                    <a:pt x="11" y="44"/>
                    <a:pt x="11" y="43"/>
                    <a:pt x="11" y="42"/>
                  </a:cubicBezTo>
                  <a:cubicBezTo>
                    <a:pt x="11" y="39"/>
                    <a:pt x="11" y="36"/>
                    <a:pt x="11" y="33"/>
                  </a:cubicBezTo>
                  <a:cubicBezTo>
                    <a:pt x="10" y="32"/>
                    <a:pt x="9" y="31"/>
                    <a:pt x="8" y="31"/>
                  </a:cubicBezTo>
                  <a:cubicBezTo>
                    <a:pt x="8" y="32"/>
                    <a:pt x="6" y="37"/>
                    <a:pt x="4" y="34"/>
                  </a:cubicBezTo>
                  <a:cubicBezTo>
                    <a:pt x="5" y="32"/>
                    <a:pt x="5" y="29"/>
                    <a:pt x="4" y="27"/>
                  </a:cubicBezTo>
                  <a:cubicBezTo>
                    <a:pt x="2" y="25"/>
                    <a:pt x="0" y="24"/>
                    <a:pt x="0" y="23"/>
                  </a:cubicBezTo>
                  <a:cubicBezTo>
                    <a:pt x="0" y="20"/>
                    <a:pt x="4" y="20"/>
                    <a:pt x="6" y="21"/>
                  </a:cubicBezTo>
                  <a:cubicBezTo>
                    <a:pt x="8" y="21"/>
                    <a:pt x="8" y="17"/>
                    <a:pt x="10" y="23"/>
                  </a:cubicBezTo>
                  <a:cubicBezTo>
                    <a:pt x="10" y="24"/>
                    <a:pt x="11" y="24"/>
                    <a:pt x="11" y="25"/>
                  </a:cubicBezTo>
                  <a:cubicBezTo>
                    <a:pt x="12" y="25"/>
                    <a:pt x="12" y="24"/>
                    <a:pt x="12" y="24"/>
                  </a:cubicBezTo>
                  <a:cubicBezTo>
                    <a:pt x="12" y="22"/>
                    <a:pt x="12" y="19"/>
                    <a:pt x="12" y="17"/>
                  </a:cubicBezTo>
                  <a:cubicBezTo>
                    <a:pt x="10" y="15"/>
                    <a:pt x="8" y="13"/>
                    <a:pt x="7" y="10"/>
                  </a:cubicBezTo>
                  <a:cubicBezTo>
                    <a:pt x="7" y="8"/>
                    <a:pt x="10" y="6"/>
                    <a:pt x="12" y="6"/>
                  </a:cubicBezTo>
                  <a:cubicBezTo>
                    <a:pt x="13" y="4"/>
                    <a:pt x="13" y="3"/>
                    <a:pt x="13" y="1"/>
                  </a:cubicBezTo>
                  <a:cubicBezTo>
                    <a:pt x="13" y="1"/>
                    <a:pt x="13" y="1"/>
                    <a:pt x="14" y="0"/>
                  </a:cubicBezTo>
                  <a:cubicBezTo>
                    <a:pt x="15" y="0"/>
                    <a:pt x="15" y="0"/>
                    <a:pt x="16" y="1"/>
                  </a:cubicBezTo>
                  <a:cubicBezTo>
                    <a:pt x="18" y="3"/>
                    <a:pt x="14" y="11"/>
                    <a:pt x="18" y="12"/>
                  </a:cubicBezTo>
                  <a:cubicBezTo>
                    <a:pt x="19" y="11"/>
                    <a:pt x="18" y="9"/>
                    <a:pt x="17" y="8"/>
                  </a:cubicBezTo>
                  <a:cubicBezTo>
                    <a:pt x="17" y="6"/>
                    <a:pt x="20" y="4"/>
                    <a:pt x="22" y="3"/>
                  </a:cubicBezTo>
                  <a:cubicBezTo>
                    <a:pt x="26" y="3"/>
                    <a:pt x="25" y="4"/>
                    <a:pt x="25" y="7"/>
                  </a:cubicBezTo>
                  <a:cubicBezTo>
                    <a:pt x="26" y="7"/>
                    <a:pt x="26" y="8"/>
                    <a:pt x="26" y="8"/>
                  </a:cubicBezTo>
                  <a:cubicBezTo>
                    <a:pt x="30" y="11"/>
                    <a:pt x="30" y="11"/>
                    <a:pt x="35" y="15"/>
                  </a:cubicBezTo>
                  <a:cubicBezTo>
                    <a:pt x="36" y="16"/>
                    <a:pt x="37" y="17"/>
                    <a:pt x="37" y="19"/>
                  </a:cubicBezTo>
                  <a:cubicBezTo>
                    <a:pt x="37" y="19"/>
                    <a:pt x="37" y="19"/>
                    <a:pt x="37" y="20"/>
                  </a:cubicBezTo>
                  <a:cubicBezTo>
                    <a:pt x="37" y="20"/>
                    <a:pt x="37" y="20"/>
                    <a:pt x="37" y="20"/>
                  </a:cubicBezTo>
                  <a:cubicBezTo>
                    <a:pt x="38" y="21"/>
                    <a:pt x="38" y="24"/>
                    <a:pt x="36" y="24"/>
                  </a:cubicBezTo>
                  <a:cubicBezTo>
                    <a:pt x="32" y="21"/>
                    <a:pt x="27" y="18"/>
                    <a:pt x="23" y="15"/>
                  </a:cubicBezTo>
                  <a:cubicBezTo>
                    <a:pt x="23" y="15"/>
                    <a:pt x="23" y="15"/>
                    <a:pt x="23" y="15"/>
                  </a:cubicBezTo>
                  <a:cubicBezTo>
                    <a:pt x="25" y="17"/>
                    <a:pt x="27" y="22"/>
                    <a:pt x="27" y="25"/>
                  </a:cubicBezTo>
                  <a:cubicBezTo>
                    <a:pt x="26" y="26"/>
                    <a:pt x="24" y="27"/>
                    <a:pt x="22" y="27"/>
                  </a:cubicBezTo>
                  <a:cubicBezTo>
                    <a:pt x="22" y="26"/>
                    <a:pt x="22" y="26"/>
                    <a:pt x="22" y="25"/>
                  </a:cubicBezTo>
                  <a:cubicBezTo>
                    <a:pt x="21" y="23"/>
                    <a:pt x="17" y="21"/>
                    <a:pt x="15" y="19"/>
                  </a:cubicBezTo>
                  <a:cubicBezTo>
                    <a:pt x="14" y="21"/>
                    <a:pt x="16" y="25"/>
                    <a:pt x="16" y="27"/>
                  </a:cubicBezTo>
                  <a:cubicBezTo>
                    <a:pt x="16" y="28"/>
                    <a:pt x="16" y="30"/>
                    <a:pt x="17" y="31"/>
                  </a:cubicBezTo>
                  <a:cubicBezTo>
                    <a:pt x="18" y="32"/>
                    <a:pt x="19" y="34"/>
                    <a:pt x="21" y="35"/>
                  </a:cubicBezTo>
                  <a:cubicBezTo>
                    <a:pt x="21" y="36"/>
                    <a:pt x="22" y="37"/>
                    <a:pt x="22" y="38"/>
                  </a:cubicBezTo>
                  <a:cubicBezTo>
                    <a:pt x="22" y="38"/>
                    <a:pt x="22" y="38"/>
                    <a:pt x="22" y="39"/>
                  </a:cubicBezTo>
                  <a:cubicBezTo>
                    <a:pt x="23" y="40"/>
                    <a:pt x="24" y="44"/>
                    <a:pt x="22" y="44"/>
                  </a:cubicBezTo>
                  <a:cubicBezTo>
                    <a:pt x="21" y="44"/>
                    <a:pt x="21" y="44"/>
                    <a:pt x="21" y="44"/>
                  </a:cubicBezTo>
                  <a:cubicBezTo>
                    <a:pt x="20" y="41"/>
                    <a:pt x="18" y="39"/>
                    <a:pt x="17" y="38"/>
                  </a:cubicBezTo>
                  <a:cubicBezTo>
                    <a:pt x="16" y="40"/>
                    <a:pt x="17" y="42"/>
                    <a:pt x="16" y="44"/>
                  </a:cubicBezTo>
                  <a:cubicBezTo>
                    <a:pt x="15" y="45"/>
                    <a:pt x="14" y="46"/>
                    <a:pt x="13" y="46"/>
                  </a:cubicBezTo>
                  <a:cubicBezTo>
                    <a:pt x="13" y="46"/>
                    <a:pt x="13" y="46"/>
                    <a:pt x="13" y="46"/>
                  </a:cubicBezTo>
                  <a:cubicBezTo>
                    <a:pt x="12" y="46"/>
                    <a:pt x="12" y="46"/>
                    <a:pt x="12" y="47"/>
                  </a:cubicBezTo>
                  <a:cubicBezTo>
                    <a:pt x="12" y="48"/>
                    <a:pt x="13" y="49"/>
                    <a:pt x="14" y="50"/>
                  </a:cubicBezTo>
                  <a:cubicBezTo>
                    <a:pt x="16" y="54"/>
                    <a:pt x="19" y="58"/>
                    <a:pt x="23" y="62"/>
                  </a:cubicBezTo>
                  <a:cubicBezTo>
                    <a:pt x="23" y="63"/>
                    <a:pt x="23" y="63"/>
                    <a:pt x="22" y="6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35" name="Freeform 134">
              <a:extLst>
                <a:ext uri="{FF2B5EF4-FFF2-40B4-BE49-F238E27FC236}">
                  <a16:creationId xmlns:a16="http://schemas.microsoft.com/office/drawing/2014/main" id="{66431074-2E63-4CB7-88F5-99157460E00D}"/>
                </a:ext>
              </a:extLst>
            </p:cNvPr>
            <p:cNvSpPr>
              <a:spLocks/>
            </p:cNvSpPr>
            <p:nvPr userDrawn="1"/>
          </p:nvSpPr>
          <p:spPr bwMode="auto">
            <a:xfrm>
              <a:off x="4303306" y="3235510"/>
              <a:ext cx="98319" cy="83193"/>
            </a:xfrm>
            <a:custGeom>
              <a:avLst/>
              <a:gdLst>
                <a:gd name="T0" fmla="*/ 9 w 11"/>
                <a:gd name="T1" fmla="*/ 9 h 9"/>
                <a:gd name="T2" fmla="*/ 7 w 11"/>
                <a:gd name="T3" fmla="*/ 7 h 9"/>
                <a:gd name="T4" fmla="*/ 0 w 11"/>
                <a:gd name="T5" fmla="*/ 2 h 9"/>
                <a:gd name="T6" fmla="*/ 0 w 11"/>
                <a:gd name="T7" fmla="*/ 1 h 9"/>
                <a:gd name="T8" fmla="*/ 7 w 11"/>
                <a:gd name="T9" fmla="*/ 0 h 9"/>
                <a:gd name="T10" fmla="*/ 9 w 11"/>
                <a:gd name="T11" fmla="*/ 9 h 9"/>
              </a:gdLst>
              <a:ahLst/>
              <a:cxnLst>
                <a:cxn ang="0">
                  <a:pos x="T0" y="T1"/>
                </a:cxn>
                <a:cxn ang="0">
                  <a:pos x="T2" y="T3"/>
                </a:cxn>
                <a:cxn ang="0">
                  <a:pos x="T4" y="T5"/>
                </a:cxn>
                <a:cxn ang="0">
                  <a:pos x="T6" y="T7"/>
                </a:cxn>
                <a:cxn ang="0">
                  <a:pos x="T8" y="T9"/>
                </a:cxn>
                <a:cxn ang="0">
                  <a:pos x="T10" y="T11"/>
                </a:cxn>
              </a:cxnLst>
              <a:rect l="0" t="0" r="r" b="b"/>
              <a:pathLst>
                <a:path w="11" h="9">
                  <a:moveTo>
                    <a:pt x="9" y="9"/>
                  </a:moveTo>
                  <a:cubicBezTo>
                    <a:pt x="8" y="9"/>
                    <a:pt x="7" y="8"/>
                    <a:pt x="7" y="7"/>
                  </a:cubicBezTo>
                  <a:cubicBezTo>
                    <a:pt x="3" y="6"/>
                    <a:pt x="1" y="5"/>
                    <a:pt x="0" y="2"/>
                  </a:cubicBezTo>
                  <a:cubicBezTo>
                    <a:pt x="0" y="2"/>
                    <a:pt x="0" y="2"/>
                    <a:pt x="0" y="1"/>
                  </a:cubicBezTo>
                  <a:cubicBezTo>
                    <a:pt x="2" y="1"/>
                    <a:pt x="5" y="0"/>
                    <a:pt x="7" y="0"/>
                  </a:cubicBezTo>
                  <a:cubicBezTo>
                    <a:pt x="11" y="1"/>
                    <a:pt x="10" y="6"/>
                    <a:pt x="9" y="9"/>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36" name="Freeform 135">
              <a:extLst>
                <a:ext uri="{FF2B5EF4-FFF2-40B4-BE49-F238E27FC236}">
                  <a16:creationId xmlns:a16="http://schemas.microsoft.com/office/drawing/2014/main" id="{7FD50E61-7E60-4EB5-B925-49879EF52C9F}"/>
                </a:ext>
              </a:extLst>
            </p:cNvPr>
            <p:cNvSpPr>
              <a:spLocks/>
            </p:cNvSpPr>
            <p:nvPr userDrawn="1"/>
          </p:nvSpPr>
          <p:spPr bwMode="auto">
            <a:xfrm>
              <a:off x="4212550" y="3137191"/>
              <a:ext cx="105882" cy="98319"/>
            </a:xfrm>
            <a:custGeom>
              <a:avLst/>
              <a:gdLst>
                <a:gd name="T0" fmla="*/ 10 w 11"/>
                <a:gd name="T1" fmla="*/ 10 h 10"/>
                <a:gd name="T2" fmla="*/ 9 w 11"/>
                <a:gd name="T3" fmla="*/ 10 h 10"/>
                <a:gd name="T4" fmla="*/ 8 w 11"/>
                <a:gd name="T5" fmla="*/ 8 h 10"/>
                <a:gd name="T6" fmla="*/ 1 w 11"/>
                <a:gd name="T7" fmla="*/ 2 h 10"/>
                <a:gd name="T8" fmla="*/ 4 w 11"/>
                <a:gd name="T9" fmla="*/ 2 h 10"/>
                <a:gd name="T10" fmla="*/ 11 w 11"/>
                <a:gd name="T11" fmla="*/ 5 h 10"/>
                <a:gd name="T12" fmla="*/ 10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10" y="10"/>
                  </a:moveTo>
                  <a:cubicBezTo>
                    <a:pt x="9" y="10"/>
                    <a:pt x="9" y="10"/>
                    <a:pt x="9" y="10"/>
                  </a:cubicBezTo>
                  <a:cubicBezTo>
                    <a:pt x="8" y="9"/>
                    <a:pt x="8" y="9"/>
                    <a:pt x="8" y="8"/>
                  </a:cubicBezTo>
                  <a:cubicBezTo>
                    <a:pt x="4" y="8"/>
                    <a:pt x="0" y="6"/>
                    <a:pt x="1" y="2"/>
                  </a:cubicBezTo>
                  <a:cubicBezTo>
                    <a:pt x="2" y="1"/>
                    <a:pt x="2" y="2"/>
                    <a:pt x="4" y="2"/>
                  </a:cubicBezTo>
                  <a:cubicBezTo>
                    <a:pt x="7" y="2"/>
                    <a:pt x="11" y="0"/>
                    <a:pt x="11" y="5"/>
                  </a:cubicBezTo>
                  <a:cubicBezTo>
                    <a:pt x="11" y="6"/>
                    <a:pt x="10" y="8"/>
                    <a:pt x="10" y="10"/>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37" name="Freeform 136">
              <a:extLst>
                <a:ext uri="{FF2B5EF4-FFF2-40B4-BE49-F238E27FC236}">
                  <a16:creationId xmlns:a16="http://schemas.microsoft.com/office/drawing/2014/main" id="{1E3786E1-A3C6-418E-861D-ABB4A61CF00B}"/>
                </a:ext>
              </a:extLst>
            </p:cNvPr>
            <p:cNvSpPr>
              <a:spLocks/>
            </p:cNvSpPr>
            <p:nvPr userDrawn="1"/>
          </p:nvSpPr>
          <p:spPr bwMode="auto">
            <a:xfrm>
              <a:off x="4749525" y="3212821"/>
              <a:ext cx="1232773" cy="1066386"/>
            </a:xfrm>
            <a:custGeom>
              <a:avLst/>
              <a:gdLst>
                <a:gd name="T0" fmla="*/ 132 w 132"/>
                <a:gd name="T1" fmla="*/ 6 h 113"/>
                <a:gd name="T2" fmla="*/ 98 w 132"/>
                <a:gd name="T3" fmla="*/ 6 h 113"/>
                <a:gd name="T4" fmla="*/ 79 w 132"/>
                <a:gd name="T5" fmla="*/ 25 h 113"/>
                <a:gd name="T6" fmla="*/ 73 w 132"/>
                <a:gd name="T7" fmla="*/ 12 h 113"/>
                <a:gd name="T8" fmla="*/ 83 w 132"/>
                <a:gd name="T9" fmla="*/ 8 h 113"/>
                <a:gd name="T10" fmla="*/ 57 w 132"/>
                <a:gd name="T11" fmla="*/ 8 h 113"/>
                <a:gd name="T12" fmla="*/ 53 w 132"/>
                <a:gd name="T13" fmla="*/ 25 h 113"/>
                <a:gd name="T14" fmla="*/ 34 w 132"/>
                <a:gd name="T15" fmla="*/ 6 h 113"/>
                <a:gd name="T16" fmla="*/ 0 w 132"/>
                <a:gd name="T17" fmla="*/ 6 h 113"/>
                <a:gd name="T18" fmla="*/ 24 w 132"/>
                <a:gd name="T19" fmla="*/ 16 h 113"/>
                <a:gd name="T20" fmla="*/ 27 w 132"/>
                <a:gd name="T21" fmla="*/ 22 h 113"/>
                <a:gd name="T22" fmla="*/ 9 w 132"/>
                <a:gd name="T23" fmla="*/ 22 h 113"/>
                <a:gd name="T24" fmla="*/ 31 w 132"/>
                <a:gd name="T25" fmla="*/ 32 h 113"/>
                <a:gd name="T26" fmla="*/ 34 w 132"/>
                <a:gd name="T27" fmla="*/ 38 h 113"/>
                <a:gd name="T28" fmla="*/ 20 w 132"/>
                <a:gd name="T29" fmla="*/ 39 h 113"/>
                <a:gd name="T30" fmla="*/ 38 w 132"/>
                <a:gd name="T31" fmla="*/ 48 h 113"/>
                <a:gd name="T32" fmla="*/ 41 w 132"/>
                <a:gd name="T33" fmla="*/ 54 h 113"/>
                <a:gd name="T34" fmla="*/ 30 w 132"/>
                <a:gd name="T35" fmla="*/ 54 h 113"/>
                <a:gd name="T36" fmla="*/ 45 w 132"/>
                <a:gd name="T37" fmla="*/ 63 h 113"/>
                <a:gd name="T38" fmla="*/ 47 w 132"/>
                <a:gd name="T39" fmla="*/ 69 h 113"/>
                <a:gd name="T40" fmla="*/ 39 w 132"/>
                <a:gd name="T41" fmla="*/ 69 h 113"/>
                <a:gd name="T42" fmla="*/ 51 w 132"/>
                <a:gd name="T43" fmla="*/ 78 h 113"/>
                <a:gd name="T44" fmla="*/ 51 w 132"/>
                <a:gd name="T45" fmla="*/ 89 h 113"/>
                <a:gd name="T46" fmla="*/ 66 w 132"/>
                <a:gd name="T47" fmla="*/ 113 h 113"/>
                <a:gd name="T48" fmla="*/ 81 w 132"/>
                <a:gd name="T49" fmla="*/ 89 h 113"/>
                <a:gd name="T50" fmla="*/ 81 w 132"/>
                <a:gd name="T51" fmla="*/ 78 h 113"/>
                <a:gd name="T52" fmla="*/ 92 w 132"/>
                <a:gd name="T53" fmla="*/ 69 h 113"/>
                <a:gd name="T54" fmla="*/ 85 w 132"/>
                <a:gd name="T55" fmla="*/ 69 h 113"/>
                <a:gd name="T56" fmla="*/ 87 w 132"/>
                <a:gd name="T57" fmla="*/ 63 h 113"/>
                <a:gd name="T58" fmla="*/ 102 w 132"/>
                <a:gd name="T59" fmla="*/ 54 h 113"/>
                <a:gd name="T60" fmla="*/ 91 w 132"/>
                <a:gd name="T61" fmla="*/ 54 h 113"/>
                <a:gd name="T62" fmla="*/ 93 w 132"/>
                <a:gd name="T63" fmla="*/ 48 h 113"/>
                <a:gd name="T64" fmla="*/ 111 w 132"/>
                <a:gd name="T65" fmla="*/ 39 h 113"/>
                <a:gd name="T66" fmla="*/ 97 w 132"/>
                <a:gd name="T67" fmla="*/ 38 h 113"/>
                <a:gd name="T68" fmla="*/ 100 w 132"/>
                <a:gd name="T69" fmla="*/ 32 h 113"/>
                <a:gd name="T70" fmla="*/ 123 w 132"/>
                <a:gd name="T71" fmla="*/ 22 h 113"/>
                <a:gd name="T72" fmla="*/ 105 w 132"/>
                <a:gd name="T73" fmla="*/ 22 h 113"/>
                <a:gd name="T74" fmla="*/ 107 w 132"/>
                <a:gd name="T75" fmla="*/ 16 h 113"/>
                <a:gd name="T76" fmla="*/ 132 w 132"/>
                <a:gd name="T77" fmla="*/ 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2" h="113">
                  <a:moveTo>
                    <a:pt x="132" y="6"/>
                  </a:moveTo>
                  <a:cubicBezTo>
                    <a:pt x="98" y="6"/>
                    <a:pt x="98" y="6"/>
                    <a:pt x="98" y="6"/>
                  </a:cubicBezTo>
                  <a:cubicBezTo>
                    <a:pt x="88" y="6"/>
                    <a:pt x="83" y="16"/>
                    <a:pt x="79" y="25"/>
                  </a:cubicBezTo>
                  <a:cubicBezTo>
                    <a:pt x="73" y="12"/>
                    <a:pt x="73" y="12"/>
                    <a:pt x="73" y="12"/>
                  </a:cubicBezTo>
                  <a:cubicBezTo>
                    <a:pt x="83" y="8"/>
                    <a:pt x="83" y="8"/>
                    <a:pt x="83" y="8"/>
                  </a:cubicBezTo>
                  <a:cubicBezTo>
                    <a:pt x="77" y="3"/>
                    <a:pt x="59" y="0"/>
                    <a:pt x="57" y="8"/>
                  </a:cubicBezTo>
                  <a:cubicBezTo>
                    <a:pt x="53" y="25"/>
                    <a:pt x="53" y="25"/>
                    <a:pt x="53" y="25"/>
                  </a:cubicBezTo>
                  <a:cubicBezTo>
                    <a:pt x="50" y="17"/>
                    <a:pt x="45" y="6"/>
                    <a:pt x="34" y="6"/>
                  </a:cubicBezTo>
                  <a:cubicBezTo>
                    <a:pt x="0" y="6"/>
                    <a:pt x="0" y="6"/>
                    <a:pt x="0" y="6"/>
                  </a:cubicBezTo>
                  <a:cubicBezTo>
                    <a:pt x="4" y="14"/>
                    <a:pt x="8" y="17"/>
                    <a:pt x="24" y="16"/>
                  </a:cubicBezTo>
                  <a:cubicBezTo>
                    <a:pt x="27" y="22"/>
                    <a:pt x="27" y="22"/>
                    <a:pt x="27" y="22"/>
                  </a:cubicBezTo>
                  <a:cubicBezTo>
                    <a:pt x="9" y="22"/>
                    <a:pt x="9" y="22"/>
                    <a:pt x="9" y="22"/>
                  </a:cubicBezTo>
                  <a:cubicBezTo>
                    <a:pt x="14" y="32"/>
                    <a:pt x="17" y="32"/>
                    <a:pt x="31" y="32"/>
                  </a:cubicBezTo>
                  <a:cubicBezTo>
                    <a:pt x="34" y="38"/>
                    <a:pt x="34" y="38"/>
                    <a:pt x="34" y="38"/>
                  </a:cubicBezTo>
                  <a:cubicBezTo>
                    <a:pt x="20" y="39"/>
                    <a:pt x="20" y="39"/>
                    <a:pt x="20" y="39"/>
                  </a:cubicBezTo>
                  <a:cubicBezTo>
                    <a:pt x="23" y="45"/>
                    <a:pt x="27" y="48"/>
                    <a:pt x="38" y="48"/>
                  </a:cubicBezTo>
                  <a:cubicBezTo>
                    <a:pt x="41" y="54"/>
                    <a:pt x="41" y="54"/>
                    <a:pt x="41" y="54"/>
                  </a:cubicBezTo>
                  <a:cubicBezTo>
                    <a:pt x="30" y="54"/>
                    <a:pt x="30" y="54"/>
                    <a:pt x="30" y="54"/>
                  </a:cubicBezTo>
                  <a:cubicBezTo>
                    <a:pt x="34" y="61"/>
                    <a:pt x="36" y="64"/>
                    <a:pt x="45" y="63"/>
                  </a:cubicBezTo>
                  <a:cubicBezTo>
                    <a:pt x="47" y="69"/>
                    <a:pt x="47" y="69"/>
                    <a:pt x="47" y="69"/>
                  </a:cubicBezTo>
                  <a:cubicBezTo>
                    <a:pt x="39" y="69"/>
                    <a:pt x="39" y="69"/>
                    <a:pt x="39" y="69"/>
                  </a:cubicBezTo>
                  <a:cubicBezTo>
                    <a:pt x="43" y="77"/>
                    <a:pt x="46" y="77"/>
                    <a:pt x="51" y="78"/>
                  </a:cubicBezTo>
                  <a:cubicBezTo>
                    <a:pt x="55" y="78"/>
                    <a:pt x="56" y="86"/>
                    <a:pt x="51" y="89"/>
                  </a:cubicBezTo>
                  <a:cubicBezTo>
                    <a:pt x="66" y="113"/>
                    <a:pt x="66" y="113"/>
                    <a:pt x="66" y="113"/>
                  </a:cubicBezTo>
                  <a:cubicBezTo>
                    <a:pt x="81" y="89"/>
                    <a:pt x="81" y="89"/>
                    <a:pt x="81" y="89"/>
                  </a:cubicBezTo>
                  <a:cubicBezTo>
                    <a:pt x="76" y="86"/>
                    <a:pt x="76" y="78"/>
                    <a:pt x="81" y="78"/>
                  </a:cubicBezTo>
                  <a:cubicBezTo>
                    <a:pt x="85" y="77"/>
                    <a:pt x="89" y="77"/>
                    <a:pt x="92" y="69"/>
                  </a:cubicBezTo>
                  <a:cubicBezTo>
                    <a:pt x="85" y="69"/>
                    <a:pt x="85" y="69"/>
                    <a:pt x="85" y="69"/>
                  </a:cubicBezTo>
                  <a:cubicBezTo>
                    <a:pt x="87" y="63"/>
                    <a:pt x="87" y="63"/>
                    <a:pt x="87" y="63"/>
                  </a:cubicBezTo>
                  <a:cubicBezTo>
                    <a:pt x="96" y="64"/>
                    <a:pt x="98" y="60"/>
                    <a:pt x="102" y="54"/>
                  </a:cubicBezTo>
                  <a:cubicBezTo>
                    <a:pt x="91" y="54"/>
                    <a:pt x="91" y="54"/>
                    <a:pt x="91" y="54"/>
                  </a:cubicBezTo>
                  <a:cubicBezTo>
                    <a:pt x="93" y="48"/>
                    <a:pt x="93" y="48"/>
                    <a:pt x="93" y="48"/>
                  </a:cubicBezTo>
                  <a:cubicBezTo>
                    <a:pt x="105" y="48"/>
                    <a:pt x="108" y="45"/>
                    <a:pt x="111" y="39"/>
                  </a:cubicBezTo>
                  <a:cubicBezTo>
                    <a:pt x="97" y="38"/>
                    <a:pt x="97" y="38"/>
                    <a:pt x="97" y="38"/>
                  </a:cubicBezTo>
                  <a:cubicBezTo>
                    <a:pt x="100" y="32"/>
                    <a:pt x="100" y="32"/>
                    <a:pt x="100" y="32"/>
                  </a:cubicBezTo>
                  <a:cubicBezTo>
                    <a:pt x="115" y="32"/>
                    <a:pt x="118" y="32"/>
                    <a:pt x="123" y="22"/>
                  </a:cubicBezTo>
                  <a:cubicBezTo>
                    <a:pt x="105" y="22"/>
                    <a:pt x="105" y="22"/>
                    <a:pt x="105" y="22"/>
                  </a:cubicBezTo>
                  <a:cubicBezTo>
                    <a:pt x="107" y="16"/>
                    <a:pt x="107" y="16"/>
                    <a:pt x="107" y="16"/>
                  </a:cubicBezTo>
                  <a:cubicBezTo>
                    <a:pt x="123" y="17"/>
                    <a:pt x="128" y="14"/>
                    <a:pt x="132" y="6"/>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38" name="Freeform 137">
              <a:extLst>
                <a:ext uri="{FF2B5EF4-FFF2-40B4-BE49-F238E27FC236}">
                  <a16:creationId xmlns:a16="http://schemas.microsoft.com/office/drawing/2014/main" id="{A6ADCDE7-AA77-48D7-A55E-1065D262FFAD}"/>
                </a:ext>
              </a:extLst>
            </p:cNvPr>
            <p:cNvSpPr>
              <a:spLocks noEditPoints="1"/>
            </p:cNvSpPr>
            <p:nvPr userDrawn="1"/>
          </p:nvSpPr>
          <p:spPr bwMode="auto">
            <a:xfrm>
              <a:off x="6004987" y="2993493"/>
              <a:ext cx="484034" cy="325210"/>
            </a:xfrm>
            <a:custGeom>
              <a:avLst/>
              <a:gdLst>
                <a:gd name="T0" fmla="*/ 51 w 52"/>
                <a:gd name="T1" fmla="*/ 10 h 34"/>
                <a:gd name="T2" fmla="*/ 48 w 52"/>
                <a:gd name="T3" fmla="*/ 10 h 34"/>
                <a:gd name="T4" fmla="*/ 47 w 52"/>
                <a:gd name="T5" fmla="*/ 8 h 34"/>
                <a:gd name="T6" fmla="*/ 50 w 52"/>
                <a:gd name="T7" fmla="*/ 7 h 34"/>
                <a:gd name="T8" fmla="*/ 52 w 52"/>
                <a:gd name="T9" fmla="*/ 2 h 34"/>
                <a:gd name="T10" fmla="*/ 44 w 52"/>
                <a:gd name="T11" fmla="*/ 3 h 34"/>
                <a:gd name="T12" fmla="*/ 36 w 52"/>
                <a:gd name="T13" fmla="*/ 1 h 34"/>
                <a:gd name="T14" fmla="*/ 36 w 52"/>
                <a:gd name="T15" fmla="*/ 3 h 34"/>
                <a:gd name="T16" fmla="*/ 35 w 52"/>
                <a:gd name="T17" fmla="*/ 4 h 34"/>
                <a:gd name="T18" fmla="*/ 35 w 52"/>
                <a:gd name="T19" fmla="*/ 5 h 34"/>
                <a:gd name="T20" fmla="*/ 34 w 52"/>
                <a:gd name="T21" fmla="*/ 7 h 34"/>
                <a:gd name="T22" fmla="*/ 34 w 52"/>
                <a:gd name="T23" fmla="*/ 6 h 34"/>
                <a:gd name="T24" fmla="*/ 30 w 52"/>
                <a:gd name="T25" fmla="*/ 5 h 34"/>
                <a:gd name="T26" fmla="*/ 28 w 52"/>
                <a:gd name="T27" fmla="*/ 9 h 34"/>
                <a:gd name="T28" fmla="*/ 28 w 52"/>
                <a:gd name="T29" fmla="*/ 10 h 34"/>
                <a:gd name="T30" fmla="*/ 31 w 52"/>
                <a:gd name="T31" fmla="*/ 11 h 34"/>
                <a:gd name="T32" fmla="*/ 33 w 52"/>
                <a:gd name="T33" fmla="*/ 12 h 34"/>
                <a:gd name="T34" fmla="*/ 30 w 52"/>
                <a:gd name="T35" fmla="*/ 14 h 34"/>
                <a:gd name="T36" fmla="*/ 26 w 52"/>
                <a:gd name="T37" fmla="*/ 14 h 34"/>
                <a:gd name="T38" fmla="*/ 13 w 52"/>
                <a:gd name="T39" fmla="*/ 11 h 34"/>
                <a:gd name="T40" fmla="*/ 13 w 52"/>
                <a:gd name="T41" fmla="*/ 12 h 34"/>
                <a:gd name="T42" fmla="*/ 20 w 52"/>
                <a:gd name="T43" fmla="*/ 16 h 34"/>
                <a:gd name="T44" fmla="*/ 32 w 52"/>
                <a:gd name="T45" fmla="*/ 20 h 34"/>
                <a:gd name="T46" fmla="*/ 31 w 52"/>
                <a:gd name="T47" fmla="*/ 20 h 34"/>
                <a:gd name="T48" fmla="*/ 24 w 52"/>
                <a:gd name="T49" fmla="*/ 20 h 34"/>
                <a:gd name="T50" fmla="*/ 19 w 52"/>
                <a:gd name="T51" fmla="*/ 19 h 34"/>
                <a:gd name="T52" fmla="*/ 18 w 52"/>
                <a:gd name="T53" fmla="*/ 19 h 34"/>
                <a:gd name="T54" fmla="*/ 4 w 52"/>
                <a:gd name="T55" fmla="*/ 14 h 34"/>
                <a:gd name="T56" fmla="*/ 2 w 52"/>
                <a:gd name="T57" fmla="*/ 12 h 34"/>
                <a:gd name="T58" fmla="*/ 3 w 52"/>
                <a:gd name="T59" fmla="*/ 20 h 34"/>
                <a:gd name="T60" fmla="*/ 13 w 52"/>
                <a:gd name="T61" fmla="*/ 23 h 34"/>
                <a:gd name="T62" fmla="*/ 13 w 52"/>
                <a:gd name="T63" fmla="*/ 24 h 34"/>
                <a:gd name="T64" fmla="*/ 9 w 52"/>
                <a:gd name="T65" fmla="*/ 27 h 34"/>
                <a:gd name="T66" fmla="*/ 4 w 52"/>
                <a:gd name="T67" fmla="*/ 26 h 34"/>
                <a:gd name="T68" fmla="*/ 9 w 52"/>
                <a:gd name="T69" fmla="*/ 33 h 34"/>
                <a:gd name="T70" fmla="*/ 10 w 52"/>
                <a:gd name="T71" fmla="*/ 34 h 34"/>
                <a:gd name="T72" fmla="*/ 18 w 52"/>
                <a:gd name="T73" fmla="*/ 28 h 34"/>
                <a:gd name="T74" fmla="*/ 23 w 52"/>
                <a:gd name="T75" fmla="*/ 28 h 34"/>
                <a:gd name="T76" fmla="*/ 22 w 52"/>
                <a:gd name="T77" fmla="*/ 23 h 34"/>
                <a:gd name="T78" fmla="*/ 23 w 52"/>
                <a:gd name="T79" fmla="*/ 21 h 34"/>
                <a:gd name="T80" fmla="*/ 30 w 52"/>
                <a:gd name="T81" fmla="*/ 22 h 34"/>
                <a:gd name="T82" fmla="*/ 36 w 52"/>
                <a:gd name="T83" fmla="*/ 25 h 34"/>
                <a:gd name="T84" fmla="*/ 39 w 52"/>
                <a:gd name="T85" fmla="*/ 21 h 34"/>
                <a:gd name="T86" fmla="*/ 39 w 52"/>
                <a:gd name="T87" fmla="*/ 20 h 34"/>
                <a:gd name="T88" fmla="*/ 51 w 52"/>
                <a:gd name="T89" fmla="*/ 14 h 34"/>
                <a:gd name="T90" fmla="*/ 38 w 52"/>
                <a:gd name="T91" fmla="*/ 14 h 34"/>
                <a:gd name="T92" fmla="*/ 38 w 52"/>
                <a:gd name="T93" fmla="*/ 12 h 34"/>
                <a:gd name="T94" fmla="*/ 36 w 52"/>
                <a:gd name="T95" fmla="*/ 11 h 34"/>
                <a:gd name="T96" fmla="*/ 36 w 52"/>
                <a:gd name="T97" fmla="*/ 10 h 34"/>
                <a:gd name="T98" fmla="*/ 40 w 52"/>
                <a:gd name="T99" fmla="*/ 9 h 34"/>
                <a:gd name="T100" fmla="*/ 43 w 52"/>
                <a:gd name="T101" fmla="*/ 14 h 34"/>
                <a:gd name="T102" fmla="*/ 38 w 52"/>
                <a:gd name="T103" fmla="*/ 1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 h="34">
                  <a:moveTo>
                    <a:pt x="51" y="13"/>
                  </a:moveTo>
                  <a:cubicBezTo>
                    <a:pt x="51" y="12"/>
                    <a:pt x="51" y="12"/>
                    <a:pt x="51" y="12"/>
                  </a:cubicBezTo>
                  <a:cubicBezTo>
                    <a:pt x="51" y="11"/>
                    <a:pt x="51" y="11"/>
                    <a:pt x="51" y="10"/>
                  </a:cubicBezTo>
                  <a:cubicBezTo>
                    <a:pt x="51" y="10"/>
                    <a:pt x="50" y="10"/>
                    <a:pt x="50" y="10"/>
                  </a:cubicBezTo>
                  <a:cubicBezTo>
                    <a:pt x="49" y="10"/>
                    <a:pt x="49" y="10"/>
                    <a:pt x="49" y="10"/>
                  </a:cubicBezTo>
                  <a:cubicBezTo>
                    <a:pt x="48" y="10"/>
                    <a:pt x="48" y="10"/>
                    <a:pt x="48" y="10"/>
                  </a:cubicBezTo>
                  <a:cubicBezTo>
                    <a:pt x="48" y="9"/>
                    <a:pt x="48" y="9"/>
                    <a:pt x="48" y="9"/>
                  </a:cubicBezTo>
                  <a:cubicBezTo>
                    <a:pt x="48" y="9"/>
                    <a:pt x="48" y="9"/>
                    <a:pt x="48" y="9"/>
                  </a:cubicBezTo>
                  <a:cubicBezTo>
                    <a:pt x="47" y="8"/>
                    <a:pt x="47" y="8"/>
                    <a:pt x="47" y="8"/>
                  </a:cubicBezTo>
                  <a:cubicBezTo>
                    <a:pt x="47" y="8"/>
                    <a:pt x="47" y="8"/>
                    <a:pt x="47" y="8"/>
                  </a:cubicBezTo>
                  <a:cubicBezTo>
                    <a:pt x="48" y="8"/>
                    <a:pt x="48" y="8"/>
                    <a:pt x="48" y="8"/>
                  </a:cubicBezTo>
                  <a:cubicBezTo>
                    <a:pt x="48" y="7"/>
                    <a:pt x="49" y="7"/>
                    <a:pt x="50" y="7"/>
                  </a:cubicBezTo>
                  <a:cubicBezTo>
                    <a:pt x="50" y="7"/>
                    <a:pt x="50" y="7"/>
                    <a:pt x="50" y="7"/>
                  </a:cubicBezTo>
                  <a:cubicBezTo>
                    <a:pt x="50" y="7"/>
                    <a:pt x="50" y="7"/>
                    <a:pt x="50" y="7"/>
                  </a:cubicBezTo>
                  <a:cubicBezTo>
                    <a:pt x="51" y="6"/>
                    <a:pt x="52" y="4"/>
                    <a:pt x="52" y="2"/>
                  </a:cubicBezTo>
                  <a:cubicBezTo>
                    <a:pt x="52" y="2"/>
                    <a:pt x="51" y="2"/>
                    <a:pt x="50" y="2"/>
                  </a:cubicBezTo>
                  <a:cubicBezTo>
                    <a:pt x="49" y="2"/>
                    <a:pt x="48" y="2"/>
                    <a:pt x="46" y="3"/>
                  </a:cubicBezTo>
                  <a:cubicBezTo>
                    <a:pt x="46" y="3"/>
                    <a:pt x="45" y="3"/>
                    <a:pt x="44" y="3"/>
                  </a:cubicBezTo>
                  <a:cubicBezTo>
                    <a:pt x="43" y="3"/>
                    <a:pt x="43" y="3"/>
                    <a:pt x="43" y="3"/>
                  </a:cubicBezTo>
                  <a:cubicBezTo>
                    <a:pt x="41" y="2"/>
                    <a:pt x="41" y="2"/>
                    <a:pt x="36" y="0"/>
                  </a:cubicBezTo>
                  <a:cubicBezTo>
                    <a:pt x="36" y="0"/>
                    <a:pt x="36" y="0"/>
                    <a:pt x="36" y="1"/>
                  </a:cubicBezTo>
                  <a:cubicBezTo>
                    <a:pt x="35" y="1"/>
                    <a:pt x="35" y="2"/>
                    <a:pt x="36" y="3"/>
                  </a:cubicBezTo>
                  <a:cubicBezTo>
                    <a:pt x="36" y="3"/>
                    <a:pt x="36" y="3"/>
                    <a:pt x="36" y="3"/>
                  </a:cubicBezTo>
                  <a:cubicBezTo>
                    <a:pt x="36" y="3"/>
                    <a:pt x="36" y="3"/>
                    <a:pt x="36" y="3"/>
                  </a:cubicBezTo>
                  <a:cubicBezTo>
                    <a:pt x="36" y="3"/>
                    <a:pt x="36" y="3"/>
                    <a:pt x="36" y="3"/>
                  </a:cubicBezTo>
                  <a:cubicBezTo>
                    <a:pt x="35" y="4"/>
                    <a:pt x="35" y="4"/>
                    <a:pt x="35" y="4"/>
                  </a:cubicBezTo>
                  <a:cubicBezTo>
                    <a:pt x="35" y="4"/>
                    <a:pt x="35" y="4"/>
                    <a:pt x="35" y="4"/>
                  </a:cubicBezTo>
                  <a:cubicBezTo>
                    <a:pt x="35" y="4"/>
                    <a:pt x="35" y="4"/>
                    <a:pt x="35" y="4"/>
                  </a:cubicBezTo>
                  <a:cubicBezTo>
                    <a:pt x="35" y="4"/>
                    <a:pt x="35" y="4"/>
                    <a:pt x="35" y="4"/>
                  </a:cubicBezTo>
                  <a:cubicBezTo>
                    <a:pt x="35" y="4"/>
                    <a:pt x="35" y="5"/>
                    <a:pt x="35" y="5"/>
                  </a:cubicBezTo>
                  <a:cubicBezTo>
                    <a:pt x="35" y="5"/>
                    <a:pt x="35" y="5"/>
                    <a:pt x="35" y="5"/>
                  </a:cubicBezTo>
                  <a:cubicBezTo>
                    <a:pt x="35" y="6"/>
                    <a:pt x="35" y="6"/>
                    <a:pt x="35" y="6"/>
                  </a:cubicBezTo>
                  <a:cubicBezTo>
                    <a:pt x="34" y="7"/>
                    <a:pt x="34" y="7"/>
                    <a:pt x="34" y="7"/>
                  </a:cubicBezTo>
                  <a:cubicBezTo>
                    <a:pt x="34" y="7"/>
                    <a:pt x="34" y="7"/>
                    <a:pt x="34" y="7"/>
                  </a:cubicBezTo>
                  <a:cubicBezTo>
                    <a:pt x="34" y="7"/>
                    <a:pt x="34" y="7"/>
                    <a:pt x="34" y="7"/>
                  </a:cubicBezTo>
                  <a:cubicBezTo>
                    <a:pt x="34" y="6"/>
                    <a:pt x="34" y="6"/>
                    <a:pt x="34" y="6"/>
                  </a:cubicBezTo>
                  <a:cubicBezTo>
                    <a:pt x="33" y="6"/>
                    <a:pt x="33" y="6"/>
                    <a:pt x="32" y="5"/>
                  </a:cubicBezTo>
                  <a:cubicBezTo>
                    <a:pt x="32" y="5"/>
                    <a:pt x="32" y="5"/>
                    <a:pt x="32" y="5"/>
                  </a:cubicBezTo>
                  <a:cubicBezTo>
                    <a:pt x="31" y="5"/>
                    <a:pt x="31" y="5"/>
                    <a:pt x="30" y="5"/>
                  </a:cubicBezTo>
                  <a:cubicBezTo>
                    <a:pt x="30" y="6"/>
                    <a:pt x="30" y="6"/>
                    <a:pt x="30" y="6"/>
                  </a:cubicBezTo>
                  <a:cubicBezTo>
                    <a:pt x="30" y="7"/>
                    <a:pt x="30" y="7"/>
                    <a:pt x="30" y="7"/>
                  </a:cubicBezTo>
                  <a:cubicBezTo>
                    <a:pt x="30" y="7"/>
                    <a:pt x="30" y="8"/>
                    <a:pt x="28" y="9"/>
                  </a:cubicBezTo>
                  <a:cubicBezTo>
                    <a:pt x="27" y="8"/>
                    <a:pt x="27" y="8"/>
                    <a:pt x="27" y="8"/>
                  </a:cubicBezTo>
                  <a:cubicBezTo>
                    <a:pt x="26" y="8"/>
                    <a:pt x="26" y="9"/>
                    <a:pt x="26" y="9"/>
                  </a:cubicBezTo>
                  <a:cubicBezTo>
                    <a:pt x="26" y="10"/>
                    <a:pt x="26" y="10"/>
                    <a:pt x="28" y="10"/>
                  </a:cubicBezTo>
                  <a:cubicBezTo>
                    <a:pt x="29" y="10"/>
                    <a:pt x="29" y="11"/>
                    <a:pt x="30" y="11"/>
                  </a:cubicBezTo>
                  <a:cubicBezTo>
                    <a:pt x="30" y="11"/>
                    <a:pt x="30" y="11"/>
                    <a:pt x="30" y="11"/>
                  </a:cubicBezTo>
                  <a:cubicBezTo>
                    <a:pt x="31" y="11"/>
                    <a:pt x="31" y="11"/>
                    <a:pt x="31" y="11"/>
                  </a:cubicBezTo>
                  <a:cubicBezTo>
                    <a:pt x="32" y="11"/>
                    <a:pt x="32" y="11"/>
                    <a:pt x="32" y="11"/>
                  </a:cubicBezTo>
                  <a:cubicBezTo>
                    <a:pt x="33" y="11"/>
                    <a:pt x="33" y="11"/>
                    <a:pt x="33" y="11"/>
                  </a:cubicBezTo>
                  <a:cubicBezTo>
                    <a:pt x="33" y="12"/>
                    <a:pt x="33" y="12"/>
                    <a:pt x="33" y="12"/>
                  </a:cubicBezTo>
                  <a:cubicBezTo>
                    <a:pt x="31" y="12"/>
                    <a:pt x="31" y="12"/>
                    <a:pt x="31" y="12"/>
                  </a:cubicBezTo>
                  <a:cubicBezTo>
                    <a:pt x="31" y="12"/>
                    <a:pt x="31" y="13"/>
                    <a:pt x="30" y="13"/>
                  </a:cubicBezTo>
                  <a:cubicBezTo>
                    <a:pt x="30" y="14"/>
                    <a:pt x="30" y="14"/>
                    <a:pt x="30" y="14"/>
                  </a:cubicBezTo>
                  <a:cubicBezTo>
                    <a:pt x="29" y="15"/>
                    <a:pt x="29" y="15"/>
                    <a:pt x="29" y="15"/>
                  </a:cubicBezTo>
                  <a:cubicBezTo>
                    <a:pt x="29" y="14"/>
                    <a:pt x="29" y="14"/>
                    <a:pt x="29" y="14"/>
                  </a:cubicBezTo>
                  <a:cubicBezTo>
                    <a:pt x="28" y="14"/>
                    <a:pt x="27" y="14"/>
                    <a:pt x="26" y="14"/>
                  </a:cubicBezTo>
                  <a:cubicBezTo>
                    <a:pt x="24" y="13"/>
                    <a:pt x="24" y="13"/>
                    <a:pt x="24" y="13"/>
                  </a:cubicBezTo>
                  <a:cubicBezTo>
                    <a:pt x="22" y="13"/>
                    <a:pt x="18" y="12"/>
                    <a:pt x="15" y="11"/>
                  </a:cubicBezTo>
                  <a:cubicBezTo>
                    <a:pt x="15" y="11"/>
                    <a:pt x="14" y="11"/>
                    <a:pt x="13" y="11"/>
                  </a:cubicBezTo>
                  <a:cubicBezTo>
                    <a:pt x="12" y="10"/>
                    <a:pt x="12" y="10"/>
                    <a:pt x="12" y="10"/>
                  </a:cubicBezTo>
                  <a:cubicBezTo>
                    <a:pt x="11" y="11"/>
                    <a:pt x="11" y="11"/>
                    <a:pt x="11" y="11"/>
                  </a:cubicBezTo>
                  <a:cubicBezTo>
                    <a:pt x="12" y="11"/>
                    <a:pt x="12" y="12"/>
                    <a:pt x="13" y="12"/>
                  </a:cubicBezTo>
                  <a:cubicBezTo>
                    <a:pt x="13" y="12"/>
                    <a:pt x="13" y="12"/>
                    <a:pt x="13" y="12"/>
                  </a:cubicBezTo>
                  <a:cubicBezTo>
                    <a:pt x="14" y="13"/>
                    <a:pt x="14" y="15"/>
                    <a:pt x="16" y="16"/>
                  </a:cubicBezTo>
                  <a:cubicBezTo>
                    <a:pt x="17" y="16"/>
                    <a:pt x="18" y="16"/>
                    <a:pt x="20" y="16"/>
                  </a:cubicBezTo>
                  <a:cubicBezTo>
                    <a:pt x="23" y="16"/>
                    <a:pt x="28" y="17"/>
                    <a:pt x="31" y="19"/>
                  </a:cubicBezTo>
                  <a:cubicBezTo>
                    <a:pt x="32" y="20"/>
                    <a:pt x="32" y="20"/>
                    <a:pt x="32" y="20"/>
                  </a:cubicBezTo>
                  <a:cubicBezTo>
                    <a:pt x="32" y="20"/>
                    <a:pt x="32" y="20"/>
                    <a:pt x="32" y="20"/>
                  </a:cubicBezTo>
                  <a:cubicBezTo>
                    <a:pt x="32" y="20"/>
                    <a:pt x="32" y="20"/>
                    <a:pt x="32" y="20"/>
                  </a:cubicBezTo>
                  <a:cubicBezTo>
                    <a:pt x="32" y="20"/>
                    <a:pt x="32" y="20"/>
                    <a:pt x="32" y="20"/>
                  </a:cubicBezTo>
                  <a:cubicBezTo>
                    <a:pt x="31" y="20"/>
                    <a:pt x="31" y="20"/>
                    <a:pt x="31" y="20"/>
                  </a:cubicBezTo>
                  <a:cubicBezTo>
                    <a:pt x="30" y="20"/>
                    <a:pt x="30" y="21"/>
                    <a:pt x="30" y="21"/>
                  </a:cubicBezTo>
                  <a:cubicBezTo>
                    <a:pt x="29" y="21"/>
                    <a:pt x="29" y="21"/>
                    <a:pt x="29" y="21"/>
                  </a:cubicBezTo>
                  <a:cubicBezTo>
                    <a:pt x="26" y="20"/>
                    <a:pt x="26" y="20"/>
                    <a:pt x="24" y="20"/>
                  </a:cubicBezTo>
                  <a:cubicBezTo>
                    <a:pt x="23" y="19"/>
                    <a:pt x="22" y="18"/>
                    <a:pt x="21" y="18"/>
                  </a:cubicBezTo>
                  <a:cubicBezTo>
                    <a:pt x="21" y="18"/>
                    <a:pt x="20" y="19"/>
                    <a:pt x="19" y="19"/>
                  </a:cubicBezTo>
                  <a:cubicBezTo>
                    <a:pt x="19" y="19"/>
                    <a:pt x="19" y="19"/>
                    <a:pt x="19" y="19"/>
                  </a:cubicBezTo>
                  <a:cubicBezTo>
                    <a:pt x="19" y="19"/>
                    <a:pt x="19" y="19"/>
                    <a:pt x="19" y="19"/>
                  </a:cubicBezTo>
                  <a:cubicBezTo>
                    <a:pt x="19" y="20"/>
                    <a:pt x="19" y="20"/>
                    <a:pt x="19" y="20"/>
                  </a:cubicBezTo>
                  <a:cubicBezTo>
                    <a:pt x="18" y="19"/>
                    <a:pt x="18" y="19"/>
                    <a:pt x="18" y="19"/>
                  </a:cubicBezTo>
                  <a:cubicBezTo>
                    <a:pt x="18" y="19"/>
                    <a:pt x="18" y="19"/>
                    <a:pt x="17" y="19"/>
                  </a:cubicBezTo>
                  <a:cubicBezTo>
                    <a:pt x="16" y="19"/>
                    <a:pt x="15" y="18"/>
                    <a:pt x="14" y="18"/>
                  </a:cubicBezTo>
                  <a:cubicBezTo>
                    <a:pt x="10" y="17"/>
                    <a:pt x="7" y="16"/>
                    <a:pt x="4" y="14"/>
                  </a:cubicBezTo>
                  <a:cubicBezTo>
                    <a:pt x="3" y="13"/>
                    <a:pt x="3" y="13"/>
                    <a:pt x="2" y="12"/>
                  </a:cubicBezTo>
                  <a:cubicBezTo>
                    <a:pt x="2" y="12"/>
                    <a:pt x="2" y="12"/>
                    <a:pt x="2" y="12"/>
                  </a:cubicBezTo>
                  <a:cubicBezTo>
                    <a:pt x="2" y="12"/>
                    <a:pt x="2" y="12"/>
                    <a:pt x="2" y="12"/>
                  </a:cubicBezTo>
                  <a:cubicBezTo>
                    <a:pt x="2" y="11"/>
                    <a:pt x="2" y="11"/>
                    <a:pt x="2" y="11"/>
                  </a:cubicBezTo>
                  <a:cubicBezTo>
                    <a:pt x="1" y="11"/>
                    <a:pt x="1" y="12"/>
                    <a:pt x="0" y="12"/>
                  </a:cubicBezTo>
                  <a:cubicBezTo>
                    <a:pt x="0" y="14"/>
                    <a:pt x="2" y="19"/>
                    <a:pt x="3" y="20"/>
                  </a:cubicBezTo>
                  <a:cubicBezTo>
                    <a:pt x="4" y="20"/>
                    <a:pt x="5" y="21"/>
                    <a:pt x="6" y="21"/>
                  </a:cubicBezTo>
                  <a:cubicBezTo>
                    <a:pt x="8" y="21"/>
                    <a:pt x="11" y="22"/>
                    <a:pt x="12" y="23"/>
                  </a:cubicBezTo>
                  <a:cubicBezTo>
                    <a:pt x="13" y="23"/>
                    <a:pt x="13" y="23"/>
                    <a:pt x="13" y="23"/>
                  </a:cubicBezTo>
                  <a:cubicBezTo>
                    <a:pt x="13" y="23"/>
                    <a:pt x="13" y="23"/>
                    <a:pt x="13" y="23"/>
                  </a:cubicBezTo>
                  <a:cubicBezTo>
                    <a:pt x="13" y="23"/>
                    <a:pt x="13" y="23"/>
                    <a:pt x="13" y="23"/>
                  </a:cubicBezTo>
                  <a:cubicBezTo>
                    <a:pt x="13" y="24"/>
                    <a:pt x="13" y="24"/>
                    <a:pt x="13" y="24"/>
                  </a:cubicBezTo>
                  <a:cubicBezTo>
                    <a:pt x="12" y="25"/>
                    <a:pt x="11" y="26"/>
                    <a:pt x="10" y="26"/>
                  </a:cubicBezTo>
                  <a:cubicBezTo>
                    <a:pt x="10" y="27"/>
                    <a:pt x="10" y="27"/>
                    <a:pt x="10" y="27"/>
                  </a:cubicBezTo>
                  <a:cubicBezTo>
                    <a:pt x="10" y="27"/>
                    <a:pt x="9" y="27"/>
                    <a:pt x="9" y="27"/>
                  </a:cubicBezTo>
                  <a:cubicBezTo>
                    <a:pt x="9" y="27"/>
                    <a:pt x="9" y="27"/>
                    <a:pt x="9" y="27"/>
                  </a:cubicBezTo>
                  <a:cubicBezTo>
                    <a:pt x="9" y="28"/>
                    <a:pt x="8" y="28"/>
                    <a:pt x="8" y="28"/>
                  </a:cubicBezTo>
                  <a:cubicBezTo>
                    <a:pt x="7" y="28"/>
                    <a:pt x="5" y="27"/>
                    <a:pt x="4" y="26"/>
                  </a:cubicBezTo>
                  <a:cubicBezTo>
                    <a:pt x="4" y="26"/>
                    <a:pt x="3" y="26"/>
                    <a:pt x="3" y="26"/>
                  </a:cubicBezTo>
                  <a:cubicBezTo>
                    <a:pt x="3" y="26"/>
                    <a:pt x="3" y="26"/>
                    <a:pt x="3" y="26"/>
                  </a:cubicBezTo>
                  <a:cubicBezTo>
                    <a:pt x="4" y="29"/>
                    <a:pt x="6" y="31"/>
                    <a:pt x="9" y="33"/>
                  </a:cubicBezTo>
                  <a:cubicBezTo>
                    <a:pt x="9" y="34"/>
                    <a:pt x="9" y="34"/>
                    <a:pt x="9" y="34"/>
                  </a:cubicBezTo>
                  <a:cubicBezTo>
                    <a:pt x="10" y="34"/>
                    <a:pt x="10" y="34"/>
                    <a:pt x="10" y="34"/>
                  </a:cubicBezTo>
                  <a:cubicBezTo>
                    <a:pt x="10" y="34"/>
                    <a:pt x="10" y="34"/>
                    <a:pt x="10" y="34"/>
                  </a:cubicBezTo>
                  <a:cubicBezTo>
                    <a:pt x="12" y="34"/>
                    <a:pt x="15" y="31"/>
                    <a:pt x="16" y="29"/>
                  </a:cubicBezTo>
                  <a:cubicBezTo>
                    <a:pt x="16" y="29"/>
                    <a:pt x="17" y="28"/>
                    <a:pt x="17" y="28"/>
                  </a:cubicBezTo>
                  <a:cubicBezTo>
                    <a:pt x="18" y="28"/>
                    <a:pt x="18" y="28"/>
                    <a:pt x="18" y="28"/>
                  </a:cubicBezTo>
                  <a:cubicBezTo>
                    <a:pt x="19" y="27"/>
                    <a:pt x="19" y="27"/>
                    <a:pt x="19" y="27"/>
                  </a:cubicBezTo>
                  <a:cubicBezTo>
                    <a:pt x="19" y="27"/>
                    <a:pt x="19" y="27"/>
                    <a:pt x="19" y="27"/>
                  </a:cubicBezTo>
                  <a:cubicBezTo>
                    <a:pt x="21" y="27"/>
                    <a:pt x="22" y="27"/>
                    <a:pt x="23" y="28"/>
                  </a:cubicBezTo>
                  <a:cubicBezTo>
                    <a:pt x="24" y="28"/>
                    <a:pt x="25" y="26"/>
                    <a:pt x="25" y="25"/>
                  </a:cubicBezTo>
                  <a:cubicBezTo>
                    <a:pt x="25" y="25"/>
                    <a:pt x="25" y="25"/>
                    <a:pt x="25" y="25"/>
                  </a:cubicBezTo>
                  <a:cubicBezTo>
                    <a:pt x="24" y="24"/>
                    <a:pt x="23" y="23"/>
                    <a:pt x="22" y="23"/>
                  </a:cubicBezTo>
                  <a:cubicBezTo>
                    <a:pt x="22" y="23"/>
                    <a:pt x="22" y="23"/>
                    <a:pt x="22" y="23"/>
                  </a:cubicBezTo>
                  <a:cubicBezTo>
                    <a:pt x="22" y="22"/>
                    <a:pt x="22" y="22"/>
                    <a:pt x="22" y="22"/>
                  </a:cubicBezTo>
                  <a:cubicBezTo>
                    <a:pt x="23" y="21"/>
                    <a:pt x="23" y="21"/>
                    <a:pt x="23" y="21"/>
                  </a:cubicBezTo>
                  <a:cubicBezTo>
                    <a:pt x="23" y="20"/>
                    <a:pt x="23" y="20"/>
                    <a:pt x="23" y="20"/>
                  </a:cubicBezTo>
                  <a:cubicBezTo>
                    <a:pt x="24" y="20"/>
                    <a:pt x="24" y="20"/>
                    <a:pt x="24" y="20"/>
                  </a:cubicBezTo>
                  <a:cubicBezTo>
                    <a:pt x="26" y="21"/>
                    <a:pt x="28" y="22"/>
                    <a:pt x="30" y="22"/>
                  </a:cubicBezTo>
                  <a:cubicBezTo>
                    <a:pt x="32" y="23"/>
                    <a:pt x="32" y="23"/>
                    <a:pt x="32" y="23"/>
                  </a:cubicBezTo>
                  <a:cubicBezTo>
                    <a:pt x="33" y="23"/>
                    <a:pt x="33" y="23"/>
                    <a:pt x="33" y="23"/>
                  </a:cubicBezTo>
                  <a:cubicBezTo>
                    <a:pt x="34" y="24"/>
                    <a:pt x="35" y="25"/>
                    <a:pt x="36" y="25"/>
                  </a:cubicBezTo>
                  <a:cubicBezTo>
                    <a:pt x="36" y="25"/>
                    <a:pt x="37" y="25"/>
                    <a:pt x="37" y="25"/>
                  </a:cubicBezTo>
                  <a:cubicBezTo>
                    <a:pt x="38" y="23"/>
                    <a:pt x="39" y="22"/>
                    <a:pt x="39" y="21"/>
                  </a:cubicBezTo>
                  <a:cubicBezTo>
                    <a:pt x="39" y="21"/>
                    <a:pt x="39" y="21"/>
                    <a:pt x="39" y="21"/>
                  </a:cubicBezTo>
                  <a:cubicBezTo>
                    <a:pt x="39" y="21"/>
                    <a:pt x="40" y="21"/>
                    <a:pt x="40" y="21"/>
                  </a:cubicBezTo>
                  <a:cubicBezTo>
                    <a:pt x="39" y="21"/>
                    <a:pt x="39" y="21"/>
                    <a:pt x="39" y="21"/>
                  </a:cubicBezTo>
                  <a:cubicBezTo>
                    <a:pt x="39" y="20"/>
                    <a:pt x="39" y="20"/>
                    <a:pt x="39" y="20"/>
                  </a:cubicBezTo>
                  <a:cubicBezTo>
                    <a:pt x="39" y="20"/>
                    <a:pt x="40" y="20"/>
                    <a:pt x="40" y="20"/>
                  </a:cubicBezTo>
                  <a:cubicBezTo>
                    <a:pt x="43" y="19"/>
                    <a:pt x="47" y="17"/>
                    <a:pt x="50" y="16"/>
                  </a:cubicBezTo>
                  <a:cubicBezTo>
                    <a:pt x="51" y="15"/>
                    <a:pt x="52" y="15"/>
                    <a:pt x="51" y="14"/>
                  </a:cubicBezTo>
                  <a:cubicBezTo>
                    <a:pt x="51" y="13"/>
                    <a:pt x="51" y="13"/>
                    <a:pt x="51" y="13"/>
                  </a:cubicBezTo>
                  <a:moveTo>
                    <a:pt x="37" y="15"/>
                  </a:moveTo>
                  <a:cubicBezTo>
                    <a:pt x="38" y="14"/>
                    <a:pt x="38" y="14"/>
                    <a:pt x="38" y="14"/>
                  </a:cubicBezTo>
                  <a:cubicBezTo>
                    <a:pt x="39" y="13"/>
                    <a:pt x="39" y="13"/>
                    <a:pt x="39" y="13"/>
                  </a:cubicBezTo>
                  <a:cubicBezTo>
                    <a:pt x="39" y="13"/>
                    <a:pt x="39" y="12"/>
                    <a:pt x="38" y="12"/>
                  </a:cubicBezTo>
                  <a:cubicBezTo>
                    <a:pt x="38" y="12"/>
                    <a:pt x="38" y="12"/>
                    <a:pt x="38" y="12"/>
                  </a:cubicBezTo>
                  <a:cubicBezTo>
                    <a:pt x="38" y="12"/>
                    <a:pt x="38" y="12"/>
                    <a:pt x="38" y="12"/>
                  </a:cubicBezTo>
                  <a:cubicBezTo>
                    <a:pt x="37" y="12"/>
                    <a:pt x="37" y="12"/>
                    <a:pt x="37" y="12"/>
                  </a:cubicBezTo>
                  <a:cubicBezTo>
                    <a:pt x="36" y="11"/>
                    <a:pt x="36" y="11"/>
                    <a:pt x="36" y="11"/>
                  </a:cubicBezTo>
                  <a:cubicBezTo>
                    <a:pt x="36" y="11"/>
                    <a:pt x="36" y="11"/>
                    <a:pt x="36" y="11"/>
                  </a:cubicBezTo>
                  <a:cubicBezTo>
                    <a:pt x="37" y="10"/>
                    <a:pt x="37" y="10"/>
                    <a:pt x="37" y="10"/>
                  </a:cubicBezTo>
                  <a:cubicBezTo>
                    <a:pt x="36" y="10"/>
                    <a:pt x="36" y="10"/>
                    <a:pt x="36" y="10"/>
                  </a:cubicBezTo>
                  <a:cubicBezTo>
                    <a:pt x="37" y="10"/>
                    <a:pt x="37" y="10"/>
                    <a:pt x="37" y="10"/>
                  </a:cubicBezTo>
                  <a:cubicBezTo>
                    <a:pt x="40" y="9"/>
                    <a:pt x="40" y="9"/>
                    <a:pt x="40" y="9"/>
                  </a:cubicBezTo>
                  <a:cubicBezTo>
                    <a:pt x="40" y="9"/>
                    <a:pt x="40" y="9"/>
                    <a:pt x="40" y="9"/>
                  </a:cubicBezTo>
                  <a:cubicBezTo>
                    <a:pt x="41" y="9"/>
                    <a:pt x="41" y="9"/>
                    <a:pt x="41" y="9"/>
                  </a:cubicBezTo>
                  <a:cubicBezTo>
                    <a:pt x="41" y="10"/>
                    <a:pt x="43" y="11"/>
                    <a:pt x="43" y="13"/>
                  </a:cubicBezTo>
                  <a:cubicBezTo>
                    <a:pt x="43" y="14"/>
                    <a:pt x="43" y="14"/>
                    <a:pt x="43" y="14"/>
                  </a:cubicBezTo>
                  <a:cubicBezTo>
                    <a:pt x="42" y="15"/>
                    <a:pt x="40" y="16"/>
                    <a:pt x="38" y="16"/>
                  </a:cubicBezTo>
                  <a:cubicBezTo>
                    <a:pt x="38" y="16"/>
                    <a:pt x="38" y="16"/>
                    <a:pt x="38" y="16"/>
                  </a:cubicBezTo>
                  <a:cubicBezTo>
                    <a:pt x="38" y="15"/>
                    <a:pt x="38" y="15"/>
                    <a:pt x="38" y="15"/>
                  </a:cubicBezTo>
                  <a:cubicBezTo>
                    <a:pt x="37" y="15"/>
                    <a:pt x="37" y="15"/>
                    <a:pt x="37" y="15"/>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39" name="Freeform 138">
              <a:extLst>
                <a:ext uri="{FF2B5EF4-FFF2-40B4-BE49-F238E27FC236}">
                  <a16:creationId xmlns:a16="http://schemas.microsoft.com/office/drawing/2014/main" id="{F13B4672-4A57-474E-8F0D-8E01F420E697}"/>
                </a:ext>
              </a:extLst>
            </p:cNvPr>
            <p:cNvSpPr>
              <a:spLocks/>
            </p:cNvSpPr>
            <p:nvPr userDrawn="1"/>
          </p:nvSpPr>
          <p:spPr bwMode="auto">
            <a:xfrm>
              <a:off x="6194063" y="2940552"/>
              <a:ext cx="75630" cy="143697"/>
            </a:xfrm>
            <a:custGeom>
              <a:avLst/>
              <a:gdLst>
                <a:gd name="T0" fmla="*/ 2 w 8"/>
                <a:gd name="T1" fmla="*/ 15 h 15"/>
                <a:gd name="T2" fmla="*/ 0 w 8"/>
                <a:gd name="T3" fmla="*/ 14 h 15"/>
                <a:gd name="T4" fmla="*/ 2 w 8"/>
                <a:gd name="T5" fmla="*/ 9 h 15"/>
                <a:gd name="T6" fmla="*/ 3 w 8"/>
                <a:gd name="T7" fmla="*/ 8 h 15"/>
                <a:gd name="T8" fmla="*/ 3 w 8"/>
                <a:gd name="T9" fmla="*/ 8 h 15"/>
                <a:gd name="T10" fmla="*/ 3 w 8"/>
                <a:gd name="T11" fmla="*/ 7 h 15"/>
                <a:gd name="T12" fmla="*/ 4 w 8"/>
                <a:gd name="T13" fmla="*/ 5 h 15"/>
                <a:gd name="T14" fmla="*/ 5 w 8"/>
                <a:gd name="T15" fmla="*/ 4 h 15"/>
                <a:gd name="T16" fmla="*/ 7 w 8"/>
                <a:gd name="T17" fmla="*/ 0 h 15"/>
                <a:gd name="T18" fmla="*/ 8 w 8"/>
                <a:gd name="T19" fmla="*/ 1 h 15"/>
                <a:gd name="T20" fmla="*/ 8 w 8"/>
                <a:gd name="T21" fmla="*/ 2 h 15"/>
                <a:gd name="T22" fmla="*/ 8 w 8"/>
                <a:gd name="T23" fmla="*/ 2 h 15"/>
                <a:gd name="T24" fmla="*/ 8 w 8"/>
                <a:gd name="T25" fmla="*/ 3 h 15"/>
                <a:gd name="T26" fmla="*/ 8 w 8"/>
                <a:gd name="T27" fmla="*/ 7 h 15"/>
                <a:gd name="T28" fmla="*/ 8 w 8"/>
                <a:gd name="T29" fmla="*/ 8 h 15"/>
                <a:gd name="T30" fmla="*/ 8 w 8"/>
                <a:gd name="T31" fmla="*/ 9 h 15"/>
                <a:gd name="T32" fmla="*/ 6 w 8"/>
                <a:gd name="T33" fmla="*/ 13 h 15"/>
                <a:gd name="T34" fmla="*/ 5 w 8"/>
                <a:gd name="T35" fmla="*/ 14 h 15"/>
                <a:gd name="T36" fmla="*/ 5 w 8"/>
                <a:gd name="T37" fmla="*/ 14 h 15"/>
                <a:gd name="T38" fmla="*/ 3 w 8"/>
                <a:gd name="T39" fmla="*/ 15 h 15"/>
                <a:gd name="T40" fmla="*/ 2 w 8"/>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 h="15">
                  <a:moveTo>
                    <a:pt x="2" y="15"/>
                  </a:moveTo>
                  <a:cubicBezTo>
                    <a:pt x="2" y="15"/>
                    <a:pt x="1" y="14"/>
                    <a:pt x="0" y="14"/>
                  </a:cubicBezTo>
                  <a:cubicBezTo>
                    <a:pt x="0" y="12"/>
                    <a:pt x="1" y="11"/>
                    <a:pt x="2" y="9"/>
                  </a:cubicBezTo>
                  <a:cubicBezTo>
                    <a:pt x="2" y="9"/>
                    <a:pt x="3" y="8"/>
                    <a:pt x="3" y="8"/>
                  </a:cubicBezTo>
                  <a:cubicBezTo>
                    <a:pt x="3" y="8"/>
                    <a:pt x="3" y="8"/>
                    <a:pt x="3" y="8"/>
                  </a:cubicBezTo>
                  <a:cubicBezTo>
                    <a:pt x="3" y="7"/>
                    <a:pt x="3" y="7"/>
                    <a:pt x="3" y="7"/>
                  </a:cubicBezTo>
                  <a:cubicBezTo>
                    <a:pt x="4" y="7"/>
                    <a:pt x="4" y="6"/>
                    <a:pt x="4" y="5"/>
                  </a:cubicBezTo>
                  <a:cubicBezTo>
                    <a:pt x="4" y="5"/>
                    <a:pt x="4" y="4"/>
                    <a:pt x="5" y="4"/>
                  </a:cubicBezTo>
                  <a:cubicBezTo>
                    <a:pt x="5" y="2"/>
                    <a:pt x="6" y="0"/>
                    <a:pt x="7" y="0"/>
                  </a:cubicBezTo>
                  <a:cubicBezTo>
                    <a:pt x="7" y="0"/>
                    <a:pt x="8" y="0"/>
                    <a:pt x="8" y="1"/>
                  </a:cubicBezTo>
                  <a:cubicBezTo>
                    <a:pt x="8" y="1"/>
                    <a:pt x="8" y="1"/>
                    <a:pt x="8" y="2"/>
                  </a:cubicBezTo>
                  <a:cubicBezTo>
                    <a:pt x="8" y="2"/>
                    <a:pt x="8" y="2"/>
                    <a:pt x="8" y="2"/>
                  </a:cubicBezTo>
                  <a:cubicBezTo>
                    <a:pt x="8" y="3"/>
                    <a:pt x="8" y="3"/>
                    <a:pt x="8" y="3"/>
                  </a:cubicBezTo>
                  <a:cubicBezTo>
                    <a:pt x="8" y="5"/>
                    <a:pt x="8" y="6"/>
                    <a:pt x="8" y="7"/>
                  </a:cubicBezTo>
                  <a:cubicBezTo>
                    <a:pt x="8" y="8"/>
                    <a:pt x="8" y="8"/>
                    <a:pt x="8" y="8"/>
                  </a:cubicBezTo>
                  <a:cubicBezTo>
                    <a:pt x="8" y="8"/>
                    <a:pt x="8" y="9"/>
                    <a:pt x="8" y="9"/>
                  </a:cubicBezTo>
                  <a:cubicBezTo>
                    <a:pt x="7" y="11"/>
                    <a:pt x="7" y="12"/>
                    <a:pt x="6" y="13"/>
                  </a:cubicBezTo>
                  <a:cubicBezTo>
                    <a:pt x="5" y="14"/>
                    <a:pt x="5" y="14"/>
                    <a:pt x="5" y="14"/>
                  </a:cubicBezTo>
                  <a:cubicBezTo>
                    <a:pt x="5" y="14"/>
                    <a:pt x="5" y="14"/>
                    <a:pt x="5" y="14"/>
                  </a:cubicBezTo>
                  <a:cubicBezTo>
                    <a:pt x="4" y="14"/>
                    <a:pt x="3" y="15"/>
                    <a:pt x="3" y="15"/>
                  </a:cubicBezTo>
                  <a:lnTo>
                    <a:pt x="2" y="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40" name="Freeform 139">
              <a:extLst>
                <a:ext uri="{FF2B5EF4-FFF2-40B4-BE49-F238E27FC236}">
                  <a16:creationId xmlns:a16="http://schemas.microsoft.com/office/drawing/2014/main" id="{D677DFD2-E5D0-40EA-B50D-255F927C72F5}"/>
                </a:ext>
              </a:extLst>
            </p:cNvPr>
            <p:cNvSpPr>
              <a:spLocks/>
            </p:cNvSpPr>
            <p:nvPr userDrawn="1"/>
          </p:nvSpPr>
          <p:spPr bwMode="auto">
            <a:xfrm>
              <a:off x="6194063" y="2940552"/>
              <a:ext cx="75630" cy="143697"/>
            </a:xfrm>
            <a:custGeom>
              <a:avLst/>
              <a:gdLst>
                <a:gd name="T0" fmla="*/ 2 w 8"/>
                <a:gd name="T1" fmla="*/ 15 h 15"/>
                <a:gd name="T2" fmla="*/ 3 w 8"/>
                <a:gd name="T3" fmla="*/ 15 h 15"/>
                <a:gd name="T4" fmla="*/ 5 w 8"/>
                <a:gd name="T5" fmla="*/ 14 h 15"/>
                <a:gd name="T6" fmla="*/ 5 w 8"/>
                <a:gd name="T7" fmla="*/ 14 h 15"/>
                <a:gd name="T8" fmla="*/ 6 w 8"/>
                <a:gd name="T9" fmla="*/ 13 h 15"/>
                <a:gd name="T10" fmla="*/ 8 w 8"/>
                <a:gd name="T11" fmla="*/ 9 h 15"/>
                <a:gd name="T12" fmla="*/ 8 w 8"/>
                <a:gd name="T13" fmla="*/ 8 h 15"/>
                <a:gd name="T14" fmla="*/ 8 w 8"/>
                <a:gd name="T15" fmla="*/ 7 h 15"/>
                <a:gd name="T16" fmla="*/ 8 w 8"/>
                <a:gd name="T17" fmla="*/ 3 h 15"/>
                <a:gd name="T18" fmla="*/ 8 w 8"/>
                <a:gd name="T19" fmla="*/ 2 h 15"/>
                <a:gd name="T20" fmla="*/ 8 w 8"/>
                <a:gd name="T21" fmla="*/ 2 h 15"/>
                <a:gd name="T22" fmla="*/ 8 w 8"/>
                <a:gd name="T23" fmla="*/ 2 h 15"/>
                <a:gd name="T24" fmla="*/ 8 w 8"/>
                <a:gd name="T25" fmla="*/ 1 h 15"/>
                <a:gd name="T26" fmla="*/ 7 w 8"/>
                <a:gd name="T27" fmla="*/ 0 h 15"/>
                <a:gd name="T28" fmla="*/ 5 w 8"/>
                <a:gd name="T29" fmla="*/ 4 h 15"/>
                <a:gd name="T30" fmla="*/ 4 w 8"/>
                <a:gd name="T31" fmla="*/ 5 h 15"/>
                <a:gd name="T32" fmla="*/ 3 w 8"/>
                <a:gd name="T33" fmla="*/ 7 h 15"/>
                <a:gd name="T34" fmla="*/ 3 w 8"/>
                <a:gd name="T35" fmla="*/ 8 h 15"/>
                <a:gd name="T36" fmla="*/ 3 w 8"/>
                <a:gd name="T37" fmla="*/ 8 h 15"/>
                <a:gd name="T38" fmla="*/ 2 w 8"/>
                <a:gd name="T39" fmla="*/ 9 h 15"/>
                <a:gd name="T40" fmla="*/ 0 w 8"/>
                <a:gd name="T41" fmla="*/ 14 h 15"/>
                <a:gd name="T42" fmla="*/ 2 w 8"/>
                <a:gd name="T43"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 h="15">
                  <a:moveTo>
                    <a:pt x="2" y="15"/>
                  </a:moveTo>
                  <a:cubicBezTo>
                    <a:pt x="3" y="15"/>
                    <a:pt x="3" y="15"/>
                    <a:pt x="3" y="15"/>
                  </a:cubicBezTo>
                  <a:cubicBezTo>
                    <a:pt x="3" y="15"/>
                    <a:pt x="4" y="14"/>
                    <a:pt x="5" y="14"/>
                  </a:cubicBezTo>
                  <a:cubicBezTo>
                    <a:pt x="5" y="14"/>
                    <a:pt x="5" y="14"/>
                    <a:pt x="5" y="14"/>
                  </a:cubicBezTo>
                  <a:cubicBezTo>
                    <a:pt x="6" y="13"/>
                    <a:pt x="6" y="13"/>
                    <a:pt x="6" y="13"/>
                  </a:cubicBezTo>
                  <a:cubicBezTo>
                    <a:pt x="7" y="12"/>
                    <a:pt x="7" y="10"/>
                    <a:pt x="8" y="9"/>
                  </a:cubicBezTo>
                  <a:cubicBezTo>
                    <a:pt x="8" y="9"/>
                    <a:pt x="8" y="8"/>
                    <a:pt x="8" y="8"/>
                  </a:cubicBezTo>
                  <a:cubicBezTo>
                    <a:pt x="8" y="7"/>
                    <a:pt x="8" y="7"/>
                    <a:pt x="8" y="7"/>
                  </a:cubicBezTo>
                  <a:cubicBezTo>
                    <a:pt x="8" y="6"/>
                    <a:pt x="8" y="5"/>
                    <a:pt x="8" y="3"/>
                  </a:cubicBezTo>
                  <a:cubicBezTo>
                    <a:pt x="8" y="3"/>
                    <a:pt x="8" y="3"/>
                    <a:pt x="8" y="2"/>
                  </a:cubicBezTo>
                  <a:cubicBezTo>
                    <a:pt x="8" y="2"/>
                    <a:pt x="8" y="2"/>
                    <a:pt x="8" y="2"/>
                  </a:cubicBezTo>
                  <a:cubicBezTo>
                    <a:pt x="8" y="2"/>
                    <a:pt x="8" y="2"/>
                    <a:pt x="8" y="2"/>
                  </a:cubicBezTo>
                  <a:cubicBezTo>
                    <a:pt x="8" y="1"/>
                    <a:pt x="8" y="1"/>
                    <a:pt x="8" y="1"/>
                  </a:cubicBezTo>
                  <a:cubicBezTo>
                    <a:pt x="8" y="0"/>
                    <a:pt x="7" y="0"/>
                    <a:pt x="7" y="0"/>
                  </a:cubicBezTo>
                  <a:cubicBezTo>
                    <a:pt x="6" y="0"/>
                    <a:pt x="5" y="2"/>
                    <a:pt x="5" y="4"/>
                  </a:cubicBezTo>
                  <a:cubicBezTo>
                    <a:pt x="5" y="4"/>
                    <a:pt x="4" y="5"/>
                    <a:pt x="4" y="5"/>
                  </a:cubicBezTo>
                  <a:cubicBezTo>
                    <a:pt x="4" y="6"/>
                    <a:pt x="4" y="7"/>
                    <a:pt x="3" y="7"/>
                  </a:cubicBezTo>
                  <a:cubicBezTo>
                    <a:pt x="3" y="8"/>
                    <a:pt x="3" y="8"/>
                    <a:pt x="3" y="8"/>
                  </a:cubicBezTo>
                  <a:cubicBezTo>
                    <a:pt x="3" y="8"/>
                    <a:pt x="3" y="8"/>
                    <a:pt x="3" y="8"/>
                  </a:cubicBezTo>
                  <a:cubicBezTo>
                    <a:pt x="3" y="8"/>
                    <a:pt x="2" y="9"/>
                    <a:pt x="2" y="9"/>
                  </a:cubicBezTo>
                  <a:cubicBezTo>
                    <a:pt x="1" y="11"/>
                    <a:pt x="0" y="12"/>
                    <a:pt x="0" y="14"/>
                  </a:cubicBezTo>
                  <a:cubicBezTo>
                    <a:pt x="1" y="14"/>
                    <a:pt x="2" y="15"/>
                    <a:pt x="2" y="15"/>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41" name="Freeform 140">
              <a:extLst>
                <a:ext uri="{FF2B5EF4-FFF2-40B4-BE49-F238E27FC236}">
                  <a16:creationId xmlns:a16="http://schemas.microsoft.com/office/drawing/2014/main" id="{57C85EF3-3373-4EDA-A058-E3958147C55C}"/>
                </a:ext>
              </a:extLst>
            </p:cNvPr>
            <p:cNvSpPr>
              <a:spLocks/>
            </p:cNvSpPr>
            <p:nvPr userDrawn="1"/>
          </p:nvSpPr>
          <p:spPr bwMode="auto">
            <a:xfrm>
              <a:off x="6118433" y="2993493"/>
              <a:ext cx="52941" cy="68067"/>
            </a:xfrm>
            <a:custGeom>
              <a:avLst/>
              <a:gdLst>
                <a:gd name="T0" fmla="*/ 3 w 6"/>
                <a:gd name="T1" fmla="*/ 7 h 7"/>
                <a:gd name="T2" fmla="*/ 1 w 6"/>
                <a:gd name="T3" fmla="*/ 6 h 7"/>
                <a:gd name="T4" fmla="*/ 5 w 6"/>
                <a:gd name="T5" fmla="*/ 0 h 7"/>
                <a:gd name="T6" fmla="*/ 6 w 6"/>
                <a:gd name="T7" fmla="*/ 1 h 7"/>
                <a:gd name="T8" fmla="*/ 5 w 6"/>
                <a:gd name="T9" fmla="*/ 5 h 7"/>
                <a:gd name="T10" fmla="*/ 3 w 6"/>
                <a:gd name="T11" fmla="*/ 7 h 7"/>
              </a:gdLst>
              <a:ahLst/>
              <a:cxnLst>
                <a:cxn ang="0">
                  <a:pos x="T0" y="T1"/>
                </a:cxn>
                <a:cxn ang="0">
                  <a:pos x="T2" y="T3"/>
                </a:cxn>
                <a:cxn ang="0">
                  <a:pos x="T4" y="T5"/>
                </a:cxn>
                <a:cxn ang="0">
                  <a:pos x="T6" y="T7"/>
                </a:cxn>
                <a:cxn ang="0">
                  <a:pos x="T8" y="T9"/>
                </a:cxn>
                <a:cxn ang="0">
                  <a:pos x="T10" y="T11"/>
                </a:cxn>
              </a:cxnLst>
              <a:rect l="0" t="0" r="r" b="b"/>
              <a:pathLst>
                <a:path w="6" h="7">
                  <a:moveTo>
                    <a:pt x="3" y="7"/>
                  </a:moveTo>
                  <a:cubicBezTo>
                    <a:pt x="3" y="7"/>
                    <a:pt x="2" y="6"/>
                    <a:pt x="1" y="6"/>
                  </a:cubicBezTo>
                  <a:cubicBezTo>
                    <a:pt x="0" y="3"/>
                    <a:pt x="4" y="0"/>
                    <a:pt x="5" y="0"/>
                  </a:cubicBezTo>
                  <a:cubicBezTo>
                    <a:pt x="5" y="0"/>
                    <a:pt x="6" y="1"/>
                    <a:pt x="6" y="1"/>
                  </a:cubicBezTo>
                  <a:cubicBezTo>
                    <a:pt x="6" y="2"/>
                    <a:pt x="6" y="4"/>
                    <a:pt x="5" y="5"/>
                  </a:cubicBezTo>
                  <a:cubicBezTo>
                    <a:pt x="4" y="6"/>
                    <a:pt x="3" y="7"/>
                    <a:pt x="3" y="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42" name="Freeform 141">
              <a:extLst>
                <a:ext uri="{FF2B5EF4-FFF2-40B4-BE49-F238E27FC236}">
                  <a16:creationId xmlns:a16="http://schemas.microsoft.com/office/drawing/2014/main" id="{01E879A9-CF4F-4714-9C22-91EC7EE01210}"/>
                </a:ext>
              </a:extLst>
            </p:cNvPr>
            <p:cNvSpPr>
              <a:spLocks/>
            </p:cNvSpPr>
            <p:nvPr userDrawn="1"/>
          </p:nvSpPr>
          <p:spPr bwMode="auto">
            <a:xfrm>
              <a:off x="6118433" y="2993493"/>
              <a:ext cx="52941" cy="68067"/>
            </a:xfrm>
            <a:custGeom>
              <a:avLst/>
              <a:gdLst>
                <a:gd name="T0" fmla="*/ 3 w 6"/>
                <a:gd name="T1" fmla="*/ 7 h 7"/>
                <a:gd name="T2" fmla="*/ 3 w 6"/>
                <a:gd name="T3" fmla="*/ 7 h 7"/>
                <a:gd name="T4" fmla="*/ 5 w 6"/>
                <a:gd name="T5" fmla="*/ 5 h 7"/>
                <a:gd name="T6" fmla="*/ 6 w 6"/>
                <a:gd name="T7" fmla="*/ 1 h 7"/>
                <a:gd name="T8" fmla="*/ 5 w 6"/>
                <a:gd name="T9" fmla="*/ 0 h 7"/>
                <a:gd name="T10" fmla="*/ 1 w 6"/>
                <a:gd name="T11" fmla="*/ 6 h 7"/>
                <a:gd name="T12" fmla="*/ 3 w 6"/>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6" h="7">
                  <a:moveTo>
                    <a:pt x="3" y="7"/>
                  </a:moveTo>
                  <a:cubicBezTo>
                    <a:pt x="3" y="7"/>
                    <a:pt x="3" y="7"/>
                    <a:pt x="3" y="7"/>
                  </a:cubicBezTo>
                  <a:cubicBezTo>
                    <a:pt x="3" y="7"/>
                    <a:pt x="4" y="6"/>
                    <a:pt x="5" y="5"/>
                  </a:cubicBezTo>
                  <a:cubicBezTo>
                    <a:pt x="6" y="4"/>
                    <a:pt x="6" y="2"/>
                    <a:pt x="6" y="1"/>
                  </a:cubicBezTo>
                  <a:cubicBezTo>
                    <a:pt x="6" y="1"/>
                    <a:pt x="5" y="0"/>
                    <a:pt x="5" y="0"/>
                  </a:cubicBezTo>
                  <a:cubicBezTo>
                    <a:pt x="4" y="0"/>
                    <a:pt x="0" y="3"/>
                    <a:pt x="1" y="6"/>
                  </a:cubicBezTo>
                  <a:cubicBezTo>
                    <a:pt x="2" y="6"/>
                    <a:pt x="3" y="7"/>
                    <a:pt x="3" y="7"/>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grpSp>
      <p:pic>
        <p:nvPicPr>
          <p:cNvPr id="215" name="图片 214">
            <a:extLst>
              <a:ext uri="{FF2B5EF4-FFF2-40B4-BE49-F238E27FC236}">
                <a16:creationId xmlns:a16="http://schemas.microsoft.com/office/drawing/2014/main" id="{259B8D75-F3A8-422C-B35A-CB74AB4B3915}"/>
              </a:ext>
            </a:extLst>
          </p:cNvPr>
          <p:cNvPicPr>
            <a:picLocks noChangeAspect="1"/>
          </p:cNvPicPr>
          <p:nvPr/>
        </p:nvPicPr>
        <p:blipFill>
          <a:blip r:embed="rId3">
            <a:duotone>
              <a:schemeClr val="accent2">
                <a:shade val="45000"/>
                <a:satMod val="135000"/>
              </a:schemeClr>
              <a:prstClr val="white"/>
            </a:duotone>
            <a:alphaModFix amt="50000"/>
            <a:extLst>
              <a:ext uri="{28A0092B-C50C-407E-A947-70E740481C1C}">
                <a14:useLocalDpi xmlns:a14="http://schemas.microsoft.com/office/drawing/2010/main" val="0"/>
              </a:ext>
            </a:extLst>
          </a:blip>
          <a:stretch>
            <a:fillRect/>
          </a:stretch>
        </p:blipFill>
        <p:spPr>
          <a:xfrm>
            <a:off x="4901144" y="3739909"/>
            <a:ext cx="6960072" cy="2773464"/>
          </a:xfrm>
          <a:prstGeom prst="rect">
            <a:avLst/>
          </a:prstGeom>
        </p:spPr>
      </p:pic>
      <p:sp>
        <p:nvSpPr>
          <p:cNvPr id="2" name="文本占位符 1">
            <a:extLst>
              <a:ext uri="{FF2B5EF4-FFF2-40B4-BE49-F238E27FC236}">
                <a16:creationId xmlns:a16="http://schemas.microsoft.com/office/drawing/2014/main" id="{5184283D-E128-4185-B014-75A0E1E0F4CA}"/>
              </a:ext>
            </a:extLst>
          </p:cNvPr>
          <p:cNvSpPr>
            <a:spLocks noGrp="1"/>
          </p:cNvSpPr>
          <p:nvPr>
            <p:ph type="body" sz="quarter" idx="11"/>
          </p:nvPr>
        </p:nvSpPr>
        <p:spPr/>
        <p:txBody>
          <a:bodyPr/>
          <a:lstStyle/>
          <a:p>
            <a:r>
              <a:rPr lang="zh-CN" altLang="en-US" sz="3600" b="1">
                <a:solidFill>
                  <a:srgbClr val="000000"/>
                </a:solidFill>
                <a:latin typeface="Arial"/>
                <a:ea typeface="Microsoft YaHei"/>
              </a:rPr>
              <a:t>持续集成（</a:t>
            </a:r>
            <a:r>
              <a:rPr lang="en-US" altLang="zh-CN" sz="3600" b="1">
                <a:solidFill>
                  <a:srgbClr val="000000"/>
                </a:solidFill>
                <a:latin typeface="Arial"/>
                <a:ea typeface="Microsoft YaHei"/>
              </a:rPr>
              <a:t>CI</a:t>
            </a:r>
            <a:r>
              <a:rPr lang="zh-CN" altLang="en-US" sz="3600" b="1">
                <a:solidFill>
                  <a:srgbClr val="000000"/>
                </a:solidFill>
                <a:latin typeface="Arial"/>
                <a:ea typeface="Microsoft YaHei"/>
              </a:rPr>
              <a:t>）</a:t>
            </a:r>
            <a:endParaRPr lang="zh-CN" altLang="en-US" sz="3600">
              <a:solidFill>
                <a:srgbClr val="000000"/>
              </a:solidFill>
            </a:endParaRPr>
          </a:p>
        </p:txBody>
      </p:sp>
      <p:sp>
        <p:nvSpPr>
          <p:cNvPr id="48" name="文本占位符 47">
            <a:extLst>
              <a:ext uri="{FF2B5EF4-FFF2-40B4-BE49-F238E27FC236}">
                <a16:creationId xmlns:a16="http://schemas.microsoft.com/office/drawing/2014/main" id="{AFBAE54A-5128-44B2-B7C4-B74DB83C04EA}"/>
              </a:ext>
            </a:extLst>
          </p:cNvPr>
          <p:cNvSpPr>
            <a:spLocks noGrp="1"/>
          </p:cNvSpPr>
          <p:nvPr>
            <p:ph type="body" sz="quarter" idx="15"/>
          </p:nvPr>
        </p:nvSpPr>
        <p:spPr/>
        <p:txBody>
          <a:bodyPr/>
          <a:lstStyle/>
          <a:p>
            <a:r>
              <a:rPr lang="en-US" altLang="zh-CN"/>
              <a:t>01</a:t>
            </a:r>
            <a:endParaRPr lang="zh-CN" altLang="en-US"/>
          </a:p>
        </p:txBody>
      </p:sp>
      <p:sp>
        <p:nvSpPr>
          <p:cNvPr id="49" name="文本占位符 48">
            <a:extLst>
              <a:ext uri="{FF2B5EF4-FFF2-40B4-BE49-F238E27FC236}">
                <a16:creationId xmlns:a16="http://schemas.microsoft.com/office/drawing/2014/main" id="{52F9B30E-2181-4EA8-9DAF-F4284FE53795}"/>
              </a:ext>
            </a:extLst>
          </p:cNvPr>
          <p:cNvSpPr>
            <a:spLocks noGrp="1"/>
          </p:cNvSpPr>
          <p:nvPr>
            <p:ph type="body" sz="quarter" idx="16"/>
          </p:nvPr>
        </p:nvSpPr>
        <p:spPr/>
        <p:txBody>
          <a:bodyPr>
            <a:normAutofit fontScale="92500" lnSpcReduction="20000"/>
          </a:bodyPr>
          <a:lstStyle/>
          <a:p>
            <a:pPr marL="342900" indent="-342900">
              <a:buFont typeface="Wingdings" panose="05000000000000000000" pitchFamily="2" charset="2"/>
              <a:buChar char="p"/>
            </a:pPr>
            <a:r>
              <a:rPr lang="zh-CN" altLang="en-US" sz="2400"/>
              <a:t>什么是持续集成</a:t>
            </a:r>
            <a:endParaRPr lang="en-US" altLang="zh-CN" sz="2400"/>
          </a:p>
          <a:p>
            <a:pPr marL="342900" indent="-342900">
              <a:buFont typeface="Wingdings" panose="05000000000000000000" pitchFamily="2" charset="2"/>
              <a:buChar char="p"/>
            </a:pPr>
            <a:r>
              <a:rPr lang="zh-CN" altLang="en-US" sz="2400"/>
              <a:t>持续集成的价值</a:t>
            </a:r>
            <a:endParaRPr lang="en-US" altLang="zh-CN" sz="2400"/>
          </a:p>
          <a:p>
            <a:pPr marL="342900" indent="-342900">
              <a:buFont typeface="Wingdings" panose="05000000000000000000" pitchFamily="2" charset="2"/>
              <a:buChar char="p"/>
            </a:pPr>
            <a:r>
              <a:rPr lang="zh-CN" altLang="en-US" sz="2400"/>
              <a:t>持续集成的实现三阶段</a:t>
            </a:r>
            <a:endParaRPr lang="en-US" altLang="zh-CN" sz="2400"/>
          </a:p>
        </p:txBody>
      </p:sp>
    </p:spTree>
    <p:extLst>
      <p:ext uri="{BB962C8B-B14F-4D97-AF65-F5344CB8AC3E}">
        <p14:creationId xmlns:p14="http://schemas.microsoft.com/office/powerpoint/2010/main" val="7812877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14AAC9-ACB0-49FC-A6EE-6BDA13EC5753}"/>
              </a:ext>
            </a:extLst>
          </p:cNvPr>
          <p:cNvSpPr>
            <a:spLocks noGrp="1"/>
          </p:cNvSpPr>
          <p:nvPr>
            <p:ph type="title"/>
          </p:nvPr>
        </p:nvSpPr>
        <p:spPr/>
        <p:txBody>
          <a:bodyPr>
            <a:normAutofit/>
          </a:bodyPr>
          <a:lstStyle/>
          <a:p>
            <a:r>
              <a:rPr lang="en-US" altLang="zh-CN"/>
              <a:t>01 </a:t>
            </a:r>
            <a:r>
              <a:rPr lang="zh-CN" altLang="en-US"/>
              <a:t>持续集成</a:t>
            </a:r>
          </a:p>
        </p:txBody>
      </p:sp>
      <p:sp>
        <p:nvSpPr>
          <p:cNvPr id="3" name="灯片编号占位符 2">
            <a:extLst>
              <a:ext uri="{FF2B5EF4-FFF2-40B4-BE49-F238E27FC236}">
                <a16:creationId xmlns:a16="http://schemas.microsoft.com/office/drawing/2014/main" id="{8BD995E4-EA54-46FD-A180-14744ABC5EC7}"/>
              </a:ext>
            </a:extLst>
          </p:cNvPr>
          <p:cNvSpPr>
            <a:spLocks noGrp="1"/>
          </p:cNvSpPr>
          <p:nvPr>
            <p:ph type="sldNum" sz="quarter" idx="12"/>
          </p:nvPr>
        </p:nvSpPr>
        <p:spPr/>
        <p:txBody>
          <a:bodyPr/>
          <a:lstStyle/>
          <a:p>
            <a:fld id="{1AAC388E-FA9E-4A2C-95EA-1F6B3A07935A}" type="slidenum">
              <a:rPr lang="zh-CN" altLang="en-US" sz="1400" smtClean="0">
                <a:solidFill>
                  <a:srgbClr val="000000"/>
                </a:solidFill>
              </a:rPr>
              <a:pPr/>
              <a:t>58</a:t>
            </a:fld>
            <a:endParaRPr lang="zh-CN" altLang="en-US" sz="1400">
              <a:solidFill>
                <a:srgbClr val="000000"/>
              </a:solidFill>
            </a:endParaRPr>
          </a:p>
        </p:txBody>
      </p:sp>
      <p:sp>
        <p:nvSpPr>
          <p:cNvPr id="4" name="文本框 3">
            <a:extLst>
              <a:ext uri="{FF2B5EF4-FFF2-40B4-BE49-F238E27FC236}">
                <a16:creationId xmlns:a16="http://schemas.microsoft.com/office/drawing/2014/main" id="{03FFCBBC-1D22-D39D-00F0-BECE05053EC6}"/>
              </a:ext>
            </a:extLst>
          </p:cNvPr>
          <p:cNvSpPr txBox="1"/>
          <p:nvPr/>
        </p:nvSpPr>
        <p:spPr>
          <a:xfrm>
            <a:off x="718218" y="874354"/>
            <a:ext cx="3158457"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zh-CN" altLang="en-US" dirty="0"/>
              <a:t>什么是持续集成</a:t>
            </a:r>
          </a:p>
        </p:txBody>
      </p:sp>
      <p:sp>
        <p:nvSpPr>
          <p:cNvPr id="11" name="文本框 10">
            <a:extLst>
              <a:ext uri="{FF2B5EF4-FFF2-40B4-BE49-F238E27FC236}">
                <a16:creationId xmlns:a16="http://schemas.microsoft.com/office/drawing/2014/main" id="{F242D143-372F-1A8C-9901-54F6A2EAA220}"/>
              </a:ext>
            </a:extLst>
          </p:cNvPr>
          <p:cNvSpPr txBox="1"/>
          <p:nvPr/>
        </p:nvSpPr>
        <p:spPr>
          <a:xfrm>
            <a:off x="991869" y="2069078"/>
            <a:ext cx="5793425" cy="3063575"/>
          </a:xfrm>
          <a:prstGeom prst="rect">
            <a:avLst/>
          </a:prstGeom>
        </p:spPr>
        <p:txBody>
          <a:bodyPr wrap="square" lIns="0" tIns="0" rIns="0" bIns="0" rtlCol="0" anchor="ctr">
            <a:normAutofit/>
          </a:bodyPr>
          <a:lstStyle/>
          <a:p>
            <a:pPr indent="457200" algn="l"/>
            <a:endParaRPr lang="zh-CN" altLang="en-US" i="0">
              <a:solidFill>
                <a:srgbClr val="151515"/>
              </a:solidFill>
              <a:effectLst/>
              <a:latin typeface="Times New Roman" panose="02020603050405020304" pitchFamily="18" charset="0"/>
              <a:ea typeface="SimSun" panose="02010600030101010101" pitchFamily="2" charset="-122"/>
              <a:cs typeface="Times New Roman" panose="02020603050405020304" pitchFamily="18" charset="0"/>
            </a:endParaRPr>
          </a:p>
        </p:txBody>
      </p:sp>
      <p:pic>
        <p:nvPicPr>
          <p:cNvPr id="14" name="图片 13" descr="图标&#10;&#10;描述已自动生成">
            <a:extLst>
              <a:ext uri="{FF2B5EF4-FFF2-40B4-BE49-F238E27FC236}">
                <a16:creationId xmlns:a16="http://schemas.microsoft.com/office/drawing/2014/main" id="{BC97C228-CC3A-D72A-B226-1EF8CC12C8DD}"/>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6848545" y="2216149"/>
            <a:ext cx="5051251" cy="2525626"/>
          </a:xfrm>
          <a:prstGeom prst="rect">
            <a:avLst/>
          </a:prstGeom>
        </p:spPr>
      </p:pic>
      <p:sp>
        <p:nvSpPr>
          <p:cNvPr id="15" name="文本框 14">
            <a:extLst>
              <a:ext uri="{FF2B5EF4-FFF2-40B4-BE49-F238E27FC236}">
                <a16:creationId xmlns:a16="http://schemas.microsoft.com/office/drawing/2014/main" id="{64A1EEB2-3292-FA58-1477-CC6A10083E95}"/>
              </a:ext>
            </a:extLst>
          </p:cNvPr>
          <p:cNvSpPr txBox="1"/>
          <p:nvPr/>
        </p:nvSpPr>
        <p:spPr>
          <a:xfrm>
            <a:off x="2095500" y="2667000"/>
            <a:ext cx="0" cy="0"/>
          </a:xfrm>
          <a:prstGeom prst="rect">
            <a:avLst/>
          </a:prstGeom>
          <a:noFill/>
        </p:spPr>
        <p:txBody>
          <a:bodyPr wrap="none" lIns="0" tIns="0" rIns="0" bIns="0" rtlCol="0" anchor="ctr">
            <a:normAutofit fontScale="25000" lnSpcReduction="20000"/>
          </a:bodyPr>
          <a:lstStyle/>
          <a:p>
            <a:pPr algn="l">
              <a:lnSpc>
                <a:spcPct val="125000"/>
              </a:lnSpc>
              <a:spcAft>
                <a:spcPts val="500"/>
              </a:spcAft>
            </a:pPr>
            <a:endParaRPr kumimoji="1" lang="zh-CN" altLang="en-US"/>
          </a:p>
        </p:txBody>
      </p:sp>
      <p:sp>
        <p:nvSpPr>
          <p:cNvPr id="5" name="文本框 4">
            <a:extLst>
              <a:ext uri="{FF2B5EF4-FFF2-40B4-BE49-F238E27FC236}">
                <a16:creationId xmlns:a16="http://schemas.microsoft.com/office/drawing/2014/main" id="{DD2D1686-5943-6D9A-0139-C6C203C9EA60}"/>
              </a:ext>
            </a:extLst>
          </p:cNvPr>
          <p:cNvSpPr txBox="1"/>
          <p:nvPr/>
        </p:nvSpPr>
        <p:spPr>
          <a:xfrm>
            <a:off x="928618" y="2124916"/>
            <a:ext cx="5709035" cy="2951898"/>
          </a:xfrm>
          <a:prstGeom prst="rect">
            <a:avLst/>
          </a:prstGeom>
          <a:noFill/>
        </p:spPr>
        <p:txBody>
          <a:bodyPr wrap="square">
            <a:spAutoFit/>
          </a:bodyPr>
          <a:lstStyle/>
          <a:p>
            <a:pPr indent="457200">
              <a:lnSpc>
                <a:spcPct val="150000"/>
              </a:lnSpc>
            </a:pPr>
            <a:r>
              <a:rPr lang="zh-CN" altLang="en-US" i="0" dirty="0">
                <a:effectLst/>
                <a:latin typeface="+mn-ea"/>
                <a:cs typeface="Times New Roman" panose="02020603050405020304" pitchFamily="18" charset="0"/>
              </a:rPr>
              <a:t>持续集成（</a:t>
            </a:r>
            <a:r>
              <a:rPr lang="en" altLang="zh-CN" i="0" dirty="0">
                <a:effectLst/>
                <a:latin typeface="+mn-ea"/>
                <a:cs typeface="Times New Roman" panose="02020603050405020304" pitchFamily="18" charset="0"/>
              </a:rPr>
              <a:t>CI</a:t>
            </a:r>
            <a:r>
              <a:rPr lang="zh-CN" altLang="en" i="0" dirty="0">
                <a:effectLst/>
                <a:latin typeface="+mn-ea"/>
                <a:cs typeface="Times New Roman" panose="02020603050405020304" pitchFamily="18" charset="0"/>
              </a:rPr>
              <a:t>）</a:t>
            </a:r>
            <a:r>
              <a:rPr lang="zh-CN" altLang="en-US" i="0" dirty="0">
                <a:effectLst/>
                <a:latin typeface="+mn-ea"/>
                <a:cs typeface="Times New Roman" panose="02020603050405020304" pitchFamily="18" charset="0"/>
              </a:rPr>
              <a:t>是一种软件开发过程，它要求开发人员频繁地将新的代码变更集成到共享的源代码仓库中，并自动对每次变更进行构建和测试。持续集成通常指软件发布过程中的构建或集成阶段，它包含了一个自动化组件（例如</a:t>
            </a:r>
            <a:r>
              <a:rPr lang="en" altLang="zh-CN" i="0" dirty="0">
                <a:effectLst/>
                <a:latin typeface="+mn-ea"/>
                <a:cs typeface="Times New Roman" panose="02020603050405020304" pitchFamily="18" charset="0"/>
              </a:rPr>
              <a:t>CI</a:t>
            </a:r>
            <a:r>
              <a:rPr lang="zh-CN" altLang="en-US" i="0" dirty="0">
                <a:effectLst/>
                <a:latin typeface="+mn-ea"/>
                <a:cs typeface="Times New Roman" panose="02020603050405020304" pitchFamily="18" charset="0"/>
              </a:rPr>
              <a:t>或构建服务）。持续集成的主要目标是更早地发现和解决错误，提高软件质量，减少验证和发布新软件更新所需的时间。</a:t>
            </a:r>
            <a:endParaRPr lang="en-US" altLang="zh-CN" i="0" dirty="0">
              <a:effectLst/>
              <a:latin typeface="+mn-ea"/>
              <a:cs typeface="Times New Roman" panose="02020603050405020304" pitchFamily="18" charset="0"/>
            </a:endParaRPr>
          </a:p>
        </p:txBody>
      </p:sp>
    </p:spTree>
    <p:extLst>
      <p:ext uri="{BB962C8B-B14F-4D97-AF65-F5344CB8AC3E}">
        <p14:creationId xmlns:p14="http://schemas.microsoft.com/office/powerpoint/2010/main" val="15026781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68A3EA-FFF7-F593-9FA7-BB39D3E3222F}"/>
              </a:ext>
            </a:extLst>
          </p:cNvPr>
          <p:cNvSpPr>
            <a:spLocks noGrp="1"/>
          </p:cNvSpPr>
          <p:nvPr>
            <p:ph type="title"/>
          </p:nvPr>
        </p:nvSpPr>
        <p:spPr/>
        <p:txBody>
          <a:bodyPr/>
          <a:lstStyle/>
          <a:p>
            <a:r>
              <a:rPr lang="en-US" altLang="zh-CN"/>
              <a:t>01 </a:t>
            </a:r>
            <a:r>
              <a:rPr lang="zh-CN" altLang="en-US"/>
              <a:t>持续集成</a:t>
            </a:r>
            <a:endParaRPr kumimoji="1" lang="zh-CN" altLang="en-US"/>
          </a:p>
        </p:txBody>
      </p:sp>
      <p:sp>
        <p:nvSpPr>
          <p:cNvPr id="3" name="灯片编号占位符 2">
            <a:extLst>
              <a:ext uri="{FF2B5EF4-FFF2-40B4-BE49-F238E27FC236}">
                <a16:creationId xmlns:a16="http://schemas.microsoft.com/office/drawing/2014/main" id="{940AA628-8120-F109-B869-E8671F3D72B8}"/>
              </a:ext>
            </a:extLst>
          </p:cNvPr>
          <p:cNvSpPr>
            <a:spLocks noGrp="1"/>
          </p:cNvSpPr>
          <p:nvPr>
            <p:ph type="sldNum" sz="quarter" idx="12"/>
          </p:nvPr>
        </p:nvSpPr>
        <p:spPr/>
        <p:txBody>
          <a:bodyPr/>
          <a:lstStyle/>
          <a:p>
            <a:fld id="{1AAC388E-FA9E-4A2C-95EA-1F6B3A07935A}" type="slidenum">
              <a:rPr lang="zh-CN" altLang="en-US" smtClean="0"/>
              <a:pPr/>
              <a:t>59</a:t>
            </a:fld>
            <a:endParaRPr lang="zh-CN" altLang="en-US"/>
          </a:p>
        </p:txBody>
      </p:sp>
      <p:sp>
        <p:nvSpPr>
          <p:cNvPr id="4" name="文本框 3">
            <a:extLst>
              <a:ext uri="{FF2B5EF4-FFF2-40B4-BE49-F238E27FC236}">
                <a16:creationId xmlns:a16="http://schemas.microsoft.com/office/drawing/2014/main" id="{BA9D347B-A333-F47E-DAC1-B3F417A6AD0E}"/>
              </a:ext>
            </a:extLst>
          </p:cNvPr>
          <p:cNvSpPr txBox="1"/>
          <p:nvPr/>
        </p:nvSpPr>
        <p:spPr>
          <a:xfrm>
            <a:off x="718218" y="874354"/>
            <a:ext cx="3996657"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zh-CN" altLang="en-US" dirty="0"/>
              <a:t>持续集成的价值</a:t>
            </a:r>
          </a:p>
        </p:txBody>
      </p:sp>
      <p:pic>
        <p:nvPicPr>
          <p:cNvPr id="8" name="图片 7" descr="光盘上有字&#10;&#10;中度可信度描述已自动生成">
            <a:extLst>
              <a:ext uri="{FF2B5EF4-FFF2-40B4-BE49-F238E27FC236}">
                <a16:creationId xmlns:a16="http://schemas.microsoft.com/office/drawing/2014/main" id="{4ABB83A2-6FC9-9913-4767-A133E4F210D5}"/>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2152" r="43895"/>
          <a:stretch/>
        </p:blipFill>
        <p:spPr>
          <a:xfrm>
            <a:off x="6448083" y="1069975"/>
            <a:ext cx="5025699" cy="5399691"/>
          </a:xfrm>
          <a:prstGeom prst="rect">
            <a:avLst/>
          </a:prstGeom>
        </p:spPr>
      </p:pic>
      <p:sp>
        <p:nvSpPr>
          <p:cNvPr id="6" name="文本框 5">
            <a:extLst>
              <a:ext uri="{FF2B5EF4-FFF2-40B4-BE49-F238E27FC236}">
                <a16:creationId xmlns:a16="http://schemas.microsoft.com/office/drawing/2014/main" id="{BC085EE8-9164-9405-FA4D-0D4686223882}"/>
              </a:ext>
            </a:extLst>
          </p:cNvPr>
          <p:cNvSpPr txBox="1"/>
          <p:nvPr/>
        </p:nvSpPr>
        <p:spPr>
          <a:xfrm>
            <a:off x="991869" y="2069078"/>
            <a:ext cx="5674937" cy="3517075"/>
          </a:xfrm>
          <a:prstGeom prst="rect">
            <a:avLst/>
          </a:prstGeom>
          <a:noFill/>
        </p:spPr>
        <p:txBody>
          <a:bodyPr wrap="square" lIns="0" tIns="0" rIns="0" bIns="0" rtlCol="0" anchor="ctr">
            <a:noAutofit/>
          </a:bodyPr>
          <a:lstStyle/>
          <a:p>
            <a:pPr marL="285750" indent="-285750">
              <a:lnSpc>
                <a:spcPct val="150000"/>
              </a:lnSpc>
              <a:spcAft>
                <a:spcPts val="600"/>
              </a:spcAft>
              <a:buFont typeface="Wingdings" panose="05000000000000000000" pitchFamily="2" charset="2"/>
              <a:buChar char="l"/>
            </a:pPr>
            <a:r>
              <a:rPr lang="zh-CN" altLang="en-US" dirty="0">
                <a:latin typeface="+mn-ea"/>
                <a:cs typeface="Times New Roman" panose="02020603050405020304" pitchFamily="18" charset="0"/>
              </a:rPr>
              <a:t>提早并快速地发现和解决集成问题，避免在最终合并时出现复杂的冲突和错误。</a:t>
            </a:r>
          </a:p>
          <a:p>
            <a:pPr marL="285750" indent="-285750">
              <a:lnSpc>
                <a:spcPct val="150000"/>
              </a:lnSpc>
              <a:spcAft>
                <a:spcPts val="600"/>
              </a:spcAft>
              <a:buFont typeface="Wingdings" panose="05000000000000000000" pitchFamily="2" charset="2"/>
              <a:buChar char="l"/>
            </a:pPr>
            <a:r>
              <a:rPr lang="zh-CN" altLang="en-US" dirty="0">
                <a:latin typeface="+mn-ea"/>
                <a:cs typeface="Times New Roman" panose="02020603050405020304" pitchFamily="18" charset="0"/>
              </a:rPr>
              <a:t>保持代码库的稳定性，确保代码随时可部署。</a:t>
            </a:r>
          </a:p>
          <a:p>
            <a:pPr marL="285750" indent="-285750">
              <a:lnSpc>
                <a:spcPct val="150000"/>
              </a:lnSpc>
              <a:spcAft>
                <a:spcPts val="600"/>
              </a:spcAft>
              <a:buFont typeface="Wingdings" panose="05000000000000000000" pitchFamily="2" charset="2"/>
              <a:buChar char="l"/>
            </a:pPr>
            <a:r>
              <a:rPr lang="zh-CN" altLang="en-US" dirty="0">
                <a:latin typeface="+mn-ea"/>
                <a:cs typeface="Times New Roman" panose="02020603050405020304" pitchFamily="18" charset="0"/>
              </a:rPr>
              <a:t>提高软件质量，通过自动化测试来检测代码中的缺陷和漏洞。</a:t>
            </a:r>
          </a:p>
          <a:p>
            <a:pPr marL="285750" indent="-285750">
              <a:lnSpc>
                <a:spcPct val="150000"/>
              </a:lnSpc>
              <a:spcAft>
                <a:spcPts val="600"/>
              </a:spcAft>
              <a:buFont typeface="Wingdings" panose="05000000000000000000" pitchFamily="2" charset="2"/>
              <a:buChar char="l"/>
            </a:pPr>
            <a:r>
              <a:rPr lang="zh-CN" altLang="en-US" dirty="0">
                <a:latin typeface="+mn-ea"/>
                <a:cs typeface="Times New Roman" panose="02020603050405020304" pitchFamily="18" charset="0"/>
              </a:rPr>
              <a:t>加快软件交付的速度，通过自动化构建和部署来缩短反馈循环。</a:t>
            </a:r>
          </a:p>
          <a:p>
            <a:pPr marL="285750" indent="-285750">
              <a:lnSpc>
                <a:spcPct val="150000"/>
              </a:lnSpc>
              <a:spcAft>
                <a:spcPts val="600"/>
              </a:spcAft>
              <a:buFont typeface="Wingdings" panose="05000000000000000000" pitchFamily="2" charset="2"/>
              <a:buChar char="l"/>
            </a:pPr>
            <a:r>
              <a:rPr lang="zh-CN" altLang="en-US" dirty="0">
                <a:latin typeface="+mn-ea"/>
                <a:cs typeface="Times New Roman" panose="02020603050405020304" pitchFamily="18" charset="0"/>
              </a:rPr>
              <a:t>增强开发团队的协作能力，通过频繁地提交小的代码变更来保持代码的一致性和可读性。</a:t>
            </a:r>
          </a:p>
        </p:txBody>
      </p:sp>
    </p:spTree>
    <p:extLst>
      <p:ext uri="{BB962C8B-B14F-4D97-AF65-F5344CB8AC3E}">
        <p14:creationId xmlns:p14="http://schemas.microsoft.com/office/powerpoint/2010/main" val="13972391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68A3EA-FFF7-F593-9FA7-BB39D3E3222F}"/>
              </a:ext>
            </a:extLst>
          </p:cNvPr>
          <p:cNvSpPr>
            <a:spLocks noGrp="1"/>
          </p:cNvSpPr>
          <p:nvPr>
            <p:ph type="title"/>
          </p:nvPr>
        </p:nvSpPr>
        <p:spPr/>
        <p:txBody>
          <a:bodyPr/>
          <a:lstStyle/>
          <a:p>
            <a:r>
              <a:rPr lang="en-US" altLang="zh-CN"/>
              <a:t>01 </a:t>
            </a:r>
            <a:r>
              <a:rPr lang="zh-CN" altLang="en-US"/>
              <a:t>持续集成</a:t>
            </a:r>
            <a:endParaRPr kumimoji="1" lang="zh-CN" altLang="en-US"/>
          </a:p>
        </p:txBody>
      </p:sp>
      <p:sp>
        <p:nvSpPr>
          <p:cNvPr id="3" name="灯片编号占位符 2">
            <a:extLst>
              <a:ext uri="{FF2B5EF4-FFF2-40B4-BE49-F238E27FC236}">
                <a16:creationId xmlns:a16="http://schemas.microsoft.com/office/drawing/2014/main" id="{940AA628-8120-F109-B869-E8671F3D72B8}"/>
              </a:ext>
            </a:extLst>
          </p:cNvPr>
          <p:cNvSpPr>
            <a:spLocks noGrp="1"/>
          </p:cNvSpPr>
          <p:nvPr>
            <p:ph type="sldNum" sz="quarter" idx="12"/>
          </p:nvPr>
        </p:nvSpPr>
        <p:spPr/>
        <p:txBody>
          <a:bodyPr/>
          <a:lstStyle/>
          <a:p>
            <a:fld id="{1AAC388E-FA9E-4A2C-95EA-1F6B3A07935A}" type="slidenum">
              <a:rPr lang="zh-CN" altLang="en-US" smtClean="0"/>
              <a:pPr/>
              <a:t>60</a:t>
            </a:fld>
            <a:endParaRPr lang="zh-CN" altLang="en-US"/>
          </a:p>
        </p:txBody>
      </p:sp>
      <p:sp>
        <p:nvSpPr>
          <p:cNvPr id="4" name="文本框 3">
            <a:extLst>
              <a:ext uri="{FF2B5EF4-FFF2-40B4-BE49-F238E27FC236}">
                <a16:creationId xmlns:a16="http://schemas.microsoft.com/office/drawing/2014/main" id="{BA9D347B-A333-F47E-DAC1-B3F417A6AD0E}"/>
              </a:ext>
            </a:extLst>
          </p:cNvPr>
          <p:cNvSpPr txBox="1"/>
          <p:nvPr/>
        </p:nvSpPr>
        <p:spPr>
          <a:xfrm>
            <a:off x="718218" y="874354"/>
            <a:ext cx="3594702"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zh-CN" altLang="en-US" dirty="0"/>
              <a:t>持续集成的三个阶段</a:t>
            </a:r>
            <a:endParaRPr lang="en-US" altLang="zh-CN" dirty="0"/>
          </a:p>
        </p:txBody>
      </p:sp>
      <p:sp>
        <p:nvSpPr>
          <p:cNvPr id="8" name="文本框 7">
            <a:extLst>
              <a:ext uri="{FF2B5EF4-FFF2-40B4-BE49-F238E27FC236}">
                <a16:creationId xmlns:a16="http://schemas.microsoft.com/office/drawing/2014/main" id="{D95D5404-EE47-3819-5B9B-11FD5C718224}"/>
              </a:ext>
            </a:extLst>
          </p:cNvPr>
          <p:cNvSpPr txBox="1"/>
          <p:nvPr/>
        </p:nvSpPr>
        <p:spPr>
          <a:xfrm>
            <a:off x="2819746" y="2248720"/>
            <a:ext cx="7380894" cy="2547685"/>
          </a:xfrm>
          <a:prstGeom prst="rect">
            <a:avLst/>
          </a:prstGeom>
          <a:noFill/>
        </p:spPr>
        <p:txBody>
          <a:bodyPr wrap="square">
            <a:spAutoFit/>
          </a:bodyPr>
          <a:lstStyle/>
          <a:p>
            <a:pPr marL="285750" indent="-285750">
              <a:lnSpc>
                <a:spcPct val="200000"/>
              </a:lnSpc>
              <a:buFont typeface="Arial" panose="020B0604020202020204" pitchFamily="34" charset="0"/>
              <a:buChar char="•"/>
            </a:pPr>
            <a:r>
              <a:rPr lang="zh-CN" altLang="en-US" sz="2800" b="0" i="0">
                <a:effectLst/>
                <a:latin typeface="+mj-ea"/>
                <a:ea typeface="+mj-ea"/>
              </a:rPr>
              <a:t>第一阶段：每次提交触发完整的流水线</a:t>
            </a:r>
            <a:endParaRPr lang="en-US" altLang="zh-CN" sz="2800" b="0" i="0">
              <a:effectLst/>
              <a:latin typeface="+mj-ea"/>
              <a:ea typeface="+mj-ea"/>
            </a:endParaRPr>
          </a:p>
          <a:p>
            <a:pPr marL="285750" indent="-285750">
              <a:lnSpc>
                <a:spcPct val="200000"/>
              </a:lnSpc>
              <a:buFont typeface="Arial" panose="020B0604020202020204" pitchFamily="34" charset="0"/>
              <a:buChar char="•"/>
            </a:pPr>
            <a:r>
              <a:rPr lang="zh-CN" altLang="en-US" sz="2800" b="0" i="0">
                <a:effectLst/>
                <a:latin typeface="+mj-ea"/>
                <a:ea typeface="+mj-ea"/>
              </a:rPr>
              <a:t>第二阶段：</a:t>
            </a:r>
            <a:r>
              <a:rPr lang="zh-CN" altLang="en-US" sz="2800" b="0" i="0">
                <a:effectLst/>
                <a:latin typeface="Arial" panose="020B0604020202020204" pitchFamily="34" charset="0"/>
              </a:rPr>
              <a:t>每次流水线触发自动化测试</a:t>
            </a:r>
            <a:endParaRPr lang="en-US" altLang="zh-CN" sz="2800" b="0" i="0">
              <a:effectLst/>
              <a:latin typeface="Arial" panose="020B0604020202020204" pitchFamily="34" charset="0"/>
            </a:endParaRPr>
          </a:p>
          <a:p>
            <a:pPr marL="285750" indent="-285750">
              <a:lnSpc>
                <a:spcPct val="200000"/>
              </a:lnSpc>
              <a:buFont typeface="Arial" panose="020B0604020202020204" pitchFamily="34" charset="0"/>
              <a:buChar char="•"/>
            </a:pPr>
            <a:r>
              <a:rPr lang="zh-CN" altLang="en-US" sz="2800" b="0" i="0">
                <a:effectLst/>
                <a:latin typeface="+mj-ea"/>
                <a:ea typeface="+mj-ea"/>
              </a:rPr>
              <a:t>第三阶段：</a:t>
            </a:r>
            <a:r>
              <a:rPr lang="zh-CN" altLang="en-US" sz="2800" b="0" i="0">
                <a:effectLst/>
                <a:latin typeface="Arial" panose="020B0604020202020204" pitchFamily="34" charset="0"/>
              </a:rPr>
              <a:t>出了问题可以在第一时间修复</a:t>
            </a:r>
            <a:endParaRPr lang="zh-CN" altLang="en-US" sz="2800">
              <a:latin typeface="+mj-ea"/>
              <a:ea typeface="+mj-ea"/>
            </a:endParaRPr>
          </a:p>
        </p:txBody>
      </p:sp>
    </p:spTree>
    <p:extLst>
      <p:ext uri="{BB962C8B-B14F-4D97-AF65-F5344CB8AC3E}">
        <p14:creationId xmlns:p14="http://schemas.microsoft.com/office/powerpoint/2010/main" val="10877100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68A3EA-FFF7-F593-9FA7-BB39D3E3222F}"/>
              </a:ext>
            </a:extLst>
          </p:cNvPr>
          <p:cNvSpPr>
            <a:spLocks noGrp="1"/>
          </p:cNvSpPr>
          <p:nvPr>
            <p:ph type="title"/>
          </p:nvPr>
        </p:nvSpPr>
        <p:spPr/>
        <p:txBody>
          <a:bodyPr/>
          <a:lstStyle/>
          <a:p>
            <a:r>
              <a:rPr lang="en-US" altLang="zh-CN"/>
              <a:t>01 </a:t>
            </a:r>
            <a:r>
              <a:rPr lang="zh-CN" altLang="en-US"/>
              <a:t>持续集成</a:t>
            </a:r>
            <a:endParaRPr kumimoji="1" lang="zh-CN" altLang="en-US"/>
          </a:p>
        </p:txBody>
      </p:sp>
      <p:sp>
        <p:nvSpPr>
          <p:cNvPr id="3" name="灯片编号占位符 2">
            <a:extLst>
              <a:ext uri="{FF2B5EF4-FFF2-40B4-BE49-F238E27FC236}">
                <a16:creationId xmlns:a16="http://schemas.microsoft.com/office/drawing/2014/main" id="{940AA628-8120-F109-B869-E8671F3D72B8}"/>
              </a:ext>
            </a:extLst>
          </p:cNvPr>
          <p:cNvSpPr>
            <a:spLocks noGrp="1"/>
          </p:cNvSpPr>
          <p:nvPr>
            <p:ph type="sldNum" sz="quarter" idx="12"/>
          </p:nvPr>
        </p:nvSpPr>
        <p:spPr/>
        <p:txBody>
          <a:bodyPr/>
          <a:lstStyle/>
          <a:p>
            <a:fld id="{1AAC388E-FA9E-4A2C-95EA-1F6B3A07935A}" type="slidenum">
              <a:rPr lang="zh-CN" altLang="en-US" smtClean="0"/>
              <a:pPr/>
              <a:t>61</a:t>
            </a:fld>
            <a:endParaRPr lang="zh-CN" altLang="en-US"/>
          </a:p>
        </p:txBody>
      </p:sp>
      <p:sp>
        <p:nvSpPr>
          <p:cNvPr id="4" name="文本框 3">
            <a:extLst>
              <a:ext uri="{FF2B5EF4-FFF2-40B4-BE49-F238E27FC236}">
                <a16:creationId xmlns:a16="http://schemas.microsoft.com/office/drawing/2014/main" id="{BA9D347B-A333-F47E-DAC1-B3F417A6AD0E}"/>
              </a:ext>
            </a:extLst>
          </p:cNvPr>
          <p:cNvSpPr txBox="1"/>
          <p:nvPr/>
        </p:nvSpPr>
        <p:spPr>
          <a:xfrm>
            <a:off x="718218" y="874354"/>
            <a:ext cx="4101432"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zh-CN" altLang="en-US" dirty="0"/>
              <a:t>持续集成的实现三阶段</a:t>
            </a:r>
            <a:endParaRPr lang="en-US" altLang="zh-CN" dirty="0"/>
          </a:p>
        </p:txBody>
      </p:sp>
      <p:sp>
        <p:nvSpPr>
          <p:cNvPr id="8" name="文本框 7">
            <a:extLst>
              <a:ext uri="{FF2B5EF4-FFF2-40B4-BE49-F238E27FC236}">
                <a16:creationId xmlns:a16="http://schemas.microsoft.com/office/drawing/2014/main" id="{D95D5404-EE47-3819-5B9B-11FD5C718224}"/>
              </a:ext>
            </a:extLst>
          </p:cNvPr>
          <p:cNvSpPr txBox="1"/>
          <p:nvPr/>
        </p:nvSpPr>
        <p:spPr>
          <a:xfrm>
            <a:off x="1051907" y="1475429"/>
            <a:ext cx="6217226" cy="369332"/>
          </a:xfrm>
          <a:prstGeom prst="rect">
            <a:avLst/>
          </a:prstGeom>
          <a:noFill/>
        </p:spPr>
        <p:txBody>
          <a:bodyPr wrap="square">
            <a:spAutoFit/>
          </a:bodyPr>
          <a:lstStyle/>
          <a:p>
            <a:r>
              <a:rPr lang="zh-CN" altLang="en-US" b="0" i="0">
                <a:effectLst/>
                <a:latin typeface="+mj-ea"/>
                <a:ea typeface="+mj-ea"/>
              </a:rPr>
              <a:t>第一阶段：每次提交触发完整的流水线</a:t>
            </a:r>
            <a:endParaRPr lang="zh-CN" altLang="en-US">
              <a:latin typeface="+mj-ea"/>
              <a:ea typeface="+mj-ea"/>
            </a:endParaRPr>
          </a:p>
        </p:txBody>
      </p:sp>
      <p:sp>
        <p:nvSpPr>
          <p:cNvPr id="15" name="文本框 14">
            <a:extLst>
              <a:ext uri="{FF2B5EF4-FFF2-40B4-BE49-F238E27FC236}">
                <a16:creationId xmlns:a16="http://schemas.microsoft.com/office/drawing/2014/main" id="{DEADEAFD-1329-6FA3-7B53-67A1A106F319}"/>
              </a:ext>
            </a:extLst>
          </p:cNvPr>
          <p:cNvSpPr txBox="1"/>
          <p:nvPr/>
        </p:nvSpPr>
        <p:spPr>
          <a:xfrm>
            <a:off x="7532550" y="1475429"/>
            <a:ext cx="2976071" cy="369332"/>
          </a:xfrm>
          <a:prstGeom prst="rect">
            <a:avLst/>
          </a:prstGeom>
          <a:noFill/>
        </p:spPr>
        <p:txBody>
          <a:bodyPr wrap="square">
            <a:spAutoFit/>
          </a:bodyPr>
          <a:lstStyle/>
          <a:p>
            <a:pPr>
              <a:spcAft>
                <a:spcPts val="600"/>
              </a:spcAft>
            </a:pPr>
            <a:r>
              <a:rPr lang="zh-CN" altLang="en-US"/>
              <a:t>关键词：</a:t>
            </a:r>
            <a:r>
              <a:rPr lang="zh-CN" altLang="en-US" b="1"/>
              <a:t>快速集成</a:t>
            </a:r>
            <a:r>
              <a:rPr lang="zh-CN" altLang="en-US"/>
              <a:t>。</a:t>
            </a:r>
          </a:p>
        </p:txBody>
      </p:sp>
      <p:sp>
        <p:nvSpPr>
          <p:cNvPr id="6" name="文本框 5">
            <a:extLst>
              <a:ext uri="{FF2B5EF4-FFF2-40B4-BE49-F238E27FC236}">
                <a16:creationId xmlns:a16="http://schemas.microsoft.com/office/drawing/2014/main" id="{E4D44F5E-3E1B-3A2C-3EE1-EAB150704D68}"/>
              </a:ext>
            </a:extLst>
          </p:cNvPr>
          <p:cNvSpPr txBox="1"/>
          <p:nvPr/>
        </p:nvSpPr>
        <p:spPr>
          <a:xfrm>
            <a:off x="718218" y="2919955"/>
            <a:ext cx="6550915" cy="2428229"/>
          </a:xfrm>
          <a:prstGeom prst="rect">
            <a:avLst/>
          </a:prstGeom>
          <a:noFill/>
        </p:spPr>
        <p:txBody>
          <a:bodyPr wrap="square">
            <a:spAutoFit/>
          </a:bodyPr>
          <a:lstStyle/>
          <a:p>
            <a:pPr lvl="1">
              <a:lnSpc>
                <a:spcPct val="150000"/>
              </a:lnSpc>
              <a:spcAft>
                <a:spcPts val="600"/>
              </a:spcAft>
            </a:pPr>
            <a:r>
              <a:rPr lang="zh-CN" altLang="en-US" dirty="0"/>
              <a:t>前置条件：</a:t>
            </a:r>
            <a:endParaRPr lang="en-US" altLang="zh-CN" b="0" i="0" dirty="0">
              <a:effectLst/>
              <a:latin typeface="Arial" panose="020B0604020202020204" pitchFamily="34" charset="0"/>
            </a:endParaRPr>
          </a:p>
          <a:p>
            <a:pPr marL="742950" lvl="1" indent="-285750">
              <a:lnSpc>
                <a:spcPct val="150000"/>
              </a:lnSpc>
              <a:spcAft>
                <a:spcPts val="600"/>
              </a:spcAft>
              <a:buFont typeface="Arial" panose="020B0604020202020204" pitchFamily="34" charset="0"/>
              <a:buChar char="•"/>
            </a:pPr>
            <a:r>
              <a:rPr lang="zh-CN" altLang="en-US" b="0" i="0" dirty="0">
                <a:effectLst/>
                <a:latin typeface="Arial" panose="020B0604020202020204" pitchFamily="34" charset="0"/>
              </a:rPr>
              <a:t>统一的分支策略。</a:t>
            </a:r>
            <a:endParaRPr lang="en-US" altLang="zh-CN" b="0" i="0" dirty="0">
              <a:effectLst/>
              <a:latin typeface="Arial" panose="020B0604020202020204" pitchFamily="34" charset="0"/>
            </a:endParaRPr>
          </a:p>
          <a:p>
            <a:pPr marL="742950" lvl="1" indent="-285750">
              <a:lnSpc>
                <a:spcPct val="150000"/>
              </a:lnSpc>
              <a:spcAft>
                <a:spcPts val="600"/>
              </a:spcAft>
              <a:buFont typeface="Arial" panose="020B0604020202020204" pitchFamily="34" charset="0"/>
              <a:buChar char="•"/>
            </a:pPr>
            <a:r>
              <a:rPr lang="zh-CN" altLang="en-US" b="0" i="0" dirty="0">
                <a:effectLst/>
                <a:latin typeface="Arial" panose="020B0604020202020204" pitchFamily="34" charset="0"/>
              </a:rPr>
              <a:t>清晰的集成规则。</a:t>
            </a:r>
            <a:endParaRPr lang="en-US" altLang="zh-CN" dirty="0">
              <a:latin typeface="Arial" panose="020B0604020202020204" pitchFamily="34" charset="0"/>
            </a:endParaRPr>
          </a:p>
          <a:p>
            <a:pPr marL="742950" lvl="1" indent="-285750">
              <a:lnSpc>
                <a:spcPct val="150000"/>
              </a:lnSpc>
              <a:spcAft>
                <a:spcPts val="600"/>
              </a:spcAft>
              <a:buFont typeface="Arial" panose="020B0604020202020204" pitchFamily="34" charset="0"/>
              <a:buChar char="•"/>
            </a:pPr>
            <a:r>
              <a:rPr lang="zh-CN" altLang="en-US" b="0" i="0" dirty="0">
                <a:effectLst/>
                <a:latin typeface="Arial" panose="020B0604020202020204" pitchFamily="34" charset="0"/>
              </a:rPr>
              <a:t>标准化的资源池。</a:t>
            </a:r>
            <a:endParaRPr lang="en-US" altLang="zh-CN" b="0" i="0" dirty="0">
              <a:effectLst/>
              <a:latin typeface="Arial" panose="020B0604020202020204" pitchFamily="34" charset="0"/>
            </a:endParaRPr>
          </a:p>
          <a:p>
            <a:pPr marL="742950" lvl="1" indent="-285750">
              <a:lnSpc>
                <a:spcPct val="150000"/>
              </a:lnSpc>
              <a:spcAft>
                <a:spcPts val="600"/>
              </a:spcAft>
              <a:buFont typeface="Arial" panose="020B0604020202020204" pitchFamily="34" charset="0"/>
              <a:buChar char="•"/>
            </a:pPr>
            <a:r>
              <a:rPr lang="zh-CN" altLang="en-US" b="0" i="0" dirty="0">
                <a:effectLst/>
                <a:latin typeface="Arial" panose="020B0604020202020204" pitchFamily="34" charset="0"/>
              </a:rPr>
              <a:t>足够快的反馈周期。</a:t>
            </a:r>
            <a:endParaRPr lang="zh-CN" altLang="en-US" dirty="0"/>
          </a:p>
        </p:txBody>
      </p:sp>
      <p:pic>
        <p:nvPicPr>
          <p:cNvPr id="9" name="图片 8" descr="图示&#10;&#10;描述已自动生成">
            <a:extLst>
              <a:ext uri="{FF2B5EF4-FFF2-40B4-BE49-F238E27FC236}">
                <a16:creationId xmlns:a16="http://schemas.microsoft.com/office/drawing/2014/main" id="{07759566-FA37-2760-BA9D-2680EF20A645}"/>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5177969" y="2247612"/>
            <a:ext cx="6295813" cy="3870759"/>
          </a:xfrm>
          <a:prstGeom prst="rect">
            <a:avLst/>
          </a:prstGeom>
        </p:spPr>
      </p:pic>
    </p:spTree>
    <p:extLst>
      <p:ext uri="{BB962C8B-B14F-4D97-AF65-F5344CB8AC3E}">
        <p14:creationId xmlns:p14="http://schemas.microsoft.com/office/powerpoint/2010/main" val="37570835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68A3EA-FFF7-F593-9FA7-BB39D3E3222F}"/>
              </a:ext>
            </a:extLst>
          </p:cNvPr>
          <p:cNvSpPr>
            <a:spLocks noGrp="1"/>
          </p:cNvSpPr>
          <p:nvPr>
            <p:ph type="title"/>
          </p:nvPr>
        </p:nvSpPr>
        <p:spPr/>
        <p:txBody>
          <a:bodyPr/>
          <a:lstStyle/>
          <a:p>
            <a:r>
              <a:rPr lang="en-US" altLang="zh-CN"/>
              <a:t>01 </a:t>
            </a:r>
            <a:r>
              <a:rPr lang="zh-CN" altLang="en-US"/>
              <a:t>持续集成</a:t>
            </a:r>
            <a:endParaRPr kumimoji="1" lang="zh-CN" altLang="en-US"/>
          </a:p>
        </p:txBody>
      </p:sp>
      <p:sp>
        <p:nvSpPr>
          <p:cNvPr id="3" name="灯片编号占位符 2">
            <a:extLst>
              <a:ext uri="{FF2B5EF4-FFF2-40B4-BE49-F238E27FC236}">
                <a16:creationId xmlns:a16="http://schemas.microsoft.com/office/drawing/2014/main" id="{940AA628-8120-F109-B869-E8671F3D72B8}"/>
              </a:ext>
            </a:extLst>
          </p:cNvPr>
          <p:cNvSpPr>
            <a:spLocks noGrp="1"/>
          </p:cNvSpPr>
          <p:nvPr>
            <p:ph type="sldNum" sz="quarter" idx="12"/>
          </p:nvPr>
        </p:nvSpPr>
        <p:spPr/>
        <p:txBody>
          <a:bodyPr/>
          <a:lstStyle/>
          <a:p>
            <a:fld id="{1AAC388E-FA9E-4A2C-95EA-1F6B3A07935A}" type="slidenum">
              <a:rPr lang="zh-CN" altLang="en-US" smtClean="0"/>
              <a:pPr/>
              <a:t>62</a:t>
            </a:fld>
            <a:endParaRPr lang="zh-CN" altLang="en-US"/>
          </a:p>
        </p:txBody>
      </p:sp>
      <p:sp>
        <p:nvSpPr>
          <p:cNvPr id="4" name="文本框 3">
            <a:extLst>
              <a:ext uri="{FF2B5EF4-FFF2-40B4-BE49-F238E27FC236}">
                <a16:creationId xmlns:a16="http://schemas.microsoft.com/office/drawing/2014/main" id="{BA9D347B-A333-F47E-DAC1-B3F417A6AD0E}"/>
              </a:ext>
            </a:extLst>
          </p:cNvPr>
          <p:cNvSpPr txBox="1"/>
          <p:nvPr/>
        </p:nvSpPr>
        <p:spPr>
          <a:xfrm>
            <a:off x="718218" y="874354"/>
            <a:ext cx="4120482"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zh-CN" altLang="en-US" dirty="0"/>
              <a:t>持续集成的实现三阶段</a:t>
            </a:r>
            <a:endParaRPr lang="en-US" altLang="zh-CN" dirty="0"/>
          </a:p>
        </p:txBody>
      </p:sp>
      <p:sp>
        <p:nvSpPr>
          <p:cNvPr id="8" name="文本框 7">
            <a:extLst>
              <a:ext uri="{FF2B5EF4-FFF2-40B4-BE49-F238E27FC236}">
                <a16:creationId xmlns:a16="http://schemas.microsoft.com/office/drawing/2014/main" id="{D95D5404-EE47-3819-5B9B-11FD5C718224}"/>
              </a:ext>
            </a:extLst>
          </p:cNvPr>
          <p:cNvSpPr txBox="1"/>
          <p:nvPr/>
        </p:nvSpPr>
        <p:spPr>
          <a:xfrm>
            <a:off x="1051907" y="1475429"/>
            <a:ext cx="6217226" cy="369332"/>
          </a:xfrm>
          <a:prstGeom prst="rect">
            <a:avLst/>
          </a:prstGeom>
          <a:noFill/>
        </p:spPr>
        <p:txBody>
          <a:bodyPr wrap="square">
            <a:spAutoFit/>
          </a:bodyPr>
          <a:lstStyle/>
          <a:p>
            <a:r>
              <a:rPr lang="zh-CN" altLang="en-US" b="0" i="0">
                <a:effectLst/>
                <a:latin typeface="+mj-ea"/>
                <a:ea typeface="+mj-ea"/>
              </a:rPr>
              <a:t>第一阶段：每次提交触发完整的流水线</a:t>
            </a:r>
            <a:endParaRPr lang="zh-CN" altLang="en-US">
              <a:latin typeface="+mj-ea"/>
              <a:ea typeface="+mj-ea"/>
            </a:endParaRPr>
          </a:p>
        </p:txBody>
      </p:sp>
      <p:graphicFrame>
        <p:nvGraphicFramePr>
          <p:cNvPr id="5" name="图示 4">
            <a:extLst>
              <a:ext uri="{FF2B5EF4-FFF2-40B4-BE49-F238E27FC236}">
                <a16:creationId xmlns:a16="http://schemas.microsoft.com/office/drawing/2014/main" id="{6299A1E3-001E-384B-6B42-E7067143CA08}"/>
              </a:ext>
            </a:extLst>
          </p:cNvPr>
          <p:cNvGraphicFramePr/>
          <p:nvPr/>
        </p:nvGraphicFramePr>
        <p:xfrm>
          <a:off x="1051907" y="2517104"/>
          <a:ext cx="10391570" cy="27512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25723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grpId="0" nodeType="clickEffect">
                                  <p:stCondLst>
                                    <p:cond delay="0"/>
                                  </p:stCondLst>
                                  <p:childTnLst>
                                    <p:animClr clrSpc="rgb" dir="cw">
                                      <p:cBhvr override="childStyle">
                                        <p:cTn id="6" dur="500" fill="hold"/>
                                        <p:tgtEl>
                                          <p:spTgt spid="5">
                                            <p:graphicEl>
                                              <a:dgm id="{CD4B1C1F-D2A0-454F-9D11-4874B243F150}"/>
                                            </p:graphicEl>
                                          </p:spTgt>
                                        </p:tgtEl>
                                        <p:attrNameLst>
                                          <p:attrName>style.color</p:attrName>
                                        </p:attrNameLst>
                                      </p:cBhvr>
                                      <p:to>
                                        <a:srgbClr val="FFACAC"/>
                                      </p:to>
                                    </p:animClr>
                                    <p:animClr clrSpc="rgb" dir="cw">
                                      <p:cBhvr>
                                        <p:cTn id="7" dur="500" fill="hold"/>
                                        <p:tgtEl>
                                          <p:spTgt spid="5">
                                            <p:graphicEl>
                                              <a:dgm id="{CD4B1C1F-D2A0-454F-9D11-4874B243F150}"/>
                                            </p:graphicEl>
                                          </p:spTgt>
                                        </p:tgtEl>
                                        <p:attrNameLst>
                                          <p:attrName>fillcolor</p:attrName>
                                        </p:attrNameLst>
                                      </p:cBhvr>
                                      <p:to>
                                        <a:srgbClr val="FFACAC"/>
                                      </p:to>
                                    </p:animClr>
                                    <p:set>
                                      <p:cBhvr>
                                        <p:cTn id="8" dur="500" fill="hold"/>
                                        <p:tgtEl>
                                          <p:spTgt spid="5">
                                            <p:graphicEl>
                                              <a:dgm id="{CD4B1C1F-D2A0-454F-9D11-4874B243F150}"/>
                                            </p:graphicEl>
                                          </p:spTgt>
                                        </p:tgtEl>
                                        <p:attrNameLst>
                                          <p:attrName>fill.type</p:attrName>
                                        </p:attrNameLst>
                                      </p:cBhvr>
                                      <p:to>
                                        <p:strVal val="solid"/>
                                      </p:to>
                                    </p:set>
                                    <p:set>
                                      <p:cBhvr>
                                        <p:cTn id="9" dur="500" fill="hold"/>
                                        <p:tgtEl>
                                          <p:spTgt spid="5">
                                            <p:graphicEl>
                                              <a:dgm id="{CD4B1C1F-D2A0-454F-9D11-4874B243F150}"/>
                                            </p:graphic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9" presetClass="emph" presetSubtype="0" fill="hold" grpId="0" nodeType="clickEffect">
                                  <p:stCondLst>
                                    <p:cond delay="0"/>
                                  </p:stCondLst>
                                  <p:childTnLst>
                                    <p:animClr clrSpc="rgb" dir="cw">
                                      <p:cBhvr override="childStyle">
                                        <p:cTn id="13" dur="500" fill="hold"/>
                                        <p:tgtEl>
                                          <p:spTgt spid="5">
                                            <p:graphicEl>
                                              <a:dgm id="{C8CDB72D-EF83-489F-A9AF-CFC322F0F7E8}"/>
                                            </p:graphicEl>
                                          </p:spTgt>
                                        </p:tgtEl>
                                        <p:attrNameLst>
                                          <p:attrName>style.color</p:attrName>
                                        </p:attrNameLst>
                                      </p:cBhvr>
                                      <p:to>
                                        <a:schemeClr val="accent2"/>
                                      </p:to>
                                    </p:animClr>
                                    <p:animClr clrSpc="rgb" dir="cw">
                                      <p:cBhvr>
                                        <p:cTn id="14" dur="500" fill="hold"/>
                                        <p:tgtEl>
                                          <p:spTgt spid="5">
                                            <p:graphicEl>
                                              <a:dgm id="{C8CDB72D-EF83-489F-A9AF-CFC322F0F7E8}"/>
                                            </p:graphicEl>
                                          </p:spTgt>
                                        </p:tgtEl>
                                        <p:attrNameLst>
                                          <p:attrName>fillcolor</p:attrName>
                                        </p:attrNameLst>
                                      </p:cBhvr>
                                      <p:to>
                                        <a:schemeClr val="accent2"/>
                                      </p:to>
                                    </p:animClr>
                                    <p:set>
                                      <p:cBhvr>
                                        <p:cTn id="15" dur="500" fill="hold"/>
                                        <p:tgtEl>
                                          <p:spTgt spid="5">
                                            <p:graphicEl>
                                              <a:dgm id="{C8CDB72D-EF83-489F-A9AF-CFC322F0F7E8}"/>
                                            </p:graphicEl>
                                          </p:spTgt>
                                        </p:tgtEl>
                                        <p:attrNameLst>
                                          <p:attrName>fill.type</p:attrName>
                                        </p:attrNameLst>
                                      </p:cBhvr>
                                      <p:to>
                                        <p:strVal val="solid"/>
                                      </p:to>
                                    </p:set>
                                    <p:set>
                                      <p:cBhvr>
                                        <p:cTn id="16" dur="500" fill="hold"/>
                                        <p:tgtEl>
                                          <p:spTgt spid="5">
                                            <p:graphicEl>
                                              <a:dgm id="{C8CDB72D-EF83-489F-A9AF-CFC322F0F7E8}"/>
                                            </p:graphicEl>
                                          </p:spTgt>
                                        </p:tgtEl>
                                        <p:attrNameLst>
                                          <p:attrName>fill.on</p:attrName>
                                        </p:attrNameLst>
                                      </p:cBhvr>
                                      <p:to>
                                        <p:strVal val="true"/>
                                      </p:to>
                                    </p:set>
                                  </p:childTnLst>
                                </p:cTn>
                              </p:par>
                              <p:par>
                                <p:cTn id="17" presetID="19" presetClass="emph" presetSubtype="0" fill="hold" grpId="0" nodeType="withEffect">
                                  <p:stCondLst>
                                    <p:cond delay="0"/>
                                  </p:stCondLst>
                                  <p:childTnLst>
                                    <p:animClr clrSpc="rgb" dir="cw">
                                      <p:cBhvr override="childStyle">
                                        <p:cTn id="18" dur="500" fill="hold"/>
                                        <p:tgtEl>
                                          <p:spTgt spid="5">
                                            <p:graphicEl>
                                              <a:dgm id="{2D4E3701-045F-40A0-82D4-275BB4A5CCFF}"/>
                                            </p:graphicEl>
                                          </p:spTgt>
                                        </p:tgtEl>
                                        <p:attrNameLst>
                                          <p:attrName>style.color</p:attrName>
                                        </p:attrNameLst>
                                      </p:cBhvr>
                                      <p:to>
                                        <a:srgbClr val="FFACAC"/>
                                      </p:to>
                                    </p:animClr>
                                    <p:animClr clrSpc="rgb" dir="cw">
                                      <p:cBhvr>
                                        <p:cTn id="19" dur="500" fill="hold"/>
                                        <p:tgtEl>
                                          <p:spTgt spid="5">
                                            <p:graphicEl>
                                              <a:dgm id="{2D4E3701-045F-40A0-82D4-275BB4A5CCFF}"/>
                                            </p:graphicEl>
                                          </p:spTgt>
                                        </p:tgtEl>
                                        <p:attrNameLst>
                                          <p:attrName>fillcolor</p:attrName>
                                        </p:attrNameLst>
                                      </p:cBhvr>
                                      <p:to>
                                        <a:srgbClr val="FFACAC"/>
                                      </p:to>
                                    </p:animClr>
                                    <p:set>
                                      <p:cBhvr>
                                        <p:cTn id="20" dur="500" fill="hold"/>
                                        <p:tgtEl>
                                          <p:spTgt spid="5">
                                            <p:graphicEl>
                                              <a:dgm id="{2D4E3701-045F-40A0-82D4-275BB4A5CCFF}"/>
                                            </p:graphicEl>
                                          </p:spTgt>
                                        </p:tgtEl>
                                        <p:attrNameLst>
                                          <p:attrName>fill.type</p:attrName>
                                        </p:attrNameLst>
                                      </p:cBhvr>
                                      <p:to>
                                        <p:strVal val="solid"/>
                                      </p:to>
                                    </p:set>
                                    <p:set>
                                      <p:cBhvr>
                                        <p:cTn id="21" dur="500" fill="hold"/>
                                        <p:tgtEl>
                                          <p:spTgt spid="5">
                                            <p:graphicEl>
                                              <a:dgm id="{2D4E3701-045F-40A0-82D4-275BB4A5CCFF}"/>
                                            </p:graphicEl>
                                          </p:spTgt>
                                        </p:tgtEl>
                                        <p:attrNameLst>
                                          <p:attrName>fill.on</p:attrName>
                                        </p:attrNameLst>
                                      </p:cBhvr>
                                      <p:to>
                                        <p:strVal val="true"/>
                                      </p:to>
                                    </p:set>
                                  </p:childTnLst>
                                </p:cTn>
                              </p:par>
                            </p:childTnLst>
                          </p:cTn>
                        </p:par>
                      </p:childTnLst>
                    </p:cTn>
                  </p:par>
                  <p:par>
                    <p:cTn id="22" fill="hold">
                      <p:stCondLst>
                        <p:cond delay="indefinite"/>
                      </p:stCondLst>
                      <p:childTnLst>
                        <p:par>
                          <p:cTn id="23" fill="hold">
                            <p:stCondLst>
                              <p:cond delay="0"/>
                            </p:stCondLst>
                            <p:childTnLst>
                              <p:par>
                                <p:cTn id="24" presetID="19" presetClass="emph" presetSubtype="0" fill="hold" grpId="0" nodeType="clickEffect">
                                  <p:stCondLst>
                                    <p:cond delay="0"/>
                                  </p:stCondLst>
                                  <p:childTnLst>
                                    <p:animClr clrSpc="rgb" dir="cw">
                                      <p:cBhvr override="childStyle">
                                        <p:cTn id="25" dur="500" fill="hold"/>
                                        <p:tgtEl>
                                          <p:spTgt spid="5">
                                            <p:graphicEl>
                                              <a:dgm id="{A6F462CC-247B-42CE-A414-3702430F182C}"/>
                                            </p:graphicEl>
                                          </p:spTgt>
                                        </p:tgtEl>
                                        <p:attrNameLst>
                                          <p:attrName>style.color</p:attrName>
                                        </p:attrNameLst>
                                      </p:cBhvr>
                                      <p:to>
                                        <a:schemeClr val="accent2"/>
                                      </p:to>
                                    </p:animClr>
                                    <p:animClr clrSpc="rgb" dir="cw">
                                      <p:cBhvr>
                                        <p:cTn id="26" dur="500" fill="hold"/>
                                        <p:tgtEl>
                                          <p:spTgt spid="5">
                                            <p:graphicEl>
                                              <a:dgm id="{A6F462CC-247B-42CE-A414-3702430F182C}"/>
                                            </p:graphicEl>
                                          </p:spTgt>
                                        </p:tgtEl>
                                        <p:attrNameLst>
                                          <p:attrName>fillcolor</p:attrName>
                                        </p:attrNameLst>
                                      </p:cBhvr>
                                      <p:to>
                                        <a:schemeClr val="accent2"/>
                                      </p:to>
                                    </p:animClr>
                                    <p:set>
                                      <p:cBhvr>
                                        <p:cTn id="27" dur="500" fill="hold"/>
                                        <p:tgtEl>
                                          <p:spTgt spid="5">
                                            <p:graphicEl>
                                              <a:dgm id="{A6F462CC-247B-42CE-A414-3702430F182C}"/>
                                            </p:graphicEl>
                                          </p:spTgt>
                                        </p:tgtEl>
                                        <p:attrNameLst>
                                          <p:attrName>fill.type</p:attrName>
                                        </p:attrNameLst>
                                      </p:cBhvr>
                                      <p:to>
                                        <p:strVal val="solid"/>
                                      </p:to>
                                    </p:set>
                                    <p:set>
                                      <p:cBhvr>
                                        <p:cTn id="28" dur="500" fill="hold"/>
                                        <p:tgtEl>
                                          <p:spTgt spid="5">
                                            <p:graphicEl>
                                              <a:dgm id="{A6F462CC-247B-42CE-A414-3702430F182C}"/>
                                            </p:graphicEl>
                                          </p:spTgt>
                                        </p:tgtEl>
                                        <p:attrNameLst>
                                          <p:attrName>fill.on</p:attrName>
                                        </p:attrNameLst>
                                      </p:cBhvr>
                                      <p:to>
                                        <p:strVal val="true"/>
                                      </p:to>
                                    </p:set>
                                  </p:childTnLst>
                                </p:cTn>
                              </p:par>
                              <p:par>
                                <p:cTn id="29" presetID="19" presetClass="emph" presetSubtype="0" fill="hold" grpId="0" nodeType="withEffect">
                                  <p:stCondLst>
                                    <p:cond delay="0"/>
                                  </p:stCondLst>
                                  <p:childTnLst>
                                    <p:animClr clrSpc="rgb" dir="cw">
                                      <p:cBhvr override="childStyle">
                                        <p:cTn id="30" dur="500" fill="hold"/>
                                        <p:tgtEl>
                                          <p:spTgt spid="5">
                                            <p:graphicEl>
                                              <a:dgm id="{BA765493-A5F3-4D02-8F1F-45EB7B165741}"/>
                                            </p:graphicEl>
                                          </p:spTgt>
                                        </p:tgtEl>
                                        <p:attrNameLst>
                                          <p:attrName>style.color</p:attrName>
                                        </p:attrNameLst>
                                      </p:cBhvr>
                                      <p:to>
                                        <a:srgbClr val="FFACAC"/>
                                      </p:to>
                                    </p:animClr>
                                    <p:animClr clrSpc="rgb" dir="cw">
                                      <p:cBhvr>
                                        <p:cTn id="31" dur="500" fill="hold"/>
                                        <p:tgtEl>
                                          <p:spTgt spid="5">
                                            <p:graphicEl>
                                              <a:dgm id="{BA765493-A5F3-4D02-8F1F-45EB7B165741}"/>
                                            </p:graphicEl>
                                          </p:spTgt>
                                        </p:tgtEl>
                                        <p:attrNameLst>
                                          <p:attrName>fillcolor</p:attrName>
                                        </p:attrNameLst>
                                      </p:cBhvr>
                                      <p:to>
                                        <a:srgbClr val="FFACAC"/>
                                      </p:to>
                                    </p:animClr>
                                    <p:set>
                                      <p:cBhvr>
                                        <p:cTn id="32" dur="500" fill="hold"/>
                                        <p:tgtEl>
                                          <p:spTgt spid="5">
                                            <p:graphicEl>
                                              <a:dgm id="{BA765493-A5F3-4D02-8F1F-45EB7B165741}"/>
                                            </p:graphicEl>
                                          </p:spTgt>
                                        </p:tgtEl>
                                        <p:attrNameLst>
                                          <p:attrName>fill.type</p:attrName>
                                        </p:attrNameLst>
                                      </p:cBhvr>
                                      <p:to>
                                        <p:strVal val="solid"/>
                                      </p:to>
                                    </p:set>
                                    <p:set>
                                      <p:cBhvr>
                                        <p:cTn id="33" dur="500" fill="hold"/>
                                        <p:tgtEl>
                                          <p:spTgt spid="5">
                                            <p:graphicEl>
                                              <a:dgm id="{BA765493-A5F3-4D02-8F1F-45EB7B165741}"/>
                                            </p:graphicEl>
                                          </p:spTgt>
                                        </p:tgtEl>
                                        <p:attrNameLst>
                                          <p:attrName>fill.on</p:attrName>
                                        </p:attrNameLst>
                                      </p:cBhvr>
                                      <p:to>
                                        <p:strVal val="true"/>
                                      </p:to>
                                    </p:set>
                                  </p:childTnLst>
                                </p:cTn>
                              </p:par>
                            </p:childTnLst>
                          </p:cTn>
                        </p:par>
                      </p:childTnLst>
                    </p:cTn>
                  </p:par>
                  <p:par>
                    <p:cTn id="34" fill="hold">
                      <p:stCondLst>
                        <p:cond delay="indefinite"/>
                      </p:stCondLst>
                      <p:childTnLst>
                        <p:par>
                          <p:cTn id="35" fill="hold">
                            <p:stCondLst>
                              <p:cond delay="0"/>
                            </p:stCondLst>
                            <p:childTnLst>
                              <p:par>
                                <p:cTn id="36" presetID="19" presetClass="emph" presetSubtype="0" fill="hold" grpId="0" nodeType="clickEffect">
                                  <p:stCondLst>
                                    <p:cond delay="0"/>
                                  </p:stCondLst>
                                  <p:childTnLst>
                                    <p:animClr clrSpc="rgb" dir="cw">
                                      <p:cBhvr override="childStyle">
                                        <p:cTn id="37" dur="500" fill="hold"/>
                                        <p:tgtEl>
                                          <p:spTgt spid="5">
                                            <p:graphicEl>
                                              <a:dgm id="{741C46E1-86D6-46CE-959D-5AD6AC04460A}"/>
                                            </p:graphicEl>
                                          </p:spTgt>
                                        </p:tgtEl>
                                        <p:attrNameLst>
                                          <p:attrName>style.color</p:attrName>
                                        </p:attrNameLst>
                                      </p:cBhvr>
                                      <p:to>
                                        <a:schemeClr val="accent2"/>
                                      </p:to>
                                    </p:animClr>
                                    <p:animClr clrSpc="rgb" dir="cw">
                                      <p:cBhvr>
                                        <p:cTn id="38" dur="500" fill="hold"/>
                                        <p:tgtEl>
                                          <p:spTgt spid="5">
                                            <p:graphicEl>
                                              <a:dgm id="{741C46E1-86D6-46CE-959D-5AD6AC04460A}"/>
                                            </p:graphicEl>
                                          </p:spTgt>
                                        </p:tgtEl>
                                        <p:attrNameLst>
                                          <p:attrName>fillcolor</p:attrName>
                                        </p:attrNameLst>
                                      </p:cBhvr>
                                      <p:to>
                                        <a:schemeClr val="accent2"/>
                                      </p:to>
                                    </p:animClr>
                                    <p:set>
                                      <p:cBhvr>
                                        <p:cTn id="39" dur="500" fill="hold"/>
                                        <p:tgtEl>
                                          <p:spTgt spid="5">
                                            <p:graphicEl>
                                              <a:dgm id="{741C46E1-86D6-46CE-959D-5AD6AC04460A}"/>
                                            </p:graphicEl>
                                          </p:spTgt>
                                        </p:tgtEl>
                                        <p:attrNameLst>
                                          <p:attrName>fill.type</p:attrName>
                                        </p:attrNameLst>
                                      </p:cBhvr>
                                      <p:to>
                                        <p:strVal val="solid"/>
                                      </p:to>
                                    </p:set>
                                    <p:set>
                                      <p:cBhvr>
                                        <p:cTn id="40" dur="500" fill="hold"/>
                                        <p:tgtEl>
                                          <p:spTgt spid="5">
                                            <p:graphicEl>
                                              <a:dgm id="{741C46E1-86D6-46CE-959D-5AD6AC04460A}"/>
                                            </p:graphicEl>
                                          </p:spTgt>
                                        </p:tgtEl>
                                        <p:attrNameLst>
                                          <p:attrName>fill.on</p:attrName>
                                        </p:attrNameLst>
                                      </p:cBhvr>
                                      <p:to>
                                        <p:strVal val="true"/>
                                      </p:to>
                                    </p:set>
                                  </p:childTnLst>
                                </p:cTn>
                              </p:par>
                              <p:par>
                                <p:cTn id="41" presetID="19" presetClass="emph" presetSubtype="0" fill="hold" grpId="0" nodeType="withEffect">
                                  <p:stCondLst>
                                    <p:cond delay="0"/>
                                  </p:stCondLst>
                                  <p:childTnLst>
                                    <p:animClr clrSpc="rgb" dir="cw">
                                      <p:cBhvr override="childStyle">
                                        <p:cTn id="42" dur="500" fill="hold"/>
                                        <p:tgtEl>
                                          <p:spTgt spid="5">
                                            <p:graphicEl>
                                              <a:dgm id="{A40624BE-EC87-472B-BFCE-317348926242}"/>
                                            </p:graphicEl>
                                          </p:spTgt>
                                        </p:tgtEl>
                                        <p:attrNameLst>
                                          <p:attrName>style.color</p:attrName>
                                        </p:attrNameLst>
                                      </p:cBhvr>
                                      <p:to>
                                        <a:srgbClr val="FFACAC"/>
                                      </p:to>
                                    </p:animClr>
                                    <p:animClr clrSpc="rgb" dir="cw">
                                      <p:cBhvr>
                                        <p:cTn id="43" dur="500" fill="hold"/>
                                        <p:tgtEl>
                                          <p:spTgt spid="5">
                                            <p:graphicEl>
                                              <a:dgm id="{A40624BE-EC87-472B-BFCE-317348926242}"/>
                                            </p:graphicEl>
                                          </p:spTgt>
                                        </p:tgtEl>
                                        <p:attrNameLst>
                                          <p:attrName>fillcolor</p:attrName>
                                        </p:attrNameLst>
                                      </p:cBhvr>
                                      <p:to>
                                        <a:srgbClr val="FFACAC"/>
                                      </p:to>
                                    </p:animClr>
                                    <p:set>
                                      <p:cBhvr>
                                        <p:cTn id="44" dur="500" fill="hold"/>
                                        <p:tgtEl>
                                          <p:spTgt spid="5">
                                            <p:graphicEl>
                                              <a:dgm id="{A40624BE-EC87-472B-BFCE-317348926242}"/>
                                            </p:graphicEl>
                                          </p:spTgt>
                                        </p:tgtEl>
                                        <p:attrNameLst>
                                          <p:attrName>fill.type</p:attrName>
                                        </p:attrNameLst>
                                      </p:cBhvr>
                                      <p:to>
                                        <p:strVal val="solid"/>
                                      </p:to>
                                    </p:set>
                                    <p:set>
                                      <p:cBhvr>
                                        <p:cTn id="45" dur="500" fill="hold"/>
                                        <p:tgtEl>
                                          <p:spTgt spid="5">
                                            <p:graphicEl>
                                              <a:dgm id="{A40624BE-EC87-472B-BFCE-317348926242}"/>
                                            </p:graphic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uiExpand="1">
        <p:bldSub>
          <a:bldDgm bld="one"/>
        </p:bldSub>
      </p:bldGraphic>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68A3EA-FFF7-F593-9FA7-BB39D3E3222F}"/>
              </a:ext>
            </a:extLst>
          </p:cNvPr>
          <p:cNvSpPr>
            <a:spLocks noGrp="1"/>
          </p:cNvSpPr>
          <p:nvPr>
            <p:ph type="title"/>
          </p:nvPr>
        </p:nvSpPr>
        <p:spPr/>
        <p:txBody>
          <a:bodyPr/>
          <a:lstStyle/>
          <a:p>
            <a:r>
              <a:rPr lang="en-US" altLang="zh-CN"/>
              <a:t>01 </a:t>
            </a:r>
            <a:r>
              <a:rPr lang="zh-CN" altLang="en-US"/>
              <a:t>持续集成</a:t>
            </a:r>
            <a:endParaRPr kumimoji="1" lang="zh-CN" altLang="en-US"/>
          </a:p>
        </p:txBody>
      </p:sp>
      <p:sp>
        <p:nvSpPr>
          <p:cNvPr id="3" name="灯片编号占位符 2">
            <a:extLst>
              <a:ext uri="{FF2B5EF4-FFF2-40B4-BE49-F238E27FC236}">
                <a16:creationId xmlns:a16="http://schemas.microsoft.com/office/drawing/2014/main" id="{940AA628-8120-F109-B869-E8671F3D72B8}"/>
              </a:ext>
            </a:extLst>
          </p:cNvPr>
          <p:cNvSpPr>
            <a:spLocks noGrp="1"/>
          </p:cNvSpPr>
          <p:nvPr>
            <p:ph type="sldNum" sz="quarter" idx="12"/>
          </p:nvPr>
        </p:nvSpPr>
        <p:spPr/>
        <p:txBody>
          <a:bodyPr/>
          <a:lstStyle/>
          <a:p>
            <a:fld id="{1AAC388E-FA9E-4A2C-95EA-1F6B3A07935A}" type="slidenum">
              <a:rPr lang="zh-CN" altLang="en-US" smtClean="0"/>
              <a:pPr/>
              <a:t>63</a:t>
            </a:fld>
            <a:endParaRPr lang="zh-CN" altLang="en-US"/>
          </a:p>
        </p:txBody>
      </p:sp>
      <p:sp>
        <p:nvSpPr>
          <p:cNvPr id="4" name="文本框 3">
            <a:extLst>
              <a:ext uri="{FF2B5EF4-FFF2-40B4-BE49-F238E27FC236}">
                <a16:creationId xmlns:a16="http://schemas.microsoft.com/office/drawing/2014/main" id="{BA9D347B-A333-F47E-DAC1-B3F417A6AD0E}"/>
              </a:ext>
            </a:extLst>
          </p:cNvPr>
          <p:cNvSpPr txBox="1"/>
          <p:nvPr/>
        </p:nvSpPr>
        <p:spPr>
          <a:xfrm>
            <a:off x="718218" y="874354"/>
            <a:ext cx="4425476"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zh-CN" altLang="en-US" dirty="0"/>
              <a:t>持续集成的实现三阶段</a:t>
            </a:r>
            <a:endParaRPr lang="en-US" altLang="zh-CN" dirty="0"/>
          </a:p>
        </p:txBody>
      </p:sp>
      <p:sp>
        <p:nvSpPr>
          <p:cNvPr id="8" name="文本框 7">
            <a:extLst>
              <a:ext uri="{FF2B5EF4-FFF2-40B4-BE49-F238E27FC236}">
                <a16:creationId xmlns:a16="http://schemas.microsoft.com/office/drawing/2014/main" id="{D95D5404-EE47-3819-5B9B-11FD5C718224}"/>
              </a:ext>
            </a:extLst>
          </p:cNvPr>
          <p:cNvSpPr txBox="1"/>
          <p:nvPr/>
        </p:nvSpPr>
        <p:spPr>
          <a:xfrm>
            <a:off x="1051907" y="1475429"/>
            <a:ext cx="6217226" cy="369332"/>
          </a:xfrm>
          <a:prstGeom prst="rect">
            <a:avLst/>
          </a:prstGeom>
          <a:noFill/>
        </p:spPr>
        <p:txBody>
          <a:bodyPr wrap="square">
            <a:spAutoFit/>
          </a:bodyPr>
          <a:lstStyle/>
          <a:p>
            <a:r>
              <a:rPr lang="zh-CN" altLang="en-US" b="0" i="0" dirty="0">
                <a:effectLst/>
                <a:latin typeface="+mj-ea"/>
                <a:ea typeface="+mj-ea"/>
              </a:rPr>
              <a:t>第二阶段：</a:t>
            </a:r>
            <a:r>
              <a:rPr lang="zh-CN" altLang="en-US" b="0" i="0" dirty="0">
                <a:effectLst/>
                <a:latin typeface="Arial" panose="020B0604020202020204" pitchFamily="34" charset="0"/>
              </a:rPr>
              <a:t>每次流水线触发自动化测试</a:t>
            </a:r>
            <a:endParaRPr lang="zh-CN" altLang="en-US" dirty="0">
              <a:latin typeface="+mj-ea"/>
              <a:ea typeface="+mj-ea"/>
            </a:endParaRPr>
          </a:p>
        </p:txBody>
      </p:sp>
      <p:sp>
        <p:nvSpPr>
          <p:cNvPr id="15" name="文本框 14">
            <a:extLst>
              <a:ext uri="{FF2B5EF4-FFF2-40B4-BE49-F238E27FC236}">
                <a16:creationId xmlns:a16="http://schemas.microsoft.com/office/drawing/2014/main" id="{DEADEAFD-1329-6FA3-7B53-67A1A106F319}"/>
              </a:ext>
            </a:extLst>
          </p:cNvPr>
          <p:cNvSpPr txBox="1"/>
          <p:nvPr/>
        </p:nvSpPr>
        <p:spPr>
          <a:xfrm>
            <a:off x="7048307" y="1475429"/>
            <a:ext cx="2976071" cy="369332"/>
          </a:xfrm>
          <a:prstGeom prst="rect">
            <a:avLst/>
          </a:prstGeom>
          <a:noFill/>
        </p:spPr>
        <p:txBody>
          <a:bodyPr wrap="square">
            <a:spAutoFit/>
          </a:bodyPr>
          <a:lstStyle/>
          <a:p>
            <a:pPr>
              <a:spcAft>
                <a:spcPts val="600"/>
              </a:spcAft>
            </a:pPr>
            <a:r>
              <a:rPr lang="zh-CN" altLang="en-US"/>
              <a:t>关键词：</a:t>
            </a:r>
            <a:r>
              <a:rPr lang="zh-CN" altLang="en-US" b="1" i="0">
                <a:effectLst/>
                <a:latin typeface="Arial" panose="020B0604020202020204" pitchFamily="34" charset="0"/>
              </a:rPr>
              <a:t>质量内建</a:t>
            </a:r>
            <a:r>
              <a:rPr lang="zh-CN" altLang="en-US"/>
              <a:t>。</a:t>
            </a:r>
          </a:p>
        </p:txBody>
      </p:sp>
      <p:sp>
        <p:nvSpPr>
          <p:cNvPr id="6" name="文本框 5">
            <a:extLst>
              <a:ext uri="{FF2B5EF4-FFF2-40B4-BE49-F238E27FC236}">
                <a16:creationId xmlns:a16="http://schemas.microsoft.com/office/drawing/2014/main" id="{E4D44F5E-3E1B-3A2C-3EE1-EAB150704D68}"/>
              </a:ext>
            </a:extLst>
          </p:cNvPr>
          <p:cNvSpPr txBox="1"/>
          <p:nvPr/>
        </p:nvSpPr>
        <p:spPr>
          <a:xfrm>
            <a:off x="718218" y="2738695"/>
            <a:ext cx="4961222" cy="1935786"/>
          </a:xfrm>
          <a:prstGeom prst="rect">
            <a:avLst/>
          </a:prstGeom>
          <a:noFill/>
        </p:spPr>
        <p:txBody>
          <a:bodyPr wrap="square">
            <a:spAutoFit/>
          </a:bodyPr>
          <a:lstStyle/>
          <a:p>
            <a:pPr lvl="1">
              <a:lnSpc>
                <a:spcPct val="150000"/>
              </a:lnSpc>
              <a:spcAft>
                <a:spcPts val="600"/>
              </a:spcAft>
            </a:pPr>
            <a:r>
              <a:rPr lang="zh-CN" altLang="en-US"/>
              <a:t>自动化测试要点：</a:t>
            </a:r>
            <a:endParaRPr lang="en-US" altLang="zh-CN" b="0" i="0">
              <a:effectLst/>
              <a:latin typeface="Arial" panose="020B0604020202020204" pitchFamily="34" charset="0"/>
            </a:endParaRPr>
          </a:p>
          <a:p>
            <a:pPr marL="742950" lvl="1" indent="-285750">
              <a:lnSpc>
                <a:spcPct val="150000"/>
              </a:lnSpc>
              <a:spcAft>
                <a:spcPts val="600"/>
              </a:spcAft>
              <a:buFont typeface="Arial" panose="020B0604020202020204" pitchFamily="34" charset="0"/>
              <a:buChar char="•"/>
            </a:pPr>
            <a:r>
              <a:rPr lang="zh-CN" altLang="en-US">
                <a:latin typeface="Arial" panose="020B0604020202020204" pitchFamily="34" charset="0"/>
              </a:rPr>
              <a:t>匹配合适的测试活动。</a:t>
            </a:r>
            <a:endParaRPr lang="en-US" altLang="zh-CN">
              <a:latin typeface="Arial" panose="020B0604020202020204" pitchFamily="34" charset="0"/>
            </a:endParaRPr>
          </a:p>
          <a:p>
            <a:pPr marL="742950" lvl="1" indent="-285750">
              <a:lnSpc>
                <a:spcPct val="150000"/>
              </a:lnSpc>
              <a:spcAft>
                <a:spcPts val="600"/>
              </a:spcAft>
              <a:buFont typeface="Arial" panose="020B0604020202020204" pitchFamily="34" charset="0"/>
              <a:buChar char="•"/>
            </a:pPr>
            <a:r>
              <a:rPr lang="zh-CN" altLang="en-US">
                <a:latin typeface="Arial" panose="020B0604020202020204" pitchFamily="34" charset="0"/>
              </a:rPr>
              <a:t>树立测试结果的公信度。</a:t>
            </a:r>
          </a:p>
          <a:p>
            <a:pPr marL="742950" lvl="1" indent="-285750">
              <a:lnSpc>
                <a:spcPct val="150000"/>
              </a:lnSpc>
              <a:spcAft>
                <a:spcPts val="600"/>
              </a:spcAft>
              <a:buFont typeface="Arial" panose="020B0604020202020204" pitchFamily="34" charset="0"/>
              <a:buChar char="•"/>
            </a:pPr>
            <a:r>
              <a:rPr lang="zh-CN" altLang="en-US">
                <a:latin typeface="Arial" panose="020B0604020202020204" pitchFamily="34" charset="0"/>
              </a:rPr>
              <a:t>提升测试活动的有效性。</a:t>
            </a:r>
          </a:p>
        </p:txBody>
      </p:sp>
      <p:pic>
        <p:nvPicPr>
          <p:cNvPr id="7" name="图片 6" descr="图形用户界面, 网站&#10;&#10;描述已自动生成">
            <a:extLst>
              <a:ext uri="{FF2B5EF4-FFF2-40B4-BE49-F238E27FC236}">
                <a16:creationId xmlns:a16="http://schemas.microsoft.com/office/drawing/2014/main" id="{D77F3E90-7846-FA47-85EE-B6843CE77F50}"/>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5886527" y="2738695"/>
            <a:ext cx="5647259" cy="2643876"/>
          </a:xfrm>
          <a:prstGeom prst="rect">
            <a:avLst/>
          </a:prstGeom>
        </p:spPr>
      </p:pic>
    </p:spTree>
    <p:extLst>
      <p:ext uri="{BB962C8B-B14F-4D97-AF65-F5344CB8AC3E}">
        <p14:creationId xmlns:p14="http://schemas.microsoft.com/office/powerpoint/2010/main" val="7570067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68A3EA-FFF7-F593-9FA7-BB39D3E3222F}"/>
              </a:ext>
            </a:extLst>
          </p:cNvPr>
          <p:cNvSpPr>
            <a:spLocks noGrp="1"/>
          </p:cNvSpPr>
          <p:nvPr>
            <p:ph type="title"/>
          </p:nvPr>
        </p:nvSpPr>
        <p:spPr/>
        <p:txBody>
          <a:bodyPr/>
          <a:lstStyle/>
          <a:p>
            <a:r>
              <a:rPr lang="en-US" altLang="zh-CN"/>
              <a:t>01 </a:t>
            </a:r>
            <a:r>
              <a:rPr lang="zh-CN" altLang="en-US"/>
              <a:t>持续集成</a:t>
            </a:r>
            <a:endParaRPr kumimoji="1" lang="zh-CN" altLang="en-US"/>
          </a:p>
        </p:txBody>
      </p:sp>
      <p:sp>
        <p:nvSpPr>
          <p:cNvPr id="3" name="灯片编号占位符 2">
            <a:extLst>
              <a:ext uri="{FF2B5EF4-FFF2-40B4-BE49-F238E27FC236}">
                <a16:creationId xmlns:a16="http://schemas.microsoft.com/office/drawing/2014/main" id="{940AA628-8120-F109-B869-E8671F3D72B8}"/>
              </a:ext>
            </a:extLst>
          </p:cNvPr>
          <p:cNvSpPr>
            <a:spLocks noGrp="1"/>
          </p:cNvSpPr>
          <p:nvPr>
            <p:ph type="sldNum" sz="quarter" idx="12"/>
          </p:nvPr>
        </p:nvSpPr>
        <p:spPr/>
        <p:txBody>
          <a:bodyPr/>
          <a:lstStyle/>
          <a:p>
            <a:fld id="{1AAC388E-FA9E-4A2C-95EA-1F6B3A07935A}" type="slidenum">
              <a:rPr lang="zh-CN" altLang="en-US" smtClean="0"/>
              <a:pPr/>
              <a:t>64</a:t>
            </a:fld>
            <a:endParaRPr lang="zh-CN" altLang="en-US"/>
          </a:p>
        </p:txBody>
      </p:sp>
      <p:sp>
        <p:nvSpPr>
          <p:cNvPr id="4" name="文本框 3">
            <a:extLst>
              <a:ext uri="{FF2B5EF4-FFF2-40B4-BE49-F238E27FC236}">
                <a16:creationId xmlns:a16="http://schemas.microsoft.com/office/drawing/2014/main" id="{BA9D347B-A333-F47E-DAC1-B3F417A6AD0E}"/>
              </a:ext>
            </a:extLst>
          </p:cNvPr>
          <p:cNvSpPr txBox="1"/>
          <p:nvPr/>
        </p:nvSpPr>
        <p:spPr>
          <a:xfrm>
            <a:off x="718218" y="874354"/>
            <a:ext cx="4196682"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zh-CN" altLang="en-US" dirty="0"/>
              <a:t>持续集成的实现三阶段</a:t>
            </a:r>
            <a:endParaRPr lang="en-US" altLang="zh-CN" dirty="0"/>
          </a:p>
        </p:txBody>
      </p:sp>
      <p:sp>
        <p:nvSpPr>
          <p:cNvPr id="8" name="文本框 7">
            <a:extLst>
              <a:ext uri="{FF2B5EF4-FFF2-40B4-BE49-F238E27FC236}">
                <a16:creationId xmlns:a16="http://schemas.microsoft.com/office/drawing/2014/main" id="{D95D5404-EE47-3819-5B9B-11FD5C718224}"/>
              </a:ext>
            </a:extLst>
          </p:cNvPr>
          <p:cNvSpPr txBox="1"/>
          <p:nvPr/>
        </p:nvSpPr>
        <p:spPr>
          <a:xfrm>
            <a:off x="1051907" y="1405440"/>
            <a:ext cx="6217226" cy="369332"/>
          </a:xfrm>
          <a:prstGeom prst="rect">
            <a:avLst/>
          </a:prstGeom>
          <a:noFill/>
        </p:spPr>
        <p:txBody>
          <a:bodyPr wrap="square">
            <a:spAutoFit/>
          </a:bodyPr>
          <a:lstStyle/>
          <a:p>
            <a:r>
              <a:rPr lang="zh-CN" altLang="en-US" b="0" i="0">
                <a:effectLst/>
                <a:latin typeface="+mj-ea"/>
                <a:ea typeface="+mj-ea"/>
              </a:rPr>
              <a:t>第三阶段：</a:t>
            </a:r>
            <a:r>
              <a:rPr lang="zh-CN" altLang="en-US" b="0" i="0">
                <a:effectLst/>
                <a:latin typeface="Arial" panose="020B0604020202020204" pitchFamily="34" charset="0"/>
              </a:rPr>
              <a:t>出了问题可以在第一时间修复</a:t>
            </a:r>
            <a:endParaRPr lang="zh-CN" altLang="en-US">
              <a:latin typeface="+mj-ea"/>
              <a:ea typeface="+mj-ea"/>
            </a:endParaRPr>
          </a:p>
        </p:txBody>
      </p:sp>
      <p:pic>
        <p:nvPicPr>
          <p:cNvPr id="1026" name="Picture 2">
            <a:extLst>
              <a:ext uri="{FF2B5EF4-FFF2-40B4-BE49-F238E27FC236}">
                <a16:creationId xmlns:a16="http://schemas.microsoft.com/office/drawing/2014/main" id="{E25CF8A8-3A80-5EFA-BDAD-DE2917FD36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1907" y="2726573"/>
            <a:ext cx="5046519" cy="3027911"/>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6">
            <a:extLst>
              <a:ext uri="{FF2B5EF4-FFF2-40B4-BE49-F238E27FC236}">
                <a16:creationId xmlns:a16="http://schemas.microsoft.com/office/drawing/2014/main" id="{1F60D22D-739D-8CC7-4753-26531392737D}"/>
              </a:ext>
            </a:extLst>
          </p:cNvPr>
          <p:cNvPicPr>
            <a:picLocks noChangeAspect="1"/>
          </p:cNvPicPr>
          <p:nvPr/>
        </p:nvPicPr>
        <p:blipFill>
          <a:blip r:embed="rId4"/>
          <a:stretch>
            <a:fillRect/>
          </a:stretch>
        </p:blipFill>
        <p:spPr>
          <a:xfrm>
            <a:off x="6725267" y="3661547"/>
            <a:ext cx="5036711" cy="2478318"/>
          </a:xfrm>
          <a:prstGeom prst="rect">
            <a:avLst/>
          </a:prstGeom>
        </p:spPr>
      </p:pic>
      <p:pic>
        <p:nvPicPr>
          <p:cNvPr id="1028" name="Picture 4">
            <a:extLst>
              <a:ext uri="{FF2B5EF4-FFF2-40B4-BE49-F238E27FC236}">
                <a16:creationId xmlns:a16="http://schemas.microsoft.com/office/drawing/2014/main" id="{223D1D1E-8146-5640-3C08-A8CC8EEF9C3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68063" y="1945723"/>
            <a:ext cx="5151120" cy="15889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79490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68A3EA-FFF7-F593-9FA7-BB39D3E3222F}"/>
              </a:ext>
            </a:extLst>
          </p:cNvPr>
          <p:cNvSpPr>
            <a:spLocks noGrp="1"/>
          </p:cNvSpPr>
          <p:nvPr>
            <p:ph type="title"/>
          </p:nvPr>
        </p:nvSpPr>
        <p:spPr/>
        <p:txBody>
          <a:bodyPr/>
          <a:lstStyle/>
          <a:p>
            <a:r>
              <a:rPr lang="en-US" altLang="zh-CN"/>
              <a:t>01 </a:t>
            </a:r>
            <a:r>
              <a:rPr lang="zh-CN" altLang="en-US"/>
              <a:t>持续集成</a:t>
            </a:r>
            <a:endParaRPr kumimoji="1" lang="zh-CN" altLang="en-US"/>
          </a:p>
        </p:txBody>
      </p:sp>
      <p:sp>
        <p:nvSpPr>
          <p:cNvPr id="3" name="灯片编号占位符 2">
            <a:extLst>
              <a:ext uri="{FF2B5EF4-FFF2-40B4-BE49-F238E27FC236}">
                <a16:creationId xmlns:a16="http://schemas.microsoft.com/office/drawing/2014/main" id="{940AA628-8120-F109-B869-E8671F3D72B8}"/>
              </a:ext>
            </a:extLst>
          </p:cNvPr>
          <p:cNvSpPr>
            <a:spLocks noGrp="1"/>
          </p:cNvSpPr>
          <p:nvPr>
            <p:ph type="sldNum" sz="quarter" idx="12"/>
          </p:nvPr>
        </p:nvSpPr>
        <p:spPr/>
        <p:txBody>
          <a:bodyPr/>
          <a:lstStyle/>
          <a:p>
            <a:fld id="{1AAC388E-FA9E-4A2C-95EA-1F6B3A07935A}" type="slidenum">
              <a:rPr lang="zh-CN" altLang="en-US" smtClean="0"/>
              <a:pPr/>
              <a:t>65</a:t>
            </a:fld>
            <a:endParaRPr lang="zh-CN" altLang="en-US"/>
          </a:p>
        </p:txBody>
      </p:sp>
      <p:sp>
        <p:nvSpPr>
          <p:cNvPr id="4" name="文本框 3">
            <a:extLst>
              <a:ext uri="{FF2B5EF4-FFF2-40B4-BE49-F238E27FC236}">
                <a16:creationId xmlns:a16="http://schemas.microsoft.com/office/drawing/2014/main" id="{BA9D347B-A333-F47E-DAC1-B3F417A6AD0E}"/>
              </a:ext>
            </a:extLst>
          </p:cNvPr>
          <p:cNvSpPr txBox="1"/>
          <p:nvPr/>
        </p:nvSpPr>
        <p:spPr>
          <a:xfrm>
            <a:off x="718218" y="838720"/>
            <a:ext cx="3594702"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zh-CN" altLang="en-US" dirty="0"/>
              <a:t>持续集成的误区</a:t>
            </a:r>
            <a:endParaRPr lang="en-US" altLang="zh-CN" dirty="0"/>
          </a:p>
        </p:txBody>
      </p:sp>
      <p:sp>
        <p:nvSpPr>
          <p:cNvPr id="15" name="文本框 14">
            <a:extLst>
              <a:ext uri="{FF2B5EF4-FFF2-40B4-BE49-F238E27FC236}">
                <a16:creationId xmlns:a16="http://schemas.microsoft.com/office/drawing/2014/main" id="{DEADEAFD-1329-6FA3-7B53-67A1A106F319}"/>
              </a:ext>
            </a:extLst>
          </p:cNvPr>
          <p:cNvSpPr txBox="1"/>
          <p:nvPr/>
        </p:nvSpPr>
        <p:spPr>
          <a:xfrm>
            <a:off x="4236201" y="2011551"/>
            <a:ext cx="3719598" cy="400110"/>
          </a:xfrm>
          <a:prstGeom prst="rect">
            <a:avLst/>
          </a:prstGeom>
          <a:noFill/>
        </p:spPr>
        <p:txBody>
          <a:bodyPr wrap="square">
            <a:spAutoFit/>
          </a:bodyPr>
          <a:lstStyle/>
          <a:p>
            <a:pPr algn="ctr">
              <a:spcAft>
                <a:spcPts val="600"/>
              </a:spcAft>
            </a:pPr>
            <a:r>
              <a:rPr lang="zh-CN" altLang="en-US" sz="2000" dirty="0">
                <a:effectLst/>
                <a:latin typeface="Helvetica" pitchFamily="2" charset="0"/>
              </a:rPr>
              <a:t>避免形式主义的持续集成</a:t>
            </a:r>
          </a:p>
        </p:txBody>
      </p:sp>
      <p:pic>
        <p:nvPicPr>
          <p:cNvPr id="6" name="图片 5" descr="应用程序&#10;&#10;中度可信度描述已自动生成">
            <a:extLst>
              <a:ext uri="{FF2B5EF4-FFF2-40B4-BE49-F238E27FC236}">
                <a16:creationId xmlns:a16="http://schemas.microsoft.com/office/drawing/2014/main" id="{74874EA9-5623-9B09-8D5B-38C78F017057}"/>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0" y="2755495"/>
            <a:ext cx="12192000" cy="3810000"/>
          </a:xfrm>
          <a:prstGeom prst="rect">
            <a:avLst/>
          </a:prstGeom>
        </p:spPr>
      </p:pic>
    </p:spTree>
    <p:extLst>
      <p:ext uri="{BB962C8B-B14F-4D97-AF65-F5344CB8AC3E}">
        <p14:creationId xmlns:p14="http://schemas.microsoft.com/office/powerpoint/2010/main" val="8886320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68A3EA-FFF7-F593-9FA7-BB39D3E3222F}"/>
              </a:ext>
            </a:extLst>
          </p:cNvPr>
          <p:cNvSpPr>
            <a:spLocks noGrp="1"/>
          </p:cNvSpPr>
          <p:nvPr>
            <p:ph type="title"/>
          </p:nvPr>
        </p:nvSpPr>
        <p:spPr/>
        <p:txBody>
          <a:bodyPr/>
          <a:lstStyle/>
          <a:p>
            <a:r>
              <a:rPr lang="en-US" altLang="zh-CN"/>
              <a:t>01 </a:t>
            </a:r>
            <a:r>
              <a:rPr lang="zh-CN" altLang="en-US"/>
              <a:t>持续集成</a:t>
            </a:r>
            <a:endParaRPr kumimoji="1" lang="zh-CN" altLang="en-US"/>
          </a:p>
        </p:txBody>
      </p:sp>
      <p:sp>
        <p:nvSpPr>
          <p:cNvPr id="3" name="灯片编号占位符 2">
            <a:extLst>
              <a:ext uri="{FF2B5EF4-FFF2-40B4-BE49-F238E27FC236}">
                <a16:creationId xmlns:a16="http://schemas.microsoft.com/office/drawing/2014/main" id="{940AA628-8120-F109-B869-E8671F3D72B8}"/>
              </a:ext>
            </a:extLst>
          </p:cNvPr>
          <p:cNvSpPr>
            <a:spLocks noGrp="1"/>
          </p:cNvSpPr>
          <p:nvPr>
            <p:ph type="sldNum" sz="quarter" idx="12"/>
          </p:nvPr>
        </p:nvSpPr>
        <p:spPr/>
        <p:txBody>
          <a:bodyPr/>
          <a:lstStyle/>
          <a:p>
            <a:fld id="{1AAC388E-FA9E-4A2C-95EA-1F6B3A07935A}" type="slidenum">
              <a:rPr lang="zh-CN" altLang="en-US" smtClean="0"/>
              <a:pPr/>
              <a:t>66</a:t>
            </a:fld>
            <a:endParaRPr lang="zh-CN" altLang="en-US"/>
          </a:p>
        </p:txBody>
      </p:sp>
      <p:sp>
        <p:nvSpPr>
          <p:cNvPr id="4" name="文本框 3">
            <a:extLst>
              <a:ext uri="{FF2B5EF4-FFF2-40B4-BE49-F238E27FC236}">
                <a16:creationId xmlns:a16="http://schemas.microsoft.com/office/drawing/2014/main" id="{BA9D347B-A333-F47E-DAC1-B3F417A6AD0E}"/>
              </a:ext>
            </a:extLst>
          </p:cNvPr>
          <p:cNvSpPr txBox="1"/>
          <p:nvPr/>
        </p:nvSpPr>
        <p:spPr>
          <a:xfrm>
            <a:off x="718218" y="838720"/>
            <a:ext cx="3594702"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zh-CN" altLang="en-US" dirty="0"/>
              <a:t>这不能称之为持续集成？</a:t>
            </a:r>
            <a:endParaRPr lang="en-US" altLang="zh-CN" dirty="0"/>
          </a:p>
        </p:txBody>
      </p:sp>
      <p:pic>
        <p:nvPicPr>
          <p:cNvPr id="6" name="图片 5" descr="卡通画&#10;&#10;描述已自动生成">
            <a:extLst>
              <a:ext uri="{FF2B5EF4-FFF2-40B4-BE49-F238E27FC236}">
                <a16:creationId xmlns:a16="http://schemas.microsoft.com/office/drawing/2014/main" id="{55F04579-6113-29D5-47CC-47867198A782}"/>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1729608" y="1798435"/>
            <a:ext cx="8732783" cy="4220845"/>
          </a:xfrm>
          <a:prstGeom prst="rect">
            <a:avLst/>
          </a:prstGeom>
        </p:spPr>
      </p:pic>
    </p:spTree>
    <p:extLst>
      <p:ext uri="{BB962C8B-B14F-4D97-AF65-F5344CB8AC3E}">
        <p14:creationId xmlns:p14="http://schemas.microsoft.com/office/powerpoint/2010/main" val="7863052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FC0FC0D4-A6C8-47E8-BAA5-715B9C028EB2}"/>
              </a:ext>
            </a:extLst>
          </p:cNvPr>
          <p:cNvGrpSpPr/>
          <p:nvPr/>
        </p:nvGrpSpPr>
        <p:grpSpPr>
          <a:xfrm>
            <a:off x="5461000" y="165863"/>
            <a:ext cx="6961907" cy="7021575"/>
            <a:chOff x="4038600" y="2259880"/>
            <a:chExt cx="2647060" cy="2669747"/>
          </a:xfrm>
          <a:solidFill>
            <a:srgbClr val="A6A6A6">
              <a:alpha val="20000"/>
            </a:srgbClr>
          </a:solidFill>
        </p:grpSpPr>
        <p:sp>
          <p:nvSpPr>
            <p:cNvPr id="7" name="Freeform 105">
              <a:extLst>
                <a:ext uri="{FF2B5EF4-FFF2-40B4-BE49-F238E27FC236}">
                  <a16:creationId xmlns:a16="http://schemas.microsoft.com/office/drawing/2014/main" id="{28AF72BC-74AD-45B4-8F05-BA6B70D9F02D}"/>
                </a:ext>
              </a:extLst>
            </p:cNvPr>
            <p:cNvSpPr>
              <a:spLocks noEditPoints="1"/>
            </p:cNvSpPr>
            <p:nvPr userDrawn="1"/>
          </p:nvSpPr>
          <p:spPr bwMode="auto">
            <a:xfrm>
              <a:off x="4038600" y="2259880"/>
              <a:ext cx="2647060" cy="2669747"/>
            </a:xfrm>
            <a:custGeom>
              <a:avLst/>
              <a:gdLst>
                <a:gd name="T0" fmla="*/ 142 w 283"/>
                <a:gd name="T1" fmla="*/ 0 h 283"/>
                <a:gd name="T2" fmla="*/ 283 w 283"/>
                <a:gd name="T3" fmla="*/ 142 h 283"/>
                <a:gd name="T4" fmla="*/ 142 w 283"/>
                <a:gd name="T5" fmla="*/ 283 h 283"/>
                <a:gd name="T6" fmla="*/ 0 w 283"/>
                <a:gd name="T7" fmla="*/ 142 h 283"/>
                <a:gd name="T8" fmla="*/ 142 w 283"/>
                <a:gd name="T9" fmla="*/ 0 h 283"/>
                <a:gd name="T10" fmla="*/ 142 w 283"/>
                <a:gd name="T11" fmla="*/ 6 h 283"/>
                <a:gd name="T12" fmla="*/ 6 w 283"/>
                <a:gd name="T13" fmla="*/ 142 h 283"/>
                <a:gd name="T14" fmla="*/ 142 w 283"/>
                <a:gd name="T15" fmla="*/ 277 h 283"/>
                <a:gd name="T16" fmla="*/ 278 w 283"/>
                <a:gd name="T17" fmla="*/ 142 h 283"/>
                <a:gd name="T18" fmla="*/ 142 w 283"/>
                <a:gd name="T19" fmla="*/ 6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3" h="283">
                  <a:moveTo>
                    <a:pt x="142" y="0"/>
                  </a:moveTo>
                  <a:cubicBezTo>
                    <a:pt x="220" y="0"/>
                    <a:pt x="283" y="64"/>
                    <a:pt x="283" y="142"/>
                  </a:cubicBezTo>
                  <a:cubicBezTo>
                    <a:pt x="283" y="219"/>
                    <a:pt x="220" y="283"/>
                    <a:pt x="142" y="283"/>
                  </a:cubicBezTo>
                  <a:cubicBezTo>
                    <a:pt x="64" y="283"/>
                    <a:pt x="0" y="219"/>
                    <a:pt x="0" y="142"/>
                  </a:cubicBezTo>
                  <a:cubicBezTo>
                    <a:pt x="0" y="64"/>
                    <a:pt x="64" y="0"/>
                    <a:pt x="142" y="0"/>
                  </a:cubicBezTo>
                  <a:moveTo>
                    <a:pt x="142" y="6"/>
                  </a:moveTo>
                  <a:cubicBezTo>
                    <a:pt x="67" y="6"/>
                    <a:pt x="6" y="67"/>
                    <a:pt x="6" y="142"/>
                  </a:cubicBezTo>
                  <a:cubicBezTo>
                    <a:pt x="6" y="216"/>
                    <a:pt x="67" y="277"/>
                    <a:pt x="142" y="277"/>
                  </a:cubicBezTo>
                  <a:cubicBezTo>
                    <a:pt x="217" y="277"/>
                    <a:pt x="278" y="216"/>
                    <a:pt x="278" y="142"/>
                  </a:cubicBezTo>
                  <a:cubicBezTo>
                    <a:pt x="278" y="67"/>
                    <a:pt x="217" y="6"/>
                    <a:pt x="142" y="6"/>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20000"/>
                </a:lnSpc>
                <a:spcBef>
                  <a:spcPts val="0"/>
                </a:spcBef>
                <a:spcAft>
                  <a:spcPts val="10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8" name="Freeform 106">
              <a:extLst>
                <a:ext uri="{FF2B5EF4-FFF2-40B4-BE49-F238E27FC236}">
                  <a16:creationId xmlns:a16="http://schemas.microsoft.com/office/drawing/2014/main" id="{555ED1DD-D4F5-46C3-B866-E59F33712323}"/>
                </a:ext>
              </a:extLst>
            </p:cNvPr>
            <p:cNvSpPr>
              <a:spLocks/>
            </p:cNvSpPr>
            <p:nvPr userDrawn="1"/>
          </p:nvSpPr>
          <p:spPr bwMode="auto">
            <a:xfrm>
              <a:off x="4636079" y="2857359"/>
              <a:ext cx="1459664" cy="1308403"/>
            </a:xfrm>
            <a:custGeom>
              <a:avLst/>
              <a:gdLst>
                <a:gd name="T0" fmla="*/ 28 w 156"/>
                <a:gd name="T1" fmla="*/ 139 h 139"/>
                <a:gd name="T2" fmla="*/ 7 w 156"/>
                <a:gd name="T3" fmla="*/ 112 h 139"/>
                <a:gd name="T4" fmla="*/ 0 w 156"/>
                <a:gd name="T5" fmla="*/ 79 h 139"/>
                <a:gd name="T6" fmla="*/ 78 w 156"/>
                <a:gd name="T7" fmla="*/ 0 h 139"/>
                <a:gd name="T8" fmla="*/ 156 w 156"/>
                <a:gd name="T9" fmla="*/ 79 h 139"/>
                <a:gd name="T10" fmla="*/ 149 w 156"/>
                <a:gd name="T11" fmla="*/ 112 h 139"/>
                <a:gd name="T12" fmla="*/ 128 w 156"/>
                <a:gd name="T13" fmla="*/ 139 h 139"/>
                <a:gd name="T14" fmla="*/ 126 w 156"/>
                <a:gd name="T15" fmla="*/ 137 h 139"/>
                <a:gd name="T16" fmla="*/ 146 w 156"/>
                <a:gd name="T17" fmla="*/ 111 h 139"/>
                <a:gd name="T18" fmla="*/ 153 w 156"/>
                <a:gd name="T19" fmla="*/ 79 h 139"/>
                <a:gd name="T20" fmla="*/ 78 w 156"/>
                <a:gd name="T21" fmla="*/ 3 h 139"/>
                <a:gd name="T22" fmla="*/ 3 w 156"/>
                <a:gd name="T23" fmla="*/ 79 h 139"/>
                <a:gd name="T24" fmla="*/ 10 w 156"/>
                <a:gd name="T25" fmla="*/ 111 h 139"/>
                <a:gd name="T26" fmla="*/ 30 w 156"/>
                <a:gd name="T27" fmla="*/ 137 h 139"/>
                <a:gd name="T28" fmla="*/ 28 w 156"/>
                <a:gd name="T29" fmla="*/ 13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6" h="139">
                  <a:moveTo>
                    <a:pt x="28" y="139"/>
                  </a:moveTo>
                  <a:cubicBezTo>
                    <a:pt x="19" y="132"/>
                    <a:pt x="12" y="122"/>
                    <a:pt x="7" y="112"/>
                  </a:cubicBezTo>
                  <a:cubicBezTo>
                    <a:pt x="2" y="102"/>
                    <a:pt x="0" y="90"/>
                    <a:pt x="0" y="79"/>
                  </a:cubicBezTo>
                  <a:cubicBezTo>
                    <a:pt x="0" y="36"/>
                    <a:pt x="35" y="0"/>
                    <a:pt x="78" y="0"/>
                  </a:cubicBezTo>
                  <a:cubicBezTo>
                    <a:pt x="121" y="0"/>
                    <a:pt x="156" y="36"/>
                    <a:pt x="156" y="79"/>
                  </a:cubicBezTo>
                  <a:cubicBezTo>
                    <a:pt x="156" y="90"/>
                    <a:pt x="153" y="102"/>
                    <a:pt x="149" y="112"/>
                  </a:cubicBezTo>
                  <a:cubicBezTo>
                    <a:pt x="144" y="122"/>
                    <a:pt x="136" y="132"/>
                    <a:pt x="128" y="139"/>
                  </a:cubicBezTo>
                  <a:cubicBezTo>
                    <a:pt x="126" y="137"/>
                    <a:pt x="126" y="137"/>
                    <a:pt x="126" y="137"/>
                  </a:cubicBezTo>
                  <a:cubicBezTo>
                    <a:pt x="134" y="130"/>
                    <a:pt x="141" y="121"/>
                    <a:pt x="146" y="111"/>
                  </a:cubicBezTo>
                  <a:cubicBezTo>
                    <a:pt x="151" y="101"/>
                    <a:pt x="153" y="90"/>
                    <a:pt x="153" y="79"/>
                  </a:cubicBezTo>
                  <a:cubicBezTo>
                    <a:pt x="153" y="37"/>
                    <a:pt x="119" y="3"/>
                    <a:pt x="78" y="3"/>
                  </a:cubicBezTo>
                  <a:cubicBezTo>
                    <a:pt x="36" y="3"/>
                    <a:pt x="3" y="37"/>
                    <a:pt x="3" y="79"/>
                  </a:cubicBezTo>
                  <a:cubicBezTo>
                    <a:pt x="3" y="90"/>
                    <a:pt x="5" y="101"/>
                    <a:pt x="10" y="111"/>
                  </a:cubicBezTo>
                  <a:cubicBezTo>
                    <a:pt x="14" y="121"/>
                    <a:pt x="21" y="130"/>
                    <a:pt x="30" y="137"/>
                  </a:cubicBezTo>
                  <a:lnTo>
                    <a:pt x="28" y="13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20000"/>
                </a:lnSpc>
                <a:spcBef>
                  <a:spcPts val="0"/>
                </a:spcBef>
                <a:spcAft>
                  <a:spcPts val="10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9" name="Freeform 107">
              <a:extLst>
                <a:ext uri="{FF2B5EF4-FFF2-40B4-BE49-F238E27FC236}">
                  <a16:creationId xmlns:a16="http://schemas.microsoft.com/office/drawing/2014/main" id="{AA90CDC0-0076-4B09-AFB0-D265A2CCC99D}"/>
                </a:ext>
              </a:extLst>
            </p:cNvPr>
            <p:cNvSpPr>
              <a:spLocks/>
            </p:cNvSpPr>
            <p:nvPr userDrawn="1"/>
          </p:nvSpPr>
          <p:spPr bwMode="auto">
            <a:xfrm>
              <a:off x="4174734" y="3825426"/>
              <a:ext cx="302521" cy="219328"/>
            </a:xfrm>
            <a:custGeom>
              <a:avLst/>
              <a:gdLst>
                <a:gd name="T0" fmla="*/ 8 w 40"/>
                <a:gd name="T1" fmla="*/ 29 h 29"/>
                <a:gd name="T2" fmla="*/ 0 w 40"/>
                <a:gd name="T3" fmla="*/ 10 h 29"/>
                <a:gd name="T4" fmla="*/ 4 w 40"/>
                <a:gd name="T5" fmla="*/ 9 h 29"/>
                <a:gd name="T6" fmla="*/ 35 w 40"/>
                <a:gd name="T7" fmla="*/ 14 h 29"/>
                <a:gd name="T8" fmla="*/ 30 w 40"/>
                <a:gd name="T9" fmla="*/ 1 h 29"/>
                <a:gd name="T10" fmla="*/ 34 w 40"/>
                <a:gd name="T11" fmla="*/ 0 h 29"/>
                <a:gd name="T12" fmla="*/ 40 w 40"/>
                <a:gd name="T13" fmla="*/ 16 h 29"/>
                <a:gd name="T14" fmla="*/ 36 w 40"/>
                <a:gd name="T15" fmla="*/ 17 h 29"/>
                <a:gd name="T16" fmla="*/ 7 w 40"/>
                <a:gd name="T17" fmla="*/ 14 h 29"/>
                <a:gd name="T18" fmla="*/ 12 w 40"/>
                <a:gd name="T19" fmla="*/ 27 h 29"/>
                <a:gd name="T20" fmla="*/ 8 w 40"/>
                <a:gd name="T21"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29">
                  <a:moveTo>
                    <a:pt x="8" y="29"/>
                  </a:moveTo>
                  <a:lnTo>
                    <a:pt x="0" y="10"/>
                  </a:lnTo>
                  <a:lnTo>
                    <a:pt x="4" y="9"/>
                  </a:lnTo>
                  <a:lnTo>
                    <a:pt x="35" y="14"/>
                  </a:lnTo>
                  <a:lnTo>
                    <a:pt x="30" y="1"/>
                  </a:lnTo>
                  <a:lnTo>
                    <a:pt x="34" y="0"/>
                  </a:lnTo>
                  <a:lnTo>
                    <a:pt x="40" y="16"/>
                  </a:lnTo>
                  <a:lnTo>
                    <a:pt x="36" y="17"/>
                  </a:lnTo>
                  <a:lnTo>
                    <a:pt x="7" y="14"/>
                  </a:lnTo>
                  <a:lnTo>
                    <a:pt x="12" y="27"/>
                  </a:lnTo>
                  <a:lnTo>
                    <a:pt x="8" y="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20000"/>
                </a:lnSpc>
                <a:spcBef>
                  <a:spcPts val="0"/>
                </a:spcBef>
                <a:spcAft>
                  <a:spcPts val="10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10" name="Freeform 108">
              <a:extLst>
                <a:ext uri="{FF2B5EF4-FFF2-40B4-BE49-F238E27FC236}">
                  <a16:creationId xmlns:a16="http://schemas.microsoft.com/office/drawing/2014/main" id="{3EE14156-837C-44BA-ACC8-01623B20DD6E}"/>
                </a:ext>
              </a:extLst>
            </p:cNvPr>
            <p:cNvSpPr>
              <a:spLocks/>
            </p:cNvSpPr>
            <p:nvPr userDrawn="1"/>
          </p:nvSpPr>
          <p:spPr bwMode="auto">
            <a:xfrm>
              <a:off x="4265491" y="3984249"/>
              <a:ext cx="287395" cy="234454"/>
            </a:xfrm>
            <a:custGeom>
              <a:avLst/>
              <a:gdLst>
                <a:gd name="T0" fmla="*/ 7 w 38"/>
                <a:gd name="T1" fmla="*/ 31 h 31"/>
                <a:gd name="T2" fmla="*/ 6 w 38"/>
                <a:gd name="T3" fmla="*/ 28 h 31"/>
                <a:gd name="T4" fmla="*/ 19 w 38"/>
                <a:gd name="T5" fmla="*/ 21 h 31"/>
                <a:gd name="T6" fmla="*/ 14 w 38"/>
                <a:gd name="T7" fmla="*/ 11 h 31"/>
                <a:gd name="T8" fmla="*/ 1 w 38"/>
                <a:gd name="T9" fmla="*/ 19 h 31"/>
                <a:gd name="T10" fmla="*/ 0 w 38"/>
                <a:gd name="T11" fmla="*/ 15 h 31"/>
                <a:gd name="T12" fmla="*/ 29 w 38"/>
                <a:gd name="T13" fmla="*/ 0 h 31"/>
                <a:gd name="T14" fmla="*/ 32 w 38"/>
                <a:gd name="T15" fmla="*/ 4 h 31"/>
                <a:gd name="T16" fmla="*/ 18 w 38"/>
                <a:gd name="T17" fmla="*/ 10 h 31"/>
                <a:gd name="T18" fmla="*/ 23 w 38"/>
                <a:gd name="T19" fmla="*/ 19 h 31"/>
                <a:gd name="T20" fmla="*/ 35 w 38"/>
                <a:gd name="T21" fmla="*/ 13 h 31"/>
                <a:gd name="T22" fmla="*/ 38 w 38"/>
                <a:gd name="T23" fmla="*/ 16 h 31"/>
                <a:gd name="T24" fmla="*/ 7 w 38"/>
                <a:gd name="T25"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1">
                  <a:moveTo>
                    <a:pt x="7" y="31"/>
                  </a:moveTo>
                  <a:lnTo>
                    <a:pt x="6" y="28"/>
                  </a:lnTo>
                  <a:lnTo>
                    <a:pt x="19" y="21"/>
                  </a:lnTo>
                  <a:lnTo>
                    <a:pt x="14" y="11"/>
                  </a:lnTo>
                  <a:lnTo>
                    <a:pt x="1" y="19"/>
                  </a:lnTo>
                  <a:lnTo>
                    <a:pt x="0" y="15"/>
                  </a:lnTo>
                  <a:lnTo>
                    <a:pt x="29" y="0"/>
                  </a:lnTo>
                  <a:lnTo>
                    <a:pt x="32" y="4"/>
                  </a:lnTo>
                  <a:lnTo>
                    <a:pt x="18" y="10"/>
                  </a:lnTo>
                  <a:lnTo>
                    <a:pt x="23" y="19"/>
                  </a:lnTo>
                  <a:lnTo>
                    <a:pt x="35" y="13"/>
                  </a:lnTo>
                  <a:lnTo>
                    <a:pt x="38" y="16"/>
                  </a:lnTo>
                  <a:lnTo>
                    <a:pt x="7" y="3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20000"/>
                </a:lnSpc>
                <a:spcBef>
                  <a:spcPts val="0"/>
                </a:spcBef>
                <a:spcAft>
                  <a:spcPts val="10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11" name="Freeform 109">
              <a:extLst>
                <a:ext uri="{FF2B5EF4-FFF2-40B4-BE49-F238E27FC236}">
                  <a16:creationId xmlns:a16="http://schemas.microsoft.com/office/drawing/2014/main" id="{86E332B9-0744-461B-B817-F3E69A78F0BC}"/>
                </a:ext>
              </a:extLst>
            </p:cNvPr>
            <p:cNvSpPr>
              <a:spLocks/>
            </p:cNvSpPr>
            <p:nvPr userDrawn="1"/>
          </p:nvSpPr>
          <p:spPr bwMode="auto">
            <a:xfrm>
              <a:off x="4348684" y="4120384"/>
              <a:ext cx="287395" cy="249580"/>
            </a:xfrm>
            <a:custGeom>
              <a:avLst/>
              <a:gdLst>
                <a:gd name="T0" fmla="*/ 11 w 38"/>
                <a:gd name="T1" fmla="*/ 33 h 33"/>
                <a:gd name="T2" fmla="*/ 0 w 38"/>
                <a:gd name="T3" fmla="*/ 18 h 33"/>
                <a:gd name="T4" fmla="*/ 28 w 38"/>
                <a:gd name="T5" fmla="*/ 0 h 33"/>
                <a:gd name="T6" fmla="*/ 38 w 38"/>
                <a:gd name="T7" fmla="*/ 15 h 33"/>
                <a:gd name="T8" fmla="*/ 36 w 38"/>
                <a:gd name="T9" fmla="*/ 17 h 33"/>
                <a:gd name="T10" fmla="*/ 27 w 38"/>
                <a:gd name="T11" fmla="*/ 6 h 33"/>
                <a:gd name="T12" fmla="*/ 18 w 38"/>
                <a:gd name="T13" fmla="*/ 11 h 33"/>
                <a:gd name="T14" fmla="*/ 26 w 38"/>
                <a:gd name="T15" fmla="*/ 21 h 33"/>
                <a:gd name="T16" fmla="*/ 23 w 38"/>
                <a:gd name="T17" fmla="*/ 23 h 33"/>
                <a:gd name="T18" fmla="*/ 16 w 38"/>
                <a:gd name="T19" fmla="*/ 13 h 33"/>
                <a:gd name="T20" fmla="*/ 6 w 38"/>
                <a:gd name="T21" fmla="*/ 20 h 33"/>
                <a:gd name="T22" fmla="*/ 13 w 38"/>
                <a:gd name="T23" fmla="*/ 31 h 33"/>
                <a:gd name="T24" fmla="*/ 11 w 38"/>
                <a:gd name="T25"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3">
                  <a:moveTo>
                    <a:pt x="11" y="33"/>
                  </a:moveTo>
                  <a:lnTo>
                    <a:pt x="0" y="18"/>
                  </a:lnTo>
                  <a:lnTo>
                    <a:pt x="28" y="0"/>
                  </a:lnTo>
                  <a:lnTo>
                    <a:pt x="38" y="15"/>
                  </a:lnTo>
                  <a:lnTo>
                    <a:pt x="36" y="17"/>
                  </a:lnTo>
                  <a:lnTo>
                    <a:pt x="27" y="6"/>
                  </a:lnTo>
                  <a:lnTo>
                    <a:pt x="18" y="11"/>
                  </a:lnTo>
                  <a:lnTo>
                    <a:pt x="26" y="21"/>
                  </a:lnTo>
                  <a:lnTo>
                    <a:pt x="23" y="23"/>
                  </a:lnTo>
                  <a:lnTo>
                    <a:pt x="16" y="13"/>
                  </a:lnTo>
                  <a:lnTo>
                    <a:pt x="6" y="20"/>
                  </a:lnTo>
                  <a:lnTo>
                    <a:pt x="13" y="31"/>
                  </a:lnTo>
                  <a:lnTo>
                    <a:pt x="11" y="3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20000"/>
                </a:lnSpc>
                <a:spcBef>
                  <a:spcPts val="0"/>
                </a:spcBef>
                <a:spcAft>
                  <a:spcPts val="10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12" name="Freeform 110">
              <a:extLst>
                <a:ext uri="{FF2B5EF4-FFF2-40B4-BE49-F238E27FC236}">
                  <a16:creationId xmlns:a16="http://schemas.microsoft.com/office/drawing/2014/main" id="{E396D3E2-4CBF-4F42-821E-440470D12688}"/>
                </a:ext>
              </a:extLst>
            </p:cNvPr>
            <p:cNvSpPr>
              <a:spLocks/>
            </p:cNvSpPr>
            <p:nvPr userDrawn="1"/>
          </p:nvSpPr>
          <p:spPr bwMode="auto">
            <a:xfrm>
              <a:off x="4583138" y="4332148"/>
              <a:ext cx="181513" cy="219328"/>
            </a:xfrm>
            <a:custGeom>
              <a:avLst/>
              <a:gdLst>
                <a:gd name="T0" fmla="*/ 3 w 24"/>
                <a:gd name="T1" fmla="*/ 29 h 29"/>
                <a:gd name="T2" fmla="*/ 0 w 24"/>
                <a:gd name="T3" fmla="*/ 26 h 29"/>
                <a:gd name="T4" fmla="*/ 21 w 24"/>
                <a:gd name="T5" fmla="*/ 0 h 29"/>
                <a:gd name="T6" fmla="*/ 24 w 24"/>
                <a:gd name="T7" fmla="*/ 3 h 29"/>
                <a:gd name="T8" fmla="*/ 3 w 24"/>
                <a:gd name="T9" fmla="*/ 29 h 29"/>
              </a:gdLst>
              <a:ahLst/>
              <a:cxnLst>
                <a:cxn ang="0">
                  <a:pos x="T0" y="T1"/>
                </a:cxn>
                <a:cxn ang="0">
                  <a:pos x="T2" y="T3"/>
                </a:cxn>
                <a:cxn ang="0">
                  <a:pos x="T4" y="T5"/>
                </a:cxn>
                <a:cxn ang="0">
                  <a:pos x="T6" y="T7"/>
                </a:cxn>
                <a:cxn ang="0">
                  <a:pos x="T8" y="T9"/>
                </a:cxn>
              </a:cxnLst>
              <a:rect l="0" t="0" r="r" b="b"/>
              <a:pathLst>
                <a:path w="24" h="29">
                  <a:moveTo>
                    <a:pt x="3" y="29"/>
                  </a:moveTo>
                  <a:lnTo>
                    <a:pt x="0" y="26"/>
                  </a:lnTo>
                  <a:lnTo>
                    <a:pt x="21" y="0"/>
                  </a:lnTo>
                  <a:lnTo>
                    <a:pt x="24" y="3"/>
                  </a:lnTo>
                  <a:lnTo>
                    <a:pt x="3" y="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20000"/>
                </a:lnSpc>
                <a:spcBef>
                  <a:spcPts val="0"/>
                </a:spcBef>
                <a:spcAft>
                  <a:spcPts val="10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13" name="Freeform 111">
              <a:extLst>
                <a:ext uri="{FF2B5EF4-FFF2-40B4-BE49-F238E27FC236}">
                  <a16:creationId xmlns:a16="http://schemas.microsoft.com/office/drawing/2014/main" id="{9C971085-45ED-433E-80F0-37B3662B8494}"/>
                </a:ext>
              </a:extLst>
            </p:cNvPr>
            <p:cNvSpPr>
              <a:spLocks noEditPoints="1"/>
            </p:cNvSpPr>
            <p:nvPr userDrawn="1"/>
          </p:nvSpPr>
          <p:spPr bwMode="auto">
            <a:xfrm>
              <a:off x="4643642" y="4392652"/>
              <a:ext cx="219328" cy="264706"/>
            </a:xfrm>
            <a:custGeom>
              <a:avLst/>
              <a:gdLst>
                <a:gd name="T0" fmla="*/ 11 w 29"/>
                <a:gd name="T1" fmla="*/ 32 h 35"/>
                <a:gd name="T2" fmla="*/ 16 w 29"/>
                <a:gd name="T3" fmla="*/ 23 h 35"/>
                <a:gd name="T4" fmla="*/ 11 w 29"/>
                <a:gd name="T5" fmla="*/ 20 h 35"/>
                <a:gd name="T6" fmla="*/ 3 w 29"/>
                <a:gd name="T7" fmla="*/ 27 h 35"/>
                <a:gd name="T8" fmla="*/ 0 w 29"/>
                <a:gd name="T9" fmla="*/ 25 h 35"/>
                <a:gd name="T10" fmla="*/ 24 w 29"/>
                <a:gd name="T11" fmla="*/ 0 h 35"/>
                <a:gd name="T12" fmla="*/ 29 w 29"/>
                <a:gd name="T13" fmla="*/ 2 h 35"/>
                <a:gd name="T14" fmla="*/ 16 w 29"/>
                <a:gd name="T15" fmla="*/ 35 h 35"/>
                <a:gd name="T16" fmla="*/ 11 w 29"/>
                <a:gd name="T17" fmla="*/ 32 h 35"/>
                <a:gd name="T18" fmla="*/ 19 w 29"/>
                <a:gd name="T19" fmla="*/ 18 h 35"/>
                <a:gd name="T20" fmla="*/ 24 w 29"/>
                <a:gd name="T21" fmla="*/ 7 h 35"/>
                <a:gd name="T22" fmla="*/ 23 w 29"/>
                <a:gd name="T23" fmla="*/ 6 h 35"/>
                <a:gd name="T24" fmla="*/ 14 w 29"/>
                <a:gd name="T25" fmla="*/ 16 h 35"/>
                <a:gd name="T26" fmla="*/ 19 w 29"/>
                <a:gd name="T2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35">
                  <a:moveTo>
                    <a:pt x="11" y="32"/>
                  </a:moveTo>
                  <a:lnTo>
                    <a:pt x="16" y="23"/>
                  </a:lnTo>
                  <a:lnTo>
                    <a:pt x="11" y="20"/>
                  </a:lnTo>
                  <a:lnTo>
                    <a:pt x="3" y="27"/>
                  </a:lnTo>
                  <a:lnTo>
                    <a:pt x="0" y="25"/>
                  </a:lnTo>
                  <a:lnTo>
                    <a:pt x="24" y="0"/>
                  </a:lnTo>
                  <a:lnTo>
                    <a:pt x="29" y="2"/>
                  </a:lnTo>
                  <a:lnTo>
                    <a:pt x="16" y="35"/>
                  </a:lnTo>
                  <a:lnTo>
                    <a:pt x="11" y="32"/>
                  </a:lnTo>
                  <a:close/>
                  <a:moveTo>
                    <a:pt x="19" y="18"/>
                  </a:moveTo>
                  <a:lnTo>
                    <a:pt x="24" y="7"/>
                  </a:lnTo>
                  <a:lnTo>
                    <a:pt x="23" y="6"/>
                  </a:lnTo>
                  <a:lnTo>
                    <a:pt x="14" y="16"/>
                  </a:lnTo>
                  <a:lnTo>
                    <a:pt x="19" y="1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20000"/>
                </a:lnSpc>
                <a:spcBef>
                  <a:spcPts val="0"/>
                </a:spcBef>
                <a:spcAft>
                  <a:spcPts val="10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14" name="Freeform 112">
              <a:extLst>
                <a:ext uri="{FF2B5EF4-FFF2-40B4-BE49-F238E27FC236}">
                  <a16:creationId xmlns:a16="http://schemas.microsoft.com/office/drawing/2014/main" id="{11025A9F-5DCF-4A13-A4B0-D422B1334C5F}"/>
                </a:ext>
              </a:extLst>
            </p:cNvPr>
            <p:cNvSpPr>
              <a:spLocks/>
            </p:cNvSpPr>
            <p:nvPr userDrawn="1"/>
          </p:nvSpPr>
          <p:spPr bwMode="auto">
            <a:xfrm>
              <a:off x="4794903" y="4438031"/>
              <a:ext cx="242017" cy="294958"/>
            </a:xfrm>
            <a:custGeom>
              <a:avLst/>
              <a:gdLst>
                <a:gd name="T0" fmla="*/ 16 w 32"/>
                <a:gd name="T1" fmla="*/ 39 h 39"/>
                <a:gd name="T2" fmla="*/ 13 w 32"/>
                <a:gd name="T3" fmla="*/ 36 h 39"/>
                <a:gd name="T4" fmla="*/ 15 w 32"/>
                <a:gd name="T5" fmla="*/ 12 h 39"/>
                <a:gd name="T6" fmla="*/ 5 w 32"/>
                <a:gd name="T7" fmla="*/ 32 h 39"/>
                <a:gd name="T8" fmla="*/ 0 w 32"/>
                <a:gd name="T9" fmla="*/ 30 h 39"/>
                <a:gd name="T10" fmla="*/ 16 w 32"/>
                <a:gd name="T11" fmla="*/ 0 h 39"/>
                <a:gd name="T12" fmla="*/ 20 w 32"/>
                <a:gd name="T13" fmla="*/ 1 h 39"/>
                <a:gd name="T14" fmla="*/ 19 w 32"/>
                <a:gd name="T15" fmla="*/ 25 h 39"/>
                <a:gd name="T16" fmla="*/ 29 w 32"/>
                <a:gd name="T17" fmla="*/ 5 h 39"/>
                <a:gd name="T18" fmla="*/ 32 w 32"/>
                <a:gd name="T19" fmla="*/ 7 h 39"/>
                <a:gd name="T20" fmla="*/ 16 w 32"/>
                <a:gd name="T21"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39">
                  <a:moveTo>
                    <a:pt x="16" y="39"/>
                  </a:moveTo>
                  <a:lnTo>
                    <a:pt x="13" y="36"/>
                  </a:lnTo>
                  <a:lnTo>
                    <a:pt x="15" y="12"/>
                  </a:lnTo>
                  <a:lnTo>
                    <a:pt x="5" y="32"/>
                  </a:lnTo>
                  <a:lnTo>
                    <a:pt x="0" y="30"/>
                  </a:lnTo>
                  <a:lnTo>
                    <a:pt x="16" y="0"/>
                  </a:lnTo>
                  <a:lnTo>
                    <a:pt x="20" y="1"/>
                  </a:lnTo>
                  <a:lnTo>
                    <a:pt x="19" y="25"/>
                  </a:lnTo>
                  <a:lnTo>
                    <a:pt x="29" y="5"/>
                  </a:lnTo>
                  <a:lnTo>
                    <a:pt x="32" y="7"/>
                  </a:lnTo>
                  <a:lnTo>
                    <a:pt x="16" y="3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20000"/>
                </a:lnSpc>
                <a:spcBef>
                  <a:spcPts val="0"/>
                </a:spcBef>
                <a:spcAft>
                  <a:spcPts val="10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15" name="Freeform 113">
              <a:extLst>
                <a:ext uri="{FF2B5EF4-FFF2-40B4-BE49-F238E27FC236}">
                  <a16:creationId xmlns:a16="http://schemas.microsoft.com/office/drawing/2014/main" id="{78B08F5A-3537-4369-8A77-CCB172E924F5}"/>
                </a:ext>
              </a:extLst>
            </p:cNvPr>
            <p:cNvSpPr>
              <a:spLocks/>
            </p:cNvSpPr>
            <p:nvPr userDrawn="1"/>
          </p:nvSpPr>
          <p:spPr bwMode="auto">
            <a:xfrm>
              <a:off x="4983978" y="4506098"/>
              <a:ext cx="173950" cy="272269"/>
            </a:xfrm>
            <a:custGeom>
              <a:avLst/>
              <a:gdLst>
                <a:gd name="T0" fmla="*/ 12 w 19"/>
                <a:gd name="T1" fmla="*/ 29 h 29"/>
                <a:gd name="T2" fmla="*/ 10 w 19"/>
                <a:gd name="T3" fmla="*/ 29 h 29"/>
                <a:gd name="T4" fmla="*/ 10 w 19"/>
                <a:gd name="T5" fmla="*/ 26 h 29"/>
                <a:gd name="T6" fmla="*/ 8 w 19"/>
                <a:gd name="T7" fmla="*/ 27 h 29"/>
                <a:gd name="T8" fmla="*/ 5 w 19"/>
                <a:gd name="T9" fmla="*/ 27 h 29"/>
                <a:gd name="T10" fmla="*/ 1 w 19"/>
                <a:gd name="T11" fmla="*/ 23 h 29"/>
                <a:gd name="T12" fmla="*/ 1 w 19"/>
                <a:gd name="T13" fmla="*/ 13 h 29"/>
                <a:gd name="T14" fmla="*/ 6 w 19"/>
                <a:gd name="T15" fmla="*/ 3 h 29"/>
                <a:gd name="T16" fmla="*/ 14 w 19"/>
                <a:gd name="T17" fmla="*/ 1 h 29"/>
                <a:gd name="T18" fmla="*/ 18 w 19"/>
                <a:gd name="T19" fmla="*/ 11 h 29"/>
                <a:gd name="T20" fmla="*/ 15 w 19"/>
                <a:gd name="T21" fmla="*/ 11 h 29"/>
                <a:gd name="T22" fmla="*/ 13 w 19"/>
                <a:gd name="T23" fmla="*/ 4 h 29"/>
                <a:gd name="T24" fmla="*/ 8 w 19"/>
                <a:gd name="T25" fmla="*/ 6 h 29"/>
                <a:gd name="T26" fmla="*/ 5 w 19"/>
                <a:gd name="T27" fmla="*/ 14 h 29"/>
                <a:gd name="T28" fmla="*/ 4 w 19"/>
                <a:gd name="T29" fmla="*/ 21 h 29"/>
                <a:gd name="T30" fmla="*/ 6 w 19"/>
                <a:gd name="T31" fmla="*/ 24 h 29"/>
                <a:gd name="T32" fmla="*/ 9 w 19"/>
                <a:gd name="T33" fmla="*/ 24 h 29"/>
                <a:gd name="T34" fmla="*/ 12 w 19"/>
                <a:gd name="T35" fmla="*/ 20 h 29"/>
                <a:gd name="T36" fmla="*/ 12 w 19"/>
                <a:gd name="T37" fmla="*/ 18 h 29"/>
                <a:gd name="T38" fmla="*/ 8 w 19"/>
                <a:gd name="T39" fmla="*/ 17 h 29"/>
                <a:gd name="T40" fmla="*/ 9 w 19"/>
                <a:gd name="T41" fmla="*/ 14 h 29"/>
                <a:gd name="T42" fmla="*/ 16 w 19"/>
                <a:gd name="T43" fmla="*/ 17 h 29"/>
                <a:gd name="T44" fmla="*/ 12 w 19"/>
                <a:gd name="T45"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29">
                  <a:moveTo>
                    <a:pt x="12" y="29"/>
                  </a:moveTo>
                  <a:cubicBezTo>
                    <a:pt x="10" y="29"/>
                    <a:pt x="10" y="29"/>
                    <a:pt x="10" y="29"/>
                  </a:cubicBezTo>
                  <a:cubicBezTo>
                    <a:pt x="10" y="26"/>
                    <a:pt x="10" y="26"/>
                    <a:pt x="10" y="26"/>
                  </a:cubicBezTo>
                  <a:cubicBezTo>
                    <a:pt x="9" y="27"/>
                    <a:pt x="9" y="27"/>
                    <a:pt x="8" y="27"/>
                  </a:cubicBezTo>
                  <a:cubicBezTo>
                    <a:pt x="7" y="27"/>
                    <a:pt x="6" y="27"/>
                    <a:pt x="5" y="27"/>
                  </a:cubicBezTo>
                  <a:cubicBezTo>
                    <a:pt x="3" y="26"/>
                    <a:pt x="2" y="25"/>
                    <a:pt x="1" y="23"/>
                  </a:cubicBezTo>
                  <a:cubicBezTo>
                    <a:pt x="0" y="20"/>
                    <a:pt x="0" y="17"/>
                    <a:pt x="1" y="13"/>
                  </a:cubicBezTo>
                  <a:cubicBezTo>
                    <a:pt x="3" y="8"/>
                    <a:pt x="4" y="5"/>
                    <a:pt x="6" y="3"/>
                  </a:cubicBezTo>
                  <a:cubicBezTo>
                    <a:pt x="9" y="1"/>
                    <a:pt x="12" y="0"/>
                    <a:pt x="14" y="1"/>
                  </a:cubicBezTo>
                  <a:cubicBezTo>
                    <a:pt x="17" y="2"/>
                    <a:pt x="19" y="6"/>
                    <a:pt x="18" y="11"/>
                  </a:cubicBezTo>
                  <a:cubicBezTo>
                    <a:pt x="15" y="11"/>
                    <a:pt x="15" y="11"/>
                    <a:pt x="15" y="11"/>
                  </a:cubicBezTo>
                  <a:cubicBezTo>
                    <a:pt x="16" y="9"/>
                    <a:pt x="15" y="5"/>
                    <a:pt x="13" y="4"/>
                  </a:cubicBezTo>
                  <a:cubicBezTo>
                    <a:pt x="11" y="4"/>
                    <a:pt x="9" y="4"/>
                    <a:pt x="8" y="6"/>
                  </a:cubicBezTo>
                  <a:cubicBezTo>
                    <a:pt x="7" y="7"/>
                    <a:pt x="6" y="10"/>
                    <a:pt x="5" y="14"/>
                  </a:cubicBezTo>
                  <a:cubicBezTo>
                    <a:pt x="4" y="17"/>
                    <a:pt x="3" y="20"/>
                    <a:pt x="4" y="21"/>
                  </a:cubicBezTo>
                  <a:cubicBezTo>
                    <a:pt x="4" y="23"/>
                    <a:pt x="5" y="24"/>
                    <a:pt x="6" y="24"/>
                  </a:cubicBezTo>
                  <a:cubicBezTo>
                    <a:pt x="7" y="25"/>
                    <a:pt x="9" y="25"/>
                    <a:pt x="9" y="24"/>
                  </a:cubicBezTo>
                  <a:cubicBezTo>
                    <a:pt x="10" y="23"/>
                    <a:pt x="11" y="22"/>
                    <a:pt x="12" y="20"/>
                  </a:cubicBezTo>
                  <a:cubicBezTo>
                    <a:pt x="12" y="18"/>
                    <a:pt x="12" y="18"/>
                    <a:pt x="12" y="18"/>
                  </a:cubicBezTo>
                  <a:cubicBezTo>
                    <a:pt x="8" y="17"/>
                    <a:pt x="8" y="17"/>
                    <a:pt x="8" y="17"/>
                  </a:cubicBezTo>
                  <a:cubicBezTo>
                    <a:pt x="9" y="14"/>
                    <a:pt x="9" y="14"/>
                    <a:pt x="9" y="14"/>
                  </a:cubicBezTo>
                  <a:cubicBezTo>
                    <a:pt x="16" y="17"/>
                    <a:pt x="16" y="17"/>
                    <a:pt x="16" y="17"/>
                  </a:cubicBezTo>
                  <a:lnTo>
                    <a:pt x="12" y="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20000"/>
                </a:lnSpc>
                <a:spcBef>
                  <a:spcPts val="0"/>
                </a:spcBef>
                <a:spcAft>
                  <a:spcPts val="10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16" name="Freeform 114">
              <a:extLst>
                <a:ext uri="{FF2B5EF4-FFF2-40B4-BE49-F238E27FC236}">
                  <a16:creationId xmlns:a16="http://schemas.microsoft.com/office/drawing/2014/main" id="{089965BE-4DD1-4D4B-A00B-645C37FD3112}"/>
                </a:ext>
              </a:extLst>
            </p:cNvPr>
            <p:cNvSpPr>
              <a:spLocks/>
            </p:cNvSpPr>
            <p:nvPr userDrawn="1"/>
          </p:nvSpPr>
          <p:spPr bwMode="auto">
            <a:xfrm>
              <a:off x="5301626" y="4543913"/>
              <a:ext cx="143698" cy="249580"/>
            </a:xfrm>
            <a:custGeom>
              <a:avLst/>
              <a:gdLst>
                <a:gd name="T0" fmla="*/ 15 w 15"/>
                <a:gd name="T1" fmla="*/ 19 h 27"/>
                <a:gd name="T2" fmla="*/ 13 w 15"/>
                <a:gd name="T3" fmla="*/ 25 h 27"/>
                <a:gd name="T4" fmla="*/ 7 w 15"/>
                <a:gd name="T5" fmla="*/ 27 h 27"/>
                <a:gd name="T6" fmla="*/ 1 w 15"/>
                <a:gd name="T7" fmla="*/ 25 h 27"/>
                <a:gd name="T8" fmla="*/ 0 w 15"/>
                <a:gd name="T9" fmla="*/ 19 h 27"/>
                <a:gd name="T10" fmla="*/ 0 w 15"/>
                <a:gd name="T11" fmla="*/ 0 h 27"/>
                <a:gd name="T12" fmla="*/ 4 w 15"/>
                <a:gd name="T13" fmla="*/ 0 h 27"/>
                <a:gd name="T14" fmla="*/ 3 w 15"/>
                <a:gd name="T15" fmla="*/ 19 h 27"/>
                <a:gd name="T16" fmla="*/ 4 w 15"/>
                <a:gd name="T17" fmla="*/ 23 h 27"/>
                <a:gd name="T18" fmla="*/ 7 w 15"/>
                <a:gd name="T19" fmla="*/ 24 h 27"/>
                <a:gd name="T20" fmla="*/ 10 w 15"/>
                <a:gd name="T21" fmla="*/ 23 h 27"/>
                <a:gd name="T22" fmla="*/ 11 w 15"/>
                <a:gd name="T23" fmla="*/ 19 h 27"/>
                <a:gd name="T24" fmla="*/ 12 w 15"/>
                <a:gd name="T25" fmla="*/ 0 h 27"/>
                <a:gd name="T26" fmla="*/ 15 w 15"/>
                <a:gd name="T27" fmla="*/ 0 h 27"/>
                <a:gd name="T28" fmla="*/ 15 w 15"/>
                <a:gd name="T29"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7">
                  <a:moveTo>
                    <a:pt x="15" y="19"/>
                  </a:moveTo>
                  <a:cubicBezTo>
                    <a:pt x="15" y="22"/>
                    <a:pt x="14" y="24"/>
                    <a:pt x="13" y="25"/>
                  </a:cubicBezTo>
                  <a:cubicBezTo>
                    <a:pt x="11" y="27"/>
                    <a:pt x="10" y="27"/>
                    <a:pt x="7" y="27"/>
                  </a:cubicBezTo>
                  <a:cubicBezTo>
                    <a:pt x="4" y="27"/>
                    <a:pt x="2" y="26"/>
                    <a:pt x="1" y="25"/>
                  </a:cubicBezTo>
                  <a:cubicBezTo>
                    <a:pt x="0" y="23"/>
                    <a:pt x="0" y="21"/>
                    <a:pt x="0" y="19"/>
                  </a:cubicBezTo>
                  <a:cubicBezTo>
                    <a:pt x="0" y="0"/>
                    <a:pt x="0" y="0"/>
                    <a:pt x="0" y="0"/>
                  </a:cubicBezTo>
                  <a:cubicBezTo>
                    <a:pt x="4" y="0"/>
                    <a:pt x="4" y="0"/>
                    <a:pt x="4" y="0"/>
                  </a:cubicBezTo>
                  <a:cubicBezTo>
                    <a:pt x="3" y="19"/>
                    <a:pt x="3" y="19"/>
                    <a:pt x="3" y="19"/>
                  </a:cubicBezTo>
                  <a:cubicBezTo>
                    <a:pt x="3" y="21"/>
                    <a:pt x="3" y="22"/>
                    <a:pt x="4" y="23"/>
                  </a:cubicBezTo>
                  <a:cubicBezTo>
                    <a:pt x="5" y="24"/>
                    <a:pt x="6" y="24"/>
                    <a:pt x="7" y="24"/>
                  </a:cubicBezTo>
                  <a:cubicBezTo>
                    <a:pt x="8" y="24"/>
                    <a:pt x="9" y="24"/>
                    <a:pt x="10" y="23"/>
                  </a:cubicBezTo>
                  <a:cubicBezTo>
                    <a:pt x="11" y="22"/>
                    <a:pt x="11" y="21"/>
                    <a:pt x="11" y="19"/>
                  </a:cubicBezTo>
                  <a:cubicBezTo>
                    <a:pt x="12" y="0"/>
                    <a:pt x="12" y="0"/>
                    <a:pt x="12" y="0"/>
                  </a:cubicBezTo>
                  <a:cubicBezTo>
                    <a:pt x="15" y="0"/>
                    <a:pt x="15" y="0"/>
                    <a:pt x="15" y="0"/>
                  </a:cubicBezTo>
                  <a:lnTo>
                    <a:pt x="15" y="1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20000"/>
                </a:lnSpc>
                <a:spcBef>
                  <a:spcPts val="0"/>
                </a:spcBef>
                <a:spcAft>
                  <a:spcPts val="10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17" name="Freeform 115">
              <a:extLst>
                <a:ext uri="{FF2B5EF4-FFF2-40B4-BE49-F238E27FC236}">
                  <a16:creationId xmlns:a16="http://schemas.microsoft.com/office/drawing/2014/main" id="{8227C96E-6BD5-4475-8005-B8CAA5FB5806}"/>
                </a:ext>
              </a:extLst>
            </p:cNvPr>
            <p:cNvSpPr>
              <a:spLocks/>
            </p:cNvSpPr>
            <p:nvPr userDrawn="1"/>
          </p:nvSpPr>
          <p:spPr bwMode="auto">
            <a:xfrm>
              <a:off x="5460449" y="4521224"/>
              <a:ext cx="158824" cy="272269"/>
            </a:xfrm>
            <a:custGeom>
              <a:avLst/>
              <a:gdLst>
                <a:gd name="T0" fmla="*/ 21 w 21"/>
                <a:gd name="T1" fmla="*/ 33 h 36"/>
                <a:gd name="T2" fmla="*/ 17 w 21"/>
                <a:gd name="T3" fmla="*/ 34 h 36"/>
                <a:gd name="T4" fmla="*/ 5 w 21"/>
                <a:gd name="T5" fmla="*/ 11 h 36"/>
                <a:gd name="T6" fmla="*/ 8 w 21"/>
                <a:gd name="T7" fmla="*/ 35 h 36"/>
                <a:gd name="T8" fmla="*/ 3 w 21"/>
                <a:gd name="T9" fmla="*/ 36 h 36"/>
                <a:gd name="T10" fmla="*/ 0 w 21"/>
                <a:gd name="T11" fmla="*/ 3 h 36"/>
                <a:gd name="T12" fmla="*/ 5 w 21"/>
                <a:gd name="T13" fmla="*/ 1 h 36"/>
                <a:gd name="T14" fmla="*/ 15 w 21"/>
                <a:gd name="T15" fmla="*/ 18 h 36"/>
                <a:gd name="T16" fmla="*/ 12 w 21"/>
                <a:gd name="T17" fmla="*/ 0 h 36"/>
                <a:gd name="T18" fmla="*/ 16 w 21"/>
                <a:gd name="T19" fmla="*/ 0 h 36"/>
                <a:gd name="T20" fmla="*/ 21 w 21"/>
                <a:gd name="T21" fmla="*/ 3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36">
                  <a:moveTo>
                    <a:pt x="21" y="33"/>
                  </a:moveTo>
                  <a:lnTo>
                    <a:pt x="17" y="34"/>
                  </a:lnTo>
                  <a:lnTo>
                    <a:pt x="5" y="11"/>
                  </a:lnTo>
                  <a:lnTo>
                    <a:pt x="8" y="35"/>
                  </a:lnTo>
                  <a:lnTo>
                    <a:pt x="3" y="36"/>
                  </a:lnTo>
                  <a:lnTo>
                    <a:pt x="0" y="3"/>
                  </a:lnTo>
                  <a:lnTo>
                    <a:pt x="5" y="1"/>
                  </a:lnTo>
                  <a:lnTo>
                    <a:pt x="15" y="18"/>
                  </a:lnTo>
                  <a:lnTo>
                    <a:pt x="12" y="0"/>
                  </a:lnTo>
                  <a:lnTo>
                    <a:pt x="16" y="0"/>
                  </a:lnTo>
                  <a:lnTo>
                    <a:pt x="21" y="3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20000"/>
                </a:lnSpc>
                <a:spcBef>
                  <a:spcPts val="0"/>
                </a:spcBef>
                <a:spcAft>
                  <a:spcPts val="10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18" name="Freeform 116">
              <a:extLst>
                <a:ext uri="{FF2B5EF4-FFF2-40B4-BE49-F238E27FC236}">
                  <a16:creationId xmlns:a16="http://schemas.microsoft.com/office/drawing/2014/main" id="{6C4E3717-FE2A-4B72-9CC7-785BD14208DF}"/>
                </a:ext>
              </a:extLst>
            </p:cNvPr>
            <p:cNvSpPr>
              <a:spLocks/>
            </p:cNvSpPr>
            <p:nvPr userDrawn="1"/>
          </p:nvSpPr>
          <p:spPr bwMode="auto">
            <a:xfrm>
              <a:off x="5611710" y="4506098"/>
              <a:ext cx="105882" cy="249580"/>
            </a:xfrm>
            <a:custGeom>
              <a:avLst/>
              <a:gdLst>
                <a:gd name="T0" fmla="*/ 14 w 14"/>
                <a:gd name="T1" fmla="*/ 31 h 33"/>
                <a:gd name="T2" fmla="*/ 9 w 14"/>
                <a:gd name="T3" fmla="*/ 33 h 33"/>
                <a:gd name="T4" fmla="*/ 0 w 14"/>
                <a:gd name="T5" fmla="*/ 1 h 33"/>
                <a:gd name="T6" fmla="*/ 4 w 14"/>
                <a:gd name="T7" fmla="*/ 0 h 33"/>
                <a:gd name="T8" fmla="*/ 14 w 14"/>
                <a:gd name="T9" fmla="*/ 31 h 33"/>
              </a:gdLst>
              <a:ahLst/>
              <a:cxnLst>
                <a:cxn ang="0">
                  <a:pos x="T0" y="T1"/>
                </a:cxn>
                <a:cxn ang="0">
                  <a:pos x="T2" y="T3"/>
                </a:cxn>
                <a:cxn ang="0">
                  <a:pos x="T4" y="T5"/>
                </a:cxn>
                <a:cxn ang="0">
                  <a:pos x="T6" y="T7"/>
                </a:cxn>
                <a:cxn ang="0">
                  <a:pos x="T8" y="T9"/>
                </a:cxn>
              </a:cxnLst>
              <a:rect l="0" t="0" r="r" b="b"/>
              <a:pathLst>
                <a:path w="14" h="33">
                  <a:moveTo>
                    <a:pt x="14" y="31"/>
                  </a:moveTo>
                  <a:lnTo>
                    <a:pt x="9" y="33"/>
                  </a:lnTo>
                  <a:lnTo>
                    <a:pt x="0" y="1"/>
                  </a:lnTo>
                  <a:lnTo>
                    <a:pt x="4" y="0"/>
                  </a:lnTo>
                  <a:lnTo>
                    <a:pt x="14" y="3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20000"/>
                </a:lnSpc>
                <a:spcBef>
                  <a:spcPts val="0"/>
                </a:spcBef>
                <a:spcAft>
                  <a:spcPts val="10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19" name="Freeform 117">
              <a:extLst>
                <a:ext uri="{FF2B5EF4-FFF2-40B4-BE49-F238E27FC236}">
                  <a16:creationId xmlns:a16="http://schemas.microsoft.com/office/drawing/2014/main" id="{9E32D77F-1324-4524-B3A8-45B1ADF3999E}"/>
                </a:ext>
              </a:extLst>
            </p:cNvPr>
            <p:cNvSpPr>
              <a:spLocks/>
            </p:cNvSpPr>
            <p:nvPr userDrawn="1"/>
          </p:nvSpPr>
          <p:spPr bwMode="auto">
            <a:xfrm>
              <a:off x="5664651" y="4438031"/>
              <a:ext cx="173950" cy="279832"/>
            </a:xfrm>
            <a:custGeom>
              <a:avLst/>
              <a:gdLst>
                <a:gd name="T0" fmla="*/ 18 w 23"/>
                <a:gd name="T1" fmla="*/ 0 h 37"/>
                <a:gd name="T2" fmla="*/ 23 w 23"/>
                <a:gd name="T3" fmla="*/ 35 h 37"/>
                <a:gd name="T4" fmla="*/ 19 w 23"/>
                <a:gd name="T5" fmla="*/ 37 h 37"/>
                <a:gd name="T6" fmla="*/ 0 w 23"/>
                <a:gd name="T7" fmla="*/ 7 h 37"/>
                <a:gd name="T8" fmla="*/ 4 w 23"/>
                <a:gd name="T9" fmla="*/ 6 h 37"/>
                <a:gd name="T10" fmla="*/ 18 w 23"/>
                <a:gd name="T11" fmla="*/ 26 h 37"/>
                <a:gd name="T12" fmla="*/ 14 w 23"/>
                <a:gd name="T13" fmla="*/ 1 h 37"/>
                <a:gd name="T14" fmla="*/ 18 w 23"/>
                <a:gd name="T15" fmla="*/ 0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7">
                  <a:moveTo>
                    <a:pt x="18" y="0"/>
                  </a:moveTo>
                  <a:lnTo>
                    <a:pt x="23" y="35"/>
                  </a:lnTo>
                  <a:lnTo>
                    <a:pt x="19" y="37"/>
                  </a:lnTo>
                  <a:lnTo>
                    <a:pt x="0" y="7"/>
                  </a:lnTo>
                  <a:lnTo>
                    <a:pt x="4" y="6"/>
                  </a:lnTo>
                  <a:lnTo>
                    <a:pt x="18" y="26"/>
                  </a:lnTo>
                  <a:lnTo>
                    <a:pt x="14" y="1"/>
                  </a:lnTo>
                  <a:lnTo>
                    <a:pt x="18"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20000"/>
                </a:lnSpc>
                <a:spcBef>
                  <a:spcPts val="0"/>
                </a:spcBef>
                <a:spcAft>
                  <a:spcPts val="10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20" name="Freeform 118">
              <a:extLst>
                <a:ext uri="{FF2B5EF4-FFF2-40B4-BE49-F238E27FC236}">
                  <a16:creationId xmlns:a16="http://schemas.microsoft.com/office/drawing/2014/main" id="{B92D7ED2-8767-4396-BBFE-802874493C1D}"/>
                </a:ext>
              </a:extLst>
            </p:cNvPr>
            <p:cNvSpPr>
              <a:spLocks/>
            </p:cNvSpPr>
            <p:nvPr userDrawn="1"/>
          </p:nvSpPr>
          <p:spPr bwMode="auto">
            <a:xfrm>
              <a:off x="5808348" y="4369963"/>
              <a:ext cx="249580" cy="287395"/>
            </a:xfrm>
            <a:custGeom>
              <a:avLst/>
              <a:gdLst>
                <a:gd name="T0" fmla="*/ 33 w 33"/>
                <a:gd name="T1" fmla="*/ 29 h 38"/>
                <a:gd name="T2" fmla="*/ 17 w 33"/>
                <a:gd name="T3" fmla="*/ 38 h 38"/>
                <a:gd name="T4" fmla="*/ 0 w 33"/>
                <a:gd name="T5" fmla="*/ 8 h 38"/>
                <a:gd name="T6" fmla="*/ 15 w 33"/>
                <a:gd name="T7" fmla="*/ 0 h 38"/>
                <a:gd name="T8" fmla="*/ 17 w 33"/>
                <a:gd name="T9" fmla="*/ 3 h 38"/>
                <a:gd name="T10" fmla="*/ 6 w 33"/>
                <a:gd name="T11" fmla="*/ 9 h 38"/>
                <a:gd name="T12" fmla="*/ 11 w 33"/>
                <a:gd name="T13" fmla="*/ 19 h 38"/>
                <a:gd name="T14" fmla="*/ 22 w 33"/>
                <a:gd name="T15" fmla="*/ 13 h 38"/>
                <a:gd name="T16" fmla="*/ 23 w 33"/>
                <a:gd name="T17" fmla="*/ 16 h 38"/>
                <a:gd name="T18" fmla="*/ 14 w 33"/>
                <a:gd name="T19" fmla="*/ 21 h 38"/>
                <a:gd name="T20" fmla="*/ 20 w 33"/>
                <a:gd name="T21" fmla="*/ 33 h 38"/>
                <a:gd name="T22" fmla="*/ 31 w 33"/>
                <a:gd name="T23" fmla="*/ 25 h 38"/>
                <a:gd name="T24" fmla="*/ 33 w 33"/>
                <a:gd name="T25" fmla="*/ 2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8">
                  <a:moveTo>
                    <a:pt x="33" y="29"/>
                  </a:moveTo>
                  <a:lnTo>
                    <a:pt x="17" y="38"/>
                  </a:lnTo>
                  <a:lnTo>
                    <a:pt x="0" y="8"/>
                  </a:lnTo>
                  <a:lnTo>
                    <a:pt x="15" y="0"/>
                  </a:lnTo>
                  <a:lnTo>
                    <a:pt x="17" y="3"/>
                  </a:lnTo>
                  <a:lnTo>
                    <a:pt x="6" y="9"/>
                  </a:lnTo>
                  <a:lnTo>
                    <a:pt x="11" y="19"/>
                  </a:lnTo>
                  <a:lnTo>
                    <a:pt x="22" y="13"/>
                  </a:lnTo>
                  <a:lnTo>
                    <a:pt x="23" y="16"/>
                  </a:lnTo>
                  <a:lnTo>
                    <a:pt x="14" y="21"/>
                  </a:lnTo>
                  <a:lnTo>
                    <a:pt x="20" y="33"/>
                  </a:lnTo>
                  <a:lnTo>
                    <a:pt x="31" y="25"/>
                  </a:lnTo>
                  <a:lnTo>
                    <a:pt x="33" y="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20000"/>
                </a:lnSpc>
                <a:spcBef>
                  <a:spcPts val="0"/>
                </a:spcBef>
                <a:spcAft>
                  <a:spcPts val="10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21" name="Freeform 119">
              <a:extLst>
                <a:ext uri="{FF2B5EF4-FFF2-40B4-BE49-F238E27FC236}">
                  <a16:creationId xmlns:a16="http://schemas.microsoft.com/office/drawing/2014/main" id="{57BDD39D-0358-4557-B69C-BCC39BAC0CED}"/>
                </a:ext>
              </a:extLst>
            </p:cNvPr>
            <p:cNvSpPr>
              <a:spLocks noEditPoints="1"/>
            </p:cNvSpPr>
            <p:nvPr userDrawn="1"/>
          </p:nvSpPr>
          <p:spPr bwMode="auto">
            <a:xfrm>
              <a:off x="5936920" y="4309459"/>
              <a:ext cx="257143" cy="257143"/>
            </a:xfrm>
            <a:custGeom>
              <a:avLst/>
              <a:gdLst>
                <a:gd name="T0" fmla="*/ 27 w 27"/>
                <a:gd name="T1" fmla="*/ 20 h 28"/>
                <a:gd name="T2" fmla="*/ 24 w 27"/>
                <a:gd name="T3" fmla="*/ 22 h 28"/>
                <a:gd name="T4" fmla="*/ 15 w 27"/>
                <a:gd name="T5" fmla="*/ 14 h 28"/>
                <a:gd name="T6" fmla="*/ 12 w 27"/>
                <a:gd name="T7" fmla="*/ 17 h 28"/>
                <a:gd name="T8" fmla="*/ 19 w 27"/>
                <a:gd name="T9" fmla="*/ 26 h 28"/>
                <a:gd name="T10" fmla="*/ 16 w 27"/>
                <a:gd name="T11" fmla="*/ 28 h 28"/>
                <a:gd name="T12" fmla="*/ 0 w 27"/>
                <a:gd name="T13" fmla="*/ 6 h 28"/>
                <a:gd name="T14" fmla="*/ 5 w 27"/>
                <a:gd name="T15" fmla="*/ 2 h 28"/>
                <a:gd name="T16" fmla="*/ 11 w 27"/>
                <a:gd name="T17" fmla="*/ 0 h 28"/>
                <a:gd name="T18" fmla="*/ 18 w 27"/>
                <a:gd name="T19" fmla="*/ 8 h 28"/>
                <a:gd name="T20" fmla="*/ 17 w 27"/>
                <a:gd name="T21" fmla="*/ 12 h 28"/>
                <a:gd name="T22" fmla="*/ 27 w 27"/>
                <a:gd name="T23" fmla="*/ 20 h 28"/>
                <a:gd name="T24" fmla="*/ 10 w 27"/>
                <a:gd name="T25" fmla="*/ 4 h 28"/>
                <a:gd name="T26" fmla="*/ 5 w 27"/>
                <a:gd name="T27" fmla="*/ 6 h 28"/>
                <a:gd name="T28" fmla="*/ 10 w 27"/>
                <a:gd name="T29" fmla="*/ 13 h 28"/>
                <a:gd name="T30" fmla="*/ 14 w 27"/>
                <a:gd name="T31" fmla="*/ 10 h 28"/>
                <a:gd name="T32" fmla="*/ 10 w 27"/>
                <a:gd name="T33"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8">
                  <a:moveTo>
                    <a:pt x="27" y="20"/>
                  </a:moveTo>
                  <a:cubicBezTo>
                    <a:pt x="24" y="22"/>
                    <a:pt x="24" y="22"/>
                    <a:pt x="24" y="22"/>
                  </a:cubicBezTo>
                  <a:cubicBezTo>
                    <a:pt x="15" y="14"/>
                    <a:pt x="15" y="14"/>
                    <a:pt x="15" y="14"/>
                  </a:cubicBezTo>
                  <a:cubicBezTo>
                    <a:pt x="12" y="17"/>
                    <a:pt x="12" y="17"/>
                    <a:pt x="12" y="17"/>
                  </a:cubicBezTo>
                  <a:cubicBezTo>
                    <a:pt x="19" y="26"/>
                    <a:pt x="19" y="26"/>
                    <a:pt x="19" y="26"/>
                  </a:cubicBezTo>
                  <a:cubicBezTo>
                    <a:pt x="16" y="28"/>
                    <a:pt x="16" y="28"/>
                    <a:pt x="16" y="28"/>
                  </a:cubicBezTo>
                  <a:cubicBezTo>
                    <a:pt x="0" y="6"/>
                    <a:pt x="0" y="6"/>
                    <a:pt x="0" y="6"/>
                  </a:cubicBezTo>
                  <a:cubicBezTo>
                    <a:pt x="5" y="2"/>
                    <a:pt x="5" y="2"/>
                    <a:pt x="5" y="2"/>
                  </a:cubicBezTo>
                  <a:cubicBezTo>
                    <a:pt x="7" y="1"/>
                    <a:pt x="9" y="0"/>
                    <a:pt x="11" y="0"/>
                  </a:cubicBezTo>
                  <a:cubicBezTo>
                    <a:pt x="16" y="1"/>
                    <a:pt x="18" y="4"/>
                    <a:pt x="18" y="8"/>
                  </a:cubicBezTo>
                  <a:cubicBezTo>
                    <a:pt x="18" y="9"/>
                    <a:pt x="18" y="11"/>
                    <a:pt x="17" y="12"/>
                  </a:cubicBezTo>
                  <a:lnTo>
                    <a:pt x="27" y="20"/>
                  </a:lnTo>
                  <a:close/>
                  <a:moveTo>
                    <a:pt x="10" y="4"/>
                  </a:moveTo>
                  <a:cubicBezTo>
                    <a:pt x="8" y="3"/>
                    <a:pt x="6" y="5"/>
                    <a:pt x="5" y="6"/>
                  </a:cubicBezTo>
                  <a:cubicBezTo>
                    <a:pt x="10" y="13"/>
                    <a:pt x="10" y="13"/>
                    <a:pt x="10" y="13"/>
                  </a:cubicBezTo>
                  <a:cubicBezTo>
                    <a:pt x="12" y="12"/>
                    <a:pt x="12" y="12"/>
                    <a:pt x="14" y="10"/>
                  </a:cubicBezTo>
                  <a:cubicBezTo>
                    <a:pt x="14" y="7"/>
                    <a:pt x="13" y="5"/>
                    <a:pt x="10" y="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20000"/>
                </a:lnSpc>
                <a:spcBef>
                  <a:spcPts val="0"/>
                </a:spcBef>
                <a:spcAft>
                  <a:spcPts val="10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22" name="Freeform 120">
              <a:extLst>
                <a:ext uri="{FF2B5EF4-FFF2-40B4-BE49-F238E27FC236}">
                  <a16:creationId xmlns:a16="http://schemas.microsoft.com/office/drawing/2014/main" id="{820FD44A-13EC-4742-8277-D1F180503FBD}"/>
                </a:ext>
              </a:extLst>
            </p:cNvPr>
            <p:cNvSpPr>
              <a:spLocks/>
            </p:cNvSpPr>
            <p:nvPr userDrawn="1"/>
          </p:nvSpPr>
          <p:spPr bwMode="auto">
            <a:xfrm>
              <a:off x="6073054" y="4196014"/>
              <a:ext cx="257143" cy="219328"/>
            </a:xfrm>
            <a:custGeom>
              <a:avLst/>
              <a:gdLst>
                <a:gd name="T0" fmla="*/ 22 w 28"/>
                <a:gd name="T1" fmla="*/ 10 h 24"/>
                <a:gd name="T2" fmla="*/ 19 w 28"/>
                <a:gd name="T3" fmla="*/ 24 h 24"/>
                <a:gd name="T4" fmla="*/ 14 w 28"/>
                <a:gd name="T5" fmla="*/ 23 h 24"/>
                <a:gd name="T6" fmla="*/ 15 w 28"/>
                <a:gd name="T7" fmla="*/ 20 h 24"/>
                <a:gd name="T8" fmla="*/ 18 w 28"/>
                <a:gd name="T9" fmla="*/ 21 h 24"/>
                <a:gd name="T10" fmla="*/ 20 w 28"/>
                <a:gd name="T11" fmla="*/ 13 h 24"/>
                <a:gd name="T12" fmla="*/ 17 w 28"/>
                <a:gd name="T13" fmla="*/ 12 h 24"/>
                <a:gd name="T14" fmla="*/ 8 w 28"/>
                <a:gd name="T15" fmla="*/ 15 h 24"/>
                <a:gd name="T16" fmla="*/ 0 w 28"/>
                <a:gd name="T17" fmla="*/ 9 h 24"/>
                <a:gd name="T18" fmla="*/ 2 w 28"/>
                <a:gd name="T19" fmla="*/ 4 h 24"/>
                <a:gd name="T20" fmla="*/ 11 w 28"/>
                <a:gd name="T21" fmla="*/ 2 h 24"/>
                <a:gd name="T22" fmla="*/ 10 w 28"/>
                <a:gd name="T23" fmla="*/ 5 h 24"/>
                <a:gd name="T24" fmla="*/ 4 w 28"/>
                <a:gd name="T25" fmla="*/ 6 h 24"/>
                <a:gd name="T26" fmla="*/ 3 w 28"/>
                <a:gd name="T27" fmla="*/ 9 h 24"/>
                <a:gd name="T28" fmla="*/ 7 w 28"/>
                <a:gd name="T29" fmla="*/ 12 h 24"/>
                <a:gd name="T30" fmla="*/ 17 w 28"/>
                <a:gd name="T31" fmla="*/ 9 h 24"/>
                <a:gd name="T32" fmla="*/ 22 w 28"/>
                <a:gd name="T33" fmla="*/ 1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 h="24">
                  <a:moveTo>
                    <a:pt x="22" y="10"/>
                  </a:moveTo>
                  <a:cubicBezTo>
                    <a:pt x="28" y="13"/>
                    <a:pt x="26" y="23"/>
                    <a:pt x="19" y="24"/>
                  </a:cubicBezTo>
                  <a:cubicBezTo>
                    <a:pt x="17" y="24"/>
                    <a:pt x="15" y="24"/>
                    <a:pt x="14" y="23"/>
                  </a:cubicBezTo>
                  <a:cubicBezTo>
                    <a:pt x="15" y="20"/>
                    <a:pt x="15" y="20"/>
                    <a:pt x="15" y="20"/>
                  </a:cubicBezTo>
                  <a:cubicBezTo>
                    <a:pt x="16" y="21"/>
                    <a:pt x="17" y="21"/>
                    <a:pt x="18" y="21"/>
                  </a:cubicBezTo>
                  <a:cubicBezTo>
                    <a:pt x="23" y="20"/>
                    <a:pt x="23" y="15"/>
                    <a:pt x="20" y="13"/>
                  </a:cubicBezTo>
                  <a:cubicBezTo>
                    <a:pt x="19" y="12"/>
                    <a:pt x="18" y="12"/>
                    <a:pt x="17" y="12"/>
                  </a:cubicBezTo>
                  <a:cubicBezTo>
                    <a:pt x="13" y="13"/>
                    <a:pt x="11" y="15"/>
                    <a:pt x="8" y="15"/>
                  </a:cubicBezTo>
                  <a:cubicBezTo>
                    <a:pt x="4" y="15"/>
                    <a:pt x="1" y="13"/>
                    <a:pt x="0" y="9"/>
                  </a:cubicBezTo>
                  <a:cubicBezTo>
                    <a:pt x="0" y="7"/>
                    <a:pt x="1" y="5"/>
                    <a:pt x="2" y="4"/>
                  </a:cubicBezTo>
                  <a:cubicBezTo>
                    <a:pt x="4" y="0"/>
                    <a:pt x="8" y="0"/>
                    <a:pt x="11" y="2"/>
                  </a:cubicBezTo>
                  <a:cubicBezTo>
                    <a:pt x="10" y="5"/>
                    <a:pt x="10" y="5"/>
                    <a:pt x="10" y="5"/>
                  </a:cubicBezTo>
                  <a:cubicBezTo>
                    <a:pt x="8" y="4"/>
                    <a:pt x="5" y="4"/>
                    <a:pt x="4" y="6"/>
                  </a:cubicBezTo>
                  <a:cubicBezTo>
                    <a:pt x="3" y="7"/>
                    <a:pt x="3" y="8"/>
                    <a:pt x="3" y="9"/>
                  </a:cubicBezTo>
                  <a:cubicBezTo>
                    <a:pt x="4" y="11"/>
                    <a:pt x="5" y="12"/>
                    <a:pt x="7" y="12"/>
                  </a:cubicBezTo>
                  <a:cubicBezTo>
                    <a:pt x="11" y="11"/>
                    <a:pt x="13" y="8"/>
                    <a:pt x="17" y="9"/>
                  </a:cubicBezTo>
                  <a:cubicBezTo>
                    <a:pt x="18" y="9"/>
                    <a:pt x="20" y="9"/>
                    <a:pt x="22" y="10"/>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20000"/>
                </a:lnSpc>
                <a:spcBef>
                  <a:spcPts val="0"/>
                </a:spcBef>
                <a:spcAft>
                  <a:spcPts val="10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23" name="Freeform 121">
              <a:extLst>
                <a:ext uri="{FF2B5EF4-FFF2-40B4-BE49-F238E27FC236}">
                  <a16:creationId xmlns:a16="http://schemas.microsoft.com/office/drawing/2014/main" id="{9E749348-2825-40A5-B7B0-609CF8A67C01}"/>
                </a:ext>
              </a:extLst>
            </p:cNvPr>
            <p:cNvSpPr>
              <a:spLocks/>
            </p:cNvSpPr>
            <p:nvPr userDrawn="1"/>
          </p:nvSpPr>
          <p:spPr bwMode="auto">
            <a:xfrm>
              <a:off x="6156248" y="4120384"/>
              <a:ext cx="234454" cy="158823"/>
            </a:xfrm>
            <a:custGeom>
              <a:avLst/>
              <a:gdLst>
                <a:gd name="T0" fmla="*/ 31 w 31"/>
                <a:gd name="T1" fmla="*/ 17 h 21"/>
                <a:gd name="T2" fmla="*/ 28 w 31"/>
                <a:gd name="T3" fmla="*/ 21 h 21"/>
                <a:gd name="T4" fmla="*/ 0 w 31"/>
                <a:gd name="T5" fmla="*/ 2 h 21"/>
                <a:gd name="T6" fmla="*/ 2 w 31"/>
                <a:gd name="T7" fmla="*/ 0 h 21"/>
                <a:gd name="T8" fmla="*/ 31 w 31"/>
                <a:gd name="T9" fmla="*/ 17 h 21"/>
              </a:gdLst>
              <a:ahLst/>
              <a:cxnLst>
                <a:cxn ang="0">
                  <a:pos x="T0" y="T1"/>
                </a:cxn>
                <a:cxn ang="0">
                  <a:pos x="T2" y="T3"/>
                </a:cxn>
                <a:cxn ang="0">
                  <a:pos x="T4" y="T5"/>
                </a:cxn>
                <a:cxn ang="0">
                  <a:pos x="T6" y="T7"/>
                </a:cxn>
                <a:cxn ang="0">
                  <a:pos x="T8" y="T9"/>
                </a:cxn>
              </a:cxnLst>
              <a:rect l="0" t="0" r="r" b="b"/>
              <a:pathLst>
                <a:path w="31" h="21">
                  <a:moveTo>
                    <a:pt x="31" y="17"/>
                  </a:moveTo>
                  <a:lnTo>
                    <a:pt x="28" y="21"/>
                  </a:lnTo>
                  <a:lnTo>
                    <a:pt x="0" y="2"/>
                  </a:lnTo>
                  <a:lnTo>
                    <a:pt x="2" y="0"/>
                  </a:lnTo>
                  <a:lnTo>
                    <a:pt x="31" y="1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20000"/>
                </a:lnSpc>
                <a:spcBef>
                  <a:spcPts val="0"/>
                </a:spcBef>
                <a:spcAft>
                  <a:spcPts val="10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24" name="Freeform 122">
              <a:extLst>
                <a:ext uri="{FF2B5EF4-FFF2-40B4-BE49-F238E27FC236}">
                  <a16:creationId xmlns:a16="http://schemas.microsoft.com/office/drawing/2014/main" id="{1DC751F0-0896-4151-B7A2-B0F378660CA6}"/>
                </a:ext>
              </a:extLst>
            </p:cNvPr>
            <p:cNvSpPr>
              <a:spLocks/>
            </p:cNvSpPr>
            <p:nvPr userDrawn="1"/>
          </p:nvSpPr>
          <p:spPr bwMode="auto">
            <a:xfrm>
              <a:off x="6194063" y="3953997"/>
              <a:ext cx="272269" cy="211765"/>
            </a:xfrm>
            <a:custGeom>
              <a:avLst/>
              <a:gdLst>
                <a:gd name="T0" fmla="*/ 11 w 36"/>
                <a:gd name="T1" fmla="*/ 3 h 28"/>
                <a:gd name="T2" fmla="*/ 8 w 36"/>
                <a:gd name="T3" fmla="*/ 9 h 28"/>
                <a:gd name="T4" fmla="*/ 36 w 36"/>
                <a:gd name="T5" fmla="*/ 25 h 28"/>
                <a:gd name="T6" fmla="*/ 33 w 36"/>
                <a:gd name="T7" fmla="*/ 28 h 28"/>
                <a:gd name="T8" fmla="*/ 6 w 36"/>
                <a:gd name="T9" fmla="*/ 13 h 28"/>
                <a:gd name="T10" fmla="*/ 3 w 36"/>
                <a:gd name="T11" fmla="*/ 18 h 28"/>
                <a:gd name="T12" fmla="*/ 0 w 36"/>
                <a:gd name="T13" fmla="*/ 17 h 28"/>
                <a:gd name="T14" fmla="*/ 7 w 36"/>
                <a:gd name="T15" fmla="*/ 0 h 28"/>
                <a:gd name="T16" fmla="*/ 11 w 36"/>
                <a:gd name="T17"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28">
                  <a:moveTo>
                    <a:pt x="11" y="3"/>
                  </a:moveTo>
                  <a:lnTo>
                    <a:pt x="8" y="9"/>
                  </a:lnTo>
                  <a:lnTo>
                    <a:pt x="36" y="25"/>
                  </a:lnTo>
                  <a:lnTo>
                    <a:pt x="33" y="28"/>
                  </a:lnTo>
                  <a:lnTo>
                    <a:pt x="6" y="13"/>
                  </a:lnTo>
                  <a:lnTo>
                    <a:pt x="3" y="18"/>
                  </a:lnTo>
                  <a:lnTo>
                    <a:pt x="0" y="17"/>
                  </a:lnTo>
                  <a:lnTo>
                    <a:pt x="7" y="0"/>
                  </a:lnTo>
                  <a:lnTo>
                    <a:pt x="11" y="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20000"/>
                </a:lnSpc>
                <a:spcBef>
                  <a:spcPts val="0"/>
                </a:spcBef>
                <a:spcAft>
                  <a:spcPts val="10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25" name="Freeform 123">
              <a:extLst>
                <a:ext uri="{FF2B5EF4-FFF2-40B4-BE49-F238E27FC236}">
                  <a16:creationId xmlns:a16="http://schemas.microsoft.com/office/drawing/2014/main" id="{3EE365C9-7D45-40FB-8058-815261354EF2}"/>
                </a:ext>
              </a:extLst>
            </p:cNvPr>
            <p:cNvSpPr>
              <a:spLocks/>
            </p:cNvSpPr>
            <p:nvPr userDrawn="1"/>
          </p:nvSpPr>
          <p:spPr bwMode="auto">
            <a:xfrm>
              <a:off x="6254567" y="3810300"/>
              <a:ext cx="272269" cy="173950"/>
            </a:xfrm>
            <a:custGeom>
              <a:avLst/>
              <a:gdLst>
                <a:gd name="T0" fmla="*/ 8 w 36"/>
                <a:gd name="T1" fmla="*/ 0 h 23"/>
                <a:gd name="T2" fmla="*/ 25 w 36"/>
                <a:gd name="T3" fmla="*/ 14 h 23"/>
                <a:gd name="T4" fmla="*/ 36 w 36"/>
                <a:gd name="T5" fmla="*/ 19 h 23"/>
                <a:gd name="T6" fmla="*/ 34 w 36"/>
                <a:gd name="T7" fmla="*/ 23 h 23"/>
                <a:gd name="T8" fmla="*/ 24 w 36"/>
                <a:gd name="T9" fmla="*/ 18 h 23"/>
                <a:gd name="T10" fmla="*/ 0 w 36"/>
                <a:gd name="T11" fmla="*/ 18 h 23"/>
                <a:gd name="T12" fmla="*/ 2 w 36"/>
                <a:gd name="T13" fmla="*/ 14 h 23"/>
                <a:gd name="T14" fmla="*/ 18 w 36"/>
                <a:gd name="T15" fmla="*/ 14 h 23"/>
                <a:gd name="T16" fmla="*/ 7 w 36"/>
                <a:gd name="T17" fmla="*/ 5 h 23"/>
                <a:gd name="T18" fmla="*/ 8 w 36"/>
                <a:gd name="T1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23">
                  <a:moveTo>
                    <a:pt x="8" y="0"/>
                  </a:moveTo>
                  <a:lnTo>
                    <a:pt x="25" y="14"/>
                  </a:lnTo>
                  <a:lnTo>
                    <a:pt x="36" y="19"/>
                  </a:lnTo>
                  <a:lnTo>
                    <a:pt x="34" y="23"/>
                  </a:lnTo>
                  <a:lnTo>
                    <a:pt x="24" y="18"/>
                  </a:lnTo>
                  <a:lnTo>
                    <a:pt x="0" y="18"/>
                  </a:lnTo>
                  <a:lnTo>
                    <a:pt x="2" y="14"/>
                  </a:lnTo>
                  <a:lnTo>
                    <a:pt x="18" y="14"/>
                  </a:lnTo>
                  <a:lnTo>
                    <a:pt x="7" y="5"/>
                  </a:lnTo>
                  <a:lnTo>
                    <a:pt x="8"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20000"/>
                </a:lnSpc>
                <a:spcBef>
                  <a:spcPts val="0"/>
                </a:spcBef>
                <a:spcAft>
                  <a:spcPts val="10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26" name="Freeform 124">
              <a:extLst>
                <a:ext uri="{FF2B5EF4-FFF2-40B4-BE49-F238E27FC236}">
                  <a16:creationId xmlns:a16="http://schemas.microsoft.com/office/drawing/2014/main" id="{8F1B158D-0305-4549-BBB5-AB037C5C0CC3}"/>
                </a:ext>
              </a:extLst>
            </p:cNvPr>
            <p:cNvSpPr>
              <a:spLocks/>
            </p:cNvSpPr>
            <p:nvPr userDrawn="1"/>
          </p:nvSpPr>
          <p:spPr bwMode="auto">
            <a:xfrm>
              <a:off x="4462130" y="4286770"/>
              <a:ext cx="257143" cy="189076"/>
            </a:xfrm>
            <a:custGeom>
              <a:avLst/>
              <a:gdLst>
                <a:gd name="T0" fmla="*/ 14 w 28"/>
                <a:gd name="T1" fmla="*/ 16 h 20"/>
                <a:gd name="T2" fmla="*/ 8 w 28"/>
                <a:gd name="T3" fmla="*/ 20 h 20"/>
                <a:gd name="T4" fmla="*/ 2 w 28"/>
                <a:gd name="T5" fmla="*/ 17 h 20"/>
                <a:gd name="T6" fmla="*/ 0 w 28"/>
                <a:gd name="T7" fmla="*/ 12 h 20"/>
                <a:gd name="T8" fmla="*/ 1 w 28"/>
                <a:gd name="T9" fmla="*/ 9 h 20"/>
                <a:gd name="T10" fmla="*/ 4 w 28"/>
                <a:gd name="T11" fmla="*/ 10 h 20"/>
                <a:gd name="T12" fmla="*/ 3 w 28"/>
                <a:gd name="T13" fmla="*/ 12 h 20"/>
                <a:gd name="T14" fmla="*/ 4 w 28"/>
                <a:gd name="T15" fmla="*/ 15 h 20"/>
                <a:gd name="T16" fmla="*/ 8 w 28"/>
                <a:gd name="T17" fmla="*/ 16 h 20"/>
                <a:gd name="T18" fmla="*/ 12 w 28"/>
                <a:gd name="T19" fmla="*/ 14 h 20"/>
                <a:gd name="T20" fmla="*/ 25 w 28"/>
                <a:gd name="T21" fmla="*/ 0 h 20"/>
                <a:gd name="T22" fmla="*/ 28 w 28"/>
                <a:gd name="T23" fmla="*/ 3 h 20"/>
                <a:gd name="T24" fmla="*/ 14 w 28"/>
                <a:gd name="T25"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 h="20">
                  <a:moveTo>
                    <a:pt x="14" y="16"/>
                  </a:moveTo>
                  <a:cubicBezTo>
                    <a:pt x="12" y="18"/>
                    <a:pt x="10" y="20"/>
                    <a:pt x="8" y="20"/>
                  </a:cubicBezTo>
                  <a:cubicBezTo>
                    <a:pt x="6" y="20"/>
                    <a:pt x="4" y="19"/>
                    <a:pt x="2" y="17"/>
                  </a:cubicBezTo>
                  <a:cubicBezTo>
                    <a:pt x="1" y="16"/>
                    <a:pt x="0" y="14"/>
                    <a:pt x="0" y="12"/>
                  </a:cubicBezTo>
                  <a:cubicBezTo>
                    <a:pt x="0" y="11"/>
                    <a:pt x="0" y="10"/>
                    <a:pt x="1" y="9"/>
                  </a:cubicBezTo>
                  <a:cubicBezTo>
                    <a:pt x="4" y="10"/>
                    <a:pt x="4" y="10"/>
                    <a:pt x="4" y="10"/>
                  </a:cubicBezTo>
                  <a:cubicBezTo>
                    <a:pt x="3" y="11"/>
                    <a:pt x="3" y="11"/>
                    <a:pt x="3" y="12"/>
                  </a:cubicBezTo>
                  <a:cubicBezTo>
                    <a:pt x="3" y="13"/>
                    <a:pt x="4" y="14"/>
                    <a:pt x="4" y="15"/>
                  </a:cubicBezTo>
                  <a:cubicBezTo>
                    <a:pt x="5" y="16"/>
                    <a:pt x="6" y="16"/>
                    <a:pt x="8" y="16"/>
                  </a:cubicBezTo>
                  <a:cubicBezTo>
                    <a:pt x="9" y="16"/>
                    <a:pt x="10" y="15"/>
                    <a:pt x="12" y="14"/>
                  </a:cubicBezTo>
                  <a:cubicBezTo>
                    <a:pt x="25" y="0"/>
                    <a:pt x="25" y="0"/>
                    <a:pt x="25" y="0"/>
                  </a:cubicBezTo>
                  <a:cubicBezTo>
                    <a:pt x="28" y="3"/>
                    <a:pt x="28" y="3"/>
                    <a:pt x="28" y="3"/>
                  </a:cubicBezTo>
                  <a:lnTo>
                    <a:pt x="14" y="1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20000"/>
                </a:lnSpc>
                <a:spcBef>
                  <a:spcPts val="0"/>
                </a:spcBef>
                <a:spcAft>
                  <a:spcPts val="10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27" name="Freeform 125">
              <a:extLst>
                <a:ext uri="{FF2B5EF4-FFF2-40B4-BE49-F238E27FC236}">
                  <a16:creationId xmlns:a16="http://schemas.microsoft.com/office/drawing/2014/main" id="{CF436B79-3B5C-413F-821E-99DE9695DD4E}"/>
                </a:ext>
              </a:extLst>
            </p:cNvPr>
            <p:cNvSpPr>
              <a:spLocks noEditPoints="1"/>
            </p:cNvSpPr>
            <p:nvPr userDrawn="1"/>
          </p:nvSpPr>
          <p:spPr bwMode="auto">
            <a:xfrm>
              <a:off x="4938600" y="4203577"/>
              <a:ext cx="801681" cy="249580"/>
            </a:xfrm>
            <a:custGeom>
              <a:avLst/>
              <a:gdLst>
                <a:gd name="T0" fmla="*/ 0 w 86"/>
                <a:gd name="T1" fmla="*/ 15 h 27"/>
                <a:gd name="T2" fmla="*/ 4 w 86"/>
                <a:gd name="T3" fmla="*/ 15 h 27"/>
                <a:gd name="T4" fmla="*/ 6 w 86"/>
                <a:gd name="T5" fmla="*/ 3 h 27"/>
                <a:gd name="T6" fmla="*/ 10 w 86"/>
                <a:gd name="T7" fmla="*/ 3 h 27"/>
                <a:gd name="T8" fmla="*/ 14 w 86"/>
                <a:gd name="T9" fmla="*/ 4 h 27"/>
                <a:gd name="T10" fmla="*/ 10 w 86"/>
                <a:gd name="T11" fmla="*/ 19 h 27"/>
                <a:gd name="T12" fmla="*/ 37 w 86"/>
                <a:gd name="T13" fmla="*/ 14 h 27"/>
                <a:gd name="T14" fmla="*/ 33 w 86"/>
                <a:gd name="T15" fmla="*/ 11 h 27"/>
                <a:gd name="T16" fmla="*/ 28 w 86"/>
                <a:gd name="T17" fmla="*/ 13 h 27"/>
                <a:gd name="T18" fmla="*/ 30 w 86"/>
                <a:gd name="T19" fmla="*/ 16 h 27"/>
                <a:gd name="T20" fmla="*/ 34 w 86"/>
                <a:gd name="T21" fmla="*/ 17 h 27"/>
                <a:gd name="T22" fmla="*/ 37 w 86"/>
                <a:gd name="T23" fmla="*/ 14 h 27"/>
                <a:gd name="T24" fmla="*/ 36 w 86"/>
                <a:gd name="T25" fmla="*/ 21 h 27"/>
                <a:gd name="T26" fmla="*/ 32 w 86"/>
                <a:gd name="T27" fmla="*/ 19 h 27"/>
                <a:gd name="T28" fmla="*/ 27 w 86"/>
                <a:gd name="T29" fmla="*/ 19 h 27"/>
                <a:gd name="T30" fmla="*/ 27 w 86"/>
                <a:gd name="T31" fmla="*/ 24 h 27"/>
                <a:gd name="T32" fmla="*/ 34 w 86"/>
                <a:gd name="T33" fmla="*/ 25 h 27"/>
                <a:gd name="T34" fmla="*/ 30 w 86"/>
                <a:gd name="T35" fmla="*/ 27 h 27"/>
                <a:gd name="T36" fmla="*/ 24 w 86"/>
                <a:gd name="T37" fmla="*/ 25 h 27"/>
                <a:gd name="T38" fmla="*/ 23 w 86"/>
                <a:gd name="T39" fmla="*/ 21 h 27"/>
                <a:gd name="T40" fmla="*/ 28 w 86"/>
                <a:gd name="T41" fmla="*/ 17 h 27"/>
                <a:gd name="T42" fmla="*/ 25 w 86"/>
                <a:gd name="T43" fmla="*/ 15 h 27"/>
                <a:gd name="T44" fmla="*/ 28 w 86"/>
                <a:gd name="T45" fmla="*/ 10 h 27"/>
                <a:gd name="T46" fmla="*/ 39 w 86"/>
                <a:gd name="T47" fmla="*/ 11 h 27"/>
                <a:gd name="T48" fmla="*/ 39 w 86"/>
                <a:gd name="T49" fmla="*/ 17 h 27"/>
                <a:gd name="T50" fmla="*/ 36 w 86"/>
                <a:gd name="T51" fmla="*/ 18 h 27"/>
                <a:gd name="T52" fmla="*/ 39 w 86"/>
                <a:gd name="T53" fmla="*/ 23 h 27"/>
                <a:gd name="T54" fmla="*/ 30 w 86"/>
                <a:gd name="T55" fmla="*/ 27 h 27"/>
                <a:gd name="T56" fmla="*/ 62 w 86"/>
                <a:gd name="T57" fmla="*/ 14 h 27"/>
                <a:gd name="T58" fmla="*/ 59 w 86"/>
                <a:gd name="T59" fmla="*/ 11 h 27"/>
                <a:gd name="T60" fmla="*/ 54 w 86"/>
                <a:gd name="T61" fmla="*/ 12 h 27"/>
                <a:gd name="T62" fmla="*/ 53 w 86"/>
                <a:gd name="T63" fmla="*/ 17 h 27"/>
                <a:gd name="T64" fmla="*/ 56 w 86"/>
                <a:gd name="T65" fmla="*/ 19 h 27"/>
                <a:gd name="T66" fmla="*/ 60 w 86"/>
                <a:gd name="T67" fmla="*/ 18 h 27"/>
                <a:gd name="T68" fmla="*/ 63 w 86"/>
                <a:gd name="T69" fmla="*/ 17 h 27"/>
                <a:gd name="T70" fmla="*/ 50 w 86"/>
                <a:gd name="T71" fmla="*/ 15 h 27"/>
                <a:gd name="T72" fmla="*/ 52 w 86"/>
                <a:gd name="T73" fmla="*/ 11 h 27"/>
                <a:gd name="T74" fmla="*/ 58 w 86"/>
                <a:gd name="T75" fmla="*/ 9 h 27"/>
                <a:gd name="T76" fmla="*/ 63 w 86"/>
                <a:gd name="T77" fmla="*/ 11 h 27"/>
                <a:gd name="T78" fmla="*/ 66 w 86"/>
                <a:gd name="T79" fmla="*/ 17 h 27"/>
                <a:gd name="T80" fmla="*/ 63 w 86"/>
                <a:gd name="T81" fmla="*/ 24 h 27"/>
                <a:gd name="T82" fmla="*/ 55 w 86"/>
                <a:gd name="T83" fmla="*/ 27 h 27"/>
                <a:gd name="T84" fmla="*/ 52 w 86"/>
                <a:gd name="T85" fmla="*/ 27 h 27"/>
                <a:gd name="T86" fmla="*/ 52 w 86"/>
                <a:gd name="T87" fmla="*/ 25 h 27"/>
                <a:gd name="T88" fmla="*/ 55 w 86"/>
                <a:gd name="T89" fmla="*/ 25 h 27"/>
                <a:gd name="T90" fmla="*/ 62 w 86"/>
                <a:gd name="T91" fmla="*/ 19 h 27"/>
                <a:gd name="T92" fmla="*/ 57 w 86"/>
                <a:gd name="T93" fmla="*/ 21 h 27"/>
                <a:gd name="T94" fmla="*/ 52 w 86"/>
                <a:gd name="T95" fmla="*/ 20 h 27"/>
                <a:gd name="T96" fmla="*/ 50 w 86"/>
                <a:gd name="T97" fmla="*/ 15 h 27"/>
                <a:gd name="T98" fmla="*/ 86 w 86"/>
                <a:gd name="T99" fmla="*/ 18 h 27"/>
                <a:gd name="T100" fmla="*/ 83 w 86"/>
                <a:gd name="T101" fmla="*/ 3 h 27"/>
                <a:gd name="T102" fmla="*/ 72 w 86"/>
                <a:gd name="T103" fmla="*/ 6 h 27"/>
                <a:gd name="T104" fmla="*/ 86 w 86"/>
                <a:gd name="T105"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6" h="27">
                  <a:moveTo>
                    <a:pt x="9" y="20"/>
                  </a:moveTo>
                  <a:cubicBezTo>
                    <a:pt x="0" y="15"/>
                    <a:pt x="0" y="15"/>
                    <a:pt x="0" y="15"/>
                  </a:cubicBezTo>
                  <a:cubicBezTo>
                    <a:pt x="0" y="13"/>
                    <a:pt x="0" y="13"/>
                    <a:pt x="0" y="13"/>
                  </a:cubicBezTo>
                  <a:cubicBezTo>
                    <a:pt x="4" y="15"/>
                    <a:pt x="4" y="15"/>
                    <a:pt x="4" y="15"/>
                  </a:cubicBezTo>
                  <a:cubicBezTo>
                    <a:pt x="10" y="5"/>
                    <a:pt x="10" y="5"/>
                    <a:pt x="10" y="5"/>
                  </a:cubicBezTo>
                  <a:cubicBezTo>
                    <a:pt x="6" y="3"/>
                    <a:pt x="6" y="3"/>
                    <a:pt x="6" y="3"/>
                  </a:cubicBezTo>
                  <a:cubicBezTo>
                    <a:pt x="7" y="2"/>
                    <a:pt x="7" y="2"/>
                    <a:pt x="7" y="2"/>
                  </a:cubicBezTo>
                  <a:cubicBezTo>
                    <a:pt x="8" y="3"/>
                    <a:pt x="9" y="3"/>
                    <a:pt x="10" y="3"/>
                  </a:cubicBezTo>
                  <a:cubicBezTo>
                    <a:pt x="11" y="3"/>
                    <a:pt x="11" y="3"/>
                    <a:pt x="12" y="2"/>
                  </a:cubicBezTo>
                  <a:cubicBezTo>
                    <a:pt x="14" y="4"/>
                    <a:pt x="14" y="4"/>
                    <a:pt x="14" y="4"/>
                  </a:cubicBezTo>
                  <a:cubicBezTo>
                    <a:pt x="6" y="17"/>
                    <a:pt x="6" y="17"/>
                    <a:pt x="6" y="17"/>
                  </a:cubicBezTo>
                  <a:cubicBezTo>
                    <a:pt x="10" y="19"/>
                    <a:pt x="10" y="19"/>
                    <a:pt x="10" y="19"/>
                  </a:cubicBezTo>
                  <a:lnTo>
                    <a:pt x="9" y="20"/>
                  </a:lnTo>
                  <a:close/>
                  <a:moveTo>
                    <a:pt x="37" y="14"/>
                  </a:moveTo>
                  <a:cubicBezTo>
                    <a:pt x="37" y="14"/>
                    <a:pt x="37" y="13"/>
                    <a:pt x="36" y="12"/>
                  </a:cubicBezTo>
                  <a:cubicBezTo>
                    <a:pt x="36" y="12"/>
                    <a:pt x="35" y="11"/>
                    <a:pt x="33" y="11"/>
                  </a:cubicBezTo>
                  <a:cubicBezTo>
                    <a:pt x="32" y="11"/>
                    <a:pt x="31" y="11"/>
                    <a:pt x="30" y="11"/>
                  </a:cubicBezTo>
                  <a:cubicBezTo>
                    <a:pt x="29" y="12"/>
                    <a:pt x="29" y="12"/>
                    <a:pt x="28" y="13"/>
                  </a:cubicBezTo>
                  <a:cubicBezTo>
                    <a:pt x="28" y="14"/>
                    <a:pt x="28" y="14"/>
                    <a:pt x="29" y="15"/>
                  </a:cubicBezTo>
                  <a:cubicBezTo>
                    <a:pt x="29" y="15"/>
                    <a:pt x="30" y="15"/>
                    <a:pt x="30" y="16"/>
                  </a:cubicBezTo>
                  <a:cubicBezTo>
                    <a:pt x="31" y="16"/>
                    <a:pt x="31" y="16"/>
                    <a:pt x="32" y="17"/>
                  </a:cubicBezTo>
                  <a:cubicBezTo>
                    <a:pt x="33" y="17"/>
                    <a:pt x="33" y="17"/>
                    <a:pt x="34" y="17"/>
                  </a:cubicBezTo>
                  <a:cubicBezTo>
                    <a:pt x="35" y="17"/>
                    <a:pt x="36" y="17"/>
                    <a:pt x="36" y="16"/>
                  </a:cubicBezTo>
                  <a:cubicBezTo>
                    <a:pt x="37" y="16"/>
                    <a:pt x="37" y="15"/>
                    <a:pt x="37" y="14"/>
                  </a:cubicBezTo>
                  <a:moveTo>
                    <a:pt x="36" y="23"/>
                  </a:moveTo>
                  <a:cubicBezTo>
                    <a:pt x="36" y="22"/>
                    <a:pt x="36" y="22"/>
                    <a:pt x="36" y="21"/>
                  </a:cubicBezTo>
                  <a:cubicBezTo>
                    <a:pt x="35" y="21"/>
                    <a:pt x="34" y="20"/>
                    <a:pt x="33" y="20"/>
                  </a:cubicBezTo>
                  <a:cubicBezTo>
                    <a:pt x="33" y="19"/>
                    <a:pt x="33" y="19"/>
                    <a:pt x="32" y="19"/>
                  </a:cubicBezTo>
                  <a:cubicBezTo>
                    <a:pt x="31" y="19"/>
                    <a:pt x="31" y="18"/>
                    <a:pt x="30" y="18"/>
                  </a:cubicBezTo>
                  <a:cubicBezTo>
                    <a:pt x="29" y="18"/>
                    <a:pt x="28" y="19"/>
                    <a:pt x="27" y="19"/>
                  </a:cubicBezTo>
                  <a:cubicBezTo>
                    <a:pt x="27" y="20"/>
                    <a:pt x="26" y="20"/>
                    <a:pt x="26" y="21"/>
                  </a:cubicBezTo>
                  <a:cubicBezTo>
                    <a:pt x="26" y="22"/>
                    <a:pt x="26" y="23"/>
                    <a:pt x="27" y="24"/>
                  </a:cubicBezTo>
                  <a:cubicBezTo>
                    <a:pt x="28" y="25"/>
                    <a:pt x="29" y="25"/>
                    <a:pt x="30" y="25"/>
                  </a:cubicBezTo>
                  <a:cubicBezTo>
                    <a:pt x="32" y="26"/>
                    <a:pt x="33" y="25"/>
                    <a:pt x="34" y="25"/>
                  </a:cubicBezTo>
                  <a:cubicBezTo>
                    <a:pt x="35" y="24"/>
                    <a:pt x="36" y="24"/>
                    <a:pt x="36" y="23"/>
                  </a:cubicBezTo>
                  <a:moveTo>
                    <a:pt x="30" y="27"/>
                  </a:moveTo>
                  <a:cubicBezTo>
                    <a:pt x="29" y="27"/>
                    <a:pt x="28" y="27"/>
                    <a:pt x="27" y="26"/>
                  </a:cubicBezTo>
                  <a:cubicBezTo>
                    <a:pt x="26" y="26"/>
                    <a:pt x="25" y="25"/>
                    <a:pt x="24" y="25"/>
                  </a:cubicBezTo>
                  <a:cubicBezTo>
                    <a:pt x="23" y="24"/>
                    <a:pt x="23" y="24"/>
                    <a:pt x="23" y="23"/>
                  </a:cubicBezTo>
                  <a:cubicBezTo>
                    <a:pt x="23" y="22"/>
                    <a:pt x="22" y="21"/>
                    <a:pt x="23" y="21"/>
                  </a:cubicBezTo>
                  <a:cubicBezTo>
                    <a:pt x="23" y="20"/>
                    <a:pt x="23" y="19"/>
                    <a:pt x="24" y="18"/>
                  </a:cubicBezTo>
                  <a:cubicBezTo>
                    <a:pt x="25" y="18"/>
                    <a:pt x="26" y="17"/>
                    <a:pt x="28" y="17"/>
                  </a:cubicBezTo>
                  <a:cubicBezTo>
                    <a:pt x="28" y="17"/>
                    <a:pt x="28" y="17"/>
                    <a:pt x="28" y="17"/>
                  </a:cubicBezTo>
                  <a:cubicBezTo>
                    <a:pt x="27" y="16"/>
                    <a:pt x="26" y="16"/>
                    <a:pt x="25" y="15"/>
                  </a:cubicBezTo>
                  <a:cubicBezTo>
                    <a:pt x="25" y="14"/>
                    <a:pt x="25" y="14"/>
                    <a:pt x="25" y="13"/>
                  </a:cubicBezTo>
                  <a:cubicBezTo>
                    <a:pt x="25" y="12"/>
                    <a:pt x="26" y="11"/>
                    <a:pt x="28" y="10"/>
                  </a:cubicBezTo>
                  <a:cubicBezTo>
                    <a:pt x="29" y="9"/>
                    <a:pt x="31" y="9"/>
                    <a:pt x="34" y="10"/>
                  </a:cubicBezTo>
                  <a:cubicBezTo>
                    <a:pt x="36" y="10"/>
                    <a:pt x="38" y="10"/>
                    <a:pt x="39" y="11"/>
                  </a:cubicBezTo>
                  <a:cubicBezTo>
                    <a:pt x="40" y="12"/>
                    <a:pt x="41" y="14"/>
                    <a:pt x="40" y="15"/>
                  </a:cubicBezTo>
                  <a:cubicBezTo>
                    <a:pt x="40" y="16"/>
                    <a:pt x="40" y="16"/>
                    <a:pt x="39" y="17"/>
                  </a:cubicBezTo>
                  <a:cubicBezTo>
                    <a:pt x="38" y="18"/>
                    <a:pt x="37" y="18"/>
                    <a:pt x="36" y="18"/>
                  </a:cubicBezTo>
                  <a:cubicBezTo>
                    <a:pt x="36" y="18"/>
                    <a:pt x="36" y="18"/>
                    <a:pt x="36" y="18"/>
                  </a:cubicBezTo>
                  <a:cubicBezTo>
                    <a:pt x="37" y="19"/>
                    <a:pt x="38" y="20"/>
                    <a:pt x="39" y="20"/>
                  </a:cubicBezTo>
                  <a:cubicBezTo>
                    <a:pt x="39" y="21"/>
                    <a:pt x="40" y="22"/>
                    <a:pt x="39" y="23"/>
                  </a:cubicBezTo>
                  <a:cubicBezTo>
                    <a:pt x="39" y="25"/>
                    <a:pt x="38" y="26"/>
                    <a:pt x="36" y="26"/>
                  </a:cubicBezTo>
                  <a:cubicBezTo>
                    <a:pt x="34" y="27"/>
                    <a:pt x="32" y="27"/>
                    <a:pt x="30" y="27"/>
                  </a:cubicBezTo>
                  <a:moveTo>
                    <a:pt x="63" y="17"/>
                  </a:moveTo>
                  <a:cubicBezTo>
                    <a:pt x="63" y="15"/>
                    <a:pt x="62" y="15"/>
                    <a:pt x="62" y="14"/>
                  </a:cubicBezTo>
                  <a:cubicBezTo>
                    <a:pt x="62" y="13"/>
                    <a:pt x="61" y="13"/>
                    <a:pt x="61" y="12"/>
                  </a:cubicBezTo>
                  <a:cubicBezTo>
                    <a:pt x="60" y="12"/>
                    <a:pt x="60" y="12"/>
                    <a:pt x="59" y="11"/>
                  </a:cubicBezTo>
                  <a:cubicBezTo>
                    <a:pt x="59" y="11"/>
                    <a:pt x="58" y="11"/>
                    <a:pt x="58" y="11"/>
                  </a:cubicBezTo>
                  <a:cubicBezTo>
                    <a:pt x="56" y="11"/>
                    <a:pt x="55" y="12"/>
                    <a:pt x="54" y="12"/>
                  </a:cubicBezTo>
                  <a:cubicBezTo>
                    <a:pt x="53" y="13"/>
                    <a:pt x="53" y="14"/>
                    <a:pt x="53" y="15"/>
                  </a:cubicBezTo>
                  <a:cubicBezTo>
                    <a:pt x="53" y="16"/>
                    <a:pt x="53" y="16"/>
                    <a:pt x="53" y="17"/>
                  </a:cubicBezTo>
                  <a:cubicBezTo>
                    <a:pt x="54" y="17"/>
                    <a:pt x="54" y="18"/>
                    <a:pt x="55" y="18"/>
                  </a:cubicBezTo>
                  <a:cubicBezTo>
                    <a:pt x="55" y="18"/>
                    <a:pt x="56" y="18"/>
                    <a:pt x="56" y="19"/>
                  </a:cubicBezTo>
                  <a:cubicBezTo>
                    <a:pt x="57" y="19"/>
                    <a:pt x="57" y="19"/>
                    <a:pt x="58" y="19"/>
                  </a:cubicBezTo>
                  <a:cubicBezTo>
                    <a:pt x="59" y="19"/>
                    <a:pt x="59" y="19"/>
                    <a:pt x="60" y="18"/>
                  </a:cubicBezTo>
                  <a:cubicBezTo>
                    <a:pt x="61" y="18"/>
                    <a:pt x="62" y="18"/>
                    <a:pt x="62" y="18"/>
                  </a:cubicBezTo>
                  <a:cubicBezTo>
                    <a:pt x="63" y="18"/>
                    <a:pt x="63" y="17"/>
                    <a:pt x="63" y="17"/>
                  </a:cubicBezTo>
                  <a:cubicBezTo>
                    <a:pt x="63" y="17"/>
                    <a:pt x="63" y="17"/>
                    <a:pt x="63" y="17"/>
                  </a:cubicBezTo>
                  <a:moveTo>
                    <a:pt x="50" y="15"/>
                  </a:moveTo>
                  <a:cubicBezTo>
                    <a:pt x="50" y="14"/>
                    <a:pt x="50" y="14"/>
                    <a:pt x="50" y="13"/>
                  </a:cubicBezTo>
                  <a:cubicBezTo>
                    <a:pt x="51" y="12"/>
                    <a:pt x="51" y="11"/>
                    <a:pt x="52" y="11"/>
                  </a:cubicBezTo>
                  <a:cubicBezTo>
                    <a:pt x="53" y="10"/>
                    <a:pt x="53" y="10"/>
                    <a:pt x="55" y="10"/>
                  </a:cubicBezTo>
                  <a:cubicBezTo>
                    <a:pt x="56" y="9"/>
                    <a:pt x="57" y="9"/>
                    <a:pt x="58" y="9"/>
                  </a:cubicBezTo>
                  <a:cubicBezTo>
                    <a:pt x="59" y="9"/>
                    <a:pt x="60" y="9"/>
                    <a:pt x="61" y="10"/>
                  </a:cubicBezTo>
                  <a:cubicBezTo>
                    <a:pt x="62" y="10"/>
                    <a:pt x="63" y="10"/>
                    <a:pt x="63" y="11"/>
                  </a:cubicBezTo>
                  <a:cubicBezTo>
                    <a:pt x="64" y="11"/>
                    <a:pt x="65" y="12"/>
                    <a:pt x="65" y="13"/>
                  </a:cubicBezTo>
                  <a:cubicBezTo>
                    <a:pt x="66" y="14"/>
                    <a:pt x="66" y="16"/>
                    <a:pt x="66" y="17"/>
                  </a:cubicBezTo>
                  <a:cubicBezTo>
                    <a:pt x="66" y="19"/>
                    <a:pt x="66" y="20"/>
                    <a:pt x="65" y="21"/>
                  </a:cubicBezTo>
                  <a:cubicBezTo>
                    <a:pt x="65" y="22"/>
                    <a:pt x="64" y="23"/>
                    <a:pt x="63" y="24"/>
                  </a:cubicBezTo>
                  <a:cubicBezTo>
                    <a:pt x="62" y="25"/>
                    <a:pt x="61" y="26"/>
                    <a:pt x="60" y="26"/>
                  </a:cubicBezTo>
                  <a:cubicBezTo>
                    <a:pt x="58" y="27"/>
                    <a:pt x="57" y="27"/>
                    <a:pt x="55" y="27"/>
                  </a:cubicBezTo>
                  <a:cubicBezTo>
                    <a:pt x="54" y="27"/>
                    <a:pt x="54" y="27"/>
                    <a:pt x="53" y="27"/>
                  </a:cubicBezTo>
                  <a:cubicBezTo>
                    <a:pt x="53" y="27"/>
                    <a:pt x="52" y="27"/>
                    <a:pt x="52" y="27"/>
                  </a:cubicBezTo>
                  <a:cubicBezTo>
                    <a:pt x="52" y="25"/>
                    <a:pt x="52" y="25"/>
                    <a:pt x="52" y="25"/>
                  </a:cubicBezTo>
                  <a:cubicBezTo>
                    <a:pt x="52" y="25"/>
                    <a:pt x="52" y="25"/>
                    <a:pt x="52" y="25"/>
                  </a:cubicBezTo>
                  <a:cubicBezTo>
                    <a:pt x="52" y="25"/>
                    <a:pt x="53" y="25"/>
                    <a:pt x="53" y="25"/>
                  </a:cubicBezTo>
                  <a:cubicBezTo>
                    <a:pt x="54" y="25"/>
                    <a:pt x="54" y="25"/>
                    <a:pt x="55" y="25"/>
                  </a:cubicBezTo>
                  <a:cubicBezTo>
                    <a:pt x="57" y="25"/>
                    <a:pt x="59" y="25"/>
                    <a:pt x="60" y="24"/>
                  </a:cubicBezTo>
                  <a:cubicBezTo>
                    <a:pt x="62" y="23"/>
                    <a:pt x="62" y="21"/>
                    <a:pt x="62" y="19"/>
                  </a:cubicBezTo>
                  <a:cubicBezTo>
                    <a:pt x="62" y="20"/>
                    <a:pt x="61" y="20"/>
                    <a:pt x="60" y="20"/>
                  </a:cubicBezTo>
                  <a:cubicBezTo>
                    <a:pt x="59" y="20"/>
                    <a:pt x="58" y="21"/>
                    <a:pt x="57" y="21"/>
                  </a:cubicBezTo>
                  <a:cubicBezTo>
                    <a:pt x="56" y="21"/>
                    <a:pt x="55" y="20"/>
                    <a:pt x="55" y="20"/>
                  </a:cubicBezTo>
                  <a:cubicBezTo>
                    <a:pt x="54" y="20"/>
                    <a:pt x="53" y="20"/>
                    <a:pt x="52" y="20"/>
                  </a:cubicBezTo>
                  <a:cubicBezTo>
                    <a:pt x="51" y="19"/>
                    <a:pt x="51" y="18"/>
                    <a:pt x="50" y="18"/>
                  </a:cubicBezTo>
                  <a:cubicBezTo>
                    <a:pt x="50" y="17"/>
                    <a:pt x="50" y="16"/>
                    <a:pt x="50" y="15"/>
                  </a:cubicBezTo>
                  <a:moveTo>
                    <a:pt x="86" y="1"/>
                  </a:moveTo>
                  <a:cubicBezTo>
                    <a:pt x="86" y="18"/>
                    <a:pt x="86" y="18"/>
                    <a:pt x="86" y="18"/>
                  </a:cubicBezTo>
                  <a:cubicBezTo>
                    <a:pt x="83" y="20"/>
                    <a:pt x="83" y="20"/>
                    <a:pt x="83" y="20"/>
                  </a:cubicBezTo>
                  <a:cubicBezTo>
                    <a:pt x="83" y="3"/>
                    <a:pt x="83" y="3"/>
                    <a:pt x="83" y="3"/>
                  </a:cubicBezTo>
                  <a:cubicBezTo>
                    <a:pt x="73" y="8"/>
                    <a:pt x="73" y="8"/>
                    <a:pt x="73" y="8"/>
                  </a:cubicBezTo>
                  <a:cubicBezTo>
                    <a:pt x="72" y="6"/>
                    <a:pt x="72" y="6"/>
                    <a:pt x="72" y="6"/>
                  </a:cubicBezTo>
                  <a:cubicBezTo>
                    <a:pt x="85" y="0"/>
                    <a:pt x="85" y="0"/>
                    <a:pt x="85" y="0"/>
                  </a:cubicBezTo>
                  <a:lnTo>
                    <a:pt x="86" y="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20000"/>
                </a:lnSpc>
                <a:spcBef>
                  <a:spcPts val="0"/>
                </a:spcBef>
                <a:spcAft>
                  <a:spcPts val="10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28" name="Freeform 126">
              <a:extLst>
                <a:ext uri="{FF2B5EF4-FFF2-40B4-BE49-F238E27FC236}">
                  <a16:creationId xmlns:a16="http://schemas.microsoft.com/office/drawing/2014/main" id="{59AF04A9-8673-4008-96E8-B5725D7279ED}"/>
                </a:ext>
              </a:extLst>
            </p:cNvPr>
            <p:cNvSpPr>
              <a:spLocks/>
            </p:cNvSpPr>
            <p:nvPr userDrawn="1"/>
          </p:nvSpPr>
          <p:spPr bwMode="auto">
            <a:xfrm>
              <a:off x="5778096" y="2774166"/>
              <a:ext cx="105882" cy="105882"/>
            </a:xfrm>
            <a:custGeom>
              <a:avLst/>
              <a:gdLst>
                <a:gd name="T0" fmla="*/ 2 w 11"/>
                <a:gd name="T1" fmla="*/ 12 h 12"/>
                <a:gd name="T2" fmla="*/ 2 w 11"/>
                <a:gd name="T3" fmla="*/ 8 h 12"/>
                <a:gd name="T4" fmla="*/ 1 w 11"/>
                <a:gd name="T5" fmla="*/ 3 h 12"/>
                <a:gd name="T6" fmla="*/ 8 w 11"/>
                <a:gd name="T7" fmla="*/ 3 h 12"/>
                <a:gd name="T8" fmla="*/ 9 w 11"/>
                <a:gd name="T9" fmla="*/ 5 h 12"/>
                <a:gd name="T10" fmla="*/ 8 w 11"/>
                <a:gd name="T11" fmla="*/ 11 h 12"/>
                <a:gd name="T12" fmla="*/ 2 w 11"/>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1" h="12">
                  <a:moveTo>
                    <a:pt x="2" y="12"/>
                  </a:moveTo>
                  <a:cubicBezTo>
                    <a:pt x="0" y="11"/>
                    <a:pt x="1" y="10"/>
                    <a:pt x="2" y="8"/>
                  </a:cubicBezTo>
                  <a:cubicBezTo>
                    <a:pt x="2" y="7"/>
                    <a:pt x="1" y="5"/>
                    <a:pt x="1" y="3"/>
                  </a:cubicBezTo>
                  <a:cubicBezTo>
                    <a:pt x="2" y="0"/>
                    <a:pt x="6" y="2"/>
                    <a:pt x="8" y="3"/>
                  </a:cubicBezTo>
                  <a:cubicBezTo>
                    <a:pt x="8" y="3"/>
                    <a:pt x="9" y="4"/>
                    <a:pt x="9" y="5"/>
                  </a:cubicBezTo>
                  <a:cubicBezTo>
                    <a:pt x="10" y="7"/>
                    <a:pt x="11" y="10"/>
                    <a:pt x="8" y="11"/>
                  </a:cubicBezTo>
                  <a:cubicBezTo>
                    <a:pt x="6" y="12"/>
                    <a:pt x="4" y="12"/>
                    <a:pt x="2" y="12"/>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20000"/>
                </a:lnSpc>
                <a:spcBef>
                  <a:spcPts val="0"/>
                </a:spcBef>
                <a:spcAft>
                  <a:spcPts val="10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29" name="Freeform 127">
              <a:extLst>
                <a:ext uri="{FF2B5EF4-FFF2-40B4-BE49-F238E27FC236}">
                  <a16:creationId xmlns:a16="http://schemas.microsoft.com/office/drawing/2014/main" id="{6AE58532-4864-407E-BB00-8F9393BB9FF9}"/>
                </a:ext>
              </a:extLst>
            </p:cNvPr>
            <p:cNvSpPr>
              <a:spLocks/>
            </p:cNvSpPr>
            <p:nvPr userDrawn="1"/>
          </p:nvSpPr>
          <p:spPr bwMode="auto">
            <a:xfrm>
              <a:off x="5505827" y="2456519"/>
              <a:ext cx="385714" cy="340336"/>
            </a:xfrm>
            <a:custGeom>
              <a:avLst/>
              <a:gdLst>
                <a:gd name="T0" fmla="*/ 7 w 41"/>
                <a:gd name="T1" fmla="*/ 35 h 36"/>
                <a:gd name="T2" fmla="*/ 7 w 41"/>
                <a:gd name="T3" fmla="*/ 35 h 36"/>
                <a:gd name="T4" fmla="*/ 7 w 41"/>
                <a:gd name="T5" fmla="*/ 34 h 36"/>
                <a:gd name="T6" fmla="*/ 15 w 41"/>
                <a:gd name="T7" fmla="*/ 32 h 36"/>
                <a:gd name="T8" fmla="*/ 20 w 41"/>
                <a:gd name="T9" fmla="*/ 28 h 36"/>
                <a:gd name="T10" fmla="*/ 6 w 41"/>
                <a:gd name="T11" fmla="*/ 29 h 36"/>
                <a:gd name="T12" fmla="*/ 2 w 41"/>
                <a:gd name="T13" fmla="*/ 26 h 36"/>
                <a:gd name="T14" fmla="*/ 2 w 41"/>
                <a:gd name="T15" fmla="*/ 26 h 36"/>
                <a:gd name="T16" fmla="*/ 3 w 41"/>
                <a:gd name="T17" fmla="*/ 21 h 36"/>
                <a:gd name="T18" fmla="*/ 19 w 41"/>
                <a:gd name="T19" fmla="*/ 21 h 36"/>
                <a:gd name="T20" fmla="*/ 24 w 41"/>
                <a:gd name="T21" fmla="*/ 20 h 36"/>
                <a:gd name="T22" fmla="*/ 29 w 41"/>
                <a:gd name="T23" fmla="*/ 3 h 36"/>
                <a:gd name="T24" fmla="*/ 35 w 41"/>
                <a:gd name="T25" fmla="*/ 6 h 36"/>
                <a:gd name="T26" fmla="*/ 36 w 41"/>
                <a:gd name="T27" fmla="*/ 7 h 36"/>
                <a:gd name="T28" fmla="*/ 36 w 41"/>
                <a:gd name="T29" fmla="*/ 7 h 36"/>
                <a:gd name="T30" fmla="*/ 35 w 41"/>
                <a:gd name="T31" fmla="*/ 11 h 36"/>
                <a:gd name="T32" fmla="*/ 31 w 41"/>
                <a:gd name="T33" fmla="*/ 20 h 36"/>
                <a:gd name="T34" fmla="*/ 40 w 41"/>
                <a:gd name="T35" fmla="*/ 19 h 36"/>
                <a:gd name="T36" fmla="*/ 38 w 41"/>
                <a:gd name="T37" fmla="*/ 23 h 36"/>
                <a:gd name="T38" fmla="*/ 29 w 41"/>
                <a:gd name="T39" fmla="*/ 24 h 36"/>
                <a:gd name="T40" fmla="*/ 23 w 41"/>
                <a:gd name="T41" fmla="*/ 32 h 36"/>
                <a:gd name="T42" fmla="*/ 21 w 41"/>
                <a:gd name="T43" fmla="*/ 34 h 36"/>
                <a:gd name="T44" fmla="*/ 14 w 41"/>
                <a:gd name="T45" fmla="*/ 35 h 36"/>
                <a:gd name="T46" fmla="*/ 7 w 41"/>
                <a:gd name="T47" fmla="*/ 3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36">
                  <a:moveTo>
                    <a:pt x="7" y="35"/>
                  </a:moveTo>
                  <a:cubicBezTo>
                    <a:pt x="7" y="35"/>
                    <a:pt x="7" y="35"/>
                    <a:pt x="7" y="35"/>
                  </a:cubicBezTo>
                  <a:cubicBezTo>
                    <a:pt x="7" y="35"/>
                    <a:pt x="7" y="35"/>
                    <a:pt x="7" y="34"/>
                  </a:cubicBezTo>
                  <a:cubicBezTo>
                    <a:pt x="8" y="34"/>
                    <a:pt x="15" y="32"/>
                    <a:pt x="15" y="32"/>
                  </a:cubicBezTo>
                  <a:cubicBezTo>
                    <a:pt x="17" y="31"/>
                    <a:pt x="19" y="30"/>
                    <a:pt x="20" y="28"/>
                  </a:cubicBezTo>
                  <a:cubicBezTo>
                    <a:pt x="15" y="28"/>
                    <a:pt x="11" y="30"/>
                    <a:pt x="6" y="29"/>
                  </a:cubicBezTo>
                  <a:cubicBezTo>
                    <a:pt x="4" y="28"/>
                    <a:pt x="3" y="27"/>
                    <a:pt x="2" y="26"/>
                  </a:cubicBezTo>
                  <a:cubicBezTo>
                    <a:pt x="2" y="26"/>
                    <a:pt x="2" y="26"/>
                    <a:pt x="2" y="26"/>
                  </a:cubicBezTo>
                  <a:cubicBezTo>
                    <a:pt x="0" y="24"/>
                    <a:pt x="0" y="22"/>
                    <a:pt x="3" y="21"/>
                  </a:cubicBezTo>
                  <a:cubicBezTo>
                    <a:pt x="7" y="23"/>
                    <a:pt x="15" y="22"/>
                    <a:pt x="19" y="21"/>
                  </a:cubicBezTo>
                  <a:cubicBezTo>
                    <a:pt x="20" y="21"/>
                    <a:pt x="23" y="21"/>
                    <a:pt x="24" y="20"/>
                  </a:cubicBezTo>
                  <a:cubicBezTo>
                    <a:pt x="26" y="15"/>
                    <a:pt x="27" y="9"/>
                    <a:pt x="29" y="3"/>
                  </a:cubicBezTo>
                  <a:cubicBezTo>
                    <a:pt x="31" y="0"/>
                    <a:pt x="33" y="3"/>
                    <a:pt x="35" y="6"/>
                  </a:cubicBezTo>
                  <a:cubicBezTo>
                    <a:pt x="35" y="6"/>
                    <a:pt x="36" y="6"/>
                    <a:pt x="36" y="7"/>
                  </a:cubicBezTo>
                  <a:cubicBezTo>
                    <a:pt x="36" y="7"/>
                    <a:pt x="36" y="7"/>
                    <a:pt x="36" y="7"/>
                  </a:cubicBezTo>
                  <a:cubicBezTo>
                    <a:pt x="37" y="9"/>
                    <a:pt x="37" y="10"/>
                    <a:pt x="35" y="11"/>
                  </a:cubicBezTo>
                  <a:cubicBezTo>
                    <a:pt x="33" y="14"/>
                    <a:pt x="32" y="17"/>
                    <a:pt x="31" y="20"/>
                  </a:cubicBezTo>
                  <a:cubicBezTo>
                    <a:pt x="34" y="20"/>
                    <a:pt x="37" y="18"/>
                    <a:pt x="40" y="19"/>
                  </a:cubicBezTo>
                  <a:cubicBezTo>
                    <a:pt x="41" y="21"/>
                    <a:pt x="40" y="22"/>
                    <a:pt x="38" y="23"/>
                  </a:cubicBezTo>
                  <a:cubicBezTo>
                    <a:pt x="36" y="23"/>
                    <a:pt x="33" y="24"/>
                    <a:pt x="29" y="24"/>
                  </a:cubicBezTo>
                  <a:cubicBezTo>
                    <a:pt x="28" y="27"/>
                    <a:pt x="26" y="30"/>
                    <a:pt x="23" y="32"/>
                  </a:cubicBezTo>
                  <a:cubicBezTo>
                    <a:pt x="23" y="33"/>
                    <a:pt x="21" y="34"/>
                    <a:pt x="21" y="34"/>
                  </a:cubicBezTo>
                  <a:cubicBezTo>
                    <a:pt x="19" y="34"/>
                    <a:pt x="17" y="35"/>
                    <a:pt x="14" y="35"/>
                  </a:cubicBezTo>
                  <a:cubicBezTo>
                    <a:pt x="8" y="36"/>
                    <a:pt x="8" y="35"/>
                    <a:pt x="7" y="35"/>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20000"/>
                </a:lnSpc>
                <a:spcBef>
                  <a:spcPts val="0"/>
                </a:spcBef>
                <a:spcAft>
                  <a:spcPts val="10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30" name="Freeform 128">
              <a:extLst>
                <a:ext uri="{FF2B5EF4-FFF2-40B4-BE49-F238E27FC236}">
                  <a16:creationId xmlns:a16="http://schemas.microsoft.com/office/drawing/2014/main" id="{60554049-1FD6-4DF7-9E9B-F40553943299}"/>
                </a:ext>
              </a:extLst>
            </p:cNvPr>
            <p:cNvSpPr>
              <a:spLocks/>
            </p:cNvSpPr>
            <p:nvPr userDrawn="1"/>
          </p:nvSpPr>
          <p:spPr bwMode="auto">
            <a:xfrm>
              <a:off x="4862970" y="2668283"/>
              <a:ext cx="151261" cy="310084"/>
            </a:xfrm>
            <a:custGeom>
              <a:avLst/>
              <a:gdLst>
                <a:gd name="T0" fmla="*/ 7 w 16"/>
                <a:gd name="T1" fmla="*/ 33 h 33"/>
                <a:gd name="T2" fmla="*/ 0 w 16"/>
                <a:gd name="T3" fmla="*/ 30 h 33"/>
                <a:gd name="T4" fmla="*/ 0 w 16"/>
                <a:gd name="T5" fmla="*/ 28 h 33"/>
                <a:gd name="T6" fmla="*/ 10 w 16"/>
                <a:gd name="T7" fmla="*/ 11 h 33"/>
                <a:gd name="T8" fmla="*/ 12 w 16"/>
                <a:gd name="T9" fmla="*/ 3 h 33"/>
                <a:gd name="T10" fmla="*/ 12 w 16"/>
                <a:gd name="T11" fmla="*/ 2 h 33"/>
                <a:gd name="T12" fmla="*/ 12 w 16"/>
                <a:gd name="T13" fmla="*/ 2 h 33"/>
                <a:gd name="T14" fmla="*/ 15 w 16"/>
                <a:gd name="T15" fmla="*/ 2 h 33"/>
                <a:gd name="T16" fmla="*/ 14 w 16"/>
                <a:gd name="T17" fmla="*/ 7 h 33"/>
                <a:gd name="T18" fmla="*/ 13 w 16"/>
                <a:gd name="T19" fmla="*/ 16 h 33"/>
                <a:gd name="T20" fmla="*/ 13 w 16"/>
                <a:gd name="T21" fmla="*/ 19 h 33"/>
                <a:gd name="T22" fmla="*/ 11 w 16"/>
                <a:gd name="T23" fmla="*/ 26 h 33"/>
                <a:gd name="T24" fmla="*/ 9 w 16"/>
                <a:gd name="T25" fmla="*/ 33 h 33"/>
                <a:gd name="T26" fmla="*/ 7 w 16"/>
                <a:gd name="T27"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33">
                  <a:moveTo>
                    <a:pt x="7" y="33"/>
                  </a:moveTo>
                  <a:cubicBezTo>
                    <a:pt x="5" y="33"/>
                    <a:pt x="2" y="31"/>
                    <a:pt x="0" y="30"/>
                  </a:cubicBezTo>
                  <a:cubicBezTo>
                    <a:pt x="0" y="30"/>
                    <a:pt x="0" y="29"/>
                    <a:pt x="0" y="28"/>
                  </a:cubicBezTo>
                  <a:cubicBezTo>
                    <a:pt x="4" y="23"/>
                    <a:pt x="7" y="17"/>
                    <a:pt x="10" y="11"/>
                  </a:cubicBezTo>
                  <a:cubicBezTo>
                    <a:pt x="11" y="8"/>
                    <a:pt x="11" y="5"/>
                    <a:pt x="12" y="3"/>
                  </a:cubicBezTo>
                  <a:cubicBezTo>
                    <a:pt x="12" y="3"/>
                    <a:pt x="12" y="3"/>
                    <a:pt x="12" y="2"/>
                  </a:cubicBezTo>
                  <a:cubicBezTo>
                    <a:pt x="12" y="2"/>
                    <a:pt x="12" y="2"/>
                    <a:pt x="12" y="2"/>
                  </a:cubicBezTo>
                  <a:cubicBezTo>
                    <a:pt x="13" y="1"/>
                    <a:pt x="14" y="0"/>
                    <a:pt x="15" y="2"/>
                  </a:cubicBezTo>
                  <a:cubicBezTo>
                    <a:pt x="16" y="3"/>
                    <a:pt x="14" y="5"/>
                    <a:pt x="14" y="7"/>
                  </a:cubicBezTo>
                  <a:cubicBezTo>
                    <a:pt x="14" y="10"/>
                    <a:pt x="14" y="13"/>
                    <a:pt x="13" y="16"/>
                  </a:cubicBezTo>
                  <a:cubicBezTo>
                    <a:pt x="13" y="16"/>
                    <a:pt x="13" y="16"/>
                    <a:pt x="13" y="19"/>
                  </a:cubicBezTo>
                  <a:cubicBezTo>
                    <a:pt x="12" y="21"/>
                    <a:pt x="11" y="24"/>
                    <a:pt x="11" y="26"/>
                  </a:cubicBezTo>
                  <a:cubicBezTo>
                    <a:pt x="10" y="28"/>
                    <a:pt x="10" y="31"/>
                    <a:pt x="9" y="33"/>
                  </a:cubicBezTo>
                  <a:cubicBezTo>
                    <a:pt x="8" y="33"/>
                    <a:pt x="8" y="33"/>
                    <a:pt x="7" y="33"/>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20000"/>
                </a:lnSpc>
                <a:spcBef>
                  <a:spcPts val="0"/>
                </a:spcBef>
                <a:spcAft>
                  <a:spcPts val="10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31" name="Freeform 129">
              <a:extLst>
                <a:ext uri="{FF2B5EF4-FFF2-40B4-BE49-F238E27FC236}">
                  <a16:creationId xmlns:a16="http://schemas.microsoft.com/office/drawing/2014/main" id="{C906261C-00D4-4ED2-98D5-735DA100347C}"/>
                </a:ext>
              </a:extLst>
            </p:cNvPr>
            <p:cNvSpPr>
              <a:spLocks/>
            </p:cNvSpPr>
            <p:nvPr userDrawn="1"/>
          </p:nvSpPr>
          <p:spPr bwMode="auto">
            <a:xfrm>
              <a:off x="5067172" y="2592653"/>
              <a:ext cx="121008" cy="121008"/>
            </a:xfrm>
            <a:custGeom>
              <a:avLst/>
              <a:gdLst>
                <a:gd name="T0" fmla="*/ 8 w 13"/>
                <a:gd name="T1" fmla="*/ 12 h 13"/>
                <a:gd name="T2" fmla="*/ 1 w 13"/>
                <a:gd name="T3" fmla="*/ 10 h 13"/>
                <a:gd name="T4" fmla="*/ 1 w 13"/>
                <a:gd name="T5" fmla="*/ 8 h 13"/>
                <a:gd name="T6" fmla="*/ 2 w 13"/>
                <a:gd name="T7" fmla="*/ 7 h 13"/>
                <a:gd name="T8" fmla="*/ 5 w 13"/>
                <a:gd name="T9" fmla="*/ 6 h 13"/>
                <a:gd name="T10" fmla="*/ 12 w 13"/>
                <a:gd name="T11" fmla="*/ 1 h 13"/>
                <a:gd name="T12" fmla="*/ 8 w 13"/>
                <a:gd name="T13" fmla="*/ 12 h 13"/>
              </a:gdLst>
              <a:ahLst/>
              <a:cxnLst>
                <a:cxn ang="0">
                  <a:pos x="T0" y="T1"/>
                </a:cxn>
                <a:cxn ang="0">
                  <a:pos x="T2" y="T3"/>
                </a:cxn>
                <a:cxn ang="0">
                  <a:pos x="T4" y="T5"/>
                </a:cxn>
                <a:cxn ang="0">
                  <a:pos x="T6" y="T7"/>
                </a:cxn>
                <a:cxn ang="0">
                  <a:pos x="T8" y="T9"/>
                </a:cxn>
                <a:cxn ang="0">
                  <a:pos x="T10" y="T11"/>
                </a:cxn>
                <a:cxn ang="0">
                  <a:pos x="T12" y="T13"/>
                </a:cxn>
              </a:cxnLst>
              <a:rect l="0" t="0" r="r" b="b"/>
              <a:pathLst>
                <a:path w="13" h="13">
                  <a:moveTo>
                    <a:pt x="8" y="12"/>
                  </a:moveTo>
                  <a:cubicBezTo>
                    <a:pt x="5" y="13"/>
                    <a:pt x="3" y="12"/>
                    <a:pt x="1" y="10"/>
                  </a:cubicBezTo>
                  <a:cubicBezTo>
                    <a:pt x="0" y="10"/>
                    <a:pt x="1" y="9"/>
                    <a:pt x="1" y="8"/>
                  </a:cubicBezTo>
                  <a:cubicBezTo>
                    <a:pt x="1" y="8"/>
                    <a:pt x="1" y="8"/>
                    <a:pt x="2" y="7"/>
                  </a:cubicBezTo>
                  <a:cubicBezTo>
                    <a:pt x="3" y="7"/>
                    <a:pt x="3" y="7"/>
                    <a:pt x="5" y="6"/>
                  </a:cubicBezTo>
                  <a:cubicBezTo>
                    <a:pt x="6" y="5"/>
                    <a:pt x="10" y="0"/>
                    <a:pt x="12" y="1"/>
                  </a:cubicBezTo>
                  <a:cubicBezTo>
                    <a:pt x="13" y="4"/>
                    <a:pt x="11" y="10"/>
                    <a:pt x="8" y="12"/>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20000"/>
                </a:lnSpc>
                <a:spcBef>
                  <a:spcPts val="0"/>
                </a:spcBef>
                <a:spcAft>
                  <a:spcPts val="10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32" name="Freeform 130">
              <a:extLst>
                <a:ext uri="{FF2B5EF4-FFF2-40B4-BE49-F238E27FC236}">
                  <a16:creationId xmlns:a16="http://schemas.microsoft.com/office/drawing/2014/main" id="{0CB271BF-2A22-44DA-800A-429D5D2C6B08}"/>
                </a:ext>
              </a:extLst>
            </p:cNvPr>
            <p:cNvSpPr>
              <a:spLocks/>
            </p:cNvSpPr>
            <p:nvPr userDrawn="1"/>
          </p:nvSpPr>
          <p:spPr bwMode="auto">
            <a:xfrm>
              <a:off x="4855407" y="2638031"/>
              <a:ext cx="90756" cy="105882"/>
            </a:xfrm>
            <a:custGeom>
              <a:avLst/>
              <a:gdLst>
                <a:gd name="T0" fmla="*/ 5 w 10"/>
                <a:gd name="T1" fmla="*/ 11 h 11"/>
                <a:gd name="T2" fmla="*/ 1 w 10"/>
                <a:gd name="T3" fmla="*/ 4 h 11"/>
                <a:gd name="T4" fmla="*/ 6 w 10"/>
                <a:gd name="T5" fmla="*/ 1 h 11"/>
                <a:gd name="T6" fmla="*/ 10 w 10"/>
                <a:gd name="T7" fmla="*/ 6 h 11"/>
                <a:gd name="T8" fmla="*/ 5 w 10"/>
                <a:gd name="T9" fmla="*/ 11 h 11"/>
              </a:gdLst>
              <a:ahLst/>
              <a:cxnLst>
                <a:cxn ang="0">
                  <a:pos x="T0" y="T1"/>
                </a:cxn>
                <a:cxn ang="0">
                  <a:pos x="T2" y="T3"/>
                </a:cxn>
                <a:cxn ang="0">
                  <a:pos x="T4" y="T5"/>
                </a:cxn>
                <a:cxn ang="0">
                  <a:pos x="T6" y="T7"/>
                </a:cxn>
                <a:cxn ang="0">
                  <a:pos x="T8" y="T9"/>
                </a:cxn>
              </a:cxnLst>
              <a:rect l="0" t="0" r="r" b="b"/>
              <a:pathLst>
                <a:path w="10" h="11">
                  <a:moveTo>
                    <a:pt x="5" y="11"/>
                  </a:moveTo>
                  <a:cubicBezTo>
                    <a:pt x="3" y="10"/>
                    <a:pt x="1" y="5"/>
                    <a:pt x="1" y="4"/>
                  </a:cubicBezTo>
                  <a:cubicBezTo>
                    <a:pt x="0" y="1"/>
                    <a:pt x="3" y="0"/>
                    <a:pt x="6" y="1"/>
                  </a:cubicBezTo>
                  <a:cubicBezTo>
                    <a:pt x="9" y="2"/>
                    <a:pt x="10" y="3"/>
                    <a:pt x="10" y="6"/>
                  </a:cubicBezTo>
                  <a:cubicBezTo>
                    <a:pt x="8" y="9"/>
                    <a:pt x="7" y="9"/>
                    <a:pt x="5" y="11"/>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20000"/>
                </a:lnSpc>
                <a:spcBef>
                  <a:spcPts val="0"/>
                </a:spcBef>
                <a:spcAft>
                  <a:spcPts val="10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33" name="Freeform 131">
              <a:extLst>
                <a:ext uri="{FF2B5EF4-FFF2-40B4-BE49-F238E27FC236}">
                  <a16:creationId xmlns:a16="http://schemas.microsoft.com/office/drawing/2014/main" id="{BD2BA7E8-05E4-4120-9C5F-584470625315}"/>
                </a:ext>
              </a:extLst>
            </p:cNvPr>
            <p:cNvSpPr>
              <a:spLocks/>
            </p:cNvSpPr>
            <p:nvPr userDrawn="1"/>
          </p:nvSpPr>
          <p:spPr bwMode="auto">
            <a:xfrm>
              <a:off x="5029357" y="2471645"/>
              <a:ext cx="143698" cy="158823"/>
            </a:xfrm>
            <a:custGeom>
              <a:avLst/>
              <a:gdLst>
                <a:gd name="T0" fmla="*/ 8 w 15"/>
                <a:gd name="T1" fmla="*/ 17 h 17"/>
                <a:gd name="T2" fmla="*/ 7 w 15"/>
                <a:gd name="T3" fmla="*/ 12 h 17"/>
                <a:gd name="T4" fmla="*/ 5 w 15"/>
                <a:gd name="T5" fmla="*/ 13 h 17"/>
                <a:gd name="T6" fmla="*/ 0 w 15"/>
                <a:gd name="T7" fmla="*/ 9 h 17"/>
                <a:gd name="T8" fmla="*/ 2 w 15"/>
                <a:gd name="T9" fmla="*/ 7 h 17"/>
                <a:gd name="T10" fmla="*/ 7 w 15"/>
                <a:gd name="T11" fmla="*/ 2 h 17"/>
                <a:gd name="T12" fmla="*/ 14 w 15"/>
                <a:gd name="T13" fmla="*/ 4 h 17"/>
                <a:gd name="T14" fmla="*/ 13 w 15"/>
                <a:gd name="T15" fmla="*/ 11 h 17"/>
                <a:gd name="T16" fmla="*/ 9 w 15"/>
                <a:gd name="T17" fmla="*/ 16 h 17"/>
                <a:gd name="T18" fmla="*/ 8 w 15"/>
                <a:gd name="T19"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7">
                  <a:moveTo>
                    <a:pt x="8" y="17"/>
                  </a:moveTo>
                  <a:cubicBezTo>
                    <a:pt x="7" y="16"/>
                    <a:pt x="8" y="12"/>
                    <a:pt x="7" y="12"/>
                  </a:cubicBezTo>
                  <a:cubicBezTo>
                    <a:pt x="6" y="12"/>
                    <a:pt x="6" y="13"/>
                    <a:pt x="5" y="13"/>
                  </a:cubicBezTo>
                  <a:cubicBezTo>
                    <a:pt x="3" y="13"/>
                    <a:pt x="0" y="11"/>
                    <a:pt x="0" y="9"/>
                  </a:cubicBezTo>
                  <a:cubicBezTo>
                    <a:pt x="1" y="7"/>
                    <a:pt x="0" y="8"/>
                    <a:pt x="2" y="7"/>
                  </a:cubicBezTo>
                  <a:cubicBezTo>
                    <a:pt x="4" y="5"/>
                    <a:pt x="6" y="3"/>
                    <a:pt x="7" y="2"/>
                  </a:cubicBezTo>
                  <a:cubicBezTo>
                    <a:pt x="11" y="0"/>
                    <a:pt x="13" y="1"/>
                    <a:pt x="14" y="4"/>
                  </a:cubicBezTo>
                  <a:cubicBezTo>
                    <a:pt x="15" y="7"/>
                    <a:pt x="14" y="9"/>
                    <a:pt x="13" y="11"/>
                  </a:cubicBezTo>
                  <a:cubicBezTo>
                    <a:pt x="12" y="13"/>
                    <a:pt x="10" y="15"/>
                    <a:pt x="9" y="16"/>
                  </a:cubicBezTo>
                  <a:cubicBezTo>
                    <a:pt x="9" y="17"/>
                    <a:pt x="8" y="17"/>
                    <a:pt x="8" y="17"/>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20000"/>
                </a:lnSpc>
                <a:spcBef>
                  <a:spcPts val="0"/>
                </a:spcBef>
                <a:spcAft>
                  <a:spcPts val="10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34" name="Freeform 132">
              <a:extLst>
                <a:ext uri="{FF2B5EF4-FFF2-40B4-BE49-F238E27FC236}">
                  <a16:creationId xmlns:a16="http://schemas.microsoft.com/office/drawing/2014/main" id="{1C9E3483-E531-4A2E-A483-890336EC3C6A}"/>
                </a:ext>
              </a:extLst>
            </p:cNvPr>
            <p:cNvSpPr>
              <a:spLocks/>
            </p:cNvSpPr>
            <p:nvPr userDrawn="1"/>
          </p:nvSpPr>
          <p:spPr bwMode="auto">
            <a:xfrm>
              <a:off x="4855407" y="2509460"/>
              <a:ext cx="90756" cy="98319"/>
            </a:xfrm>
            <a:custGeom>
              <a:avLst/>
              <a:gdLst>
                <a:gd name="T0" fmla="*/ 4 w 10"/>
                <a:gd name="T1" fmla="*/ 11 h 11"/>
                <a:gd name="T2" fmla="*/ 3 w 10"/>
                <a:gd name="T3" fmla="*/ 9 h 11"/>
                <a:gd name="T4" fmla="*/ 1 w 10"/>
                <a:gd name="T5" fmla="*/ 6 h 11"/>
                <a:gd name="T6" fmla="*/ 1 w 10"/>
                <a:gd name="T7" fmla="*/ 0 h 11"/>
                <a:gd name="T8" fmla="*/ 10 w 10"/>
                <a:gd name="T9" fmla="*/ 5 h 11"/>
                <a:gd name="T10" fmla="*/ 4 w 10"/>
                <a:gd name="T11" fmla="*/ 11 h 11"/>
              </a:gdLst>
              <a:ahLst/>
              <a:cxnLst>
                <a:cxn ang="0">
                  <a:pos x="T0" y="T1"/>
                </a:cxn>
                <a:cxn ang="0">
                  <a:pos x="T2" y="T3"/>
                </a:cxn>
                <a:cxn ang="0">
                  <a:pos x="T4" y="T5"/>
                </a:cxn>
                <a:cxn ang="0">
                  <a:pos x="T6" y="T7"/>
                </a:cxn>
                <a:cxn ang="0">
                  <a:pos x="T8" y="T9"/>
                </a:cxn>
                <a:cxn ang="0">
                  <a:pos x="T10" y="T11"/>
                </a:cxn>
              </a:cxnLst>
              <a:rect l="0" t="0" r="r" b="b"/>
              <a:pathLst>
                <a:path w="10" h="11">
                  <a:moveTo>
                    <a:pt x="4" y="11"/>
                  </a:moveTo>
                  <a:cubicBezTo>
                    <a:pt x="3" y="11"/>
                    <a:pt x="3" y="10"/>
                    <a:pt x="3" y="9"/>
                  </a:cubicBezTo>
                  <a:cubicBezTo>
                    <a:pt x="3" y="8"/>
                    <a:pt x="2" y="7"/>
                    <a:pt x="1" y="6"/>
                  </a:cubicBezTo>
                  <a:cubicBezTo>
                    <a:pt x="0" y="3"/>
                    <a:pt x="0" y="2"/>
                    <a:pt x="1" y="0"/>
                  </a:cubicBezTo>
                  <a:cubicBezTo>
                    <a:pt x="3" y="0"/>
                    <a:pt x="10" y="1"/>
                    <a:pt x="10" y="5"/>
                  </a:cubicBezTo>
                  <a:cubicBezTo>
                    <a:pt x="9" y="7"/>
                    <a:pt x="6" y="10"/>
                    <a:pt x="4" y="11"/>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20000"/>
                </a:lnSpc>
                <a:spcBef>
                  <a:spcPts val="0"/>
                </a:spcBef>
                <a:spcAft>
                  <a:spcPts val="10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35" name="Freeform 133">
              <a:extLst>
                <a:ext uri="{FF2B5EF4-FFF2-40B4-BE49-F238E27FC236}">
                  <a16:creationId xmlns:a16="http://schemas.microsoft.com/office/drawing/2014/main" id="{D4A49A8A-265A-4BC5-AE78-7593A9D0BF3F}"/>
                </a:ext>
              </a:extLst>
            </p:cNvPr>
            <p:cNvSpPr>
              <a:spLocks/>
            </p:cNvSpPr>
            <p:nvPr userDrawn="1"/>
          </p:nvSpPr>
          <p:spPr bwMode="auto">
            <a:xfrm>
              <a:off x="4356247" y="2880048"/>
              <a:ext cx="355462" cy="627731"/>
            </a:xfrm>
            <a:custGeom>
              <a:avLst/>
              <a:gdLst>
                <a:gd name="T0" fmla="*/ 22 w 38"/>
                <a:gd name="T1" fmla="*/ 64 h 66"/>
                <a:gd name="T2" fmla="*/ 13 w 38"/>
                <a:gd name="T3" fmla="*/ 61 h 66"/>
                <a:gd name="T4" fmla="*/ 13 w 38"/>
                <a:gd name="T5" fmla="*/ 59 h 66"/>
                <a:gd name="T6" fmla="*/ 13 w 38"/>
                <a:gd name="T7" fmla="*/ 59 h 66"/>
                <a:gd name="T8" fmla="*/ 8 w 38"/>
                <a:gd name="T9" fmla="*/ 46 h 66"/>
                <a:gd name="T10" fmla="*/ 7 w 38"/>
                <a:gd name="T11" fmla="*/ 42 h 66"/>
                <a:gd name="T12" fmla="*/ 10 w 38"/>
                <a:gd name="T13" fmla="*/ 44 h 66"/>
                <a:gd name="T14" fmla="*/ 11 w 38"/>
                <a:gd name="T15" fmla="*/ 42 h 66"/>
                <a:gd name="T16" fmla="*/ 11 w 38"/>
                <a:gd name="T17" fmla="*/ 33 h 66"/>
                <a:gd name="T18" fmla="*/ 8 w 38"/>
                <a:gd name="T19" fmla="*/ 31 h 66"/>
                <a:gd name="T20" fmla="*/ 4 w 38"/>
                <a:gd name="T21" fmla="*/ 34 h 66"/>
                <a:gd name="T22" fmla="*/ 4 w 38"/>
                <a:gd name="T23" fmla="*/ 27 h 66"/>
                <a:gd name="T24" fmla="*/ 0 w 38"/>
                <a:gd name="T25" fmla="*/ 23 h 66"/>
                <a:gd name="T26" fmla="*/ 6 w 38"/>
                <a:gd name="T27" fmla="*/ 21 h 66"/>
                <a:gd name="T28" fmla="*/ 10 w 38"/>
                <a:gd name="T29" fmla="*/ 23 h 66"/>
                <a:gd name="T30" fmla="*/ 11 w 38"/>
                <a:gd name="T31" fmla="*/ 25 h 66"/>
                <a:gd name="T32" fmla="*/ 12 w 38"/>
                <a:gd name="T33" fmla="*/ 24 h 66"/>
                <a:gd name="T34" fmla="*/ 12 w 38"/>
                <a:gd name="T35" fmla="*/ 17 h 66"/>
                <a:gd name="T36" fmla="*/ 7 w 38"/>
                <a:gd name="T37" fmla="*/ 10 h 66"/>
                <a:gd name="T38" fmla="*/ 12 w 38"/>
                <a:gd name="T39" fmla="*/ 6 h 66"/>
                <a:gd name="T40" fmla="*/ 13 w 38"/>
                <a:gd name="T41" fmla="*/ 1 h 66"/>
                <a:gd name="T42" fmla="*/ 14 w 38"/>
                <a:gd name="T43" fmla="*/ 0 h 66"/>
                <a:gd name="T44" fmla="*/ 16 w 38"/>
                <a:gd name="T45" fmla="*/ 1 h 66"/>
                <a:gd name="T46" fmla="*/ 18 w 38"/>
                <a:gd name="T47" fmla="*/ 12 h 66"/>
                <a:gd name="T48" fmla="*/ 17 w 38"/>
                <a:gd name="T49" fmla="*/ 8 h 66"/>
                <a:gd name="T50" fmla="*/ 22 w 38"/>
                <a:gd name="T51" fmla="*/ 3 h 66"/>
                <a:gd name="T52" fmla="*/ 25 w 38"/>
                <a:gd name="T53" fmla="*/ 7 h 66"/>
                <a:gd name="T54" fmla="*/ 26 w 38"/>
                <a:gd name="T55" fmla="*/ 8 h 66"/>
                <a:gd name="T56" fmla="*/ 35 w 38"/>
                <a:gd name="T57" fmla="*/ 15 h 66"/>
                <a:gd name="T58" fmla="*/ 37 w 38"/>
                <a:gd name="T59" fmla="*/ 19 h 66"/>
                <a:gd name="T60" fmla="*/ 37 w 38"/>
                <a:gd name="T61" fmla="*/ 20 h 66"/>
                <a:gd name="T62" fmla="*/ 37 w 38"/>
                <a:gd name="T63" fmla="*/ 20 h 66"/>
                <a:gd name="T64" fmla="*/ 36 w 38"/>
                <a:gd name="T65" fmla="*/ 24 h 66"/>
                <a:gd name="T66" fmla="*/ 23 w 38"/>
                <a:gd name="T67" fmla="*/ 15 h 66"/>
                <a:gd name="T68" fmla="*/ 23 w 38"/>
                <a:gd name="T69" fmla="*/ 15 h 66"/>
                <a:gd name="T70" fmla="*/ 27 w 38"/>
                <a:gd name="T71" fmla="*/ 25 h 66"/>
                <a:gd name="T72" fmla="*/ 22 w 38"/>
                <a:gd name="T73" fmla="*/ 27 h 66"/>
                <a:gd name="T74" fmla="*/ 22 w 38"/>
                <a:gd name="T75" fmla="*/ 25 h 66"/>
                <a:gd name="T76" fmla="*/ 15 w 38"/>
                <a:gd name="T77" fmla="*/ 19 h 66"/>
                <a:gd name="T78" fmla="*/ 16 w 38"/>
                <a:gd name="T79" fmla="*/ 27 h 66"/>
                <a:gd name="T80" fmla="*/ 17 w 38"/>
                <a:gd name="T81" fmla="*/ 31 h 66"/>
                <a:gd name="T82" fmla="*/ 21 w 38"/>
                <a:gd name="T83" fmla="*/ 35 h 66"/>
                <a:gd name="T84" fmla="*/ 22 w 38"/>
                <a:gd name="T85" fmla="*/ 38 h 66"/>
                <a:gd name="T86" fmla="*/ 22 w 38"/>
                <a:gd name="T87" fmla="*/ 39 h 66"/>
                <a:gd name="T88" fmla="*/ 22 w 38"/>
                <a:gd name="T89" fmla="*/ 44 h 66"/>
                <a:gd name="T90" fmla="*/ 21 w 38"/>
                <a:gd name="T91" fmla="*/ 44 h 66"/>
                <a:gd name="T92" fmla="*/ 17 w 38"/>
                <a:gd name="T93" fmla="*/ 38 h 66"/>
                <a:gd name="T94" fmla="*/ 16 w 38"/>
                <a:gd name="T95" fmla="*/ 44 h 66"/>
                <a:gd name="T96" fmla="*/ 13 w 38"/>
                <a:gd name="T97" fmla="*/ 46 h 66"/>
                <a:gd name="T98" fmla="*/ 13 w 38"/>
                <a:gd name="T99" fmla="*/ 46 h 66"/>
                <a:gd name="T100" fmla="*/ 12 w 38"/>
                <a:gd name="T101" fmla="*/ 47 h 66"/>
                <a:gd name="T102" fmla="*/ 14 w 38"/>
                <a:gd name="T103" fmla="*/ 50 h 66"/>
                <a:gd name="T104" fmla="*/ 23 w 38"/>
                <a:gd name="T105" fmla="*/ 62 h 66"/>
                <a:gd name="T106" fmla="*/ 22 w 38"/>
                <a:gd name="T107" fmla="*/ 6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8" h="66">
                  <a:moveTo>
                    <a:pt x="22" y="64"/>
                  </a:moveTo>
                  <a:cubicBezTo>
                    <a:pt x="19" y="66"/>
                    <a:pt x="12" y="65"/>
                    <a:pt x="13" y="61"/>
                  </a:cubicBezTo>
                  <a:cubicBezTo>
                    <a:pt x="13" y="60"/>
                    <a:pt x="13" y="59"/>
                    <a:pt x="13" y="59"/>
                  </a:cubicBezTo>
                  <a:cubicBezTo>
                    <a:pt x="13" y="59"/>
                    <a:pt x="13" y="59"/>
                    <a:pt x="13" y="59"/>
                  </a:cubicBezTo>
                  <a:cubicBezTo>
                    <a:pt x="12" y="54"/>
                    <a:pt x="9" y="50"/>
                    <a:pt x="8" y="46"/>
                  </a:cubicBezTo>
                  <a:cubicBezTo>
                    <a:pt x="7" y="45"/>
                    <a:pt x="7" y="44"/>
                    <a:pt x="7" y="42"/>
                  </a:cubicBezTo>
                  <a:cubicBezTo>
                    <a:pt x="8" y="42"/>
                    <a:pt x="9" y="43"/>
                    <a:pt x="10" y="44"/>
                  </a:cubicBezTo>
                  <a:cubicBezTo>
                    <a:pt x="11" y="44"/>
                    <a:pt x="11" y="43"/>
                    <a:pt x="11" y="42"/>
                  </a:cubicBezTo>
                  <a:cubicBezTo>
                    <a:pt x="11" y="39"/>
                    <a:pt x="11" y="36"/>
                    <a:pt x="11" y="33"/>
                  </a:cubicBezTo>
                  <a:cubicBezTo>
                    <a:pt x="10" y="32"/>
                    <a:pt x="9" y="31"/>
                    <a:pt x="8" y="31"/>
                  </a:cubicBezTo>
                  <a:cubicBezTo>
                    <a:pt x="8" y="32"/>
                    <a:pt x="6" y="37"/>
                    <a:pt x="4" y="34"/>
                  </a:cubicBezTo>
                  <a:cubicBezTo>
                    <a:pt x="5" y="32"/>
                    <a:pt x="5" y="29"/>
                    <a:pt x="4" y="27"/>
                  </a:cubicBezTo>
                  <a:cubicBezTo>
                    <a:pt x="2" y="25"/>
                    <a:pt x="0" y="24"/>
                    <a:pt x="0" y="23"/>
                  </a:cubicBezTo>
                  <a:cubicBezTo>
                    <a:pt x="0" y="20"/>
                    <a:pt x="4" y="20"/>
                    <a:pt x="6" y="21"/>
                  </a:cubicBezTo>
                  <a:cubicBezTo>
                    <a:pt x="8" y="21"/>
                    <a:pt x="8" y="17"/>
                    <a:pt x="10" y="23"/>
                  </a:cubicBezTo>
                  <a:cubicBezTo>
                    <a:pt x="10" y="24"/>
                    <a:pt x="11" y="24"/>
                    <a:pt x="11" y="25"/>
                  </a:cubicBezTo>
                  <a:cubicBezTo>
                    <a:pt x="12" y="25"/>
                    <a:pt x="12" y="24"/>
                    <a:pt x="12" y="24"/>
                  </a:cubicBezTo>
                  <a:cubicBezTo>
                    <a:pt x="12" y="22"/>
                    <a:pt x="12" y="19"/>
                    <a:pt x="12" y="17"/>
                  </a:cubicBezTo>
                  <a:cubicBezTo>
                    <a:pt x="10" y="15"/>
                    <a:pt x="8" y="13"/>
                    <a:pt x="7" y="10"/>
                  </a:cubicBezTo>
                  <a:cubicBezTo>
                    <a:pt x="7" y="8"/>
                    <a:pt x="10" y="6"/>
                    <a:pt x="12" y="6"/>
                  </a:cubicBezTo>
                  <a:cubicBezTo>
                    <a:pt x="13" y="4"/>
                    <a:pt x="13" y="3"/>
                    <a:pt x="13" y="1"/>
                  </a:cubicBezTo>
                  <a:cubicBezTo>
                    <a:pt x="13" y="1"/>
                    <a:pt x="13" y="1"/>
                    <a:pt x="14" y="0"/>
                  </a:cubicBezTo>
                  <a:cubicBezTo>
                    <a:pt x="15" y="0"/>
                    <a:pt x="15" y="0"/>
                    <a:pt x="16" y="1"/>
                  </a:cubicBezTo>
                  <a:cubicBezTo>
                    <a:pt x="18" y="3"/>
                    <a:pt x="14" y="11"/>
                    <a:pt x="18" y="12"/>
                  </a:cubicBezTo>
                  <a:cubicBezTo>
                    <a:pt x="19" y="11"/>
                    <a:pt x="18" y="9"/>
                    <a:pt x="17" y="8"/>
                  </a:cubicBezTo>
                  <a:cubicBezTo>
                    <a:pt x="17" y="6"/>
                    <a:pt x="20" y="4"/>
                    <a:pt x="22" y="3"/>
                  </a:cubicBezTo>
                  <a:cubicBezTo>
                    <a:pt x="26" y="3"/>
                    <a:pt x="25" y="4"/>
                    <a:pt x="25" y="7"/>
                  </a:cubicBezTo>
                  <a:cubicBezTo>
                    <a:pt x="26" y="7"/>
                    <a:pt x="26" y="8"/>
                    <a:pt x="26" y="8"/>
                  </a:cubicBezTo>
                  <a:cubicBezTo>
                    <a:pt x="30" y="11"/>
                    <a:pt x="30" y="11"/>
                    <a:pt x="35" y="15"/>
                  </a:cubicBezTo>
                  <a:cubicBezTo>
                    <a:pt x="36" y="16"/>
                    <a:pt x="37" y="17"/>
                    <a:pt x="37" y="19"/>
                  </a:cubicBezTo>
                  <a:cubicBezTo>
                    <a:pt x="37" y="19"/>
                    <a:pt x="37" y="19"/>
                    <a:pt x="37" y="20"/>
                  </a:cubicBezTo>
                  <a:cubicBezTo>
                    <a:pt x="37" y="20"/>
                    <a:pt x="37" y="20"/>
                    <a:pt x="37" y="20"/>
                  </a:cubicBezTo>
                  <a:cubicBezTo>
                    <a:pt x="38" y="21"/>
                    <a:pt x="38" y="24"/>
                    <a:pt x="36" y="24"/>
                  </a:cubicBezTo>
                  <a:cubicBezTo>
                    <a:pt x="32" y="21"/>
                    <a:pt x="27" y="18"/>
                    <a:pt x="23" y="15"/>
                  </a:cubicBezTo>
                  <a:cubicBezTo>
                    <a:pt x="23" y="15"/>
                    <a:pt x="23" y="15"/>
                    <a:pt x="23" y="15"/>
                  </a:cubicBezTo>
                  <a:cubicBezTo>
                    <a:pt x="25" y="17"/>
                    <a:pt x="27" y="22"/>
                    <a:pt x="27" y="25"/>
                  </a:cubicBezTo>
                  <a:cubicBezTo>
                    <a:pt x="26" y="26"/>
                    <a:pt x="24" y="27"/>
                    <a:pt x="22" y="27"/>
                  </a:cubicBezTo>
                  <a:cubicBezTo>
                    <a:pt x="22" y="26"/>
                    <a:pt x="22" y="26"/>
                    <a:pt x="22" y="25"/>
                  </a:cubicBezTo>
                  <a:cubicBezTo>
                    <a:pt x="21" y="23"/>
                    <a:pt x="17" y="21"/>
                    <a:pt x="15" y="19"/>
                  </a:cubicBezTo>
                  <a:cubicBezTo>
                    <a:pt x="14" y="21"/>
                    <a:pt x="16" y="25"/>
                    <a:pt x="16" y="27"/>
                  </a:cubicBezTo>
                  <a:cubicBezTo>
                    <a:pt x="16" y="28"/>
                    <a:pt x="16" y="30"/>
                    <a:pt x="17" y="31"/>
                  </a:cubicBezTo>
                  <a:cubicBezTo>
                    <a:pt x="18" y="32"/>
                    <a:pt x="19" y="34"/>
                    <a:pt x="21" y="35"/>
                  </a:cubicBezTo>
                  <a:cubicBezTo>
                    <a:pt x="21" y="36"/>
                    <a:pt x="22" y="37"/>
                    <a:pt x="22" y="38"/>
                  </a:cubicBezTo>
                  <a:cubicBezTo>
                    <a:pt x="22" y="38"/>
                    <a:pt x="22" y="38"/>
                    <a:pt x="22" y="39"/>
                  </a:cubicBezTo>
                  <a:cubicBezTo>
                    <a:pt x="23" y="40"/>
                    <a:pt x="24" y="44"/>
                    <a:pt x="22" y="44"/>
                  </a:cubicBezTo>
                  <a:cubicBezTo>
                    <a:pt x="21" y="44"/>
                    <a:pt x="21" y="44"/>
                    <a:pt x="21" y="44"/>
                  </a:cubicBezTo>
                  <a:cubicBezTo>
                    <a:pt x="20" y="41"/>
                    <a:pt x="18" y="39"/>
                    <a:pt x="17" y="38"/>
                  </a:cubicBezTo>
                  <a:cubicBezTo>
                    <a:pt x="16" y="40"/>
                    <a:pt x="17" y="42"/>
                    <a:pt x="16" y="44"/>
                  </a:cubicBezTo>
                  <a:cubicBezTo>
                    <a:pt x="15" y="45"/>
                    <a:pt x="14" y="46"/>
                    <a:pt x="13" y="46"/>
                  </a:cubicBezTo>
                  <a:cubicBezTo>
                    <a:pt x="13" y="46"/>
                    <a:pt x="13" y="46"/>
                    <a:pt x="13" y="46"/>
                  </a:cubicBezTo>
                  <a:cubicBezTo>
                    <a:pt x="12" y="46"/>
                    <a:pt x="12" y="46"/>
                    <a:pt x="12" y="47"/>
                  </a:cubicBezTo>
                  <a:cubicBezTo>
                    <a:pt x="12" y="48"/>
                    <a:pt x="13" y="49"/>
                    <a:pt x="14" y="50"/>
                  </a:cubicBezTo>
                  <a:cubicBezTo>
                    <a:pt x="16" y="54"/>
                    <a:pt x="19" y="58"/>
                    <a:pt x="23" y="62"/>
                  </a:cubicBezTo>
                  <a:cubicBezTo>
                    <a:pt x="23" y="63"/>
                    <a:pt x="23" y="63"/>
                    <a:pt x="22" y="6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20000"/>
                </a:lnSpc>
                <a:spcBef>
                  <a:spcPts val="0"/>
                </a:spcBef>
                <a:spcAft>
                  <a:spcPts val="10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36" name="Freeform 134">
              <a:extLst>
                <a:ext uri="{FF2B5EF4-FFF2-40B4-BE49-F238E27FC236}">
                  <a16:creationId xmlns:a16="http://schemas.microsoft.com/office/drawing/2014/main" id="{11885A49-A514-42B4-BAB9-016AE0BD009C}"/>
                </a:ext>
              </a:extLst>
            </p:cNvPr>
            <p:cNvSpPr>
              <a:spLocks/>
            </p:cNvSpPr>
            <p:nvPr userDrawn="1"/>
          </p:nvSpPr>
          <p:spPr bwMode="auto">
            <a:xfrm>
              <a:off x="4303306" y="3235510"/>
              <a:ext cx="98319" cy="83193"/>
            </a:xfrm>
            <a:custGeom>
              <a:avLst/>
              <a:gdLst>
                <a:gd name="T0" fmla="*/ 9 w 11"/>
                <a:gd name="T1" fmla="*/ 9 h 9"/>
                <a:gd name="T2" fmla="*/ 7 w 11"/>
                <a:gd name="T3" fmla="*/ 7 h 9"/>
                <a:gd name="T4" fmla="*/ 0 w 11"/>
                <a:gd name="T5" fmla="*/ 2 h 9"/>
                <a:gd name="T6" fmla="*/ 0 w 11"/>
                <a:gd name="T7" fmla="*/ 1 h 9"/>
                <a:gd name="T8" fmla="*/ 7 w 11"/>
                <a:gd name="T9" fmla="*/ 0 h 9"/>
                <a:gd name="T10" fmla="*/ 9 w 11"/>
                <a:gd name="T11" fmla="*/ 9 h 9"/>
              </a:gdLst>
              <a:ahLst/>
              <a:cxnLst>
                <a:cxn ang="0">
                  <a:pos x="T0" y="T1"/>
                </a:cxn>
                <a:cxn ang="0">
                  <a:pos x="T2" y="T3"/>
                </a:cxn>
                <a:cxn ang="0">
                  <a:pos x="T4" y="T5"/>
                </a:cxn>
                <a:cxn ang="0">
                  <a:pos x="T6" y="T7"/>
                </a:cxn>
                <a:cxn ang="0">
                  <a:pos x="T8" y="T9"/>
                </a:cxn>
                <a:cxn ang="0">
                  <a:pos x="T10" y="T11"/>
                </a:cxn>
              </a:cxnLst>
              <a:rect l="0" t="0" r="r" b="b"/>
              <a:pathLst>
                <a:path w="11" h="9">
                  <a:moveTo>
                    <a:pt x="9" y="9"/>
                  </a:moveTo>
                  <a:cubicBezTo>
                    <a:pt x="8" y="9"/>
                    <a:pt x="7" y="8"/>
                    <a:pt x="7" y="7"/>
                  </a:cubicBezTo>
                  <a:cubicBezTo>
                    <a:pt x="3" y="6"/>
                    <a:pt x="1" y="5"/>
                    <a:pt x="0" y="2"/>
                  </a:cubicBezTo>
                  <a:cubicBezTo>
                    <a:pt x="0" y="2"/>
                    <a:pt x="0" y="2"/>
                    <a:pt x="0" y="1"/>
                  </a:cubicBezTo>
                  <a:cubicBezTo>
                    <a:pt x="2" y="1"/>
                    <a:pt x="5" y="0"/>
                    <a:pt x="7" y="0"/>
                  </a:cubicBezTo>
                  <a:cubicBezTo>
                    <a:pt x="11" y="1"/>
                    <a:pt x="10" y="6"/>
                    <a:pt x="9" y="9"/>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20000"/>
                </a:lnSpc>
                <a:spcBef>
                  <a:spcPts val="0"/>
                </a:spcBef>
                <a:spcAft>
                  <a:spcPts val="10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37" name="Freeform 135">
              <a:extLst>
                <a:ext uri="{FF2B5EF4-FFF2-40B4-BE49-F238E27FC236}">
                  <a16:creationId xmlns:a16="http://schemas.microsoft.com/office/drawing/2014/main" id="{9732A052-027D-4794-92BF-30F2F73DE904}"/>
                </a:ext>
              </a:extLst>
            </p:cNvPr>
            <p:cNvSpPr>
              <a:spLocks/>
            </p:cNvSpPr>
            <p:nvPr userDrawn="1"/>
          </p:nvSpPr>
          <p:spPr bwMode="auto">
            <a:xfrm>
              <a:off x="4212550" y="3137191"/>
              <a:ext cx="105882" cy="98319"/>
            </a:xfrm>
            <a:custGeom>
              <a:avLst/>
              <a:gdLst>
                <a:gd name="T0" fmla="*/ 10 w 11"/>
                <a:gd name="T1" fmla="*/ 10 h 10"/>
                <a:gd name="T2" fmla="*/ 9 w 11"/>
                <a:gd name="T3" fmla="*/ 10 h 10"/>
                <a:gd name="T4" fmla="*/ 8 w 11"/>
                <a:gd name="T5" fmla="*/ 8 h 10"/>
                <a:gd name="T6" fmla="*/ 1 w 11"/>
                <a:gd name="T7" fmla="*/ 2 h 10"/>
                <a:gd name="T8" fmla="*/ 4 w 11"/>
                <a:gd name="T9" fmla="*/ 2 h 10"/>
                <a:gd name="T10" fmla="*/ 11 w 11"/>
                <a:gd name="T11" fmla="*/ 5 h 10"/>
                <a:gd name="T12" fmla="*/ 10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10" y="10"/>
                  </a:moveTo>
                  <a:cubicBezTo>
                    <a:pt x="9" y="10"/>
                    <a:pt x="9" y="10"/>
                    <a:pt x="9" y="10"/>
                  </a:cubicBezTo>
                  <a:cubicBezTo>
                    <a:pt x="8" y="9"/>
                    <a:pt x="8" y="9"/>
                    <a:pt x="8" y="8"/>
                  </a:cubicBezTo>
                  <a:cubicBezTo>
                    <a:pt x="4" y="8"/>
                    <a:pt x="0" y="6"/>
                    <a:pt x="1" y="2"/>
                  </a:cubicBezTo>
                  <a:cubicBezTo>
                    <a:pt x="2" y="1"/>
                    <a:pt x="2" y="2"/>
                    <a:pt x="4" y="2"/>
                  </a:cubicBezTo>
                  <a:cubicBezTo>
                    <a:pt x="7" y="2"/>
                    <a:pt x="11" y="0"/>
                    <a:pt x="11" y="5"/>
                  </a:cubicBezTo>
                  <a:cubicBezTo>
                    <a:pt x="11" y="6"/>
                    <a:pt x="10" y="8"/>
                    <a:pt x="10" y="10"/>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20000"/>
                </a:lnSpc>
                <a:spcBef>
                  <a:spcPts val="0"/>
                </a:spcBef>
                <a:spcAft>
                  <a:spcPts val="10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38" name="Freeform 136">
              <a:extLst>
                <a:ext uri="{FF2B5EF4-FFF2-40B4-BE49-F238E27FC236}">
                  <a16:creationId xmlns:a16="http://schemas.microsoft.com/office/drawing/2014/main" id="{2C7F9013-DA77-4B30-8DBD-3C45DE3E89C4}"/>
                </a:ext>
              </a:extLst>
            </p:cNvPr>
            <p:cNvSpPr>
              <a:spLocks/>
            </p:cNvSpPr>
            <p:nvPr userDrawn="1"/>
          </p:nvSpPr>
          <p:spPr bwMode="auto">
            <a:xfrm>
              <a:off x="4749525" y="3212821"/>
              <a:ext cx="1232773" cy="1066386"/>
            </a:xfrm>
            <a:custGeom>
              <a:avLst/>
              <a:gdLst>
                <a:gd name="T0" fmla="*/ 132 w 132"/>
                <a:gd name="T1" fmla="*/ 6 h 113"/>
                <a:gd name="T2" fmla="*/ 98 w 132"/>
                <a:gd name="T3" fmla="*/ 6 h 113"/>
                <a:gd name="T4" fmla="*/ 79 w 132"/>
                <a:gd name="T5" fmla="*/ 25 h 113"/>
                <a:gd name="T6" fmla="*/ 73 w 132"/>
                <a:gd name="T7" fmla="*/ 12 h 113"/>
                <a:gd name="T8" fmla="*/ 83 w 132"/>
                <a:gd name="T9" fmla="*/ 8 h 113"/>
                <a:gd name="T10" fmla="*/ 57 w 132"/>
                <a:gd name="T11" fmla="*/ 8 h 113"/>
                <a:gd name="T12" fmla="*/ 53 w 132"/>
                <a:gd name="T13" fmla="*/ 25 h 113"/>
                <a:gd name="T14" fmla="*/ 34 w 132"/>
                <a:gd name="T15" fmla="*/ 6 h 113"/>
                <a:gd name="T16" fmla="*/ 0 w 132"/>
                <a:gd name="T17" fmla="*/ 6 h 113"/>
                <a:gd name="T18" fmla="*/ 24 w 132"/>
                <a:gd name="T19" fmla="*/ 16 h 113"/>
                <a:gd name="T20" fmla="*/ 27 w 132"/>
                <a:gd name="T21" fmla="*/ 22 h 113"/>
                <a:gd name="T22" fmla="*/ 9 w 132"/>
                <a:gd name="T23" fmla="*/ 22 h 113"/>
                <a:gd name="T24" fmla="*/ 31 w 132"/>
                <a:gd name="T25" fmla="*/ 32 h 113"/>
                <a:gd name="T26" fmla="*/ 34 w 132"/>
                <a:gd name="T27" fmla="*/ 38 h 113"/>
                <a:gd name="T28" fmla="*/ 20 w 132"/>
                <a:gd name="T29" fmla="*/ 39 h 113"/>
                <a:gd name="T30" fmla="*/ 38 w 132"/>
                <a:gd name="T31" fmla="*/ 48 h 113"/>
                <a:gd name="T32" fmla="*/ 41 w 132"/>
                <a:gd name="T33" fmla="*/ 54 h 113"/>
                <a:gd name="T34" fmla="*/ 30 w 132"/>
                <a:gd name="T35" fmla="*/ 54 h 113"/>
                <a:gd name="T36" fmla="*/ 45 w 132"/>
                <a:gd name="T37" fmla="*/ 63 h 113"/>
                <a:gd name="T38" fmla="*/ 47 w 132"/>
                <a:gd name="T39" fmla="*/ 69 h 113"/>
                <a:gd name="T40" fmla="*/ 39 w 132"/>
                <a:gd name="T41" fmla="*/ 69 h 113"/>
                <a:gd name="T42" fmla="*/ 51 w 132"/>
                <a:gd name="T43" fmla="*/ 78 h 113"/>
                <a:gd name="T44" fmla="*/ 51 w 132"/>
                <a:gd name="T45" fmla="*/ 89 h 113"/>
                <a:gd name="T46" fmla="*/ 66 w 132"/>
                <a:gd name="T47" fmla="*/ 113 h 113"/>
                <a:gd name="T48" fmla="*/ 81 w 132"/>
                <a:gd name="T49" fmla="*/ 89 h 113"/>
                <a:gd name="T50" fmla="*/ 81 w 132"/>
                <a:gd name="T51" fmla="*/ 78 h 113"/>
                <a:gd name="T52" fmla="*/ 92 w 132"/>
                <a:gd name="T53" fmla="*/ 69 h 113"/>
                <a:gd name="T54" fmla="*/ 85 w 132"/>
                <a:gd name="T55" fmla="*/ 69 h 113"/>
                <a:gd name="T56" fmla="*/ 87 w 132"/>
                <a:gd name="T57" fmla="*/ 63 h 113"/>
                <a:gd name="T58" fmla="*/ 102 w 132"/>
                <a:gd name="T59" fmla="*/ 54 h 113"/>
                <a:gd name="T60" fmla="*/ 91 w 132"/>
                <a:gd name="T61" fmla="*/ 54 h 113"/>
                <a:gd name="T62" fmla="*/ 93 w 132"/>
                <a:gd name="T63" fmla="*/ 48 h 113"/>
                <a:gd name="T64" fmla="*/ 111 w 132"/>
                <a:gd name="T65" fmla="*/ 39 h 113"/>
                <a:gd name="T66" fmla="*/ 97 w 132"/>
                <a:gd name="T67" fmla="*/ 38 h 113"/>
                <a:gd name="T68" fmla="*/ 100 w 132"/>
                <a:gd name="T69" fmla="*/ 32 h 113"/>
                <a:gd name="T70" fmla="*/ 123 w 132"/>
                <a:gd name="T71" fmla="*/ 22 h 113"/>
                <a:gd name="T72" fmla="*/ 105 w 132"/>
                <a:gd name="T73" fmla="*/ 22 h 113"/>
                <a:gd name="T74" fmla="*/ 107 w 132"/>
                <a:gd name="T75" fmla="*/ 16 h 113"/>
                <a:gd name="T76" fmla="*/ 132 w 132"/>
                <a:gd name="T77" fmla="*/ 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2" h="113">
                  <a:moveTo>
                    <a:pt x="132" y="6"/>
                  </a:moveTo>
                  <a:cubicBezTo>
                    <a:pt x="98" y="6"/>
                    <a:pt x="98" y="6"/>
                    <a:pt x="98" y="6"/>
                  </a:cubicBezTo>
                  <a:cubicBezTo>
                    <a:pt x="88" y="6"/>
                    <a:pt x="83" y="16"/>
                    <a:pt x="79" y="25"/>
                  </a:cubicBezTo>
                  <a:cubicBezTo>
                    <a:pt x="73" y="12"/>
                    <a:pt x="73" y="12"/>
                    <a:pt x="73" y="12"/>
                  </a:cubicBezTo>
                  <a:cubicBezTo>
                    <a:pt x="83" y="8"/>
                    <a:pt x="83" y="8"/>
                    <a:pt x="83" y="8"/>
                  </a:cubicBezTo>
                  <a:cubicBezTo>
                    <a:pt x="77" y="3"/>
                    <a:pt x="59" y="0"/>
                    <a:pt x="57" y="8"/>
                  </a:cubicBezTo>
                  <a:cubicBezTo>
                    <a:pt x="53" y="25"/>
                    <a:pt x="53" y="25"/>
                    <a:pt x="53" y="25"/>
                  </a:cubicBezTo>
                  <a:cubicBezTo>
                    <a:pt x="50" y="17"/>
                    <a:pt x="45" y="6"/>
                    <a:pt x="34" y="6"/>
                  </a:cubicBezTo>
                  <a:cubicBezTo>
                    <a:pt x="0" y="6"/>
                    <a:pt x="0" y="6"/>
                    <a:pt x="0" y="6"/>
                  </a:cubicBezTo>
                  <a:cubicBezTo>
                    <a:pt x="4" y="14"/>
                    <a:pt x="8" y="17"/>
                    <a:pt x="24" y="16"/>
                  </a:cubicBezTo>
                  <a:cubicBezTo>
                    <a:pt x="27" y="22"/>
                    <a:pt x="27" y="22"/>
                    <a:pt x="27" y="22"/>
                  </a:cubicBezTo>
                  <a:cubicBezTo>
                    <a:pt x="9" y="22"/>
                    <a:pt x="9" y="22"/>
                    <a:pt x="9" y="22"/>
                  </a:cubicBezTo>
                  <a:cubicBezTo>
                    <a:pt x="14" y="32"/>
                    <a:pt x="17" y="32"/>
                    <a:pt x="31" y="32"/>
                  </a:cubicBezTo>
                  <a:cubicBezTo>
                    <a:pt x="34" y="38"/>
                    <a:pt x="34" y="38"/>
                    <a:pt x="34" y="38"/>
                  </a:cubicBezTo>
                  <a:cubicBezTo>
                    <a:pt x="20" y="39"/>
                    <a:pt x="20" y="39"/>
                    <a:pt x="20" y="39"/>
                  </a:cubicBezTo>
                  <a:cubicBezTo>
                    <a:pt x="23" y="45"/>
                    <a:pt x="27" y="48"/>
                    <a:pt x="38" y="48"/>
                  </a:cubicBezTo>
                  <a:cubicBezTo>
                    <a:pt x="41" y="54"/>
                    <a:pt x="41" y="54"/>
                    <a:pt x="41" y="54"/>
                  </a:cubicBezTo>
                  <a:cubicBezTo>
                    <a:pt x="30" y="54"/>
                    <a:pt x="30" y="54"/>
                    <a:pt x="30" y="54"/>
                  </a:cubicBezTo>
                  <a:cubicBezTo>
                    <a:pt x="34" y="61"/>
                    <a:pt x="36" y="64"/>
                    <a:pt x="45" y="63"/>
                  </a:cubicBezTo>
                  <a:cubicBezTo>
                    <a:pt x="47" y="69"/>
                    <a:pt x="47" y="69"/>
                    <a:pt x="47" y="69"/>
                  </a:cubicBezTo>
                  <a:cubicBezTo>
                    <a:pt x="39" y="69"/>
                    <a:pt x="39" y="69"/>
                    <a:pt x="39" y="69"/>
                  </a:cubicBezTo>
                  <a:cubicBezTo>
                    <a:pt x="43" y="77"/>
                    <a:pt x="46" y="77"/>
                    <a:pt x="51" y="78"/>
                  </a:cubicBezTo>
                  <a:cubicBezTo>
                    <a:pt x="55" y="78"/>
                    <a:pt x="56" y="86"/>
                    <a:pt x="51" y="89"/>
                  </a:cubicBezTo>
                  <a:cubicBezTo>
                    <a:pt x="66" y="113"/>
                    <a:pt x="66" y="113"/>
                    <a:pt x="66" y="113"/>
                  </a:cubicBezTo>
                  <a:cubicBezTo>
                    <a:pt x="81" y="89"/>
                    <a:pt x="81" y="89"/>
                    <a:pt x="81" y="89"/>
                  </a:cubicBezTo>
                  <a:cubicBezTo>
                    <a:pt x="76" y="86"/>
                    <a:pt x="76" y="78"/>
                    <a:pt x="81" y="78"/>
                  </a:cubicBezTo>
                  <a:cubicBezTo>
                    <a:pt x="85" y="77"/>
                    <a:pt x="89" y="77"/>
                    <a:pt x="92" y="69"/>
                  </a:cubicBezTo>
                  <a:cubicBezTo>
                    <a:pt x="85" y="69"/>
                    <a:pt x="85" y="69"/>
                    <a:pt x="85" y="69"/>
                  </a:cubicBezTo>
                  <a:cubicBezTo>
                    <a:pt x="87" y="63"/>
                    <a:pt x="87" y="63"/>
                    <a:pt x="87" y="63"/>
                  </a:cubicBezTo>
                  <a:cubicBezTo>
                    <a:pt x="96" y="64"/>
                    <a:pt x="98" y="60"/>
                    <a:pt x="102" y="54"/>
                  </a:cubicBezTo>
                  <a:cubicBezTo>
                    <a:pt x="91" y="54"/>
                    <a:pt x="91" y="54"/>
                    <a:pt x="91" y="54"/>
                  </a:cubicBezTo>
                  <a:cubicBezTo>
                    <a:pt x="93" y="48"/>
                    <a:pt x="93" y="48"/>
                    <a:pt x="93" y="48"/>
                  </a:cubicBezTo>
                  <a:cubicBezTo>
                    <a:pt x="105" y="48"/>
                    <a:pt x="108" y="45"/>
                    <a:pt x="111" y="39"/>
                  </a:cubicBezTo>
                  <a:cubicBezTo>
                    <a:pt x="97" y="38"/>
                    <a:pt x="97" y="38"/>
                    <a:pt x="97" y="38"/>
                  </a:cubicBezTo>
                  <a:cubicBezTo>
                    <a:pt x="100" y="32"/>
                    <a:pt x="100" y="32"/>
                    <a:pt x="100" y="32"/>
                  </a:cubicBezTo>
                  <a:cubicBezTo>
                    <a:pt x="115" y="32"/>
                    <a:pt x="118" y="32"/>
                    <a:pt x="123" y="22"/>
                  </a:cubicBezTo>
                  <a:cubicBezTo>
                    <a:pt x="105" y="22"/>
                    <a:pt x="105" y="22"/>
                    <a:pt x="105" y="22"/>
                  </a:cubicBezTo>
                  <a:cubicBezTo>
                    <a:pt x="107" y="16"/>
                    <a:pt x="107" y="16"/>
                    <a:pt x="107" y="16"/>
                  </a:cubicBezTo>
                  <a:cubicBezTo>
                    <a:pt x="123" y="17"/>
                    <a:pt x="128" y="14"/>
                    <a:pt x="132" y="6"/>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20000"/>
                </a:lnSpc>
                <a:spcBef>
                  <a:spcPts val="0"/>
                </a:spcBef>
                <a:spcAft>
                  <a:spcPts val="10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39" name="Freeform 137">
              <a:extLst>
                <a:ext uri="{FF2B5EF4-FFF2-40B4-BE49-F238E27FC236}">
                  <a16:creationId xmlns:a16="http://schemas.microsoft.com/office/drawing/2014/main" id="{BC9E6D63-1670-4E0B-8723-DAA70F35A435}"/>
                </a:ext>
              </a:extLst>
            </p:cNvPr>
            <p:cNvSpPr>
              <a:spLocks noEditPoints="1"/>
            </p:cNvSpPr>
            <p:nvPr userDrawn="1"/>
          </p:nvSpPr>
          <p:spPr bwMode="auto">
            <a:xfrm>
              <a:off x="6004987" y="2993493"/>
              <a:ext cx="484034" cy="325210"/>
            </a:xfrm>
            <a:custGeom>
              <a:avLst/>
              <a:gdLst>
                <a:gd name="T0" fmla="*/ 51 w 52"/>
                <a:gd name="T1" fmla="*/ 10 h 34"/>
                <a:gd name="T2" fmla="*/ 48 w 52"/>
                <a:gd name="T3" fmla="*/ 10 h 34"/>
                <a:gd name="T4" fmla="*/ 47 w 52"/>
                <a:gd name="T5" fmla="*/ 8 h 34"/>
                <a:gd name="T6" fmla="*/ 50 w 52"/>
                <a:gd name="T7" fmla="*/ 7 h 34"/>
                <a:gd name="T8" fmla="*/ 52 w 52"/>
                <a:gd name="T9" fmla="*/ 2 h 34"/>
                <a:gd name="T10" fmla="*/ 44 w 52"/>
                <a:gd name="T11" fmla="*/ 3 h 34"/>
                <a:gd name="T12" fmla="*/ 36 w 52"/>
                <a:gd name="T13" fmla="*/ 1 h 34"/>
                <a:gd name="T14" fmla="*/ 36 w 52"/>
                <a:gd name="T15" fmla="*/ 3 h 34"/>
                <a:gd name="T16" fmla="*/ 35 w 52"/>
                <a:gd name="T17" fmla="*/ 4 h 34"/>
                <a:gd name="T18" fmla="*/ 35 w 52"/>
                <a:gd name="T19" fmla="*/ 5 h 34"/>
                <a:gd name="T20" fmla="*/ 34 w 52"/>
                <a:gd name="T21" fmla="*/ 7 h 34"/>
                <a:gd name="T22" fmla="*/ 34 w 52"/>
                <a:gd name="T23" fmla="*/ 6 h 34"/>
                <a:gd name="T24" fmla="*/ 30 w 52"/>
                <a:gd name="T25" fmla="*/ 5 h 34"/>
                <a:gd name="T26" fmla="*/ 28 w 52"/>
                <a:gd name="T27" fmla="*/ 9 h 34"/>
                <a:gd name="T28" fmla="*/ 28 w 52"/>
                <a:gd name="T29" fmla="*/ 10 h 34"/>
                <a:gd name="T30" fmla="*/ 31 w 52"/>
                <a:gd name="T31" fmla="*/ 11 h 34"/>
                <a:gd name="T32" fmla="*/ 33 w 52"/>
                <a:gd name="T33" fmla="*/ 12 h 34"/>
                <a:gd name="T34" fmla="*/ 30 w 52"/>
                <a:gd name="T35" fmla="*/ 14 h 34"/>
                <a:gd name="T36" fmla="*/ 26 w 52"/>
                <a:gd name="T37" fmla="*/ 14 h 34"/>
                <a:gd name="T38" fmla="*/ 13 w 52"/>
                <a:gd name="T39" fmla="*/ 11 h 34"/>
                <a:gd name="T40" fmla="*/ 13 w 52"/>
                <a:gd name="T41" fmla="*/ 12 h 34"/>
                <a:gd name="T42" fmla="*/ 20 w 52"/>
                <a:gd name="T43" fmla="*/ 16 h 34"/>
                <a:gd name="T44" fmla="*/ 32 w 52"/>
                <a:gd name="T45" fmla="*/ 20 h 34"/>
                <a:gd name="T46" fmla="*/ 31 w 52"/>
                <a:gd name="T47" fmla="*/ 20 h 34"/>
                <a:gd name="T48" fmla="*/ 24 w 52"/>
                <a:gd name="T49" fmla="*/ 20 h 34"/>
                <a:gd name="T50" fmla="*/ 19 w 52"/>
                <a:gd name="T51" fmla="*/ 19 h 34"/>
                <a:gd name="T52" fmla="*/ 18 w 52"/>
                <a:gd name="T53" fmla="*/ 19 h 34"/>
                <a:gd name="T54" fmla="*/ 4 w 52"/>
                <a:gd name="T55" fmla="*/ 14 h 34"/>
                <a:gd name="T56" fmla="*/ 2 w 52"/>
                <a:gd name="T57" fmla="*/ 12 h 34"/>
                <a:gd name="T58" fmla="*/ 3 w 52"/>
                <a:gd name="T59" fmla="*/ 20 h 34"/>
                <a:gd name="T60" fmla="*/ 13 w 52"/>
                <a:gd name="T61" fmla="*/ 23 h 34"/>
                <a:gd name="T62" fmla="*/ 13 w 52"/>
                <a:gd name="T63" fmla="*/ 24 h 34"/>
                <a:gd name="T64" fmla="*/ 9 w 52"/>
                <a:gd name="T65" fmla="*/ 27 h 34"/>
                <a:gd name="T66" fmla="*/ 4 w 52"/>
                <a:gd name="T67" fmla="*/ 26 h 34"/>
                <a:gd name="T68" fmla="*/ 9 w 52"/>
                <a:gd name="T69" fmla="*/ 33 h 34"/>
                <a:gd name="T70" fmla="*/ 10 w 52"/>
                <a:gd name="T71" fmla="*/ 34 h 34"/>
                <a:gd name="T72" fmla="*/ 18 w 52"/>
                <a:gd name="T73" fmla="*/ 28 h 34"/>
                <a:gd name="T74" fmla="*/ 23 w 52"/>
                <a:gd name="T75" fmla="*/ 28 h 34"/>
                <a:gd name="T76" fmla="*/ 22 w 52"/>
                <a:gd name="T77" fmla="*/ 23 h 34"/>
                <a:gd name="T78" fmla="*/ 23 w 52"/>
                <a:gd name="T79" fmla="*/ 21 h 34"/>
                <a:gd name="T80" fmla="*/ 30 w 52"/>
                <a:gd name="T81" fmla="*/ 22 h 34"/>
                <a:gd name="T82" fmla="*/ 36 w 52"/>
                <a:gd name="T83" fmla="*/ 25 h 34"/>
                <a:gd name="T84" fmla="*/ 39 w 52"/>
                <a:gd name="T85" fmla="*/ 21 h 34"/>
                <a:gd name="T86" fmla="*/ 39 w 52"/>
                <a:gd name="T87" fmla="*/ 20 h 34"/>
                <a:gd name="T88" fmla="*/ 51 w 52"/>
                <a:gd name="T89" fmla="*/ 14 h 34"/>
                <a:gd name="T90" fmla="*/ 38 w 52"/>
                <a:gd name="T91" fmla="*/ 14 h 34"/>
                <a:gd name="T92" fmla="*/ 38 w 52"/>
                <a:gd name="T93" fmla="*/ 12 h 34"/>
                <a:gd name="T94" fmla="*/ 36 w 52"/>
                <a:gd name="T95" fmla="*/ 11 h 34"/>
                <a:gd name="T96" fmla="*/ 36 w 52"/>
                <a:gd name="T97" fmla="*/ 10 h 34"/>
                <a:gd name="T98" fmla="*/ 40 w 52"/>
                <a:gd name="T99" fmla="*/ 9 h 34"/>
                <a:gd name="T100" fmla="*/ 43 w 52"/>
                <a:gd name="T101" fmla="*/ 14 h 34"/>
                <a:gd name="T102" fmla="*/ 38 w 52"/>
                <a:gd name="T103" fmla="*/ 1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 h="34">
                  <a:moveTo>
                    <a:pt x="51" y="13"/>
                  </a:moveTo>
                  <a:cubicBezTo>
                    <a:pt x="51" y="12"/>
                    <a:pt x="51" y="12"/>
                    <a:pt x="51" y="12"/>
                  </a:cubicBezTo>
                  <a:cubicBezTo>
                    <a:pt x="51" y="11"/>
                    <a:pt x="51" y="11"/>
                    <a:pt x="51" y="10"/>
                  </a:cubicBezTo>
                  <a:cubicBezTo>
                    <a:pt x="51" y="10"/>
                    <a:pt x="50" y="10"/>
                    <a:pt x="50" y="10"/>
                  </a:cubicBezTo>
                  <a:cubicBezTo>
                    <a:pt x="49" y="10"/>
                    <a:pt x="49" y="10"/>
                    <a:pt x="49" y="10"/>
                  </a:cubicBezTo>
                  <a:cubicBezTo>
                    <a:pt x="48" y="10"/>
                    <a:pt x="48" y="10"/>
                    <a:pt x="48" y="10"/>
                  </a:cubicBezTo>
                  <a:cubicBezTo>
                    <a:pt x="48" y="9"/>
                    <a:pt x="48" y="9"/>
                    <a:pt x="48" y="9"/>
                  </a:cubicBezTo>
                  <a:cubicBezTo>
                    <a:pt x="48" y="9"/>
                    <a:pt x="48" y="9"/>
                    <a:pt x="48" y="9"/>
                  </a:cubicBezTo>
                  <a:cubicBezTo>
                    <a:pt x="47" y="8"/>
                    <a:pt x="47" y="8"/>
                    <a:pt x="47" y="8"/>
                  </a:cubicBezTo>
                  <a:cubicBezTo>
                    <a:pt x="47" y="8"/>
                    <a:pt x="47" y="8"/>
                    <a:pt x="47" y="8"/>
                  </a:cubicBezTo>
                  <a:cubicBezTo>
                    <a:pt x="48" y="8"/>
                    <a:pt x="48" y="8"/>
                    <a:pt x="48" y="8"/>
                  </a:cubicBezTo>
                  <a:cubicBezTo>
                    <a:pt x="48" y="7"/>
                    <a:pt x="49" y="7"/>
                    <a:pt x="50" y="7"/>
                  </a:cubicBezTo>
                  <a:cubicBezTo>
                    <a:pt x="50" y="7"/>
                    <a:pt x="50" y="7"/>
                    <a:pt x="50" y="7"/>
                  </a:cubicBezTo>
                  <a:cubicBezTo>
                    <a:pt x="50" y="7"/>
                    <a:pt x="50" y="7"/>
                    <a:pt x="50" y="7"/>
                  </a:cubicBezTo>
                  <a:cubicBezTo>
                    <a:pt x="51" y="6"/>
                    <a:pt x="52" y="4"/>
                    <a:pt x="52" y="2"/>
                  </a:cubicBezTo>
                  <a:cubicBezTo>
                    <a:pt x="52" y="2"/>
                    <a:pt x="51" y="2"/>
                    <a:pt x="50" y="2"/>
                  </a:cubicBezTo>
                  <a:cubicBezTo>
                    <a:pt x="49" y="2"/>
                    <a:pt x="48" y="2"/>
                    <a:pt x="46" y="3"/>
                  </a:cubicBezTo>
                  <a:cubicBezTo>
                    <a:pt x="46" y="3"/>
                    <a:pt x="45" y="3"/>
                    <a:pt x="44" y="3"/>
                  </a:cubicBezTo>
                  <a:cubicBezTo>
                    <a:pt x="43" y="3"/>
                    <a:pt x="43" y="3"/>
                    <a:pt x="43" y="3"/>
                  </a:cubicBezTo>
                  <a:cubicBezTo>
                    <a:pt x="41" y="2"/>
                    <a:pt x="41" y="2"/>
                    <a:pt x="36" y="0"/>
                  </a:cubicBezTo>
                  <a:cubicBezTo>
                    <a:pt x="36" y="0"/>
                    <a:pt x="36" y="0"/>
                    <a:pt x="36" y="1"/>
                  </a:cubicBezTo>
                  <a:cubicBezTo>
                    <a:pt x="35" y="1"/>
                    <a:pt x="35" y="2"/>
                    <a:pt x="36" y="3"/>
                  </a:cubicBezTo>
                  <a:cubicBezTo>
                    <a:pt x="36" y="3"/>
                    <a:pt x="36" y="3"/>
                    <a:pt x="36" y="3"/>
                  </a:cubicBezTo>
                  <a:cubicBezTo>
                    <a:pt x="36" y="3"/>
                    <a:pt x="36" y="3"/>
                    <a:pt x="36" y="3"/>
                  </a:cubicBezTo>
                  <a:cubicBezTo>
                    <a:pt x="36" y="3"/>
                    <a:pt x="36" y="3"/>
                    <a:pt x="36" y="3"/>
                  </a:cubicBezTo>
                  <a:cubicBezTo>
                    <a:pt x="35" y="4"/>
                    <a:pt x="35" y="4"/>
                    <a:pt x="35" y="4"/>
                  </a:cubicBezTo>
                  <a:cubicBezTo>
                    <a:pt x="35" y="4"/>
                    <a:pt x="35" y="4"/>
                    <a:pt x="35" y="4"/>
                  </a:cubicBezTo>
                  <a:cubicBezTo>
                    <a:pt x="35" y="4"/>
                    <a:pt x="35" y="4"/>
                    <a:pt x="35" y="4"/>
                  </a:cubicBezTo>
                  <a:cubicBezTo>
                    <a:pt x="35" y="4"/>
                    <a:pt x="35" y="4"/>
                    <a:pt x="35" y="4"/>
                  </a:cubicBezTo>
                  <a:cubicBezTo>
                    <a:pt x="35" y="4"/>
                    <a:pt x="35" y="5"/>
                    <a:pt x="35" y="5"/>
                  </a:cubicBezTo>
                  <a:cubicBezTo>
                    <a:pt x="35" y="5"/>
                    <a:pt x="35" y="5"/>
                    <a:pt x="35" y="5"/>
                  </a:cubicBezTo>
                  <a:cubicBezTo>
                    <a:pt x="35" y="6"/>
                    <a:pt x="35" y="6"/>
                    <a:pt x="35" y="6"/>
                  </a:cubicBezTo>
                  <a:cubicBezTo>
                    <a:pt x="34" y="7"/>
                    <a:pt x="34" y="7"/>
                    <a:pt x="34" y="7"/>
                  </a:cubicBezTo>
                  <a:cubicBezTo>
                    <a:pt x="34" y="7"/>
                    <a:pt x="34" y="7"/>
                    <a:pt x="34" y="7"/>
                  </a:cubicBezTo>
                  <a:cubicBezTo>
                    <a:pt x="34" y="7"/>
                    <a:pt x="34" y="7"/>
                    <a:pt x="34" y="7"/>
                  </a:cubicBezTo>
                  <a:cubicBezTo>
                    <a:pt x="34" y="6"/>
                    <a:pt x="34" y="6"/>
                    <a:pt x="34" y="6"/>
                  </a:cubicBezTo>
                  <a:cubicBezTo>
                    <a:pt x="33" y="6"/>
                    <a:pt x="33" y="6"/>
                    <a:pt x="32" y="5"/>
                  </a:cubicBezTo>
                  <a:cubicBezTo>
                    <a:pt x="32" y="5"/>
                    <a:pt x="32" y="5"/>
                    <a:pt x="32" y="5"/>
                  </a:cubicBezTo>
                  <a:cubicBezTo>
                    <a:pt x="31" y="5"/>
                    <a:pt x="31" y="5"/>
                    <a:pt x="30" y="5"/>
                  </a:cubicBezTo>
                  <a:cubicBezTo>
                    <a:pt x="30" y="6"/>
                    <a:pt x="30" y="6"/>
                    <a:pt x="30" y="6"/>
                  </a:cubicBezTo>
                  <a:cubicBezTo>
                    <a:pt x="30" y="7"/>
                    <a:pt x="30" y="7"/>
                    <a:pt x="30" y="7"/>
                  </a:cubicBezTo>
                  <a:cubicBezTo>
                    <a:pt x="30" y="7"/>
                    <a:pt x="30" y="8"/>
                    <a:pt x="28" y="9"/>
                  </a:cubicBezTo>
                  <a:cubicBezTo>
                    <a:pt x="27" y="8"/>
                    <a:pt x="27" y="8"/>
                    <a:pt x="27" y="8"/>
                  </a:cubicBezTo>
                  <a:cubicBezTo>
                    <a:pt x="26" y="8"/>
                    <a:pt x="26" y="9"/>
                    <a:pt x="26" y="9"/>
                  </a:cubicBezTo>
                  <a:cubicBezTo>
                    <a:pt x="26" y="10"/>
                    <a:pt x="26" y="10"/>
                    <a:pt x="28" y="10"/>
                  </a:cubicBezTo>
                  <a:cubicBezTo>
                    <a:pt x="29" y="10"/>
                    <a:pt x="29" y="11"/>
                    <a:pt x="30" y="11"/>
                  </a:cubicBezTo>
                  <a:cubicBezTo>
                    <a:pt x="30" y="11"/>
                    <a:pt x="30" y="11"/>
                    <a:pt x="30" y="11"/>
                  </a:cubicBezTo>
                  <a:cubicBezTo>
                    <a:pt x="31" y="11"/>
                    <a:pt x="31" y="11"/>
                    <a:pt x="31" y="11"/>
                  </a:cubicBezTo>
                  <a:cubicBezTo>
                    <a:pt x="32" y="11"/>
                    <a:pt x="32" y="11"/>
                    <a:pt x="32" y="11"/>
                  </a:cubicBezTo>
                  <a:cubicBezTo>
                    <a:pt x="33" y="11"/>
                    <a:pt x="33" y="11"/>
                    <a:pt x="33" y="11"/>
                  </a:cubicBezTo>
                  <a:cubicBezTo>
                    <a:pt x="33" y="12"/>
                    <a:pt x="33" y="12"/>
                    <a:pt x="33" y="12"/>
                  </a:cubicBezTo>
                  <a:cubicBezTo>
                    <a:pt x="31" y="12"/>
                    <a:pt x="31" y="12"/>
                    <a:pt x="31" y="12"/>
                  </a:cubicBezTo>
                  <a:cubicBezTo>
                    <a:pt x="31" y="12"/>
                    <a:pt x="31" y="13"/>
                    <a:pt x="30" y="13"/>
                  </a:cubicBezTo>
                  <a:cubicBezTo>
                    <a:pt x="30" y="14"/>
                    <a:pt x="30" y="14"/>
                    <a:pt x="30" y="14"/>
                  </a:cubicBezTo>
                  <a:cubicBezTo>
                    <a:pt x="29" y="15"/>
                    <a:pt x="29" y="15"/>
                    <a:pt x="29" y="15"/>
                  </a:cubicBezTo>
                  <a:cubicBezTo>
                    <a:pt x="29" y="14"/>
                    <a:pt x="29" y="14"/>
                    <a:pt x="29" y="14"/>
                  </a:cubicBezTo>
                  <a:cubicBezTo>
                    <a:pt x="28" y="14"/>
                    <a:pt x="27" y="14"/>
                    <a:pt x="26" y="14"/>
                  </a:cubicBezTo>
                  <a:cubicBezTo>
                    <a:pt x="24" y="13"/>
                    <a:pt x="24" y="13"/>
                    <a:pt x="24" y="13"/>
                  </a:cubicBezTo>
                  <a:cubicBezTo>
                    <a:pt x="22" y="13"/>
                    <a:pt x="18" y="12"/>
                    <a:pt x="15" y="11"/>
                  </a:cubicBezTo>
                  <a:cubicBezTo>
                    <a:pt x="15" y="11"/>
                    <a:pt x="14" y="11"/>
                    <a:pt x="13" y="11"/>
                  </a:cubicBezTo>
                  <a:cubicBezTo>
                    <a:pt x="12" y="10"/>
                    <a:pt x="12" y="10"/>
                    <a:pt x="12" y="10"/>
                  </a:cubicBezTo>
                  <a:cubicBezTo>
                    <a:pt x="11" y="11"/>
                    <a:pt x="11" y="11"/>
                    <a:pt x="11" y="11"/>
                  </a:cubicBezTo>
                  <a:cubicBezTo>
                    <a:pt x="12" y="11"/>
                    <a:pt x="12" y="12"/>
                    <a:pt x="13" y="12"/>
                  </a:cubicBezTo>
                  <a:cubicBezTo>
                    <a:pt x="13" y="12"/>
                    <a:pt x="13" y="12"/>
                    <a:pt x="13" y="12"/>
                  </a:cubicBezTo>
                  <a:cubicBezTo>
                    <a:pt x="14" y="13"/>
                    <a:pt x="14" y="15"/>
                    <a:pt x="16" y="16"/>
                  </a:cubicBezTo>
                  <a:cubicBezTo>
                    <a:pt x="17" y="16"/>
                    <a:pt x="18" y="16"/>
                    <a:pt x="20" y="16"/>
                  </a:cubicBezTo>
                  <a:cubicBezTo>
                    <a:pt x="23" y="16"/>
                    <a:pt x="28" y="17"/>
                    <a:pt x="31" y="19"/>
                  </a:cubicBezTo>
                  <a:cubicBezTo>
                    <a:pt x="32" y="20"/>
                    <a:pt x="32" y="20"/>
                    <a:pt x="32" y="20"/>
                  </a:cubicBezTo>
                  <a:cubicBezTo>
                    <a:pt x="32" y="20"/>
                    <a:pt x="32" y="20"/>
                    <a:pt x="32" y="20"/>
                  </a:cubicBezTo>
                  <a:cubicBezTo>
                    <a:pt x="32" y="20"/>
                    <a:pt x="32" y="20"/>
                    <a:pt x="32" y="20"/>
                  </a:cubicBezTo>
                  <a:cubicBezTo>
                    <a:pt x="32" y="20"/>
                    <a:pt x="32" y="20"/>
                    <a:pt x="32" y="20"/>
                  </a:cubicBezTo>
                  <a:cubicBezTo>
                    <a:pt x="31" y="20"/>
                    <a:pt x="31" y="20"/>
                    <a:pt x="31" y="20"/>
                  </a:cubicBezTo>
                  <a:cubicBezTo>
                    <a:pt x="30" y="20"/>
                    <a:pt x="30" y="21"/>
                    <a:pt x="30" y="21"/>
                  </a:cubicBezTo>
                  <a:cubicBezTo>
                    <a:pt x="29" y="21"/>
                    <a:pt x="29" y="21"/>
                    <a:pt x="29" y="21"/>
                  </a:cubicBezTo>
                  <a:cubicBezTo>
                    <a:pt x="26" y="20"/>
                    <a:pt x="26" y="20"/>
                    <a:pt x="24" y="20"/>
                  </a:cubicBezTo>
                  <a:cubicBezTo>
                    <a:pt x="23" y="19"/>
                    <a:pt x="22" y="18"/>
                    <a:pt x="21" y="18"/>
                  </a:cubicBezTo>
                  <a:cubicBezTo>
                    <a:pt x="21" y="18"/>
                    <a:pt x="20" y="19"/>
                    <a:pt x="19" y="19"/>
                  </a:cubicBezTo>
                  <a:cubicBezTo>
                    <a:pt x="19" y="19"/>
                    <a:pt x="19" y="19"/>
                    <a:pt x="19" y="19"/>
                  </a:cubicBezTo>
                  <a:cubicBezTo>
                    <a:pt x="19" y="19"/>
                    <a:pt x="19" y="19"/>
                    <a:pt x="19" y="19"/>
                  </a:cubicBezTo>
                  <a:cubicBezTo>
                    <a:pt x="19" y="20"/>
                    <a:pt x="19" y="20"/>
                    <a:pt x="19" y="20"/>
                  </a:cubicBezTo>
                  <a:cubicBezTo>
                    <a:pt x="18" y="19"/>
                    <a:pt x="18" y="19"/>
                    <a:pt x="18" y="19"/>
                  </a:cubicBezTo>
                  <a:cubicBezTo>
                    <a:pt x="18" y="19"/>
                    <a:pt x="18" y="19"/>
                    <a:pt x="17" y="19"/>
                  </a:cubicBezTo>
                  <a:cubicBezTo>
                    <a:pt x="16" y="19"/>
                    <a:pt x="15" y="18"/>
                    <a:pt x="14" y="18"/>
                  </a:cubicBezTo>
                  <a:cubicBezTo>
                    <a:pt x="10" y="17"/>
                    <a:pt x="7" y="16"/>
                    <a:pt x="4" y="14"/>
                  </a:cubicBezTo>
                  <a:cubicBezTo>
                    <a:pt x="3" y="13"/>
                    <a:pt x="3" y="13"/>
                    <a:pt x="2" y="12"/>
                  </a:cubicBezTo>
                  <a:cubicBezTo>
                    <a:pt x="2" y="12"/>
                    <a:pt x="2" y="12"/>
                    <a:pt x="2" y="12"/>
                  </a:cubicBezTo>
                  <a:cubicBezTo>
                    <a:pt x="2" y="12"/>
                    <a:pt x="2" y="12"/>
                    <a:pt x="2" y="12"/>
                  </a:cubicBezTo>
                  <a:cubicBezTo>
                    <a:pt x="2" y="11"/>
                    <a:pt x="2" y="11"/>
                    <a:pt x="2" y="11"/>
                  </a:cubicBezTo>
                  <a:cubicBezTo>
                    <a:pt x="1" y="11"/>
                    <a:pt x="1" y="12"/>
                    <a:pt x="0" y="12"/>
                  </a:cubicBezTo>
                  <a:cubicBezTo>
                    <a:pt x="0" y="14"/>
                    <a:pt x="2" y="19"/>
                    <a:pt x="3" y="20"/>
                  </a:cubicBezTo>
                  <a:cubicBezTo>
                    <a:pt x="4" y="20"/>
                    <a:pt x="5" y="21"/>
                    <a:pt x="6" y="21"/>
                  </a:cubicBezTo>
                  <a:cubicBezTo>
                    <a:pt x="8" y="21"/>
                    <a:pt x="11" y="22"/>
                    <a:pt x="12" y="23"/>
                  </a:cubicBezTo>
                  <a:cubicBezTo>
                    <a:pt x="13" y="23"/>
                    <a:pt x="13" y="23"/>
                    <a:pt x="13" y="23"/>
                  </a:cubicBezTo>
                  <a:cubicBezTo>
                    <a:pt x="13" y="23"/>
                    <a:pt x="13" y="23"/>
                    <a:pt x="13" y="23"/>
                  </a:cubicBezTo>
                  <a:cubicBezTo>
                    <a:pt x="13" y="23"/>
                    <a:pt x="13" y="23"/>
                    <a:pt x="13" y="23"/>
                  </a:cubicBezTo>
                  <a:cubicBezTo>
                    <a:pt x="13" y="24"/>
                    <a:pt x="13" y="24"/>
                    <a:pt x="13" y="24"/>
                  </a:cubicBezTo>
                  <a:cubicBezTo>
                    <a:pt x="12" y="25"/>
                    <a:pt x="11" y="26"/>
                    <a:pt x="10" y="26"/>
                  </a:cubicBezTo>
                  <a:cubicBezTo>
                    <a:pt x="10" y="27"/>
                    <a:pt x="10" y="27"/>
                    <a:pt x="10" y="27"/>
                  </a:cubicBezTo>
                  <a:cubicBezTo>
                    <a:pt x="10" y="27"/>
                    <a:pt x="9" y="27"/>
                    <a:pt x="9" y="27"/>
                  </a:cubicBezTo>
                  <a:cubicBezTo>
                    <a:pt x="9" y="27"/>
                    <a:pt x="9" y="27"/>
                    <a:pt x="9" y="27"/>
                  </a:cubicBezTo>
                  <a:cubicBezTo>
                    <a:pt x="9" y="28"/>
                    <a:pt x="8" y="28"/>
                    <a:pt x="8" y="28"/>
                  </a:cubicBezTo>
                  <a:cubicBezTo>
                    <a:pt x="7" y="28"/>
                    <a:pt x="5" y="27"/>
                    <a:pt x="4" y="26"/>
                  </a:cubicBezTo>
                  <a:cubicBezTo>
                    <a:pt x="4" y="26"/>
                    <a:pt x="3" y="26"/>
                    <a:pt x="3" y="26"/>
                  </a:cubicBezTo>
                  <a:cubicBezTo>
                    <a:pt x="3" y="26"/>
                    <a:pt x="3" y="26"/>
                    <a:pt x="3" y="26"/>
                  </a:cubicBezTo>
                  <a:cubicBezTo>
                    <a:pt x="4" y="29"/>
                    <a:pt x="6" y="31"/>
                    <a:pt x="9" y="33"/>
                  </a:cubicBezTo>
                  <a:cubicBezTo>
                    <a:pt x="9" y="34"/>
                    <a:pt x="9" y="34"/>
                    <a:pt x="9" y="34"/>
                  </a:cubicBezTo>
                  <a:cubicBezTo>
                    <a:pt x="10" y="34"/>
                    <a:pt x="10" y="34"/>
                    <a:pt x="10" y="34"/>
                  </a:cubicBezTo>
                  <a:cubicBezTo>
                    <a:pt x="10" y="34"/>
                    <a:pt x="10" y="34"/>
                    <a:pt x="10" y="34"/>
                  </a:cubicBezTo>
                  <a:cubicBezTo>
                    <a:pt x="12" y="34"/>
                    <a:pt x="15" y="31"/>
                    <a:pt x="16" y="29"/>
                  </a:cubicBezTo>
                  <a:cubicBezTo>
                    <a:pt x="16" y="29"/>
                    <a:pt x="17" y="28"/>
                    <a:pt x="17" y="28"/>
                  </a:cubicBezTo>
                  <a:cubicBezTo>
                    <a:pt x="18" y="28"/>
                    <a:pt x="18" y="28"/>
                    <a:pt x="18" y="28"/>
                  </a:cubicBezTo>
                  <a:cubicBezTo>
                    <a:pt x="19" y="27"/>
                    <a:pt x="19" y="27"/>
                    <a:pt x="19" y="27"/>
                  </a:cubicBezTo>
                  <a:cubicBezTo>
                    <a:pt x="19" y="27"/>
                    <a:pt x="19" y="27"/>
                    <a:pt x="19" y="27"/>
                  </a:cubicBezTo>
                  <a:cubicBezTo>
                    <a:pt x="21" y="27"/>
                    <a:pt x="22" y="27"/>
                    <a:pt x="23" y="28"/>
                  </a:cubicBezTo>
                  <a:cubicBezTo>
                    <a:pt x="24" y="28"/>
                    <a:pt x="25" y="26"/>
                    <a:pt x="25" y="25"/>
                  </a:cubicBezTo>
                  <a:cubicBezTo>
                    <a:pt x="25" y="25"/>
                    <a:pt x="25" y="25"/>
                    <a:pt x="25" y="25"/>
                  </a:cubicBezTo>
                  <a:cubicBezTo>
                    <a:pt x="24" y="24"/>
                    <a:pt x="23" y="23"/>
                    <a:pt x="22" y="23"/>
                  </a:cubicBezTo>
                  <a:cubicBezTo>
                    <a:pt x="22" y="23"/>
                    <a:pt x="22" y="23"/>
                    <a:pt x="22" y="23"/>
                  </a:cubicBezTo>
                  <a:cubicBezTo>
                    <a:pt x="22" y="22"/>
                    <a:pt x="22" y="22"/>
                    <a:pt x="22" y="22"/>
                  </a:cubicBezTo>
                  <a:cubicBezTo>
                    <a:pt x="23" y="21"/>
                    <a:pt x="23" y="21"/>
                    <a:pt x="23" y="21"/>
                  </a:cubicBezTo>
                  <a:cubicBezTo>
                    <a:pt x="23" y="20"/>
                    <a:pt x="23" y="20"/>
                    <a:pt x="23" y="20"/>
                  </a:cubicBezTo>
                  <a:cubicBezTo>
                    <a:pt x="24" y="20"/>
                    <a:pt x="24" y="20"/>
                    <a:pt x="24" y="20"/>
                  </a:cubicBezTo>
                  <a:cubicBezTo>
                    <a:pt x="26" y="21"/>
                    <a:pt x="28" y="22"/>
                    <a:pt x="30" y="22"/>
                  </a:cubicBezTo>
                  <a:cubicBezTo>
                    <a:pt x="32" y="23"/>
                    <a:pt x="32" y="23"/>
                    <a:pt x="32" y="23"/>
                  </a:cubicBezTo>
                  <a:cubicBezTo>
                    <a:pt x="33" y="23"/>
                    <a:pt x="33" y="23"/>
                    <a:pt x="33" y="23"/>
                  </a:cubicBezTo>
                  <a:cubicBezTo>
                    <a:pt x="34" y="24"/>
                    <a:pt x="35" y="25"/>
                    <a:pt x="36" y="25"/>
                  </a:cubicBezTo>
                  <a:cubicBezTo>
                    <a:pt x="36" y="25"/>
                    <a:pt x="37" y="25"/>
                    <a:pt x="37" y="25"/>
                  </a:cubicBezTo>
                  <a:cubicBezTo>
                    <a:pt x="38" y="23"/>
                    <a:pt x="39" y="22"/>
                    <a:pt x="39" y="21"/>
                  </a:cubicBezTo>
                  <a:cubicBezTo>
                    <a:pt x="39" y="21"/>
                    <a:pt x="39" y="21"/>
                    <a:pt x="39" y="21"/>
                  </a:cubicBezTo>
                  <a:cubicBezTo>
                    <a:pt x="39" y="21"/>
                    <a:pt x="40" y="21"/>
                    <a:pt x="40" y="21"/>
                  </a:cubicBezTo>
                  <a:cubicBezTo>
                    <a:pt x="39" y="21"/>
                    <a:pt x="39" y="21"/>
                    <a:pt x="39" y="21"/>
                  </a:cubicBezTo>
                  <a:cubicBezTo>
                    <a:pt x="39" y="20"/>
                    <a:pt x="39" y="20"/>
                    <a:pt x="39" y="20"/>
                  </a:cubicBezTo>
                  <a:cubicBezTo>
                    <a:pt x="39" y="20"/>
                    <a:pt x="40" y="20"/>
                    <a:pt x="40" y="20"/>
                  </a:cubicBezTo>
                  <a:cubicBezTo>
                    <a:pt x="43" y="19"/>
                    <a:pt x="47" y="17"/>
                    <a:pt x="50" y="16"/>
                  </a:cubicBezTo>
                  <a:cubicBezTo>
                    <a:pt x="51" y="15"/>
                    <a:pt x="52" y="15"/>
                    <a:pt x="51" y="14"/>
                  </a:cubicBezTo>
                  <a:cubicBezTo>
                    <a:pt x="51" y="13"/>
                    <a:pt x="51" y="13"/>
                    <a:pt x="51" y="13"/>
                  </a:cubicBezTo>
                  <a:moveTo>
                    <a:pt x="37" y="15"/>
                  </a:moveTo>
                  <a:cubicBezTo>
                    <a:pt x="38" y="14"/>
                    <a:pt x="38" y="14"/>
                    <a:pt x="38" y="14"/>
                  </a:cubicBezTo>
                  <a:cubicBezTo>
                    <a:pt x="39" y="13"/>
                    <a:pt x="39" y="13"/>
                    <a:pt x="39" y="13"/>
                  </a:cubicBezTo>
                  <a:cubicBezTo>
                    <a:pt x="39" y="13"/>
                    <a:pt x="39" y="12"/>
                    <a:pt x="38" y="12"/>
                  </a:cubicBezTo>
                  <a:cubicBezTo>
                    <a:pt x="38" y="12"/>
                    <a:pt x="38" y="12"/>
                    <a:pt x="38" y="12"/>
                  </a:cubicBezTo>
                  <a:cubicBezTo>
                    <a:pt x="38" y="12"/>
                    <a:pt x="38" y="12"/>
                    <a:pt x="38" y="12"/>
                  </a:cubicBezTo>
                  <a:cubicBezTo>
                    <a:pt x="37" y="12"/>
                    <a:pt x="37" y="12"/>
                    <a:pt x="37" y="12"/>
                  </a:cubicBezTo>
                  <a:cubicBezTo>
                    <a:pt x="36" y="11"/>
                    <a:pt x="36" y="11"/>
                    <a:pt x="36" y="11"/>
                  </a:cubicBezTo>
                  <a:cubicBezTo>
                    <a:pt x="36" y="11"/>
                    <a:pt x="36" y="11"/>
                    <a:pt x="36" y="11"/>
                  </a:cubicBezTo>
                  <a:cubicBezTo>
                    <a:pt x="37" y="10"/>
                    <a:pt x="37" y="10"/>
                    <a:pt x="37" y="10"/>
                  </a:cubicBezTo>
                  <a:cubicBezTo>
                    <a:pt x="36" y="10"/>
                    <a:pt x="36" y="10"/>
                    <a:pt x="36" y="10"/>
                  </a:cubicBezTo>
                  <a:cubicBezTo>
                    <a:pt x="37" y="10"/>
                    <a:pt x="37" y="10"/>
                    <a:pt x="37" y="10"/>
                  </a:cubicBezTo>
                  <a:cubicBezTo>
                    <a:pt x="40" y="9"/>
                    <a:pt x="40" y="9"/>
                    <a:pt x="40" y="9"/>
                  </a:cubicBezTo>
                  <a:cubicBezTo>
                    <a:pt x="40" y="9"/>
                    <a:pt x="40" y="9"/>
                    <a:pt x="40" y="9"/>
                  </a:cubicBezTo>
                  <a:cubicBezTo>
                    <a:pt x="41" y="9"/>
                    <a:pt x="41" y="9"/>
                    <a:pt x="41" y="9"/>
                  </a:cubicBezTo>
                  <a:cubicBezTo>
                    <a:pt x="41" y="10"/>
                    <a:pt x="43" y="11"/>
                    <a:pt x="43" y="13"/>
                  </a:cubicBezTo>
                  <a:cubicBezTo>
                    <a:pt x="43" y="14"/>
                    <a:pt x="43" y="14"/>
                    <a:pt x="43" y="14"/>
                  </a:cubicBezTo>
                  <a:cubicBezTo>
                    <a:pt x="42" y="15"/>
                    <a:pt x="40" y="16"/>
                    <a:pt x="38" y="16"/>
                  </a:cubicBezTo>
                  <a:cubicBezTo>
                    <a:pt x="38" y="16"/>
                    <a:pt x="38" y="16"/>
                    <a:pt x="38" y="16"/>
                  </a:cubicBezTo>
                  <a:cubicBezTo>
                    <a:pt x="38" y="15"/>
                    <a:pt x="38" y="15"/>
                    <a:pt x="38" y="15"/>
                  </a:cubicBezTo>
                  <a:cubicBezTo>
                    <a:pt x="37" y="15"/>
                    <a:pt x="37" y="15"/>
                    <a:pt x="37" y="15"/>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20000"/>
                </a:lnSpc>
                <a:spcBef>
                  <a:spcPts val="0"/>
                </a:spcBef>
                <a:spcAft>
                  <a:spcPts val="10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40" name="Freeform 138">
              <a:extLst>
                <a:ext uri="{FF2B5EF4-FFF2-40B4-BE49-F238E27FC236}">
                  <a16:creationId xmlns:a16="http://schemas.microsoft.com/office/drawing/2014/main" id="{142B2C2C-18C5-403A-B49B-991B4F131D2E}"/>
                </a:ext>
              </a:extLst>
            </p:cNvPr>
            <p:cNvSpPr>
              <a:spLocks/>
            </p:cNvSpPr>
            <p:nvPr userDrawn="1"/>
          </p:nvSpPr>
          <p:spPr bwMode="auto">
            <a:xfrm>
              <a:off x="6194063" y="2940552"/>
              <a:ext cx="75630" cy="143697"/>
            </a:xfrm>
            <a:custGeom>
              <a:avLst/>
              <a:gdLst>
                <a:gd name="T0" fmla="*/ 2 w 8"/>
                <a:gd name="T1" fmla="*/ 15 h 15"/>
                <a:gd name="T2" fmla="*/ 0 w 8"/>
                <a:gd name="T3" fmla="*/ 14 h 15"/>
                <a:gd name="T4" fmla="*/ 2 w 8"/>
                <a:gd name="T5" fmla="*/ 9 h 15"/>
                <a:gd name="T6" fmla="*/ 3 w 8"/>
                <a:gd name="T7" fmla="*/ 8 h 15"/>
                <a:gd name="T8" fmla="*/ 3 w 8"/>
                <a:gd name="T9" fmla="*/ 8 h 15"/>
                <a:gd name="T10" fmla="*/ 3 w 8"/>
                <a:gd name="T11" fmla="*/ 7 h 15"/>
                <a:gd name="T12" fmla="*/ 4 w 8"/>
                <a:gd name="T13" fmla="*/ 5 h 15"/>
                <a:gd name="T14" fmla="*/ 5 w 8"/>
                <a:gd name="T15" fmla="*/ 4 h 15"/>
                <a:gd name="T16" fmla="*/ 7 w 8"/>
                <a:gd name="T17" fmla="*/ 0 h 15"/>
                <a:gd name="T18" fmla="*/ 8 w 8"/>
                <a:gd name="T19" fmla="*/ 1 h 15"/>
                <a:gd name="T20" fmla="*/ 8 w 8"/>
                <a:gd name="T21" fmla="*/ 2 h 15"/>
                <a:gd name="T22" fmla="*/ 8 w 8"/>
                <a:gd name="T23" fmla="*/ 2 h 15"/>
                <a:gd name="T24" fmla="*/ 8 w 8"/>
                <a:gd name="T25" fmla="*/ 3 h 15"/>
                <a:gd name="T26" fmla="*/ 8 w 8"/>
                <a:gd name="T27" fmla="*/ 7 h 15"/>
                <a:gd name="T28" fmla="*/ 8 w 8"/>
                <a:gd name="T29" fmla="*/ 8 h 15"/>
                <a:gd name="T30" fmla="*/ 8 w 8"/>
                <a:gd name="T31" fmla="*/ 9 h 15"/>
                <a:gd name="T32" fmla="*/ 6 w 8"/>
                <a:gd name="T33" fmla="*/ 13 h 15"/>
                <a:gd name="T34" fmla="*/ 5 w 8"/>
                <a:gd name="T35" fmla="*/ 14 h 15"/>
                <a:gd name="T36" fmla="*/ 5 w 8"/>
                <a:gd name="T37" fmla="*/ 14 h 15"/>
                <a:gd name="T38" fmla="*/ 3 w 8"/>
                <a:gd name="T39" fmla="*/ 15 h 15"/>
                <a:gd name="T40" fmla="*/ 2 w 8"/>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 h="15">
                  <a:moveTo>
                    <a:pt x="2" y="15"/>
                  </a:moveTo>
                  <a:cubicBezTo>
                    <a:pt x="2" y="15"/>
                    <a:pt x="1" y="14"/>
                    <a:pt x="0" y="14"/>
                  </a:cubicBezTo>
                  <a:cubicBezTo>
                    <a:pt x="0" y="12"/>
                    <a:pt x="1" y="11"/>
                    <a:pt x="2" y="9"/>
                  </a:cubicBezTo>
                  <a:cubicBezTo>
                    <a:pt x="2" y="9"/>
                    <a:pt x="3" y="8"/>
                    <a:pt x="3" y="8"/>
                  </a:cubicBezTo>
                  <a:cubicBezTo>
                    <a:pt x="3" y="8"/>
                    <a:pt x="3" y="8"/>
                    <a:pt x="3" y="8"/>
                  </a:cubicBezTo>
                  <a:cubicBezTo>
                    <a:pt x="3" y="7"/>
                    <a:pt x="3" y="7"/>
                    <a:pt x="3" y="7"/>
                  </a:cubicBezTo>
                  <a:cubicBezTo>
                    <a:pt x="4" y="7"/>
                    <a:pt x="4" y="6"/>
                    <a:pt x="4" y="5"/>
                  </a:cubicBezTo>
                  <a:cubicBezTo>
                    <a:pt x="4" y="5"/>
                    <a:pt x="4" y="4"/>
                    <a:pt x="5" y="4"/>
                  </a:cubicBezTo>
                  <a:cubicBezTo>
                    <a:pt x="5" y="2"/>
                    <a:pt x="6" y="0"/>
                    <a:pt x="7" y="0"/>
                  </a:cubicBezTo>
                  <a:cubicBezTo>
                    <a:pt x="7" y="0"/>
                    <a:pt x="8" y="0"/>
                    <a:pt x="8" y="1"/>
                  </a:cubicBezTo>
                  <a:cubicBezTo>
                    <a:pt x="8" y="1"/>
                    <a:pt x="8" y="1"/>
                    <a:pt x="8" y="2"/>
                  </a:cubicBezTo>
                  <a:cubicBezTo>
                    <a:pt x="8" y="2"/>
                    <a:pt x="8" y="2"/>
                    <a:pt x="8" y="2"/>
                  </a:cubicBezTo>
                  <a:cubicBezTo>
                    <a:pt x="8" y="3"/>
                    <a:pt x="8" y="3"/>
                    <a:pt x="8" y="3"/>
                  </a:cubicBezTo>
                  <a:cubicBezTo>
                    <a:pt x="8" y="5"/>
                    <a:pt x="8" y="6"/>
                    <a:pt x="8" y="7"/>
                  </a:cubicBezTo>
                  <a:cubicBezTo>
                    <a:pt x="8" y="8"/>
                    <a:pt x="8" y="8"/>
                    <a:pt x="8" y="8"/>
                  </a:cubicBezTo>
                  <a:cubicBezTo>
                    <a:pt x="8" y="8"/>
                    <a:pt x="8" y="9"/>
                    <a:pt x="8" y="9"/>
                  </a:cubicBezTo>
                  <a:cubicBezTo>
                    <a:pt x="7" y="11"/>
                    <a:pt x="7" y="12"/>
                    <a:pt x="6" y="13"/>
                  </a:cubicBezTo>
                  <a:cubicBezTo>
                    <a:pt x="5" y="14"/>
                    <a:pt x="5" y="14"/>
                    <a:pt x="5" y="14"/>
                  </a:cubicBezTo>
                  <a:cubicBezTo>
                    <a:pt x="5" y="14"/>
                    <a:pt x="5" y="14"/>
                    <a:pt x="5" y="14"/>
                  </a:cubicBezTo>
                  <a:cubicBezTo>
                    <a:pt x="4" y="14"/>
                    <a:pt x="3" y="15"/>
                    <a:pt x="3" y="15"/>
                  </a:cubicBezTo>
                  <a:lnTo>
                    <a:pt x="2" y="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20000"/>
                </a:lnSpc>
                <a:spcBef>
                  <a:spcPts val="0"/>
                </a:spcBef>
                <a:spcAft>
                  <a:spcPts val="10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41" name="Freeform 139">
              <a:extLst>
                <a:ext uri="{FF2B5EF4-FFF2-40B4-BE49-F238E27FC236}">
                  <a16:creationId xmlns:a16="http://schemas.microsoft.com/office/drawing/2014/main" id="{FEB5C345-8555-4F14-9331-547B2C4B1A85}"/>
                </a:ext>
              </a:extLst>
            </p:cNvPr>
            <p:cNvSpPr>
              <a:spLocks/>
            </p:cNvSpPr>
            <p:nvPr userDrawn="1"/>
          </p:nvSpPr>
          <p:spPr bwMode="auto">
            <a:xfrm>
              <a:off x="6194063" y="2940552"/>
              <a:ext cx="75630" cy="143697"/>
            </a:xfrm>
            <a:custGeom>
              <a:avLst/>
              <a:gdLst>
                <a:gd name="T0" fmla="*/ 2 w 8"/>
                <a:gd name="T1" fmla="*/ 15 h 15"/>
                <a:gd name="T2" fmla="*/ 3 w 8"/>
                <a:gd name="T3" fmla="*/ 15 h 15"/>
                <a:gd name="T4" fmla="*/ 5 w 8"/>
                <a:gd name="T5" fmla="*/ 14 h 15"/>
                <a:gd name="T6" fmla="*/ 5 w 8"/>
                <a:gd name="T7" fmla="*/ 14 h 15"/>
                <a:gd name="T8" fmla="*/ 6 w 8"/>
                <a:gd name="T9" fmla="*/ 13 h 15"/>
                <a:gd name="T10" fmla="*/ 8 w 8"/>
                <a:gd name="T11" fmla="*/ 9 h 15"/>
                <a:gd name="T12" fmla="*/ 8 w 8"/>
                <a:gd name="T13" fmla="*/ 8 h 15"/>
                <a:gd name="T14" fmla="*/ 8 w 8"/>
                <a:gd name="T15" fmla="*/ 7 h 15"/>
                <a:gd name="T16" fmla="*/ 8 w 8"/>
                <a:gd name="T17" fmla="*/ 3 h 15"/>
                <a:gd name="T18" fmla="*/ 8 w 8"/>
                <a:gd name="T19" fmla="*/ 2 h 15"/>
                <a:gd name="T20" fmla="*/ 8 w 8"/>
                <a:gd name="T21" fmla="*/ 2 h 15"/>
                <a:gd name="T22" fmla="*/ 8 w 8"/>
                <a:gd name="T23" fmla="*/ 2 h 15"/>
                <a:gd name="T24" fmla="*/ 8 w 8"/>
                <a:gd name="T25" fmla="*/ 1 h 15"/>
                <a:gd name="T26" fmla="*/ 7 w 8"/>
                <a:gd name="T27" fmla="*/ 0 h 15"/>
                <a:gd name="T28" fmla="*/ 5 w 8"/>
                <a:gd name="T29" fmla="*/ 4 h 15"/>
                <a:gd name="T30" fmla="*/ 4 w 8"/>
                <a:gd name="T31" fmla="*/ 5 h 15"/>
                <a:gd name="T32" fmla="*/ 3 w 8"/>
                <a:gd name="T33" fmla="*/ 7 h 15"/>
                <a:gd name="T34" fmla="*/ 3 w 8"/>
                <a:gd name="T35" fmla="*/ 8 h 15"/>
                <a:gd name="T36" fmla="*/ 3 w 8"/>
                <a:gd name="T37" fmla="*/ 8 h 15"/>
                <a:gd name="T38" fmla="*/ 2 w 8"/>
                <a:gd name="T39" fmla="*/ 9 h 15"/>
                <a:gd name="T40" fmla="*/ 0 w 8"/>
                <a:gd name="T41" fmla="*/ 14 h 15"/>
                <a:gd name="T42" fmla="*/ 2 w 8"/>
                <a:gd name="T43"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 h="15">
                  <a:moveTo>
                    <a:pt x="2" y="15"/>
                  </a:moveTo>
                  <a:cubicBezTo>
                    <a:pt x="3" y="15"/>
                    <a:pt x="3" y="15"/>
                    <a:pt x="3" y="15"/>
                  </a:cubicBezTo>
                  <a:cubicBezTo>
                    <a:pt x="3" y="15"/>
                    <a:pt x="4" y="14"/>
                    <a:pt x="5" y="14"/>
                  </a:cubicBezTo>
                  <a:cubicBezTo>
                    <a:pt x="5" y="14"/>
                    <a:pt x="5" y="14"/>
                    <a:pt x="5" y="14"/>
                  </a:cubicBezTo>
                  <a:cubicBezTo>
                    <a:pt x="6" y="13"/>
                    <a:pt x="6" y="13"/>
                    <a:pt x="6" y="13"/>
                  </a:cubicBezTo>
                  <a:cubicBezTo>
                    <a:pt x="7" y="12"/>
                    <a:pt x="7" y="10"/>
                    <a:pt x="8" y="9"/>
                  </a:cubicBezTo>
                  <a:cubicBezTo>
                    <a:pt x="8" y="9"/>
                    <a:pt x="8" y="8"/>
                    <a:pt x="8" y="8"/>
                  </a:cubicBezTo>
                  <a:cubicBezTo>
                    <a:pt x="8" y="7"/>
                    <a:pt x="8" y="7"/>
                    <a:pt x="8" y="7"/>
                  </a:cubicBezTo>
                  <a:cubicBezTo>
                    <a:pt x="8" y="6"/>
                    <a:pt x="8" y="5"/>
                    <a:pt x="8" y="3"/>
                  </a:cubicBezTo>
                  <a:cubicBezTo>
                    <a:pt x="8" y="3"/>
                    <a:pt x="8" y="3"/>
                    <a:pt x="8" y="2"/>
                  </a:cubicBezTo>
                  <a:cubicBezTo>
                    <a:pt x="8" y="2"/>
                    <a:pt x="8" y="2"/>
                    <a:pt x="8" y="2"/>
                  </a:cubicBezTo>
                  <a:cubicBezTo>
                    <a:pt x="8" y="2"/>
                    <a:pt x="8" y="2"/>
                    <a:pt x="8" y="2"/>
                  </a:cubicBezTo>
                  <a:cubicBezTo>
                    <a:pt x="8" y="1"/>
                    <a:pt x="8" y="1"/>
                    <a:pt x="8" y="1"/>
                  </a:cubicBezTo>
                  <a:cubicBezTo>
                    <a:pt x="8" y="0"/>
                    <a:pt x="7" y="0"/>
                    <a:pt x="7" y="0"/>
                  </a:cubicBezTo>
                  <a:cubicBezTo>
                    <a:pt x="6" y="0"/>
                    <a:pt x="5" y="2"/>
                    <a:pt x="5" y="4"/>
                  </a:cubicBezTo>
                  <a:cubicBezTo>
                    <a:pt x="5" y="4"/>
                    <a:pt x="4" y="5"/>
                    <a:pt x="4" y="5"/>
                  </a:cubicBezTo>
                  <a:cubicBezTo>
                    <a:pt x="4" y="6"/>
                    <a:pt x="4" y="7"/>
                    <a:pt x="3" y="7"/>
                  </a:cubicBezTo>
                  <a:cubicBezTo>
                    <a:pt x="3" y="8"/>
                    <a:pt x="3" y="8"/>
                    <a:pt x="3" y="8"/>
                  </a:cubicBezTo>
                  <a:cubicBezTo>
                    <a:pt x="3" y="8"/>
                    <a:pt x="3" y="8"/>
                    <a:pt x="3" y="8"/>
                  </a:cubicBezTo>
                  <a:cubicBezTo>
                    <a:pt x="3" y="8"/>
                    <a:pt x="2" y="9"/>
                    <a:pt x="2" y="9"/>
                  </a:cubicBezTo>
                  <a:cubicBezTo>
                    <a:pt x="1" y="11"/>
                    <a:pt x="0" y="12"/>
                    <a:pt x="0" y="14"/>
                  </a:cubicBezTo>
                  <a:cubicBezTo>
                    <a:pt x="1" y="14"/>
                    <a:pt x="2" y="15"/>
                    <a:pt x="2" y="15"/>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20000"/>
                </a:lnSpc>
                <a:spcBef>
                  <a:spcPts val="0"/>
                </a:spcBef>
                <a:spcAft>
                  <a:spcPts val="10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42" name="Freeform 140">
              <a:extLst>
                <a:ext uri="{FF2B5EF4-FFF2-40B4-BE49-F238E27FC236}">
                  <a16:creationId xmlns:a16="http://schemas.microsoft.com/office/drawing/2014/main" id="{9F7452C2-8B11-4BFA-AC07-2FCA0BC4A471}"/>
                </a:ext>
              </a:extLst>
            </p:cNvPr>
            <p:cNvSpPr>
              <a:spLocks/>
            </p:cNvSpPr>
            <p:nvPr userDrawn="1"/>
          </p:nvSpPr>
          <p:spPr bwMode="auto">
            <a:xfrm>
              <a:off x="6118433" y="2993493"/>
              <a:ext cx="52941" cy="68067"/>
            </a:xfrm>
            <a:custGeom>
              <a:avLst/>
              <a:gdLst>
                <a:gd name="T0" fmla="*/ 3 w 6"/>
                <a:gd name="T1" fmla="*/ 7 h 7"/>
                <a:gd name="T2" fmla="*/ 1 w 6"/>
                <a:gd name="T3" fmla="*/ 6 h 7"/>
                <a:gd name="T4" fmla="*/ 5 w 6"/>
                <a:gd name="T5" fmla="*/ 0 h 7"/>
                <a:gd name="T6" fmla="*/ 6 w 6"/>
                <a:gd name="T7" fmla="*/ 1 h 7"/>
                <a:gd name="T8" fmla="*/ 5 w 6"/>
                <a:gd name="T9" fmla="*/ 5 h 7"/>
                <a:gd name="T10" fmla="*/ 3 w 6"/>
                <a:gd name="T11" fmla="*/ 7 h 7"/>
              </a:gdLst>
              <a:ahLst/>
              <a:cxnLst>
                <a:cxn ang="0">
                  <a:pos x="T0" y="T1"/>
                </a:cxn>
                <a:cxn ang="0">
                  <a:pos x="T2" y="T3"/>
                </a:cxn>
                <a:cxn ang="0">
                  <a:pos x="T4" y="T5"/>
                </a:cxn>
                <a:cxn ang="0">
                  <a:pos x="T6" y="T7"/>
                </a:cxn>
                <a:cxn ang="0">
                  <a:pos x="T8" y="T9"/>
                </a:cxn>
                <a:cxn ang="0">
                  <a:pos x="T10" y="T11"/>
                </a:cxn>
              </a:cxnLst>
              <a:rect l="0" t="0" r="r" b="b"/>
              <a:pathLst>
                <a:path w="6" h="7">
                  <a:moveTo>
                    <a:pt x="3" y="7"/>
                  </a:moveTo>
                  <a:cubicBezTo>
                    <a:pt x="3" y="7"/>
                    <a:pt x="2" y="6"/>
                    <a:pt x="1" y="6"/>
                  </a:cubicBezTo>
                  <a:cubicBezTo>
                    <a:pt x="0" y="3"/>
                    <a:pt x="4" y="0"/>
                    <a:pt x="5" y="0"/>
                  </a:cubicBezTo>
                  <a:cubicBezTo>
                    <a:pt x="5" y="0"/>
                    <a:pt x="6" y="1"/>
                    <a:pt x="6" y="1"/>
                  </a:cubicBezTo>
                  <a:cubicBezTo>
                    <a:pt x="6" y="2"/>
                    <a:pt x="6" y="4"/>
                    <a:pt x="5" y="5"/>
                  </a:cubicBezTo>
                  <a:cubicBezTo>
                    <a:pt x="4" y="6"/>
                    <a:pt x="3" y="7"/>
                    <a:pt x="3" y="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20000"/>
                </a:lnSpc>
                <a:spcBef>
                  <a:spcPts val="0"/>
                </a:spcBef>
                <a:spcAft>
                  <a:spcPts val="10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43" name="Freeform 141">
              <a:extLst>
                <a:ext uri="{FF2B5EF4-FFF2-40B4-BE49-F238E27FC236}">
                  <a16:creationId xmlns:a16="http://schemas.microsoft.com/office/drawing/2014/main" id="{3F856165-DA70-4184-B7B4-1DA197AB4E93}"/>
                </a:ext>
              </a:extLst>
            </p:cNvPr>
            <p:cNvSpPr>
              <a:spLocks/>
            </p:cNvSpPr>
            <p:nvPr userDrawn="1"/>
          </p:nvSpPr>
          <p:spPr bwMode="auto">
            <a:xfrm>
              <a:off x="6118433" y="2993493"/>
              <a:ext cx="52941" cy="68067"/>
            </a:xfrm>
            <a:custGeom>
              <a:avLst/>
              <a:gdLst>
                <a:gd name="T0" fmla="*/ 3 w 6"/>
                <a:gd name="T1" fmla="*/ 7 h 7"/>
                <a:gd name="T2" fmla="*/ 3 w 6"/>
                <a:gd name="T3" fmla="*/ 7 h 7"/>
                <a:gd name="T4" fmla="*/ 5 w 6"/>
                <a:gd name="T5" fmla="*/ 5 h 7"/>
                <a:gd name="T6" fmla="*/ 6 w 6"/>
                <a:gd name="T7" fmla="*/ 1 h 7"/>
                <a:gd name="T8" fmla="*/ 5 w 6"/>
                <a:gd name="T9" fmla="*/ 0 h 7"/>
                <a:gd name="T10" fmla="*/ 1 w 6"/>
                <a:gd name="T11" fmla="*/ 6 h 7"/>
                <a:gd name="T12" fmla="*/ 3 w 6"/>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6" h="7">
                  <a:moveTo>
                    <a:pt x="3" y="7"/>
                  </a:moveTo>
                  <a:cubicBezTo>
                    <a:pt x="3" y="7"/>
                    <a:pt x="3" y="7"/>
                    <a:pt x="3" y="7"/>
                  </a:cubicBezTo>
                  <a:cubicBezTo>
                    <a:pt x="3" y="7"/>
                    <a:pt x="4" y="6"/>
                    <a:pt x="5" y="5"/>
                  </a:cubicBezTo>
                  <a:cubicBezTo>
                    <a:pt x="6" y="4"/>
                    <a:pt x="6" y="2"/>
                    <a:pt x="6" y="1"/>
                  </a:cubicBezTo>
                  <a:cubicBezTo>
                    <a:pt x="6" y="1"/>
                    <a:pt x="5" y="0"/>
                    <a:pt x="5" y="0"/>
                  </a:cubicBezTo>
                  <a:cubicBezTo>
                    <a:pt x="4" y="0"/>
                    <a:pt x="0" y="3"/>
                    <a:pt x="1" y="6"/>
                  </a:cubicBezTo>
                  <a:cubicBezTo>
                    <a:pt x="2" y="6"/>
                    <a:pt x="3" y="7"/>
                    <a:pt x="3" y="7"/>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20000"/>
                </a:lnSpc>
                <a:spcBef>
                  <a:spcPts val="0"/>
                </a:spcBef>
                <a:spcAft>
                  <a:spcPts val="10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grpSp>
      <p:sp>
        <p:nvSpPr>
          <p:cNvPr id="53" name="Freeform 608">
            <a:extLst>
              <a:ext uri="{FF2B5EF4-FFF2-40B4-BE49-F238E27FC236}">
                <a16:creationId xmlns:a16="http://schemas.microsoft.com/office/drawing/2014/main" id="{E8592A08-0625-4690-B49C-649721B1E9A5}"/>
              </a:ext>
            </a:extLst>
          </p:cNvPr>
          <p:cNvSpPr>
            <a:spLocks/>
          </p:cNvSpPr>
          <p:nvPr/>
        </p:nvSpPr>
        <p:spPr bwMode="auto">
          <a:xfrm>
            <a:off x="8967788" y="3387725"/>
            <a:ext cx="6350" cy="11113"/>
          </a:xfrm>
          <a:custGeom>
            <a:avLst/>
            <a:gdLst>
              <a:gd name="T0" fmla="*/ 3 w 5"/>
              <a:gd name="T1" fmla="*/ 7 h 7"/>
              <a:gd name="T2" fmla="*/ 0 w 5"/>
              <a:gd name="T3" fmla="*/ 5 h 7"/>
              <a:gd name="T4" fmla="*/ 2 w 5"/>
              <a:gd name="T5" fmla="*/ 0 h 7"/>
              <a:gd name="T6" fmla="*/ 5 w 5"/>
              <a:gd name="T7" fmla="*/ 2 h 7"/>
              <a:gd name="T8" fmla="*/ 3 w 5"/>
              <a:gd name="T9" fmla="*/ 7 h 7"/>
            </a:gdLst>
            <a:ahLst/>
            <a:cxnLst>
              <a:cxn ang="0">
                <a:pos x="T0" y="T1"/>
              </a:cxn>
              <a:cxn ang="0">
                <a:pos x="T2" y="T3"/>
              </a:cxn>
              <a:cxn ang="0">
                <a:pos x="T4" y="T5"/>
              </a:cxn>
              <a:cxn ang="0">
                <a:pos x="T6" y="T7"/>
              </a:cxn>
              <a:cxn ang="0">
                <a:pos x="T8" y="T9"/>
              </a:cxn>
            </a:cxnLst>
            <a:rect l="0" t="0" r="r" b="b"/>
            <a:pathLst>
              <a:path w="5" h="7">
                <a:moveTo>
                  <a:pt x="3" y="7"/>
                </a:moveTo>
                <a:cubicBezTo>
                  <a:pt x="2" y="6"/>
                  <a:pt x="0" y="5"/>
                  <a:pt x="0" y="5"/>
                </a:cubicBezTo>
                <a:cubicBezTo>
                  <a:pt x="1" y="3"/>
                  <a:pt x="1" y="2"/>
                  <a:pt x="2" y="0"/>
                </a:cubicBezTo>
                <a:cubicBezTo>
                  <a:pt x="3" y="1"/>
                  <a:pt x="5" y="2"/>
                  <a:pt x="5" y="2"/>
                </a:cubicBezTo>
                <a:cubicBezTo>
                  <a:pt x="4" y="4"/>
                  <a:pt x="4" y="5"/>
                  <a:pt x="3" y="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54" name="Freeform 609">
            <a:extLst>
              <a:ext uri="{FF2B5EF4-FFF2-40B4-BE49-F238E27FC236}">
                <a16:creationId xmlns:a16="http://schemas.microsoft.com/office/drawing/2014/main" id="{233AD4EA-8A78-478D-86F1-06604B696120}"/>
              </a:ext>
            </a:extLst>
          </p:cNvPr>
          <p:cNvSpPr>
            <a:spLocks/>
          </p:cNvSpPr>
          <p:nvPr/>
        </p:nvSpPr>
        <p:spPr bwMode="auto">
          <a:xfrm>
            <a:off x="4292601" y="3773488"/>
            <a:ext cx="11113" cy="19050"/>
          </a:xfrm>
          <a:custGeom>
            <a:avLst/>
            <a:gdLst>
              <a:gd name="T0" fmla="*/ 7 w 8"/>
              <a:gd name="T1" fmla="*/ 0 h 13"/>
              <a:gd name="T2" fmla="*/ 8 w 8"/>
              <a:gd name="T3" fmla="*/ 2 h 13"/>
              <a:gd name="T4" fmla="*/ 5 w 8"/>
              <a:gd name="T5" fmla="*/ 13 h 13"/>
              <a:gd name="T6" fmla="*/ 0 w 8"/>
              <a:gd name="T7" fmla="*/ 10 h 13"/>
              <a:gd name="T8" fmla="*/ 7 w 8"/>
              <a:gd name="T9" fmla="*/ 1 h 13"/>
              <a:gd name="T10" fmla="*/ 7 w 8"/>
              <a:gd name="T11" fmla="*/ 0 h 13"/>
            </a:gdLst>
            <a:ahLst/>
            <a:cxnLst>
              <a:cxn ang="0">
                <a:pos x="T0" y="T1"/>
              </a:cxn>
              <a:cxn ang="0">
                <a:pos x="T2" y="T3"/>
              </a:cxn>
              <a:cxn ang="0">
                <a:pos x="T4" y="T5"/>
              </a:cxn>
              <a:cxn ang="0">
                <a:pos x="T6" y="T7"/>
              </a:cxn>
              <a:cxn ang="0">
                <a:pos x="T8" y="T9"/>
              </a:cxn>
              <a:cxn ang="0">
                <a:pos x="T10" y="T11"/>
              </a:cxn>
            </a:cxnLst>
            <a:rect l="0" t="0" r="r" b="b"/>
            <a:pathLst>
              <a:path w="8" h="13">
                <a:moveTo>
                  <a:pt x="7" y="0"/>
                </a:moveTo>
                <a:cubicBezTo>
                  <a:pt x="7" y="1"/>
                  <a:pt x="8" y="1"/>
                  <a:pt x="8" y="2"/>
                </a:cubicBezTo>
                <a:cubicBezTo>
                  <a:pt x="7" y="5"/>
                  <a:pt x="6" y="9"/>
                  <a:pt x="5" y="13"/>
                </a:cubicBezTo>
                <a:cubicBezTo>
                  <a:pt x="3" y="12"/>
                  <a:pt x="2" y="11"/>
                  <a:pt x="0" y="10"/>
                </a:cubicBezTo>
                <a:cubicBezTo>
                  <a:pt x="3" y="7"/>
                  <a:pt x="5" y="4"/>
                  <a:pt x="7" y="1"/>
                </a:cubicBezTo>
                <a:cubicBezTo>
                  <a:pt x="7" y="1"/>
                  <a:pt x="7" y="0"/>
                  <a:pt x="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55" name="Freeform 610">
            <a:extLst>
              <a:ext uri="{FF2B5EF4-FFF2-40B4-BE49-F238E27FC236}">
                <a16:creationId xmlns:a16="http://schemas.microsoft.com/office/drawing/2014/main" id="{CE22AB76-C1ED-49FD-85D8-D74AAF5135E3}"/>
              </a:ext>
            </a:extLst>
          </p:cNvPr>
          <p:cNvSpPr>
            <a:spLocks/>
          </p:cNvSpPr>
          <p:nvPr/>
        </p:nvSpPr>
        <p:spPr bwMode="auto">
          <a:xfrm>
            <a:off x="8983663" y="3309938"/>
            <a:ext cx="4763" cy="4763"/>
          </a:xfrm>
          <a:custGeom>
            <a:avLst/>
            <a:gdLst>
              <a:gd name="T0" fmla="*/ 1 w 4"/>
              <a:gd name="T1" fmla="*/ 3 h 3"/>
              <a:gd name="T2" fmla="*/ 0 w 4"/>
              <a:gd name="T3" fmla="*/ 1 h 3"/>
              <a:gd name="T4" fmla="*/ 2 w 4"/>
              <a:gd name="T5" fmla="*/ 0 h 3"/>
              <a:gd name="T6" fmla="*/ 4 w 4"/>
              <a:gd name="T7" fmla="*/ 2 h 3"/>
              <a:gd name="T8" fmla="*/ 1 w 4"/>
              <a:gd name="T9" fmla="*/ 3 h 3"/>
            </a:gdLst>
            <a:ahLst/>
            <a:cxnLst>
              <a:cxn ang="0">
                <a:pos x="T0" y="T1"/>
              </a:cxn>
              <a:cxn ang="0">
                <a:pos x="T2" y="T3"/>
              </a:cxn>
              <a:cxn ang="0">
                <a:pos x="T4" y="T5"/>
              </a:cxn>
              <a:cxn ang="0">
                <a:pos x="T6" y="T7"/>
              </a:cxn>
              <a:cxn ang="0">
                <a:pos x="T8" y="T9"/>
              </a:cxn>
            </a:cxnLst>
            <a:rect l="0" t="0" r="r" b="b"/>
            <a:pathLst>
              <a:path w="4" h="3">
                <a:moveTo>
                  <a:pt x="1" y="3"/>
                </a:moveTo>
                <a:cubicBezTo>
                  <a:pt x="1" y="2"/>
                  <a:pt x="1" y="1"/>
                  <a:pt x="0" y="1"/>
                </a:cubicBezTo>
                <a:cubicBezTo>
                  <a:pt x="0" y="0"/>
                  <a:pt x="1" y="0"/>
                  <a:pt x="2" y="0"/>
                </a:cubicBezTo>
                <a:cubicBezTo>
                  <a:pt x="3" y="0"/>
                  <a:pt x="3" y="1"/>
                  <a:pt x="4" y="2"/>
                </a:cubicBezTo>
                <a:cubicBezTo>
                  <a:pt x="3" y="2"/>
                  <a:pt x="2" y="3"/>
                  <a:pt x="1" y="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56" name="Freeform 611">
            <a:extLst>
              <a:ext uri="{FF2B5EF4-FFF2-40B4-BE49-F238E27FC236}">
                <a16:creationId xmlns:a16="http://schemas.microsoft.com/office/drawing/2014/main" id="{400F628A-D5B0-4B9B-A81D-90C0AB1B3F66}"/>
              </a:ext>
            </a:extLst>
          </p:cNvPr>
          <p:cNvSpPr>
            <a:spLocks/>
          </p:cNvSpPr>
          <p:nvPr/>
        </p:nvSpPr>
        <p:spPr bwMode="auto">
          <a:xfrm>
            <a:off x="3140076" y="3267075"/>
            <a:ext cx="19050" cy="17463"/>
          </a:xfrm>
          <a:custGeom>
            <a:avLst/>
            <a:gdLst>
              <a:gd name="T0" fmla="*/ 13 w 13"/>
              <a:gd name="T1" fmla="*/ 0 h 12"/>
              <a:gd name="T2" fmla="*/ 0 w 13"/>
              <a:gd name="T3" fmla="*/ 11 h 12"/>
              <a:gd name="T4" fmla="*/ 13 w 13"/>
              <a:gd name="T5" fmla="*/ 0 h 12"/>
            </a:gdLst>
            <a:ahLst/>
            <a:cxnLst>
              <a:cxn ang="0">
                <a:pos x="T0" y="T1"/>
              </a:cxn>
              <a:cxn ang="0">
                <a:pos x="T2" y="T3"/>
              </a:cxn>
              <a:cxn ang="0">
                <a:pos x="T4" y="T5"/>
              </a:cxn>
            </a:cxnLst>
            <a:rect l="0" t="0" r="r" b="b"/>
            <a:pathLst>
              <a:path w="13" h="12">
                <a:moveTo>
                  <a:pt x="13" y="0"/>
                </a:moveTo>
                <a:cubicBezTo>
                  <a:pt x="11" y="10"/>
                  <a:pt x="8" y="12"/>
                  <a:pt x="0" y="11"/>
                </a:cubicBezTo>
                <a:cubicBezTo>
                  <a:pt x="4" y="7"/>
                  <a:pt x="7" y="5"/>
                  <a:pt x="13"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57" name="Freeform 612">
            <a:extLst>
              <a:ext uri="{FF2B5EF4-FFF2-40B4-BE49-F238E27FC236}">
                <a16:creationId xmlns:a16="http://schemas.microsoft.com/office/drawing/2014/main" id="{D6ED4CAF-80FB-46B5-97DC-5E551A4363EE}"/>
              </a:ext>
            </a:extLst>
          </p:cNvPr>
          <p:cNvSpPr>
            <a:spLocks/>
          </p:cNvSpPr>
          <p:nvPr/>
        </p:nvSpPr>
        <p:spPr bwMode="auto">
          <a:xfrm>
            <a:off x="4062413" y="3241675"/>
            <a:ext cx="7938" cy="14288"/>
          </a:xfrm>
          <a:custGeom>
            <a:avLst/>
            <a:gdLst>
              <a:gd name="T0" fmla="*/ 2 w 6"/>
              <a:gd name="T1" fmla="*/ 0 h 10"/>
              <a:gd name="T2" fmla="*/ 6 w 6"/>
              <a:gd name="T3" fmla="*/ 9 h 10"/>
              <a:gd name="T4" fmla="*/ 4 w 6"/>
              <a:gd name="T5" fmla="*/ 10 h 10"/>
              <a:gd name="T6" fmla="*/ 0 w 6"/>
              <a:gd name="T7" fmla="*/ 1 h 10"/>
              <a:gd name="T8" fmla="*/ 2 w 6"/>
              <a:gd name="T9" fmla="*/ 0 h 10"/>
            </a:gdLst>
            <a:ahLst/>
            <a:cxnLst>
              <a:cxn ang="0">
                <a:pos x="T0" y="T1"/>
              </a:cxn>
              <a:cxn ang="0">
                <a:pos x="T2" y="T3"/>
              </a:cxn>
              <a:cxn ang="0">
                <a:pos x="T4" y="T5"/>
              </a:cxn>
              <a:cxn ang="0">
                <a:pos x="T6" y="T7"/>
              </a:cxn>
              <a:cxn ang="0">
                <a:pos x="T8" y="T9"/>
              </a:cxn>
            </a:cxnLst>
            <a:rect l="0" t="0" r="r" b="b"/>
            <a:pathLst>
              <a:path w="6" h="10">
                <a:moveTo>
                  <a:pt x="2" y="0"/>
                </a:moveTo>
                <a:cubicBezTo>
                  <a:pt x="4" y="3"/>
                  <a:pt x="5" y="6"/>
                  <a:pt x="6" y="9"/>
                </a:cubicBezTo>
                <a:cubicBezTo>
                  <a:pt x="6" y="9"/>
                  <a:pt x="5" y="9"/>
                  <a:pt x="4" y="10"/>
                </a:cubicBezTo>
                <a:cubicBezTo>
                  <a:pt x="3" y="7"/>
                  <a:pt x="1" y="4"/>
                  <a:pt x="0" y="1"/>
                </a:cubicBezTo>
                <a:cubicBezTo>
                  <a:pt x="1" y="1"/>
                  <a:pt x="2" y="0"/>
                  <a:pt x="2"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58" name="Freeform 613">
            <a:extLst>
              <a:ext uri="{FF2B5EF4-FFF2-40B4-BE49-F238E27FC236}">
                <a16:creationId xmlns:a16="http://schemas.microsoft.com/office/drawing/2014/main" id="{79B3AF7E-5C9E-4934-B5A2-A7B0C2F5F2B6}"/>
              </a:ext>
            </a:extLst>
          </p:cNvPr>
          <p:cNvSpPr>
            <a:spLocks/>
          </p:cNvSpPr>
          <p:nvPr/>
        </p:nvSpPr>
        <p:spPr bwMode="auto">
          <a:xfrm>
            <a:off x="6453188" y="3711575"/>
            <a:ext cx="12700" cy="19050"/>
          </a:xfrm>
          <a:custGeom>
            <a:avLst/>
            <a:gdLst>
              <a:gd name="T0" fmla="*/ 5 w 8"/>
              <a:gd name="T1" fmla="*/ 13 h 13"/>
              <a:gd name="T2" fmla="*/ 1 w 8"/>
              <a:gd name="T3" fmla="*/ 5 h 13"/>
              <a:gd name="T4" fmla="*/ 3 w 8"/>
              <a:gd name="T5" fmla="*/ 0 h 13"/>
              <a:gd name="T6" fmla="*/ 8 w 8"/>
              <a:gd name="T7" fmla="*/ 4 h 13"/>
              <a:gd name="T8" fmla="*/ 5 w 8"/>
              <a:gd name="T9" fmla="*/ 13 h 13"/>
            </a:gdLst>
            <a:ahLst/>
            <a:cxnLst>
              <a:cxn ang="0">
                <a:pos x="T0" y="T1"/>
              </a:cxn>
              <a:cxn ang="0">
                <a:pos x="T2" y="T3"/>
              </a:cxn>
              <a:cxn ang="0">
                <a:pos x="T4" y="T5"/>
              </a:cxn>
              <a:cxn ang="0">
                <a:pos x="T6" y="T7"/>
              </a:cxn>
              <a:cxn ang="0">
                <a:pos x="T8" y="T9"/>
              </a:cxn>
            </a:cxnLst>
            <a:rect l="0" t="0" r="r" b="b"/>
            <a:pathLst>
              <a:path w="8" h="13">
                <a:moveTo>
                  <a:pt x="5" y="13"/>
                </a:moveTo>
                <a:cubicBezTo>
                  <a:pt x="2" y="9"/>
                  <a:pt x="1" y="7"/>
                  <a:pt x="1" y="5"/>
                </a:cubicBezTo>
                <a:cubicBezTo>
                  <a:pt x="0" y="4"/>
                  <a:pt x="2" y="2"/>
                  <a:pt x="3" y="0"/>
                </a:cubicBezTo>
                <a:cubicBezTo>
                  <a:pt x="5" y="2"/>
                  <a:pt x="7" y="3"/>
                  <a:pt x="8" y="4"/>
                </a:cubicBezTo>
                <a:cubicBezTo>
                  <a:pt x="8" y="6"/>
                  <a:pt x="7" y="8"/>
                  <a:pt x="5" y="1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59" name="Freeform 614">
            <a:extLst>
              <a:ext uri="{FF2B5EF4-FFF2-40B4-BE49-F238E27FC236}">
                <a16:creationId xmlns:a16="http://schemas.microsoft.com/office/drawing/2014/main" id="{24605040-C053-40F8-A378-D309F790B92B}"/>
              </a:ext>
            </a:extLst>
          </p:cNvPr>
          <p:cNvSpPr>
            <a:spLocks/>
          </p:cNvSpPr>
          <p:nvPr/>
        </p:nvSpPr>
        <p:spPr bwMode="auto">
          <a:xfrm>
            <a:off x="6361113" y="3698875"/>
            <a:ext cx="12700" cy="19050"/>
          </a:xfrm>
          <a:custGeom>
            <a:avLst/>
            <a:gdLst>
              <a:gd name="T0" fmla="*/ 5 w 9"/>
              <a:gd name="T1" fmla="*/ 13 h 13"/>
              <a:gd name="T2" fmla="*/ 1 w 9"/>
              <a:gd name="T3" fmla="*/ 6 h 13"/>
              <a:gd name="T4" fmla="*/ 4 w 9"/>
              <a:gd name="T5" fmla="*/ 0 h 13"/>
              <a:gd name="T6" fmla="*/ 8 w 9"/>
              <a:gd name="T7" fmla="*/ 4 h 13"/>
              <a:gd name="T8" fmla="*/ 5 w 9"/>
              <a:gd name="T9" fmla="*/ 13 h 13"/>
            </a:gdLst>
            <a:ahLst/>
            <a:cxnLst>
              <a:cxn ang="0">
                <a:pos x="T0" y="T1"/>
              </a:cxn>
              <a:cxn ang="0">
                <a:pos x="T2" y="T3"/>
              </a:cxn>
              <a:cxn ang="0">
                <a:pos x="T4" y="T5"/>
              </a:cxn>
              <a:cxn ang="0">
                <a:pos x="T6" y="T7"/>
              </a:cxn>
              <a:cxn ang="0">
                <a:pos x="T8" y="T9"/>
              </a:cxn>
            </a:cxnLst>
            <a:rect l="0" t="0" r="r" b="b"/>
            <a:pathLst>
              <a:path w="9" h="13">
                <a:moveTo>
                  <a:pt x="5" y="13"/>
                </a:moveTo>
                <a:cubicBezTo>
                  <a:pt x="3" y="9"/>
                  <a:pt x="1" y="7"/>
                  <a:pt x="1" y="6"/>
                </a:cubicBezTo>
                <a:cubicBezTo>
                  <a:pt x="0" y="4"/>
                  <a:pt x="2" y="2"/>
                  <a:pt x="4" y="0"/>
                </a:cubicBezTo>
                <a:cubicBezTo>
                  <a:pt x="5" y="1"/>
                  <a:pt x="8" y="2"/>
                  <a:pt x="8" y="4"/>
                </a:cubicBezTo>
                <a:cubicBezTo>
                  <a:pt x="9" y="6"/>
                  <a:pt x="7" y="8"/>
                  <a:pt x="5" y="1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60" name="Freeform 615">
            <a:extLst>
              <a:ext uri="{FF2B5EF4-FFF2-40B4-BE49-F238E27FC236}">
                <a16:creationId xmlns:a16="http://schemas.microsoft.com/office/drawing/2014/main" id="{1DF03CCA-CECB-4A23-9D0E-70E6BF8A90ED}"/>
              </a:ext>
            </a:extLst>
          </p:cNvPr>
          <p:cNvSpPr>
            <a:spLocks/>
          </p:cNvSpPr>
          <p:nvPr/>
        </p:nvSpPr>
        <p:spPr bwMode="auto">
          <a:xfrm>
            <a:off x="4341813" y="3746500"/>
            <a:ext cx="17463" cy="17463"/>
          </a:xfrm>
          <a:custGeom>
            <a:avLst/>
            <a:gdLst>
              <a:gd name="T0" fmla="*/ 9 w 13"/>
              <a:gd name="T1" fmla="*/ 12 h 12"/>
              <a:gd name="T2" fmla="*/ 0 w 13"/>
              <a:gd name="T3" fmla="*/ 1 h 12"/>
              <a:gd name="T4" fmla="*/ 8 w 13"/>
              <a:gd name="T5" fmla="*/ 12 h 12"/>
              <a:gd name="T6" fmla="*/ 9 w 13"/>
              <a:gd name="T7" fmla="*/ 12 h 12"/>
            </a:gdLst>
            <a:ahLst/>
            <a:cxnLst>
              <a:cxn ang="0">
                <a:pos x="T0" y="T1"/>
              </a:cxn>
              <a:cxn ang="0">
                <a:pos x="T2" y="T3"/>
              </a:cxn>
              <a:cxn ang="0">
                <a:pos x="T4" y="T5"/>
              </a:cxn>
              <a:cxn ang="0">
                <a:pos x="T6" y="T7"/>
              </a:cxn>
            </a:cxnLst>
            <a:rect l="0" t="0" r="r" b="b"/>
            <a:pathLst>
              <a:path w="13" h="12">
                <a:moveTo>
                  <a:pt x="9" y="12"/>
                </a:moveTo>
                <a:cubicBezTo>
                  <a:pt x="6" y="9"/>
                  <a:pt x="4" y="5"/>
                  <a:pt x="0" y="1"/>
                </a:cubicBezTo>
                <a:cubicBezTo>
                  <a:pt x="13" y="0"/>
                  <a:pt x="5" y="9"/>
                  <a:pt x="8" y="12"/>
                </a:cubicBezTo>
                <a:cubicBezTo>
                  <a:pt x="9" y="12"/>
                  <a:pt x="9" y="12"/>
                  <a:pt x="9" y="1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61" name="Freeform 616">
            <a:extLst>
              <a:ext uri="{FF2B5EF4-FFF2-40B4-BE49-F238E27FC236}">
                <a16:creationId xmlns:a16="http://schemas.microsoft.com/office/drawing/2014/main" id="{262878C8-B267-4C7B-A0A6-285B11844971}"/>
              </a:ext>
            </a:extLst>
          </p:cNvPr>
          <p:cNvSpPr>
            <a:spLocks/>
          </p:cNvSpPr>
          <p:nvPr/>
        </p:nvSpPr>
        <p:spPr bwMode="auto">
          <a:xfrm>
            <a:off x="5246688" y="3829050"/>
            <a:ext cx="485775" cy="47625"/>
          </a:xfrm>
          <a:custGeom>
            <a:avLst/>
            <a:gdLst>
              <a:gd name="T0" fmla="*/ 94 w 337"/>
              <a:gd name="T1" fmla="*/ 25 h 33"/>
              <a:gd name="T2" fmla="*/ 53 w 337"/>
              <a:gd name="T3" fmla="*/ 22 h 33"/>
              <a:gd name="T4" fmla="*/ 0 w 337"/>
              <a:gd name="T5" fmla="*/ 16 h 33"/>
              <a:gd name="T6" fmla="*/ 161 w 337"/>
              <a:gd name="T7" fmla="*/ 15 h 33"/>
              <a:gd name="T8" fmla="*/ 22 w 337"/>
              <a:gd name="T9" fmla="*/ 9 h 33"/>
              <a:gd name="T10" fmla="*/ 22 w 337"/>
              <a:gd name="T11" fmla="*/ 4 h 33"/>
              <a:gd name="T12" fmla="*/ 48 w 337"/>
              <a:gd name="T13" fmla="*/ 2 h 33"/>
              <a:gd name="T14" fmla="*/ 113 w 337"/>
              <a:gd name="T15" fmla="*/ 6 h 33"/>
              <a:gd name="T16" fmla="*/ 287 w 337"/>
              <a:gd name="T17" fmla="*/ 13 h 33"/>
              <a:gd name="T18" fmla="*/ 336 w 337"/>
              <a:gd name="T19" fmla="*/ 13 h 33"/>
              <a:gd name="T20" fmla="*/ 325 w 337"/>
              <a:gd name="T21" fmla="*/ 22 h 33"/>
              <a:gd name="T22" fmla="*/ 250 w 337"/>
              <a:gd name="T23" fmla="*/ 18 h 33"/>
              <a:gd name="T24" fmla="*/ 181 w 337"/>
              <a:gd name="T25" fmla="*/ 20 h 33"/>
              <a:gd name="T26" fmla="*/ 334 w 337"/>
              <a:gd name="T27" fmla="*/ 26 h 33"/>
              <a:gd name="T28" fmla="*/ 335 w 337"/>
              <a:gd name="T29" fmla="*/ 31 h 33"/>
              <a:gd name="T30" fmla="*/ 324 w 337"/>
              <a:gd name="T31" fmla="*/ 33 h 33"/>
              <a:gd name="T32" fmla="*/ 173 w 337"/>
              <a:gd name="T33" fmla="*/ 27 h 33"/>
              <a:gd name="T34" fmla="*/ 94 w 337"/>
              <a:gd name="T35" fmla="*/ 25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37" h="33">
                <a:moveTo>
                  <a:pt x="94" y="25"/>
                </a:moveTo>
                <a:cubicBezTo>
                  <a:pt x="80" y="24"/>
                  <a:pt x="67" y="23"/>
                  <a:pt x="53" y="22"/>
                </a:cubicBezTo>
                <a:cubicBezTo>
                  <a:pt x="35" y="20"/>
                  <a:pt x="18" y="20"/>
                  <a:pt x="0" y="16"/>
                </a:cubicBezTo>
                <a:cubicBezTo>
                  <a:pt x="54" y="12"/>
                  <a:pt x="108" y="20"/>
                  <a:pt x="161" y="15"/>
                </a:cubicBezTo>
                <a:cubicBezTo>
                  <a:pt x="115" y="13"/>
                  <a:pt x="69" y="11"/>
                  <a:pt x="22" y="9"/>
                </a:cubicBezTo>
                <a:cubicBezTo>
                  <a:pt x="22" y="8"/>
                  <a:pt x="22" y="6"/>
                  <a:pt x="22" y="4"/>
                </a:cubicBezTo>
                <a:cubicBezTo>
                  <a:pt x="30" y="0"/>
                  <a:pt x="40" y="2"/>
                  <a:pt x="48" y="2"/>
                </a:cubicBezTo>
                <a:cubicBezTo>
                  <a:pt x="70" y="3"/>
                  <a:pt x="91" y="5"/>
                  <a:pt x="113" y="6"/>
                </a:cubicBezTo>
                <a:cubicBezTo>
                  <a:pt x="171" y="8"/>
                  <a:pt x="229" y="11"/>
                  <a:pt x="287" y="13"/>
                </a:cubicBezTo>
                <a:cubicBezTo>
                  <a:pt x="303" y="14"/>
                  <a:pt x="320" y="13"/>
                  <a:pt x="336" y="13"/>
                </a:cubicBezTo>
                <a:cubicBezTo>
                  <a:pt x="337" y="22"/>
                  <a:pt x="330" y="22"/>
                  <a:pt x="325" y="22"/>
                </a:cubicBezTo>
                <a:cubicBezTo>
                  <a:pt x="300" y="21"/>
                  <a:pt x="275" y="19"/>
                  <a:pt x="250" y="18"/>
                </a:cubicBezTo>
                <a:cubicBezTo>
                  <a:pt x="227" y="18"/>
                  <a:pt x="204" y="18"/>
                  <a:pt x="181" y="20"/>
                </a:cubicBezTo>
                <a:cubicBezTo>
                  <a:pt x="232" y="22"/>
                  <a:pt x="283" y="24"/>
                  <a:pt x="334" y="26"/>
                </a:cubicBezTo>
                <a:cubicBezTo>
                  <a:pt x="334" y="28"/>
                  <a:pt x="335" y="30"/>
                  <a:pt x="335" y="31"/>
                </a:cubicBezTo>
                <a:cubicBezTo>
                  <a:pt x="331" y="32"/>
                  <a:pt x="327" y="33"/>
                  <a:pt x="324" y="33"/>
                </a:cubicBezTo>
                <a:cubicBezTo>
                  <a:pt x="273" y="31"/>
                  <a:pt x="223" y="28"/>
                  <a:pt x="173" y="27"/>
                </a:cubicBezTo>
                <a:cubicBezTo>
                  <a:pt x="146" y="26"/>
                  <a:pt x="120" y="26"/>
                  <a:pt x="94" y="2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62" name="Freeform 617">
            <a:extLst>
              <a:ext uri="{FF2B5EF4-FFF2-40B4-BE49-F238E27FC236}">
                <a16:creationId xmlns:a16="http://schemas.microsoft.com/office/drawing/2014/main" id="{02B71B3D-96FE-4E38-B77A-084CC794E9E4}"/>
              </a:ext>
            </a:extLst>
          </p:cNvPr>
          <p:cNvSpPr>
            <a:spLocks/>
          </p:cNvSpPr>
          <p:nvPr/>
        </p:nvSpPr>
        <p:spPr bwMode="auto">
          <a:xfrm>
            <a:off x="8194676" y="3914775"/>
            <a:ext cx="26988" cy="130175"/>
          </a:xfrm>
          <a:custGeom>
            <a:avLst/>
            <a:gdLst>
              <a:gd name="T0" fmla="*/ 18 w 18"/>
              <a:gd name="T1" fmla="*/ 86 h 90"/>
              <a:gd name="T2" fmla="*/ 0 w 18"/>
              <a:gd name="T3" fmla="*/ 78 h 90"/>
              <a:gd name="T4" fmla="*/ 0 w 18"/>
              <a:gd name="T5" fmla="*/ 11 h 90"/>
              <a:gd name="T6" fmla="*/ 9 w 18"/>
              <a:gd name="T7" fmla="*/ 1 h 90"/>
              <a:gd name="T8" fmla="*/ 18 w 18"/>
              <a:gd name="T9" fmla="*/ 12 h 90"/>
              <a:gd name="T10" fmla="*/ 18 w 18"/>
              <a:gd name="T11" fmla="*/ 86 h 90"/>
            </a:gdLst>
            <a:ahLst/>
            <a:cxnLst>
              <a:cxn ang="0">
                <a:pos x="T0" y="T1"/>
              </a:cxn>
              <a:cxn ang="0">
                <a:pos x="T2" y="T3"/>
              </a:cxn>
              <a:cxn ang="0">
                <a:pos x="T4" y="T5"/>
              </a:cxn>
              <a:cxn ang="0">
                <a:pos x="T6" y="T7"/>
              </a:cxn>
              <a:cxn ang="0">
                <a:pos x="T8" y="T9"/>
              </a:cxn>
              <a:cxn ang="0">
                <a:pos x="T10" y="T11"/>
              </a:cxn>
            </a:cxnLst>
            <a:rect l="0" t="0" r="r" b="b"/>
            <a:pathLst>
              <a:path w="18" h="90">
                <a:moveTo>
                  <a:pt x="18" y="86"/>
                </a:moveTo>
                <a:cubicBezTo>
                  <a:pt x="7" y="90"/>
                  <a:pt x="0" y="89"/>
                  <a:pt x="0" y="78"/>
                </a:cubicBezTo>
                <a:cubicBezTo>
                  <a:pt x="0" y="55"/>
                  <a:pt x="0" y="33"/>
                  <a:pt x="0" y="11"/>
                </a:cubicBezTo>
                <a:cubicBezTo>
                  <a:pt x="0" y="6"/>
                  <a:pt x="2" y="1"/>
                  <a:pt x="9" y="1"/>
                </a:cubicBezTo>
                <a:cubicBezTo>
                  <a:pt x="17" y="0"/>
                  <a:pt x="18" y="5"/>
                  <a:pt x="18" y="12"/>
                </a:cubicBezTo>
                <a:cubicBezTo>
                  <a:pt x="18" y="36"/>
                  <a:pt x="18" y="61"/>
                  <a:pt x="18" y="8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63" name="Freeform 618">
            <a:extLst>
              <a:ext uri="{FF2B5EF4-FFF2-40B4-BE49-F238E27FC236}">
                <a16:creationId xmlns:a16="http://schemas.microsoft.com/office/drawing/2014/main" id="{E660B27B-6044-4B64-B1A7-BCB65E7A8DC9}"/>
              </a:ext>
            </a:extLst>
          </p:cNvPr>
          <p:cNvSpPr>
            <a:spLocks/>
          </p:cNvSpPr>
          <p:nvPr/>
        </p:nvSpPr>
        <p:spPr bwMode="auto">
          <a:xfrm>
            <a:off x="10375901" y="3824288"/>
            <a:ext cx="23813" cy="25400"/>
          </a:xfrm>
          <a:custGeom>
            <a:avLst/>
            <a:gdLst>
              <a:gd name="T0" fmla="*/ 5 w 17"/>
              <a:gd name="T1" fmla="*/ 17 h 17"/>
              <a:gd name="T2" fmla="*/ 11 w 17"/>
              <a:gd name="T3" fmla="*/ 0 h 17"/>
              <a:gd name="T4" fmla="*/ 4 w 17"/>
              <a:gd name="T5" fmla="*/ 16 h 17"/>
              <a:gd name="T6" fmla="*/ 5 w 17"/>
              <a:gd name="T7" fmla="*/ 17 h 17"/>
            </a:gdLst>
            <a:ahLst/>
            <a:cxnLst>
              <a:cxn ang="0">
                <a:pos x="T0" y="T1"/>
              </a:cxn>
              <a:cxn ang="0">
                <a:pos x="T2" y="T3"/>
              </a:cxn>
              <a:cxn ang="0">
                <a:pos x="T4" y="T5"/>
              </a:cxn>
              <a:cxn ang="0">
                <a:pos x="T6" y="T7"/>
              </a:cxn>
            </a:cxnLst>
            <a:rect l="0" t="0" r="r" b="b"/>
            <a:pathLst>
              <a:path w="17" h="17">
                <a:moveTo>
                  <a:pt x="5" y="17"/>
                </a:moveTo>
                <a:cubicBezTo>
                  <a:pt x="1" y="9"/>
                  <a:pt x="0" y="2"/>
                  <a:pt x="11" y="0"/>
                </a:cubicBezTo>
                <a:cubicBezTo>
                  <a:pt x="17" y="14"/>
                  <a:pt x="17" y="14"/>
                  <a:pt x="4" y="16"/>
                </a:cubicBezTo>
                <a:cubicBezTo>
                  <a:pt x="4" y="16"/>
                  <a:pt x="5" y="17"/>
                  <a:pt x="5" y="1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65" name="Freeform 620">
            <a:extLst>
              <a:ext uri="{FF2B5EF4-FFF2-40B4-BE49-F238E27FC236}">
                <a16:creationId xmlns:a16="http://schemas.microsoft.com/office/drawing/2014/main" id="{4AB27DAD-D8A6-4FDA-900E-FB79AC5B336C}"/>
              </a:ext>
            </a:extLst>
          </p:cNvPr>
          <p:cNvSpPr>
            <a:spLocks/>
          </p:cNvSpPr>
          <p:nvPr/>
        </p:nvSpPr>
        <p:spPr bwMode="auto">
          <a:xfrm>
            <a:off x="4498976" y="3684588"/>
            <a:ext cx="25400" cy="25400"/>
          </a:xfrm>
          <a:custGeom>
            <a:avLst/>
            <a:gdLst>
              <a:gd name="T0" fmla="*/ 0 w 18"/>
              <a:gd name="T1" fmla="*/ 10 h 18"/>
              <a:gd name="T2" fmla="*/ 18 w 18"/>
              <a:gd name="T3" fmla="*/ 0 h 18"/>
              <a:gd name="T4" fmla="*/ 13 w 18"/>
              <a:gd name="T5" fmla="*/ 14 h 18"/>
              <a:gd name="T6" fmla="*/ 0 w 18"/>
              <a:gd name="T7" fmla="*/ 9 h 18"/>
              <a:gd name="T8" fmla="*/ 0 w 18"/>
              <a:gd name="T9" fmla="*/ 10 h 18"/>
            </a:gdLst>
            <a:ahLst/>
            <a:cxnLst>
              <a:cxn ang="0">
                <a:pos x="T0" y="T1"/>
              </a:cxn>
              <a:cxn ang="0">
                <a:pos x="T2" y="T3"/>
              </a:cxn>
              <a:cxn ang="0">
                <a:pos x="T4" y="T5"/>
              </a:cxn>
              <a:cxn ang="0">
                <a:pos x="T6" y="T7"/>
              </a:cxn>
              <a:cxn ang="0">
                <a:pos x="T8" y="T9"/>
              </a:cxn>
            </a:cxnLst>
            <a:rect l="0" t="0" r="r" b="b"/>
            <a:pathLst>
              <a:path w="18" h="18">
                <a:moveTo>
                  <a:pt x="0" y="10"/>
                </a:moveTo>
                <a:cubicBezTo>
                  <a:pt x="4" y="7"/>
                  <a:pt x="9" y="5"/>
                  <a:pt x="18" y="0"/>
                </a:cubicBezTo>
                <a:cubicBezTo>
                  <a:pt x="15" y="8"/>
                  <a:pt x="15" y="13"/>
                  <a:pt x="13" y="14"/>
                </a:cubicBezTo>
                <a:cubicBezTo>
                  <a:pt x="7" y="18"/>
                  <a:pt x="2" y="16"/>
                  <a:pt x="0" y="9"/>
                </a:cubicBezTo>
                <a:cubicBezTo>
                  <a:pt x="0" y="9"/>
                  <a:pt x="0" y="10"/>
                  <a:pt x="0" y="1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66" name="Freeform 621">
            <a:extLst>
              <a:ext uri="{FF2B5EF4-FFF2-40B4-BE49-F238E27FC236}">
                <a16:creationId xmlns:a16="http://schemas.microsoft.com/office/drawing/2014/main" id="{C9DDCDD8-0C98-4235-AFCD-EB354B541E27}"/>
              </a:ext>
            </a:extLst>
          </p:cNvPr>
          <p:cNvSpPr>
            <a:spLocks/>
          </p:cNvSpPr>
          <p:nvPr/>
        </p:nvSpPr>
        <p:spPr bwMode="auto">
          <a:xfrm>
            <a:off x="4525963" y="3665538"/>
            <a:ext cx="12700" cy="12700"/>
          </a:xfrm>
          <a:custGeom>
            <a:avLst/>
            <a:gdLst>
              <a:gd name="T0" fmla="*/ 9 w 9"/>
              <a:gd name="T1" fmla="*/ 5 h 9"/>
              <a:gd name="T2" fmla="*/ 4 w 9"/>
              <a:gd name="T3" fmla="*/ 9 h 9"/>
              <a:gd name="T4" fmla="*/ 0 w 9"/>
              <a:gd name="T5" fmla="*/ 4 h 9"/>
              <a:gd name="T6" fmla="*/ 4 w 9"/>
              <a:gd name="T7" fmla="*/ 1 h 9"/>
              <a:gd name="T8" fmla="*/ 9 w 9"/>
              <a:gd name="T9" fmla="*/ 5 h 9"/>
            </a:gdLst>
            <a:ahLst/>
            <a:cxnLst>
              <a:cxn ang="0">
                <a:pos x="T0" y="T1"/>
              </a:cxn>
              <a:cxn ang="0">
                <a:pos x="T2" y="T3"/>
              </a:cxn>
              <a:cxn ang="0">
                <a:pos x="T4" y="T5"/>
              </a:cxn>
              <a:cxn ang="0">
                <a:pos x="T6" y="T7"/>
              </a:cxn>
              <a:cxn ang="0">
                <a:pos x="T8" y="T9"/>
              </a:cxn>
            </a:cxnLst>
            <a:rect l="0" t="0" r="r" b="b"/>
            <a:pathLst>
              <a:path w="9" h="9">
                <a:moveTo>
                  <a:pt x="9" y="5"/>
                </a:moveTo>
                <a:cubicBezTo>
                  <a:pt x="6" y="7"/>
                  <a:pt x="5" y="8"/>
                  <a:pt x="4" y="9"/>
                </a:cubicBezTo>
                <a:cubicBezTo>
                  <a:pt x="3" y="7"/>
                  <a:pt x="1" y="6"/>
                  <a:pt x="0" y="4"/>
                </a:cubicBezTo>
                <a:cubicBezTo>
                  <a:pt x="0" y="3"/>
                  <a:pt x="3" y="0"/>
                  <a:pt x="4" y="1"/>
                </a:cubicBezTo>
                <a:cubicBezTo>
                  <a:pt x="5" y="1"/>
                  <a:pt x="7" y="3"/>
                  <a:pt x="9" y="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67" name="Freeform 622">
            <a:extLst>
              <a:ext uri="{FF2B5EF4-FFF2-40B4-BE49-F238E27FC236}">
                <a16:creationId xmlns:a16="http://schemas.microsoft.com/office/drawing/2014/main" id="{5F5C6492-8988-47F2-8A3C-9692594F28F6}"/>
              </a:ext>
            </a:extLst>
          </p:cNvPr>
          <p:cNvSpPr>
            <a:spLocks/>
          </p:cNvSpPr>
          <p:nvPr/>
        </p:nvSpPr>
        <p:spPr bwMode="auto">
          <a:xfrm>
            <a:off x="9974263" y="3851275"/>
            <a:ext cx="26988" cy="22225"/>
          </a:xfrm>
          <a:custGeom>
            <a:avLst/>
            <a:gdLst>
              <a:gd name="T0" fmla="*/ 0 w 19"/>
              <a:gd name="T1" fmla="*/ 1 h 15"/>
              <a:gd name="T2" fmla="*/ 11 w 19"/>
              <a:gd name="T3" fmla="*/ 1 h 15"/>
              <a:gd name="T4" fmla="*/ 18 w 19"/>
              <a:gd name="T5" fmla="*/ 8 h 15"/>
              <a:gd name="T6" fmla="*/ 14 w 19"/>
              <a:gd name="T7" fmla="*/ 15 h 15"/>
              <a:gd name="T8" fmla="*/ 2 w 19"/>
              <a:gd name="T9" fmla="*/ 13 h 15"/>
              <a:gd name="T10" fmla="*/ 0 w 19"/>
              <a:gd name="T11" fmla="*/ 1 h 15"/>
              <a:gd name="T12" fmla="*/ 0 w 19"/>
              <a:gd name="T13" fmla="*/ 1 h 15"/>
            </a:gdLst>
            <a:ahLst/>
            <a:cxnLst>
              <a:cxn ang="0">
                <a:pos x="T0" y="T1"/>
              </a:cxn>
              <a:cxn ang="0">
                <a:pos x="T2" y="T3"/>
              </a:cxn>
              <a:cxn ang="0">
                <a:pos x="T4" y="T5"/>
              </a:cxn>
              <a:cxn ang="0">
                <a:pos x="T6" y="T7"/>
              </a:cxn>
              <a:cxn ang="0">
                <a:pos x="T8" y="T9"/>
              </a:cxn>
              <a:cxn ang="0">
                <a:pos x="T10" y="T11"/>
              </a:cxn>
              <a:cxn ang="0">
                <a:pos x="T12" y="T13"/>
              </a:cxn>
            </a:cxnLst>
            <a:rect l="0" t="0" r="r" b="b"/>
            <a:pathLst>
              <a:path w="19" h="15">
                <a:moveTo>
                  <a:pt x="0" y="1"/>
                </a:moveTo>
                <a:cubicBezTo>
                  <a:pt x="3" y="1"/>
                  <a:pt x="7" y="0"/>
                  <a:pt x="11" y="1"/>
                </a:cubicBezTo>
                <a:cubicBezTo>
                  <a:pt x="14" y="2"/>
                  <a:pt x="17" y="5"/>
                  <a:pt x="18" y="8"/>
                </a:cubicBezTo>
                <a:cubicBezTo>
                  <a:pt x="19" y="9"/>
                  <a:pt x="16" y="14"/>
                  <a:pt x="14" y="15"/>
                </a:cubicBezTo>
                <a:cubicBezTo>
                  <a:pt x="10" y="15"/>
                  <a:pt x="5" y="15"/>
                  <a:pt x="2" y="13"/>
                </a:cubicBezTo>
                <a:cubicBezTo>
                  <a:pt x="0" y="10"/>
                  <a:pt x="1" y="5"/>
                  <a:pt x="0" y="1"/>
                </a:cubicBezTo>
                <a:cubicBezTo>
                  <a:pt x="0" y="1"/>
                  <a:pt x="0" y="1"/>
                  <a:pt x="0"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69" name="Freeform 624">
            <a:extLst>
              <a:ext uri="{FF2B5EF4-FFF2-40B4-BE49-F238E27FC236}">
                <a16:creationId xmlns:a16="http://schemas.microsoft.com/office/drawing/2014/main" id="{97BDEA05-545F-4E87-A492-6F20EDA45227}"/>
              </a:ext>
            </a:extLst>
          </p:cNvPr>
          <p:cNvSpPr>
            <a:spLocks/>
          </p:cNvSpPr>
          <p:nvPr/>
        </p:nvSpPr>
        <p:spPr bwMode="auto">
          <a:xfrm>
            <a:off x="3876676" y="3997325"/>
            <a:ext cx="68263" cy="17463"/>
          </a:xfrm>
          <a:custGeom>
            <a:avLst/>
            <a:gdLst>
              <a:gd name="T0" fmla="*/ 39 w 47"/>
              <a:gd name="T1" fmla="*/ 12 h 12"/>
              <a:gd name="T2" fmla="*/ 17 w 47"/>
              <a:gd name="T3" fmla="*/ 9 h 12"/>
              <a:gd name="T4" fmla="*/ 0 w 47"/>
              <a:gd name="T5" fmla="*/ 0 h 12"/>
              <a:gd name="T6" fmla="*/ 47 w 47"/>
              <a:gd name="T7" fmla="*/ 4 h 12"/>
              <a:gd name="T8" fmla="*/ 39 w 47"/>
              <a:gd name="T9" fmla="*/ 12 h 12"/>
            </a:gdLst>
            <a:ahLst/>
            <a:cxnLst>
              <a:cxn ang="0">
                <a:pos x="T0" y="T1"/>
              </a:cxn>
              <a:cxn ang="0">
                <a:pos x="T2" y="T3"/>
              </a:cxn>
              <a:cxn ang="0">
                <a:pos x="T4" y="T5"/>
              </a:cxn>
              <a:cxn ang="0">
                <a:pos x="T6" y="T7"/>
              </a:cxn>
              <a:cxn ang="0">
                <a:pos x="T8" y="T9"/>
              </a:cxn>
            </a:cxnLst>
            <a:rect l="0" t="0" r="r" b="b"/>
            <a:pathLst>
              <a:path w="47" h="12">
                <a:moveTo>
                  <a:pt x="39" y="12"/>
                </a:moveTo>
                <a:cubicBezTo>
                  <a:pt x="32" y="11"/>
                  <a:pt x="25" y="10"/>
                  <a:pt x="17" y="9"/>
                </a:cubicBezTo>
                <a:cubicBezTo>
                  <a:pt x="10" y="9"/>
                  <a:pt x="3" y="8"/>
                  <a:pt x="0" y="0"/>
                </a:cubicBezTo>
                <a:cubicBezTo>
                  <a:pt x="16" y="1"/>
                  <a:pt x="31" y="3"/>
                  <a:pt x="47" y="4"/>
                </a:cubicBezTo>
                <a:cubicBezTo>
                  <a:pt x="44" y="7"/>
                  <a:pt x="42" y="9"/>
                  <a:pt x="39" y="1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70" name="Freeform 625">
            <a:extLst>
              <a:ext uri="{FF2B5EF4-FFF2-40B4-BE49-F238E27FC236}">
                <a16:creationId xmlns:a16="http://schemas.microsoft.com/office/drawing/2014/main" id="{F90709FE-C503-47DE-A15B-C1416940F4E9}"/>
              </a:ext>
            </a:extLst>
          </p:cNvPr>
          <p:cNvSpPr>
            <a:spLocks/>
          </p:cNvSpPr>
          <p:nvPr/>
        </p:nvSpPr>
        <p:spPr bwMode="auto">
          <a:xfrm>
            <a:off x="4164013" y="2984500"/>
            <a:ext cx="19050" cy="25400"/>
          </a:xfrm>
          <a:custGeom>
            <a:avLst/>
            <a:gdLst>
              <a:gd name="T0" fmla="*/ 13 w 13"/>
              <a:gd name="T1" fmla="*/ 0 h 17"/>
              <a:gd name="T2" fmla="*/ 13 w 13"/>
              <a:gd name="T3" fmla="*/ 16 h 17"/>
              <a:gd name="T4" fmla="*/ 5 w 13"/>
              <a:gd name="T5" fmla="*/ 0 h 17"/>
              <a:gd name="T6" fmla="*/ 13 w 13"/>
              <a:gd name="T7" fmla="*/ 0 h 17"/>
            </a:gdLst>
            <a:ahLst/>
            <a:cxnLst>
              <a:cxn ang="0">
                <a:pos x="T0" y="T1"/>
              </a:cxn>
              <a:cxn ang="0">
                <a:pos x="T2" y="T3"/>
              </a:cxn>
              <a:cxn ang="0">
                <a:pos x="T4" y="T5"/>
              </a:cxn>
              <a:cxn ang="0">
                <a:pos x="T6" y="T7"/>
              </a:cxn>
            </a:cxnLst>
            <a:rect l="0" t="0" r="r" b="b"/>
            <a:pathLst>
              <a:path w="13" h="17">
                <a:moveTo>
                  <a:pt x="13" y="0"/>
                </a:moveTo>
                <a:cubicBezTo>
                  <a:pt x="13" y="6"/>
                  <a:pt x="13" y="11"/>
                  <a:pt x="13" y="16"/>
                </a:cubicBezTo>
                <a:cubicBezTo>
                  <a:pt x="0" y="17"/>
                  <a:pt x="6" y="6"/>
                  <a:pt x="5" y="0"/>
                </a:cubicBezTo>
                <a:cubicBezTo>
                  <a:pt x="8" y="0"/>
                  <a:pt x="10" y="0"/>
                  <a:pt x="13"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94" name="Freeform 649">
            <a:extLst>
              <a:ext uri="{FF2B5EF4-FFF2-40B4-BE49-F238E27FC236}">
                <a16:creationId xmlns:a16="http://schemas.microsoft.com/office/drawing/2014/main" id="{1D69C31A-6E85-4F7B-A99D-597572574F74}"/>
              </a:ext>
            </a:extLst>
          </p:cNvPr>
          <p:cNvSpPr>
            <a:spLocks/>
          </p:cNvSpPr>
          <p:nvPr/>
        </p:nvSpPr>
        <p:spPr bwMode="auto">
          <a:xfrm>
            <a:off x="4273551" y="2992438"/>
            <a:ext cx="23813" cy="44450"/>
          </a:xfrm>
          <a:custGeom>
            <a:avLst/>
            <a:gdLst>
              <a:gd name="T0" fmla="*/ 3 w 17"/>
              <a:gd name="T1" fmla="*/ 0 h 31"/>
              <a:gd name="T2" fmla="*/ 17 w 17"/>
              <a:gd name="T3" fmla="*/ 25 h 31"/>
              <a:gd name="T4" fmla="*/ 1 w 17"/>
              <a:gd name="T5" fmla="*/ 31 h 31"/>
              <a:gd name="T6" fmla="*/ 0 w 17"/>
              <a:gd name="T7" fmla="*/ 20 h 31"/>
              <a:gd name="T8" fmla="*/ 6 w 17"/>
              <a:gd name="T9" fmla="*/ 17 h 31"/>
              <a:gd name="T10" fmla="*/ 4 w 17"/>
              <a:gd name="T11" fmla="*/ 8 h 31"/>
              <a:gd name="T12" fmla="*/ 3 w 17"/>
              <a:gd name="T13" fmla="*/ 0 h 31"/>
            </a:gdLst>
            <a:ahLst/>
            <a:cxnLst>
              <a:cxn ang="0">
                <a:pos x="T0" y="T1"/>
              </a:cxn>
              <a:cxn ang="0">
                <a:pos x="T2" y="T3"/>
              </a:cxn>
              <a:cxn ang="0">
                <a:pos x="T4" y="T5"/>
              </a:cxn>
              <a:cxn ang="0">
                <a:pos x="T6" y="T7"/>
              </a:cxn>
              <a:cxn ang="0">
                <a:pos x="T8" y="T9"/>
              </a:cxn>
              <a:cxn ang="0">
                <a:pos x="T10" y="T11"/>
              </a:cxn>
              <a:cxn ang="0">
                <a:pos x="T12" y="T13"/>
              </a:cxn>
            </a:cxnLst>
            <a:rect l="0" t="0" r="r" b="b"/>
            <a:pathLst>
              <a:path w="17" h="31">
                <a:moveTo>
                  <a:pt x="3" y="0"/>
                </a:moveTo>
                <a:cubicBezTo>
                  <a:pt x="13" y="7"/>
                  <a:pt x="4" y="20"/>
                  <a:pt x="17" y="25"/>
                </a:cubicBezTo>
                <a:cubicBezTo>
                  <a:pt x="12" y="26"/>
                  <a:pt x="8" y="28"/>
                  <a:pt x="1" y="31"/>
                </a:cubicBezTo>
                <a:cubicBezTo>
                  <a:pt x="1" y="26"/>
                  <a:pt x="1" y="23"/>
                  <a:pt x="0" y="20"/>
                </a:cubicBezTo>
                <a:cubicBezTo>
                  <a:pt x="6" y="25"/>
                  <a:pt x="6" y="20"/>
                  <a:pt x="6" y="17"/>
                </a:cubicBezTo>
                <a:cubicBezTo>
                  <a:pt x="6" y="14"/>
                  <a:pt x="4" y="11"/>
                  <a:pt x="4" y="8"/>
                </a:cubicBezTo>
                <a:cubicBezTo>
                  <a:pt x="3" y="6"/>
                  <a:pt x="3" y="3"/>
                  <a:pt x="3"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95" name="Freeform 650">
            <a:extLst>
              <a:ext uri="{FF2B5EF4-FFF2-40B4-BE49-F238E27FC236}">
                <a16:creationId xmlns:a16="http://schemas.microsoft.com/office/drawing/2014/main" id="{611730A1-E0E9-434D-A793-36B25EA7C67B}"/>
              </a:ext>
            </a:extLst>
          </p:cNvPr>
          <p:cNvSpPr>
            <a:spLocks/>
          </p:cNvSpPr>
          <p:nvPr/>
        </p:nvSpPr>
        <p:spPr bwMode="auto">
          <a:xfrm>
            <a:off x="4300538" y="3013075"/>
            <a:ext cx="20638" cy="23813"/>
          </a:xfrm>
          <a:custGeom>
            <a:avLst/>
            <a:gdLst>
              <a:gd name="T0" fmla="*/ 14 w 14"/>
              <a:gd name="T1" fmla="*/ 0 h 16"/>
              <a:gd name="T2" fmla="*/ 13 w 14"/>
              <a:gd name="T3" fmla="*/ 16 h 16"/>
              <a:gd name="T4" fmla="*/ 14 w 14"/>
              <a:gd name="T5" fmla="*/ 0 h 16"/>
            </a:gdLst>
            <a:ahLst/>
            <a:cxnLst>
              <a:cxn ang="0">
                <a:pos x="T0" y="T1"/>
              </a:cxn>
              <a:cxn ang="0">
                <a:pos x="T2" y="T3"/>
              </a:cxn>
              <a:cxn ang="0">
                <a:pos x="T4" y="T5"/>
              </a:cxn>
            </a:cxnLst>
            <a:rect l="0" t="0" r="r" b="b"/>
            <a:pathLst>
              <a:path w="14" h="16">
                <a:moveTo>
                  <a:pt x="14" y="0"/>
                </a:moveTo>
                <a:cubicBezTo>
                  <a:pt x="14" y="5"/>
                  <a:pt x="14" y="10"/>
                  <a:pt x="13" y="16"/>
                </a:cubicBezTo>
                <a:cubicBezTo>
                  <a:pt x="0" y="10"/>
                  <a:pt x="11" y="5"/>
                  <a:pt x="14"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96" name="Freeform 651">
            <a:extLst>
              <a:ext uri="{FF2B5EF4-FFF2-40B4-BE49-F238E27FC236}">
                <a16:creationId xmlns:a16="http://schemas.microsoft.com/office/drawing/2014/main" id="{D9168552-F57B-43C0-A069-DD1FCCB8A338}"/>
              </a:ext>
            </a:extLst>
          </p:cNvPr>
          <p:cNvSpPr>
            <a:spLocks/>
          </p:cNvSpPr>
          <p:nvPr/>
        </p:nvSpPr>
        <p:spPr bwMode="auto">
          <a:xfrm>
            <a:off x="4337051" y="3051175"/>
            <a:ext cx="14288" cy="23813"/>
          </a:xfrm>
          <a:custGeom>
            <a:avLst/>
            <a:gdLst>
              <a:gd name="T0" fmla="*/ 1 w 10"/>
              <a:gd name="T1" fmla="*/ 17 h 17"/>
              <a:gd name="T2" fmla="*/ 6 w 10"/>
              <a:gd name="T3" fmla="*/ 0 h 17"/>
              <a:gd name="T4" fmla="*/ 10 w 10"/>
              <a:gd name="T5" fmla="*/ 2 h 17"/>
              <a:gd name="T6" fmla="*/ 0 w 10"/>
              <a:gd name="T7" fmla="*/ 16 h 17"/>
              <a:gd name="T8" fmla="*/ 1 w 10"/>
              <a:gd name="T9" fmla="*/ 17 h 17"/>
            </a:gdLst>
            <a:ahLst/>
            <a:cxnLst>
              <a:cxn ang="0">
                <a:pos x="T0" y="T1"/>
              </a:cxn>
              <a:cxn ang="0">
                <a:pos x="T2" y="T3"/>
              </a:cxn>
              <a:cxn ang="0">
                <a:pos x="T4" y="T5"/>
              </a:cxn>
              <a:cxn ang="0">
                <a:pos x="T6" y="T7"/>
              </a:cxn>
              <a:cxn ang="0">
                <a:pos x="T8" y="T9"/>
              </a:cxn>
            </a:cxnLst>
            <a:rect l="0" t="0" r="r" b="b"/>
            <a:pathLst>
              <a:path w="10" h="17">
                <a:moveTo>
                  <a:pt x="1" y="17"/>
                </a:moveTo>
                <a:cubicBezTo>
                  <a:pt x="2" y="11"/>
                  <a:pt x="4" y="6"/>
                  <a:pt x="6" y="0"/>
                </a:cubicBezTo>
                <a:cubicBezTo>
                  <a:pt x="7" y="1"/>
                  <a:pt x="9" y="1"/>
                  <a:pt x="10" y="2"/>
                </a:cubicBezTo>
                <a:cubicBezTo>
                  <a:pt x="9" y="8"/>
                  <a:pt x="7" y="14"/>
                  <a:pt x="0" y="16"/>
                </a:cubicBezTo>
                <a:cubicBezTo>
                  <a:pt x="0" y="16"/>
                  <a:pt x="1" y="17"/>
                  <a:pt x="1" y="1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97" name="Freeform 652">
            <a:extLst>
              <a:ext uri="{FF2B5EF4-FFF2-40B4-BE49-F238E27FC236}">
                <a16:creationId xmlns:a16="http://schemas.microsoft.com/office/drawing/2014/main" id="{1D4EDCDC-C6A5-46F8-84B0-8E70EC2AA0A4}"/>
              </a:ext>
            </a:extLst>
          </p:cNvPr>
          <p:cNvSpPr>
            <a:spLocks/>
          </p:cNvSpPr>
          <p:nvPr/>
        </p:nvSpPr>
        <p:spPr bwMode="auto">
          <a:xfrm>
            <a:off x="2925763" y="3267075"/>
            <a:ext cx="14288" cy="19050"/>
          </a:xfrm>
          <a:custGeom>
            <a:avLst/>
            <a:gdLst>
              <a:gd name="T0" fmla="*/ 6 w 10"/>
              <a:gd name="T1" fmla="*/ 13 h 13"/>
              <a:gd name="T2" fmla="*/ 0 w 10"/>
              <a:gd name="T3" fmla="*/ 4 h 13"/>
              <a:gd name="T4" fmla="*/ 10 w 10"/>
              <a:gd name="T5" fmla="*/ 9 h 13"/>
              <a:gd name="T6" fmla="*/ 6 w 10"/>
              <a:gd name="T7" fmla="*/ 13 h 13"/>
            </a:gdLst>
            <a:ahLst/>
            <a:cxnLst>
              <a:cxn ang="0">
                <a:pos x="T0" y="T1"/>
              </a:cxn>
              <a:cxn ang="0">
                <a:pos x="T2" y="T3"/>
              </a:cxn>
              <a:cxn ang="0">
                <a:pos x="T4" y="T5"/>
              </a:cxn>
              <a:cxn ang="0">
                <a:pos x="T6" y="T7"/>
              </a:cxn>
            </a:cxnLst>
            <a:rect l="0" t="0" r="r" b="b"/>
            <a:pathLst>
              <a:path w="10" h="13">
                <a:moveTo>
                  <a:pt x="6" y="13"/>
                </a:moveTo>
                <a:cubicBezTo>
                  <a:pt x="4" y="10"/>
                  <a:pt x="2" y="7"/>
                  <a:pt x="0" y="4"/>
                </a:cubicBezTo>
                <a:cubicBezTo>
                  <a:pt x="9" y="0"/>
                  <a:pt x="6" y="8"/>
                  <a:pt x="10" y="9"/>
                </a:cubicBezTo>
                <a:cubicBezTo>
                  <a:pt x="8" y="11"/>
                  <a:pt x="7" y="12"/>
                  <a:pt x="6" y="13"/>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98" name="Freeform 653">
            <a:extLst>
              <a:ext uri="{FF2B5EF4-FFF2-40B4-BE49-F238E27FC236}">
                <a16:creationId xmlns:a16="http://schemas.microsoft.com/office/drawing/2014/main" id="{247DDCF9-0A9F-4AC7-A6F1-58B67B716701}"/>
              </a:ext>
            </a:extLst>
          </p:cNvPr>
          <p:cNvSpPr>
            <a:spLocks/>
          </p:cNvSpPr>
          <p:nvPr/>
        </p:nvSpPr>
        <p:spPr bwMode="auto">
          <a:xfrm>
            <a:off x="3101976" y="3267075"/>
            <a:ext cx="14288" cy="22225"/>
          </a:xfrm>
          <a:custGeom>
            <a:avLst/>
            <a:gdLst>
              <a:gd name="T0" fmla="*/ 6 w 11"/>
              <a:gd name="T1" fmla="*/ 0 h 16"/>
              <a:gd name="T2" fmla="*/ 10 w 11"/>
              <a:gd name="T3" fmla="*/ 0 h 16"/>
              <a:gd name="T4" fmla="*/ 0 w 11"/>
              <a:gd name="T5" fmla="*/ 16 h 16"/>
              <a:gd name="T6" fmla="*/ 6 w 11"/>
              <a:gd name="T7" fmla="*/ 0 h 16"/>
            </a:gdLst>
            <a:ahLst/>
            <a:cxnLst>
              <a:cxn ang="0">
                <a:pos x="T0" y="T1"/>
              </a:cxn>
              <a:cxn ang="0">
                <a:pos x="T2" y="T3"/>
              </a:cxn>
              <a:cxn ang="0">
                <a:pos x="T4" y="T5"/>
              </a:cxn>
              <a:cxn ang="0">
                <a:pos x="T6" y="T7"/>
              </a:cxn>
            </a:cxnLst>
            <a:rect l="0" t="0" r="r" b="b"/>
            <a:pathLst>
              <a:path w="11" h="16">
                <a:moveTo>
                  <a:pt x="6" y="0"/>
                </a:moveTo>
                <a:cubicBezTo>
                  <a:pt x="7" y="0"/>
                  <a:pt x="9" y="0"/>
                  <a:pt x="10" y="0"/>
                </a:cubicBezTo>
                <a:cubicBezTo>
                  <a:pt x="9" y="6"/>
                  <a:pt x="11" y="14"/>
                  <a:pt x="0" y="16"/>
                </a:cubicBezTo>
                <a:cubicBezTo>
                  <a:pt x="2" y="10"/>
                  <a:pt x="4" y="5"/>
                  <a:pt x="6"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sp>
        <p:nvSpPr>
          <p:cNvPr id="99" name="Freeform 654">
            <a:extLst>
              <a:ext uri="{FF2B5EF4-FFF2-40B4-BE49-F238E27FC236}">
                <a16:creationId xmlns:a16="http://schemas.microsoft.com/office/drawing/2014/main" id="{D41C1D1B-6F16-48D5-93BF-51ABBA1514E7}"/>
              </a:ext>
            </a:extLst>
          </p:cNvPr>
          <p:cNvSpPr>
            <a:spLocks/>
          </p:cNvSpPr>
          <p:nvPr/>
        </p:nvSpPr>
        <p:spPr bwMode="auto">
          <a:xfrm>
            <a:off x="3092451" y="3257550"/>
            <a:ext cx="17463" cy="11113"/>
          </a:xfrm>
          <a:custGeom>
            <a:avLst/>
            <a:gdLst>
              <a:gd name="T0" fmla="*/ 10 w 12"/>
              <a:gd name="T1" fmla="*/ 0 h 8"/>
              <a:gd name="T2" fmla="*/ 12 w 12"/>
              <a:gd name="T3" fmla="*/ 8 h 8"/>
              <a:gd name="T4" fmla="*/ 3 w 12"/>
              <a:gd name="T5" fmla="*/ 7 h 8"/>
              <a:gd name="T6" fmla="*/ 10 w 12"/>
              <a:gd name="T7" fmla="*/ 0 h 8"/>
            </a:gdLst>
            <a:ahLst/>
            <a:cxnLst>
              <a:cxn ang="0">
                <a:pos x="T0" y="T1"/>
              </a:cxn>
              <a:cxn ang="0">
                <a:pos x="T2" y="T3"/>
              </a:cxn>
              <a:cxn ang="0">
                <a:pos x="T4" y="T5"/>
              </a:cxn>
              <a:cxn ang="0">
                <a:pos x="T6" y="T7"/>
              </a:cxn>
            </a:cxnLst>
            <a:rect l="0" t="0" r="r" b="b"/>
            <a:pathLst>
              <a:path w="12" h="8">
                <a:moveTo>
                  <a:pt x="10" y="0"/>
                </a:moveTo>
                <a:cubicBezTo>
                  <a:pt x="11" y="2"/>
                  <a:pt x="11" y="5"/>
                  <a:pt x="12" y="8"/>
                </a:cubicBezTo>
                <a:cubicBezTo>
                  <a:pt x="9" y="7"/>
                  <a:pt x="4" y="8"/>
                  <a:pt x="3" y="7"/>
                </a:cubicBezTo>
                <a:cubicBezTo>
                  <a:pt x="0" y="0"/>
                  <a:pt x="8" y="3"/>
                  <a:pt x="1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F3F3F"/>
              </a:solidFill>
              <a:effectLst/>
              <a:uLnTx/>
              <a:uFillTx/>
              <a:latin typeface="Arial"/>
              <a:ea typeface="Microsoft YaHei"/>
              <a:cs typeface="+mn-cs"/>
            </a:endParaRPr>
          </a:p>
        </p:txBody>
      </p:sp>
      <p:pic>
        <p:nvPicPr>
          <p:cNvPr id="890" name="图片 889">
            <a:extLst>
              <a:ext uri="{FF2B5EF4-FFF2-40B4-BE49-F238E27FC236}">
                <a16:creationId xmlns:a16="http://schemas.microsoft.com/office/drawing/2014/main" id="{A15EF5FA-345C-4421-AD3B-3A9BAD258028}"/>
              </a:ext>
            </a:extLst>
          </p:cNvPr>
          <p:cNvPicPr>
            <a:picLocks noChangeAspect="1"/>
          </p:cNvPicPr>
          <p:nvPr/>
        </p:nvPicPr>
        <p:blipFill>
          <a:blip r:embed="rId3">
            <a:duotone>
              <a:schemeClr val="accent2">
                <a:shade val="45000"/>
                <a:satMod val="135000"/>
              </a:schemeClr>
              <a:prstClr val="white"/>
            </a:duotone>
            <a:alphaModFix amt="50000"/>
            <a:extLst>
              <a:ext uri="{28A0092B-C50C-407E-A947-70E740481C1C}">
                <a14:useLocalDpi xmlns:a14="http://schemas.microsoft.com/office/drawing/2010/main" val="0"/>
              </a:ext>
            </a:extLst>
          </a:blip>
          <a:stretch>
            <a:fillRect/>
          </a:stretch>
        </p:blipFill>
        <p:spPr>
          <a:xfrm>
            <a:off x="4125153" y="3702049"/>
            <a:ext cx="7780276" cy="2772000"/>
          </a:xfrm>
          <a:prstGeom prst="rect">
            <a:avLst/>
          </a:prstGeom>
        </p:spPr>
      </p:pic>
      <p:sp>
        <p:nvSpPr>
          <p:cNvPr id="2" name="文本占位符 1">
            <a:extLst>
              <a:ext uri="{FF2B5EF4-FFF2-40B4-BE49-F238E27FC236}">
                <a16:creationId xmlns:a16="http://schemas.microsoft.com/office/drawing/2014/main" id="{E3354799-78E6-4462-846F-883377F57C22}"/>
              </a:ext>
            </a:extLst>
          </p:cNvPr>
          <p:cNvSpPr>
            <a:spLocks noGrp="1"/>
          </p:cNvSpPr>
          <p:nvPr>
            <p:ph type="body" sz="quarter" idx="11"/>
          </p:nvPr>
        </p:nvSpPr>
        <p:spPr/>
        <p:txBody>
          <a:bodyPr/>
          <a:lstStyle/>
          <a:p>
            <a:r>
              <a:rPr lang="zh-CN" altLang="en-US" sz="3600"/>
              <a:t>持续交付（</a:t>
            </a:r>
            <a:r>
              <a:rPr lang="en-US" altLang="zh-CN" sz="3600"/>
              <a:t>CD</a:t>
            </a:r>
            <a:r>
              <a:rPr lang="zh-CN" altLang="en-US" sz="3600"/>
              <a:t>）</a:t>
            </a:r>
          </a:p>
        </p:txBody>
      </p:sp>
      <p:sp>
        <p:nvSpPr>
          <p:cNvPr id="4" name="文本占位符 3">
            <a:extLst>
              <a:ext uri="{FF2B5EF4-FFF2-40B4-BE49-F238E27FC236}">
                <a16:creationId xmlns:a16="http://schemas.microsoft.com/office/drawing/2014/main" id="{BD9AEF70-40BE-4955-A25C-A1F1D42522FE}"/>
              </a:ext>
            </a:extLst>
          </p:cNvPr>
          <p:cNvSpPr>
            <a:spLocks noGrp="1"/>
          </p:cNvSpPr>
          <p:nvPr>
            <p:ph type="body" sz="quarter" idx="15"/>
          </p:nvPr>
        </p:nvSpPr>
        <p:spPr/>
        <p:txBody>
          <a:bodyPr/>
          <a:lstStyle/>
          <a:p>
            <a:r>
              <a:rPr lang="en-US" altLang="zh-CN"/>
              <a:t>02</a:t>
            </a:r>
            <a:endParaRPr lang="zh-CN" altLang="en-US"/>
          </a:p>
        </p:txBody>
      </p:sp>
      <p:sp>
        <p:nvSpPr>
          <p:cNvPr id="49" name="文本占位符 48">
            <a:extLst>
              <a:ext uri="{FF2B5EF4-FFF2-40B4-BE49-F238E27FC236}">
                <a16:creationId xmlns:a16="http://schemas.microsoft.com/office/drawing/2014/main" id="{FF5CF0BF-B2FA-4E92-BDA0-F5425BAFC540}"/>
              </a:ext>
            </a:extLst>
          </p:cNvPr>
          <p:cNvSpPr>
            <a:spLocks noGrp="1"/>
          </p:cNvSpPr>
          <p:nvPr>
            <p:ph type="body" sz="quarter" idx="16"/>
          </p:nvPr>
        </p:nvSpPr>
        <p:spPr>
          <a:xfrm>
            <a:off x="960840" y="3429000"/>
            <a:ext cx="5210175" cy="1610195"/>
          </a:xfrm>
        </p:spPr>
        <p:txBody>
          <a:bodyPr>
            <a:normAutofit fontScale="92500" lnSpcReduction="20000"/>
          </a:bodyPr>
          <a:lstStyle/>
          <a:p>
            <a:pPr marL="342900" indent="-342900">
              <a:buFont typeface="Wingdings" panose="05000000000000000000" pitchFamily="2" charset="2"/>
              <a:buChar char="p"/>
            </a:pPr>
            <a:r>
              <a:rPr lang="zh-CN" altLang="en-US" sz="2400"/>
              <a:t>什么是持续交付</a:t>
            </a:r>
            <a:endParaRPr lang="en-US" altLang="zh-CN" sz="2400"/>
          </a:p>
          <a:p>
            <a:pPr marL="342900" indent="-342900">
              <a:buFont typeface="Wingdings" panose="05000000000000000000" pitchFamily="2" charset="2"/>
              <a:buChar char="p"/>
            </a:pPr>
            <a:r>
              <a:rPr lang="zh-CN" altLang="en-US" sz="2400"/>
              <a:t>持续交付的价值</a:t>
            </a:r>
            <a:endParaRPr lang="en-US" altLang="zh-CN" sz="2400"/>
          </a:p>
          <a:p>
            <a:pPr marL="342900" indent="-342900">
              <a:buFont typeface="Wingdings" panose="05000000000000000000" pitchFamily="2" charset="2"/>
              <a:buChar char="p"/>
            </a:pPr>
            <a:r>
              <a:rPr lang="zh-CN" altLang="en-US" sz="2400"/>
              <a:t>持续集成和持续交付异同</a:t>
            </a:r>
          </a:p>
          <a:p>
            <a:pPr marL="342900" indent="-342900">
              <a:buFont typeface="Wingdings" panose="05000000000000000000" pitchFamily="2" charset="2"/>
              <a:buChar char="p"/>
            </a:pPr>
            <a:r>
              <a:rPr lang="zh-CN" altLang="en-US" sz="2400" dirty="0">
                <a:effectLst/>
                <a:latin typeface="Helvetica" pitchFamily="2" charset="0"/>
              </a:rPr>
              <a:t>常见开发和发布模式</a:t>
            </a:r>
            <a:endParaRPr lang="en-US" altLang="zh-CN" sz="2400" dirty="0"/>
          </a:p>
        </p:txBody>
      </p:sp>
    </p:spTree>
    <p:extLst>
      <p:ext uri="{BB962C8B-B14F-4D97-AF65-F5344CB8AC3E}">
        <p14:creationId xmlns:p14="http://schemas.microsoft.com/office/powerpoint/2010/main" val="7753006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14AAC9-ACB0-49FC-A6EE-6BDA13EC5753}"/>
              </a:ext>
            </a:extLst>
          </p:cNvPr>
          <p:cNvSpPr>
            <a:spLocks noGrp="1"/>
          </p:cNvSpPr>
          <p:nvPr>
            <p:ph type="title"/>
          </p:nvPr>
        </p:nvSpPr>
        <p:spPr/>
        <p:txBody>
          <a:bodyPr>
            <a:normAutofit/>
          </a:bodyPr>
          <a:lstStyle/>
          <a:p>
            <a:r>
              <a:rPr lang="en-US" altLang="zh-CN"/>
              <a:t>02 </a:t>
            </a:r>
            <a:r>
              <a:rPr lang="zh-CN" altLang="en-US"/>
              <a:t>持续交付</a:t>
            </a:r>
          </a:p>
        </p:txBody>
      </p:sp>
      <p:sp>
        <p:nvSpPr>
          <p:cNvPr id="3" name="灯片编号占位符 2">
            <a:extLst>
              <a:ext uri="{FF2B5EF4-FFF2-40B4-BE49-F238E27FC236}">
                <a16:creationId xmlns:a16="http://schemas.microsoft.com/office/drawing/2014/main" id="{8BD995E4-EA54-46FD-A180-14744ABC5EC7}"/>
              </a:ext>
            </a:extLst>
          </p:cNvPr>
          <p:cNvSpPr>
            <a:spLocks noGrp="1"/>
          </p:cNvSpPr>
          <p:nvPr>
            <p:ph type="sldNum" sz="quarter" idx="12"/>
          </p:nvPr>
        </p:nvSpPr>
        <p:spPr/>
        <p:txBody>
          <a:bodyPr/>
          <a:lstStyle/>
          <a:p>
            <a:fld id="{1AAC388E-FA9E-4A2C-95EA-1F6B3A07935A}" type="slidenum">
              <a:rPr lang="zh-CN" altLang="en-US" sz="1400" smtClean="0">
                <a:solidFill>
                  <a:srgbClr val="000000"/>
                </a:solidFill>
              </a:rPr>
              <a:pPr/>
              <a:t>68</a:t>
            </a:fld>
            <a:endParaRPr lang="zh-CN" altLang="en-US" sz="1400">
              <a:solidFill>
                <a:srgbClr val="000000"/>
              </a:solidFill>
            </a:endParaRPr>
          </a:p>
        </p:txBody>
      </p:sp>
      <p:sp>
        <p:nvSpPr>
          <p:cNvPr id="4" name="文本框 3">
            <a:extLst>
              <a:ext uri="{FF2B5EF4-FFF2-40B4-BE49-F238E27FC236}">
                <a16:creationId xmlns:a16="http://schemas.microsoft.com/office/drawing/2014/main" id="{03FFCBBC-1D22-D39D-00F0-BECE05053EC6}"/>
              </a:ext>
            </a:extLst>
          </p:cNvPr>
          <p:cNvSpPr txBox="1"/>
          <p:nvPr/>
        </p:nvSpPr>
        <p:spPr>
          <a:xfrm>
            <a:off x="718218" y="874354"/>
            <a:ext cx="3387057"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zh-CN" altLang="en-US" dirty="0"/>
              <a:t>什么是持续交付</a:t>
            </a:r>
          </a:p>
        </p:txBody>
      </p:sp>
      <p:pic>
        <p:nvPicPr>
          <p:cNvPr id="14" name="图片 13" descr="图标&#10;&#10;描述已自动生成">
            <a:extLst>
              <a:ext uri="{FF2B5EF4-FFF2-40B4-BE49-F238E27FC236}">
                <a16:creationId xmlns:a16="http://schemas.microsoft.com/office/drawing/2014/main" id="{BC97C228-CC3A-D72A-B226-1EF8CC12C8DD}"/>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048801" y="2266315"/>
            <a:ext cx="4650739" cy="2325370"/>
          </a:xfrm>
          <a:prstGeom prst="rect">
            <a:avLst/>
          </a:prstGeom>
        </p:spPr>
      </p:pic>
      <p:sp>
        <p:nvSpPr>
          <p:cNvPr id="15" name="文本框 14">
            <a:extLst>
              <a:ext uri="{FF2B5EF4-FFF2-40B4-BE49-F238E27FC236}">
                <a16:creationId xmlns:a16="http://schemas.microsoft.com/office/drawing/2014/main" id="{64A1EEB2-3292-FA58-1477-CC6A10083E95}"/>
              </a:ext>
            </a:extLst>
          </p:cNvPr>
          <p:cNvSpPr txBox="1"/>
          <p:nvPr/>
        </p:nvSpPr>
        <p:spPr>
          <a:xfrm>
            <a:off x="2095500" y="2667000"/>
            <a:ext cx="0" cy="0"/>
          </a:xfrm>
          <a:prstGeom prst="rect">
            <a:avLst/>
          </a:prstGeom>
          <a:noFill/>
        </p:spPr>
        <p:txBody>
          <a:bodyPr wrap="none" lIns="0" tIns="0" rIns="0" bIns="0" rtlCol="0" anchor="ctr">
            <a:normAutofit fontScale="25000" lnSpcReduction="20000"/>
          </a:bodyPr>
          <a:lstStyle/>
          <a:p>
            <a:pPr algn="l">
              <a:lnSpc>
                <a:spcPct val="125000"/>
              </a:lnSpc>
              <a:spcAft>
                <a:spcPts val="500"/>
              </a:spcAft>
            </a:pPr>
            <a:endParaRPr kumimoji="1" lang="zh-CN" altLang="en-US"/>
          </a:p>
        </p:txBody>
      </p:sp>
      <p:sp>
        <p:nvSpPr>
          <p:cNvPr id="5" name="文本框 4">
            <a:extLst>
              <a:ext uri="{FF2B5EF4-FFF2-40B4-BE49-F238E27FC236}">
                <a16:creationId xmlns:a16="http://schemas.microsoft.com/office/drawing/2014/main" id="{7A7F9280-AD6A-96E9-86CF-7C3F5D31ED3A}"/>
              </a:ext>
            </a:extLst>
          </p:cNvPr>
          <p:cNvSpPr txBox="1"/>
          <p:nvPr/>
        </p:nvSpPr>
        <p:spPr>
          <a:xfrm>
            <a:off x="1080655" y="2236366"/>
            <a:ext cx="5763490" cy="3444341"/>
          </a:xfrm>
          <a:prstGeom prst="rect">
            <a:avLst/>
          </a:prstGeom>
          <a:noFill/>
        </p:spPr>
        <p:txBody>
          <a:bodyPr wrap="square">
            <a:spAutoFit/>
          </a:bodyPr>
          <a:lstStyle/>
          <a:p>
            <a:pPr indent="457200">
              <a:lnSpc>
                <a:spcPct val="150000"/>
              </a:lnSpc>
              <a:spcAft>
                <a:spcPts val="600"/>
              </a:spcAft>
            </a:pPr>
            <a:r>
              <a:rPr lang="zh-CN" altLang="en-US" i="0" dirty="0">
                <a:effectLst/>
                <a:latin typeface="+mn-ea"/>
                <a:cs typeface="Times New Roman" panose="02020603050405020304" pitchFamily="18" charset="0"/>
              </a:rPr>
              <a:t>持续交付是一种软件开发方法，它利用自动化来加快新代码的发布。在持续交付流程中，开发人员对应用所做的更改可通过自动化被推送至代码存储库或容器镜像仓库。 然后，这些更改可以通过自动化流水线的方式，经过构建、测试、部署等步骤，最终交付给质量团队或用户，以供评审。 如果评审通过，代码就进入生产阶段。</a:t>
            </a:r>
          </a:p>
          <a:p>
            <a:pPr indent="457200">
              <a:lnSpc>
                <a:spcPct val="150000"/>
              </a:lnSpc>
              <a:spcAft>
                <a:spcPts val="600"/>
              </a:spcAft>
            </a:pPr>
            <a:r>
              <a:rPr lang="zh-CN" altLang="en-US" i="0" dirty="0">
                <a:effectLst/>
                <a:latin typeface="+mn-ea"/>
                <a:cs typeface="Times New Roman" panose="02020603050405020304" pitchFamily="18" charset="0"/>
              </a:rPr>
              <a:t>持续交付的目标是，不管怎么更新，软件是随时随地可以交付的。</a:t>
            </a:r>
            <a:endParaRPr lang="en-US" altLang="zh-CN" i="0" dirty="0">
              <a:effectLst/>
              <a:latin typeface="+mn-ea"/>
              <a:cs typeface="Times New Roman" panose="02020603050405020304" pitchFamily="18" charset="0"/>
            </a:endParaRPr>
          </a:p>
        </p:txBody>
      </p:sp>
    </p:spTree>
    <p:extLst>
      <p:ext uri="{BB962C8B-B14F-4D97-AF65-F5344CB8AC3E}">
        <p14:creationId xmlns:p14="http://schemas.microsoft.com/office/powerpoint/2010/main" val="13798094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14AAC9-ACB0-49FC-A6EE-6BDA13EC5753}"/>
              </a:ext>
            </a:extLst>
          </p:cNvPr>
          <p:cNvSpPr>
            <a:spLocks noGrp="1"/>
          </p:cNvSpPr>
          <p:nvPr>
            <p:ph type="title"/>
          </p:nvPr>
        </p:nvSpPr>
        <p:spPr/>
        <p:txBody>
          <a:bodyPr>
            <a:normAutofit/>
          </a:bodyPr>
          <a:lstStyle/>
          <a:p>
            <a:r>
              <a:rPr lang="en-US" altLang="zh-CN"/>
              <a:t>02 </a:t>
            </a:r>
            <a:r>
              <a:rPr lang="zh-CN" altLang="en-US"/>
              <a:t>持续交付</a:t>
            </a:r>
          </a:p>
        </p:txBody>
      </p:sp>
      <p:sp>
        <p:nvSpPr>
          <p:cNvPr id="3" name="灯片编号占位符 2">
            <a:extLst>
              <a:ext uri="{FF2B5EF4-FFF2-40B4-BE49-F238E27FC236}">
                <a16:creationId xmlns:a16="http://schemas.microsoft.com/office/drawing/2014/main" id="{8BD995E4-EA54-46FD-A180-14744ABC5EC7}"/>
              </a:ext>
            </a:extLst>
          </p:cNvPr>
          <p:cNvSpPr>
            <a:spLocks noGrp="1"/>
          </p:cNvSpPr>
          <p:nvPr>
            <p:ph type="sldNum" sz="quarter" idx="12"/>
          </p:nvPr>
        </p:nvSpPr>
        <p:spPr/>
        <p:txBody>
          <a:bodyPr/>
          <a:lstStyle/>
          <a:p>
            <a:fld id="{1AAC388E-FA9E-4A2C-95EA-1F6B3A07935A}" type="slidenum">
              <a:rPr lang="zh-CN" altLang="en-US" sz="1400" smtClean="0">
                <a:solidFill>
                  <a:srgbClr val="000000"/>
                </a:solidFill>
              </a:rPr>
              <a:pPr/>
              <a:t>69</a:t>
            </a:fld>
            <a:endParaRPr lang="zh-CN" altLang="en-US" sz="1400">
              <a:solidFill>
                <a:srgbClr val="000000"/>
              </a:solidFill>
            </a:endParaRPr>
          </a:p>
        </p:txBody>
      </p:sp>
      <p:sp>
        <p:nvSpPr>
          <p:cNvPr id="4" name="文本框 3">
            <a:extLst>
              <a:ext uri="{FF2B5EF4-FFF2-40B4-BE49-F238E27FC236}">
                <a16:creationId xmlns:a16="http://schemas.microsoft.com/office/drawing/2014/main" id="{03FFCBBC-1D22-D39D-00F0-BECE05053EC6}"/>
              </a:ext>
            </a:extLst>
          </p:cNvPr>
          <p:cNvSpPr txBox="1"/>
          <p:nvPr/>
        </p:nvSpPr>
        <p:spPr>
          <a:xfrm>
            <a:off x="718218" y="874354"/>
            <a:ext cx="3082257"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zh-CN" altLang="en-US" dirty="0"/>
              <a:t>持续交付的价值</a:t>
            </a:r>
          </a:p>
        </p:txBody>
      </p:sp>
      <p:sp>
        <p:nvSpPr>
          <p:cNvPr id="15" name="文本框 14">
            <a:extLst>
              <a:ext uri="{FF2B5EF4-FFF2-40B4-BE49-F238E27FC236}">
                <a16:creationId xmlns:a16="http://schemas.microsoft.com/office/drawing/2014/main" id="{64A1EEB2-3292-FA58-1477-CC6A10083E95}"/>
              </a:ext>
            </a:extLst>
          </p:cNvPr>
          <p:cNvSpPr txBox="1"/>
          <p:nvPr/>
        </p:nvSpPr>
        <p:spPr>
          <a:xfrm>
            <a:off x="2095500" y="2667000"/>
            <a:ext cx="0" cy="0"/>
          </a:xfrm>
          <a:prstGeom prst="rect">
            <a:avLst/>
          </a:prstGeom>
          <a:noFill/>
        </p:spPr>
        <p:txBody>
          <a:bodyPr wrap="none" lIns="0" tIns="0" rIns="0" bIns="0" rtlCol="0" anchor="ctr">
            <a:normAutofit fontScale="25000" lnSpcReduction="20000"/>
          </a:bodyPr>
          <a:lstStyle/>
          <a:p>
            <a:pPr algn="l">
              <a:lnSpc>
                <a:spcPct val="125000"/>
              </a:lnSpc>
              <a:spcAft>
                <a:spcPts val="500"/>
              </a:spcAft>
            </a:pPr>
            <a:endParaRPr kumimoji="1" lang="zh-CN" altLang="en-US"/>
          </a:p>
        </p:txBody>
      </p:sp>
      <p:sp>
        <p:nvSpPr>
          <p:cNvPr id="18" name="文本框 17">
            <a:extLst>
              <a:ext uri="{FF2B5EF4-FFF2-40B4-BE49-F238E27FC236}">
                <a16:creationId xmlns:a16="http://schemas.microsoft.com/office/drawing/2014/main" id="{F5AFA9EA-260E-17F4-9EAC-1A8F6A57953A}"/>
              </a:ext>
            </a:extLst>
          </p:cNvPr>
          <p:cNvSpPr txBox="1"/>
          <p:nvPr/>
        </p:nvSpPr>
        <p:spPr>
          <a:xfrm>
            <a:off x="5937955" y="2449967"/>
            <a:ext cx="4570666" cy="2428678"/>
          </a:xfrm>
          <a:prstGeom prst="rect">
            <a:avLst/>
          </a:prstGeom>
          <a:noFill/>
        </p:spPr>
        <p:txBody>
          <a:bodyPr wrap="square">
            <a:spAutoFit/>
          </a:bodyPr>
          <a:lstStyle/>
          <a:p>
            <a:pPr marL="285750" indent="-285750">
              <a:lnSpc>
                <a:spcPct val="150000"/>
              </a:lnSpc>
              <a:spcAft>
                <a:spcPts val="600"/>
              </a:spcAft>
              <a:buFont typeface="Wingdings" panose="05000000000000000000" pitchFamily="2" charset="2"/>
              <a:buChar char="l"/>
            </a:pPr>
            <a:r>
              <a:rPr lang="zh-CN" altLang="en-US" dirty="0">
                <a:latin typeface="+mn-ea"/>
                <a:cs typeface="Times New Roman" panose="02020603050405020304" pitchFamily="18" charset="0"/>
              </a:rPr>
              <a:t>及时发现和修复错误</a:t>
            </a:r>
          </a:p>
          <a:p>
            <a:pPr marL="285750" indent="-285750">
              <a:lnSpc>
                <a:spcPct val="150000"/>
              </a:lnSpc>
              <a:spcAft>
                <a:spcPts val="600"/>
              </a:spcAft>
              <a:buFont typeface="Wingdings" panose="05000000000000000000" pitchFamily="2" charset="2"/>
              <a:buChar char="l"/>
            </a:pPr>
            <a:r>
              <a:rPr lang="zh-CN" altLang="en-US" dirty="0">
                <a:latin typeface="+mn-ea"/>
                <a:cs typeface="Times New Roman" panose="02020603050405020304" pitchFamily="18" charset="0"/>
              </a:rPr>
              <a:t>防止分支偏离主干</a:t>
            </a:r>
          </a:p>
          <a:p>
            <a:pPr marL="285750" indent="-285750">
              <a:lnSpc>
                <a:spcPct val="150000"/>
              </a:lnSpc>
              <a:spcAft>
                <a:spcPts val="600"/>
              </a:spcAft>
              <a:buFont typeface="Wingdings" panose="05000000000000000000" pitchFamily="2" charset="2"/>
              <a:buChar char="l"/>
            </a:pPr>
            <a:r>
              <a:rPr lang="zh-CN" altLang="en-US" dirty="0">
                <a:latin typeface="+mn-ea"/>
                <a:cs typeface="Times New Roman" panose="02020603050405020304" pitchFamily="18" charset="0"/>
              </a:rPr>
              <a:t>减少开发成本、时间和风险</a:t>
            </a:r>
          </a:p>
          <a:p>
            <a:pPr marL="285750" indent="-285750">
              <a:lnSpc>
                <a:spcPct val="150000"/>
              </a:lnSpc>
              <a:spcAft>
                <a:spcPts val="600"/>
              </a:spcAft>
              <a:buFont typeface="Wingdings" panose="05000000000000000000" pitchFamily="2" charset="2"/>
              <a:buChar char="l"/>
            </a:pPr>
            <a:r>
              <a:rPr lang="zh-CN" altLang="en-US" dirty="0">
                <a:latin typeface="+mn-ea"/>
                <a:cs typeface="Times New Roman" panose="02020603050405020304" pitchFamily="18" charset="0"/>
              </a:rPr>
              <a:t>提高软件质量和用户满意度</a:t>
            </a:r>
          </a:p>
          <a:p>
            <a:pPr marL="285750" indent="-285750">
              <a:lnSpc>
                <a:spcPct val="150000"/>
              </a:lnSpc>
              <a:spcAft>
                <a:spcPts val="600"/>
              </a:spcAft>
              <a:buFont typeface="Wingdings" panose="05000000000000000000" pitchFamily="2" charset="2"/>
              <a:buChar char="l"/>
            </a:pPr>
            <a:r>
              <a:rPr lang="zh-CN" altLang="en-US" dirty="0">
                <a:latin typeface="+mn-ea"/>
                <a:cs typeface="Times New Roman" panose="02020603050405020304" pitchFamily="18" charset="0"/>
              </a:rPr>
              <a:t>实现敏捷和快速反馈</a:t>
            </a:r>
          </a:p>
        </p:txBody>
      </p:sp>
      <p:pic>
        <p:nvPicPr>
          <p:cNvPr id="5" name="图片 4" descr="光盘上有字&#10;&#10;中度可信度描述已自动生成">
            <a:extLst>
              <a:ext uri="{FF2B5EF4-FFF2-40B4-BE49-F238E27FC236}">
                <a16:creationId xmlns:a16="http://schemas.microsoft.com/office/drawing/2014/main" id="{4F41CD41-6FC3-7EE4-7644-94C253CBDBF8}"/>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47415" t="-1568" r="-695" b="1568"/>
          <a:stretch/>
        </p:blipFill>
        <p:spPr>
          <a:xfrm>
            <a:off x="718218" y="1281128"/>
            <a:ext cx="5377782" cy="4766356"/>
          </a:xfrm>
          <a:prstGeom prst="rect">
            <a:avLst/>
          </a:prstGeom>
        </p:spPr>
      </p:pic>
    </p:spTree>
    <p:extLst>
      <p:ext uri="{BB962C8B-B14F-4D97-AF65-F5344CB8AC3E}">
        <p14:creationId xmlns:p14="http://schemas.microsoft.com/office/powerpoint/2010/main" val="35430687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14AAC9-ACB0-49FC-A6EE-6BDA13EC5753}"/>
              </a:ext>
            </a:extLst>
          </p:cNvPr>
          <p:cNvSpPr>
            <a:spLocks noGrp="1"/>
          </p:cNvSpPr>
          <p:nvPr>
            <p:ph type="title"/>
          </p:nvPr>
        </p:nvSpPr>
        <p:spPr/>
        <p:txBody>
          <a:bodyPr>
            <a:normAutofit/>
          </a:bodyPr>
          <a:lstStyle/>
          <a:p>
            <a:r>
              <a:rPr lang="en-US" altLang="zh-CN"/>
              <a:t>02 </a:t>
            </a:r>
            <a:r>
              <a:rPr lang="zh-CN" altLang="en-US"/>
              <a:t>持续交付</a:t>
            </a:r>
          </a:p>
        </p:txBody>
      </p:sp>
      <p:sp>
        <p:nvSpPr>
          <p:cNvPr id="3" name="灯片编号占位符 2">
            <a:extLst>
              <a:ext uri="{FF2B5EF4-FFF2-40B4-BE49-F238E27FC236}">
                <a16:creationId xmlns:a16="http://schemas.microsoft.com/office/drawing/2014/main" id="{8BD995E4-EA54-46FD-A180-14744ABC5EC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AC388E-FA9E-4A2C-95EA-1F6B3A07935A}" type="slidenum">
              <a:rPr kumimoji="0" lang="zh-CN" altLang="en-US" sz="1400" b="1" i="0" u="none" strike="noStrike" kern="1200" cap="none" spc="0" normalizeH="0" baseline="0" noProof="0" smtClean="0">
                <a:ln>
                  <a:noFill/>
                </a:ln>
                <a:solidFill>
                  <a:srgbClr val="000000"/>
                </a:solidFill>
                <a:effectLst/>
                <a:uLnTx/>
                <a:uFillTx/>
                <a:latin typeface="Arial"/>
                <a:ea typeface="Microsoft YaHei"/>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zh-CN" altLang="en-US" sz="1400" b="1" i="0" u="none" strike="noStrike" kern="1200" cap="none" spc="0" normalizeH="0" baseline="0" noProof="0">
              <a:ln>
                <a:noFill/>
              </a:ln>
              <a:solidFill>
                <a:srgbClr val="000000"/>
              </a:solidFill>
              <a:effectLst/>
              <a:uLnTx/>
              <a:uFillTx/>
              <a:latin typeface="Arial"/>
              <a:ea typeface="Microsoft YaHei"/>
              <a:cs typeface="+mn-cs"/>
            </a:endParaRPr>
          </a:p>
        </p:txBody>
      </p:sp>
      <p:sp>
        <p:nvSpPr>
          <p:cNvPr id="4" name="文本框 3">
            <a:extLst>
              <a:ext uri="{FF2B5EF4-FFF2-40B4-BE49-F238E27FC236}">
                <a16:creationId xmlns:a16="http://schemas.microsoft.com/office/drawing/2014/main" id="{03FFCBBC-1D22-D39D-00F0-BECE05053EC6}"/>
              </a:ext>
            </a:extLst>
          </p:cNvPr>
          <p:cNvSpPr txBox="1"/>
          <p:nvPr/>
        </p:nvSpPr>
        <p:spPr>
          <a:xfrm>
            <a:off x="718218" y="874354"/>
            <a:ext cx="4788205" cy="700129"/>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zh-CN" altLang="en-US" dirty="0"/>
              <a:t>持续集成和持续交付异同</a:t>
            </a:r>
            <a:endParaRPr lang="en-US" altLang="zh-CN" dirty="0"/>
          </a:p>
        </p:txBody>
      </p:sp>
      <p:sp>
        <p:nvSpPr>
          <p:cNvPr id="5" name="梯形 6">
            <a:extLst>
              <a:ext uri="{FF2B5EF4-FFF2-40B4-BE49-F238E27FC236}">
                <a16:creationId xmlns:a16="http://schemas.microsoft.com/office/drawing/2014/main" id="{AC1EC339-0DD4-3AFC-3E72-B066152FF530}"/>
              </a:ext>
            </a:extLst>
          </p:cNvPr>
          <p:cNvSpPr/>
          <p:nvPr/>
        </p:nvSpPr>
        <p:spPr>
          <a:xfrm flipV="1">
            <a:off x="6197128" y="1813175"/>
            <a:ext cx="5130068" cy="4620996"/>
          </a:xfrm>
          <a:custGeom>
            <a:avLst/>
            <a:gdLst>
              <a:gd name="connsiteX0" fmla="*/ 0 w 3845406"/>
              <a:gd name="connsiteY0" fmla="*/ 1519653 h 1519653"/>
              <a:gd name="connsiteX1" fmla="*/ 317927 w 3845406"/>
              <a:gd name="connsiteY1" fmla="*/ 0 h 1519653"/>
              <a:gd name="connsiteX2" fmla="*/ 3527479 w 3845406"/>
              <a:gd name="connsiteY2" fmla="*/ 0 h 1519653"/>
              <a:gd name="connsiteX3" fmla="*/ 3845406 w 3845406"/>
              <a:gd name="connsiteY3" fmla="*/ 1519653 h 1519653"/>
              <a:gd name="connsiteX4" fmla="*/ 0 w 3845406"/>
              <a:gd name="connsiteY4" fmla="*/ 1519653 h 1519653"/>
              <a:gd name="connsiteX0" fmla="*/ 0 w 3845406"/>
              <a:gd name="connsiteY0" fmla="*/ 1519653 h 1519653"/>
              <a:gd name="connsiteX1" fmla="*/ 317927 w 3845406"/>
              <a:gd name="connsiteY1" fmla="*/ 0 h 1519653"/>
              <a:gd name="connsiteX2" fmla="*/ 3752205 w 3845406"/>
              <a:gd name="connsiteY2" fmla="*/ 263471 h 1519653"/>
              <a:gd name="connsiteX3" fmla="*/ 3845406 w 3845406"/>
              <a:gd name="connsiteY3" fmla="*/ 1519653 h 1519653"/>
              <a:gd name="connsiteX4" fmla="*/ 0 w 3845406"/>
              <a:gd name="connsiteY4" fmla="*/ 1519653 h 1519653"/>
              <a:gd name="connsiteX0" fmla="*/ 0 w 3891901"/>
              <a:gd name="connsiteY0" fmla="*/ 1783124 h 1783124"/>
              <a:gd name="connsiteX1" fmla="*/ 364422 w 3891901"/>
              <a:gd name="connsiteY1" fmla="*/ 0 h 1783124"/>
              <a:gd name="connsiteX2" fmla="*/ 3798700 w 3891901"/>
              <a:gd name="connsiteY2" fmla="*/ 263471 h 1783124"/>
              <a:gd name="connsiteX3" fmla="*/ 3891901 w 3891901"/>
              <a:gd name="connsiteY3" fmla="*/ 1519653 h 1783124"/>
              <a:gd name="connsiteX4" fmla="*/ 0 w 3891901"/>
              <a:gd name="connsiteY4" fmla="*/ 1783124 h 1783124"/>
              <a:gd name="connsiteX0" fmla="*/ 0 w 3891901"/>
              <a:gd name="connsiteY0" fmla="*/ 1829619 h 1829619"/>
              <a:gd name="connsiteX1" fmla="*/ 364422 w 3891901"/>
              <a:gd name="connsiteY1" fmla="*/ 0 h 1829619"/>
              <a:gd name="connsiteX2" fmla="*/ 3798700 w 3891901"/>
              <a:gd name="connsiteY2" fmla="*/ 309966 h 1829619"/>
              <a:gd name="connsiteX3" fmla="*/ 3891901 w 3891901"/>
              <a:gd name="connsiteY3" fmla="*/ 1566148 h 1829619"/>
              <a:gd name="connsiteX4" fmla="*/ 0 w 3891901"/>
              <a:gd name="connsiteY4" fmla="*/ 1829619 h 1829619"/>
              <a:gd name="connsiteX0" fmla="*/ 0 w 3827144"/>
              <a:gd name="connsiteY0" fmla="*/ 1657824 h 1657824"/>
              <a:gd name="connsiteX1" fmla="*/ 299665 w 3827144"/>
              <a:gd name="connsiteY1" fmla="*/ 0 h 1657824"/>
              <a:gd name="connsiteX2" fmla="*/ 3733943 w 3827144"/>
              <a:gd name="connsiteY2" fmla="*/ 309966 h 1657824"/>
              <a:gd name="connsiteX3" fmla="*/ 3827144 w 3827144"/>
              <a:gd name="connsiteY3" fmla="*/ 1566148 h 1657824"/>
              <a:gd name="connsiteX4" fmla="*/ 0 w 3827144"/>
              <a:gd name="connsiteY4" fmla="*/ 1657824 h 1657824"/>
              <a:gd name="connsiteX0" fmla="*/ 0 w 3827144"/>
              <a:gd name="connsiteY0" fmla="*/ 1423037 h 1423037"/>
              <a:gd name="connsiteX1" fmla="*/ 196054 w 3827144"/>
              <a:gd name="connsiteY1" fmla="*/ 0 h 1423037"/>
              <a:gd name="connsiteX2" fmla="*/ 3733943 w 3827144"/>
              <a:gd name="connsiteY2" fmla="*/ 75179 h 1423037"/>
              <a:gd name="connsiteX3" fmla="*/ 3827144 w 3827144"/>
              <a:gd name="connsiteY3" fmla="*/ 1331361 h 1423037"/>
              <a:gd name="connsiteX4" fmla="*/ 0 w 3827144"/>
              <a:gd name="connsiteY4" fmla="*/ 1423037 h 14230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27144" h="1423037">
                <a:moveTo>
                  <a:pt x="0" y="1423037"/>
                </a:moveTo>
                <a:lnTo>
                  <a:pt x="196054" y="0"/>
                </a:lnTo>
                <a:lnTo>
                  <a:pt x="3733943" y="75179"/>
                </a:lnTo>
                <a:lnTo>
                  <a:pt x="3827144" y="1331361"/>
                </a:lnTo>
                <a:lnTo>
                  <a:pt x="0" y="1423037"/>
                </a:lnTo>
                <a:close/>
              </a:path>
            </a:pathLst>
          </a:custGeom>
          <a:solidFill>
            <a:srgbClr val="003F88">
              <a:alpha val="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icrosoft YaHei"/>
              <a:cs typeface="+mn-cs"/>
            </a:endParaRPr>
          </a:p>
        </p:txBody>
      </p:sp>
      <p:sp>
        <p:nvSpPr>
          <p:cNvPr id="6" name="梯形 6">
            <a:extLst>
              <a:ext uri="{FF2B5EF4-FFF2-40B4-BE49-F238E27FC236}">
                <a16:creationId xmlns:a16="http://schemas.microsoft.com/office/drawing/2014/main" id="{2E2012C0-0613-9DEF-35C5-D71FB60C53CF}"/>
              </a:ext>
            </a:extLst>
          </p:cNvPr>
          <p:cNvSpPr/>
          <p:nvPr/>
        </p:nvSpPr>
        <p:spPr>
          <a:xfrm flipH="1" flipV="1">
            <a:off x="796846" y="1813175"/>
            <a:ext cx="5130068" cy="4620996"/>
          </a:xfrm>
          <a:custGeom>
            <a:avLst/>
            <a:gdLst>
              <a:gd name="connsiteX0" fmla="*/ 0 w 3845406"/>
              <a:gd name="connsiteY0" fmla="*/ 1519653 h 1519653"/>
              <a:gd name="connsiteX1" fmla="*/ 317927 w 3845406"/>
              <a:gd name="connsiteY1" fmla="*/ 0 h 1519653"/>
              <a:gd name="connsiteX2" fmla="*/ 3527479 w 3845406"/>
              <a:gd name="connsiteY2" fmla="*/ 0 h 1519653"/>
              <a:gd name="connsiteX3" fmla="*/ 3845406 w 3845406"/>
              <a:gd name="connsiteY3" fmla="*/ 1519653 h 1519653"/>
              <a:gd name="connsiteX4" fmla="*/ 0 w 3845406"/>
              <a:gd name="connsiteY4" fmla="*/ 1519653 h 1519653"/>
              <a:gd name="connsiteX0" fmla="*/ 0 w 3845406"/>
              <a:gd name="connsiteY0" fmla="*/ 1519653 h 1519653"/>
              <a:gd name="connsiteX1" fmla="*/ 317927 w 3845406"/>
              <a:gd name="connsiteY1" fmla="*/ 0 h 1519653"/>
              <a:gd name="connsiteX2" fmla="*/ 3752205 w 3845406"/>
              <a:gd name="connsiteY2" fmla="*/ 263471 h 1519653"/>
              <a:gd name="connsiteX3" fmla="*/ 3845406 w 3845406"/>
              <a:gd name="connsiteY3" fmla="*/ 1519653 h 1519653"/>
              <a:gd name="connsiteX4" fmla="*/ 0 w 3845406"/>
              <a:gd name="connsiteY4" fmla="*/ 1519653 h 1519653"/>
              <a:gd name="connsiteX0" fmla="*/ 0 w 3891901"/>
              <a:gd name="connsiteY0" fmla="*/ 1783124 h 1783124"/>
              <a:gd name="connsiteX1" fmla="*/ 364422 w 3891901"/>
              <a:gd name="connsiteY1" fmla="*/ 0 h 1783124"/>
              <a:gd name="connsiteX2" fmla="*/ 3798700 w 3891901"/>
              <a:gd name="connsiteY2" fmla="*/ 263471 h 1783124"/>
              <a:gd name="connsiteX3" fmla="*/ 3891901 w 3891901"/>
              <a:gd name="connsiteY3" fmla="*/ 1519653 h 1783124"/>
              <a:gd name="connsiteX4" fmla="*/ 0 w 3891901"/>
              <a:gd name="connsiteY4" fmla="*/ 1783124 h 1783124"/>
              <a:gd name="connsiteX0" fmla="*/ 0 w 3891901"/>
              <a:gd name="connsiteY0" fmla="*/ 1829619 h 1829619"/>
              <a:gd name="connsiteX1" fmla="*/ 364422 w 3891901"/>
              <a:gd name="connsiteY1" fmla="*/ 0 h 1829619"/>
              <a:gd name="connsiteX2" fmla="*/ 3798700 w 3891901"/>
              <a:gd name="connsiteY2" fmla="*/ 309966 h 1829619"/>
              <a:gd name="connsiteX3" fmla="*/ 3891901 w 3891901"/>
              <a:gd name="connsiteY3" fmla="*/ 1566148 h 1829619"/>
              <a:gd name="connsiteX4" fmla="*/ 0 w 3891901"/>
              <a:gd name="connsiteY4" fmla="*/ 1829619 h 1829619"/>
              <a:gd name="connsiteX0" fmla="*/ 0 w 3827144"/>
              <a:gd name="connsiteY0" fmla="*/ 1657824 h 1657824"/>
              <a:gd name="connsiteX1" fmla="*/ 299665 w 3827144"/>
              <a:gd name="connsiteY1" fmla="*/ 0 h 1657824"/>
              <a:gd name="connsiteX2" fmla="*/ 3733943 w 3827144"/>
              <a:gd name="connsiteY2" fmla="*/ 309966 h 1657824"/>
              <a:gd name="connsiteX3" fmla="*/ 3827144 w 3827144"/>
              <a:gd name="connsiteY3" fmla="*/ 1566148 h 1657824"/>
              <a:gd name="connsiteX4" fmla="*/ 0 w 3827144"/>
              <a:gd name="connsiteY4" fmla="*/ 1657824 h 1657824"/>
              <a:gd name="connsiteX0" fmla="*/ 0 w 3827144"/>
              <a:gd name="connsiteY0" fmla="*/ 1423037 h 1423037"/>
              <a:gd name="connsiteX1" fmla="*/ 196054 w 3827144"/>
              <a:gd name="connsiteY1" fmla="*/ 0 h 1423037"/>
              <a:gd name="connsiteX2" fmla="*/ 3733943 w 3827144"/>
              <a:gd name="connsiteY2" fmla="*/ 75179 h 1423037"/>
              <a:gd name="connsiteX3" fmla="*/ 3827144 w 3827144"/>
              <a:gd name="connsiteY3" fmla="*/ 1331361 h 1423037"/>
              <a:gd name="connsiteX4" fmla="*/ 0 w 3827144"/>
              <a:gd name="connsiteY4" fmla="*/ 1423037 h 14230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27144" h="1423037">
                <a:moveTo>
                  <a:pt x="0" y="1423037"/>
                </a:moveTo>
                <a:lnTo>
                  <a:pt x="196054" y="0"/>
                </a:lnTo>
                <a:lnTo>
                  <a:pt x="3733943" y="75179"/>
                </a:lnTo>
                <a:lnTo>
                  <a:pt x="3827144" y="1331361"/>
                </a:lnTo>
                <a:lnTo>
                  <a:pt x="0" y="1423037"/>
                </a:lnTo>
                <a:close/>
              </a:path>
            </a:pathLst>
          </a:custGeom>
          <a:solidFill>
            <a:srgbClr val="003F88">
              <a:alpha val="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icrosoft YaHei"/>
              <a:cs typeface="+mn-cs"/>
            </a:endParaRPr>
          </a:p>
        </p:txBody>
      </p:sp>
      <p:grpSp>
        <p:nvGrpSpPr>
          <p:cNvPr id="7" name="组合 6">
            <a:extLst>
              <a:ext uri="{FF2B5EF4-FFF2-40B4-BE49-F238E27FC236}">
                <a16:creationId xmlns:a16="http://schemas.microsoft.com/office/drawing/2014/main" id="{CACCC669-48A2-DD9D-EA31-A3173EACBC0B}"/>
              </a:ext>
            </a:extLst>
          </p:cNvPr>
          <p:cNvGrpSpPr/>
          <p:nvPr/>
        </p:nvGrpSpPr>
        <p:grpSpPr>
          <a:xfrm>
            <a:off x="1633265" y="1663983"/>
            <a:ext cx="3251956" cy="777211"/>
            <a:chOff x="2080078" y="1301607"/>
            <a:chExt cx="2896524" cy="694518"/>
          </a:xfrm>
        </p:grpSpPr>
        <p:grpSp>
          <p:nvGrpSpPr>
            <p:cNvPr id="8" name="组合 7">
              <a:extLst>
                <a:ext uri="{FF2B5EF4-FFF2-40B4-BE49-F238E27FC236}">
                  <a16:creationId xmlns:a16="http://schemas.microsoft.com/office/drawing/2014/main" id="{12DBE5EF-B5C3-15CF-2A90-7F6328B5CECD}"/>
                </a:ext>
              </a:extLst>
            </p:cNvPr>
            <p:cNvGrpSpPr/>
            <p:nvPr/>
          </p:nvGrpSpPr>
          <p:grpSpPr>
            <a:xfrm>
              <a:off x="2080078" y="1301607"/>
              <a:ext cx="2896524" cy="694518"/>
              <a:chOff x="1162373" y="1563389"/>
              <a:chExt cx="4703732" cy="4951709"/>
            </a:xfrm>
          </p:grpSpPr>
          <p:sp>
            <p:nvSpPr>
              <p:cNvPr id="10" name="梯形 6">
                <a:extLst>
                  <a:ext uri="{FF2B5EF4-FFF2-40B4-BE49-F238E27FC236}">
                    <a16:creationId xmlns:a16="http://schemas.microsoft.com/office/drawing/2014/main" id="{C6CBD049-4A10-7C67-9BD7-3A3198C5B139}"/>
                  </a:ext>
                </a:extLst>
              </p:cNvPr>
              <p:cNvSpPr/>
              <p:nvPr/>
            </p:nvSpPr>
            <p:spPr>
              <a:xfrm flipV="1">
                <a:off x="1162373" y="1563389"/>
                <a:ext cx="4657241" cy="4951709"/>
              </a:xfrm>
              <a:custGeom>
                <a:avLst/>
                <a:gdLst>
                  <a:gd name="connsiteX0" fmla="*/ 0 w 3845406"/>
                  <a:gd name="connsiteY0" fmla="*/ 1519653 h 1519653"/>
                  <a:gd name="connsiteX1" fmla="*/ 317927 w 3845406"/>
                  <a:gd name="connsiteY1" fmla="*/ 0 h 1519653"/>
                  <a:gd name="connsiteX2" fmla="*/ 3527479 w 3845406"/>
                  <a:gd name="connsiteY2" fmla="*/ 0 h 1519653"/>
                  <a:gd name="connsiteX3" fmla="*/ 3845406 w 3845406"/>
                  <a:gd name="connsiteY3" fmla="*/ 1519653 h 1519653"/>
                  <a:gd name="connsiteX4" fmla="*/ 0 w 3845406"/>
                  <a:gd name="connsiteY4" fmla="*/ 1519653 h 1519653"/>
                  <a:gd name="connsiteX0" fmla="*/ 0 w 3845406"/>
                  <a:gd name="connsiteY0" fmla="*/ 1519653 h 1519653"/>
                  <a:gd name="connsiteX1" fmla="*/ 317927 w 3845406"/>
                  <a:gd name="connsiteY1" fmla="*/ 0 h 1519653"/>
                  <a:gd name="connsiteX2" fmla="*/ 3752205 w 3845406"/>
                  <a:gd name="connsiteY2" fmla="*/ 263471 h 1519653"/>
                  <a:gd name="connsiteX3" fmla="*/ 3845406 w 3845406"/>
                  <a:gd name="connsiteY3" fmla="*/ 1519653 h 1519653"/>
                  <a:gd name="connsiteX4" fmla="*/ 0 w 3845406"/>
                  <a:gd name="connsiteY4" fmla="*/ 1519653 h 1519653"/>
                  <a:gd name="connsiteX0" fmla="*/ 0 w 3891901"/>
                  <a:gd name="connsiteY0" fmla="*/ 1783124 h 1783124"/>
                  <a:gd name="connsiteX1" fmla="*/ 364422 w 3891901"/>
                  <a:gd name="connsiteY1" fmla="*/ 0 h 1783124"/>
                  <a:gd name="connsiteX2" fmla="*/ 3798700 w 3891901"/>
                  <a:gd name="connsiteY2" fmla="*/ 263471 h 1783124"/>
                  <a:gd name="connsiteX3" fmla="*/ 3891901 w 3891901"/>
                  <a:gd name="connsiteY3" fmla="*/ 1519653 h 1783124"/>
                  <a:gd name="connsiteX4" fmla="*/ 0 w 3891901"/>
                  <a:gd name="connsiteY4" fmla="*/ 1783124 h 1783124"/>
                  <a:gd name="connsiteX0" fmla="*/ 0 w 3891901"/>
                  <a:gd name="connsiteY0" fmla="*/ 1829619 h 1829619"/>
                  <a:gd name="connsiteX1" fmla="*/ 364422 w 3891901"/>
                  <a:gd name="connsiteY1" fmla="*/ 0 h 1829619"/>
                  <a:gd name="connsiteX2" fmla="*/ 3798700 w 3891901"/>
                  <a:gd name="connsiteY2" fmla="*/ 309966 h 1829619"/>
                  <a:gd name="connsiteX3" fmla="*/ 3891901 w 3891901"/>
                  <a:gd name="connsiteY3" fmla="*/ 1566148 h 1829619"/>
                  <a:gd name="connsiteX4" fmla="*/ 0 w 3891901"/>
                  <a:gd name="connsiteY4" fmla="*/ 1829619 h 18296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1901" h="1829619">
                    <a:moveTo>
                      <a:pt x="0" y="1829619"/>
                    </a:moveTo>
                    <a:lnTo>
                      <a:pt x="364422" y="0"/>
                    </a:lnTo>
                    <a:lnTo>
                      <a:pt x="3798700" y="309966"/>
                    </a:lnTo>
                    <a:lnTo>
                      <a:pt x="3891901" y="1566148"/>
                    </a:lnTo>
                    <a:lnTo>
                      <a:pt x="0" y="1829619"/>
                    </a:lnTo>
                    <a:close/>
                  </a:path>
                </a:pathLst>
              </a:custGeom>
              <a:noFill/>
              <a:ln w="38100">
                <a:solidFill>
                  <a:srgbClr val="003F88">
                    <a:alpha val="1019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icrosoft YaHei"/>
                  <a:cs typeface="+mn-cs"/>
                </a:endParaRPr>
              </a:p>
            </p:txBody>
          </p:sp>
          <p:sp>
            <p:nvSpPr>
              <p:cNvPr id="11" name="梯形 6">
                <a:extLst>
                  <a:ext uri="{FF2B5EF4-FFF2-40B4-BE49-F238E27FC236}">
                    <a16:creationId xmlns:a16="http://schemas.microsoft.com/office/drawing/2014/main" id="{22D3B5EA-10E9-FDD5-04CD-DDE2F98D7C87}"/>
                  </a:ext>
                </a:extLst>
              </p:cNvPr>
              <p:cNvSpPr/>
              <p:nvPr/>
            </p:nvSpPr>
            <p:spPr>
              <a:xfrm flipH="1" flipV="1">
                <a:off x="1286356" y="1893696"/>
                <a:ext cx="4579749" cy="4460608"/>
              </a:xfrm>
              <a:custGeom>
                <a:avLst/>
                <a:gdLst>
                  <a:gd name="connsiteX0" fmla="*/ 0 w 3845406"/>
                  <a:gd name="connsiteY0" fmla="*/ 1519653 h 1519653"/>
                  <a:gd name="connsiteX1" fmla="*/ 317927 w 3845406"/>
                  <a:gd name="connsiteY1" fmla="*/ 0 h 1519653"/>
                  <a:gd name="connsiteX2" fmla="*/ 3527479 w 3845406"/>
                  <a:gd name="connsiteY2" fmla="*/ 0 h 1519653"/>
                  <a:gd name="connsiteX3" fmla="*/ 3845406 w 3845406"/>
                  <a:gd name="connsiteY3" fmla="*/ 1519653 h 1519653"/>
                  <a:gd name="connsiteX4" fmla="*/ 0 w 3845406"/>
                  <a:gd name="connsiteY4" fmla="*/ 1519653 h 1519653"/>
                  <a:gd name="connsiteX0" fmla="*/ 0 w 3845406"/>
                  <a:gd name="connsiteY0" fmla="*/ 1519653 h 1519653"/>
                  <a:gd name="connsiteX1" fmla="*/ 317927 w 3845406"/>
                  <a:gd name="connsiteY1" fmla="*/ 0 h 1519653"/>
                  <a:gd name="connsiteX2" fmla="*/ 3752205 w 3845406"/>
                  <a:gd name="connsiteY2" fmla="*/ 263471 h 1519653"/>
                  <a:gd name="connsiteX3" fmla="*/ 3845406 w 3845406"/>
                  <a:gd name="connsiteY3" fmla="*/ 1519653 h 1519653"/>
                  <a:gd name="connsiteX4" fmla="*/ 0 w 3845406"/>
                  <a:gd name="connsiteY4" fmla="*/ 1519653 h 1519653"/>
                  <a:gd name="connsiteX0" fmla="*/ 0 w 3891901"/>
                  <a:gd name="connsiteY0" fmla="*/ 1783124 h 1783124"/>
                  <a:gd name="connsiteX1" fmla="*/ 364422 w 3891901"/>
                  <a:gd name="connsiteY1" fmla="*/ 0 h 1783124"/>
                  <a:gd name="connsiteX2" fmla="*/ 3798700 w 3891901"/>
                  <a:gd name="connsiteY2" fmla="*/ 263471 h 1783124"/>
                  <a:gd name="connsiteX3" fmla="*/ 3891901 w 3891901"/>
                  <a:gd name="connsiteY3" fmla="*/ 1519653 h 1783124"/>
                  <a:gd name="connsiteX4" fmla="*/ 0 w 3891901"/>
                  <a:gd name="connsiteY4" fmla="*/ 1783124 h 1783124"/>
                  <a:gd name="connsiteX0" fmla="*/ 0 w 3891901"/>
                  <a:gd name="connsiteY0" fmla="*/ 1829619 h 1829619"/>
                  <a:gd name="connsiteX1" fmla="*/ 364422 w 3891901"/>
                  <a:gd name="connsiteY1" fmla="*/ 0 h 1829619"/>
                  <a:gd name="connsiteX2" fmla="*/ 3798700 w 3891901"/>
                  <a:gd name="connsiteY2" fmla="*/ 309966 h 1829619"/>
                  <a:gd name="connsiteX3" fmla="*/ 3891901 w 3891901"/>
                  <a:gd name="connsiteY3" fmla="*/ 1566148 h 1829619"/>
                  <a:gd name="connsiteX4" fmla="*/ 0 w 3891901"/>
                  <a:gd name="connsiteY4" fmla="*/ 1829619 h 1829619"/>
                  <a:gd name="connsiteX0" fmla="*/ 0 w 3827144"/>
                  <a:gd name="connsiteY0" fmla="*/ 1657824 h 1657824"/>
                  <a:gd name="connsiteX1" fmla="*/ 299665 w 3827144"/>
                  <a:gd name="connsiteY1" fmla="*/ 0 h 1657824"/>
                  <a:gd name="connsiteX2" fmla="*/ 3733943 w 3827144"/>
                  <a:gd name="connsiteY2" fmla="*/ 309966 h 1657824"/>
                  <a:gd name="connsiteX3" fmla="*/ 3827144 w 3827144"/>
                  <a:gd name="connsiteY3" fmla="*/ 1566148 h 1657824"/>
                  <a:gd name="connsiteX4" fmla="*/ 0 w 3827144"/>
                  <a:gd name="connsiteY4" fmla="*/ 1657824 h 1657824"/>
                  <a:gd name="connsiteX0" fmla="*/ 0 w 3827144"/>
                  <a:gd name="connsiteY0" fmla="*/ 1423037 h 1423037"/>
                  <a:gd name="connsiteX1" fmla="*/ 196054 w 3827144"/>
                  <a:gd name="connsiteY1" fmla="*/ 0 h 1423037"/>
                  <a:gd name="connsiteX2" fmla="*/ 3733943 w 3827144"/>
                  <a:gd name="connsiteY2" fmla="*/ 75179 h 1423037"/>
                  <a:gd name="connsiteX3" fmla="*/ 3827144 w 3827144"/>
                  <a:gd name="connsiteY3" fmla="*/ 1331361 h 1423037"/>
                  <a:gd name="connsiteX4" fmla="*/ 0 w 3827144"/>
                  <a:gd name="connsiteY4" fmla="*/ 1423037 h 14230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27144" h="1423037">
                    <a:moveTo>
                      <a:pt x="0" y="1423037"/>
                    </a:moveTo>
                    <a:lnTo>
                      <a:pt x="196054" y="0"/>
                    </a:lnTo>
                    <a:lnTo>
                      <a:pt x="3733943" y="75179"/>
                    </a:lnTo>
                    <a:lnTo>
                      <a:pt x="3827144" y="1331361"/>
                    </a:lnTo>
                    <a:lnTo>
                      <a:pt x="0" y="1423037"/>
                    </a:lnTo>
                    <a:close/>
                  </a:path>
                </a:pathLst>
              </a:custGeom>
              <a:solidFill>
                <a:srgbClr val="003F88">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icrosoft YaHei"/>
                  <a:cs typeface="+mn-cs"/>
                </a:endParaRPr>
              </a:p>
            </p:txBody>
          </p:sp>
        </p:grpSp>
        <p:sp>
          <p:nvSpPr>
            <p:cNvPr id="9" name="文本框 8">
              <a:extLst>
                <a:ext uri="{FF2B5EF4-FFF2-40B4-BE49-F238E27FC236}">
                  <a16:creationId xmlns:a16="http://schemas.microsoft.com/office/drawing/2014/main" id="{22660C29-99E8-D4BC-D5F6-4A3BFEB7A9A7}"/>
                </a:ext>
              </a:extLst>
            </p:cNvPr>
            <p:cNvSpPr txBox="1"/>
            <p:nvPr/>
          </p:nvSpPr>
          <p:spPr>
            <a:xfrm>
              <a:off x="2156740" y="1450799"/>
              <a:ext cx="2743200" cy="444403"/>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100"/>
                </a:spcAft>
                <a:buClrTx/>
                <a:buSzTx/>
                <a:buFontTx/>
                <a:buNone/>
                <a:tabLst/>
                <a:defRPr/>
              </a:pPr>
              <a:r>
                <a:rPr kumimoji="0" lang="zh-CN" altLang="en-US" sz="2400" b="1" i="0" u="none" strike="noStrike" kern="1200" cap="none" spc="0" normalizeH="0" baseline="0" noProof="0">
                  <a:ln>
                    <a:noFill/>
                  </a:ln>
                  <a:solidFill>
                    <a:srgbClr val="3F3F3F">
                      <a:lumMod val="50000"/>
                    </a:srgbClr>
                  </a:solidFill>
                  <a:effectLst/>
                  <a:uLnTx/>
                  <a:uFillTx/>
                  <a:latin typeface="Arial"/>
                  <a:ea typeface="Microsoft YaHei"/>
                  <a:cs typeface="+mn-cs"/>
                </a:rPr>
                <a:t>异</a:t>
              </a:r>
            </a:p>
          </p:txBody>
        </p:sp>
      </p:grpSp>
      <p:sp>
        <p:nvSpPr>
          <p:cNvPr id="12" name="文本框 11">
            <a:extLst>
              <a:ext uri="{FF2B5EF4-FFF2-40B4-BE49-F238E27FC236}">
                <a16:creationId xmlns:a16="http://schemas.microsoft.com/office/drawing/2014/main" id="{0851FAFE-2430-D382-3D4D-55C110795F1A}"/>
              </a:ext>
            </a:extLst>
          </p:cNvPr>
          <p:cNvSpPr txBox="1"/>
          <p:nvPr/>
        </p:nvSpPr>
        <p:spPr>
          <a:xfrm>
            <a:off x="982980" y="2349486"/>
            <a:ext cx="4655287" cy="3828514"/>
          </a:xfrm>
          <a:prstGeom prst="rect">
            <a:avLst/>
          </a:prstGeom>
          <a:noFill/>
        </p:spPr>
        <p:txBody>
          <a:bodyPr wrap="square" lIns="0" rIns="0" rtlCol="0" anchor="ctr">
            <a:normAutofit/>
          </a:bodyPr>
          <a:lstStyle/>
          <a:p>
            <a:pPr indent="457200">
              <a:lnSpc>
                <a:spcPct val="150000"/>
              </a:lnSpc>
              <a:spcAft>
                <a:spcPts val="500"/>
              </a:spcAft>
            </a:pPr>
            <a:r>
              <a:rPr lang="zh-CN" altLang="en-US"/>
              <a:t>持续集成和持续交付的主要区别在于部署阶段。持续集成只关注代码的构建和测试，而不涉及部署到生产环境。持续交付则包含了部署到类生产环境或用户可评审的环境的步骤，但最终部署到生产环境还需要人工确认。</a:t>
            </a:r>
          </a:p>
        </p:txBody>
      </p:sp>
      <p:grpSp>
        <p:nvGrpSpPr>
          <p:cNvPr id="13" name="组合 12">
            <a:extLst>
              <a:ext uri="{FF2B5EF4-FFF2-40B4-BE49-F238E27FC236}">
                <a16:creationId xmlns:a16="http://schemas.microsoft.com/office/drawing/2014/main" id="{EE169679-8D97-3C2B-1AE2-1EA6072D1732}"/>
              </a:ext>
            </a:extLst>
          </p:cNvPr>
          <p:cNvGrpSpPr/>
          <p:nvPr/>
        </p:nvGrpSpPr>
        <p:grpSpPr>
          <a:xfrm>
            <a:off x="7033547" y="1663983"/>
            <a:ext cx="3251956" cy="777211"/>
            <a:chOff x="2080078" y="1301607"/>
            <a:chExt cx="2896524" cy="694518"/>
          </a:xfrm>
        </p:grpSpPr>
        <p:grpSp>
          <p:nvGrpSpPr>
            <p:cNvPr id="14" name="组合 13">
              <a:extLst>
                <a:ext uri="{FF2B5EF4-FFF2-40B4-BE49-F238E27FC236}">
                  <a16:creationId xmlns:a16="http://schemas.microsoft.com/office/drawing/2014/main" id="{79F0BA08-F749-92EA-963F-F5240C171899}"/>
                </a:ext>
              </a:extLst>
            </p:cNvPr>
            <p:cNvGrpSpPr/>
            <p:nvPr/>
          </p:nvGrpSpPr>
          <p:grpSpPr>
            <a:xfrm>
              <a:off x="2080078" y="1301607"/>
              <a:ext cx="2896524" cy="694518"/>
              <a:chOff x="1162373" y="1563389"/>
              <a:chExt cx="4703732" cy="4951709"/>
            </a:xfrm>
          </p:grpSpPr>
          <p:sp>
            <p:nvSpPr>
              <p:cNvPr id="16" name="梯形 6">
                <a:extLst>
                  <a:ext uri="{FF2B5EF4-FFF2-40B4-BE49-F238E27FC236}">
                    <a16:creationId xmlns:a16="http://schemas.microsoft.com/office/drawing/2014/main" id="{1A7A49DB-3E77-9D5B-6C99-5F7E299B1A60}"/>
                  </a:ext>
                </a:extLst>
              </p:cNvPr>
              <p:cNvSpPr/>
              <p:nvPr/>
            </p:nvSpPr>
            <p:spPr>
              <a:xfrm flipV="1">
                <a:off x="1162373" y="1563389"/>
                <a:ext cx="4657241" cy="4951709"/>
              </a:xfrm>
              <a:custGeom>
                <a:avLst/>
                <a:gdLst>
                  <a:gd name="connsiteX0" fmla="*/ 0 w 3845406"/>
                  <a:gd name="connsiteY0" fmla="*/ 1519653 h 1519653"/>
                  <a:gd name="connsiteX1" fmla="*/ 317927 w 3845406"/>
                  <a:gd name="connsiteY1" fmla="*/ 0 h 1519653"/>
                  <a:gd name="connsiteX2" fmla="*/ 3527479 w 3845406"/>
                  <a:gd name="connsiteY2" fmla="*/ 0 h 1519653"/>
                  <a:gd name="connsiteX3" fmla="*/ 3845406 w 3845406"/>
                  <a:gd name="connsiteY3" fmla="*/ 1519653 h 1519653"/>
                  <a:gd name="connsiteX4" fmla="*/ 0 w 3845406"/>
                  <a:gd name="connsiteY4" fmla="*/ 1519653 h 1519653"/>
                  <a:gd name="connsiteX0" fmla="*/ 0 w 3845406"/>
                  <a:gd name="connsiteY0" fmla="*/ 1519653 h 1519653"/>
                  <a:gd name="connsiteX1" fmla="*/ 317927 w 3845406"/>
                  <a:gd name="connsiteY1" fmla="*/ 0 h 1519653"/>
                  <a:gd name="connsiteX2" fmla="*/ 3752205 w 3845406"/>
                  <a:gd name="connsiteY2" fmla="*/ 263471 h 1519653"/>
                  <a:gd name="connsiteX3" fmla="*/ 3845406 w 3845406"/>
                  <a:gd name="connsiteY3" fmla="*/ 1519653 h 1519653"/>
                  <a:gd name="connsiteX4" fmla="*/ 0 w 3845406"/>
                  <a:gd name="connsiteY4" fmla="*/ 1519653 h 1519653"/>
                  <a:gd name="connsiteX0" fmla="*/ 0 w 3891901"/>
                  <a:gd name="connsiteY0" fmla="*/ 1783124 h 1783124"/>
                  <a:gd name="connsiteX1" fmla="*/ 364422 w 3891901"/>
                  <a:gd name="connsiteY1" fmla="*/ 0 h 1783124"/>
                  <a:gd name="connsiteX2" fmla="*/ 3798700 w 3891901"/>
                  <a:gd name="connsiteY2" fmla="*/ 263471 h 1783124"/>
                  <a:gd name="connsiteX3" fmla="*/ 3891901 w 3891901"/>
                  <a:gd name="connsiteY3" fmla="*/ 1519653 h 1783124"/>
                  <a:gd name="connsiteX4" fmla="*/ 0 w 3891901"/>
                  <a:gd name="connsiteY4" fmla="*/ 1783124 h 1783124"/>
                  <a:gd name="connsiteX0" fmla="*/ 0 w 3891901"/>
                  <a:gd name="connsiteY0" fmla="*/ 1829619 h 1829619"/>
                  <a:gd name="connsiteX1" fmla="*/ 364422 w 3891901"/>
                  <a:gd name="connsiteY1" fmla="*/ 0 h 1829619"/>
                  <a:gd name="connsiteX2" fmla="*/ 3798700 w 3891901"/>
                  <a:gd name="connsiteY2" fmla="*/ 309966 h 1829619"/>
                  <a:gd name="connsiteX3" fmla="*/ 3891901 w 3891901"/>
                  <a:gd name="connsiteY3" fmla="*/ 1566148 h 1829619"/>
                  <a:gd name="connsiteX4" fmla="*/ 0 w 3891901"/>
                  <a:gd name="connsiteY4" fmla="*/ 1829619 h 18296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1901" h="1829619">
                    <a:moveTo>
                      <a:pt x="0" y="1829619"/>
                    </a:moveTo>
                    <a:lnTo>
                      <a:pt x="364422" y="0"/>
                    </a:lnTo>
                    <a:lnTo>
                      <a:pt x="3798700" y="309966"/>
                    </a:lnTo>
                    <a:lnTo>
                      <a:pt x="3891901" y="1566148"/>
                    </a:lnTo>
                    <a:lnTo>
                      <a:pt x="0" y="1829619"/>
                    </a:lnTo>
                    <a:close/>
                  </a:path>
                </a:pathLst>
              </a:custGeom>
              <a:noFill/>
              <a:ln w="38100">
                <a:solidFill>
                  <a:srgbClr val="003F88">
                    <a:alpha val="1019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icrosoft YaHei"/>
                  <a:cs typeface="+mn-cs"/>
                </a:endParaRPr>
              </a:p>
            </p:txBody>
          </p:sp>
          <p:sp>
            <p:nvSpPr>
              <p:cNvPr id="17" name="梯形 6">
                <a:extLst>
                  <a:ext uri="{FF2B5EF4-FFF2-40B4-BE49-F238E27FC236}">
                    <a16:creationId xmlns:a16="http://schemas.microsoft.com/office/drawing/2014/main" id="{6E44A081-8200-B083-BCB0-6879C76B73DA}"/>
                  </a:ext>
                </a:extLst>
              </p:cNvPr>
              <p:cNvSpPr/>
              <p:nvPr/>
            </p:nvSpPr>
            <p:spPr>
              <a:xfrm flipH="1" flipV="1">
                <a:off x="1286356" y="1893696"/>
                <a:ext cx="4579749" cy="4460608"/>
              </a:xfrm>
              <a:custGeom>
                <a:avLst/>
                <a:gdLst>
                  <a:gd name="connsiteX0" fmla="*/ 0 w 3845406"/>
                  <a:gd name="connsiteY0" fmla="*/ 1519653 h 1519653"/>
                  <a:gd name="connsiteX1" fmla="*/ 317927 w 3845406"/>
                  <a:gd name="connsiteY1" fmla="*/ 0 h 1519653"/>
                  <a:gd name="connsiteX2" fmla="*/ 3527479 w 3845406"/>
                  <a:gd name="connsiteY2" fmla="*/ 0 h 1519653"/>
                  <a:gd name="connsiteX3" fmla="*/ 3845406 w 3845406"/>
                  <a:gd name="connsiteY3" fmla="*/ 1519653 h 1519653"/>
                  <a:gd name="connsiteX4" fmla="*/ 0 w 3845406"/>
                  <a:gd name="connsiteY4" fmla="*/ 1519653 h 1519653"/>
                  <a:gd name="connsiteX0" fmla="*/ 0 w 3845406"/>
                  <a:gd name="connsiteY0" fmla="*/ 1519653 h 1519653"/>
                  <a:gd name="connsiteX1" fmla="*/ 317927 w 3845406"/>
                  <a:gd name="connsiteY1" fmla="*/ 0 h 1519653"/>
                  <a:gd name="connsiteX2" fmla="*/ 3752205 w 3845406"/>
                  <a:gd name="connsiteY2" fmla="*/ 263471 h 1519653"/>
                  <a:gd name="connsiteX3" fmla="*/ 3845406 w 3845406"/>
                  <a:gd name="connsiteY3" fmla="*/ 1519653 h 1519653"/>
                  <a:gd name="connsiteX4" fmla="*/ 0 w 3845406"/>
                  <a:gd name="connsiteY4" fmla="*/ 1519653 h 1519653"/>
                  <a:gd name="connsiteX0" fmla="*/ 0 w 3891901"/>
                  <a:gd name="connsiteY0" fmla="*/ 1783124 h 1783124"/>
                  <a:gd name="connsiteX1" fmla="*/ 364422 w 3891901"/>
                  <a:gd name="connsiteY1" fmla="*/ 0 h 1783124"/>
                  <a:gd name="connsiteX2" fmla="*/ 3798700 w 3891901"/>
                  <a:gd name="connsiteY2" fmla="*/ 263471 h 1783124"/>
                  <a:gd name="connsiteX3" fmla="*/ 3891901 w 3891901"/>
                  <a:gd name="connsiteY3" fmla="*/ 1519653 h 1783124"/>
                  <a:gd name="connsiteX4" fmla="*/ 0 w 3891901"/>
                  <a:gd name="connsiteY4" fmla="*/ 1783124 h 1783124"/>
                  <a:gd name="connsiteX0" fmla="*/ 0 w 3891901"/>
                  <a:gd name="connsiteY0" fmla="*/ 1829619 h 1829619"/>
                  <a:gd name="connsiteX1" fmla="*/ 364422 w 3891901"/>
                  <a:gd name="connsiteY1" fmla="*/ 0 h 1829619"/>
                  <a:gd name="connsiteX2" fmla="*/ 3798700 w 3891901"/>
                  <a:gd name="connsiteY2" fmla="*/ 309966 h 1829619"/>
                  <a:gd name="connsiteX3" fmla="*/ 3891901 w 3891901"/>
                  <a:gd name="connsiteY3" fmla="*/ 1566148 h 1829619"/>
                  <a:gd name="connsiteX4" fmla="*/ 0 w 3891901"/>
                  <a:gd name="connsiteY4" fmla="*/ 1829619 h 1829619"/>
                  <a:gd name="connsiteX0" fmla="*/ 0 w 3827144"/>
                  <a:gd name="connsiteY0" fmla="*/ 1657824 h 1657824"/>
                  <a:gd name="connsiteX1" fmla="*/ 299665 w 3827144"/>
                  <a:gd name="connsiteY1" fmla="*/ 0 h 1657824"/>
                  <a:gd name="connsiteX2" fmla="*/ 3733943 w 3827144"/>
                  <a:gd name="connsiteY2" fmla="*/ 309966 h 1657824"/>
                  <a:gd name="connsiteX3" fmla="*/ 3827144 w 3827144"/>
                  <a:gd name="connsiteY3" fmla="*/ 1566148 h 1657824"/>
                  <a:gd name="connsiteX4" fmla="*/ 0 w 3827144"/>
                  <a:gd name="connsiteY4" fmla="*/ 1657824 h 1657824"/>
                  <a:gd name="connsiteX0" fmla="*/ 0 w 3827144"/>
                  <a:gd name="connsiteY0" fmla="*/ 1423037 h 1423037"/>
                  <a:gd name="connsiteX1" fmla="*/ 196054 w 3827144"/>
                  <a:gd name="connsiteY1" fmla="*/ 0 h 1423037"/>
                  <a:gd name="connsiteX2" fmla="*/ 3733943 w 3827144"/>
                  <a:gd name="connsiteY2" fmla="*/ 75179 h 1423037"/>
                  <a:gd name="connsiteX3" fmla="*/ 3827144 w 3827144"/>
                  <a:gd name="connsiteY3" fmla="*/ 1331361 h 1423037"/>
                  <a:gd name="connsiteX4" fmla="*/ 0 w 3827144"/>
                  <a:gd name="connsiteY4" fmla="*/ 1423037 h 14230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27144" h="1423037">
                    <a:moveTo>
                      <a:pt x="0" y="1423037"/>
                    </a:moveTo>
                    <a:lnTo>
                      <a:pt x="196054" y="0"/>
                    </a:lnTo>
                    <a:lnTo>
                      <a:pt x="3733943" y="75179"/>
                    </a:lnTo>
                    <a:lnTo>
                      <a:pt x="3827144" y="1331361"/>
                    </a:lnTo>
                    <a:lnTo>
                      <a:pt x="0" y="1423037"/>
                    </a:lnTo>
                    <a:close/>
                  </a:path>
                </a:pathLst>
              </a:custGeom>
              <a:solidFill>
                <a:srgbClr val="003F88">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icrosoft YaHei"/>
                  <a:cs typeface="+mn-cs"/>
                </a:endParaRPr>
              </a:p>
            </p:txBody>
          </p:sp>
        </p:grpSp>
        <p:sp>
          <p:nvSpPr>
            <p:cNvPr id="15" name="文本框 14">
              <a:extLst>
                <a:ext uri="{FF2B5EF4-FFF2-40B4-BE49-F238E27FC236}">
                  <a16:creationId xmlns:a16="http://schemas.microsoft.com/office/drawing/2014/main" id="{169F5912-137B-6678-60A8-14E93B768334}"/>
                </a:ext>
              </a:extLst>
            </p:cNvPr>
            <p:cNvSpPr txBox="1"/>
            <p:nvPr/>
          </p:nvSpPr>
          <p:spPr>
            <a:xfrm>
              <a:off x="2156740" y="1450799"/>
              <a:ext cx="2743200" cy="444403"/>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100"/>
                </a:spcAft>
                <a:buClrTx/>
                <a:buSzTx/>
                <a:buFontTx/>
                <a:buNone/>
                <a:tabLst/>
                <a:defRPr/>
              </a:pPr>
              <a:r>
                <a:rPr kumimoji="0" lang="zh-CN" altLang="en-US" sz="2400" b="1" i="0" u="none" strike="noStrike" kern="1200" cap="none" spc="0" normalizeH="0" baseline="0" noProof="0">
                  <a:ln>
                    <a:noFill/>
                  </a:ln>
                  <a:solidFill>
                    <a:srgbClr val="3F3F3F">
                      <a:lumMod val="50000"/>
                    </a:srgbClr>
                  </a:solidFill>
                  <a:effectLst/>
                  <a:uLnTx/>
                  <a:uFillTx/>
                  <a:latin typeface="Arial"/>
                  <a:ea typeface="Microsoft YaHei"/>
                  <a:cs typeface="+mn-cs"/>
                </a:rPr>
                <a:t>同</a:t>
              </a:r>
            </a:p>
          </p:txBody>
        </p:sp>
      </p:grpSp>
      <p:sp>
        <p:nvSpPr>
          <p:cNvPr id="18" name="文本框 17">
            <a:extLst>
              <a:ext uri="{FF2B5EF4-FFF2-40B4-BE49-F238E27FC236}">
                <a16:creationId xmlns:a16="http://schemas.microsoft.com/office/drawing/2014/main" id="{9BE074AC-0F16-9EBF-D04C-EBA37279FA1F}"/>
              </a:ext>
            </a:extLst>
          </p:cNvPr>
          <p:cNvSpPr txBox="1"/>
          <p:nvPr/>
        </p:nvSpPr>
        <p:spPr>
          <a:xfrm>
            <a:off x="6556737" y="2565148"/>
            <a:ext cx="4652283" cy="3431990"/>
          </a:xfrm>
          <a:prstGeom prst="rect">
            <a:avLst/>
          </a:prstGeom>
          <a:noFill/>
        </p:spPr>
        <p:txBody>
          <a:bodyPr wrap="square" lIns="0" rIns="0" rtlCol="0" anchor="ctr">
            <a:normAutofit/>
          </a:bodyPr>
          <a:lstStyle/>
          <a:p>
            <a:pPr marL="285750" indent="-285750" algn="l">
              <a:lnSpc>
                <a:spcPct val="200000"/>
              </a:lnSpc>
              <a:buFont typeface="Wingdings" panose="05000000000000000000" pitchFamily="2" charset="2"/>
              <a:buChar char="l"/>
            </a:pPr>
            <a:r>
              <a:rPr lang="zh-CN" altLang="en-US" dirty="0"/>
              <a:t>快速发现和修复错误</a:t>
            </a:r>
          </a:p>
          <a:p>
            <a:pPr marL="285750" indent="-285750" algn="l">
              <a:lnSpc>
                <a:spcPct val="200000"/>
              </a:lnSpc>
              <a:buFont typeface="Wingdings" panose="05000000000000000000" pitchFamily="2" charset="2"/>
              <a:buChar char="l"/>
            </a:pPr>
            <a:r>
              <a:rPr lang="zh-CN" altLang="en-US" dirty="0"/>
              <a:t>防止分支大幅偏离主干</a:t>
            </a:r>
          </a:p>
          <a:p>
            <a:pPr marL="285750" indent="-285750" algn="l">
              <a:lnSpc>
                <a:spcPct val="200000"/>
              </a:lnSpc>
              <a:buFont typeface="Wingdings" panose="05000000000000000000" pitchFamily="2" charset="2"/>
              <a:buChar char="l"/>
            </a:pPr>
            <a:r>
              <a:rPr lang="zh-CN" altLang="en-US" dirty="0"/>
              <a:t>减少软件开发的成本、时间和风险</a:t>
            </a:r>
          </a:p>
          <a:p>
            <a:pPr marL="285750" indent="-285750" algn="l">
              <a:lnSpc>
                <a:spcPct val="200000"/>
              </a:lnSpc>
              <a:buFont typeface="Wingdings" panose="05000000000000000000" pitchFamily="2" charset="2"/>
              <a:buChar char="l"/>
            </a:pPr>
            <a:r>
              <a:rPr lang="zh-CN" altLang="en-US" dirty="0"/>
              <a:t>提高软件质量和用户满意度</a:t>
            </a:r>
          </a:p>
          <a:p>
            <a:pPr marL="285750" indent="-285750" algn="l">
              <a:lnSpc>
                <a:spcPct val="200000"/>
              </a:lnSpc>
              <a:buFont typeface="Wingdings" panose="05000000000000000000" pitchFamily="2" charset="2"/>
              <a:buChar char="l"/>
            </a:pPr>
            <a:r>
              <a:rPr lang="zh-CN" altLang="en-US" dirty="0"/>
              <a:t>实现敏捷和快速反馈</a:t>
            </a:r>
          </a:p>
        </p:txBody>
      </p:sp>
    </p:spTree>
    <p:extLst>
      <p:ext uri="{BB962C8B-B14F-4D97-AF65-F5344CB8AC3E}">
        <p14:creationId xmlns:p14="http://schemas.microsoft.com/office/powerpoint/2010/main" val="7010539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68A3EA-FFF7-F593-9FA7-BB39D3E3222F}"/>
              </a:ext>
            </a:extLst>
          </p:cNvPr>
          <p:cNvSpPr>
            <a:spLocks noGrp="1"/>
          </p:cNvSpPr>
          <p:nvPr>
            <p:ph type="title"/>
          </p:nvPr>
        </p:nvSpPr>
        <p:spPr/>
        <p:txBody>
          <a:bodyPr/>
          <a:lstStyle/>
          <a:p>
            <a:r>
              <a:rPr lang="en-US" altLang="zh-CN" dirty="0"/>
              <a:t>02 </a:t>
            </a:r>
            <a:r>
              <a:rPr lang="zh-CN" altLang="en-US" dirty="0"/>
              <a:t>持续交付</a:t>
            </a:r>
            <a:endParaRPr kumimoji="1" lang="zh-CN" altLang="en-US" dirty="0"/>
          </a:p>
        </p:txBody>
      </p:sp>
      <p:sp>
        <p:nvSpPr>
          <p:cNvPr id="3" name="灯片编号占位符 2">
            <a:extLst>
              <a:ext uri="{FF2B5EF4-FFF2-40B4-BE49-F238E27FC236}">
                <a16:creationId xmlns:a16="http://schemas.microsoft.com/office/drawing/2014/main" id="{940AA628-8120-F109-B869-E8671F3D72B8}"/>
              </a:ext>
            </a:extLst>
          </p:cNvPr>
          <p:cNvSpPr>
            <a:spLocks noGrp="1"/>
          </p:cNvSpPr>
          <p:nvPr>
            <p:ph type="sldNum" sz="quarter" idx="12"/>
          </p:nvPr>
        </p:nvSpPr>
        <p:spPr/>
        <p:txBody>
          <a:bodyPr/>
          <a:lstStyle/>
          <a:p>
            <a:fld id="{1AAC388E-FA9E-4A2C-95EA-1F6B3A07935A}" type="slidenum">
              <a:rPr lang="zh-CN" altLang="en-US" smtClean="0"/>
              <a:pPr/>
              <a:t>71</a:t>
            </a:fld>
            <a:endParaRPr lang="zh-CN" altLang="en-US"/>
          </a:p>
        </p:txBody>
      </p:sp>
      <p:sp>
        <p:nvSpPr>
          <p:cNvPr id="4" name="文本框 3">
            <a:extLst>
              <a:ext uri="{FF2B5EF4-FFF2-40B4-BE49-F238E27FC236}">
                <a16:creationId xmlns:a16="http://schemas.microsoft.com/office/drawing/2014/main" id="{BA9D347B-A333-F47E-DAC1-B3F417A6AD0E}"/>
              </a:ext>
            </a:extLst>
          </p:cNvPr>
          <p:cNvSpPr txBox="1"/>
          <p:nvPr/>
        </p:nvSpPr>
        <p:spPr>
          <a:xfrm>
            <a:off x="718218" y="838720"/>
            <a:ext cx="3594702" cy="601075"/>
          </a:xfrm>
          <a:prstGeom prst="rect">
            <a:avLst/>
          </a:prstGeom>
          <a:noFill/>
        </p:spPr>
        <p:txBody>
          <a:bodyPr wrap="square" lIns="0" tIns="0" rIns="0" bIns="0" rtlCol="0" anchor="ctr">
            <a:noAutofit/>
          </a:bodyPr>
          <a:lstStyle/>
          <a:p>
            <a:pPr marL="342900" indent="-342900">
              <a:buFont typeface="Wingdings" panose="05000000000000000000" pitchFamily="2" charset="2"/>
              <a:buChar char="p"/>
            </a:pPr>
            <a:r>
              <a:rPr lang="zh-CN" altLang="en-US" sz="2800" dirty="0">
                <a:effectLst/>
                <a:latin typeface="Helvetica" pitchFamily="2" charset="0"/>
              </a:rPr>
              <a:t>常见开发和发布模式</a:t>
            </a:r>
            <a:endParaRPr lang="en-US" altLang="zh-CN" sz="2800" dirty="0"/>
          </a:p>
        </p:txBody>
      </p:sp>
      <p:sp>
        <p:nvSpPr>
          <p:cNvPr id="15" name="文本框 14">
            <a:extLst>
              <a:ext uri="{FF2B5EF4-FFF2-40B4-BE49-F238E27FC236}">
                <a16:creationId xmlns:a16="http://schemas.microsoft.com/office/drawing/2014/main" id="{DEADEAFD-1329-6FA3-7B53-67A1A106F319}"/>
              </a:ext>
            </a:extLst>
          </p:cNvPr>
          <p:cNvSpPr txBox="1"/>
          <p:nvPr/>
        </p:nvSpPr>
        <p:spPr>
          <a:xfrm>
            <a:off x="4209009" y="3249198"/>
            <a:ext cx="4226675" cy="1538883"/>
          </a:xfrm>
          <a:prstGeom prst="rect">
            <a:avLst/>
          </a:prstGeom>
          <a:noFill/>
        </p:spPr>
        <p:txBody>
          <a:bodyPr wrap="square">
            <a:spAutoFit/>
          </a:bodyPr>
          <a:lstStyle/>
          <a:p>
            <a:pPr marL="457200" indent="-457200">
              <a:spcAft>
                <a:spcPts val="600"/>
              </a:spcAft>
              <a:buFont typeface="Arial" panose="020B0604020202020204" pitchFamily="34" charset="0"/>
              <a:buChar char="•"/>
            </a:pPr>
            <a:r>
              <a:rPr lang="zh-CN" altLang="en-US" sz="2800" dirty="0">
                <a:effectLst/>
                <a:latin typeface="Helvetica" pitchFamily="2" charset="0"/>
              </a:rPr>
              <a:t>主干开发，主干发布</a:t>
            </a:r>
            <a:endParaRPr lang="en-US" altLang="zh-CN" sz="2800" dirty="0">
              <a:effectLst/>
              <a:latin typeface="Helvetica" pitchFamily="2" charset="0"/>
            </a:endParaRPr>
          </a:p>
          <a:p>
            <a:pPr marL="457200" indent="-457200">
              <a:spcAft>
                <a:spcPts val="600"/>
              </a:spcAft>
              <a:buFont typeface="Arial" panose="020B0604020202020204" pitchFamily="34" charset="0"/>
              <a:buChar char="•"/>
            </a:pPr>
            <a:r>
              <a:rPr lang="zh-CN" altLang="en-US" sz="2800" dirty="0">
                <a:latin typeface="Helvetica" pitchFamily="2" charset="0"/>
              </a:rPr>
              <a:t>主干开发，分支发布</a:t>
            </a:r>
            <a:endParaRPr lang="en-US" altLang="zh-CN" sz="2800" dirty="0">
              <a:latin typeface="Helvetica" pitchFamily="2" charset="0"/>
            </a:endParaRPr>
          </a:p>
          <a:p>
            <a:pPr marL="457200" indent="-457200">
              <a:spcAft>
                <a:spcPts val="600"/>
              </a:spcAft>
              <a:buFont typeface="Arial" panose="020B0604020202020204" pitchFamily="34" charset="0"/>
              <a:buChar char="•"/>
            </a:pPr>
            <a:r>
              <a:rPr lang="zh-CN" altLang="en-US" sz="2800" dirty="0">
                <a:effectLst/>
                <a:latin typeface="Helvetica" pitchFamily="2" charset="0"/>
              </a:rPr>
              <a:t>分支开发，主干发布</a:t>
            </a:r>
          </a:p>
        </p:txBody>
      </p:sp>
      <p:sp>
        <p:nvSpPr>
          <p:cNvPr id="5" name="文本框 4">
            <a:extLst>
              <a:ext uri="{FF2B5EF4-FFF2-40B4-BE49-F238E27FC236}">
                <a16:creationId xmlns:a16="http://schemas.microsoft.com/office/drawing/2014/main" id="{62EFD37F-837F-C9D0-3E17-115956AC6E26}"/>
              </a:ext>
            </a:extLst>
          </p:cNvPr>
          <p:cNvSpPr txBox="1"/>
          <p:nvPr/>
        </p:nvSpPr>
        <p:spPr>
          <a:xfrm>
            <a:off x="940376" y="1630633"/>
            <a:ext cx="10763943" cy="960776"/>
          </a:xfrm>
          <a:prstGeom prst="rect">
            <a:avLst/>
          </a:prstGeom>
          <a:noFill/>
        </p:spPr>
        <p:txBody>
          <a:bodyPr wrap="square">
            <a:spAutoFit/>
          </a:bodyPr>
          <a:lstStyle/>
          <a:p>
            <a:pPr>
              <a:lnSpc>
                <a:spcPct val="150000"/>
              </a:lnSpc>
            </a:pPr>
            <a:r>
              <a:rPr lang="zh-CN" altLang="en-US" sz="2000" dirty="0"/>
              <a:t>目前基于版本控制系统的开发模型，根据新功能开发以及版本发布所用的分支进行分类，主要有3种，它们分别是： </a:t>
            </a:r>
          </a:p>
        </p:txBody>
      </p:sp>
    </p:spTree>
    <p:extLst>
      <p:ext uri="{BB962C8B-B14F-4D97-AF65-F5344CB8AC3E}">
        <p14:creationId xmlns:p14="http://schemas.microsoft.com/office/powerpoint/2010/main" val="33154515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68A3EA-FFF7-F593-9FA7-BB39D3E3222F}"/>
              </a:ext>
            </a:extLst>
          </p:cNvPr>
          <p:cNvSpPr>
            <a:spLocks noGrp="1"/>
          </p:cNvSpPr>
          <p:nvPr>
            <p:ph type="title"/>
          </p:nvPr>
        </p:nvSpPr>
        <p:spPr/>
        <p:txBody>
          <a:bodyPr/>
          <a:lstStyle/>
          <a:p>
            <a:r>
              <a:rPr lang="en-US" altLang="zh-CN" dirty="0"/>
              <a:t>02 </a:t>
            </a:r>
            <a:r>
              <a:rPr lang="zh-CN" altLang="en-US" dirty="0"/>
              <a:t>持续交付</a:t>
            </a:r>
            <a:endParaRPr kumimoji="1" lang="zh-CN" altLang="en-US" dirty="0"/>
          </a:p>
        </p:txBody>
      </p:sp>
      <p:sp>
        <p:nvSpPr>
          <p:cNvPr id="3" name="灯片编号占位符 2">
            <a:extLst>
              <a:ext uri="{FF2B5EF4-FFF2-40B4-BE49-F238E27FC236}">
                <a16:creationId xmlns:a16="http://schemas.microsoft.com/office/drawing/2014/main" id="{940AA628-8120-F109-B869-E8671F3D72B8}"/>
              </a:ext>
            </a:extLst>
          </p:cNvPr>
          <p:cNvSpPr>
            <a:spLocks noGrp="1"/>
          </p:cNvSpPr>
          <p:nvPr>
            <p:ph type="sldNum" sz="quarter" idx="12"/>
          </p:nvPr>
        </p:nvSpPr>
        <p:spPr/>
        <p:txBody>
          <a:bodyPr/>
          <a:lstStyle/>
          <a:p>
            <a:fld id="{1AAC388E-FA9E-4A2C-95EA-1F6B3A07935A}" type="slidenum">
              <a:rPr lang="zh-CN" altLang="en-US" smtClean="0"/>
              <a:pPr/>
              <a:t>72</a:t>
            </a:fld>
            <a:endParaRPr lang="zh-CN" altLang="en-US"/>
          </a:p>
        </p:txBody>
      </p:sp>
      <p:sp>
        <p:nvSpPr>
          <p:cNvPr id="4" name="文本框 3">
            <a:extLst>
              <a:ext uri="{FF2B5EF4-FFF2-40B4-BE49-F238E27FC236}">
                <a16:creationId xmlns:a16="http://schemas.microsoft.com/office/drawing/2014/main" id="{BA9D347B-A333-F47E-DAC1-B3F417A6AD0E}"/>
              </a:ext>
            </a:extLst>
          </p:cNvPr>
          <p:cNvSpPr txBox="1"/>
          <p:nvPr/>
        </p:nvSpPr>
        <p:spPr>
          <a:xfrm>
            <a:off x="718218" y="838720"/>
            <a:ext cx="3594702"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zh-CN" altLang="en-US" dirty="0"/>
              <a:t>常见开发和发布模式</a:t>
            </a:r>
            <a:endParaRPr lang="en-US" altLang="zh-CN" dirty="0"/>
          </a:p>
        </p:txBody>
      </p:sp>
      <p:sp>
        <p:nvSpPr>
          <p:cNvPr id="15" name="文本框 14">
            <a:extLst>
              <a:ext uri="{FF2B5EF4-FFF2-40B4-BE49-F238E27FC236}">
                <a16:creationId xmlns:a16="http://schemas.microsoft.com/office/drawing/2014/main" id="{DEADEAFD-1329-6FA3-7B53-67A1A106F319}"/>
              </a:ext>
            </a:extLst>
          </p:cNvPr>
          <p:cNvSpPr txBox="1"/>
          <p:nvPr/>
        </p:nvSpPr>
        <p:spPr>
          <a:xfrm>
            <a:off x="1351165" y="1475429"/>
            <a:ext cx="10433511" cy="523220"/>
          </a:xfrm>
          <a:prstGeom prst="rect">
            <a:avLst/>
          </a:prstGeom>
          <a:noFill/>
        </p:spPr>
        <p:txBody>
          <a:bodyPr wrap="square">
            <a:spAutoFit/>
          </a:bodyPr>
          <a:lstStyle/>
          <a:p>
            <a:pPr marL="457200" indent="-457200">
              <a:spcAft>
                <a:spcPts val="600"/>
              </a:spcAft>
              <a:buFont typeface="Arial" panose="020B0604020202020204" pitchFamily="34" charset="0"/>
              <a:buChar char="•"/>
            </a:pPr>
            <a:r>
              <a:rPr lang="zh-CN" altLang="en-US" sz="2800" dirty="0">
                <a:effectLst/>
                <a:latin typeface="Helvetica" pitchFamily="2" charset="0"/>
              </a:rPr>
              <a:t>主干开发，主干发布</a:t>
            </a:r>
            <a:endParaRPr lang="en-US" altLang="zh-CN" sz="2800" dirty="0">
              <a:effectLst/>
              <a:latin typeface="Helvetica" pitchFamily="2" charset="0"/>
            </a:endParaRPr>
          </a:p>
        </p:txBody>
      </p:sp>
      <p:pic>
        <p:nvPicPr>
          <p:cNvPr id="7" name="图片 6" descr="卡通人物&#10;&#10;中度可信度描述已自动生成">
            <a:extLst>
              <a:ext uri="{FF2B5EF4-FFF2-40B4-BE49-F238E27FC236}">
                <a16:creationId xmlns:a16="http://schemas.microsoft.com/office/drawing/2014/main" id="{9EB06D9F-7668-7654-2F97-27D12F5A5C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7767" y="2670992"/>
            <a:ext cx="10738123" cy="2881396"/>
          </a:xfrm>
          <a:prstGeom prst="rect">
            <a:avLst/>
          </a:prstGeom>
        </p:spPr>
      </p:pic>
    </p:spTree>
    <p:extLst>
      <p:ext uri="{BB962C8B-B14F-4D97-AF65-F5344CB8AC3E}">
        <p14:creationId xmlns:p14="http://schemas.microsoft.com/office/powerpoint/2010/main" val="8616795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68A3EA-FFF7-F593-9FA7-BB39D3E3222F}"/>
              </a:ext>
            </a:extLst>
          </p:cNvPr>
          <p:cNvSpPr>
            <a:spLocks noGrp="1"/>
          </p:cNvSpPr>
          <p:nvPr>
            <p:ph type="title"/>
          </p:nvPr>
        </p:nvSpPr>
        <p:spPr/>
        <p:txBody>
          <a:bodyPr/>
          <a:lstStyle/>
          <a:p>
            <a:r>
              <a:rPr lang="en-US" altLang="zh-CN" dirty="0"/>
              <a:t>02 </a:t>
            </a:r>
            <a:r>
              <a:rPr lang="zh-CN" altLang="en-US" dirty="0"/>
              <a:t>持续交付</a:t>
            </a:r>
            <a:endParaRPr kumimoji="1" lang="zh-CN" altLang="en-US" dirty="0"/>
          </a:p>
        </p:txBody>
      </p:sp>
      <p:sp>
        <p:nvSpPr>
          <p:cNvPr id="3" name="灯片编号占位符 2">
            <a:extLst>
              <a:ext uri="{FF2B5EF4-FFF2-40B4-BE49-F238E27FC236}">
                <a16:creationId xmlns:a16="http://schemas.microsoft.com/office/drawing/2014/main" id="{940AA628-8120-F109-B869-E8671F3D72B8}"/>
              </a:ext>
            </a:extLst>
          </p:cNvPr>
          <p:cNvSpPr>
            <a:spLocks noGrp="1"/>
          </p:cNvSpPr>
          <p:nvPr>
            <p:ph type="sldNum" sz="quarter" idx="12"/>
          </p:nvPr>
        </p:nvSpPr>
        <p:spPr/>
        <p:txBody>
          <a:bodyPr/>
          <a:lstStyle/>
          <a:p>
            <a:fld id="{1AAC388E-FA9E-4A2C-95EA-1F6B3A07935A}" type="slidenum">
              <a:rPr lang="zh-CN" altLang="en-US" smtClean="0"/>
              <a:pPr/>
              <a:t>73</a:t>
            </a:fld>
            <a:endParaRPr lang="zh-CN" altLang="en-US"/>
          </a:p>
        </p:txBody>
      </p:sp>
      <p:sp>
        <p:nvSpPr>
          <p:cNvPr id="4" name="文本框 3">
            <a:extLst>
              <a:ext uri="{FF2B5EF4-FFF2-40B4-BE49-F238E27FC236}">
                <a16:creationId xmlns:a16="http://schemas.microsoft.com/office/drawing/2014/main" id="{BA9D347B-A333-F47E-DAC1-B3F417A6AD0E}"/>
              </a:ext>
            </a:extLst>
          </p:cNvPr>
          <p:cNvSpPr txBox="1"/>
          <p:nvPr/>
        </p:nvSpPr>
        <p:spPr>
          <a:xfrm>
            <a:off x="718218" y="838720"/>
            <a:ext cx="3594702"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zh-CN" altLang="en-US" dirty="0"/>
              <a:t>常见开发和发布模式</a:t>
            </a:r>
            <a:endParaRPr lang="en-US" altLang="zh-CN" dirty="0"/>
          </a:p>
        </p:txBody>
      </p:sp>
      <p:sp>
        <p:nvSpPr>
          <p:cNvPr id="15" name="文本框 14">
            <a:extLst>
              <a:ext uri="{FF2B5EF4-FFF2-40B4-BE49-F238E27FC236}">
                <a16:creationId xmlns:a16="http://schemas.microsoft.com/office/drawing/2014/main" id="{DEADEAFD-1329-6FA3-7B53-67A1A106F319}"/>
              </a:ext>
            </a:extLst>
          </p:cNvPr>
          <p:cNvSpPr txBox="1"/>
          <p:nvPr/>
        </p:nvSpPr>
        <p:spPr>
          <a:xfrm>
            <a:off x="1351165" y="1475429"/>
            <a:ext cx="10433511" cy="523220"/>
          </a:xfrm>
          <a:prstGeom prst="rect">
            <a:avLst/>
          </a:prstGeom>
          <a:noFill/>
        </p:spPr>
        <p:txBody>
          <a:bodyPr wrap="square">
            <a:spAutoFit/>
          </a:bodyPr>
          <a:lstStyle/>
          <a:p>
            <a:pPr marL="457200" indent="-457200">
              <a:spcAft>
                <a:spcPts val="600"/>
              </a:spcAft>
              <a:buFont typeface="Arial" panose="020B0604020202020204" pitchFamily="34" charset="0"/>
              <a:buChar char="•"/>
            </a:pPr>
            <a:r>
              <a:rPr lang="zh-CN" altLang="en-US" sz="2800" dirty="0">
                <a:effectLst/>
                <a:latin typeface="Helvetica" pitchFamily="2" charset="0"/>
              </a:rPr>
              <a:t>主干开发，主干发布</a:t>
            </a:r>
            <a:endParaRPr lang="en-US" altLang="zh-CN" sz="2800" dirty="0">
              <a:effectLst/>
              <a:latin typeface="Helvetica" pitchFamily="2" charset="0"/>
            </a:endParaRPr>
          </a:p>
        </p:txBody>
      </p:sp>
      <p:pic>
        <p:nvPicPr>
          <p:cNvPr id="7" name="图片 6" descr="卡通人物&#10;&#10;中度可信度描述已自动生成">
            <a:extLst>
              <a:ext uri="{FF2B5EF4-FFF2-40B4-BE49-F238E27FC236}">
                <a16:creationId xmlns:a16="http://schemas.microsoft.com/office/drawing/2014/main" id="{9EB06D9F-7668-7654-2F97-27D12F5A5C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24550" y="981778"/>
            <a:ext cx="5629275" cy="1510522"/>
          </a:xfrm>
          <a:prstGeom prst="rect">
            <a:avLst/>
          </a:prstGeom>
        </p:spPr>
      </p:pic>
      <p:grpSp>
        <p:nvGrpSpPr>
          <p:cNvPr id="21" name="组合 20">
            <a:extLst>
              <a:ext uri="{FF2B5EF4-FFF2-40B4-BE49-F238E27FC236}">
                <a16:creationId xmlns:a16="http://schemas.microsoft.com/office/drawing/2014/main" id="{3C4B53F6-DDB0-016C-7988-FF355B3161DB}"/>
              </a:ext>
            </a:extLst>
          </p:cNvPr>
          <p:cNvGrpSpPr/>
          <p:nvPr/>
        </p:nvGrpSpPr>
        <p:grpSpPr>
          <a:xfrm>
            <a:off x="2009774" y="2670991"/>
            <a:ext cx="9317421" cy="3763179"/>
            <a:chOff x="796846" y="1663983"/>
            <a:chExt cx="10530350" cy="4770188"/>
          </a:xfrm>
        </p:grpSpPr>
        <p:sp>
          <p:nvSpPr>
            <p:cNvPr id="5" name="梯形 6">
              <a:extLst>
                <a:ext uri="{FF2B5EF4-FFF2-40B4-BE49-F238E27FC236}">
                  <a16:creationId xmlns:a16="http://schemas.microsoft.com/office/drawing/2014/main" id="{B594D27E-7671-51BE-8B24-471F79F6C066}"/>
                </a:ext>
              </a:extLst>
            </p:cNvPr>
            <p:cNvSpPr/>
            <p:nvPr/>
          </p:nvSpPr>
          <p:spPr>
            <a:xfrm flipV="1">
              <a:off x="6197128" y="1813175"/>
              <a:ext cx="5130068" cy="4620996"/>
            </a:xfrm>
            <a:custGeom>
              <a:avLst/>
              <a:gdLst>
                <a:gd name="connsiteX0" fmla="*/ 0 w 3845406"/>
                <a:gd name="connsiteY0" fmla="*/ 1519653 h 1519653"/>
                <a:gd name="connsiteX1" fmla="*/ 317927 w 3845406"/>
                <a:gd name="connsiteY1" fmla="*/ 0 h 1519653"/>
                <a:gd name="connsiteX2" fmla="*/ 3527479 w 3845406"/>
                <a:gd name="connsiteY2" fmla="*/ 0 h 1519653"/>
                <a:gd name="connsiteX3" fmla="*/ 3845406 w 3845406"/>
                <a:gd name="connsiteY3" fmla="*/ 1519653 h 1519653"/>
                <a:gd name="connsiteX4" fmla="*/ 0 w 3845406"/>
                <a:gd name="connsiteY4" fmla="*/ 1519653 h 1519653"/>
                <a:gd name="connsiteX0" fmla="*/ 0 w 3845406"/>
                <a:gd name="connsiteY0" fmla="*/ 1519653 h 1519653"/>
                <a:gd name="connsiteX1" fmla="*/ 317927 w 3845406"/>
                <a:gd name="connsiteY1" fmla="*/ 0 h 1519653"/>
                <a:gd name="connsiteX2" fmla="*/ 3752205 w 3845406"/>
                <a:gd name="connsiteY2" fmla="*/ 263471 h 1519653"/>
                <a:gd name="connsiteX3" fmla="*/ 3845406 w 3845406"/>
                <a:gd name="connsiteY3" fmla="*/ 1519653 h 1519653"/>
                <a:gd name="connsiteX4" fmla="*/ 0 w 3845406"/>
                <a:gd name="connsiteY4" fmla="*/ 1519653 h 1519653"/>
                <a:gd name="connsiteX0" fmla="*/ 0 w 3891901"/>
                <a:gd name="connsiteY0" fmla="*/ 1783124 h 1783124"/>
                <a:gd name="connsiteX1" fmla="*/ 364422 w 3891901"/>
                <a:gd name="connsiteY1" fmla="*/ 0 h 1783124"/>
                <a:gd name="connsiteX2" fmla="*/ 3798700 w 3891901"/>
                <a:gd name="connsiteY2" fmla="*/ 263471 h 1783124"/>
                <a:gd name="connsiteX3" fmla="*/ 3891901 w 3891901"/>
                <a:gd name="connsiteY3" fmla="*/ 1519653 h 1783124"/>
                <a:gd name="connsiteX4" fmla="*/ 0 w 3891901"/>
                <a:gd name="connsiteY4" fmla="*/ 1783124 h 1783124"/>
                <a:gd name="connsiteX0" fmla="*/ 0 w 3891901"/>
                <a:gd name="connsiteY0" fmla="*/ 1829619 h 1829619"/>
                <a:gd name="connsiteX1" fmla="*/ 364422 w 3891901"/>
                <a:gd name="connsiteY1" fmla="*/ 0 h 1829619"/>
                <a:gd name="connsiteX2" fmla="*/ 3798700 w 3891901"/>
                <a:gd name="connsiteY2" fmla="*/ 309966 h 1829619"/>
                <a:gd name="connsiteX3" fmla="*/ 3891901 w 3891901"/>
                <a:gd name="connsiteY3" fmla="*/ 1566148 h 1829619"/>
                <a:gd name="connsiteX4" fmla="*/ 0 w 3891901"/>
                <a:gd name="connsiteY4" fmla="*/ 1829619 h 1829619"/>
                <a:gd name="connsiteX0" fmla="*/ 0 w 3827144"/>
                <a:gd name="connsiteY0" fmla="*/ 1657824 h 1657824"/>
                <a:gd name="connsiteX1" fmla="*/ 299665 w 3827144"/>
                <a:gd name="connsiteY1" fmla="*/ 0 h 1657824"/>
                <a:gd name="connsiteX2" fmla="*/ 3733943 w 3827144"/>
                <a:gd name="connsiteY2" fmla="*/ 309966 h 1657824"/>
                <a:gd name="connsiteX3" fmla="*/ 3827144 w 3827144"/>
                <a:gd name="connsiteY3" fmla="*/ 1566148 h 1657824"/>
                <a:gd name="connsiteX4" fmla="*/ 0 w 3827144"/>
                <a:gd name="connsiteY4" fmla="*/ 1657824 h 1657824"/>
                <a:gd name="connsiteX0" fmla="*/ 0 w 3827144"/>
                <a:gd name="connsiteY0" fmla="*/ 1423037 h 1423037"/>
                <a:gd name="connsiteX1" fmla="*/ 196054 w 3827144"/>
                <a:gd name="connsiteY1" fmla="*/ 0 h 1423037"/>
                <a:gd name="connsiteX2" fmla="*/ 3733943 w 3827144"/>
                <a:gd name="connsiteY2" fmla="*/ 75179 h 1423037"/>
                <a:gd name="connsiteX3" fmla="*/ 3827144 w 3827144"/>
                <a:gd name="connsiteY3" fmla="*/ 1331361 h 1423037"/>
                <a:gd name="connsiteX4" fmla="*/ 0 w 3827144"/>
                <a:gd name="connsiteY4" fmla="*/ 1423037 h 14230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27144" h="1423037">
                  <a:moveTo>
                    <a:pt x="0" y="1423037"/>
                  </a:moveTo>
                  <a:lnTo>
                    <a:pt x="196054" y="0"/>
                  </a:lnTo>
                  <a:lnTo>
                    <a:pt x="3733943" y="75179"/>
                  </a:lnTo>
                  <a:lnTo>
                    <a:pt x="3827144" y="1331361"/>
                  </a:lnTo>
                  <a:lnTo>
                    <a:pt x="0" y="1423037"/>
                  </a:lnTo>
                  <a:close/>
                </a:path>
              </a:pathLst>
            </a:custGeom>
            <a:solidFill>
              <a:srgbClr val="003F88">
                <a:alpha val="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icrosoft YaHei"/>
                <a:cs typeface="+mn-cs"/>
              </a:endParaRPr>
            </a:p>
          </p:txBody>
        </p:sp>
        <p:sp>
          <p:nvSpPr>
            <p:cNvPr id="6" name="梯形 6">
              <a:extLst>
                <a:ext uri="{FF2B5EF4-FFF2-40B4-BE49-F238E27FC236}">
                  <a16:creationId xmlns:a16="http://schemas.microsoft.com/office/drawing/2014/main" id="{A4D18778-E599-FCD5-9E38-E8F4020F1DF9}"/>
                </a:ext>
              </a:extLst>
            </p:cNvPr>
            <p:cNvSpPr/>
            <p:nvPr/>
          </p:nvSpPr>
          <p:spPr>
            <a:xfrm flipH="1" flipV="1">
              <a:off x="796846" y="1813175"/>
              <a:ext cx="5130068" cy="4620996"/>
            </a:xfrm>
            <a:custGeom>
              <a:avLst/>
              <a:gdLst>
                <a:gd name="connsiteX0" fmla="*/ 0 w 3845406"/>
                <a:gd name="connsiteY0" fmla="*/ 1519653 h 1519653"/>
                <a:gd name="connsiteX1" fmla="*/ 317927 w 3845406"/>
                <a:gd name="connsiteY1" fmla="*/ 0 h 1519653"/>
                <a:gd name="connsiteX2" fmla="*/ 3527479 w 3845406"/>
                <a:gd name="connsiteY2" fmla="*/ 0 h 1519653"/>
                <a:gd name="connsiteX3" fmla="*/ 3845406 w 3845406"/>
                <a:gd name="connsiteY3" fmla="*/ 1519653 h 1519653"/>
                <a:gd name="connsiteX4" fmla="*/ 0 w 3845406"/>
                <a:gd name="connsiteY4" fmla="*/ 1519653 h 1519653"/>
                <a:gd name="connsiteX0" fmla="*/ 0 w 3845406"/>
                <a:gd name="connsiteY0" fmla="*/ 1519653 h 1519653"/>
                <a:gd name="connsiteX1" fmla="*/ 317927 w 3845406"/>
                <a:gd name="connsiteY1" fmla="*/ 0 h 1519653"/>
                <a:gd name="connsiteX2" fmla="*/ 3752205 w 3845406"/>
                <a:gd name="connsiteY2" fmla="*/ 263471 h 1519653"/>
                <a:gd name="connsiteX3" fmla="*/ 3845406 w 3845406"/>
                <a:gd name="connsiteY3" fmla="*/ 1519653 h 1519653"/>
                <a:gd name="connsiteX4" fmla="*/ 0 w 3845406"/>
                <a:gd name="connsiteY4" fmla="*/ 1519653 h 1519653"/>
                <a:gd name="connsiteX0" fmla="*/ 0 w 3891901"/>
                <a:gd name="connsiteY0" fmla="*/ 1783124 h 1783124"/>
                <a:gd name="connsiteX1" fmla="*/ 364422 w 3891901"/>
                <a:gd name="connsiteY1" fmla="*/ 0 h 1783124"/>
                <a:gd name="connsiteX2" fmla="*/ 3798700 w 3891901"/>
                <a:gd name="connsiteY2" fmla="*/ 263471 h 1783124"/>
                <a:gd name="connsiteX3" fmla="*/ 3891901 w 3891901"/>
                <a:gd name="connsiteY3" fmla="*/ 1519653 h 1783124"/>
                <a:gd name="connsiteX4" fmla="*/ 0 w 3891901"/>
                <a:gd name="connsiteY4" fmla="*/ 1783124 h 1783124"/>
                <a:gd name="connsiteX0" fmla="*/ 0 w 3891901"/>
                <a:gd name="connsiteY0" fmla="*/ 1829619 h 1829619"/>
                <a:gd name="connsiteX1" fmla="*/ 364422 w 3891901"/>
                <a:gd name="connsiteY1" fmla="*/ 0 h 1829619"/>
                <a:gd name="connsiteX2" fmla="*/ 3798700 w 3891901"/>
                <a:gd name="connsiteY2" fmla="*/ 309966 h 1829619"/>
                <a:gd name="connsiteX3" fmla="*/ 3891901 w 3891901"/>
                <a:gd name="connsiteY3" fmla="*/ 1566148 h 1829619"/>
                <a:gd name="connsiteX4" fmla="*/ 0 w 3891901"/>
                <a:gd name="connsiteY4" fmla="*/ 1829619 h 1829619"/>
                <a:gd name="connsiteX0" fmla="*/ 0 w 3827144"/>
                <a:gd name="connsiteY0" fmla="*/ 1657824 h 1657824"/>
                <a:gd name="connsiteX1" fmla="*/ 299665 w 3827144"/>
                <a:gd name="connsiteY1" fmla="*/ 0 h 1657824"/>
                <a:gd name="connsiteX2" fmla="*/ 3733943 w 3827144"/>
                <a:gd name="connsiteY2" fmla="*/ 309966 h 1657824"/>
                <a:gd name="connsiteX3" fmla="*/ 3827144 w 3827144"/>
                <a:gd name="connsiteY3" fmla="*/ 1566148 h 1657824"/>
                <a:gd name="connsiteX4" fmla="*/ 0 w 3827144"/>
                <a:gd name="connsiteY4" fmla="*/ 1657824 h 1657824"/>
                <a:gd name="connsiteX0" fmla="*/ 0 w 3827144"/>
                <a:gd name="connsiteY0" fmla="*/ 1423037 h 1423037"/>
                <a:gd name="connsiteX1" fmla="*/ 196054 w 3827144"/>
                <a:gd name="connsiteY1" fmla="*/ 0 h 1423037"/>
                <a:gd name="connsiteX2" fmla="*/ 3733943 w 3827144"/>
                <a:gd name="connsiteY2" fmla="*/ 75179 h 1423037"/>
                <a:gd name="connsiteX3" fmla="*/ 3827144 w 3827144"/>
                <a:gd name="connsiteY3" fmla="*/ 1331361 h 1423037"/>
                <a:gd name="connsiteX4" fmla="*/ 0 w 3827144"/>
                <a:gd name="connsiteY4" fmla="*/ 1423037 h 14230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27144" h="1423037">
                  <a:moveTo>
                    <a:pt x="0" y="1423037"/>
                  </a:moveTo>
                  <a:lnTo>
                    <a:pt x="196054" y="0"/>
                  </a:lnTo>
                  <a:lnTo>
                    <a:pt x="3733943" y="75179"/>
                  </a:lnTo>
                  <a:lnTo>
                    <a:pt x="3827144" y="1331361"/>
                  </a:lnTo>
                  <a:lnTo>
                    <a:pt x="0" y="1423037"/>
                  </a:lnTo>
                  <a:close/>
                </a:path>
              </a:pathLst>
            </a:custGeom>
            <a:solidFill>
              <a:srgbClr val="003F88">
                <a:alpha val="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icrosoft YaHei"/>
                <a:cs typeface="+mn-cs"/>
              </a:endParaRPr>
            </a:p>
          </p:txBody>
        </p:sp>
        <p:grpSp>
          <p:nvGrpSpPr>
            <p:cNvPr id="8" name="组合 7">
              <a:extLst>
                <a:ext uri="{FF2B5EF4-FFF2-40B4-BE49-F238E27FC236}">
                  <a16:creationId xmlns:a16="http://schemas.microsoft.com/office/drawing/2014/main" id="{8956FDFC-EEEF-322A-BF36-35D8D520F91F}"/>
                </a:ext>
              </a:extLst>
            </p:cNvPr>
            <p:cNvGrpSpPr/>
            <p:nvPr/>
          </p:nvGrpSpPr>
          <p:grpSpPr>
            <a:xfrm>
              <a:off x="1633265" y="1663983"/>
              <a:ext cx="3251956" cy="777211"/>
              <a:chOff x="2080078" y="1301607"/>
              <a:chExt cx="2896524" cy="694518"/>
            </a:xfrm>
          </p:grpSpPr>
          <p:grpSp>
            <p:nvGrpSpPr>
              <p:cNvPr id="9" name="组合 8">
                <a:extLst>
                  <a:ext uri="{FF2B5EF4-FFF2-40B4-BE49-F238E27FC236}">
                    <a16:creationId xmlns:a16="http://schemas.microsoft.com/office/drawing/2014/main" id="{8FBA2EE1-A421-C2AD-63C8-432797214EFE}"/>
                  </a:ext>
                </a:extLst>
              </p:cNvPr>
              <p:cNvGrpSpPr/>
              <p:nvPr/>
            </p:nvGrpSpPr>
            <p:grpSpPr>
              <a:xfrm>
                <a:off x="2080078" y="1301607"/>
                <a:ext cx="2896524" cy="694518"/>
                <a:chOff x="1162373" y="1563389"/>
                <a:chExt cx="4703732" cy="4951709"/>
              </a:xfrm>
            </p:grpSpPr>
            <p:sp>
              <p:nvSpPr>
                <p:cNvPr id="11" name="梯形 6">
                  <a:extLst>
                    <a:ext uri="{FF2B5EF4-FFF2-40B4-BE49-F238E27FC236}">
                      <a16:creationId xmlns:a16="http://schemas.microsoft.com/office/drawing/2014/main" id="{9D099D69-6241-A3DA-32E6-FAEE377A6A25}"/>
                    </a:ext>
                  </a:extLst>
                </p:cNvPr>
                <p:cNvSpPr/>
                <p:nvPr/>
              </p:nvSpPr>
              <p:spPr>
                <a:xfrm flipV="1">
                  <a:off x="1162373" y="1563389"/>
                  <a:ext cx="4657241" cy="4951709"/>
                </a:xfrm>
                <a:custGeom>
                  <a:avLst/>
                  <a:gdLst>
                    <a:gd name="connsiteX0" fmla="*/ 0 w 3845406"/>
                    <a:gd name="connsiteY0" fmla="*/ 1519653 h 1519653"/>
                    <a:gd name="connsiteX1" fmla="*/ 317927 w 3845406"/>
                    <a:gd name="connsiteY1" fmla="*/ 0 h 1519653"/>
                    <a:gd name="connsiteX2" fmla="*/ 3527479 w 3845406"/>
                    <a:gd name="connsiteY2" fmla="*/ 0 h 1519653"/>
                    <a:gd name="connsiteX3" fmla="*/ 3845406 w 3845406"/>
                    <a:gd name="connsiteY3" fmla="*/ 1519653 h 1519653"/>
                    <a:gd name="connsiteX4" fmla="*/ 0 w 3845406"/>
                    <a:gd name="connsiteY4" fmla="*/ 1519653 h 1519653"/>
                    <a:gd name="connsiteX0" fmla="*/ 0 w 3845406"/>
                    <a:gd name="connsiteY0" fmla="*/ 1519653 h 1519653"/>
                    <a:gd name="connsiteX1" fmla="*/ 317927 w 3845406"/>
                    <a:gd name="connsiteY1" fmla="*/ 0 h 1519653"/>
                    <a:gd name="connsiteX2" fmla="*/ 3752205 w 3845406"/>
                    <a:gd name="connsiteY2" fmla="*/ 263471 h 1519653"/>
                    <a:gd name="connsiteX3" fmla="*/ 3845406 w 3845406"/>
                    <a:gd name="connsiteY3" fmla="*/ 1519653 h 1519653"/>
                    <a:gd name="connsiteX4" fmla="*/ 0 w 3845406"/>
                    <a:gd name="connsiteY4" fmla="*/ 1519653 h 1519653"/>
                    <a:gd name="connsiteX0" fmla="*/ 0 w 3891901"/>
                    <a:gd name="connsiteY0" fmla="*/ 1783124 h 1783124"/>
                    <a:gd name="connsiteX1" fmla="*/ 364422 w 3891901"/>
                    <a:gd name="connsiteY1" fmla="*/ 0 h 1783124"/>
                    <a:gd name="connsiteX2" fmla="*/ 3798700 w 3891901"/>
                    <a:gd name="connsiteY2" fmla="*/ 263471 h 1783124"/>
                    <a:gd name="connsiteX3" fmla="*/ 3891901 w 3891901"/>
                    <a:gd name="connsiteY3" fmla="*/ 1519653 h 1783124"/>
                    <a:gd name="connsiteX4" fmla="*/ 0 w 3891901"/>
                    <a:gd name="connsiteY4" fmla="*/ 1783124 h 1783124"/>
                    <a:gd name="connsiteX0" fmla="*/ 0 w 3891901"/>
                    <a:gd name="connsiteY0" fmla="*/ 1829619 h 1829619"/>
                    <a:gd name="connsiteX1" fmla="*/ 364422 w 3891901"/>
                    <a:gd name="connsiteY1" fmla="*/ 0 h 1829619"/>
                    <a:gd name="connsiteX2" fmla="*/ 3798700 w 3891901"/>
                    <a:gd name="connsiteY2" fmla="*/ 309966 h 1829619"/>
                    <a:gd name="connsiteX3" fmla="*/ 3891901 w 3891901"/>
                    <a:gd name="connsiteY3" fmla="*/ 1566148 h 1829619"/>
                    <a:gd name="connsiteX4" fmla="*/ 0 w 3891901"/>
                    <a:gd name="connsiteY4" fmla="*/ 1829619 h 18296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1901" h="1829619">
                      <a:moveTo>
                        <a:pt x="0" y="1829619"/>
                      </a:moveTo>
                      <a:lnTo>
                        <a:pt x="364422" y="0"/>
                      </a:lnTo>
                      <a:lnTo>
                        <a:pt x="3798700" y="309966"/>
                      </a:lnTo>
                      <a:lnTo>
                        <a:pt x="3891901" y="1566148"/>
                      </a:lnTo>
                      <a:lnTo>
                        <a:pt x="0" y="1829619"/>
                      </a:lnTo>
                      <a:close/>
                    </a:path>
                  </a:pathLst>
                </a:custGeom>
                <a:noFill/>
                <a:ln w="38100">
                  <a:solidFill>
                    <a:srgbClr val="003F88">
                      <a:alpha val="1019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icrosoft YaHei"/>
                    <a:cs typeface="+mn-cs"/>
                  </a:endParaRPr>
                </a:p>
              </p:txBody>
            </p:sp>
            <p:sp>
              <p:nvSpPr>
                <p:cNvPr id="12" name="梯形 6">
                  <a:extLst>
                    <a:ext uri="{FF2B5EF4-FFF2-40B4-BE49-F238E27FC236}">
                      <a16:creationId xmlns:a16="http://schemas.microsoft.com/office/drawing/2014/main" id="{6A8A080E-22EA-1E88-7E41-97409818528E}"/>
                    </a:ext>
                  </a:extLst>
                </p:cNvPr>
                <p:cNvSpPr/>
                <p:nvPr/>
              </p:nvSpPr>
              <p:spPr>
                <a:xfrm flipH="1" flipV="1">
                  <a:off x="1286356" y="1893696"/>
                  <a:ext cx="4579749" cy="4460608"/>
                </a:xfrm>
                <a:custGeom>
                  <a:avLst/>
                  <a:gdLst>
                    <a:gd name="connsiteX0" fmla="*/ 0 w 3845406"/>
                    <a:gd name="connsiteY0" fmla="*/ 1519653 h 1519653"/>
                    <a:gd name="connsiteX1" fmla="*/ 317927 w 3845406"/>
                    <a:gd name="connsiteY1" fmla="*/ 0 h 1519653"/>
                    <a:gd name="connsiteX2" fmla="*/ 3527479 w 3845406"/>
                    <a:gd name="connsiteY2" fmla="*/ 0 h 1519653"/>
                    <a:gd name="connsiteX3" fmla="*/ 3845406 w 3845406"/>
                    <a:gd name="connsiteY3" fmla="*/ 1519653 h 1519653"/>
                    <a:gd name="connsiteX4" fmla="*/ 0 w 3845406"/>
                    <a:gd name="connsiteY4" fmla="*/ 1519653 h 1519653"/>
                    <a:gd name="connsiteX0" fmla="*/ 0 w 3845406"/>
                    <a:gd name="connsiteY0" fmla="*/ 1519653 h 1519653"/>
                    <a:gd name="connsiteX1" fmla="*/ 317927 w 3845406"/>
                    <a:gd name="connsiteY1" fmla="*/ 0 h 1519653"/>
                    <a:gd name="connsiteX2" fmla="*/ 3752205 w 3845406"/>
                    <a:gd name="connsiteY2" fmla="*/ 263471 h 1519653"/>
                    <a:gd name="connsiteX3" fmla="*/ 3845406 w 3845406"/>
                    <a:gd name="connsiteY3" fmla="*/ 1519653 h 1519653"/>
                    <a:gd name="connsiteX4" fmla="*/ 0 w 3845406"/>
                    <a:gd name="connsiteY4" fmla="*/ 1519653 h 1519653"/>
                    <a:gd name="connsiteX0" fmla="*/ 0 w 3891901"/>
                    <a:gd name="connsiteY0" fmla="*/ 1783124 h 1783124"/>
                    <a:gd name="connsiteX1" fmla="*/ 364422 w 3891901"/>
                    <a:gd name="connsiteY1" fmla="*/ 0 h 1783124"/>
                    <a:gd name="connsiteX2" fmla="*/ 3798700 w 3891901"/>
                    <a:gd name="connsiteY2" fmla="*/ 263471 h 1783124"/>
                    <a:gd name="connsiteX3" fmla="*/ 3891901 w 3891901"/>
                    <a:gd name="connsiteY3" fmla="*/ 1519653 h 1783124"/>
                    <a:gd name="connsiteX4" fmla="*/ 0 w 3891901"/>
                    <a:gd name="connsiteY4" fmla="*/ 1783124 h 1783124"/>
                    <a:gd name="connsiteX0" fmla="*/ 0 w 3891901"/>
                    <a:gd name="connsiteY0" fmla="*/ 1829619 h 1829619"/>
                    <a:gd name="connsiteX1" fmla="*/ 364422 w 3891901"/>
                    <a:gd name="connsiteY1" fmla="*/ 0 h 1829619"/>
                    <a:gd name="connsiteX2" fmla="*/ 3798700 w 3891901"/>
                    <a:gd name="connsiteY2" fmla="*/ 309966 h 1829619"/>
                    <a:gd name="connsiteX3" fmla="*/ 3891901 w 3891901"/>
                    <a:gd name="connsiteY3" fmla="*/ 1566148 h 1829619"/>
                    <a:gd name="connsiteX4" fmla="*/ 0 w 3891901"/>
                    <a:gd name="connsiteY4" fmla="*/ 1829619 h 1829619"/>
                    <a:gd name="connsiteX0" fmla="*/ 0 w 3827144"/>
                    <a:gd name="connsiteY0" fmla="*/ 1657824 h 1657824"/>
                    <a:gd name="connsiteX1" fmla="*/ 299665 w 3827144"/>
                    <a:gd name="connsiteY1" fmla="*/ 0 h 1657824"/>
                    <a:gd name="connsiteX2" fmla="*/ 3733943 w 3827144"/>
                    <a:gd name="connsiteY2" fmla="*/ 309966 h 1657824"/>
                    <a:gd name="connsiteX3" fmla="*/ 3827144 w 3827144"/>
                    <a:gd name="connsiteY3" fmla="*/ 1566148 h 1657824"/>
                    <a:gd name="connsiteX4" fmla="*/ 0 w 3827144"/>
                    <a:gd name="connsiteY4" fmla="*/ 1657824 h 1657824"/>
                    <a:gd name="connsiteX0" fmla="*/ 0 w 3827144"/>
                    <a:gd name="connsiteY0" fmla="*/ 1423037 h 1423037"/>
                    <a:gd name="connsiteX1" fmla="*/ 196054 w 3827144"/>
                    <a:gd name="connsiteY1" fmla="*/ 0 h 1423037"/>
                    <a:gd name="connsiteX2" fmla="*/ 3733943 w 3827144"/>
                    <a:gd name="connsiteY2" fmla="*/ 75179 h 1423037"/>
                    <a:gd name="connsiteX3" fmla="*/ 3827144 w 3827144"/>
                    <a:gd name="connsiteY3" fmla="*/ 1331361 h 1423037"/>
                    <a:gd name="connsiteX4" fmla="*/ 0 w 3827144"/>
                    <a:gd name="connsiteY4" fmla="*/ 1423037 h 14230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27144" h="1423037">
                      <a:moveTo>
                        <a:pt x="0" y="1423037"/>
                      </a:moveTo>
                      <a:lnTo>
                        <a:pt x="196054" y="0"/>
                      </a:lnTo>
                      <a:lnTo>
                        <a:pt x="3733943" y="75179"/>
                      </a:lnTo>
                      <a:lnTo>
                        <a:pt x="3827144" y="1331361"/>
                      </a:lnTo>
                      <a:lnTo>
                        <a:pt x="0" y="1423037"/>
                      </a:lnTo>
                      <a:close/>
                    </a:path>
                  </a:pathLst>
                </a:custGeom>
                <a:solidFill>
                  <a:srgbClr val="003F88">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icrosoft YaHei"/>
                    <a:cs typeface="+mn-cs"/>
                  </a:endParaRPr>
                </a:p>
              </p:txBody>
            </p:sp>
          </p:grpSp>
          <p:sp>
            <p:nvSpPr>
              <p:cNvPr id="10" name="文本框 9">
                <a:extLst>
                  <a:ext uri="{FF2B5EF4-FFF2-40B4-BE49-F238E27FC236}">
                    <a16:creationId xmlns:a16="http://schemas.microsoft.com/office/drawing/2014/main" id="{02585279-E5B5-69C2-EC3D-00D0EDFA759A}"/>
                  </a:ext>
                </a:extLst>
              </p:cNvPr>
              <p:cNvSpPr txBox="1"/>
              <p:nvPr/>
            </p:nvSpPr>
            <p:spPr>
              <a:xfrm>
                <a:off x="2156740" y="1450799"/>
                <a:ext cx="2743200" cy="502255"/>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100"/>
                  </a:spcAft>
                  <a:buClrTx/>
                  <a:buSzTx/>
                  <a:buFontTx/>
                  <a:buNone/>
                  <a:tabLst/>
                  <a:defRPr/>
                </a:pPr>
                <a:r>
                  <a:rPr kumimoji="0" lang="zh-CN" altLang="en-US" sz="2400" b="1" i="0" u="none" strike="noStrike" kern="1200" cap="none" spc="0" normalizeH="0" baseline="0" noProof="0" dirty="0">
                    <a:ln>
                      <a:noFill/>
                    </a:ln>
                    <a:solidFill>
                      <a:srgbClr val="3F3F3F">
                        <a:lumMod val="50000"/>
                      </a:srgbClr>
                    </a:solidFill>
                    <a:effectLst/>
                    <a:uLnTx/>
                    <a:uFillTx/>
                    <a:latin typeface="Arial"/>
                    <a:ea typeface="Microsoft YaHei"/>
                    <a:cs typeface="+mn-cs"/>
                  </a:rPr>
                  <a:t>优点</a:t>
                </a:r>
              </a:p>
            </p:txBody>
          </p:sp>
        </p:grpSp>
        <p:sp>
          <p:nvSpPr>
            <p:cNvPr id="13" name="文本框 12">
              <a:extLst>
                <a:ext uri="{FF2B5EF4-FFF2-40B4-BE49-F238E27FC236}">
                  <a16:creationId xmlns:a16="http://schemas.microsoft.com/office/drawing/2014/main" id="{339D8BD2-6212-56F7-A338-28B5ECD94430}"/>
                </a:ext>
              </a:extLst>
            </p:cNvPr>
            <p:cNvSpPr txBox="1"/>
            <p:nvPr/>
          </p:nvSpPr>
          <p:spPr>
            <a:xfrm>
              <a:off x="982980" y="2349486"/>
              <a:ext cx="4655287" cy="3828514"/>
            </a:xfrm>
            <a:prstGeom prst="rect">
              <a:avLst/>
            </a:prstGeom>
            <a:noFill/>
          </p:spPr>
          <p:txBody>
            <a:bodyPr wrap="square" lIns="0" rIns="0" rtlCol="0" anchor="ctr">
              <a:normAutofit/>
            </a:bodyPr>
            <a:lstStyle/>
            <a:p>
              <a:pPr>
                <a:lnSpc>
                  <a:spcPct val="150000"/>
                </a:lnSpc>
                <a:spcAft>
                  <a:spcPts val="500"/>
                </a:spcAft>
              </a:pPr>
              <a:r>
                <a:rPr lang="zh-CN" altLang="en-US" dirty="0"/>
                <a:t>分支方式简单，因此分支管理工作量较少</a:t>
              </a:r>
              <a:r>
                <a:rPr lang="en-US" altLang="zh-CN" dirty="0"/>
                <a:t>(</a:t>
              </a:r>
              <a:r>
                <a:rPr lang="zh-CN" altLang="en-US" dirty="0"/>
                <a:t>如代码合并成本</a:t>
              </a:r>
              <a:r>
                <a:rPr lang="en-US" altLang="zh-CN" dirty="0"/>
                <a:t>)</a:t>
              </a:r>
              <a:endParaRPr lang="zh-CN" altLang="en-US" dirty="0"/>
            </a:p>
          </p:txBody>
        </p:sp>
        <p:grpSp>
          <p:nvGrpSpPr>
            <p:cNvPr id="14" name="组合 13">
              <a:extLst>
                <a:ext uri="{FF2B5EF4-FFF2-40B4-BE49-F238E27FC236}">
                  <a16:creationId xmlns:a16="http://schemas.microsoft.com/office/drawing/2014/main" id="{33ACB417-7780-D377-1A2A-50798DC7C5F5}"/>
                </a:ext>
              </a:extLst>
            </p:cNvPr>
            <p:cNvGrpSpPr/>
            <p:nvPr/>
          </p:nvGrpSpPr>
          <p:grpSpPr>
            <a:xfrm>
              <a:off x="7033547" y="1663983"/>
              <a:ext cx="3251956" cy="777211"/>
              <a:chOff x="2080078" y="1301607"/>
              <a:chExt cx="2896524" cy="694518"/>
            </a:xfrm>
          </p:grpSpPr>
          <p:grpSp>
            <p:nvGrpSpPr>
              <p:cNvPr id="16" name="组合 15">
                <a:extLst>
                  <a:ext uri="{FF2B5EF4-FFF2-40B4-BE49-F238E27FC236}">
                    <a16:creationId xmlns:a16="http://schemas.microsoft.com/office/drawing/2014/main" id="{34A28F09-87F8-70E3-0D6C-A293FD4BFDD6}"/>
                  </a:ext>
                </a:extLst>
              </p:cNvPr>
              <p:cNvGrpSpPr/>
              <p:nvPr/>
            </p:nvGrpSpPr>
            <p:grpSpPr>
              <a:xfrm>
                <a:off x="2080078" y="1301607"/>
                <a:ext cx="2896524" cy="694518"/>
                <a:chOff x="1162373" y="1563389"/>
                <a:chExt cx="4703732" cy="4951709"/>
              </a:xfrm>
            </p:grpSpPr>
            <p:sp>
              <p:nvSpPr>
                <p:cNvPr id="18" name="梯形 6">
                  <a:extLst>
                    <a:ext uri="{FF2B5EF4-FFF2-40B4-BE49-F238E27FC236}">
                      <a16:creationId xmlns:a16="http://schemas.microsoft.com/office/drawing/2014/main" id="{4BE181A9-6AEF-87B6-3281-F40714F91314}"/>
                    </a:ext>
                  </a:extLst>
                </p:cNvPr>
                <p:cNvSpPr/>
                <p:nvPr/>
              </p:nvSpPr>
              <p:spPr>
                <a:xfrm flipV="1">
                  <a:off x="1162373" y="1563389"/>
                  <a:ext cx="4657241" cy="4951709"/>
                </a:xfrm>
                <a:custGeom>
                  <a:avLst/>
                  <a:gdLst>
                    <a:gd name="connsiteX0" fmla="*/ 0 w 3845406"/>
                    <a:gd name="connsiteY0" fmla="*/ 1519653 h 1519653"/>
                    <a:gd name="connsiteX1" fmla="*/ 317927 w 3845406"/>
                    <a:gd name="connsiteY1" fmla="*/ 0 h 1519653"/>
                    <a:gd name="connsiteX2" fmla="*/ 3527479 w 3845406"/>
                    <a:gd name="connsiteY2" fmla="*/ 0 h 1519653"/>
                    <a:gd name="connsiteX3" fmla="*/ 3845406 w 3845406"/>
                    <a:gd name="connsiteY3" fmla="*/ 1519653 h 1519653"/>
                    <a:gd name="connsiteX4" fmla="*/ 0 w 3845406"/>
                    <a:gd name="connsiteY4" fmla="*/ 1519653 h 1519653"/>
                    <a:gd name="connsiteX0" fmla="*/ 0 w 3845406"/>
                    <a:gd name="connsiteY0" fmla="*/ 1519653 h 1519653"/>
                    <a:gd name="connsiteX1" fmla="*/ 317927 w 3845406"/>
                    <a:gd name="connsiteY1" fmla="*/ 0 h 1519653"/>
                    <a:gd name="connsiteX2" fmla="*/ 3752205 w 3845406"/>
                    <a:gd name="connsiteY2" fmla="*/ 263471 h 1519653"/>
                    <a:gd name="connsiteX3" fmla="*/ 3845406 w 3845406"/>
                    <a:gd name="connsiteY3" fmla="*/ 1519653 h 1519653"/>
                    <a:gd name="connsiteX4" fmla="*/ 0 w 3845406"/>
                    <a:gd name="connsiteY4" fmla="*/ 1519653 h 1519653"/>
                    <a:gd name="connsiteX0" fmla="*/ 0 w 3891901"/>
                    <a:gd name="connsiteY0" fmla="*/ 1783124 h 1783124"/>
                    <a:gd name="connsiteX1" fmla="*/ 364422 w 3891901"/>
                    <a:gd name="connsiteY1" fmla="*/ 0 h 1783124"/>
                    <a:gd name="connsiteX2" fmla="*/ 3798700 w 3891901"/>
                    <a:gd name="connsiteY2" fmla="*/ 263471 h 1783124"/>
                    <a:gd name="connsiteX3" fmla="*/ 3891901 w 3891901"/>
                    <a:gd name="connsiteY3" fmla="*/ 1519653 h 1783124"/>
                    <a:gd name="connsiteX4" fmla="*/ 0 w 3891901"/>
                    <a:gd name="connsiteY4" fmla="*/ 1783124 h 1783124"/>
                    <a:gd name="connsiteX0" fmla="*/ 0 w 3891901"/>
                    <a:gd name="connsiteY0" fmla="*/ 1829619 h 1829619"/>
                    <a:gd name="connsiteX1" fmla="*/ 364422 w 3891901"/>
                    <a:gd name="connsiteY1" fmla="*/ 0 h 1829619"/>
                    <a:gd name="connsiteX2" fmla="*/ 3798700 w 3891901"/>
                    <a:gd name="connsiteY2" fmla="*/ 309966 h 1829619"/>
                    <a:gd name="connsiteX3" fmla="*/ 3891901 w 3891901"/>
                    <a:gd name="connsiteY3" fmla="*/ 1566148 h 1829619"/>
                    <a:gd name="connsiteX4" fmla="*/ 0 w 3891901"/>
                    <a:gd name="connsiteY4" fmla="*/ 1829619 h 18296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1901" h="1829619">
                      <a:moveTo>
                        <a:pt x="0" y="1829619"/>
                      </a:moveTo>
                      <a:lnTo>
                        <a:pt x="364422" y="0"/>
                      </a:lnTo>
                      <a:lnTo>
                        <a:pt x="3798700" y="309966"/>
                      </a:lnTo>
                      <a:lnTo>
                        <a:pt x="3891901" y="1566148"/>
                      </a:lnTo>
                      <a:lnTo>
                        <a:pt x="0" y="1829619"/>
                      </a:lnTo>
                      <a:close/>
                    </a:path>
                  </a:pathLst>
                </a:custGeom>
                <a:noFill/>
                <a:ln w="38100">
                  <a:solidFill>
                    <a:srgbClr val="003F88">
                      <a:alpha val="1019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icrosoft YaHei"/>
                    <a:cs typeface="+mn-cs"/>
                  </a:endParaRPr>
                </a:p>
              </p:txBody>
            </p:sp>
            <p:sp>
              <p:nvSpPr>
                <p:cNvPr id="19" name="梯形 6">
                  <a:extLst>
                    <a:ext uri="{FF2B5EF4-FFF2-40B4-BE49-F238E27FC236}">
                      <a16:creationId xmlns:a16="http://schemas.microsoft.com/office/drawing/2014/main" id="{47E5B8D7-2671-8E0E-6459-3AE936D165A9}"/>
                    </a:ext>
                  </a:extLst>
                </p:cNvPr>
                <p:cNvSpPr/>
                <p:nvPr/>
              </p:nvSpPr>
              <p:spPr>
                <a:xfrm flipH="1" flipV="1">
                  <a:off x="1286356" y="1893696"/>
                  <a:ext cx="4579749" cy="4460608"/>
                </a:xfrm>
                <a:custGeom>
                  <a:avLst/>
                  <a:gdLst>
                    <a:gd name="connsiteX0" fmla="*/ 0 w 3845406"/>
                    <a:gd name="connsiteY0" fmla="*/ 1519653 h 1519653"/>
                    <a:gd name="connsiteX1" fmla="*/ 317927 w 3845406"/>
                    <a:gd name="connsiteY1" fmla="*/ 0 h 1519653"/>
                    <a:gd name="connsiteX2" fmla="*/ 3527479 w 3845406"/>
                    <a:gd name="connsiteY2" fmla="*/ 0 h 1519653"/>
                    <a:gd name="connsiteX3" fmla="*/ 3845406 w 3845406"/>
                    <a:gd name="connsiteY3" fmla="*/ 1519653 h 1519653"/>
                    <a:gd name="connsiteX4" fmla="*/ 0 w 3845406"/>
                    <a:gd name="connsiteY4" fmla="*/ 1519653 h 1519653"/>
                    <a:gd name="connsiteX0" fmla="*/ 0 w 3845406"/>
                    <a:gd name="connsiteY0" fmla="*/ 1519653 h 1519653"/>
                    <a:gd name="connsiteX1" fmla="*/ 317927 w 3845406"/>
                    <a:gd name="connsiteY1" fmla="*/ 0 h 1519653"/>
                    <a:gd name="connsiteX2" fmla="*/ 3752205 w 3845406"/>
                    <a:gd name="connsiteY2" fmla="*/ 263471 h 1519653"/>
                    <a:gd name="connsiteX3" fmla="*/ 3845406 w 3845406"/>
                    <a:gd name="connsiteY3" fmla="*/ 1519653 h 1519653"/>
                    <a:gd name="connsiteX4" fmla="*/ 0 w 3845406"/>
                    <a:gd name="connsiteY4" fmla="*/ 1519653 h 1519653"/>
                    <a:gd name="connsiteX0" fmla="*/ 0 w 3891901"/>
                    <a:gd name="connsiteY0" fmla="*/ 1783124 h 1783124"/>
                    <a:gd name="connsiteX1" fmla="*/ 364422 w 3891901"/>
                    <a:gd name="connsiteY1" fmla="*/ 0 h 1783124"/>
                    <a:gd name="connsiteX2" fmla="*/ 3798700 w 3891901"/>
                    <a:gd name="connsiteY2" fmla="*/ 263471 h 1783124"/>
                    <a:gd name="connsiteX3" fmla="*/ 3891901 w 3891901"/>
                    <a:gd name="connsiteY3" fmla="*/ 1519653 h 1783124"/>
                    <a:gd name="connsiteX4" fmla="*/ 0 w 3891901"/>
                    <a:gd name="connsiteY4" fmla="*/ 1783124 h 1783124"/>
                    <a:gd name="connsiteX0" fmla="*/ 0 w 3891901"/>
                    <a:gd name="connsiteY0" fmla="*/ 1829619 h 1829619"/>
                    <a:gd name="connsiteX1" fmla="*/ 364422 w 3891901"/>
                    <a:gd name="connsiteY1" fmla="*/ 0 h 1829619"/>
                    <a:gd name="connsiteX2" fmla="*/ 3798700 w 3891901"/>
                    <a:gd name="connsiteY2" fmla="*/ 309966 h 1829619"/>
                    <a:gd name="connsiteX3" fmla="*/ 3891901 w 3891901"/>
                    <a:gd name="connsiteY3" fmla="*/ 1566148 h 1829619"/>
                    <a:gd name="connsiteX4" fmla="*/ 0 w 3891901"/>
                    <a:gd name="connsiteY4" fmla="*/ 1829619 h 1829619"/>
                    <a:gd name="connsiteX0" fmla="*/ 0 w 3827144"/>
                    <a:gd name="connsiteY0" fmla="*/ 1657824 h 1657824"/>
                    <a:gd name="connsiteX1" fmla="*/ 299665 w 3827144"/>
                    <a:gd name="connsiteY1" fmla="*/ 0 h 1657824"/>
                    <a:gd name="connsiteX2" fmla="*/ 3733943 w 3827144"/>
                    <a:gd name="connsiteY2" fmla="*/ 309966 h 1657824"/>
                    <a:gd name="connsiteX3" fmla="*/ 3827144 w 3827144"/>
                    <a:gd name="connsiteY3" fmla="*/ 1566148 h 1657824"/>
                    <a:gd name="connsiteX4" fmla="*/ 0 w 3827144"/>
                    <a:gd name="connsiteY4" fmla="*/ 1657824 h 1657824"/>
                    <a:gd name="connsiteX0" fmla="*/ 0 w 3827144"/>
                    <a:gd name="connsiteY0" fmla="*/ 1423037 h 1423037"/>
                    <a:gd name="connsiteX1" fmla="*/ 196054 w 3827144"/>
                    <a:gd name="connsiteY1" fmla="*/ 0 h 1423037"/>
                    <a:gd name="connsiteX2" fmla="*/ 3733943 w 3827144"/>
                    <a:gd name="connsiteY2" fmla="*/ 75179 h 1423037"/>
                    <a:gd name="connsiteX3" fmla="*/ 3827144 w 3827144"/>
                    <a:gd name="connsiteY3" fmla="*/ 1331361 h 1423037"/>
                    <a:gd name="connsiteX4" fmla="*/ 0 w 3827144"/>
                    <a:gd name="connsiteY4" fmla="*/ 1423037 h 14230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27144" h="1423037">
                      <a:moveTo>
                        <a:pt x="0" y="1423037"/>
                      </a:moveTo>
                      <a:lnTo>
                        <a:pt x="196054" y="0"/>
                      </a:lnTo>
                      <a:lnTo>
                        <a:pt x="3733943" y="75179"/>
                      </a:lnTo>
                      <a:lnTo>
                        <a:pt x="3827144" y="1331361"/>
                      </a:lnTo>
                      <a:lnTo>
                        <a:pt x="0" y="1423037"/>
                      </a:lnTo>
                      <a:close/>
                    </a:path>
                  </a:pathLst>
                </a:custGeom>
                <a:solidFill>
                  <a:srgbClr val="003F88">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icrosoft YaHei"/>
                    <a:cs typeface="+mn-cs"/>
                  </a:endParaRPr>
                </a:p>
              </p:txBody>
            </p:sp>
          </p:grpSp>
          <p:sp>
            <p:nvSpPr>
              <p:cNvPr id="17" name="文本框 16">
                <a:extLst>
                  <a:ext uri="{FF2B5EF4-FFF2-40B4-BE49-F238E27FC236}">
                    <a16:creationId xmlns:a16="http://schemas.microsoft.com/office/drawing/2014/main" id="{A7D07971-1BF1-7778-BD33-3E1748446738}"/>
                  </a:ext>
                </a:extLst>
              </p:cNvPr>
              <p:cNvSpPr txBox="1"/>
              <p:nvPr/>
            </p:nvSpPr>
            <p:spPr>
              <a:xfrm>
                <a:off x="2156740" y="1450799"/>
                <a:ext cx="2743200" cy="502255"/>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100"/>
                  </a:spcAft>
                  <a:buClrTx/>
                  <a:buSzTx/>
                  <a:buFontTx/>
                  <a:buNone/>
                  <a:tabLst/>
                  <a:defRPr/>
                </a:pPr>
                <a:r>
                  <a:rPr kumimoji="0" lang="zh-CN" altLang="en-US" sz="2400" b="1" i="0" u="none" strike="noStrike" kern="1200" cap="none" spc="0" normalizeH="0" baseline="0" noProof="0" dirty="0">
                    <a:ln>
                      <a:noFill/>
                    </a:ln>
                    <a:solidFill>
                      <a:srgbClr val="3F3F3F">
                        <a:lumMod val="50000"/>
                      </a:srgbClr>
                    </a:solidFill>
                    <a:effectLst/>
                    <a:uLnTx/>
                    <a:uFillTx/>
                    <a:latin typeface="Arial"/>
                    <a:ea typeface="Microsoft YaHei"/>
                    <a:cs typeface="+mn-cs"/>
                  </a:rPr>
                  <a:t>缺点</a:t>
                </a:r>
              </a:p>
            </p:txBody>
          </p:sp>
        </p:grpSp>
        <p:sp>
          <p:nvSpPr>
            <p:cNvPr id="20" name="文本框 19">
              <a:extLst>
                <a:ext uri="{FF2B5EF4-FFF2-40B4-BE49-F238E27FC236}">
                  <a16:creationId xmlns:a16="http://schemas.microsoft.com/office/drawing/2014/main" id="{6B583653-588A-F334-DF6E-EF04DDD85E3E}"/>
                </a:ext>
              </a:extLst>
            </p:cNvPr>
            <p:cNvSpPr txBox="1"/>
            <p:nvPr/>
          </p:nvSpPr>
          <p:spPr>
            <a:xfrm>
              <a:off x="6556737" y="2565148"/>
              <a:ext cx="4652283" cy="3431990"/>
            </a:xfrm>
            <a:prstGeom prst="rect">
              <a:avLst/>
            </a:prstGeom>
            <a:noFill/>
          </p:spPr>
          <p:txBody>
            <a:bodyPr wrap="square" lIns="0" rIns="0" rtlCol="0" anchor="ctr">
              <a:normAutofit/>
            </a:bodyPr>
            <a:lstStyle/>
            <a:p>
              <a:pPr marL="285750" indent="-285750" algn="l">
                <a:lnSpc>
                  <a:spcPct val="200000"/>
                </a:lnSpc>
                <a:buFont typeface="Wingdings" panose="05000000000000000000" pitchFamily="2" charset="2"/>
                <a:buChar char="l"/>
              </a:pPr>
              <a:r>
                <a:rPr lang="zh-CN" altLang="en-US" dirty="0"/>
                <a:t>低频交付模式：项目后期的缺陷修复阶段，会有一定的资源浪费；</a:t>
              </a:r>
              <a:endParaRPr lang="en-US" altLang="zh-CN" dirty="0"/>
            </a:p>
            <a:p>
              <a:pPr marL="285750" indent="-285750" algn="l">
                <a:lnSpc>
                  <a:spcPct val="200000"/>
                </a:lnSpc>
                <a:buFont typeface="Wingdings" panose="05000000000000000000" pitchFamily="2" charset="2"/>
                <a:buChar char="l"/>
              </a:pPr>
              <a:r>
                <a:rPr lang="zh-CN" altLang="en-US" dirty="0"/>
                <a:t>高频交付模式：主干分支代码变动过快，无法合并</a:t>
              </a:r>
              <a:endParaRPr lang="en-US" altLang="zh-CN" dirty="0"/>
            </a:p>
            <a:p>
              <a:pPr marL="285750" indent="-285750" algn="l">
                <a:lnSpc>
                  <a:spcPct val="200000"/>
                </a:lnSpc>
                <a:buFont typeface="Wingdings" panose="05000000000000000000" pitchFamily="2" charset="2"/>
                <a:buChar char="l"/>
              </a:pPr>
              <a:endParaRPr lang="zh-CN" altLang="en-US" dirty="0"/>
            </a:p>
          </p:txBody>
        </p:sp>
      </p:grpSp>
    </p:spTree>
    <p:extLst>
      <p:ext uri="{BB962C8B-B14F-4D97-AF65-F5344CB8AC3E}">
        <p14:creationId xmlns:p14="http://schemas.microsoft.com/office/powerpoint/2010/main" val="36492914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68A3EA-FFF7-F593-9FA7-BB39D3E3222F}"/>
              </a:ext>
            </a:extLst>
          </p:cNvPr>
          <p:cNvSpPr>
            <a:spLocks noGrp="1"/>
          </p:cNvSpPr>
          <p:nvPr>
            <p:ph type="title"/>
          </p:nvPr>
        </p:nvSpPr>
        <p:spPr/>
        <p:txBody>
          <a:bodyPr/>
          <a:lstStyle/>
          <a:p>
            <a:r>
              <a:rPr lang="en-US" altLang="zh-CN" dirty="0"/>
              <a:t>02 </a:t>
            </a:r>
            <a:r>
              <a:rPr lang="zh-CN" altLang="en-US" dirty="0"/>
              <a:t>持续交付</a:t>
            </a:r>
            <a:endParaRPr kumimoji="1" lang="zh-CN" altLang="en-US" dirty="0"/>
          </a:p>
        </p:txBody>
      </p:sp>
      <p:sp>
        <p:nvSpPr>
          <p:cNvPr id="3" name="灯片编号占位符 2">
            <a:extLst>
              <a:ext uri="{FF2B5EF4-FFF2-40B4-BE49-F238E27FC236}">
                <a16:creationId xmlns:a16="http://schemas.microsoft.com/office/drawing/2014/main" id="{940AA628-8120-F109-B869-E8671F3D72B8}"/>
              </a:ext>
            </a:extLst>
          </p:cNvPr>
          <p:cNvSpPr>
            <a:spLocks noGrp="1"/>
          </p:cNvSpPr>
          <p:nvPr>
            <p:ph type="sldNum" sz="quarter" idx="12"/>
          </p:nvPr>
        </p:nvSpPr>
        <p:spPr/>
        <p:txBody>
          <a:bodyPr/>
          <a:lstStyle/>
          <a:p>
            <a:fld id="{1AAC388E-FA9E-4A2C-95EA-1F6B3A07935A}" type="slidenum">
              <a:rPr lang="zh-CN" altLang="en-US" smtClean="0"/>
              <a:pPr/>
              <a:t>74</a:t>
            </a:fld>
            <a:endParaRPr lang="zh-CN" altLang="en-US"/>
          </a:p>
        </p:txBody>
      </p:sp>
      <p:sp>
        <p:nvSpPr>
          <p:cNvPr id="4" name="文本框 3">
            <a:extLst>
              <a:ext uri="{FF2B5EF4-FFF2-40B4-BE49-F238E27FC236}">
                <a16:creationId xmlns:a16="http://schemas.microsoft.com/office/drawing/2014/main" id="{BA9D347B-A333-F47E-DAC1-B3F417A6AD0E}"/>
              </a:ext>
            </a:extLst>
          </p:cNvPr>
          <p:cNvSpPr txBox="1"/>
          <p:nvPr/>
        </p:nvSpPr>
        <p:spPr>
          <a:xfrm>
            <a:off x="718218" y="838720"/>
            <a:ext cx="3594702"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zh-CN" altLang="en-US" dirty="0"/>
              <a:t>常见开发和发布模式</a:t>
            </a:r>
            <a:endParaRPr lang="en-US" altLang="zh-CN" dirty="0"/>
          </a:p>
        </p:txBody>
      </p:sp>
      <p:sp>
        <p:nvSpPr>
          <p:cNvPr id="15" name="文本框 14">
            <a:extLst>
              <a:ext uri="{FF2B5EF4-FFF2-40B4-BE49-F238E27FC236}">
                <a16:creationId xmlns:a16="http://schemas.microsoft.com/office/drawing/2014/main" id="{DEADEAFD-1329-6FA3-7B53-67A1A106F319}"/>
              </a:ext>
            </a:extLst>
          </p:cNvPr>
          <p:cNvSpPr txBox="1"/>
          <p:nvPr/>
        </p:nvSpPr>
        <p:spPr>
          <a:xfrm>
            <a:off x="1351165" y="1475429"/>
            <a:ext cx="10433511" cy="523220"/>
          </a:xfrm>
          <a:prstGeom prst="rect">
            <a:avLst/>
          </a:prstGeom>
          <a:noFill/>
        </p:spPr>
        <p:txBody>
          <a:bodyPr wrap="square">
            <a:spAutoFit/>
          </a:bodyPr>
          <a:lstStyle/>
          <a:p>
            <a:pPr marL="457200" indent="-457200">
              <a:spcAft>
                <a:spcPts val="600"/>
              </a:spcAft>
              <a:buFont typeface="Arial" panose="020B0604020202020204" pitchFamily="34" charset="0"/>
              <a:buChar char="•"/>
            </a:pPr>
            <a:r>
              <a:rPr lang="zh-CN" altLang="en-US" sz="2800" dirty="0">
                <a:effectLst/>
                <a:latin typeface="Helvetica" pitchFamily="2" charset="0"/>
              </a:rPr>
              <a:t>主干开发，</a:t>
            </a:r>
            <a:r>
              <a:rPr lang="zh-CN" altLang="en-US" sz="2800" dirty="0">
                <a:latin typeface="Helvetica" pitchFamily="2" charset="0"/>
              </a:rPr>
              <a:t>分支</a:t>
            </a:r>
            <a:r>
              <a:rPr lang="zh-CN" altLang="en-US" sz="2800" dirty="0">
                <a:effectLst/>
                <a:latin typeface="Helvetica" pitchFamily="2" charset="0"/>
              </a:rPr>
              <a:t>发布</a:t>
            </a:r>
            <a:endParaRPr lang="en-US" altLang="zh-CN" sz="2800" dirty="0">
              <a:effectLst/>
              <a:latin typeface="Helvetica" pitchFamily="2" charset="0"/>
            </a:endParaRPr>
          </a:p>
        </p:txBody>
      </p:sp>
      <p:pic>
        <p:nvPicPr>
          <p:cNvPr id="15362" name="Picture 2">
            <a:extLst>
              <a:ext uri="{FF2B5EF4-FFF2-40B4-BE49-F238E27FC236}">
                <a16:creationId xmlns:a16="http://schemas.microsoft.com/office/drawing/2014/main" id="{A4198B38-B66F-A233-CB26-B7FC0FC77B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221" y="2433245"/>
            <a:ext cx="11430000" cy="3895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3786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68A3EA-FFF7-F593-9FA7-BB39D3E3222F}"/>
              </a:ext>
            </a:extLst>
          </p:cNvPr>
          <p:cNvSpPr>
            <a:spLocks noGrp="1"/>
          </p:cNvSpPr>
          <p:nvPr>
            <p:ph type="title"/>
          </p:nvPr>
        </p:nvSpPr>
        <p:spPr/>
        <p:txBody>
          <a:bodyPr/>
          <a:lstStyle/>
          <a:p>
            <a:r>
              <a:rPr lang="en-US" altLang="zh-CN" dirty="0"/>
              <a:t>02 </a:t>
            </a:r>
            <a:r>
              <a:rPr lang="zh-CN" altLang="en-US" dirty="0"/>
              <a:t>持续交付</a:t>
            </a:r>
            <a:endParaRPr kumimoji="1" lang="zh-CN" altLang="en-US" dirty="0"/>
          </a:p>
        </p:txBody>
      </p:sp>
      <p:sp>
        <p:nvSpPr>
          <p:cNvPr id="3" name="灯片编号占位符 2">
            <a:extLst>
              <a:ext uri="{FF2B5EF4-FFF2-40B4-BE49-F238E27FC236}">
                <a16:creationId xmlns:a16="http://schemas.microsoft.com/office/drawing/2014/main" id="{940AA628-8120-F109-B869-E8671F3D72B8}"/>
              </a:ext>
            </a:extLst>
          </p:cNvPr>
          <p:cNvSpPr>
            <a:spLocks noGrp="1"/>
          </p:cNvSpPr>
          <p:nvPr>
            <p:ph type="sldNum" sz="quarter" idx="12"/>
          </p:nvPr>
        </p:nvSpPr>
        <p:spPr/>
        <p:txBody>
          <a:bodyPr/>
          <a:lstStyle/>
          <a:p>
            <a:fld id="{1AAC388E-FA9E-4A2C-95EA-1F6B3A07935A}" type="slidenum">
              <a:rPr lang="zh-CN" altLang="en-US" smtClean="0"/>
              <a:pPr/>
              <a:t>75</a:t>
            </a:fld>
            <a:endParaRPr lang="zh-CN" altLang="en-US"/>
          </a:p>
        </p:txBody>
      </p:sp>
      <p:sp>
        <p:nvSpPr>
          <p:cNvPr id="4" name="文本框 3">
            <a:extLst>
              <a:ext uri="{FF2B5EF4-FFF2-40B4-BE49-F238E27FC236}">
                <a16:creationId xmlns:a16="http://schemas.microsoft.com/office/drawing/2014/main" id="{BA9D347B-A333-F47E-DAC1-B3F417A6AD0E}"/>
              </a:ext>
            </a:extLst>
          </p:cNvPr>
          <p:cNvSpPr txBox="1"/>
          <p:nvPr/>
        </p:nvSpPr>
        <p:spPr>
          <a:xfrm>
            <a:off x="718218" y="838720"/>
            <a:ext cx="3594702"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zh-CN" altLang="en-US" dirty="0"/>
              <a:t>常见开发和发布模式</a:t>
            </a:r>
            <a:endParaRPr lang="en-US" altLang="zh-CN" dirty="0"/>
          </a:p>
        </p:txBody>
      </p:sp>
      <p:sp>
        <p:nvSpPr>
          <p:cNvPr id="15" name="文本框 14">
            <a:extLst>
              <a:ext uri="{FF2B5EF4-FFF2-40B4-BE49-F238E27FC236}">
                <a16:creationId xmlns:a16="http://schemas.microsoft.com/office/drawing/2014/main" id="{DEADEAFD-1329-6FA3-7B53-67A1A106F319}"/>
              </a:ext>
            </a:extLst>
          </p:cNvPr>
          <p:cNvSpPr txBox="1"/>
          <p:nvPr/>
        </p:nvSpPr>
        <p:spPr>
          <a:xfrm>
            <a:off x="1351165" y="1475429"/>
            <a:ext cx="10433511" cy="523220"/>
          </a:xfrm>
          <a:prstGeom prst="rect">
            <a:avLst/>
          </a:prstGeom>
          <a:noFill/>
        </p:spPr>
        <p:txBody>
          <a:bodyPr wrap="square">
            <a:spAutoFit/>
          </a:bodyPr>
          <a:lstStyle/>
          <a:p>
            <a:pPr marL="457200" indent="-457200">
              <a:spcAft>
                <a:spcPts val="600"/>
              </a:spcAft>
              <a:buFont typeface="Arial" panose="020B0604020202020204" pitchFamily="34" charset="0"/>
              <a:buChar char="•"/>
            </a:pPr>
            <a:r>
              <a:rPr lang="zh-CN" altLang="en-US" sz="2800" dirty="0">
                <a:effectLst/>
                <a:latin typeface="Helvetica" pitchFamily="2" charset="0"/>
              </a:rPr>
              <a:t>主干开发，</a:t>
            </a:r>
            <a:r>
              <a:rPr lang="zh-CN" altLang="en-US" sz="2800" dirty="0">
                <a:latin typeface="Helvetica" pitchFamily="2" charset="0"/>
              </a:rPr>
              <a:t>分支</a:t>
            </a:r>
            <a:r>
              <a:rPr lang="zh-CN" altLang="en-US" sz="2800" dirty="0">
                <a:effectLst/>
                <a:latin typeface="Helvetica" pitchFamily="2" charset="0"/>
              </a:rPr>
              <a:t>发布</a:t>
            </a:r>
            <a:endParaRPr lang="en-US" altLang="zh-CN" sz="2800" dirty="0">
              <a:effectLst/>
              <a:latin typeface="Helvetica" pitchFamily="2" charset="0"/>
            </a:endParaRPr>
          </a:p>
        </p:txBody>
      </p:sp>
      <p:pic>
        <p:nvPicPr>
          <p:cNvPr id="15362" name="Picture 2">
            <a:extLst>
              <a:ext uri="{FF2B5EF4-FFF2-40B4-BE49-F238E27FC236}">
                <a16:creationId xmlns:a16="http://schemas.microsoft.com/office/drawing/2014/main" id="{A4198B38-B66F-A233-CB26-B7FC0FC77B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165" t="12136" r="10594" b="7413"/>
          <a:stretch/>
        </p:blipFill>
        <p:spPr bwMode="auto">
          <a:xfrm>
            <a:off x="5867400" y="917889"/>
            <a:ext cx="4973435" cy="1638300"/>
          </a:xfrm>
          <a:prstGeom prst="rect">
            <a:avLst/>
          </a:prstGeom>
          <a:noFill/>
          <a:extLst>
            <a:ext uri="{909E8E84-426E-40DD-AFC4-6F175D3DCCD1}">
              <a14:hiddenFill xmlns:a14="http://schemas.microsoft.com/office/drawing/2010/main">
                <a:solidFill>
                  <a:srgbClr val="FFFFFF"/>
                </a:solidFill>
              </a14:hiddenFill>
            </a:ext>
          </a:extLst>
        </p:spPr>
      </p:pic>
      <p:grpSp>
        <p:nvGrpSpPr>
          <p:cNvPr id="5" name="组合 4">
            <a:extLst>
              <a:ext uri="{FF2B5EF4-FFF2-40B4-BE49-F238E27FC236}">
                <a16:creationId xmlns:a16="http://schemas.microsoft.com/office/drawing/2014/main" id="{FA99368A-A4DE-001E-1BC6-9F975AC61DA3}"/>
              </a:ext>
            </a:extLst>
          </p:cNvPr>
          <p:cNvGrpSpPr/>
          <p:nvPr/>
        </p:nvGrpSpPr>
        <p:grpSpPr>
          <a:xfrm>
            <a:off x="2009774" y="2670991"/>
            <a:ext cx="9317421" cy="3763179"/>
            <a:chOff x="796846" y="1663983"/>
            <a:chExt cx="10530350" cy="4770188"/>
          </a:xfrm>
        </p:grpSpPr>
        <p:sp>
          <p:nvSpPr>
            <p:cNvPr id="6" name="梯形 6">
              <a:extLst>
                <a:ext uri="{FF2B5EF4-FFF2-40B4-BE49-F238E27FC236}">
                  <a16:creationId xmlns:a16="http://schemas.microsoft.com/office/drawing/2014/main" id="{FF38CB4F-C20D-6846-3A52-B087B3553699}"/>
                </a:ext>
              </a:extLst>
            </p:cNvPr>
            <p:cNvSpPr/>
            <p:nvPr/>
          </p:nvSpPr>
          <p:spPr>
            <a:xfrm flipV="1">
              <a:off x="6197128" y="1813175"/>
              <a:ext cx="5130068" cy="4620996"/>
            </a:xfrm>
            <a:custGeom>
              <a:avLst/>
              <a:gdLst>
                <a:gd name="connsiteX0" fmla="*/ 0 w 3845406"/>
                <a:gd name="connsiteY0" fmla="*/ 1519653 h 1519653"/>
                <a:gd name="connsiteX1" fmla="*/ 317927 w 3845406"/>
                <a:gd name="connsiteY1" fmla="*/ 0 h 1519653"/>
                <a:gd name="connsiteX2" fmla="*/ 3527479 w 3845406"/>
                <a:gd name="connsiteY2" fmla="*/ 0 h 1519653"/>
                <a:gd name="connsiteX3" fmla="*/ 3845406 w 3845406"/>
                <a:gd name="connsiteY3" fmla="*/ 1519653 h 1519653"/>
                <a:gd name="connsiteX4" fmla="*/ 0 w 3845406"/>
                <a:gd name="connsiteY4" fmla="*/ 1519653 h 1519653"/>
                <a:gd name="connsiteX0" fmla="*/ 0 w 3845406"/>
                <a:gd name="connsiteY0" fmla="*/ 1519653 h 1519653"/>
                <a:gd name="connsiteX1" fmla="*/ 317927 w 3845406"/>
                <a:gd name="connsiteY1" fmla="*/ 0 h 1519653"/>
                <a:gd name="connsiteX2" fmla="*/ 3752205 w 3845406"/>
                <a:gd name="connsiteY2" fmla="*/ 263471 h 1519653"/>
                <a:gd name="connsiteX3" fmla="*/ 3845406 w 3845406"/>
                <a:gd name="connsiteY3" fmla="*/ 1519653 h 1519653"/>
                <a:gd name="connsiteX4" fmla="*/ 0 w 3845406"/>
                <a:gd name="connsiteY4" fmla="*/ 1519653 h 1519653"/>
                <a:gd name="connsiteX0" fmla="*/ 0 w 3891901"/>
                <a:gd name="connsiteY0" fmla="*/ 1783124 h 1783124"/>
                <a:gd name="connsiteX1" fmla="*/ 364422 w 3891901"/>
                <a:gd name="connsiteY1" fmla="*/ 0 h 1783124"/>
                <a:gd name="connsiteX2" fmla="*/ 3798700 w 3891901"/>
                <a:gd name="connsiteY2" fmla="*/ 263471 h 1783124"/>
                <a:gd name="connsiteX3" fmla="*/ 3891901 w 3891901"/>
                <a:gd name="connsiteY3" fmla="*/ 1519653 h 1783124"/>
                <a:gd name="connsiteX4" fmla="*/ 0 w 3891901"/>
                <a:gd name="connsiteY4" fmla="*/ 1783124 h 1783124"/>
                <a:gd name="connsiteX0" fmla="*/ 0 w 3891901"/>
                <a:gd name="connsiteY0" fmla="*/ 1829619 h 1829619"/>
                <a:gd name="connsiteX1" fmla="*/ 364422 w 3891901"/>
                <a:gd name="connsiteY1" fmla="*/ 0 h 1829619"/>
                <a:gd name="connsiteX2" fmla="*/ 3798700 w 3891901"/>
                <a:gd name="connsiteY2" fmla="*/ 309966 h 1829619"/>
                <a:gd name="connsiteX3" fmla="*/ 3891901 w 3891901"/>
                <a:gd name="connsiteY3" fmla="*/ 1566148 h 1829619"/>
                <a:gd name="connsiteX4" fmla="*/ 0 w 3891901"/>
                <a:gd name="connsiteY4" fmla="*/ 1829619 h 1829619"/>
                <a:gd name="connsiteX0" fmla="*/ 0 w 3827144"/>
                <a:gd name="connsiteY0" fmla="*/ 1657824 h 1657824"/>
                <a:gd name="connsiteX1" fmla="*/ 299665 w 3827144"/>
                <a:gd name="connsiteY1" fmla="*/ 0 h 1657824"/>
                <a:gd name="connsiteX2" fmla="*/ 3733943 w 3827144"/>
                <a:gd name="connsiteY2" fmla="*/ 309966 h 1657824"/>
                <a:gd name="connsiteX3" fmla="*/ 3827144 w 3827144"/>
                <a:gd name="connsiteY3" fmla="*/ 1566148 h 1657824"/>
                <a:gd name="connsiteX4" fmla="*/ 0 w 3827144"/>
                <a:gd name="connsiteY4" fmla="*/ 1657824 h 1657824"/>
                <a:gd name="connsiteX0" fmla="*/ 0 w 3827144"/>
                <a:gd name="connsiteY0" fmla="*/ 1423037 h 1423037"/>
                <a:gd name="connsiteX1" fmla="*/ 196054 w 3827144"/>
                <a:gd name="connsiteY1" fmla="*/ 0 h 1423037"/>
                <a:gd name="connsiteX2" fmla="*/ 3733943 w 3827144"/>
                <a:gd name="connsiteY2" fmla="*/ 75179 h 1423037"/>
                <a:gd name="connsiteX3" fmla="*/ 3827144 w 3827144"/>
                <a:gd name="connsiteY3" fmla="*/ 1331361 h 1423037"/>
                <a:gd name="connsiteX4" fmla="*/ 0 w 3827144"/>
                <a:gd name="connsiteY4" fmla="*/ 1423037 h 14230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27144" h="1423037">
                  <a:moveTo>
                    <a:pt x="0" y="1423037"/>
                  </a:moveTo>
                  <a:lnTo>
                    <a:pt x="196054" y="0"/>
                  </a:lnTo>
                  <a:lnTo>
                    <a:pt x="3733943" y="75179"/>
                  </a:lnTo>
                  <a:lnTo>
                    <a:pt x="3827144" y="1331361"/>
                  </a:lnTo>
                  <a:lnTo>
                    <a:pt x="0" y="1423037"/>
                  </a:lnTo>
                  <a:close/>
                </a:path>
              </a:pathLst>
            </a:custGeom>
            <a:solidFill>
              <a:srgbClr val="003F88">
                <a:alpha val="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icrosoft YaHei"/>
                <a:cs typeface="+mn-cs"/>
              </a:endParaRPr>
            </a:p>
          </p:txBody>
        </p:sp>
        <p:sp>
          <p:nvSpPr>
            <p:cNvPr id="7" name="梯形 6">
              <a:extLst>
                <a:ext uri="{FF2B5EF4-FFF2-40B4-BE49-F238E27FC236}">
                  <a16:creationId xmlns:a16="http://schemas.microsoft.com/office/drawing/2014/main" id="{973BA866-BF65-AA9E-A337-10390CE2C3EF}"/>
                </a:ext>
              </a:extLst>
            </p:cNvPr>
            <p:cNvSpPr/>
            <p:nvPr/>
          </p:nvSpPr>
          <p:spPr>
            <a:xfrm flipH="1" flipV="1">
              <a:off x="796846" y="1813175"/>
              <a:ext cx="5130068" cy="4620996"/>
            </a:xfrm>
            <a:custGeom>
              <a:avLst/>
              <a:gdLst>
                <a:gd name="connsiteX0" fmla="*/ 0 w 3845406"/>
                <a:gd name="connsiteY0" fmla="*/ 1519653 h 1519653"/>
                <a:gd name="connsiteX1" fmla="*/ 317927 w 3845406"/>
                <a:gd name="connsiteY1" fmla="*/ 0 h 1519653"/>
                <a:gd name="connsiteX2" fmla="*/ 3527479 w 3845406"/>
                <a:gd name="connsiteY2" fmla="*/ 0 h 1519653"/>
                <a:gd name="connsiteX3" fmla="*/ 3845406 w 3845406"/>
                <a:gd name="connsiteY3" fmla="*/ 1519653 h 1519653"/>
                <a:gd name="connsiteX4" fmla="*/ 0 w 3845406"/>
                <a:gd name="connsiteY4" fmla="*/ 1519653 h 1519653"/>
                <a:gd name="connsiteX0" fmla="*/ 0 w 3845406"/>
                <a:gd name="connsiteY0" fmla="*/ 1519653 h 1519653"/>
                <a:gd name="connsiteX1" fmla="*/ 317927 w 3845406"/>
                <a:gd name="connsiteY1" fmla="*/ 0 h 1519653"/>
                <a:gd name="connsiteX2" fmla="*/ 3752205 w 3845406"/>
                <a:gd name="connsiteY2" fmla="*/ 263471 h 1519653"/>
                <a:gd name="connsiteX3" fmla="*/ 3845406 w 3845406"/>
                <a:gd name="connsiteY3" fmla="*/ 1519653 h 1519653"/>
                <a:gd name="connsiteX4" fmla="*/ 0 w 3845406"/>
                <a:gd name="connsiteY4" fmla="*/ 1519653 h 1519653"/>
                <a:gd name="connsiteX0" fmla="*/ 0 w 3891901"/>
                <a:gd name="connsiteY0" fmla="*/ 1783124 h 1783124"/>
                <a:gd name="connsiteX1" fmla="*/ 364422 w 3891901"/>
                <a:gd name="connsiteY1" fmla="*/ 0 h 1783124"/>
                <a:gd name="connsiteX2" fmla="*/ 3798700 w 3891901"/>
                <a:gd name="connsiteY2" fmla="*/ 263471 h 1783124"/>
                <a:gd name="connsiteX3" fmla="*/ 3891901 w 3891901"/>
                <a:gd name="connsiteY3" fmla="*/ 1519653 h 1783124"/>
                <a:gd name="connsiteX4" fmla="*/ 0 w 3891901"/>
                <a:gd name="connsiteY4" fmla="*/ 1783124 h 1783124"/>
                <a:gd name="connsiteX0" fmla="*/ 0 w 3891901"/>
                <a:gd name="connsiteY0" fmla="*/ 1829619 h 1829619"/>
                <a:gd name="connsiteX1" fmla="*/ 364422 w 3891901"/>
                <a:gd name="connsiteY1" fmla="*/ 0 h 1829619"/>
                <a:gd name="connsiteX2" fmla="*/ 3798700 w 3891901"/>
                <a:gd name="connsiteY2" fmla="*/ 309966 h 1829619"/>
                <a:gd name="connsiteX3" fmla="*/ 3891901 w 3891901"/>
                <a:gd name="connsiteY3" fmla="*/ 1566148 h 1829619"/>
                <a:gd name="connsiteX4" fmla="*/ 0 w 3891901"/>
                <a:gd name="connsiteY4" fmla="*/ 1829619 h 1829619"/>
                <a:gd name="connsiteX0" fmla="*/ 0 w 3827144"/>
                <a:gd name="connsiteY0" fmla="*/ 1657824 h 1657824"/>
                <a:gd name="connsiteX1" fmla="*/ 299665 w 3827144"/>
                <a:gd name="connsiteY1" fmla="*/ 0 h 1657824"/>
                <a:gd name="connsiteX2" fmla="*/ 3733943 w 3827144"/>
                <a:gd name="connsiteY2" fmla="*/ 309966 h 1657824"/>
                <a:gd name="connsiteX3" fmla="*/ 3827144 w 3827144"/>
                <a:gd name="connsiteY3" fmla="*/ 1566148 h 1657824"/>
                <a:gd name="connsiteX4" fmla="*/ 0 w 3827144"/>
                <a:gd name="connsiteY4" fmla="*/ 1657824 h 1657824"/>
                <a:gd name="connsiteX0" fmla="*/ 0 w 3827144"/>
                <a:gd name="connsiteY0" fmla="*/ 1423037 h 1423037"/>
                <a:gd name="connsiteX1" fmla="*/ 196054 w 3827144"/>
                <a:gd name="connsiteY1" fmla="*/ 0 h 1423037"/>
                <a:gd name="connsiteX2" fmla="*/ 3733943 w 3827144"/>
                <a:gd name="connsiteY2" fmla="*/ 75179 h 1423037"/>
                <a:gd name="connsiteX3" fmla="*/ 3827144 w 3827144"/>
                <a:gd name="connsiteY3" fmla="*/ 1331361 h 1423037"/>
                <a:gd name="connsiteX4" fmla="*/ 0 w 3827144"/>
                <a:gd name="connsiteY4" fmla="*/ 1423037 h 14230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27144" h="1423037">
                  <a:moveTo>
                    <a:pt x="0" y="1423037"/>
                  </a:moveTo>
                  <a:lnTo>
                    <a:pt x="196054" y="0"/>
                  </a:lnTo>
                  <a:lnTo>
                    <a:pt x="3733943" y="75179"/>
                  </a:lnTo>
                  <a:lnTo>
                    <a:pt x="3827144" y="1331361"/>
                  </a:lnTo>
                  <a:lnTo>
                    <a:pt x="0" y="1423037"/>
                  </a:lnTo>
                  <a:close/>
                </a:path>
              </a:pathLst>
            </a:custGeom>
            <a:solidFill>
              <a:srgbClr val="003F88">
                <a:alpha val="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icrosoft YaHei"/>
                <a:cs typeface="+mn-cs"/>
              </a:endParaRPr>
            </a:p>
          </p:txBody>
        </p:sp>
        <p:grpSp>
          <p:nvGrpSpPr>
            <p:cNvPr id="8" name="组合 7">
              <a:extLst>
                <a:ext uri="{FF2B5EF4-FFF2-40B4-BE49-F238E27FC236}">
                  <a16:creationId xmlns:a16="http://schemas.microsoft.com/office/drawing/2014/main" id="{929F282D-1D28-59FD-127C-89C4BBA7E960}"/>
                </a:ext>
              </a:extLst>
            </p:cNvPr>
            <p:cNvGrpSpPr/>
            <p:nvPr/>
          </p:nvGrpSpPr>
          <p:grpSpPr>
            <a:xfrm>
              <a:off x="1633265" y="1663983"/>
              <a:ext cx="3251956" cy="777211"/>
              <a:chOff x="2080078" y="1301607"/>
              <a:chExt cx="2896524" cy="694518"/>
            </a:xfrm>
          </p:grpSpPr>
          <p:grpSp>
            <p:nvGrpSpPr>
              <p:cNvPr id="17" name="组合 16">
                <a:extLst>
                  <a:ext uri="{FF2B5EF4-FFF2-40B4-BE49-F238E27FC236}">
                    <a16:creationId xmlns:a16="http://schemas.microsoft.com/office/drawing/2014/main" id="{92A1BDA6-9D19-B174-1C52-6E9F43FE3B3A}"/>
                  </a:ext>
                </a:extLst>
              </p:cNvPr>
              <p:cNvGrpSpPr/>
              <p:nvPr/>
            </p:nvGrpSpPr>
            <p:grpSpPr>
              <a:xfrm>
                <a:off x="2080078" y="1301607"/>
                <a:ext cx="2896524" cy="694518"/>
                <a:chOff x="1162373" y="1563389"/>
                <a:chExt cx="4703732" cy="4951709"/>
              </a:xfrm>
            </p:grpSpPr>
            <p:sp>
              <p:nvSpPr>
                <p:cNvPr id="19" name="梯形 6">
                  <a:extLst>
                    <a:ext uri="{FF2B5EF4-FFF2-40B4-BE49-F238E27FC236}">
                      <a16:creationId xmlns:a16="http://schemas.microsoft.com/office/drawing/2014/main" id="{DF1AE855-03B3-7DEF-AD51-9B9F4703BBB6}"/>
                    </a:ext>
                  </a:extLst>
                </p:cNvPr>
                <p:cNvSpPr/>
                <p:nvPr/>
              </p:nvSpPr>
              <p:spPr>
                <a:xfrm flipV="1">
                  <a:off x="1162373" y="1563389"/>
                  <a:ext cx="4657241" cy="4951709"/>
                </a:xfrm>
                <a:custGeom>
                  <a:avLst/>
                  <a:gdLst>
                    <a:gd name="connsiteX0" fmla="*/ 0 w 3845406"/>
                    <a:gd name="connsiteY0" fmla="*/ 1519653 h 1519653"/>
                    <a:gd name="connsiteX1" fmla="*/ 317927 w 3845406"/>
                    <a:gd name="connsiteY1" fmla="*/ 0 h 1519653"/>
                    <a:gd name="connsiteX2" fmla="*/ 3527479 w 3845406"/>
                    <a:gd name="connsiteY2" fmla="*/ 0 h 1519653"/>
                    <a:gd name="connsiteX3" fmla="*/ 3845406 w 3845406"/>
                    <a:gd name="connsiteY3" fmla="*/ 1519653 h 1519653"/>
                    <a:gd name="connsiteX4" fmla="*/ 0 w 3845406"/>
                    <a:gd name="connsiteY4" fmla="*/ 1519653 h 1519653"/>
                    <a:gd name="connsiteX0" fmla="*/ 0 w 3845406"/>
                    <a:gd name="connsiteY0" fmla="*/ 1519653 h 1519653"/>
                    <a:gd name="connsiteX1" fmla="*/ 317927 w 3845406"/>
                    <a:gd name="connsiteY1" fmla="*/ 0 h 1519653"/>
                    <a:gd name="connsiteX2" fmla="*/ 3752205 w 3845406"/>
                    <a:gd name="connsiteY2" fmla="*/ 263471 h 1519653"/>
                    <a:gd name="connsiteX3" fmla="*/ 3845406 w 3845406"/>
                    <a:gd name="connsiteY3" fmla="*/ 1519653 h 1519653"/>
                    <a:gd name="connsiteX4" fmla="*/ 0 w 3845406"/>
                    <a:gd name="connsiteY4" fmla="*/ 1519653 h 1519653"/>
                    <a:gd name="connsiteX0" fmla="*/ 0 w 3891901"/>
                    <a:gd name="connsiteY0" fmla="*/ 1783124 h 1783124"/>
                    <a:gd name="connsiteX1" fmla="*/ 364422 w 3891901"/>
                    <a:gd name="connsiteY1" fmla="*/ 0 h 1783124"/>
                    <a:gd name="connsiteX2" fmla="*/ 3798700 w 3891901"/>
                    <a:gd name="connsiteY2" fmla="*/ 263471 h 1783124"/>
                    <a:gd name="connsiteX3" fmla="*/ 3891901 w 3891901"/>
                    <a:gd name="connsiteY3" fmla="*/ 1519653 h 1783124"/>
                    <a:gd name="connsiteX4" fmla="*/ 0 w 3891901"/>
                    <a:gd name="connsiteY4" fmla="*/ 1783124 h 1783124"/>
                    <a:gd name="connsiteX0" fmla="*/ 0 w 3891901"/>
                    <a:gd name="connsiteY0" fmla="*/ 1829619 h 1829619"/>
                    <a:gd name="connsiteX1" fmla="*/ 364422 w 3891901"/>
                    <a:gd name="connsiteY1" fmla="*/ 0 h 1829619"/>
                    <a:gd name="connsiteX2" fmla="*/ 3798700 w 3891901"/>
                    <a:gd name="connsiteY2" fmla="*/ 309966 h 1829619"/>
                    <a:gd name="connsiteX3" fmla="*/ 3891901 w 3891901"/>
                    <a:gd name="connsiteY3" fmla="*/ 1566148 h 1829619"/>
                    <a:gd name="connsiteX4" fmla="*/ 0 w 3891901"/>
                    <a:gd name="connsiteY4" fmla="*/ 1829619 h 18296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1901" h="1829619">
                      <a:moveTo>
                        <a:pt x="0" y="1829619"/>
                      </a:moveTo>
                      <a:lnTo>
                        <a:pt x="364422" y="0"/>
                      </a:lnTo>
                      <a:lnTo>
                        <a:pt x="3798700" y="309966"/>
                      </a:lnTo>
                      <a:lnTo>
                        <a:pt x="3891901" y="1566148"/>
                      </a:lnTo>
                      <a:lnTo>
                        <a:pt x="0" y="1829619"/>
                      </a:lnTo>
                      <a:close/>
                    </a:path>
                  </a:pathLst>
                </a:custGeom>
                <a:noFill/>
                <a:ln w="38100">
                  <a:solidFill>
                    <a:srgbClr val="003F88">
                      <a:alpha val="1019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icrosoft YaHei"/>
                    <a:cs typeface="+mn-cs"/>
                  </a:endParaRPr>
                </a:p>
              </p:txBody>
            </p:sp>
            <p:sp>
              <p:nvSpPr>
                <p:cNvPr id="20" name="梯形 6">
                  <a:extLst>
                    <a:ext uri="{FF2B5EF4-FFF2-40B4-BE49-F238E27FC236}">
                      <a16:creationId xmlns:a16="http://schemas.microsoft.com/office/drawing/2014/main" id="{81B7154D-BC81-487B-9277-81384234E67C}"/>
                    </a:ext>
                  </a:extLst>
                </p:cNvPr>
                <p:cNvSpPr/>
                <p:nvPr/>
              </p:nvSpPr>
              <p:spPr>
                <a:xfrm flipH="1" flipV="1">
                  <a:off x="1286356" y="1893696"/>
                  <a:ext cx="4579749" cy="4460608"/>
                </a:xfrm>
                <a:custGeom>
                  <a:avLst/>
                  <a:gdLst>
                    <a:gd name="connsiteX0" fmla="*/ 0 w 3845406"/>
                    <a:gd name="connsiteY0" fmla="*/ 1519653 h 1519653"/>
                    <a:gd name="connsiteX1" fmla="*/ 317927 w 3845406"/>
                    <a:gd name="connsiteY1" fmla="*/ 0 h 1519653"/>
                    <a:gd name="connsiteX2" fmla="*/ 3527479 w 3845406"/>
                    <a:gd name="connsiteY2" fmla="*/ 0 h 1519653"/>
                    <a:gd name="connsiteX3" fmla="*/ 3845406 w 3845406"/>
                    <a:gd name="connsiteY3" fmla="*/ 1519653 h 1519653"/>
                    <a:gd name="connsiteX4" fmla="*/ 0 w 3845406"/>
                    <a:gd name="connsiteY4" fmla="*/ 1519653 h 1519653"/>
                    <a:gd name="connsiteX0" fmla="*/ 0 w 3845406"/>
                    <a:gd name="connsiteY0" fmla="*/ 1519653 h 1519653"/>
                    <a:gd name="connsiteX1" fmla="*/ 317927 w 3845406"/>
                    <a:gd name="connsiteY1" fmla="*/ 0 h 1519653"/>
                    <a:gd name="connsiteX2" fmla="*/ 3752205 w 3845406"/>
                    <a:gd name="connsiteY2" fmla="*/ 263471 h 1519653"/>
                    <a:gd name="connsiteX3" fmla="*/ 3845406 w 3845406"/>
                    <a:gd name="connsiteY3" fmla="*/ 1519653 h 1519653"/>
                    <a:gd name="connsiteX4" fmla="*/ 0 w 3845406"/>
                    <a:gd name="connsiteY4" fmla="*/ 1519653 h 1519653"/>
                    <a:gd name="connsiteX0" fmla="*/ 0 w 3891901"/>
                    <a:gd name="connsiteY0" fmla="*/ 1783124 h 1783124"/>
                    <a:gd name="connsiteX1" fmla="*/ 364422 w 3891901"/>
                    <a:gd name="connsiteY1" fmla="*/ 0 h 1783124"/>
                    <a:gd name="connsiteX2" fmla="*/ 3798700 w 3891901"/>
                    <a:gd name="connsiteY2" fmla="*/ 263471 h 1783124"/>
                    <a:gd name="connsiteX3" fmla="*/ 3891901 w 3891901"/>
                    <a:gd name="connsiteY3" fmla="*/ 1519653 h 1783124"/>
                    <a:gd name="connsiteX4" fmla="*/ 0 w 3891901"/>
                    <a:gd name="connsiteY4" fmla="*/ 1783124 h 1783124"/>
                    <a:gd name="connsiteX0" fmla="*/ 0 w 3891901"/>
                    <a:gd name="connsiteY0" fmla="*/ 1829619 h 1829619"/>
                    <a:gd name="connsiteX1" fmla="*/ 364422 w 3891901"/>
                    <a:gd name="connsiteY1" fmla="*/ 0 h 1829619"/>
                    <a:gd name="connsiteX2" fmla="*/ 3798700 w 3891901"/>
                    <a:gd name="connsiteY2" fmla="*/ 309966 h 1829619"/>
                    <a:gd name="connsiteX3" fmla="*/ 3891901 w 3891901"/>
                    <a:gd name="connsiteY3" fmla="*/ 1566148 h 1829619"/>
                    <a:gd name="connsiteX4" fmla="*/ 0 w 3891901"/>
                    <a:gd name="connsiteY4" fmla="*/ 1829619 h 1829619"/>
                    <a:gd name="connsiteX0" fmla="*/ 0 w 3827144"/>
                    <a:gd name="connsiteY0" fmla="*/ 1657824 h 1657824"/>
                    <a:gd name="connsiteX1" fmla="*/ 299665 w 3827144"/>
                    <a:gd name="connsiteY1" fmla="*/ 0 h 1657824"/>
                    <a:gd name="connsiteX2" fmla="*/ 3733943 w 3827144"/>
                    <a:gd name="connsiteY2" fmla="*/ 309966 h 1657824"/>
                    <a:gd name="connsiteX3" fmla="*/ 3827144 w 3827144"/>
                    <a:gd name="connsiteY3" fmla="*/ 1566148 h 1657824"/>
                    <a:gd name="connsiteX4" fmla="*/ 0 w 3827144"/>
                    <a:gd name="connsiteY4" fmla="*/ 1657824 h 1657824"/>
                    <a:gd name="connsiteX0" fmla="*/ 0 w 3827144"/>
                    <a:gd name="connsiteY0" fmla="*/ 1423037 h 1423037"/>
                    <a:gd name="connsiteX1" fmla="*/ 196054 w 3827144"/>
                    <a:gd name="connsiteY1" fmla="*/ 0 h 1423037"/>
                    <a:gd name="connsiteX2" fmla="*/ 3733943 w 3827144"/>
                    <a:gd name="connsiteY2" fmla="*/ 75179 h 1423037"/>
                    <a:gd name="connsiteX3" fmla="*/ 3827144 w 3827144"/>
                    <a:gd name="connsiteY3" fmla="*/ 1331361 h 1423037"/>
                    <a:gd name="connsiteX4" fmla="*/ 0 w 3827144"/>
                    <a:gd name="connsiteY4" fmla="*/ 1423037 h 14230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27144" h="1423037">
                      <a:moveTo>
                        <a:pt x="0" y="1423037"/>
                      </a:moveTo>
                      <a:lnTo>
                        <a:pt x="196054" y="0"/>
                      </a:lnTo>
                      <a:lnTo>
                        <a:pt x="3733943" y="75179"/>
                      </a:lnTo>
                      <a:lnTo>
                        <a:pt x="3827144" y="1331361"/>
                      </a:lnTo>
                      <a:lnTo>
                        <a:pt x="0" y="1423037"/>
                      </a:lnTo>
                      <a:close/>
                    </a:path>
                  </a:pathLst>
                </a:custGeom>
                <a:solidFill>
                  <a:srgbClr val="003F88">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icrosoft YaHei"/>
                    <a:cs typeface="+mn-cs"/>
                  </a:endParaRPr>
                </a:p>
              </p:txBody>
            </p:sp>
          </p:grpSp>
          <p:sp>
            <p:nvSpPr>
              <p:cNvPr id="18" name="文本框 17">
                <a:extLst>
                  <a:ext uri="{FF2B5EF4-FFF2-40B4-BE49-F238E27FC236}">
                    <a16:creationId xmlns:a16="http://schemas.microsoft.com/office/drawing/2014/main" id="{D110FA11-0FDD-BD99-F006-B166CA6B5A09}"/>
                  </a:ext>
                </a:extLst>
              </p:cNvPr>
              <p:cNvSpPr txBox="1"/>
              <p:nvPr/>
            </p:nvSpPr>
            <p:spPr>
              <a:xfrm>
                <a:off x="2156740" y="1450799"/>
                <a:ext cx="2743200" cy="502255"/>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100"/>
                  </a:spcAft>
                  <a:buClrTx/>
                  <a:buSzTx/>
                  <a:buFontTx/>
                  <a:buNone/>
                  <a:tabLst/>
                  <a:defRPr/>
                </a:pPr>
                <a:r>
                  <a:rPr kumimoji="0" lang="zh-CN" altLang="en-US" sz="2400" b="1" i="0" u="none" strike="noStrike" kern="1200" cap="none" spc="0" normalizeH="0" baseline="0" noProof="0" dirty="0">
                    <a:ln>
                      <a:noFill/>
                    </a:ln>
                    <a:solidFill>
                      <a:srgbClr val="3F3F3F">
                        <a:lumMod val="50000"/>
                      </a:srgbClr>
                    </a:solidFill>
                    <a:effectLst/>
                    <a:uLnTx/>
                    <a:uFillTx/>
                    <a:latin typeface="Arial"/>
                    <a:ea typeface="Microsoft YaHei"/>
                    <a:cs typeface="+mn-cs"/>
                  </a:rPr>
                  <a:t>优点</a:t>
                </a:r>
              </a:p>
            </p:txBody>
          </p:sp>
        </p:grpSp>
        <p:sp>
          <p:nvSpPr>
            <p:cNvPr id="9" name="文本框 8">
              <a:extLst>
                <a:ext uri="{FF2B5EF4-FFF2-40B4-BE49-F238E27FC236}">
                  <a16:creationId xmlns:a16="http://schemas.microsoft.com/office/drawing/2014/main" id="{C90164E2-67D0-A5E4-2708-50D79FC3F7EA}"/>
                </a:ext>
              </a:extLst>
            </p:cNvPr>
            <p:cNvSpPr txBox="1"/>
            <p:nvPr/>
          </p:nvSpPr>
          <p:spPr>
            <a:xfrm>
              <a:off x="982980" y="2349486"/>
              <a:ext cx="4655287" cy="3828514"/>
            </a:xfrm>
            <a:prstGeom prst="rect">
              <a:avLst/>
            </a:prstGeom>
            <a:noFill/>
          </p:spPr>
          <p:txBody>
            <a:bodyPr wrap="square" lIns="0" rIns="0" rtlCol="0" anchor="ctr">
              <a:normAutofit/>
            </a:bodyPr>
            <a:lstStyle/>
            <a:p>
              <a:pPr marL="285750" indent="-285750">
                <a:lnSpc>
                  <a:spcPct val="150000"/>
                </a:lnSpc>
                <a:spcAft>
                  <a:spcPts val="500"/>
                </a:spcAft>
                <a:buFont typeface="Wingdings" panose="05000000000000000000" pitchFamily="2" charset="2"/>
                <a:buChar char="l"/>
              </a:pPr>
              <a:r>
                <a:rPr lang="zh-CN" altLang="en-US" sz="1600" dirty="0"/>
                <a:t>与将要发布的新功能无关的人员可以持续工作在开发主干上，不受版本发布的影响；</a:t>
              </a:r>
              <a:endParaRPr lang="en-US" altLang="zh-CN" sz="1600" dirty="0"/>
            </a:p>
            <a:p>
              <a:pPr marL="285750" indent="-285750">
                <a:lnSpc>
                  <a:spcPct val="150000"/>
                </a:lnSpc>
                <a:spcAft>
                  <a:spcPts val="500"/>
                </a:spcAft>
                <a:buFont typeface="Wingdings" panose="05000000000000000000" pitchFamily="2" charset="2"/>
                <a:buChar char="l"/>
              </a:pPr>
              <a:r>
                <a:rPr lang="zh-CN" altLang="en-US" sz="1600" dirty="0"/>
                <a:t>新发布的版本出现缺陷后，可以直接在其自己的版本发布分支上进行修复，简单便捷。即使当前开发主干上的代码已经发生了较大的变化，该分支也不会受到影响。</a:t>
              </a:r>
            </a:p>
          </p:txBody>
        </p:sp>
        <p:grpSp>
          <p:nvGrpSpPr>
            <p:cNvPr id="10" name="组合 9">
              <a:extLst>
                <a:ext uri="{FF2B5EF4-FFF2-40B4-BE49-F238E27FC236}">
                  <a16:creationId xmlns:a16="http://schemas.microsoft.com/office/drawing/2014/main" id="{84EDDFA1-C93C-FE4B-7471-593D42EEDE68}"/>
                </a:ext>
              </a:extLst>
            </p:cNvPr>
            <p:cNvGrpSpPr/>
            <p:nvPr/>
          </p:nvGrpSpPr>
          <p:grpSpPr>
            <a:xfrm>
              <a:off x="7033547" y="1663983"/>
              <a:ext cx="3251956" cy="777211"/>
              <a:chOff x="2080078" y="1301607"/>
              <a:chExt cx="2896524" cy="694518"/>
            </a:xfrm>
          </p:grpSpPr>
          <p:grpSp>
            <p:nvGrpSpPr>
              <p:cNvPr id="12" name="组合 11">
                <a:extLst>
                  <a:ext uri="{FF2B5EF4-FFF2-40B4-BE49-F238E27FC236}">
                    <a16:creationId xmlns:a16="http://schemas.microsoft.com/office/drawing/2014/main" id="{8D0A5A36-855B-D9E0-E968-F74E594F86C4}"/>
                  </a:ext>
                </a:extLst>
              </p:cNvPr>
              <p:cNvGrpSpPr/>
              <p:nvPr/>
            </p:nvGrpSpPr>
            <p:grpSpPr>
              <a:xfrm>
                <a:off x="2080078" y="1301607"/>
                <a:ext cx="2896524" cy="694518"/>
                <a:chOff x="1162373" y="1563389"/>
                <a:chExt cx="4703732" cy="4951709"/>
              </a:xfrm>
            </p:grpSpPr>
            <p:sp>
              <p:nvSpPr>
                <p:cNvPr id="14" name="梯形 6">
                  <a:extLst>
                    <a:ext uri="{FF2B5EF4-FFF2-40B4-BE49-F238E27FC236}">
                      <a16:creationId xmlns:a16="http://schemas.microsoft.com/office/drawing/2014/main" id="{18E2C846-90E3-3230-9241-F6AEDE111B33}"/>
                    </a:ext>
                  </a:extLst>
                </p:cNvPr>
                <p:cNvSpPr/>
                <p:nvPr/>
              </p:nvSpPr>
              <p:spPr>
                <a:xfrm flipV="1">
                  <a:off x="1162373" y="1563389"/>
                  <a:ext cx="4657241" cy="4951709"/>
                </a:xfrm>
                <a:custGeom>
                  <a:avLst/>
                  <a:gdLst>
                    <a:gd name="connsiteX0" fmla="*/ 0 w 3845406"/>
                    <a:gd name="connsiteY0" fmla="*/ 1519653 h 1519653"/>
                    <a:gd name="connsiteX1" fmla="*/ 317927 w 3845406"/>
                    <a:gd name="connsiteY1" fmla="*/ 0 h 1519653"/>
                    <a:gd name="connsiteX2" fmla="*/ 3527479 w 3845406"/>
                    <a:gd name="connsiteY2" fmla="*/ 0 h 1519653"/>
                    <a:gd name="connsiteX3" fmla="*/ 3845406 w 3845406"/>
                    <a:gd name="connsiteY3" fmla="*/ 1519653 h 1519653"/>
                    <a:gd name="connsiteX4" fmla="*/ 0 w 3845406"/>
                    <a:gd name="connsiteY4" fmla="*/ 1519653 h 1519653"/>
                    <a:gd name="connsiteX0" fmla="*/ 0 w 3845406"/>
                    <a:gd name="connsiteY0" fmla="*/ 1519653 h 1519653"/>
                    <a:gd name="connsiteX1" fmla="*/ 317927 w 3845406"/>
                    <a:gd name="connsiteY1" fmla="*/ 0 h 1519653"/>
                    <a:gd name="connsiteX2" fmla="*/ 3752205 w 3845406"/>
                    <a:gd name="connsiteY2" fmla="*/ 263471 h 1519653"/>
                    <a:gd name="connsiteX3" fmla="*/ 3845406 w 3845406"/>
                    <a:gd name="connsiteY3" fmla="*/ 1519653 h 1519653"/>
                    <a:gd name="connsiteX4" fmla="*/ 0 w 3845406"/>
                    <a:gd name="connsiteY4" fmla="*/ 1519653 h 1519653"/>
                    <a:gd name="connsiteX0" fmla="*/ 0 w 3891901"/>
                    <a:gd name="connsiteY0" fmla="*/ 1783124 h 1783124"/>
                    <a:gd name="connsiteX1" fmla="*/ 364422 w 3891901"/>
                    <a:gd name="connsiteY1" fmla="*/ 0 h 1783124"/>
                    <a:gd name="connsiteX2" fmla="*/ 3798700 w 3891901"/>
                    <a:gd name="connsiteY2" fmla="*/ 263471 h 1783124"/>
                    <a:gd name="connsiteX3" fmla="*/ 3891901 w 3891901"/>
                    <a:gd name="connsiteY3" fmla="*/ 1519653 h 1783124"/>
                    <a:gd name="connsiteX4" fmla="*/ 0 w 3891901"/>
                    <a:gd name="connsiteY4" fmla="*/ 1783124 h 1783124"/>
                    <a:gd name="connsiteX0" fmla="*/ 0 w 3891901"/>
                    <a:gd name="connsiteY0" fmla="*/ 1829619 h 1829619"/>
                    <a:gd name="connsiteX1" fmla="*/ 364422 w 3891901"/>
                    <a:gd name="connsiteY1" fmla="*/ 0 h 1829619"/>
                    <a:gd name="connsiteX2" fmla="*/ 3798700 w 3891901"/>
                    <a:gd name="connsiteY2" fmla="*/ 309966 h 1829619"/>
                    <a:gd name="connsiteX3" fmla="*/ 3891901 w 3891901"/>
                    <a:gd name="connsiteY3" fmla="*/ 1566148 h 1829619"/>
                    <a:gd name="connsiteX4" fmla="*/ 0 w 3891901"/>
                    <a:gd name="connsiteY4" fmla="*/ 1829619 h 18296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1901" h="1829619">
                      <a:moveTo>
                        <a:pt x="0" y="1829619"/>
                      </a:moveTo>
                      <a:lnTo>
                        <a:pt x="364422" y="0"/>
                      </a:lnTo>
                      <a:lnTo>
                        <a:pt x="3798700" y="309966"/>
                      </a:lnTo>
                      <a:lnTo>
                        <a:pt x="3891901" y="1566148"/>
                      </a:lnTo>
                      <a:lnTo>
                        <a:pt x="0" y="1829619"/>
                      </a:lnTo>
                      <a:close/>
                    </a:path>
                  </a:pathLst>
                </a:custGeom>
                <a:noFill/>
                <a:ln w="38100">
                  <a:solidFill>
                    <a:srgbClr val="003F88">
                      <a:alpha val="1019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icrosoft YaHei"/>
                    <a:cs typeface="+mn-cs"/>
                  </a:endParaRPr>
                </a:p>
              </p:txBody>
            </p:sp>
            <p:sp>
              <p:nvSpPr>
                <p:cNvPr id="16" name="梯形 6">
                  <a:extLst>
                    <a:ext uri="{FF2B5EF4-FFF2-40B4-BE49-F238E27FC236}">
                      <a16:creationId xmlns:a16="http://schemas.microsoft.com/office/drawing/2014/main" id="{30711E51-42AF-3559-078A-BDA6C9E25DC6}"/>
                    </a:ext>
                  </a:extLst>
                </p:cNvPr>
                <p:cNvSpPr/>
                <p:nvPr/>
              </p:nvSpPr>
              <p:spPr>
                <a:xfrm flipH="1" flipV="1">
                  <a:off x="1286356" y="1893696"/>
                  <a:ext cx="4579749" cy="4460608"/>
                </a:xfrm>
                <a:custGeom>
                  <a:avLst/>
                  <a:gdLst>
                    <a:gd name="connsiteX0" fmla="*/ 0 w 3845406"/>
                    <a:gd name="connsiteY0" fmla="*/ 1519653 h 1519653"/>
                    <a:gd name="connsiteX1" fmla="*/ 317927 w 3845406"/>
                    <a:gd name="connsiteY1" fmla="*/ 0 h 1519653"/>
                    <a:gd name="connsiteX2" fmla="*/ 3527479 w 3845406"/>
                    <a:gd name="connsiteY2" fmla="*/ 0 h 1519653"/>
                    <a:gd name="connsiteX3" fmla="*/ 3845406 w 3845406"/>
                    <a:gd name="connsiteY3" fmla="*/ 1519653 h 1519653"/>
                    <a:gd name="connsiteX4" fmla="*/ 0 w 3845406"/>
                    <a:gd name="connsiteY4" fmla="*/ 1519653 h 1519653"/>
                    <a:gd name="connsiteX0" fmla="*/ 0 w 3845406"/>
                    <a:gd name="connsiteY0" fmla="*/ 1519653 h 1519653"/>
                    <a:gd name="connsiteX1" fmla="*/ 317927 w 3845406"/>
                    <a:gd name="connsiteY1" fmla="*/ 0 h 1519653"/>
                    <a:gd name="connsiteX2" fmla="*/ 3752205 w 3845406"/>
                    <a:gd name="connsiteY2" fmla="*/ 263471 h 1519653"/>
                    <a:gd name="connsiteX3" fmla="*/ 3845406 w 3845406"/>
                    <a:gd name="connsiteY3" fmla="*/ 1519653 h 1519653"/>
                    <a:gd name="connsiteX4" fmla="*/ 0 w 3845406"/>
                    <a:gd name="connsiteY4" fmla="*/ 1519653 h 1519653"/>
                    <a:gd name="connsiteX0" fmla="*/ 0 w 3891901"/>
                    <a:gd name="connsiteY0" fmla="*/ 1783124 h 1783124"/>
                    <a:gd name="connsiteX1" fmla="*/ 364422 w 3891901"/>
                    <a:gd name="connsiteY1" fmla="*/ 0 h 1783124"/>
                    <a:gd name="connsiteX2" fmla="*/ 3798700 w 3891901"/>
                    <a:gd name="connsiteY2" fmla="*/ 263471 h 1783124"/>
                    <a:gd name="connsiteX3" fmla="*/ 3891901 w 3891901"/>
                    <a:gd name="connsiteY3" fmla="*/ 1519653 h 1783124"/>
                    <a:gd name="connsiteX4" fmla="*/ 0 w 3891901"/>
                    <a:gd name="connsiteY4" fmla="*/ 1783124 h 1783124"/>
                    <a:gd name="connsiteX0" fmla="*/ 0 w 3891901"/>
                    <a:gd name="connsiteY0" fmla="*/ 1829619 h 1829619"/>
                    <a:gd name="connsiteX1" fmla="*/ 364422 w 3891901"/>
                    <a:gd name="connsiteY1" fmla="*/ 0 h 1829619"/>
                    <a:gd name="connsiteX2" fmla="*/ 3798700 w 3891901"/>
                    <a:gd name="connsiteY2" fmla="*/ 309966 h 1829619"/>
                    <a:gd name="connsiteX3" fmla="*/ 3891901 w 3891901"/>
                    <a:gd name="connsiteY3" fmla="*/ 1566148 h 1829619"/>
                    <a:gd name="connsiteX4" fmla="*/ 0 w 3891901"/>
                    <a:gd name="connsiteY4" fmla="*/ 1829619 h 1829619"/>
                    <a:gd name="connsiteX0" fmla="*/ 0 w 3827144"/>
                    <a:gd name="connsiteY0" fmla="*/ 1657824 h 1657824"/>
                    <a:gd name="connsiteX1" fmla="*/ 299665 w 3827144"/>
                    <a:gd name="connsiteY1" fmla="*/ 0 h 1657824"/>
                    <a:gd name="connsiteX2" fmla="*/ 3733943 w 3827144"/>
                    <a:gd name="connsiteY2" fmla="*/ 309966 h 1657824"/>
                    <a:gd name="connsiteX3" fmla="*/ 3827144 w 3827144"/>
                    <a:gd name="connsiteY3" fmla="*/ 1566148 h 1657824"/>
                    <a:gd name="connsiteX4" fmla="*/ 0 w 3827144"/>
                    <a:gd name="connsiteY4" fmla="*/ 1657824 h 1657824"/>
                    <a:gd name="connsiteX0" fmla="*/ 0 w 3827144"/>
                    <a:gd name="connsiteY0" fmla="*/ 1423037 h 1423037"/>
                    <a:gd name="connsiteX1" fmla="*/ 196054 w 3827144"/>
                    <a:gd name="connsiteY1" fmla="*/ 0 h 1423037"/>
                    <a:gd name="connsiteX2" fmla="*/ 3733943 w 3827144"/>
                    <a:gd name="connsiteY2" fmla="*/ 75179 h 1423037"/>
                    <a:gd name="connsiteX3" fmla="*/ 3827144 w 3827144"/>
                    <a:gd name="connsiteY3" fmla="*/ 1331361 h 1423037"/>
                    <a:gd name="connsiteX4" fmla="*/ 0 w 3827144"/>
                    <a:gd name="connsiteY4" fmla="*/ 1423037 h 14230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27144" h="1423037">
                      <a:moveTo>
                        <a:pt x="0" y="1423037"/>
                      </a:moveTo>
                      <a:lnTo>
                        <a:pt x="196054" y="0"/>
                      </a:lnTo>
                      <a:lnTo>
                        <a:pt x="3733943" y="75179"/>
                      </a:lnTo>
                      <a:lnTo>
                        <a:pt x="3827144" y="1331361"/>
                      </a:lnTo>
                      <a:lnTo>
                        <a:pt x="0" y="1423037"/>
                      </a:lnTo>
                      <a:close/>
                    </a:path>
                  </a:pathLst>
                </a:custGeom>
                <a:solidFill>
                  <a:srgbClr val="003F88">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icrosoft YaHei"/>
                    <a:cs typeface="+mn-cs"/>
                  </a:endParaRPr>
                </a:p>
              </p:txBody>
            </p:sp>
          </p:grpSp>
          <p:sp>
            <p:nvSpPr>
              <p:cNvPr id="13" name="文本框 12">
                <a:extLst>
                  <a:ext uri="{FF2B5EF4-FFF2-40B4-BE49-F238E27FC236}">
                    <a16:creationId xmlns:a16="http://schemas.microsoft.com/office/drawing/2014/main" id="{714DC3FF-3E55-06B7-665C-6B3D1505453D}"/>
                  </a:ext>
                </a:extLst>
              </p:cNvPr>
              <p:cNvSpPr txBox="1"/>
              <p:nvPr/>
            </p:nvSpPr>
            <p:spPr>
              <a:xfrm>
                <a:off x="2156740" y="1450799"/>
                <a:ext cx="2743200" cy="502255"/>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100"/>
                  </a:spcAft>
                  <a:buClrTx/>
                  <a:buSzTx/>
                  <a:buFontTx/>
                  <a:buNone/>
                  <a:tabLst/>
                  <a:defRPr/>
                </a:pPr>
                <a:r>
                  <a:rPr kumimoji="0" lang="zh-CN" altLang="en-US" sz="2400" b="1" i="0" u="none" strike="noStrike" kern="1200" cap="none" spc="0" normalizeH="0" baseline="0" noProof="0" dirty="0">
                    <a:ln>
                      <a:noFill/>
                    </a:ln>
                    <a:solidFill>
                      <a:srgbClr val="3F3F3F">
                        <a:lumMod val="50000"/>
                      </a:srgbClr>
                    </a:solidFill>
                    <a:effectLst/>
                    <a:uLnTx/>
                    <a:uFillTx/>
                    <a:latin typeface="Arial"/>
                    <a:ea typeface="Microsoft YaHei"/>
                    <a:cs typeface="+mn-cs"/>
                  </a:rPr>
                  <a:t>缺点</a:t>
                </a:r>
              </a:p>
            </p:txBody>
          </p:sp>
        </p:grpSp>
        <p:sp>
          <p:nvSpPr>
            <p:cNvPr id="11" name="文本框 10">
              <a:extLst>
                <a:ext uri="{FF2B5EF4-FFF2-40B4-BE49-F238E27FC236}">
                  <a16:creationId xmlns:a16="http://schemas.microsoft.com/office/drawing/2014/main" id="{F8999BE5-8EED-2698-0ED5-C33E09AFD64E}"/>
                </a:ext>
              </a:extLst>
            </p:cNvPr>
            <p:cNvSpPr txBox="1"/>
            <p:nvPr/>
          </p:nvSpPr>
          <p:spPr>
            <a:xfrm>
              <a:off x="6556737" y="2565148"/>
              <a:ext cx="4652283" cy="3431990"/>
            </a:xfrm>
            <a:prstGeom prst="rect">
              <a:avLst/>
            </a:prstGeom>
            <a:noFill/>
          </p:spPr>
          <p:txBody>
            <a:bodyPr wrap="square" lIns="0" rIns="0" rtlCol="0" anchor="ctr">
              <a:normAutofit lnSpcReduction="10000"/>
            </a:bodyPr>
            <a:lstStyle/>
            <a:p>
              <a:pPr marL="285750" indent="-285750" algn="l">
                <a:lnSpc>
                  <a:spcPct val="200000"/>
                </a:lnSpc>
                <a:buFont typeface="Wingdings" panose="05000000000000000000" pitchFamily="2" charset="2"/>
                <a:buChar char="l"/>
              </a:pPr>
              <a:r>
                <a:rPr lang="zh-CN" altLang="en-US" dirty="0"/>
                <a:t>主干上的代码通常只能针对下一个新发布版本的功能开发；</a:t>
              </a:r>
              <a:endParaRPr lang="en-US" altLang="zh-CN" dirty="0"/>
            </a:p>
            <a:p>
              <a:pPr marL="285750" indent="-285750" algn="l">
                <a:lnSpc>
                  <a:spcPct val="200000"/>
                </a:lnSpc>
                <a:buFont typeface="Wingdings" panose="05000000000000000000" pitchFamily="2" charset="2"/>
                <a:buChar char="l"/>
              </a:pPr>
              <a:r>
                <a:rPr lang="zh-CN" altLang="en-US" dirty="0"/>
                <a:t>对发布分支的数量不加约束，并且分支周期较长，很容易出现“分支地狱”倾向。</a:t>
              </a:r>
            </a:p>
          </p:txBody>
        </p:sp>
      </p:grpSp>
    </p:spTree>
    <p:extLst>
      <p:ext uri="{BB962C8B-B14F-4D97-AF65-F5344CB8AC3E}">
        <p14:creationId xmlns:p14="http://schemas.microsoft.com/office/powerpoint/2010/main" val="22786694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68A3EA-FFF7-F593-9FA7-BB39D3E3222F}"/>
              </a:ext>
            </a:extLst>
          </p:cNvPr>
          <p:cNvSpPr>
            <a:spLocks noGrp="1"/>
          </p:cNvSpPr>
          <p:nvPr>
            <p:ph type="title"/>
          </p:nvPr>
        </p:nvSpPr>
        <p:spPr/>
        <p:txBody>
          <a:bodyPr/>
          <a:lstStyle/>
          <a:p>
            <a:r>
              <a:rPr lang="en-US" altLang="zh-CN" dirty="0"/>
              <a:t>02 </a:t>
            </a:r>
            <a:r>
              <a:rPr lang="zh-CN" altLang="en-US" dirty="0"/>
              <a:t>持续交付</a:t>
            </a:r>
            <a:endParaRPr kumimoji="1" lang="zh-CN" altLang="en-US" dirty="0"/>
          </a:p>
        </p:txBody>
      </p:sp>
      <p:sp>
        <p:nvSpPr>
          <p:cNvPr id="3" name="灯片编号占位符 2">
            <a:extLst>
              <a:ext uri="{FF2B5EF4-FFF2-40B4-BE49-F238E27FC236}">
                <a16:creationId xmlns:a16="http://schemas.microsoft.com/office/drawing/2014/main" id="{940AA628-8120-F109-B869-E8671F3D72B8}"/>
              </a:ext>
            </a:extLst>
          </p:cNvPr>
          <p:cNvSpPr>
            <a:spLocks noGrp="1"/>
          </p:cNvSpPr>
          <p:nvPr>
            <p:ph type="sldNum" sz="quarter" idx="12"/>
          </p:nvPr>
        </p:nvSpPr>
        <p:spPr/>
        <p:txBody>
          <a:bodyPr/>
          <a:lstStyle/>
          <a:p>
            <a:fld id="{1AAC388E-FA9E-4A2C-95EA-1F6B3A07935A}" type="slidenum">
              <a:rPr lang="zh-CN" altLang="en-US" smtClean="0"/>
              <a:pPr/>
              <a:t>76</a:t>
            </a:fld>
            <a:endParaRPr lang="zh-CN" altLang="en-US"/>
          </a:p>
        </p:txBody>
      </p:sp>
      <p:sp>
        <p:nvSpPr>
          <p:cNvPr id="4" name="文本框 3">
            <a:extLst>
              <a:ext uri="{FF2B5EF4-FFF2-40B4-BE49-F238E27FC236}">
                <a16:creationId xmlns:a16="http://schemas.microsoft.com/office/drawing/2014/main" id="{BA9D347B-A333-F47E-DAC1-B3F417A6AD0E}"/>
              </a:ext>
            </a:extLst>
          </p:cNvPr>
          <p:cNvSpPr txBox="1"/>
          <p:nvPr/>
        </p:nvSpPr>
        <p:spPr>
          <a:xfrm>
            <a:off x="718218" y="838720"/>
            <a:ext cx="3594702"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zh-CN" altLang="en-US" dirty="0"/>
              <a:t>常见开发和发布模式</a:t>
            </a:r>
            <a:endParaRPr lang="en-US" altLang="zh-CN" dirty="0"/>
          </a:p>
        </p:txBody>
      </p:sp>
      <p:sp>
        <p:nvSpPr>
          <p:cNvPr id="15" name="文本框 14">
            <a:extLst>
              <a:ext uri="{FF2B5EF4-FFF2-40B4-BE49-F238E27FC236}">
                <a16:creationId xmlns:a16="http://schemas.microsoft.com/office/drawing/2014/main" id="{DEADEAFD-1329-6FA3-7B53-67A1A106F319}"/>
              </a:ext>
            </a:extLst>
          </p:cNvPr>
          <p:cNvSpPr txBox="1"/>
          <p:nvPr/>
        </p:nvSpPr>
        <p:spPr>
          <a:xfrm>
            <a:off x="1351165" y="1475429"/>
            <a:ext cx="10433511" cy="523220"/>
          </a:xfrm>
          <a:prstGeom prst="rect">
            <a:avLst/>
          </a:prstGeom>
          <a:noFill/>
        </p:spPr>
        <p:txBody>
          <a:bodyPr wrap="square">
            <a:spAutoFit/>
          </a:bodyPr>
          <a:lstStyle/>
          <a:p>
            <a:pPr marL="457200" indent="-457200">
              <a:spcAft>
                <a:spcPts val="600"/>
              </a:spcAft>
              <a:buFont typeface="Arial" panose="020B0604020202020204" pitchFamily="34" charset="0"/>
              <a:buChar char="•"/>
            </a:pPr>
            <a:r>
              <a:rPr lang="zh-CN" altLang="en-US" sz="2800" dirty="0">
                <a:effectLst/>
                <a:latin typeface="Helvetica" pitchFamily="2" charset="0"/>
              </a:rPr>
              <a:t>主干开发，</a:t>
            </a:r>
            <a:r>
              <a:rPr lang="zh-CN" altLang="en-US" sz="2800" dirty="0">
                <a:latin typeface="Helvetica" pitchFamily="2" charset="0"/>
              </a:rPr>
              <a:t>分支</a:t>
            </a:r>
            <a:r>
              <a:rPr lang="zh-CN" altLang="en-US" sz="2800" dirty="0">
                <a:effectLst/>
                <a:latin typeface="Helvetica" pitchFamily="2" charset="0"/>
              </a:rPr>
              <a:t>发布</a:t>
            </a:r>
            <a:endParaRPr lang="en-US" altLang="zh-CN" sz="2800" dirty="0">
              <a:effectLst/>
              <a:latin typeface="Helvetica" pitchFamily="2" charset="0"/>
            </a:endParaRPr>
          </a:p>
        </p:txBody>
      </p:sp>
      <p:pic>
        <p:nvPicPr>
          <p:cNvPr id="22" name="图片 21">
            <a:extLst>
              <a:ext uri="{FF2B5EF4-FFF2-40B4-BE49-F238E27FC236}">
                <a16:creationId xmlns:a16="http://schemas.microsoft.com/office/drawing/2014/main" id="{A4820BC9-D054-9A07-6B87-4C76CB74EBBD}"/>
              </a:ext>
            </a:extLst>
          </p:cNvPr>
          <p:cNvPicPr>
            <a:picLocks noChangeAspect="1"/>
          </p:cNvPicPr>
          <p:nvPr/>
        </p:nvPicPr>
        <p:blipFill>
          <a:blip r:embed="rId3"/>
          <a:stretch>
            <a:fillRect/>
          </a:stretch>
        </p:blipFill>
        <p:spPr>
          <a:xfrm>
            <a:off x="597372" y="2358748"/>
            <a:ext cx="6051263" cy="3563624"/>
          </a:xfrm>
          <a:prstGeom prst="rect">
            <a:avLst/>
          </a:prstGeom>
        </p:spPr>
      </p:pic>
      <p:sp>
        <p:nvSpPr>
          <p:cNvPr id="23" name="文本框 22">
            <a:extLst>
              <a:ext uri="{FF2B5EF4-FFF2-40B4-BE49-F238E27FC236}">
                <a16:creationId xmlns:a16="http://schemas.microsoft.com/office/drawing/2014/main" id="{BAD8B068-715D-8188-81FC-1DFA2EFC19A6}"/>
              </a:ext>
            </a:extLst>
          </p:cNvPr>
          <p:cNvSpPr txBox="1"/>
          <p:nvPr/>
        </p:nvSpPr>
        <p:spPr>
          <a:xfrm>
            <a:off x="1016643" y="5894317"/>
            <a:ext cx="5212721" cy="570980"/>
          </a:xfrm>
          <a:prstGeom prst="rect">
            <a:avLst/>
          </a:prstGeom>
          <a:noFill/>
        </p:spPr>
        <p:txBody>
          <a:bodyPr wrap="none" lIns="0" tIns="0" rIns="0" bIns="0" rtlCol="0" anchor="ctr">
            <a:normAutofit/>
          </a:bodyPr>
          <a:lstStyle/>
          <a:p>
            <a:pPr algn="l">
              <a:lnSpc>
                <a:spcPct val="125000"/>
              </a:lnSpc>
              <a:spcAft>
                <a:spcPts val="500"/>
              </a:spcAft>
            </a:pPr>
            <a:r>
              <a:rPr lang="zh-CN" altLang="en-US" dirty="0"/>
              <a:t>分支地域：某硬件设备的软件产品研发的分支模式</a:t>
            </a:r>
          </a:p>
        </p:txBody>
      </p:sp>
      <p:pic>
        <p:nvPicPr>
          <p:cNvPr id="25" name="图片 24">
            <a:extLst>
              <a:ext uri="{FF2B5EF4-FFF2-40B4-BE49-F238E27FC236}">
                <a16:creationId xmlns:a16="http://schemas.microsoft.com/office/drawing/2014/main" id="{5EE00C4D-C210-9B19-91D4-28360EC9E0F9}"/>
              </a:ext>
            </a:extLst>
          </p:cNvPr>
          <p:cNvPicPr>
            <a:picLocks noChangeAspect="1"/>
          </p:cNvPicPr>
          <p:nvPr/>
        </p:nvPicPr>
        <p:blipFill>
          <a:blip r:embed="rId4"/>
          <a:stretch>
            <a:fillRect/>
          </a:stretch>
        </p:blipFill>
        <p:spPr>
          <a:xfrm>
            <a:off x="7107720" y="3223962"/>
            <a:ext cx="4294550" cy="2670355"/>
          </a:xfrm>
          <a:prstGeom prst="rect">
            <a:avLst/>
          </a:prstGeom>
        </p:spPr>
      </p:pic>
      <p:sp>
        <p:nvSpPr>
          <p:cNvPr id="26" name="文本框 25">
            <a:extLst>
              <a:ext uri="{FF2B5EF4-FFF2-40B4-BE49-F238E27FC236}">
                <a16:creationId xmlns:a16="http://schemas.microsoft.com/office/drawing/2014/main" id="{430AA309-FA9F-D3A1-D80A-C4A6A73B7875}"/>
              </a:ext>
            </a:extLst>
          </p:cNvPr>
          <p:cNvSpPr txBox="1"/>
          <p:nvPr/>
        </p:nvSpPr>
        <p:spPr>
          <a:xfrm>
            <a:off x="6648635" y="5894317"/>
            <a:ext cx="5212721" cy="570980"/>
          </a:xfrm>
          <a:prstGeom prst="rect">
            <a:avLst/>
          </a:prstGeom>
          <a:noFill/>
        </p:spPr>
        <p:txBody>
          <a:bodyPr wrap="none" lIns="0" tIns="0" rIns="0" bIns="0" rtlCol="0" anchor="ctr">
            <a:normAutofit/>
          </a:bodyPr>
          <a:lstStyle/>
          <a:p>
            <a:pPr algn="ctr">
              <a:lnSpc>
                <a:spcPct val="125000"/>
              </a:lnSpc>
              <a:spcAft>
                <a:spcPts val="500"/>
              </a:spcAft>
            </a:pPr>
            <a:r>
              <a:rPr lang="en-US" altLang="zh-CN" dirty="0"/>
              <a:t>HP</a:t>
            </a:r>
            <a:r>
              <a:rPr lang="zh-CN" altLang="en-US" dirty="0"/>
              <a:t>激光打印机固件团队</a:t>
            </a:r>
            <a:r>
              <a:rPr lang="en-US" altLang="zh-CN" dirty="0"/>
              <a:t>2008</a:t>
            </a:r>
            <a:r>
              <a:rPr lang="zh-CN" altLang="en-US" dirty="0"/>
              <a:t>年的研发资源分布</a:t>
            </a:r>
          </a:p>
        </p:txBody>
      </p:sp>
    </p:spTree>
    <p:extLst>
      <p:ext uri="{BB962C8B-B14F-4D97-AF65-F5344CB8AC3E}">
        <p14:creationId xmlns:p14="http://schemas.microsoft.com/office/powerpoint/2010/main" val="27771661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68A3EA-FFF7-F593-9FA7-BB39D3E3222F}"/>
              </a:ext>
            </a:extLst>
          </p:cNvPr>
          <p:cNvSpPr>
            <a:spLocks noGrp="1"/>
          </p:cNvSpPr>
          <p:nvPr>
            <p:ph type="title"/>
          </p:nvPr>
        </p:nvSpPr>
        <p:spPr/>
        <p:txBody>
          <a:bodyPr/>
          <a:lstStyle/>
          <a:p>
            <a:r>
              <a:rPr lang="en-US" altLang="zh-CN" dirty="0"/>
              <a:t>02 </a:t>
            </a:r>
            <a:r>
              <a:rPr lang="zh-CN" altLang="en-US" dirty="0"/>
              <a:t>持续交付</a:t>
            </a:r>
            <a:endParaRPr kumimoji="1" lang="zh-CN" altLang="en-US" dirty="0"/>
          </a:p>
        </p:txBody>
      </p:sp>
      <p:sp>
        <p:nvSpPr>
          <p:cNvPr id="3" name="灯片编号占位符 2">
            <a:extLst>
              <a:ext uri="{FF2B5EF4-FFF2-40B4-BE49-F238E27FC236}">
                <a16:creationId xmlns:a16="http://schemas.microsoft.com/office/drawing/2014/main" id="{940AA628-8120-F109-B869-E8671F3D72B8}"/>
              </a:ext>
            </a:extLst>
          </p:cNvPr>
          <p:cNvSpPr>
            <a:spLocks noGrp="1"/>
          </p:cNvSpPr>
          <p:nvPr>
            <p:ph type="sldNum" sz="quarter" idx="12"/>
          </p:nvPr>
        </p:nvSpPr>
        <p:spPr/>
        <p:txBody>
          <a:bodyPr/>
          <a:lstStyle/>
          <a:p>
            <a:fld id="{1AAC388E-FA9E-4A2C-95EA-1F6B3A07935A}" type="slidenum">
              <a:rPr lang="zh-CN" altLang="en-US" smtClean="0"/>
              <a:pPr/>
              <a:t>77</a:t>
            </a:fld>
            <a:endParaRPr lang="zh-CN" altLang="en-US"/>
          </a:p>
        </p:txBody>
      </p:sp>
      <p:sp>
        <p:nvSpPr>
          <p:cNvPr id="4" name="文本框 3">
            <a:extLst>
              <a:ext uri="{FF2B5EF4-FFF2-40B4-BE49-F238E27FC236}">
                <a16:creationId xmlns:a16="http://schemas.microsoft.com/office/drawing/2014/main" id="{BA9D347B-A333-F47E-DAC1-B3F417A6AD0E}"/>
              </a:ext>
            </a:extLst>
          </p:cNvPr>
          <p:cNvSpPr txBox="1"/>
          <p:nvPr/>
        </p:nvSpPr>
        <p:spPr>
          <a:xfrm>
            <a:off x="718218" y="838720"/>
            <a:ext cx="3594702"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zh-CN" altLang="en-US" dirty="0"/>
              <a:t>常见开发和发布模式</a:t>
            </a:r>
            <a:endParaRPr lang="en-US" altLang="zh-CN" dirty="0"/>
          </a:p>
        </p:txBody>
      </p:sp>
      <p:sp>
        <p:nvSpPr>
          <p:cNvPr id="15" name="文本框 14">
            <a:extLst>
              <a:ext uri="{FF2B5EF4-FFF2-40B4-BE49-F238E27FC236}">
                <a16:creationId xmlns:a16="http://schemas.microsoft.com/office/drawing/2014/main" id="{DEADEAFD-1329-6FA3-7B53-67A1A106F319}"/>
              </a:ext>
            </a:extLst>
          </p:cNvPr>
          <p:cNvSpPr txBox="1"/>
          <p:nvPr/>
        </p:nvSpPr>
        <p:spPr>
          <a:xfrm>
            <a:off x="1351165" y="1475429"/>
            <a:ext cx="10433511" cy="523220"/>
          </a:xfrm>
          <a:prstGeom prst="rect">
            <a:avLst/>
          </a:prstGeom>
          <a:noFill/>
        </p:spPr>
        <p:txBody>
          <a:bodyPr wrap="square">
            <a:spAutoFit/>
          </a:bodyPr>
          <a:lstStyle/>
          <a:p>
            <a:pPr marL="457200" indent="-457200">
              <a:spcAft>
                <a:spcPts val="600"/>
              </a:spcAft>
              <a:buFont typeface="Arial" panose="020B0604020202020204" pitchFamily="34" charset="0"/>
              <a:buChar char="•"/>
            </a:pPr>
            <a:r>
              <a:rPr lang="zh-CN" altLang="en-US" sz="2800" dirty="0">
                <a:latin typeface="Helvetica" pitchFamily="2" charset="0"/>
              </a:rPr>
              <a:t>分支</a:t>
            </a:r>
            <a:r>
              <a:rPr lang="zh-CN" altLang="en-US" sz="2800" dirty="0">
                <a:effectLst/>
                <a:latin typeface="Helvetica" pitchFamily="2" charset="0"/>
              </a:rPr>
              <a:t>开发，主干发布</a:t>
            </a:r>
            <a:endParaRPr lang="en-US" altLang="zh-CN" sz="2800" dirty="0">
              <a:effectLst/>
              <a:latin typeface="Helvetica" pitchFamily="2" charset="0"/>
            </a:endParaRPr>
          </a:p>
        </p:txBody>
      </p:sp>
      <p:pic>
        <p:nvPicPr>
          <p:cNvPr id="16386" name="Picture 2">
            <a:extLst>
              <a:ext uri="{FF2B5EF4-FFF2-40B4-BE49-F238E27FC236}">
                <a16:creationId xmlns:a16="http://schemas.microsoft.com/office/drawing/2014/main" id="{12FC296C-5F1B-85C2-32CB-2010130645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8218" y="2529085"/>
            <a:ext cx="11430000" cy="3590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43591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68A3EA-FFF7-F593-9FA7-BB39D3E3222F}"/>
              </a:ext>
            </a:extLst>
          </p:cNvPr>
          <p:cNvSpPr>
            <a:spLocks noGrp="1"/>
          </p:cNvSpPr>
          <p:nvPr>
            <p:ph type="title"/>
          </p:nvPr>
        </p:nvSpPr>
        <p:spPr/>
        <p:txBody>
          <a:bodyPr/>
          <a:lstStyle/>
          <a:p>
            <a:r>
              <a:rPr lang="en-US" altLang="zh-CN" dirty="0"/>
              <a:t>02 </a:t>
            </a:r>
            <a:r>
              <a:rPr lang="zh-CN" altLang="en-US" dirty="0"/>
              <a:t>持续交付</a:t>
            </a:r>
            <a:endParaRPr kumimoji="1" lang="zh-CN" altLang="en-US" dirty="0"/>
          </a:p>
        </p:txBody>
      </p:sp>
      <p:sp>
        <p:nvSpPr>
          <p:cNvPr id="3" name="灯片编号占位符 2">
            <a:extLst>
              <a:ext uri="{FF2B5EF4-FFF2-40B4-BE49-F238E27FC236}">
                <a16:creationId xmlns:a16="http://schemas.microsoft.com/office/drawing/2014/main" id="{940AA628-8120-F109-B869-E8671F3D72B8}"/>
              </a:ext>
            </a:extLst>
          </p:cNvPr>
          <p:cNvSpPr>
            <a:spLocks noGrp="1"/>
          </p:cNvSpPr>
          <p:nvPr>
            <p:ph type="sldNum" sz="quarter" idx="12"/>
          </p:nvPr>
        </p:nvSpPr>
        <p:spPr/>
        <p:txBody>
          <a:bodyPr/>
          <a:lstStyle/>
          <a:p>
            <a:fld id="{1AAC388E-FA9E-4A2C-95EA-1F6B3A07935A}" type="slidenum">
              <a:rPr lang="zh-CN" altLang="en-US" smtClean="0"/>
              <a:pPr/>
              <a:t>78</a:t>
            </a:fld>
            <a:endParaRPr lang="zh-CN" altLang="en-US"/>
          </a:p>
        </p:txBody>
      </p:sp>
      <p:sp>
        <p:nvSpPr>
          <p:cNvPr id="4" name="文本框 3">
            <a:extLst>
              <a:ext uri="{FF2B5EF4-FFF2-40B4-BE49-F238E27FC236}">
                <a16:creationId xmlns:a16="http://schemas.microsoft.com/office/drawing/2014/main" id="{BA9D347B-A333-F47E-DAC1-B3F417A6AD0E}"/>
              </a:ext>
            </a:extLst>
          </p:cNvPr>
          <p:cNvSpPr txBox="1"/>
          <p:nvPr/>
        </p:nvSpPr>
        <p:spPr>
          <a:xfrm>
            <a:off x="718218" y="838720"/>
            <a:ext cx="3594702"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zh-CN" altLang="en-US" dirty="0"/>
              <a:t>常见开发和发布模式</a:t>
            </a:r>
            <a:endParaRPr lang="en-US" altLang="zh-CN" dirty="0"/>
          </a:p>
        </p:txBody>
      </p:sp>
      <p:sp>
        <p:nvSpPr>
          <p:cNvPr id="15" name="文本框 14">
            <a:extLst>
              <a:ext uri="{FF2B5EF4-FFF2-40B4-BE49-F238E27FC236}">
                <a16:creationId xmlns:a16="http://schemas.microsoft.com/office/drawing/2014/main" id="{DEADEAFD-1329-6FA3-7B53-67A1A106F319}"/>
              </a:ext>
            </a:extLst>
          </p:cNvPr>
          <p:cNvSpPr txBox="1"/>
          <p:nvPr/>
        </p:nvSpPr>
        <p:spPr>
          <a:xfrm>
            <a:off x="1351165" y="1475429"/>
            <a:ext cx="10433511" cy="523220"/>
          </a:xfrm>
          <a:prstGeom prst="rect">
            <a:avLst/>
          </a:prstGeom>
          <a:noFill/>
        </p:spPr>
        <p:txBody>
          <a:bodyPr wrap="square">
            <a:spAutoFit/>
          </a:bodyPr>
          <a:lstStyle/>
          <a:p>
            <a:pPr marL="457200" indent="-457200">
              <a:spcAft>
                <a:spcPts val="600"/>
              </a:spcAft>
              <a:buFont typeface="Arial" panose="020B0604020202020204" pitchFamily="34" charset="0"/>
              <a:buChar char="•"/>
            </a:pPr>
            <a:r>
              <a:rPr lang="zh-CN" altLang="en-US" sz="2800" dirty="0">
                <a:latin typeface="Helvetica" pitchFamily="2" charset="0"/>
              </a:rPr>
              <a:t>分支</a:t>
            </a:r>
            <a:r>
              <a:rPr lang="zh-CN" altLang="en-US" sz="2800" dirty="0">
                <a:effectLst/>
                <a:latin typeface="Helvetica" pitchFamily="2" charset="0"/>
              </a:rPr>
              <a:t>开发，主干发布</a:t>
            </a:r>
            <a:endParaRPr lang="en-US" altLang="zh-CN" sz="2800" dirty="0">
              <a:effectLst/>
              <a:latin typeface="Helvetica" pitchFamily="2" charset="0"/>
            </a:endParaRPr>
          </a:p>
        </p:txBody>
      </p:sp>
      <p:pic>
        <p:nvPicPr>
          <p:cNvPr id="16386" name="Picture 2">
            <a:extLst>
              <a:ext uri="{FF2B5EF4-FFF2-40B4-BE49-F238E27FC236}">
                <a16:creationId xmlns:a16="http://schemas.microsoft.com/office/drawing/2014/main" id="{12FC296C-5F1B-85C2-32CB-2010130645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6864" y="945212"/>
            <a:ext cx="5556918" cy="1745798"/>
          </a:xfrm>
          <a:prstGeom prst="rect">
            <a:avLst/>
          </a:prstGeom>
          <a:noFill/>
          <a:extLst>
            <a:ext uri="{909E8E84-426E-40DD-AFC4-6F175D3DCCD1}">
              <a14:hiddenFill xmlns:a14="http://schemas.microsoft.com/office/drawing/2010/main">
                <a:solidFill>
                  <a:srgbClr val="FFFFFF"/>
                </a:solidFill>
              </a14:hiddenFill>
            </a:ext>
          </a:extLst>
        </p:spPr>
      </p:pic>
      <p:pic>
        <p:nvPicPr>
          <p:cNvPr id="6" name="图片 5">
            <a:extLst>
              <a:ext uri="{FF2B5EF4-FFF2-40B4-BE49-F238E27FC236}">
                <a16:creationId xmlns:a16="http://schemas.microsoft.com/office/drawing/2014/main" id="{C77176C3-9086-41F1-3F21-D0C632172774}"/>
              </a:ext>
            </a:extLst>
          </p:cNvPr>
          <p:cNvPicPr>
            <a:picLocks noChangeAspect="1"/>
          </p:cNvPicPr>
          <p:nvPr/>
        </p:nvPicPr>
        <p:blipFill>
          <a:blip r:embed="rId4"/>
          <a:stretch>
            <a:fillRect/>
          </a:stretch>
        </p:blipFill>
        <p:spPr>
          <a:xfrm>
            <a:off x="144714" y="3601264"/>
            <a:ext cx="5772150" cy="1882938"/>
          </a:xfrm>
          <a:prstGeom prst="rect">
            <a:avLst/>
          </a:prstGeom>
        </p:spPr>
      </p:pic>
      <p:sp>
        <p:nvSpPr>
          <p:cNvPr id="9" name="文本框 8">
            <a:extLst>
              <a:ext uri="{FF2B5EF4-FFF2-40B4-BE49-F238E27FC236}">
                <a16:creationId xmlns:a16="http://schemas.microsoft.com/office/drawing/2014/main" id="{CFA7A815-A26F-1957-EE9E-B7F3F7AF2D25}"/>
              </a:ext>
            </a:extLst>
          </p:cNvPr>
          <p:cNvSpPr txBox="1"/>
          <p:nvPr/>
        </p:nvSpPr>
        <p:spPr>
          <a:xfrm>
            <a:off x="1003758" y="5484202"/>
            <a:ext cx="3023622" cy="570980"/>
          </a:xfrm>
          <a:prstGeom prst="rect">
            <a:avLst/>
          </a:prstGeom>
          <a:noFill/>
        </p:spPr>
        <p:txBody>
          <a:bodyPr wrap="none" lIns="0" tIns="0" rIns="0" bIns="0" rtlCol="0" anchor="ctr">
            <a:normAutofit/>
          </a:bodyPr>
          <a:lstStyle/>
          <a:p>
            <a:pPr algn="ctr">
              <a:lnSpc>
                <a:spcPct val="125000"/>
              </a:lnSpc>
              <a:spcAft>
                <a:spcPts val="500"/>
              </a:spcAft>
            </a:pPr>
            <a:r>
              <a:rPr lang="zh-CN" altLang="en-US" dirty="0"/>
              <a:t>特性分支模式</a:t>
            </a:r>
          </a:p>
        </p:txBody>
      </p:sp>
      <p:sp>
        <p:nvSpPr>
          <p:cNvPr id="11" name="箭头: 下 10">
            <a:extLst>
              <a:ext uri="{FF2B5EF4-FFF2-40B4-BE49-F238E27FC236}">
                <a16:creationId xmlns:a16="http://schemas.microsoft.com/office/drawing/2014/main" id="{D03CF38F-EC11-0140-E17E-BEFAD130F210}"/>
              </a:ext>
            </a:extLst>
          </p:cNvPr>
          <p:cNvSpPr/>
          <p:nvPr/>
        </p:nvSpPr>
        <p:spPr>
          <a:xfrm rot="2911842">
            <a:off x="5880659" y="2799580"/>
            <a:ext cx="430681" cy="78583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819502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68A3EA-FFF7-F593-9FA7-BB39D3E3222F}"/>
              </a:ext>
            </a:extLst>
          </p:cNvPr>
          <p:cNvSpPr>
            <a:spLocks noGrp="1"/>
          </p:cNvSpPr>
          <p:nvPr>
            <p:ph type="title"/>
          </p:nvPr>
        </p:nvSpPr>
        <p:spPr/>
        <p:txBody>
          <a:bodyPr/>
          <a:lstStyle/>
          <a:p>
            <a:r>
              <a:rPr lang="en-US" altLang="zh-CN" dirty="0"/>
              <a:t>02 </a:t>
            </a:r>
            <a:r>
              <a:rPr lang="zh-CN" altLang="en-US" dirty="0"/>
              <a:t>持续交付</a:t>
            </a:r>
            <a:endParaRPr kumimoji="1" lang="zh-CN" altLang="en-US" dirty="0"/>
          </a:p>
        </p:txBody>
      </p:sp>
      <p:sp>
        <p:nvSpPr>
          <p:cNvPr id="3" name="灯片编号占位符 2">
            <a:extLst>
              <a:ext uri="{FF2B5EF4-FFF2-40B4-BE49-F238E27FC236}">
                <a16:creationId xmlns:a16="http://schemas.microsoft.com/office/drawing/2014/main" id="{940AA628-8120-F109-B869-E8671F3D72B8}"/>
              </a:ext>
            </a:extLst>
          </p:cNvPr>
          <p:cNvSpPr>
            <a:spLocks noGrp="1"/>
          </p:cNvSpPr>
          <p:nvPr>
            <p:ph type="sldNum" sz="quarter" idx="12"/>
          </p:nvPr>
        </p:nvSpPr>
        <p:spPr/>
        <p:txBody>
          <a:bodyPr/>
          <a:lstStyle/>
          <a:p>
            <a:fld id="{1AAC388E-FA9E-4A2C-95EA-1F6B3A07935A}" type="slidenum">
              <a:rPr lang="zh-CN" altLang="en-US" smtClean="0"/>
              <a:pPr/>
              <a:t>79</a:t>
            </a:fld>
            <a:endParaRPr lang="zh-CN" altLang="en-US"/>
          </a:p>
        </p:txBody>
      </p:sp>
      <p:sp>
        <p:nvSpPr>
          <p:cNvPr id="4" name="文本框 3">
            <a:extLst>
              <a:ext uri="{FF2B5EF4-FFF2-40B4-BE49-F238E27FC236}">
                <a16:creationId xmlns:a16="http://schemas.microsoft.com/office/drawing/2014/main" id="{BA9D347B-A333-F47E-DAC1-B3F417A6AD0E}"/>
              </a:ext>
            </a:extLst>
          </p:cNvPr>
          <p:cNvSpPr txBox="1"/>
          <p:nvPr/>
        </p:nvSpPr>
        <p:spPr>
          <a:xfrm>
            <a:off x="718218" y="838720"/>
            <a:ext cx="3594702"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zh-CN" altLang="en-US" dirty="0"/>
              <a:t>常见开发和发布模式</a:t>
            </a:r>
            <a:endParaRPr lang="en-US" altLang="zh-CN" dirty="0"/>
          </a:p>
        </p:txBody>
      </p:sp>
      <p:sp>
        <p:nvSpPr>
          <p:cNvPr id="15" name="文本框 14">
            <a:extLst>
              <a:ext uri="{FF2B5EF4-FFF2-40B4-BE49-F238E27FC236}">
                <a16:creationId xmlns:a16="http://schemas.microsoft.com/office/drawing/2014/main" id="{DEADEAFD-1329-6FA3-7B53-67A1A106F319}"/>
              </a:ext>
            </a:extLst>
          </p:cNvPr>
          <p:cNvSpPr txBox="1"/>
          <p:nvPr/>
        </p:nvSpPr>
        <p:spPr>
          <a:xfrm>
            <a:off x="1351165" y="1475429"/>
            <a:ext cx="10433511" cy="523220"/>
          </a:xfrm>
          <a:prstGeom prst="rect">
            <a:avLst/>
          </a:prstGeom>
          <a:noFill/>
        </p:spPr>
        <p:txBody>
          <a:bodyPr wrap="square">
            <a:spAutoFit/>
          </a:bodyPr>
          <a:lstStyle/>
          <a:p>
            <a:pPr marL="457200" indent="-457200">
              <a:spcAft>
                <a:spcPts val="600"/>
              </a:spcAft>
              <a:buFont typeface="Arial" panose="020B0604020202020204" pitchFamily="34" charset="0"/>
              <a:buChar char="•"/>
            </a:pPr>
            <a:r>
              <a:rPr lang="zh-CN" altLang="en-US" sz="2800" dirty="0">
                <a:latin typeface="Helvetica" pitchFamily="2" charset="0"/>
              </a:rPr>
              <a:t>分支</a:t>
            </a:r>
            <a:r>
              <a:rPr lang="zh-CN" altLang="en-US" sz="2800" dirty="0">
                <a:effectLst/>
                <a:latin typeface="Helvetica" pitchFamily="2" charset="0"/>
              </a:rPr>
              <a:t>开发，主干发布</a:t>
            </a:r>
            <a:endParaRPr lang="en-US" altLang="zh-CN" sz="2800" dirty="0">
              <a:effectLst/>
              <a:latin typeface="Helvetica" pitchFamily="2" charset="0"/>
            </a:endParaRPr>
          </a:p>
        </p:txBody>
      </p:sp>
      <p:pic>
        <p:nvPicPr>
          <p:cNvPr id="16386" name="Picture 2">
            <a:extLst>
              <a:ext uri="{FF2B5EF4-FFF2-40B4-BE49-F238E27FC236}">
                <a16:creationId xmlns:a16="http://schemas.microsoft.com/office/drawing/2014/main" id="{12FC296C-5F1B-85C2-32CB-2010130645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6864" y="945212"/>
            <a:ext cx="5556918" cy="1745798"/>
          </a:xfrm>
          <a:prstGeom prst="rect">
            <a:avLst/>
          </a:prstGeom>
          <a:noFill/>
          <a:extLst>
            <a:ext uri="{909E8E84-426E-40DD-AFC4-6F175D3DCCD1}">
              <a14:hiddenFill xmlns:a14="http://schemas.microsoft.com/office/drawing/2010/main">
                <a:solidFill>
                  <a:srgbClr val="FFFFFF"/>
                </a:solidFill>
              </a14:hiddenFill>
            </a:ext>
          </a:extLst>
        </p:spPr>
      </p:pic>
      <p:pic>
        <p:nvPicPr>
          <p:cNvPr id="6" name="图片 5">
            <a:extLst>
              <a:ext uri="{FF2B5EF4-FFF2-40B4-BE49-F238E27FC236}">
                <a16:creationId xmlns:a16="http://schemas.microsoft.com/office/drawing/2014/main" id="{C77176C3-9086-41F1-3F21-D0C632172774}"/>
              </a:ext>
            </a:extLst>
          </p:cNvPr>
          <p:cNvPicPr>
            <a:picLocks noChangeAspect="1"/>
          </p:cNvPicPr>
          <p:nvPr/>
        </p:nvPicPr>
        <p:blipFill>
          <a:blip r:embed="rId4"/>
          <a:stretch>
            <a:fillRect/>
          </a:stretch>
        </p:blipFill>
        <p:spPr>
          <a:xfrm>
            <a:off x="144714" y="3601264"/>
            <a:ext cx="5772150" cy="1882938"/>
          </a:xfrm>
          <a:prstGeom prst="rect">
            <a:avLst/>
          </a:prstGeom>
        </p:spPr>
      </p:pic>
      <p:pic>
        <p:nvPicPr>
          <p:cNvPr id="8" name="图片 7">
            <a:extLst>
              <a:ext uri="{FF2B5EF4-FFF2-40B4-BE49-F238E27FC236}">
                <a16:creationId xmlns:a16="http://schemas.microsoft.com/office/drawing/2014/main" id="{CAC606C5-15DB-40C1-4953-059B95857D9C}"/>
              </a:ext>
            </a:extLst>
          </p:cNvPr>
          <p:cNvPicPr>
            <a:picLocks noChangeAspect="1"/>
          </p:cNvPicPr>
          <p:nvPr/>
        </p:nvPicPr>
        <p:blipFill>
          <a:blip r:embed="rId5"/>
          <a:stretch>
            <a:fillRect/>
          </a:stretch>
        </p:blipFill>
        <p:spPr>
          <a:xfrm>
            <a:off x="5875086" y="3808552"/>
            <a:ext cx="6172200" cy="1595718"/>
          </a:xfrm>
          <a:prstGeom prst="rect">
            <a:avLst/>
          </a:prstGeom>
        </p:spPr>
      </p:pic>
      <p:sp>
        <p:nvSpPr>
          <p:cNvPr id="9" name="文本框 8">
            <a:extLst>
              <a:ext uri="{FF2B5EF4-FFF2-40B4-BE49-F238E27FC236}">
                <a16:creationId xmlns:a16="http://schemas.microsoft.com/office/drawing/2014/main" id="{CFA7A815-A26F-1957-EE9E-B7F3F7AF2D25}"/>
              </a:ext>
            </a:extLst>
          </p:cNvPr>
          <p:cNvSpPr txBox="1"/>
          <p:nvPr/>
        </p:nvSpPr>
        <p:spPr>
          <a:xfrm>
            <a:off x="1003758" y="5484202"/>
            <a:ext cx="3023622" cy="570980"/>
          </a:xfrm>
          <a:prstGeom prst="rect">
            <a:avLst/>
          </a:prstGeom>
          <a:noFill/>
        </p:spPr>
        <p:txBody>
          <a:bodyPr wrap="none" lIns="0" tIns="0" rIns="0" bIns="0" rtlCol="0" anchor="ctr">
            <a:normAutofit/>
          </a:bodyPr>
          <a:lstStyle/>
          <a:p>
            <a:pPr algn="ctr">
              <a:lnSpc>
                <a:spcPct val="125000"/>
              </a:lnSpc>
              <a:spcAft>
                <a:spcPts val="500"/>
              </a:spcAft>
            </a:pPr>
            <a:r>
              <a:rPr lang="zh-CN" altLang="en-US" dirty="0"/>
              <a:t>特性分支模式</a:t>
            </a:r>
          </a:p>
        </p:txBody>
      </p:sp>
      <p:sp>
        <p:nvSpPr>
          <p:cNvPr id="10" name="文本框 9">
            <a:extLst>
              <a:ext uri="{FF2B5EF4-FFF2-40B4-BE49-F238E27FC236}">
                <a16:creationId xmlns:a16="http://schemas.microsoft.com/office/drawing/2014/main" id="{215B16D1-7927-815F-5EE9-9C76039EDAA1}"/>
              </a:ext>
            </a:extLst>
          </p:cNvPr>
          <p:cNvSpPr txBox="1"/>
          <p:nvPr/>
        </p:nvSpPr>
        <p:spPr>
          <a:xfrm>
            <a:off x="7183512" y="5484202"/>
            <a:ext cx="3023622" cy="570980"/>
          </a:xfrm>
          <a:prstGeom prst="rect">
            <a:avLst/>
          </a:prstGeom>
          <a:noFill/>
        </p:spPr>
        <p:txBody>
          <a:bodyPr wrap="none" lIns="0" tIns="0" rIns="0" bIns="0" rtlCol="0" anchor="ctr">
            <a:normAutofit/>
          </a:bodyPr>
          <a:lstStyle/>
          <a:p>
            <a:pPr algn="ctr">
              <a:lnSpc>
                <a:spcPct val="125000"/>
              </a:lnSpc>
              <a:spcAft>
                <a:spcPts val="500"/>
              </a:spcAft>
            </a:pPr>
            <a:r>
              <a:rPr lang="zh-CN" altLang="en-US" dirty="0"/>
              <a:t>团队分支模式</a:t>
            </a:r>
          </a:p>
        </p:txBody>
      </p:sp>
      <p:sp>
        <p:nvSpPr>
          <p:cNvPr id="11" name="箭头: 下 10">
            <a:extLst>
              <a:ext uri="{FF2B5EF4-FFF2-40B4-BE49-F238E27FC236}">
                <a16:creationId xmlns:a16="http://schemas.microsoft.com/office/drawing/2014/main" id="{D03CF38F-EC11-0140-E17E-BEFAD130F210}"/>
              </a:ext>
            </a:extLst>
          </p:cNvPr>
          <p:cNvSpPr/>
          <p:nvPr/>
        </p:nvSpPr>
        <p:spPr>
          <a:xfrm rot="2911842">
            <a:off x="5880659" y="2799580"/>
            <a:ext cx="430681" cy="78583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箭头: 下 11">
            <a:extLst>
              <a:ext uri="{FF2B5EF4-FFF2-40B4-BE49-F238E27FC236}">
                <a16:creationId xmlns:a16="http://schemas.microsoft.com/office/drawing/2014/main" id="{A4C2EF2F-692C-DC92-1B6D-8B8C8C049BE7}"/>
              </a:ext>
            </a:extLst>
          </p:cNvPr>
          <p:cNvSpPr/>
          <p:nvPr/>
        </p:nvSpPr>
        <p:spPr>
          <a:xfrm>
            <a:off x="8479982" y="2770942"/>
            <a:ext cx="430681" cy="78583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705221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68A3EA-FFF7-F593-9FA7-BB39D3E3222F}"/>
              </a:ext>
            </a:extLst>
          </p:cNvPr>
          <p:cNvSpPr>
            <a:spLocks noGrp="1"/>
          </p:cNvSpPr>
          <p:nvPr>
            <p:ph type="title"/>
          </p:nvPr>
        </p:nvSpPr>
        <p:spPr/>
        <p:txBody>
          <a:bodyPr/>
          <a:lstStyle/>
          <a:p>
            <a:r>
              <a:rPr lang="en-US" altLang="zh-CN" dirty="0"/>
              <a:t>02 </a:t>
            </a:r>
            <a:r>
              <a:rPr lang="zh-CN" altLang="en-US" dirty="0"/>
              <a:t>持续交付</a:t>
            </a:r>
            <a:endParaRPr kumimoji="1" lang="zh-CN" altLang="en-US" dirty="0"/>
          </a:p>
        </p:txBody>
      </p:sp>
      <p:sp>
        <p:nvSpPr>
          <p:cNvPr id="3" name="灯片编号占位符 2">
            <a:extLst>
              <a:ext uri="{FF2B5EF4-FFF2-40B4-BE49-F238E27FC236}">
                <a16:creationId xmlns:a16="http://schemas.microsoft.com/office/drawing/2014/main" id="{940AA628-8120-F109-B869-E8671F3D72B8}"/>
              </a:ext>
            </a:extLst>
          </p:cNvPr>
          <p:cNvSpPr>
            <a:spLocks noGrp="1"/>
          </p:cNvSpPr>
          <p:nvPr>
            <p:ph type="sldNum" sz="quarter" idx="12"/>
          </p:nvPr>
        </p:nvSpPr>
        <p:spPr/>
        <p:txBody>
          <a:bodyPr/>
          <a:lstStyle/>
          <a:p>
            <a:fld id="{1AAC388E-FA9E-4A2C-95EA-1F6B3A07935A}" type="slidenum">
              <a:rPr lang="zh-CN" altLang="en-US" smtClean="0"/>
              <a:pPr/>
              <a:t>80</a:t>
            </a:fld>
            <a:endParaRPr lang="zh-CN" altLang="en-US"/>
          </a:p>
        </p:txBody>
      </p:sp>
      <p:sp>
        <p:nvSpPr>
          <p:cNvPr id="4" name="文本框 3">
            <a:extLst>
              <a:ext uri="{FF2B5EF4-FFF2-40B4-BE49-F238E27FC236}">
                <a16:creationId xmlns:a16="http://schemas.microsoft.com/office/drawing/2014/main" id="{BA9D347B-A333-F47E-DAC1-B3F417A6AD0E}"/>
              </a:ext>
            </a:extLst>
          </p:cNvPr>
          <p:cNvSpPr txBox="1"/>
          <p:nvPr/>
        </p:nvSpPr>
        <p:spPr>
          <a:xfrm>
            <a:off x="718217" y="838720"/>
            <a:ext cx="4853907"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zh-CN" altLang="en-US" dirty="0"/>
              <a:t>其他演化而来的分支模式</a:t>
            </a:r>
            <a:endParaRPr lang="en-US" altLang="zh-CN" dirty="0"/>
          </a:p>
        </p:txBody>
      </p:sp>
      <p:sp>
        <p:nvSpPr>
          <p:cNvPr id="15" name="文本框 14">
            <a:extLst>
              <a:ext uri="{FF2B5EF4-FFF2-40B4-BE49-F238E27FC236}">
                <a16:creationId xmlns:a16="http://schemas.microsoft.com/office/drawing/2014/main" id="{DEADEAFD-1329-6FA3-7B53-67A1A106F319}"/>
              </a:ext>
            </a:extLst>
          </p:cNvPr>
          <p:cNvSpPr txBox="1"/>
          <p:nvPr/>
        </p:nvSpPr>
        <p:spPr>
          <a:xfrm>
            <a:off x="1351165" y="1475429"/>
            <a:ext cx="10433511" cy="523220"/>
          </a:xfrm>
          <a:prstGeom prst="rect">
            <a:avLst/>
          </a:prstGeom>
          <a:noFill/>
        </p:spPr>
        <p:txBody>
          <a:bodyPr wrap="square">
            <a:spAutoFit/>
          </a:bodyPr>
          <a:lstStyle/>
          <a:p>
            <a:pPr marL="457200" indent="-457200">
              <a:spcAft>
                <a:spcPts val="600"/>
              </a:spcAft>
              <a:buFont typeface="Arial" panose="020B0604020202020204" pitchFamily="34" charset="0"/>
              <a:buChar char="•"/>
            </a:pPr>
            <a:r>
              <a:rPr lang="zh-CN" altLang="en-US" sz="2800" dirty="0">
                <a:latin typeface="Helvetica" pitchFamily="2" charset="0"/>
              </a:rPr>
              <a:t>三驾马车分支模式</a:t>
            </a:r>
            <a:endParaRPr lang="en-US" altLang="zh-CN" sz="2800" dirty="0">
              <a:effectLst/>
              <a:latin typeface="Helvetica" pitchFamily="2" charset="0"/>
            </a:endParaRPr>
          </a:p>
        </p:txBody>
      </p:sp>
      <p:pic>
        <p:nvPicPr>
          <p:cNvPr id="6" name="图片 5">
            <a:extLst>
              <a:ext uri="{FF2B5EF4-FFF2-40B4-BE49-F238E27FC236}">
                <a16:creationId xmlns:a16="http://schemas.microsoft.com/office/drawing/2014/main" id="{FFE79A8A-CF07-A5DA-E1F0-119996998947}"/>
              </a:ext>
            </a:extLst>
          </p:cNvPr>
          <p:cNvPicPr>
            <a:picLocks noChangeAspect="1"/>
          </p:cNvPicPr>
          <p:nvPr/>
        </p:nvPicPr>
        <p:blipFill>
          <a:blip r:embed="rId3"/>
          <a:stretch>
            <a:fillRect/>
          </a:stretch>
        </p:blipFill>
        <p:spPr>
          <a:xfrm>
            <a:off x="1857374" y="3215755"/>
            <a:ext cx="9001125" cy="2166816"/>
          </a:xfrm>
          <a:prstGeom prst="rect">
            <a:avLst/>
          </a:prstGeom>
        </p:spPr>
      </p:pic>
    </p:spTree>
    <p:extLst>
      <p:ext uri="{BB962C8B-B14F-4D97-AF65-F5344CB8AC3E}">
        <p14:creationId xmlns:p14="http://schemas.microsoft.com/office/powerpoint/2010/main" val="5231203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68A3EA-FFF7-F593-9FA7-BB39D3E3222F}"/>
              </a:ext>
            </a:extLst>
          </p:cNvPr>
          <p:cNvSpPr>
            <a:spLocks noGrp="1"/>
          </p:cNvSpPr>
          <p:nvPr>
            <p:ph type="title"/>
          </p:nvPr>
        </p:nvSpPr>
        <p:spPr/>
        <p:txBody>
          <a:bodyPr/>
          <a:lstStyle/>
          <a:p>
            <a:r>
              <a:rPr lang="en-US" altLang="zh-CN" dirty="0"/>
              <a:t>02 </a:t>
            </a:r>
            <a:r>
              <a:rPr lang="zh-CN" altLang="en-US" dirty="0"/>
              <a:t>持续交付</a:t>
            </a:r>
            <a:endParaRPr kumimoji="1" lang="zh-CN" altLang="en-US" dirty="0"/>
          </a:p>
        </p:txBody>
      </p:sp>
      <p:sp>
        <p:nvSpPr>
          <p:cNvPr id="3" name="灯片编号占位符 2">
            <a:extLst>
              <a:ext uri="{FF2B5EF4-FFF2-40B4-BE49-F238E27FC236}">
                <a16:creationId xmlns:a16="http://schemas.microsoft.com/office/drawing/2014/main" id="{940AA628-8120-F109-B869-E8671F3D72B8}"/>
              </a:ext>
            </a:extLst>
          </p:cNvPr>
          <p:cNvSpPr>
            <a:spLocks noGrp="1"/>
          </p:cNvSpPr>
          <p:nvPr>
            <p:ph type="sldNum" sz="quarter" idx="12"/>
          </p:nvPr>
        </p:nvSpPr>
        <p:spPr/>
        <p:txBody>
          <a:bodyPr/>
          <a:lstStyle/>
          <a:p>
            <a:fld id="{1AAC388E-FA9E-4A2C-95EA-1F6B3A07935A}" type="slidenum">
              <a:rPr lang="zh-CN" altLang="en-US" smtClean="0"/>
              <a:pPr/>
              <a:t>81</a:t>
            </a:fld>
            <a:endParaRPr lang="zh-CN" altLang="en-US"/>
          </a:p>
        </p:txBody>
      </p:sp>
      <p:sp>
        <p:nvSpPr>
          <p:cNvPr id="4" name="文本框 3">
            <a:extLst>
              <a:ext uri="{FF2B5EF4-FFF2-40B4-BE49-F238E27FC236}">
                <a16:creationId xmlns:a16="http://schemas.microsoft.com/office/drawing/2014/main" id="{BA9D347B-A333-F47E-DAC1-B3F417A6AD0E}"/>
              </a:ext>
            </a:extLst>
          </p:cNvPr>
          <p:cNvSpPr txBox="1"/>
          <p:nvPr/>
        </p:nvSpPr>
        <p:spPr>
          <a:xfrm>
            <a:off x="718217" y="838720"/>
            <a:ext cx="4853907"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zh-CN" altLang="en-US" dirty="0"/>
              <a:t>其他演化而来的分支模式</a:t>
            </a:r>
            <a:endParaRPr lang="en-US" altLang="zh-CN" dirty="0"/>
          </a:p>
        </p:txBody>
      </p:sp>
      <p:sp>
        <p:nvSpPr>
          <p:cNvPr id="15" name="文本框 14">
            <a:extLst>
              <a:ext uri="{FF2B5EF4-FFF2-40B4-BE49-F238E27FC236}">
                <a16:creationId xmlns:a16="http://schemas.microsoft.com/office/drawing/2014/main" id="{DEADEAFD-1329-6FA3-7B53-67A1A106F319}"/>
              </a:ext>
            </a:extLst>
          </p:cNvPr>
          <p:cNvSpPr txBox="1"/>
          <p:nvPr/>
        </p:nvSpPr>
        <p:spPr>
          <a:xfrm>
            <a:off x="1351165" y="1475429"/>
            <a:ext cx="10433511" cy="523220"/>
          </a:xfrm>
          <a:prstGeom prst="rect">
            <a:avLst/>
          </a:prstGeom>
          <a:noFill/>
        </p:spPr>
        <p:txBody>
          <a:bodyPr wrap="square">
            <a:spAutoFit/>
          </a:bodyPr>
          <a:lstStyle/>
          <a:p>
            <a:pPr marL="457200" indent="-457200">
              <a:spcAft>
                <a:spcPts val="600"/>
              </a:spcAft>
              <a:buFont typeface="Arial" panose="020B0604020202020204" pitchFamily="34" charset="0"/>
              <a:buChar char="•"/>
            </a:pPr>
            <a:r>
              <a:rPr lang="en-US" altLang="zh-CN" sz="2800" dirty="0" err="1">
                <a:latin typeface="Helvetica" pitchFamily="2" charset="0"/>
              </a:rPr>
              <a:t>GitFlow</a:t>
            </a:r>
            <a:r>
              <a:rPr lang="zh-CN" altLang="en-US" sz="2800" dirty="0">
                <a:latin typeface="Helvetica" pitchFamily="2" charset="0"/>
              </a:rPr>
              <a:t>分支模式</a:t>
            </a:r>
            <a:endParaRPr lang="en-US" altLang="zh-CN" sz="2800" dirty="0">
              <a:effectLst/>
              <a:latin typeface="Helvetica" pitchFamily="2" charset="0"/>
            </a:endParaRPr>
          </a:p>
        </p:txBody>
      </p:sp>
      <p:pic>
        <p:nvPicPr>
          <p:cNvPr id="7" name="图片 6">
            <a:extLst>
              <a:ext uri="{FF2B5EF4-FFF2-40B4-BE49-F238E27FC236}">
                <a16:creationId xmlns:a16="http://schemas.microsoft.com/office/drawing/2014/main" id="{529FE16B-BB05-2094-0A2A-8F0DF07E5A61}"/>
              </a:ext>
            </a:extLst>
          </p:cNvPr>
          <p:cNvPicPr>
            <a:picLocks noChangeAspect="1"/>
          </p:cNvPicPr>
          <p:nvPr/>
        </p:nvPicPr>
        <p:blipFill>
          <a:blip r:embed="rId3"/>
          <a:stretch>
            <a:fillRect/>
          </a:stretch>
        </p:blipFill>
        <p:spPr>
          <a:xfrm>
            <a:off x="2131622" y="2528117"/>
            <a:ext cx="6881003" cy="3849891"/>
          </a:xfrm>
          <a:prstGeom prst="rect">
            <a:avLst/>
          </a:prstGeom>
        </p:spPr>
      </p:pic>
    </p:spTree>
    <p:extLst>
      <p:ext uri="{BB962C8B-B14F-4D97-AF65-F5344CB8AC3E}">
        <p14:creationId xmlns:p14="http://schemas.microsoft.com/office/powerpoint/2010/main" val="11942763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14AAC9-ACB0-49FC-A6EE-6BDA13EC5753}"/>
              </a:ext>
            </a:extLst>
          </p:cNvPr>
          <p:cNvSpPr>
            <a:spLocks noGrp="1"/>
          </p:cNvSpPr>
          <p:nvPr>
            <p:ph type="title"/>
          </p:nvPr>
        </p:nvSpPr>
        <p:spPr/>
        <p:txBody>
          <a:bodyPr>
            <a:normAutofit/>
          </a:bodyPr>
          <a:lstStyle/>
          <a:p>
            <a:r>
              <a:rPr lang="en-US" altLang="zh-CN"/>
              <a:t>02 </a:t>
            </a:r>
            <a:r>
              <a:rPr lang="zh-CN" altLang="en-US"/>
              <a:t>持续交付</a:t>
            </a:r>
          </a:p>
        </p:txBody>
      </p:sp>
      <p:sp>
        <p:nvSpPr>
          <p:cNvPr id="3" name="灯片编号占位符 2">
            <a:extLst>
              <a:ext uri="{FF2B5EF4-FFF2-40B4-BE49-F238E27FC236}">
                <a16:creationId xmlns:a16="http://schemas.microsoft.com/office/drawing/2014/main" id="{8BD995E4-EA54-46FD-A180-14744ABC5EC7}"/>
              </a:ext>
            </a:extLst>
          </p:cNvPr>
          <p:cNvSpPr>
            <a:spLocks noGrp="1"/>
          </p:cNvSpPr>
          <p:nvPr>
            <p:ph type="sldNum" sz="quarter" idx="12"/>
          </p:nvPr>
        </p:nvSpPr>
        <p:spPr/>
        <p:txBody>
          <a:bodyPr/>
          <a:lstStyle/>
          <a:p>
            <a:fld id="{1AAC388E-FA9E-4A2C-95EA-1F6B3A07935A}" type="slidenum">
              <a:rPr lang="zh-CN" altLang="en-US" sz="1400" smtClean="0">
                <a:solidFill>
                  <a:srgbClr val="000000"/>
                </a:solidFill>
              </a:rPr>
              <a:pPr/>
              <a:t>82</a:t>
            </a:fld>
            <a:endParaRPr lang="zh-CN" altLang="en-US" sz="1400">
              <a:solidFill>
                <a:srgbClr val="000000"/>
              </a:solidFill>
            </a:endParaRPr>
          </a:p>
        </p:txBody>
      </p:sp>
      <p:sp>
        <p:nvSpPr>
          <p:cNvPr id="4" name="文本框 3">
            <a:extLst>
              <a:ext uri="{FF2B5EF4-FFF2-40B4-BE49-F238E27FC236}">
                <a16:creationId xmlns:a16="http://schemas.microsoft.com/office/drawing/2014/main" id="{03FFCBBC-1D22-D39D-00F0-BECE05053EC6}"/>
              </a:ext>
            </a:extLst>
          </p:cNvPr>
          <p:cNvSpPr txBox="1"/>
          <p:nvPr/>
        </p:nvSpPr>
        <p:spPr>
          <a:xfrm>
            <a:off x="718217" y="874354"/>
            <a:ext cx="4615783"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zh-CN" altLang="en-US" dirty="0"/>
              <a:t>案例研究：逐特性发布</a:t>
            </a:r>
          </a:p>
        </p:txBody>
      </p:sp>
      <p:sp>
        <p:nvSpPr>
          <p:cNvPr id="15" name="文本框 14">
            <a:extLst>
              <a:ext uri="{FF2B5EF4-FFF2-40B4-BE49-F238E27FC236}">
                <a16:creationId xmlns:a16="http://schemas.microsoft.com/office/drawing/2014/main" id="{64A1EEB2-3292-FA58-1477-CC6A10083E95}"/>
              </a:ext>
            </a:extLst>
          </p:cNvPr>
          <p:cNvSpPr txBox="1"/>
          <p:nvPr/>
        </p:nvSpPr>
        <p:spPr>
          <a:xfrm>
            <a:off x="2095500" y="2667000"/>
            <a:ext cx="0" cy="0"/>
          </a:xfrm>
          <a:prstGeom prst="rect">
            <a:avLst/>
          </a:prstGeom>
          <a:noFill/>
        </p:spPr>
        <p:txBody>
          <a:bodyPr wrap="none" lIns="0" tIns="0" rIns="0" bIns="0" rtlCol="0" anchor="ctr">
            <a:normAutofit fontScale="25000" lnSpcReduction="20000"/>
          </a:bodyPr>
          <a:lstStyle/>
          <a:p>
            <a:pPr algn="l">
              <a:lnSpc>
                <a:spcPct val="125000"/>
              </a:lnSpc>
              <a:spcAft>
                <a:spcPts val="500"/>
              </a:spcAft>
            </a:pPr>
            <a:endParaRPr kumimoji="1" lang="zh-CN" altLang="en-US"/>
          </a:p>
        </p:txBody>
      </p:sp>
      <p:pic>
        <p:nvPicPr>
          <p:cNvPr id="6" name="图片 5" descr="图片包含 游戏机, 电子, 电路&#10;&#10;描述已自动生成">
            <a:extLst>
              <a:ext uri="{FF2B5EF4-FFF2-40B4-BE49-F238E27FC236}">
                <a16:creationId xmlns:a16="http://schemas.microsoft.com/office/drawing/2014/main" id="{FC713458-3047-F473-C4AA-9F625F4F02D9}"/>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2881206" y="2024294"/>
            <a:ext cx="6429587" cy="3857752"/>
          </a:xfrm>
          <a:prstGeom prst="rect">
            <a:avLst/>
          </a:prstGeom>
        </p:spPr>
      </p:pic>
    </p:spTree>
    <p:extLst>
      <p:ext uri="{BB962C8B-B14F-4D97-AF65-F5344CB8AC3E}">
        <p14:creationId xmlns:p14="http://schemas.microsoft.com/office/powerpoint/2010/main" val="5463991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14AAC9-ACB0-49FC-A6EE-6BDA13EC5753}"/>
              </a:ext>
            </a:extLst>
          </p:cNvPr>
          <p:cNvSpPr>
            <a:spLocks noGrp="1"/>
          </p:cNvSpPr>
          <p:nvPr>
            <p:ph type="title"/>
          </p:nvPr>
        </p:nvSpPr>
        <p:spPr/>
        <p:txBody>
          <a:bodyPr>
            <a:normAutofit/>
          </a:bodyPr>
          <a:lstStyle/>
          <a:p>
            <a:r>
              <a:rPr lang="en-US" altLang="zh-CN"/>
              <a:t>02 </a:t>
            </a:r>
            <a:r>
              <a:rPr lang="zh-CN" altLang="en-US"/>
              <a:t>持续交付</a:t>
            </a:r>
          </a:p>
        </p:txBody>
      </p:sp>
      <p:sp>
        <p:nvSpPr>
          <p:cNvPr id="3" name="灯片编号占位符 2">
            <a:extLst>
              <a:ext uri="{FF2B5EF4-FFF2-40B4-BE49-F238E27FC236}">
                <a16:creationId xmlns:a16="http://schemas.microsoft.com/office/drawing/2014/main" id="{8BD995E4-EA54-46FD-A180-14744ABC5EC7}"/>
              </a:ext>
            </a:extLst>
          </p:cNvPr>
          <p:cNvSpPr>
            <a:spLocks noGrp="1"/>
          </p:cNvSpPr>
          <p:nvPr>
            <p:ph type="sldNum" sz="quarter" idx="12"/>
          </p:nvPr>
        </p:nvSpPr>
        <p:spPr/>
        <p:txBody>
          <a:bodyPr/>
          <a:lstStyle/>
          <a:p>
            <a:fld id="{1AAC388E-FA9E-4A2C-95EA-1F6B3A07935A}" type="slidenum">
              <a:rPr lang="zh-CN" altLang="en-US" sz="1400" smtClean="0">
                <a:solidFill>
                  <a:srgbClr val="000000"/>
                </a:solidFill>
              </a:rPr>
              <a:pPr/>
              <a:t>83</a:t>
            </a:fld>
            <a:endParaRPr lang="zh-CN" altLang="en-US" sz="1400">
              <a:solidFill>
                <a:srgbClr val="000000"/>
              </a:solidFill>
            </a:endParaRPr>
          </a:p>
        </p:txBody>
      </p:sp>
      <p:sp>
        <p:nvSpPr>
          <p:cNvPr id="4" name="文本框 3">
            <a:extLst>
              <a:ext uri="{FF2B5EF4-FFF2-40B4-BE49-F238E27FC236}">
                <a16:creationId xmlns:a16="http://schemas.microsoft.com/office/drawing/2014/main" id="{03FFCBBC-1D22-D39D-00F0-BECE05053EC6}"/>
              </a:ext>
            </a:extLst>
          </p:cNvPr>
          <p:cNvSpPr txBox="1"/>
          <p:nvPr/>
        </p:nvSpPr>
        <p:spPr>
          <a:xfrm>
            <a:off x="718218" y="874354"/>
            <a:ext cx="3017354"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zh-CN" altLang="en-US" dirty="0"/>
              <a:t>如何低风险发布？</a:t>
            </a:r>
          </a:p>
        </p:txBody>
      </p:sp>
      <p:sp>
        <p:nvSpPr>
          <p:cNvPr id="15" name="文本框 14">
            <a:extLst>
              <a:ext uri="{FF2B5EF4-FFF2-40B4-BE49-F238E27FC236}">
                <a16:creationId xmlns:a16="http://schemas.microsoft.com/office/drawing/2014/main" id="{64A1EEB2-3292-FA58-1477-CC6A10083E95}"/>
              </a:ext>
            </a:extLst>
          </p:cNvPr>
          <p:cNvSpPr txBox="1"/>
          <p:nvPr/>
        </p:nvSpPr>
        <p:spPr>
          <a:xfrm>
            <a:off x="2095500" y="2667000"/>
            <a:ext cx="0" cy="0"/>
          </a:xfrm>
          <a:prstGeom prst="rect">
            <a:avLst/>
          </a:prstGeom>
          <a:noFill/>
        </p:spPr>
        <p:txBody>
          <a:bodyPr wrap="none" lIns="0" tIns="0" rIns="0" bIns="0" rtlCol="0" anchor="ctr">
            <a:normAutofit fontScale="25000" lnSpcReduction="20000"/>
          </a:bodyPr>
          <a:lstStyle/>
          <a:p>
            <a:pPr algn="l">
              <a:lnSpc>
                <a:spcPct val="125000"/>
              </a:lnSpc>
              <a:spcAft>
                <a:spcPts val="500"/>
              </a:spcAft>
            </a:pPr>
            <a:endParaRPr kumimoji="1" lang="zh-CN" altLang="en-US"/>
          </a:p>
        </p:txBody>
      </p:sp>
      <p:sp>
        <p:nvSpPr>
          <p:cNvPr id="8" name="文本框 7">
            <a:extLst>
              <a:ext uri="{FF2B5EF4-FFF2-40B4-BE49-F238E27FC236}">
                <a16:creationId xmlns:a16="http://schemas.microsoft.com/office/drawing/2014/main" id="{0BC540A0-0BFC-498A-E645-A70EFE79C2CB}"/>
              </a:ext>
            </a:extLst>
          </p:cNvPr>
          <p:cNvSpPr txBox="1"/>
          <p:nvPr/>
        </p:nvSpPr>
        <p:spPr>
          <a:xfrm>
            <a:off x="3157521" y="2234410"/>
            <a:ext cx="6216650" cy="2389244"/>
          </a:xfrm>
          <a:prstGeom prst="rect">
            <a:avLst/>
          </a:prstGeom>
          <a:noFill/>
        </p:spPr>
        <p:txBody>
          <a:bodyPr wrap="square">
            <a:spAutoFit/>
          </a:bodyPr>
          <a:lstStyle/>
          <a:p>
            <a:pPr marL="342900" indent="-342900" algn="l">
              <a:lnSpc>
                <a:spcPct val="125000"/>
              </a:lnSpc>
              <a:spcAft>
                <a:spcPts val="500"/>
              </a:spcAft>
              <a:buFont typeface="Arial" panose="020B0604020202020204" pitchFamily="34" charset="0"/>
              <a:buChar char="•"/>
            </a:pPr>
            <a:r>
              <a:rPr kumimoji="1" lang="zh-CN" altLang="en-US" sz="2800" dirty="0"/>
              <a:t>蛮力发布</a:t>
            </a:r>
            <a:endParaRPr kumimoji="1" lang="en-US" altLang="zh-CN" sz="2800" dirty="0"/>
          </a:p>
          <a:p>
            <a:pPr marL="342900" indent="-342900">
              <a:lnSpc>
                <a:spcPct val="125000"/>
              </a:lnSpc>
              <a:spcAft>
                <a:spcPts val="500"/>
              </a:spcAft>
              <a:buFont typeface="Arial" panose="020B0604020202020204" pitchFamily="34" charset="0"/>
              <a:buChar char="•"/>
            </a:pPr>
            <a:r>
              <a:rPr kumimoji="1" lang="zh-CN" altLang="en-US" sz="2800" dirty="0"/>
              <a:t>金丝雀发布</a:t>
            </a:r>
            <a:endParaRPr kumimoji="1" lang="en-US" altLang="zh-CN" sz="2800" dirty="0"/>
          </a:p>
          <a:p>
            <a:pPr marL="342900" indent="-342900">
              <a:lnSpc>
                <a:spcPct val="125000"/>
              </a:lnSpc>
              <a:spcAft>
                <a:spcPts val="500"/>
              </a:spcAft>
              <a:buFont typeface="Arial" panose="020B0604020202020204" pitchFamily="34" charset="0"/>
              <a:buChar char="•"/>
            </a:pPr>
            <a:r>
              <a:rPr kumimoji="1" lang="zh-CN" altLang="en-US" sz="2800" dirty="0"/>
              <a:t>滚动部署</a:t>
            </a:r>
            <a:endParaRPr kumimoji="1" lang="en-US" altLang="zh-CN" sz="2800" dirty="0"/>
          </a:p>
          <a:p>
            <a:pPr marL="342900" indent="-342900" algn="l">
              <a:lnSpc>
                <a:spcPct val="125000"/>
              </a:lnSpc>
              <a:spcAft>
                <a:spcPts val="500"/>
              </a:spcAft>
              <a:buFont typeface="Arial" panose="020B0604020202020204" pitchFamily="34" charset="0"/>
              <a:buChar char="•"/>
            </a:pPr>
            <a:r>
              <a:rPr kumimoji="1" lang="zh-CN" altLang="en-US" sz="2800"/>
              <a:t>蓝绿部署</a:t>
            </a:r>
            <a:endParaRPr kumimoji="1" lang="en-US" altLang="zh-CN" sz="2800" dirty="0"/>
          </a:p>
        </p:txBody>
      </p:sp>
    </p:spTree>
    <p:extLst>
      <p:ext uri="{BB962C8B-B14F-4D97-AF65-F5344CB8AC3E}">
        <p14:creationId xmlns:p14="http://schemas.microsoft.com/office/powerpoint/2010/main" val="38973442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14AAC9-ACB0-49FC-A6EE-6BDA13EC5753}"/>
              </a:ext>
            </a:extLst>
          </p:cNvPr>
          <p:cNvSpPr>
            <a:spLocks noGrp="1"/>
          </p:cNvSpPr>
          <p:nvPr>
            <p:ph type="title"/>
          </p:nvPr>
        </p:nvSpPr>
        <p:spPr/>
        <p:txBody>
          <a:bodyPr>
            <a:normAutofit/>
          </a:bodyPr>
          <a:lstStyle/>
          <a:p>
            <a:r>
              <a:rPr lang="en-US" altLang="zh-CN"/>
              <a:t>02 </a:t>
            </a:r>
            <a:r>
              <a:rPr lang="zh-CN" altLang="en-US"/>
              <a:t>持续交付</a:t>
            </a:r>
          </a:p>
        </p:txBody>
      </p:sp>
      <p:sp>
        <p:nvSpPr>
          <p:cNvPr id="3" name="灯片编号占位符 2">
            <a:extLst>
              <a:ext uri="{FF2B5EF4-FFF2-40B4-BE49-F238E27FC236}">
                <a16:creationId xmlns:a16="http://schemas.microsoft.com/office/drawing/2014/main" id="{8BD995E4-EA54-46FD-A180-14744ABC5EC7}"/>
              </a:ext>
            </a:extLst>
          </p:cNvPr>
          <p:cNvSpPr>
            <a:spLocks noGrp="1"/>
          </p:cNvSpPr>
          <p:nvPr>
            <p:ph type="sldNum" sz="quarter" idx="12"/>
          </p:nvPr>
        </p:nvSpPr>
        <p:spPr/>
        <p:txBody>
          <a:bodyPr/>
          <a:lstStyle/>
          <a:p>
            <a:fld id="{1AAC388E-FA9E-4A2C-95EA-1F6B3A07935A}" type="slidenum">
              <a:rPr lang="zh-CN" altLang="en-US" sz="1400" smtClean="0">
                <a:solidFill>
                  <a:srgbClr val="000000"/>
                </a:solidFill>
              </a:rPr>
              <a:pPr/>
              <a:t>84</a:t>
            </a:fld>
            <a:endParaRPr lang="zh-CN" altLang="en-US" sz="1400">
              <a:solidFill>
                <a:srgbClr val="000000"/>
              </a:solidFill>
            </a:endParaRPr>
          </a:p>
        </p:txBody>
      </p:sp>
      <p:sp>
        <p:nvSpPr>
          <p:cNvPr id="4" name="文本框 3">
            <a:extLst>
              <a:ext uri="{FF2B5EF4-FFF2-40B4-BE49-F238E27FC236}">
                <a16:creationId xmlns:a16="http://schemas.microsoft.com/office/drawing/2014/main" id="{03FFCBBC-1D22-D39D-00F0-BECE05053EC6}"/>
              </a:ext>
            </a:extLst>
          </p:cNvPr>
          <p:cNvSpPr txBox="1"/>
          <p:nvPr/>
        </p:nvSpPr>
        <p:spPr>
          <a:xfrm>
            <a:off x="718218" y="874354"/>
            <a:ext cx="3017354"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zh-CN" altLang="en-US" dirty="0"/>
              <a:t>如何低风险发布？</a:t>
            </a:r>
          </a:p>
        </p:txBody>
      </p:sp>
      <p:sp>
        <p:nvSpPr>
          <p:cNvPr id="15" name="文本框 14">
            <a:extLst>
              <a:ext uri="{FF2B5EF4-FFF2-40B4-BE49-F238E27FC236}">
                <a16:creationId xmlns:a16="http://schemas.microsoft.com/office/drawing/2014/main" id="{64A1EEB2-3292-FA58-1477-CC6A10083E95}"/>
              </a:ext>
            </a:extLst>
          </p:cNvPr>
          <p:cNvSpPr txBox="1"/>
          <p:nvPr/>
        </p:nvSpPr>
        <p:spPr>
          <a:xfrm>
            <a:off x="2095500" y="2667000"/>
            <a:ext cx="0" cy="0"/>
          </a:xfrm>
          <a:prstGeom prst="rect">
            <a:avLst/>
          </a:prstGeom>
          <a:noFill/>
        </p:spPr>
        <p:txBody>
          <a:bodyPr wrap="none" lIns="0" tIns="0" rIns="0" bIns="0" rtlCol="0" anchor="ctr">
            <a:normAutofit fontScale="25000" lnSpcReduction="20000"/>
          </a:bodyPr>
          <a:lstStyle/>
          <a:p>
            <a:pPr algn="l">
              <a:lnSpc>
                <a:spcPct val="125000"/>
              </a:lnSpc>
              <a:spcAft>
                <a:spcPts val="500"/>
              </a:spcAft>
            </a:pPr>
            <a:endParaRPr kumimoji="1" lang="zh-CN" altLang="en-US"/>
          </a:p>
        </p:txBody>
      </p:sp>
      <p:sp>
        <p:nvSpPr>
          <p:cNvPr id="8" name="文本框 7">
            <a:extLst>
              <a:ext uri="{FF2B5EF4-FFF2-40B4-BE49-F238E27FC236}">
                <a16:creationId xmlns:a16="http://schemas.microsoft.com/office/drawing/2014/main" id="{0BC540A0-0BFC-498A-E645-A70EFE79C2CB}"/>
              </a:ext>
            </a:extLst>
          </p:cNvPr>
          <p:cNvSpPr txBox="1"/>
          <p:nvPr/>
        </p:nvSpPr>
        <p:spPr>
          <a:xfrm>
            <a:off x="1684321" y="1546697"/>
            <a:ext cx="6216650" cy="580993"/>
          </a:xfrm>
          <a:prstGeom prst="rect">
            <a:avLst/>
          </a:prstGeom>
          <a:noFill/>
        </p:spPr>
        <p:txBody>
          <a:bodyPr wrap="square">
            <a:spAutoFit/>
          </a:bodyPr>
          <a:lstStyle/>
          <a:p>
            <a:pPr marL="342900" indent="-342900" algn="l">
              <a:lnSpc>
                <a:spcPct val="125000"/>
              </a:lnSpc>
              <a:spcAft>
                <a:spcPts val="500"/>
              </a:spcAft>
              <a:buFont typeface="Arial" panose="020B0604020202020204" pitchFamily="34" charset="0"/>
              <a:buChar char="•"/>
            </a:pPr>
            <a:r>
              <a:rPr kumimoji="1" lang="zh-CN" altLang="en-US" sz="2800" dirty="0"/>
              <a:t>蛮力发布</a:t>
            </a:r>
            <a:endParaRPr kumimoji="1" lang="en-US" altLang="zh-CN" sz="2800" dirty="0"/>
          </a:p>
        </p:txBody>
      </p:sp>
      <p:pic>
        <p:nvPicPr>
          <p:cNvPr id="18434" name="Picture 2">
            <a:extLst>
              <a:ext uri="{FF2B5EF4-FFF2-40B4-BE49-F238E27FC236}">
                <a16:creationId xmlns:a16="http://schemas.microsoft.com/office/drawing/2014/main" id="{0BCB5766-16F9-821A-FBA1-9E08E05215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4648" y="2219040"/>
            <a:ext cx="5695950" cy="4162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70998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14AAC9-ACB0-49FC-A6EE-6BDA13EC5753}"/>
              </a:ext>
            </a:extLst>
          </p:cNvPr>
          <p:cNvSpPr>
            <a:spLocks noGrp="1"/>
          </p:cNvSpPr>
          <p:nvPr>
            <p:ph type="title"/>
          </p:nvPr>
        </p:nvSpPr>
        <p:spPr/>
        <p:txBody>
          <a:bodyPr>
            <a:normAutofit/>
          </a:bodyPr>
          <a:lstStyle/>
          <a:p>
            <a:r>
              <a:rPr lang="en-US" altLang="zh-CN"/>
              <a:t>02 </a:t>
            </a:r>
            <a:r>
              <a:rPr lang="zh-CN" altLang="en-US"/>
              <a:t>持续交付</a:t>
            </a:r>
          </a:p>
        </p:txBody>
      </p:sp>
      <p:sp>
        <p:nvSpPr>
          <p:cNvPr id="3" name="灯片编号占位符 2">
            <a:extLst>
              <a:ext uri="{FF2B5EF4-FFF2-40B4-BE49-F238E27FC236}">
                <a16:creationId xmlns:a16="http://schemas.microsoft.com/office/drawing/2014/main" id="{8BD995E4-EA54-46FD-A180-14744ABC5EC7}"/>
              </a:ext>
            </a:extLst>
          </p:cNvPr>
          <p:cNvSpPr>
            <a:spLocks noGrp="1"/>
          </p:cNvSpPr>
          <p:nvPr>
            <p:ph type="sldNum" sz="quarter" idx="12"/>
          </p:nvPr>
        </p:nvSpPr>
        <p:spPr/>
        <p:txBody>
          <a:bodyPr/>
          <a:lstStyle/>
          <a:p>
            <a:fld id="{1AAC388E-FA9E-4A2C-95EA-1F6B3A07935A}" type="slidenum">
              <a:rPr lang="zh-CN" altLang="en-US" sz="1400" smtClean="0">
                <a:solidFill>
                  <a:srgbClr val="000000"/>
                </a:solidFill>
              </a:rPr>
              <a:pPr/>
              <a:t>85</a:t>
            </a:fld>
            <a:endParaRPr lang="zh-CN" altLang="en-US" sz="1400">
              <a:solidFill>
                <a:srgbClr val="000000"/>
              </a:solidFill>
            </a:endParaRPr>
          </a:p>
        </p:txBody>
      </p:sp>
      <p:sp>
        <p:nvSpPr>
          <p:cNvPr id="4" name="文本框 3">
            <a:extLst>
              <a:ext uri="{FF2B5EF4-FFF2-40B4-BE49-F238E27FC236}">
                <a16:creationId xmlns:a16="http://schemas.microsoft.com/office/drawing/2014/main" id="{03FFCBBC-1D22-D39D-00F0-BECE05053EC6}"/>
              </a:ext>
            </a:extLst>
          </p:cNvPr>
          <p:cNvSpPr txBox="1"/>
          <p:nvPr/>
        </p:nvSpPr>
        <p:spPr>
          <a:xfrm>
            <a:off x="718218" y="874354"/>
            <a:ext cx="3017354"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zh-CN" altLang="en-US" dirty="0"/>
              <a:t>如何低风险发布？</a:t>
            </a:r>
          </a:p>
        </p:txBody>
      </p:sp>
      <p:sp>
        <p:nvSpPr>
          <p:cNvPr id="15" name="文本框 14">
            <a:extLst>
              <a:ext uri="{FF2B5EF4-FFF2-40B4-BE49-F238E27FC236}">
                <a16:creationId xmlns:a16="http://schemas.microsoft.com/office/drawing/2014/main" id="{64A1EEB2-3292-FA58-1477-CC6A10083E95}"/>
              </a:ext>
            </a:extLst>
          </p:cNvPr>
          <p:cNvSpPr txBox="1"/>
          <p:nvPr/>
        </p:nvSpPr>
        <p:spPr>
          <a:xfrm>
            <a:off x="2095500" y="2667000"/>
            <a:ext cx="0" cy="0"/>
          </a:xfrm>
          <a:prstGeom prst="rect">
            <a:avLst/>
          </a:prstGeom>
          <a:noFill/>
        </p:spPr>
        <p:txBody>
          <a:bodyPr wrap="none" lIns="0" tIns="0" rIns="0" bIns="0" rtlCol="0" anchor="ctr">
            <a:normAutofit fontScale="25000" lnSpcReduction="20000"/>
          </a:bodyPr>
          <a:lstStyle/>
          <a:p>
            <a:pPr algn="l">
              <a:lnSpc>
                <a:spcPct val="125000"/>
              </a:lnSpc>
              <a:spcAft>
                <a:spcPts val="500"/>
              </a:spcAft>
            </a:pPr>
            <a:endParaRPr kumimoji="1" lang="zh-CN" altLang="en-US"/>
          </a:p>
        </p:txBody>
      </p:sp>
      <p:sp>
        <p:nvSpPr>
          <p:cNvPr id="8" name="文本框 7">
            <a:extLst>
              <a:ext uri="{FF2B5EF4-FFF2-40B4-BE49-F238E27FC236}">
                <a16:creationId xmlns:a16="http://schemas.microsoft.com/office/drawing/2014/main" id="{0BC540A0-0BFC-498A-E645-A70EFE79C2CB}"/>
              </a:ext>
            </a:extLst>
          </p:cNvPr>
          <p:cNvSpPr txBox="1"/>
          <p:nvPr/>
        </p:nvSpPr>
        <p:spPr>
          <a:xfrm>
            <a:off x="1684321" y="1546697"/>
            <a:ext cx="6216650" cy="580993"/>
          </a:xfrm>
          <a:prstGeom prst="rect">
            <a:avLst/>
          </a:prstGeom>
          <a:noFill/>
        </p:spPr>
        <p:txBody>
          <a:bodyPr wrap="square">
            <a:spAutoFit/>
          </a:bodyPr>
          <a:lstStyle/>
          <a:p>
            <a:pPr marL="342900" indent="-342900" algn="l">
              <a:lnSpc>
                <a:spcPct val="125000"/>
              </a:lnSpc>
              <a:spcAft>
                <a:spcPts val="500"/>
              </a:spcAft>
              <a:buFont typeface="Arial" panose="020B0604020202020204" pitchFamily="34" charset="0"/>
              <a:buChar char="•"/>
            </a:pPr>
            <a:r>
              <a:rPr kumimoji="1" lang="zh-CN" altLang="en-US" sz="2800" dirty="0"/>
              <a:t>金丝雀发布</a:t>
            </a:r>
            <a:endParaRPr kumimoji="1" lang="en-US" altLang="zh-CN" sz="2800" dirty="0"/>
          </a:p>
        </p:txBody>
      </p:sp>
      <p:pic>
        <p:nvPicPr>
          <p:cNvPr id="20482" name="Picture 2">
            <a:extLst>
              <a:ext uri="{FF2B5EF4-FFF2-40B4-BE49-F238E27FC236}">
                <a16:creationId xmlns:a16="http://schemas.microsoft.com/office/drawing/2014/main" id="{0108284A-2F31-2F4E-FFEA-A2100EEB62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61800" y="818700"/>
            <a:ext cx="5303232" cy="6039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16869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14AAC9-ACB0-49FC-A6EE-6BDA13EC5753}"/>
              </a:ext>
            </a:extLst>
          </p:cNvPr>
          <p:cNvSpPr>
            <a:spLocks noGrp="1"/>
          </p:cNvSpPr>
          <p:nvPr>
            <p:ph type="title"/>
          </p:nvPr>
        </p:nvSpPr>
        <p:spPr/>
        <p:txBody>
          <a:bodyPr>
            <a:normAutofit/>
          </a:bodyPr>
          <a:lstStyle/>
          <a:p>
            <a:r>
              <a:rPr lang="en-US" altLang="zh-CN"/>
              <a:t>02 </a:t>
            </a:r>
            <a:r>
              <a:rPr lang="zh-CN" altLang="en-US"/>
              <a:t>持续交付</a:t>
            </a:r>
          </a:p>
        </p:txBody>
      </p:sp>
      <p:sp>
        <p:nvSpPr>
          <p:cNvPr id="3" name="灯片编号占位符 2">
            <a:extLst>
              <a:ext uri="{FF2B5EF4-FFF2-40B4-BE49-F238E27FC236}">
                <a16:creationId xmlns:a16="http://schemas.microsoft.com/office/drawing/2014/main" id="{8BD995E4-EA54-46FD-A180-14744ABC5EC7}"/>
              </a:ext>
            </a:extLst>
          </p:cNvPr>
          <p:cNvSpPr>
            <a:spLocks noGrp="1"/>
          </p:cNvSpPr>
          <p:nvPr>
            <p:ph type="sldNum" sz="quarter" idx="12"/>
          </p:nvPr>
        </p:nvSpPr>
        <p:spPr/>
        <p:txBody>
          <a:bodyPr/>
          <a:lstStyle/>
          <a:p>
            <a:fld id="{1AAC388E-FA9E-4A2C-95EA-1F6B3A07935A}" type="slidenum">
              <a:rPr lang="zh-CN" altLang="en-US" sz="1400" smtClean="0">
                <a:solidFill>
                  <a:srgbClr val="000000"/>
                </a:solidFill>
              </a:rPr>
              <a:pPr/>
              <a:t>86</a:t>
            </a:fld>
            <a:endParaRPr lang="zh-CN" altLang="en-US" sz="1400">
              <a:solidFill>
                <a:srgbClr val="000000"/>
              </a:solidFill>
            </a:endParaRPr>
          </a:p>
        </p:txBody>
      </p:sp>
      <p:sp>
        <p:nvSpPr>
          <p:cNvPr id="4" name="文本框 3">
            <a:extLst>
              <a:ext uri="{FF2B5EF4-FFF2-40B4-BE49-F238E27FC236}">
                <a16:creationId xmlns:a16="http://schemas.microsoft.com/office/drawing/2014/main" id="{03FFCBBC-1D22-D39D-00F0-BECE05053EC6}"/>
              </a:ext>
            </a:extLst>
          </p:cNvPr>
          <p:cNvSpPr txBox="1"/>
          <p:nvPr/>
        </p:nvSpPr>
        <p:spPr>
          <a:xfrm>
            <a:off x="718218" y="874354"/>
            <a:ext cx="3017354"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zh-CN" altLang="en-US" dirty="0"/>
              <a:t>如何低风险发布？</a:t>
            </a:r>
          </a:p>
        </p:txBody>
      </p:sp>
      <p:sp>
        <p:nvSpPr>
          <p:cNvPr id="15" name="文本框 14">
            <a:extLst>
              <a:ext uri="{FF2B5EF4-FFF2-40B4-BE49-F238E27FC236}">
                <a16:creationId xmlns:a16="http://schemas.microsoft.com/office/drawing/2014/main" id="{64A1EEB2-3292-FA58-1477-CC6A10083E95}"/>
              </a:ext>
            </a:extLst>
          </p:cNvPr>
          <p:cNvSpPr txBox="1"/>
          <p:nvPr/>
        </p:nvSpPr>
        <p:spPr>
          <a:xfrm>
            <a:off x="2095500" y="2667000"/>
            <a:ext cx="0" cy="0"/>
          </a:xfrm>
          <a:prstGeom prst="rect">
            <a:avLst/>
          </a:prstGeom>
          <a:noFill/>
        </p:spPr>
        <p:txBody>
          <a:bodyPr wrap="none" lIns="0" tIns="0" rIns="0" bIns="0" rtlCol="0" anchor="ctr">
            <a:normAutofit fontScale="25000" lnSpcReduction="20000"/>
          </a:bodyPr>
          <a:lstStyle/>
          <a:p>
            <a:pPr algn="l">
              <a:lnSpc>
                <a:spcPct val="125000"/>
              </a:lnSpc>
              <a:spcAft>
                <a:spcPts val="500"/>
              </a:spcAft>
            </a:pPr>
            <a:endParaRPr kumimoji="1" lang="zh-CN" altLang="en-US"/>
          </a:p>
        </p:txBody>
      </p:sp>
      <p:sp>
        <p:nvSpPr>
          <p:cNvPr id="8" name="文本框 7">
            <a:extLst>
              <a:ext uri="{FF2B5EF4-FFF2-40B4-BE49-F238E27FC236}">
                <a16:creationId xmlns:a16="http://schemas.microsoft.com/office/drawing/2014/main" id="{0BC540A0-0BFC-498A-E645-A70EFE79C2CB}"/>
              </a:ext>
            </a:extLst>
          </p:cNvPr>
          <p:cNvSpPr txBox="1"/>
          <p:nvPr/>
        </p:nvSpPr>
        <p:spPr>
          <a:xfrm>
            <a:off x="1684321" y="1546697"/>
            <a:ext cx="6216650" cy="580993"/>
          </a:xfrm>
          <a:prstGeom prst="rect">
            <a:avLst/>
          </a:prstGeom>
          <a:noFill/>
        </p:spPr>
        <p:txBody>
          <a:bodyPr wrap="square">
            <a:spAutoFit/>
          </a:bodyPr>
          <a:lstStyle/>
          <a:p>
            <a:pPr marL="342900" indent="-342900" algn="l">
              <a:lnSpc>
                <a:spcPct val="125000"/>
              </a:lnSpc>
              <a:spcAft>
                <a:spcPts val="500"/>
              </a:spcAft>
              <a:buFont typeface="Arial" panose="020B0604020202020204" pitchFamily="34" charset="0"/>
              <a:buChar char="•"/>
            </a:pPr>
            <a:r>
              <a:rPr kumimoji="1" lang="zh-CN" altLang="en-US" sz="2800" dirty="0"/>
              <a:t>滚动部署</a:t>
            </a:r>
            <a:endParaRPr kumimoji="1" lang="en-US" altLang="zh-CN" sz="2800" dirty="0"/>
          </a:p>
        </p:txBody>
      </p:sp>
      <p:pic>
        <p:nvPicPr>
          <p:cNvPr id="19458" name="Picture 2">
            <a:extLst>
              <a:ext uri="{FF2B5EF4-FFF2-40B4-BE49-F238E27FC236}">
                <a16:creationId xmlns:a16="http://schemas.microsoft.com/office/drawing/2014/main" id="{B79AC358-0B9E-121A-8E9E-3E940B351B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3914" y="745725"/>
            <a:ext cx="5484026" cy="6201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06200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14AAC9-ACB0-49FC-A6EE-6BDA13EC5753}"/>
              </a:ext>
            </a:extLst>
          </p:cNvPr>
          <p:cNvSpPr>
            <a:spLocks noGrp="1"/>
          </p:cNvSpPr>
          <p:nvPr>
            <p:ph type="title"/>
          </p:nvPr>
        </p:nvSpPr>
        <p:spPr/>
        <p:txBody>
          <a:bodyPr>
            <a:normAutofit/>
          </a:bodyPr>
          <a:lstStyle/>
          <a:p>
            <a:r>
              <a:rPr lang="en-US" altLang="zh-CN"/>
              <a:t>02 </a:t>
            </a:r>
            <a:r>
              <a:rPr lang="zh-CN" altLang="en-US"/>
              <a:t>持续交付</a:t>
            </a:r>
          </a:p>
        </p:txBody>
      </p:sp>
      <p:sp>
        <p:nvSpPr>
          <p:cNvPr id="3" name="灯片编号占位符 2">
            <a:extLst>
              <a:ext uri="{FF2B5EF4-FFF2-40B4-BE49-F238E27FC236}">
                <a16:creationId xmlns:a16="http://schemas.microsoft.com/office/drawing/2014/main" id="{8BD995E4-EA54-46FD-A180-14744ABC5EC7}"/>
              </a:ext>
            </a:extLst>
          </p:cNvPr>
          <p:cNvSpPr>
            <a:spLocks noGrp="1"/>
          </p:cNvSpPr>
          <p:nvPr>
            <p:ph type="sldNum" sz="quarter" idx="12"/>
          </p:nvPr>
        </p:nvSpPr>
        <p:spPr/>
        <p:txBody>
          <a:bodyPr/>
          <a:lstStyle/>
          <a:p>
            <a:fld id="{1AAC388E-FA9E-4A2C-95EA-1F6B3A07935A}" type="slidenum">
              <a:rPr lang="zh-CN" altLang="en-US" sz="1400" smtClean="0">
                <a:solidFill>
                  <a:srgbClr val="000000"/>
                </a:solidFill>
              </a:rPr>
              <a:pPr/>
              <a:t>87</a:t>
            </a:fld>
            <a:endParaRPr lang="zh-CN" altLang="en-US" sz="1400">
              <a:solidFill>
                <a:srgbClr val="000000"/>
              </a:solidFill>
            </a:endParaRPr>
          </a:p>
        </p:txBody>
      </p:sp>
      <p:sp>
        <p:nvSpPr>
          <p:cNvPr id="4" name="文本框 3">
            <a:extLst>
              <a:ext uri="{FF2B5EF4-FFF2-40B4-BE49-F238E27FC236}">
                <a16:creationId xmlns:a16="http://schemas.microsoft.com/office/drawing/2014/main" id="{03FFCBBC-1D22-D39D-00F0-BECE05053EC6}"/>
              </a:ext>
            </a:extLst>
          </p:cNvPr>
          <p:cNvSpPr txBox="1"/>
          <p:nvPr/>
        </p:nvSpPr>
        <p:spPr>
          <a:xfrm>
            <a:off x="718218" y="874354"/>
            <a:ext cx="3017354"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zh-CN" altLang="en-US" dirty="0"/>
              <a:t>如何低风险发布？</a:t>
            </a:r>
          </a:p>
        </p:txBody>
      </p:sp>
      <p:sp>
        <p:nvSpPr>
          <p:cNvPr id="15" name="文本框 14">
            <a:extLst>
              <a:ext uri="{FF2B5EF4-FFF2-40B4-BE49-F238E27FC236}">
                <a16:creationId xmlns:a16="http://schemas.microsoft.com/office/drawing/2014/main" id="{64A1EEB2-3292-FA58-1477-CC6A10083E95}"/>
              </a:ext>
            </a:extLst>
          </p:cNvPr>
          <p:cNvSpPr txBox="1"/>
          <p:nvPr/>
        </p:nvSpPr>
        <p:spPr>
          <a:xfrm>
            <a:off x="2095500" y="2667000"/>
            <a:ext cx="0" cy="0"/>
          </a:xfrm>
          <a:prstGeom prst="rect">
            <a:avLst/>
          </a:prstGeom>
          <a:noFill/>
        </p:spPr>
        <p:txBody>
          <a:bodyPr wrap="none" lIns="0" tIns="0" rIns="0" bIns="0" rtlCol="0" anchor="ctr">
            <a:normAutofit fontScale="25000" lnSpcReduction="20000"/>
          </a:bodyPr>
          <a:lstStyle/>
          <a:p>
            <a:pPr algn="l">
              <a:lnSpc>
                <a:spcPct val="125000"/>
              </a:lnSpc>
              <a:spcAft>
                <a:spcPts val="500"/>
              </a:spcAft>
            </a:pPr>
            <a:endParaRPr kumimoji="1" lang="zh-CN" altLang="en-US"/>
          </a:p>
        </p:txBody>
      </p:sp>
      <p:sp>
        <p:nvSpPr>
          <p:cNvPr id="8" name="文本框 7">
            <a:extLst>
              <a:ext uri="{FF2B5EF4-FFF2-40B4-BE49-F238E27FC236}">
                <a16:creationId xmlns:a16="http://schemas.microsoft.com/office/drawing/2014/main" id="{0BC540A0-0BFC-498A-E645-A70EFE79C2CB}"/>
              </a:ext>
            </a:extLst>
          </p:cNvPr>
          <p:cNvSpPr txBox="1"/>
          <p:nvPr/>
        </p:nvSpPr>
        <p:spPr>
          <a:xfrm>
            <a:off x="1684321" y="1546697"/>
            <a:ext cx="6216650" cy="580993"/>
          </a:xfrm>
          <a:prstGeom prst="rect">
            <a:avLst/>
          </a:prstGeom>
          <a:noFill/>
        </p:spPr>
        <p:txBody>
          <a:bodyPr wrap="square">
            <a:spAutoFit/>
          </a:bodyPr>
          <a:lstStyle/>
          <a:p>
            <a:pPr marL="342900" indent="-342900" algn="l">
              <a:lnSpc>
                <a:spcPct val="125000"/>
              </a:lnSpc>
              <a:spcAft>
                <a:spcPts val="500"/>
              </a:spcAft>
              <a:buFont typeface="Arial" panose="020B0604020202020204" pitchFamily="34" charset="0"/>
              <a:buChar char="•"/>
            </a:pPr>
            <a:r>
              <a:rPr kumimoji="1" lang="zh-CN" altLang="en-US" sz="2800" dirty="0"/>
              <a:t>蓝绿部署</a:t>
            </a:r>
            <a:endParaRPr kumimoji="1" lang="en-US" altLang="zh-CN" sz="2800" dirty="0"/>
          </a:p>
        </p:txBody>
      </p:sp>
      <p:pic>
        <p:nvPicPr>
          <p:cNvPr id="17412" name="Picture 4">
            <a:extLst>
              <a:ext uri="{FF2B5EF4-FFF2-40B4-BE49-F238E27FC236}">
                <a16:creationId xmlns:a16="http://schemas.microsoft.com/office/drawing/2014/main" id="{95396E4A-2D2D-4F9C-5EA1-1EAED8122A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40771" y="714122"/>
            <a:ext cx="5119666" cy="62601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28104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FC0FC0D4-A6C8-47E8-BAA5-715B9C028EB2}"/>
              </a:ext>
            </a:extLst>
          </p:cNvPr>
          <p:cNvGrpSpPr/>
          <p:nvPr/>
        </p:nvGrpSpPr>
        <p:grpSpPr>
          <a:xfrm>
            <a:off x="7027667" y="537616"/>
            <a:ext cx="6961907" cy="7021575"/>
            <a:chOff x="4038600" y="2259880"/>
            <a:chExt cx="2647060" cy="2669747"/>
          </a:xfrm>
          <a:solidFill>
            <a:srgbClr val="A6A6A6">
              <a:alpha val="20000"/>
            </a:srgbClr>
          </a:solidFill>
        </p:grpSpPr>
        <p:sp>
          <p:nvSpPr>
            <p:cNvPr id="7" name="Freeform 105">
              <a:extLst>
                <a:ext uri="{FF2B5EF4-FFF2-40B4-BE49-F238E27FC236}">
                  <a16:creationId xmlns:a16="http://schemas.microsoft.com/office/drawing/2014/main" id="{28AF72BC-74AD-45B4-8F05-BA6B70D9F02D}"/>
                </a:ext>
              </a:extLst>
            </p:cNvPr>
            <p:cNvSpPr>
              <a:spLocks noEditPoints="1"/>
            </p:cNvSpPr>
            <p:nvPr userDrawn="1"/>
          </p:nvSpPr>
          <p:spPr bwMode="auto">
            <a:xfrm>
              <a:off x="4038600" y="2259880"/>
              <a:ext cx="2647060" cy="2669747"/>
            </a:xfrm>
            <a:custGeom>
              <a:avLst/>
              <a:gdLst>
                <a:gd name="T0" fmla="*/ 142 w 283"/>
                <a:gd name="T1" fmla="*/ 0 h 283"/>
                <a:gd name="T2" fmla="*/ 283 w 283"/>
                <a:gd name="T3" fmla="*/ 142 h 283"/>
                <a:gd name="T4" fmla="*/ 142 w 283"/>
                <a:gd name="T5" fmla="*/ 283 h 283"/>
                <a:gd name="T6" fmla="*/ 0 w 283"/>
                <a:gd name="T7" fmla="*/ 142 h 283"/>
                <a:gd name="T8" fmla="*/ 142 w 283"/>
                <a:gd name="T9" fmla="*/ 0 h 283"/>
                <a:gd name="T10" fmla="*/ 142 w 283"/>
                <a:gd name="T11" fmla="*/ 6 h 283"/>
                <a:gd name="T12" fmla="*/ 6 w 283"/>
                <a:gd name="T13" fmla="*/ 142 h 283"/>
                <a:gd name="T14" fmla="*/ 142 w 283"/>
                <a:gd name="T15" fmla="*/ 277 h 283"/>
                <a:gd name="T16" fmla="*/ 278 w 283"/>
                <a:gd name="T17" fmla="*/ 142 h 283"/>
                <a:gd name="T18" fmla="*/ 142 w 283"/>
                <a:gd name="T19" fmla="*/ 6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3" h="283">
                  <a:moveTo>
                    <a:pt x="142" y="0"/>
                  </a:moveTo>
                  <a:cubicBezTo>
                    <a:pt x="220" y="0"/>
                    <a:pt x="283" y="64"/>
                    <a:pt x="283" y="142"/>
                  </a:cubicBezTo>
                  <a:cubicBezTo>
                    <a:pt x="283" y="219"/>
                    <a:pt x="220" y="283"/>
                    <a:pt x="142" y="283"/>
                  </a:cubicBezTo>
                  <a:cubicBezTo>
                    <a:pt x="64" y="283"/>
                    <a:pt x="0" y="219"/>
                    <a:pt x="0" y="142"/>
                  </a:cubicBezTo>
                  <a:cubicBezTo>
                    <a:pt x="0" y="64"/>
                    <a:pt x="64" y="0"/>
                    <a:pt x="142" y="0"/>
                  </a:cubicBezTo>
                  <a:moveTo>
                    <a:pt x="142" y="6"/>
                  </a:moveTo>
                  <a:cubicBezTo>
                    <a:pt x="67" y="6"/>
                    <a:pt x="6" y="67"/>
                    <a:pt x="6" y="142"/>
                  </a:cubicBezTo>
                  <a:cubicBezTo>
                    <a:pt x="6" y="216"/>
                    <a:pt x="67" y="277"/>
                    <a:pt x="142" y="277"/>
                  </a:cubicBezTo>
                  <a:cubicBezTo>
                    <a:pt x="217" y="277"/>
                    <a:pt x="278" y="216"/>
                    <a:pt x="278" y="142"/>
                  </a:cubicBezTo>
                  <a:cubicBezTo>
                    <a:pt x="278" y="67"/>
                    <a:pt x="217" y="6"/>
                    <a:pt x="142" y="6"/>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8" name="Freeform 106">
              <a:extLst>
                <a:ext uri="{FF2B5EF4-FFF2-40B4-BE49-F238E27FC236}">
                  <a16:creationId xmlns:a16="http://schemas.microsoft.com/office/drawing/2014/main" id="{555ED1DD-D4F5-46C3-B866-E59F33712323}"/>
                </a:ext>
              </a:extLst>
            </p:cNvPr>
            <p:cNvSpPr>
              <a:spLocks/>
            </p:cNvSpPr>
            <p:nvPr userDrawn="1"/>
          </p:nvSpPr>
          <p:spPr bwMode="auto">
            <a:xfrm>
              <a:off x="4636079" y="2857359"/>
              <a:ext cx="1459664" cy="1308403"/>
            </a:xfrm>
            <a:custGeom>
              <a:avLst/>
              <a:gdLst>
                <a:gd name="T0" fmla="*/ 28 w 156"/>
                <a:gd name="T1" fmla="*/ 139 h 139"/>
                <a:gd name="T2" fmla="*/ 7 w 156"/>
                <a:gd name="T3" fmla="*/ 112 h 139"/>
                <a:gd name="T4" fmla="*/ 0 w 156"/>
                <a:gd name="T5" fmla="*/ 79 h 139"/>
                <a:gd name="T6" fmla="*/ 78 w 156"/>
                <a:gd name="T7" fmla="*/ 0 h 139"/>
                <a:gd name="T8" fmla="*/ 156 w 156"/>
                <a:gd name="T9" fmla="*/ 79 h 139"/>
                <a:gd name="T10" fmla="*/ 149 w 156"/>
                <a:gd name="T11" fmla="*/ 112 h 139"/>
                <a:gd name="T12" fmla="*/ 128 w 156"/>
                <a:gd name="T13" fmla="*/ 139 h 139"/>
                <a:gd name="T14" fmla="*/ 126 w 156"/>
                <a:gd name="T15" fmla="*/ 137 h 139"/>
                <a:gd name="T16" fmla="*/ 146 w 156"/>
                <a:gd name="T17" fmla="*/ 111 h 139"/>
                <a:gd name="T18" fmla="*/ 153 w 156"/>
                <a:gd name="T19" fmla="*/ 79 h 139"/>
                <a:gd name="T20" fmla="*/ 78 w 156"/>
                <a:gd name="T21" fmla="*/ 3 h 139"/>
                <a:gd name="T22" fmla="*/ 3 w 156"/>
                <a:gd name="T23" fmla="*/ 79 h 139"/>
                <a:gd name="T24" fmla="*/ 10 w 156"/>
                <a:gd name="T25" fmla="*/ 111 h 139"/>
                <a:gd name="T26" fmla="*/ 30 w 156"/>
                <a:gd name="T27" fmla="*/ 137 h 139"/>
                <a:gd name="T28" fmla="*/ 28 w 156"/>
                <a:gd name="T29" fmla="*/ 13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6" h="139">
                  <a:moveTo>
                    <a:pt x="28" y="139"/>
                  </a:moveTo>
                  <a:cubicBezTo>
                    <a:pt x="19" y="132"/>
                    <a:pt x="12" y="122"/>
                    <a:pt x="7" y="112"/>
                  </a:cubicBezTo>
                  <a:cubicBezTo>
                    <a:pt x="2" y="102"/>
                    <a:pt x="0" y="90"/>
                    <a:pt x="0" y="79"/>
                  </a:cubicBezTo>
                  <a:cubicBezTo>
                    <a:pt x="0" y="36"/>
                    <a:pt x="35" y="0"/>
                    <a:pt x="78" y="0"/>
                  </a:cubicBezTo>
                  <a:cubicBezTo>
                    <a:pt x="121" y="0"/>
                    <a:pt x="156" y="36"/>
                    <a:pt x="156" y="79"/>
                  </a:cubicBezTo>
                  <a:cubicBezTo>
                    <a:pt x="156" y="90"/>
                    <a:pt x="153" y="102"/>
                    <a:pt x="149" y="112"/>
                  </a:cubicBezTo>
                  <a:cubicBezTo>
                    <a:pt x="144" y="122"/>
                    <a:pt x="136" y="132"/>
                    <a:pt x="128" y="139"/>
                  </a:cubicBezTo>
                  <a:cubicBezTo>
                    <a:pt x="126" y="137"/>
                    <a:pt x="126" y="137"/>
                    <a:pt x="126" y="137"/>
                  </a:cubicBezTo>
                  <a:cubicBezTo>
                    <a:pt x="134" y="130"/>
                    <a:pt x="141" y="121"/>
                    <a:pt x="146" y="111"/>
                  </a:cubicBezTo>
                  <a:cubicBezTo>
                    <a:pt x="151" y="101"/>
                    <a:pt x="153" y="90"/>
                    <a:pt x="153" y="79"/>
                  </a:cubicBezTo>
                  <a:cubicBezTo>
                    <a:pt x="153" y="37"/>
                    <a:pt x="119" y="3"/>
                    <a:pt x="78" y="3"/>
                  </a:cubicBezTo>
                  <a:cubicBezTo>
                    <a:pt x="36" y="3"/>
                    <a:pt x="3" y="37"/>
                    <a:pt x="3" y="79"/>
                  </a:cubicBezTo>
                  <a:cubicBezTo>
                    <a:pt x="3" y="90"/>
                    <a:pt x="5" y="101"/>
                    <a:pt x="10" y="111"/>
                  </a:cubicBezTo>
                  <a:cubicBezTo>
                    <a:pt x="14" y="121"/>
                    <a:pt x="21" y="130"/>
                    <a:pt x="30" y="137"/>
                  </a:cubicBezTo>
                  <a:lnTo>
                    <a:pt x="28" y="13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9" name="Freeform 107">
              <a:extLst>
                <a:ext uri="{FF2B5EF4-FFF2-40B4-BE49-F238E27FC236}">
                  <a16:creationId xmlns:a16="http://schemas.microsoft.com/office/drawing/2014/main" id="{AA90CDC0-0076-4B09-AFB0-D265A2CCC99D}"/>
                </a:ext>
              </a:extLst>
            </p:cNvPr>
            <p:cNvSpPr>
              <a:spLocks/>
            </p:cNvSpPr>
            <p:nvPr userDrawn="1"/>
          </p:nvSpPr>
          <p:spPr bwMode="auto">
            <a:xfrm>
              <a:off x="4174734" y="3825426"/>
              <a:ext cx="302521" cy="219328"/>
            </a:xfrm>
            <a:custGeom>
              <a:avLst/>
              <a:gdLst>
                <a:gd name="T0" fmla="*/ 8 w 40"/>
                <a:gd name="T1" fmla="*/ 29 h 29"/>
                <a:gd name="T2" fmla="*/ 0 w 40"/>
                <a:gd name="T3" fmla="*/ 10 h 29"/>
                <a:gd name="T4" fmla="*/ 4 w 40"/>
                <a:gd name="T5" fmla="*/ 9 h 29"/>
                <a:gd name="T6" fmla="*/ 35 w 40"/>
                <a:gd name="T7" fmla="*/ 14 h 29"/>
                <a:gd name="T8" fmla="*/ 30 w 40"/>
                <a:gd name="T9" fmla="*/ 1 h 29"/>
                <a:gd name="T10" fmla="*/ 34 w 40"/>
                <a:gd name="T11" fmla="*/ 0 h 29"/>
                <a:gd name="T12" fmla="*/ 40 w 40"/>
                <a:gd name="T13" fmla="*/ 16 h 29"/>
                <a:gd name="T14" fmla="*/ 36 w 40"/>
                <a:gd name="T15" fmla="*/ 17 h 29"/>
                <a:gd name="T16" fmla="*/ 7 w 40"/>
                <a:gd name="T17" fmla="*/ 14 h 29"/>
                <a:gd name="T18" fmla="*/ 12 w 40"/>
                <a:gd name="T19" fmla="*/ 27 h 29"/>
                <a:gd name="T20" fmla="*/ 8 w 40"/>
                <a:gd name="T21"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29">
                  <a:moveTo>
                    <a:pt x="8" y="29"/>
                  </a:moveTo>
                  <a:lnTo>
                    <a:pt x="0" y="10"/>
                  </a:lnTo>
                  <a:lnTo>
                    <a:pt x="4" y="9"/>
                  </a:lnTo>
                  <a:lnTo>
                    <a:pt x="35" y="14"/>
                  </a:lnTo>
                  <a:lnTo>
                    <a:pt x="30" y="1"/>
                  </a:lnTo>
                  <a:lnTo>
                    <a:pt x="34" y="0"/>
                  </a:lnTo>
                  <a:lnTo>
                    <a:pt x="40" y="16"/>
                  </a:lnTo>
                  <a:lnTo>
                    <a:pt x="36" y="17"/>
                  </a:lnTo>
                  <a:lnTo>
                    <a:pt x="7" y="14"/>
                  </a:lnTo>
                  <a:lnTo>
                    <a:pt x="12" y="27"/>
                  </a:lnTo>
                  <a:lnTo>
                    <a:pt x="8" y="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0" name="Freeform 108">
              <a:extLst>
                <a:ext uri="{FF2B5EF4-FFF2-40B4-BE49-F238E27FC236}">
                  <a16:creationId xmlns:a16="http://schemas.microsoft.com/office/drawing/2014/main" id="{3EE14156-837C-44BA-ACC8-01623B20DD6E}"/>
                </a:ext>
              </a:extLst>
            </p:cNvPr>
            <p:cNvSpPr>
              <a:spLocks/>
            </p:cNvSpPr>
            <p:nvPr userDrawn="1"/>
          </p:nvSpPr>
          <p:spPr bwMode="auto">
            <a:xfrm>
              <a:off x="4265491" y="3984249"/>
              <a:ext cx="287395" cy="234454"/>
            </a:xfrm>
            <a:custGeom>
              <a:avLst/>
              <a:gdLst>
                <a:gd name="T0" fmla="*/ 7 w 38"/>
                <a:gd name="T1" fmla="*/ 31 h 31"/>
                <a:gd name="T2" fmla="*/ 6 w 38"/>
                <a:gd name="T3" fmla="*/ 28 h 31"/>
                <a:gd name="T4" fmla="*/ 19 w 38"/>
                <a:gd name="T5" fmla="*/ 21 h 31"/>
                <a:gd name="T6" fmla="*/ 14 w 38"/>
                <a:gd name="T7" fmla="*/ 11 h 31"/>
                <a:gd name="T8" fmla="*/ 1 w 38"/>
                <a:gd name="T9" fmla="*/ 19 h 31"/>
                <a:gd name="T10" fmla="*/ 0 w 38"/>
                <a:gd name="T11" fmla="*/ 15 h 31"/>
                <a:gd name="T12" fmla="*/ 29 w 38"/>
                <a:gd name="T13" fmla="*/ 0 h 31"/>
                <a:gd name="T14" fmla="*/ 32 w 38"/>
                <a:gd name="T15" fmla="*/ 4 h 31"/>
                <a:gd name="T16" fmla="*/ 18 w 38"/>
                <a:gd name="T17" fmla="*/ 10 h 31"/>
                <a:gd name="T18" fmla="*/ 23 w 38"/>
                <a:gd name="T19" fmla="*/ 19 h 31"/>
                <a:gd name="T20" fmla="*/ 35 w 38"/>
                <a:gd name="T21" fmla="*/ 13 h 31"/>
                <a:gd name="T22" fmla="*/ 38 w 38"/>
                <a:gd name="T23" fmla="*/ 16 h 31"/>
                <a:gd name="T24" fmla="*/ 7 w 38"/>
                <a:gd name="T25"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1">
                  <a:moveTo>
                    <a:pt x="7" y="31"/>
                  </a:moveTo>
                  <a:lnTo>
                    <a:pt x="6" y="28"/>
                  </a:lnTo>
                  <a:lnTo>
                    <a:pt x="19" y="21"/>
                  </a:lnTo>
                  <a:lnTo>
                    <a:pt x="14" y="11"/>
                  </a:lnTo>
                  <a:lnTo>
                    <a:pt x="1" y="19"/>
                  </a:lnTo>
                  <a:lnTo>
                    <a:pt x="0" y="15"/>
                  </a:lnTo>
                  <a:lnTo>
                    <a:pt x="29" y="0"/>
                  </a:lnTo>
                  <a:lnTo>
                    <a:pt x="32" y="4"/>
                  </a:lnTo>
                  <a:lnTo>
                    <a:pt x="18" y="10"/>
                  </a:lnTo>
                  <a:lnTo>
                    <a:pt x="23" y="19"/>
                  </a:lnTo>
                  <a:lnTo>
                    <a:pt x="35" y="13"/>
                  </a:lnTo>
                  <a:lnTo>
                    <a:pt x="38" y="16"/>
                  </a:lnTo>
                  <a:lnTo>
                    <a:pt x="7" y="3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1" name="Freeform 109">
              <a:extLst>
                <a:ext uri="{FF2B5EF4-FFF2-40B4-BE49-F238E27FC236}">
                  <a16:creationId xmlns:a16="http://schemas.microsoft.com/office/drawing/2014/main" id="{86E332B9-0744-461B-B817-F3E69A78F0BC}"/>
                </a:ext>
              </a:extLst>
            </p:cNvPr>
            <p:cNvSpPr>
              <a:spLocks/>
            </p:cNvSpPr>
            <p:nvPr userDrawn="1"/>
          </p:nvSpPr>
          <p:spPr bwMode="auto">
            <a:xfrm>
              <a:off x="4348684" y="4120384"/>
              <a:ext cx="287395" cy="249580"/>
            </a:xfrm>
            <a:custGeom>
              <a:avLst/>
              <a:gdLst>
                <a:gd name="T0" fmla="*/ 11 w 38"/>
                <a:gd name="T1" fmla="*/ 33 h 33"/>
                <a:gd name="T2" fmla="*/ 0 w 38"/>
                <a:gd name="T3" fmla="*/ 18 h 33"/>
                <a:gd name="T4" fmla="*/ 28 w 38"/>
                <a:gd name="T5" fmla="*/ 0 h 33"/>
                <a:gd name="T6" fmla="*/ 38 w 38"/>
                <a:gd name="T7" fmla="*/ 15 h 33"/>
                <a:gd name="T8" fmla="*/ 36 w 38"/>
                <a:gd name="T9" fmla="*/ 17 h 33"/>
                <a:gd name="T10" fmla="*/ 27 w 38"/>
                <a:gd name="T11" fmla="*/ 6 h 33"/>
                <a:gd name="T12" fmla="*/ 18 w 38"/>
                <a:gd name="T13" fmla="*/ 11 h 33"/>
                <a:gd name="T14" fmla="*/ 26 w 38"/>
                <a:gd name="T15" fmla="*/ 21 h 33"/>
                <a:gd name="T16" fmla="*/ 23 w 38"/>
                <a:gd name="T17" fmla="*/ 23 h 33"/>
                <a:gd name="T18" fmla="*/ 16 w 38"/>
                <a:gd name="T19" fmla="*/ 13 h 33"/>
                <a:gd name="T20" fmla="*/ 6 w 38"/>
                <a:gd name="T21" fmla="*/ 20 h 33"/>
                <a:gd name="T22" fmla="*/ 13 w 38"/>
                <a:gd name="T23" fmla="*/ 31 h 33"/>
                <a:gd name="T24" fmla="*/ 11 w 38"/>
                <a:gd name="T25"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3">
                  <a:moveTo>
                    <a:pt x="11" y="33"/>
                  </a:moveTo>
                  <a:lnTo>
                    <a:pt x="0" y="18"/>
                  </a:lnTo>
                  <a:lnTo>
                    <a:pt x="28" y="0"/>
                  </a:lnTo>
                  <a:lnTo>
                    <a:pt x="38" y="15"/>
                  </a:lnTo>
                  <a:lnTo>
                    <a:pt x="36" y="17"/>
                  </a:lnTo>
                  <a:lnTo>
                    <a:pt x="27" y="6"/>
                  </a:lnTo>
                  <a:lnTo>
                    <a:pt x="18" y="11"/>
                  </a:lnTo>
                  <a:lnTo>
                    <a:pt x="26" y="21"/>
                  </a:lnTo>
                  <a:lnTo>
                    <a:pt x="23" y="23"/>
                  </a:lnTo>
                  <a:lnTo>
                    <a:pt x="16" y="13"/>
                  </a:lnTo>
                  <a:lnTo>
                    <a:pt x="6" y="20"/>
                  </a:lnTo>
                  <a:lnTo>
                    <a:pt x="13" y="31"/>
                  </a:lnTo>
                  <a:lnTo>
                    <a:pt x="11" y="3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2" name="Freeform 110">
              <a:extLst>
                <a:ext uri="{FF2B5EF4-FFF2-40B4-BE49-F238E27FC236}">
                  <a16:creationId xmlns:a16="http://schemas.microsoft.com/office/drawing/2014/main" id="{E396D3E2-4CBF-4F42-821E-440470D12688}"/>
                </a:ext>
              </a:extLst>
            </p:cNvPr>
            <p:cNvSpPr>
              <a:spLocks/>
            </p:cNvSpPr>
            <p:nvPr userDrawn="1"/>
          </p:nvSpPr>
          <p:spPr bwMode="auto">
            <a:xfrm>
              <a:off x="4583138" y="4332148"/>
              <a:ext cx="181513" cy="219328"/>
            </a:xfrm>
            <a:custGeom>
              <a:avLst/>
              <a:gdLst>
                <a:gd name="T0" fmla="*/ 3 w 24"/>
                <a:gd name="T1" fmla="*/ 29 h 29"/>
                <a:gd name="T2" fmla="*/ 0 w 24"/>
                <a:gd name="T3" fmla="*/ 26 h 29"/>
                <a:gd name="T4" fmla="*/ 21 w 24"/>
                <a:gd name="T5" fmla="*/ 0 h 29"/>
                <a:gd name="T6" fmla="*/ 24 w 24"/>
                <a:gd name="T7" fmla="*/ 3 h 29"/>
                <a:gd name="T8" fmla="*/ 3 w 24"/>
                <a:gd name="T9" fmla="*/ 29 h 29"/>
              </a:gdLst>
              <a:ahLst/>
              <a:cxnLst>
                <a:cxn ang="0">
                  <a:pos x="T0" y="T1"/>
                </a:cxn>
                <a:cxn ang="0">
                  <a:pos x="T2" y="T3"/>
                </a:cxn>
                <a:cxn ang="0">
                  <a:pos x="T4" y="T5"/>
                </a:cxn>
                <a:cxn ang="0">
                  <a:pos x="T6" y="T7"/>
                </a:cxn>
                <a:cxn ang="0">
                  <a:pos x="T8" y="T9"/>
                </a:cxn>
              </a:cxnLst>
              <a:rect l="0" t="0" r="r" b="b"/>
              <a:pathLst>
                <a:path w="24" h="29">
                  <a:moveTo>
                    <a:pt x="3" y="29"/>
                  </a:moveTo>
                  <a:lnTo>
                    <a:pt x="0" y="26"/>
                  </a:lnTo>
                  <a:lnTo>
                    <a:pt x="21" y="0"/>
                  </a:lnTo>
                  <a:lnTo>
                    <a:pt x="24" y="3"/>
                  </a:lnTo>
                  <a:lnTo>
                    <a:pt x="3" y="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3" name="Freeform 111">
              <a:extLst>
                <a:ext uri="{FF2B5EF4-FFF2-40B4-BE49-F238E27FC236}">
                  <a16:creationId xmlns:a16="http://schemas.microsoft.com/office/drawing/2014/main" id="{9C971085-45ED-433E-80F0-37B3662B8494}"/>
                </a:ext>
              </a:extLst>
            </p:cNvPr>
            <p:cNvSpPr>
              <a:spLocks noEditPoints="1"/>
            </p:cNvSpPr>
            <p:nvPr userDrawn="1"/>
          </p:nvSpPr>
          <p:spPr bwMode="auto">
            <a:xfrm>
              <a:off x="4643642" y="4392652"/>
              <a:ext cx="219328" cy="264706"/>
            </a:xfrm>
            <a:custGeom>
              <a:avLst/>
              <a:gdLst>
                <a:gd name="T0" fmla="*/ 11 w 29"/>
                <a:gd name="T1" fmla="*/ 32 h 35"/>
                <a:gd name="T2" fmla="*/ 16 w 29"/>
                <a:gd name="T3" fmla="*/ 23 h 35"/>
                <a:gd name="T4" fmla="*/ 11 w 29"/>
                <a:gd name="T5" fmla="*/ 20 h 35"/>
                <a:gd name="T6" fmla="*/ 3 w 29"/>
                <a:gd name="T7" fmla="*/ 27 h 35"/>
                <a:gd name="T8" fmla="*/ 0 w 29"/>
                <a:gd name="T9" fmla="*/ 25 h 35"/>
                <a:gd name="T10" fmla="*/ 24 w 29"/>
                <a:gd name="T11" fmla="*/ 0 h 35"/>
                <a:gd name="T12" fmla="*/ 29 w 29"/>
                <a:gd name="T13" fmla="*/ 2 h 35"/>
                <a:gd name="T14" fmla="*/ 16 w 29"/>
                <a:gd name="T15" fmla="*/ 35 h 35"/>
                <a:gd name="T16" fmla="*/ 11 w 29"/>
                <a:gd name="T17" fmla="*/ 32 h 35"/>
                <a:gd name="T18" fmla="*/ 19 w 29"/>
                <a:gd name="T19" fmla="*/ 18 h 35"/>
                <a:gd name="T20" fmla="*/ 24 w 29"/>
                <a:gd name="T21" fmla="*/ 7 h 35"/>
                <a:gd name="T22" fmla="*/ 23 w 29"/>
                <a:gd name="T23" fmla="*/ 6 h 35"/>
                <a:gd name="T24" fmla="*/ 14 w 29"/>
                <a:gd name="T25" fmla="*/ 16 h 35"/>
                <a:gd name="T26" fmla="*/ 19 w 29"/>
                <a:gd name="T2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35">
                  <a:moveTo>
                    <a:pt x="11" y="32"/>
                  </a:moveTo>
                  <a:lnTo>
                    <a:pt x="16" y="23"/>
                  </a:lnTo>
                  <a:lnTo>
                    <a:pt x="11" y="20"/>
                  </a:lnTo>
                  <a:lnTo>
                    <a:pt x="3" y="27"/>
                  </a:lnTo>
                  <a:lnTo>
                    <a:pt x="0" y="25"/>
                  </a:lnTo>
                  <a:lnTo>
                    <a:pt x="24" y="0"/>
                  </a:lnTo>
                  <a:lnTo>
                    <a:pt x="29" y="2"/>
                  </a:lnTo>
                  <a:lnTo>
                    <a:pt x="16" y="35"/>
                  </a:lnTo>
                  <a:lnTo>
                    <a:pt x="11" y="32"/>
                  </a:lnTo>
                  <a:close/>
                  <a:moveTo>
                    <a:pt x="19" y="18"/>
                  </a:moveTo>
                  <a:lnTo>
                    <a:pt x="24" y="7"/>
                  </a:lnTo>
                  <a:lnTo>
                    <a:pt x="23" y="6"/>
                  </a:lnTo>
                  <a:lnTo>
                    <a:pt x="14" y="16"/>
                  </a:lnTo>
                  <a:lnTo>
                    <a:pt x="19" y="1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4" name="Freeform 112">
              <a:extLst>
                <a:ext uri="{FF2B5EF4-FFF2-40B4-BE49-F238E27FC236}">
                  <a16:creationId xmlns:a16="http://schemas.microsoft.com/office/drawing/2014/main" id="{11025A9F-5DCF-4A13-A4B0-D422B1334C5F}"/>
                </a:ext>
              </a:extLst>
            </p:cNvPr>
            <p:cNvSpPr>
              <a:spLocks/>
            </p:cNvSpPr>
            <p:nvPr userDrawn="1"/>
          </p:nvSpPr>
          <p:spPr bwMode="auto">
            <a:xfrm>
              <a:off x="4794903" y="4438031"/>
              <a:ext cx="242017" cy="294958"/>
            </a:xfrm>
            <a:custGeom>
              <a:avLst/>
              <a:gdLst>
                <a:gd name="T0" fmla="*/ 16 w 32"/>
                <a:gd name="T1" fmla="*/ 39 h 39"/>
                <a:gd name="T2" fmla="*/ 13 w 32"/>
                <a:gd name="T3" fmla="*/ 36 h 39"/>
                <a:gd name="T4" fmla="*/ 15 w 32"/>
                <a:gd name="T5" fmla="*/ 12 h 39"/>
                <a:gd name="T6" fmla="*/ 5 w 32"/>
                <a:gd name="T7" fmla="*/ 32 h 39"/>
                <a:gd name="T8" fmla="*/ 0 w 32"/>
                <a:gd name="T9" fmla="*/ 30 h 39"/>
                <a:gd name="T10" fmla="*/ 16 w 32"/>
                <a:gd name="T11" fmla="*/ 0 h 39"/>
                <a:gd name="T12" fmla="*/ 20 w 32"/>
                <a:gd name="T13" fmla="*/ 1 h 39"/>
                <a:gd name="T14" fmla="*/ 19 w 32"/>
                <a:gd name="T15" fmla="*/ 25 h 39"/>
                <a:gd name="T16" fmla="*/ 29 w 32"/>
                <a:gd name="T17" fmla="*/ 5 h 39"/>
                <a:gd name="T18" fmla="*/ 32 w 32"/>
                <a:gd name="T19" fmla="*/ 7 h 39"/>
                <a:gd name="T20" fmla="*/ 16 w 32"/>
                <a:gd name="T21"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39">
                  <a:moveTo>
                    <a:pt x="16" y="39"/>
                  </a:moveTo>
                  <a:lnTo>
                    <a:pt x="13" y="36"/>
                  </a:lnTo>
                  <a:lnTo>
                    <a:pt x="15" y="12"/>
                  </a:lnTo>
                  <a:lnTo>
                    <a:pt x="5" y="32"/>
                  </a:lnTo>
                  <a:lnTo>
                    <a:pt x="0" y="30"/>
                  </a:lnTo>
                  <a:lnTo>
                    <a:pt x="16" y="0"/>
                  </a:lnTo>
                  <a:lnTo>
                    <a:pt x="20" y="1"/>
                  </a:lnTo>
                  <a:lnTo>
                    <a:pt x="19" y="25"/>
                  </a:lnTo>
                  <a:lnTo>
                    <a:pt x="29" y="5"/>
                  </a:lnTo>
                  <a:lnTo>
                    <a:pt x="32" y="7"/>
                  </a:lnTo>
                  <a:lnTo>
                    <a:pt x="16" y="3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5" name="Freeform 113">
              <a:extLst>
                <a:ext uri="{FF2B5EF4-FFF2-40B4-BE49-F238E27FC236}">
                  <a16:creationId xmlns:a16="http://schemas.microsoft.com/office/drawing/2014/main" id="{78B08F5A-3537-4369-8A77-CCB172E924F5}"/>
                </a:ext>
              </a:extLst>
            </p:cNvPr>
            <p:cNvSpPr>
              <a:spLocks/>
            </p:cNvSpPr>
            <p:nvPr userDrawn="1"/>
          </p:nvSpPr>
          <p:spPr bwMode="auto">
            <a:xfrm>
              <a:off x="4983978" y="4506098"/>
              <a:ext cx="173950" cy="272269"/>
            </a:xfrm>
            <a:custGeom>
              <a:avLst/>
              <a:gdLst>
                <a:gd name="T0" fmla="*/ 12 w 19"/>
                <a:gd name="T1" fmla="*/ 29 h 29"/>
                <a:gd name="T2" fmla="*/ 10 w 19"/>
                <a:gd name="T3" fmla="*/ 29 h 29"/>
                <a:gd name="T4" fmla="*/ 10 w 19"/>
                <a:gd name="T5" fmla="*/ 26 h 29"/>
                <a:gd name="T6" fmla="*/ 8 w 19"/>
                <a:gd name="T7" fmla="*/ 27 h 29"/>
                <a:gd name="T8" fmla="*/ 5 w 19"/>
                <a:gd name="T9" fmla="*/ 27 h 29"/>
                <a:gd name="T10" fmla="*/ 1 w 19"/>
                <a:gd name="T11" fmla="*/ 23 h 29"/>
                <a:gd name="T12" fmla="*/ 1 w 19"/>
                <a:gd name="T13" fmla="*/ 13 h 29"/>
                <a:gd name="T14" fmla="*/ 6 w 19"/>
                <a:gd name="T15" fmla="*/ 3 h 29"/>
                <a:gd name="T16" fmla="*/ 14 w 19"/>
                <a:gd name="T17" fmla="*/ 1 h 29"/>
                <a:gd name="T18" fmla="*/ 18 w 19"/>
                <a:gd name="T19" fmla="*/ 11 h 29"/>
                <a:gd name="T20" fmla="*/ 15 w 19"/>
                <a:gd name="T21" fmla="*/ 11 h 29"/>
                <a:gd name="T22" fmla="*/ 13 w 19"/>
                <a:gd name="T23" fmla="*/ 4 h 29"/>
                <a:gd name="T24" fmla="*/ 8 w 19"/>
                <a:gd name="T25" fmla="*/ 6 h 29"/>
                <a:gd name="T26" fmla="*/ 5 w 19"/>
                <a:gd name="T27" fmla="*/ 14 h 29"/>
                <a:gd name="T28" fmla="*/ 4 w 19"/>
                <a:gd name="T29" fmla="*/ 21 h 29"/>
                <a:gd name="T30" fmla="*/ 6 w 19"/>
                <a:gd name="T31" fmla="*/ 24 h 29"/>
                <a:gd name="T32" fmla="*/ 9 w 19"/>
                <a:gd name="T33" fmla="*/ 24 h 29"/>
                <a:gd name="T34" fmla="*/ 12 w 19"/>
                <a:gd name="T35" fmla="*/ 20 h 29"/>
                <a:gd name="T36" fmla="*/ 12 w 19"/>
                <a:gd name="T37" fmla="*/ 18 h 29"/>
                <a:gd name="T38" fmla="*/ 8 w 19"/>
                <a:gd name="T39" fmla="*/ 17 h 29"/>
                <a:gd name="T40" fmla="*/ 9 w 19"/>
                <a:gd name="T41" fmla="*/ 14 h 29"/>
                <a:gd name="T42" fmla="*/ 16 w 19"/>
                <a:gd name="T43" fmla="*/ 17 h 29"/>
                <a:gd name="T44" fmla="*/ 12 w 19"/>
                <a:gd name="T45"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29">
                  <a:moveTo>
                    <a:pt x="12" y="29"/>
                  </a:moveTo>
                  <a:cubicBezTo>
                    <a:pt x="10" y="29"/>
                    <a:pt x="10" y="29"/>
                    <a:pt x="10" y="29"/>
                  </a:cubicBezTo>
                  <a:cubicBezTo>
                    <a:pt x="10" y="26"/>
                    <a:pt x="10" y="26"/>
                    <a:pt x="10" y="26"/>
                  </a:cubicBezTo>
                  <a:cubicBezTo>
                    <a:pt x="9" y="27"/>
                    <a:pt x="9" y="27"/>
                    <a:pt x="8" y="27"/>
                  </a:cubicBezTo>
                  <a:cubicBezTo>
                    <a:pt x="7" y="27"/>
                    <a:pt x="6" y="27"/>
                    <a:pt x="5" y="27"/>
                  </a:cubicBezTo>
                  <a:cubicBezTo>
                    <a:pt x="3" y="26"/>
                    <a:pt x="2" y="25"/>
                    <a:pt x="1" y="23"/>
                  </a:cubicBezTo>
                  <a:cubicBezTo>
                    <a:pt x="0" y="20"/>
                    <a:pt x="0" y="17"/>
                    <a:pt x="1" y="13"/>
                  </a:cubicBezTo>
                  <a:cubicBezTo>
                    <a:pt x="3" y="8"/>
                    <a:pt x="4" y="5"/>
                    <a:pt x="6" y="3"/>
                  </a:cubicBezTo>
                  <a:cubicBezTo>
                    <a:pt x="9" y="1"/>
                    <a:pt x="12" y="0"/>
                    <a:pt x="14" y="1"/>
                  </a:cubicBezTo>
                  <a:cubicBezTo>
                    <a:pt x="17" y="2"/>
                    <a:pt x="19" y="6"/>
                    <a:pt x="18" y="11"/>
                  </a:cubicBezTo>
                  <a:cubicBezTo>
                    <a:pt x="15" y="11"/>
                    <a:pt x="15" y="11"/>
                    <a:pt x="15" y="11"/>
                  </a:cubicBezTo>
                  <a:cubicBezTo>
                    <a:pt x="16" y="9"/>
                    <a:pt x="15" y="5"/>
                    <a:pt x="13" y="4"/>
                  </a:cubicBezTo>
                  <a:cubicBezTo>
                    <a:pt x="11" y="4"/>
                    <a:pt x="9" y="4"/>
                    <a:pt x="8" y="6"/>
                  </a:cubicBezTo>
                  <a:cubicBezTo>
                    <a:pt x="7" y="7"/>
                    <a:pt x="6" y="10"/>
                    <a:pt x="5" y="14"/>
                  </a:cubicBezTo>
                  <a:cubicBezTo>
                    <a:pt x="4" y="17"/>
                    <a:pt x="3" y="20"/>
                    <a:pt x="4" y="21"/>
                  </a:cubicBezTo>
                  <a:cubicBezTo>
                    <a:pt x="4" y="23"/>
                    <a:pt x="5" y="24"/>
                    <a:pt x="6" y="24"/>
                  </a:cubicBezTo>
                  <a:cubicBezTo>
                    <a:pt x="7" y="25"/>
                    <a:pt x="9" y="25"/>
                    <a:pt x="9" y="24"/>
                  </a:cubicBezTo>
                  <a:cubicBezTo>
                    <a:pt x="10" y="23"/>
                    <a:pt x="11" y="22"/>
                    <a:pt x="12" y="20"/>
                  </a:cubicBezTo>
                  <a:cubicBezTo>
                    <a:pt x="12" y="18"/>
                    <a:pt x="12" y="18"/>
                    <a:pt x="12" y="18"/>
                  </a:cubicBezTo>
                  <a:cubicBezTo>
                    <a:pt x="8" y="17"/>
                    <a:pt x="8" y="17"/>
                    <a:pt x="8" y="17"/>
                  </a:cubicBezTo>
                  <a:cubicBezTo>
                    <a:pt x="9" y="14"/>
                    <a:pt x="9" y="14"/>
                    <a:pt x="9" y="14"/>
                  </a:cubicBezTo>
                  <a:cubicBezTo>
                    <a:pt x="16" y="17"/>
                    <a:pt x="16" y="17"/>
                    <a:pt x="16" y="17"/>
                  </a:cubicBezTo>
                  <a:lnTo>
                    <a:pt x="12" y="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6" name="Freeform 114">
              <a:extLst>
                <a:ext uri="{FF2B5EF4-FFF2-40B4-BE49-F238E27FC236}">
                  <a16:creationId xmlns:a16="http://schemas.microsoft.com/office/drawing/2014/main" id="{089965BE-4DD1-4D4B-A00B-645C37FD3112}"/>
                </a:ext>
              </a:extLst>
            </p:cNvPr>
            <p:cNvSpPr>
              <a:spLocks/>
            </p:cNvSpPr>
            <p:nvPr userDrawn="1"/>
          </p:nvSpPr>
          <p:spPr bwMode="auto">
            <a:xfrm>
              <a:off x="5301626" y="4543913"/>
              <a:ext cx="143698" cy="249580"/>
            </a:xfrm>
            <a:custGeom>
              <a:avLst/>
              <a:gdLst>
                <a:gd name="T0" fmla="*/ 15 w 15"/>
                <a:gd name="T1" fmla="*/ 19 h 27"/>
                <a:gd name="T2" fmla="*/ 13 w 15"/>
                <a:gd name="T3" fmla="*/ 25 h 27"/>
                <a:gd name="T4" fmla="*/ 7 w 15"/>
                <a:gd name="T5" fmla="*/ 27 h 27"/>
                <a:gd name="T6" fmla="*/ 1 w 15"/>
                <a:gd name="T7" fmla="*/ 25 h 27"/>
                <a:gd name="T8" fmla="*/ 0 w 15"/>
                <a:gd name="T9" fmla="*/ 19 h 27"/>
                <a:gd name="T10" fmla="*/ 0 w 15"/>
                <a:gd name="T11" fmla="*/ 0 h 27"/>
                <a:gd name="T12" fmla="*/ 4 w 15"/>
                <a:gd name="T13" fmla="*/ 0 h 27"/>
                <a:gd name="T14" fmla="*/ 3 w 15"/>
                <a:gd name="T15" fmla="*/ 19 h 27"/>
                <a:gd name="T16" fmla="*/ 4 w 15"/>
                <a:gd name="T17" fmla="*/ 23 h 27"/>
                <a:gd name="T18" fmla="*/ 7 w 15"/>
                <a:gd name="T19" fmla="*/ 24 h 27"/>
                <a:gd name="T20" fmla="*/ 10 w 15"/>
                <a:gd name="T21" fmla="*/ 23 h 27"/>
                <a:gd name="T22" fmla="*/ 11 w 15"/>
                <a:gd name="T23" fmla="*/ 19 h 27"/>
                <a:gd name="T24" fmla="*/ 12 w 15"/>
                <a:gd name="T25" fmla="*/ 0 h 27"/>
                <a:gd name="T26" fmla="*/ 15 w 15"/>
                <a:gd name="T27" fmla="*/ 0 h 27"/>
                <a:gd name="T28" fmla="*/ 15 w 15"/>
                <a:gd name="T29"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7">
                  <a:moveTo>
                    <a:pt x="15" y="19"/>
                  </a:moveTo>
                  <a:cubicBezTo>
                    <a:pt x="15" y="22"/>
                    <a:pt x="14" y="24"/>
                    <a:pt x="13" y="25"/>
                  </a:cubicBezTo>
                  <a:cubicBezTo>
                    <a:pt x="11" y="27"/>
                    <a:pt x="10" y="27"/>
                    <a:pt x="7" y="27"/>
                  </a:cubicBezTo>
                  <a:cubicBezTo>
                    <a:pt x="4" y="27"/>
                    <a:pt x="2" y="26"/>
                    <a:pt x="1" y="25"/>
                  </a:cubicBezTo>
                  <a:cubicBezTo>
                    <a:pt x="0" y="23"/>
                    <a:pt x="0" y="21"/>
                    <a:pt x="0" y="19"/>
                  </a:cubicBezTo>
                  <a:cubicBezTo>
                    <a:pt x="0" y="0"/>
                    <a:pt x="0" y="0"/>
                    <a:pt x="0" y="0"/>
                  </a:cubicBezTo>
                  <a:cubicBezTo>
                    <a:pt x="4" y="0"/>
                    <a:pt x="4" y="0"/>
                    <a:pt x="4" y="0"/>
                  </a:cubicBezTo>
                  <a:cubicBezTo>
                    <a:pt x="3" y="19"/>
                    <a:pt x="3" y="19"/>
                    <a:pt x="3" y="19"/>
                  </a:cubicBezTo>
                  <a:cubicBezTo>
                    <a:pt x="3" y="21"/>
                    <a:pt x="3" y="22"/>
                    <a:pt x="4" y="23"/>
                  </a:cubicBezTo>
                  <a:cubicBezTo>
                    <a:pt x="5" y="24"/>
                    <a:pt x="6" y="24"/>
                    <a:pt x="7" y="24"/>
                  </a:cubicBezTo>
                  <a:cubicBezTo>
                    <a:pt x="8" y="24"/>
                    <a:pt x="9" y="24"/>
                    <a:pt x="10" y="23"/>
                  </a:cubicBezTo>
                  <a:cubicBezTo>
                    <a:pt x="11" y="22"/>
                    <a:pt x="11" y="21"/>
                    <a:pt x="11" y="19"/>
                  </a:cubicBezTo>
                  <a:cubicBezTo>
                    <a:pt x="12" y="0"/>
                    <a:pt x="12" y="0"/>
                    <a:pt x="12" y="0"/>
                  </a:cubicBezTo>
                  <a:cubicBezTo>
                    <a:pt x="15" y="0"/>
                    <a:pt x="15" y="0"/>
                    <a:pt x="15" y="0"/>
                  </a:cubicBezTo>
                  <a:lnTo>
                    <a:pt x="15" y="1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7" name="Freeform 115">
              <a:extLst>
                <a:ext uri="{FF2B5EF4-FFF2-40B4-BE49-F238E27FC236}">
                  <a16:creationId xmlns:a16="http://schemas.microsoft.com/office/drawing/2014/main" id="{8227C96E-6BD5-4475-8005-B8CAA5FB5806}"/>
                </a:ext>
              </a:extLst>
            </p:cNvPr>
            <p:cNvSpPr>
              <a:spLocks/>
            </p:cNvSpPr>
            <p:nvPr userDrawn="1"/>
          </p:nvSpPr>
          <p:spPr bwMode="auto">
            <a:xfrm>
              <a:off x="5460449" y="4521224"/>
              <a:ext cx="158824" cy="272269"/>
            </a:xfrm>
            <a:custGeom>
              <a:avLst/>
              <a:gdLst>
                <a:gd name="T0" fmla="*/ 21 w 21"/>
                <a:gd name="T1" fmla="*/ 33 h 36"/>
                <a:gd name="T2" fmla="*/ 17 w 21"/>
                <a:gd name="T3" fmla="*/ 34 h 36"/>
                <a:gd name="T4" fmla="*/ 5 w 21"/>
                <a:gd name="T5" fmla="*/ 11 h 36"/>
                <a:gd name="T6" fmla="*/ 8 w 21"/>
                <a:gd name="T7" fmla="*/ 35 h 36"/>
                <a:gd name="T8" fmla="*/ 3 w 21"/>
                <a:gd name="T9" fmla="*/ 36 h 36"/>
                <a:gd name="T10" fmla="*/ 0 w 21"/>
                <a:gd name="T11" fmla="*/ 3 h 36"/>
                <a:gd name="T12" fmla="*/ 5 w 21"/>
                <a:gd name="T13" fmla="*/ 1 h 36"/>
                <a:gd name="T14" fmla="*/ 15 w 21"/>
                <a:gd name="T15" fmla="*/ 18 h 36"/>
                <a:gd name="T16" fmla="*/ 12 w 21"/>
                <a:gd name="T17" fmla="*/ 0 h 36"/>
                <a:gd name="T18" fmla="*/ 16 w 21"/>
                <a:gd name="T19" fmla="*/ 0 h 36"/>
                <a:gd name="T20" fmla="*/ 21 w 21"/>
                <a:gd name="T21" fmla="*/ 3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36">
                  <a:moveTo>
                    <a:pt x="21" y="33"/>
                  </a:moveTo>
                  <a:lnTo>
                    <a:pt x="17" y="34"/>
                  </a:lnTo>
                  <a:lnTo>
                    <a:pt x="5" y="11"/>
                  </a:lnTo>
                  <a:lnTo>
                    <a:pt x="8" y="35"/>
                  </a:lnTo>
                  <a:lnTo>
                    <a:pt x="3" y="36"/>
                  </a:lnTo>
                  <a:lnTo>
                    <a:pt x="0" y="3"/>
                  </a:lnTo>
                  <a:lnTo>
                    <a:pt x="5" y="1"/>
                  </a:lnTo>
                  <a:lnTo>
                    <a:pt x="15" y="18"/>
                  </a:lnTo>
                  <a:lnTo>
                    <a:pt x="12" y="0"/>
                  </a:lnTo>
                  <a:lnTo>
                    <a:pt x="16" y="0"/>
                  </a:lnTo>
                  <a:lnTo>
                    <a:pt x="21" y="3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8" name="Freeform 116">
              <a:extLst>
                <a:ext uri="{FF2B5EF4-FFF2-40B4-BE49-F238E27FC236}">
                  <a16:creationId xmlns:a16="http://schemas.microsoft.com/office/drawing/2014/main" id="{6C4E3717-FE2A-4B72-9CC7-785BD14208DF}"/>
                </a:ext>
              </a:extLst>
            </p:cNvPr>
            <p:cNvSpPr>
              <a:spLocks/>
            </p:cNvSpPr>
            <p:nvPr userDrawn="1"/>
          </p:nvSpPr>
          <p:spPr bwMode="auto">
            <a:xfrm>
              <a:off x="5611710" y="4506098"/>
              <a:ext cx="105882" cy="249580"/>
            </a:xfrm>
            <a:custGeom>
              <a:avLst/>
              <a:gdLst>
                <a:gd name="T0" fmla="*/ 14 w 14"/>
                <a:gd name="T1" fmla="*/ 31 h 33"/>
                <a:gd name="T2" fmla="*/ 9 w 14"/>
                <a:gd name="T3" fmla="*/ 33 h 33"/>
                <a:gd name="T4" fmla="*/ 0 w 14"/>
                <a:gd name="T5" fmla="*/ 1 h 33"/>
                <a:gd name="T6" fmla="*/ 4 w 14"/>
                <a:gd name="T7" fmla="*/ 0 h 33"/>
                <a:gd name="T8" fmla="*/ 14 w 14"/>
                <a:gd name="T9" fmla="*/ 31 h 33"/>
              </a:gdLst>
              <a:ahLst/>
              <a:cxnLst>
                <a:cxn ang="0">
                  <a:pos x="T0" y="T1"/>
                </a:cxn>
                <a:cxn ang="0">
                  <a:pos x="T2" y="T3"/>
                </a:cxn>
                <a:cxn ang="0">
                  <a:pos x="T4" y="T5"/>
                </a:cxn>
                <a:cxn ang="0">
                  <a:pos x="T6" y="T7"/>
                </a:cxn>
                <a:cxn ang="0">
                  <a:pos x="T8" y="T9"/>
                </a:cxn>
              </a:cxnLst>
              <a:rect l="0" t="0" r="r" b="b"/>
              <a:pathLst>
                <a:path w="14" h="33">
                  <a:moveTo>
                    <a:pt x="14" y="31"/>
                  </a:moveTo>
                  <a:lnTo>
                    <a:pt x="9" y="33"/>
                  </a:lnTo>
                  <a:lnTo>
                    <a:pt x="0" y="1"/>
                  </a:lnTo>
                  <a:lnTo>
                    <a:pt x="4" y="0"/>
                  </a:lnTo>
                  <a:lnTo>
                    <a:pt x="14" y="3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9" name="Freeform 117">
              <a:extLst>
                <a:ext uri="{FF2B5EF4-FFF2-40B4-BE49-F238E27FC236}">
                  <a16:creationId xmlns:a16="http://schemas.microsoft.com/office/drawing/2014/main" id="{9E32D77F-1324-4524-B3A8-45B1ADF3999E}"/>
                </a:ext>
              </a:extLst>
            </p:cNvPr>
            <p:cNvSpPr>
              <a:spLocks/>
            </p:cNvSpPr>
            <p:nvPr userDrawn="1"/>
          </p:nvSpPr>
          <p:spPr bwMode="auto">
            <a:xfrm>
              <a:off x="5664651" y="4438031"/>
              <a:ext cx="173950" cy="279832"/>
            </a:xfrm>
            <a:custGeom>
              <a:avLst/>
              <a:gdLst>
                <a:gd name="T0" fmla="*/ 18 w 23"/>
                <a:gd name="T1" fmla="*/ 0 h 37"/>
                <a:gd name="T2" fmla="*/ 23 w 23"/>
                <a:gd name="T3" fmla="*/ 35 h 37"/>
                <a:gd name="T4" fmla="*/ 19 w 23"/>
                <a:gd name="T5" fmla="*/ 37 h 37"/>
                <a:gd name="T6" fmla="*/ 0 w 23"/>
                <a:gd name="T7" fmla="*/ 7 h 37"/>
                <a:gd name="T8" fmla="*/ 4 w 23"/>
                <a:gd name="T9" fmla="*/ 6 h 37"/>
                <a:gd name="T10" fmla="*/ 18 w 23"/>
                <a:gd name="T11" fmla="*/ 26 h 37"/>
                <a:gd name="T12" fmla="*/ 14 w 23"/>
                <a:gd name="T13" fmla="*/ 1 h 37"/>
                <a:gd name="T14" fmla="*/ 18 w 23"/>
                <a:gd name="T15" fmla="*/ 0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7">
                  <a:moveTo>
                    <a:pt x="18" y="0"/>
                  </a:moveTo>
                  <a:lnTo>
                    <a:pt x="23" y="35"/>
                  </a:lnTo>
                  <a:lnTo>
                    <a:pt x="19" y="37"/>
                  </a:lnTo>
                  <a:lnTo>
                    <a:pt x="0" y="7"/>
                  </a:lnTo>
                  <a:lnTo>
                    <a:pt x="4" y="6"/>
                  </a:lnTo>
                  <a:lnTo>
                    <a:pt x="18" y="26"/>
                  </a:lnTo>
                  <a:lnTo>
                    <a:pt x="14" y="1"/>
                  </a:lnTo>
                  <a:lnTo>
                    <a:pt x="18"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20" name="Freeform 118">
              <a:extLst>
                <a:ext uri="{FF2B5EF4-FFF2-40B4-BE49-F238E27FC236}">
                  <a16:creationId xmlns:a16="http://schemas.microsoft.com/office/drawing/2014/main" id="{B92D7ED2-8767-4396-BBFE-802874493C1D}"/>
                </a:ext>
              </a:extLst>
            </p:cNvPr>
            <p:cNvSpPr>
              <a:spLocks/>
            </p:cNvSpPr>
            <p:nvPr userDrawn="1"/>
          </p:nvSpPr>
          <p:spPr bwMode="auto">
            <a:xfrm>
              <a:off x="5808348" y="4369963"/>
              <a:ext cx="249580" cy="287395"/>
            </a:xfrm>
            <a:custGeom>
              <a:avLst/>
              <a:gdLst>
                <a:gd name="T0" fmla="*/ 33 w 33"/>
                <a:gd name="T1" fmla="*/ 29 h 38"/>
                <a:gd name="T2" fmla="*/ 17 w 33"/>
                <a:gd name="T3" fmla="*/ 38 h 38"/>
                <a:gd name="T4" fmla="*/ 0 w 33"/>
                <a:gd name="T5" fmla="*/ 8 h 38"/>
                <a:gd name="T6" fmla="*/ 15 w 33"/>
                <a:gd name="T7" fmla="*/ 0 h 38"/>
                <a:gd name="T8" fmla="*/ 17 w 33"/>
                <a:gd name="T9" fmla="*/ 3 h 38"/>
                <a:gd name="T10" fmla="*/ 6 w 33"/>
                <a:gd name="T11" fmla="*/ 9 h 38"/>
                <a:gd name="T12" fmla="*/ 11 w 33"/>
                <a:gd name="T13" fmla="*/ 19 h 38"/>
                <a:gd name="T14" fmla="*/ 22 w 33"/>
                <a:gd name="T15" fmla="*/ 13 h 38"/>
                <a:gd name="T16" fmla="*/ 23 w 33"/>
                <a:gd name="T17" fmla="*/ 16 h 38"/>
                <a:gd name="T18" fmla="*/ 14 w 33"/>
                <a:gd name="T19" fmla="*/ 21 h 38"/>
                <a:gd name="T20" fmla="*/ 20 w 33"/>
                <a:gd name="T21" fmla="*/ 33 h 38"/>
                <a:gd name="T22" fmla="*/ 31 w 33"/>
                <a:gd name="T23" fmla="*/ 25 h 38"/>
                <a:gd name="T24" fmla="*/ 33 w 33"/>
                <a:gd name="T25" fmla="*/ 2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8">
                  <a:moveTo>
                    <a:pt x="33" y="29"/>
                  </a:moveTo>
                  <a:lnTo>
                    <a:pt x="17" y="38"/>
                  </a:lnTo>
                  <a:lnTo>
                    <a:pt x="0" y="8"/>
                  </a:lnTo>
                  <a:lnTo>
                    <a:pt x="15" y="0"/>
                  </a:lnTo>
                  <a:lnTo>
                    <a:pt x="17" y="3"/>
                  </a:lnTo>
                  <a:lnTo>
                    <a:pt x="6" y="9"/>
                  </a:lnTo>
                  <a:lnTo>
                    <a:pt x="11" y="19"/>
                  </a:lnTo>
                  <a:lnTo>
                    <a:pt x="22" y="13"/>
                  </a:lnTo>
                  <a:lnTo>
                    <a:pt x="23" y="16"/>
                  </a:lnTo>
                  <a:lnTo>
                    <a:pt x="14" y="21"/>
                  </a:lnTo>
                  <a:lnTo>
                    <a:pt x="20" y="33"/>
                  </a:lnTo>
                  <a:lnTo>
                    <a:pt x="31" y="25"/>
                  </a:lnTo>
                  <a:lnTo>
                    <a:pt x="33" y="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21" name="Freeform 119">
              <a:extLst>
                <a:ext uri="{FF2B5EF4-FFF2-40B4-BE49-F238E27FC236}">
                  <a16:creationId xmlns:a16="http://schemas.microsoft.com/office/drawing/2014/main" id="{57BDD39D-0358-4557-B69C-BCC39BAC0CED}"/>
                </a:ext>
              </a:extLst>
            </p:cNvPr>
            <p:cNvSpPr>
              <a:spLocks noEditPoints="1"/>
            </p:cNvSpPr>
            <p:nvPr userDrawn="1"/>
          </p:nvSpPr>
          <p:spPr bwMode="auto">
            <a:xfrm>
              <a:off x="5936920" y="4309459"/>
              <a:ext cx="257143" cy="257143"/>
            </a:xfrm>
            <a:custGeom>
              <a:avLst/>
              <a:gdLst>
                <a:gd name="T0" fmla="*/ 27 w 27"/>
                <a:gd name="T1" fmla="*/ 20 h 28"/>
                <a:gd name="T2" fmla="*/ 24 w 27"/>
                <a:gd name="T3" fmla="*/ 22 h 28"/>
                <a:gd name="T4" fmla="*/ 15 w 27"/>
                <a:gd name="T5" fmla="*/ 14 h 28"/>
                <a:gd name="T6" fmla="*/ 12 w 27"/>
                <a:gd name="T7" fmla="*/ 17 h 28"/>
                <a:gd name="T8" fmla="*/ 19 w 27"/>
                <a:gd name="T9" fmla="*/ 26 h 28"/>
                <a:gd name="T10" fmla="*/ 16 w 27"/>
                <a:gd name="T11" fmla="*/ 28 h 28"/>
                <a:gd name="T12" fmla="*/ 0 w 27"/>
                <a:gd name="T13" fmla="*/ 6 h 28"/>
                <a:gd name="T14" fmla="*/ 5 w 27"/>
                <a:gd name="T15" fmla="*/ 2 h 28"/>
                <a:gd name="T16" fmla="*/ 11 w 27"/>
                <a:gd name="T17" fmla="*/ 0 h 28"/>
                <a:gd name="T18" fmla="*/ 18 w 27"/>
                <a:gd name="T19" fmla="*/ 8 h 28"/>
                <a:gd name="T20" fmla="*/ 17 w 27"/>
                <a:gd name="T21" fmla="*/ 12 h 28"/>
                <a:gd name="T22" fmla="*/ 27 w 27"/>
                <a:gd name="T23" fmla="*/ 20 h 28"/>
                <a:gd name="T24" fmla="*/ 10 w 27"/>
                <a:gd name="T25" fmla="*/ 4 h 28"/>
                <a:gd name="T26" fmla="*/ 5 w 27"/>
                <a:gd name="T27" fmla="*/ 6 h 28"/>
                <a:gd name="T28" fmla="*/ 10 w 27"/>
                <a:gd name="T29" fmla="*/ 13 h 28"/>
                <a:gd name="T30" fmla="*/ 14 w 27"/>
                <a:gd name="T31" fmla="*/ 10 h 28"/>
                <a:gd name="T32" fmla="*/ 10 w 27"/>
                <a:gd name="T33"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8">
                  <a:moveTo>
                    <a:pt x="27" y="20"/>
                  </a:moveTo>
                  <a:cubicBezTo>
                    <a:pt x="24" y="22"/>
                    <a:pt x="24" y="22"/>
                    <a:pt x="24" y="22"/>
                  </a:cubicBezTo>
                  <a:cubicBezTo>
                    <a:pt x="15" y="14"/>
                    <a:pt x="15" y="14"/>
                    <a:pt x="15" y="14"/>
                  </a:cubicBezTo>
                  <a:cubicBezTo>
                    <a:pt x="12" y="17"/>
                    <a:pt x="12" y="17"/>
                    <a:pt x="12" y="17"/>
                  </a:cubicBezTo>
                  <a:cubicBezTo>
                    <a:pt x="19" y="26"/>
                    <a:pt x="19" y="26"/>
                    <a:pt x="19" y="26"/>
                  </a:cubicBezTo>
                  <a:cubicBezTo>
                    <a:pt x="16" y="28"/>
                    <a:pt x="16" y="28"/>
                    <a:pt x="16" y="28"/>
                  </a:cubicBezTo>
                  <a:cubicBezTo>
                    <a:pt x="0" y="6"/>
                    <a:pt x="0" y="6"/>
                    <a:pt x="0" y="6"/>
                  </a:cubicBezTo>
                  <a:cubicBezTo>
                    <a:pt x="5" y="2"/>
                    <a:pt x="5" y="2"/>
                    <a:pt x="5" y="2"/>
                  </a:cubicBezTo>
                  <a:cubicBezTo>
                    <a:pt x="7" y="1"/>
                    <a:pt x="9" y="0"/>
                    <a:pt x="11" y="0"/>
                  </a:cubicBezTo>
                  <a:cubicBezTo>
                    <a:pt x="16" y="1"/>
                    <a:pt x="18" y="4"/>
                    <a:pt x="18" y="8"/>
                  </a:cubicBezTo>
                  <a:cubicBezTo>
                    <a:pt x="18" y="9"/>
                    <a:pt x="18" y="11"/>
                    <a:pt x="17" y="12"/>
                  </a:cubicBezTo>
                  <a:lnTo>
                    <a:pt x="27" y="20"/>
                  </a:lnTo>
                  <a:close/>
                  <a:moveTo>
                    <a:pt x="10" y="4"/>
                  </a:moveTo>
                  <a:cubicBezTo>
                    <a:pt x="8" y="3"/>
                    <a:pt x="6" y="5"/>
                    <a:pt x="5" y="6"/>
                  </a:cubicBezTo>
                  <a:cubicBezTo>
                    <a:pt x="10" y="13"/>
                    <a:pt x="10" y="13"/>
                    <a:pt x="10" y="13"/>
                  </a:cubicBezTo>
                  <a:cubicBezTo>
                    <a:pt x="12" y="12"/>
                    <a:pt x="12" y="12"/>
                    <a:pt x="14" y="10"/>
                  </a:cubicBezTo>
                  <a:cubicBezTo>
                    <a:pt x="14" y="7"/>
                    <a:pt x="13" y="5"/>
                    <a:pt x="10" y="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22" name="Freeform 120">
              <a:extLst>
                <a:ext uri="{FF2B5EF4-FFF2-40B4-BE49-F238E27FC236}">
                  <a16:creationId xmlns:a16="http://schemas.microsoft.com/office/drawing/2014/main" id="{820FD44A-13EC-4742-8277-D1F180503FBD}"/>
                </a:ext>
              </a:extLst>
            </p:cNvPr>
            <p:cNvSpPr>
              <a:spLocks/>
            </p:cNvSpPr>
            <p:nvPr userDrawn="1"/>
          </p:nvSpPr>
          <p:spPr bwMode="auto">
            <a:xfrm>
              <a:off x="6073054" y="4196014"/>
              <a:ext cx="257143" cy="219328"/>
            </a:xfrm>
            <a:custGeom>
              <a:avLst/>
              <a:gdLst>
                <a:gd name="T0" fmla="*/ 22 w 28"/>
                <a:gd name="T1" fmla="*/ 10 h 24"/>
                <a:gd name="T2" fmla="*/ 19 w 28"/>
                <a:gd name="T3" fmla="*/ 24 h 24"/>
                <a:gd name="T4" fmla="*/ 14 w 28"/>
                <a:gd name="T5" fmla="*/ 23 h 24"/>
                <a:gd name="T6" fmla="*/ 15 w 28"/>
                <a:gd name="T7" fmla="*/ 20 h 24"/>
                <a:gd name="T8" fmla="*/ 18 w 28"/>
                <a:gd name="T9" fmla="*/ 21 h 24"/>
                <a:gd name="T10" fmla="*/ 20 w 28"/>
                <a:gd name="T11" fmla="*/ 13 h 24"/>
                <a:gd name="T12" fmla="*/ 17 w 28"/>
                <a:gd name="T13" fmla="*/ 12 h 24"/>
                <a:gd name="T14" fmla="*/ 8 w 28"/>
                <a:gd name="T15" fmla="*/ 15 h 24"/>
                <a:gd name="T16" fmla="*/ 0 w 28"/>
                <a:gd name="T17" fmla="*/ 9 h 24"/>
                <a:gd name="T18" fmla="*/ 2 w 28"/>
                <a:gd name="T19" fmla="*/ 4 h 24"/>
                <a:gd name="T20" fmla="*/ 11 w 28"/>
                <a:gd name="T21" fmla="*/ 2 h 24"/>
                <a:gd name="T22" fmla="*/ 10 w 28"/>
                <a:gd name="T23" fmla="*/ 5 h 24"/>
                <a:gd name="T24" fmla="*/ 4 w 28"/>
                <a:gd name="T25" fmla="*/ 6 h 24"/>
                <a:gd name="T26" fmla="*/ 3 w 28"/>
                <a:gd name="T27" fmla="*/ 9 h 24"/>
                <a:gd name="T28" fmla="*/ 7 w 28"/>
                <a:gd name="T29" fmla="*/ 12 h 24"/>
                <a:gd name="T30" fmla="*/ 17 w 28"/>
                <a:gd name="T31" fmla="*/ 9 h 24"/>
                <a:gd name="T32" fmla="*/ 22 w 28"/>
                <a:gd name="T33" fmla="*/ 1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 h="24">
                  <a:moveTo>
                    <a:pt x="22" y="10"/>
                  </a:moveTo>
                  <a:cubicBezTo>
                    <a:pt x="28" y="13"/>
                    <a:pt x="26" y="23"/>
                    <a:pt x="19" y="24"/>
                  </a:cubicBezTo>
                  <a:cubicBezTo>
                    <a:pt x="17" y="24"/>
                    <a:pt x="15" y="24"/>
                    <a:pt x="14" y="23"/>
                  </a:cubicBezTo>
                  <a:cubicBezTo>
                    <a:pt x="15" y="20"/>
                    <a:pt x="15" y="20"/>
                    <a:pt x="15" y="20"/>
                  </a:cubicBezTo>
                  <a:cubicBezTo>
                    <a:pt x="16" y="21"/>
                    <a:pt x="17" y="21"/>
                    <a:pt x="18" y="21"/>
                  </a:cubicBezTo>
                  <a:cubicBezTo>
                    <a:pt x="23" y="20"/>
                    <a:pt x="23" y="15"/>
                    <a:pt x="20" y="13"/>
                  </a:cubicBezTo>
                  <a:cubicBezTo>
                    <a:pt x="19" y="12"/>
                    <a:pt x="18" y="12"/>
                    <a:pt x="17" y="12"/>
                  </a:cubicBezTo>
                  <a:cubicBezTo>
                    <a:pt x="13" y="13"/>
                    <a:pt x="11" y="15"/>
                    <a:pt x="8" y="15"/>
                  </a:cubicBezTo>
                  <a:cubicBezTo>
                    <a:pt x="4" y="15"/>
                    <a:pt x="1" y="13"/>
                    <a:pt x="0" y="9"/>
                  </a:cubicBezTo>
                  <a:cubicBezTo>
                    <a:pt x="0" y="7"/>
                    <a:pt x="1" y="5"/>
                    <a:pt x="2" y="4"/>
                  </a:cubicBezTo>
                  <a:cubicBezTo>
                    <a:pt x="4" y="0"/>
                    <a:pt x="8" y="0"/>
                    <a:pt x="11" y="2"/>
                  </a:cubicBezTo>
                  <a:cubicBezTo>
                    <a:pt x="10" y="5"/>
                    <a:pt x="10" y="5"/>
                    <a:pt x="10" y="5"/>
                  </a:cubicBezTo>
                  <a:cubicBezTo>
                    <a:pt x="8" y="4"/>
                    <a:pt x="5" y="4"/>
                    <a:pt x="4" y="6"/>
                  </a:cubicBezTo>
                  <a:cubicBezTo>
                    <a:pt x="3" y="7"/>
                    <a:pt x="3" y="8"/>
                    <a:pt x="3" y="9"/>
                  </a:cubicBezTo>
                  <a:cubicBezTo>
                    <a:pt x="4" y="11"/>
                    <a:pt x="5" y="12"/>
                    <a:pt x="7" y="12"/>
                  </a:cubicBezTo>
                  <a:cubicBezTo>
                    <a:pt x="11" y="11"/>
                    <a:pt x="13" y="8"/>
                    <a:pt x="17" y="9"/>
                  </a:cubicBezTo>
                  <a:cubicBezTo>
                    <a:pt x="18" y="9"/>
                    <a:pt x="20" y="9"/>
                    <a:pt x="22" y="10"/>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23" name="Freeform 121">
              <a:extLst>
                <a:ext uri="{FF2B5EF4-FFF2-40B4-BE49-F238E27FC236}">
                  <a16:creationId xmlns:a16="http://schemas.microsoft.com/office/drawing/2014/main" id="{9E749348-2825-40A5-B7B0-609CF8A67C01}"/>
                </a:ext>
              </a:extLst>
            </p:cNvPr>
            <p:cNvSpPr>
              <a:spLocks/>
            </p:cNvSpPr>
            <p:nvPr userDrawn="1"/>
          </p:nvSpPr>
          <p:spPr bwMode="auto">
            <a:xfrm>
              <a:off x="6156248" y="4120384"/>
              <a:ext cx="234454" cy="158823"/>
            </a:xfrm>
            <a:custGeom>
              <a:avLst/>
              <a:gdLst>
                <a:gd name="T0" fmla="*/ 31 w 31"/>
                <a:gd name="T1" fmla="*/ 17 h 21"/>
                <a:gd name="T2" fmla="*/ 28 w 31"/>
                <a:gd name="T3" fmla="*/ 21 h 21"/>
                <a:gd name="T4" fmla="*/ 0 w 31"/>
                <a:gd name="T5" fmla="*/ 2 h 21"/>
                <a:gd name="T6" fmla="*/ 2 w 31"/>
                <a:gd name="T7" fmla="*/ 0 h 21"/>
                <a:gd name="T8" fmla="*/ 31 w 31"/>
                <a:gd name="T9" fmla="*/ 17 h 21"/>
              </a:gdLst>
              <a:ahLst/>
              <a:cxnLst>
                <a:cxn ang="0">
                  <a:pos x="T0" y="T1"/>
                </a:cxn>
                <a:cxn ang="0">
                  <a:pos x="T2" y="T3"/>
                </a:cxn>
                <a:cxn ang="0">
                  <a:pos x="T4" y="T5"/>
                </a:cxn>
                <a:cxn ang="0">
                  <a:pos x="T6" y="T7"/>
                </a:cxn>
                <a:cxn ang="0">
                  <a:pos x="T8" y="T9"/>
                </a:cxn>
              </a:cxnLst>
              <a:rect l="0" t="0" r="r" b="b"/>
              <a:pathLst>
                <a:path w="31" h="21">
                  <a:moveTo>
                    <a:pt x="31" y="17"/>
                  </a:moveTo>
                  <a:lnTo>
                    <a:pt x="28" y="21"/>
                  </a:lnTo>
                  <a:lnTo>
                    <a:pt x="0" y="2"/>
                  </a:lnTo>
                  <a:lnTo>
                    <a:pt x="2" y="0"/>
                  </a:lnTo>
                  <a:lnTo>
                    <a:pt x="31" y="1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24" name="Freeform 122">
              <a:extLst>
                <a:ext uri="{FF2B5EF4-FFF2-40B4-BE49-F238E27FC236}">
                  <a16:creationId xmlns:a16="http://schemas.microsoft.com/office/drawing/2014/main" id="{1DC751F0-0896-4151-B7A2-B0F378660CA6}"/>
                </a:ext>
              </a:extLst>
            </p:cNvPr>
            <p:cNvSpPr>
              <a:spLocks/>
            </p:cNvSpPr>
            <p:nvPr userDrawn="1"/>
          </p:nvSpPr>
          <p:spPr bwMode="auto">
            <a:xfrm>
              <a:off x="6194063" y="3953997"/>
              <a:ext cx="272269" cy="211765"/>
            </a:xfrm>
            <a:custGeom>
              <a:avLst/>
              <a:gdLst>
                <a:gd name="T0" fmla="*/ 11 w 36"/>
                <a:gd name="T1" fmla="*/ 3 h 28"/>
                <a:gd name="T2" fmla="*/ 8 w 36"/>
                <a:gd name="T3" fmla="*/ 9 h 28"/>
                <a:gd name="T4" fmla="*/ 36 w 36"/>
                <a:gd name="T5" fmla="*/ 25 h 28"/>
                <a:gd name="T6" fmla="*/ 33 w 36"/>
                <a:gd name="T7" fmla="*/ 28 h 28"/>
                <a:gd name="T8" fmla="*/ 6 w 36"/>
                <a:gd name="T9" fmla="*/ 13 h 28"/>
                <a:gd name="T10" fmla="*/ 3 w 36"/>
                <a:gd name="T11" fmla="*/ 18 h 28"/>
                <a:gd name="T12" fmla="*/ 0 w 36"/>
                <a:gd name="T13" fmla="*/ 17 h 28"/>
                <a:gd name="T14" fmla="*/ 7 w 36"/>
                <a:gd name="T15" fmla="*/ 0 h 28"/>
                <a:gd name="T16" fmla="*/ 11 w 36"/>
                <a:gd name="T17"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28">
                  <a:moveTo>
                    <a:pt x="11" y="3"/>
                  </a:moveTo>
                  <a:lnTo>
                    <a:pt x="8" y="9"/>
                  </a:lnTo>
                  <a:lnTo>
                    <a:pt x="36" y="25"/>
                  </a:lnTo>
                  <a:lnTo>
                    <a:pt x="33" y="28"/>
                  </a:lnTo>
                  <a:lnTo>
                    <a:pt x="6" y="13"/>
                  </a:lnTo>
                  <a:lnTo>
                    <a:pt x="3" y="18"/>
                  </a:lnTo>
                  <a:lnTo>
                    <a:pt x="0" y="17"/>
                  </a:lnTo>
                  <a:lnTo>
                    <a:pt x="7" y="0"/>
                  </a:lnTo>
                  <a:lnTo>
                    <a:pt x="11" y="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25" name="Freeform 123">
              <a:extLst>
                <a:ext uri="{FF2B5EF4-FFF2-40B4-BE49-F238E27FC236}">
                  <a16:creationId xmlns:a16="http://schemas.microsoft.com/office/drawing/2014/main" id="{3EE365C9-7D45-40FB-8058-815261354EF2}"/>
                </a:ext>
              </a:extLst>
            </p:cNvPr>
            <p:cNvSpPr>
              <a:spLocks/>
            </p:cNvSpPr>
            <p:nvPr userDrawn="1"/>
          </p:nvSpPr>
          <p:spPr bwMode="auto">
            <a:xfrm>
              <a:off x="6254567" y="3810300"/>
              <a:ext cx="272269" cy="173950"/>
            </a:xfrm>
            <a:custGeom>
              <a:avLst/>
              <a:gdLst>
                <a:gd name="T0" fmla="*/ 8 w 36"/>
                <a:gd name="T1" fmla="*/ 0 h 23"/>
                <a:gd name="T2" fmla="*/ 25 w 36"/>
                <a:gd name="T3" fmla="*/ 14 h 23"/>
                <a:gd name="T4" fmla="*/ 36 w 36"/>
                <a:gd name="T5" fmla="*/ 19 h 23"/>
                <a:gd name="T6" fmla="*/ 34 w 36"/>
                <a:gd name="T7" fmla="*/ 23 h 23"/>
                <a:gd name="T8" fmla="*/ 24 w 36"/>
                <a:gd name="T9" fmla="*/ 18 h 23"/>
                <a:gd name="T10" fmla="*/ 0 w 36"/>
                <a:gd name="T11" fmla="*/ 18 h 23"/>
                <a:gd name="T12" fmla="*/ 2 w 36"/>
                <a:gd name="T13" fmla="*/ 14 h 23"/>
                <a:gd name="T14" fmla="*/ 18 w 36"/>
                <a:gd name="T15" fmla="*/ 14 h 23"/>
                <a:gd name="T16" fmla="*/ 7 w 36"/>
                <a:gd name="T17" fmla="*/ 5 h 23"/>
                <a:gd name="T18" fmla="*/ 8 w 36"/>
                <a:gd name="T1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23">
                  <a:moveTo>
                    <a:pt x="8" y="0"/>
                  </a:moveTo>
                  <a:lnTo>
                    <a:pt x="25" y="14"/>
                  </a:lnTo>
                  <a:lnTo>
                    <a:pt x="36" y="19"/>
                  </a:lnTo>
                  <a:lnTo>
                    <a:pt x="34" y="23"/>
                  </a:lnTo>
                  <a:lnTo>
                    <a:pt x="24" y="18"/>
                  </a:lnTo>
                  <a:lnTo>
                    <a:pt x="0" y="18"/>
                  </a:lnTo>
                  <a:lnTo>
                    <a:pt x="2" y="14"/>
                  </a:lnTo>
                  <a:lnTo>
                    <a:pt x="18" y="14"/>
                  </a:lnTo>
                  <a:lnTo>
                    <a:pt x="7" y="5"/>
                  </a:lnTo>
                  <a:lnTo>
                    <a:pt x="8"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26" name="Freeform 124">
              <a:extLst>
                <a:ext uri="{FF2B5EF4-FFF2-40B4-BE49-F238E27FC236}">
                  <a16:creationId xmlns:a16="http://schemas.microsoft.com/office/drawing/2014/main" id="{8F1B158D-0305-4549-BBB5-AB037C5C0CC3}"/>
                </a:ext>
              </a:extLst>
            </p:cNvPr>
            <p:cNvSpPr>
              <a:spLocks/>
            </p:cNvSpPr>
            <p:nvPr userDrawn="1"/>
          </p:nvSpPr>
          <p:spPr bwMode="auto">
            <a:xfrm>
              <a:off x="4462130" y="4286770"/>
              <a:ext cx="257143" cy="189076"/>
            </a:xfrm>
            <a:custGeom>
              <a:avLst/>
              <a:gdLst>
                <a:gd name="T0" fmla="*/ 14 w 28"/>
                <a:gd name="T1" fmla="*/ 16 h 20"/>
                <a:gd name="T2" fmla="*/ 8 w 28"/>
                <a:gd name="T3" fmla="*/ 20 h 20"/>
                <a:gd name="T4" fmla="*/ 2 w 28"/>
                <a:gd name="T5" fmla="*/ 17 h 20"/>
                <a:gd name="T6" fmla="*/ 0 w 28"/>
                <a:gd name="T7" fmla="*/ 12 h 20"/>
                <a:gd name="T8" fmla="*/ 1 w 28"/>
                <a:gd name="T9" fmla="*/ 9 h 20"/>
                <a:gd name="T10" fmla="*/ 4 w 28"/>
                <a:gd name="T11" fmla="*/ 10 h 20"/>
                <a:gd name="T12" fmla="*/ 3 w 28"/>
                <a:gd name="T13" fmla="*/ 12 h 20"/>
                <a:gd name="T14" fmla="*/ 4 w 28"/>
                <a:gd name="T15" fmla="*/ 15 h 20"/>
                <a:gd name="T16" fmla="*/ 8 w 28"/>
                <a:gd name="T17" fmla="*/ 16 h 20"/>
                <a:gd name="T18" fmla="*/ 12 w 28"/>
                <a:gd name="T19" fmla="*/ 14 h 20"/>
                <a:gd name="T20" fmla="*/ 25 w 28"/>
                <a:gd name="T21" fmla="*/ 0 h 20"/>
                <a:gd name="T22" fmla="*/ 28 w 28"/>
                <a:gd name="T23" fmla="*/ 3 h 20"/>
                <a:gd name="T24" fmla="*/ 14 w 28"/>
                <a:gd name="T25"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 h="20">
                  <a:moveTo>
                    <a:pt x="14" y="16"/>
                  </a:moveTo>
                  <a:cubicBezTo>
                    <a:pt x="12" y="18"/>
                    <a:pt x="10" y="20"/>
                    <a:pt x="8" y="20"/>
                  </a:cubicBezTo>
                  <a:cubicBezTo>
                    <a:pt x="6" y="20"/>
                    <a:pt x="4" y="19"/>
                    <a:pt x="2" y="17"/>
                  </a:cubicBezTo>
                  <a:cubicBezTo>
                    <a:pt x="1" y="16"/>
                    <a:pt x="0" y="14"/>
                    <a:pt x="0" y="12"/>
                  </a:cubicBezTo>
                  <a:cubicBezTo>
                    <a:pt x="0" y="11"/>
                    <a:pt x="0" y="10"/>
                    <a:pt x="1" y="9"/>
                  </a:cubicBezTo>
                  <a:cubicBezTo>
                    <a:pt x="4" y="10"/>
                    <a:pt x="4" y="10"/>
                    <a:pt x="4" y="10"/>
                  </a:cubicBezTo>
                  <a:cubicBezTo>
                    <a:pt x="3" y="11"/>
                    <a:pt x="3" y="11"/>
                    <a:pt x="3" y="12"/>
                  </a:cubicBezTo>
                  <a:cubicBezTo>
                    <a:pt x="3" y="13"/>
                    <a:pt x="4" y="14"/>
                    <a:pt x="4" y="15"/>
                  </a:cubicBezTo>
                  <a:cubicBezTo>
                    <a:pt x="5" y="16"/>
                    <a:pt x="6" y="16"/>
                    <a:pt x="8" y="16"/>
                  </a:cubicBezTo>
                  <a:cubicBezTo>
                    <a:pt x="9" y="16"/>
                    <a:pt x="10" y="15"/>
                    <a:pt x="12" y="14"/>
                  </a:cubicBezTo>
                  <a:cubicBezTo>
                    <a:pt x="25" y="0"/>
                    <a:pt x="25" y="0"/>
                    <a:pt x="25" y="0"/>
                  </a:cubicBezTo>
                  <a:cubicBezTo>
                    <a:pt x="28" y="3"/>
                    <a:pt x="28" y="3"/>
                    <a:pt x="28" y="3"/>
                  </a:cubicBezTo>
                  <a:lnTo>
                    <a:pt x="14" y="1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27" name="Freeform 125">
              <a:extLst>
                <a:ext uri="{FF2B5EF4-FFF2-40B4-BE49-F238E27FC236}">
                  <a16:creationId xmlns:a16="http://schemas.microsoft.com/office/drawing/2014/main" id="{CF436B79-3B5C-413F-821E-99DE9695DD4E}"/>
                </a:ext>
              </a:extLst>
            </p:cNvPr>
            <p:cNvSpPr>
              <a:spLocks noEditPoints="1"/>
            </p:cNvSpPr>
            <p:nvPr userDrawn="1"/>
          </p:nvSpPr>
          <p:spPr bwMode="auto">
            <a:xfrm>
              <a:off x="4938600" y="4203577"/>
              <a:ext cx="801681" cy="249580"/>
            </a:xfrm>
            <a:custGeom>
              <a:avLst/>
              <a:gdLst>
                <a:gd name="T0" fmla="*/ 0 w 86"/>
                <a:gd name="T1" fmla="*/ 15 h 27"/>
                <a:gd name="T2" fmla="*/ 4 w 86"/>
                <a:gd name="T3" fmla="*/ 15 h 27"/>
                <a:gd name="T4" fmla="*/ 6 w 86"/>
                <a:gd name="T5" fmla="*/ 3 h 27"/>
                <a:gd name="T6" fmla="*/ 10 w 86"/>
                <a:gd name="T7" fmla="*/ 3 h 27"/>
                <a:gd name="T8" fmla="*/ 14 w 86"/>
                <a:gd name="T9" fmla="*/ 4 h 27"/>
                <a:gd name="T10" fmla="*/ 10 w 86"/>
                <a:gd name="T11" fmla="*/ 19 h 27"/>
                <a:gd name="T12" fmla="*/ 37 w 86"/>
                <a:gd name="T13" fmla="*/ 14 h 27"/>
                <a:gd name="T14" fmla="*/ 33 w 86"/>
                <a:gd name="T15" fmla="*/ 11 h 27"/>
                <a:gd name="T16" fmla="*/ 28 w 86"/>
                <a:gd name="T17" fmla="*/ 13 h 27"/>
                <a:gd name="T18" fmla="*/ 30 w 86"/>
                <a:gd name="T19" fmla="*/ 16 h 27"/>
                <a:gd name="T20" fmla="*/ 34 w 86"/>
                <a:gd name="T21" fmla="*/ 17 h 27"/>
                <a:gd name="T22" fmla="*/ 37 w 86"/>
                <a:gd name="T23" fmla="*/ 14 h 27"/>
                <a:gd name="T24" fmla="*/ 36 w 86"/>
                <a:gd name="T25" fmla="*/ 21 h 27"/>
                <a:gd name="T26" fmla="*/ 32 w 86"/>
                <a:gd name="T27" fmla="*/ 19 h 27"/>
                <a:gd name="T28" fmla="*/ 27 w 86"/>
                <a:gd name="T29" fmla="*/ 19 h 27"/>
                <a:gd name="T30" fmla="*/ 27 w 86"/>
                <a:gd name="T31" fmla="*/ 24 h 27"/>
                <a:gd name="T32" fmla="*/ 34 w 86"/>
                <a:gd name="T33" fmla="*/ 25 h 27"/>
                <a:gd name="T34" fmla="*/ 30 w 86"/>
                <a:gd name="T35" fmla="*/ 27 h 27"/>
                <a:gd name="T36" fmla="*/ 24 w 86"/>
                <a:gd name="T37" fmla="*/ 25 h 27"/>
                <a:gd name="T38" fmla="*/ 23 w 86"/>
                <a:gd name="T39" fmla="*/ 21 h 27"/>
                <a:gd name="T40" fmla="*/ 28 w 86"/>
                <a:gd name="T41" fmla="*/ 17 h 27"/>
                <a:gd name="T42" fmla="*/ 25 w 86"/>
                <a:gd name="T43" fmla="*/ 15 h 27"/>
                <a:gd name="T44" fmla="*/ 28 w 86"/>
                <a:gd name="T45" fmla="*/ 10 h 27"/>
                <a:gd name="T46" fmla="*/ 39 w 86"/>
                <a:gd name="T47" fmla="*/ 11 h 27"/>
                <a:gd name="T48" fmla="*/ 39 w 86"/>
                <a:gd name="T49" fmla="*/ 17 h 27"/>
                <a:gd name="T50" fmla="*/ 36 w 86"/>
                <a:gd name="T51" fmla="*/ 18 h 27"/>
                <a:gd name="T52" fmla="*/ 39 w 86"/>
                <a:gd name="T53" fmla="*/ 23 h 27"/>
                <a:gd name="T54" fmla="*/ 30 w 86"/>
                <a:gd name="T55" fmla="*/ 27 h 27"/>
                <a:gd name="T56" fmla="*/ 62 w 86"/>
                <a:gd name="T57" fmla="*/ 14 h 27"/>
                <a:gd name="T58" fmla="*/ 59 w 86"/>
                <a:gd name="T59" fmla="*/ 11 h 27"/>
                <a:gd name="T60" fmla="*/ 54 w 86"/>
                <a:gd name="T61" fmla="*/ 12 h 27"/>
                <a:gd name="T62" fmla="*/ 53 w 86"/>
                <a:gd name="T63" fmla="*/ 17 h 27"/>
                <a:gd name="T64" fmla="*/ 56 w 86"/>
                <a:gd name="T65" fmla="*/ 19 h 27"/>
                <a:gd name="T66" fmla="*/ 60 w 86"/>
                <a:gd name="T67" fmla="*/ 18 h 27"/>
                <a:gd name="T68" fmla="*/ 63 w 86"/>
                <a:gd name="T69" fmla="*/ 17 h 27"/>
                <a:gd name="T70" fmla="*/ 50 w 86"/>
                <a:gd name="T71" fmla="*/ 15 h 27"/>
                <a:gd name="T72" fmla="*/ 52 w 86"/>
                <a:gd name="T73" fmla="*/ 11 h 27"/>
                <a:gd name="T74" fmla="*/ 58 w 86"/>
                <a:gd name="T75" fmla="*/ 9 h 27"/>
                <a:gd name="T76" fmla="*/ 63 w 86"/>
                <a:gd name="T77" fmla="*/ 11 h 27"/>
                <a:gd name="T78" fmla="*/ 66 w 86"/>
                <a:gd name="T79" fmla="*/ 17 h 27"/>
                <a:gd name="T80" fmla="*/ 63 w 86"/>
                <a:gd name="T81" fmla="*/ 24 h 27"/>
                <a:gd name="T82" fmla="*/ 55 w 86"/>
                <a:gd name="T83" fmla="*/ 27 h 27"/>
                <a:gd name="T84" fmla="*/ 52 w 86"/>
                <a:gd name="T85" fmla="*/ 27 h 27"/>
                <a:gd name="T86" fmla="*/ 52 w 86"/>
                <a:gd name="T87" fmla="*/ 25 h 27"/>
                <a:gd name="T88" fmla="*/ 55 w 86"/>
                <a:gd name="T89" fmla="*/ 25 h 27"/>
                <a:gd name="T90" fmla="*/ 62 w 86"/>
                <a:gd name="T91" fmla="*/ 19 h 27"/>
                <a:gd name="T92" fmla="*/ 57 w 86"/>
                <a:gd name="T93" fmla="*/ 21 h 27"/>
                <a:gd name="T94" fmla="*/ 52 w 86"/>
                <a:gd name="T95" fmla="*/ 20 h 27"/>
                <a:gd name="T96" fmla="*/ 50 w 86"/>
                <a:gd name="T97" fmla="*/ 15 h 27"/>
                <a:gd name="T98" fmla="*/ 86 w 86"/>
                <a:gd name="T99" fmla="*/ 18 h 27"/>
                <a:gd name="T100" fmla="*/ 83 w 86"/>
                <a:gd name="T101" fmla="*/ 3 h 27"/>
                <a:gd name="T102" fmla="*/ 72 w 86"/>
                <a:gd name="T103" fmla="*/ 6 h 27"/>
                <a:gd name="T104" fmla="*/ 86 w 86"/>
                <a:gd name="T105"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6" h="27">
                  <a:moveTo>
                    <a:pt x="9" y="20"/>
                  </a:moveTo>
                  <a:cubicBezTo>
                    <a:pt x="0" y="15"/>
                    <a:pt x="0" y="15"/>
                    <a:pt x="0" y="15"/>
                  </a:cubicBezTo>
                  <a:cubicBezTo>
                    <a:pt x="0" y="13"/>
                    <a:pt x="0" y="13"/>
                    <a:pt x="0" y="13"/>
                  </a:cubicBezTo>
                  <a:cubicBezTo>
                    <a:pt x="4" y="15"/>
                    <a:pt x="4" y="15"/>
                    <a:pt x="4" y="15"/>
                  </a:cubicBezTo>
                  <a:cubicBezTo>
                    <a:pt x="10" y="5"/>
                    <a:pt x="10" y="5"/>
                    <a:pt x="10" y="5"/>
                  </a:cubicBezTo>
                  <a:cubicBezTo>
                    <a:pt x="6" y="3"/>
                    <a:pt x="6" y="3"/>
                    <a:pt x="6" y="3"/>
                  </a:cubicBezTo>
                  <a:cubicBezTo>
                    <a:pt x="7" y="2"/>
                    <a:pt x="7" y="2"/>
                    <a:pt x="7" y="2"/>
                  </a:cubicBezTo>
                  <a:cubicBezTo>
                    <a:pt x="8" y="3"/>
                    <a:pt x="9" y="3"/>
                    <a:pt x="10" y="3"/>
                  </a:cubicBezTo>
                  <a:cubicBezTo>
                    <a:pt x="11" y="3"/>
                    <a:pt x="11" y="3"/>
                    <a:pt x="12" y="2"/>
                  </a:cubicBezTo>
                  <a:cubicBezTo>
                    <a:pt x="14" y="4"/>
                    <a:pt x="14" y="4"/>
                    <a:pt x="14" y="4"/>
                  </a:cubicBezTo>
                  <a:cubicBezTo>
                    <a:pt x="6" y="17"/>
                    <a:pt x="6" y="17"/>
                    <a:pt x="6" y="17"/>
                  </a:cubicBezTo>
                  <a:cubicBezTo>
                    <a:pt x="10" y="19"/>
                    <a:pt x="10" y="19"/>
                    <a:pt x="10" y="19"/>
                  </a:cubicBezTo>
                  <a:lnTo>
                    <a:pt x="9" y="20"/>
                  </a:lnTo>
                  <a:close/>
                  <a:moveTo>
                    <a:pt x="37" y="14"/>
                  </a:moveTo>
                  <a:cubicBezTo>
                    <a:pt x="37" y="14"/>
                    <a:pt x="37" y="13"/>
                    <a:pt x="36" y="12"/>
                  </a:cubicBezTo>
                  <a:cubicBezTo>
                    <a:pt x="36" y="12"/>
                    <a:pt x="35" y="11"/>
                    <a:pt x="33" y="11"/>
                  </a:cubicBezTo>
                  <a:cubicBezTo>
                    <a:pt x="32" y="11"/>
                    <a:pt x="31" y="11"/>
                    <a:pt x="30" y="11"/>
                  </a:cubicBezTo>
                  <a:cubicBezTo>
                    <a:pt x="29" y="12"/>
                    <a:pt x="29" y="12"/>
                    <a:pt x="28" y="13"/>
                  </a:cubicBezTo>
                  <a:cubicBezTo>
                    <a:pt x="28" y="14"/>
                    <a:pt x="28" y="14"/>
                    <a:pt x="29" y="15"/>
                  </a:cubicBezTo>
                  <a:cubicBezTo>
                    <a:pt x="29" y="15"/>
                    <a:pt x="30" y="15"/>
                    <a:pt x="30" y="16"/>
                  </a:cubicBezTo>
                  <a:cubicBezTo>
                    <a:pt x="31" y="16"/>
                    <a:pt x="31" y="16"/>
                    <a:pt x="32" y="17"/>
                  </a:cubicBezTo>
                  <a:cubicBezTo>
                    <a:pt x="33" y="17"/>
                    <a:pt x="33" y="17"/>
                    <a:pt x="34" y="17"/>
                  </a:cubicBezTo>
                  <a:cubicBezTo>
                    <a:pt x="35" y="17"/>
                    <a:pt x="36" y="17"/>
                    <a:pt x="36" y="16"/>
                  </a:cubicBezTo>
                  <a:cubicBezTo>
                    <a:pt x="37" y="16"/>
                    <a:pt x="37" y="15"/>
                    <a:pt x="37" y="14"/>
                  </a:cubicBezTo>
                  <a:moveTo>
                    <a:pt x="36" y="23"/>
                  </a:moveTo>
                  <a:cubicBezTo>
                    <a:pt x="36" y="22"/>
                    <a:pt x="36" y="22"/>
                    <a:pt x="36" y="21"/>
                  </a:cubicBezTo>
                  <a:cubicBezTo>
                    <a:pt x="35" y="21"/>
                    <a:pt x="34" y="20"/>
                    <a:pt x="33" y="20"/>
                  </a:cubicBezTo>
                  <a:cubicBezTo>
                    <a:pt x="33" y="19"/>
                    <a:pt x="33" y="19"/>
                    <a:pt x="32" y="19"/>
                  </a:cubicBezTo>
                  <a:cubicBezTo>
                    <a:pt x="31" y="19"/>
                    <a:pt x="31" y="18"/>
                    <a:pt x="30" y="18"/>
                  </a:cubicBezTo>
                  <a:cubicBezTo>
                    <a:pt x="29" y="18"/>
                    <a:pt x="28" y="19"/>
                    <a:pt x="27" y="19"/>
                  </a:cubicBezTo>
                  <a:cubicBezTo>
                    <a:pt x="27" y="20"/>
                    <a:pt x="26" y="20"/>
                    <a:pt x="26" y="21"/>
                  </a:cubicBezTo>
                  <a:cubicBezTo>
                    <a:pt x="26" y="22"/>
                    <a:pt x="26" y="23"/>
                    <a:pt x="27" y="24"/>
                  </a:cubicBezTo>
                  <a:cubicBezTo>
                    <a:pt x="28" y="25"/>
                    <a:pt x="29" y="25"/>
                    <a:pt x="30" y="25"/>
                  </a:cubicBezTo>
                  <a:cubicBezTo>
                    <a:pt x="32" y="26"/>
                    <a:pt x="33" y="25"/>
                    <a:pt x="34" y="25"/>
                  </a:cubicBezTo>
                  <a:cubicBezTo>
                    <a:pt x="35" y="24"/>
                    <a:pt x="36" y="24"/>
                    <a:pt x="36" y="23"/>
                  </a:cubicBezTo>
                  <a:moveTo>
                    <a:pt x="30" y="27"/>
                  </a:moveTo>
                  <a:cubicBezTo>
                    <a:pt x="29" y="27"/>
                    <a:pt x="28" y="27"/>
                    <a:pt x="27" y="26"/>
                  </a:cubicBezTo>
                  <a:cubicBezTo>
                    <a:pt x="26" y="26"/>
                    <a:pt x="25" y="25"/>
                    <a:pt x="24" y="25"/>
                  </a:cubicBezTo>
                  <a:cubicBezTo>
                    <a:pt x="23" y="24"/>
                    <a:pt x="23" y="24"/>
                    <a:pt x="23" y="23"/>
                  </a:cubicBezTo>
                  <a:cubicBezTo>
                    <a:pt x="23" y="22"/>
                    <a:pt x="22" y="21"/>
                    <a:pt x="23" y="21"/>
                  </a:cubicBezTo>
                  <a:cubicBezTo>
                    <a:pt x="23" y="20"/>
                    <a:pt x="23" y="19"/>
                    <a:pt x="24" y="18"/>
                  </a:cubicBezTo>
                  <a:cubicBezTo>
                    <a:pt x="25" y="18"/>
                    <a:pt x="26" y="17"/>
                    <a:pt x="28" y="17"/>
                  </a:cubicBezTo>
                  <a:cubicBezTo>
                    <a:pt x="28" y="17"/>
                    <a:pt x="28" y="17"/>
                    <a:pt x="28" y="17"/>
                  </a:cubicBezTo>
                  <a:cubicBezTo>
                    <a:pt x="27" y="16"/>
                    <a:pt x="26" y="16"/>
                    <a:pt x="25" y="15"/>
                  </a:cubicBezTo>
                  <a:cubicBezTo>
                    <a:pt x="25" y="14"/>
                    <a:pt x="25" y="14"/>
                    <a:pt x="25" y="13"/>
                  </a:cubicBezTo>
                  <a:cubicBezTo>
                    <a:pt x="25" y="12"/>
                    <a:pt x="26" y="11"/>
                    <a:pt x="28" y="10"/>
                  </a:cubicBezTo>
                  <a:cubicBezTo>
                    <a:pt x="29" y="9"/>
                    <a:pt x="31" y="9"/>
                    <a:pt x="34" y="10"/>
                  </a:cubicBezTo>
                  <a:cubicBezTo>
                    <a:pt x="36" y="10"/>
                    <a:pt x="38" y="10"/>
                    <a:pt x="39" y="11"/>
                  </a:cubicBezTo>
                  <a:cubicBezTo>
                    <a:pt x="40" y="12"/>
                    <a:pt x="41" y="14"/>
                    <a:pt x="40" y="15"/>
                  </a:cubicBezTo>
                  <a:cubicBezTo>
                    <a:pt x="40" y="16"/>
                    <a:pt x="40" y="16"/>
                    <a:pt x="39" y="17"/>
                  </a:cubicBezTo>
                  <a:cubicBezTo>
                    <a:pt x="38" y="18"/>
                    <a:pt x="37" y="18"/>
                    <a:pt x="36" y="18"/>
                  </a:cubicBezTo>
                  <a:cubicBezTo>
                    <a:pt x="36" y="18"/>
                    <a:pt x="36" y="18"/>
                    <a:pt x="36" y="18"/>
                  </a:cubicBezTo>
                  <a:cubicBezTo>
                    <a:pt x="37" y="19"/>
                    <a:pt x="38" y="20"/>
                    <a:pt x="39" y="20"/>
                  </a:cubicBezTo>
                  <a:cubicBezTo>
                    <a:pt x="39" y="21"/>
                    <a:pt x="40" y="22"/>
                    <a:pt x="39" y="23"/>
                  </a:cubicBezTo>
                  <a:cubicBezTo>
                    <a:pt x="39" y="25"/>
                    <a:pt x="38" y="26"/>
                    <a:pt x="36" y="26"/>
                  </a:cubicBezTo>
                  <a:cubicBezTo>
                    <a:pt x="34" y="27"/>
                    <a:pt x="32" y="27"/>
                    <a:pt x="30" y="27"/>
                  </a:cubicBezTo>
                  <a:moveTo>
                    <a:pt x="63" y="17"/>
                  </a:moveTo>
                  <a:cubicBezTo>
                    <a:pt x="63" y="15"/>
                    <a:pt x="62" y="15"/>
                    <a:pt x="62" y="14"/>
                  </a:cubicBezTo>
                  <a:cubicBezTo>
                    <a:pt x="62" y="13"/>
                    <a:pt x="61" y="13"/>
                    <a:pt x="61" y="12"/>
                  </a:cubicBezTo>
                  <a:cubicBezTo>
                    <a:pt x="60" y="12"/>
                    <a:pt x="60" y="12"/>
                    <a:pt x="59" y="11"/>
                  </a:cubicBezTo>
                  <a:cubicBezTo>
                    <a:pt x="59" y="11"/>
                    <a:pt x="58" y="11"/>
                    <a:pt x="58" y="11"/>
                  </a:cubicBezTo>
                  <a:cubicBezTo>
                    <a:pt x="56" y="11"/>
                    <a:pt x="55" y="12"/>
                    <a:pt x="54" y="12"/>
                  </a:cubicBezTo>
                  <a:cubicBezTo>
                    <a:pt x="53" y="13"/>
                    <a:pt x="53" y="14"/>
                    <a:pt x="53" y="15"/>
                  </a:cubicBezTo>
                  <a:cubicBezTo>
                    <a:pt x="53" y="16"/>
                    <a:pt x="53" y="16"/>
                    <a:pt x="53" y="17"/>
                  </a:cubicBezTo>
                  <a:cubicBezTo>
                    <a:pt x="54" y="17"/>
                    <a:pt x="54" y="18"/>
                    <a:pt x="55" y="18"/>
                  </a:cubicBezTo>
                  <a:cubicBezTo>
                    <a:pt x="55" y="18"/>
                    <a:pt x="56" y="18"/>
                    <a:pt x="56" y="19"/>
                  </a:cubicBezTo>
                  <a:cubicBezTo>
                    <a:pt x="57" y="19"/>
                    <a:pt x="57" y="19"/>
                    <a:pt x="58" y="19"/>
                  </a:cubicBezTo>
                  <a:cubicBezTo>
                    <a:pt x="59" y="19"/>
                    <a:pt x="59" y="19"/>
                    <a:pt x="60" y="18"/>
                  </a:cubicBezTo>
                  <a:cubicBezTo>
                    <a:pt x="61" y="18"/>
                    <a:pt x="62" y="18"/>
                    <a:pt x="62" y="18"/>
                  </a:cubicBezTo>
                  <a:cubicBezTo>
                    <a:pt x="63" y="18"/>
                    <a:pt x="63" y="17"/>
                    <a:pt x="63" y="17"/>
                  </a:cubicBezTo>
                  <a:cubicBezTo>
                    <a:pt x="63" y="17"/>
                    <a:pt x="63" y="17"/>
                    <a:pt x="63" y="17"/>
                  </a:cubicBezTo>
                  <a:moveTo>
                    <a:pt x="50" y="15"/>
                  </a:moveTo>
                  <a:cubicBezTo>
                    <a:pt x="50" y="14"/>
                    <a:pt x="50" y="14"/>
                    <a:pt x="50" y="13"/>
                  </a:cubicBezTo>
                  <a:cubicBezTo>
                    <a:pt x="51" y="12"/>
                    <a:pt x="51" y="11"/>
                    <a:pt x="52" y="11"/>
                  </a:cubicBezTo>
                  <a:cubicBezTo>
                    <a:pt x="53" y="10"/>
                    <a:pt x="53" y="10"/>
                    <a:pt x="55" y="10"/>
                  </a:cubicBezTo>
                  <a:cubicBezTo>
                    <a:pt x="56" y="9"/>
                    <a:pt x="57" y="9"/>
                    <a:pt x="58" y="9"/>
                  </a:cubicBezTo>
                  <a:cubicBezTo>
                    <a:pt x="59" y="9"/>
                    <a:pt x="60" y="9"/>
                    <a:pt x="61" y="10"/>
                  </a:cubicBezTo>
                  <a:cubicBezTo>
                    <a:pt x="62" y="10"/>
                    <a:pt x="63" y="10"/>
                    <a:pt x="63" y="11"/>
                  </a:cubicBezTo>
                  <a:cubicBezTo>
                    <a:pt x="64" y="11"/>
                    <a:pt x="65" y="12"/>
                    <a:pt x="65" y="13"/>
                  </a:cubicBezTo>
                  <a:cubicBezTo>
                    <a:pt x="66" y="14"/>
                    <a:pt x="66" y="16"/>
                    <a:pt x="66" y="17"/>
                  </a:cubicBezTo>
                  <a:cubicBezTo>
                    <a:pt x="66" y="19"/>
                    <a:pt x="66" y="20"/>
                    <a:pt x="65" y="21"/>
                  </a:cubicBezTo>
                  <a:cubicBezTo>
                    <a:pt x="65" y="22"/>
                    <a:pt x="64" y="23"/>
                    <a:pt x="63" y="24"/>
                  </a:cubicBezTo>
                  <a:cubicBezTo>
                    <a:pt x="62" y="25"/>
                    <a:pt x="61" y="26"/>
                    <a:pt x="60" y="26"/>
                  </a:cubicBezTo>
                  <a:cubicBezTo>
                    <a:pt x="58" y="27"/>
                    <a:pt x="57" y="27"/>
                    <a:pt x="55" y="27"/>
                  </a:cubicBezTo>
                  <a:cubicBezTo>
                    <a:pt x="54" y="27"/>
                    <a:pt x="54" y="27"/>
                    <a:pt x="53" y="27"/>
                  </a:cubicBezTo>
                  <a:cubicBezTo>
                    <a:pt x="53" y="27"/>
                    <a:pt x="52" y="27"/>
                    <a:pt x="52" y="27"/>
                  </a:cubicBezTo>
                  <a:cubicBezTo>
                    <a:pt x="52" y="25"/>
                    <a:pt x="52" y="25"/>
                    <a:pt x="52" y="25"/>
                  </a:cubicBezTo>
                  <a:cubicBezTo>
                    <a:pt x="52" y="25"/>
                    <a:pt x="52" y="25"/>
                    <a:pt x="52" y="25"/>
                  </a:cubicBezTo>
                  <a:cubicBezTo>
                    <a:pt x="52" y="25"/>
                    <a:pt x="53" y="25"/>
                    <a:pt x="53" y="25"/>
                  </a:cubicBezTo>
                  <a:cubicBezTo>
                    <a:pt x="54" y="25"/>
                    <a:pt x="54" y="25"/>
                    <a:pt x="55" y="25"/>
                  </a:cubicBezTo>
                  <a:cubicBezTo>
                    <a:pt x="57" y="25"/>
                    <a:pt x="59" y="25"/>
                    <a:pt x="60" y="24"/>
                  </a:cubicBezTo>
                  <a:cubicBezTo>
                    <a:pt x="62" y="23"/>
                    <a:pt x="62" y="21"/>
                    <a:pt x="62" y="19"/>
                  </a:cubicBezTo>
                  <a:cubicBezTo>
                    <a:pt x="62" y="20"/>
                    <a:pt x="61" y="20"/>
                    <a:pt x="60" y="20"/>
                  </a:cubicBezTo>
                  <a:cubicBezTo>
                    <a:pt x="59" y="20"/>
                    <a:pt x="58" y="21"/>
                    <a:pt x="57" y="21"/>
                  </a:cubicBezTo>
                  <a:cubicBezTo>
                    <a:pt x="56" y="21"/>
                    <a:pt x="55" y="20"/>
                    <a:pt x="55" y="20"/>
                  </a:cubicBezTo>
                  <a:cubicBezTo>
                    <a:pt x="54" y="20"/>
                    <a:pt x="53" y="20"/>
                    <a:pt x="52" y="20"/>
                  </a:cubicBezTo>
                  <a:cubicBezTo>
                    <a:pt x="51" y="19"/>
                    <a:pt x="51" y="18"/>
                    <a:pt x="50" y="18"/>
                  </a:cubicBezTo>
                  <a:cubicBezTo>
                    <a:pt x="50" y="17"/>
                    <a:pt x="50" y="16"/>
                    <a:pt x="50" y="15"/>
                  </a:cubicBezTo>
                  <a:moveTo>
                    <a:pt x="86" y="1"/>
                  </a:moveTo>
                  <a:cubicBezTo>
                    <a:pt x="86" y="18"/>
                    <a:pt x="86" y="18"/>
                    <a:pt x="86" y="18"/>
                  </a:cubicBezTo>
                  <a:cubicBezTo>
                    <a:pt x="83" y="20"/>
                    <a:pt x="83" y="20"/>
                    <a:pt x="83" y="20"/>
                  </a:cubicBezTo>
                  <a:cubicBezTo>
                    <a:pt x="83" y="3"/>
                    <a:pt x="83" y="3"/>
                    <a:pt x="83" y="3"/>
                  </a:cubicBezTo>
                  <a:cubicBezTo>
                    <a:pt x="73" y="8"/>
                    <a:pt x="73" y="8"/>
                    <a:pt x="73" y="8"/>
                  </a:cubicBezTo>
                  <a:cubicBezTo>
                    <a:pt x="72" y="6"/>
                    <a:pt x="72" y="6"/>
                    <a:pt x="72" y="6"/>
                  </a:cubicBezTo>
                  <a:cubicBezTo>
                    <a:pt x="85" y="0"/>
                    <a:pt x="85" y="0"/>
                    <a:pt x="85" y="0"/>
                  </a:cubicBezTo>
                  <a:lnTo>
                    <a:pt x="86" y="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28" name="Freeform 126">
              <a:extLst>
                <a:ext uri="{FF2B5EF4-FFF2-40B4-BE49-F238E27FC236}">
                  <a16:creationId xmlns:a16="http://schemas.microsoft.com/office/drawing/2014/main" id="{59AF04A9-8673-4008-96E8-B5725D7279ED}"/>
                </a:ext>
              </a:extLst>
            </p:cNvPr>
            <p:cNvSpPr>
              <a:spLocks/>
            </p:cNvSpPr>
            <p:nvPr userDrawn="1"/>
          </p:nvSpPr>
          <p:spPr bwMode="auto">
            <a:xfrm>
              <a:off x="5778096" y="2774166"/>
              <a:ext cx="105882" cy="105882"/>
            </a:xfrm>
            <a:custGeom>
              <a:avLst/>
              <a:gdLst>
                <a:gd name="T0" fmla="*/ 2 w 11"/>
                <a:gd name="T1" fmla="*/ 12 h 12"/>
                <a:gd name="T2" fmla="*/ 2 w 11"/>
                <a:gd name="T3" fmla="*/ 8 h 12"/>
                <a:gd name="T4" fmla="*/ 1 w 11"/>
                <a:gd name="T5" fmla="*/ 3 h 12"/>
                <a:gd name="T6" fmla="*/ 8 w 11"/>
                <a:gd name="T7" fmla="*/ 3 h 12"/>
                <a:gd name="T8" fmla="*/ 9 w 11"/>
                <a:gd name="T9" fmla="*/ 5 h 12"/>
                <a:gd name="T10" fmla="*/ 8 w 11"/>
                <a:gd name="T11" fmla="*/ 11 h 12"/>
                <a:gd name="T12" fmla="*/ 2 w 11"/>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1" h="12">
                  <a:moveTo>
                    <a:pt x="2" y="12"/>
                  </a:moveTo>
                  <a:cubicBezTo>
                    <a:pt x="0" y="11"/>
                    <a:pt x="1" y="10"/>
                    <a:pt x="2" y="8"/>
                  </a:cubicBezTo>
                  <a:cubicBezTo>
                    <a:pt x="2" y="7"/>
                    <a:pt x="1" y="5"/>
                    <a:pt x="1" y="3"/>
                  </a:cubicBezTo>
                  <a:cubicBezTo>
                    <a:pt x="2" y="0"/>
                    <a:pt x="6" y="2"/>
                    <a:pt x="8" y="3"/>
                  </a:cubicBezTo>
                  <a:cubicBezTo>
                    <a:pt x="8" y="3"/>
                    <a:pt x="9" y="4"/>
                    <a:pt x="9" y="5"/>
                  </a:cubicBezTo>
                  <a:cubicBezTo>
                    <a:pt x="10" y="7"/>
                    <a:pt x="11" y="10"/>
                    <a:pt x="8" y="11"/>
                  </a:cubicBezTo>
                  <a:cubicBezTo>
                    <a:pt x="6" y="12"/>
                    <a:pt x="4" y="12"/>
                    <a:pt x="2" y="12"/>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29" name="Freeform 127">
              <a:extLst>
                <a:ext uri="{FF2B5EF4-FFF2-40B4-BE49-F238E27FC236}">
                  <a16:creationId xmlns:a16="http://schemas.microsoft.com/office/drawing/2014/main" id="{6AE58532-4864-407E-BB00-8F9393BB9FF9}"/>
                </a:ext>
              </a:extLst>
            </p:cNvPr>
            <p:cNvSpPr>
              <a:spLocks/>
            </p:cNvSpPr>
            <p:nvPr userDrawn="1"/>
          </p:nvSpPr>
          <p:spPr bwMode="auto">
            <a:xfrm>
              <a:off x="5505827" y="2456519"/>
              <a:ext cx="385714" cy="340336"/>
            </a:xfrm>
            <a:custGeom>
              <a:avLst/>
              <a:gdLst>
                <a:gd name="T0" fmla="*/ 7 w 41"/>
                <a:gd name="T1" fmla="*/ 35 h 36"/>
                <a:gd name="T2" fmla="*/ 7 w 41"/>
                <a:gd name="T3" fmla="*/ 35 h 36"/>
                <a:gd name="T4" fmla="*/ 7 w 41"/>
                <a:gd name="T5" fmla="*/ 34 h 36"/>
                <a:gd name="T6" fmla="*/ 15 w 41"/>
                <a:gd name="T7" fmla="*/ 32 h 36"/>
                <a:gd name="T8" fmla="*/ 20 w 41"/>
                <a:gd name="T9" fmla="*/ 28 h 36"/>
                <a:gd name="T10" fmla="*/ 6 w 41"/>
                <a:gd name="T11" fmla="*/ 29 h 36"/>
                <a:gd name="T12" fmla="*/ 2 w 41"/>
                <a:gd name="T13" fmla="*/ 26 h 36"/>
                <a:gd name="T14" fmla="*/ 2 w 41"/>
                <a:gd name="T15" fmla="*/ 26 h 36"/>
                <a:gd name="T16" fmla="*/ 3 w 41"/>
                <a:gd name="T17" fmla="*/ 21 h 36"/>
                <a:gd name="T18" fmla="*/ 19 w 41"/>
                <a:gd name="T19" fmla="*/ 21 h 36"/>
                <a:gd name="T20" fmla="*/ 24 w 41"/>
                <a:gd name="T21" fmla="*/ 20 h 36"/>
                <a:gd name="T22" fmla="*/ 29 w 41"/>
                <a:gd name="T23" fmla="*/ 3 h 36"/>
                <a:gd name="T24" fmla="*/ 35 w 41"/>
                <a:gd name="T25" fmla="*/ 6 h 36"/>
                <a:gd name="T26" fmla="*/ 36 w 41"/>
                <a:gd name="T27" fmla="*/ 7 h 36"/>
                <a:gd name="T28" fmla="*/ 36 w 41"/>
                <a:gd name="T29" fmla="*/ 7 h 36"/>
                <a:gd name="T30" fmla="*/ 35 w 41"/>
                <a:gd name="T31" fmla="*/ 11 h 36"/>
                <a:gd name="T32" fmla="*/ 31 w 41"/>
                <a:gd name="T33" fmla="*/ 20 h 36"/>
                <a:gd name="T34" fmla="*/ 40 w 41"/>
                <a:gd name="T35" fmla="*/ 19 h 36"/>
                <a:gd name="T36" fmla="*/ 38 w 41"/>
                <a:gd name="T37" fmla="*/ 23 h 36"/>
                <a:gd name="T38" fmla="*/ 29 w 41"/>
                <a:gd name="T39" fmla="*/ 24 h 36"/>
                <a:gd name="T40" fmla="*/ 23 w 41"/>
                <a:gd name="T41" fmla="*/ 32 h 36"/>
                <a:gd name="T42" fmla="*/ 21 w 41"/>
                <a:gd name="T43" fmla="*/ 34 h 36"/>
                <a:gd name="T44" fmla="*/ 14 w 41"/>
                <a:gd name="T45" fmla="*/ 35 h 36"/>
                <a:gd name="T46" fmla="*/ 7 w 41"/>
                <a:gd name="T47" fmla="*/ 3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36">
                  <a:moveTo>
                    <a:pt x="7" y="35"/>
                  </a:moveTo>
                  <a:cubicBezTo>
                    <a:pt x="7" y="35"/>
                    <a:pt x="7" y="35"/>
                    <a:pt x="7" y="35"/>
                  </a:cubicBezTo>
                  <a:cubicBezTo>
                    <a:pt x="7" y="35"/>
                    <a:pt x="7" y="35"/>
                    <a:pt x="7" y="34"/>
                  </a:cubicBezTo>
                  <a:cubicBezTo>
                    <a:pt x="8" y="34"/>
                    <a:pt x="15" y="32"/>
                    <a:pt x="15" y="32"/>
                  </a:cubicBezTo>
                  <a:cubicBezTo>
                    <a:pt x="17" y="31"/>
                    <a:pt x="19" y="30"/>
                    <a:pt x="20" y="28"/>
                  </a:cubicBezTo>
                  <a:cubicBezTo>
                    <a:pt x="15" y="28"/>
                    <a:pt x="11" y="30"/>
                    <a:pt x="6" y="29"/>
                  </a:cubicBezTo>
                  <a:cubicBezTo>
                    <a:pt x="4" y="28"/>
                    <a:pt x="3" y="27"/>
                    <a:pt x="2" y="26"/>
                  </a:cubicBezTo>
                  <a:cubicBezTo>
                    <a:pt x="2" y="26"/>
                    <a:pt x="2" y="26"/>
                    <a:pt x="2" y="26"/>
                  </a:cubicBezTo>
                  <a:cubicBezTo>
                    <a:pt x="0" y="24"/>
                    <a:pt x="0" y="22"/>
                    <a:pt x="3" y="21"/>
                  </a:cubicBezTo>
                  <a:cubicBezTo>
                    <a:pt x="7" y="23"/>
                    <a:pt x="15" y="22"/>
                    <a:pt x="19" y="21"/>
                  </a:cubicBezTo>
                  <a:cubicBezTo>
                    <a:pt x="20" y="21"/>
                    <a:pt x="23" y="21"/>
                    <a:pt x="24" y="20"/>
                  </a:cubicBezTo>
                  <a:cubicBezTo>
                    <a:pt x="26" y="15"/>
                    <a:pt x="27" y="9"/>
                    <a:pt x="29" y="3"/>
                  </a:cubicBezTo>
                  <a:cubicBezTo>
                    <a:pt x="31" y="0"/>
                    <a:pt x="33" y="3"/>
                    <a:pt x="35" y="6"/>
                  </a:cubicBezTo>
                  <a:cubicBezTo>
                    <a:pt x="35" y="6"/>
                    <a:pt x="36" y="6"/>
                    <a:pt x="36" y="7"/>
                  </a:cubicBezTo>
                  <a:cubicBezTo>
                    <a:pt x="36" y="7"/>
                    <a:pt x="36" y="7"/>
                    <a:pt x="36" y="7"/>
                  </a:cubicBezTo>
                  <a:cubicBezTo>
                    <a:pt x="37" y="9"/>
                    <a:pt x="37" y="10"/>
                    <a:pt x="35" y="11"/>
                  </a:cubicBezTo>
                  <a:cubicBezTo>
                    <a:pt x="33" y="14"/>
                    <a:pt x="32" y="17"/>
                    <a:pt x="31" y="20"/>
                  </a:cubicBezTo>
                  <a:cubicBezTo>
                    <a:pt x="34" y="20"/>
                    <a:pt x="37" y="18"/>
                    <a:pt x="40" y="19"/>
                  </a:cubicBezTo>
                  <a:cubicBezTo>
                    <a:pt x="41" y="21"/>
                    <a:pt x="40" y="22"/>
                    <a:pt x="38" y="23"/>
                  </a:cubicBezTo>
                  <a:cubicBezTo>
                    <a:pt x="36" y="23"/>
                    <a:pt x="33" y="24"/>
                    <a:pt x="29" y="24"/>
                  </a:cubicBezTo>
                  <a:cubicBezTo>
                    <a:pt x="28" y="27"/>
                    <a:pt x="26" y="30"/>
                    <a:pt x="23" y="32"/>
                  </a:cubicBezTo>
                  <a:cubicBezTo>
                    <a:pt x="23" y="33"/>
                    <a:pt x="21" y="34"/>
                    <a:pt x="21" y="34"/>
                  </a:cubicBezTo>
                  <a:cubicBezTo>
                    <a:pt x="19" y="34"/>
                    <a:pt x="17" y="35"/>
                    <a:pt x="14" y="35"/>
                  </a:cubicBezTo>
                  <a:cubicBezTo>
                    <a:pt x="8" y="36"/>
                    <a:pt x="8" y="35"/>
                    <a:pt x="7" y="35"/>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30" name="Freeform 128">
              <a:extLst>
                <a:ext uri="{FF2B5EF4-FFF2-40B4-BE49-F238E27FC236}">
                  <a16:creationId xmlns:a16="http://schemas.microsoft.com/office/drawing/2014/main" id="{60554049-1FD6-4DF7-9E9B-F40553943299}"/>
                </a:ext>
              </a:extLst>
            </p:cNvPr>
            <p:cNvSpPr>
              <a:spLocks/>
            </p:cNvSpPr>
            <p:nvPr userDrawn="1"/>
          </p:nvSpPr>
          <p:spPr bwMode="auto">
            <a:xfrm>
              <a:off x="4862970" y="2668283"/>
              <a:ext cx="151261" cy="310084"/>
            </a:xfrm>
            <a:custGeom>
              <a:avLst/>
              <a:gdLst>
                <a:gd name="T0" fmla="*/ 7 w 16"/>
                <a:gd name="T1" fmla="*/ 33 h 33"/>
                <a:gd name="T2" fmla="*/ 0 w 16"/>
                <a:gd name="T3" fmla="*/ 30 h 33"/>
                <a:gd name="T4" fmla="*/ 0 w 16"/>
                <a:gd name="T5" fmla="*/ 28 h 33"/>
                <a:gd name="T6" fmla="*/ 10 w 16"/>
                <a:gd name="T7" fmla="*/ 11 h 33"/>
                <a:gd name="T8" fmla="*/ 12 w 16"/>
                <a:gd name="T9" fmla="*/ 3 h 33"/>
                <a:gd name="T10" fmla="*/ 12 w 16"/>
                <a:gd name="T11" fmla="*/ 2 h 33"/>
                <a:gd name="T12" fmla="*/ 12 w 16"/>
                <a:gd name="T13" fmla="*/ 2 h 33"/>
                <a:gd name="T14" fmla="*/ 15 w 16"/>
                <a:gd name="T15" fmla="*/ 2 h 33"/>
                <a:gd name="T16" fmla="*/ 14 w 16"/>
                <a:gd name="T17" fmla="*/ 7 h 33"/>
                <a:gd name="T18" fmla="*/ 13 w 16"/>
                <a:gd name="T19" fmla="*/ 16 h 33"/>
                <a:gd name="T20" fmla="*/ 13 w 16"/>
                <a:gd name="T21" fmla="*/ 19 h 33"/>
                <a:gd name="T22" fmla="*/ 11 w 16"/>
                <a:gd name="T23" fmla="*/ 26 h 33"/>
                <a:gd name="T24" fmla="*/ 9 w 16"/>
                <a:gd name="T25" fmla="*/ 33 h 33"/>
                <a:gd name="T26" fmla="*/ 7 w 16"/>
                <a:gd name="T27"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33">
                  <a:moveTo>
                    <a:pt x="7" y="33"/>
                  </a:moveTo>
                  <a:cubicBezTo>
                    <a:pt x="5" y="33"/>
                    <a:pt x="2" y="31"/>
                    <a:pt x="0" y="30"/>
                  </a:cubicBezTo>
                  <a:cubicBezTo>
                    <a:pt x="0" y="30"/>
                    <a:pt x="0" y="29"/>
                    <a:pt x="0" y="28"/>
                  </a:cubicBezTo>
                  <a:cubicBezTo>
                    <a:pt x="4" y="23"/>
                    <a:pt x="7" y="17"/>
                    <a:pt x="10" y="11"/>
                  </a:cubicBezTo>
                  <a:cubicBezTo>
                    <a:pt x="11" y="8"/>
                    <a:pt x="11" y="5"/>
                    <a:pt x="12" y="3"/>
                  </a:cubicBezTo>
                  <a:cubicBezTo>
                    <a:pt x="12" y="3"/>
                    <a:pt x="12" y="3"/>
                    <a:pt x="12" y="2"/>
                  </a:cubicBezTo>
                  <a:cubicBezTo>
                    <a:pt x="12" y="2"/>
                    <a:pt x="12" y="2"/>
                    <a:pt x="12" y="2"/>
                  </a:cubicBezTo>
                  <a:cubicBezTo>
                    <a:pt x="13" y="1"/>
                    <a:pt x="14" y="0"/>
                    <a:pt x="15" y="2"/>
                  </a:cubicBezTo>
                  <a:cubicBezTo>
                    <a:pt x="16" y="3"/>
                    <a:pt x="14" y="5"/>
                    <a:pt x="14" y="7"/>
                  </a:cubicBezTo>
                  <a:cubicBezTo>
                    <a:pt x="14" y="10"/>
                    <a:pt x="14" y="13"/>
                    <a:pt x="13" y="16"/>
                  </a:cubicBezTo>
                  <a:cubicBezTo>
                    <a:pt x="13" y="16"/>
                    <a:pt x="13" y="16"/>
                    <a:pt x="13" y="19"/>
                  </a:cubicBezTo>
                  <a:cubicBezTo>
                    <a:pt x="12" y="21"/>
                    <a:pt x="11" y="24"/>
                    <a:pt x="11" y="26"/>
                  </a:cubicBezTo>
                  <a:cubicBezTo>
                    <a:pt x="10" y="28"/>
                    <a:pt x="10" y="31"/>
                    <a:pt x="9" y="33"/>
                  </a:cubicBezTo>
                  <a:cubicBezTo>
                    <a:pt x="8" y="33"/>
                    <a:pt x="8" y="33"/>
                    <a:pt x="7" y="33"/>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31" name="Freeform 129">
              <a:extLst>
                <a:ext uri="{FF2B5EF4-FFF2-40B4-BE49-F238E27FC236}">
                  <a16:creationId xmlns:a16="http://schemas.microsoft.com/office/drawing/2014/main" id="{C906261C-00D4-4ED2-98D5-735DA100347C}"/>
                </a:ext>
              </a:extLst>
            </p:cNvPr>
            <p:cNvSpPr>
              <a:spLocks/>
            </p:cNvSpPr>
            <p:nvPr userDrawn="1"/>
          </p:nvSpPr>
          <p:spPr bwMode="auto">
            <a:xfrm>
              <a:off x="5067172" y="2592653"/>
              <a:ext cx="121008" cy="121008"/>
            </a:xfrm>
            <a:custGeom>
              <a:avLst/>
              <a:gdLst>
                <a:gd name="T0" fmla="*/ 8 w 13"/>
                <a:gd name="T1" fmla="*/ 12 h 13"/>
                <a:gd name="T2" fmla="*/ 1 w 13"/>
                <a:gd name="T3" fmla="*/ 10 h 13"/>
                <a:gd name="T4" fmla="*/ 1 w 13"/>
                <a:gd name="T5" fmla="*/ 8 h 13"/>
                <a:gd name="T6" fmla="*/ 2 w 13"/>
                <a:gd name="T7" fmla="*/ 7 h 13"/>
                <a:gd name="T8" fmla="*/ 5 w 13"/>
                <a:gd name="T9" fmla="*/ 6 h 13"/>
                <a:gd name="T10" fmla="*/ 12 w 13"/>
                <a:gd name="T11" fmla="*/ 1 h 13"/>
                <a:gd name="T12" fmla="*/ 8 w 13"/>
                <a:gd name="T13" fmla="*/ 12 h 13"/>
              </a:gdLst>
              <a:ahLst/>
              <a:cxnLst>
                <a:cxn ang="0">
                  <a:pos x="T0" y="T1"/>
                </a:cxn>
                <a:cxn ang="0">
                  <a:pos x="T2" y="T3"/>
                </a:cxn>
                <a:cxn ang="0">
                  <a:pos x="T4" y="T5"/>
                </a:cxn>
                <a:cxn ang="0">
                  <a:pos x="T6" y="T7"/>
                </a:cxn>
                <a:cxn ang="0">
                  <a:pos x="T8" y="T9"/>
                </a:cxn>
                <a:cxn ang="0">
                  <a:pos x="T10" y="T11"/>
                </a:cxn>
                <a:cxn ang="0">
                  <a:pos x="T12" y="T13"/>
                </a:cxn>
              </a:cxnLst>
              <a:rect l="0" t="0" r="r" b="b"/>
              <a:pathLst>
                <a:path w="13" h="13">
                  <a:moveTo>
                    <a:pt x="8" y="12"/>
                  </a:moveTo>
                  <a:cubicBezTo>
                    <a:pt x="5" y="13"/>
                    <a:pt x="3" y="12"/>
                    <a:pt x="1" y="10"/>
                  </a:cubicBezTo>
                  <a:cubicBezTo>
                    <a:pt x="0" y="10"/>
                    <a:pt x="1" y="9"/>
                    <a:pt x="1" y="8"/>
                  </a:cubicBezTo>
                  <a:cubicBezTo>
                    <a:pt x="1" y="8"/>
                    <a:pt x="1" y="8"/>
                    <a:pt x="2" y="7"/>
                  </a:cubicBezTo>
                  <a:cubicBezTo>
                    <a:pt x="3" y="7"/>
                    <a:pt x="3" y="7"/>
                    <a:pt x="5" y="6"/>
                  </a:cubicBezTo>
                  <a:cubicBezTo>
                    <a:pt x="6" y="5"/>
                    <a:pt x="10" y="0"/>
                    <a:pt x="12" y="1"/>
                  </a:cubicBezTo>
                  <a:cubicBezTo>
                    <a:pt x="13" y="4"/>
                    <a:pt x="11" y="10"/>
                    <a:pt x="8" y="12"/>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32" name="Freeform 130">
              <a:extLst>
                <a:ext uri="{FF2B5EF4-FFF2-40B4-BE49-F238E27FC236}">
                  <a16:creationId xmlns:a16="http://schemas.microsoft.com/office/drawing/2014/main" id="{0CB271BF-2A22-44DA-800A-429D5D2C6B08}"/>
                </a:ext>
              </a:extLst>
            </p:cNvPr>
            <p:cNvSpPr>
              <a:spLocks/>
            </p:cNvSpPr>
            <p:nvPr userDrawn="1"/>
          </p:nvSpPr>
          <p:spPr bwMode="auto">
            <a:xfrm>
              <a:off x="4855407" y="2638031"/>
              <a:ext cx="90756" cy="105882"/>
            </a:xfrm>
            <a:custGeom>
              <a:avLst/>
              <a:gdLst>
                <a:gd name="T0" fmla="*/ 5 w 10"/>
                <a:gd name="T1" fmla="*/ 11 h 11"/>
                <a:gd name="T2" fmla="*/ 1 w 10"/>
                <a:gd name="T3" fmla="*/ 4 h 11"/>
                <a:gd name="T4" fmla="*/ 6 w 10"/>
                <a:gd name="T5" fmla="*/ 1 h 11"/>
                <a:gd name="T6" fmla="*/ 10 w 10"/>
                <a:gd name="T7" fmla="*/ 6 h 11"/>
                <a:gd name="T8" fmla="*/ 5 w 10"/>
                <a:gd name="T9" fmla="*/ 11 h 11"/>
              </a:gdLst>
              <a:ahLst/>
              <a:cxnLst>
                <a:cxn ang="0">
                  <a:pos x="T0" y="T1"/>
                </a:cxn>
                <a:cxn ang="0">
                  <a:pos x="T2" y="T3"/>
                </a:cxn>
                <a:cxn ang="0">
                  <a:pos x="T4" y="T5"/>
                </a:cxn>
                <a:cxn ang="0">
                  <a:pos x="T6" y="T7"/>
                </a:cxn>
                <a:cxn ang="0">
                  <a:pos x="T8" y="T9"/>
                </a:cxn>
              </a:cxnLst>
              <a:rect l="0" t="0" r="r" b="b"/>
              <a:pathLst>
                <a:path w="10" h="11">
                  <a:moveTo>
                    <a:pt x="5" y="11"/>
                  </a:moveTo>
                  <a:cubicBezTo>
                    <a:pt x="3" y="10"/>
                    <a:pt x="1" y="5"/>
                    <a:pt x="1" y="4"/>
                  </a:cubicBezTo>
                  <a:cubicBezTo>
                    <a:pt x="0" y="1"/>
                    <a:pt x="3" y="0"/>
                    <a:pt x="6" y="1"/>
                  </a:cubicBezTo>
                  <a:cubicBezTo>
                    <a:pt x="9" y="2"/>
                    <a:pt x="10" y="3"/>
                    <a:pt x="10" y="6"/>
                  </a:cubicBezTo>
                  <a:cubicBezTo>
                    <a:pt x="8" y="9"/>
                    <a:pt x="7" y="9"/>
                    <a:pt x="5" y="11"/>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33" name="Freeform 131">
              <a:extLst>
                <a:ext uri="{FF2B5EF4-FFF2-40B4-BE49-F238E27FC236}">
                  <a16:creationId xmlns:a16="http://schemas.microsoft.com/office/drawing/2014/main" id="{BD2BA7E8-05E4-4120-9C5F-584470625315}"/>
                </a:ext>
              </a:extLst>
            </p:cNvPr>
            <p:cNvSpPr>
              <a:spLocks/>
            </p:cNvSpPr>
            <p:nvPr userDrawn="1"/>
          </p:nvSpPr>
          <p:spPr bwMode="auto">
            <a:xfrm>
              <a:off x="5029357" y="2471645"/>
              <a:ext cx="143698" cy="158823"/>
            </a:xfrm>
            <a:custGeom>
              <a:avLst/>
              <a:gdLst>
                <a:gd name="T0" fmla="*/ 8 w 15"/>
                <a:gd name="T1" fmla="*/ 17 h 17"/>
                <a:gd name="T2" fmla="*/ 7 w 15"/>
                <a:gd name="T3" fmla="*/ 12 h 17"/>
                <a:gd name="T4" fmla="*/ 5 w 15"/>
                <a:gd name="T5" fmla="*/ 13 h 17"/>
                <a:gd name="T6" fmla="*/ 0 w 15"/>
                <a:gd name="T7" fmla="*/ 9 h 17"/>
                <a:gd name="T8" fmla="*/ 2 w 15"/>
                <a:gd name="T9" fmla="*/ 7 h 17"/>
                <a:gd name="T10" fmla="*/ 7 w 15"/>
                <a:gd name="T11" fmla="*/ 2 h 17"/>
                <a:gd name="T12" fmla="*/ 14 w 15"/>
                <a:gd name="T13" fmla="*/ 4 h 17"/>
                <a:gd name="T14" fmla="*/ 13 w 15"/>
                <a:gd name="T15" fmla="*/ 11 h 17"/>
                <a:gd name="T16" fmla="*/ 9 w 15"/>
                <a:gd name="T17" fmla="*/ 16 h 17"/>
                <a:gd name="T18" fmla="*/ 8 w 15"/>
                <a:gd name="T19"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7">
                  <a:moveTo>
                    <a:pt x="8" y="17"/>
                  </a:moveTo>
                  <a:cubicBezTo>
                    <a:pt x="7" y="16"/>
                    <a:pt x="8" y="12"/>
                    <a:pt x="7" y="12"/>
                  </a:cubicBezTo>
                  <a:cubicBezTo>
                    <a:pt x="6" y="12"/>
                    <a:pt x="6" y="13"/>
                    <a:pt x="5" y="13"/>
                  </a:cubicBezTo>
                  <a:cubicBezTo>
                    <a:pt x="3" y="13"/>
                    <a:pt x="0" y="11"/>
                    <a:pt x="0" y="9"/>
                  </a:cubicBezTo>
                  <a:cubicBezTo>
                    <a:pt x="1" y="7"/>
                    <a:pt x="0" y="8"/>
                    <a:pt x="2" y="7"/>
                  </a:cubicBezTo>
                  <a:cubicBezTo>
                    <a:pt x="4" y="5"/>
                    <a:pt x="6" y="3"/>
                    <a:pt x="7" y="2"/>
                  </a:cubicBezTo>
                  <a:cubicBezTo>
                    <a:pt x="11" y="0"/>
                    <a:pt x="13" y="1"/>
                    <a:pt x="14" y="4"/>
                  </a:cubicBezTo>
                  <a:cubicBezTo>
                    <a:pt x="15" y="7"/>
                    <a:pt x="14" y="9"/>
                    <a:pt x="13" y="11"/>
                  </a:cubicBezTo>
                  <a:cubicBezTo>
                    <a:pt x="12" y="13"/>
                    <a:pt x="10" y="15"/>
                    <a:pt x="9" y="16"/>
                  </a:cubicBezTo>
                  <a:cubicBezTo>
                    <a:pt x="9" y="17"/>
                    <a:pt x="8" y="17"/>
                    <a:pt x="8" y="17"/>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34" name="Freeform 132">
              <a:extLst>
                <a:ext uri="{FF2B5EF4-FFF2-40B4-BE49-F238E27FC236}">
                  <a16:creationId xmlns:a16="http://schemas.microsoft.com/office/drawing/2014/main" id="{1C9E3483-E531-4A2E-A483-890336EC3C6A}"/>
                </a:ext>
              </a:extLst>
            </p:cNvPr>
            <p:cNvSpPr>
              <a:spLocks/>
            </p:cNvSpPr>
            <p:nvPr userDrawn="1"/>
          </p:nvSpPr>
          <p:spPr bwMode="auto">
            <a:xfrm>
              <a:off x="4855407" y="2509460"/>
              <a:ext cx="90756" cy="98319"/>
            </a:xfrm>
            <a:custGeom>
              <a:avLst/>
              <a:gdLst>
                <a:gd name="T0" fmla="*/ 4 w 10"/>
                <a:gd name="T1" fmla="*/ 11 h 11"/>
                <a:gd name="T2" fmla="*/ 3 w 10"/>
                <a:gd name="T3" fmla="*/ 9 h 11"/>
                <a:gd name="T4" fmla="*/ 1 w 10"/>
                <a:gd name="T5" fmla="*/ 6 h 11"/>
                <a:gd name="T6" fmla="*/ 1 w 10"/>
                <a:gd name="T7" fmla="*/ 0 h 11"/>
                <a:gd name="T8" fmla="*/ 10 w 10"/>
                <a:gd name="T9" fmla="*/ 5 h 11"/>
                <a:gd name="T10" fmla="*/ 4 w 10"/>
                <a:gd name="T11" fmla="*/ 11 h 11"/>
              </a:gdLst>
              <a:ahLst/>
              <a:cxnLst>
                <a:cxn ang="0">
                  <a:pos x="T0" y="T1"/>
                </a:cxn>
                <a:cxn ang="0">
                  <a:pos x="T2" y="T3"/>
                </a:cxn>
                <a:cxn ang="0">
                  <a:pos x="T4" y="T5"/>
                </a:cxn>
                <a:cxn ang="0">
                  <a:pos x="T6" y="T7"/>
                </a:cxn>
                <a:cxn ang="0">
                  <a:pos x="T8" y="T9"/>
                </a:cxn>
                <a:cxn ang="0">
                  <a:pos x="T10" y="T11"/>
                </a:cxn>
              </a:cxnLst>
              <a:rect l="0" t="0" r="r" b="b"/>
              <a:pathLst>
                <a:path w="10" h="11">
                  <a:moveTo>
                    <a:pt x="4" y="11"/>
                  </a:moveTo>
                  <a:cubicBezTo>
                    <a:pt x="3" y="11"/>
                    <a:pt x="3" y="10"/>
                    <a:pt x="3" y="9"/>
                  </a:cubicBezTo>
                  <a:cubicBezTo>
                    <a:pt x="3" y="8"/>
                    <a:pt x="2" y="7"/>
                    <a:pt x="1" y="6"/>
                  </a:cubicBezTo>
                  <a:cubicBezTo>
                    <a:pt x="0" y="3"/>
                    <a:pt x="0" y="2"/>
                    <a:pt x="1" y="0"/>
                  </a:cubicBezTo>
                  <a:cubicBezTo>
                    <a:pt x="3" y="0"/>
                    <a:pt x="10" y="1"/>
                    <a:pt x="10" y="5"/>
                  </a:cubicBezTo>
                  <a:cubicBezTo>
                    <a:pt x="9" y="7"/>
                    <a:pt x="6" y="10"/>
                    <a:pt x="4" y="11"/>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35" name="Freeform 133">
              <a:extLst>
                <a:ext uri="{FF2B5EF4-FFF2-40B4-BE49-F238E27FC236}">
                  <a16:creationId xmlns:a16="http://schemas.microsoft.com/office/drawing/2014/main" id="{D4A49A8A-265A-4BC5-AE78-7593A9D0BF3F}"/>
                </a:ext>
              </a:extLst>
            </p:cNvPr>
            <p:cNvSpPr>
              <a:spLocks/>
            </p:cNvSpPr>
            <p:nvPr userDrawn="1"/>
          </p:nvSpPr>
          <p:spPr bwMode="auto">
            <a:xfrm>
              <a:off x="4356247" y="2880048"/>
              <a:ext cx="355462" cy="627731"/>
            </a:xfrm>
            <a:custGeom>
              <a:avLst/>
              <a:gdLst>
                <a:gd name="T0" fmla="*/ 22 w 38"/>
                <a:gd name="T1" fmla="*/ 64 h 66"/>
                <a:gd name="T2" fmla="*/ 13 w 38"/>
                <a:gd name="T3" fmla="*/ 61 h 66"/>
                <a:gd name="T4" fmla="*/ 13 w 38"/>
                <a:gd name="T5" fmla="*/ 59 h 66"/>
                <a:gd name="T6" fmla="*/ 13 w 38"/>
                <a:gd name="T7" fmla="*/ 59 h 66"/>
                <a:gd name="T8" fmla="*/ 8 w 38"/>
                <a:gd name="T9" fmla="*/ 46 h 66"/>
                <a:gd name="T10" fmla="*/ 7 w 38"/>
                <a:gd name="T11" fmla="*/ 42 h 66"/>
                <a:gd name="T12" fmla="*/ 10 w 38"/>
                <a:gd name="T13" fmla="*/ 44 h 66"/>
                <a:gd name="T14" fmla="*/ 11 w 38"/>
                <a:gd name="T15" fmla="*/ 42 h 66"/>
                <a:gd name="T16" fmla="*/ 11 w 38"/>
                <a:gd name="T17" fmla="*/ 33 h 66"/>
                <a:gd name="T18" fmla="*/ 8 w 38"/>
                <a:gd name="T19" fmla="*/ 31 h 66"/>
                <a:gd name="T20" fmla="*/ 4 w 38"/>
                <a:gd name="T21" fmla="*/ 34 h 66"/>
                <a:gd name="T22" fmla="*/ 4 w 38"/>
                <a:gd name="T23" fmla="*/ 27 h 66"/>
                <a:gd name="T24" fmla="*/ 0 w 38"/>
                <a:gd name="T25" fmla="*/ 23 h 66"/>
                <a:gd name="T26" fmla="*/ 6 w 38"/>
                <a:gd name="T27" fmla="*/ 21 h 66"/>
                <a:gd name="T28" fmla="*/ 10 w 38"/>
                <a:gd name="T29" fmla="*/ 23 h 66"/>
                <a:gd name="T30" fmla="*/ 11 w 38"/>
                <a:gd name="T31" fmla="*/ 25 h 66"/>
                <a:gd name="T32" fmla="*/ 12 w 38"/>
                <a:gd name="T33" fmla="*/ 24 h 66"/>
                <a:gd name="T34" fmla="*/ 12 w 38"/>
                <a:gd name="T35" fmla="*/ 17 h 66"/>
                <a:gd name="T36" fmla="*/ 7 w 38"/>
                <a:gd name="T37" fmla="*/ 10 h 66"/>
                <a:gd name="T38" fmla="*/ 12 w 38"/>
                <a:gd name="T39" fmla="*/ 6 h 66"/>
                <a:gd name="T40" fmla="*/ 13 w 38"/>
                <a:gd name="T41" fmla="*/ 1 h 66"/>
                <a:gd name="T42" fmla="*/ 14 w 38"/>
                <a:gd name="T43" fmla="*/ 0 h 66"/>
                <a:gd name="T44" fmla="*/ 16 w 38"/>
                <a:gd name="T45" fmla="*/ 1 h 66"/>
                <a:gd name="T46" fmla="*/ 18 w 38"/>
                <a:gd name="T47" fmla="*/ 12 h 66"/>
                <a:gd name="T48" fmla="*/ 17 w 38"/>
                <a:gd name="T49" fmla="*/ 8 h 66"/>
                <a:gd name="T50" fmla="*/ 22 w 38"/>
                <a:gd name="T51" fmla="*/ 3 h 66"/>
                <a:gd name="T52" fmla="*/ 25 w 38"/>
                <a:gd name="T53" fmla="*/ 7 h 66"/>
                <a:gd name="T54" fmla="*/ 26 w 38"/>
                <a:gd name="T55" fmla="*/ 8 h 66"/>
                <a:gd name="T56" fmla="*/ 35 w 38"/>
                <a:gd name="T57" fmla="*/ 15 h 66"/>
                <a:gd name="T58" fmla="*/ 37 w 38"/>
                <a:gd name="T59" fmla="*/ 19 h 66"/>
                <a:gd name="T60" fmla="*/ 37 w 38"/>
                <a:gd name="T61" fmla="*/ 20 h 66"/>
                <a:gd name="T62" fmla="*/ 37 w 38"/>
                <a:gd name="T63" fmla="*/ 20 h 66"/>
                <a:gd name="T64" fmla="*/ 36 w 38"/>
                <a:gd name="T65" fmla="*/ 24 h 66"/>
                <a:gd name="T66" fmla="*/ 23 w 38"/>
                <a:gd name="T67" fmla="*/ 15 h 66"/>
                <a:gd name="T68" fmla="*/ 23 w 38"/>
                <a:gd name="T69" fmla="*/ 15 h 66"/>
                <a:gd name="T70" fmla="*/ 27 w 38"/>
                <a:gd name="T71" fmla="*/ 25 h 66"/>
                <a:gd name="T72" fmla="*/ 22 w 38"/>
                <a:gd name="T73" fmla="*/ 27 h 66"/>
                <a:gd name="T74" fmla="*/ 22 w 38"/>
                <a:gd name="T75" fmla="*/ 25 h 66"/>
                <a:gd name="T76" fmla="*/ 15 w 38"/>
                <a:gd name="T77" fmla="*/ 19 h 66"/>
                <a:gd name="T78" fmla="*/ 16 w 38"/>
                <a:gd name="T79" fmla="*/ 27 h 66"/>
                <a:gd name="T80" fmla="*/ 17 w 38"/>
                <a:gd name="T81" fmla="*/ 31 h 66"/>
                <a:gd name="T82" fmla="*/ 21 w 38"/>
                <a:gd name="T83" fmla="*/ 35 h 66"/>
                <a:gd name="T84" fmla="*/ 22 w 38"/>
                <a:gd name="T85" fmla="*/ 38 h 66"/>
                <a:gd name="T86" fmla="*/ 22 w 38"/>
                <a:gd name="T87" fmla="*/ 39 h 66"/>
                <a:gd name="T88" fmla="*/ 22 w 38"/>
                <a:gd name="T89" fmla="*/ 44 h 66"/>
                <a:gd name="T90" fmla="*/ 21 w 38"/>
                <a:gd name="T91" fmla="*/ 44 h 66"/>
                <a:gd name="T92" fmla="*/ 17 w 38"/>
                <a:gd name="T93" fmla="*/ 38 h 66"/>
                <a:gd name="T94" fmla="*/ 16 w 38"/>
                <a:gd name="T95" fmla="*/ 44 h 66"/>
                <a:gd name="T96" fmla="*/ 13 w 38"/>
                <a:gd name="T97" fmla="*/ 46 h 66"/>
                <a:gd name="T98" fmla="*/ 13 w 38"/>
                <a:gd name="T99" fmla="*/ 46 h 66"/>
                <a:gd name="T100" fmla="*/ 12 w 38"/>
                <a:gd name="T101" fmla="*/ 47 h 66"/>
                <a:gd name="T102" fmla="*/ 14 w 38"/>
                <a:gd name="T103" fmla="*/ 50 h 66"/>
                <a:gd name="T104" fmla="*/ 23 w 38"/>
                <a:gd name="T105" fmla="*/ 62 h 66"/>
                <a:gd name="T106" fmla="*/ 22 w 38"/>
                <a:gd name="T107" fmla="*/ 6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8" h="66">
                  <a:moveTo>
                    <a:pt x="22" y="64"/>
                  </a:moveTo>
                  <a:cubicBezTo>
                    <a:pt x="19" y="66"/>
                    <a:pt x="12" y="65"/>
                    <a:pt x="13" y="61"/>
                  </a:cubicBezTo>
                  <a:cubicBezTo>
                    <a:pt x="13" y="60"/>
                    <a:pt x="13" y="59"/>
                    <a:pt x="13" y="59"/>
                  </a:cubicBezTo>
                  <a:cubicBezTo>
                    <a:pt x="13" y="59"/>
                    <a:pt x="13" y="59"/>
                    <a:pt x="13" y="59"/>
                  </a:cubicBezTo>
                  <a:cubicBezTo>
                    <a:pt x="12" y="54"/>
                    <a:pt x="9" y="50"/>
                    <a:pt x="8" y="46"/>
                  </a:cubicBezTo>
                  <a:cubicBezTo>
                    <a:pt x="7" y="45"/>
                    <a:pt x="7" y="44"/>
                    <a:pt x="7" y="42"/>
                  </a:cubicBezTo>
                  <a:cubicBezTo>
                    <a:pt x="8" y="42"/>
                    <a:pt x="9" y="43"/>
                    <a:pt x="10" y="44"/>
                  </a:cubicBezTo>
                  <a:cubicBezTo>
                    <a:pt x="11" y="44"/>
                    <a:pt x="11" y="43"/>
                    <a:pt x="11" y="42"/>
                  </a:cubicBezTo>
                  <a:cubicBezTo>
                    <a:pt x="11" y="39"/>
                    <a:pt x="11" y="36"/>
                    <a:pt x="11" y="33"/>
                  </a:cubicBezTo>
                  <a:cubicBezTo>
                    <a:pt x="10" y="32"/>
                    <a:pt x="9" y="31"/>
                    <a:pt x="8" y="31"/>
                  </a:cubicBezTo>
                  <a:cubicBezTo>
                    <a:pt x="8" y="32"/>
                    <a:pt x="6" y="37"/>
                    <a:pt x="4" y="34"/>
                  </a:cubicBezTo>
                  <a:cubicBezTo>
                    <a:pt x="5" y="32"/>
                    <a:pt x="5" y="29"/>
                    <a:pt x="4" y="27"/>
                  </a:cubicBezTo>
                  <a:cubicBezTo>
                    <a:pt x="2" y="25"/>
                    <a:pt x="0" y="24"/>
                    <a:pt x="0" y="23"/>
                  </a:cubicBezTo>
                  <a:cubicBezTo>
                    <a:pt x="0" y="20"/>
                    <a:pt x="4" y="20"/>
                    <a:pt x="6" y="21"/>
                  </a:cubicBezTo>
                  <a:cubicBezTo>
                    <a:pt x="8" y="21"/>
                    <a:pt x="8" y="17"/>
                    <a:pt x="10" y="23"/>
                  </a:cubicBezTo>
                  <a:cubicBezTo>
                    <a:pt x="10" y="24"/>
                    <a:pt x="11" y="24"/>
                    <a:pt x="11" y="25"/>
                  </a:cubicBezTo>
                  <a:cubicBezTo>
                    <a:pt x="12" y="25"/>
                    <a:pt x="12" y="24"/>
                    <a:pt x="12" y="24"/>
                  </a:cubicBezTo>
                  <a:cubicBezTo>
                    <a:pt x="12" y="22"/>
                    <a:pt x="12" y="19"/>
                    <a:pt x="12" y="17"/>
                  </a:cubicBezTo>
                  <a:cubicBezTo>
                    <a:pt x="10" y="15"/>
                    <a:pt x="8" y="13"/>
                    <a:pt x="7" y="10"/>
                  </a:cubicBezTo>
                  <a:cubicBezTo>
                    <a:pt x="7" y="8"/>
                    <a:pt x="10" y="6"/>
                    <a:pt x="12" y="6"/>
                  </a:cubicBezTo>
                  <a:cubicBezTo>
                    <a:pt x="13" y="4"/>
                    <a:pt x="13" y="3"/>
                    <a:pt x="13" y="1"/>
                  </a:cubicBezTo>
                  <a:cubicBezTo>
                    <a:pt x="13" y="1"/>
                    <a:pt x="13" y="1"/>
                    <a:pt x="14" y="0"/>
                  </a:cubicBezTo>
                  <a:cubicBezTo>
                    <a:pt x="15" y="0"/>
                    <a:pt x="15" y="0"/>
                    <a:pt x="16" y="1"/>
                  </a:cubicBezTo>
                  <a:cubicBezTo>
                    <a:pt x="18" y="3"/>
                    <a:pt x="14" y="11"/>
                    <a:pt x="18" y="12"/>
                  </a:cubicBezTo>
                  <a:cubicBezTo>
                    <a:pt x="19" y="11"/>
                    <a:pt x="18" y="9"/>
                    <a:pt x="17" y="8"/>
                  </a:cubicBezTo>
                  <a:cubicBezTo>
                    <a:pt x="17" y="6"/>
                    <a:pt x="20" y="4"/>
                    <a:pt x="22" y="3"/>
                  </a:cubicBezTo>
                  <a:cubicBezTo>
                    <a:pt x="26" y="3"/>
                    <a:pt x="25" y="4"/>
                    <a:pt x="25" y="7"/>
                  </a:cubicBezTo>
                  <a:cubicBezTo>
                    <a:pt x="26" y="7"/>
                    <a:pt x="26" y="8"/>
                    <a:pt x="26" y="8"/>
                  </a:cubicBezTo>
                  <a:cubicBezTo>
                    <a:pt x="30" y="11"/>
                    <a:pt x="30" y="11"/>
                    <a:pt x="35" y="15"/>
                  </a:cubicBezTo>
                  <a:cubicBezTo>
                    <a:pt x="36" y="16"/>
                    <a:pt x="37" y="17"/>
                    <a:pt x="37" y="19"/>
                  </a:cubicBezTo>
                  <a:cubicBezTo>
                    <a:pt x="37" y="19"/>
                    <a:pt x="37" y="19"/>
                    <a:pt x="37" y="20"/>
                  </a:cubicBezTo>
                  <a:cubicBezTo>
                    <a:pt x="37" y="20"/>
                    <a:pt x="37" y="20"/>
                    <a:pt x="37" y="20"/>
                  </a:cubicBezTo>
                  <a:cubicBezTo>
                    <a:pt x="38" y="21"/>
                    <a:pt x="38" y="24"/>
                    <a:pt x="36" y="24"/>
                  </a:cubicBezTo>
                  <a:cubicBezTo>
                    <a:pt x="32" y="21"/>
                    <a:pt x="27" y="18"/>
                    <a:pt x="23" y="15"/>
                  </a:cubicBezTo>
                  <a:cubicBezTo>
                    <a:pt x="23" y="15"/>
                    <a:pt x="23" y="15"/>
                    <a:pt x="23" y="15"/>
                  </a:cubicBezTo>
                  <a:cubicBezTo>
                    <a:pt x="25" y="17"/>
                    <a:pt x="27" y="22"/>
                    <a:pt x="27" y="25"/>
                  </a:cubicBezTo>
                  <a:cubicBezTo>
                    <a:pt x="26" y="26"/>
                    <a:pt x="24" y="27"/>
                    <a:pt x="22" y="27"/>
                  </a:cubicBezTo>
                  <a:cubicBezTo>
                    <a:pt x="22" y="26"/>
                    <a:pt x="22" y="26"/>
                    <a:pt x="22" y="25"/>
                  </a:cubicBezTo>
                  <a:cubicBezTo>
                    <a:pt x="21" y="23"/>
                    <a:pt x="17" y="21"/>
                    <a:pt x="15" y="19"/>
                  </a:cubicBezTo>
                  <a:cubicBezTo>
                    <a:pt x="14" y="21"/>
                    <a:pt x="16" y="25"/>
                    <a:pt x="16" y="27"/>
                  </a:cubicBezTo>
                  <a:cubicBezTo>
                    <a:pt x="16" y="28"/>
                    <a:pt x="16" y="30"/>
                    <a:pt x="17" y="31"/>
                  </a:cubicBezTo>
                  <a:cubicBezTo>
                    <a:pt x="18" y="32"/>
                    <a:pt x="19" y="34"/>
                    <a:pt x="21" y="35"/>
                  </a:cubicBezTo>
                  <a:cubicBezTo>
                    <a:pt x="21" y="36"/>
                    <a:pt x="22" y="37"/>
                    <a:pt x="22" y="38"/>
                  </a:cubicBezTo>
                  <a:cubicBezTo>
                    <a:pt x="22" y="38"/>
                    <a:pt x="22" y="38"/>
                    <a:pt x="22" y="39"/>
                  </a:cubicBezTo>
                  <a:cubicBezTo>
                    <a:pt x="23" y="40"/>
                    <a:pt x="24" y="44"/>
                    <a:pt x="22" y="44"/>
                  </a:cubicBezTo>
                  <a:cubicBezTo>
                    <a:pt x="21" y="44"/>
                    <a:pt x="21" y="44"/>
                    <a:pt x="21" y="44"/>
                  </a:cubicBezTo>
                  <a:cubicBezTo>
                    <a:pt x="20" y="41"/>
                    <a:pt x="18" y="39"/>
                    <a:pt x="17" y="38"/>
                  </a:cubicBezTo>
                  <a:cubicBezTo>
                    <a:pt x="16" y="40"/>
                    <a:pt x="17" y="42"/>
                    <a:pt x="16" y="44"/>
                  </a:cubicBezTo>
                  <a:cubicBezTo>
                    <a:pt x="15" y="45"/>
                    <a:pt x="14" y="46"/>
                    <a:pt x="13" y="46"/>
                  </a:cubicBezTo>
                  <a:cubicBezTo>
                    <a:pt x="13" y="46"/>
                    <a:pt x="13" y="46"/>
                    <a:pt x="13" y="46"/>
                  </a:cubicBezTo>
                  <a:cubicBezTo>
                    <a:pt x="12" y="46"/>
                    <a:pt x="12" y="46"/>
                    <a:pt x="12" y="47"/>
                  </a:cubicBezTo>
                  <a:cubicBezTo>
                    <a:pt x="12" y="48"/>
                    <a:pt x="13" y="49"/>
                    <a:pt x="14" y="50"/>
                  </a:cubicBezTo>
                  <a:cubicBezTo>
                    <a:pt x="16" y="54"/>
                    <a:pt x="19" y="58"/>
                    <a:pt x="23" y="62"/>
                  </a:cubicBezTo>
                  <a:cubicBezTo>
                    <a:pt x="23" y="63"/>
                    <a:pt x="23" y="63"/>
                    <a:pt x="22" y="6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36" name="Freeform 134">
              <a:extLst>
                <a:ext uri="{FF2B5EF4-FFF2-40B4-BE49-F238E27FC236}">
                  <a16:creationId xmlns:a16="http://schemas.microsoft.com/office/drawing/2014/main" id="{11885A49-A514-42B4-BAB9-016AE0BD009C}"/>
                </a:ext>
              </a:extLst>
            </p:cNvPr>
            <p:cNvSpPr>
              <a:spLocks/>
            </p:cNvSpPr>
            <p:nvPr userDrawn="1"/>
          </p:nvSpPr>
          <p:spPr bwMode="auto">
            <a:xfrm>
              <a:off x="4303306" y="3235510"/>
              <a:ext cx="98319" cy="83193"/>
            </a:xfrm>
            <a:custGeom>
              <a:avLst/>
              <a:gdLst>
                <a:gd name="T0" fmla="*/ 9 w 11"/>
                <a:gd name="T1" fmla="*/ 9 h 9"/>
                <a:gd name="T2" fmla="*/ 7 w 11"/>
                <a:gd name="T3" fmla="*/ 7 h 9"/>
                <a:gd name="T4" fmla="*/ 0 w 11"/>
                <a:gd name="T5" fmla="*/ 2 h 9"/>
                <a:gd name="T6" fmla="*/ 0 w 11"/>
                <a:gd name="T7" fmla="*/ 1 h 9"/>
                <a:gd name="T8" fmla="*/ 7 w 11"/>
                <a:gd name="T9" fmla="*/ 0 h 9"/>
                <a:gd name="T10" fmla="*/ 9 w 11"/>
                <a:gd name="T11" fmla="*/ 9 h 9"/>
              </a:gdLst>
              <a:ahLst/>
              <a:cxnLst>
                <a:cxn ang="0">
                  <a:pos x="T0" y="T1"/>
                </a:cxn>
                <a:cxn ang="0">
                  <a:pos x="T2" y="T3"/>
                </a:cxn>
                <a:cxn ang="0">
                  <a:pos x="T4" y="T5"/>
                </a:cxn>
                <a:cxn ang="0">
                  <a:pos x="T6" y="T7"/>
                </a:cxn>
                <a:cxn ang="0">
                  <a:pos x="T8" y="T9"/>
                </a:cxn>
                <a:cxn ang="0">
                  <a:pos x="T10" y="T11"/>
                </a:cxn>
              </a:cxnLst>
              <a:rect l="0" t="0" r="r" b="b"/>
              <a:pathLst>
                <a:path w="11" h="9">
                  <a:moveTo>
                    <a:pt x="9" y="9"/>
                  </a:moveTo>
                  <a:cubicBezTo>
                    <a:pt x="8" y="9"/>
                    <a:pt x="7" y="8"/>
                    <a:pt x="7" y="7"/>
                  </a:cubicBezTo>
                  <a:cubicBezTo>
                    <a:pt x="3" y="6"/>
                    <a:pt x="1" y="5"/>
                    <a:pt x="0" y="2"/>
                  </a:cubicBezTo>
                  <a:cubicBezTo>
                    <a:pt x="0" y="2"/>
                    <a:pt x="0" y="2"/>
                    <a:pt x="0" y="1"/>
                  </a:cubicBezTo>
                  <a:cubicBezTo>
                    <a:pt x="2" y="1"/>
                    <a:pt x="5" y="0"/>
                    <a:pt x="7" y="0"/>
                  </a:cubicBezTo>
                  <a:cubicBezTo>
                    <a:pt x="11" y="1"/>
                    <a:pt x="10" y="6"/>
                    <a:pt x="9" y="9"/>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37" name="Freeform 135">
              <a:extLst>
                <a:ext uri="{FF2B5EF4-FFF2-40B4-BE49-F238E27FC236}">
                  <a16:creationId xmlns:a16="http://schemas.microsoft.com/office/drawing/2014/main" id="{9732A052-027D-4794-92BF-30F2F73DE904}"/>
                </a:ext>
              </a:extLst>
            </p:cNvPr>
            <p:cNvSpPr>
              <a:spLocks/>
            </p:cNvSpPr>
            <p:nvPr userDrawn="1"/>
          </p:nvSpPr>
          <p:spPr bwMode="auto">
            <a:xfrm>
              <a:off x="4212550" y="3137191"/>
              <a:ext cx="105882" cy="98319"/>
            </a:xfrm>
            <a:custGeom>
              <a:avLst/>
              <a:gdLst>
                <a:gd name="T0" fmla="*/ 10 w 11"/>
                <a:gd name="T1" fmla="*/ 10 h 10"/>
                <a:gd name="T2" fmla="*/ 9 w 11"/>
                <a:gd name="T3" fmla="*/ 10 h 10"/>
                <a:gd name="T4" fmla="*/ 8 w 11"/>
                <a:gd name="T5" fmla="*/ 8 h 10"/>
                <a:gd name="T6" fmla="*/ 1 w 11"/>
                <a:gd name="T7" fmla="*/ 2 h 10"/>
                <a:gd name="T8" fmla="*/ 4 w 11"/>
                <a:gd name="T9" fmla="*/ 2 h 10"/>
                <a:gd name="T10" fmla="*/ 11 w 11"/>
                <a:gd name="T11" fmla="*/ 5 h 10"/>
                <a:gd name="T12" fmla="*/ 10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10" y="10"/>
                  </a:moveTo>
                  <a:cubicBezTo>
                    <a:pt x="9" y="10"/>
                    <a:pt x="9" y="10"/>
                    <a:pt x="9" y="10"/>
                  </a:cubicBezTo>
                  <a:cubicBezTo>
                    <a:pt x="8" y="9"/>
                    <a:pt x="8" y="9"/>
                    <a:pt x="8" y="8"/>
                  </a:cubicBezTo>
                  <a:cubicBezTo>
                    <a:pt x="4" y="8"/>
                    <a:pt x="0" y="6"/>
                    <a:pt x="1" y="2"/>
                  </a:cubicBezTo>
                  <a:cubicBezTo>
                    <a:pt x="2" y="1"/>
                    <a:pt x="2" y="2"/>
                    <a:pt x="4" y="2"/>
                  </a:cubicBezTo>
                  <a:cubicBezTo>
                    <a:pt x="7" y="2"/>
                    <a:pt x="11" y="0"/>
                    <a:pt x="11" y="5"/>
                  </a:cubicBezTo>
                  <a:cubicBezTo>
                    <a:pt x="11" y="6"/>
                    <a:pt x="10" y="8"/>
                    <a:pt x="10" y="10"/>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38" name="Freeform 136">
              <a:extLst>
                <a:ext uri="{FF2B5EF4-FFF2-40B4-BE49-F238E27FC236}">
                  <a16:creationId xmlns:a16="http://schemas.microsoft.com/office/drawing/2014/main" id="{2C7F9013-DA77-4B30-8DBD-3C45DE3E89C4}"/>
                </a:ext>
              </a:extLst>
            </p:cNvPr>
            <p:cNvSpPr>
              <a:spLocks/>
            </p:cNvSpPr>
            <p:nvPr userDrawn="1"/>
          </p:nvSpPr>
          <p:spPr bwMode="auto">
            <a:xfrm>
              <a:off x="4749525" y="3212821"/>
              <a:ext cx="1232773" cy="1066386"/>
            </a:xfrm>
            <a:custGeom>
              <a:avLst/>
              <a:gdLst>
                <a:gd name="T0" fmla="*/ 132 w 132"/>
                <a:gd name="T1" fmla="*/ 6 h 113"/>
                <a:gd name="T2" fmla="*/ 98 w 132"/>
                <a:gd name="T3" fmla="*/ 6 h 113"/>
                <a:gd name="T4" fmla="*/ 79 w 132"/>
                <a:gd name="T5" fmla="*/ 25 h 113"/>
                <a:gd name="T6" fmla="*/ 73 w 132"/>
                <a:gd name="T7" fmla="*/ 12 h 113"/>
                <a:gd name="T8" fmla="*/ 83 w 132"/>
                <a:gd name="T9" fmla="*/ 8 h 113"/>
                <a:gd name="T10" fmla="*/ 57 w 132"/>
                <a:gd name="T11" fmla="*/ 8 h 113"/>
                <a:gd name="T12" fmla="*/ 53 w 132"/>
                <a:gd name="T13" fmla="*/ 25 h 113"/>
                <a:gd name="T14" fmla="*/ 34 w 132"/>
                <a:gd name="T15" fmla="*/ 6 h 113"/>
                <a:gd name="T16" fmla="*/ 0 w 132"/>
                <a:gd name="T17" fmla="*/ 6 h 113"/>
                <a:gd name="T18" fmla="*/ 24 w 132"/>
                <a:gd name="T19" fmla="*/ 16 h 113"/>
                <a:gd name="T20" fmla="*/ 27 w 132"/>
                <a:gd name="T21" fmla="*/ 22 h 113"/>
                <a:gd name="T22" fmla="*/ 9 w 132"/>
                <a:gd name="T23" fmla="*/ 22 h 113"/>
                <a:gd name="T24" fmla="*/ 31 w 132"/>
                <a:gd name="T25" fmla="*/ 32 h 113"/>
                <a:gd name="T26" fmla="*/ 34 w 132"/>
                <a:gd name="T27" fmla="*/ 38 h 113"/>
                <a:gd name="T28" fmla="*/ 20 w 132"/>
                <a:gd name="T29" fmla="*/ 39 h 113"/>
                <a:gd name="T30" fmla="*/ 38 w 132"/>
                <a:gd name="T31" fmla="*/ 48 h 113"/>
                <a:gd name="T32" fmla="*/ 41 w 132"/>
                <a:gd name="T33" fmla="*/ 54 h 113"/>
                <a:gd name="T34" fmla="*/ 30 w 132"/>
                <a:gd name="T35" fmla="*/ 54 h 113"/>
                <a:gd name="T36" fmla="*/ 45 w 132"/>
                <a:gd name="T37" fmla="*/ 63 h 113"/>
                <a:gd name="T38" fmla="*/ 47 w 132"/>
                <a:gd name="T39" fmla="*/ 69 h 113"/>
                <a:gd name="T40" fmla="*/ 39 w 132"/>
                <a:gd name="T41" fmla="*/ 69 h 113"/>
                <a:gd name="T42" fmla="*/ 51 w 132"/>
                <a:gd name="T43" fmla="*/ 78 h 113"/>
                <a:gd name="T44" fmla="*/ 51 w 132"/>
                <a:gd name="T45" fmla="*/ 89 h 113"/>
                <a:gd name="T46" fmla="*/ 66 w 132"/>
                <a:gd name="T47" fmla="*/ 113 h 113"/>
                <a:gd name="T48" fmla="*/ 81 w 132"/>
                <a:gd name="T49" fmla="*/ 89 h 113"/>
                <a:gd name="T50" fmla="*/ 81 w 132"/>
                <a:gd name="T51" fmla="*/ 78 h 113"/>
                <a:gd name="T52" fmla="*/ 92 w 132"/>
                <a:gd name="T53" fmla="*/ 69 h 113"/>
                <a:gd name="T54" fmla="*/ 85 w 132"/>
                <a:gd name="T55" fmla="*/ 69 h 113"/>
                <a:gd name="T56" fmla="*/ 87 w 132"/>
                <a:gd name="T57" fmla="*/ 63 h 113"/>
                <a:gd name="T58" fmla="*/ 102 w 132"/>
                <a:gd name="T59" fmla="*/ 54 h 113"/>
                <a:gd name="T60" fmla="*/ 91 w 132"/>
                <a:gd name="T61" fmla="*/ 54 h 113"/>
                <a:gd name="T62" fmla="*/ 93 w 132"/>
                <a:gd name="T63" fmla="*/ 48 h 113"/>
                <a:gd name="T64" fmla="*/ 111 w 132"/>
                <a:gd name="T65" fmla="*/ 39 h 113"/>
                <a:gd name="T66" fmla="*/ 97 w 132"/>
                <a:gd name="T67" fmla="*/ 38 h 113"/>
                <a:gd name="T68" fmla="*/ 100 w 132"/>
                <a:gd name="T69" fmla="*/ 32 h 113"/>
                <a:gd name="T70" fmla="*/ 123 w 132"/>
                <a:gd name="T71" fmla="*/ 22 h 113"/>
                <a:gd name="T72" fmla="*/ 105 w 132"/>
                <a:gd name="T73" fmla="*/ 22 h 113"/>
                <a:gd name="T74" fmla="*/ 107 w 132"/>
                <a:gd name="T75" fmla="*/ 16 h 113"/>
                <a:gd name="T76" fmla="*/ 132 w 132"/>
                <a:gd name="T77" fmla="*/ 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2" h="113">
                  <a:moveTo>
                    <a:pt x="132" y="6"/>
                  </a:moveTo>
                  <a:cubicBezTo>
                    <a:pt x="98" y="6"/>
                    <a:pt x="98" y="6"/>
                    <a:pt x="98" y="6"/>
                  </a:cubicBezTo>
                  <a:cubicBezTo>
                    <a:pt x="88" y="6"/>
                    <a:pt x="83" y="16"/>
                    <a:pt x="79" y="25"/>
                  </a:cubicBezTo>
                  <a:cubicBezTo>
                    <a:pt x="73" y="12"/>
                    <a:pt x="73" y="12"/>
                    <a:pt x="73" y="12"/>
                  </a:cubicBezTo>
                  <a:cubicBezTo>
                    <a:pt x="83" y="8"/>
                    <a:pt x="83" y="8"/>
                    <a:pt x="83" y="8"/>
                  </a:cubicBezTo>
                  <a:cubicBezTo>
                    <a:pt x="77" y="3"/>
                    <a:pt x="59" y="0"/>
                    <a:pt x="57" y="8"/>
                  </a:cubicBezTo>
                  <a:cubicBezTo>
                    <a:pt x="53" y="25"/>
                    <a:pt x="53" y="25"/>
                    <a:pt x="53" y="25"/>
                  </a:cubicBezTo>
                  <a:cubicBezTo>
                    <a:pt x="50" y="17"/>
                    <a:pt x="45" y="6"/>
                    <a:pt x="34" y="6"/>
                  </a:cubicBezTo>
                  <a:cubicBezTo>
                    <a:pt x="0" y="6"/>
                    <a:pt x="0" y="6"/>
                    <a:pt x="0" y="6"/>
                  </a:cubicBezTo>
                  <a:cubicBezTo>
                    <a:pt x="4" y="14"/>
                    <a:pt x="8" y="17"/>
                    <a:pt x="24" y="16"/>
                  </a:cubicBezTo>
                  <a:cubicBezTo>
                    <a:pt x="27" y="22"/>
                    <a:pt x="27" y="22"/>
                    <a:pt x="27" y="22"/>
                  </a:cubicBezTo>
                  <a:cubicBezTo>
                    <a:pt x="9" y="22"/>
                    <a:pt x="9" y="22"/>
                    <a:pt x="9" y="22"/>
                  </a:cubicBezTo>
                  <a:cubicBezTo>
                    <a:pt x="14" y="32"/>
                    <a:pt x="17" y="32"/>
                    <a:pt x="31" y="32"/>
                  </a:cubicBezTo>
                  <a:cubicBezTo>
                    <a:pt x="34" y="38"/>
                    <a:pt x="34" y="38"/>
                    <a:pt x="34" y="38"/>
                  </a:cubicBezTo>
                  <a:cubicBezTo>
                    <a:pt x="20" y="39"/>
                    <a:pt x="20" y="39"/>
                    <a:pt x="20" y="39"/>
                  </a:cubicBezTo>
                  <a:cubicBezTo>
                    <a:pt x="23" y="45"/>
                    <a:pt x="27" y="48"/>
                    <a:pt x="38" y="48"/>
                  </a:cubicBezTo>
                  <a:cubicBezTo>
                    <a:pt x="41" y="54"/>
                    <a:pt x="41" y="54"/>
                    <a:pt x="41" y="54"/>
                  </a:cubicBezTo>
                  <a:cubicBezTo>
                    <a:pt x="30" y="54"/>
                    <a:pt x="30" y="54"/>
                    <a:pt x="30" y="54"/>
                  </a:cubicBezTo>
                  <a:cubicBezTo>
                    <a:pt x="34" y="61"/>
                    <a:pt x="36" y="64"/>
                    <a:pt x="45" y="63"/>
                  </a:cubicBezTo>
                  <a:cubicBezTo>
                    <a:pt x="47" y="69"/>
                    <a:pt x="47" y="69"/>
                    <a:pt x="47" y="69"/>
                  </a:cubicBezTo>
                  <a:cubicBezTo>
                    <a:pt x="39" y="69"/>
                    <a:pt x="39" y="69"/>
                    <a:pt x="39" y="69"/>
                  </a:cubicBezTo>
                  <a:cubicBezTo>
                    <a:pt x="43" y="77"/>
                    <a:pt x="46" y="77"/>
                    <a:pt x="51" y="78"/>
                  </a:cubicBezTo>
                  <a:cubicBezTo>
                    <a:pt x="55" y="78"/>
                    <a:pt x="56" y="86"/>
                    <a:pt x="51" y="89"/>
                  </a:cubicBezTo>
                  <a:cubicBezTo>
                    <a:pt x="66" y="113"/>
                    <a:pt x="66" y="113"/>
                    <a:pt x="66" y="113"/>
                  </a:cubicBezTo>
                  <a:cubicBezTo>
                    <a:pt x="81" y="89"/>
                    <a:pt x="81" y="89"/>
                    <a:pt x="81" y="89"/>
                  </a:cubicBezTo>
                  <a:cubicBezTo>
                    <a:pt x="76" y="86"/>
                    <a:pt x="76" y="78"/>
                    <a:pt x="81" y="78"/>
                  </a:cubicBezTo>
                  <a:cubicBezTo>
                    <a:pt x="85" y="77"/>
                    <a:pt x="89" y="77"/>
                    <a:pt x="92" y="69"/>
                  </a:cubicBezTo>
                  <a:cubicBezTo>
                    <a:pt x="85" y="69"/>
                    <a:pt x="85" y="69"/>
                    <a:pt x="85" y="69"/>
                  </a:cubicBezTo>
                  <a:cubicBezTo>
                    <a:pt x="87" y="63"/>
                    <a:pt x="87" y="63"/>
                    <a:pt x="87" y="63"/>
                  </a:cubicBezTo>
                  <a:cubicBezTo>
                    <a:pt x="96" y="64"/>
                    <a:pt x="98" y="60"/>
                    <a:pt x="102" y="54"/>
                  </a:cubicBezTo>
                  <a:cubicBezTo>
                    <a:pt x="91" y="54"/>
                    <a:pt x="91" y="54"/>
                    <a:pt x="91" y="54"/>
                  </a:cubicBezTo>
                  <a:cubicBezTo>
                    <a:pt x="93" y="48"/>
                    <a:pt x="93" y="48"/>
                    <a:pt x="93" y="48"/>
                  </a:cubicBezTo>
                  <a:cubicBezTo>
                    <a:pt x="105" y="48"/>
                    <a:pt x="108" y="45"/>
                    <a:pt x="111" y="39"/>
                  </a:cubicBezTo>
                  <a:cubicBezTo>
                    <a:pt x="97" y="38"/>
                    <a:pt x="97" y="38"/>
                    <a:pt x="97" y="38"/>
                  </a:cubicBezTo>
                  <a:cubicBezTo>
                    <a:pt x="100" y="32"/>
                    <a:pt x="100" y="32"/>
                    <a:pt x="100" y="32"/>
                  </a:cubicBezTo>
                  <a:cubicBezTo>
                    <a:pt x="115" y="32"/>
                    <a:pt x="118" y="32"/>
                    <a:pt x="123" y="22"/>
                  </a:cubicBezTo>
                  <a:cubicBezTo>
                    <a:pt x="105" y="22"/>
                    <a:pt x="105" y="22"/>
                    <a:pt x="105" y="22"/>
                  </a:cubicBezTo>
                  <a:cubicBezTo>
                    <a:pt x="107" y="16"/>
                    <a:pt x="107" y="16"/>
                    <a:pt x="107" y="16"/>
                  </a:cubicBezTo>
                  <a:cubicBezTo>
                    <a:pt x="123" y="17"/>
                    <a:pt x="128" y="14"/>
                    <a:pt x="132" y="6"/>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39" name="Freeform 137">
              <a:extLst>
                <a:ext uri="{FF2B5EF4-FFF2-40B4-BE49-F238E27FC236}">
                  <a16:creationId xmlns:a16="http://schemas.microsoft.com/office/drawing/2014/main" id="{BC9E6D63-1670-4E0B-8723-DAA70F35A435}"/>
                </a:ext>
              </a:extLst>
            </p:cNvPr>
            <p:cNvSpPr>
              <a:spLocks noEditPoints="1"/>
            </p:cNvSpPr>
            <p:nvPr userDrawn="1"/>
          </p:nvSpPr>
          <p:spPr bwMode="auto">
            <a:xfrm>
              <a:off x="6004987" y="2993493"/>
              <a:ext cx="484034" cy="325210"/>
            </a:xfrm>
            <a:custGeom>
              <a:avLst/>
              <a:gdLst>
                <a:gd name="T0" fmla="*/ 51 w 52"/>
                <a:gd name="T1" fmla="*/ 10 h 34"/>
                <a:gd name="T2" fmla="*/ 48 w 52"/>
                <a:gd name="T3" fmla="*/ 10 h 34"/>
                <a:gd name="T4" fmla="*/ 47 w 52"/>
                <a:gd name="T5" fmla="*/ 8 h 34"/>
                <a:gd name="T6" fmla="*/ 50 w 52"/>
                <a:gd name="T7" fmla="*/ 7 h 34"/>
                <a:gd name="T8" fmla="*/ 52 w 52"/>
                <a:gd name="T9" fmla="*/ 2 h 34"/>
                <a:gd name="T10" fmla="*/ 44 w 52"/>
                <a:gd name="T11" fmla="*/ 3 h 34"/>
                <a:gd name="T12" fmla="*/ 36 w 52"/>
                <a:gd name="T13" fmla="*/ 1 h 34"/>
                <a:gd name="T14" fmla="*/ 36 w 52"/>
                <a:gd name="T15" fmla="*/ 3 h 34"/>
                <a:gd name="T16" fmla="*/ 35 w 52"/>
                <a:gd name="T17" fmla="*/ 4 h 34"/>
                <a:gd name="T18" fmla="*/ 35 w 52"/>
                <a:gd name="T19" fmla="*/ 5 h 34"/>
                <a:gd name="T20" fmla="*/ 34 w 52"/>
                <a:gd name="T21" fmla="*/ 7 h 34"/>
                <a:gd name="T22" fmla="*/ 34 w 52"/>
                <a:gd name="T23" fmla="*/ 6 h 34"/>
                <a:gd name="T24" fmla="*/ 30 w 52"/>
                <a:gd name="T25" fmla="*/ 5 h 34"/>
                <a:gd name="T26" fmla="*/ 28 w 52"/>
                <a:gd name="T27" fmla="*/ 9 h 34"/>
                <a:gd name="T28" fmla="*/ 28 w 52"/>
                <a:gd name="T29" fmla="*/ 10 h 34"/>
                <a:gd name="T30" fmla="*/ 31 w 52"/>
                <a:gd name="T31" fmla="*/ 11 h 34"/>
                <a:gd name="T32" fmla="*/ 33 w 52"/>
                <a:gd name="T33" fmla="*/ 12 h 34"/>
                <a:gd name="T34" fmla="*/ 30 w 52"/>
                <a:gd name="T35" fmla="*/ 14 h 34"/>
                <a:gd name="T36" fmla="*/ 26 w 52"/>
                <a:gd name="T37" fmla="*/ 14 h 34"/>
                <a:gd name="T38" fmla="*/ 13 w 52"/>
                <a:gd name="T39" fmla="*/ 11 h 34"/>
                <a:gd name="T40" fmla="*/ 13 w 52"/>
                <a:gd name="T41" fmla="*/ 12 h 34"/>
                <a:gd name="T42" fmla="*/ 20 w 52"/>
                <a:gd name="T43" fmla="*/ 16 h 34"/>
                <a:gd name="T44" fmla="*/ 32 w 52"/>
                <a:gd name="T45" fmla="*/ 20 h 34"/>
                <a:gd name="T46" fmla="*/ 31 w 52"/>
                <a:gd name="T47" fmla="*/ 20 h 34"/>
                <a:gd name="T48" fmla="*/ 24 w 52"/>
                <a:gd name="T49" fmla="*/ 20 h 34"/>
                <a:gd name="T50" fmla="*/ 19 w 52"/>
                <a:gd name="T51" fmla="*/ 19 h 34"/>
                <a:gd name="T52" fmla="*/ 18 w 52"/>
                <a:gd name="T53" fmla="*/ 19 h 34"/>
                <a:gd name="T54" fmla="*/ 4 w 52"/>
                <a:gd name="T55" fmla="*/ 14 h 34"/>
                <a:gd name="T56" fmla="*/ 2 w 52"/>
                <a:gd name="T57" fmla="*/ 12 h 34"/>
                <a:gd name="T58" fmla="*/ 3 w 52"/>
                <a:gd name="T59" fmla="*/ 20 h 34"/>
                <a:gd name="T60" fmla="*/ 13 w 52"/>
                <a:gd name="T61" fmla="*/ 23 h 34"/>
                <a:gd name="T62" fmla="*/ 13 w 52"/>
                <a:gd name="T63" fmla="*/ 24 h 34"/>
                <a:gd name="T64" fmla="*/ 9 w 52"/>
                <a:gd name="T65" fmla="*/ 27 h 34"/>
                <a:gd name="T66" fmla="*/ 4 w 52"/>
                <a:gd name="T67" fmla="*/ 26 h 34"/>
                <a:gd name="T68" fmla="*/ 9 w 52"/>
                <a:gd name="T69" fmla="*/ 33 h 34"/>
                <a:gd name="T70" fmla="*/ 10 w 52"/>
                <a:gd name="T71" fmla="*/ 34 h 34"/>
                <a:gd name="T72" fmla="*/ 18 w 52"/>
                <a:gd name="T73" fmla="*/ 28 h 34"/>
                <a:gd name="T74" fmla="*/ 23 w 52"/>
                <a:gd name="T75" fmla="*/ 28 h 34"/>
                <a:gd name="T76" fmla="*/ 22 w 52"/>
                <a:gd name="T77" fmla="*/ 23 h 34"/>
                <a:gd name="T78" fmla="*/ 23 w 52"/>
                <a:gd name="T79" fmla="*/ 21 h 34"/>
                <a:gd name="T80" fmla="*/ 30 w 52"/>
                <a:gd name="T81" fmla="*/ 22 h 34"/>
                <a:gd name="T82" fmla="*/ 36 w 52"/>
                <a:gd name="T83" fmla="*/ 25 h 34"/>
                <a:gd name="T84" fmla="*/ 39 w 52"/>
                <a:gd name="T85" fmla="*/ 21 h 34"/>
                <a:gd name="T86" fmla="*/ 39 w 52"/>
                <a:gd name="T87" fmla="*/ 20 h 34"/>
                <a:gd name="T88" fmla="*/ 51 w 52"/>
                <a:gd name="T89" fmla="*/ 14 h 34"/>
                <a:gd name="T90" fmla="*/ 38 w 52"/>
                <a:gd name="T91" fmla="*/ 14 h 34"/>
                <a:gd name="T92" fmla="*/ 38 w 52"/>
                <a:gd name="T93" fmla="*/ 12 h 34"/>
                <a:gd name="T94" fmla="*/ 36 w 52"/>
                <a:gd name="T95" fmla="*/ 11 h 34"/>
                <a:gd name="T96" fmla="*/ 36 w 52"/>
                <a:gd name="T97" fmla="*/ 10 h 34"/>
                <a:gd name="T98" fmla="*/ 40 w 52"/>
                <a:gd name="T99" fmla="*/ 9 h 34"/>
                <a:gd name="T100" fmla="*/ 43 w 52"/>
                <a:gd name="T101" fmla="*/ 14 h 34"/>
                <a:gd name="T102" fmla="*/ 38 w 52"/>
                <a:gd name="T103" fmla="*/ 1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 h="34">
                  <a:moveTo>
                    <a:pt x="51" y="13"/>
                  </a:moveTo>
                  <a:cubicBezTo>
                    <a:pt x="51" y="12"/>
                    <a:pt x="51" y="12"/>
                    <a:pt x="51" y="12"/>
                  </a:cubicBezTo>
                  <a:cubicBezTo>
                    <a:pt x="51" y="11"/>
                    <a:pt x="51" y="11"/>
                    <a:pt x="51" y="10"/>
                  </a:cubicBezTo>
                  <a:cubicBezTo>
                    <a:pt x="51" y="10"/>
                    <a:pt x="50" y="10"/>
                    <a:pt x="50" y="10"/>
                  </a:cubicBezTo>
                  <a:cubicBezTo>
                    <a:pt x="49" y="10"/>
                    <a:pt x="49" y="10"/>
                    <a:pt x="49" y="10"/>
                  </a:cubicBezTo>
                  <a:cubicBezTo>
                    <a:pt x="48" y="10"/>
                    <a:pt x="48" y="10"/>
                    <a:pt x="48" y="10"/>
                  </a:cubicBezTo>
                  <a:cubicBezTo>
                    <a:pt x="48" y="9"/>
                    <a:pt x="48" y="9"/>
                    <a:pt x="48" y="9"/>
                  </a:cubicBezTo>
                  <a:cubicBezTo>
                    <a:pt x="48" y="9"/>
                    <a:pt x="48" y="9"/>
                    <a:pt x="48" y="9"/>
                  </a:cubicBezTo>
                  <a:cubicBezTo>
                    <a:pt x="47" y="8"/>
                    <a:pt x="47" y="8"/>
                    <a:pt x="47" y="8"/>
                  </a:cubicBezTo>
                  <a:cubicBezTo>
                    <a:pt x="47" y="8"/>
                    <a:pt x="47" y="8"/>
                    <a:pt x="47" y="8"/>
                  </a:cubicBezTo>
                  <a:cubicBezTo>
                    <a:pt x="48" y="8"/>
                    <a:pt x="48" y="8"/>
                    <a:pt x="48" y="8"/>
                  </a:cubicBezTo>
                  <a:cubicBezTo>
                    <a:pt x="48" y="7"/>
                    <a:pt x="49" y="7"/>
                    <a:pt x="50" y="7"/>
                  </a:cubicBezTo>
                  <a:cubicBezTo>
                    <a:pt x="50" y="7"/>
                    <a:pt x="50" y="7"/>
                    <a:pt x="50" y="7"/>
                  </a:cubicBezTo>
                  <a:cubicBezTo>
                    <a:pt x="50" y="7"/>
                    <a:pt x="50" y="7"/>
                    <a:pt x="50" y="7"/>
                  </a:cubicBezTo>
                  <a:cubicBezTo>
                    <a:pt x="51" y="6"/>
                    <a:pt x="52" y="4"/>
                    <a:pt x="52" y="2"/>
                  </a:cubicBezTo>
                  <a:cubicBezTo>
                    <a:pt x="52" y="2"/>
                    <a:pt x="51" y="2"/>
                    <a:pt x="50" y="2"/>
                  </a:cubicBezTo>
                  <a:cubicBezTo>
                    <a:pt x="49" y="2"/>
                    <a:pt x="48" y="2"/>
                    <a:pt x="46" y="3"/>
                  </a:cubicBezTo>
                  <a:cubicBezTo>
                    <a:pt x="46" y="3"/>
                    <a:pt x="45" y="3"/>
                    <a:pt x="44" y="3"/>
                  </a:cubicBezTo>
                  <a:cubicBezTo>
                    <a:pt x="43" y="3"/>
                    <a:pt x="43" y="3"/>
                    <a:pt x="43" y="3"/>
                  </a:cubicBezTo>
                  <a:cubicBezTo>
                    <a:pt x="41" y="2"/>
                    <a:pt x="41" y="2"/>
                    <a:pt x="36" y="0"/>
                  </a:cubicBezTo>
                  <a:cubicBezTo>
                    <a:pt x="36" y="0"/>
                    <a:pt x="36" y="0"/>
                    <a:pt x="36" y="1"/>
                  </a:cubicBezTo>
                  <a:cubicBezTo>
                    <a:pt x="35" y="1"/>
                    <a:pt x="35" y="2"/>
                    <a:pt x="36" y="3"/>
                  </a:cubicBezTo>
                  <a:cubicBezTo>
                    <a:pt x="36" y="3"/>
                    <a:pt x="36" y="3"/>
                    <a:pt x="36" y="3"/>
                  </a:cubicBezTo>
                  <a:cubicBezTo>
                    <a:pt x="36" y="3"/>
                    <a:pt x="36" y="3"/>
                    <a:pt x="36" y="3"/>
                  </a:cubicBezTo>
                  <a:cubicBezTo>
                    <a:pt x="36" y="3"/>
                    <a:pt x="36" y="3"/>
                    <a:pt x="36" y="3"/>
                  </a:cubicBezTo>
                  <a:cubicBezTo>
                    <a:pt x="35" y="4"/>
                    <a:pt x="35" y="4"/>
                    <a:pt x="35" y="4"/>
                  </a:cubicBezTo>
                  <a:cubicBezTo>
                    <a:pt x="35" y="4"/>
                    <a:pt x="35" y="4"/>
                    <a:pt x="35" y="4"/>
                  </a:cubicBezTo>
                  <a:cubicBezTo>
                    <a:pt x="35" y="4"/>
                    <a:pt x="35" y="4"/>
                    <a:pt x="35" y="4"/>
                  </a:cubicBezTo>
                  <a:cubicBezTo>
                    <a:pt x="35" y="4"/>
                    <a:pt x="35" y="4"/>
                    <a:pt x="35" y="4"/>
                  </a:cubicBezTo>
                  <a:cubicBezTo>
                    <a:pt x="35" y="4"/>
                    <a:pt x="35" y="5"/>
                    <a:pt x="35" y="5"/>
                  </a:cubicBezTo>
                  <a:cubicBezTo>
                    <a:pt x="35" y="5"/>
                    <a:pt x="35" y="5"/>
                    <a:pt x="35" y="5"/>
                  </a:cubicBezTo>
                  <a:cubicBezTo>
                    <a:pt x="35" y="6"/>
                    <a:pt x="35" y="6"/>
                    <a:pt x="35" y="6"/>
                  </a:cubicBezTo>
                  <a:cubicBezTo>
                    <a:pt x="34" y="7"/>
                    <a:pt x="34" y="7"/>
                    <a:pt x="34" y="7"/>
                  </a:cubicBezTo>
                  <a:cubicBezTo>
                    <a:pt x="34" y="7"/>
                    <a:pt x="34" y="7"/>
                    <a:pt x="34" y="7"/>
                  </a:cubicBezTo>
                  <a:cubicBezTo>
                    <a:pt x="34" y="7"/>
                    <a:pt x="34" y="7"/>
                    <a:pt x="34" y="7"/>
                  </a:cubicBezTo>
                  <a:cubicBezTo>
                    <a:pt x="34" y="6"/>
                    <a:pt x="34" y="6"/>
                    <a:pt x="34" y="6"/>
                  </a:cubicBezTo>
                  <a:cubicBezTo>
                    <a:pt x="33" y="6"/>
                    <a:pt x="33" y="6"/>
                    <a:pt x="32" y="5"/>
                  </a:cubicBezTo>
                  <a:cubicBezTo>
                    <a:pt x="32" y="5"/>
                    <a:pt x="32" y="5"/>
                    <a:pt x="32" y="5"/>
                  </a:cubicBezTo>
                  <a:cubicBezTo>
                    <a:pt x="31" y="5"/>
                    <a:pt x="31" y="5"/>
                    <a:pt x="30" y="5"/>
                  </a:cubicBezTo>
                  <a:cubicBezTo>
                    <a:pt x="30" y="6"/>
                    <a:pt x="30" y="6"/>
                    <a:pt x="30" y="6"/>
                  </a:cubicBezTo>
                  <a:cubicBezTo>
                    <a:pt x="30" y="7"/>
                    <a:pt x="30" y="7"/>
                    <a:pt x="30" y="7"/>
                  </a:cubicBezTo>
                  <a:cubicBezTo>
                    <a:pt x="30" y="7"/>
                    <a:pt x="30" y="8"/>
                    <a:pt x="28" y="9"/>
                  </a:cubicBezTo>
                  <a:cubicBezTo>
                    <a:pt x="27" y="8"/>
                    <a:pt x="27" y="8"/>
                    <a:pt x="27" y="8"/>
                  </a:cubicBezTo>
                  <a:cubicBezTo>
                    <a:pt x="26" y="8"/>
                    <a:pt x="26" y="9"/>
                    <a:pt x="26" y="9"/>
                  </a:cubicBezTo>
                  <a:cubicBezTo>
                    <a:pt x="26" y="10"/>
                    <a:pt x="26" y="10"/>
                    <a:pt x="28" y="10"/>
                  </a:cubicBezTo>
                  <a:cubicBezTo>
                    <a:pt x="29" y="10"/>
                    <a:pt x="29" y="11"/>
                    <a:pt x="30" y="11"/>
                  </a:cubicBezTo>
                  <a:cubicBezTo>
                    <a:pt x="30" y="11"/>
                    <a:pt x="30" y="11"/>
                    <a:pt x="30" y="11"/>
                  </a:cubicBezTo>
                  <a:cubicBezTo>
                    <a:pt x="31" y="11"/>
                    <a:pt x="31" y="11"/>
                    <a:pt x="31" y="11"/>
                  </a:cubicBezTo>
                  <a:cubicBezTo>
                    <a:pt x="32" y="11"/>
                    <a:pt x="32" y="11"/>
                    <a:pt x="32" y="11"/>
                  </a:cubicBezTo>
                  <a:cubicBezTo>
                    <a:pt x="33" y="11"/>
                    <a:pt x="33" y="11"/>
                    <a:pt x="33" y="11"/>
                  </a:cubicBezTo>
                  <a:cubicBezTo>
                    <a:pt x="33" y="12"/>
                    <a:pt x="33" y="12"/>
                    <a:pt x="33" y="12"/>
                  </a:cubicBezTo>
                  <a:cubicBezTo>
                    <a:pt x="31" y="12"/>
                    <a:pt x="31" y="12"/>
                    <a:pt x="31" y="12"/>
                  </a:cubicBezTo>
                  <a:cubicBezTo>
                    <a:pt x="31" y="12"/>
                    <a:pt x="31" y="13"/>
                    <a:pt x="30" y="13"/>
                  </a:cubicBezTo>
                  <a:cubicBezTo>
                    <a:pt x="30" y="14"/>
                    <a:pt x="30" y="14"/>
                    <a:pt x="30" y="14"/>
                  </a:cubicBezTo>
                  <a:cubicBezTo>
                    <a:pt x="29" y="15"/>
                    <a:pt x="29" y="15"/>
                    <a:pt x="29" y="15"/>
                  </a:cubicBezTo>
                  <a:cubicBezTo>
                    <a:pt x="29" y="14"/>
                    <a:pt x="29" y="14"/>
                    <a:pt x="29" y="14"/>
                  </a:cubicBezTo>
                  <a:cubicBezTo>
                    <a:pt x="28" y="14"/>
                    <a:pt x="27" y="14"/>
                    <a:pt x="26" y="14"/>
                  </a:cubicBezTo>
                  <a:cubicBezTo>
                    <a:pt x="24" y="13"/>
                    <a:pt x="24" y="13"/>
                    <a:pt x="24" y="13"/>
                  </a:cubicBezTo>
                  <a:cubicBezTo>
                    <a:pt x="22" y="13"/>
                    <a:pt x="18" y="12"/>
                    <a:pt x="15" y="11"/>
                  </a:cubicBezTo>
                  <a:cubicBezTo>
                    <a:pt x="15" y="11"/>
                    <a:pt x="14" y="11"/>
                    <a:pt x="13" y="11"/>
                  </a:cubicBezTo>
                  <a:cubicBezTo>
                    <a:pt x="12" y="10"/>
                    <a:pt x="12" y="10"/>
                    <a:pt x="12" y="10"/>
                  </a:cubicBezTo>
                  <a:cubicBezTo>
                    <a:pt x="11" y="11"/>
                    <a:pt x="11" y="11"/>
                    <a:pt x="11" y="11"/>
                  </a:cubicBezTo>
                  <a:cubicBezTo>
                    <a:pt x="12" y="11"/>
                    <a:pt x="12" y="12"/>
                    <a:pt x="13" y="12"/>
                  </a:cubicBezTo>
                  <a:cubicBezTo>
                    <a:pt x="13" y="12"/>
                    <a:pt x="13" y="12"/>
                    <a:pt x="13" y="12"/>
                  </a:cubicBezTo>
                  <a:cubicBezTo>
                    <a:pt x="14" y="13"/>
                    <a:pt x="14" y="15"/>
                    <a:pt x="16" y="16"/>
                  </a:cubicBezTo>
                  <a:cubicBezTo>
                    <a:pt x="17" y="16"/>
                    <a:pt x="18" y="16"/>
                    <a:pt x="20" y="16"/>
                  </a:cubicBezTo>
                  <a:cubicBezTo>
                    <a:pt x="23" y="16"/>
                    <a:pt x="28" y="17"/>
                    <a:pt x="31" y="19"/>
                  </a:cubicBezTo>
                  <a:cubicBezTo>
                    <a:pt x="32" y="20"/>
                    <a:pt x="32" y="20"/>
                    <a:pt x="32" y="20"/>
                  </a:cubicBezTo>
                  <a:cubicBezTo>
                    <a:pt x="32" y="20"/>
                    <a:pt x="32" y="20"/>
                    <a:pt x="32" y="20"/>
                  </a:cubicBezTo>
                  <a:cubicBezTo>
                    <a:pt x="32" y="20"/>
                    <a:pt x="32" y="20"/>
                    <a:pt x="32" y="20"/>
                  </a:cubicBezTo>
                  <a:cubicBezTo>
                    <a:pt x="32" y="20"/>
                    <a:pt x="32" y="20"/>
                    <a:pt x="32" y="20"/>
                  </a:cubicBezTo>
                  <a:cubicBezTo>
                    <a:pt x="31" y="20"/>
                    <a:pt x="31" y="20"/>
                    <a:pt x="31" y="20"/>
                  </a:cubicBezTo>
                  <a:cubicBezTo>
                    <a:pt x="30" y="20"/>
                    <a:pt x="30" y="21"/>
                    <a:pt x="30" y="21"/>
                  </a:cubicBezTo>
                  <a:cubicBezTo>
                    <a:pt x="29" y="21"/>
                    <a:pt x="29" y="21"/>
                    <a:pt x="29" y="21"/>
                  </a:cubicBezTo>
                  <a:cubicBezTo>
                    <a:pt x="26" y="20"/>
                    <a:pt x="26" y="20"/>
                    <a:pt x="24" y="20"/>
                  </a:cubicBezTo>
                  <a:cubicBezTo>
                    <a:pt x="23" y="19"/>
                    <a:pt x="22" y="18"/>
                    <a:pt x="21" y="18"/>
                  </a:cubicBezTo>
                  <a:cubicBezTo>
                    <a:pt x="21" y="18"/>
                    <a:pt x="20" y="19"/>
                    <a:pt x="19" y="19"/>
                  </a:cubicBezTo>
                  <a:cubicBezTo>
                    <a:pt x="19" y="19"/>
                    <a:pt x="19" y="19"/>
                    <a:pt x="19" y="19"/>
                  </a:cubicBezTo>
                  <a:cubicBezTo>
                    <a:pt x="19" y="19"/>
                    <a:pt x="19" y="19"/>
                    <a:pt x="19" y="19"/>
                  </a:cubicBezTo>
                  <a:cubicBezTo>
                    <a:pt x="19" y="20"/>
                    <a:pt x="19" y="20"/>
                    <a:pt x="19" y="20"/>
                  </a:cubicBezTo>
                  <a:cubicBezTo>
                    <a:pt x="18" y="19"/>
                    <a:pt x="18" y="19"/>
                    <a:pt x="18" y="19"/>
                  </a:cubicBezTo>
                  <a:cubicBezTo>
                    <a:pt x="18" y="19"/>
                    <a:pt x="18" y="19"/>
                    <a:pt x="17" y="19"/>
                  </a:cubicBezTo>
                  <a:cubicBezTo>
                    <a:pt x="16" y="19"/>
                    <a:pt x="15" y="18"/>
                    <a:pt x="14" y="18"/>
                  </a:cubicBezTo>
                  <a:cubicBezTo>
                    <a:pt x="10" y="17"/>
                    <a:pt x="7" y="16"/>
                    <a:pt x="4" y="14"/>
                  </a:cubicBezTo>
                  <a:cubicBezTo>
                    <a:pt x="3" y="13"/>
                    <a:pt x="3" y="13"/>
                    <a:pt x="2" y="12"/>
                  </a:cubicBezTo>
                  <a:cubicBezTo>
                    <a:pt x="2" y="12"/>
                    <a:pt x="2" y="12"/>
                    <a:pt x="2" y="12"/>
                  </a:cubicBezTo>
                  <a:cubicBezTo>
                    <a:pt x="2" y="12"/>
                    <a:pt x="2" y="12"/>
                    <a:pt x="2" y="12"/>
                  </a:cubicBezTo>
                  <a:cubicBezTo>
                    <a:pt x="2" y="11"/>
                    <a:pt x="2" y="11"/>
                    <a:pt x="2" y="11"/>
                  </a:cubicBezTo>
                  <a:cubicBezTo>
                    <a:pt x="1" y="11"/>
                    <a:pt x="1" y="12"/>
                    <a:pt x="0" y="12"/>
                  </a:cubicBezTo>
                  <a:cubicBezTo>
                    <a:pt x="0" y="14"/>
                    <a:pt x="2" y="19"/>
                    <a:pt x="3" y="20"/>
                  </a:cubicBezTo>
                  <a:cubicBezTo>
                    <a:pt x="4" y="20"/>
                    <a:pt x="5" y="21"/>
                    <a:pt x="6" y="21"/>
                  </a:cubicBezTo>
                  <a:cubicBezTo>
                    <a:pt x="8" y="21"/>
                    <a:pt x="11" y="22"/>
                    <a:pt x="12" y="23"/>
                  </a:cubicBezTo>
                  <a:cubicBezTo>
                    <a:pt x="13" y="23"/>
                    <a:pt x="13" y="23"/>
                    <a:pt x="13" y="23"/>
                  </a:cubicBezTo>
                  <a:cubicBezTo>
                    <a:pt x="13" y="23"/>
                    <a:pt x="13" y="23"/>
                    <a:pt x="13" y="23"/>
                  </a:cubicBezTo>
                  <a:cubicBezTo>
                    <a:pt x="13" y="23"/>
                    <a:pt x="13" y="23"/>
                    <a:pt x="13" y="23"/>
                  </a:cubicBezTo>
                  <a:cubicBezTo>
                    <a:pt x="13" y="24"/>
                    <a:pt x="13" y="24"/>
                    <a:pt x="13" y="24"/>
                  </a:cubicBezTo>
                  <a:cubicBezTo>
                    <a:pt x="12" y="25"/>
                    <a:pt x="11" y="26"/>
                    <a:pt x="10" y="26"/>
                  </a:cubicBezTo>
                  <a:cubicBezTo>
                    <a:pt x="10" y="27"/>
                    <a:pt x="10" y="27"/>
                    <a:pt x="10" y="27"/>
                  </a:cubicBezTo>
                  <a:cubicBezTo>
                    <a:pt x="10" y="27"/>
                    <a:pt x="9" y="27"/>
                    <a:pt x="9" y="27"/>
                  </a:cubicBezTo>
                  <a:cubicBezTo>
                    <a:pt x="9" y="27"/>
                    <a:pt x="9" y="27"/>
                    <a:pt x="9" y="27"/>
                  </a:cubicBezTo>
                  <a:cubicBezTo>
                    <a:pt x="9" y="28"/>
                    <a:pt x="8" y="28"/>
                    <a:pt x="8" y="28"/>
                  </a:cubicBezTo>
                  <a:cubicBezTo>
                    <a:pt x="7" y="28"/>
                    <a:pt x="5" y="27"/>
                    <a:pt x="4" y="26"/>
                  </a:cubicBezTo>
                  <a:cubicBezTo>
                    <a:pt x="4" y="26"/>
                    <a:pt x="3" y="26"/>
                    <a:pt x="3" y="26"/>
                  </a:cubicBezTo>
                  <a:cubicBezTo>
                    <a:pt x="3" y="26"/>
                    <a:pt x="3" y="26"/>
                    <a:pt x="3" y="26"/>
                  </a:cubicBezTo>
                  <a:cubicBezTo>
                    <a:pt x="4" y="29"/>
                    <a:pt x="6" y="31"/>
                    <a:pt x="9" y="33"/>
                  </a:cubicBezTo>
                  <a:cubicBezTo>
                    <a:pt x="9" y="34"/>
                    <a:pt x="9" y="34"/>
                    <a:pt x="9" y="34"/>
                  </a:cubicBezTo>
                  <a:cubicBezTo>
                    <a:pt x="10" y="34"/>
                    <a:pt x="10" y="34"/>
                    <a:pt x="10" y="34"/>
                  </a:cubicBezTo>
                  <a:cubicBezTo>
                    <a:pt x="10" y="34"/>
                    <a:pt x="10" y="34"/>
                    <a:pt x="10" y="34"/>
                  </a:cubicBezTo>
                  <a:cubicBezTo>
                    <a:pt x="12" y="34"/>
                    <a:pt x="15" y="31"/>
                    <a:pt x="16" y="29"/>
                  </a:cubicBezTo>
                  <a:cubicBezTo>
                    <a:pt x="16" y="29"/>
                    <a:pt x="17" y="28"/>
                    <a:pt x="17" y="28"/>
                  </a:cubicBezTo>
                  <a:cubicBezTo>
                    <a:pt x="18" y="28"/>
                    <a:pt x="18" y="28"/>
                    <a:pt x="18" y="28"/>
                  </a:cubicBezTo>
                  <a:cubicBezTo>
                    <a:pt x="19" y="27"/>
                    <a:pt x="19" y="27"/>
                    <a:pt x="19" y="27"/>
                  </a:cubicBezTo>
                  <a:cubicBezTo>
                    <a:pt x="19" y="27"/>
                    <a:pt x="19" y="27"/>
                    <a:pt x="19" y="27"/>
                  </a:cubicBezTo>
                  <a:cubicBezTo>
                    <a:pt x="21" y="27"/>
                    <a:pt x="22" y="27"/>
                    <a:pt x="23" y="28"/>
                  </a:cubicBezTo>
                  <a:cubicBezTo>
                    <a:pt x="24" y="28"/>
                    <a:pt x="25" y="26"/>
                    <a:pt x="25" y="25"/>
                  </a:cubicBezTo>
                  <a:cubicBezTo>
                    <a:pt x="25" y="25"/>
                    <a:pt x="25" y="25"/>
                    <a:pt x="25" y="25"/>
                  </a:cubicBezTo>
                  <a:cubicBezTo>
                    <a:pt x="24" y="24"/>
                    <a:pt x="23" y="23"/>
                    <a:pt x="22" y="23"/>
                  </a:cubicBezTo>
                  <a:cubicBezTo>
                    <a:pt x="22" y="23"/>
                    <a:pt x="22" y="23"/>
                    <a:pt x="22" y="23"/>
                  </a:cubicBezTo>
                  <a:cubicBezTo>
                    <a:pt x="22" y="22"/>
                    <a:pt x="22" y="22"/>
                    <a:pt x="22" y="22"/>
                  </a:cubicBezTo>
                  <a:cubicBezTo>
                    <a:pt x="23" y="21"/>
                    <a:pt x="23" y="21"/>
                    <a:pt x="23" y="21"/>
                  </a:cubicBezTo>
                  <a:cubicBezTo>
                    <a:pt x="23" y="20"/>
                    <a:pt x="23" y="20"/>
                    <a:pt x="23" y="20"/>
                  </a:cubicBezTo>
                  <a:cubicBezTo>
                    <a:pt x="24" y="20"/>
                    <a:pt x="24" y="20"/>
                    <a:pt x="24" y="20"/>
                  </a:cubicBezTo>
                  <a:cubicBezTo>
                    <a:pt x="26" y="21"/>
                    <a:pt x="28" y="22"/>
                    <a:pt x="30" y="22"/>
                  </a:cubicBezTo>
                  <a:cubicBezTo>
                    <a:pt x="32" y="23"/>
                    <a:pt x="32" y="23"/>
                    <a:pt x="32" y="23"/>
                  </a:cubicBezTo>
                  <a:cubicBezTo>
                    <a:pt x="33" y="23"/>
                    <a:pt x="33" y="23"/>
                    <a:pt x="33" y="23"/>
                  </a:cubicBezTo>
                  <a:cubicBezTo>
                    <a:pt x="34" y="24"/>
                    <a:pt x="35" y="25"/>
                    <a:pt x="36" y="25"/>
                  </a:cubicBezTo>
                  <a:cubicBezTo>
                    <a:pt x="36" y="25"/>
                    <a:pt x="37" y="25"/>
                    <a:pt x="37" y="25"/>
                  </a:cubicBezTo>
                  <a:cubicBezTo>
                    <a:pt x="38" y="23"/>
                    <a:pt x="39" y="22"/>
                    <a:pt x="39" y="21"/>
                  </a:cubicBezTo>
                  <a:cubicBezTo>
                    <a:pt x="39" y="21"/>
                    <a:pt x="39" y="21"/>
                    <a:pt x="39" y="21"/>
                  </a:cubicBezTo>
                  <a:cubicBezTo>
                    <a:pt x="39" y="21"/>
                    <a:pt x="40" y="21"/>
                    <a:pt x="40" y="21"/>
                  </a:cubicBezTo>
                  <a:cubicBezTo>
                    <a:pt x="39" y="21"/>
                    <a:pt x="39" y="21"/>
                    <a:pt x="39" y="21"/>
                  </a:cubicBezTo>
                  <a:cubicBezTo>
                    <a:pt x="39" y="20"/>
                    <a:pt x="39" y="20"/>
                    <a:pt x="39" y="20"/>
                  </a:cubicBezTo>
                  <a:cubicBezTo>
                    <a:pt x="39" y="20"/>
                    <a:pt x="40" y="20"/>
                    <a:pt x="40" y="20"/>
                  </a:cubicBezTo>
                  <a:cubicBezTo>
                    <a:pt x="43" y="19"/>
                    <a:pt x="47" y="17"/>
                    <a:pt x="50" y="16"/>
                  </a:cubicBezTo>
                  <a:cubicBezTo>
                    <a:pt x="51" y="15"/>
                    <a:pt x="52" y="15"/>
                    <a:pt x="51" y="14"/>
                  </a:cubicBezTo>
                  <a:cubicBezTo>
                    <a:pt x="51" y="13"/>
                    <a:pt x="51" y="13"/>
                    <a:pt x="51" y="13"/>
                  </a:cubicBezTo>
                  <a:moveTo>
                    <a:pt x="37" y="15"/>
                  </a:moveTo>
                  <a:cubicBezTo>
                    <a:pt x="38" y="14"/>
                    <a:pt x="38" y="14"/>
                    <a:pt x="38" y="14"/>
                  </a:cubicBezTo>
                  <a:cubicBezTo>
                    <a:pt x="39" y="13"/>
                    <a:pt x="39" y="13"/>
                    <a:pt x="39" y="13"/>
                  </a:cubicBezTo>
                  <a:cubicBezTo>
                    <a:pt x="39" y="13"/>
                    <a:pt x="39" y="12"/>
                    <a:pt x="38" y="12"/>
                  </a:cubicBezTo>
                  <a:cubicBezTo>
                    <a:pt x="38" y="12"/>
                    <a:pt x="38" y="12"/>
                    <a:pt x="38" y="12"/>
                  </a:cubicBezTo>
                  <a:cubicBezTo>
                    <a:pt x="38" y="12"/>
                    <a:pt x="38" y="12"/>
                    <a:pt x="38" y="12"/>
                  </a:cubicBezTo>
                  <a:cubicBezTo>
                    <a:pt x="37" y="12"/>
                    <a:pt x="37" y="12"/>
                    <a:pt x="37" y="12"/>
                  </a:cubicBezTo>
                  <a:cubicBezTo>
                    <a:pt x="36" y="11"/>
                    <a:pt x="36" y="11"/>
                    <a:pt x="36" y="11"/>
                  </a:cubicBezTo>
                  <a:cubicBezTo>
                    <a:pt x="36" y="11"/>
                    <a:pt x="36" y="11"/>
                    <a:pt x="36" y="11"/>
                  </a:cubicBezTo>
                  <a:cubicBezTo>
                    <a:pt x="37" y="10"/>
                    <a:pt x="37" y="10"/>
                    <a:pt x="37" y="10"/>
                  </a:cubicBezTo>
                  <a:cubicBezTo>
                    <a:pt x="36" y="10"/>
                    <a:pt x="36" y="10"/>
                    <a:pt x="36" y="10"/>
                  </a:cubicBezTo>
                  <a:cubicBezTo>
                    <a:pt x="37" y="10"/>
                    <a:pt x="37" y="10"/>
                    <a:pt x="37" y="10"/>
                  </a:cubicBezTo>
                  <a:cubicBezTo>
                    <a:pt x="40" y="9"/>
                    <a:pt x="40" y="9"/>
                    <a:pt x="40" y="9"/>
                  </a:cubicBezTo>
                  <a:cubicBezTo>
                    <a:pt x="40" y="9"/>
                    <a:pt x="40" y="9"/>
                    <a:pt x="40" y="9"/>
                  </a:cubicBezTo>
                  <a:cubicBezTo>
                    <a:pt x="41" y="9"/>
                    <a:pt x="41" y="9"/>
                    <a:pt x="41" y="9"/>
                  </a:cubicBezTo>
                  <a:cubicBezTo>
                    <a:pt x="41" y="10"/>
                    <a:pt x="43" y="11"/>
                    <a:pt x="43" y="13"/>
                  </a:cubicBezTo>
                  <a:cubicBezTo>
                    <a:pt x="43" y="14"/>
                    <a:pt x="43" y="14"/>
                    <a:pt x="43" y="14"/>
                  </a:cubicBezTo>
                  <a:cubicBezTo>
                    <a:pt x="42" y="15"/>
                    <a:pt x="40" y="16"/>
                    <a:pt x="38" y="16"/>
                  </a:cubicBezTo>
                  <a:cubicBezTo>
                    <a:pt x="38" y="16"/>
                    <a:pt x="38" y="16"/>
                    <a:pt x="38" y="16"/>
                  </a:cubicBezTo>
                  <a:cubicBezTo>
                    <a:pt x="38" y="15"/>
                    <a:pt x="38" y="15"/>
                    <a:pt x="38" y="15"/>
                  </a:cubicBezTo>
                  <a:cubicBezTo>
                    <a:pt x="37" y="15"/>
                    <a:pt x="37" y="15"/>
                    <a:pt x="37" y="15"/>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40" name="Freeform 138">
              <a:extLst>
                <a:ext uri="{FF2B5EF4-FFF2-40B4-BE49-F238E27FC236}">
                  <a16:creationId xmlns:a16="http://schemas.microsoft.com/office/drawing/2014/main" id="{142B2C2C-18C5-403A-B49B-991B4F131D2E}"/>
                </a:ext>
              </a:extLst>
            </p:cNvPr>
            <p:cNvSpPr>
              <a:spLocks/>
            </p:cNvSpPr>
            <p:nvPr userDrawn="1"/>
          </p:nvSpPr>
          <p:spPr bwMode="auto">
            <a:xfrm>
              <a:off x="6194063" y="2940552"/>
              <a:ext cx="75630" cy="143697"/>
            </a:xfrm>
            <a:custGeom>
              <a:avLst/>
              <a:gdLst>
                <a:gd name="T0" fmla="*/ 2 w 8"/>
                <a:gd name="T1" fmla="*/ 15 h 15"/>
                <a:gd name="T2" fmla="*/ 0 w 8"/>
                <a:gd name="T3" fmla="*/ 14 h 15"/>
                <a:gd name="T4" fmla="*/ 2 w 8"/>
                <a:gd name="T5" fmla="*/ 9 h 15"/>
                <a:gd name="T6" fmla="*/ 3 w 8"/>
                <a:gd name="T7" fmla="*/ 8 h 15"/>
                <a:gd name="T8" fmla="*/ 3 w 8"/>
                <a:gd name="T9" fmla="*/ 8 h 15"/>
                <a:gd name="T10" fmla="*/ 3 w 8"/>
                <a:gd name="T11" fmla="*/ 7 h 15"/>
                <a:gd name="T12" fmla="*/ 4 w 8"/>
                <a:gd name="T13" fmla="*/ 5 h 15"/>
                <a:gd name="T14" fmla="*/ 5 w 8"/>
                <a:gd name="T15" fmla="*/ 4 h 15"/>
                <a:gd name="T16" fmla="*/ 7 w 8"/>
                <a:gd name="T17" fmla="*/ 0 h 15"/>
                <a:gd name="T18" fmla="*/ 8 w 8"/>
                <a:gd name="T19" fmla="*/ 1 h 15"/>
                <a:gd name="T20" fmla="*/ 8 w 8"/>
                <a:gd name="T21" fmla="*/ 2 h 15"/>
                <a:gd name="T22" fmla="*/ 8 w 8"/>
                <a:gd name="T23" fmla="*/ 2 h 15"/>
                <a:gd name="T24" fmla="*/ 8 w 8"/>
                <a:gd name="T25" fmla="*/ 3 h 15"/>
                <a:gd name="T26" fmla="*/ 8 w 8"/>
                <a:gd name="T27" fmla="*/ 7 h 15"/>
                <a:gd name="T28" fmla="*/ 8 w 8"/>
                <a:gd name="T29" fmla="*/ 8 h 15"/>
                <a:gd name="T30" fmla="*/ 8 w 8"/>
                <a:gd name="T31" fmla="*/ 9 h 15"/>
                <a:gd name="T32" fmla="*/ 6 w 8"/>
                <a:gd name="T33" fmla="*/ 13 h 15"/>
                <a:gd name="T34" fmla="*/ 5 w 8"/>
                <a:gd name="T35" fmla="*/ 14 h 15"/>
                <a:gd name="T36" fmla="*/ 5 w 8"/>
                <a:gd name="T37" fmla="*/ 14 h 15"/>
                <a:gd name="T38" fmla="*/ 3 w 8"/>
                <a:gd name="T39" fmla="*/ 15 h 15"/>
                <a:gd name="T40" fmla="*/ 2 w 8"/>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 h="15">
                  <a:moveTo>
                    <a:pt x="2" y="15"/>
                  </a:moveTo>
                  <a:cubicBezTo>
                    <a:pt x="2" y="15"/>
                    <a:pt x="1" y="14"/>
                    <a:pt x="0" y="14"/>
                  </a:cubicBezTo>
                  <a:cubicBezTo>
                    <a:pt x="0" y="12"/>
                    <a:pt x="1" y="11"/>
                    <a:pt x="2" y="9"/>
                  </a:cubicBezTo>
                  <a:cubicBezTo>
                    <a:pt x="2" y="9"/>
                    <a:pt x="3" y="8"/>
                    <a:pt x="3" y="8"/>
                  </a:cubicBezTo>
                  <a:cubicBezTo>
                    <a:pt x="3" y="8"/>
                    <a:pt x="3" y="8"/>
                    <a:pt x="3" y="8"/>
                  </a:cubicBezTo>
                  <a:cubicBezTo>
                    <a:pt x="3" y="7"/>
                    <a:pt x="3" y="7"/>
                    <a:pt x="3" y="7"/>
                  </a:cubicBezTo>
                  <a:cubicBezTo>
                    <a:pt x="4" y="7"/>
                    <a:pt x="4" y="6"/>
                    <a:pt x="4" y="5"/>
                  </a:cubicBezTo>
                  <a:cubicBezTo>
                    <a:pt x="4" y="5"/>
                    <a:pt x="4" y="4"/>
                    <a:pt x="5" y="4"/>
                  </a:cubicBezTo>
                  <a:cubicBezTo>
                    <a:pt x="5" y="2"/>
                    <a:pt x="6" y="0"/>
                    <a:pt x="7" y="0"/>
                  </a:cubicBezTo>
                  <a:cubicBezTo>
                    <a:pt x="7" y="0"/>
                    <a:pt x="8" y="0"/>
                    <a:pt x="8" y="1"/>
                  </a:cubicBezTo>
                  <a:cubicBezTo>
                    <a:pt x="8" y="1"/>
                    <a:pt x="8" y="1"/>
                    <a:pt x="8" y="2"/>
                  </a:cubicBezTo>
                  <a:cubicBezTo>
                    <a:pt x="8" y="2"/>
                    <a:pt x="8" y="2"/>
                    <a:pt x="8" y="2"/>
                  </a:cubicBezTo>
                  <a:cubicBezTo>
                    <a:pt x="8" y="3"/>
                    <a:pt x="8" y="3"/>
                    <a:pt x="8" y="3"/>
                  </a:cubicBezTo>
                  <a:cubicBezTo>
                    <a:pt x="8" y="5"/>
                    <a:pt x="8" y="6"/>
                    <a:pt x="8" y="7"/>
                  </a:cubicBezTo>
                  <a:cubicBezTo>
                    <a:pt x="8" y="8"/>
                    <a:pt x="8" y="8"/>
                    <a:pt x="8" y="8"/>
                  </a:cubicBezTo>
                  <a:cubicBezTo>
                    <a:pt x="8" y="8"/>
                    <a:pt x="8" y="9"/>
                    <a:pt x="8" y="9"/>
                  </a:cubicBezTo>
                  <a:cubicBezTo>
                    <a:pt x="7" y="11"/>
                    <a:pt x="7" y="12"/>
                    <a:pt x="6" y="13"/>
                  </a:cubicBezTo>
                  <a:cubicBezTo>
                    <a:pt x="5" y="14"/>
                    <a:pt x="5" y="14"/>
                    <a:pt x="5" y="14"/>
                  </a:cubicBezTo>
                  <a:cubicBezTo>
                    <a:pt x="5" y="14"/>
                    <a:pt x="5" y="14"/>
                    <a:pt x="5" y="14"/>
                  </a:cubicBezTo>
                  <a:cubicBezTo>
                    <a:pt x="4" y="14"/>
                    <a:pt x="3" y="15"/>
                    <a:pt x="3" y="15"/>
                  </a:cubicBezTo>
                  <a:lnTo>
                    <a:pt x="2" y="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41" name="Freeform 139">
              <a:extLst>
                <a:ext uri="{FF2B5EF4-FFF2-40B4-BE49-F238E27FC236}">
                  <a16:creationId xmlns:a16="http://schemas.microsoft.com/office/drawing/2014/main" id="{FEB5C345-8555-4F14-9331-547B2C4B1A85}"/>
                </a:ext>
              </a:extLst>
            </p:cNvPr>
            <p:cNvSpPr>
              <a:spLocks/>
            </p:cNvSpPr>
            <p:nvPr userDrawn="1"/>
          </p:nvSpPr>
          <p:spPr bwMode="auto">
            <a:xfrm>
              <a:off x="6194063" y="2940552"/>
              <a:ext cx="75630" cy="143697"/>
            </a:xfrm>
            <a:custGeom>
              <a:avLst/>
              <a:gdLst>
                <a:gd name="T0" fmla="*/ 2 w 8"/>
                <a:gd name="T1" fmla="*/ 15 h 15"/>
                <a:gd name="T2" fmla="*/ 3 w 8"/>
                <a:gd name="T3" fmla="*/ 15 h 15"/>
                <a:gd name="T4" fmla="*/ 5 w 8"/>
                <a:gd name="T5" fmla="*/ 14 h 15"/>
                <a:gd name="T6" fmla="*/ 5 w 8"/>
                <a:gd name="T7" fmla="*/ 14 h 15"/>
                <a:gd name="T8" fmla="*/ 6 w 8"/>
                <a:gd name="T9" fmla="*/ 13 h 15"/>
                <a:gd name="T10" fmla="*/ 8 w 8"/>
                <a:gd name="T11" fmla="*/ 9 h 15"/>
                <a:gd name="T12" fmla="*/ 8 w 8"/>
                <a:gd name="T13" fmla="*/ 8 h 15"/>
                <a:gd name="T14" fmla="*/ 8 w 8"/>
                <a:gd name="T15" fmla="*/ 7 h 15"/>
                <a:gd name="T16" fmla="*/ 8 w 8"/>
                <a:gd name="T17" fmla="*/ 3 h 15"/>
                <a:gd name="T18" fmla="*/ 8 w 8"/>
                <a:gd name="T19" fmla="*/ 2 h 15"/>
                <a:gd name="T20" fmla="*/ 8 w 8"/>
                <a:gd name="T21" fmla="*/ 2 h 15"/>
                <a:gd name="T22" fmla="*/ 8 w 8"/>
                <a:gd name="T23" fmla="*/ 2 h 15"/>
                <a:gd name="T24" fmla="*/ 8 w 8"/>
                <a:gd name="T25" fmla="*/ 1 h 15"/>
                <a:gd name="T26" fmla="*/ 7 w 8"/>
                <a:gd name="T27" fmla="*/ 0 h 15"/>
                <a:gd name="T28" fmla="*/ 5 w 8"/>
                <a:gd name="T29" fmla="*/ 4 h 15"/>
                <a:gd name="T30" fmla="*/ 4 w 8"/>
                <a:gd name="T31" fmla="*/ 5 h 15"/>
                <a:gd name="T32" fmla="*/ 3 w 8"/>
                <a:gd name="T33" fmla="*/ 7 h 15"/>
                <a:gd name="T34" fmla="*/ 3 w 8"/>
                <a:gd name="T35" fmla="*/ 8 h 15"/>
                <a:gd name="T36" fmla="*/ 3 w 8"/>
                <a:gd name="T37" fmla="*/ 8 h 15"/>
                <a:gd name="T38" fmla="*/ 2 w 8"/>
                <a:gd name="T39" fmla="*/ 9 h 15"/>
                <a:gd name="T40" fmla="*/ 0 w 8"/>
                <a:gd name="T41" fmla="*/ 14 h 15"/>
                <a:gd name="T42" fmla="*/ 2 w 8"/>
                <a:gd name="T43"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 h="15">
                  <a:moveTo>
                    <a:pt x="2" y="15"/>
                  </a:moveTo>
                  <a:cubicBezTo>
                    <a:pt x="3" y="15"/>
                    <a:pt x="3" y="15"/>
                    <a:pt x="3" y="15"/>
                  </a:cubicBezTo>
                  <a:cubicBezTo>
                    <a:pt x="3" y="15"/>
                    <a:pt x="4" y="14"/>
                    <a:pt x="5" y="14"/>
                  </a:cubicBezTo>
                  <a:cubicBezTo>
                    <a:pt x="5" y="14"/>
                    <a:pt x="5" y="14"/>
                    <a:pt x="5" y="14"/>
                  </a:cubicBezTo>
                  <a:cubicBezTo>
                    <a:pt x="6" y="13"/>
                    <a:pt x="6" y="13"/>
                    <a:pt x="6" y="13"/>
                  </a:cubicBezTo>
                  <a:cubicBezTo>
                    <a:pt x="7" y="12"/>
                    <a:pt x="7" y="10"/>
                    <a:pt x="8" y="9"/>
                  </a:cubicBezTo>
                  <a:cubicBezTo>
                    <a:pt x="8" y="9"/>
                    <a:pt x="8" y="8"/>
                    <a:pt x="8" y="8"/>
                  </a:cubicBezTo>
                  <a:cubicBezTo>
                    <a:pt x="8" y="7"/>
                    <a:pt x="8" y="7"/>
                    <a:pt x="8" y="7"/>
                  </a:cubicBezTo>
                  <a:cubicBezTo>
                    <a:pt x="8" y="6"/>
                    <a:pt x="8" y="5"/>
                    <a:pt x="8" y="3"/>
                  </a:cubicBezTo>
                  <a:cubicBezTo>
                    <a:pt x="8" y="3"/>
                    <a:pt x="8" y="3"/>
                    <a:pt x="8" y="2"/>
                  </a:cubicBezTo>
                  <a:cubicBezTo>
                    <a:pt x="8" y="2"/>
                    <a:pt x="8" y="2"/>
                    <a:pt x="8" y="2"/>
                  </a:cubicBezTo>
                  <a:cubicBezTo>
                    <a:pt x="8" y="2"/>
                    <a:pt x="8" y="2"/>
                    <a:pt x="8" y="2"/>
                  </a:cubicBezTo>
                  <a:cubicBezTo>
                    <a:pt x="8" y="1"/>
                    <a:pt x="8" y="1"/>
                    <a:pt x="8" y="1"/>
                  </a:cubicBezTo>
                  <a:cubicBezTo>
                    <a:pt x="8" y="0"/>
                    <a:pt x="7" y="0"/>
                    <a:pt x="7" y="0"/>
                  </a:cubicBezTo>
                  <a:cubicBezTo>
                    <a:pt x="6" y="0"/>
                    <a:pt x="5" y="2"/>
                    <a:pt x="5" y="4"/>
                  </a:cubicBezTo>
                  <a:cubicBezTo>
                    <a:pt x="5" y="4"/>
                    <a:pt x="4" y="5"/>
                    <a:pt x="4" y="5"/>
                  </a:cubicBezTo>
                  <a:cubicBezTo>
                    <a:pt x="4" y="6"/>
                    <a:pt x="4" y="7"/>
                    <a:pt x="3" y="7"/>
                  </a:cubicBezTo>
                  <a:cubicBezTo>
                    <a:pt x="3" y="8"/>
                    <a:pt x="3" y="8"/>
                    <a:pt x="3" y="8"/>
                  </a:cubicBezTo>
                  <a:cubicBezTo>
                    <a:pt x="3" y="8"/>
                    <a:pt x="3" y="8"/>
                    <a:pt x="3" y="8"/>
                  </a:cubicBezTo>
                  <a:cubicBezTo>
                    <a:pt x="3" y="8"/>
                    <a:pt x="2" y="9"/>
                    <a:pt x="2" y="9"/>
                  </a:cubicBezTo>
                  <a:cubicBezTo>
                    <a:pt x="1" y="11"/>
                    <a:pt x="0" y="12"/>
                    <a:pt x="0" y="14"/>
                  </a:cubicBezTo>
                  <a:cubicBezTo>
                    <a:pt x="1" y="14"/>
                    <a:pt x="2" y="15"/>
                    <a:pt x="2" y="15"/>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42" name="Freeform 140">
              <a:extLst>
                <a:ext uri="{FF2B5EF4-FFF2-40B4-BE49-F238E27FC236}">
                  <a16:creationId xmlns:a16="http://schemas.microsoft.com/office/drawing/2014/main" id="{9F7452C2-8B11-4BFA-AC07-2FCA0BC4A471}"/>
                </a:ext>
              </a:extLst>
            </p:cNvPr>
            <p:cNvSpPr>
              <a:spLocks/>
            </p:cNvSpPr>
            <p:nvPr userDrawn="1"/>
          </p:nvSpPr>
          <p:spPr bwMode="auto">
            <a:xfrm>
              <a:off x="6118433" y="2993493"/>
              <a:ext cx="52941" cy="68067"/>
            </a:xfrm>
            <a:custGeom>
              <a:avLst/>
              <a:gdLst>
                <a:gd name="T0" fmla="*/ 3 w 6"/>
                <a:gd name="T1" fmla="*/ 7 h 7"/>
                <a:gd name="T2" fmla="*/ 1 w 6"/>
                <a:gd name="T3" fmla="*/ 6 h 7"/>
                <a:gd name="T4" fmla="*/ 5 w 6"/>
                <a:gd name="T5" fmla="*/ 0 h 7"/>
                <a:gd name="T6" fmla="*/ 6 w 6"/>
                <a:gd name="T7" fmla="*/ 1 h 7"/>
                <a:gd name="T8" fmla="*/ 5 w 6"/>
                <a:gd name="T9" fmla="*/ 5 h 7"/>
                <a:gd name="T10" fmla="*/ 3 w 6"/>
                <a:gd name="T11" fmla="*/ 7 h 7"/>
              </a:gdLst>
              <a:ahLst/>
              <a:cxnLst>
                <a:cxn ang="0">
                  <a:pos x="T0" y="T1"/>
                </a:cxn>
                <a:cxn ang="0">
                  <a:pos x="T2" y="T3"/>
                </a:cxn>
                <a:cxn ang="0">
                  <a:pos x="T4" y="T5"/>
                </a:cxn>
                <a:cxn ang="0">
                  <a:pos x="T6" y="T7"/>
                </a:cxn>
                <a:cxn ang="0">
                  <a:pos x="T8" y="T9"/>
                </a:cxn>
                <a:cxn ang="0">
                  <a:pos x="T10" y="T11"/>
                </a:cxn>
              </a:cxnLst>
              <a:rect l="0" t="0" r="r" b="b"/>
              <a:pathLst>
                <a:path w="6" h="7">
                  <a:moveTo>
                    <a:pt x="3" y="7"/>
                  </a:moveTo>
                  <a:cubicBezTo>
                    <a:pt x="3" y="7"/>
                    <a:pt x="2" y="6"/>
                    <a:pt x="1" y="6"/>
                  </a:cubicBezTo>
                  <a:cubicBezTo>
                    <a:pt x="0" y="3"/>
                    <a:pt x="4" y="0"/>
                    <a:pt x="5" y="0"/>
                  </a:cubicBezTo>
                  <a:cubicBezTo>
                    <a:pt x="5" y="0"/>
                    <a:pt x="6" y="1"/>
                    <a:pt x="6" y="1"/>
                  </a:cubicBezTo>
                  <a:cubicBezTo>
                    <a:pt x="6" y="2"/>
                    <a:pt x="6" y="4"/>
                    <a:pt x="5" y="5"/>
                  </a:cubicBezTo>
                  <a:cubicBezTo>
                    <a:pt x="4" y="6"/>
                    <a:pt x="3" y="7"/>
                    <a:pt x="3" y="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43" name="Freeform 141">
              <a:extLst>
                <a:ext uri="{FF2B5EF4-FFF2-40B4-BE49-F238E27FC236}">
                  <a16:creationId xmlns:a16="http://schemas.microsoft.com/office/drawing/2014/main" id="{3F856165-DA70-4184-B7B4-1DA197AB4E93}"/>
                </a:ext>
              </a:extLst>
            </p:cNvPr>
            <p:cNvSpPr>
              <a:spLocks/>
            </p:cNvSpPr>
            <p:nvPr userDrawn="1"/>
          </p:nvSpPr>
          <p:spPr bwMode="auto">
            <a:xfrm>
              <a:off x="6118433" y="2993493"/>
              <a:ext cx="52941" cy="68067"/>
            </a:xfrm>
            <a:custGeom>
              <a:avLst/>
              <a:gdLst>
                <a:gd name="T0" fmla="*/ 3 w 6"/>
                <a:gd name="T1" fmla="*/ 7 h 7"/>
                <a:gd name="T2" fmla="*/ 3 w 6"/>
                <a:gd name="T3" fmla="*/ 7 h 7"/>
                <a:gd name="T4" fmla="*/ 5 w 6"/>
                <a:gd name="T5" fmla="*/ 5 h 7"/>
                <a:gd name="T6" fmla="*/ 6 w 6"/>
                <a:gd name="T7" fmla="*/ 1 h 7"/>
                <a:gd name="T8" fmla="*/ 5 w 6"/>
                <a:gd name="T9" fmla="*/ 0 h 7"/>
                <a:gd name="T10" fmla="*/ 1 w 6"/>
                <a:gd name="T11" fmla="*/ 6 h 7"/>
                <a:gd name="T12" fmla="*/ 3 w 6"/>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6" h="7">
                  <a:moveTo>
                    <a:pt x="3" y="7"/>
                  </a:moveTo>
                  <a:cubicBezTo>
                    <a:pt x="3" y="7"/>
                    <a:pt x="3" y="7"/>
                    <a:pt x="3" y="7"/>
                  </a:cubicBezTo>
                  <a:cubicBezTo>
                    <a:pt x="3" y="7"/>
                    <a:pt x="4" y="6"/>
                    <a:pt x="5" y="5"/>
                  </a:cubicBezTo>
                  <a:cubicBezTo>
                    <a:pt x="6" y="4"/>
                    <a:pt x="6" y="2"/>
                    <a:pt x="6" y="1"/>
                  </a:cubicBezTo>
                  <a:cubicBezTo>
                    <a:pt x="6" y="1"/>
                    <a:pt x="5" y="0"/>
                    <a:pt x="5" y="0"/>
                  </a:cubicBezTo>
                  <a:cubicBezTo>
                    <a:pt x="4" y="0"/>
                    <a:pt x="0" y="3"/>
                    <a:pt x="1" y="6"/>
                  </a:cubicBezTo>
                  <a:cubicBezTo>
                    <a:pt x="2" y="6"/>
                    <a:pt x="3" y="7"/>
                    <a:pt x="3" y="7"/>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grpSp>
      <p:pic>
        <p:nvPicPr>
          <p:cNvPr id="535" name="图片 534">
            <a:extLst>
              <a:ext uri="{FF2B5EF4-FFF2-40B4-BE49-F238E27FC236}">
                <a16:creationId xmlns:a16="http://schemas.microsoft.com/office/drawing/2014/main" id="{27739B89-3186-44AF-8D7B-DE7CA1DA8697}"/>
              </a:ext>
            </a:extLst>
          </p:cNvPr>
          <p:cNvPicPr>
            <a:picLocks noChangeAspect="1"/>
          </p:cNvPicPr>
          <p:nvPr/>
        </p:nvPicPr>
        <p:blipFill>
          <a:blip r:embed="rId3">
            <a:alphaModFix amt="50000"/>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6133162" y="2934949"/>
            <a:ext cx="5847404" cy="3530228"/>
          </a:xfrm>
          <a:prstGeom prst="rect">
            <a:avLst/>
          </a:prstGeom>
        </p:spPr>
      </p:pic>
      <p:sp>
        <p:nvSpPr>
          <p:cNvPr id="2" name="文本占位符 1">
            <a:extLst>
              <a:ext uri="{FF2B5EF4-FFF2-40B4-BE49-F238E27FC236}">
                <a16:creationId xmlns:a16="http://schemas.microsoft.com/office/drawing/2014/main" id="{6E56B023-BAEC-4FDF-9459-8640F1A2D1D7}"/>
              </a:ext>
            </a:extLst>
          </p:cNvPr>
          <p:cNvSpPr>
            <a:spLocks noGrp="1"/>
          </p:cNvSpPr>
          <p:nvPr>
            <p:ph type="body" sz="quarter" idx="11"/>
          </p:nvPr>
        </p:nvSpPr>
        <p:spPr/>
        <p:txBody>
          <a:bodyPr/>
          <a:lstStyle/>
          <a:p>
            <a:r>
              <a:rPr lang="en-US" altLang="zh-CN" sz="3600"/>
              <a:t>CI/CD</a:t>
            </a:r>
            <a:r>
              <a:rPr lang="zh-CN" altLang="en-US" sz="3600"/>
              <a:t>工具简介与实践</a:t>
            </a:r>
          </a:p>
        </p:txBody>
      </p:sp>
      <p:sp>
        <p:nvSpPr>
          <p:cNvPr id="4" name="文本占位符 3">
            <a:extLst>
              <a:ext uri="{FF2B5EF4-FFF2-40B4-BE49-F238E27FC236}">
                <a16:creationId xmlns:a16="http://schemas.microsoft.com/office/drawing/2014/main" id="{E53635C3-3149-4EAC-A798-82D3626BA04F}"/>
              </a:ext>
            </a:extLst>
          </p:cNvPr>
          <p:cNvSpPr>
            <a:spLocks noGrp="1"/>
          </p:cNvSpPr>
          <p:nvPr>
            <p:ph type="body" sz="quarter" idx="15"/>
          </p:nvPr>
        </p:nvSpPr>
        <p:spPr/>
        <p:txBody>
          <a:bodyPr/>
          <a:lstStyle/>
          <a:p>
            <a:r>
              <a:rPr lang="en-US" altLang="zh-CN"/>
              <a:t>03</a:t>
            </a:r>
            <a:endParaRPr lang="zh-CN" altLang="en-US"/>
          </a:p>
        </p:txBody>
      </p:sp>
      <p:sp>
        <p:nvSpPr>
          <p:cNvPr id="49" name="文本占位符 48">
            <a:extLst>
              <a:ext uri="{FF2B5EF4-FFF2-40B4-BE49-F238E27FC236}">
                <a16:creationId xmlns:a16="http://schemas.microsoft.com/office/drawing/2014/main" id="{C7230BA7-6D67-4062-9818-9E5A4374C385}"/>
              </a:ext>
            </a:extLst>
          </p:cNvPr>
          <p:cNvSpPr>
            <a:spLocks noGrp="1"/>
          </p:cNvSpPr>
          <p:nvPr>
            <p:ph type="body" sz="quarter" idx="16"/>
          </p:nvPr>
        </p:nvSpPr>
        <p:spPr/>
        <p:txBody>
          <a:bodyPr>
            <a:normAutofit lnSpcReduction="10000"/>
          </a:bodyPr>
          <a:lstStyle/>
          <a:p>
            <a:pPr marL="342900" indent="-342900">
              <a:buFont typeface="Wingdings" panose="05000000000000000000" pitchFamily="2" charset="2"/>
              <a:buChar char="p"/>
            </a:pPr>
            <a:r>
              <a:rPr lang="en-US" altLang="zh-CN" sz="2000" dirty="0"/>
              <a:t>CI/CD</a:t>
            </a:r>
            <a:r>
              <a:rPr lang="zh-CN" altLang="en-US" sz="2000" dirty="0"/>
              <a:t>工具一览</a:t>
            </a:r>
            <a:endParaRPr lang="en-US" altLang="zh-CN" sz="2000" dirty="0"/>
          </a:p>
          <a:p>
            <a:pPr marL="342900" indent="-342900">
              <a:buFont typeface="Wingdings" panose="05000000000000000000" pitchFamily="2" charset="2"/>
              <a:buChar char="p"/>
            </a:pPr>
            <a:r>
              <a:rPr lang="zh-CN" altLang="en-US" sz="2000" dirty="0"/>
              <a:t>使用</a:t>
            </a:r>
            <a:r>
              <a:rPr lang="en-US" altLang="zh-CN" sz="2000" dirty="0"/>
              <a:t>Travis CI</a:t>
            </a:r>
            <a:r>
              <a:rPr lang="zh-CN" altLang="en-US" sz="2000" dirty="0"/>
              <a:t>实现持续集成</a:t>
            </a:r>
            <a:endParaRPr lang="en-US" altLang="zh-CN" sz="2000" dirty="0"/>
          </a:p>
          <a:p>
            <a:pPr marL="342900" indent="-342900">
              <a:buFont typeface="Wingdings" panose="05000000000000000000" pitchFamily="2" charset="2"/>
              <a:buChar char="p"/>
            </a:pPr>
            <a:r>
              <a:rPr lang="zh-CN" altLang="en-US" sz="2000" dirty="0"/>
              <a:t>使用</a:t>
            </a:r>
            <a:r>
              <a:rPr lang="en-US" altLang="zh-CN" sz="2000" dirty="0"/>
              <a:t>GitHub CI</a:t>
            </a:r>
            <a:r>
              <a:rPr lang="zh-CN" altLang="en-US" sz="2000" dirty="0"/>
              <a:t>实现持续集成</a:t>
            </a:r>
          </a:p>
        </p:txBody>
      </p:sp>
    </p:spTree>
    <p:extLst>
      <p:ext uri="{BB962C8B-B14F-4D97-AF65-F5344CB8AC3E}">
        <p14:creationId xmlns:p14="http://schemas.microsoft.com/office/powerpoint/2010/main" val="23342116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68A3EA-FFF7-F593-9FA7-BB39D3E3222F}"/>
              </a:ext>
            </a:extLst>
          </p:cNvPr>
          <p:cNvSpPr>
            <a:spLocks noGrp="1"/>
          </p:cNvSpPr>
          <p:nvPr>
            <p:ph type="title"/>
          </p:nvPr>
        </p:nvSpPr>
        <p:spPr/>
        <p:txBody>
          <a:bodyPr>
            <a:normAutofit/>
          </a:bodyPr>
          <a:lstStyle/>
          <a:p>
            <a:r>
              <a:rPr lang="en-US" altLang="zh-CN"/>
              <a:t>03 </a:t>
            </a:r>
            <a:r>
              <a:rPr lang="en-US" altLang="zh-CN" sz="2800"/>
              <a:t>CI/CD</a:t>
            </a:r>
            <a:r>
              <a:rPr lang="zh-CN" altLang="en-US" sz="2800"/>
              <a:t>工具简介</a:t>
            </a:r>
            <a:endParaRPr kumimoji="1" lang="zh-CN" altLang="en-US"/>
          </a:p>
        </p:txBody>
      </p:sp>
      <p:sp>
        <p:nvSpPr>
          <p:cNvPr id="3" name="灯片编号占位符 2">
            <a:extLst>
              <a:ext uri="{FF2B5EF4-FFF2-40B4-BE49-F238E27FC236}">
                <a16:creationId xmlns:a16="http://schemas.microsoft.com/office/drawing/2014/main" id="{940AA628-8120-F109-B869-E8671F3D72B8}"/>
              </a:ext>
            </a:extLst>
          </p:cNvPr>
          <p:cNvSpPr>
            <a:spLocks noGrp="1"/>
          </p:cNvSpPr>
          <p:nvPr>
            <p:ph type="sldNum" sz="quarter" idx="12"/>
          </p:nvPr>
        </p:nvSpPr>
        <p:spPr/>
        <p:txBody>
          <a:bodyPr/>
          <a:lstStyle/>
          <a:p>
            <a:fld id="{1AAC388E-FA9E-4A2C-95EA-1F6B3A07935A}" type="slidenum">
              <a:rPr lang="zh-CN" altLang="en-US" smtClean="0"/>
              <a:pPr/>
              <a:t>89</a:t>
            </a:fld>
            <a:endParaRPr lang="zh-CN" altLang="en-US"/>
          </a:p>
        </p:txBody>
      </p:sp>
      <p:sp>
        <p:nvSpPr>
          <p:cNvPr id="4" name="文本框 3">
            <a:extLst>
              <a:ext uri="{FF2B5EF4-FFF2-40B4-BE49-F238E27FC236}">
                <a16:creationId xmlns:a16="http://schemas.microsoft.com/office/drawing/2014/main" id="{BA9D347B-A333-F47E-DAC1-B3F417A6AD0E}"/>
              </a:ext>
            </a:extLst>
          </p:cNvPr>
          <p:cNvSpPr txBox="1"/>
          <p:nvPr/>
        </p:nvSpPr>
        <p:spPr>
          <a:xfrm>
            <a:off x="718218" y="874354"/>
            <a:ext cx="3594702"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en-US" altLang="zh-CN" dirty="0"/>
              <a:t>CI/CD</a:t>
            </a:r>
            <a:r>
              <a:rPr lang="zh-CN" altLang="en-US" dirty="0"/>
              <a:t>工具一览</a:t>
            </a:r>
            <a:endParaRPr lang="en-US" altLang="zh-CN" dirty="0"/>
          </a:p>
        </p:txBody>
      </p:sp>
      <p:sp>
        <p:nvSpPr>
          <p:cNvPr id="5" name="文本框 4">
            <a:extLst>
              <a:ext uri="{FF2B5EF4-FFF2-40B4-BE49-F238E27FC236}">
                <a16:creationId xmlns:a16="http://schemas.microsoft.com/office/drawing/2014/main" id="{03EB08DF-882D-CC9A-F9AE-F0847EC081B8}"/>
              </a:ext>
            </a:extLst>
          </p:cNvPr>
          <p:cNvSpPr txBox="1"/>
          <p:nvPr/>
        </p:nvSpPr>
        <p:spPr>
          <a:xfrm>
            <a:off x="782782" y="1546698"/>
            <a:ext cx="10737273" cy="4791758"/>
          </a:xfrm>
          <a:prstGeom prst="rect">
            <a:avLst/>
          </a:prstGeom>
          <a:noFill/>
        </p:spPr>
        <p:txBody>
          <a:bodyPr wrap="square" lIns="0" tIns="0" rIns="0" bIns="0" rtlCol="0" anchor="ctr">
            <a:normAutofit/>
          </a:bodyPr>
          <a:lstStyle/>
          <a:p>
            <a:pPr marL="285750" indent="-285750" algn="l">
              <a:lnSpc>
                <a:spcPct val="120000"/>
              </a:lnSpc>
              <a:spcAft>
                <a:spcPts val="600"/>
              </a:spcAft>
              <a:buFont typeface="Arial" panose="020B0604020202020204" pitchFamily="34" charset="0"/>
              <a:buChar char="•"/>
            </a:pPr>
            <a:endParaRPr lang="zh-CN" altLang="en-US" b="0" i="0" dirty="0">
              <a:solidFill>
                <a:srgbClr val="111111"/>
              </a:solidFill>
              <a:effectLst/>
              <a:latin typeface="+mn-ea"/>
            </a:endParaRPr>
          </a:p>
        </p:txBody>
      </p:sp>
      <p:graphicFrame>
        <p:nvGraphicFramePr>
          <p:cNvPr id="6" name="文本框 6">
            <a:extLst>
              <a:ext uri="{FF2B5EF4-FFF2-40B4-BE49-F238E27FC236}">
                <a16:creationId xmlns:a16="http://schemas.microsoft.com/office/drawing/2014/main" id="{50C241D5-E1E0-2AB0-1DE5-47AEB9C2A11A}"/>
              </a:ext>
            </a:extLst>
          </p:cNvPr>
          <p:cNvGraphicFramePr/>
          <p:nvPr/>
        </p:nvGraphicFramePr>
        <p:xfrm>
          <a:off x="718218" y="2225244"/>
          <a:ext cx="10807475" cy="28469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649817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68A3EA-FFF7-F593-9FA7-BB39D3E3222F}"/>
              </a:ext>
            </a:extLst>
          </p:cNvPr>
          <p:cNvSpPr>
            <a:spLocks noGrp="1"/>
          </p:cNvSpPr>
          <p:nvPr>
            <p:ph type="title"/>
          </p:nvPr>
        </p:nvSpPr>
        <p:spPr/>
        <p:txBody>
          <a:bodyPr>
            <a:normAutofit/>
          </a:bodyPr>
          <a:lstStyle/>
          <a:p>
            <a:r>
              <a:rPr lang="en-US" altLang="zh-CN"/>
              <a:t>03 </a:t>
            </a:r>
            <a:r>
              <a:rPr lang="en-US" altLang="zh-CN" sz="2800"/>
              <a:t>CI/CD</a:t>
            </a:r>
            <a:r>
              <a:rPr lang="zh-CN" altLang="en-US" sz="2800"/>
              <a:t>工具简介</a:t>
            </a:r>
            <a:endParaRPr kumimoji="1" lang="zh-CN" altLang="en-US"/>
          </a:p>
        </p:txBody>
      </p:sp>
      <p:sp>
        <p:nvSpPr>
          <p:cNvPr id="3" name="灯片编号占位符 2">
            <a:extLst>
              <a:ext uri="{FF2B5EF4-FFF2-40B4-BE49-F238E27FC236}">
                <a16:creationId xmlns:a16="http://schemas.microsoft.com/office/drawing/2014/main" id="{940AA628-8120-F109-B869-E8671F3D72B8}"/>
              </a:ext>
            </a:extLst>
          </p:cNvPr>
          <p:cNvSpPr>
            <a:spLocks noGrp="1"/>
          </p:cNvSpPr>
          <p:nvPr>
            <p:ph type="sldNum" sz="quarter" idx="12"/>
          </p:nvPr>
        </p:nvSpPr>
        <p:spPr/>
        <p:txBody>
          <a:bodyPr/>
          <a:lstStyle/>
          <a:p>
            <a:fld id="{1AAC388E-FA9E-4A2C-95EA-1F6B3A07935A}" type="slidenum">
              <a:rPr lang="zh-CN" altLang="en-US" smtClean="0"/>
              <a:pPr/>
              <a:t>90</a:t>
            </a:fld>
            <a:endParaRPr lang="zh-CN" altLang="en-US"/>
          </a:p>
        </p:txBody>
      </p:sp>
      <p:sp>
        <p:nvSpPr>
          <p:cNvPr id="4" name="文本框 3">
            <a:extLst>
              <a:ext uri="{FF2B5EF4-FFF2-40B4-BE49-F238E27FC236}">
                <a16:creationId xmlns:a16="http://schemas.microsoft.com/office/drawing/2014/main" id="{BA9D347B-A333-F47E-DAC1-B3F417A6AD0E}"/>
              </a:ext>
            </a:extLst>
          </p:cNvPr>
          <p:cNvSpPr txBox="1"/>
          <p:nvPr/>
        </p:nvSpPr>
        <p:spPr>
          <a:xfrm>
            <a:off x="718217" y="874354"/>
            <a:ext cx="5038611"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zh-CN" altLang="en-US" dirty="0"/>
              <a:t>使用</a:t>
            </a:r>
            <a:r>
              <a:rPr lang="en-US" altLang="zh-CN" dirty="0"/>
              <a:t>Travis CI</a:t>
            </a:r>
            <a:r>
              <a:rPr lang="zh-CN" altLang="en-US" dirty="0"/>
              <a:t>实现持续集成</a:t>
            </a:r>
          </a:p>
        </p:txBody>
      </p:sp>
      <p:sp>
        <p:nvSpPr>
          <p:cNvPr id="6" name="文本框 5">
            <a:extLst>
              <a:ext uri="{FF2B5EF4-FFF2-40B4-BE49-F238E27FC236}">
                <a16:creationId xmlns:a16="http://schemas.microsoft.com/office/drawing/2014/main" id="{3AF7629F-FA0B-506E-F1D1-1394D3107606}"/>
              </a:ext>
            </a:extLst>
          </p:cNvPr>
          <p:cNvSpPr txBox="1"/>
          <p:nvPr/>
        </p:nvSpPr>
        <p:spPr>
          <a:xfrm>
            <a:off x="2708564" y="408709"/>
            <a:ext cx="0" cy="0"/>
          </a:xfrm>
          <a:prstGeom prst="rect">
            <a:avLst/>
          </a:prstGeom>
          <a:noFill/>
        </p:spPr>
        <p:txBody>
          <a:bodyPr wrap="none" lIns="0" tIns="0" rIns="0" bIns="0" rtlCol="0" anchor="ctr">
            <a:normAutofit fontScale="25000" lnSpcReduction="20000"/>
          </a:bodyPr>
          <a:lstStyle/>
          <a:p>
            <a:pPr algn="l">
              <a:lnSpc>
                <a:spcPct val="125000"/>
              </a:lnSpc>
              <a:spcAft>
                <a:spcPts val="500"/>
              </a:spcAft>
            </a:pPr>
            <a:endParaRPr kumimoji="1" lang="zh-CN" altLang="en-US"/>
          </a:p>
        </p:txBody>
      </p:sp>
      <p:pic>
        <p:nvPicPr>
          <p:cNvPr id="8" name="图片 7">
            <a:extLst>
              <a:ext uri="{FF2B5EF4-FFF2-40B4-BE49-F238E27FC236}">
                <a16:creationId xmlns:a16="http://schemas.microsoft.com/office/drawing/2014/main" id="{7E27CF8D-2758-41D6-9E76-5F4204A4F7C0}"/>
              </a:ext>
            </a:extLst>
          </p:cNvPr>
          <p:cNvPicPr>
            <a:picLocks noChangeAspect="1"/>
          </p:cNvPicPr>
          <p:nvPr/>
        </p:nvPicPr>
        <p:blipFill>
          <a:blip r:embed="rId2"/>
          <a:stretch>
            <a:fillRect/>
          </a:stretch>
        </p:blipFill>
        <p:spPr>
          <a:xfrm>
            <a:off x="6203321" y="1537451"/>
            <a:ext cx="5741182" cy="2009332"/>
          </a:xfrm>
          <a:prstGeom prst="rect">
            <a:avLst/>
          </a:prstGeom>
          <a:effectLst>
            <a:outerShdw blurRad="50800" dist="38100" dir="2700000" algn="tl" rotWithShape="0">
              <a:prstClr val="black">
                <a:alpha val="40000"/>
              </a:prstClr>
            </a:outerShdw>
          </a:effectLst>
        </p:spPr>
      </p:pic>
      <p:pic>
        <p:nvPicPr>
          <p:cNvPr id="9" name="图片 8">
            <a:extLst>
              <a:ext uri="{FF2B5EF4-FFF2-40B4-BE49-F238E27FC236}">
                <a16:creationId xmlns:a16="http://schemas.microsoft.com/office/drawing/2014/main" id="{38057423-C468-B208-74B0-67F7FEAC06B7}"/>
              </a:ext>
            </a:extLst>
          </p:cNvPr>
          <p:cNvPicPr>
            <a:picLocks noChangeAspect="1"/>
          </p:cNvPicPr>
          <p:nvPr/>
        </p:nvPicPr>
        <p:blipFill>
          <a:blip r:embed="rId3"/>
          <a:stretch>
            <a:fillRect/>
          </a:stretch>
        </p:blipFill>
        <p:spPr>
          <a:xfrm>
            <a:off x="718217" y="3609984"/>
            <a:ext cx="5038611" cy="2845897"/>
          </a:xfrm>
          <a:prstGeom prst="rect">
            <a:avLst/>
          </a:prstGeom>
          <a:effectLst>
            <a:outerShdw blurRad="50800" dist="38100" dir="2700000" algn="tl" rotWithShape="0">
              <a:prstClr val="black">
                <a:alpha val="40000"/>
              </a:prstClr>
            </a:outerShdw>
          </a:effectLst>
        </p:spPr>
      </p:pic>
      <p:pic>
        <p:nvPicPr>
          <p:cNvPr id="10" name="图片 9">
            <a:extLst>
              <a:ext uri="{FF2B5EF4-FFF2-40B4-BE49-F238E27FC236}">
                <a16:creationId xmlns:a16="http://schemas.microsoft.com/office/drawing/2014/main" id="{967C38B7-95C9-DE9F-97BC-D6624A45B27B}"/>
              </a:ext>
            </a:extLst>
          </p:cNvPr>
          <p:cNvPicPr>
            <a:picLocks noChangeAspect="1"/>
          </p:cNvPicPr>
          <p:nvPr/>
        </p:nvPicPr>
        <p:blipFill>
          <a:blip r:embed="rId4"/>
          <a:stretch>
            <a:fillRect/>
          </a:stretch>
        </p:blipFill>
        <p:spPr>
          <a:xfrm>
            <a:off x="6203321" y="3609985"/>
            <a:ext cx="5741182" cy="2821148"/>
          </a:xfrm>
          <a:prstGeom prst="rect">
            <a:avLst/>
          </a:prstGeom>
          <a:effectLst>
            <a:outerShdw blurRad="50800" dist="38100" dir="2700000" algn="tl" rotWithShape="0">
              <a:prstClr val="black">
                <a:alpha val="40000"/>
              </a:prstClr>
            </a:outerShdw>
          </a:effectLst>
        </p:spPr>
      </p:pic>
      <p:pic>
        <p:nvPicPr>
          <p:cNvPr id="11" name="图片 10">
            <a:extLst>
              <a:ext uri="{FF2B5EF4-FFF2-40B4-BE49-F238E27FC236}">
                <a16:creationId xmlns:a16="http://schemas.microsoft.com/office/drawing/2014/main" id="{88D15330-FAF8-569F-53BC-70114196BDF9}"/>
              </a:ext>
            </a:extLst>
          </p:cNvPr>
          <p:cNvPicPr>
            <a:picLocks noChangeAspect="1"/>
          </p:cNvPicPr>
          <p:nvPr/>
        </p:nvPicPr>
        <p:blipFill>
          <a:blip r:embed="rId5"/>
          <a:stretch>
            <a:fillRect/>
          </a:stretch>
        </p:blipFill>
        <p:spPr>
          <a:xfrm>
            <a:off x="1352634" y="1621968"/>
            <a:ext cx="3769776" cy="1626048"/>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7353344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68A3EA-FFF7-F593-9FA7-BB39D3E3222F}"/>
              </a:ext>
            </a:extLst>
          </p:cNvPr>
          <p:cNvSpPr>
            <a:spLocks noGrp="1"/>
          </p:cNvSpPr>
          <p:nvPr>
            <p:ph type="title"/>
          </p:nvPr>
        </p:nvSpPr>
        <p:spPr/>
        <p:txBody>
          <a:bodyPr>
            <a:normAutofit/>
          </a:bodyPr>
          <a:lstStyle/>
          <a:p>
            <a:r>
              <a:rPr lang="en-US" altLang="zh-CN"/>
              <a:t>03 </a:t>
            </a:r>
            <a:r>
              <a:rPr lang="en-US" altLang="zh-CN" sz="2800"/>
              <a:t>CI/CD</a:t>
            </a:r>
            <a:r>
              <a:rPr lang="zh-CN" altLang="en-US" sz="2800"/>
              <a:t>工具简介</a:t>
            </a:r>
            <a:endParaRPr kumimoji="1" lang="zh-CN" altLang="en-US"/>
          </a:p>
        </p:txBody>
      </p:sp>
      <p:sp>
        <p:nvSpPr>
          <p:cNvPr id="3" name="灯片编号占位符 2">
            <a:extLst>
              <a:ext uri="{FF2B5EF4-FFF2-40B4-BE49-F238E27FC236}">
                <a16:creationId xmlns:a16="http://schemas.microsoft.com/office/drawing/2014/main" id="{940AA628-8120-F109-B869-E8671F3D72B8}"/>
              </a:ext>
            </a:extLst>
          </p:cNvPr>
          <p:cNvSpPr>
            <a:spLocks noGrp="1"/>
          </p:cNvSpPr>
          <p:nvPr>
            <p:ph type="sldNum" sz="quarter" idx="12"/>
          </p:nvPr>
        </p:nvSpPr>
        <p:spPr/>
        <p:txBody>
          <a:bodyPr/>
          <a:lstStyle/>
          <a:p>
            <a:fld id="{1AAC388E-FA9E-4A2C-95EA-1F6B3A07935A}" type="slidenum">
              <a:rPr lang="zh-CN" altLang="en-US" smtClean="0"/>
              <a:pPr/>
              <a:t>91</a:t>
            </a:fld>
            <a:endParaRPr lang="zh-CN" altLang="en-US"/>
          </a:p>
        </p:txBody>
      </p:sp>
      <p:sp>
        <p:nvSpPr>
          <p:cNvPr id="4" name="文本框 3">
            <a:extLst>
              <a:ext uri="{FF2B5EF4-FFF2-40B4-BE49-F238E27FC236}">
                <a16:creationId xmlns:a16="http://schemas.microsoft.com/office/drawing/2014/main" id="{BA9D347B-A333-F47E-DAC1-B3F417A6AD0E}"/>
              </a:ext>
            </a:extLst>
          </p:cNvPr>
          <p:cNvSpPr txBox="1"/>
          <p:nvPr/>
        </p:nvSpPr>
        <p:spPr>
          <a:xfrm>
            <a:off x="718217" y="874354"/>
            <a:ext cx="5041674"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zh-CN" altLang="en-US" dirty="0"/>
              <a:t>使用</a:t>
            </a:r>
            <a:r>
              <a:rPr lang="en-US" altLang="zh-CN" dirty="0"/>
              <a:t>Travis CI</a:t>
            </a:r>
            <a:r>
              <a:rPr lang="zh-CN" altLang="en-US" dirty="0"/>
              <a:t>实现持续集成</a:t>
            </a:r>
          </a:p>
        </p:txBody>
      </p:sp>
      <p:sp>
        <p:nvSpPr>
          <p:cNvPr id="6" name="文本框 5">
            <a:extLst>
              <a:ext uri="{FF2B5EF4-FFF2-40B4-BE49-F238E27FC236}">
                <a16:creationId xmlns:a16="http://schemas.microsoft.com/office/drawing/2014/main" id="{3AF7629F-FA0B-506E-F1D1-1394D3107606}"/>
              </a:ext>
            </a:extLst>
          </p:cNvPr>
          <p:cNvSpPr txBox="1"/>
          <p:nvPr/>
        </p:nvSpPr>
        <p:spPr>
          <a:xfrm>
            <a:off x="2708564" y="408709"/>
            <a:ext cx="0" cy="0"/>
          </a:xfrm>
          <a:prstGeom prst="rect">
            <a:avLst/>
          </a:prstGeom>
          <a:noFill/>
        </p:spPr>
        <p:txBody>
          <a:bodyPr wrap="none" lIns="0" tIns="0" rIns="0" bIns="0" rtlCol="0" anchor="ctr">
            <a:normAutofit fontScale="25000" lnSpcReduction="20000"/>
          </a:bodyPr>
          <a:lstStyle/>
          <a:p>
            <a:pPr algn="l">
              <a:lnSpc>
                <a:spcPct val="125000"/>
              </a:lnSpc>
              <a:spcAft>
                <a:spcPts val="500"/>
              </a:spcAft>
            </a:pPr>
            <a:endParaRPr kumimoji="1" lang="zh-CN" altLang="en-US"/>
          </a:p>
        </p:txBody>
      </p:sp>
      <p:pic>
        <p:nvPicPr>
          <p:cNvPr id="5" name="图片 4">
            <a:extLst>
              <a:ext uri="{FF2B5EF4-FFF2-40B4-BE49-F238E27FC236}">
                <a16:creationId xmlns:a16="http://schemas.microsoft.com/office/drawing/2014/main" id="{47EF51C4-4B76-0703-857F-3F79B59F29EC}"/>
              </a:ext>
            </a:extLst>
          </p:cNvPr>
          <p:cNvPicPr>
            <a:picLocks noChangeAspect="1"/>
          </p:cNvPicPr>
          <p:nvPr/>
        </p:nvPicPr>
        <p:blipFill>
          <a:blip r:embed="rId2"/>
          <a:stretch>
            <a:fillRect/>
          </a:stretch>
        </p:blipFill>
        <p:spPr>
          <a:xfrm>
            <a:off x="7114992" y="2806760"/>
            <a:ext cx="3393629" cy="3795184"/>
          </a:xfrm>
          <a:prstGeom prst="rect">
            <a:avLst/>
          </a:prstGeom>
        </p:spPr>
      </p:pic>
      <p:pic>
        <p:nvPicPr>
          <p:cNvPr id="7" name="图片 6">
            <a:extLst>
              <a:ext uri="{FF2B5EF4-FFF2-40B4-BE49-F238E27FC236}">
                <a16:creationId xmlns:a16="http://schemas.microsoft.com/office/drawing/2014/main" id="{7CB81459-88F0-3A1F-DB53-80E7A83A363B}"/>
              </a:ext>
            </a:extLst>
          </p:cNvPr>
          <p:cNvPicPr>
            <a:picLocks noChangeAspect="1"/>
          </p:cNvPicPr>
          <p:nvPr/>
        </p:nvPicPr>
        <p:blipFill>
          <a:blip r:embed="rId3"/>
          <a:stretch>
            <a:fillRect/>
          </a:stretch>
        </p:blipFill>
        <p:spPr>
          <a:xfrm>
            <a:off x="718217" y="1546697"/>
            <a:ext cx="4290168" cy="1769747"/>
          </a:xfrm>
          <a:prstGeom prst="rect">
            <a:avLst/>
          </a:prstGeom>
        </p:spPr>
      </p:pic>
      <p:pic>
        <p:nvPicPr>
          <p:cNvPr id="12" name="图片 11">
            <a:extLst>
              <a:ext uri="{FF2B5EF4-FFF2-40B4-BE49-F238E27FC236}">
                <a16:creationId xmlns:a16="http://schemas.microsoft.com/office/drawing/2014/main" id="{EBF485A1-DA31-2884-6D49-B03D286D9D90}"/>
              </a:ext>
            </a:extLst>
          </p:cNvPr>
          <p:cNvPicPr>
            <a:picLocks noChangeAspect="1"/>
          </p:cNvPicPr>
          <p:nvPr/>
        </p:nvPicPr>
        <p:blipFill>
          <a:blip r:embed="rId4"/>
          <a:stretch>
            <a:fillRect/>
          </a:stretch>
        </p:blipFill>
        <p:spPr>
          <a:xfrm>
            <a:off x="756025" y="4056291"/>
            <a:ext cx="4290169" cy="1543558"/>
          </a:xfrm>
          <a:prstGeom prst="rect">
            <a:avLst/>
          </a:prstGeom>
        </p:spPr>
      </p:pic>
      <p:sp>
        <p:nvSpPr>
          <p:cNvPr id="13" name="下箭头 12">
            <a:extLst>
              <a:ext uri="{FF2B5EF4-FFF2-40B4-BE49-F238E27FC236}">
                <a16:creationId xmlns:a16="http://schemas.microsoft.com/office/drawing/2014/main" id="{C1B15978-1C56-DD4D-857F-CF05A2E504C9}"/>
              </a:ext>
            </a:extLst>
          </p:cNvPr>
          <p:cNvSpPr/>
          <p:nvPr/>
        </p:nvSpPr>
        <p:spPr>
          <a:xfrm>
            <a:off x="2722391" y="3387713"/>
            <a:ext cx="268902" cy="53777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下箭头 13">
            <a:extLst>
              <a:ext uri="{FF2B5EF4-FFF2-40B4-BE49-F238E27FC236}">
                <a16:creationId xmlns:a16="http://schemas.microsoft.com/office/drawing/2014/main" id="{801806F2-57C9-B93D-EA66-A04F4B15066F}"/>
              </a:ext>
            </a:extLst>
          </p:cNvPr>
          <p:cNvSpPr/>
          <p:nvPr/>
        </p:nvSpPr>
        <p:spPr>
          <a:xfrm rot="16200000">
            <a:off x="5938414" y="4649547"/>
            <a:ext cx="315172" cy="67221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占位符 2">
            <a:extLst>
              <a:ext uri="{FF2B5EF4-FFF2-40B4-BE49-F238E27FC236}">
                <a16:creationId xmlns:a16="http://schemas.microsoft.com/office/drawing/2014/main" id="{1CDD8D3B-CE59-423D-324C-6564EC74AF3E}"/>
              </a:ext>
            </a:extLst>
          </p:cNvPr>
          <p:cNvSpPr txBox="1">
            <a:spLocks/>
          </p:cNvSpPr>
          <p:nvPr/>
        </p:nvSpPr>
        <p:spPr>
          <a:xfrm>
            <a:off x="4992528" y="1499185"/>
            <a:ext cx="6848741" cy="192981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zh-CN" altLang="en-US" dirty="0"/>
              <a:t>使用您的 </a:t>
            </a:r>
            <a:r>
              <a:rPr lang="en-US" altLang="zh-CN" dirty="0"/>
              <a:t>GitHub </a:t>
            </a:r>
            <a:r>
              <a:rPr lang="zh-CN" altLang="en-US" dirty="0"/>
              <a:t>帐户注册 </a:t>
            </a:r>
            <a:r>
              <a:rPr lang="en-US" altLang="zh-CN" dirty="0"/>
              <a:t>Travis CI </a:t>
            </a:r>
            <a:r>
              <a:rPr lang="zh-CN" altLang="en-US" dirty="0"/>
              <a:t>（</a:t>
            </a:r>
            <a:r>
              <a:rPr lang="en-US" altLang="zh-CN" dirty="0"/>
              <a:t>https://travis-ci.com/</a:t>
            </a:r>
            <a:r>
              <a:rPr lang="zh-CN" altLang="en-US" dirty="0"/>
              <a:t>）
启用您希望 </a:t>
            </a:r>
            <a:r>
              <a:rPr lang="en-US" altLang="zh-CN" dirty="0"/>
              <a:t>Travis </a:t>
            </a:r>
            <a:r>
              <a:rPr lang="zh-CN" altLang="en-US" dirty="0"/>
              <a:t>构建的存储库。您可以稍后在 </a:t>
            </a:r>
            <a:r>
              <a:rPr lang="en-US" altLang="zh-CN" dirty="0"/>
              <a:t>GitHub </a:t>
            </a:r>
            <a:r>
              <a:rPr lang="zh-CN" altLang="en-US" dirty="0"/>
              <a:t>设置中更改它们</a:t>
            </a:r>
            <a:r>
              <a:rPr lang="en-US" altLang="zh-CN" dirty="0"/>
              <a:t>(https://github.com/settings/installations)</a:t>
            </a:r>
          </a:p>
        </p:txBody>
      </p:sp>
    </p:spTree>
    <p:extLst>
      <p:ext uri="{BB962C8B-B14F-4D97-AF65-F5344CB8AC3E}">
        <p14:creationId xmlns:p14="http://schemas.microsoft.com/office/powerpoint/2010/main" val="26151367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68A3EA-FFF7-F593-9FA7-BB39D3E3222F}"/>
              </a:ext>
            </a:extLst>
          </p:cNvPr>
          <p:cNvSpPr>
            <a:spLocks noGrp="1"/>
          </p:cNvSpPr>
          <p:nvPr>
            <p:ph type="title"/>
          </p:nvPr>
        </p:nvSpPr>
        <p:spPr/>
        <p:txBody>
          <a:bodyPr>
            <a:normAutofit/>
          </a:bodyPr>
          <a:lstStyle/>
          <a:p>
            <a:r>
              <a:rPr lang="en-US" altLang="zh-CN"/>
              <a:t>03 </a:t>
            </a:r>
            <a:r>
              <a:rPr lang="en-US" altLang="zh-CN" sz="2800"/>
              <a:t>CI/CD</a:t>
            </a:r>
            <a:r>
              <a:rPr lang="zh-CN" altLang="en-US" sz="2800"/>
              <a:t>工具简介</a:t>
            </a:r>
            <a:endParaRPr kumimoji="1" lang="zh-CN" altLang="en-US"/>
          </a:p>
        </p:txBody>
      </p:sp>
      <p:sp>
        <p:nvSpPr>
          <p:cNvPr id="3" name="灯片编号占位符 2">
            <a:extLst>
              <a:ext uri="{FF2B5EF4-FFF2-40B4-BE49-F238E27FC236}">
                <a16:creationId xmlns:a16="http://schemas.microsoft.com/office/drawing/2014/main" id="{940AA628-8120-F109-B869-E8671F3D72B8}"/>
              </a:ext>
            </a:extLst>
          </p:cNvPr>
          <p:cNvSpPr>
            <a:spLocks noGrp="1"/>
          </p:cNvSpPr>
          <p:nvPr>
            <p:ph type="sldNum" sz="quarter" idx="12"/>
          </p:nvPr>
        </p:nvSpPr>
        <p:spPr/>
        <p:txBody>
          <a:bodyPr/>
          <a:lstStyle/>
          <a:p>
            <a:fld id="{1AAC388E-FA9E-4A2C-95EA-1F6B3A07935A}" type="slidenum">
              <a:rPr lang="zh-CN" altLang="en-US" smtClean="0"/>
              <a:pPr/>
              <a:t>92</a:t>
            </a:fld>
            <a:endParaRPr lang="zh-CN" altLang="en-US"/>
          </a:p>
        </p:txBody>
      </p:sp>
      <p:sp>
        <p:nvSpPr>
          <p:cNvPr id="4" name="文本框 3">
            <a:extLst>
              <a:ext uri="{FF2B5EF4-FFF2-40B4-BE49-F238E27FC236}">
                <a16:creationId xmlns:a16="http://schemas.microsoft.com/office/drawing/2014/main" id="{BA9D347B-A333-F47E-DAC1-B3F417A6AD0E}"/>
              </a:ext>
            </a:extLst>
          </p:cNvPr>
          <p:cNvSpPr txBox="1"/>
          <p:nvPr/>
        </p:nvSpPr>
        <p:spPr>
          <a:xfrm>
            <a:off x="718217" y="874354"/>
            <a:ext cx="5176556"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zh-CN" altLang="en-US" dirty="0"/>
              <a:t>使用</a:t>
            </a:r>
            <a:r>
              <a:rPr lang="en-US" altLang="zh-CN" dirty="0"/>
              <a:t>Travis CI</a:t>
            </a:r>
            <a:r>
              <a:rPr lang="zh-CN" altLang="en-US" dirty="0"/>
              <a:t>实现持续集成</a:t>
            </a:r>
          </a:p>
        </p:txBody>
      </p:sp>
      <p:sp>
        <p:nvSpPr>
          <p:cNvPr id="6" name="文本框 5">
            <a:extLst>
              <a:ext uri="{FF2B5EF4-FFF2-40B4-BE49-F238E27FC236}">
                <a16:creationId xmlns:a16="http://schemas.microsoft.com/office/drawing/2014/main" id="{3AF7629F-FA0B-506E-F1D1-1394D3107606}"/>
              </a:ext>
            </a:extLst>
          </p:cNvPr>
          <p:cNvSpPr txBox="1"/>
          <p:nvPr/>
        </p:nvSpPr>
        <p:spPr>
          <a:xfrm>
            <a:off x="2708564" y="408709"/>
            <a:ext cx="0" cy="0"/>
          </a:xfrm>
          <a:prstGeom prst="rect">
            <a:avLst/>
          </a:prstGeom>
          <a:noFill/>
        </p:spPr>
        <p:txBody>
          <a:bodyPr wrap="none" lIns="0" tIns="0" rIns="0" bIns="0" rtlCol="0" anchor="ctr">
            <a:normAutofit fontScale="25000" lnSpcReduction="20000"/>
          </a:bodyPr>
          <a:lstStyle/>
          <a:p>
            <a:pPr algn="l">
              <a:lnSpc>
                <a:spcPct val="125000"/>
              </a:lnSpc>
              <a:spcAft>
                <a:spcPts val="500"/>
              </a:spcAft>
            </a:pPr>
            <a:endParaRPr kumimoji="1" lang="zh-CN" altLang="en-US"/>
          </a:p>
        </p:txBody>
      </p:sp>
      <p:sp>
        <p:nvSpPr>
          <p:cNvPr id="8" name="文本占位符 2">
            <a:extLst>
              <a:ext uri="{FF2B5EF4-FFF2-40B4-BE49-F238E27FC236}">
                <a16:creationId xmlns:a16="http://schemas.microsoft.com/office/drawing/2014/main" id="{BE36102C-8986-BB3D-35D4-4DFAFFFE1FF5}"/>
              </a:ext>
            </a:extLst>
          </p:cNvPr>
          <p:cNvSpPr txBox="1">
            <a:spLocks/>
          </p:cNvSpPr>
          <p:nvPr/>
        </p:nvSpPr>
        <p:spPr>
          <a:xfrm>
            <a:off x="718217" y="2136933"/>
            <a:ext cx="10739965" cy="49408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800"/>
              <a:t>在 </a:t>
            </a:r>
            <a:r>
              <a:rPr lang="en-US" altLang="zh-CN" sz="1800"/>
              <a:t>Travis CI </a:t>
            </a:r>
            <a:r>
              <a:rPr lang="zh-CN" altLang="en-US" sz="1800"/>
              <a:t>中更改存储库的设置</a:t>
            </a:r>
          </a:p>
        </p:txBody>
      </p:sp>
      <p:pic>
        <p:nvPicPr>
          <p:cNvPr id="9" name="图片 8">
            <a:extLst>
              <a:ext uri="{FF2B5EF4-FFF2-40B4-BE49-F238E27FC236}">
                <a16:creationId xmlns:a16="http://schemas.microsoft.com/office/drawing/2014/main" id="{AC27134B-9874-07B5-DC73-4FBFE3B23269}"/>
              </a:ext>
            </a:extLst>
          </p:cNvPr>
          <p:cNvPicPr>
            <a:picLocks noChangeAspect="1"/>
          </p:cNvPicPr>
          <p:nvPr/>
        </p:nvPicPr>
        <p:blipFill>
          <a:blip r:embed="rId2"/>
          <a:stretch>
            <a:fillRect/>
          </a:stretch>
        </p:blipFill>
        <p:spPr>
          <a:xfrm>
            <a:off x="5152069" y="2136933"/>
            <a:ext cx="6728152" cy="3903023"/>
          </a:xfrm>
          <a:prstGeom prst="rect">
            <a:avLst/>
          </a:prstGeom>
        </p:spPr>
      </p:pic>
      <p:sp>
        <p:nvSpPr>
          <p:cNvPr id="11" name="文本框 10">
            <a:extLst>
              <a:ext uri="{FF2B5EF4-FFF2-40B4-BE49-F238E27FC236}">
                <a16:creationId xmlns:a16="http://schemas.microsoft.com/office/drawing/2014/main" id="{8F04D981-D90F-D85D-8045-BFD3C1B3EBE5}"/>
              </a:ext>
            </a:extLst>
          </p:cNvPr>
          <p:cNvSpPr txBox="1"/>
          <p:nvPr/>
        </p:nvSpPr>
        <p:spPr>
          <a:xfrm>
            <a:off x="7400260" y="1538177"/>
            <a:ext cx="0" cy="0"/>
          </a:xfrm>
          <a:prstGeom prst="rect">
            <a:avLst/>
          </a:prstGeom>
          <a:noFill/>
        </p:spPr>
        <p:txBody>
          <a:bodyPr wrap="none" lIns="0" tIns="0" rIns="0" bIns="0" rtlCol="0" anchor="ctr">
            <a:normAutofit fontScale="25000" lnSpcReduction="20000"/>
          </a:bodyPr>
          <a:lstStyle/>
          <a:p>
            <a:pPr algn="l">
              <a:lnSpc>
                <a:spcPct val="125000"/>
              </a:lnSpc>
              <a:spcAft>
                <a:spcPts val="500"/>
              </a:spcAft>
            </a:pPr>
            <a:endParaRPr kumimoji="1" lang="zh-CN" altLang="en-US"/>
          </a:p>
        </p:txBody>
      </p:sp>
      <p:pic>
        <p:nvPicPr>
          <p:cNvPr id="16" name="图片 15">
            <a:extLst>
              <a:ext uri="{FF2B5EF4-FFF2-40B4-BE49-F238E27FC236}">
                <a16:creationId xmlns:a16="http://schemas.microsoft.com/office/drawing/2014/main" id="{885F7C9E-FD9C-A89F-02DC-BAD64147CF4C}"/>
              </a:ext>
            </a:extLst>
          </p:cNvPr>
          <p:cNvPicPr>
            <a:picLocks noChangeAspect="1"/>
          </p:cNvPicPr>
          <p:nvPr/>
        </p:nvPicPr>
        <p:blipFill>
          <a:blip r:embed="rId3"/>
          <a:stretch>
            <a:fillRect/>
          </a:stretch>
        </p:blipFill>
        <p:spPr>
          <a:xfrm>
            <a:off x="283386" y="2961274"/>
            <a:ext cx="4604467" cy="1639884"/>
          </a:xfrm>
          <a:prstGeom prst="rect">
            <a:avLst/>
          </a:prstGeom>
        </p:spPr>
      </p:pic>
    </p:spTree>
    <p:extLst>
      <p:ext uri="{BB962C8B-B14F-4D97-AF65-F5344CB8AC3E}">
        <p14:creationId xmlns:p14="http://schemas.microsoft.com/office/powerpoint/2010/main" val="35576774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68A3EA-FFF7-F593-9FA7-BB39D3E3222F}"/>
              </a:ext>
            </a:extLst>
          </p:cNvPr>
          <p:cNvSpPr>
            <a:spLocks noGrp="1"/>
          </p:cNvSpPr>
          <p:nvPr>
            <p:ph type="title"/>
          </p:nvPr>
        </p:nvSpPr>
        <p:spPr/>
        <p:txBody>
          <a:bodyPr>
            <a:normAutofit/>
          </a:bodyPr>
          <a:lstStyle/>
          <a:p>
            <a:r>
              <a:rPr lang="en-US" altLang="zh-CN"/>
              <a:t>03 </a:t>
            </a:r>
            <a:r>
              <a:rPr lang="en-US" altLang="zh-CN" sz="2800"/>
              <a:t>CI/CD</a:t>
            </a:r>
            <a:r>
              <a:rPr lang="zh-CN" altLang="en-US" sz="2800"/>
              <a:t>工具简介</a:t>
            </a:r>
            <a:endParaRPr kumimoji="1" lang="zh-CN" altLang="en-US"/>
          </a:p>
        </p:txBody>
      </p:sp>
      <p:sp>
        <p:nvSpPr>
          <p:cNvPr id="3" name="灯片编号占位符 2">
            <a:extLst>
              <a:ext uri="{FF2B5EF4-FFF2-40B4-BE49-F238E27FC236}">
                <a16:creationId xmlns:a16="http://schemas.microsoft.com/office/drawing/2014/main" id="{940AA628-8120-F109-B869-E8671F3D72B8}"/>
              </a:ext>
            </a:extLst>
          </p:cNvPr>
          <p:cNvSpPr>
            <a:spLocks noGrp="1"/>
          </p:cNvSpPr>
          <p:nvPr>
            <p:ph type="sldNum" sz="quarter" idx="12"/>
          </p:nvPr>
        </p:nvSpPr>
        <p:spPr/>
        <p:txBody>
          <a:bodyPr/>
          <a:lstStyle/>
          <a:p>
            <a:fld id="{1AAC388E-FA9E-4A2C-95EA-1F6B3A07935A}" type="slidenum">
              <a:rPr lang="zh-CN" altLang="en-US" smtClean="0"/>
              <a:pPr/>
              <a:t>93</a:t>
            </a:fld>
            <a:endParaRPr lang="zh-CN" altLang="en-US"/>
          </a:p>
        </p:txBody>
      </p:sp>
      <p:sp>
        <p:nvSpPr>
          <p:cNvPr id="4" name="文本框 3">
            <a:extLst>
              <a:ext uri="{FF2B5EF4-FFF2-40B4-BE49-F238E27FC236}">
                <a16:creationId xmlns:a16="http://schemas.microsoft.com/office/drawing/2014/main" id="{BA9D347B-A333-F47E-DAC1-B3F417A6AD0E}"/>
              </a:ext>
            </a:extLst>
          </p:cNvPr>
          <p:cNvSpPr txBox="1"/>
          <p:nvPr/>
        </p:nvSpPr>
        <p:spPr>
          <a:xfrm>
            <a:off x="718217" y="874354"/>
            <a:ext cx="5070024"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zh-CN" altLang="en-US" dirty="0"/>
              <a:t>使用</a:t>
            </a:r>
            <a:r>
              <a:rPr lang="en-US" altLang="zh-CN" dirty="0"/>
              <a:t>Travis CI</a:t>
            </a:r>
            <a:r>
              <a:rPr lang="zh-CN" altLang="en-US" dirty="0"/>
              <a:t>实现持续集成</a:t>
            </a:r>
          </a:p>
        </p:txBody>
      </p:sp>
      <p:sp>
        <p:nvSpPr>
          <p:cNvPr id="6" name="文本框 5">
            <a:extLst>
              <a:ext uri="{FF2B5EF4-FFF2-40B4-BE49-F238E27FC236}">
                <a16:creationId xmlns:a16="http://schemas.microsoft.com/office/drawing/2014/main" id="{3AF7629F-FA0B-506E-F1D1-1394D3107606}"/>
              </a:ext>
            </a:extLst>
          </p:cNvPr>
          <p:cNvSpPr txBox="1"/>
          <p:nvPr/>
        </p:nvSpPr>
        <p:spPr>
          <a:xfrm>
            <a:off x="2708564" y="408709"/>
            <a:ext cx="0" cy="0"/>
          </a:xfrm>
          <a:prstGeom prst="rect">
            <a:avLst/>
          </a:prstGeom>
          <a:noFill/>
        </p:spPr>
        <p:txBody>
          <a:bodyPr wrap="none" lIns="0" tIns="0" rIns="0" bIns="0" rtlCol="0" anchor="ctr">
            <a:normAutofit fontScale="25000" lnSpcReduction="20000"/>
          </a:bodyPr>
          <a:lstStyle/>
          <a:p>
            <a:pPr algn="l">
              <a:lnSpc>
                <a:spcPct val="125000"/>
              </a:lnSpc>
              <a:spcAft>
                <a:spcPts val="500"/>
              </a:spcAft>
            </a:pPr>
            <a:endParaRPr kumimoji="1" lang="zh-CN" altLang="en-US"/>
          </a:p>
        </p:txBody>
      </p:sp>
      <p:sp>
        <p:nvSpPr>
          <p:cNvPr id="5" name="文本占位符 2">
            <a:extLst>
              <a:ext uri="{FF2B5EF4-FFF2-40B4-BE49-F238E27FC236}">
                <a16:creationId xmlns:a16="http://schemas.microsoft.com/office/drawing/2014/main" id="{1F3D4268-806B-7E26-9ACA-51807005639E}"/>
              </a:ext>
            </a:extLst>
          </p:cNvPr>
          <p:cNvSpPr txBox="1">
            <a:spLocks/>
          </p:cNvSpPr>
          <p:nvPr/>
        </p:nvSpPr>
        <p:spPr>
          <a:xfrm>
            <a:off x="645043" y="1519391"/>
            <a:ext cx="12856772" cy="90786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r>
              <a:rPr lang="zh-CN" altLang="en-US" sz="1800"/>
              <a:t>编辑存储库中的 </a:t>
            </a:r>
            <a:r>
              <a:rPr lang="en-US" altLang="zh-CN" sz="1800"/>
              <a:t>.</a:t>
            </a:r>
            <a:r>
              <a:rPr lang="en-US" altLang="zh-CN" sz="1800" err="1"/>
              <a:t>travis.tml</a:t>
            </a:r>
            <a:r>
              <a:rPr lang="en-US" altLang="zh-CN" sz="1800"/>
              <a:t>
</a:t>
            </a:r>
            <a:r>
              <a:rPr lang="zh-CN" altLang="en-US" sz="1800"/>
              <a:t>将 </a:t>
            </a:r>
            <a:r>
              <a:rPr lang="en-US" altLang="zh-CN" sz="1800"/>
              <a:t>.</a:t>
            </a:r>
            <a:r>
              <a:rPr lang="en-US" altLang="zh-CN" sz="1800" err="1"/>
              <a:t>travis.yml</a:t>
            </a:r>
            <a:r>
              <a:rPr lang="en-US" altLang="zh-CN" sz="1800"/>
              <a:t> </a:t>
            </a:r>
            <a:r>
              <a:rPr lang="zh-CN" altLang="en-US" sz="1800"/>
              <a:t>文件添加到 </a:t>
            </a:r>
            <a:r>
              <a:rPr lang="en-US" altLang="zh-CN" sz="1800"/>
              <a:t>git</a:t>
            </a:r>
            <a:r>
              <a:rPr lang="zh-CN" altLang="en-US" sz="1800"/>
              <a:t>、</a:t>
            </a:r>
            <a:r>
              <a:rPr lang="en-US" altLang="zh-CN" sz="1800"/>
              <a:t>commit </a:t>
            </a:r>
            <a:r>
              <a:rPr lang="zh-CN" altLang="en-US" sz="1800"/>
              <a:t>和 </a:t>
            </a:r>
            <a:r>
              <a:rPr lang="en-US" altLang="zh-CN" sz="1800"/>
              <a:t>push</a:t>
            </a:r>
            <a:r>
              <a:rPr lang="zh-CN" altLang="en-US" sz="1800"/>
              <a:t>，以触发 </a:t>
            </a:r>
            <a:r>
              <a:rPr lang="en-US" altLang="zh-CN" sz="1800"/>
              <a:t>Travis CI </a:t>
            </a:r>
            <a:r>
              <a:rPr lang="zh-CN" altLang="en-US" sz="1800"/>
              <a:t>构建
</a:t>
            </a:r>
            <a:endParaRPr lang="zh-CN" altLang="en-US" sz="1800">
              <a:solidFill>
                <a:schemeClr val="bg1"/>
              </a:solidFill>
            </a:endParaRPr>
          </a:p>
        </p:txBody>
      </p:sp>
      <p:pic>
        <p:nvPicPr>
          <p:cNvPr id="7" name="图片 6">
            <a:extLst>
              <a:ext uri="{FF2B5EF4-FFF2-40B4-BE49-F238E27FC236}">
                <a16:creationId xmlns:a16="http://schemas.microsoft.com/office/drawing/2014/main" id="{99460DAF-3465-255F-A8DB-6C8B39C39049}"/>
              </a:ext>
            </a:extLst>
          </p:cNvPr>
          <p:cNvPicPr>
            <a:picLocks noChangeAspect="1"/>
          </p:cNvPicPr>
          <p:nvPr/>
        </p:nvPicPr>
        <p:blipFill>
          <a:blip r:embed="rId2"/>
          <a:stretch>
            <a:fillRect/>
          </a:stretch>
        </p:blipFill>
        <p:spPr>
          <a:xfrm>
            <a:off x="718218" y="2738507"/>
            <a:ext cx="3128296" cy="3755828"/>
          </a:xfrm>
          <a:prstGeom prst="rect">
            <a:avLst/>
          </a:prstGeom>
        </p:spPr>
      </p:pic>
      <p:sp>
        <p:nvSpPr>
          <p:cNvPr id="8" name="文本占位符 2">
            <a:extLst>
              <a:ext uri="{FF2B5EF4-FFF2-40B4-BE49-F238E27FC236}">
                <a16:creationId xmlns:a16="http://schemas.microsoft.com/office/drawing/2014/main" id="{B134A52C-1BD1-CD0D-FE84-8E539E20674F}"/>
              </a:ext>
            </a:extLst>
          </p:cNvPr>
          <p:cNvSpPr txBox="1">
            <a:spLocks/>
          </p:cNvSpPr>
          <p:nvPr/>
        </p:nvSpPr>
        <p:spPr>
          <a:xfrm>
            <a:off x="718217" y="2383295"/>
            <a:ext cx="3128297" cy="261066"/>
          </a:xfrm>
          <a:prstGeom prst="rect">
            <a:avLst/>
          </a:prstGeom>
        </p:spPr>
        <p:txBody>
          <a:bodyPr wrap="square" lIns="0" tIns="0" rIns="0" bIns="0">
            <a:normAutofit/>
          </a:bodyPr>
          <a:lstStyle>
            <a:lvl1pPr marL="0">
              <a:defRPr sz="3200" baseline="0">
                <a:solidFill>
                  <a:schemeClr val="bg1"/>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ctr"/>
            <a:r>
              <a:rPr lang="en-US" altLang="zh-CN" sz="1600" kern="0">
                <a:solidFill>
                  <a:schemeClr val="tx1"/>
                </a:solidFill>
              </a:rPr>
              <a:t>The job lifecycle :</a:t>
            </a:r>
            <a:endParaRPr lang="zh-CN" altLang="en-US" sz="1600" kern="0">
              <a:solidFill>
                <a:schemeClr val="tx1"/>
              </a:solidFill>
            </a:endParaRPr>
          </a:p>
        </p:txBody>
      </p:sp>
      <p:pic>
        <p:nvPicPr>
          <p:cNvPr id="9" name="图片 8">
            <a:extLst>
              <a:ext uri="{FF2B5EF4-FFF2-40B4-BE49-F238E27FC236}">
                <a16:creationId xmlns:a16="http://schemas.microsoft.com/office/drawing/2014/main" id="{C0DB8BAE-7D21-AE46-BB95-D5B5D52E1813}"/>
              </a:ext>
            </a:extLst>
          </p:cNvPr>
          <p:cNvPicPr>
            <a:picLocks noChangeAspect="1"/>
          </p:cNvPicPr>
          <p:nvPr/>
        </p:nvPicPr>
        <p:blipFill>
          <a:blip r:embed="rId3"/>
          <a:stretch>
            <a:fillRect/>
          </a:stretch>
        </p:blipFill>
        <p:spPr>
          <a:xfrm>
            <a:off x="6249995" y="2738507"/>
            <a:ext cx="5141566" cy="3755828"/>
          </a:xfrm>
          <a:prstGeom prst="rect">
            <a:avLst/>
          </a:prstGeom>
        </p:spPr>
      </p:pic>
      <p:sp>
        <p:nvSpPr>
          <p:cNvPr id="10" name="文本占位符 2">
            <a:extLst>
              <a:ext uri="{FF2B5EF4-FFF2-40B4-BE49-F238E27FC236}">
                <a16:creationId xmlns:a16="http://schemas.microsoft.com/office/drawing/2014/main" id="{23DC322D-D51C-B955-25A4-91B6D7A141F6}"/>
              </a:ext>
            </a:extLst>
          </p:cNvPr>
          <p:cNvSpPr txBox="1">
            <a:spLocks/>
          </p:cNvSpPr>
          <p:nvPr/>
        </p:nvSpPr>
        <p:spPr>
          <a:xfrm>
            <a:off x="6803388" y="2383295"/>
            <a:ext cx="5141566" cy="261066"/>
          </a:xfrm>
          <a:prstGeom prst="rect">
            <a:avLst/>
          </a:prstGeom>
        </p:spPr>
        <p:txBody>
          <a:bodyPr wrap="square" lIns="0" tIns="0" rIns="0" bIns="0">
            <a:normAutofit/>
          </a:bodyPr>
          <a:lstStyle>
            <a:lvl1pPr marL="0">
              <a:defRPr sz="3200" baseline="0">
                <a:solidFill>
                  <a:schemeClr val="bg1"/>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ctr"/>
            <a:r>
              <a:rPr lang="en-US" altLang="zh-CN" sz="1600" kern="0">
                <a:solidFill>
                  <a:schemeClr val="tx1"/>
                </a:solidFill>
              </a:rPr>
              <a:t>A simple example – Apache Zookeeper</a:t>
            </a:r>
            <a:endParaRPr lang="zh-CN" altLang="en-US" sz="1600" kern="0">
              <a:solidFill>
                <a:schemeClr val="tx1"/>
              </a:solidFill>
            </a:endParaRPr>
          </a:p>
        </p:txBody>
      </p:sp>
      <p:sp>
        <p:nvSpPr>
          <p:cNvPr id="11" name="文本框 10">
            <a:extLst>
              <a:ext uri="{FF2B5EF4-FFF2-40B4-BE49-F238E27FC236}">
                <a16:creationId xmlns:a16="http://schemas.microsoft.com/office/drawing/2014/main" id="{D53F3CE0-7631-B277-0918-9961B3F84041}"/>
              </a:ext>
            </a:extLst>
          </p:cNvPr>
          <p:cNvSpPr txBox="1"/>
          <p:nvPr/>
        </p:nvSpPr>
        <p:spPr>
          <a:xfrm>
            <a:off x="5734493" y="3317358"/>
            <a:ext cx="0" cy="0"/>
          </a:xfrm>
          <a:prstGeom prst="rect">
            <a:avLst/>
          </a:prstGeom>
          <a:noFill/>
        </p:spPr>
        <p:txBody>
          <a:bodyPr wrap="none" lIns="0" tIns="0" rIns="0" bIns="0" rtlCol="0" anchor="ctr">
            <a:normAutofit fontScale="25000" lnSpcReduction="20000"/>
          </a:bodyPr>
          <a:lstStyle/>
          <a:p>
            <a:pPr algn="l">
              <a:lnSpc>
                <a:spcPct val="125000"/>
              </a:lnSpc>
              <a:spcAft>
                <a:spcPts val="500"/>
              </a:spcAft>
            </a:pPr>
            <a:endParaRPr kumimoji="1" lang="zh-CN" altLang="en-US"/>
          </a:p>
        </p:txBody>
      </p:sp>
    </p:spTree>
    <p:extLst>
      <p:ext uri="{BB962C8B-B14F-4D97-AF65-F5344CB8AC3E}">
        <p14:creationId xmlns:p14="http://schemas.microsoft.com/office/powerpoint/2010/main" val="12135823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68A3EA-FFF7-F593-9FA7-BB39D3E3222F}"/>
              </a:ext>
            </a:extLst>
          </p:cNvPr>
          <p:cNvSpPr>
            <a:spLocks noGrp="1"/>
          </p:cNvSpPr>
          <p:nvPr>
            <p:ph type="title"/>
          </p:nvPr>
        </p:nvSpPr>
        <p:spPr/>
        <p:txBody>
          <a:bodyPr>
            <a:normAutofit/>
          </a:bodyPr>
          <a:lstStyle/>
          <a:p>
            <a:r>
              <a:rPr lang="en-US" altLang="zh-CN"/>
              <a:t>03 </a:t>
            </a:r>
            <a:r>
              <a:rPr lang="en-US" altLang="zh-CN" sz="2800"/>
              <a:t>CI/CD</a:t>
            </a:r>
            <a:r>
              <a:rPr lang="zh-CN" altLang="en-US" sz="2800"/>
              <a:t>工具简介</a:t>
            </a:r>
            <a:endParaRPr kumimoji="1" lang="zh-CN" altLang="en-US"/>
          </a:p>
        </p:txBody>
      </p:sp>
      <p:sp>
        <p:nvSpPr>
          <p:cNvPr id="3" name="灯片编号占位符 2">
            <a:extLst>
              <a:ext uri="{FF2B5EF4-FFF2-40B4-BE49-F238E27FC236}">
                <a16:creationId xmlns:a16="http://schemas.microsoft.com/office/drawing/2014/main" id="{940AA628-8120-F109-B869-E8671F3D72B8}"/>
              </a:ext>
            </a:extLst>
          </p:cNvPr>
          <p:cNvSpPr>
            <a:spLocks noGrp="1"/>
          </p:cNvSpPr>
          <p:nvPr>
            <p:ph type="sldNum" sz="quarter" idx="12"/>
          </p:nvPr>
        </p:nvSpPr>
        <p:spPr/>
        <p:txBody>
          <a:bodyPr/>
          <a:lstStyle/>
          <a:p>
            <a:fld id="{1AAC388E-FA9E-4A2C-95EA-1F6B3A07935A}" type="slidenum">
              <a:rPr lang="zh-CN" altLang="en-US" smtClean="0"/>
              <a:pPr/>
              <a:t>94</a:t>
            </a:fld>
            <a:endParaRPr lang="zh-CN" altLang="en-US"/>
          </a:p>
        </p:txBody>
      </p:sp>
      <p:sp>
        <p:nvSpPr>
          <p:cNvPr id="4" name="文本框 3">
            <a:extLst>
              <a:ext uri="{FF2B5EF4-FFF2-40B4-BE49-F238E27FC236}">
                <a16:creationId xmlns:a16="http://schemas.microsoft.com/office/drawing/2014/main" id="{BA9D347B-A333-F47E-DAC1-B3F417A6AD0E}"/>
              </a:ext>
            </a:extLst>
          </p:cNvPr>
          <p:cNvSpPr txBox="1"/>
          <p:nvPr/>
        </p:nvSpPr>
        <p:spPr>
          <a:xfrm>
            <a:off x="718217" y="874354"/>
            <a:ext cx="5309721"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zh-CN" altLang="en-US" dirty="0"/>
              <a:t>使用</a:t>
            </a:r>
            <a:r>
              <a:rPr lang="en-US" altLang="zh-CN" dirty="0"/>
              <a:t>Travis CI</a:t>
            </a:r>
            <a:r>
              <a:rPr lang="zh-CN" altLang="en-US" dirty="0"/>
              <a:t>实现持续集成</a:t>
            </a:r>
          </a:p>
        </p:txBody>
      </p:sp>
      <p:sp>
        <p:nvSpPr>
          <p:cNvPr id="6" name="文本框 5">
            <a:extLst>
              <a:ext uri="{FF2B5EF4-FFF2-40B4-BE49-F238E27FC236}">
                <a16:creationId xmlns:a16="http://schemas.microsoft.com/office/drawing/2014/main" id="{3AF7629F-FA0B-506E-F1D1-1394D3107606}"/>
              </a:ext>
            </a:extLst>
          </p:cNvPr>
          <p:cNvSpPr txBox="1"/>
          <p:nvPr/>
        </p:nvSpPr>
        <p:spPr>
          <a:xfrm>
            <a:off x="2708564" y="408709"/>
            <a:ext cx="0" cy="0"/>
          </a:xfrm>
          <a:prstGeom prst="rect">
            <a:avLst/>
          </a:prstGeom>
          <a:noFill/>
        </p:spPr>
        <p:txBody>
          <a:bodyPr wrap="none" lIns="0" tIns="0" rIns="0" bIns="0" rtlCol="0" anchor="ctr">
            <a:normAutofit fontScale="25000" lnSpcReduction="20000"/>
          </a:bodyPr>
          <a:lstStyle/>
          <a:p>
            <a:pPr algn="l">
              <a:lnSpc>
                <a:spcPct val="125000"/>
              </a:lnSpc>
              <a:spcAft>
                <a:spcPts val="500"/>
              </a:spcAft>
            </a:pPr>
            <a:endParaRPr kumimoji="1" lang="zh-CN" altLang="en-US"/>
          </a:p>
        </p:txBody>
      </p:sp>
      <p:pic>
        <p:nvPicPr>
          <p:cNvPr id="5" name="图片 4">
            <a:extLst>
              <a:ext uri="{FF2B5EF4-FFF2-40B4-BE49-F238E27FC236}">
                <a16:creationId xmlns:a16="http://schemas.microsoft.com/office/drawing/2014/main" id="{4189524E-D028-7E33-D072-17A89FBD9D45}"/>
              </a:ext>
            </a:extLst>
          </p:cNvPr>
          <p:cNvPicPr>
            <a:picLocks noChangeAspect="1"/>
          </p:cNvPicPr>
          <p:nvPr/>
        </p:nvPicPr>
        <p:blipFill>
          <a:blip r:embed="rId2"/>
          <a:stretch>
            <a:fillRect/>
          </a:stretch>
        </p:blipFill>
        <p:spPr>
          <a:xfrm>
            <a:off x="2146890" y="2648925"/>
            <a:ext cx="6729807" cy="3550991"/>
          </a:xfrm>
          <a:prstGeom prst="rect">
            <a:avLst/>
          </a:prstGeom>
        </p:spPr>
      </p:pic>
      <p:sp>
        <p:nvSpPr>
          <p:cNvPr id="8" name="文本框 7">
            <a:extLst>
              <a:ext uri="{FF2B5EF4-FFF2-40B4-BE49-F238E27FC236}">
                <a16:creationId xmlns:a16="http://schemas.microsoft.com/office/drawing/2014/main" id="{372CBD9C-A2FF-412E-22C0-3ACD0B0D433E}"/>
              </a:ext>
            </a:extLst>
          </p:cNvPr>
          <p:cNvSpPr txBox="1"/>
          <p:nvPr/>
        </p:nvSpPr>
        <p:spPr>
          <a:xfrm>
            <a:off x="1303073" y="1708176"/>
            <a:ext cx="8417442" cy="646331"/>
          </a:xfrm>
          <a:prstGeom prst="rect">
            <a:avLst/>
          </a:prstGeom>
          <a:noFill/>
        </p:spPr>
        <p:txBody>
          <a:bodyPr wrap="square">
            <a:spAutoFit/>
          </a:bodyPr>
          <a:lstStyle/>
          <a:p>
            <a:pPr marL="971550" lvl="1" indent="-514350">
              <a:buFont typeface="Arial" panose="020B0604020202020204" pitchFamily="34" charset="0"/>
              <a:buChar char="•"/>
            </a:pPr>
            <a:r>
              <a:rPr lang="zh-CN" altLang="en-US"/>
              <a:t>通过访问 </a:t>
            </a:r>
            <a:r>
              <a:rPr lang="en-US" altLang="zh-CN"/>
              <a:t>Travis CI </a:t>
            </a:r>
            <a:r>
              <a:rPr lang="zh-CN" altLang="en-US"/>
              <a:t>并选择存储库，根据构建命令的返回状态，检查构建状态页面以查看构建是通过还是失败。</a:t>
            </a:r>
            <a:endParaRPr lang="en-US" altLang="zh-CN" sz="1800"/>
          </a:p>
        </p:txBody>
      </p:sp>
    </p:spTree>
    <p:extLst>
      <p:ext uri="{BB962C8B-B14F-4D97-AF65-F5344CB8AC3E}">
        <p14:creationId xmlns:p14="http://schemas.microsoft.com/office/powerpoint/2010/main" val="8078140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68A3EA-FFF7-F593-9FA7-BB39D3E3222F}"/>
              </a:ext>
            </a:extLst>
          </p:cNvPr>
          <p:cNvSpPr>
            <a:spLocks noGrp="1"/>
          </p:cNvSpPr>
          <p:nvPr>
            <p:ph type="title"/>
          </p:nvPr>
        </p:nvSpPr>
        <p:spPr/>
        <p:txBody>
          <a:bodyPr>
            <a:normAutofit/>
          </a:bodyPr>
          <a:lstStyle/>
          <a:p>
            <a:r>
              <a:rPr lang="en-US" altLang="zh-CN"/>
              <a:t>03 </a:t>
            </a:r>
            <a:r>
              <a:rPr lang="en-US" altLang="zh-CN" sz="2800"/>
              <a:t>CI/CD</a:t>
            </a:r>
            <a:r>
              <a:rPr lang="zh-CN" altLang="en-US" sz="2800"/>
              <a:t>工具简介</a:t>
            </a:r>
            <a:endParaRPr kumimoji="1" lang="zh-CN" altLang="en-US"/>
          </a:p>
        </p:txBody>
      </p:sp>
      <p:sp>
        <p:nvSpPr>
          <p:cNvPr id="3" name="灯片编号占位符 2">
            <a:extLst>
              <a:ext uri="{FF2B5EF4-FFF2-40B4-BE49-F238E27FC236}">
                <a16:creationId xmlns:a16="http://schemas.microsoft.com/office/drawing/2014/main" id="{940AA628-8120-F109-B869-E8671F3D72B8}"/>
              </a:ext>
            </a:extLst>
          </p:cNvPr>
          <p:cNvSpPr>
            <a:spLocks noGrp="1"/>
          </p:cNvSpPr>
          <p:nvPr>
            <p:ph type="sldNum" sz="quarter" idx="12"/>
          </p:nvPr>
        </p:nvSpPr>
        <p:spPr/>
        <p:txBody>
          <a:bodyPr/>
          <a:lstStyle/>
          <a:p>
            <a:fld id="{1AAC388E-FA9E-4A2C-95EA-1F6B3A07935A}" type="slidenum">
              <a:rPr lang="zh-CN" altLang="en-US" smtClean="0"/>
              <a:pPr/>
              <a:t>95</a:t>
            </a:fld>
            <a:endParaRPr lang="zh-CN" altLang="en-US"/>
          </a:p>
        </p:txBody>
      </p:sp>
      <p:sp>
        <p:nvSpPr>
          <p:cNvPr id="4" name="文本框 3">
            <a:extLst>
              <a:ext uri="{FF2B5EF4-FFF2-40B4-BE49-F238E27FC236}">
                <a16:creationId xmlns:a16="http://schemas.microsoft.com/office/drawing/2014/main" id="{BA9D347B-A333-F47E-DAC1-B3F417A6AD0E}"/>
              </a:ext>
            </a:extLst>
          </p:cNvPr>
          <p:cNvSpPr txBox="1"/>
          <p:nvPr/>
        </p:nvSpPr>
        <p:spPr>
          <a:xfrm>
            <a:off x="718217" y="874354"/>
            <a:ext cx="6997033"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en-US" altLang="zh-CN" dirty="0"/>
              <a:t>Travis CI</a:t>
            </a:r>
            <a:r>
              <a:rPr lang="zh-CN" altLang="en-US" dirty="0"/>
              <a:t>中持续集成任务生命周期</a:t>
            </a:r>
          </a:p>
        </p:txBody>
      </p:sp>
      <p:sp>
        <p:nvSpPr>
          <p:cNvPr id="5" name="文本框 4">
            <a:extLst>
              <a:ext uri="{FF2B5EF4-FFF2-40B4-BE49-F238E27FC236}">
                <a16:creationId xmlns:a16="http://schemas.microsoft.com/office/drawing/2014/main" id="{03EB08DF-882D-CC9A-F9AE-F0847EC081B8}"/>
              </a:ext>
            </a:extLst>
          </p:cNvPr>
          <p:cNvSpPr txBox="1"/>
          <p:nvPr/>
        </p:nvSpPr>
        <p:spPr>
          <a:xfrm>
            <a:off x="782782" y="1559397"/>
            <a:ext cx="10737273" cy="4166699"/>
          </a:xfrm>
          <a:prstGeom prst="rect">
            <a:avLst/>
          </a:prstGeom>
          <a:noFill/>
        </p:spPr>
        <p:txBody>
          <a:bodyPr wrap="square" lIns="0" tIns="0" rIns="0" bIns="0" rtlCol="0" anchor="ctr">
            <a:normAutofit/>
          </a:bodyPr>
          <a:lstStyle/>
          <a:p>
            <a:pPr algn="l">
              <a:buFont typeface="Arial" panose="020B0604020202020204" pitchFamily="34" charset="0"/>
              <a:buChar char="•"/>
            </a:pPr>
            <a:endParaRPr lang="zh-CN" altLang="en-US" b="0" i="0" dirty="0">
              <a:solidFill>
                <a:srgbClr val="111111"/>
              </a:solidFill>
              <a:effectLst/>
              <a:latin typeface="-apple-system"/>
            </a:endParaRPr>
          </a:p>
        </p:txBody>
      </p:sp>
      <p:graphicFrame>
        <p:nvGraphicFramePr>
          <p:cNvPr id="6" name="文本框 6">
            <a:extLst>
              <a:ext uri="{FF2B5EF4-FFF2-40B4-BE49-F238E27FC236}">
                <a16:creationId xmlns:a16="http://schemas.microsoft.com/office/drawing/2014/main" id="{554407F6-B047-5FE9-463A-224F7FFA0FB8}"/>
              </a:ext>
            </a:extLst>
          </p:cNvPr>
          <p:cNvGraphicFramePr/>
          <p:nvPr/>
        </p:nvGraphicFramePr>
        <p:xfrm>
          <a:off x="718218" y="2225244"/>
          <a:ext cx="10807475" cy="36961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462251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68A3EA-FFF7-F593-9FA7-BB39D3E3222F}"/>
              </a:ext>
            </a:extLst>
          </p:cNvPr>
          <p:cNvSpPr>
            <a:spLocks noGrp="1"/>
          </p:cNvSpPr>
          <p:nvPr>
            <p:ph type="title"/>
          </p:nvPr>
        </p:nvSpPr>
        <p:spPr/>
        <p:txBody>
          <a:bodyPr>
            <a:normAutofit/>
          </a:bodyPr>
          <a:lstStyle/>
          <a:p>
            <a:r>
              <a:rPr lang="en-US" altLang="zh-CN"/>
              <a:t>03 </a:t>
            </a:r>
            <a:r>
              <a:rPr lang="en-US" altLang="zh-CN" sz="2800"/>
              <a:t>CI/CD</a:t>
            </a:r>
            <a:r>
              <a:rPr lang="zh-CN" altLang="en-US" sz="2800"/>
              <a:t>工具简介</a:t>
            </a:r>
            <a:endParaRPr kumimoji="1" lang="zh-CN" altLang="en-US"/>
          </a:p>
        </p:txBody>
      </p:sp>
      <p:sp>
        <p:nvSpPr>
          <p:cNvPr id="3" name="灯片编号占位符 2">
            <a:extLst>
              <a:ext uri="{FF2B5EF4-FFF2-40B4-BE49-F238E27FC236}">
                <a16:creationId xmlns:a16="http://schemas.microsoft.com/office/drawing/2014/main" id="{940AA628-8120-F109-B869-E8671F3D72B8}"/>
              </a:ext>
            </a:extLst>
          </p:cNvPr>
          <p:cNvSpPr>
            <a:spLocks noGrp="1"/>
          </p:cNvSpPr>
          <p:nvPr>
            <p:ph type="sldNum" sz="quarter" idx="12"/>
          </p:nvPr>
        </p:nvSpPr>
        <p:spPr/>
        <p:txBody>
          <a:bodyPr/>
          <a:lstStyle/>
          <a:p>
            <a:fld id="{1AAC388E-FA9E-4A2C-95EA-1F6B3A07935A}" type="slidenum">
              <a:rPr lang="zh-CN" altLang="en-US" smtClean="0"/>
              <a:pPr/>
              <a:t>96</a:t>
            </a:fld>
            <a:endParaRPr lang="zh-CN" altLang="en-US"/>
          </a:p>
        </p:txBody>
      </p:sp>
      <p:sp>
        <p:nvSpPr>
          <p:cNvPr id="4" name="文本框 3">
            <a:extLst>
              <a:ext uri="{FF2B5EF4-FFF2-40B4-BE49-F238E27FC236}">
                <a16:creationId xmlns:a16="http://schemas.microsoft.com/office/drawing/2014/main" id="{BA9D347B-A333-F47E-DAC1-B3F417A6AD0E}"/>
              </a:ext>
            </a:extLst>
          </p:cNvPr>
          <p:cNvSpPr txBox="1"/>
          <p:nvPr/>
        </p:nvSpPr>
        <p:spPr>
          <a:xfrm>
            <a:off x="718216" y="874354"/>
            <a:ext cx="6939883"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en-US" altLang="zh-CN" dirty="0"/>
              <a:t>Travis CI</a:t>
            </a:r>
            <a:r>
              <a:rPr lang="zh-CN" altLang="en-US" dirty="0"/>
              <a:t>中持续集成任务生命周期</a:t>
            </a:r>
          </a:p>
        </p:txBody>
      </p:sp>
      <p:sp>
        <p:nvSpPr>
          <p:cNvPr id="6" name="文本框 5">
            <a:extLst>
              <a:ext uri="{FF2B5EF4-FFF2-40B4-BE49-F238E27FC236}">
                <a16:creationId xmlns:a16="http://schemas.microsoft.com/office/drawing/2014/main" id="{3AF7629F-FA0B-506E-F1D1-1394D3107606}"/>
              </a:ext>
            </a:extLst>
          </p:cNvPr>
          <p:cNvSpPr txBox="1"/>
          <p:nvPr/>
        </p:nvSpPr>
        <p:spPr>
          <a:xfrm>
            <a:off x="2708564" y="408709"/>
            <a:ext cx="0" cy="0"/>
          </a:xfrm>
          <a:prstGeom prst="rect">
            <a:avLst/>
          </a:prstGeom>
          <a:noFill/>
        </p:spPr>
        <p:txBody>
          <a:bodyPr wrap="none" lIns="0" tIns="0" rIns="0" bIns="0" rtlCol="0" anchor="ctr">
            <a:normAutofit fontScale="25000" lnSpcReduction="20000"/>
          </a:bodyPr>
          <a:lstStyle/>
          <a:p>
            <a:pPr algn="l">
              <a:lnSpc>
                <a:spcPct val="125000"/>
              </a:lnSpc>
              <a:spcAft>
                <a:spcPts val="500"/>
              </a:spcAft>
            </a:pPr>
            <a:endParaRPr kumimoji="1" lang="zh-CN" altLang="en-US"/>
          </a:p>
        </p:txBody>
      </p:sp>
      <p:sp>
        <p:nvSpPr>
          <p:cNvPr id="5" name="文本占位符 2">
            <a:extLst>
              <a:ext uri="{FF2B5EF4-FFF2-40B4-BE49-F238E27FC236}">
                <a16:creationId xmlns:a16="http://schemas.microsoft.com/office/drawing/2014/main" id="{1F3D4268-806B-7E26-9ACA-51807005639E}"/>
              </a:ext>
            </a:extLst>
          </p:cNvPr>
          <p:cNvSpPr txBox="1">
            <a:spLocks/>
          </p:cNvSpPr>
          <p:nvPr/>
        </p:nvSpPr>
        <p:spPr>
          <a:xfrm>
            <a:off x="645043" y="1519391"/>
            <a:ext cx="11546957" cy="90786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r>
              <a:rPr lang="en" altLang="zh-CN" sz="1800" b="0" i="0">
                <a:solidFill>
                  <a:srgbClr val="111111"/>
                </a:solidFill>
                <a:effectLst/>
                <a:latin typeface="+mn-ea"/>
              </a:rPr>
              <a:t>OPTIONAL Install apt addons</a:t>
            </a:r>
            <a:r>
              <a:rPr lang="zh-CN" altLang="en" sz="1800" b="0" i="0">
                <a:solidFill>
                  <a:srgbClr val="111111"/>
                </a:solidFill>
                <a:effectLst/>
                <a:latin typeface="+mn-ea"/>
              </a:rPr>
              <a:t>：</a:t>
            </a:r>
            <a:r>
              <a:rPr lang="zh-CN" altLang="en-US" sz="1800" b="0" i="0">
                <a:solidFill>
                  <a:srgbClr val="111111"/>
                </a:solidFill>
                <a:effectLst/>
                <a:latin typeface="+mn-ea"/>
              </a:rPr>
              <a:t>安装</a:t>
            </a:r>
            <a:r>
              <a:rPr lang="en" altLang="zh-CN" sz="1800" b="0" i="0">
                <a:solidFill>
                  <a:srgbClr val="111111"/>
                </a:solidFill>
                <a:effectLst/>
                <a:latin typeface="+mn-ea"/>
              </a:rPr>
              <a:t>apt</a:t>
            </a:r>
            <a:r>
              <a:rPr lang="zh-CN" altLang="en-US" sz="1800" b="0" i="0">
                <a:solidFill>
                  <a:srgbClr val="111111"/>
                </a:solidFill>
                <a:effectLst/>
                <a:latin typeface="+mn-ea"/>
              </a:rPr>
              <a:t>插件，适合用于安装</a:t>
            </a:r>
            <a:r>
              <a:rPr lang="en" altLang="zh-CN" sz="1800" b="0" i="0">
                <a:solidFill>
                  <a:srgbClr val="111111"/>
                </a:solidFill>
                <a:effectLst/>
                <a:latin typeface="+mn-ea"/>
              </a:rPr>
              <a:t>Linux</a:t>
            </a:r>
            <a:r>
              <a:rPr lang="zh-CN" altLang="en-US" sz="1800" b="0" i="0">
                <a:solidFill>
                  <a:srgbClr val="111111"/>
                </a:solidFill>
                <a:effectLst/>
                <a:latin typeface="+mn-ea"/>
              </a:rPr>
              <a:t>环境中的软件包 。</a:t>
            </a:r>
          </a:p>
        </p:txBody>
      </p:sp>
      <p:sp>
        <p:nvSpPr>
          <p:cNvPr id="11" name="文本框 10">
            <a:extLst>
              <a:ext uri="{FF2B5EF4-FFF2-40B4-BE49-F238E27FC236}">
                <a16:creationId xmlns:a16="http://schemas.microsoft.com/office/drawing/2014/main" id="{D53F3CE0-7631-B277-0918-9961B3F84041}"/>
              </a:ext>
            </a:extLst>
          </p:cNvPr>
          <p:cNvSpPr txBox="1"/>
          <p:nvPr/>
        </p:nvSpPr>
        <p:spPr>
          <a:xfrm>
            <a:off x="5734493" y="3317358"/>
            <a:ext cx="0" cy="0"/>
          </a:xfrm>
          <a:prstGeom prst="rect">
            <a:avLst/>
          </a:prstGeom>
          <a:noFill/>
        </p:spPr>
        <p:txBody>
          <a:bodyPr wrap="none" lIns="0" tIns="0" rIns="0" bIns="0" rtlCol="0" anchor="ctr">
            <a:normAutofit fontScale="25000" lnSpcReduction="20000"/>
          </a:bodyPr>
          <a:lstStyle/>
          <a:p>
            <a:pPr algn="l">
              <a:lnSpc>
                <a:spcPct val="125000"/>
              </a:lnSpc>
              <a:spcAft>
                <a:spcPts val="500"/>
              </a:spcAft>
            </a:pPr>
            <a:endParaRPr kumimoji="1" lang="zh-CN" altLang="en-US"/>
          </a:p>
        </p:txBody>
      </p:sp>
      <p:sp>
        <p:nvSpPr>
          <p:cNvPr id="12" name="文本框 11">
            <a:extLst>
              <a:ext uri="{FF2B5EF4-FFF2-40B4-BE49-F238E27FC236}">
                <a16:creationId xmlns:a16="http://schemas.microsoft.com/office/drawing/2014/main" id="{08F0139C-0527-9E01-0330-B9E3112FA1CD}"/>
              </a:ext>
            </a:extLst>
          </p:cNvPr>
          <p:cNvSpPr txBox="1"/>
          <p:nvPr/>
        </p:nvSpPr>
        <p:spPr>
          <a:xfrm>
            <a:off x="1123907" y="2123973"/>
            <a:ext cx="9619066" cy="923330"/>
          </a:xfrm>
          <a:prstGeom prst="rect">
            <a:avLst/>
          </a:prstGeom>
          <a:noFill/>
        </p:spPr>
        <p:txBody>
          <a:bodyPr wrap="square">
            <a:spAutoFit/>
          </a:bodyPr>
          <a:lstStyle/>
          <a:p>
            <a:r>
              <a:rPr lang="en-US" altLang="zh-CN" b="0" i="0">
                <a:solidFill>
                  <a:srgbClr val="111111"/>
                </a:solidFill>
                <a:effectLst/>
                <a:latin typeface="+mn-ea"/>
              </a:rPr>
              <a:t>OPTIONAL Install apt addons</a:t>
            </a:r>
            <a:r>
              <a:rPr lang="zh-CN" altLang="en-US" b="0" i="0">
                <a:solidFill>
                  <a:srgbClr val="111111"/>
                </a:solidFill>
                <a:effectLst/>
                <a:latin typeface="+mn-ea"/>
              </a:rPr>
              <a:t>可以执行任何</a:t>
            </a:r>
            <a:r>
              <a:rPr lang="en-US" altLang="zh-CN" b="0" i="0">
                <a:solidFill>
                  <a:srgbClr val="111111"/>
                </a:solidFill>
                <a:effectLst/>
                <a:latin typeface="+mn-ea"/>
              </a:rPr>
              <a:t>apt</a:t>
            </a:r>
            <a:r>
              <a:rPr lang="zh-CN" altLang="en-US" b="0" i="0">
                <a:solidFill>
                  <a:srgbClr val="111111"/>
                </a:solidFill>
                <a:effectLst/>
                <a:latin typeface="+mn-ea"/>
              </a:rPr>
              <a:t>支持的命令，比如安装、更新、卸载等。例如，如果你想安装</a:t>
            </a:r>
            <a:r>
              <a:rPr lang="en-US" altLang="zh-CN" b="0" i="0">
                <a:solidFill>
                  <a:srgbClr val="111111"/>
                </a:solidFill>
                <a:effectLst/>
                <a:latin typeface="+mn-ea"/>
              </a:rPr>
              <a:t>git</a:t>
            </a:r>
            <a:r>
              <a:rPr lang="zh-CN" altLang="en-US" b="0" i="0">
                <a:solidFill>
                  <a:srgbClr val="111111"/>
                </a:solidFill>
                <a:effectLst/>
                <a:latin typeface="+mn-ea"/>
              </a:rPr>
              <a:t>和</a:t>
            </a:r>
            <a:r>
              <a:rPr lang="en-US" altLang="zh-CN" b="0" i="0">
                <a:solidFill>
                  <a:srgbClr val="111111"/>
                </a:solidFill>
                <a:effectLst/>
                <a:latin typeface="+mn-ea"/>
              </a:rPr>
              <a:t>python3</a:t>
            </a:r>
            <a:r>
              <a:rPr lang="zh-CN" altLang="en-US" b="0" i="0">
                <a:solidFill>
                  <a:srgbClr val="111111"/>
                </a:solidFill>
                <a:effectLst/>
                <a:latin typeface="+mn-ea"/>
              </a:rPr>
              <a:t>，你可以这样写：</a:t>
            </a:r>
            <a:endParaRPr lang="zh-CN" altLang="en-US"/>
          </a:p>
          <a:p>
            <a:endParaRPr lang="zh-CN" altLang="en-US">
              <a:latin typeface="+mn-ea"/>
            </a:endParaRPr>
          </a:p>
        </p:txBody>
      </p:sp>
      <p:sp>
        <p:nvSpPr>
          <p:cNvPr id="9" name="Rectangle 3">
            <a:extLst>
              <a:ext uri="{FF2B5EF4-FFF2-40B4-BE49-F238E27FC236}">
                <a16:creationId xmlns:a16="http://schemas.microsoft.com/office/drawing/2014/main" id="{5975504D-7769-6ECA-2285-CF37CE3A786C}"/>
              </a:ext>
            </a:extLst>
          </p:cNvPr>
          <p:cNvSpPr>
            <a:spLocks noChangeArrowheads="1"/>
          </p:cNvSpPr>
          <p:nvPr/>
        </p:nvSpPr>
        <p:spPr bwMode="auto">
          <a:xfrm>
            <a:off x="4902822" y="3671633"/>
            <a:ext cx="1806905" cy="1938992"/>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rgbClr val="CC7832"/>
                </a:solidFill>
                <a:effectLst/>
                <a:latin typeface="JetBrains Mono" panose="02000009000000000000" pitchFamily="49" charset="0"/>
                <a:cs typeface="JetBrains Mono" panose="02000009000000000000" pitchFamily="49" charset="0"/>
              </a:rPr>
              <a:t>addons</a:t>
            </a: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a:t>
            </a:r>
            <a:b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b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  </a:t>
            </a:r>
            <a:r>
              <a:rPr kumimoji="0" lang="zh-CN" altLang="zh-CN" sz="2400" b="0" i="0" u="none" strike="noStrike" cap="none" normalizeH="0" baseline="0" dirty="0">
                <a:ln>
                  <a:noFill/>
                </a:ln>
                <a:solidFill>
                  <a:srgbClr val="CC7832"/>
                </a:solidFill>
                <a:effectLst/>
                <a:latin typeface="JetBrains Mono" panose="02000009000000000000" pitchFamily="49" charset="0"/>
                <a:cs typeface="JetBrains Mono" panose="02000009000000000000" pitchFamily="49" charset="0"/>
              </a:rPr>
              <a:t>apt</a:t>
            </a: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a:t>
            </a:r>
            <a:b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b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    </a:t>
            </a:r>
            <a:r>
              <a:rPr kumimoji="0" lang="zh-CN" altLang="zh-CN" sz="2400" b="0" i="0" u="none" strike="noStrike" cap="none" normalizeH="0" baseline="0" dirty="0">
                <a:ln>
                  <a:noFill/>
                </a:ln>
                <a:solidFill>
                  <a:srgbClr val="CC7832"/>
                </a:solidFill>
                <a:effectLst/>
                <a:latin typeface="JetBrains Mono" panose="02000009000000000000" pitchFamily="49" charset="0"/>
                <a:cs typeface="JetBrains Mono" panose="02000009000000000000" pitchFamily="49" charset="0"/>
              </a:rPr>
              <a:t>packages</a:t>
            </a: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a:t>
            </a:r>
            <a:b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b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      - git</a:t>
            </a:r>
            <a:b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b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      - python3</a:t>
            </a:r>
            <a:endParaRPr kumimoji="0" lang="zh-CN" altLang="zh-CN"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42329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68A3EA-FFF7-F593-9FA7-BB39D3E3222F}"/>
              </a:ext>
            </a:extLst>
          </p:cNvPr>
          <p:cNvSpPr>
            <a:spLocks noGrp="1"/>
          </p:cNvSpPr>
          <p:nvPr>
            <p:ph type="title"/>
          </p:nvPr>
        </p:nvSpPr>
        <p:spPr/>
        <p:txBody>
          <a:bodyPr>
            <a:normAutofit/>
          </a:bodyPr>
          <a:lstStyle/>
          <a:p>
            <a:r>
              <a:rPr lang="en-US" altLang="zh-CN"/>
              <a:t>03 </a:t>
            </a:r>
            <a:r>
              <a:rPr lang="en-US" altLang="zh-CN" sz="2800"/>
              <a:t>CI/CD</a:t>
            </a:r>
            <a:r>
              <a:rPr lang="zh-CN" altLang="en-US" sz="2800"/>
              <a:t>工具简介</a:t>
            </a:r>
            <a:endParaRPr kumimoji="1" lang="zh-CN" altLang="en-US"/>
          </a:p>
        </p:txBody>
      </p:sp>
      <p:sp>
        <p:nvSpPr>
          <p:cNvPr id="3" name="灯片编号占位符 2">
            <a:extLst>
              <a:ext uri="{FF2B5EF4-FFF2-40B4-BE49-F238E27FC236}">
                <a16:creationId xmlns:a16="http://schemas.microsoft.com/office/drawing/2014/main" id="{940AA628-8120-F109-B869-E8671F3D72B8}"/>
              </a:ext>
            </a:extLst>
          </p:cNvPr>
          <p:cNvSpPr>
            <a:spLocks noGrp="1"/>
          </p:cNvSpPr>
          <p:nvPr>
            <p:ph type="sldNum" sz="quarter" idx="12"/>
          </p:nvPr>
        </p:nvSpPr>
        <p:spPr/>
        <p:txBody>
          <a:bodyPr/>
          <a:lstStyle/>
          <a:p>
            <a:fld id="{1AAC388E-FA9E-4A2C-95EA-1F6B3A07935A}" type="slidenum">
              <a:rPr lang="zh-CN" altLang="en-US" smtClean="0"/>
              <a:pPr/>
              <a:t>97</a:t>
            </a:fld>
            <a:endParaRPr lang="zh-CN" altLang="en-US"/>
          </a:p>
        </p:txBody>
      </p:sp>
      <p:sp>
        <p:nvSpPr>
          <p:cNvPr id="6" name="文本框 5">
            <a:extLst>
              <a:ext uri="{FF2B5EF4-FFF2-40B4-BE49-F238E27FC236}">
                <a16:creationId xmlns:a16="http://schemas.microsoft.com/office/drawing/2014/main" id="{3AF7629F-FA0B-506E-F1D1-1394D3107606}"/>
              </a:ext>
            </a:extLst>
          </p:cNvPr>
          <p:cNvSpPr txBox="1"/>
          <p:nvPr/>
        </p:nvSpPr>
        <p:spPr>
          <a:xfrm>
            <a:off x="2708564" y="408709"/>
            <a:ext cx="0" cy="0"/>
          </a:xfrm>
          <a:prstGeom prst="rect">
            <a:avLst/>
          </a:prstGeom>
          <a:noFill/>
        </p:spPr>
        <p:txBody>
          <a:bodyPr wrap="none" lIns="0" tIns="0" rIns="0" bIns="0" rtlCol="0" anchor="ctr">
            <a:normAutofit fontScale="25000" lnSpcReduction="20000"/>
          </a:bodyPr>
          <a:lstStyle/>
          <a:p>
            <a:pPr algn="l">
              <a:lnSpc>
                <a:spcPct val="125000"/>
              </a:lnSpc>
              <a:spcAft>
                <a:spcPts val="500"/>
              </a:spcAft>
            </a:pPr>
            <a:endParaRPr kumimoji="1" lang="zh-CN" altLang="en-US"/>
          </a:p>
        </p:txBody>
      </p:sp>
      <p:sp>
        <p:nvSpPr>
          <p:cNvPr id="5" name="文本占位符 2">
            <a:extLst>
              <a:ext uri="{FF2B5EF4-FFF2-40B4-BE49-F238E27FC236}">
                <a16:creationId xmlns:a16="http://schemas.microsoft.com/office/drawing/2014/main" id="{1F3D4268-806B-7E26-9ACA-51807005639E}"/>
              </a:ext>
            </a:extLst>
          </p:cNvPr>
          <p:cNvSpPr txBox="1">
            <a:spLocks/>
          </p:cNvSpPr>
          <p:nvPr/>
        </p:nvSpPr>
        <p:spPr>
          <a:xfrm>
            <a:off x="645043" y="1519391"/>
            <a:ext cx="11546957" cy="90786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r>
              <a:rPr lang="en-US" altLang="zh-CN" sz="1800" b="0" i="0">
                <a:solidFill>
                  <a:srgbClr val="111111"/>
                </a:solidFill>
                <a:effectLst/>
                <a:latin typeface="+mn-ea"/>
              </a:rPr>
              <a:t>OPTIONAL Install cache components</a:t>
            </a:r>
            <a:r>
              <a:rPr lang="zh-CN" altLang="en-US" sz="1800" b="0" i="0">
                <a:solidFill>
                  <a:srgbClr val="111111"/>
                </a:solidFill>
                <a:effectLst/>
                <a:latin typeface="+mn-ea"/>
              </a:rPr>
              <a:t>：安装缓存组件，适合用于缓存依赖或目录，以加速构建过程 。</a:t>
            </a:r>
          </a:p>
        </p:txBody>
      </p:sp>
      <p:sp>
        <p:nvSpPr>
          <p:cNvPr id="11" name="文本框 10">
            <a:extLst>
              <a:ext uri="{FF2B5EF4-FFF2-40B4-BE49-F238E27FC236}">
                <a16:creationId xmlns:a16="http://schemas.microsoft.com/office/drawing/2014/main" id="{D53F3CE0-7631-B277-0918-9961B3F84041}"/>
              </a:ext>
            </a:extLst>
          </p:cNvPr>
          <p:cNvSpPr txBox="1"/>
          <p:nvPr/>
        </p:nvSpPr>
        <p:spPr>
          <a:xfrm>
            <a:off x="5734493" y="3317358"/>
            <a:ext cx="0" cy="0"/>
          </a:xfrm>
          <a:prstGeom prst="rect">
            <a:avLst/>
          </a:prstGeom>
          <a:noFill/>
        </p:spPr>
        <p:txBody>
          <a:bodyPr wrap="none" lIns="0" tIns="0" rIns="0" bIns="0" rtlCol="0" anchor="ctr">
            <a:normAutofit fontScale="25000" lnSpcReduction="20000"/>
          </a:bodyPr>
          <a:lstStyle/>
          <a:p>
            <a:pPr algn="l">
              <a:lnSpc>
                <a:spcPct val="125000"/>
              </a:lnSpc>
              <a:spcAft>
                <a:spcPts val="500"/>
              </a:spcAft>
            </a:pPr>
            <a:endParaRPr kumimoji="1" lang="zh-CN" altLang="en-US"/>
          </a:p>
        </p:txBody>
      </p:sp>
      <p:sp>
        <p:nvSpPr>
          <p:cNvPr id="12" name="文本框 11">
            <a:extLst>
              <a:ext uri="{FF2B5EF4-FFF2-40B4-BE49-F238E27FC236}">
                <a16:creationId xmlns:a16="http://schemas.microsoft.com/office/drawing/2014/main" id="{08F0139C-0527-9E01-0330-B9E3112FA1CD}"/>
              </a:ext>
            </a:extLst>
          </p:cNvPr>
          <p:cNvSpPr txBox="1"/>
          <p:nvPr/>
        </p:nvSpPr>
        <p:spPr>
          <a:xfrm>
            <a:off x="1123906" y="2123972"/>
            <a:ext cx="10336573" cy="923330"/>
          </a:xfrm>
          <a:prstGeom prst="rect">
            <a:avLst/>
          </a:prstGeom>
          <a:noFill/>
        </p:spPr>
        <p:txBody>
          <a:bodyPr wrap="square">
            <a:spAutoFit/>
          </a:bodyPr>
          <a:lstStyle/>
          <a:p>
            <a:r>
              <a:rPr lang="en-US" altLang="zh-CN" b="0" i="0">
                <a:solidFill>
                  <a:srgbClr val="111111"/>
                </a:solidFill>
                <a:effectLst/>
                <a:latin typeface="+mn-ea"/>
              </a:rPr>
              <a:t>OPTIONAL Install cache components</a:t>
            </a:r>
            <a:r>
              <a:rPr lang="zh-CN" altLang="en-US" b="0" i="0">
                <a:solidFill>
                  <a:srgbClr val="111111"/>
                </a:solidFill>
                <a:effectLst/>
                <a:latin typeface="+mn-ea"/>
              </a:rPr>
              <a:t>可以执行缓存相关的命令，比如指定要缓存的目录或文件，设置缓存的过期时间，清空缓存等。例如，如果你想缓存</a:t>
            </a:r>
            <a:r>
              <a:rPr lang="en-US" altLang="zh-CN" b="0" i="0">
                <a:solidFill>
                  <a:srgbClr val="111111"/>
                </a:solidFill>
                <a:effectLst/>
                <a:latin typeface="+mn-ea"/>
              </a:rPr>
              <a:t>maven</a:t>
            </a:r>
            <a:r>
              <a:rPr lang="zh-CN" altLang="en-US" b="0" i="0">
                <a:solidFill>
                  <a:srgbClr val="111111"/>
                </a:solidFill>
                <a:effectLst/>
                <a:latin typeface="+mn-ea"/>
              </a:rPr>
              <a:t>的本地仓库和</a:t>
            </a:r>
            <a:r>
              <a:rPr lang="en-US" altLang="zh-CN" b="0" i="0" err="1">
                <a:solidFill>
                  <a:srgbClr val="111111"/>
                </a:solidFill>
                <a:effectLst/>
                <a:latin typeface="+mn-ea"/>
              </a:rPr>
              <a:t>node_modules</a:t>
            </a:r>
            <a:r>
              <a:rPr lang="zh-CN" altLang="en-US" b="0" i="0">
                <a:solidFill>
                  <a:srgbClr val="111111"/>
                </a:solidFill>
                <a:effectLst/>
                <a:latin typeface="+mn-ea"/>
              </a:rPr>
              <a:t>目录，并设置缓存的过期时间为一周，你可以这样写：</a:t>
            </a:r>
            <a:endParaRPr lang="zh-CN" altLang="en-US">
              <a:latin typeface="+mn-ea"/>
            </a:endParaRPr>
          </a:p>
        </p:txBody>
      </p:sp>
      <p:sp>
        <p:nvSpPr>
          <p:cNvPr id="7" name="Rectangle 1">
            <a:extLst>
              <a:ext uri="{FF2B5EF4-FFF2-40B4-BE49-F238E27FC236}">
                <a16:creationId xmlns:a16="http://schemas.microsoft.com/office/drawing/2014/main" id="{188ACF92-DA3A-60E9-8B55-CBC245373F02}"/>
              </a:ext>
            </a:extLst>
          </p:cNvPr>
          <p:cNvSpPr>
            <a:spLocks noChangeArrowheads="1"/>
          </p:cNvSpPr>
          <p:nvPr/>
        </p:nvSpPr>
        <p:spPr bwMode="auto">
          <a:xfrm>
            <a:off x="2214839" y="3651883"/>
            <a:ext cx="7159332" cy="1938992"/>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rgbClr val="CC7832"/>
                </a:solidFill>
                <a:effectLst/>
                <a:latin typeface="JetBrains Mono" panose="02000009000000000000" pitchFamily="49" charset="0"/>
                <a:cs typeface="JetBrains Mono" panose="02000009000000000000" pitchFamily="49" charset="0"/>
              </a:rPr>
              <a:t>cache</a:t>
            </a: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a:t>
            </a:r>
            <a:b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b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  </a:t>
            </a:r>
            <a:r>
              <a:rPr kumimoji="0" lang="zh-CN" altLang="zh-CN" sz="2400" b="0" i="0" u="none" strike="noStrike" cap="none" normalizeH="0" baseline="0" dirty="0">
                <a:ln>
                  <a:noFill/>
                </a:ln>
                <a:solidFill>
                  <a:srgbClr val="CC7832"/>
                </a:solidFill>
                <a:effectLst/>
                <a:latin typeface="JetBrains Mono" panose="02000009000000000000" pitchFamily="49" charset="0"/>
                <a:cs typeface="JetBrains Mono" panose="02000009000000000000" pitchFamily="49" charset="0"/>
              </a:rPr>
              <a:t>timeout</a:t>
            </a: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 604800 </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 </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缓存过期时间为一周，单位为秒 </a:t>
            </a:r>
            <a:b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b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  </a:t>
            </a:r>
            <a:r>
              <a:rPr kumimoji="0" lang="zh-CN" altLang="zh-CN" sz="2400" b="0" i="0" u="none" strike="noStrike" cap="none" normalizeH="0" baseline="0" dirty="0">
                <a:ln>
                  <a:noFill/>
                </a:ln>
                <a:solidFill>
                  <a:srgbClr val="CC7832"/>
                </a:solidFill>
                <a:effectLst/>
                <a:latin typeface="JetBrains Mono" panose="02000009000000000000" pitchFamily="49" charset="0"/>
                <a:cs typeface="JetBrains Mono" panose="02000009000000000000" pitchFamily="49" charset="0"/>
              </a:rPr>
              <a:t>directories</a:t>
            </a: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a:t>
            </a:r>
            <a:b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b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    - $HOME/.m2 </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 </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缓存</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maven</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的本地仓库 </a:t>
            </a:r>
            <a:b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b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    </a:t>
            </a: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 node_modules </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 </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缓存</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node_modules</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目录 </a:t>
            </a:r>
            <a:endParaRPr kumimoji="0" lang="zh-CN" altLang="zh-CN" sz="2400" b="0" i="0" u="none" strike="noStrike" cap="none" normalizeH="0" baseline="0" dirty="0">
              <a:ln>
                <a:noFill/>
              </a:ln>
              <a:solidFill>
                <a:schemeClr val="tx1"/>
              </a:solidFill>
              <a:effectLst/>
              <a:latin typeface="Arial" panose="020B0604020202020204" pitchFamily="34" charset="0"/>
            </a:endParaRPr>
          </a:p>
        </p:txBody>
      </p:sp>
      <p:sp>
        <p:nvSpPr>
          <p:cNvPr id="8" name="文本框 7">
            <a:extLst>
              <a:ext uri="{FF2B5EF4-FFF2-40B4-BE49-F238E27FC236}">
                <a16:creationId xmlns:a16="http://schemas.microsoft.com/office/drawing/2014/main" id="{B201759D-3F2E-854C-6E33-C5C6AB88EA48}"/>
              </a:ext>
            </a:extLst>
          </p:cNvPr>
          <p:cNvSpPr txBox="1"/>
          <p:nvPr/>
        </p:nvSpPr>
        <p:spPr>
          <a:xfrm>
            <a:off x="718216" y="874354"/>
            <a:ext cx="6939883"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en-US" altLang="zh-CN" dirty="0"/>
              <a:t>Travis CI</a:t>
            </a:r>
            <a:r>
              <a:rPr lang="zh-CN" altLang="en-US" dirty="0"/>
              <a:t>中持续集成任务生命周期</a:t>
            </a:r>
          </a:p>
        </p:txBody>
      </p:sp>
    </p:spTree>
    <p:extLst>
      <p:ext uri="{BB962C8B-B14F-4D97-AF65-F5344CB8AC3E}">
        <p14:creationId xmlns:p14="http://schemas.microsoft.com/office/powerpoint/2010/main" val="10886003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68A3EA-FFF7-F593-9FA7-BB39D3E3222F}"/>
              </a:ext>
            </a:extLst>
          </p:cNvPr>
          <p:cNvSpPr>
            <a:spLocks noGrp="1"/>
          </p:cNvSpPr>
          <p:nvPr>
            <p:ph type="title"/>
          </p:nvPr>
        </p:nvSpPr>
        <p:spPr/>
        <p:txBody>
          <a:bodyPr>
            <a:normAutofit/>
          </a:bodyPr>
          <a:lstStyle/>
          <a:p>
            <a:r>
              <a:rPr lang="en-US" altLang="zh-CN"/>
              <a:t>03 </a:t>
            </a:r>
            <a:r>
              <a:rPr lang="en-US" altLang="zh-CN" sz="2800"/>
              <a:t>CI/CD</a:t>
            </a:r>
            <a:r>
              <a:rPr lang="zh-CN" altLang="en-US" sz="2800"/>
              <a:t>工具简介</a:t>
            </a:r>
            <a:endParaRPr kumimoji="1" lang="zh-CN" altLang="en-US"/>
          </a:p>
        </p:txBody>
      </p:sp>
      <p:sp>
        <p:nvSpPr>
          <p:cNvPr id="3" name="灯片编号占位符 2">
            <a:extLst>
              <a:ext uri="{FF2B5EF4-FFF2-40B4-BE49-F238E27FC236}">
                <a16:creationId xmlns:a16="http://schemas.microsoft.com/office/drawing/2014/main" id="{940AA628-8120-F109-B869-E8671F3D72B8}"/>
              </a:ext>
            </a:extLst>
          </p:cNvPr>
          <p:cNvSpPr>
            <a:spLocks noGrp="1"/>
          </p:cNvSpPr>
          <p:nvPr>
            <p:ph type="sldNum" sz="quarter" idx="12"/>
          </p:nvPr>
        </p:nvSpPr>
        <p:spPr/>
        <p:txBody>
          <a:bodyPr/>
          <a:lstStyle/>
          <a:p>
            <a:fld id="{1AAC388E-FA9E-4A2C-95EA-1F6B3A07935A}" type="slidenum">
              <a:rPr lang="zh-CN" altLang="en-US" smtClean="0"/>
              <a:pPr/>
              <a:t>98</a:t>
            </a:fld>
            <a:endParaRPr lang="zh-CN" altLang="en-US"/>
          </a:p>
        </p:txBody>
      </p:sp>
      <p:sp>
        <p:nvSpPr>
          <p:cNvPr id="6" name="文本框 5">
            <a:extLst>
              <a:ext uri="{FF2B5EF4-FFF2-40B4-BE49-F238E27FC236}">
                <a16:creationId xmlns:a16="http://schemas.microsoft.com/office/drawing/2014/main" id="{3AF7629F-FA0B-506E-F1D1-1394D3107606}"/>
              </a:ext>
            </a:extLst>
          </p:cNvPr>
          <p:cNvSpPr txBox="1"/>
          <p:nvPr/>
        </p:nvSpPr>
        <p:spPr>
          <a:xfrm>
            <a:off x="2708564" y="408709"/>
            <a:ext cx="0" cy="0"/>
          </a:xfrm>
          <a:prstGeom prst="rect">
            <a:avLst/>
          </a:prstGeom>
          <a:noFill/>
        </p:spPr>
        <p:txBody>
          <a:bodyPr wrap="none" lIns="0" tIns="0" rIns="0" bIns="0" rtlCol="0" anchor="ctr">
            <a:normAutofit fontScale="25000" lnSpcReduction="20000"/>
          </a:bodyPr>
          <a:lstStyle/>
          <a:p>
            <a:pPr algn="l">
              <a:lnSpc>
                <a:spcPct val="125000"/>
              </a:lnSpc>
              <a:spcAft>
                <a:spcPts val="500"/>
              </a:spcAft>
            </a:pPr>
            <a:endParaRPr kumimoji="1" lang="zh-CN" altLang="en-US"/>
          </a:p>
        </p:txBody>
      </p:sp>
      <p:sp>
        <p:nvSpPr>
          <p:cNvPr id="5" name="文本占位符 2">
            <a:extLst>
              <a:ext uri="{FF2B5EF4-FFF2-40B4-BE49-F238E27FC236}">
                <a16:creationId xmlns:a16="http://schemas.microsoft.com/office/drawing/2014/main" id="{1F3D4268-806B-7E26-9ACA-51807005639E}"/>
              </a:ext>
            </a:extLst>
          </p:cNvPr>
          <p:cNvSpPr txBox="1">
            <a:spLocks/>
          </p:cNvSpPr>
          <p:nvPr/>
        </p:nvSpPr>
        <p:spPr>
          <a:xfrm>
            <a:off x="645043" y="1519391"/>
            <a:ext cx="11546957" cy="90786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r>
              <a:rPr lang="en-US" altLang="zh-CN" sz="1800" b="0" i="0" err="1">
                <a:solidFill>
                  <a:srgbClr val="111111"/>
                </a:solidFill>
                <a:effectLst/>
                <a:latin typeface="+mn-ea"/>
              </a:rPr>
              <a:t>before_install</a:t>
            </a:r>
            <a:r>
              <a:rPr lang="zh-CN" altLang="en-US" sz="1800" b="0" i="0">
                <a:solidFill>
                  <a:srgbClr val="111111"/>
                </a:solidFill>
                <a:effectLst/>
                <a:latin typeface="+mn-ea"/>
              </a:rPr>
              <a:t>：在安装依赖之前执行的命令，适合用于设置环境变量或安装系统级软件。</a:t>
            </a:r>
          </a:p>
        </p:txBody>
      </p:sp>
      <p:sp>
        <p:nvSpPr>
          <p:cNvPr id="11" name="文本框 10">
            <a:extLst>
              <a:ext uri="{FF2B5EF4-FFF2-40B4-BE49-F238E27FC236}">
                <a16:creationId xmlns:a16="http://schemas.microsoft.com/office/drawing/2014/main" id="{D53F3CE0-7631-B277-0918-9961B3F84041}"/>
              </a:ext>
            </a:extLst>
          </p:cNvPr>
          <p:cNvSpPr txBox="1"/>
          <p:nvPr/>
        </p:nvSpPr>
        <p:spPr>
          <a:xfrm>
            <a:off x="5734493" y="3317358"/>
            <a:ext cx="0" cy="0"/>
          </a:xfrm>
          <a:prstGeom prst="rect">
            <a:avLst/>
          </a:prstGeom>
          <a:noFill/>
        </p:spPr>
        <p:txBody>
          <a:bodyPr wrap="none" lIns="0" tIns="0" rIns="0" bIns="0" rtlCol="0" anchor="ctr">
            <a:normAutofit fontScale="25000" lnSpcReduction="20000"/>
          </a:bodyPr>
          <a:lstStyle/>
          <a:p>
            <a:pPr algn="l">
              <a:lnSpc>
                <a:spcPct val="125000"/>
              </a:lnSpc>
              <a:spcAft>
                <a:spcPts val="500"/>
              </a:spcAft>
            </a:pPr>
            <a:endParaRPr kumimoji="1" lang="zh-CN" altLang="en-US"/>
          </a:p>
        </p:txBody>
      </p:sp>
      <p:sp>
        <p:nvSpPr>
          <p:cNvPr id="12" name="文本框 11">
            <a:extLst>
              <a:ext uri="{FF2B5EF4-FFF2-40B4-BE49-F238E27FC236}">
                <a16:creationId xmlns:a16="http://schemas.microsoft.com/office/drawing/2014/main" id="{08F0139C-0527-9E01-0330-B9E3112FA1CD}"/>
              </a:ext>
            </a:extLst>
          </p:cNvPr>
          <p:cNvSpPr txBox="1"/>
          <p:nvPr/>
        </p:nvSpPr>
        <p:spPr>
          <a:xfrm>
            <a:off x="1095626" y="1878875"/>
            <a:ext cx="9619066" cy="923330"/>
          </a:xfrm>
          <a:prstGeom prst="rect">
            <a:avLst/>
          </a:prstGeom>
          <a:noFill/>
        </p:spPr>
        <p:txBody>
          <a:bodyPr wrap="square">
            <a:spAutoFit/>
          </a:bodyPr>
          <a:lstStyle/>
          <a:p>
            <a:r>
              <a:rPr lang="en-US" altLang="zh-CN" b="0" i="0" dirty="0" err="1">
                <a:solidFill>
                  <a:srgbClr val="111111"/>
                </a:solidFill>
                <a:effectLst/>
                <a:latin typeface="+mn-ea"/>
              </a:rPr>
              <a:t>before_install</a:t>
            </a:r>
            <a:r>
              <a:rPr lang="zh-CN" altLang="en-US" b="0" i="0" dirty="0">
                <a:solidFill>
                  <a:srgbClr val="111111"/>
                </a:solidFill>
                <a:effectLst/>
                <a:latin typeface="+mn-ea"/>
              </a:rPr>
              <a:t>可以执行任何你想在安装依赖之前执行的命令，比如设置环境变量，安装系统级软件，下载或解压文件等。例如，如果你想设置</a:t>
            </a:r>
            <a:r>
              <a:rPr lang="en-US" altLang="zh-CN" b="0" i="0" dirty="0">
                <a:solidFill>
                  <a:srgbClr val="111111"/>
                </a:solidFill>
                <a:effectLst/>
                <a:latin typeface="+mn-ea"/>
              </a:rPr>
              <a:t>JAVA_HOME</a:t>
            </a:r>
            <a:r>
              <a:rPr lang="zh-CN" altLang="en-US" b="0" i="0" dirty="0">
                <a:solidFill>
                  <a:srgbClr val="111111"/>
                </a:solidFill>
                <a:effectLst/>
                <a:latin typeface="+mn-ea"/>
              </a:rPr>
              <a:t>环境变量，安装</a:t>
            </a:r>
            <a:r>
              <a:rPr lang="en-US" altLang="zh-CN" b="0" i="0" dirty="0">
                <a:solidFill>
                  <a:srgbClr val="111111"/>
                </a:solidFill>
                <a:effectLst/>
                <a:latin typeface="+mn-ea"/>
              </a:rPr>
              <a:t>curl</a:t>
            </a:r>
            <a:r>
              <a:rPr lang="zh-CN" altLang="en-US" b="0" i="0" dirty="0">
                <a:solidFill>
                  <a:srgbClr val="111111"/>
                </a:solidFill>
                <a:effectLst/>
                <a:latin typeface="+mn-ea"/>
              </a:rPr>
              <a:t>软件，下载并解压一个</a:t>
            </a:r>
            <a:r>
              <a:rPr lang="en-US" altLang="zh-CN" b="0" i="0" dirty="0">
                <a:solidFill>
                  <a:srgbClr val="111111"/>
                </a:solidFill>
                <a:effectLst/>
                <a:latin typeface="+mn-ea"/>
              </a:rPr>
              <a:t>zip</a:t>
            </a:r>
            <a:r>
              <a:rPr lang="zh-CN" altLang="en-US" b="0" i="0" dirty="0">
                <a:solidFill>
                  <a:srgbClr val="111111"/>
                </a:solidFill>
                <a:effectLst/>
                <a:latin typeface="+mn-ea"/>
              </a:rPr>
              <a:t>文件，你可以这样写：</a:t>
            </a:r>
            <a:endParaRPr lang="zh-CN" altLang="en-US" dirty="0">
              <a:latin typeface="+mn-ea"/>
            </a:endParaRPr>
          </a:p>
        </p:txBody>
      </p:sp>
      <p:sp>
        <p:nvSpPr>
          <p:cNvPr id="7" name="Rectangle 1">
            <a:extLst>
              <a:ext uri="{FF2B5EF4-FFF2-40B4-BE49-F238E27FC236}">
                <a16:creationId xmlns:a16="http://schemas.microsoft.com/office/drawing/2014/main" id="{306FD63B-329A-DF63-CFA7-EBC4D1121F0F}"/>
              </a:ext>
            </a:extLst>
          </p:cNvPr>
          <p:cNvSpPr>
            <a:spLocks noChangeArrowheads="1"/>
          </p:cNvSpPr>
          <p:nvPr/>
        </p:nvSpPr>
        <p:spPr bwMode="auto">
          <a:xfrm>
            <a:off x="1766385" y="3366592"/>
            <a:ext cx="8659229" cy="2677656"/>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rgbClr val="CC7832"/>
                </a:solidFill>
                <a:effectLst/>
                <a:latin typeface="JetBrains Mono" panose="02000009000000000000" pitchFamily="49" charset="0"/>
                <a:cs typeface="JetBrains Mono" panose="02000009000000000000" pitchFamily="49" charset="0"/>
              </a:rPr>
              <a:t>before_install</a:t>
            </a: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a:t>
            </a:r>
            <a:b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b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  - export JAVA_HOME=/usr/lib/jvm/java-8-openjdk-amd64 </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 </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设置</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JAVA_HOME</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环境变量 </a:t>
            </a:r>
            <a:b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b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  </a:t>
            </a: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 sudo apt-get update </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 </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更新</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apt</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源 </a:t>
            </a:r>
            <a:b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b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  </a:t>
            </a: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 sudo apt-get install -y curl </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 </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安装</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curl</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软件 </a:t>
            </a:r>
            <a:b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b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  </a:t>
            </a: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 curl -O https://example.com/my-file.zip </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 </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下载一个</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zip</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文件 </a:t>
            </a:r>
            <a:b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b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  </a:t>
            </a: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 unzip my-file.zip </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 </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解压</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zip</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文件 </a:t>
            </a:r>
            <a:endParaRPr kumimoji="0" lang="zh-CN" altLang="zh-CN" sz="2400" b="0" i="0" u="none" strike="noStrike" cap="none" normalizeH="0" baseline="0" dirty="0">
              <a:ln>
                <a:noFill/>
              </a:ln>
              <a:solidFill>
                <a:schemeClr val="tx1"/>
              </a:solidFill>
              <a:effectLst/>
              <a:latin typeface="Arial" panose="020B0604020202020204" pitchFamily="34" charset="0"/>
            </a:endParaRPr>
          </a:p>
        </p:txBody>
      </p:sp>
      <p:sp>
        <p:nvSpPr>
          <p:cNvPr id="8" name="文本框 7">
            <a:extLst>
              <a:ext uri="{FF2B5EF4-FFF2-40B4-BE49-F238E27FC236}">
                <a16:creationId xmlns:a16="http://schemas.microsoft.com/office/drawing/2014/main" id="{138E8ECA-7218-E623-D212-722216343C45}"/>
              </a:ext>
            </a:extLst>
          </p:cNvPr>
          <p:cNvSpPr txBox="1"/>
          <p:nvPr/>
        </p:nvSpPr>
        <p:spPr>
          <a:xfrm>
            <a:off x="718216" y="874354"/>
            <a:ext cx="6939883"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en-US" altLang="zh-CN" dirty="0"/>
              <a:t>Travis CI</a:t>
            </a:r>
            <a:r>
              <a:rPr lang="zh-CN" altLang="en-US" dirty="0"/>
              <a:t>中持续集成任务生命周期</a:t>
            </a:r>
          </a:p>
        </p:txBody>
      </p:sp>
    </p:spTree>
    <p:extLst>
      <p:ext uri="{BB962C8B-B14F-4D97-AF65-F5344CB8AC3E}">
        <p14:creationId xmlns:p14="http://schemas.microsoft.com/office/powerpoint/2010/main" val="25130809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68A3EA-FFF7-F593-9FA7-BB39D3E3222F}"/>
              </a:ext>
            </a:extLst>
          </p:cNvPr>
          <p:cNvSpPr>
            <a:spLocks noGrp="1"/>
          </p:cNvSpPr>
          <p:nvPr>
            <p:ph type="title"/>
          </p:nvPr>
        </p:nvSpPr>
        <p:spPr/>
        <p:txBody>
          <a:bodyPr>
            <a:normAutofit/>
          </a:bodyPr>
          <a:lstStyle/>
          <a:p>
            <a:r>
              <a:rPr lang="en-US" altLang="zh-CN"/>
              <a:t>03 </a:t>
            </a:r>
            <a:r>
              <a:rPr lang="en-US" altLang="zh-CN" sz="2800"/>
              <a:t>CI/CD</a:t>
            </a:r>
            <a:r>
              <a:rPr lang="zh-CN" altLang="en-US" sz="2800"/>
              <a:t>工具简介</a:t>
            </a:r>
            <a:endParaRPr kumimoji="1" lang="zh-CN" altLang="en-US"/>
          </a:p>
        </p:txBody>
      </p:sp>
      <p:sp>
        <p:nvSpPr>
          <p:cNvPr id="3" name="灯片编号占位符 2">
            <a:extLst>
              <a:ext uri="{FF2B5EF4-FFF2-40B4-BE49-F238E27FC236}">
                <a16:creationId xmlns:a16="http://schemas.microsoft.com/office/drawing/2014/main" id="{940AA628-8120-F109-B869-E8671F3D72B8}"/>
              </a:ext>
            </a:extLst>
          </p:cNvPr>
          <p:cNvSpPr>
            <a:spLocks noGrp="1"/>
          </p:cNvSpPr>
          <p:nvPr>
            <p:ph type="sldNum" sz="quarter" idx="12"/>
          </p:nvPr>
        </p:nvSpPr>
        <p:spPr/>
        <p:txBody>
          <a:bodyPr/>
          <a:lstStyle/>
          <a:p>
            <a:fld id="{1AAC388E-FA9E-4A2C-95EA-1F6B3A07935A}" type="slidenum">
              <a:rPr lang="zh-CN" altLang="en-US" smtClean="0"/>
              <a:pPr/>
              <a:t>99</a:t>
            </a:fld>
            <a:endParaRPr lang="zh-CN" altLang="en-US"/>
          </a:p>
        </p:txBody>
      </p:sp>
      <p:sp>
        <p:nvSpPr>
          <p:cNvPr id="6" name="文本框 5">
            <a:extLst>
              <a:ext uri="{FF2B5EF4-FFF2-40B4-BE49-F238E27FC236}">
                <a16:creationId xmlns:a16="http://schemas.microsoft.com/office/drawing/2014/main" id="{3AF7629F-FA0B-506E-F1D1-1394D3107606}"/>
              </a:ext>
            </a:extLst>
          </p:cNvPr>
          <p:cNvSpPr txBox="1"/>
          <p:nvPr/>
        </p:nvSpPr>
        <p:spPr>
          <a:xfrm>
            <a:off x="2708564" y="408709"/>
            <a:ext cx="0" cy="0"/>
          </a:xfrm>
          <a:prstGeom prst="rect">
            <a:avLst/>
          </a:prstGeom>
          <a:noFill/>
        </p:spPr>
        <p:txBody>
          <a:bodyPr wrap="none" lIns="0" tIns="0" rIns="0" bIns="0" rtlCol="0" anchor="ctr">
            <a:normAutofit fontScale="25000" lnSpcReduction="20000"/>
          </a:bodyPr>
          <a:lstStyle/>
          <a:p>
            <a:pPr algn="l">
              <a:lnSpc>
                <a:spcPct val="125000"/>
              </a:lnSpc>
              <a:spcAft>
                <a:spcPts val="500"/>
              </a:spcAft>
            </a:pPr>
            <a:endParaRPr kumimoji="1" lang="zh-CN" altLang="en-US"/>
          </a:p>
        </p:txBody>
      </p:sp>
      <p:sp>
        <p:nvSpPr>
          <p:cNvPr id="5" name="文本占位符 2">
            <a:extLst>
              <a:ext uri="{FF2B5EF4-FFF2-40B4-BE49-F238E27FC236}">
                <a16:creationId xmlns:a16="http://schemas.microsoft.com/office/drawing/2014/main" id="{1F3D4268-806B-7E26-9ACA-51807005639E}"/>
              </a:ext>
            </a:extLst>
          </p:cNvPr>
          <p:cNvSpPr txBox="1">
            <a:spLocks/>
          </p:cNvSpPr>
          <p:nvPr/>
        </p:nvSpPr>
        <p:spPr>
          <a:xfrm>
            <a:off x="645043" y="1519391"/>
            <a:ext cx="11546957" cy="90786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r>
              <a:rPr lang="en-US" altLang="zh-CN" sz="1800" b="0" i="0">
                <a:solidFill>
                  <a:srgbClr val="111111"/>
                </a:solidFill>
                <a:effectLst/>
                <a:latin typeface="+mn-ea"/>
              </a:rPr>
              <a:t>install</a:t>
            </a:r>
            <a:r>
              <a:rPr lang="zh-CN" altLang="en-US" sz="1800" b="0" i="0">
                <a:solidFill>
                  <a:srgbClr val="111111"/>
                </a:solidFill>
                <a:effectLst/>
                <a:latin typeface="+mn-ea"/>
              </a:rPr>
              <a:t>：安装项目所需的依赖，适合用于运行安装脚本或命令。</a:t>
            </a:r>
          </a:p>
          <a:p>
            <a:pPr marL="457200" indent="-457200"/>
            <a:endParaRPr lang="zh-CN" altLang="en-US" sz="1800" b="0" i="0">
              <a:solidFill>
                <a:srgbClr val="111111"/>
              </a:solidFill>
              <a:effectLst/>
              <a:latin typeface="+mn-ea"/>
            </a:endParaRPr>
          </a:p>
        </p:txBody>
      </p:sp>
      <p:sp>
        <p:nvSpPr>
          <p:cNvPr id="11" name="文本框 10">
            <a:extLst>
              <a:ext uri="{FF2B5EF4-FFF2-40B4-BE49-F238E27FC236}">
                <a16:creationId xmlns:a16="http://schemas.microsoft.com/office/drawing/2014/main" id="{D53F3CE0-7631-B277-0918-9961B3F84041}"/>
              </a:ext>
            </a:extLst>
          </p:cNvPr>
          <p:cNvSpPr txBox="1"/>
          <p:nvPr/>
        </p:nvSpPr>
        <p:spPr>
          <a:xfrm>
            <a:off x="5734493" y="3317358"/>
            <a:ext cx="0" cy="0"/>
          </a:xfrm>
          <a:prstGeom prst="rect">
            <a:avLst/>
          </a:prstGeom>
          <a:noFill/>
        </p:spPr>
        <p:txBody>
          <a:bodyPr wrap="none" lIns="0" tIns="0" rIns="0" bIns="0" rtlCol="0" anchor="ctr">
            <a:normAutofit fontScale="25000" lnSpcReduction="20000"/>
          </a:bodyPr>
          <a:lstStyle/>
          <a:p>
            <a:pPr algn="l">
              <a:lnSpc>
                <a:spcPct val="125000"/>
              </a:lnSpc>
              <a:spcAft>
                <a:spcPts val="500"/>
              </a:spcAft>
            </a:pPr>
            <a:endParaRPr kumimoji="1" lang="zh-CN" altLang="en-US"/>
          </a:p>
        </p:txBody>
      </p:sp>
      <p:sp>
        <p:nvSpPr>
          <p:cNvPr id="12" name="文本框 11">
            <a:extLst>
              <a:ext uri="{FF2B5EF4-FFF2-40B4-BE49-F238E27FC236}">
                <a16:creationId xmlns:a16="http://schemas.microsoft.com/office/drawing/2014/main" id="{08F0139C-0527-9E01-0330-B9E3112FA1CD}"/>
              </a:ext>
            </a:extLst>
          </p:cNvPr>
          <p:cNvSpPr txBox="1"/>
          <p:nvPr/>
        </p:nvSpPr>
        <p:spPr>
          <a:xfrm>
            <a:off x="1123907" y="2123973"/>
            <a:ext cx="9619066" cy="923330"/>
          </a:xfrm>
          <a:prstGeom prst="rect">
            <a:avLst/>
          </a:prstGeom>
          <a:noFill/>
        </p:spPr>
        <p:txBody>
          <a:bodyPr wrap="square">
            <a:spAutoFit/>
          </a:bodyPr>
          <a:lstStyle/>
          <a:p>
            <a:r>
              <a:rPr lang="en-US" altLang="zh-CN">
                <a:latin typeface="+mn-ea"/>
              </a:rPr>
              <a:t>install</a:t>
            </a:r>
            <a:r>
              <a:rPr lang="zh-CN" altLang="en-US">
                <a:latin typeface="+mn-ea"/>
              </a:rPr>
              <a:t>可以执行任何你想安装项目所需的依赖的命令，比如运行安装脚本，调用包管理器，执行</a:t>
            </a:r>
            <a:r>
              <a:rPr lang="en-US" altLang="zh-CN">
                <a:latin typeface="+mn-ea"/>
              </a:rPr>
              <a:t>maven</a:t>
            </a:r>
            <a:r>
              <a:rPr lang="zh-CN" altLang="en-US">
                <a:latin typeface="+mn-ea"/>
              </a:rPr>
              <a:t>或</a:t>
            </a:r>
            <a:r>
              <a:rPr lang="en-US" altLang="zh-CN">
                <a:latin typeface="+mn-ea"/>
              </a:rPr>
              <a:t>npm</a:t>
            </a:r>
            <a:r>
              <a:rPr lang="zh-CN" altLang="en-US">
                <a:latin typeface="+mn-ea"/>
              </a:rPr>
              <a:t>命令等。例如，如果你想使用</a:t>
            </a:r>
            <a:r>
              <a:rPr lang="en-US" altLang="zh-CN">
                <a:latin typeface="+mn-ea"/>
              </a:rPr>
              <a:t>maven</a:t>
            </a:r>
            <a:r>
              <a:rPr lang="zh-CN" altLang="en-US">
                <a:latin typeface="+mn-ea"/>
              </a:rPr>
              <a:t>安装</a:t>
            </a:r>
            <a:r>
              <a:rPr lang="en-US" altLang="zh-CN">
                <a:latin typeface="+mn-ea"/>
              </a:rPr>
              <a:t>Java</a:t>
            </a:r>
            <a:r>
              <a:rPr lang="zh-CN" altLang="en-US">
                <a:latin typeface="+mn-ea"/>
              </a:rPr>
              <a:t>项目的依赖，并跳过测试和文档生成，你可以这样写：</a:t>
            </a:r>
          </a:p>
        </p:txBody>
      </p:sp>
      <p:sp>
        <p:nvSpPr>
          <p:cNvPr id="7" name="Rectangle 1">
            <a:extLst>
              <a:ext uri="{FF2B5EF4-FFF2-40B4-BE49-F238E27FC236}">
                <a16:creationId xmlns:a16="http://schemas.microsoft.com/office/drawing/2014/main" id="{18A13B63-F9DF-0EE3-9DC6-B132100F9FA8}"/>
              </a:ext>
            </a:extLst>
          </p:cNvPr>
          <p:cNvSpPr>
            <a:spLocks noChangeArrowheads="1"/>
          </p:cNvSpPr>
          <p:nvPr/>
        </p:nvSpPr>
        <p:spPr bwMode="auto">
          <a:xfrm>
            <a:off x="718217" y="3959661"/>
            <a:ext cx="10810764" cy="120032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rgbClr val="CC7832"/>
                </a:solidFill>
                <a:effectLst/>
                <a:latin typeface="JetBrains Mono" panose="02000009000000000000" pitchFamily="49" charset="0"/>
                <a:cs typeface="JetBrains Mono" panose="02000009000000000000" pitchFamily="49" charset="0"/>
              </a:rPr>
              <a:t>install</a:t>
            </a: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a:t>
            </a:r>
            <a:b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b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  - mvn install -DskipTests=true -Dmaven.javadoc.skip=true -B -V </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 </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使用</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maven</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安装依赖，并跳过测试和文档生成，</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-B</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表示批处理模式，</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-V</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表示显示版本信息 </a:t>
            </a:r>
            <a:endParaRPr kumimoji="0" lang="zh-CN" altLang="zh-CN" sz="2400" b="0" i="0" u="none" strike="noStrike" cap="none" normalizeH="0" baseline="0" dirty="0">
              <a:ln>
                <a:noFill/>
              </a:ln>
              <a:solidFill>
                <a:schemeClr val="tx1"/>
              </a:solidFill>
              <a:effectLst/>
              <a:latin typeface="Arial" panose="020B0604020202020204" pitchFamily="34" charset="0"/>
            </a:endParaRPr>
          </a:p>
        </p:txBody>
      </p:sp>
      <p:sp>
        <p:nvSpPr>
          <p:cNvPr id="8" name="文本框 7">
            <a:extLst>
              <a:ext uri="{FF2B5EF4-FFF2-40B4-BE49-F238E27FC236}">
                <a16:creationId xmlns:a16="http://schemas.microsoft.com/office/drawing/2014/main" id="{F579495D-8E48-90AD-7A66-274B44FE2DFB}"/>
              </a:ext>
            </a:extLst>
          </p:cNvPr>
          <p:cNvSpPr txBox="1"/>
          <p:nvPr/>
        </p:nvSpPr>
        <p:spPr>
          <a:xfrm>
            <a:off x="718216" y="874354"/>
            <a:ext cx="6939883"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en-US" altLang="zh-CN" dirty="0"/>
              <a:t>Travis CI</a:t>
            </a:r>
            <a:r>
              <a:rPr lang="zh-CN" altLang="en-US" dirty="0"/>
              <a:t>中持续集成任务生命周期</a:t>
            </a:r>
          </a:p>
        </p:txBody>
      </p:sp>
    </p:spTree>
    <p:extLst>
      <p:ext uri="{BB962C8B-B14F-4D97-AF65-F5344CB8AC3E}">
        <p14:creationId xmlns:p14="http://schemas.microsoft.com/office/powerpoint/2010/main" val="17812245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68A3EA-FFF7-F593-9FA7-BB39D3E3222F}"/>
              </a:ext>
            </a:extLst>
          </p:cNvPr>
          <p:cNvSpPr>
            <a:spLocks noGrp="1"/>
          </p:cNvSpPr>
          <p:nvPr>
            <p:ph type="title"/>
          </p:nvPr>
        </p:nvSpPr>
        <p:spPr/>
        <p:txBody>
          <a:bodyPr>
            <a:normAutofit/>
          </a:bodyPr>
          <a:lstStyle/>
          <a:p>
            <a:r>
              <a:rPr lang="en-US" altLang="zh-CN"/>
              <a:t>03 </a:t>
            </a:r>
            <a:r>
              <a:rPr lang="en-US" altLang="zh-CN" sz="2800"/>
              <a:t>CI/CD</a:t>
            </a:r>
            <a:r>
              <a:rPr lang="zh-CN" altLang="en-US" sz="2800"/>
              <a:t>工具简介</a:t>
            </a:r>
            <a:endParaRPr kumimoji="1" lang="zh-CN" altLang="en-US"/>
          </a:p>
        </p:txBody>
      </p:sp>
      <p:sp>
        <p:nvSpPr>
          <p:cNvPr id="3" name="灯片编号占位符 2">
            <a:extLst>
              <a:ext uri="{FF2B5EF4-FFF2-40B4-BE49-F238E27FC236}">
                <a16:creationId xmlns:a16="http://schemas.microsoft.com/office/drawing/2014/main" id="{940AA628-8120-F109-B869-E8671F3D72B8}"/>
              </a:ext>
            </a:extLst>
          </p:cNvPr>
          <p:cNvSpPr>
            <a:spLocks noGrp="1"/>
          </p:cNvSpPr>
          <p:nvPr>
            <p:ph type="sldNum" sz="quarter" idx="12"/>
          </p:nvPr>
        </p:nvSpPr>
        <p:spPr/>
        <p:txBody>
          <a:bodyPr/>
          <a:lstStyle/>
          <a:p>
            <a:fld id="{1AAC388E-FA9E-4A2C-95EA-1F6B3A07935A}" type="slidenum">
              <a:rPr lang="zh-CN" altLang="en-US" smtClean="0"/>
              <a:pPr/>
              <a:t>100</a:t>
            </a:fld>
            <a:endParaRPr lang="zh-CN" altLang="en-US"/>
          </a:p>
        </p:txBody>
      </p:sp>
      <p:sp>
        <p:nvSpPr>
          <p:cNvPr id="6" name="文本框 5">
            <a:extLst>
              <a:ext uri="{FF2B5EF4-FFF2-40B4-BE49-F238E27FC236}">
                <a16:creationId xmlns:a16="http://schemas.microsoft.com/office/drawing/2014/main" id="{3AF7629F-FA0B-506E-F1D1-1394D3107606}"/>
              </a:ext>
            </a:extLst>
          </p:cNvPr>
          <p:cNvSpPr txBox="1"/>
          <p:nvPr/>
        </p:nvSpPr>
        <p:spPr>
          <a:xfrm>
            <a:off x="2708564" y="408709"/>
            <a:ext cx="0" cy="0"/>
          </a:xfrm>
          <a:prstGeom prst="rect">
            <a:avLst/>
          </a:prstGeom>
          <a:noFill/>
        </p:spPr>
        <p:txBody>
          <a:bodyPr wrap="none" lIns="0" tIns="0" rIns="0" bIns="0" rtlCol="0" anchor="ctr">
            <a:normAutofit fontScale="25000" lnSpcReduction="20000"/>
          </a:bodyPr>
          <a:lstStyle/>
          <a:p>
            <a:pPr algn="l">
              <a:lnSpc>
                <a:spcPct val="125000"/>
              </a:lnSpc>
              <a:spcAft>
                <a:spcPts val="500"/>
              </a:spcAft>
            </a:pPr>
            <a:endParaRPr kumimoji="1" lang="zh-CN" altLang="en-US"/>
          </a:p>
        </p:txBody>
      </p:sp>
      <p:sp>
        <p:nvSpPr>
          <p:cNvPr id="5" name="文本占位符 2">
            <a:extLst>
              <a:ext uri="{FF2B5EF4-FFF2-40B4-BE49-F238E27FC236}">
                <a16:creationId xmlns:a16="http://schemas.microsoft.com/office/drawing/2014/main" id="{1F3D4268-806B-7E26-9ACA-51807005639E}"/>
              </a:ext>
            </a:extLst>
          </p:cNvPr>
          <p:cNvSpPr txBox="1">
            <a:spLocks/>
          </p:cNvSpPr>
          <p:nvPr/>
        </p:nvSpPr>
        <p:spPr>
          <a:xfrm>
            <a:off x="645043" y="1519391"/>
            <a:ext cx="11546957" cy="90786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r>
              <a:rPr lang="en-US" altLang="zh-CN" sz="1800" b="0" i="0" err="1">
                <a:solidFill>
                  <a:srgbClr val="111111"/>
                </a:solidFill>
                <a:effectLst/>
                <a:latin typeface="+mn-ea"/>
              </a:rPr>
              <a:t>before_script</a:t>
            </a:r>
            <a:r>
              <a:rPr lang="zh-CN" altLang="en-US" sz="1800" b="0" i="0">
                <a:solidFill>
                  <a:srgbClr val="111111"/>
                </a:solidFill>
                <a:effectLst/>
                <a:latin typeface="+mn-ea"/>
              </a:rPr>
              <a:t>：在主要的构建和测试命令之前执行的命令，适合用于准备或配置项目。</a:t>
            </a:r>
          </a:p>
        </p:txBody>
      </p:sp>
      <p:sp>
        <p:nvSpPr>
          <p:cNvPr id="11" name="文本框 10">
            <a:extLst>
              <a:ext uri="{FF2B5EF4-FFF2-40B4-BE49-F238E27FC236}">
                <a16:creationId xmlns:a16="http://schemas.microsoft.com/office/drawing/2014/main" id="{D53F3CE0-7631-B277-0918-9961B3F84041}"/>
              </a:ext>
            </a:extLst>
          </p:cNvPr>
          <p:cNvSpPr txBox="1"/>
          <p:nvPr/>
        </p:nvSpPr>
        <p:spPr>
          <a:xfrm>
            <a:off x="5734493" y="3317358"/>
            <a:ext cx="0" cy="0"/>
          </a:xfrm>
          <a:prstGeom prst="rect">
            <a:avLst/>
          </a:prstGeom>
          <a:noFill/>
        </p:spPr>
        <p:txBody>
          <a:bodyPr wrap="none" lIns="0" tIns="0" rIns="0" bIns="0" rtlCol="0" anchor="ctr">
            <a:normAutofit fontScale="25000" lnSpcReduction="20000"/>
          </a:bodyPr>
          <a:lstStyle/>
          <a:p>
            <a:pPr algn="l">
              <a:lnSpc>
                <a:spcPct val="125000"/>
              </a:lnSpc>
              <a:spcAft>
                <a:spcPts val="500"/>
              </a:spcAft>
            </a:pPr>
            <a:endParaRPr kumimoji="1" lang="zh-CN" altLang="en-US"/>
          </a:p>
        </p:txBody>
      </p:sp>
      <p:sp>
        <p:nvSpPr>
          <p:cNvPr id="12" name="文本框 11">
            <a:extLst>
              <a:ext uri="{FF2B5EF4-FFF2-40B4-BE49-F238E27FC236}">
                <a16:creationId xmlns:a16="http://schemas.microsoft.com/office/drawing/2014/main" id="{08F0139C-0527-9E01-0330-B9E3112FA1CD}"/>
              </a:ext>
            </a:extLst>
          </p:cNvPr>
          <p:cNvSpPr txBox="1"/>
          <p:nvPr/>
        </p:nvSpPr>
        <p:spPr>
          <a:xfrm>
            <a:off x="1123907" y="2123973"/>
            <a:ext cx="9619066" cy="923330"/>
          </a:xfrm>
          <a:prstGeom prst="rect">
            <a:avLst/>
          </a:prstGeom>
          <a:noFill/>
        </p:spPr>
        <p:txBody>
          <a:bodyPr wrap="square">
            <a:spAutoFit/>
          </a:bodyPr>
          <a:lstStyle/>
          <a:p>
            <a:r>
              <a:rPr lang="en-US" altLang="zh-CN" err="1">
                <a:latin typeface="+mn-ea"/>
              </a:rPr>
              <a:t>before_script</a:t>
            </a:r>
            <a:r>
              <a:rPr lang="zh-CN" altLang="en-US">
                <a:latin typeface="+mn-ea"/>
              </a:rPr>
              <a:t>可以执行任何你想在主要的构建和测试命令之前执行的命令，比如修改文件权限，启动服务，设置显示器等。例如，如果你想给一个测试脚本赋予可执行权限，启动一个虚拟显示器，你可以这样写：</a:t>
            </a:r>
          </a:p>
        </p:txBody>
      </p:sp>
      <p:sp>
        <p:nvSpPr>
          <p:cNvPr id="7" name="Rectangle 1">
            <a:extLst>
              <a:ext uri="{FF2B5EF4-FFF2-40B4-BE49-F238E27FC236}">
                <a16:creationId xmlns:a16="http://schemas.microsoft.com/office/drawing/2014/main" id="{01CCEF6E-D88A-CEBB-2A7E-B9C0679F13E5}"/>
              </a:ext>
            </a:extLst>
          </p:cNvPr>
          <p:cNvSpPr>
            <a:spLocks noChangeArrowheads="1"/>
          </p:cNvSpPr>
          <p:nvPr/>
        </p:nvSpPr>
        <p:spPr bwMode="auto">
          <a:xfrm>
            <a:off x="1687451" y="3892782"/>
            <a:ext cx="8491978" cy="1569660"/>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rgbClr val="CC7832"/>
                </a:solidFill>
                <a:effectLst/>
                <a:latin typeface="JetBrains Mono" panose="02000009000000000000" pitchFamily="49" charset="0"/>
                <a:cs typeface="JetBrains Mono" panose="02000009000000000000" pitchFamily="49" charset="0"/>
              </a:rPr>
              <a:t>before_script</a:t>
            </a: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a:t>
            </a:r>
            <a:b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b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  - chmod +x ./scripts/run-tests.sh </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 </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给测试脚本赋予可执行权限 </a:t>
            </a:r>
            <a:b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b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  </a:t>
            </a: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 export DISPLAY=:99.0 </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 </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设置显示器编号 </a:t>
            </a:r>
            <a:b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b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  </a:t>
            </a: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 sh -e /etc/init.d/xvfb start </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 </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启动虚拟显示器 </a:t>
            </a:r>
            <a:endParaRPr kumimoji="0" lang="zh-CN" altLang="zh-CN" sz="2400" b="0" i="0" u="none" strike="noStrike" cap="none" normalizeH="0" baseline="0" dirty="0">
              <a:ln>
                <a:noFill/>
              </a:ln>
              <a:solidFill>
                <a:schemeClr val="tx1"/>
              </a:solidFill>
              <a:effectLst/>
              <a:latin typeface="Arial" panose="020B0604020202020204" pitchFamily="34" charset="0"/>
            </a:endParaRPr>
          </a:p>
        </p:txBody>
      </p:sp>
      <p:sp>
        <p:nvSpPr>
          <p:cNvPr id="8" name="文本框 7">
            <a:extLst>
              <a:ext uri="{FF2B5EF4-FFF2-40B4-BE49-F238E27FC236}">
                <a16:creationId xmlns:a16="http://schemas.microsoft.com/office/drawing/2014/main" id="{D5B32E7F-5F58-547A-C3B0-9EE5DF1F1B17}"/>
              </a:ext>
            </a:extLst>
          </p:cNvPr>
          <p:cNvSpPr txBox="1"/>
          <p:nvPr/>
        </p:nvSpPr>
        <p:spPr>
          <a:xfrm>
            <a:off x="718216" y="874354"/>
            <a:ext cx="6939883"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en-US" altLang="zh-CN" dirty="0"/>
              <a:t>Travis CI</a:t>
            </a:r>
            <a:r>
              <a:rPr lang="zh-CN" altLang="en-US" dirty="0"/>
              <a:t>中持续集成任务生命周期</a:t>
            </a:r>
          </a:p>
        </p:txBody>
      </p:sp>
    </p:spTree>
    <p:extLst>
      <p:ext uri="{BB962C8B-B14F-4D97-AF65-F5344CB8AC3E}">
        <p14:creationId xmlns:p14="http://schemas.microsoft.com/office/powerpoint/2010/main" val="20945275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68A3EA-FFF7-F593-9FA7-BB39D3E3222F}"/>
              </a:ext>
            </a:extLst>
          </p:cNvPr>
          <p:cNvSpPr>
            <a:spLocks noGrp="1"/>
          </p:cNvSpPr>
          <p:nvPr>
            <p:ph type="title"/>
          </p:nvPr>
        </p:nvSpPr>
        <p:spPr/>
        <p:txBody>
          <a:bodyPr>
            <a:normAutofit/>
          </a:bodyPr>
          <a:lstStyle/>
          <a:p>
            <a:r>
              <a:rPr lang="en-US" altLang="zh-CN"/>
              <a:t>03 </a:t>
            </a:r>
            <a:r>
              <a:rPr lang="en-US" altLang="zh-CN" sz="2800"/>
              <a:t>CI/CD</a:t>
            </a:r>
            <a:r>
              <a:rPr lang="zh-CN" altLang="en-US" sz="2800"/>
              <a:t>工具简介</a:t>
            </a:r>
            <a:endParaRPr kumimoji="1" lang="zh-CN" altLang="en-US"/>
          </a:p>
        </p:txBody>
      </p:sp>
      <p:sp>
        <p:nvSpPr>
          <p:cNvPr id="3" name="灯片编号占位符 2">
            <a:extLst>
              <a:ext uri="{FF2B5EF4-FFF2-40B4-BE49-F238E27FC236}">
                <a16:creationId xmlns:a16="http://schemas.microsoft.com/office/drawing/2014/main" id="{940AA628-8120-F109-B869-E8671F3D72B8}"/>
              </a:ext>
            </a:extLst>
          </p:cNvPr>
          <p:cNvSpPr>
            <a:spLocks noGrp="1"/>
          </p:cNvSpPr>
          <p:nvPr>
            <p:ph type="sldNum" sz="quarter" idx="12"/>
          </p:nvPr>
        </p:nvSpPr>
        <p:spPr/>
        <p:txBody>
          <a:bodyPr/>
          <a:lstStyle/>
          <a:p>
            <a:fld id="{1AAC388E-FA9E-4A2C-95EA-1F6B3A07935A}" type="slidenum">
              <a:rPr lang="zh-CN" altLang="en-US" smtClean="0"/>
              <a:pPr/>
              <a:t>101</a:t>
            </a:fld>
            <a:endParaRPr lang="zh-CN" altLang="en-US"/>
          </a:p>
        </p:txBody>
      </p:sp>
      <p:sp>
        <p:nvSpPr>
          <p:cNvPr id="6" name="文本框 5">
            <a:extLst>
              <a:ext uri="{FF2B5EF4-FFF2-40B4-BE49-F238E27FC236}">
                <a16:creationId xmlns:a16="http://schemas.microsoft.com/office/drawing/2014/main" id="{3AF7629F-FA0B-506E-F1D1-1394D3107606}"/>
              </a:ext>
            </a:extLst>
          </p:cNvPr>
          <p:cNvSpPr txBox="1"/>
          <p:nvPr/>
        </p:nvSpPr>
        <p:spPr>
          <a:xfrm>
            <a:off x="2708564" y="408709"/>
            <a:ext cx="0" cy="0"/>
          </a:xfrm>
          <a:prstGeom prst="rect">
            <a:avLst/>
          </a:prstGeom>
          <a:noFill/>
        </p:spPr>
        <p:txBody>
          <a:bodyPr wrap="none" lIns="0" tIns="0" rIns="0" bIns="0" rtlCol="0" anchor="ctr">
            <a:normAutofit fontScale="25000" lnSpcReduction="20000"/>
          </a:bodyPr>
          <a:lstStyle/>
          <a:p>
            <a:pPr algn="l">
              <a:lnSpc>
                <a:spcPct val="125000"/>
              </a:lnSpc>
              <a:spcAft>
                <a:spcPts val="500"/>
              </a:spcAft>
            </a:pPr>
            <a:endParaRPr kumimoji="1" lang="zh-CN" altLang="en-US"/>
          </a:p>
        </p:txBody>
      </p:sp>
      <p:sp>
        <p:nvSpPr>
          <p:cNvPr id="5" name="文本占位符 2">
            <a:extLst>
              <a:ext uri="{FF2B5EF4-FFF2-40B4-BE49-F238E27FC236}">
                <a16:creationId xmlns:a16="http://schemas.microsoft.com/office/drawing/2014/main" id="{1F3D4268-806B-7E26-9ACA-51807005639E}"/>
              </a:ext>
            </a:extLst>
          </p:cNvPr>
          <p:cNvSpPr txBox="1">
            <a:spLocks/>
          </p:cNvSpPr>
          <p:nvPr/>
        </p:nvSpPr>
        <p:spPr>
          <a:xfrm>
            <a:off x="645043" y="1519391"/>
            <a:ext cx="11546957" cy="90786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r>
              <a:rPr lang="en-US" altLang="zh-CN" sz="1800" b="0" i="0">
                <a:solidFill>
                  <a:srgbClr val="111111"/>
                </a:solidFill>
                <a:effectLst/>
                <a:latin typeface="+mn-ea"/>
              </a:rPr>
              <a:t>script</a:t>
            </a:r>
            <a:r>
              <a:rPr lang="zh-CN" altLang="en-US" sz="1800" b="0" i="0">
                <a:solidFill>
                  <a:srgbClr val="111111"/>
                </a:solidFill>
                <a:effectLst/>
                <a:latin typeface="+mn-ea"/>
              </a:rPr>
              <a:t>：主要的构建和测试命令，适合用于运行编译、检查、测试等任务。</a:t>
            </a:r>
          </a:p>
        </p:txBody>
      </p:sp>
      <p:sp>
        <p:nvSpPr>
          <p:cNvPr id="11" name="文本框 10">
            <a:extLst>
              <a:ext uri="{FF2B5EF4-FFF2-40B4-BE49-F238E27FC236}">
                <a16:creationId xmlns:a16="http://schemas.microsoft.com/office/drawing/2014/main" id="{D53F3CE0-7631-B277-0918-9961B3F84041}"/>
              </a:ext>
            </a:extLst>
          </p:cNvPr>
          <p:cNvSpPr txBox="1"/>
          <p:nvPr/>
        </p:nvSpPr>
        <p:spPr>
          <a:xfrm>
            <a:off x="5734493" y="3317358"/>
            <a:ext cx="0" cy="0"/>
          </a:xfrm>
          <a:prstGeom prst="rect">
            <a:avLst/>
          </a:prstGeom>
          <a:noFill/>
        </p:spPr>
        <p:txBody>
          <a:bodyPr wrap="none" lIns="0" tIns="0" rIns="0" bIns="0" rtlCol="0" anchor="ctr">
            <a:normAutofit fontScale="25000" lnSpcReduction="20000"/>
          </a:bodyPr>
          <a:lstStyle/>
          <a:p>
            <a:pPr algn="l">
              <a:lnSpc>
                <a:spcPct val="125000"/>
              </a:lnSpc>
              <a:spcAft>
                <a:spcPts val="500"/>
              </a:spcAft>
            </a:pPr>
            <a:endParaRPr kumimoji="1" lang="zh-CN" altLang="en-US"/>
          </a:p>
        </p:txBody>
      </p:sp>
      <p:sp>
        <p:nvSpPr>
          <p:cNvPr id="12" name="文本框 11">
            <a:extLst>
              <a:ext uri="{FF2B5EF4-FFF2-40B4-BE49-F238E27FC236}">
                <a16:creationId xmlns:a16="http://schemas.microsoft.com/office/drawing/2014/main" id="{08F0139C-0527-9E01-0330-B9E3112FA1CD}"/>
              </a:ext>
            </a:extLst>
          </p:cNvPr>
          <p:cNvSpPr txBox="1"/>
          <p:nvPr/>
        </p:nvSpPr>
        <p:spPr>
          <a:xfrm>
            <a:off x="1123906" y="2123973"/>
            <a:ext cx="9940333" cy="646331"/>
          </a:xfrm>
          <a:prstGeom prst="rect">
            <a:avLst/>
          </a:prstGeom>
          <a:noFill/>
        </p:spPr>
        <p:txBody>
          <a:bodyPr wrap="square">
            <a:spAutoFit/>
          </a:bodyPr>
          <a:lstStyle/>
          <a:p>
            <a:r>
              <a:rPr lang="en-US" altLang="zh-CN" dirty="0">
                <a:latin typeface="+mn-ea"/>
              </a:rPr>
              <a:t>script</a:t>
            </a:r>
            <a:r>
              <a:rPr lang="zh-CN" altLang="en-US" dirty="0">
                <a:latin typeface="+mn-ea"/>
              </a:rPr>
              <a:t>可以执行任何你想进行主要的构建和测试的命令，比如运行编译，检查，测试等任务。例如，如果你想运行一个测试脚本，使用</a:t>
            </a:r>
            <a:r>
              <a:rPr lang="en-US" altLang="zh-CN" dirty="0">
                <a:latin typeface="+mn-ea"/>
              </a:rPr>
              <a:t>maven</a:t>
            </a:r>
            <a:r>
              <a:rPr lang="zh-CN" altLang="en-US" dirty="0">
                <a:latin typeface="+mn-ea"/>
              </a:rPr>
              <a:t>执行测试，使用</a:t>
            </a:r>
            <a:r>
              <a:rPr lang="en-US" altLang="zh-CN" dirty="0" err="1">
                <a:latin typeface="+mn-ea"/>
              </a:rPr>
              <a:t>npm</a:t>
            </a:r>
            <a:r>
              <a:rPr lang="zh-CN" altLang="en-US" dirty="0">
                <a:latin typeface="+mn-ea"/>
              </a:rPr>
              <a:t>执行测试，你可以这样写：</a:t>
            </a:r>
          </a:p>
        </p:txBody>
      </p:sp>
      <p:sp>
        <p:nvSpPr>
          <p:cNvPr id="7" name="Rectangle 1">
            <a:extLst>
              <a:ext uri="{FF2B5EF4-FFF2-40B4-BE49-F238E27FC236}">
                <a16:creationId xmlns:a16="http://schemas.microsoft.com/office/drawing/2014/main" id="{877667B4-A939-565F-BF3A-8A4EE311AF79}"/>
              </a:ext>
            </a:extLst>
          </p:cNvPr>
          <p:cNvSpPr>
            <a:spLocks noChangeArrowheads="1"/>
          </p:cNvSpPr>
          <p:nvPr/>
        </p:nvSpPr>
        <p:spPr bwMode="auto">
          <a:xfrm>
            <a:off x="2085968" y="3847489"/>
            <a:ext cx="8016208" cy="1569660"/>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rgbClr val="CC7832"/>
                </a:solidFill>
                <a:effectLst/>
                <a:latin typeface="JetBrains Mono" panose="02000009000000000000" pitchFamily="49" charset="0"/>
                <a:cs typeface="JetBrains Mono" panose="02000009000000000000" pitchFamily="49" charset="0"/>
              </a:rPr>
              <a:t>script</a:t>
            </a: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a:t>
            </a:r>
            <a:b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b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  - ./scripts/run-tests.sh </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 </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运行测试脚本 </a:t>
            </a:r>
            <a:b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b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  </a:t>
            </a: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 mvn test -B </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 </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使用</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maven</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执行测试，</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-B</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表示批处理模式 </a:t>
            </a:r>
            <a:b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b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  </a:t>
            </a: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 npm test </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 </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使用</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npm</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执行测试 </a:t>
            </a:r>
            <a:endParaRPr kumimoji="0" lang="zh-CN" altLang="zh-CN" sz="2400" b="0" i="0" u="none" strike="noStrike" cap="none" normalizeH="0" baseline="0" dirty="0">
              <a:ln>
                <a:noFill/>
              </a:ln>
              <a:solidFill>
                <a:schemeClr val="tx1"/>
              </a:solidFill>
              <a:effectLst/>
              <a:latin typeface="Arial" panose="020B0604020202020204" pitchFamily="34" charset="0"/>
            </a:endParaRPr>
          </a:p>
        </p:txBody>
      </p:sp>
      <p:sp>
        <p:nvSpPr>
          <p:cNvPr id="8" name="文本框 7">
            <a:extLst>
              <a:ext uri="{FF2B5EF4-FFF2-40B4-BE49-F238E27FC236}">
                <a16:creationId xmlns:a16="http://schemas.microsoft.com/office/drawing/2014/main" id="{33D48C68-597F-DC88-BDF3-D5B950CD2498}"/>
              </a:ext>
            </a:extLst>
          </p:cNvPr>
          <p:cNvSpPr txBox="1"/>
          <p:nvPr/>
        </p:nvSpPr>
        <p:spPr>
          <a:xfrm>
            <a:off x="718216" y="874354"/>
            <a:ext cx="6939883"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en-US" altLang="zh-CN" dirty="0"/>
              <a:t>Travis CI</a:t>
            </a:r>
            <a:r>
              <a:rPr lang="zh-CN" altLang="en-US" dirty="0"/>
              <a:t>中持续集成任务生命周期</a:t>
            </a:r>
          </a:p>
        </p:txBody>
      </p:sp>
    </p:spTree>
    <p:extLst>
      <p:ext uri="{BB962C8B-B14F-4D97-AF65-F5344CB8AC3E}">
        <p14:creationId xmlns:p14="http://schemas.microsoft.com/office/powerpoint/2010/main" val="2004441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68A3EA-FFF7-F593-9FA7-BB39D3E3222F}"/>
              </a:ext>
            </a:extLst>
          </p:cNvPr>
          <p:cNvSpPr>
            <a:spLocks noGrp="1"/>
          </p:cNvSpPr>
          <p:nvPr>
            <p:ph type="title"/>
          </p:nvPr>
        </p:nvSpPr>
        <p:spPr/>
        <p:txBody>
          <a:bodyPr>
            <a:normAutofit/>
          </a:bodyPr>
          <a:lstStyle/>
          <a:p>
            <a:r>
              <a:rPr lang="en-US" altLang="zh-CN"/>
              <a:t>03 </a:t>
            </a:r>
            <a:r>
              <a:rPr lang="en-US" altLang="zh-CN" sz="2800"/>
              <a:t>CI/CD</a:t>
            </a:r>
            <a:r>
              <a:rPr lang="zh-CN" altLang="en-US" sz="2800"/>
              <a:t>工具简介</a:t>
            </a:r>
            <a:endParaRPr kumimoji="1" lang="zh-CN" altLang="en-US"/>
          </a:p>
        </p:txBody>
      </p:sp>
      <p:sp>
        <p:nvSpPr>
          <p:cNvPr id="3" name="灯片编号占位符 2">
            <a:extLst>
              <a:ext uri="{FF2B5EF4-FFF2-40B4-BE49-F238E27FC236}">
                <a16:creationId xmlns:a16="http://schemas.microsoft.com/office/drawing/2014/main" id="{940AA628-8120-F109-B869-E8671F3D72B8}"/>
              </a:ext>
            </a:extLst>
          </p:cNvPr>
          <p:cNvSpPr>
            <a:spLocks noGrp="1"/>
          </p:cNvSpPr>
          <p:nvPr>
            <p:ph type="sldNum" sz="quarter" idx="12"/>
          </p:nvPr>
        </p:nvSpPr>
        <p:spPr/>
        <p:txBody>
          <a:bodyPr/>
          <a:lstStyle/>
          <a:p>
            <a:fld id="{1AAC388E-FA9E-4A2C-95EA-1F6B3A07935A}" type="slidenum">
              <a:rPr lang="zh-CN" altLang="en-US" smtClean="0"/>
              <a:pPr/>
              <a:t>102</a:t>
            </a:fld>
            <a:endParaRPr lang="zh-CN" altLang="en-US"/>
          </a:p>
        </p:txBody>
      </p:sp>
      <p:sp>
        <p:nvSpPr>
          <p:cNvPr id="6" name="文本框 5">
            <a:extLst>
              <a:ext uri="{FF2B5EF4-FFF2-40B4-BE49-F238E27FC236}">
                <a16:creationId xmlns:a16="http://schemas.microsoft.com/office/drawing/2014/main" id="{3AF7629F-FA0B-506E-F1D1-1394D3107606}"/>
              </a:ext>
            </a:extLst>
          </p:cNvPr>
          <p:cNvSpPr txBox="1"/>
          <p:nvPr/>
        </p:nvSpPr>
        <p:spPr>
          <a:xfrm>
            <a:off x="2708564" y="408709"/>
            <a:ext cx="0" cy="0"/>
          </a:xfrm>
          <a:prstGeom prst="rect">
            <a:avLst/>
          </a:prstGeom>
          <a:noFill/>
        </p:spPr>
        <p:txBody>
          <a:bodyPr wrap="none" lIns="0" tIns="0" rIns="0" bIns="0" rtlCol="0" anchor="ctr">
            <a:normAutofit fontScale="25000" lnSpcReduction="20000"/>
          </a:bodyPr>
          <a:lstStyle/>
          <a:p>
            <a:pPr algn="l">
              <a:lnSpc>
                <a:spcPct val="125000"/>
              </a:lnSpc>
              <a:spcAft>
                <a:spcPts val="500"/>
              </a:spcAft>
            </a:pPr>
            <a:endParaRPr kumimoji="1" lang="zh-CN" altLang="en-US"/>
          </a:p>
        </p:txBody>
      </p:sp>
      <p:sp>
        <p:nvSpPr>
          <p:cNvPr id="5" name="文本占位符 2">
            <a:extLst>
              <a:ext uri="{FF2B5EF4-FFF2-40B4-BE49-F238E27FC236}">
                <a16:creationId xmlns:a16="http://schemas.microsoft.com/office/drawing/2014/main" id="{1F3D4268-806B-7E26-9ACA-51807005639E}"/>
              </a:ext>
            </a:extLst>
          </p:cNvPr>
          <p:cNvSpPr txBox="1">
            <a:spLocks/>
          </p:cNvSpPr>
          <p:nvPr/>
        </p:nvSpPr>
        <p:spPr>
          <a:xfrm>
            <a:off x="645043" y="1519391"/>
            <a:ext cx="11546957" cy="90786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r>
              <a:rPr lang="en-US" altLang="zh-CN" sz="1800" b="0" i="0" err="1">
                <a:solidFill>
                  <a:srgbClr val="111111"/>
                </a:solidFill>
                <a:effectLst/>
                <a:latin typeface="+mn-ea"/>
              </a:rPr>
              <a:t>before_cache</a:t>
            </a:r>
            <a:r>
              <a:rPr lang="zh-CN" altLang="en-US" sz="1800" b="0" i="0">
                <a:solidFill>
                  <a:srgbClr val="111111"/>
                </a:solidFill>
                <a:effectLst/>
                <a:latin typeface="+mn-ea"/>
              </a:rPr>
              <a:t>：在缓存阶段之前执行的命令，适合用于清理或压缩缓存文件。</a:t>
            </a:r>
          </a:p>
        </p:txBody>
      </p:sp>
      <p:sp>
        <p:nvSpPr>
          <p:cNvPr id="11" name="文本框 10">
            <a:extLst>
              <a:ext uri="{FF2B5EF4-FFF2-40B4-BE49-F238E27FC236}">
                <a16:creationId xmlns:a16="http://schemas.microsoft.com/office/drawing/2014/main" id="{D53F3CE0-7631-B277-0918-9961B3F84041}"/>
              </a:ext>
            </a:extLst>
          </p:cNvPr>
          <p:cNvSpPr txBox="1"/>
          <p:nvPr/>
        </p:nvSpPr>
        <p:spPr>
          <a:xfrm>
            <a:off x="5734493" y="3317358"/>
            <a:ext cx="0" cy="0"/>
          </a:xfrm>
          <a:prstGeom prst="rect">
            <a:avLst/>
          </a:prstGeom>
          <a:noFill/>
        </p:spPr>
        <p:txBody>
          <a:bodyPr wrap="none" lIns="0" tIns="0" rIns="0" bIns="0" rtlCol="0" anchor="ctr">
            <a:normAutofit fontScale="25000" lnSpcReduction="20000"/>
          </a:bodyPr>
          <a:lstStyle/>
          <a:p>
            <a:pPr algn="l">
              <a:lnSpc>
                <a:spcPct val="125000"/>
              </a:lnSpc>
              <a:spcAft>
                <a:spcPts val="500"/>
              </a:spcAft>
            </a:pPr>
            <a:endParaRPr kumimoji="1" lang="zh-CN" altLang="en-US"/>
          </a:p>
        </p:txBody>
      </p:sp>
      <p:sp>
        <p:nvSpPr>
          <p:cNvPr id="12" name="文本框 11">
            <a:extLst>
              <a:ext uri="{FF2B5EF4-FFF2-40B4-BE49-F238E27FC236}">
                <a16:creationId xmlns:a16="http://schemas.microsoft.com/office/drawing/2014/main" id="{08F0139C-0527-9E01-0330-B9E3112FA1CD}"/>
              </a:ext>
            </a:extLst>
          </p:cNvPr>
          <p:cNvSpPr txBox="1"/>
          <p:nvPr/>
        </p:nvSpPr>
        <p:spPr>
          <a:xfrm>
            <a:off x="1123906" y="2123973"/>
            <a:ext cx="9940333" cy="646331"/>
          </a:xfrm>
          <a:prstGeom prst="rect">
            <a:avLst/>
          </a:prstGeom>
          <a:noFill/>
        </p:spPr>
        <p:txBody>
          <a:bodyPr wrap="square">
            <a:spAutoFit/>
          </a:bodyPr>
          <a:lstStyle/>
          <a:p>
            <a:r>
              <a:rPr lang="en-US" altLang="zh-CN" err="1">
                <a:latin typeface="+mn-ea"/>
              </a:rPr>
              <a:t>before_cache</a:t>
            </a:r>
            <a:r>
              <a:rPr lang="zh-CN" altLang="en-US">
                <a:latin typeface="+mn-ea"/>
              </a:rPr>
              <a:t>可以执行任何你想在缓存阶段之前执行的命令，比如清理或压缩缓存文件。例如，如果你想删除</a:t>
            </a:r>
            <a:r>
              <a:rPr lang="en-US" altLang="zh-CN">
                <a:latin typeface="+mn-ea"/>
              </a:rPr>
              <a:t>maven</a:t>
            </a:r>
            <a:r>
              <a:rPr lang="zh-CN" altLang="en-US">
                <a:latin typeface="+mn-ea"/>
              </a:rPr>
              <a:t>本地仓库中的一个项目目录，压缩</a:t>
            </a:r>
            <a:r>
              <a:rPr lang="en-US" altLang="zh-CN" err="1">
                <a:latin typeface="+mn-ea"/>
              </a:rPr>
              <a:t>node_modules</a:t>
            </a:r>
            <a:r>
              <a:rPr lang="zh-CN" altLang="en-US">
                <a:latin typeface="+mn-ea"/>
              </a:rPr>
              <a:t>目录，你可以这样写：</a:t>
            </a:r>
          </a:p>
        </p:txBody>
      </p:sp>
      <p:sp>
        <p:nvSpPr>
          <p:cNvPr id="7" name="Rectangle 1">
            <a:extLst>
              <a:ext uri="{FF2B5EF4-FFF2-40B4-BE49-F238E27FC236}">
                <a16:creationId xmlns:a16="http://schemas.microsoft.com/office/drawing/2014/main" id="{608470D9-7952-04E6-0627-76A4784BCD75}"/>
              </a:ext>
            </a:extLst>
          </p:cNvPr>
          <p:cNvSpPr>
            <a:spLocks noChangeArrowheads="1"/>
          </p:cNvSpPr>
          <p:nvPr/>
        </p:nvSpPr>
        <p:spPr bwMode="auto">
          <a:xfrm>
            <a:off x="1395405" y="3629800"/>
            <a:ext cx="9397333" cy="1569660"/>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rgbClr val="CC7832"/>
                </a:solidFill>
                <a:effectLst/>
                <a:latin typeface="JetBrains Mono" panose="02000009000000000000" pitchFamily="49" charset="0"/>
                <a:cs typeface="JetBrains Mono" panose="02000009000000000000" pitchFamily="49" charset="0"/>
              </a:rPr>
              <a:t>before_cache</a:t>
            </a: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a:t>
            </a:r>
            <a:b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b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  - rm -rf $HOME/.m2/repository/com/example/my-app </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 </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删除</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maven</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本地仓库中的一个项目目录 </a:t>
            </a:r>
            <a:b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b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  </a:t>
            </a: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 tar czf node_modules.tar.gz node_modules </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 </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压缩</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node_modules</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目录 </a:t>
            </a:r>
            <a:endParaRPr kumimoji="0" lang="zh-CN" altLang="zh-CN" sz="2400" b="0" i="0" u="none" strike="noStrike" cap="none" normalizeH="0" baseline="0" dirty="0">
              <a:ln>
                <a:noFill/>
              </a:ln>
              <a:solidFill>
                <a:schemeClr val="tx1"/>
              </a:solidFill>
              <a:effectLst/>
              <a:latin typeface="Arial" panose="020B0604020202020204" pitchFamily="34" charset="0"/>
            </a:endParaRPr>
          </a:p>
        </p:txBody>
      </p:sp>
      <p:sp>
        <p:nvSpPr>
          <p:cNvPr id="8" name="文本框 7">
            <a:extLst>
              <a:ext uri="{FF2B5EF4-FFF2-40B4-BE49-F238E27FC236}">
                <a16:creationId xmlns:a16="http://schemas.microsoft.com/office/drawing/2014/main" id="{80E023A1-5EE3-A9D7-EE07-750FAE043595}"/>
              </a:ext>
            </a:extLst>
          </p:cNvPr>
          <p:cNvSpPr txBox="1"/>
          <p:nvPr/>
        </p:nvSpPr>
        <p:spPr>
          <a:xfrm>
            <a:off x="718216" y="874354"/>
            <a:ext cx="6939883"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en-US" altLang="zh-CN" dirty="0"/>
              <a:t>Travis CI</a:t>
            </a:r>
            <a:r>
              <a:rPr lang="zh-CN" altLang="en-US" dirty="0"/>
              <a:t>中持续集成任务生命周期</a:t>
            </a:r>
          </a:p>
        </p:txBody>
      </p:sp>
    </p:spTree>
    <p:extLst>
      <p:ext uri="{BB962C8B-B14F-4D97-AF65-F5344CB8AC3E}">
        <p14:creationId xmlns:p14="http://schemas.microsoft.com/office/powerpoint/2010/main" val="20471784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68A3EA-FFF7-F593-9FA7-BB39D3E3222F}"/>
              </a:ext>
            </a:extLst>
          </p:cNvPr>
          <p:cNvSpPr>
            <a:spLocks noGrp="1"/>
          </p:cNvSpPr>
          <p:nvPr>
            <p:ph type="title"/>
          </p:nvPr>
        </p:nvSpPr>
        <p:spPr/>
        <p:txBody>
          <a:bodyPr>
            <a:normAutofit/>
          </a:bodyPr>
          <a:lstStyle/>
          <a:p>
            <a:r>
              <a:rPr lang="en-US" altLang="zh-CN"/>
              <a:t>03 </a:t>
            </a:r>
            <a:r>
              <a:rPr lang="en-US" altLang="zh-CN" sz="2800"/>
              <a:t>CI/CD</a:t>
            </a:r>
            <a:r>
              <a:rPr lang="zh-CN" altLang="en-US" sz="2800"/>
              <a:t>工具简介</a:t>
            </a:r>
            <a:endParaRPr kumimoji="1" lang="zh-CN" altLang="en-US"/>
          </a:p>
        </p:txBody>
      </p:sp>
      <p:sp>
        <p:nvSpPr>
          <p:cNvPr id="3" name="灯片编号占位符 2">
            <a:extLst>
              <a:ext uri="{FF2B5EF4-FFF2-40B4-BE49-F238E27FC236}">
                <a16:creationId xmlns:a16="http://schemas.microsoft.com/office/drawing/2014/main" id="{940AA628-8120-F109-B869-E8671F3D72B8}"/>
              </a:ext>
            </a:extLst>
          </p:cNvPr>
          <p:cNvSpPr>
            <a:spLocks noGrp="1"/>
          </p:cNvSpPr>
          <p:nvPr>
            <p:ph type="sldNum" sz="quarter" idx="12"/>
          </p:nvPr>
        </p:nvSpPr>
        <p:spPr/>
        <p:txBody>
          <a:bodyPr/>
          <a:lstStyle/>
          <a:p>
            <a:fld id="{1AAC388E-FA9E-4A2C-95EA-1F6B3A07935A}" type="slidenum">
              <a:rPr lang="zh-CN" altLang="en-US" smtClean="0"/>
              <a:pPr/>
              <a:t>103</a:t>
            </a:fld>
            <a:endParaRPr lang="zh-CN" altLang="en-US"/>
          </a:p>
        </p:txBody>
      </p:sp>
      <p:sp>
        <p:nvSpPr>
          <p:cNvPr id="6" name="文本框 5">
            <a:extLst>
              <a:ext uri="{FF2B5EF4-FFF2-40B4-BE49-F238E27FC236}">
                <a16:creationId xmlns:a16="http://schemas.microsoft.com/office/drawing/2014/main" id="{3AF7629F-FA0B-506E-F1D1-1394D3107606}"/>
              </a:ext>
            </a:extLst>
          </p:cNvPr>
          <p:cNvSpPr txBox="1"/>
          <p:nvPr/>
        </p:nvSpPr>
        <p:spPr>
          <a:xfrm>
            <a:off x="2708564" y="408709"/>
            <a:ext cx="0" cy="0"/>
          </a:xfrm>
          <a:prstGeom prst="rect">
            <a:avLst/>
          </a:prstGeom>
          <a:noFill/>
        </p:spPr>
        <p:txBody>
          <a:bodyPr wrap="none" lIns="0" tIns="0" rIns="0" bIns="0" rtlCol="0" anchor="ctr">
            <a:normAutofit fontScale="25000" lnSpcReduction="20000"/>
          </a:bodyPr>
          <a:lstStyle/>
          <a:p>
            <a:pPr algn="l">
              <a:lnSpc>
                <a:spcPct val="125000"/>
              </a:lnSpc>
              <a:spcAft>
                <a:spcPts val="500"/>
              </a:spcAft>
            </a:pPr>
            <a:endParaRPr kumimoji="1" lang="zh-CN" altLang="en-US"/>
          </a:p>
        </p:txBody>
      </p:sp>
      <p:sp>
        <p:nvSpPr>
          <p:cNvPr id="5" name="文本占位符 2">
            <a:extLst>
              <a:ext uri="{FF2B5EF4-FFF2-40B4-BE49-F238E27FC236}">
                <a16:creationId xmlns:a16="http://schemas.microsoft.com/office/drawing/2014/main" id="{1F3D4268-806B-7E26-9ACA-51807005639E}"/>
              </a:ext>
            </a:extLst>
          </p:cNvPr>
          <p:cNvSpPr txBox="1">
            <a:spLocks/>
          </p:cNvSpPr>
          <p:nvPr/>
        </p:nvSpPr>
        <p:spPr>
          <a:xfrm>
            <a:off x="645043" y="1519391"/>
            <a:ext cx="11546957" cy="90786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r>
              <a:rPr lang="en-US" altLang="zh-CN" sz="1800" b="0" i="0" err="1">
                <a:solidFill>
                  <a:srgbClr val="111111"/>
                </a:solidFill>
                <a:effectLst/>
                <a:latin typeface="+mn-ea"/>
              </a:rPr>
              <a:t>after_success</a:t>
            </a:r>
            <a:r>
              <a:rPr lang="zh-CN" altLang="en-US" sz="1800" b="0" i="0">
                <a:solidFill>
                  <a:srgbClr val="111111"/>
                </a:solidFill>
                <a:effectLst/>
                <a:latin typeface="+mn-ea"/>
              </a:rPr>
              <a:t>：当</a:t>
            </a:r>
            <a:r>
              <a:rPr lang="en-US" altLang="zh-CN" sz="1800" b="0" i="0">
                <a:solidFill>
                  <a:srgbClr val="111111"/>
                </a:solidFill>
                <a:effectLst/>
                <a:latin typeface="+mn-ea"/>
              </a:rPr>
              <a:t>script</a:t>
            </a:r>
            <a:r>
              <a:rPr lang="zh-CN" altLang="en-US" sz="1800" b="0" i="0">
                <a:solidFill>
                  <a:srgbClr val="111111"/>
                </a:solidFill>
                <a:effectLst/>
                <a:latin typeface="+mn-ea"/>
              </a:rPr>
              <a:t>阶段成功后执行的命令，适合用于通知、部署或生成文档等任务。</a:t>
            </a:r>
          </a:p>
        </p:txBody>
      </p:sp>
      <p:sp>
        <p:nvSpPr>
          <p:cNvPr id="11" name="文本框 10">
            <a:extLst>
              <a:ext uri="{FF2B5EF4-FFF2-40B4-BE49-F238E27FC236}">
                <a16:creationId xmlns:a16="http://schemas.microsoft.com/office/drawing/2014/main" id="{D53F3CE0-7631-B277-0918-9961B3F84041}"/>
              </a:ext>
            </a:extLst>
          </p:cNvPr>
          <p:cNvSpPr txBox="1"/>
          <p:nvPr/>
        </p:nvSpPr>
        <p:spPr>
          <a:xfrm>
            <a:off x="5734493" y="3317358"/>
            <a:ext cx="0" cy="0"/>
          </a:xfrm>
          <a:prstGeom prst="rect">
            <a:avLst/>
          </a:prstGeom>
          <a:noFill/>
        </p:spPr>
        <p:txBody>
          <a:bodyPr wrap="none" lIns="0" tIns="0" rIns="0" bIns="0" rtlCol="0" anchor="ctr">
            <a:normAutofit fontScale="25000" lnSpcReduction="20000"/>
          </a:bodyPr>
          <a:lstStyle/>
          <a:p>
            <a:pPr algn="l">
              <a:lnSpc>
                <a:spcPct val="125000"/>
              </a:lnSpc>
              <a:spcAft>
                <a:spcPts val="500"/>
              </a:spcAft>
            </a:pPr>
            <a:endParaRPr kumimoji="1" lang="zh-CN" altLang="en-US"/>
          </a:p>
        </p:txBody>
      </p:sp>
      <p:sp>
        <p:nvSpPr>
          <p:cNvPr id="12" name="文本框 11">
            <a:extLst>
              <a:ext uri="{FF2B5EF4-FFF2-40B4-BE49-F238E27FC236}">
                <a16:creationId xmlns:a16="http://schemas.microsoft.com/office/drawing/2014/main" id="{08F0139C-0527-9E01-0330-B9E3112FA1CD}"/>
              </a:ext>
            </a:extLst>
          </p:cNvPr>
          <p:cNvSpPr txBox="1"/>
          <p:nvPr/>
        </p:nvSpPr>
        <p:spPr>
          <a:xfrm>
            <a:off x="1123906" y="2123973"/>
            <a:ext cx="9940333" cy="923330"/>
          </a:xfrm>
          <a:prstGeom prst="rect">
            <a:avLst/>
          </a:prstGeom>
          <a:noFill/>
        </p:spPr>
        <p:txBody>
          <a:bodyPr wrap="square">
            <a:spAutoFit/>
          </a:bodyPr>
          <a:lstStyle/>
          <a:p>
            <a:r>
              <a:rPr lang="en-US" altLang="zh-CN" err="1">
                <a:latin typeface="+mn-ea"/>
              </a:rPr>
              <a:t>after_success</a:t>
            </a:r>
            <a:r>
              <a:rPr lang="zh-CN" altLang="en-US">
                <a:latin typeface="+mn-ea"/>
              </a:rPr>
              <a:t>可以执行任何你想在</a:t>
            </a:r>
            <a:r>
              <a:rPr lang="en-US" altLang="zh-CN">
                <a:latin typeface="+mn-ea"/>
              </a:rPr>
              <a:t>script</a:t>
            </a:r>
            <a:r>
              <a:rPr lang="zh-CN" altLang="en-US">
                <a:latin typeface="+mn-ea"/>
              </a:rPr>
              <a:t>阶段成功后执行的命令，比如通知，部署，生成文档等任务。例如，如果你想向一个网址发送一个通知，使用</a:t>
            </a:r>
            <a:r>
              <a:rPr lang="en-US" altLang="zh-CN">
                <a:latin typeface="+mn-ea"/>
              </a:rPr>
              <a:t>maven</a:t>
            </a:r>
            <a:r>
              <a:rPr lang="zh-CN" altLang="en-US">
                <a:latin typeface="+mn-ea"/>
              </a:rPr>
              <a:t>部署项目，使用</a:t>
            </a:r>
            <a:r>
              <a:rPr lang="en-US" altLang="zh-CN">
                <a:latin typeface="+mn-ea"/>
              </a:rPr>
              <a:t>maven</a:t>
            </a:r>
            <a:r>
              <a:rPr lang="zh-CN" altLang="en-US">
                <a:latin typeface="+mn-ea"/>
              </a:rPr>
              <a:t>生成文档，你可以这样写：</a:t>
            </a:r>
          </a:p>
        </p:txBody>
      </p:sp>
      <p:sp>
        <p:nvSpPr>
          <p:cNvPr id="7" name="Rectangle 1">
            <a:extLst>
              <a:ext uri="{FF2B5EF4-FFF2-40B4-BE49-F238E27FC236}">
                <a16:creationId xmlns:a16="http://schemas.microsoft.com/office/drawing/2014/main" id="{1FB136DA-AFAA-967E-50A2-4C183CDB4487}"/>
              </a:ext>
            </a:extLst>
          </p:cNvPr>
          <p:cNvSpPr>
            <a:spLocks noChangeArrowheads="1"/>
          </p:cNvSpPr>
          <p:nvPr/>
        </p:nvSpPr>
        <p:spPr bwMode="auto">
          <a:xfrm>
            <a:off x="1123906" y="3985989"/>
            <a:ext cx="10419195" cy="1569660"/>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rgbClr val="CC7832"/>
                </a:solidFill>
                <a:effectLst/>
                <a:latin typeface="JetBrains Mono" panose="02000009000000000000" pitchFamily="49" charset="0"/>
                <a:cs typeface="JetBrains Mono" panose="02000009000000000000" pitchFamily="49" charset="0"/>
              </a:rPr>
              <a:t>after_success</a:t>
            </a: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a:t>
            </a:r>
            <a:b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b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  - curl https://example.com/notify?status=success </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 </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向一个网址发送一个通知 </a:t>
            </a:r>
            <a:b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b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  </a:t>
            </a: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 mvn deploy --settings settings.xml </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 </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使用</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maven</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部署项目，并指定配置文件 </a:t>
            </a:r>
            <a:b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b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  </a:t>
            </a: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 mvn javadoc:javadoc </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 </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使用</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maven</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生成文档 </a:t>
            </a:r>
            <a:endParaRPr kumimoji="0" lang="zh-CN" altLang="zh-CN" sz="2400" b="0" i="0" u="none" strike="noStrike" cap="none" normalizeH="0" baseline="0" dirty="0">
              <a:ln>
                <a:noFill/>
              </a:ln>
              <a:solidFill>
                <a:schemeClr val="tx1"/>
              </a:solidFill>
              <a:effectLst/>
              <a:latin typeface="Arial" panose="020B0604020202020204" pitchFamily="34" charset="0"/>
            </a:endParaRPr>
          </a:p>
        </p:txBody>
      </p:sp>
      <p:sp>
        <p:nvSpPr>
          <p:cNvPr id="8" name="文本框 7">
            <a:extLst>
              <a:ext uri="{FF2B5EF4-FFF2-40B4-BE49-F238E27FC236}">
                <a16:creationId xmlns:a16="http://schemas.microsoft.com/office/drawing/2014/main" id="{F00B5A33-43F8-8B6C-E723-79ECC968DB6A}"/>
              </a:ext>
            </a:extLst>
          </p:cNvPr>
          <p:cNvSpPr txBox="1"/>
          <p:nvPr/>
        </p:nvSpPr>
        <p:spPr>
          <a:xfrm>
            <a:off x="718216" y="874354"/>
            <a:ext cx="6939883"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en-US" altLang="zh-CN" dirty="0"/>
              <a:t>Travis CI</a:t>
            </a:r>
            <a:r>
              <a:rPr lang="zh-CN" altLang="en-US" dirty="0"/>
              <a:t>中持续集成任务生命周期</a:t>
            </a:r>
          </a:p>
        </p:txBody>
      </p:sp>
    </p:spTree>
    <p:extLst>
      <p:ext uri="{BB962C8B-B14F-4D97-AF65-F5344CB8AC3E}">
        <p14:creationId xmlns:p14="http://schemas.microsoft.com/office/powerpoint/2010/main" val="7392715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68A3EA-FFF7-F593-9FA7-BB39D3E3222F}"/>
              </a:ext>
            </a:extLst>
          </p:cNvPr>
          <p:cNvSpPr>
            <a:spLocks noGrp="1"/>
          </p:cNvSpPr>
          <p:nvPr>
            <p:ph type="title"/>
          </p:nvPr>
        </p:nvSpPr>
        <p:spPr/>
        <p:txBody>
          <a:bodyPr>
            <a:normAutofit/>
          </a:bodyPr>
          <a:lstStyle/>
          <a:p>
            <a:r>
              <a:rPr lang="en-US" altLang="zh-CN"/>
              <a:t>03 </a:t>
            </a:r>
            <a:r>
              <a:rPr lang="en-US" altLang="zh-CN" sz="2800"/>
              <a:t>CI/CD</a:t>
            </a:r>
            <a:r>
              <a:rPr lang="zh-CN" altLang="en-US" sz="2800"/>
              <a:t>工具简介</a:t>
            </a:r>
            <a:endParaRPr kumimoji="1" lang="zh-CN" altLang="en-US"/>
          </a:p>
        </p:txBody>
      </p:sp>
      <p:sp>
        <p:nvSpPr>
          <p:cNvPr id="3" name="灯片编号占位符 2">
            <a:extLst>
              <a:ext uri="{FF2B5EF4-FFF2-40B4-BE49-F238E27FC236}">
                <a16:creationId xmlns:a16="http://schemas.microsoft.com/office/drawing/2014/main" id="{940AA628-8120-F109-B869-E8671F3D72B8}"/>
              </a:ext>
            </a:extLst>
          </p:cNvPr>
          <p:cNvSpPr>
            <a:spLocks noGrp="1"/>
          </p:cNvSpPr>
          <p:nvPr>
            <p:ph type="sldNum" sz="quarter" idx="12"/>
          </p:nvPr>
        </p:nvSpPr>
        <p:spPr/>
        <p:txBody>
          <a:bodyPr/>
          <a:lstStyle/>
          <a:p>
            <a:fld id="{1AAC388E-FA9E-4A2C-95EA-1F6B3A07935A}" type="slidenum">
              <a:rPr lang="zh-CN" altLang="en-US" smtClean="0"/>
              <a:pPr/>
              <a:t>104</a:t>
            </a:fld>
            <a:endParaRPr lang="zh-CN" altLang="en-US"/>
          </a:p>
        </p:txBody>
      </p:sp>
      <p:sp>
        <p:nvSpPr>
          <p:cNvPr id="6" name="文本框 5">
            <a:extLst>
              <a:ext uri="{FF2B5EF4-FFF2-40B4-BE49-F238E27FC236}">
                <a16:creationId xmlns:a16="http://schemas.microsoft.com/office/drawing/2014/main" id="{3AF7629F-FA0B-506E-F1D1-1394D3107606}"/>
              </a:ext>
            </a:extLst>
          </p:cNvPr>
          <p:cNvSpPr txBox="1"/>
          <p:nvPr/>
        </p:nvSpPr>
        <p:spPr>
          <a:xfrm>
            <a:off x="2708564" y="408709"/>
            <a:ext cx="0" cy="0"/>
          </a:xfrm>
          <a:prstGeom prst="rect">
            <a:avLst/>
          </a:prstGeom>
          <a:noFill/>
        </p:spPr>
        <p:txBody>
          <a:bodyPr wrap="none" lIns="0" tIns="0" rIns="0" bIns="0" rtlCol="0" anchor="ctr">
            <a:normAutofit fontScale="25000" lnSpcReduction="20000"/>
          </a:bodyPr>
          <a:lstStyle/>
          <a:p>
            <a:pPr algn="l">
              <a:lnSpc>
                <a:spcPct val="125000"/>
              </a:lnSpc>
              <a:spcAft>
                <a:spcPts val="500"/>
              </a:spcAft>
            </a:pPr>
            <a:endParaRPr kumimoji="1" lang="zh-CN" altLang="en-US"/>
          </a:p>
        </p:txBody>
      </p:sp>
      <p:sp>
        <p:nvSpPr>
          <p:cNvPr id="5" name="文本占位符 2">
            <a:extLst>
              <a:ext uri="{FF2B5EF4-FFF2-40B4-BE49-F238E27FC236}">
                <a16:creationId xmlns:a16="http://schemas.microsoft.com/office/drawing/2014/main" id="{1F3D4268-806B-7E26-9ACA-51807005639E}"/>
              </a:ext>
            </a:extLst>
          </p:cNvPr>
          <p:cNvSpPr txBox="1">
            <a:spLocks/>
          </p:cNvSpPr>
          <p:nvPr/>
        </p:nvSpPr>
        <p:spPr>
          <a:xfrm>
            <a:off x="645043" y="1519391"/>
            <a:ext cx="11546957" cy="90786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r>
              <a:rPr lang="en-US" altLang="zh-CN" sz="1800" b="0" i="0" err="1">
                <a:solidFill>
                  <a:srgbClr val="111111"/>
                </a:solidFill>
                <a:effectLst/>
                <a:latin typeface="+mn-ea"/>
              </a:rPr>
              <a:t>after_failure</a:t>
            </a:r>
            <a:r>
              <a:rPr lang="zh-CN" altLang="en-US" sz="1800" b="0" i="0">
                <a:solidFill>
                  <a:srgbClr val="111111"/>
                </a:solidFill>
                <a:effectLst/>
                <a:latin typeface="+mn-ea"/>
              </a:rPr>
              <a:t>：当</a:t>
            </a:r>
            <a:r>
              <a:rPr lang="en-US" altLang="zh-CN" sz="1800" b="0" i="0">
                <a:solidFill>
                  <a:srgbClr val="111111"/>
                </a:solidFill>
                <a:effectLst/>
                <a:latin typeface="+mn-ea"/>
              </a:rPr>
              <a:t>script</a:t>
            </a:r>
            <a:r>
              <a:rPr lang="zh-CN" altLang="en-US" sz="1800" b="0" i="0">
                <a:solidFill>
                  <a:srgbClr val="111111"/>
                </a:solidFill>
                <a:effectLst/>
                <a:latin typeface="+mn-ea"/>
              </a:rPr>
              <a:t>阶段失败后执行的命令，适合用于收集错误信息、发送反馈或重试等任务。</a:t>
            </a:r>
          </a:p>
        </p:txBody>
      </p:sp>
      <p:sp>
        <p:nvSpPr>
          <p:cNvPr id="11" name="文本框 10">
            <a:extLst>
              <a:ext uri="{FF2B5EF4-FFF2-40B4-BE49-F238E27FC236}">
                <a16:creationId xmlns:a16="http://schemas.microsoft.com/office/drawing/2014/main" id="{D53F3CE0-7631-B277-0918-9961B3F84041}"/>
              </a:ext>
            </a:extLst>
          </p:cNvPr>
          <p:cNvSpPr txBox="1"/>
          <p:nvPr/>
        </p:nvSpPr>
        <p:spPr>
          <a:xfrm>
            <a:off x="5734493" y="3317358"/>
            <a:ext cx="0" cy="0"/>
          </a:xfrm>
          <a:prstGeom prst="rect">
            <a:avLst/>
          </a:prstGeom>
          <a:noFill/>
        </p:spPr>
        <p:txBody>
          <a:bodyPr wrap="none" lIns="0" tIns="0" rIns="0" bIns="0" rtlCol="0" anchor="ctr">
            <a:normAutofit fontScale="25000" lnSpcReduction="20000"/>
          </a:bodyPr>
          <a:lstStyle/>
          <a:p>
            <a:pPr algn="l">
              <a:lnSpc>
                <a:spcPct val="125000"/>
              </a:lnSpc>
              <a:spcAft>
                <a:spcPts val="500"/>
              </a:spcAft>
            </a:pPr>
            <a:endParaRPr kumimoji="1" lang="zh-CN" altLang="en-US"/>
          </a:p>
        </p:txBody>
      </p:sp>
      <p:sp>
        <p:nvSpPr>
          <p:cNvPr id="12" name="文本框 11">
            <a:extLst>
              <a:ext uri="{FF2B5EF4-FFF2-40B4-BE49-F238E27FC236}">
                <a16:creationId xmlns:a16="http://schemas.microsoft.com/office/drawing/2014/main" id="{08F0139C-0527-9E01-0330-B9E3112FA1CD}"/>
              </a:ext>
            </a:extLst>
          </p:cNvPr>
          <p:cNvSpPr txBox="1"/>
          <p:nvPr/>
        </p:nvSpPr>
        <p:spPr>
          <a:xfrm>
            <a:off x="1123906" y="2123973"/>
            <a:ext cx="9940333" cy="923330"/>
          </a:xfrm>
          <a:prstGeom prst="rect">
            <a:avLst/>
          </a:prstGeom>
          <a:noFill/>
        </p:spPr>
        <p:txBody>
          <a:bodyPr wrap="square">
            <a:spAutoFit/>
          </a:bodyPr>
          <a:lstStyle/>
          <a:p>
            <a:r>
              <a:rPr lang="en-US" altLang="zh-CN" err="1">
                <a:latin typeface="+mn-ea"/>
              </a:rPr>
              <a:t>after_failure</a:t>
            </a:r>
            <a:r>
              <a:rPr lang="zh-CN" altLang="en-US">
                <a:latin typeface="+mn-ea"/>
              </a:rPr>
              <a:t>可以执行任何你想在</a:t>
            </a:r>
            <a:r>
              <a:rPr lang="en-US" altLang="zh-CN">
                <a:latin typeface="+mn-ea"/>
              </a:rPr>
              <a:t>script</a:t>
            </a:r>
            <a:r>
              <a:rPr lang="zh-CN" altLang="en-US">
                <a:latin typeface="+mn-ea"/>
              </a:rPr>
              <a:t>阶段失败后执行的命令，比如收集错误信息，发送反馈，重试等任务。例如，如果你想查看一个错误日志，向一个网址发送一个通知，重试运行一个测试脚本，你可以这样写：</a:t>
            </a:r>
          </a:p>
        </p:txBody>
      </p:sp>
      <p:sp>
        <p:nvSpPr>
          <p:cNvPr id="7" name="Rectangle 1">
            <a:extLst>
              <a:ext uri="{FF2B5EF4-FFF2-40B4-BE49-F238E27FC236}">
                <a16:creationId xmlns:a16="http://schemas.microsoft.com/office/drawing/2014/main" id="{80A827D3-C3AD-3536-F2AE-B5E65D1A9AD1}"/>
              </a:ext>
            </a:extLst>
          </p:cNvPr>
          <p:cNvSpPr>
            <a:spLocks noChangeArrowheads="1"/>
          </p:cNvSpPr>
          <p:nvPr/>
        </p:nvSpPr>
        <p:spPr bwMode="auto">
          <a:xfrm>
            <a:off x="1123906" y="3768949"/>
            <a:ext cx="10270608" cy="1569660"/>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rgbClr val="CC7832"/>
                </a:solidFill>
                <a:effectLst/>
                <a:latin typeface="JetBrains Mono" panose="02000009000000000000" pitchFamily="49" charset="0"/>
                <a:cs typeface="JetBrains Mono" panose="02000009000000000000" pitchFamily="49" charset="0"/>
              </a:rPr>
              <a:t>after_failure</a:t>
            </a: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a:t>
            </a:r>
            <a:b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b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  - cat logs/error.log </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 </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查看一个错误日志 </a:t>
            </a:r>
            <a:b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b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  </a:t>
            </a: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 curl https://example.com/notify?status=failure </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 </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向一个网址发送一个通知 </a:t>
            </a:r>
            <a:b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b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  </a:t>
            </a: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 travis_retry ./scripts/run-tests.sh </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 </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重试运行一个测试脚本 </a:t>
            </a:r>
            <a:endParaRPr kumimoji="0" lang="zh-CN" altLang="zh-CN" sz="2400" b="0" i="0" u="none" strike="noStrike" cap="none" normalizeH="0" baseline="0" dirty="0">
              <a:ln>
                <a:noFill/>
              </a:ln>
              <a:solidFill>
                <a:schemeClr val="tx1"/>
              </a:solidFill>
              <a:effectLst/>
              <a:latin typeface="Arial" panose="020B0604020202020204" pitchFamily="34" charset="0"/>
            </a:endParaRPr>
          </a:p>
        </p:txBody>
      </p:sp>
      <p:sp>
        <p:nvSpPr>
          <p:cNvPr id="8" name="文本框 7">
            <a:extLst>
              <a:ext uri="{FF2B5EF4-FFF2-40B4-BE49-F238E27FC236}">
                <a16:creationId xmlns:a16="http://schemas.microsoft.com/office/drawing/2014/main" id="{BC8B8D07-CB70-5D51-11B4-E616FAAA3016}"/>
              </a:ext>
            </a:extLst>
          </p:cNvPr>
          <p:cNvSpPr txBox="1"/>
          <p:nvPr/>
        </p:nvSpPr>
        <p:spPr>
          <a:xfrm>
            <a:off x="718216" y="874354"/>
            <a:ext cx="6939883"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en-US" altLang="zh-CN" dirty="0"/>
              <a:t>Travis CI</a:t>
            </a:r>
            <a:r>
              <a:rPr lang="zh-CN" altLang="en-US" dirty="0"/>
              <a:t>中持续集成任务生命周期</a:t>
            </a:r>
          </a:p>
        </p:txBody>
      </p:sp>
    </p:spTree>
    <p:extLst>
      <p:ext uri="{BB962C8B-B14F-4D97-AF65-F5344CB8AC3E}">
        <p14:creationId xmlns:p14="http://schemas.microsoft.com/office/powerpoint/2010/main" val="1325364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68A3EA-FFF7-F593-9FA7-BB39D3E3222F}"/>
              </a:ext>
            </a:extLst>
          </p:cNvPr>
          <p:cNvSpPr>
            <a:spLocks noGrp="1"/>
          </p:cNvSpPr>
          <p:nvPr>
            <p:ph type="title"/>
          </p:nvPr>
        </p:nvSpPr>
        <p:spPr/>
        <p:txBody>
          <a:bodyPr>
            <a:normAutofit/>
          </a:bodyPr>
          <a:lstStyle/>
          <a:p>
            <a:r>
              <a:rPr lang="en-US" altLang="zh-CN"/>
              <a:t>03 </a:t>
            </a:r>
            <a:r>
              <a:rPr lang="en-US" altLang="zh-CN" sz="2800"/>
              <a:t>CI/CD</a:t>
            </a:r>
            <a:r>
              <a:rPr lang="zh-CN" altLang="en-US" sz="2800"/>
              <a:t>工具简介</a:t>
            </a:r>
            <a:endParaRPr kumimoji="1" lang="zh-CN" altLang="en-US"/>
          </a:p>
        </p:txBody>
      </p:sp>
      <p:sp>
        <p:nvSpPr>
          <p:cNvPr id="3" name="灯片编号占位符 2">
            <a:extLst>
              <a:ext uri="{FF2B5EF4-FFF2-40B4-BE49-F238E27FC236}">
                <a16:creationId xmlns:a16="http://schemas.microsoft.com/office/drawing/2014/main" id="{940AA628-8120-F109-B869-E8671F3D72B8}"/>
              </a:ext>
            </a:extLst>
          </p:cNvPr>
          <p:cNvSpPr>
            <a:spLocks noGrp="1"/>
          </p:cNvSpPr>
          <p:nvPr>
            <p:ph type="sldNum" sz="quarter" idx="12"/>
          </p:nvPr>
        </p:nvSpPr>
        <p:spPr/>
        <p:txBody>
          <a:bodyPr/>
          <a:lstStyle/>
          <a:p>
            <a:fld id="{1AAC388E-FA9E-4A2C-95EA-1F6B3A07935A}" type="slidenum">
              <a:rPr lang="zh-CN" altLang="en-US" smtClean="0"/>
              <a:pPr/>
              <a:t>105</a:t>
            </a:fld>
            <a:endParaRPr lang="zh-CN" altLang="en-US"/>
          </a:p>
        </p:txBody>
      </p:sp>
      <p:sp>
        <p:nvSpPr>
          <p:cNvPr id="6" name="文本框 5">
            <a:extLst>
              <a:ext uri="{FF2B5EF4-FFF2-40B4-BE49-F238E27FC236}">
                <a16:creationId xmlns:a16="http://schemas.microsoft.com/office/drawing/2014/main" id="{3AF7629F-FA0B-506E-F1D1-1394D3107606}"/>
              </a:ext>
            </a:extLst>
          </p:cNvPr>
          <p:cNvSpPr txBox="1"/>
          <p:nvPr/>
        </p:nvSpPr>
        <p:spPr>
          <a:xfrm>
            <a:off x="2708564" y="408709"/>
            <a:ext cx="0" cy="0"/>
          </a:xfrm>
          <a:prstGeom prst="rect">
            <a:avLst/>
          </a:prstGeom>
          <a:noFill/>
        </p:spPr>
        <p:txBody>
          <a:bodyPr wrap="none" lIns="0" tIns="0" rIns="0" bIns="0" rtlCol="0" anchor="ctr">
            <a:normAutofit fontScale="25000" lnSpcReduction="20000"/>
          </a:bodyPr>
          <a:lstStyle/>
          <a:p>
            <a:pPr algn="l">
              <a:lnSpc>
                <a:spcPct val="125000"/>
              </a:lnSpc>
              <a:spcAft>
                <a:spcPts val="500"/>
              </a:spcAft>
            </a:pPr>
            <a:endParaRPr kumimoji="1" lang="zh-CN" altLang="en-US"/>
          </a:p>
        </p:txBody>
      </p:sp>
      <p:sp>
        <p:nvSpPr>
          <p:cNvPr id="5" name="文本占位符 2">
            <a:extLst>
              <a:ext uri="{FF2B5EF4-FFF2-40B4-BE49-F238E27FC236}">
                <a16:creationId xmlns:a16="http://schemas.microsoft.com/office/drawing/2014/main" id="{1F3D4268-806B-7E26-9ACA-51807005639E}"/>
              </a:ext>
            </a:extLst>
          </p:cNvPr>
          <p:cNvSpPr txBox="1">
            <a:spLocks/>
          </p:cNvSpPr>
          <p:nvPr/>
        </p:nvSpPr>
        <p:spPr>
          <a:xfrm>
            <a:off x="645043" y="1519391"/>
            <a:ext cx="11546957" cy="90786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r>
              <a:rPr lang="en-US" altLang="zh-CN" sz="1800" b="0" i="0" err="1">
                <a:solidFill>
                  <a:srgbClr val="111111"/>
                </a:solidFill>
                <a:effectLst/>
                <a:latin typeface="+mn-ea"/>
              </a:rPr>
              <a:t>before_deploy</a:t>
            </a:r>
            <a:r>
              <a:rPr lang="zh-CN" altLang="en-US" sz="1800" b="0" i="0">
                <a:solidFill>
                  <a:srgbClr val="111111"/>
                </a:solidFill>
                <a:effectLst/>
                <a:latin typeface="+mn-ea"/>
              </a:rPr>
              <a:t>：在部署阶段之前执行的命令，适合用于准备或验证部署目标。</a:t>
            </a:r>
          </a:p>
        </p:txBody>
      </p:sp>
      <p:sp>
        <p:nvSpPr>
          <p:cNvPr id="11" name="文本框 10">
            <a:extLst>
              <a:ext uri="{FF2B5EF4-FFF2-40B4-BE49-F238E27FC236}">
                <a16:creationId xmlns:a16="http://schemas.microsoft.com/office/drawing/2014/main" id="{D53F3CE0-7631-B277-0918-9961B3F84041}"/>
              </a:ext>
            </a:extLst>
          </p:cNvPr>
          <p:cNvSpPr txBox="1"/>
          <p:nvPr/>
        </p:nvSpPr>
        <p:spPr>
          <a:xfrm>
            <a:off x="5734493" y="3317358"/>
            <a:ext cx="0" cy="0"/>
          </a:xfrm>
          <a:prstGeom prst="rect">
            <a:avLst/>
          </a:prstGeom>
          <a:noFill/>
        </p:spPr>
        <p:txBody>
          <a:bodyPr wrap="none" lIns="0" tIns="0" rIns="0" bIns="0" rtlCol="0" anchor="ctr">
            <a:normAutofit fontScale="25000" lnSpcReduction="20000"/>
          </a:bodyPr>
          <a:lstStyle/>
          <a:p>
            <a:pPr algn="l">
              <a:lnSpc>
                <a:spcPct val="125000"/>
              </a:lnSpc>
              <a:spcAft>
                <a:spcPts val="500"/>
              </a:spcAft>
            </a:pPr>
            <a:endParaRPr kumimoji="1" lang="zh-CN" altLang="en-US"/>
          </a:p>
        </p:txBody>
      </p:sp>
      <p:sp>
        <p:nvSpPr>
          <p:cNvPr id="12" name="文本框 11">
            <a:extLst>
              <a:ext uri="{FF2B5EF4-FFF2-40B4-BE49-F238E27FC236}">
                <a16:creationId xmlns:a16="http://schemas.microsoft.com/office/drawing/2014/main" id="{08F0139C-0527-9E01-0330-B9E3112FA1CD}"/>
              </a:ext>
            </a:extLst>
          </p:cNvPr>
          <p:cNvSpPr txBox="1"/>
          <p:nvPr/>
        </p:nvSpPr>
        <p:spPr>
          <a:xfrm>
            <a:off x="1123906" y="2123973"/>
            <a:ext cx="9940333" cy="646331"/>
          </a:xfrm>
          <a:prstGeom prst="rect">
            <a:avLst/>
          </a:prstGeom>
          <a:noFill/>
        </p:spPr>
        <p:txBody>
          <a:bodyPr wrap="square">
            <a:spAutoFit/>
          </a:bodyPr>
          <a:lstStyle/>
          <a:p>
            <a:r>
              <a:rPr lang="en-US" altLang="zh-CN" err="1">
                <a:latin typeface="+mn-ea"/>
              </a:rPr>
              <a:t>before_deploy</a:t>
            </a:r>
            <a:r>
              <a:rPr lang="zh-CN" altLang="en-US">
                <a:latin typeface="+mn-ea"/>
              </a:rPr>
              <a:t>可以执行任何你想在部署阶段之前执行的命令，比如准备或验证部署目标。例如，如果你想将一个项目目录压缩成一个</a:t>
            </a:r>
            <a:r>
              <a:rPr lang="en-US" altLang="zh-CN">
                <a:latin typeface="+mn-ea"/>
              </a:rPr>
              <a:t>zip</a:t>
            </a:r>
            <a:r>
              <a:rPr lang="zh-CN" altLang="en-US">
                <a:latin typeface="+mn-ea"/>
              </a:rPr>
              <a:t>文件，输出一个提示信息，你可以这样写：</a:t>
            </a:r>
          </a:p>
        </p:txBody>
      </p:sp>
      <p:sp>
        <p:nvSpPr>
          <p:cNvPr id="7" name="Rectangle 1">
            <a:extLst>
              <a:ext uri="{FF2B5EF4-FFF2-40B4-BE49-F238E27FC236}">
                <a16:creationId xmlns:a16="http://schemas.microsoft.com/office/drawing/2014/main" id="{9FFBB4B4-A9AD-8C3E-E68F-51BC5558DA2D}"/>
              </a:ext>
            </a:extLst>
          </p:cNvPr>
          <p:cNvSpPr>
            <a:spLocks noChangeArrowheads="1"/>
          </p:cNvSpPr>
          <p:nvPr/>
        </p:nvSpPr>
        <p:spPr bwMode="auto">
          <a:xfrm>
            <a:off x="1719255" y="3830579"/>
            <a:ext cx="8749633" cy="120032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rgbClr val="CC7832"/>
                </a:solidFill>
                <a:effectLst/>
                <a:latin typeface="JetBrains Mono" panose="02000009000000000000" pitchFamily="49" charset="0"/>
                <a:cs typeface="JetBrains Mono" panose="02000009000000000000" pitchFamily="49" charset="0"/>
              </a:rPr>
              <a:t>before_deploy</a:t>
            </a: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a:t>
            </a:r>
            <a:b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b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  - zip -r my-app.zip my-app/ </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 </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将一个项目目录压缩成一个</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zip</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文件 </a:t>
            </a:r>
            <a:b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b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  </a:t>
            </a: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 echo "Ready to deploy!" </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 </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输出一个提示信息 </a:t>
            </a:r>
            <a:endParaRPr kumimoji="0" lang="zh-CN" altLang="zh-CN" sz="2400" b="0" i="0" u="none" strike="noStrike" cap="none" normalizeH="0" baseline="0" dirty="0">
              <a:ln>
                <a:noFill/>
              </a:ln>
              <a:solidFill>
                <a:schemeClr val="tx1"/>
              </a:solidFill>
              <a:effectLst/>
              <a:latin typeface="Arial" panose="020B0604020202020204" pitchFamily="34" charset="0"/>
            </a:endParaRPr>
          </a:p>
        </p:txBody>
      </p:sp>
      <p:sp>
        <p:nvSpPr>
          <p:cNvPr id="8" name="文本框 7">
            <a:extLst>
              <a:ext uri="{FF2B5EF4-FFF2-40B4-BE49-F238E27FC236}">
                <a16:creationId xmlns:a16="http://schemas.microsoft.com/office/drawing/2014/main" id="{CB4FE2C8-1D89-DC1C-3508-89E7DB9533E2}"/>
              </a:ext>
            </a:extLst>
          </p:cNvPr>
          <p:cNvSpPr txBox="1"/>
          <p:nvPr/>
        </p:nvSpPr>
        <p:spPr>
          <a:xfrm>
            <a:off x="718216" y="874354"/>
            <a:ext cx="6939883"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en-US" altLang="zh-CN" dirty="0"/>
              <a:t>Travis CI</a:t>
            </a:r>
            <a:r>
              <a:rPr lang="zh-CN" altLang="en-US" dirty="0"/>
              <a:t>中持续集成任务生命周期</a:t>
            </a:r>
          </a:p>
        </p:txBody>
      </p:sp>
    </p:spTree>
    <p:extLst>
      <p:ext uri="{BB962C8B-B14F-4D97-AF65-F5344CB8AC3E}">
        <p14:creationId xmlns:p14="http://schemas.microsoft.com/office/powerpoint/2010/main" val="31707075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68A3EA-FFF7-F593-9FA7-BB39D3E3222F}"/>
              </a:ext>
            </a:extLst>
          </p:cNvPr>
          <p:cNvSpPr>
            <a:spLocks noGrp="1"/>
          </p:cNvSpPr>
          <p:nvPr>
            <p:ph type="title"/>
          </p:nvPr>
        </p:nvSpPr>
        <p:spPr/>
        <p:txBody>
          <a:bodyPr>
            <a:normAutofit/>
          </a:bodyPr>
          <a:lstStyle/>
          <a:p>
            <a:r>
              <a:rPr lang="en-US" altLang="zh-CN"/>
              <a:t>03 </a:t>
            </a:r>
            <a:r>
              <a:rPr lang="en-US" altLang="zh-CN" sz="2800"/>
              <a:t>CI/CD</a:t>
            </a:r>
            <a:r>
              <a:rPr lang="zh-CN" altLang="en-US" sz="2800"/>
              <a:t>工具简介</a:t>
            </a:r>
            <a:endParaRPr kumimoji="1" lang="zh-CN" altLang="en-US"/>
          </a:p>
        </p:txBody>
      </p:sp>
      <p:sp>
        <p:nvSpPr>
          <p:cNvPr id="3" name="灯片编号占位符 2">
            <a:extLst>
              <a:ext uri="{FF2B5EF4-FFF2-40B4-BE49-F238E27FC236}">
                <a16:creationId xmlns:a16="http://schemas.microsoft.com/office/drawing/2014/main" id="{940AA628-8120-F109-B869-E8671F3D72B8}"/>
              </a:ext>
            </a:extLst>
          </p:cNvPr>
          <p:cNvSpPr>
            <a:spLocks noGrp="1"/>
          </p:cNvSpPr>
          <p:nvPr>
            <p:ph type="sldNum" sz="quarter" idx="12"/>
          </p:nvPr>
        </p:nvSpPr>
        <p:spPr/>
        <p:txBody>
          <a:bodyPr/>
          <a:lstStyle/>
          <a:p>
            <a:fld id="{1AAC388E-FA9E-4A2C-95EA-1F6B3A07935A}" type="slidenum">
              <a:rPr lang="zh-CN" altLang="en-US" smtClean="0"/>
              <a:pPr/>
              <a:t>106</a:t>
            </a:fld>
            <a:endParaRPr lang="zh-CN" altLang="en-US"/>
          </a:p>
        </p:txBody>
      </p:sp>
      <p:sp>
        <p:nvSpPr>
          <p:cNvPr id="6" name="文本框 5">
            <a:extLst>
              <a:ext uri="{FF2B5EF4-FFF2-40B4-BE49-F238E27FC236}">
                <a16:creationId xmlns:a16="http://schemas.microsoft.com/office/drawing/2014/main" id="{3AF7629F-FA0B-506E-F1D1-1394D3107606}"/>
              </a:ext>
            </a:extLst>
          </p:cNvPr>
          <p:cNvSpPr txBox="1"/>
          <p:nvPr/>
        </p:nvSpPr>
        <p:spPr>
          <a:xfrm>
            <a:off x="2708564" y="408709"/>
            <a:ext cx="0" cy="0"/>
          </a:xfrm>
          <a:prstGeom prst="rect">
            <a:avLst/>
          </a:prstGeom>
          <a:noFill/>
        </p:spPr>
        <p:txBody>
          <a:bodyPr wrap="none" lIns="0" tIns="0" rIns="0" bIns="0" rtlCol="0" anchor="ctr">
            <a:normAutofit fontScale="25000" lnSpcReduction="20000"/>
          </a:bodyPr>
          <a:lstStyle/>
          <a:p>
            <a:pPr algn="l">
              <a:lnSpc>
                <a:spcPct val="125000"/>
              </a:lnSpc>
              <a:spcAft>
                <a:spcPts val="500"/>
              </a:spcAft>
            </a:pPr>
            <a:endParaRPr kumimoji="1" lang="zh-CN" altLang="en-US"/>
          </a:p>
        </p:txBody>
      </p:sp>
      <p:sp>
        <p:nvSpPr>
          <p:cNvPr id="5" name="文本占位符 2">
            <a:extLst>
              <a:ext uri="{FF2B5EF4-FFF2-40B4-BE49-F238E27FC236}">
                <a16:creationId xmlns:a16="http://schemas.microsoft.com/office/drawing/2014/main" id="{1F3D4268-806B-7E26-9ACA-51807005639E}"/>
              </a:ext>
            </a:extLst>
          </p:cNvPr>
          <p:cNvSpPr txBox="1">
            <a:spLocks/>
          </p:cNvSpPr>
          <p:nvPr/>
        </p:nvSpPr>
        <p:spPr>
          <a:xfrm>
            <a:off x="645043" y="1519391"/>
            <a:ext cx="11546957" cy="90786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r>
              <a:rPr lang="en-US" altLang="zh-CN" sz="1800" b="0" i="0">
                <a:solidFill>
                  <a:srgbClr val="111111"/>
                </a:solidFill>
                <a:effectLst/>
                <a:latin typeface="+mn-ea"/>
              </a:rPr>
              <a:t>deploy</a:t>
            </a:r>
            <a:r>
              <a:rPr lang="zh-CN" altLang="en-US" sz="1800" b="0" i="0">
                <a:solidFill>
                  <a:srgbClr val="111111"/>
                </a:solidFill>
                <a:effectLst/>
                <a:latin typeface="+mn-ea"/>
              </a:rPr>
              <a:t>：部署项目到指定的服务或平台，适合用于使用</a:t>
            </a:r>
            <a:r>
              <a:rPr lang="en-US" altLang="zh-CN" sz="1800" b="0" i="0">
                <a:solidFill>
                  <a:srgbClr val="111111"/>
                </a:solidFill>
                <a:effectLst/>
                <a:latin typeface="+mn-ea"/>
              </a:rPr>
              <a:t>Travis CI</a:t>
            </a:r>
            <a:r>
              <a:rPr lang="zh-CN" altLang="en-US" sz="1800" b="0" i="0">
                <a:solidFill>
                  <a:srgbClr val="111111"/>
                </a:solidFill>
                <a:effectLst/>
                <a:latin typeface="+mn-ea"/>
              </a:rPr>
              <a:t>提供的部署插件或自定义脚本 。</a:t>
            </a:r>
          </a:p>
        </p:txBody>
      </p:sp>
      <p:sp>
        <p:nvSpPr>
          <p:cNvPr id="11" name="文本框 10">
            <a:extLst>
              <a:ext uri="{FF2B5EF4-FFF2-40B4-BE49-F238E27FC236}">
                <a16:creationId xmlns:a16="http://schemas.microsoft.com/office/drawing/2014/main" id="{D53F3CE0-7631-B277-0918-9961B3F84041}"/>
              </a:ext>
            </a:extLst>
          </p:cNvPr>
          <p:cNvSpPr txBox="1"/>
          <p:nvPr/>
        </p:nvSpPr>
        <p:spPr>
          <a:xfrm>
            <a:off x="5734493" y="3317358"/>
            <a:ext cx="0" cy="0"/>
          </a:xfrm>
          <a:prstGeom prst="rect">
            <a:avLst/>
          </a:prstGeom>
          <a:noFill/>
        </p:spPr>
        <p:txBody>
          <a:bodyPr wrap="none" lIns="0" tIns="0" rIns="0" bIns="0" rtlCol="0" anchor="ctr">
            <a:normAutofit fontScale="25000" lnSpcReduction="20000"/>
          </a:bodyPr>
          <a:lstStyle/>
          <a:p>
            <a:pPr algn="l">
              <a:lnSpc>
                <a:spcPct val="125000"/>
              </a:lnSpc>
              <a:spcAft>
                <a:spcPts val="500"/>
              </a:spcAft>
            </a:pPr>
            <a:endParaRPr kumimoji="1" lang="zh-CN" altLang="en-US"/>
          </a:p>
        </p:txBody>
      </p:sp>
      <p:sp>
        <p:nvSpPr>
          <p:cNvPr id="12" name="文本框 11">
            <a:extLst>
              <a:ext uri="{FF2B5EF4-FFF2-40B4-BE49-F238E27FC236}">
                <a16:creationId xmlns:a16="http://schemas.microsoft.com/office/drawing/2014/main" id="{08F0139C-0527-9E01-0330-B9E3112FA1CD}"/>
              </a:ext>
            </a:extLst>
          </p:cNvPr>
          <p:cNvSpPr txBox="1"/>
          <p:nvPr/>
        </p:nvSpPr>
        <p:spPr>
          <a:xfrm>
            <a:off x="1116844" y="1871054"/>
            <a:ext cx="9940333" cy="1200329"/>
          </a:xfrm>
          <a:prstGeom prst="rect">
            <a:avLst/>
          </a:prstGeom>
          <a:noFill/>
        </p:spPr>
        <p:txBody>
          <a:bodyPr wrap="square">
            <a:spAutoFit/>
          </a:bodyPr>
          <a:lstStyle/>
          <a:p>
            <a:r>
              <a:rPr lang="en-US" altLang="zh-CN" dirty="0">
                <a:latin typeface="+mn-ea"/>
              </a:rPr>
              <a:t>deploy</a:t>
            </a:r>
            <a:r>
              <a:rPr lang="zh-CN" altLang="en-US" dirty="0">
                <a:latin typeface="+mn-ea"/>
              </a:rPr>
              <a:t>可以执行部署项目到指定的服务或平台的命令，比如使用</a:t>
            </a:r>
            <a:r>
              <a:rPr lang="en-US" altLang="zh-CN" dirty="0">
                <a:latin typeface="+mn-ea"/>
              </a:rPr>
              <a:t>Travis CI</a:t>
            </a:r>
            <a:r>
              <a:rPr lang="zh-CN" altLang="en-US" dirty="0">
                <a:latin typeface="+mn-ea"/>
              </a:rPr>
              <a:t>提供的部署插件或自定义脚本。如果你想使用自定义脚本来执行部署，你可以使用</a:t>
            </a:r>
            <a:r>
              <a:rPr lang="en-US" altLang="zh-CN" dirty="0">
                <a:latin typeface="+mn-ea"/>
              </a:rPr>
              <a:t>script</a:t>
            </a:r>
            <a:r>
              <a:rPr lang="zh-CN" altLang="en-US" dirty="0">
                <a:latin typeface="+mn-ea"/>
              </a:rPr>
              <a:t>作为提供者，并指定要运行的脚本文件或命令。例如，如果你想运行一个名为</a:t>
            </a:r>
            <a:r>
              <a:rPr lang="en-US" altLang="zh-CN" dirty="0">
                <a:latin typeface="+mn-ea"/>
              </a:rPr>
              <a:t>deploy.sh</a:t>
            </a:r>
            <a:r>
              <a:rPr lang="zh-CN" altLang="en-US" dirty="0">
                <a:latin typeface="+mn-ea"/>
              </a:rPr>
              <a:t>的脚本文件，并传递一些参数，你可以这样写：</a:t>
            </a:r>
          </a:p>
        </p:txBody>
      </p:sp>
      <p:sp>
        <p:nvSpPr>
          <p:cNvPr id="9" name="Rectangle 2">
            <a:extLst>
              <a:ext uri="{FF2B5EF4-FFF2-40B4-BE49-F238E27FC236}">
                <a16:creationId xmlns:a16="http://schemas.microsoft.com/office/drawing/2014/main" id="{EEA454C8-0AFD-D943-41FA-BCD2B55E6DF5}"/>
              </a:ext>
            </a:extLst>
          </p:cNvPr>
          <p:cNvSpPr>
            <a:spLocks noChangeArrowheads="1"/>
          </p:cNvSpPr>
          <p:nvPr/>
        </p:nvSpPr>
        <p:spPr bwMode="auto">
          <a:xfrm>
            <a:off x="987758" y="3386881"/>
            <a:ext cx="10216483" cy="2677656"/>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rgbClr val="CC7832"/>
                </a:solidFill>
                <a:effectLst/>
                <a:latin typeface="JetBrains Mono" panose="02000009000000000000" pitchFamily="49" charset="0"/>
                <a:cs typeface="JetBrains Mono" panose="02000009000000000000" pitchFamily="49" charset="0"/>
              </a:rPr>
              <a:t>deploy</a:t>
            </a: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a:t>
            </a:r>
            <a:b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b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  </a:t>
            </a:r>
            <a:r>
              <a:rPr kumimoji="0" lang="zh-CN" altLang="zh-CN" sz="2400" b="0" i="0" u="none" strike="noStrike" cap="none" normalizeH="0" baseline="0" dirty="0">
                <a:ln>
                  <a:noFill/>
                </a:ln>
                <a:solidFill>
                  <a:srgbClr val="CC7832"/>
                </a:solidFill>
                <a:effectLst/>
                <a:latin typeface="JetBrains Mono" panose="02000009000000000000" pitchFamily="49" charset="0"/>
                <a:cs typeface="JetBrains Mono" panose="02000009000000000000" pitchFamily="49" charset="0"/>
              </a:rPr>
              <a:t>provider</a:t>
            </a: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 script </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 </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使用</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script</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作为提供者 </a:t>
            </a:r>
            <a:b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b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  </a:t>
            </a:r>
            <a:r>
              <a:rPr kumimoji="0" lang="zh-CN" altLang="zh-CN" sz="2400" b="0" i="0" u="none" strike="noStrike" cap="none" normalizeH="0" baseline="0" dirty="0">
                <a:ln>
                  <a:noFill/>
                </a:ln>
                <a:solidFill>
                  <a:srgbClr val="CC7832"/>
                </a:solidFill>
                <a:effectLst/>
                <a:latin typeface="JetBrains Mono" panose="02000009000000000000" pitchFamily="49" charset="0"/>
                <a:cs typeface="JetBrains Mono" panose="02000009000000000000" pitchFamily="49" charset="0"/>
              </a:rPr>
              <a:t>script</a:t>
            </a: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 bash scripts/deploy.sh production $TRAVIS_TAG </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 </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运行</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deploy.sh</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脚本，并传递</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production</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和</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$TRAVIS_TAG</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两个参数 </a:t>
            </a:r>
            <a:b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b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  </a:t>
            </a:r>
            <a:r>
              <a:rPr kumimoji="0" lang="zh-CN" altLang="zh-CN" sz="2400" b="0" i="0" u="none" strike="noStrike" cap="none" normalizeH="0" baseline="0" dirty="0">
                <a:ln>
                  <a:noFill/>
                </a:ln>
                <a:solidFill>
                  <a:srgbClr val="CC7832"/>
                </a:solidFill>
                <a:effectLst/>
                <a:latin typeface="JetBrains Mono" panose="02000009000000000000" pitchFamily="49" charset="0"/>
                <a:cs typeface="JetBrains Mono" panose="02000009000000000000" pitchFamily="49" charset="0"/>
              </a:rPr>
              <a:t>on</a:t>
            </a: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 </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 </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指定触发部署条件 </a:t>
            </a:r>
            <a:b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b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    </a:t>
            </a:r>
            <a:r>
              <a:rPr kumimoji="0" lang="zh-CN" altLang="zh-CN" sz="2400" b="0" i="0" u="none" strike="noStrike" cap="none" normalizeH="0" baseline="0" dirty="0">
                <a:ln>
                  <a:noFill/>
                </a:ln>
                <a:solidFill>
                  <a:srgbClr val="CC7832"/>
                </a:solidFill>
                <a:effectLst/>
                <a:latin typeface="JetBrains Mono" panose="02000009000000000000" pitchFamily="49" charset="0"/>
                <a:cs typeface="JetBrains Mono" panose="02000009000000000000" pitchFamily="49" charset="0"/>
              </a:rPr>
              <a:t>tags</a:t>
            </a: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 true </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 </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当有新标签时触发部署 </a:t>
            </a:r>
            <a:b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b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    </a:t>
            </a:r>
            <a:r>
              <a:rPr kumimoji="0" lang="zh-CN" altLang="zh-CN" sz="2400" b="0" i="0" u="none" strike="noStrike" cap="none" normalizeH="0" baseline="0" dirty="0">
                <a:ln>
                  <a:noFill/>
                </a:ln>
                <a:solidFill>
                  <a:srgbClr val="CC7832"/>
                </a:solidFill>
                <a:effectLst/>
                <a:latin typeface="JetBrains Mono" panose="02000009000000000000" pitchFamily="49" charset="0"/>
                <a:cs typeface="JetBrains Mono" panose="02000009000000000000" pitchFamily="49" charset="0"/>
              </a:rPr>
              <a:t>all_branches</a:t>
            </a: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 true </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 </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当任何分支有更新时触发部署 </a:t>
            </a:r>
            <a:endParaRPr kumimoji="0" lang="zh-CN" altLang="zh-CN" sz="2400" b="0" i="0" u="none" strike="noStrike" cap="none" normalizeH="0" baseline="0" dirty="0">
              <a:ln>
                <a:noFill/>
              </a:ln>
              <a:solidFill>
                <a:schemeClr val="tx1"/>
              </a:solidFill>
              <a:effectLst/>
              <a:latin typeface="Arial" panose="020B0604020202020204" pitchFamily="34" charset="0"/>
            </a:endParaRPr>
          </a:p>
        </p:txBody>
      </p:sp>
      <p:sp>
        <p:nvSpPr>
          <p:cNvPr id="7" name="文本框 6">
            <a:extLst>
              <a:ext uri="{FF2B5EF4-FFF2-40B4-BE49-F238E27FC236}">
                <a16:creationId xmlns:a16="http://schemas.microsoft.com/office/drawing/2014/main" id="{41ADE9B5-AE91-5CA4-1597-A46B44C54841}"/>
              </a:ext>
            </a:extLst>
          </p:cNvPr>
          <p:cNvSpPr txBox="1"/>
          <p:nvPr/>
        </p:nvSpPr>
        <p:spPr>
          <a:xfrm>
            <a:off x="718216" y="874354"/>
            <a:ext cx="6939883"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en-US" altLang="zh-CN" dirty="0"/>
              <a:t>Travis CI</a:t>
            </a:r>
            <a:r>
              <a:rPr lang="zh-CN" altLang="en-US" dirty="0"/>
              <a:t>中持续集成任务生命周期</a:t>
            </a:r>
          </a:p>
        </p:txBody>
      </p:sp>
    </p:spTree>
    <p:extLst>
      <p:ext uri="{BB962C8B-B14F-4D97-AF65-F5344CB8AC3E}">
        <p14:creationId xmlns:p14="http://schemas.microsoft.com/office/powerpoint/2010/main" val="19937924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68A3EA-FFF7-F593-9FA7-BB39D3E3222F}"/>
              </a:ext>
            </a:extLst>
          </p:cNvPr>
          <p:cNvSpPr>
            <a:spLocks noGrp="1"/>
          </p:cNvSpPr>
          <p:nvPr>
            <p:ph type="title"/>
          </p:nvPr>
        </p:nvSpPr>
        <p:spPr/>
        <p:txBody>
          <a:bodyPr>
            <a:normAutofit/>
          </a:bodyPr>
          <a:lstStyle/>
          <a:p>
            <a:r>
              <a:rPr lang="en-US" altLang="zh-CN"/>
              <a:t>03 </a:t>
            </a:r>
            <a:r>
              <a:rPr lang="en-US" altLang="zh-CN" sz="2800"/>
              <a:t>CI/CD</a:t>
            </a:r>
            <a:r>
              <a:rPr lang="zh-CN" altLang="en-US" sz="2800"/>
              <a:t>工具简介</a:t>
            </a:r>
            <a:endParaRPr kumimoji="1" lang="zh-CN" altLang="en-US"/>
          </a:p>
        </p:txBody>
      </p:sp>
      <p:sp>
        <p:nvSpPr>
          <p:cNvPr id="3" name="灯片编号占位符 2">
            <a:extLst>
              <a:ext uri="{FF2B5EF4-FFF2-40B4-BE49-F238E27FC236}">
                <a16:creationId xmlns:a16="http://schemas.microsoft.com/office/drawing/2014/main" id="{940AA628-8120-F109-B869-E8671F3D72B8}"/>
              </a:ext>
            </a:extLst>
          </p:cNvPr>
          <p:cNvSpPr>
            <a:spLocks noGrp="1"/>
          </p:cNvSpPr>
          <p:nvPr>
            <p:ph type="sldNum" sz="quarter" idx="12"/>
          </p:nvPr>
        </p:nvSpPr>
        <p:spPr/>
        <p:txBody>
          <a:bodyPr/>
          <a:lstStyle/>
          <a:p>
            <a:fld id="{1AAC388E-FA9E-4A2C-95EA-1F6B3A07935A}" type="slidenum">
              <a:rPr lang="zh-CN" altLang="en-US" smtClean="0"/>
              <a:pPr/>
              <a:t>107</a:t>
            </a:fld>
            <a:endParaRPr lang="zh-CN" altLang="en-US"/>
          </a:p>
        </p:txBody>
      </p:sp>
      <p:sp>
        <p:nvSpPr>
          <p:cNvPr id="6" name="文本框 5">
            <a:extLst>
              <a:ext uri="{FF2B5EF4-FFF2-40B4-BE49-F238E27FC236}">
                <a16:creationId xmlns:a16="http://schemas.microsoft.com/office/drawing/2014/main" id="{3AF7629F-FA0B-506E-F1D1-1394D3107606}"/>
              </a:ext>
            </a:extLst>
          </p:cNvPr>
          <p:cNvSpPr txBox="1"/>
          <p:nvPr/>
        </p:nvSpPr>
        <p:spPr>
          <a:xfrm>
            <a:off x="2708564" y="408709"/>
            <a:ext cx="0" cy="0"/>
          </a:xfrm>
          <a:prstGeom prst="rect">
            <a:avLst/>
          </a:prstGeom>
          <a:noFill/>
        </p:spPr>
        <p:txBody>
          <a:bodyPr wrap="none" lIns="0" tIns="0" rIns="0" bIns="0" rtlCol="0" anchor="ctr">
            <a:normAutofit fontScale="25000" lnSpcReduction="20000"/>
          </a:bodyPr>
          <a:lstStyle/>
          <a:p>
            <a:pPr algn="l">
              <a:lnSpc>
                <a:spcPct val="125000"/>
              </a:lnSpc>
              <a:spcAft>
                <a:spcPts val="500"/>
              </a:spcAft>
            </a:pPr>
            <a:endParaRPr kumimoji="1" lang="zh-CN" altLang="en-US"/>
          </a:p>
        </p:txBody>
      </p:sp>
      <p:sp>
        <p:nvSpPr>
          <p:cNvPr id="5" name="文本占位符 2">
            <a:extLst>
              <a:ext uri="{FF2B5EF4-FFF2-40B4-BE49-F238E27FC236}">
                <a16:creationId xmlns:a16="http://schemas.microsoft.com/office/drawing/2014/main" id="{1F3D4268-806B-7E26-9ACA-51807005639E}"/>
              </a:ext>
            </a:extLst>
          </p:cNvPr>
          <p:cNvSpPr txBox="1">
            <a:spLocks/>
          </p:cNvSpPr>
          <p:nvPr/>
        </p:nvSpPr>
        <p:spPr>
          <a:xfrm>
            <a:off x="645043" y="1519391"/>
            <a:ext cx="11546957" cy="90786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r>
              <a:rPr lang="en-US" altLang="zh-CN" sz="1800" b="0" i="0" err="1">
                <a:solidFill>
                  <a:srgbClr val="111111"/>
                </a:solidFill>
                <a:effectLst/>
                <a:latin typeface="+mn-ea"/>
              </a:rPr>
              <a:t>after_deploy</a:t>
            </a:r>
            <a:r>
              <a:rPr lang="zh-CN" altLang="en-US" sz="1800" b="0" i="0">
                <a:solidFill>
                  <a:srgbClr val="111111"/>
                </a:solidFill>
                <a:effectLst/>
                <a:latin typeface="+mn-ea"/>
              </a:rPr>
              <a:t>：在部署阶段之后执行的命令，适合用于清理或确认部署结果。</a:t>
            </a:r>
          </a:p>
        </p:txBody>
      </p:sp>
      <p:sp>
        <p:nvSpPr>
          <p:cNvPr id="11" name="文本框 10">
            <a:extLst>
              <a:ext uri="{FF2B5EF4-FFF2-40B4-BE49-F238E27FC236}">
                <a16:creationId xmlns:a16="http://schemas.microsoft.com/office/drawing/2014/main" id="{D53F3CE0-7631-B277-0918-9961B3F84041}"/>
              </a:ext>
            </a:extLst>
          </p:cNvPr>
          <p:cNvSpPr txBox="1"/>
          <p:nvPr/>
        </p:nvSpPr>
        <p:spPr>
          <a:xfrm>
            <a:off x="5734493" y="3317358"/>
            <a:ext cx="0" cy="0"/>
          </a:xfrm>
          <a:prstGeom prst="rect">
            <a:avLst/>
          </a:prstGeom>
          <a:noFill/>
        </p:spPr>
        <p:txBody>
          <a:bodyPr wrap="none" lIns="0" tIns="0" rIns="0" bIns="0" rtlCol="0" anchor="ctr">
            <a:normAutofit fontScale="25000" lnSpcReduction="20000"/>
          </a:bodyPr>
          <a:lstStyle/>
          <a:p>
            <a:pPr algn="l">
              <a:lnSpc>
                <a:spcPct val="125000"/>
              </a:lnSpc>
              <a:spcAft>
                <a:spcPts val="500"/>
              </a:spcAft>
            </a:pPr>
            <a:endParaRPr kumimoji="1" lang="zh-CN" altLang="en-US"/>
          </a:p>
        </p:txBody>
      </p:sp>
      <p:sp>
        <p:nvSpPr>
          <p:cNvPr id="12" name="文本框 11">
            <a:extLst>
              <a:ext uri="{FF2B5EF4-FFF2-40B4-BE49-F238E27FC236}">
                <a16:creationId xmlns:a16="http://schemas.microsoft.com/office/drawing/2014/main" id="{08F0139C-0527-9E01-0330-B9E3112FA1CD}"/>
              </a:ext>
            </a:extLst>
          </p:cNvPr>
          <p:cNvSpPr txBox="1"/>
          <p:nvPr/>
        </p:nvSpPr>
        <p:spPr>
          <a:xfrm>
            <a:off x="1123906" y="2123973"/>
            <a:ext cx="9940333" cy="646331"/>
          </a:xfrm>
          <a:prstGeom prst="rect">
            <a:avLst/>
          </a:prstGeom>
          <a:noFill/>
        </p:spPr>
        <p:txBody>
          <a:bodyPr wrap="square">
            <a:spAutoFit/>
          </a:bodyPr>
          <a:lstStyle/>
          <a:p>
            <a:r>
              <a:rPr lang="en-US" altLang="zh-CN" err="1">
                <a:latin typeface="+mn-ea"/>
              </a:rPr>
              <a:t>after_deploy</a:t>
            </a:r>
            <a:r>
              <a:rPr lang="zh-CN" altLang="en-US">
                <a:latin typeface="+mn-ea"/>
              </a:rPr>
              <a:t>可以执行任何你想在部署阶段之后执行的命令，比如清理或确认部署结果。例如，如果你想删除一个</a:t>
            </a:r>
            <a:r>
              <a:rPr lang="en-US" altLang="zh-CN">
                <a:latin typeface="+mn-ea"/>
              </a:rPr>
              <a:t>zip</a:t>
            </a:r>
            <a:r>
              <a:rPr lang="zh-CN" altLang="en-US">
                <a:latin typeface="+mn-ea"/>
              </a:rPr>
              <a:t>文件，向一个网址发送一个检查请求，你可以这样写：</a:t>
            </a:r>
          </a:p>
        </p:txBody>
      </p:sp>
      <p:sp>
        <p:nvSpPr>
          <p:cNvPr id="7" name="Rectangle 1">
            <a:extLst>
              <a:ext uri="{FF2B5EF4-FFF2-40B4-BE49-F238E27FC236}">
                <a16:creationId xmlns:a16="http://schemas.microsoft.com/office/drawing/2014/main" id="{0F7F8CBC-2AB4-0D23-C96C-F5CB188A6457}"/>
              </a:ext>
            </a:extLst>
          </p:cNvPr>
          <p:cNvSpPr>
            <a:spLocks noChangeArrowheads="1"/>
          </p:cNvSpPr>
          <p:nvPr/>
        </p:nvSpPr>
        <p:spPr bwMode="auto">
          <a:xfrm>
            <a:off x="749218" y="3860631"/>
            <a:ext cx="10689707" cy="1200329"/>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rgbClr val="CC7832"/>
                </a:solidFill>
                <a:effectLst/>
                <a:latin typeface="JetBrains Mono" panose="02000009000000000000" pitchFamily="49" charset="0"/>
                <a:cs typeface="JetBrains Mono" panose="02000009000000000000" pitchFamily="49" charset="0"/>
              </a:rPr>
              <a:t>after_deploy</a:t>
            </a: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a:t>
            </a:r>
            <a:b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b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  - rm my-app.zip </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 </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删除一个</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zip</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文件 </a:t>
            </a:r>
            <a:b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b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  </a:t>
            </a: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 curl https://example.com/check?app=my-app </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 </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向一个网址发送一个检查请求 </a:t>
            </a:r>
            <a:endParaRPr kumimoji="0" lang="zh-CN" altLang="zh-CN" sz="2400" b="0" i="0" u="none" strike="noStrike" cap="none" normalizeH="0" baseline="0" dirty="0">
              <a:ln>
                <a:noFill/>
              </a:ln>
              <a:solidFill>
                <a:schemeClr val="tx1"/>
              </a:solidFill>
              <a:effectLst/>
              <a:latin typeface="Arial" panose="020B0604020202020204" pitchFamily="34" charset="0"/>
            </a:endParaRPr>
          </a:p>
        </p:txBody>
      </p:sp>
      <p:sp>
        <p:nvSpPr>
          <p:cNvPr id="8" name="文本框 7">
            <a:extLst>
              <a:ext uri="{FF2B5EF4-FFF2-40B4-BE49-F238E27FC236}">
                <a16:creationId xmlns:a16="http://schemas.microsoft.com/office/drawing/2014/main" id="{D08C3B4E-2419-6A03-B74D-CB44CD00ADD4}"/>
              </a:ext>
            </a:extLst>
          </p:cNvPr>
          <p:cNvSpPr txBox="1"/>
          <p:nvPr/>
        </p:nvSpPr>
        <p:spPr>
          <a:xfrm>
            <a:off x="718216" y="874354"/>
            <a:ext cx="6939883"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en-US" altLang="zh-CN" dirty="0"/>
              <a:t>Travis CI</a:t>
            </a:r>
            <a:r>
              <a:rPr lang="zh-CN" altLang="en-US" dirty="0"/>
              <a:t>中持续集成任务生命周期</a:t>
            </a:r>
          </a:p>
        </p:txBody>
      </p:sp>
    </p:spTree>
    <p:extLst>
      <p:ext uri="{BB962C8B-B14F-4D97-AF65-F5344CB8AC3E}">
        <p14:creationId xmlns:p14="http://schemas.microsoft.com/office/powerpoint/2010/main" val="12578082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68A3EA-FFF7-F593-9FA7-BB39D3E3222F}"/>
              </a:ext>
            </a:extLst>
          </p:cNvPr>
          <p:cNvSpPr>
            <a:spLocks noGrp="1"/>
          </p:cNvSpPr>
          <p:nvPr>
            <p:ph type="title"/>
          </p:nvPr>
        </p:nvSpPr>
        <p:spPr/>
        <p:txBody>
          <a:bodyPr>
            <a:normAutofit/>
          </a:bodyPr>
          <a:lstStyle/>
          <a:p>
            <a:r>
              <a:rPr lang="en-US" altLang="zh-CN"/>
              <a:t>03 </a:t>
            </a:r>
            <a:r>
              <a:rPr lang="en-US" altLang="zh-CN" sz="2800"/>
              <a:t>CI/CD</a:t>
            </a:r>
            <a:r>
              <a:rPr lang="zh-CN" altLang="en-US" sz="2800"/>
              <a:t>工具简介</a:t>
            </a:r>
            <a:endParaRPr kumimoji="1" lang="zh-CN" altLang="en-US"/>
          </a:p>
        </p:txBody>
      </p:sp>
      <p:sp>
        <p:nvSpPr>
          <p:cNvPr id="3" name="灯片编号占位符 2">
            <a:extLst>
              <a:ext uri="{FF2B5EF4-FFF2-40B4-BE49-F238E27FC236}">
                <a16:creationId xmlns:a16="http://schemas.microsoft.com/office/drawing/2014/main" id="{940AA628-8120-F109-B869-E8671F3D72B8}"/>
              </a:ext>
            </a:extLst>
          </p:cNvPr>
          <p:cNvSpPr>
            <a:spLocks noGrp="1"/>
          </p:cNvSpPr>
          <p:nvPr>
            <p:ph type="sldNum" sz="quarter" idx="12"/>
          </p:nvPr>
        </p:nvSpPr>
        <p:spPr/>
        <p:txBody>
          <a:bodyPr/>
          <a:lstStyle/>
          <a:p>
            <a:fld id="{1AAC388E-FA9E-4A2C-95EA-1F6B3A07935A}" type="slidenum">
              <a:rPr lang="zh-CN" altLang="en-US" smtClean="0"/>
              <a:pPr/>
              <a:t>108</a:t>
            </a:fld>
            <a:endParaRPr lang="zh-CN" altLang="en-US"/>
          </a:p>
        </p:txBody>
      </p:sp>
      <p:sp>
        <p:nvSpPr>
          <p:cNvPr id="6" name="文本框 5">
            <a:extLst>
              <a:ext uri="{FF2B5EF4-FFF2-40B4-BE49-F238E27FC236}">
                <a16:creationId xmlns:a16="http://schemas.microsoft.com/office/drawing/2014/main" id="{3AF7629F-FA0B-506E-F1D1-1394D3107606}"/>
              </a:ext>
            </a:extLst>
          </p:cNvPr>
          <p:cNvSpPr txBox="1"/>
          <p:nvPr/>
        </p:nvSpPr>
        <p:spPr>
          <a:xfrm>
            <a:off x="2708564" y="408709"/>
            <a:ext cx="0" cy="0"/>
          </a:xfrm>
          <a:prstGeom prst="rect">
            <a:avLst/>
          </a:prstGeom>
          <a:noFill/>
        </p:spPr>
        <p:txBody>
          <a:bodyPr wrap="none" lIns="0" tIns="0" rIns="0" bIns="0" rtlCol="0" anchor="ctr">
            <a:normAutofit fontScale="25000" lnSpcReduction="20000"/>
          </a:bodyPr>
          <a:lstStyle/>
          <a:p>
            <a:pPr algn="l">
              <a:lnSpc>
                <a:spcPct val="125000"/>
              </a:lnSpc>
              <a:spcAft>
                <a:spcPts val="500"/>
              </a:spcAft>
            </a:pPr>
            <a:endParaRPr kumimoji="1" lang="zh-CN" altLang="en-US"/>
          </a:p>
        </p:txBody>
      </p:sp>
      <p:sp>
        <p:nvSpPr>
          <p:cNvPr id="5" name="文本占位符 2">
            <a:extLst>
              <a:ext uri="{FF2B5EF4-FFF2-40B4-BE49-F238E27FC236}">
                <a16:creationId xmlns:a16="http://schemas.microsoft.com/office/drawing/2014/main" id="{1F3D4268-806B-7E26-9ACA-51807005639E}"/>
              </a:ext>
            </a:extLst>
          </p:cNvPr>
          <p:cNvSpPr txBox="1">
            <a:spLocks/>
          </p:cNvSpPr>
          <p:nvPr/>
        </p:nvSpPr>
        <p:spPr>
          <a:xfrm>
            <a:off x="645043" y="1519391"/>
            <a:ext cx="11546957" cy="90786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r>
              <a:rPr lang="en-US" altLang="zh-CN" sz="1800" b="0" i="0" err="1">
                <a:solidFill>
                  <a:srgbClr val="111111"/>
                </a:solidFill>
                <a:effectLst/>
                <a:latin typeface="+mn-ea"/>
              </a:rPr>
              <a:t>after_script</a:t>
            </a:r>
            <a:r>
              <a:rPr lang="zh-CN" altLang="en-US" sz="1800" b="0" i="0">
                <a:solidFill>
                  <a:srgbClr val="111111"/>
                </a:solidFill>
                <a:effectLst/>
                <a:latin typeface="+mn-ea"/>
              </a:rPr>
              <a:t>：在所有阶段完成后执行的命令，适合用于收集额外的信息或统计数据。</a:t>
            </a:r>
          </a:p>
        </p:txBody>
      </p:sp>
      <p:sp>
        <p:nvSpPr>
          <p:cNvPr id="11" name="文本框 10">
            <a:extLst>
              <a:ext uri="{FF2B5EF4-FFF2-40B4-BE49-F238E27FC236}">
                <a16:creationId xmlns:a16="http://schemas.microsoft.com/office/drawing/2014/main" id="{D53F3CE0-7631-B277-0918-9961B3F84041}"/>
              </a:ext>
            </a:extLst>
          </p:cNvPr>
          <p:cNvSpPr txBox="1"/>
          <p:nvPr/>
        </p:nvSpPr>
        <p:spPr>
          <a:xfrm>
            <a:off x="5734493" y="3317358"/>
            <a:ext cx="0" cy="0"/>
          </a:xfrm>
          <a:prstGeom prst="rect">
            <a:avLst/>
          </a:prstGeom>
          <a:noFill/>
        </p:spPr>
        <p:txBody>
          <a:bodyPr wrap="none" lIns="0" tIns="0" rIns="0" bIns="0" rtlCol="0" anchor="ctr">
            <a:normAutofit fontScale="25000" lnSpcReduction="20000"/>
          </a:bodyPr>
          <a:lstStyle/>
          <a:p>
            <a:pPr algn="l">
              <a:lnSpc>
                <a:spcPct val="125000"/>
              </a:lnSpc>
              <a:spcAft>
                <a:spcPts val="500"/>
              </a:spcAft>
            </a:pPr>
            <a:endParaRPr kumimoji="1" lang="zh-CN" altLang="en-US"/>
          </a:p>
        </p:txBody>
      </p:sp>
      <p:sp>
        <p:nvSpPr>
          <p:cNvPr id="12" name="文本框 11">
            <a:extLst>
              <a:ext uri="{FF2B5EF4-FFF2-40B4-BE49-F238E27FC236}">
                <a16:creationId xmlns:a16="http://schemas.microsoft.com/office/drawing/2014/main" id="{08F0139C-0527-9E01-0330-B9E3112FA1CD}"/>
              </a:ext>
            </a:extLst>
          </p:cNvPr>
          <p:cNvSpPr txBox="1"/>
          <p:nvPr/>
        </p:nvSpPr>
        <p:spPr>
          <a:xfrm>
            <a:off x="1123906" y="2123973"/>
            <a:ext cx="9940333" cy="646331"/>
          </a:xfrm>
          <a:prstGeom prst="rect">
            <a:avLst/>
          </a:prstGeom>
          <a:noFill/>
        </p:spPr>
        <p:txBody>
          <a:bodyPr wrap="square">
            <a:spAutoFit/>
          </a:bodyPr>
          <a:lstStyle/>
          <a:p>
            <a:r>
              <a:rPr lang="en-US" altLang="zh-CN" err="1">
                <a:latin typeface="+mn-ea"/>
              </a:rPr>
              <a:t>after_script</a:t>
            </a:r>
            <a:r>
              <a:rPr lang="zh-CN" altLang="en-US">
                <a:latin typeface="+mn-ea"/>
              </a:rPr>
              <a:t>可以执行任何你想在所有阶段完成后执行的命令，比如收集额外的信息或统计数据。例如，如果你想查看一个覆盖率日志，你可以这样写：</a:t>
            </a:r>
          </a:p>
        </p:txBody>
      </p:sp>
      <p:sp>
        <p:nvSpPr>
          <p:cNvPr id="7" name="Rectangle 1">
            <a:extLst>
              <a:ext uri="{FF2B5EF4-FFF2-40B4-BE49-F238E27FC236}">
                <a16:creationId xmlns:a16="http://schemas.microsoft.com/office/drawing/2014/main" id="{C918BE08-E927-D496-4863-B365D17EA2C2}"/>
              </a:ext>
            </a:extLst>
          </p:cNvPr>
          <p:cNvSpPr>
            <a:spLocks noChangeArrowheads="1"/>
          </p:cNvSpPr>
          <p:nvPr/>
        </p:nvSpPr>
        <p:spPr bwMode="auto">
          <a:xfrm>
            <a:off x="2638381" y="3801322"/>
            <a:ext cx="6331029" cy="830997"/>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rgbClr val="CC7832"/>
                </a:solidFill>
                <a:effectLst/>
                <a:latin typeface="JetBrains Mono" panose="02000009000000000000" pitchFamily="49" charset="0"/>
                <a:cs typeface="JetBrains Mono" panose="02000009000000000000" pitchFamily="49" charset="0"/>
              </a:rPr>
              <a:t>after_script</a:t>
            </a: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a:t>
            </a:r>
            <a:b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br>
            <a:r>
              <a:rPr kumimoji="0" lang="zh-CN" altLang="zh-CN" sz="2400" b="0" i="0" u="none" strike="noStrike" cap="none" normalizeH="0" baseline="0" dirty="0">
                <a:ln>
                  <a:noFill/>
                </a:ln>
                <a:solidFill>
                  <a:srgbClr val="A9B7C6"/>
                </a:solidFill>
                <a:effectLst/>
                <a:latin typeface="JetBrains Mono" panose="02000009000000000000" pitchFamily="49" charset="0"/>
                <a:cs typeface="JetBrains Mono" panose="02000009000000000000" pitchFamily="49" charset="0"/>
              </a:rPr>
              <a:t>  - cat logs/coverage.log </a:t>
            </a:r>
            <a:r>
              <a:rPr kumimoji="0" lang="zh-CN" altLang="zh-CN" sz="2400" b="0" i="1" u="none" strike="noStrike" cap="none" normalizeH="0" baseline="0" dirty="0">
                <a:ln>
                  <a:noFill/>
                </a:ln>
                <a:solidFill>
                  <a:srgbClr val="629755"/>
                </a:solidFill>
                <a:effectLst/>
                <a:latin typeface="JetBrains Mono" panose="02000009000000000000" pitchFamily="49" charset="0"/>
                <a:cs typeface="JetBrains Mono" panose="02000009000000000000" pitchFamily="49" charset="0"/>
              </a:rPr>
              <a:t># </a:t>
            </a:r>
            <a:r>
              <a:rPr kumimoji="0" lang="zh-CN" altLang="zh-CN" sz="2400" b="0" i="1" u="none" strike="noStrike" cap="none" normalizeH="0" baseline="0" dirty="0">
                <a:ln>
                  <a:noFill/>
                </a:ln>
                <a:solidFill>
                  <a:srgbClr val="629755"/>
                </a:solidFill>
                <a:effectLst/>
                <a:latin typeface="宋体" panose="02010600030101010101" pitchFamily="2" charset="-122"/>
                <a:ea typeface="宋体" panose="02010600030101010101" pitchFamily="2" charset="-122"/>
                <a:cs typeface="JetBrains Mono" panose="02000009000000000000" pitchFamily="49" charset="0"/>
              </a:rPr>
              <a:t>查看一个覆盖率日志 </a:t>
            </a:r>
            <a:endParaRPr kumimoji="0" lang="zh-CN" altLang="zh-CN" sz="2400" b="0" i="0" u="none" strike="noStrike" cap="none" normalizeH="0" baseline="0" dirty="0">
              <a:ln>
                <a:noFill/>
              </a:ln>
              <a:solidFill>
                <a:schemeClr val="tx1"/>
              </a:solidFill>
              <a:effectLst/>
              <a:latin typeface="Arial" panose="020B0604020202020204" pitchFamily="34" charset="0"/>
            </a:endParaRPr>
          </a:p>
        </p:txBody>
      </p:sp>
      <p:sp>
        <p:nvSpPr>
          <p:cNvPr id="8" name="文本框 7">
            <a:extLst>
              <a:ext uri="{FF2B5EF4-FFF2-40B4-BE49-F238E27FC236}">
                <a16:creationId xmlns:a16="http://schemas.microsoft.com/office/drawing/2014/main" id="{4731FBB4-3DAD-C8C6-460E-FEB8FCEA2B3D}"/>
              </a:ext>
            </a:extLst>
          </p:cNvPr>
          <p:cNvSpPr txBox="1"/>
          <p:nvPr/>
        </p:nvSpPr>
        <p:spPr>
          <a:xfrm>
            <a:off x="718216" y="874354"/>
            <a:ext cx="6939883"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en-US" altLang="zh-CN" dirty="0"/>
              <a:t>Travis CI</a:t>
            </a:r>
            <a:r>
              <a:rPr lang="zh-CN" altLang="en-US" dirty="0"/>
              <a:t>中持续集成任务生命周期</a:t>
            </a:r>
          </a:p>
        </p:txBody>
      </p:sp>
    </p:spTree>
    <p:extLst>
      <p:ext uri="{BB962C8B-B14F-4D97-AF65-F5344CB8AC3E}">
        <p14:creationId xmlns:p14="http://schemas.microsoft.com/office/powerpoint/2010/main" val="27760778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68A3EA-FFF7-F593-9FA7-BB39D3E3222F}"/>
              </a:ext>
            </a:extLst>
          </p:cNvPr>
          <p:cNvSpPr>
            <a:spLocks noGrp="1"/>
          </p:cNvSpPr>
          <p:nvPr>
            <p:ph type="title"/>
          </p:nvPr>
        </p:nvSpPr>
        <p:spPr/>
        <p:txBody>
          <a:bodyPr/>
          <a:lstStyle/>
          <a:p>
            <a:r>
              <a:rPr lang="en-US" altLang="zh-CN"/>
              <a:t>03 </a:t>
            </a:r>
            <a:r>
              <a:rPr lang="en-US" altLang="zh-CN" sz="2800"/>
              <a:t>CI/CD</a:t>
            </a:r>
            <a:r>
              <a:rPr lang="zh-CN" altLang="en-US" sz="2800"/>
              <a:t>工具简介</a:t>
            </a:r>
            <a:endParaRPr kumimoji="1" lang="zh-CN" altLang="en-US"/>
          </a:p>
        </p:txBody>
      </p:sp>
      <p:sp>
        <p:nvSpPr>
          <p:cNvPr id="3" name="灯片编号占位符 2">
            <a:extLst>
              <a:ext uri="{FF2B5EF4-FFF2-40B4-BE49-F238E27FC236}">
                <a16:creationId xmlns:a16="http://schemas.microsoft.com/office/drawing/2014/main" id="{940AA628-8120-F109-B869-E8671F3D72B8}"/>
              </a:ext>
            </a:extLst>
          </p:cNvPr>
          <p:cNvSpPr>
            <a:spLocks noGrp="1"/>
          </p:cNvSpPr>
          <p:nvPr>
            <p:ph type="sldNum" sz="quarter" idx="12"/>
          </p:nvPr>
        </p:nvSpPr>
        <p:spPr/>
        <p:txBody>
          <a:bodyPr/>
          <a:lstStyle/>
          <a:p>
            <a:fld id="{1AAC388E-FA9E-4A2C-95EA-1F6B3A07935A}" type="slidenum">
              <a:rPr lang="zh-CN" altLang="en-US" smtClean="0"/>
              <a:pPr/>
              <a:t>109</a:t>
            </a:fld>
            <a:endParaRPr lang="zh-CN" altLang="en-US"/>
          </a:p>
        </p:txBody>
      </p:sp>
      <p:sp>
        <p:nvSpPr>
          <p:cNvPr id="4" name="文本框 3">
            <a:extLst>
              <a:ext uri="{FF2B5EF4-FFF2-40B4-BE49-F238E27FC236}">
                <a16:creationId xmlns:a16="http://schemas.microsoft.com/office/drawing/2014/main" id="{BA9D347B-A333-F47E-DAC1-B3F417A6AD0E}"/>
              </a:ext>
            </a:extLst>
          </p:cNvPr>
          <p:cNvSpPr txBox="1"/>
          <p:nvPr/>
        </p:nvSpPr>
        <p:spPr>
          <a:xfrm>
            <a:off x="718217" y="874354"/>
            <a:ext cx="5291965"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zh-CN" altLang="en-US" dirty="0"/>
              <a:t>使用</a:t>
            </a:r>
            <a:r>
              <a:rPr lang="en-US" altLang="zh-CN" dirty="0"/>
              <a:t>GitHub CI</a:t>
            </a:r>
            <a:r>
              <a:rPr lang="zh-CN" altLang="en-US" dirty="0"/>
              <a:t>实现持续集成</a:t>
            </a:r>
          </a:p>
        </p:txBody>
      </p:sp>
      <p:sp>
        <p:nvSpPr>
          <p:cNvPr id="8" name="文本框 7">
            <a:extLst>
              <a:ext uri="{FF2B5EF4-FFF2-40B4-BE49-F238E27FC236}">
                <a16:creationId xmlns:a16="http://schemas.microsoft.com/office/drawing/2014/main" id="{C4D3C348-8545-BEF8-B9CD-F2715CF8ED86}"/>
              </a:ext>
            </a:extLst>
          </p:cNvPr>
          <p:cNvSpPr txBox="1"/>
          <p:nvPr/>
        </p:nvSpPr>
        <p:spPr>
          <a:xfrm>
            <a:off x="2654300" y="1817005"/>
            <a:ext cx="6883400" cy="871383"/>
          </a:xfrm>
          <a:prstGeom prst="rect">
            <a:avLst/>
          </a:prstGeom>
          <a:noFill/>
        </p:spPr>
        <p:txBody>
          <a:bodyPr wrap="none" lIns="0" tIns="0" rIns="0" bIns="0" rtlCol="0" anchor="ctr">
            <a:normAutofit/>
          </a:bodyPr>
          <a:lstStyle/>
          <a:p>
            <a:pPr marL="285750" indent="-285750" algn="l">
              <a:lnSpc>
                <a:spcPct val="125000"/>
              </a:lnSpc>
              <a:spcAft>
                <a:spcPts val="500"/>
              </a:spcAft>
              <a:buFont typeface="Arial" panose="020B0604020202020204" pitchFamily="34" charset="0"/>
              <a:buChar char="•"/>
            </a:pPr>
            <a:r>
              <a:rPr kumimoji="1" lang="en-US" altLang="zh-CN">
                <a:latin typeface="Times New Roman" panose="02020603050405020304" pitchFamily="18" charset="0"/>
                <a:cs typeface="Times New Roman" panose="02020603050405020304" pitchFamily="18" charset="0"/>
              </a:rPr>
              <a:t>Fork </a:t>
            </a:r>
            <a:r>
              <a:rPr kumimoji="1" lang="zh-CN" altLang="en-US">
                <a:latin typeface="Times New Roman" panose="02020603050405020304" pitchFamily="18" charset="0"/>
                <a:cs typeface="Times New Roman" panose="02020603050405020304" pitchFamily="18" charset="0"/>
              </a:rPr>
              <a:t>一个</a:t>
            </a:r>
            <a:r>
              <a:rPr kumimoji="1" lang="en-US" altLang="zh-CN">
                <a:latin typeface="Times New Roman" panose="02020603050405020304" pitchFamily="18" charset="0"/>
                <a:cs typeface="Times New Roman" panose="02020603050405020304" pitchFamily="18" charset="0"/>
              </a:rPr>
              <a:t>GitHub</a:t>
            </a:r>
            <a:r>
              <a:rPr kumimoji="1" lang="zh-CN" altLang="en-US">
                <a:latin typeface="Times New Roman" panose="02020603050405020304" pitchFamily="18" charset="0"/>
                <a:cs typeface="Times New Roman" panose="02020603050405020304" pitchFamily="18" charset="0"/>
              </a:rPr>
              <a:t>项目或者自己新建一个到自己的仓库中</a:t>
            </a:r>
          </a:p>
        </p:txBody>
      </p:sp>
      <p:pic>
        <p:nvPicPr>
          <p:cNvPr id="6" name="图片 5">
            <a:extLst>
              <a:ext uri="{FF2B5EF4-FFF2-40B4-BE49-F238E27FC236}">
                <a16:creationId xmlns:a16="http://schemas.microsoft.com/office/drawing/2014/main" id="{73CA5674-F547-F60F-96DC-167201550DFA}"/>
              </a:ext>
            </a:extLst>
          </p:cNvPr>
          <p:cNvPicPr>
            <a:picLocks noChangeAspect="1"/>
          </p:cNvPicPr>
          <p:nvPr/>
        </p:nvPicPr>
        <p:blipFill>
          <a:blip r:embed="rId2"/>
          <a:stretch>
            <a:fillRect/>
          </a:stretch>
        </p:blipFill>
        <p:spPr>
          <a:xfrm>
            <a:off x="2198083" y="3005358"/>
            <a:ext cx="7795833" cy="3172007"/>
          </a:xfrm>
          <a:prstGeom prst="rect">
            <a:avLst/>
          </a:prstGeom>
        </p:spPr>
      </p:pic>
    </p:spTree>
    <p:extLst>
      <p:ext uri="{BB962C8B-B14F-4D97-AF65-F5344CB8AC3E}">
        <p14:creationId xmlns:p14="http://schemas.microsoft.com/office/powerpoint/2010/main" val="11803708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68A3EA-FFF7-F593-9FA7-BB39D3E3222F}"/>
              </a:ext>
            </a:extLst>
          </p:cNvPr>
          <p:cNvSpPr>
            <a:spLocks noGrp="1"/>
          </p:cNvSpPr>
          <p:nvPr>
            <p:ph type="title"/>
          </p:nvPr>
        </p:nvSpPr>
        <p:spPr/>
        <p:txBody>
          <a:bodyPr/>
          <a:lstStyle/>
          <a:p>
            <a:r>
              <a:rPr lang="en-US" altLang="zh-CN"/>
              <a:t>03 </a:t>
            </a:r>
            <a:r>
              <a:rPr lang="en-US" altLang="zh-CN" sz="2800"/>
              <a:t>CI/CD</a:t>
            </a:r>
            <a:r>
              <a:rPr lang="zh-CN" altLang="en-US" sz="2800"/>
              <a:t>工具简介</a:t>
            </a:r>
            <a:endParaRPr kumimoji="1" lang="zh-CN" altLang="en-US"/>
          </a:p>
        </p:txBody>
      </p:sp>
      <p:sp>
        <p:nvSpPr>
          <p:cNvPr id="3" name="灯片编号占位符 2">
            <a:extLst>
              <a:ext uri="{FF2B5EF4-FFF2-40B4-BE49-F238E27FC236}">
                <a16:creationId xmlns:a16="http://schemas.microsoft.com/office/drawing/2014/main" id="{940AA628-8120-F109-B869-E8671F3D72B8}"/>
              </a:ext>
            </a:extLst>
          </p:cNvPr>
          <p:cNvSpPr>
            <a:spLocks noGrp="1"/>
          </p:cNvSpPr>
          <p:nvPr>
            <p:ph type="sldNum" sz="quarter" idx="12"/>
          </p:nvPr>
        </p:nvSpPr>
        <p:spPr/>
        <p:txBody>
          <a:bodyPr/>
          <a:lstStyle/>
          <a:p>
            <a:fld id="{1AAC388E-FA9E-4A2C-95EA-1F6B3A07935A}" type="slidenum">
              <a:rPr lang="zh-CN" altLang="en-US" smtClean="0"/>
              <a:pPr/>
              <a:t>110</a:t>
            </a:fld>
            <a:endParaRPr lang="zh-CN" altLang="en-US"/>
          </a:p>
        </p:txBody>
      </p:sp>
      <p:sp>
        <p:nvSpPr>
          <p:cNvPr id="4" name="文本框 3">
            <a:extLst>
              <a:ext uri="{FF2B5EF4-FFF2-40B4-BE49-F238E27FC236}">
                <a16:creationId xmlns:a16="http://schemas.microsoft.com/office/drawing/2014/main" id="{BA9D347B-A333-F47E-DAC1-B3F417A6AD0E}"/>
              </a:ext>
            </a:extLst>
          </p:cNvPr>
          <p:cNvSpPr txBox="1"/>
          <p:nvPr/>
        </p:nvSpPr>
        <p:spPr>
          <a:xfrm>
            <a:off x="718218" y="874354"/>
            <a:ext cx="5824016"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zh-CN" altLang="en-US" dirty="0"/>
              <a:t>使用</a:t>
            </a:r>
            <a:r>
              <a:rPr lang="en-US" altLang="zh-CN" dirty="0"/>
              <a:t>GitHub CI</a:t>
            </a:r>
            <a:r>
              <a:rPr lang="zh-CN" altLang="en-US" dirty="0"/>
              <a:t>实现持续集成</a:t>
            </a:r>
          </a:p>
        </p:txBody>
      </p:sp>
      <p:sp>
        <p:nvSpPr>
          <p:cNvPr id="8" name="文本框 7">
            <a:extLst>
              <a:ext uri="{FF2B5EF4-FFF2-40B4-BE49-F238E27FC236}">
                <a16:creationId xmlns:a16="http://schemas.microsoft.com/office/drawing/2014/main" id="{C4D3C348-8545-BEF8-B9CD-F2715CF8ED86}"/>
              </a:ext>
            </a:extLst>
          </p:cNvPr>
          <p:cNvSpPr txBox="1"/>
          <p:nvPr/>
        </p:nvSpPr>
        <p:spPr>
          <a:xfrm>
            <a:off x="718218" y="4022143"/>
            <a:ext cx="4986020" cy="1703954"/>
          </a:xfrm>
          <a:prstGeom prst="rect">
            <a:avLst/>
          </a:prstGeom>
          <a:noFill/>
        </p:spPr>
        <p:txBody>
          <a:bodyPr wrap="none" lIns="0" tIns="0" rIns="0" bIns="0" rtlCol="0" anchor="ctr">
            <a:normAutofit/>
          </a:bodyPr>
          <a:lstStyle/>
          <a:p>
            <a:pPr marL="285750" indent="-285750" algn="l">
              <a:lnSpc>
                <a:spcPct val="125000"/>
              </a:lnSpc>
              <a:spcAft>
                <a:spcPts val="500"/>
              </a:spcAft>
              <a:buFont typeface="Arial" panose="020B0604020202020204" pitchFamily="34" charset="0"/>
              <a:buChar char="•"/>
            </a:pPr>
            <a:r>
              <a:rPr kumimoji="1" lang="zh-CN" altLang="en-US" dirty="0">
                <a:latin typeface="Times New Roman" panose="02020603050405020304" pitchFamily="18" charset="0"/>
                <a:cs typeface="Times New Roman" panose="02020603050405020304" pitchFamily="18" charset="0"/>
              </a:rPr>
              <a:t>选择</a:t>
            </a:r>
            <a:r>
              <a:rPr kumimoji="1" lang="en-US" altLang="zh-CN" dirty="0">
                <a:latin typeface="Times New Roman" panose="02020603050405020304" pitchFamily="18" charset="0"/>
                <a:cs typeface="Times New Roman" panose="02020603050405020304" pitchFamily="18" charset="0"/>
              </a:rPr>
              <a:t>Actions</a:t>
            </a:r>
            <a:r>
              <a:rPr kumimoji="1" lang="zh-CN" altLang="en-US" dirty="0">
                <a:latin typeface="Times New Roman" panose="02020603050405020304" pitchFamily="18" charset="0"/>
                <a:cs typeface="Times New Roman" panose="02020603050405020304" pitchFamily="18" charset="0"/>
              </a:rPr>
              <a:t>，点击</a:t>
            </a:r>
            <a:r>
              <a:rPr kumimoji="1" lang="en-US" altLang="zh-CN" dirty="0">
                <a:latin typeface="Times New Roman" panose="02020603050405020304" pitchFamily="18" charset="0"/>
                <a:cs typeface="Times New Roman" panose="02020603050405020304" pitchFamily="18" charset="0"/>
              </a:rPr>
              <a:t>New workflow</a:t>
            </a:r>
            <a:r>
              <a:rPr kumimoji="1" lang="zh-CN" altLang="en-US" dirty="0">
                <a:latin typeface="Times New Roman" panose="02020603050405020304" pitchFamily="18" charset="0"/>
                <a:cs typeface="Times New Roman" panose="02020603050405020304" pitchFamily="18" charset="0"/>
              </a:rPr>
              <a:t>新建工作流</a:t>
            </a:r>
            <a:endParaRPr kumimoji="1" lang="en-US" altLang="zh-CN" dirty="0">
              <a:latin typeface="Times New Roman" panose="02020603050405020304" pitchFamily="18" charset="0"/>
              <a:cs typeface="Times New Roman" panose="02020603050405020304" pitchFamily="18" charset="0"/>
            </a:endParaRPr>
          </a:p>
          <a:p>
            <a:pPr marL="285750" indent="-285750" algn="l">
              <a:lnSpc>
                <a:spcPct val="125000"/>
              </a:lnSpc>
              <a:spcAft>
                <a:spcPts val="500"/>
              </a:spcAft>
              <a:buFont typeface="Arial" panose="020B0604020202020204" pitchFamily="34" charset="0"/>
              <a:buChar char="•"/>
            </a:pPr>
            <a:r>
              <a:rPr kumimoji="1" lang="zh-CN" altLang="en-US" dirty="0">
                <a:latin typeface="Times New Roman" panose="02020603050405020304" pitchFamily="18" charset="0"/>
                <a:cs typeface="Times New Roman" panose="02020603050405020304" pitchFamily="18" charset="0"/>
              </a:rPr>
              <a:t>根据自己项目的需要选择对应的工作流</a:t>
            </a:r>
          </a:p>
        </p:txBody>
      </p:sp>
      <p:pic>
        <p:nvPicPr>
          <p:cNvPr id="7" name="图片 6">
            <a:extLst>
              <a:ext uri="{FF2B5EF4-FFF2-40B4-BE49-F238E27FC236}">
                <a16:creationId xmlns:a16="http://schemas.microsoft.com/office/drawing/2014/main" id="{5F5ADE75-BD86-E761-7221-77E92E7D0BFE}"/>
              </a:ext>
            </a:extLst>
          </p:cNvPr>
          <p:cNvPicPr>
            <a:picLocks noChangeAspect="1"/>
          </p:cNvPicPr>
          <p:nvPr/>
        </p:nvPicPr>
        <p:blipFill rotWithShape="1">
          <a:blip r:embed="rId2"/>
          <a:srcRect t="34372"/>
          <a:stretch/>
        </p:blipFill>
        <p:spPr>
          <a:xfrm>
            <a:off x="765674" y="1981703"/>
            <a:ext cx="3611017" cy="1630230"/>
          </a:xfrm>
          <a:prstGeom prst="rect">
            <a:avLst/>
          </a:prstGeom>
        </p:spPr>
      </p:pic>
      <p:pic>
        <p:nvPicPr>
          <p:cNvPr id="10" name="图片 9">
            <a:extLst>
              <a:ext uri="{FF2B5EF4-FFF2-40B4-BE49-F238E27FC236}">
                <a16:creationId xmlns:a16="http://schemas.microsoft.com/office/drawing/2014/main" id="{946FE37C-BC42-06B1-2F34-012CD8897C48}"/>
              </a:ext>
            </a:extLst>
          </p:cNvPr>
          <p:cNvPicPr>
            <a:picLocks noChangeAspect="1"/>
          </p:cNvPicPr>
          <p:nvPr/>
        </p:nvPicPr>
        <p:blipFill>
          <a:blip r:embed="rId3"/>
          <a:stretch>
            <a:fillRect/>
          </a:stretch>
        </p:blipFill>
        <p:spPr>
          <a:xfrm>
            <a:off x="5704237" y="1977657"/>
            <a:ext cx="5996531" cy="3535376"/>
          </a:xfrm>
          <a:prstGeom prst="rect">
            <a:avLst/>
          </a:prstGeom>
        </p:spPr>
      </p:pic>
    </p:spTree>
    <p:extLst>
      <p:ext uri="{BB962C8B-B14F-4D97-AF65-F5344CB8AC3E}">
        <p14:creationId xmlns:p14="http://schemas.microsoft.com/office/powerpoint/2010/main" val="38310689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68A3EA-FFF7-F593-9FA7-BB39D3E3222F}"/>
              </a:ext>
            </a:extLst>
          </p:cNvPr>
          <p:cNvSpPr>
            <a:spLocks noGrp="1"/>
          </p:cNvSpPr>
          <p:nvPr>
            <p:ph type="title"/>
          </p:nvPr>
        </p:nvSpPr>
        <p:spPr/>
        <p:txBody>
          <a:bodyPr/>
          <a:lstStyle/>
          <a:p>
            <a:r>
              <a:rPr lang="en-US" altLang="zh-CN"/>
              <a:t>03 </a:t>
            </a:r>
            <a:r>
              <a:rPr lang="en-US" altLang="zh-CN" sz="2800"/>
              <a:t>CI/CD</a:t>
            </a:r>
            <a:r>
              <a:rPr lang="zh-CN" altLang="en-US" sz="2800"/>
              <a:t>工具简介</a:t>
            </a:r>
            <a:endParaRPr kumimoji="1" lang="zh-CN" altLang="en-US"/>
          </a:p>
        </p:txBody>
      </p:sp>
      <p:sp>
        <p:nvSpPr>
          <p:cNvPr id="3" name="灯片编号占位符 2">
            <a:extLst>
              <a:ext uri="{FF2B5EF4-FFF2-40B4-BE49-F238E27FC236}">
                <a16:creationId xmlns:a16="http://schemas.microsoft.com/office/drawing/2014/main" id="{940AA628-8120-F109-B869-E8671F3D72B8}"/>
              </a:ext>
            </a:extLst>
          </p:cNvPr>
          <p:cNvSpPr>
            <a:spLocks noGrp="1"/>
          </p:cNvSpPr>
          <p:nvPr>
            <p:ph type="sldNum" sz="quarter" idx="12"/>
          </p:nvPr>
        </p:nvSpPr>
        <p:spPr/>
        <p:txBody>
          <a:bodyPr/>
          <a:lstStyle/>
          <a:p>
            <a:fld id="{1AAC388E-FA9E-4A2C-95EA-1F6B3A07935A}" type="slidenum">
              <a:rPr lang="zh-CN" altLang="en-US" smtClean="0"/>
              <a:pPr/>
              <a:t>111</a:t>
            </a:fld>
            <a:endParaRPr lang="zh-CN" altLang="en-US"/>
          </a:p>
        </p:txBody>
      </p:sp>
      <p:sp>
        <p:nvSpPr>
          <p:cNvPr id="4" name="文本框 3">
            <a:extLst>
              <a:ext uri="{FF2B5EF4-FFF2-40B4-BE49-F238E27FC236}">
                <a16:creationId xmlns:a16="http://schemas.microsoft.com/office/drawing/2014/main" id="{BA9D347B-A333-F47E-DAC1-B3F417A6AD0E}"/>
              </a:ext>
            </a:extLst>
          </p:cNvPr>
          <p:cNvSpPr txBox="1"/>
          <p:nvPr/>
        </p:nvSpPr>
        <p:spPr>
          <a:xfrm>
            <a:off x="718217" y="874354"/>
            <a:ext cx="4901347"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zh-CN" altLang="en-US" dirty="0"/>
              <a:t>使用</a:t>
            </a:r>
            <a:r>
              <a:rPr lang="en-US" altLang="zh-CN" dirty="0"/>
              <a:t>GitHub CI</a:t>
            </a:r>
            <a:r>
              <a:rPr lang="zh-CN" altLang="en-US" dirty="0"/>
              <a:t>实现持续集成</a:t>
            </a:r>
          </a:p>
        </p:txBody>
      </p:sp>
      <p:sp>
        <p:nvSpPr>
          <p:cNvPr id="8" name="文本框 7">
            <a:extLst>
              <a:ext uri="{FF2B5EF4-FFF2-40B4-BE49-F238E27FC236}">
                <a16:creationId xmlns:a16="http://schemas.microsoft.com/office/drawing/2014/main" id="{C4D3C348-8545-BEF8-B9CD-F2715CF8ED86}"/>
              </a:ext>
            </a:extLst>
          </p:cNvPr>
          <p:cNvSpPr txBox="1"/>
          <p:nvPr/>
        </p:nvSpPr>
        <p:spPr>
          <a:xfrm>
            <a:off x="3463754" y="613275"/>
            <a:ext cx="4986020" cy="2717800"/>
          </a:xfrm>
          <a:prstGeom prst="rect">
            <a:avLst/>
          </a:prstGeom>
          <a:noFill/>
        </p:spPr>
        <p:txBody>
          <a:bodyPr wrap="none" lIns="0" tIns="0" rIns="0" bIns="0" rtlCol="0" anchor="ctr">
            <a:normAutofit/>
          </a:bodyPr>
          <a:lstStyle/>
          <a:p>
            <a:pPr marL="285750" indent="-285750" algn="l">
              <a:lnSpc>
                <a:spcPct val="125000"/>
              </a:lnSpc>
              <a:spcAft>
                <a:spcPts val="500"/>
              </a:spcAft>
              <a:buFont typeface="Arial" panose="020B0604020202020204" pitchFamily="34" charset="0"/>
              <a:buChar char="•"/>
            </a:pPr>
            <a:r>
              <a:rPr kumimoji="1" lang="zh-CN" altLang="en-US">
                <a:latin typeface="Times New Roman" panose="02020603050405020304" pitchFamily="18" charset="0"/>
                <a:cs typeface="Times New Roman" panose="02020603050405020304" pitchFamily="18" charset="0"/>
              </a:rPr>
              <a:t>编辑</a:t>
            </a:r>
            <a:r>
              <a:rPr kumimoji="1" lang="en-US" altLang="zh-CN">
                <a:latin typeface="Times New Roman" panose="02020603050405020304" pitchFamily="18" charset="0"/>
                <a:cs typeface="Times New Roman" panose="02020603050405020304" pitchFamily="18" charset="0"/>
              </a:rPr>
              <a:t>workflow</a:t>
            </a:r>
            <a:r>
              <a:rPr kumimoji="1" lang="zh-CN" altLang="en-US">
                <a:latin typeface="Times New Roman" panose="02020603050405020304" pitchFamily="18" charset="0"/>
                <a:cs typeface="Times New Roman" panose="02020603050405020304" pitchFamily="18" charset="0"/>
              </a:rPr>
              <a:t>脚本并点击右上角</a:t>
            </a:r>
            <a:r>
              <a:rPr kumimoji="1" lang="en-US" altLang="zh-CN">
                <a:latin typeface="Times New Roman" panose="02020603050405020304" pitchFamily="18" charset="0"/>
                <a:cs typeface="Times New Roman" panose="02020603050405020304" pitchFamily="18" charset="0"/>
              </a:rPr>
              <a:t>Commit changes</a:t>
            </a:r>
            <a:endParaRPr kumimoji="1" lang="zh-CN" altLang="en-US">
              <a:latin typeface="Times New Roman" panose="02020603050405020304" pitchFamily="18" charset="0"/>
              <a:cs typeface="Times New Roman" panose="02020603050405020304" pitchFamily="18" charset="0"/>
            </a:endParaRPr>
          </a:p>
        </p:txBody>
      </p:sp>
      <p:pic>
        <p:nvPicPr>
          <p:cNvPr id="6" name="图片 5">
            <a:extLst>
              <a:ext uri="{FF2B5EF4-FFF2-40B4-BE49-F238E27FC236}">
                <a16:creationId xmlns:a16="http://schemas.microsoft.com/office/drawing/2014/main" id="{0C97B625-3D6C-30B5-540B-5CF75FF6A2FF}"/>
              </a:ext>
            </a:extLst>
          </p:cNvPr>
          <p:cNvPicPr>
            <a:picLocks noChangeAspect="1"/>
          </p:cNvPicPr>
          <p:nvPr/>
        </p:nvPicPr>
        <p:blipFill>
          <a:blip r:embed="rId2"/>
          <a:stretch>
            <a:fillRect/>
          </a:stretch>
        </p:blipFill>
        <p:spPr>
          <a:xfrm>
            <a:off x="2727788" y="2338719"/>
            <a:ext cx="7387761" cy="4155616"/>
          </a:xfrm>
          <a:prstGeom prst="rect">
            <a:avLst/>
          </a:prstGeom>
        </p:spPr>
      </p:pic>
    </p:spTree>
    <p:extLst>
      <p:ext uri="{BB962C8B-B14F-4D97-AF65-F5344CB8AC3E}">
        <p14:creationId xmlns:p14="http://schemas.microsoft.com/office/powerpoint/2010/main" val="40950075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68A3EA-FFF7-F593-9FA7-BB39D3E3222F}"/>
              </a:ext>
            </a:extLst>
          </p:cNvPr>
          <p:cNvSpPr>
            <a:spLocks noGrp="1"/>
          </p:cNvSpPr>
          <p:nvPr>
            <p:ph type="title"/>
          </p:nvPr>
        </p:nvSpPr>
        <p:spPr/>
        <p:txBody>
          <a:bodyPr/>
          <a:lstStyle/>
          <a:p>
            <a:r>
              <a:rPr lang="en-US" altLang="zh-CN"/>
              <a:t>03 </a:t>
            </a:r>
            <a:r>
              <a:rPr lang="en-US" altLang="zh-CN" sz="2800"/>
              <a:t>CI/CD</a:t>
            </a:r>
            <a:r>
              <a:rPr lang="zh-CN" altLang="en-US" sz="2800"/>
              <a:t>工具简介</a:t>
            </a:r>
            <a:endParaRPr kumimoji="1" lang="zh-CN" altLang="en-US"/>
          </a:p>
        </p:txBody>
      </p:sp>
      <p:sp>
        <p:nvSpPr>
          <p:cNvPr id="3" name="灯片编号占位符 2">
            <a:extLst>
              <a:ext uri="{FF2B5EF4-FFF2-40B4-BE49-F238E27FC236}">
                <a16:creationId xmlns:a16="http://schemas.microsoft.com/office/drawing/2014/main" id="{940AA628-8120-F109-B869-E8671F3D72B8}"/>
              </a:ext>
            </a:extLst>
          </p:cNvPr>
          <p:cNvSpPr>
            <a:spLocks noGrp="1"/>
          </p:cNvSpPr>
          <p:nvPr>
            <p:ph type="sldNum" sz="quarter" idx="12"/>
          </p:nvPr>
        </p:nvSpPr>
        <p:spPr/>
        <p:txBody>
          <a:bodyPr/>
          <a:lstStyle/>
          <a:p>
            <a:fld id="{1AAC388E-FA9E-4A2C-95EA-1F6B3A07935A}" type="slidenum">
              <a:rPr lang="zh-CN" altLang="en-US" smtClean="0"/>
              <a:pPr/>
              <a:t>112</a:t>
            </a:fld>
            <a:endParaRPr lang="zh-CN" altLang="en-US"/>
          </a:p>
        </p:txBody>
      </p:sp>
      <p:sp>
        <p:nvSpPr>
          <p:cNvPr id="4" name="文本框 3">
            <a:extLst>
              <a:ext uri="{FF2B5EF4-FFF2-40B4-BE49-F238E27FC236}">
                <a16:creationId xmlns:a16="http://schemas.microsoft.com/office/drawing/2014/main" id="{BA9D347B-A333-F47E-DAC1-B3F417A6AD0E}"/>
              </a:ext>
            </a:extLst>
          </p:cNvPr>
          <p:cNvSpPr txBox="1"/>
          <p:nvPr/>
        </p:nvSpPr>
        <p:spPr>
          <a:xfrm>
            <a:off x="718218" y="874354"/>
            <a:ext cx="5132166"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zh-CN" altLang="en-US" dirty="0"/>
              <a:t>使用</a:t>
            </a:r>
            <a:r>
              <a:rPr lang="en-US" altLang="zh-CN" dirty="0"/>
              <a:t>GitHub CI</a:t>
            </a:r>
            <a:r>
              <a:rPr lang="zh-CN" altLang="en-US" dirty="0"/>
              <a:t>实现持续集成</a:t>
            </a:r>
          </a:p>
        </p:txBody>
      </p:sp>
      <p:sp>
        <p:nvSpPr>
          <p:cNvPr id="8" name="文本框 7">
            <a:extLst>
              <a:ext uri="{FF2B5EF4-FFF2-40B4-BE49-F238E27FC236}">
                <a16:creationId xmlns:a16="http://schemas.microsoft.com/office/drawing/2014/main" id="{C4D3C348-8545-BEF8-B9CD-F2715CF8ED86}"/>
              </a:ext>
            </a:extLst>
          </p:cNvPr>
          <p:cNvSpPr txBox="1"/>
          <p:nvPr/>
        </p:nvSpPr>
        <p:spPr>
          <a:xfrm>
            <a:off x="3463754" y="613275"/>
            <a:ext cx="4986020" cy="2717800"/>
          </a:xfrm>
          <a:prstGeom prst="rect">
            <a:avLst/>
          </a:prstGeom>
          <a:noFill/>
        </p:spPr>
        <p:txBody>
          <a:bodyPr wrap="none" lIns="0" tIns="0" rIns="0" bIns="0" rtlCol="0" anchor="ctr">
            <a:normAutofit/>
          </a:bodyPr>
          <a:lstStyle/>
          <a:p>
            <a:pPr marL="285750" indent="-285750" algn="l">
              <a:lnSpc>
                <a:spcPct val="125000"/>
              </a:lnSpc>
              <a:spcAft>
                <a:spcPts val="500"/>
              </a:spcAft>
              <a:buFont typeface="Arial" panose="020B0604020202020204" pitchFamily="34" charset="0"/>
              <a:buChar char="•"/>
            </a:pPr>
            <a:r>
              <a:rPr kumimoji="1" lang="zh-CN" altLang="en-US">
                <a:latin typeface="Times New Roman" panose="02020603050405020304" pitchFamily="18" charset="0"/>
                <a:cs typeface="Times New Roman" panose="02020603050405020304" pitchFamily="18" charset="0"/>
              </a:rPr>
              <a:t>编辑</a:t>
            </a:r>
            <a:r>
              <a:rPr kumimoji="1" lang="en-US" altLang="zh-CN">
                <a:latin typeface="Times New Roman" panose="02020603050405020304" pitchFamily="18" charset="0"/>
                <a:cs typeface="Times New Roman" panose="02020603050405020304" pitchFamily="18" charset="0"/>
              </a:rPr>
              <a:t>workflow</a:t>
            </a:r>
            <a:r>
              <a:rPr kumimoji="1" lang="zh-CN" altLang="en-US">
                <a:latin typeface="Times New Roman" panose="02020603050405020304" pitchFamily="18" charset="0"/>
                <a:cs typeface="Times New Roman" panose="02020603050405020304" pitchFamily="18" charset="0"/>
              </a:rPr>
              <a:t>脚本并点击右上角</a:t>
            </a:r>
            <a:r>
              <a:rPr kumimoji="1" lang="en-US" altLang="zh-CN">
                <a:latin typeface="Times New Roman" panose="02020603050405020304" pitchFamily="18" charset="0"/>
                <a:cs typeface="Times New Roman" panose="02020603050405020304" pitchFamily="18" charset="0"/>
              </a:rPr>
              <a:t>Commit changes</a:t>
            </a:r>
            <a:endParaRPr kumimoji="1" lang="zh-CN" altLang="en-US">
              <a:latin typeface="Times New Roman" panose="02020603050405020304" pitchFamily="18" charset="0"/>
              <a:cs typeface="Times New Roman" panose="02020603050405020304" pitchFamily="18" charset="0"/>
            </a:endParaRPr>
          </a:p>
        </p:txBody>
      </p:sp>
      <p:pic>
        <p:nvPicPr>
          <p:cNvPr id="5" name="图片 4">
            <a:extLst>
              <a:ext uri="{FF2B5EF4-FFF2-40B4-BE49-F238E27FC236}">
                <a16:creationId xmlns:a16="http://schemas.microsoft.com/office/drawing/2014/main" id="{FB4916D4-299E-FFE2-11F9-D6E42ED207AE}"/>
              </a:ext>
            </a:extLst>
          </p:cNvPr>
          <p:cNvPicPr>
            <a:picLocks noChangeAspect="1"/>
          </p:cNvPicPr>
          <p:nvPr/>
        </p:nvPicPr>
        <p:blipFill>
          <a:blip r:embed="rId2"/>
          <a:stretch>
            <a:fillRect/>
          </a:stretch>
        </p:blipFill>
        <p:spPr>
          <a:xfrm>
            <a:off x="2727788" y="2338719"/>
            <a:ext cx="7387761" cy="4155616"/>
          </a:xfrm>
          <a:prstGeom prst="rect">
            <a:avLst/>
          </a:prstGeom>
        </p:spPr>
      </p:pic>
    </p:spTree>
    <p:extLst>
      <p:ext uri="{BB962C8B-B14F-4D97-AF65-F5344CB8AC3E}">
        <p14:creationId xmlns:p14="http://schemas.microsoft.com/office/powerpoint/2010/main" val="33582275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68A3EA-FFF7-F593-9FA7-BB39D3E3222F}"/>
              </a:ext>
            </a:extLst>
          </p:cNvPr>
          <p:cNvSpPr>
            <a:spLocks noGrp="1"/>
          </p:cNvSpPr>
          <p:nvPr>
            <p:ph type="title"/>
          </p:nvPr>
        </p:nvSpPr>
        <p:spPr/>
        <p:txBody>
          <a:bodyPr/>
          <a:lstStyle/>
          <a:p>
            <a:r>
              <a:rPr lang="en-US" altLang="zh-CN"/>
              <a:t>03 </a:t>
            </a:r>
            <a:r>
              <a:rPr lang="en-US" altLang="zh-CN" sz="2800"/>
              <a:t>CI/CD</a:t>
            </a:r>
            <a:r>
              <a:rPr lang="zh-CN" altLang="en-US" sz="2800"/>
              <a:t>工具简介</a:t>
            </a:r>
            <a:endParaRPr kumimoji="1" lang="zh-CN" altLang="en-US"/>
          </a:p>
        </p:txBody>
      </p:sp>
      <p:sp>
        <p:nvSpPr>
          <p:cNvPr id="3" name="灯片编号占位符 2">
            <a:extLst>
              <a:ext uri="{FF2B5EF4-FFF2-40B4-BE49-F238E27FC236}">
                <a16:creationId xmlns:a16="http://schemas.microsoft.com/office/drawing/2014/main" id="{940AA628-8120-F109-B869-E8671F3D72B8}"/>
              </a:ext>
            </a:extLst>
          </p:cNvPr>
          <p:cNvSpPr>
            <a:spLocks noGrp="1"/>
          </p:cNvSpPr>
          <p:nvPr>
            <p:ph type="sldNum" sz="quarter" idx="12"/>
          </p:nvPr>
        </p:nvSpPr>
        <p:spPr/>
        <p:txBody>
          <a:bodyPr/>
          <a:lstStyle/>
          <a:p>
            <a:fld id="{1AAC388E-FA9E-4A2C-95EA-1F6B3A07935A}" type="slidenum">
              <a:rPr lang="zh-CN" altLang="en-US" smtClean="0"/>
              <a:pPr/>
              <a:t>113</a:t>
            </a:fld>
            <a:endParaRPr lang="zh-CN" altLang="en-US"/>
          </a:p>
        </p:txBody>
      </p:sp>
      <p:sp>
        <p:nvSpPr>
          <p:cNvPr id="4" name="文本框 3">
            <a:extLst>
              <a:ext uri="{FF2B5EF4-FFF2-40B4-BE49-F238E27FC236}">
                <a16:creationId xmlns:a16="http://schemas.microsoft.com/office/drawing/2014/main" id="{BA9D347B-A333-F47E-DAC1-B3F417A6AD0E}"/>
              </a:ext>
            </a:extLst>
          </p:cNvPr>
          <p:cNvSpPr txBox="1"/>
          <p:nvPr/>
        </p:nvSpPr>
        <p:spPr>
          <a:xfrm>
            <a:off x="718217" y="874354"/>
            <a:ext cx="5283087" cy="601075"/>
          </a:xfrm>
          <a:prstGeom prst="rect">
            <a:avLst/>
          </a:prstGeom>
          <a:noFill/>
        </p:spPr>
        <p:txBody>
          <a:bodyPr wrap="square" lIns="0" tIns="0" rIns="0" bIns="0" rtlCol="0" anchor="ctr">
            <a:noAutofit/>
          </a:bodyPr>
          <a:lstStyle>
            <a:defPPr>
              <a:defRPr lang="zh-CN"/>
            </a:defPPr>
            <a:lvl1pPr marL="342900" indent="-342900">
              <a:buFont typeface="Wingdings" panose="05000000000000000000" pitchFamily="2" charset="2"/>
              <a:buChar char="p"/>
              <a:defRPr sz="2800">
                <a:effectLst/>
                <a:latin typeface="Helvetica" pitchFamily="2" charset="0"/>
              </a:defRPr>
            </a:lvl1pPr>
          </a:lstStyle>
          <a:p>
            <a:r>
              <a:rPr lang="zh-CN" altLang="en-US" dirty="0"/>
              <a:t>使用</a:t>
            </a:r>
            <a:r>
              <a:rPr lang="en-US" altLang="zh-CN" dirty="0"/>
              <a:t>GitHub CI</a:t>
            </a:r>
            <a:r>
              <a:rPr lang="zh-CN" altLang="en-US" dirty="0"/>
              <a:t>实现持续集成</a:t>
            </a:r>
          </a:p>
        </p:txBody>
      </p:sp>
      <p:sp>
        <p:nvSpPr>
          <p:cNvPr id="8" name="文本框 7">
            <a:extLst>
              <a:ext uri="{FF2B5EF4-FFF2-40B4-BE49-F238E27FC236}">
                <a16:creationId xmlns:a16="http://schemas.microsoft.com/office/drawing/2014/main" id="{C4D3C348-8545-BEF8-B9CD-F2715CF8ED86}"/>
              </a:ext>
            </a:extLst>
          </p:cNvPr>
          <p:cNvSpPr txBox="1"/>
          <p:nvPr/>
        </p:nvSpPr>
        <p:spPr>
          <a:xfrm>
            <a:off x="1942929" y="711200"/>
            <a:ext cx="8306142" cy="2717800"/>
          </a:xfrm>
          <a:prstGeom prst="rect">
            <a:avLst/>
          </a:prstGeom>
          <a:noFill/>
        </p:spPr>
        <p:txBody>
          <a:bodyPr wrap="none" lIns="0" tIns="0" rIns="0" bIns="0" rtlCol="0" anchor="ctr">
            <a:normAutofit/>
          </a:bodyPr>
          <a:lstStyle/>
          <a:p>
            <a:pPr marL="285750" indent="-285750" algn="l">
              <a:lnSpc>
                <a:spcPct val="125000"/>
              </a:lnSpc>
              <a:spcAft>
                <a:spcPts val="500"/>
              </a:spcAft>
              <a:buFont typeface="Arial" panose="020B0604020202020204" pitchFamily="34" charset="0"/>
              <a:buChar char="•"/>
            </a:pPr>
            <a:r>
              <a:rPr kumimoji="1" lang="zh-CN" altLang="en-US">
                <a:latin typeface="Times New Roman" panose="02020603050405020304" pitchFamily="18" charset="0"/>
                <a:cs typeface="Times New Roman" panose="02020603050405020304" pitchFamily="18" charset="0"/>
              </a:rPr>
              <a:t>选择</a:t>
            </a:r>
            <a:r>
              <a:rPr kumimoji="1" lang="en-US" altLang="zh-CN">
                <a:latin typeface="Times New Roman" panose="02020603050405020304" pitchFamily="18" charset="0"/>
                <a:cs typeface="Times New Roman" panose="02020603050405020304" pitchFamily="18" charset="0"/>
              </a:rPr>
              <a:t>Actions</a:t>
            </a:r>
            <a:r>
              <a:rPr kumimoji="1" lang="zh-CN" altLang="en-US">
                <a:latin typeface="Times New Roman" panose="02020603050405020304" pitchFamily="18" charset="0"/>
                <a:cs typeface="Times New Roman" panose="02020603050405020304" pitchFamily="18" charset="0"/>
              </a:rPr>
              <a:t>，即可看到</a:t>
            </a:r>
            <a:r>
              <a:rPr kumimoji="1" lang="en-US" altLang="zh-CN">
                <a:latin typeface="Times New Roman" panose="02020603050405020304" pitchFamily="18" charset="0"/>
                <a:cs typeface="Times New Roman" panose="02020603050405020304" pitchFamily="18" charset="0"/>
              </a:rPr>
              <a:t>commit</a:t>
            </a:r>
            <a:r>
              <a:rPr kumimoji="1" lang="zh-CN" altLang="en-US">
                <a:latin typeface="Times New Roman" panose="02020603050405020304" pitchFamily="18" charset="0"/>
                <a:cs typeface="Times New Roman" panose="02020603050405020304" pitchFamily="18" charset="0"/>
              </a:rPr>
              <a:t>之后</a:t>
            </a:r>
            <a:r>
              <a:rPr kumimoji="1" lang="en-US" altLang="zh-CN">
                <a:latin typeface="Times New Roman" panose="02020603050405020304" pitchFamily="18" charset="0"/>
                <a:cs typeface="Times New Roman" panose="02020603050405020304" pitchFamily="18" charset="0"/>
              </a:rPr>
              <a:t>workflow</a:t>
            </a:r>
            <a:r>
              <a:rPr kumimoji="1" lang="zh-CN" altLang="en-US">
                <a:latin typeface="Times New Roman" panose="02020603050405020304" pitchFamily="18" charset="0"/>
                <a:cs typeface="Times New Roman" panose="02020603050405020304" pitchFamily="18" charset="0"/>
              </a:rPr>
              <a:t>会自动执行，等待执行结果</a:t>
            </a:r>
          </a:p>
        </p:txBody>
      </p:sp>
      <p:pic>
        <p:nvPicPr>
          <p:cNvPr id="10" name="图片 9">
            <a:extLst>
              <a:ext uri="{FF2B5EF4-FFF2-40B4-BE49-F238E27FC236}">
                <a16:creationId xmlns:a16="http://schemas.microsoft.com/office/drawing/2014/main" id="{05DA31BA-7E33-5E03-D968-B8E0D43F6E54}"/>
              </a:ext>
            </a:extLst>
          </p:cNvPr>
          <p:cNvPicPr>
            <a:picLocks noChangeAspect="1"/>
          </p:cNvPicPr>
          <p:nvPr/>
        </p:nvPicPr>
        <p:blipFill>
          <a:blip r:embed="rId2"/>
          <a:stretch>
            <a:fillRect/>
          </a:stretch>
        </p:blipFill>
        <p:spPr>
          <a:xfrm>
            <a:off x="1310640" y="2711307"/>
            <a:ext cx="9570720" cy="3321322"/>
          </a:xfrm>
          <a:prstGeom prst="rect">
            <a:avLst/>
          </a:prstGeom>
        </p:spPr>
      </p:pic>
    </p:spTree>
    <p:extLst>
      <p:ext uri="{BB962C8B-B14F-4D97-AF65-F5344CB8AC3E}">
        <p14:creationId xmlns:p14="http://schemas.microsoft.com/office/powerpoint/2010/main" val="4365752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2">
            <a:extLst>
              <a:ext uri="{FF2B5EF4-FFF2-40B4-BE49-F238E27FC236}">
                <a16:creationId xmlns:a16="http://schemas.microsoft.com/office/drawing/2014/main" id="{D68E5461-33C8-4ECD-B0EA-78223C314149}"/>
              </a:ext>
            </a:extLst>
          </p:cNvPr>
          <p:cNvSpPr txBox="1">
            <a:spLocks/>
          </p:cNvSpPr>
          <p:nvPr/>
        </p:nvSpPr>
        <p:spPr>
          <a:xfrm>
            <a:off x="311779" y="6517525"/>
            <a:ext cx="2743200" cy="340476"/>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Aft>
                <a:spcPts val="100"/>
              </a:spcAft>
            </a:pPr>
            <a:fld id="{87A43631-42BC-4255-9B30-786C9543311F}" type="datetimeFigureOut">
              <a:rPr lang="zh-CN" altLang="en-US" smtClean="0"/>
              <a:pPr>
                <a:lnSpc>
                  <a:spcPct val="120000"/>
                </a:lnSpc>
                <a:spcAft>
                  <a:spcPts val="100"/>
                </a:spcAft>
              </a:pPr>
              <a:t>2026/5/22</a:t>
            </a:fld>
            <a:endParaRPr lang="zh-CN" altLang="en-US"/>
          </a:p>
        </p:txBody>
      </p:sp>
      <p:sp>
        <p:nvSpPr>
          <p:cNvPr id="3" name="灯片编号占位符 4">
            <a:extLst>
              <a:ext uri="{FF2B5EF4-FFF2-40B4-BE49-F238E27FC236}">
                <a16:creationId xmlns:a16="http://schemas.microsoft.com/office/drawing/2014/main" id="{6EA75E7D-BC97-4B1B-B614-6CEC5627A44A}"/>
              </a:ext>
            </a:extLst>
          </p:cNvPr>
          <p:cNvSpPr txBox="1">
            <a:spLocks/>
          </p:cNvSpPr>
          <p:nvPr/>
        </p:nvSpPr>
        <p:spPr>
          <a:xfrm>
            <a:off x="9137021" y="6516239"/>
            <a:ext cx="2743200" cy="341761"/>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Aft>
                <a:spcPts val="100"/>
              </a:spcAft>
            </a:pPr>
            <a:fld id="{1AAC388E-FA9E-4A2C-95EA-1F6B3A07935A}" type="slidenum">
              <a:rPr lang="zh-CN" altLang="en-US" smtClean="0"/>
              <a:pPr>
                <a:lnSpc>
                  <a:spcPct val="120000"/>
                </a:lnSpc>
                <a:spcAft>
                  <a:spcPts val="100"/>
                </a:spcAft>
              </a:pPr>
              <a:t>114</a:t>
            </a:fld>
            <a:endParaRPr lang="zh-CN" altLang="en-US"/>
          </a:p>
        </p:txBody>
      </p:sp>
      <p:pic>
        <p:nvPicPr>
          <p:cNvPr id="4" name="图片占位符 16" descr="图片包含 建筑物, 蛋糕&#10;&#10;描述已自动生成">
            <a:extLst>
              <a:ext uri="{FF2B5EF4-FFF2-40B4-BE49-F238E27FC236}">
                <a16:creationId xmlns:a16="http://schemas.microsoft.com/office/drawing/2014/main" id="{FB82ED54-5D9B-4BE2-B820-EC20C87D730D}"/>
              </a:ext>
            </a:extLst>
          </p:cNvPr>
          <p:cNvPicPr>
            <a:picLocks noChangeAspect="1"/>
          </p:cNvPicPr>
          <p:nvPr/>
        </p:nvPicPr>
        <p:blipFill>
          <a:blip r:embed="rId2">
            <a:duotone>
              <a:schemeClr val="accent6">
                <a:shade val="45000"/>
                <a:satMod val="135000"/>
              </a:schemeClr>
              <a:prstClr val="white"/>
            </a:duotone>
            <a:extLst>
              <a:ext uri="{28A0092B-C50C-407E-A947-70E740481C1C}">
                <a14:useLocalDpi xmlns:a14="http://schemas.microsoft.com/office/drawing/2010/main" val="0"/>
              </a:ext>
            </a:extLst>
          </a:blip>
          <a:srcRect t="3926" b="3926"/>
          <a:stretch>
            <a:fillRect/>
          </a:stretch>
        </p:blipFill>
        <p:spPr>
          <a:xfrm>
            <a:off x="0" y="0"/>
            <a:ext cx="12192000" cy="6858000"/>
          </a:xfrm>
          <a:prstGeom prst="rect">
            <a:avLst/>
          </a:prstGeom>
        </p:spPr>
      </p:pic>
      <p:sp>
        <p:nvSpPr>
          <p:cNvPr id="5" name="任意多边形: 形状 4">
            <a:extLst>
              <a:ext uri="{FF2B5EF4-FFF2-40B4-BE49-F238E27FC236}">
                <a16:creationId xmlns:a16="http://schemas.microsoft.com/office/drawing/2014/main" id="{49559A8C-B727-4F4A-8F37-516EADD8DB9C}"/>
              </a:ext>
            </a:extLst>
          </p:cNvPr>
          <p:cNvSpPr/>
          <p:nvPr/>
        </p:nvSpPr>
        <p:spPr>
          <a:xfrm>
            <a:off x="0" y="2820188"/>
            <a:ext cx="12192000" cy="4037813"/>
          </a:xfrm>
          <a:custGeom>
            <a:avLst/>
            <a:gdLst>
              <a:gd name="connsiteX0" fmla="*/ 0 w 12192000"/>
              <a:gd name="connsiteY0" fmla="*/ 0 h 4037813"/>
              <a:gd name="connsiteX1" fmla="*/ 106773 w 12192000"/>
              <a:gd name="connsiteY1" fmla="*/ 36445 h 4037813"/>
              <a:gd name="connsiteX2" fmla="*/ 6096001 w 12192000"/>
              <a:gd name="connsiteY2" fmla="*/ 883678 h 4037813"/>
              <a:gd name="connsiteX3" fmla="*/ 12085229 w 12192000"/>
              <a:gd name="connsiteY3" fmla="*/ 36445 h 4037813"/>
              <a:gd name="connsiteX4" fmla="*/ 12192000 w 12192000"/>
              <a:gd name="connsiteY4" fmla="*/ 1 h 4037813"/>
              <a:gd name="connsiteX5" fmla="*/ 12192000 w 12192000"/>
              <a:gd name="connsiteY5" fmla="*/ 4037813 h 4037813"/>
              <a:gd name="connsiteX6" fmla="*/ 0 w 12192000"/>
              <a:gd name="connsiteY6" fmla="*/ 4037813 h 4037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4037813">
                <a:moveTo>
                  <a:pt x="0" y="0"/>
                </a:moveTo>
                <a:lnTo>
                  <a:pt x="106773" y="36445"/>
                </a:lnTo>
                <a:cubicBezTo>
                  <a:pt x="1734353" y="565729"/>
                  <a:pt x="3820949" y="883678"/>
                  <a:pt x="6096001" y="883678"/>
                </a:cubicBezTo>
                <a:cubicBezTo>
                  <a:pt x="8371054" y="883678"/>
                  <a:pt x="10457649" y="565729"/>
                  <a:pt x="12085229" y="36445"/>
                </a:cubicBezTo>
                <a:lnTo>
                  <a:pt x="12192000" y="1"/>
                </a:lnTo>
                <a:lnTo>
                  <a:pt x="12192000" y="4037813"/>
                </a:lnTo>
                <a:lnTo>
                  <a:pt x="0" y="4037813"/>
                </a:lnTo>
                <a:close/>
              </a:path>
            </a:pathLst>
          </a:custGeom>
          <a:solidFill>
            <a:srgbClr val="0442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00"/>
              </a:spcAft>
            </a:pPr>
            <a:endParaRPr lang="zh-CN" altLang="en-US"/>
          </a:p>
        </p:txBody>
      </p:sp>
      <p:sp>
        <p:nvSpPr>
          <p:cNvPr id="6" name="矩形 5">
            <a:extLst>
              <a:ext uri="{FF2B5EF4-FFF2-40B4-BE49-F238E27FC236}">
                <a16:creationId xmlns:a16="http://schemas.microsoft.com/office/drawing/2014/main" id="{1B796463-649D-4F3B-96D9-6941FF04955C}"/>
              </a:ext>
            </a:extLst>
          </p:cNvPr>
          <p:cNvSpPr/>
          <p:nvPr/>
        </p:nvSpPr>
        <p:spPr>
          <a:xfrm>
            <a:off x="2786743" y="5736210"/>
            <a:ext cx="6618515" cy="260008"/>
          </a:xfrm>
          <a:prstGeom prst="rect">
            <a:avLst/>
          </a:prstGeom>
        </p:spPr>
        <p:txBody>
          <a:bodyPr wrap="square" lIns="0" rIns="0">
            <a:spAutoFit/>
          </a:bodyPr>
          <a:lstStyle/>
          <a:p>
            <a:pPr algn="dist">
              <a:lnSpc>
                <a:spcPct val="120000"/>
              </a:lnSpc>
              <a:spcAft>
                <a:spcPts val="100"/>
              </a:spcAft>
            </a:pPr>
            <a:r>
              <a:rPr lang="en-US" altLang="zh-CN" sz="1000" b="1">
                <a:solidFill>
                  <a:schemeClr val="bg1">
                    <a:lumMod val="95000"/>
                  </a:schemeClr>
                </a:solidFill>
              </a:rPr>
              <a:t>ACCEPT MY ENDLESS GRATITUDE</a:t>
            </a:r>
            <a:endParaRPr lang="zh-CN" altLang="zh-CN" sz="1000" b="1">
              <a:solidFill>
                <a:schemeClr val="bg1">
                  <a:lumMod val="95000"/>
                </a:schemeClr>
              </a:solidFill>
            </a:endParaRPr>
          </a:p>
        </p:txBody>
      </p:sp>
      <p:sp>
        <p:nvSpPr>
          <p:cNvPr id="75" name="标题 86">
            <a:extLst>
              <a:ext uri="{FF2B5EF4-FFF2-40B4-BE49-F238E27FC236}">
                <a16:creationId xmlns:a16="http://schemas.microsoft.com/office/drawing/2014/main" id="{5EB85CF2-AA21-4BD0-A643-6F92E41264B6}"/>
              </a:ext>
            </a:extLst>
          </p:cNvPr>
          <p:cNvSpPr txBox="1">
            <a:spLocks/>
          </p:cNvSpPr>
          <p:nvPr/>
        </p:nvSpPr>
        <p:spPr>
          <a:xfrm>
            <a:off x="2337220" y="4743697"/>
            <a:ext cx="7517561" cy="1108170"/>
          </a:xfrm>
          <a:prstGeom prst="rect">
            <a:avLst/>
          </a:prstGeom>
        </p:spPr>
        <p:txBody>
          <a:bodyPr anchor="ctr"/>
          <a:lstStyle>
            <a:lvl1pPr algn="l" defTabSz="914400" rtl="0" eaLnBrk="1" latinLnBrk="0" hangingPunct="1">
              <a:lnSpc>
                <a:spcPct val="90000"/>
              </a:lnSpc>
              <a:spcBef>
                <a:spcPct val="0"/>
              </a:spcBef>
              <a:buNone/>
              <a:defRPr lang="zh-CN" altLang="en-US" sz="5400" b="1" kern="1200" dirty="0">
                <a:solidFill>
                  <a:schemeClr val="bg1"/>
                </a:solidFill>
                <a:latin typeface="+mj-lt"/>
                <a:ea typeface="+mj-ea"/>
                <a:cs typeface="+mj-cs"/>
              </a:defRPr>
            </a:lvl1pPr>
          </a:lstStyle>
          <a:p>
            <a:pPr algn="ctr">
              <a:lnSpc>
                <a:spcPct val="120000"/>
              </a:lnSpc>
              <a:spcAft>
                <a:spcPts val="100"/>
              </a:spcAft>
            </a:pPr>
            <a:r>
              <a:rPr lang="en-US" altLang="zh-CN" sz="4800" dirty="0">
                <a:latin typeface="方正粗雅宋简体" panose="02000000000000000000" pitchFamily="2" charset="-122"/>
                <a:ea typeface="方正粗雅宋简体" panose="02000000000000000000" pitchFamily="2" charset="-122"/>
              </a:rPr>
              <a:t>Q</a:t>
            </a:r>
            <a:r>
              <a:rPr lang="zh-CN" altLang="en-US" sz="4800" dirty="0">
                <a:latin typeface="方正粗雅宋简体" panose="02000000000000000000" pitchFamily="2" charset="-122"/>
                <a:ea typeface="方正粗雅宋简体" panose="02000000000000000000" pitchFamily="2" charset="-122"/>
              </a:rPr>
              <a:t> </a:t>
            </a:r>
            <a:r>
              <a:rPr lang="en-US" altLang="zh-CN" sz="4800" dirty="0">
                <a:latin typeface="方正粗雅宋简体" panose="02000000000000000000" pitchFamily="2" charset="-122"/>
                <a:ea typeface="方正粗雅宋简体" panose="02000000000000000000" pitchFamily="2" charset="-122"/>
              </a:rPr>
              <a:t>&amp;</a:t>
            </a:r>
            <a:r>
              <a:rPr lang="zh-CN" altLang="en-US" sz="4800" dirty="0">
                <a:latin typeface="方正粗雅宋简体" panose="02000000000000000000" pitchFamily="2" charset="-122"/>
                <a:ea typeface="方正粗雅宋简体" panose="02000000000000000000" pitchFamily="2" charset="-122"/>
              </a:rPr>
              <a:t> </a:t>
            </a:r>
            <a:r>
              <a:rPr lang="en-US" altLang="zh-CN" sz="4800" dirty="0">
                <a:latin typeface="方正粗雅宋简体" panose="02000000000000000000" pitchFamily="2" charset="-122"/>
                <a:ea typeface="方正粗雅宋简体" panose="02000000000000000000" pitchFamily="2" charset="-122"/>
              </a:rPr>
              <a:t>A</a:t>
            </a:r>
            <a:endParaRPr lang="zh-CN" altLang="en-US" sz="4800" dirty="0">
              <a:latin typeface="方正粗雅宋简体" panose="02000000000000000000" pitchFamily="2" charset="-122"/>
              <a:ea typeface="方正粗雅宋简体" panose="02000000000000000000" pitchFamily="2" charset="-122"/>
            </a:endParaRPr>
          </a:p>
        </p:txBody>
      </p:sp>
      <p:grpSp>
        <p:nvGrpSpPr>
          <p:cNvPr id="76" name="Group 74">
            <a:extLst>
              <a:ext uri="{FF2B5EF4-FFF2-40B4-BE49-F238E27FC236}">
                <a16:creationId xmlns:a16="http://schemas.microsoft.com/office/drawing/2014/main" id="{806E9086-0A2B-466D-9839-DB17018E62C6}"/>
              </a:ext>
            </a:extLst>
          </p:cNvPr>
          <p:cNvGrpSpPr>
            <a:grpSpLocks noChangeAspect="1"/>
          </p:cNvGrpSpPr>
          <p:nvPr/>
        </p:nvGrpSpPr>
        <p:grpSpPr bwMode="auto">
          <a:xfrm>
            <a:off x="5159311" y="4066421"/>
            <a:ext cx="1873383" cy="521119"/>
            <a:chOff x="954" y="660"/>
            <a:chExt cx="1269" cy="353"/>
          </a:xfrm>
          <a:solidFill>
            <a:schemeClr val="bg1"/>
          </a:solidFill>
        </p:grpSpPr>
        <p:sp>
          <p:nvSpPr>
            <p:cNvPr id="77" name="Freeform 75">
              <a:extLst>
                <a:ext uri="{FF2B5EF4-FFF2-40B4-BE49-F238E27FC236}">
                  <a16:creationId xmlns:a16="http://schemas.microsoft.com/office/drawing/2014/main" id="{37CE5326-F493-4E8C-BDF8-7FAD10D84CC6}"/>
                </a:ext>
              </a:extLst>
            </p:cNvPr>
            <p:cNvSpPr>
              <a:spLocks/>
            </p:cNvSpPr>
            <p:nvPr userDrawn="1"/>
          </p:nvSpPr>
          <p:spPr bwMode="auto">
            <a:xfrm>
              <a:off x="1968" y="833"/>
              <a:ext cx="45" cy="46"/>
            </a:xfrm>
            <a:custGeom>
              <a:avLst/>
              <a:gdLst>
                <a:gd name="T0" fmla="*/ 10 w 36"/>
                <a:gd name="T1" fmla="*/ 35 h 37"/>
                <a:gd name="T2" fmla="*/ 6 w 36"/>
                <a:gd name="T3" fmla="*/ 25 h 37"/>
                <a:gd name="T4" fmla="*/ 0 w 36"/>
                <a:gd name="T5" fmla="*/ 11 h 37"/>
                <a:gd name="T6" fmla="*/ 23 w 36"/>
                <a:gd name="T7" fmla="*/ 4 h 37"/>
                <a:gd name="T8" fmla="*/ 28 w 36"/>
                <a:gd name="T9" fmla="*/ 9 h 37"/>
                <a:gd name="T10" fmla="*/ 30 w 36"/>
                <a:gd name="T11" fmla="*/ 29 h 37"/>
                <a:gd name="T12" fmla="*/ 10 w 36"/>
                <a:gd name="T13" fmla="*/ 35 h 37"/>
              </a:gdLst>
              <a:ahLst/>
              <a:cxnLst>
                <a:cxn ang="0">
                  <a:pos x="T0" y="T1"/>
                </a:cxn>
                <a:cxn ang="0">
                  <a:pos x="T2" y="T3"/>
                </a:cxn>
                <a:cxn ang="0">
                  <a:pos x="T4" y="T5"/>
                </a:cxn>
                <a:cxn ang="0">
                  <a:pos x="T6" y="T7"/>
                </a:cxn>
                <a:cxn ang="0">
                  <a:pos x="T8" y="T9"/>
                </a:cxn>
                <a:cxn ang="0">
                  <a:pos x="T10" y="T11"/>
                </a:cxn>
                <a:cxn ang="0">
                  <a:pos x="T12" y="T13"/>
                </a:cxn>
              </a:cxnLst>
              <a:rect l="0" t="0" r="r" b="b"/>
              <a:pathLst>
                <a:path w="36" h="37">
                  <a:moveTo>
                    <a:pt x="10" y="35"/>
                  </a:moveTo>
                  <a:cubicBezTo>
                    <a:pt x="3" y="34"/>
                    <a:pt x="7" y="31"/>
                    <a:pt x="6" y="25"/>
                  </a:cubicBezTo>
                  <a:cubicBezTo>
                    <a:pt x="5" y="20"/>
                    <a:pt x="0" y="14"/>
                    <a:pt x="0" y="11"/>
                  </a:cubicBezTo>
                  <a:cubicBezTo>
                    <a:pt x="1" y="0"/>
                    <a:pt x="15" y="0"/>
                    <a:pt x="23" y="4"/>
                  </a:cubicBezTo>
                  <a:cubicBezTo>
                    <a:pt x="25" y="4"/>
                    <a:pt x="26" y="7"/>
                    <a:pt x="28" y="9"/>
                  </a:cubicBezTo>
                  <a:cubicBezTo>
                    <a:pt x="32" y="14"/>
                    <a:pt x="36" y="23"/>
                    <a:pt x="30" y="29"/>
                  </a:cubicBezTo>
                  <a:cubicBezTo>
                    <a:pt x="25" y="34"/>
                    <a:pt x="17" y="37"/>
                    <a:pt x="10" y="35"/>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78" name="Freeform 76">
              <a:extLst>
                <a:ext uri="{FF2B5EF4-FFF2-40B4-BE49-F238E27FC236}">
                  <a16:creationId xmlns:a16="http://schemas.microsoft.com/office/drawing/2014/main" id="{ED4BA523-69BC-4844-8879-90BD88E7F01D}"/>
                </a:ext>
              </a:extLst>
            </p:cNvPr>
            <p:cNvSpPr>
              <a:spLocks/>
            </p:cNvSpPr>
            <p:nvPr userDrawn="1"/>
          </p:nvSpPr>
          <p:spPr bwMode="auto">
            <a:xfrm>
              <a:off x="1837" y="698"/>
              <a:ext cx="160" cy="165"/>
            </a:xfrm>
            <a:custGeom>
              <a:avLst/>
              <a:gdLst>
                <a:gd name="T0" fmla="*/ 33 w 129"/>
                <a:gd name="T1" fmla="*/ 133 h 133"/>
                <a:gd name="T2" fmla="*/ 32 w 129"/>
                <a:gd name="T3" fmla="*/ 133 h 133"/>
                <a:gd name="T4" fmla="*/ 33 w 129"/>
                <a:gd name="T5" fmla="*/ 130 h 133"/>
                <a:gd name="T6" fmla="*/ 55 w 129"/>
                <a:gd name="T7" fmla="*/ 116 h 133"/>
                <a:gd name="T8" fmla="*/ 67 w 129"/>
                <a:gd name="T9" fmla="*/ 99 h 133"/>
                <a:gd name="T10" fmla="*/ 25 w 129"/>
                <a:gd name="T11" fmla="*/ 115 h 133"/>
                <a:gd name="T12" fmla="*/ 8 w 129"/>
                <a:gd name="T13" fmla="*/ 108 h 133"/>
                <a:gd name="T14" fmla="*/ 8 w 129"/>
                <a:gd name="T15" fmla="*/ 107 h 133"/>
                <a:gd name="T16" fmla="*/ 8 w 129"/>
                <a:gd name="T17" fmla="*/ 92 h 133"/>
                <a:gd name="T18" fmla="*/ 60 w 129"/>
                <a:gd name="T19" fmla="*/ 80 h 133"/>
                <a:gd name="T20" fmla="*/ 75 w 129"/>
                <a:gd name="T21" fmla="*/ 72 h 133"/>
                <a:gd name="T22" fmla="*/ 77 w 129"/>
                <a:gd name="T23" fmla="*/ 14 h 133"/>
                <a:gd name="T24" fmla="*/ 99 w 129"/>
                <a:gd name="T25" fmla="*/ 16 h 133"/>
                <a:gd name="T26" fmla="*/ 103 w 129"/>
                <a:gd name="T27" fmla="*/ 21 h 133"/>
                <a:gd name="T28" fmla="*/ 104 w 129"/>
                <a:gd name="T29" fmla="*/ 21 h 133"/>
                <a:gd name="T30" fmla="*/ 103 w 129"/>
                <a:gd name="T31" fmla="*/ 35 h 133"/>
                <a:gd name="T32" fmla="*/ 98 w 129"/>
                <a:gd name="T33" fmla="*/ 65 h 133"/>
                <a:gd name="T34" fmla="*/ 126 w 129"/>
                <a:gd name="T35" fmla="*/ 54 h 133"/>
                <a:gd name="T36" fmla="*/ 123 w 129"/>
                <a:gd name="T37" fmla="*/ 69 h 133"/>
                <a:gd name="T38" fmla="*/ 95 w 129"/>
                <a:gd name="T39" fmla="*/ 81 h 133"/>
                <a:gd name="T40" fmla="*/ 82 w 129"/>
                <a:gd name="T41" fmla="*/ 111 h 133"/>
                <a:gd name="T42" fmla="*/ 75 w 129"/>
                <a:gd name="T43" fmla="*/ 118 h 133"/>
                <a:gd name="T44" fmla="*/ 56 w 129"/>
                <a:gd name="T45" fmla="*/ 128 h 133"/>
                <a:gd name="T46" fmla="*/ 33 w 129"/>
                <a:gd name="T47" fmla="*/ 13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9" h="133">
                  <a:moveTo>
                    <a:pt x="33" y="133"/>
                  </a:moveTo>
                  <a:cubicBezTo>
                    <a:pt x="33" y="133"/>
                    <a:pt x="33" y="133"/>
                    <a:pt x="32" y="133"/>
                  </a:cubicBezTo>
                  <a:cubicBezTo>
                    <a:pt x="32" y="132"/>
                    <a:pt x="32" y="131"/>
                    <a:pt x="33" y="130"/>
                  </a:cubicBezTo>
                  <a:cubicBezTo>
                    <a:pt x="35" y="130"/>
                    <a:pt x="55" y="117"/>
                    <a:pt x="55" y="116"/>
                  </a:cubicBezTo>
                  <a:cubicBezTo>
                    <a:pt x="60" y="111"/>
                    <a:pt x="66" y="106"/>
                    <a:pt x="67" y="99"/>
                  </a:cubicBezTo>
                  <a:cubicBezTo>
                    <a:pt x="53" y="104"/>
                    <a:pt x="40" y="114"/>
                    <a:pt x="25" y="115"/>
                  </a:cubicBezTo>
                  <a:cubicBezTo>
                    <a:pt x="18" y="113"/>
                    <a:pt x="13" y="110"/>
                    <a:pt x="8" y="108"/>
                  </a:cubicBezTo>
                  <a:cubicBezTo>
                    <a:pt x="8" y="107"/>
                    <a:pt x="8" y="107"/>
                    <a:pt x="8" y="107"/>
                  </a:cubicBezTo>
                  <a:cubicBezTo>
                    <a:pt x="1" y="102"/>
                    <a:pt x="0" y="95"/>
                    <a:pt x="8" y="92"/>
                  </a:cubicBezTo>
                  <a:cubicBezTo>
                    <a:pt x="23" y="96"/>
                    <a:pt x="46" y="85"/>
                    <a:pt x="60" y="80"/>
                  </a:cubicBezTo>
                  <a:cubicBezTo>
                    <a:pt x="63" y="78"/>
                    <a:pt x="72" y="75"/>
                    <a:pt x="75" y="72"/>
                  </a:cubicBezTo>
                  <a:cubicBezTo>
                    <a:pt x="78" y="52"/>
                    <a:pt x="76" y="33"/>
                    <a:pt x="77" y="14"/>
                  </a:cubicBezTo>
                  <a:cubicBezTo>
                    <a:pt x="82" y="0"/>
                    <a:pt x="90" y="10"/>
                    <a:pt x="99" y="16"/>
                  </a:cubicBezTo>
                  <a:cubicBezTo>
                    <a:pt x="99" y="18"/>
                    <a:pt x="101" y="19"/>
                    <a:pt x="103" y="21"/>
                  </a:cubicBezTo>
                  <a:cubicBezTo>
                    <a:pt x="103" y="21"/>
                    <a:pt x="103" y="21"/>
                    <a:pt x="104" y="21"/>
                  </a:cubicBezTo>
                  <a:cubicBezTo>
                    <a:pt x="107" y="27"/>
                    <a:pt x="108" y="30"/>
                    <a:pt x="103" y="35"/>
                  </a:cubicBezTo>
                  <a:cubicBezTo>
                    <a:pt x="99" y="44"/>
                    <a:pt x="97" y="54"/>
                    <a:pt x="98" y="65"/>
                  </a:cubicBezTo>
                  <a:cubicBezTo>
                    <a:pt x="108" y="63"/>
                    <a:pt x="114" y="55"/>
                    <a:pt x="126" y="54"/>
                  </a:cubicBezTo>
                  <a:cubicBezTo>
                    <a:pt x="129" y="60"/>
                    <a:pt x="128" y="65"/>
                    <a:pt x="123" y="69"/>
                  </a:cubicBezTo>
                  <a:cubicBezTo>
                    <a:pt x="114" y="73"/>
                    <a:pt x="105" y="77"/>
                    <a:pt x="95" y="81"/>
                  </a:cubicBezTo>
                  <a:cubicBezTo>
                    <a:pt x="93" y="91"/>
                    <a:pt x="89" y="103"/>
                    <a:pt x="82" y="111"/>
                  </a:cubicBezTo>
                  <a:cubicBezTo>
                    <a:pt x="81" y="113"/>
                    <a:pt x="76" y="117"/>
                    <a:pt x="75" y="118"/>
                  </a:cubicBezTo>
                  <a:cubicBezTo>
                    <a:pt x="69" y="122"/>
                    <a:pt x="63" y="126"/>
                    <a:pt x="56" y="128"/>
                  </a:cubicBezTo>
                  <a:cubicBezTo>
                    <a:pt x="37" y="133"/>
                    <a:pt x="37" y="133"/>
                    <a:pt x="33" y="133"/>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79" name="Freeform 77">
              <a:extLst>
                <a:ext uri="{FF2B5EF4-FFF2-40B4-BE49-F238E27FC236}">
                  <a16:creationId xmlns:a16="http://schemas.microsoft.com/office/drawing/2014/main" id="{D7316549-5B7A-42CD-A2F5-1A7CAB944CE5}"/>
                </a:ext>
              </a:extLst>
            </p:cNvPr>
            <p:cNvSpPr>
              <a:spLocks/>
            </p:cNvSpPr>
            <p:nvPr userDrawn="1"/>
          </p:nvSpPr>
          <p:spPr bwMode="auto">
            <a:xfrm>
              <a:off x="1630" y="796"/>
              <a:ext cx="94" cy="110"/>
            </a:xfrm>
            <a:custGeom>
              <a:avLst/>
              <a:gdLst>
                <a:gd name="T0" fmla="*/ 17 w 76"/>
                <a:gd name="T1" fmla="*/ 88 h 88"/>
                <a:gd name="T2" fmla="*/ 0 w 76"/>
                <a:gd name="T3" fmla="*/ 70 h 88"/>
                <a:gd name="T4" fmla="*/ 2 w 76"/>
                <a:gd name="T5" fmla="*/ 65 h 88"/>
                <a:gd name="T6" fmla="*/ 50 w 76"/>
                <a:gd name="T7" fmla="*/ 26 h 88"/>
                <a:gd name="T8" fmla="*/ 65 w 76"/>
                <a:gd name="T9" fmla="*/ 5 h 88"/>
                <a:gd name="T10" fmla="*/ 66 w 76"/>
                <a:gd name="T11" fmla="*/ 4 h 88"/>
                <a:gd name="T12" fmla="*/ 66 w 76"/>
                <a:gd name="T13" fmla="*/ 4 h 88"/>
                <a:gd name="T14" fmla="*/ 76 w 76"/>
                <a:gd name="T15" fmla="*/ 5 h 88"/>
                <a:gd name="T16" fmla="*/ 65 w 76"/>
                <a:gd name="T17" fmla="*/ 19 h 88"/>
                <a:gd name="T18" fmla="*/ 54 w 76"/>
                <a:gd name="T19" fmla="*/ 43 h 88"/>
                <a:gd name="T20" fmla="*/ 48 w 76"/>
                <a:gd name="T21" fmla="*/ 54 h 88"/>
                <a:gd name="T22" fmla="*/ 35 w 76"/>
                <a:gd name="T23" fmla="*/ 72 h 88"/>
                <a:gd name="T24" fmla="*/ 21 w 76"/>
                <a:gd name="T25" fmla="*/ 87 h 88"/>
                <a:gd name="T26" fmla="*/ 17 w 76"/>
                <a:gd name="T27"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 h="88">
                  <a:moveTo>
                    <a:pt x="17" y="88"/>
                  </a:moveTo>
                  <a:cubicBezTo>
                    <a:pt x="10" y="84"/>
                    <a:pt x="3" y="76"/>
                    <a:pt x="0" y="70"/>
                  </a:cubicBezTo>
                  <a:cubicBezTo>
                    <a:pt x="0" y="69"/>
                    <a:pt x="1" y="67"/>
                    <a:pt x="2" y="65"/>
                  </a:cubicBezTo>
                  <a:cubicBezTo>
                    <a:pt x="18" y="52"/>
                    <a:pt x="35" y="41"/>
                    <a:pt x="50" y="26"/>
                  </a:cubicBezTo>
                  <a:cubicBezTo>
                    <a:pt x="54" y="19"/>
                    <a:pt x="60" y="12"/>
                    <a:pt x="65" y="5"/>
                  </a:cubicBezTo>
                  <a:cubicBezTo>
                    <a:pt x="65" y="5"/>
                    <a:pt x="66" y="5"/>
                    <a:pt x="66" y="4"/>
                  </a:cubicBezTo>
                  <a:cubicBezTo>
                    <a:pt x="66" y="4"/>
                    <a:pt x="66" y="4"/>
                    <a:pt x="66" y="4"/>
                  </a:cubicBezTo>
                  <a:cubicBezTo>
                    <a:pt x="70" y="0"/>
                    <a:pt x="72" y="0"/>
                    <a:pt x="76" y="5"/>
                  </a:cubicBezTo>
                  <a:cubicBezTo>
                    <a:pt x="76" y="10"/>
                    <a:pt x="68" y="14"/>
                    <a:pt x="65" y="19"/>
                  </a:cubicBezTo>
                  <a:cubicBezTo>
                    <a:pt x="62" y="27"/>
                    <a:pt x="58" y="35"/>
                    <a:pt x="54" y="43"/>
                  </a:cubicBezTo>
                  <a:cubicBezTo>
                    <a:pt x="53" y="45"/>
                    <a:pt x="53" y="45"/>
                    <a:pt x="48" y="54"/>
                  </a:cubicBezTo>
                  <a:cubicBezTo>
                    <a:pt x="43" y="57"/>
                    <a:pt x="37" y="66"/>
                    <a:pt x="35" y="72"/>
                  </a:cubicBezTo>
                  <a:cubicBezTo>
                    <a:pt x="29" y="75"/>
                    <a:pt x="27" y="84"/>
                    <a:pt x="21" y="87"/>
                  </a:cubicBezTo>
                  <a:cubicBezTo>
                    <a:pt x="19" y="87"/>
                    <a:pt x="18" y="87"/>
                    <a:pt x="17" y="88"/>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80" name="Freeform 78">
              <a:extLst>
                <a:ext uri="{FF2B5EF4-FFF2-40B4-BE49-F238E27FC236}">
                  <a16:creationId xmlns:a16="http://schemas.microsoft.com/office/drawing/2014/main" id="{D31D834B-6C6E-48D6-9D85-A0D19A33D7DD}"/>
                </a:ext>
              </a:extLst>
            </p:cNvPr>
            <p:cNvSpPr>
              <a:spLocks/>
            </p:cNvSpPr>
            <p:nvPr userDrawn="1"/>
          </p:nvSpPr>
          <p:spPr bwMode="auto">
            <a:xfrm>
              <a:off x="1749" y="791"/>
              <a:ext cx="53" cy="41"/>
            </a:xfrm>
            <a:custGeom>
              <a:avLst/>
              <a:gdLst>
                <a:gd name="T0" fmla="*/ 19 w 43"/>
                <a:gd name="T1" fmla="*/ 33 h 33"/>
                <a:gd name="T2" fmla="*/ 0 w 43"/>
                <a:gd name="T3" fmla="*/ 20 h 33"/>
                <a:gd name="T4" fmla="*/ 2 w 43"/>
                <a:gd name="T5" fmla="*/ 14 h 33"/>
                <a:gd name="T6" fmla="*/ 6 w 43"/>
                <a:gd name="T7" fmla="*/ 13 h 33"/>
                <a:gd name="T8" fmla="*/ 17 w 43"/>
                <a:gd name="T9" fmla="*/ 12 h 33"/>
                <a:gd name="T10" fmla="*/ 43 w 43"/>
                <a:gd name="T11" fmla="*/ 5 h 33"/>
                <a:gd name="T12" fmla="*/ 19 w 43"/>
                <a:gd name="T13" fmla="*/ 33 h 33"/>
              </a:gdLst>
              <a:ahLst/>
              <a:cxnLst>
                <a:cxn ang="0">
                  <a:pos x="T0" y="T1"/>
                </a:cxn>
                <a:cxn ang="0">
                  <a:pos x="T2" y="T3"/>
                </a:cxn>
                <a:cxn ang="0">
                  <a:pos x="T4" y="T5"/>
                </a:cxn>
                <a:cxn ang="0">
                  <a:pos x="T6" y="T7"/>
                </a:cxn>
                <a:cxn ang="0">
                  <a:pos x="T8" y="T9"/>
                </a:cxn>
                <a:cxn ang="0">
                  <a:pos x="T10" y="T11"/>
                </a:cxn>
                <a:cxn ang="0">
                  <a:pos x="T12" y="T13"/>
                </a:cxn>
              </a:cxnLst>
              <a:rect l="0" t="0" r="r" b="b"/>
              <a:pathLst>
                <a:path w="43" h="33">
                  <a:moveTo>
                    <a:pt x="19" y="33"/>
                  </a:moveTo>
                  <a:cubicBezTo>
                    <a:pt x="9" y="33"/>
                    <a:pt x="6" y="26"/>
                    <a:pt x="0" y="20"/>
                  </a:cubicBezTo>
                  <a:cubicBezTo>
                    <a:pt x="0" y="18"/>
                    <a:pt x="2" y="16"/>
                    <a:pt x="2" y="14"/>
                  </a:cubicBezTo>
                  <a:cubicBezTo>
                    <a:pt x="4" y="14"/>
                    <a:pt x="4" y="14"/>
                    <a:pt x="6" y="13"/>
                  </a:cubicBezTo>
                  <a:cubicBezTo>
                    <a:pt x="10" y="12"/>
                    <a:pt x="12" y="12"/>
                    <a:pt x="17" y="12"/>
                  </a:cubicBezTo>
                  <a:cubicBezTo>
                    <a:pt x="22" y="11"/>
                    <a:pt x="38" y="0"/>
                    <a:pt x="43" y="5"/>
                  </a:cubicBezTo>
                  <a:cubicBezTo>
                    <a:pt x="43" y="17"/>
                    <a:pt x="30" y="30"/>
                    <a:pt x="19" y="33"/>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81" name="Freeform 79">
              <a:extLst>
                <a:ext uri="{FF2B5EF4-FFF2-40B4-BE49-F238E27FC236}">
                  <a16:creationId xmlns:a16="http://schemas.microsoft.com/office/drawing/2014/main" id="{B3FEA7DB-A0E4-4F94-8534-D3E08B6CA1AF}"/>
                </a:ext>
              </a:extLst>
            </p:cNvPr>
            <p:cNvSpPr>
              <a:spLocks/>
            </p:cNvSpPr>
            <p:nvPr userDrawn="1"/>
          </p:nvSpPr>
          <p:spPr bwMode="auto">
            <a:xfrm>
              <a:off x="1668" y="766"/>
              <a:ext cx="36" cy="42"/>
            </a:xfrm>
            <a:custGeom>
              <a:avLst/>
              <a:gdLst>
                <a:gd name="T0" fmla="*/ 5 w 29"/>
                <a:gd name="T1" fmla="*/ 34 h 34"/>
                <a:gd name="T2" fmla="*/ 0 w 29"/>
                <a:gd name="T3" fmla="*/ 9 h 34"/>
                <a:gd name="T4" fmla="*/ 19 w 29"/>
                <a:gd name="T5" fmla="*/ 6 h 34"/>
                <a:gd name="T6" fmla="*/ 23 w 29"/>
                <a:gd name="T7" fmla="*/ 26 h 34"/>
                <a:gd name="T8" fmla="*/ 5 w 29"/>
                <a:gd name="T9" fmla="*/ 34 h 34"/>
              </a:gdLst>
              <a:ahLst/>
              <a:cxnLst>
                <a:cxn ang="0">
                  <a:pos x="T0" y="T1"/>
                </a:cxn>
                <a:cxn ang="0">
                  <a:pos x="T2" y="T3"/>
                </a:cxn>
                <a:cxn ang="0">
                  <a:pos x="T4" y="T5"/>
                </a:cxn>
                <a:cxn ang="0">
                  <a:pos x="T6" y="T7"/>
                </a:cxn>
                <a:cxn ang="0">
                  <a:pos x="T8" y="T9"/>
                </a:cxn>
              </a:cxnLst>
              <a:rect l="0" t="0" r="r" b="b"/>
              <a:pathLst>
                <a:path w="29" h="34">
                  <a:moveTo>
                    <a:pt x="5" y="34"/>
                  </a:moveTo>
                  <a:cubicBezTo>
                    <a:pt x="1" y="30"/>
                    <a:pt x="0" y="14"/>
                    <a:pt x="0" y="9"/>
                  </a:cubicBezTo>
                  <a:cubicBezTo>
                    <a:pt x="3" y="0"/>
                    <a:pt x="12" y="0"/>
                    <a:pt x="19" y="6"/>
                  </a:cubicBezTo>
                  <a:cubicBezTo>
                    <a:pt x="25" y="14"/>
                    <a:pt x="29" y="17"/>
                    <a:pt x="23" y="26"/>
                  </a:cubicBezTo>
                  <a:cubicBezTo>
                    <a:pt x="16" y="32"/>
                    <a:pt x="13" y="32"/>
                    <a:pt x="5" y="3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82" name="Freeform 80">
              <a:extLst>
                <a:ext uri="{FF2B5EF4-FFF2-40B4-BE49-F238E27FC236}">
                  <a16:creationId xmlns:a16="http://schemas.microsoft.com/office/drawing/2014/main" id="{07E66D22-E488-4214-9457-D6E59D1064F6}"/>
                </a:ext>
              </a:extLst>
            </p:cNvPr>
            <p:cNvSpPr>
              <a:spLocks/>
            </p:cNvSpPr>
            <p:nvPr userDrawn="1"/>
          </p:nvSpPr>
          <p:spPr bwMode="auto">
            <a:xfrm>
              <a:off x="1748" y="739"/>
              <a:ext cx="63" cy="60"/>
            </a:xfrm>
            <a:custGeom>
              <a:avLst/>
              <a:gdLst>
                <a:gd name="T0" fmla="*/ 17 w 51"/>
                <a:gd name="T1" fmla="*/ 48 h 48"/>
                <a:gd name="T2" fmla="*/ 21 w 51"/>
                <a:gd name="T3" fmla="*/ 30 h 48"/>
                <a:gd name="T4" fmla="*/ 13 w 51"/>
                <a:gd name="T5" fmla="*/ 32 h 48"/>
                <a:gd name="T6" fmla="*/ 3 w 51"/>
                <a:gd name="T7" fmla="*/ 15 h 48"/>
                <a:gd name="T8" fmla="*/ 13 w 51"/>
                <a:gd name="T9" fmla="*/ 11 h 48"/>
                <a:gd name="T10" fmla="*/ 33 w 51"/>
                <a:gd name="T11" fmla="*/ 2 h 48"/>
                <a:gd name="T12" fmla="*/ 51 w 51"/>
                <a:gd name="T13" fmla="*/ 18 h 48"/>
                <a:gd name="T14" fmla="*/ 39 w 51"/>
                <a:gd name="T15" fmla="*/ 36 h 48"/>
                <a:gd name="T16" fmla="*/ 22 w 51"/>
                <a:gd name="T17" fmla="*/ 47 h 48"/>
                <a:gd name="T18" fmla="*/ 17 w 51"/>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 h="48">
                  <a:moveTo>
                    <a:pt x="17" y="48"/>
                  </a:moveTo>
                  <a:cubicBezTo>
                    <a:pt x="16" y="43"/>
                    <a:pt x="23" y="33"/>
                    <a:pt x="21" y="30"/>
                  </a:cubicBezTo>
                  <a:cubicBezTo>
                    <a:pt x="18" y="31"/>
                    <a:pt x="16" y="32"/>
                    <a:pt x="13" y="32"/>
                  </a:cubicBezTo>
                  <a:cubicBezTo>
                    <a:pt x="7" y="29"/>
                    <a:pt x="0" y="21"/>
                    <a:pt x="3" y="15"/>
                  </a:cubicBezTo>
                  <a:cubicBezTo>
                    <a:pt x="7" y="10"/>
                    <a:pt x="6" y="12"/>
                    <a:pt x="13" y="11"/>
                  </a:cubicBezTo>
                  <a:cubicBezTo>
                    <a:pt x="19" y="8"/>
                    <a:pt x="26" y="5"/>
                    <a:pt x="33" y="2"/>
                  </a:cubicBezTo>
                  <a:cubicBezTo>
                    <a:pt x="45" y="0"/>
                    <a:pt x="50" y="6"/>
                    <a:pt x="51" y="18"/>
                  </a:cubicBezTo>
                  <a:cubicBezTo>
                    <a:pt x="49" y="25"/>
                    <a:pt x="44" y="31"/>
                    <a:pt x="39" y="36"/>
                  </a:cubicBezTo>
                  <a:cubicBezTo>
                    <a:pt x="33" y="40"/>
                    <a:pt x="27" y="44"/>
                    <a:pt x="22" y="47"/>
                  </a:cubicBezTo>
                  <a:cubicBezTo>
                    <a:pt x="20" y="47"/>
                    <a:pt x="19" y="48"/>
                    <a:pt x="17" y="48"/>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83" name="Freeform 81">
              <a:extLst>
                <a:ext uri="{FF2B5EF4-FFF2-40B4-BE49-F238E27FC236}">
                  <a16:creationId xmlns:a16="http://schemas.microsoft.com/office/drawing/2014/main" id="{906B859D-6B39-4F90-936E-AD59A8DC6EE1}"/>
                </a:ext>
              </a:extLst>
            </p:cNvPr>
            <p:cNvSpPr>
              <a:spLocks/>
            </p:cNvSpPr>
            <p:nvPr userDrawn="1"/>
          </p:nvSpPr>
          <p:spPr bwMode="auto">
            <a:xfrm>
              <a:off x="1687" y="715"/>
              <a:ext cx="38" cy="42"/>
            </a:xfrm>
            <a:custGeom>
              <a:avLst/>
              <a:gdLst>
                <a:gd name="T0" fmla="*/ 3 w 31"/>
                <a:gd name="T1" fmla="*/ 34 h 34"/>
                <a:gd name="T2" fmla="*/ 3 w 31"/>
                <a:gd name="T3" fmla="*/ 29 h 34"/>
                <a:gd name="T4" fmla="*/ 0 w 31"/>
                <a:gd name="T5" fmla="*/ 16 h 34"/>
                <a:gd name="T6" fmla="*/ 7 w 31"/>
                <a:gd name="T7" fmla="*/ 0 h 34"/>
                <a:gd name="T8" fmla="*/ 26 w 31"/>
                <a:gd name="T9" fmla="*/ 23 h 34"/>
                <a:gd name="T10" fmla="*/ 3 w 31"/>
                <a:gd name="T11" fmla="*/ 34 h 34"/>
              </a:gdLst>
              <a:ahLst/>
              <a:cxnLst>
                <a:cxn ang="0">
                  <a:pos x="T0" y="T1"/>
                </a:cxn>
                <a:cxn ang="0">
                  <a:pos x="T2" y="T3"/>
                </a:cxn>
                <a:cxn ang="0">
                  <a:pos x="T4" y="T5"/>
                </a:cxn>
                <a:cxn ang="0">
                  <a:pos x="T6" y="T7"/>
                </a:cxn>
                <a:cxn ang="0">
                  <a:pos x="T8" y="T9"/>
                </a:cxn>
                <a:cxn ang="0">
                  <a:pos x="T10" y="T11"/>
                </a:cxn>
              </a:cxnLst>
              <a:rect l="0" t="0" r="r" b="b"/>
              <a:pathLst>
                <a:path w="31" h="34">
                  <a:moveTo>
                    <a:pt x="3" y="34"/>
                  </a:moveTo>
                  <a:cubicBezTo>
                    <a:pt x="1" y="32"/>
                    <a:pt x="2" y="31"/>
                    <a:pt x="3" y="29"/>
                  </a:cubicBezTo>
                  <a:cubicBezTo>
                    <a:pt x="3" y="24"/>
                    <a:pt x="0" y="20"/>
                    <a:pt x="0" y="16"/>
                  </a:cubicBezTo>
                  <a:cubicBezTo>
                    <a:pt x="1" y="7"/>
                    <a:pt x="0" y="4"/>
                    <a:pt x="7" y="0"/>
                  </a:cubicBezTo>
                  <a:cubicBezTo>
                    <a:pt x="12" y="3"/>
                    <a:pt x="31" y="12"/>
                    <a:pt x="26" y="23"/>
                  </a:cubicBezTo>
                  <a:cubicBezTo>
                    <a:pt x="21" y="29"/>
                    <a:pt x="11" y="33"/>
                    <a:pt x="3" y="3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84" name="Freeform 82">
              <a:extLst>
                <a:ext uri="{FF2B5EF4-FFF2-40B4-BE49-F238E27FC236}">
                  <a16:creationId xmlns:a16="http://schemas.microsoft.com/office/drawing/2014/main" id="{9E5CDC41-94AD-4D99-A4AF-AAD69D30A910}"/>
                </a:ext>
              </a:extLst>
            </p:cNvPr>
            <p:cNvSpPr>
              <a:spLocks/>
            </p:cNvSpPr>
            <p:nvPr userDrawn="1"/>
          </p:nvSpPr>
          <p:spPr bwMode="auto">
            <a:xfrm>
              <a:off x="1365" y="728"/>
              <a:ext cx="244" cy="186"/>
            </a:xfrm>
            <a:custGeom>
              <a:avLst/>
              <a:gdLst>
                <a:gd name="T0" fmla="*/ 20 w 197"/>
                <a:gd name="T1" fmla="*/ 150 h 150"/>
                <a:gd name="T2" fmla="*/ 13 w 197"/>
                <a:gd name="T3" fmla="*/ 119 h 150"/>
                <a:gd name="T4" fmla="*/ 17 w 197"/>
                <a:gd name="T5" fmla="*/ 114 h 150"/>
                <a:gd name="T6" fmla="*/ 17 w 197"/>
                <a:gd name="T7" fmla="*/ 113 h 150"/>
                <a:gd name="T8" fmla="*/ 44 w 197"/>
                <a:gd name="T9" fmla="*/ 77 h 150"/>
                <a:gd name="T10" fmla="*/ 52 w 197"/>
                <a:gd name="T11" fmla="*/ 67 h 150"/>
                <a:gd name="T12" fmla="*/ 53 w 197"/>
                <a:gd name="T13" fmla="*/ 78 h 150"/>
                <a:gd name="T14" fmla="*/ 60 w 197"/>
                <a:gd name="T15" fmla="*/ 77 h 150"/>
                <a:gd name="T16" fmla="*/ 85 w 197"/>
                <a:gd name="T17" fmla="*/ 58 h 150"/>
                <a:gd name="T18" fmla="*/ 87 w 197"/>
                <a:gd name="T19" fmla="*/ 48 h 150"/>
                <a:gd name="T20" fmla="*/ 68 w 197"/>
                <a:gd name="T21" fmla="*/ 44 h 150"/>
                <a:gd name="T22" fmla="*/ 88 w 197"/>
                <a:gd name="T23" fmla="*/ 29 h 150"/>
                <a:gd name="T24" fmla="*/ 92 w 197"/>
                <a:gd name="T25" fmla="*/ 9 h 150"/>
                <a:gd name="T26" fmla="*/ 109 w 197"/>
                <a:gd name="T27" fmla="*/ 22 h 150"/>
                <a:gd name="T28" fmla="*/ 110 w 197"/>
                <a:gd name="T29" fmla="*/ 37 h 150"/>
                <a:gd name="T30" fmla="*/ 108 w 197"/>
                <a:gd name="T31" fmla="*/ 46 h 150"/>
                <a:gd name="T32" fmla="*/ 111 w 197"/>
                <a:gd name="T33" fmla="*/ 46 h 150"/>
                <a:gd name="T34" fmla="*/ 131 w 197"/>
                <a:gd name="T35" fmla="*/ 32 h 150"/>
                <a:gd name="T36" fmla="*/ 140 w 197"/>
                <a:gd name="T37" fmla="*/ 5 h 150"/>
                <a:gd name="T38" fmla="*/ 163 w 197"/>
                <a:gd name="T39" fmla="*/ 11 h 150"/>
                <a:gd name="T40" fmla="*/ 176 w 197"/>
                <a:gd name="T41" fmla="*/ 5 h 150"/>
                <a:gd name="T42" fmla="*/ 182 w 197"/>
                <a:gd name="T43" fmla="*/ 4 h 150"/>
                <a:gd name="T44" fmla="*/ 184 w 197"/>
                <a:gd name="T45" fmla="*/ 13 h 150"/>
                <a:gd name="T46" fmla="*/ 157 w 197"/>
                <a:gd name="T47" fmla="*/ 39 h 150"/>
                <a:gd name="T48" fmla="*/ 166 w 197"/>
                <a:gd name="T49" fmla="*/ 29 h 150"/>
                <a:gd name="T50" fmla="*/ 190 w 197"/>
                <a:gd name="T51" fmla="*/ 34 h 150"/>
                <a:gd name="T52" fmla="*/ 184 w 197"/>
                <a:gd name="T53" fmla="*/ 50 h 150"/>
                <a:gd name="T54" fmla="*/ 182 w 197"/>
                <a:gd name="T55" fmla="*/ 54 h 150"/>
                <a:gd name="T56" fmla="*/ 182 w 197"/>
                <a:gd name="T57" fmla="*/ 93 h 150"/>
                <a:gd name="T58" fmla="*/ 173 w 197"/>
                <a:gd name="T59" fmla="*/ 107 h 150"/>
                <a:gd name="T60" fmla="*/ 173 w 197"/>
                <a:gd name="T61" fmla="*/ 107 h 150"/>
                <a:gd name="T62" fmla="*/ 172 w 197"/>
                <a:gd name="T63" fmla="*/ 107 h 150"/>
                <a:gd name="T64" fmla="*/ 158 w 197"/>
                <a:gd name="T65" fmla="*/ 113 h 150"/>
                <a:gd name="T66" fmla="*/ 158 w 197"/>
                <a:gd name="T67" fmla="*/ 58 h 150"/>
                <a:gd name="T68" fmla="*/ 157 w 197"/>
                <a:gd name="T69" fmla="*/ 58 h 150"/>
                <a:gd name="T70" fmla="*/ 139 w 197"/>
                <a:gd name="T71" fmla="*/ 89 h 150"/>
                <a:gd name="T72" fmla="*/ 124 w 197"/>
                <a:gd name="T73" fmla="*/ 80 h 150"/>
                <a:gd name="T74" fmla="*/ 128 w 197"/>
                <a:gd name="T75" fmla="*/ 76 h 150"/>
                <a:gd name="T76" fmla="*/ 130 w 197"/>
                <a:gd name="T77" fmla="*/ 45 h 150"/>
                <a:gd name="T78" fmla="*/ 111 w 197"/>
                <a:gd name="T79" fmla="*/ 64 h 150"/>
                <a:gd name="T80" fmla="*/ 102 w 197"/>
                <a:gd name="T81" fmla="*/ 70 h 150"/>
                <a:gd name="T82" fmla="*/ 97 w 197"/>
                <a:gd name="T83" fmla="*/ 91 h 150"/>
                <a:gd name="T84" fmla="*/ 92 w 197"/>
                <a:gd name="T85" fmla="*/ 101 h 150"/>
                <a:gd name="T86" fmla="*/ 91 w 197"/>
                <a:gd name="T87" fmla="*/ 102 h 150"/>
                <a:gd name="T88" fmla="*/ 74 w 197"/>
                <a:gd name="T89" fmla="*/ 110 h 150"/>
                <a:gd name="T90" fmla="*/ 74 w 197"/>
                <a:gd name="T91" fmla="*/ 107 h 150"/>
                <a:gd name="T92" fmla="*/ 82 w 197"/>
                <a:gd name="T93" fmla="*/ 85 h 150"/>
                <a:gd name="T94" fmla="*/ 63 w 197"/>
                <a:gd name="T95" fmla="*/ 94 h 150"/>
                <a:gd name="T96" fmla="*/ 53 w 197"/>
                <a:gd name="T97" fmla="*/ 91 h 150"/>
                <a:gd name="T98" fmla="*/ 52 w 197"/>
                <a:gd name="T99" fmla="*/ 90 h 150"/>
                <a:gd name="T100" fmla="*/ 48 w 197"/>
                <a:gd name="T101" fmla="*/ 88 h 150"/>
                <a:gd name="T102" fmla="*/ 44 w 197"/>
                <a:gd name="T103" fmla="*/ 100 h 150"/>
                <a:gd name="T104" fmla="*/ 27 w 197"/>
                <a:gd name="T105" fmla="*/ 147 h 150"/>
                <a:gd name="T106" fmla="*/ 20 w 197"/>
                <a:gd name="T107"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7" h="150">
                  <a:moveTo>
                    <a:pt x="20" y="150"/>
                  </a:moveTo>
                  <a:cubicBezTo>
                    <a:pt x="9" y="146"/>
                    <a:pt x="0" y="124"/>
                    <a:pt x="13" y="119"/>
                  </a:cubicBezTo>
                  <a:cubicBezTo>
                    <a:pt x="13" y="117"/>
                    <a:pt x="15" y="115"/>
                    <a:pt x="17" y="114"/>
                  </a:cubicBezTo>
                  <a:cubicBezTo>
                    <a:pt x="17" y="114"/>
                    <a:pt x="17" y="113"/>
                    <a:pt x="17" y="113"/>
                  </a:cubicBezTo>
                  <a:cubicBezTo>
                    <a:pt x="27" y="103"/>
                    <a:pt x="35" y="88"/>
                    <a:pt x="44" y="77"/>
                  </a:cubicBezTo>
                  <a:cubicBezTo>
                    <a:pt x="46" y="72"/>
                    <a:pt x="47" y="68"/>
                    <a:pt x="52" y="67"/>
                  </a:cubicBezTo>
                  <a:cubicBezTo>
                    <a:pt x="55" y="69"/>
                    <a:pt x="54" y="74"/>
                    <a:pt x="53" y="78"/>
                  </a:cubicBezTo>
                  <a:cubicBezTo>
                    <a:pt x="54" y="79"/>
                    <a:pt x="58" y="78"/>
                    <a:pt x="60" y="77"/>
                  </a:cubicBezTo>
                  <a:cubicBezTo>
                    <a:pt x="68" y="71"/>
                    <a:pt x="78" y="65"/>
                    <a:pt x="85" y="58"/>
                  </a:cubicBezTo>
                  <a:cubicBezTo>
                    <a:pt x="86" y="55"/>
                    <a:pt x="86" y="52"/>
                    <a:pt x="87" y="48"/>
                  </a:cubicBezTo>
                  <a:cubicBezTo>
                    <a:pt x="81" y="50"/>
                    <a:pt x="64" y="54"/>
                    <a:pt x="68" y="44"/>
                  </a:cubicBezTo>
                  <a:cubicBezTo>
                    <a:pt x="75" y="41"/>
                    <a:pt x="84" y="36"/>
                    <a:pt x="88" y="29"/>
                  </a:cubicBezTo>
                  <a:cubicBezTo>
                    <a:pt x="90" y="22"/>
                    <a:pt x="89" y="14"/>
                    <a:pt x="92" y="9"/>
                  </a:cubicBezTo>
                  <a:cubicBezTo>
                    <a:pt x="99" y="5"/>
                    <a:pt x="108" y="14"/>
                    <a:pt x="109" y="22"/>
                  </a:cubicBezTo>
                  <a:cubicBezTo>
                    <a:pt x="112" y="27"/>
                    <a:pt x="121" y="21"/>
                    <a:pt x="110" y="37"/>
                  </a:cubicBezTo>
                  <a:cubicBezTo>
                    <a:pt x="108" y="39"/>
                    <a:pt x="108" y="42"/>
                    <a:pt x="108" y="46"/>
                  </a:cubicBezTo>
                  <a:cubicBezTo>
                    <a:pt x="109" y="46"/>
                    <a:pt x="110" y="46"/>
                    <a:pt x="111" y="46"/>
                  </a:cubicBezTo>
                  <a:cubicBezTo>
                    <a:pt x="117" y="41"/>
                    <a:pt x="124" y="36"/>
                    <a:pt x="131" y="32"/>
                  </a:cubicBezTo>
                  <a:cubicBezTo>
                    <a:pt x="133" y="22"/>
                    <a:pt x="135" y="14"/>
                    <a:pt x="140" y="5"/>
                  </a:cubicBezTo>
                  <a:cubicBezTo>
                    <a:pt x="147" y="0"/>
                    <a:pt x="156" y="5"/>
                    <a:pt x="163" y="11"/>
                  </a:cubicBezTo>
                  <a:cubicBezTo>
                    <a:pt x="168" y="11"/>
                    <a:pt x="172" y="8"/>
                    <a:pt x="176" y="5"/>
                  </a:cubicBezTo>
                  <a:cubicBezTo>
                    <a:pt x="178" y="4"/>
                    <a:pt x="178" y="4"/>
                    <a:pt x="182" y="4"/>
                  </a:cubicBezTo>
                  <a:cubicBezTo>
                    <a:pt x="183" y="7"/>
                    <a:pt x="184" y="9"/>
                    <a:pt x="184" y="13"/>
                  </a:cubicBezTo>
                  <a:cubicBezTo>
                    <a:pt x="181" y="24"/>
                    <a:pt x="151" y="27"/>
                    <a:pt x="157" y="39"/>
                  </a:cubicBezTo>
                  <a:cubicBezTo>
                    <a:pt x="162" y="39"/>
                    <a:pt x="164" y="33"/>
                    <a:pt x="166" y="29"/>
                  </a:cubicBezTo>
                  <a:cubicBezTo>
                    <a:pt x="171" y="26"/>
                    <a:pt x="184" y="30"/>
                    <a:pt x="190" y="34"/>
                  </a:cubicBezTo>
                  <a:cubicBezTo>
                    <a:pt x="197" y="42"/>
                    <a:pt x="192" y="45"/>
                    <a:pt x="184" y="50"/>
                  </a:cubicBezTo>
                  <a:cubicBezTo>
                    <a:pt x="183" y="52"/>
                    <a:pt x="183" y="53"/>
                    <a:pt x="182" y="54"/>
                  </a:cubicBezTo>
                  <a:cubicBezTo>
                    <a:pt x="181" y="70"/>
                    <a:pt x="181" y="70"/>
                    <a:pt x="182" y="93"/>
                  </a:cubicBezTo>
                  <a:cubicBezTo>
                    <a:pt x="179" y="99"/>
                    <a:pt x="177" y="102"/>
                    <a:pt x="173" y="107"/>
                  </a:cubicBezTo>
                  <a:cubicBezTo>
                    <a:pt x="173" y="107"/>
                    <a:pt x="173" y="107"/>
                    <a:pt x="173" y="107"/>
                  </a:cubicBezTo>
                  <a:cubicBezTo>
                    <a:pt x="172" y="107"/>
                    <a:pt x="172" y="107"/>
                    <a:pt x="172" y="107"/>
                  </a:cubicBezTo>
                  <a:cubicBezTo>
                    <a:pt x="169" y="112"/>
                    <a:pt x="162" y="117"/>
                    <a:pt x="158" y="113"/>
                  </a:cubicBezTo>
                  <a:cubicBezTo>
                    <a:pt x="158" y="94"/>
                    <a:pt x="159" y="75"/>
                    <a:pt x="158" y="58"/>
                  </a:cubicBezTo>
                  <a:cubicBezTo>
                    <a:pt x="158" y="58"/>
                    <a:pt x="157" y="58"/>
                    <a:pt x="157" y="58"/>
                  </a:cubicBezTo>
                  <a:cubicBezTo>
                    <a:pt x="156" y="67"/>
                    <a:pt x="147" y="84"/>
                    <a:pt x="139" y="89"/>
                  </a:cubicBezTo>
                  <a:cubicBezTo>
                    <a:pt x="132" y="90"/>
                    <a:pt x="126" y="86"/>
                    <a:pt x="124" y="80"/>
                  </a:cubicBezTo>
                  <a:cubicBezTo>
                    <a:pt x="125" y="78"/>
                    <a:pt x="126" y="77"/>
                    <a:pt x="128" y="76"/>
                  </a:cubicBezTo>
                  <a:cubicBezTo>
                    <a:pt x="132" y="68"/>
                    <a:pt x="130" y="53"/>
                    <a:pt x="130" y="45"/>
                  </a:cubicBezTo>
                  <a:cubicBezTo>
                    <a:pt x="125" y="46"/>
                    <a:pt x="115" y="59"/>
                    <a:pt x="111" y="64"/>
                  </a:cubicBezTo>
                  <a:cubicBezTo>
                    <a:pt x="108" y="66"/>
                    <a:pt x="105" y="68"/>
                    <a:pt x="102" y="70"/>
                  </a:cubicBezTo>
                  <a:cubicBezTo>
                    <a:pt x="100" y="77"/>
                    <a:pt x="98" y="84"/>
                    <a:pt x="97" y="91"/>
                  </a:cubicBezTo>
                  <a:cubicBezTo>
                    <a:pt x="95" y="95"/>
                    <a:pt x="93" y="98"/>
                    <a:pt x="92" y="101"/>
                  </a:cubicBezTo>
                  <a:cubicBezTo>
                    <a:pt x="91" y="101"/>
                    <a:pt x="91" y="101"/>
                    <a:pt x="91" y="102"/>
                  </a:cubicBezTo>
                  <a:cubicBezTo>
                    <a:pt x="88" y="106"/>
                    <a:pt x="80" y="118"/>
                    <a:pt x="74" y="110"/>
                  </a:cubicBezTo>
                  <a:cubicBezTo>
                    <a:pt x="74" y="109"/>
                    <a:pt x="74" y="108"/>
                    <a:pt x="74" y="107"/>
                  </a:cubicBezTo>
                  <a:cubicBezTo>
                    <a:pt x="79" y="101"/>
                    <a:pt x="82" y="92"/>
                    <a:pt x="82" y="85"/>
                  </a:cubicBezTo>
                  <a:cubicBezTo>
                    <a:pt x="75" y="87"/>
                    <a:pt x="70" y="94"/>
                    <a:pt x="63" y="94"/>
                  </a:cubicBezTo>
                  <a:cubicBezTo>
                    <a:pt x="59" y="93"/>
                    <a:pt x="55" y="92"/>
                    <a:pt x="53" y="91"/>
                  </a:cubicBezTo>
                  <a:cubicBezTo>
                    <a:pt x="53" y="90"/>
                    <a:pt x="53" y="90"/>
                    <a:pt x="52" y="90"/>
                  </a:cubicBezTo>
                  <a:cubicBezTo>
                    <a:pt x="51" y="89"/>
                    <a:pt x="49" y="87"/>
                    <a:pt x="48" y="88"/>
                  </a:cubicBezTo>
                  <a:cubicBezTo>
                    <a:pt x="47" y="91"/>
                    <a:pt x="45" y="96"/>
                    <a:pt x="44" y="100"/>
                  </a:cubicBezTo>
                  <a:cubicBezTo>
                    <a:pt x="37" y="115"/>
                    <a:pt x="32" y="130"/>
                    <a:pt x="27" y="147"/>
                  </a:cubicBezTo>
                  <a:cubicBezTo>
                    <a:pt x="24" y="149"/>
                    <a:pt x="23" y="150"/>
                    <a:pt x="20" y="150"/>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85" name="Freeform 83">
              <a:extLst>
                <a:ext uri="{FF2B5EF4-FFF2-40B4-BE49-F238E27FC236}">
                  <a16:creationId xmlns:a16="http://schemas.microsoft.com/office/drawing/2014/main" id="{CD0AAE36-9DBE-490B-BD59-F61A2AED45D9}"/>
                </a:ext>
              </a:extLst>
            </p:cNvPr>
            <p:cNvSpPr>
              <a:spLocks/>
            </p:cNvSpPr>
            <p:nvPr userDrawn="1"/>
          </p:nvSpPr>
          <p:spPr bwMode="auto">
            <a:xfrm>
              <a:off x="1401" y="757"/>
              <a:ext cx="37" cy="49"/>
            </a:xfrm>
            <a:custGeom>
              <a:avLst/>
              <a:gdLst>
                <a:gd name="T0" fmla="*/ 5 w 30"/>
                <a:gd name="T1" fmla="*/ 39 h 39"/>
                <a:gd name="T2" fmla="*/ 6 w 30"/>
                <a:gd name="T3" fmla="*/ 28 h 39"/>
                <a:gd name="T4" fmla="*/ 6 w 30"/>
                <a:gd name="T5" fmla="*/ 1 h 39"/>
                <a:gd name="T6" fmla="*/ 10 w 30"/>
                <a:gd name="T7" fmla="*/ 0 h 39"/>
                <a:gd name="T8" fmla="*/ 25 w 30"/>
                <a:gd name="T9" fmla="*/ 17 h 39"/>
                <a:gd name="T10" fmla="*/ 5 w 30"/>
                <a:gd name="T11" fmla="*/ 39 h 39"/>
              </a:gdLst>
              <a:ahLst/>
              <a:cxnLst>
                <a:cxn ang="0">
                  <a:pos x="T0" y="T1"/>
                </a:cxn>
                <a:cxn ang="0">
                  <a:pos x="T2" y="T3"/>
                </a:cxn>
                <a:cxn ang="0">
                  <a:pos x="T4" y="T5"/>
                </a:cxn>
                <a:cxn ang="0">
                  <a:pos x="T6" y="T7"/>
                </a:cxn>
                <a:cxn ang="0">
                  <a:pos x="T8" y="T9"/>
                </a:cxn>
                <a:cxn ang="0">
                  <a:pos x="T10" y="T11"/>
                </a:cxn>
              </a:cxnLst>
              <a:rect l="0" t="0" r="r" b="b"/>
              <a:pathLst>
                <a:path w="30" h="39">
                  <a:moveTo>
                    <a:pt x="5" y="39"/>
                  </a:moveTo>
                  <a:cubicBezTo>
                    <a:pt x="3" y="35"/>
                    <a:pt x="6" y="31"/>
                    <a:pt x="6" y="28"/>
                  </a:cubicBezTo>
                  <a:cubicBezTo>
                    <a:pt x="3" y="17"/>
                    <a:pt x="0" y="9"/>
                    <a:pt x="6" y="1"/>
                  </a:cubicBezTo>
                  <a:cubicBezTo>
                    <a:pt x="7" y="0"/>
                    <a:pt x="9" y="0"/>
                    <a:pt x="10" y="0"/>
                  </a:cubicBezTo>
                  <a:cubicBezTo>
                    <a:pt x="14" y="4"/>
                    <a:pt x="21" y="11"/>
                    <a:pt x="25" y="17"/>
                  </a:cubicBezTo>
                  <a:cubicBezTo>
                    <a:pt x="30" y="29"/>
                    <a:pt x="14" y="35"/>
                    <a:pt x="5" y="39"/>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86" name="Freeform 84">
              <a:extLst>
                <a:ext uri="{FF2B5EF4-FFF2-40B4-BE49-F238E27FC236}">
                  <a16:creationId xmlns:a16="http://schemas.microsoft.com/office/drawing/2014/main" id="{707372F4-6AC9-4216-9F31-8EA84034705F}"/>
                </a:ext>
              </a:extLst>
            </p:cNvPr>
            <p:cNvSpPr>
              <a:spLocks/>
            </p:cNvSpPr>
            <p:nvPr userDrawn="1"/>
          </p:nvSpPr>
          <p:spPr bwMode="auto">
            <a:xfrm>
              <a:off x="1411" y="708"/>
              <a:ext cx="46" cy="47"/>
            </a:xfrm>
            <a:custGeom>
              <a:avLst/>
              <a:gdLst>
                <a:gd name="T0" fmla="*/ 7 w 37"/>
                <a:gd name="T1" fmla="*/ 38 h 38"/>
                <a:gd name="T2" fmla="*/ 4 w 37"/>
                <a:gd name="T3" fmla="*/ 36 h 38"/>
                <a:gd name="T4" fmla="*/ 6 w 37"/>
                <a:gd name="T5" fmla="*/ 29 h 38"/>
                <a:gd name="T6" fmla="*/ 11 w 37"/>
                <a:gd name="T7" fmla="*/ 0 h 38"/>
                <a:gd name="T8" fmla="*/ 16 w 37"/>
                <a:gd name="T9" fmla="*/ 7 h 38"/>
                <a:gd name="T10" fmla="*/ 24 w 37"/>
                <a:gd name="T11" fmla="*/ 32 h 38"/>
                <a:gd name="T12" fmla="*/ 7 w 37"/>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37" h="38">
                  <a:moveTo>
                    <a:pt x="7" y="38"/>
                  </a:moveTo>
                  <a:cubicBezTo>
                    <a:pt x="5" y="37"/>
                    <a:pt x="5" y="37"/>
                    <a:pt x="4" y="36"/>
                  </a:cubicBezTo>
                  <a:cubicBezTo>
                    <a:pt x="6" y="33"/>
                    <a:pt x="7" y="32"/>
                    <a:pt x="6" y="29"/>
                  </a:cubicBezTo>
                  <a:cubicBezTo>
                    <a:pt x="0" y="20"/>
                    <a:pt x="0" y="5"/>
                    <a:pt x="11" y="0"/>
                  </a:cubicBezTo>
                  <a:cubicBezTo>
                    <a:pt x="14" y="0"/>
                    <a:pt x="15" y="3"/>
                    <a:pt x="16" y="7"/>
                  </a:cubicBezTo>
                  <a:cubicBezTo>
                    <a:pt x="23" y="14"/>
                    <a:pt x="37" y="23"/>
                    <a:pt x="24" y="32"/>
                  </a:cubicBezTo>
                  <a:cubicBezTo>
                    <a:pt x="18" y="35"/>
                    <a:pt x="13" y="36"/>
                    <a:pt x="7" y="38"/>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87" name="Freeform 85">
              <a:extLst>
                <a:ext uri="{FF2B5EF4-FFF2-40B4-BE49-F238E27FC236}">
                  <a16:creationId xmlns:a16="http://schemas.microsoft.com/office/drawing/2014/main" id="{51ED8FEB-4EE3-41A1-AD91-FEE41E02420B}"/>
                </a:ext>
              </a:extLst>
            </p:cNvPr>
            <p:cNvSpPr>
              <a:spLocks/>
            </p:cNvSpPr>
            <p:nvPr userDrawn="1"/>
          </p:nvSpPr>
          <p:spPr bwMode="auto">
            <a:xfrm>
              <a:off x="2067" y="765"/>
              <a:ext cx="26" cy="39"/>
            </a:xfrm>
            <a:custGeom>
              <a:avLst/>
              <a:gdLst>
                <a:gd name="T0" fmla="*/ 10 w 21"/>
                <a:gd name="T1" fmla="*/ 31 h 31"/>
                <a:gd name="T2" fmla="*/ 3 w 21"/>
                <a:gd name="T3" fmla="*/ 4 h 31"/>
                <a:gd name="T4" fmla="*/ 21 w 21"/>
                <a:gd name="T5" fmla="*/ 18 h 31"/>
                <a:gd name="T6" fmla="*/ 10 w 21"/>
                <a:gd name="T7" fmla="*/ 31 h 31"/>
              </a:gdLst>
              <a:ahLst/>
              <a:cxnLst>
                <a:cxn ang="0">
                  <a:pos x="T0" y="T1"/>
                </a:cxn>
                <a:cxn ang="0">
                  <a:pos x="T2" y="T3"/>
                </a:cxn>
                <a:cxn ang="0">
                  <a:pos x="T4" y="T5"/>
                </a:cxn>
                <a:cxn ang="0">
                  <a:pos x="T6" y="T7"/>
                </a:cxn>
              </a:cxnLst>
              <a:rect l="0" t="0" r="r" b="b"/>
              <a:pathLst>
                <a:path w="21" h="31">
                  <a:moveTo>
                    <a:pt x="10" y="31"/>
                  </a:moveTo>
                  <a:cubicBezTo>
                    <a:pt x="0" y="27"/>
                    <a:pt x="2" y="11"/>
                    <a:pt x="3" y="4"/>
                  </a:cubicBezTo>
                  <a:cubicBezTo>
                    <a:pt x="11" y="0"/>
                    <a:pt x="20" y="9"/>
                    <a:pt x="21" y="18"/>
                  </a:cubicBezTo>
                  <a:cubicBezTo>
                    <a:pt x="19" y="27"/>
                    <a:pt x="19" y="29"/>
                    <a:pt x="10" y="31"/>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88" name="Freeform 86">
              <a:extLst>
                <a:ext uri="{FF2B5EF4-FFF2-40B4-BE49-F238E27FC236}">
                  <a16:creationId xmlns:a16="http://schemas.microsoft.com/office/drawing/2014/main" id="{4244F7A9-8DC7-4B7B-A505-47B451E60CCA}"/>
                </a:ext>
              </a:extLst>
            </p:cNvPr>
            <p:cNvSpPr>
              <a:spLocks noEditPoints="1"/>
            </p:cNvSpPr>
            <p:nvPr userDrawn="1"/>
          </p:nvSpPr>
          <p:spPr bwMode="auto">
            <a:xfrm>
              <a:off x="2057" y="673"/>
              <a:ext cx="166" cy="224"/>
            </a:xfrm>
            <a:custGeom>
              <a:avLst/>
              <a:gdLst>
                <a:gd name="T0" fmla="*/ 71 w 134"/>
                <a:gd name="T1" fmla="*/ 180 h 180"/>
                <a:gd name="T2" fmla="*/ 34 w 134"/>
                <a:gd name="T3" fmla="*/ 173 h 180"/>
                <a:gd name="T4" fmla="*/ 56 w 134"/>
                <a:gd name="T5" fmla="*/ 148 h 180"/>
                <a:gd name="T6" fmla="*/ 0 w 134"/>
                <a:gd name="T7" fmla="*/ 147 h 180"/>
                <a:gd name="T8" fmla="*/ 56 w 134"/>
                <a:gd name="T9" fmla="*/ 124 h 180"/>
                <a:gd name="T10" fmla="*/ 75 w 134"/>
                <a:gd name="T11" fmla="*/ 108 h 180"/>
                <a:gd name="T12" fmla="*/ 91 w 134"/>
                <a:gd name="T13" fmla="*/ 96 h 180"/>
                <a:gd name="T14" fmla="*/ 32 w 134"/>
                <a:gd name="T15" fmla="*/ 119 h 180"/>
                <a:gd name="T16" fmla="*/ 34 w 134"/>
                <a:gd name="T17" fmla="*/ 108 h 180"/>
                <a:gd name="T18" fmla="*/ 73 w 134"/>
                <a:gd name="T19" fmla="*/ 81 h 180"/>
                <a:gd name="T20" fmla="*/ 71 w 134"/>
                <a:gd name="T21" fmla="*/ 78 h 180"/>
                <a:gd name="T22" fmla="*/ 39 w 134"/>
                <a:gd name="T23" fmla="*/ 93 h 180"/>
                <a:gd name="T24" fmla="*/ 27 w 134"/>
                <a:gd name="T25" fmla="*/ 61 h 180"/>
                <a:gd name="T26" fmla="*/ 33 w 134"/>
                <a:gd name="T27" fmla="*/ 44 h 180"/>
                <a:gd name="T28" fmla="*/ 46 w 134"/>
                <a:gd name="T29" fmla="*/ 56 h 180"/>
                <a:gd name="T30" fmla="*/ 60 w 134"/>
                <a:gd name="T31" fmla="*/ 66 h 180"/>
                <a:gd name="T32" fmla="*/ 68 w 134"/>
                <a:gd name="T33" fmla="*/ 55 h 180"/>
                <a:gd name="T34" fmla="*/ 64 w 134"/>
                <a:gd name="T35" fmla="*/ 45 h 180"/>
                <a:gd name="T36" fmla="*/ 84 w 134"/>
                <a:gd name="T37" fmla="*/ 25 h 180"/>
                <a:gd name="T38" fmla="*/ 111 w 134"/>
                <a:gd name="T39" fmla="*/ 20 h 180"/>
                <a:gd name="T40" fmla="*/ 110 w 134"/>
                <a:gd name="T41" fmla="*/ 29 h 180"/>
                <a:gd name="T42" fmla="*/ 132 w 134"/>
                <a:gd name="T43" fmla="*/ 44 h 180"/>
                <a:gd name="T44" fmla="*/ 115 w 134"/>
                <a:gd name="T45" fmla="*/ 77 h 180"/>
                <a:gd name="T46" fmla="*/ 120 w 134"/>
                <a:gd name="T47" fmla="*/ 94 h 180"/>
                <a:gd name="T48" fmla="*/ 78 w 134"/>
                <a:gd name="T49" fmla="*/ 114 h 180"/>
                <a:gd name="T50" fmla="*/ 92 w 134"/>
                <a:gd name="T51" fmla="*/ 119 h 180"/>
                <a:gd name="T52" fmla="*/ 81 w 134"/>
                <a:gd name="T53" fmla="*/ 140 h 180"/>
                <a:gd name="T54" fmla="*/ 72 w 134"/>
                <a:gd name="T55" fmla="*/ 180 h 180"/>
                <a:gd name="T56" fmla="*/ 106 w 134"/>
                <a:gd name="T57" fmla="*/ 53 h 180"/>
                <a:gd name="T58" fmla="*/ 87 w 134"/>
                <a:gd name="T59" fmla="*/ 59 h 180"/>
                <a:gd name="T60" fmla="*/ 87 w 134"/>
                <a:gd name="T61" fmla="*/ 60 h 180"/>
                <a:gd name="T62" fmla="*/ 92 w 134"/>
                <a:gd name="T63" fmla="*/ 58 h 180"/>
                <a:gd name="T64" fmla="*/ 99 w 134"/>
                <a:gd name="T65" fmla="*/ 67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4" h="180">
                  <a:moveTo>
                    <a:pt x="72" y="180"/>
                  </a:moveTo>
                  <a:cubicBezTo>
                    <a:pt x="71" y="180"/>
                    <a:pt x="71" y="180"/>
                    <a:pt x="71" y="180"/>
                  </a:cubicBezTo>
                  <a:cubicBezTo>
                    <a:pt x="58" y="180"/>
                    <a:pt x="46" y="179"/>
                    <a:pt x="34" y="175"/>
                  </a:cubicBezTo>
                  <a:cubicBezTo>
                    <a:pt x="34" y="174"/>
                    <a:pt x="34" y="174"/>
                    <a:pt x="34" y="173"/>
                  </a:cubicBezTo>
                  <a:cubicBezTo>
                    <a:pt x="41" y="169"/>
                    <a:pt x="50" y="170"/>
                    <a:pt x="55" y="163"/>
                  </a:cubicBezTo>
                  <a:cubicBezTo>
                    <a:pt x="56" y="157"/>
                    <a:pt x="57" y="152"/>
                    <a:pt x="56" y="148"/>
                  </a:cubicBezTo>
                  <a:cubicBezTo>
                    <a:pt x="43" y="148"/>
                    <a:pt x="37" y="157"/>
                    <a:pt x="27" y="161"/>
                  </a:cubicBezTo>
                  <a:cubicBezTo>
                    <a:pt x="18" y="162"/>
                    <a:pt x="3" y="154"/>
                    <a:pt x="0" y="147"/>
                  </a:cubicBezTo>
                  <a:cubicBezTo>
                    <a:pt x="0" y="136"/>
                    <a:pt x="3" y="141"/>
                    <a:pt x="14" y="140"/>
                  </a:cubicBezTo>
                  <a:cubicBezTo>
                    <a:pt x="28" y="138"/>
                    <a:pt x="43" y="130"/>
                    <a:pt x="56" y="124"/>
                  </a:cubicBezTo>
                  <a:cubicBezTo>
                    <a:pt x="59" y="121"/>
                    <a:pt x="59" y="121"/>
                    <a:pt x="61" y="121"/>
                  </a:cubicBezTo>
                  <a:cubicBezTo>
                    <a:pt x="64" y="112"/>
                    <a:pt x="66" y="110"/>
                    <a:pt x="75" y="108"/>
                  </a:cubicBezTo>
                  <a:cubicBezTo>
                    <a:pt x="79" y="106"/>
                    <a:pt x="79" y="106"/>
                    <a:pt x="90" y="100"/>
                  </a:cubicBezTo>
                  <a:cubicBezTo>
                    <a:pt x="90" y="99"/>
                    <a:pt x="91" y="98"/>
                    <a:pt x="91" y="96"/>
                  </a:cubicBezTo>
                  <a:cubicBezTo>
                    <a:pt x="74" y="98"/>
                    <a:pt x="61" y="112"/>
                    <a:pt x="48" y="121"/>
                  </a:cubicBezTo>
                  <a:cubicBezTo>
                    <a:pt x="41" y="122"/>
                    <a:pt x="36" y="121"/>
                    <a:pt x="32" y="119"/>
                  </a:cubicBezTo>
                  <a:cubicBezTo>
                    <a:pt x="29" y="120"/>
                    <a:pt x="12" y="123"/>
                    <a:pt x="20" y="116"/>
                  </a:cubicBezTo>
                  <a:cubicBezTo>
                    <a:pt x="25" y="114"/>
                    <a:pt x="29" y="111"/>
                    <a:pt x="34" y="108"/>
                  </a:cubicBezTo>
                  <a:cubicBezTo>
                    <a:pt x="47" y="100"/>
                    <a:pt x="61" y="93"/>
                    <a:pt x="74" y="85"/>
                  </a:cubicBezTo>
                  <a:cubicBezTo>
                    <a:pt x="74" y="83"/>
                    <a:pt x="73" y="82"/>
                    <a:pt x="73" y="81"/>
                  </a:cubicBezTo>
                  <a:cubicBezTo>
                    <a:pt x="73" y="79"/>
                    <a:pt x="74" y="77"/>
                    <a:pt x="74" y="75"/>
                  </a:cubicBezTo>
                  <a:cubicBezTo>
                    <a:pt x="72" y="76"/>
                    <a:pt x="71" y="76"/>
                    <a:pt x="71" y="78"/>
                  </a:cubicBezTo>
                  <a:cubicBezTo>
                    <a:pt x="63" y="81"/>
                    <a:pt x="59" y="88"/>
                    <a:pt x="53" y="81"/>
                  </a:cubicBezTo>
                  <a:cubicBezTo>
                    <a:pt x="51" y="88"/>
                    <a:pt x="46" y="93"/>
                    <a:pt x="39" y="93"/>
                  </a:cubicBezTo>
                  <a:cubicBezTo>
                    <a:pt x="32" y="89"/>
                    <a:pt x="32" y="77"/>
                    <a:pt x="31" y="72"/>
                  </a:cubicBezTo>
                  <a:cubicBezTo>
                    <a:pt x="30" y="71"/>
                    <a:pt x="29" y="67"/>
                    <a:pt x="27" y="61"/>
                  </a:cubicBezTo>
                  <a:cubicBezTo>
                    <a:pt x="24" y="55"/>
                    <a:pt x="18" y="47"/>
                    <a:pt x="22" y="42"/>
                  </a:cubicBezTo>
                  <a:cubicBezTo>
                    <a:pt x="27" y="38"/>
                    <a:pt x="29" y="37"/>
                    <a:pt x="33" y="44"/>
                  </a:cubicBezTo>
                  <a:cubicBezTo>
                    <a:pt x="37" y="47"/>
                    <a:pt x="42" y="51"/>
                    <a:pt x="45" y="56"/>
                  </a:cubicBezTo>
                  <a:cubicBezTo>
                    <a:pt x="45" y="56"/>
                    <a:pt x="46" y="56"/>
                    <a:pt x="46" y="56"/>
                  </a:cubicBezTo>
                  <a:cubicBezTo>
                    <a:pt x="48" y="62"/>
                    <a:pt x="54" y="69"/>
                    <a:pt x="53" y="77"/>
                  </a:cubicBezTo>
                  <a:cubicBezTo>
                    <a:pt x="57" y="75"/>
                    <a:pt x="62" y="71"/>
                    <a:pt x="60" y="66"/>
                  </a:cubicBezTo>
                  <a:cubicBezTo>
                    <a:pt x="53" y="63"/>
                    <a:pt x="57" y="57"/>
                    <a:pt x="61" y="55"/>
                  </a:cubicBezTo>
                  <a:cubicBezTo>
                    <a:pt x="64" y="55"/>
                    <a:pt x="64" y="55"/>
                    <a:pt x="68" y="55"/>
                  </a:cubicBezTo>
                  <a:cubicBezTo>
                    <a:pt x="68" y="53"/>
                    <a:pt x="68" y="53"/>
                    <a:pt x="67" y="52"/>
                  </a:cubicBezTo>
                  <a:cubicBezTo>
                    <a:pt x="62" y="50"/>
                    <a:pt x="63" y="49"/>
                    <a:pt x="64" y="45"/>
                  </a:cubicBezTo>
                  <a:cubicBezTo>
                    <a:pt x="58" y="43"/>
                    <a:pt x="56" y="37"/>
                    <a:pt x="58" y="32"/>
                  </a:cubicBezTo>
                  <a:cubicBezTo>
                    <a:pt x="76" y="28"/>
                    <a:pt x="76" y="28"/>
                    <a:pt x="84" y="25"/>
                  </a:cubicBezTo>
                  <a:cubicBezTo>
                    <a:pt x="89" y="19"/>
                    <a:pt x="95" y="0"/>
                    <a:pt x="106" y="4"/>
                  </a:cubicBezTo>
                  <a:cubicBezTo>
                    <a:pt x="109" y="7"/>
                    <a:pt x="111" y="14"/>
                    <a:pt x="111" y="20"/>
                  </a:cubicBezTo>
                  <a:cubicBezTo>
                    <a:pt x="109" y="23"/>
                    <a:pt x="107" y="25"/>
                    <a:pt x="107" y="28"/>
                  </a:cubicBezTo>
                  <a:cubicBezTo>
                    <a:pt x="108" y="28"/>
                    <a:pt x="109" y="28"/>
                    <a:pt x="110" y="29"/>
                  </a:cubicBezTo>
                  <a:cubicBezTo>
                    <a:pt x="117" y="25"/>
                    <a:pt x="121" y="21"/>
                    <a:pt x="125" y="31"/>
                  </a:cubicBezTo>
                  <a:cubicBezTo>
                    <a:pt x="132" y="35"/>
                    <a:pt x="134" y="34"/>
                    <a:pt x="132" y="44"/>
                  </a:cubicBezTo>
                  <a:cubicBezTo>
                    <a:pt x="127" y="55"/>
                    <a:pt x="121" y="66"/>
                    <a:pt x="115" y="76"/>
                  </a:cubicBezTo>
                  <a:cubicBezTo>
                    <a:pt x="115" y="76"/>
                    <a:pt x="115" y="77"/>
                    <a:pt x="115" y="77"/>
                  </a:cubicBezTo>
                  <a:cubicBezTo>
                    <a:pt x="117" y="77"/>
                    <a:pt x="118" y="78"/>
                    <a:pt x="119" y="78"/>
                  </a:cubicBezTo>
                  <a:cubicBezTo>
                    <a:pt x="120" y="83"/>
                    <a:pt x="120" y="88"/>
                    <a:pt x="120" y="94"/>
                  </a:cubicBezTo>
                  <a:cubicBezTo>
                    <a:pt x="116" y="100"/>
                    <a:pt x="110" y="100"/>
                    <a:pt x="103" y="101"/>
                  </a:cubicBezTo>
                  <a:cubicBezTo>
                    <a:pt x="94" y="106"/>
                    <a:pt x="86" y="109"/>
                    <a:pt x="78" y="114"/>
                  </a:cubicBezTo>
                  <a:cubicBezTo>
                    <a:pt x="78" y="116"/>
                    <a:pt x="78" y="118"/>
                    <a:pt x="79" y="120"/>
                  </a:cubicBezTo>
                  <a:cubicBezTo>
                    <a:pt x="83" y="120"/>
                    <a:pt x="87" y="120"/>
                    <a:pt x="92" y="119"/>
                  </a:cubicBezTo>
                  <a:cubicBezTo>
                    <a:pt x="96" y="123"/>
                    <a:pt x="96" y="131"/>
                    <a:pt x="93" y="136"/>
                  </a:cubicBezTo>
                  <a:cubicBezTo>
                    <a:pt x="88" y="137"/>
                    <a:pt x="85" y="138"/>
                    <a:pt x="81" y="140"/>
                  </a:cubicBezTo>
                  <a:cubicBezTo>
                    <a:pt x="81" y="142"/>
                    <a:pt x="81" y="144"/>
                    <a:pt x="80" y="147"/>
                  </a:cubicBezTo>
                  <a:cubicBezTo>
                    <a:pt x="81" y="156"/>
                    <a:pt x="85" y="178"/>
                    <a:pt x="72" y="180"/>
                  </a:cubicBezTo>
                  <a:moveTo>
                    <a:pt x="99" y="67"/>
                  </a:moveTo>
                  <a:cubicBezTo>
                    <a:pt x="103" y="63"/>
                    <a:pt x="106" y="58"/>
                    <a:pt x="106" y="53"/>
                  </a:cubicBezTo>
                  <a:cubicBezTo>
                    <a:pt x="102" y="49"/>
                    <a:pt x="96" y="49"/>
                    <a:pt x="92" y="49"/>
                  </a:cubicBezTo>
                  <a:cubicBezTo>
                    <a:pt x="92" y="51"/>
                    <a:pt x="92" y="51"/>
                    <a:pt x="87" y="59"/>
                  </a:cubicBezTo>
                  <a:cubicBezTo>
                    <a:pt x="88" y="59"/>
                    <a:pt x="88" y="59"/>
                    <a:pt x="89" y="59"/>
                  </a:cubicBezTo>
                  <a:cubicBezTo>
                    <a:pt x="88" y="60"/>
                    <a:pt x="88" y="60"/>
                    <a:pt x="87" y="60"/>
                  </a:cubicBezTo>
                  <a:cubicBezTo>
                    <a:pt x="87" y="60"/>
                    <a:pt x="88" y="60"/>
                    <a:pt x="88" y="61"/>
                  </a:cubicBezTo>
                  <a:cubicBezTo>
                    <a:pt x="90" y="61"/>
                    <a:pt x="91" y="59"/>
                    <a:pt x="92" y="58"/>
                  </a:cubicBezTo>
                  <a:cubicBezTo>
                    <a:pt x="98" y="57"/>
                    <a:pt x="98" y="59"/>
                    <a:pt x="98" y="67"/>
                  </a:cubicBezTo>
                  <a:cubicBezTo>
                    <a:pt x="98" y="67"/>
                    <a:pt x="98" y="67"/>
                    <a:pt x="99" y="67"/>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89" name="Freeform 87">
              <a:extLst>
                <a:ext uri="{FF2B5EF4-FFF2-40B4-BE49-F238E27FC236}">
                  <a16:creationId xmlns:a16="http://schemas.microsoft.com/office/drawing/2014/main" id="{F2EC1E1E-4A75-461B-9D02-FBA8E8622D71}"/>
                </a:ext>
              </a:extLst>
            </p:cNvPr>
            <p:cNvSpPr>
              <a:spLocks/>
            </p:cNvSpPr>
            <p:nvPr userDrawn="1"/>
          </p:nvSpPr>
          <p:spPr bwMode="auto">
            <a:xfrm>
              <a:off x="1415" y="933"/>
              <a:ext cx="31" cy="40"/>
            </a:xfrm>
            <a:custGeom>
              <a:avLst/>
              <a:gdLst>
                <a:gd name="T0" fmla="*/ 0 w 31"/>
                <a:gd name="T1" fmla="*/ 35 h 40"/>
                <a:gd name="T2" fmla="*/ 24 w 31"/>
                <a:gd name="T3" fmla="*/ 5 h 40"/>
                <a:gd name="T4" fmla="*/ 2 w 31"/>
                <a:gd name="T5" fmla="*/ 5 h 40"/>
                <a:gd name="T6" fmla="*/ 2 w 31"/>
                <a:gd name="T7" fmla="*/ 3 h 40"/>
                <a:gd name="T8" fmla="*/ 2 w 31"/>
                <a:gd name="T9" fmla="*/ 0 h 40"/>
                <a:gd name="T10" fmla="*/ 31 w 31"/>
                <a:gd name="T11" fmla="*/ 0 h 40"/>
                <a:gd name="T12" fmla="*/ 31 w 31"/>
                <a:gd name="T13" fmla="*/ 3 h 40"/>
                <a:gd name="T14" fmla="*/ 31 w 31"/>
                <a:gd name="T15" fmla="*/ 5 h 40"/>
                <a:gd name="T16" fmla="*/ 6 w 31"/>
                <a:gd name="T17" fmla="*/ 35 h 40"/>
                <a:gd name="T18" fmla="*/ 31 w 31"/>
                <a:gd name="T19" fmla="*/ 35 h 40"/>
                <a:gd name="T20" fmla="*/ 31 w 31"/>
                <a:gd name="T21" fmla="*/ 37 h 40"/>
                <a:gd name="T22" fmla="*/ 31 w 31"/>
                <a:gd name="T23" fmla="*/ 40 h 40"/>
                <a:gd name="T24" fmla="*/ 0 w 31"/>
                <a:gd name="T25" fmla="*/ 40 h 40"/>
                <a:gd name="T26" fmla="*/ 0 w 31"/>
                <a:gd name="T27" fmla="*/ 37 h 40"/>
                <a:gd name="T28" fmla="*/ 0 w 31"/>
                <a:gd name="T29" fmla="*/ 3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0" y="35"/>
                  </a:moveTo>
                  <a:lnTo>
                    <a:pt x="24" y="5"/>
                  </a:lnTo>
                  <a:lnTo>
                    <a:pt x="2" y="5"/>
                  </a:lnTo>
                  <a:lnTo>
                    <a:pt x="2" y="3"/>
                  </a:lnTo>
                  <a:lnTo>
                    <a:pt x="2" y="0"/>
                  </a:lnTo>
                  <a:lnTo>
                    <a:pt x="31" y="0"/>
                  </a:lnTo>
                  <a:lnTo>
                    <a:pt x="31" y="3"/>
                  </a:lnTo>
                  <a:lnTo>
                    <a:pt x="31" y="5"/>
                  </a:lnTo>
                  <a:lnTo>
                    <a:pt x="6" y="35"/>
                  </a:lnTo>
                  <a:lnTo>
                    <a:pt x="31" y="35"/>
                  </a:lnTo>
                  <a:lnTo>
                    <a:pt x="31" y="37"/>
                  </a:lnTo>
                  <a:lnTo>
                    <a:pt x="31" y="40"/>
                  </a:lnTo>
                  <a:lnTo>
                    <a:pt x="0" y="40"/>
                  </a:lnTo>
                  <a:lnTo>
                    <a:pt x="0" y="37"/>
                  </a:lnTo>
                  <a:lnTo>
                    <a:pt x="0" y="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90" name="Freeform 88">
              <a:extLst>
                <a:ext uri="{FF2B5EF4-FFF2-40B4-BE49-F238E27FC236}">
                  <a16:creationId xmlns:a16="http://schemas.microsoft.com/office/drawing/2014/main" id="{DB7E826D-636D-40B7-857D-408BE8B4CF7E}"/>
                </a:ext>
              </a:extLst>
            </p:cNvPr>
            <p:cNvSpPr>
              <a:spLocks/>
            </p:cNvSpPr>
            <p:nvPr userDrawn="1"/>
          </p:nvSpPr>
          <p:spPr bwMode="auto">
            <a:xfrm>
              <a:off x="1458" y="933"/>
              <a:ext cx="31" cy="40"/>
            </a:xfrm>
            <a:custGeom>
              <a:avLst/>
              <a:gdLst>
                <a:gd name="T0" fmla="*/ 0 w 31"/>
                <a:gd name="T1" fmla="*/ 0 h 40"/>
                <a:gd name="T2" fmla="*/ 2 w 31"/>
                <a:gd name="T3" fmla="*/ 0 h 40"/>
                <a:gd name="T4" fmla="*/ 5 w 31"/>
                <a:gd name="T5" fmla="*/ 0 h 40"/>
                <a:gd name="T6" fmla="*/ 5 w 31"/>
                <a:gd name="T7" fmla="*/ 16 h 40"/>
                <a:gd name="T8" fmla="*/ 26 w 31"/>
                <a:gd name="T9" fmla="*/ 16 h 40"/>
                <a:gd name="T10" fmla="*/ 26 w 31"/>
                <a:gd name="T11" fmla="*/ 0 h 40"/>
                <a:gd name="T12" fmla="*/ 28 w 31"/>
                <a:gd name="T13" fmla="*/ 0 h 40"/>
                <a:gd name="T14" fmla="*/ 31 w 31"/>
                <a:gd name="T15" fmla="*/ 0 h 40"/>
                <a:gd name="T16" fmla="*/ 31 w 31"/>
                <a:gd name="T17" fmla="*/ 40 h 40"/>
                <a:gd name="T18" fmla="*/ 28 w 31"/>
                <a:gd name="T19" fmla="*/ 40 h 40"/>
                <a:gd name="T20" fmla="*/ 26 w 31"/>
                <a:gd name="T21" fmla="*/ 40 h 40"/>
                <a:gd name="T22" fmla="*/ 26 w 31"/>
                <a:gd name="T23" fmla="*/ 21 h 40"/>
                <a:gd name="T24" fmla="*/ 5 w 31"/>
                <a:gd name="T25" fmla="*/ 21 h 40"/>
                <a:gd name="T26" fmla="*/ 5 w 31"/>
                <a:gd name="T27" fmla="*/ 40 h 40"/>
                <a:gd name="T28" fmla="*/ 2 w 31"/>
                <a:gd name="T29" fmla="*/ 40 h 40"/>
                <a:gd name="T30" fmla="*/ 0 w 31"/>
                <a:gd name="T31" fmla="*/ 40 h 40"/>
                <a:gd name="T32" fmla="*/ 0 w 31"/>
                <a:gd name="T3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40">
                  <a:moveTo>
                    <a:pt x="0" y="0"/>
                  </a:moveTo>
                  <a:lnTo>
                    <a:pt x="2" y="0"/>
                  </a:lnTo>
                  <a:lnTo>
                    <a:pt x="5" y="0"/>
                  </a:lnTo>
                  <a:lnTo>
                    <a:pt x="5" y="16"/>
                  </a:lnTo>
                  <a:lnTo>
                    <a:pt x="26" y="16"/>
                  </a:lnTo>
                  <a:lnTo>
                    <a:pt x="26" y="0"/>
                  </a:lnTo>
                  <a:lnTo>
                    <a:pt x="28" y="0"/>
                  </a:lnTo>
                  <a:lnTo>
                    <a:pt x="31" y="0"/>
                  </a:lnTo>
                  <a:lnTo>
                    <a:pt x="31" y="40"/>
                  </a:lnTo>
                  <a:lnTo>
                    <a:pt x="28" y="40"/>
                  </a:lnTo>
                  <a:lnTo>
                    <a:pt x="26" y="40"/>
                  </a:lnTo>
                  <a:lnTo>
                    <a:pt x="26" y="21"/>
                  </a:lnTo>
                  <a:lnTo>
                    <a:pt x="5" y="21"/>
                  </a:lnTo>
                  <a:lnTo>
                    <a:pt x="5" y="40"/>
                  </a:lnTo>
                  <a:lnTo>
                    <a:pt x="2" y="40"/>
                  </a:lnTo>
                  <a:lnTo>
                    <a:pt x="0" y="40"/>
                  </a:lnTo>
                  <a:lnTo>
                    <a:pt x="0"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91" name="Freeform 89">
              <a:extLst>
                <a:ext uri="{FF2B5EF4-FFF2-40B4-BE49-F238E27FC236}">
                  <a16:creationId xmlns:a16="http://schemas.microsoft.com/office/drawing/2014/main" id="{4A2C7FF0-E099-4CB6-89FC-0C752C8A0EAA}"/>
                </a:ext>
              </a:extLst>
            </p:cNvPr>
            <p:cNvSpPr>
              <a:spLocks/>
            </p:cNvSpPr>
            <p:nvPr userDrawn="1"/>
          </p:nvSpPr>
          <p:spPr bwMode="auto">
            <a:xfrm>
              <a:off x="1503" y="933"/>
              <a:ext cx="29" cy="40"/>
            </a:xfrm>
            <a:custGeom>
              <a:avLst/>
              <a:gdLst>
                <a:gd name="T0" fmla="*/ 0 w 29"/>
                <a:gd name="T1" fmla="*/ 40 h 40"/>
                <a:gd name="T2" fmla="*/ 0 w 29"/>
                <a:gd name="T3" fmla="*/ 0 h 40"/>
                <a:gd name="T4" fmla="*/ 29 w 29"/>
                <a:gd name="T5" fmla="*/ 0 h 40"/>
                <a:gd name="T6" fmla="*/ 29 w 29"/>
                <a:gd name="T7" fmla="*/ 3 h 40"/>
                <a:gd name="T8" fmla="*/ 29 w 29"/>
                <a:gd name="T9" fmla="*/ 5 h 40"/>
                <a:gd name="T10" fmla="*/ 6 w 29"/>
                <a:gd name="T11" fmla="*/ 5 h 40"/>
                <a:gd name="T12" fmla="*/ 6 w 29"/>
                <a:gd name="T13" fmla="*/ 16 h 40"/>
                <a:gd name="T14" fmla="*/ 27 w 29"/>
                <a:gd name="T15" fmla="*/ 16 h 40"/>
                <a:gd name="T16" fmla="*/ 27 w 29"/>
                <a:gd name="T17" fmla="*/ 19 h 40"/>
                <a:gd name="T18" fmla="*/ 27 w 29"/>
                <a:gd name="T19" fmla="*/ 21 h 40"/>
                <a:gd name="T20" fmla="*/ 6 w 29"/>
                <a:gd name="T21" fmla="*/ 21 h 40"/>
                <a:gd name="T22" fmla="*/ 6 w 29"/>
                <a:gd name="T23" fmla="*/ 35 h 40"/>
                <a:gd name="T24" fmla="*/ 29 w 29"/>
                <a:gd name="T25" fmla="*/ 35 h 40"/>
                <a:gd name="T26" fmla="*/ 29 w 29"/>
                <a:gd name="T27" fmla="*/ 37 h 40"/>
                <a:gd name="T28" fmla="*/ 29 w 29"/>
                <a:gd name="T29" fmla="*/ 40 h 40"/>
                <a:gd name="T30" fmla="*/ 0 w 29"/>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 h="40">
                  <a:moveTo>
                    <a:pt x="0" y="40"/>
                  </a:moveTo>
                  <a:lnTo>
                    <a:pt x="0" y="0"/>
                  </a:lnTo>
                  <a:lnTo>
                    <a:pt x="29" y="0"/>
                  </a:lnTo>
                  <a:lnTo>
                    <a:pt x="29" y="3"/>
                  </a:lnTo>
                  <a:lnTo>
                    <a:pt x="29" y="5"/>
                  </a:lnTo>
                  <a:lnTo>
                    <a:pt x="6" y="5"/>
                  </a:lnTo>
                  <a:lnTo>
                    <a:pt x="6" y="16"/>
                  </a:lnTo>
                  <a:lnTo>
                    <a:pt x="27" y="16"/>
                  </a:lnTo>
                  <a:lnTo>
                    <a:pt x="27" y="19"/>
                  </a:lnTo>
                  <a:lnTo>
                    <a:pt x="27" y="21"/>
                  </a:lnTo>
                  <a:lnTo>
                    <a:pt x="6" y="21"/>
                  </a:lnTo>
                  <a:lnTo>
                    <a:pt x="6" y="35"/>
                  </a:lnTo>
                  <a:lnTo>
                    <a:pt x="29" y="35"/>
                  </a:lnTo>
                  <a:lnTo>
                    <a:pt x="29" y="37"/>
                  </a:lnTo>
                  <a:lnTo>
                    <a:pt x="29" y="40"/>
                  </a:lnTo>
                  <a:lnTo>
                    <a:pt x="0" y="4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92" name="Freeform 90">
              <a:extLst>
                <a:ext uri="{FF2B5EF4-FFF2-40B4-BE49-F238E27FC236}">
                  <a16:creationId xmlns:a16="http://schemas.microsoft.com/office/drawing/2014/main" id="{72A14B52-FCF5-439F-8F7A-307EB1FB6C08}"/>
                </a:ext>
              </a:extLst>
            </p:cNvPr>
            <p:cNvSpPr>
              <a:spLocks/>
            </p:cNvSpPr>
            <p:nvPr userDrawn="1"/>
          </p:nvSpPr>
          <p:spPr bwMode="auto">
            <a:xfrm>
              <a:off x="1542" y="933"/>
              <a:ext cx="22" cy="40"/>
            </a:xfrm>
            <a:custGeom>
              <a:avLst/>
              <a:gdLst>
                <a:gd name="T0" fmla="*/ 14 w 18"/>
                <a:gd name="T1" fmla="*/ 0 h 32"/>
                <a:gd name="T2" fmla="*/ 16 w 18"/>
                <a:gd name="T3" fmla="*/ 0 h 32"/>
                <a:gd name="T4" fmla="*/ 18 w 18"/>
                <a:gd name="T5" fmla="*/ 0 h 32"/>
                <a:gd name="T6" fmla="*/ 18 w 18"/>
                <a:gd name="T7" fmla="*/ 23 h 32"/>
                <a:gd name="T8" fmla="*/ 16 w 18"/>
                <a:gd name="T9" fmla="*/ 30 h 32"/>
                <a:gd name="T10" fmla="*/ 9 w 18"/>
                <a:gd name="T11" fmla="*/ 32 h 32"/>
                <a:gd name="T12" fmla="*/ 2 w 18"/>
                <a:gd name="T13" fmla="*/ 30 h 32"/>
                <a:gd name="T14" fmla="*/ 0 w 18"/>
                <a:gd name="T15" fmla="*/ 23 h 32"/>
                <a:gd name="T16" fmla="*/ 0 w 18"/>
                <a:gd name="T17" fmla="*/ 21 h 32"/>
                <a:gd name="T18" fmla="*/ 4 w 18"/>
                <a:gd name="T19" fmla="*/ 21 h 32"/>
                <a:gd name="T20" fmla="*/ 4 w 18"/>
                <a:gd name="T21" fmla="*/ 23 h 32"/>
                <a:gd name="T22" fmla="*/ 6 w 18"/>
                <a:gd name="T23" fmla="*/ 27 h 32"/>
                <a:gd name="T24" fmla="*/ 9 w 18"/>
                <a:gd name="T25" fmla="*/ 29 h 32"/>
                <a:gd name="T26" fmla="*/ 13 w 18"/>
                <a:gd name="T27" fmla="*/ 27 h 32"/>
                <a:gd name="T28" fmla="*/ 14 w 18"/>
                <a:gd name="T29" fmla="*/ 23 h 32"/>
                <a:gd name="T30" fmla="*/ 14 w 18"/>
                <a:gd name="T31"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32">
                  <a:moveTo>
                    <a:pt x="14" y="0"/>
                  </a:moveTo>
                  <a:cubicBezTo>
                    <a:pt x="16" y="0"/>
                    <a:pt x="16" y="0"/>
                    <a:pt x="16" y="0"/>
                  </a:cubicBezTo>
                  <a:cubicBezTo>
                    <a:pt x="18" y="0"/>
                    <a:pt x="18" y="0"/>
                    <a:pt x="18" y="0"/>
                  </a:cubicBezTo>
                  <a:cubicBezTo>
                    <a:pt x="18" y="23"/>
                    <a:pt x="18" y="23"/>
                    <a:pt x="18" y="23"/>
                  </a:cubicBezTo>
                  <a:cubicBezTo>
                    <a:pt x="18" y="26"/>
                    <a:pt x="18" y="28"/>
                    <a:pt x="16" y="30"/>
                  </a:cubicBezTo>
                  <a:cubicBezTo>
                    <a:pt x="14" y="32"/>
                    <a:pt x="12" y="32"/>
                    <a:pt x="9" y="32"/>
                  </a:cubicBezTo>
                  <a:cubicBezTo>
                    <a:pt x="6" y="32"/>
                    <a:pt x="4" y="32"/>
                    <a:pt x="2" y="30"/>
                  </a:cubicBezTo>
                  <a:cubicBezTo>
                    <a:pt x="1" y="28"/>
                    <a:pt x="0" y="26"/>
                    <a:pt x="0" y="23"/>
                  </a:cubicBezTo>
                  <a:cubicBezTo>
                    <a:pt x="0" y="21"/>
                    <a:pt x="0" y="21"/>
                    <a:pt x="0" y="21"/>
                  </a:cubicBezTo>
                  <a:cubicBezTo>
                    <a:pt x="4" y="21"/>
                    <a:pt x="4" y="21"/>
                    <a:pt x="4" y="21"/>
                  </a:cubicBezTo>
                  <a:cubicBezTo>
                    <a:pt x="4" y="23"/>
                    <a:pt x="4" y="23"/>
                    <a:pt x="4" y="23"/>
                  </a:cubicBezTo>
                  <a:cubicBezTo>
                    <a:pt x="4" y="25"/>
                    <a:pt x="5" y="26"/>
                    <a:pt x="6" y="27"/>
                  </a:cubicBezTo>
                  <a:cubicBezTo>
                    <a:pt x="6" y="28"/>
                    <a:pt x="8" y="29"/>
                    <a:pt x="9" y="29"/>
                  </a:cubicBezTo>
                  <a:cubicBezTo>
                    <a:pt x="11" y="29"/>
                    <a:pt x="12" y="28"/>
                    <a:pt x="13" y="27"/>
                  </a:cubicBezTo>
                  <a:cubicBezTo>
                    <a:pt x="14" y="26"/>
                    <a:pt x="14" y="24"/>
                    <a:pt x="14" y="23"/>
                  </a:cubicBezTo>
                  <a:lnTo>
                    <a:pt x="14"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93" name="Freeform 91">
              <a:extLst>
                <a:ext uri="{FF2B5EF4-FFF2-40B4-BE49-F238E27FC236}">
                  <a16:creationId xmlns:a16="http://schemas.microsoft.com/office/drawing/2014/main" id="{210DDF3A-7FB1-455B-83D3-6853374F938C}"/>
                </a:ext>
              </a:extLst>
            </p:cNvPr>
            <p:cNvSpPr>
              <a:spLocks/>
            </p:cNvSpPr>
            <p:nvPr userDrawn="1"/>
          </p:nvSpPr>
          <p:spPr bwMode="auto">
            <a:xfrm>
              <a:off x="1579" y="933"/>
              <a:ext cx="5" cy="40"/>
            </a:xfrm>
            <a:custGeom>
              <a:avLst/>
              <a:gdLst>
                <a:gd name="T0" fmla="*/ 0 w 5"/>
                <a:gd name="T1" fmla="*/ 0 h 40"/>
                <a:gd name="T2" fmla="*/ 3 w 5"/>
                <a:gd name="T3" fmla="*/ 0 h 40"/>
                <a:gd name="T4" fmla="*/ 5 w 5"/>
                <a:gd name="T5" fmla="*/ 0 h 40"/>
                <a:gd name="T6" fmla="*/ 5 w 5"/>
                <a:gd name="T7" fmla="*/ 40 h 40"/>
                <a:gd name="T8" fmla="*/ 3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3" y="0"/>
                  </a:lnTo>
                  <a:lnTo>
                    <a:pt x="5" y="0"/>
                  </a:lnTo>
                  <a:lnTo>
                    <a:pt x="5" y="40"/>
                  </a:lnTo>
                  <a:lnTo>
                    <a:pt x="3" y="40"/>
                  </a:lnTo>
                  <a:lnTo>
                    <a:pt x="0" y="40"/>
                  </a:lnTo>
                  <a:lnTo>
                    <a:pt x="0"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94" name="Freeform 92">
              <a:extLst>
                <a:ext uri="{FF2B5EF4-FFF2-40B4-BE49-F238E27FC236}">
                  <a16:creationId xmlns:a16="http://schemas.microsoft.com/office/drawing/2014/main" id="{D8FBA249-873A-420A-8F92-6795A43C934A}"/>
                </a:ext>
              </a:extLst>
            </p:cNvPr>
            <p:cNvSpPr>
              <a:spLocks noEditPoints="1"/>
            </p:cNvSpPr>
            <p:nvPr userDrawn="1"/>
          </p:nvSpPr>
          <p:spPr bwMode="auto">
            <a:xfrm>
              <a:off x="1595" y="933"/>
              <a:ext cx="36" cy="40"/>
            </a:xfrm>
            <a:custGeom>
              <a:avLst/>
              <a:gdLst>
                <a:gd name="T0" fmla="*/ 15 w 36"/>
                <a:gd name="T1" fmla="*/ 0 h 40"/>
                <a:gd name="T2" fmla="*/ 19 w 36"/>
                <a:gd name="T3" fmla="*/ 0 h 40"/>
                <a:gd name="T4" fmla="*/ 21 w 36"/>
                <a:gd name="T5" fmla="*/ 0 h 40"/>
                <a:gd name="T6" fmla="*/ 36 w 36"/>
                <a:gd name="T7" fmla="*/ 40 h 40"/>
                <a:gd name="T8" fmla="*/ 33 w 36"/>
                <a:gd name="T9" fmla="*/ 40 h 40"/>
                <a:gd name="T10" fmla="*/ 30 w 36"/>
                <a:gd name="T11" fmla="*/ 40 h 40"/>
                <a:gd name="T12" fmla="*/ 26 w 36"/>
                <a:gd name="T13" fmla="*/ 27 h 40"/>
                <a:gd name="T14" fmla="*/ 10 w 36"/>
                <a:gd name="T15" fmla="*/ 27 h 40"/>
                <a:gd name="T16" fmla="*/ 7 w 36"/>
                <a:gd name="T17" fmla="*/ 40 h 40"/>
                <a:gd name="T18" fmla="*/ 4 w 36"/>
                <a:gd name="T19" fmla="*/ 40 h 40"/>
                <a:gd name="T20" fmla="*/ 0 w 36"/>
                <a:gd name="T21" fmla="*/ 40 h 40"/>
                <a:gd name="T22" fmla="*/ 15 w 36"/>
                <a:gd name="T23" fmla="*/ 0 h 40"/>
                <a:gd name="T24" fmla="*/ 12 w 36"/>
                <a:gd name="T25" fmla="*/ 24 h 40"/>
                <a:gd name="T26" fmla="*/ 24 w 36"/>
                <a:gd name="T27" fmla="*/ 24 h 40"/>
                <a:gd name="T28" fmla="*/ 19 w 36"/>
                <a:gd name="T29" fmla="*/ 5 h 40"/>
                <a:gd name="T30" fmla="*/ 19 w 36"/>
                <a:gd name="T31" fmla="*/ 5 h 40"/>
                <a:gd name="T32" fmla="*/ 12 w 36"/>
                <a:gd name="T33"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 h="40">
                  <a:moveTo>
                    <a:pt x="15" y="0"/>
                  </a:moveTo>
                  <a:lnTo>
                    <a:pt x="19" y="0"/>
                  </a:lnTo>
                  <a:lnTo>
                    <a:pt x="21" y="0"/>
                  </a:lnTo>
                  <a:lnTo>
                    <a:pt x="36" y="40"/>
                  </a:lnTo>
                  <a:lnTo>
                    <a:pt x="33" y="40"/>
                  </a:lnTo>
                  <a:lnTo>
                    <a:pt x="30" y="40"/>
                  </a:lnTo>
                  <a:lnTo>
                    <a:pt x="26" y="27"/>
                  </a:lnTo>
                  <a:lnTo>
                    <a:pt x="10" y="27"/>
                  </a:lnTo>
                  <a:lnTo>
                    <a:pt x="7" y="40"/>
                  </a:lnTo>
                  <a:lnTo>
                    <a:pt x="4" y="40"/>
                  </a:lnTo>
                  <a:lnTo>
                    <a:pt x="0" y="40"/>
                  </a:lnTo>
                  <a:lnTo>
                    <a:pt x="15" y="0"/>
                  </a:lnTo>
                  <a:close/>
                  <a:moveTo>
                    <a:pt x="12" y="24"/>
                  </a:moveTo>
                  <a:lnTo>
                    <a:pt x="24" y="24"/>
                  </a:lnTo>
                  <a:lnTo>
                    <a:pt x="19" y="5"/>
                  </a:lnTo>
                  <a:lnTo>
                    <a:pt x="19" y="5"/>
                  </a:lnTo>
                  <a:lnTo>
                    <a:pt x="12" y="24"/>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95" name="Freeform 93">
              <a:extLst>
                <a:ext uri="{FF2B5EF4-FFF2-40B4-BE49-F238E27FC236}">
                  <a16:creationId xmlns:a16="http://schemas.microsoft.com/office/drawing/2014/main" id="{721B5B9A-3D91-4F40-B602-9C38F08BFDB0}"/>
                </a:ext>
              </a:extLst>
            </p:cNvPr>
            <p:cNvSpPr>
              <a:spLocks/>
            </p:cNvSpPr>
            <p:nvPr userDrawn="1"/>
          </p:nvSpPr>
          <p:spPr bwMode="auto">
            <a:xfrm>
              <a:off x="1641" y="933"/>
              <a:ext cx="31" cy="40"/>
            </a:xfrm>
            <a:custGeom>
              <a:avLst/>
              <a:gdLst>
                <a:gd name="T0" fmla="*/ 5 w 31"/>
                <a:gd name="T1" fmla="*/ 40 h 40"/>
                <a:gd name="T2" fmla="*/ 3 w 31"/>
                <a:gd name="T3" fmla="*/ 40 h 40"/>
                <a:gd name="T4" fmla="*/ 0 w 31"/>
                <a:gd name="T5" fmla="*/ 40 h 40"/>
                <a:gd name="T6" fmla="*/ 0 w 31"/>
                <a:gd name="T7" fmla="*/ 0 h 40"/>
                <a:gd name="T8" fmla="*/ 4 w 31"/>
                <a:gd name="T9" fmla="*/ 0 h 40"/>
                <a:gd name="T10" fmla="*/ 6 w 31"/>
                <a:gd name="T11" fmla="*/ 0 h 40"/>
                <a:gd name="T12" fmla="*/ 26 w 31"/>
                <a:gd name="T13" fmla="*/ 32 h 40"/>
                <a:gd name="T14" fmla="*/ 26 w 31"/>
                <a:gd name="T15" fmla="*/ 0 h 40"/>
                <a:gd name="T16" fmla="*/ 29 w 31"/>
                <a:gd name="T17" fmla="*/ 0 h 40"/>
                <a:gd name="T18" fmla="*/ 31 w 31"/>
                <a:gd name="T19" fmla="*/ 0 h 40"/>
                <a:gd name="T20" fmla="*/ 31 w 31"/>
                <a:gd name="T21" fmla="*/ 40 h 40"/>
                <a:gd name="T22" fmla="*/ 29 w 31"/>
                <a:gd name="T23" fmla="*/ 40 h 40"/>
                <a:gd name="T24" fmla="*/ 26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3" y="40"/>
                  </a:lnTo>
                  <a:lnTo>
                    <a:pt x="0" y="40"/>
                  </a:lnTo>
                  <a:lnTo>
                    <a:pt x="0" y="0"/>
                  </a:lnTo>
                  <a:lnTo>
                    <a:pt x="4" y="0"/>
                  </a:lnTo>
                  <a:lnTo>
                    <a:pt x="6" y="0"/>
                  </a:lnTo>
                  <a:lnTo>
                    <a:pt x="26" y="32"/>
                  </a:lnTo>
                  <a:lnTo>
                    <a:pt x="26" y="0"/>
                  </a:lnTo>
                  <a:lnTo>
                    <a:pt x="29" y="0"/>
                  </a:lnTo>
                  <a:lnTo>
                    <a:pt x="31" y="0"/>
                  </a:lnTo>
                  <a:lnTo>
                    <a:pt x="31" y="40"/>
                  </a:lnTo>
                  <a:lnTo>
                    <a:pt x="29" y="40"/>
                  </a:lnTo>
                  <a:lnTo>
                    <a:pt x="26" y="40"/>
                  </a:lnTo>
                  <a:lnTo>
                    <a:pt x="5" y="8"/>
                  </a:lnTo>
                  <a:lnTo>
                    <a:pt x="5" y="4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96" name="Freeform 94">
              <a:extLst>
                <a:ext uri="{FF2B5EF4-FFF2-40B4-BE49-F238E27FC236}">
                  <a16:creationId xmlns:a16="http://schemas.microsoft.com/office/drawing/2014/main" id="{920685BB-4B2A-4121-BE0E-CB335C38FA24}"/>
                </a:ext>
              </a:extLst>
            </p:cNvPr>
            <p:cNvSpPr>
              <a:spLocks/>
            </p:cNvSpPr>
            <p:nvPr userDrawn="1"/>
          </p:nvSpPr>
          <p:spPr bwMode="auto">
            <a:xfrm>
              <a:off x="1687" y="932"/>
              <a:ext cx="36" cy="41"/>
            </a:xfrm>
            <a:custGeom>
              <a:avLst/>
              <a:gdLst>
                <a:gd name="T0" fmla="*/ 15 w 29"/>
                <a:gd name="T1" fmla="*/ 33 h 33"/>
                <a:gd name="T2" fmla="*/ 4 w 29"/>
                <a:gd name="T3" fmla="*/ 29 h 33"/>
                <a:gd name="T4" fmla="*/ 0 w 29"/>
                <a:gd name="T5" fmla="*/ 17 h 33"/>
                <a:gd name="T6" fmla="*/ 4 w 29"/>
                <a:gd name="T7" fmla="*/ 5 h 33"/>
                <a:gd name="T8" fmla="*/ 15 w 29"/>
                <a:gd name="T9" fmla="*/ 0 h 33"/>
                <a:gd name="T10" fmla="*/ 24 w 29"/>
                <a:gd name="T11" fmla="*/ 3 h 33"/>
                <a:gd name="T12" fmla="*/ 28 w 29"/>
                <a:gd name="T13" fmla="*/ 10 h 33"/>
                <a:gd name="T14" fmla="*/ 24 w 29"/>
                <a:gd name="T15" fmla="*/ 10 h 33"/>
                <a:gd name="T16" fmla="*/ 21 w 29"/>
                <a:gd name="T17" fmla="*/ 5 h 33"/>
                <a:gd name="T18" fmla="*/ 15 w 29"/>
                <a:gd name="T19" fmla="*/ 4 h 33"/>
                <a:gd name="T20" fmla="*/ 7 w 29"/>
                <a:gd name="T21" fmla="*/ 7 h 33"/>
                <a:gd name="T22" fmla="*/ 4 w 29"/>
                <a:gd name="T23" fmla="*/ 17 h 33"/>
                <a:gd name="T24" fmla="*/ 7 w 29"/>
                <a:gd name="T25" fmla="*/ 26 h 33"/>
                <a:gd name="T26" fmla="*/ 15 w 29"/>
                <a:gd name="T27" fmla="*/ 30 h 33"/>
                <a:gd name="T28" fmla="*/ 23 w 29"/>
                <a:gd name="T29" fmla="*/ 26 h 33"/>
                <a:gd name="T30" fmla="*/ 24 w 29"/>
                <a:gd name="T31" fmla="*/ 25 h 33"/>
                <a:gd name="T32" fmla="*/ 25 w 29"/>
                <a:gd name="T33" fmla="*/ 23 h 33"/>
                <a:gd name="T34" fmla="*/ 25 w 29"/>
                <a:gd name="T35" fmla="*/ 20 h 33"/>
                <a:gd name="T36" fmla="*/ 25 w 29"/>
                <a:gd name="T37" fmla="*/ 19 h 33"/>
                <a:gd name="T38" fmla="*/ 15 w 29"/>
                <a:gd name="T39" fmla="*/ 19 h 33"/>
                <a:gd name="T40" fmla="*/ 15 w 29"/>
                <a:gd name="T41" fmla="*/ 16 h 33"/>
                <a:gd name="T42" fmla="*/ 29 w 29"/>
                <a:gd name="T43" fmla="*/ 16 h 33"/>
                <a:gd name="T44" fmla="*/ 29 w 29"/>
                <a:gd name="T45" fmla="*/ 32 h 33"/>
                <a:gd name="T46" fmla="*/ 26 w 29"/>
                <a:gd name="T47" fmla="*/ 32 h 33"/>
                <a:gd name="T48" fmla="*/ 25 w 29"/>
                <a:gd name="T49" fmla="*/ 28 h 33"/>
                <a:gd name="T50" fmla="*/ 25 w 29"/>
                <a:gd name="T51" fmla="*/ 29 h 33"/>
                <a:gd name="T52" fmla="*/ 15 w 29"/>
                <a:gd name="T53"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 h="33">
                  <a:moveTo>
                    <a:pt x="15" y="33"/>
                  </a:moveTo>
                  <a:cubicBezTo>
                    <a:pt x="10" y="33"/>
                    <a:pt x="7" y="32"/>
                    <a:pt x="4" y="29"/>
                  </a:cubicBezTo>
                  <a:cubicBezTo>
                    <a:pt x="1" y="26"/>
                    <a:pt x="0" y="22"/>
                    <a:pt x="0" y="17"/>
                  </a:cubicBezTo>
                  <a:cubicBezTo>
                    <a:pt x="0" y="12"/>
                    <a:pt x="1" y="8"/>
                    <a:pt x="4" y="5"/>
                  </a:cubicBezTo>
                  <a:cubicBezTo>
                    <a:pt x="7" y="1"/>
                    <a:pt x="10" y="0"/>
                    <a:pt x="15" y="0"/>
                  </a:cubicBezTo>
                  <a:cubicBezTo>
                    <a:pt x="18" y="0"/>
                    <a:pt x="21" y="1"/>
                    <a:pt x="24" y="3"/>
                  </a:cubicBezTo>
                  <a:cubicBezTo>
                    <a:pt x="26" y="5"/>
                    <a:pt x="28" y="7"/>
                    <a:pt x="28" y="10"/>
                  </a:cubicBezTo>
                  <a:cubicBezTo>
                    <a:pt x="24" y="10"/>
                    <a:pt x="24" y="10"/>
                    <a:pt x="24" y="10"/>
                  </a:cubicBezTo>
                  <a:cubicBezTo>
                    <a:pt x="24" y="8"/>
                    <a:pt x="23" y="7"/>
                    <a:pt x="21" y="5"/>
                  </a:cubicBezTo>
                  <a:cubicBezTo>
                    <a:pt x="19" y="4"/>
                    <a:pt x="17" y="4"/>
                    <a:pt x="15" y="4"/>
                  </a:cubicBezTo>
                  <a:cubicBezTo>
                    <a:pt x="12" y="4"/>
                    <a:pt x="9" y="5"/>
                    <a:pt x="7" y="7"/>
                  </a:cubicBezTo>
                  <a:cubicBezTo>
                    <a:pt x="5" y="10"/>
                    <a:pt x="4" y="13"/>
                    <a:pt x="4" y="17"/>
                  </a:cubicBezTo>
                  <a:cubicBezTo>
                    <a:pt x="4" y="21"/>
                    <a:pt x="5" y="24"/>
                    <a:pt x="7" y="26"/>
                  </a:cubicBezTo>
                  <a:cubicBezTo>
                    <a:pt x="9" y="29"/>
                    <a:pt x="12" y="30"/>
                    <a:pt x="15" y="30"/>
                  </a:cubicBezTo>
                  <a:cubicBezTo>
                    <a:pt x="18" y="30"/>
                    <a:pt x="21" y="29"/>
                    <a:pt x="23" y="26"/>
                  </a:cubicBezTo>
                  <a:cubicBezTo>
                    <a:pt x="23" y="26"/>
                    <a:pt x="23" y="25"/>
                    <a:pt x="24" y="25"/>
                  </a:cubicBezTo>
                  <a:cubicBezTo>
                    <a:pt x="24" y="24"/>
                    <a:pt x="24" y="24"/>
                    <a:pt x="25" y="23"/>
                  </a:cubicBezTo>
                  <a:cubicBezTo>
                    <a:pt x="25" y="22"/>
                    <a:pt x="25" y="21"/>
                    <a:pt x="25" y="20"/>
                  </a:cubicBezTo>
                  <a:cubicBezTo>
                    <a:pt x="25" y="19"/>
                    <a:pt x="25" y="19"/>
                    <a:pt x="25" y="19"/>
                  </a:cubicBezTo>
                  <a:cubicBezTo>
                    <a:pt x="15" y="19"/>
                    <a:pt x="15" y="19"/>
                    <a:pt x="15" y="19"/>
                  </a:cubicBezTo>
                  <a:cubicBezTo>
                    <a:pt x="15" y="16"/>
                    <a:pt x="15" y="16"/>
                    <a:pt x="15" y="16"/>
                  </a:cubicBezTo>
                  <a:cubicBezTo>
                    <a:pt x="29" y="16"/>
                    <a:pt x="29" y="16"/>
                    <a:pt x="29" y="16"/>
                  </a:cubicBezTo>
                  <a:cubicBezTo>
                    <a:pt x="29" y="32"/>
                    <a:pt x="29" y="32"/>
                    <a:pt x="29" y="32"/>
                  </a:cubicBezTo>
                  <a:cubicBezTo>
                    <a:pt x="26" y="32"/>
                    <a:pt x="26" y="32"/>
                    <a:pt x="26" y="32"/>
                  </a:cubicBezTo>
                  <a:cubicBezTo>
                    <a:pt x="25" y="28"/>
                    <a:pt x="25" y="28"/>
                    <a:pt x="25" y="28"/>
                  </a:cubicBezTo>
                  <a:cubicBezTo>
                    <a:pt x="25" y="29"/>
                    <a:pt x="25" y="29"/>
                    <a:pt x="25" y="29"/>
                  </a:cubicBezTo>
                  <a:cubicBezTo>
                    <a:pt x="22" y="32"/>
                    <a:pt x="19" y="33"/>
                    <a:pt x="15" y="33"/>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97" name="Freeform 95">
              <a:extLst>
                <a:ext uri="{FF2B5EF4-FFF2-40B4-BE49-F238E27FC236}">
                  <a16:creationId xmlns:a16="http://schemas.microsoft.com/office/drawing/2014/main" id="{6B6540AF-832C-47B2-9EC6-335A1E45BD43}"/>
                </a:ext>
              </a:extLst>
            </p:cNvPr>
            <p:cNvSpPr>
              <a:spLocks/>
            </p:cNvSpPr>
            <p:nvPr userDrawn="1"/>
          </p:nvSpPr>
          <p:spPr bwMode="auto">
            <a:xfrm>
              <a:off x="1760" y="933"/>
              <a:ext cx="31" cy="40"/>
            </a:xfrm>
            <a:custGeom>
              <a:avLst/>
              <a:gdLst>
                <a:gd name="T0" fmla="*/ 25 w 25"/>
                <a:gd name="T1" fmla="*/ 20 h 32"/>
                <a:gd name="T2" fmla="*/ 21 w 25"/>
                <a:gd name="T3" fmla="*/ 29 h 32"/>
                <a:gd name="T4" fmla="*/ 12 w 25"/>
                <a:gd name="T5" fmla="*/ 32 h 32"/>
                <a:gd name="T6" fmla="*/ 3 w 25"/>
                <a:gd name="T7" fmla="*/ 29 h 32"/>
                <a:gd name="T8" fmla="*/ 0 w 25"/>
                <a:gd name="T9" fmla="*/ 20 h 32"/>
                <a:gd name="T10" fmla="*/ 0 w 25"/>
                <a:gd name="T11" fmla="*/ 0 h 32"/>
                <a:gd name="T12" fmla="*/ 2 w 25"/>
                <a:gd name="T13" fmla="*/ 0 h 32"/>
                <a:gd name="T14" fmla="*/ 4 w 25"/>
                <a:gd name="T15" fmla="*/ 0 h 32"/>
                <a:gd name="T16" fmla="*/ 4 w 25"/>
                <a:gd name="T17" fmla="*/ 20 h 32"/>
                <a:gd name="T18" fmla="*/ 6 w 25"/>
                <a:gd name="T19" fmla="*/ 26 h 32"/>
                <a:gd name="T20" fmla="*/ 12 w 25"/>
                <a:gd name="T21" fmla="*/ 29 h 32"/>
                <a:gd name="T22" fmla="*/ 18 w 25"/>
                <a:gd name="T23" fmla="*/ 26 h 32"/>
                <a:gd name="T24" fmla="*/ 20 w 25"/>
                <a:gd name="T25" fmla="*/ 20 h 32"/>
                <a:gd name="T26" fmla="*/ 20 w 25"/>
                <a:gd name="T27" fmla="*/ 0 h 32"/>
                <a:gd name="T28" fmla="*/ 22 w 25"/>
                <a:gd name="T29" fmla="*/ 0 h 32"/>
                <a:gd name="T30" fmla="*/ 25 w 25"/>
                <a:gd name="T31" fmla="*/ 0 h 32"/>
                <a:gd name="T32" fmla="*/ 25 w 25"/>
                <a:gd name="T33"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 h="32">
                  <a:moveTo>
                    <a:pt x="25" y="20"/>
                  </a:moveTo>
                  <a:cubicBezTo>
                    <a:pt x="25" y="24"/>
                    <a:pt x="23" y="27"/>
                    <a:pt x="21" y="29"/>
                  </a:cubicBezTo>
                  <a:cubicBezTo>
                    <a:pt x="19" y="31"/>
                    <a:pt x="16" y="32"/>
                    <a:pt x="12" y="32"/>
                  </a:cubicBezTo>
                  <a:cubicBezTo>
                    <a:pt x="8" y="32"/>
                    <a:pt x="5" y="31"/>
                    <a:pt x="3" y="29"/>
                  </a:cubicBezTo>
                  <a:cubicBezTo>
                    <a:pt x="1" y="27"/>
                    <a:pt x="0" y="24"/>
                    <a:pt x="0" y="20"/>
                  </a:cubicBezTo>
                  <a:cubicBezTo>
                    <a:pt x="0" y="0"/>
                    <a:pt x="0" y="0"/>
                    <a:pt x="0" y="0"/>
                  </a:cubicBezTo>
                  <a:cubicBezTo>
                    <a:pt x="2" y="0"/>
                    <a:pt x="2" y="0"/>
                    <a:pt x="2" y="0"/>
                  </a:cubicBezTo>
                  <a:cubicBezTo>
                    <a:pt x="4" y="0"/>
                    <a:pt x="4" y="0"/>
                    <a:pt x="4" y="0"/>
                  </a:cubicBezTo>
                  <a:cubicBezTo>
                    <a:pt x="4" y="20"/>
                    <a:pt x="4" y="20"/>
                    <a:pt x="4" y="20"/>
                  </a:cubicBezTo>
                  <a:cubicBezTo>
                    <a:pt x="4" y="23"/>
                    <a:pt x="5" y="25"/>
                    <a:pt x="6" y="26"/>
                  </a:cubicBezTo>
                  <a:cubicBezTo>
                    <a:pt x="7" y="28"/>
                    <a:pt x="9" y="29"/>
                    <a:pt x="12" y="29"/>
                  </a:cubicBezTo>
                  <a:cubicBezTo>
                    <a:pt x="15" y="29"/>
                    <a:pt x="17" y="28"/>
                    <a:pt x="18" y="26"/>
                  </a:cubicBezTo>
                  <a:cubicBezTo>
                    <a:pt x="20" y="25"/>
                    <a:pt x="20" y="23"/>
                    <a:pt x="20" y="20"/>
                  </a:cubicBezTo>
                  <a:cubicBezTo>
                    <a:pt x="20" y="0"/>
                    <a:pt x="20" y="0"/>
                    <a:pt x="20" y="0"/>
                  </a:cubicBezTo>
                  <a:cubicBezTo>
                    <a:pt x="22" y="0"/>
                    <a:pt x="22" y="0"/>
                    <a:pt x="22" y="0"/>
                  </a:cubicBezTo>
                  <a:cubicBezTo>
                    <a:pt x="25" y="0"/>
                    <a:pt x="25" y="0"/>
                    <a:pt x="25" y="0"/>
                  </a:cubicBezTo>
                  <a:lnTo>
                    <a:pt x="25" y="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98" name="Freeform 96">
              <a:extLst>
                <a:ext uri="{FF2B5EF4-FFF2-40B4-BE49-F238E27FC236}">
                  <a16:creationId xmlns:a16="http://schemas.microsoft.com/office/drawing/2014/main" id="{588ED9FE-724F-427D-86C5-C3B3FE65912A}"/>
                </a:ext>
              </a:extLst>
            </p:cNvPr>
            <p:cNvSpPr>
              <a:spLocks/>
            </p:cNvSpPr>
            <p:nvPr userDrawn="1"/>
          </p:nvSpPr>
          <p:spPr bwMode="auto">
            <a:xfrm>
              <a:off x="1806" y="933"/>
              <a:ext cx="31" cy="40"/>
            </a:xfrm>
            <a:custGeom>
              <a:avLst/>
              <a:gdLst>
                <a:gd name="T0" fmla="*/ 5 w 31"/>
                <a:gd name="T1" fmla="*/ 40 h 40"/>
                <a:gd name="T2" fmla="*/ 2 w 31"/>
                <a:gd name="T3" fmla="*/ 40 h 40"/>
                <a:gd name="T4" fmla="*/ 0 w 31"/>
                <a:gd name="T5" fmla="*/ 40 h 40"/>
                <a:gd name="T6" fmla="*/ 0 w 31"/>
                <a:gd name="T7" fmla="*/ 0 h 40"/>
                <a:gd name="T8" fmla="*/ 2 w 31"/>
                <a:gd name="T9" fmla="*/ 0 h 40"/>
                <a:gd name="T10" fmla="*/ 6 w 31"/>
                <a:gd name="T11" fmla="*/ 0 h 40"/>
                <a:gd name="T12" fmla="*/ 26 w 31"/>
                <a:gd name="T13" fmla="*/ 32 h 40"/>
                <a:gd name="T14" fmla="*/ 26 w 31"/>
                <a:gd name="T15" fmla="*/ 0 h 40"/>
                <a:gd name="T16" fmla="*/ 28 w 31"/>
                <a:gd name="T17" fmla="*/ 0 h 40"/>
                <a:gd name="T18" fmla="*/ 31 w 31"/>
                <a:gd name="T19" fmla="*/ 0 h 40"/>
                <a:gd name="T20" fmla="*/ 31 w 31"/>
                <a:gd name="T21" fmla="*/ 40 h 40"/>
                <a:gd name="T22" fmla="*/ 28 w 31"/>
                <a:gd name="T23" fmla="*/ 40 h 40"/>
                <a:gd name="T24" fmla="*/ 25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2" y="40"/>
                  </a:lnTo>
                  <a:lnTo>
                    <a:pt x="0" y="40"/>
                  </a:lnTo>
                  <a:lnTo>
                    <a:pt x="0" y="0"/>
                  </a:lnTo>
                  <a:lnTo>
                    <a:pt x="2" y="0"/>
                  </a:lnTo>
                  <a:lnTo>
                    <a:pt x="6" y="0"/>
                  </a:lnTo>
                  <a:lnTo>
                    <a:pt x="26" y="32"/>
                  </a:lnTo>
                  <a:lnTo>
                    <a:pt x="26" y="0"/>
                  </a:lnTo>
                  <a:lnTo>
                    <a:pt x="28" y="0"/>
                  </a:lnTo>
                  <a:lnTo>
                    <a:pt x="31" y="0"/>
                  </a:lnTo>
                  <a:lnTo>
                    <a:pt x="31" y="40"/>
                  </a:lnTo>
                  <a:lnTo>
                    <a:pt x="28" y="40"/>
                  </a:lnTo>
                  <a:lnTo>
                    <a:pt x="25" y="40"/>
                  </a:lnTo>
                  <a:lnTo>
                    <a:pt x="5" y="8"/>
                  </a:lnTo>
                  <a:lnTo>
                    <a:pt x="5" y="4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99" name="Freeform 97">
              <a:extLst>
                <a:ext uri="{FF2B5EF4-FFF2-40B4-BE49-F238E27FC236}">
                  <a16:creationId xmlns:a16="http://schemas.microsoft.com/office/drawing/2014/main" id="{6B341F3B-45D5-464B-926B-23F379D9D5FE}"/>
                </a:ext>
              </a:extLst>
            </p:cNvPr>
            <p:cNvSpPr>
              <a:spLocks/>
            </p:cNvSpPr>
            <p:nvPr userDrawn="1"/>
          </p:nvSpPr>
          <p:spPr bwMode="auto">
            <a:xfrm>
              <a:off x="1852"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00" name="Freeform 98">
              <a:extLst>
                <a:ext uri="{FF2B5EF4-FFF2-40B4-BE49-F238E27FC236}">
                  <a16:creationId xmlns:a16="http://schemas.microsoft.com/office/drawing/2014/main" id="{A675F9CE-73F1-4F07-AEDB-430F25BAF2A0}"/>
                </a:ext>
              </a:extLst>
            </p:cNvPr>
            <p:cNvSpPr>
              <a:spLocks/>
            </p:cNvSpPr>
            <p:nvPr userDrawn="1"/>
          </p:nvSpPr>
          <p:spPr bwMode="auto">
            <a:xfrm>
              <a:off x="1867" y="933"/>
              <a:ext cx="34" cy="40"/>
            </a:xfrm>
            <a:custGeom>
              <a:avLst/>
              <a:gdLst>
                <a:gd name="T0" fmla="*/ 0 w 34"/>
                <a:gd name="T1" fmla="*/ 0 h 40"/>
                <a:gd name="T2" fmla="*/ 3 w 34"/>
                <a:gd name="T3" fmla="*/ 0 h 40"/>
                <a:gd name="T4" fmla="*/ 6 w 34"/>
                <a:gd name="T5" fmla="*/ 0 h 40"/>
                <a:gd name="T6" fmla="*/ 17 w 34"/>
                <a:gd name="T7" fmla="*/ 34 h 40"/>
                <a:gd name="T8" fmla="*/ 17 w 34"/>
                <a:gd name="T9" fmla="*/ 34 h 40"/>
                <a:gd name="T10" fmla="*/ 28 w 34"/>
                <a:gd name="T11" fmla="*/ 0 h 40"/>
                <a:gd name="T12" fmla="*/ 32 w 34"/>
                <a:gd name="T13" fmla="*/ 0 h 40"/>
                <a:gd name="T14" fmla="*/ 34 w 34"/>
                <a:gd name="T15" fmla="*/ 0 h 40"/>
                <a:gd name="T16" fmla="*/ 21 w 34"/>
                <a:gd name="T17" fmla="*/ 40 h 40"/>
                <a:gd name="T18" fmla="*/ 17 w 34"/>
                <a:gd name="T19" fmla="*/ 40 h 40"/>
                <a:gd name="T20" fmla="*/ 15 w 34"/>
                <a:gd name="T21" fmla="*/ 40 h 40"/>
                <a:gd name="T22" fmla="*/ 0 w 34"/>
                <a:gd name="T2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40">
                  <a:moveTo>
                    <a:pt x="0" y="0"/>
                  </a:moveTo>
                  <a:lnTo>
                    <a:pt x="3" y="0"/>
                  </a:lnTo>
                  <a:lnTo>
                    <a:pt x="6" y="0"/>
                  </a:lnTo>
                  <a:lnTo>
                    <a:pt x="17" y="34"/>
                  </a:lnTo>
                  <a:lnTo>
                    <a:pt x="17" y="34"/>
                  </a:lnTo>
                  <a:lnTo>
                    <a:pt x="28" y="0"/>
                  </a:lnTo>
                  <a:lnTo>
                    <a:pt x="32" y="0"/>
                  </a:lnTo>
                  <a:lnTo>
                    <a:pt x="34" y="0"/>
                  </a:lnTo>
                  <a:lnTo>
                    <a:pt x="21" y="40"/>
                  </a:lnTo>
                  <a:lnTo>
                    <a:pt x="17" y="40"/>
                  </a:lnTo>
                  <a:lnTo>
                    <a:pt x="15" y="40"/>
                  </a:lnTo>
                  <a:lnTo>
                    <a:pt x="0"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01" name="Freeform 99">
              <a:extLst>
                <a:ext uri="{FF2B5EF4-FFF2-40B4-BE49-F238E27FC236}">
                  <a16:creationId xmlns:a16="http://schemas.microsoft.com/office/drawing/2014/main" id="{3BF318CA-8EFA-438F-9DBD-429F10DFC55E}"/>
                </a:ext>
              </a:extLst>
            </p:cNvPr>
            <p:cNvSpPr>
              <a:spLocks/>
            </p:cNvSpPr>
            <p:nvPr userDrawn="1"/>
          </p:nvSpPr>
          <p:spPr bwMode="auto">
            <a:xfrm>
              <a:off x="1911" y="933"/>
              <a:ext cx="30" cy="40"/>
            </a:xfrm>
            <a:custGeom>
              <a:avLst/>
              <a:gdLst>
                <a:gd name="T0" fmla="*/ 0 w 30"/>
                <a:gd name="T1" fmla="*/ 40 h 40"/>
                <a:gd name="T2" fmla="*/ 0 w 30"/>
                <a:gd name="T3" fmla="*/ 0 h 40"/>
                <a:gd name="T4" fmla="*/ 30 w 30"/>
                <a:gd name="T5" fmla="*/ 0 h 40"/>
                <a:gd name="T6" fmla="*/ 30 w 30"/>
                <a:gd name="T7" fmla="*/ 3 h 40"/>
                <a:gd name="T8" fmla="*/ 30 w 30"/>
                <a:gd name="T9" fmla="*/ 5 h 40"/>
                <a:gd name="T10" fmla="*/ 6 w 30"/>
                <a:gd name="T11" fmla="*/ 5 h 40"/>
                <a:gd name="T12" fmla="*/ 6 w 30"/>
                <a:gd name="T13" fmla="*/ 16 h 40"/>
                <a:gd name="T14" fmla="*/ 27 w 30"/>
                <a:gd name="T15" fmla="*/ 16 h 40"/>
                <a:gd name="T16" fmla="*/ 27 w 30"/>
                <a:gd name="T17" fmla="*/ 19 h 40"/>
                <a:gd name="T18" fmla="*/ 27 w 30"/>
                <a:gd name="T19" fmla="*/ 21 h 40"/>
                <a:gd name="T20" fmla="*/ 6 w 30"/>
                <a:gd name="T21" fmla="*/ 21 h 40"/>
                <a:gd name="T22" fmla="*/ 6 w 30"/>
                <a:gd name="T23" fmla="*/ 35 h 40"/>
                <a:gd name="T24" fmla="*/ 30 w 30"/>
                <a:gd name="T25" fmla="*/ 35 h 40"/>
                <a:gd name="T26" fmla="*/ 30 w 30"/>
                <a:gd name="T27" fmla="*/ 37 h 40"/>
                <a:gd name="T28" fmla="*/ 30 w 30"/>
                <a:gd name="T29" fmla="*/ 40 h 40"/>
                <a:gd name="T30" fmla="*/ 0 w 30"/>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40">
                  <a:moveTo>
                    <a:pt x="0" y="40"/>
                  </a:moveTo>
                  <a:lnTo>
                    <a:pt x="0" y="0"/>
                  </a:lnTo>
                  <a:lnTo>
                    <a:pt x="30" y="0"/>
                  </a:lnTo>
                  <a:lnTo>
                    <a:pt x="30" y="3"/>
                  </a:lnTo>
                  <a:lnTo>
                    <a:pt x="30" y="5"/>
                  </a:lnTo>
                  <a:lnTo>
                    <a:pt x="6" y="5"/>
                  </a:lnTo>
                  <a:lnTo>
                    <a:pt x="6" y="16"/>
                  </a:lnTo>
                  <a:lnTo>
                    <a:pt x="27" y="16"/>
                  </a:lnTo>
                  <a:lnTo>
                    <a:pt x="27" y="19"/>
                  </a:lnTo>
                  <a:lnTo>
                    <a:pt x="27" y="21"/>
                  </a:lnTo>
                  <a:lnTo>
                    <a:pt x="6" y="21"/>
                  </a:lnTo>
                  <a:lnTo>
                    <a:pt x="6" y="35"/>
                  </a:lnTo>
                  <a:lnTo>
                    <a:pt x="30" y="35"/>
                  </a:lnTo>
                  <a:lnTo>
                    <a:pt x="30" y="37"/>
                  </a:lnTo>
                  <a:lnTo>
                    <a:pt x="30" y="40"/>
                  </a:lnTo>
                  <a:lnTo>
                    <a:pt x="0" y="4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02" name="Freeform 100">
              <a:extLst>
                <a:ext uri="{FF2B5EF4-FFF2-40B4-BE49-F238E27FC236}">
                  <a16:creationId xmlns:a16="http://schemas.microsoft.com/office/drawing/2014/main" id="{9077264B-7436-45B4-917D-4AE2F59543DE}"/>
                </a:ext>
              </a:extLst>
            </p:cNvPr>
            <p:cNvSpPr>
              <a:spLocks noEditPoints="1"/>
            </p:cNvSpPr>
            <p:nvPr userDrawn="1"/>
          </p:nvSpPr>
          <p:spPr bwMode="auto">
            <a:xfrm>
              <a:off x="1955" y="933"/>
              <a:ext cx="33" cy="40"/>
            </a:xfrm>
            <a:custGeom>
              <a:avLst/>
              <a:gdLst>
                <a:gd name="T0" fmla="*/ 0 w 27"/>
                <a:gd name="T1" fmla="*/ 0 h 32"/>
                <a:gd name="T2" fmla="*/ 2 w 27"/>
                <a:gd name="T3" fmla="*/ 0 h 32"/>
                <a:gd name="T4" fmla="*/ 15 w 27"/>
                <a:gd name="T5" fmla="*/ 0 h 32"/>
                <a:gd name="T6" fmla="*/ 23 w 27"/>
                <a:gd name="T7" fmla="*/ 2 h 32"/>
                <a:gd name="T8" fmla="*/ 25 w 27"/>
                <a:gd name="T9" fmla="*/ 8 h 32"/>
                <a:gd name="T10" fmla="*/ 23 w 27"/>
                <a:gd name="T11" fmla="*/ 15 h 32"/>
                <a:gd name="T12" fmla="*/ 21 w 27"/>
                <a:gd name="T13" fmla="*/ 16 h 32"/>
                <a:gd name="T14" fmla="*/ 22 w 27"/>
                <a:gd name="T15" fmla="*/ 16 h 32"/>
                <a:gd name="T16" fmla="*/ 25 w 27"/>
                <a:gd name="T17" fmla="*/ 22 h 32"/>
                <a:gd name="T18" fmla="*/ 25 w 27"/>
                <a:gd name="T19" fmla="*/ 28 h 32"/>
                <a:gd name="T20" fmla="*/ 25 w 27"/>
                <a:gd name="T21" fmla="*/ 30 h 32"/>
                <a:gd name="T22" fmla="*/ 27 w 27"/>
                <a:gd name="T23" fmla="*/ 31 h 32"/>
                <a:gd name="T24" fmla="*/ 27 w 27"/>
                <a:gd name="T25" fmla="*/ 31 h 32"/>
                <a:gd name="T26" fmla="*/ 21 w 27"/>
                <a:gd name="T27" fmla="*/ 31 h 32"/>
                <a:gd name="T28" fmla="*/ 21 w 27"/>
                <a:gd name="T29" fmla="*/ 29 h 32"/>
                <a:gd name="T30" fmla="*/ 21 w 27"/>
                <a:gd name="T31" fmla="*/ 26 h 32"/>
                <a:gd name="T32" fmla="*/ 21 w 27"/>
                <a:gd name="T33" fmla="*/ 23 h 32"/>
                <a:gd name="T34" fmla="*/ 19 w 27"/>
                <a:gd name="T35" fmla="*/ 19 h 32"/>
                <a:gd name="T36" fmla="*/ 15 w 27"/>
                <a:gd name="T37" fmla="*/ 18 h 32"/>
                <a:gd name="T38" fmla="*/ 4 w 27"/>
                <a:gd name="T39" fmla="*/ 18 h 32"/>
                <a:gd name="T40" fmla="*/ 4 w 27"/>
                <a:gd name="T41" fmla="*/ 32 h 32"/>
                <a:gd name="T42" fmla="*/ 2 w 27"/>
                <a:gd name="T43" fmla="*/ 32 h 32"/>
                <a:gd name="T44" fmla="*/ 0 w 27"/>
                <a:gd name="T45" fmla="*/ 32 h 32"/>
                <a:gd name="T46" fmla="*/ 0 w 27"/>
                <a:gd name="T47" fmla="*/ 0 h 32"/>
                <a:gd name="T48" fmla="*/ 4 w 27"/>
                <a:gd name="T49" fmla="*/ 14 h 32"/>
                <a:gd name="T50" fmla="*/ 15 w 27"/>
                <a:gd name="T51" fmla="*/ 14 h 32"/>
                <a:gd name="T52" fmla="*/ 19 w 27"/>
                <a:gd name="T53" fmla="*/ 13 h 32"/>
                <a:gd name="T54" fmla="*/ 21 w 27"/>
                <a:gd name="T55" fmla="*/ 9 h 32"/>
                <a:gd name="T56" fmla="*/ 19 w 27"/>
                <a:gd name="T57" fmla="*/ 5 h 32"/>
                <a:gd name="T58" fmla="*/ 15 w 27"/>
                <a:gd name="T59" fmla="*/ 3 h 32"/>
                <a:gd name="T60" fmla="*/ 4 w 27"/>
                <a:gd name="T61" fmla="*/ 3 h 32"/>
                <a:gd name="T62" fmla="*/ 4 w 27"/>
                <a:gd name="T63" fmla="*/ 1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 h="32">
                  <a:moveTo>
                    <a:pt x="0" y="0"/>
                  </a:moveTo>
                  <a:cubicBezTo>
                    <a:pt x="2" y="0"/>
                    <a:pt x="2" y="0"/>
                    <a:pt x="2" y="0"/>
                  </a:cubicBezTo>
                  <a:cubicBezTo>
                    <a:pt x="15" y="0"/>
                    <a:pt x="15" y="0"/>
                    <a:pt x="15" y="0"/>
                  </a:cubicBezTo>
                  <a:cubicBezTo>
                    <a:pt x="18" y="0"/>
                    <a:pt x="21" y="1"/>
                    <a:pt x="23" y="2"/>
                  </a:cubicBezTo>
                  <a:cubicBezTo>
                    <a:pt x="24" y="3"/>
                    <a:pt x="25" y="6"/>
                    <a:pt x="25" y="8"/>
                  </a:cubicBezTo>
                  <a:cubicBezTo>
                    <a:pt x="25" y="11"/>
                    <a:pt x="24" y="13"/>
                    <a:pt x="23" y="15"/>
                  </a:cubicBezTo>
                  <a:cubicBezTo>
                    <a:pt x="22" y="15"/>
                    <a:pt x="22" y="16"/>
                    <a:pt x="21" y="16"/>
                  </a:cubicBezTo>
                  <a:cubicBezTo>
                    <a:pt x="22" y="16"/>
                    <a:pt x="22" y="16"/>
                    <a:pt x="22" y="16"/>
                  </a:cubicBezTo>
                  <a:cubicBezTo>
                    <a:pt x="24" y="17"/>
                    <a:pt x="25" y="19"/>
                    <a:pt x="25" y="22"/>
                  </a:cubicBezTo>
                  <a:cubicBezTo>
                    <a:pt x="25" y="28"/>
                    <a:pt x="25" y="28"/>
                    <a:pt x="25" y="28"/>
                  </a:cubicBezTo>
                  <a:cubicBezTo>
                    <a:pt x="25" y="29"/>
                    <a:pt x="25" y="29"/>
                    <a:pt x="25" y="30"/>
                  </a:cubicBezTo>
                  <a:cubicBezTo>
                    <a:pt x="26" y="30"/>
                    <a:pt x="26" y="30"/>
                    <a:pt x="27" y="31"/>
                  </a:cubicBezTo>
                  <a:cubicBezTo>
                    <a:pt x="27" y="31"/>
                    <a:pt x="27" y="31"/>
                    <a:pt x="27" y="31"/>
                  </a:cubicBezTo>
                  <a:cubicBezTo>
                    <a:pt x="21" y="31"/>
                    <a:pt x="21" y="31"/>
                    <a:pt x="21" y="31"/>
                  </a:cubicBezTo>
                  <a:cubicBezTo>
                    <a:pt x="21" y="31"/>
                    <a:pt x="21" y="31"/>
                    <a:pt x="21" y="29"/>
                  </a:cubicBezTo>
                  <a:cubicBezTo>
                    <a:pt x="21" y="28"/>
                    <a:pt x="21" y="27"/>
                    <a:pt x="21" y="26"/>
                  </a:cubicBezTo>
                  <a:cubicBezTo>
                    <a:pt x="21" y="23"/>
                    <a:pt x="21" y="23"/>
                    <a:pt x="21" y="23"/>
                  </a:cubicBezTo>
                  <a:cubicBezTo>
                    <a:pt x="21" y="21"/>
                    <a:pt x="20" y="20"/>
                    <a:pt x="19" y="19"/>
                  </a:cubicBezTo>
                  <a:cubicBezTo>
                    <a:pt x="18" y="18"/>
                    <a:pt x="17" y="18"/>
                    <a:pt x="15" y="18"/>
                  </a:cubicBezTo>
                  <a:cubicBezTo>
                    <a:pt x="4" y="18"/>
                    <a:pt x="4" y="18"/>
                    <a:pt x="4" y="18"/>
                  </a:cubicBezTo>
                  <a:cubicBezTo>
                    <a:pt x="4" y="32"/>
                    <a:pt x="4" y="32"/>
                    <a:pt x="4" y="32"/>
                  </a:cubicBezTo>
                  <a:cubicBezTo>
                    <a:pt x="2" y="32"/>
                    <a:pt x="2" y="32"/>
                    <a:pt x="2" y="32"/>
                  </a:cubicBezTo>
                  <a:cubicBezTo>
                    <a:pt x="0" y="32"/>
                    <a:pt x="0" y="32"/>
                    <a:pt x="0" y="32"/>
                  </a:cubicBezTo>
                  <a:lnTo>
                    <a:pt x="0" y="0"/>
                  </a:lnTo>
                  <a:close/>
                  <a:moveTo>
                    <a:pt x="4" y="14"/>
                  </a:moveTo>
                  <a:cubicBezTo>
                    <a:pt x="15" y="14"/>
                    <a:pt x="15" y="14"/>
                    <a:pt x="15" y="14"/>
                  </a:cubicBezTo>
                  <a:cubicBezTo>
                    <a:pt x="17" y="14"/>
                    <a:pt x="19" y="14"/>
                    <a:pt x="19" y="13"/>
                  </a:cubicBezTo>
                  <a:cubicBezTo>
                    <a:pt x="20" y="12"/>
                    <a:pt x="21" y="11"/>
                    <a:pt x="21" y="9"/>
                  </a:cubicBezTo>
                  <a:cubicBezTo>
                    <a:pt x="21" y="7"/>
                    <a:pt x="20" y="5"/>
                    <a:pt x="19" y="5"/>
                  </a:cubicBezTo>
                  <a:cubicBezTo>
                    <a:pt x="18" y="4"/>
                    <a:pt x="17" y="3"/>
                    <a:pt x="15" y="3"/>
                  </a:cubicBezTo>
                  <a:cubicBezTo>
                    <a:pt x="4" y="3"/>
                    <a:pt x="4" y="3"/>
                    <a:pt x="4" y="3"/>
                  </a:cubicBezTo>
                  <a:lnTo>
                    <a:pt x="4" y="14"/>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03" name="Freeform 101">
              <a:extLst>
                <a:ext uri="{FF2B5EF4-FFF2-40B4-BE49-F238E27FC236}">
                  <a16:creationId xmlns:a16="http://schemas.microsoft.com/office/drawing/2014/main" id="{F8DF5FB6-E020-4BA0-9852-054D87A07B8E}"/>
                </a:ext>
              </a:extLst>
            </p:cNvPr>
            <p:cNvSpPr>
              <a:spLocks/>
            </p:cNvSpPr>
            <p:nvPr userDrawn="1"/>
          </p:nvSpPr>
          <p:spPr bwMode="auto">
            <a:xfrm>
              <a:off x="1999" y="932"/>
              <a:ext cx="31" cy="41"/>
            </a:xfrm>
            <a:custGeom>
              <a:avLst/>
              <a:gdLst>
                <a:gd name="T0" fmla="*/ 20 w 25"/>
                <a:gd name="T1" fmla="*/ 10 h 33"/>
                <a:gd name="T2" fmla="*/ 18 w 25"/>
                <a:gd name="T3" fmla="*/ 5 h 33"/>
                <a:gd name="T4" fmla="*/ 12 w 25"/>
                <a:gd name="T5" fmla="*/ 4 h 33"/>
                <a:gd name="T6" fmla="*/ 7 w 25"/>
                <a:gd name="T7" fmla="*/ 5 h 33"/>
                <a:gd name="T8" fmla="*/ 5 w 25"/>
                <a:gd name="T9" fmla="*/ 9 h 33"/>
                <a:gd name="T10" fmla="*/ 6 w 25"/>
                <a:gd name="T11" fmla="*/ 12 h 33"/>
                <a:gd name="T12" fmla="*/ 11 w 25"/>
                <a:gd name="T13" fmla="*/ 14 h 33"/>
                <a:gd name="T14" fmla="*/ 17 w 25"/>
                <a:gd name="T15" fmla="*/ 15 h 33"/>
                <a:gd name="T16" fmla="*/ 23 w 25"/>
                <a:gd name="T17" fmla="*/ 18 h 33"/>
                <a:gd name="T18" fmla="*/ 25 w 25"/>
                <a:gd name="T19" fmla="*/ 24 h 33"/>
                <a:gd name="T20" fmla="*/ 22 w 25"/>
                <a:gd name="T21" fmla="*/ 31 h 33"/>
                <a:gd name="T22" fmla="*/ 13 w 25"/>
                <a:gd name="T23" fmla="*/ 33 h 33"/>
                <a:gd name="T24" fmla="*/ 3 w 25"/>
                <a:gd name="T25" fmla="*/ 30 h 33"/>
                <a:gd name="T26" fmla="*/ 0 w 25"/>
                <a:gd name="T27" fmla="*/ 23 h 33"/>
                <a:gd name="T28" fmla="*/ 0 w 25"/>
                <a:gd name="T29" fmla="*/ 22 h 33"/>
                <a:gd name="T30" fmla="*/ 4 w 25"/>
                <a:gd name="T31" fmla="*/ 22 h 33"/>
                <a:gd name="T32" fmla="*/ 6 w 25"/>
                <a:gd name="T33" fmla="*/ 28 h 33"/>
                <a:gd name="T34" fmla="*/ 13 w 25"/>
                <a:gd name="T35" fmla="*/ 30 h 33"/>
                <a:gd name="T36" fmla="*/ 19 w 25"/>
                <a:gd name="T37" fmla="*/ 28 h 33"/>
                <a:gd name="T38" fmla="*/ 21 w 25"/>
                <a:gd name="T39" fmla="*/ 24 h 33"/>
                <a:gd name="T40" fmla="*/ 20 w 25"/>
                <a:gd name="T41" fmla="*/ 21 h 33"/>
                <a:gd name="T42" fmla="*/ 14 w 25"/>
                <a:gd name="T43" fmla="*/ 19 h 33"/>
                <a:gd name="T44" fmla="*/ 9 w 25"/>
                <a:gd name="T45" fmla="*/ 17 h 33"/>
                <a:gd name="T46" fmla="*/ 3 w 25"/>
                <a:gd name="T47" fmla="*/ 15 h 33"/>
                <a:gd name="T48" fmla="*/ 1 w 25"/>
                <a:gd name="T49" fmla="*/ 10 h 33"/>
                <a:gd name="T50" fmla="*/ 4 w 25"/>
                <a:gd name="T51" fmla="*/ 3 h 33"/>
                <a:gd name="T52" fmla="*/ 12 w 25"/>
                <a:gd name="T53" fmla="*/ 0 h 33"/>
                <a:gd name="T54" fmla="*/ 21 w 25"/>
                <a:gd name="T55" fmla="*/ 3 h 33"/>
                <a:gd name="T56" fmla="*/ 24 w 25"/>
                <a:gd name="T57" fmla="*/ 10 h 33"/>
                <a:gd name="T58" fmla="*/ 20 w 25"/>
                <a:gd name="T59"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3">
                  <a:moveTo>
                    <a:pt x="20" y="10"/>
                  </a:moveTo>
                  <a:cubicBezTo>
                    <a:pt x="20" y="8"/>
                    <a:pt x="19" y="6"/>
                    <a:pt x="18" y="5"/>
                  </a:cubicBezTo>
                  <a:cubicBezTo>
                    <a:pt x="17" y="4"/>
                    <a:pt x="15" y="4"/>
                    <a:pt x="12" y="4"/>
                  </a:cubicBezTo>
                  <a:cubicBezTo>
                    <a:pt x="10" y="4"/>
                    <a:pt x="8" y="4"/>
                    <a:pt x="7" y="5"/>
                  </a:cubicBezTo>
                  <a:cubicBezTo>
                    <a:pt x="6" y="6"/>
                    <a:pt x="5" y="7"/>
                    <a:pt x="5" y="9"/>
                  </a:cubicBezTo>
                  <a:cubicBezTo>
                    <a:pt x="5" y="10"/>
                    <a:pt x="5" y="11"/>
                    <a:pt x="6" y="12"/>
                  </a:cubicBezTo>
                  <a:cubicBezTo>
                    <a:pt x="7" y="13"/>
                    <a:pt x="9" y="13"/>
                    <a:pt x="11" y="14"/>
                  </a:cubicBezTo>
                  <a:cubicBezTo>
                    <a:pt x="17" y="15"/>
                    <a:pt x="17" y="15"/>
                    <a:pt x="17" y="15"/>
                  </a:cubicBezTo>
                  <a:cubicBezTo>
                    <a:pt x="20" y="16"/>
                    <a:pt x="22" y="17"/>
                    <a:pt x="23" y="18"/>
                  </a:cubicBezTo>
                  <a:cubicBezTo>
                    <a:pt x="24" y="20"/>
                    <a:pt x="25" y="22"/>
                    <a:pt x="25" y="24"/>
                  </a:cubicBezTo>
                  <a:cubicBezTo>
                    <a:pt x="25" y="27"/>
                    <a:pt x="24" y="29"/>
                    <a:pt x="22" y="31"/>
                  </a:cubicBezTo>
                  <a:cubicBezTo>
                    <a:pt x="20" y="33"/>
                    <a:pt x="17" y="33"/>
                    <a:pt x="13" y="33"/>
                  </a:cubicBezTo>
                  <a:cubicBezTo>
                    <a:pt x="9" y="33"/>
                    <a:pt x="5" y="32"/>
                    <a:pt x="3" y="30"/>
                  </a:cubicBezTo>
                  <a:cubicBezTo>
                    <a:pt x="1" y="29"/>
                    <a:pt x="0" y="26"/>
                    <a:pt x="0" y="23"/>
                  </a:cubicBezTo>
                  <a:cubicBezTo>
                    <a:pt x="0" y="22"/>
                    <a:pt x="0" y="22"/>
                    <a:pt x="0" y="22"/>
                  </a:cubicBezTo>
                  <a:cubicBezTo>
                    <a:pt x="4" y="22"/>
                    <a:pt x="4" y="22"/>
                    <a:pt x="4" y="22"/>
                  </a:cubicBezTo>
                  <a:cubicBezTo>
                    <a:pt x="4" y="25"/>
                    <a:pt x="5" y="26"/>
                    <a:pt x="6" y="28"/>
                  </a:cubicBezTo>
                  <a:cubicBezTo>
                    <a:pt x="8" y="29"/>
                    <a:pt x="10" y="30"/>
                    <a:pt x="13" y="30"/>
                  </a:cubicBezTo>
                  <a:cubicBezTo>
                    <a:pt x="15" y="30"/>
                    <a:pt x="17" y="29"/>
                    <a:pt x="19" y="28"/>
                  </a:cubicBezTo>
                  <a:cubicBezTo>
                    <a:pt x="20" y="27"/>
                    <a:pt x="21" y="26"/>
                    <a:pt x="21" y="24"/>
                  </a:cubicBezTo>
                  <a:cubicBezTo>
                    <a:pt x="21" y="23"/>
                    <a:pt x="20" y="22"/>
                    <a:pt x="20" y="21"/>
                  </a:cubicBezTo>
                  <a:cubicBezTo>
                    <a:pt x="19" y="20"/>
                    <a:pt x="17" y="19"/>
                    <a:pt x="14" y="19"/>
                  </a:cubicBezTo>
                  <a:cubicBezTo>
                    <a:pt x="9" y="17"/>
                    <a:pt x="9" y="17"/>
                    <a:pt x="9" y="17"/>
                  </a:cubicBezTo>
                  <a:cubicBezTo>
                    <a:pt x="6" y="17"/>
                    <a:pt x="4" y="16"/>
                    <a:pt x="3" y="15"/>
                  </a:cubicBezTo>
                  <a:cubicBezTo>
                    <a:pt x="1" y="14"/>
                    <a:pt x="1" y="12"/>
                    <a:pt x="1" y="10"/>
                  </a:cubicBezTo>
                  <a:cubicBezTo>
                    <a:pt x="1" y="7"/>
                    <a:pt x="2" y="4"/>
                    <a:pt x="4" y="3"/>
                  </a:cubicBezTo>
                  <a:cubicBezTo>
                    <a:pt x="6" y="1"/>
                    <a:pt x="9" y="0"/>
                    <a:pt x="12" y="0"/>
                  </a:cubicBezTo>
                  <a:cubicBezTo>
                    <a:pt x="16" y="0"/>
                    <a:pt x="19" y="1"/>
                    <a:pt x="21" y="3"/>
                  </a:cubicBezTo>
                  <a:cubicBezTo>
                    <a:pt x="23" y="4"/>
                    <a:pt x="24" y="7"/>
                    <a:pt x="24" y="10"/>
                  </a:cubicBezTo>
                  <a:lnTo>
                    <a:pt x="20" y="1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04" name="Freeform 102">
              <a:extLst>
                <a:ext uri="{FF2B5EF4-FFF2-40B4-BE49-F238E27FC236}">
                  <a16:creationId xmlns:a16="http://schemas.microsoft.com/office/drawing/2014/main" id="{15D86F2D-B366-4E60-BB2F-800AEEBFC519}"/>
                </a:ext>
              </a:extLst>
            </p:cNvPr>
            <p:cNvSpPr>
              <a:spLocks/>
            </p:cNvSpPr>
            <p:nvPr userDrawn="1"/>
          </p:nvSpPr>
          <p:spPr bwMode="auto">
            <a:xfrm>
              <a:off x="2044"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05" name="Freeform 103">
              <a:extLst>
                <a:ext uri="{FF2B5EF4-FFF2-40B4-BE49-F238E27FC236}">
                  <a16:creationId xmlns:a16="http://schemas.microsoft.com/office/drawing/2014/main" id="{F0F228B6-44B5-47E7-9063-1647A0746FE8}"/>
                </a:ext>
              </a:extLst>
            </p:cNvPr>
            <p:cNvSpPr>
              <a:spLocks/>
            </p:cNvSpPr>
            <p:nvPr userDrawn="1"/>
          </p:nvSpPr>
          <p:spPr bwMode="auto">
            <a:xfrm>
              <a:off x="2060" y="933"/>
              <a:ext cx="32" cy="40"/>
            </a:xfrm>
            <a:custGeom>
              <a:avLst/>
              <a:gdLst>
                <a:gd name="T0" fmla="*/ 13 w 32"/>
                <a:gd name="T1" fmla="*/ 5 h 40"/>
                <a:gd name="T2" fmla="*/ 0 w 32"/>
                <a:gd name="T3" fmla="*/ 5 h 40"/>
                <a:gd name="T4" fmla="*/ 0 w 32"/>
                <a:gd name="T5" fmla="*/ 3 h 40"/>
                <a:gd name="T6" fmla="*/ 0 w 32"/>
                <a:gd name="T7" fmla="*/ 0 h 40"/>
                <a:gd name="T8" fmla="*/ 32 w 32"/>
                <a:gd name="T9" fmla="*/ 0 h 40"/>
                <a:gd name="T10" fmla="*/ 32 w 32"/>
                <a:gd name="T11" fmla="*/ 3 h 40"/>
                <a:gd name="T12" fmla="*/ 32 w 32"/>
                <a:gd name="T13" fmla="*/ 5 h 40"/>
                <a:gd name="T14" fmla="*/ 18 w 32"/>
                <a:gd name="T15" fmla="*/ 5 h 40"/>
                <a:gd name="T16" fmla="*/ 18 w 32"/>
                <a:gd name="T17" fmla="*/ 40 h 40"/>
                <a:gd name="T18" fmla="*/ 16 w 32"/>
                <a:gd name="T19" fmla="*/ 40 h 40"/>
                <a:gd name="T20" fmla="*/ 13 w 32"/>
                <a:gd name="T21" fmla="*/ 40 h 40"/>
                <a:gd name="T22" fmla="*/ 13 w 32"/>
                <a:gd name="T23" fmla="*/ 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 h="40">
                  <a:moveTo>
                    <a:pt x="13" y="5"/>
                  </a:moveTo>
                  <a:lnTo>
                    <a:pt x="0" y="5"/>
                  </a:lnTo>
                  <a:lnTo>
                    <a:pt x="0" y="3"/>
                  </a:lnTo>
                  <a:lnTo>
                    <a:pt x="0" y="0"/>
                  </a:lnTo>
                  <a:lnTo>
                    <a:pt x="32" y="0"/>
                  </a:lnTo>
                  <a:lnTo>
                    <a:pt x="32" y="3"/>
                  </a:lnTo>
                  <a:lnTo>
                    <a:pt x="32" y="5"/>
                  </a:lnTo>
                  <a:lnTo>
                    <a:pt x="18" y="5"/>
                  </a:lnTo>
                  <a:lnTo>
                    <a:pt x="18" y="40"/>
                  </a:lnTo>
                  <a:lnTo>
                    <a:pt x="16" y="40"/>
                  </a:lnTo>
                  <a:lnTo>
                    <a:pt x="13" y="40"/>
                  </a:lnTo>
                  <a:lnTo>
                    <a:pt x="13" y="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06" name="Freeform 104">
              <a:extLst>
                <a:ext uri="{FF2B5EF4-FFF2-40B4-BE49-F238E27FC236}">
                  <a16:creationId xmlns:a16="http://schemas.microsoft.com/office/drawing/2014/main" id="{05B41817-C9AC-4638-A15A-C65E648C89BE}"/>
                </a:ext>
              </a:extLst>
            </p:cNvPr>
            <p:cNvSpPr>
              <a:spLocks/>
            </p:cNvSpPr>
            <p:nvPr userDrawn="1"/>
          </p:nvSpPr>
          <p:spPr bwMode="auto">
            <a:xfrm>
              <a:off x="2101" y="933"/>
              <a:ext cx="34" cy="40"/>
            </a:xfrm>
            <a:custGeom>
              <a:avLst/>
              <a:gdLst>
                <a:gd name="T0" fmla="*/ 15 w 34"/>
                <a:gd name="T1" fmla="*/ 24 h 40"/>
                <a:gd name="T2" fmla="*/ 0 w 34"/>
                <a:gd name="T3" fmla="*/ 0 h 40"/>
                <a:gd name="T4" fmla="*/ 3 w 34"/>
                <a:gd name="T5" fmla="*/ 0 h 40"/>
                <a:gd name="T6" fmla="*/ 6 w 34"/>
                <a:gd name="T7" fmla="*/ 0 h 40"/>
                <a:gd name="T8" fmla="*/ 17 w 34"/>
                <a:gd name="T9" fmla="*/ 19 h 40"/>
                <a:gd name="T10" fmla="*/ 17 w 34"/>
                <a:gd name="T11" fmla="*/ 19 h 40"/>
                <a:gd name="T12" fmla="*/ 28 w 34"/>
                <a:gd name="T13" fmla="*/ 0 h 40"/>
                <a:gd name="T14" fmla="*/ 32 w 34"/>
                <a:gd name="T15" fmla="*/ 0 h 40"/>
                <a:gd name="T16" fmla="*/ 34 w 34"/>
                <a:gd name="T17" fmla="*/ 0 h 40"/>
                <a:gd name="T18" fmla="*/ 20 w 34"/>
                <a:gd name="T19" fmla="*/ 24 h 40"/>
                <a:gd name="T20" fmla="*/ 20 w 34"/>
                <a:gd name="T21" fmla="*/ 40 h 40"/>
                <a:gd name="T22" fmla="*/ 17 w 34"/>
                <a:gd name="T23" fmla="*/ 40 h 40"/>
                <a:gd name="T24" fmla="*/ 15 w 34"/>
                <a:gd name="T25" fmla="*/ 40 h 40"/>
                <a:gd name="T26" fmla="*/ 15 w 34"/>
                <a:gd name="T27"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4" h="40">
                  <a:moveTo>
                    <a:pt x="15" y="24"/>
                  </a:moveTo>
                  <a:lnTo>
                    <a:pt x="0" y="0"/>
                  </a:lnTo>
                  <a:lnTo>
                    <a:pt x="3" y="0"/>
                  </a:lnTo>
                  <a:lnTo>
                    <a:pt x="6" y="0"/>
                  </a:lnTo>
                  <a:lnTo>
                    <a:pt x="17" y="19"/>
                  </a:lnTo>
                  <a:lnTo>
                    <a:pt x="17" y="19"/>
                  </a:lnTo>
                  <a:lnTo>
                    <a:pt x="28" y="0"/>
                  </a:lnTo>
                  <a:lnTo>
                    <a:pt x="32" y="0"/>
                  </a:lnTo>
                  <a:lnTo>
                    <a:pt x="34" y="0"/>
                  </a:lnTo>
                  <a:lnTo>
                    <a:pt x="20" y="24"/>
                  </a:lnTo>
                  <a:lnTo>
                    <a:pt x="20" y="40"/>
                  </a:lnTo>
                  <a:lnTo>
                    <a:pt x="17" y="40"/>
                  </a:lnTo>
                  <a:lnTo>
                    <a:pt x="15" y="40"/>
                  </a:lnTo>
                  <a:lnTo>
                    <a:pt x="15" y="24"/>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07" name="Freeform 105">
              <a:extLst>
                <a:ext uri="{FF2B5EF4-FFF2-40B4-BE49-F238E27FC236}">
                  <a16:creationId xmlns:a16="http://schemas.microsoft.com/office/drawing/2014/main" id="{8D2C22D0-7B86-4535-83AD-2F518D99BB5B}"/>
                </a:ext>
              </a:extLst>
            </p:cNvPr>
            <p:cNvSpPr>
              <a:spLocks noEditPoints="1"/>
            </p:cNvSpPr>
            <p:nvPr userDrawn="1"/>
          </p:nvSpPr>
          <p:spPr bwMode="auto">
            <a:xfrm>
              <a:off x="954" y="660"/>
              <a:ext cx="350" cy="353"/>
            </a:xfrm>
            <a:custGeom>
              <a:avLst/>
              <a:gdLst>
                <a:gd name="T0" fmla="*/ 142 w 283"/>
                <a:gd name="T1" fmla="*/ 0 h 283"/>
                <a:gd name="T2" fmla="*/ 283 w 283"/>
                <a:gd name="T3" fmla="*/ 142 h 283"/>
                <a:gd name="T4" fmla="*/ 142 w 283"/>
                <a:gd name="T5" fmla="*/ 283 h 283"/>
                <a:gd name="T6" fmla="*/ 0 w 283"/>
                <a:gd name="T7" fmla="*/ 142 h 283"/>
                <a:gd name="T8" fmla="*/ 142 w 283"/>
                <a:gd name="T9" fmla="*/ 0 h 283"/>
                <a:gd name="T10" fmla="*/ 142 w 283"/>
                <a:gd name="T11" fmla="*/ 6 h 283"/>
                <a:gd name="T12" fmla="*/ 6 w 283"/>
                <a:gd name="T13" fmla="*/ 142 h 283"/>
                <a:gd name="T14" fmla="*/ 142 w 283"/>
                <a:gd name="T15" fmla="*/ 277 h 283"/>
                <a:gd name="T16" fmla="*/ 278 w 283"/>
                <a:gd name="T17" fmla="*/ 142 h 283"/>
                <a:gd name="T18" fmla="*/ 142 w 283"/>
                <a:gd name="T19" fmla="*/ 6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3" h="283">
                  <a:moveTo>
                    <a:pt x="142" y="0"/>
                  </a:moveTo>
                  <a:cubicBezTo>
                    <a:pt x="220" y="0"/>
                    <a:pt x="283" y="64"/>
                    <a:pt x="283" y="142"/>
                  </a:cubicBezTo>
                  <a:cubicBezTo>
                    <a:pt x="283" y="219"/>
                    <a:pt x="220" y="283"/>
                    <a:pt x="142" y="283"/>
                  </a:cubicBezTo>
                  <a:cubicBezTo>
                    <a:pt x="64" y="283"/>
                    <a:pt x="0" y="219"/>
                    <a:pt x="0" y="142"/>
                  </a:cubicBezTo>
                  <a:cubicBezTo>
                    <a:pt x="0" y="64"/>
                    <a:pt x="64" y="0"/>
                    <a:pt x="142" y="0"/>
                  </a:cubicBezTo>
                  <a:moveTo>
                    <a:pt x="142" y="6"/>
                  </a:moveTo>
                  <a:cubicBezTo>
                    <a:pt x="67" y="6"/>
                    <a:pt x="6" y="67"/>
                    <a:pt x="6" y="142"/>
                  </a:cubicBezTo>
                  <a:cubicBezTo>
                    <a:pt x="6" y="216"/>
                    <a:pt x="67" y="277"/>
                    <a:pt x="142" y="277"/>
                  </a:cubicBezTo>
                  <a:cubicBezTo>
                    <a:pt x="217" y="277"/>
                    <a:pt x="278" y="216"/>
                    <a:pt x="278" y="142"/>
                  </a:cubicBezTo>
                  <a:cubicBezTo>
                    <a:pt x="278" y="67"/>
                    <a:pt x="217" y="6"/>
                    <a:pt x="142" y="6"/>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08" name="Freeform 106">
              <a:extLst>
                <a:ext uri="{FF2B5EF4-FFF2-40B4-BE49-F238E27FC236}">
                  <a16:creationId xmlns:a16="http://schemas.microsoft.com/office/drawing/2014/main" id="{934A150E-A3B3-4FC2-BFE5-A3977D9AD978}"/>
                </a:ext>
              </a:extLst>
            </p:cNvPr>
            <p:cNvSpPr>
              <a:spLocks/>
            </p:cNvSpPr>
            <p:nvPr userDrawn="1"/>
          </p:nvSpPr>
          <p:spPr bwMode="auto">
            <a:xfrm>
              <a:off x="1033" y="739"/>
              <a:ext cx="193" cy="173"/>
            </a:xfrm>
            <a:custGeom>
              <a:avLst/>
              <a:gdLst>
                <a:gd name="T0" fmla="*/ 28 w 156"/>
                <a:gd name="T1" fmla="*/ 139 h 139"/>
                <a:gd name="T2" fmla="*/ 7 w 156"/>
                <a:gd name="T3" fmla="*/ 112 h 139"/>
                <a:gd name="T4" fmla="*/ 0 w 156"/>
                <a:gd name="T5" fmla="*/ 79 h 139"/>
                <a:gd name="T6" fmla="*/ 78 w 156"/>
                <a:gd name="T7" fmla="*/ 0 h 139"/>
                <a:gd name="T8" fmla="*/ 156 w 156"/>
                <a:gd name="T9" fmla="*/ 79 h 139"/>
                <a:gd name="T10" fmla="*/ 149 w 156"/>
                <a:gd name="T11" fmla="*/ 112 h 139"/>
                <a:gd name="T12" fmla="*/ 128 w 156"/>
                <a:gd name="T13" fmla="*/ 139 h 139"/>
                <a:gd name="T14" fmla="*/ 126 w 156"/>
                <a:gd name="T15" fmla="*/ 137 h 139"/>
                <a:gd name="T16" fmla="*/ 146 w 156"/>
                <a:gd name="T17" fmla="*/ 111 h 139"/>
                <a:gd name="T18" fmla="*/ 153 w 156"/>
                <a:gd name="T19" fmla="*/ 79 h 139"/>
                <a:gd name="T20" fmla="*/ 78 w 156"/>
                <a:gd name="T21" fmla="*/ 3 h 139"/>
                <a:gd name="T22" fmla="*/ 3 w 156"/>
                <a:gd name="T23" fmla="*/ 79 h 139"/>
                <a:gd name="T24" fmla="*/ 10 w 156"/>
                <a:gd name="T25" fmla="*/ 111 h 139"/>
                <a:gd name="T26" fmla="*/ 30 w 156"/>
                <a:gd name="T27" fmla="*/ 137 h 139"/>
                <a:gd name="T28" fmla="*/ 28 w 156"/>
                <a:gd name="T29" fmla="*/ 13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6" h="139">
                  <a:moveTo>
                    <a:pt x="28" y="139"/>
                  </a:moveTo>
                  <a:cubicBezTo>
                    <a:pt x="19" y="132"/>
                    <a:pt x="12" y="122"/>
                    <a:pt x="7" y="112"/>
                  </a:cubicBezTo>
                  <a:cubicBezTo>
                    <a:pt x="2" y="102"/>
                    <a:pt x="0" y="90"/>
                    <a:pt x="0" y="79"/>
                  </a:cubicBezTo>
                  <a:cubicBezTo>
                    <a:pt x="0" y="36"/>
                    <a:pt x="35" y="0"/>
                    <a:pt x="78" y="0"/>
                  </a:cubicBezTo>
                  <a:cubicBezTo>
                    <a:pt x="121" y="0"/>
                    <a:pt x="156" y="36"/>
                    <a:pt x="156" y="79"/>
                  </a:cubicBezTo>
                  <a:cubicBezTo>
                    <a:pt x="156" y="90"/>
                    <a:pt x="153" y="102"/>
                    <a:pt x="149" y="112"/>
                  </a:cubicBezTo>
                  <a:cubicBezTo>
                    <a:pt x="144" y="122"/>
                    <a:pt x="136" y="132"/>
                    <a:pt x="128" y="139"/>
                  </a:cubicBezTo>
                  <a:cubicBezTo>
                    <a:pt x="126" y="137"/>
                    <a:pt x="126" y="137"/>
                    <a:pt x="126" y="137"/>
                  </a:cubicBezTo>
                  <a:cubicBezTo>
                    <a:pt x="134" y="130"/>
                    <a:pt x="141" y="121"/>
                    <a:pt x="146" y="111"/>
                  </a:cubicBezTo>
                  <a:cubicBezTo>
                    <a:pt x="151" y="101"/>
                    <a:pt x="153" y="90"/>
                    <a:pt x="153" y="79"/>
                  </a:cubicBezTo>
                  <a:cubicBezTo>
                    <a:pt x="153" y="37"/>
                    <a:pt x="119" y="3"/>
                    <a:pt x="78" y="3"/>
                  </a:cubicBezTo>
                  <a:cubicBezTo>
                    <a:pt x="36" y="3"/>
                    <a:pt x="3" y="37"/>
                    <a:pt x="3" y="79"/>
                  </a:cubicBezTo>
                  <a:cubicBezTo>
                    <a:pt x="3" y="90"/>
                    <a:pt x="5" y="101"/>
                    <a:pt x="10" y="111"/>
                  </a:cubicBezTo>
                  <a:cubicBezTo>
                    <a:pt x="14" y="121"/>
                    <a:pt x="21" y="130"/>
                    <a:pt x="30" y="137"/>
                  </a:cubicBezTo>
                  <a:lnTo>
                    <a:pt x="28" y="13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09" name="Freeform 107">
              <a:extLst>
                <a:ext uri="{FF2B5EF4-FFF2-40B4-BE49-F238E27FC236}">
                  <a16:creationId xmlns:a16="http://schemas.microsoft.com/office/drawing/2014/main" id="{7EE6CE45-28C4-4F47-9729-2B0334E27C5E}"/>
                </a:ext>
              </a:extLst>
            </p:cNvPr>
            <p:cNvSpPr>
              <a:spLocks/>
            </p:cNvSpPr>
            <p:nvPr userDrawn="1"/>
          </p:nvSpPr>
          <p:spPr bwMode="auto">
            <a:xfrm>
              <a:off x="972" y="867"/>
              <a:ext cx="40" cy="29"/>
            </a:xfrm>
            <a:custGeom>
              <a:avLst/>
              <a:gdLst>
                <a:gd name="T0" fmla="*/ 8 w 40"/>
                <a:gd name="T1" fmla="*/ 29 h 29"/>
                <a:gd name="T2" fmla="*/ 0 w 40"/>
                <a:gd name="T3" fmla="*/ 10 h 29"/>
                <a:gd name="T4" fmla="*/ 4 w 40"/>
                <a:gd name="T5" fmla="*/ 9 h 29"/>
                <a:gd name="T6" fmla="*/ 35 w 40"/>
                <a:gd name="T7" fmla="*/ 14 h 29"/>
                <a:gd name="T8" fmla="*/ 30 w 40"/>
                <a:gd name="T9" fmla="*/ 1 h 29"/>
                <a:gd name="T10" fmla="*/ 34 w 40"/>
                <a:gd name="T11" fmla="*/ 0 h 29"/>
                <a:gd name="T12" fmla="*/ 40 w 40"/>
                <a:gd name="T13" fmla="*/ 16 h 29"/>
                <a:gd name="T14" fmla="*/ 36 w 40"/>
                <a:gd name="T15" fmla="*/ 17 h 29"/>
                <a:gd name="T16" fmla="*/ 7 w 40"/>
                <a:gd name="T17" fmla="*/ 14 h 29"/>
                <a:gd name="T18" fmla="*/ 12 w 40"/>
                <a:gd name="T19" fmla="*/ 27 h 29"/>
                <a:gd name="T20" fmla="*/ 8 w 40"/>
                <a:gd name="T21"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29">
                  <a:moveTo>
                    <a:pt x="8" y="29"/>
                  </a:moveTo>
                  <a:lnTo>
                    <a:pt x="0" y="10"/>
                  </a:lnTo>
                  <a:lnTo>
                    <a:pt x="4" y="9"/>
                  </a:lnTo>
                  <a:lnTo>
                    <a:pt x="35" y="14"/>
                  </a:lnTo>
                  <a:lnTo>
                    <a:pt x="30" y="1"/>
                  </a:lnTo>
                  <a:lnTo>
                    <a:pt x="34" y="0"/>
                  </a:lnTo>
                  <a:lnTo>
                    <a:pt x="40" y="16"/>
                  </a:lnTo>
                  <a:lnTo>
                    <a:pt x="36" y="17"/>
                  </a:lnTo>
                  <a:lnTo>
                    <a:pt x="7" y="14"/>
                  </a:lnTo>
                  <a:lnTo>
                    <a:pt x="12" y="27"/>
                  </a:lnTo>
                  <a:lnTo>
                    <a:pt x="8" y="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10" name="Freeform 108">
              <a:extLst>
                <a:ext uri="{FF2B5EF4-FFF2-40B4-BE49-F238E27FC236}">
                  <a16:creationId xmlns:a16="http://schemas.microsoft.com/office/drawing/2014/main" id="{15A327D2-7912-4808-B4A6-3FBABB3321D9}"/>
                </a:ext>
              </a:extLst>
            </p:cNvPr>
            <p:cNvSpPr>
              <a:spLocks/>
            </p:cNvSpPr>
            <p:nvPr userDrawn="1"/>
          </p:nvSpPr>
          <p:spPr bwMode="auto">
            <a:xfrm>
              <a:off x="984" y="888"/>
              <a:ext cx="38" cy="31"/>
            </a:xfrm>
            <a:custGeom>
              <a:avLst/>
              <a:gdLst>
                <a:gd name="T0" fmla="*/ 7 w 38"/>
                <a:gd name="T1" fmla="*/ 31 h 31"/>
                <a:gd name="T2" fmla="*/ 6 w 38"/>
                <a:gd name="T3" fmla="*/ 28 h 31"/>
                <a:gd name="T4" fmla="*/ 19 w 38"/>
                <a:gd name="T5" fmla="*/ 21 h 31"/>
                <a:gd name="T6" fmla="*/ 14 w 38"/>
                <a:gd name="T7" fmla="*/ 11 h 31"/>
                <a:gd name="T8" fmla="*/ 1 w 38"/>
                <a:gd name="T9" fmla="*/ 19 h 31"/>
                <a:gd name="T10" fmla="*/ 0 w 38"/>
                <a:gd name="T11" fmla="*/ 15 h 31"/>
                <a:gd name="T12" fmla="*/ 29 w 38"/>
                <a:gd name="T13" fmla="*/ 0 h 31"/>
                <a:gd name="T14" fmla="*/ 32 w 38"/>
                <a:gd name="T15" fmla="*/ 4 h 31"/>
                <a:gd name="T16" fmla="*/ 18 w 38"/>
                <a:gd name="T17" fmla="*/ 10 h 31"/>
                <a:gd name="T18" fmla="*/ 23 w 38"/>
                <a:gd name="T19" fmla="*/ 19 h 31"/>
                <a:gd name="T20" fmla="*/ 35 w 38"/>
                <a:gd name="T21" fmla="*/ 13 h 31"/>
                <a:gd name="T22" fmla="*/ 38 w 38"/>
                <a:gd name="T23" fmla="*/ 16 h 31"/>
                <a:gd name="T24" fmla="*/ 7 w 38"/>
                <a:gd name="T25"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1">
                  <a:moveTo>
                    <a:pt x="7" y="31"/>
                  </a:moveTo>
                  <a:lnTo>
                    <a:pt x="6" y="28"/>
                  </a:lnTo>
                  <a:lnTo>
                    <a:pt x="19" y="21"/>
                  </a:lnTo>
                  <a:lnTo>
                    <a:pt x="14" y="11"/>
                  </a:lnTo>
                  <a:lnTo>
                    <a:pt x="1" y="19"/>
                  </a:lnTo>
                  <a:lnTo>
                    <a:pt x="0" y="15"/>
                  </a:lnTo>
                  <a:lnTo>
                    <a:pt x="29" y="0"/>
                  </a:lnTo>
                  <a:lnTo>
                    <a:pt x="32" y="4"/>
                  </a:lnTo>
                  <a:lnTo>
                    <a:pt x="18" y="10"/>
                  </a:lnTo>
                  <a:lnTo>
                    <a:pt x="23" y="19"/>
                  </a:lnTo>
                  <a:lnTo>
                    <a:pt x="35" y="13"/>
                  </a:lnTo>
                  <a:lnTo>
                    <a:pt x="38" y="16"/>
                  </a:lnTo>
                  <a:lnTo>
                    <a:pt x="7" y="3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11" name="Freeform 109">
              <a:extLst>
                <a:ext uri="{FF2B5EF4-FFF2-40B4-BE49-F238E27FC236}">
                  <a16:creationId xmlns:a16="http://schemas.microsoft.com/office/drawing/2014/main" id="{B729E54D-35EF-4FCF-98ED-063EC9B36F12}"/>
                </a:ext>
              </a:extLst>
            </p:cNvPr>
            <p:cNvSpPr>
              <a:spLocks/>
            </p:cNvSpPr>
            <p:nvPr userDrawn="1"/>
          </p:nvSpPr>
          <p:spPr bwMode="auto">
            <a:xfrm>
              <a:off x="995" y="906"/>
              <a:ext cx="38" cy="33"/>
            </a:xfrm>
            <a:custGeom>
              <a:avLst/>
              <a:gdLst>
                <a:gd name="T0" fmla="*/ 11 w 38"/>
                <a:gd name="T1" fmla="*/ 33 h 33"/>
                <a:gd name="T2" fmla="*/ 0 w 38"/>
                <a:gd name="T3" fmla="*/ 18 h 33"/>
                <a:gd name="T4" fmla="*/ 28 w 38"/>
                <a:gd name="T5" fmla="*/ 0 h 33"/>
                <a:gd name="T6" fmla="*/ 38 w 38"/>
                <a:gd name="T7" fmla="*/ 15 h 33"/>
                <a:gd name="T8" fmla="*/ 36 w 38"/>
                <a:gd name="T9" fmla="*/ 17 h 33"/>
                <a:gd name="T10" fmla="*/ 27 w 38"/>
                <a:gd name="T11" fmla="*/ 6 h 33"/>
                <a:gd name="T12" fmla="*/ 18 w 38"/>
                <a:gd name="T13" fmla="*/ 11 h 33"/>
                <a:gd name="T14" fmla="*/ 26 w 38"/>
                <a:gd name="T15" fmla="*/ 21 h 33"/>
                <a:gd name="T16" fmla="*/ 23 w 38"/>
                <a:gd name="T17" fmla="*/ 23 h 33"/>
                <a:gd name="T18" fmla="*/ 16 w 38"/>
                <a:gd name="T19" fmla="*/ 13 h 33"/>
                <a:gd name="T20" fmla="*/ 6 w 38"/>
                <a:gd name="T21" fmla="*/ 20 h 33"/>
                <a:gd name="T22" fmla="*/ 13 w 38"/>
                <a:gd name="T23" fmla="*/ 31 h 33"/>
                <a:gd name="T24" fmla="*/ 11 w 38"/>
                <a:gd name="T25"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3">
                  <a:moveTo>
                    <a:pt x="11" y="33"/>
                  </a:moveTo>
                  <a:lnTo>
                    <a:pt x="0" y="18"/>
                  </a:lnTo>
                  <a:lnTo>
                    <a:pt x="28" y="0"/>
                  </a:lnTo>
                  <a:lnTo>
                    <a:pt x="38" y="15"/>
                  </a:lnTo>
                  <a:lnTo>
                    <a:pt x="36" y="17"/>
                  </a:lnTo>
                  <a:lnTo>
                    <a:pt x="27" y="6"/>
                  </a:lnTo>
                  <a:lnTo>
                    <a:pt x="18" y="11"/>
                  </a:lnTo>
                  <a:lnTo>
                    <a:pt x="26" y="21"/>
                  </a:lnTo>
                  <a:lnTo>
                    <a:pt x="23" y="23"/>
                  </a:lnTo>
                  <a:lnTo>
                    <a:pt x="16" y="13"/>
                  </a:lnTo>
                  <a:lnTo>
                    <a:pt x="6" y="20"/>
                  </a:lnTo>
                  <a:lnTo>
                    <a:pt x="13" y="31"/>
                  </a:lnTo>
                  <a:lnTo>
                    <a:pt x="11" y="3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12" name="Freeform 110">
              <a:extLst>
                <a:ext uri="{FF2B5EF4-FFF2-40B4-BE49-F238E27FC236}">
                  <a16:creationId xmlns:a16="http://schemas.microsoft.com/office/drawing/2014/main" id="{3F9BB731-9479-45C1-809F-6363624180B6}"/>
                </a:ext>
              </a:extLst>
            </p:cNvPr>
            <p:cNvSpPr>
              <a:spLocks/>
            </p:cNvSpPr>
            <p:nvPr userDrawn="1"/>
          </p:nvSpPr>
          <p:spPr bwMode="auto">
            <a:xfrm>
              <a:off x="1026" y="934"/>
              <a:ext cx="24" cy="29"/>
            </a:xfrm>
            <a:custGeom>
              <a:avLst/>
              <a:gdLst>
                <a:gd name="T0" fmla="*/ 3 w 24"/>
                <a:gd name="T1" fmla="*/ 29 h 29"/>
                <a:gd name="T2" fmla="*/ 0 w 24"/>
                <a:gd name="T3" fmla="*/ 26 h 29"/>
                <a:gd name="T4" fmla="*/ 21 w 24"/>
                <a:gd name="T5" fmla="*/ 0 h 29"/>
                <a:gd name="T6" fmla="*/ 24 w 24"/>
                <a:gd name="T7" fmla="*/ 3 h 29"/>
                <a:gd name="T8" fmla="*/ 3 w 24"/>
                <a:gd name="T9" fmla="*/ 29 h 29"/>
              </a:gdLst>
              <a:ahLst/>
              <a:cxnLst>
                <a:cxn ang="0">
                  <a:pos x="T0" y="T1"/>
                </a:cxn>
                <a:cxn ang="0">
                  <a:pos x="T2" y="T3"/>
                </a:cxn>
                <a:cxn ang="0">
                  <a:pos x="T4" y="T5"/>
                </a:cxn>
                <a:cxn ang="0">
                  <a:pos x="T6" y="T7"/>
                </a:cxn>
                <a:cxn ang="0">
                  <a:pos x="T8" y="T9"/>
                </a:cxn>
              </a:cxnLst>
              <a:rect l="0" t="0" r="r" b="b"/>
              <a:pathLst>
                <a:path w="24" h="29">
                  <a:moveTo>
                    <a:pt x="3" y="29"/>
                  </a:moveTo>
                  <a:lnTo>
                    <a:pt x="0" y="26"/>
                  </a:lnTo>
                  <a:lnTo>
                    <a:pt x="21" y="0"/>
                  </a:lnTo>
                  <a:lnTo>
                    <a:pt x="24" y="3"/>
                  </a:lnTo>
                  <a:lnTo>
                    <a:pt x="3" y="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13" name="Freeform 111">
              <a:extLst>
                <a:ext uri="{FF2B5EF4-FFF2-40B4-BE49-F238E27FC236}">
                  <a16:creationId xmlns:a16="http://schemas.microsoft.com/office/drawing/2014/main" id="{0171B7E7-9783-4C3F-8AC4-86548F27A2C8}"/>
                </a:ext>
              </a:extLst>
            </p:cNvPr>
            <p:cNvSpPr>
              <a:spLocks noEditPoints="1"/>
            </p:cNvSpPr>
            <p:nvPr userDrawn="1"/>
          </p:nvSpPr>
          <p:spPr bwMode="auto">
            <a:xfrm>
              <a:off x="1034" y="942"/>
              <a:ext cx="29" cy="35"/>
            </a:xfrm>
            <a:custGeom>
              <a:avLst/>
              <a:gdLst>
                <a:gd name="T0" fmla="*/ 11 w 29"/>
                <a:gd name="T1" fmla="*/ 32 h 35"/>
                <a:gd name="T2" fmla="*/ 16 w 29"/>
                <a:gd name="T3" fmla="*/ 23 h 35"/>
                <a:gd name="T4" fmla="*/ 11 w 29"/>
                <a:gd name="T5" fmla="*/ 20 h 35"/>
                <a:gd name="T6" fmla="*/ 3 w 29"/>
                <a:gd name="T7" fmla="*/ 27 h 35"/>
                <a:gd name="T8" fmla="*/ 0 w 29"/>
                <a:gd name="T9" fmla="*/ 25 h 35"/>
                <a:gd name="T10" fmla="*/ 24 w 29"/>
                <a:gd name="T11" fmla="*/ 0 h 35"/>
                <a:gd name="T12" fmla="*/ 29 w 29"/>
                <a:gd name="T13" fmla="*/ 2 h 35"/>
                <a:gd name="T14" fmla="*/ 16 w 29"/>
                <a:gd name="T15" fmla="*/ 35 h 35"/>
                <a:gd name="T16" fmla="*/ 11 w 29"/>
                <a:gd name="T17" fmla="*/ 32 h 35"/>
                <a:gd name="T18" fmla="*/ 19 w 29"/>
                <a:gd name="T19" fmla="*/ 18 h 35"/>
                <a:gd name="T20" fmla="*/ 24 w 29"/>
                <a:gd name="T21" fmla="*/ 7 h 35"/>
                <a:gd name="T22" fmla="*/ 23 w 29"/>
                <a:gd name="T23" fmla="*/ 6 h 35"/>
                <a:gd name="T24" fmla="*/ 14 w 29"/>
                <a:gd name="T25" fmla="*/ 16 h 35"/>
                <a:gd name="T26" fmla="*/ 19 w 29"/>
                <a:gd name="T2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35">
                  <a:moveTo>
                    <a:pt x="11" y="32"/>
                  </a:moveTo>
                  <a:lnTo>
                    <a:pt x="16" y="23"/>
                  </a:lnTo>
                  <a:lnTo>
                    <a:pt x="11" y="20"/>
                  </a:lnTo>
                  <a:lnTo>
                    <a:pt x="3" y="27"/>
                  </a:lnTo>
                  <a:lnTo>
                    <a:pt x="0" y="25"/>
                  </a:lnTo>
                  <a:lnTo>
                    <a:pt x="24" y="0"/>
                  </a:lnTo>
                  <a:lnTo>
                    <a:pt x="29" y="2"/>
                  </a:lnTo>
                  <a:lnTo>
                    <a:pt x="16" y="35"/>
                  </a:lnTo>
                  <a:lnTo>
                    <a:pt x="11" y="32"/>
                  </a:lnTo>
                  <a:close/>
                  <a:moveTo>
                    <a:pt x="19" y="18"/>
                  </a:moveTo>
                  <a:lnTo>
                    <a:pt x="24" y="7"/>
                  </a:lnTo>
                  <a:lnTo>
                    <a:pt x="23" y="6"/>
                  </a:lnTo>
                  <a:lnTo>
                    <a:pt x="14" y="16"/>
                  </a:lnTo>
                  <a:lnTo>
                    <a:pt x="19" y="1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14" name="Freeform 112">
              <a:extLst>
                <a:ext uri="{FF2B5EF4-FFF2-40B4-BE49-F238E27FC236}">
                  <a16:creationId xmlns:a16="http://schemas.microsoft.com/office/drawing/2014/main" id="{E2AD9E5D-C071-4007-92F5-3C0700220313}"/>
                </a:ext>
              </a:extLst>
            </p:cNvPr>
            <p:cNvSpPr>
              <a:spLocks/>
            </p:cNvSpPr>
            <p:nvPr userDrawn="1"/>
          </p:nvSpPr>
          <p:spPr bwMode="auto">
            <a:xfrm>
              <a:off x="1054" y="948"/>
              <a:ext cx="32" cy="39"/>
            </a:xfrm>
            <a:custGeom>
              <a:avLst/>
              <a:gdLst>
                <a:gd name="T0" fmla="*/ 16 w 32"/>
                <a:gd name="T1" fmla="*/ 39 h 39"/>
                <a:gd name="T2" fmla="*/ 13 w 32"/>
                <a:gd name="T3" fmla="*/ 36 h 39"/>
                <a:gd name="T4" fmla="*/ 15 w 32"/>
                <a:gd name="T5" fmla="*/ 12 h 39"/>
                <a:gd name="T6" fmla="*/ 5 w 32"/>
                <a:gd name="T7" fmla="*/ 32 h 39"/>
                <a:gd name="T8" fmla="*/ 0 w 32"/>
                <a:gd name="T9" fmla="*/ 30 h 39"/>
                <a:gd name="T10" fmla="*/ 16 w 32"/>
                <a:gd name="T11" fmla="*/ 0 h 39"/>
                <a:gd name="T12" fmla="*/ 20 w 32"/>
                <a:gd name="T13" fmla="*/ 1 h 39"/>
                <a:gd name="T14" fmla="*/ 19 w 32"/>
                <a:gd name="T15" fmla="*/ 25 h 39"/>
                <a:gd name="T16" fmla="*/ 29 w 32"/>
                <a:gd name="T17" fmla="*/ 5 h 39"/>
                <a:gd name="T18" fmla="*/ 32 w 32"/>
                <a:gd name="T19" fmla="*/ 7 h 39"/>
                <a:gd name="T20" fmla="*/ 16 w 32"/>
                <a:gd name="T21"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39">
                  <a:moveTo>
                    <a:pt x="16" y="39"/>
                  </a:moveTo>
                  <a:lnTo>
                    <a:pt x="13" y="36"/>
                  </a:lnTo>
                  <a:lnTo>
                    <a:pt x="15" y="12"/>
                  </a:lnTo>
                  <a:lnTo>
                    <a:pt x="5" y="32"/>
                  </a:lnTo>
                  <a:lnTo>
                    <a:pt x="0" y="30"/>
                  </a:lnTo>
                  <a:lnTo>
                    <a:pt x="16" y="0"/>
                  </a:lnTo>
                  <a:lnTo>
                    <a:pt x="20" y="1"/>
                  </a:lnTo>
                  <a:lnTo>
                    <a:pt x="19" y="25"/>
                  </a:lnTo>
                  <a:lnTo>
                    <a:pt x="29" y="5"/>
                  </a:lnTo>
                  <a:lnTo>
                    <a:pt x="32" y="7"/>
                  </a:lnTo>
                  <a:lnTo>
                    <a:pt x="16" y="3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15" name="Freeform 113">
              <a:extLst>
                <a:ext uri="{FF2B5EF4-FFF2-40B4-BE49-F238E27FC236}">
                  <a16:creationId xmlns:a16="http://schemas.microsoft.com/office/drawing/2014/main" id="{76C61428-4B8F-4211-BEEE-EFB70AD748E8}"/>
                </a:ext>
              </a:extLst>
            </p:cNvPr>
            <p:cNvSpPr>
              <a:spLocks/>
            </p:cNvSpPr>
            <p:nvPr userDrawn="1"/>
          </p:nvSpPr>
          <p:spPr bwMode="auto">
            <a:xfrm>
              <a:off x="1079" y="957"/>
              <a:ext cx="23" cy="36"/>
            </a:xfrm>
            <a:custGeom>
              <a:avLst/>
              <a:gdLst>
                <a:gd name="T0" fmla="*/ 12 w 19"/>
                <a:gd name="T1" fmla="*/ 29 h 29"/>
                <a:gd name="T2" fmla="*/ 10 w 19"/>
                <a:gd name="T3" fmla="*/ 29 h 29"/>
                <a:gd name="T4" fmla="*/ 10 w 19"/>
                <a:gd name="T5" fmla="*/ 26 h 29"/>
                <a:gd name="T6" fmla="*/ 8 w 19"/>
                <a:gd name="T7" fmla="*/ 27 h 29"/>
                <a:gd name="T8" fmla="*/ 5 w 19"/>
                <a:gd name="T9" fmla="*/ 27 h 29"/>
                <a:gd name="T10" fmla="*/ 1 w 19"/>
                <a:gd name="T11" fmla="*/ 23 h 29"/>
                <a:gd name="T12" fmla="*/ 1 w 19"/>
                <a:gd name="T13" fmla="*/ 13 h 29"/>
                <a:gd name="T14" fmla="*/ 6 w 19"/>
                <a:gd name="T15" fmla="*/ 3 h 29"/>
                <a:gd name="T16" fmla="*/ 14 w 19"/>
                <a:gd name="T17" fmla="*/ 1 h 29"/>
                <a:gd name="T18" fmla="*/ 18 w 19"/>
                <a:gd name="T19" fmla="*/ 11 h 29"/>
                <a:gd name="T20" fmla="*/ 15 w 19"/>
                <a:gd name="T21" fmla="*/ 11 h 29"/>
                <a:gd name="T22" fmla="*/ 13 w 19"/>
                <a:gd name="T23" fmla="*/ 4 h 29"/>
                <a:gd name="T24" fmla="*/ 8 w 19"/>
                <a:gd name="T25" fmla="*/ 6 h 29"/>
                <a:gd name="T26" fmla="*/ 5 w 19"/>
                <a:gd name="T27" fmla="*/ 14 h 29"/>
                <a:gd name="T28" fmla="*/ 4 w 19"/>
                <a:gd name="T29" fmla="*/ 21 h 29"/>
                <a:gd name="T30" fmla="*/ 6 w 19"/>
                <a:gd name="T31" fmla="*/ 24 h 29"/>
                <a:gd name="T32" fmla="*/ 9 w 19"/>
                <a:gd name="T33" fmla="*/ 24 h 29"/>
                <a:gd name="T34" fmla="*/ 12 w 19"/>
                <a:gd name="T35" fmla="*/ 20 h 29"/>
                <a:gd name="T36" fmla="*/ 12 w 19"/>
                <a:gd name="T37" fmla="*/ 18 h 29"/>
                <a:gd name="T38" fmla="*/ 8 w 19"/>
                <a:gd name="T39" fmla="*/ 17 h 29"/>
                <a:gd name="T40" fmla="*/ 9 w 19"/>
                <a:gd name="T41" fmla="*/ 14 h 29"/>
                <a:gd name="T42" fmla="*/ 16 w 19"/>
                <a:gd name="T43" fmla="*/ 17 h 29"/>
                <a:gd name="T44" fmla="*/ 12 w 19"/>
                <a:gd name="T45"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29">
                  <a:moveTo>
                    <a:pt x="12" y="29"/>
                  </a:moveTo>
                  <a:cubicBezTo>
                    <a:pt x="10" y="29"/>
                    <a:pt x="10" y="29"/>
                    <a:pt x="10" y="29"/>
                  </a:cubicBezTo>
                  <a:cubicBezTo>
                    <a:pt x="10" y="26"/>
                    <a:pt x="10" y="26"/>
                    <a:pt x="10" y="26"/>
                  </a:cubicBezTo>
                  <a:cubicBezTo>
                    <a:pt x="9" y="27"/>
                    <a:pt x="9" y="27"/>
                    <a:pt x="8" y="27"/>
                  </a:cubicBezTo>
                  <a:cubicBezTo>
                    <a:pt x="7" y="27"/>
                    <a:pt x="6" y="27"/>
                    <a:pt x="5" y="27"/>
                  </a:cubicBezTo>
                  <a:cubicBezTo>
                    <a:pt x="3" y="26"/>
                    <a:pt x="2" y="25"/>
                    <a:pt x="1" y="23"/>
                  </a:cubicBezTo>
                  <a:cubicBezTo>
                    <a:pt x="0" y="20"/>
                    <a:pt x="0" y="17"/>
                    <a:pt x="1" y="13"/>
                  </a:cubicBezTo>
                  <a:cubicBezTo>
                    <a:pt x="3" y="8"/>
                    <a:pt x="4" y="5"/>
                    <a:pt x="6" y="3"/>
                  </a:cubicBezTo>
                  <a:cubicBezTo>
                    <a:pt x="9" y="1"/>
                    <a:pt x="12" y="0"/>
                    <a:pt x="14" y="1"/>
                  </a:cubicBezTo>
                  <a:cubicBezTo>
                    <a:pt x="17" y="2"/>
                    <a:pt x="19" y="6"/>
                    <a:pt x="18" y="11"/>
                  </a:cubicBezTo>
                  <a:cubicBezTo>
                    <a:pt x="15" y="11"/>
                    <a:pt x="15" y="11"/>
                    <a:pt x="15" y="11"/>
                  </a:cubicBezTo>
                  <a:cubicBezTo>
                    <a:pt x="16" y="9"/>
                    <a:pt x="15" y="5"/>
                    <a:pt x="13" y="4"/>
                  </a:cubicBezTo>
                  <a:cubicBezTo>
                    <a:pt x="11" y="4"/>
                    <a:pt x="9" y="4"/>
                    <a:pt x="8" y="6"/>
                  </a:cubicBezTo>
                  <a:cubicBezTo>
                    <a:pt x="7" y="7"/>
                    <a:pt x="6" y="10"/>
                    <a:pt x="5" y="14"/>
                  </a:cubicBezTo>
                  <a:cubicBezTo>
                    <a:pt x="4" y="17"/>
                    <a:pt x="3" y="20"/>
                    <a:pt x="4" y="21"/>
                  </a:cubicBezTo>
                  <a:cubicBezTo>
                    <a:pt x="4" y="23"/>
                    <a:pt x="5" y="24"/>
                    <a:pt x="6" y="24"/>
                  </a:cubicBezTo>
                  <a:cubicBezTo>
                    <a:pt x="7" y="25"/>
                    <a:pt x="9" y="25"/>
                    <a:pt x="9" y="24"/>
                  </a:cubicBezTo>
                  <a:cubicBezTo>
                    <a:pt x="10" y="23"/>
                    <a:pt x="11" y="22"/>
                    <a:pt x="12" y="20"/>
                  </a:cubicBezTo>
                  <a:cubicBezTo>
                    <a:pt x="12" y="18"/>
                    <a:pt x="12" y="18"/>
                    <a:pt x="12" y="18"/>
                  </a:cubicBezTo>
                  <a:cubicBezTo>
                    <a:pt x="8" y="17"/>
                    <a:pt x="8" y="17"/>
                    <a:pt x="8" y="17"/>
                  </a:cubicBezTo>
                  <a:cubicBezTo>
                    <a:pt x="9" y="14"/>
                    <a:pt x="9" y="14"/>
                    <a:pt x="9" y="14"/>
                  </a:cubicBezTo>
                  <a:cubicBezTo>
                    <a:pt x="16" y="17"/>
                    <a:pt x="16" y="17"/>
                    <a:pt x="16" y="17"/>
                  </a:cubicBezTo>
                  <a:lnTo>
                    <a:pt x="12" y="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16" name="Freeform 114">
              <a:extLst>
                <a:ext uri="{FF2B5EF4-FFF2-40B4-BE49-F238E27FC236}">
                  <a16:creationId xmlns:a16="http://schemas.microsoft.com/office/drawing/2014/main" id="{9D715EB2-0A69-4AA7-B3E9-0775ED5E4B1B}"/>
                </a:ext>
              </a:extLst>
            </p:cNvPr>
            <p:cNvSpPr>
              <a:spLocks/>
            </p:cNvSpPr>
            <p:nvPr userDrawn="1"/>
          </p:nvSpPr>
          <p:spPr bwMode="auto">
            <a:xfrm>
              <a:off x="1121" y="962"/>
              <a:ext cx="19" cy="33"/>
            </a:xfrm>
            <a:custGeom>
              <a:avLst/>
              <a:gdLst>
                <a:gd name="T0" fmla="*/ 15 w 15"/>
                <a:gd name="T1" fmla="*/ 19 h 27"/>
                <a:gd name="T2" fmla="*/ 13 w 15"/>
                <a:gd name="T3" fmla="*/ 25 h 27"/>
                <a:gd name="T4" fmla="*/ 7 w 15"/>
                <a:gd name="T5" fmla="*/ 27 h 27"/>
                <a:gd name="T6" fmla="*/ 1 w 15"/>
                <a:gd name="T7" fmla="*/ 25 h 27"/>
                <a:gd name="T8" fmla="*/ 0 w 15"/>
                <a:gd name="T9" fmla="*/ 19 h 27"/>
                <a:gd name="T10" fmla="*/ 0 w 15"/>
                <a:gd name="T11" fmla="*/ 0 h 27"/>
                <a:gd name="T12" fmla="*/ 4 w 15"/>
                <a:gd name="T13" fmla="*/ 0 h 27"/>
                <a:gd name="T14" fmla="*/ 3 w 15"/>
                <a:gd name="T15" fmla="*/ 19 h 27"/>
                <a:gd name="T16" fmla="*/ 4 w 15"/>
                <a:gd name="T17" fmla="*/ 23 h 27"/>
                <a:gd name="T18" fmla="*/ 7 w 15"/>
                <a:gd name="T19" fmla="*/ 24 h 27"/>
                <a:gd name="T20" fmla="*/ 10 w 15"/>
                <a:gd name="T21" fmla="*/ 23 h 27"/>
                <a:gd name="T22" fmla="*/ 11 w 15"/>
                <a:gd name="T23" fmla="*/ 19 h 27"/>
                <a:gd name="T24" fmla="*/ 12 w 15"/>
                <a:gd name="T25" fmla="*/ 0 h 27"/>
                <a:gd name="T26" fmla="*/ 15 w 15"/>
                <a:gd name="T27" fmla="*/ 0 h 27"/>
                <a:gd name="T28" fmla="*/ 15 w 15"/>
                <a:gd name="T29"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7">
                  <a:moveTo>
                    <a:pt x="15" y="19"/>
                  </a:moveTo>
                  <a:cubicBezTo>
                    <a:pt x="15" y="22"/>
                    <a:pt x="14" y="24"/>
                    <a:pt x="13" y="25"/>
                  </a:cubicBezTo>
                  <a:cubicBezTo>
                    <a:pt x="11" y="27"/>
                    <a:pt x="10" y="27"/>
                    <a:pt x="7" y="27"/>
                  </a:cubicBezTo>
                  <a:cubicBezTo>
                    <a:pt x="4" y="27"/>
                    <a:pt x="2" y="26"/>
                    <a:pt x="1" y="25"/>
                  </a:cubicBezTo>
                  <a:cubicBezTo>
                    <a:pt x="0" y="23"/>
                    <a:pt x="0" y="21"/>
                    <a:pt x="0" y="19"/>
                  </a:cubicBezTo>
                  <a:cubicBezTo>
                    <a:pt x="0" y="0"/>
                    <a:pt x="0" y="0"/>
                    <a:pt x="0" y="0"/>
                  </a:cubicBezTo>
                  <a:cubicBezTo>
                    <a:pt x="4" y="0"/>
                    <a:pt x="4" y="0"/>
                    <a:pt x="4" y="0"/>
                  </a:cubicBezTo>
                  <a:cubicBezTo>
                    <a:pt x="3" y="19"/>
                    <a:pt x="3" y="19"/>
                    <a:pt x="3" y="19"/>
                  </a:cubicBezTo>
                  <a:cubicBezTo>
                    <a:pt x="3" y="21"/>
                    <a:pt x="3" y="22"/>
                    <a:pt x="4" y="23"/>
                  </a:cubicBezTo>
                  <a:cubicBezTo>
                    <a:pt x="5" y="24"/>
                    <a:pt x="6" y="24"/>
                    <a:pt x="7" y="24"/>
                  </a:cubicBezTo>
                  <a:cubicBezTo>
                    <a:pt x="8" y="24"/>
                    <a:pt x="9" y="24"/>
                    <a:pt x="10" y="23"/>
                  </a:cubicBezTo>
                  <a:cubicBezTo>
                    <a:pt x="11" y="22"/>
                    <a:pt x="11" y="21"/>
                    <a:pt x="11" y="19"/>
                  </a:cubicBezTo>
                  <a:cubicBezTo>
                    <a:pt x="12" y="0"/>
                    <a:pt x="12" y="0"/>
                    <a:pt x="12" y="0"/>
                  </a:cubicBezTo>
                  <a:cubicBezTo>
                    <a:pt x="15" y="0"/>
                    <a:pt x="15" y="0"/>
                    <a:pt x="15" y="0"/>
                  </a:cubicBezTo>
                  <a:lnTo>
                    <a:pt x="15" y="1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17" name="Freeform 115">
              <a:extLst>
                <a:ext uri="{FF2B5EF4-FFF2-40B4-BE49-F238E27FC236}">
                  <a16:creationId xmlns:a16="http://schemas.microsoft.com/office/drawing/2014/main" id="{E94DC579-550F-4749-B8B8-6374D698469A}"/>
                </a:ext>
              </a:extLst>
            </p:cNvPr>
            <p:cNvSpPr>
              <a:spLocks/>
            </p:cNvSpPr>
            <p:nvPr userDrawn="1"/>
          </p:nvSpPr>
          <p:spPr bwMode="auto">
            <a:xfrm>
              <a:off x="1142" y="959"/>
              <a:ext cx="21" cy="36"/>
            </a:xfrm>
            <a:custGeom>
              <a:avLst/>
              <a:gdLst>
                <a:gd name="T0" fmla="*/ 21 w 21"/>
                <a:gd name="T1" fmla="*/ 33 h 36"/>
                <a:gd name="T2" fmla="*/ 17 w 21"/>
                <a:gd name="T3" fmla="*/ 34 h 36"/>
                <a:gd name="T4" fmla="*/ 5 w 21"/>
                <a:gd name="T5" fmla="*/ 11 h 36"/>
                <a:gd name="T6" fmla="*/ 8 w 21"/>
                <a:gd name="T7" fmla="*/ 35 h 36"/>
                <a:gd name="T8" fmla="*/ 3 w 21"/>
                <a:gd name="T9" fmla="*/ 36 h 36"/>
                <a:gd name="T10" fmla="*/ 0 w 21"/>
                <a:gd name="T11" fmla="*/ 3 h 36"/>
                <a:gd name="T12" fmla="*/ 5 w 21"/>
                <a:gd name="T13" fmla="*/ 1 h 36"/>
                <a:gd name="T14" fmla="*/ 15 w 21"/>
                <a:gd name="T15" fmla="*/ 18 h 36"/>
                <a:gd name="T16" fmla="*/ 12 w 21"/>
                <a:gd name="T17" fmla="*/ 0 h 36"/>
                <a:gd name="T18" fmla="*/ 16 w 21"/>
                <a:gd name="T19" fmla="*/ 0 h 36"/>
                <a:gd name="T20" fmla="*/ 21 w 21"/>
                <a:gd name="T21" fmla="*/ 3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36">
                  <a:moveTo>
                    <a:pt x="21" y="33"/>
                  </a:moveTo>
                  <a:lnTo>
                    <a:pt x="17" y="34"/>
                  </a:lnTo>
                  <a:lnTo>
                    <a:pt x="5" y="11"/>
                  </a:lnTo>
                  <a:lnTo>
                    <a:pt x="8" y="35"/>
                  </a:lnTo>
                  <a:lnTo>
                    <a:pt x="3" y="36"/>
                  </a:lnTo>
                  <a:lnTo>
                    <a:pt x="0" y="3"/>
                  </a:lnTo>
                  <a:lnTo>
                    <a:pt x="5" y="1"/>
                  </a:lnTo>
                  <a:lnTo>
                    <a:pt x="15" y="18"/>
                  </a:lnTo>
                  <a:lnTo>
                    <a:pt x="12" y="0"/>
                  </a:lnTo>
                  <a:lnTo>
                    <a:pt x="16" y="0"/>
                  </a:lnTo>
                  <a:lnTo>
                    <a:pt x="21" y="3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18" name="Freeform 116">
              <a:extLst>
                <a:ext uri="{FF2B5EF4-FFF2-40B4-BE49-F238E27FC236}">
                  <a16:creationId xmlns:a16="http://schemas.microsoft.com/office/drawing/2014/main" id="{B9F917C8-E97B-4963-86CD-576E1FE89862}"/>
                </a:ext>
              </a:extLst>
            </p:cNvPr>
            <p:cNvSpPr>
              <a:spLocks/>
            </p:cNvSpPr>
            <p:nvPr userDrawn="1"/>
          </p:nvSpPr>
          <p:spPr bwMode="auto">
            <a:xfrm>
              <a:off x="1162" y="957"/>
              <a:ext cx="14" cy="33"/>
            </a:xfrm>
            <a:custGeom>
              <a:avLst/>
              <a:gdLst>
                <a:gd name="T0" fmla="*/ 14 w 14"/>
                <a:gd name="T1" fmla="*/ 31 h 33"/>
                <a:gd name="T2" fmla="*/ 9 w 14"/>
                <a:gd name="T3" fmla="*/ 33 h 33"/>
                <a:gd name="T4" fmla="*/ 0 w 14"/>
                <a:gd name="T5" fmla="*/ 1 h 33"/>
                <a:gd name="T6" fmla="*/ 4 w 14"/>
                <a:gd name="T7" fmla="*/ 0 h 33"/>
                <a:gd name="T8" fmla="*/ 14 w 14"/>
                <a:gd name="T9" fmla="*/ 31 h 33"/>
              </a:gdLst>
              <a:ahLst/>
              <a:cxnLst>
                <a:cxn ang="0">
                  <a:pos x="T0" y="T1"/>
                </a:cxn>
                <a:cxn ang="0">
                  <a:pos x="T2" y="T3"/>
                </a:cxn>
                <a:cxn ang="0">
                  <a:pos x="T4" y="T5"/>
                </a:cxn>
                <a:cxn ang="0">
                  <a:pos x="T6" y="T7"/>
                </a:cxn>
                <a:cxn ang="0">
                  <a:pos x="T8" y="T9"/>
                </a:cxn>
              </a:cxnLst>
              <a:rect l="0" t="0" r="r" b="b"/>
              <a:pathLst>
                <a:path w="14" h="33">
                  <a:moveTo>
                    <a:pt x="14" y="31"/>
                  </a:moveTo>
                  <a:lnTo>
                    <a:pt x="9" y="33"/>
                  </a:lnTo>
                  <a:lnTo>
                    <a:pt x="0" y="1"/>
                  </a:lnTo>
                  <a:lnTo>
                    <a:pt x="4" y="0"/>
                  </a:lnTo>
                  <a:lnTo>
                    <a:pt x="14" y="3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19" name="Freeform 117">
              <a:extLst>
                <a:ext uri="{FF2B5EF4-FFF2-40B4-BE49-F238E27FC236}">
                  <a16:creationId xmlns:a16="http://schemas.microsoft.com/office/drawing/2014/main" id="{5CBB8DD8-315B-4C08-8823-484B0E92D99A}"/>
                </a:ext>
              </a:extLst>
            </p:cNvPr>
            <p:cNvSpPr>
              <a:spLocks/>
            </p:cNvSpPr>
            <p:nvPr userDrawn="1"/>
          </p:nvSpPr>
          <p:spPr bwMode="auto">
            <a:xfrm>
              <a:off x="1169" y="948"/>
              <a:ext cx="23" cy="37"/>
            </a:xfrm>
            <a:custGeom>
              <a:avLst/>
              <a:gdLst>
                <a:gd name="T0" fmla="*/ 18 w 23"/>
                <a:gd name="T1" fmla="*/ 0 h 37"/>
                <a:gd name="T2" fmla="*/ 23 w 23"/>
                <a:gd name="T3" fmla="*/ 35 h 37"/>
                <a:gd name="T4" fmla="*/ 19 w 23"/>
                <a:gd name="T5" fmla="*/ 37 h 37"/>
                <a:gd name="T6" fmla="*/ 0 w 23"/>
                <a:gd name="T7" fmla="*/ 7 h 37"/>
                <a:gd name="T8" fmla="*/ 4 w 23"/>
                <a:gd name="T9" fmla="*/ 6 h 37"/>
                <a:gd name="T10" fmla="*/ 18 w 23"/>
                <a:gd name="T11" fmla="*/ 26 h 37"/>
                <a:gd name="T12" fmla="*/ 14 w 23"/>
                <a:gd name="T13" fmla="*/ 1 h 37"/>
                <a:gd name="T14" fmla="*/ 18 w 23"/>
                <a:gd name="T15" fmla="*/ 0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7">
                  <a:moveTo>
                    <a:pt x="18" y="0"/>
                  </a:moveTo>
                  <a:lnTo>
                    <a:pt x="23" y="35"/>
                  </a:lnTo>
                  <a:lnTo>
                    <a:pt x="19" y="37"/>
                  </a:lnTo>
                  <a:lnTo>
                    <a:pt x="0" y="7"/>
                  </a:lnTo>
                  <a:lnTo>
                    <a:pt x="4" y="6"/>
                  </a:lnTo>
                  <a:lnTo>
                    <a:pt x="18" y="26"/>
                  </a:lnTo>
                  <a:lnTo>
                    <a:pt x="14" y="1"/>
                  </a:lnTo>
                  <a:lnTo>
                    <a:pt x="18"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20" name="Freeform 118">
              <a:extLst>
                <a:ext uri="{FF2B5EF4-FFF2-40B4-BE49-F238E27FC236}">
                  <a16:creationId xmlns:a16="http://schemas.microsoft.com/office/drawing/2014/main" id="{3588299D-E1CF-439B-86A9-8384E797DDC2}"/>
                </a:ext>
              </a:extLst>
            </p:cNvPr>
            <p:cNvSpPr>
              <a:spLocks/>
            </p:cNvSpPr>
            <p:nvPr userDrawn="1"/>
          </p:nvSpPr>
          <p:spPr bwMode="auto">
            <a:xfrm>
              <a:off x="1188" y="939"/>
              <a:ext cx="33" cy="38"/>
            </a:xfrm>
            <a:custGeom>
              <a:avLst/>
              <a:gdLst>
                <a:gd name="T0" fmla="*/ 33 w 33"/>
                <a:gd name="T1" fmla="*/ 29 h 38"/>
                <a:gd name="T2" fmla="*/ 17 w 33"/>
                <a:gd name="T3" fmla="*/ 38 h 38"/>
                <a:gd name="T4" fmla="*/ 0 w 33"/>
                <a:gd name="T5" fmla="*/ 8 h 38"/>
                <a:gd name="T6" fmla="*/ 15 w 33"/>
                <a:gd name="T7" fmla="*/ 0 h 38"/>
                <a:gd name="T8" fmla="*/ 17 w 33"/>
                <a:gd name="T9" fmla="*/ 3 h 38"/>
                <a:gd name="T10" fmla="*/ 6 w 33"/>
                <a:gd name="T11" fmla="*/ 9 h 38"/>
                <a:gd name="T12" fmla="*/ 11 w 33"/>
                <a:gd name="T13" fmla="*/ 19 h 38"/>
                <a:gd name="T14" fmla="*/ 22 w 33"/>
                <a:gd name="T15" fmla="*/ 13 h 38"/>
                <a:gd name="T16" fmla="*/ 23 w 33"/>
                <a:gd name="T17" fmla="*/ 16 h 38"/>
                <a:gd name="T18" fmla="*/ 14 w 33"/>
                <a:gd name="T19" fmla="*/ 21 h 38"/>
                <a:gd name="T20" fmla="*/ 20 w 33"/>
                <a:gd name="T21" fmla="*/ 33 h 38"/>
                <a:gd name="T22" fmla="*/ 31 w 33"/>
                <a:gd name="T23" fmla="*/ 25 h 38"/>
                <a:gd name="T24" fmla="*/ 33 w 33"/>
                <a:gd name="T25" fmla="*/ 2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8">
                  <a:moveTo>
                    <a:pt x="33" y="29"/>
                  </a:moveTo>
                  <a:lnTo>
                    <a:pt x="17" y="38"/>
                  </a:lnTo>
                  <a:lnTo>
                    <a:pt x="0" y="8"/>
                  </a:lnTo>
                  <a:lnTo>
                    <a:pt x="15" y="0"/>
                  </a:lnTo>
                  <a:lnTo>
                    <a:pt x="17" y="3"/>
                  </a:lnTo>
                  <a:lnTo>
                    <a:pt x="6" y="9"/>
                  </a:lnTo>
                  <a:lnTo>
                    <a:pt x="11" y="19"/>
                  </a:lnTo>
                  <a:lnTo>
                    <a:pt x="22" y="13"/>
                  </a:lnTo>
                  <a:lnTo>
                    <a:pt x="23" y="16"/>
                  </a:lnTo>
                  <a:lnTo>
                    <a:pt x="14" y="21"/>
                  </a:lnTo>
                  <a:lnTo>
                    <a:pt x="20" y="33"/>
                  </a:lnTo>
                  <a:lnTo>
                    <a:pt x="31" y="25"/>
                  </a:lnTo>
                  <a:lnTo>
                    <a:pt x="33" y="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21" name="Freeform 119">
              <a:extLst>
                <a:ext uri="{FF2B5EF4-FFF2-40B4-BE49-F238E27FC236}">
                  <a16:creationId xmlns:a16="http://schemas.microsoft.com/office/drawing/2014/main" id="{556C29E1-34FC-4341-B0ED-731F3154DEBE}"/>
                </a:ext>
              </a:extLst>
            </p:cNvPr>
            <p:cNvSpPr>
              <a:spLocks noEditPoints="1"/>
            </p:cNvSpPr>
            <p:nvPr userDrawn="1"/>
          </p:nvSpPr>
          <p:spPr bwMode="auto">
            <a:xfrm>
              <a:off x="1205" y="931"/>
              <a:ext cx="34" cy="34"/>
            </a:xfrm>
            <a:custGeom>
              <a:avLst/>
              <a:gdLst>
                <a:gd name="T0" fmla="*/ 27 w 27"/>
                <a:gd name="T1" fmla="*/ 20 h 28"/>
                <a:gd name="T2" fmla="*/ 24 w 27"/>
                <a:gd name="T3" fmla="*/ 22 h 28"/>
                <a:gd name="T4" fmla="*/ 15 w 27"/>
                <a:gd name="T5" fmla="*/ 14 h 28"/>
                <a:gd name="T6" fmla="*/ 12 w 27"/>
                <a:gd name="T7" fmla="*/ 17 h 28"/>
                <a:gd name="T8" fmla="*/ 19 w 27"/>
                <a:gd name="T9" fmla="*/ 26 h 28"/>
                <a:gd name="T10" fmla="*/ 16 w 27"/>
                <a:gd name="T11" fmla="*/ 28 h 28"/>
                <a:gd name="T12" fmla="*/ 0 w 27"/>
                <a:gd name="T13" fmla="*/ 6 h 28"/>
                <a:gd name="T14" fmla="*/ 5 w 27"/>
                <a:gd name="T15" fmla="*/ 2 h 28"/>
                <a:gd name="T16" fmla="*/ 11 w 27"/>
                <a:gd name="T17" fmla="*/ 0 h 28"/>
                <a:gd name="T18" fmla="*/ 18 w 27"/>
                <a:gd name="T19" fmla="*/ 8 h 28"/>
                <a:gd name="T20" fmla="*/ 17 w 27"/>
                <a:gd name="T21" fmla="*/ 12 h 28"/>
                <a:gd name="T22" fmla="*/ 27 w 27"/>
                <a:gd name="T23" fmla="*/ 20 h 28"/>
                <a:gd name="T24" fmla="*/ 10 w 27"/>
                <a:gd name="T25" fmla="*/ 4 h 28"/>
                <a:gd name="T26" fmla="*/ 5 w 27"/>
                <a:gd name="T27" fmla="*/ 6 h 28"/>
                <a:gd name="T28" fmla="*/ 10 w 27"/>
                <a:gd name="T29" fmla="*/ 13 h 28"/>
                <a:gd name="T30" fmla="*/ 14 w 27"/>
                <a:gd name="T31" fmla="*/ 10 h 28"/>
                <a:gd name="T32" fmla="*/ 10 w 27"/>
                <a:gd name="T33"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8">
                  <a:moveTo>
                    <a:pt x="27" y="20"/>
                  </a:moveTo>
                  <a:cubicBezTo>
                    <a:pt x="24" y="22"/>
                    <a:pt x="24" y="22"/>
                    <a:pt x="24" y="22"/>
                  </a:cubicBezTo>
                  <a:cubicBezTo>
                    <a:pt x="15" y="14"/>
                    <a:pt x="15" y="14"/>
                    <a:pt x="15" y="14"/>
                  </a:cubicBezTo>
                  <a:cubicBezTo>
                    <a:pt x="12" y="17"/>
                    <a:pt x="12" y="17"/>
                    <a:pt x="12" y="17"/>
                  </a:cubicBezTo>
                  <a:cubicBezTo>
                    <a:pt x="19" y="26"/>
                    <a:pt x="19" y="26"/>
                    <a:pt x="19" y="26"/>
                  </a:cubicBezTo>
                  <a:cubicBezTo>
                    <a:pt x="16" y="28"/>
                    <a:pt x="16" y="28"/>
                    <a:pt x="16" y="28"/>
                  </a:cubicBezTo>
                  <a:cubicBezTo>
                    <a:pt x="0" y="6"/>
                    <a:pt x="0" y="6"/>
                    <a:pt x="0" y="6"/>
                  </a:cubicBezTo>
                  <a:cubicBezTo>
                    <a:pt x="5" y="2"/>
                    <a:pt x="5" y="2"/>
                    <a:pt x="5" y="2"/>
                  </a:cubicBezTo>
                  <a:cubicBezTo>
                    <a:pt x="7" y="1"/>
                    <a:pt x="9" y="0"/>
                    <a:pt x="11" y="0"/>
                  </a:cubicBezTo>
                  <a:cubicBezTo>
                    <a:pt x="16" y="1"/>
                    <a:pt x="18" y="4"/>
                    <a:pt x="18" y="8"/>
                  </a:cubicBezTo>
                  <a:cubicBezTo>
                    <a:pt x="18" y="9"/>
                    <a:pt x="18" y="11"/>
                    <a:pt x="17" y="12"/>
                  </a:cubicBezTo>
                  <a:lnTo>
                    <a:pt x="27" y="20"/>
                  </a:lnTo>
                  <a:close/>
                  <a:moveTo>
                    <a:pt x="10" y="4"/>
                  </a:moveTo>
                  <a:cubicBezTo>
                    <a:pt x="8" y="3"/>
                    <a:pt x="6" y="5"/>
                    <a:pt x="5" y="6"/>
                  </a:cubicBezTo>
                  <a:cubicBezTo>
                    <a:pt x="10" y="13"/>
                    <a:pt x="10" y="13"/>
                    <a:pt x="10" y="13"/>
                  </a:cubicBezTo>
                  <a:cubicBezTo>
                    <a:pt x="12" y="12"/>
                    <a:pt x="12" y="12"/>
                    <a:pt x="14" y="10"/>
                  </a:cubicBezTo>
                  <a:cubicBezTo>
                    <a:pt x="14" y="7"/>
                    <a:pt x="13" y="5"/>
                    <a:pt x="10" y="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22" name="Freeform 120">
              <a:extLst>
                <a:ext uri="{FF2B5EF4-FFF2-40B4-BE49-F238E27FC236}">
                  <a16:creationId xmlns:a16="http://schemas.microsoft.com/office/drawing/2014/main" id="{6F1CD009-B67E-4E0A-9DB0-EE2A8D2B384B}"/>
                </a:ext>
              </a:extLst>
            </p:cNvPr>
            <p:cNvSpPr>
              <a:spLocks/>
            </p:cNvSpPr>
            <p:nvPr userDrawn="1"/>
          </p:nvSpPr>
          <p:spPr bwMode="auto">
            <a:xfrm>
              <a:off x="1223" y="916"/>
              <a:ext cx="34" cy="29"/>
            </a:xfrm>
            <a:custGeom>
              <a:avLst/>
              <a:gdLst>
                <a:gd name="T0" fmla="*/ 22 w 28"/>
                <a:gd name="T1" fmla="*/ 10 h 24"/>
                <a:gd name="T2" fmla="*/ 19 w 28"/>
                <a:gd name="T3" fmla="*/ 24 h 24"/>
                <a:gd name="T4" fmla="*/ 14 w 28"/>
                <a:gd name="T5" fmla="*/ 23 h 24"/>
                <a:gd name="T6" fmla="*/ 15 w 28"/>
                <a:gd name="T7" fmla="*/ 20 h 24"/>
                <a:gd name="T8" fmla="*/ 18 w 28"/>
                <a:gd name="T9" fmla="*/ 21 h 24"/>
                <a:gd name="T10" fmla="*/ 20 w 28"/>
                <a:gd name="T11" fmla="*/ 13 h 24"/>
                <a:gd name="T12" fmla="*/ 17 w 28"/>
                <a:gd name="T13" fmla="*/ 12 h 24"/>
                <a:gd name="T14" fmla="*/ 8 w 28"/>
                <a:gd name="T15" fmla="*/ 15 h 24"/>
                <a:gd name="T16" fmla="*/ 0 w 28"/>
                <a:gd name="T17" fmla="*/ 9 h 24"/>
                <a:gd name="T18" fmla="*/ 2 w 28"/>
                <a:gd name="T19" fmla="*/ 4 h 24"/>
                <a:gd name="T20" fmla="*/ 11 w 28"/>
                <a:gd name="T21" fmla="*/ 2 h 24"/>
                <a:gd name="T22" fmla="*/ 10 w 28"/>
                <a:gd name="T23" fmla="*/ 5 h 24"/>
                <a:gd name="T24" fmla="*/ 4 w 28"/>
                <a:gd name="T25" fmla="*/ 6 h 24"/>
                <a:gd name="T26" fmla="*/ 3 w 28"/>
                <a:gd name="T27" fmla="*/ 9 h 24"/>
                <a:gd name="T28" fmla="*/ 7 w 28"/>
                <a:gd name="T29" fmla="*/ 12 h 24"/>
                <a:gd name="T30" fmla="*/ 17 w 28"/>
                <a:gd name="T31" fmla="*/ 9 h 24"/>
                <a:gd name="T32" fmla="*/ 22 w 28"/>
                <a:gd name="T33" fmla="*/ 1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 h="24">
                  <a:moveTo>
                    <a:pt x="22" y="10"/>
                  </a:moveTo>
                  <a:cubicBezTo>
                    <a:pt x="28" y="13"/>
                    <a:pt x="26" y="23"/>
                    <a:pt x="19" y="24"/>
                  </a:cubicBezTo>
                  <a:cubicBezTo>
                    <a:pt x="17" y="24"/>
                    <a:pt x="15" y="24"/>
                    <a:pt x="14" y="23"/>
                  </a:cubicBezTo>
                  <a:cubicBezTo>
                    <a:pt x="15" y="20"/>
                    <a:pt x="15" y="20"/>
                    <a:pt x="15" y="20"/>
                  </a:cubicBezTo>
                  <a:cubicBezTo>
                    <a:pt x="16" y="21"/>
                    <a:pt x="17" y="21"/>
                    <a:pt x="18" y="21"/>
                  </a:cubicBezTo>
                  <a:cubicBezTo>
                    <a:pt x="23" y="20"/>
                    <a:pt x="23" y="15"/>
                    <a:pt x="20" y="13"/>
                  </a:cubicBezTo>
                  <a:cubicBezTo>
                    <a:pt x="19" y="12"/>
                    <a:pt x="18" y="12"/>
                    <a:pt x="17" y="12"/>
                  </a:cubicBezTo>
                  <a:cubicBezTo>
                    <a:pt x="13" y="13"/>
                    <a:pt x="11" y="15"/>
                    <a:pt x="8" y="15"/>
                  </a:cubicBezTo>
                  <a:cubicBezTo>
                    <a:pt x="4" y="15"/>
                    <a:pt x="1" y="13"/>
                    <a:pt x="0" y="9"/>
                  </a:cubicBezTo>
                  <a:cubicBezTo>
                    <a:pt x="0" y="7"/>
                    <a:pt x="1" y="5"/>
                    <a:pt x="2" y="4"/>
                  </a:cubicBezTo>
                  <a:cubicBezTo>
                    <a:pt x="4" y="0"/>
                    <a:pt x="8" y="0"/>
                    <a:pt x="11" y="2"/>
                  </a:cubicBezTo>
                  <a:cubicBezTo>
                    <a:pt x="10" y="5"/>
                    <a:pt x="10" y="5"/>
                    <a:pt x="10" y="5"/>
                  </a:cubicBezTo>
                  <a:cubicBezTo>
                    <a:pt x="8" y="4"/>
                    <a:pt x="5" y="4"/>
                    <a:pt x="4" y="6"/>
                  </a:cubicBezTo>
                  <a:cubicBezTo>
                    <a:pt x="3" y="7"/>
                    <a:pt x="3" y="8"/>
                    <a:pt x="3" y="9"/>
                  </a:cubicBezTo>
                  <a:cubicBezTo>
                    <a:pt x="4" y="11"/>
                    <a:pt x="5" y="12"/>
                    <a:pt x="7" y="12"/>
                  </a:cubicBezTo>
                  <a:cubicBezTo>
                    <a:pt x="11" y="11"/>
                    <a:pt x="13" y="8"/>
                    <a:pt x="17" y="9"/>
                  </a:cubicBezTo>
                  <a:cubicBezTo>
                    <a:pt x="18" y="9"/>
                    <a:pt x="20" y="9"/>
                    <a:pt x="22" y="10"/>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23" name="Freeform 121">
              <a:extLst>
                <a:ext uri="{FF2B5EF4-FFF2-40B4-BE49-F238E27FC236}">
                  <a16:creationId xmlns:a16="http://schemas.microsoft.com/office/drawing/2014/main" id="{100665FC-9BB9-4BBD-A68E-D26D3F7AA00C}"/>
                </a:ext>
              </a:extLst>
            </p:cNvPr>
            <p:cNvSpPr>
              <a:spLocks/>
            </p:cNvSpPr>
            <p:nvPr userDrawn="1"/>
          </p:nvSpPr>
          <p:spPr bwMode="auto">
            <a:xfrm>
              <a:off x="1234" y="906"/>
              <a:ext cx="31" cy="21"/>
            </a:xfrm>
            <a:custGeom>
              <a:avLst/>
              <a:gdLst>
                <a:gd name="T0" fmla="*/ 31 w 31"/>
                <a:gd name="T1" fmla="*/ 17 h 21"/>
                <a:gd name="T2" fmla="*/ 28 w 31"/>
                <a:gd name="T3" fmla="*/ 21 h 21"/>
                <a:gd name="T4" fmla="*/ 0 w 31"/>
                <a:gd name="T5" fmla="*/ 2 h 21"/>
                <a:gd name="T6" fmla="*/ 2 w 31"/>
                <a:gd name="T7" fmla="*/ 0 h 21"/>
                <a:gd name="T8" fmla="*/ 31 w 31"/>
                <a:gd name="T9" fmla="*/ 17 h 21"/>
              </a:gdLst>
              <a:ahLst/>
              <a:cxnLst>
                <a:cxn ang="0">
                  <a:pos x="T0" y="T1"/>
                </a:cxn>
                <a:cxn ang="0">
                  <a:pos x="T2" y="T3"/>
                </a:cxn>
                <a:cxn ang="0">
                  <a:pos x="T4" y="T5"/>
                </a:cxn>
                <a:cxn ang="0">
                  <a:pos x="T6" y="T7"/>
                </a:cxn>
                <a:cxn ang="0">
                  <a:pos x="T8" y="T9"/>
                </a:cxn>
              </a:cxnLst>
              <a:rect l="0" t="0" r="r" b="b"/>
              <a:pathLst>
                <a:path w="31" h="21">
                  <a:moveTo>
                    <a:pt x="31" y="17"/>
                  </a:moveTo>
                  <a:lnTo>
                    <a:pt x="28" y="21"/>
                  </a:lnTo>
                  <a:lnTo>
                    <a:pt x="0" y="2"/>
                  </a:lnTo>
                  <a:lnTo>
                    <a:pt x="2" y="0"/>
                  </a:lnTo>
                  <a:lnTo>
                    <a:pt x="31" y="1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24" name="Freeform 122">
              <a:extLst>
                <a:ext uri="{FF2B5EF4-FFF2-40B4-BE49-F238E27FC236}">
                  <a16:creationId xmlns:a16="http://schemas.microsoft.com/office/drawing/2014/main" id="{DE552CF7-DB35-4305-9611-416F5DD98A7A}"/>
                </a:ext>
              </a:extLst>
            </p:cNvPr>
            <p:cNvSpPr>
              <a:spLocks/>
            </p:cNvSpPr>
            <p:nvPr userDrawn="1"/>
          </p:nvSpPr>
          <p:spPr bwMode="auto">
            <a:xfrm>
              <a:off x="1239" y="884"/>
              <a:ext cx="36" cy="28"/>
            </a:xfrm>
            <a:custGeom>
              <a:avLst/>
              <a:gdLst>
                <a:gd name="T0" fmla="*/ 11 w 36"/>
                <a:gd name="T1" fmla="*/ 3 h 28"/>
                <a:gd name="T2" fmla="*/ 8 w 36"/>
                <a:gd name="T3" fmla="*/ 9 h 28"/>
                <a:gd name="T4" fmla="*/ 36 w 36"/>
                <a:gd name="T5" fmla="*/ 25 h 28"/>
                <a:gd name="T6" fmla="*/ 33 w 36"/>
                <a:gd name="T7" fmla="*/ 28 h 28"/>
                <a:gd name="T8" fmla="*/ 6 w 36"/>
                <a:gd name="T9" fmla="*/ 13 h 28"/>
                <a:gd name="T10" fmla="*/ 3 w 36"/>
                <a:gd name="T11" fmla="*/ 18 h 28"/>
                <a:gd name="T12" fmla="*/ 0 w 36"/>
                <a:gd name="T13" fmla="*/ 17 h 28"/>
                <a:gd name="T14" fmla="*/ 7 w 36"/>
                <a:gd name="T15" fmla="*/ 0 h 28"/>
                <a:gd name="T16" fmla="*/ 11 w 36"/>
                <a:gd name="T17"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28">
                  <a:moveTo>
                    <a:pt x="11" y="3"/>
                  </a:moveTo>
                  <a:lnTo>
                    <a:pt x="8" y="9"/>
                  </a:lnTo>
                  <a:lnTo>
                    <a:pt x="36" y="25"/>
                  </a:lnTo>
                  <a:lnTo>
                    <a:pt x="33" y="28"/>
                  </a:lnTo>
                  <a:lnTo>
                    <a:pt x="6" y="13"/>
                  </a:lnTo>
                  <a:lnTo>
                    <a:pt x="3" y="18"/>
                  </a:lnTo>
                  <a:lnTo>
                    <a:pt x="0" y="17"/>
                  </a:lnTo>
                  <a:lnTo>
                    <a:pt x="7" y="0"/>
                  </a:lnTo>
                  <a:lnTo>
                    <a:pt x="11" y="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25" name="Freeform 123">
              <a:extLst>
                <a:ext uri="{FF2B5EF4-FFF2-40B4-BE49-F238E27FC236}">
                  <a16:creationId xmlns:a16="http://schemas.microsoft.com/office/drawing/2014/main" id="{43481D10-3A84-4760-B423-C9E6B9C3468E}"/>
                </a:ext>
              </a:extLst>
            </p:cNvPr>
            <p:cNvSpPr>
              <a:spLocks/>
            </p:cNvSpPr>
            <p:nvPr userDrawn="1"/>
          </p:nvSpPr>
          <p:spPr bwMode="auto">
            <a:xfrm>
              <a:off x="1247" y="865"/>
              <a:ext cx="36" cy="23"/>
            </a:xfrm>
            <a:custGeom>
              <a:avLst/>
              <a:gdLst>
                <a:gd name="T0" fmla="*/ 8 w 36"/>
                <a:gd name="T1" fmla="*/ 0 h 23"/>
                <a:gd name="T2" fmla="*/ 25 w 36"/>
                <a:gd name="T3" fmla="*/ 14 h 23"/>
                <a:gd name="T4" fmla="*/ 36 w 36"/>
                <a:gd name="T5" fmla="*/ 19 h 23"/>
                <a:gd name="T6" fmla="*/ 34 w 36"/>
                <a:gd name="T7" fmla="*/ 23 h 23"/>
                <a:gd name="T8" fmla="*/ 24 w 36"/>
                <a:gd name="T9" fmla="*/ 18 h 23"/>
                <a:gd name="T10" fmla="*/ 0 w 36"/>
                <a:gd name="T11" fmla="*/ 18 h 23"/>
                <a:gd name="T12" fmla="*/ 2 w 36"/>
                <a:gd name="T13" fmla="*/ 14 h 23"/>
                <a:gd name="T14" fmla="*/ 18 w 36"/>
                <a:gd name="T15" fmla="*/ 14 h 23"/>
                <a:gd name="T16" fmla="*/ 7 w 36"/>
                <a:gd name="T17" fmla="*/ 5 h 23"/>
                <a:gd name="T18" fmla="*/ 8 w 36"/>
                <a:gd name="T1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23">
                  <a:moveTo>
                    <a:pt x="8" y="0"/>
                  </a:moveTo>
                  <a:lnTo>
                    <a:pt x="25" y="14"/>
                  </a:lnTo>
                  <a:lnTo>
                    <a:pt x="36" y="19"/>
                  </a:lnTo>
                  <a:lnTo>
                    <a:pt x="34" y="23"/>
                  </a:lnTo>
                  <a:lnTo>
                    <a:pt x="24" y="18"/>
                  </a:lnTo>
                  <a:lnTo>
                    <a:pt x="0" y="18"/>
                  </a:lnTo>
                  <a:lnTo>
                    <a:pt x="2" y="14"/>
                  </a:lnTo>
                  <a:lnTo>
                    <a:pt x="18" y="14"/>
                  </a:lnTo>
                  <a:lnTo>
                    <a:pt x="7" y="5"/>
                  </a:lnTo>
                  <a:lnTo>
                    <a:pt x="8"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26" name="Freeform 124">
              <a:extLst>
                <a:ext uri="{FF2B5EF4-FFF2-40B4-BE49-F238E27FC236}">
                  <a16:creationId xmlns:a16="http://schemas.microsoft.com/office/drawing/2014/main" id="{B91F1097-9FE8-4D49-B517-456E78CFA7DC}"/>
                </a:ext>
              </a:extLst>
            </p:cNvPr>
            <p:cNvSpPr>
              <a:spLocks/>
            </p:cNvSpPr>
            <p:nvPr userDrawn="1"/>
          </p:nvSpPr>
          <p:spPr bwMode="auto">
            <a:xfrm>
              <a:off x="1010" y="928"/>
              <a:ext cx="34" cy="25"/>
            </a:xfrm>
            <a:custGeom>
              <a:avLst/>
              <a:gdLst>
                <a:gd name="T0" fmla="*/ 14 w 28"/>
                <a:gd name="T1" fmla="*/ 16 h 20"/>
                <a:gd name="T2" fmla="*/ 8 w 28"/>
                <a:gd name="T3" fmla="*/ 20 h 20"/>
                <a:gd name="T4" fmla="*/ 2 w 28"/>
                <a:gd name="T5" fmla="*/ 17 h 20"/>
                <a:gd name="T6" fmla="*/ 0 w 28"/>
                <a:gd name="T7" fmla="*/ 12 h 20"/>
                <a:gd name="T8" fmla="*/ 1 w 28"/>
                <a:gd name="T9" fmla="*/ 9 h 20"/>
                <a:gd name="T10" fmla="*/ 4 w 28"/>
                <a:gd name="T11" fmla="*/ 10 h 20"/>
                <a:gd name="T12" fmla="*/ 3 w 28"/>
                <a:gd name="T13" fmla="*/ 12 h 20"/>
                <a:gd name="T14" fmla="*/ 4 w 28"/>
                <a:gd name="T15" fmla="*/ 15 h 20"/>
                <a:gd name="T16" fmla="*/ 8 w 28"/>
                <a:gd name="T17" fmla="*/ 16 h 20"/>
                <a:gd name="T18" fmla="*/ 12 w 28"/>
                <a:gd name="T19" fmla="*/ 14 h 20"/>
                <a:gd name="T20" fmla="*/ 25 w 28"/>
                <a:gd name="T21" fmla="*/ 0 h 20"/>
                <a:gd name="T22" fmla="*/ 28 w 28"/>
                <a:gd name="T23" fmla="*/ 3 h 20"/>
                <a:gd name="T24" fmla="*/ 14 w 28"/>
                <a:gd name="T25"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 h="20">
                  <a:moveTo>
                    <a:pt x="14" y="16"/>
                  </a:moveTo>
                  <a:cubicBezTo>
                    <a:pt x="12" y="18"/>
                    <a:pt x="10" y="20"/>
                    <a:pt x="8" y="20"/>
                  </a:cubicBezTo>
                  <a:cubicBezTo>
                    <a:pt x="6" y="20"/>
                    <a:pt x="4" y="19"/>
                    <a:pt x="2" y="17"/>
                  </a:cubicBezTo>
                  <a:cubicBezTo>
                    <a:pt x="1" y="16"/>
                    <a:pt x="0" y="14"/>
                    <a:pt x="0" y="12"/>
                  </a:cubicBezTo>
                  <a:cubicBezTo>
                    <a:pt x="0" y="11"/>
                    <a:pt x="0" y="10"/>
                    <a:pt x="1" y="9"/>
                  </a:cubicBezTo>
                  <a:cubicBezTo>
                    <a:pt x="4" y="10"/>
                    <a:pt x="4" y="10"/>
                    <a:pt x="4" y="10"/>
                  </a:cubicBezTo>
                  <a:cubicBezTo>
                    <a:pt x="3" y="11"/>
                    <a:pt x="3" y="11"/>
                    <a:pt x="3" y="12"/>
                  </a:cubicBezTo>
                  <a:cubicBezTo>
                    <a:pt x="3" y="13"/>
                    <a:pt x="4" y="14"/>
                    <a:pt x="4" y="15"/>
                  </a:cubicBezTo>
                  <a:cubicBezTo>
                    <a:pt x="5" y="16"/>
                    <a:pt x="6" y="16"/>
                    <a:pt x="8" y="16"/>
                  </a:cubicBezTo>
                  <a:cubicBezTo>
                    <a:pt x="9" y="16"/>
                    <a:pt x="10" y="15"/>
                    <a:pt x="12" y="14"/>
                  </a:cubicBezTo>
                  <a:cubicBezTo>
                    <a:pt x="25" y="0"/>
                    <a:pt x="25" y="0"/>
                    <a:pt x="25" y="0"/>
                  </a:cubicBezTo>
                  <a:cubicBezTo>
                    <a:pt x="28" y="3"/>
                    <a:pt x="28" y="3"/>
                    <a:pt x="28" y="3"/>
                  </a:cubicBezTo>
                  <a:lnTo>
                    <a:pt x="14" y="1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27" name="Freeform 125">
              <a:extLst>
                <a:ext uri="{FF2B5EF4-FFF2-40B4-BE49-F238E27FC236}">
                  <a16:creationId xmlns:a16="http://schemas.microsoft.com/office/drawing/2014/main" id="{7907CC1D-D6D4-40D7-9A8F-EAB797FFECC2}"/>
                </a:ext>
              </a:extLst>
            </p:cNvPr>
            <p:cNvSpPr>
              <a:spLocks noEditPoints="1"/>
            </p:cNvSpPr>
            <p:nvPr userDrawn="1"/>
          </p:nvSpPr>
          <p:spPr bwMode="auto">
            <a:xfrm>
              <a:off x="1073" y="917"/>
              <a:ext cx="106" cy="33"/>
            </a:xfrm>
            <a:custGeom>
              <a:avLst/>
              <a:gdLst>
                <a:gd name="T0" fmla="*/ 0 w 86"/>
                <a:gd name="T1" fmla="*/ 15 h 27"/>
                <a:gd name="T2" fmla="*/ 4 w 86"/>
                <a:gd name="T3" fmla="*/ 15 h 27"/>
                <a:gd name="T4" fmla="*/ 6 w 86"/>
                <a:gd name="T5" fmla="*/ 3 h 27"/>
                <a:gd name="T6" fmla="*/ 10 w 86"/>
                <a:gd name="T7" fmla="*/ 3 h 27"/>
                <a:gd name="T8" fmla="*/ 14 w 86"/>
                <a:gd name="T9" fmla="*/ 4 h 27"/>
                <a:gd name="T10" fmla="*/ 10 w 86"/>
                <a:gd name="T11" fmla="*/ 19 h 27"/>
                <a:gd name="T12" fmla="*/ 37 w 86"/>
                <a:gd name="T13" fmla="*/ 14 h 27"/>
                <a:gd name="T14" fmla="*/ 33 w 86"/>
                <a:gd name="T15" fmla="*/ 11 h 27"/>
                <a:gd name="T16" fmla="*/ 28 w 86"/>
                <a:gd name="T17" fmla="*/ 13 h 27"/>
                <a:gd name="T18" fmla="*/ 30 w 86"/>
                <a:gd name="T19" fmla="*/ 16 h 27"/>
                <a:gd name="T20" fmla="*/ 34 w 86"/>
                <a:gd name="T21" fmla="*/ 17 h 27"/>
                <a:gd name="T22" fmla="*/ 37 w 86"/>
                <a:gd name="T23" fmla="*/ 14 h 27"/>
                <a:gd name="T24" fmla="*/ 36 w 86"/>
                <a:gd name="T25" fmla="*/ 21 h 27"/>
                <a:gd name="T26" fmla="*/ 32 w 86"/>
                <a:gd name="T27" fmla="*/ 19 h 27"/>
                <a:gd name="T28" fmla="*/ 27 w 86"/>
                <a:gd name="T29" fmla="*/ 19 h 27"/>
                <a:gd name="T30" fmla="*/ 27 w 86"/>
                <a:gd name="T31" fmla="*/ 24 h 27"/>
                <a:gd name="T32" fmla="*/ 34 w 86"/>
                <a:gd name="T33" fmla="*/ 25 h 27"/>
                <a:gd name="T34" fmla="*/ 30 w 86"/>
                <a:gd name="T35" fmla="*/ 27 h 27"/>
                <a:gd name="T36" fmla="*/ 24 w 86"/>
                <a:gd name="T37" fmla="*/ 25 h 27"/>
                <a:gd name="T38" fmla="*/ 23 w 86"/>
                <a:gd name="T39" fmla="*/ 21 h 27"/>
                <a:gd name="T40" fmla="*/ 28 w 86"/>
                <a:gd name="T41" fmla="*/ 17 h 27"/>
                <a:gd name="T42" fmla="*/ 25 w 86"/>
                <a:gd name="T43" fmla="*/ 15 h 27"/>
                <a:gd name="T44" fmla="*/ 28 w 86"/>
                <a:gd name="T45" fmla="*/ 10 h 27"/>
                <a:gd name="T46" fmla="*/ 39 w 86"/>
                <a:gd name="T47" fmla="*/ 11 h 27"/>
                <a:gd name="T48" fmla="*/ 39 w 86"/>
                <a:gd name="T49" fmla="*/ 17 h 27"/>
                <a:gd name="T50" fmla="*/ 36 w 86"/>
                <a:gd name="T51" fmla="*/ 18 h 27"/>
                <a:gd name="T52" fmla="*/ 39 w 86"/>
                <a:gd name="T53" fmla="*/ 23 h 27"/>
                <a:gd name="T54" fmla="*/ 30 w 86"/>
                <a:gd name="T55" fmla="*/ 27 h 27"/>
                <a:gd name="T56" fmla="*/ 62 w 86"/>
                <a:gd name="T57" fmla="*/ 14 h 27"/>
                <a:gd name="T58" fmla="*/ 59 w 86"/>
                <a:gd name="T59" fmla="*/ 11 h 27"/>
                <a:gd name="T60" fmla="*/ 54 w 86"/>
                <a:gd name="T61" fmla="*/ 12 h 27"/>
                <a:gd name="T62" fmla="*/ 53 w 86"/>
                <a:gd name="T63" fmla="*/ 17 h 27"/>
                <a:gd name="T64" fmla="*/ 56 w 86"/>
                <a:gd name="T65" fmla="*/ 19 h 27"/>
                <a:gd name="T66" fmla="*/ 60 w 86"/>
                <a:gd name="T67" fmla="*/ 18 h 27"/>
                <a:gd name="T68" fmla="*/ 63 w 86"/>
                <a:gd name="T69" fmla="*/ 17 h 27"/>
                <a:gd name="T70" fmla="*/ 50 w 86"/>
                <a:gd name="T71" fmla="*/ 15 h 27"/>
                <a:gd name="T72" fmla="*/ 52 w 86"/>
                <a:gd name="T73" fmla="*/ 11 h 27"/>
                <a:gd name="T74" fmla="*/ 58 w 86"/>
                <a:gd name="T75" fmla="*/ 9 h 27"/>
                <a:gd name="T76" fmla="*/ 63 w 86"/>
                <a:gd name="T77" fmla="*/ 11 h 27"/>
                <a:gd name="T78" fmla="*/ 66 w 86"/>
                <a:gd name="T79" fmla="*/ 17 h 27"/>
                <a:gd name="T80" fmla="*/ 63 w 86"/>
                <a:gd name="T81" fmla="*/ 24 h 27"/>
                <a:gd name="T82" fmla="*/ 55 w 86"/>
                <a:gd name="T83" fmla="*/ 27 h 27"/>
                <a:gd name="T84" fmla="*/ 52 w 86"/>
                <a:gd name="T85" fmla="*/ 27 h 27"/>
                <a:gd name="T86" fmla="*/ 52 w 86"/>
                <a:gd name="T87" fmla="*/ 25 h 27"/>
                <a:gd name="T88" fmla="*/ 55 w 86"/>
                <a:gd name="T89" fmla="*/ 25 h 27"/>
                <a:gd name="T90" fmla="*/ 62 w 86"/>
                <a:gd name="T91" fmla="*/ 19 h 27"/>
                <a:gd name="T92" fmla="*/ 57 w 86"/>
                <a:gd name="T93" fmla="*/ 21 h 27"/>
                <a:gd name="T94" fmla="*/ 52 w 86"/>
                <a:gd name="T95" fmla="*/ 20 h 27"/>
                <a:gd name="T96" fmla="*/ 50 w 86"/>
                <a:gd name="T97" fmla="*/ 15 h 27"/>
                <a:gd name="T98" fmla="*/ 86 w 86"/>
                <a:gd name="T99" fmla="*/ 18 h 27"/>
                <a:gd name="T100" fmla="*/ 83 w 86"/>
                <a:gd name="T101" fmla="*/ 3 h 27"/>
                <a:gd name="T102" fmla="*/ 72 w 86"/>
                <a:gd name="T103" fmla="*/ 6 h 27"/>
                <a:gd name="T104" fmla="*/ 86 w 86"/>
                <a:gd name="T105"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6" h="27">
                  <a:moveTo>
                    <a:pt x="9" y="20"/>
                  </a:moveTo>
                  <a:cubicBezTo>
                    <a:pt x="0" y="15"/>
                    <a:pt x="0" y="15"/>
                    <a:pt x="0" y="15"/>
                  </a:cubicBezTo>
                  <a:cubicBezTo>
                    <a:pt x="0" y="13"/>
                    <a:pt x="0" y="13"/>
                    <a:pt x="0" y="13"/>
                  </a:cubicBezTo>
                  <a:cubicBezTo>
                    <a:pt x="4" y="15"/>
                    <a:pt x="4" y="15"/>
                    <a:pt x="4" y="15"/>
                  </a:cubicBezTo>
                  <a:cubicBezTo>
                    <a:pt x="10" y="5"/>
                    <a:pt x="10" y="5"/>
                    <a:pt x="10" y="5"/>
                  </a:cubicBezTo>
                  <a:cubicBezTo>
                    <a:pt x="6" y="3"/>
                    <a:pt x="6" y="3"/>
                    <a:pt x="6" y="3"/>
                  </a:cubicBezTo>
                  <a:cubicBezTo>
                    <a:pt x="7" y="2"/>
                    <a:pt x="7" y="2"/>
                    <a:pt x="7" y="2"/>
                  </a:cubicBezTo>
                  <a:cubicBezTo>
                    <a:pt x="8" y="3"/>
                    <a:pt x="9" y="3"/>
                    <a:pt x="10" y="3"/>
                  </a:cubicBezTo>
                  <a:cubicBezTo>
                    <a:pt x="11" y="3"/>
                    <a:pt x="11" y="3"/>
                    <a:pt x="12" y="2"/>
                  </a:cubicBezTo>
                  <a:cubicBezTo>
                    <a:pt x="14" y="4"/>
                    <a:pt x="14" y="4"/>
                    <a:pt x="14" y="4"/>
                  </a:cubicBezTo>
                  <a:cubicBezTo>
                    <a:pt x="6" y="17"/>
                    <a:pt x="6" y="17"/>
                    <a:pt x="6" y="17"/>
                  </a:cubicBezTo>
                  <a:cubicBezTo>
                    <a:pt x="10" y="19"/>
                    <a:pt x="10" y="19"/>
                    <a:pt x="10" y="19"/>
                  </a:cubicBezTo>
                  <a:lnTo>
                    <a:pt x="9" y="20"/>
                  </a:lnTo>
                  <a:close/>
                  <a:moveTo>
                    <a:pt x="37" y="14"/>
                  </a:moveTo>
                  <a:cubicBezTo>
                    <a:pt x="37" y="14"/>
                    <a:pt x="37" y="13"/>
                    <a:pt x="36" y="12"/>
                  </a:cubicBezTo>
                  <a:cubicBezTo>
                    <a:pt x="36" y="12"/>
                    <a:pt x="35" y="11"/>
                    <a:pt x="33" y="11"/>
                  </a:cubicBezTo>
                  <a:cubicBezTo>
                    <a:pt x="32" y="11"/>
                    <a:pt x="31" y="11"/>
                    <a:pt x="30" y="11"/>
                  </a:cubicBezTo>
                  <a:cubicBezTo>
                    <a:pt x="29" y="12"/>
                    <a:pt x="29" y="12"/>
                    <a:pt x="28" y="13"/>
                  </a:cubicBezTo>
                  <a:cubicBezTo>
                    <a:pt x="28" y="14"/>
                    <a:pt x="28" y="14"/>
                    <a:pt x="29" y="15"/>
                  </a:cubicBezTo>
                  <a:cubicBezTo>
                    <a:pt x="29" y="15"/>
                    <a:pt x="30" y="15"/>
                    <a:pt x="30" y="16"/>
                  </a:cubicBezTo>
                  <a:cubicBezTo>
                    <a:pt x="31" y="16"/>
                    <a:pt x="31" y="16"/>
                    <a:pt x="32" y="17"/>
                  </a:cubicBezTo>
                  <a:cubicBezTo>
                    <a:pt x="33" y="17"/>
                    <a:pt x="33" y="17"/>
                    <a:pt x="34" y="17"/>
                  </a:cubicBezTo>
                  <a:cubicBezTo>
                    <a:pt x="35" y="17"/>
                    <a:pt x="36" y="17"/>
                    <a:pt x="36" y="16"/>
                  </a:cubicBezTo>
                  <a:cubicBezTo>
                    <a:pt x="37" y="16"/>
                    <a:pt x="37" y="15"/>
                    <a:pt x="37" y="14"/>
                  </a:cubicBezTo>
                  <a:moveTo>
                    <a:pt x="36" y="23"/>
                  </a:moveTo>
                  <a:cubicBezTo>
                    <a:pt x="36" y="22"/>
                    <a:pt x="36" y="22"/>
                    <a:pt x="36" y="21"/>
                  </a:cubicBezTo>
                  <a:cubicBezTo>
                    <a:pt x="35" y="21"/>
                    <a:pt x="34" y="20"/>
                    <a:pt x="33" y="20"/>
                  </a:cubicBezTo>
                  <a:cubicBezTo>
                    <a:pt x="33" y="19"/>
                    <a:pt x="33" y="19"/>
                    <a:pt x="32" y="19"/>
                  </a:cubicBezTo>
                  <a:cubicBezTo>
                    <a:pt x="31" y="19"/>
                    <a:pt x="31" y="18"/>
                    <a:pt x="30" y="18"/>
                  </a:cubicBezTo>
                  <a:cubicBezTo>
                    <a:pt x="29" y="18"/>
                    <a:pt x="28" y="19"/>
                    <a:pt x="27" y="19"/>
                  </a:cubicBezTo>
                  <a:cubicBezTo>
                    <a:pt x="27" y="20"/>
                    <a:pt x="26" y="20"/>
                    <a:pt x="26" y="21"/>
                  </a:cubicBezTo>
                  <a:cubicBezTo>
                    <a:pt x="26" y="22"/>
                    <a:pt x="26" y="23"/>
                    <a:pt x="27" y="24"/>
                  </a:cubicBezTo>
                  <a:cubicBezTo>
                    <a:pt x="28" y="25"/>
                    <a:pt x="29" y="25"/>
                    <a:pt x="30" y="25"/>
                  </a:cubicBezTo>
                  <a:cubicBezTo>
                    <a:pt x="32" y="26"/>
                    <a:pt x="33" y="25"/>
                    <a:pt x="34" y="25"/>
                  </a:cubicBezTo>
                  <a:cubicBezTo>
                    <a:pt x="35" y="24"/>
                    <a:pt x="36" y="24"/>
                    <a:pt x="36" y="23"/>
                  </a:cubicBezTo>
                  <a:moveTo>
                    <a:pt x="30" y="27"/>
                  </a:moveTo>
                  <a:cubicBezTo>
                    <a:pt x="29" y="27"/>
                    <a:pt x="28" y="27"/>
                    <a:pt x="27" y="26"/>
                  </a:cubicBezTo>
                  <a:cubicBezTo>
                    <a:pt x="26" y="26"/>
                    <a:pt x="25" y="25"/>
                    <a:pt x="24" y="25"/>
                  </a:cubicBezTo>
                  <a:cubicBezTo>
                    <a:pt x="23" y="24"/>
                    <a:pt x="23" y="24"/>
                    <a:pt x="23" y="23"/>
                  </a:cubicBezTo>
                  <a:cubicBezTo>
                    <a:pt x="23" y="22"/>
                    <a:pt x="22" y="21"/>
                    <a:pt x="23" y="21"/>
                  </a:cubicBezTo>
                  <a:cubicBezTo>
                    <a:pt x="23" y="20"/>
                    <a:pt x="23" y="19"/>
                    <a:pt x="24" y="18"/>
                  </a:cubicBezTo>
                  <a:cubicBezTo>
                    <a:pt x="25" y="18"/>
                    <a:pt x="26" y="17"/>
                    <a:pt x="28" y="17"/>
                  </a:cubicBezTo>
                  <a:cubicBezTo>
                    <a:pt x="28" y="17"/>
                    <a:pt x="28" y="17"/>
                    <a:pt x="28" y="17"/>
                  </a:cubicBezTo>
                  <a:cubicBezTo>
                    <a:pt x="27" y="16"/>
                    <a:pt x="26" y="16"/>
                    <a:pt x="25" y="15"/>
                  </a:cubicBezTo>
                  <a:cubicBezTo>
                    <a:pt x="25" y="14"/>
                    <a:pt x="25" y="14"/>
                    <a:pt x="25" y="13"/>
                  </a:cubicBezTo>
                  <a:cubicBezTo>
                    <a:pt x="25" y="12"/>
                    <a:pt x="26" y="11"/>
                    <a:pt x="28" y="10"/>
                  </a:cubicBezTo>
                  <a:cubicBezTo>
                    <a:pt x="29" y="9"/>
                    <a:pt x="31" y="9"/>
                    <a:pt x="34" y="10"/>
                  </a:cubicBezTo>
                  <a:cubicBezTo>
                    <a:pt x="36" y="10"/>
                    <a:pt x="38" y="10"/>
                    <a:pt x="39" y="11"/>
                  </a:cubicBezTo>
                  <a:cubicBezTo>
                    <a:pt x="40" y="12"/>
                    <a:pt x="41" y="14"/>
                    <a:pt x="40" y="15"/>
                  </a:cubicBezTo>
                  <a:cubicBezTo>
                    <a:pt x="40" y="16"/>
                    <a:pt x="40" y="16"/>
                    <a:pt x="39" y="17"/>
                  </a:cubicBezTo>
                  <a:cubicBezTo>
                    <a:pt x="38" y="18"/>
                    <a:pt x="37" y="18"/>
                    <a:pt x="36" y="18"/>
                  </a:cubicBezTo>
                  <a:cubicBezTo>
                    <a:pt x="36" y="18"/>
                    <a:pt x="36" y="18"/>
                    <a:pt x="36" y="18"/>
                  </a:cubicBezTo>
                  <a:cubicBezTo>
                    <a:pt x="37" y="19"/>
                    <a:pt x="38" y="20"/>
                    <a:pt x="39" y="20"/>
                  </a:cubicBezTo>
                  <a:cubicBezTo>
                    <a:pt x="39" y="21"/>
                    <a:pt x="40" y="22"/>
                    <a:pt x="39" y="23"/>
                  </a:cubicBezTo>
                  <a:cubicBezTo>
                    <a:pt x="39" y="25"/>
                    <a:pt x="38" y="26"/>
                    <a:pt x="36" y="26"/>
                  </a:cubicBezTo>
                  <a:cubicBezTo>
                    <a:pt x="34" y="27"/>
                    <a:pt x="32" y="27"/>
                    <a:pt x="30" y="27"/>
                  </a:cubicBezTo>
                  <a:moveTo>
                    <a:pt x="63" y="17"/>
                  </a:moveTo>
                  <a:cubicBezTo>
                    <a:pt x="63" y="15"/>
                    <a:pt x="62" y="15"/>
                    <a:pt x="62" y="14"/>
                  </a:cubicBezTo>
                  <a:cubicBezTo>
                    <a:pt x="62" y="13"/>
                    <a:pt x="61" y="13"/>
                    <a:pt x="61" y="12"/>
                  </a:cubicBezTo>
                  <a:cubicBezTo>
                    <a:pt x="60" y="12"/>
                    <a:pt x="60" y="12"/>
                    <a:pt x="59" y="11"/>
                  </a:cubicBezTo>
                  <a:cubicBezTo>
                    <a:pt x="59" y="11"/>
                    <a:pt x="58" y="11"/>
                    <a:pt x="58" y="11"/>
                  </a:cubicBezTo>
                  <a:cubicBezTo>
                    <a:pt x="56" y="11"/>
                    <a:pt x="55" y="12"/>
                    <a:pt x="54" y="12"/>
                  </a:cubicBezTo>
                  <a:cubicBezTo>
                    <a:pt x="53" y="13"/>
                    <a:pt x="53" y="14"/>
                    <a:pt x="53" y="15"/>
                  </a:cubicBezTo>
                  <a:cubicBezTo>
                    <a:pt x="53" y="16"/>
                    <a:pt x="53" y="16"/>
                    <a:pt x="53" y="17"/>
                  </a:cubicBezTo>
                  <a:cubicBezTo>
                    <a:pt x="54" y="17"/>
                    <a:pt x="54" y="18"/>
                    <a:pt x="55" y="18"/>
                  </a:cubicBezTo>
                  <a:cubicBezTo>
                    <a:pt x="55" y="18"/>
                    <a:pt x="56" y="18"/>
                    <a:pt x="56" y="19"/>
                  </a:cubicBezTo>
                  <a:cubicBezTo>
                    <a:pt x="57" y="19"/>
                    <a:pt x="57" y="19"/>
                    <a:pt x="58" y="19"/>
                  </a:cubicBezTo>
                  <a:cubicBezTo>
                    <a:pt x="59" y="19"/>
                    <a:pt x="59" y="19"/>
                    <a:pt x="60" y="18"/>
                  </a:cubicBezTo>
                  <a:cubicBezTo>
                    <a:pt x="61" y="18"/>
                    <a:pt x="62" y="18"/>
                    <a:pt x="62" y="18"/>
                  </a:cubicBezTo>
                  <a:cubicBezTo>
                    <a:pt x="63" y="18"/>
                    <a:pt x="63" y="17"/>
                    <a:pt x="63" y="17"/>
                  </a:cubicBezTo>
                  <a:cubicBezTo>
                    <a:pt x="63" y="17"/>
                    <a:pt x="63" y="17"/>
                    <a:pt x="63" y="17"/>
                  </a:cubicBezTo>
                  <a:moveTo>
                    <a:pt x="50" y="15"/>
                  </a:moveTo>
                  <a:cubicBezTo>
                    <a:pt x="50" y="14"/>
                    <a:pt x="50" y="14"/>
                    <a:pt x="50" y="13"/>
                  </a:cubicBezTo>
                  <a:cubicBezTo>
                    <a:pt x="51" y="12"/>
                    <a:pt x="51" y="11"/>
                    <a:pt x="52" y="11"/>
                  </a:cubicBezTo>
                  <a:cubicBezTo>
                    <a:pt x="53" y="10"/>
                    <a:pt x="53" y="10"/>
                    <a:pt x="55" y="10"/>
                  </a:cubicBezTo>
                  <a:cubicBezTo>
                    <a:pt x="56" y="9"/>
                    <a:pt x="57" y="9"/>
                    <a:pt x="58" y="9"/>
                  </a:cubicBezTo>
                  <a:cubicBezTo>
                    <a:pt x="59" y="9"/>
                    <a:pt x="60" y="9"/>
                    <a:pt x="61" y="10"/>
                  </a:cubicBezTo>
                  <a:cubicBezTo>
                    <a:pt x="62" y="10"/>
                    <a:pt x="63" y="10"/>
                    <a:pt x="63" y="11"/>
                  </a:cubicBezTo>
                  <a:cubicBezTo>
                    <a:pt x="64" y="11"/>
                    <a:pt x="65" y="12"/>
                    <a:pt x="65" y="13"/>
                  </a:cubicBezTo>
                  <a:cubicBezTo>
                    <a:pt x="66" y="14"/>
                    <a:pt x="66" y="16"/>
                    <a:pt x="66" y="17"/>
                  </a:cubicBezTo>
                  <a:cubicBezTo>
                    <a:pt x="66" y="19"/>
                    <a:pt x="66" y="20"/>
                    <a:pt x="65" y="21"/>
                  </a:cubicBezTo>
                  <a:cubicBezTo>
                    <a:pt x="65" y="22"/>
                    <a:pt x="64" y="23"/>
                    <a:pt x="63" y="24"/>
                  </a:cubicBezTo>
                  <a:cubicBezTo>
                    <a:pt x="62" y="25"/>
                    <a:pt x="61" y="26"/>
                    <a:pt x="60" y="26"/>
                  </a:cubicBezTo>
                  <a:cubicBezTo>
                    <a:pt x="58" y="27"/>
                    <a:pt x="57" y="27"/>
                    <a:pt x="55" y="27"/>
                  </a:cubicBezTo>
                  <a:cubicBezTo>
                    <a:pt x="54" y="27"/>
                    <a:pt x="54" y="27"/>
                    <a:pt x="53" y="27"/>
                  </a:cubicBezTo>
                  <a:cubicBezTo>
                    <a:pt x="53" y="27"/>
                    <a:pt x="52" y="27"/>
                    <a:pt x="52" y="27"/>
                  </a:cubicBezTo>
                  <a:cubicBezTo>
                    <a:pt x="52" y="25"/>
                    <a:pt x="52" y="25"/>
                    <a:pt x="52" y="25"/>
                  </a:cubicBezTo>
                  <a:cubicBezTo>
                    <a:pt x="52" y="25"/>
                    <a:pt x="52" y="25"/>
                    <a:pt x="52" y="25"/>
                  </a:cubicBezTo>
                  <a:cubicBezTo>
                    <a:pt x="52" y="25"/>
                    <a:pt x="53" y="25"/>
                    <a:pt x="53" y="25"/>
                  </a:cubicBezTo>
                  <a:cubicBezTo>
                    <a:pt x="54" y="25"/>
                    <a:pt x="54" y="25"/>
                    <a:pt x="55" y="25"/>
                  </a:cubicBezTo>
                  <a:cubicBezTo>
                    <a:pt x="57" y="25"/>
                    <a:pt x="59" y="25"/>
                    <a:pt x="60" y="24"/>
                  </a:cubicBezTo>
                  <a:cubicBezTo>
                    <a:pt x="62" y="23"/>
                    <a:pt x="62" y="21"/>
                    <a:pt x="62" y="19"/>
                  </a:cubicBezTo>
                  <a:cubicBezTo>
                    <a:pt x="62" y="20"/>
                    <a:pt x="61" y="20"/>
                    <a:pt x="60" y="20"/>
                  </a:cubicBezTo>
                  <a:cubicBezTo>
                    <a:pt x="59" y="20"/>
                    <a:pt x="58" y="21"/>
                    <a:pt x="57" y="21"/>
                  </a:cubicBezTo>
                  <a:cubicBezTo>
                    <a:pt x="56" y="21"/>
                    <a:pt x="55" y="20"/>
                    <a:pt x="55" y="20"/>
                  </a:cubicBezTo>
                  <a:cubicBezTo>
                    <a:pt x="54" y="20"/>
                    <a:pt x="53" y="20"/>
                    <a:pt x="52" y="20"/>
                  </a:cubicBezTo>
                  <a:cubicBezTo>
                    <a:pt x="51" y="19"/>
                    <a:pt x="51" y="18"/>
                    <a:pt x="50" y="18"/>
                  </a:cubicBezTo>
                  <a:cubicBezTo>
                    <a:pt x="50" y="17"/>
                    <a:pt x="50" y="16"/>
                    <a:pt x="50" y="15"/>
                  </a:cubicBezTo>
                  <a:moveTo>
                    <a:pt x="86" y="1"/>
                  </a:moveTo>
                  <a:cubicBezTo>
                    <a:pt x="86" y="18"/>
                    <a:pt x="86" y="18"/>
                    <a:pt x="86" y="18"/>
                  </a:cubicBezTo>
                  <a:cubicBezTo>
                    <a:pt x="83" y="20"/>
                    <a:pt x="83" y="20"/>
                    <a:pt x="83" y="20"/>
                  </a:cubicBezTo>
                  <a:cubicBezTo>
                    <a:pt x="83" y="3"/>
                    <a:pt x="83" y="3"/>
                    <a:pt x="83" y="3"/>
                  </a:cubicBezTo>
                  <a:cubicBezTo>
                    <a:pt x="73" y="8"/>
                    <a:pt x="73" y="8"/>
                    <a:pt x="73" y="8"/>
                  </a:cubicBezTo>
                  <a:cubicBezTo>
                    <a:pt x="72" y="6"/>
                    <a:pt x="72" y="6"/>
                    <a:pt x="72" y="6"/>
                  </a:cubicBezTo>
                  <a:cubicBezTo>
                    <a:pt x="85" y="0"/>
                    <a:pt x="85" y="0"/>
                    <a:pt x="85" y="0"/>
                  </a:cubicBezTo>
                  <a:lnTo>
                    <a:pt x="86" y="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28" name="Freeform 126">
              <a:extLst>
                <a:ext uri="{FF2B5EF4-FFF2-40B4-BE49-F238E27FC236}">
                  <a16:creationId xmlns:a16="http://schemas.microsoft.com/office/drawing/2014/main" id="{90B80DE8-04C8-460B-8745-62D16F902427}"/>
                </a:ext>
              </a:extLst>
            </p:cNvPr>
            <p:cNvSpPr>
              <a:spLocks/>
            </p:cNvSpPr>
            <p:nvPr userDrawn="1"/>
          </p:nvSpPr>
          <p:spPr bwMode="auto">
            <a:xfrm>
              <a:off x="1184" y="728"/>
              <a:ext cx="14" cy="14"/>
            </a:xfrm>
            <a:custGeom>
              <a:avLst/>
              <a:gdLst>
                <a:gd name="T0" fmla="*/ 2 w 11"/>
                <a:gd name="T1" fmla="*/ 12 h 12"/>
                <a:gd name="T2" fmla="*/ 2 w 11"/>
                <a:gd name="T3" fmla="*/ 8 h 12"/>
                <a:gd name="T4" fmla="*/ 1 w 11"/>
                <a:gd name="T5" fmla="*/ 3 h 12"/>
                <a:gd name="T6" fmla="*/ 8 w 11"/>
                <a:gd name="T7" fmla="*/ 3 h 12"/>
                <a:gd name="T8" fmla="*/ 9 w 11"/>
                <a:gd name="T9" fmla="*/ 5 h 12"/>
                <a:gd name="T10" fmla="*/ 8 w 11"/>
                <a:gd name="T11" fmla="*/ 11 h 12"/>
                <a:gd name="T12" fmla="*/ 2 w 11"/>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1" h="12">
                  <a:moveTo>
                    <a:pt x="2" y="12"/>
                  </a:moveTo>
                  <a:cubicBezTo>
                    <a:pt x="0" y="11"/>
                    <a:pt x="1" y="10"/>
                    <a:pt x="2" y="8"/>
                  </a:cubicBezTo>
                  <a:cubicBezTo>
                    <a:pt x="2" y="7"/>
                    <a:pt x="1" y="5"/>
                    <a:pt x="1" y="3"/>
                  </a:cubicBezTo>
                  <a:cubicBezTo>
                    <a:pt x="2" y="0"/>
                    <a:pt x="6" y="2"/>
                    <a:pt x="8" y="3"/>
                  </a:cubicBezTo>
                  <a:cubicBezTo>
                    <a:pt x="8" y="3"/>
                    <a:pt x="9" y="4"/>
                    <a:pt x="9" y="5"/>
                  </a:cubicBezTo>
                  <a:cubicBezTo>
                    <a:pt x="10" y="7"/>
                    <a:pt x="11" y="10"/>
                    <a:pt x="8" y="11"/>
                  </a:cubicBezTo>
                  <a:cubicBezTo>
                    <a:pt x="6" y="12"/>
                    <a:pt x="4" y="12"/>
                    <a:pt x="2" y="12"/>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29" name="Freeform 127">
              <a:extLst>
                <a:ext uri="{FF2B5EF4-FFF2-40B4-BE49-F238E27FC236}">
                  <a16:creationId xmlns:a16="http://schemas.microsoft.com/office/drawing/2014/main" id="{18AFFFC2-2771-472C-89AB-ACBA50ADF3D9}"/>
                </a:ext>
              </a:extLst>
            </p:cNvPr>
            <p:cNvSpPr>
              <a:spLocks/>
            </p:cNvSpPr>
            <p:nvPr userDrawn="1"/>
          </p:nvSpPr>
          <p:spPr bwMode="auto">
            <a:xfrm>
              <a:off x="1148" y="686"/>
              <a:ext cx="51" cy="45"/>
            </a:xfrm>
            <a:custGeom>
              <a:avLst/>
              <a:gdLst>
                <a:gd name="T0" fmla="*/ 7 w 41"/>
                <a:gd name="T1" fmla="*/ 35 h 36"/>
                <a:gd name="T2" fmla="*/ 7 w 41"/>
                <a:gd name="T3" fmla="*/ 35 h 36"/>
                <a:gd name="T4" fmla="*/ 7 w 41"/>
                <a:gd name="T5" fmla="*/ 34 h 36"/>
                <a:gd name="T6" fmla="*/ 15 w 41"/>
                <a:gd name="T7" fmla="*/ 32 h 36"/>
                <a:gd name="T8" fmla="*/ 20 w 41"/>
                <a:gd name="T9" fmla="*/ 28 h 36"/>
                <a:gd name="T10" fmla="*/ 6 w 41"/>
                <a:gd name="T11" fmla="*/ 29 h 36"/>
                <a:gd name="T12" fmla="*/ 2 w 41"/>
                <a:gd name="T13" fmla="*/ 26 h 36"/>
                <a:gd name="T14" fmla="*/ 2 w 41"/>
                <a:gd name="T15" fmla="*/ 26 h 36"/>
                <a:gd name="T16" fmla="*/ 3 w 41"/>
                <a:gd name="T17" fmla="*/ 21 h 36"/>
                <a:gd name="T18" fmla="*/ 19 w 41"/>
                <a:gd name="T19" fmla="*/ 21 h 36"/>
                <a:gd name="T20" fmla="*/ 24 w 41"/>
                <a:gd name="T21" fmla="*/ 20 h 36"/>
                <a:gd name="T22" fmla="*/ 29 w 41"/>
                <a:gd name="T23" fmla="*/ 3 h 36"/>
                <a:gd name="T24" fmla="*/ 35 w 41"/>
                <a:gd name="T25" fmla="*/ 6 h 36"/>
                <a:gd name="T26" fmla="*/ 36 w 41"/>
                <a:gd name="T27" fmla="*/ 7 h 36"/>
                <a:gd name="T28" fmla="*/ 36 w 41"/>
                <a:gd name="T29" fmla="*/ 7 h 36"/>
                <a:gd name="T30" fmla="*/ 35 w 41"/>
                <a:gd name="T31" fmla="*/ 11 h 36"/>
                <a:gd name="T32" fmla="*/ 31 w 41"/>
                <a:gd name="T33" fmla="*/ 20 h 36"/>
                <a:gd name="T34" fmla="*/ 40 w 41"/>
                <a:gd name="T35" fmla="*/ 19 h 36"/>
                <a:gd name="T36" fmla="*/ 38 w 41"/>
                <a:gd name="T37" fmla="*/ 23 h 36"/>
                <a:gd name="T38" fmla="*/ 29 w 41"/>
                <a:gd name="T39" fmla="*/ 24 h 36"/>
                <a:gd name="T40" fmla="*/ 23 w 41"/>
                <a:gd name="T41" fmla="*/ 32 h 36"/>
                <a:gd name="T42" fmla="*/ 21 w 41"/>
                <a:gd name="T43" fmla="*/ 34 h 36"/>
                <a:gd name="T44" fmla="*/ 14 w 41"/>
                <a:gd name="T45" fmla="*/ 35 h 36"/>
                <a:gd name="T46" fmla="*/ 7 w 41"/>
                <a:gd name="T47" fmla="*/ 3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36">
                  <a:moveTo>
                    <a:pt x="7" y="35"/>
                  </a:moveTo>
                  <a:cubicBezTo>
                    <a:pt x="7" y="35"/>
                    <a:pt x="7" y="35"/>
                    <a:pt x="7" y="35"/>
                  </a:cubicBezTo>
                  <a:cubicBezTo>
                    <a:pt x="7" y="35"/>
                    <a:pt x="7" y="35"/>
                    <a:pt x="7" y="34"/>
                  </a:cubicBezTo>
                  <a:cubicBezTo>
                    <a:pt x="8" y="34"/>
                    <a:pt x="15" y="32"/>
                    <a:pt x="15" y="32"/>
                  </a:cubicBezTo>
                  <a:cubicBezTo>
                    <a:pt x="17" y="31"/>
                    <a:pt x="19" y="30"/>
                    <a:pt x="20" y="28"/>
                  </a:cubicBezTo>
                  <a:cubicBezTo>
                    <a:pt x="15" y="28"/>
                    <a:pt x="11" y="30"/>
                    <a:pt x="6" y="29"/>
                  </a:cubicBezTo>
                  <a:cubicBezTo>
                    <a:pt x="4" y="28"/>
                    <a:pt x="3" y="27"/>
                    <a:pt x="2" y="26"/>
                  </a:cubicBezTo>
                  <a:cubicBezTo>
                    <a:pt x="2" y="26"/>
                    <a:pt x="2" y="26"/>
                    <a:pt x="2" y="26"/>
                  </a:cubicBezTo>
                  <a:cubicBezTo>
                    <a:pt x="0" y="24"/>
                    <a:pt x="0" y="22"/>
                    <a:pt x="3" y="21"/>
                  </a:cubicBezTo>
                  <a:cubicBezTo>
                    <a:pt x="7" y="23"/>
                    <a:pt x="15" y="22"/>
                    <a:pt x="19" y="21"/>
                  </a:cubicBezTo>
                  <a:cubicBezTo>
                    <a:pt x="20" y="21"/>
                    <a:pt x="23" y="21"/>
                    <a:pt x="24" y="20"/>
                  </a:cubicBezTo>
                  <a:cubicBezTo>
                    <a:pt x="26" y="15"/>
                    <a:pt x="27" y="9"/>
                    <a:pt x="29" y="3"/>
                  </a:cubicBezTo>
                  <a:cubicBezTo>
                    <a:pt x="31" y="0"/>
                    <a:pt x="33" y="3"/>
                    <a:pt x="35" y="6"/>
                  </a:cubicBezTo>
                  <a:cubicBezTo>
                    <a:pt x="35" y="6"/>
                    <a:pt x="36" y="6"/>
                    <a:pt x="36" y="7"/>
                  </a:cubicBezTo>
                  <a:cubicBezTo>
                    <a:pt x="36" y="7"/>
                    <a:pt x="36" y="7"/>
                    <a:pt x="36" y="7"/>
                  </a:cubicBezTo>
                  <a:cubicBezTo>
                    <a:pt x="37" y="9"/>
                    <a:pt x="37" y="10"/>
                    <a:pt x="35" y="11"/>
                  </a:cubicBezTo>
                  <a:cubicBezTo>
                    <a:pt x="33" y="14"/>
                    <a:pt x="32" y="17"/>
                    <a:pt x="31" y="20"/>
                  </a:cubicBezTo>
                  <a:cubicBezTo>
                    <a:pt x="34" y="20"/>
                    <a:pt x="37" y="18"/>
                    <a:pt x="40" y="19"/>
                  </a:cubicBezTo>
                  <a:cubicBezTo>
                    <a:pt x="41" y="21"/>
                    <a:pt x="40" y="22"/>
                    <a:pt x="38" y="23"/>
                  </a:cubicBezTo>
                  <a:cubicBezTo>
                    <a:pt x="36" y="23"/>
                    <a:pt x="33" y="24"/>
                    <a:pt x="29" y="24"/>
                  </a:cubicBezTo>
                  <a:cubicBezTo>
                    <a:pt x="28" y="27"/>
                    <a:pt x="26" y="30"/>
                    <a:pt x="23" y="32"/>
                  </a:cubicBezTo>
                  <a:cubicBezTo>
                    <a:pt x="23" y="33"/>
                    <a:pt x="21" y="34"/>
                    <a:pt x="21" y="34"/>
                  </a:cubicBezTo>
                  <a:cubicBezTo>
                    <a:pt x="19" y="34"/>
                    <a:pt x="17" y="35"/>
                    <a:pt x="14" y="35"/>
                  </a:cubicBezTo>
                  <a:cubicBezTo>
                    <a:pt x="8" y="36"/>
                    <a:pt x="8" y="35"/>
                    <a:pt x="7" y="35"/>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30" name="Freeform 128">
              <a:extLst>
                <a:ext uri="{FF2B5EF4-FFF2-40B4-BE49-F238E27FC236}">
                  <a16:creationId xmlns:a16="http://schemas.microsoft.com/office/drawing/2014/main" id="{D787ACE1-43A9-4AC9-864C-9660C717BB72}"/>
                </a:ext>
              </a:extLst>
            </p:cNvPr>
            <p:cNvSpPr>
              <a:spLocks/>
            </p:cNvSpPr>
            <p:nvPr userDrawn="1"/>
          </p:nvSpPr>
          <p:spPr bwMode="auto">
            <a:xfrm>
              <a:off x="1063" y="714"/>
              <a:ext cx="20" cy="41"/>
            </a:xfrm>
            <a:custGeom>
              <a:avLst/>
              <a:gdLst>
                <a:gd name="T0" fmla="*/ 7 w 16"/>
                <a:gd name="T1" fmla="*/ 33 h 33"/>
                <a:gd name="T2" fmla="*/ 0 w 16"/>
                <a:gd name="T3" fmla="*/ 30 h 33"/>
                <a:gd name="T4" fmla="*/ 0 w 16"/>
                <a:gd name="T5" fmla="*/ 28 h 33"/>
                <a:gd name="T6" fmla="*/ 10 w 16"/>
                <a:gd name="T7" fmla="*/ 11 h 33"/>
                <a:gd name="T8" fmla="*/ 12 w 16"/>
                <a:gd name="T9" fmla="*/ 3 h 33"/>
                <a:gd name="T10" fmla="*/ 12 w 16"/>
                <a:gd name="T11" fmla="*/ 2 h 33"/>
                <a:gd name="T12" fmla="*/ 12 w 16"/>
                <a:gd name="T13" fmla="*/ 2 h 33"/>
                <a:gd name="T14" fmla="*/ 15 w 16"/>
                <a:gd name="T15" fmla="*/ 2 h 33"/>
                <a:gd name="T16" fmla="*/ 14 w 16"/>
                <a:gd name="T17" fmla="*/ 7 h 33"/>
                <a:gd name="T18" fmla="*/ 13 w 16"/>
                <a:gd name="T19" fmla="*/ 16 h 33"/>
                <a:gd name="T20" fmla="*/ 13 w 16"/>
                <a:gd name="T21" fmla="*/ 19 h 33"/>
                <a:gd name="T22" fmla="*/ 11 w 16"/>
                <a:gd name="T23" fmla="*/ 26 h 33"/>
                <a:gd name="T24" fmla="*/ 9 w 16"/>
                <a:gd name="T25" fmla="*/ 33 h 33"/>
                <a:gd name="T26" fmla="*/ 7 w 16"/>
                <a:gd name="T27"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33">
                  <a:moveTo>
                    <a:pt x="7" y="33"/>
                  </a:moveTo>
                  <a:cubicBezTo>
                    <a:pt x="5" y="33"/>
                    <a:pt x="2" y="31"/>
                    <a:pt x="0" y="30"/>
                  </a:cubicBezTo>
                  <a:cubicBezTo>
                    <a:pt x="0" y="30"/>
                    <a:pt x="0" y="29"/>
                    <a:pt x="0" y="28"/>
                  </a:cubicBezTo>
                  <a:cubicBezTo>
                    <a:pt x="4" y="23"/>
                    <a:pt x="7" y="17"/>
                    <a:pt x="10" y="11"/>
                  </a:cubicBezTo>
                  <a:cubicBezTo>
                    <a:pt x="11" y="8"/>
                    <a:pt x="11" y="5"/>
                    <a:pt x="12" y="3"/>
                  </a:cubicBezTo>
                  <a:cubicBezTo>
                    <a:pt x="12" y="3"/>
                    <a:pt x="12" y="3"/>
                    <a:pt x="12" y="2"/>
                  </a:cubicBezTo>
                  <a:cubicBezTo>
                    <a:pt x="12" y="2"/>
                    <a:pt x="12" y="2"/>
                    <a:pt x="12" y="2"/>
                  </a:cubicBezTo>
                  <a:cubicBezTo>
                    <a:pt x="13" y="1"/>
                    <a:pt x="14" y="0"/>
                    <a:pt x="15" y="2"/>
                  </a:cubicBezTo>
                  <a:cubicBezTo>
                    <a:pt x="16" y="3"/>
                    <a:pt x="14" y="5"/>
                    <a:pt x="14" y="7"/>
                  </a:cubicBezTo>
                  <a:cubicBezTo>
                    <a:pt x="14" y="10"/>
                    <a:pt x="14" y="13"/>
                    <a:pt x="13" y="16"/>
                  </a:cubicBezTo>
                  <a:cubicBezTo>
                    <a:pt x="13" y="16"/>
                    <a:pt x="13" y="16"/>
                    <a:pt x="13" y="19"/>
                  </a:cubicBezTo>
                  <a:cubicBezTo>
                    <a:pt x="12" y="21"/>
                    <a:pt x="11" y="24"/>
                    <a:pt x="11" y="26"/>
                  </a:cubicBezTo>
                  <a:cubicBezTo>
                    <a:pt x="10" y="28"/>
                    <a:pt x="10" y="31"/>
                    <a:pt x="9" y="33"/>
                  </a:cubicBezTo>
                  <a:cubicBezTo>
                    <a:pt x="8" y="33"/>
                    <a:pt x="8" y="33"/>
                    <a:pt x="7" y="33"/>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31" name="Freeform 129">
              <a:extLst>
                <a:ext uri="{FF2B5EF4-FFF2-40B4-BE49-F238E27FC236}">
                  <a16:creationId xmlns:a16="http://schemas.microsoft.com/office/drawing/2014/main" id="{17F742A6-AF75-4186-BF58-723C3A75BAFE}"/>
                </a:ext>
              </a:extLst>
            </p:cNvPr>
            <p:cNvSpPr>
              <a:spLocks/>
            </p:cNvSpPr>
            <p:nvPr userDrawn="1"/>
          </p:nvSpPr>
          <p:spPr bwMode="auto">
            <a:xfrm>
              <a:off x="1090" y="704"/>
              <a:ext cx="16" cy="16"/>
            </a:xfrm>
            <a:custGeom>
              <a:avLst/>
              <a:gdLst>
                <a:gd name="T0" fmla="*/ 8 w 13"/>
                <a:gd name="T1" fmla="*/ 12 h 13"/>
                <a:gd name="T2" fmla="*/ 1 w 13"/>
                <a:gd name="T3" fmla="*/ 10 h 13"/>
                <a:gd name="T4" fmla="*/ 1 w 13"/>
                <a:gd name="T5" fmla="*/ 8 h 13"/>
                <a:gd name="T6" fmla="*/ 2 w 13"/>
                <a:gd name="T7" fmla="*/ 7 h 13"/>
                <a:gd name="T8" fmla="*/ 5 w 13"/>
                <a:gd name="T9" fmla="*/ 6 h 13"/>
                <a:gd name="T10" fmla="*/ 12 w 13"/>
                <a:gd name="T11" fmla="*/ 1 h 13"/>
                <a:gd name="T12" fmla="*/ 8 w 13"/>
                <a:gd name="T13" fmla="*/ 12 h 13"/>
              </a:gdLst>
              <a:ahLst/>
              <a:cxnLst>
                <a:cxn ang="0">
                  <a:pos x="T0" y="T1"/>
                </a:cxn>
                <a:cxn ang="0">
                  <a:pos x="T2" y="T3"/>
                </a:cxn>
                <a:cxn ang="0">
                  <a:pos x="T4" y="T5"/>
                </a:cxn>
                <a:cxn ang="0">
                  <a:pos x="T6" y="T7"/>
                </a:cxn>
                <a:cxn ang="0">
                  <a:pos x="T8" y="T9"/>
                </a:cxn>
                <a:cxn ang="0">
                  <a:pos x="T10" y="T11"/>
                </a:cxn>
                <a:cxn ang="0">
                  <a:pos x="T12" y="T13"/>
                </a:cxn>
              </a:cxnLst>
              <a:rect l="0" t="0" r="r" b="b"/>
              <a:pathLst>
                <a:path w="13" h="13">
                  <a:moveTo>
                    <a:pt x="8" y="12"/>
                  </a:moveTo>
                  <a:cubicBezTo>
                    <a:pt x="5" y="13"/>
                    <a:pt x="3" y="12"/>
                    <a:pt x="1" y="10"/>
                  </a:cubicBezTo>
                  <a:cubicBezTo>
                    <a:pt x="0" y="10"/>
                    <a:pt x="1" y="9"/>
                    <a:pt x="1" y="8"/>
                  </a:cubicBezTo>
                  <a:cubicBezTo>
                    <a:pt x="1" y="8"/>
                    <a:pt x="1" y="8"/>
                    <a:pt x="2" y="7"/>
                  </a:cubicBezTo>
                  <a:cubicBezTo>
                    <a:pt x="3" y="7"/>
                    <a:pt x="3" y="7"/>
                    <a:pt x="5" y="6"/>
                  </a:cubicBezTo>
                  <a:cubicBezTo>
                    <a:pt x="6" y="5"/>
                    <a:pt x="10" y="0"/>
                    <a:pt x="12" y="1"/>
                  </a:cubicBezTo>
                  <a:cubicBezTo>
                    <a:pt x="13" y="4"/>
                    <a:pt x="11" y="10"/>
                    <a:pt x="8" y="12"/>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32" name="Freeform 130">
              <a:extLst>
                <a:ext uri="{FF2B5EF4-FFF2-40B4-BE49-F238E27FC236}">
                  <a16:creationId xmlns:a16="http://schemas.microsoft.com/office/drawing/2014/main" id="{3734F72B-D5E7-450F-94BA-DCECFCA61725}"/>
                </a:ext>
              </a:extLst>
            </p:cNvPr>
            <p:cNvSpPr>
              <a:spLocks/>
            </p:cNvSpPr>
            <p:nvPr userDrawn="1"/>
          </p:nvSpPr>
          <p:spPr bwMode="auto">
            <a:xfrm>
              <a:off x="1062" y="710"/>
              <a:ext cx="12" cy="14"/>
            </a:xfrm>
            <a:custGeom>
              <a:avLst/>
              <a:gdLst>
                <a:gd name="T0" fmla="*/ 5 w 10"/>
                <a:gd name="T1" fmla="*/ 11 h 11"/>
                <a:gd name="T2" fmla="*/ 1 w 10"/>
                <a:gd name="T3" fmla="*/ 4 h 11"/>
                <a:gd name="T4" fmla="*/ 6 w 10"/>
                <a:gd name="T5" fmla="*/ 1 h 11"/>
                <a:gd name="T6" fmla="*/ 10 w 10"/>
                <a:gd name="T7" fmla="*/ 6 h 11"/>
                <a:gd name="T8" fmla="*/ 5 w 10"/>
                <a:gd name="T9" fmla="*/ 11 h 11"/>
              </a:gdLst>
              <a:ahLst/>
              <a:cxnLst>
                <a:cxn ang="0">
                  <a:pos x="T0" y="T1"/>
                </a:cxn>
                <a:cxn ang="0">
                  <a:pos x="T2" y="T3"/>
                </a:cxn>
                <a:cxn ang="0">
                  <a:pos x="T4" y="T5"/>
                </a:cxn>
                <a:cxn ang="0">
                  <a:pos x="T6" y="T7"/>
                </a:cxn>
                <a:cxn ang="0">
                  <a:pos x="T8" y="T9"/>
                </a:cxn>
              </a:cxnLst>
              <a:rect l="0" t="0" r="r" b="b"/>
              <a:pathLst>
                <a:path w="10" h="11">
                  <a:moveTo>
                    <a:pt x="5" y="11"/>
                  </a:moveTo>
                  <a:cubicBezTo>
                    <a:pt x="3" y="10"/>
                    <a:pt x="1" y="5"/>
                    <a:pt x="1" y="4"/>
                  </a:cubicBezTo>
                  <a:cubicBezTo>
                    <a:pt x="0" y="1"/>
                    <a:pt x="3" y="0"/>
                    <a:pt x="6" y="1"/>
                  </a:cubicBezTo>
                  <a:cubicBezTo>
                    <a:pt x="9" y="2"/>
                    <a:pt x="10" y="3"/>
                    <a:pt x="10" y="6"/>
                  </a:cubicBezTo>
                  <a:cubicBezTo>
                    <a:pt x="8" y="9"/>
                    <a:pt x="7" y="9"/>
                    <a:pt x="5" y="11"/>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33" name="Freeform 131">
              <a:extLst>
                <a:ext uri="{FF2B5EF4-FFF2-40B4-BE49-F238E27FC236}">
                  <a16:creationId xmlns:a16="http://schemas.microsoft.com/office/drawing/2014/main" id="{9A7BF1C3-CD39-4EB6-8809-1E68E6C1AD8C}"/>
                </a:ext>
              </a:extLst>
            </p:cNvPr>
            <p:cNvSpPr>
              <a:spLocks/>
            </p:cNvSpPr>
            <p:nvPr userDrawn="1"/>
          </p:nvSpPr>
          <p:spPr bwMode="auto">
            <a:xfrm>
              <a:off x="1085" y="688"/>
              <a:ext cx="19" cy="21"/>
            </a:xfrm>
            <a:custGeom>
              <a:avLst/>
              <a:gdLst>
                <a:gd name="T0" fmla="*/ 8 w 15"/>
                <a:gd name="T1" fmla="*/ 17 h 17"/>
                <a:gd name="T2" fmla="*/ 7 w 15"/>
                <a:gd name="T3" fmla="*/ 12 h 17"/>
                <a:gd name="T4" fmla="*/ 5 w 15"/>
                <a:gd name="T5" fmla="*/ 13 h 17"/>
                <a:gd name="T6" fmla="*/ 0 w 15"/>
                <a:gd name="T7" fmla="*/ 9 h 17"/>
                <a:gd name="T8" fmla="*/ 2 w 15"/>
                <a:gd name="T9" fmla="*/ 7 h 17"/>
                <a:gd name="T10" fmla="*/ 7 w 15"/>
                <a:gd name="T11" fmla="*/ 2 h 17"/>
                <a:gd name="T12" fmla="*/ 14 w 15"/>
                <a:gd name="T13" fmla="*/ 4 h 17"/>
                <a:gd name="T14" fmla="*/ 13 w 15"/>
                <a:gd name="T15" fmla="*/ 11 h 17"/>
                <a:gd name="T16" fmla="*/ 9 w 15"/>
                <a:gd name="T17" fmla="*/ 16 h 17"/>
                <a:gd name="T18" fmla="*/ 8 w 15"/>
                <a:gd name="T19"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7">
                  <a:moveTo>
                    <a:pt x="8" y="17"/>
                  </a:moveTo>
                  <a:cubicBezTo>
                    <a:pt x="7" y="16"/>
                    <a:pt x="8" y="12"/>
                    <a:pt x="7" y="12"/>
                  </a:cubicBezTo>
                  <a:cubicBezTo>
                    <a:pt x="6" y="12"/>
                    <a:pt x="6" y="13"/>
                    <a:pt x="5" y="13"/>
                  </a:cubicBezTo>
                  <a:cubicBezTo>
                    <a:pt x="3" y="13"/>
                    <a:pt x="0" y="11"/>
                    <a:pt x="0" y="9"/>
                  </a:cubicBezTo>
                  <a:cubicBezTo>
                    <a:pt x="1" y="7"/>
                    <a:pt x="0" y="8"/>
                    <a:pt x="2" y="7"/>
                  </a:cubicBezTo>
                  <a:cubicBezTo>
                    <a:pt x="4" y="5"/>
                    <a:pt x="6" y="3"/>
                    <a:pt x="7" y="2"/>
                  </a:cubicBezTo>
                  <a:cubicBezTo>
                    <a:pt x="11" y="0"/>
                    <a:pt x="13" y="1"/>
                    <a:pt x="14" y="4"/>
                  </a:cubicBezTo>
                  <a:cubicBezTo>
                    <a:pt x="15" y="7"/>
                    <a:pt x="14" y="9"/>
                    <a:pt x="13" y="11"/>
                  </a:cubicBezTo>
                  <a:cubicBezTo>
                    <a:pt x="12" y="13"/>
                    <a:pt x="10" y="15"/>
                    <a:pt x="9" y="16"/>
                  </a:cubicBezTo>
                  <a:cubicBezTo>
                    <a:pt x="9" y="17"/>
                    <a:pt x="8" y="17"/>
                    <a:pt x="8" y="17"/>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34" name="Freeform 132">
              <a:extLst>
                <a:ext uri="{FF2B5EF4-FFF2-40B4-BE49-F238E27FC236}">
                  <a16:creationId xmlns:a16="http://schemas.microsoft.com/office/drawing/2014/main" id="{719D0548-485E-43B5-AD82-2CC3D64092D2}"/>
                </a:ext>
              </a:extLst>
            </p:cNvPr>
            <p:cNvSpPr>
              <a:spLocks/>
            </p:cNvSpPr>
            <p:nvPr userDrawn="1"/>
          </p:nvSpPr>
          <p:spPr bwMode="auto">
            <a:xfrm>
              <a:off x="1062" y="693"/>
              <a:ext cx="12" cy="13"/>
            </a:xfrm>
            <a:custGeom>
              <a:avLst/>
              <a:gdLst>
                <a:gd name="T0" fmla="*/ 4 w 10"/>
                <a:gd name="T1" fmla="*/ 11 h 11"/>
                <a:gd name="T2" fmla="*/ 3 w 10"/>
                <a:gd name="T3" fmla="*/ 9 h 11"/>
                <a:gd name="T4" fmla="*/ 1 w 10"/>
                <a:gd name="T5" fmla="*/ 6 h 11"/>
                <a:gd name="T6" fmla="*/ 1 w 10"/>
                <a:gd name="T7" fmla="*/ 0 h 11"/>
                <a:gd name="T8" fmla="*/ 10 w 10"/>
                <a:gd name="T9" fmla="*/ 5 h 11"/>
                <a:gd name="T10" fmla="*/ 4 w 10"/>
                <a:gd name="T11" fmla="*/ 11 h 11"/>
              </a:gdLst>
              <a:ahLst/>
              <a:cxnLst>
                <a:cxn ang="0">
                  <a:pos x="T0" y="T1"/>
                </a:cxn>
                <a:cxn ang="0">
                  <a:pos x="T2" y="T3"/>
                </a:cxn>
                <a:cxn ang="0">
                  <a:pos x="T4" y="T5"/>
                </a:cxn>
                <a:cxn ang="0">
                  <a:pos x="T6" y="T7"/>
                </a:cxn>
                <a:cxn ang="0">
                  <a:pos x="T8" y="T9"/>
                </a:cxn>
                <a:cxn ang="0">
                  <a:pos x="T10" y="T11"/>
                </a:cxn>
              </a:cxnLst>
              <a:rect l="0" t="0" r="r" b="b"/>
              <a:pathLst>
                <a:path w="10" h="11">
                  <a:moveTo>
                    <a:pt x="4" y="11"/>
                  </a:moveTo>
                  <a:cubicBezTo>
                    <a:pt x="3" y="11"/>
                    <a:pt x="3" y="10"/>
                    <a:pt x="3" y="9"/>
                  </a:cubicBezTo>
                  <a:cubicBezTo>
                    <a:pt x="3" y="8"/>
                    <a:pt x="2" y="7"/>
                    <a:pt x="1" y="6"/>
                  </a:cubicBezTo>
                  <a:cubicBezTo>
                    <a:pt x="0" y="3"/>
                    <a:pt x="0" y="2"/>
                    <a:pt x="1" y="0"/>
                  </a:cubicBezTo>
                  <a:cubicBezTo>
                    <a:pt x="3" y="0"/>
                    <a:pt x="10" y="1"/>
                    <a:pt x="10" y="5"/>
                  </a:cubicBezTo>
                  <a:cubicBezTo>
                    <a:pt x="9" y="7"/>
                    <a:pt x="6" y="10"/>
                    <a:pt x="4" y="11"/>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35" name="Freeform 133">
              <a:extLst>
                <a:ext uri="{FF2B5EF4-FFF2-40B4-BE49-F238E27FC236}">
                  <a16:creationId xmlns:a16="http://schemas.microsoft.com/office/drawing/2014/main" id="{C1EFA3F7-3F39-4356-AFAF-79910B71870E}"/>
                </a:ext>
              </a:extLst>
            </p:cNvPr>
            <p:cNvSpPr>
              <a:spLocks/>
            </p:cNvSpPr>
            <p:nvPr userDrawn="1"/>
          </p:nvSpPr>
          <p:spPr bwMode="auto">
            <a:xfrm>
              <a:off x="996" y="742"/>
              <a:ext cx="47" cy="83"/>
            </a:xfrm>
            <a:custGeom>
              <a:avLst/>
              <a:gdLst>
                <a:gd name="T0" fmla="*/ 22 w 38"/>
                <a:gd name="T1" fmla="*/ 64 h 66"/>
                <a:gd name="T2" fmla="*/ 13 w 38"/>
                <a:gd name="T3" fmla="*/ 61 h 66"/>
                <a:gd name="T4" fmla="*/ 13 w 38"/>
                <a:gd name="T5" fmla="*/ 59 h 66"/>
                <a:gd name="T6" fmla="*/ 13 w 38"/>
                <a:gd name="T7" fmla="*/ 59 h 66"/>
                <a:gd name="T8" fmla="*/ 8 w 38"/>
                <a:gd name="T9" fmla="*/ 46 h 66"/>
                <a:gd name="T10" fmla="*/ 7 w 38"/>
                <a:gd name="T11" fmla="*/ 42 h 66"/>
                <a:gd name="T12" fmla="*/ 10 w 38"/>
                <a:gd name="T13" fmla="*/ 44 h 66"/>
                <a:gd name="T14" fmla="*/ 11 w 38"/>
                <a:gd name="T15" fmla="*/ 42 h 66"/>
                <a:gd name="T16" fmla="*/ 11 w 38"/>
                <a:gd name="T17" fmla="*/ 33 h 66"/>
                <a:gd name="T18" fmla="*/ 8 w 38"/>
                <a:gd name="T19" fmla="*/ 31 h 66"/>
                <a:gd name="T20" fmla="*/ 4 w 38"/>
                <a:gd name="T21" fmla="*/ 34 h 66"/>
                <a:gd name="T22" fmla="*/ 4 w 38"/>
                <a:gd name="T23" fmla="*/ 27 h 66"/>
                <a:gd name="T24" fmla="*/ 0 w 38"/>
                <a:gd name="T25" fmla="*/ 23 h 66"/>
                <a:gd name="T26" fmla="*/ 6 w 38"/>
                <a:gd name="T27" fmla="*/ 21 h 66"/>
                <a:gd name="T28" fmla="*/ 10 w 38"/>
                <a:gd name="T29" fmla="*/ 23 h 66"/>
                <a:gd name="T30" fmla="*/ 11 w 38"/>
                <a:gd name="T31" fmla="*/ 25 h 66"/>
                <a:gd name="T32" fmla="*/ 12 w 38"/>
                <a:gd name="T33" fmla="*/ 24 h 66"/>
                <a:gd name="T34" fmla="*/ 12 w 38"/>
                <a:gd name="T35" fmla="*/ 17 h 66"/>
                <a:gd name="T36" fmla="*/ 7 w 38"/>
                <a:gd name="T37" fmla="*/ 10 h 66"/>
                <a:gd name="T38" fmla="*/ 12 w 38"/>
                <a:gd name="T39" fmla="*/ 6 h 66"/>
                <a:gd name="T40" fmla="*/ 13 w 38"/>
                <a:gd name="T41" fmla="*/ 1 h 66"/>
                <a:gd name="T42" fmla="*/ 14 w 38"/>
                <a:gd name="T43" fmla="*/ 0 h 66"/>
                <a:gd name="T44" fmla="*/ 16 w 38"/>
                <a:gd name="T45" fmla="*/ 1 h 66"/>
                <a:gd name="T46" fmla="*/ 18 w 38"/>
                <a:gd name="T47" fmla="*/ 12 h 66"/>
                <a:gd name="T48" fmla="*/ 17 w 38"/>
                <a:gd name="T49" fmla="*/ 8 h 66"/>
                <a:gd name="T50" fmla="*/ 22 w 38"/>
                <a:gd name="T51" fmla="*/ 3 h 66"/>
                <a:gd name="T52" fmla="*/ 25 w 38"/>
                <a:gd name="T53" fmla="*/ 7 h 66"/>
                <a:gd name="T54" fmla="*/ 26 w 38"/>
                <a:gd name="T55" fmla="*/ 8 h 66"/>
                <a:gd name="T56" fmla="*/ 35 w 38"/>
                <a:gd name="T57" fmla="*/ 15 h 66"/>
                <a:gd name="T58" fmla="*/ 37 w 38"/>
                <a:gd name="T59" fmla="*/ 19 h 66"/>
                <a:gd name="T60" fmla="*/ 37 w 38"/>
                <a:gd name="T61" fmla="*/ 20 h 66"/>
                <a:gd name="T62" fmla="*/ 37 w 38"/>
                <a:gd name="T63" fmla="*/ 20 h 66"/>
                <a:gd name="T64" fmla="*/ 36 w 38"/>
                <a:gd name="T65" fmla="*/ 24 h 66"/>
                <a:gd name="T66" fmla="*/ 23 w 38"/>
                <a:gd name="T67" fmla="*/ 15 h 66"/>
                <a:gd name="T68" fmla="*/ 23 w 38"/>
                <a:gd name="T69" fmla="*/ 15 h 66"/>
                <a:gd name="T70" fmla="*/ 27 w 38"/>
                <a:gd name="T71" fmla="*/ 25 h 66"/>
                <a:gd name="T72" fmla="*/ 22 w 38"/>
                <a:gd name="T73" fmla="*/ 27 h 66"/>
                <a:gd name="T74" fmla="*/ 22 w 38"/>
                <a:gd name="T75" fmla="*/ 25 h 66"/>
                <a:gd name="T76" fmla="*/ 15 w 38"/>
                <a:gd name="T77" fmla="*/ 19 h 66"/>
                <a:gd name="T78" fmla="*/ 16 w 38"/>
                <a:gd name="T79" fmla="*/ 27 h 66"/>
                <a:gd name="T80" fmla="*/ 17 w 38"/>
                <a:gd name="T81" fmla="*/ 31 h 66"/>
                <a:gd name="T82" fmla="*/ 21 w 38"/>
                <a:gd name="T83" fmla="*/ 35 h 66"/>
                <a:gd name="T84" fmla="*/ 22 w 38"/>
                <a:gd name="T85" fmla="*/ 38 h 66"/>
                <a:gd name="T86" fmla="*/ 22 w 38"/>
                <a:gd name="T87" fmla="*/ 39 h 66"/>
                <a:gd name="T88" fmla="*/ 22 w 38"/>
                <a:gd name="T89" fmla="*/ 44 h 66"/>
                <a:gd name="T90" fmla="*/ 21 w 38"/>
                <a:gd name="T91" fmla="*/ 44 h 66"/>
                <a:gd name="T92" fmla="*/ 17 w 38"/>
                <a:gd name="T93" fmla="*/ 38 h 66"/>
                <a:gd name="T94" fmla="*/ 16 w 38"/>
                <a:gd name="T95" fmla="*/ 44 h 66"/>
                <a:gd name="T96" fmla="*/ 13 w 38"/>
                <a:gd name="T97" fmla="*/ 46 h 66"/>
                <a:gd name="T98" fmla="*/ 13 w 38"/>
                <a:gd name="T99" fmla="*/ 46 h 66"/>
                <a:gd name="T100" fmla="*/ 12 w 38"/>
                <a:gd name="T101" fmla="*/ 47 h 66"/>
                <a:gd name="T102" fmla="*/ 14 w 38"/>
                <a:gd name="T103" fmla="*/ 50 h 66"/>
                <a:gd name="T104" fmla="*/ 23 w 38"/>
                <a:gd name="T105" fmla="*/ 62 h 66"/>
                <a:gd name="T106" fmla="*/ 22 w 38"/>
                <a:gd name="T107" fmla="*/ 6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8" h="66">
                  <a:moveTo>
                    <a:pt x="22" y="64"/>
                  </a:moveTo>
                  <a:cubicBezTo>
                    <a:pt x="19" y="66"/>
                    <a:pt x="12" y="65"/>
                    <a:pt x="13" y="61"/>
                  </a:cubicBezTo>
                  <a:cubicBezTo>
                    <a:pt x="13" y="60"/>
                    <a:pt x="13" y="59"/>
                    <a:pt x="13" y="59"/>
                  </a:cubicBezTo>
                  <a:cubicBezTo>
                    <a:pt x="13" y="59"/>
                    <a:pt x="13" y="59"/>
                    <a:pt x="13" y="59"/>
                  </a:cubicBezTo>
                  <a:cubicBezTo>
                    <a:pt x="12" y="54"/>
                    <a:pt x="9" y="50"/>
                    <a:pt x="8" y="46"/>
                  </a:cubicBezTo>
                  <a:cubicBezTo>
                    <a:pt x="7" y="45"/>
                    <a:pt x="7" y="44"/>
                    <a:pt x="7" y="42"/>
                  </a:cubicBezTo>
                  <a:cubicBezTo>
                    <a:pt x="8" y="42"/>
                    <a:pt x="9" y="43"/>
                    <a:pt x="10" y="44"/>
                  </a:cubicBezTo>
                  <a:cubicBezTo>
                    <a:pt x="11" y="44"/>
                    <a:pt x="11" y="43"/>
                    <a:pt x="11" y="42"/>
                  </a:cubicBezTo>
                  <a:cubicBezTo>
                    <a:pt x="11" y="39"/>
                    <a:pt x="11" y="36"/>
                    <a:pt x="11" y="33"/>
                  </a:cubicBezTo>
                  <a:cubicBezTo>
                    <a:pt x="10" y="32"/>
                    <a:pt x="9" y="31"/>
                    <a:pt x="8" y="31"/>
                  </a:cubicBezTo>
                  <a:cubicBezTo>
                    <a:pt x="8" y="32"/>
                    <a:pt x="6" y="37"/>
                    <a:pt x="4" y="34"/>
                  </a:cubicBezTo>
                  <a:cubicBezTo>
                    <a:pt x="5" y="32"/>
                    <a:pt x="5" y="29"/>
                    <a:pt x="4" y="27"/>
                  </a:cubicBezTo>
                  <a:cubicBezTo>
                    <a:pt x="2" y="25"/>
                    <a:pt x="0" y="24"/>
                    <a:pt x="0" y="23"/>
                  </a:cubicBezTo>
                  <a:cubicBezTo>
                    <a:pt x="0" y="20"/>
                    <a:pt x="4" y="20"/>
                    <a:pt x="6" y="21"/>
                  </a:cubicBezTo>
                  <a:cubicBezTo>
                    <a:pt x="8" y="21"/>
                    <a:pt x="8" y="17"/>
                    <a:pt x="10" y="23"/>
                  </a:cubicBezTo>
                  <a:cubicBezTo>
                    <a:pt x="10" y="24"/>
                    <a:pt x="11" y="24"/>
                    <a:pt x="11" y="25"/>
                  </a:cubicBezTo>
                  <a:cubicBezTo>
                    <a:pt x="12" y="25"/>
                    <a:pt x="12" y="24"/>
                    <a:pt x="12" y="24"/>
                  </a:cubicBezTo>
                  <a:cubicBezTo>
                    <a:pt x="12" y="22"/>
                    <a:pt x="12" y="19"/>
                    <a:pt x="12" y="17"/>
                  </a:cubicBezTo>
                  <a:cubicBezTo>
                    <a:pt x="10" y="15"/>
                    <a:pt x="8" y="13"/>
                    <a:pt x="7" y="10"/>
                  </a:cubicBezTo>
                  <a:cubicBezTo>
                    <a:pt x="7" y="8"/>
                    <a:pt x="10" y="6"/>
                    <a:pt x="12" y="6"/>
                  </a:cubicBezTo>
                  <a:cubicBezTo>
                    <a:pt x="13" y="4"/>
                    <a:pt x="13" y="3"/>
                    <a:pt x="13" y="1"/>
                  </a:cubicBezTo>
                  <a:cubicBezTo>
                    <a:pt x="13" y="1"/>
                    <a:pt x="13" y="1"/>
                    <a:pt x="14" y="0"/>
                  </a:cubicBezTo>
                  <a:cubicBezTo>
                    <a:pt x="15" y="0"/>
                    <a:pt x="15" y="0"/>
                    <a:pt x="16" y="1"/>
                  </a:cubicBezTo>
                  <a:cubicBezTo>
                    <a:pt x="18" y="3"/>
                    <a:pt x="14" y="11"/>
                    <a:pt x="18" y="12"/>
                  </a:cubicBezTo>
                  <a:cubicBezTo>
                    <a:pt x="19" y="11"/>
                    <a:pt x="18" y="9"/>
                    <a:pt x="17" y="8"/>
                  </a:cubicBezTo>
                  <a:cubicBezTo>
                    <a:pt x="17" y="6"/>
                    <a:pt x="20" y="4"/>
                    <a:pt x="22" y="3"/>
                  </a:cubicBezTo>
                  <a:cubicBezTo>
                    <a:pt x="26" y="3"/>
                    <a:pt x="25" y="4"/>
                    <a:pt x="25" y="7"/>
                  </a:cubicBezTo>
                  <a:cubicBezTo>
                    <a:pt x="26" y="7"/>
                    <a:pt x="26" y="8"/>
                    <a:pt x="26" y="8"/>
                  </a:cubicBezTo>
                  <a:cubicBezTo>
                    <a:pt x="30" y="11"/>
                    <a:pt x="30" y="11"/>
                    <a:pt x="35" y="15"/>
                  </a:cubicBezTo>
                  <a:cubicBezTo>
                    <a:pt x="36" y="16"/>
                    <a:pt x="37" y="17"/>
                    <a:pt x="37" y="19"/>
                  </a:cubicBezTo>
                  <a:cubicBezTo>
                    <a:pt x="37" y="19"/>
                    <a:pt x="37" y="19"/>
                    <a:pt x="37" y="20"/>
                  </a:cubicBezTo>
                  <a:cubicBezTo>
                    <a:pt x="37" y="20"/>
                    <a:pt x="37" y="20"/>
                    <a:pt x="37" y="20"/>
                  </a:cubicBezTo>
                  <a:cubicBezTo>
                    <a:pt x="38" y="21"/>
                    <a:pt x="38" y="24"/>
                    <a:pt x="36" y="24"/>
                  </a:cubicBezTo>
                  <a:cubicBezTo>
                    <a:pt x="32" y="21"/>
                    <a:pt x="27" y="18"/>
                    <a:pt x="23" y="15"/>
                  </a:cubicBezTo>
                  <a:cubicBezTo>
                    <a:pt x="23" y="15"/>
                    <a:pt x="23" y="15"/>
                    <a:pt x="23" y="15"/>
                  </a:cubicBezTo>
                  <a:cubicBezTo>
                    <a:pt x="25" y="17"/>
                    <a:pt x="27" y="22"/>
                    <a:pt x="27" y="25"/>
                  </a:cubicBezTo>
                  <a:cubicBezTo>
                    <a:pt x="26" y="26"/>
                    <a:pt x="24" y="27"/>
                    <a:pt x="22" y="27"/>
                  </a:cubicBezTo>
                  <a:cubicBezTo>
                    <a:pt x="22" y="26"/>
                    <a:pt x="22" y="26"/>
                    <a:pt x="22" y="25"/>
                  </a:cubicBezTo>
                  <a:cubicBezTo>
                    <a:pt x="21" y="23"/>
                    <a:pt x="17" y="21"/>
                    <a:pt x="15" y="19"/>
                  </a:cubicBezTo>
                  <a:cubicBezTo>
                    <a:pt x="14" y="21"/>
                    <a:pt x="16" y="25"/>
                    <a:pt x="16" y="27"/>
                  </a:cubicBezTo>
                  <a:cubicBezTo>
                    <a:pt x="16" y="28"/>
                    <a:pt x="16" y="30"/>
                    <a:pt x="17" y="31"/>
                  </a:cubicBezTo>
                  <a:cubicBezTo>
                    <a:pt x="18" y="32"/>
                    <a:pt x="19" y="34"/>
                    <a:pt x="21" y="35"/>
                  </a:cubicBezTo>
                  <a:cubicBezTo>
                    <a:pt x="21" y="36"/>
                    <a:pt x="22" y="37"/>
                    <a:pt x="22" y="38"/>
                  </a:cubicBezTo>
                  <a:cubicBezTo>
                    <a:pt x="22" y="38"/>
                    <a:pt x="22" y="38"/>
                    <a:pt x="22" y="39"/>
                  </a:cubicBezTo>
                  <a:cubicBezTo>
                    <a:pt x="23" y="40"/>
                    <a:pt x="24" y="44"/>
                    <a:pt x="22" y="44"/>
                  </a:cubicBezTo>
                  <a:cubicBezTo>
                    <a:pt x="21" y="44"/>
                    <a:pt x="21" y="44"/>
                    <a:pt x="21" y="44"/>
                  </a:cubicBezTo>
                  <a:cubicBezTo>
                    <a:pt x="20" y="41"/>
                    <a:pt x="18" y="39"/>
                    <a:pt x="17" y="38"/>
                  </a:cubicBezTo>
                  <a:cubicBezTo>
                    <a:pt x="16" y="40"/>
                    <a:pt x="17" y="42"/>
                    <a:pt x="16" y="44"/>
                  </a:cubicBezTo>
                  <a:cubicBezTo>
                    <a:pt x="15" y="45"/>
                    <a:pt x="14" y="46"/>
                    <a:pt x="13" y="46"/>
                  </a:cubicBezTo>
                  <a:cubicBezTo>
                    <a:pt x="13" y="46"/>
                    <a:pt x="13" y="46"/>
                    <a:pt x="13" y="46"/>
                  </a:cubicBezTo>
                  <a:cubicBezTo>
                    <a:pt x="12" y="46"/>
                    <a:pt x="12" y="46"/>
                    <a:pt x="12" y="47"/>
                  </a:cubicBezTo>
                  <a:cubicBezTo>
                    <a:pt x="12" y="48"/>
                    <a:pt x="13" y="49"/>
                    <a:pt x="14" y="50"/>
                  </a:cubicBezTo>
                  <a:cubicBezTo>
                    <a:pt x="16" y="54"/>
                    <a:pt x="19" y="58"/>
                    <a:pt x="23" y="62"/>
                  </a:cubicBezTo>
                  <a:cubicBezTo>
                    <a:pt x="23" y="63"/>
                    <a:pt x="23" y="63"/>
                    <a:pt x="22" y="6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36" name="Freeform 134">
              <a:extLst>
                <a:ext uri="{FF2B5EF4-FFF2-40B4-BE49-F238E27FC236}">
                  <a16:creationId xmlns:a16="http://schemas.microsoft.com/office/drawing/2014/main" id="{C4E9BC4A-679A-4347-96FC-9940AD3DB61F}"/>
                </a:ext>
              </a:extLst>
            </p:cNvPr>
            <p:cNvSpPr>
              <a:spLocks/>
            </p:cNvSpPr>
            <p:nvPr userDrawn="1"/>
          </p:nvSpPr>
          <p:spPr bwMode="auto">
            <a:xfrm>
              <a:off x="989" y="789"/>
              <a:ext cx="13" cy="11"/>
            </a:xfrm>
            <a:custGeom>
              <a:avLst/>
              <a:gdLst>
                <a:gd name="T0" fmla="*/ 9 w 11"/>
                <a:gd name="T1" fmla="*/ 9 h 9"/>
                <a:gd name="T2" fmla="*/ 7 w 11"/>
                <a:gd name="T3" fmla="*/ 7 h 9"/>
                <a:gd name="T4" fmla="*/ 0 w 11"/>
                <a:gd name="T5" fmla="*/ 2 h 9"/>
                <a:gd name="T6" fmla="*/ 0 w 11"/>
                <a:gd name="T7" fmla="*/ 1 h 9"/>
                <a:gd name="T8" fmla="*/ 7 w 11"/>
                <a:gd name="T9" fmla="*/ 0 h 9"/>
                <a:gd name="T10" fmla="*/ 9 w 11"/>
                <a:gd name="T11" fmla="*/ 9 h 9"/>
              </a:gdLst>
              <a:ahLst/>
              <a:cxnLst>
                <a:cxn ang="0">
                  <a:pos x="T0" y="T1"/>
                </a:cxn>
                <a:cxn ang="0">
                  <a:pos x="T2" y="T3"/>
                </a:cxn>
                <a:cxn ang="0">
                  <a:pos x="T4" y="T5"/>
                </a:cxn>
                <a:cxn ang="0">
                  <a:pos x="T6" y="T7"/>
                </a:cxn>
                <a:cxn ang="0">
                  <a:pos x="T8" y="T9"/>
                </a:cxn>
                <a:cxn ang="0">
                  <a:pos x="T10" y="T11"/>
                </a:cxn>
              </a:cxnLst>
              <a:rect l="0" t="0" r="r" b="b"/>
              <a:pathLst>
                <a:path w="11" h="9">
                  <a:moveTo>
                    <a:pt x="9" y="9"/>
                  </a:moveTo>
                  <a:cubicBezTo>
                    <a:pt x="8" y="9"/>
                    <a:pt x="7" y="8"/>
                    <a:pt x="7" y="7"/>
                  </a:cubicBezTo>
                  <a:cubicBezTo>
                    <a:pt x="3" y="6"/>
                    <a:pt x="1" y="5"/>
                    <a:pt x="0" y="2"/>
                  </a:cubicBezTo>
                  <a:cubicBezTo>
                    <a:pt x="0" y="2"/>
                    <a:pt x="0" y="2"/>
                    <a:pt x="0" y="1"/>
                  </a:cubicBezTo>
                  <a:cubicBezTo>
                    <a:pt x="2" y="1"/>
                    <a:pt x="5" y="0"/>
                    <a:pt x="7" y="0"/>
                  </a:cubicBezTo>
                  <a:cubicBezTo>
                    <a:pt x="11" y="1"/>
                    <a:pt x="10" y="6"/>
                    <a:pt x="9" y="9"/>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37" name="Freeform 135">
              <a:extLst>
                <a:ext uri="{FF2B5EF4-FFF2-40B4-BE49-F238E27FC236}">
                  <a16:creationId xmlns:a16="http://schemas.microsoft.com/office/drawing/2014/main" id="{FE354F88-3981-486D-AA2B-EBA070534EA7}"/>
                </a:ext>
              </a:extLst>
            </p:cNvPr>
            <p:cNvSpPr>
              <a:spLocks/>
            </p:cNvSpPr>
            <p:nvPr userDrawn="1"/>
          </p:nvSpPr>
          <p:spPr bwMode="auto">
            <a:xfrm>
              <a:off x="977" y="776"/>
              <a:ext cx="14" cy="13"/>
            </a:xfrm>
            <a:custGeom>
              <a:avLst/>
              <a:gdLst>
                <a:gd name="T0" fmla="*/ 10 w 11"/>
                <a:gd name="T1" fmla="*/ 10 h 10"/>
                <a:gd name="T2" fmla="*/ 9 w 11"/>
                <a:gd name="T3" fmla="*/ 10 h 10"/>
                <a:gd name="T4" fmla="*/ 8 w 11"/>
                <a:gd name="T5" fmla="*/ 8 h 10"/>
                <a:gd name="T6" fmla="*/ 1 w 11"/>
                <a:gd name="T7" fmla="*/ 2 h 10"/>
                <a:gd name="T8" fmla="*/ 4 w 11"/>
                <a:gd name="T9" fmla="*/ 2 h 10"/>
                <a:gd name="T10" fmla="*/ 11 w 11"/>
                <a:gd name="T11" fmla="*/ 5 h 10"/>
                <a:gd name="T12" fmla="*/ 10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10" y="10"/>
                  </a:moveTo>
                  <a:cubicBezTo>
                    <a:pt x="9" y="10"/>
                    <a:pt x="9" y="10"/>
                    <a:pt x="9" y="10"/>
                  </a:cubicBezTo>
                  <a:cubicBezTo>
                    <a:pt x="8" y="9"/>
                    <a:pt x="8" y="9"/>
                    <a:pt x="8" y="8"/>
                  </a:cubicBezTo>
                  <a:cubicBezTo>
                    <a:pt x="4" y="8"/>
                    <a:pt x="0" y="6"/>
                    <a:pt x="1" y="2"/>
                  </a:cubicBezTo>
                  <a:cubicBezTo>
                    <a:pt x="2" y="1"/>
                    <a:pt x="2" y="2"/>
                    <a:pt x="4" y="2"/>
                  </a:cubicBezTo>
                  <a:cubicBezTo>
                    <a:pt x="7" y="2"/>
                    <a:pt x="11" y="0"/>
                    <a:pt x="11" y="5"/>
                  </a:cubicBezTo>
                  <a:cubicBezTo>
                    <a:pt x="11" y="6"/>
                    <a:pt x="10" y="8"/>
                    <a:pt x="10" y="10"/>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38" name="Freeform 136">
              <a:extLst>
                <a:ext uri="{FF2B5EF4-FFF2-40B4-BE49-F238E27FC236}">
                  <a16:creationId xmlns:a16="http://schemas.microsoft.com/office/drawing/2014/main" id="{F5CCFB55-F671-4BA6-8BC8-AD5D5AE06937}"/>
                </a:ext>
              </a:extLst>
            </p:cNvPr>
            <p:cNvSpPr>
              <a:spLocks/>
            </p:cNvSpPr>
            <p:nvPr userDrawn="1"/>
          </p:nvSpPr>
          <p:spPr bwMode="auto">
            <a:xfrm>
              <a:off x="1048" y="786"/>
              <a:ext cx="163" cy="141"/>
            </a:xfrm>
            <a:custGeom>
              <a:avLst/>
              <a:gdLst>
                <a:gd name="T0" fmla="*/ 132 w 132"/>
                <a:gd name="T1" fmla="*/ 6 h 113"/>
                <a:gd name="T2" fmla="*/ 98 w 132"/>
                <a:gd name="T3" fmla="*/ 6 h 113"/>
                <a:gd name="T4" fmla="*/ 79 w 132"/>
                <a:gd name="T5" fmla="*/ 25 h 113"/>
                <a:gd name="T6" fmla="*/ 73 w 132"/>
                <a:gd name="T7" fmla="*/ 12 h 113"/>
                <a:gd name="T8" fmla="*/ 83 w 132"/>
                <a:gd name="T9" fmla="*/ 8 h 113"/>
                <a:gd name="T10" fmla="*/ 57 w 132"/>
                <a:gd name="T11" fmla="*/ 8 h 113"/>
                <a:gd name="T12" fmla="*/ 53 w 132"/>
                <a:gd name="T13" fmla="*/ 25 h 113"/>
                <a:gd name="T14" fmla="*/ 34 w 132"/>
                <a:gd name="T15" fmla="*/ 6 h 113"/>
                <a:gd name="T16" fmla="*/ 0 w 132"/>
                <a:gd name="T17" fmla="*/ 6 h 113"/>
                <a:gd name="T18" fmla="*/ 24 w 132"/>
                <a:gd name="T19" fmla="*/ 16 h 113"/>
                <a:gd name="T20" fmla="*/ 27 w 132"/>
                <a:gd name="T21" fmla="*/ 22 h 113"/>
                <a:gd name="T22" fmla="*/ 9 w 132"/>
                <a:gd name="T23" fmla="*/ 22 h 113"/>
                <a:gd name="T24" fmla="*/ 31 w 132"/>
                <a:gd name="T25" fmla="*/ 32 h 113"/>
                <a:gd name="T26" fmla="*/ 34 w 132"/>
                <a:gd name="T27" fmla="*/ 38 h 113"/>
                <a:gd name="T28" fmla="*/ 20 w 132"/>
                <a:gd name="T29" fmla="*/ 39 h 113"/>
                <a:gd name="T30" fmla="*/ 38 w 132"/>
                <a:gd name="T31" fmla="*/ 48 h 113"/>
                <a:gd name="T32" fmla="*/ 41 w 132"/>
                <a:gd name="T33" fmla="*/ 54 h 113"/>
                <a:gd name="T34" fmla="*/ 30 w 132"/>
                <a:gd name="T35" fmla="*/ 54 h 113"/>
                <a:gd name="T36" fmla="*/ 45 w 132"/>
                <a:gd name="T37" fmla="*/ 63 h 113"/>
                <a:gd name="T38" fmla="*/ 47 w 132"/>
                <a:gd name="T39" fmla="*/ 69 h 113"/>
                <a:gd name="T40" fmla="*/ 39 w 132"/>
                <a:gd name="T41" fmla="*/ 69 h 113"/>
                <a:gd name="T42" fmla="*/ 51 w 132"/>
                <a:gd name="T43" fmla="*/ 78 h 113"/>
                <a:gd name="T44" fmla="*/ 51 w 132"/>
                <a:gd name="T45" fmla="*/ 89 h 113"/>
                <a:gd name="T46" fmla="*/ 66 w 132"/>
                <a:gd name="T47" fmla="*/ 113 h 113"/>
                <a:gd name="T48" fmla="*/ 81 w 132"/>
                <a:gd name="T49" fmla="*/ 89 h 113"/>
                <a:gd name="T50" fmla="*/ 81 w 132"/>
                <a:gd name="T51" fmla="*/ 78 h 113"/>
                <a:gd name="T52" fmla="*/ 92 w 132"/>
                <a:gd name="T53" fmla="*/ 69 h 113"/>
                <a:gd name="T54" fmla="*/ 85 w 132"/>
                <a:gd name="T55" fmla="*/ 69 h 113"/>
                <a:gd name="T56" fmla="*/ 87 w 132"/>
                <a:gd name="T57" fmla="*/ 63 h 113"/>
                <a:gd name="T58" fmla="*/ 102 w 132"/>
                <a:gd name="T59" fmla="*/ 54 h 113"/>
                <a:gd name="T60" fmla="*/ 91 w 132"/>
                <a:gd name="T61" fmla="*/ 54 h 113"/>
                <a:gd name="T62" fmla="*/ 93 w 132"/>
                <a:gd name="T63" fmla="*/ 48 h 113"/>
                <a:gd name="T64" fmla="*/ 111 w 132"/>
                <a:gd name="T65" fmla="*/ 39 h 113"/>
                <a:gd name="T66" fmla="*/ 97 w 132"/>
                <a:gd name="T67" fmla="*/ 38 h 113"/>
                <a:gd name="T68" fmla="*/ 100 w 132"/>
                <a:gd name="T69" fmla="*/ 32 h 113"/>
                <a:gd name="T70" fmla="*/ 123 w 132"/>
                <a:gd name="T71" fmla="*/ 22 h 113"/>
                <a:gd name="T72" fmla="*/ 105 w 132"/>
                <a:gd name="T73" fmla="*/ 22 h 113"/>
                <a:gd name="T74" fmla="*/ 107 w 132"/>
                <a:gd name="T75" fmla="*/ 16 h 113"/>
                <a:gd name="T76" fmla="*/ 132 w 132"/>
                <a:gd name="T77" fmla="*/ 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2" h="113">
                  <a:moveTo>
                    <a:pt x="132" y="6"/>
                  </a:moveTo>
                  <a:cubicBezTo>
                    <a:pt x="98" y="6"/>
                    <a:pt x="98" y="6"/>
                    <a:pt x="98" y="6"/>
                  </a:cubicBezTo>
                  <a:cubicBezTo>
                    <a:pt x="88" y="6"/>
                    <a:pt x="83" y="16"/>
                    <a:pt x="79" y="25"/>
                  </a:cubicBezTo>
                  <a:cubicBezTo>
                    <a:pt x="73" y="12"/>
                    <a:pt x="73" y="12"/>
                    <a:pt x="73" y="12"/>
                  </a:cubicBezTo>
                  <a:cubicBezTo>
                    <a:pt x="83" y="8"/>
                    <a:pt x="83" y="8"/>
                    <a:pt x="83" y="8"/>
                  </a:cubicBezTo>
                  <a:cubicBezTo>
                    <a:pt x="77" y="3"/>
                    <a:pt x="59" y="0"/>
                    <a:pt x="57" y="8"/>
                  </a:cubicBezTo>
                  <a:cubicBezTo>
                    <a:pt x="53" y="25"/>
                    <a:pt x="53" y="25"/>
                    <a:pt x="53" y="25"/>
                  </a:cubicBezTo>
                  <a:cubicBezTo>
                    <a:pt x="50" y="17"/>
                    <a:pt x="45" y="6"/>
                    <a:pt x="34" y="6"/>
                  </a:cubicBezTo>
                  <a:cubicBezTo>
                    <a:pt x="0" y="6"/>
                    <a:pt x="0" y="6"/>
                    <a:pt x="0" y="6"/>
                  </a:cubicBezTo>
                  <a:cubicBezTo>
                    <a:pt x="4" y="14"/>
                    <a:pt x="8" y="17"/>
                    <a:pt x="24" y="16"/>
                  </a:cubicBezTo>
                  <a:cubicBezTo>
                    <a:pt x="27" y="22"/>
                    <a:pt x="27" y="22"/>
                    <a:pt x="27" y="22"/>
                  </a:cubicBezTo>
                  <a:cubicBezTo>
                    <a:pt x="9" y="22"/>
                    <a:pt x="9" y="22"/>
                    <a:pt x="9" y="22"/>
                  </a:cubicBezTo>
                  <a:cubicBezTo>
                    <a:pt x="14" y="32"/>
                    <a:pt x="17" y="32"/>
                    <a:pt x="31" y="32"/>
                  </a:cubicBezTo>
                  <a:cubicBezTo>
                    <a:pt x="34" y="38"/>
                    <a:pt x="34" y="38"/>
                    <a:pt x="34" y="38"/>
                  </a:cubicBezTo>
                  <a:cubicBezTo>
                    <a:pt x="20" y="39"/>
                    <a:pt x="20" y="39"/>
                    <a:pt x="20" y="39"/>
                  </a:cubicBezTo>
                  <a:cubicBezTo>
                    <a:pt x="23" y="45"/>
                    <a:pt x="27" y="48"/>
                    <a:pt x="38" y="48"/>
                  </a:cubicBezTo>
                  <a:cubicBezTo>
                    <a:pt x="41" y="54"/>
                    <a:pt x="41" y="54"/>
                    <a:pt x="41" y="54"/>
                  </a:cubicBezTo>
                  <a:cubicBezTo>
                    <a:pt x="30" y="54"/>
                    <a:pt x="30" y="54"/>
                    <a:pt x="30" y="54"/>
                  </a:cubicBezTo>
                  <a:cubicBezTo>
                    <a:pt x="34" y="61"/>
                    <a:pt x="36" y="64"/>
                    <a:pt x="45" y="63"/>
                  </a:cubicBezTo>
                  <a:cubicBezTo>
                    <a:pt x="47" y="69"/>
                    <a:pt x="47" y="69"/>
                    <a:pt x="47" y="69"/>
                  </a:cubicBezTo>
                  <a:cubicBezTo>
                    <a:pt x="39" y="69"/>
                    <a:pt x="39" y="69"/>
                    <a:pt x="39" y="69"/>
                  </a:cubicBezTo>
                  <a:cubicBezTo>
                    <a:pt x="43" y="77"/>
                    <a:pt x="46" y="77"/>
                    <a:pt x="51" y="78"/>
                  </a:cubicBezTo>
                  <a:cubicBezTo>
                    <a:pt x="55" y="78"/>
                    <a:pt x="56" y="86"/>
                    <a:pt x="51" y="89"/>
                  </a:cubicBezTo>
                  <a:cubicBezTo>
                    <a:pt x="66" y="113"/>
                    <a:pt x="66" y="113"/>
                    <a:pt x="66" y="113"/>
                  </a:cubicBezTo>
                  <a:cubicBezTo>
                    <a:pt x="81" y="89"/>
                    <a:pt x="81" y="89"/>
                    <a:pt x="81" y="89"/>
                  </a:cubicBezTo>
                  <a:cubicBezTo>
                    <a:pt x="76" y="86"/>
                    <a:pt x="76" y="78"/>
                    <a:pt x="81" y="78"/>
                  </a:cubicBezTo>
                  <a:cubicBezTo>
                    <a:pt x="85" y="77"/>
                    <a:pt x="89" y="77"/>
                    <a:pt x="92" y="69"/>
                  </a:cubicBezTo>
                  <a:cubicBezTo>
                    <a:pt x="85" y="69"/>
                    <a:pt x="85" y="69"/>
                    <a:pt x="85" y="69"/>
                  </a:cubicBezTo>
                  <a:cubicBezTo>
                    <a:pt x="87" y="63"/>
                    <a:pt x="87" y="63"/>
                    <a:pt x="87" y="63"/>
                  </a:cubicBezTo>
                  <a:cubicBezTo>
                    <a:pt x="96" y="64"/>
                    <a:pt x="98" y="60"/>
                    <a:pt x="102" y="54"/>
                  </a:cubicBezTo>
                  <a:cubicBezTo>
                    <a:pt x="91" y="54"/>
                    <a:pt x="91" y="54"/>
                    <a:pt x="91" y="54"/>
                  </a:cubicBezTo>
                  <a:cubicBezTo>
                    <a:pt x="93" y="48"/>
                    <a:pt x="93" y="48"/>
                    <a:pt x="93" y="48"/>
                  </a:cubicBezTo>
                  <a:cubicBezTo>
                    <a:pt x="105" y="48"/>
                    <a:pt x="108" y="45"/>
                    <a:pt x="111" y="39"/>
                  </a:cubicBezTo>
                  <a:cubicBezTo>
                    <a:pt x="97" y="38"/>
                    <a:pt x="97" y="38"/>
                    <a:pt x="97" y="38"/>
                  </a:cubicBezTo>
                  <a:cubicBezTo>
                    <a:pt x="100" y="32"/>
                    <a:pt x="100" y="32"/>
                    <a:pt x="100" y="32"/>
                  </a:cubicBezTo>
                  <a:cubicBezTo>
                    <a:pt x="115" y="32"/>
                    <a:pt x="118" y="32"/>
                    <a:pt x="123" y="22"/>
                  </a:cubicBezTo>
                  <a:cubicBezTo>
                    <a:pt x="105" y="22"/>
                    <a:pt x="105" y="22"/>
                    <a:pt x="105" y="22"/>
                  </a:cubicBezTo>
                  <a:cubicBezTo>
                    <a:pt x="107" y="16"/>
                    <a:pt x="107" y="16"/>
                    <a:pt x="107" y="16"/>
                  </a:cubicBezTo>
                  <a:cubicBezTo>
                    <a:pt x="123" y="17"/>
                    <a:pt x="128" y="14"/>
                    <a:pt x="132" y="6"/>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39" name="Freeform 137">
              <a:extLst>
                <a:ext uri="{FF2B5EF4-FFF2-40B4-BE49-F238E27FC236}">
                  <a16:creationId xmlns:a16="http://schemas.microsoft.com/office/drawing/2014/main" id="{AF9575AE-AA40-4DF3-8FCC-2E1907B1E601}"/>
                </a:ext>
              </a:extLst>
            </p:cNvPr>
            <p:cNvSpPr>
              <a:spLocks noEditPoints="1"/>
            </p:cNvSpPr>
            <p:nvPr userDrawn="1"/>
          </p:nvSpPr>
          <p:spPr bwMode="auto">
            <a:xfrm>
              <a:off x="1214" y="757"/>
              <a:ext cx="64" cy="43"/>
            </a:xfrm>
            <a:custGeom>
              <a:avLst/>
              <a:gdLst>
                <a:gd name="T0" fmla="*/ 51 w 52"/>
                <a:gd name="T1" fmla="*/ 10 h 34"/>
                <a:gd name="T2" fmla="*/ 48 w 52"/>
                <a:gd name="T3" fmla="*/ 10 h 34"/>
                <a:gd name="T4" fmla="*/ 47 w 52"/>
                <a:gd name="T5" fmla="*/ 8 h 34"/>
                <a:gd name="T6" fmla="*/ 50 w 52"/>
                <a:gd name="T7" fmla="*/ 7 h 34"/>
                <a:gd name="T8" fmla="*/ 52 w 52"/>
                <a:gd name="T9" fmla="*/ 2 h 34"/>
                <a:gd name="T10" fmla="*/ 44 w 52"/>
                <a:gd name="T11" fmla="*/ 3 h 34"/>
                <a:gd name="T12" fmla="*/ 36 w 52"/>
                <a:gd name="T13" fmla="*/ 1 h 34"/>
                <a:gd name="T14" fmla="*/ 36 w 52"/>
                <a:gd name="T15" fmla="*/ 3 h 34"/>
                <a:gd name="T16" fmla="*/ 35 w 52"/>
                <a:gd name="T17" fmla="*/ 4 h 34"/>
                <a:gd name="T18" fmla="*/ 35 w 52"/>
                <a:gd name="T19" fmla="*/ 5 h 34"/>
                <a:gd name="T20" fmla="*/ 34 w 52"/>
                <a:gd name="T21" fmla="*/ 7 h 34"/>
                <a:gd name="T22" fmla="*/ 34 w 52"/>
                <a:gd name="T23" fmla="*/ 6 h 34"/>
                <a:gd name="T24" fmla="*/ 30 w 52"/>
                <a:gd name="T25" fmla="*/ 5 h 34"/>
                <a:gd name="T26" fmla="*/ 28 w 52"/>
                <a:gd name="T27" fmla="*/ 9 h 34"/>
                <a:gd name="T28" fmla="*/ 28 w 52"/>
                <a:gd name="T29" fmla="*/ 10 h 34"/>
                <a:gd name="T30" fmla="*/ 31 w 52"/>
                <a:gd name="T31" fmla="*/ 11 h 34"/>
                <a:gd name="T32" fmla="*/ 33 w 52"/>
                <a:gd name="T33" fmla="*/ 12 h 34"/>
                <a:gd name="T34" fmla="*/ 30 w 52"/>
                <a:gd name="T35" fmla="*/ 14 h 34"/>
                <a:gd name="T36" fmla="*/ 26 w 52"/>
                <a:gd name="T37" fmla="*/ 14 h 34"/>
                <a:gd name="T38" fmla="*/ 13 w 52"/>
                <a:gd name="T39" fmla="*/ 11 h 34"/>
                <a:gd name="T40" fmla="*/ 13 w 52"/>
                <a:gd name="T41" fmla="*/ 12 h 34"/>
                <a:gd name="T42" fmla="*/ 20 w 52"/>
                <a:gd name="T43" fmla="*/ 16 h 34"/>
                <a:gd name="T44" fmla="*/ 32 w 52"/>
                <a:gd name="T45" fmla="*/ 20 h 34"/>
                <a:gd name="T46" fmla="*/ 31 w 52"/>
                <a:gd name="T47" fmla="*/ 20 h 34"/>
                <a:gd name="T48" fmla="*/ 24 w 52"/>
                <a:gd name="T49" fmla="*/ 20 h 34"/>
                <a:gd name="T50" fmla="*/ 19 w 52"/>
                <a:gd name="T51" fmla="*/ 19 h 34"/>
                <a:gd name="T52" fmla="*/ 18 w 52"/>
                <a:gd name="T53" fmla="*/ 19 h 34"/>
                <a:gd name="T54" fmla="*/ 4 w 52"/>
                <a:gd name="T55" fmla="*/ 14 h 34"/>
                <a:gd name="T56" fmla="*/ 2 w 52"/>
                <a:gd name="T57" fmla="*/ 12 h 34"/>
                <a:gd name="T58" fmla="*/ 3 w 52"/>
                <a:gd name="T59" fmla="*/ 20 h 34"/>
                <a:gd name="T60" fmla="*/ 13 w 52"/>
                <a:gd name="T61" fmla="*/ 23 h 34"/>
                <a:gd name="T62" fmla="*/ 13 w 52"/>
                <a:gd name="T63" fmla="*/ 24 h 34"/>
                <a:gd name="T64" fmla="*/ 9 w 52"/>
                <a:gd name="T65" fmla="*/ 27 h 34"/>
                <a:gd name="T66" fmla="*/ 4 w 52"/>
                <a:gd name="T67" fmla="*/ 26 h 34"/>
                <a:gd name="T68" fmla="*/ 9 w 52"/>
                <a:gd name="T69" fmla="*/ 33 h 34"/>
                <a:gd name="T70" fmla="*/ 10 w 52"/>
                <a:gd name="T71" fmla="*/ 34 h 34"/>
                <a:gd name="T72" fmla="*/ 18 w 52"/>
                <a:gd name="T73" fmla="*/ 28 h 34"/>
                <a:gd name="T74" fmla="*/ 23 w 52"/>
                <a:gd name="T75" fmla="*/ 28 h 34"/>
                <a:gd name="T76" fmla="*/ 22 w 52"/>
                <a:gd name="T77" fmla="*/ 23 h 34"/>
                <a:gd name="T78" fmla="*/ 23 w 52"/>
                <a:gd name="T79" fmla="*/ 21 h 34"/>
                <a:gd name="T80" fmla="*/ 30 w 52"/>
                <a:gd name="T81" fmla="*/ 22 h 34"/>
                <a:gd name="T82" fmla="*/ 36 w 52"/>
                <a:gd name="T83" fmla="*/ 25 h 34"/>
                <a:gd name="T84" fmla="*/ 39 w 52"/>
                <a:gd name="T85" fmla="*/ 21 h 34"/>
                <a:gd name="T86" fmla="*/ 39 w 52"/>
                <a:gd name="T87" fmla="*/ 20 h 34"/>
                <a:gd name="T88" fmla="*/ 51 w 52"/>
                <a:gd name="T89" fmla="*/ 14 h 34"/>
                <a:gd name="T90" fmla="*/ 38 w 52"/>
                <a:gd name="T91" fmla="*/ 14 h 34"/>
                <a:gd name="T92" fmla="*/ 38 w 52"/>
                <a:gd name="T93" fmla="*/ 12 h 34"/>
                <a:gd name="T94" fmla="*/ 36 w 52"/>
                <a:gd name="T95" fmla="*/ 11 h 34"/>
                <a:gd name="T96" fmla="*/ 36 w 52"/>
                <a:gd name="T97" fmla="*/ 10 h 34"/>
                <a:gd name="T98" fmla="*/ 40 w 52"/>
                <a:gd name="T99" fmla="*/ 9 h 34"/>
                <a:gd name="T100" fmla="*/ 43 w 52"/>
                <a:gd name="T101" fmla="*/ 14 h 34"/>
                <a:gd name="T102" fmla="*/ 38 w 52"/>
                <a:gd name="T103" fmla="*/ 1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 h="34">
                  <a:moveTo>
                    <a:pt x="51" y="13"/>
                  </a:moveTo>
                  <a:cubicBezTo>
                    <a:pt x="51" y="12"/>
                    <a:pt x="51" y="12"/>
                    <a:pt x="51" y="12"/>
                  </a:cubicBezTo>
                  <a:cubicBezTo>
                    <a:pt x="51" y="11"/>
                    <a:pt x="51" y="11"/>
                    <a:pt x="51" y="10"/>
                  </a:cubicBezTo>
                  <a:cubicBezTo>
                    <a:pt x="51" y="10"/>
                    <a:pt x="50" y="10"/>
                    <a:pt x="50" y="10"/>
                  </a:cubicBezTo>
                  <a:cubicBezTo>
                    <a:pt x="49" y="10"/>
                    <a:pt x="49" y="10"/>
                    <a:pt x="49" y="10"/>
                  </a:cubicBezTo>
                  <a:cubicBezTo>
                    <a:pt x="48" y="10"/>
                    <a:pt x="48" y="10"/>
                    <a:pt x="48" y="10"/>
                  </a:cubicBezTo>
                  <a:cubicBezTo>
                    <a:pt x="48" y="9"/>
                    <a:pt x="48" y="9"/>
                    <a:pt x="48" y="9"/>
                  </a:cubicBezTo>
                  <a:cubicBezTo>
                    <a:pt x="48" y="9"/>
                    <a:pt x="48" y="9"/>
                    <a:pt x="48" y="9"/>
                  </a:cubicBezTo>
                  <a:cubicBezTo>
                    <a:pt x="47" y="8"/>
                    <a:pt x="47" y="8"/>
                    <a:pt x="47" y="8"/>
                  </a:cubicBezTo>
                  <a:cubicBezTo>
                    <a:pt x="47" y="8"/>
                    <a:pt x="47" y="8"/>
                    <a:pt x="47" y="8"/>
                  </a:cubicBezTo>
                  <a:cubicBezTo>
                    <a:pt x="48" y="8"/>
                    <a:pt x="48" y="8"/>
                    <a:pt x="48" y="8"/>
                  </a:cubicBezTo>
                  <a:cubicBezTo>
                    <a:pt x="48" y="7"/>
                    <a:pt x="49" y="7"/>
                    <a:pt x="50" y="7"/>
                  </a:cubicBezTo>
                  <a:cubicBezTo>
                    <a:pt x="50" y="7"/>
                    <a:pt x="50" y="7"/>
                    <a:pt x="50" y="7"/>
                  </a:cubicBezTo>
                  <a:cubicBezTo>
                    <a:pt x="50" y="7"/>
                    <a:pt x="50" y="7"/>
                    <a:pt x="50" y="7"/>
                  </a:cubicBezTo>
                  <a:cubicBezTo>
                    <a:pt x="51" y="6"/>
                    <a:pt x="52" y="4"/>
                    <a:pt x="52" y="2"/>
                  </a:cubicBezTo>
                  <a:cubicBezTo>
                    <a:pt x="52" y="2"/>
                    <a:pt x="51" y="2"/>
                    <a:pt x="50" y="2"/>
                  </a:cubicBezTo>
                  <a:cubicBezTo>
                    <a:pt x="49" y="2"/>
                    <a:pt x="48" y="2"/>
                    <a:pt x="46" y="3"/>
                  </a:cubicBezTo>
                  <a:cubicBezTo>
                    <a:pt x="46" y="3"/>
                    <a:pt x="45" y="3"/>
                    <a:pt x="44" y="3"/>
                  </a:cubicBezTo>
                  <a:cubicBezTo>
                    <a:pt x="43" y="3"/>
                    <a:pt x="43" y="3"/>
                    <a:pt x="43" y="3"/>
                  </a:cubicBezTo>
                  <a:cubicBezTo>
                    <a:pt x="41" y="2"/>
                    <a:pt x="41" y="2"/>
                    <a:pt x="36" y="0"/>
                  </a:cubicBezTo>
                  <a:cubicBezTo>
                    <a:pt x="36" y="0"/>
                    <a:pt x="36" y="0"/>
                    <a:pt x="36" y="1"/>
                  </a:cubicBezTo>
                  <a:cubicBezTo>
                    <a:pt x="35" y="1"/>
                    <a:pt x="35" y="2"/>
                    <a:pt x="36" y="3"/>
                  </a:cubicBezTo>
                  <a:cubicBezTo>
                    <a:pt x="36" y="3"/>
                    <a:pt x="36" y="3"/>
                    <a:pt x="36" y="3"/>
                  </a:cubicBezTo>
                  <a:cubicBezTo>
                    <a:pt x="36" y="3"/>
                    <a:pt x="36" y="3"/>
                    <a:pt x="36" y="3"/>
                  </a:cubicBezTo>
                  <a:cubicBezTo>
                    <a:pt x="36" y="3"/>
                    <a:pt x="36" y="3"/>
                    <a:pt x="36" y="3"/>
                  </a:cubicBezTo>
                  <a:cubicBezTo>
                    <a:pt x="35" y="4"/>
                    <a:pt x="35" y="4"/>
                    <a:pt x="35" y="4"/>
                  </a:cubicBezTo>
                  <a:cubicBezTo>
                    <a:pt x="35" y="4"/>
                    <a:pt x="35" y="4"/>
                    <a:pt x="35" y="4"/>
                  </a:cubicBezTo>
                  <a:cubicBezTo>
                    <a:pt x="35" y="4"/>
                    <a:pt x="35" y="4"/>
                    <a:pt x="35" y="4"/>
                  </a:cubicBezTo>
                  <a:cubicBezTo>
                    <a:pt x="35" y="4"/>
                    <a:pt x="35" y="4"/>
                    <a:pt x="35" y="4"/>
                  </a:cubicBezTo>
                  <a:cubicBezTo>
                    <a:pt x="35" y="4"/>
                    <a:pt x="35" y="5"/>
                    <a:pt x="35" y="5"/>
                  </a:cubicBezTo>
                  <a:cubicBezTo>
                    <a:pt x="35" y="5"/>
                    <a:pt x="35" y="5"/>
                    <a:pt x="35" y="5"/>
                  </a:cubicBezTo>
                  <a:cubicBezTo>
                    <a:pt x="35" y="6"/>
                    <a:pt x="35" y="6"/>
                    <a:pt x="35" y="6"/>
                  </a:cubicBezTo>
                  <a:cubicBezTo>
                    <a:pt x="34" y="7"/>
                    <a:pt x="34" y="7"/>
                    <a:pt x="34" y="7"/>
                  </a:cubicBezTo>
                  <a:cubicBezTo>
                    <a:pt x="34" y="7"/>
                    <a:pt x="34" y="7"/>
                    <a:pt x="34" y="7"/>
                  </a:cubicBezTo>
                  <a:cubicBezTo>
                    <a:pt x="34" y="7"/>
                    <a:pt x="34" y="7"/>
                    <a:pt x="34" y="7"/>
                  </a:cubicBezTo>
                  <a:cubicBezTo>
                    <a:pt x="34" y="6"/>
                    <a:pt x="34" y="6"/>
                    <a:pt x="34" y="6"/>
                  </a:cubicBezTo>
                  <a:cubicBezTo>
                    <a:pt x="33" y="6"/>
                    <a:pt x="33" y="6"/>
                    <a:pt x="32" y="5"/>
                  </a:cubicBezTo>
                  <a:cubicBezTo>
                    <a:pt x="32" y="5"/>
                    <a:pt x="32" y="5"/>
                    <a:pt x="32" y="5"/>
                  </a:cubicBezTo>
                  <a:cubicBezTo>
                    <a:pt x="31" y="5"/>
                    <a:pt x="31" y="5"/>
                    <a:pt x="30" y="5"/>
                  </a:cubicBezTo>
                  <a:cubicBezTo>
                    <a:pt x="30" y="6"/>
                    <a:pt x="30" y="6"/>
                    <a:pt x="30" y="6"/>
                  </a:cubicBezTo>
                  <a:cubicBezTo>
                    <a:pt x="30" y="7"/>
                    <a:pt x="30" y="7"/>
                    <a:pt x="30" y="7"/>
                  </a:cubicBezTo>
                  <a:cubicBezTo>
                    <a:pt x="30" y="7"/>
                    <a:pt x="30" y="8"/>
                    <a:pt x="28" y="9"/>
                  </a:cubicBezTo>
                  <a:cubicBezTo>
                    <a:pt x="27" y="8"/>
                    <a:pt x="27" y="8"/>
                    <a:pt x="27" y="8"/>
                  </a:cubicBezTo>
                  <a:cubicBezTo>
                    <a:pt x="26" y="8"/>
                    <a:pt x="26" y="9"/>
                    <a:pt x="26" y="9"/>
                  </a:cubicBezTo>
                  <a:cubicBezTo>
                    <a:pt x="26" y="10"/>
                    <a:pt x="26" y="10"/>
                    <a:pt x="28" y="10"/>
                  </a:cubicBezTo>
                  <a:cubicBezTo>
                    <a:pt x="29" y="10"/>
                    <a:pt x="29" y="11"/>
                    <a:pt x="30" y="11"/>
                  </a:cubicBezTo>
                  <a:cubicBezTo>
                    <a:pt x="30" y="11"/>
                    <a:pt x="30" y="11"/>
                    <a:pt x="30" y="11"/>
                  </a:cubicBezTo>
                  <a:cubicBezTo>
                    <a:pt x="31" y="11"/>
                    <a:pt x="31" y="11"/>
                    <a:pt x="31" y="11"/>
                  </a:cubicBezTo>
                  <a:cubicBezTo>
                    <a:pt x="32" y="11"/>
                    <a:pt x="32" y="11"/>
                    <a:pt x="32" y="11"/>
                  </a:cubicBezTo>
                  <a:cubicBezTo>
                    <a:pt x="33" y="11"/>
                    <a:pt x="33" y="11"/>
                    <a:pt x="33" y="11"/>
                  </a:cubicBezTo>
                  <a:cubicBezTo>
                    <a:pt x="33" y="12"/>
                    <a:pt x="33" y="12"/>
                    <a:pt x="33" y="12"/>
                  </a:cubicBezTo>
                  <a:cubicBezTo>
                    <a:pt x="31" y="12"/>
                    <a:pt x="31" y="12"/>
                    <a:pt x="31" y="12"/>
                  </a:cubicBezTo>
                  <a:cubicBezTo>
                    <a:pt x="31" y="12"/>
                    <a:pt x="31" y="13"/>
                    <a:pt x="30" y="13"/>
                  </a:cubicBezTo>
                  <a:cubicBezTo>
                    <a:pt x="30" y="14"/>
                    <a:pt x="30" y="14"/>
                    <a:pt x="30" y="14"/>
                  </a:cubicBezTo>
                  <a:cubicBezTo>
                    <a:pt x="29" y="15"/>
                    <a:pt x="29" y="15"/>
                    <a:pt x="29" y="15"/>
                  </a:cubicBezTo>
                  <a:cubicBezTo>
                    <a:pt x="29" y="14"/>
                    <a:pt x="29" y="14"/>
                    <a:pt x="29" y="14"/>
                  </a:cubicBezTo>
                  <a:cubicBezTo>
                    <a:pt x="28" y="14"/>
                    <a:pt x="27" y="14"/>
                    <a:pt x="26" y="14"/>
                  </a:cubicBezTo>
                  <a:cubicBezTo>
                    <a:pt x="24" y="13"/>
                    <a:pt x="24" y="13"/>
                    <a:pt x="24" y="13"/>
                  </a:cubicBezTo>
                  <a:cubicBezTo>
                    <a:pt x="22" y="13"/>
                    <a:pt x="18" y="12"/>
                    <a:pt x="15" y="11"/>
                  </a:cubicBezTo>
                  <a:cubicBezTo>
                    <a:pt x="15" y="11"/>
                    <a:pt x="14" y="11"/>
                    <a:pt x="13" y="11"/>
                  </a:cubicBezTo>
                  <a:cubicBezTo>
                    <a:pt x="12" y="10"/>
                    <a:pt x="12" y="10"/>
                    <a:pt x="12" y="10"/>
                  </a:cubicBezTo>
                  <a:cubicBezTo>
                    <a:pt x="11" y="11"/>
                    <a:pt x="11" y="11"/>
                    <a:pt x="11" y="11"/>
                  </a:cubicBezTo>
                  <a:cubicBezTo>
                    <a:pt x="12" y="11"/>
                    <a:pt x="12" y="12"/>
                    <a:pt x="13" y="12"/>
                  </a:cubicBezTo>
                  <a:cubicBezTo>
                    <a:pt x="13" y="12"/>
                    <a:pt x="13" y="12"/>
                    <a:pt x="13" y="12"/>
                  </a:cubicBezTo>
                  <a:cubicBezTo>
                    <a:pt x="14" y="13"/>
                    <a:pt x="14" y="15"/>
                    <a:pt x="16" y="16"/>
                  </a:cubicBezTo>
                  <a:cubicBezTo>
                    <a:pt x="17" y="16"/>
                    <a:pt x="18" y="16"/>
                    <a:pt x="20" y="16"/>
                  </a:cubicBezTo>
                  <a:cubicBezTo>
                    <a:pt x="23" y="16"/>
                    <a:pt x="28" y="17"/>
                    <a:pt x="31" y="19"/>
                  </a:cubicBezTo>
                  <a:cubicBezTo>
                    <a:pt x="32" y="20"/>
                    <a:pt x="32" y="20"/>
                    <a:pt x="32" y="20"/>
                  </a:cubicBezTo>
                  <a:cubicBezTo>
                    <a:pt x="32" y="20"/>
                    <a:pt x="32" y="20"/>
                    <a:pt x="32" y="20"/>
                  </a:cubicBezTo>
                  <a:cubicBezTo>
                    <a:pt x="32" y="20"/>
                    <a:pt x="32" y="20"/>
                    <a:pt x="32" y="20"/>
                  </a:cubicBezTo>
                  <a:cubicBezTo>
                    <a:pt x="32" y="20"/>
                    <a:pt x="32" y="20"/>
                    <a:pt x="32" y="20"/>
                  </a:cubicBezTo>
                  <a:cubicBezTo>
                    <a:pt x="31" y="20"/>
                    <a:pt x="31" y="20"/>
                    <a:pt x="31" y="20"/>
                  </a:cubicBezTo>
                  <a:cubicBezTo>
                    <a:pt x="30" y="20"/>
                    <a:pt x="30" y="21"/>
                    <a:pt x="30" y="21"/>
                  </a:cubicBezTo>
                  <a:cubicBezTo>
                    <a:pt x="29" y="21"/>
                    <a:pt x="29" y="21"/>
                    <a:pt x="29" y="21"/>
                  </a:cubicBezTo>
                  <a:cubicBezTo>
                    <a:pt x="26" y="20"/>
                    <a:pt x="26" y="20"/>
                    <a:pt x="24" y="20"/>
                  </a:cubicBezTo>
                  <a:cubicBezTo>
                    <a:pt x="23" y="19"/>
                    <a:pt x="22" y="18"/>
                    <a:pt x="21" y="18"/>
                  </a:cubicBezTo>
                  <a:cubicBezTo>
                    <a:pt x="21" y="18"/>
                    <a:pt x="20" y="19"/>
                    <a:pt x="19" y="19"/>
                  </a:cubicBezTo>
                  <a:cubicBezTo>
                    <a:pt x="19" y="19"/>
                    <a:pt x="19" y="19"/>
                    <a:pt x="19" y="19"/>
                  </a:cubicBezTo>
                  <a:cubicBezTo>
                    <a:pt x="19" y="19"/>
                    <a:pt x="19" y="19"/>
                    <a:pt x="19" y="19"/>
                  </a:cubicBezTo>
                  <a:cubicBezTo>
                    <a:pt x="19" y="20"/>
                    <a:pt x="19" y="20"/>
                    <a:pt x="19" y="20"/>
                  </a:cubicBezTo>
                  <a:cubicBezTo>
                    <a:pt x="18" y="19"/>
                    <a:pt x="18" y="19"/>
                    <a:pt x="18" y="19"/>
                  </a:cubicBezTo>
                  <a:cubicBezTo>
                    <a:pt x="18" y="19"/>
                    <a:pt x="18" y="19"/>
                    <a:pt x="17" y="19"/>
                  </a:cubicBezTo>
                  <a:cubicBezTo>
                    <a:pt x="16" y="19"/>
                    <a:pt x="15" y="18"/>
                    <a:pt x="14" y="18"/>
                  </a:cubicBezTo>
                  <a:cubicBezTo>
                    <a:pt x="10" y="17"/>
                    <a:pt x="7" y="16"/>
                    <a:pt x="4" y="14"/>
                  </a:cubicBezTo>
                  <a:cubicBezTo>
                    <a:pt x="3" y="13"/>
                    <a:pt x="3" y="13"/>
                    <a:pt x="2" y="12"/>
                  </a:cubicBezTo>
                  <a:cubicBezTo>
                    <a:pt x="2" y="12"/>
                    <a:pt x="2" y="12"/>
                    <a:pt x="2" y="12"/>
                  </a:cubicBezTo>
                  <a:cubicBezTo>
                    <a:pt x="2" y="12"/>
                    <a:pt x="2" y="12"/>
                    <a:pt x="2" y="12"/>
                  </a:cubicBezTo>
                  <a:cubicBezTo>
                    <a:pt x="2" y="11"/>
                    <a:pt x="2" y="11"/>
                    <a:pt x="2" y="11"/>
                  </a:cubicBezTo>
                  <a:cubicBezTo>
                    <a:pt x="1" y="11"/>
                    <a:pt x="1" y="12"/>
                    <a:pt x="0" y="12"/>
                  </a:cubicBezTo>
                  <a:cubicBezTo>
                    <a:pt x="0" y="14"/>
                    <a:pt x="2" y="19"/>
                    <a:pt x="3" y="20"/>
                  </a:cubicBezTo>
                  <a:cubicBezTo>
                    <a:pt x="4" y="20"/>
                    <a:pt x="5" y="21"/>
                    <a:pt x="6" y="21"/>
                  </a:cubicBezTo>
                  <a:cubicBezTo>
                    <a:pt x="8" y="21"/>
                    <a:pt x="11" y="22"/>
                    <a:pt x="12" y="23"/>
                  </a:cubicBezTo>
                  <a:cubicBezTo>
                    <a:pt x="13" y="23"/>
                    <a:pt x="13" y="23"/>
                    <a:pt x="13" y="23"/>
                  </a:cubicBezTo>
                  <a:cubicBezTo>
                    <a:pt x="13" y="23"/>
                    <a:pt x="13" y="23"/>
                    <a:pt x="13" y="23"/>
                  </a:cubicBezTo>
                  <a:cubicBezTo>
                    <a:pt x="13" y="23"/>
                    <a:pt x="13" y="23"/>
                    <a:pt x="13" y="23"/>
                  </a:cubicBezTo>
                  <a:cubicBezTo>
                    <a:pt x="13" y="24"/>
                    <a:pt x="13" y="24"/>
                    <a:pt x="13" y="24"/>
                  </a:cubicBezTo>
                  <a:cubicBezTo>
                    <a:pt x="12" y="25"/>
                    <a:pt x="11" y="26"/>
                    <a:pt x="10" y="26"/>
                  </a:cubicBezTo>
                  <a:cubicBezTo>
                    <a:pt x="10" y="27"/>
                    <a:pt x="10" y="27"/>
                    <a:pt x="10" y="27"/>
                  </a:cubicBezTo>
                  <a:cubicBezTo>
                    <a:pt x="10" y="27"/>
                    <a:pt x="9" y="27"/>
                    <a:pt x="9" y="27"/>
                  </a:cubicBezTo>
                  <a:cubicBezTo>
                    <a:pt x="9" y="27"/>
                    <a:pt x="9" y="27"/>
                    <a:pt x="9" y="27"/>
                  </a:cubicBezTo>
                  <a:cubicBezTo>
                    <a:pt x="9" y="28"/>
                    <a:pt x="8" y="28"/>
                    <a:pt x="8" y="28"/>
                  </a:cubicBezTo>
                  <a:cubicBezTo>
                    <a:pt x="7" y="28"/>
                    <a:pt x="5" y="27"/>
                    <a:pt x="4" y="26"/>
                  </a:cubicBezTo>
                  <a:cubicBezTo>
                    <a:pt x="4" y="26"/>
                    <a:pt x="3" y="26"/>
                    <a:pt x="3" y="26"/>
                  </a:cubicBezTo>
                  <a:cubicBezTo>
                    <a:pt x="3" y="26"/>
                    <a:pt x="3" y="26"/>
                    <a:pt x="3" y="26"/>
                  </a:cubicBezTo>
                  <a:cubicBezTo>
                    <a:pt x="4" y="29"/>
                    <a:pt x="6" y="31"/>
                    <a:pt x="9" y="33"/>
                  </a:cubicBezTo>
                  <a:cubicBezTo>
                    <a:pt x="9" y="34"/>
                    <a:pt x="9" y="34"/>
                    <a:pt x="9" y="34"/>
                  </a:cubicBezTo>
                  <a:cubicBezTo>
                    <a:pt x="10" y="34"/>
                    <a:pt x="10" y="34"/>
                    <a:pt x="10" y="34"/>
                  </a:cubicBezTo>
                  <a:cubicBezTo>
                    <a:pt x="10" y="34"/>
                    <a:pt x="10" y="34"/>
                    <a:pt x="10" y="34"/>
                  </a:cubicBezTo>
                  <a:cubicBezTo>
                    <a:pt x="12" y="34"/>
                    <a:pt x="15" y="31"/>
                    <a:pt x="16" y="29"/>
                  </a:cubicBezTo>
                  <a:cubicBezTo>
                    <a:pt x="16" y="29"/>
                    <a:pt x="17" y="28"/>
                    <a:pt x="17" y="28"/>
                  </a:cubicBezTo>
                  <a:cubicBezTo>
                    <a:pt x="18" y="28"/>
                    <a:pt x="18" y="28"/>
                    <a:pt x="18" y="28"/>
                  </a:cubicBezTo>
                  <a:cubicBezTo>
                    <a:pt x="19" y="27"/>
                    <a:pt x="19" y="27"/>
                    <a:pt x="19" y="27"/>
                  </a:cubicBezTo>
                  <a:cubicBezTo>
                    <a:pt x="19" y="27"/>
                    <a:pt x="19" y="27"/>
                    <a:pt x="19" y="27"/>
                  </a:cubicBezTo>
                  <a:cubicBezTo>
                    <a:pt x="21" y="27"/>
                    <a:pt x="22" y="27"/>
                    <a:pt x="23" y="28"/>
                  </a:cubicBezTo>
                  <a:cubicBezTo>
                    <a:pt x="24" y="28"/>
                    <a:pt x="25" y="26"/>
                    <a:pt x="25" y="25"/>
                  </a:cubicBezTo>
                  <a:cubicBezTo>
                    <a:pt x="25" y="25"/>
                    <a:pt x="25" y="25"/>
                    <a:pt x="25" y="25"/>
                  </a:cubicBezTo>
                  <a:cubicBezTo>
                    <a:pt x="24" y="24"/>
                    <a:pt x="23" y="23"/>
                    <a:pt x="22" y="23"/>
                  </a:cubicBezTo>
                  <a:cubicBezTo>
                    <a:pt x="22" y="23"/>
                    <a:pt x="22" y="23"/>
                    <a:pt x="22" y="23"/>
                  </a:cubicBezTo>
                  <a:cubicBezTo>
                    <a:pt x="22" y="22"/>
                    <a:pt x="22" y="22"/>
                    <a:pt x="22" y="22"/>
                  </a:cubicBezTo>
                  <a:cubicBezTo>
                    <a:pt x="23" y="21"/>
                    <a:pt x="23" y="21"/>
                    <a:pt x="23" y="21"/>
                  </a:cubicBezTo>
                  <a:cubicBezTo>
                    <a:pt x="23" y="20"/>
                    <a:pt x="23" y="20"/>
                    <a:pt x="23" y="20"/>
                  </a:cubicBezTo>
                  <a:cubicBezTo>
                    <a:pt x="24" y="20"/>
                    <a:pt x="24" y="20"/>
                    <a:pt x="24" y="20"/>
                  </a:cubicBezTo>
                  <a:cubicBezTo>
                    <a:pt x="26" y="21"/>
                    <a:pt x="28" y="22"/>
                    <a:pt x="30" y="22"/>
                  </a:cubicBezTo>
                  <a:cubicBezTo>
                    <a:pt x="32" y="23"/>
                    <a:pt x="32" y="23"/>
                    <a:pt x="32" y="23"/>
                  </a:cubicBezTo>
                  <a:cubicBezTo>
                    <a:pt x="33" y="23"/>
                    <a:pt x="33" y="23"/>
                    <a:pt x="33" y="23"/>
                  </a:cubicBezTo>
                  <a:cubicBezTo>
                    <a:pt x="34" y="24"/>
                    <a:pt x="35" y="25"/>
                    <a:pt x="36" y="25"/>
                  </a:cubicBezTo>
                  <a:cubicBezTo>
                    <a:pt x="36" y="25"/>
                    <a:pt x="37" y="25"/>
                    <a:pt x="37" y="25"/>
                  </a:cubicBezTo>
                  <a:cubicBezTo>
                    <a:pt x="38" y="23"/>
                    <a:pt x="39" y="22"/>
                    <a:pt x="39" y="21"/>
                  </a:cubicBezTo>
                  <a:cubicBezTo>
                    <a:pt x="39" y="21"/>
                    <a:pt x="39" y="21"/>
                    <a:pt x="39" y="21"/>
                  </a:cubicBezTo>
                  <a:cubicBezTo>
                    <a:pt x="39" y="21"/>
                    <a:pt x="40" y="21"/>
                    <a:pt x="40" y="21"/>
                  </a:cubicBezTo>
                  <a:cubicBezTo>
                    <a:pt x="39" y="21"/>
                    <a:pt x="39" y="21"/>
                    <a:pt x="39" y="21"/>
                  </a:cubicBezTo>
                  <a:cubicBezTo>
                    <a:pt x="39" y="20"/>
                    <a:pt x="39" y="20"/>
                    <a:pt x="39" y="20"/>
                  </a:cubicBezTo>
                  <a:cubicBezTo>
                    <a:pt x="39" y="20"/>
                    <a:pt x="40" y="20"/>
                    <a:pt x="40" y="20"/>
                  </a:cubicBezTo>
                  <a:cubicBezTo>
                    <a:pt x="43" y="19"/>
                    <a:pt x="47" y="17"/>
                    <a:pt x="50" y="16"/>
                  </a:cubicBezTo>
                  <a:cubicBezTo>
                    <a:pt x="51" y="15"/>
                    <a:pt x="52" y="15"/>
                    <a:pt x="51" y="14"/>
                  </a:cubicBezTo>
                  <a:cubicBezTo>
                    <a:pt x="51" y="13"/>
                    <a:pt x="51" y="13"/>
                    <a:pt x="51" y="13"/>
                  </a:cubicBezTo>
                  <a:moveTo>
                    <a:pt x="37" y="15"/>
                  </a:moveTo>
                  <a:cubicBezTo>
                    <a:pt x="38" y="14"/>
                    <a:pt x="38" y="14"/>
                    <a:pt x="38" y="14"/>
                  </a:cubicBezTo>
                  <a:cubicBezTo>
                    <a:pt x="39" y="13"/>
                    <a:pt x="39" y="13"/>
                    <a:pt x="39" y="13"/>
                  </a:cubicBezTo>
                  <a:cubicBezTo>
                    <a:pt x="39" y="13"/>
                    <a:pt x="39" y="12"/>
                    <a:pt x="38" y="12"/>
                  </a:cubicBezTo>
                  <a:cubicBezTo>
                    <a:pt x="38" y="12"/>
                    <a:pt x="38" y="12"/>
                    <a:pt x="38" y="12"/>
                  </a:cubicBezTo>
                  <a:cubicBezTo>
                    <a:pt x="38" y="12"/>
                    <a:pt x="38" y="12"/>
                    <a:pt x="38" y="12"/>
                  </a:cubicBezTo>
                  <a:cubicBezTo>
                    <a:pt x="37" y="12"/>
                    <a:pt x="37" y="12"/>
                    <a:pt x="37" y="12"/>
                  </a:cubicBezTo>
                  <a:cubicBezTo>
                    <a:pt x="36" y="11"/>
                    <a:pt x="36" y="11"/>
                    <a:pt x="36" y="11"/>
                  </a:cubicBezTo>
                  <a:cubicBezTo>
                    <a:pt x="36" y="11"/>
                    <a:pt x="36" y="11"/>
                    <a:pt x="36" y="11"/>
                  </a:cubicBezTo>
                  <a:cubicBezTo>
                    <a:pt x="37" y="10"/>
                    <a:pt x="37" y="10"/>
                    <a:pt x="37" y="10"/>
                  </a:cubicBezTo>
                  <a:cubicBezTo>
                    <a:pt x="36" y="10"/>
                    <a:pt x="36" y="10"/>
                    <a:pt x="36" y="10"/>
                  </a:cubicBezTo>
                  <a:cubicBezTo>
                    <a:pt x="37" y="10"/>
                    <a:pt x="37" y="10"/>
                    <a:pt x="37" y="10"/>
                  </a:cubicBezTo>
                  <a:cubicBezTo>
                    <a:pt x="40" y="9"/>
                    <a:pt x="40" y="9"/>
                    <a:pt x="40" y="9"/>
                  </a:cubicBezTo>
                  <a:cubicBezTo>
                    <a:pt x="40" y="9"/>
                    <a:pt x="40" y="9"/>
                    <a:pt x="40" y="9"/>
                  </a:cubicBezTo>
                  <a:cubicBezTo>
                    <a:pt x="41" y="9"/>
                    <a:pt x="41" y="9"/>
                    <a:pt x="41" y="9"/>
                  </a:cubicBezTo>
                  <a:cubicBezTo>
                    <a:pt x="41" y="10"/>
                    <a:pt x="43" y="11"/>
                    <a:pt x="43" y="13"/>
                  </a:cubicBezTo>
                  <a:cubicBezTo>
                    <a:pt x="43" y="14"/>
                    <a:pt x="43" y="14"/>
                    <a:pt x="43" y="14"/>
                  </a:cubicBezTo>
                  <a:cubicBezTo>
                    <a:pt x="42" y="15"/>
                    <a:pt x="40" y="16"/>
                    <a:pt x="38" y="16"/>
                  </a:cubicBezTo>
                  <a:cubicBezTo>
                    <a:pt x="38" y="16"/>
                    <a:pt x="38" y="16"/>
                    <a:pt x="38" y="16"/>
                  </a:cubicBezTo>
                  <a:cubicBezTo>
                    <a:pt x="38" y="15"/>
                    <a:pt x="38" y="15"/>
                    <a:pt x="38" y="15"/>
                  </a:cubicBezTo>
                  <a:cubicBezTo>
                    <a:pt x="37" y="15"/>
                    <a:pt x="37" y="15"/>
                    <a:pt x="37" y="15"/>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40" name="Freeform 138">
              <a:extLst>
                <a:ext uri="{FF2B5EF4-FFF2-40B4-BE49-F238E27FC236}">
                  <a16:creationId xmlns:a16="http://schemas.microsoft.com/office/drawing/2014/main" id="{8C6EB293-1785-4387-A911-A04366190EC6}"/>
                </a:ext>
              </a:extLst>
            </p:cNvPr>
            <p:cNvSpPr>
              <a:spLocks/>
            </p:cNvSpPr>
            <p:nvPr userDrawn="1"/>
          </p:nvSpPr>
          <p:spPr bwMode="auto">
            <a:xfrm>
              <a:off x="1239" y="750"/>
              <a:ext cx="10" cy="19"/>
            </a:xfrm>
            <a:custGeom>
              <a:avLst/>
              <a:gdLst>
                <a:gd name="T0" fmla="*/ 2 w 8"/>
                <a:gd name="T1" fmla="*/ 15 h 15"/>
                <a:gd name="T2" fmla="*/ 0 w 8"/>
                <a:gd name="T3" fmla="*/ 14 h 15"/>
                <a:gd name="T4" fmla="*/ 2 w 8"/>
                <a:gd name="T5" fmla="*/ 9 h 15"/>
                <a:gd name="T6" fmla="*/ 3 w 8"/>
                <a:gd name="T7" fmla="*/ 8 h 15"/>
                <a:gd name="T8" fmla="*/ 3 w 8"/>
                <a:gd name="T9" fmla="*/ 8 h 15"/>
                <a:gd name="T10" fmla="*/ 3 w 8"/>
                <a:gd name="T11" fmla="*/ 7 h 15"/>
                <a:gd name="T12" fmla="*/ 4 w 8"/>
                <a:gd name="T13" fmla="*/ 5 h 15"/>
                <a:gd name="T14" fmla="*/ 5 w 8"/>
                <a:gd name="T15" fmla="*/ 4 h 15"/>
                <a:gd name="T16" fmla="*/ 7 w 8"/>
                <a:gd name="T17" fmla="*/ 0 h 15"/>
                <a:gd name="T18" fmla="*/ 8 w 8"/>
                <a:gd name="T19" fmla="*/ 1 h 15"/>
                <a:gd name="T20" fmla="*/ 8 w 8"/>
                <a:gd name="T21" fmla="*/ 2 h 15"/>
                <a:gd name="T22" fmla="*/ 8 w 8"/>
                <a:gd name="T23" fmla="*/ 2 h 15"/>
                <a:gd name="T24" fmla="*/ 8 w 8"/>
                <a:gd name="T25" fmla="*/ 3 h 15"/>
                <a:gd name="T26" fmla="*/ 8 w 8"/>
                <a:gd name="T27" fmla="*/ 7 h 15"/>
                <a:gd name="T28" fmla="*/ 8 w 8"/>
                <a:gd name="T29" fmla="*/ 8 h 15"/>
                <a:gd name="T30" fmla="*/ 8 w 8"/>
                <a:gd name="T31" fmla="*/ 9 h 15"/>
                <a:gd name="T32" fmla="*/ 6 w 8"/>
                <a:gd name="T33" fmla="*/ 13 h 15"/>
                <a:gd name="T34" fmla="*/ 5 w 8"/>
                <a:gd name="T35" fmla="*/ 14 h 15"/>
                <a:gd name="T36" fmla="*/ 5 w 8"/>
                <a:gd name="T37" fmla="*/ 14 h 15"/>
                <a:gd name="T38" fmla="*/ 3 w 8"/>
                <a:gd name="T39" fmla="*/ 15 h 15"/>
                <a:gd name="T40" fmla="*/ 2 w 8"/>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 h="15">
                  <a:moveTo>
                    <a:pt x="2" y="15"/>
                  </a:moveTo>
                  <a:cubicBezTo>
                    <a:pt x="2" y="15"/>
                    <a:pt x="1" y="14"/>
                    <a:pt x="0" y="14"/>
                  </a:cubicBezTo>
                  <a:cubicBezTo>
                    <a:pt x="0" y="12"/>
                    <a:pt x="1" y="11"/>
                    <a:pt x="2" y="9"/>
                  </a:cubicBezTo>
                  <a:cubicBezTo>
                    <a:pt x="2" y="9"/>
                    <a:pt x="3" y="8"/>
                    <a:pt x="3" y="8"/>
                  </a:cubicBezTo>
                  <a:cubicBezTo>
                    <a:pt x="3" y="8"/>
                    <a:pt x="3" y="8"/>
                    <a:pt x="3" y="8"/>
                  </a:cubicBezTo>
                  <a:cubicBezTo>
                    <a:pt x="3" y="7"/>
                    <a:pt x="3" y="7"/>
                    <a:pt x="3" y="7"/>
                  </a:cubicBezTo>
                  <a:cubicBezTo>
                    <a:pt x="4" y="7"/>
                    <a:pt x="4" y="6"/>
                    <a:pt x="4" y="5"/>
                  </a:cubicBezTo>
                  <a:cubicBezTo>
                    <a:pt x="4" y="5"/>
                    <a:pt x="4" y="4"/>
                    <a:pt x="5" y="4"/>
                  </a:cubicBezTo>
                  <a:cubicBezTo>
                    <a:pt x="5" y="2"/>
                    <a:pt x="6" y="0"/>
                    <a:pt x="7" y="0"/>
                  </a:cubicBezTo>
                  <a:cubicBezTo>
                    <a:pt x="7" y="0"/>
                    <a:pt x="8" y="0"/>
                    <a:pt x="8" y="1"/>
                  </a:cubicBezTo>
                  <a:cubicBezTo>
                    <a:pt x="8" y="1"/>
                    <a:pt x="8" y="1"/>
                    <a:pt x="8" y="2"/>
                  </a:cubicBezTo>
                  <a:cubicBezTo>
                    <a:pt x="8" y="2"/>
                    <a:pt x="8" y="2"/>
                    <a:pt x="8" y="2"/>
                  </a:cubicBezTo>
                  <a:cubicBezTo>
                    <a:pt x="8" y="3"/>
                    <a:pt x="8" y="3"/>
                    <a:pt x="8" y="3"/>
                  </a:cubicBezTo>
                  <a:cubicBezTo>
                    <a:pt x="8" y="5"/>
                    <a:pt x="8" y="6"/>
                    <a:pt x="8" y="7"/>
                  </a:cubicBezTo>
                  <a:cubicBezTo>
                    <a:pt x="8" y="8"/>
                    <a:pt x="8" y="8"/>
                    <a:pt x="8" y="8"/>
                  </a:cubicBezTo>
                  <a:cubicBezTo>
                    <a:pt x="8" y="8"/>
                    <a:pt x="8" y="9"/>
                    <a:pt x="8" y="9"/>
                  </a:cubicBezTo>
                  <a:cubicBezTo>
                    <a:pt x="7" y="11"/>
                    <a:pt x="7" y="12"/>
                    <a:pt x="6" y="13"/>
                  </a:cubicBezTo>
                  <a:cubicBezTo>
                    <a:pt x="5" y="14"/>
                    <a:pt x="5" y="14"/>
                    <a:pt x="5" y="14"/>
                  </a:cubicBezTo>
                  <a:cubicBezTo>
                    <a:pt x="5" y="14"/>
                    <a:pt x="5" y="14"/>
                    <a:pt x="5" y="14"/>
                  </a:cubicBezTo>
                  <a:cubicBezTo>
                    <a:pt x="4" y="14"/>
                    <a:pt x="3" y="15"/>
                    <a:pt x="3" y="15"/>
                  </a:cubicBezTo>
                  <a:lnTo>
                    <a:pt x="2" y="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41" name="Freeform 139">
              <a:extLst>
                <a:ext uri="{FF2B5EF4-FFF2-40B4-BE49-F238E27FC236}">
                  <a16:creationId xmlns:a16="http://schemas.microsoft.com/office/drawing/2014/main" id="{EBE5A59B-46BA-437F-AC44-4C90B0932C57}"/>
                </a:ext>
              </a:extLst>
            </p:cNvPr>
            <p:cNvSpPr>
              <a:spLocks/>
            </p:cNvSpPr>
            <p:nvPr userDrawn="1"/>
          </p:nvSpPr>
          <p:spPr bwMode="auto">
            <a:xfrm>
              <a:off x="1239" y="750"/>
              <a:ext cx="10" cy="19"/>
            </a:xfrm>
            <a:custGeom>
              <a:avLst/>
              <a:gdLst>
                <a:gd name="T0" fmla="*/ 2 w 8"/>
                <a:gd name="T1" fmla="*/ 15 h 15"/>
                <a:gd name="T2" fmla="*/ 3 w 8"/>
                <a:gd name="T3" fmla="*/ 15 h 15"/>
                <a:gd name="T4" fmla="*/ 5 w 8"/>
                <a:gd name="T5" fmla="*/ 14 h 15"/>
                <a:gd name="T6" fmla="*/ 5 w 8"/>
                <a:gd name="T7" fmla="*/ 14 h 15"/>
                <a:gd name="T8" fmla="*/ 6 w 8"/>
                <a:gd name="T9" fmla="*/ 13 h 15"/>
                <a:gd name="T10" fmla="*/ 8 w 8"/>
                <a:gd name="T11" fmla="*/ 9 h 15"/>
                <a:gd name="T12" fmla="*/ 8 w 8"/>
                <a:gd name="T13" fmla="*/ 8 h 15"/>
                <a:gd name="T14" fmla="*/ 8 w 8"/>
                <a:gd name="T15" fmla="*/ 7 h 15"/>
                <a:gd name="T16" fmla="*/ 8 w 8"/>
                <a:gd name="T17" fmla="*/ 3 h 15"/>
                <a:gd name="T18" fmla="*/ 8 w 8"/>
                <a:gd name="T19" fmla="*/ 2 h 15"/>
                <a:gd name="T20" fmla="*/ 8 w 8"/>
                <a:gd name="T21" fmla="*/ 2 h 15"/>
                <a:gd name="T22" fmla="*/ 8 w 8"/>
                <a:gd name="T23" fmla="*/ 2 h 15"/>
                <a:gd name="T24" fmla="*/ 8 w 8"/>
                <a:gd name="T25" fmla="*/ 1 h 15"/>
                <a:gd name="T26" fmla="*/ 7 w 8"/>
                <a:gd name="T27" fmla="*/ 0 h 15"/>
                <a:gd name="T28" fmla="*/ 5 w 8"/>
                <a:gd name="T29" fmla="*/ 4 h 15"/>
                <a:gd name="T30" fmla="*/ 4 w 8"/>
                <a:gd name="T31" fmla="*/ 5 h 15"/>
                <a:gd name="T32" fmla="*/ 3 w 8"/>
                <a:gd name="T33" fmla="*/ 7 h 15"/>
                <a:gd name="T34" fmla="*/ 3 w 8"/>
                <a:gd name="T35" fmla="*/ 8 h 15"/>
                <a:gd name="T36" fmla="*/ 3 w 8"/>
                <a:gd name="T37" fmla="*/ 8 h 15"/>
                <a:gd name="T38" fmla="*/ 2 w 8"/>
                <a:gd name="T39" fmla="*/ 9 h 15"/>
                <a:gd name="T40" fmla="*/ 0 w 8"/>
                <a:gd name="T41" fmla="*/ 14 h 15"/>
                <a:gd name="T42" fmla="*/ 2 w 8"/>
                <a:gd name="T43"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 h="15">
                  <a:moveTo>
                    <a:pt x="2" y="15"/>
                  </a:moveTo>
                  <a:cubicBezTo>
                    <a:pt x="3" y="15"/>
                    <a:pt x="3" y="15"/>
                    <a:pt x="3" y="15"/>
                  </a:cubicBezTo>
                  <a:cubicBezTo>
                    <a:pt x="3" y="15"/>
                    <a:pt x="4" y="14"/>
                    <a:pt x="5" y="14"/>
                  </a:cubicBezTo>
                  <a:cubicBezTo>
                    <a:pt x="5" y="14"/>
                    <a:pt x="5" y="14"/>
                    <a:pt x="5" y="14"/>
                  </a:cubicBezTo>
                  <a:cubicBezTo>
                    <a:pt x="6" y="13"/>
                    <a:pt x="6" y="13"/>
                    <a:pt x="6" y="13"/>
                  </a:cubicBezTo>
                  <a:cubicBezTo>
                    <a:pt x="7" y="12"/>
                    <a:pt x="7" y="10"/>
                    <a:pt x="8" y="9"/>
                  </a:cubicBezTo>
                  <a:cubicBezTo>
                    <a:pt x="8" y="9"/>
                    <a:pt x="8" y="8"/>
                    <a:pt x="8" y="8"/>
                  </a:cubicBezTo>
                  <a:cubicBezTo>
                    <a:pt x="8" y="7"/>
                    <a:pt x="8" y="7"/>
                    <a:pt x="8" y="7"/>
                  </a:cubicBezTo>
                  <a:cubicBezTo>
                    <a:pt x="8" y="6"/>
                    <a:pt x="8" y="5"/>
                    <a:pt x="8" y="3"/>
                  </a:cubicBezTo>
                  <a:cubicBezTo>
                    <a:pt x="8" y="3"/>
                    <a:pt x="8" y="3"/>
                    <a:pt x="8" y="2"/>
                  </a:cubicBezTo>
                  <a:cubicBezTo>
                    <a:pt x="8" y="2"/>
                    <a:pt x="8" y="2"/>
                    <a:pt x="8" y="2"/>
                  </a:cubicBezTo>
                  <a:cubicBezTo>
                    <a:pt x="8" y="2"/>
                    <a:pt x="8" y="2"/>
                    <a:pt x="8" y="2"/>
                  </a:cubicBezTo>
                  <a:cubicBezTo>
                    <a:pt x="8" y="1"/>
                    <a:pt x="8" y="1"/>
                    <a:pt x="8" y="1"/>
                  </a:cubicBezTo>
                  <a:cubicBezTo>
                    <a:pt x="8" y="0"/>
                    <a:pt x="7" y="0"/>
                    <a:pt x="7" y="0"/>
                  </a:cubicBezTo>
                  <a:cubicBezTo>
                    <a:pt x="6" y="0"/>
                    <a:pt x="5" y="2"/>
                    <a:pt x="5" y="4"/>
                  </a:cubicBezTo>
                  <a:cubicBezTo>
                    <a:pt x="5" y="4"/>
                    <a:pt x="4" y="5"/>
                    <a:pt x="4" y="5"/>
                  </a:cubicBezTo>
                  <a:cubicBezTo>
                    <a:pt x="4" y="6"/>
                    <a:pt x="4" y="7"/>
                    <a:pt x="3" y="7"/>
                  </a:cubicBezTo>
                  <a:cubicBezTo>
                    <a:pt x="3" y="8"/>
                    <a:pt x="3" y="8"/>
                    <a:pt x="3" y="8"/>
                  </a:cubicBezTo>
                  <a:cubicBezTo>
                    <a:pt x="3" y="8"/>
                    <a:pt x="3" y="8"/>
                    <a:pt x="3" y="8"/>
                  </a:cubicBezTo>
                  <a:cubicBezTo>
                    <a:pt x="3" y="8"/>
                    <a:pt x="2" y="9"/>
                    <a:pt x="2" y="9"/>
                  </a:cubicBezTo>
                  <a:cubicBezTo>
                    <a:pt x="1" y="11"/>
                    <a:pt x="0" y="12"/>
                    <a:pt x="0" y="14"/>
                  </a:cubicBezTo>
                  <a:cubicBezTo>
                    <a:pt x="1" y="14"/>
                    <a:pt x="2" y="15"/>
                    <a:pt x="2" y="15"/>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42" name="Freeform 140">
              <a:extLst>
                <a:ext uri="{FF2B5EF4-FFF2-40B4-BE49-F238E27FC236}">
                  <a16:creationId xmlns:a16="http://schemas.microsoft.com/office/drawing/2014/main" id="{ECCFDBAA-3402-4007-AA38-7DD1AC6BC749}"/>
                </a:ext>
              </a:extLst>
            </p:cNvPr>
            <p:cNvSpPr>
              <a:spLocks/>
            </p:cNvSpPr>
            <p:nvPr userDrawn="1"/>
          </p:nvSpPr>
          <p:spPr bwMode="auto">
            <a:xfrm>
              <a:off x="1229" y="757"/>
              <a:ext cx="7" cy="9"/>
            </a:xfrm>
            <a:custGeom>
              <a:avLst/>
              <a:gdLst>
                <a:gd name="T0" fmla="*/ 3 w 6"/>
                <a:gd name="T1" fmla="*/ 7 h 7"/>
                <a:gd name="T2" fmla="*/ 1 w 6"/>
                <a:gd name="T3" fmla="*/ 6 h 7"/>
                <a:gd name="T4" fmla="*/ 5 w 6"/>
                <a:gd name="T5" fmla="*/ 0 h 7"/>
                <a:gd name="T6" fmla="*/ 6 w 6"/>
                <a:gd name="T7" fmla="*/ 1 h 7"/>
                <a:gd name="T8" fmla="*/ 5 w 6"/>
                <a:gd name="T9" fmla="*/ 5 h 7"/>
                <a:gd name="T10" fmla="*/ 3 w 6"/>
                <a:gd name="T11" fmla="*/ 7 h 7"/>
              </a:gdLst>
              <a:ahLst/>
              <a:cxnLst>
                <a:cxn ang="0">
                  <a:pos x="T0" y="T1"/>
                </a:cxn>
                <a:cxn ang="0">
                  <a:pos x="T2" y="T3"/>
                </a:cxn>
                <a:cxn ang="0">
                  <a:pos x="T4" y="T5"/>
                </a:cxn>
                <a:cxn ang="0">
                  <a:pos x="T6" y="T7"/>
                </a:cxn>
                <a:cxn ang="0">
                  <a:pos x="T8" y="T9"/>
                </a:cxn>
                <a:cxn ang="0">
                  <a:pos x="T10" y="T11"/>
                </a:cxn>
              </a:cxnLst>
              <a:rect l="0" t="0" r="r" b="b"/>
              <a:pathLst>
                <a:path w="6" h="7">
                  <a:moveTo>
                    <a:pt x="3" y="7"/>
                  </a:moveTo>
                  <a:cubicBezTo>
                    <a:pt x="3" y="7"/>
                    <a:pt x="2" y="6"/>
                    <a:pt x="1" y="6"/>
                  </a:cubicBezTo>
                  <a:cubicBezTo>
                    <a:pt x="0" y="3"/>
                    <a:pt x="4" y="0"/>
                    <a:pt x="5" y="0"/>
                  </a:cubicBezTo>
                  <a:cubicBezTo>
                    <a:pt x="5" y="0"/>
                    <a:pt x="6" y="1"/>
                    <a:pt x="6" y="1"/>
                  </a:cubicBezTo>
                  <a:cubicBezTo>
                    <a:pt x="6" y="2"/>
                    <a:pt x="6" y="4"/>
                    <a:pt x="5" y="5"/>
                  </a:cubicBezTo>
                  <a:cubicBezTo>
                    <a:pt x="4" y="6"/>
                    <a:pt x="3" y="7"/>
                    <a:pt x="3" y="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sp>
          <p:nvSpPr>
            <p:cNvPr id="143" name="Freeform 141">
              <a:extLst>
                <a:ext uri="{FF2B5EF4-FFF2-40B4-BE49-F238E27FC236}">
                  <a16:creationId xmlns:a16="http://schemas.microsoft.com/office/drawing/2014/main" id="{19AE5F3A-8955-4E1D-B915-DD5D96D332D2}"/>
                </a:ext>
              </a:extLst>
            </p:cNvPr>
            <p:cNvSpPr>
              <a:spLocks/>
            </p:cNvSpPr>
            <p:nvPr userDrawn="1"/>
          </p:nvSpPr>
          <p:spPr bwMode="auto">
            <a:xfrm>
              <a:off x="1229" y="757"/>
              <a:ext cx="7" cy="9"/>
            </a:xfrm>
            <a:custGeom>
              <a:avLst/>
              <a:gdLst>
                <a:gd name="T0" fmla="*/ 3 w 6"/>
                <a:gd name="T1" fmla="*/ 7 h 7"/>
                <a:gd name="T2" fmla="*/ 3 w 6"/>
                <a:gd name="T3" fmla="*/ 7 h 7"/>
                <a:gd name="T4" fmla="*/ 5 w 6"/>
                <a:gd name="T5" fmla="*/ 5 h 7"/>
                <a:gd name="T6" fmla="*/ 6 w 6"/>
                <a:gd name="T7" fmla="*/ 1 h 7"/>
                <a:gd name="T8" fmla="*/ 5 w 6"/>
                <a:gd name="T9" fmla="*/ 0 h 7"/>
                <a:gd name="T10" fmla="*/ 1 w 6"/>
                <a:gd name="T11" fmla="*/ 6 h 7"/>
                <a:gd name="T12" fmla="*/ 3 w 6"/>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6" h="7">
                  <a:moveTo>
                    <a:pt x="3" y="7"/>
                  </a:moveTo>
                  <a:cubicBezTo>
                    <a:pt x="3" y="7"/>
                    <a:pt x="3" y="7"/>
                    <a:pt x="3" y="7"/>
                  </a:cubicBezTo>
                  <a:cubicBezTo>
                    <a:pt x="3" y="7"/>
                    <a:pt x="4" y="6"/>
                    <a:pt x="5" y="5"/>
                  </a:cubicBezTo>
                  <a:cubicBezTo>
                    <a:pt x="6" y="4"/>
                    <a:pt x="6" y="2"/>
                    <a:pt x="6" y="1"/>
                  </a:cubicBezTo>
                  <a:cubicBezTo>
                    <a:pt x="6" y="1"/>
                    <a:pt x="5" y="0"/>
                    <a:pt x="5" y="0"/>
                  </a:cubicBezTo>
                  <a:cubicBezTo>
                    <a:pt x="4" y="0"/>
                    <a:pt x="0" y="3"/>
                    <a:pt x="1" y="6"/>
                  </a:cubicBezTo>
                  <a:cubicBezTo>
                    <a:pt x="2" y="6"/>
                    <a:pt x="3" y="7"/>
                    <a:pt x="3" y="7"/>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20000"/>
                </a:lnSpc>
                <a:spcAft>
                  <a:spcPts val="100"/>
                </a:spcAft>
              </a:pPr>
              <a:endParaRPr lang="zh-CN" altLang="en-US"/>
            </a:p>
          </p:txBody>
        </p:sp>
      </p:grpSp>
    </p:spTree>
    <p:extLst>
      <p:ext uri="{BB962C8B-B14F-4D97-AF65-F5344CB8AC3E}">
        <p14:creationId xmlns:p14="http://schemas.microsoft.com/office/powerpoint/2010/main" val="21860431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arrow&quot;,&quot;Name&quot;:&quot;窄&quot;,&quot;HeaderHeight&quot;:10.0,&quot;FooterHeight&quot;:5.0,&quot;SideMargin&quot;:2.5,&quot;TopMargin&quot;:0.0,&quot;BottomMargin&quot;:0.0,&quot;IntervalMargin&quot;:1.0,&quot;SettingType&quot;:&quot;System&quot;}"/>
  <p:tag name="KSO_WPP_MARK_KEY" val="8eabe6ec-078e-485f-822b-38928366ee02"/>
  <p:tag name="COMMONDATA" val="eyJoZGlkIjoiZGYyZmY4NGFiZjMxMWNjMzI1MmRlYzcyNDdmMTJkOGI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浙江大学母版色彩">
      <a:dk1>
        <a:srgbClr val="3F3F3F"/>
      </a:dk1>
      <a:lt1>
        <a:srgbClr val="FFFFFF"/>
      </a:lt1>
      <a:dk2>
        <a:srgbClr val="003F88"/>
      </a:dk2>
      <a:lt2>
        <a:srgbClr val="D8D8D8"/>
      </a:lt2>
      <a:accent1>
        <a:srgbClr val="FFD54F"/>
      </a:accent1>
      <a:accent2>
        <a:srgbClr val="006EB6"/>
      </a:accent2>
      <a:accent3>
        <a:srgbClr val="B01F24"/>
      </a:accent3>
      <a:accent4>
        <a:srgbClr val="616161"/>
      </a:accent4>
      <a:accent5>
        <a:srgbClr val="7F7F7F"/>
      </a:accent5>
      <a:accent6>
        <a:srgbClr val="ACACAC"/>
      </a:accent6>
      <a:hlink>
        <a:srgbClr val="1F1F1F"/>
      </a:hlink>
      <a:folHlink>
        <a:srgbClr val="BFBFBF"/>
      </a:folHlink>
    </a:clrScheme>
    <a:fontScheme name="hnguc2yk">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chor="ctr">
        <a:normAutofit/>
      </a:bodyPr>
      <a:lstStyle>
        <a:defPPr algn="l">
          <a:lnSpc>
            <a:spcPct val="125000"/>
          </a:lnSpc>
          <a:spcAft>
            <a:spcPts val="500"/>
          </a:spcAft>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PLUS">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992</TotalTime>
  <Words>16199</Words>
  <Application>Microsoft Macintosh PowerPoint</Application>
  <PresentationFormat>宽屏</PresentationFormat>
  <Paragraphs>1091</Paragraphs>
  <Slides>114</Slides>
  <Notes>87</Notes>
  <HiddenSlides>2</HiddenSlides>
  <MMClips>0</MMClips>
  <ScaleCrop>false</ScaleCrop>
  <HeadingPairs>
    <vt:vector size="6" baseType="variant">
      <vt:variant>
        <vt:lpstr>已用的字体</vt:lpstr>
      </vt:variant>
      <vt:variant>
        <vt:i4>20</vt:i4>
      </vt:variant>
      <vt:variant>
        <vt:lpstr>主题</vt:lpstr>
      </vt:variant>
      <vt:variant>
        <vt:i4>2</vt:i4>
      </vt:variant>
      <vt:variant>
        <vt:lpstr>幻灯片标题</vt:lpstr>
      </vt:variant>
      <vt:variant>
        <vt:i4>114</vt:i4>
      </vt:variant>
    </vt:vector>
  </HeadingPairs>
  <TitlesOfParts>
    <vt:vector size="136" baseType="lpstr">
      <vt:lpstr>-apple-system</vt:lpstr>
      <vt:lpstr>等线</vt:lpstr>
      <vt:lpstr>方正粗雅宋简体</vt:lpstr>
      <vt:lpstr>方正准雅宋简体</vt:lpstr>
      <vt:lpstr>宋体</vt:lpstr>
      <vt:lpstr>微软雅黑</vt:lpstr>
      <vt:lpstr>微软雅黑</vt:lpstr>
      <vt:lpstr>Gudea</vt:lpstr>
      <vt:lpstr>HiddenHorzOCR</vt:lpstr>
      <vt:lpstr>JetBrains Mono</vt:lpstr>
      <vt:lpstr>MicrosoftYaHei</vt:lpstr>
      <vt:lpstr>Arial</vt:lpstr>
      <vt:lpstr>Calibri</vt:lpstr>
      <vt:lpstr>Century Gothic</vt:lpstr>
      <vt:lpstr>Comic Sans MS</vt:lpstr>
      <vt:lpstr>Helvetica</vt:lpstr>
      <vt:lpstr>Segoe UI</vt:lpstr>
      <vt:lpstr>Segoe UI Light</vt:lpstr>
      <vt:lpstr>Times New Roman</vt:lpstr>
      <vt:lpstr>Wingdings</vt:lpstr>
      <vt:lpstr>Office 主题​​</vt:lpstr>
      <vt:lpstr>1_OfficePLUS</vt:lpstr>
      <vt:lpstr>PowerPoint 演示文稿</vt:lpstr>
      <vt:lpstr>PowerPoint 演示文稿</vt:lpstr>
      <vt:lpstr>PowerPoint 演示文稿</vt:lpstr>
      <vt:lpstr>01 敏捷开发内涵</vt:lpstr>
      <vt:lpstr>01 敏捷开发内涵</vt:lpstr>
      <vt:lpstr>01 敏捷开发内涵</vt:lpstr>
      <vt:lpstr>01 敏捷开发定义内涵</vt:lpstr>
      <vt:lpstr>01 敏捷开发内涵</vt:lpstr>
      <vt:lpstr>01 敏捷开发内涵</vt:lpstr>
      <vt:lpstr>01 敏捷开发内涵</vt:lpstr>
      <vt:lpstr>PowerPoint 演示文稿</vt:lpstr>
      <vt:lpstr>02 敏捷开发流程</vt:lpstr>
      <vt:lpstr>02 敏捷开发流程</vt:lpstr>
      <vt:lpstr>02 敏捷开发流程</vt:lpstr>
      <vt:lpstr>02 敏捷开发流程</vt:lpstr>
      <vt:lpstr>02 敏捷开发流程</vt:lpstr>
      <vt:lpstr>PowerPoint 演示文稿</vt:lpstr>
      <vt:lpstr>03 敏捷开发方法</vt:lpstr>
      <vt:lpstr>03 敏捷开发方法</vt:lpstr>
      <vt:lpstr>03 敏捷开发方法</vt:lpstr>
      <vt:lpstr>03 敏捷开发方法</vt:lpstr>
      <vt:lpstr>03 敏捷开发方法</vt:lpstr>
      <vt:lpstr>03 敏捷开发方法</vt:lpstr>
      <vt:lpstr>03 敏捷开发方法</vt:lpstr>
      <vt:lpstr>03 敏捷开发方法</vt:lpstr>
      <vt:lpstr>03 敏捷开发方法</vt:lpstr>
      <vt:lpstr>PowerPoint 演示文稿</vt:lpstr>
      <vt:lpstr>PowerPoint 演示文稿</vt:lpstr>
      <vt:lpstr>PowerPoint 演示文稿</vt:lpstr>
      <vt:lpstr>PowerPoint 演示文稿</vt:lpstr>
      <vt:lpstr>01 DevOps概念</vt:lpstr>
      <vt:lpstr>01 DevOps概念</vt:lpstr>
      <vt:lpstr>01 DevOps概念</vt:lpstr>
      <vt:lpstr>PowerPoint 演示文稿</vt:lpstr>
      <vt:lpstr>02 DevOps历史溯源</vt:lpstr>
      <vt:lpstr>02 DevOps历史溯源</vt:lpstr>
      <vt:lpstr>02 DevOps历史溯源</vt:lpstr>
      <vt:lpstr>02 DevOps历史溯源</vt:lpstr>
      <vt:lpstr>02 DevOps历史溯源</vt:lpstr>
      <vt:lpstr>02 DevOps历史溯源</vt:lpstr>
      <vt:lpstr>02 DevOps历史溯源</vt:lpstr>
      <vt:lpstr>02 DevOps历史溯源</vt:lpstr>
      <vt:lpstr>02 DevOps历史溯源</vt:lpstr>
      <vt:lpstr>02 DevOps历史溯源</vt:lpstr>
      <vt:lpstr>PowerPoint 演示文稿</vt:lpstr>
      <vt:lpstr>03 DevOps工具体系</vt:lpstr>
      <vt:lpstr>03 DevOps工具体系</vt:lpstr>
      <vt:lpstr>03 DevOps工具体系</vt:lpstr>
      <vt:lpstr>03 DevOps工具体系</vt:lpstr>
      <vt:lpstr>03 DevOps工具体系</vt:lpstr>
      <vt:lpstr>03 DevOps工具体系</vt:lpstr>
      <vt:lpstr>03 DevOps工具体系</vt:lpstr>
      <vt:lpstr>03 DevOps工具体系</vt:lpstr>
      <vt:lpstr>PowerPoint 演示文稿</vt:lpstr>
      <vt:lpstr>PowerPoint 演示文稿</vt:lpstr>
      <vt:lpstr>PowerPoint 演示文稿</vt:lpstr>
      <vt:lpstr>PowerPoint 演示文稿</vt:lpstr>
      <vt:lpstr>01 持续集成</vt:lpstr>
      <vt:lpstr>01 持续集成</vt:lpstr>
      <vt:lpstr>01 持续集成</vt:lpstr>
      <vt:lpstr>01 持续集成</vt:lpstr>
      <vt:lpstr>01 持续集成</vt:lpstr>
      <vt:lpstr>01 持续集成</vt:lpstr>
      <vt:lpstr>01 持续集成</vt:lpstr>
      <vt:lpstr>01 持续集成</vt:lpstr>
      <vt:lpstr>01 持续集成</vt:lpstr>
      <vt:lpstr>PowerPoint 演示文稿</vt:lpstr>
      <vt:lpstr>02 持续交付</vt:lpstr>
      <vt:lpstr>02 持续交付</vt:lpstr>
      <vt:lpstr>02 持续交付</vt:lpstr>
      <vt:lpstr>02 持续交付</vt:lpstr>
      <vt:lpstr>02 持续交付</vt:lpstr>
      <vt:lpstr>02 持续交付</vt:lpstr>
      <vt:lpstr>02 持续交付</vt:lpstr>
      <vt:lpstr>02 持续交付</vt:lpstr>
      <vt:lpstr>02 持续交付</vt:lpstr>
      <vt:lpstr>02 持续交付</vt:lpstr>
      <vt:lpstr>02 持续交付</vt:lpstr>
      <vt:lpstr>02 持续交付</vt:lpstr>
      <vt:lpstr>02 持续交付</vt:lpstr>
      <vt:lpstr>02 持续交付</vt:lpstr>
      <vt:lpstr>02 持续交付</vt:lpstr>
      <vt:lpstr>02 持续交付</vt:lpstr>
      <vt:lpstr>02 持续交付</vt:lpstr>
      <vt:lpstr>02 持续交付</vt:lpstr>
      <vt:lpstr>02 持续交付</vt:lpstr>
      <vt:lpstr>02 持续交付</vt:lpstr>
      <vt:lpstr>PowerPoint 演示文稿</vt:lpstr>
      <vt:lpstr>03 CI/CD工具简介</vt:lpstr>
      <vt:lpstr>03 CI/CD工具简介</vt:lpstr>
      <vt:lpstr>03 CI/CD工具简介</vt:lpstr>
      <vt:lpstr>03 CI/CD工具简介</vt:lpstr>
      <vt:lpstr>03 CI/CD工具简介</vt:lpstr>
      <vt:lpstr>03 CI/CD工具简介</vt:lpstr>
      <vt:lpstr>03 CI/CD工具简介</vt:lpstr>
      <vt:lpstr>03 CI/CD工具简介</vt:lpstr>
      <vt:lpstr>03 CI/CD工具简介</vt:lpstr>
      <vt:lpstr>03 CI/CD工具简介</vt:lpstr>
      <vt:lpstr>03 CI/CD工具简介</vt:lpstr>
      <vt:lpstr>03 CI/CD工具简介</vt:lpstr>
      <vt:lpstr>03 CI/CD工具简介</vt:lpstr>
      <vt:lpstr>03 CI/CD工具简介</vt:lpstr>
      <vt:lpstr>03 CI/CD工具简介</vt:lpstr>
      <vt:lpstr>03 CI/CD工具简介</vt:lpstr>
      <vt:lpstr>03 CI/CD工具简介</vt:lpstr>
      <vt:lpstr>03 CI/CD工具简介</vt:lpstr>
      <vt:lpstr>03 CI/CD工具简介</vt:lpstr>
      <vt:lpstr>03 CI/CD工具简介</vt:lpstr>
      <vt:lpstr>03 CI/CD工具简介</vt:lpstr>
      <vt:lpstr>03 CI/CD工具简介</vt:lpstr>
      <vt:lpstr>03 CI/CD工具简介</vt:lpstr>
      <vt:lpstr>03 CI/CD工具简介</vt:lpstr>
      <vt:lpstr>03 CI/CD工具简介</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Lynn Fu</dc:creator>
  <cp:lastModifiedBy>Kaiwen Zhou</cp:lastModifiedBy>
  <cp:revision>392</cp:revision>
  <dcterms:created xsi:type="dcterms:W3CDTF">2019-04-08T08:24:00Z</dcterms:created>
  <dcterms:modified xsi:type="dcterms:W3CDTF">2026-05-22T02:40:13Z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Nuaxnuy@DESKTOP-GLORKB7</vt:lpwstr>
  </property>
  <property fmtid="{D5CDD505-2E9C-101B-9397-08002B2CF9AE}" pid="5" name="MSIP_Label_f42aa342-8706-4288-bd11-ebb85995028c_SetDate">
    <vt:lpwstr>2019-04-13T09:12:31.5970499Z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c1efdefd-7163-4249-a0d1-35a0735e084a</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y fmtid="{D5CDD505-2E9C-101B-9397-08002B2CF9AE}" pid="11" name="ICV">
    <vt:lpwstr>A1382659861541E5BD70147F2D8CF468_13</vt:lpwstr>
  </property>
  <property fmtid="{D5CDD505-2E9C-101B-9397-08002B2CF9AE}" pid="12" name="KSOProductBuildVer">
    <vt:lpwstr>2052-11.1.0.14309</vt:lpwstr>
  </property>
</Properties>
</file>