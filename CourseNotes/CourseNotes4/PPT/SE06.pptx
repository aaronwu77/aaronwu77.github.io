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328" r:id="rId4"/>
    <p:sldId id="329" r:id="rId5"/>
    <p:sldId id="330" r:id="rId6"/>
    <p:sldId id="332" r:id="rId7"/>
    <p:sldId id="331" r:id="rId8"/>
    <p:sldId id="333" r:id="rId9"/>
    <p:sldId id="334" r:id="rId10"/>
    <p:sldId id="335" r:id="rId11"/>
    <p:sldId id="336" r:id="rId12"/>
    <p:sldId id="337" r:id="rId13"/>
    <p:sldId id="338" r:id="rId14"/>
    <p:sldId id="339" r:id="rId1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00FF"/>
    <a:srgbClr val="99CCFF"/>
    <a:srgbClr val="CCFFFF"/>
    <a:srgbClr val="0066CC"/>
    <a:srgbClr val="0099FF"/>
    <a:srgbClr val="33CC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40" d="100"/>
          <a:sy n="40" d="100"/>
        </p:scale>
        <p:origin x="-135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en-US" altLang="zh-CN" strike="noStrike" noProof="1" dirty="0"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en-US" altLang="zh-CN" strike="noStrike" noProof="1" dirty="0"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en-US" altLang="zh-CN" strike="noStrike" noProof="1" dirty="0"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0825" y="1125538"/>
            <a:ext cx="4038600" cy="4929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41825" y="1125538"/>
            <a:ext cx="4038600" cy="49291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en-US" altLang="zh-CN" strike="noStrike" noProof="1" dirty="0"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en-US" altLang="zh-CN" strike="noStrike" noProof="1" dirty="0"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en-US" altLang="zh-CN" strike="noStrike" noProof="1" dirty="0"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en-US" altLang="zh-CN" strike="noStrike" noProof="1" dirty="0"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en-US" altLang="zh-CN" strike="noStrike" noProof="1" dirty="0"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en-US" altLang="zh-CN" strike="noStrike" noProof="1" dirty="0"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en-US" altLang="zh-CN" strike="noStrike" noProof="1" dirty="0"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8600" y="188913"/>
            <a:ext cx="2108200" cy="586581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5" y="188913"/>
            <a:ext cx="6175375" cy="586581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>
              <a:buClrTx/>
            </a:pPr>
            <a:fld id="{9A0DB2DC-4C9A-4742-B13C-FB6460FD3503}" type="slidenum">
              <a:rPr lang="en-US" altLang="zh-CN" strike="noStrike" noProof="1" dirty="0"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 descr="6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2"/>
          <p:cNvSpPr>
            <a:spLocks noGrp="1"/>
          </p:cNvSpPr>
          <p:nvPr>
            <p:ph type="title"/>
          </p:nvPr>
        </p:nvSpPr>
        <p:spPr>
          <a:xfrm>
            <a:off x="827088" y="188913"/>
            <a:ext cx="7859712" cy="8509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3"/>
          <p:cNvSpPr>
            <a:spLocks noGrp="1"/>
          </p:cNvSpPr>
          <p:nvPr>
            <p:ph type="body"/>
          </p:nvPr>
        </p:nvSpPr>
        <p:spPr>
          <a:xfrm>
            <a:off x="250825" y="1125538"/>
            <a:ext cx="8229600" cy="49291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748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36988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04025" y="6245225"/>
            <a:ext cx="18827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fontAlgn="base">
              <a:buClrTx/>
            </a:pPr>
            <a:fld id="{9A0DB2DC-4C9A-4742-B13C-FB6460FD3503}" type="slidenum">
              <a:rPr lang="en-US" altLang="zh-CN" strike="noStrike" noProof="1" dirty="0"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panose="020B060402020209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panose="020B060402020209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panose="020B060402020209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panose="020B060402020209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panose="020B060402020209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panose="020B060402020209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panose="020B060402020209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0099"/>
          </a:solidFill>
          <a:latin typeface="Arial" panose="020B060402020209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rgbClr val="000066"/>
          </a:solidFill>
          <a:latin typeface="+mn-lt"/>
          <a:ea typeface="+mn-ea"/>
          <a:cs typeface="宋体" panose="0201060003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400">
          <a:solidFill>
            <a:srgbClr val="000066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rgbClr val="000066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rgbClr val="000066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rgbClr val="000066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6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9" name="Rectangle 2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815263" cy="1470025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en-US" altLang="zh-CN" dirty="0"/>
              <a:t>Ch.6  Human Aspects of Software Engineering</a:t>
            </a:r>
            <a:br>
              <a:rPr lang="en-US" altLang="zh-CN" dirty="0"/>
            </a:b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836988" y="6245225"/>
            <a:ext cx="2895600" cy="476250"/>
          </a:xfrm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74" name="Rectangle 3"/>
          <p:cNvSpPr txBox="1"/>
          <p:nvPr/>
        </p:nvSpPr>
        <p:spPr>
          <a:xfrm>
            <a:off x="642938" y="220663"/>
            <a:ext cx="7859712" cy="8509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indent="0" algn="ctr"/>
            <a:r>
              <a:rPr lang="en-US" altLang="zh-CN" sz="2400" b="1" dirty="0">
                <a:solidFill>
                  <a:srgbClr val="000099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6.1  Characteristics Of A Software Engineer</a:t>
            </a:r>
            <a:endParaRPr lang="zh-CN" altLang="en-US" sz="2400" b="1" dirty="0">
              <a:solidFill>
                <a:srgbClr val="000099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sp>
        <p:nvSpPr>
          <p:cNvPr id="3075" name="Rectangle 3"/>
          <p:cNvSpPr txBox="1"/>
          <p:nvPr/>
        </p:nvSpPr>
        <p:spPr>
          <a:xfrm>
            <a:off x="250825" y="977900"/>
            <a:ext cx="8229600" cy="13747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ts val="600"/>
              </a:spcBef>
              <a:buChar char="•"/>
            </a:pPr>
            <a:r>
              <a:rPr lang="en-US" altLang="zh-CN" sz="2800" dirty="0">
                <a:latin typeface="Arial" panose="020B0604020202090204" pitchFamily="34" charset="0"/>
                <a:ea typeface="宋体" panose="02010600030101010101" pitchFamily="2" charset="-122"/>
              </a:rPr>
              <a:t>Traits of Successful Software Engineers</a:t>
            </a:r>
            <a:endParaRPr lang="en-US" altLang="zh-CN" sz="28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Palatino" charset="0"/>
                <a:ea typeface="宋体" panose="02010600030101010101" pitchFamily="2" charset="-122"/>
              </a:rPr>
              <a:t>    </a:t>
            </a:r>
            <a:endParaRPr lang="en-US" altLang="zh-CN" sz="2400" i="1" dirty="0">
              <a:solidFill>
                <a:srgbClr val="000066"/>
              </a:solidFill>
              <a:latin typeface="Palatino" charset="0"/>
              <a:ea typeface="宋体" panose="02010600030101010101" pitchFamily="2" charset="-122"/>
            </a:endParaRPr>
          </a:p>
        </p:txBody>
      </p:sp>
      <p:sp>
        <p:nvSpPr>
          <p:cNvPr id="3076" name="Rectangle 3"/>
          <p:cNvSpPr txBox="1"/>
          <p:nvPr/>
        </p:nvSpPr>
        <p:spPr>
          <a:xfrm>
            <a:off x="2428875" y="1714500"/>
            <a:ext cx="6170613" cy="3733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Sense of individual responsibility</a:t>
            </a:r>
            <a:r>
              <a:rPr lang="zh-CN" altLang="en-US" sz="2000" dirty="0">
                <a:latin typeface="Arial" panose="020B0604020202090204" pitchFamily="34" charset="0"/>
                <a:ea typeface="宋体" panose="02010600030101010101" pitchFamily="2" charset="-122"/>
              </a:rPr>
              <a:t>（责任心）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Acutely aware of the needs of team members and stakeholders </a:t>
            </a:r>
            <a:r>
              <a:rPr lang="zh-CN" altLang="en-US" sz="2000" dirty="0">
                <a:latin typeface="Arial" panose="020B0604020202090204" pitchFamily="34" charset="0"/>
                <a:ea typeface="宋体" panose="02010600030101010101" pitchFamily="2" charset="-122"/>
              </a:rPr>
              <a:t>（敏锐意识）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Brutally honest about design flaws and offers constructive criticism</a:t>
            </a:r>
            <a:r>
              <a:rPr lang="zh-CN" altLang="en-US" sz="2000" dirty="0">
                <a:latin typeface="Arial" panose="020B0604020202090204" pitchFamily="34" charset="0"/>
                <a:ea typeface="宋体" panose="02010600030101010101" pitchFamily="2" charset="-122"/>
              </a:rPr>
              <a:t>（勇于承认错误，建设性意见）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Resilient under pressure </a:t>
            </a:r>
            <a:r>
              <a:rPr lang="zh-CN" altLang="en-US" sz="2000" dirty="0">
                <a:latin typeface="Arial" panose="020B0604020202090204" pitchFamily="34" charset="0"/>
                <a:ea typeface="宋体" panose="02010600030101010101" pitchFamily="2" charset="-122"/>
              </a:rPr>
              <a:t>（抗压）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Heightened sense of fairness</a:t>
            </a:r>
            <a:r>
              <a:rPr lang="zh-CN" altLang="en-US" sz="2000" dirty="0">
                <a:latin typeface="Arial" panose="020B0604020202090204" pitchFamily="34" charset="0"/>
                <a:ea typeface="宋体" panose="02010600030101010101" pitchFamily="2" charset="-122"/>
              </a:rPr>
              <a:t>（公正）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Attention to detail </a:t>
            </a:r>
            <a:r>
              <a:rPr lang="zh-CN" altLang="en-US" sz="2000" dirty="0">
                <a:latin typeface="Arial" panose="020B0604020202090204" pitchFamily="34" charset="0"/>
                <a:ea typeface="宋体" panose="02010600030101010101" pitchFamily="2" charset="-122"/>
              </a:rPr>
              <a:t>（细度）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Pragmatic</a:t>
            </a:r>
            <a:r>
              <a:rPr lang="zh-CN" altLang="en-US" sz="2000" dirty="0">
                <a:latin typeface="Arial" panose="020B0604020202090204" pitchFamily="34" charset="0"/>
                <a:ea typeface="宋体" panose="02010600030101010101" pitchFamily="2" charset="-122"/>
              </a:rPr>
              <a:t>（实在）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endParaRPr lang="en-US" altLang="zh-CN" sz="2400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pic>
        <p:nvPicPr>
          <p:cNvPr id="3077" name="Picture 3" descr="C:\Users\Apple\AppData\Local\Microsoft\Windows\Temporary Internet Files\Content.IE5\2SCX7FOZ\MP900448598[1].jpg"/>
          <p:cNvPicPr>
            <a:picLocks noChangeAspect="1"/>
          </p:cNvPicPr>
          <p:nvPr/>
        </p:nvPicPr>
        <p:blipFill>
          <a:blip r:embed="rId1">
            <a:lum bright="20001"/>
          </a:blip>
          <a:stretch>
            <a:fillRect/>
          </a:stretch>
        </p:blipFill>
        <p:spPr>
          <a:xfrm>
            <a:off x="142875" y="1785938"/>
            <a:ext cx="1762125" cy="26431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矩形 12"/>
          <p:cNvSpPr/>
          <p:nvPr/>
        </p:nvSpPr>
        <p:spPr>
          <a:xfrm>
            <a:off x="642909" y="3214686"/>
            <a:ext cx="1571636" cy="500066"/>
          </a:xfrm>
          <a:prstGeom prst="rect">
            <a:avLst/>
          </a:prstGeom>
          <a:solidFill>
            <a:schemeClr val="bg1"/>
          </a:solidFill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79" name="TextBox 14"/>
          <p:cNvSpPr txBox="1"/>
          <p:nvPr/>
        </p:nvSpPr>
        <p:spPr>
          <a:xfrm>
            <a:off x="357188" y="3225800"/>
            <a:ext cx="2143125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0" algn="ctr"/>
            <a:r>
              <a:rPr lang="en-US" altLang="zh-CN" sz="1400" b="1" dirty="0">
                <a:solidFill>
                  <a:srgbClr val="FF0000"/>
                </a:solidFill>
                <a:latin typeface="Bradley Hand ITC" pitchFamily="66" charset="0"/>
                <a:ea typeface="宋体" panose="02010600030101010101" pitchFamily="2" charset="-122"/>
              </a:rPr>
              <a:t>Superprofessional</a:t>
            </a:r>
            <a:endParaRPr lang="en-US" altLang="zh-CN" sz="1400" b="1" dirty="0">
              <a:solidFill>
                <a:srgbClr val="FF0000"/>
              </a:solidFill>
              <a:latin typeface="Bradley Hand ITC" pitchFamily="66" charset="0"/>
              <a:ea typeface="宋体" panose="02010600030101010101" pitchFamily="2" charset="-122"/>
            </a:endParaRPr>
          </a:p>
          <a:p>
            <a:pPr indent="0" algn="ctr"/>
            <a:r>
              <a:rPr lang="en-US" altLang="zh-CN" sz="1400" b="1" dirty="0">
                <a:solidFill>
                  <a:srgbClr val="FF0000"/>
                </a:solidFill>
                <a:latin typeface="Bradley Hand ITC" pitchFamily="66" charset="0"/>
                <a:ea typeface="宋体" panose="02010600030101010101" pitchFamily="2" charset="-122"/>
              </a:rPr>
              <a:t>behavior</a:t>
            </a:r>
            <a:endParaRPr lang="en-US" altLang="zh-CN" sz="1400" b="1" dirty="0">
              <a:solidFill>
                <a:srgbClr val="FF0000"/>
              </a:solidFill>
              <a:latin typeface="Bradley Hand ITC" pitchFamily="66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29"/>
          <p:cNvGrpSpPr/>
          <p:nvPr/>
        </p:nvGrpSpPr>
        <p:grpSpPr>
          <a:xfrm>
            <a:off x="3214688" y="2071688"/>
            <a:ext cx="4643437" cy="4445000"/>
            <a:chOff x="3071802" y="1500174"/>
            <a:chExt cx="4643470" cy="4445002"/>
          </a:xfrm>
        </p:grpSpPr>
        <p:sp>
          <p:nvSpPr>
            <p:cNvPr id="31" name="矩形 30"/>
            <p:cNvSpPr/>
            <p:nvPr/>
          </p:nvSpPr>
          <p:spPr>
            <a:xfrm>
              <a:off x="3143240" y="2616187"/>
              <a:ext cx="2214579" cy="2286001"/>
            </a:xfrm>
            <a:prstGeom prst="rect">
              <a:avLst/>
            </a:prstGeom>
            <a:solidFill>
              <a:srgbClr val="99CC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99" name="TextBox 31"/>
            <p:cNvSpPr txBox="1"/>
            <p:nvPr/>
          </p:nvSpPr>
          <p:spPr>
            <a:xfrm>
              <a:off x="3071802" y="2545462"/>
              <a:ext cx="2214578" cy="36933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indent="0" algn="ctr">
                <a:spcBef>
                  <a:spcPts val="1200"/>
                </a:spcBef>
                <a:spcAft>
                  <a:spcPts val="1200"/>
                </a:spcAft>
              </a:pPr>
              <a:r>
                <a:rPr lang="en-US" altLang="zh-CN" dirty="0">
                  <a:latin typeface="Arial" panose="020B0604020202090204" pitchFamily="34" charset="0"/>
                  <a:ea typeface="宋体" panose="02010600030101010101" pitchFamily="2" charset="-122"/>
                </a:rPr>
                <a:t>Business milieu</a:t>
              </a:r>
              <a:endParaRPr lang="zh-CN" altLang="en-US" dirty="0">
                <a:latin typeface="Arial" panose="020B060402020209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00" name="TextBox 32"/>
            <p:cNvSpPr txBox="1"/>
            <p:nvPr/>
          </p:nvSpPr>
          <p:spPr>
            <a:xfrm>
              <a:off x="3071802" y="3018393"/>
              <a:ext cx="2214578" cy="36933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indent="0" algn="ctr">
                <a:spcBef>
                  <a:spcPts val="1200"/>
                </a:spcBef>
                <a:spcAft>
                  <a:spcPts val="1200"/>
                </a:spcAft>
              </a:pPr>
              <a:r>
                <a:rPr lang="en-US" altLang="zh-CN" dirty="0">
                  <a:latin typeface="Arial" panose="020B0604020202090204" pitchFamily="34" charset="0"/>
                  <a:ea typeface="宋体" panose="02010600030101010101" pitchFamily="2" charset="-122"/>
                </a:rPr>
                <a:t>Company</a:t>
              </a:r>
              <a:endParaRPr lang="zh-CN" altLang="en-US" dirty="0">
                <a:latin typeface="Arial" panose="020B060402020209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01" name="TextBox 33"/>
            <p:cNvSpPr txBox="1"/>
            <p:nvPr/>
          </p:nvSpPr>
          <p:spPr>
            <a:xfrm>
              <a:off x="3071802" y="3488296"/>
              <a:ext cx="2214578" cy="36933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indent="0" algn="ctr">
                <a:spcBef>
                  <a:spcPts val="1200"/>
                </a:spcBef>
                <a:spcAft>
                  <a:spcPts val="1200"/>
                </a:spcAft>
              </a:pPr>
              <a:r>
                <a:rPr lang="en-US" altLang="zh-CN" dirty="0">
                  <a:latin typeface="Arial" panose="020B0604020202090204" pitchFamily="34" charset="0"/>
                  <a:ea typeface="宋体" panose="02010600030101010101" pitchFamily="2" charset="-122"/>
                </a:rPr>
                <a:t>Project</a:t>
              </a:r>
              <a:endParaRPr lang="zh-CN" altLang="en-US" dirty="0">
                <a:latin typeface="Arial" panose="020B060402020209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02" name="TextBox 34"/>
            <p:cNvSpPr txBox="1"/>
            <p:nvPr/>
          </p:nvSpPr>
          <p:spPr>
            <a:xfrm>
              <a:off x="3071802" y="3962080"/>
              <a:ext cx="2214578" cy="36933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indent="0" algn="ctr">
                <a:spcBef>
                  <a:spcPts val="1200"/>
                </a:spcBef>
                <a:spcAft>
                  <a:spcPts val="1200"/>
                </a:spcAft>
              </a:pPr>
              <a:r>
                <a:rPr lang="en-US" altLang="zh-CN" dirty="0">
                  <a:latin typeface="Arial" panose="020B0604020202090204" pitchFamily="34" charset="0"/>
                  <a:ea typeface="宋体" panose="02010600030101010101" pitchFamily="2" charset="-122"/>
                </a:rPr>
                <a:t>team</a:t>
              </a:r>
              <a:endParaRPr lang="zh-CN" altLang="en-US" dirty="0">
                <a:latin typeface="Arial" panose="020B060402020209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03" name="TextBox 35"/>
            <p:cNvSpPr txBox="1"/>
            <p:nvPr/>
          </p:nvSpPr>
          <p:spPr>
            <a:xfrm>
              <a:off x="3071802" y="4425428"/>
              <a:ext cx="2214578" cy="36933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indent="0" algn="ctr">
                <a:spcBef>
                  <a:spcPts val="1200"/>
                </a:spcBef>
                <a:spcAft>
                  <a:spcPts val="1200"/>
                </a:spcAft>
              </a:pPr>
              <a:r>
                <a:rPr lang="en-US" altLang="zh-CN" dirty="0">
                  <a:latin typeface="Arial" panose="020B0604020202090204" pitchFamily="34" charset="0"/>
                  <a:ea typeface="宋体" panose="02010600030101010101" pitchFamily="2" charset="-122"/>
                </a:rPr>
                <a:t>individual</a:t>
              </a:r>
              <a:endParaRPr lang="zh-CN" altLang="en-US" dirty="0">
                <a:latin typeface="Arial" panose="020B060402020209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" name="上箭头 36"/>
            <p:cNvSpPr/>
            <p:nvPr/>
          </p:nvSpPr>
          <p:spPr>
            <a:xfrm>
              <a:off x="4027484" y="1830374"/>
              <a:ext cx="285752" cy="714375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上箭头 37"/>
            <p:cNvSpPr/>
            <p:nvPr/>
          </p:nvSpPr>
          <p:spPr>
            <a:xfrm flipV="1">
              <a:off x="4027484" y="4902188"/>
              <a:ext cx="285752" cy="714375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06" name="TextBox 38"/>
            <p:cNvSpPr txBox="1"/>
            <p:nvPr/>
          </p:nvSpPr>
          <p:spPr>
            <a:xfrm>
              <a:off x="3451570" y="1500174"/>
              <a:ext cx="14287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indent="0" algn="ctr"/>
              <a:r>
                <a:rPr lang="en-US" altLang="zh-CN" dirty="0">
                  <a:latin typeface="Arial" panose="020B0604020202090204" pitchFamily="34" charset="0"/>
                  <a:ea typeface="宋体" panose="02010600030101010101" pitchFamily="2" charset="-122"/>
                </a:rPr>
                <a:t>Software</a:t>
              </a:r>
              <a:endParaRPr lang="zh-CN" altLang="en-US" dirty="0">
                <a:latin typeface="Arial" panose="020B060402020209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07" name="TextBox 39"/>
            <p:cNvSpPr txBox="1"/>
            <p:nvPr/>
          </p:nvSpPr>
          <p:spPr>
            <a:xfrm>
              <a:off x="3455274" y="5575844"/>
              <a:ext cx="14287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indent="0" algn="ctr"/>
              <a:r>
                <a:rPr lang="en-US" altLang="zh-CN" dirty="0">
                  <a:latin typeface="Arial" panose="020B0604020202090204" pitchFamily="34" charset="0"/>
                  <a:ea typeface="宋体" panose="02010600030101010101" pitchFamily="2" charset="-122"/>
                </a:rPr>
                <a:t>Problem</a:t>
              </a:r>
              <a:endParaRPr lang="zh-CN" altLang="en-US" dirty="0">
                <a:latin typeface="Arial" panose="020B060402020209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072066" y="2473311"/>
              <a:ext cx="2643206" cy="928688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 fontAlgn="base">
                <a:buClrTx/>
              </a:pPr>
              <a:r>
                <a:rPr lang="en-US" altLang="zh-CN" sz="1800" b="1" strike="noStrike" noProof="1" dirty="0">
                  <a:solidFill>
                    <a:srgbClr val="FFFFFF"/>
                  </a:solidFill>
                  <a:latin typeface="Arial" panose="020B0604020202090204" pitchFamily="34" charset="0"/>
                </a:rPr>
                <a:t>Organizational behavior</a:t>
              </a:r>
              <a:endParaRPr lang="zh-CN" altLang="en-US" sz="1800" b="1" strike="noStrike" noProof="1" dirty="0">
                <a:solidFill>
                  <a:srgbClr val="FFFFFF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5072066" y="3473437"/>
              <a:ext cx="2643206" cy="893763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 fontAlgn="base">
                <a:buClrTx/>
              </a:pPr>
              <a:r>
                <a:rPr lang="en-US" altLang="zh-CN" sz="1800" b="1" strike="noStrike" noProof="1" dirty="0">
                  <a:solidFill>
                    <a:srgbClr val="FFFFFF"/>
                  </a:solidFill>
                  <a:latin typeface="Arial" panose="020B0604020202090204" pitchFamily="34" charset="0"/>
                </a:rPr>
                <a:t>Group dynamics</a:t>
              </a:r>
              <a:endParaRPr lang="zh-CN" altLang="en-US" sz="1800" b="1" strike="noStrike" noProof="1" dirty="0">
                <a:solidFill>
                  <a:srgbClr val="FFFFFF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5072066" y="4406887"/>
              <a:ext cx="2643206" cy="928688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 fontAlgn="base">
                <a:buClrTx/>
              </a:pPr>
              <a:r>
                <a:rPr lang="en-US" altLang="zh-CN" sz="1800" b="1" strike="noStrike" noProof="1" dirty="0">
                  <a:solidFill>
                    <a:srgbClr val="FFFFFF"/>
                  </a:solidFill>
                  <a:latin typeface="Arial" panose="020B0604020202090204" pitchFamily="34" charset="0"/>
                </a:rPr>
                <a:t>Cognition and motivation</a:t>
              </a:r>
              <a:endParaRPr lang="zh-CN" altLang="en-US" sz="1800" b="1" strike="noStrike" noProof="1" dirty="0">
                <a:solidFill>
                  <a:srgbClr val="FFFFFF"/>
                </a:solidFill>
                <a:latin typeface="Arial" panose="020B0604020202090204" pitchFamily="34" charset="0"/>
              </a:endParaRPr>
            </a:p>
          </p:txBody>
        </p:sp>
      </p:grpSp>
      <p:sp>
        <p:nvSpPr>
          <p:cNvPr id="4111" name="Rectangle 3"/>
          <p:cNvSpPr txBox="1"/>
          <p:nvPr/>
        </p:nvSpPr>
        <p:spPr>
          <a:xfrm>
            <a:off x="642938" y="220663"/>
            <a:ext cx="7859712" cy="8509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indent="0" algn="ctr"/>
            <a:r>
              <a:rPr lang="en-US" altLang="zh-CN" sz="2400" b="1" dirty="0">
                <a:solidFill>
                  <a:srgbClr val="000099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6.2  The Psychology Of Software Engineering</a:t>
            </a:r>
            <a:endParaRPr lang="zh-CN" altLang="en-US" sz="2400" b="1" dirty="0">
              <a:solidFill>
                <a:srgbClr val="000099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sp>
        <p:nvSpPr>
          <p:cNvPr id="4112" name="Rectangle 3"/>
          <p:cNvSpPr txBox="1"/>
          <p:nvPr/>
        </p:nvSpPr>
        <p:spPr>
          <a:xfrm>
            <a:off x="250825" y="977900"/>
            <a:ext cx="8229600" cy="13747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ts val="600"/>
              </a:spcBef>
              <a:buChar char="•"/>
            </a:pPr>
            <a:r>
              <a:rPr lang="en-US" altLang="zh-CN" sz="2800" dirty="0">
                <a:latin typeface="Arial" panose="020B0604020202090204" pitchFamily="34" charset="0"/>
                <a:ea typeface="宋体" panose="02010600030101010101" pitchFamily="2" charset="-122"/>
              </a:rPr>
              <a:t>Behavioral Model for Software Engineering</a:t>
            </a:r>
            <a:endParaRPr lang="en-US" altLang="zh-CN" sz="28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Palatino" charset="0"/>
                <a:ea typeface="宋体" panose="02010600030101010101" pitchFamily="2" charset="-122"/>
              </a:rPr>
              <a:t>    </a:t>
            </a:r>
            <a:endParaRPr lang="en-US" altLang="zh-CN" sz="2400" i="1" dirty="0">
              <a:solidFill>
                <a:srgbClr val="000066"/>
              </a:solidFill>
              <a:latin typeface="Palatino" charset="0"/>
              <a:ea typeface="宋体" panose="02010600030101010101" pitchFamily="2" charset="-122"/>
            </a:endParaRPr>
          </a:p>
        </p:txBody>
      </p:sp>
      <p:grpSp>
        <p:nvGrpSpPr>
          <p:cNvPr id="3" name="组合 26"/>
          <p:cNvGrpSpPr/>
          <p:nvPr/>
        </p:nvGrpSpPr>
        <p:grpSpPr>
          <a:xfrm>
            <a:off x="2428875" y="1500188"/>
            <a:ext cx="4643438" cy="4445000"/>
            <a:chOff x="3071802" y="1500174"/>
            <a:chExt cx="4643470" cy="4445002"/>
          </a:xfrm>
        </p:grpSpPr>
        <p:sp>
          <p:nvSpPr>
            <p:cNvPr id="15" name="矩形 14"/>
            <p:cNvSpPr/>
            <p:nvPr/>
          </p:nvSpPr>
          <p:spPr>
            <a:xfrm>
              <a:off x="3143240" y="2616187"/>
              <a:ext cx="2214577" cy="2286001"/>
            </a:xfrm>
            <a:prstGeom prst="rect">
              <a:avLst/>
            </a:prstGeom>
            <a:solidFill>
              <a:srgbClr val="99CC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15" name="TextBox 8"/>
            <p:cNvSpPr txBox="1"/>
            <p:nvPr/>
          </p:nvSpPr>
          <p:spPr>
            <a:xfrm>
              <a:off x="3071802" y="2545462"/>
              <a:ext cx="2214578" cy="36933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indent="0" algn="ctr">
                <a:spcBef>
                  <a:spcPts val="1200"/>
                </a:spcBef>
                <a:spcAft>
                  <a:spcPts val="1200"/>
                </a:spcAft>
              </a:pPr>
              <a:r>
                <a:rPr lang="en-US" altLang="zh-CN" dirty="0">
                  <a:latin typeface="Arial" panose="020B0604020202090204" pitchFamily="34" charset="0"/>
                  <a:ea typeface="宋体" panose="02010600030101010101" pitchFamily="2" charset="-122"/>
                </a:rPr>
                <a:t>Business milieu</a:t>
              </a:r>
              <a:endParaRPr lang="zh-CN" altLang="en-US" dirty="0">
                <a:latin typeface="Arial" panose="020B060402020209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16" name="TextBox 9"/>
            <p:cNvSpPr txBox="1"/>
            <p:nvPr/>
          </p:nvSpPr>
          <p:spPr>
            <a:xfrm>
              <a:off x="3071802" y="3018393"/>
              <a:ext cx="2214578" cy="36933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indent="0" algn="ctr">
                <a:spcBef>
                  <a:spcPts val="1200"/>
                </a:spcBef>
                <a:spcAft>
                  <a:spcPts val="1200"/>
                </a:spcAft>
              </a:pPr>
              <a:r>
                <a:rPr lang="en-US" altLang="zh-CN" dirty="0">
                  <a:latin typeface="Arial" panose="020B0604020202090204" pitchFamily="34" charset="0"/>
                  <a:ea typeface="宋体" panose="02010600030101010101" pitchFamily="2" charset="-122"/>
                </a:rPr>
                <a:t>Company</a:t>
              </a:r>
              <a:endParaRPr lang="zh-CN" altLang="en-US" dirty="0">
                <a:latin typeface="Arial" panose="020B060402020209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17" name="TextBox 10"/>
            <p:cNvSpPr txBox="1"/>
            <p:nvPr/>
          </p:nvSpPr>
          <p:spPr>
            <a:xfrm>
              <a:off x="3071802" y="3488296"/>
              <a:ext cx="2214578" cy="36933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indent="0" algn="ctr">
                <a:spcBef>
                  <a:spcPts val="1200"/>
                </a:spcBef>
                <a:spcAft>
                  <a:spcPts val="1200"/>
                </a:spcAft>
              </a:pPr>
              <a:r>
                <a:rPr lang="en-US" altLang="zh-CN" dirty="0">
                  <a:latin typeface="Arial" panose="020B0604020202090204" pitchFamily="34" charset="0"/>
                  <a:ea typeface="宋体" panose="02010600030101010101" pitchFamily="2" charset="-122"/>
                </a:rPr>
                <a:t>Project</a:t>
              </a:r>
              <a:endParaRPr lang="zh-CN" altLang="en-US" dirty="0">
                <a:latin typeface="Arial" panose="020B060402020209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18" name="TextBox 11"/>
            <p:cNvSpPr txBox="1"/>
            <p:nvPr/>
          </p:nvSpPr>
          <p:spPr>
            <a:xfrm>
              <a:off x="3071802" y="3962080"/>
              <a:ext cx="2214578" cy="36933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indent="0" algn="ctr">
                <a:spcBef>
                  <a:spcPts val="1200"/>
                </a:spcBef>
                <a:spcAft>
                  <a:spcPts val="1200"/>
                </a:spcAft>
              </a:pPr>
              <a:r>
                <a:rPr lang="en-US" altLang="zh-CN" dirty="0">
                  <a:latin typeface="Arial" panose="020B0604020202090204" pitchFamily="34" charset="0"/>
                  <a:ea typeface="宋体" panose="02010600030101010101" pitchFamily="2" charset="-122"/>
                </a:rPr>
                <a:t>team</a:t>
              </a:r>
              <a:endParaRPr lang="zh-CN" altLang="en-US" dirty="0">
                <a:latin typeface="Arial" panose="020B060402020209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19" name="TextBox 12"/>
            <p:cNvSpPr txBox="1"/>
            <p:nvPr/>
          </p:nvSpPr>
          <p:spPr>
            <a:xfrm>
              <a:off x="3071802" y="4425428"/>
              <a:ext cx="2214578" cy="36933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indent="0" algn="ctr">
                <a:spcBef>
                  <a:spcPts val="1200"/>
                </a:spcBef>
                <a:spcAft>
                  <a:spcPts val="1200"/>
                </a:spcAft>
              </a:pPr>
              <a:r>
                <a:rPr lang="en-US" altLang="zh-CN" dirty="0">
                  <a:latin typeface="Arial" panose="020B0604020202090204" pitchFamily="34" charset="0"/>
                  <a:ea typeface="宋体" panose="02010600030101010101" pitchFamily="2" charset="-122"/>
                </a:rPr>
                <a:t>individual</a:t>
              </a:r>
              <a:endParaRPr lang="zh-CN" altLang="en-US" dirty="0">
                <a:latin typeface="Arial" panose="020B060402020209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上箭头 17"/>
            <p:cNvSpPr/>
            <p:nvPr/>
          </p:nvSpPr>
          <p:spPr>
            <a:xfrm>
              <a:off x="4027484" y="1830374"/>
              <a:ext cx="285752" cy="714375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上箭头 18"/>
            <p:cNvSpPr/>
            <p:nvPr/>
          </p:nvSpPr>
          <p:spPr>
            <a:xfrm flipV="1">
              <a:off x="4027484" y="4902188"/>
              <a:ext cx="285752" cy="714375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22" name="TextBox 19"/>
            <p:cNvSpPr txBox="1"/>
            <p:nvPr/>
          </p:nvSpPr>
          <p:spPr>
            <a:xfrm>
              <a:off x="3451570" y="1500174"/>
              <a:ext cx="14287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indent="0" algn="ctr"/>
              <a:r>
                <a:rPr lang="en-US" altLang="zh-CN" dirty="0">
                  <a:latin typeface="Arial" panose="020B0604020202090204" pitchFamily="34" charset="0"/>
                  <a:ea typeface="宋体" panose="02010600030101010101" pitchFamily="2" charset="-122"/>
                </a:rPr>
                <a:t>Software</a:t>
              </a:r>
              <a:endParaRPr lang="zh-CN" altLang="en-US" dirty="0">
                <a:latin typeface="Arial" panose="020B060402020209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23" name="TextBox 20"/>
            <p:cNvSpPr txBox="1"/>
            <p:nvPr/>
          </p:nvSpPr>
          <p:spPr>
            <a:xfrm>
              <a:off x="3455274" y="5575844"/>
              <a:ext cx="1428760" cy="3693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indent="0" algn="ctr"/>
              <a:r>
                <a:rPr lang="en-US" altLang="zh-CN" dirty="0">
                  <a:latin typeface="Arial" panose="020B0604020202090204" pitchFamily="34" charset="0"/>
                  <a:ea typeface="宋体" panose="02010600030101010101" pitchFamily="2" charset="-122"/>
                </a:rPr>
                <a:t>Problem</a:t>
              </a:r>
              <a:endParaRPr lang="zh-CN" altLang="en-US" dirty="0">
                <a:latin typeface="Arial" panose="020B060402020209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5072066" y="2473311"/>
              <a:ext cx="2643206" cy="928688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 fontAlgn="base">
                <a:buClrTx/>
              </a:pPr>
              <a:r>
                <a:rPr lang="en-US" altLang="zh-CN" sz="1800" b="1" strike="noStrike" noProof="1" dirty="0">
                  <a:solidFill>
                    <a:srgbClr val="FFFFFF"/>
                  </a:solidFill>
                  <a:latin typeface="Arial" panose="020B0604020202090204" pitchFamily="34" charset="0"/>
                </a:rPr>
                <a:t>Organizational behavior</a:t>
              </a:r>
              <a:endParaRPr lang="zh-CN" altLang="en-US" sz="1800" b="1" strike="noStrike" noProof="1" dirty="0">
                <a:solidFill>
                  <a:srgbClr val="FFFFFF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072066" y="3473437"/>
              <a:ext cx="2643206" cy="893763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 fontAlgn="base">
                <a:buClrTx/>
              </a:pPr>
              <a:r>
                <a:rPr lang="en-US" altLang="zh-CN" sz="1800" b="1" strike="noStrike" noProof="1" dirty="0">
                  <a:solidFill>
                    <a:srgbClr val="FFFFFF"/>
                  </a:solidFill>
                  <a:latin typeface="Arial" panose="020B0604020202090204" pitchFamily="34" charset="0"/>
                </a:rPr>
                <a:t>Group dynamics</a:t>
              </a:r>
              <a:endParaRPr lang="zh-CN" altLang="en-US" sz="1800" b="1" strike="noStrike" noProof="1" dirty="0">
                <a:solidFill>
                  <a:srgbClr val="FFFFFF"/>
                </a:solidFill>
                <a:latin typeface="Arial" panose="020B0604020202090204" pitchFamily="34" charset="0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5072066" y="4406887"/>
              <a:ext cx="2643206" cy="928688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2400"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457200" lvl="1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lvl="2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lvl="3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lvl="4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  <a:cs typeface="+mn-cs"/>
                </a:defRPr>
              </a:lvl5pPr>
            </a:lstStyle>
            <a:p>
              <a:pPr lvl="0" algn="ctr" fontAlgn="base">
                <a:buClrTx/>
              </a:pPr>
              <a:r>
                <a:rPr lang="en-US" altLang="zh-CN" sz="1800" b="1" strike="noStrike" noProof="1" dirty="0">
                  <a:solidFill>
                    <a:srgbClr val="FFFFFF"/>
                  </a:solidFill>
                  <a:latin typeface="Arial" panose="020B0604020202090204" pitchFamily="34" charset="0"/>
                </a:rPr>
                <a:t>Cognition and motivation</a:t>
              </a:r>
              <a:endParaRPr lang="zh-CN" altLang="en-US" sz="1800" b="1" strike="noStrike" noProof="1" dirty="0">
                <a:solidFill>
                  <a:srgbClr val="FFFFFF"/>
                </a:solidFill>
                <a:latin typeface="Arial" panose="020B0604020202090204" pitchFamily="34" charset="0"/>
              </a:endParaRPr>
            </a:p>
          </p:txBody>
        </p:sp>
      </p:grpSp>
      <p:grpSp>
        <p:nvGrpSpPr>
          <p:cNvPr id="4" name="组合 27"/>
          <p:cNvGrpSpPr/>
          <p:nvPr/>
        </p:nvGrpSpPr>
        <p:grpSpPr>
          <a:xfrm>
            <a:off x="384175" y="3046413"/>
            <a:ext cx="2330450" cy="2319337"/>
            <a:chOff x="383828" y="2449846"/>
            <a:chExt cx="2331102" cy="2238756"/>
          </a:xfrm>
        </p:grpSpPr>
        <p:sp>
          <p:nvSpPr>
            <p:cNvPr id="25" name="矩形标注 24"/>
            <p:cNvSpPr/>
            <p:nvPr/>
          </p:nvSpPr>
          <p:spPr>
            <a:xfrm>
              <a:off x="500034" y="2474024"/>
              <a:ext cx="2214578" cy="2214578"/>
            </a:xfrm>
            <a:prstGeom prst="wedgeRectCallout">
              <a:avLst>
                <a:gd name="adj1" fmla="val 82138"/>
                <a:gd name="adj2" fmla="val 26869"/>
              </a:avLst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29" name="Rectangle 3"/>
            <p:cNvSpPr txBox="1"/>
            <p:nvPr/>
          </p:nvSpPr>
          <p:spPr>
            <a:xfrm>
              <a:off x="383828" y="2449846"/>
              <a:ext cx="2331102" cy="180023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p>
              <a:pPr marL="342900" indent="-342900" defTabSz="914400">
                <a:spcAft>
                  <a:spcPts val="600"/>
                </a:spcAft>
                <a:buClr>
                  <a:schemeClr val="tx1"/>
                </a:buClr>
                <a:buFont typeface="Wingdings" panose="05000000000000000000" pitchFamily="2" charset="2"/>
                <a:buChar char="Ø"/>
              </a:pPr>
              <a:r>
                <a:rPr lang="en-US" altLang="zh-CN" dirty="0">
                  <a:solidFill>
                    <a:srgbClr val="0000FF"/>
                  </a:solidFill>
                  <a:latin typeface="Palatino" charset="0"/>
                  <a:ea typeface="宋体" panose="02010600030101010101" pitchFamily="2" charset="-122"/>
                </a:rPr>
                <a:t>Ambassador</a:t>
              </a:r>
              <a:r>
                <a:rPr lang="zh-CN" altLang="en-US" dirty="0">
                  <a:solidFill>
                    <a:srgbClr val="0000FF"/>
                  </a:solidFill>
                  <a:latin typeface="Palatino" charset="0"/>
                  <a:ea typeface="宋体" panose="02010600030101010101" pitchFamily="2" charset="-122"/>
                </a:rPr>
                <a:t>（外联员，大使）</a:t>
              </a:r>
              <a:endParaRPr lang="en-US" altLang="zh-CN" dirty="0">
                <a:solidFill>
                  <a:srgbClr val="0000FF"/>
                </a:solidFill>
                <a:latin typeface="Palatino" charset="0"/>
                <a:ea typeface="宋体" panose="02010600030101010101" pitchFamily="2" charset="-122"/>
              </a:endParaRPr>
            </a:p>
            <a:p>
              <a:pPr marL="342900" indent="-342900" defTabSz="914400">
                <a:spcAft>
                  <a:spcPts val="600"/>
                </a:spcAft>
                <a:buClr>
                  <a:schemeClr val="tx1"/>
                </a:buClr>
                <a:buFont typeface="Wingdings" panose="05000000000000000000" pitchFamily="2" charset="2"/>
                <a:buChar char="Ø"/>
              </a:pPr>
              <a:r>
                <a:rPr lang="en-US" altLang="zh-CN" dirty="0">
                  <a:solidFill>
                    <a:srgbClr val="0000FF"/>
                  </a:solidFill>
                  <a:latin typeface="Palatino" charset="0"/>
                  <a:ea typeface="宋体" panose="02010600030101010101" pitchFamily="2" charset="-122"/>
                </a:rPr>
                <a:t>Scout</a:t>
              </a:r>
              <a:r>
                <a:rPr lang="zh-CN" altLang="en-US" dirty="0">
                  <a:solidFill>
                    <a:srgbClr val="0000FF"/>
                  </a:solidFill>
                  <a:latin typeface="Palatino" charset="0"/>
                  <a:ea typeface="宋体" panose="02010600030101010101" pitchFamily="2" charset="-122"/>
                </a:rPr>
                <a:t>（侦查员）</a:t>
              </a:r>
              <a:endParaRPr lang="en-US" altLang="zh-CN" dirty="0">
                <a:solidFill>
                  <a:srgbClr val="0000FF"/>
                </a:solidFill>
                <a:latin typeface="Palatino" charset="0"/>
                <a:ea typeface="宋体" panose="02010600030101010101" pitchFamily="2" charset="-122"/>
              </a:endParaRPr>
            </a:p>
            <a:p>
              <a:pPr marL="342900" indent="-342900" defTabSz="914400">
                <a:spcAft>
                  <a:spcPts val="600"/>
                </a:spcAft>
                <a:buClr>
                  <a:schemeClr val="tx1"/>
                </a:buClr>
                <a:buFont typeface="Wingdings" panose="05000000000000000000" pitchFamily="2" charset="2"/>
                <a:buChar char="Ø"/>
              </a:pPr>
              <a:r>
                <a:rPr lang="en-US" altLang="zh-CN" dirty="0">
                  <a:solidFill>
                    <a:srgbClr val="0000FF"/>
                  </a:solidFill>
                  <a:latin typeface="Palatino" charset="0"/>
                  <a:ea typeface="宋体" panose="02010600030101010101" pitchFamily="2" charset="-122"/>
                </a:rPr>
                <a:t>Guard</a:t>
              </a:r>
              <a:r>
                <a:rPr lang="zh-CN" altLang="en-US" dirty="0">
                  <a:solidFill>
                    <a:srgbClr val="0000FF"/>
                  </a:solidFill>
                  <a:latin typeface="Palatino" charset="0"/>
                  <a:ea typeface="宋体" panose="02010600030101010101" pitchFamily="2" charset="-122"/>
                </a:rPr>
                <a:t>（守护员）</a:t>
              </a:r>
              <a:endParaRPr lang="en-US" altLang="zh-CN" dirty="0">
                <a:solidFill>
                  <a:srgbClr val="0000FF"/>
                </a:solidFill>
                <a:latin typeface="Palatino" charset="0"/>
                <a:ea typeface="宋体" panose="02010600030101010101" pitchFamily="2" charset="-122"/>
              </a:endParaRPr>
            </a:p>
            <a:p>
              <a:pPr marL="342900" indent="-342900" defTabSz="914400">
                <a:spcAft>
                  <a:spcPts val="600"/>
                </a:spcAft>
                <a:buClr>
                  <a:schemeClr val="tx1"/>
                </a:buClr>
                <a:buFont typeface="Wingdings" panose="05000000000000000000" pitchFamily="2" charset="2"/>
                <a:buChar char="Ø"/>
              </a:pPr>
              <a:r>
                <a:rPr lang="en-US" altLang="zh-CN" dirty="0">
                  <a:solidFill>
                    <a:srgbClr val="0000FF"/>
                  </a:solidFill>
                  <a:latin typeface="Palatino" charset="0"/>
                  <a:ea typeface="宋体" panose="02010600030101010101" pitchFamily="2" charset="-122"/>
                </a:rPr>
                <a:t>Sentry </a:t>
              </a:r>
              <a:r>
                <a:rPr lang="zh-CN" altLang="en-US" dirty="0">
                  <a:solidFill>
                    <a:srgbClr val="0000FF"/>
                  </a:solidFill>
                  <a:latin typeface="Palatino" charset="0"/>
                  <a:ea typeface="宋体" panose="02010600030101010101" pitchFamily="2" charset="-122"/>
                </a:rPr>
                <a:t>（安检员）</a:t>
              </a:r>
              <a:endParaRPr lang="en-US" altLang="zh-CN" dirty="0">
                <a:solidFill>
                  <a:srgbClr val="0000FF"/>
                </a:solidFill>
                <a:latin typeface="Palatino" charset="0"/>
                <a:ea typeface="宋体" panose="02010600030101010101" pitchFamily="2" charset="-122"/>
              </a:endParaRPr>
            </a:p>
            <a:p>
              <a:pPr marL="342900" indent="-342900" defTabSz="914400">
                <a:spcAft>
                  <a:spcPts val="600"/>
                </a:spcAft>
                <a:buClr>
                  <a:schemeClr val="tx1"/>
                </a:buClr>
                <a:buFont typeface="Wingdings" panose="05000000000000000000" pitchFamily="2" charset="2"/>
                <a:buChar char="Ø"/>
              </a:pPr>
              <a:r>
                <a:rPr lang="en-US" altLang="zh-CN" dirty="0">
                  <a:solidFill>
                    <a:srgbClr val="0000FF"/>
                  </a:solidFill>
                  <a:latin typeface="Palatino" charset="0"/>
                  <a:ea typeface="宋体" panose="02010600030101010101" pitchFamily="2" charset="-122"/>
                </a:rPr>
                <a:t>Coordinator</a:t>
              </a:r>
              <a:r>
                <a:rPr lang="zh-CN" altLang="en-US" dirty="0">
                  <a:solidFill>
                    <a:srgbClr val="0000FF"/>
                  </a:solidFill>
                  <a:latin typeface="Palatino" charset="0"/>
                  <a:ea typeface="宋体" panose="02010600030101010101" pitchFamily="2" charset="-122"/>
                </a:rPr>
                <a:t>（协调员）</a:t>
              </a:r>
              <a:endParaRPr lang="zh-CN" altLang="en-US" dirty="0">
                <a:solidFill>
                  <a:srgbClr val="0000FF"/>
                </a:solidFill>
                <a:latin typeface="Palatino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" name="Rectangle 3"/>
          <p:cNvSpPr txBox="1"/>
          <p:nvPr/>
        </p:nvSpPr>
        <p:spPr>
          <a:xfrm>
            <a:off x="271463" y="1571625"/>
            <a:ext cx="8229600" cy="571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p>
            <a:pPr marL="342900" indent="-342900">
              <a:spcBef>
                <a:spcPts val="600"/>
              </a:spcBef>
              <a:buChar char="•"/>
            </a:pPr>
            <a:r>
              <a:rPr lang="en-US" altLang="zh-CN" sz="2800" dirty="0">
                <a:latin typeface="Arial" panose="020B0604020202090204" pitchFamily="34" charset="0"/>
                <a:ea typeface="宋体" panose="02010600030101010101" pitchFamily="2" charset="-122"/>
              </a:rPr>
              <a:t>Boundary Spanning Team Roles</a:t>
            </a:r>
            <a:endParaRPr lang="en-US" altLang="zh-CN" sz="28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Palatino" charset="0"/>
                <a:ea typeface="宋体" panose="02010600030101010101" pitchFamily="2" charset="-122"/>
              </a:rPr>
              <a:t>    </a:t>
            </a:r>
            <a:endParaRPr lang="en-US" altLang="zh-CN" sz="2400" i="1" dirty="0">
              <a:solidFill>
                <a:srgbClr val="000066"/>
              </a:solidFill>
              <a:latin typeface="Palatino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836988" y="6245225"/>
            <a:ext cx="2895600" cy="476250"/>
          </a:xfrm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122" name="Rectangle 3"/>
          <p:cNvSpPr txBox="1"/>
          <p:nvPr/>
        </p:nvSpPr>
        <p:spPr>
          <a:xfrm>
            <a:off x="642938" y="0"/>
            <a:ext cx="7859712" cy="8509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indent="0" algn="ctr"/>
            <a:r>
              <a:rPr lang="en-US" altLang="zh-CN" sz="2400" b="1" dirty="0">
                <a:solidFill>
                  <a:srgbClr val="000099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6.3  The Software Team</a:t>
            </a:r>
            <a:endParaRPr lang="zh-CN" altLang="en-US" sz="2400" b="1" dirty="0">
              <a:solidFill>
                <a:srgbClr val="000099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sp>
        <p:nvSpPr>
          <p:cNvPr id="5123" name="Rectangle 3"/>
          <p:cNvSpPr txBox="1"/>
          <p:nvPr/>
        </p:nvSpPr>
        <p:spPr>
          <a:xfrm>
            <a:off x="250825" y="812800"/>
            <a:ext cx="8229600" cy="593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ts val="600"/>
              </a:spcBef>
              <a:buChar char="•"/>
            </a:pPr>
            <a:r>
              <a:rPr lang="en-US" altLang="zh-CN" sz="2800" dirty="0">
                <a:latin typeface="Arial" panose="020B0604020202090204" pitchFamily="34" charset="0"/>
                <a:ea typeface="宋体" panose="02010600030101010101" pitchFamily="2" charset="-122"/>
              </a:rPr>
              <a:t>Effective Software Team Attributes</a:t>
            </a:r>
            <a:endParaRPr lang="en-US" altLang="zh-CN" sz="28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Palatino" charset="0"/>
                <a:ea typeface="宋体" panose="02010600030101010101" pitchFamily="2" charset="-122"/>
              </a:rPr>
              <a:t>    </a:t>
            </a:r>
            <a:endParaRPr lang="en-US" altLang="zh-CN" sz="2400" i="1" dirty="0">
              <a:solidFill>
                <a:srgbClr val="000066"/>
              </a:solidFill>
              <a:latin typeface="Palatino" charset="0"/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 txBox="1"/>
          <p:nvPr/>
        </p:nvSpPr>
        <p:spPr>
          <a:xfrm>
            <a:off x="642938" y="1258888"/>
            <a:ext cx="4429125" cy="2143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Sense of purpose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Sense of involvement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Sense of trust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</a:pP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endParaRPr lang="en-US" altLang="zh-CN" sz="2400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Rectangle 3"/>
          <p:cNvSpPr txBox="1"/>
          <p:nvPr/>
        </p:nvSpPr>
        <p:spPr>
          <a:xfrm>
            <a:off x="250825" y="2452688"/>
            <a:ext cx="8229600" cy="5953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ts val="600"/>
              </a:spcBef>
              <a:buChar char="•"/>
            </a:pPr>
            <a:r>
              <a:rPr lang="en-US" altLang="zh-CN" sz="2800" dirty="0">
                <a:latin typeface="Arial" panose="020B0604020202090204" pitchFamily="34" charset="0"/>
                <a:ea typeface="宋体" panose="02010600030101010101" pitchFamily="2" charset="-122"/>
              </a:rPr>
              <a:t>Avoid Team “Toxicity”</a:t>
            </a:r>
            <a:endParaRPr lang="en-US" altLang="zh-CN" sz="28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Palatino" charset="0"/>
                <a:ea typeface="宋体" panose="02010600030101010101" pitchFamily="2" charset="-122"/>
              </a:rPr>
              <a:t>    </a:t>
            </a:r>
            <a:endParaRPr lang="en-US" altLang="zh-CN" sz="2400" i="1" dirty="0">
              <a:solidFill>
                <a:srgbClr val="000066"/>
              </a:solidFill>
              <a:latin typeface="Palatino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 txBox="1"/>
          <p:nvPr/>
        </p:nvSpPr>
        <p:spPr>
          <a:xfrm>
            <a:off x="714375" y="2905125"/>
            <a:ext cx="8301038" cy="35258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33CC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A frenzied work atmosphere </a:t>
            </a:r>
            <a:r>
              <a:rPr lang="en-US" altLang="zh-CN" dirty="0">
                <a:latin typeface="Arial" panose="020B0604020202090204" pitchFamily="34" charset="0"/>
                <a:ea typeface="宋体" panose="02010600030101010101" pitchFamily="2" charset="-122"/>
              </a:rPr>
              <a:t>in which team members waste energy and lose focus on the objectives of the work to be performed.</a:t>
            </a:r>
            <a:r>
              <a:rPr lang="zh-CN" altLang="en-US" dirty="0">
                <a:solidFill>
                  <a:srgbClr val="FF0000"/>
                </a:solidFill>
                <a:latin typeface="Helvetica" pitchFamily="-65" charset="0"/>
                <a:ea typeface="宋体" panose="02010600030101010101" pitchFamily="2" charset="-122"/>
              </a:rPr>
              <a:t>目标混乱，氛围凝固</a:t>
            </a:r>
            <a:endParaRPr lang="en-US" altLang="zh-CN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33CC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High frustration </a:t>
            </a:r>
            <a:r>
              <a:rPr lang="en-US" altLang="zh-CN" dirty="0">
                <a:latin typeface="Arial" panose="020B0604020202090204" pitchFamily="34" charset="0"/>
                <a:ea typeface="宋体" panose="02010600030101010101" pitchFamily="2" charset="-122"/>
              </a:rPr>
              <a:t>caused by personal, business, or technological factors that cause friction among team members.</a:t>
            </a:r>
            <a:r>
              <a:rPr lang="zh-CN" altLang="en-US" dirty="0">
                <a:solidFill>
                  <a:srgbClr val="FF0000"/>
                </a:solidFill>
                <a:latin typeface="Helvetica" pitchFamily="-65" charset="0"/>
                <a:ea typeface="宋体" panose="02010600030101010101" pitchFamily="2" charset="-122"/>
              </a:rPr>
              <a:t>矛盾重重，高度沮丧</a:t>
            </a:r>
            <a:endParaRPr lang="en-US" altLang="zh-CN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33CC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“Fragmented or poorly coordinated procedures</a:t>
            </a:r>
            <a:r>
              <a:rPr lang="en-US" altLang="zh-CN" dirty="0">
                <a:latin typeface="Arial" panose="020B0604020202090204" pitchFamily="34" charset="0"/>
                <a:ea typeface="宋体" panose="02010600030101010101" pitchFamily="2" charset="-122"/>
              </a:rPr>
              <a:t>” or a poorly defined or improperly chosen process model affecting accomplishment.</a:t>
            </a:r>
            <a:r>
              <a:rPr lang="zh-CN" altLang="en-US" dirty="0">
                <a:solidFill>
                  <a:srgbClr val="FF0000"/>
                </a:solidFill>
                <a:latin typeface="Helvetica" pitchFamily="-65" charset="0"/>
                <a:ea typeface="宋体" panose="02010600030101010101" pitchFamily="2" charset="-122"/>
              </a:rPr>
              <a:t>管理不善，协同困难</a:t>
            </a:r>
            <a:endParaRPr lang="en-US" altLang="zh-CN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0033CC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Unclear definition </a:t>
            </a:r>
            <a:r>
              <a:rPr lang="en-US" altLang="zh-CN" dirty="0">
                <a:latin typeface="Arial" panose="020B0604020202090204" pitchFamily="34" charset="0"/>
                <a:ea typeface="宋体" panose="02010600030101010101" pitchFamily="2" charset="-122"/>
              </a:rPr>
              <a:t>of roles resulting in a lack of accountability and resultant finger-pointing.</a:t>
            </a:r>
            <a:r>
              <a:rPr lang="en-US" altLang="en-US" dirty="0">
                <a:solidFill>
                  <a:srgbClr val="FF0000"/>
                </a:solidFill>
                <a:latin typeface="Helvetica" pitchFamily="-65" charset="0"/>
                <a:ea typeface="宋体" panose="02010600030101010101" pitchFamily="2" charset="-122"/>
              </a:rPr>
              <a:t>分工不明</a:t>
            </a:r>
            <a:r>
              <a:rPr lang="zh-CN" altLang="en-US" dirty="0">
                <a:solidFill>
                  <a:srgbClr val="FF0000"/>
                </a:solidFill>
                <a:latin typeface="Helvetica" pitchFamily="-65" charset="0"/>
                <a:ea typeface="宋体" panose="02010600030101010101" pitchFamily="2" charset="-122"/>
              </a:rPr>
              <a:t>，相互指责</a:t>
            </a:r>
            <a:endParaRPr lang="en-US" altLang="en-US" dirty="0">
              <a:solidFill>
                <a:srgbClr val="FF0000"/>
              </a:solidFill>
              <a:latin typeface="Helvetica" pitchFamily="-65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Arial" panose="020B0604020202090204" pitchFamily="34" charset="0"/>
                <a:ea typeface="宋体" panose="02010600030101010101" pitchFamily="2" charset="-122"/>
              </a:rPr>
              <a:t>“</a:t>
            </a:r>
            <a:r>
              <a:rPr lang="en-US" altLang="zh-CN" dirty="0">
                <a:solidFill>
                  <a:srgbClr val="0033CC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Continuous and repeated exposure to failure</a:t>
            </a:r>
            <a:r>
              <a:rPr lang="en-US" altLang="zh-CN" dirty="0">
                <a:latin typeface="Arial" panose="020B0604020202090204" pitchFamily="34" charset="0"/>
                <a:ea typeface="宋体" panose="02010600030101010101" pitchFamily="2" charset="-122"/>
              </a:rPr>
              <a:t>” that leads to a loss of confidence and a lowering of morale. </a:t>
            </a:r>
            <a:r>
              <a:rPr lang="zh-CN" altLang="en-US" dirty="0">
                <a:solidFill>
                  <a:srgbClr val="FF0000"/>
                </a:solidFill>
                <a:latin typeface="Helvetica" pitchFamily="-65" charset="0"/>
                <a:ea typeface="宋体" panose="02010600030101010101" pitchFamily="2" charset="-122"/>
              </a:rPr>
              <a:t>连续失败，信心缺失</a:t>
            </a:r>
            <a:endParaRPr lang="zh-CN" altLang="en-US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Rectangle 3"/>
          <p:cNvSpPr txBox="1"/>
          <p:nvPr/>
        </p:nvSpPr>
        <p:spPr>
          <a:xfrm>
            <a:off x="4143375" y="1250950"/>
            <a:ext cx="3500438" cy="11525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Sense of improvement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Diversity of team member skill sets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endParaRPr lang="en-US" altLang="zh-CN" sz="2400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sp>
        <p:nvSpPr>
          <p:cNvPr id="5128" name="AutoShape 5" descr="http://img5.imgtn.bdimg.com/it/u=1724010169,3614168750&amp;fm=23&amp;gp=0.jpg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indent="0"/>
            <a:endParaRPr lang="zh-CN" altLang="en-US" dirty="0"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sp>
        <p:nvSpPr>
          <p:cNvPr id="5129" name="AutoShape 7" descr="http://img5.imgtn.bdimg.com/it/u=1724010169,3614168750&amp;fm=23&amp;gp=0.jpg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indent="0"/>
            <a:endParaRPr lang="zh-CN" altLang="en-US" dirty="0"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 bldLvl="0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836988" y="6245225"/>
            <a:ext cx="2895600" cy="476250"/>
          </a:xfrm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146" name="Rectangle 3"/>
          <p:cNvSpPr txBox="1"/>
          <p:nvPr/>
        </p:nvSpPr>
        <p:spPr>
          <a:xfrm>
            <a:off x="642938" y="0"/>
            <a:ext cx="7859712" cy="8509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indent="0" algn="ctr"/>
            <a:r>
              <a:rPr lang="en-US" altLang="zh-CN" sz="2400" b="1" dirty="0">
                <a:solidFill>
                  <a:srgbClr val="000099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6.4  Team Structures</a:t>
            </a:r>
            <a:endParaRPr lang="zh-CN" altLang="en-US" sz="2400" b="1" dirty="0">
              <a:solidFill>
                <a:srgbClr val="000099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sp>
        <p:nvSpPr>
          <p:cNvPr id="6147" name="Rectangle 3"/>
          <p:cNvSpPr txBox="1"/>
          <p:nvPr/>
        </p:nvSpPr>
        <p:spPr>
          <a:xfrm>
            <a:off x="250825" y="812800"/>
            <a:ext cx="8229600" cy="593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ts val="600"/>
              </a:spcBef>
              <a:buChar char="•"/>
            </a:pPr>
            <a:r>
              <a:rPr lang="en-US" altLang="zh-CN" sz="2800" dirty="0">
                <a:latin typeface="Arial" panose="020B0604020202090204" pitchFamily="34" charset="0"/>
                <a:ea typeface="宋体" panose="02010600030101010101" pitchFamily="2" charset="-122"/>
              </a:rPr>
              <a:t>Organizational Paradigms</a:t>
            </a:r>
            <a:endParaRPr lang="en-US" altLang="zh-CN" sz="28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Palatino" charset="0"/>
                <a:ea typeface="宋体" panose="02010600030101010101" pitchFamily="2" charset="-122"/>
              </a:rPr>
              <a:t>    </a:t>
            </a:r>
            <a:endParaRPr lang="en-US" altLang="zh-CN" sz="2400" i="1" dirty="0">
              <a:solidFill>
                <a:srgbClr val="000066"/>
              </a:solidFill>
              <a:latin typeface="Palatino" charset="0"/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 txBox="1"/>
          <p:nvPr/>
        </p:nvSpPr>
        <p:spPr>
          <a:xfrm>
            <a:off x="571500" y="1500188"/>
            <a:ext cx="7929563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Closed paradigm </a:t>
            </a:r>
            <a:r>
              <a:rPr lang="en-US" altLang="zh-CN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—structures a team along  a traditional hierarchy of authority</a:t>
            </a:r>
            <a:endParaRPr lang="en-US" altLang="zh-CN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Random paradigm </a:t>
            </a:r>
            <a:r>
              <a:rPr lang="en-US" altLang="zh-CN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—structures a team loosely and depends on individual initiative of the team members </a:t>
            </a:r>
            <a:endParaRPr lang="en-US" altLang="zh-CN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Open paradigm </a:t>
            </a:r>
            <a:r>
              <a:rPr lang="en-US" altLang="zh-CN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—attempts to structure a team in a manner that achieves some of the controls associated with the closed paradigm but also much of the innovation that occurs when using the random paradigm</a:t>
            </a:r>
            <a:endParaRPr lang="en-US" altLang="zh-CN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Synchronous paradigm </a:t>
            </a:r>
            <a:r>
              <a:rPr lang="en-US" altLang="zh-CN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—relies on the natural compartmentalization of a problem and organizes team members to work on pieces of the problem with little active communication among themselves</a:t>
            </a:r>
            <a:endParaRPr lang="en-US" altLang="zh-CN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pic>
        <p:nvPicPr>
          <p:cNvPr id="6149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648325"/>
            <a:ext cx="1838325" cy="1209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0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79" end="1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80" end="3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382" end="5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836988" y="6245225"/>
            <a:ext cx="2895600" cy="476250"/>
          </a:xfrm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170" name="Rectangle 3"/>
          <p:cNvSpPr txBox="1"/>
          <p:nvPr/>
        </p:nvSpPr>
        <p:spPr>
          <a:xfrm>
            <a:off x="642938" y="0"/>
            <a:ext cx="7859712" cy="8509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indent="0" algn="ctr"/>
            <a:r>
              <a:rPr lang="en-US" altLang="zh-CN" sz="2400" b="1" dirty="0">
                <a:solidFill>
                  <a:srgbClr val="000099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6.4  Team Structures</a:t>
            </a:r>
            <a:endParaRPr lang="zh-CN" altLang="en-US" sz="2400" b="1" dirty="0">
              <a:solidFill>
                <a:srgbClr val="000099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sp>
        <p:nvSpPr>
          <p:cNvPr id="7171" name="Rectangle 3"/>
          <p:cNvSpPr txBox="1"/>
          <p:nvPr/>
        </p:nvSpPr>
        <p:spPr>
          <a:xfrm>
            <a:off x="250825" y="812800"/>
            <a:ext cx="8229600" cy="593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ts val="600"/>
              </a:spcBef>
              <a:buChar char="•"/>
            </a:pPr>
            <a:r>
              <a:rPr lang="en-US" altLang="zh-CN" sz="2800" dirty="0">
                <a:latin typeface="Arial" panose="020B0604020202090204" pitchFamily="34" charset="0"/>
                <a:ea typeface="宋体" panose="02010600030101010101" pitchFamily="2" charset="-122"/>
              </a:rPr>
              <a:t>Factors Affecting Team Structure</a:t>
            </a:r>
            <a:endParaRPr lang="en-US" altLang="zh-CN" sz="28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Palatino" charset="0"/>
                <a:ea typeface="宋体" panose="02010600030101010101" pitchFamily="2" charset="-122"/>
              </a:rPr>
              <a:t>    </a:t>
            </a:r>
            <a:endParaRPr lang="en-US" altLang="zh-CN" sz="2400" i="1" dirty="0">
              <a:solidFill>
                <a:srgbClr val="000066"/>
              </a:solidFill>
              <a:latin typeface="Palatino" charset="0"/>
              <a:ea typeface="宋体" panose="02010600030101010101" pitchFamily="2" charset="-122"/>
            </a:endParaRPr>
          </a:p>
        </p:txBody>
      </p:sp>
      <p:sp>
        <p:nvSpPr>
          <p:cNvPr id="10" name="Rectangle 3"/>
          <p:cNvSpPr txBox="1"/>
          <p:nvPr/>
        </p:nvSpPr>
        <p:spPr>
          <a:xfrm>
            <a:off x="642938" y="1428750"/>
            <a:ext cx="8215312" cy="3810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the 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difficulty of the problem </a:t>
            </a: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to be solved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the 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size of the resultant program(s</a:t>
            </a: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) in lines of code or function points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the 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time that the team will stay together </a:t>
            </a: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(team lifetime)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the degree to which the problem can be modularized</a:t>
            </a:r>
            <a:endParaRPr lang="en-US" altLang="zh-CN" sz="2000" dirty="0">
              <a:solidFill>
                <a:srgbClr val="0000FF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the 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required quality and reliability </a:t>
            </a: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of the system to be built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the 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rigidity of the delivery date</a:t>
            </a:r>
            <a:endParaRPr lang="en-US" altLang="zh-CN" sz="2000" dirty="0">
              <a:solidFill>
                <a:srgbClr val="0000FF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the 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degree of sociability </a:t>
            </a: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(communication) required for the project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ts val="3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har char="•"/>
            </a:pPr>
            <a:endParaRPr lang="en-US" altLang="zh-CN" sz="2400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836988" y="6245225"/>
            <a:ext cx="2895600" cy="476250"/>
          </a:xfrm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194" name="Rectangle 3"/>
          <p:cNvSpPr txBox="1"/>
          <p:nvPr/>
        </p:nvSpPr>
        <p:spPr>
          <a:xfrm>
            <a:off x="642938" y="0"/>
            <a:ext cx="7859712" cy="8509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indent="0" algn="ctr"/>
            <a:r>
              <a:rPr lang="en-US" altLang="zh-CN" sz="2400" b="1" dirty="0">
                <a:solidFill>
                  <a:srgbClr val="000099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6.5   Agile Teams</a:t>
            </a:r>
            <a:endParaRPr lang="zh-CN" altLang="en-US" sz="2400" b="1" dirty="0">
              <a:solidFill>
                <a:srgbClr val="000099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sp>
        <p:nvSpPr>
          <p:cNvPr id="8195" name="Rectangle 3"/>
          <p:cNvSpPr txBox="1"/>
          <p:nvPr/>
        </p:nvSpPr>
        <p:spPr>
          <a:xfrm>
            <a:off x="250825" y="812800"/>
            <a:ext cx="8229600" cy="593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ts val="600"/>
              </a:spcBef>
              <a:buChar char="•"/>
            </a:pPr>
            <a:r>
              <a:rPr lang="en-US" altLang="zh-CN" sz="2800" dirty="0">
                <a:latin typeface="Arial" panose="020B0604020202090204" pitchFamily="34" charset="0"/>
                <a:ea typeface="宋体" panose="02010600030101010101" pitchFamily="2" charset="-122"/>
              </a:rPr>
              <a:t>Generic Agile Teams</a:t>
            </a:r>
            <a:endParaRPr lang="en-US" altLang="zh-CN" sz="28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Palatino" charset="0"/>
                <a:ea typeface="宋体" panose="02010600030101010101" pitchFamily="2" charset="-122"/>
              </a:rPr>
              <a:t>    </a:t>
            </a:r>
            <a:endParaRPr lang="en-US" altLang="zh-CN" sz="2400" i="1" dirty="0">
              <a:solidFill>
                <a:srgbClr val="000066"/>
              </a:solidFill>
              <a:latin typeface="Palatino" charset="0"/>
              <a:ea typeface="宋体" panose="02010600030101010101" pitchFamily="2" charset="-122"/>
            </a:endParaRPr>
          </a:p>
        </p:txBody>
      </p:sp>
      <p:sp>
        <p:nvSpPr>
          <p:cNvPr id="7" name="Rectangle 3"/>
          <p:cNvSpPr txBox="1"/>
          <p:nvPr/>
        </p:nvSpPr>
        <p:spPr>
          <a:xfrm>
            <a:off x="714375" y="1500188"/>
            <a:ext cx="7572375" cy="35845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Stress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individual competency </a:t>
            </a:r>
            <a:r>
              <a:rPr lang="en-US" altLang="zh-CN" sz="2000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coupled with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group collaboration </a:t>
            </a:r>
            <a:r>
              <a:rPr lang="en-US" altLang="zh-CN" sz="2000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as critical success factors</a:t>
            </a:r>
            <a:endParaRPr lang="en-US" altLang="zh-CN" sz="2000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People trump process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and politics </a:t>
            </a:r>
            <a:r>
              <a:rPr lang="en-US" altLang="zh-CN" sz="2000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can trump people</a:t>
            </a:r>
            <a:endParaRPr lang="en-US" altLang="zh-CN" sz="2000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Agile teams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as self-organizing </a:t>
            </a:r>
            <a:r>
              <a:rPr lang="en-US" altLang="zh-CN" sz="2000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and have many structures</a:t>
            </a:r>
            <a:endParaRPr lang="en-US" altLang="zh-CN" sz="2000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742950" lvl="1" indent="-285750" eaLnBrk="0" hangingPunct="0">
              <a:spcBef>
                <a:spcPct val="20000"/>
              </a:spcBef>
              <a:buChar char="–"/>
            </a:pPr>
            <a:r>
              <a:rPr lang="en-US" altLang="zh-CN" sz="1800" dirty="0">
                <a:solidFill>
                  <a:srgbClr val="0070C0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An adaptive team structure</a:t>
            </a:r>
            <a:endParaRPr lang="en-US" altLang="zh-CN" sz="1800" dirty="0">
              <a:solidFill>
                <a:srgbClr val="0070C0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742950" lvl="1" indent="-285750" eaLnBrk="0" hangingPunct="0">
              <a:spcBef>
                <a:spcPct val="20000"/>
              </a:spcBef>
              <a:buChar char="–"/>
            </a:pPr>
            <a:r>
              <a:rPr lang="en-US" altLang="zh-CN" sz="1800" dirty="0">
                <a:solidFill>
                  <a:srgbClr val="0070C0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Uses elements of Constantine’s random, open, and synchronous structures</a:t>
            </a:r>
            <a:endParaRPr lang="en-US" altLang="zh-CN" sz="1800" dirty="0">
              <a:solidFill>
                <a:srgbClr val="0070C0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742950" lvl="1" indent="-285750" eaLnBrk="0" hangingPunct="0">
              <a:spcBef>
                <a:spcPct val="20000"/>
              </a:spcBef>
              <a:buChar char="–"/>
            </a:pPr>
            <a:r>
              <a:rPr lang="en-US" altLang="zh-CN" sz="1800" dirty="0">
                <a:solidFill>
                  <a:srgbClr val="0070C0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Significant autonomy</a:t>
            </a:r>
            <a:endParaRPr lang="en-US" altLang="zh-CN" sz="1600" dirty="0">
              <a:solidFill>
                <a:srgbClr val="0070C0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Planning</a:t>
            </a:r>
            <a:r>
              <a:rPr lang="en-US" altLang="zh-CN" sz="2000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 is kept to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a minimum </a:t>
            </a:r>
            <a:r>
              <a:rPr lang="en-US" altLang="zh-CN" sz="2000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and  constrained only by business requirements and organizational standards </a:t>
            </a:r>
            <a:endParaRPr lang="en-US" altLang="zh-CN" sz="2000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</a:pPr>
            <a:endParaRPr lang="en-US" altLang="zh-CN" sz="2000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197" end="2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224" end="2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296" end="3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317" end="4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836988" y="6245225"/>
            <a:ext cx="2895600" cy="476250"/>
          </a:xfrm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218" name="Rectangle 3"/>
          <p:cNvSpPr txBox="1"/>
          <p:nvPr/>
        </p:nvSpPr>
        <p:spPr>
          <a:xfrm>
            <a:off x="642938" y="0"/>
            <a:ext cx="7859712" cy="8509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indent="0" algn="ctr"/>
            <a:r>
              <a:rPr lang="en-US" altLang="zh-CN" sz="2400" b="1" dirty="0">
                <a:solidFill>
                  <a:srgbClr val="000099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6.5   Agile Teams</a:t>
            </a:r>
            <a:endParaRPr lang="zh-CN" altLang="en-US" sz="2400" b="1" dirty="0">
              <a:solidFill>
                <a:srgbClr val="000099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sp>
        <p:nvSpPr>
          <p:cNvPr id="9219" name="Rectangle 3"/>
          <p:cNvSpPr txBox="1"/>
          <p:nvPr/>
        </p:nvSpPr>
        <p:spPr>
          <a:xfrm>
            <a:off x="250825" y="812800"/>
            <a:ext cx="8229600" cy="593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ts val="600"/>
              </a:spcBef>
              <a:buChar char="•"/>
            </a:pPr>
            <a:r>
              <a:rPr lang="en-US" altLang="zh-CN" sz="2800" dirty="0">
                <a:latin typeface="Arial" panose="020B0604020202090204" pitchFamily="34" charset="0"/>
                <a:ea typeface="宋体" panose="02010600030101010101" pitchFamily="2" charset="-122"/>
              </a:rPr>
              <a:t>XP Team Values</a:t>
            </a:r>
            <a:endParaRPr lang="en-US" altLang="zh-CN" sz="28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Palatino" charset="0"/>
                <a:ea typeface="宋体" panose="02010600030101010101" pitchFamily="2" charset="-122"/>
              </a:rPr>
              <a:t>    </a:t>
            </a:r>
            <a:endParaRPr lang="en-US" altLang="zh-CN" sz="2400" i="1" dirty="0">
              <a:solidFill>
                <a:srgbClr val="000066"/>
              </a:solidFill>
              <a:latin typeface="Palatino" charset="0"/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 txBox="1"/>
          <p:nvPr/>
        </p:nvSpPr>
        <p:spPr>
          <a:xfrm>
            <a:off x="714375" y="1500188"/>
            <a:ext cx="8112125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Communication </a:t>
            </a:r>
            <a:r>
              <a:rPr lang="en-US" altLang="zh-CN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– close informal verbal communication among team members and stakeholders and establishing meaning for metaphors as part of continuous feedback</a:t>
            </a:r>
            <a:endParaRPr lang="en-US" altLang="zh-CN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Simplicity </a:t>
            </a:r>
            <a:r>
              <a:rPr lang="en-US" altLang="zh-CN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– design for immediate needs nor future needs</a:t>
            </a:r>
            <a:r>
              <a:rPr lang="zh-CN" altLang="en-US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（活在当下）</a:t>
            </a:r>
            <a:endParaRPr lang="en-US" altLang="zh-CN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Feedback </a:t>
            </a:r>
            <a:r>
              <a:rPr lang="en-US" altLang="zh-CN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– derives from the implemented software, the customer, and other team members</a:t>
            </a:r>
            <a:endParaRPr lang="en-US" altLang="zh-CN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Courage </a:t>
            </a:r>
            <a:r>
              <a:rPr lang="en-US" altLang="zh-CN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– the discipline to resist pressure to design for unspecified future requirements (</a:t>
            </a:r>
            <a:r>
              <a:rPr lang="zh-CN" altLang="en-US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超前设计</a:t>
            </a:r>
            <a:r>
              <a:rPr lang="zh-CN" altLang="en-US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的勇气</a:t>
            </a:r>
            <a:r>
              <a:rPr lang="en-US" altLang="zh-CN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Respect </a:t>
            </a:r>
            <a:r>
              <a:rPr lang="en-US" altLang="zh-CN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– among team members and stakeholders</a:t>
            </a:r>
            <a:endParaRPr lang="en-US" altLang="zh-CN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pic>
        <p:nvPicPr>
          <p:cNvPr id="9221" name="Picture 6" descr="握手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125" y="5072063"/>
            <a:ext cx="2428875" cy="16240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0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58" end="2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215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302" end="3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392" end="4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836988" y="6245225"/>
            <a:ext cx="2895600" cy="476250"/>
          </a:xfrm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242" name="Rectangle 3"/>
          <p:cNvSpPr txBox="1"/>
          <p:nvPr/>
        </p:nvSpPr>
        <p:spPr>
          <a:xfrm>
            <a:off x="642938" y="0"/>
            <a:ext cx="7859712" cy="8509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indent="0" algn="ctr"/>
            <a:r>
              <a:rPr lang="en-US" altLang="zh-CN" sz="2400" b="1" dirty="0">
                <a:solidFill>
                  <a:srgbClr val="000099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6.6   Impact of Social Media</a:t>
            </a:r>
            <a:endParaRPr lang="zh-CN" altLang="en-US" sz="2400" b="1" dirty="0">
              <a:solidFill>
                <a:srgbClr val="000099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sp>
        <p:nvSpPr>
          <p:cNvPr id="10243" name="Rectangle 3"/>
          <p:cNvSpPr txBox="1"/>
          <p:nvPr/>
        </p:nvSpPr>
        <p:spPr>
          <a:xfrm>
            <a:off x="857250" y="857250"/>
            <a:ext cx="7715250" cy="38576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p>
            <a:pPr marL="342900" indent="-342900" eaLnBrk="0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Blogs </a:t>
            </a:r>
            <a:r>
              <a:rPr lang="en-US" altLang="zh-CN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– can be used share information with team members and customers</a:t>
            </a:r>
            <a:endParaRPr lang="en-US" altLang="zh-CN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Microblogs </a:t>
            </a:r>
            <a:r>
              <a:rPr lang="en-US" altLang="zh-CN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– allow posting of real-time messages to individuals following the poster </a:t>
            </a:r>
            <a:r>
              <a:rPr lang="en-US" altLang="zh-CN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(e.g. Twitter) </a:t>
            </a:r>
            <a:endParaRPr lang="en-US" altLang="zh-CN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Targeted on-line forums </a:t>
            </a:r>
            <a:r>
              <a:rPr lang="en-US" altLang="zh-CN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– allow participants to post questions or opinions and collect answers</a:t>
            </a:r>
            <a:endParaRPr lang="en-US" altLang="zh-CN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Social networking sites</a:t>
            </a:r>
            <a:r>
              <a:rPr lang="en-US" altLang="zh-CN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– allows connections among software developers for the purpose of sharing information</a:t>
            </a:r>
            <a:r>
              <a:rPr lang="en-US" altLang="zh-CN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 (e.g. Facebook, LinkedIn) </a:t>
            </a:r>
            <a:endParaRPr lang="en-US" altLang="zh-CN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Social book marking</a:t>
            </a:r>
            <a:r>
              <a:rPr lang="en-US" altLang="zh-CN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– allow developers to keep track of and share web-based resources</a:t>
            </a:r>
            <a:r>
              <a:rPr lang="en-US" altLang="zh-CN" dirty="0">
                <a:solidFill>
                  <a:srgbClr val="0000F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 (e.g. Delicious, Stumble, CiteULike) </a:t>
            </a:r>
            <a:endParaRPr lang="en-US" altLang="zh-CN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pic>
        <p:nvPicPr>
          <p:cNvPr id="1024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57875"/>
            <a:ext cx="1039813" cy="1000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350" y="5715000"/>
            <a:ext cx="1189038" cy="1143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4563" y="5429250"/>
            <a:ext cx="1485900" cy="1428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836988" y="6245225"/>
            <a:ext cx="2895600" cy="476250"/>
          </a:xfrm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266" name="Rectangle 3"/>
          <p:cNvSpPr txBox="1"/>
          <p:nvPr/>
        </p:nvSpPr>
        <p:spPr>
          <a:xfrm>
            <a:off x="642938" y="0"/>
            <a:ext cx="7859712" cy="8509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indent="0" algn="ctr"/>
            <a:r>
              <a:rPr lang="en-US" altLang="zh-CN" sz="2400" b="1" dirty="0">
                <a:solidFill>
                  <a:srgbClr val="000099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6.7   Software Engineering using the Cloud</a:t>
            </a:r>
            <a:endParaRPr lang="zh-CN" altLang="en-US" sz="2400" b="1" dirty="0">
              <a:solidFill>
                <a:srgbClr val="000099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sp>
        <p:nvSpPr>
          <p:cNvPr id="11267" name="Rectangle 3"/>
          <p:cNvSpPr txBox="1"/>
          <p:nvPr/>
        </p:nvSpPr>
        <p:spPr>
          <a:xfrm>
            <a:off x="250825" y="812800"/>
            <a:ext cx="8229600" cy="593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ts val="600"/>
              </a:spcBef>
              <a:buChar char="•"/>
            </a:pPr>
            <a:r>
              <a:rPr lang="en-US" altLang="zh-CN" sz="2800" dirty="0">
                <a:latin typeface="Arial" panose="020B0604020202090204" pitchFamily="34" charset="0"/>
                <a:ea typeface="宋体" panose="02010600030101010101" pitchFamily="2" charset="-122"/>
              </a:rPr>
              <a:t>Benefits</a:t>
            </a:r>
            <a:endParaRPr lang="en-US" altLang="zh-CN" sz="28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  <a:buChar char="•"/>
            </a:pPr>
            <a:endParaRPr lang="en-US" altLang="zh-CN" sz="28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Palatino" charset="0"/>
                <a:ea typeface="宋体" panose="02010600030101010101" pitchFamily="2" charset="-122"/>
              </a:rPr>
              <a:t>    </a:t>
            </a:r>
            <a:endParaRPr lang="en-US" altLang="zh-CN" sz="2400" i="1" dirty="0">
              <a:solidFill>
                <a:srgbClr val="000066"/>
              </a:solidFill>
              <a:latin typeface="Palatino" charset="0"/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14375" y="1357313"/>
            <a:ext cx="7715250" cy="20716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/>
          <a:lstStyle/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Provides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access to all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software engineering work products 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Removes device dependencies and available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every where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Provides avenues for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distributing and testing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software 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Allows software engineering information developed by one member to be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available to all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team members 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69" name="Rectangle 3"/>
          <p:cNvSpPr txBox="1"/>
          <p:nvPr/>
        </p:nvSpPr>
        <p:spPr>
          <a:xfrm>
            <a:off x="252413" y="3448050"/>
            <a:ext cx="8229600" cy="593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ts val="600"/>
              </a:spcBef>
              <a:buChar char="•"/>
            </a:pPr>
            <a:r>
              <a:rPr lang="en-US" altLang="zh-CN" sz="2800" dirty="0">
                <a:latin typeface="Arial" panose="020B0604020202090204" pitchFamily="34" charset="0"/>
                <a:ea typeface="宋体" panose="02010600030101010101" pitchFamily="2" charset="-122"/>
              </a:rPr>
              <a:t>Concerns</a:t>
            </a:r>
            <a:endParaRPr lang="en-US" altLang="zh-CN" sz="28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  <a:buChar char="•"/>
            </a:pPr>
            <a:endParaRPr lang="en-US" altLang="zh-CN" sz="28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  <a:buChar char="•"/>
            </a:pPr>
            <a:endParaRPr lang="en-US" altLang="zh-CN" sz="28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Palatino" charset="0"/>
                <a:ea typeface="宋体" panose="02010600030101010101" pitchFamily="2" charset="-122"/>
              </a:rPr>
              <a:t>    </a:t>
            </a:r>
            <a:endParaRPr lang="en-US" altLang="zh-CN" sz="2400" i="1" dirty="0">
              <a:solidFill>
                <a:srgbClr val="000066"/>
              </a:solidFill>
              <a:latin typeface="Palatino" charset="0"/>
              <a:ea typeface="宋体" panose="02010600030101010101" pitchFamily="2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15963" y="3992563"/>
            <a:ext cx="7715250" cy="20716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/>
          <a:lstStyle/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Dispersing cloud services outside the control of the software team may present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reliability and security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risks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Potential for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interoperability problems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becomes high with large number of services distributed on the cloud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Cloud services stress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usability and performance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which often conflicts with security, privacy, and reliability 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127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0513" y="0"/>
            <a:ext cx="1233487" cy="1247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836988" y="6245225"/>
            <a:ext cx="2895600" cy="476250"/>
          </a:xfrm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290" name="Rectangle 3"/>
          <p:cNvSpPr txBox="1"/>
          <p:nvPr/>
        </p:nvSpPr>
        <p:spPr>
          <a:xfrm>
            <a:off x="642938" y="0"/>
            <a:ext cx="7859712" cy="8509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indent="0" algn="ctr"/>
            <a:r>
              <a:rPr lang="en-US" altLang="zh-CN" sz="2400" b="1" dirty="0">
                <a:solidFill>
                  <a:srgbClr val="000099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6.8  Collaboration Tools</a:t>
            </a:r>
            <a:endParaRPr lang="zh-CN" altLang="en-US" sz="2400" b="1" dirty="0">
              <a:solidFill>
                <a:srgbClr val="000099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sp>
        <p:nvSpPr>
          <p:cNvPr id="12291" name="Rectangle 3"/>
          <p:cNvSpPr txBox="1"/>
          <p:nvPr/>
        </p:nvSpPr>
        <p:spPr>
          <a:xfrm>
            <a:off x="571500" y="1357313"/>
            <a:ext cx="8286750" cy="37147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p>
            <a:pPr marL="342900" lvl="1" indent="-342900" eaLnBrk="0" hangingPunct="0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33CC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Namespace</a:t>
            </a:r>
            <a:r>
              <a:rPr lang="en-US" altLang="zh-CN" sz="2000" dirty="0">
                <a:solidFill>
                  <a:srgbClr val="6B6BCF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that allows secure, private storage or work products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lvl="1" indent="-342900" eaLnBrk="0" hangingPunct="0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33CC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Calendar </a:t>
            </a: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for coordinating project events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lvl="1" indent="-342900" eaLnBrk="0" hangingPunct="0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33CC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Templates</a:t>
            </a: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 that allow team members to create artifacts that have common look and feel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lvl="1" indent="-342900" eaLnBrk="0" hangingPunct="0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33CC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Metrics support </a:t>
            </a: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to allow quantitative assessment of each team member’s contributions 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lvl="1" indent="-342900" eaLnBrk="0" hangingPunct="0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33CC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Communication analysis </a:t>
            </a: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to track messages and isolates patterns that may imply issues to resolve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lvl="1" indent="-342900" eaLnBrk="0" hangingPunct="0"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33CC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Artifact clustering </a:t>
            </a:r>
            <a:r>
              <a:rPr lang="en-US" altLang="zh-CN" sz="2000" dirty="0">
                <a:latin typeface="Arial" panose="020B0604020202090204" pitchFamily="34" charset="0"/>
                <a:ea typeface="宋体" panose="02010600030101010101" pitchFamily="2" charset="-122"/>
              </a:rPr>
              <a:t>showing work product dependencies</a:t>
            </a:r>
            <a:endParaRPr lang="en-US" altLang="zh-CN" sz="2000" dirty="0"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sp>
        <p:nvSpPr>
          <p:cNvPr id="12292" name="Rectangle 3"/>
          <p:cNvSpPr txBox="1"/>
          <p:nvPr/>
        </p:nvSpPr>
        <p:spPr>
          <a:xfrm>
            <a:off x="250825" y="812800"/>
            <a:ext cx="9178925" cy="593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ts val="600"/>
              </a:spcBef>
              <a:buChar char="•"/>
            </a:pPr>
            <a:r>
              <a:rPr lang="en-US" altLang="zh-CN" sz="2400" dirty="0">
                <a:latin typeface="Arial" panose="020B0604020202090204" pitchFamily="34" charset="0"/>
                <a:ea typeface="宋体" panose="02010600030101010101" pitchFamily="2" charset="-122"/>
              </a:rPr>
              <a:t>Services of collaborative development environments(CDEs)</a:t>
            </a:r>
            <a:endParaRPr lang="en-US" altLang="zh-CN" sz="24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  <a:buChar char="•"/>
            </a:pPr>
            <a:endParaRPr lang="en-US" altLang="zh-CN" sz="24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Palatino" charset="0"/>
                <a:ea typeface="宋体" panose="02010600030101010101" pitchFamily="2" charset="-122"/>
              </a:rPr>
              <a:t>    </a:t>
            </a:r>
            <a:endParaRPr lang="en-US" altLang="zh-CN" sz="2400" i="1" dirty="0">
              <a:solidFill>
                <a:srgbClr val="000066"/>
              </a:solidFill>
              <a:latin typeface="Palatino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836988" y="6245225"/>
            <a:ext cx="2895600" cy="476250"/>
          </a:xfrm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3314" name="Rectangle 3"/>
          <p:cNvSpPr txBox="1"/>
          <p:nvPr/>
        </p:nvSpPr>
        <p:spPr>
          <a:xfrm>
            <a:off x="642938" y="0"/>
            <a:ext cx="7859712" cy="8509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indent="0" algn="ctr"/>
            <a:r>
              <a:rPr lang="en-US" altLang="zh-CN" sz="2400" b="1" dirty="0">
                <a:solidFill>
                  <a:srgbClr val="000099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6.9   Global Teams</a:t>
            </a:r>
            <a:endParaRPr lang="zh-CN" altLang="en-US" sz="2400" b="1" dirty="0">
              <a:solidFill>
                <a:srgbClr val="000099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sp>
        <p:nvSpPr>
          <p:cNvPr id="13315" name="Rectangle 3"/>
          <p:cNvSpPr txBox="1"/>
          <p:nvPr/>
        </p:nvSpPr>
        <p:spPr>
          <a:xfrm>
            <a:off x="250825" y="812800"/>
            <a:ext cx="9178925" cy="593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ts val="600"/>
              </a:spcBef>
              <a:buChar char="•"/>
            </a:pPr>
            <a:r>
              <a:rPr lang="en-US" altLang="zh-CN" sz="2800" dirty="0">
                <a:latin typeface="Arial" panose="020B0604020202090204" pitchFamily="34" charset="0"/>
                <a:ea typeface="宋体" panose="02010600030101010101" pitchFamily="2" charset="-122"/>
              </a:rPr>
              <a:t>Team Decisions Making Complications</a:t>
            </a:r>
            <a:endParaRPr lang="en-US" altLang="zh-CN" sz="28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  <a:buChar char="•"/>
            </a:pPr>
            <a:endParaRPr lang="en-US" altLang="zh-CN" sz="28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</a:pPr>
            <a:r>
              <a:rPr lang="en-US" altLang="zh-CN" sz="2800" dirty="0">
                <a:solidFill>
                  <a:srgbClr val="000066"/>
                </a:solidFill>
                <a:latin typeface="Palatino" charset="0"/>
                <a:ea typeface="宋体" panose="02010600030101010101" pitchFamily="2" charset="-122"/>
              </a:rPr>
              <a:t>    </a:t>
            </a:r>
            <a:endParaRPr lang="en-US" altLang="zh-CN" sz="2800" i="1" dirty="0">
              <a:solidFill>
                <a:srgbClr val="000066"/>
              </a:solidFill>
              <a:latin typeface="Palatino" charset="0"/>
              <a:ea typeface="宋体" panose="02010600030101010101" pitchFamily="2" charset="-122"/>
            </a:endParaRPr>
          </a:p>
        </p:txBody>
      </p:sp>
      <p:sp>
        <p:nvSpPr>
          <p:cNvPr id="13316" name="Rectangle 3"/>
          <p:cNvSpPr txBox="1"/>
          <p:nvPr/>
        </p:nvSpPr>
        <p:spPr>
          <a:xfrm>
            <a:off x="685800" y="1428750"/>
            <a:ext cx="7518400" cy="277971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defTabSz="914400" eaLnBrk="0" hangingPunct="0"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sz="2000" noProof="1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  <a:sym typeface="+mn-ea"/>
              </a:rPr>
              <a:t>Global software teams face additional challenges associated with collaboration, coordination, and coordination difficulties</a:t>
            </a:r>
            <a:endParaRPr lang="en-US" altLang="zh-CN" sz="2000" noProof="1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defTabSz="914400" eaLnBrk="0" hangingPunct="0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zh-CN" sz="2000" noProof="1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  <a:t>Problem complexity</a:t>
            </a:r>
            <a:endParaRPr lang="en-US" altLang="zh-CN" sz="2000" noProof="1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defTabSz="914400" eaLnBrk="0" hangingPunct="0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zh-CN" sz="2000" noProof="1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  <a:t>Uncertainty and risk associated with the decision</a:t>
            </a:r>
            <a:endParaRPr lang="en-US" altLang="zh-CN" sz="2000" noProof="1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defTabSz="914400" eaLnBrk="0" hangingPunct="0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zh-CN" sz="2000" noProof="1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  <a:t>Work associated with decision has unintended effect on another project object (law of unintended consequences)</a:t>
            </a:r>
            <a:endParaRPr lang="en-US" altLang="zh-CN" sz="2000" noProof="1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 defTabSz="914400" eaLnBrk="0" hangingPunct="0">
              <a:spcBef>
                <a:spcPct val="20000"/>
              </a:spcBef>
              <a:buFont typeface="Wingdings" panose="05000000000000000000" pitchFamily="2" charset="2"/>
              <a:buChar char="Ø"/>
            </a:pPr>
            <a:r>
              <a:rPr lang="en-US" altLang="zh-CN" sz="2000" noProof="1" dirty="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  <a:t>Different views of the problem lead to different conclusions about the way forward</a:t>
            </a:r>
            <a:endParaRPr lang="en-US" altLang="zh-CN" sz="2000" noProof="1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defTabSz="914400" eaLnBrk="0" hangingPunct="0">
              <a:spcBef>
                <a:spcPct val="20000"/>
              </a:spcBef>
              <a:buFont typeface="Wingdings" panose="05000000000000000000" pitchFamily="2" charset="2"/>
            </a:pPr>
            <a:endParaRPr lang="en-US" altLang="zh-CN" sz="2000" noProof="1" dirty="0">
              <a:solidFill>
                <a:srgbClr val="000066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836988" y="6245225"/>
            <a:ext cx="2895600" cy="476250"/>
          </a:xfrm>
          <a:ln/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4338" name="Rectangle 3"/>
          <p:cNvSpPr txBox="1"/>
          <p:nvPr/>
        </p:nvSpPr>
        <p:spPr>
          <a:xfrm>
            <a:off x="642938" y="0"/>
            <a:ext cx="7859712" cy="8509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indent="0" algn="ctr"/>
            <a:r>
              <a:rPr lang="en-US" altLang="zh-CN" sz="2400" b="1" dirty="0">
                <a:solidFill>
                  <a:srgbClr val="000099"/>
                </a:solidFill>
                <a:latin typeface="Arial" panose="020B0604020202090204" pitchFamily="34" charset="0"/>
                <a:ea typeface="宋体" panose="02010600030101010101" pitchFamily="2" charset="-122"/>
              </a:rPr>
              <a:t>6.9   Global Teams</a:t>
            </a:r>
            <a:endParaRPr lang="zh-CN" altLang="en-US" sz="2400" b="1" dirty="0">
              <a:solidFill>
                <a:srgbClr val="000099"/>
              </a:solidFill>
              <a:latin typeface="Arial" panose="020B0604020202090204" pitchFamily="34" charset="0"/>
              <a:ea typeface="宋体" panose="02010600030101010101" pitchFamily="2" charset="-122"/>
            </a:endParaRPr>
          </a:p>
        </p:txBody>
      </p:sp>
      <p:sp>
        <p:nvSpPr>
          <p:cNvPr id="14339" name="Rectangle 3"/>
          <p:cNvSpPr txBox="1"/>
          <p:nvPr/>
        </p:nvSpPr>
        <p:spPr>
          <a:xfrm>
            <a:off x="250825" y="812800"/>
            <a:ext cx="9178925" cy="593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spcBef>
                <a:spcPts val="600"/>
              </a:spcBef>
              <a:buChar char="•"/>
            </a:pPr>
            <a:r>
              <a:rPr lang="en-US" altLang="zh-CN" sz="2400" dirty="0">
                <a:latin typeface="Arial" panose="020B0604020202090204" pitchFamily="34" charset="0"/>
                <a:ea typeface="宋体" panose="02010600030101010101" pitchFamily="2" charset="-122"/>
              </a:rPr>
              <a:t>Factors Affecting Global Software Development Team</a:t>
            </a:r>
            <a:endParaRPr lang="en-US" altLang="zh-CN" sz="24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  <a:buChar char="•"/>
            </a:pPr>
            <a:endParaRPr lang="en-US" altLang="zh-CN" sz="2400" dirty="0">
              <a:latin typeface="Arial" panose="020B0604020202090204" pitchFamily="34" charset="0"/>
              <a:ea typeface="宋体" panose="02010600030101010101" pitchFamily="2" charset="-122"/>
            </a:endParaRPr>
          </a:p>
          <a:p>
            <a:pPr marL="342900" indent="-342900">
              <a:spcBef>
                <a:spcPts val="600"/>
              </a:spcBef>
            </a:pPr>
            <a:r>
              <a:rPr lang="en-US" altLang="zh-CN" sz="2400" dirty="0">
                <a:solidFill>
                  <a:srgbClr val="000066"/>
                </a:solidFill>
                <a:latin typeface="Palatino" charset="0"/>
                <a:ea typeface="宋体" panose="02010600030101010101" pitchFamily="2" charset="-122"/>
              </a:rPr>
              <a:t>    </a:t>
            </a:r>
            <a:endParaRPr lang="en-US" altLang="zh-CN" sz="2400" i="1" dirty="0">
              <a:solidFill>
                <a:srgbClr val="000066"/>
              </a:solidFill>
              <a:latin typeface="Palatino" charset="0"/>
              <a:ea typeface="宋体" panose="02010600030101010101" pitchFamily="2" charset="-122"/>
            </a:endParaRPr>
          </a:p>
        </p:txBody>
      </p:sp>
      <p:pic>
        <p:nvPicPr>
          <p:cNvPr id="6" name="Picture 1" descr=":::::Users:rogerpressman:Desktop:Figure6-2r.jpg"/>
          <p:cNvPicPr>
            <a:picLocks noChangeAspect="1" noChangeArrowheads="1"/>
          </p:cNvPicPr>
          <p:nvPr/>
        </p:nvPicPr>
        <p:blipFill>
          <a:blip r:embed="rId1">
            <a:duotone>
              <a:schemeClr val="accent2">
                <a:shade val="45000"/>
                <a:satMod val="135000"/>
              </a:schemeClr>
              <a:prstClr val="white"/>
            </a:duotone>
            <a:lum/>
          </a:blip>
          <a:srcRect/>
          <a:stretch>
            <a:fillRect/>
          </a:stretch>
        </p:blipFill>
        <p:spPr bwMode="auto">
          <a:xfrm>
            <a:off x="928660" y="1214420"/>
            <a:ext cx="6786612" cy="50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5886</Words>
  <Application>WPS 表格</Application>
  <PresentationFormat>ȫʾ(4:3)</PresentationFormat>
  <Paragraphs>229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方正书宋_GBK</vt:lpstr>
      <vt:lpstr>Calibri</vt:lpstr>
      <vt:lpstr>Palatino</vt:lpstr>
      <vt:lpstr>Bradley Hand ITC</vt:lpstr>
      <vt:lpstr>苹方-简</vt:lpstr>
      <vt:lpstr>微软雅黑</vt:lpstr>
      <vt:lpstr>Arial Unicode MS</vt:lpstr>
      <vt:lpstr>汉仪书宋二KW</vt:lpstr>
      <vt:lpstr>Helvetica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Zhejiang Univ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õƬ 1</dc:title>
  <dc:creator>Lin Huaizhong</dc:creator>
  <cp:lastModifiedBy>尹建伟</cp:lastModifiedBy>
  <cp:revision>154</cp:revision>
  <dcterms:created xsi:type="dcterms:W3CDTF">2024-03-11T13:58:56Z</dcterms:created>
  <dcterms:modified xsi:type="dcterms:W3CDTF">2024-03-11T13:58:56Z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2052-6.5.2.8766</vt:lpwstr>
  </property>
  <property fmtid="{D5CDD505-2E9C-101B-9397-08002B2CF9AE}" pid="3" name="ICV">
    <vt:lpwstr>03F6E15349FB30BE200EEF656C2D5ACB_43</vt:lpwstr>
  </property>
</Properties>
</file>