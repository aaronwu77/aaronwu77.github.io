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804" r:id="rId2"/>
  </p:sldMasterIdLst>
  <p:notesMasterIdLst>
    <p:notesMasterId r:id="rId72"/>
  </p:notesMasterIdLst>
  <p:sldIdLst>
    <p:sldId id="303" r:id="rId3"/>
    <p:sldId id="1735" r:id="rId4"/>
    <p:sldId id="1736" r:id="rId5"/>
    <p:sldId id="1737" r:id="rId6"/>
    <p:sldId id="1761" r:id="rId7"/>
    <p:sldId id="1763" r:id="rId8"/>
    <p:sldId id="1764" r:id="rId9"/>
    <p:sldId id="1766" r:id="rId10"/>
    <p:sldId id="1738" r:id="rId11"/>
    <p:sldId id="1739" r:id="rId12"/>
    <p:sldId id="298" r:id="rId13"/>
    <p:sldId id="1740" r:id="rId14"/>
    <p:sldId id="284" r:id="rId15"/>
    <p:sldId id="301" r:id="rId16"/>
    <p:sldId id="285" r:id="rId17"/>
    <p:sldId id="1741" r:id="rId18"/>
    <p:sldId id="259" r:id="rId19"/>
    <p:sldId id="1742" r:id="rId20"/>
    <p:sldId id="261" r:id="rId21"/>
    <p:sldId id="1743" r:id="rId22"/>
    <p:sldId id="1744" r:id="rId23"/>
    <p:sldId id="1745" r:id="rId24"/>
    <p:sldId id="1746" r:id="rId25"/>
    <p:sldId id="1747" r:id="rId26"/>
    <p:sldId id="1748" r:id="rId27"/>
    <p:sldId id="1749" r:id="rId28"/>
    <p:sldId id="1750" r:id="rId29"/>
    <p:sldId id="1751" r:id="rId30"/>
    <p:sldId id="1765" r:id="rId31"/>
    <p:sldId id="299" r:id="rId32"/>
    <p:sldId id="300" r:id="rId33"/>
    <p:sldId id="1752" r:id="rId34"/>
    <p:sldId id="302" r:id="rId35"/>
    <p:sldId id="1753" r:id="rId36"/>
    <p:sldId id="304" r:id="rId37"/>
    <p:sldId id="1755" r:id="rId38"/>
    <p:sldId id="1756" r:id="rId39"/>
    <p:sldId id="1757" r:id="rId40"/>
    <p:sldId id="1758" r:id="rId41"/>
    <p:sldId id="1759" r:id="rId42"/>
    <p:sldId id="1760" r:id="rId43"/>
    <p:sldId id="1754" r:id="rId44"/>
    <p:sldId id="265" r:id="rId45"/>
    <p:sldId id="289" r:id="rId46"/>
    <p:sldId id="266" r:id="rId47"/>
    <p:sldId id="290" r:id="rId48"/>
    <p:sldId id="263" r:id="rId49"/>
    <p:sldId id="262" r:id="rId50"/>
    <p:sldId id="267" r:id="rId51"/>
    <p:sldId id="264" r:id="rId52"/>
    <p:sldId id="268" r:id="rId53"/>
    <p:sldId id="269" r:id="rId54"/>
    <p:sldId id="270" r:id="rId55"/>
    <p:sldId id="272" r:id="rId56"/>
    <p:sldId id="273" r:id="rId57"/>
    <p:sldId id="271" r:id="rId58"/>
    <p:sldId id="274" r:id="rId59"/>
    <p:sldId id="295" r:id="rId60"/>
    <p:sldId id="275" r:id="rId61"/>
    <p:sldId id="277" r:id="rId62"/>
    <p:sldId id="276" r:id="rId63"/>
    <p:sldId id="286" r:id="rId64"/>
    <p:sldId id="278" r:id="rId65"/>
    <p:sldId id="279" r:id="rId66"/>
    <p:sldId id="287" r:id="rId67"/>
    <p:sldId id="280" r:id="rId68"/>
    <p:sldId id="288" r:id="rId69"/>
    <p:sldId id="281" r:id="rId70"/>
    <p:sldId id="291" r:id="rId71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754"/>
    <p:restoredTop sz="90763"/>
  </p:normalViewPr>
  <p:slideViewPr>
    <p:cSldViewPr>
      <p:cViewPr varScale="1">
        <p:scale>
          <a:sx n="132" d="100"/>
          <a:sy n="132" d="100"/>
        </p:scale>
        <p:origin x="160" y="15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238"/>
    </p:cViewPr>
  </p:sorterViewPr>
  <p:gridSpacing cx="76198" cy="7619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viewProps" Target="view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tableStyles" Target="tableStyles.xml"/><Relationship Id="rId7" Type="http://schemas.openxmlformats.org/officeDocument/2006/relationships/slide" Target="slides/slide5.xml"/><Relationship Id="rId71" Type="http://schemas.openxmlformats.org/officeDocument/2006/relationships/slide" Target="slides/slide6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D3A5D826-3FCE-2607-F42A-54FE4625103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2EE95D1-4C4A-5BF2-BADA-90D74696585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fld id="{176A8A89-3B7A-5C4C-B581-531BD114E402}" type="datetimeFigureOut">
              <a:rPr lang="zh-CN" altLang="en-US"/>
              <a:pPr>
                <a:defRPr/>
              </a:pPr>
              <a:t>2026/3/1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B5DFF4A7-94B8-2FA8-D656-7BE946D489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252AF0FF-EF5A-0D47-0883-ED63AA8C1F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B8B40DC-98AE-EF7F-A542-17AD8231D0D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F56BF31-8382-6EBC-C63E-A2BA221B4F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>
              <a:defRPr/>
            </a:pPr>
            <a:fld id="{C0ED605E-627C-7F46-9798-A3AAE67DD01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A32DAA-E91B-4E64-A167-ADD60F34773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04826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ED605E-627C-7F46-9798-A3AAE67DD01A}" type="slidenum">
              <a:rPr lang="zh-CN" altLang="en-US" smtClean="0"/>
              <a:pPr>
                <a:defRPr/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63106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ED605E-627C-7F46-9798-A3AAE67DD01A}" type="slidenum">
              <a:rPr lang="zh-CN" altLang="en-US" smtClean="0"/>
              <a:pPr>
                <a:defRPr/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3567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ED605E-627C-7F46-9798-A3AAE67DD01A}" type="slidenum">
              <a:rPr lang="zh-CN" altLang="en-US" smtClean="0"/>
              <a:pPr>
                <a:defRPr/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74401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ED605E-627C-7F46-9798-A3AAE67DD01A}" type="slidenum">
              <a:rPr lang="zh-CN" altLang="en-US" smtClean="0"/>
              <a:pPr>
                <a:defRPr/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50957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ED605E-627C-7F46-9798-A3AAE67DD01A}" type="slidenum">
              <a:rPr lang="zh-CN" altLang="en-US" smtClean="0"/>
              <a:pPr>
                <a:defRPr/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6653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 hangingPunct="1">
              <a:buFontTx/>
              <a:buChar char="-"/>
            </a:pPr>
            <a:endParaRPr kumimoji="1"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ED605E-627C-7F46-9798-A3AAE67DD01A}" type="slidenum">
              <a:rPr lang="zh-CN" altLang="en-US" smtClean="0"/>
              <a:pPr>
                <a:defRPr/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08000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ED605E-627C-7F46-9798-A3AAE67DD01A}" type="slidenum">
              <a:rPr lang="zh-CN" altLang="en-US" smtClean="0"/>
              <a:pPr>
                <a:defRPr/>
              </a:pPr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91966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ED605E-627C-7F46-9798-A3AAE67DD01A}" type="slidenum">
              <a:rPr lang="zh-CN" altLang="en-US" smtClean="0"/>
              <a:pPr>
                <a:defRPr/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60963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ED605E-627C-7F46-9798-A3AAE67DD01A}" type="slidenum">
              <a:rPr lang="zh-CN" altLang="en-US" smtClean="0"/>
              <a:pPr>
                <a:defRPr/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41641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ED605E-627C-7F46-9798-A3AAE67DD01A}" type="slidenum">
              <a:rPr lang="zh-CN" altLang="en-US" smtClean="0"/>
              <a:pPr>
                <a:defRPr/>
              </a:pPr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50474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ED605E-627C-7F46-9798-A3AAE67DD01A}" type="slidenum">
              <a:rPr lang="zh-CN" altLang="en-US" smtClean="0"/>
              <a:pPr>
                <a:defRPr/>
              </a:pPr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43550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26CC32-026C-4F9D-A866-644A4EC346FF}" type="slidenum">
              <a:rPr kumimoji="0" lang="zh-CN" altLang="en-US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3750563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ED605E-627C-7F46-9798-A3AAE67DD01A}" type="slidenum">
              <a:rPr lang="zh-CN" altLang="en-US" smtClean="0"/>
              <a:pPr>
                <a:defRPr/>
              </a:pPr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64043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0ED605E-627C-7F46-9798-A3AAE67DD01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37015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ED605E-627C-7F46-9798-A3AAE67DD01A}" type="slidenum">
              <a:rPr lang="zh-CN" altLang="en-US" smtClean="0"/>
              <a:pPr>
                <a:defRPr/>
              </a:pPr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06742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ED605E-627C-7F46-9798-A3AAE67DD01A}" type="slidenum">
              <a:rPr lang="zh-CN" altLang="en-US" smtClean="0"/>
              <a:pPr>
                <a:defRPr/>
              </a:pPr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21984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ED605E-627C-7F46-9798-A3AAE67DD01A}" type="slidenum">
              <a:rPr lang="zh-CN" altLang="en-US" smtClean="0"/>
              <a:pPr>
                <a:defRPr/>
              </a:pPr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90543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幻灯片图像占位符 1">
            <a:extLst>
              <a:ext uri="{FF2B5EF4-FFF2-40B4-BE49-F238E27FC236}">
                <a16:creationId xmlns:a16="http://schemas.microsoft.com/office/drawing/2014/main" id="{131B427F-CFA9-4280-4CFB-FAE817EED4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2" name="备注占位符 2">
            <a:extLst>
              <a:ext uri="{FF2B5EF4-FFF2-40B4-BE49-F238E27FC236}">
                <a16:creationId xmlns:a16="http://schemas.microsoft.com/office/drawing/2014/main" id="{6843AB30-07B9-D6AC-5A97-6281AEECD9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1443" name="灯片编号占位符 3">
            <a:extLst>
              <a:ext uri="{FF2B5EF4-FFF2-40B4-BE49-F238E27FC236}">
                <a16:creationId xmlns:a16="http://schemas.microsoft.com/office/drawing/2014/main" id="{99DF8DA4-4703-4FD0-9F6C-65D3858C9F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53A6BB0-BD64-1D4B-B62C-8C16A7C6750B}" type="slidenum">
              <a:rPr lang="zh-CN" altLang="en-US"/>
              <a:pPr/>
              <a:t>46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幻灯片图像占位符 1">
            <a:extLst>
              <a:ext uri="{FF2B5EF4-FFF2-40B4-BE49-F238E27FC236}">
                <a16:creationId xmlns:a16="http://schemas.microsoft.com/office/drawing/2014/main" id="{3D6733FD-0C34-1922-EFD4-3BBF61AB61C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6" name="备注占位符 2">
            <a:extLst>
              <a:ext uri="{FF2B5EF4-FFF2-40B4-BE49-F238E27FC236}">
                <a16:creationId xmlns:a16="http://schemas.microsoft.com/office/drawing/2014/main" id="{B6F43055-F530-D944-2479-4C9EF146136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kumimoji="0" lang="zh-CN" altLang="en-US" dirty="0"/>
          </a:p>
        </p:txBody>
      </p:sp>
      <p:sp>
        <p:nvSpPr>
          <p:cNvPr id="36867" name="灯片编号占位符 3">
            <a:extLst>
              <a:ext uri="{FF2B5EF4-FFF2-40B4-BE49-F238E27FC236}">
                <a16:creationId xmlns:a16="http://schemas.microsoft.com/office/drawing/2014/main" id="{1F5FB2F7-DA57-EBD6-4DE5-1AA8DE71B1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EC141F4-3201-D045-89AB-87953E0323AA}" type="slidenum">
              <a:rPr lang="zh-CN" altLang="en-US"/>
              <a:pPr/>
              <a:t>47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ED605E-627C-7F46-9798-A3AAE67DD01A}" type="slidenum">
              <a:rPr lang="zh-CN" altLang="en-US" smtClean="0"/>
              <a:pPr>
                <a:defRPr/>
              </a:pPr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99938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ED605E-627C-7F46-9798-A3AAE67DD01A}" type="slidenum">
              <a:rPr lang="zh-CN" altLang="en-US" smtClean="0"/>
              <a:pPr>
                <a:defRPr/>
              </a:pPr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46731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ED605E-627C-7F46-9798-A3AAE67DD01A}" type="slidenum">
              <a:rPr lang="zh-CN" altLang="en-US" smtClean="0"/>
              <a:pPr>
                <a:defRPr/>
              </a:pPr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51489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ED605E-627C-7F46-9798-A3AAE67DD01A}" type="slidenum">
              <a:rPr lang="zh-CN" altLang="en-US" smtClean="0"/>
              <a:pPr>
                <a:defRPr/>
              </a:pPr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805907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ED605E-627C-7F46-9798-A3AAE67DD01A}" type="slidenum">
              <a:rPr lang="zh-CN" altLang="en-US" smtClean="0"/>
              <a:pPr>
                <a:defRPr/>
              </a:pPr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649736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ED605E-627C-7F46-9798-A3AAE67DD01A}" type="slidenum">
              <a:rPr lang="zh-CN" altLang="en-US" smtClean="0"/>
              <a:pPr>
                <a:defRPr/>
              </a:pPr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12291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ED605E-627C-7F46-9798-A3AAE67DD01A}" type="slidenum">
              <a:rPr lang="zh-CN" altLang="en-US" smtClean="0"/>
              <a:pPr>
                <a:defRPr/>
              </a:pPr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202535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ED605E-627C-7F46-9798-A3AAE67DD01A}" type="slidenum">
              <a:rPr lang="zh-CN" altLang="en-US" smtClean="0"/>
              <a:pPr>
                <a:defRPr/>
              </a:pPr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743058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ED605E-627C-7F46-9798-A3AAE67DD01A}" type="slidenum">
              <a:rPr lang="zh-CN" altLang="en-US" smtClean="0"/>
              <a:pPr>
                <a:defRPr/>
              </a:pPr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73046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幻灯片图像占位符 1">
            <a:extLst>
              <a:ext uri="{FF2B5EF4-FFF2-40B4-BE49-F238E27FC236}">
                <a16:creationId xmlns:a16="http://schemas.microsoft.com/office/drawing/2014/main" id="{C895ECE4-05F4-2AD7-1A95-8EC891DA6B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6" name="备注占位符 2">
            <a:extLst>
              <a:ext uri="{FF2B5EF4-FFF2-40B4-BE49-F238E27FC236}">
                <a16:creationId xmlns:a16="http://schemas.microsoft.com/office/drawing/2014/main" id="{13EDA6A7-8FD6-0858-A89B-0AEEBE3897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2467" name="灯片编号占位符 3">
            <a:extLst>
              <a:ext uri="{FF2B5EF4-FFF2-40B4-BE49-F238E27FC236}">
                <a16:creationId xmlns:a16="http://schemas.microsoft.com/office/drawing/2014/main" id="{188E2C0B-076C-B1CD-9546-39DA3184DD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160BC6E-0CD4-854C-9EE7-1F063E6931F9}" type="slidenum">
              <a:rPr lang="zh-CN" altLang="en-US"/>
              <a:pPr/>
              <a:t>58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ED605E-627C-7F46-9798-A3AAE67DD01A}" type="slidenum">
              <a:rPr lang="zh-CN" altLang="en-US" smtClean="0"/>
              <a:pPr>
                <a:defRPr/>
              </a:pPr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492166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幻灯片图像占位符 1">
            <a:extLst>
              <a:ext uri="{FF2B5EF4-FFF2-40B4-BE49-F238E27FC236}">
                <a16:creationId xmlns:a16="http://schemas.microsoft.com/office/drawing/2014/main" id="{62D418CB-744A-A56F-D95C-B561A101C0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0" name="备注占位符 2">
            <a:extLst>
              <a:ext uri="{FF2B5EF4-FFF2-40B4-BE49-F238E27FC236}">
                <a16:creationId xmlns:a16="http://schemas.microsoft.com/office/drawing/2014/main" id="{364A832A-C3B4-C7AD-27C6-C72EA6C5CE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491" name="灯片编号占位符 3">
            <a:extLst>
              <a:ext uri="{FF2B5EF4-FFF2-40B4-BE49-F238E27FC236}">
                <a16:creationId xmlns:a16="http://schemas.microsoft.com/office/drawing/2014/main" id="{232C224C-FE5B-DD62-6E09-8F97235B84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51B8D00-E991-B346-A6C0-2DDEB63D67A0}" type="slidenum">
              <a:rPr lang="zh-CN" altLang="en-US"/>
              <a:pPr/>
              <a:t>60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ED605E-627C-7F46-9798-A3AAE67DD01A}" type="slidenum">
              <a:rPr lang="zh-CN" altLang="en-US" smtClean="0"/>
              <a:pPr>
                <a:defRPr/>
              </a:pPr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098061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幻灯片图像占位符 1">
            <a:extLst>
              <a:ext uri="{FF2B5EF4-FFF2-40B4-BE49-F238E27FC236}">
                <a16:creationId xmlns:a16="http://schemas.microsoft.com/office/drawing/2014/main" id="{92F287A2-63C9-875D-E9E4-BDA84F3C4F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4" name="备注占位符 2">
            <a:extLst>
              <a:ext uri="{FF2B5EF4-FFF2-40B4-BE49-F238E27FC236}">
                <a16:creationId xmlns:a16="http://schemas.microsoft.com/office/drawing/2014/main" id="{D47ACCD6-7338-F9F0-98E7-4FFA418692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71450" indent="-171450">
              <a:buFontTx/>
              <a:buChar char="-"/>
            </a:pPr>
            <a:endParaRPr lang="zh-CN" altLang="en-US" dirty="0"/>
          </a:p>
        </p:txBody>
      </p:sp>
      <p:sp>
        <p:nvSpPr>
          <p:cNvPr id="64515" name="灯片编号占位符 3">
            <a:extLst>
              <a:ext uri="{FF2B5EF4-FFF2-40B4-BE49-F238E27FC236}">
                <a16:creationId xmlns:a16="http://schemas.microsoft.com/office/drawing/2014/main" id="{D96C2235-6B8C-4215-A4AA-3009703E17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57D4905-9EE2-1E45-A11D-CD1D1594F90E}" type="slidenum">
              <a:rPr lang="zh-CN" altLang="en-US"/>
              <a:pPr/>
              <a:t>66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ED605E-627C-7F46-9798-A3AAE67DD01A}" type="slidenum">
              <a:rPr lang="zh-CN" altLang="en-US" smtClean="0"/>
              <a:pPr>
                <a:defRPr/>
              </a:pPr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942733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幻灯片图像占位符 1">
            <a:extLst>
              <a:ext uri="{FF2B5EF4-FFF2-40B4-BE49-F238E27FC236}">
                <a16:creationId xmlns:a16="http://schemas.microsoft.com/office/drawing/2014/main" id="{E3E18BDA-48CF-2F7B-32D8-09FFA81E49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8" name="备注占位符 2">
            <a:extLst>
              <a:ext uri="{FF2B5EF4-FFF2-40B4-BE49-F238E27FC236}">
                <a16:creationId xmlns:a16="http://schemas.microsoft.com/office/drawing/2014/main" id="{B1C877B7-9C2D-B9DD-1B77-DD28859D8F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39" name="灯片编号占位符 3">
            <a:extLst>
              <a:ext uri="{FF2B5EF4-FFF2-40B4-BE49-F238E27FC236}">
                <a16:creationId xmlns:a16="http://schemas.microsoft.com/office/drawing/2014/main" id="{C9EA6202-B5FE-D9AF-53E7-0538D4254C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ED0445B-B6E3-8E4B-BF44-F1E0A120C91B}" type="slidenum">
              <a:rPr lang="zh-CN" altLang="en-US"/>
              <a:pPr/>
              <a:t>69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1027">
            <a:extLst>
              <a:ext uri="{FF2B5EF4-FFF2-40B4-BE49-F238E27FC236}">
                <a16:creationId xmlns:a16="http://schemas.microsoft.com/office/drawing/2014/main" id="{7481F4B6-7296-DEFA-9A50-C84D171411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1028">
            <a:extLst>
              <a:ext uri="{FF2B5EF4-FFF2-40B4-BE49-F238E27FC236}">
                <a16:creationId xmlns:a16="http://schemas.microsoft.com/office/drawing/2014/main" id="{CD9A0AC7-5583-1992-7C7D-1C3822B92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" name="灯片编号占位符 1029">
            <a:extLst>
              <a:ext uri="{FF2B5EF4-FFF2-40B4-BE49-F238E27FC236}">
                <a16:creationId xmlns:a16="http://schemas.microsoft.com/office/drawing/2014/main" id="{93F9A125-B5AA-33D3-4241-1E3F39631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0EBDFB-8B05-D84C-90A8-B4DBE5F9992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3619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1027">
            <a:extLst>
              <a:ext uri="{FF2B5EF4-FFF2-40B4-BE49-F238E27FC236}">
                <a16:creationId xmlns:a16="http://schemas.microsoft.com/office/drawing/2014/main" id="{621F0450-4496-1B40-6F65-9446CF77F8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1028">
            <a:extLst>
              <a:ext uri="{FF2B5EF4-FFF2-40B4-BE49-F238E27FC236}">
                <a16:creationId xmlns:a16="http://schemas.microsoft.com/office/drawing/2014/main" id="{A81ED754-59AC-F7E2-21DC-F046CA927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" name="灯片编号占位符 1029">
            <a:extLst>
              <a:ext uri="{FF2B5EF4-FFF2-40B4-BE49-F238E27FC236}">
                <a16:creationId xmlns:a16="http://schemas.microsoft.com/office/drawing/2014/main" id="{7CBE7DA7-28A9-A97A-604B-996CCC093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530E4-1CD8-444E-81D5-5F66436C890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0140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1027">
            <a:extLst>
              <a:ext uri="{FF2B5EF4-FFF2-40B4-BE49-F238E27FC236}">
                <a16:creationId xmlns:a16="http://schemas.microsoft.com/office/drawing/2014/main" id="{02B5CF06-02B6-75AF-65FE-D2AD63363C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1028">
            <a:extLst>
              <a:ext uri="{FF2B5EF4-FFF2-40B4-BE49-F238E27FC236}">
                <a16:creationId xmlns:a16="http://schemas.microsoft.com/office/drawing/2014/main" id="{A3295C7E-458F-2AB2-4B28-F85BEFC2C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" name="灯片编号占位符 1029">
            <a:extLst>
              <a:ext uri="{FF2B5EF4-FFF2-40B4-BE49-F238E27FC236}">
                <a16:creationId xmlns:a16="http://schemas.microsoft.com/office/drawing/2014/main" id="{31935098-4F15-8F0E-3BDB-6D4907C3A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CB608F-E12A-3549-B868-81EE2E7A15C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6344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1027">
            <a:extLst>
              <a:ext uri="{FF2B5EF4-FFF2-40B4-BE49-F238E27FC236}">
                <a16:creationId xmlns:a16="http://schemas.microsoft.com/office/drawing/2014/main" id="{806E8993-F494-170F-8056-B3C4EF6856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1028">
            <a:extLst>
              <a:ext uri="{FF2B5EF4-FFF2-40B4-BE49-F238E27FC236}">
                <a16:creationId xmlns:a16="http://schemas.microsoft.com/office/drawing/2014/main" id="{531019FD-7B23-369A-261A-DB83C264D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7" name="灯片编号占位符 1029">
            <a:extLst>
              <a:ext uri="{FF2B5EF4-FFF2-40B4-BE49-F238E27FC236}">
                <a16:creationId xmlns:a16="http://schemas.microsoft.com/office/drawing/2014/main" id="{F3CFCFA5-3CC3-72A3-8179-3E0168E2D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4628FA-1C9F-CA4C-8834-F725C577D04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0000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1027">
            <a:extLst>
              <a:ext uri="{FF2B5EF4-FFF2-40B4-BE49-F238E27FC236}">
                <a16:creationId xmlns:a16="http://schemas.microsoft.com/office/drawing/2014/main" id="{81771245-6905-ED69-097C-12B7BCF457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1028">
            <a:extLst>
              <a:ext uri="{FF2B5EF4-FFF2-40B4-BE49-F238E27FC236}">
                <a16:creationId xmlns:a16="http://schemas.microsoft.com/office/drawing/2014/main" id="{94B0DB9A-7282-C9AF-EC22-CF406FCDA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9" name="灯片编号占位符 1029">
            <a:extLst>
              <a:ext uri="{FF2B5EF4-FFF2-40B4-BE49-F238E27FC236}">
                <a16:creationId xmlns:a16="http://schemas.microsoft.com/office/drawing/2014/main" id="{1A9659A2-5E75-F318-5827-FC3D3FEA8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77AF45-E783-8746-8293-670B25546A8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877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1027">
            <a:extLst>
              <a:ext uri="{FF2B5EF4-FFF2-40B4-BE49-F238E27FC236}">
                <a16:creationId xmlns:a16="http://schemas.microsoft.com/office/drawing/2014/main" id="{913EF5D1-1340-4EFC-A5B8-60D402D921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1028">
            <a:extLst>
              <a:ext uri="{FF2B5EF4-FFF2-40B4-BE49-F238E27FC236}">
                <a16:creationId xmlns:a16="http://schemas.microsoft.com/office/drawing/2014/main" id="{61DCCE91-7A4C-29F4-C824-70132D1CB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5" name="灯片编号占位符 1029">
            <a:extLst>
              <a:ext uri="{FF2B5EF4-FFF2-40B4-BE49-F238E27FC236}">
                <a16:creationId xmlns:a16="http://schemas.microsoft.com/office/drawing/2014/main" id="{A3B9BE56-83A5-29C7-8E8F-CF11ECE16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E446D8-C88D-FA4D-986C-69AC2F0DF1A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5839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027">
            <a:extLst>
              <a:ext uri="{FF2B5EF4-FFF2-40B4-BE49-F238E27FC236}">
                <a16:creationId xmlns:a16="http://schemas.microsoft.com/office/drawing/2014/main" id="{29C399BE-FC62-F684-584A-B8484ECC94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1028">
            <a:extLst>
              <a:ext uri="{FF2B5EF4-FFF2-40B4-BE49-F238E27FC236}">
                <a16:creationId xmlns:a16="http://schemas.microsoft.com/office/drawing/2014/main" id="{6DDFFA8E-85DF-DEE9-9ED8-54BA4A14D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4" name="灯片编号占位符 1029">
            <a:extLst>
              <a:ext uri="{FF2B5EF4-FFF2-40B4-BE49-F238E27FC236}">
                <a16:creationId xmlns:a16="http://schemas.microsoft.com/office/drawing/2014/main" id="{C166B88C-A690-BEDB-F529-C00A8A9D6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177E43-71A7-B549-A063-C3D872E30EC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053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1027">
            <a:extLst>
              <a:ext uri="{FF2B5EF4-FFF2-40B4-BE49-F238E27FC236}">
                <a16:creationId xmlns:a16="http://schemas.microsoft.com/office/drawing/2014/main" id="{DF524156-3D6A-2EEE-EB01-4B8F2AB120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1028">
            <a:extLst>
              <a:ext uri="{FF2B5EF4-FFF2-40B4-BE49-F238E27FC236}">
                <a16:creationId xmlns:a16="http://schemas.microsoft.com/office/drawing/2014/main" id="{38E8DDC8-6155-DEF4-3AFA-6FDB93EA1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7" name="灯片编号占位符 1029">
            <a:extLst>
              <a:ext uri="{FF2B5EF4-FFF2-40B4-BE49-F238E27FC236}">
                <a16:creationId xmlns:a16="http://schemas.microsoft.com/office/drawing/2014/main" id="{696AB76F-AB9F-D151-423D-E4FDC7E4C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BB83FE-A26A-694A-9EA9-37B5FD9BD54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008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1027">
            <a:extLst>
              <a:ext uri="{FF2B5EF4-FFF2-40B4-BE49-F238E27FC236}">
                <a16:creationId xmlns:a16="http://schemas.microsoft.com/office/drawing/2014/main" id="{46BD95AF-76F1-46A4-5A5C-D542530674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1028">
            <a:extLst>
              <a:ext uri="{FF2B5EF4-FFF2-40B4-BE49-F238E27FC236}">
                <a16:creationId xmlns:a16="http://schemas.microsoft.com/office/drawing/2014/main" id="{54F85D64-D4E3-C96A-A798-DAFA15307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7" name="灯片编号占位符 1029">
            <a:extLst>
              <a:ext uri="{FF2B5EF4-FFF2-40B4-BE49-F238E27FC236}">
                <a16:creationId xmlns:a16="http://schemas.microsoft.com/office/drawing/2014/main" id="{5828B77F-98E1-E1C4-7124-CB11B6F2A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E86CF4-72A5-2A44-B066-CBCAD08B115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8809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1027">
            <a:extLst>
              <a:ext uri="{FF2B5EF4-FFF2-40B4-BE49-F238E27FC236}">
                <a16:creationId xmlns:a16="http://schemas.microsoft.com/office/drawing/2014/main" id="{C0F9DA3F-BD94-CA30-6AEA-656A544B7E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1028">
            <a:extLst>
              <a:ext uri="{FF2B5EF4-FFF2-40B4-BE49-F238E27FC236}">
                <a16:creationId xmlns:a16="http://schemas.microsoft.com/office/drawing/2014/main" id="{97F04208-4E35-5DB2-9C33-13B663548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" name="灯片编号占位符 1029">
            <a:extLst>
              <a:ext uri="{FF2B5EF4-FFF2-40B4-BE49-F238E27FC236}">
                <a16:creationId xmlns:a16="http://schemas.microsoft.com/office/drawing/2014/main" id="{862DA223-1D79-2A7C-F676-6F2CF2A94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F6705C-2595-F74D-9428-31CB3AA2B6F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8347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1027">
            <a:extLst>
              <a:ext uri="{FF2B5EF4-FFF2-40B4-BE49-F238E27FC236}">
                <a16:creationId xmlns:a16="http://schemas.microsoft.com/office/drawing/2014/main" id="{3BFE6BF8-3303-E07A-2BAF-550BD0970B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1028">
            <a:extLst>
              <a:ext uri="{FF2B5EF4-FFF2-40B4-BE49-F238E27FC236}">
                <a16:creationId xmlns:a16="http://schemas.microsoft.com/office/drawing/2014/main" id="{71C9AE0E-3A0B-FE92-EA37-65264816E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" name="灯片编号占位符 1029">
            <a:extLst>
              <a:ext uri="{FF2B5EF4-FFF2-40B4-BE49-F238E27FC236}">
                <a16:creationId xmlns:a16="http://schemas.microsoft.com/office/drawing/2014/main" id="{6E80E7C0-7D6C-8167-008F-1C1114267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DABA17-3AE6-CB4F-87E0-327679BA9C7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8307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Microsoft YaHei"/>
                <a:cs typeface="Microsoft Ya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4445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13244867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Microsoft YaHei"/>
                <a:cs typeface="Microsoft Ya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4445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7110017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Microsoft YaHei"/>
                <a:cs typeface="Microsoft Ya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4445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35975880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Microsoft YaHei"/>
                <a:cs typeface="Microsoft Ya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4445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37638608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4445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1710345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>
            <a:extLst>
              <a:ext uri="{FF2B5EF4-FFF2-40B4-BE49-F238E27FC236}">
                <a16:creationId xmlns:a16="http://schemas.microsoft.com/office/drawing/2014/main" id="{B6218DBD-2F2B-811B-465E-318772EFB3E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1026">
            <a:extLst>
              <a:ext uri="{FF2B5EF4-FFF2-40B4-BE49-F238E27FC236}">
                <a16:creationId xmlns:a16="http://schemas.microsoft.com/office/drawing/2014/main" id="{1C637072-4E4A-C035-35D1-3B31CBF8E0E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日期占位符 1027">
            <a:extLst>
              <a:ext uri="{FF2B5EF4-FFF2-40B4-BE49-F238E27FC236}">
                <a16:creationId xmlns:a16="http://schemas.microsoft.com/office/drawing/2014/main" id="{14F25A57-B31D-5C50-2925-90643A854D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eaLnBrk="1" hangingPunct="1">
              <a:buFont typeface="Arial" charset="0"/>
              <a:buNone/>
              <a:defRPr sz="1400" noProof="1">
                <a:latin typeface="Arial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29" name="页脚占位符 1028">
            <a:extLst>
              <a:ext uri="{FF2B5EF4-FFF2-40B4-BE49-F238E27FC236}">
                <a16:creationId xmlns:a16="http://schemas.microsoft.com/office/drawing/2014/main" id="{B77836E4-C408-1659-9CE6-D846D811C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 eaLnBrk="1" hangingPunct="1">
              <a:buFont typeface="Arial" charset="0"/>
              <a:buNone/>
              <a:defRPr sz="1400" noProof="1">
                <a:latin typeface="Arial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1030" name="灯片编号占位符 1029">
            <a:extLst>
              <a:ext uri="{FF2B5EF4-FFF2-40B4-BE49-F238E27FC236}">
                <a16:creationId xmlns:a16="http://schemas.microsoft.com/office/drawing/2014/main" id="{8E1E7193-B478-137A-7167-3CCED20F87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>
              <a:defRPr/>
            </a:pPr>
            <a:fld id="{DC899EFB-6059-D44E-8C95-09916307E1F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kumimoji="1" sz="4400" kern="1200">
          <a:solidFill>
            <a:schemeClr val="tx2"/>
          </a:solidFill>
          <a:latin typeface="+mj-lt"/>
          <a:ea typeface="+mj-ea"/>
          <a:cs typeface="宋体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kumimoji="1" sz="4400">
          <a:solidFill>
            <a:schemeClr val="tx2"/>
          </a:solidFill>
          <a:latin typeface="Arial" charset="0"/>
          <a:ea typeface="宋体" charset="0"/>
          <a:cs typeface="宋体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kumimoji="1" sz="4400">
          <a:solidFill>
            <a:schemeClr val="tx2"/>
          </a:solidFill>
          <a:latin typeface="Arial" charset="0"/>
          <a:ea typeface="宋体" charset="0"/>
          <a:cs typeface="宋体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kumimoji="1" sz="4400">
          <a:solidFill>
            <a:schemeClr val="tx2"/>
          </a:solidFill>
          <a:latin typeface="Arial" charset="0"/>
          <a:ea typeface="宋体" charset="0"/>
          <a:cs typeface="宋体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kumimoji="1" sz="4400">
          <a:solidFill>
            <a:schemeClr val="tx2"/>
          </a:solidFill>
          <a:latin typeface="Arial" charset="0"/>
          <a:ea typeface="宋体" charset="0"/>
          <a:cs typeface="宋体" charset="0"/>
        </a:defRPr>
      </a:lvl5pPr>
      <a:lvl6pPr marL="457200" algn="ctr" rtl="0" fontAlgn="base">
        <a:spcBef>
          <a:spcPct val="0"/>
        </a:spcBef>
        <a:spcAft>
          <a:spcPct val="0"/>
        </a:spcAft>
        <a:buFont typeface="Arial" charset="0"/>
        <a:defRPr sz="4400">
          <a:solidFill>
            <a:schemeClr val="tx2"/>
          </a:solidFill>
          <a:latin typeface="Arial" charset="0"/>
          <a:ea typeface="宋体" charset="0"/>
          <a:cs typeface="宋体" charset="0"/>
        </a:defRPr>
      </a:lvl6pPr>
      <a:lvl7pPr marL="914400" algn="ctr" rtl="0" fontAlgn="base">
        <a:spcBef>
          <a:spcPct val="0"/>
        </a:spcBef>
        <a:spcAft>
          <a:spcPct val="0"/>
        </a:spcAft>
        <a:buFont typeface="Arial" charset="0"/>
        <a:defRPr sz="4400">
          <a:solidFill>
            <a:schemeClr val="tx2"/>
          </a:solidFill>
          <a:latin typeface="Arial" charset="0"/>
          <a:ea typeface="宋体" charset="0"/>
          <a:cs typeface="宋体" charset="0"/>
        </a:defRPr>
      </a:lvl7pPr>
      <a:lvl8pPr marL="1371600" algn="ctr" rtl="0" fontAlgn="base">
        <a:spcBef>
          <a:spcPct val="0"/>
        </a:spcBef>
        <a:spcAft>
          <a:spcPct val="0"/>
        </a:spcAft>
        <a:buFont typeface="Arial" charset="0"/>
        <a:defRPr sz="4400">
          <a:solidFill>
            <a:schemeClr val="tx2"/>
          </a:solidFill>
          <a:latin typeface="Arial" charset="0"/>
          <a:ea typeface="宋体" charset="0"/>
          <a:cs typeface="宋体" charset="0"/>
        </a:defRPr>
      </a:lvl8pPr>
      <a:lvl9pPr marL="1828800" algn="ctr" rtl="0" fontAlgn="base">
        <a:spcBef>
          <a:spcPct val="0"/>
        </a:spcBef>
        <a:spcAft>
          <a:spcPct val="0"/>
        </a:spcAft>
        <a:buFont typeface="Arial" charset="0"/>
        <a:defRPr sz="4400">
          <a:solidFill>
            <a:schemeClr val="tx2"/>
          </a:solidFill>
          <a:latin typeface="Arial" charset="0"/>
          <a:ea typeface="宋体" charset="0"/>
          <a:cs typeface="宋体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宋体" charset="0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宋体" charset="0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宋体" charset="0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宋体" charset="0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宋体" charset="0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28600" y="688577"/>
            <a:ext cx="8663940" cy="0"/>
          </a:xfrm>
          <a:custGeom>
            <a:avLst/>
            <a:gdLst/>
            <a:ahLst/>
            <a:cxnLst/>
            <a:rect l="l" t="t" r="r" b="b"/>
            <a:pathLst>
              <a:path w="8663940">
                <a:moveTo>
                  <a:pt x="0" y="0"/>
                </a:moveTo>
                <a:lnTo>
                  <a:pt x="8663880" y="1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0804" y="155955"/>
            <a:ext cx="3643629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Microsoft YaHei"/>
                <a:cs typeface="Microsoft Ya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136056"/>
            <a:ext cx="8379459" cy="4763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660705" y="6433001"/>
            <a:ext cx="282575" cy="2324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4445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4286742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3230105660@zju.edu.cn" TargetMode="External"/><Relationship Id="rId2" Type="http://schemas.openxmlformats.org/officeDocument/2006/relationships/hyperlink" Target="mailto:m.chen@zju.edu.cn" TargetMode="Externa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.jpg"/><Relationship Id="rId4" Type="http://schemas.openxmlformats.org/officeDocument/2006/relationships/hyperlink" Target="https://fiction-zju.github.io/courses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notesSlide" Target="../notesSlides/notesSlide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13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jpeg"/><Relationship Id="rId5" Type="http://schemas.openxmlformats.org/officeDocument/2006/relationships/image" Target="../media/image15.png"/><Relationship Id="rId10" Type="http://schemas.openxmlformats.org/officeDocument/2006/relationships/image" Target="../media/image20.jp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jpeg"/><Relationship Id="rId5" Type="http://schemas.openxmlformats.org/officeDocument/2006/relationships/image" Target="../media/image15.png"/><Relationship Id="rId10" Type="http://schemas.openxmlformats.org/officeDocument/2006/relationships/image" Target="../media/image20.jp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jpeg"/><Relationship Id="rId5" Type="http://schemas.openxmlformats.org/officeDocument/2006/relationships/image" Target="../media/image15.png"/><Relationship Id="rId10" Type="http://schemas.openxmlformats.org/officeDocument/2006/relationships/image" Target="../media/image20.jp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4.png"/><Relationship Id="rId7" Type="http://schemas.openxmlformats.org/officeDocument/2006/relationships/image" Target="../media/image16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11" Type="http://schemas.openxmlformats.org/officeDocument/2006/relationships/image" Target="../media/image23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6.png"/><Relationship Id="rId7" Type="http://schemas.openxmlformats.org/officeDocument/2006/relationships/image" Target="../media/image1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1A289F2B-57F2-FA94-C314-00CFB2892153}"/>
              </a:ext>
            </a:extLst>
          </p:cNvPr>
          <p:cNvGrpSpPr/>
          <p:nvPr/>
        </p:nvGrpSpPr>
        <p:grpSpPr>
          <a:xfrm>
            <a:off x="533400" y="1219200"/>
            <a:ext cx="8077200" cy="4837823"/>
            <a:chOff x="609600" y="1219200"/>
            <a:chExt cx="8077200" cy="4837823"/>
          </a:xfrm>
        </p:grpSpPr>
        <p:sp>
          <p:nvSpPr>
            <p:cNvPr id="14337" name="文本框 4099"/>
            <p:cNvSpPr txBox="1">
              <a:spLocks noChangeArrowheads="1"/>
            </p:cNvSpPr>
            <p:nvPr/>
          </p:nvSpPr>
          <p:spPr bwMode="auto">
            <a:xfrm>
              <a:off x="609600" y="4715630"/>
              <a:ext cx="8077200" cy="1341393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0" lang="zh-CN" altLang="en-US" sz="3200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陈明帅</a:t>
              </a:r>
              <a:endParaRPr kumimoji="0" lang="en-US" altLang="zh-CN" sz="3200" b="1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 marL="6350" algn="ctr">
                <a:lnSpc>
                  <a:spcPct val="100000"/>
                </a:lnSpc>
                <a:spcBef>
                  <a:spcPts val="965"/>
                </a:spcBef>
              </a:pPr>
              <a:r>
                <a:rPr lang="en-US" altLang="zh-CN" sz="2000" b="1" spc="-10" dirty="0" err="1">
                  <a:solidFill>
                    <a:schemeClr val="tx1"/>
                  </a:solidFill>
                  <a:uFill>
                    <a:solidFill>
                      <a:srgbClr val="0000FF"/>
                    </a:solidFill>
                  </a:uFill>
                  <a:latin typeface="Times New Roman"/>
                  <a:cs typeface="Times New Roman"/>
                </a:rPr>
                <a:t>m.chen@zju.edu.cn</a:t>
              </a:r>
              <a:endParaRPr lang="en-US" altLang="zh-CN" sz="2000" dirty="0">
                <a:solidFill>
                  <a:schemeClr val="tx1"/>
                </a:solidFill>
                <a:latin typeface="Times New Roman"/>
                <a:cs typeface="Times New Roman"/>
              </a:endParaRPr>
            </a:p>
            <a:p>
              <a:pPr marL="6350" marR="76200" algn="ctr">
                <a:lnSpc>
                  <a:spcPct val="100000"/>
                </a:lnSpc>
                <a:spcBef>
                  <a:spcPts val="120"/>
                </a:spcBef>
              </a:pPr>
              <a:r>
                <a:rPr lang="zh-CN" altLang="en-US" sz="2000" b="1" spc="-25" dirty="0">
                  <a:solidFill>
                    <a:srgbClr val="252525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浙江大学 </a:t>
              </a:r>
              <a:r>
                <a:rPr lang="en-US" altLang="zh-CN" sz="2000" b="1" spc="-25" dirty="0">
                  <a:solidFill>
                    <a:srgbClr val="252525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·</a:t>
              </a:r>
              <a:r>
                <a:rPr lang="zh-CN" altLang="en-US" sz="2000" b="1" spc="-25" dirty="0">
                  <a:solidFill>
                    <a:srgbClr val="252525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 </a:t>
              </a:r>
              <a:r>
                <a:rPr lang="zh-CN" altLang="en-US" sz="2000" b="1" spc="-15" dirty="0">
                  <a:solidFill>
                    <a:srgbClr val="252525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计算机科学与技术学院</a:t>
              </a:r>
              <a:endParaRPr kumimoji="0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4338" name="文本框 4101"/>
            <p:cNvSpPr txBox="1">
              <a:spLocks noChangeArrowheads="1"/>
            </p:cNvSpPr>
            <p:nvPr/>
          </p:nvSpPr>
          <p:spPr bwMode="auto">
            <a:xfrm>
              <a:off x="609600" y="1219200"/>
              <a:ext cx="8077200" cy="92392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0" lang="zh-CN" altLang="en-US" sz="5400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编译原理</a:t>
              </a:r>
              <a:endParaRPr kumimoji="0" lang="en-US" altLang="zh-CN" sz="5400" b="1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pic>
          <p:nvPicPr>
            <p:cNvPr id="1026" name="Picture 2" descr="Algorithmic trading - Energy Risk">
              <a:extLst>
                <a:ext uri="{FF2B5EF4-FFF2-40B4-BE49-F238E27FC236}">
                  <a16:creationId xmlns:a16="http://schemas.microsoft.com/office/drawing/2014/main" id="{8E1349D5-B664-23F6-443A-05B7443CBE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91880" y="2641401"/>
              <a:ext cx="2705786" cy="16704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6063E056-B95E-11E1-2F3F-5424D4F196F7}"/>
              </a:ext>
            </a:extLst>
          </p:cNvPr>
          <p:cNvSpPr txBox="1"/>
          <p:nvPr/>
        </p:nvSpPr>
        <p:spPr>
          <a:xfrm>
            <a:off x="5105386" y="6324524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algn="ctr">
              <a:lnSpc>
                <a:spcPct val="100000"/>
              </a:lnSpc>
              <a:spcBef>
                <a:spcPts val="965"/>
              </a:spcBef>
            </a:pPr>
            <a:r>
              <a:rPr lang="en-US" altLang="zh-CN" sz="1600" b="1" spc="-10" dirty="0">
                <a:solidFill>
                  <a:schemeClr val="tx1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Slides partially credited to </a:t>
            </a:r>
            <a:r>
              <a:rPr lang="en-US" altLang="zh-CN" sz="1600" b="1" spc="-10" dirty="0" err="1">
                <a:solidFill>
                  <a:schemeClr val="tx1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Peisen</a:t>
            </a:r>
            <a:r>
              <a:rPr lang="en-US" altLang="zh-CN" sz="1600" b="1" spc="-10" dirty="0">
                <a:solidFill>
                  <a:schemeClr val="tx1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Yao</a:t>
            </a:r>
            <a:endParaRPr lang="en-US" altLang="zh-CN" sz="1600" b="1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247929"/>
              </p:ext>
            </p:extLst>
          </p:nvPr>
        </p:nvGraphicFramePr>
        <p:xfrm>
          <a:off x="1295524" y="1447800"/>
          <a:ext cx="6552952" cy="25296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8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6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0638">
                <a:tc>
                  <a:txBody>
                    <a:bodyPr/>
                    <a:lstStyle/>
                    <a:p>
                      <a:pPr marL="9080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200" b="1" spc="-15" dirty="0">
                          <a:latin typeface="Microsoft YaHei"/>
                          <a:cs typeface="Microsoft YaHei"/>
                        </a:rPr>
                        <a:t>主讲老师</a:t>
                      </a:r>
                      <a:endParaRPr sz="2200">
                        <a:latin typeface="Microsoft YaHei"/>
                        <a:cs typeface="Microsoft YaHei"/>
                      </a:endParaRPr>
                    </a:p>
                  </a:txBody>
                  <a:tcPr marL="0" marR="0" marT="31750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2200" spc="-5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/>
                        </a:rPr>
                        <a:t>陈明帅</a:t>
                      </a:r>
                      <a:r>
                        <a:rPr lang="zh-CN" altLang="en-US" sz="2200" spc="-5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/>
                        </a:rPr>
                        <a:t>，</a:t>
                      </a:r>
                      <a:r>
                        <a:rPr lang="en-US" sz="2200" u="none" spc="-10" dirty="0">
                          <a:solidFill>
                            <a:schemeClr val="tx1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Times New Roman"/>
                          <a:cs typeface="Times New Roman"/>
                          <a:hlinkClick r:id="rId2"/>
                        </a:rPr>
                        <a:t>m.chen</a:t>
                      </a:r>
                      <a:r>
                        <a:rPr sz="2200" u="none" spc="-10" dirty="0">
                          <a:solidFill>
                            <a:schemeClr val="tx1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Times New Roman"/>
                          <a:cs typeface="Times New Roman"/>
                          <a:hlinkClick r:id="rId2"/>
                        </a:rPr>
                        <a:t>@zju.edu.cn</a:t>
                      </a:r>
                      <a:endParaRPr sz="2200" u="none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887">
                <a:tc>
                  <a:txBody>
                    <a:bodyPr/>
                    <a:lstStyle/>
                    <a:p>
                      <a:pPr marL="9080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200" b="1" spc="-15" dirty="0">
                          <a:latin typeface="Microsoft YaHei"/>
                          <a:cs typeface="Microsoft YaHei"/>
                        </a:rPr>
                        <a:t>课程助教</a:t>
                      </a:r>
                      <a:endParaRPr sz="2200">
                        <a:latin typeface="Microsoft YaHei"/>
                        <a:cs typeface="Microsoft YaHei"/>
                      </a:endParaRPr>
                    </a:p>
                  </a:txBody>
                  <a:tcPr marL="0" marR="0" marT="31750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5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200" spc="-5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/>
                        </a:rPr>
                        <a:t>黄钰，</a:t>
                      </a:r>
                      <a:r>
                        <a:rPr lang="en" altLang="zh-CN" sz="2200" u="none" spc="-10" dirty="0">
                          <a:solidFill>
                            <a:schemeClr val="tx1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Times New Roman"/>
                          <a:ea typeface="+mn-ea"/>
                          <a:cs typeface="Times New Roman"/>
                          <a:hlinkClick r:id="rId3"/>
                        </a:rPr>
                        <a:t>3230105660@zju.edu.cn</a:t>
                      </a:r>
                      <a:endParaRPr sz="2200" u="none" spc="-10" dirty="0">
                        <a:solidFill>
                          <a:schemeClr val="tx1"/>
                        </a:solidFill>
                        <a:uFill>
                          <a:solidFill>
                            <a:srgbClr val="0000FF"/>
                          </a:solidFill>
                        </a:u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0" marR="0" marT="3175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4073">
                <a:tc>
                  <a:txBody>
                    <a:bodyPr/>
                    <a:lstStyle/>
                    <a:p>
                      <a:pPr marL="9080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200" b="1" spc="-15" dirty="0">
                          <a:latin typeface="Microsoft YaHei"/>
                          <a:cs typeface="Microsoft YaHei"/>
                        </a:rPr>
                        <a:t>时间地点</a:t>
                      </a:r>
                      <a:endParaRPr sz="2200">
                        <a:latin typeface="Microsoft YaHei"/>
                        <a:cs typeface="Microsoft YaHei"/>
                      </a:endParaRPr>
                    </a:p>
                  </a:txBody>
                  <a:tcPr marL="0" marR="0" marT="33655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200" spc="-1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Microsoft YaHei"/>
                        </a:rPr>
                        <a:t>周</a:t>
                      </a:r>
                      <a:r>
                        <a:rPr lang="en-US" sz="2200" spc="-1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Microsoft YaHei"/>
                        </a:rPr>
                        <a:t>四</a:t>
                      </a:r>
                      <a:r>
                        <a:rPr lang="zh-CN" altLang="en-US" sz="2200" spc="-1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Microsoft YaHei"/>
                        </a:rPr>
                        <a:t>（</a:t>
                      </a:r>
                      <a:r>
                        <a:rPr sz="2200" spc="-3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/>
                        </a:rPr>
                        <a:t>3</a:t>
                      </a:r>
                      <a:r>
                        <a:rPr lang="zh-CN" altLang="en-US" sz="2200" spc="-1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Microsoft YaHei"/>
                        </a:rPr>
                        <a:t> </a:t>
                      </a:r>
                      <a:r>
                        <a:rPr lang="en-US" altLang="zh-CN" sz="2200" spc="-1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Microsoft YaHei"/>
                        </a:rPr>
                        <a:t>-</a:t>
                      </a:r>
                      <a:r>
                        <a:rPr lang="zh-CN" altLang="en-US" sz="2200" spc="-1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Microsoft YaHei"/>
                        </a:rPr>
                        <a:t> </a:t>
                      </a:r>
                      <a:r>
                        <a:rPr sz="2200" spc="-1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/>
                        </a:rPr>
                        <a:t>5</a:t>
                      </a:r>
                      <a:r>
                        <a:rPr sz="2200" spc="-1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Microsoft YaHei"/>
                        </a:rPr>
                        <a:t>节</a:t>
                      </a:r>
                      <a:r>
                        <a:rPr lang="zh-CN" altLang="en-US" sz="2200" spc="-2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/>
                        </a:rPr>
                        <a:t>），</a:t>
                      </a:r>
                      <a:r>
                        <a:rPr lang="zh-CN" altLang="en-US" sz="2200" spc="-25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/>
                        </a:rPr>
                        <a:t>教</a:t>
                      </a:r>
                      <a:r>
                        <a:rPr lang="en-US" altLang="zh-CN" sz="2200" spc="-25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/>
                        </a:rPr>
                        <a:t>4-304</a:t>
                      </a:r>
                      <a:endParaRPr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0" marR="0" marT="3365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402">
                <a:tc>
                  <a:txBody>
                    <a:bodyPr/>
                    <a:lstStyle/>
                    <a:p>
                      <a:pPr marL="9080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200" b="1" spc="-15" dirty="0">
                          <a:latin typeface="Microsoft YaHei"/>
                          <a:cs typeface="Microsoft YaHei"/>
                        </a:rPr>
                        <a:t>课程网站</a:t>
                      </a:r>
                      <a:endParaRPr sz="2200" dirty="0">
                        <a:latin typeface="Microsoft YaHei"/>
                        <a:cs typeface="Microsoft YaHei"/>
                      </a:endParaRPr>
                    </a:p>
                  </a:txBody>
                  <a:tcPr marL="0" marR="0" marT="32384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lang="e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/>
                        </a:rPr>
                        <a:t>https://fiction-zju.github.io/courses/</a:t>
                      </a:r>
                      <a:endParaRPr lang="e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080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200" dirty="0" err="1">
                          <a:latin typeface="Microsoft YaHei"/>
                          <a:cs typeface="Microsoft YaHei"/>
                        </a:rPr>
                        <a:t>学在浙大</a:t>
                      </a: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2268" y="137667"/>
            <a:ext cx="14478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课程信息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63B7BB8-86A9-5A88-7BD2-02BBE1844C7D}"/>
              </a:ext>
            </a:extLst>
          </p:cNvPr>
          <p:cNvGrpSpPr/>
          <p:nvPr/>
        </p:nvGrpSpPr>
        <p:grpSpPr>
          <a:xfrm>
            <a:off x="769970" y="4399990"/>
            <a:ext cx="7604060" cy="1831013"/>
            <a:chOff x="769970" y="4309391"/>
            <a:chExt cx="7604060" cy="1831013"/>
          </a:xfrm>
        </p:grpSpPr>
        <p:sp>
          <p:nvSpPr>
            <p:cNvPr id="4" name="object 4"/>
            <p:cNvSpPr txBox="1"/>
            <p:nvPr/>
          </p:nvSpPr>
          <p:spPr>
            <a:xfrm>
              <a:off x="769970" y="4545769"/>
              <a:ext cx="5756208" cy="1358257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ts val="3110"/>
                </a:lnSpc>
                <a:spcBef>
                  <a:spcPts val="100"/>
                </a:spcBef>
                <a:spcAft>
                  <a:spcPts val="1200"/>
                </a:spcAft>
              </a:pPr>
              <a:r>
                <a:rPr sz="2600" b="1" spc="-10" dirty="0">
                  <a:latin typeface="Arial"/>
                  <a:cs typeface="Arial"/>
                </a:rPr>
                <a:t>Textbook:</a:t>
              </a:r>
              <a:endParaRPr sz="2600" dirty="0">
                <a:latin typeface="Arial"/>
                <a:cs typeface="Arial"/>
              </a:endParaRPr>
            </a:p>
            <a:p>
              <a:pPr marL="12700" marR="5080">
                <a:lnSpc>
                  <a:spcPts val="3220"/>
                </a:lnSpc>
                <a:spcAft>
                  <a:spcPts val="600"/>
                </a:spcAft>
              </a:pPr>
              <a:r>
                <a:rPr sz="2600" dirty="0">
                  <a:latin typeface="Arial"/>
                  <a:cs typeface="Arial"/>
                </a:rPr>
                <a:t>Modern</a:t>
              </a:r>
              <a:r>
                <a:rPr sz="2600" spc="-75" dirty="0">
                  <a:latin typeface="Arial"/>
                  <a:cs typeface="Arial"/>
                </a:rPr>
                <a:t> </a:t>
              </a:r>
              <a:r>
                <a:rPr sz="2600" dirty="0">
                  <a:latin typeface="Arial"/>
                  <a:cs typeface="Arial"/>
                </a:rPr>
                <a:t>Compiler</a:t>
              </a:r>
              <a:r>
                <a:rPr sz="2600" spc="-80" dirty="0">
                  <a:latin typeface="Arial"/>
                  <a:cs typeface="Arial"/>
                </a:rPr>
                <a:t> </a:t>
              </a:r>
              <a:r>
                <a:rPr sz="2600" dirty="0">
                  <a:latin typeface="Arial"/>
                  <a:cs typeface="Arial"/>
                </a:rPr>
                <a:t>Implementation</a:t>
              </a:r>
              <a:r>
                <a:rPr sz="2600" spc="-70" dirty="0">
                  <a:latin typeface="Arial"/>
                  <a:cs typeface="Arial"/>
                </a:rPr>
                <a:t> </a:t>
              </a:r>
              <a:r>
                <a:rPr sz="2600" dirty="0">
                  <a:latin typeface="Arial"/>
                  <a:cs typeface="Arial"/>
                </a:rPr>
                <a:t>in</a:t>
              </a:r>
              <a:r>
                <a:rPr sz="2600" spc="-70" dirty="0">
                  <a:latin typeface="Arial"/>
                  <a:cs typeface="Arial"/>
                </a:rPr>
                <a:t> </a:t>
              </a:r>
              <a:r>
                <a:rPr lang="en" sz="2600" spc="-25" dirty="0">
                  <a:latin typeface="Arial"/>
                  <a:cs typeface="Arial"/>
                </a:rPr>
                <a:t>C</a:t>
              </a:r>
              <a:r>
                <a:rPr sz="2600" spc="-25" dirty="0">
                  <a:latin typeface="Arial"/>
                  <a:cs typeface="Arial"/>
                </a:rPr>
                <a:t> </a:t>
              </a:r>
              <a:r>
                <a:rPr sz="2600" dirty="0">
                  <a:latin typeface="Arial"/>
                  <a:cs typeface="Arial"/>
                </a:rPr>
                <a:t>Andrew</a:t>
              </a:r>
              <a:r>
                <a:rPr sz="2600" spc="-90" dirty="0">
                  <a:latin typeface="Arial"/>
                  <a:cs typeface="Arial"/>
                </a:rPr>
                <a:t> </a:t>
              </a:r>
              <a:r>
                <a:rPr sz="2600" spc="-85" dirty="0">
                  <a:latin typeface="Arial"/>
                  <a:cs typeface="Arial"/>
                </a:rPr>
                <a:t>W.</a:t>
              </a:r>
              <a:r>
                <a:rPr sz="2600" spc="-145" dirty="0">
                  <a:latin typeface="Arial"/>
                  <a:cs typeface="Arial"/>
                </a:rPr>
                <a:t> </a:t>
              </a:r>
              <a:r>
                <a:rPr sz="2600" spc="-10" dirty="0">
                  <a:latin typeface="Arial"/>
                  <a:cs typeface="Arial"/>
                </a:rPr>
                <a:t>Appel</a:t>
              </a:r>
              <a:endParaRPr sz="2600" dirty="0">
                <a:latin typeface="Arial"/>
                <a:cs typeface="Arial"/>
              </a:endParaRPr>
            </a:p>
          </p:txBody>
        </p:sp>
        <p:pic>
          <p:nvPicPr>
            <p:cNvPr id="5" name="object 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58000" y="4309391"/>
              <a:ext cx="1516030" cy="183101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5821" y="1473200"/>
            <a:ext cx="7538084" cy="413448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355600" marR="276860" indent="-342900">
              <a:lnSpc>
                <a:spcPts val="2500"/>
              </a:lnSpc>
              <a:spcBef>
                <a:spcPts val="200"/>
              </a:spcBef>
              <a:buClr>
                <a:srgbClr val="003399"/>
              </a:buClr>
              <a:buFont typeface="Arial"/>
              <a:buChar char="•"/>
              <a:tabLst>
                <a:tab pos="355600" algn="l"/>
              </a:tabLst>
            </a:pPr>
            <a:r>
              <a:rPr sz="2100" b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[</a:t>
            </a:r>
            <a:r>
              <a:rPr sz="2100" b="1" u="sng" spc="-15" dirty="0" err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YaHei"/>
                <a:cs typeface="Microsoft YaHei"/>
              </a:rPr>
              <a:t>虎书</a:t>
            </a:r>
            <a:r>
              <a:rPr sz="2100" b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]</a:t>
            </a:r>
            <a:r>
              <a:rPr lang="en-US" sz="2100" b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100" b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Andrew</a:t>
            </a:r>
            <a:r>
              <a:rPr sz="2100" b="1" u="sng" spc="-10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100" b="1" u="sng" spc="-10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W</a:t>
            </a:r>
            <a:r>
              <a:rPr sz="2100" b="1" u="sng" spc="-1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. </a:t>
            </a:r>
            <a:r>
              <a:rPr sz="21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Appel.</a:t>
            </a:r>
            <a:r>
              <a:rPr sz="2100" b="1" spc="-5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100" b="1" i="1" u="sng" dirty="0">
                <a:solidFill>
                  <a:srgbClr val="0000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Modern</a:t>
            </a:r>
            <a:r>
              <a:rPr sz="2100" b="1" i="1" u="sng" spc="-70" dirty="0">
                <a:solidFill>
                  <a:srgbClr val="0000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100" b="1" i="1" u="sng" dirty="0">
                <a:solidFill>
                  <a:srgbClr val="0000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Compiler</a:t>
            </a:r>
            <a:r>
              <a:rPr sz="2100" b="1" i="1" u="sng" spc="-85" dirty="0">
                <a:solidFill>
                  <a:srgbClr val="0000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100" b="1" i="1" u="sng" spc="-10" dirty="0">
                <a:solidFill>
                  <a:srgbClr val="0000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Implementation</a:t>
            </a:r>
            <a:r>
              <a:rPr sz="2100" b="1" i="1" u="sng" spc="-80" dirty="0">
                <a:solidFill>
                  <a:srgbClr val="0000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100" b="1" i="1" u="sng" spc="-25" dirty="0">
                <a:solidFill>
                  <a:srgbClr val="0000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in</a:t>
            </a:r>
            <a:r>
              <a:rPr sz="2100" b="1" i="1" u="sng" spc="-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100" b="1" i="1" u="sng" spc="-10" dirty="0">
                <a:solidFill>
                  <a:srgbClr val="0000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Java</a:t>
            </a:r>
            <a:r>
              <a:rPr lang="en-US" sz="2100" b="1" i="1" u="sng" spc="-10" dirty="0">
                <a:solidFill>
                  <a:srgbClr val="0000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100" b="1" i="1" u="sng" spc="-30" dirty="0">
                <a:solidFill>
                  <a:srgbClr val="0000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/ </a:t>
            </a:r>
            <a:r>
              <a:rPr sz="2100" b="1" i="1" u="sng" spc="-25" dirty="0">
                <a:solidFill>
                  <a:srgbClr val="0000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ML</a:t>
            </a:r>
            <a:r>
              <a:rPr lang="en-US" sz="2100" b="1" i="1" u="sng" spc="-25" dirty="0">
                <a:solidFill>
                  <a:srgbClr val="0000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 / C</a:t>
            </a:r>
            <a:endParaRPr sz="2100" dirty="0">
              <a:latin typeface="Times New Roman"/>
              <a:cs typeface="Times New Roman"/>
            </a:endParaRPr>
          </a:p>
          <a:p>
            <a:pPr marL="410845">
              <a:lnSpc>
                <a:spcPct val="100000"/>
              </a:lnSpc>
              <a:spcBef>
                <a:spcPts val="204"/>
              </a:spcBef>
              <a:tabLst>
                <a:tab pos="3801110" algn="l"/>
              </a:tabLst>
            </a:pPr>
            <a:r>
              <a:rPr sz="2100" b="1" spc="-15" dirty="0" err="1">
                <a:latin typeface="Microsoft YaHei"/>
                <a:cs typeface="Microsoft YaHei"/>
              </a:rPr>
              <a:t>现代编译原</a:t>
            </a:r>
            <a:r>
              <a:rPr sz="2100" b="1" spc="-10" dirty="0" err="1">
                <a:latin typeface="Microsoft YaHei"/>
                <a:cs typeface="Microsoft YaHei"/>
              </a:rPr>
              <a:t>理</a:t>
            </a:r>
            <a:r>
              <a:rPr lang="en-US" altLang="zh-CN" sz="2100" b="1" spc="-25" dirty="0">
                <a:latin typeface="Microsoft YaHei"/>
                <a:cs typeface="Microsoft YaHei"/>
              </a:rPr>
              <a:t>—</a:t>
            </a:r>
            <a:r>
              <a:rPr sz="2100" b="1" spc="-30" dirty="0" err="1">
                <a:latin typeface="Times New Roman"/>
                <a:cs typeface="Times New Roman"/>
              </a:rPr>
              <a:t>C</a:t>
            </a:r>
            <a:r>
              <a:rPr sz="2100" b="1" spc="-15" dirty="0" err="1">
                <a:latin typeface="Microsoft YaHei"/>
                <a:cs typeface="Microsoft YaHei"/>
              </a:rPr>
              <a:t>语言描</a:t>
            </a:r>
            <a:r>
              <a:rPr sz="2100" b="1" spc="-10" dirty="0" err="1">
                <a:latin typeface="Microsoft YaHei"/>
                <a:cs typeface="Microsoft YaHei"/>
              </a:rPr>
              <a:t>述</a:t>
            </a:r>
            <a:r>
              <a:rPr lang="zh-CN" altLang="en-US" sz="2100" b="1" spc="-5" dirty="0">
                <a:latin typeface="Microsoft YaHei"/>
                <a:cs typeface="Microsoft YaHei"/>
              </a:rPr>
              <a:t>，</a:t>
            </a:r>
            <a:r>
              <a:rPr sz="2100" b="1" spc="-15" dirty="0" err="1">
                <a:latin typeface="Microsoft YaHei"/>
                <a:cs typeface="Microsoft YaHei"/>
              </a:rPr>
              <a:t>人民邮电出版</a:t>
            </a:r>
            <a:r>
              <a:rPr sz="2100" b="1" spc="-10" dirty="0" err="1">
                <a:latin typeface="Microsoft YaHei"/>
                <a:cs typeface="Microsoft YaHei"/>
              </a:rPr>
              <a:t>社</a:t>
            </a:r>
            <a:endParaRPr sz="2100" dirty="0">
              <a:latin typeface="Microsoft YaHei"/>
              <a:cs typeface="Microsoft YaHei"/>
            </a:endParaRPr>
          </a:p>
          <a:p>
            <a:pPr marL="355600" marR="1103630" indent="-342900">
              <a:lnSpc>
                <a:spcPct val="119000"/>
              </a:lnSpc>
              <a:spcBef>
                <a:spcPts val="3165"/>
              </a:spcBef>
              <a:buClr>
                <a:srgbClr val="003399"/>
              </a:buClr>
              <a:buFont typeface="Arial"/>
              <a:buChar char="•"/>
              <a:tabLst>
                <a:tab pos="355600" algn="l"/>
              </a:tabLst>
            </a:pPr>
            <a:r>
              <a:rPr sz="2100" b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[</a:t>
            </a:r>
            <a:r>
              <a:rPr sz="2100" b="1" u="sng" spc="-15" dirty="0" err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YaHei"/>
                <a:cs typeface="Microsoft YaHei"/>
              </a:rPr>
              <a:t>龙书</a:t>
            </a:r>
            <a:r>
              <a:rPr sz="2100" b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]</a:t>
            </a:r>
            <a:r>
              <a:rPr lang="en-US" sz="2100" b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100" b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Alfred</a:t>
            </a:r>
            <a:r>
              <a:rPr sz="2100" b="1" u="sng" spc="-10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100" b="1" u="sng" spc="-14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V. </a:t>
            </a:r>
            <a:r>
              <a:rPr lang="en-US" sz="2100" b="1" u="sng" spc="-14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100" b="1" u="sng" dirty="0" err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Aho</a:t>
            </a:r>
            <a:r>
              <a:rPr sz="21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,</a:t>
            </a:r>
            <a:r>
              <a:rPr sz="2100" b="1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1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Monica</a:t>
            </a:r>
            <a:r>
              <a:rPr sz="2100" b="1" u="sng" spc="-4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1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S</a:t>
            </a:r>
            <a:r>
              <a:rPr sz="2100" b="1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. </a:t>
            </a:r>
            <a:r>
              <a:rPr sz="21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Lam</a:t>
            </a:r>
            <a:r>
              <a:rPr sz="2100" b="1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, </a:t>
            </a:r>
            <a:r>
              <a:rPr sz="21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et</a:t>
            </a:r>
            <a:r>
              <a:rPr sz="2100" b="1" u="sng" spc="-4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1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al.</a:t>
            </a:r>
            <a:r>
              <a:rPr sz="2100" b="1" spc="-5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100" b="1" i="1" u="sng" spc="-10" dirty="0">
                <a:solidFill>
                  <a:srgbClr val="0000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Compilers:</a:t>
            </a:r>
            <a:r>
              <a:rPr sz="2100" b="1" i="1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100" b="1" i="1" u="sng" spc="-10" dirty="0">
                <a:solidFill>
                  <a:srgbClr val="0000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Principles,</a:t>
            </a:r>
            <a:r>
              <a:rPr sz="2100" u="sng" spc="-60" dirty="0">
                <a:solidFill>
                  <a:srgbClr val="0000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100" b="1" i="1" u="sng" spc="-25" dirty="0">
                <a:solidFill>
                  <a:srgbClr val="0000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Techniques</a:t>
            </a:r>
            <a:r>
              <a:rPr sz="2100" b="1" i="1" u="sng" spc="-45" dirty="0">
                <a:solidFill>
                  <a:srgbClr val="0000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, </a:t>
            </a:r>
            <a:r>
              <a:rPr sz="2100" b="1" i="1" u="sng" dirty="0">
                <a:solidFill>
                  <a:srgbClr val="0000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and</a:t>
            </a:r>
            <a:r>
              <a:rPr sz="2100" b="1" i="1" u="sng" spc="-40" dirty="0">
                <a:solidFill>
                  <a:srgbClr val="0000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100" b="1" i="1" u="sng" spc="-25" dirty="0">
                <a:solidFill>
                  <a:srgbClr val="0000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Tools</a:t>
            </a:r>
            <a:r>
              <a:rPr lang="en-US" sz="2100" b="1" i="1" u="sng" spc="-25" dirty="0">
                <a:solidFill>
                  <a:srgbClr val="0000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100" b="1" i="1" u="sng" spc="-25" dirty="0">
                <a:solidFill>
                  <a:srgbClr val="0000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(2nd</a:t>
            </a:r>
            <a:r>
              <a:rPr sz="2100" b="1" i="1" u="sng" spc="-70" dirty="0">
                <a:solidFill>
                  <a:srgbClr val="0000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100" b="1" i="1" u="sng" spc="-20" dirty="0">
                <a:solidFill>
                  <a:srgbClr val="0000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Ed.)</a:t>
            </a:r>
            <a:endParaRPr sz="2100" dirty="0">
              <a:latin typeface="Times New Roman"/>
              <a:cs typeface="Times New Roman"/>
            </a:endParaRPr>
          </a:p>
          <a:p>
            <a:pPr marL="346075">
              <a:lnSpc>
                <a:spcPct val="100000"/>
              </a:lnSpc>
              <a:spcBef>
                <a:spcPts val="795"/>
              </a:spcBef>
            </a:pPr>
            <a:r>
              <a:rPr sz="2100" b="1" spc="-15" dirty="0" err="1">
                <a:latin typeface="Microsoft YaHei"/>
                <a:cs typeface="Microsoft YaHei"/>
              </a:rPr>
              <a:t>编译原理</a:t>
            </a:r>
            <a:r>
              <a:rPr lang="zh-CN" altLang="en-US" sz="2100" b="1" spc="-5" dirty="0">
                <a:latin typeface="Microsoft YaHei"/>
                <a:cs typeface="Microsoft YaHei"/>
              </a:rPr>
              <a:t>，</a:t>
            </a:r>
            <a:r>
              <a:rPr sz="2100" b="1" spc="-15" dirty="0">
                <a:latin typeface="Microsoft YaHei"/>
                <a:cs typeface="Microsoft YaHei"/>
              </a:rPr>
              <a:t>影印本</a:t>
            </a:r>
            <a:r>
              <a:rPr sz="2100" b="1" spc="-10" dirty="0">
                <a:latin typeface="Times New Roman"/>
                <a:cs typeface="Times New Roman"/>
              </a:rPr>
              <a:t>-</a:t>
            </a:r>
            <a:r>
              <a:rPr sz="2100" b="1" spc="-50" dirty="0">
                <a:latin typeface="Times New Roman"/>
                <a:cs typeface="Times New Roman"/>
              </a:rPr>
              <a:t>2011</a:t>
            </a:r>
            <a:r>
              <a:rPr sz="2100" b="1" spc="-15" dirty="0">
                <a:latin typeface="Microsoft YaHei"/>
                <a:cs typeface="Microsoft YaHei"/>
              </a:rPr>
              <a:t>、译本</a:t>
            </a:r>
            <a:r>
              <a:rPr sz="2100" b="1" spc="-10" dirty="0">
                <a:latin typeface="Times New Roman"/>
                <a:cs typeface="Times New Roman"/>
              </a:rPr>
              <a:t>-</a:t>
            </a:r>
            <a:r>
              <a:rPr sz="2100" b="1" dirty="0">
                <a:latin typeface="Times New Roman"/>
                <a:cs typeface="Times New Roman"/>
              </a:rPr>
              <a:t>2009</a:t>
            </a:r>
            <a:r>
              <a:rPr lang="zh-CN" altLang="en-US" sz="2100" b="1" spc="-5" dirty="0">
                <a:latin typeface="Microsoft YaHei"/>
                <a:cs typeface="Microsoft YaHei"/>
              </a:rPr>
              <a:t>，</a:t>
            </a:r>
            <a:r>
              <a:rPr sz="2100" b="1" spc="-20" dirty="0" err="1">
                <a:latin typeface="Microsoft YaHei"/>
                <a:cs typeface="Microsoft YaHei"/>
              </a:rPr>
              <a:t>机械工业出版社</a:t>
            </a:r>
            <a:endParaRPr sz="2100" dirty="0">
              <a:latin typeface="Microsoft YaHei"/>
              <a:cs typeface="Microsoft YaHei"/>
            </a:endParaRPr>
          </a:p>
          <a:p>
            <a:pPr>
              <a:lnSpc>
                <a:spcPct val="100000"/>
              </a:lnSpc>
              <a:spcBef>
                <a:spcPts val="1725"/>
              </a:spcBef>
            </a:pPr>
            <a:endParaRPr sz="2100" dirty="0">
              <a:latin typeface="Microsoft YaHei"/>
              <a:cs typeface="Microsoft YaHei"/>
            </a:endParaRPr>
          </a:p>
          <a:p>
            <a:pPr marL="361315" indent="-342900">
              <a:lnSpc>
                <a:spcPct val="100000"/>
              </a:lnSpc>
              <a:buClr>
                <a:srgbClr val="003399"/>
              </a:buClr>
              <a:buFont typeface="Arial"/>
              <a:buChar char="•"/>
              <a:tabLst>
                <a:tab pos="361315" algn="l"/>
              </a:tabLst>
            </a:pPr>
            <a:r>
              <a:rPr sz="2100" b="1" u="sng" dirty="0">
                <a:solidFill>
                  <a:srgbClr val="0432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Keith</a:t>
            </a:r>
            <a:r>
              <a:rPr sz="2100" b="1" u="sng" spc="-50" dirty="0">
                <a:solidFill>
                  <a:srgbClr val="0432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100" b="1" u="sng" dirty="0">
                <a:solidFill>
                  <a:srgbClr val="0432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Cooper</a:t>
            </a:r>
            <a:r>
              <a:rPr sz="2100" b="1" u="sng" spc="-70" dirty="0">
                <a:solidFill>
                  <a:srgbClr val="0432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100" b="1" u="sng" dirty="0">
                <a:solidFill>
                  <a:srgbClr val="0432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&amp;</a:t>
            </a:r>
            <a:r>
              <a:rPr sz="2100" b="1" u="sng" spc="-40" dirty="0">
                <a:solidFill>
                  <a:srgbClr val="0432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100" b="1" u="sng" dirty="0">
                <a:solidFill>
                  <a:srgbClr val="0432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Linda</a:t>
            </a:r>
            <a:r>
              <a:rPr sz="2100" b="1" u="sng" spc="-75" dirty="0">
                <a:solidFill>
                  <a:srgbClr val="0432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100" b="1" u="sng" spc="-25" dirty="0" err="1">
                <a:solidFill>
                  <a:srgbClr val="0432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Torczon</a:t>
            </a:r>
            <a:r>
              <a:rPr lang="en-US" sz="2100" b="1" u="sng" spc="-25" dirty="0">
                <a:solidFill>
                  <a:srgbClr val="0432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.</a:t>
            </a:r>
            <a:r>
              <a:rPr lang="en-US" sz="2100" b="1" spc="-25" dirty="0">
                <a:solidFill>
                  <a:srgbClr val="0432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100" b="1" i="1" u="sng" dirty="0">
                <a:solidFill>
                  <a:srgbClr val="0432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Engineering</a:t>
            </a:r>
            <a:r>
              <a:rPr sz="2100" b="1" i="1" u="sng" spc="-40" dirty="0">
                <a:solidFill>
                  <a:srgbClr val="0432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100" b="1" i="1" u="sng" dirty="0">
                <a:solidFill>
                  <a:srgbClr val="0432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2100" b="1" i="1" u="sng" spc="-40" dirty="0">
                <a:solidFill>
                  <a:srgbClr val="0432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100" b="1" i="1" u="sng" spc="-10" dirty="0">
                <a:solidFill>
                  <a:srgbClr val="0432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Compiler</a:t>
            </a:r>
            <a:endParaRPr sz="2100" dirty="0">
              <a:latin typeface="Times New Roman"/>
              <a:cs typeface="Times New Roman"/>
            </a:endParaRPr>
          </a:p>
          <a:p>
            <a:pPr marL="351790">
              <a:lnSpc>
                <a:spcPct val="100000"/>
              </a:lnSpc>
              <a:spcBef>
                <a:spcPts val="1680"/>
              </a:spcBef>
            </a:pPr>
            <a:r>
              <a:rPr sz="2100" b="1" spc="-5" dirty="0">
                <a:latin typeface="Microsoft YaHei"/>
                <a:cs typeface="Microsoft YaHei"/>
              </a:rPr>
              <a:t>编译器工程，机械工业出版社</a:t>
            </a:r>
            <a:endParaRPr sz="2100" dirty="0">
              <a:latin typeface="Microsoft YaHei"/>
              <a:cs typeface="Microsoft YaHe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7960" y="2924944"/>
            <a:ext cx="960958" cy="113690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1781" y="1425107"/>
            <a:ext cx="933317" cy="113690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02268" y="137667"/>
            <a:ext cx="279813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 err="1"/>
              <a:t>参考书籍</a:t>
            </a:r>
            <a:r>
              <a:rPr lang="en-US" spc="-25" dirty="0"/>
              <a:t> (I)</a:t>
            </a:r>
            <a:endParaRPr spc="-25" dirty="0"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7333" y="4581128"/>
            <a:ext cx="1042212" cy="13681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65798" y="1415288"/>
            <a:ext cx="7068525" cy="2544286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355600" marR="370840" indent="-342900">
              <a:lnSpc>
                <a:spcPts val="2500"/>
              </a:lnSpc>
              <a:spcBef>
                <a:spcPts val="200"/>
              </a:spcBef>
              <a:buClr>
                <a:srgbClr val="003399"/>
              </a:buClr>
              <a:buFont typeface="Arial"/>
              <a:buChar char="•"/>
              <a:tabLst>
                <a:tab pos="355600" algn="l"/>
              </a:tabLst>
            </a:pPr>
            <a:r>
              <a:rPr sz="2100" b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[</a:t>
            </a:r>
            <a:r>
              <a:rPr sz="2100" b="1" u="sng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YaHei"/>
                <a:cs typeface="Microsoft YaHei"/>
              </a:rPr>
              <a:t>鲸书</a:t>
            </a:r>
            <a:r>
              <a:rPr sz="21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]</a:t>
            </a:r>
            <a:r>
              <a:rPr sz="2100" u="sng" spc="-1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1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Steven</a:t>
            </a:r>
            <a:r>
              <a:rPr sz="2100" b="1" u="sng" spc="-8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1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Muchnick.</a:t>
            </a:r>
            <a:r>
              <a:rPr sz="2100" b="1" spc="-8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100" b="1" i="1" u="sng" dirty="0">
                <a:solidFill>
                  <a:srgbClr val="0000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Advanced</a:t>
            </a:r>
            <a:r>
              <a:rPr sz="2100" b="1" i="1" u="sng" spc="-75" dirty="0">
                <a:solidFill>
                  <a:srgbClr val="0000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100" b="1" i="1" u="sng" spc="-10" dirty="0">
                <a:solidFill>
                  <a:srgbClr val="0000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Compiler</a:t>
            </a:r>
            <a:r>
              <a:rPr sz="2100" b="1" i="1" u="sng" spc="-105" dirty="0">
                <a:solidFill>
                  <a:srgbClr val="0000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100" b="1" i="1" u="sng" spc="-10" dirty="0">
                <a:solidFill>
                  <a:srgbClr val="0000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Design</a:t>
            </a:r>
            <a:r>
              <a:rPr sz="2100" b="1" i="1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100" b="1" i="1" u="sng" dirty="0">
                <a:solidFill>
                  <a:srgbClr val="0000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and</a:t>
            </a:r>
            <a:r>
              <a:rPr sz="2100" b="1" i="1" u="sng" spc="-114" dirty="0">
                <a:solidFill>
                  <a:srgbClr val="0000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100" b="1" i="1" u="sng" spc="-10" dirty="0">
                <a:solidFill>
                  <a:srgbClr val="0000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Implementation</a:t>
            </a:r>
            <a:r>
              <a:rPr sz="2100" b="1" u="sng" spc="-10" dirty="0">
                <a:solidFill>
                  <a:srgbClr val="0000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.</a:t>
            </a:r>
            <a:endParaRPr sz="2100" dirty="0">
              <a:latin typeface="Times New Roman"/>
              <a:cs typeface="Times New Roman"/>
            </a:endParaRPr>
          </a:p>
          <a:p>
            <a:pPr marL="326390">
              <a:lnSpc>
                <a:spcPct val="100000"/>
              </a:lnSpc>
              <a:spcBef>
                <a:spcPts val="470"/>
              </a:spcBef>
            </a:pPr>
            <a:r>
              <a:rPr sz="2000" b="1" spc="-10" dirty="0">
                <a:latin typeface="Microsoft YaHei"/>
                <a:cs typeface="Microsoft YaHei"/>
              </a:rPr>
              <a:t>高级编译器设计与实现，影印本-</a:t>
            </a:r>
            <a:r>
              <a:rPr sz="2000" b="1" dirty="0">
                <a:latin typeface="Microsoft YaHei"/>
                <a:cs typeface="Microsoft YaHei"/>
              </a:rPr>
              <a:t>2003,</a:t>
            </a:r>
            <a:r>
              <a:rPr sz="2000" b="1" spc="-30" dirty="0">
                <a:latin typeface="Microsoft YaHei"/>
                <a:cs typeface="Microsoft YaHei"/>
              </a:rPr>
              <a:t> 译本-</a:t>
            </a:r>
            <a:r>
              <a:rPr sz="2000" b="1" spc="-20" dirty="0">
                <a:latin typeface="Microsoft YaHei"/>
                <a:cs typeface="Microsoft YaHei"/>
              </a:rPr>
              <a:t>2005</a:t>
            </a:r>
            <a:endParaRPr sz="2000" dirty="0">
              <a:latin typeface="Microsoft YaHei"/>
              <a:cs typeface="Microsoft YaHei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lang="en-US" sz="2000" dirty="0">
              <a:latin typeface="Microsoft YaHei"/>
              <a:cs typeface="Microsoft YaHei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2000" dirty="0">
              <a:latin typeface="Microsoft YaHei"/>
              <a:cs typeface="Microsoft YaHei"/>
            </a:endParaRPr>
          </a:p>
          <a:p>
            <a:pPr marL="437515" lvl="1" indent="-342900">
              <a:lnSpc>
                <a:spcPct val="100000"/>
              </a:lnSpc>
              <a:buClr>
                <a:srgbClr val="003399"/>
              </a:buClr>
              <a:buFont typeface="Arial"/>
              <a:buChar char="•"/>
              <a:tabLst>
                <a:tab pos="437515" algn="l"/>
              </a:tabLst>
            </a:pPr>
            <a:r>
              <a:rPr sz="2100" b="1" u="sng" dirty="0">
                <a:solidFill>
                  <a:srgbClr val="0000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Michael</a:t>
            </a:r>
            <a:r>
              <a:rPr sz="2100" b="1" u="sng" spc="-75" dirty="0">
                <a:solidFill>
                  <a:srgbClr val="0000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100" b="1" u="sng" dirty="0">
                <a:solidFill>
                  <a:srgbClr val="0000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L.</a:t>
            </a:r>
            <a:r>
              <a:rPr sz="2100" b="1" u="sng" spc="-55" dirty="0">
                <a:solidFill>
                  <a:srgbClr val="0000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100" b="1" u="sng" dirty="0">
                <a:solidFill>
                  <a:srgbClr val="0000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Scott</a:t>
            </a:r>
            <a:r>
              <a:rPr sz="2100" dirty="0">
                <a:latin typeface="Times New Roman"/>
                <a:cs typeface="Times New Roman"/>
              </a:rPr>
              <a:t>.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b="1" i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Programming</a:t>
            </a:r>
            <a:r>
              <a:rPr sz="2100" b="1" i="1" u="sng" spc="-6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100" b="1" i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Language</a:t>
            </a:r>
            <a:r>
              <a:rPr sz="2100" b="1" i="1" u="sng" spc="-5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100" b="1" i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Pragmatics</a:t>
            </a:r>
            <a:r>
              <a:rPr sz="2100" b="1" spc="-10" dirty="0">
                <a:latin typeface="Times New Roman"/>
                <a:cs typeface="Times New Roman"/>
              </a:rPr>
              <a:t>,</a:t>
            </a:r>
            <a:endParaRPr sz="2100" dirty="0">
              <a:latin typeface="Times New Roman"/>
              <a:cs typeface="Times New Roman"/>
            </a:endParaRPr>
          </a:p>
          <a:p>
            <a:pPr marL="421640">
              <a:lnSpc>
                <a:spcPct val="100000"/>
              </a:lnSpc>
              <a:spcBef>
                <a:spcPts val="1680"/>
              </a:spcBef>
            </a:pPr>
            <a:r>
              <a:rPr sz="2100" b="1" spc="-30" dirty="0">
                <a:latin typeface="Microsoft YaHei"/>
                <a:cs typeface="Microsoft YaHei"/>
              </a:rPr>
              <a:t>程序设计语言：实践之路 </a:t>
            </a:r>
            <a:r>
              <a:rPr sz="2100" b="1" spc="-10" dirty="0">
                <a:latin typeface="Times New Roman"/>
                <a:cs typeface="Times New Roman"/>
              </a:rPr>
              <a:t>(</a:t>
            </a:r>
            <a:r>
              <a:rPr sz="2100" b="1" spc="-10" dirty="0">
                <a:latin typeface="Microsoft YaHei"/>
                <a:cs typeface="Microsoft YaHei"/>
              </a:rPr>
              <a:t>第</a:t>
            </a:r>
            <a:r>
              <a:rPr sz="2100" b="1" spc="-20" dirty="0">
                <a:latin typeface="Times New Roman"/>
                <a:cs typeface="Times New Roman"/>
              </a:rPr>
              <a:t>1-</a:t>
            </a:r>
            <a:r>
              <a:rPr sz="2100" b="1" spc="-10" dirty="0">
                <a:latin typeface="Times New Roman"/>
                <a:cs typeface="Times New Roman"/>
              </a:rPr>
              <a:t>3</a:t>
            </a:r>
            <a:r>
              <a:rPr sz="2100" b="1" spc="-10" dirty="0">
                <a:latin typeface="Microsoft YaHei"/>
                <a:cs typeface="Microsoft YaHei"/>
              </a:rPr>
              <a:t>版</a:t>
            </a:r>
            <a:r>
              <a:rPr sz="2100" b="1" spc="-20" dirty="0">
                <a:latin typeface="Times New Roman"/>
                <a:cs typeface="Times New Roman"/>
              </a:rPr>
              <a:t>)</a:t>
            </a:r>
            <a:r>
              <a:rPr sz="2100" b="1" spc="-25" dirty="0">
                <a:latin typeface="Microsoft YaHei"/>
                <a:cs typeface="Microsoft YaHei"/>
              </a:rPr>
              <a:t>，电子工业出版社</a:t>
            </a:r>
            <a:endParaRPr sz="2100" dirty="0">
              <a:latin typeface="Microsoft YaHei"/>
              <a:cs typeface="Microsoft YaHe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9677" y="1196752"/>
            <a:ext cx="981455" cy="129082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02268" y="137667"/>
            <a:ext cx="3102932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 err="1"/>
              <a:t>参考书籍</a:t>
            </a:r>
            <a:r>
              <a:rPr lang="en-US" spc="-25" dirty="0"/>
              <a:t> </a:t>
            </a:r>
            <a:r>
              <a:rPr lang="en-US" altLang="zh-CN" spc="-25" dirty="0"/>
              <a:t>(II)</a:t>
            </a:r>
            <a:endParaRPr spc="-25" dirty="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3747" y="2863245"/>
            <a:ext cx="933315" cy="12094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2536" y="4358323"/>
            <a:ext cx="935736" cy="132968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839926" y="4554728"/>
            <a:ext cx="6029325" cy="101917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298450" marR="5080" indent="-285750">
              <a:lnSpc>
                <a:spcPts val="2500"/>
              </a:lnSpc>
              <a:spcBef>
                <a:spcPts val="200"/>
              </a:spcBef>
              <a:buFont typeface="Arial"/>
              <a:buChar char="•"/>
              <a:tabLst>
                <a:tab pos="298450" algn="l"/>
              </a:tabLst>
            </a:pPr>
            <a:r>
              <a:rPr sz="21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[LCC]</a:t>
            </a:r>
            <a:r>
              <a:rPr sz="2100" b="1" spc="-9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100" b="1" u="sng" spc="-10" dirty="0">
                <a:solidFill>
                  <a:srgbClr val="0000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Christopher</a:t>
            </a:r>
            <a:r>
              <a:rPr sz="2100" b="1" u="sng" spc="-120" dirty="0">
                <a:solidFill>
                  <a:srgbClr val="0000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100" b="1" u="sng" spc="-105" dirty="0">
                <a:solidFill>
                  <a:srgbClr val="0000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W.</a:t>
            </a:r>
            <a:r>
              <a:rPr sz="2100" b="1" u="sng" spc="-55" dirty="0">
                <a:solidFill>
                  <a:srgbClr val="0000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100" b="1" u="sng" spc="-35" dirty="0">
                <a:solidFill>
                  <a:srgbClr val="0000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Fraser,</a:t>
            </a:r>
            <a:r>
              <a:rPr sz="2100" b="1" u="sng" spc="-40" dirty="0">
                <a:solidFill>
                  <a:srgbClr val="0000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100" b="1" u="sng" dirty="0">
                <a:solidFill>
                  <a:srgbClr val="0000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David</a:t>
            </a:r>
            <a:r>
              <a:rPr sz="2100" b="1" u="sng" spc="-50" dirty="0">
                <a:solidFill>
                  <a:srgbClr val="0000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100" b="1" u="sng" dirty="0">
                <a:solidFill>
                  <a:srgbClr val="0000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R.</a:t>
            </a:r>
            <a:r>
              <a:rPr sz="2100" b="1" u="sng" spc="-45" dirty="0">
                <a:solidFill>
                  <a:srgbClr val="0000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100" b="1" u="sng" dirty="0">
                <a:solidFill>
                  <a:srgbClr val="0000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Hanson.</a:t>
            </a:r>
            <a:r>
              <a:rPr sz="2100" b="1" spc="-5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100" b="1" i="1" u="sng" spc="-50" dirty="0">
                <a:solidFill>
                  <a:srgbClr val="0000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2100" b="1" i="1" spc="-5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100" b="1" i="1" u="sng" dirty="0">
                <a:solidFill>
                  <a:srgbClr val="0000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Retargetable</a:t>
            </a:r>
            <a:r>
              <a:rPr sz="2100" b="1" i="1" u="sng" spc="-100" dirty="0">
                <a:solidFill>
                  <a:srgbClr val="0000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100" b="1" i="1" u="sng" dirty="0">
                <a:solidFill>
                  <a:srgbClr val="0000FF"/>
                </a:solidFill>
                <a:uFill>
                  <a:solidFill>
                    <a:srgbClr val="336699"/>
                  </a:solidFill>
                </a:uFill>
                <a:latin typeface="Times New Roman"/>
                <a:cs typeface="Times New Roman"/>
              </a:rPr>
              <a:t>C</a:t>
            </a:r>
            <a:r>
              <a:rPr sz="2100" b="1" i="1" u="sng" spc="-1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100" b="1" i="1" u="sng" spc="-10" dirty="0">
                <a:solidFill>
                  <a:srgbClr val="0432FF"/>
                </a:solidFill>
                <a:uFill>
                  <a:solidFill>
                    <a:srgbClr val="0432FF"/>
                  </a:solidFill>
                </a:uFill>
                <a:latin typeface="Times New Roman"/>
                <a:cs typeface="Times New Roman"/>
              </a:rPr>
              <a:t>Compiler.</a:t>
            </a:r>
            <a:endParaRPr sz="2100" dirty="0">
              <a:latin typeface="Times New Roman"/>
              <a:cs typeface="Times New Roman"/>
            </a:endParaRPr>
          </a:p>
          <a:p>
            <a:pPr marL="324485">
              <a:lnSpc>
                <a:spcPct val="100000"/>
              </a:lnSpc>
              <a:spcBef>
                <a:spcPts val="204"/>
              </a:spcBef>
            </a:pPr>
            <a:r>
              <a:rPr sz="2100" b="1" spc="-15" dirty="0" err="1">
                <a:latin typeface="Microsoft YaHei"/>
                <a:cs typeface="Microsoft YaHei"/>
              </a:rPr>
              <a:t>可变目标</a:t>
            </a:r>
            <a:r>
              <a:rPr lang="en" altLang="zh-CN" sz="2100" b="1" spc="-30" dirty="0">
                <a:latin typeface="Times New Roman"/>
                <a:cs typeface="Times New Roman"/>
              </a:rPr>
              <a:t>C</a:t>
            </a:r>
            <a:r>
              <a:rPr sz="2100" b="1" spc="-25" dirty="0" err="1">
                <a:latin typeface="Microsoft YaHei"/>
                <a:cs typeface="Microsoft YaHei"/>
              </a:rPr>
              <a:t>编译器</a:t>
            </a:r>
            <a:r>
              <a:rPr sz="2100" b="1" spc="-25" dirty="0">
                <a:latin typeface="Microsoft YaHei"/>
                <a:cs typeface="Microsoft YaHei"/>
              </a:rPr>
              <a:t>—设计与实现.</a:t>
            </a:r>
            <a:endParaRPr sz="2100" dirty="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F3FA2-20A7-2E91-DB0E-22CF0D5BB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12D8A74C-BF8E-81C4-9FA3-2B5497A55E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2268" y="137667"/>
            <a:ext cx="3102932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pc="-25" dirty="0"/>
              <a:t>Why the Tiger?</a:t>
            </a:r>
            <a:endParaRPr spc="-25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1B68708-4F39-F886-BAF8-516CCF0B2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20814"/>
            <a:ext cx="7772400" cy="5766241"/>
          </a:xfrm>
          <a:prstGeom prst="rect">
            <a:avLst/>
          </a:prstGeom>
        </p:spPr>
      </p:pic>
      <p:sp>
        <p:nvSpPr>
          <p:cNvPr id="9" name="圆角矩形 8">
            <a:extLst>
              <a:ext uri="{FF2B5EF4-FFF2-40B4-BE49-F238E27FC236}">
                <a16:creationId xmlns:a16="http://schemas.microsoft.com/office/drawing/2014/main" id="{3466492A-876C-E81F-AFAB-CE6F96AE9BE2}"/>
              </a:ext>
            </a:extLst>
          </p:cNvPr>
          <p:cNvSpPr/>
          <p:nvPr/>
        </p:nvSpPr>
        <p:spPr>
          <a:xfrm>
            <a:off x="4495802" y="1295456"/>
            <a:ext cx="2362138" cy="838178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70750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C9C35-F9D5-8F0A-B5BD-CF4FF036A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2DFE2EDF-D0DF-ED0D-D479-74373D6D12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2268" y="137667"/>
            <a:ext cx="3102932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pc="-25" dirty="0"/>
              <a:t>Why the Tiger?</a:t>
            </a:r>
            <a:endParaRPr spc="-25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5660710-7FC9-6989-51F8-C1A2011AB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60"/>
            <a:ext cx="7772400" cy="5017476"/>
          </a:xfrm>
          <a:prstGeom prst="rect">
            <a:avLst/>
          </a:prstGeom>
        </p:spPr>
      </p:pic>
      <p:sp>
        <p:nvSpPr>
          <p:cNvPr id="3" name="圆角矩形 2">
            <a:extLst>
              <a:ext uri="{FF2B5EF4-FFF2-40B4-BE49-F238E27FC236}">
                <a16:creationId xmlns:a16="http://schemas.microsoft.com/office/drawing/2014/main" id="{A162CE2C-A939-FE38-FBED-F5F70C91E365}"/>
              </a:ext>
            </a:extLst>
          </p:cNvPr>
          <p:cNvSpPr/>
          <p:nvPr/>
        </p:nvSpPr>
        <p:spPr>
          <a:xfrm>
            <a:off x="3276634" y="1752644"/>
            <a:ext cx="1752554" cy="152396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76889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889F2-168F-6D54-820A-0F1E999B1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6479DBD7-3C43-CB00-E8DC-9B578D7586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2268" y="137667"/>
            <a:ext cx="3102932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pc="-25" dirty="0"/>
              <a:t>Why the Tiger?</a:t>
            </a:r>
            <a:endParaRPr spc="-25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C02AEBA-0D36-AAA5-3061-C6C7D584F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1654"/>
            <a:ext cx="7772400" cy="4639975"/>
          </a:xfrm>
          <a:prstGeom prst="rect">
            <a:avLst/>
          </a:prstGeom>
        </p:spPr>
      </p:pic>
      <p:sp>
        <p:nvSpPr>
          <p:cNvPr id="3" name="圆角矩形 2">
            <a:extLst>
              <a:ext uri="{FF2B5EF4-FFF2-40B4-BE49-F238E27FC236}">
                <a16:creationId xmlns:a16="http://schemas.microsoft.com/office/drawing/2014/main" id="{28CB1B00-589A-EC3E-5837-B288F6836AD8}"/>
              </a:ext>
            </a:extLst>
          </p:cNvPr>
          <p:cNvSpPr/>
          <p:nvPr/>
        </p:nvSpPr>
        <p:spPr>
          <a:xfrm>
            <a:off x="3886218" y="1962000"/>
            <a:ext cx="1219168" cy="152396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8181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5EB8A-3E91-3BA7-FDBE-2DF880E1F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77A7BE79-14BE-B150-D312-6610E63406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2268" y="137667"/>
            <a:ext cx="3102932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pc="-25" dirty="0"/>
              <a:t>Why the Tiger?</a:t>
            </a:r>
            <a:endParaRPr spc="-25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5FC3280-5883-6B79-3F60-0AC879551BD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85600" y="1372680"/>
            <a:ext cx="7372800" cy="463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54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2770" y="1509802"/>
            <a:ext cx="7998460" cy="2843664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54965" indent="-342265">
              <a:lnSpc>
                <a:spcPct val="150000"/>
              </a:lnSpc>
              <a:spcBef>
                <a:spcPts val="745"/>
              </a:spcBef>
              <a:buFont typeface="Arial"/>
              <a:buChar char="•"/>
              <a:tabLst>
                <a:tab pos="354965" algn="l"/>
              </a:tabLst>
            </a:pPr>
            <a:r>
              <a:rPr sz="2800" b="1" dirty="0" err="1">
                <a:latin typeface="Microsoft YaHei"/>
              </a:rPr>
              <a:t>课程作业</a:t>
            </a:r>
            <a:r>
              <a:rPr lang="en-US" sz="2800" b="1" dirty="0">
                <a:latin typeface="Microsoft YaHei"/>
              </a:rPr>
              <a:t> </a:t>
            </a:r>
            <a:r>
              <a:rPr lang="en-US" altLang="zh-CN" sz="2800" dirty="0">
                <a:latin typeface="Microsoft YaHei"/>
              </a:rPr>
              <a:t>(</a:t>
            </a:r>
            <a:r>
              <a:rPr sz="2800" dirty="0" err="1">
                <a:latin typeface="Microsoft YaHei"/>
              </a:rPr>
              <a:t>课后小型练习题</a:t>
            </a:r>
            <a:r>
              <a:rPr lang="en-US" altLang="zh-CN" sz="2800" dirty="0">
                <a:latin typeface="Microsoft YaHei"/>
              </a:rPr>
              <a:t>)</a:t>
            </a:r>
            <a:r>
              <a:rPr lang="en-US" altLang="zh-CN" sz="2800" b="1" dirty="0">
                <a:latin typeface="Microsoft YaHei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= </a:t>
            </a:r>
            <a:r>
              <a:rPr sz="28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10%</a:t>
            </a:r>
            <a:endParaRPr sz="2800" dirty="0">
              <a:solidFill>
                <a:srgbClr val="C00000"/>
              </a:solidFill>
              <a:latin typeface="Times New Roman"/>
              <a:cs typeface="Times New Roman"/>
            </a:endParaRPr>
          </a:p>
          <a:p>
            <a:pPr marL="354965" indent="-342265">
              <a:lnSpc>
                <a:spcPct val="150000"/>
              </a:lnSpc>
              <a:spcBef>
                <a:spcPts val="650"/>
              </a:spcBef>
              <a:buFont typeface="Arial"/>
              <a:buChar char="•"/>
              <a:tabLst>
                <a:tab pos="354965" algn="l"/>
              </a:tabLst>
            </a:pPr>
            <a:r>
              <a:rPr sz="2800" b="1" spc="-30" dirty="0" err="1">
                <a:latin typeface="Microsoft YaHei"/>
                <a:cs typeface="Microsoft YaHei"/>
              </a:rPr>
              <a:t>随堂测验</a:t>
            </a:r>
            <a:r>
              <a:rPr lang="en-US" sz="2800" b="1" spc="-30" dirty="0">
                <a:latin typeface="Microsoft YaHei"/>
                <a:cs typeface="Microsoft YaHei"/>
              </a:rPr>
              <a:t> </a:t>
            </a:r>
            <a:r>
              <a:rPr lang="en-US" altLang="zh-CN" sz="2800" dirty="0">
                <a:latin typeface="Microsoft YaHei"/>
              </a:rPr>
              <a:t>(</a:t>
            </a:r>
            <a:r>
              <a:rPr lang="en" altLang="zh-CN" sz="2800" dirty="0">
                <a:latin typeface="Microsoft YaHei"/>
              </a:rPr>
              <a:t>Quizzes</a:t>
            </a:r>
            <a:r>
              <a:rPr lang="en-US" altLang="zh-CN" sz="2800" dirty="0">
                <a:latin typeface="Microsoft YaHei"/>
              </a:rPr>
              <a:t>)</a:t>
            </a:r>
            <a:r>
              <a:rPr sz="2800" dirty="0">
                <a:latin typeface="Microsoft YaHei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= </a:t>
            </a:r>
            <a:r>
              <a:rPr sz="28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10%</a:t>
            </a:r>
            <a:endParaRPr sz="2800" dirty="0">
              <a:solidFill>
                <a:srgbClr val="C00000"/>
              </a:solidFill>
              <a:latin typeface="Times New Roman"/>
              <a:cs typeface="Times New Roman"/>
            </a:endParaRPr>
          </a:p>
          <a:p>
            <a:pPr marL="354965" indent="-342265">
              <a:lnSpc>
                <a:spcPct val="150000"/>
              </a:lnSpc>
              <a:spcBef>
                <a:spcPts val="625"/>
              </a:spcBef>
              <a:buFont typeface="Arial"/>
              <a:buChar char="•"/>
              <a:tabLst>
                <a:tab pos="354965" algn="l"/>
                <a:tab pos="3021965" algn="l"/>
              </a:tabLst>
            </a:pPr>
            <a:r>
              <a:rPr sz="2800" b="1" dirty="0" err="1">
                <a:latin typeface="Microsoft YaHei"/>
              </a:rPr>
              <a:t>课程设计</a:t>
            </a:r>
            <a:r>
              <a:rPr lang="en-US" sz="2800" dirty="0">
                <a:latin typeface="Microsoft YaHei"/>
              </a:rPr>
              <a:t> </a:t>
            </a:r>
            <a:r>
              <a:rPr lang="en-US" altLang="zh-CN" sz="2800" dirty="0">
                <a:latin typeface="Microsoft YaHei"/>
              </a:rPr>
              <a:t>(Lab x 5) 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lang="en-US" altLang="zh-CN" sz="28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30</a:t>
            </a:r>
            <a:r>
              <a:rPr sz="28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%</a:t>
            </a:r>
            <a:endParaRPr sz="2800" dirty="0">
              <a:solidFill>
                <a:srgbClr val="C00000"/>
              </a:solidFill>
              <a:latin typeface="Times New Roman"/>
              <a:cs typeface="Times New Roman"/>
            </a:endParaRPr>
          </a:p>
          <a:p>
            <a:pPr marL="354965" indent="-342265">
              <a:lnSpc>
                <a:spcPct val="150000"/>
              </a:lnSpc>
              <a:spcBef>
                <a:spcPts val="645"/>
              </a:spcBef>
              <a:buFont typeface="Arial"/>
              <a:buChar char="•"/>
              <a:tabLst>
                <a:tab pos="354965" algn="l"/>
              </a:tabLst>
            </a:pPr>
            <a:r>
              <a:rPr sz="2800" b="1" spc="-30" dirty="0">
                <a:latin typeface="Microsoft YaHei"/>
                <a:cs typeface="Microsoft YaHei"/>
              </a:rPr>
              <a:t>期末考试 </a:t>
            </a:r>
            <a:r>
              <a:rPr sz="2800" b="1" spc="-5" dirty="0">
                <a:latin typeface="Times New Roman"/>
                <a:cs typeface="Times New Roman"/>
              </a:rPr>
              <a:t>= </a:t>
            </a:r>
            <a:r>
              <a:rPr lang="en-US" altLang="zh-CN" sz="28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5</a:t>
            </a:r>
            <a:r>
              <a:rPr sz="28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0%</a:t>
            </a:r>
            <a:endParaRPr sz="2800" dirty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2770" y="5246964"/>
            <a:ext cx="799846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99490" algn="l"/>
              </a:tabLst>
            </a:pPr>
            <a:r>
              <a:rPr sz="2800" b="1" spc="-10" dirty="0">
                <a:latin typeface="Times New Roman"/>
                <a:cs typeface="Times New Roman"/>
              </a:rPr>
              <a:t>Note</a:t>
            </a:r>
            <a:r>
              <a:rPr sz="2800" spc="-10" dirty="0">
                <a:latin typeface="Times New Roman"/>
                <a:cs typeface="Times New Roman"/>
              </a:rPr>
              <a:t>:</a:t>
            </a:r>
            <a:r>
              <a:rPr sz="2800" dirty="0">
                <a:latin typeface="Times New Roman"/>
                <a:cs typeface="Times New Roman"/>
              </a:rPr>
              <a:t>	Final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Exam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&lt;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40/100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lang="en-US"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Wingdings"/>
                <a:cs typeface="Wingdings"/>
              </a:rPr>
              <a:t>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lang="en-US"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Final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Grade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&lt;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C00000"/>
                </a:solidFill>
                <a:latin typeface="Times New Roman"/>
                <a:cs typeface="Times New Roman"/>
              </a:rPr>
              <a:t>60/100</a:t>
            </a:r>
            <a:endParaRPr sz="2800" dirty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02268" y="137667"/>
            <a:ext cx="14427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考核方式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268" y="137667"/>
            <a:ext cx="14427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课程内容</a:t>
            </a:r>
          </a:p>
        </p:txBody>
      </p:sp>
      <p:grpSp>
        <p:nvGrpSpPr>
          <p:cNvPr id="148" name="组合 147">
            <a:extLst>
              <a:ext uri="{FF2B5EF4-FFF2-40B4-BE49-F238E27FC236}">
                <a16:creationId xmlns:a16="http://schemas.microsoft.com/office/drawing/2014/main" id="{FCB3F1D3-8B5E-A44B-0CF5-023F3B5DE3E5}"/>
              </a:ext>
            </a:extLst>
          </p:cNvPr>
          <p:cNvGrpSpPr/>
          <p:nvPr/>
        </p:nvGrpSpPr>
        <p:grpSpPr>
          <a:xfrm>
            <a:off x="3812671" y="1315319"/>
            <a:ext cx="1512000" cy="654393"/>
            <a:chOff x="3831472" y="983123"/>
            <a:chExt cx="1512000" cy="654393"/>
          </a:xfrm>
        </p:grpSpPr>
        <p:sp>
          <p:nvSpPr>
            <p:cNvPr id="96" name="圆角矩形 95">
              <a:extLst>
                <a:ext uri="{FF2B5EF4-FFF2-40B4-BE49-F238E27FC236}">
                  <a16:creationId xmlns:a16="http://schemas.microsoft.com/office/drawing/2014/main" id="{CBACE12D-96E4-3665-41C6-1C70954B77AD}"/>
                </a:ext>
              </a:extLst>
            </p:cNvPr>
            <p:cNvSpPr/>
            <p:nvPr/>
          </p:nvSpPr>
          <p:spPr>
            <a:xfrm>
              <a:off x="3831472" y="1133460"/>
              <a:ext cx="1512000" cy="504056"/>
            </a:xfrm>
            <a:prstGeom prst="round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>
                <a:lnSpc>
                  <a:spcPts val="1800"/>
                </a:lnSpc>
              </a:pPr>
              <a:r>
                <a:rPr kumimoji="1" lang="en-US" altLang="zh-CN" dirty="0">
                  <a:solidFill>
                    <a:srgbClr val="C00000"/>
                  </a:solidFill>
                </a:rPr>
                <a:t>Introduction</a:t>
              </a:r>
              <a:endParaRPr kumimoji="1" lang="zh-CN" altLang="en-US" dirty="0">
                <a:solidFill>
                  <a:srgbClr val="C00000"/>
                </a:solidFill>
              </a:endParaRPr>
            </a:p>
          </p:txBody>
        </p:sp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E8751353-884D-2B34-7AB1-EB91C7EA8A8C}"/>
                </a:ext>
              </a:extLst>
            </p:cNvPr>
            <p:cNvSpPr/>
            <p:nvPr/>
          </p:nvSpPr>
          <p:spPr>
            <a:xfrm>
              <a:off x="3940712" y="983123"/>
              <a:ext cx="237478" cy="2848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rgbClr val="C00000"/>
                  </a:solidFill>
                </a:rPr>
                <a:t>1</a:t>
              </a:r>
              <a:endParaRPr kumimoji="1" lang="zh-CN" altLang="en-US" sz="200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147" name="组合 146">
            <a:extLst>
              <a:ext uri="{FF2B5EF4-FFF2-40B4-BE49-F238E27FC236}">
                <a16:creationId xmlns:a16="http://schemas.microsoft.com/office/drawing/2014/main" id="{2B781BEB-F6DA-746E-1EA5-3769D8EB7E7B}"/>
              </a:ext>
            </a:extLst>
          </p:cNvPr>
          <p:cNvGrpSpPr/>
          <p:nvPr/>
        </p:nvGrpSpPr>
        <p:grpSpPr>
          <a:xfrm>
            <a:off x="263550" y="2343372"/>
            <a:ext cx="8610242" cy="3828828"/>
            <a:chOff x="263550" y="2362200"/>
            <a:chExt cx="8610242" cy="3828828"/>
          </a:xfrm>
        </p:grpSpPr>
        <p:grpSp>
          <p:nvGrpSpPr>
            <p:cNvPr id="98" name="组合 97">
              <a:extLst>
                <a:ext uri="{FF2B5EF4-FFF2-40B4-BE49-F238E27FC236}">
                  <a16:creationId xmlns:a16="http://schemas.microsoft.com/office/drawing/2014/main" id="{0BDD5D3C-3372-938E-EEEF-9F8166970B08}"/>
                </a:ext>
              </a:extLst>
            </p:cNvPr>
            <p:cNvGrpSpPr/>
            <p:nvPr>
              <p:custDataLst>
                <p:tags r:id="rId1"/>
              </p:custDataLst>
            </p:nvPr>
          </p:nvGrpSpPr>
          <p:grpSpPr>
            <a:xfrm>
              <a:off x="450658" y="2492896"/>
              <a:ext cx="8242684" cy="3548019"/>
              <a:chOff x="566592" y="2324036"/>
              <a:chExt cx="8242684" cy="3548019"/>
            </a:xfrm>
          </p:grpSpPr>
          <p:grpSp>
            <p:nvGrpSpPr>
              <p:cNvPr id="99" name="组合 98">
                <a:extLst>
                  <a:ext uri="{FF2B5EF4-FFF2-40B4-BE49-F238E27FC236}">
                    <a16:creationId xmlns:a16="http://schemas.microsoft.com/office/drawing/2014/main" id="{626BEFB2-6AB1-1E1B-94E6-778A5B07A73C}"/>
                  </a:ext>
                </a:extLst>
              </p:cNvPr>
              <p:cNvGrpSpPr/>
              <p:nvPr/>
            </p:nvGrpSpPr>
            <p:grpSpPr>
              <a:xfrm>
                <a:off x="566592" y="2324036"/>
                <a:ext cx="1512000" cy="654393"/>
                <a:chOff x="566592" y="2270551"/>
                <a:chExt cx="1512000" cy="654393"/>
              </a:xfrm>
            </p:grpSpPr>
            <p:sp>
              <p:nvSpPr>
                <p:cNvPr id="141" name="圆角矩形 140">
                  <a:extLst>
                    <a:ext uri="{FF2B5EF4-FFF2-40B4-BE49-F238E27FC236}">
                      <a16:creationId xmlns:a16="http://schemas.microsoft.com/office/drawing/2014/main" id="{5B4960EA-A044-33C0-8E92-2045448C7945}"/>
                    </a:ext>
                  </a:extLst>
                </p:cNvPr>
                <p:cNvSpPr/>
                <p:nvPr/>
              </p:nvSpPr>
              <p:spPr>
                <a:xfrm>
                  <a:off x="5665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>
                    <a:lnSpc>
                      <a:spcPts val="1800"/>
                    </a:lnSpc>
                  </a:pPr>
                  <a:r>
                    <a:rPr kumimoji="1" lang="en-US" altLang="zh-CN" dirty="0">
                      <a:solidFill>
                        <a:schemeClr val="tx1"/>
                      </a:solidFill>
                    </a:rPr>
                    <a:t>Lexical Analysis</a:t>
                  </a:r>
                  <a:endParaRPr kumimoji="1"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2" name="矩形 141">
                  <a:extLst>
                    <a:ext uri="{FF2B5EF4-FFF2-40B4-BE49-F238E27FC236}">
                      <a16:creationId xmlns:a16="http://schemas.microsoft.com/office/drawing/2014/main" id="{6944B1AB-009C-6D20-8C01-41DC9E3BC019}"/>
                    </a:ext>
                  </a:extLst>
                </p:cNvPr>
                <p:cNvSpPr/>
                <p:nvPr/>
              </p:nvSpPr>
              <p:spPr>
                <a:xfrm>
                  <a:off x="675832" y="2270551"/>
                  <a:ext cx="237478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sz="2000" dirty="0">
                      <a:solidFill>
                        <a:schemeClr val="tx2"/>
                      </a:solidFill>
                    </a:rPr>
                    <a:t>2</a:t>
                  </a:r>
                  <a:endParaRPr kumimoji="1" lang="zh-CN" altLang="en-US" sz="2000" dirty="0">
                    <a:solidFill>
                      <a:schemeClr val="tx2"/>
                    </a:solidFill>
                  </a:endParaRPr>
                </a:p>
              </p:txBody>
            </p:sp>
          </p:grpSp>
          <p:grpSp>
            <p:nvGrpSpPr>
              <p:cNvPr id="100" name="组合 99">
                <a:extLst>
                  <a:ext uri="{FF2B5EF4-FFF2-40B4-BE49-F238E27FC236}">
                    <a16:creationId xmlns:a16="http://schemas.microsoft.com/office/drawing/2014/main" id="{B5A0D0EF-F75C-E8D8-736B-45465051DDD2}"/>
                  </a:ext>
                </a:extLst>
              </p:cNvPr>
              <p:cNvGrpSpPr/>
              <p:nvPr/>
            </p:nvGrpSpPr>
            <p:grpSpPr>
              <a:xfrm>
                <a:off x="2256999" y="2324036"/>
                <a:ext cx="1512000" cy="654393"/>
                <a:chOff x="566592" y="2270551"/>
                <a:chExt cx="1512000" cy="654393"/>
              </a:xfrm>
            </p:grpSpPr>
            <p:sp>
              <p:nvSpPr>
                <p:cNvPr id="139" name="圆角矩形 138">
                  <a:extLst>
                    <a:ext uri="{FF2B5EF4-FFF2-40B4-BE49-F238E27FC236}">
                      <a16:creationId xmlns:a16="http://schemas.microsoft.com/office/drawing/2014/main" id="{75BEE630-9423-7A6B-5DB4-793966FE8C9A}"/>
                    </a:ext>
                  </a:extLst>
                </p:cNvPr>
                <p:cNvSpPr/>
                <p:nvPr/>
              </p:nvSpPr>
              <p:spPr>
                <a:xfrm>
                  <a:off x="5665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>
                    <a:lnSpc>
                      <a:spcPts val="1800"/>
                    </a:lnSpc>
                  </a:pPr>
                  <a:r>
                    <a:rPr lang="en" altLang="zh-CN" dirty="0">
                      <a:solidFill>
                        <a:schemeClr val="tx1"/>
                      </a:solidFill>
                    </a:rPr>
                    <a:t>Parsing</a:t>
                  </a:r>
                  <a:endParaRPr kumimoji="1"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0" name="矩形 139">
                  <a:extLst>
                    <a:ext uri="{FF2B5EF4-FFF2-40B4-BE49-F238E27FC236}">
                      <a16:creationId xmlns:a16="http://schemas.microsoft.com/office/drawing/2014/main" id="{64184755-CD1A-FD8A-F992-D1528E58BE8F}"/>
                    </a:ext>
                  </a:extLst>
                </p:cNvPr>
                <p:cNvSpPr/>
                <p:nvPr/>
              </p:nvSpPr>
              <p:spPr>
                <a:xfrm>
                  <a:off x="675832" y="2270551"/>
                  <a:ext cx="237478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sz="2000" dirty="0">
                      <a:solidFill>
                        <a:schemeClr val="tx2"/>
                      </a:solidFill>
                    </a:rPr>
                    <a:t>3</a:t>
                  </a:r>
                  <a:endParaRPr kumimoji="1" lang="zh-CN" altLang="en-US" sz="2000" dirty="0">
                    <a:solidFill>
                      <a:schemeClr val="tx2"/>
                    </a:solidFill>
                  </a:endParaRPr>
                </a:p>
              </p:txBody>
            </p:sp>
          </p:grpSp>
          <p:grpSp>
            <p:nvGrpSpPr>
              <p:cNvPr id="101" name="组合 100">
                <a:extLst>
                  <a:ext uri="{FF2B5EF4-FFF2-40B4-BE49-F238E27FC236}">
                    <a16:creationId xmlns:a16="http://schemas.microsoft.com/office/drawing/2014/main" id="{0259F8D7-BEEF-9B8A-53D3-833444941813}"/>
                  </a:ext>
                </a:extLst>
              </p:cNvPr>
              <p:cNvGrpSpPr/>
              <p:nvPr/>
            </p:nvGrpSpPr>
            <p:grpSpPr>
              <a:xfrm>
                <a:off x="3947406" y="2324036"/>
                <a:ext cx="1512000" cy="654393"/>
                <a:chOff x="566592" y="2270551"/>
                <a:chExt cx="1512000" cy="654393"/>
              </a:xfrm>
            </p:grpSpPr>
            <p:sp>
              <p:nvSpPr>
                <p:cNvPr id="137" name="圆角矩形 136">
                  <a:extLst>
                    <a:ext uri="{FF2B5EF4-FFF2-40B4-BE49-F238E27FC236}">
                      <a16:creationId xmlns:a16="http://schemas.microsoft.com/office/drawing/2014/main" id="{6B0F0896-7BA1-85FE-7096-40CAD15E3247}"/>
                    </a:ext>
                  </a:extLst>
                </p:cNvPr>
                <p:cNvSpPr/>
                <p:nvPr/>
              </p:nvSpPr>
              <p:spPr>
                <a:xfrm>
                  <a:off x="5665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>
                    <a:lnSpc>
                      <a:spcPts val="1800"/>
                    </a:lnSpc>
                  </a:pPr>
                  <a:r>
                    <a:rPr kumimoji="1" lang="en-US" altLang="zh-CN" dirty="0">
                      <a:solidFill>
                        <a:schemeClr val="tx1"/>
                      </a:solidFill>
                    </a:rPr>
                    <a:t>Abstract Syntax</a:t>
                  </a:r>
                  <a:endParaRPr kumimoji="1"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8" name="矩形 137">
                  <a:extLst>
                    <a:ext uri="{FF2B5EF4-FFF2-40B4-BE49-F238E27FC236}">
                      <a16:creationId xmlns:a16="http://schemas.microsoft.com/office/drawing/2014/main" id="{BC45F052-4304-73C8-AEB8-8543D9F24840}"/>
                    </a:ext>
                  </a:extLst>
                </p:cNvPr>
                <p:cNvSpPr/>
                <p:nvPr/>
              </p:nvSpPr>
              <p:spPr>
                <a:xfrm>
                  <a:off x="675832" y="2270551"/>
                  <a:ext cx="237478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sz="2000" dirty="0">
                      <a:solidFill>
                        <a:schemeClr val="tx2"/>
                      </a:solidFill>
                    </a:rPr>
                    <a:t>4</a:t>
                  </a:r>
                  <a:endParaRPr kumimoji="1" lang="zh-CN" altLang="en-US" sz="2000" dirty="0">
                    <a:solidFill>
                      <a:schemeClr val="tx2"/>
                    </a:solidFill>
                  </a:endParaRPr>
                </a:p>
              </p:txBody>
            </p:sp>
          </p:grpSp>
          <p:grpSp>
            <p:nvGrpSpPr>
              <p:cNvPr id="102" name="组合 101">
                <a:extLst>
                  <a:ext uri="{FF2B5EF4-FFF2-40B4-BE49-F238E27FC236}">
                    <a16:creationId xmlns:a16="http://schemas.microsoft.com/office/drawing/2014/main" id="{800E580A-A671-14C2-D792-DABDF10E80BD}"/>
                  </a:ext>
                </a:extLst>
              </p:cNvPr>
              <p:cNvGrpSpPr/>
              <p:nvPr/>
            </p:nvGrpSpPr>
            <p:grpSpPr>
              <a:xfrm>
                <a:off x="5637813" y="2324036"/>
                <a:ext cx="1512000" cy="654393"/>
                <a:chOff x="566592" y="2270551"/>
                <a:chExt cx="1512000" cy="654393"/>
              </a:xfrm>
            </p:grpSpPr>
            <p:sp>
              <p:nvSpPr>
                <p:cNvPr id="135" name="圆角矩形 134">
                  <a:extLst>
                    <a:ext uri="{FF2B5EF4-FFF2-40B4-BE49-F238E27FC236}">
                      <a16:creationId xmlns:a16="http://schemas.microsoft.com/office/drawing/2014/main" id="{DF617992-02C2-12E9-3F13-41462A0CF3DF}"/>
                    </a:ext>
                  </a:extLst>
                </p:cNvPr>
                <p:cNvSpPr/>
                <p:nvPr/>
              </p:nvSpPr>
              <p:spPr>
                <a:xfrm>
                  <a:off x="5665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2000" tIns="0" rIns="0" bIns="0" rtlCol="0" anchor="ctr" anchorCtr="1"/>
                <a:lstStyle/>
                <a:p>
                  <a:pPr algn="ctr">
                    <a:lnSpc>
                      <a:spcPts val="1800"/>
                    </a:lnSpc>
                  </a:pPr>
                  <a:r>
                    <a:rPr kumimoji="1" lang="en-US" altLang="zh-CN" dirty="0">
                      <a:solidFill>
                        <a:schemeClr val="tx1"/>
                      </a:solidFill>
                    </a:rPr>
                    <a:t>Semantic Analysis</a:t>
                  </a:r>
                  <a:endParaRPr kumimoji="1"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6" name="矩形 135">
                  <a:extLst>
                    <a:ext uri="{FF2B5EF4-FFF2-40B4-BE49-F238E27FC236}">
                      <a16:creationId xmlns:a16="http://schemas.microsoft.com/office/drawing/2014/main" id="{EECD594E-6A43-9DE6-D7FD-F1352F083226}"/>
                    </a:ext>
                  </a:extLst>
                </p:cNvPr>
                <p:cNvSpPr/>
                <p:nvPr/>
              </p:nvSpPr>
              <p:spPr>
                <a:xfrm>
                  <a:off x="675832" y="2270551"/>
                  <a:ext cx="237478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sz="2000" dirty="0">
                      <a:solidFill>
                        <a:schemeClr val="tx2"/>
                      </a:solidFill>
                    </a:rPr>
                    <a:t>5</a:t>
                  </a:r>
                  <a:endParaRPr kumimoji="1" lang="zh-CN" altLang="en-US" sz="2000" dirty="0">
                    <a:solidFill>
                      <a:schemeClr val="tx2"/>
                    </a:solidFill>
                  </a:endParaRPr>
                </a:p>
              </p:txBody>
            </p:sp>
          </p:grpSp>
          <p:grpSp>
            <p:nvGrpSpPr>
              <p:cNvPr id="103" name="组合 102">
                <a:extLst>
                  <a:ext uri="{FF2B5EF4-FFF2-40B4-BE49-F238E27FC236}">
                    <a16:creationId xmlns:a16="http://schemas.microsoft.com/office/drawing/2014/main" id="{380E4AF5-1054-2663-1DEF-F131CD962027}"/>
                  </a:ext>
                </a:extLst>
              </p:cNvPr>
              <p:cNvGrpSpPr/>
              <p:nvPr/>
            </p:nvGrpSpPr>
            <p:grpSpPr>
              <a:xfrm>
                <a:off x="7297276" y="2324036"/>
                <a:ext cx="1512000" cy="654393"/>
                <a:chOff x="566592" y="2270551"/>
                <a:chExt cx="1512000" cy="654393"/>
              </a:xfrm>
            </p:grpSpPr>
            <p:sp>
              <p:nvSpPr>
                <p:cNvPr id="133" name="圆角矩形 132">
                  <a:extLst>
                    <a:ext uri="{FF2B5EF4-FFF2-40B4-BE49-F238E27FC236}">
                      <a16:creationId xmlns:a16="http://schemas.microsoft.com/office/drawing/2014/main" id="{B16CC680-2940-86DA-F845-C8B250562765}"/>
                    </a:ext>
                  </a:extLst>
                </p:cNvPr>
                <p:cNvSpPr/>
                <p:nvPr/>
              </p:nvSpPr>
              <p:spPr>
                <a:xfrm>
                  <a:off x="5665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tIns="0" rIns="0" bIns="0" rtlCol="0" anchor="ctr" anchorCtr="1"/>
                <a:lstStyle/>
                <a:p>
                  <a:pPr algn="ctr">
                    <a:lnSpc>
                      <a:spcPts val="1800"/>
                    </a:lnSpc>
                  </a:pPr>
                  <a:r>
                    <a:rPr kumimoji="1" lang="en-US" altLang="zh-CN" dirty="0">
                      <a:solidFill>
                        <a:schemeClr val="tx1"/>
                      </a:solidFill>
                    </a:rPr>
                    <a:t>Activation Records</a:t>
                  </a:r>
                  <a:endParaRPr kumimoji="1"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4" name="矩形 133">
                  <a:extLst>
                    <a:ext uri="{FF2B5EF4-FFF2-40B4-BE49-F238E27FC236}">
                      <a16:creationId xmlns:a16="http://schemas.microsoft.com/office/drawing/2014/main" id="{2CF608FC-54F8-CCD0-566C-FCD4F5FE4F3C}"/>
                    </a:ext>
                  </a:extLst>
                </p:cNvPr>
                <p:cNvSpPr/>
                <p:nvPr/>
              </p:nvSpPr>
              <p:spPr>
                <a:xfrm>
                  <a:off x="675832" y="2270551"/>
                  <a:ext cx="237478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sz="2000" dirty="0">
                      <a:solidFill>
                        <a:schemeClr val="tx2"/>
                      </a:solidFill>
                    </a:rPr>
                    <a:t>6</a:t>
                  </a:r>
                  <a:endParaRPr kumimoji="1" lang="zh-CN" altLang="en-US" sz="2000" dirty="0">
                    <a:solidFill>
                      <a:schemeClr val="tx2"/>
                    </a:solidFill>
                  </a:endParaRPr>
                </a:p>
              </p:txBody>
            </p:sp>
          </p:grpSp>
          <p:grpSp>
            <p:nvGrpSpPr>
              <p:cNvPr id="104" name="组合 103">
                <a:extLst>
                  <a:ext uri="{FF2B5EF4-FFF2-40B4-BE49-F238E27FC236}">
                    <a16:creationId xmlns:a16="http://schemas.microsoft.com/office/drawing/2014/main" id="{BC8A1DC2-317C-63A4-605D-5A5C44F4A6E1}"/>
                  </a:ext>
                </a:extLst>
              </p:cNvPr>
              <p:cNvGrpSpPr/>
              <p:nvPr/>
            </p:nvGrpSpPr>
            <p:grpSpPr>
              <a:xfrm>
                <a:off x="5637813" y="3218640"/>
                <a:ext cx="1512000" cy="654393"/>
                <a:chOff x="566592" y="2270551"/>
                <a:chExt cx="1512000" cy="654393"/>
              </a:xfrm>
            </p:grpSpPr>
            <p:sp>
              <p:nvSpPr>
                <p:cNvPr id="131" name="圆角矩形 130">
                  <a:extLst>
                    <a:ext uri="{FF2B5EF4-FFF2-40B4-BE49-F238E27FC236}">
                      <a16:creationId xmlns:a16="http://schemas.microsoft.com/office/drawing/2014/main" id="{F9C97E95-F396-008E-9F54-0588053A7577}"/>
                    </a:ext>
                  </a:extLst>
                </p:cNvPr>
                <p:cNvSpPr/>
                <p:nvPr/>
              </p:nvSpPr>
              <p:spPr>
                <a:xfrm>
                  <a:off x="5665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>
                    <a:lnSpc>
                      <a:spcPts val="1800"/>
                    </a:lnSpc>
                  </a:pPr>
                  <a:r>
                    <a:rPr kumimoji="1" lang="en-US" altLang="zh-CN" dirty="0" err="1">
                      <a:solidFill>
                        <a:schemeClr val="tx1"/>
                      </a:solidFill>
                    </a:rPr>
                    <a:t>Interm</a:t>
                  </a:r>
                  <a:r>
                    <a:rPr kumimoji="1" lang="en-US" altLang="zh-CN" dirty="0">
                      <a:solidFill>
                        <a:schemeClr val="tx1"/>
                      </a:solidFill>
                    </a:rPr>
                    <a:t>. Code</a:t>
                  </a:r>
                  <a:endParaRPr kumimoji="1"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2" name="矩形 131">
                  <a:extLst>
                    <a:ext uri="{FF2B5EF4-FFF2-40B4-BE49-F238E27FC236}">
                      <a16:creationId xmlns:a16="http://schemas.microsoft.com/office/drawing/2014/main" id="{DEAC9C07-608A-D6E5-F875-31370B0387D4}"/>
                    </a:ext>
                  </a:extLst>
                </p:cNvPr>
                <p:cNvSpPr/>
                <p:nvPr/>
              </p:nvSpPr>
              <p:spPr>
                <a:xfrm>
                  <a:off x="675832" y="2270551"/>
                  <a:ext cx="237478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sz="2000" dirty="0">
                      <a:solidFill>
                        <a:schemeClr val="tx2"/>
                      </a:solidFill>
                    </a:rPr>
                    <a:t>7</a:t>
                  </a:r>
                  <a:endParaRPr kumimoji="1" lang="zh-CN" altLang="en-US" sz="2000" dirty="0">
                    <a:solidFill>
                      <a:schemeClr val="tx2"/>
                    </a:solidFill>
                  </a:endParaRPr>
                </a:p>
              </p:txBody>
            </p:sp>
          </p:grpSp>
          <p:grpSp>
            <p:nvGrpSpPr>
              <p:cNvPr id="105" name="组合 104">
                <a:extLst>
                  <a:ext uri="{FF2B5EF4-FFF2-40B4-BE49-F238E27FC236}">
                    <a16:creationId xmlns:a16="http://schemas.microsoft.com/office/drawing/2014/main" id="{1F35D212-A5AC-0EBC-4B37-12FBF70D04AF}"/>
                  </a:ext>
                </a:extLst>
              </p:cNvPr>
              <p:cNvGrpSpPr/>
              <p:nvPr/>
            </p:nvGrpSpPr>
            <p:grpSpPr>
              <a:xfrm>
                <a:off x="3949602" y="3218640"/>
                <a:ext cx="1512000" cy="654393"/>
                <a:chOff x="566592" y="2270551"/>
                <a:chExt cx="1481056" cy="654393"/>
              </a:xfrm>
            </p:grpSpPr>
            <p:sp>
              <p:nvSpPr>
                <p:cNvPr id="129" name="圆角矩形 128">
                  <a:extLst>
                    <a:ext uri="{FF2B5EF4-FFF2-40B4-BE49-F238E27FC236}">
                      <a16:creationId xmlns:a16="http://schemas.microsoft.com/office/drawing/2014/main" id="{280DCBF7-5849-679B-AC5E-57940F849A4A}"/>
                    </a:ext>
                  </a:extLst>
                </p:cNvPr>
                <p:cNvSpPr/>
                <p:nvPr/>
              </p:nvSpPr>
              <p:spPr>
                <a:xfrm>
                  <a:off x="566592" y="2420888"/>
                  <a:ext cx="1481056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>
                    <a:lnSpc>
                      <a:spcPts val="1800"/>
                    </a:lnSpc>
                  </a:pPr>
                  <a:r>
                    <a:rPr lang="en" altLang="zh-CN" dirty="0">
                      <a:solidFill>
                        <a:schemeClr val="tx1"/>
                      </a:solidFill>
                    </a:rPr>
                    <a:t>Blocks &amp; Traces</a:t>
                  </a:r>
                  <a:endParaRPr kumimoji="1"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0" name="矩形 129">
                  <a:extLst>
                    <a:ext uri="{FF2B5EF4-FFF2-40B4-BE49-F238E27FC236}">
                      <a16:creationId xmlns:a16="http://schemas.microsoft.com/office/drawing/2014/main" id="{7217C9DF-D4F6-9857-3277-99F649410F86}"/>
                    </a:ext>
                  </a:extLst>
                </p:cNvPr>
                <p:cNvSpPr/>
                <p:nvPr/>
              </p:nvSpPr>
              <p:spPr>
                <a:xfrm>
                  <a:off x="675832" y="2270551"/>
                  <a:ext cx="237478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sz="2000" dirty="0">
                      <a:solidFill>
                        <a:schemeClr val="tx2"/>
                      </a:solidFill>
                    </a:rPr>
                    <a:t>8</a:t>
                  </a:r>
                  <a:endParaRPr kumimoji="1" lang="zh-CN" altLang="en-US" sz="2000" dirty="0">
                    <a:solidFill>
                      <a:schemeClr val="tx2"/>
                    </a:solidFill>
                  </a:endParaRPr>
                </a:p>
              </p:txBody>
            </p:sp>
          </p:grpSp>
          <p:grpSp>
            <p:nvGrpSpPr>
              <p:cNvPr id="106" name="组合 105">
                <a:extLst>
                  <a:ext uri="{FF2B5EF4-FFF2-40B4-BE49-F238E27FC236}">
                    <a16:creationId xmlns:a16="http://schemas.microsoft.com/office/drawing/2014/main" id="{EC4A01D9-85C2-9C92-BA9A-FA2D4F84087C}"/>
                  </a:ext>
                </a:extLst>
              </p:cNvPr>
              <p:cNvGrpSpPr/>
              <p:nvPr/>
            </p:nvGrpSpPr>
            <p:grpSpPr>
              <a:xfrm>
                <a:off x="2258123" y="3218640"/>
                <a:ext cx="1512000" cy="654393"/>
                <a:chOff x="584046" y="2270551"/>
                <a:chExt cx="1512000" cy="654393"/>
              </a:xfrm>
            </p:grpSpPr>
            <p:sp>
              <p:nvSpPr>
                <p:cNvPr id="127" name="圆角矩形 126">
                  <a:extLst>
                    <a:ext uri="{FF2B5EF4-FFF2-40B4-BE49-F238E27FC236}">
                      <a16:creationId xmlns:a16="http://schemas.microsoft.com/office/drawing/2014/main" id="{811EB55E-CA83-7B3C-7CBB-F659BEF460D6}"/>
                    </a:ext>
                  </a:extLst>
                </p:cNvPr>
                <p:cNvSpPr/>
                <p:nvPr/>
              </p:nvSpPr>
              <p:spPr>
                <a:xfrm>
                  <a:off x="584046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tIns="0" rIns="0" bIns="0" rtlCol="0" anchor="ctr" anchorCtr="1"/>
                <a:lstStyle/>
                <a:p>
                  <a:pPr algn="ctr">
                    <a:lnSpc>
                      <a:spcPts val="1800"/>
                    </a:lnSpc>
                  </a:pPr>
                  <a:r>
                    <a:rPr kumimoji="1" lang="en-US" altLang="zh-CN" dirty="0">
                      <a:solidFill>
                        <a:schemeClr val="tx1"/>
                      </a:solidFill>
                    </a:rPr>
                    <a:t>Instruct. Selection</a:t>
                  </a:r>
                  <a:endParaRPr kumimoji="1"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8" name="矩形 127">
                  <a:extLst>
                    <a:ext uri="{FF2B5EF4-FFF2-40B4-BE49-F238E27FC236}">
                      <a16:creationId xmlns:a16="http://schemas.microsoft.com/office/drawing/2014/main" id="{68156D2E-2CAF-1AE7-2254-F34C9B775BFA}"/>
                    </a:ext>
                  </a:extLst>
                </p:cNvPr>
                <p:cNvSpPr/>
                <p:nvPr/>
              </p:nvSpPr>
              <p:spPr>
                <a:xfrm>
                  <a:off x="675832" y="2270551"/>
                  <a:ext cx="237478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sz="2000" dirty="0">
                      <a:solidFill>
                        <a:schemeClr val="tx2"/>
                      </a:solidFill>
                    </a:rPr>
                    <a:t>9</a:t>
                  </a:r>
                  <a:endParaRPr kumimoji="1" lang="zh-CN" altLang="en-US" sz="2000" dirty="0">
                    <a:solidFill>
                      <a:schemeClr val="tx2"/>
                    </a:solidFill>
                  </a:endParaRPr>
                </a:p>
              </p:txBody>
            </p:sp>
          </p:grpSp>
          <p:grpSp>
            <p:nvGrpSpPr>
              <p:cNvPr id="107" name="组合 106">
                <a:extLst>
                  <a:ext uri="{FF2B5EF4-FFF2-40B4-BE49-F238E27FC236}">
                    <a16:creationId xmlns:a16="http://schemas.microsoft.com/office/drawing/2014/main" id="{4471922E-C33A-CAF2-EE62-0BD3F9A3D76F}"/>
                  </a:ext>
                </a:extLst>
              </p:cNvPr>
              <p:cNvGrpSpPr/>
              <p:nvPr/>
            </p:nvGrpSpPr>
            <p:grpSpPr>
              <a:xfrm>
                <a:off x="3013423" y="4082260"/>
                <a:ext cx="1512000" cy="654393"/>
                <a:chOff x="590792" y="2270551"/>
                <a:chExt cx="1512000" cy="654393"/>
              </a:xfrm>
            </p:grpSpPr>
            <p:sp>
              <p:nvSpPr>
                <p:cNvPr id="125" name="圆角矩形 124">
                  <a:extLst>
                    <a:ext uri="{FF2B5EF4-FFF2-40B4-BE49-F238E27FC236}">
                      <a16:creationId xmlns:a16="http://schemas.microsoft.com/office/drawing/2014/main" id="{33EFCA92-9484-1C06-874C-45281B47E6A9}"/>
                    </a:ext>
                  </a:extLst>
                </p:cNvPr>
                <p:cNvSpPr/>
                <p:nvPr/>
              </p:nvSpPr>
              <p:spPr>
                <a:xfrm>
                  <a:off x="5907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tIns="0" rIns="0" bIns="0" rtlCol="0" anchor="ctr" anchorCtr="1"/>
                <a:lstStyle/>
                <a:p>
                  <a:pPr algn="ctr">
                    <a:lnSpc>
                      <a:spcPts val="1800"/>
                    </a:lnSpc>
                  </a:pPr>
                  <a:r>
                    <a:rPr kumimoji="1" lang="en-US" altLang="zh-CN" dirty="0">
                      <a:solidFill>
                        <a:schemeClr val="tx1"/>
                      </a:solidFill>
                    </a:rPr>
                    <a:t>Liveness Analysis</a:t>
                  </a:r>
                  <a:endParaRPr kumimoji="1"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6" name="矩形 125">
                  <a:extLst>
                    <a:ext uri="{FF2B5EF4-FFF2-40B4-BE49-F238E27FC236}">
                      <a16:creationId xmlns:a16="http://schemas.microsoft.com/office/drawing/2014/main" id="{0390FD3A-6582-099A-F951-B2365684BE77}"/>
                    </a:ext>
                  </a:extLst>
                </p:cNvPr>
                <p:cNvSpPr/>
                <p:nvPr/>
              </p:nvSpPr>
              <p:spPr>
                <a:xfrm>
                  <a:off x="675831" y="2270551"/>
                  <a:ext cx="310836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kumimoji="1" lang="en-US" altLang="zh-CN" sz="2000" dirty="0">
                      <a:solidFill>
                        <a:schemeClr val="tx2"/>
                      </a:solidFill>
                    </a:rPr>
                    <a:t>10</a:t>
                  </a:r>
                  <a:endParaRPr kumimoji="1" lang="zh-CN" altLang="en-US" sz="2000" dirty="0">
                    <a:solidFill>
                      <a:schemeClr val="tx2"/>
                    </a:solidFill>
                  </a:endParaRPr>
                </a:p>
              </p:txBody>
            </p:sp>
          </p:grpSp>
          <p:grpSp>
            <p:nvGrpSpPr>
              <p:cNvPr id="108" name="组合 107">
                <a:extLst>
                  <a:ext uri="{FF2B5EF4-FFF2-40B4-BE49-F238E27FC236}">
                    <a16:creationId xmlns:a16="http://schemas.microsoft.com/office/drawing/2014/main" id="{9717FD50-72E8-0F92-1DB8-CA307C6BCADE}"/>
                  </a:ext>
                </a:extLst>
              </p:cNvPr>
              <p:cNvGrpSpPr/>
              <p:nvPr/>
            </p:nvGrpSpPr>
            <p:grpSpPr>
              <a:xfrm>
                <a:off x="4912722" y="4082260"/>
                <a:ext cx="1512000" cy="654393"/>
                <a:chOff x="566592" y="2270551"/>
                <a:chExt cx="1512000" cy="654393"/>
              </a:xfrm>
            </p:grpSpPr>
            <p:sp>
              <p:nvSpPr>
                <p:cNvPr id="123" name="圆角矩形 122">
                  <a:extLst>
                    <a:ext uri="{FF2B5EF4-FFF2-40B4-BE49-F238E27FC236}">
                      <a16:creationId xmlns:a16="http://schemas.microsoft.com/office/drawing/2014/main" id="{8525D56F-C53F-7351-AFD5-D36672A9082E}"/>
                    </a:ext>
                  </a:extLst>
                </p:cNvPr>
                <p:cNvSpPr/>
                <p:nvPr/>
              </p:nvSpPr>
              <p:spPr>
                <a:xfrm>
                  <a:off x="5665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tIns="0" rIns="0" bIns="0" rtlCol="0" anchor="ctr" anchorCtr="1"/>
                <a:lstStyle/>
                <a:p>
                  <a:pPr algn="ctr">
                    <a:lnSpc>
                      <a:spcPts val="1800"/>
                    </a:lnSpc>
                  </a:pPr>
                  <a:r>
                    <a:rPr kumimoji="1" lang="en-US" altLang="zh-CN" dirty="0">
                      <a:solidFill>
                        <a:schemeClr val="tx1"/>
                      </a:solidFill>
                    </a:rPr>
                    <a:t>Register Allocation</a:t>
                  </a:r>
                  <a:endParaRPr kumimoji="1"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4" name="矩形 123">
                  <a:extLst>
                    <a:ext uri="{FF2B5EF4-FFF2-40B4-BE49-F238E27FC236}">
                      <a16:creationId xmlns:a16="http://schemas.microsoft.com/office/drawing/2014/main" id="{7D4ED3DA-B899-5825-23D7-A28D5A034767}"/>
                    </a:ext>
                  </a:extLst>
                </p:cNvPr>
                <p:cNvSpPr/>
                <p:nvPr/>
              </p:nvSpPr>
              <p:spPr>
                <a:xfrm>
                  <a:off x="675831" y="2270551"/>
                  <a:ext cx="310836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kumimoji="1" lang="en-US" altLang="zh-CN" sz="2000" dirty="0">
                      <a:solidFill>
                        <a:schemeClr val="tx2"/>
                      </a:solidFill>
                    </a:rPr>
                    <a:t>11</a:t>
                  </a:r>
                  <a:endParaRPr kumimoji="1" lang="zh-CN" altLang="en-US" sz="2000" dirty="0">
                    <a:solidFill>
                      <a:schemeClr val="tx2"/>
                    </a:solidFill>
                  </a:endParaRPr>
                </a:p>
              </p:txBody>
            </p:sp>
          </p:grpSp>
          <p:grpSp>
            <p:nvGrpSpPr>
              <p:cNvPr id="109" name="组合 108">
                <a:extLst>
                  <a:ext uri="{FF2B5EF4-FFF2-40B4-BE49-F238E27FC236}">
                    <a16:creationId xmlns:a16="http://schemas.microsoft.com/office/drawing/2014/main" id="{41C0225A-0C0C-2253-A163-3BBBFB7C7998}"/>
                  </a:ext>
                </a:extLst>
              </p:cNvPr>
              <p:cNvGrpSpPr/>
              <p:nvPr/>
            </p:nvGrpSpPr>
            <p:grpSpPr>
              <a:xfrm>
                <a:off x="3013423" y="5217662"/>
                <a:ext cx="1512000" cy="654393"/>
                <a:chOff x="590792" y="2270551"/>
                <a:chExt cx="1512000" cy="654393"/>
              </a:xfrm>
            </p:grpSpPr>
            <p:sp>
              <p:nvSpPr>
                <p:cNvPr id="121" name="圆角矩形 120">
                  <a:extLst>
                    <a:ext uri="{FF2B5EF4-FFF2-40B4-BE49-F238E27FC236}">
                      <a16:creationId xmlns:a16="http://schemas.microsoft.com/office/drawing/2014/main" id="{75D4692C-DDDA-A9D7-E038-4D2A2A2438FA}"/>
                    </a:ext>
                  </a:extLst>
                </p:cNvPr>
                <p:cNvSpPr/>
                <p:nvPr/>
              </p:nvSpPr>
              <p:spPr>
                <a:xfrm>
                  <a:off x="5907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tIns="0" rIns="0" bIns="0" rtlCol="0" anchor="ctr" anchorCtr="1"/>
                <a:lstStyle/>
                <a:p>
                  <a:pPr algn="ctr">
                    <a:lnSpc>
                      <a:spcPts val="1800"/>
                    </a:lnSpc>
                  </a:pPr>
                  <a:r>
                    <a:rPr kumimoji="1" lang="en-US" altLang="zh-CN" dirty="0">
                      <a:solidFill>
                        <a:schemeClr val="tx1"/>
                      </a:solidFill>
                    </a:rPr>
                    <a:t>Garbage Collection</a:t>
                  </a:r>
                  <a:endParaRPr kumimoji="1"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2" name="矩形 121">
                  <a:extLst>
                    <a:ext uri="{FF2B5EF4-FFF2-40B4-BE49-F238E27FC236}">
                      <a16:creationId xmlns:a16="http://schemas.microsoft.com/office/drawing/2014/main" id="{1373442F-0439-25F9-6711-04062FA4B235}"/>
                    </a:ext>
                  </a:extLst>
                </p:cNvPr>
                <p:cNvSpPr/>
                <p:nvPr/>
              </p:nvSpPr>
              <p:spPr>
                <a:xfrm>
                  <a:off x="675831" y="2270551"/>
                  <a:ext cx="310836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kumimoji="1" lang="en-US" altLang="zh-CN" sz="2000" dirty="0">
                      <a:solidFill>
                        <a:schemeClr val="tx2"/>
                      </a:solidFill>
                    </a:rPr>
                    <a:t>13</a:t>
                  </a:r>
                  <a:endParaRPr kumimoji="1" lang="zh-CN" altLang="en-US" sz="2000" dirty="0">
                    <a:solidFill>
                      <a:schemeClr val="tx2"/>
                    </a:solidFill>
                  </a:endParaRPr>
                </a:p>
              </p:txBody>
            </p:sp>
          </p:grpSp>
          <p:grpSp>
            <p:nvGrpSpPr>
              <p:cNvPr id="110" name="组合 109">
                <a:extLst>
                  <a:ext uri="{FF2B5EF4-FFF2-40B4-BE49-F238E27FC236}">
                    <a16:creationId xmlns:a16="http://schemas.microsoft.com/office/drawing/2014/main" id="{377CE2EB-1203-1F5E-64D8-240ABD66302C}"/>
                  </a:ext>
                </a:extLst>
              </p:cNvPr>
              <p:cNvGrpSpPr/>
              <p:nvPr/>
            </p:nvGrpSpPr>
            <p:grpSpPr>
              <a:xfrm>
                <a:off x="4912722" y="5217662"/>
                <a:ext cx="1512000" cy="654393"/>
                <a:chOff x="566592" y="2270551"/>
                <a:chExt cx="1512000" cy="654393"/>
              </a:xfrm>
            </p:grpSpPr>
            <p:sp>
              <p:nvSpPr>
                <p:cNvPr id="119" name="圆角矩形 118">
                  <a:extLst>
                    <a:ext uri="{FF2B5EF4-FFF2-40B4-BE49-F238E27FC236}">
                      <a16:creationId xmlns:a16="http://schemas.microsoft.com/office/drawing/2014/main" id="{0BBF6486-4F36-A802-60F6-47B4038D7B44}"/>
                    </a:ext>
                  </a:extLst>
                </p:cNvPr>
                <p:cNvSpPr/>
                <p:nvPr/>
              </p:nvSpPr>
              <p:spPr>
                <a:xfrm>
                  <a:off x="5665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tIns="0" rIns="0" bIns="0" rtlCol="0" anchor="ctr" anchorCtr="1"/>
                <a:lstStyle/>
                <a:p>
                  <a:pPr algn="ctr">
                    <a:lnSpc>
                      <a:spcPts val="1800"/>
                    </a:lnSpc>
                  </a:pPr>
                  <a:r>
                    <a:rPr lang="en" altLang="zh-CN" dirty="0">
                      <a:solidFill>
                        <a:schemeClr val="tx1"/>
                      </a:solidFill>
                    </a:rPr>
                    <a:t>Loop Optimizations</a:t>
                  </a:r>
                  <a:endParaRPr kumimoji="1"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0" name="矩形 119">
                  <a:extLst>
                    <a:ext uri="{FF2B5EF4-FFF2-40B4-BE49-F238E27FC236}">
                      <a16:creationId xmlns:a16="http://schemas.microsoft.com/office/drawing/2014/main" id="{7876BC88-0737-BA73-34E1-B72EF3C858B3}"/>
                    </a:ext>
                  </a:extLst>
                </p:cNvPr>
                <p:cNvSpPr/>
                <p:nvPr/>
              </p:nvSpPr>
              <p:spPr>
                <a:xfrm>
                  <a:off x="675831" y="2270551"/>
                  <a:ext cx="310836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kumimoji="1" lang="en-US" altLang="zh-CN" sz="2000" dirty="0">
                      <a:solidFill>
                        <a:schemeClr val="tx2"/>
                      </a:solidFill>
                    </a:rPr>
                    <a:t>18</a:t>
                  </a:r>
                  <a:endParaRPr kumimoji="1" lang="zh-CN" altLang="en-US" sz="2000" dirty="0">
                    <a:solidFill>
                      <a:schemeClr val="tx2"/>
                    </a:solidFill>
                  </a:endParaRPr>
                </a:p>
              </p:txBody>
            </p:sp>
          </p:grpSp>
          <p:cxnSp>
            <p:nvCxnSpPr>
              <p:cNvPr id="111" name="直线箭头连接符 110">
                <a:extLst>
                  <a:ext uri="{FF2B5EF4-FFF2-40B4-BE49-F238E27FC236}">
                    <a16:creationId xmlns:a16="http://schemas.microsoft.com/office/drawing/2014/main" id="{D1B03AD5-FBA6-11AE-838A-E8FE876C8D1B}"/>
                  </a:ext>
                </a:extLst>
              </p:cNvPr>
              <p:cNvCxnSpPr>
                <a:stCxn id="141" idx="3"/>
                <a:endCxn id="139" idx="1"/>
              </p:cNvCxnSpPr>
              <p:nvPr/>
            </p:nvCxnSpPr>
            <p:spPr>
              <a:xfrm>
                <a:off x="2078592" y="2726401"/>
                <a:ext cx="178407" cy="0"/>
              </a:xfrm>
              <a:prstGeom prst="straightConnector1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直线箭头连接符 111">
                <a:extLst>
                  <a:ext uri="{FF2B5EF4-FFF2-40B4-BE49-F238E27FC236}">
                    <a16:creationId xmlns:a16="http://schemas.microsoft.com/office/drawing/2014/main" id="{9722DC7B-0C6B-61FA-EEE4-534A06CC8562}"/>
                  </a:ext>
                </a:extLst>
              </p:cNvPr>
              <p:cNvCxnSpPr>
                <a:cxnSpLocks/>
                <a:stCxn id="139" idx="3"/>
                <a:endCxn id="137" idx="1"/>
              </p:cNvCxnSpPr>
              <p:nvPr/>
            </p:nvCxnSpPr>
            <p:spPr>
              <a:xfrm>
                <a:off x="3768999" y="2726401"/>
                <a:ext cx="178407" cy="0"/>
              </a:xfrm>
              <a:prstGeom prst="straightConnector1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直线箭头连接符 112">
                <a:extLst>
                  <a:ext uri="{FF2B5EF4-FFF2-40B4-BE49-F238E27FC236}">
                    <a16:creationId xmlns:a16="http://schemas.microsoft.com/office/drawing/2014/main" id="{63684BFE-F14F-6AA4-6F68-5AD36C9DFE5D}"/>
                  </a:ext>
                </a:extLst>
              </p:cNvPr>
              <p:cNvCxnSpPr>
                <a:cxnSpLocks/>
                <a:stCxn id="137" idx="3"/>
                <a:endCxn id="135" idx="1"/>
              </p:cNvCxnSpPr>
              <p:nvPr/>
            </p:nvCxnSpPr>
            <p:spPr>
              <a:xfrm>
                <a:off x="5459406" y="2726401"/>
                <a:ext cx="178407" cy="0"/>
              </a:xfrm>
              <a:prstGeom prst="straightConnector1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线箭头连接符 113">
                <a:extLst>
                  <a:ext uri="{FF2B5EF4-FFF2-40B4-BE49-F238E27FC236}">
                    <a16:creationId xmlns:a16="http://schemas.microsoft.com/office/drawing/2014/main" id="{FE5AB7F0-627B-2930-9C3A-CA1C45C669D2}"/>
                  </a:ext>
                </a:extLst>
              </p:cNvPr>
              <p:cNvCxnSpPr>
                <a:cxnSpLocks/>
                <a:stCxn id="135" idx="2"/>
                <a:endCxn id="131" idx="0"/>
              </p:cNvCxnSpPr>
              <p:nvPr/>
            </p:nvCxnSpPr>
            <p:spPr>
              <a:xfrm>
                <a:off x="6393813" y="2978429"/>
                <a:ext cx="0" cy="390548"/>
              </a:xfrm>
              <a:prstGeom prst="straightConnector1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直线箭头连接符 114">
                <a:extLst>
                  <a:ext uri="{FF2B5EF4-FFF2-40B4-BE49-F238E27FC236}">
                    <a16:creationId xmlns:a16="http://schemas.microsoft.com/office/drawing/2014/main" id="{88CFD165-4A01-E55B-0C1E-02B030BBFCE9}"/>
                  </a:ext>
                </a:extLst>
              </p:cNvPr>
              <p:cNvCxnSpPr>
                <a:cxnSpLocks/>
                <a:stCxn id="131" idx="1"/>
                <a:endCxn id="129" idx="3"/>
              </p:cNvCxnSpPr>
              <p:nvPr/>
            </p:nvCxnSpPr>
            <p:spPr>
              <a:xfrm flipH="1">
                <a:off x="5461602" y="3621005"/>
                <a:ext cx="176211" cy="0"/>
              </a:xfrm>
              <a:prstGeom prst="straightConnector1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直线箭头连接符 115">
                <a:extLst>
                  <a:ext uri="{FF2B5EF4-FFF2-40B4-BE49-F238E27FC236}">
                    <a16:creationId xmlns:a16="http://schemas.microsoft.com/office/drawing/2014/main" id="{799DDE49-01B5-F5DF-D9C2-44D2826EACAD}"/>
                  </a:ext>
                </a:extLst>
              </p:cNvPr>
              <p:cNvCxnSpPr>
                <a:cxnSpLocks/>
                <a:stCxn id="125" idx="3"/>
                <a:endCxn id="123" idx="1"/>
              </p:cNvCxnSpPr>
              <p:nvPr/>
            </p:nvCxnSpPr>
            <p:spPr>
              <a:xfrm>
                <a:off x="4525423" y="4484625"/>
                <a:ext cx="387299" cy="0"/>
              </a:xfrm>
              <a:prstGeom prst="straightConnector1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肘形连接符 116">
                <a:extLst>
                  <a:ext uri="{FF2B5EF4-FFF2-40B4-BE49-F238E27FC236}">
                    <a16:creationId xmlns:a16="http://schemas.microsoft.com/office/drawing/2014/main" id="{BFA9ADE3-2559-9C0A-FD58-DEB81D83F5B2}"/>
                  </a:ext>
                </a:extLst>
              </p:cNvPr>
              <p:cNvCxnSpPr>
                <a:cxnSpLocks/>
                <a:stCxn id="133" idx="2"/>
                <a:endCxn id="131" idx="3"/>
              </p:cNvCxnSpPr>
              <p:nvPr/>
            </p:nvCxnSpPr>
            <p:spPr>
              <a:xfrm rot="5400000">
                <a:off x="7280257" y="2847986"/>
                <a:ext cx="642576" cy="903463"/>
              </a:xfrm>
              <a:prstGeom prst="bentConnector2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肘形连接符 117">
                <a:extLst>
                  <a:ext uri="{FF2B5EF4-FFF2-40B4-BE49-F238E27FC236}">
                    <a16:creationId xmlns:a16="http://schemas.microsoft.com/office/drawing/2014/main" id="{38892BD5-0AE0-A0B2-7FC3-638C3EF1880E}"/>
                  </a:ext>
                </a:extLst>
              </p:cNvPr>
              <p:cNvCxnSpPr>
                <a:cxnSpLocks/>
                <a:endCxn id="119" idx="1"/>
              </p:cNvCxnSpPr>
              <p:nvPr/>
            </p:nvCxnSpPr>
            <p:spPr>
              <a:xfrm rot="16200000" flipH="1">
                <a:off x="4246668" y="4953972"/>
                <a:ext cx="1135403" cy="196706"/>
              </a:xfrm>
              <a:prstGeom prst="bentConnector2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3" name="矩形 27">
              <a:extLst>
                <a:ext uri="{FF2B5EF4-FFF2-40B4-BE49-F238E27FC236}">
                  <a16:creationId xmlns:a16="http://schemas.microsoft.com/office/drawing/2014/main" id="{A05D1695-254E-CAF1-B5D1-1B52368F16C5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 bwMode="gray">
            <a:xfrm rot="5400000">
              <a:off x="3185852" y="-553447"/>
              <a:ext cx="2772293" cy="8603587"/>
            </a:xfrm>
            <a:prstGeom prst="rect">
              <a:avLst/>
            </a:prstGeom>
            <a:noFill/>
            <a:ln w="19050" algn="ctr">
              <a:solidFill>
                <a:srgbClr val="002060">
                  <a:alpha val="35000"/>
                </a:srgbClr>
              </a:solidFill>
              <a:prstDash val="sysDash"/>
              <a:miter lim="800000"/>
            </a:ln>
            <a:effectLst/>
          </p:spPr>
          <p:txBody>
            <a:bodyPr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endParaRPr lang="zh-CN" altLang="en-US" sz="1349" kern="0">
                <a:solidFill>
                  <a:srgbClr val="000000"/>
                </a:solidFill>
              </a:endParaRPr>
            </a:p>
          </p:txBody>
        </p:sp>
        <p:sp>
          <p:nvSpPr>
            <p:cNvPr id="144" name="矩形 27">
              <a:extLst>
                <a:ext uri="{FF2B5EF4-FFF2-40B4-BE49-F238E27FC236}">
                  <a16:creationId xmlns:a16="http://schemas.microsoft.com/office/drawing/2014/main" id="{3F81343F-6D95-00A0-B6C0-FAE0F4B79E1B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 bwMode="gray">
            <a:xfrm rot="5400000">
              <a:off x="4103808" y="1409056"/>
              <a:ext cx="936379" cy="8603587"/>
            </a:xfrm>
            <a:prstGeom prst="rect">
              <a:avLst/>
            </a:prstGeom>
            <a:noFill/>
            <a:ln w="19050" algn="ctr">
              <a:solidFill>
                <a:srgbClr val="002060">
                  <a:alpha val="35000"/>
                </a:srgbClr>
              </a:solidFill>
              <a:prstDash val="sysDash"/>
              <a:miter lim="800000"/>
            </a:ln>
            <a:effectLst/>
          </p:spPr>
          <p:txBody>
            <a:bodyPr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endParaRPr lang="zh-CN" altLang="en-US" sz="1349" kern="0">
                <a:solidFill>
                  <a:srgbClr val="000000"/>
                </a:solidFill>
              </a:endParaRPr>
            </a:p>
          </p:txBody>
        </p:sp>
        <p:sp>
          <p:nvSpPr>
            <p:cNvPr id="145" name="文本框 144">
              <a:extLst>
                <a:ext uri="{FF2B5EF4-FFF2-40B4-BE49-F238E27FC236}">
                  <a16:creationId xmlns:a16="http://schemas.microsoft.com/office/drawing/2014/main" id="{281F856A-2ADC-10CF-4824-0ECE8336BF89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263550" y="4769978"/>
              <a:ext cx="4572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" altLang="zh-CN" b="1" dirty="0">
                  <a:solidFill>
                    <a:schemeClr val="tx2"/>
                  </a:solidFill>
                </a:rPr>
                <a:t>Fundamentals</a:t>
              </a:r>
              <a:endParaRPr lang="zh-CN" altLang="en-US" b="1" dirty="0">
                <a:solidFill>
                  <a:schemeClr val="tx2"/>
                </a:solidFill>
              </a:endParaRPr>
            </a:p>
          </p:txBody>
        </p: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616FB3F5-B201-46F3-3155-4A5F3B7CAFB0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263550" y="5821696"/>
              <a:ext cx="4572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" altLang="zh-CN" b="1" dirty="0">
                  <a:solidFill>
                    <a:schemeClr val="tx2"/>
                  </a:solidFill>
                </a:rPr>
                <a:t>Advanced Topics</a:t>
              </a:r>
              <a:endParaRPr lang="zh-CN" altLang="en-US" b="1" dirty="0">
                <a:solidFill>
                  <a:schemeClr val="tx2"/>
                </a:solidFill>
              </a:endParaRPr>
            </a:p>
          </p:txBody>
        </p:sp>
      </p:grpSp>
      <p:sp>
        <p:nvSpPr>
          <p:cNvPr id="3" name="圆角矩形 120">
            <a:extLst>
              <a:ext uri="{FF2B5EF4-FFF2-40B4-BE49-F238E27FC236}">
                <a16:creationId xmlns:a16="http://schemas.microsoft.com/office/drawing/2014/main" id="{5E3F2DBC-784E-2ACA-9071-D076F1CAC069}"/>
              </a:ext>
            </a:extLst>
          </p:cNvPr>
          <p:cNvSpPr/>
          <p:nvPr/>
        </p:nvSpPr>
        <p:spPr>
          <a:xfrm>
            <a:off x="6696087" y="5520094"/>
            <a:ext cx="1512000" cy="504056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 anchorCtr="1"/>
          <a:lstStyle/>
          <a:p>
            <a:pPr marL="0" marR="0" lvl="0" indent="0" algn="ctr" defTabSz="4572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/>
                <a:ea typeface="等线" panose="02010600030101010101" pitchFamily="2" charset="-122"/>
              </a:rPr>
              <a:t>Obj.-Ori. Languages</a:t>
            </a:r>
            <a:endParaRPr kumimoji="1" lang="zh-CN" altLang="en-US" dirty="0">
              <a:solidFill>
                <a:prstClr val="black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9DAC9E7-51CC-D560-2211-E5ADCCAD2D63}"/>
              </a:ext>
            </a:extLst>
          </p:cNvPr>
          <p:cNvSpPr/>
          <p:nvPr/>
        </p:nvSpPr>
        <p:spPr>
          <a:xfrm>
            <a:off x="6781126" y="5369757"/>
            <a:ext cx="310836" cy="2848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latinLnBrk="0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r>
              <a:rPr kumimoji="1" lang="en-US" altLang="zh-CN" sz="2000" dirty="0">
                <a:solidFill>
                  <a:schemeClr val="tx2"/>
                </a:solidFill>
              </a:rPr>
              <a:t>14</a:t>
            </a:r>
            <a:endParaRPr kumimoji="1" lang="zh-CN" altLang="en-US" sz="20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B7144D-4A2D-2B6E-71E6-453EB8621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Outline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36E1EB-D317-DA98-A33F-FBC82953A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What</a:t>
            </a:r>
            <a:r>
              <a:rPr lang="en-US" altLang="zh-CN" dirty="0"/>
              <a:t>, </a:t>
            </a:r>
            <a:r>
              <a:rPr kumimoji="1" lang="en-US" altLang="zh-CN" dirty="0"/>
              <a:t>Why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How</a:t>
            </a:r>
            <a:r>
              <a:rPr lang="en-US" altLang="zh-CN" dirty="0"/>
              <a:t>?</a:t>
            </a:r>
          </a:p>
          <a:p>
            <a:pPr lvl="1"/>
            <a:r>
              <a:rPr kumimoji="1" lang="en-US" altLang="zh-CN" dirty="0"/>
              <a:t>What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compiler?</a:t>
            </a:r>
          </a:p>
          <a:p>
            <a:pPr lvl="1"/>
            <a:r>
              <a:rPr kumimoji="1" lang="en-US" altLang="zh-CN" dirty="0"/>
              <a:t>Why</a:t>
            </a:r>
            <a:r>
              <a:rPr kumimoji="1" lang="zh-CN" altLang="en-US" dirty="0"/>
              <a:t> </a:t>
            </a:r>
            <a:r>
              <a:rPr lang="en-US" altLang="zh-CN" dirty="0"/>
              <a:t>do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learn</a:t>
            </a:r>
            <a:r>
              <a:rPr lang="zh-CN" altLang="en-US" dirty="0"/>
              <a:t> </a:t>
            </a:r>
            <a:r>
              <a:rPr lang="en-US" altLang="zh-CN" dirty="0"/>
              <a:t>compilers?</a:t>
            </a:r>
          </a:p>
          <a:p>
            <a:pPr lvl="1"/>
            <a:r>
              <a:rPr kumimoji="1" lang="en-US" altLang="zh-CN" dirty="0"/>
              <a:t>How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learn</a:t>
            </a:r>
            <a:r>
              <a:rPr kumimoji="1" lang="zh-CN" altLang="en-US" dirty="0"/>
              <a:t> </a:t>
            </a:r>
            <a:r>
              <a:rPr lang="en-US" altLang="zh-CN" dirty="0"/>
              <a:t>compilers?</a:t>
            </a:r>
          </a:p>
          <a:p>
            <a:pPr lvl="1"/>
            <a:endParaRPr lang="en-US" altLang="zh-CN" dirty="0"/>
          </a:p>
          <a:p>
            <a:r>
              <a:rPr lang="en-US" altLang="zh-CN" dirty="0"/>
              <a:t>General Workflow of a Compiler</a:t>
            </a:r>
          </a:p>
          <a:p>
            <a:endParaRPr lang="en-US" altLang="zh-CN" dirty="0"/>
          </a:p>
          <a:p>
            <a:r>
              <a:rPr lang="en-US" altLang="zh-CN" dirty="0"/>
              <a:t>Modules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Interfaces in Tiger</a:t>
            </a:r>
          </a:p>
        </p:txBody>
      </p:sp>
    </p:spTree>
    <p:extLst>
      <p:ext uri="{BB962C8B-B14F-4D97-AF65-F5344CB8AC3E}">
        <p14:creationId xmlns:p14="http://schemas.microsoft.com/office/powerpoint/2010/main" val="248685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B7144D-4A2D-2B6E-71E6-453EB8621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Outline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36E1EB-D317-DA98-A33F-FBC82953A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What</a:t>
            </a:r>
            <a:r>
              <a:rPr lang="en-US" altLang="zh-CN" dirty="0"/>
              <a:t>, </a:t>
            </a:r>
            <a:r>
              <a:rPr kumimoji="1" lang="en-US" altLang="zh-CN" dirty="0"/>
              <a:t>Why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How</a:t>
            </a:r>
            <a:r>
              <a:rPr lang="en-US" altLang="zh-CN" dirty="0"/>
              <a:t>?</a:t>
            </a:r>
          </a:p>
          <a:p>
            <a:pPr lvl="1"/>
            <a:r>
              <a:rPr kumimoji="1" lang="en-US" altLang="zh-CN" dirty="0"/>
              <a:t>What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compiler?</a:t>
            </a:r>
          </a:p>
          <a:p>
            <a:pPr lvl="1"/>
            <a:r>
              <a:rPr kumimoji="1" lang="en-US" altLang="zh-CN" dirty="0"/>
              <a:t>Why</a:t>
            </a:r>
            <a:r>
              <a:rPr kumimoji="1" lang="zh-CN" altLang="en-US" dirty="0"/>
              <a:t> </a:t>
            </a:r>
            <a:r>
              <a:rPr lang="en-US" altLang="zh-CN" dirty="0"/>
              <a:t>do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learn</a:t>
            </a:r>
            <a:r>
              <a:rPr lang="zh-CN" altLang="en-US" dirty="0"/>
              <a:t> </a:t>
            </a:r>
            <a:r>
              <a:rPr lang="en-US" altLang="zh-CN" dirty="0"/>
              <a:t>compilers?</a:t>
            </a:r>
          </a:p>
          <a:p>
            <a:pPr lvl="1"/>
            <a:r>
              <a:rPr kumimoji="1" lang="en-US" altLang="zh-CN" dirty="0"/>
              <a:t>How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learn</a:t>
            </a:r>
            <a:r>
              <a:rPr kumimoji="1" lang="zh-CN" altLang="en-US" dirty="0"/>
              <a:t> </a:t>
            </a:r>
            <a:r>
              <a:rPr lang="en-US" altLang="zh-CN" dirty="0"/>
              <a:t>compilers?</a:t>
            </a:r>
          </a:p>
          <a:p>
            <a:pPr lvl="1"/>
            <a:endParaRPr lang="en-US" altLang="zh-CN" dirty="0"/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General Workflow of a Compiler</a:t>
            </a:r>
          </a:p>
          <a:p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Modules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and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Interfaces in Tiger</a:t>
            </a:r>
          </a:p>
        </p:txBody>
      </p:sp>
    </p:spTree>
    <p:extLst>
      <p:ext uri="{BB962C8B-B14F-4D97-AF65-F5344CB8AC3E}">
        <p14:creationId xmlns:p14="http://schemas.microsoft.com/office/powerpoint/2010/main" val="897307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标题 39937">
            <a:extLst>
              <a:ext uri="{FF2B5EF4-FFF2-40B4-BE49-F238E27FC236}">
                <a16:creationId xmlns:a16="http://schemas.microsoft.com/office/drawing/2014/main" id="{7B1600FC-3A44-3035-83BC-7DA854B446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85800"/>
            <a:ext cx="8229600" cy="1143000"/>
          </a:xfrm>
        </p:spPr>
        <p:txBody>
          <a:bodyPr/>
          <a:lstStyle/>
          <a:p>
            <a:pPr eaLnBrk="1" hangingPunct="1"/>
            <a:r>
              <a:rPr kumimoji="0" lang="en-US" altLang="zh-CN" dirty="0"/>
              <a:t>What is a compiler?</a:t>
            </a:r>
          </a:p>
        </p:txBody>
      </p:sp>
      <p:grpSp>
        <p:nvGrpSpPr>
          <p:cNvPr id="25602" name="组合 39939">
            <a:extLst>
              <a:ext uri="{FF2B5EF4-FFF2-40B4-BE49-F238E27FC236}">
                <a16:creationId xmlns:a16="http://schemas.microsoft.com/office/drawing/2014/main" id="{9A6440CD-FB4C-4C25-1215-4AAD128A13E2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2743200"/>
            <a:ext cx="5334000" cy="1219200"/>
            <a:chOff x="748" y="1933"/>
            <a:chExt cx="3901" cy="499"/>
          </a:xfrm>
        </p:grpSpPr>
        <p:sp>
          <p:nvSpPr>
            <p:cNvPr id="25605" name="矩形 39940">
              <a:extLst>
                <a:ext uri="{FF2B5EF4-FFF2-40B4-BE49-F238E27FC236}">
                  <a16:creationId xmlns:a16="http://schemas.microsoft.com/office/drawing/2014/main" id="{CD4C2661-B45D-DF47-71BB-62E5B0B8AB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5" y="2024"/>
              <a:ext cx="998" cy="27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kumimoji="0" lang="en-US" altLang="zh-CN" sz="2400">
                  <a:latin typeface="Times New Roman" panose="02020603050405020304" pitchFamily="18" charset="0"/>
                </a:rPr>
                <a:t>Compiler</a:t>
              </a:r>
            </a:p>
          </p:txBody>
        </p:sp>
        <p:sp>
          <p:nvSpPr>
            <p:cNvPr id="25606" name="矩形 39941">
              <a:extLst>
                <a:ext uri="{FF2B5EF4-FFF2-40B4-BE49-F238E27FC236}">
                  <a16:creationId xmlns:a16="http://schemas.microsoft.com/office/drawing/2014/main" id="{983B762B-C49B-BF26-B367-E37CC2964B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" y="1933"/>
              <a:ext cx="726" cy="49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kumimoji="0" lang="en-US" altLang="zh-CN" sz="2400">
                  <a:latin typeface="Times New Roman" panose="02020603050405020304" pitchFamily="18" charset="0"/>
                </a:rPr>
                <a:t>Source</a:t>
              </a:r>
            </a:p>
            <a:p>
              <a:pPr algn="ct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kumimoji="0" lang="en-US" altLang="zh-CN" sz="2400">
                  <a:latin typeface="Times New Roman" panose="02020603050405020304" pitchFamily="18" charset="0"/>
                </a:rPr>
                <a:t>Program</a:t>
              </a:r>
            </a:p>
          </p:txBody>
        </p:sp>
        <p:sp>
          <p:nvSpPr>
            <p:cNvPr id="25607" name="矩形 39942">
              <a:extLst>
                <a:ext uri="{FF2B5EF4-FFF2-40B4-BE49-F238E27FC236}">
                  <a16:creationId xmlns:a16="http://schemas.microsoft.com/office/drawing/2014/main" id="{3C3417E4-B0DD-B3B7-0B8B-F7641C3338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3" y="1933"/>
              <a:ext cx="726" cy="49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kumimoji="0" lang="en-US" altLang="zh-CN" sz="2400">
                  <a:latin typeface="Times New Roman" panose="02020603050405020304" pitchFamily="18" charset="0"/>
                </a:rPr>
                <a:t>Target</a:t>
              </a:r>
            </a:p>
            <a:p>
              <a:pPr algn="ct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kumimoji="0" lang="en-US" altLang="zh-CN" sz="2400">
                  <a:latin typeface="Times New Roman" panose="02020603050405020304" pitchFamily="18" charset="0"/>
                </a:rPr>
                <a:t>Program</a:t>
              </a:r>
            </a:p>
          </p:txBody>
        </p:sp>
        <p:sp>
          <p:nvSpPr>
            <p:cNvPr id="25608" name="直接连接符 39943">
              <a:extLst>
                <a:ext uri="{FF2B5EF4-FFF2-40B4-BE49-F238E27FC236}">
                  <a16:creationId xmlns:a16="http://schemas.microsoft.com/office/drawing/2014/main" id="{5C0090CE-9251-A922-E9C0-1E79C483B2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9" y="2160"/>
              <a:ext cx="5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09" name="直接连接符 39944">
              <a:extLst>
                <a:ext uri="{FF2B5EF4-FFF2-40B4-BE49-F238E27FC236}">
                  <a16:creationId xmlns:a16="http://schemas.microsoft.com/office/drawing/2014/main" id="{AF592F35-7810-8556-6932-8787FE1B67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2160"/>
              <a:ext cx="5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5603" name="文本占位符 39938">
            <a:extLst>
              <a:ext uri="{FF2B5EF4-FFF2-40B4-BE49-F238E27FC236}">
                <a16:creationId xmlns:a16="http://schemas.microsoft.com/office/drawing/2014/main" id="{AE0FC4ED-C769-50D0-DA30-F6A66DE171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912" y="1905040"/>
            <a:ext cx="8686678" cy="3687704"/>
          </a:xfrm>
        </p:spPr>
        <p:txBody>
          <a:bodyPr/>
          <a:lstStyle/>
          <a:p>
            <a:pPr eaLnBrk="1" hangingPunct="1"/>
            <a:r>
              <a:rPr kumimoji="0" lang="en-US" altLang="zh-CN" sz="2800" dirty="0"/>
              <a:t>A  compiler is a program to </a:t>
            </a:r>
            <a:r>
              <a:rPr kumimoji="0" lang="en-US" altLang="zh-CN" sz="2800" dirty="0">
                <a:solidFill>
                  <a:srgbClr val="FF0000"/>
                </a:solidFill>
              </a:rPr>
              <a:t>translates one language to another</a:t>
            </a:r>
            <a:r>
              <a:rPr kumimoji="0" lang="en-US" altLang="zh-CN" sz="2800" dirty="0"/>
              <a:t> (due to abstraction of computing)</a:t>
            </a:r>
          </a:p>
          <a:p>
            <a:pPr eaLnBrk="1" hangingPunct="1">
              <a:buFont typeface="Arial" panose="020B0604020202020204" pitchFamily="34" charset="0"/>
              <a:buNone/>
            </a:pPr>
            <a:endParaRPr kumimoji="0" lang="en-US" altLang="zh-CN" sz="2800" dirty="0">
              <a:solidFill>
                <a:srgbClr val="FF0000"/>
              </a:solidFill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kumimoji="0" lang="en-US" altLang="zh-CN" sz="2800" dirty="0"/>
          </a:p>
          <a:p>
            <a:pPr eaLnBrk="1" hangingPunct="1">
              <a:spcBef>
                <a:spcPts val="2200"/>
              </a:spcBef>
            </a:pPr>
            <a:r>
              <a:rPr kumimoji="0" lang="en-US" altLang="zh-CN" sz="2800" dirty="0"/>
              <a:t>A compiler is a </a:t>
            </a:r>
            <a:r>
              <a:rPr kumimoji="0" lang="en-US" altLang="zh-CN" sz="2800" dirty="0">
                <a:solidFill>
                  <a:srgbClr val="FF0000"/>
                </a:solidFill>
              </a:rPr>
              <a:t>complex program</a:t>
            </a:r>
          </a:p>
          <a:p>
            <a:pPr lvl="2" eaLnBrk="1" hangingPunct="1"/>
            <a:r>
              <a:rPr kumimoji="0" lang="en-US" altLang="zh-CN" sz="2000" dirty="0"/>
              <a:t>From 10,000 to 1,000,000 lines of code</a:t>
            </a:r>
          </a:p>
          <a:p>
            <a:pPr lvl="2" eaLnBrk="1" hangingPunct="1"/>
            <a:r>
              <a:rPr kumimoji="0" lang="en-US" altLang="zh-CN" sz="2000" dirty="0" err="1"/>
              <a:t>gcc</a:t>
            </a:r>
            <a:r>
              <a:rPr kumimoji="0" lang="en-US" altLang="zh-CN" sz="2000" dirty="0"/>
              <a:t> has 7.5M lines of code</a:t>
            </a:r>
          </a:p>
        </p:txBody>
      </p:sp>
      <p:sp>
        <p:nvSpPr>
          <p:cNvPr id="25604" name="文本框 39945">
            <a:extLst>
              <a:ext uri="{FF2B5EF4-FFF2-40B4-BE49-F238E27FC236}">
                <a16:creationId xmlns:a16="http://schemas.microsoft.com/office/drawing/2014/main" id="{286EA3C1-4DC7-B67B-4814-EC16E2B4E5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76200"/>
            <a:ext cx="4800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None/>
            </a:pPr>
            <a:r>
              <a:rPr kumimoji="1" lang="en-US" altLang="zh-CN" sz="2000" dirty="0"/>
              <a:t>What</a:t>
            </a:r>
            <a:r>
              <a:rPr lang="en-US" altLang="zh-CN" sz="2000" dirty="0"/>
              <a:t>, </a:t>
            </a:r>
            <a:r>
              <a:rPr kumimoji="1" lang="en-US" altLang="zh-CN" sz="2000" dirty="0"/>
              <a:t>Why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and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How</a:t>
            </a:r>
            <a:r>
              <a:rPr lang="en-US" altLang="zh-CN" sz="2000" dirty="0"/>
              <a:t>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标题 39937">
            <a:extLst>
              <a:ext uri="{FF2B5EF4-FFF2-40B4-BE49-F238E27FC236}">
                <a16:creationId xmlns:a16="http://schemas.microsoft.com/office/drawing/2014/main" id="{7B1600FC-3A44-3035-83BC-7DA854B446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85800"/>
            <a:ext cx="8229600" cy="1143000"/>
          </a:xfrm>
        </p:spPr>
        <p:txBody>
          <a:bodyPr/>
          <a:lstStyle/>
          <a:p>
            <a:pPr eaLnBrk="1" hangingPunct="1"/>
            <a:r>
              <a:rPr kumimoji="0" lang="en-US" altLang="zh-CN" dirty="0"/>
              <a:t>Why</a:t>
            </a:r>
            <a:r>
              <a:rPr kumimoji="0" lang="zh-CN" altLang="en-US" dirty="0"/>
              <a:t> </a:t>
            </a:r>
            <a:r>
              <a:rPr kumimoji="0" lang="en-US" altLang="zh-CN" dirty="0"/>
              <a:t>should</a:t>
            </a:r>
            <a:r>
              <a:rPr kumimoji="0" lang="zh-CN" altLang="en-US" dirty="0"/>
              <a:t> </a:t>
            </a:r>
            <a:r>
              <a:rPr kumimoji="0" lang="en-US" altLang="zh-CN" dirty="0"/>
              <a:t>we</a:t>
            </a:r>
            <a:r>
              <a:rPr kumimoji="0" lang="zh-CN" altLang="en-US" dirty="0"/>
              <a:t> </a:t>
            </a:r>
            <a:r>
              <a:rPr kumimoji="0" lang="en-US" altLang="zh-CN" dirty="0"/>
              <a:t>learn</a:t>
            </a:r>
            <a:r>
              <a:rPr kumimoji="0" lang="zh-CN" altLang="en-US" dirty="0"/>
              <a:t> </a:t>
            </a:r>
            <a:r>
              <a:rPr kumimoji="0" lang="en-US" altLang="zh-CN" dirty="0"/>
              <a:t>compilers?</a:t>
            </a:r>
          </a:p>
        </p:txBody>
      </p:sp>
      <p:sp>
        <p:nvSpPr>
          <p:cNvPr id="25603" name="文本占位符 39938">
            <a:extLst>
              <a:ext uri="{FF2B5EF4-FFF2-40B4-BE49-F238E27FC236}">
                <a16:creationId xmlns:a16="http://schemas.microsoft.com/office/drawing/2014/main" id="{AE0FC4ED-C769-50D0-DA30-F6A66DE171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56" y="1951038"/>
            <a:ext cx="8839088" cy="4678278"/>
          </a:xfrm>
        </p:spPr>
        <p:txBody>
          <a:bodyPr/>
          <a:lstStyle/>
          <a:p>
            <a:pPr eaLnBrk="1" hangingPunct="1">
              <a:spcAft>
                <a:spcPts val="1200"/>
              </a:spcAft>
            </a:pPr>
            <a:r>
              <a:rPr kumimoji="0" lang="en-US" altLang="zh-CN" sz="2800" dirty="0"/>
              <a:t>Compilers</a:t>
            </a:r>
            <a:r>
              <a:rPr kumimoji="0" lang="zh-CN" altLang="en-US" sz="2800" dirty="0"/>
              <a:t> </a:t>
            </a:r>
            <a:r>
              <a:rPr kumimoji="0" lang="en-US" altLang="zh-CN" sz="2800" dirty="0"/>
              <a:t>are</a:t>
            </a:r>
            <a:r>
              <a:rPr kumimoji="0" lang="zh-CN" altLang="en-US" sz="2800" dirty="0"/>
              <a:t> </a:t>
            </a:r>
            <a:r>
              <a:rPr kumimoji="0" lang="en-US" altLang="zh-CN" sz="2800" dirty="0"/>
              <a:t>used</a:t>
            </a:r>
            <a:r>
              <a:rPr kumimoji="0" lang="zh-CN" altLang="en-US" sz="2800" dirty="0"/>
              <a:t> </a:t>
            </a:r>
            <a:r>
              <a:rPr kumimoji="0" lang="en-US" altLang="zh-CN" sz="2800" dirty="0"/>
              <a:t>in</a:t>
            </a:r>
            <a:r>
              <a:rPr kumimoji="0" lang="zh-CN" altLang="en-US" sz="2800" dirty="0"/>
              <a:t> </a:t>
            </a:r>
            <a:r>
              <a:rPr kumimoji="0" lang="en-US" altLang="zh-CN" sz="2800" dirty="0"/>
              <a:t>almost</a:t>
            </a:r>
            <a:r>
              <a:rPr kumimoji="0" lang="zh-CN" altLang="en-US" sz="2800" dirty="0"/>
              <a:t> </a:t>
            </a:r>
            <a:r>
              <a:rPr kumimoji="0" lang="en-US" altLang="zh-CN" sz="2800" dirty="0"/>
              <a:t>all</a:t>
            </a:r>
            <a:r>
              <a:rPr kumimoji="0" lang="zh-CN" altLang="en-US" sz="2800" dirty="0"/>
              <a:t> </a:t>
            </a:r>
            <a:r>
              <a:rPr kumimoji="0" lang="en-US" altLang="zh-CN" sz="2800" dirty="0"/>
              <a:t>forms</a:t>
            </a:r>
            <a:r>
              <a:rPr kumimoji="0" lang="zh-CN" altLang="en-US" sz="2800" dirty="0"/>
              <a:t> </a:t>
            </a:r>
            <a:r>
              <a:rPr kumimoji="0" lang="en-US" altLang="zh-CN" sz="2800" dirty="0"/>
              <a:t>of</a:t>
            </a:r>
            <a:r>
              <a:rPr kumimoji="0" lang="zh-CN" altLang="en-US" sz="2800" dirty="0"/>
              <a:t> </a:t>
            </a:r>
            <a:r>
              <a:rPr kumimoji="0" lang="en-US" altLang="zh-CN" sz="2800" dirty="0"/>
              <a:t>computing</a:t>
            </a:r>
          </a:p>
          <a:p>
            <a:pPr eaLnBrk="1" hangingPunct="1"/>
            <a:r>
              <a:rPr kumimoji="0" lang="en-US" altLang="zh-CN" sz="2800" dirty="0"/>
              <a:t>The</a:t>
            </a:r>
            <a:r>
              <a:rPr kumimoji="0" lang="zh-CN" altLang="en-US" sz="2800" dirty="0"/>
              <a:t> </a:t>
            </a:r>
            <a:r>
              <a:rPr kumimoji="0" lang="en-US" altLang="zh-CN" sz="2800" dirty="0"/>
              <a:t>principles</a:t>
            </a:r>
            <a:r>
              <a:rPr kumimoji="0" lang="zh-CN" altLang="en-US" sz="2800" dirty="0"/>
              <a:t> </a:t>
            </a:r>
            <a:r>
              <a:rPr kumimoji="0" lang="en-US" altLang="zh-CN" sz="2800" dirty="0"/>
              <a:t>and</a:t>
            </a:r>
            <a:r>
              <a:rPr kumimoji="0" lang="zh-CN" altLang="en-US" sz="2800" dirty="0"/>
              <a:t> </a:t>
            </a:r>
            <a:r>
              <a:rPr kumimoji="0" lang="en-US" altLang="zh-CN" sz="2800" dirty="0"/>
              <a:t>techniques</a:t>
            </a:r>
            <a:r>
              <a:rPr kumimoji="0" lang="zh-CN" altLang="en-US" sz="2800" dirty="0"/>
              <a:t> </a:t>
            </a:r>
            <a:r>
              <a:rPr kumimoji="0" lang="en-US" altLang="zh-CN" sz="2800" dirty="0"/>
              <a:t>are</a:t>
            </a:r>
            <a:r>
              <a:rPr kumimoji="0" lang="zh-CN" altLang="en-US" sz="2800" dirty="0"/>
              <a:t> </a:t>
            </a:r>
            <a:r>
              <a:rPr kumimoji="0" lang="en-US" altLang="zh-CN" sz="2800" dirty="0"/>
              <a:t>applicable</a:t>
            </a:r>
            <a:r>
              <a:rPr kumimoji="0" lang="zh-CN" altLang="en-US" sz="2800" dirty="0"/>
              <a:t> </a:t>
            </a:r>
            <a:r>
              <a:rPr kumimoji="0" lang="en-US" altLang="zh-CN" sz="2800" dirty="0"/>
              <a:t>to</a:t>
            </a:r>
            <a:r>
              <a:rPr kumimoji="0" lang="zh-CN" altLang="en-US" sz="2800" dirty="0"/>
              <a:t> </a:t>
            </a:r>
            <a:r>
              <a:rPr kumimoji="0" lang="en-US" altLang="zh-CN" sz="2800" dirty="0"/>
              <a:t>so</a:t>
            </a:r>
            <a:r>
              <a:rPr kumimoji="0" lang="zh-CN" altLang="en-US" sz="2800" dirty="0"/>
              <a:t> </a:t>
            </a:r>
            <a:r>
              <a:rPr kumimoji="0" lang="en-US" altLang="zh-CN" sz="2800" dirty="0"/>
              <a:t>many</a:t>
            </a:r>
            <a:r>
              <a:rPr kumimoji="0" lang="zh-CN" altLang="en-US" sz="2800" dirty="0"/>
              <a:t> </a:t>
            </a:r>
            <a:r>
              <a:rPr kumimoji="0" lang="en-US" altLang="zh-CN" sz="2800" dirty="0"/>
              <a:t>other</a:t>
            </a:r>
            <a:r>
              <a:rPr kumimoji="0" lang="zh-CN" altLang="en-US" sz="2800" dirty="0"/>
              <a:t> </a:t>
            </a:r>
            <a:r>
              <a:rPr kumimoji="0" lang="en-US" altLang="zh-CN" sz="2800" dirty="0"/>
              <a:t>domains:</a:t>
            </a:r>
          </a:p>
          <a:p>
            <a:pPr lvl="1" eaLnBrk="1" hangingPunct="1">
              <a:spcAft>
                <a:spcPts val="1200"/>
              </a:spcAft>
            </a:pPr>
            <a:r>
              <a:rPr kumimoji="0" lang="en-US" altLang="zh-CN" sz="2400" dirty="0"/>
              <a:t>Command</a:t>
            </a:r>
            <a:r>
              <a:rPr kumimoji="0" lang="zh-CN" altLang="en-US" sz="2400" dirty="0"/>
              <a:t> </a:t>
            </a:r>
            <a:r>
              <a:rPr kumimoji="0" lang="en-US" altLang="zh-CN" sz="2400" dirty="0"/>
              <a:t>interpreters</a:t>
            </a:r>
            <a:r>
              <a:rPr kumimoji="0" lang="zh-CN" altLang="en-US" sz="2400" dirty="0"/>
              <a:t> </a:t>
            </a:r>
            <a:r>
              <a:rPr kumimoji="0" lang="en-US" altLang="zh-CN" sz="2400" dirty="0"/>
              <a:t>and</a:t>
            </a:r>
            <a:r>
              <a:rPr kumimoji="0" lang="zh-CN" altLang="en-US" sz="2400" dirty="0"/>
              <a:t> </a:t>
            </a:r>
            <a:r>
              <a:rPr kumimoji="0" lang="en-US" altLang="zh-CN" sz="2400" dirty="0"/>
              <a:t>interface</a:t>
            </a:r>
            <a:r>
              <a:rPr kumimoji="0" lang="zh-CN" altLang="en-US" sz="2400" dirty="0"/>
              <a:t> </a:t>
            </a:r>
            <a:r>
              <a:rPr kumimoji="0" lang="en-US" altLang="zh-CN" sz="2400" dirty="0"/>
              <a:t>programs</a:t>
            </a:r>
          </a:p>
          <a:p>
            <a:pPr eaLnBrk="1" hangingPunct="1"/>
            <a:r>
              <a:rPr kumimoji="0" lang="en-US" altLang="zh-CN" sz="2800" dirty="0"/>
              <a:t>Compiler</a:t>
            </a:r>
            <a:r>
              <a:rPr kumimoji="0" lang="zh-CN" altLang="en-US" sz="2800" dirty="0"/>
              <a:t> </a:t>
            </a:r>
            <a:r>
              <a:rPr kumimoji="0" lang="en-US" altLang="zh-CN" sz="2800" dirty="0"/>
              <a:t>construction</a:t>
            </a:r>
            <a:r>
              <a:rPr kumimoji="0" lang="zh-CN" altLang="en-US" sz="2800" dirty="0"/>
              <a:t> </a:t>
            </a:r>
            <a:r>
              <a:rPr kumimoji="0" lang="en-US" altLang="zh-CN" sz="2800" dirty="0"/>
              <a:t>touches</a:t>
            </a:r>
            <a:r>
              <a:rPr kumimoji="0" lang="zh-CN" altLang="en-US" sz="2800" dirty="0"/>
              <a:t> </a:t>
            </a:r>
            <a:r>
              <a:rPr kumimoji="0" lang="en-US" altLang="zh-CN" sz="2800" dirty="0"/>
              <a:t>upon</a:t>
            </a:r>
            <a:r>
              <a:rPr kumimoji="0" lang="zh-CN" altLang="en-US" sz="2800" dirty="0"/>
              <a:t> </a:t>
            </a:r>
            <a:r>
              <a:rPr kumimoji="0" lang="en-US" altLang="zh-CN" sz="2800" dirty="0"/>
              <a:t>other</a:t>
            </a:r>
            <a:r>
              <a:rPr kumimoji="0" lang="zh-CN" altLang="en-US" sz="2800" dirty="0"/>
              <a:t> </a:t>
            </a:r>
            <a:r>
              <a:rPr kumimoji="0" lang="en-US" altLang="zh-CN" sz="2800" dirty="0"/>
              <a:t>fields:</a:t>
            </a:r>
          </a:p>
          <a:p>
            <a:pPr lvl="1" eaLnBrk="1" hangingPunct="1"/>
            <a:r>
              <a:rPr kumimoji="0" lang="en-US" altLang="zh-CN" sz="2400" dirty="0"/>
              <a:t>Theoretical CS (automata, fixed-point iteration)</a:t>
            </a:r>
          </a:p>
          <a:p>
            <a:pPr lvl="1" eaLnBrk="1" hangingPunct="1"/>
            <a:r>
              <a:rPr kumimoji="0" lang="en-US" altLang="zh-CN" sz="2400" dirty="0"/>
              <a:t>Programing</a:t>
            </a:r>
            <a:r>
              <a:rPr kumimoji="0" lang="zh-CN" altLang="en-US" sz="2400" dirty="0"/>
              <a:t> </a:t>
            </a:r>
            <a:r>
              <a:rPr kumimoji="0" lang="en-US" altLang="zh-CN" sz="2400" dirty="0"/>
              <a:t>languages (type system, formal semantics)</a:t>
            </a:r>
          </a:p>
          <a:p>
            <a:pPr lvl="1" eaLnBrk="1" hangingPunct="1"/>
            <a:r>
              <a:rPr kumimoji="0" lang="en-US" altLang="zh-CN" sz="2400" dirty="0"/>
              <a:t>Machine</a:t>
            </a:r>
            <a:r>
              <a:rPr kumimoji="0" lang="zh-CN" altLang="en-US" sz="2400" dirty="0"/>
              <a:t> </a:t>
            </a:r>
            <a:r>
              <a:rPr kumimoji="0" lang="en-US" altLang="zh-CN" sz="2400" dirty="0"/>
              <a:t>architecture (memory management, instr. set)</a:t>
            </a:r>
          </a:p>
          <a:p>
            <a:pPr lvl="1" eaLnBrk="1" hangingPunct="1"/>
            <a:r>
              <a:rPr kumimoji="0" lang="en-US" altLang="zh-CN" sz="2400" dirty="0"/>
              <a:t>Algorithms (traversal over trees/graphs, dynamic prog.)</a:t>
            </a:r>
          </a:p>
        </p:txBody>
      </p:sp>
      <p:sp>
        <p:nvSpPr>
          <p:cNvPr id="25604" name="文本框 39945">
            <a:extLst>
              <a:ext uri="{FF2B5EF4-FFF2-40B4-BE49-F238E27FC236}">
                <a16:creationId xmlns:a16="http://schemas.microsoft.com/office/drawing/2014/main" id="{286EA3C1-4DC7-B67B-4814-EC16E2B4E5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76200"/>
            <a:ext cx="4800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None/>
            </a:pPr>
            <a:r>
              <a:rPr kumimoji="1" lang="en-US" altLang="zh-CN" sz="2000" dirty="0"/>
              <a:t>What</a:t>
            </a:r>
            <a:r>
              <a:rPr lang="en-US" altLang="zh-CN" sz="2000" dirty="0"/>
              <a:t>, </a:t>
            </a:r>
            <a:r>
              <a:rPr kumimoji="1" lang="en-US" altLang="zh-CN" sz="2000" dirty="0"/>
              <a:t>Why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and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How</a:t>
            </a:r>
            <a:r>
              <a:rPr lang="en-US" altLang="zh-CN" sz="2000" dirty="0"/>
              <a:t>?</a:t>
            </a:r>
          </a:p>
        </p:txBody>
      </p:sp>
      <p:sp>
        <p:nvSpPr>
          <p:cNvPr id="3" name="object 17">
            <a:extLst>
              <a:ext uri="{FF2B5EF4-FFF2-40B4-BE49-F238E27FC236}">
                <a16:creationId xmlns:a16="http://schemas.microsoft.com/office/drawing/2014/main" id="{338438A3-D366-8506-5B64-A0D075B6885B}"/>
              </a:ext>
            </a:extLst>
          </p:cNvPr>
          <p:cNvSpPr txBox="1"/>
          <p:nvPr/>
        </p:nvSpPr>
        <p:spPr>
          <a:xfrm>
            <a:off x="685902" y="5181554"/>
            <a:ext cx="7772196" cy="1221974"/>
          </a:xfrm>
          <a:prstGeom prst="rect">
            <a:avLst/>
          </a:prstGeom>
          <a:solidFill>
            <a:schemeClr val="bg1"/>
          </a:solidFill>
          <a:ln w="25400">
            <a:solidFill>
              <a:srgbClr val="0070C0"/>
            </a:solidFill>
          </a:ln>
        </p:spPr>
        <p:txBody>
          <a:bodyPr vert="horz" wrap="square" lIns="72000" tIns="144000" rIns="0" bIns="72000" rtlCol="0">
            <a:spAutoFit/>
          </a:bodyPr>
          <a:lstStyle/>
          <a:p>
            <a:pPr marL="68580" marR="137160" indent="285750" algn="just">
              <a:lnSpc>
                <a:spcPct val="101099"/>
              </a:lnSpc>
              <a:spcBef>
                <a:spcPts val="225"/>
              </a:spcBef>
              <a:spcAft>
                <a:spcPts val="1200"/>
              </a:spcAft>
            </a:pPr>
            <a:r>
              <a:rPr sz="1800" spc="11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“</a:t>
            </a:r>
            <a:r>
              <a:rPr sz="1800" spc="85" dirty="0" err="1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编写编译器的原理和技术具有</a:t>
            </a:r>
            <a:r>
              <a:rPr sz="1800" b="1" spc="85" dirty="0" err="1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普遍意义</a:t>
            </a:r>
            <a:r>
              <a:rPr sz="1800" spc="85" dirty="0" err="1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，以至于每个计算机科</a:t>
            </a:r>
            <a:r>
              <a:rPr sz="1800" spc="55" dirty="0" err="1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学家的研究生涯中</a:t>
            </a:r>
            <a:r>
              <a:rPr lang="en-US" spc="55" dirty="0" err="1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都会</a:t>
            </a:r>
            <a:r>
              <a:rPr lang="en-US" b="1" spc="55" dirty="0" err="1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反复用到</a:t>
            </a:r>
            <a:r>
              <a:rPr sz="1800" spc="55" dirty="0" err="1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该原理和技术</a:t>
            </a:r>
            <a:r>
              <a:rPr sz="1800" spc="-1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。</a:t>
            </a:r>
            <a:r>
              <a:rPr sz="1800" spc="-5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”</a:t>
            </a:r>
            <a:endParaRPr lang="en-US" spc="-50" dirty="0">
              <a:solidFill>
                <a:srgbClr val="0070C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</a:endParaRPr>
          </a:p>
          <a:p>
            <a:pPr marL="68580" marR="137160" indent="285750" algn="r">
              <a:lnSpc>
                <a:spcPct val="101099"/>
              </a:lnSpc>
              <a:spcBef>
                <a:spcPts val="225"/>
              </a:spcBef>
            </a:pPr>
            <a:r>
              <a:rPr sz="180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——</a:t>
            </a:r>
            <a:r>
              <a:rPr lang="zh-CN" altLang="en-US" sz="1800" spc="-35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 </a:t>
            </a:r>
            <a:r>
              <a:rPr sz="1800" spc="-5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Alfred</a:t>
            </a:r>
            <a:r>
              <a:rPr sz="1800" spc="-9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 </a:t>
            </a:r>
            <a:r>
              <a:rPr sz="1800" spc="-1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V.</a:t>
            </a:r>
            <a:r>
              <a:rPr lang="en-US" sz="1800" spc="-1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 </a:t>
            </a:r>
            <a:r>
              <a:rPr sz="1800" spc="-10" dirty="0" err="1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Aho</a:t>
            </a:r>
            <a:endParaRPr sz="1800" dirty="0">
              <a:solidFill>
                <a:srgbClr val="0070C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6430445-8614-132F-5F5E-F3B079C75FD0}"/>
              </a:ext>
            </a:extLst>
          </p:cNvPr>
          <p:cNvSpPr txBox="1"/>
          <p:nvPr/>
        </p:nvSpPr>
        <p:spPr>
          <a:xfrm>
            <a:off x="2486526" y="53420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1761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文本占位符 40962">
            <a:extLst>
              <a:ext uri="{FF2B5EF4-FFF2-40B4-BE49-F238E27FC236}">
                <a16:creationId xmlns:a16="http://schemas.microsoft.com/office/drawing/2014/main" id="{0EF8B626-93D5-5FB6-DB24-BD79B60930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2081644"/>
            <a:ext cx="8229600" cy="4395276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kumimoji="0" lang="en-US" altLang="zh-CN" sz="2800" b="1" dirty="0"/>
              <a:t>Lectures</a:t>
            </a:r>
            <a:r>
              <a:rPr kumimoji="0" lang="zh-CN" altLang="en-US" sz="2800" b="1" dirty="0"/>
              <a:t> </a:t>
            </a:r>
            <a:r>
              <a:rPr kumimoji="0" lang="en-US" altLang="zh-CN" sz="2800" b="1" dirty="0"/>
              <a:t>describe</a:t>
            </a:r>
          </a:p>
          <a:p>
            <a:pPr lvl="1" eaLnBrk="1" hangingPunct="1">
              <a:spcBef>
                <a:spcPct val="50000"/>
              </a:spcBef>
            </a:pPr>
            <a:r>
              <a:rPr kumimoji="0" lang="en-US" altLang="zh-CN" sz="2400" b="1" dirty="0">
                <a:solidFill>
                  <a:srgbClr val="FF0000"/>
                </a:solidFill>
              </a:rPr>
              <a:t>Techniques</a:t>
            </a:r>
          </a:p>
          <a:p>
            <a:pPr lvl="1" eaLnBrk="1" hangingPunct="1">
              <a:spcBef>
                <a:spcPct val="50000"/>
              </a:spcBef>
            </a:pPr>
            <a:r>
              <a:rPr kumimoji="0" lang="en-US" altLang="zh-CN" sz="2400" b="1" dirty="0">
                <a:solidFill>
                  <a:srgbClr val="FF0000"/>
                </a:solidFill>
              </a:rPr>
              <a:t>Data structures</a:t>
            </a:r>
            <a:r>
              <a:rPr kumimoji="0" lang="en-US" altLang="zh-CN" sz="2400" b="1" dirty="0"/>
              <a:t> </a:t>
            </a:r>
          </a:p>
          <a:p>
            <a:pPr lvl="1" eaLnBrk="1" hangingPunct="1">
              <a:spcBef>
                <a:spcPct val="50000"/>
              </a:spcBef>
            </a:pPr>
            <a:r>
              <a:rPr kumimoji="0" lang="en-US" altLang="zh-CN" sz="2400" b="1" dirty="0">
                <a:solidFill>
                  <a:srgbClr val="FF0000"/>
                </a:solidFill>
              </a:rPr>
              <a:t>Algorithms</a:t>
            </a:r>
            <a:r>
              <a:rPr kumimoji="0" lang="en-US" altLang="zh-CN" sz="2400" b="1" dirty="0"/>
              <a:t> </a:t>
            </a:r>
          </a:p>
          <a:p>
            <a:pPr eaLnBrk="1" hangingPunct="1">
              <a:spcBef>
                <a:spcPts val="4800"/>
              </a:spcBef>
            </a:pPr>
            <a:r>
              <a:rPr kumimoji="0" lang="en-US" altLang="zh-CN" sz="2800" b="1" dirty="0"/>
              <a:t>Course</a:t>
            </a:r>
            <a:r>
              <a:rPr kumimoji="0" lang="zh-CN" altLang="en-US" sz="2800" b="1" dirty="0"/>
              <a:t> </a:t>
            </a:r>
            <a:r>
              <a:rPr kumimoji="0" lang="en-US" altLang="zh-CN" sz="2800" b="1" dirty="0"/>
              <a:t>project</a:t>
            </a:r>
            <a:r>
              <a:rPr kumimoji="0" lang="zh-CN" altLang="en-US" sz="2800" b="1" dirty="0"/>
              <a:t> </a:t>
            </a:r>
            <a:r>
              <a:rPr kumimoji="0" lang="en-US" altLang="zh-CN" sz="2800" b="1" dirty="0"/>
              <a:t>aims</a:t>
            </a:r>
            <a:r>
              <a:rPr kumimoji="0" lang="zh-CN" altLang="en-US" sz="2800" b="1" dirty="0"/>
              <a:t> </a:t>
            </a:r>
            <a:r>
              <a:rPr kumimoji="0" lang="en-US" altLang="zh-CN" sz="2800" b="1" dirty="0"/>
              <a:t>to</a:t>
            </a:r>
            <a:r>
              <a:rPr kumimoji="0" lang="zh-CN" altLang="en-US" sz="2800" b="1" dirty="0"/>
              <a:t> </a:t>
            </a:r>
            <a:r>
              <a:rPr kumimoji="0" lang="en-US" altLang="zh-CN" sz="2800" b="1" dirty="0"/>
              <a:t>implement</a:t>
            </a:r>
            <a:r>
              <a:rPr kumimoji="0" lang="zh-CN" altLang="en-US" sz="2800" b="1" dirty="0"/>
              <a:t> </a:t>
            </a:r>
            <a:r>
              <a:rPr kumimoji="0" lang="en-US" altLang="zh-CN" sz="2800" b="1" dirty="0"/>
              <a:t>a</a:t>
            </a:r>
            <a:r>
              <a:rPr kumimoji="0" lang="zh-CN" altLang="en-US" sz="2800" b="1" dirty="0"/>
              <a:t> </a:t>
            </a:r>
            <a:r>
              <a:rPr kumimoji="0" lang="en-US" altLang="zh-CN" sz="2800" b="1" dirty="0"/>
              <a:t>compiler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endParaRPr kumimoji="0" lang="en-US" altLang="zh-CN" sz="2800" b="1" dirty="0"/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endParaRPr kumimoji="0" lang="en-US" altLang="zh-CN" sz="2800" b="1" dirty="0"/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endParaRPr kumimoji="0" lang="en-US" altLang="zh-CN" sz="2800" b="1" dirty="0"/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endParaRPr kumimoji="0" lang="en-US" altLang="zh-CN" sz="2800" b="1" dirty="0"/>
          </a:p>
        </p:txBody>
      </p:sp>
      <p:sp>
        <p:nvSpPr>
          <p:cNvPr id="26627" name="文本框 40963">
            <a:extLst>
              <a:ext uri="{FF2B5EF4-FFF2-40B4-BE49-F238E27FC236}">
                <a16:creationId xmlns:a16="http://schemas.microsoft.com/office/drawing/2014/main" id="{39E36024-498C-E98C-5EA2-5112AD435D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76200"/>
            <a:ext cx="4800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None/>
            </a:pPr>
            <a:r>
              <a:rPr kumimoji="1" lang="en-US" altLang="zh-CN" sz="2000" dirty="0"/>
              <a:t>What</a:t>
            </a:r>
            <a:r>
              <a:rPr lang="en-US" altLang="zh-CN" sz="2000" dirty="0"/>
              <a:t>, </a:t>
            </a:r>
            <a:r>
              <a:rPr kumimoji="1" lang="en-US" altLang="zh-CN" sz="2000" dirty="0"/>
              <a:t>Why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and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How</a:t>
            </a:r>
            <a:r>
              <a:rPr lang="en-US" altLang="zh-CN" sz="2000" dirty="0"/>
              <a:t>?</a:t>
            </a:r>
          </a:p>
        </p:txBody>
      </p:sp>
      <p:sp>
        <p:nvSpPr>
          <p:cNvPr id="3" name="标题 39937">
            <a:extLst>
              <a:ext uri="{FF2B5EF4-FFF2-40B4-BE49-F238E27FC236}">
                <a16:creationId xmlns:a16="http://schemas.microsoft.com/office/drawing/2014/main" id="{15ABF258-B45D-E7B5-FEDC-A5A3C5A0B5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858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4400" kern="1200">
                <a:solidFill>
                  <a:schemeClr val="tx2"/>
                </a:solidFill>
                <a:latin typeface="+mj-lt"/>
                <a:ea typeface="+mj-ea"/>
                <a:cs typeface="宋体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4400">
                <a:solidFill>
                  <a:schemeClr val="tx2"/>
                </a:solidFill>
                <a:latin typeface="Arial" charset="0"/>
                <a:ea typeface="宋体" charset="0"/>
                <a:cs typeface="宋体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4400">
                <a:solidFill>
                  <a:schemeClr val="tx2"/>
                </a:solidFill>
                <a:latin typeface="Arial" charset="0"/>
                <a:ea typeface="宋体" charset="0"/>
                <a:cs typeface="宋体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4400">
                <a:solidFill>
                  <a:schemeClr val="tx2"/>
                </a:solidFill>
                <a:latin typeface="Arial" charset="0"/>
                <a:ea typeface="宋体" charset="0"/>
                <a:cs typeface="宋体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4400">
                <a:solidFill>
                  <a:schemeClr val="tx2"/>
                </a:solidFill>
                <a:latin typeface="Arial" charset="0"/>
                <a:ea typeface="宋体" charset="0"/>
                <a:cs typeface="宋体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buFont typeface="Arial" charset="0"/>
              <a:defRPr sz="4400">
                <a:solidFill>
                  <a:schemeClr val="tx2"/>
                </a:solidFill>
                <a:latin typeface="Arial" charset="0"/>
                <a:ea typeface="宋体" charset="0"/>
                <a:cs typeface="宋体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buFont typeface="Arial" charset="0"/>
              <a:defRPr sz="4400">
                <a:solidFill>
                  <a:schemeClr val="tx2"/>
                </a:solidFill>
                <a:latin typeface="Arial" charset="0"/>
                <a:ea typeface="宋体" charset="0"/>
                <a:cs typeface="宋体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buFont typeface="Arial" charset="0"/>
              <a:defRPr sz="4400">
                <a:solidFill>
                  <a:schemeClr val="tx2"/>
                </a:solidFill>
                <a:latin typeface="Arial" charset="0"/>
                <a:ea typeface="宋体" charset="0"/>
                <a:cs typeface="宋体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buFont typeface="Arial" charset="0"/>
              <a:defRPr sz="4400">
                <a:solidFill>
                  <a:schemeClr val="tx2"/>
                </a:solidFill>
                <a:latin typeface="Arial" charset="0"/>
                <a:ea typeface="宋体" charset="0"/>
                <a:cs typeface="宋体" charset="0"/>
              </a:defRPr>
            </a:lvl9pPr>
          </a:lstStyle>
          <a:p>
            <a:pPr eaLnBrk="1" hangingPunct="1"/>
            <a:r>
              <a:rPr kumimoji="0" lang="en-US" altLang="zh-CN" dirty="0"/>
              <a:t>How</a:t>
            </a:r>
            <a:r>
              <a:rPr kumimoji="0" lang="zh-CN" altLang="en-US" dirty="0"/>
              <a:t> </a:t>
            </a:r>
            <a:r>
              <a:rPr kumimoji="0" lang="en-US" altLang="zh-CN" dirty="0"/>
              <a:t>to</a:t>
            </a:r>
            <a:r>
              <a:rPr kumimoji="0" lang="zh-CN" altLang="en-US" dirty="0"/>
              <a:t> </a:t>
            </a:r>
            <a:r>
              <a:rPr kumimoji="0" lang="en-US" altLang="zh-CN" dirty="0"/>
              <a:t>learn</a:t>
            </a:r>
            <a:r>
              <a:rPr kumimoji="0" lang="zh-CN" altLang="en-US" dirty="0"/>
              <a:t> </a:t>
            </a:r>
            <a:r>
              <a:rPr kumimoji="0" lang="en-US" altLang="zh-CN" dirty="0"/>
              <a:t>compilers?</a:t>
            </a:r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218D461E-A596-84A8-ED6D-FC76B71B3A09}"/>
              </a:ext>
            </a:extLst>
          </p:cNvPr>
          <p:cNvSpPr/>
          <p:nvPr/>
        </p:nvSpPr>
        <p:spPr>
          <a:xfrm>
            <a:off x="5257782" y="2286030"/>
            <a:ext cx="1904950" cy="60958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zh-CN" sz="1800" b="1" dirty="0"/>
              <a:t>computer programs</a:t>
            </a:r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ACAEB773-C3D5-DCD2-3546-2A447D2BF3A8}"/>
              </a:ext>
            </a:extLst>
          </p:cNvPr>
          <p:cNvSpPr/>
          <p:nvPr/>
        </p:nvSpPr>
        <p:spPr>
          <a:xfrm>
            <a:off x="5257782" y="3771891"/>
            <a:ext cx="1904950" cy="60958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zh-CN" sz="1800" b="1" dirty="0"/>
              <a:t>executable code</a:t>
            </a:r>
            <a:endParaRPr kumimoji="1" lang="zh-CN" altLang="en-US" dirty="0"/>
          </a:p>
        </p:txBody>
      </p:sp>
      <p:sp>
        <p:nvSpPr>
          <p:cNvPr id="5" name="右大括号 4">
            <a:extLst>
              <a:ext uri="{FF2B5EF4-FFF2-40B4-BE49-F238E27FC236}">
                <a16:creationId xmlns:a16="http://schemas.microsoft.com/office/drawing/2014/main" id="{8B9B9049-8970-F2C2-2167-4DA6C3062FD3}"/>
              </a:ext>
            </a:extLst>
          </p:cNvPr>
          <p:cNvSpPr/>
          <p:nvPr/>
        </p:nvSpPr>
        <p:spPr>
          <a:xfrm>
            <a:off x="4099578" y="2819416"/>
            <a:ext cx="457188" cy="1295366"/>
          </a:xfrm>
          <a:prstGeom prst="rightBrac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9688BE98-E270-9888-3A55-87D21444561F}"/>
              </a:ext>
            </a:extLst>
          </p:cNvPr>
          <p:cNvCxnSpPr>
            <a:stCxn id="2" idx="2"/>
            <a:endCxn id="4" idx="0"/>
          </p:cNvCxnSpPr>
          <p:nvPr/>
        </p:nvCxnSpPr>
        <p:spPr>
          <a:xfrm>
            <a:off x="6210257" y="2895614"/>
            <a:ext cx="0" cy="876277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B7144D-4A2D-2B6E-71E6-453EB8621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Outline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36E1EB-D317-DA98-A33F-FBC82953A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</a:rPr>
              <a:t>What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</a:rPr>
              <a:t>Why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</a:rPr>
              <a:t>and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</a:rPr>
              <a:t>How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?</a:t>
            </a:r>
          </a:p>
          <a:p>
            <a:pPr lvl="1"/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</a:rPr>
              <a:t>What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</a:rPr>
              <a:t>is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</a:rPr>
              <a:t>a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</a:rPr>
              <a:t>compiler?</a:t>
            </a:r>
          </a:p>
          <a:p>
            <a:pPr lvl="1"/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</a:rPr>
              <a:t>Why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do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we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need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to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learn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compilers?</a:t>
            </a:r>
          </a:p>
          <a:p>
            <a:pPr lvl="1"/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</a:rPr>
              <a:t>How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</a:rPr>
              <a:t>to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</a:rPr>
              <a:t>learn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compilers?</a:t>
            </a:r>
          </a:p>
          <a:p>
            <a:pPr lvl="1"/>
            <a:endParaRPr lang="en-US" altLang="zh-CN" dirty="0"/>
          </a:p>
          <a:p>
            <a:r>
              <a:rPr lang="en-US" altLang="zh-CN" dirty="0"/>
              <a:t>Typical Workflow of a Compiler</a:t>
            </a:r>
          </a:p>
          <a:p>
            <a:endParaRPr lang="en-US" altLang="zh-CN" dirty="0"/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Modules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and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Interfaces in Tiger</a:t>
            </a:r>
          </a:p>
        </p:txBody>
      </p:sp>
    </p:spTree>
    <p:extLst>
      <p:ext uri="{BB962C8B-B14F-4D97-AF65-F5344CB8AC3E}">
        <p14:creationId xmlns:p14="http://schemas.microsoft.com/office/powerpoint/2010/main" val="11492312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文本框 9221">
            <a:extLst>
              <a:ext uri="{FF2B5EF4-FFF2-40B4-BE49-F238E27FC236}">
                <a16:creationId xmlns:a16="http://schemas.microsoft.com/office/drawing/2014/main" id="{E187D029-42E5-483C-740F-A20E0DAF1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76200"/>
            <a:ext cx="594356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None/>
            </a:pPr>
            <a:r>
              <a:rPr lang="en-US" altLang="zh-CN" sz="2000" dirty="0"/>
              <a:t>Typical Workflow of a Compiler</a:t>
            </a: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4C5E187A-6371-0B83-A217-059A3D6AB0D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60944" y="1698527"/>
            <a:ext cx="431999" cy="1417129"/>
          </a:xfrm>
          <a:prstGeom prst="rect">
            <a:avLst/>
          </a:prstGeom>
        </p:spPr>
      </p:pic>
      <p:sp>
        <p:nvSpPr>
          <p:cNvPr id="4" name="object 5">
            <a:extLst>
              <a:ext uri="{FF2B5EF4-FFF2-40B4-BE49-F238E27FC236}">
                <a16:creationId xmlns:a16="http://schemas.microsoft.com/office/drawing/2014/main" id="{EA08880F-CA7E-F0CD-49CC-19B06050CB4E}"/>
              </a:ext>
            </a:extLst>
          </p:cNvPr>
          <p:cNvSpPr/>
          <p:nvPr/>
        </p:nvSpPr>
        <p:spPr>
          <a:xfrm>
            <a:off x="5434337" y="2347543"/>
            <a:ext cx="2715895" cy="57150"/>
          </a:xfrm>
          <a:custGeom>
            <a:avLst/>
            <a:gdLst/>
            <a:ahLst/>
            <a:cxnLst/>
            <a:rect l="l" t="t" r="r" b="b"/>
            <a:pathLst>
              <a:path w="2715895" h="57150">
                <a:moveTo>
                  <a:pt x="355574" y="28575"/>
                </a:moveTo>
                <a:lnTo>
                  <a:pt x="298424" y="0"/>
                </a:lnTo>
                <a:lnTo>
                  <a:pt x="298424" y="21437"/>
                </a:lnTo>
                <a:lnTo>
                  <a:pt x="0" y="21437"/>
                </a:lnTo>
                <a:lnTo>
                  <a:pt x="0" y="35725"/>
                </a:lnTo>
                <a:lnTo>
                  <a:pt x="298424" y="35725"/>
                </a:lnTo>
                <a:lnTo>
                  <a:pt x="298424" y="57150"/>
                </a:lnTo>
                <a:lnTo>
                  <a:pt x="355574" y="28575"/>
                </a:lnTo>
                <a:close/>
              </a:path>
              <a:path w="2715895" h="57150">
                <a:moveTo>
                  <a:pt x="2715298" y="28575"/>
                </a:moveTo>
                <a:lnTo>
                  <a:pt x="2658148" y="0"/>
                </a:lnTo>
                <a:lnTo>
                  <a:pt x="2658148" y="21437"/>
                </a:lnTo>
                <a:lnTo>
                  <a:pt x="2377440" y="21437"/>
                </a:lnTo>
                <a:lnTo>
                  <a:pt x="2377440" y="35725"/>
                </a:lnTo>
                <a:lnTo>
                  <a:pt x="2658148" y="35725"/>
                </a:lnTo>
                <a:lnTo>
                  <a:pt x="2658148" y="57150"/>
                </a:lnTo>
                <a:lnTo>
                  <a:pt x="2715298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21201CC2-8213-1FAD-415B-B45E78C34D2D}"/>
              </a:ext>
            </a:extLst>
          </p:cNvPr>
          <p:cNvSpPr txBox="1"/>
          <p:nvPr/>
        </p:nvSpPr>
        <p:spPr>
          <a:xfrm>
            <a:off x="240586" y="2011624"/>
            <a:ext cx="562610" cy="67183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algn="just">
              <a:lnSpc>
                <a:spcPct val="101400"/>
              </a:lnSpc>
              <a:spcBef>
                <a:spcPts val="75"/>
              </a:spcBef>
            </a:pPr>
            <a:r>
              <a:rPr sz="1400" b="1" spc="-20" dirty="0" err="1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程序员编写的源程序</a:t>
            </a:r>
            <a:endParaRPr sz="14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3CFB3DC2-6597-88B9-F770-E146FC73BAA9}"/>
              </a:ext>
            </a:extLst>
          </p:cNvPr>
          <p:cNvSpPr txBox="1"/>
          <p:nvPr/>
        </p:nvSpPr>
        <p:spPr>
          <a:xfrm>
            <a:off x="8220281" y="2016252"/>
            <a:ext cx="739140" cy="67183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algn="just">
              <a:lnSpc>
                <a:spcPct val="101400"/>
              </a:lnSpc>
              <a:spcBef>
                <a:spcPts val="75"/>
              </a:spcBef>
            </a:pPr>
            <a:r>
              <a:rPr sz="1400" b="1" spc="-15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机器硬件上运行的目标代码</a:t>
            </a:r>
            <a:endParaRPr sz="140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0137EADC-D907-8BEC-402E-85BE9D55DD92}"/>
              </a:ext>
            </a:extLst>
          </p:cNvPr>
          <p:cNvSpPr txBox="1"/>
          <p:nvPr/>
        </p:nvSpPr>
        <p:spPr>
          <a:xfrm>
            <a:off x="1550330" y="1831340"/>
            <a:ext cx="254000" cy="1125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词法分析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grpSp>
        <p:nvGrpSpPr>
          <p:cNvPr id="8" name="object 9">
            <a:extLst>
              <a:ext uri="{FF2B5EF4-FFF2-40B4-BE49-F238E27FC236}">
                <a16:creationId xmlns:a16="http://schemas.microsoft.com/office/drawing/2014/main" id="{323EA100-85BB-720A-FD29-24030C71A584}"/>
              </a:ext>
            </a:extLst>
          </p:cNvPr>
          <p:cNvGrpSpPr/>
          <p:nvPr/>
        </p:nvGrpSpPr>
        <p:grpSpPr>
          <a:xfrm>
            <a:off x="1322502" y="1543356"/>
            <a:ext cx="3101340" cy="2031364"/>
            <a:chOff x="1269701" y="1543356"/>
            <a:chExt cx="3101340" cy="2031364"/>
          </a:xfrm>
        </p:grpSpPr>
        <p:pic>
          <p:nvPicPr>
            <p:cNvPr id="9" name="object 10">
              <a:extLst>
                <a:ext uri="{FF2B5EF4-FFF2-40B4-BE49-F238E27FC236}">
                  <a16:creationId xmlns:a16="http://schemas.microsoft.com/office/drawing/2014/main" id="{1CBC9C66-91A0-36B8-BA03-C2F9E994140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87999" y="1716656"/>
              <a:ext cx="432000" cy="1400633"/>
            </a:xfrm>
            <a:prstGeom prst="rect">
              <a:avLst/>
            </a:prstGeom>
          </p:spPr>
        </p:pic>
        <p:pic>
          <p:nvPicPr>
            <p:cNvPr id="10" name="object 11">
              <a:extLst>
                <a:ext uri="{FF2B5EF4-FFF2-40B4-BE49-F238E27FC236}">
                  <a16:creationId xmlns:a16="http://schemas.microsoft.com/office/drawing/2014/main" id="{CF48D6C9-3C35-8354-461B-17C878FBF80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71800" y="1700160"/>
              <a:ext cx="431999" cy="1417129"/>
            </a:xfrm>
            <a:prstGeom prst="rect">
              <a:avLst/>
            </a:prstGeom>
          </p:spPr>
        </p:pic>
        <p:sp>
          <p:nvSpPr>
            <p:cNvPr id="11" name="object 12">
              <a:extLst>
                <a:ext uri="{FF2B5EF4-FFF2-40B4-BE49-F238E27FC236}">
                  <a16:creationId xmlns:a16="http://schemas.microsoft.com/office/drawing/2014/main" id="{3B62E608-26B3-B07E-304C-0531E4A95E30}"/>
                </a:ext>
              </a:extLst>
            </p:cNvPr>
            <p:cNvSpPr/>
            <p:nvPr/>
          </p:nvSpPr>
          <p:spPr>
            <a:xfrm>
              <a:off x="1279226" y="1552881"/>
              <a:ext cx="2023110" cy="2012314"/>
            </a:xfrm>
            <a:custGeom>
              <a:avLst/>
              <a:gdLst/>
              <a:ahLst/>
              <a:cxnLst/>
              <a:rect l="l" t="t" r="r" b="b"/>
              <a:pathLst>
                <a:path w="2023110" h="2012314">
                  <a:moveTo>
                    <a:pt x="0" y="0"/>
                  </a:moveTo>
                  <a:lnTo>
                    <a:pt x="2023111" y="0"/>
                  </a:lnTo>
                  <a:lnTo>
                    <a:pt x="2023111" y="2012219"/>
                  </a:lnTo>
                  <a:lnTo>
                    <a:pt x="0" y="2012219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pic>
          <p:nvPicPr>
            <p:cNvPr id="12" name="object 13">
              <a:extLst>
                <a:ext uri="{FF2B5EF4-FFF2-40B4-BE49-F238E27FC236}">
                  <a16:creationId xmlns:a16="http://schemas.microsoft.com/office/drawing/2014/main" id="{A8869CEA-BADC-3A6E-8AC4-AEB5D410A92B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94681" y="1706285"/>
              <a:ext cx="575999" cy="1417128"/>
            </a:xfrm>
            <a:prstGeom prst="rect">
              <a:avLst/>
            </a:prstGeom>
          </p:spPr>
        </p:pic>
      </p:grpSp>
      <p:sp>
        <p:nvSpPr>
          <p:cNvPr id="13" name="object 14">
            <a:extLst>
              <a:ext uri="{FF2B5EF4-FFF2-40B4-BE49-F238E27FC236}">
                <a16:creationId xmlns:a16="http://schemas.microsoft.com/office/drawing/2014/main" id="{2FBF0410-AD4C-FDD8-B308-644869811844}"/>
              </a:ext>
            </a:extLst>
          </p:cNvPr>
          <p:cNvSpPr txBox="1"/>
          <p:nvPr/>
        </p:nvSpPr>
        <p:spPr>
          <a:xfrm>
            <a:off x="3885855" y="1953259"/>
            <a:ext cx="491490" cy="85788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algn="just">
              <a:lnSpc>
                <a:spcPct val="101699"/>
              </a:lnSpc>
              <a:spcBef>
                <a:spcPts val="60"/>
              </a:spcBef>
            </a:pPr>
            <a:r>
              <a:rPr sz="1800" b="1" spc="5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中间</a:t>
            </a:r>
            <a:r>
              <a:rPr sz="1800" b="1" spc="-25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代码</a:t>
            </a:r>
            <a:r>
              <a:rPr sz="1800" b="1" spc="-3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生成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pic>
        <p:nvPicPr>
          <p:cNvPr id="14" name="object 15">
            <a:extLst>
              <a:ext uri="{FF2B5EF4-FFF2-40B4-BE49-F238E27FC236}">
                <a16:creationId xmlns:a16="http://schemas.microsoft.com/office/drawing/2014/main" id="{81B59C69-B7C6-069E-4FF7-D7FD56751568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76720" y="1706285"/>
            <a:ext cx="575999" cy="1404569"/>
          </a:xfrm>
          <a:prstGeom prst="rect">
            <a:avLst/>
          </a:prstGeom>
        </p:spPr>
      </p:pic>
      <p:sp>
        <p:nvSpPr>
          <p:cNvPr id="18" name="object 19">
            <a:extLst>
              <a:ext uri="{FF2B5EF4-FFF2-40B4-BE49-F238E27FC236}">
                <a16:creationId xmlns:a16="http://schemas.microsoft.com/office/drawing/2014/main" id="{36A54071-F821-FFA5-5B73-4121D8FA7CF8}"/>
              </a:ext>
            </a:extLst>
          </p:cNvPr>
          <p:cNvSpPr/>
          <p:nvPr/>
        </p:nvSpPr>
        <p:spPr>
          <a:xfrm>
            <a:off x="3691179" y="1552826"/>
            <a:ext cx="1735455" cy="2012314"/>
          </a:xfrm>
          <a:custGeom>
            <a:avLst/>
            <a:gdLst/>
            <a:ahLst/>
            <a:cxnLst/>
            <a:rect l="l" t="t" r="r" b="b"/>
            <a:pathLst>
              <a:path w="1735454" h="2012314">
                <a:moveTo>
                  <a:pt x="0" y="0"/>
                </a:moveTo>
                <a:lnTo>
                  <a:pt x="1735073" y="0"/>
                </a:lnTo>
                <a:lnTo>
                  <a:pt x="1735073" y="2012219"/>
                </a:lnTo>
                <a:lnTo>
                  <a:pt x="0" y="2012219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object 20">
            <a:extLst>
              <a:ext uri="{FF2B5EF4-FFF2-40B4-BE49-F238E27FC236}">
                <a16:creationId xmlns:a16="http://schemas.microsoft.com/office/drawing/2014/main" id="{14A996B7-BB89-6E58-8A39-CEA7E2330C7E}"/>
              </a:ext>
            </a:extLst>
          </p:cNvPr>
          <p:cNvSpPr txBox="1"/>
          <p:nvPr/>
        </p:nvSpPr>
        <p:spPr>
          <a:xfrm>
            <a:off x="4343502" y="3208761"/>
            <a:ext cx="482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中端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grpSp>
        <p:nvGrpSpPr>
          <p:cNvPr id="20" name="object 21">
            <a:extLst>
              <a:ext uri="{FF2B5EF4-FFF2-40B4-BE49-F238E27FC236}">
                <a16:creationId xmlns:a16="http://schemas.microsoft.com/office/drawing/2014/main" id="{E6D39BFB-F473-9F92-61F5-1046D48B0900}"/>
              </a:ext>
            </a:extLst>
          </p:cNvPr>
          <p:cNvGrpSpPr/>
          <p:nvPr/>
        </p:nvGrpSpPr>
        <p:grpSpPr>
          <a:xfrm>
            <a:off x="5913171" y="1698525"/>
            <a:ext cx="1808480" cy="1412875"/>
            <a:chOff x="5860370" y="1698525"/>
            <a:chExt cx="1808480" cy="1412875"/>
          </a:xfrm>
        </p:grpSpPr>
        <p:pic>
          <p:nvPicPr>
            <p:cNvPr id="21" name="object 22">
              <a:extLst>
                <a:ext uri="{FF2B5EF4-FFF2-40B4-BE49-F238E27FC236}">
                  <a16:creationId xmlns:a16="http://schemas.microsoft.com/office/drawing/2014/main" id="{0C36B617-4070-481E-EFFD-C25FEEE7C662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60370" y="1698527"/>
              <a:ext cx="432000" cy="1412326"/>
            </a:xfrm>
            <a:prstGeom prst="rect">
              <a:avLst/>
            </a:prstGeom>
          </p:spPr>
        </p:pic>
        <p:pic>
          <p:nvPicPr>
            <p:cNvPr id="22" name="object 23">
              <a:extLst>
                <a:ext uri="{FF2B5EF4-FFF2-40B4-BE49-F238E27FC236}">
                  <a16:creationId xmlns:a16="http://schemas.microsoft.com/office/drawing/2014/main" id="{6831CF81-5DA3-5E85-9F6F-54A63317930D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36344" y="1698525"/>
              <a:ext cx="431999" cy="1412327"/>
            </a:xfrm>
            <a:prstGeom prst="rect">
              <a:avLst/>
            </a:prstGeom>
          </p:spPr>
        </p:pic>
      </p:grpSp>
      <p:grpSp>
        <p:nvGrpSpPr>
          <p:cNvPr id="24" name="object 25">
            <a:extLst>
              <a:ext uri="{FF2B5EF4-FFF2-40B4-BE49-F238E27FC236}">
                <a16:creationId xmlns:a16="http://schemas.microsoft.com/office/drawing/2014/main" id="{A6183C67-EE3B-DFB3-6CD5-DE5203B4E974}"/>
              </a:ext>
            </a:extLst>
          </p:cNvPr>
          <p:cNvGrpSpPr/>
          <p:nvPr/>
        </p:nvGrpSpPr>
        <p:grpSpPr>
          <a:xfrm>
            <a:off x="5771055" y="1540412"/>
            <a:ext cx="2042160" cy="2031364"/>
            <a:chOff x="5718254" y="1540412"/>
            <a:chExt cx="2042160" cy="2031364"/>
          </a:xfrm>
        </p:grpSpPr>
        <p:pic>
          <p:nvPicPr>
            <p:cNvPr id="25" name="object 26">
              <a:extLst>
                <a:ext uri="{FF2B5EF4-FFF2-40B4-BE49-F238E27FC236}">
                  <a16:creationId xmlns:a16="http://schemas.microsoft.com/office/drawing/2014/main" id="{6E150A54-6634-3A4F-B5C2-AF3E4A89717A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59882" y="1698525"/>
              <a:ext cx="432000" cy="1418763"/>
            </a:xfrm>
            <a:prstGeom prst="rect">
              <a:avLst/>
            </a:prstGeom>
          </p:spPr>
        </p:pic>
        <p:sp>
          <p:nvSpPr>
            <p:cNvPr id="26" name="object 27">
              <a:extLst>
                <a:ext uri="{FF2B5EF4-FFF2-40B4-BE49-F238E27FC236}">
                  <a16:creationId xmlns:a16="http://schemas.microsoft.com/office/drawing/2014/main" id="{EF89B952-291C-C492-77AD-83B07D86E4FF}"/>
                </a:ext>
              </a:extLst>
            </p:cNvPr>
            <p:cNvSpPr/>
            <p:nvPr/>
          </p:nvSpPr>
          <p:spPr>
            <a:xfrm>
              <a:off x="5727779" y="1549937"/>
              <a:ext cx="2023110" cy="2012314"/>
            </a:xfrm>
            <a:custGeom>
              <a:avLst/>
              <a:gdLst/>
              <a:ahLst/>
              <a:cxnLst/>
              <a:rect l="l" t="t" r="r" b="b"/>
              <a:pathLst>
                <a:path w="2023109" h="2012314">
                  <a:moveTo>
                    <a:pt x="0" y="0"/>
                  </a:moveTo>
                  <a:lnTo>
                    <a:pt x="2023110" y="0"/>
                  </a:lnTo>
                  <a:lnTo>
                    <a:pt x="2023110" y="2012219"/>
                  </a:lnTo>
                  <a:lnTo>
                    <a:pt x="0" y="2012219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29" name="object 30">
            <a:extLst>
              <a:ext uri="{FF2B5EF4-FFF2-40B4-BE49-F238E27FC236}">
                <a16:creationId xmlns:a16="http://schemas.microsoft.com/office/drawing/2014/main" id="{B4C3005E-2C9F-1276-7067-7910F1DBD777}"/>
              </a:ext>
            </a:extLst>
          </p:cNvPr>
          <p:cNvGrpSpPr/>
          <p:nvPr/>
        </p:nvGrpSpPr>
        <p:grpSpPr>
          <a:xfrm>
            <a:off x="1025587" y="1401662"/>
            <a:ext cx="6910070" cy="2290445"/>
            <a:chOff x="972786" y="1401662"/>
            <a:chExt cx="6910070" cy="2290445"/>
          </a:xfrm>
        </p:grpSpPr>
        <p:sp>
          <p:nvSpPr>
            <p:cNvPr id="30" name="object 31">
              <a:extLst>
                <a:ext uri="{FF2B5EF4-FFF2-40B4-BE49-F238E27FC236}">
                  <a16:creationId xmlns:a16="http://schemas.microsoft.com/office/drawing/2014/main" id="{71CD6488-508F-6631-24AF-F33D643FBDB8}"/>
                </a:ext>
              </a:extLst>
            </p:cNvPr>
            <p:cNvSpPr/>
            <p:nvPr/>
          </p:nvSpPr>
          <p:spPr>
            <a:xfrm>
              <a:off x="983898" y="1412774"/>
              <a:ext cx="6887845" cy="2268220"/>
            </a:xfrm>
            <a:custGeom>
              <a:avLst/>
              <a:gdLst/>
              <a:ahLst/>
              <a:cxnLst/>
              <a:rect l="l" t="t" r="r" b="b"/>
              <a:pathLst>
                <a:path w="6887845" h="2268220">
                  <a:moveTo>
                    <a:pt x="0" y="0"/>
                  </a:moveTo>
                  <a:lnTo>
                    <a:pt x="6887295" y="0"/>
                  </a:lnTo>
                  <a:lnTo>
                    <a:pt x="6887295" y="2268000"/>
                  </a:lnTo>
                  <a:lnTo>
                    <a:pt x="0" y="2268000"/>
                  </a:lnTo>
                  <a:lnTo>
                    <a:pt x="0" y="0"/>
                  </a:lnTo>
                  <a:close/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1" name="object 32">
              <a:extLst>
                <a:ext uri="{FF2B5EF4-FFF2-40B4-BE49-F238E27FC236}">
                  <a16:creationId xmlns:a16="http://schemas.microsoft.com/office/drawing/2014/main" id="{4756F2B7-BBB1-C75D-EA4A-DD08D25346AC}"/>
                </a:ext>
              </a:extLst>
            </p:cNvPr>
            <p:cNvSpPr/>
            <p:nvPr/>
          </p:nvSpPr>
          <p:spPr>
            <a:xfrm>
              <a:off x="3312807" y="2361107"/>
              <a:ext cx="335280" cy="57150"/>
            </a:xfrm>
            <a:custGeom>
              <a:avLst/>
              <a:gdLst/>
              <a:ahLst/>
              <a:cxnLst/>
              <a:rect l="l" t="t" r="r" b="b"/>
              <a:pathLst>
                <a:path w="335279" h="57150">
                  <a:moveTo>
                    <a:pt x="335191" y="28575"/>
                  </a:moveTo>
                  <a:lnTo>
                    <a:pt x="320903" y="21424"/>
                  </a:lnTo>
                  <a:lnTo>
                    <a:pt x="278041" y="0"/>
                  </a:lnTo>
                  <a:lnTo>
                    <a:pt x="278041" y="21424"/>
                  </a:lnTo>
                  <a:lnTo>
                    <a:pt x="0" y="21424"/>
                  </a:lnTo>
                  <a:lnTo>
                    <a:pt x="0" y="35712"/>
                  </a:lnTo>
                  <a:lnTo>
                    <a:pt x="278041" y="35712"/>
                  </a:lnTo>
                  <a:lnTo>
                    <a:pt x="278041" y="57150"/>
                  </a:lnTo>
                  <a:lnTo>
                    <a:pt x="320903" y="35712"/>
                  </a:lnTo>
                  <a:lnTo>
                    <a:pt x="335191" y="28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32" name="object 33">
            <a:extLst>
              <a:ext uri="{FF2B5EF4-FFF2-40B4-BE49-F238E27FC236}">
                <a16:creationId xmlns:a16="http://schemas.microsoft.com/office/drawing/2014/main" id="{E827154A-7698-B6EA-903A-653A1117AD6A}"/>
              </a:ext>
            </a:extLst>
          </p:cNvPr>
          <p:cNvSpPr txBox="1"/>
          <p:nvPr/>
        </p:nvSpPr>
        <p:spPr>
          <a:xfrm>
            <a:off x="1036698" y="3988565"/>
            <a:ext cx="6887845" cy="2268220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endParaRPr sz="16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50"/>
              </a:spcBef>
            </a:pPr>
            <a:endParaRPr sz="16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</a:endParaRPr>
          </a:p>
          <a:p>
            <a:pPr marL="1703705" indent="-285750">
              <a:lnSpc>
                <a:spcPct val="100000"/>
              </a:lnSpc>
              <a:buFont typeface="Arial"/>
              <a:buChar char="•"/>
              <a:tabLst>
                <a:tab pos="1703705" algn="l"/>
              </a:tabLst>
            </a:pPr>
            <a:r>
              <a:rPr sz="1600" spc="-5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记录程序中变量、函数等对象的各种属性</a:t>
            </a:r>
            <a:endParaRPr sz="16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  <a:p>
            <a:pPr marL="1703705" indent="-285750">
              <a:lnSpc>
                <a:spcPct val="100000"/>
              </a:lnSpc>
              <a:spcBef>
                <a:spcPts val="70"/>
              </a:spcBef>
              <a:buFont typeface="Arial"/>
              <a:buChar char="•"/>
              <a:tabLst>
                <a:tab pos="1703705" algn="l"/>
              </a:tabLst>
            </a:pPr>
            <a:r>
              <a:rPr sz="1600" spc="-5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符号表可由编译器的各个步骤使用</a:t>
            </a:r>
            <a:endParaRPr sz="16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  <a:p>
            <a:pPr>
              <a:lnSpc>
                <a:spcPct val="100000"/>
              </a:lnSpc>
              <a:spcBef>
                <a:spcPts val="2225"/>
              </a:spcBef>
              <a:buFont typeface="Arial"/>
              <a:buChar char="•"/>
            </a:pPr>
            <a:endParaRPr sz="16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  <a:p>
            <a:pPr marL="1740535" indent="-342900">
              <a:lnSpc>
                <a:spcPct val="100000"/>
              </a:lnSpc>
              <a:buFont typeface="Arial"/>
              <a:buChar char="•"/>
              <a:tabLst>
                <a:tab pos="1740535" algn="l"/>
              </a:tabLst>
            </a:pPr>
            <a:r>
              <a:rPr sz="1600" spc="-1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语法错误: 如算术表达式的括号不配对</a:t>
            </a:r>
            <a:endParaRPr sz="16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  <a:p>
            <a:pPr marL="1743710" indent="-346075">
              <a:lnSpc>
                <a:spcPct val="100000"/>
              </a:lnSpc>
              <a:spcBef>
                <a:spcPts val="70"/>
              </a:spcBef>
              <a:buFont typeface="Arial"/>
              <a:buChar char="•"/>
              <a:tabLst>
                <a:tab pos="1743710" algn="l"/>
              </a:tabLst>
            </a:pPr>
            <a:r>
              <a:rPr sz="1600" spc="-1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语义错误: 如算符作用于不相容的运算对象</a:t>
            </a:r>
            <a:endParaRPr sz="16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3" name="object 34">
            <a:extLst>
              <a:ext uri="{FF2B5EF4-FFF2-40B4-BE49-F238E27FC236}">
                <a16:creationId xmlns:a16="http://schemas.microsoft.com/office/drawing/2014/main" id="{3D5BD51B-486A-914B-D22B-23D0B066AE46}"/>
              </a:ext>
            </a:extLst>
          </p:cNvPr>
          <p:cNvSpPr txBox="1"/>
          <p:nvPr/>
        </p:nvSpPr>
        <p:spPr>
          <a:xfrm>
            <a:off x="1196011" y="4222676"/>
            <a:ext cx="6607809" cy="343043"/>
          </a:xfrm>
          <a:prstGeom prst="rect">
            <a:avLst/>
          </a:prstGeom>
          <a:solidFill>
            <a:srgbClr val="DCE6F2"/>
          </a:solidFill>
        </p:spPr>
        <p:txBody>
          <a:bodyPr vert="horz" wrap="square" lIns="0" tIns="65405" rIns="0" bIns="0" rtlCol="0">
            <a:spAutoFit/>
          </a:bodyPr>
          <a:lstStyle/>
          <a:p>
            <a:pPr marL="180975" algn="ctr">
              <a:lnSpc>
                <a:spcPct val="100000"/>
              </a:lnSpc>
              <a:spcBef>
                <a:spcPts val="515"/>
              </a:spcBef>
            </a:pPr>
            <a:r>
              <a:rPr sz="18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Symbol</a:t>
            </a:r>
            <a:r>
              <a:rPr sz="1800" b="1" spc="-75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 </a:t>
            </a:r>
            <a:r>
              <a:rPr sz="1800" b="1" spc="-7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Table</a:t>
            </a:r>
            <a:r>
              <a:rPr sz="1800" b="1" spc="-55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 </a:t>
            </a:r>
            <a:r>
              <a:rPr sz="1800" b="1" spc="-2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符号表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4" name="object 35">
            <a:extLst>
              <a:ext uri="{FF2B5EF4-FFF2-40B4-BE49-F238E27FC236}">
                <a16:creationId xmlns:a16="http://schemas.microsoft.com/office/drawing/2014/main" id="{0BCB6368-B093-BC08-541E-E3D2281ECFC1}"/>
              </a:ext>
            </a:extLst>
          </p:cNvPr>
          <p:cNvSpPr txBox="1"/>
          <p:nvPr/>
        </p:nvSpPr>
        <p:spPr>
          <a:xfrm>
            <a:off x="1196011" y="5229199"/>
            <a:ext cx="6607809" cy="345607"/>
          </a:xfrm>
          <a:prstGeom prst="rect">
            <a:avLst/>
          </a:prstGeom>
          <a:solidFill>
            <a:srgbClr val="DCE6F2"/>
          </a:solidFill>
        </p:spPr>
        <p:txBody>
          <a:bodyPr vert="horz" wrap="square" lIns="0" tIns="67945" rIns="0" bIns="0" rtlCol="0">
            <a:spAutoFit/>
          </a:bodyPr>
          <a:lstStyle/>
          <a:p>
            <a:pPr marL="198120" algn="ctr">
              <a:lnSpc>
                <a:spcPct val="100000"/>
              </a:lnSpc>
              <a:spcBef>
                <a:spcPts val="535"/>
              </a:spcBef>
            </a:pPr>
            <a:r>
              <a:rPr sz="1800" b="1" spc="-2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Error</a:t>
            </a:r>
            <a:r>
              <a:rPr sz="1800" b="1" spc="-95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 </a:t>
            </a:r>
            <a:r>
              <a:rPr sz="18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Handler</a:t>
            </a:r>
            <a:r>
              <a:rPr sz="1800" b="1" spc="-9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 </a:t>
            </a:r>
            <a:r>
              <a:rPr sz="1800" b="1" spc="-15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错误处理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grpSp>
        <p:nvGrpSpPr>
          <p:cNvPr id="37" name="object 38">
            <a:extLst>
              <a:ext uri="{FF2B5EF4-FFF2-40B4-BE49-F238E27FC236}">
                <a16:creationId xmlns:a16="http://schemas.microsoft.com/office/drawing/2014/main" id="{4368EC33-8390-8DF4-55E6-EC19CD8DF8ED}"/>
              </a:ext>
            </a:extLst>
          </p:cNvPr>
          <p:cNvGrpSpPr/>
          <p:nvPr/>
        </p:nvGrpSpPr>
        <p:grpSpPr>
          <a:xfrm>
            <a:off x="1880397" y="2347539"/>
            <a:ext cx="963852" cy="70711"/>
            <a:chOff x="1827596" y="2347539"/>
            <a:chExt cx="963852" cy="70711"/>
          </a:xfrm>
        </p:grpSpPr>
        <p:pic>
          <p:nvPicPr>
            <p:cNvPr id="38" name="object 39">
              <a:extLst>
                <a:ext uri="{FF2B5EF4-FFF2-40B4-BE49-F238E27FC236}">
                  <a16:creationId xmlns:a16="http://schemas.microsoft.com/office/drawing/2014/main" id="{89C7EE2D-E9FF-849F-DFE1-B5EB9E812D3D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04413" y="2347539"/>
              <a:ext cx="287035" cy="70711"/>
            </a:xfrm>
            <a:prstGeom prst="rect">
              <a:avLst/>
            </a:prstGeom>
          </p:spPr>
        </p:pic>
        <p:pic>
          <p:nvPicPr>
            <p:cNvPr id="39" name="object 40">
              <a:extLst>
                <a:ext uri="{FF2B5EF4-FFF2-40B4-BE49-F238E27FC236}">
                  <a16:creationId xmlns:a16="http://schemas.microsoft.com/office/drawing/2014/main" id="{766FF507-9AD8-6444-4F33-F9C492482274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27596" y="2347539"/>
              <a:ext cx="287033" cy="70711"/>
            </a:xfrm>
            <a:prstGeom prst="rect">
              <a:avLst/>
            </a:prstGeom>
          </p:spPr>
        </p:pic>
      </p:grpSp>
      <p:sp>
        <p:nvSpPr>
          <p:cNvPr id="41" name="object 42">
            <a:extLst>
              <a:ext uri="{FF2B5EF4-FFF2-40B4-BE49-F238E27FC236}">
                <a16:creationId xmlns:a16="http://schemas.microsoft.com/office/drawing/2014/main" id="{BAA1B592-7EF3-9031-CBD6-611DFEC21D05}"/>
              </a:ext>
            </a:extLst>
          </p:cNvPr>
          <p:cNvSpPr txBox="1"/>
          <p:nvPr/>
        </p:nvSpPr>
        <p:spPr>
          <a:xfrm>
            <a:off x="2100416" y="1830811"/>
            <a:ext cx="1084580" cy="1677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985">
              <a:lnSpc>
                <a:spcPct val="100000"/>
              </a:lnSpc>
              <a:spcBef>
                <a:spcPts val="100"/>
              </a:spcBef>
              <a:tabLst>
                <a:tab pos="842644" algn="l"/>
              </a:tabLst>
            </a:pPr>
            <a:r>
              <a:rPr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语</a:t>
            </a:r>
            <a:r>
              <a:rPr sz="18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	</a:t>
            </a:r>
            <a:r>
              <a:rPr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语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  <a:p>
            <a:pPr marL="133985">
              <a:lnSpc>
                <a:spcPct val="100000"/>
              </a:lnSpc>
              <a:spcBef>
                <a:spcPts val="20"/>
              </a:spcBef>
              <a:tabLst>
                <a:tab pos="842644" algn="l"/>
              </a:tabLst>
            </a:pPr>
            <a:r>
              <a:rPr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法</a:t>
            </a:r>
            <a:r>
              <a:rPr sz="18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	</a:t>
            </a:r>
            <a:r>
              <a:rPr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义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  <a:p>
            <a:pPr marL="133985">
              <a:lnSpc>
                <a:spcPts val="2125"/>
              </a:lnSpc>
              <a:spcBef>
                <a:spcPts val="50"/>
              </a:spcBef>
              <a:tabLst>
                <a:tab pos="842644" algn="l"/>
              </a:tabLst>
            </a:pPr>
            <a:r>
              <a:rPr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分</a:t>
            </a:r>
            <a:r>
              <a:rPr sz="18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	</a:t>
            </a:r>
            <a:r>
              <a:rPr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分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  <a:p>
            <a:pPr marL="133985">
              <a:lnSpc>
                <a:spcPts val="2125"/>
              </a:lnSpc>
              <a:tabLst>
                <a:tab pos="842644" algn="l"/>
              </a:tabLst>
            </a:pPr>
            <a:r>
              <a:rPr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析</a:t>
            </a:r>
            <a:r>
              <a:rPr sz="18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	</a:t>
            </a:r>
            <a:r>
              <a:rPr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析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2210"/>
              </a:spcBef>
            </a:pPr>
            <a:r>
              <a:rPr sz="1800" b="1" spc="-25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前端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pic>
        <p:nvPicPr>
          <p:cNvPr id="43" name="object 44">
            <a:extLst>
              <a:ext uri="{FF2B5EF4-FFF2-40B4-BE49-F238E27FC236}">
                <a16:creationId xmlns:a16="http://schemas.microsoft.com/office/drawing/2014/main" id="{2DA6B133-8CA1-2382-91F1-CE49223DB62B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2516" y="2712946"/>
            <a:ext cx="783113" cy="656429"/>
          </a:xfrm>
          <a:prstGeom prst="rect">
            <a:avLst/>
          </a:prstGeom>
        </p:spPr>
      </p:pic>
      <p:sp>
        <p:nvSpPr>
          <p:cNvPr id="44" name="object 32">
            <a:extLst>
              <a:ext uri="{FF2B5EF4-FFF2-40B4-BE49-F238E27FC236}">
                <a16:creationId xmlns:a16="http://schemas.microsoft.com/office/drawing/2014/main" id="{03F95158-B45E-082E-57F7-245A3AA2E78B}"/>
              </a:ext>
            </a:extLst>
          </p:cNvPr>
          <p:cNvSpPr/>
          <p:nvPr/>
        </p:nvSpPr>
        <p:spPr>
          <a:xfrm>
            <a:off x="4441723" y="2349941"/>
            <a:ext cx="335280" cy="57150"/>
          </a:xfrm>
          <a:custGeom>
            <a:avLst/>
            <a:gdLst/>
            <a:ahLst/>
            <a:cxnLst/>
            <a:rect l="l" t="t" r="r" b="b"/>
            <a:pathLst>
              <a:path w="335279" h="57150">
                <a:moveTo>
                  <a:pt x="335191" y="28575"/>
                </a:moveTo>
                <a:lnTo>
                  <a:pt x="320903" y="21424"/>
                </a:lnTo>
                <a:lnTo>
                  <a:pt x="278041" y="0"/>
                </a:lnTo>
                <a:lnTo>
                  <a:pt x="278041" y="21424"/>
                </a:lnTo>
                <a:lnTo>
                  <a:pt x="0" y="21424"/>
                </a:lnTo>
                <a:lnTo>
                  <a:pt x="0" y="35712"/>
                </a:lnTo>
                <a:lnTo>
                  <a:pt x="278041" y="35712"/>
                </a:lnTo>
                <a:lnTo>
                  <a:pt x="278041" y="57150"/>
                </a:lnTo>
                <a:lnTo>
                  <a:pt x="320903" y="35712"/>
                </a:lnTo>
                <a:lnTo>
                  <a:pt x="335191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5" name="object 14">
            <a:extLst>
              <a:ext uri="{FF2B5EF4-FFF2-40B4-BE49-F238E27FC236}">
                <a16:creationId xmlns:a16="http://schemas.microsoft.com/office/drawing/2014/main" id="{D437C083-02E8-3A3F-AC8D-59EFCC4EE584}"/>
              </a:ext>
            </a:extLst>
          </p:cNvPr>
          <p:cNvSpPr txBox="1"/>
          <p:nvPr/>
        </p:nvSpPr>
        <p:spPr>
          <a:xfrm>
            <a:off x="4821993" y="1863157"/>
            <a:ext cx="491490" cy="1119089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algn="just">
              <a:lnSpc>
                <a:spcPct val="101699"/>
              </a:lnSpc>
              <a:spcBef>
                <a:spcPts val="60"/>
              </a:spcBef>
            </a:pPr>
            <a:r>
              <a:rPr lang="en-US" sz="1800" b="1" spc="5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机器无关代码优化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46" name="object 8">
            <a:extLst>
              <a:ext uri="{FF2B5EF4-FFF2-40B4-BE49-F238E27FC236}">
                <a16:creationId xmlns:a16="http://schemas.microsoft.com/office/drawing/2014/main" id="{9731406F-BBEF-DCE1-EC78-22C1E204CEB2}"/>
              </a:ext>
            </a:extLst>
          </p:cNvPr>
          <p:cNvSpPr txBox="1"/>
          <p:nvPr/>
        </p:nvSpPr>
        <p:spPr>
          <a:xfrm>
            <a:off x="5998949" y="1819966"/>
            <a:ext cx="254000" cy="111953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lang="zh-CN" altLang="en-US"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指令选择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47" name="object 8">
            <a:extLst>
              <a:ext uri="{FF2B5EF4-FFF2-40B4-BE49-F238E27FC236}">
                <a16:creationId xmlns:a16="http://schemas.microsoft.com/office/drawing/2014/main" id="{53F3904C-E8AC-2136-9B61-CDEDA663D873}"/>
              </a:ext>
            </a:extLst>
          </p:cNvPr>
          <p:cNvSpPr txBox="1"/>
          <p:nvPr/>
        </p:nvSpPr>
        <p:spPr>
          <a:xfrm>
            <a:off x="6699117" y="1716656"/>
            <a:ext cx="254000" cy="139653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lang="zh-CN" altLang="en-US"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寄存器分配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48" name="object 8">
            <a:extLst>
              <a:ext uri="{FF2B5EF4-FFF2-40B4-BE49-F238E27FC236}">
                <a16:creationId xmlns:a16="http://schemas.microsoft.com/office/drawing/2014/main" id="{8E7ACCE1-109B-85CD-D575-19AE9B9501AF}"/>
              </a:ext>
            </a:extLst>
          </p:cNvPr>
          <p:cNvSpPr txBox="1"/>
          <p:nvPr/>
        </p:nvSpPr>
        <p:spPr>
          <a:xfrm>
            <a:off x="7375169" y="1828943"/>
            <a:ext cx="254000" cy="111953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lang="zh-CN" altLang="en-US"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指令调度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49" name="object 20">
            <a:extLst>
              <a:ext uri="{FF2B5EF4-FFF2-40B4-BE49-F238E27FC236}">
                <a16:creationId xmlns:a16="http://schemas.microsoft.com/office/drawing/2014/main" id="{D1F81B0D-DA74-3460-EE93-35CFA63D5DE8}"/>
              </a:ext>
            </a:extLst>
          </p:cNvPr>
          <p:cNvSpPr txBox="1"/>
          <p:nvPr/>
        </p:nvSpPr>
        <p:spPr>
          <a:xfrm>
            <a:off x="6584817" y="3218658"/>
            <a:ext cx="4826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800" b="1" spc="-25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后</a:t>
            </a:r>
            <a:r>
              <a:rPr lang="zh-CN" altLang="en-US" b="1" spc="-25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端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pic>
        <p:nvPicPr>
          <p:cNvPr id="50" name="object 40">
            <a:extLst>
              <a:ext uri="{FF2B5EF4-FFF2-40B4-BE49-F238E27FC236}">
                <a16:creationId xmlns:a16="http://schemas.microsoft.com/office/drawing/2014/main" id="{0CD53625-F46C-B0DE-543B-183D100D112C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352875" y="2360867"/>
            <a:ext cx="276472" cy="45719"/>
          </a:xfrm>
          <a:prstGeom prst="rect">
            <a:avLst/>
          </a:prstGeom>
        </p:spPr>
      </p:pic>
      <p:pic>
        <p:nvPicPr>
          <p:cNvPr id="54" name="object 40">
            <a:extLst>
              <a:ext uri="{FF2B5EF4-FFF2-40B4-BE49-F238E27FC236}">
                <a16:creationId xmlns:a16="http://schemas.microsoft.com/office/drawing/2014/main" id="{F69AABAD-B532-FC9F-FE07-144795442143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039140" y="2360867"/>
            <a:ext cx="271483" cy="45719"/>
          </a:xfrm>
          <a:prstGeom prst="rect">
            <a:avLst/>
          </a:prstGeom>
        </p:spPr>
      </p:pic>
      <p:pic>
        <p:nvPicPr>
          <p:cNvPr id="2050" name="Picture 2" descr="What is a CPU? A beginner's guide to ...">
            <a:extLst>
              <a:ext uri="{FF2B5EF4-FFF2-40B4-BE49-F238E27FC236}">
                <a16:creationId xmlns:a16="http://schemas.microsoft.com/office/drawing/2014/main" id="{9DE4FAE9-2C55-6F3B-9DCF-D0088F5ED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2913" y="2718407"/>
            <a:ext cx="970027" cy="645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右箭头 14">
            <a:extLst>
              <a:ext uri="{FF2B5EF4-FFF2-40B4-BE49-F238E27FC236}">
                <a16:creationId xmlns:a16="http://schemas.microsoft.com/office/drawing/2014/main" id="{FF8EF1C2-B137-C96E-2AD6-0BB68F5BEBC5}"/>
              </a:ext>
            </a:extLst>
          </p:cNvPr>
          <p:cNvSpPr/>
          <p:nvPr/>
        </p:nvSpPr>
        <p:spPr>
          <a:xfrm>
            <a:off x="843525" y="2275861"/>
            <a:ext cx="396398" cy="243283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右箭头 15">
            <a:extLst>
              <a:ext uri="{FF2B5EF4-FFF2-40B4-BE49-F238E27FC236}">
                <a16:creationId xmlns:a16="http://schemas.microsoft.com/office/drawing/2014/main" id="{F1B4B318-A91E-9261-DE58-61C67E224606}"/>
              </a:ext>
            </a:extLst>
          </p:cNvPr>
          <p:cNvSpPr/>
          <p:nvPr/>
        </p:nvSpPr>
        <p:spPr>
          <a:xfrm>
            <a:off x="7775614" y="2275955"/>
            <a:ext cx="396398" cy="243283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右箭头 16">
            <a:extLst>
              <a:ext uri="{FF2B5EF4-FFF2-40B4-BE49-F238E27FC236}">
                <a16:creationId xmlns:a16="http://schemas.microsoft.com/office/drawing/2014/main" id="{62474E5E-1B14-3AC5-AF92-8E6F90594F1B}"/>
              </a:ext>
            </a:extLst>
          </p:cNvPr>
          <p:cNvSpPr/>
          <p:nvPr/>
        </p:nvSpPr>
        <p:spPr>
          <a:xfrm rot="16200000">
            <a:off x="2145383" y="3718743"/>
            <a:ext cx="396398" cy="243283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右箭头 22">
            <a:extLst>
              <a:ext uri="{FF2B5EF4-FFF2-40B4-BE49-F238E27FC236}">
                <a16:creationId xmlns:a16="http://schemas.microsoft.com/office/drawing/2014/main" id="{6F9860EC-0678-E5CA-A84F-944860802EFD}"/>
              </a:ext>
            </a:extLst>
          </p:cNvPr>
          <p:cNvSpPr/>
          <p:nvPr/>
        </p:nvSpPr>
        <p:spPr>
          <a:xfrm rot="16200000">
            <a:off x="4373801" y="3718743"/>
            <a:ext cx="396398" cy="243283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右箭头 26">
            <a:extLst>
              <a:ext uri="{FF2B5EF4-FFF2-40B4-BE49-F238E27FC236}">
                <a16:creationId xmlns:a16="http://schemas.microsoft.com/office/drawing/2014/main" id="{C5FCC63D-6503-7349-4CB8-C1B042BB86EB}"/>
              </a:ext>
            </a:extLst>
          </p:cNvPr>
          <p:cNvSpPr/>
          <p:nvPr/>
        </p:nvSpPr>
        <p:spPr>
          <a:xfrm rot="16200000">
            <a:off x="6622560" y="3718743"/>
            <a:ext cx="396398" cy="243283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53947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  <p:bldP spid="13" grpId="0"/>
      <p:bldP spid="18" grpId="0" animBg="1"/>
      <p:bldP spid="19" grpId="0"/>
      <p:bldP spid="32" grpId="0" animBg="1"/>
      <p:bldP spid="33" grpId="0" animBg="1"/>
      <p:bldP spid="34" grpId="0" animBg="1"/>
      <p:bldP spid="41" grpId="0"/>
      <p:bldP spid="44" grpId="0" animBg="1"/>
      <p:bldP spid="45" grpId="0"/>
      <p:bldP spid="46" grpId="0"/>
      <p:bldP spid="47" grpId="0"/>
      <p:bldP spid="48" grpId="0"/>
      <p:bldP spid="49" grpId="0"/>
      <p:bldP spid="17" grpId="0" animBg="1"/>
      <p:bldP spid="23" grpId="0" animBg="1"/>
      <p:bldP spid="2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文本框 9220">
            <a:extLst>
              <a:ext uri="{FF2B5EF4-FFF2-40B4-BE49-F238E27FC236}">
                <a16:creationId xmlns:a16="http://schemas.microsoft.com/office/drawing/2014/main" id="{7781E1E4-1A07-29CD-4566-0667189758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676446"/>
            <a:ext cx="7924800" cy="214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kumimoji="0" lang="en-US" altLang="zh-CN" b="1" dirty="0">
                <a:solidFill>
                  <a:srgbClr val="FF0000"/>
                </a:solidFill>
              </a:rPr>
              <a:t>Phases: </a:t>
            </a:r>
            <a:r>
              <a:rPr kumimoji="0" lang="en-US" altLang="zh-CN" dirty="0"/>
              <a:t>one or more modules</a:t>
            </a:r>
            <a:r>
              <a:rPr kumimoji="0" lang="zh-CN" altLang="en-US" dirty="0"/>
              <a:t> </a:t>
            </a:r>
            <a:r>
              <a:rPr kumimoji="0" lang="en-US" altLang="zh-CN" sz="2800" b="1" dirty="0"/>
              <a:t>operating on different abstract “</a:t>
            </a:r>
            <a:r>
              <a:rPr kumimoji="0" lang="en-US" altLang="zh-CN" sz="2800" b="1" i="1" dirty="0"/>
              <a:t>languages</a:t>
            </a:r>
            <a:r>
              <a:rPr kumimoji="0" lang="en-US" altLang="zh-CN" sz="2800" b="1" dirty="0"/>
              <a:t>”</a:t>
            </a:r>
          </a:p>
          <a:p>
            <a:pPr eaLnBrk="1" hangingPunct="1">
              <a:spcBef>
                <a:spcPct val="10000"/>
              </a:spcBef>
              <a:buFont typeface="Arial" panose="020B0604020202020204" pitchFamily="34" charset="0"/>
              <a:buNone/>
            </a:pPr>
            <a:r>
              <a:rPr kumimoji="0" lang="en-US" altLang="zh-CN" b="1" dirty="0">
                <a:solidFill>
                  <a:srgbClr val="FF0000"/>
                </a:solidFill>
              </a:rPr>
              <a:t>Interfaces: </a:t>
            </a:r>
            <a:r>
              <a:rPr kumimoji="0" lang="en-US" altLang="zh-CN" sz="2800" b="1" dirty="0"/>
              <a:t>information exchanged  between modules </a:t>
            </a:r>
            <a:r>
              <a:rPr kumimoji="0" lang="en-US" altLang="zh-CN" sz="2800" dirty="0"/>
              <a:t>of the compiler</a:t>
            </a:r>
          </a:p>
        </p:txBody>
      </p:sp>
      <p:sp>
        <p:nvSpPr>
          <p:cNvPr id="27650" name="文本框 9221">
            <a:extLst>
              <a:ext uri="{FF2B5EF4-FFF2-40B4-BE49-F238E27FC236}">
                <a16:creationId xmlns:a16="http://schemas.microsoft.com/office/drawing/2014/main" id="{E187D029-42E5-483C-740F-A20E0DAF1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76200"/>
            <a:ext cx="594356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None/>
            </a:pPr>
            <a:r>
              <a:rPr lang="en-US" altLang="zh-CN" sz="2000" dirty="0"/>
              <a:t>Typical Workflow of a Compiler</a:t>
            </a:r>
          </a:p>
        </p:txBody>
      </p:sp>
      <p:sp>
        <p:nvSpPr>
          <p:cNvPr id="27651" name="矩形 9222">
            <a:extLst>
              <a:ext uri="{FF2B5EF4-FFF2-40B4-BE49-F238E27FC236}">
                <a16:creationId xmlns:a16="http://schemas.microsoft.com/office/drawing/2014/main" id="{5B53A274-70E8-40BB-0BF1-D6521A1553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85872"/>
            <a:ext cx="80772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4000" b="1" dirty="0">
                <a:solidFill>
                  <a:schemeClr val="tx2"/>
                </a:solidFill>
              </a:rPr>
              <a:t>Two Important Concepts</a:t>
            </a:r>
          </a:p>
        </p:txBody>
      </p:sp>
      <p:grpSp>
        <p:nvGrpSpPr>
          <p:cNvPr id="2" name="object 3">
            <a:extLst>
              <a:ext uri="{FF2B5EF4-FFF2-40B4-BE49-F238E27FC236}">
                <a16:creationId xmlns:a16="http://schemas.microsoft.com/office/drawing/2014/main" id="{68E21FB0-0742-C0F9-5193-58CB9D0D7BF7}"/>
              </a:ext>
            </a:extLst>
          </p:cNvPr>
          <p:cNvGrpSpPr/>
          <p:nvPr/>
        </p:nvGrpSpPr>
        <p:grpSpPr>
          <a:xfrm>
            <a:off x="1476975" y="4487845"/>
            <a:ext cx="6689090" cy="1417320"/>
            <a:chOff x="1408143" y="1698527"/>
            <a:chExt cx="6689090" cy="1417320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5CF22F8A-A66B-CCE3-3A2B-27C63B1D47B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08143" y="1698527"/>
              <a:ext cx="431999" cy="1417129"/>
            </a:xfrm>
            <a:prstGeom prst="rect">
              <a:avLst/>
            </a:prstGeom>
          </p:spPr>
        </p:pic>
        <p:sp>
          <p:nvSpPr>
            <p:cNvPr id="4" name="object 5">
              <a:extLst>
                <a:ext uri="{FF2B5EF4-FFF2-40B4-BE49-F238E27FC236}">
                  <a16:creationId xmlns:a16="http://schemas.microsoft.com/office/drawing/2014/main" id="{11710441-5577-EF9F-5645-C6EFC166B5DC}"/>
                </a:ext>
              </a:extLst>
            </p:cNvPr>
            <p:cNvSpPr/>
            <p:nvPr/>
          </p:nvSpPr>
          <p:spPr>
            <a:xfrm>
              <a:off x="5381536" y="2347543"/>
              <a:ext cx="2715895" cy="57150"/>
            </a:xfrm>
            <a:custGeom>
              <a:avLst/>
              <a:gdLst/>
              <a:ahLst/>
              <a:cxnLst/>
              <a:rect l="l" t="t" r="r" b="b"/>
              <a:pathLst>
                <a:path w="2715895" h="57150">
                  <a:moveTo>
                    <a:pt x="355574" y="28575"/>
                  </a:moveTo>
                  <a:lnTo>
                    <a:pt x="298424" y="0"/>
                  </a:lnTo>
                  <a:lnTo>
                    <a:pt x="298424" y="21437"/>
                  </a:lnTo>
                  <a:lnTo>
                    <a:pt x="0" y="21437"/>
                  </a:lnTo>
                  <a:lnTo>
                    <a:pt x="0" y="35725"/>
                  </a:lnTo>
                  <a:lnTo>
                    <a:pt x="298424" y="35725"/>
                  </a:lnTo>
                  <a:lnTo>
                    <a:pt x="298424" y="57150"/>
                  </a:lnTo>
                  <a:lnTo>
                    <a:pt x="355574" y="28575"/>
                  </a:lnTo>
                  <a:close/>
                </a:path>
                <a:path w="2715895" h="57150">
                  <a:moveTo>
                    <a:pt x="2715298" y="28575"/>
                  </a:moveTo>
                  <a:lnTo>
                    <a:pt x="2658148" y="0"/>
                  </a:lnTo>
                  <a:lnTo>
                    <a:pt x="2658148" y="21437"/>
                  </a:lnTo>
                  <a:lnTo>
                    <a:pt x="2377440" y="21437"/>
                  </a:lnTo>
                  <a:lnTo>
                    <a:pt x="2377440" y="35725"/>
                  </a:lnTo>
                  <a:lnTo>
                    <a:pt x="2658148" y="35725"/>
                  </a:lnTo>
                  <a:lnTo>
                    <a:pt x="2658148" y="57150"/>
                  </a:lnTo>
                  <a:lnTo>
                    <a:pt x="2715298" y="28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7" name="object 8">
            <a:extLst>
              <a:ext uri="{FF2B5EF4-FFF2-40B4-BE49-F238E27FC236}">
                <a16:creationId xmlns:a16="http://schemas.microsoft.com/office/drawing/2014/main" id="{D3095D62-2987-A483-9995-7ADB7BE2E120}"/>
              </a:ext>
            </a:extLst>
          </p:cNvPr>
          <p:cNvSpPr txBox="1"/>
          <p:nvPr/>
        </p:nvSpPr>
        <p:spPr>
          <a:xfrm>
            <a:off x="1566361" y="4620658"/>
            <a:ext cx="254000" cy="1125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词法分析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grpSp>
        <p:nvGrpSpPr>
          <p:cNvPr id="8" name="object 9">
            <a:extLst>
              <a:ext uri="{FF2B5EF4-FFF2-40B4-BE49-F238E27FC236}">
                <a16:creationId xmlns:a16="http://schemas.microsoft.com/office/drawing/2014/main" id="{976DFBC5-93A8-E02F-E312-A0EED3DF03F7}"/>
              </a:ext>
            </a:extLst>
          </p:cNvPr>
          <p:cNvGrpSpPr/>
          <p:nvPr/>
        </p:nvGrpSpPr>
        <p:grpSpPr>
          <a:xfrm>
            <a:off x="1338533" y="4332674"/>
            <a:ext cx="3101340" cy="2031364"/>
            <a:chOff x="1269701" y="1543356"/>
            <a:chExt cx="3101340" cy="2031364"/>
          </a:xfrm>
        </p:grpSpPr>
        <p:pic>
          <p:nvPicPr>
            <p:cNvPr id="9" name="object 10">
              <a:extLst>
                <a:ext uri="{FF2B5EF4-FFF2-40B4-BE49-F238E27FC236}">
                  <a16:creationId xmlns:a16="http://schemas.microsoft.com/office/drawing/2014/main" id="{74884B40-ECD4-1BB9-EE73-C52DDF4E753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87999" y="1716656"/>
              <a:ext cx="432000" cy="1400633"/>
            </a:xfrm>
            <a:prstGeom prst="rect">
              <a:avLst/>
            </a:prstGeom>
          </p:spPr>
        </p:pic>
        <p:pic>
          <p:nvPicPr>
            <p:cNvPr id="10" name="object 11">
              <a:extLst>
                <a:ext uri="{FF2B5EF4-FFF2-40B4-BE49-F238E27FC236}">
                  <a16:creationId xmlns:a16="http://schemas.microsoft.com/office/drawing/2014/main" id="{5A90FBD1-1DD6-7FDE-09E8-83A166029C6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71800" y="1700160"/>
              <a:ext cx="431999" cy="1417129"/>
            </a:xfrm>
            <a:prstGeom prst="rect">
              <a:avLst/>
            </a:prstGeom>
          </p:spPr>
        </p:pic>
        <p:sp>
          <p:nvSpPr>
            <p:cNvPr id="11" name="object 12">
              <a:extLst>
                <a:ext uri="{FF2B5EF4-FFF2-40B4-BE49-F238E27FC236}">
                  <a16:creationId xmlns:a16="http://schemas.microsoft.com/office/drawing/2014/main" id="{A7A98274-86B0-1A98-F86E-F50E38B51534}"/>
                </a:ext>
              </a:extLst>
            </p:cNvPr>
            <p:cNvSpPr/>
            <p:nvPr/>
          </p:nvSpPr>
          <p:spPr>
            <a:xfrm>
              <a:off x="1279226" y="1552881"/>
              <a:ext cx="2023110" cy="2012314"/>
            </a:xfrm>
            <a:custGeom>
              <a:avLst/>
              <a:gdLst/>
              <a:ahLst/>
              <a:cxnLst/>
              <a:rect l="l" t="t" r="r" b="b"/>
              <a:pathLst>
                <a:path w="2023110" h="2012314">
                  <a:moveTo>
                    <a:pt x="0" y="0"/>
                  </a:moveTo>
                  <a:lnTo>
                    <a:pt x="2023111" y="0"/>
                  </a:lnTo>
                  <a:lnTo>
                    <a:pt x="2023111" y="2012219"/>
                  </a:lnTo>
                  <a:lnTo>
                    <a:pt x="0" y="2012219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pic>
          <p:nvPicPr>
            <p:cNvPr id="12" name="object 13">
              <a:extLst>
                <a:ext uri="{FF2B5EF4-FFF2-40B4-BE49-F238E27FC236}">
                  <a16:creationId xmlns:a16="http://schemas.microsoft.com/office/drawing/2014/main" id="{FEA4B7B6-B3DE-44F7-3C2D-16B2121478E6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94681" y="1706285"/>
              <a:ext cx="575999" cy="1417128"/>
            </a:xfrm>
            <a:prstGeom prst="rect">
              <a:avLst/>
            </a:prstGeom>
          </p:spPr>
        </p:pic>
      </p:grpSp>
      <p:sp>
        <p:nvSpPr>
          <p:cNvPr id="13" name="object 14">
            <a:extLst>
              <a:ext uri="{FF2B5EF4-FFF2-40B4-BE49-F238E27FC236}">
                <a16:creationId xmlns:a16="http://schemas.microsoft.com/office/drawing/2014/main" id="{7DB9E082-BCC3-CE57-52E4-17ADBDE68745}"/>
              </a:ext>
            </a:extLst>
          </p:cNvPr>
          <p:cNvSpPr txBox="1"/>
          <p:nvPr/>
        </p:nvSpPr>
        <p:spPr>
          <a:xfrm>
            <a:off x="3901886" y="4742577"/>
            <a:ext cx="491490" cy="85788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algn="just">
              <a:lnSpc>
                <a:spcPct val="101699"/>
              </a:lnSpc>
              <a:spcBef>
                <a:spcPts val="60"/>
              </a:spcBef>
            </a:pPr>
            <a:r>
              <a:rPr sz="1800" b="1" spc="5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中间</a:t>
            </a:r>
            <a:r>
              <a:rPr sz="1800" b="1" spc="-25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代码</a:t>
            </a:r>
            <a:r>
              <a:rPr sz="1800" b="1" spc="-3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生成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pic>
        <p:nvPicPr>
          <p:cNvPr id="14" name="object 15">
            <a:extLst>
              <a:ext uri="{FF2B5EF4-FFF2-40B4-BE49-F238E27FC236}">
                <a16:creationId xmlns:a16="http://schemas.microsoft.com/office/drawing/2014/main" id="{498BDCE0-C750-136A-65EE-A462C5B76204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92751" y="4495603"/>
            <a:ext cx="575999" cy="1404569"/>
          </a:xfrm>
          <a:prstGeom prst="rect">
            <a:avLst/>
          </a:prstGeom>
        </p:spPr>
      </p:pic>
      <p:sp>
        <p:nvSpPr>
          <p:cNvPr id="15" name="object 19">
            <a:extLst>
              <a:ext uri="{FF2B5EF4-FFF2-40B4-BE49-F238E27FC236}">
                <a16:creationId xmlns:a16="http://schemas.microsoft.com/office/drawing/2014/main" id="{6B249AA8-5228-D5C0-69D9-D85EED5C6756}"/>
              </a:ext>
            </a:extLst>
          </p:cNvPr>
          <p:cNvSpPr/>
          <p:nvPr/>
        </p:nvSpPr>
        <p:spPr>
          <a:xfrm>
            <a:off x="3707210" y="4342144"/>
            <a:ext cx="1735455" cy="2012314"/>
          </a:xfrm>
          <a:custGeom>
            <a:avLst/>
            <a:gdLst/>
            <a:ahLst/>
            <a:cxnLst/>
            <a:rect l="l" t="t" r="r" b="b"/>
            <a:pathLst>
              <a:path w="1735454" h="2012314">
                <a:moveTo>
                  <a:pt x="0" y="0"/>
                </a:moveTo>
                <a:lnTo>
                  <a:pt x="1735073" y="0"/>
                </a:lnTo>
                <a:lnTo>
                  <a:pt x="1735073" y="2012219"/>
                </a:lnTo>
                <a:lnTo>
                  <a:pt x="0" y="2012219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object 20">
            <a:extLst>
              <a:ext uri="{FF2B5EF4-FFF2-40B4-BE49-F238E27FC236}">
                <a16:creationId xmlns:a16="http://schemas.microsoft.com/office/drawing/2014/main" id="{7914D80E-17A1-8319-A775-FCE923DD1762}"/>
              </a:ext>
            </a:extLst>
          </p:cNvPr>
          <p:cNvSpPr txBox="1"/>
          <p:nvPr/>
        </p:nvSpPr>
        <p:spPr>
          <a:xfrm>
            <a:off x="4359533" y="5998079"/>
            <a:ext cx="482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中端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grpSp>
        <p:nvGrpSpPr>
          <p:cNvPr id="17" name="object 21">
            <a:extLst>
              <a:ext uri="{FF2B5EF4-FFF2-40B4-BE49-F238E27FC236}">
                <a16:creationId xmlns:a16="http://schemas.microsoft.com/office/drawing/2014/main" id="{9A935D4F-CF38-B609-3B73-5036CD502887}"/>
              </a:ext>
            </a:extLst>
          </p:cNvPr>
          <p:cNvGrpSpPr/>
          <p:nvPr/>
        </p:nvGrpSpPr>
        <p:grpSpPr>
          <a:xfrm>
            <a:off x="5929202" y="4487843"/>
            <a:ext cx="1808480" cy="1412875"/>
            <a:chOff x="5860370" y="1698525"/>
            <a:chExt cx="1808480" cy="1412875"/>
          </a:xfrm>
        </p:grpSpPr>
        <p:pic>
          <p:nvPicPr>
            <p:cNvPr id="18" name="object 22">
              <a:extLst>
                <a:ext uri="{FF2B5EF4-FFF2-40B4-BE49-F238E27FC236}">
                  <a16:creationId xmlns:a16="http://schemas.microsoft.com/office/drawing/2014/main" id="{60C32743-A897-D6B9-78BE-C2A6C057216B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60370" y="1698527"/>
              <a:ext cx="432000" cy="1412326"/>
            </a:xfrm>
            <a:prstGeom prst="rect">
              <a:avLst/>
            </a:prstGeom>
          </p:spPr>
        </p:pic>
        <p:pic>
          <p:nvPicPr>
            <p:cNvPr id="19" name="object 23">
              <a:extLst>
                <a:ext uri="{FF2B5EF4-FFF2-40B4-BE49-F238E27FC236}">
                  <a16:creationId xmlns:a16="http://schemas.microsoft.com/office/drawing/2014/main" id="{BCF66EB6-5889-CD79-3F80-E174C4347B66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36344" y="1698525"/>
              <a:ext cx="431999" cy="1412327"/>
            </a:xfrm>
            <a:prstGeom prst="rect">
              <a:avLst/>
            </a:prstGeom>
          </p:spPr>
        </p:pic>
      </p:grpSp>
      <p:grpSp>
        <p:nvGrpSpPr>
          <p:cNvPr id="20" name="object 25">
            <a:extLst>
              <a:ext uri="{FF2B5EF4-FFF2-40B4-BE49-F238E27FC236}">
                <a16:creationId xmlns:a16="http://schemas.microsoft.com/office/drawing/2014/main" id="{EB124B1F-3747-3742-D021-3E2C7594558C}"/>
              </a:ext>
            </a:extLst>
          </p:cNvPr>
          <p:cNvGrpSpPr/>
          <p:nvPr/>
        </p:nvGrpSpPr>
        <p:grpSpPr>
          <a:xfrm>
            <a:off x="5787086" y="4329730"/>
            <a:ext cx="2042160" cy="2031364"/>
            <a:chOff x="5718254" y="1540412"/>
            <a:chExt cx="2042160" cy="2031364"/>
          </a:xfrm>
        </p:grpSpPr>
        <p:pic>
          <p:nvPicPr>
            <p:cNvPr id="21" name="object 26">
              <a:extLst>
                <a:ext uri="{FF2B5EF4-FFF2-40B4-BE49-F238E27FC236}">
                  <a16:creationId xmlns:a16="http://schemas.microsoft.com/office/drawing/2014/main" id="{698ADE3F-50EA-64EC-46CE-ED207C85DE1B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59882" y="1698525"/>
              <a:ext cx="432000" cy="1418763"/>
            </a:xfrm>
            <a:prstGeom prst="rect">
              <a:avLst/>
            </a:prstGeom>
          </p:spPr>
        </p:pic>
        <p:sp>
          <p:nvSpPr>
            <p:cNvPr id="22" name="object 27">
              <a:extLst>
                <a:ext uri="{FF2B5EF4-FFF2-40B4-BE49-F238E27FC236}">
                  <a16:creationId xmlns:a16="http://schemas.microsoft.com/office/drawing/2014/main" id="{0023E135-405B-E3EB-2745-07984F132CAF}"/>
                </a:ext>
              </a:extLst>
            </p:cNvPr>
            <p:cNvSpPr/>
            <p:nvPr/>
          </p:nvSpPr>
          <p:spPr>
            <a:xfrm>
              <a:off x="5727779" y="1549937"/>
              <a:ext cx="2023110" cy="2012314"/>
            </a:xfrm>
            <a:custGeom>
              <a:avLst/>
              <a:gdLst/>
              <a:ahLst/>
              <a:cxnLst/>
              <a:rect l="l" t="t" r="r" b="b"/>
              <a:pathLst>
                <a:path w="2023109" h="2012314">
                  <a:moveTo>
                    <a:pt x="0" y="0"/>
                  </a:moveTo>
                  <a:lnTo>
                    <a:pt x="2023110" y="0"/>
                  </a:lnTo>
                  <a:lnTo>
                    <a:pt x="2023110" y="2012219"/>
                  </a:lnTo>
                  <a:lnTo>
                    <a:pt x="0" y="2012219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23" name="object 30">
            <a:extLst>
              <a:ext uri="{FF2B5EF4-FFF2-40B4-BE49-F238E27FC236}">
                <a16:creationId xmlns:a16="http://schemas.microsoft.com/office/drawing/2014/main" id="{892FE39D-CC08-9CC9-2279-447392654EDC}"/>
              </a:ext>
            </a:extLst>
          </p:cNvPr>
          <p:cNvGrpSpPr/>
          <p:nvPr/>
        </p:nvGrpSpPr>
        <p:grpSpPr>
          <a:xfrm>
            <a:off x="1041618" y="4190980"/>
            <a:ext cx="6910070" cy="2290445"/>
            <a:chOff x="972786" y="1401662"/>
            <a:chExt cx="6910070" cy="2290445"/>
          </a:xfrm>
        </p:grpSpPr>
        <p:sp>
          <p:nvSpPr>
            <p:cNvPr id="24" name="object 31">
              <a:extLst>
                <a:ext uri="{FF2B5EF4-FFF2-40B4-BE49-F238E27FC236}">
                  <a16:creationId xmlns:a16="http://schemas.microsoft.com/office/drawing/2014/main" id="{2FF51D65-3341-EAE3-8A9F-DAF3E6859CBF}"/>
                </a:ext>
              </a:extLst>
            </p:cNvPr>
            <p:cNvSpPr/>
            <p:nvPr/>
          </p:nvSpPr>
          <p:spPr>
            <a:xfrm>
              <a:off x="983898" y="1412774"/>
              <a:ext cx="6887845" cy="2268220"/>
            </a:xfrm>
            <a:custGeom>
              <a:avLst/>
              <a:gdLst/>
              <a:ahLst/>
              <a:cxnLst/>
              <a:rect l="l" t="t" r="r" b="b"/>
              <a:pathLst>
                <a:path w="6887845" h="2268220">
                  <a:moveTo>
                    <a:pt x="0" y="0"/>
                  </a:moveTo>
                  <a:lnTo>
                    <a:pt x="6887295" y="0"/>
                  </a:lnTo>
                  <a:lnTo>
                    <a:pt x="6887295" y="2268000"/>
                  </a:lnTo>
                  <a:lnTo>
                    <a:pt x="0" y="2268000"/>
                  </a:lnTo>
                  <a:lnTo>
                    <a:pt x="0" y="0"/>
                  </a:lnTo>
                  <a:close/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5" name="object 32">
              <a:extLst>
                <a:ext uri="{FF2B5EF4-FFF2-40B4-BE49-F238E27FC236}">
                  <a16:creationId xmlns:a16="http://schemas.microsoft.com/office/drawing/2014/main" id="{A37E3A27-138E-3B46-EC91-C14A05733A0A}"/>
                </a:ext>
              </a:extLst>
            </p:cNvPr>
            <p:cNvSpPr/>
            <p:nvPr/>
          </p:nvSpPr>
          <p:spPr>
            <a:xfrm>
              <a:off x="3312807" y="2361107"/>
              <a:ext cx="335280" cy="57150"/>
            </a:xfrm>
            <a:custGeom>
              <a:avLst/>
              <a:gdLst/>
              <a:ahLst/>
              <a:cxnLst/>
              <a:rect l="l" t="t" r="r" b="b"/>
              <a:pathLst>
                <a:path w="335279" h="57150">
                  <a:moveTo>
                    <a:pt x="335191" y="28575"/>
                  </a:moveTo>
                  <a:lnTo>
                    <a:pt x="320903" y="21424"/>
                  </a:lnTo>
                  <a:lnTo>
                    <a:pt x="278041" y="0"/>
                  </a:lnTo>
                  <a:lnTo>
                    <a:pt x="278041" y="21424"/>
                  </a:lnTo>
                  <a:lnTo>
                    <a:pt x="0" y="21424"/>
                  </a:lnTo>
                  <a:lnTo>
                    <a:pt x="0" y="35712"/>
                  </a:lnTo>
                  <a:lnTo>
                    <a:pt x="278041" y="35712"/>
                  </a:lnTo>
                  <a:lnTo>
                    <a:pt x="278041" y="57150"/>
                  </a:lnTo>
                  <a:lnTo>
                    <a:pt x="320903" y="35712"/>
                  </a:lnTo>
                  <a:lnTo>
                    <a:pt x="335191" y="28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26" name="object 38">
            <a:extLst>
              <a:ext uri="{FF2B5EF4-FFF2-40B4-BE49-F238E27FC236}">
                <a16:creationId xmlns:a16="http://schemas.microsoft.com/office/drawing/2014/main" id="{270186CE-D60C-E40A-9FDB-5C01F00B5465}"/>
              </a:ext>
            </a:extLst>
          </p:cNvPr>
          <p:cNvGrpSpPr/>
          <p:nvPr/>
        </p:nvGrpSpPr>
        <p:grpSpPr>
          <a:xfrm>
            <a:off x="1896428" y="5136857"/>
            <a:ext cx="963852" cy="70711"/>
            <a:chOff x="1827596" y="2347539"/>
            <a:chExt cx="963852" cy="70711"/>
          </a:xfrm>
        </p:grpSpPr>
        <p:pic>
          <p:nvPicPr>
            <p:cNvPr id="27" name="object 39">
              <a:extLst>
                <a:ext uri="{FF2B5EF4-FFF2-40B4-BE49-F238E27FC236}">
                  <a16:creationId xmlns:a16="http://schemas.microsoft.com/office/drawing/2014/main" id="{D7F8E6BC-0BA9-6734-49E0-46F380651740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04413" y="2347539"/>
              <a:ext cx="287035" cy="70711"/>
            </a:xfrm>
            <a:prstGeom prst="rect">
              <a:avLst/>
            </a:prstGeom>
          </p:spPr>
        </p:pic>
        <p:pic>
          <p:nvPicPr>
            <p:cNvPr id="28" name="object 40">
              <a:extLst>
                <a:ext uri="{FF2B5EF4-FFF2-40B4-BE49-F238E27FC236}">
                  <a16:creationId xmlns:a16="http://schemas.microsoft.com/office/drawing/2014/main" id="{BAD21C11-965E-3E1C-C95B-FB3F000FB3AB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27596" y="2347539"/>
              <a:ext cx="287033" cy="70711"/>
            </a:xfrm>
            <a:prstGeom prst="rect">
              <a:avLst/>
            </a:prstGeom>
          </p:spPr>
        </p:pic>
      </p:grpSp>
      <p:sp>
        <p:nvSpPr>
          <p:cNvPr id="29" name="object 42">
            <a:extLst>
              <a:ext uri="{FF2B5EF4-FFF2-40B4-BE49-F238E27FC236}">
                <a16:creationId xmlns:a16="http://schemas.microsoft.com/office/drawing/2014/main" id="{29F18018-F53C-319C-FA30-F0942EB1CDD8}"/>
              </a:ext>
            </a:extLst>
          </p:cNvPr>
          <p:cNvSpPr txBox="1"/>
          <p:nvPr/>
        </p:nvSpPr>
        <p:spPr>
          <a:xfrm>
            <a:off x="2116447" y="4620129"/>
            <a:ext cx="1084580" cy="1677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985">
              <a:lnSpc>
                <a:spcPct val="100000"/>
              </a:lnSpc>
              <a:spcBef>
                <a:spcPts val="100"/>
              </a:spcBef>
              <a:tabLst>
                <a:tab pos="842644" algn="l"/>
              </a:tabLst>
            </a:pPr>
            <a:r>
              <a:rPr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语</a:t>
            </a:r>
            <a:r>
              <a:rPr sz="18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	</a:t>
            </a:r>
            <a:r>
              <a:rPr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语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  <a:p>
            <a:pPr marL="133985">
              <a:lnSpc>
                <a:spcPct val="100000"/>
              </a:lnSpc>
              <a:spcBef>
                <a:spcPts val="20"/>
              </a:spcBef>
              <a:tabLst>
                <a:tab pos="842644" algn="l"/>
              </a:tabLst>
            </a:pPr>
            <a:r>
              <a:rPr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法</a:t>
            </a:r>
            <a:r>
              <a:rPr sz="18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	</a:t>
            </a:r>
            <a:r>
              <a:rPr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义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  <a:p>
            <a:pPr marL="133985">
              <a:lnSpc>
                <a:spcPts val="2125"/>
              </a:lnSpc>
              <a:spcBef>
                <a:spcPts val="50"/>
              </a:spcBef>
              <a:tabLst>
                <a:tab pos="842644" algn="l"/>
              </a:tabLst>
            </a:pPr>
            <a:r>
              <a:rPr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分</a:t>
            </a:r>
            <a:r>
              <a:rPr sz="18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	</a:t>
            </a:r>
            <a:r>
              <a:rPr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分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  <a:p>
            <a:pPr marL="133985">
              <a:lnSpc>
                <a:spcPts val="2125"/>
              </a:lnSpc>
              <a:tabLst>
                <a:tab pos="842644" algn="l"/>
              </a:tabLst>
            </a:pPr>
            <a:r>
              <a:rPr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析</a:t>
            </a:r>
            <a:r>
              <a:rPr sz="18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	</a:t>
            </a:r>
            <a:r>
              <a:rPr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析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2210"/>
              </a:spcBef>
            </a:pPr>
            <a:r>
              <a:rPr sz="1800" b="1" spc="-25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前端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1" name="object 32">
            <a:extLst>
              <a:ext uri="{FF2B5EF4-FFF2-40B4-BE49-F238E27FC236}">
                <a16:creationId xmlns:a16="http://schemas.microsoft.com/office/drawing/2014/main" id="{391EC594-90DB-9F91-0A2C-385CDD0E3892}"/>
              </a:ext>
            </a:extLst>
          </p:cNvPr>
          <p:cNvSpPr/>
          <p:nvPr/>
        </p:nvSpPr>
        <p:spPr>
          <a:xfrm>
            <a:off x="4457754" y="5139259"/>
            <a:ext cx="335280" cy="57150"/>
          </a:xfrm>
          <a:custGeom>
            <a:avLst/>
            <a:gdLst/>
            <a:ahLst/>
            <a:cxnLst/>
            <a:rect l="l" t="t" r="r" b="b"/>
            <a:pathLst>
              <a:path w="335279" h="57150">
                <a:moveTo>
                  <a:pt x="335191" y="28575"/>
                </a:moveTo>
                <a:lnTo>
                  <a:pt x="320903" y="21424"/>
                </a:lnTo>
                <a:lnTo>
                  <a:pt x="278041" y="0"/>
                </a:lnTo>
                <a:lnTo>
                  <a:pt x="278041" y="21424"/>
                </a:lnTo>
                <a:lnTo>
                  <a:pt x="0" y="21424"/>
                </a:lnTo>
                <a:lnTo>
                  <a:pt x="0" y="35712"/>
                </a:lnTo>
                <a:lnTo>
                  <a:pt x="278041" y="35712"/>
                </a:lnTo>
                <a:lnTo>
                  <a:pt x="278041" y="57150"/>
                </a:lnTo>
                <a:lnTo>
                  <a:pt x="320903" y="35712"/>
                </a:lnTo>
                <a:lnTo>
                  <a:pt x="335191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object 14">
            <a:extLst>
              <a:ext uri="{FF2B5EF4-FFF2-40B4-BE49-F238E27FC236}">
                <a16:creationId xmlns:a16="http://schemas.microsoft.com/office/drawing/2014/main" id="{9DA82998-ED86-6BCA-3DB0-9993335CC309}"/>
              </a:ext>
            </a:extLst>
          </p:cNvPr>
          <p:cNvSpPr txBox="1"/>
          <p:nvPr/>
        </p:nvSpPr>
        <p:spPr>
          <a:xfrm>
            <a:off x="4838024" y="4652475"/>
            <a:ext cx="491490" cy="1119089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algn="just">
              <a:lnSpc>
                <a:spcPct val="101699"/>
              </a:lnSpc>
              <a:spcBef>
                <a:spcPts val="60"/>
              </a:spcBef>
            </a:pPr>
            <a:r>
              <a:rPr lang="en-US" sz="1800" b="1" spc="5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机器无关代码优化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3" name="object 8">
            <a:extLst>
              <a:ext uri="{FF2B5EF4-FFF2-40B4-BE49-F238E27FC236}">
                <a16:creationId xmlns:a16="http://schemas.microsoft.com/office/drawing/2014/main" id="{F365B75F-3310-D72B-8D94-6E186969941D}"/>
              </a:ext>
            </a:extLst>
          </p:cNvPr>
          <p:cNvSpPr txBox="1"/>
          <p:nvPr/>
        </p:nvSpPr>
        <p:spPr>
          <a:xfrm>
            <a:off x="6014980" y="4609284"/>
            <a:ext cx="254000" cy="111953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lang="zh-CN" altLang="en-US"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指令选择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4" name="object 8">
            <a:extLst>
              <a:ext uri="{FF2B5EF4-FFF2-40B4-BE49-F238E27FC236}">
                <a16:creationId xmlns:a16="http://schemas.microsoft.com/office/drawing/2014/main" id="{965874DB-4403-DA62-69C0-E1CD85D9BB50}"/>
              </a:ext>
            </a:extLst>
          </p:cNvPr>
          <p:cNvSpPr txBox="1"/>
          <p:nvPr/>
        </p:nvSpPr>
        <p:spPr>
          <a:xfrm>
            <a:off x="6715148" y="4505974"/>
            <a:ext cx="254000" cy="139653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lang="zh-CN" altLang="en-US"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寄存器分配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5" name="object 8">
            <a:extLst>
              <a:ext uri="{FF2B5EF4-FFF2-40B4-BE49-F238E27FC236}">
                <a16:creationId xmlns:a16="http://schemas.microsoft.com/office/drawing/2014/main" id="{FEA0EC5F-02F0-00CD-123B-6F7DFF0C0580}"/>
              </a:ext>
            </a:extLst>
          </p:cNvPr>
          <p:cNvSpPr txBox="1"/>
          <p:nvPr/>
        </p:nvSpPr>
        <p:spPr>
          <a:xfrm>
            <a:off x="7391200" y="4618261"/>
            <a:ext cx="254000" cy="111953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lang="zh-CN" altLang="en-US"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指令调度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6" name="object 20">
            <a:extLst>
              <a:ext uri="{FF2B5EF4-FFF2-40B4-BE49-F238E27FC236}">
                <a16:creationId xmlns:a16="http://schemas.microsoft.com/office/drawing/2014/main" id="{89DB24E6-D0C1-6F4D-D6CE-FC25836BD0EB}"/>
              </a:ext>
            </a:extLst>
          </p:cNvPr>
          <p:cNvSpPr txBox="1"/>
          <p:nvPr/>
        </p:nvSpPr>
        <p:spPr>
          <a:xfrm>
            <a:off x="6600848" y="6007976"/>
            <a:ext cx="4826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800" b="1" spc="-25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后</a:t>
            </a:r>
            <a:r>
              <a:rPr lang="zh-CN" altLang="en-US" b="1" spc="-25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端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8" name="object 32">
            <a:extLst>
              <a:ext uri="{FF2B5EF4-FFF2-40B4-BE49-F238E27FC236}">
                <a16:creationId xmlns:a16="http://schemas.microsoft.com/office/drawing/2014/main" id="{0603BBE7-8980-E514-A7E5-0757FDD700CB}"/>
              </a:ext>
            </a:extLst>
          </p:cNvPr>
          <p:cNvSpPr/>
          <p:nvPr/>
        </p:nvSpPr>
        <p:spPr>
          <a:xfrm>
            <a:off x="6361202" y="5135074"/>
            <a:ext cx="278448" cy="46480"/>
          </a:xfrm>
          <a:custGeom>
            <a:avLst/>
            <a:gdLst/>
            <a:ahLst/>
            <a:cxnLst/>
            <a:rect l="l" t="t" r="r" b="b"/>
            <a:pathLst>
              <a:path w="335279" h="57150">
                <a:moveTo>
                  <a:pt x="335191" y="28575"/>
                </a:moveTo>
                <a:lnTo>
                  <a:pt x="320903" y="21424"/>
                </a:lnTo>
                <a:lnTo>
                  <a:pt x="278041" y="0"/>
                </a:lnTo>
                <a:lnTo>
                  <a:pt x="278041" y="21424"/>
                </a:lnTo>
                <a:lnTo>
                  <a:pt x="0" y="21424"/>
                </a:lnTo>
                <a:lnTo>
                  <a:pt x="0" y="35712"/>
                </a:lnTo>
                <a:lnTo>
                  <a:pt x="278041" y="35712"/>
                </a:lnTo>
                <a:lnTo>
                  <a:pt x="278041" y="57150"/>
                </a:lnTo>
                <a:lnTo>
                  <a:pt x="320903" y="35712"/>
                </a:lnTo>
                <a:lnTo>
                  <a:pt x="335191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9" name="object 32">
            <a:extLst>
              <a:ext uri="{FF2B5EF4-FFF2-40B4-BE49-F238E27FC236}">
                <a16:creationId xmlns:a16="http://schemas.microsoft.com/office/drawing/2014/main" id="{E53EF112-F7B4-06E8-D0AB-F7DD643CCF75}"/>
              </a:ext>
            </a:extLst>
          </p:cNvPr>
          <p:cNvSpPr/>
          <p:nvPr/>
        </p:nvSpPr>
        <p:spPr>
          <a:xfrm>
            <a:off x="7062492" y="5125781"/>
            <a:ext cx="252636" cy="45719"/>
          </a:xfrm>
          <a:custGeom>
            <a:avLst/>
            <a:gdLst/>
            <a:ahLst/>
            <a:cxnLst/>
            <a:rect l="l" t="t" r="r" b="b"/>
            <a:pathLst>
              <a:path w="335279" h="57150">
                <a:moveTo>
                  <a:pt x="335191" y="28575"/>
                </a:moveTo>
                <a:lnTo>
                  <a:pt x="320903" y="21424"/>
                </a:lnTo>
                <a:lnTo>
                  <a:pt x="278041" y="0"/>
                </a:lnTo>
                <a:lnTo>
                  <a:pt x="278041" y="21424"/>
                </a:lnTo>
                <a:lnTo>
                  <a:pt x="0" y="21424"/>
                </a:lnTo>
                <a:lnTo>
                  <a:pt x="0" y="35712"/>
                </a:lnTo>
                <a:lnTo>
                  <a:pt x="278041" y="35712"/>
                </a:lnTo>
                <a:lnTo>
                  <a:pt x="278041" y="57150"/>
                </a:lnTo>
                <a:lnTo>
                  <a:pt x="320903" y="35712"/>
                </a:lnTo>
                <a:lnTo>
                  <a:pt x="335191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0" name="object 6">
            <a:extLst>
              <a:ext uri="{FF2B5EF4-FFF2-40B4-BE49-F238E27FC236}">
                <a16:creationId xmlns:a16="http://schemas.microsoft.com/office/drawing/2014/main" id="{0A991F63-915C-3B9C-D07E-835E013C35F0}"/>
              </a:ext>
            </a:extLst>
          </p:cNvPr>
          <p:cNvSpPr txBox="1"/>
          <p:nvPr/>
        </p:nvSpPr>
        <p:spPr>
          <a:xfrm>
            <a:off x="240586" y="4822788"/>
            <a:ext cx="562610" cy="67183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algn="just">
              <a:lnSpc>
                <a:spcPct val="101400"/>
              </a:lnSpc>
              <a:spcBef>
                <a:spcPts val="75"/>
              </a:spcBef>
            </a:pPr>
            <a:r>
              <a:rPr sz="1400" b="1" spc="-20" dirty="0" err="1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程序员编写的源程序</a:t>
            </a:r>
            <a:endParaRPr sz="14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41" name="object 7">
            <a:extLst>
              <a:ext uri="{FF2B5EF4-FFF2-40B4-BE49-F238E27FC236}">
                <a16:creationId xmlns:a16="http://schemas.microsoft.com/office/drawing/2014/main" id="{341A9FFF-747C-3B0E-E29A-ACC7017670B8}"/>
              </a:ext>
            </a:extLst>
          </p:cNvPr>
          <p:cNvSpPr txBox="1"/>
          <p:nvPr/>
        </p:nvSpPr>
        <p:spPr>
          <a:xfrm>
            <a:off x="8220281" y="4827416"/>
            <a:ext cx="739140" cy="67183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algn="just">
              <a:lnSpc>
                <a:spcPct val="101400"/>
              </a:lnSpc>
              <a:spcBef>
                <a:spcPts val="75"/>
              </a:spcBef>
            </a:pPr>
            <a:r>
              <a:rPr sz="1400" b="1" spc="-15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机器硬件上运行的目标代码</a:t>
            </a:r>
            <a:endParaRPr sz="140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pic>
        <p:nvPicPr>
          <p:cNvPr id="42" name="object 44">
            <a:extLst>
              <a:ext uri="{FF2B5EF4-FFF2-40B4-BE49-F238E27FC236}">
                <a16:creationId xmlns:a16="http://schemas.microsoft.com/office/drawing/2014/main" id="{359CFD05-D43F-A170-8E1D-655CACCC5A91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2516" y="5524110"/>
            <a:ext cx="783113" cy="656429"/>
          </a:xfrm>
          <a:prstGeom prst="rect">
            <a:avLst/>
          </a:prstGeom>
        </p:spPr>
      </p:pic>
      <p:pic>
        <p:nvPicPr>
          <p:cNvPr id="43" name="Picture 2" descr="What is a CPU? A beginner's guide to ...">
            <a:extLst>
              <a:ext uri="{FF2B5EF4-FFF2-40B4-BE49-F238E27FC236}">
                <a16:creationId xmlns:a16="http://schemas.microsoft.com/office/drawing/2014/main" id="{8DA0D759-BEF8-4CFD-FA81-743F047A3D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2913" y="5529571"/>
            <a:ext cx="970027" cy="645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object 32">
            <a:extLst>
              <a:ext uri="{FF2B5EF4-FFF2-40B4-BE49-F238E27FC236}">
                <a16:creationId xmlns:a16="http://schemas.microsoft.com/office/drawing/2014/main" id="{1730CA53-55E2-3E0D-1E7E-04CB149E503D}"/>
              </a:ext>
            </a:extLst>
          </p:cNvPr>
          <p:cNvSpPr/>
          <p:nvPr/>
        </p:nvSpPr>
        <p:spPr>
          <a:xfrm flipV="1">
            <a:off x="874703" y="5172212"/>
            <a:ext cx="407060" cy="45719"/>
          </a:xfrm>
          <a:custGeom>
            <a:avLst/>
            <a:gdLst/>
            <a:ahLst/>
            <a:cxnLst/>
            <a:rect l="l" t="t" r="r" b="b"/>
            <a:pathLst>
              <a:path w="335279" h="57150">
                <a:moveTo>
                  <a:pt x="335191" y="28575"/>
                </a:moveTo>
                <a:lnTo>
                  <a:pt x="320903" y="21424"/>
                </a:lnTo>
                <a:lnTo>
                  <a:pt x="278041" y="0"/>
                </a:lnTo>
                <a:lnTo>
                  <a:pt x="278041" y="21424"/>
                </a:lnTo>
                <a:lnTo>
                  <a:pt x="0" y="21424"/>
                </a:lnTo>
                <a:lnTo>
                  <a:pt x="0" y="35712"/>
                </a:lnTo>
                <a:lnTo>
                  <a:pt x="278041" y="35712"/>
                </a:lnTo>
                <a:lnTo>
                  <a:pt x="278041" y="57150"/>
                </a:lnTo>
                <a:lnTo>
                  <a:pt x="320903" y="35712"/>
                </a:lnTo>
                <a:lnTo>
                  <a:pt x="335191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614367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文本框 11268">
            <a:extLst>
              <a:ext uri="{FF2B5EF4-FFF2-40B4-BE49-F238E27FC236}">
                <a16:creationId xmlns:a16="http://schemas.microsoft.com/office/drawing/2014/main" id="{6DC148B7-4D7C-F11C-B7D7-2421C68400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292" y="1870173"/>
            <a:ext cx="8153400" cy="149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spcBef>
                <a:spcPct val="50000"/>
              </a:spcBef>
              <a:buFont typeface="Wingdings" pitchFamily="2" charset="2"/>
              <a:buChar char="l"/>
            </a:pPr>
            <a:r>
              <a:rPr kumimoji="0" lang="en-US" altLang="zh-CN" sz="2200" b="1" dirty="0"/>
              <a:t>Easier</a:t>
            </a:r>
            <a:r>
              <a:rPr kumimoji="0" lang="zh-CN" altLang="en-US" sz="2200" b="1" dirty="0"/>
              <a:t> </a:t>
            </a:r>
            <a:r>
              <a:rPr kumimoji="0" lang="en-US" altLang="zh-CN" sz="2200" b="1" dirty="0"/>
              <a:t>to</a:t>
            </a:r>
            <a:r>
              <a:rPr kumimoji="0" lang="zh-CN" altLang="en-US" sz="2200" b="1" dirty="0"/>
              <a:t> </a:t>
            </a:r>
            <a:r>
              <a:rPr kumimoji="0" lang="en-US" altLang="zh-CN" sz="2200" b="1" dirty="0"/>
              <a:t>understand</a:t>
            </a:r>
            <a:r>
              <a:rPr kumimoji="0" lang="zh-CN" altLang="en-US" sz="2200" b="1" dirty="0"/>
              <a:t> </a:t>
            </a:r>
            <a:r>
              <a:rPr kumimoji="0" lang="en-US" altLang="zh-CN" sz="2200" b="1" dirty="0"/>
              <a:t>and</a:t>
            </a:r>
            <a:r>
              <a:rPr kumimoji="0" lang="zh-CN" altLang="en-US" sz="2200" b="1" dirty="0"/>
              <a:t> </a:t>
            </a:r>
            <a:r>
              <a:rPr kumimoji="0" lang="en-US" altLang="zh-CN" sz="2200" b="1" dirty="0"/>
              <a:t>implement</a:t>
            </a:r>
          </a:p>
          <a:p>
            <a:pPr marL="342900" indent="-342900" eaLnBrk="1" hangingPunct="1">
              <a:spcBef>
                <a:spcPct val="50000"/>
              </a:spcBef>
              <a:buFont typeface="Wingdings" pitchFamily="2" charset="2"/>
              <a:buChar char="l"/>
            </a:pPr>
            <a:r>
              <a:rPr kumimoji="0" lang="en-US" altLang="zh-CN" sz="2200" b="1" dirty="0"/>
              <a:t>Allow for </a:t>
            </a:r>
            <a:r>
              <a:rPr kumimoji="0" lang="en-US" altLang="zh-CN" sz="2200" b="1" dirty="0">
                <a:solidFill>
                  <a:srgbClr val="FF0000"/>
                </a:solidFill>
              </a:rPr>
              <a:t>reusing the components</a:t>
            </a:r>
          </a:p>
          <a:p>
            <a:pPr marL="800100" lvl="1" indent="-342900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kumimoji="0" lang="en-US" altLang="zh-CN" sz="2200" b="1" dirty="0"/>
              <a:t>changing the </a:t>
            </a:r>
            <a:r>
              <a:rPr kumimoji="0" lang="en-US" altLang="zh-CN" sz="2400" b="1" dirty="0"/>
              <a:t>source and/or target</a:t>
            </a:r>
            <a:r>
              <a:rPr kumimoji="0" lang="zh-CN" altLang="en-US" sz="2400" b="1" dirty="0"/>
              <a:t> </a:t>
            </a:r>
            <a:r>
              <a:rPr kumimoji="0" lang="en-US" altLang="zh-CN" sz="2400" b="1" dirty="0"/>
              <a:t>languages</a:t>
            </a:r>
          </a:p>
        </p:txBody>
      </p:sp>
      <p:grpSp>
        <p:nvGrpSpPr>
          <p:cNvPr id="4" name="object 3">
            <a:extLst>
              <a:ext uri="{FF2B5EF4-FFF2-40B4-BE49-F238E27FC236}">
                <a16:creationId xmlns:a16="http://schemas.microsoft.com/office/drawing/2014/main" id="{6FA1F953-F23D-E335-7AB2-A8F71267EA37}"/>
              </a:ext>
            </a:extLst>
          </p:cNvPr>
          <p:cNvGrpSpPr/>
          <p:nvPr/>
        </p:nvGrpSpPr>
        <p:grpSpPr>
          <a:xfrm>
            <a:off x="1476975" y="4183053"/>
            <a:ext cx="6689090" cy="1417320"/>
            <a:chOff x="1408143" y="1698527"/>
            <a:chExt cx="6689090" cy="1417320"/>
          </a:xfrm>
        </p:grpSpPr>
        <p:pic>
          <p:nvPicPr>
            <p:cNvPr id="37" name="object 4">
              <a:extLst>
                <a:ext uri="{FF2B5EF4-FFF2-40B4-BE49-F238E27FC236}">
                  <a16:creationId xmlns:a16="http://schemas.microsoft.com/office/drawing/2014/main" id="{BF134804-7CD2-E0FF-6B39-CFB99946BDA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08143" y="1698527"/>
              <a:ext cx="431999" cy="1417129"/>
            </a:xfrm>
            <a:prstGeom prst="rect">
              <a:avLst/>
            </a:prstGeom>
          </p:spPr>
        </p:pic>
        <p:sp>
          <p:nvSpPr>
            <p:cNvPr id="38" name="object 5">
              <a:extLst>
                <a:ext uri="{FF2B5EF4-FFF2-40B4-BE49-F238E27FC236}">
                  <a16:creationId xmlns:a16="http://schemas.microsoft.com/office/drawing/2014/main" id="{0B89D000-F8D5-7FB5-CF58-C7B35EC04037}"/>
                </a:ext>
              </a:extLst>
            </p:cNvPr>
            <p:cNvSpPr/>
            <p:nvPr/>
          </p:nvSpPr>
          <p:spPr>
            <a:xfrm>
              <a:off x="5381536" y="2347543"/>
              <a:ext cx="2715895" cy="57150"/>
            </a:xfrm>
            <a:custGeom>
              <a:avLst/>
              <a:gdLst/>
              <a:ahLst/>
              <a:cxnLst/>
              <a:rect l="l" t="t" r="r" b="b"/>
              <a:pathLst>
                <a:path w="2715895" h="57150">
                  <a:moveTo>
                    <a:pt x="355574" y="28575"/>
                  </a:moveTo>
                  <a:lnTo>
                    <a:pt x="298424" y="0"/>
                  </a:lnTo>
                  <a:lnTo>
                    <a:pt x="298424" y="21437"/>
                  </a:lnTo>
                  <a:lnTo>
                    <a:pt x="0" y="21437"/>
                  </a:lnTo>
                  <a:lnTo>
                    <a:pt x="0" y="35725"/>
                  </a:lnTo>
                  <a:lnTo>
                    <a:pt x="298424" y="35725"/>
                  </a:lnTo>
                  <a:lnTo>
                    <a:pt x="298424" y="57150"/>
                  </a:lnTo>
                  <a:lnTo>
                    <a:pt x="355574" y="28575"/>
                  </a:lnTo>
                  <a:close/>
                </a:path>
                <a:path w="2715895" h="57150">
                  <a:moveTo>
                    <a:pt x="2715298" y="28575"/>
                  </a:moveTo>
                  <a:lnTo>
                    <a:pt x="2658148" y="0"/>
                  </a:lnTo>
                  <a:lnTo>
                    <a:pt x="2658148" y="21437"/>
                  </a:lnTo>
                  <a:lnTo>
                    <a:pt x="2377440" y="21437"/>
                  </a:lnTo>
                  <a:lnTo>
                    <a:pt x="2377440" y="35725"/>
                  </a:lnTo>
                  <a:lnTo>
                    <a:pt x="2658148" y="35725"/>
                  </a:lnTo>
                  <a:lnTo>
                    <a:pt x="2658148" y="57150"/>
                  </a:lnTo>
                  <a:lnTo>
                    <a:pt x="2715298" y="28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7" name="object 8">
            <a:extLst>
              <a:ext uri="{FF2B5EF4-FFF2-40B4-BE49-F238E27FC236}">
                <a16:creationId xmlns:a16="http://schemas.microsoft.com/office/drawing/2014/main" id="{E8F5E04E-36DE-F6E6-2FD8-CB4CF22FC820}"/>
              </a:ext>
            </a:extLst>
          </p:cNvPr>
          <p:cNvSpPr txBox="1"/>
          <p:nvPr/>
        </p:nvSpPr>
        <p:spPr>
          <a:xfrm>
            <a:off x="1566361" y="4315866"/>
            <a:ext cx="254000" cy="1125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词法分析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grpSp>
        <p:nvGrpSpPr>
          <p:cNvPr id="8" name="object 9">
            <a:extLst>
              <a:ext uri="{FF2B5EF4-FFF2-40B4-BE49-F238E27FC236}">
                <a16:creationId xmlns:a16="http://schemas.microsoft.com/office/drawing/2014/main" id="{6483C992-384D-849F-2971-CCB0A1DCA3D1}"/>
              </a:ext>
            </a:extLst>
          </p:cNvPr>
          <p:cNvGrpSpPr/>
          <p:nvPr/>
        </p:nvGrpSpPr>
        <p:grpSpPr>
          <a:xfrm>
            <a:off x="1338533" y="4027882"/>
            <a:ext cx="3101340" cy="2031364"/>
            <a:chOff x="1269701" y="1543356"/>
            <a:chExt cx="3101340" cy="2031364"/>
          </a:xfrm>
        </p:grpSpPr>
        <p:pic>
          <p:nvPicPr>
            <p:cNvPr id="33" name="object 10">
              <a:extLst>
                <a:ext uri="{FF2B5EF4-FFF2-40B4-BE49-F238E27FC236}">
                  <a16:creationId xmlns:a16="http://schemas.microsoft.com/office/drawing/2014/main" id="{69F41F55-2AC4-BB07-D7FE-E426109FF24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87999" y="1716656"/>
              <a:ext cx="432000" cy="1400633"/>
            </a:xfrm>
            <a:prstGeom prst="rect">
              <a:avLst/>
            </a:prstGeom>
          </p:spPr>
        </p:pic>
        <p:pic>
          <p:nvPicPr>
            <p:cNvPr id="34" name="object 11">
              <a:extLst>
                <a:ext uri="{FF2B5EF4-FFF2-40B4-BE49-F238E27FC236}">
                  <a16:creationId xmlns:a16="http://schemas.microsoft.com/office/drawing/2014/main" id="{BD593960-ABEB-87C7-256E-0CE74BF7D01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71800" y="1700160"/>
              <a:ext cx="431999" cy="1417129"/>
            </a:xfrm>
            <a:prstGeom prst="rect">
              <a:avLst/>
            </a:prstGeom>
          </p:spPr>
        </p:pic>
        <p:sp>
          <p:nvSpPr>
            <p:cNvPr id="35" name="object 12">
              <a:extLst>
                <a:ext uri="{FF2B5EF4-FFF2-40B4-BE49-F238E27FC236}">
                  <a16:creationId xmlns:a16="http://schemas.microsoft.com/office/drawing/2014/main" id="{70D6A69C-7DF3-04D0-DD74-DA9AA8787678}"/>
                </a:ext>
              </a:extLst>
            </p:cNvPr>
            <p:cNvSpPr/>
            <p:nvPr/>
          </p:nvSpPr>
          <p:spPr>
            <a:xfrm>
              <a:off x="1279226" y="1552881"/>
              <a:ext cx="2023110" cy="2012314"/>
            </a:xfrm>
            <a:custGeom>
              <a:avLst/>
              <a:gdLst/>
              <a:ahLst/>
              <a:cxnLst/>
              <a:rect l="l" t="t" r="r" b="b"/>
              <a:pathLst>
                <a:path w="2023110" h="2012314">
                  <a:moveTo>
                    <a:pt x="0" y="0"/>
                  </a:moveTo>
                  <a:lnTo>
                    <a:pt x="2023111" y="0"/>
                  </a:lnTo>
                  <a:lnTo>
                    <a:pt x="2023111" y="2012219"/>
                  </a:lnTo>
                  <a:lnTo>
                    <a:pt x="0" y="2012219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pic>
          <p:nvPicPr>
            <p:cNvPr id="36" name="object 13">
              <a:extLst>
                <a:ext uri="{FF2B5EF4-FFF2-40B4-BE49-F238E27FC236}">
                  <a16:creationId xmlns:a16="http://schemas.microsoft.com/office/drawing/2014/main" id="{E37D6BA7-9963-E8CC-295E-28464C66246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94681" y="1706285"/>
              <a:ext cx="575999" cy="1417128"/>
            </a:xfrm>
            <a:prstGeom prst="rect">
              <a:avLst/>
            </a:prstGeom>
          </p:spPr>
        </p:pic>
      </p:grpSp>
      <p:sp>
        <p:nvSpPr>
          <p:cNvPr id="9" name="object 14">
            <a:extLst>
              <a:ext uri="{FF2B5EF4-FFF2-40B4-BE49-F238E27FC236}">
                <a16:creationId xmlns:a16="http://schemas.microsoft.com/office/drawing/2014/main" id="{A5D3C525-9869-1110-FFB9-9DBF11B34F2C}"/>
              </a:ext>
            </a:extLst>
          </p:cNvPr>
          <p:cNvSpPr txBox="1"/>
          <p:nvPr/>
        </p:nvSpPr>
        <p:spPr>
          <a:xfrm>
            <a:off x="3901886" y="4437785"/>
            <a:ext cx="491490" cy="85788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algn="just">
              <a:lnSpc>
                <a:spcPct val="101699"/>
              </a:lnSpc>
              <a:spcBef>
                <a:spcPts val="60"/>
              </a:spcBef>
            </a:pPr>
            <a:r>
              <a:rPr sz="1800" b="1" spc="5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中间</a:t>
            </a:r>
            <a:r>
              <a:rPr sz="1800" b="1" spc="-25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代码</a:t>
            </a:r>
            <a:r>
              <a:rPr sz="1800" b="1" spc="-3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生成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pic>
        <p:nvPicPr>
          <p:cNvPr id="10" name="object 15">
            <a:extLst>
              <a:ext uri="{FF2B5EF4-FFF2-40B4-BE49-F238E27FC236}">
                <a16:creationId xmlns:a16="http://schemas.microsoft.com/office/drawing/2014/main" id="{6E77C621-EACE-DAEA-4C12-B6D1CA237734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92751" y="4190811"/>
            <a:ext cx="575999" cy="1404569"/>
          </a:xfrm>
          <a:prstGeom prst="rect">
            <a:avLst/>
          </a:prstGeom>
        </p:spPr>
      </p:pic>
      <p:sp>
        <p:nvSpPr>
          <p:cNvPr id="11" name="object 19">
            <a:extLst>
              <a:ext uri="{FF2B5EF4-FFF2-40B4-BE49-F238E27FC236}">
                <a16:creationId xmlns:a16="http://schemas.microsoft.com/office/drawing/2014/main" id="{5ECBA892-D493-D120-DD17-1A2E339D2E27}"/>
              </a:ext>
            </a:extLst>
          </p:cNvPr>
          <p:cNvSpPr/>
          <p:nvPr/>
        </p:nvSpPr>
        <p:spPr>
          <a:xfrm>
            <a:off x="3707210" y="4037352"/>
            <a:ext cx="1735455" cy="2012314"/>
          </a:xfrm>
          <a:custGeom>
            <a:avLst/>
            <a:gdLst/>
            <a:ahLst/>
            <a:cxnLst/>
            <a:rect l="l" t="t" r="r" b="b"/>
            <a:pathLst>
              <a:path w="1735454" h="2012314">
                <a:moveTo>
                  <a:pt x="0" y="0"/>
                </a:moveTo>
                <a:lnTo>
                  <a:pt x="1735073" y="0"/>
                </a:lnTo>
                <a:lnTo>
                  <a:pt x="1735073" y="2012219"/>
                </a:lnTo>
                <a:lnTo>
                  <a:pt x="0" y="2012219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object 20">
            <a:extLst>
              <a:ext uri="{FF2B5EF4-FFF2-40B4-BE49-F238E27FC236}">
                <a16:creationId xmlns:a16="http://schemas.microsoft.com/office/drawing/2014/main" id="{A4E40ED8-42D8-C604-04EE-EC4CB5DE1B35}"/>
              </a:ext>
            </a:extLst>
          </p:cNvPr>
          <p:cNvSpPr txBox="1"/>
          <p:nvPr/>
        </p:nvSpPr>
        <p:spPr>
          <a:xfrm>
            <a:off x="4359533" y="5693287"/>
            <a:ext cx="482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中端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grpSp>
        <p:nvGrpSpPr>
          <p:cNvPr id="13" name="object 21">
            <a:extLst>
              <a:ext uri="{FF2B5EF4-FFF2-40B4-BE49-F238E27FC236}">
                <a16:creationId xmlns:a16="http://schemas.microsoft.com/office/drawing/2014/main" id="{7AAA58CF-D679-D103-A93E-C0DC37FEE808}"/>
              </a:ext>
            </a:extLst>
          </p:cNvPr>
          <p:cNvGrpSpPr/>
          <p:nvPr/>
        </p:nvGrpSpPr>
        <p:grpSpPr>
          <a:xfrm>
            <a:off x="5929202" y="4183051"/>
            <a:ext cx="1808480" cy="1412875"/>
            <a:chOff x="5860370" y="1698525"/>
            <a:chExt cx="1808480" cy="1412875"/>
          </a:xfrm>
        </p:grpSpPr>
        <p:pic>
          <p:nvPicPr>
            <p:cNvPr id="31" name="object 22">
              <a:extLst>
                <a:ext uri="{FF2B5EF4-FFF2-40B4-BE49-F238E27FC236}">
                  <a16:creationId xmlns:a16="http://schemas.microsoft.com/office/drawing/2014/main" id="{17296A1D-0750-7811-5208-EA7D1330BF71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60370" y="1698527"/>
              <a:ext cx="432000" cy="1412326"/>
            </a:xfrm>
            <a:prstGeom prst="rect">
              <a:avLst/>
            </a:prstGeom>
          </p:spPr>
        </p:pic>
        <p:pic>
          <p:nvPicPr>
            <p:cNvPr id="32" name="object 23">
              <a:extLst>
                <a:ext uri="{FF2B5EF4-FFF2-40B4-BE49-F238E27FC236}">
                  <a16:creationId xmlns:a16="http://schemas.microsoft.com/office/drawing/2014/main" id="{7B461C9E-4402-03F7-97DB-3442BC818574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36344" y="1698525"/>
              <a:ext cx="431999" cy="1412327"/>
            </a:xfrm>
            <a:prstGeom prst="rect">
              <a:avLst/>
            </a:prstGeom>
          </p:spPr>
        </p:pic>
      </p:grpSp>
      <p:grpSp>
        <p:nvGrpSpPr>
          <p:cNvPr id="14" name="object 25">
            <a:extLst>
              <a:ext uri="{FF2B5EF4-FFF2-40B4-BE49-F238E27FC236}">
                <a16:creationId xmlns:a16="http://schemas.microsoft.com/office/drawing/2014/main" id="{4E4C8038-5F4C-0FCA-3D41-D9CEBD68B1E8}"/>
              </a:ext>
            </a:extLst>
          </p:cNvPr>
          <p:cNvGrpSpPr/>
          <p:nvPr/>
        </p:nvGrpSpPr>
        <p:grpSpPr>
          <a:xfrm>
            <a:off x="5787086" y="4024938"/>
            <a:ext cx="2042160" cy="2031364"/>
            <a:chOff x="5718254" y="1540412"/>
            <a:chExt cx="2042160" cy="2031364"/>
          </a:xfrm>
        </p:grpSpPr>
        <p:pic>
          <p:nvPicPr>
            <p:cNvPr id="29" name="object 26">
              <a:extLst>
                <a:ext uri="{FF2B5EF4-FFF2-40B4-BE49-F238E27FC236}">
                  <a16:creationId xmlns:a16="http://schemas.microsoft.com/office/drawing/2014/main" id="{9A6EB1E0-DC7F-CBE5-BB76-6DD37935711C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59882" y="1698525"/>
              <a:ext cx="432000" cy="1418763"/>
            </a:xfrm>
            <a:prstGeom prst="rect">
              <a:avLst/>
            </a:prstGeom>
          </p:spPr>
        </p:pic>
        <p:sp>
          <p:nvSpPr>
            <p:cNvPr id="30" name="object 27">
              <a:extLst>
                <a:ext uri="{FF2B5EF4-FFF2-40B4-BE49-F238E27FC236}">
                  <a16:creationId xmlns:a16="http://schemas.microsoft.com/office/drawing/2014/main" id="{CABAAC7F-1C98-9AA5-8D22-CED270569F77}"/>
                </a:ext>
              </a:extLst>
            </p:cNvPr>
            <p:cNvSpPr/>
            <p:nvPr/>
          </p:nvSpPr>
          <p:spPr>
            <a:xfrm>
              <a:off x="5727779" y="1549937"/>
              <a:ext cx="2023110" cy="2012314"/>
            </a:xfrm>
            <a:custGeom>
              <a:avLst/>
              <a:gdLst/>
              <a:ahLst/>
              <a:cxnLst/>
              <a:rect l="l" t="t" r="r" b="b"/>
              <a:pathLst>
                <a:path w="2023109" h="2012314">
                  <a:moveTo>
                    <a:pt x="0" y="0"/>
                  </a:moveTo>
                  <a:lnTo>
                    <a:pt x="2023110" y="0"/>
                  </a:lnTo>
                  <a:lnTo>
                    <a:pt x="2023110" y="2012219"/>
                  </a:lnTo>
                  <a:lnTo>
                    <a:pt x="0" y="2012219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15" name="object 30">
            <a:extLst>
              <a:ext uri="{FF2B5EF4-FFF2-40B4-BE49-F238E27FC236}">
                <a16:creationId xmlns:a16="http://schemas.microsoft.com/office/drawing/2014/main" id="{9B4E67D5-C6B6-908F-BBF9-546B293AB837}"/>
              </a:ext>
            </a:extLst>
          </p:cNvPr>
          <p:cNvGrpSpPr/>
          <p:nvPr/>
        </p:nvGrpSpPr>
        <p:grpSpPr>
          <a:xfrm>
            <a:off x="1041618" y="3886188"/>
            <a:ext cx="6910070" cy="2290445"/>
            <a:chOff x="972786" y="1401662"/>
            <a:chExt cx="6910070" cy="2290445"/>
          </a:xfrm>
        </p:grpSpPr>
        <p:sp>
          <p:nvSpPr>
            <p:cNvPr id="27" name="object 31">
              <a:extLst>
                <a:ext uri="{FF2B5EF4-FFF2-40B4-BE49-F238E27FC236}">
                  <a16:creationId xmlns:a16="http://schemas.microsoft.com/office/drawing/2014/main" id="{7502E0B9-34F2-A09E-6AA5-6A64A7B3B99C}"/>
                </a:ext>
              </a:extLst>
            </p:cNvPr>
            <p:cNvSpPr/>
            <p:nvPr/>
          </p:nvSpPr>
          <p:spPr>
            <a:xfrm>
              <a:off x="983898" y="1412774"/>
              <a:ext cx="6887845" cy="2268220"/>
            </a:xfrm>
            <a:custGeom>
              <a:avLst/>
              <a:gdLst/>
              <a:ahLst/>
              <a:cxnLst/>
              <a:rect l="l" t="t" r="r" b="b"/>
              <a:pathLst>
                <a:path w="6887845" h="2268220">
                  <a:moveTo>
                    <a:pt x="0" y="0"/>
                  </a:moveTo>
                  <a:lnTo>
                    <a:pt x="6887295" y="0"/>
                  </a:lnTo>
                  <a:lnTo>
                    <a:pt x="6887295" y="2268000"/>
                  </a:lnTo>
                  <a:lnTo>
                    <a:pt x="0" y="2268000"/>
                  </a:lnTo>
                  <a:lnTo>
                    <a:pt x="0" y="0"/>
                  </a:lnTo>
                  <a:close/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8" name="object 32">
              <a:extLst>
                <a:ext uri="{FF2B5EF4-FFF2-40B4-BE49-F238E27FC236}">
                  <a16:creationId xmlns:a16="http://schemas.microsoft.com/office/drawing/2014/main" id="{83E81880-585E-E56C-9610-72D5D4572CFA}"/>
                </a:ext>
              </a:extLst>
            </p:cNvPr>
            <p:cNvSpPr/>
            <p:nvPr/>
          </p:nvSpPr>
          <p:spPr>
            <a:xfrm>
              <a:off x="3312807" y="2361107"/>
              <a:ext cx="335280" cy="57150"/>
            </a:xfrm>
            <a:custGeom>
              <a:avLst/>
              <a:gdLst/>
              <a:ahLst/>
              <a:cxnLst/>
              <a:rect l="l" t="t" r="r" b="b"/>
              <a:pathLst>
                <a:path w="335279" h="57150">
                  <a:moveTo>
                    <a:pt x="335191" y="28575"/>
                  </a:moveTo>
                  <a:lnTo>
                    <a:pt x="320903" y="21424"/>
                  </a:lnTo>
                  <a:lnTo>
                    <a:pt x="278041" y="0"/>
                  </a:lnTo>
                  <a:lnTo>
                    <a:pt x="278041" y="21424"/>
                  </a:lnTo>
                  <a:lnTo>
                    <a:pt x="0" y="21424"/>
                  </a:lnTo>
                  <a:lnTo>
                    <a:pt x="0" y="35712"/>
                  </a:lnTo>
                  <a:lnTo>
                    <a:pt x="278041" y="35712"/>
                  </a:lnTo>
                  <a:lnTo>
                    <a:pt x="278041" y="57150"/>
                  </a:lnTo>
                  <a:lnTo>
                    <a:pt x="320903" y="35712"/>
                  </a:lnTo>
                  <a:lnTo>
                    <a:pt x="335191" y="28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16" name="object 38">
            <a:extLst>
              <a:ext uri="{FF2B5EF4-FFF2-40B4-BE49-F238E27FC236}">
                <a16:creationId xmlns:a16="http://schemas.microsoft.com/office/drawing/2014/main" id="{52654D04-CB32-5832-47B0-FAEF3E9EC1C6}"/>
              </a:ext>
            </a:extLst>
          </p:cNvPr>
          <p:cNvGrpSpPr/>
          <p:nvPr/>
        </p:nvGrpSpPr>
        <p:grpSpPr>
          <a:xfrm>
            <a:off x="1896428" y="4832065"/>
            <a:ext cx="963852" cy="70711"/>
            <a:chOff x="1827596" y="2347539"/>
            <a:chExt cx="963852" cy="70711"/>
          </a:xfrm>
        </p:grpSpPr>
        <p:pic>
          <p:nvPicPr>
            <p:cNvPr id="25" name="object 39">
              <a:extLst>
                <a:ext uri="{FF2B5EF4-FFF2-40B4-BE49-F238E27FC236}">
                  <a16:creationId xmlns:a16="http://schemas.microsoft.com/office/drawing/2014/main" id="{213155DA-31C8-6684-A7B8-653C2EC41F62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04413" y="2347539"/>
              <a:ext cx="287035" cy="70711"/>
            </a:xfrm>
            <a:prstGeom prst="rect">
              <a:avLst/>
            </a:prstGeom>
          </p:spPr>
        </p:pic>
        <p:pic>
          <p:nvPicPr>
            <p:cNvPr id="26" name="object 40">
              <a:extLst>
                <a:ext uri="{FF2B5EF4-FFF2-40B4-BE49-F238E27FC236}">
                  <a16:creationId xmlns:a16="http://schemas.microsoft.com/office/drawing/2014/main" id="{E930AE2B-73F3-5496-1B3B-BC03D088D2E3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27596" y="2347539"/>
              <a:ext cx="287033" cy="70711"/>
            </a:xfrm>
            <a:prstGeom prst="rect">
              <a:avLst/>
            </a:prstGeom>
          </p:spPr>
        </p:pic>
      </p:grpSp>
      <p:sp>
        <p:nvSpPr>
          <p:cNvPr id="17" name="object 42">
            <a:extLst>
              <a:ext uri="{FF2B5EF4-FFF2-40B4-BE49-F238E27FC236}">
                <a16:creationId xmlns:a16="http://schemas.microsoft.com/office/drawing/2014/main" id="{B8C4B4F2-2922-0FA3-AD09-8F111047991C}"/>
              </a:ext>
            </a:extLst>
          </p:cNvPr>
          <p:cNvSpPr txBox="1"/>
          <p:nvPr/>
        </p:nvSpPr>
        <p:spPr>
          <a:xfrm>
            <a:off x="2116447" y="4315337"/>
            <a:ext cx="1084580" cy="1677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985">
              <a:lnSpc>
                <a:spcPct val="100000"/>
              </a:lnSpc>
              <a:spcBef>
                <a:spcPts val="100"/>
              </a:spcBef>
              <a:tabLst>
                <a:tab pos="842644" algn="l"/>
              </a:tabLst>
            </a:pPr>
            <a:r>
              <a:rPr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语</a:t>
            </a:r>
            <a:r>
              <a:rPr sz="18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	</a:t>
            </a:r>
            <a:r>
              <a:rPr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语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  <a:p>
            <a:pPr marL="133985">
              <a:lnSpc>
                <a:spcPct val="100000"/>
              </a:lnSpc>
              <a:spcBef>
                <a:spcPts val="20"/>
              </a:spcBef>
              <a:tabLst>
                <a:tab pos="842644" algn="l"/>
              </a:tabLst>
            </a:pPr>
            <a:r>
              <a:rPr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法</a:t>
            </a:r>
            <a:r>
              <a:rPr sz="18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	</a:t>
            </a:r>
            <a:r>
              <a:rPr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义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  <a:p>
            <a:pPr marL="133985">
              <a:lnSpc>
                <a:spcPts val="2125"/>
              </a:lnSpc>
              <a:spcBef>
                <a:spcPts val="50"/>
              </a:spcBef>
              <a:tabLst>
                <a:tab pos="842644" algn="l"/>
              </a:tabLst>
            </a:pPr>
            <a:r>
              <a:rPr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分</a:t>
            </a:r>
            <a:r>
              <a:rPr sz="18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	</a:t>
            </a:r>
            <a:r>
              <a:rPr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分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  <a:p>
            <a:pPr marL="133985">
              <a:lnSpc>
                <a:spcPts val="2125"/>
              </a:lnSpc>
              <a:tabLst>
                <a:tab pos="842644" algn="l"/>
              </a:tabLst>
            </a:pPr>
            <a:r>
              <a:rPr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析</a:t>
            </a:r>
            <a:r>
              <a:rPr sz="18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	</a:t>
            </a:r>
            <a:r>
              <a:rPr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析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2210"/>
              </a:spcBef>
            </a:pPr>
            <a:r>
              <a:rPr sz="1800" b="1" spc="-25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前端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9" name="object 32">
            <a:extLst>
              <a:ext uri="{FF2B5EF4-FFF2-40B4-BE49-F238E27FC236}">
                <a16:creationId xmlns:a16="http://schemas.microsoft.com/office/drawing/2014/main" id="{9003308C-DDA5-0D89-28E7-880EBCC8B958}"/>
              </a:ext>
            </a:extLst>
          </p:cNvPr>
          <p:cNvSpPr/>
          <p:nvPr/>
        </p:nvSpPr>
        <p:spPr>
          <a:xfrm>
            <a:off x="4457754" y="4834467"/>
            <a:ext cx="335280" cy="57150"/>
          </a:xfrm>
          <a:custGeom>
            <a:avLst/>
            <a:gdLst/>
            <a:ahLst/>
            <a:cxnLst/>
            <a:rect l="l" t="t" r="r" b="b"/>
            <a:pathLst>
              <a:path w="335279" h="57150">
                <a:moveTo>
                  <a:pt x="335191" y="28575"/>
                </a:moveTo>
                <a:lnTo>
                  <a:pt x="320903" y="21424"/>
                </a:lnTo>
                <a:lnTo>
                  <a:pt x="278041" y="0"/>
                </a:lnTo>
                <a:lnTo>
                  <a:pt x="278041" y="21424"/>
                </a:lnTo>
                <a:lnTo>
                  <a:pt x="0" y="21424"/>
                </a:lnTo>
                <a:lnTo>
                  <a:pt x="0" y="35712"/>
                </a:lnTo>
                <a:lnTo>
                  <a:pt x="278041" y="35712"/>
                </a:lnTo>
                <a:lnTo>
                  <a:pt x="278041" y="57150"/>
                </a:lnTo>
                <a:lnTo>
                  <a:pt x="320903" y="35712"/>
                </a:lnTo>
                <a:lnTo>
                  <a:pt x="335191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object 14">
            <a:extLst>
              <a:ext uri="{FF2B5EF4-FFF2-40B4-BE49-F238E27FC236}">
                <a16:creationId xmlns:a16="http://schemas.microsoft.com/office/drawing/2014/main" id="{18C9468E-49DA-E8BB-CB9D-E0B32D08DAB5}"/>
              </a:ext>
            </a:extLst>
          </p:cNvPr>
          <p:cNvSpPr txBox="1"/>
          <p:nvPr/>
        </p:nvSpPr>
        <p:spPr>
          <a:xfrm>
            <a:off x="4838024" y="4347683"/>
            <a:ext cx="491490" cy="1119089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algn="just">
              <a:lnSpc>
                <a:spcPct val="101699"/>
              </a:lnSpc>
              <a:spcBef>
                <a:spcPts val="60"/>
              </a:spcBef>
            </a:pPr>
            <a:r>
              <a:rPr lang="en-US" sz="1800" b="1" spc="5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机器无关代码优化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1" name="object 8">
            <a:extLst>
              <a:ext uri="{FF2B5EF4-FFF2-40B4-BE49-F238E27FC236}">
                <a16:creationId xmlns:a16="http://schemas.microsoft.com/office/drawing/2014/main" id="{42648141-2451-5F60-5AED-2C05372D842A}"/>
              </a:ext>
            </a:extLst>
          </p:cNvPr>
          <p:cNvSpPr txBox="1"/>
          <p:nvPr/>
        </p:nvSpPr>
        <p:spPr>
          <a:xfrm>
            <a:off x="6014980" y="4304492"/>
            <a:ext cx="254000" cy="111953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lang="zh-CN" altLang="en-US"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指令选择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2" name="object 8">
            <a:extLst>
              <a:ext uri="{FF2B5EF4-FFF2-40B4-BE49-F238E27FC236}">
                <a16:creationId xmlns:a16="http://schemas.microsoft.com/office/drawing/2014/main" id="{587C8423-B824-7B3E-D81F-392CEA80D125}"/>
              </a:ext>
            </a:extLst>
          </p:cNvPr>
          <p:cNvSpPr txBox="1"/>
          <p:nvPr/>
        </p:nvSpPr>
        <p:spPr>
          <a:xfrm>
            <a:off x="6715148" y="4201182"/>
            <a:ext cx="254000" cy="139653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lang="zh-CN" altLang="en-US"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寄存器分配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3" name="object 8">
            <a:extLst>
              <a:ext uri="{FF2B5EF4-FFF2-40B4-BE49-F238E27FC236}">
                <a16:creationId xmlns:a16="http://schemas.microsoft.com/office/drawing/2014/main" id="{7FF71B23-9CFD-163F-7B4C-C81B90B84B34}"/>
              </a:ext>
            </a:extLst>
          </p:cNvPr>
          <p:cNvSpPr txBox="1"/>
          <p:nvPr/>
        </p:nvSpPr>
        <p:spPr>
          <a:xfrm>
            <a:off x="7391200" y="4313469"/>
            <a:ext cx="254000" cy="111953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lang="zh-CN" altLang="en-US"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指令调度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4" name="object 20">
            <a:extLst>
              <a:ext uri="{FF2B5EF4-FFF2-40B4-BE49-F238E27FC236}">
                <a16:creationId xmlns:a16="http://schemas.microsoft.com/office/drawing/2014/main" id="{CDC6124B-EF35-B110-900C-7902FAEFA45C}"/>
              </a:ext>
            </a:extLst>
          </p:cNvPr>
          <p:cNvSpPr txBox="1"/>
          <p:nvPr/>
        </p:nvSpPr>
        <p:spPr>
          <a:xfrm>
            <a:off x="6600848" y="5703184"/>
            <a:ext cx="4826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800" b="1" spc="-25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后</a:t>
            </a:r>
            <a:r>
              <a:rPr lang="zh-CN" altLang="en-US" b="1" spc="-25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端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0733" name="文本框 11268">
            <a:extLst>
              <a:ext uri="{FF2B5EF4-FFF2-40B4-BE49-F238E27FC236}">
                <a16:creationId xmlns:a16="http://schemas.microsoft.com/office/drawing/2014/main" id="{D1B4ACB7-DA79-6889-5A12-E16C46E74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292" y="941882"/>
            <a:ext cx="8153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1600"/>
              </a:spcAft>
              <a:buFont typeface="Arial" panose="020B0604020202020204" pitchFamily="34" charset="0"/>
              <a:buNone/>
            </a:pPr>
            <a:r>
              <a:rPr kumimoji="0" lang="en-US" altLang="zh-CN" sz="2400" b="1" dirty="0"/>
              <a:t>Why</a:t>
            </a:r>
            <a:r>
              <a:rPr kumimoji="0" lang="zh-CN" altLang="en-US" sz="2400" b="1" dirty="0"/>
              <a:t> </a:t>
            </a:r>
            <a:r>
              <a:rPr kumimoji="0" lang="en-US" altLang="zh-CN" sz="2400" b="1" dirty="0"/>
              <a:t>breaking</a:t>
            </a:r>
            <a:r>
              <a:rPr kumimoji="0" lang="zh-CN" altLang="en-US" sz="2400" b="1" dirty="0"/>
              <a:t> </a:t>
            </a:r>
            <a:r>
              <a:rPr kumimoji="0" lang="en-US" altLang="zh-CN" sz="2400" b="1" dirty="0"/>
              <a:t>the</a:t>
            </a:r>
            <a:r>
              <a:rPr kumimoji="0" lang="zh-CN" altLang="en-US" sz="2400" b="1" dirty="0"/>
              <a:t> </a:t>
            </a:r>
            <a:r>
              <a:rPr kumimoji="0" lang="en-US" altLang="zh-CN" sz="2400" b="1" dirty="0"/>
              <a:t>compiler</a:t>
            </a:r>
            <a:r>
              <a:rPr kumimoji="0" lang="zh-CN" altLang="en-US" sz="2400" b="1" dirty="0"/>
              <a:t> </a:t>
            </a:r>
            <a:r>
              <a:rPr kumimoji="0" lang="en-US" altLang="zh-CN" sz="2400" b="1" dirty="0"/>
              <a:t>into</a:t>
            </a:r>
            <a:r>
              <a:rPr kumimoji="0" lang="zh-CN" altLang="en-US" sz="2400" b="1" dirty="0"/>
              <a:t> </a:t>
            </a:r>
            <a:r>
              <a:rPr kumimoji="0" lang="en-US" altLang="zh-CN" sz="2400" b="1" dirty="0"/>
              <a:t>multiple</a:t>
            </a:r>
            <a:r>
              <a:rPr kumimoji="0" lang="zh-CN" altLang="en-US" sz="2400" b="1" dirty="0"/>
              <a:t> </a:t>
            </a:r>
            <a:r>
              <a:rPr kumimoji="0" lang="en-US" altLang="zh-CN" sz="2400" b="1" dirty="0"/>
              <a:t>phases?</a:t>
            </a:r>
          </a:p>
        </p:txBody>
      </p:sp>
      <p:sp>
        <p:nvSpPr>
          <p:cNvPr id="30734" name="文本框 9221">
            <a:extLst>
              <a:ext uri="{FF2B5EF4-FFF2-40B4-BE49-F238E27FC236}">
                <a16:creationId xmlns:a16="http://schemas.microsoft.com/office/drawing/2014/main" id="{EF9A3D06-6BA2-5836-F37D-13E9674F81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76200"/>
            <a:ext cx="594356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None/>
            </a:pPr>
            <a:r>
              <a:rPr lang="en-US" altLang="zh-CN" sz="2000" dirty="0"/>
              <a:t>Typical Workflow of a Compiler</a:t>
            </a:r>
          </a:p>
        </p:txBody>
      </p:sp>
      <p:sp>
        <p:nvSpPr>
          <p:cNvPr id="30735" name="object 32">
            <a:extLst>
              <a:ext uri="{FF2B5EF4-FFF2-40B4-BE49-F238E27FC236}">
                <a16:creationId xmlns:a16="http://schemas.microsoft.com/office/drawing/2014/main" id="{327FFEDA-137F-5F61-E6CE-CC97F0C542DF}"/>
              </a:ext>
            </a:extLst>
          </p:cNvPr>
          <p:cNvSpPr/>
          <p:nvPr/>
        </p:nvSpPr>
        <p:spPr>
          <a:xfrm>
            <a:off x="6361202" y="4832066"/>
            <a:ext cx="278448" cy="46480"/>
          </a:xfrm>
          <a:custGeom>
            <a:avLst/>
            <a:gdLst/>
            <a:ahLst/>
            <a:cxnLst/>
            <a:rect l="l" t="t" r="r" b="b"/>
            <a:pathLst>
              <a:path w="335279" h="57150">
                <a:moveTo>
                  <a:pt x="335191" y="28575"/>
                </a:moveTo>
                <a:lnTo>
                  <a:pt x="320903" y="21424"/>
                </a:lnTo>
                <a:lnTo>
                  <a:pt x="278041" y="0"/>
                </a:lnTo>
                <a:lnTo>
                  <a:pt x="278041" y="21424"/>
                </a:lnTo>
                <a:lnTo>
                  <a:pt x="0" y="21424"/>
                </a:lnTo>
                <a:lnTo>
                  <a:pt x="0" y="35712"/>
                </a:lnTo>
                <a:lnTo>
                  <a:pt x="278041" y="35712"/>
                </a:lnTo>
                <a:lnTo>
                  <a:pt x="278041" y="57150"/>
                </a:lnTo>
                <a:lnTo>
                  <a:pt x="320903" y="35712"/>
                </a:lnTo>
                <a:lnTo>
                  <a:pt x="335191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736" name="object 32">
            <a:extLst>
              <a:ext uri="{FF2B5EF4-FFF2-40B4-BE49-F238E27FC236}">
                <a16:creationId xmlns:a16="http://schemas.microsoft.com/office/drawing/2014/main" id="{CA7F506F-D1CA-3BA7-EE6D-28D0402A622F}"/>
              </a:ext>
            </a:extLst>
          </p:cNvPr>
          <p:cNvSpPr/>
          <p:nvPr/>
        </p:nvSpPr>
        <p:spPr>
          <a:xfrm>
            <a:off x="7062492" y="4822773"/>
            <a:ext cx="252636" cy="45719"/>
          </a:xfrm>
          <a:custGeom>
            <a:avLst/>
            <a:gdLst/>
            <a:ahLst/>
            <a:cxnLst/>
            <a:rect l="l" t="t" r="r" b="b"/>
            <a:pathLst>
              <a:path w="335279" h="57150">
                <a:moveTo>
                  <a:pt x="335191" y="28575"/>
                </a:moveTo>
                <a:lnTo>
                  <a:pt x="320903" y="21424"/>
                </a:lnTo>
                <a:lnTo>
                  <a:pt x="278041" y="0"/>
                </a:lnTo>
                <a:lnTo>
                  <a:pt x="278041" y="21424"/>
                </a:lnTo>
                <a:lnTo>
                  <a:pt x="0" y="21424"/>
                </a:lnTo>
                <a:lnTo>
                  <a:pt x="0" y="35712"/>
                </a:lnTo>
                <a:lnTo>
                  <a:pt x="278041" y="35712"/>
                </a:lnTo>
                <a:lnTo>
                  <a:pt x="278041" y="57150"/>
                </a:lnTo>
                <a:lnTo>
                  <a:pt x="320903" y="35712"/>
                </a:lnTo>
                <a:lnTo>
                  <a:pt x="335191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737" name="object 6">
            <a:extLst>
              <a:ext uri="{FF2B5EF4-FFF2-40B4-BE49-F238E27FC236}">
                <a16:creationId xmlns:a16="http://schemas.microsoft.com/office/drawing/2014/main" id="{93073950-64D3-5C9E-7B87-8C5EF19526EA}"/>
              </a:ext>
            </a:extLst>
          </p:cNvPr>
          <p:cNvSpPr txBox="1"/>
          <p:nvPr/>
        </p:nvSpPr>
        <p:spPr>
          <a:xfrm>
            <a:off x="240586" y="4519172"/>
            <a:ext cx="562610" cy="67183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algn="just">
              <a:lnSpc>
                <a:spcPct val="101400"/>
              </a:lnSpc>
              <a:spcBef>
                <a:spcPts val="75"/>
              </a:spcBef>
            </a:pPr>
            <a:r>
              <a:rPr sz="1400" b="1" spc="-20" dirty="0" err="1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程序员编写的源程序</a:t>
            </a:r>
            <a:endParaRPr sz="14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0738" name="object 7">
            <a:extLst>
              <a:ext uri="{FF2B5EF4-FFF2-40B4-BE49-F238E27FC236}">
                <a16:creationId xmlns:a16="http://schemas.microsoft.com/office/drawing/2014/main" id="{85637B4A-479F-3CA8-CD42-0C71750090C4}"/>
              </a:ext>
            </a:extLst>
          </p:cNvPr>
          <p:cNvSpPr txBox="1"/>
          <p:nvPr/>
        </p:nvSpPr>
        <p:spPr>
          <a:xfrm>
            <a:off x="8220281" y="4523800"/>
            <a:ext cx="739140" cy="67183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algn="just">
              <a:lnSpc>
                <a:spcPct val="101400"/>
              </a:lnSpc>
              <a:spcBef>
                <a:spcPts val="75"/>
              </a:spcBef>
            </a:pPr>
            <a:r>
              <a:rPr sz="1400" b="1" spc="-15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机器硬件上运行的目标代码</a:t>
            </a:r>
            <a:endParaRPr sz="140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pic>
        <p:nvPicPr>
          <p:cNvPr id="30739" name="object 44">
            <a:extLst>
              <a:ext uri="{FF2B5EF4-FFF2-40B4-BE49-F238E27FC236}">
                <a16:creationId xmlns:a16="http://schemas.microsoft.com/office/drawing/2014/main" id="{19F98EDA-AD68-0403-BE4C-73F7B6F86675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2516" y="5220494"/>
            <a:ext cx="783113" cy="656429"/>
          </a:xfrm>
          <a:prstGeom prst="rect">
            <a:avLst/>
          </a:prstGeom>
        </p:spPr>
      </p:pic>
      <p:pic>
        <p:nvPicPr>
          <p:cNvPr id="30740" name="Picture 2" descr="What is a CPU? A beginner's guide to ...">
            <a:extLst>
              <a:ext uri="{FF2B5EF4-FFF2-40B4-BE49-F238E27FC236}">
                <a16:creationId xmlns:a16="http://schemas.microsoft.com/office/drawing/2014/main" id="{D5D295E7-EA31-5E77-606E-0970CFDAD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2913" y="5225955"/>
            <a:ext cx="970027" cy="645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41" name="object 32">
            <a:extLst>
              <a:ext uri="{FF2B5EF4-FFF2-40B4-BE49-F238E27FC236}">
                <a16:creationId xmlns:a16="http://schemas.microsoft.com/office/drawing/2014/main" id="{42AF57B9-0BC1-7EEA-5B33-E72C101EE64E}"/>
              </a:ext>
            </a:extLst>
          </p:cNvPr>
          <p:cNvSpPr/>
          <p:nvPr/>
        </p:nvSpPr>
        <p:spPr>
          <a:xfrm flipV="1">
            <a:off x="913989" y="4850377"/>
            <a:ext cx="407060" cy="45719"/>
          </a:xfrm>
          <a:custGeom>
            <a:avLst/>
            <a:gdLst/>
            <a:ahLst/>
            <a:cxnLst/>
            <a:rect l="l" t="t" r="r" b="b"/>
            <a:pathLst>
              <a:path w="335279" h="57150">
                <a:moveTo>
                  <a:pt x="335191" y="28575"/>
                </a:moveTo>
                <a:lnTo>
                  <a:pt x="320903" y="21424"/>
                </a:lnTo>
                <a:lnTo>
                  <a:pt x="278041" y="0"/>
                </a:lnTo>
                <a:lnTo>
                  <a:pt x="278041" y="21424"/>
                </a:lnTo>
                <a:lnTo>
                  <a:pt x="0" y="21424"/>
                </a:lnTo>
                <a:lnTo>
                  <a:pt x="0" y="35712"/>
                </a:lnTo>
                <a:lnTo>
                  <a:pt x="278041" y="35712"/>
                </a:lnTo>
                <a:lnTo>
                  <a:pt x="278041" y="57150"/>
                </a:lnTo>
                <a:lnTo>
                  <a:pt x="320903" y="35712"/>
                </a:lnTo>
                <a:lnTo>
                  <a:pt x="335191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85E17-2C5C-193E-EFAE-1CA904C68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5481B0C-D889-DBCD-EF3D-D440147133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0804" y="155955"/>
            <a:ext cx="739076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pc="-1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Think As If You Were a Compiler</a:t>
            </a:r>
            <a:endParaRPr spc="-10" dirty="0"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</p:txBody>
      </p:sp>
      <p:sp>
        <p:nvSpPr>
          <p:cNvPr id="45" name="object 3">
            <a:extLst>
              <a:ext uri="{FF2B5EF4-FFF2-40B4-BE49-F238E27FC236}">
                <a16:creationId xmlns:a16="http://schemas.microsoft.com/office/drawing/2014/main" id="{F0B0C798-3A8C-9486-631A-7C747D2502D0}"/>
              </a:ext>
            </a:extLst>
          </p:cNvPr>
          <p:cNvSpPr txBox="1"/>
          <p:nvPr/>
        </p:nvSpPr>
        <p:spPr>
          <a:xfrm>
            <a:off x="812545" y="1508252"/>
            <a:ext cx="7519670" cy="438325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761365" marR="0" lvl="0" indent="0" defTabSz="914400" eaLnBrk="1" fontAlgn="auto" latinLnBrk="0" hangingPunct="1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5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x</a:t>
            </a:r>
            <a:r>
              <a:rPr kumimoji="0" sz="35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35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=</a:t>
            </a:r>
            <a:r>
              <a:rPr kumimoji="0" sz="35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sz="35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a</a:t>
            </a:r>
            <a:r>
              <a:rPr kumimoji="0" sz="35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sz="35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*</a:t>
            </a:r>
            <a:r>
              <a:rPr kumimoji="0" sz="35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sz="35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2</a:t>
            </a:r>
            <a:r>
              <a:rPr kumimoji="0" sz="35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sz="35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+</a:t>
            </a:r>
            <a:r>
              <a:rPr kumimoji="0" sz="35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sz="35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b</a:t>
            </a:r>
            <a:r>
              <a:rPr kumimoji="0" sz="35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sz="35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*</a:t>
            </a:r>
            <a:r>
              <a:rPr kumimoji="0" sz="35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sz="35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(x</a:t>
            </a:r>
            <a:r>
              <a:rPr kumimoji="0" sz="35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sz="35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*</a:t>
            </a:r>
            <a:r>
              <a:rPr kumimoji="0" sz="35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sz="35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3)</a:t>
            </a:r>
            <a:endParaRPr kumimoji="0" lang="en-US" altLang="zh-CN" sz="3500" b="1" i="0" u="none" strike="noStrike" kern="0" cap="none" spc="-25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761365" marR="0" lvl="0" indent="0" defTabSz="914400" eaLnBrk="1" fontAlgn="auto" latinLnBrk="0" hangingPunct="1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389255" marR="0" lvl="0" indent="-376555" defTabSz="914400" eaLnBrk="1" fontAlgn="auto" latinLnBrk="0" hangingPunct="1">
              <a:lnSpc>
                <a:spcPct val="100000"/>
              </a:lnSpc>
              <a:spcBef>
                <a:spcPts val="272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89255" algn="l"/>
                <a:tab pos="5076825" algn="l"/>
              </a:tabLst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这行“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字符串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”是什么含义？</a:t>
            </a:r>
            <a:r>
              <a:rPr kumimoji="0" lang="zh-CN" altLang="en-US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这是一个</a:t>
            </a:r>
            <a:r>
              <a:rPr kumimoji="0" lang="zh-CN" altLang="en-US" sz="2800" b="0" i="0" u="none" strike="noStrike" kern="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合法</a:t>
            </a:r>
            <a:r>
              <a:rPr kumimoji="0" lang="zh-CN" altLang="en-US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的“程序”吗？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  <a:p>
            <a:pPr marL="389255" marR="0" lvl="0" indent="-376555" defTabSz="914400" eaLnBrk="1" fontAlgn="auto" latinLnBrk="0" hangingPunct="1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89255" algn="l"/>
              </a:tabLst>
              <a:defRPr/>
            </a:pPr>
            <a:r>
              <a:rPr kumimoji="0" lang="zh-CN" altLang="en-US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我们怎么决定它的含义</a:t>
            </a:r>
            <a:r>
              <a:rPr kumimoji="0" lang="en-US" sz="35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:</a:t>
            </a:r>
            <a:endParaRPr kumimoji="0" lang="en-US" sz="35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828675" marR="0" lvl="1" indent="-313690" defTabSz="914400" eaLnBrk="1" fontAlgn="auto" latinLnBrk="0" hangingPunct="1">
              <a:lnSpc>
                <a:spcPct val="100000"/>
              </a:lnSpc>
              <a:spcBef>
                <a:spcPts val="785"/>
              </a:spcBef>
              <a:spcAft>
                <a:spcPts val="0"/>
              </a:spcAft>
              <a:buClrTx/>
              <a:buSzTx/>
              <a:buFontTx/>
              <a:buChar char="–"/>
              <a:tabLst>
                <a:tab pos="828675" algn="l"/>
              </a:tabLst>
              <a:defRPr/>
            </a:pPr>
            <a:r>
              <a:rPr kumimoji="0" lang="zh-CN" altLang="en-US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把“</a:t>
            </a:r>
            <a:r>
              <a:rPr kumimoji="0" lang="zh-CN" altLang="en-US" sz="2400" b="0" i="0" u="none" strike="noStrike" kern="0" cap="none" spc="-1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字符串</a:t>
            </a:r>
            <a:r>
              <a:rPr kumimoji="0" lang="zh-CN" altLang="en-US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”分割成“</a:t>
            </a:r>
            <a:r>
              <a:rPr kumimoji="0" lang="zh-CN" altLang="en-US" sz="2400" b="0" i="0" u="none" strike="noStrike" kern="0" cap="none" spc="-1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单词</a:t>
            </a:r>
            <a:r>
              <a:rPr kumimoji="0" lang="en-US" altLang="zh-CN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”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  <a:p>
            <a:pPr marL="829310" marR="0" lvl="1" indent="-31369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Char char="–"/>
              <a:tabLst>
                <a:tab pos="829310" algn="l"/>
              </a:tabLst>
              <a:defRPr/>
            </a:pPr>
            <a:r>
              <a:rPr kumimoji="0" lang="zh-CN" altLang="en-US" sz="24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“</a:t>
            </a:r>
            <a:r>
              <a:rPr kumimoji="0" lang="zh-CN" altLang="en-US" sz="2400" b="0" i="0" u="none" strike="noStrike" kern="0" cap="none" spc="1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单词</a:t>
            </a:r>
            <a:r>
              <a:rPr kumimoji="0" lang="zh-CN" altLang="en-US" sz="24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”组合成“</a:t>
            </a:r>
            <a:r>
              <a:rPr kumimoji="0" lang="zh-CN" altLang="en-US" sz="2400" b="0" i="0" u="none" strike="noStrike" kern="0" cap="none" spc="1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句子</a:t>
            </a:r>
            <a:r>
              <a:rPr kumimoji="0" lang="zh-CN" altLang="en-US" sz="24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”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  <a:p>
            <a:pPr marL="829310" marR="0" lvl="1" indent="-313690" defTabSz="914400" eaLnBrk="1" fontAlgn="auto" latinLnBrk="0" hangingPunct="1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Tx/>
              <a:buSzTx/>
              <a:buFontTx/>
              <a:buChar char="–"/>
              <a:tabLst>
                <a:tab pos="829310" algn="l"/>
              </a:tabLst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解析“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句子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”的含义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949890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804" y="155955"/>
            <a:ext cx="844839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err="1"/>
              <a:t>词法分析</a:t>
            </a:r>
            <a:r>
              <a:rPr lang="zh-CN" altLang="en-US" dirty="0"/>
              <a:t> </a:t>
            </a:r>
            <a:r>
              <a:rPr spc="-10" dirty="0">
                <a:latin typeface="Arial"/>
                <a:cs typeface="Arial"/>
              </a:rPr>
              <a:t>(Lexing/Scanning/Lexical</a:t>
            </a:r>
            <a:r>
              <a:rPr spc="-140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Analysis)</a:t>
            </a:r>
          </a:p>
        </p:txBody>
      </p:sp>
      <p:sp>
        <p:nvSpPr>
          <p:cNvPr id="45" name="object 3">
            <a:extLst>
              <a:ext uri="{FF2B5EF4-FFF2-40B4-BE49-F238E27FC236}">
                <a16:creationId xmlns:a16="http://schemas.microsoft.com/office/drawing/2014/main" id="{33B872CE-8917-4136-D18B-C4F4CA554213}"/>
              </a:ext>
            </a:extLst>
          </p:cNvPr>
          <p:cNvSpPr txBox="1"/>
          <p:nvPr/>
        </p:nvSpPr>
        <p:spPr>
          <a:xfrm>
            <a:off x="331939" y="1175048"/>
            <a:ext cx="8226163" cy="386586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27329" marR="0" lvl="0" indent="0" defTabSz="914400" eaLnBrk="1" fontAlgn="auto" latinLnBrk="0" hangingPunct="1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5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 New"/>
                <a:cs typeface="Courier New"/>
              </a:rPr>
              <a:t>x</a:t>
            </a:r>
            <a:r>
              <a:rPr kumimoji="0" lang="en-US" altLang="zh-CN" sz="35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35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=</a:t>
            </a:r>
            <a:r>
              <a:rPr kumimoji="0" lang="en-US" altLang="zh-CN" sz="35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35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/>
                <a:cs typeface="Courier New"/>
              </a:rPr>
              <a:t>a</a:t>
            </a:r>
            <a:r>
              <a:rPr kumimoji="0" lang="en-US" altLang="zh-CN" sz="35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35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urier New"/>
                <a:cs typeface="Courier New"/>
              </a:rPr>
              <a:t>*</a:t>
            </a:r>
            <a:r>
              <a:rPr kumimoji="0" lang="en-US" altLang="zh-CN" sz="3500" b="1" i="0" u="none" strike="noStrike" kern="0" cap="none" spc="-5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35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2</a:t>
            </a:r>
            <a:r>
              <a:rPr kumimoji="0" lang="en-US" altLang="zh-CN" sz="35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35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+</a:t>
            </a:r>
            <a:r>
              <a:rPr kumimoji="0" lang="en-US" altLang="zh-CN" sz="35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35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b</a:t>
            </a:r>
            <a:r>
              <a:rPr kumimoji="0" lang="en-US" altLang="zh-CN" sz="35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35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*</a:t>
            </a:r>
            <a:r>
              <a:rPr kumimoji="0" lang="en-US" altLang="zh-CN" sz="35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35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(</a:t>
            </a:r>
            <a:r>
              <a:rPr kumimoji="0" lang="en-US" altLang="zh-CN" sz="35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x</a:t>
            </a:r>
            <a:r>
              <a:rPr kumimoji="0" lang="en-US" altLang="zh-CN" sz="3500" b="1" i="0" u="none" strike="noStrike" kern="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35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*</a:t>
            </a:r>
            <a:r>
              <a:rPr kumimoji="0" lang="en-US" altLang="zh-CN" sz="35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35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3)</a:t>
            </a:r>
            <a:endParaRPr kumimoji="0" lang="en-US" altLang="zh-CN" sz="35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148590" marR="1167130" lvl="0" indent="0" defTabSz="914400" eaLnBrk="1" fontAlgn="auto" latinLnBrk="0" hangingPunct="1">
              <a:lnSpc>
                <a:spcPct val="100000"/>
              </a:lnSpc>
              <a:spcBef>
                <a:spcPts val="18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 New"/>
                <a:cs typeface="Courier New"/>
              </a:rPr>
              <a:t>id&lt;x&gt;</a:t>
            </a:r>
            <a:r>
              <a:rPr kumimoji="0" lang="en-US" altLang="zh-CN" sz="2200" b="1" i="0" u="none" strike="noStrike" kern="0" cap="none" spc="-65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assign</a:t>
            </a:r>
            <a:r>
              <a:rPr kumimoji="0" lang="en-US" altLang="zh-CN" sz="22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/>
                <a:cs typeface="Courier New"/>
              </a:rPr>
              <a:t>id&lt;a&gt;</a:t>
            </a:r>
            <a:r>
              <a:rPr kumimoji="0" lang="en-US" altLang="zh-CN" sz="22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urier New"/>
                <a:cs typeface="Courier New"/>
              </a:rPr>
              <a:t>times</a:t>
            </a:r>
            <a:r>
              <a:rPr kumimoji="0" lang="en-US" altLang="zh-CN" sz="2200" b="1" i="0" u="none" strike="noStrike" kern="0" cap="none" spc="-65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int&lt;2&gt;</a:t>
            </a:r>
            <a:r>
              <a:rPr kumimoji="0" lang="en-US" altLang="zh-CN" sz="22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plus</a:t>
            </a:r>
            <a:r>
              <a:rPr kumimoji="0" lang="en-US" altLang="zh-CN" sz="22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22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id&lt;b&gt; 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times</a:t>
            </a:r>
            <a:r>
              <a:rPr kumimoji="0" lang="en-US" altLang="zh-CN" sz="22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lparen</a:t>
            </a:r>
            <a:r>
              <a:rPr kumimoji="0" lang="en-US" altLang="zh-CN" sz="22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id&lt;x&gt;</a:t>
            </a:r>
            <a:r>
              <a:rPr kumimoji="0" lang="en-US" altLang="zh-CN" sz="2200" b="1" i="0" u="none" strike="noStrike" kern="0" cap="none" spc="-6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times</a:t>
            </a:r>
            <a:r>
              <a:rPr kumimoji="0" lang="en-US" altLang="zh-CN" sz="22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int&lt;3&gt; </a:t>
            </a:r>
            <a:r>
              <a:rPr kumimoji="0" lang="en-US" altLang="zh-CN" sz="2200" b="1" i="0" u="none" strike="noStrike" kern="0" cap="none" spc="-1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rparen</a:t>
            </a: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6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466725" marR="0" lvl="0" indent="-45720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词法分析</a:t>
            </a:r>
            <a:r>
              <a:rPr kumimoji="0" lang="en-US" altLang="zh-CN" sz="28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: </a:t>
            </a:r>
            <a:r>
              <a:rPr kumimoji="0" lang="zh-CN" altLang="en-US" sz="28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将程序字符流分解为记号 </a:t>
            </a:r>
            <a:r>
              <a:rPr kumimoji="0" lang="en-US" altLang="zh-CN" sz="2800" b="1" i="0" u="none" strike="noStrike" kern="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(</a:t>
            </a:r>
            <a:r>
              <a:rPr kumimoji="0" lang="en-US" altLang="zh-CN" sz="2800" b="1" i="0" u="none" strike="noStrike" kern="0" cap="none" spc="-1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Token) </a:t>
            </a:r>
            <a:r>
              <a:rPr kumimoji="0" lang="zh-CN" altLang="en-US" sz="28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序列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  <a:p>
            <a:pPr marL="469265" marR="279400" lvl="0" indent="-457200" defTabSz="914400" eaLnBrk="1" fontAlgn="auto" latinLnBrk="0" hangingPunct="1">
              <a:lnSpc>
                <a:spcPct val="100600"/>
              </a:lnSpc>
              <a:spcBef>
                <a:spcPts val="844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389890" algn="l"/>
              </a:tabLst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删除字符串中不必要的部分（如空格）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  <a:p>
            <a:pPr marL="469265" marR="279400" lvl="0" indent="-457200" defTabSz="914400" eaLnBrk="1" fontAlgn="auto" latinLnBrk="0" hangingPunct="1">
              <a:lnSpc>
                <a:spcPct val="100600"/>
              </a:lnSpc>
              <a:spcBef>
                <a:spcPts val="844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389890" algn="l"/>
              </a:tabLst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通常使用</a:t>
            </a:r>
            <a:r>
              <a:rPr lang="zh-CN" altLang="en-US" sz="2800" kern="0" dirty="0">
                <a:solidFill>
                  <a:srgbClr val="043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正则表达式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匹配（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DFA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定义）</a:t>
            </a:r>
            <a:endParaRPr kumimoji="0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1311C4B0-18F4-AECF-3BC8-37AB51DC8425}"/>
              </a:ext>
            </a:extLst>
          </p:cNvPr>
          <p:cNvSpPr/>
          <p:nvPr/>
        </p:nvSpPr>
        <p:spPr>
          <a:xfrm>
            <a:off x="7272045" y="1145158"/>
            <a:ext cx="1336281" cy="609584"/>
          </a:xfrm>
          <a:prstGeom prst="roundRect">
            <a:avLst/>
          </a:prstGeom>
          <a:solidFill>
            <a:srgbClr val="333399"/>
          </a:solidFill>
          <a:ln w="12700" cap="flat" cmpd="sng" algn="ctr">
            <a:solidFill>
              <a:srgbClr val="333399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string</a:t>
            </a: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33E75CD4-0211-F69E-2ECF-17B75A510DE0}"/>
              </a:ext>
            </a:extLst>
          </p:cNvPr>
          <p:cNvSpPr/>
          <p:nvPr/>
        </p:nvSpPr>
        <p:spPr>
          <a:xfrm>
            <a:off x="7272045" y="2136366"/>
            <a:ext cx="1336281" cy="609584"/>
          </a:xfrm>
          <a:prstGeom prst="roundRect">
            <a:avLst/>
          </a:prstGeom>
          <a:solidFill>
            <a:srgbClr val="333399"/>
          </a:solidFill>
          <a:ln w="12700" cap="flat" cmpd="sng" algn="ctr">
            <a:solidFill>
              <a:srgbClr val="333399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token sequence</a:t>
            </a: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cxnSp>
        <p:nvCxnSpPr>
          <p:cNvPr id="46" name="直线箭头连接符 45">
            <a:extLst>
              <a:ext uri="{FF2B5EF4-FFF2-40B4-BE49-F238E27FC236}">
                <a16:creationId xmlns:a16="http://schemas.microsoft.com/office/drawing/2014/main" id="{C20F9649-E50C-5975-DA2B-E5BC70C7AD2F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7940186" y="1754742"/>
            <a:ext cx="0" cy="381624"/>
          </a:xfrm>
          <a:prstGeom prst="straightConnector1">
            <a:avLst/>
          </a:prstGeom>
          <a:noFill/>
          <a:ln w="28575" cap="flat" cmpd="sng" algn="ctr">
            <a:solidFill>
              <a:srgbClr val="333399"/>
            </a:solidFill>
            <a:prstDash val="solid"/>
            <a:miter lim="800000"/>
            <a:tailEnd type="triangle" w="lg" len="lg"/>
          </a:ln>
          <a:effectLst/>
        </p:spPr>
      </p:cxnSp>
      <p:pic>
        <p:nvPicPr>
          <p:cNvPr id="85" name="object 4">
            <a:extLst>
              <a:ext uri="{FF2B5EF4-FFF2-40B4-BE49-F238E27FC236}">
                <a16:creationId xmlns:a16="http://schemas.microsoft.com/office/drawing/2014/main" id="{02D4D174-0DD9-4224-B645-423842363BC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6377" y="5206864"/>
            <a:ext cx="431999" cy="1417129"/>
          </a:xfrm>
          <a:prstGeom prst="rect">
            <a:avLst/>
          </a:prstGeom>
        </p:spPr>
      </p:pic>
      <p:sp>
        <p:nvSpPr>
          <p:cNvPr id="87" name="object 8">
            <a:extLst>
              <a:ext uri="{FF2B5EF4-FFF2-40B4-BE49-F238E27FC236}">
                <a16:creationId xmlns:a16="http://schemas.microsoft.com/office/drawing/2014/main" id="{25927F81-8E67-4871-1EB9-BF47E612AA93}"/>
              </a:ext>
            </a:extLst>
          </p:cNvPr>
          <p:cNvSpPr txBox="1"/>
          <p:nvPr/>
        </p:nvSpPr>
        <p:spPr>
          <a:xfrm>
            <a:off x="1495763" y="5339677"/>
            <a:ext cx="254000" cy="1125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词法分析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grpSp>
        <p:nvGrpSpPr>
          <p:cNvPr id="88" name="object 9">
            <a:extLst>
              <a:ext uri="{FF2B5EF4-FFF2-40B4-BE49-F238E27FC236}">
                <a16:creationId xmlns:a16="http://schemas.microsoft.com/office/drawing/2014/main" id="{5412DDFA-D6DF-B94F-F909-A02E51A48289}"/>
              </a:ext>
            </a:extLst>
          </p:cNvPr>
          <p:cNvGrpSpPr/>
          <p:nvPr/>
        </p:nvGrpSpPr>
        <p:grpSpPr>
          <a:xfrm>
            <a:off x="2086233" y="5208497"/>
            <a:ext cx="2282681" cy="1423253"/>
            <a:chOff x="2087999" y="1700160"/>
            <a:chExt cx="2282681" cy="1423253"/>
          </a:xfrm>
        </p:grpSpPr>
        <p:pic>
          <p:nvPicPr>
            <p:cNvPr id="89" name="object 10">
              <a:extLst>
                <a:ext uri="{FF2B5EF4-FFF2-40B4-BE49-F238E27FC236}">
                  <a16:creationId xmlns:a16="http://schemas.microsoft.com/office/drawing/2014/main" id="{F11A1A14-CF97-5701-0B90-53B11DFE2CB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87999" y="1716656"/>
              <a:ext cx="432000" cy="1400633"/>
            </a:xfrm>
            <a:prstGeom prst="rect">
              <a:avLst/>
            </a:prstGeom>
          </p:spPr>
        </p:pic>
        <p:pic>
          <p:nvPicPr>
            <p:cNvPr id="90" name="object 11">
              <a:extLst>
                <a:ext uri="{FF2B5EF4-FFF2-40B4-BE49-F238E27FC236}">
                  <a16:creationId xmlns:a16="http://schemas.microsoft.com/office/drawing/2014/main" id="{FBACF3E6-E850-9676-358D-F336D4ED07E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71800" y="1700160"/>
              <a:ext cx="431999" cy="1417129"/>
            </a:xfrm>
            <a:prstGeom prst="rect">
              <a:avLst/>
            </a:prstGeom>
          </p:spPr>
        </p:pic>
        <p:pic>
          <p:nvPicPr>
            <p:cNvPr id="92" name="object 13">
              <a:extLst>
                <a:ext uri="{FF2B5EF4-FFF2-40B4-BE49-F238E27FC236}">
                  <a16:creationId xmlns:a16="http://schemas.microsoft.com/office/drawing/2014/main" id="{744C8A24-0278-DA2C-2BA6-7C6507B0B0E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94681" y="1706285"/>
              <a:ext cx="575999" cy="1417128"/>
            </a:xfrm>
            <a:prstGeom prst="rect">
              <a:avLst/>
            </a:prstGeom>
          </p:spPr>
        </p:pic>
      </p:grpSp>
      <p:sp>
        <p:nvSpPr>
          <p:cNvPr id="93" name="object 14">
            <a:extLst>
              <a:ext uri="{FF2B5EF4-FFF2-40B4-BE49-F238E27FC236}">
                <a16:creationId xmlns:a16="http://schemas.microsoft.com/office/drawing/2014/main" id="{BFCEEC32-FCA7-5AE6-FC50-286AEA0AE40D}"/>
              </a:ext>
            </a:extLst>
          </p:cNvPr>
          <p:cNvSpPr txBox="1"/>
          <p:nvPr/>
        </p:nvSpPr>
        <p:spPr>
          <a:xfrm>
            <a:off x="3831288" y="5461596"/>
            <a:ext cx="491490" cy="85788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algn="just">
              <a:lnSpc>
                <a:spcPct val="101699"/>
              </a:lnSpc>
              <a:spcBef>
                <a:spcPts val="60"/>
              </a:spcBef>
            </a:pPr>
            <a:r>
              <a:rPr sz="1800" b="1" spc="5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中间</a:t>
            </a:r>
            <a:r>
              <a:rPr sz="1800" b="1" spc="-25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代码</a:t>
            </a:r>
            <a:r>
              <a:rPr sz="1800" b="1" spc="-3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生成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pic>
        <p:nvPicPr>
          <p:cNvPr id="94" name="object 15">
            <a:extLst>
              <a:ext uri="{FF2B5EF4-FFF2-40B4-BE49-F238E27FC236}">
                <a16:creationId xmlns:a16="http://schemas.microsoft.com/office/drawing/2014/main" id="{95D7E3F5-0C2F-1A97-8EA7-DC6DC164B44F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22153" y="5214622"/>
            <a:ext cx="575999" cy="1404569"/>
          </a:xfrm>
          <a:prstGeom prst="rect">
            <a:avLst/>
          </a:prstGeom>
        </p:spPr>
      </p:pic>
      <p:grpSp>
        <p:nvGrpSpPr>
          <p:cNvPr id="96" name="object 21">
            <a:extLst>
              <a:ext uri="{FF2B5EF4-FFF2-40B4-BE49-F238E27FC236}">
                <a16:creationId xmlns:a16="http://schemas.microsoft.com/office/drawing/2014/main" id="{7E46A05A-AF1A-E593-D5A4-9D6E8AD99A2A}"/>
              </a:ext>
            </a:extLst>
          </p:cNvPr>
          <p:cNvGrpSpPr/>
          <p:nvPr/>
        </p:nvGrpSpPr>
        <p:grpSpPr>
          <a:xfrm>
            <a:off x="5858604" y="5206862"/>
            <a:ext cx="1808480" cy="1412875"/>
            <a:chOff x="5860370" y="1698525"/>
            <a:chExt cx="1808480" cy="1412875"/>
          </a:xfrm>
        </p:grpSpPr>
        <p:pic>
          <p:nvPicPr>
            <p:cNvPr id="97" name="object 22">
              <a:extLst>
                <a:ext uri="{FF2B5EF4-FFF2-40B4-BE49-F238E27FC236}">
                  <a16:creationId xmlns:a16="http://schemas.microsoft.com/office/drawing/2014/main" id="{00D82374-2FE4-1742-8E1C-A2445D2D5143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60370" y="1698527"/>
              <a:ext cx="432000" cy="1412326"/>
            </a:xfrm>
            <a:prstGeom prst="rect">
              <a:avLst/>
            </a:prstGeom>
          </p:spPr>
        </p:pic>
        <p:pic>
          <p:nvPicPr>
            <p:cNvPr id="98" name="object 23">
              <a:extLst>
                <a:ext uri="{FF2B5EF4-FFF2-40B4-BE49-F238E27FC236}">
                  <a16:creationId xmlns:a16="http://schemas.microsoft.com/office/drawing/2014/main" id="{6867592A-9708-0D53-93B5-84EB8BF6B39D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36344" y="1698525"/>
              <a:ext cx="431999" cy="1412327"/>
            </a:xfrm>
            <a:prstGeom prst="rect">
              <a:avLst/>
            </a:prstGeom>
          </p:spPr>
        </p:pic>
      </p:grpSp>
      <p:pic>
        <p:nvPicPr>
          <p:cNvPr id="100" name="object 26">
            <a:extLst>
              <a:ext uri="{FF2B5EF4-FFF2-40B4-BE49-F238E27FC236}">
                <a16:creationId xmlns:a16="http://schemas.microsoft.com/office/drawing/2014/main" id="{4557367C-EAA6-5B6B-5C13-CFFA117986E4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558116" y="5206862"/>
            <a:ext cx="432000" cy="1418763"/>
          </a:xfrm>
          <a:prstGeom prst="rect">
            <a:avLst/>
          </a:prstGeom>
        </p:spPr>
      </p:pic>
      <p:grpSp>
        <p:nvGrpSpPr>
          <p:cNvPr id="102" name="object 38">
            <a:extLst>
              <a:ext uri="{FF2B5EF4-FFF2-40B4-BE49-F238E27FC236}">
                <a16:creationId xmlns:a16="http://schemas.microsoft.com/office/drawing/2014/main" id="{BC982501-938E-255C-F1FF-52C60B62CBB5}"/>
              </a:ext>
            </a:extLst>
          </p:cNvPr>
          <p:cNvGrpSpPr/>
          <p:nvPr/>
        </p:nvGrpSpPr>
        <p:grpSpPr>
          <a:xfrm>
            <a:off x="1825830" y="5855876"/>
            <a:ext cx="963852" cy="70711"/>
            <a:chOff x="1827596" y="2347539"/>
            <a:chExt cx="963852" cy="70711"/>
          </a:xfrm>
        </p:grpSpPr>
        <p:pic>
          <p:nvPicPr>
            <p:cNvPr id="103" name="object 39">
              <a:extLst>
                <a:ext uri="{FF2B5EF4-FFF2-40B4-BE49-F238E27FC236}">
                  <a16:creationId xmlns:a16="http://schemas.microsoft.com/office/drawing/2014/main" id="{D7921C55-969D-AD9A-C914-9B2570D260B0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04413" y="2347539"/>
              <a:ext cx="287035" cy="70711"/>
            </a:xfrm>
            <a:prstGeom prst="rect">
              <a:avLst/>
            </a:prstGeom>
          </p:spPr>
        </p:pic>
        <p:pic>
          <p:nvPicPr>
            <p:cNvPr id="104" name="object 40">
              <a:extLst>
                <a:ext uri="{FF2B5EF4-FFF2-40B4-BE49-F238E27FC236}">
                  <a16:creationId xmlns:a16="http://schemas.microsoft.com/office/drawing/2014/main" id="{BD3E1A9A-0150-1DB8-2BBC-8F7D6AF29F7B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27596" y="2347539"/>
              <a:ext cx="287033" cy="70711"/>
            </a:xfrm>
            <a:prstGeom prst="rect">
              <a:avLst/>
            </a:prstGeom>
          </p:spPr>
        </p:pic>
      </p:grpSp>
      <p:sp>
        <p:nvSpPr>
          <p:cNvPr id="105" name="object 32">
            <a:extLst>
              <a:ext uri="{FF2B5EF4-FFF2-40B4-BE49-F238E27FC236}">
                <a16:creationId xmlns:a16="http://schemas.microsoft.com/office/drawing/2014/main" id="{9EC8B0C3-8F3F-3E7E-41E5-B6CB621C0619}"/>
              </a:ext>
            </a:extLst>
          </p:cNvPr>
          <p:cNvSpPr/>
          <p:nvPr/>
        </p:nvSpPr>
        <p:spPr>
          <a:xfrm>
            <a:off x="4387156" y="5858278"/>
            <a:ext cx="335280" cy="57150"/>
          </a:xfrm>
          <a:custGeom>
            <a:avLst/>
            <a:gdLst/>
            <a:ahLst/>
            <a:cxnLst/>
            <a:rect l="l" t="t" r="r" b="b"/>
            <a:pathLst>
              <a:path w="335279" h="57150">
                <a:moveTo>
                  <a:pt x="335191" y="28575"/>
                </a:moveTo>
                <a:lnTo>
                  <a:pt x="320903" y="21424"/>
                </a:lnTo>
                <a:lnTo>
                  <a:pt x="278041" y="0"/>
                </a:lnTo>
                <a:lnTo>
                  <a:pt x="278041" y="21424"/>
                </a:lnTo>
                <a:lnTo>
                  <a:pt x="0" y="21424"/>
                </a:lnTo>
                <a:lnTo>
                  <a:pt x="0" y="35712"/>
                </a:lnTo>
                <a:lnTo>
                  <a:pt x="278041" y="35712"/>
                </a:lnTo>
                <a:lnTo>
                  <a:pt x="278041" y="57150"/>
                </a:lnTo>
                <a:lnTo>
                  <a:pt x="320903" y="35712"/>
                </a:lnTo>
                <a:lnTo>
                  <a:pt x="335191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6" name="object 14">
            <a:extLst>
              <a:ext uri="{FF2B5EF4-FFF2-40B4-BE49-F238E27FC236}">
                <a16:creationId xmlns:a16="http://schemas.microsoft.com/office/drawing/2014/main" id="{F10DAB93-E93D-1E6D-1572-51FB95D277E9}"/>
              </a:ext>
            </a:extLst>
          </p:cNvPr>
          <p:cNvSpPr txBox="1"/>
          <p:nvPr/>
        </p:nvSpPr>
        <p:spPr>
          <a:xfrm>
            <a:off x="4767426" y="5371494"/>
            <a:ext cx="491490" cy="1119089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algn="just">
              <a:lnSpc>
                <a:spcPct val="101699"/>
              </a:lnSpc>
              <a:spcBef>
                <a:spcPts val="60"/>
              </a:spcBef>
            </a:pPr>
            <a:r>
              <a:rPr lang="en-US" sz="1800" b="1" spc="5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机器无关代码优化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07" name="object 8">
            <a:extLst>
              <a:ext uri="{FF2B5EF4-FFF2-40B4-BE49-F238E27FC236}">
                <a16:creationId xmlns:a16="http://schemas.microsoft.com/office/drawing/2014/main" id="{6F1BE393-79CE-882B-F457-914E82457850}"/>
              </a:ext>
            </a:extLst>
          </p:cNvPr>
          <p:cNvSpPr txBox="1"/>
          <p:nvPr/>
        </p:nvSpPr>
        <p:spPr>
          <a:xfrm>
            <a:off x="5944382" y="5328303"/>
            <a:ext cx="254000" cy="111953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lang="zh-CN" altLang="en-US"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指令选择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08" name="object 8">
            <a:extLst>
              <a:ext uri="{FF2B5EF4-FFF2-40B4-BE49-F238E27FC236}">
                <a16:creationId xmlns:a16="http://schemas.microsoft.com/office/drawing/2014/main" id="{040C6F3A-803B-D9AF-D9B9-B40846F7150C}"/>
              </a:ext>
            </a:extLst>
          </p:cNvPr>
          <p:cNvSpPr txBox="1"/>
          <p:nvPr/>
        </p:nvSpPr>
        <p:spPr>
          <a:xfrm>
            <a:off x="6644550" y="5224993"/>
            <a:ext cx="254000" cy="139653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lang="zh-CN" altLang="en-US"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寄存器分配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09" name="object 8">
            <a:extLst>
              <a:ext uri="{FF2B5EF4-FFF2-40B4-BE49-F238E27FC236}">
                <a16:creationId xmlns:a16="http://schemas.microsoft.com/office/drawing/2014/main" id="{F1B4160C-6D1B-C4C9-DC9C-5945FBCAF73E}"/>
              </a:ext>
            </a:extLst>
          </p:cNvPr>
          <p:cNvSpPr txBox="1"/>
          <p:nvPr/>
        </p:nvSpPr>
        <p:spPr>
          <a:xfrm>
            <a:off x="7320602" y="5337280"/>
            <a:ext cx="254000" cy="111953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lang="zh-CN" altLang="en-US"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指令调度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10" name="object 8">
            <a:extLst>
              <a:ext uri="{FF2B5EF4-FFF2-40B4-BE49-F238E27FC236}">
                <a16:creationId xmlns:a16="http://schemas.microsoft.com/office/drawing/2014/main" id="{0CF4471C-DCC8-8F68-C7EE-0B6DD7E23D55}"/>
              </a:ext>
            </a:extLst>
          </p:cNvPr>
          <p:cNvSpPr txBox="1"/>
          <p:nvPr/>
        </p:nvSpPr>
        <p:spPr>
          <a:xfrm>
            <a:off x="2175326" y="5353256"/>
            <a:ext cx="254000" cy="111953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lang="en-US" sz="1800" b="1" spc="-5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语法分析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11" name="object 8">
            <a:extLst>
              <a:ext uri="{FF2B5EF4-FFF2-40B4-BE49-F238E27FC236}">
                <a16:creationId xmlns:a16="http://schemas.microsoft.com/office/drawing/2014/main" id="{F2559051-082E-0E38-E4FB-C7F69D5B6B86}"/>
              </a:ext>
            </a:extLst>
          </p:cNvPr>
          <p:cNvSpPr txBox="1"/>
          <p:nvPr/>
        </p:nvSpPr>
        <p:spPr>
          <a:xfrm>
            <a:off x="2867428" y="5362944"/>
            <a:ext cx="254000" cy="111953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lang="zh-CN" altLang="en-US"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语义分析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12" name="object 12">
            <a:extLst>
              <a:ext uri="{FF2B5EF4-FFF2-40B4-BE49-F238E27FC236}">
                <a16:creationId xmlns:a16="http://schemas.microsoft.com/office/drawing/2014/main" id="{AE89CF9D-FACB-1D2C-B9E6-255D10ADC0F8}"/>
              </a:ext>
            </a:extLst>
          </p:cNvPr>
          <p:cNvSpPr/>
          <p:nvPr/>
        </p:nvSpPr>
        <p:spPr>
          <a:xfrm>
            <a:off x="1307763" y="5158812"/>
            <a:ext cx="1963073" cy="1520190"/>
          </a:xfrm>
          <a:custGeom>
            <a:avLst/>
            <a:gdLst/>
            <a:ahLst/>
            <a:cxnLst/>
            <a:rect l="l" t="t" r="r" b="b"/>
            <a:pathLst>
              <a:path w="2023110" h="2012314">
                <a:moveTo>
                  <a:pt x="0" y="0"/>
                </a:moveTo>
                <a:lnTo>
                  <a:pt x="2023111" y="0"/>
                </a:lnTo>
                <a:lnTo>
                  <a:pt x="2023111" y="2012219"/>
                </a:lnTo>
                <a:lnTo>
                  <a:pt x="0" y="2012219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3" name="object 12">
            <a:extLst>
              <a:ext uri="{FF2B5EF4-FFF2-40B4-BE49-F238E27FC236}">
                <a16:creationId xmlns:a16="http://schemas.microsoft.com/office/drawing/2014/main" id="{93EE51AB-BB22-D584-2995-7ED91E0C4052}"/>
              </a:ext>
            </a:extLst>
          </p:cNvPr>
          <p:cNvSpPr/>
          <p:nvPr/>
        </p:nvSpPr>
        <p:spPr>
          <a:xfrm>
            <a:off x="3710187" y="5152929"/>
            <a:ext cx="1667264" cy="1520190"/>
          </a:xfrm>
          <a:custGeom>
            <a:avLst/>
            <a:gdLst/>
            <a:ahLst/>
            <a:cxnLst/>
            <a:rect l="l" t="t" r="r" b="b"/>
            <a:pathLst>
              <a:path w="2023110" h="2012314">
                <a:moveTo>
                  <a:pt x="0" y="0"/>
                </a:moveTo>
                <a:lnTo>
                  <a:pt x="2023111" y="0"/>
                </a:lnTo>
                <a:lnTo>
                  <a:pt x="2023111" y="2012219"/>
                </a:lnTo>
                <a:lnTo>
                  <a:pt x="0" y="2012219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4" name="object 12">
            <a:extLst>
              <a:ext uri="{FF2B5EF4-FFF2-40B4-BE49-F238E27FC236}">
                <a16:creationId xmlns:a16="http://schemas.microsoft.com/office/drawing/2014/main" id="{FEB4C09F-5155-20BB-7E1D-18C45BB315BD}"/>
              </a:ext>
            </a:extLst>
          </p:cNvPr>
          <p:cNvSpPr/>
          <p:nvPr/>
        </p:nvSpPr>
        <p:spPr>
          <a:xfrm>
            <a:off x="5790013" y="5152929"/>
            <a:ext cx="1963073" cy="1520190"/>
          </a:xfrm>
          <a:custGeom>
            <a:avLst/>
            <a:gdLst/>
            <a:ahLst/>
            <a:cxnLst/>
            <a:rect l="l" t="t" r="r" b="b"/>
            <a:pathLst>
              <a:path w="2023110" h="2012314">
                <a:moveTo>
                  <a:pt x="0" y="0"/>
                </a:moveTo>
                <a:lnTo>
                  <a:pt x="2023111" y="0"/>
                </a:lnTo>
                <a:lnTo>
                  <a:pt x="2023111" y="2012219"/>
                </a:lnTo>
                <a:lnTo>
                  <a:pt x="0" y="2012219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5" name="object 32">
            <a:extLst>
              <a:ext uri="{FF2B5EF4-FFF2-40B4-BE49-F238E27FC236}">
                <a16:creationId xmlns:a16="http://schemas.microsoft.com/office/drawing/2014/main" id="{25400188-2B21-F93F-EB70-6BD0369FF830}"/>
              </a:ext>
            </a:extLst>
          </p:cNvPr>
          <p:cNvSpPr/>
          <p:nvPr/>
        </p:nvSpPr>
        <p:spPr>
          <a:xfrm>
            <a:off x="3309209" y="5873888"/>
            <a:ext cx="335280" cy="57150"/>
          </a:xfrm>
          <a:custGeom>
            <a:avLst/>
            <a:gdLst/>
            <a:ahLst/>
            <a:cxnLst/>
            <a:rect l="l" t="t" r="r" b="b"/>
            <a:pathLst>
              <a:path w="335279" h="57150">
                <a:moveTo>
                  <a:pt x="335191" y="28575"/>
                </a:moveTo>
                <a:lnTo>
                  <a:pt x="320903" y="21424"/>
                </a:lnTo>
                <a:lnTo>
                  <a:pt x="278041" y="0"/>
                </a:lnTo>
                <a:lnTo>
                  <a:pt x="278041" y="21424"/>
                </a:lnTo>
                <a:lnTo>
                  <a:pt x="0" y="21424"/>
                </a:lnTo>
                <a:lnTo>
                  <a:pt x="0" y="35712"/>
                </a:lnTo>
                <a:lnTo>
                  <a:pt x="278041" y="35712"/>
                </a:lnTo>
                <a:lnTo>
                  <a:pt x="278041" y="57150"/>
                </a:lnTo>
                <a:lnTo>
                  <a:pt x="320903" y="35712"/>
                </a:lnTo>
                <a:lnTo>
                  <a:pt x="335191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6" name="object 32">
            <a:extLst>
              <a:ext uri="{FF2B5EF4-FFF2-40B4-BE49-F238E27FC236}">
                <a16:creationId xmlns:a16="http://schemas.microsoft.com/office/drawing/2014/main" id="{9FBABBC5-FE62-0E1D-D9FF-EEB4977626B0}"/>
              </a:ext>
            </a:extLst>
          </p:cNvPr>
          <p:cNvSpPr/>
          <p:nvPr/>
        </p:nvSpPr>
        <p:spPr>
          <a:xfrm>
            <a:off x="5411516" y="5868473"/>
            <a:ext cx="335280" cy="57150"/>
          </a:xfrm>
          <a:custGeom>
            <a:avLst/>
            <a:gdLst/>
            <a:ahLst/>
            <a:cxnLst/>
            <a:rect l="l" t="t" r="r" b="b"/>
            <a:pathLst>
              <a:path w="335279" h="57150">
                <a:moveTo>
                  <a:pt x="335191" y="28575"/>
                </a:moveTo>
                <a:lnTo>
                  <a:pt x="320903" y="21424"/>
                </a:lnTo>
                <a:lnTo>
                  <a:pt x="278041" y="0"/>
                </a:lnTo>
                <a:lnTo>
                  <a:pt x="278041" y="21424"/>
                </a:lnTo>
                <a:lnTo>
                  <a:pt x="0" y="21424"/>
                </a:lnTo>
                <a:lnTo>
                  <a:pt x="0" y="35712"/>
                </a:lnTo>
                <a:lnTo>
                  <a:pt x="278041" y="35712"/>
                </a:lnTo>
                <a:lnTo>
                  <a:pt x="278041" y="57150"/>
                </a:lnTo>
                <a:lnTo>
                  <a:pt x="320903" y="35712"/>
                </a:lnTo>
                <a:lnTo>
                  <a:pt x="335191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7" name="object 32">
            <a:extLst>
              <a:ext uri="{FF2B5EF4-FFF2-40B4-BE49-F238E27FC236}">
                <a16:creationId xmlns:a16="http://schemas.microsoft.com/office/drawing/2014/main" id="{23BB959A-ED2D-5080-8C23-E9BDDB1E86D7}"/>
              </a:ext>
            </a:extLst>
          </p:cNvPr>
          <p:cNvSpPr/>
          <p:nvPr/>
        </p:nvSpPr>
        <p:spPr>
          <a:xfrm>
            <a:off x="6313655" y="5858278"/>
            <a:ext cx="239494" cy="45719"/>
          </a:xfrm>
          <a:custGeom>
            <a:avLst/>
            <a:gdLst/>
            <a:ahLst/>
            <a:cxnLst/>
            <a:rect l="l" t="t" r="r" b="b"/>
            <a:pathLst>
              <a:path w="335279" h="57150">
                <a:moveTo>
                  <a:pt x="335191" y="28575"/>
                </a:moveTo>
                <a:lnTo>
                  <a:pt x="320903" y="21424"/>
                </a:lnTo>
                <a:lnTo>
                  <a:pt x="278041" y="0"/>
                </a:lnTo>
                <a:lnTo>
                  <a:pt x="278041" y="21424"/>
                </a:lnTo>
                <a:lnTo>
                  <a:pt x="0" y="21424"/>
                </a:lnTo>
                <a:lnTo>
                  <a:pt x="0" y="35712"/>
                </a:lnTo>
                <a:lnTo>
                  <a:pt x="278041" y="35712"/>
                </a:lnTo>
                <a:lnTo>
                  <a:pt x="278041" y="57150"/>
                </a:lnTo>
                <a:lnTo>
                  <a:pt x="320903" y="35712"/>
                </a:lnTo>
                <a:lnTo>
                  <a:pt x="335191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8" name="object 32">
            <a:extLst>
              <a:ext uri="{FF2B5EF4-FFF2-40B4-BE49-F238E27FC236}">
                <a16:creationId xmlns:a16="http://schemas.microsoft.com/office/drawing/2014/main" id="{CD7B19FA-12A1-167C-7DE9-421CB7D9736A}"/>
              </a:ext>
            </a:extLst>
          </p:cNvPr>
          <p:cNvSpPr/>
          <p:nvPr/>
        </p:nvSpPr>
        <p:spPr>
          <a:xfrm>
            <a:off x="7006495" y="5848225"/>
            <a:ext cx="222132" cy="45719"/>
          </a:xfrm>
          <a:custGeom>
            <a:avLst/>
            <a:gdLst/>
            <a:ahLst/>
            <a:cxnLst/>
            <a:rect l="l" t="t" r="r" b="b"/>
            <a:pathLst>
              <a:path w="335279" h="57150">
                <a:moveTo>
                  <a:pt x="335191" y="28575"/>
                </a:moveTo>
                <a:lnTo>
                  <a:pt x="320903" y="21424"/>
                </a:lnTo>
                <a:lnTo>
                  <a:pt x="278041" y="0"/>
                </a:lnTo>
                <a:lnTo>
                  <a:pt x="278041" y="21424"/>
                </a:lnTo>
                <a:lnTo>
                  <a:pt x="0" y="21424"/>
                </a:lnTo>
                <a:lnTo>
                  <a:pt x="0" y="35712"/>
                </a:lnTo>
                <a:lnTo>
                  <a:pt x="278041" y="35712"/>
                </a:lnTo>
                <a:lnTo>
                  <a:pt x="278041" y="57150"/>
                </a:lnTo>
                <a:lnTo>
                  <a:pt x="320903" y="35712"/>
                </a:lnTo>
                <a:lnTo>
                  <a:pt x="335191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2004694" y="5096164"/>
            <a:ext cx="5831544" cy="1636395"/>
          </a:xfrm>
          <a:custGeom>
            <a:avLst/>
            <a:gdLst/>
            <a:ahLst/>
            <a:cxnLst/>
            <a:rect l="l" t="t" r="r" b="b"/>
            <a:pathLst>
              <a:path w="6177915" h="1636395">
                <a:moveTo>
                  <a:pt x="6177316" y="0"/>
                </a:moveTo>
                <a:lnTo>
                  <a:pt x="0" y="0"/>
                </a:lnTo>
                <a:lnTo>
                  <a:pt x="0" y="1636291"/>
                </a:lnTo>
                <a:lnTo>
                  <a:pt x="6177316" y="1636291"/>
                </a:lnTo>
                <a:lnTo>
                  <a:pt x="6177316" y="0"/>
                </a:lnTo>
                <a:close/>
              </a:path>
            </a:pathLst>
          </a:custGeom>
          <a:solidFill>
            <a:srgbClr val="FFFFFF">
              <a:alpha val="748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804" y="155955"/>
            <a:ext cx="753780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err="1"/>
              <a:t>语法分析</a:t>
            </a:r>
            <a:r>
              <a:rPr lang="zh-CN" altLang="en-US" dirty="0"/>
              <a:t> </a:t>
            </a:r>
            <a:r>
              <a:rPr spc="-10" dirty="0">
                <a:latin typeface="Arial"/>
                <a:cs typeface="Arial"/>
              </a:rPr>
              <a:t>(Parsing/Synta</a:t>
            </a:r>
            <a:r>
              <a:rPr lang="en-US" altLang="zh-CN" spc="-10" dirty="0">
                <a:latin typeface="Arial"/>
                <a:cs typeface="Arial"/>
              </a:rPr>
              <a:t>ctic</a:t>
            </a:r>
            <a:r>
              <a:rPr spc="-13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Analysis)</a:t>
            </a:r>
          </a:p>
        </p:txBody>
      </p:sp>
      <p:sp>
        <p:nvSpPr>
          <p:cNvPr id="66" name="object 4">
            <a:extLst>
              <a:ext uri="{FF2B5EF4-FFF2-40B4-BE49-F238E27FC236}">
                <a16:creationId xmlns:a16="http://schemas.microsoft.com/office/drawing/2014/main" id="{60B24367-D58F-EE40-0E4B-2C745A096764}"/>
              </a:ext>
            </a:extLst>
          </p:cNvPr>
          <p:cNvSpPr txBox="1"/>
          <p:nvPr/>
        </p:nvSpPr>
        <p:spPr>
          <a:xfrm>
            <a:off x="838200" y="837006"/>
            <a:ext cx="7090409" cy="69249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18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 New"/>
                <a:cs typeface="Courier New"/>
              </a:rPr>
              <a:t>id&lt;x&gt;</a:t>
            </a:r>
            <a:r>
              <a:rPr kumimoji="0" sz="2200" b="1" i="0" u="none" strike="noStrike" kern="0" cap="none" spc="-65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assign</a:t>
            </a:r>
            <a:r>
              <a:rPr kumimoji="0" sz="22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sz="2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/>
                <a:cs typeface="Courier New"/>
              </a:rPr>
              <a:t>id&lt;a&gt;</a:t>
            </a:r>
            <a:r>
              <a:rPr kumimoji="0" sz="22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sz="2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urier New"/>
                <a:cs typeface="Courier New"/>
              </a:rPr>
              <a:t>times</a:t>
            </a:r>
            <a:r>
              <a:rPr kumimoji="0" sz="2200" b="1" i="0" u="none" strike="noStrike" kern="0" cap="none" spc="-65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int&lt;2&gt;</a:t>
            </a:r>
            <a:r>
              <a:rPr kumimoji="0" sz="22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plus</a:t>
            </a:r>
            <a:r>
              <a:rPr kumimoji="0" sz="22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sz="22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id&lt;b&gt; </a:t>
            </a:r>
            <a:r>
              <a:rPr kumimoji="0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times</a:t>
            </a:r>
            <a:r>
              <a:rPr kumimoji="0" sz="22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sz="22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lparen</a:t>
            </a:r>
            <a:r>
              <a:rPr kumimoji="0" sz="22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sz="2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id&lt;x&gt;</a:t>
            </a:r>
            <a:r>
              <a:rPr kumimoji="0" sz="2200" b="1" i="0" u="none" strike="noStrike" kern="0" cap="none" spc="-6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times</a:t>
            </a:r>
            <a:r>
              <a:rPr kumimoji="0" sz="22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int&lt;3&gt;</a:t>
            </a:r>
            <a:r>
              <a:rPr kumimoji="0" sz="22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sz="2200" b="1" i="0" u="none" strike="noStrike" kern="0" cap="none" spc="-1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rparen</a:t>
            </a:r>
            <a:endParaRPr kumimoji="0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</p:txBody>
      </p:sp>
      <p:pic>
        <p:nvPicPr>
          <p:cNvPr id="68" name="object 5">
            <a:extLst>
              <a:ext uri="{FF2B5EF4-FFF2-40B4-BE49-F238E27FC236}">
                <a16:creationId xmlns:a16="http://schemas.microsoft.com/office/drawing/2014/main" id="{3948F67D-B114-B8BF-F2FA-0F297D06560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7331" y="1699482"/>
            <a:ext cx="3031997" cy="3239513"/>
          </a:xfrm>
          <a:prstGeom prst="rect">
            <a:avLst/>
          </a:prstGeom>
        </p:spPr>
      </p:pic>
      <p:sp>
        <p:nvSpPr>
          <p:cNvPr id="69" name="object 6">
            <a:extLst>
              <a:ext uri="{FF2B5EF4-FFF2-40B4-BE49-F238E27FC236}">
                <a16:creationId xmlns:a16="http://schemas.microsoft.com/office/drawing/2014/main" id="{FE13F65B-E16D-A4A6-3FC9-04496EF84F69}"/>
              </a:ext>
            </a:extLst>
          </p:cNvPr>
          <p:cNvSpPr txBox="1"/>
          <p:nvPr/>
        </p:nvSpPr>
        <p:spPr>
          <a:xfrm>
            <a:off x="1489179" y="1691878"/>
            <a:ext cx="314325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0" lvl="0" indent="0" algn="ctr" defTabSz="914400" eaLnBrk="1" fontAlgn="auto" latinLnBrk="0" hangingPunct="1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=</a:t>
            </a:r>
            <a:endParaRPr kumimoji="0" lang="zh-CN" altLang="en-US" sz="2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70" name="object 7">
            <a:extLst>
              <a:ext uri="{FF2B5EF4-FFF2-40B4-BE49-F238E27FC236}">
                <a16:creationId xmlns:a16="http://schemas.microsoft.com/office/drawing/2014/main" id="{D454FA90-1B28-4EC6-C475-3623F3591F49}"/>
              </a:ext>
            </a:extLst>
          </p:cNvPr>
          <p:cNvSpPr txBox="1"/>
          <p:nvPr/>
        </p:nvSpPr>
        <p:spPr>
          <a:xfrm>
            <a:off x="1401548" y="3074908"/>
            <a:ext cx="156210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Arial"/>
                <a:cs typeface="Arial"/>
              </a:rPr>
              <a:t>*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71" name="object 8">
            <a:extLst>
              <a:ext uri="{FF2B5EF4-FFF2-40B4-BE49-F238E27FC236}">
                <a16:creationId xmlns:a16="http://schemas.microsoft.com/office/drawing/2014/main" id="{C01FD60F-138A-9F83-3D48-EE0851563F2D}"/>
              </a:ext>
            </a:extLst>
          </p:cNvPr>
          <p:cNvSpPr txBox="1"/>
          <p:nvPr/>
        </p:nvSpPr>
        <p:spPr>
          <a:xfrm>
            <a:off x="1131039" y="2320528"/>
            <a:ext cx="1045210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Tx/>
              <a:buSzTx/>
              <a:buFontTx/>
              <a:buNone/>
              <a:tabLst>
                <a:tab pos="836294" algn="l"/>
              </a:tabLst>
              <a:defRPr/>
            </a:pP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	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+</a:t>
            </a:r>
            <a:endParaRPr kumimoji="0" sz="2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72" name="object 9">
            <a:extLst>
              <a:ext uri="{FF2B5EF4-FFF2-40B4-BE49-F238E27FC236}">
                <a16:creationId xmlns:a16="http://schemas.microsoft.com/office/drawing/2014/main" id="{1C8949A8-E6AF-C7A1-E371-8C8EC3C35C95}"/>
              </a:ext>
            </a:extLst>
          </p:cNvPr>
          <p:cNvSpPr txBox="1"/>
          <p:nvPr/>
        </p:nvSpPr>
        <p:spPr>
          <a:xfrm>
            <a:off x="2742669" y="3074908"/>
            <a:ext cx="156210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*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73" name="object 10">
            <a:extLst>
              <a:ext uri="{FF2B5EF4-FFF2-40B4-BE49-F238E27FC236}">
                <a16:creationId xmlns:a16="http://schemas.microsoft.com/office/drawing/2014/main" id="{72A72D73-4BF0-47EA-1B6B-99D06EA08943}"/>
              </a:ext>
            </a:extLst>
          </p:cNvPr>
          <p:cNvSpPr txBox="1"/>
          <p:nvPr/>
        </p:nvSpPr>
        <p:spPr>
          <a:xfrm>
            <a:off x="1038074" y="3829288"/>
            <a:ext cx="1553210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Tx/>
              <a:buSzTx/>
              <a:buFontTx/>
              <a:buNone/>
              <a:tabLst>
                <a:tab pos="766445" algn="l"/>
                <a:tab pos="1353185" algn="l"/>
              </a:tabLst>
              <a:defRPr/>
            </a:pP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	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2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	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b</a:t>
            </a:r>
            <a:endParaRPr kumimoji="0" sz="2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74" name="object 11">
            <a:extLst>
              <a:ext uri="{FF2B5EF4-FFF2-40B4-BE49-F238E27FC236}">
                <a16:creationId xmlns:a16="http://schemas.microsoft.com/office/drawing/2014/main" id="{54577502-9804-4B00-E833-06D910410E87}"/>
              </a:ext>
            </a:extLst>
          </p:cNvPr>
          <p:cNvSpPr txBox="1"/>
          <p:nvPr/>
        </p:nvSpPr>
        <p:spPr>
          <a:xfrm>
            <a:off x="3245589" y="3829288"/>
            <a:ext cx="156210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*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75" name="object 12">
            <a:extLst>
              <a:ext uri="{FF2B5EF4-FFF2-40B4-BE49-F238E27FC236}">
                <a16:creationId xmlns:a16="http://schemas.microsoft.com/office/drawing/2014/main" id="{2F1BF0A4-4708-3FE1-0F8C-CC50FC295DD0}"/>
              </a:ext>
            </a:extLst>
          </p:cNvPr>
          <p:cNvSpPr txBox="1"/>
          <p:nvPr/>
        </p:nvSpPr>
        <p:spPr>
          <a:xfrm>
            <a:off x="2891258" y="4499849"/>
            <a:ext cx="957580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Tx/>
              <a:buSzTx/>
              <a:buFontTx/>
              <a:buNone/>
              <a:tabLst>
                <a:tab pos="757555" algn="l"/>
              </a:tabLst>
              <a:defRPr/>
            </a:pP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cs typeface="Arial"/>
              </a:rPr>
              <a:t>	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76" name="object 5">
            <a:extLst>
              <a:ext uri="{FF2B5EF4-FFF2-40B4-BE49-F238E27FC236}">
                <a16:creationId xmlns:a16="http://schemas.microsoft.com/office/drawing/2014/main" id="{9AA9BD48-2EE1-F912-D8EB-83FA9A219760}"/>
              </a:ext>
            </a:extLst>
          </p:cNvPr>
          <p:cNvSpPr txBox="1"/>
          <p:nvPr/>
        </p:nvSpPr>
        <p:spPr>
          <a:xfrm>
            <a:off x="2380302" y="1720511"/>
            <a:ext cx="6982459" cy="582211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80365" marR="0" lvl="0" indent="-342265" defTabSz="914400" eaLnBrk="1" fontAlgn="auto" latinLnBrk="0" hangingPunct="1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80365" algn="l"/>
              </a:tabLst>
              <a:defRPr/>
            </a:pPr>
            <a:r>
              <a:rPr sz="2800" b="1" kern="0" spc="-2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语法分析: </a:t>
            </a:r>
            <a:r>
              <a:rPr sz="2800" b="1" kern="0" spc="-20" dirty="0" err="1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将记号序列解析为语法结构</a:t>
            </a:r>
            <a:endParaRPr lang="en-US" sz="2800" b="1" kern="0" spc="-2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object 5">
            <a:extLst>
              <a:ext uri="{FF2B5EF4-FFF2-40B4-BE49-F238E27FC236}">
                <a16:creationId xmlns:a16="http://schemas.microsoft.com/office/drawing/2014/main" id="{901CDBBD-AB55-38DB-0B6C-A2B3C370A8A6}"/>
              </a:ext>
            </a:extLst>
          </p:cNvPr>
          <p:cNvSpPr txBox="1"/>
          <p:nvPr/>
        </p:nvSpPr>
        <p:spPr>
          <a:xfrm>
            <a:off x="3370048" y="2478226"/>
            <a:ext cx="6982459" cy="1166986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80365" marR="0" lvl="0" indent="-342265" defTabSz="914400" eaLnBrk="1" fontAlgn="auto" latinLnBrk="0" hangingPunct="1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80365" algn="l"/>
              </a:tabLst>
              <a:defRPr/>
            </a:pPr>
            <a:r>
              <a:rPr kumimoji="0" lang="zh-CN" altLang="en-US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去除不必要的记号（例如括号）</a:t>
            </a:r>
            <a:endParaRPr kumimoji="0" lang="en-US" altLang="zh-CN" sz="2800" b="0" i="0" u="none" strike="noStrike" kern="0" cap="none" spc="-15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  <a:p>
            <a:pPr marL="380365" marR="0" lvl="0" indent="-342265" defTabSz="914400" eaLnBrk="1" fontAlgn="auto" latinLnBrk="0" hangingPunct="1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80365" algn="l"/>
              </a:tabLst>
              <a:defRPr/>
            </a:pPr>
            <a:r>
              <a:rPr kumimoji="0" lang="zh-CN" altLang="en-US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一般使用</a:t>
            </a:r>
            <a:r>
              <a:rPr lang="zh-CN" altLang="en-US" sz="2800" kern="0" dirty="0">
                <a:solidFill>
                  <a:srgbClr val="043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抽象语法树（</a:t>
            </a:r>
            <a:r>
              <a:rPr lang="en-US" altLang="zh-CN" sz="2800" kern="0" dirty="0">
                <a:solidFill>
                  <a:srgbClr val="043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AST</a:t>
            </a:r>
            <a:r>
              <a:rPr lang="zh-CN" altLang="en-US" sz="2800" kern="0" dirty="0">
                <a:solidFill>
                  <a:srgbClr val="043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）</a:t>
            </a:r>
            <a:r>
              <a:rPr kumimoji="0" lang="zh-CN" altLang="en-US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定义</a:t>
            </a:r>
            <a:endParaRPr kumimoji="0" lang="en-US" sz="2800" b="0" i="0" u="none" strike="noStrike" kern="0" cap="none" spc="-15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E6161B29-D09C-9F52-B6D9-5D4DFD893DA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06377" y="5206864"/>
            <a:ext cx="431999" cy="1417129"/>
          </a:xfrm>
          <a:prstGeom prst="rect">
            <a:avLst/>
          </a:prstGeom>
        </p:spPr>
      </p:pic>
      <p:sp>
        <p:nvSpPr>
          <p:cNvPr id="5" name="object 8">
            <a:extLst>
              <a:ext uri="{FF2B5EF4-FFF2-40B4-BE49-F238E27FC236}">
                <a16:creationId xmlns:a16="http://schemas.microsoft.com/office/drawing/2014/main" id="{AB43E96C-EEDD-3797-215E-5DBACE4DB71E}"/>
              </a:ext>
            </a:extLst>
          </p:cNvPr>
          <p:cNvSpPr txBox="1"/>
          <p:nvPr/>
        </p:nvSpPr>
        <p:spPr>
          <a:xfrm>
            <a:off x="1495763" y="5339677"/>
            <a:ext cx="254000" cy="1125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词法分析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grpSp>
        <p:nvGrpSpPr>
          <p:cNvPr id="6" name="object 9">
            <a:extLst>
              <a:ext uri="{FF2B5EF4-FFF2-40B4-BE49-F238E27FC236}">
                <a16:creationId xmlns:a16="http://schemas.microsoft.com/office/drawing/2014/main" id="{A856F798-7FD9-91AF-7670-01EADC168A73}"/>
              </a:ext>
            </a:extLst>
          </p:cNvPr>
          <p:cNvGrpSpPr/>
          <p:nvPr/>
        </p:nvGrpSpPr>
        <p:grpSpPr>
          <a:xfrm>
            <a:off x="2086233" y="5208497"/>
            <a:ext cx="2282681" cy="1423253"/>
            <a:chOff x="2087999" y="1700160"/>
            <a:chExt cx="2282681" cy="1423253"/>
          </a:xfrm>
        </p:grpSpPr>
        <p:pic>
          <p:nvPicPr>
            <p:cNvPr id="85" name="object 10">
              <a:extLst>
                <a:ext uri="{FF2B5EF4-FFF2-40B4-BE49-F238E27FC236}">
                  <a16:creationId xmlns:a16="http://schemas.microsoft.com/office/drawing/2014/main" id="{E8C042A8-17DE-46C7-41C9-1F331654372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87999" y="1716656"/>
              <a:ext cx="432000" cy="1400633"/>
            </a:xfrm>
            <a:prstGeom prst="rect">
              <a:avLst/>
            </a:prstGeom>
          </p:spPr>
        </p:pic>
        <p:pic>
          <p:nvPicPr>
            <p:cNvPr id="86" name="object 11">
              <a:extLst>
                <a:ext uri="{FF2B5EF4-FFF2-40B4-BE49-F238E27FC236}">
                  <a16:creationId xmlns:a16="http://schemas.microsoft.com/office/drawing/2014/main" id="{B2C73AA7-D75F-05A5-B2EB-9E557F92E9D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71800" y="1700160"/>
              <a:ext cx="431999" cy="1417129"/>
            </a:xfrm>
            <a:prstGeom prst="rect">
              <a:avLst/>
            </a:prstGeom>
          </p:spPr>
        </p:pic>
        <p:pic>
          <p:nvPicPr>
            <p:cNvPr id="87" name="object 13">
              <a:extLst>
                <a:ext uri="{FF2B5EF4-FFF2-40B4-BE49-F238E27FC236}">
                  <a16:creationId xmlns:a16="http://schemas.microsoft.com/office/drawing/2014/main" id="{0AE8DB17-4188-9929-2EAD-51AF45216D4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94681" y="1706285"/>
              <a:ext cx="575999" cy="1417128"/>
            </a:xfrm>
            <a:prstGeom prst="rect">
              <a:avLst/>
            </a:prstGeom>
          </p:spPr>
        </p:pic>
      </p:grpSp>
      <p:sp>
        <p:nvSpPr>
          <p:cNvPr id="7" name="object 14">
            <a:extLst>
              <a:ext uri="{FF2B5EF4-FFF2-40B4-BE49-F238E27FC236}">
                <a16:creationId xmlns:a16="http://schemas.microsoft.com/office/drawing/2014/main" id="{91B5CA55-79C5-7A7C-B3EA-F314A27C9F92}"/>
              </a:ext>
            </a:extLst>
          </p:cNvPr>
          <p:cNvSpPr txBox="1"/>
          <p:nvPr/>
        </p:nvSpPr>
        <p:spPr>
          <a:xfrm>
            <a:off x="3831288" y="5461596"/>
            <a:ext cx="491490" cy="85788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algn="just">
              <a:lnSpc>
                <a:spcPct val="101699"/>
              </a:lnSpc>
              <a:spcBef>
                <a:spcPts val="60"/>
              </a:spcBef>
            </a:pPr>
            <a:r>
              <a:rPr sz="1800" b="1" spc="5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中间</a:t>
            </a:r>
            <a:r>
              <a:rPr sz="1800" b="1" spc="-25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代码</a:t>
            </a:r>
            <a:r>
              <a:rPr sz="1800" b="1" spc="-3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生成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pic>
        <p:nvPicPr>
          <p:cNvPr id="8" name="object 15">
            <a:extLst>
              <a:ext uri="{FF2B5EF4-FFF2-40B4-BE49-F238E27FC236}">
                <a16:creationId xmlns:a16="http://schemas.microsoft.com/office/drawing/2014/main" id="{60C8A710-DB58-1985-6B61-9C45F6C31E9D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22153" y="5214622"/>
            <a:ext cx="575999" cy="1404569"/>
          </a:xfrm>
          <a:prstGeom prst="rect">
            <a:avLst/>
          </a:prstGeom>
        </p:spPr>
      </p:pic>
      <p:grpSp>
        <p:nvGrpSpPr>
          <p:cNvPr id="9" name="object 21">
            <a:extLst>
              <a:ext uri="{FF2B5EF4-FFF2-40B4-BE49-F238E27FC236}">
                <a16:creationId xmlns:a16="http://schemas.microsoft.com/office/drawing/2014/main" id="{35E08BA4-BBE2-183F-483E-D26146FAD7BA}"/>
              </a:ext>
            </a:extLst>
          </p:cNvPr>
          <p:cNvGrpSpPr/>
          <p:nvPr/>
        </p:nvGrpSpPr>
        <p:grpSpPr>
          <a:xfrm>
            <a:off x="5858604" y="5206862"/>
            <a:ext cx="1808480" cy="1412875"/>
            <a:chOff x="5860370" y="1698525"/>
            <a:chExt cx="1808480" cy="1412875"/>
          </a:xfrm>
        </p:grpSpPr>
        <p:pic>
          <p:nvPicPr>
            <p:cNvPr id="83" name="object 22">
              <a:extLst>
                <a:ext uri="{FF2B5EF4-FFF2-40B4-BE49-F238E27FC236}">
                  <a16:creationId xmlns:a16="http://schemas.microsoft.com/office/drawing/2014/main" id="{01FB73E5-5B4D-58F6-15EA-229D77C1DB83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60370" y="1698527"/>
              <a:ext cx="432000" cy="1412326"/>
            </a:xfrm>
            <a:prstGeom prst="rect">
              <a:avLst/>
            </a:prstGeom>
          </p:spPr>
        </p:pic>
        <p:pic>
          <p:nvPicPr>
            <p:cNvPr id="84" name="object 23">
              <a:extLst>
                <a:ext uri="{FF2B5EF4-FFF2-40B4-BE49-F238E27FC236}">
                  <a16:creationId xmlns:a16="http://schemas.microsoft.com/office/drawing/2014/main" id="{7FFD85FD-510D-46D6-093F-A4DBB0202419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36344" y="1698525"/>
              <a:ext cx="431999" cy="1412327"/>
            </a:xfrm>
            <a:prstGeom prst="rect">
              <a:avLst/>
            </a:prstGeom>
          </p:spPr>
        </p:pic>
      </p:grpSp>
      <p:pic>
        <p:nvPicPr>
          <p:cNvPr id="10" name="object 26">
            <a:extLst>
              <a:ext uri="{FF2B5EF4-FFF2-40B4-BE49-F238E27FC236}">
                <a16:creationId xmlns:a16="http://schemas.microsoft.com/office/drawing/2014/main" id="{4A4D749A-46C1-9957-3CEA-C75FFDE97B61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558116" y="5206862"/>
            <a:ext cx="432000" cy="1418763"/>
          </a:xfrm>
          <a:prstGeom prst="rect">
            <a:avLst/>
          </a:prstGeom>
        </p:spPr>
      </p:pic>
      <p:grpSp>
        <p:nvGrpSpPr>
          <p:cNvPr id="11" name="object 38">
            <a:extLst>
              <a:ext uri="{FF2B5EF4-FFF2-40B4-BE49-F238E27FC236}">
                <a16:creationId xmlns:a16="http://schemas.microsoft.com/office/drawing/2014/main" id="{3F6185E3-BF6C-676F-0CEB-633028851455}"/>
              </a:ext>
            </a:extLst>
          </p:cNvPr>
          <p:cNvGrpSpPr/>
          <p:nvPr/>
        </p:nvGrpSpPr>
        <p:grpSpPr>
          <a:xfrm>
            <a:off x="1825830" y="5855876"/>
            <a:ext cx="963852" cy="70711"/>
            <a:chOff x="1827596" y="2347539"/>
            <a:chExt cx="963852" cy="70711"/>
          </a:xfrm>
        </p:grpSpPr>
        <p:pic>
          <p:nvPicPr>
            <p:cNvPr id="81" name="object 39">
              <a:extLst>
                <a:ext uri="{FF2B5EF4-FFF2-40B4-BE49-F238E27FC236}">
                  <a16:creationId xmlns:a16="http://schemas.microsoft.com/office/drawing/2014/main" id="{C7884C20-A6C7-738B-ED35-B470DA14868D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04413" y="2347539"/>
              <a:ext cx="287035" cy="70711"/>
            </a:xfrm>
            <a:prstGeom prst="rect">
              <a:avLst/>
            </a:prstGeom>
          </p:spPr>
        </p:pic>
        <p:pic>
          <p:nvPicPr>
            <p:cNvPr id="82" name="object 40">
              <a:extLst>
                <a:ext uri="{FF2B5EF4-FFF2-40B4-BE49-F238E27FC236}">
                  <a16:creationId xmlns:a16="http://schemas.microsoft.com/office/drawing/2014/main" id="{5B8DC3F7-E714-C8AB-C6A0-EAA7B5327191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27596" y="2347539"/>
              <a:ext cx="287033" cy="70711"/>
            </a:xfrm>
            <a:prstGeom prst="rect">
              <a:avLst/>
            </a:prstGeom>
          </p:spPr>
        </p:pic>
      </p:grpSp>
      <p:sp>
        <p:nvSpPr>
          <p:cNvPr id="12" name="object 32">
            <a:extLst>
              <a:ext uri="{FF2B5EF4-FFF2-40B4-BE49-F238E27FC236}">
                <a16:creationId xmlns:a16="http://schemas.microsoft.com/office/drawing/2014/main" id="{F79BAA6D-06D3-7FC1-195E-47C08BA74781}"/>
              </a:ext>
            </a:extLst>
          </p:cNvPr>
          <p:cNvSpPr/>
          <p:nvPr/>
        </p:nvSpPr>
        <p:spPr>
          <a:xfrm>
            <a:off x="4387156" y="5858278"/>
            <a:ext cx="335280" cy="57150"/>
          </a:xfrm>
          <a:custGeom>
            <a:avLst/>
            <a:gdLst/>
            <a:ahLst/>
            <a:cxnLst/>
            <a:rect l="l" t="t" r="r" b="b"/>
            <a:pathLst>
              <a:path w="335279" h="57150">
                <a:moveTo>
                  <a:pt x="335191" y="28575"/>
                </a:moveTo>
                <a:lnTo>
                  <a:pt x="320903" y="21424"/>
                </a:lnTo>
                <a:lnTo>
                  <a:pt x="278041" y="0"/>
                </a:lnTo>
                <a:lnTo>
                  <a:pt x="278041" y="21424"/>
                </a:lnTo>
                <a:lnTo>
                  <a:pt x="0" y="21424"/>
                </a:lnTo>
                <a:lnTo>
                  <a:pt x="0" y="35712"/>
                </a:lnTo>
                <a:lnTo>
                  <a:pt x="278041" y="35712"/>
                </a:lnTo>
                <a:lnTo>
                  <a:pt x="278041" y="57150"/>
                </a:lnTo>
                <a:lnTo>
                  <a:pt x="320903" y="35712"/>
                </a:lnTo>
                <a:lnTo>
                  <a:pt x="335191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object 14">
            <a:extLst>
              <a:ext uri="{FF2B5EF4-FFF2-40B4-BE49-F238E27FC236}">
                <a16:creationId xmlns:a16="http://schemas.microsoft.com/office/drawing/2014/main" id="{63D57B20-BE67-9180-D000-F17B10286191}"/>
              </a:ext>
            </a:extLst>
          </p:cNvPr>
          <p:cNvSpPr txBox="1"/>
          <p:nvPr/>
        </p:nvSpPr>
        <p:spPr>
          <a:xfrm>
            <a:off x="4767426" y="5371494"/>
            <a:ext cx="491490" cy="1119089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algn="just">
              <a:lnSpc>
                <a:spcPct val="101699"/>
              </a:lnSpc>
              <a:spcBef>
                <a:spcPts val="60"/>
              </a:spcBef>
            </a:pPr>
            <a:r>
              <a:rPr lang="en-US" sz="1800" b="1" spc="5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机器无关代码优化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527EC35F-7C39-18CD-D278-67A52A69731F}"/>
              </a:ext>
            </a:extLst>
          </p:cNvPr>
          <p:cNvSpPr txBox="1"/>
          <p:nvPr/>
        </p:nvSpPr>
        <p:spPr>
          <a:xfrm>
            <a:off x="5944382" y="5328303"/>
            <a:ext cx="254000" cy="111953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lang="zh-CN" altLang="en-US"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指令选择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186286CF-A4FB-D98F-0441-B0D29862B422}"/>
              </a:ext>
            </a:extLst>
          </p:cNvPr>
          <p:cNvSpPr txBox="1"/>
          <p:nvPr/>
        </p:nvSpPr>
        <p:spPr>
          <a:xfrm>
            <a:off x="6644550" y="5224993"/>
            <a:ext cx="254000" cy="139653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lang="zh-CN" altLang="en-US"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寄存器分配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6" name="object 8">
            <a:extLst>
              <a:ext uri="{FF2B5EF4-FFF2-40B4-BE49-F238E27FC236}">
                <a16:creationId xmlns:a16="http://schemas.microsoft.com/office/drawing/2014/main" id="{E6250B4D-6EBF-8DA9-531C-6CC5464E83E1}"/>
              </a:ext>
            </a:extLst>
          </p:cNvPr>
          <p:cNvSpPr txBox="1"/>
          <p:nvPr/>
        </p:nvSpPr>
        <p:spPr>
          <a:xfrm>
            <a:off x="7320602" y="5337280"/>
            <a:ext cx="254000" cy="111953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lang="zh-CN" altLang="en-US"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指令调度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7" name="object 8">
            <a:extLst>
              <a:ext uri="{FF2B5EF4-FFF2-40B4-BE49-F238E27FC236}">
                <a16:creationId xmlns:a16="http://schemas.microsoft.com/office/drawing/2014/main" id="{58C83E05-D74B-44CB-1E9D-FDB3BEECB0BC}"/>
              </a:ext>
            </a:extLst>
          </p:cNvPr>
          <p:cNvSpPr txBox="1"/>
          <p:nvPr/>
        </p:nvSpPr>
        <p:spPr>
          <a:xfrm>
            <a:off x="2175326" y="5353256"/>
            <a:ext cx="254000" cy="111953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lang="en-US" sz="1800" b="1" spc="-5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语法分析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8" name="object 8">
            <a:extLst>
              <a:ext uri="{FF2B5EF4-FFF2-40B4-BE49-F238E27FC236}">
                <a16:creationId xmlns:a16="http://schemas.microsoft.com/office/drawing/2014/main" id="{BB920E71-BBB7-85F5-BCCE-F67BF39524CD}"/>
              </a:ext>
            </a:extLst>
          </p:cNvPr>
          <p:cNvSpPr txBox="1"/>
          <p:nvPr/>
        </p:nvSpPr>
        <p:spPr>
          <a:xfrm>
            <a:off x="2867428" y="5362944"/>
            <a:ext cx="254000" cy="111953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lang="zh-CN" altLang="en-US"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语义分析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9" name="object 12">
            <a:extLst>
              <a:ext uri="{FF2B5EF4-FFF2-40B4-BE49-F238E27FC236}">
                <a16:creationId xmlns:a16="http://schemas.microsoft.com/office/drawing/2014/main" id="{C35594C1-F5AB-4FF6-BFE1-55100691CEFF}"/>
              </a:ext>
            </a:extLst>
          </p:cNvPr>
          <p:cNvSpPr/>
          <p:nvPr/>
        </p:nvSpPr>
        <p:spPr>
          <a:xfrm>
            <a:off x="1307763" y="5158812"/>
            <a:ext cx="1963073" cy="1520190"/>
          </a:xfrm>
          <a:custGeom>
            <a:avLst/>
            <a:gdLst/>
            <a:ahLst/>
            <a:cxnLst/>
            <a:rect l="l" t="t" r="r" b="b"/>
            <a:pathLst>
              <a:path w="2023110" h="2012314">
                <a:moveTo>
                  <a:pt x="0" y="0"/>
                </a:moveTo>
                <a:lnTo>
                  <a:pt x="2023111" y="0"/>
                </a:lnTo>
                <a:lnTo>
                  <a:pt x="2023111" y="2012219"/>
                </a:lnTo>
                <a:lnTo>
                  <a:pt x="0" y="2012219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object 12">
            <a:extLst>
              <a:ext uri="{FF2B5EF4-FFF2-40B4-BE49-F238E27FC236}">
                <a16:creationId xmlns:a16="http://schemas.microsoft.com/office/drawing/2014/main" id="{E7B9453C-A974-12C9-FCD4-0CECAF54D3A6}"/>
              </a:ext>
            </a:extLst>
          </p:cNvPr>
          <p:cNvSpPr/>
          <p:nvPr/>
        </p:nvSpPr>
        <p:spPr>
          <a:xfrm>
            <a:off x="3710187" y="5152929"/>
            <a:ext cx="1667264" cy="1520190"/>
          </a:xfrm>
          <a:custGeom>
            <a:avLst/>
            <a:gdLst/>
            <a:ahLst/>
            <a:cxnLst/>
            <a:rect l="l" t="t" r="r" b="b"/>
            <a:pathLst>
              <a:path w="2023110" h="2012314">
                <a:moveTo>
                  <a:pt x="0" y="0"/>
                </a:moveTo>
                <a:lnTo>
                  <a:pt x="2023111" y="0"/>
                </a:lnTo>
                <a:lnTo>
                  <a:pt x="2023111" y="2012219"/>
                </a:lnTo>
                <a:lnTo>
                  <a:pt x="0" y="2012219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object 12">
            <a:extLst>
              <a:ext uri="{FF2B5EF4-FFF2-40B4-BE49-F238E27FC236}">
                <a16:creationId xmlns:a16="http://schemas.microsoft.com/office/drawing/2014/main" id="{CADEB5FF-929C-2291-A419-FDC7838D9C5E}"/>
              </a:ext>
            </a:extLst>
          </p:cNvPr>
          <p:cNvSpPr/>
          <p:nvPr/>
        </p:nvSpPr>
        <p:spPr>
          <a:xfrm>
            <a:off x="5790013" y="5152929"/>
            <a:ext cx="1963073" cy="1520190"/>
          </a:xfrm>
          <a:custGeom>
            <a:avLst/>
            <a:gdLst/>
            <a:ahLst/>
            <a:cxnLst/>
            <a:rect l="l" t="t" r="r" b="b"/>
            <a:pathLst>
              <a:path w="2023110" h="2012314">
                <a:moveTo>
                  <a:pt x="0" y="0"/>
                </a:moveTo>
                <a:lnTo>
                  <a:pt x="2023111" y="0"/>
                </a:lnTo>
                <a:lnTo>
                  <a:pt x="2023111" y="2012219"/>
                </a:lnTo>
                <a:lnTo>
                  <a:pt x="0" y="2012219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object 32">
            <a:extLst>
              <a:ext uri="{FF2B5EF4-FFF2-40B4-BE49-F238E27FC236}">
                <a16:creationId xmlns:a16="http://schemas.microsoft.com/office/drawing/2014/main" id="{8AEC8859-E757-D115-43BD-1F6ACF167A48}"/>
              </a:ext>
            </a:extLst>
          </p:cNvPr>
          <p:cNvSpPr/>
          <p:nvPr/>
        </p:nvSpPr>
        <p:spPr>
          <a:xfrm>
            <a:off x="3309209" y="5873888"/>
            <a:ext cx="335280" cy="57150"/>
          </a:xfrm>
          <a:custGeom>
            <a:avLst/>
            <a:gdLst/>
            <a:ahLst/>
            <a:cxnLst/>
            <a:rect l="l" t="t" r="r" b="b"/>
            <a:pathLst>
              <a:path w="335279" h="57150">
                <a:moveTo>
                  <a:pt x="335191" y="28575"/>
                </a:moveTo>
                <a:lnTo>
                  <a:pt x="320903" y="21424"/>
                </a:lnTo>
                <a:lnTo>
                  <a:pt x="278041" y="0"/>
                </a:lnTo>
                <a:lnTo>
                  <a:pt x="278041" y="21424"/>
                </a:lnTo>
                <a:lnTo>
                  <a:pt x="0" y="21424"/>
                </a:lnTo>
                <a:lnTo>
                  <a:pt x="0" y="35712"/>
                </a:lnTo>
                <a:lnTo>
                  <a:pt x="278041" y="35712"/>
                </a:lnTo>
                <a:lnTo>
                  <a:pt x="278041" y="57150"/>
                </a:lnTo>
                <a:lnTo>
                  <a:pt x="320903" y="35712"/>
                </a:lnTo>
                <a:lnTo>
                  <a:pt x="335191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7" name="object 32">
            <a:extLst>
              <a:ext uri="{FF2B5EF4-FFF2-40B4-BE49-F238E27FC236}">
                <a16:creationId xmlns:a16="http://schemas.microsoft.com/office/drawing/2014/main" id="{CB4B20B8-777D-BEC2-B03D-B54FFC9E024A}"/>
              </a:ext>
            </a:extLst>
          </p:cNvPr>
          <p:cNvSpPr/>
          <p:nvPr/>
        </p:nvSpPr>
        <p:spPr>
          <a:xfrm>
            <a:off x="5411516" y="5868473"/>
            <a:ext cx="335280" cy="57150"/>
          </a:xfrm>
          <a:custGeom>
            <a:avLst/>
            <a:gdLst/>
            <a:ahLst/>
            <a:cxnLst/>
            <a:rect l="l" t="t" r="r" b="b"/>
            <a:pathLst>
              <a:path w="335279" h="57150">
                <a:moveTo>
                  <a:pt x="335191" y="28575"/>
                </a:moveTo>
                <a:lnTo>
                  <a:pt x="320903" y="21424"/>
                </a:lnTo>
                <a:lnTo>
                  <a:pt x="278041" y="0"/>
                </a:lnTo>
                <a:lnTo>
                  <a:pt x="278041" y="21424"/>
                </a:lnTo>
                <a:lnTo>
                  <a:pt x="0" y="21424"/>
                </a:lnTo>
                <a:lnTo>
                  <a:pt x="0" y="35712"/>
                </a:lnTo>
                <a:lnTo>
                  <a:pt x="278041" y="35712"/>
                </a:lnTo>
                <a:lnTo>
                  <a:pt x="278041" y="57150"/>
                </a:lnTo>
                <a:lnTo>
                  <a:pt x="320903" y="35712"/>
                </a:lnTo>
                <a:lnTo>
                  <a:pt x="335191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8" name="object 32">
            <a:extLst>
              <a:ext uri="{FF2B5EF4-FFF2-40B4-BE49-F238E27FC236}">
                <a16:creationId xmlns:a16="http://schemas.microsoft.com/office/drawing/2014/main" id="{17F21A1E-9B97-ADC4-DA7F-F7E2E4FC5B4D}"/>
              </a:ext>
            </a:extLst>
          </p:cNvPr>
          <p:cNvSpPr/>
          <p:nvPr/>
        </p:nvSpPr>
        <p:spPr>
          <a:xfrm>
            <a:off x="6313655" y="5858278"/>
            <a:ext cx="239494" cy="45719"/>
          </a:xfrm>
          <a:custGeom>
            <a:avLst/>
            <a:gdLst/>
            <a:ahLst/>
            <a:cxnLst/>
            <a:rect l="l" t="t" r="r" b="b"/>
            <a:pathLst>
              <a:path w="335279" h="57150">
                <a:moveTo>
                  <a:pt x="335191" y="28575"/>
                </a:moveTo>
                <a:lnTo>
                  <a:pt x="320903" y="21424"/>
                </a:lnTo>
                <a:lnTo>
                  <a:pt x="278041" y="0"/>
                </a:lnTo>
                <a:lnTo>
                  <a:pt x="278041" y="21424"/>
                </a:lnTo>
                <a:lnTo>
                  <a:pt x="0" y="21424"/>
                </a:lnTo>
                <a:lnTo>
                  <a:pt x="0" y="35712"/>
                </a:lnTo>
                <a:lnTo>
                  <a:pt x="278041" y="35712"/>
                </a:lnTo>
                <a:lnTo>
                  <a:pt x="278041" y="57150"/>
                </a:lnTo>
                <a:lnTo>
                  <a:pt x="320903" y="35712"/>
                </a:lnTo>
                <a:lnTo>
                  <a:pt x="335191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9" name="object 32">
            <a:extLst>
              <a:ext uri="{FF2B5EF4-FFF2-40B4-BE49-F238E27FC236}">
                <a16:creationId xmlns:a16="http://schemas.microsoft.com/office/drawing/2014/main" id="{53FFC1C9-F845-DC54-5DDF-631B3D5B4C97}"/>
              </a:ext>
            </a:extLst>
          </p:cNvPr>
          <p:cNvSpPr/>
          <p:nvPr/>
        </p:nvSpPr>
        <p:spPr>
          <a:xfrm>
            <a:off x="7006495" y="5848225"/>
            <a:ext cx="222132" cy="45719"/>
          </a:xfrm>
          <a:custGeom>
            <a:avLst/>
            <a:gdLst/>
            <a:ahLst/>
            <a:cxnLst/>
            <a:rect l="l" t="t" r="r" b="b"/>
            <a:pathLst>
              <a:path w="335279" h="57150">
                <a:moveTo>
                  <a:pt x="335191" y="28575"/>
                </a:moveTo>
                <a:lnTo>
                  <a:pt x="320903" y="21424"/>
                </a:lnTo>
                <a:lnTo>
                  <a:pt x="278041" y="0"/>
                </a:lnTo>
                <a:lnTo>
                  <a:pt x="278041" y="21424"/>
                </a:lnTo>
                <a:lnTo>
                  <a:pt x="0" y="21424"/>
                </a:lnTo>
                <a:lnTo>
                  <a:pt x="0" y="35712"/>
                </a:lnTo>
                <a:lnTo>
                  <a:pt x="278041" y="35712"/>
                </a:lnTo>
                <a:lnTo>
                  <a:pt x="278041" y="57150"/>
                </a:lnTo>
                <a:lnTo>
                  <a:pt x="320903" y="35712"/>
                </a:lnTo>
                <a:lnTo>
                  <a:pt x="335191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0" name="object 43">
            <a:extLst>
              <a:ext uri="{FF2B5EF4-FFF2-40B4-BE49-F238E27FC236}">
                <a16:creationId xmlns:a16="http://schemas.microsoft.com/office/drawing/2014/main" id="{35258ACD-E950-826F-BB17-4C08101E8010}"/>
              </a:ext>
            </a:extLst>
          </p:cNvPr>
          <p:cNvSpPr/>
          <p:nvPr/>
        </p:nvSpPr>
        <p:spPr>
          <a:xfrm>
            <a:off x="2646113" y="5096164"/>
            <a:ext cx="5282496" cy="1636395"/>
          </a:xfrm>
          <a:custGeom>
            <a:avLst/>
            <a:gdLst/>
            <a:ahLst/>
            <a:cxnLst/>
            <a:rect l="l" t="t" r="r" b="b"/>
            <a:pathLst>
              <a:path w="6177915" h="1636395">
                <a:moveTo>
                  <a:pt x="6177316" y="0"/>
                </a:moveTo>
                <a:lnTo>
                  <a:pt x="0" y="0"/>
                </a:lnTo>
                <a:lnTo>
                  <a:pt x="0" y="1636291"/>
                </a:lnTo>
                <a:lnTo>
                  <a:pt x="6177316" y="1636291"/>
                </a:lnTo>
                <a:lnTo>
                  <a:pt x="6177316" y="0"/>
                </a:lnTo>
                <a:close/>
              </a:path>
            </a:pathLst>
          </a:custGeom>
          <a:solidFill>
            <a:srgbClr val="FFFFFF">
              <a:alpha val="748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9" name="object 43">
            <a:extLst>
              <a:ext uri="{FF2B5EF4-FFF2-40B4-BE49-F238E27FC236}">
                <a16:creationId xmlns:a16="http://schemas.microsoft.com/office/drawing/2014/main" id="{A62FA734-B63E-CC59-1590-DA413FEDCAF0}"/>
              </a:ext>
            </a:extLst>
          </p:cNvPr>
          <p:cNvSpPr/>
          <p:nvPr/>
        </p:nvSpPr>
        <p:spPr>
          <a:xfrm>
            <a:off x="1180561" y="5097600"/>
            <a:ext cx="750303" cy="1636395"/>
          </a:xfrm>
          <a:custGeom>
            <a:avLst/>
            <a:gdLst/>
            <a:ahLst/>
            <a:cxnLst/>
            <a:rect l="l" t="t" r="r" b="b"/>
            <a:pathLst>
              <a:path w="6177915" h="1636395">
                <a:moveTo>
                  <a:pt x="6177316" y="0"/>
                </a:moveTo>
                <a:lnTo>
                  <a:pt x="0" y="0"/>
                </a:lnTo>
                <a:lnTo>
                  <a:pt x="0" y="1636291"/>
                </a:lnTo>
                <a:lnTo>
                  <a:pt x="6177316" y="1636291"/>
                </a:lnTo>
                <a:lnTo>
                  <a:pt x="6177316" y="0"/>
                </a:lnTo>
                <a:close/>
              </a:path>
            </a:pathLst>
          </a:custGeom>
          <a:solidFill>
            <a:srgbClr val="FFFFFF">
              <a:alpha val="748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D1975-5732-3454-4DC9-AD957CEDF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8105880-0E45-B85F-9258-87183A06BC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0804" y="155955"/>
            <a:ext cx="631474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err="1"/>
              <a:t>语义分析</a:t>
            </a:r>
            <a:r>
              <a:rPr lang="en-US" dirty="0"/>
              <a:t> </a:t>
            </a:r>
            <a:r>
              <a:rPr spc="-10" dirty="0">
                <a:latin typeface="Arial"/>
                <a:cs typeface="Arial"/>
              </a:rPr>
              <a:t>(Semantic</a:t>
            </a:r>
            <a:r>
              <a:rPr spc="-130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Analysis)</a:t>
            </a:r>
          </a:p>
        </p:txBody>
      </p:sp>
      <p:pic>
        <p:nvPicPr>
          <p:cNvPr id="77" name="object 5">
            <a:extLst>
              <a:ext uri="{FF2B5EF4-FFF2-40B4-BE49-F238E27FC236}">
                <a16:creationId xmlns:a16="http://schemas.microsoft.com/office/drawing/2014/main" id="{2E079489-8934-E4B3-A0A7-BCA78CFF03F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8335" y="1164135"/>
            <a:ext cx="3031997" cy="3239513"/>
          </a:xfrm>
          <a:prstGeom prst="rect">
            <a:avLst/>
          </a:prstGeom>
        </p:spPr>
      </p:pic>
      <p:sp>
        <p:nvSpPr>
          <p:cNvPr id="78" name="object 6">
            <a:extLst>
              <a:ext uri="{FF2B5EF4-FFF2-40B4-BE49-F238E27FC236}">
                <a16:creationId xmlns:a16="http://schemas.microsoft.com/office/drawing/2014/main" id="{8FAC98AA-2D89-D0F9-B878-91BB8C4DAA3F}"/>
              </a:ext>
            </a:extLst>
          </p:cNvPr>
          <p:cNvSpPr txBox="1"/>
          <p:nvPr/>
        </p:nvSpPr>
        <p:spPr>
          <a:xfrm>
            <a:off x="1130183" y="1156531"/>
            <a:ext cx="314325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0" lvl="0" indent="0" algn="ctr" defTabSz="914400" eaLnBrk="1" fontAlgn="auto" latinLnBrk="0" hangingPunct="1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=</a:t>
            </a:r>
            <a:endParaRPr kumimoji="0" lang="zh-CN" altLang="en-US" sz="2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79" name="object 7">
            <a:extLst>
              <a:ext uri="{FF2B5EF4-FFF2-40B4-BE49-F238E27FC236}">
                <a16:creationId xmlns:a16="http://schemas.microsoft.com/office/drawing/2014/main" id="{3B1261A5-53D0-BDF6-C06F-33F899B8A410}"/>
              </a:ext>
            </a:extLst>
          </p:cNvPr>
          <p:cNvSpPr txBox="1"/>
          <p:nvPr/>
        </p:nvSpPr>
        <p:spPr>
          <a:xfrm>
            <a:off x="1042552" y="2539561"/>
            <a:ext cx="156210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Arial"/>
                <a:cs typeface="Arial"/>
              </a:rPr>
              <a:t>*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80" name="object 8">
            <a:extLst>
              <a:ext uri="{FF2B5EF4-FFF2-40B4-BE49-F238E27FC236}">
                <a16:creationId xmlns:a16="http://schemas.microsoft.com/office/drawing/2014/main" id="{773C6C4F-CBCB-FB34-E300-F7DC62FFF5B2}"/>
              </a:ext>
            </a:extLst>
          </p:cNvPr>
          <p:cNvSpPr txBox="1"/>
          <p:nvPr/>
        </p:nvSpPr>
        <p:spPr>
          <a:xfrm>
            <a:off x="772043" y="1785181"/>
            <a:ext cx="1045210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Tx/>
              <a:buSzTx/>
              <a:buFontTx/>
              <a:buNone/>
              <a:tabLst>
                <a:tab pos="836294" algn="l"/>
              </a:tabLst>
              <a:defRPr/>
            </a:pP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	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+</a:t>
            </a:r>
            <a:endParaRPr kumimoji="0" sz="2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81" name="object 9">
            <a:extLst>
              <a:ext uri="{FF2B5EF4-FFF2-40B4-BE49-F238E27FC236}">
                <a16:creationId xmlns:a16="http://schemas.microsoft.com/office/drawing/2014/main" id="{CA1B8AD3-C189-1F8F-236C-969561E9778D}"/>
              </a:ext>
            </a:extLst>
          </p:cNvPr>
          <p:cNvSpPr txBox="1"/>
          <p:nvPr/>
        </p:nvSpPr>
        <p:spPr>
          <a:xfrm>
            <a:off x="2383673" y="2539561"/>
            <a:ext cx="156210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*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82" name="object 10">
            <a:extLst>
              <a:ext uri="{FF2B5EF4-FFF2-40B4-BE49-F238E27FC236}">
                <a16:creationId xmlns:a16="http://schemas.microsoft.com/office/drawing/2014/main" id="{F09781D5-1D1B-2422-FDF1-FC742CF1B11F}"/>
              </a:ext>
            </a:extLst>
          </p:cNvPr>
          <p:cNvSpPr txBox="1"/>
          <p:nvPr/>
        </p:nvSpPr>
        <p:spPr>
          <a:xfrm>
            <a:off x="679078" y="3293941"/>
            <a:ext cx="1553210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Tx/>
              <a:buSzTx/>
              <a:buFontTx/>
              <a:buNone/>
              <a:tabLst>
                <a:tab pos="766445" algn="l"/>
                <a:tab pos="1353185" algn="l"/>
              </a:tabLst>
              <a:defRPr/>
            </a:pP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	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2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	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b</a:t>
            </a:r>
            <a:endParaRPr kumimoji="0" sz="2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83" name="object 11">
            <a:extLst>
              <a:ext uri="{FF2B5EF4-FFF2-40B4-BE49-F238E27FC236}">
                <a16:creationId xmlns:a16="http://schemas.microsoft.com/office/drawing/2014/main" id="{3C6E454D-C094-EF3F-B1CF-972F52F421A1}"/>
              </a:ext>
            </a:extLst>
          </p:cNvPr>
          <p:cNvSpPr txBox="1"/>
          <p:nvPr/>
        </p:nvSpPr>
        <p:spPr>
          <a:xfrm>
            <a:off x="2886593" y="3293941"/>
            <a:ext cx="156210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*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84" name="object 12">
            <a:extLst>
              <a:ext uri="{FF2B5EF4-FFF2-40B4-BE49-F238E27FC236}">
                <a16:creationId xmlns:a16="http://schemas.microsoft.com/office/drawing/2014/main" id="{989254D3-BE44-55CE-EBD9-C0A77924B444}"/>
              </a:ext>
            </a:extLst>
          </p:cNvPr>
          <p:cNvSpPr txBox="1"/>
          <p:nvPr/>
        </p:nvSpPr>
        <p:spPr>
          <a:xfrm>
            <a:off x="2532262" y="3964502"/>
            <a:ext cx="957580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Tx/>
              <a:buSzTx/>
              <a:buFontTx/>
              <a:buNone/>
              <a:tabLst>
                <a:tab pos="757555" algn="l"/>
              </a:tabLst>
              <a:defRPr/>
            </a:pP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cs typeface="Arial"/>
              </a:rPr>
              <a:t>	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85" name="object 2">
            <a:extLst>
              <a:ext uri="{FF2B5EF4-FFF2-40B4-BE49-F238E27FC236}">
                <a16:creationId xmlns:a16="http://schemas.microsoft.com/office/drawing/2014/main" id="{701835BD-1292-18A7-7206-A8DB7B4191BA}"/>
              </a:ext>
            </a:extLst>
          </p:cNvPr>
          <p:cNvSpPr txBox="1"/>
          <p:nvPr/>
        </p:nvSpPr>
        <p:spPr>
          <a:xfrm>
            <a:off x="3625941" y="1408013"/>
            <a:ext cx="5365544" cy="31059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0365" indent="-342265" eaLnBrk="1" fontAlgn="auto" hangingPunct="1">
              <a:spcBef>
                <a:spcPts val="1180"/>
              </a:spcBef>
              <a:spcAft>
                <a:spcPts val="0"/>
              </a:spcAft>
              <a:buFont typeface="Arial"/>
              <a:buChar char="•"/>
              <a:tabLst>
                <a:tab pos="380365" algn="l"/>
              </a:tabLst>
            </a:pPr>
            <a:r>
              <a:rPr sz="2800" b="1" kern="0" spc="-20" dirty="0" err="1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语义分析</a:t>
            </a:r>
            <a:r>
              <a:rPr sz="2800" b="1" kern="0" spc="-2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sz="2800" b="1" kern="0" spc="-2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b="1" kern="0" spc="-2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决定语法结构的含义</a:t>
            </a:r>
            <a:endParaRPr lang="en-US" altLang="zh-CN" sz="2800" b="1" kern="0" spc="-2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54965" marR="0" lvl="0" indent="-342265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4965" algn="l"/>
              </a:tabLst>
              <a:defRPr/>
            </a:pPr>
            <a:endParaRPr kumimoji="0" lang="en-US" altLang="zh-CN" sz="2800" b="1" i="0" u="none" strike="noStrike" kern="0" cap="none" spc="-15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icrosoft YaHei"/>
              <a:cs typeface="Microsoft YaHei"/>
            </a:endParaRPr>
          </a:p>
          <a:p>
            <a:pPr marL="354965" marR="0" lvl="0" indent="-342265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4965" algn="l"/>
              </a:tabLst>
              <a:defRPr/>
            </a:pPr>
            <a:r>
              <a:rPr kumimoji="0" lang="zh-CN" altLang="en-US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变量 </a:t>
            </a:r>
            <a:r>
              <a:rPr kumimoji="0" lang="en-US" altLang="zh-CN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urier New" panose="02070309020205020404" pitchFamily="49" charset="0"/>
              </a:rPr>
              <a:t>x, a, b </a:t>
            </a:r>
            <a:r>
              <a:rPr kumimoji="0" lang="zh-CN" altLang="en-US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的类型是什么？</a:t>
            </a:r>
            <a:endParaRPr kumimoji="0" lang="en-US" altLang="zh-CN" sz="2800" b="0" i="0" u="none" strike="noStrike" kern="0" cap="none" spc="-15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  <a:p>
            <a:pPr marL="354965" marR="0" lvl="0" indent="-342265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4965" algn="l"/>
              </a:tabLst>
              <a:defRPr/>
            </a:pPr>
            <a:r>
              <a:rPr kumimoji="0" lang="zh-CN" altLang="en-US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运算符 </a:t>
            </a:r>
            <a:r>
              <a:rPr kumimoji="0" lang="en-US" altLang="zh-CN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urier New" panose="02070309020205020404" pitchFamily="49" charset="0"/>
              </a:rPr>
              <a:t>*</a:t>
            </a:r>
            <a:r>
              <a:rPr kumimoji="0" lang="en-US" altLang="zh-CN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 </a:t>
            </a:r>
            <a:r>
              <a:rPr kumimoji="0" lang="zh-CN" altLang="en-US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和 </a:t>
            </a:r>
            <a:r>
              <a:rPr kumimoji="0" lang="en-US" altLang="zh-CN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urier New" panose="02070309020205020404" pitchFamily="49" charset="0"/>
              </a:rPr>
              <a:t>+ </a:t>
            </a:r>
            <a:r>
              <a:rPr kumimoji="0" lang="zh-CN" altLang="en-US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urier New" panose="02070309020205020404" pitchFamily="49" charset="0"/>
              </a:rPr>
              <a:t>的含义是什么？</a:t>
            </a:r>
            <a:endParaRPr kumimoji="0" lang="en-US" altLang="zh-CN" sz="2800" b="0" i="0" u="none" strike="noStrike" kern="0" cap="none" spc="-15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Courier New" panose="02070309020205020404" pitchFamily="49" charset="0"/>
            </a:endParaRPr>
          </a:p>
          <a:p>
            <a:pPr marL="354965" marR="0" lvl="0" indent="-342265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4965" algn="l"/>
              </a:tabLst>
              <a:defRPr/>
            </a:pPr>
            <a:r>
              <a:rPr kumimoji="0" lang="zh-CN" altLang="en-US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读写变量</a:t>
            </a:r>
            <a:r>
              <a:rPr kumimoji="0" lang="zh-CN" altLang="en-US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kumimoji="0" lang="en-US" altLang="zh-CN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urier New" panose="02070309020205020404" pitchFamily="49" charset="0"/>
              </a:rPr>
              <a:t>x </a:t>
            </a:r>
            <a:r>
              <a:rPr kumimoji="0" lang="zh-CN" altLang="en-US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是合法的吗？</a:t>
            </a:r>
            <a:endParaRPr kumimoji="0" lang="en-US" altLang="zh-CN" sz="2800" b="0" i="0" u="none" strike="noStrike" kern="0" cap="none" spc="-15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  <a:p>
            <a:pPr marL="354965" marR="0" lvl="0" indent="-342265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4965" algn="l"/>
              </a:tabLst>
              <a:defRPr/>
            </a:pPr>
            <a:r>
              <a:rPr kumimoji="0" lang="en-US" altLang="zh-CN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…</a:t>
            </a:r>
          </a:p>
          <a:p>
            <a:pPr marL="354965" marR="0" lvl="0" indent="-342265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4965" algn="l"/>
              </a:tabLst>
              <a:defRPr/>
            </a:pPr>
            <a:endParaRPr kumimoji="0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icrosoft YaHei"/>
              <a:cs typeface="Microsoft YaHei"/>
            </a:endParaRPr>
          </a:p>
        </p:txBody>
      </p:sp>
      <p:pic>
        <p:nvPicPr>
          <p:cNvPr id="2" name="object 4">
            <a:extLst>
              <a:ext uri="{FF2B5EF4-FFF2-40B4-BE49-F238E27FC236}">
                <a16:creationId xmlns:a16="http://schemas.microsoft.com/office/drawing/2014/main" id="{C55E5A74-CFB0-F013-3454-B0A792BDA5A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06377" y="5206864"/>
            <a:ext cx="431999" cy="1417129"/>
          </a:xfrm>
          <a:prstGeom prst="rect">
            <a:avLst/>
          </a:prstGeom>
        </p:spPr>
      </p:pic>
      <p:sp>
        <p:nvSpPr>
          <p:cNvPr id="4" name="object 8">
            <a:extLst>
              <a:ext uri="{FF2B5EF4-FFF2-40B4-BE49-F238E27FC236}">
                <a16:creationId xmlns:a16="http://schemas.microsoft.com/office/drawing/2014/main" id="{E479F954-1BF1-011A-F484-F0C244EEC630}"/>
              </a:ext>
            </a:extLst>
          </p:cNvPr>
          <p:cNvSpPr txBox="1"/>
          <p:nvPr/>
        </p:nvSpPr>
        <p:spPr>
          <a:xfrm>
            <a:off x="1495763" y="5339677"/>
            <a:ext cx="254000" cy="1125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词法分析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grpSp>
        <p:nvGrpSpPr>
          <p:cNvPr id="5" name="object 9">
            <a:extLst>
              <a:ext uri="{FF2B5EF4-FFF2-40B4-BE49-F238E27FC236}">
                <a16:creationId xmlns:a16="http://schemas.microsoft.com/office/drawing/2014/main" id="{FB8AE1AD-42BD-A0B2-B4A8-4B329CB72EE3}"/>
              </a:ext>
            </a:extLst>
          </p:cNvPr>
          <p:cNvGrpSpPr/>
          <p:nvPr/>
        </p:nvGrpSpPr>
        <p:grpSpPr>
          <a:xfrm>
            <a:off x="2086233" y="5208497"/>
            <a:ext cx="2282681" cy="1423253"/>
            <a:chOff x="2087999" y="1700160"/>
            <a:chExt cx="2282681" cy="1423253"/>
          </a:xfrm>
        </p:grpSpPr>
        <p:pic>
          <p:nvPicPr>
            <p:cNvPr id="6" name="object 10">
              <a:extLst>
                <a:ext uri="{FF2B5EF4-FFF2-40B4-BE49-F238E27FC236}">
                  <a16:creationId xmlns:a16="http://schemas.microsoft.com/office/drawing/2014/main" id="{078FD950-08F4-EFE2-7812-F9995F4FE55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87999" y="1716656"/>
              <a:ext cx="432000" cy="1400633"/>
            </a:xfrm>
            <a:prstGeom prst="rect">
              <a:avLst/>
            </a:prstGeom>
          </p:spPr>
        </p:pic>
        <p:pic>
          <p:nvPicPr>
            <p:cNvPr id="7" name="object 11">
              <a:extLst>
                <a:ext uri="{FF2B5EF4-FFF2-40B4-BE49-F238E27FC236}">
                  <a16:creationId xmlns:a16="http://schemas.microsoft.com/office/drawing/2014/main" id="{4C451EF6-08B7-70A3-E668-FB34C9C8EE7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71800" y="1700160"/>
              <a:ext cx="431999" cy="1417129"/>
            </a:xfrm>
            <a:prstGeom prst="rect">
              <a:avLst/>
            </a:prstGeom>
          </p:spPr>
        </p:pic>
        <p:pic>
          <p:nvPicPr>
            <p:cNvPr id="8" name="object 13">
              <a:extLst>
                <a:ext uri="{FF2B5EF4-FFF2-40B4-BE49-F238E27FC236}">
                  <a16:creationId xmlns:a16="http://schemas.microsoft.com/office/drawing/2014/main" id="{4D08B3C4-165F-FF17-C73D-DDB75BF8A38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94681" y="1706285"/>
              <a:ext cx="575999" cy="1417128"/>
            </a:xfrm>
            <a:prstGeom prst="rect">
              <a:avLst/>
            </a:prstGeom>
          </p:spPr>
        </p:pic>
      </p:grpSp>
      <p:sp>
        <p:nvSpPr>
          <p:cNvPr id="9" name="object 14">
            <a:extLst>
              <a:ext uri="{FF2B5EF4-FFF2-40B4-BE49-F238E27FC236}">
                <a16:creationId xmlns:a16="http://schemas.microsoft.com/office/drawing/2014/main" id="{19073B11-29FE-D977-0CDC-B15888C17778}"/>
              </a:ext>
            </a:extLst>
          </p:cNvPr>
          <p:cNvSpPr txBox="1"/>
          <p:nvPr/>
        </p:nvSpPr>
        <p:spPr>
          <a:xfrm>
            <a:off x="3831288" y="5461596"/>
            <a:ext cx="491490" cy="85788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algn="just">
              <a:lnSpc>
                <a:spcPct val="101699"/>
              </a:lnSpc>
              <a:spcBef>
                <a:spcPts val="60"/>
              </a:spcBef>
            </a:pPr>
            <a:r>
              <a:rPr sz="1800" b="1" spc="5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中间</a:t>
            </a:r>
            <a:r>
              <a:rPr sz="1800" b="1" spc="-25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代码</a:t>
            </a:r>
            <a:r>
              <a:rPr sz="1800" b="1" spc="-3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生成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pic>
        <p:nvPicPr>
          <p:cNvPr id="10" name="object 15">
            <a:extLst>
              <a:ext uri="{FF2B5EF4-FFF2-40B4-BE49-F238E27FC236}">
                <a16:creationId xmlns:a16="http://schemas.microsoft.com/office/drawing/2014/main" id="{A5BF5131-C31D-0E99-9210-7DED2A36AB94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22153" y="5214622"/>
            <a:ext cx="575999" cy="1404569"/>
          </a:xfrm>
          <a:prstGeom prst="rect">
            <a:avLst/>
          </a:prstGeom>
        </p:spPr>
      </p:pic>
      <p:grpSp>
        <p:nvGrpSpPr>
          <p:cNvPr id="11" name="object 21">
            <a:extLst>
              <a:ext uri="{FF2B5EF4-FFF2-40B4-BE49-F238E27FC236}">
                <a16:creationId xmlns:a16="http://schemas.microsoft.com/office/drawing/2014/main" id="{856BEE85-F1C5-7971-6E6E-A94E0FE80F33}"/>
              </a:ext>
            </a:extLst>
          </p:cNvPr>
          <p:cNvGrpSpPr/>
          <p:nvPr/>
        </p:nvGrpSpPr>
        <p:grpSpPr>
          <a:xfrm>
            <a:off x="5858604" y="5206862"/>
            <a:ext cx="1808480" cy="1412875"/>
            <a:chOff x="5860370" y="1698525"/>
            <a:chExt cx="1808480" cy="1412875"/>
          </a:xfrm>
        </p:grpSpPr>
        <p:pic>
          <p:nvPicPr>
            <p:cNvPr id="12" name="object 22">
              <a:extLst>
                <a:ext uri="{FF2B5EF4-FFF2-40B4-BE49-F238E27FC236}">
                  <a16:creationId xmlns:a16="http://schemas.microsoft.com/office/drawing/2014/main" id="{79010AF3-4669-4CCA-E96D-57289BEAD50A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60370" y="1698527"/>
              <a:ext cx="432000" cy="1412326"/>
            </a:xfrm>
            <a:prstGeom prst="rect">
              <a:avLst/>
            </a:prstGeom>
          </p:spPr>
        </p:pic>
        <p:pic>
          <p:nvPicPr>
            <p:cNvPr id="13" name="object 23">
              <a:extLst>
                <a:ext uri="{FF2B5EF4-FFF2-40B4-BE49-F238E27FC236}">
                  <a16:creationId xmlns:a16="http://schemas.microsoft.com/office/drawing/2014/main" id="{02C31617-8E5D-8917-C762-726B0BDFE203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36344" y="1698525"/>
              <a:ext cx="431999" cy="1412327"/>
            </a:xfrm>
            <a:prstGeom prst="rect">
              <a:avLst/>
            </a:prstGeom>
          </p:spPr>
        </p:pic>
      </p:grpSp>
      <p:pic>
        <p:nvPicPr>
          <p:cNvPr id="14" name="object 26">
            <a:extLst>
              <a:ext uri="{FF2B5EF4-FFF2-40B4-BE49-F238E27FC236}">
                <a16:creationId xmlns:a16="http://schemas.microsoft.com/office/drawing/2014/main" id="{39DC7362-F534-7089-C2A9-6F29002A543F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558116" y="5206862"/>
            <a:ext cx="432000" cy="1418763"/>
          </a:xfrm>
          <a:prstGeom prst="rect">
            <a:avLst/>
          </a:prstGeom>
        </p:spPr>
      </p:pic>
      <p:grpSp>
        <p:nvGrpSpPr>
          <p:cNvPr id="15" name="object 38">
            <a:extLst>
              <a:ext uri="{FF2B5EF4-FFF2-40B4-BE49-F238E27FC236}">
                <a16:creationId xmlns:a16="http://schemas.microsoft.com/office/drawing/2014/main" id="{8238D689-726B-C7D6-96EB-03B1CE30ECA6}"/>
              </a:ext>
            </a:extLst>
          </p:cNvPr>
          <p:cNvGrpSpPr/>
          <p:nvPr/>
        </p:nvGrpSpPr>
        <p:grpSpPr>
          <a:xfrm>
            <a:off x="1825830" y="5855876"/>
            <a:ext cx="963852" cy="70711"/>
            <a:chOff x="1827596" y="2347539"/>
            <a:chExt cx="963852" cy="70711"/>
          </a:xfrm>
        </p:grpSpPr>
        <p:pic>
          <p:nvPicPr>
            <p:cNvPr id="16" name="object 39">
              <a:extLst>
                <a:ext uri="{FF2B5EF4-FFF2-40B4-BE49-F238E27FC236}">
                  <a16:creationId xmlns:a16="http://schemas.microsoft.com/office/drawing/2014/main" id="{C812D7B4-2F8A-F7FD-1428-B17D8763F504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04413" y="2347539"/>
              <a:ext cx="287035" cy="70711"/>
            </a:xfrm>
            <a:prstGeom prst="rect">
              <a:avLst/>
            </a:prstGeom>
          </p:spPr>
        </p:pic>
        <p:pic>
          <p:nvPicPr>
            <p:cNvPr id="17" name="object 40">
              <a:extLst>
                <a:ext uri="{FF2B5EF4-FFF2-40B4-BE49-F238E27FC236}">
                  <a16:creationId xmlns:a16="http://schemas.microsoft.com/office/drawing/2014/main" id="{2CCC484D-EE42-6A31-1467-1B27131D6994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27596" y="2347539"/>
              <a:ext cx="287033" cy="70711"/>
            </a:xfrm>
            <a:prstGeom prst="rect">
              <a:avLst/>
            </a:prstGeom>
          </p:spPr>
        </p:pic>
      </p:grpSp>
      <p:sp>
        <p:nvSpPr>
          <p:cNvPr id="18" name="object 32">
            <a:extLst>
              <a:ext uri="{FF2B5EF4-FFF2-40B4-BE49-F238E27FC236}">
                <a16:creationId xmlns:a16="http://schemas.microsoft.com/office/drawing/2014/main" id="{5F4D32E9-3C56-64F9-F518-4B922B86C332}"/>
              </a:ext>
            </a:extLst>
          </p:cNvPr>
          <p:cNvSpPr/>
          <p:nvPr/>
        </p:nvSpPr>
        <p:spPr>
          <a:xfrm>
            <a:off x="4387156" y="5858278"/>
            <a:ext cx="335280" cy="57150"/>
          </a:xfrm>
          <a:custGeom>
            <a:avLst/>
            <a:gdLst/>
            <a:ahLst/>
            <a:cxnLst/>
            <a:rect l="l" t="t" r="r" b="b"/>
            <a:pathLst>
              <a:path w="335279" h="57150">
                <a:moveTo>
                  <a:pt x="335191" y="28575"/>
                </a:moveTo>
                <a:lnTo>
                  <a:pt x="320903" y="21424"/>
                </a:lnTo>
                <a:lnTo>
                  <a:pt x="278041" y="0"/>
                </a:lnTo>
                <a:lnTo>
                  <a:pt x="278041" y="21424"/>
                </a:lnTo>
                <a:lnTo>
                  <a:pt x="0" y="21424"/>
                </a:lnTo>
                <a:lnTo>
                  <a:pt x="0" y="35712"/>
                </a:lnTo>
                <a:lnTo>
                  <a:pt x="278041" y="35712"/>
                </a:lnTo>
                <a:lnTo>
                  <a:pt x="278041" y="57150"/>
                </a:lnTo>
                <a:lnTo>
                  <a:pt x="320903" y="35712"/>
                </a:lnTo>
                <a:lnTo>
                  <a:pt x="335191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object 14">
            <a:extLst>
              <a:ext uri="{FF2B5EF4-FFF2-40B4-BE49-F238E27FC236}">
                <a16:creationId xmlns:a16="http://schemas.microsoft.com/office/drawing/2014/main" id="{4AD3EFB9-6D09-A30E-64E0-4A6C41E2FC13}"/>
              </a:ext>
            </a:extLst>
          </p:cNvPr>
          <p:cNvSpPr txBox="1"/>
          <p:nvPr/>
        </p:nvSpPr>
        <p:spPr>
          <a:xfrm>
            <a:off x="4767426" y="5371494"/>
            <a:ext cx="491490" cy="1119089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algn="just">
              <a:lnSpc>
                <a:spcPct val="101699"/>
              </a:lnSpc>
              <a:spcBef>
                <a:spcPts val="60"/>
              </a:spcBef>
            </a:pPr>
            <a:r>
              <a:rPr lang="en-US" sz="1800" b="1" spc="5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机器无关代码优化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53" name="object 8">
            <a:extLst>
              <a:ext uri="{FF2B5EF4-FFF2-40B4-BE49-F238E27FC236}">
                <a16:creationId xmlns:a16="http://schemas.microsoft.com/office/drawing/2014/main" id="{068719CC-5D57-B6B2-1494-DA5CF15171E4}"/>
              </a:ext>
            </a:extLst>
          </p:cNvPr>
          <p:cNvSpPr txBox="1"/>
          <p:nvPr/>
        </p:nvSpPr>
        <p:spPr>
          <a:xfrm>
            <a:off x="5944382" y="5328303"/>
            <a:ext cx="254000" cy="111953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lang="zh-CN" altLang="en-US"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指令选择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54" name="object 8">
            <a:extLst>
              <a:ext uri="{FF2B5EF4-FFF2-40B4-BE49-F238E27FC236}">
                <a16:creationId xmlns:a16="http://schemas.microsoft.com/office/drawing/2014/main" id="{ED43B5BB-508B-AE94-E812-2365410D016A}"/>
              </a:ext>
            </a:extLst>
          </p:cNvPr>
          <p:cNvSpPr txBox="1"/>
          <p:nvPr/>
        </p:nvSpPr>
        <p:spPr>
          <a:xfrm>
            <a:off x="6644550" y="5224993"/>
            <a:ext cx="254000" cy="139653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lang="zh-CN" altLang="en-US"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寄存器分配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55" name="object 8">
            <a:extLst>
              <a:ext uri="{FF2B5EF4-FFF2-40B4-BE49-F238E27FC236}">
                <a16:creationId xmlns:a16="http://schemas.microsoft.com/office/drawing/2014/main" id="{5D55F877-DED3-4630-9EA2-08249E8A3B95}"/>
              </a:ext>
            </a:extLst>
          </p:cNvPr>
          <p:cNvSpPr txBox="1"/>
          <p:nvPr/>
        </p:nvSpPr>
        <p:spPr>
          <a:xfrm>
            <a:off x="7320602" y="5337280"/>
            <a:ext cx="254000" cy="111953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lang="zh-CN" altLang="en-US"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指令调度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56" name="object 8">
            <a:extLst>
              <a:ext uri="{FF2B5EF4-FFF2-40B4-BE49-F238E27FC236}">
                <a16:creationId xmlns:a16="http://schemas.microsoft.com/office/drawing/2014/main" id="{96A1CE04-D3D6-95AC-452C-E16189203FBF}"/>
              </a:ext>
            </a:extLst>
          </p:cNvPr>
          <p:cNvSpPr txBox="1"/>
          <p:nvPr/>
        </p:nvSpPr>
        <p:spPr>
          <a:xfrm>
            <a:off x="2175326" y="5353256"/>
            <a:ext cx="254000" cy="111953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lang="en-US" sz="1800" b="1" spc="-5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语法分析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57" name="object 8">
            <a:extLst>
              <a:ext uri="{FF2B5EF4-FFF2-40B4-BE49-F238E27FC236}">
                <a16:creationId xmlns:a16="http://schemas.microsoft.com/office/drawing/2014/main" id="{3671E5DE-3A26-A2E0-521A-11E37284533A}"/>
              </a:ext>
            </a:extLst>
          </p:cNvPr>
          <p:cNvSpPr txBox="1"/>
          <p:nvPr/>
        </p:nvSpPr>
        <p:spPr>
          <a:xfrm>
            <a:off x="2867428" y="5362944"/>
            <a:ext cx="254000" cy="111953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lang="zh-CN" altLang="en-US"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语义分析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58" name="object 12">
            <a:extLst>
              <a:ext uri="{FF2B5EF4-FFF2-40B4-BE49-F238E27FC236}">
                <a16:creationId xmlns:a16="http://schemas.microsoft.com/office/drawing/2014/main" id="{74729556-3145-0D66-1D93-A9A4477A149E}"/>
              </a:ext>
            </a:extLst>
          </p:cNvPr>
          <p:cNvSpPr/>
          <p:nvPr/>
        </p:nvSpPr>
        <p:spPr>
          <a:xfrm>
            <a:off x="1307763" y="5158812"/>
            <a:ext cx="1963073" cy="1520190"/>
          </a:xfrm>
          <a:custGeom>
            <a:avLst/>
            <a:gdLst/>
            <a:ahLst/>
            <a:cxnLst/>
            <a:rect l="l" t="t" r="r" b="b"/>
            <a:pathLst>
              <a:path w="2023110" h="2012314">
                <a:moveTo>
                  <a:pt x="0" y="0"/>
                </a:moveTo>
                <a:lnTo>
                  <a:pt x="2023111" y="0"/>
                </a:lnTo>
                <a:lnTo>
                  <a:pt x="2023111" y="2012219"/>
                </a:lnTo>
                <a:lnTo>
                  <a:pt x="0" y="2012219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9" name="object 12">
            <a:extLst>
              <a:ext uri="{FF2B5EF4-FFF2-40B4-BE49-F238E27FC236}">
                <a16:creationId xmlns:a16="http://schemas.microsoft.com/office/drawing/2014/main" id="{32057712-C273-42BD-E1C0-6CA12A4DC185}"/>
              </a:ext>
            </a:extLst>
          </p:cNvPr>
          <p:cNvSpPr/>
          <p:nvPr/>
        </p:nvSpPr>
        <p:spPr>
          <a:xfrm>
            <a:off x="3710187" y="5152929"/>
            <a:ext cx="1667264" cy="1520190"/>
          </a:xfrm>
          <a:custGeom>
            <a:avLst/>
            <a:gdLst/>
            <a:ahLst/>
            <a:cxnLst/>
            <a:rect l="l" t="t" r="r" b="b"/>
            <a:pathLst>
              <a:path w="2023110" h="2012314">
                <a:moveTo>
                  <a:pt x="0" y="0"/>
                </a:moveTo>
                <a:lnTo>
                  <a:pt x="2023111" y="0"/>
                </a:lnTo>
                <a:lnTo>
                  <a:pt x="2023111" y="2012219"/>
                </a:lnTo>
                <a:lnTo>
                  <a:pt x="0" y="2012219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0" name="object 12">
            <a:extLst>
              <a:ext uri="{FF2B5EF4-FFF2-40B4-BE49-F238E27FC236}">
                <a16:creationId xmlns:a16="http://schemas.microsoft.com/office/drawing/2014/main" id="{37650049-40F3-7429-A652-3A23D94E6976}"/>
              </a:ext>
            </a:extLst>
          </p:cNvPr>
          <p:cNvSpPr/>
          <p:nvPr/>
        </p:nvSpPr>
        <p:spPr>
          <a:xfrm>
            <a:off x="5790013" y="5152929"/>
            <a:ext cx="1963073" cy="1520190"/>
          </a:xfrm>
          <a:custGeom>
            <a:avLst/>
            <a:gdLst/>
            <a:ahLst/>
            <a:cxnLst/>
            <a:rect l="l" t="t" r="r" b="b"/>
            <a:pathLst>
              <a:path w="2023110" h="2012314">
                <a:moveTo>
                  <a:pt x="0" y="0"/>
                </a:moveTo>
                <a:lnTo>
                  <a:pt x="2023111" y="0"/>
                </a:lnTo>
                <a:lnTo>
                  <a:pt x="2023111" y="2012219"/>
                </a:lnTo>
                <a:lnTo>
                  <a:pt x="0" y="2012219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1" name="object 32">
            <a:extLst>
              <a:ext uri="{FF2B5EF4-FFF2-40B4-BE49-F238E27FC236}">
                <a16:creationId xmlns:a16="http://schemas.microsoft.com/office/drawing/2014/main" id="{0CCACAC7-07AE-FE5A-926B-1B3CCFCD3342}"/>
              </a:ext>
            </a:extLst>
          </p:cNvPr>
          <p:cNvSpPr/>
          <p:nvPr/>
        </p:nvSpPr>
        <p:spPr>
          <a:xfrm>
            <a:off x="3309209" y="5873888"/>
            <a:ext cx="335280" cy="57150"/>
          </a:xfrm>
          <a:custGeom>
            <a:avLst/>
            <a:gdLst/>
            <a:ahLst/>
            <a:cxnLst/>
            <a:rect l="l" t="t" r="r" b="b"/>
            <a:pathLst>
              <a:path w="335279" h="57150">
                <a:moveTo>
                  <a:pt x="335191" y="28575"/>
                </a:moveTo>
                <a:lnTo>
                  <a:pt x="320903" y="21424"/>
                </a:lnTo>
                <a:lnTo>
                  <a:pt x="278041" y="0"/>
                </a:lnTo>
                <a:lnTo>
                  <a:pt x="278041" y="21424"/>
                </a:lnTo>
                <a:lnTo>
                  <a:pt x="0" y="21424"/>
                </a:lnTo>
                <a:lnTo>
                  <a:pt x="0" y="35712"/>
                </a:lnTo>
                <a:lnTo>
                  <a:pt x="278041" y="35712"/>
                </a:lnTo>
                <a:lnTo>
                  <a:pt x="278041" y="57150"/>
                </a:lnTo>
                <a:lnTo>
                  <a:pt x="320903" y="35712"/>
                </a:lnTo>
                <a:lnTo>
                  <a:pt x="335191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2" name="object 32">
            <a:extLst>
              <a:ext uri="{FF2B5EF4-FFF2-40B4-BE49-F238E27FC236}">
                <a16:creationId xmlns:a16="http://schemas.microsoft.com/office/drawing/2014/main" id="{B5103686-30E6-D1FA-C263-82BF8FEE922F}"/>
              </a:ext>
            </a:extLst>
          </p:cNvPr>
          <p:cNvSpPr/>
          <p:nvPr/>
        </p:nvSpPr>
        <p:spPr>
          <a:xfrm>
            <a:off x="5411516" y="5868473"/>
            <a:ext cx="335280" cy="57150"/>
          </a:xfrm>
          <a:custGeom>
            <a:avLst/>
            <a:gdLst/>
            <a:ahLst/>
            <a:cxnLst/>
            <a:rect l="l" t="t" r="r" b="b"/>
            <a:pathLst>
              <a:path w="335279" h="57150">
                <a:moveTo>
                  <a:pt x="335191" y="28575"/>
                </a:moveTo>
                <a:lnTo>
                  <a:pt x="320903" y="21424"/>
                </a:lnTo>
                <a:lnTo>
                  <a:pt x="278041" y="0"/>
                </a:lnTo>
                <a:lnTo>
                  <a:pt x="278041" y="21424"/>
                </a:lnTo>
                <a:lnTo>
                  <a:pt x="0" y="21424"/>
                </a:lnTo>
                <a:lnTo>
                  <a:pt x="0" y="35712"/>
                </a:lnTo>
                <a:lnTo>
                  <a:pt x="278041" y="35712"/>
                </a:lnTo>
                <a:lnTo>
                  <a:pt x="278041" y="57150"/>
                </a:lnTo>
                <a:lnTo>
                  <a:pt x="320903" y="35712"/>
                </a:lnTo>
                <a:lnTo>
                  <a:pt x="335191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3" name="object 32">
            <a:extLst>
              <a:ext uri="{FF2B5EF4-FFF2-40B4-BE49-F238E27FC236}">
                <a16:creationId xmlns:a16="http://schemas.microsoft.com/office/drawing/2014/main" id="{716D4409-46C4-0A0C-BD73-34C9FD052E46}"/>
              </a:ext>
            </a:extLst>
          </p:cNvPr>
          <p:cNvSpPr/>
          <p:nvPr/>
        </p:nvSpPr>
        <p:spPr>
          <a:xfrm>
            <a:off x="6313655" y="5858278"/>
            <a:ext cx="239494" cy="45719"/>
          </a:xfrm>
          <a:custGeom>
            <a:avLst/>
            <a:gdLst/>
            <a:ahLst/>
            <a:cxnLst/>
            <a:rect l="l" t="t" r="r" b="b"/>
            <a:pathLst>
              <a:path w="335279" h="57150">
                <a:moveTo>
                  <a:pt x="335191" y="28575"/>
                </a:moveTo>
                <a:lnTo>
                  <a:pt x="320903" y="21424"/>
                </a:lnTo>
                <a:lnTo>
                  <a:pt x="278041" y="0"/>
                </a:lnTo>
                <a:lnTo>
                  <a:pt x="278041" y="21424"/>
                </a:lnTo>
                <a:lnTo>
                  <a:pt x="0" y="21424"/>
                </a:lnTo>
                <a:lnTo>
                  <a:pt x="0" y="35712"/>
                </a:lnTo>
                <a:lnTo>
                  <a:pt x="278041" y="35712"/>
                </a:lnTo>
                <a:lnTo>
                  <a:pt x="278041" y="57150"/>
                </a:lnTo>
                <a:lnTo>
                  <a:pt x="320903" y="35712"/>
                </a:lnTo>
                <a:lnTo>
                  <a:pt x="335191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4" name="object 32">
            <a:extLst>
              <a:ext uri="{FF2B5EF4-FFF2-40B4-BE49-F238E27FC236}">
                <a16:creationId xmlns:a16="http://schemas.microsoft.com/office/drawing/2014/main" id="{B247CCA2-8E14-D692-AB16-90B6B4AC5CB1}"/>
              </a:ext>
            </a:extLst>
          </p:cNvPr>
          <p:cNvSpPr/>
          <p:nvPr/>
        </p:nvSpPr>
        <p:spPr>
          <a:xfrm>
            <a:off x="7006495" y="5848225"/>
            <a:ext cx="222132" cy="45719"/>
          </a:xfrm>
          <a:custGeom>
            <a:avLst/>
            <a:gdLst/>
            <a:ahLst/>
            <a:cxnLst/>
            <a:rect l="l" t="t" r="r" b="b"/>
            <a:pathLst>
              <a:path w="335279" h="57150">
                <a:moveTo>
                  <a:pt x="335191" y="28575"/>
                </a:moveTo>
                <a:lnTo>
                  <a:pt x="320903" y="21424"/>
                </a:lnTo>
                <a:lnTo>
                  <a:pt x="278041" y="0"/>
                </a:lnTo>
                <a:lnTo>
                  <a:pt x="278041" y="21424"/>
                </a:lnTo>
                <a:lnTo>
                  <a:pt x="0" y="21424"/>
                </a:lnTo>
                <a:lnTo>
                  <a:pt x="0" y="35712"/>
                </a:lnTo>
                <a:lnTo>
                  <a:pt x="278041" y="35712"/>
                </a:lnTo>
                <a:lnTo>
                  <a:pt x="278041" y="57150"/>
                </a:lnTo>
                <a:lnTo>
                  <a:pt x="320903" y="35712"/>
                </a:lnTo>
                <a:lnTo>
                  <a:pt x="335191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5" name="object 43">
            <a:extLst>
              <a:ext uri="{FF2B5EF4-FFF2-40B4-BE49-F238E27FC236}">
                <a16:creationId xmlns:a16="http://schemas.microsoft.com/office/drawing/2014/main" id="{9D2F2B08-0B4C-A4E8-7F0D-BC14D8DD0793}"/>
              </a:ext>
            </a:extLst>
          </p:cNvPr>
          <p:cNvSpPr/>
          <p:nvPr/>
        </p:nvSpPr>
        <p:spPr>
          <a:xfrm>
            <a:off x="3489841" y="5096164"/>
            <a:ext cx="4438767" cy="1636395"/>
          </a:xfrm>
          <a:custGeom>
            <a:avLst/>
            <a:gdLst/>
            <a:ahLst/>
            <a:cxnLst/>
            <a:rect l="l" t="t" r="r" b="b"/>
            <a:pathLst>
              <a:path w="6177915" h="1636395">
                <a:moveTo>
                  <a:pt x="6177316" y="0"/>
                </a:moveTo>
                <a:lnTo>
                  <a:pt x="0" y="0"/>
                </a:lnTo>
                <a:lnTo>
                  <a:pt x="0" y="1636291"/>
                </a:lnTo>
                <a:lnTo>
                  <a:pt x="6177316" y="1636291"/>
                </a:lnTo>
                <a:lnTo>
                  <a:pt x="6177316" y="0"/>
                </a:lnTo>
                <a:close/>
              </a:path>
            </a:pathLst>
          </a:custGeom>
          <a:solidFill>
            <a:srgbClr val="FFFFFF">
              <a:alpha val="748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6" name="object 43">
            <a:extLst>
              <a:ext uri="{FF2B5EF4-FFF2-40B4-BE49-F238E27FC236}">
                <a16:creationId xmlns:a16="http://schemas.microsoft.com/office/drawing/2014/main" id="{5A09778B-7F4C-EE52-240C-292135379462}"/>
              </a:ext>
            </a:extLst>
          </p:cNvPr>
          <p:cNvSpPr/>
          <p:nvPr/>
        </p:nvSpPr>
        <p:spPr>
          <a:xfrm>
            <a:off x="1180560" y="5097600"/>
            <a:ext cx="1442405" cy="1636395"/>
          </a:xfrm>
          <a:custGeom>
            <a:avLst/>
            <a:gdLst/>
            <a:ahLst/>
            <a:cxnLst/>
            <a:rect l="l" t="t" r="r" b="b"/>
            <a:pathLst>
              <a:path w="6177915" h="1636395">
                <a:moveTo>
                  <a:pt x="6177316" y="0"/>
                </a:moveTo>
                <a:lnTo>
                  <a:pt x="0" y="0"/>
                </a:lnTo>
                <a:lnTo>
                  <a:pt x="0" y="1636291"/>
                </a:lnTo>
                <a:lnTo>
                  <a:pt x="6177316" y="1636291"/>
                </a:lnTo>
                <a:lnTo>
                  <a:pt x="6177316" y="0"/>
                </a:lnTo>
                <a:close/>
              </a:path>
            </a:pathLst>
          </a:custGeom>
          <a:solidFill>
            <a:srgbClr val="FFFFFF">
              <a:alpha val="748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475964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E7CF2-DF22-AC47-0129-B198A6A5C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C40E3F0-F2D9-B78C-15A8-C2493C789FF5}"/>
              </a:ext>
            </a:extLst>
          </p:cNvPr>
          <p:cNvSpPr txBox="1"/>
          <p:nvPr/>
        </p:nvSpPr>
        <p:spPr>
          <a:xfrm>
            <a:off x="1652557" y="6010612"/>
            <a:ext cx="66097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tabLst>
                <a:tab pos="354965" algn="l"/>
              </a:tabLst>
              <a:defRPr/>
            </a:pPr>
            <a:r>
              <a:rPr kumimoji="0" sz="2800" b="1" i="0" u="none" strike="noStrike" kern="0" cap="none" spc="-15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/>
                <a:cs typeface="Microsoft YaHei"/>
              </a:rPr>
              <a:t>语义分析</a:t>
            </a:r>
            <a:r>
              <a:rPr kumimoji="0" sz="2800" b="1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/>
                <a:cs typeface="Microsoft YaHei"/>
              </a:rPr>
              <a:t>:</a:t>
            </a:r>
            <a:r>
              <a:rPr kumimoji="0" lang="en-US" sz="2800" b="1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/>
                <a:cs typeface="Microsoft YaHei"/>
              </a:rPr>
              <a:t> </a:t>
            </a:r>
            <a:r>
              <a:rPr kumimoji="0" lang="zh-CN" altLang="en-US" sz="2800" b="1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/>
                <a:cs typeface="Microsoft YaHei"/>
              </a:rPr>
              <a:t>利用属性文法、符号表等</a:t>
            </a:r>
            <a:endParaRPr kumimoji="0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icrosoft YaHei"/>
              <a:cs typeface="Microsoft YaHei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03D3793-6161-E3F6-821F-916A5A5C6D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0804" y="155955"/>
            <a:ext cx="5981778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err="1"/>
              <a:t>语义分析</a:t>
            </a:r>
            <a:r>
              <a:rPr lang="en-US" dirty="0"/>
              <a:t> </a:t>
            </a:r>
            <a:r>
              <a:rPr spc="-10" dirty="0">
                <a:latin typeface="Arial"/>
                <a:cs typeface="Arial"/>
              </a:rPr>
              <a:t>(Semantic</a:t>
            </a:r>
            <a:r>
              <a:rPr spc="-130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Analysis)</a:t>
            </a:r>
          </a:p>
        </p:txBody>
      </p:sp>
      <p:pic>
        <p:nvPicPr>
          <p:cNvPr id="77" name="object 5">
            <a:extLst>
              <a:ext uri="{FF2B5EF4-FFF2-40B4-BE49-F238E27FC236}">
                <a16:creationId xmlns:a16="http://schemas.microsoft.com/office/drawing/2014/main" id="{189E05B9-1AD3-CE5C-C61A-51A4FA39C01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29200" y="1219200"/>
            <a:ext cx="3744952" cy="4623370"/>
          </a:xfrm>
          <a:prstGeom prst="rect">
            <a:avLst/>
          </a:prstGeom>
        </p:spPr>
      </p:pic>
      <p:sp>
        <p:nvSpPr>
          <p:cNvPr id="78" name="object 6">
            <a:extLst>
              <a:ext uri="{FF2B5EF4-FFF2-40B4-BE49-F238E27FC236}">
                <a16:creationId xmlns:a16="http://schemas.microsoft.com/office/drawing/2014/main" id="{5B75FAFB-D657-0926-C9EA-6151AE81D4EC}"/>
              </a:ext>
            </a:extLst>
          </p:cNvPr>
          <p:cNvSpPr txBox="1"/>
          <p:nvPr/>
        </p:nvSpPr>
        <p:spPr>
          <a:xfrm>
            <a:off x="6304003" y="1211596"/>
            <a:ext cx="314325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0" lvl="0" indent="0" algn="ctr" defTabSz="914400" eaLnBrk="1" fontAlgn="auto" latinLnBrk="0" hangingPunct="1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=</a:t>
            </a:r>
            <a:endParaRPr kumimoji="0" sz="2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79" name="object 7">
            <a:extLst>
              <a:ext uri="{FF2B5EF4-FFF2-40B4-BE49-F238E27FC236}">
                <a16:creationId xmlns:a16="http://schemas.microsoft.com/office/drawing/2014/main" id="{F4806E9D-989B-68DF-DEED-272BE96939CC}"/>
              </a:ext>
            </a:extLst>
          </p:cNvPr>
          <p:cNvSpPr txBox="1"/>
          <p:nvPr/>
        </p:nvSpPr>
        <p:spPr>
          <a:xfrm>
            <a:off x="6216372" y="2594626"/>
            <a:ext cx="156210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Arial"/>
                <a:cs typeface="Arial"/>
              </a:rPr>
              <a:t>*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80" name="object 8">
            <a:extLst>
              <a:ext uri="{FF2B5EF4-FFF2-40B4-BE49-F238E27FC236}">
                <a16:creationId xmlns:a16="http://schemas.microsoft.com/office/drawing/2014/main" id="{EFAD926B-2C72-5032-5E9E-7893460E6BB4}"/>
              </a:ext>
            </a:extLst>
          </p:cNvPr>
          <p:cNvSpPr txBox="1"/>
          <p:nvPr/>
        </p:nvSpPr>
        <p:spPr>
          <a:xfrm>
            <a:off x="6769584" y="1840246"/>
            <a:ext cx="221615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+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81" name="object 9">
            <a:extLst>
              <a:ext uri="{FF2B5EF4-FFF2-40B4-BE49-F238E27FC236}">
                <a16:creationId xmlns:a16="http://schemas.microsoft.com/office/drawing/2014/main" id="{C5BDF05E-4114-7C8A-F67F-53597695C252}"/>
              </a:ext>
            </a:extLst>
          </p:cNvPr>
          <p:cNvSpPr txBox="1"/>
          <p:nvPr/>
        </p:nvSpPr>
        <p:spPr>
          <a:xfrm>
            <a:off x="7557493" y="2594626"/>
            <a:ext cx="156210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*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82" name="object 10">
            <a:extLst>
              <a:ext uri="{FF2B5EF4-FFF2-40B4-BE49-F238E27FC236}">
                <a16:creationId xmlns:a16="http://schemas.microsoft.com/office/drawing/2014/main" id="{5E1E300C-9180-C85E-8903-19CC45CA88D4}"/>
              </a:ext>
            </a:extLst>
          </p:cNvPr>
          <p:cNvSpPr txBox="1"/>
          <p:nvPr/>
        </p:nvSpPr>
        <p:spPr>
          <a:xfrm>
            <a:off x="8060413" y="3349006"/>
            <a:ext cx="156210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*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83" name="object 12">
            <a:extLst>
              <a:ext uri="{FF2B5EF4-FFF2-40B4-BE49-F238E27FC236}">
                <a16:creationId xmlns:a16="http://schemas.microsoft.com/office/drawing/2014/main" id="{69F90ED5-E15C-AECC-3378-2A410C1A0CAC}"/>
              </a:ext>
            </a:extLst>
          </p:cNvPr>
          <p:cNvSpPr txBox="1"/>
          <p:nvPr/>
        </p:nvSpPr>
        <p:spPr>
          <a:xfrm>
            <a:off x="5852898" y="3349006"/>
            <a:ext cx="1553210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Tx/>
              <a:buSzTx/>
              <a:buFontTx/>
              <a:buNone/>
              <a:tabLst>
                <a:tab pos="766445" algn="l"/>
                <a:tab pos="1353185" algn="l"/>
              </a:tabLst>
              <a:defRPr/>
            </a:pP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	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2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	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b</a:t>
            </a:r>
            <a:endParaRPr kumimoji="0" sz="2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84" name="object 13">
            <a:extLst>
              <a:ext uri="{FF2B5EF4-FFF2-40B4-BE49-F238E27FC236}">
                <a16:creationId xmlns:a16="http://schemas.microsoft.com/office/drawing/2014/main" id="{72EC1999-89E9-B61B-C8DA-1C1C46D29BB6}"/>
              </a:ext>
            </a:extLst>
          </p:cNvPr>
          <p:cNvSpPr txBox="1"/>
          <p:nvPr/>
        </p:nvSpPr>
        <p:spPr>
          <a:xfrm>
            <a:off x="7706082" y="4019567"/>
            <a:ext cx="957580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Tx/>
              <a:buSzTx/>
              <a:buFontTx/>
              <a:buNone/>
              <a:tabLst>
                <a:tab pos="757555" algn="l"/>
              </a:tabLst>
              <a:defRPr/>
            </a:pP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cs typeface="Arial"/>
              </a:rPr>
              <a:t>	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2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86" name="object 5">
            <a:extLst>
              <a:ext uri="{FF2B5EF4-FFF2-40B4-BE49-F238E27FC236}">
                <a16:creationId xmlns:a16="http://schemas.microsoft.com/office/drawing/2014/main" id="{23EAA4D8-A92E-B8CC-20CE-82261690BC3D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2480" y="1219200"/>
            <a:ext cx="3031997" cy="3239513"/>
          </a:xfrm>
          <a:prstGeom prst="rect">
            <a:avLst/>
          </a:prstGeom>
        </p:spPr>
      </p:pic>
      <p:sp>
        <p:nvSpPr>
          <p:cNvPr id="87" name="object 6">
            <a:extLst>
              <a:ext uri="{FF2B5EF4-FFF2-40B4-BE49-F238E27FC236}">
                <a16:creationId xmlns:a16="http://schemas.microsoft.com/office/drawing/2014/main" id="{C9E855FE-0DA4-501B-DED9-9EEC693E8491}"/>
              </a:ext>
            </a:extLst>
          </p:cNvPr>
          <p:cNvSpPr txBox="1"/>
          <p:nvPr/>
        </p:nvSpPr>
        <p:spPr>
          <a:xfrm>
            <a:off x="1184328" y="1211596"/>
            <a:ext cx="314325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0" lvl="0" indent="0" algn="ctr" defTabSz="914400" eaLnBrk="1" fontAlgn="auto" latinLnBrk="0" hangingPunct="1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=</a:t>
            </a:r>
            <a:endParaRPr kumimoji="0" lang="zh-CN" altLang="en-US" sz="2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88" name="object 7">
            <a:extLst>
              <a:ext uri="{FF2B5EF4-FFF2-40B4-BE49-F238E27FC236}">
                <a16:creationId xmlns:a16="http://schemas.microsoft.com/office/drawing/2014/main" id="{C0CA8AE8-E674-5BFD-5DFD-F79437F14476}"/>
              </a:ext>
            </a:extLst>
          </p:cNvPr>
          <p:cNvSpPr txBox="1"/>
          <p:nvPr/>
        </p:nvSpPr>
        <p:spPr>
          <a:xfrm>
            <a:off x="1096697" y="2594626"/>
            <a:ext cx="156210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Arial"/>
                <a:cs typeface="Arial"/>
              </a:rPr>
              <a:t>*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89" name="object 8">
            <a:extLst>
              <a:ext uri="{FF2B5EF4-FFF2-40B4-BE49-F238E27FC236}">
                <a16:creationId xmlns:a16="http://schemas.microsoft.com/office/drawing/2014/main" id="{A605E83C-06A2-9254-B26C-020EBE5EF8A9}"/>
              </a:ext>
            </a:extLst>
          </p:cNvPr>
          <p:cNvSpPr txBox="1"/>
          <p:nvPr/>
        </p:nvSpPr>
        <p:spPr>
          <a:xfrm>
            <a:off x="826188" y="1840246"/>
            <a:ext cx="1045210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Tx/>
              <a:buSzTx/>
              <a:buFontTx/>
              <a:buNone/>
              <a:tabLst>
                <a:tab pos="836294" algn="l"/>
              </a:tabLst>
              <a:defRPr/>
            </a:pP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	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+</a:t>
            </a:r>
            <a:endParaRPr kumimoji="0" sz="2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90" name="object 9">
            <a:extLst>
              <a:ext uri="{FF2B5EF4-FFF2-40B4-BE49-F238E27FC236}">
                <a16:creationId xmlns:a16="http://schemas.microsoft.com/office/drawing/2014/main" id="{585A2F37-AF62-18A7-B648-119DE77E9507}"/>
              </a:ext>
            </a:extLst>
          </p:cNvPr>
          <p:cNvSpPr txBox="1"/>
          <p:nvPr/>
        </p:nvSpPr>
        <p:spPr>
          <a:xfrm>
            <a:off x="2437818" y="2594626"/>
            <a:ext cx="156210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*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91" name="object 10">
            <a:extLst>
              <a:ext uri="{FF2B5EF4-FFF2-40B4-BE49-F238E27FC236}">
                <a16:creationId xmlns:a16="http://schemas.microsoft.com/office/drawing/2014/main" id="{5B3A5727-13FC-31D5-3180-6A0531F86A5B}"/>
              </a:ext>
            </a:extLst>
          </p:cNvPr>
          <p:cNvSpPr txBox="1"/>
          <p:nvPr/>
        </p:nvSpPr>
        <p:spPr>
          <a:xfrm>
            <a:off x="733223" y="3349006"/>
            <a:ext cx="1553210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Tx/>
              <a:buSzTx/>
              <a:buFontTx/>
              <a:buNone/>
              <a:tabLst>
                <a:tab pos="766445" algn="l"/>
                <a:tab pos="1353185" algn="l"/>
              </a:tabLst>
              <a:defRPr/>
            </a:pP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	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2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	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b</a:t>
            </a:r>
            <a:endParaRPr kumimoji="0" sz="2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92" name="object 11">
            <a:extLst>
              <a:ext uri="{FF2B5EF4-FFF2-40B4-BE49-F238E27FC236}">
                <a16:creationId xmlns:a16="http://schemas.microsoft.com/office/drawing/2014/main" id="{EB668B04-62D6-5B45-0A0E-87574873373A}"/>
              </a:ext>
            </a:extLst>
          </p:cNvPr>
          <p:cNvSpPr txBox="1"/>
          <p:nvPr/>
        </p:nvSpPr>
        <p:spPr>
          <a:xfrm>
            <a:off x="2940738" y="3349006"/>
            <a:ext cx="156210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*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93" name="object 12">
            <a:extLst>
              <a:ext uri="{FF2B5EF4-FFF2-40B4-BE49-F238E27FC236}">
                <a16:creationId xmlns:a16="http://schemas.microsoft.com/office/drawing/2014/main" id="{4B221A97-2407-6CFD-8BF9-06F9366B59E5}"/>
              </a:ext>
            </a:extLst>
          </p:cNvPr>
          <p:cNvSpPr txBox="1"/>
          <p:nvPr/>
        </p:nvSpPr>
        <p:spPr>
          <a:xfrm>
            <a:off x="2586407" y="4019567"/>
            <a:ext cx="957580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Tx/>
              <a:buSzTx/>
              <a:buFontTx/>
              <a:buNone/>
              <a:tabLst>
                <a:tab pos="757555" algn="l"/>
              </a:tabLst>
              <a:defRPr/>
            </a:pP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cs typeface="Arial"/>
              </a:rPr>
              <a:t>	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2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95" name="object 4">
            <a:extLst>
              <a:ext uri="{FF2B5EF4-FFF2-40B4-BE49-F238E27FC236}">
                <a16:creationId xmlns:a16="http://schemas.microsoft.com/office/drawing/2014/main" id="{CCABD0B9-93E4-BFBB-96E2-725CCF5B6E08}"/>
              </a:ext>
            </a:extLst>
          </p:cNvPr>
          <p:cNvSpPr/>
          <p:nvPr/>
        </p:nvSpPr>
        <p:spPr>
          <a:xfrm>
            <a:off x="3070306" y="1123819"/>
            <a:ext cx="1641475" cy="576580"/>
          </a:xfrm>
          <a:custGeom>
            <a:avLst/>
            <a:gdLst/>
            <a:ahLst/>
            <a:cxnLst/>
            <a:rect l="l" t="t" r="r" b="b"/>
            <a:pathLst>
              <a:path w="1641475" h="576580">
                <a:moveTo>
                  <a:pt x="0" y="0"/>
                </a:moveTo>
                <a:lnTo>
                  <a:pt x="1641405" y="0"/>
                </a:lnTo>
                <a:lnTo>
                  <a:pt x="1641405" y="576000"/>
                </a:lnTo>
                <a:lnTo>
                  <a:pt x="0" y="576000"/>
                </a:lnTo>
                <a:lnTo>
                  <a:pt x="0" y="0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96" name="object 5">
            <a:extLst>
              <a:ext uri="{FF2B5EF4-FFF2-40B4-BE49-F238E27FC236}">
                <a16:creationId xmlns:a16="http://schemas.microsoft.com/office/drawing/2014/main" id="{7955AE8C-3794-EA6E-79EA-C1DEEC7DD659}"/>
              </a:ext>
            </a:extLst>
          </p:cNvPr>
          <p:cNvSpPr txBox="1"/>
          <p:nvPr/>
        </p:nvSpPr>
        <p:spPr>
          <a:xfrm>
            <a:off x="3028903" y="1216529"/>
            <a:ext cx="170426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874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语义分析器</a:t>
            </a:r>
            <a:endParaRPr kumimoji="0" sz="2400" b="1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27136657-E783-4EB7-2D95-56A0B448A2BD}"/>
              </a:ext>
            </a:extLst>
          </p:cNvPr>
          <p:cNvCxnSpPr>
            <a:cxnSpLocks/>
          </p:cNvCxnSpPr>
          <p:nvPr/>
        </p:nvCxnSpPr>
        <p:spPr>
          <a:xfrm>
            <a:off x="1914721" y="1412109"/>
            <a:ext cx="115558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63CD1400-F08E-AB22-AAA7-384C852C8D36}"/>
              </a:ext>
            </a:extLst>
          </p:cNvPr>
          <p:cNvCxnSpPr>
            <a:cxnSpLocks/>
          </p:cNvCxnSpPr>
          <p:nvPr/>
        </p:nvCxnSpPr>
        <p:spPr>
          <a:xfrm>
            <a:off x="4711781" y="1412109"/>
            <a:ext cx="115558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object 12">
            <a:extLst>
              <a:ext uri="{FF2B5EF4-FFF2-40B4-BE49-F238E27FC236}">
                <a16:creationId xmlns:a16="http://schemas.microsoft.com/office/drawing/2014/main" id="{328EF228-7FB3-C22F-4239-52D9F1582F98}"/>
              </a:ext>
            </a:extLst>
          </p:cNvPr>
          <p:cNvSpPr txBox="1"/>
          <p:nvPr/>
        </p:nvSpPr>
        <p:spPr>
          <a:xfrm>
            <a:off x="5982375" y="1806269"/>
            <a:ext cx="957580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Tx/>
              <a:buSzTx/>
              <a:buFontTx/>
              <a:buNone/>
              <a:tabLst>
                <a:tab pos="757555" algn="l"/>
              </a:tabLst>
              <a:defRPr/>
            </a:pP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endParaRPr kumimoji="0" sz="26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object 13">
            <a:extLst>
              <a:ext uri="{FF2B5EF4-FFF2-40B4-BE49-F238E27FC236}">
                <a16:creationId xmlns:a16="http://schemas.microsoft.com/office/drawing/2014/main" id="{CA8351D7-DE94-9B3B-EAD2-A47260A4BF1A}"/>
              </a:ext>
            </a:extLst>
          </p:cNvPr>
          <p:cNvSpPr txBox="1"/>
          <p:nvPr/>
        </p:nvSpPr>
        <p:spPr>
          <a:xfrm>
            <a:off x="5562574" y="4364065"/>
            <a:ext cx="212090" cy="1238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30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endParaRPr kumimoji="0" sz="2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5080" lvl="0" indent="0" defTabSz="914400" eaLnBrk="1" fontAlgn="auto" latinLnBrk="0" hangingPunct="1">
              <a:lnSpc>
                <a:spcPct val="105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 b</a:t>
            </a:r>
            <a:endParaRPr kumimoji="0" sz="2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" name="object 14">
            <a:extLst>
              <a:ext uri="{FF2B5EF4-FFF2-40B4-BE49-F238E27FC236}">
                <a16:creationId xmlns:a16="http://schemas.microsoft.com/office/drawing/2014/main" id="{0BF83E8B-8BE2-DBF2-F128-41775CE8909E}"/>
              </a:ext>
            </a:extLst>
          </p:cNvPr>
          <p:cNvSpPr txBox="1"/>
          <p:nvPr/>
        </p:nvSpPr>
        <p:spPr>
          <a:xfrm>
            <a:off x="6358865" y="4364065"/>
            <a:ext cx="381000" cy="1238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30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int</a:t>
            </a:r>
            <a:endParaRPr kumimoji="0" sz="2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5080" lvl="0" indent="0" defTabSz="914400" eaLnBrk="1" fontAlgn="auto" latinLnBrk="0" hangingPunct="1">
              <a:lnSpc>
                <a:spcPct val="105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int int</a:t>
            </a:r>
            <a:endParaRPr kumimoji="0" sz="2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627618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object 12">
            <a:extLst>
              <a:ext uri="{FF2B5EF4-FFF2-40B4-BE49-F238E27FC236}">
                <a16:creationId xmlns:a16="http://schemas.microsoft.com/office/drawing/2014/main" id="{FEEDE782-B4BB-30E7-4845-87F740523B13}"/>
              </a:ext>
            </a:extLst>
          </p:cNvPr>
          <p:cNvSpPr/>
          <p:nvPr/>
        </p:nvSpPr>
        <p:spPr>
          <a:xfrm>
            <a:off x="2389922" y="5158812"/>
            <a:ext cx="1963073" cy="1520190"/>
          </a:xfrm>
          <a:custGeom>
            <a:avLst/>
            <a:gdLst/>
            <a:ahLst/>
            <a:cxnLst/>
            <a:rect l="l" t="t" r="r" b="b"/>
            <a:pathLst>
              <a:path w="2023110" h="2012314">
                <a:moveTo>
                  <a:pt x="0" y="0"/>
                </a:moveTo>
                <a:lnTo>
                  <a:pt x="2023111" y="0"/>
                </a:lnTo>
                <a:lnTo>
                  <a:pt x="2023111" y="2012219"/>
                </a:lnTo>
                <a:lnTo>
                  <a:pt x="0" y="2012219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804" y="155955"/>
            <a:ext cx="21590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 err="1"/>
              <a:t>中间代码生成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3936077" y="2463960"/>
            <a:ext cx="1453515" cy="855980"/>
          </a:xfrm>
          <a:prstGeom prst="rect">
            <a:avLst/>
          </a:prstGeom>
          <a:ln w="25146">
            <a:solidFill>
              <a:srgbClr val="000000"/>
            </a:solidFill>
          </a:ln>
        </p:spPr>
        <p:txBody>
          <a:bodyPr vert="horz" wrap="square" lIns="0" tIns="99695" rIns="0" bIns="0" rtlCol="0">
            <a:spAutoFit/>
          </a:bodyPr>
          <a:lstStyle/>
          <a:p>
            <a:pPr marL="9525" marR="68580" lvl="0" algn="ctr" defTabSz="914400" eaLnBrk="1" fontAlgn="auto" latinLnBrk="0" hangingPunct="1">
              <a:lnSpc>
                <a:spcPct val="100800"/>
              </a:lnSpc>
              <a:spcBef>
                <a:spcPts val="785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400" b="1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中间代码生成器</a:t>
            </a:r>
            <a:endParaRPr kumimoji="0" sz="2400" b="1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24059" y="2180932"/>
            <a:ext cx="2298700" cy="23612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-3175" defTabSz="914400" eaLnBrk="1" fontAlgn="auto" latinLnBrk="0" hangingPunct="1">
              <a:lnSpc>
                <a:spcPts val="3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t1</a:t>
            </a:r>
            <a:r>
              <a:rPr kumimoji="0" sz="24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 x * 3</a:t>
            </a:r>
          </a:p>
          <a:p>
            <a:pPr marL="12700" marR="5080" lvl="0" indent="-3175" defTabSz="914400" eaLnBrk="1" fontAlgn="auto" latinLnBrk="0" hangingPunct="1">
              <a:lnSpc>
                <a:spcPts val="3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t2 = t1 * b</a:t>
            </a:r>
          </a:p>
          <a:p>
            <a:pPr marL="12700" marR="5080" lvl="0" indent="-3175" defTabSz="914400" eaLnBrk="1" fontAlgn="auto" latinLnBrk="0" hangingPunct="1">
              <a:lnSpc>
                <a:spcPts val="3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t3 = a * 2</a:t>
            </a:r>
          </a:p>
          <a:p>
            <a:pPr marL="12700" marR="5080" lvl="0" indent="-3175" defTabSz="914400" eaLnBrk="1" fontAlgn="auto" latinLnBrk="0" hangingPunct="1">
              <a:lnSpc>
                <a:spcPts val="3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t4 = t2 + t3</a:t>
            </a:r>
          </a:p>
          <a:p>
            <a:pPr marL="12700" marR="5080" lvl="0" indent="-3175" defTabSz="914400" eaLnBrk="1" fontAlgn="auto" latinLnBrk="0" hangingPunct="1">
              <a:lnSpc>
                <a:spcPts val="3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x  = t4</a:t>
            </a:r>
          </a:p>
          <a:p>
            <a:pPr marL="12700" marR="5080" lvl="0" indent="-3175" defTabSz="914400" eaLnBrk="1" fontAlgn="auto" latinLnBrk="0" hangingPunct="1">
              <a:lnSpc>
                <a:spcPts val="3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6510" y="1112750"/>
            <a:ext cx="857749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 eaLnBrk="1" fontAlgn="auto" hangingPunct="1">
              <a:spcBef>
                <a:spcPts val="100"/>
              </a:spcBef>
              <a:spcAft>
                <a:spcPts val="0"/>
              </a:spcAft>
              <a:buFont typeface="Arial"/>
              <a:buChar char="•"/>
              <a:tabLst>
                <a:tab pos="354965" algn="l"/>
              </a:tabLst>
            </a:pPr>
            <a:r>
              <a:rPr kumimoji="0" sz="2800" b="1" u="none" strike="noStrike" kern="0" cap="none" spc="-15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中间</a:t>
            </a:r>
            <a:r>
              <a:rPr kumimoji="0" lang="zh-CN" altLang="en-US" sz="2800" b="1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代码</a:t>
            </a:r>
            <a:r>
              <a:rPr kumimoji="0" sz="2800" b="1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/</a:t>
            </a:r>
            <a:r>
              <a:rPr kumimoji="0" lang="zh-CN" altLang="en-US" sz="2800" b="1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表示 </a:t>
            </a:r>
            <a:r>
              <a:rPr kumimoji="0" lang="en" altLang="zh-CN" sz="2800" b="1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(IR)</a:t>
            </a:r>
            <a:r>
              <a:rPr kumimoji="0" sz="2800" b="1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: </a:t>
            </a:r>
            <a:r>
              <a:rPr kumimoji="0" sz="2800" b="1" u="none" strike="noStrike" kern="0" cap="none" spc="-15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源语言与目标语言之间的桥梁</a:t>
            </a:r>
            <a:endParaRPr kumimoji="0" sz="2800" b="1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30597" y="4306351"/>
            <a:ext cx="6842759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5080" lvl="0" indent="0" algn="r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2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imSun"/>
                <a:cs typeface="SimSun"/>
              </a:rPr>
              <a:t>三地址中间代码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imSun"/>
              <a:cs typeface="SimSu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558086" y="2843214"/>
            <a:ext cx="457200" cy="127000"/>
            <a:chOff x="6179125" y="2968974"/>
            <a:chExt cx="457200" cy="127000"/>
          </a:xfrm>
        </p:grpSpPr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09325" y="2994374"/>
              <a:ext cx="127000" cy="10160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179121" y="2968980"/>
              <a:ext cx="381000" cy="76835"/>
            </a:xfrm>
            <a:custGeom>
              <a:avLst/>
              <a:gdLst/>
              <a:ahLst/>
              <a:cxnLst/>
              <a:rect l="l" t="t" r="r" b="b"/>
              <a:pathLst>
                <a:path w="381000" h="76835">
                  <a:moveTo>
                    <a:pt x="381000" y="25400"/>
                  </a:moveTo>
                  <a:lnTo>
                    <a:pt x="330200" y="0"/>
                  </a:lnTo>
                  <a:lnTo>
                    <a:pt x="370941" y="50927"/>
                  </a:lnTo>
                  <a:lnTo>
                    <a:pt x="371055" y="51079"/>
                  </a:lnTo>
                  <a:lnTo>
                    <a:pt x="0" y="51079"/>
                  </a:lnTo>
                  <a:lnTo>
                    <a:pt x="0" y="63779"/>
                  </a:lnTo>
                  <a:lnTo>
                    <a:pt x="0" y="76479"/>
                  </a:lnTo>
                  <a:lnTo>
                    <a:pt x="375691" y="76479"/>
                  </a:lnTo>
                  <a:lnTo>
                    <a:pt x="375691" y="63779"/>
                  </a:lnTo>
                  <a:lnTo>
                    <a:pt x="376148" y="63779"/>
                  </a:lnTo>
                  <a:lnTo>
                    <a:pt x="376148" y="57442"/>
                  </a:lnTo>
                  <a:lnTo>
                    <a:pt x="381000" y="63500"/>
                  </a:lnTo>
                  <a:lnTo>
                    <a:pt x="381000" y="50927"/>
                  </a:lnTo>
                  <a:lnTo>
                    <a:pt x="381000" y="25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11" name="object 4">
            <a:extLst>
              <a:ext uri="{FF2B5EF4-FFF2-40B4-BE49-F238E27FC236}">
                <a16:creationId xmlns:a16="http://schemas.microsoft.com/office/drawing/2014/main" id="{20E38B2D-93B0-BA9B-F473-EA75FF5C92F2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88536" y="5206864"/>
            <a:ext cx="431999" cy="1417129"/>
          </a:xfrm>
          <a:prstGeom prst="rect">
            <a:avLst/>
          </a:prstGeom>
        </p:spPr>
      </p:pic>
      <p:sp>
        <p:nvSpPr>
          <p:cNvPr id="12" name="object 8">
            <a:extLst>
              <a:ext uri="{FF2B5EF4-FFF2-40B4-BE49-F238E27FC236}">
                <a16:creationId xmlns:a16="http://schemas.microsoft.com/office/drawing/2014/main" id="{6E81C0B5-0749-9621-8149-BE5655B13B20}"/>
              </a:ext>
            </a:extLst>
          </p:cNvPr>
          <p:cNvSpPr txBox="1"/>
          <p:nvPr/>
        </p:nvSpPr>
        <p:spPr>
          <a:xfrm>
            <a:off x="2577922" y="5339677"/>
            <a:ext cx="254000" cy="1125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词法分析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grpSp>
        <p:nvGrpSpPr>
          <p:cNvPr id="13" name="object 9">
            <a:extLst>
              <a:ext uri="{FF2B5EF4-FFF2-40B4-BE49-F238E27FC236}">
                <a16:creationId xmlns:a16="http://schemas.microsoft.com/office/drawing/2014/main" id="{C589D63F-3985-18CD-CEAF-B1467575A1BC}"/>
              </a:ext>
            </a:extLst>
          </p:cNvPr>
          <p:cNvGrpSpPr/>
          <p:nvPr/>
        </p:nvGrpSpPr>
        <p:grpSpPr>
          <a:xfrm>
            <a:off x="3168392" y="5208497"/>
            <a:ext cx="2282681" cy="1423253"/>
            <a:chOff x="2087999" y="1700160"/>
            <a:chExt cx="2282681" cy="1423253"/>
          </a:xfrm>
        </p:grpSpPr>
        <p:pic>
          <p:nvPicPr>
            <p:cNvPr id="14" name="object 10">
              <a:extLst>
                <a:ext uri="{FF2B5EF4-FFF2-40B4-BE49-F238E27FC236}">
                  <a16:creationId xmlns:a16="http://schemas.microsoft.com/office/drawing/2014/main" id="{0AD35656-7198-FDD6-BC54-B23388F33DF1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87999" y="1716656"/>
              <a:ext cx="432000" cy="1400633"/>
            </a:xfrm>
            <a:prstGeom prst="rect">
              <a:avLst/>
            </a:prstGeom>
          </p:spPr>
        </p:pic>
        <p:pic>
          <p:nvPicPr>
            <p:cNvPr id="15" name="object 11">
              <a:extLst>
                <a:ext uri="{FF2B5EF4-FFF2-40B4-BE49-F238E27FC236}">
                  <a16:creationId xmlns:a16="http://schemas.microsoft.com/office/drawing/2014/main" id="{CD5A0AB2-6062-BE5A-E4D7-01BF1961EBD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71800" y="1700160"/>
              <a:ext cx="431999" cy="1417129"/>
            </a:xfrm>
            <a:prstGeom prst="rect">
              <a:avLst/>
            </a:prstGeom>
          </p:spPr>
        </p:pic>
        <p:pic>
          <p:nvPicPr>
            <p:cNvPr id="16" name="object 13">
              <a:extLst>
                <a:ext uri="{FF2B5EF4-FFF2-40B4-BE49-F238E27FC236}">
                  <a16:creationId xmlns:a16="http://schemas.microsoft.com/office/drawing/2014/main" id="{A9A16D55-E58A-0E87-AEA6-1A70B1F0531E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94681" y="1706285"/>
              <a:ext cx="575999" cy="1417128"/>
            </a:xfrm>
            <a:prstGeom prst="rect">
              <a:avLst/>
            </a:prstGeom>
          </p:spPr>
        </p:pic>
      </p:grpSp>
      <p:sp>
        <p:nvSpPr>
          <p:cNvPr id="17" name="object 14">
            <a:extLst>
              <a:ext uri="{FF2B5EF4-FFF2-40B4-BE49-F238E27FC236}">
                <a16:creationId xmlns:a16="http://schemas.microsoft.com/office/drawing/2014/main" id="{F527C8C7-5A98-27D9-F143-ABFFDC529775}"/>
              </a:ext>
            </a:extLst>
          </p:cNvPr>
          <p:cNvSpPr txBox="1"/>
          <p:nvPr/>
        </p:nvSpPr>
        <p:spPr>
          <a:xfrm>
            <a:off x="4913447" y="5461596"/>
            <a:ext cx="491490" cy="85788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algn="just">
              <a:lnSpc>
                <a:spcPct val="101699"/>
              </a:lnSpc>
              <a:spcBef>
                <a:spcPts val="60"/>
              </a:spcBef>
            </a:pPr>
            <a:r>
              <a:rPr sz="1800" b="1" spc="5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中间</a:t>
            </a:r>
            <a:r>
              <a:rPr sz="1800" b="1" spc="-25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代码</a:t>
            </a:r>
            <a:r>
              <a:rPr sz="1800" b="1" spc="-3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生成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pic>
        <p:nvPicPr>
          <p:cNvPr id="18" name="object 15">
            <a:extLst>
              <a:ext uri="{FF2B5EF4-FFF2-40B4-BE49-F238E27FC236}">
                <a16:creationId xmlns:a16="http://schemas.microsoft.com/office/drawing/2014/main" id="{7F908259-1D83-F40E-6F9B-7E59F0C9E57B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804312" y="5214622"/>
            <a:ext cx="575999" cy="1404569"/>
          </a:xfrm>
          <a:prstGeom prst="rect">
            <a:avLst/>
          </a:prstGeom>
        </p:spPr>
      </p:pic>
      <p:grpSp>
        <p:nvGrpSpPr>
          <p:cNvPr id="19" name="object 21">
            <a:extLst>
              <a:ext uri="{FF2B5EF4-FFF2-40B4-BE49-F238E27FC236}">
                <a16:creationId xmlns:a16="http://schemas.microsoft.com/office/drawing/2014/main" id="{D888F141-F364-A711-39C4-2AADA610222F}"/>
              </a:ext>
            </a:extLst>
          </p:cNvPr>
          <p:cNvGrpSpPr/>
          <p:nvPr/>
        </p:nvGrpSpPr>
        <p:grpSpPr>
          <a:xfrm>
            <a:off x="6940763" y="5206862"/>
            <a:ext cx="1808480" cy="1412875"/>
            <a:chOff x="5860370" y="1698525"/>
            <a:chExt cx="1808480" cy="1412875"/>
          </a:xfrm>
        </p:grpSpPr>
        <p:pic>
          <p:nvPicPr>
            <p:cNvPr id="24" name="object 22">
              <a:extLst>
                <a:ext uri="{FF2B5EF4-FFF2-40B4-BE49-F238E27FC236}">
                  <a16:creationId xmlns:a16="http://schemas.microsoft.com/office/drawing/2014/main" id="{E0D987A9-11B7-0F25-1A3F-5D100F4D9394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60370" y="1698527"/>
              <a:ext cx="432000" cy="1412326"/>
            </a:xfrm>
            <a:prstGeom prst="rect">
              <a:avLst/>
            </a:prstGeom>
          </p:spPr>
        </p:pic>
        <p:pic>
          <p:nvPicPr>
            <p:cNvPr id="25" name="object 23">
              <a:extLst>
                <a:ext uri="{FF2B5EF4-FFF2-40B4-BE49-F238E27FC236}">
                  <a16:creationId xmlns:a16="http://schemas.microsoft.com/office/drawing/2014/main" id="{820C71D0-2FD6-F09E-831F-0B3E15D7FDEE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36344" y="1698525"/>
              <a:ext cx="431999" cy="1412327"/>
            </a:xfrm>
            <a:prstGeom prst="rect">
              <a:avLst/>
            </a:prstGeom>
          </p:spPr>
        </p:pic>
      </p:grpSp>
      <p:pic>
        <p:nvPicPr>
          <p:cNvPr id="26" name="object 26">
            <a:extLst>
              <a:ext uri="{FF2B5EF4-FFF2-40B4-BE49-F238E27FC236}">
                <a16:creationId xmlns:a16="http://schemas.microsoft.com/office/drawing/2014/main" id="{97C5B5FD-A344-B3C7-14AB-8A719431754A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640275" y="5206862"/>
            <a:ext cx="432000" cy="1418763"/>
          </a:xfrm>
          <a:prstGeom prst="rect">
            <a:avLst/>
          </a:prstGeom>
        </p:spPr>
      </p:pic>
      <p:grpSp>
        <p:nvGrpSpPr>
          <p:cNvPr id="27" name="object 38">
            <a:extLst>
              <a:ext uri="{FF2B5EF4-FFF2-40B4-BE49-F238E27FC236}">
                <a16:creationId xmlns:a16="http://schemas.microsoft.com/office/drawing/2014/main" id="{41749C2A-FE42-A967-68FD-15BBD490A9DB}"/>
              </a:ext>
            </a:extLst>
          </p:cNvPr>
          <p:cNvGrpSpPr/>
          <p:nvPr/>
        </p:nvGrpSpPr>
        <p:grpSpPr>
          <a:xfrm>
            <a:off x="2907989" y="5855876"/>
            <a:ext cx="963852" cy="70711"/>
            <a:chOff x="1827596" y="2347539"/>
            <a:chExt cx="963852" cy="70711"/>
          </a:xfrm>
        </p:grpSpPr>
        <p:pic>
          <p:nvPicPr>
            <p:cNvPr id="28" name="object 39">
              <a:extLst>
                <a:ext uri="{FF2B5EF4-FFF2-40B4-BE49-F238E27FC236}">
                  <a16:creationId xmlns:a16="http://schemas.microsoft.com/office/drawing/2014/main" id="{DC03D4EE-8B51-0FB4-36F2-69DC1894E208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504413" y="2347539"/>
              <a:ext cx="287035" cy="70711"/>
            </a:xfrm>
            <a:prstGeom prst="rect">
              <a:avLst/>
            </a:prstGeom>
          </p:spPr>
        </p:pic>
        <p:pic>
          <p:nvPicPr>
            <p:cNvPr id="29" name="object 40">
              <a:extLst>
                <a:ext uri="{FF2B5EF4-FFF2-40B4-BE49-F238E27FC236}">
                  <a16:creationId xmlns:a16="http://schemas.microsoft.com/office/drawing/2014/main" id="{B9A5168B-EAB7-CB4C-D063-85B1E921580D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27596" y="2347539"/>
              <a:ext cx="287033" cy="70711"/>
            </a:xfrm>
            <a:prstGeom prst="rect">
              <a:avLst/>
            </a:prstGeom>
          </p:spPr>
        </p:pic>
      </p:grpSp>
      <p:sp>
        <p:nvSpPr>
          <p:cNvPr id="30" name="object 32">
            <a:extLst>
              <a:ext uri="{FF2B5EF4-FFF2-40B4-BE49-F238E27FC236}">
                <a16:creationId xmlns:a16="http://schemas.microsoft.com/office/drawing/2014/main" id="{9FE0410A-513D-02F0-A537-BE804486D1E9}"/>
              </a:ext>
            </a:extLst>
          </p:cNvPr>
          <p:cNvSpPr/>
          <p:nvPr/>
        </p:nvSpPr>
        <p:spPr>
          <a:xfrm>
            <a:off x="5469315" y="5858278"/>
            <a:ext cx="335280" cy="57150"/>
          </a:xfrm>
          <a:custGeom>
            <a:avLst/>
            <a:gdLst/>
            <a:ahLst/>
            <a:cxnLst/>
            <a:rect l="l" t="t" r="r" b="b"/>
            <a:pathLst>
              <a:path w="335279" h="57150">
                <a:moveTo>
                  <a:pt x="335191" y="28575"/>
                </a:moveTo>
                <a:lnTo>
                  <a:pt x="320903" y="21424"/>
                </a:lnTo>
                <a:lnTo>
                  <a:pt x="278041" y="0"/>
                </a:lnTo>
                <a:lnTo>
                  <a:pt x="278041" y="21424"/>
                </a:lnTo>
                <a:lnTo>
                  <a:pt x="0" y="21424"/>
                </a:lnTo>
                <a:lnTo>
                  <a:pt x="0" y="35712"/>
                </a:lnTo>
                <a:lnTo>
                  <a:pt x="278041" y="35712"/>
                </a:lnTo>
                <a:lnTo>
                  <a:pt x="278041" y="57150"/>
                </a:lnTo>
                <a:lnTo>
                  <a:pt x="320903" y="35712"/>
                </a:lnTo>
                <a:lnTo>
                  <a:pt x="335191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object 14">
            <a:extLst>
              <a:ext uri="{FF2B5EF4-FFF2-40B4-BE49-F238E27FC236}">
                <a16:creationId xmlns:a16="http://schemas.microsoft.com/office/drawing/2014/main" id="{C433906F-BE57-B77F-EFCC-E9D9E2ED4CC6}"/>
              </a:ext>
            </a:extLst>
          </p:cNvPr>
          <p:cNvSpPr txBox="1"/>
          <p:nvPr/>
        </p:nvSpPr>
        <p:spPr>
          <a:xfrm>
            <a:off x="5849585" y="5371494"/>
            <a:ext cx="491490" cy="1119089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algn="just">
              <a:lnSpc>
                <a:spcPct val="101699"/>
              </a:lnSpc>
              <a:spcBef>
                <a:spcPts val="60"/>
              </a:spcBef>
            </a:pPr>
            <a:r>
              <a:rPr lang="en-US" sz="1800" b="1" spc="5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机器无关代码优化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44" name="object 8">
            <a:extLst>
              <a:ext uri="{FF2B5EF4-FFF2-40B4-BE49-F238E27FC236}">
                <a16:creationId xmlns:a16="http://schemas.microsoft.com/office/drawing/2014/main" id="{CDA4276B-71D6-4A43-B021-8C1F5CE97083}"/>
              </a:ext>
            </a:extLst>
          </p:cNvPr>
          <p:cNvSpPr txBox="1"/>
          <p:nvPr/>
        </p:nvSpPr>
        <p:spPr>
          <a:xfrm>
            <a:off x="7026541" y="5328303"/>
            <a:ext cx="254000" cy="111953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lang="zh-CN" altLang="en-US"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指令选择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45" name="object 8">
            <a:extLst>
              <a:ext uri="{FF2B5EF4-FFF2-40B4-BE49-F238E27FC236}">
                <a16:creationId xmlns:a16="http://schemas.microsoft.com/office/drawing/2014/main" id="{56DCF215-17B3-27B1-572C-2E232F4D9620}"/>
              </a:ext>
            </a:extLst>
          </p:cNvPr>
          <p:cNvSpPr txBox="1"/>
          <p:nvPr/>
        </p:nvSpPr>
        <p:spPr>
          <a:xfrm>
            <a:off x="7726709" y="5224993"/>
            <a:ext cx="254000" cy="139653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lang="zh-CN" altLang="en-US"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寄存器分配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59" name="object 8">
            <a:extLst>
              <a:ext uri="{FF2B5EF4-FFF2-40B4-BE49-F238E27FC236}">
                <a16:creationId xmlns:a16="http://schemas.microsoft.com/office/drawing/2014/main" id="{7D86A2ED-E676-4A7F-59F5-C670C4073795}"/>
              </a:ext>
            </a:extLst>
          </p:cNvPr>
          <p:cNvSpPr txBox="1"/>
          <p:nvPr/>
        </p:nvSpPr>
        <p:spPr>
          <a:xfrm>
            <a:off x="8402761" y="5337280"/>
            <a:ext cx="254000" cy="111953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lang="zh-CN" altLang="en-US"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指令调度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64" name="object 8">
            <a:extLst>
              <a:ext uri="{FF2B5EF4-FFF2-40B4-BE49-F238E27FC236}">
                <a16:creationId xmlns:a16="http://schemas.microsoft.com/office/drawing/2014/main" id="{42EB0171-C3F8-81BF-951C-2374F3583484}"/>
              </a:ext>
            </a:extLst>
          </p:cNvPr>
          <p:cNvSpPr txBox="1"/>
          <p:nvPr/>
        </p:nvSpPr>
        <p:spPr>
          <a:xfrm>
            <a:off x="3257485" y="5353256"/>
            <a:ext cx="254000" cy="111953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lang="en-US" sz="1800" b="1" spc="-5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语法分析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65" name="object 8">
            <a:extLst>
              <a:ext uri="{FF2B5EF4-FFF2-40B4-BE49-F238E27FC236}">
                <a16:creationId xmlns:a16="http://schemas.microsoft.com/office/drawing/2014/main" id="{E858E9A6-CEDB-6ED9-0421-7157C1F31E73}"/>
              </a:ext>
            </a:extLst>
          </p:cNvPr>
          <p:cNvSpPr txBox="1"/>
          <p:nvPr/>
        </p:nvSpPr>
        <p:spPr>
          <a:xfrm>
            <a:off x="3949587" y="5362944"/>
            <a:ext cx="254000" cy="111953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lang="zh-CN" altLang="en-US"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语义分析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68" name="object 12">
            <a:extLst>
              <a:ext uri="{FF2B5EF4-FFF2-40B4-BE49-F238E27FC236}">
                <a16:creationId xmlns:a16="http://schemas.microsoft.com/office/drawing/2014/main" id="{2C22809D-86D8-EAB0-97E9-74BABE070D6E}"/>
              </a:ext>
            </a:extLst>
          </p:cNvPr>
          <p:cNvSpPr/>
          <p:nvPr/>
        </p:nvSpPr>
        <p:spPr>
          <a:xfrm>
            <a:off x="4792346" y="5152929"/>
            <a:ext cx="1667264" cy="1520190"/>
          </a:xfrm>
          <a:custGeom>
            <a:avLst/>
            <a:gdLst/>
            <a:ahLst/>
            <a:cxnLst/>
            <a:rect l="l" t="t" r="r" b="b"/>
            <a:pathLst>
              <a:path w="2023110" h="2012314">
                <a:moveTo>
                  <a:pt x="0" y="0"/>
                </a:moveTo>
                <a:lnTo>
                  <a:pt x="2023111" y="0"/>
                </a:lnTo>
                <a:lnTo>
                  <a:pt x="2023111" y="2012219"/>
                </a:lnTo>
                <a:lnTo>
                  <a:pt x="0" y="2012219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9" name="object 12">
            <a:extLst>
              <a:ext uri="{FF2B5EF4-FFF2-40B4-BE49-F238E27FC236}">
                <a16:creationId xmlns:a16="http://schemas.microsoft.com/office/drawing/2014/main" id="{7D44410D-E415-0AD9-2E30-38C60FCFA8FD}"/>
              </a:ext>
            </a:extLst>
          </p:cNvPr>
          <p:cNvSpPr/>
          <p:nvPr/>
        </p:nvSpPr>
        <p:spPr>
          <a:xfrm>
            <a:off x="6872172" y="5152929"/>
            <a:ext cx="1963073" cy="1520190"/>
          </a:xfrm>
          <a:custGeom>
            <a:avLst/>
            <a:gdLst/>
            <a:ahLst/>
            <a:cxnLst/>
            <a:rect l="l" t="t" r="r" b="b"/>
            <a:pathLst>
              <a:path w="2023110" h="2012314">
                <a:moveTo>
                  <a:pt x="0" y="0"/>
                </a:moveTo>
                <a:lnTo>
                  <a:pt x="2023111" y="0"/>
                </a:lnTo>
                <a:lnTo>
                  <a:pt x="2023111" y="2012219"/>
                </a:lnTo>
                <a:lnTo>
                  <a:pt x="0" y="2012219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0" name="object 32">
            <a:extLst>
              <a:ext uri="{FF2B5EF4-FFF2-40B4-BE49-F238E27FC236}">
                <a16:creationId xmlns:a16="http://schemas.microsoft.com/office/drawing/2014/main" id="{8FB95F58-805D-E981-B0E4-28DBB128707F}"/>
              </a:ext>
            </a:extLst>
          </p:cNvPr>
          <p:cNvSpPr/>
          <p:nvPr/>
        </p:nvSpPr>
        <p:spPr>
          <a:xfrm>
            <a:off x="4391368" y="5873888"/>
            <a:ext cx="335280" cy="57150"/>
          </a:xfrm>
          <a:custGeom>
            <a:avLst/>
            <a:gdLst/>
            <a:ahLst/>
            <a:cxnLst/>
            <a:rect l="l" t="t" r="r" b="b"/>
            <a:pathLst>
              <a:path w="335279" h="57150">
                <a:moveTo>
                  <a:pt x="335191" y="28575"/>
                </a:moveTo>
                <a:lnTo>
                  <a:pt x="320903" y="21424"/>
                </a:lnTo>
                <a:lnTo>
                  <a:pt x="278041" y="0"/>
                </a:lnTo>
                <a:lnTo>
                  <a:pt x="278041" y="21424"/>
                </a:lnTo>
                <a:lnTo>
                  <a:pt x="0" y="21424"/>
                </a:lnTo>
                <a:lnTo>
                  <a:pt x="0" y="35712"/>
                </a:lnTo>
                <a:lnTo>
                  <a:pt x="278041" y="35712"/>
                </a:lnTo>
                <a:lnTo>
                  <a:pt x="278041" y="57150"/>
                </a:lnTo>
                <a:lnTo>
                  <a:pt x="320903" y="35712"/>
                </a:lnTo>
                <a:lnTo>
                  <a:pt x="335191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5" name="object 43">
            <a:extLst>
              <a:ext uri="{FF2B5EF4-FFF2-40B4-BE49-F238E27FC236}">
                <a16:creationId xmlns:a16="http://schemas.microsoft.com/office/drawing/2014/main" id="{7C188BB9-51D4-E1F0-067D-70BFA0D75628}"/>
              </a:ext>
            </a:extLst>
          </p:cNvPr>
          <p:cNvSpPr/>
          <p:nvPr/>
        </p:nvSpPr>
        <p:spPr>
          <a:xfrm>
            <a:off x="2262719" y="5097600"/>
            <a:ext cx="2483491" cy="1636395"/>
          </a:xfrm>
          <a:custGeom>
            <a:avLst/>
            <a:gdLst/>
            <a:ahLst/>
            <a:cxnLst/>
            <a:rect l="l" t="t" r="r" b="b"/>
            <a:pathLst>
              <a:path w="6177915" h="1636395">
                <a:moveTo>
                  <a:pt x="6177316" y="0"/>
                </a:moveTo>
                <a:lnTo>
                  <a:pt x="0" y="0"/>
                </a:lnTo>
                <a:lnTo>
                  <a:pt x="0" y="1636291"/>
                </a:lnTo>
                <a:lnTo>
                  <a:pt x="6177316" y="1636291"/>
                </a:lnTo>
                <a:lnTo>
                  <a:pt x="61773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1" name="object 32">
            <a:extLst>
              <a:ext uri="{FF2B5EF4-FFF2-40B4-BE49-F238E27FC236}">
                <a16:creationId xmlns:a16="http://schemas.microsoft.com/office/drawing/2014/main" id="{30B51E0F-B07B-6F58-0917-796BCE7D1188}"/>
              </a:ext>
            </a:extLst>
          </p:cNvPr>
          <p:cNvSpPr/>
          <p:nvPr/>
        </p:nvSpPr>
        <p:spPr>
          <a:xfrm>
            <a:off x="6493675" y="5868473"/>
            <a:ext cx="335280" cy="57150"/>
          </a:xfrm>
          <a:custGeom>
            <a:avLst/>
            <a:gdLst/>
            <a:ahLst/>
            <a:cxnLst/>
            <a:rect l="l" t="t" r="r" b="b"/>
            <a:pathLst>
              <a:path w="335279" h="57150">
                <a:moveTo>
                  <a:pt x="335191" y="28575"/>
                </a:moveTo>
                <a:lnTo>
                  <a:pt x="320903" y="21424"/>
                </a:lnTo>
                <a:lnTo>
                  <a:pt x="278041" y="0"/>
                </a:lnTo>
                <a:lnTo>
                  <a:pt x="278041" y="21424"/>
                </a:lnTo>
                <a:lnTo>
                  <a:pt x="0" y="21424"/>
                </a:lnTo>
                <a:lnTo>
                  <a:pt x="0" y="35712"/>
                </a:lnTo>
                <a:lnTo>
                  <a:pt x="278041" y="35712"/>
                </a:lnTo>
                <a:lnTo>
                  <a:pt x="278041" y="57150"/>
                </a:lnTo>
                <a:lnTo>
                  <a:pt x="320903" y="35712"/>
                </a:lnTo>
                <a:lnTo>
                  <a:pt x="335191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2" name="object 32">
            <a:extLst>
              <a:ext uri="{FF2B5EF4-FFF2-40B4-BE49-F238E27FC236}">
                <a16:creationId xmlns:a16="http://schemas.microsoft.com/office/drawing/2014/main" id="{CE5C7C0F-02C7-B115-47E4-C7D4D7D86E25}"/>
              </a:ext>
            </a:extLst>
          </p:cNvPr>
          <p:cNvSpPr/>
          <p:nvPr/>
        </p:nvSpPr>
        <p:spPr>
          <a:xfrm>
            <a:off x="7395814" y="5858278"/>
            <a:ext cx="239494" cy="45719"/>
          </a:xfrm>
          <a:custGeom>
            <a:avLst/>
            <a:gdLst/>
            <a:ahLst/>
            <a:cxnLst/>
            <a:rect l="l" t="t" r="r" b="b"/>
            <a:pathLst>
              <a:path w="335279" h="57150">
                <a:moveTo>
                  <a:pt x="335191" y="28575"/>
                </a:moveTo>
                <a:lnTo>
                  <a:pt x="320903" y="21424"/>
                </a:lnTo>
                <a:lnTo>
                  <a:pt x="278041" y="0"/>
                </a:lnTo>
                <a:lnTo>
                  <a:pt x="278041" y="21424"/>
                </a:lnTo>
                <a:lnTo>
                  <a:pt x="0" y="21424"/>
                </a:lnTo>
                <a:lnTo>
                  <a:pt x="0" y="35712"/>
                </a:lnTo>
                <a:lnTo>
                  <a:pt x="278041" y="35712"/>
                </a:lnTo>
                <a:lnTo>
                  <a:pt x="278041" y="57150"/>
                </a:lnTo>
                <a:lnTo>
                  <a:pt x="320903" y="35712"/>
                </a:lnTo>
                <a:lnTo>
                  <a:pt x="335191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3" name="object 32">
            <a:extLst>
              <a:ext uri="{FF2B5EF4-FFF2-40B4-BE49-F238E27FC236}">
                <a16:creationId xmlns:a16="http://schemas.microsoft.com/office/drawing/2014/main" id="{3997F617-9EED-D4D3-1036-055F40A03B4B}"/>
              </a:ext>
            </a:extLst>
          </p:cNvPr>
          <p:cNvSpPr/>
          <p:nvPr/>
        </p:nvSpPr>
        <p:spPr>
          <a:xfrm>
            <a:off x="8088654" y="5848225"/>
            <a:ext cx="222132" cy="45719"/>
          </a:xfrm>
          <a:custGeom>
            <a:avLst/>
            <a:gdLst/>
            <a:ahLst/>
            <a:cxnLst/>
            <a:rect l="l" t="t" r="r" b="b"/>
            <a:pathLst>
              <a:path w="335279" h="57150">
                <a:moveTo>
                  <a:pt x="335191" y="28575"/>
                </a:moveTo>
                <a:lnTo>
                  <a:pt x="320903" y="21424"/>
                </a:lnTo>
                <a:lnTo>
                  <a:pt x="278041" y="0"/>
                </a:lnTo>
                <a:lnTo>
                  <a:pt x="278041" y="21424"/>
                </a:lnTo>
                <a:lnTo>
                  <a:pt x="0" y="21424"/>
                </a:lnTo>
                <a:lnTo>
                  <a:pt x="0" y="35712"/>
                </a:lnTo>
                <a:lnTo>
                  <a:pt x="278041" y="35712"/>
                </a:lnTo>
                <a:lnTo>
                  <a:pt x="278041" y="57150"/>
                </a:lnTo>
                <a:lnTo>
                  <a:pt x="320903" y="35712"/>
                </a:lnTo>
                <a:lnTo>
                  <a:pt x="335191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4" name="object 43">
            <a:extLst>
              <a:ext uri="{FF2B5EF4-FFF2-40B4-BE49-F238E27FC236}">
                <a16:creationId xmlns:a16="http://schemas.microsoft.com/office/drawing/2014/main" id="{229615C1-DFB5-B041-700F-782721DC072C}"/>
              </a:ext>
            </a:extLst>
          </p:cNvPr>
          <p:cNvSpPr/>
          <p:nvPr/>
        </p:nvSpPr>
        <p:spPr>
          <a:xfrm>
            <a:off x="5558082" y="5096164"/>
            <a:ext cx="3452685" cy="1636395"/>
          </a:xfrm>
          <a:custGeom>
            <a:avLst/>
            <a:gdLst/>
            <a:ahLst/>
            <a:cxnLst/>
            <a:rect l="l" t="t" r="r" b="b"/>
            <a:pathLst>
              <a:path w="6177915" h="1636395">
                <a:moveTo>
                  <a:pt x="6177316" y="0"/>
                </a:moveTo>
                <a:lnTo>
                  <a:pt x="0" y="0"/>
                </a:lnTo>
                <a:lnTo>
                  <a:pt x="0" y="1636291"/>
                </a:lnTo>
                <a:lnTo>
                  <a:pt x="6177316" y="1636291"/>
                </a:lnTo>
                <a:lnTo>
                  <a:pt x="6177316" y="0"/>
                </a:lnTo>
                <a:close/>
              </a:path>
            </a:pathLst>
          </a:custGeom>
          <a:solidFill>
            <a:srgbClr val="FFFFFF">
              <a:alpha val="748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78" name="object 5">
            <a:extLst>
              <a:ext uri="{FF2B5EF4-FFF2-40B4-BE49-F238E27FC236}">
                <a16:creationId xmlns:a16="http://schemas.microsoft.com/office/drawing/2014/main" id="{D91B8345-58A7-149C-07E8-EE4129A4A44B}"/>
              </a:ext>
            </a:extLst>
          </p:cNvPr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98967" y="1734066"/>
            <a:ext cx="3744952" cy="462337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302498" y="2843214"/>
            <a:ext cx="457200" cy="127000"/>
            <a:chOff x="3980347" y="2985993"/>
            <a:chExt cx="457200" cy="127000"/>
          </a:xfrm>
        </p:grpSpPr>
        <p:pic>
          <p:nvPicPr>
            <p:cNvPr id="5" name="object 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310547" y="3011393"/>
              <a:ext cx="127000" cy="1016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980345" y="2985998"/>
              <a:ext cx="381000" cy="76200"/>
            </a:xfrm>
            <a:custGeom>
              <a:avLst/>
              <a:gdLst/>
              <a:ahLst/>
              <a:cxnLst/>
              <a:rect l="l" t="t" r="r" b="b"/>
              <a:pathLst>
                <a:path w="381000" h="76200">
                  <a:moveTo>
                    <a:pt x="381000" y="25400"/>
                  </a:moveTo>
                  <a:lnTo>
                    <a:pt x="330200" y="0"/>
                  </a:lnTo>
                  <a:lnTo>
                    <a:pt x="370649" y="50571"/>
                  </a:lnTo>
                  <a:lnTo>
                    <a:pt x="0" y="50571"/>
                  </a:lnTo>
                  <a:lnTo>
                    <a:pt x="0" y="63271"/>
                  </a:lnTo>
                  <a:lnTo>
                    <a:pt x="0" y="75971"/>
                  </a:lnTo>
                  <a:lnTo>
                    <a:pt x="376097" y="75971"/>
                  </a:lnTo>
                  <a:lnTo>
                    <a:pt x="376097" y="63271"/>
                  </a:lnTo>
                  <a:lnTo>
                    <a:pt x="375742" y="63271"/>
                  </a:lnTo>
                  <a:lnTo>
                    <a:pt x="375742" y="56934"/>
                  </a:lnTo>
                  <a:lnTo>
                    <a:pt x="381000" y="63500"/>
                  </a:lnTo>
                  <a:lnTo>
                    <a:pt x="381000" y="50927"/>
                  </a:lnTo>
                  <a:lnTo>
                    <a:pt x="381000" y="25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9" name="object 6">
            <a:extLst>
              <a:ext uri="{FF2B5EF4-FFF2-40B4-BE49-F238E27FC236}">
                <a16:creationId xmlns:a16="http://schemas.microsoft.com/office/drawing/2014/main" id="{A709809B-0B4B-C835-2DE5-EF32E25B9EE7}"/>
              </a:ext>
            </a:extLst>
          </p:cNvPr>
          <p:cNvSpPr txBox="1"/>
          <p:nvPr/>
        </p:nvSpPr>
        <p:spPr>
          <a:xfrm>
            <a:off x="1673770" y="1726462"/>
            <a:ext cx="314325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0" lvl="0" indent="0" algn="ctr" defTabSz="914400" eaLnBrk="1" fontAlgn="auto" latinLnBrk="0" hangingPunct="1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=</a:t>
            </a:r>
            <a:endParaRPr kumimoji="0" sz="2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80" name="object 13">
            <a:extLst>
              <a:ext uri="{FF2B5EF4-FFF2-40B4-BE49-F238E27FC236}">
                <a16:creationId xmlns:a16="http://schemas.microsoft.com/office/drawing/2014/main" id="{EE718D36-7C3F-0CCA-D028-343E6188550E}"/>
              </a:ext>
            </a:extLst>
          </p:cNvPr>
          <p:cNvSpPr txBox="1"/>
          <p:nvPr/>
        </p:nvSpPr>
        <p:spPr>
          <a:xfrm>
            <a:off x="841665" y="4851179"/>
            <a:ext cx="212090" cy="1238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30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endParaRPr kumimoji="0" sz="2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5080" lvl="0" indent="0" defTabSz="914400" eaLnBrk="1" fontAlgn="auto" latinLnBrk="0" hangingPunct="1">
              <a:lnSpc>
                <a:spcPct val="105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 b</a:t>
            </a:r>
            <a:endParaRPr kumimoji="0" sz="2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81" name="object 14">
            <a:extLst>
              <a:ext uri="{FF2B5EF4-FFF2-40B4-BE49-F238E27FC236}">
                <a16:creationId xmlns:a16="http://schemas.microsoft.com/office/drawing/2014/main" id="{31B57E37-101B-DDED-44A8-74235329386B}"/>
              </a:ext>
            </a:extLst>
          </p:cNvPr>
          <p:cNvSpPr txBox="1"/>
          <p:nvPr/>
        </p:nvSpPr>
        <p:spPr>
          <a:xfrm>
            <a:off x="1637956" y="4851179"/>
            <a:ext cx="381000" cy="1238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30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int</a:t>
            </a:r>
            <a:endParaRPr kumimoji="0" sz="2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5080" lvl="0" indent="0" defTabSz="914400" eaLnBrk="1" fontAlgn="auto" latinLnBrk="0" hangingPunct="1">
              <a:lnSpc>
                <a:spcPct val="105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int int</a:t>
            </a:r>
            <a:endParaRPr kumimoji="0" sz="2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82" name="object 7">
            <a:extLst>
              <a:ext uri="{FF2B5EF4-FFF2-40B4-BE49-F238E27FC236}">
                <a16:creationId xmlns:a16="http://schemas.microsoft.com/office/drawing/2014/main" id="{7EB9DEB5-4AC4-FAD8-761B-067EFC55CD73}"/>
              </a:ext>
            </a:extLst>
          </p:cNvPr>
          <p:cNvSpPr txBox="1"/>
          <p:nvPr/>
        </p:nvSpPr>
        <p:spPr>
          <a:xfrm>
            <a:off x="1586139" y="3109492"/>
            <a:ext cx="156210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Arial"/>
                <a:cs typeface="Arial"/>
              </a:rPr>
              <a:t>*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83" name="object 8">
            <a:extLst>
              <a:ext uri="{FF2B5EF4-FFF2-40B4-BE49-F238E27FC236}">
                <a16:creationId xmlns:a16="http://schemas.microsoft.com/office/drawing/2014/main" id="{FF4A67FA-55F6-5E08-FE49-E89F3C0FE871}"/>
              </a:ext>
            </a:extLst>
          </p:cNvPr>
          <p:cNvSpPr txBox="1"/>
          <p:nvPr/>
        </p:nvSpPr>
        <p:spPr>
          <a:xfrm>
            <a:off x="2927260" y="3109492"/>
            <a:ext cx="156210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*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84" name="object 9">
            <a:extLst>
              <a:ext uri="{FF2B5EF4-FFF2-40B4-BE49-F238E27FC236}">
                <a16:creationId xmlns:a16="http://schemas.microsoft.com/office/drawing/2014/main" id="{E9261D69-B9AC-1D16-7C33-9C6AD6D3A31A}"/>
              </a:ext>
            </a:extLst>
          </p:cNvPr>
          <p:cNvSpPr txBox="1"/>
          <p:nvPr/>
        </p:nvSpPr>
        <p:spPr>
          <a:xfrm>
            <a:off x="3430180" y="3863872"/>
            <a:ext cx="156210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*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85" name="object 10">
            <a:extLst>
              <a:ext uri="{FF2B5EF4-FFF2-40B4-BE49-F238E27FC236}">
                <a16:creationId xmlns:a16="http://schemas.microsoft.com/office/drawing/2014/main" id="{03DC3784-DBCC-46C2-C0B4-B77A62225601}"/>
              </a:ext>
            </a:extLst>
          </p:cNvPr>
          <p:cNvSpPr txBox="1"/>
          <p:nvPr/>
        </p:nvSpPr>
        <p:spPr>
          <a:xfrm>
            <a:off x="1315630" y="2355112"/>
            <a:ext cx="1045210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Tx/>
              <a:buSzTx/>
              <a:buFontTx/>
              <a:buNone/>
              <a:tabLst>
                <a:tab pos="836294" algn="l"/>
              </a:tabLst>
              <a:defRPr/>
            </a:pP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	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+</a:t>
            </a:r>
            <a:endParaRPr kumimoji="0" sz="2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86" name="object 11">
            <a:extLst>
              <a:ext uri="{FF2B5EF4-FFF2-40B4-BE49-F238E27FC236}">
                <a16:creationId xmlns:a16="http://schemas.microsoft.com/office/drawing/2014/main" id="{44D6FE0C-BC8D-A484-6F08-ECA060BAA3A9}"/>
              </a:ext>
            </a:extLst>
          </p:cNvPr>
          <p:cNvSpPr txBox="1"/>
          <p:nvPr/>
        </p:nvSpPr>
        <p:spPr>
          <a:xfrm>
            <a:off x="1222665" y="3863872"/>
            <a:ext cx="1553210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Tx/>
              <a:buSzTx/>
              <a:buFontTx/>
              <a:buNone/>
              <a:tabLst>
                <a:tab pos="766445" algn="l"/>
                <a:tab pos="1353185" algn="l"/>
              </a:tabLst>
              <a:defRPr/>
            </a:pP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	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2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	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b</a:t>
            </a:r>
            <a:endParaRPr kumimoji="0" sz="2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87" name="object 12">
            <a:extLst>
              <a:ext uri="{FF2B5EF4-FFF2-40B4-BE49-F238E27FC236}">
                <a16:creationId xmlns:a16="http://schemas.microsoft.com/office/drawing/2014/main" id="{91BB90F5-3211-4069-4EB4-984DE08D7C73}"/>
              </a:ext>
            </a:extLst>
          </p:cNvPr>
          <p:cNvSpPr txBox="1"/>
          <p:nvPr/>
        </p:nvSpPr>
        <p:spPr>
          <a:xfrm>
            <a:off x="3075849" y="4534433"/>
            <a:ext cx="957580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Tx/>
              <a:buSzTx/>
              <a:buFontTx/>
              <a:buNone/>
              <a:tabLst>
                <a:tab pos="757555" algn="l"/>
              </a:tabLst>
              <a:defRPr/>
            </a:pP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cs typeface="Arial"/>
              </a:rPr>
              <a:t>	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59003"/>
            <a:ext cx="412689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 err="1"/>
              <a:t>优化</a:t>
            </a:r>
            <a:r>
              <a:rPr lang="zh-CN" altLang="en-US" spc="-20" dirty="0">
                <a:latin typeface="Microsoft YaHei" panose="020B0503020204020204" pitchFamily="34" charset="-122"/>
                <a:ea typeface="Microsoft YaHei" panose="020B0503020204020204" pitchFamily="34" charset="-122"/>
                <a:cs typeface="Segoe UI"/>
              </a:rPr>
              <a:t>（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基于中间表示</a:t>
            </a:r>
            <a:r>
              <a:rPr lang="zh-CN" altLang="en-US" spc="-20" dirty="0">
                <a:latin typeface="Microsoft YaHei" panose="020B0503020204020204" pitchFamily="34" charset="-122"/>
                <a:ea typeface="Microsoft YaHei" panose="020B0503020204020204" pitchFamily="34" charset="-122"/>
                <a:cs typeface="Segoe UI"/>
              </a:rPr>
              <a:t>）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051935" y="3092540"/>
            <a:ext cx="1777364" cy="514738"/>
          </a:xfrm>
          <a:prstGeom prst="rect">
            <a:avLst/>
          </a:prstGeom>
          <a:ln w="25146">
            <a:solidFill>
              <a:srgbClr val="000000"/>
            </a:solidFill>
          </a:ln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9525" marR="0" lvl="0" algn="ctr" defTabSz="914400" eaLnBrk="1" fontAlgn="auto" latinLnBrk="0" hangingPunct="1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400" b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代码优化器</a:t>
            </a:r>
            <a:endParaRPr kumimoji="0" sz="2400" b="1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474128" y="3311804"/>
            <a:ext cx="457200" cy="127000"/>
            <a:chOff x="3474128" y="2974614"/>
            <a:chExt cx="457200" cy="1270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04328" y="3000014"/>
              <a:ext cx="127000" cy="1016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474123" y="2974619"/>
              <a:ext cx="381000" cy="76200"/>
            </a:xfrm>
            <a:custGeom>
              <a:avLst/>
              <a:gdLst/>
              <a:ahLst/>
              <a:cxnLst/>
              <a:rect l="l" t="t" r="r" b="b"/>
              <a:pathLst>
                <a:path w="381000" h="76200">
                  <a:moveTo>
                    <a:pt x="381000" y="25400"/>
                  </a:moveTo>
                  <a:lnTo>
                    <a:pt x="330200" y="0"/>
                  </a:lnTo>
                  <a:lnTo>
                    <a:pt x="370611" y="50520"/>
                  </a:lnTo>
                  <a:lnTo>
                    <a:pt x="0" y="50520"/>
                  </a:lnTo>
                  <a:lnTo>
                    <a:pt x="0" y="63220"/>
                  </a:lnTo>
                  <a:lnTo>
                    <a:pt x="0" y="75920"/>
                  </a:lnTo>
                  <a:lnTo>
                    <a:pt x="376135" y="75920"/>
                  </a:lnTo>
                  <a:lnTo>
                    <a:pt x="376135" y="63220"/>
                  </a:lnTo>
                  <a:lnTo>
                    <a:pt x="375704" y="63220"/>
                  </a:lnTo>
                  <a:lnTo>
                    <a:pt x="375704" y="56883"/>
                  </a:lnTo>
                  <a:lnTo>
                    <a:pt x="381000" y="63500"/>
                  </a:lnTo>
                  <a:lnTo>
                    <a:pt x="381000" y="50927"/>
                  </a:lnTo>
                  <a:lnTo>
                    <a:pt x="381000" y="25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11559" y="1207515"/>
            <a:ext cx="8201585" cy="979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0" lvl="0" indent="-342265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1200"/>
              </a:spcAft>
              <a:buClrTx/>
              <a:buSzTx/>
              <a:buFont typeface="Arial"/>
              <a:buChar char="•"/>
              <a:tabLst>
                <a:tab pos="354965" algn="l"/>
              </a:tabLst>
              <a:defRPr/>
            </a:pPr>
            <a:r>
              <a:rPr kumimoji="0" sz="2800" b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基于中间表示进行</a:t>
            </a:r>
            <a:r>
              <a:rPr kumimoji="0" sz="2800" b="1" u="none" strike="noStrike" kern="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分析</a:t>
            </a:r>
            <a:r>
              <a:rPr kumimoji="0" sz="2800" b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与</a:t>
            </a:r>
            <a:r>
              <a:rPr kumimoji="0" sz="2800" b="1" u="none" strike="noStrike" kern="0" cap="none" spc="-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变换</a:t>
            </a:r>
            <a:endParaRPr kumimoji="0" sz="2800" b="1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  <a:p>
            <a:pPr marL="812165" marR="0" lvl="1" indent="-342265" defTabSz="91440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812165" algn="l"/>
              </a:tabLst>
              <a:defRPr/>
            </a:pPr>
            <a:r>
              <a:rPr kumimoji="0" sz="240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降低执行时间，减少资源消耗等</a:t>
            </a:r>
            <a:endParaRPr kumimoji="0" sz="240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5948723" y="3317171"/>
            <a:ext cx="457200" cy="127000"/>
            <a:chOff x="5948723" y="2979981"/>
            <a:chExt cx="457200" cy="127000"/>
          </a:xfrm>
        </p:grpSpPr>
        <p:pic>
          <p:nvPicPr>
            <p:cNvPr id="47" name="object 4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78923" y="3005381"/>
              <a:ext cx="127000" cy="101600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5948718" y="2979991"/>
              <a:ext cx="381000" cy="76200"/>
            </a:xfrm>
            <a:custGeom>
              <a:avLst/>
              <a:gdLst/>
              <a:ahLst/>
              <a:cxnLst/>
              <a:rect l="l" t="t" r="r" b="b"/>
              <a:pathLst>
                <a:path w="381000" h="76200">
                  <a:moveTo>
                    <a:pt x="381000" y="25400"/>
                  </a:moveTo>
                  <a:lnTo>
                    <a:pt x="330200" y="0"/>
                  </a:lnTo>
                  <a:lnTo>
                    <a:pt x="370941" y="50927"/>
                  </a:lnTo>
                  <a:lnTo>
                    <a:pt x="371398" y="51498"/>
                  </a:lnTo>
                  <a:lnTo>
                    <a:pt x="0" y="51498"/>
                  </a:lnTo>
                  <a:lnTo>
                    <a:pt x="0" y="62928"/>
                  </a:lnTo>
                  <a:lnTo>
                    <a:pt x="0" y="75628"/>
                  </a:lnTo>
                  <a:lnTo>
                    <a:pt x="376364" y="75628"/>
                  </a:lnTo>
                  <a:lnTo>
                    <a:pt x="376364" y="62928"/>
                  </a:lnTo>
                  <a:lnTo>
                    <a:pt x="375970" y="62928"/>
                  </a:lnTo>
                  <a:lnTo>
                    <a:pt x="375970" y="57213"/>
                  </a:lnTo>
                  <a:lnTo>
                    <a:pt x="381000" y="63500"/>
                  </a:lnTo>
                  <a:lnTo>
                    <a:pt x="381000" y="50927"/>
                  </a:lnTo>
                  <a:lnTo>
                    <a:pt x="381000" y="25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1" name="object 7">
            <a:extLst>
              <a:ext uri="{FF2B5EF4-FFF2-40B4-BE49-F238E27FC236}">
                <a16:creationId xmlns:a16="http://schemas.microsoft.com/office/drawing/2014/main" id="{BF3757BD-2116-4E3C-1D66-91BAB8DA8E6F}"/>
              </a:ext>
            </a:extLst>
          </p:cNvPr>
          <p:cNvSpPr txBox="1"/>
          <p:nvPr/>
        </p:nvSpPr>
        <p:spPr>
          <a:xfrm>
            <a:off x="1218141" y="2551609"/>
            <a:ext cx="2298700" cy="23612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-3175" defTabSz="914400" eaLnBrk="1" fontAlgn="auto" latinLnBrk="0" hangingPunct="1">
              <a:lnSpc>
                <a:spcPts val="3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t1</a:t>
            </a:r>
            <a:r>
              <a:rPr kumimoji="0" sz="24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 x * 3</a:t>
            </a:r>
          </a:p>
          <a:p>
            <a:pPr marL="12700" marR="5080" lvl="0" indent="-3175" defTabSz="914400" eaLnBrk="1" fontAlgn="auto" latinLnBrk="0" hangingPunct="1">
              <a:lnSpc>
                <a:spcPts val="3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t2 = t1 * b</a:t>
            </a:r>
          </a:p>
          <a:p>
            <a:pPr marL="12700" marR="5080" lvl="0" indent="-3175" defTabSz="914400" eaLnBrk="1" fontAlgn="auto" latinLnBrk="0" hangingPunct="1">
              <a:lnSpc>
                <a:spcPts val="3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t3 = a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* 2</a:t>
            </a:r>
          </a:p>
          <a:p>
            <a:pPr marL="12700" marR="5080" lvl="0" indent="-3175" defTabSz="914400" eaLnBrk="1" fontAlgn="auto" latinLnBrk="0" hangingPunct="1">
              <a:lnSpc>
                <a:spcPts val="3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t4 = t2 + t3</a:t>
            </a:r>
          </a:p>
          <a:p>
            <a:pPr marL="12700" marR="5080" lvl="0" indent="-3175" defTabSz="914400" eaLnBrk="1" fontAlgn="auto" latinLnBrk="0" hangingPunct="1">
              <a:lnSpc>
                <a:spcPts val="3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  = t4</a:t>
            </a:r>
          </a:p>
          <a:p>
            <a:pPr marL="12700" marR="5080" lvl="0" indent="-3175" defTabSz="914400" eaLnBrk="1" fontAlgn="auto" latinLnBrk="0" hangingPunct="1">
              <a:lnSpc>
                <a:spcPts val="3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52" name="object 7">
            <a:extLst>
              <a:ext uri="{FF2B5EF4-FFF2-40B4-BE49-F238E27FC236}">
                <a16:creationId xmlns:a16="http://schemas.microsoft.com/office/drawing/2014/main" id="{EB77FF98-790F-0DCD-ADF4-0638DB2FC43D}"/>
              </a:ext>
            </a:extLst>
          </p:cNvPr>
          <p:cNvSpPr txBox="1"/>
          <p:nvPr/>
        </p:nvSpPr>
        <p:spPr>
          <a:xfrm>
            <a:off x="6514445" y="2489873"/>
            <a:ext cx="2298700" cy="19636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-3175" defTabSz="914400" eaLnBrk="1" fontAlgn="auto" latinLnBrk="0" hangingPunct="1">
              <a:lnSpc>
                <a:spcPts val="3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t1</a:t>
            </a:r>
            <a:r>
              <a:rPr kumimoji="0" sz="24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 x * 3</a:t>
            </a:r>
          </a:p>
          <a:p>
            <a:pPr marL="12700" marR="5080" lvl="0" indent="-3175" defTabSz="914400" eaLnBrk="1" fontAlgn="auto" latinLnBrk="0" hangingPunct="1">
              <a:lnSpc>
                <a:spcPts val="3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t2 = t1 * b</a:t>
            </a:r>
          </a:p>
          <a:p>
            <a:pPr marL="12700" marR="5080" lvl="0" indent="-3175" defTabSz="914400" eaLnBrk="1" fontAlgn="auto" latinLnBrk="0" hangingPunct="1">
              <a:lnSpc>
                <a:spcPts val="3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t3 = a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&lt;&lt; 1</a:t>
            </a:r>
          </a:p>
          <a:p>
            <a:pPr marL="12700" marR="5080" lvl="0" indent="-3175" defTabSz="914400" eaLnBrk="1" fontAlgn="auto" latinLnBrk="0" hangingPunct="1">
              <a:lnSpc>
                <a:spcPts val="3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  = t2 + t3</a:t>
            </a:r>
          </a:p>
          <a:p>
            <a:pPr marL="12700" marR="5080" lvl="0" indent="-3175" defTabSz="914400" eaLnBrk="1" fontAlgn="auto" latinLnBrk="0" hangingPunct="1">
              <a:lnSpc>
                <a:spcPts val="3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pic>
        <p:nvPicPr>
          <p:cNvPr id="7" name="object 4">
            <a:extLst>
              <a:ext uri="{FF2B5EF4-FFF2-40B4-BE49-F238E27FC236}">
                <a16:creationId xmlns:a16="http://schemas.microsoft.com/office/drawing/2014/main" id="{0BC8E713-BDB1-18B2-3710-47F2783453E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06377" y="5206864"/>
            <a:ext cx="431999" cy="1417129"/>
          </a:xfrm>
          <a:prstGeom prst="rect">
            <a:avLst/>
          </a:prstGeom>
        </p:spPr>
      </p:pic>
      <p:sp>
        <p:nvSpPr>
          <p:cNvPr id="8" name="object 8">
            <a:extLst>
              <a:ext uri="{FF2B5EF4-FFF2-40B4-BE49-F238E27FC236}">
                <a16:creationId xmlns:a16="http://schemas.microsoft.com/office/drawing/2014/main" id="{1305EF3E-62A6-62B6-76F2-93E22DA7BC6B}"/>
              </a:ext>
            </a:extLst>
          </p:cNvPr>
          <p:cNvSpPr txBox="1"/>
          <p:nvPr/>
        </p:nvSpPr>
        <p:spPr>
          <a:xfrm>
            <a:off x="1495763" y="5339677"/>
            <a:ext cx="254000" cy="1125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词法分析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grpSp>
        <p:nvGrpSpPr>
          <p:cNvPr id="9" name="object 9">
            <a:extLst>
              <a:ext uri="{FF2B5EF4-FFF2-40B4-BE49-F238E27FC236}">
                <a16:creationId xmlns:a16="http://schemas.microsoft.com/office/drawing/2014/main" id="{6DF21258-86C9-45C1-21CA-8E2BF1B58371}"/>
              </a:ext>
            </a:extLst>
          </p:cNvPr>
          <p:cNvGrpSpPr/>
          <p:nvPr/>
        </p:nvGrpSpPr>
        <p:grpSpPr>
          <a:xfrm>
            <a:off x="2086233" y="5208497"/>
            <a:ext cx="2282681" cy="1423253"/>
            <a:chOff x="2087999" y="1700160"/>
            <a:chExt cx="2282681" cy="1423253"/>
          </a:xfrm>
        </p:grpSpPr>
        <p:pic>
          <p:nvPicPr>
            <p:cNvPr id="53" name="object 10">
              <a:extLst>
                <a:ext uri="{FF2B5EF4-FFF2-40B4-BE49-F238E27FC236}">
                  <a16:creationId xmlns:a16="http://schemas.microsoft.com/office/drawing/2014/main" id="{28AC5C41-FAE3-E533-F2EB-2C1CF969A85E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87999" y="1716656"/>
              <a:ext cx="432000" cy="1400633"/>
            </a:xfrm>
            <a:prstGeom prst="rect">
              <a:avLst/>
            </a:prstGeom>
          </p:spPr>
        </p:pic>
        <p:pic>
          <p:nvPicPr>
            <p:cNvPr id="54" name="object 11">
              <a:extLst>
                <a:ext uri="{FF2B5EF4-FFF2-40B4-BE49-F238E27FC236}">
                  <a16:creationId xmlns:a16="http://schemas.microsoft.com/office/drawing/2014/main" id="{2608DFCF-2059-D82D-8E3A-28EED973E6C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71800" y="1700160"/>
              <a:ext cx="431999" cy="1417129"/>
            </a:xfrm>
            <a:prstGeom prst="rect">
              <a:avLst/>
            </a:prstGeom>
          </p:spPr>
        </p:pic>
        <p:pic>
          <p:nvPicPr>
            <p:cNvPr id="55" name="object 13">
              <a:extLst>
                <a:ext uri="{FF2B5EF4-FFF2-40B4-BE49-F238E27FC236}">
                  <a16:creationId xmlns:a16="http://schemas.microsoft.com/office/drawing/2014/main" id="{C3264946-BBB7-36FD-BD03-E134C785F026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94681" y="1706285"/>
              <a:ext cx="575999" cy="1417128"/>
            </a:xfrm>
            <a:prstGeom prst="rect">
              <a:avLst/>
            </a:prstGeom>
          </p:spPr>
        </p:pic>
      </p:grpSp>
      <p:sp>
        <p:nvSpPr>
          <p:cNvPr id="56" name="object 14">
            <a:extLst>
              <a:ext uri="{FF2B5EF4-FFF2-40B4-BE49-F238E27FC236}">
                <a16:creationId xmlns:a16="http://schemas.microsoft.com/office/drawing/2014/main" id="{27FB0B7A-12A8-8104-67D2-F7953F7A82B4}"/>
              </a:ext>
            </a:extLst>
          </p:cNvPr>
          <p:cNvSpPr txBox="1"/>
          <p:nvPr/>
        </p:nvSpPr>
        <p:spPr>
          <a:xfrm>
            <a:off x="3831288" y="5461596"/>
            <a:ext cx="491490" cy="85788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algn="just">
              <a:lnSpc>
                <a:spcPct val="101699"/>
              </a:lnSpc>
              <a:spcBef>
                <a:spcPts val="60"/>
              </a:spcBef>
            </a:pPr>
            <a:r>
              <a:rPr sz="1800" b="1" spc="5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中间</a:t>
            </a:r>
            <a:r>
              <a:rPr sz="1800" b="1" spc="-25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代码</a:t>
            </a:r>
            <a:r>
              <a:rPr sz="1800" b="1" spc="-3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生成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pic>
        <p:nvPicPr>
          <p:cNvPr id="57" name="object 15">
            <a:extLst>
              <a:ext uri="{FF2B5EF4-FFF2-40B4-BE49-F238E27FC236}">
                <a16:creationId xmlns:a16="http://schemas.microsoft.com/office/drawing/2014/main" id="{C7DC5BC8-B334-BE00-4E35-F4CB9C64C367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22153" y="5214622"/>
            <a:ext cx="575999" cy="1404569"/>
          </a:xfrm>
          <a:prstGeom prst="rect">
            <a:avLst/>
          </a:prstGeom>
        </p:spPr>
      </p:pic>
      <p:grpSp>
        <p:nvGrpSpPr>
          <p:cNvPr id="58" name="object 21">
            <a:extLst>
              <a:ext uri="{FF2B5EF4-FFF2-40B4-BE49-F238E27FC236}">
                <a16:creationId xmlns:a16="http://schemas.microsoft.com/office/drawing/2014/main" id="{ADCED622-DAF9-D4C8-8D42-7A63F1222F49}"/>
              </a:ext>
            </a:extLst>
          </p:cNvPr>
          <p:cNvGrpSpPr/>
          <p:nvPr/>
        </p:nvGrpSpPr>
        <p:grpSpPr>
          <a:xfrm>
            <a:off x="5858604" y="5206862"/>
            <a:ext cx="1808480" cy="1412875"/>
            <a:chOff x="5860370" y="1698525"/>
            <a:chExt cx="1808480" cy="1412875"/>
          </a:xfrm>
        </p:grpSpPr>
        <p:pic>
          <p:nvPicPr>
            <p:cNvPr id="59" name="object 22">
              <a:extLst>
                <a:ext uri="{FF2B5EF4-FFF2-40B4-BE49-F238E27FC236}">
                  <a16:creationId xmlns:a16="http://schemas.microsoft.com/office/drawing/2014/main" id="{8D7AC48B-1D60-DBB0-DE2A-7CF6630E350C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60370" y="1698527"/>
              <a:ext cx="432000" cy="1412326"/>
            </a:xfrm>
            <a:prstGeom prst="rect">
              <a:avLst/>
            </a:prstGeom>
          </p:spPr>
        </p:pic>
        <p:pic>
          <p:nvPicPr>
            <p:cNvPr id="60" name="object 23">
              <a:extLst>
                <a:ext uri="{FF2B5EF4-FFF2-40B4-BE49-F238E27FC236}">
                  <a16:creationId xmlns:a16="http://schemas.microsoft.com/office/drawing/2014/main" id="{C243FB01-07B4-F2FD-DCF1-90106BD16143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36344" y="1698525"/>
              <a:ext cx="431999" cy="1412327"/>
            </a:xfrm>
            <a:prstGeom prst="rect">
              <a:avLst/>
            </a:prstGeom>
          </p:spPr>
        </p:pic>
      </p:grpSp>
      <p:pic>
        <p:nvPicPr>
          <p:cNvPr id="61" name="object 26">
            <a:extLst>
              <a:ext uri="{FF2B5EF4-FFF2-40B4-BE49-F238E27FC236}">
                <a16:creationId xmlns:a16="http://schemas.microsoft.com/office/drawing/2014/main" id="{8B2FCDBB-9B9E-7A33-4A7E-B43D58890508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558116" y="5206862"/>
            <a:ext cx="432000" cy="1418763"/>
          </a:xfrm>
          <a:prstGeom prst="rect">
            <a:avLst/>
          </a:prstGeom>
        </p:spPr>
      </p:pic>
      <p:grpSp>
        <p:nvGrpSpPr>
          <p:cNvPr id="62" name="object 38">
            <a:extLst>
              <a:ext uri="{FF2B5EF4-FFF2-40B4-BE49-F238E27FC236}">
                <a16:creationId xmlns:a16="http://schemas.microsoft.com/office/drawing/2014/main" id="{4FF67B29-4448-DF69-887A-206B5580B2AC}"/>
              </a:ext>
            </a:extLst>
          </p:cNvPr>
          <p:cNvGrpSpPr/>
          <p:nvPr/>
        </p:nvGrpSpPr>
        <p:grpSpPr>
          <a:xfrm>
            <a:off x="1825830" y="5855876"/>
            <a:ext cx="963852" cy="70711"/>
            <a:chOff x="1827596" y="2347539"/>
            <a:chExt cx="963852" cy="70711"/>
          </a:xfrm>
        </p:grpSpPr>
        <p:pic>
          <p:nvPicPr>
            <p:cNvPr id="63" name="object 39">
              <a:extLst>
                <a:ext uri="{FF2B5EF4-FFF2-40B4-BE49-F238E27FC236}">
                  <a16:creationId xmlns:a16="http://schemas.microsoft.com/office/drawing/2014/main" id="{DDA50A1F-70A1-9F77-251E-7778FA0FDC54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504413" y="2347539"/>
              <a:ext cx="287035" cy="70711"/>
            </a:xfrm>
            <a:prstGeom prst="rect">
              <a:avLst/>
            </a:prstGeom>
          </p:spPr>
        </p:pic>
        <p:pic>
          <p:nvPicPr>
            <p:cNvPr id="64" name="object 40">
              <a:extLst>
                <a:ext uri="{FF2B5EF4-FFF2-40B4-BE49-F238E27FC236}">
                  <a16:creationId xmlns:a16="http://schemas.microsoft.com/office/drawing/2014/main" id="{DF16D16E-2090-1504-3E79-861532B23A62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27596" y="2347539"/>
              <a:ext cx="287033" cy="70711"/>
            </a:xfrm>
            <a:prstGeom prst="rect">
              <a:avLst/>
            </a:prstGeom>
          </p:spPr>
        </p:pic>
      </p:grpSp>
      <p:sp>
        <p:nvSpPr>
          <p:cNvPr id="65" name="object 32">
            <a:extLst>
              <a:ext uri="{FF2B5EF4-FFF2-40B4-BE49-F238E27FC236}">
                <a16:creationId xmlns:a16="http://schemas.microsoft.com/office/drawing/2014/main" id="{7C3D2C69-4C9E-4A94-8826-4B62EEFE7CEA}"/>
              </a:ext>
            </a:extLst>
          </p:cNvPr>
          <p:cNvSpPr/>
          <p:nvPr/>
        </p:nvSpPr>
        <p:spPr>
          <a:xfrm>
            <a:off x="4387156" y="5858278"/>
            <a:ext cx="335280" cy="57150"/>
          </a:xfrm>
          <a:custGeom>
            <a:avLst/>
            <a:gdLst/>
            <a:ahLst/>
            <a:cxnLst/>
            <a:rect l="l" t="t" r="r" b="b"/>
            <a:pathLst>
              <a:path w="335279" h="57150">
                <a:moveTo>
                  <a:pt x="335191" y="28575"/>
                </a:moveTo>
                <a:lnTo>
                  <a:pt x="320903" y="21424"/>
                </a:lnTo>
                <a:lnTo>
                  <a:pt x="278041" y="0"/>
                </a:lnTo>
                <a:lnTo>
                  <a:pt x="278041" y="21424"/>
                </a:lnTo>
                <a:lnTo>
                  <a:pt x="0" y="21424"/>
                </a:lnTo>
                <a:lnTo>
                  <a:pt x="0" y="35712"/>
                </a:lnTo>
                <a:lnTo>
                  <a:pt x="278041" y="35712"/>
                </a:lnTo>
                <a:lnTo>
                  <a:pt x="278041" y="57150"/>
                </a:lnTo>
                <a:lnTo>
                  <a:pt x="320903" y="35712"/>
                </a:lnTo>
                <a:lnTo>
                  <a:pt x="335191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6" name="object 14">
            <a:extLst>
              <a:ext uri="{FF2B5EF4-FFF2-40B4-BE49-F238E27FC236}">
                <a16:creationId xmlns:a16="http://schemas.microsoft.com/office/drawing/2014/main" id="{6E378DD5-B0A4-2078-D2A9-2BFB1FC7C38F}"/>
              </a:ext>
            </a:extLst>
          </p:cNvPr>
          <p:cNvSpPr txBox="1"/>
          <p:nvPr/>
        </p:nvSpPr>
        <p:spPr>
          <a:xfrm>
            <a:off x="4767426" y="5371494"/>
            <a:ext cx="491490" cy="1119089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algn="just">
              <a:lnSpc>
                <a:spcPct val="101699"/>
              </a:lnSpc>
              <a:spcBef>
                <a:spcPts val="60"/>
              </a:spcBef>
            </a:pPr>
            <a:r>
              <a:rPr lang="en-US" sz="1800" b="1" spc="5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机器无关代码优化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67" name="object 8">
            <a:extLst>
              <a:ext uri="{FF2B5EF4-FFF2-40B4-BE49-F238E27FC236}">
                <a16:creationId xmlns:a16="http://schemas.microsoft.com/office/drawing/2014/main" id="{D0B54229-F004-0AC1-F899-1A83CDEE1336}"/>
              </a:ext>
            </a:extLst>
          </p:cNvPr>
          <p:cNvSpPr txBox="1"/>
          <p:nvPr/>
        </p:nvSpPr>
        <p:spPr>
          <a:xfrm>
            <a:off x="5944382" y="5328303"/>
            <a:ext cx="254000" cy="111953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lang="zh-CN" altLang="en-US"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指令选择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68" name="object 8">
            <a:extLst>
              <a:ext uri="{FF2B5EF4-FFF2-40B4-BE49-F238E27FC236}">
                <a16:creationId xmlns:a16="http://schemas.microsoft.com/office/drawing/2014/main" id="{6CEF1832-9E62-F34A-14CE-DA193E9A3B55}"/>
              </a:ext>
            </a:extLst>
          </p:cNvPr>
          <p:cNvSpPr txBox="1"/>
          <p:nvPr/>
        </p:nvSpPr>
        <p:spPr>
          <a:xfrm>
            <a:off x="6644550" y="5224993"/>
            <a:ext cx="254000" cy="139653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lang="zh-CN" altLang="en-US"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寄存器分配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69" name="object 8">
            <a:extLst>
              <a:ext uri="{FF2B5EF4-FFF2-40B4-BE49-F238E27FC236}">
                <a16:creationId xmlns:a16="http://schemas.microsoft.com/office/drawing/2014/main" id="{65CB0B75-4300-D8BD-18B4-46BF41C20334}"/>
              </a:ext>
            </a:extLst>
          </p:cNvPr>
          <p:cNvSpPr txBox="1"/>
          <p:nvPr/>
        </p:nvSpPr>
        <p:spPr>
          <a:xfrm>
            <a:off x="7320602" y="5337280"/>
            <a:ext cx="254000" cy="111953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lang="zh-CN" altLang="en-US"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指令调度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70" name="object 8">
            <a:extLst>
              <a:ext uri="{FF2B5EF4-FFF2-40B4-BE49-F238E27FC236}">
                <a16:creationId xmlns:a16="http://schemas.microsoft.com/office/drawing/2014/main" id="{5133801C-8903-8E1A-2AE1-8D19DBAD73D6}"/>
              </a:ext>
            </a:extLst>
          </p:cNvPr>
          <p:cNvSpPr txBox="1"/>
          <p:nvPr/>
        </p:nvSpPr>
        <p:spPr>
          <a:xfrm>
            <a:off x="2175326" y="5353256"/>
            <a:ext cx="254000" cy="111953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lang="en-US" sz="1800" b="1" spc="-5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语法分析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71" name="object 8">
            <a:extLst>
              <a:ext uri="{FF2B5EF4-FFF2-40B4-BE49-F238E27FC236}">
                <a16:creationId xmlns:a16="http://schemas.microsoft.com/office/drawing/2014/main" id="{475064F6-6229-B728-238D-25CE1E1535F8}"/>
              </a:ext>
            </a:extLst>
          </p:cNvPr>
          <p:cNvSpPr txBox="1"/>
          <p:nvPr/>
        </p:nvSpPr>
        <p:spPr>
          <a:xfrm>
            <a:off x="2867428" y="5362944"/>
            <a:ext cx="254000" cy="111953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lang="zh-CN" altLang="en-US"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语义分析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72" name="object 12">
            <a:extLst>
              <a:ext uri="{FF2B5EF4-FFF2-40B4-BE49-F238E27FC236}">
                <a16:creationId xmlns:a16="http://schemas.microsoft.com/office/drawing/2014/main" id="{2343F77A-2604-0421-A1A5-079384DE5A0D}"/>
              </a:ext>
            </a:extLst>
          </p:cNvPr>
          <p:cNvSpPr/>
          <p:nvPr/>
        </p:nvSpPr>
        <p:spPr>
          <a:xfrm>
            <a:off x="1307763" y="5158812"/>
            <a:ext cx="1963073" cy="1520190"/>
          </a:xfrm>
          <a:custGeom>
            <a:avLst/>
            <a:gdLst/>
            <a:ahLst/>
            <a:cxnLst/>
            <a:rect l="l" t="t" r="r" b="b"/>
            <a:pathLst>
              <a:path w="2023110" h="2012314">
                <a:moveTo>
                  <a:pt x="0" y="0"/>
                </a:moveTo>
                <a:lnTo>
                  <a:pt x="2023111" y="0"/>
                </a:lnTo>
                <a:lnTo>
                  <a:pt x="2023111" y="2012219"/>
                </a:lnTo>
                <a:lnTo>
                  <a:pt x="0" y="2012219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3" name="object 12">
            <a:extLst>
              <a:ext uri="{FF2B5EF4-FFF2-40B4-BE49-F238E27FC236}">
                <a16:creationId xmlns:a16="http://schemas.microsoft.com/office/drawing/2014/main" id="{D813A57A-FFDF-1D9F-6E44-7CEA77B0239D}"/>
              </a:ext>
            </a:extLst>
          </p:cNvPr>
          <p:cNvSpPr/>
          <p:nvPr/>
        </p:nvSpPr>
        <p:spPr>
          <a:xfrm>
            <a:off x="3710187" y="5152929"/>
            <a:ext cx="1667264" cy="1520190"/>
          </a:xfrm>
          <a:custGeom>
            <a:avLst/>
            <a:gdLst/>
            <a:ahLst/>
            <a:cxnLst/>
            <a:rect l="l" t="t" r="r" b="b"/>
            <a:pathLst>
              <a:path w="2023110" h="2012314">
                <a:moveTo>
                  <a:pt x="0" y="0"/>
                </a:moveTo>
                <a:lnTo>
                  <a:pt x="2023111" y="0"/>
                </a:lnTo>
                <a:lnTo>
                  <a:pt x="2023111" y="2012219"/>
                </a:lnTo>
                <a:lnTo>
                  <a:pt x="0" y="2012219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4" name="object 12">
            <a:extLst>
              <a:ext uri="{FF2B5EF4-FFF2-40B4-BE49-F238E27FC236}">
                <a16:creationId xmlns:a16="http://schemas.microsoft.com/office/drawing/2014/main" id="{06E0EF04-2A80-AC87-0EAC-F0C23009D674}"/>
              </a:ext>
            </a:extLst>
          </p:cNvPr>
          <p:cNvSpPr/>
          <p:nvPr/>
        </p:nvSpPr>
        <p:spPr>
          <a:xfrm>
            <a:off x="5790013" y="5152929"/>
            <a:ext cx="1963073" cy="1520190"/>
          </a:xfrm>
          <a:custGeom>
            <a:avLst/>
            <a:gdLst/>
            <a:ahLst/>
            <a:cxnLst/>
            <a:rect l="l" t="t" r="r" b="b"/>
            <a:pathLst>
              <a:path w="2023110" h="2012314">
                <a:moveTo>
                  <a:pt x="0" y="0"/>
                </a:moveTo>
                <a:lnTo>
                  <a:pt x="2023111" y="0"/>
                </a:lnTo>
                <a:lnTo>
                  <a:pt x="2023111" y="2012219"/>
                </a:lnTo>
                <a:lnTo>
                  <a:pt x="0" y="2012219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5" name="object 32">
            <a:extLst>
              <a:ext uri="{FF2B5EF4-FFF2-40B4-BE49-F238E27FC236}">
                <a16:creationId xmlns:a16="http://schemas.microsoft.com/office/drawing/2014/main" id="{CEF9A9FF-CC7A-8C0E-32CE-CD067C3360F0}"/>
              </a:ext>
            </a:extLst>
          </p:cNvPr>
          <p:cNvSpPr/>
          <p:nvPr/>
        </p:nvSpPr>
        <p:spPr>
          <a:xfrm>
            <a:off x="3309209" y="5873888"/>
            <a:ext cx="335280" cy="57150"/>
          </a:xfrm>
          <a:custGeom>
            <a:avLst/>
            <a:gdLst/>
            <a:ahLst/>
            <a:cxnLst/>
            <a:rect l="l" t="t" r="r" b="b"/>
            <a:pathLst>
              <a:path w="335279" h="57150">
                <a:moveTo>
                  <a:pt x="335191" y="28575"/>
                </a:moveTo>
                <a:lnTo>
                  <a:pt x="320903" y="21424"/>
                </a:lnTo>
                <a:lnTo>
                  <a:pt x="278041" y="0"/>
                </a:lnTo>
                <a:lnTo>
                  <a:pt x="278041" y="21424"/>
                </a:lnTo>
                <a:lnTo>
                  <a:pt x="0" y="21424"/>
                </a:lnTo>
                <a:lnTo>
                  <a:pt x="0" y="35712"/>
                </a:lnTo>
                <a:lnTo>
                  <a:pt x="278041" y="35712"/>
                </a:lnTo>
                <a:lnTo>
                  <a:pt x="278041" y="57150"/>
                </a:lnTo>
                <a:lnTo>
                  <a:pt x="320903" y="35712"/>
                </a:lnTo>
                <a:lnTo>
                  <a:pt x="335191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6" name="object 32">
            <a:extLst>
              <a:ext uri="{FF2B5EF4-FFF2-40B4-BE49-F238E27FC236}">
                <a16:creationId xmlns:a16="http://schemas.microsoft.com/office/drawing/2014/main" id="{8B93B3AD-F262-1DF6-DBDB-4F1D3F193C8E}"/>
              </a:ext>
            </a:extLst>
          </p:cNvPr>
          <p:cNvSpPr/>
          <p:nvPr/>
        </p:nvSpPr>
        <p:spPr>
          <a:xfrm>
            <a:off x="5411516" y="5868473"/>
            <a:ext cx="335280" cy="57150"/>
          </a:xfrm>
          <a:custGeom>
            <a:avLst/>
            <a:gdLst/>
            <a:ahLst/>
            <a:cxnLst/>
            <a:rect l="l" t="t" r="r" b="b"/>
            <a:pathLst>
              <a:path w="335279" h="57150">
                <a:moveTo>
                  <a:pt x="335191" y="28575"/>
                </a:moveTo>
                <a:lnTo>
                  <a:pt x="320903" y="21424"/>
                </a:lnTo>
                <a:lnTo>
                  <a:pt x="278041" y="0"/>
                </a:lnTo>
                <a:lnTo>
                  <a:pt x="278041" y="21424"/>
                </a:lnTo>
                <a:lnTo>
                  <a:pt x="0" y="21424"/>
                </a:lnTo>
                <a:lnTo>
                  <a:pt x="0" y="35712"/>
                </a:lnTo>
                <a:lnTo>
                  <a:pt x="278041" y="35712"/>
                </a:lnTo>
                <a:lnTo>
                  <a:pt x="278041" y="57150"/>
                </a:lnTo>
                <a:lnTo>
                  <a:pt x="320903" y="35712"/>
                </a:lnTo>
                <a:lnTo>
                  <a:pt x="335191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7" name="object 32">
            <a:extLst>
              <a:ext uri="{FF2B5EF4-FFF2-40B4-BE49-F238E27FC236}">
                <a16:creationId xmlns:a16="http://schemas.microsoft.com/office/drawing/2014/main" id="{C60A2539-301B-919D-2FD8-C559F06A1568}"/>
              </a:ext>
            </a:extLst>
          </p:cNvPr>
          <p:cNvSpPr/>
          <p:nvPr/>
        </p:nvSpPr>
        <p:spPr>
          <a:xfrm>
            <a:off x="6313655" y="5858278"/>
            <a:ext cx="239494" cy="45719"/>
          </a:xfrm>
          <a:custGeom>
            <a:avLst/>
            <a:gdLst/>
            <a:ahLst/>
            <a:cxnLst/>
            <a:rect l="l" t="t" r="r" b="b"/>
            <a:pathLst>
              <a:path w="335279" h="57150">
                <a:moveTo>
                  <a:pt x="335191" y="28575"/>
                </a:moveTo>
                <a:lnTo>
                  <a:pt x="320903" y="21424"/>
                </a:lnTo>
                <a:lnTo>
                  <a:pt x="278041" y="0"/>
                </a:lnTo>
                <a:lnTo>
                  <a:pt x="278041" y="21424"/>
                </a:lnTo>
                <a:lnTo>
                  <a:pt x="0" y="21424"/>
                </a:lnTo>
                <a:lnTo>
                  <a:pt x="0" y="35712"/>
                </a:lnTo>
                <a:lnTo>
                  <a:pt x="278041" y="35712"/>
                </a:lnTo>
                <a:lnTo>
                  <a:pt x="278041" y="57150"/>
                </a:lnTo>
                <a:lnTo>
                  <a:pt x="320903" y="35712"/>
                </a:lnTo>
                <a:lnTo>
                  <a:pt x="335191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8" name="object 32">
            <a:extLst>
              <a:ext uri="{FF2B5EF4-FFF2-40B4-BE49-F238E27FC236}">
                <a16:creationId xmlns:a16="http://schemas.microsoft.com/office/drawing/2014/main" id="{D964D771-FD2F-2C89-D465-BFFF7CF58E47}"/>
              </a:ext>
            </a:extLst>
          </p:cNvPr>
          <p:cNvSpPr/>
          <p:nvPr/>
        </p:nvSpPr>
        <p:spPr>
          <a:xfrm>
            <a:off x="7006495" y="5848225"/>
            <a:ext cx="222132" cy="45719"/>
          </a:xfrm>
          <a:custGeom>
            <a:avLst/>
            <a:gdLst/>
            <a:ahLst/>
            <a:cxnLst/>
            <a:rect l="l" t="t" r="r" b="b"/>
            <a:pathLst>
              <a:path w="335279" h="57150">
                <a:moveTo>
                  <a:pt x="335191" y="28575"/>
                </a:moveTo>
                <a:lnTo>
                  <a:pt x="320903" y="21424"/>
                </a:lnTo>
                <a:lnTo>
                  <a:pt x="278041" y="0"/>
                </a:lnTo>
                <a:lnTo>
                  <a:pt x="278041" y="21424"/>
                </a:lnTo>
                <a:lnTo>
                  <a:pt x="0" y="21424"/>
                </a:lnTo>
                <a:lnTo>
                  <a:pt x="0" y="35712"/>
                </a:lnTo>
                <a:lnTo>
                  <a:pt x="278041" y="35712"/>
                </a:lnTo>
                <a:lnTo>
                  <a:pt x="278041" y="57150"/>
                </a:lnTo>
                <a:lnTo>
                  <a:pt x="320903" y="35712"/>
                </a:lnTo>
                <a:lnTo>
                  <a:pt x="335191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9" name="object 43">
            <a:extLst>
              <a:ext uri="{FF2B5EF4-FFF2-40B4-BE49-F238E27FC236}">
                <a16:creationId xmlns:a16="http://schemas.microsoft.com/office/drawing/2014/main" id="{D904850C-20C6-F83C-09D1-F27FF2A23E98}"/>
              </a:ext>
            </a:extLst>
          </p:cNvPr>
          <p:cNvSpPr/>
          <p:nvPr/>
        </p:nvSpPr>
        <p:spPr>
          <a:xfrm>
            <a:off x="5460179" y="5096164"/>
            <a:ext cx="2468429" cy="1636395"/>
          </a:xfrm>
          <a:custGeom>
            <a:avLst/>
            <a:gdLst/>
            <a:ahLst/>
            <a:cxnLst/>
            <a:rect l="l" t="t" r="r" b="b"/>
            <a:pathLst>
              <a:path w="6177915" h="1636395">
                <a:moveTo>
                  <a:pt x="6177316" y="0"/>
                </a:moveTo>
                <a:lnTo>
                  <a:pt x="0" y="0"/>
                </a:lnTo>
                <a:lnTo>
                  <a:pt x="0" y="1636291"/>
                </a:lnTo>
                <a:lnTo>
                  <a:pt x="6177316" y="1636291"/>
                </a:lnTo>
                <a:lnTo>
                  <a:pt x="6177316" y="0"/>
                </a:lnTo>
                <a:close/>
              </a:path>
            </a:pathLst>
          </a:custGeom>
          <a:solidFill>
            <a:srgbClr val="FFFFFF">
              <a:alpha val="748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0" name="object 43">
            <a:extLst>
              <a:ext uri="{FF2B5EF4-FFF2-40B4-BE49-F238E27FC236}">
                <a16:creationId xmlns:a16="http://schemas.microsoft.com/office/drawing/2014/main" id="{9A75EF52-5DA0-923B-CF62-14B720004778}"/>
              </a:ext>
            </a:extLst>
          </p:cNvPr>
          <p:cNvSpPr/>
          <p:nvPr/>
        </p:nvSpPr>
        <p:spPr>
          <a:xfrm>
            <a:off x="1180560" y="5097600"/>
            <a:ext cx="3449371" cy="1636395"/>
          </a:xfrm>
          <a:custGeom>
            <a:avLst/>
            <a:gdLst/>
            <a:ahLst/>
            <a:cxnLst/>
            <a:rect l="l" t="t" r="r" b="b"/>
            <a:pathLst>
              <a:path w="6177915" h="1636395">
                <a:moveTo>
                  <a:pt x="6177316" y="0"/>
                </a:moveTo>
                <a:lnTo>
                  <a:pt x="0" y="0"/>
                </a:lnTo>
                <a:lnTo>
                  <a:pt x="0" y="1636291"/>
                </a:lnTo>
                <a:lnTo>
                  <a:pt x="6177316" y="1636291"/>
                </a:lnTo>
                <a:lnTo>
                  <a:pt x="6177316" y="0"/>
                </a:lnTo>
                <a:close/>
              </a:path>
            </a:pathLst>
          </a:custGeom>
          <a:solidFill>
            <a:srgbClr val="FFFFFF">
              <a:alpha val="748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804" y="155955"/>
            <a:ext cx="21590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目标代码生成</a:t>
            </a:r>
          </a:p>
        </p:txBody>
      </p:sp>
      <p:sp>
        <p:nvSpPr>
          <p:cNvPr id="5" name="object 5"/>
          <p:cNvSpPr/>
          <p:nvPr/>
        </p:nvSpPr>
        <p:spPr>
          <a:xfrm>
            <a:off x="2933734" y="3478811"/>
            <a:ext cx="342900" cy="95250"/>
          </a:xfrm>
          <a:custGeom>
            <a:avLst/>
            <a:gdLst/>
            <a:ahLst/>
            <a:cxnLst/>
            <a:rect l="l" t="t" r="r" b="b"/>
            <a:pathLst>
              <a:path w="342900" h="95250">
                <a:moveTo>
                  <a:pt x="342900" y="47625"/>
                </a:moveTo>
                <a:lnTo>
                  <a:pt x="285750" y="19050"/>
                </a:lnTo>
                <a:lnTo>
                  <a:pt x="285750" y="47625"/>
                </a:lnTo>
                <a:lnTo>
                  <a:pt x="281851" y="52501"/>
                </a:lnTo>
                <a:lnTo>
                  <a:pt x="281851" y="47421"/>
                </a:lnTo>
                <a:lnTo>
                  <a:pt x="282041" y="47421"/>
                </a:lnTo>
                <a:lnTo>
                  <a:pt x="282041" y="42989"/>
                </a:lnTo>
                <a:lnTo>
                  <a:pt x="285750" y="47625"/>
                </a:lnTo>
                <a:lnTo>
                  <a:pt x="285750" y="19050"/>
                </a:lnTo>
                <a:lnTo>
                  <a:pt x="247650" y="0"/>
                </a:lnTo>
                <a:lnTo>
                  <a:pt x="278130" y="38100"/>
                </a:lnTo>
                <a:lnTo>
                  <a:pt x="278472" y="38531"/>
                </a:lnTo>
                <a:lnTo>
                  <a:pt x="0" y="38531"/>
                </a:lnTo>
                <a:lnTo>
                  <a:pt x="0" y="47421"/>
                </a:lnTo>
                <a:lnTo>
                  <a:pt x="0" y="57581"/>
                </a:lnTo>
                <a:lnTo>
                  <a:pt x="277774" y="57581"/>
                </a:lnTo>
                <a:lnTo>
                  <a:pt x="247650" y="95250"/>
                </a:lnTo>
                <a:lnTo>
                  <a:pt x="34290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143476" y="3478811"/>
            <a:ext cx="342900" cy="95250"/>
          </a:xfrm>
          <a:custGeom>
            <a:avLst/>
            <a:gdLst/>
            <a:ahLst/>
            <a:cxnLst/>
            <a:rect l="l" t="t" r="r" b="b"/>
            <a:pathLst>
              <a:path w="342900" h="95250">
                <a:moveTo>
                  <a:pt x="342900" y="47625"/>
                </a:moveTo>
                <a:lnTo>
                  <a:pt x="285750" y="19050"/>
                </a:lnTo>
                <a:lnTo>
                  <a:pt x="285750" y="47625"/>
                </a:lnTo>
                <a:lnTo>
                  <a:pt x="281851" y="52501"/>
                </a:lnTo>
                <a:lnTo>
                  <a:pt x="281851" y="47421"/>
                </a:lnTo>
                <a:lnTo>
                  <a:pt x="282041" y="47421"/>
                </a:lnTo>
                <a:lnTo>
                  <a:pt x="282041" y="42989"/>
                </a:lnTo>
                <a:lnTo>
                  <a:pt x="285750" y="47625"/>
                </a:lnTo>
                <a:lnTo>
                  <a:pt x="285750" y="19050"/>
                </a:lnTo>
                <a:lnTo>
                  <a:pt x="247650" y="0"/>
                </a:lnTo>
                <a:lnTo>
                  <a:pt x="278130" y="38100"/>
                </a:lnTo>
                <a:lnTo>
                  <a:pt x="278472" y="38531"/>
                </a:lnTo>
                <a:lnTo>
                  <a:pt x="0" y="38531"/>
                </a:lnTo>
                <a:lnTo>
                  <a:pt x="0" y="47421"/>
                </a:lnTo>
                <a:lnTo>
                  <a:pt x="0" y="57581"/>
                </a:lnTo>
                <a:lnTo>
                  <a:pt x="277774" y="57581"/>
                </a:lnTo>
                <a:lnTo>
                  <a:pt x="247650" y="95250"/>
                </a:lnTo>
                <a:lnTo>
                  <a:pt x="34290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8860" y="1207515"/>
            <a:ext cx="7249654" cy="96693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marR="0" lvl="0" indent="-285115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1200"/>
              </a:spcAft>
              <a:buClrTx/>
              <a:buSzTx/>
              <a:buFont typeface="Arial"/>
              <a:buChar char="•"/>
              <a:tabLst>
                <a:tab pos="297815" algn="l"/>
              </a:tabLst>
              <a:defRPr/>
            </a:pPr>
            <a:r>
              <a:rPr kumimoji="0" sz="2800" b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把</a:t>
            </a:r>
            <a:r>
              <a:rPr kumimoji="0" sz="2800" b="1" u="none" strike="noStrike" kern="0" cap="none" spc="-1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中间表示形式</a:t>
            </a:r>
            <a:r>
              <a:rPr kumimoji="0" sz="2800" b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翻译到</a:t>
            </a:r>
            <a:r>
              <a:rPr kumimoji="0" sz="2800" b="1" u="none" strike="noStrike" kern="0" cap="none" spc="-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目标语言</a:t>
            </a:r>
            <a:endParaRPr kumimoji="0" sz="2800" b="1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  <a:p>
            <a:pPr marL="812165" marR="0" lvl="1" indent="-342265" defTabSz="914400" eaLnBrk="1" fontAlgn="auto" latinLnBrk="0" hangingPunct="1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812165" algn="l"/>
              </a:tabLst>
              <a:defRPr/>
            </a:pPr>
            <a:r>
              <a:rPr kumimoji="0" sz="240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指令选择、寄存器分配</a:t>
            </a:r>
            <a:r>
              <a:rPr sz="2400" kern="0" spc="-20" dirty="0">
                <a:solidFill>
                  <a:sysClr val="windowText" lastClr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、指令调度</a:t>
            </a:r>
          </a:p>
        </p:txBody>
      </p:sp>
      <p:sp>
        <p:nvSpPr>
          <p:cNvPr id="46" name="object 7">
            <a:extLst>
              <a:ext uri="{FF2B5EF4-FFF2-40B4-BE49-F238E27FC236}">
                <a16:creationId xmlns:a16="http://schemas.microsoft.com/office/drawing/2014/main" id="{E83B1D42-E9F4-4019-A5CB-876CEE8CEAC5}"/>
              </a:ext>
            </a:extLst>
          </p:cNvPr>
          <p:cNvSpPr txBox="1"/>
          <p:nvPr/>
        </p:nvSpPr>
        <p:spPr>
          <a:xfrm>
            <a:off x="617161" y="2731347"/>
            <a:ext cx="2298700" cy="15901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3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t1</a:t>
            </a:r>
            <a:r>
              <a:rPr kumimoji="0" sz="2400" b="1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 x * 3</a:t>
            </a:r>
          </a:p>
          <a:p>
            <a:pPr marL="12700" marR="5080" lvl="0" indent="0" defTabSz="914400" eaLnBrk="1" fontAlgn="auto" latinLnBrk="0" hangingPunct="1">
              <a:lnSpc>
                <a:spcPts val="3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t2 = t1 * b</a:t>
            </a:r>
          </a:p>
          <a:p>
            <a:pPr marL="12700" marR="5080" lvl="0" indent="0" defTabSz="914400" eaLnBrk="1" fontAlgn="auto" latinLnBrk="0" hangingPunct="1">
              <a:lnSpc>
                <a:spcPts val="3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t3 = a &lt;&lt; 1</a:t>
            </a:r>
          </a:p>
          <a:p>
            <a:pPr marL="12700" marR="5080" lvl="0" indent="0" defTabSz="914400" eaLnBrk="1" fontAlgn="auto" latinLnBrk="0" hangingPunct="1">
              <a:lnSpc>
                <a:spcPts val="3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x  = t2 + t3</a:t>
            </a:r>
          </a:p>
        </p:txBody>
      </p:sp>
      <p:sp>
        <p:nvSpPr>
          <p:cNvPr id="47" name="object 7">
            <a:extLst>
              <a:ext uri="{FF2B5EF4-FFF2-40B4-BE49-F238E27FC236}">
                <a16:creationId xmlns:a16="http://schemas.microsoft.com/office/drawing/2014/main" id="{572CDEF5-D9C3-1A19-5C13-103D3AB21375}"/>
              </a:ext>
            </a:extLst>
          </p:cNvPr>
          <p:cNvSpPr txBox="1"/>
          <p:nvPr/>
        </p:nvSpPr>
        <p:spPr>
          <a:xfrm>
            <a:off x="5634202" y="2733687"/>
            <a:ext cx="2823998" cy="15854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3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muli a0, a0, 3</a:t>
            </a:r>
          </a:p>
          <a:p>
            <a:pPr marL="12700" marR="5080" lvl="0" indent="0" defTabSz="914400" eaLnBrk="1" fontAlgn="auto" latinLnBrk="0" hangingPunct="1">
              <a:lnSpc>
                <a:spcPts val="3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mul  a0, a0, a1</a:t>
            </a:r>
          </a:p>
          <a:p>
            <a:pPr marL="12700" marR="5080" lvl="0" indent="0" defTabSz="914400" eaLnBrk="1" fontAlgn="auto" latinLnBrk="0" hangingPunct="1">
              <a:lnSpc>
                <a:spcPts val="3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slli a1, a1, 1</a:t>
            </a:r>
          </a:p>
          <a:p>
            <a:pPr marL="12700" marR="5080" lvl="0" indent="0" defTabSz="914400" eaLnBrk="1" fontAlgn="auto" latinLnBrk="0" hangingPunct="1">
              <a:lnSpc>
                <a:spcPts val="3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add	a0, a1, a0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713802E3-68D4-BF7A-611A-3B564A79CC2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6377" y="5206864"/>
            <a:ext cx="431999" cy="1417129"/>
          </a:xfrm>
          <a:prstGeom prst="rect">
            <a:avLst/>
          </a:prstGeom>
        </p:spPr>
      </p:pic>
      <p:sp>
        <p:nvSpPr>
          <p:cNvPr id="7" name="object 8">
            <a:extLst>
              <a:ext uri="{FF2B5EF4-FFF2-40B4-BE49-F238E27FC236}">
                <a16:creationId xmlns:a16="http://schemas.microsoft.com/office/drawing/2014/main" id="{D3C6ECDB-38FF-C0E5-0815-1E8D9A5F6CF7}"/>
              </a:ext>
            </a:extLst>
          </p:cNvPr>
          <p:cNvSpPr txBox="1"/>
          <p:nvPr/>
        </p:nvSpPr>
        <p:spPr>
          <a:xfrm>
            <a:off x="1495763" y="5339677"/>
            <a:ext cx="254000" cy="1125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词法分析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grpSp>
        <p:nvGrpSpPr>
          <p:cNvPr id="8" name="object 9">
            <a:extLst>
              <a:ext uri="{FF2B5EF4-FFF2-40B4-BE49-F238E27FC236}">
                <a16:creationId xmlns:a16="http://schemas.microsoft.com/office/drawing/2014/main" id="{D3842475-7BD4-E1CD-0970-BAFA31388AE0}"/>
              </a:ext>
            </a:extLst>
          </p:cNvPr>
          <p:cNvGrpSpPr/>
          <p:nvPr/>
        </p:nvGrpSpPr>
        <p:grpSpPr>
          <a:xfrm>
            <a:off x="2086233" y="5208497"/>
            <a:ext cx="2282681" cy="1423253"/>
            <a:chOff x="2087999" y="1700160"/>
            <a:chExt cx="2282681" cy="1423253"/>
          </a:xfrm>
        </p:grpSpPr>
        <p:pic>
          <p:nvPicPr>
            <p:cNvPr id="48" name="object 10">
              <a:extLst>
                <a:ext uri="{FF2B5EF4-FFF2-40B4-BE49-F238E27FC236}">
                  <a16:creationId xmlns:a16="http://schemas.microsoft.com/office/drawing/2014/main" id="{BA1F0821-2AA6-DC10-91DD-9A9E07C65FE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87999" y="1716656"/>
              <a:ext cx="432000" cy="1400633"/>
            </a:xfrm>
            <a:prstGeom prst="rect">
              <a:avLst/>
            </a:prstGeom>
          </p:spPr>
        </p:pic>
        <p:pic>
          <p:nvPicPr>
            <p:cNvPr id="49" name="object 11">
              <a:extLst>
                <a:ext uri="{FF2B5EF4-FFF2-40B4-BE49-F238E27FC236}">
                  <a16:creationId xmlns:a16="http://schemas.microsoft.com/office/drawing/2014/main" id="{8E26529E-A47D-49DC-4788-E41F34EDDA1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71800" y="1700160"/>
              <a:ext cx="431999" cy="1417129"/>
            </a:xfrm>
            <a:prstGeom prst="rect">
              <a:avLst/>
            </a:prstGeom>
          </p:spPr>
        </p:pic>
        <p:pic>
          <p:nvPicPr>
            <p:cNvPr id="50" name="object 13">
              <a:extLst>
                <a:ext uri="{FF2B5EF4-FFF2-40B4-BE49-F238E27FC236}">
                  <a16:creationId xmlns:a16="http://schemas.microsoft.com/office/drawing/2014/main" id="{4AE50899-5088-BCE5-125F-4D369FBDB68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94681" y="1706285"/>
              <a:ext cx="575999" cy="1417128"/>
            </a:xfrm>
            <a:prstGeom prst="rect">
              <a:avLst/>
            </a:prstGeom>
          </p:spPr>
        </p:pic>
      </p:grpSp>
      <p:sp>
        <p:nvSpPr>
          <p:cNvPr id="51" name="object 14">
            <a:extLst>
              <a:ext uri="{FF2B5EF4-FFF2-40B4-BE49-F238E27FC236}">
                <a16:creationId xmlns:a16="http://schemas.microsoft.com/office/drawing/2014/main" id="{7CDB0865-A7B9-2FDD-B182-071972DAF5B7}"/>
              </a:ext>
            </a:extLst>
          </p:cNvPr>
          <p:cNvSpPr txBox="1"/>
          <p:nvPr/>
        </p:nvSpPr>
        <p:spPr>
          <a:xfrm>
            <a:off x="3831288" y="5461596"/>
            <a:ext cx="491490" cy="85788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algn="just">
              <a:lnSpc>
                <a:spcPct val="101699"/>
              </a:lnSpc>
              <a:spcBef>
                <a:spcPts val="60"/>
              </a:spcBef>
            </a:pPr>
            <a:r>
              <a:rPr sz="1800" b="1" spc="5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中间</a:t>
            </a:r>
            <a:r>
              <a:rPr sz="1800" b="1" spc="-25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代码</a:t>
            </a:r>
            <a:r>
              <a:rPr sz="1800" b="1" spc="-3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生成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pic>
        <p:nvPicPr>
          <p:cNvPr id="52" name="object 15">
            <a:extLst>
              <a:ext uri="{FF2B5EF4-FFF2-40B4-BE49-F238E27FC236}">
                <a16:creationId xmlns:a16="http://schemas.microsoft.com/office/drawing/2014/main" id="{06C4EB9C-A45F-4938-0DDA-D4D52E92B58B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22153" y="5214622"/>
            <a:ext cx="575999" cy="1404569"/>
          </a:xfrm>
          <a:prstGeom prst="rect">
            <a:avLst/>
          </a:prstGeom>
        </p:spPr>
      </p:pic>
      <p:grpSp>
        <p:nvGrpSpPr>
          <p:cNvPr id="53" name="object 21">
            <a:extLst>
              <a:ext uri="{FF2B5EF4-FFF2-40B4-BE49-F238E27FC236}">
                <a16:creationId xmlns:a16="http://schemas.microsoft.com/office/drawing/2014/main" id="{0BB5152E-C4C6-35AB-1072-E957E62220DC}"/>
              </a:ext>
            </a:extLst>
          </p:cNvPr>
          <p:cNvGrpSpPr/>
          <p:nvPr/>
        </p:nvGrpSpPr>
        <p:grpSpPr>
          <a:xfrm>
            <a:off x="5858604" y="5206862"/>
            <a:ext cx="1808480" cy="1412875"/>
            <a:chOff x="5860370" y="1698525"/>
            <a:chExt cx="1808480" cy="1412875"/>
          </a:xfrm>
        </p:grpSpPr>
        <p:pic>
          <p:nvPicPr>
            <p:cNvPr id="54" name="object 22">
              <a:extLst>
                <a:ext uri="{FF2B5EF4-FFF2-40B4-BE49-F238E27FC236}">
                  <a16:creationId xmlns:a16="http://schemas.microsoft.com/office/drawing/2014/main" id="{D145CFBF-20E7-3807-E79D-06E88D41284C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60370" y="1698527"/>
              <a:ext cx="432000" cy="1412326"/>
            </a:xfrm>
            <a:prstGeom prst="rect">
              <a:avLst/>
            </a:prstGeom>
          </p:spPr>
        </p:pic>
        <p:pic>
          <p:nvPicPr>
            <p:cNvPr id="55" name="object 23">
              <a:extLst>
                <a:ext uri="{FF2B5EF4-FFF2-40B4-BE49-F238E27FC236}">
                  <a16:creationId xmlns:a16="http://schemas.microsoft.com/office/drawing/2014/main" id="{631F60AB-6B31-568C-C5B1-F573CC2CE6E8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36344" y="1698525"/>
              <a:ext cx="431999" cy="1412327"/>
            </a:xfrm>
            <a:prstGeom prst="rect">
              <a:avLst/>
            </a:prstGeom>
          </p:spPr>
        </p:pic>
      </p:grpSp>
      <p:pic>
        <p:nvPicPr>
          <p:cNvPr id="56" name="object 26">
            <a:extLst>
              <a:ext uri="{FF2B5EF4-FFF2-40B4-BE49-F238E27FC236}">
                <a16:creationId xmlns:a16="http://schemas.microsoft.com/office/drawing/2014/main" id="{FD2D64DB-96F3-2157-1028-5DD0DA8CEC63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558116" y="5206862"/>
            <a:ext cx="432000" cy="1418763"/>
          </a:xfrm>
          <a:prstGeom prst="rect">
            <a:avLst/>
          </a:prstGeom>
        </p:spPr>
      </p:pic>
      <p:grpSp>
        <p:nvGrpSpPr>
          <p:cNvPr id="57" name="object 38">
            <a:extLst>
              <a:ext uri="{FF2B5EF4-FFF2-40B4-BE49-F238E27FC236}">
                <a16:creationId xmlns:a16="http://schemas.microsoft.com/office/drawing/2014/main" id="{8331AB68-9A10-59AB-6394-88718488345E}"/>
              </a:ext>
            </a:extLst>
          </p:cNvPr>
          <p:cNvGrpSpPr/>
          <p:nvPr/>
        </p:nvGrpSpPr>
        <p:grpSpPr>
          <a:xfrm>
            <a:off x="1825830" y="5855876"/>
            <a:ext cx="963852" cy="70711"/>
            <a:chOff x="1827596" y="2347539"/>
            <a:chExt cx="963852" cy="70711"/>
          </a:xfrm>
        </p:grpSpPr>
        <p:pic>
          <p:nvPicPr>
            <p:cNvPr id="58" name="object 39">
              <a:extLst>
                <a:ext uri="{FF2B5EF4-FFF2-40B4-BE49-F238E27FC236}">
                  <a16:creationId xmlns:a16="http://schemas.microsoft.com/office/drawing/2014/main" id="{B7ACC8CD-CBA7-241B-C960-DB2B1E74B28E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04413" y="2347539"/>
              <a:ext cx="287035" cy="70711"/>
            </a:xfrm>
            <a:prstGeom prst="rect">
              <a:avLst/>
            </a:prstGeom>
          </p:spPr>
        </p:pic>
        <p:pic>
          <p:nvPicPr>
            <p:cNvPr id="59" name="object 40">
              <a:extLst>
                <a:ext uri="{FF2B5EF4-FFF2-40B4-BE49-F238E27FC236}">
                  <a16:creationId xmlns:a16="http://schemas.microsoft.com/office/drawing/2014/main" id="{AD43558B-17FA-2D36-55A1-E1F3F1CD39AF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27596" y="2347539"/>
              <a:ext cx="287033" cy="70711"/>
            </a:xfrm>
            <a:prstGeom prst="rect">
              <a:avLst/>
            </a:prstGeom>
          </p:spPr>
        </p:pic>
      </p:grpSp>
      <p:sp>
        <p:nvSpPr>
          <p:cNvPr id="60" name="object 32">
            <a:extLst>
              <a:ext uri="{FF2B5EF4-FFF2-40B4-BE49-F238E27FC236}">
                <a16:creationId xmlns:a16="http://schemas.microsoft.com/office/drawing/2014/main" id="{540855B5-E80B-486A-A31D-17E4C2A4A08A}"/>
              </a:ext>
            </a:extLst>
          </p:cNvPr>
          <p:cNvSpPr/>
          <p:nvPr/>
        </p:nvSpPr>
        <p:spPr>
          <a:xfrm>
            <a:off x="4387156" y="5858278"/>
            <a:ext cx="335280" cy="57150"/>
          </a:xfrm>
          <a:custGeom>
            <a:avLst/>
            <a:gdLst/>
            <a:ahLst/>
            <a:cxnLst/>
            <a:rect l="l" t="t" r="r" b="b"/>
            <a:pathLst>
              <a:path w="335279" h="57150">
                <a:moveTo>
                  <a:pt x="335191" y="28575"/>
                </a:moveTo>
                <a:lnTo>
                  <a:pt x="320903" y="21424"/>
                </a:lnTo>
                <a:lnTo>
                  <a:pt x="278041" y="0"/>
                </a:lnTo>
                <a:lnTo>
                  <a:pt x="278041" y="21424"/>
                </a:lnTo>
                <a:lnTo>
                  <a:pt x="0" y="21424"/>
                </a:lnTo>
                <a:lnTo>
                  <a:pt x="0" y="35712"/>
                </a:lnTo>
                <a:lnTo>
                  <a:pt x="278041" y="35712"/>
                </a:lnTo>
                <a:lnTo>
                  <a:pt x="278041" y="57150"/>
                </a:lnTo>
                <a:lnTo>
                  <a:pt x="320903" y="35712"/>
                </a:lnTo>
                <a:lnTo>
                  <a:pt x="335191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1" name="object 14">
            <a:extLst>
              <a:ext uri="{FF2B5EF4-FFF2-40B4-BE49-F238E27FC236}">
                <a16:creationId xmlns:a16="http://schemas.microsoft.com/office/drawing/2014/main" id="{878D45B2-B449-916D-DDB2-DD0BAF2A7DA0}"/>
              </a:ext>
            </a:extLst>
          </p:cNvPr>
          <p:cNvSpPr txBox="1"/>
          <p:nvPr/>
        </p:nvSpPr>
        <p:spPr>
          <a:xfrm>
            <a:off x="4767426" y="5371494"/>
            <a:ext cx="491490" cy="1119089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algn="just">
              <a:lnSpc>
                <a:spcPct val="101699"/>
              </a:lnSpc>
              <a:spcBef>
                <a:spcPts val="60"/>
              </a:spcBef>
            </a:pPr>
            <a:r>
              <a:rPr lang="en-US" sz="1800" b="1" spc="5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机器无关代码优化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62" name="object 8">
            <a:extLst>
              <a:ext uri="{FF2B5EF4-FFF2-40B4-BE49-F238E27FC236}">
                <a16:creationId xmlns:a16="http://schemas.microsoft.com/office/drawing/2014/main" id="{DBBAB692-8688-266F-34A5-788E6E6BF7D5}"/>
              </a:ext>
            </a:extLst>
          </p:cNvPr>
          <p:cNvSpPr txBox="1"/>
          <p:nvPr/>
        </p:nvSpPr>
        <p:spPr>
          <a:xfrm>
            <a:off x="5944382" y="5328303"/>
            <a:ext cx="254000" cy="111953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lang="zh-CN" altLang="en-US"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指令选择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63" name="object 8">
            <a:extLst>
              <a:ext uri="{FF2B5EF4-FFF2-40B4-BE49-F238E27FC236}">
                <a16:creationId xmlns:a16="http://schemas.microsoft.com/office/drawing/2014/main" id="{4A2D891B-697C-12E0-C3E1-CCCAF70C7B3A}"/>
              </a:ext>
            </a:extLst>
          </p:cNvPr>
          <p:cNvSpPr txBox="1"/>
          <p:nvPr/>
        </p:nvSpPr>
        <p:spPr>
          <a:xfrm>
            <a:off x="6644550" y="5224993"/>
            <a:ext cx="254000" cy="139653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lang="zh-CN" altLang="en-US"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寄存器分配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64" name="object 8">
            <a:extLst>
              <a:ext uri="{FF2B5EF4-FFF2-40B4-BE49-F238E27FC236}">
                <a16:creationId xmlns:a16="http://schemas.microsoft.com/office/drawing/2014/main" id="{5EF2C377-37BD-9A37-ECB1-4F0418610A86}"/>
              </a:ext>
            </a:extLst>
          </p:cNvPr>
          <p:cNvSpPr txBox="1"/>
          <p:nvPr/>
        </p:nvSpPr>
        <p:spPr>
          <a:xfrm>
            <a:off x="7320602" y="5337280"/>
            <a:ext cx="254000" cy="111953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lang="zh-CN" altLang="en-US"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指令调度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65" name="object 8">
            <a:extLst>
              <a:ext uri="{FF2B5EF4-FFF2-40B4-BE49-F238E27FC236}">
                <a16:creationId xmlns:a16="http://schemas.microsoft.com/office/drawing/2014/main" id="{E6128AE1-311B-C53C-1514-945DA10CE1CF}"/>
              </a:ext>
            </a:extLst>
          </p:cNvPr>
          <p:cNvSpPr txBox="1"/>
          <p:nvPr/>
        </p:nvSpPr>
        <p:spPr>
          <a:xfrm>
            <a:off x="2175326" y="5353256"/>
            <a:ext cx="254000" cy="111953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lang="en-US" sz="1800" b="1" spc="-5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语法分析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66" name="object 8">
            <a:extLst>
              <a:ext uri="{FF2B5EF4-FFF2-40B4-BE49-F238E27FC236}">
                <a16:creationId xmlns:a16="http://schemas.microsoft.com/office/drawing/2014/main" id="{D93CD567-DCCB-5D9D-E545-EF78FA48F241}"/>
              </a:ext>
            </a:extLst>
          </p:cNvPr>
          <p:cNvSpPr txBox="1"/>
          <p:nvPr/>
        </p:nvSpPr>
        <p:spPr>
          <a:xfrm>
            <a:off x="2867428" y="5362944"/>
            <a:ext cx="254000" cy="111953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lang="zh-CN" altLang="en-US" sz="1800" b="1" spc="-5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语义分析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67" name="object 12">
            <a:extLst>
              <a:ext uri="{FF2B5EF4-FFF2-40B4-BE49-F238E27FC236}">
                <a16:creationId xmlns:a16="http://schemas.microsoft.com/office/drawing/2014/main" id="{BAE8E8A9-163F-F84F-EE8A-8C4EC00D2E82}"/>
              </a:ext>
            </a:extLst>
          </p:cNvPr>
          <p:cNvSpPr/>
          <p:nvPr/>
        </p:nvSpPr>
        <p:spPr>
          <a:xfrm>
            <a:off x="1307763" y="5158812"/>
            <a:ext cx="1963073" cy="1520190"/>
          </a:xfrm>
          <a:custGeom>
            <a:avLst/>
            <a:gdLst/>
            <a:ahLst/>
            <a:cxnLst/>
            <a:rect l="l" t="t" r="r" b="b"/>
            <a:pathLst>
              <a:path w="2023110" h="2012314">
                <a:moveTo>
                  <a:pt x="0" y="0"/>
                </a:moveTo>
                <a:lnTo>
                  <a:pt x="2023111" y="0"/>
                </a:lnTo>
                <a:lnTo>
                  <a:pt x="2023111" y="2012219"/>
                </a:lnTo>
                <a:lnTo>
                  <a:pt x="0" y="2012219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8" name="object 12">
            <a:extLst>
              <a:ext uri="{FF2B5EF4-FFF2-40B4-BE49-F238E27FC236}">
                <a16:creationId xmlns:a16="http://schemas.microsoft.com/office/drawing/2014/main" id="{9A7C1A09-DAFD-10B3-E624-12617AB69395}"/>
              </a:ext>
            </a:extLst>
          </p:cNvPr>
          <p:cNvSpPr/>
          <p:nvPr/>
        </p:nvSpPr>
        <p:spPr>
          <a:xfrm>
            <a:off x="3710187" y="5152929"/>
            <a:ext cx="1667264" cy="1520190"/>
          </a:xfrm>
          <a:custGeom>
            <a:avLst/>
            <a:gdLst/>
            <a:ahLst/>
            <a:cxnLst/>
            <a:rect l="l" t="t" r="r" b="b"/>
            <a:pathLst>
              <a:path w="2023110" h="2012314">
                <a:moveTo>
                  <a:pt x="0" y="0"/>
                </a:moveTo>
                <a:lnTo>
                  <a:pt x="2023111" y="0"/>
                </a:lnTo>
                <a:lnTo>
                  <a:pt x="2023111" y="2012219"/>
                </a:lnTo>
                <a:lnTo>
                  <a:pt x="0" y="2012219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9" name="object 12">
            <a:extLst>
              <a:ext uri="{FF2B5EF4-FFF2-40B4-BE49-F238E27FC236}">
                <a16:creationId xmlns:a16="http://schemas.microsoft.com/office/drawing/2014/main" id="{1041C947-B820-9E92-E896-68C7E61F3DF0}"/>
              </a:ext>
            </a:extLst>
          </p:cNvPr>
          <p:cNvSpPr/>
          <p:nvPr/>
        </p:nvSpPr>
        <p:spPr>
          <a:xfrm>
            <a:off x="5790013" y="5152929"/>
            <a:ext cx="1963073" cy="1520190"/>
          </a:xfrm>
          <a:custGeom>
            <a:avLst/>
            <a:gdLst/>
            <a:ahLst/>
            <a:cxnLst/>
            <a:rect l="l" t="t" r="r" b="b"/>
            <a:pathLst>
              <a:path w="2023110" h="2012314">
                <a:moveTo>
                  <a:pt x="0" y="0"/>
                </a:moveTo>
                <a:lnTo>
                  <a:pt x="2023111" y="0"/>
                </a:lnTo>
                <a:lnTo>
                  <a:pt x="2023111" y="2012219"/>
                </a:lnTo>
                <a:lnTo>
                  <a:pt x="0" y="2012219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0" name="object 32">
            <a:extLst>
              <a:ext uri="{FF2B5EF4-FFF2-40B4-BE49-F238E27FC236}">
                <a16:creationId xmlns:a16="http://schemas.microsoft.com/office/drawing/2014/main" id="{CE893F5D-6334-F422-6760-C9F231C5A7B5}"/>
              </a:ext>
            </a:extLst>
          </p:cNvPr>
          <p:cNvSpPr/>
          <p:nvPr/>
        </p:nvSpPr>
        <p:spPr>
          <a:xfrm>
            <a:off x="3309209" y="5873888"/>
            <a:ext cx="335280" cy="57150"/>
          </a:xfrm>
          <a:custGeom>
            <a:avLst/>
            <a:gdLst/>
            <a:ahLst/>
            <a:cxnLst/>
            <a:rect l="l" t="t" r="r" b="b"/>
            <a:pathLst>
              <a:path w="335279" h="57150">
                <a:moveTo>
                  <a:pt x="335191" y="28575"/>
                </a:moveTo>
                <a:lnTo>
                  <a:pt x="320903" y="21424"/>
                </a:lnTo>
                <a:lnTo>
                  <a:pt x="278041" y="0"/>
                </a:lnTo>
                <a:lnTo>
                  <a:pt x="278041" y="21424"/>
                </a:lnTo>
                <a:lnTo>
                  <a:pt x="0" y="21424"/>
                </a:lnTo>
                <a:lnTo>
                  <a:pt x="0" y="35712"/>
                </a:lnTo>
                <a:lnTo>
                  <a:pt x="278041" y="35712"/>
                </a:lnTo>
                <a:lnTo>
                  <a:pt x="278041" y="57150"/>
                </a:lnTo>
                <a:lnTo>
                  <a:pt x="320903" y="35712"/>
                </a:lnTo>
                <a:lnTo>
                  <a:pt x="335191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1" name="object 32">
            <a:extLst>
              <a:ext uri="{FF2B5EF4-FFF2-40B4-BE49-F238E27FC236}">
                <a16:creationId xmlns:a16="http://schemas.microsoft.com/office/drawing/2014/main" id="{120B7181-B94B-A9B0-E720-029CDE921162}"/>
              </a:ext>
            </a:extLst>
          </p:cNvPr>
          <p:cNvSpPr/>
          <p:nvPr/>
        </p:nvSpPr>
        <p:spPr>
          <a:xfrm>
            <a:off x="5411516" y="5868473"/>
            <a:ext cx="335280" cy="57150"/>
          </a:xfrm>
          <a:custGeom>
            <a:avLst/>
            <a:gdLst/>
            <a:ahLst/>
            <a:cxnLst/>
            <a:rect l="l" t="t" r="r" b="b"/>
            <a:pathLst>
              <a:path w="335279" h="57150">
                <a:moveTo>
                  <a:pt x="335191" y="28575"/>
                </a:moveTo>
                <a:lnTo>
                  <a:pt x="320903" y="21424"/>
                </a:lnTo>
                <a:lnTo>
                  <a:pt x="278041" y="0"/>
                </a:lnTo>
                <a:lnTo>
                  <a:pt x="278041" y="21424"/>
                </a:lnTo>
                <a:lnTo>
                  <a:pt x="0" y="21424"/>
                </a:lnTo>
                <a:lnTo>
                  <a:pt x="0" y="35712"/>
                </a:lnTo>
                <a:lnTo>
                  <a:pt x="278041" y="35712"/>
                </a:lnTo>
                <a:lnTo>
                  <a:pt x="278041" y="57150"/>
                </a:lnTo>
                <a:lnTo>
                  <a:pt x="320903" y="35712"/>
                </a:lnTo>
                <a:lnTo>
                  <a:pt x="335191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2" name="object 32">
            <a:extLst>
              <a:ext uri="{FF2B5EF4-FFF2-40B4-BE49-F238E27FC236}">
                <a16:creationId xmlns:a16="http://schemas.microsoft.com/office/drawing/2014/main" id="{BE68B949-6B06-C390-75A4-4EBC729CA4CD}"/>
              </a:ext>
            </a:extLst>
          </p:cNvPr>
          <p:cNvSpPr/>
          <p:nvPr/>
        </p:nvSpPr>
        <p:spPr>
          <a:xfrm>
            <a:off x="6313655" y="5858278"/>
            <a:ext cx="239494" cy="45719"/>
          </a:xfrm>
          <a:custGeom>
            <a:avLst/>
            <a:gdLst/>
            <a:ahLst/>
            <a:cxnLst/>
            <a:rect l="l" t="t" r="r" b="b"/>
            <a:pathLst>
              <a:path w="335279" h="57150">
                <a:moveTo>
                  <a:pt x="335191" y="28575"/>
                </a:moveTo>
                <a:lnTo>
                  <a:pt x="320903" y="21424"/>
                </a:lnTo>
                <a:lnTo>
                  <a:pt x="278041" y="0"/>
                </a:lnTo>
                <a:lnTo>
                  <a:pt x="278041" y="21424"/>
                </a:lnTo>
                <a:lnTo>
                  <a:pt x="0" y="21424"/>
                </a:lnTo>
                <a:lnTo>
                  <a:pt x="0" y="35712"/>
                </a:lnTo>
                <a:lnTo>
                  <a:pt x="278041" y="35712"/>
                </a:lnTo>
                <a:lnTo>
                  <a:pt x="278041" y="57150"/>
                </a:lnTo>
                <a:lnTo>
                  <a:pt x="320903" y="35712"/>
                </a:lnTo>
                <a:lnTo>
                  <a:pt x="335191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3" name="object 32">
            <a:extLst>
              <a:ext uri="{FF2B5EF4-FFF2-40B4-BE49-F238E27FC236}">
                <a16:creationId xmlns:a16="http://schemas.microsoft.com/office/drawing/2014/main" id="{73A93AA1-FEDD-BFFB-FCBB-78CE8DE47A46}"/>
              </a:ext>
            </a:extLst>
          </p:cNvPr>
          <p:cNvSpPr/>
          <p:nvPr/>
        </p:nvSpPr>
        <p:spPr>
          <a:xfrm>
            <a:off x="7006495" y="5848225"/>
            <a:ext cx="222132" cy="45719"/>
          </a:xfrm>
          <a:custGeom>
            <a:avLst/>
            <a:gdLst/>
            <a:ahLst/>
            <a:cxnLst/>
            <a:rect l="l" t="t" r="r" b="b"/>
            <a:pathLst>
              <a:path w="335279" h="57150">
                <a:moveTo>
                  <a:pt x="335191" y="28575"/>
                </a:moveTo>
                <a:lnTo>
                  <a:pt x="320903" y="21424"/>
                </a:lnTo>
                <a:lnTo>
                  <a:pt x="278041" y="0"/>
                </a:lnTo>
                <a:lnTo>
                  <a:pt x="278041" y="21424"/>
                </a:lnTo>
                <a:lnTo>
                  <a:pt x="0" y="21424"/>
                </a:lnTo>
                <a:lnTo>
                  <a:pt x="0" y="35712"/>
                </a:lnTo>
                <a:lnTo>
                  <a:pt x="278041" y="35712"/>
                </a:lnTo>
                <a:lnTo>
                  <a:pt x="278041" y="57150"/>
                </a:lnTo>
                <a:lnTo>
                  <a:pt x="320903" y="35712"/>
                </a:lnTo>
                <a:lnTo>
                  <a:pt x="335191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5" name="object 43">
            <a:extLst>
              <a:ext uri="{FF2B5EF4-FFF2-40B4-BE49-F238E27FC236}">
                <a16:creationId xmlns:a16="http://schemas.microsoft.com/office/drawing/2014/main" id="{3608F325-F921-F74F-4C5D-C17D2CADD711}"/>
              </a:ext>
            </a:extLst>
          </p:cNvPr>
          <p:cNvSpPr/>
          <p:nvPr/>
        </p:nvSpPr>
        <p:spPr>
          <a:xfrm>
            <a:off x="1180560" y="5097600"/>
            <a:ext cx="4410532" cy="1636395"/>
          </a:xfrm>
          <a:custGeom>
            <a:avLst/>
            <a:gdLst/>
            <a:ahLst/>
            <a:cxnLst/>
            <a:rect l="l" t="t" r="r" b="b"/>
            <a:pathLst>
              <a:path w="6177915" h="1636395">
                <a:moveTo>
                  <a:pt x="6177316" y="0"/>
                </a:moveTo>
                <a:lnTo>
                  <a:pt x="0" y="0"/>
                </a:lnTo>
                <a:lnTo>
                  <a:pt x="0" y="1636291"/>
                </a:lnTo>
                <a:lnTo>
                  <a:pt x="6177316" y="1636291"/>
                </a:lnTo>
                <a:lnTo>
                  <a:pt x="6177316" y="0"/>
                </a:lnTo>
                <a:close/>
              </a:path>
            </a:pathLst>
          </a:custGeom>
          <a:solidFill>
            <a:srgbClr val="FFFFFF">
              <a:alpha val="748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6" name="object 3">
            <a:extLst>
              <a:ext uri="{FF2B5EF4-FFF2-40B4-BE49-F238E27FC236}">
                <a16:creationId xmlns:a16="http://schemas.microsoft.com/office/drawing/2014/main" id="{E3D78DA6-C4B9-007A-77DB-2C5D206B62E2}"/>
              </a:ext>
            </a:extLst>
          </p:cNvPr>
          <p:cNvSpPr txBox="1"/>
          <p:nvPr/>
        </p:nvSpPr>
        <p:spPr>
          <a:xfrm>
            <a:off x="3309209" y="3269067"/>
            <a:ext cx="1777364" cy="514738"/>
          </a:xfrm>
          <a:prstGeom prst="rect">
            <a:avLst/>
          </a:prstGeom>
          <a:ln w="25146">
            <a:solidFill>
              <a:srgbClr val="000000"/>
            </a:solidFill>
          </a:ln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9525" marR="0" lvl="0" algn="ctr" defTabSz="914400" eaLnBrk="1" fontAlgn="auto" latinLnBrk="0" hangingPunct="1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400" b="1" u="none" strike="noStrike" kern="0" cap="none" spc="-25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代码</a:t>
            </a:r>
            <a:r>
              <a:rPr lang="en-US" sz="2400" b="1" kern="0" spc="-25" dirty="0" err="1">
                <a:solidFill>
                  <a:sysClr val="windowText" lastClr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生成</a:t>
            </a:r>
            <a:r>
              <a:rPr kumimoji="0" sz="2400" b="1" u="none" strike="noStrike" kern="0" cap="none" spc="-25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器</a:t>
            </a:r>
            <a:endParaRPr kumimoji="0" sz="2400" b="1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B7144D-4A2D-2B6E-71E6-453EB8621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Outline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36E1EB-D317-DA98-A33F-FBC82953A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</a:rPr>
              <a:t>What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</a:rPr>
              <a:t>Why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</a:rPr>
              <a:t>and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</a:rPr>
              <a:t>How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?</a:t>
            </a:r>
          </a:p>
          <a:p>
            <a:pPr lvl="1"/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</a:rPr>
              <a:t>What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</a:rPr>
              <a:t>is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</a:rPr>
              <a:t>a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</a:rPr>
              <a:t>compiler?</a:t>
            </a:r>
          </a:p>
          <a:p>
            <a:pPr lvl="1"/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</a:rPr>
              <a:t>Why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do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we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need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to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learn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compilers?</a:t>
            </a:r>
          </a:p>
          <a:p>
            <a:pPr lvl="1"/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</a:rPr>
              <a:t>How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</a:rPr>
              <a:t>to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</a:rPr>
              <a:t>learn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compilers?</a:t>
            </a:r>
          </a:p>
          <a:p>
            <a:pPr lvl="1"/>
            <a:endParaRPr lang="en-US" altLang="zh-CN" dirty="0"/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Typical Workflow of a Compiler</a:t>
            </a:r>
          </a:p>
          <a:p>
            <a:endParaRPr lang="en-US" altLang="zh-CN" dirty="0"/>
          </a:p>
          <a:p>
            <a:r>
              <a:rPr lang="en-US" altLang="zh-CN" dirty="0"/>
              <a:t>Modules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Interfaces in Tiger</a:t>
            </a:r>
          </a:p>
        </p:txBody>
      </p:sp>
    </p:spTree>
    <p:extLst>
      <p:ext uri="{BB962C8B-B14F-4D97-AF65-F5344CB8AC3E}">
        <p14:creationId xmlns:p14="http://schemas.microsoft.com/office/powerpoint/2010/main" val="40902084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85086-E24D-0909-5430-923E01CA3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CB25A1F-7165-C7D6-B1D8-CBF57102E3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 err="1"/>
              <a:t>Tiger编译器的流程</a:t>
            </a:r>
            <a:endParaRPr spc="-1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51608FDF-4BE0-FE87-30C4-B8070A1E578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1700808"/>
            <a:ext cx="7772400" cy="4796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8950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 err="1"/>
              <a:t>Tiger编译器的流程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685800" y="1700808"/>
            <a:ext cx="7772400" cy="4796147"/>
            <a:chOff x="685800" y="1700808"/>
            <a:chExt cx="7772400" cy="4796147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800" y="1700808"/>
              <a:ext cx="7772400" cy="479614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419872" y="2057436"/>
              <a:ext cx="216535" cy="1493749"/>
            </a:xfrm>
            <a:custGeom>
              <a:avLst/>
              <a:gdLst/>
              <a:ahLst/>
              <a:cxnLst/>
              <a:rect l="l" t="t" r="r" b="b"/>
              <a:pathLst>
                <a:path w="216535" h="1404620">
                  <a:moveTo>
                    <a:pt x="216023" y="0"/>
                  </a:moveTo>
                  <a:lnTo>
                    <a:pt x="0" y="0"/>
                  </a:lnTo>
                  <a:lnTo>
                    <a:pt x="0" y="1403998"/>
                  </a:lnTo>
                  <a:lnTo>
                    <a:pt x="216023" y="1403998"/>
                  </a:lnTo>
                  <a:lnTo>
                    <a:pt x="216023" y="0"/>
                  </a:lnTo>
                  <a:close/>
                </a:path>
              </a:pathLst>
            </a:custGeom>
            <a:solidFill>
              <a:srgbClr val="FAC090">
                <a:alpha val="65098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5796135" y="2290580"/>
              <a:ext cx="216535" cy="1044575"/>
            </a:xfrm>
            <a:custGeom>
              <a:avLst/>
              <a:gdLst/>
              <a:ahLst/>
              <a:cxnLst/>
              <a:rect l="l" t="t" r="r" b="b"/>
              <a:pathLst>
                <a:path w="216535" h="1044575">
                  <a:moveTo>
                    <a:pt x="216000" y="0"/>
                  </a:moveTo>
                  <a:lnTo>
                    <a:pt x="0" y="0"/>
                  </a:lnTo>
                  <a:lnTo>
                    <a:pt x="0" y="1043999"/>
                  </a:lnTo>
                  <a:lnTo>
                    <a:pt x="216000" y="1043999"/>
                  </a:lnTo>
                  <a:lnTo>
                    <a:pt x="216000" y="0"/>
                  </a:lnTo>
                  <a:close/>
                </a:path>
              </a:pathLst>
            </a:custGeom>
            <a:solidFill>
              <a:srgbClr val="0432FF">
                <a:alpha val="65098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8233071" y="2290580"/>
              <a:ext cx="216535" cy="1044575"/>
            </a:xfrm>
            <a:custGeom>
              <a:avLst/>
              <a:gdLst/>
              <a:ahLst/>
              <a:cxnLst/>
              <a:rect l="l" t="t" r="r" b="b"/>
              <a:pathLst>
                <a:path w="216534" h="1044575">
                  <a:moveTo>
                    <a:pt x="216000" y="0"/>
                  </a:moveTo>
                  <a:lnTo>
                    <a:pt x="0" y="0"/>
                  </a:lnTo>
                  <a:lnTo>
                    <a:pt x="0" y="1043999"/>
                  </a:lnTo>
                  <a:lnTo>
                    <a:pt x="216000" y="1043999"/>
                  </a:lnTo>
                  <a:lnTo>
                    <a:pt x="216000" y="0"/>
                  </a:lnTo>
                  <a:close/>
                </a:path>
              </a:pathLst>
            </a:custGeom>
            <a:solidFill>
              <a:srgbClr val="953735">
                <a:alpha val="65098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339751" y="4810860"/>
              <a:ext cx="216535" cy="1218565"/>
            </a:xfrm>
            <a:custGeom>
              <a:avLst/>
              <a:gdLst/>
              <a:ahLst/>
              <a:cxnLst/>
              <a:rect l="l" t="t" r="r" b="b"/>
              <a:pathLst>
                <a:path w="216535" h="1218564">
                  <a:moveTo>
                    <a:pt x="216024" y="0"/>
                  </a:moveTo>
                  <a:lnTo>
                    <a:pt x="0" y="0"/>
                  </a:lnTo>
                  <a:lnTo>
                    <a:pt x="0" y="1217942"/>
                  </a:lnTo>
                  <a:lnTo>
                    <a:pt x="216024" y="1217942"/>
                  </a:lnTo>
                  <a:lnTo>
                    <a:pt x="216024" y="0"/>
                  </a:lnTo>
                  <a:close/>
                </a:path>
              </a:pathLst>
            </a:custGeom>
            <a:solidFill>
              <a:srgbClr val="4F6228">
                <a:alpha val="65098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3469669" y="4489876"/>
              <a:ext cx="216535" cy="1761489"/>
            </a:xfrm>
            <a:custGeom>
              <a:avLst/>
              <a:gdLst/>
              <a:ahLst/>
              <a:cxnLst/>
              <a:rect l="l" t="t" r="r" b="b"/>
              <a:pathLst>
                <a:path w="216535" h="1761489">
                  <a:moveTo>
                    <a:pt x="216024" y="0"/>
                  </a:moveTo>
                  <a:lnTo>
                    <a:pt x="0" y="0"/>
                  </a:lnTo>
                  <a:lnTo>
                    <a:pt x="0" y="1761143"/>
                  </a:lnTo>
                  <a:lnTo>
                    <a:pt x="216024" y="1761143"/>
                  </a:lnTo>
                  <a:lnTo>
                    <a:pt x="216024" y="0"/>
                  </a:lnTo>
                  <a:close/>
                </a:path>
              </a:pathLst>
            </a:custGeom>
            <a:solidFill>
              <a:srgbClr val="31859C">
                <a:alpha val="65098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196346" y="3563620"/>
            <a:ext cx="56261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0" cap="none" spc="-25" normalizeH="0" baseline="0" noProof="0" dirty="0">
                <a:ln>
                  <a:noFill/>
                </a:ln>
                <a:solidFill>
                  <a:srgbClr val="E46C0A"/>
                </a:solidFill>
                <a:effectLst/>
                <a:uLnTx/>
                <a:uFillTx/>
                <a:latin typeface="Times New Roman"/>
                <a:cs typeface="Times New Roman"/>
              </a:rPr>
              <a:t>AST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73167" y="3371596"/>
            <a:ext cx="91313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cs typeface="Times New Roman"/>
              </a:rPr>
              <a:t>IR</a:t>
            </a:r>
            <a:r>
              <a:rPr kumimoji="0" sz="2200" b="1" i="0" u="none" strike="noStrike" kern="0" cap="none" spc="-13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1" i="0" u="none" strike="noStrike" kern="0" cap="none" spc="-6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cs typeface="Times New Roman"/>
              </a:rPr>
              <a:t>Tree</a:t>
            </a:r>
            <a:endParaRPr kumimoji="0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5940" y="1002284"/>
            <a:ext cx="837934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0" lvl="0" indent="-342265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4965" algn="l"/>
              </a:tabLst>
              <a:defRPr/>
            </a:pPr>
            <a:r>
              <a:rPr kumimoji="0" sz="2400" b="1" i="0" u="none" strike="noStrike" kern="0" cap="none" spc="-45" normalizeH="0" baseline="0" noProof="0" dirty="0">
                <a:ln>
                  <a:noFill/>
                </a:ln>
                <a:solidFill>
                  <a:srgbClr val="E46C0A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AST</a:t>
            </a:r>
            <a:r>
              <a:rPr kumimoji="0" lang="zh-CN" altLang="en-US" sz="2400" b="1" i="0" u="none" strike="noStrike" kern="0" cap="none" spc="-45" normalizeH="0" baseline="0" noProof="0" dirty="0">
                <a:ln>
                  <a:noFill/>
                </a:ln>
                <a:solidFill>
                  <a:srgbClr val="E46C0A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 </a:t>
            </a:r>
            <a:r>
              <a:rPr kumimoji="0" sz="2400" b="1" i="0" u="none" strike="noStrike" kern="0" cap="none" spc="-45" normalizeH="0" baseline="0" noProof="0" dirty="0">
                <a:ln>
                  <a:noFill/>
                </a:ln>
                <a:solidFill>
                  <a:srgbClr val="E46C0A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(</a:t>
            </a:r>
            <a:r>
              <a:rPr kumimoji="0" sz="2400" b="1" i="0" u="none" strike="noStrike" kern="0" cap="none" spc="-30" normalizeH="0" baseline="0" noProof="0" dirty="0">
                <a:ln>
                  <a:noFill/>
                </a:ln>
                <a:solidFill>
                  <a:srgbClr val="E46C0A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抽象语法树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rgbClr val="E46C0A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)</a:t>
            </a:r>
            <a:r>
              <a:rPr kumimoji="0" sz="2400" b="1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: </a:t>
            </a:r>
            <a:r>
              <a:rPr kumimoji="0" sz="2400" b="1" i="0" u="none" strike="noStrike" kern="0" cap="none" spc="-25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语法分析</a:t>
            </a:r>
            <a:r>
              <a:rPr kumimoji="0" sz="24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 </a:t>
            </a:r>
            <a:r>
              <a:rPr kumimoji="0" sz="24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+“</a:t>
            </a:r>
            <a:r>
              <a:rPr kumimoji="0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Parsing</a:t>
            </a:r>
            <a:r>
              <a:rPr kumimoji="0" sz="2400" b="1" i="0" u="none" strike="noStrike" kern="0" cap="none" spc="-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 </a:t>
            </a:r>
            <a:r>
              <a:rPr kumimoji="0" sz="2400" b="1" i="0" u="none" strike="noStrike" kern="0" cap="none" spc="-1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Actions”</a:t>
            </a:r>
            <a:r>
              <a:rPr kumimoji="0" sz="2400" b="1" i="0" u="none" strike="noStrike" kern="0" cap="none" spc="-25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生成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863255" y="2292368"/>
            <a:ext cx="216535" cy="1044575"/>
          </a:xfrm>
          <a:custGeom>
            <a:avLst/>
            <a:gdLst/>
            <a:ahLst/>
            <a:cxnLst/>
            <a:rect l="l" t="t" r="r" b="b"/>
            <a:pathLst>
              <a:path w="216534" h="1044575">
                <a:moveTo>
                  <a:pt x="216000" y="0"/>
                </a:moveTo>
                <a:lnTo>
                  <a:pt x="0" y="0"/>
                </a:lnTo>
                <a:lnTo>
                  <a:pt x="0" y="1043999"/>
                </a:lnTo>
                <a:lnTo>
                  <a:pt x="216000" y="1043999"/>
                </a:lnTo>
                <a:lnTo>
                  <a:pt x="216000" y="0"/>
                </a:lnTo>
                <a:close/>
              </a:path>
            </a:pathLst>
          </a:custGeom>
          <a:solidFill>
            <a:srgbClr val="0432FF">
              <a:alpha val="65098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933408" y="3167379"/>
            <a:ext cx="78359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0" cap="none" spc="-25" normalizeH="0" baseline="0" noProof="0" dirty="0">
                <a:ln>
                  <a:noFill/>
                </a:ln>
                <a:solidFill>
                  <a:srgbClr val="984807"/>
                </a:solidFill>
                <a:effectLst/>
                <a:uLnTx/>
                <a:uFillTx/>
                <a:latin typeface="Times New Roman"/>
                <a:cs typeface="Times New Roman"/>
              </a:rPr>
              <a:t>Assem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10348" y="6297619"/>
            <a:ext cx="609600" cy="335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0" cap="none" spc="-25" normalizeH="0" baseline="0" noProof="0" dirty="0">
                <a:ln>
                  <a:noFill/>
                </a:ln>
                <a:solidFill>
                  <a:srgbClr val="4F6228"/>
                </a:solidFill>
                <a:effectLst/>
                <a:uLnTx/>
                <a:uFillTx/>
                <a:latin typeface="Times New Roman"/>
                <a:cs typeface="Times New Roman"/>
              </a:rPr>
              <a:t>CFG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73414" y="6306763"/>
            <a:ext cx="2301875" cy="335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0" cap="none" spc="-30" normalizeH="0" baseline="0" noProof="0" dirty="0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Times New Roman"/>
                <a:cs typeface="Times New Roman"/>
              </a:rPr>
              <a:t>Interference</a:t>
            </a:r>
            <a:r>
              <a:rPr kumimoji="0" sz="2200" b="1" i="0" u="none" strike="noStrike" kern="0" cap="none" spc="-75" normalizeH="0" baseline="0" noProof="0" dirty="0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1" i="0" u="none" strike="noStrike" kern="0" cap="none" spc="-20" normalizeH="0" baseline="0" noProof="0" dirty="0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Times New Roman"/>
                <a:cs typeface="Times New Roman"/>
              </a:rPr>
              <a:t>Graph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0B3EE39-7673-A1F7-915C-CEE5BDA128BF}"/>
              </a:ext>
            </a:extLst>
          </p:cNvPr>
          <p:cNvSpPr txBox="1"/>
          <p:nvPr/>
        </p:nvSpPr>
        <p:spPr>
          <a:xfrm>
            <a:off x="3898532" y="1708999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508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2200" b="1" i="0" u="none" strike="noStrike" kern="0" cap="none" spc="-30" normalizeH="0" baseline="0" noProof="0" dirty="0" err="1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Times New Roman"/>
              </a:rPr>
              <a:t>Canoicalized</a:t>
            </a:r>
            <a:r>
              <a:rPr kumimoji="0" lang="en" altLang="zh-CN" sz="2200" b="1" i="0" u="none" strike="noStrike" kern="0" cap="none" spc="-75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Times New Roman"/>
              </a:rPr>
              <a:t> </a:t>
            </a:r>
            <a:r>
              <a:rPr kumimoji="0" lang="en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Times New Roman"/>
              </a:rPr>
              <a:t>IR</a:t>
            </a:r>
            <a:r>
              <a:rPr kumimoji="0" lang="en" altLang="zh-CN" sz="2200" b="1" i="0" u="none" strike="noStrike" kern="0" cap="none" spc="-12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Times New Roman"/>
              </a:rPr>
              <a:t> </a:t>
            </a:r>
            <a:r>
              <a:rPr kumimoji="0" lang="en" altLang="zh-CN" sz="2200" b="1" i="0" u="none" strike="noStrike" kern="0" cap="none" spc="-2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Times New Roman"/>
              </a:rPr>
              <a:t>Tree</a:t>
            </a:r>
            <a:endParaRPr kumimoji="0" lang="en" altLang="zh-CN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宋体" panose="02010600030101010101" pitchFamily="2" charset="-122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 err="1"/>
              <a:t>Tiger编译器的流程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685800" y="1700808"/>
            <a:ext cx="7772400" cy="4796147"/>
            <a:chOff x="685800" y="1700808"/>
            <a:chExt cx="7772400" cy="4796147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800" y="1700808"/>
              <a:ext cx="7772400" cy="479614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796135" y="2290580"/>
              <a:ext cx="216535" cy="1044575"/>
            </a:xfrm>
            <a:custGeom>
              <a:avLst/>
              <a:gdLst/>
              <a:ahLst/>
              <a:cxnLst/>
              <a:rect l="l" t="t" r="r" b="b"/>
              <a:pathLst>
                <a:path w="216535" h="1044575">
                  <a:moveTo>
                    <a:pt x="216000" y="0"/>
                  </a:moveTo>
                  <a:lnTo>
                    <a:pt x="0" y="0"/>
                  </a:lnTo>
                  <a:lnTo>
                    <a:pt x="0" y="1043999"/>
                  </a:lnTo>
                  <a:lnTo>
                    <a:pt x="216000" y="1043999"/>
                  </a:lnTo>
                  <a:lnTo>
                    <a:pt x="216000" y="0"/>
                  </a:lnTo>
                  <a:close/>
                </a:path>
              </a:pathLst>
            </a:custGeom>
            <a:solidFill>
              <a:srgbClr val="0432FF">
                <a:alpha val="65098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8233071" y="2290580"/>
              <a:ext cx="216535" cy="1044575"/>
            </a:xfrm>
            <a:custGeom>
              <a:avLst/>
              <a:gdLst/>
              <a:ahLst/>
              <a:cxnLst/>
              <a:rect l="l" t="t" r="r" b="b"/>
              <a:pathLst>
                <a:path w="216534" h="1044575">
                  <a:moveTo>
                    <a:pt x="216000" y="0"/>
                  </a:moveTo>
                  <a:lnTo>
                    <a:pt x="0" y="0"/>
                  </a:lnTo>
                  <a:lnTo>
                    <a:pt x="0" y="1043999"/>
                  </a:lnTo>
                  <a:lnTo>
                    <a:pt x="216000" y="1043999"/>
                  </a:lnTo>
                  <a:lnTo>
                    <a:pt x="216000" y="0"/>
                  </a:lnTo>
                  <a:close/>
                </a:path>
              </a:pathLst>
            </a:custGeom>
            <a:solidFill>
              <a:srgbClr val="953735">
                <a:alpha val="65098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339751" y="4810860"/>
              <a:ext cx="216535" cy="1218565"/>
            </a:xfrm>
            <a:custGeom>
              <a:avLst/>
              <a:gdLst/>
              <a:ahLst/>
              <a:cxnLst/>
              <a:rect l="l" t="t" r="r" b="b"/>
              <a:pathLst>
                <a:path w="216535" h="1218564">
                  <a:moveTo>
                    <a:pt x="216024" y="0"/>
                  </a:moveTo>
                  <a:lnTo>
                    <a:pt x="0" y="0"/>
                  </a:lnTo>
                  <a:lnTo>
                    <a:pt x="0" y="1217942"/>
                  </a:lnTo>
                  <a:lnTo>
                    <a:pt x="216024" y="1217942"/>
                  </a:lnTo>
                  <a:lnTo>
                    <a:pt x="216024" y="0"/>
                  </a:lnTo>
                  <a:close/>
                </a:path>
              </a:pathLst>
            </a:custGeom>
            <a:solidFill>
              <a:srgbClr val="4F6228">
                <a:alpha val="65098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3469669" y="4489876"/>
              <a:ext cx="216535" cy="1761489"/>
            </a:xfrm>
            <a:custGeom>
              <a:avLst/>
              <a:gdLst/>
              <a:ahLst/>
              <a:cxnLst/>
              <a:rect l="l" t="t" r="r" b="b"/>
              <a:pathLst>
                <a:path w="216535" h="1761489">
                  <a:moveTo>
                    <a:pt x="216024" y="0"/>
                  </a:moveTo>
                  <a:lnTo>
                    <a:pt x="0" y="0"/>
                  </a:lnTo>
                  <a:lnTo>
                    <a:pt x="0" y="1761143"/>
                  </a:lnTo>
                  <a:lnTo>
                    <a:pt x="216024" y="1761143"/>
                  </a:lnTo>
                  <a:lnTo>
                    <a:pt x="216024" y="0"/>
                  </a:lnTo>
                  <a:close/>
                </a:path>
              </a:pathLst>
            </a:custGeom>
            <a:solidFill>
              <a:srgbClr val="31859C">
                <a:alpha val="65098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196346" y="3563620"/>
            <a:ext cx="56261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0" cap="none" spc="-25" normalizeH="0" baseline="0" noProof="0" dirty="0">
                <a:ln>
                  <a:noFill/>
                </a:ln>
                <a:solidFill>
                  <a:srgbClr val="E46C0A"/>
                </a:solidFill>
                <a:effectLst/>
                <a:uLnTx/>
                <a:uFillTx/>
                <a:latin typeface="Times New Roman"/>
                <a:cs typeface="Times New Roman"/>
              </a:rPr>
              <a:t>AST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73167" y="3371596"/>
            <a:ext cx="91313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cs typeface="Times New Roman"/>
              </a:rPr>
              <a:t>IR</a:t>
            </a:r>
            <a:r>
              <a:rPr kumimoji="0" sz="2200" b="1" i="0" u="none" strike="noStrike" kern="0" cap="none" spc="-13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1" i="0" u="none" strike="noStrike" kern="0" cap="none" spc="-6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cs typeface="Times New Roman"/>
              </a:rPr>
              <a:t>Tree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5940" y="1002284"/>
            <a:ext cx="811720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0" lvl="0" indent="-342265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4965" algn="l"/>
              </a:tabLst>
              <a:defRPr/>
            </a:pPr>
            <a:r>
              <a:rPr kumimoji="0" sz="2400" b="1" u="none" strike="noStrike" kern="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IR</a:t>
            </a:r>
            <a:r>
              <a:rPr kumimoji="0" sz="2400" b="1" u="none" strike="noStrike" kern="0" cap="none" spc="-15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 </a:t>
            </a:r>
            <a:r>
              <a:rPr kumimoji="0" sz="2400" b="1" u="none" strike="noStrike" kern="0" cap="none" spc="-55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Tree</a:t>
            </a:r>
            <a:r>
              <a:rPr kumimoji="0" sz="2400" b="1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: </a:t>
            </a:r>
            <a:r>
              <a:rPr kumimoji="0" sz="2400" b="1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语义分析后按一定规则生成</a:t>
            </a:r>
            <a:r>
              <a:rPr kumimoji="0" lang="zh-CN" altLang="en-US" sz="2400" b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 </a:t>
            </a:r>
            <a:r>
              <a:rPr kumimoji="0" sz="2400" b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(</a:t>
            </a:r>
            <a:r>
              <a:rPr kumimoji="0" sz="2400" b="1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树型中间表示</a:t>
            </a:r>
            <a:r>
              <a:rPr kumimoji="0" sz="2400" b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)</a:t>
            </a:r>
            <a:endParaRPr kumimoji="0" sz="2400" b="1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863255" y="2292368"/>
            <a:ext cx="216535" cy="1044575"/>
          </a:xfrm>
          <a:custGeom>
            <a:avLst/>
            <a:gdLst/>
            <a:ahLst/>
            <a:cxnLst/>
            <a:rect l="l" t="t" r="r" b="b"/>
            <a:pathLst>
              <a:path w="216534" h="1044575">
                <a:moveTo>
                  <a:pt x="216000" y="0"/>
                </a:moveTo>
                <a:lnTo>
                  <a:pt x="0" y="0"/>
                </a:lnTo>
                <a:lnTo>
                  <a:pt x="0" y="1043999"/>
                </a:lnTo>
                <a:lnTo>
                  <a:pt x="216000" y="1043999"/>
                </a:lnTo>
                <a:lnTo>
                  <a:pt x="216000" y="0"/>
                </a:lnTo>
                <a:close/>
              </a:path>
            </a:pathLst>
          </a:custGeom>
          <a:solidFill>
            <a:srgbClr val="0432FF">
              <a:alpha val="65098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933408" y="3167379"/>
            <a:ext cx="78359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0" cap="none" spc="-25" normalizeH="0" baseline="0" noProof="0" dirty="0">
                <a:ln>
                  <a:noFill/>
                </a:ln>
                <a:solidFill>
                  <a:srgbClr val="984807"/>
                </a:solidFill>
                <a:effectLst/>
                <a:uLnTx/>
                <a:uFillTx/>
                <a:latin typeface="Times New Roman"/>
                <a:cs typeface="Times New Roman"/>
              </a:rPr>
              <a:t>Assem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10348" y="6297619"/>
            <a:ext cx="609600" cy="335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0" cap="none" spc="-25" normalizeH="0" baseline="0" noProof="0" dirty="0">
                <a:ln>
                  <a:noFill/>
                </a:ln>
                <a:solidFill>
                  <a:srgbClr val="4F6228"/>
                </a:solidFill>
                <a:effectLst/>
                <a:uLnTx/>
                <a:uFillTx/>
                <a:latin typeface="Times New Roman"/>
                <a:cs typeface="Times New Roman"/>
              </a:rPr>
              <a:t>CFG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73414" y="6306763"/>
            <a:ext cx="2301875" cy="335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0" cap="none" spc="-30" normalizeH="0" baseline="0" noProof="0" dirty="0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Times New Roman"/>
                <a:cs typeface="Times New Roman"/>
              </a:rPr>
              <a:t>Interference</a:t>
            </a:r>
            <a:r>
              <a:rPr kumimoji="0" sz="2200" b="1" i="0" u="none" strike="noStrike" kern="0" cap="none" spc="-75" normalizeH="0" baseline="0" noProof="0" dirty="0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1" i="0" u="none" strike="noStrike" kern="0" cap="none" spc="-20" normalizeH="0" baseline="0" noProof="0" dirty="0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Times New Roman"/>
                <a:cs typeface="Times New Roman"/>
              </a:rPr>
              <a:t>Graph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8" name="object 5">
            <a:extLst>
              <a:ext uri="{FF2B5EF4-FFF2-40B4-BE49-F238E27FC236}">
                <a16:creationId xmlns:a16="http://schemas.microsoft.com/office/drawing/2014/main" id="{CD3BA5BE-F166-9A5A-6D35-6B70871CAE17}"/>
              </a:ext>
            </a:extLst>
          </p:cNvPr>
          <p:cNvSpPr/>
          <p:nvPr/>
        </p:nvSpPr>
        <p:spPr>
          <a:xfrm>
            <a:off x="3419872" y="2057436"/>
            <a:ext cx="216535" cy="1493749"/>
          </a:xfrm>
          <a:custGeom>
            <a:avLst/>
            <a:gdLst/>
            <a:ahLst/>
            <a:cxnLst/>
            <a:rect l="l" t="t" r="r" b="b"/>
            <a:pathLst>
              <a:path w="216535" h="1404620">
                <a:moveTo>
                  <a:pt x="216023" y="0"/>
                </a:moveTo>
                <a:lnTo>
                  <a:pt x="0" y="0"/>
                </a:lnTo>
                <a:lnTo>
                  <a:pt x="0" y="1403998"/>
                </a:lnTo>
                <a:lnTo>
                  <a:pt x="216023" y="1403998"/>
                </a:lnTo>
                <a:lnTo>
                  <a:pt x="216023" y="0"/>
                </a:lnTo>
                <a:close/>
              </a:path>
            </a:pathLst>
          </a:custGeom>
          <a:solidFill>
            <a:srgbClr val="FAC090">
              <a:alpha val="65098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7440851-C6A4-E631-AC49-062F6DB0631F}"/>
              </a:ext>
            </a:extLst>
          </p:cNvPr>
          <p:cNvSpPr txBox="1"/>
          <p:nvPr/>
        </p:nvSpPr>
        <p:spPr>
          <a:xfrm>
            <a:off x="3898532" y="1708999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508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2200" b="1" i="0" u="none" strike="noStrike" kern="0" cap="none" spc="-30" normalizeH="0" baseline="0" noProof="0" dirty="0" err="1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Times New Roman"/>
              </a:rPr>
              <a:t>Canoicalized</a:t>
            </a:r>
            <a:r>
              <a:rPr kumimoji="0" lang="en" altLang="zh-CN" sz="2200" b="1" i="0" u="none" strike="noStrike" kern="0" cap="none" spc="-75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Times New Roman"/>
              </a:rPr>
              <a:t> </a:t>
            </a:r>
            <a:r>
              <a:rPr kumimoji="0" lang="en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Times New Roman"/>
              </a:rPr>
              <a:t>IR</a:t>
            </a:r>
            <a:r>
              <a:rPr kumimoji="0" lang="en" altLang="zh-CN" sz="2200" b="1" i="0" u="none" strike="noStrike" kern="0" cap="none" spc="-12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Times New Roman"/>
              </a:rPr>
              <a:t> </a:t>
            </a:r>
            <a:r>
              <a:rPr kumimoji="0" lang="en" altLang="zh-CN" sz="2200" b="1" i="0" u="none" strike="noStrike" kern="0" cap="none" spc="-2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Times New Roman"/>
              </a:rPr>
              <a:t>Tree</a:t>
            </a:r>
            <a:endParaRPr kumimoji="0" lang="en" altLang="zh-CN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宋体" panose="02010600030101010101" pitchFamily="2" charset="-122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 err="1"/>
              <a:t>Tiger编译器的流程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685800" y="1700808"/>
            <a:ext cx="7772400" cy="4796147"/>
            <a:chOff x="685800" y="1700808"/>
            <a:chExt cx="7772400" cy="4796147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800" y="1700808"/>
              <a:ext cx="7772400" cy="479614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796135" y="2290580"/>
              <a:ext cx="216535" cy="1044575"/>
            </a:xfrm>
            <a:custGeom>
              <a:avLst/>
              <a:gdLst/>
              <a:ahLst/>
              <a:cxnLst/>
              <a:rect l="l" t="t" r="r" b="b"/>
              <a:pathLst>
                <a:path w="216535" h="1044575">
                  <a:moveTo>
                    <a:pt x="216000" y="0"/>
                  </a:moveTo>
                  <a:lnTo>
                    <a:pt x="0" y="0"/>
                  </a:lnTo>
                  <a:lnTo>
                    <a:pt x="0" y="1043999"/>
                  </a:lnTo>
                  <a:lnTo>
                    <a:pt x="216000" y="1043999"/>
                  </a:lnTo>
                  <a:lnTo>
                    <a:pt x="216000" y="0"/>
                  </a:lnTo>
                  <a:close/>
                </a:path>
              </a:pathLst>
            </a:custGeom>
            <a:solidFill>
              <a:srgbClr val="0432FF">
                <a:alpha val="65098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8233071" y="2290580"/>
              <a:ext cx="216535" cy="1044575"/>
            </a:xfrm>
            <a:custGeom>
              <a:avLst/>
              <a:gdLst/>
              <a:ahLst/>
              <a:cxnLst/>
              <a:rect l="l" t="t" r="r" b="b"/>
              <a:pathLst>
                <a:path w="216534" h="1044575">
                  <a:moveTo>
                    <a:pt x="216000" y="0"/>
                  </a:moveTo>
                  <a:lnTo>
                    <a:pt x="0" y="0"/>
                  </a:lnTo>
                  <a:lnTo>
                    <a:pt x="0" y="1043999"/>
                  </a:lnTo>
                  <a:lnTo>
                    <a:pt x="216000" y="1043999"/>
                  </a:lnTo>
                  <a:lnTo>
                    <a:pt x="216000" y="0"/>
                  </a:lnTo>
                  <a:close/>
                </a:path>
              </a:pathLst>
            </a:custGeom>
            <a:solidFill>
              <a:srgbClr val="953735">
                <a:alpha val="65098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339751" y="4810860"/>
              <a:ext cx="216535" cy="1218565"/>
            </a:xfrm>
            <a:custGeom>
              <a:avLst/>
              <a:gdLst/>
              <a:ahLst/>
              <a:cxnLst/>
              <a:rect l="l" t="t" r="r" b="b"/>
              <a:pathLst>
                <a:path w="216535" h="1218564">
                  <a:moveTo>
                    <a:pt x="216024" y="0"/>
                  </a:moveTo>
                  <a:lnTo>
                    <a:pt x="0" y="0"/>
                  </a:lnTo>
                  <a:lnTo>
                    <a:pt x="0" y="1217942"/>
                  </a:lnTo>
                  <a:lnTo>
                    <a:pt x="216024" y="1217942"/>
                  </a:lnTo>
                  <a:lnTo>
                    <a:pt x="216024" y="0"/>
                  </a:lnTo>
                  <a:close/>
                </a:path>
              </a:pathLst>
            </a:custGeom>
            <a:solidFill>
              <a:srgbClr val="4F6228">
                <a:alpha val="65098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3469669" y="4489876"/>
              <a:ext cx="216535" cy="1761489"/>
            </a:xfrm>
            <a:custGeom>
              <a:avLst/>
              <a:gdLst/>
              <a:ahLst/>
              <a:cxnLst/>
              <a:rect l="l" t="t" r="r" b="b"/>
              <a:pathLst>
                <a:path w="216535" h="1761489">
                  <a:moveTo>
                    <a:pt x="216024" y="0"/>
                  </a:moveTo>
                  <a:lnTo>
                    <a:pt x="0" y="0"/>
                  </a:lnTo>
                  <a:lnTo>
                    <a:pt x="0" y="1761143"/>
                  </a:lnTo>
                  <a:lnTo>
                    <a:pt x="216024" y="1761143"/>
                  </a:lnTo>
                  <a:lnTo>
                    <a:pt x="216024" y="0"/>
                  </a:lnTo>
                  <a:close/>
                </a:path>
              </a:pathLst>
            </a:custGeom>
            <a:solidFill>
              <a:srgbClr val="31859C">
                <a:alpha val="65098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196346" y="3563620"/>
            <a:ext cx="56261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0" cap="none" spc="-25" normalizeH="0" baseline="0" noProof="0" dirty="0">
                <a:ln>
                  <a:noFill/>
                </a:ln>
                <a:solidFill>
                  <a:srgbClr val="E46C0A"/>
                </a:solidFill>
                <a:effectLst/>
                <a:uLnTx/>
                <a:uFillTx/>
                <a:latin typeface="Times New Roman"/>
                <a:cs typeface="Times New Roman"/>
              </a:rPr>
              <a:t>AST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73167" y="3371596"/>
            <a:ext cx="91313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cs typeface="Times New Roman"/>
              </a:rPr>
              <a:t>IR</a:t>
            </a:r>
            <a:r>
              <a:rPr kumimoji="0" sz="2200" b="1" i="0" u="none" strike="noStrike" kern="0" cap="none" spc="-13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1" i="0" u="none" strike="noStrike" kern="0" cap="none" spc="-6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cs typeface="Times New Roman"/>
              </a:rPr>
              <a:t>Tree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5940" y="1002284"/>
            <a:ext cx="8181058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0" lvl="0" indent="-342265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4965" algn="l"/>
              </a:tabLst>
              <a:defRPr/>
            </a:pPr>
            <a:r>
              <a:rPr kumimoji="0" sz="2400" b="1" u="none" strike="noStrike" kern="0" cap="none" spc="-3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Canonicalized</a:t>
            </a:r>
            <a:r>
              <a:rPr kumimoji="0" sz="2400" b="1" u="none" strike="noStrike" kern="0" cap="none" spc="-95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 </a:t>
            </a:r>
            <a:r>
              <a:rPr kumimoji="0" sz="2400" b="1" u="none" strike="noStrike" kern="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IR</a:t>
            </a:r>
            <a:r>
              <a:rPr kumimoji="0" sz="2400" b="1" u="none" strike="noStrike" kern="0" cap="none" spc="-13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 </a:t>
            </a:r>
            <a:r>
              <a:rPr kumimoji="0" sz="2400" b="1" u="none" strike="noStrike" kern="0" cap="none" spc="-55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Tree</a:t>
            </a:r>
            <a:r>
              <a:rPr kumimoji="0" sz="2400" b="1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: </a:t>
            </a:r>
            <a:r>
              <a:rPr kumimoji="0" lang="zh-CN" altLang="en-US" sz="2400" b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规范化</a:t>
            </a:r>
            <a:r>
              <a:rPr kumimoji="0" lang="en" altLang="zh-CN" sz="2400" b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IR</a:t>
            </a:r>
            <a:r>
              <a:rPr kumimoji="0" lang="en" altLang="zh-CN" sz="2400" b="1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 </a:t>
            </a:r>
            <a:r>
              <a:rPr kumimoji="0" lang="en" altLang="zh-CN" sz="2400" b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Tree</a:t>
            </a:r>
            <a:r>
              <a:rPr kumimoji="0" lang="zh-CN" altLang="en-US" sz="2400" b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 </a:t>
            </a:r>
            <a:r>
              <a:rPr kumimoji="0" sz="2400" b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(</a:t>
            </a:r>
            <a:r>
              <a:rPr kumimoji="0" sz="2400" b="1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方便生成汇编</a:t>
            </a:r>
            <a:r>
              <a:rPr kumimoji="0" sz="2400" b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)</a:t>
            </a:r>
            <a:endParaRPr kumimoji="0" sz="2400" b="1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863255" y="2292368"/>
            <a:ext cx="216535" cy="1044575"/>
          </a:xfrm>
          <a:custGeom>
            <a:avLst/>
            <a:gdLst/>
            <a:ahLst/>
            <a:cxnLst/>
            <a:rect l="l" t="t" r="r" b="b"/>
            <a:pathLst>
              <a:path w="216534" h="1044575">
                <a:moveTo>
                  <a:pt x="216000" y="0"/>
                </a:moveTo>
                <a:lnTo>
                  <a:pt x="0" y="0"/>
                </a:lnTo>
                <a:lnTo>
                  <a:pt x="0" y="1043999"/>
                </a:lnTo>
                <a:lnTo>
                  <a:pt x="216000" y="1043999"/>
                </a:lnTo>
                <a:lnTo>
                  <a:pt x="216000" y="0"/>
                </a:lnTo>
                <a:close/>
              </a:path>
            </a:pathLst>
          </a:custGeom>
          <a:solidFill>
            <a:srgbClr val="0432FF">
              <a:alpha val="65098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933408" y="3167379"/>
            <a:ext cx="78359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0" cap="none" spc="-25" normalizeH="0" baseline="0" noProof="0" dirty="0">
                <a:ln>
                  <a:noFill/>
                </a:ln>
                <a:solidFill>
                  <a:srgbClr val="984807"/>
                </a:solidFill>
                <a:effectLst/>
                <a:uLnTx/>
                <a:uFillTx/>
                <a:latin typeface="Times New Roman"/>
                <a:cs typeface="Times New Roman"/>
              </a:rPr>
              <a:t>Assem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10348" y="6297619"/>
            <a:ext cx="609600" cy="335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0" cap="none" spc="-25" normalizeH="0" baseline="0" noProof="0" dirty="0">
                <a:ln>
                  <a:noFill/>
                </a:ln>
                <a:solidFill>
                  <a:srgbClr val="4F6228"/>
                </a:solidFill>
                <a:effectLst/>
                <a:uLnTx/>
                <a:uFillTx/>
                <a:latin typeface="Times New Roman"/>
                <a:cs typeface="Times New Roman"/>
              </a:rPr>
              <a:t>CFG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73414" y="6306763"/>
            <a:ext cx="2301875" cy="335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0" cap="none" spc="-30" normalizeH="0" baseline="0" noProof="0" dirty="0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Times New Roman"/>
                <a:cs typeface="Times New Roman"/>
              </a:rPr>
              <a:t>Interference</a:t>
            </a:r>
            <a:r>
              <a:rPr kumimoji="0" sz="2200" b="1" i="0" u="none" strike="noStrike" kern="0" cap="none" spc="-75" normalizeH="0" baseline="0" noProof="0" dirty="0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1" i="0" u="none" strike="noStrike" kern="0" cap="none" spc="-20" normalizeH="0" baseline="0" noProof="0" dirty="0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Times New Roman"/>
                <a:cs typeface="Times New Roman"/>
              </a:rPr>
              <a:t>Graph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E85A700-623B-7EEC-7C55-95EF80BD5838}"/>
              </a:ext>
            </a:extLst>
          </p:cNvPr>
          <p:cNvSpPr txBox="1"/>
          <p:nvPr/>
        </p:nvSpPr>
        <p:spPr>
          <a:xfrm>
            <a:off x="3898532" y="1708999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508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2200" b="1" i="0" u="none" strike="noStrike" kern="0" cap="none" spc="-30" normalizeH="0" baseline="0" noProof="0" dirty="0" err="1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Times New Roman"/>
              </a:rPr>
              <a:t>Canoicalized</a:t>
            </a:r>
            <a:r>
              <a:rPr kumimoji="0" lang="en" altLang="zh-CN" sz="2200" b="1" i="0" u="none" strike="noStrike" kern="0" cap="none" spc="-75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Times New Roman"/>
              </a:rPr>
              <a:t> </a:t>
            </a:r>
            <a:r>
              <a:rPr kumimoji="0" lang="en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Times New Roman"/>
              </a:rPr>
              <a:t>IR</a:t>
            </a:r>
            <a:r>
              <a:rPr kumimoji="0" lang="en" altLang="zh-CN" sz="2200" b="1" i="0" u="none" strike="noStrike" kern="0" cap="none" spc="-12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Times New Roman"/>
              </a:rPr>
              <a:t> </a:t>
            </a:r>
            <a:r>
              <a:rPr kumimoji="0" lang="en" altLang="zh-CN" sz="2200" b="1" i="0" u="none" strike="noStrike" kern="0" cap="none" spc="-2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Times New Roman"/>
              </a:rPr>
              <a:t>Tree</a:t>
            </a:r>
            <a:endParaRPr kumimoji="0" lang="en" altLang="zh-CN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宋体" panose="02010600030101010101" pitchFamily="2" charset="-122"/>
              <a:cs typeface="Times New Roman"/>
            </a:endParaRPr>
          </a:p>
        </p:txBody>
      </p:sp>
      <p:sp>
        <p:nvSpPr>
          <p:cNvPr id="19" name="object 5">
            <a:extLst>
              <a:ext uri="{FF2B5EF4-FFF2-40B4-BE49-F238E27FC236}">
                <a16:creationId xmlns:a16="http://schemas.microsoft.com/office/drawing/2014/main" id="{E46AE012-7BE9-F949-6BA7-BB01757C56FA}"/>
              </a:ext>
            </a:extLst>
          </p:cNvPr>
          <p:cNvSpPr/>
          <p:nvPr/>
        </p:nvSpPr>
        <p:spPr>
          <a:xfrm>
            <a:off x="3419872" y="2057436"/>
            <a:ext cx="216535" cy="1493749"/>
          </a:xfrm>
          <a:custGeom>
            <a:avLst/>
            <a:gdLst/>
            <a:ahLst/>
            <a:cxnLst/>
            <a:rect l="l" t="t" r="r" b="b"/>
            <a:pathLst>
              <a:path w="216535" h="1404620">
                <a:moveTo>
                  <a:pt x="216023" y="0"/>
                </a:moveTo>
                <a:lnTo>
                  <a:pt x="0" y="0"/>
                </a:lnTo>
                <a:lnTo>
                  <a:pt x="0" y="1403998"/>
                </a:lnTo>
                <a:lnTo>
                  <a:pt x="216023" y="1403998"/>
                </a:lnTo>
                <a:lnTo>
                  <a:pt x="216023" y="0"/>
                </a:lnTo>
                <a:close/>
              </a:path>
            </a:pathLst>
          </a:custGeom>
          <a:solidFill>
            <a:srgbClr val="FAC090">
              <a:alpha val="65098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 err="1"/>
              <a:t>Tiger编译器的流程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685800" y="1700808"/>
            <a:ext cx="7772400" cy="4796147"/>
            <a:chOff x="685800" y="1700808"/>
            <a:chExt cx="7772400" cy="4796147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800" y="1700808"/>
              <a:ext cx="7772400" cy="479614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796135" y="2290580"/>
              <a:ext cx="216535" cy="1044575"/>
            </a:xfrm>
            <a:custGeom>
              <a:avLst/>
              <a:gdLst/>
              <a:ahLst/>
              <a:cxnLst/>
              <a:rect l="l" t="t" r="r" b="b"/>
              <a:pathLst>
                <a:path w="216535" h="1044575">
                  <a:moveTo>
                    <a:pt x="216000" y="0"/>
                  </a:moveTo>
                  <a:lnTo>
                    <a:pt x="0" y="0"/>
                  </a:lnTo>
                  <a:lnTo>
                    <a:pt x="0" y="1043999"/>
                  </a:lnTo>
                  <a:lnTo>
                    <a:pt x="216000" y="1043999"/>
                  </a:lnTo>
                  <a:lnTo>
                    <a:pt x="216000" y="0"/>
                  </a:lnTo>
                  <a:close/>
                </a:path>
              </a:pathLst>
            </a:custGeom>
            <a:solidFill>
              <a:srgbClr val="0432FF">
                <a:alpha val="65098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8233071" y="2290580"/>
              <a:ext cx="216535" cy="1044575"/>
            </a:xfrm>
            <a:custGeom>
              <a:avLst/>
              <a:gdLst/>
              <a:ahLst/>
              <a:cxnLst/>
              <a:rect l="l" t="t" r="r" b="b"/>
              <a:pathLst>
                <a:path w="216534" h="1044575">
                  <a:moveTo>
                    <a:pt x="216000" y="0"/>
                  </a:moveTo>
                  <a:lnTo>
                    <a:pt x="0" y="0"/>
                  </a:lnTo>
                  <a:lnTo>
                    <a:pt x="0" y="1043999"/>
                  </a:lnTo>
                  <a:lnTo>
                    <a:pt x="216000" y="1043999"/>
                  </a:lnTo>
                  <a:lnTo>
                    <a:pt x="216000" y="0"/>
                  </a:lnTo>
                  <a:close/>
                </a:path>
              </a:pathLst>
            </a:custGeom>
            <a:solidFill>
              <a:srgbClr val="953735">
                <a:alpha val="65098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339751" y="4810860"/>
              <a:ext cx="216535" cy="1218565"/>
            </a:xfrm>
            <a:custGeom>
              <a:avLst/>
              <a:gdLst/>
              <a:ahLst/>
              <a:cxnLst/>
              <a:rect l="l" t="t" r="r" b="b"/>
              <a:pathLst>
                <a:path w="216535" h="1218564">
                  <a:moveTo>
                    <a:pt x="216024" y="0"/>
                  </a:moveTo>
                  <a:lnTo>
                    <a:pt x="0" y="0"/>
                  </a:lnTo>
                  <a:lnTo>
                    <a:pt x="0" y="1217942"/>
                  </a:lnTo>
                  <a:lnTo>
                    <a:pt x="216024" y="1217942"/>
                  </a:lnTo>
                  <a:lnTo>
                    <a:pt x="216024" y="0"/>
                  </a:lnTo>
                  <a:close/>
                </a:path>
              </a:pathLst>
            </a:custGeom>
            <a:solidFill>
              <a:srgbClr val="4F6228">
                <a:alpha val="65098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3469669" y="4489876"/>
              <a:ext cx="216535" cy="1761489"/>
            </a:xfrm>
            <a:custGeom>
              <a:avLst/>
              <a:gdLst/>
              <a:ahLst/>
              <a:cxnLst/>
              <a:rect l="l" t="t" r="r" b="b"/>
              <a:pathLst>
                <a:path w="216535" h="1761489">
                  <a:moveTo>
                    <a:pt x="216024" y="0"/>
                  </a:moveTo>
                  <a:lnTo>
                    <a:pt x="0" y="0"/>
                  </a:lnTo>
                  <a:lnTo>
                    <a:pt x="0" y="1761143"/>
                  </a:lnTo>
                  <a:lnTo>
                    <a:pt x="216024" y="1761143"/>
                  </a:lnTo>
                  <a:lnTo>
                    <a:pt x="216024" y="0"/>
                  </a:lnTo>
                  <a:close/>
                </a:path>
              </a:pathLst>
            </a:custGeom>
            <a:solidFill>
              <a:srgbClr val="31859C">
                <a:alpha val="65098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196346" y="3563620"/>
            <a:ext cx="56261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0" cap="none" spc="-25" normalizeH="0" baseline="0" noProof="0" dirty="0">
                <a:ln>
                  <a:noFill/>
                </a:ln>
                <a:solidFill>
                  <a:srgbClr val="E46C0A"/>
                </a:solidFill>
                <a:effectLst/>
                <a:uLnTx/>
                <a:uFillTx/>
                <a:latin typeface="Times New Roman"/>
                <a:cs typeface="Times New Roman"/>
              </a:rPr>
              <a:t>AST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73167" y="3371596"/>
            <a:ext cx="91313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cs typeface="Times New Roman"/>
              </a:rPr>
              <a:t>IR</a:t>
            </a:r>
            <a:r>
              <a:rPr kumimoji="0" sz="2200" b="1" i="0" u="none" strike="noStrike" kern="0" cap="none" spc="-13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1" i="0" u="none" strike="noStrike" kern="0" cap="none" spc="-6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cs typeface="Times New Roman"/>
              </a:rPr>
              <a:t>Tree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5940" y="1002284"/>
            <a:ext cx="826960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0" lvl="0" indent="-342265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4965" algn="l"/>
              </a:tabLst>
              <a:defRPr/>
            </a:pPr>
            <a:r>
              <a:rPr kumimoji="0" sz="2400" b="1" u="none" strike="noStrike" kern="0" cap="none" spc="-10" normalizeH="0" baseline="0" noProof="0" dirty="0">
                <a:ln>
                  <a:noFill/>
                </a:ln>
                <a:solidFill>
                  <a:srgbClr val="984807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Assem</a:t>
            </a:r>
            <a:r>
              <a:rPr kumimoji="0" sz="2400" b="1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: </a:t>
            </a:r>
            <a:r>
              <a:rPr kumimoji="0" sz="2400" b="1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指令选择器生成</a:t>
            </a:r>
            <a:r>
              <a:rPr kumimoji="0" lang="zh-CN" altLang="en-US" sz="2400" b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 </a:t>
            </a:r>
            <a:r>
              <a:rPr kumimoji="0" sz="2400" b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(</a:t>
            </a:r>
            <a:r>
              <a:rPr kumimoji="0" sz="2400" b="1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一种特殊的</a:t>
            </a:r>
            <a:r>
              <a:rPr kumimoji="0" lang="zh-CN" altLang="en-US" sz="2400" b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抽象</a:t>
            </a:r>
            <a:r>
              <a:rPr kumimoji="0" sz="2400" b="1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汇编</a:t>
            </a:r>
            <a:r>
              <a:rPr kumimoji="0" sz="2400" b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)</a:t>
            </a:r>
            <a:endParaRPr kumimoji="0" sz="2400" b="1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863255" y="2292368"/>
            <a:ext cx="216535" cy="1044575"/>
          </a:xfrm>
          <a:custGeom>
            <a:avLst/>
            <a:gdLst/>
            <a:ahLst/>
            <a:cxnLst/>
            <a:rect l="l" t="t" r="r" b="b"/>
            <a:pathLst>
              <a:path w="216534" h="1044575">
                <a:moveTo>
                  <a:pt x="216000" y="0"/>
                </a:moveTo>
                <a:lnTo>
                  <a:pt x="0" y="0"/>
                </a:lnTo>
                <a:lnTo>
                  <a:pt x="0" y="1043999"/>
                </a:lnTo>
                <a:lnTo>
                  <a:pt x="216000" y="1043999"/>
                </a:lnTo>
                <a:lnTo>
                  <a:pt x="216000" y="0"/>
                </a:lnTo>
                <a:close/>
              </a:path>
            </a:pathLst>
          </a:custGeom>
          <a:solidFill>
            <a:srgbClr val="0432FF">
              <a:alpha val="65098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933408" y="3167379"/>
            <a:ext cx="78359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0" cap="none" spc="-25" normalizeH="0" baseline="0" noProof="0" dirty="0">
                <a:ln>
                  <a:noFill/>
                </a:ln>
                <a:solidFill>
                  <a:srgbClr val="984807"/>
                </a:solidFill>
                <a:effectLst/>
                <a:uLnTx/>
                <a:uFillTx/>
                <a:latin typeface="Times New Roman"/>
                <a:cs typeface="Times New Roman"/>
              </a:rPr>
              <a:t>Assem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10348" y="6297619"/>
            <a:ext cx="609600" cy="335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0" cap="none" spc="-25" normalizeH="0" baseline="0" noProof="0" dirty="0">
                <a:ln>
                  <a:noFill/>
                </a:ln>
                <a:solidFill>
                  <a:srgbClr val="4F6228"/>
                </a:solidFill>
                <a:effectLst/>
                <a:uLnTx/>
                <a:uFillTx/>
                <a:latin typeface="Times New Roman"/>
                <a:cs typeface="Times New Roman"/>
              </a:rPr>
              <a:t>CFG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73414" y="6306763"/>
            <a:ext cx="2301875" cy="335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0" cap="none" spc="-30" normalizeH="0" baseline="0" noProof="0" dirty="0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Times New Roman"/>
                <a:cs typeface="Times New Roman"/>
              </a:rPr>
              <a:t>Interference</a:t>
            </a:r>
            <a:r>
              <a:rPr kumimoji="0" sz="2200" b="1" i="0" u="none" strike="noStrike" kern="0" cap="none" spc="-75" normalizeH="0" baseline="0" noProof="0" dirty="0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1" i="0" u="none" strike="noStrike" kern="0" cap="none" spc="-20" normalizeH="0" baseline="0" noProof="0" dirty="0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Times New Roman"/>
                <a:cs typeface="Times New Roman"/>
              </a:rPr>
              <a:t>Graph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EE81AAD-1F22-ED95-7EDB-A3E578ABF321}"/>
              </a:ext>
            </a:extLst>
          </p:cNvPr>
          <p:cNvSpPr txBox="1"/>
          <p:nvPr/>
        </p:nvSpPr>
        <p:spPr>
          <a:xfrm>
            <a:off x="3898532" y="1708999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508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2200" b="1" i="0" u="none" strike="noStrike" kern="0" cap="none" spc="-30" normalizeH="0" baseline="0" noProof="0" dirty="0" err="1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Times New Roman"/>
              </a:rPr>
              <a:t>Canoicalized</a:t>
            </a:r>
            <a:r>
              <a:rPr kumimoji="0" lang="en" altLang="zh-CN" sz="2200" b="1" i="0" u="none" strike="noStrike" kern="0" cap="none" spc="-75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Times New Roman"/>
              </a:rPr>
              <a:t> </a:t>
            </a:r>
            <a:r>
              <a:rPr kumimoji="0" lang="en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Times New Roman"/>
              </a:rPr>
              <a:t>IR</a:t>
            </a:r>
            <a:r>
              <a:rPr kumimoji="0" lang="en" altLang="zh-CN" sz="2200" b="1" i="0" u="none" strike="noStrike" kern="0" cap="none" spc="-12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Times New Roman"/>
              </a:rPr>
              <a:t> </a:t>
            </a:r>
            <a:r>
              <a:rPr kumimoji="0" lang="en" altLang="zh-CN" sz="2200" b="1" i="0" u="none" strike="noStrike" kern="0" cap="none" spc="-2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Times New Roman"/>
              </a:rPr>
              <a:t>Tree</a:t>
            </a:r>
            <a:endParaRPr kumimoji="0" lang="en" altLang="zh-CN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宋体" panose="02010600030101010101" pitchFamily="2" charset="-122"/>
              <a:cs typeface="Times New Roman"/>
            </a:endParaRPr>
          </a:p>
        </p:txBody>
      </p:sp>
      <p:sp>
        <p:nvSpPr>
          <p:cNvPr id="19" name="object 5">
            <a:extLst>
              <a:ext uri="{FF2B5EF4-FFF2-40B4-BE49-F238E27FC236}">
                <a16:creationId xmlns:a16="http://schemas.microsoft.com/office/drawing/2014/main" id="{65BD00D2-4DFA-5183-5379-1E405655F36B}"/>
              </a:ext>
            </a:extLst>
          </p:cNvPr>
          <p:cNvSpPr/>
          <p:nvPr/>
        </p:nvSpPr>
        <p:spPr>
          <a:xfrm>
            <a:off x="3419872" y="2057436"/>
            <a:ext cx="216535" cy="1493749"/>
          </a:xfrm>
          <a:custGeom>
            <a:avLst/>
            <a:gdLst/>
            <a:ahLst/>
            <a:cxnLst/>
            <a:rect l="l" t="t" r="r" b="b"/>
            <a:pathLst>
              <a:path w="216535" h="1404620">
                <a:moveTo>
                  <a:pt x="216023" y="0"/>
                </a:moveTo>
                <a:lnTo>
                  <a:pt x="0" y="0"/>
                </a:lnTo>
                <a:lnTo>
                  <a:pt x="0" y="1403998"/>
                </a:lnTo>
                <a:lnTo>
                  <a:pt x="216023" y="1403998"/>
                </a:lnTo>
                <a:lnTo>
                  <a:pt x="216023" y="0"/>
                </a:lnTo>
                <a:close/>
              </a:path>
            </a:pathLst>
          </a:custGeom>
          <a:solidFill>
            <a:srgbClr val="FAC090">
              <a:alpha val="65098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 err="1"/>
              <a:t>Tiger编译器的流程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685800" y="1700808"/>
            <a:ext cx="7772400" cy="4818351"/>
            <a:chOff x="685800" y="1700808"/>
            <a:chExt cx="7772400" cy="481835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800" y="1700808"/>
              <a:ext cx="7772400" cy="481835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796135" y="2290580"/>
              <a:ext cx="216535" cy="1044575"/>
            </a:xfrm>
            <a:custGeom>
              <a:avLst/>
              <a:gdLst/>
              <a:ahLst/>
              <a:cxnLst/>
              <a:rect l="l" t="t" r="r" b="b"/>
              <a:pathLst>
                <a:path w="216535" h="1044575">
                  <a:moveTo>
                    <a:pt x="216000" y="0"/>
                  </a:moveTo>
                  <a:lnTo>
                    <a:pt x="0" y="0"/>
                  </a:lnTo>
                  <a:lnTo>
                    <a:pt x="0" y="1043999"/>
                  </a:lnTo>
                  <a:lnTo>
                    <a:pt x="216000" y="1043999"/>
                  </a:lnTo>
                  <a:lnTo>
                    <a:pt x="216000" y="0"/>
                  </a:lnTo>
                  <a:close/>
                </a:path>
              </a:pathLst>
            </a:custGeom>
            <a:solidFill>
              <a:srgbClr val="0432FF">
                <a:alpha val="65098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8233071" y="2290580"/>
              <a:ext cx="216535" cy="1044575"/>
            </a:xfrm>
            <a:custGeom>
              <a:avLst/>
              <a:gdLst/>
              <a:ahLst/>
              <a:cxnLst/>
              <a:rect l="l" t="t" r="r" b="b"/>
              <a:pathLst>
                <a:path w="216534" h="1044575">
                  <a:moveTo>
                    <a:pt x="216000" y="0"/>
                  </a:moveTo>
                  <a:lnTo>
                    <a:pt x="0" y="0"/>
                  </a:lnTo>
                  <a:lnTo>
                    <a:pt x="0" y="1043999"/>
                  </a:lnTo>
                  <a:lnTo>
                    <a:pt x="216000" y="1043999"/>
                  </a:lnTo>
                  <a:lnTo>
                    <a:pt x="216000" y="0"/>
                  </a:lnTo>
                  <a:close/>
                </a:path>
              </a:pathLst>
            </a:custGeom>
            <a:solidFill>
              <a:srgbClr val="953735">
                <a:alpha val="65098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339751" y="4810860"/>
              <a:ext cx="216535" cy="1218565"/>
            </a:xfrm>
            <a:custGeom>
              <a:avLst/>
              <a:gdLst/>
              <a:ahLst/>
              <a:cxnLst/>
              <a:rect l="l" t="t" r="r" b="b"/>
              <a:pathLst>
                <a:path w="216535" h="1218564">
                  <a:moveTo>
                    <a:pt x="216024" y="0"/>
                  </a:moveTo>
                  <a:lnTo>
                    <a:pt x="0" y="0"/>
                  </a:lnTo>
                  <a:lnTo>
                    <a:pt x="0" y="1217942"/>
                  </a:lnTo>
                  <a:lnTo>
                    <a:pt x="216024" y="1217942"/>
                  </a:lnTo>
                  <a:lnTo>
                    <a:pt x="216024" y="0"/>
                  </a:lnTo>
                  <a:close/>
                </a:path>
              </a:pathLst>
            </a:custGeom>
            <a:solidFill>
              <a:srgbClr val="4F6228">
                <a:alpha val="65098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3469669" y="4489876"/>
              <a:ext cx="216535" cy="1761489"/>
            </a:xfrm>
            <a:custGeom>
              <a:avLst/>
              <a:gdLst/>
              <a:ahLst/>
              <a:cxnLst/>
              <a:rect l="l" t="t" r="r" b="b"/>
              <a:pathLst>
                <a:path w="216535" h="1761489">
                  <a:moveTo>
                    <a:pt x="216024" y="0"/>
                  </a:moveTo>
                  <a:lnTo>
                    <a:pt x="0" y="0"/>
                  </a:lnTo>
                  <a:lnTo>
                    <a:pt x="0" y="1761143"/>
                  </a:lnTo>
                  <a:lnTo>
                    <a:pt x="216024" y="1761143"/>
                  </a:lnTo>
                  <a:lnTo>
                    <a:pt x="216024" y="0"/>
                  </a:lnTo>
                  <a:close/>
                </a:path>
              </a:pathLst>
            </a:custGeom>
            <a:solidFill>
              <a:srgbClr val="31859C">
                <a:alpha val="65098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196346" y="3563620"/>
            <a:ext cx="56261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0" cap="none" spc="-25" normalizeH="0" baseline="0" noProof="0" dirty="0">
                <a:ln>
                  <a:noFill/>
                </a:ln>
                <a:solidFill>
                  <a:srgbClr val="E46C0A"/>
                </a:solidFill>
                <a:effectLst/>
                <a:uLnTx/>
                <a:uFillTx/>
                <a:latin typeface="Times New Roman"/>
                <a:cs typeface="Times New Roman"/>
              </a:rPr>
              <a:t>AST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73167" y="3371596"/>
            <a:ext cx="91313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cs typeface="Times New Roman"/>
              </a:rPr>
              <a:t>IR</a:t>
            </a:r>
            <a:r>
              <a:rPr kumimoji="0" sz="2200" b="1" i="0" u="none" strike="noStrike" kern="0" cap="none" spc="-13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1" i="0" u="none" strike="noStrike" kern="0" cap="none" spc="-6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cs typeface="Times New Roman"/>
              </a:rPr>
              <a:t>Tree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5940" y="816355"/>
            <a:ext cx="8912732" cy="908582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354965" marR="0" lvl="0" indent="-342265" defTabSz="914400" eaLnBrk="1" fontAlgn="auto" latinLnBrk="0" hangingPunct="1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4965" algn="l"/>
              </a:tabLst>
              <a:defRPr/>
            </a:pPr>
            <a:r>
              <a:rPr kumimoji="0" sz="2400" b="1" u="none" strike="noStrike" kern="0" cap="none" spc="-35" normalizeH="0" baseline="0" noProof="0" dirty="0">
                <a:ln>
                  <a:noFill/>
                </a:ln>
                <a:solidFill>
                  <a:srgbClr val="4F6228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CFG</a:t>
            </a:r>
            <a:r>
              <a:rPr kumimoji="0" lang="zh-CN" altLang="en-US" sz="2400" b="1" u="none" strike="noStrike" kern="0" cap="none" spc="-35" normalizeH="0" baseline="0" noProof="0" dirty="0">
                <a:ln>
                  <a:noFill/>
                </a:ln>
                <a:solidFill>
                  <a:srgbClr val="4F6228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 </a:t>
            </a:r>
            <a:r>
              <a:rPr kumimoji="0" sz="2400" b="1" u="none" strike="noStrike" kern="0" cap="none" spc="-35" normalizeH="0" baseline="0" noProof="0" dirty="0">
                <a:ln>
                  <a:noFill/>
                </a:ln>
                <a:solidFill>
                  <a:srgbClr val="4F6228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(Control</a:t>
            </a:r>
            <a:r>
              <a:rPr kumimoji="0" sz="2400" b="1" u="none" strike="noStrike" kern="0" cap="none" spc="-110" normalizeH="0" baseline="0" noProof="0" dirty="0">
                <a:ln>
                  <a:noFill/>
                </a:ln>
                <a:solidFill>
                  <a:srgbClr val="4F6228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 </a:t>
            </a:r>
            <a:r>
              <a:rPr kumimoji="0" sz="2400" b="1" u="none" strike="noStrike" kern="0" cap="none" spc="-10" normalizeH="0" baseline="0" noProof="0" dirty="0">
                <a:ln>
                  <a:noFill/>
                </a:ln>
                <a:solidFill>
                  <a:srgbClr val="4F6228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Flow</a:t>
            </a:r>
            <a:r>
              <a:rPr kumimoji="0" sz="2400" b="1" u="none" strike="noStrike" kern="0" cap="none" spc="-100" normalizeH="0" baseline="0" noProof="0" dirty="0">
                <a:ln>
                  <a:noFill/>
                </a:ln>
                <a:solidFill>
                  <a:srgbClr val="4F6228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 </a:t>
            </a:r>
            <a:r>
              <a:rPr kumimoji="0" sz="2400" b="1" u="none" strike="noStrike" kern="0" cap="none" spc="-10" normalizeH="0" baseline="0" noProof="0" dirty="0">
                <a:ln>
                  <a:noFill/>
                </a:ln>
                <a:solidFill>
                  <a:srgbClr val="4F6228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Graph</a:t>
            </a:r>
            <a:r>
              <a:rPr kumimoji="0" sz="2400" b="1" u="none" strike="noStrike" kern="0" cap="none" spc="-45" normalizeH="0" baseline="0" noProof="0" dirty="0">
                <a:ln>
                  <a:noFill/>
                </a:ln>
                <a:solidFill>
                  <a:srgbClr val="4F6228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) </a:t>
            </a:r>
            <a:r>
              <a:rPr kumimoji="0" sz="2400" b="1" u="none" strike="noStrike" kern="0" cap="none" spc="-30" normalizeH="0" baseline="0" noProof="0" dirty="0">
                <a:ln>
                  <a:noFill/>
                </a:ln>
                <a:solidFill>
                  <a:srgbClr val="4F6228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控制流图</a:t>
            </a:r>
            <a:r>
              <a:rPr kumimoji="0" sz="2400" b="1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: </a:t>
            </a:r>
            <a:r>
              <a:rPr kumimoji="0" sz="2400" b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方便进行数据流分析</a:t>
            </a:r>
            <a:endParaRPr kumimoji="0" sz="2400" b="1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  <a:p>
            <a:pPr marL="469900" marR="0" lvl="0" indent="0" defTabSz="914400" eaLnBrk="1" fontAlgn="auto" latinLnBrk="0" hangingPunct="1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u="none" strike="noStrike" kern="0" cap="none" spc="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/>
              </a:rPr>
              <a:t>– </a:t>
            </a:r>
            <a:r>
              <a:rPr kumimoji="0" sz="240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如活跃变量分析</a:t>
            </a:r>
            <a:r>
              <a:rPr kumimoji="0" lang="zh-CN" altLang="en-US" sz="240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 </a:t>
            </a:r>
            <a:r>
              <a:rPr kumimoji="0" sz="240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(Liveness</a:t>
            </a:r>
            <a:r>
              <a:rPr kumimoji="0" sz="2400" u="none" strike="noStrike" kern="0" cap="none" spc="-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 </a:t>
            </a:r>
            <a:r>
              <a:rPr kumimoji="0" sz="240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Analysis)</a:t>
            </a:r>
            <a:endParaRPr kumimoji="0" sz="240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863255" y="2292368"/>
            <a:ext cx="216535" cy="1044575"/>
          </a:xfrm>
          <a:custGeom>
            <a:avLst/>
            <a:gdLst/>
            <a:ahLst/>
            <a:cxnLst/>
            <a:rect l="l" t="t" r="r" b="b"/>
            <a:pathLst>
              <a:path w="216534" h="1044575">
                <a:moveTo>
                  <a:pt x="216000" y="0"/>
                </a:moveTo>
                <a:lnTo>
                  <a:pt x="0" y="0"/>
                </a:lnTo>
                <a:lnTo>
                  <a:pt x="0" y="1043999"/>
                </a:lnTo>
                <a:lnTo>
                  <a:pt x="216000" y="1043999"/>
                </a:lnTo>
                <a:lnTo>
                  <a:pt x="216000" y="0"/>
                </a:lnTo>
                <a:close/>
              </a:path>
            </a:pathLst>
          </a:custGeom>
          <a:solidFill>
            <a:srgbClr val="0432FF">
              <a:alpha val="65098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933408" y="3167379"/>
            <a:ext cx="78359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0" cap="none" spc="-25" normalizeH="0" baseline="0" noProof="0" dirty="0">
                <a:ln>
                  <a:noFill/>
                </a:ln>
                <a:solidFill>
                  <a:srgbClr val="984807"/>
                </a:solidFill>
                <a:effectLst/>
                <a:uLnTx/>
                <a:uFillTx/>
                <a:latin typeface="Times New Roman"/>
                <a:cs typeface="Times New Roman"/>
              </a:rPr>
              <a:t>Assem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10348" y="6297619"/>
            <a:ext cx="609600" cy="335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0" cap="none" spc="-25" normalizeH="0" baseline="0" noProof="0" dirty="0">
                <a:ln>
                  <a:noFill/>
                </a:ln>
                <a:solidFill>
                  <a:srgbClr val="4F6228"/>
                </a:solidFill>
                <a:effectLst/>
                <a:uLnTx/>
                <a:uFillTx/>
                <a:latin typeface="Times New Roman"/>
                <a:cs typeface="Times New Roman"/>
              </a:rPr>
              <a:t>CFG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73414" y="6306763"/>
            <a:ext cx="2301875" cy="335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0" cap="none" spc="-30" normalizeH="0" baseline="0" noProof="0" dirty="0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Times New Roman"/>
                <a:cs typeface="Times New Roman"/>
              </a:rPr>
              <a:t>Interference</a:t>
            </a:r>
            <a:r>
              <a:rPr kumimoji="0" sz="2200" b="1" i="0" u="none" strike="noStrike" kern="0" cap="none" spc="-75" normalizeH="0" baseline="0" noProof="0" dirty="0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1" i="0" u="none" strike="noStrike" kern="0" cap="none" spc="-20" normalizeH="0" baseline="0" noProof="0" dirty="0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Times New Roman"/>
                <a:cs typeface="Times New Roman"/>
              </a:rPr>
              <a:t>Graph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6B162A6-D404-AA96-CCF4-F0557F530112}"/>
              </a:ext>
            </a:extLst>
          </p:cNvPr>
          <p:cNvSpPr txBox="1"/>
          <p:nvPr/>
        </p:nvSpPr>
        <p:spPr>
          <a:xfrm>
            <a:off x="3898532" y="1708999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508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2200" b="1" i="0" u="none" strike="noStrike" kern="0" cap="none" spc="-30" normalizeH="0" baseline="0" noProof="0" dirty="0" err="1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Times New Roman"/>
              </a:rPr>
              <a:t>Canoicalized</a:t>
            </a:r>
            <a:r>
              <a:rPr kumimoji="0" lang="en" altLang="zh-CN" sz="2200" b="1" i="0" u="none" strike="noStrike" kern="0" cap="none" spc="-75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Times New Roman"/>
              </a:rPr>
              <a:t> </a:t>
            </a:r>
            <a:r>
              <a:rPr kumimoji="0" lang="en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Times New Roman"/>
              </a:rPr>
              <a:t>IR</a:t>
            </a:r>
            <a:r>
              <a:rPr kumimoji="0" lang="en" altLang="zh-CN" sz="2200" b="1" i="0" u="none" strike="noStrike" kern="0" cap="none" spc="-12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Times New Roman"/>
              </a:rPr>
              <a:t> </a:t>
            </a:r>
            <a:r>
              <a:rPr kumimoji="0" lang="en" altLang="zh-CN" sz="2200" b="1" i="0" u="none" strike="noStrike" kern="0" cap="none" spc="-2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Times New Roman"/>
              </a:rPr>
              <a:t>Tree</a:t>
            </a:r>
            <a:endParaRPr kumimoji="0" lang="en" altLang="zh-CN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宋体" panose="02010600030101010101" pitchFamily="2" charset="-122"/>
              <a:cs typeface="Times New Roman"/>
            </a:endParaRPr>
          </a:p>
        </p:txBody>
      </p:sp>
      <p:sp>
        <p:nvSpPr>
          <p:cNvPr id="19" name="object 5">
            <a:extLst>
              <a:ext uri="{FF2B5EF4-FFF2-40B4-BE49-F238E27FC236}">
                <a16:creationId xmlns:a16="http://schemas.microsoft.com/office/drawing/2014/main" id="{77310700-CC67-894A-0371-20C8505CD0D0}"/>
              </a:ext>
            </a:extLst>
          </p:cNvPr>
          <p:cNvSpPr/>
          <p:nvPr/>
        </p:nvSpPr>
        <p:spPr>
          <a:xfrm>
            <a:off x="3419872" y="2057436"/>
            <a:ext cx="216535" cy="1493749"/>
          </a:xfrm>
          <a:custGeom>
            <a:avLst/>
            <a:gdLst/>
            <a:ahLst/>
            <a:cxnLst/>
            <a:rect l="l" t="t" r="r" b="b"/>
            <a:pathLst>
              <a:path w="216535" h="1404620">
                <a:moveTo>
                  <a:pt x="216023" y="0"/>
                </a:moveTo>
                <a:lnTo>
                  <a:pt x="0" y="0"/>
                </a:lnTo>
                <a:lnTo>
                  <a:pt x="0" y="1403998"/>
                </a:lnTo>
                <a:lnTo>
                  <a:pt x="216023" y="1403998"/>
                </a:lnTo>
                <a:lnTo>
                  <a:pt x="216023" y="0"/>
                </a:lnTo>
                <a:close/>
              </a:path>
            </a:pathLst>
          </a:custGeom>
          <a:solidFill>
            <a:srgbClr val="FAC090">
              <a:alpha val="65098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 err="1"/>
              <a:t>Tiger编译器的流程</a:t>
            </a:r>
            <a:endParaRPr spc="-10" dirty="0"/>
          </a:p>
        </p:txBody>
      </p:sp>
      <p:sp>
        <p:nvSpPr>
          <p:cNvPr id="12" name="object 12"/>
          <p:cNvSpPr txBox="1"/>
          <p:nvPr/>
        </p:nvSpPr>
        <p:spPr>
          <a:xfrm>
            <a:off x="535940" y="879883"/>
            <a:ext cx="8455544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62865" lvl="0" indent="-34290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5600" algn="l"/>
              </a:tabLst>
              <a:defRPr/>
            </a:pPr>
            <a:r>
              <a:rPr kumimoji="0" sz="2400" b="1" u="none" strike="noStrike" kern="0" cap="none" spc="-30" normalizeH="0" baseline="0" noProof="0" dirty="0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Interference</a:t>
            </a:r>
            <a:r>
              <a:rPr kumimoji="0" sz="2400" b="1" u="none" strike="noStrike" kern="0" cap="none" spc="-120" normalizeH="0" baseline="0" noProof="0" dirty="0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 </a:t>
            </a:r>
            <a:r>
              <a:rPr sz="2400" b="1" kern="0" spc="-10" dirty="0">
                <a:solidFill>
                  <a:srgbClr val="21596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Graph</a:t>
            </a:r>
            <a:r>
              <a:rPr lang="zh-CN" altLang="en-US" sz="2400" b="1" kern="0" spc="-10" dirty="0">
                <a:solidFill>
                  <a:srgbClr val="21596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 </a:t>
            </a:r>
            <a:r>
              <a:rPr lang="en-US" altLang="zh-CN" sz="2400" b="1" kern="0" spc="-10" dirty="0">
                <a:solidFill>
                  <a:srgbClr val="21596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(</a:t>
            </a:r>
            <a:r>
              <a:rPr lang="zh-CN" altLang="en-US" sz="2400" b="1" kern="0" spc="-10" dirty="0">
                <a:solidFill>
                  <a:srgbClr val="21596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冲突图</a:t>
            </a:r>
            <a:r>
              <a:rPr lang="en-US" altLang="zh-CN" sz="2400" b="1" kern="0" spc="-10" dirty="0">
                <a:solidFill>
                  <a:srgbClr val="21596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)</a:t>
            </a:r>
            <a:r>
              <a:rPr kumimoji="0" sz="2400" b="1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: </a:t>
            </a:r>
            <a:r>
              <a:rPr lang="zh-CN" altLang="en-US" sz="2400" b="1" kern="0" spc="-5" dirty="0">
                <a:solidFill>
                  <a:sysClr val="windowText" lastClr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由</a:t>
            </a:r>
            <a:r>
              <a:rPr kumimoji="0" sz="2400" b="1" u="none" strike="noStrike" kern="0" cap="none" spc="-5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活跃变量分析结果构造，用于指导</a:t>
            </a:r>
            <a:r>
              <a:rPr kumimoji="0" sz="2400" b="1" u="none" strike="noStrike" kern="0" cap="none" spc="-1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寄存器分配</a:t>
            </a:r>
            <a:endParaRPr kumimoji="0" sz="2400" b="1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grpSp>
        <p:nvGrpSpPr>
          <p:cNvPr id="20" name="object 3">
            <a:extLst>
              <a:ext uri="{FF2B5EF4-FFF2-40B4-BE49-F238E27FC236}">
                <a16:creationId xmlns:a16="http://schemas.microsoft.com/office/drawing/2014/main" id="{02201A1D-0212-9FB7-726A-E19927DEB44D}"/>
              </a:ext>
            </a:extLst>
          </p:cNvPr>
          <p:cNvGrpSpPr/>
          <p:nvPr/>
        </p:nvGrpSpPr>
        <p:grpSpPr>
          <a:xfrm>
            <a:off x="685800" y="1700808"/>
            <a:ext cx="7772400" cy="4818351"/>
            <a:chOff x="685800" y="1700808"/>
            <a:chExt cx="7772400" cy="4818351"/>
          </a:xfrm>
        </p:grpSpPr>
        <p:pic>
          <p:nvPicPr>
            <p:cNvPr id="21" name="object 4">
              <a:extLst>
                <a:ext uri="{FF2B5EF4-FFF2-40B4-BE49-F238E27FC236}">
                  <a16:creationId xmlns:a16="http://schemas.microsoft.com/office/drawing/2014/main" id="{207AF2F7-F873-7089-C470-F610185F20C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800" y="1700808"/>
              <a:ext cx="7772400" cy="4818351"/>
            </a:xfrm>
            <a:prstGeom prst="rect">
              <a:avLst/>
            </a:prstGeom>
          </p:spPr>
        </p:pic>
        <p:sp>
          <p:nvSpPr>
            <p:cNvPr id="22" name="object 6">
              <a:extLst>
                <a:ext uri="{FF2B5EF4-FFF2-40B4-BE49-F238E27FC236}">
                  <a16:creationId xmlns:a16="http://schemas.microsoft.com/office/drawing/2014/main" id="{22932F71-B3FA-13D7-7E7B-9A71720A7814}"/>
                </a:ext>
              </a:extLst>
            </p:cNvPr>
            <p:cNvSpPr/>
            <p:nvPr/>
          </p:nvSpPr>
          <p:spPr>
            <a:xfrm>
              <a:off x="5796135" y="2290580"/>
              <a:ext cx="216535" cy="1044575"/>
            </a:xfrm>
            <a:custGeom>
              <a:avLst/>
              <a:gdLst/>
              <a:ahLst/>
              <a:cxnLst/>
              <a:rect l="l" t="t" r="r" b="b"/>
              <a:pathLst>
                <a:path w="216535" h="1044575">
                  <a:moveTo>
                    <a:pt x="216000" y="0"/>
                  </a:moveTo>
                  <a:lnTo>
                    <a:pt x="0" y="0"/>
                  </a:lnTo>
                  <a:lnTo>
                    <a:pt x="0" y="1043999"/>
                  </a:lnTo>
                  <a:lnTo>
                    <a:pt x="216000" y="1043999"/>
                  </a:lnTo>
                  <a:lnTo>
                    <a:pt x="216000" y="0"/>
                  </a:lnTo>
                  <a:close/>
                </a:path>
              </a:pathLst>
            </a:custGeom>
            <a:solidFill>
              <a:srgbClr val="0432FF">
                <a:alpha val="65098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" name="object 7">
              <a:extLst>
                <a:ext uri="{FF2B5EF4-FFF2-40B4-BE49-F238E27FC236}">
                  <a16:creationId xmlns:a16="http://schemas.microsoft.com/office/drawing/2014/main" id="{A16E71AC-3046-C509-05EE-825B9B4F4F9C}"/>
                </a:ext>
              </a:extLst>
            </p:cNvPr>
            <p:cNvSpPr/>
            <p:nvPr/>
          </p:nvSpPr>
          <p:spPr>
            <a:xfrm>
              <a:off x="8233071" y="2290580"/>
              <a:ext cx="216535" cy="1044575"/>
            </a:xfrm>
            <a:custGeom>
              <a:avLst/>
              <a:gdLst/>
              <a:ahLst/>
              <a:cxnLst/>
              <a:rect l="l" t="t" r="r" b="b"/>
              <a:pathLst>
                <a:path w="216534" h="1044575">
                  <a:moveTo>
                    <a:pt x="216000" y="0"/>
                  </a:moveTo>
                  <a:lnTo>
                    <a:pt x="0" y="0"/>
                  </a:lnTo>
                  <a:lnTo>
                    <a:pt x="0" y="1043999"/>
                  </a:lnTo>
                  <a:lnTo>
                    <a:pt x="216000" y="1043999"/>
                  </a:lnTo>
                  <a:lnTo>
                    <a:pt x="216000" y="0"/>
                  </a:lnTo>
                  <a:close/>
                </a:path>
              </a:pathLst>
            </a:custGeom>
            <a:solidFill>
              <a:srgbClr val="953735">
                <a:alpha val="65098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object 8">
              <a:extLst>
                <a:ext uri="{FF2B5EF4-FFF2-40B4-BE49-F238E27FC236}">
                  <a16:creationId xmlns:a16="http://schemas.microsoft.com/office/drawing/2014/main" id="{6F435DFF-4276-AD0F-7380-F613EFBDF23B}"/>
                </a:ext>
              </a:extLst>
            </p:cNvPr>
            <p:cNvSpPr/>
            <p:nvPr/>
          </p:nvSpPr>
          <p:spPr>
            <a:xfrm>
              <a:off x="2339751" y="4810860"/>
              <a:ext cx="216535" cy="1218565"/>
            </a:xfrm>
            <a:custGeom>
              <a:avLst/>
              <a:gdLst/>
              <a:ahLst/>
              <a:cxnLst/>
              <a:rect l="l" t="t" r="r" b="b"/>
              <a:pathLst>
                <a:path w="216535" h="1218564">
                  <a:moveTo>
                    <a:pt x="216024" y="0"/>
                  </a:moveTo>
                  <a:lnTo>
                    <a:pt x="0" y="0"/>
                  </a:lnTo>
                  <a:lnTo>
                    <a:pt x="0" y="1217942"/>
                  </a:lnTo>
                  <a:lnTo>
                    <a:pt x="216024" y="1217942"/>
                  </a:lnTo>
                  <a:lnTo>
                    <a:pt x="216024" y="0"/>
                  </a:lnTo>
                  <a:close/>
                </a:path>
              </a:pathLst>
            </a:custGeom>
            <a:solidFill>
              <a:srgbClr val="4F6228">
                <a:alpha val="65098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object 9">
              <a:extLst>
                <a:ext uri="{FF2B5EF4-FFF2-40B4-BE49-F238E27FC236}">
                  <a16:creationId xmlns:a16="http://schemas.microsoft.com/office/drawing/2014/main" id="{25017F97-4E77-53A2-76B6-17A23E2F4E6B}"/>
                </a:ext>
              </a:extLst>
            </p:cNvPr>
            <p:cNvSpPr/>
            <p:nvPr/>
          </p:nvSpPr>
          <p:spPr>
            <a:xfrm>
              <a:off x="3469669" y="4489876"/>
              <a:ext cx="216535" cy="1761489"/>
            </a:xfrm>
            <a:custGeom>
              <a:avLst/>
              <a:gdLst/>
              <a:ahLst/>
              <a:cxnLst/>
              <a:rect l="l" t="t" r="r" b="b"/>
              <a:pathLst>
                <a:path w="216535" h="1761489">
                  <a:moveTo>
                    <a:pt x="216024" y="0"/>
                  </a:moveTo>
                  <a:lnTo>
                    <a:pt x="0" y="0"/>
                  </a:lnTo>
                  <a:lnTo>
                    <a:pt x="0" y="1761143"/>
                  </a:lnTo>
                  <a:lnTo>
                    <a:pt x="216024" y="1761143"/>
                  </a:lnTo>
                  <a:lnTo>
                    <a:pt x="216024" y="0"/>
                  </a:lnTo>
                  <a:close/>
                </a:path>
              </a:pathLst>
            </a:custGeom>
            <a:solidFill>
              <a:srgbClr val="31859C">
                <a:alpha val="65098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6" name="object 10">
            <a:extLst>
              <a:ext uri="{FF2B5EF4-FFF2-40B4-BE49-F238E27FC236}">
                <a16:creationId xmlns:a16="http://schemas.microsoft.com/office/drawing/2014/main" id="{C1A35EBB-7290-3CAD-1E36-DEBFA3F46326}"/>
              </a:ext>
            </a:extLst>
          </p:cNvPr>
          <p:cNvSpPr txBox="1"/>
          <p:nvPr/>
        </p:nvSpPr>
        <p:spPr>
          <a:xfrm>
            <a:off x="3196346" y="3563620"/>
            <a:ext cx="56261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0" cap="none" spc="-25" normalizeH="0" baseline="0" noProof="0" dirty="0">
                <a:ln>
                  <a:noFill/>
                </a:ln>
                <a:solidFill>
                  <a:srgbClr val="E46C0A"/>
                </a:solidFill>
                <a:effectLst/>
                <a:uLnTx/>
                <a:uFillTx/>
                <a:latin typeface="Times New Roman"/>
                <a:cs typeface="Times New Roman"/>
              </a:rPr>
              <a:t>AST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27" name="object 11">
            <a:extLst>
              <a:ext uri="{FF2B5EF4-FFF2-40B4-BE49-F238E27FC236}">
                <a16:creationId xmlns:a16="http://schemas.microsoft.com/office/drawing/2014/main" id="{7EBB38AF-11FD-83B9-FAA7-E0110031070A}"/>
              </a:ext>
            </a:extLst>
          </p:cNvPr>
          <p:cNvSpPr txBox="1"/>
          <p:nvPr/>
        </p:nvSpPr>
        <p:spPr>
          <a:xfrm>
            <a:off x="5773167" y="3371596"/>
            <a:ext cx="91313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cs typeface="Times New Roman"/>
              </a:rPr>
              <a:t>IR</a:t>
            </a:r>
            <a:r>
              <a:rPr kumimoji="0" sz="2200" b="1" i="0" u="none" strike="noStrike" kern="0" cap="none" spc="-13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1" i="0" u="none" strike="noStrike" kern="0" cap="none" spc="-6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cs typeface="Times New Roman"/>
              </a:rPr>
              <a:t>Tree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28" name="object 13">
            <a:extLst>
              <a:ext uri="{FF2B5EF4-FFF2-40B4-BE49-F238E27FC236}">
                <a16:creationId xmlns:a16="http://schemas.microsoft.com/office/drawing/2014/main" id="{658C094A-3624-E710-AFD8-6AD5F3C16CD9}"/>
              </a:ext>
            </a:extLst>
          </p:cNvPr>
          <p:cNvSpPr/>
          <p:nvPr/>
        </p:nvSpPr>
        <p:spPr>
          <a:xfrm>
            <a:off x="6863255" y="2292368"/>
            <a:ext cx="216535" cy="1044575"/>
          </a:xfrm>
          <a:custGeom>
            <a:avLst/>
            <a:gdLst/>
            <a:ahLst/>
            <a:cxnLst/>
            <a:rect l="l" t="t" r="r" b="b"/>
            <a:pathLst>
              <a:path w="216534" h="1044575">
                <a:moveTo>
                  <a:pt x="216000" y="0"/>
                </a:moveTo>
                <a:lnTo>
                  <a:pt x="0" y="0"/>
                </a:lnTo>
                <a:lnTo>
                  <a:pt x="0" y="1043999"/>
                </a:lnTo>
                <a:lnTo>
                  <a:pt x="216000" y="1043999"/>
                </a:lnTo>
                <a:lnTo>
                  <a:pt x="216000" y="0"/>
                </a:lnTo>
                <a:close/>
              </a:path>
            </a:pathLst>
          </a:custGeom>
          <a:solidFill>
            <a:srgbClr val="0432FF">
              <a:alpha val="65098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9" name="object 14">
            <a:extLst>
              <a:ext uri="{FF2B5EF4-FFF2-40B4-BE49-F238E27FC236}">
                <a16:creationId xmlns:a16="http://schemas.microsoft.com/office/drawing/2014/main" id="{CD7834DA-030C-4217-5378-B5620789946D}"/>
              </a:ext>
            </a:extLst>
          </p:cNvPr>
          <p:cNvSpPr txBox="1"/>
          <p:nvPr/>
        </p:nvSpPr>
        <p:spPr>
          <a:xfrm>
            <a:off x="7933408" y="3167379"/>
            <a:ext cx="78359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0" cap="none" spc="-25" normalizeH="0" baseline="0" noProof="0" dirty="0">
                <a:ln>
                  <a:noFill/>
                </a:ln>
                <a:solidFill>
                  <a:srgbClr val="984807"/>
                </a:solidFill>
                <a:effectLst/>
                <a:uLnTx/>
                <a:uFillTx/>
                <a:latin typeface="Times New Roman"/>
                <a:cs typeface="Times New Roman"/>
              </a:rPr>
              <a:t>Assem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30" name="object 15">
            <a:extLst>
              <a:ext uri="{FF2B5EF4-FFF2-40B4-BE49-F238E27FC236}">
                <a16:creationId xmlns:a16="http://schemas.microsoft.com/office/drawing/2014/main" id="{5333B73F-8316-0A41-0C52-AFA321778810}"/>
              </a:ext>
            </a:extLst>
          </p:cNvPr>
          <p:cNvSpPr txBox="1"/>
          <p:nvPr/>
        </p:nvSpPr>
        <p:spPr>
          <a:xfrm>
            <a:off x="2010348" y="6297619"/>
            <a:ext cx="609600" cy="335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0" cap="none" spc="-25" normalizeH="0" baseline="0" noProof="0" dirty="0">
                <a:ln>
                  <a:noFill/>
                </a:ln>
                <a:solidFill>
                  <a:srgbClr val="4F6228"/>
                </a:solidFill>
                <a:effectLst/>
                <a:uLnTx/>
                <a:uFillTx/>
                <a:latin typeface="Times New Roman"/>
                <a:cs typeface="Times New Roman"/>
              </a:rPr>
              <a:t>CFG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31" name="object 16">
            <a:extLst>
              <a:ext uri="{FF2B5EF4-FFF2-40B4-BE49-F238E27FC236}">
                <a16:creationId xmlns:a16="http://schemas.microsoft.com/office/drawing/2014/main" id="{326A9B44-E096-FC34-0F78-DF3028C4DF4F}"/>
              </a:ext>
            </a:extLst>
          </p:cNvPr>
          <p:cNvSpPr txBox="1"/>
          <p:nvPr/>
        </p:nvSpPr>
        <p:spPr>
          <a:xfrm>
            <a:off x="2873414" y="6306763"/>
            <a:ext cx="2301875" cy="335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0" cap="none" spc="-30" normalizeH="0" baseline="0" noProof="0" dirty="0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Times New Roman"/>
                <a:cs typeface="Times New Roman"/>
              </a:rPr>
              <a:t>Interference</a:t>
            </a:r>
            <a:r>
              <a:rPr kumimoji="0" sz="2200" b="1" i="0" u="none" strike="noStrike" kern="0" cap="none" spc="-75" normalizeH="0" baseline="0" noProof="0" dirty="0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1" i="0" u="none" strike="noStrike" kern="0" cap="none" spc="-20" normalizeH="0" baseline="0" noProof="0" dirty="0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Times New Roman"/>
                <a:cs typeface="Times New Roman"/>
              </a:rPr>
              <a:t>Graph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B7BCE5F-FC66-6BFD-4885-F51F63D54EDB}"/>
              </a:ext>
            </a:extLst>
          </p:cNvPr>
          <p:cNvSpPr txBox="1"/>
          <p:nvPr/>
        </p:nvSpPr>
        <p:spPr>
          <a:xfrm>
            <a:off x="3898532" y="1708999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508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2200" b="1" i="0" u="none" strike="noStrike" kern="0" cap="none" spc="-30" normalizeH="0" baseline="0" noProof="0" dirty="0" err="1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Times New Roman"/>
              </a:rPr>
              <a:t>Canoicalized</a:t>
            </a:r>
            <a:r>
              <a:rPr kumimoji="0" lang="en" altLang="zh-CN" sz="2200" b="1" i="0" u="none" strike="noStrike" kern="0" cap="none" spc="-75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Times New Roman"/>
              </a:rPr>
              <a:t> </a:t>
            </a:r>
            <a:r>
              <a:rPr kumimoji="0" lang="en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Times New Roman"/>
              </a:rPr>
              <a:t>IR</a:t>
            </a:r>
            <a:r>
              <a:rPr kumimoji="0" lang="en" altLang="zh-CN" sz="2200" b="1" i="0" u="none" strike="noStrike" kern="0" cap="none" spc="-12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Times New Roman"/>
              </a:rPr>
              <a:t> </a:t>
            </a:r>
            <a:r>
              <a:rPr kumimoji="0" lang="en" altLang="zh-CN" sz="2200" b="1" i="0" u="none" strike="noStrike" kern="0" cap="none" spc="-2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Times New Roman"/>
              </a:rPr>
              <a:t>Tree</a:t>
            </a:r>
            <a:endParaRPr kumimoji="0" lang="en" altLang="zh-CN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宋体" panose="02010600030101010101" pitchFamily="2" charset="-122"/>
              <a:cs typeface="Times New Roman"/>
            </a:endParaRPr>
          </a:p>
        </p:txBody>
      </p:sp>
      <p:sp>
        <p:nvSpPr>
          <p:cNvPr id="33" name="object 5">
            <a:extLst>
              <a:ext uri="{FF2B5EF4-FFF2-40B4-BE49-F238E27FC236}">
                <a16:creationId xmlns:a16="http://schemas.microsoft.com/office/drawing/2014/main" id="{294ABCC5-D3BA-8BCB-9C14-7F66E8A88D7B}"/>
              </a:ext>
            </a:extLst>
          </p:cNvPr>
          <p:cNvSpPr/>
          <p:nvPr/>
        </p:nvSpPr>
        <p:spPr>
          <a:xfrm>
            <a:off x="3419872" y="2057436"/>
            <a:ext cx="216535" cy="1493749"/>
          </a:xfrm>
          <a:custGeom>
            <a:avLst/>
            <a:gdLst/>
            <a:ahLst/>
            <a:cxnLst/>
            <a:rect l="l" t="t" r="r" b="b"/>
            <a:pathLst>
              <a:path w="216535" h="1404620">
                <a:moveTo>
                  <a:pt x="216023" y="0"/>
                </a:moveTo>
                <a:lnTo>
                  <a:pt x="0" y="0"/>
                </a:lnTo>
                <a:lnTo>
                  <a:pt x="0" y="1403998"/>
                </a:lnTo>
                <a:lnTo>
                  <a:pt x="216023" y="1403998"/>
                </a:lnTo>
                <a:lnTo>
                  <a:pt x="216023" y="0"/>
                </a:lnTo>
                <a:close/>
              </a:path>
            </a:pathLst>
          </a:custGeom>
          <a:solidFill>
            <a:srgbClr val="FAC090">
              <a:alpha val="65098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7F9BA-3A45-30A5-9DB6-7CBD19E93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7C168919-A018-0DA1-730B-E5AECB55CB0D}"/>
              </a:ext>
            </a:extLst>
          </p:cNvPr>
          <p:cNvSpPr txBox="1">
            <a:spLocks/>
          </p:cNvSpPr>
          <p:nvPr/>
        </p:nvSpPr>
        <p:spPr>
          <a:xfrm>
            <a:off x="1928430" y="2750466"/>
            <a:ext cx="528510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4400" kern="1200">
                <a:solidFill>
                  <a:schemeClr val="tx2"/>
                </a:solidFill>
                <a:latin typeface="+mj-lt"/>
                <a:ea typeface="+mj-ea"/>
                <a:cs typeface="宋体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4400">
                <a:solidFill>
                  <a:schemeClr val="tx2"/>
                </a:solidFill>
                <a:latin typeface="Arial" charset="0"/>
                <a:ea typeface="宋体" charset="0"/>
                <a:cs typeface="宋体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4400">
                <a:solidFill>
                  <a:schemeClr val="tx2"/>
                </a:solidFill>
                <a:latin typeface="Arial" charset="0"/>
                <a:ea typeface="宋体" charset="0"/>
                <a:cs typeface="宋体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4400">
                <a:solidFill>
                  <a:schemeClr val="tx2"/>
                </a:solidFill>
                <a:latin typeface="Arial" charset="0"/>
                <a:ea typeface="宋体" charset="0"/>
                <a:cs typeface="宋体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4400">
                <a:solidFill>
                  <a:schemeClr val="tx2"/>
                </a:solidFill>
                <a:latin typeface="Arial" charset="0"/>
                <a:ea typeface="宋体" charset="0"/>
                <a:cs typeface="宋体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buFont typeface="Arial" charset="0"/>
              <a:defRPr sz="4400">
                <a:solidFill>
                  <a:schemeClr val="tx2"/>
                </a:solidFill>
                <a:latin typeface="Arial" charset="0"/>
                <a:ea typeface="宋体" charset="0"/>
                <a:cs typeface="宋体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buFont typeface="Arial" charset="0"/>
              <a:defRPr sz="4400">
                <a:solidFill>
                  <a:schemeClr val="tx2"/>
                </a:solidFill>
                <a:latin typeface="Arial" charset="0"/>
                <a:ea typeface="宋体" charset="0"/>
                <a:cs typeface="宋体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buFont typeface="Arial" charset="0"/>
              <a:defRPr sz="4400">
                <a:solidFill>
                  <a:schemeClr val="tx2"/>
                </a:solidFill>
                <a:latin typeface="Arial" charset="0"/>
                <a:ea typeface="宋体" charset="0"/>
                <a:cs typeface="宋体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buFont typeface="Arial" charset="0"/>
              <a:defRPr sz="4400">
                <a:solidFill>
                  <a:schemeClr val="tx2"/>
                </a:solidFill>
                <a:latin typeface="Arial" charset="0"/>
                <a:ea typeface="宋体" charset="0"/>
                <a:cs typeface="宋体" charset="0"/>
              </a:defRPr>
            </a:lvl9pPr>
          </a:lstStyle>
          <a:p>
            <a:pPr marL="12700">
              <a:spcBef>
                <a:spcPts val="100"/>
              </a:spcBef>
            </a:pPr>
            <a:r>
              <a:rPr lang="zh-CN" altLang="en-US" b="1" spc="-45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编译器发展简史</a:t>
            </a:r>
            <a:endParaRPr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800284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E04B0-7AA3-3B91-ED3F-DF7ABF839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9E0BB3BA-F13F-3D5E-D798-D2225C4CBD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5940" y="159003"/>
            <a:ext cx="21590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编译器</a:t>
            </a:r>
            <a:r>
              <a:rPr lang="zh-CN" altLang="en-US" spc="-1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的发展</a:t>
            </a:r>
            <a:endParaRPr spc="-1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097DBDFD-0873-316C-738A-1FDAE05FB28D}"/>
              </a:ext>
            </a:extLst>
          </p:cNvPr>
          <p:cNvSpPr txBox="1"/>
          <p:nvPr/>
        </p:nvSpPr>
        <p:spPr>
          <a:xfrm>
            <a:off x="304800" y="906780"/>
            <a:ext cx="9133840" cy="5044440"/>
          </a:xfrm>
          <a:prstGeom prst="rect">
            <a:avLst/>
          </a:prstGeom>
        </p:spPr>
        <p:txBody>
          <a:bodyPr vert="horz" wrap="square" lIns="0" tIns="161290" rIns="0" bIns="0" rtlCol="0">
            <a:spAutoFit/>
          </a:bodyPr>
          <a:lstStyle/>
          <a:p>
            <a:pPr marL="219075" marR="0" lvl="0" indent="-206375" defTabSz="914400" eaLnBrk="1" fontAlgn="auto" latinLnBrk="0" hangingPunct="1">
              <a:lnSpc>
                <a:spcPct val="100000"/>
              </a:lnSpc>
              <a:spcBef>
                <a:spcPts val="127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219075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0058"/>
                </a:solidFill>
                <a:effectLst/>
                <a:uLnTx/>
                <a:uFillTx/>
                <a:latin typeface="Arial"/>
                <a:cs typeface="Arial"/>
              </a:rPr>
              <a:t>Compiler</a:t>
            </a:r>
            <a:r>
              <a:rPr kumimoji="0" sz="2000" b="0" i="0" u="none" strike="noStrike" kern="0" cap="none" spc="20" normalizeH="0" baseline="0" noProof="0" dirty="0">
                <a:ln>
                  <a:noFill/>
                </a:ln>
                <a:solidFill>
                  <a:srgbClr val="000058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000058"/>
                </a:solidFill>
                <a:effectLst/>
                <a:uLnTx/>
                <a:uFillTx/>
                <a:latin typeface="Arial"/>
                <a:cs typeface="Arial"/>
              </a:rPr>
              <a:t>History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561975" marR="0" lvl="1" indent="-205740" defTabSz="914400" eaLnBrk="1" fontAlgn="auto" latinLnBrk="0" hangingPunct="1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Tx/>
              <a:buSzTx/>
              <a:buFont typeface="Tahoma"/>
              <a:buChar char="‣"/>
              <a:tabLst>
                <a:tab pos="561975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1943:</a:t>
            </a:r>
            <a:r>
              <a:rPr kumimoji="0" sz="2000" b="0" i="0" u="none" strike="noStrike" kern="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Plankalkül,</a:t>
            </a:r>
            <a:r>
              <a:rPr kumimoji="0" sz="2000" b="0" i="0" u="none" strike="noStrike" kern="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first</a:t>
            </a:r>
            <a:r>
              <a:rPr kumimoji="0" sz="2000" b="0" i="0" u="none" strike="noStrike" kern="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high-level</a:t>
            </a:r>
            <a:r>
              <a:rPr kumimoji="0" sz="2000" b="0" i="0" u="none" strike="noStrike" kern="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language</a:t>
            </a:r>
            <a:r>
              <a:rPr kumimoji="0" sz="2000" b="0" i="0" u="none" strike="noStrike" kern="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(Konrad</a:t>
            </a:r>
            <a:r>
              <a:rPr kumimoji="0" sz="2000" b="0" i="0" u="none" strike="noStrike" kern="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Zuse)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561975" marR="0" lvl="1" indent="-205740" defTabSz="914400" eaLnBrk="1" fontAlgn="auto" latinLnBrk="0" hangingPunct="1">
              <a:lnSpc>
                <a:spcPct val="100000"/>
              </a:lnSpc>
              <a:spcBef>
                <a:spcPts val="1185"/>
              </a:spcBef>
              <a:spcAft>
                <a:spcPts val="0"/>
              </a:spcAft>
              <a:buClrTx/>
              <a:buSzTx/>
              <a:buFont typeface="Tahoma"/>
              <a:buChar char="‣"/>
              <a:tabLst>
                <a:tab pos="561975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1951:</a:t>
            </a:r>
            <a:r>
              <a:rPr kumimoji="0" sz="2000" b="0" i="0" u="none" strike="noStrike" kern="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Formules,</a:t>
            </a:r>
            <a:r>
              <a:rPr kumimoji="0" sz="2000" b="0" i="0" u="none" strike="noStrike" kern="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first</a:t>
            </a:r>
            <a:r>
              <a:rPr kumimoji="0" sz="2000" b="0" i="0" u="none" strike="noStrike" kern="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self-hosting</a:t>
            </a:r>
            <a:r>
              <a:rPr kumimoji="0" sz="2000" b="0" i="0" u="none" strike="noStrike" kern="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compiler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561975" marR="0" lvl="1" indent="-205740" defTabSz="914400" eaLnBrk="1" fontAlgn="auto" latinLnBrk="0" hangingPunct="1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Tx/>
              <a:buSzTx/>
              <a:buFont typeface="Tahoma"/>
              <a:buChar char="‣"/>
              <a:tabLst>
                <a:tab pos="561975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1952:</a:t>
            </a:r>
            <a:r>
              <a:rPr kumimoji="0" sz="2000" b="0" i="0" u="none" strike="noStrike" kern="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A-0,</a:t>
            </a:r>
            <a:r>
              <a:rPr kumimoji="0" sz="2000" b="0" i="0" u="none" strike="noStrike" kern="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term</a:t>
            </a:r>
            <a:r>
              <a:rPr kumimoji="0" sz="2000" b="0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‘compiler’</a:t>
            </a:r>
            <a:r>
              <a:rPr kumimoji="0" sz="2000" b="0" i="0" u="none" strike="noStrike" kern="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(Grace</a:t>
            </a:r>
            <a:r>
              <a:rPr kumimoji="0" sz="2000" b="0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Hopper)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561975" marR="0" lvl="1" indent="-205740" defTabSz="914400" eaLnBrk="1" fontAlgn="auto" latinLnBrk="0" hangingPunct="1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Tx/>
              <a:buSzTx/>
              <a:buFont typeface="Tahoma"/>
              <a:buChar char="‣"/>
              <a:tabLst>
                <a:tab pos="561975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1957:</a:t>
            </a:r>
            <a:r>
              <a:rPr kumimoji="0" sz="2000" b="0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FORTRAN,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first</a:t>
            </a:r>
            <a:r>
              <a:rPr kumimoji="0" sz="2000" b="0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commercial</a:t>
            </a:r>
            <a:r>
              <a:rPr kumimoji="0" sz="2000" b="0" i="0" u="none" strike="noStrike" kern="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compiler</a:t>
            </a:r>
            <a:r>
              <a:rPr kumimoji="0" sz="2000" b="0" i="0" u="none" strike="noStrike" kern="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(John</a:t>
            </a:r>
            <a:r>
              <a:rPr kumimoji="0" sz="2000" b="0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Backus;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18</a:t>
            </a:r>
            <a:r>
              <a:rPr kumimoji="0" sz="2000" b="0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PY)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561975" marR="0" lvl="1" indent="-205740" defTabSz="914400" eaLnBrk="1" fontAlgn="auto" latinLnBrk="0" hangingPunct="1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Tx/>
              <a:buSzTx/>
              <a:buFont typeface="Tahoma"/>
              <a:buChar char="‣"/>
              <a:tabLst>
                <a:tab pos="561975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1962:</a:t>
            </a:r>
            <a:r>
              <a:rPr kumimoji="0" sz="2000" b="0" i="0" u="none" strike="noStrike" kern="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Lisp,</a:t>
            </a:r>
            <a:r>
              <a:rPr kumimoji="0" sz="2000" b="0" i="0" u="none" strike="noStrike" kern="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self-hosting</a:t>
            </a:r>
            <a:r>
              <a:rPr kumimoji="0" sz="2000" b="0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compiler</a:t>
            </a:r>
            <a:r>
              <a:rPr kumimoji="0" sz="2000" b="0" i="0" u="none" strike="noStrike" kern="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2000" b="0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GC</a:t>
            </a:r>
            <a:r>
              <a:rPr kumimoji="0" sz="20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(Tim</a:t>
            </a:r>
            <a:r>
              <a:rPr kumimoji="0" sz="2000" b="0" i="0" u="none" strike="noStrike" kern="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Hart</a:t>
            </a:r>
            <a:r>
              <a:rPr kumimoji="0" sz="2000" b="0" i="0" u="none" strike="noStrike" kern="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2000" b="0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Mike</a:t>
            </a:r>
            <a:r>
              <a:rPr kumimoji="0" sz="2000" b="0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Levin)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585858"/>
              </a:buClr>
              <a:buSzTx/>
              <a:buFont typeface="Tahoma"/>
              <a:buChar char="‣"/>
              <a:tabLst/>
              <a:defRPr/>
            </a:pP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19075" marR="0" lvl="0" indent="-20637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219075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0058"/>
                </a:solidFill>
                <a:effectLst/>
                <a:uLnTx/>
                <a:uFillTx/>
                <a:latin typeface="Arial"/>
                <a:cs typeface="Arial"/>
              </a:rPr>
              <a:t>Compilers</a:t>
            </a:r>
            <a:r>
              <a:rPr kumimoji="0" sz="2000" b="0" i="0" u="none" strike="noStrike" kern="0" cap="none" spc="20" normalizeH="0" baseline="0" noProof="0" dirty="0">
                <a:ln>
                  <a:noFill/>
                </a:ln>
                <a:solidFill>
                  <a:srgbClr val="000058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000058"/>
                </a:solidFill>
                <a:effectLst/>
                <a:uLnTx/>
                <a:uFillTx/>
                <a:latin typeface="Arial"/>
                <a:cs typeface="Arial"/>
              </a:rPr>
              <a:t>today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561975" marR="0" lvl="1" indent="-205740" defTabSz="914400" eaLnBrk="1" fontAlgn="auto" latinLnBrk="0" hangingPunct="1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Tx/>
              <a:buSzTx/>
              <a:buFont typeface="Tahoma"/>
              <a:buChar char="‣"/>
              <a:tabLst>
                <a:tab pos="561975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Modern</a:t>
            </a:r>
            <a:r>
              <a:rPr kumimoji="0" sz="2000" b="0" i="0" u="none" strike="noStrike" kern="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compilers</a:t>
            </a:r>
            <a:r>
              <a:rPr kumimoji="0" sz="2000" b="0" i="0" u="none" strike="noStrike" kern="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are</a:t>
            </a:r>
            <a:r>
              <a:rPr kumimoji="0" sz="2000" b="0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complex</a:t>
            </a:r>
            <a:r>
              <a:rPr kumimoji="0" sz="2000" b="0" i="0" u="none" strike="noStrike" kern="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(gcc</a:t>
            </a:r>
            <a:r>
              <a:rPr kumimoji="0" sz="2000" b="0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has</a:t>
            </a:r>
            <a:r>
              <a:rPr kumimoji="0" sz="2000" b="0" i="0" u="none" strike="noStrike" kern="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7.5M</a:t>
            </a:r>
            <a:r>
              <a:rPr kumimoji="0" sz="2000" b="0" i="0" u="none" strike="noStrike" kern="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LOC)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561975" marR="0" lvl="1" indent="-205740" defTabSz="914400" eaLnBrk="1" fontAlgn="auto" latinLnBrk="0" hangingPunct="1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Tx/>
              <a:buSzTx/>
              <a:buFont typeface="Tahoma"/>
              <a:buChar char="‣"/>
              <a:tabLst>
                <a:tab pos="561975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There</a:t>
            </a:r>
            <a:r>
              <a:rPr kumimoji="0" sz="2000" b="0" i="0" u="none" strike="noStrike" kern="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is still a</a:t>
            </a:r>
            <a:r>
              <a:rPr kumimoji="0" sz="2000" b="0" i="0" u="none" strike="noStrike" kern="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lot of</a:t>
            </a:r>
            <a:r>
              <a:rPr kumimoji="0" sz="2000" b="0" i="0" u="none" strike="noStrike" kern="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compiler</a:t>
            </a:r>
            <a:r>
              <a:rPr kumimoji="0" sz="2000" b="0" i="0" u="none" strike="noStrike" kern="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research</a:t>
            </a:r>
            <a:r>
              <a:rPr kumimoji="0" sz="2000" b="0" i="0" u="none" strike="noStrike" kern="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(LLVM,</a:t>
            </a:r>
            <a:r>
              <a:rPr kumimoji="0" sz="2000" b="0" i="0" u="none" strike="noStrike" kern="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verified</a:t>
            </a:r>
            <a:r>
              <a:rPr kumimoji="0" sz="2000" b="0" i="0" u="none" strike="noStrike" kern="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compilation,</a:t>
            </a:r>
            <a:r>
              <a:rPr kumimoji="0" sz="2000" b="0" i="0" u="none" strike="noStrike" kern="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…)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561975" marR="0" lvl="1" indent="-205740" defTabSz="914400" eaLnBrk="1" fontAlgn="auto" latinLnBrk="0" hangingPunct="1">
              <a:lnSpc>
                <a:spcPct val="100000"/>
              </a:lnSpc>
              <a:spcBef>
                <a:spcPts val="1185"/>
              </a:spcBef>
              <a:spcAft>
                <a:spcPts val="0"/>
              </a:spcAft>
              <a:buClrTx/>
              <a:buSzTx/>
              <a:buFont typeface="Tahoma"/>
              <a:buChar char="‣"/>
              <a:tabLst>
                <a:tab pos="561975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There</a:t>
            </a:r>
            <a:r>
              <a:rPr kumimoji="0" sz="2000" b="0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is</a:t>
            </a:r>
            <a:r>
              <a:rPr kumimoji="0" sz="2000" b="0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still</a:t>
            </a:r>
            <a:r>
              <a:rPr kumimoji="0" sz="2000" b="0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2000" b="0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lot</a:t>
            </a:r>
            <a:r>
              <a:rPr kumimoji="0" sz="2000" b="0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2000" b="0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compiler</a:t>
            </a:r>
            <a:r>
              <a:rPr kumimoji="0" sz="2000" b="0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development</a:t>
            </a:r>
            <a:r>
              <a:rPr kumimoji="0" sz="2000" b="0" i="0" u="none" strike="noStrike" kern="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sz="2000" b="0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industry</a:t>
            </a:r>
          </a:p>
        </p:txBody>
      </p:sp>
    </p:spTree>
    <p:extLst>
      <p:ext uri="{BB962C8B-B14F-4D97-AF65-F5344CB8AC3E}">
        <p14:creationId xmlns:p14="http://schemas.microsoft.com/office/powerpoint/2010/main" val="34312611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5FC33-B1F5-A1B4-9FAE-82E8F7D5E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5FEC3A3-F259-2F43-CA51-0525FE98EB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5940" y="159003"/>
            <a:ext cx="540766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pc="-1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经典编译器</a:t>
            </a:r>
            <a:r>
              <a:rPr lang="en-US" altLang="zh-CN" spc="-1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FORTRAN </a:t>
            </a:r>
            <a:endParaRPr spc="-1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object 3">
            <a:extLst>
              <a:ext uri="{FF2B5EF4-FFF2-40B4-BE49-F238E27FC236}">
                <a16:creationId xmlns:a16="http://schemas.microsoft.com/office/drawing/2014/main" id="{74F63C65-89C7-CA22-0F90-773075CEC8B4}"/>
              </a:ext>
            </a:extLst>
          </p:cNvPr>
          <p:cNvSpPr txBox="1"/>
          <p:nvPr/>
        </p:nvSpPr>
        <p:spPr>
          <a:xfrm>
            <a:off x="820996" y="3320105"/>
            <a:ext cx="8122284" cy="275590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389255" marR="0" lvl="0" indent="-376555" defTabSz="914400" eaLnBrk="1" fontAlgn="auto" latinLnBrk="0" hangingPunct="1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89255" algn="l"/>
              </a:tabLst>
              <a:defRPr/>
            </a:pPr>
            <a:r>
              <a:rPr kumimoji="0" sz="3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Six</a:t>
            </a:r>
            <a:r>
              <a:rPr kumimoji="0" sz="35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passes</a:t>
            </a:r>
            <a:r>
              <a:rPr kumimoji="0" sz="35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sz="35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35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fixed</a:t>
            </a:r>
            <a:r>
              <a:rPr kumimoji="0" sz="35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5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order</a:t>
            </a:r>
            <a:endParaRPr kumimoji="0" sz="35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89255" marR="0" lvl="0" indent="-376555" defTabSz="914400" eaLnBrk="1" fontAlgn="auto" latinLnBrk="0" hangingPunct="1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89255" algn="l"/>
              </a:tabLst>
              <a:defRPr/>
            </a:pPr>
            <a:r>
              <a:rPr kumimoji="0" sz="3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Generated</a:t>
            </a:r>
            <a:r>
              <a:rPr kumimoji="0" sz="35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good</a:t>
            </a:r>
            <a:r>
              <a:rPr kumimoji="0" sz="35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5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code</a:t>
            </a:r>
            <a:endParaRPr kumimoji="0" sz="35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515620" marR="0" lvl="0" indent="0" defTabSz="914400" eaLnBrk="1" fontAlgn="auto" latinLnBrk="0" hangingPunct="1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Assumed</a:t>
            </a:r>
            <a:r>
              <a:rPr kumimoji="0" sz="3050" b="0" i="0" u="none" strike="noStrike" kern="0" cap="none" spc="-15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unlimited</a:t>
            </a:r>
            <a:r>
              <a:rPr kumimoji="0" sz="3050" b="0" i="0" u="none" strike="noStrike" kern="0" cap="none" spc="-5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index</a:t>
            </a:r>
            <a:r>
              <a:rPr kumimoji="0" sz="3050" b="0" i="0" u="none" strike="noStrike" kern="0" cap="none" spc="-1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 registers</a:t>
            </a:r>
            <a:endParaRPr kumimoji="0" sz="30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515620" marR="5080" lvl="0" indent="0" defTabSz="914400" eaLnBrk="1" fontAlgn="auto" latinLnBrk="0" hangingPunct="1">
              <a:lnSpc>
                <a:spcPts val="407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Code</a:t>
            </a:r>
            <a:r>
              <a:rPr kumimoji="0" sz="3050" b="0" i="0" u="none" strike="noStrike" kern="0" cap="none" spc="-5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motion</a:t>
            </a:r>
            <a:r>
              <a:rPr kumimoji="0" sz="3050" b="0" i="0" u="none" strike="noStrike" kern="0" cap="none" spc="1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out</a:t>
            </a:r>
            <a:r>
              <a:rPr kumimoji="0" sz="3050" b="0" i="0" u="none" strike="noStrike" kern="0" cap="none" spc="5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3050" b="0" i="0" u="none" strike="noStrike" kern="0" cap="none" spc="1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loops,</a:t>
            </a:r>
            <a:r>
              <a:rPr kumimoji="0" sz="3050" b="0" i="0" u="none" strike="noStrike" kern="0" cap="none" spc="5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with</a:t>
            </a:r>
            <a:r>
              <a:rPr kumimoji="0" sz="3050" b="0" i="0" u="none" strike="noStrike" kern="0" cap="none" spc="5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ifs</a:t>
            </a:r>
            <a:r>
              <a:rPr kumimoji="0" sz="3050" b="0" i="0" u="none" strike="noStrike" kern="0" cap="none" spc="1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3050" b="0" i="0" u="none" strike="noStrike" kern="0" cap="none" spc="5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50" b="0" i="0" u="none" strike="noStrike" kern="0" cap="none" spc="-1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gotos </a:t>
            </a: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Did</a:t>
            </a:r>
            <a:r>
              <a:rPr kumimoji="0" sz="3050" b="0" i="0" u="none" strike="noStrike" kern="0" cap="none" spc="5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flow</a:t>
            </a:r>
            <a:r>
              <a:rPr kumimoji="0" sz="3050" b="0" i="0" u="none" strike="noStrike" kern="0" cap="none" spc="5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analysis</a:t>
            </a:r>
            <a:r>
              <a:rPr kumimoji="0" sz="3050" b="0" i="0" u="none" strike="noStrike" kern="0" cap="none" spc="5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&amp;</a:t>
            </a:r>
            <a:r>
              <a:rPr kumimoji="0" sz="3050" b="0" i="0" u="none" strike="noStrike" kern="0" cap="none" spc="5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register</a:t>
            </a:r>
            <a:r>
              <a:rPr kumimoji="0" sz="3050" b="0" i="0" u="none" strike="noStrike" kern="0" cap="none" spc="5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50" b="0" i="0" u="none" strike="noStrike" kern="0" cap="none" spc="-1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allocation</a:t>
            </a:r>
            <a:endParaRPr kumimoji="0" sz="30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8" name="object 4">
            <a:extLst>
              <a:ext uri="{FF2B5EF4-FFF2-40B4-BE49-F238E27FC236}">
                <a16:creationId xmlns:a16="http://schemas.microsoft.com/office/drawing/2014/main" id="{EE9F9C05-E88C-B7E2-0C93-365488323A2B}"/>
              </a:ext>
            </a:extLst>
          </p:cNvPr>
          <p:cNvSpPr/>
          <p:nvPr/>
        </p:nvSpPr>
        <p:spPr>
          <a:xfrm>
            <a:off x="908812" y="1427735"/>
            <a:ext cx="1099820" cy="1267460"/>
          </a:xfrm>
          <a:custGeom>
            <a:avLst/>
            <a:gdLst/>
            <a:ahLst/>
            <a:cxnLst/>
            <a:rect l="l" t="t" r="r" b="b"/>
            <a:pathLst>
              <a:path w="1099820" h="1267460">
                <a:moveTo>
                  <a:pt x="1099566" y="1267205"/>
                </a:moveTo>
                <a:lnTo>
                  <a:pt x="1099565" y="0"/>
                </a:lnTo>
                <a:lnTo>
                  <a:pt x="0" y="0"/>
                </a:lnTo>
                <a:lnTo>
                  <a:pt x="0" y="1267205"/>
                </a:lnTo>
                <a:lnTo>
                  <a:pt x="4572" y="1267205"/>
                </a:lnTo>
                <a:lnTo>
                  <a:pt x="4571" y="9906"/>
                </a:lnTo>
                <a:lnTo>
                  <a:pt x="9906" y="4571"/>
                </a:lnTo>
                <a:lnTo>
                  <a:pt x="9906" y="9906"/>
                </a:lnTo>
                <a:lnTo>
                  <a:pt x="1089660" y="9906"/>
                </a:lnTo>
                <a:lnTo>
                  <a:pt x="1089660" y="4571"/>
                </a:lnTo>
                <a:lnTo>
                  <a:pt x="1094231" y="9906"/>
                </a:lnTo>
                <a:lnTo>
                  <a:pt x="1094232" y="1267205"/>
                </a:lnTo>
                <a:lnTo>
                  <a:pt x="1099566" y="1267205"/>
                </a:lnTo>
                <a:close/>
              </a:path>
              <a:path w="1099820" h="1267460">
                <a:moveTo>
                  <a:pt x="9906" y="9906"/>
                </a:moveTo>
                <a:lnTo>
                  <a:pt x="9906" y="4571"/>
                </a:lnTo>
                <a:lnTo>
                  <a:pt x="4571" y="9906"/>
                </a:lnTo>
                <a:lnTo>
                  <a:pt x="9906" y="9906"/>
                </a:lnTo>
                <a:close/>
              </a:path>
              <a:path w="1099820" h="1267460">
                <a:moveTo>
                  <a:pt x="9906" y="1257300"/>
                </a:moveTo>
                <a:lnTo>
                  <a:pt x="9906" y="9906"/>
                </a:lnTo>
                <a:lnTo>
                  <a:pt x="4571" y="9906"/>
                </a:lnTo>
                <a:lnTo>
                  <a:pt x="4571" y="1257300"/>
                </a:lnTo>
                <a:lnTo>
                  <a:pt x="9906" y="1257300"/>
                </a:lnTo>
                <a:close/>
              </a:path>
              <a:path w="1099820" h="1267460">
                <a:moveTo>
                  <a:pt x="1094232" y="1257300"/>
                </a:moveTo>
                <a:lnTo>
                  <a:pt x="4571" y="1257300"/>
                </a:lnTo>
                <a:lnTo>
                  <a:pt x="9906" y="1261872"/>
                </a:lnTo>
                <a:lnTo>
                  <a:pt x="9906" y="1267205"/>
                </a:lnTo>
                <a:lnTo>
                  <a:pt x="1089660" y="1267205"/>
                </a:lnTo>
                <a:lnTo>
                  <a:pt x="1089660" y="1261872"/>
                </a:lnTo>
                <a:lnTo>
                  <a:pt x="1094232" y="1257300"/>
                </a:lnTo>
                <a:close/>
              </a:path>
              <a:path w="1099820" h="1267460">
                <a:moveTo>
                  <a:pt x="9906" y="1267205"/>
                </a:moveTo>
                <a:lnTo>
                  <a:pt x="9906" y="1261872"/>
                </a:lnTo>
                <a:lnTo>
                  <a:pt x="4571" y="1257300"/>
                </a:lnTo>
                <a:lnTo>
                  <a:pt x="4572" y="1267205"/>
                </a:lnTo>
                <a:lnTo>
                  <a:pt x="9906" y="1267205"/>
                </a:lnTo>
                <a:close/>
              </a:path>
              <a:path w="1099820" h="1267460">
                <a:moveTo>
                  <a:pt x="1094231" y="9906"/>
                </a:moveTo>
                <a:lnTo>
                  <a:pt x="1089660" y="4571"/>
                </a:lnTo>
                <a:lnTo>
                  <a:pt x="1089660" y="9906"/>
                </a:lnTo>
                <a:lnTo>
                  <a:pt x="1094231" y="9906"/>
                </a:lnTo>
                <a:close/>
              </a:path>
              <a:path w="1099820" h="1267460">
                <a:moveTo>
                  <a:pt x="1094232" y="1257300"/>
                </a:moveTo>
                <a:lnTo>
                  <a:pt x="1094231" y="9906"/>
                </a:lnTo>
                <a:lnTo>
                  <a:pt x="1089660" y="9906"/>
                </a:lnTo>
                <a:lnTo>
                  <a:pt x="1089660" y="1257300"/>
                </a:lnTo>
                <a:lnTo>
                  <a:pt x="1094232" y="1257300"/>
                </a:lnTo>
                <a:close/>
              </a:path>
              <a:path w="1099820" h="1267460">
                <a:moveTo>
                  <a:pt x="1094232" y="1267205"/>
                </a:moveTo>
                <a:lnTo>
                  <a:pt x="1094232" y="1257300"/>
                </a:lnTo>
                <a:lnTo>
                  <a:pt x="1089660" y="1261872"/>
                </a:lnTo>
                <a:lnTo>
                  <a:pt x="1089660" y="1267205"/>
                </a:lnTo>
                <a:lnTo>
                  <a:pt x="1094232" y="12672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9" name="object 5">
            <a:extLst>
              <a:ext uri="{FF2B5EF4-FFF2-40B4-BE49-F238E27FC236}">
                <a16:creationId xmlns:a16="http://schemas.microsoft.com/office/drawing/2014/main" id="{B2D664CA-8C32-1764-0C1E-A899631060A8}"/>
              </a:ext>
            </a:extLst>
          </p:cNvPr>
          <p:cNvSpPr txBox="1"/>
          <p:nvPr/>
        </p:nvSpPr>
        <p:spPr>
          <a:xfrm>
            <a:off x="1162812" y="1776223"/>
            <a:ext cx="589915" cy="561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3185" marR="5080" lvl="0" indent="-71120" defTabSz="914400" eaLnBrk="1" fontAlgn="auto" latinLnBrk="0" hangingPunct="1">
              <a:lnSpc>
                <a:spcPct val="1006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5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Front </a:t>
            </a:r>
            <a:r>
              <a:rPr kumimoji="0" sz="175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End</a:t>
            </a:r>
            <a:endParaRPr kumimoji="0" sz="17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Rounded MT Bold"/>
              <a:cs typeface="Arial Rounded MT Bold"/>
            </a:endParaRPr>
          </a:p>
        </p:txBody>
      </p:sp>
      <p:sp>
        <p:nvSpPr>
          <p:cNvPr id="50" name="object 6">
            <a:extLst>
              <a:ext uri="{FF2B5EF4-FFF2-40B4-BE49-F238E27FC236}">
                <a16:creationId xmlns:a16="http://schemas.microsoft.com/office/drawing/2014/main" id="{1C307ADF-DAA6-1B4C-8DE8-C97A87F001D1}"/>
              </a:ext>
            </a:extLst>
          </p:cNvPr>
          <p:cNvSpPr/>
          <p:nvPr/>
        </p:nvSpPr>
        <p:spPr>
          <a:xfrm>
            <a:off x="661924" y="1427734"/>
            <a:ext cx="2687955" cy="1267460"/>
          </a:xfrm>
          <a:custGeom>
            <a:avLst/>
            <a:gdLst/>
            <a:ahLst/>
            <a:cxnLst/>
            <a:rect l="l" t="t" r="r" b="b"/>
            <a:pathLst>
              <a:path w="2687954" h="1267460">
                <a:moveTo>
                  <a:pt x="251460" y="423672"/>
                </a:moveTo>
                <a:lnTo>
                  <a:pt x="192786" y="394716"/>
                </a:lnTo>
                <a:lnTo>
                  <a:pt x="192786" y="419100"/>
                </a:lnTo>
                <a:lnTo>
                  <a:pt x="0" y="419100"/>
                </a:lnTo>
                <a:lnTo>
                  <a:pt x="0" y="429006"/>
                </a:lnTo>
                <a:lnTo>
                  <a:pt x="192786" y="429006"/>
                </a:lnTo>
                <a:lnTo>
                  <a:pt x="192786" y="453390"/>
                </a:lnTo>
                <a:lnTo>
                  <a:pt x="202692" y="448373"/>
                </a:lnTo>
                <a:lnTo>
                  <a:pt x="251460" y="423672"/>
                </a:lnTo>
                <a:close/>
              </a:path>
              <a:path w="2687954" h="1267460">
                <a:moveTo>
                  <a:pt x="2687574" y="0"/>
                </a:moveTo>
                <a:lnTo>
                  <a:pt x="2677668" y="0"/>
                </a:lnTo>
                <a:lnTo>
                  <a:pt x="2677668" y="9906"/>
                </a:lnTo>
                <a:lnTo>
                  <a:pt x="2677668" y="1257300"/>
                </a:lnTo>
                <a:lnTo>
                  <a:pt x="1597914" y="1257300"/>
                </a:lnTo>
                <a:lnTo>
                  <a:pt x="1597914" y="9906"/>
                </a:lnTo>
                <a:lnTo>
                  <a:pt x="2677668" y="9906"/>
                </a:lnTo>
                <a:lnTo>
                  <a:pt x="2677668" y="0"/>
                </a:lnTo>
                <a:lnTo>
                  <a:pt x="1588008" y="0"/>
                </a:lnTo>
                <a:lnTo>
                  <a:pt x="1588008" y="421424"/>
                </a:lnTo>
                <a:lnTo>
                  <a:pt x="1533906" y="394716"/>
                </a:lnTo>
                <a:lnTo>
                  <a:pt x="1533906" y="419100"/>
                </a:lnTo>
                <a:lnTo>
                  <a:pt x="1341120" y="419100"/>
                </a:lnTo>
                <a:lnTo>
                  <a:pt x="1341120" y="429006"/>
                </a:lnTo>
                <a:lnTo>
                  <a:pt x="1533906" y="429006"/>
                </a:lnTo>
                <a:lnTo>
                  <a:pt x="1533906" y="453390"/>
                </a:lnTo>
                <a:lnTo>
                  <a:pt x="1543812" y="448373"/>
                </a:lnTo>
                <a:lnTo>
                  <a:pt x="1588008" y="425996"/>
                </a:lnTo>
                <a:lnTo>
                  <a:pt x="1588008" y="1267206"/>
                </a:lnTo>
                <a:lnTo>
                  <a:pt x="1592580" y="1267206"/>
                </a:lnTo>
                <a:lnTo>
                  <a:pt x="1597914" y="1267206"/>
                </a:lnTo>
                <a:lnTo>
                  <a:pt x="2677668" y="1267206"/>
                </a:lnTo>
                <a:lnTo>
                  <a:pt x="2682240" y="1267206"/>
                </a:lnTo>
                <a:lnTo>
                  <a:pt x="2687574" y="1267206"/>
                </a:lnTo>
                <a:lnTo>
                  <a:pt x="26875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1" name="object 7">
            <a:extLst>
              <a:ext uri="{FF2B5EF4-FFF2-40B4-BE49-F238E27FC236}">
                <a16:creationId xmlns:a16="http://schemas.microsoft.com/office/drawing/2014/main" id="{6865BC3B-4791-3F9D-76CC-E363C8D4723D}"/>
              </a:ext>
            </a:extLst>
          </p:cNvPr>
          <p:cNvSpPr/>
          <p:nvPr/>
        </p:nvSpPr>
        <p:spPr>
          <a:xfrm>
            <a:off x="913384" y="2857627"/>
            <a:ext cx="1071880" cy="0"/>
          </a:xfrm>
          <a:custGeom>
            <a:avLst/>
            <a:gdLst/>
            <a:ahLst/>
            <a:cxnLst/>
            <a:rect l="l" t="t" r="r" b="b"/>
            <a:pathLst>
              <a:path w="1071880">
                <a:moveTo>
                  <a:pt x="0" y="0"/>
                </a:moveTo>
                <a:lnTo>
                  <a:pt x="1071372" y="0"/>
                </a:lnTo>
              </a:path>
            </a:pathLst>
          </a:custGeom>
          <a:ln w="990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2" name="object 8">
            <a:extLst>
              <a:ext uri="{FF2B5EF4-FFF2-40B4-BE49-F238E27FC236}">
                <a16:creationId xmlns:a16="http://schemas.microsoft.com/office/drawing/2014/main" id="{8C0A463A-15D1-1F68-C9F9-BAFF0BE09734}"/>
              </a:ext>
            </a:extLst>
          </p:cNvPr>
          <p:cNvSpPr/>
          <p:nvPr/>
        </p:nvSpPr>
        <p:spPr>
          <a:xfrm>
            <a:off x="4936744" y="2857627"/>
            <a:ext cx="3752850" cy="0"/>
          </a:xfrm>
          <a:custGeom>
            <a:avLst/>
            <a:gdLst/>
            <a:ahLst/>
            <a:cxnLst/>
            <a:rect l="l" t="t" r="r" b="b"/>
            <a:pathLst>
              <a:path w="3752850">
                <a:moveTo>
                  <a:pt x="0" y="0"/>
                </a:moveTo>
                <a:lnTo>
                  <a:pt x="3752850" y="0"/>
                </a:lnTo>
              </a:path>
            </a:pathLst>
          </a:custGeom>
          <a:ln w="9906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3" name="object 9">
            <a:extLst>
              <a:ext uri="{FF2B5EF4-FFF2-40B4-BE49-F238E27FC236}">
                <a16:creationId xmlns:a16="http://schemas.microsoft.com/office/drawing/2014/main" id="{125C0D94-0C0A-F520-3470-598EC30A4C35}"/>
              </a:ext>
            </a:extLst>
          </p:cNvPr>
          <p:cNvSpPr/>
          <p:nvPr/>
        </p:nvSpPr>
        <p:spPr>
          <a:xfrm>
            <a:off x="2254503" y="2857627"/>
            <a:ext cx="2430780" cy="0"/>
          </a:xfrm>
          <a:custGeom>
            <a:avLst/>
            <a:gdLst/>
            <a:ahLst/>
            <a:cxnLst/>
            <a:rect l="l" t="t" r="r" b="b"/>
            <a:pathLst>
              <a:path w="2430779">
                <a:moveTo>
                  <a:pt x="0" y="0"/>
                </a:moveTo>
                <a:lnTo>
                  <a:pt x="2430779" y="0"/>
                </a:lnTo>
              </a:path>
            </a:pathLst>
          </a:custGeom>
          <a:ln w="990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4" name="object 10">
            <a:extLst>
              <a:ext uri="{FF2B5EF4-FFF2-40B4-BE49-F238E27FC236}">
                <a16:creationId xmlns:a16="http://schemas.microsoft.com/office/drawing/2014/main" id="{72FD4629-470B-88F8-986F-D3E41615C044}"/>
              </a:ext>
            </a:extLst>
          </p:cNvPr>
          <p:cNvSpPr txBox="1"/>
          <p:nvPr/>
        </p:nvSpPr>
        <p:spPr>
          <a:xfrm>
            <a:off x="2857500" y="2959609"/>
            <a:ext cx="1223645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Middle</a:t>
            </a:r>
            <a:r>
              <a:rPr kumimoji="0" sz="175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 </a:t>
            </a:r>
            <a:r>
              <a:rPr kumimoji="0" sz="175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End</a:t>
            </a:r>
            <a:endParaRPr kumimoji="0" sz="17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Rounded MT Bold"/>
              <a:cs typeface="Arial Rounded MT Bold"/>
            </a:endParaRPr>
          </a:p>
        </p:txBody>
      </p:sp>
      <p:sp>
        <p:nvSpPr>
          <p:cNvPr id="55" name="object 11">
            <a:extLst>
              <a:ext uri="{FF2B5EF4-FFF2-40B4-BE49-F238E27FC236}">
                <a16:creationId xmlns:a16="http://schemas.microsoft.com/office/drawing/2014/main" id="{4AA1EE33-DB2A-3E60-6960-4BE2AE7D39C5}"/>
              </a:ext>
            </a:extLst>
          </p:cNvPr>
          <p:cNvSpPr txBox="1"/>
          <p:nvPr/>
        </p:nvSpPr>
        <p:spPr>
          <a:xfrm>
            <a:off x="923543" y="2875789"/>
            <a:ext cx="7011670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>
                <a:tab pos="5972810" algn="l"/>
              </a:tabLst>
              <a:defRPr/>
            </a:pPr>
            <a:r>
              <a:rPr kumimoji="0" sz="175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Front</a:t>
            </a:r>
            <a:r>
              <a:rPr kumimoji="0" sz="175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 </a:t>
            </a:r>
            <a:r>
              <a:rPr kumimoji="0" sz="175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End</a:t>
            </a:r>
            <a:r>
              <a:rPr kumimoji="0" sz="17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	Back</a:t>
            </a:r>
            <a:r>
              <a:rPr kumimoji="0" sz="175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 </a:t>
            </a:r>
            <a:r>
              <a:rPr kumimoji="0" sz="175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End</a:t>
            </a:r>
            <a:endParaRPr kumimoji="0" sz="17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Rounded MT Bold"/>
              <a:cs typeface="Arial Rounded MT Bold"/>
            </a:endParaRPr>
          </a:p>
        </p:txBody>
      </p:sp>
      <p:sp>
        <p:nvSpPr>
          <p:cNvPr id="56" name="object 12">
            <a:extLst>
              <a:ext uri="{FF2B5EF4-FFF2-40B4-BE49-F238E27FC236}">
                <a16:creationId xmlns:a16="http://schemas.microsoft.com/office/drawing/2014/main" id="{E5251CB1-C17E-C3D5-115F-420DEBECC1DC}"/>
              </a:ext>
            </a:extLst>
          </p:cNvPr>
          <p:cNvSpPr txBox="1"/>
          <p:nvPr/>
        </p:nvSpPr>
        <p:spPr>
          <a:xfrm>
            <a:off x="2269230" y="1642111"/>
            <a:ext cx="1060450" cy="561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lvl="0" indent="221615" defTabSz="914400" eaLnBrk="1" fontAlgn="auto" latinLnBrk="0" hangingPunct="1">
              <a:lnSpc>
                <a:spcPct val="1006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5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Index Optimiz’n</a:t>
            </a:r>
            <a:endParaRPr kumimoji="0" sz="17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Rounded MT Bold"/>
              <a:cs typeface="Arial Rounded MT Bold"/>
            </a:endParaRPr>
          </a:p>
        </p:txBody>
      </p:sp>
      <p:sp>
        <p:nvSpPr>
          <p:cNvPr id="57" name="object 13">
            <a:extLst>
              <a:ext uri="{FF2B5EF4-FFF2-40B4-BE49-F238E27FC236}">
                <a16:creationId xmlns:a16="http://schemas.microsoft.com/office/drawing/2014/main" id="{647A56B5-7192-D93A-6168-0E860E0A9689}"/>
              </a:ext>
            </a:extLst>
          </p:cNvPr>
          <p:cNvSpPr/>
          <p:nvPr/>
        </p:nvSpPr>
        <p:spPr>
          <a:xfrm>
            <a:off x="3344164" y="1427734"/>
            <a:ext cx="1346835" cy="1267460"/>
          </a:xfrm>
          <a:custGeom>
            <a:avLst/>
            <a:gdLst/>
            <a:ahLst/>
            <a:cxnLst/>
            <a:rect l="l" t="t" r="r" b="b"/>
            <a:pathLst>
              <a:path w="1346835" h="1267460">
                <a:moveTo>
                  <a:pt x="1346441" y="0"/>
                </a:moveTo>
                <a:lnTo>
                  <a:pt x="1336548" y="0"/>
                </a:lnTo>
                <a:lnTo>
                  <a:pt x="1336548" y="9906"/>
                </a:lnTo>
                <a:lnTo>
                  <a:pt x="1336548" y="1257300"/>
                </a:lnTo>
                <a:lnTo>
                  <a:pt x="256794" y="1257300"/>
                </a:lnTo>
                <a:lnTo>
                  <a:pt x="256794" y="9906"/>
                </a:lnTo>
                <a:lnTo>
                  <a:pt x="1336548" y="9906"/>
                </a:lnTo>
                <a:lnTo>
                  <a:pt x="1336548" y="0"/>
                </a:lnTo>
                <a:lnTo>
                  <a:pt x="246888" y="0"/>
                </a:lnTo>
                <a:lnTo>
                  <a:pt x="246888" y="421424"/>
                </a:lnTo>
                <a:lnTo>
                  <a:pt x="192786" y="394716"/>
                </a:lnTo>
                <a:lnTo>
                  <a:pt x="192786" y="419100"/>
                </a:lnTo>
                <a:lnTo>
                  <a:pt x="0" y="419100"/>
                </a:lnTo>
                <a:lnTo>
                  <a:pt x="0" y="429006"/>
                </a:lnTo>
                <a:lnTo>
                  <a:pt x="192786" y="429006"/>
                </a:lnTo>
                <a:lnTo>
                  <a:pt x="192786" y="453390"/>
                </a:lnTo>
                <a:lnTo>
                  <a:pt x="202679" y="448373"/>
                </a:lnTo>
                <a:lnTo>
                  <a:pt x="246888" y="425996"/>
                </a:lnTo>
                <a:lnTo>
                  <a:pt x="246888" y="1267206"/>
                </a:lnTo>
                <a:lnTo>
                  <a:pt x="251460" y="1267206"/>
                </a:lnTo>
                <a:lnTo>
                  <a:pt x="256794" y="1267206"/>
                </a:lnTo>
                <a:lnTo>
                  <a:pt x="1336548" y="1267206"/>
                </a:lnTo>
                <a:lnTo>
                  <a:pt x="1341120" y="1267206"/>
                </a:lnTo>
                <a:lnTo>
                  <a:pt x="1346441" y="1267206"/>
                </a:lnTo>
                <a:lnTo>
                  <a:pt x="13464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8" name="object 14">
            <a:extLst>
              <a:ext uri="{FF2B5EF4-FFF2-40B4-BE49-F238E27FC236}">
                <a16:creationId xmlns:a16="http://schemas.microsoft.com/office/drawing/2014/main" id="{9821CF9E-EFDF-A635-F73A-9FAADF452FAB}"/>
              </a:ext>
            </a:extLst>
          </p:cNvPr>
          <p:cNvSpPr txBox="1"/>
          <p:nvPr/>
        </p:nvSpPr>
        <p:spPr>
          <a:xfrm>
            <a:off x="3632453" y="1600200"/>
            <a:ext cx="1016635" cy="9124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8275" marR="161925" lvl="0" indent="-635" algn="ctr" defTabSz="914400" eaLnBrk="1" fontAlgn="auto" latinLnBrk="0" hangingPunct="1">
              <a:lnSpc>
                <a:spcPct val="1006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5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Code </a:t>
            </a:r>
            <a:r>
              <a:rPr kumimoji="0" sz="175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Merge</a:t>
            </a:r>
            <a:endParaRPr kumimoji="0" sz="17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Rounded MT Bold"/>
              <a:cs typeface="Arial Rounded MT Bold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50" b="0" i="1" u="none" strike="noStrike" kern="0" cap="none" spc="-10" normalizeH="0" baseline="0" noProof="0" dirty="0">
                <a:ln>
                  <a:noFill/>
                </a:ln>
                <a:solidFill>
                  <a:srgbClr val="ED171D"/>
                </a:solidFill>
                <a:effectLst/>
                <a:uLnTx/>
                <a:uFillTx/>
                <a:latin typeface="Times New Roman"/>
                <a:cs typeface="Times New Roman"/>
              </a:rPr>
              <a:t>bookkeeping</a:t>
            </a:r>
            <a:endParaRPr kumimoji="0" sz="15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59" name="object 15">
            <a:extLst>
              <a:ext uri="{FF2B5EF4-FFF2-40B4-BE49-F238E27FC236}">
                <a16:creationId xmlns:a16="http://schemas.microsoft.com/office/drawing/2014/main" id="{4195F78A-83B7-6927-538D-8F76B1F7092A}"/>
              </a:ext>
            </a:extLst>
          </p:cNvPr>
          <p:cNvSpPr/>
          <p:nvPr/>
        </p:nvSpPr>
        <p:spPr>
          <a:xfrm>
            <a:off x="4685284" y="1427734"/>
            <a:ext cx="1346835" cy="1267460"/>
          </a:xfrm>
          <a:custGeom>
            <a:avLst/>
            <a:gdLst/>
            <a:ahLst/>
            <a:cxnLst/>
            <a:rect l="l" t="t" r="r" b="b"/>
            <a:pathLst>
              <a:path w="1346835" h="1267460">
                <a:moveTo>
                  <a:pt x="1346454" y="0"/>
                </a:moveTo>
                <a:lnTo>
                  <a:pt x="1336548" y="0"/>
                </a:lnTo>
                <a:lnTo>
                  <a:pt x="1336548" y="9906"/>
                </a:lnTo>
                <a:lnTo>
                  <a:pt x="1336548" y="1257300"/>
                </a:lnTo>
                <a:lnTo>
                  <a:pt x="256794" y="1257300"/>
                </a:lnTo>
                <a:lnTo>
                  <a:pt x="256794" y="9906"/>
                </a:lnTo>
                <a:lnTo>
                  <a:pt x="1336548" y="9906"/>
                </a:lnTo>
                <a:lnTo>
                  <a:pt x="1336548" y="0"/>
                </a:lnTo>
                <a:lnTo>
                  <a:pt x="246888" y="0"/>
                </a:lnTo>
                <a:lnTo>
                  <a:pt x="246888" y="421424"/>
                </a:lnTo>
                <a:lnTo>
                  <a:pt x="192786" y="394716"/>
                </a:lnTo>
                <a:lnTo>
                  <a:pt x="192786" y="419100"/>
                </a:lnTo>
                <a:lnTo>
                  <a:pt x="0" y="419100"/>
                </a:lnTo>
                <a:lnTo>
                  <a:pt x="0" y="429006"/>
                </a:lnTo>
                <a:lnTo>
                  <a:pt x="192786" y="429006"/>
                </a:lnTo>
                <a:lnTo>
                  <a:pt x="192786" y="453390"/>
                </a:lnTo>
                <a:lnTo>
                  <a:pt x="202692" y="448373"/>
                </a:lnTo>
                <a:lnTo>
                  <a:pt x="246888" y="425996"/>
                </a:lnTo>
                <a:lnTo>
                  <a:pt x="246888" y="1267206"/>
                </a:lnTo>
                <a:lnTo>
                  <a:pt x="251460" y="1267206"/>
                </a:lnTo>
                <a:lnTo>
                  <a:pt x="256794" y="1267206"/>
                </a:lnTo>
                <a:lnTo>
                  <a:pt x="1336548" y="1267206"/>
                </a:lnTo>
                <a:lnTo>
                  <a:pt x="1341120" y="1267206"/>
                </a:lnTo>
                <a:lnTo>
                  <a:pt x="1346454" y="1267206"/>
                </a:lnTo>
                <a:lnTo>
                  <a:pt x="13464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0" name="object 16">
            <a:extLst>
              <a:ext uri="{FF2B5EF4-FFF2-40B4-BE49-F238E27FC236}">
                <a16:creationId xmlns:a16="http://schemas.microsoft.com/office/drawing/2014/main" id="{AFEFD100-5D38-EEA2-BEB7-6B2E1CBB24BF}"/>
              </a:ext>
            </a:extLst>
          </p:cNvPr>
          <p:cNvSpPr txBox="1"/>
          <p:nvPr/>
        </p:nvSpPr>
        <p:spPr>
          <a:xfrm>
            <a:off x="5013962" y="1776223"/>
            <a:ext cx="934085" cy="561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lvl="0" indent="200025" defTabSz="914400" eaLnBrk="1" fontAlgn="auto" latinLnBrk="0" hangingPunct="1">
              <a:lnSpc>
                <a:spcPct val="1006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5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Flow </a:t>
            </a:r>
            <a:r>
              <a:rPr kumimoji="0" sz="175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Analysis</a:t>
            </a:r>
            <a:endParaRPr kumimoji="0" sz="17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Rounded MT Bold"/>
              <a:cs typeface="Arial Rounded MT Bold"/>
            </a:endParaRPr>
          </a:p>
        </p:txBody>
      </p:sp>
      <p:sp>
        <p:nvSpPr>
          <p:cNvPr id="61" name="object 17">
            <a:extLst>
              <a:ext uri="{FF2B5EF4-FFF2-40B4-BE49-F238E27FC236}">
                <a16:creationId xmlns:a16="http://schemas.microsoft.com/office/drawing/2014/main" id="{5A3D29F5-B3AC-D4BF-4191-76D5C88106B5}"/>
              </a:ext>
            </a:extLst>
          </p:cNvPr>
          <p:cNvSpPr/>
          <p:nvPr/>
        </p:nvSpPr>
        <p:spPr>
          <a:xfrm>
            <a:off x="6026404" y="1427734"/>
            <a:ext cx="1346835" cy="1267460"/>
          </a:xfrm>
          <a:custGeom>
            <a:avLst/>
            <a:gdLst/>
            <a:ahLst/>
            <a:cxnLst/>
            <a:rect l="l" t="t" r="r" b="b"/>
            <a:pathLst>
              <a:path w="1346834" h="1267460">
                <a:moveTo>
                  <a:pt x="1346454" y="0"/>
                </a:moveTo>
                <a:lnTo>
                  <a:pt x="1336548" y="0"/>
                </a:lnTo>
                <a:lnTo>
                  <a:pt x="1336548" y="9906"/>
                </a:lnTo>
                <a:lnTo>
                  <a:pt x="1336548" y="1257300"/>
                </a:lnTo>
                <a:lnTo>
                  <a:pt x="256794" y="1257300"/>
                </a:lnTo>
                <a:lnTo>
                  <a:pt x="256794" y="9906"/>
                </a:lnTo>
                <a:lnTo>
                  <a:pt x="1336548" y="9906"/>
                </a:lnTo>
                <a:lnTo>
                  <a:pt x="1336548" y="0"/>
                </a:lnTo>
                <a:lnTo>
                  <a:pt x="246888" y="0"/>
                </a:lnTo>
                <a:lnTo>
                  <a:pt x="246888" y="421424"/>
                </a:lnTo>
                <a:lnTo>
                  <a:pt x="192786" y="394716"/>
                </a:lnTo>
                <a:lnTo>
                  <a:pt x="192786" y="419100"/>
                </a:lnTo>
                <a:lnTo>
                  <a:pt x="0" y="419100"/>
                </a:lnTo>
                <a:lnTo>
                  <a:pt x="0" y="429006"/>
                </a:lnTo>
                <a:lnTo>
                  <a:pt x="192786" y="429006"/>
                </a:lnTo>
                <a:lnTo>
                  <a:pt x="192786" y="453390"/>
                </a:lnTo>
                <a:lnTo>
                  <a:pt x="202679" y="448373"/>
                </a:lnTo>
                <a:lnTo>
                  <a:pt x="246888" y="425996"/>
                </a:lnTo>
                <a:lnTo>
                  <a:pt x="246888" y="1267206"/>
                </a:lnTo>
                <a:lnTo>
                  <a:pt x="251460" y="1267206"/>
                </a:lnTo>
                <a:lnTo>
                  <a:pt x="256794" y="1267206"/>
                </a:lnTo>
                <a:lnTo>
                  <a:pt x="1336548" y="1267206"/>
                </a:lnTo>
                <a:lnTo>
                  <a:pt x="1341120" y="1267206"/>
                </a:lnTo>
                <a:lnTo>
                  <a:pt x="1346454" y="1267206"/>
                </a:lnTo>
                <a:lnTo>
                  <a:pt x="13464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2" name="object 18">
            <a:extLst>
              <a:ext uri="{FF2B5EF4-FFF2-40B4-BE49-F238E27FC236}">
                <a16:creationId xmlns:a16="http://schemas.microsoft.com/office/drawing/2014/main" id="{DDD17CB4-6BD1-EC22-CBC0-D529BDE0074A}"/>
              </a:ext>
            </a:extLst>
          </p:cNvPr>
          <p:cNvSpPr txBox="1"/>
          <p:nvPr/>
        </p:nvSpPr>
        <p:spPr>
          <a:xfrm>
            <a:off x="6267458" y="1776223"/>
            <a:ext cx="1110615" cy="561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lvl="0" indent="84455" defTabSz="914400" eaLnBrk="1" fontAlgn="auto" latinLnBrk="0" hangingPunct="1">
              <a:lnSpc>
                <a:spcPct val="1006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5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Register Allocation</a:t>
            </a:r>
            <a:endParaRPr kumimoji="0" sz="17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Rounded MT Bold"/>
              <a:cs typeface="Arial Rounded MT Bold"/>
            </a:endParaRPr>
          </a:p>
        </p:txBody>
      </p:sp>
      <p:sp>
        <p:nvSpPr>
          <p:cNvPr id="63" name="object 19">
            <a:extLst>
              <a:ext uri="{FF2B5EF4-FFF2-40B4-BE49-F238E27FC236}">
                <a16:creationId xmlns:a16="http://schemas.microsoft.com/office/drawing/2014/main" id="{010BF28C-B949-14E3-439C-C139EC9A0C61}"/>
              </a:ext>
            </a:extLst>
          </p:cNvPr>
          <p:cNvSpPr/>
          <p:nvPr/>
        </p:nvSpPr>
        <p:spPr>
          <a:xfrm>
            <a:off x="7367524" y="1427734"/>
            <a:ext cx="1346835" cy="1267460"/>
          </a:xfrm>
          <a:custGeom>
            <a:avLst/>
            <a:gdLst/>
            <a:ahLst/>
            <a:cxnLst/>
            <a:rect l="l" t="t" r="r" b="b"/>
            <a:pathLst>
              <a:path w="1346834" h="1267460">
                <a:moveTo>
                  <a:pt x="1346454" y="0"/>
                </a:moveTo>
                <a:lnTo>
                  <a:pt x="1336548" y="0"/>
                </a:lnTo>
                <a:lnTo>
                  <a:pt x="1336548" y="9906"/>
                </a:lnTo>
                <a:lnTo>
                  <a:pt x="1336548" y="1257300"/>
                </a:lnTo>
                <a:lnTo>
                  <a:pt x="256794" y="1257300"/>
                </a:lnTo>
                <a:lnTo>
                  <a:pt x="256794" y="9906"/>
                </a:lnTo>
                <a:lnTo>
                  <a:pt x="1336548" y="9906"/>
                </a:lnTo>
                <a:lnTo>
                  <a:pt x="1336548" y="0"/>
                </a:lnTo>
                <a:lnTo>
                  <a:pt x="246888" y="0"/>
                </a:lnTo>
                <a:lnTo>
                  <a:pt x="246888" y="421424"/>
                </a:lnTo>
                <a:lnTo>
                  <a:pt x="192786" y="394716"/>
                </a:lnTo>
                <a:lnTo>
                  <a:pt x="192786" y="419100"/>
                </a:lnTo>
                <a:lnTo>
                  <a:pt x="0" y="419100"/>
                </a:lnTo>
                <a:lnTo>
                  <a:pt x="0" y="429006"/>
                </a:lnTo>
                <a:lnTo>
                  <a:pt x="192786" y="429006"/>
                </a:lnTo>
                <a:lnTo>
                  <a:pt x="192786" y="453390"/>
                </a:lnTo>
                <a:lnTo>
                  <a:pt x="202692" y="448373"/>
                </a:lnTo>
                <a:lnTo>
                  <a:pt x="246888" y="425996"/>
                </a:lnTo>
                <a:lnTo>
                  <a:pt x="246888" y="1267206"/>
                </a:lnTo>
                <a:lnTo>
                  <a:pt x="251460" y="1267206"/>
                </a:lnTo>
                <a:lnTo>
                  <a:pt x="256794" y="1267206"/>
                </a:lnTo>
                <a:lnTo>
                  <a:pt x="1336548" y="1267206"/>
                </a:lnTo>
                <a:lnTo>
                  <a:pt x="1341120" y="1267206"/>
                </a:lnTo>
                <a:lnTo>
                  <a:pt x="1346454" y="1267206"/>
                </a:lnTo>
                <a:lnTo>
                  <a:pt x="13464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4" name="object 20">
            <a:extLst>
              <a:ext uri="{FF2B5EF4-FFF2-40B4-BE49-F238E27FC236}">
                <a16:creationId xmlns:a16="http://schemas.microsoft.com/office/drawing/2014/main" id="{5C75D214-8EF7-D133-3064-CF83CF00C8E2}"/>
              </a:ext>
            </a:extLst>
          </p:cNvPr>
          <p:cNvSpPr txBox="1"/>
          <p:nvPr/>
        </p:nvSpPr>
        <p:spPr>
          <a:xfrm>
            <a:off x="7626100" y="1776223"/>
            <a:ext cx="1075690" cy="561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lvl="0" indent="236220" defTabSz="914400" eaLnBrk="1" fontAlgn="auto" latinLnBrk="0" hangingPunct="1">
              <a:lnSpc>
                <a:spcPct val="1006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5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Final Assembly</a:t>
            </a:r>
            <a:endParaRPr kumimoji="0" sz="17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Rounded MT Bold"/>
              <a:cs typeface="Arial Rounded MT Bold"/>
            </a:endParaRPr>
          </a:p>
        </p:txBody>
      </p:sp>
      <p:sp>
        <p:nvSpPr>
          <p:cNvPr id="65" name="object 21">
            <a:extLst>
              <a:ext uri="{FF2B5EF4-FFF2-40B4-BE49-F238E27FC236}">
                <a16:creationId xmlns:a16="http://schemas.microsoft.com/office/drawing/2014/main" id="{1B85073D-0E02-6D95-879B-5473CAE63F28}"/>
              </a:ext>
            </a:extLst>
          </p:cNvPr>
          <p:cNvSpPr/>
          <p:nvPr/>
        </p:nvSpPr>
        <p:spPr>
          <a:xfrm>
            <a:off x="8708643" y="1822451"/>
            <a:ext cx="251460" cy="59055"/>
          </a:xfrm>
          <a:custGeom>
            <a:avLst/>
            <a:gdLst/>
            <a:ahLst/>
            <a:cxnLst/>
            <a:rect l="l" t="t" r="r" b="b"/>
            <a:pathLst>
              <a:path w="251459" h="59055">
                <a:moveTo>
                  <a:pt x="202692" y="34290"/>
                </a:moveTo>
                <a:lnTo>
                  <a:pt x="202692" y="24384"/>
                </a:lnTo>
                <a:lnTo>
                  <a:pt x="0" y="24384"/>
                </a:lnTo>
                <a:lnTo>
                  <a:pt x="0" y="34290"/>
                </a:lnTo>
                <a:lnTo>
                  <a:pt x="202692" y="34290"/>
                </a:lnTo>
                <a:close/>
              </a:path>
              <a:path w="251459" h="59055">
                <a:moveTo>
                  <a:pt x="251459" y="28956"/>
                </a:moveTo>
                <a:lnTo>
                  <a:pt x="192785" y="0"/>
                </a:lnTo>
                <a:lnTo>
                  <a:pt x="192785" y="24384"/>
                </a:lnTo>
                <a:lnTo>
                  <a:pt x="202692" y="24384"/>
                </a:lnTo>
                <a:lnTo>
                  <a:pt x="202692" y="53656"/>
                </a:lnTo>
                <a:lnTo>
                  <a:pt x="251459" y="28956"/>
                </a:lnTo>
                <a:close/>
              </a:path>
              <a:path w="251459" h="59055">
                <a:moveTo>
                  <a:pt x="202692" y="53656"/>
                </a:moveTo>
                <a:lnTo>
                  <a:pt x="202692" y="34290"/>
                </a:lnTo>
                <a:lnTo>
                  <a:pt x="192785" y="34290"/>
                </a:lnTo>
                <a:lnTo>
                  <a:pt x="192785" y="58674"/>
                </a:lnTo>
                <a:lnTo>
                  <a:pt x="202692" y="536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5" name="object 2">
            <a:extLst>
              <a:ext uri="{FF2B5EF4-FFF2-40B4-BE49-F238E27FC236}">
                <a16:creationId xmlns:a16="http://schemas.microsoft.com/office/drawing/2014/main" id="{D926D5C6-AA9E-9A1A-4E7C-BCD3F7FE044B}"/>
              </a:ext>
            </a:extLst>
          </p:cNvPr>
          <p:cNvSpPr txBox="1">
            <a:spLocks/>
          </p:cNvSpPr>
          <p:nvPr/>
        </p:nvSpPr>
        <p:spPr>
          <a:xfrm>
            <a:off x="701294" y="674464"/>
            <a:ext cx="8470900" cy="527067"/>
          </a:xfrm>
          <a:prstGeom prst="rect">
            <a:avLst/>
          </a:prstGeom>
        </p:spPr>
        <p:txBody>
          <a:bodyPr vert="horz" wrap="square" lIns="0" tIns="156210" rIns="0" bIns="0" rtlCol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Microsoft YaHei"/>
                <a:ea typeface="+mj-ea"/>
                <a:cs typeface="Microsoft YaHei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03325" algn="l"/>
              </a:tabLst>
              <a:defRPr/>
            </a:pPr>
            <a:r>
              <a:rPr kumimoji="0" lang="en-US" sz="2400" b="0" i="0" u="none" strike="noStrike" kern="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1957: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The</a:t>
            </a:r>
            <a:r>
              <a:rPr kumimoji="0" lang="en-US" sz="2400" b="0" i="0" u="none" strike="noStrike" kern="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FORTRAN</a:t>
            </a:r>
            <a:r>
              <a:rPr kumimoji="0" lang="en-US" sz="2400" b="0" i="0" u="none" strike="noStrike" kern="0" cap="none" spc="-15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Automatic</a:t>
            </a:r>
            <a:r>
              <a:rPr kumimoji="0" lang="en-US" sz="2400" b="0" i="0" u="none" strike="noStrike" kern="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Coding</a:t>
            </a:r>
            <a:r>
              <a:rPr kumimoji="0" lang="en-US" sz="2400" b="0" i="0" u="none" strike="noStrike" kern="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System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21037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564C3-8314-846E-1AC4-8ADC511F1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DC8632B-96F0-BA9C-87E5-85079447D0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5940" y="159003"/>
            <a:ext cx="540766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pc="-1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经典编译器</a:t>
            </a:r>
            <a:r>
              <a:rPr lang="en-US" altLang="zh-CN" spc="-1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FORTRAN </a:t>
            </a:r>
            <a:endParaRPr spc="-1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object 2">
            <a:extLst>
              <a:ext uri="{FF2B5EF4-FFF2-40B4-BE49-F238E27FC236}">
                <a16:creationId xmlns:a16="http://schemas.microsoft.com/office/drawing/2014/main" id="{465848E5-0972-65E6-E8FD-B43E32BD185D}"/>
              </a:ext>
            </a:extLst>
          </p:cNvPr>
          <p:cNvSpPr txBox="1">
            <a:spLocks/>
          </p:cNvSpPr>
          <p:nvPr/>
        </p:nvSpPr>
        <p:spPr>
          <a:xfrm>
            <a:off x="701294" y="674464"/>
            <a:ext cx="8470900" cy="527067"/>
          </a:xfrm>
          <a:prstGeom prst="rect">
            <a:avLst/>
          </a:prstGeom>
        </p:spPr>
        <p:txBody>
          <a:bodyPr vert="horz" wrap="square" lIns="0" tIns="156210" rIns="0" bIns="0" rtlCol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Microsoft YaHei"/>
                <a:ea typeface="+mj-ea"/>
                <a:cs typeface="Microsoft YaHei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1969:</a:t>
            </a:r>
            <a:r>
              <a:rPr kumimoji="0" lang="pt-BR" altLang="zh-CN" sz="2400" b="0" i="0" u="none" strike="noStrike" kern="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kumimoji="0" lang="pt-BR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kumimoji="0" lang="pt-BR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BM</a:t>
            </a:r>
            <a:r>
              <a:rPr kumimoji="0" lang="pt-BR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’s</a:t>
            </a:r>
            <a:r>
              <a:rPr kumimoji="0" lang="pt-BR" altLang="zh-CN" sz="2400" b="0" i="0" u="none" strike="noStrike" kern="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kumimoji="0" lang="pt-BR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F</a:t>
            </a:r>
            <a:r>
              <a:rPr kumimoji="0" lang="pt-BR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ORTRAN</a:t>
            </a:r>
            <a:r>
              <a:rPr kumimoji="0" lang="pt-BR" altLang="zh-CN" sz="2000" b="0" i="0" u="none" strike="noStrike" kern="0" cap="none" spc="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kumimoji="0" lang="pt-BR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kumimoji="0" lang="pt-BR" altLang="zh-CN" sz="2400" b="0" i="0" u="none" strike="noStrike" kern="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kumimoji="0" lang="pt-BR" altLang="zh-CN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Compiler</a:t>
            </a:r>
            <a:endParaRPr kumimoji="0" lang="pt-BR" altLang="zh-CN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9" name="object 3">
            <a:extLst>
              <a:ext uri="{FF2B5EF4-FFF2-40B4-BE49-F238E27FC236}">
                <a16:creationId xmlns:a16="http://schemas.microsoft.com/office/drawing/2014/main" id="{37CCE60A-2F3D-24A6-967D-DF2F466E5021}"/>
              </a:ext>
            </a:extLst>
          </p:cNvPr>
          <p:cNvSpPr txBox="1"/>
          <p:nvPr/>
        </p:nvSpPr>
        <p:spPr>
          <a:xfrm>
            <a:off x="141716" y="3040380"/>
            <a:ext cx="8683625" cy="32423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51510" marR="174625" lvl="0" indent="-71120" defTabSz="914400" eaLnBrk="1" fontAlgn="auto" latinLnBrk="0" hangingPunct="1">
              <a:lnSpc>
                <a:spcPct val="1006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4035425" algn="l"/>
                <a:tab pos="7475220" algn="l"/>
              </a:tabLst>
              <a:defRPr/>
            </a:pPr>
            <a:r>
              <a:rPr kumimoji="0" sz="175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Front</a:t>
            </a:r>
            <a:r>
              <a:rPr kumimoji="0" sz="17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	Middle</a:t>
            </a:r>
            <a:r>
              <a:rPr kumimoji="0" sz="175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 </a:t>
            </a:r>
            <a:r>
              <a:rPr kumimoji="0" sz="175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End</a:t>
            </a:r>
            <a:r>
              <a:rPr kumimoji="0" sz="17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	Back</a:t>
            </a:r>
            <a:r>
              <a:rPr kumimoji="0" sz="175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 </a:t>
            </a:r>
            <a:r>
              <a:rPr kumimoji="0" sz="175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End End</a:t>
            </a:r>
            <a:endParaRPr kumimoji="0" sz="17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Rounded MT Bold"/>
              <a:cs typeface="Arial Rounded MT Bold"/>
            </a:endParaRPr>
          </a:p>
          <a:p>
            <a:pPr marL="389255" marR="175260" lvl="0" indent="-377190" defTabSz="914400" eaLnBrk="1" fontAlgn="auto" latinLnBrk="0" hangingPunct="1">
              <a:lnSpc>
                <a:spcPct val="101000"/>
              </a:lnSpc>
              <a:spcBef>
                <a:spcPts val="104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89255" algn="l"/>
              </a:tabLst>
              <a:defRPr/>
            </a:pP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Used</a:t>
            </a:r>
            <a:r>
              <a:rPr kumimoji="0" sz="305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sz="3050" kern="0" dirty="0">
                <a:solidFill>
                  <a:srgbClr val="0000CC"/>
                </a:solidFill>
                <a:latin typeface="Arial"/>
                <a:cs typeface="Arial"/>
              </a:rPr>
              <a:t>low-level IR </a:t>
            </a: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(quads),</a:t>
            </a:r>
            <a:r>
              <a:rPr kumimoji="0" sz="305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identified</a:t>
            </a:r>
            <a:r>
              <a:rPr kumimoji="0" sz="305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loops</a:t>
            </a:r>
            <a:r>
              <a:rPr kumimoji="0" sz="305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5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with </a:t>
            </a:r>
            <a:r>
              <a:rPr kumimoji="0" sz="305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dominators</a:t>
            </a:r>
            <a:endParaRPr kumimoji="0" sz="30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89255" marR="0" lvl="0" indent="-376555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89255" algn="l"/>
              </a:tabLst>
              <a:defRPr/>
            </a:pP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Focused</a:t>
            </a:r>
            <a:r>
              <a:rPr kumimoji="0" sz="305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on</a:t>
            </a:r>
            <a:r>
              <a:rPr kumimoji="0" sz="305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sz="3050" kern="0" dirty="0">
                <a:solidFill>
                  <a:srgbClr val="0000CC"/>
                </a:solidFill>
                <a:latin typeface="Arial"/>
                <a:cs typeface="Arial"/>
              </a:rPr>
              <a:t>optimizing loops </a:t>
            </a: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(“inside</a:t>
            </a:r>
            <a:r>
              <a:rPr kumimoji="0" sz="305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out”</a:t>
            </a:r>
            <a:r>
              <a:rPr kumimoji="0" sz="305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order)</a:t>
            </a:r>
            <a:endParaRPr kumimoji="0" sz="30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515620" marR="0" lvl="0" indent="0" defTabSz="914400" eaLnBrk="1" fontAlgn="auto" latinLnBrk="0" hangingPunct="1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Passes</a:t>
            </a:r>
            <a:r>
              <a:rPr kumimoji="0" sz="2600" b="0" i="0" u="none" strike="noStrike" kern="0" cap="none" spc="9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are</a:t>
            </a:r>
            <a:r>
              <a:rPr kumimoji="0" sz="2600" b="0" i="0" u="none" strike="noStrike" kern="0" cap="none" spc="7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similar to modern compilers</a:t>
            </a:r>
            <a:endParaRPr kumimoji="0" sz="2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89255" marR="0" lvl="0" indent="-376555" defTabSz="914400" eaLnBrk="1" fontAlgn="auto" latinLnBrk="0" hangingPunct="1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89255" algn="l"/>
              </a:tabLst>
              <a:defRPr/>
            </a:pP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Simple</a:t>
            </a:r>
            <a:r>
              <a:rPr kumimoji="0" sz="305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front</a:t>
            </a:r>
            <a:r>
              <a:rPr kumimoji="0" sz="305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end,</a:t>
            </a:r>
            <a:r>
              <a:rPr kumimoji="0" sz="305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simple</a:t>
            </a:r>
            <a:r>
              <a:rPr kumimoji="0" sz="305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back end</a:t>
            </a:r>
            <a:r>
              <a:rPr kumimoji="0" sz="305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for IBM </a:t>
            </a:r>
            <a:r>
              <a:rPr kumimoji="0" sz="305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370</a:t>
            </a:r>
            <a:endParaRPr kumimoji="0" sz="30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00" name="object 5">
            <a:extLst>
              <a:ext uri="{FF2B5EF4-FFF2-40B4-BE49-F238E27FC236}">
                <a16:creationId xmlns:a16="http://schemas.microsoft.com/office/drawing/2014/main" id="{1A7787E8-AA75-7838-06C0-93FF2CCE6404}"/>
              </a:ext>
            </a:extLst>
          </p:cNvPr>
          <p:cNvSpPr/>
          <p:nvPr/>
        </p:nvSpPr>
        <p:spPr>
          <a:xfrm>
            <a:off x="1508506" y="3022218"/>
            <a:ext cx="5678170" cy="0"/>
          </a:xfrm>
          <a:custGeom>
            <a:avLst/>
            <a:gdLst/>
            <a:ahLst/>
            <a:cxnLst/>
            <a:rect l="l" t="t" r="r" b="b"/>
            <a:pathLst>
              <a:path w="5678170">
                <a:moveTo>
                  <a:pt x="0" y="0"/>
                </a:moveTo>
                <a:lnTo>
                  <a:pt x="5677661" y="0"/>
                </a:lnTo>
              </a:path>
            </a:pathLst>
          </a:custGeom>
          <a:ln w="9906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1" name="object 6">
            <a:extLst>
              <a:ext uri="{FF2B5EF4-FFF2-40B4-BE49-F238E27FC236}">
                <a16:creationId xmlns:a16="http://schemas.microsoft.com/office/drawing/2014/main" id="{98D6D1D0-DED0-40B3-B211-E08C18469F0D}"/>
              </a:ext>
            </a:extLst>
          </p:cNvPr>
          <p:cNvSpPr/>
          <p:nvPr/>
        </p:nvSpPr>
        <p:spPr>
          <a:xfrm>
            <a:off x="670305" y="3022218"/>
            <a:ext cx="658495" cy="0"/>
          </a:xfrm>
          <a:custGeom>
            <a:avLst/>
            <a:gdLst/>
            <a:ahLst/>
            <a:cxnLst/>
            <a:rect l="l" t="t" r="r" b="b"/>
            <a:pathLst>
              <a:path w="658494">
                <a:moveTo>
                  <a:pt x="0" y="0"/>
                </a:moveTo>
                <a:lnTo>
                  <a:pt x="658368" y="0"/>
                </a:lnTo>
              </a:path>
            </a:pathLst>
          </a:custGeom>
          <a:ln w="990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2" name="object 7">
            <a:extLst>
              <a:ext uri="{FF2B5EF4-FFF2-40B4-BE49-F238E27FC236}">
                <a16:creationId xmlns:a16="http://schemas.microsoft.com/office/drawing/2014/main" id="{CD884469-74C6-D1AD-6F3B-307BF3B462C9}"/>
              </a:ext>
            </a:extLst>
          </p:cNvPr>
          <p:cNvSpPr/>
          <p:nvPr/>
        </p:nvSpPr>
        <p:spPr>
          <a:xfrm>
            <a:off x="7375905" y="3022218"/>
            <a:ext cx="1483995" cy="0"/>
          </a:xfrm>
          <a:custGeom>
            <a:avLst/>
            <a:gdLst/>
            <a:ahLst/>
            <a:cxnLst/>
            <a:rect l="l" t="t" r="r" b="b"/>
            <a:pathLst>
              <a:path w="1483995">
                <a:moveTo>
                  <a:pt x="0" y="0"/>
                </a:moveTo>
                <a:lnTo>
                  <a:pt x="1483613" y="0"/>
                </a:lnTo>
              </a:path>
            </a:pathLst>
          </a:custGeom>
          <a:ln w="990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3" name="object 8">
            <a:extLst>
              <a:ext uri="{FF2B5EF4-FFF2-40B4-BE49-F238E27FC236}">
                <a16:creationId xmlns:a16="http://schemas.microsoft.com/office/drawing/2014/main" id="{EE768CD6-CCE1-1FFF-31B1-ED68FA83B6A4}"/>
              </a:ext>
            </a:extLst>
          </p:cNvPr>
          <p:cNvSpPr/>
          <p:nvPr/>
        </p:nvSpPr>
        <p:spPr>
          <a:xfrm>
            <a:off x="665733" y="1340866"/>
            <a:ext cx="680720" cy="1267460"/>
          </a:xfrm>
          <a:custGeom>
            <a:avLst/>
            <a:gdLst/>
            <a:ahLst/>
            <a:cxnLst/>
            <a:rect l="l" t="t" r="r" b="b"/>
            <a:pathLst>
              <a:path w="680719" h="1267460">
                <a:moveTo>
                  <a:pt x="680466" y="1267205"/>
                </a:moveTo>
                <a:lnTo>
                  <a:pt x="680466" y="0"/>
                </a:lnTo>
                <a:lnTo>
                  <a:pt x="0" y="0"/>
                </a:lnTo>
                <a:lnTo>
                  <a:pt x="0" y="1267205"/>
                </a:lnTo>
                <a:lnTo>
                  <a:pt x="4571" y="1267205"/>
                </a:lnTo>
                <a:lnTo>
                  <a:pt x="4571" y="9905"/>
                </a:lnTo>
                <a:lnTo>
                  <a:pt x="9906" y="4571"/>
                </a:lnTo>
                <a:lnTo>
                  <a:pt x="9906" y="9905"/>
                </a:lnTo>
                <a:lnTo>
                  <a:pt x="670560" y="9905"/>
                </a:lnTo>
                <a:lnTo>
                  <a:pt x="670560" y="4571"/>
                </a:lnTo>
                <a:lnTo>
                  <a:pt x="675132" y="9905"/>
                </a:lnTo>
                <a:lnTo>
                  <a:pt x="675132" y="1267205"/>
                </a:lnTo>
                <a:lnTo>
                  <a:pt x="680466" y="1267205"/>
                </a:lnTo>
                <a:close/>
              </a:path>
              <a:path w="680719" h="1267460">
                <a:moveTo>
                  <a:pt x="9906" y="9905"/>
                </a:moveTo>
                <a:lnTo>
                  <a:pt x="9906" y="4571"/>
                </a:lnTo>
                <a:lnTo>
                  <a:pt x="4571" y="9905"/>
                </a:lnTo>
                <a:lnTo>
                  <a:pt x="9906" y="9905"/>
                </a:lnTo>
                <a:close/>
              </a:path>
              <a:path w="680719" h="1267460">
                <a:moveTo>
                  <a:pt x="9906" y="1257299"/>
                </a:moveTo>
                <a:lnTo>
                  <a:pt x="9906" y="9905"/>
                </a:lnTo>
                <a:lnTo>
                  <a:pt x="4571" y="9905"/>
                </a:lnTo>
                <a:lnTo>
                  <a:pt x="4571" y="1257299"/>
                </a:lnTo>
                <a:lnTo>
                  <a:pt x="9906" y="1257299"/>
                </a:lnTo>
                <a:close/>
              </a:path>
              <a:path w="680719" h="1267460">
                <a:moveTo>
                  <a:pt x="675132" y="1257299"/>
                </a:moveTo>
                <a:lnTo>
                  <a:pt x="4571" y="1257299"/>
                </a:lnTo>
                <a:lnTo>
                  <a:pt x="9906" y="1261871"/>
                </a:lnTo>
                <a:lnTo>
                  <a:pt x="9906" y="1267205"/>
                </a:lnTo>
                <a:lnTo>
                  <a:pt x="670560" y="1267205"/>
                </a:lnTo>
                <a:lnTo>
                  <a:pt x="670560" y="1261871"/>
                </a:lnTo>
                <a:lnTo>
                  <a:pt x="675132" y="1257299"/>
                </a:lnTo>
                <a:close/>
              </a:path>
              <a:path w="680719" h="1267460">
                <a:moveTo>
                  <a:pt x="9906" y="1267205"/>
                </a:moveTo>
                <a:lnTo>
                  <a:pt x="9906" y="1261871"/>
                </a:lnTo>
                <a:lnTo>
                  <a:pt x="4571" y="1257299"/>
                </a:lnTo>
                <a:lnTo>
                  <a:pt x="4571" y="1267205"/>
                </a:lnTo>
                <a:lnTo>
                  <a:pt x="9906" y="1267205"/>
                </a:lnTo>
                <a:close/>
              </a:path>
              <a:path w="680719" h="1267460">
                <a:moveTo>
                  <a:pt x="675132" y="9905"/>
                </a:moveTo>
                <a:lnTo>
                  <a:pt x="670560" y="4571"/>
                </a:lnTo>
                <a:lnTo>
                  <a:pt x="670560" y="9905"/>
                </a:lnTo>
                <a:lnTo>
                  <a:pt x="675132" y="9905"/>
                </a:lnTo>
                <a:close/>
              </a:path>
              <a:path w="680719" h="1267460">
                <a:moveTo>
                  <a:pt x="675132" y="1257299"/>
                </a:moveTo>
                <a:lnTo>
                  <a:pt x="675132" y="9905"/>
                </a:lnTo>
                <a:lnTo>
                  <a:pt x="670560" y="9905"/>
                </a:lnTo>
                <a:lnTo>
                  <a:pt x="670560" y="1257299"/>
                </a:lnTo>
                <a:lnTo>
                  <a:pt x="675132" y="1257299"/>
                </a:lnTo>
                <a:close/>
              </a:path>
              <a:path w="680719" h="1267460">
                <a:moveTo>
                  <a:pt x="675132" y="1267205"/>
                </a:moveTo>
                <a:lnTo>
                  <a:pt x="675132" y="1257299"/>
                </a:lnTo>
                <a:lnTo>
                  <a:pt x="670560" y="1261871"/>
                </a:lnTo>
                <a:lnTo>
                  <a:pt x="670560" y="1267205"/>
                </a:lnTo>
                <a:lnTo>
                  <a:pt x="675132" y="12672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4" name="object 9">
            <a:extLst>
              <a:ext uri="{FF2B5EF4-FFF2-40B4-BE49-F238E27FC236}">
                <a16:creationId xmlns:a16="http://schemas.microsoft.com/office/drawing/2014/main" id="{E14DD351-1DD0-946C-8B83-527C7EB8A921}"/>
              </a:ext>
            </a:extLst>
          </p:cNvPr>
          <p:cNvSpPr txBox="1"/>
          <p:nvPr/>
        </p:nvSpPr>
        <p:spPr>
          <a:xfrm>
            <a:off x="684275" y="1568958"/>
            <a:ext cx="644525" cy="775970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 marR="5080" lvl="0" indent="-635" algn="ctr" defTabSz="914400" eaLnBrk="1" fontAlgn="auto" latinLnBrk="0" hangingPunct="1">
              <a:lnSpc>
                <a:spcPct val="90400"/>
              </a:lnSpc>
              <a:spcBef>
                <a:spcPts val="30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5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Scan </a:t>
            </a:r>
            <a:r>
              <a:rPr kumimoji="0" sz="175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&amp; </a:t>
            </a:r>
            <a:r>
              <a:rPr kumimoji="0" sz="175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Parse</a:t>
            </a:r>
            <a:endParaRPr kumimoji="0" sz="17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Rounded MT Bold"/>
              <a:cs typeface="Arial Rounded MT Bold"/>
            </a:endParaRPr>
          </a:p>
        </p:txBody>
      </p:sp>
      <p:sp>
        <p:nvSpPr>
          <p:cNvPr id="105" name="object 10">
            <a:extLst>
              <a:ext uri="{FF2B5EF4-FFF2-40B4-BE49-F238E27FC236}">
                <a16:creationId xmlns:a16="http://schemas.microsoft.com/office/drawing/2014/main" id="{60F755F3-4F58-8A13-FBC8-D6E940427AF4}"/>
              </a:ext>
            </a:extLst>
          </p:cNvPr>
          <p:cNvSpPr/>
          <p:nvPr/>
        </p:nvSpPr>
        <p:spPr>
          <a:xfrm>
            <a:off x="2342134" y="1340866"/>
            <a:ext cx="680720" cy="1267460"/>
          </a:xfrm>
          <a:custGeom>
            <a:avLst/>
            <a:gdLst/>
            <a:ahLst/>
            <a:cxnLst/>
            <a:rect l="l" t="t" r="r" b="b"/>
            <a:pathLst>
              <a:path w="680720" h="1267460">
                <a:moveTo>
                  <a:pt x="680465" y="1267206"/>
                </a:moveTo>
                <a:lnTo>
                  <a:pt x="680465" y="0"/>
                </a:lnTo>
                <a:lnTo>
                  <a:pt x="0" y="0"/>
                </a:lnTo>
                <a:lnTo>
                  <a:pt x="0" y="1267206"/>
                </a:lnTo>
                <a:lnTo>
                  <a:pt x="4572" y="1267206"/>
                </a:lnTo>
                <a:lnTo>
                  <a:pt x="4571" y="9906"/>
                </a:lnTo>
                <a:lnTo>
                  <a:pt x="9906" y="4572"/>
                </a:lnTo>
                <a:lnTo>
                  <a:pt x="9906" y="9906"/>
                </a:lnTo>
                <a:lnTo>
                  <a:pt x="670560" y="9905"/>
                </a:lnTo>
                <a:lnTo>
                  <a:pt x="670560" y="4571"/>
                </a:lnTo>
                <a:lnTo>
                  <a:pt x="675131" y="9905"/>
                </a:lnTo>
                <a:lnTo>
                  <a:pt x="675131" y="1267206"/>
                </a:lnTo>
                <a:lnTo>
                  <a:pt x="680465" y="1267206"/>
                </a:lnTo>
                <a:close/>
              </a:path>
              <a:path w="680720" h="1267460">
                <a:moveTo>
                  <a:pt x="9906" y="9906"/>
                </a:moveTo>
                <a:lnTo>
                  <a:pt x="9906" y="4572"/>
                </a:lnTo>
                <a:lnTo>
                  <a:pt x="4571" y="9906"/>
                </a:lnTo>
                <a:lnTo>
                  <a:pt x="9906" y="9906"/>
                </a:lnTo>
                <a:close/>
              </a:path>
              <a:path w="680720" h="1267460">
                <a:moveTo>
                  <a:pt x="9906" y="1257300"/>
                </a:moveTo>
                <a:lnTo>
                  <a:pt x="9906" y="9906"/>
                </a:lnTo>
                <a:lnTo>
                  <a:pt x="4571" y="9906"/>
                </a:lnTo>
                <a:lnTo>
                  <a:pt x="4572" y="1257300"/>
                </a:lnTo>
                <a:lnTo>
                  <a:pt x="9906" y="1257300"/>
                </a:lnTo>
                <a:close/>
              </a:path>
              <a:path w="680720" h="1267460">
                <a:moveTo>
                  <a:pt x="675131" y="1257300"/>
                </a:moveTo>
                <a:lnTo>
                  <a:pt x="4572" y="1257300"/>
                </a:lnTo>
                <a:lnTo>
                  <a:pt x="9906" y="1261872"/>
                </a:lnTo>
                <a:lnTo>
                  <a:pt x="9906" y="1267206"/>
                </a:lnTo>
                <a:lnTo>
                  <a:pt x="670560" y="1267206"/>
                </a:lnTo>
                <a:lnTo>
                  <a:pt x="670560" y="1261872"/>
                </a:lnTo>
                <a:lnTo>
                  <a:pt x="675131" y="1257300"/>
                </a:lnTo>
                <a:close/>
              </a:path>
              <a:path w="680720" h="1267460">
                <a:moveTo>
                  <a:pt x="9906" y="1267206"/>
                </a:moveTo>
                <a:lnTo>
                  <a:pt x="9906" y="1261872"/>
                </a:lnTo>
                <a:lnTo>
                  <a:pt x="4572" y="1257300"/>
                </a:lnTo>
                <a:lnTo>
                  <a:pt x="4572" y="1267206"/>
                </a:lnTo>
                <a:lnTo>
                  <a:pt x="9906" y="1267206"/>
                </a:lnTo>
                <a:close/>
              </a:path>
              <a:path w="680720" h="1267460">
                <a:moveTo>
                  <a:pt x="675131" y="9905"/>
                </a:moveTo>
                <a:lnTo>
                  <a:pt x="670560" y="4571"/>
                </a:lnTo>
                <a:lnTo>
                  <a:pt x="670560" y="9905"/>
                </a:lnTo>
                <a:lnTo>
                  <a:pt x="675131" y="9905"/>
                </a:lnTo>
                <a:close/>
              </a:path>
              <a:path w="680720" h="1267460">
                <a:moveTo>
                  <a:pt x="675131" y="1257300"/>
                </a:moveTo>
                <a:lnTo>
                  <a:pt x="675131" y="9905"/>
                </a:lnTo>
                <a:lnTo>
                  <a:pt x="670560" y="9905"/>
                </a:lnTo>
                <a:lnTo>
                  <a:pt x="670560" y="1257300"/>
                </a:lnTo>
                <a:lnTo>
                  <a:pt x="675131" y="1257300"/>
                </a:lnTo>
                <a:close/>
              </a:path>
              <a:path w="680720" h="1267460">
                <a:moveTo>
                  <a:pt x="675131" y="1267206"/>
                </a:moveTo>
                <a:lnTo>
                  <a:pt x="675131" y="1257300"/>
                </a:lnTo>
                <a:lnTo>
                  <a:pt x="670560" y="1261872"/>
                </a:lnTo>
                <a:lnTo>
                  <a:pt x="670560" y="1267206"/>
                </a:lnTo>
                <a:lnTo>
                  <a:pt x="675131" y="12672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6" name="object 11">
            <a:extLst>
              <a:ext uri="{FF2B5EF4-FFF2-40B4-BE49-F238E27FC236}">
                <a16:creationId xmlns:a16="http://schemas.microsoft.com/office/drawing/2014/main" id="{2C7B3670-D328-90A5-AC7F-5266B165686F}"/>
              </a:ext>
            </a:extLst>
          </p:cNvPr>
          <p:cNvSpPr txBox="1"/>
          <p:nvPr/>
        </p:nvSpPr>
        <p:spPr>
          <a:xfrm>
            <a:off x="2401061" y="1568958"/>
            <a:ext cx="563880" cy="775970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 marR="5080" lvl="0" indent="34925" algn="just" defTabSz="914400" eaLnBrk="1" fontAlgn="auto" latinLnBrk="0" hangingPunct="1">
              <a:lnSpc>
                <a:spcPct val="90400"/>
              </a:lnSpc>
              <a:spcBef>
                <a:spcPts val="30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5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Find Busy Vars</a:t>
            </a:r>
            <a:endParaRPr kumimoji="0" sz="17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Rounded MT Bold"/>
              <a:cs typeface="Arial Rounded MT Bold"/>
            </a:endParaRPr>
          </a:p>
        </p:txBody>
      </p:sp>
      <p:sp>
        <p:nvSpPr>
          <p:cNvPr id="107" name="object 12">
            <a:extLst>
              <a:ext uri="{FF2B5EF4-FFF2-40B4-BE49-F238E27FC236}">
                <a16:creationId xmlns:a16="http://schemas.microsoft.com/office/drawing/2014/main" id="{26F1A175-064E-CFF0-DFA3-131C5C750D7B}"/>
              </a:ext>
            </a:extLst>
          </p:cNvPr>
          <p:cNvSpPr/>
          <p:nvPr/>
        </p:nvSpPr>
        <p:spPr>
          <a:xfrm>
            <a:off x="4018534" y="1340865"/>
            <a:ext cx="4033520" cy="1267460"/>
          </a:xfrm>
          <a:custGeom>
            <a:avLst/>
            <a:gdLst/>
            <a:ahLst/>
            <a:cxnLst/>
            <a:rect l="l" t="t" r="r" b="b"/>
            <a:pathLst>
              <a:path w="4033520" h="1267460">
                <a:moveTo>
                  <a:pt x="680466" y="0"/>
                </a:moveTo>
                <a:lnTo>
                  <a:pt x="670560" y="0"/>
                </a:lnTo>
                <a:lnTo>
                  <a:pt x="670560" y="9906"/>
                </a:lnTo>
                <a:lnTo>
                  <a:pt x="670560" y="1257300"/>
                </a:lnTo>
                <a:lnTo>
                  <a:pt x="9906" y="1257300"/>
                </a:lnTo>
                <a:lnTo>
                  <a:pt x="9906" y="9906"/>
                </a:lnTo>
                <a:lnTo>
                  <a:pt x="670560" y="9906"/>
                </a:lnTo>
                <a:lnTo>
                  <a:pt x="670560" y="0"/>
                </a:lnTo>
                <a:lnTo>
                  <a:pt x="0" y="0"/>
                </a:lnTo>
                <a:lnTo>
                  <a:pt x="0" y="1267206"/>
                </a:lnTo>
                <a:lnTo>
                  <a:pt x="4572" y="1267206"/>
                </a:lnTo>
                <a:lnTo>
                  <a:pt x="9906" y="1267206"/>
                </a:lnTo>
                <a:lnTo>
                  <a:pt x="670560" y="1267206"/>
                </a:lnTo>
                <a:lnTo>
                  <a:pt x="675132" y="1267206"/>
                </a:lnTo>
                <a:lnTo>
                  <a:pt x="680466" y="1267206"/>
                </a:lnTo>
                <a:lnTo>
                  <a:pt x="680466" y="0"/>
                </a:lnTo>
                <a:close/>
              </a:path>
              <a:path w="4033520" h="1267460">
                <a:moveTo>
                  <a:pt x="2356866" y="0"/>
                </a:moveTo>
                <a:lnTo>
                  <a:pt x="2346947" y="0"/>
                </a:lnTo>
                <a:lnTo>
                  <a:pt x="2346947" y="9906"/>
                </a:lnTo>
                <a:lnTo>
                  <a:pt x="2346947" y="1257300"/>
                </a:lnTo>
                <a:lnTo>
                  <a:pt x="1686306" y="1257300"/>
                </a:lnTo>
                <a:lnTo>
                  <a:pt x="1686306" y="9906"/>
                </a:lnTo>
                <a:lnTo>
                  <a:pt x="2346947" y="9906"/>
                </a:lnTo>
                <a:lnTo>
                  <a:pt x="2346947" y="0"/>
                </a:lnTo>
                <a:lnTo>
                  <a:pt x="1676400" y="0"/>
                </a:lnTo>
                <a:lnTo>
                  <a:pt x="1676400" y="1267206"/>
                </a:lnTo>
                <a:lnTo>
                  <a:pt x="1680972" y="1267206"/>
                </a:lnTo>
                <a:lnTo>
                  <a:pt x="1686306" y="1267206"/>
                </a:lnTo>
                <a:lnTo>
                  <a:pt x="2346947" y="1267206"/>
                </a:lnTo>
                <a:lnTo>
                  <a:pt x="2351532" y="1267206"/>
                </a:lnTo>
                <a:lnTo>
                  <a:pt x="2356866" y="1267206"/>
                </a:lnTo>
                <a:lnTo>
                  <a:pt x="2356866" y="0"/>
                </a:lnTo>
                <a:close/>
              </a:path>
              <a:path w="4033520" h="1267460">
                <a:moveTo>
                  <a:pt x="4033266" y="0"/>
                </a:moveTo>
                <a:lnTo>
                  <a:pt x="4023360" y="0"/>
                </a:lnTo>
                <a:lnTo>
                  <a:pt x="4023360" y="9906"/>
                </a:lnTo>
                <a:lnTo>
                  <a:pt x="4023360" y="1257300"/>
                </a:lnTo>
                <a:lnTo>
                  <a:pt x="3362706" y="1257300"/>
                </a:lnTo>
                <a:lnTo>
                  <a:pt x="3362706" y="9906"/>
                </a:lnTo>
                <a:lnTo>
                  <a:pt x="4023360" y="9906"/>
                </a:lnTo>
                <a:lnTo>
                  <a:pt x="4023360" y="0"/>
                </a:lnTo>
                <a:lnTo>
                  <a:pt x="3352800" y="0"/>
                </a:lnTo>
                <a:lnTo>
                  <a:pt x="3352800" y="1267206"/>
                </a:lnTo>
                <a:lnTo>
                  <a:pt x="3357372" y="1267206"/>
                </a:lnTo>
                <a:lnTo>
                  <a:pt x="3362706" y="1267206"/>
                </a:lnTo>
                <a:lnTo>
                  <a:pt x="4023360" y="1267206"/>
                </a:lnTo>
                <a:lnTo>
                  <a:pt x="4027932" y="1267206"/>
                </a:lnTo>
                <a:lnTo>
                  <a:pt x="4033266" y="1267206"/>
                </a:lnTo>
                <a:lnTo>
                  <a:pt x="40332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8" name="object 13">
            <a:extLst>
              <a:ext uri="{FF2B5EF4-FFF2-40B4-BE49-F238E27FC236}">
                <a16:creationId xmlns:a16="http://schemas.microsoft.com/office/drawing/2014/main" id="{B1A92FEF-8741-203F-B1B5-F116F282E97D}"/>
              </a:ext>
            </a:extLst>
          </p:cNvPr>
          <p:cNvSpPr txBox="1"/>
          <p:nvPr/>
        </p:nvSpPr>
        <p:spPr>
          <a:xfrm>
            <a:off x="7395215" y="1568958"/>
            <a:ext cx="632460" cy="53467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 lvl="0" indent="59690" defTabSz="914400" eaLnBrk="1" fontAlgn="auto" latinLnBrk="0" hangingPunct="1">
              <a:lnSpc>
                <a:spcPts val="1900"/>
              </a:lnSpc>
              <a:spcBef>
                <a:spcPts val="3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5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Reg. </a:t>
            </a:r>
            <a:r>
              <a:rPr kumimoji="0" sz="175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Alloc.</a:t>
            </a:r>
            <a:endParaRPr kumimoji="0" sz="17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Rounded MT Bold"/>
              <a:cs typeface="Arial Rounded MT Bold"/>
            </a:endParaRPr>
          </a:p>
        </p:txBody>
      </p:sp>
      <p:sp>
        <p:nvSpPr>
          <p:cNvPr id="109" name="object 14">
            <a:extLst>
              <a:ext uri="{FF2B5EF4-FFF2-40B4-BE49-F238E27FC236}">
                <a16:creationId xmlns:a16="http://schemas.microsoft.com/office/drawing/2014/main" id="{EBC53499-B2F3-3A7F-7A36-1A336396684B}"/>
              </a:ext>
            </a:extLst>
          </p:cNvPr>
          <p:cNvSpPr/>
          <p:nvPr/>
        </p:nvSpPr>
        <p:spPr>
          <a:xfrm>
            <a:off x="8209533" y="1340866"/>
            <a:ext cx="680720" cy="1267460"/>
          </a:xfrm>
          <a:custGeom>
            <a:avLst/>
            <a:gdLst/>
            <a:ahLst/>
            <a:cxnLst/>
            <a:rect l="l" t="t" r="r" b="b"/>
            <a:pathLst>
              <a:path w="680720" h="1267460">
                <a:moveTo>
                  <a:pt x="680466" y="1267206"/>
                </a:moveTo>
                <a:lnTo>
                  <a:pt x="680466" y="0"/>
                </a:lnTo>
                <a:lnTo>
                  <a:pt x="0" y="0"/>
                </a:lnTo>
                <a:lnTo>
                  <a:pt x="0" y="1267206"/>
                </a:lnTo>
                <a:lnTo>
                  <a:pt x="4572" y="1267206"/>
                </a:lnTo>
                <a:lnTo>
                  <a:pt x="4572" y="9906"/>
                </a:lnTo>
                <a:lnTo>
                  <a:pt x="9905" y="4572"/>
                </a:lnTo>
                <a:lnTo>
                  <a:pt x="9905" y="9906"/>
                </a:lnTo>
                <a:lnTo>
                  <a:pt x="670559" y="9906"/>
                </a:lnTo>
                <a:lnTo>
                  <a:pt x="670559" y="4572"/>
                </a:lnTo>
                <a:lnTo>
                  <a:pt x="675131" y="9906"/>
                </a:lnTo>
                <a:lnTo>
                  <a:pt x="675131" y="1267206"/>
                </a:lnTo>
                <a:lnTo>
                  <a:pt x="680466" y="1267206"/>
                </a:lnTo>
                <a:close/>
              </a:path>
              <a:path w="680720" h="1267460">
                <a:moveTo>
                  <a:pt x="9905" y="9906"/>
                </a:moveTo>
                <a:lnTo>
                  <a:pt x="9905" y="4572"/>
                </a:lnTo>
                <a:lnTo>
                  <a:pt x="4572" y="9906"/>
                </a:lnTo>
                <a:lnTo>
                  <a:pt x="9905" y="9906"/>
                </a:lnTo>
                <a:close/>
              </a:path>
              <a:path w="680720" h="1267460">
                <a:moveTo>
                  <a:pt x="9905" y="1257300"/>
                </a:moveTo>
                <a:lnTo>
                  <a:pt x="9905" y="9906"/>
                </a:lnTo>
                <a:lnTo>
                  <a:pt x="4572" y="9906"/>
                </a:lnTo>
                <a:lnTo>
                  <a:pt x="4572" y="1257300"/>
                </a:lnTo>
                <a:lnTo>
                  <a:pt x="9905" y="1257300"/>
                </a:lnTo>
                <a:close/>
              </a:path>
              <a:path w="680720" h="1267460">
                <a:moveTo>
                  <a:pt x="675131" y="1257300"/>
                </a:moveTo>
                <a:lnTo>
                  <a:pt x="4572" y="1257300"/>
                </a:lnTo>
                <a:lnTo>
                  <a:pt x="9905" y="1261872"/>
                </a:lnTo>
                <a:lnTo>
                  <a:pt x="9905" y="1267206"/>
                </a:lnTo>
                <a:lnTo>
                  <a:pt x="670559" y="1267206"/>
                </a:lnTo>
                <a:lnTo>
                  <a:pt x="670559" y="1261872"/>
                </a:lnTo>
                <a:lnTo>
                  <a:pt x="675131" y="1257300"/>
                </a:lnTo>
                <a:close/>
              </a:path>
              <a:path w="680720" h="1267460">
                <a:moveTo>
                  <a:pt x="9905" y="1267206"/>
                </a:moveTo>
                <a:lnTo>
                  <a:pt x="9905" y="1261872"/>
                </a:lnTo>
                <a:lnTo>
                  <a:pt x="4572" y="1257300"/>
                </a:lnTo>
                <a:lnTo>
                  <a:pt x="4572" y="1267206"/>
                </a:lnTo>
                <a:lnTo>
                  <a:pt x="9905" y="1267206"/>
                </a:lnTo>
                <a:close/>
              </a:path>
              <a:path w="680720" h="1267460">
                <a:moveTo>
                  <a:pt x="675131" y="9906"/>
                </a:moveTo>
                <a:lnTo>
                  <a:pt x="670559" y="4572"/>
                </a:lnTo>
                <a:lnTo>
                  <a:pt x="670559" y="9906"/>
                </a:lnTo>
                <a:lnTo>
                  <a:pt x="675131" y="9906"/>
                </a:lnTo>
                <a:close/>
              </a:path>
              <a:path w="680720" h="1267460">
                <a:moveTo>
                  <a:pt x="675131" y="1257300"/>
                </a:moveTo>
                <a:lnTo>
                  <a:pt x="675131" y="9906"/>
                </a:lnTo>
                <a:lnTo>
                  <a:pt x="670559" y="9906"/>
                </a:lnTo>
                <a:lnTo>
                  <a:pt x="670559" y="1257300"/>
                </a:lnTo>
                <a:lnTo>
                  <a:pt x="675131" y="1257300"/>
                </a:lnTo>
                <a:close/>
              </a:path>
              <a:path w="680720" h="1267460">
                <a:moveTo>
                  <a:pt x="675131" y="1267206"/>
                </a:moveTo>
                <a:lnTo>
                  <a:pt x="675131" y="1257300"/>
                </a:lnTo>
                <a:lnTo>
                  <a:pt x="670559" y="1261872"/>
                </a:lnTo>
                <a:lnTo>
                  <a:pt x="670559" y="1267206"/>
                </a:lnTo>
                <a:lnTo>
                  <a:pt x="675131" y="12672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10" name="object 15">
            <a:extLst>
              <a:ext uri="{FF2B5EF4-FFF2-40B4-BE49-F238E27FC236}">
                <a16:creationId xmlns:a16="http://schemas.microsoft.com/office/drawing/2014/main" id="{C72E1220-9A7C-91E6-062C-6215106D7D67}"/>
              </a:ext>
            </a:extLst>
          </p:cNvPr>
          <p:cNvSpPr txBox="1"/>
          <p:nvPr/>
        </p:nvSpPr>
        <p:spPr>
          <a:xfrm>
            <a:off x="8250163" y="1568958"/>
            <a:ext cx="600075" cy="53467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 lvl="0" indent="26670" defTabSz="914400" eaLnBrk="1" fontAlgn="auto" latinLnBrk="0" hangingPunct="1">
              <a:lnSpc>
                <a:spcPts val="1900"/>
              </a:lnSpc>
              <a:spcBef>
                <a:spcPts val="3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5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Final </a:t>
            </a:r>
            <a:r>
              <a:rPr kumimoji="0" sz="175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Assy.</a:t>
            </a:r>
            <a:endParaRPr kumimoji="0" sz="17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Rounded MT Bold"/>
              <a:cs typeface="Arial Rounded MT Bold"/>
            </a:endParaRPr>
          </a:p>
        </p:txBody>
      </p:sp>
      <p:sp>
        <p:nvSpPr>
          <p:cNvPr id="111" name="object 16">
            <a:extLst>
              <a:ext uri="{FF2B5EF4-FFF2-40B4-BE49-F238E27FC236}">
                <a16:creationId xmlns:a16="http://schemas.microsoft.com/office/drawing/2014/main" id="{B5A8B103-6BA8-0795-70E3-284923A66FF3}"/>
              </a:ext>
            </a:extLst>
          </p:cNvPr>
          <p:cNvSpPr/>
          <p:nvPr/>
        </p:nvSpPr>
        <p:spPr>
          <a:xfrm>
            <a:off x="6533134" y="1340865"/>
            <a:ext cx="2519680" cy="1267460"/>
          </a:xfrm>
          <a:custGeom>
            <a:avLst/>
            <a:gdLst/>
            <a:ahLst/>
            <a:cxnLst/>
            <a:rect l="l" t="t" r="r" b="b"/>
            <a:pathLst>
              <a:path w="2519679" h="1267460">
                <a:moveTo>
                  <a:pt x="680466" y="0"/>
                </a:moveTo>
                <a:lnTo>
                  <a:pt x="670560" y="0"/>
                </a:lnTo>
                <a:lnTo>
                  <a:pt x="670560" y="9906"/>
                </a:lnTo>
                <a:lnTo>
                  <a:pt x="670560" y="1257300"/>
                </a:lnTo>
                <a:lnTo>
                  <a:pt x="9906" y="1257300"/>
                </a:lnTo>
                <a:lnTo>
                  <a:pt x="9906" y="9906"/>
                </a:lnTo>
                <a:lnTo>
                  <a:pt x="670560" y="9906"/>
                </a:lnTo>
                <a:lnTo>
                  <a:pt x="670560" y="0"/>
                </a:lnTo>
                <a:lnTo>
                  <a:pt x="0" y="0"/>
                </a:lnTo>
                <a:lnTo>
                  <a:pt x="0" y="1267206"/>
                </a:lnTo>
                <a:lnTo>
                  <a:pt x="4572" y="1267206"/>
                </a:lnTo>
                <a:lnTo>
                  <a:pt x="9906" y="1267206"/>
                </a:lnTo>
                <a:lnTo>
                  <a:pt x="670560" y="1267206"/>
                </a:lnTo>
                <a:lnTo>
                  <a:pt x="675132" y="1267206"/>
                </a:lnTo>
                <a:lnTo>
                  <a:pt x="680466" y="1267206"/>
                </a:lnTo>
                <a:lnTo>
                  <a:pt x="680466" y="0"/>
                </a:lnTo>
                <a:close/>
              </a:path>
              <a:path w="2519679" h="1267460">
                <a:moveTo>
                  <a:pt x="1680972" y="423672"/>
                </a:moveTo>
                <a:lnTo>
                  <a:pt x="1622298" y="394716"/>
                </a:lnTo>
                <a:lnTo>
                  <a:pt x="1622298" y="419100"/>
                </a:lnTo>
                <a:lnTo>
                  <a:pt x="1513332" y="419100"/>
                </a:lnTo>
                <a:lnTo>
                  <a:pt x="1513332" y="429006"/>
                </a:lnTo>
                <a:lnTo>
                  <a:pt x="1622298" y="429006"/>
                </a:lnTo>
                <a:lnTo>
                  <a:pt x="1622298" y="453390"/>
                </a:lnTo>
                <a:lnTo>
                  <a:pt x="1632204" y="448373"/>
                </a:lnTo>
                <a:lnTo>
                  <a:pt x="1680972" y="423672"/>
                </a:lnTo>
                <a:close/>
              </a:path>
              <a:path w="2519679" h="1267460">
                <a:moveTo>
                  <a:pt x="2519172" y="423672"/>
                </a:moveTo>
                <a:lnTo>
                  <a:pt x="2460498" y="394716"/>
                </a:lnTo>
                <a:lnTo>
                  <a:pt x="2460498" y="419100"/>
                </a:lnTo>
                <a:lnTo>
                  <a:pt x="2351532" y="419100"/>
                </a:lnTo>
                <a:lnTo>
                  <a:pt x="2351532" y="429006"/>
                </a:lnTo>
                <a:lnTo>
                  <a:pt x="2460498" y="429006"/>
                </a:lnTo>
                <a:lnTo>
                  <a:pt x="2460498" y="453390"/>
                </a:lnTo>
                <a:lnTo>
                  <a:pt x="2470404" y="448373"/>
                </a:lnTo>
                <a:lnTo>
                  <a:pt x="2519172" y="4236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12" name="object 17">
            <a:extLst>
              <a:ext uri="{FF2B5EF4-FFF2-40B4-BE49-F238E27FC236}">
                <a16:creationId xmlns:a16="http://schemas.microsoft.com/office/drawing/2014/main" id="{0F8A938B-C765-229E-DCBE-49B42995537B}"/>
              </a:ext>
            </a:extLst>
          </p:cNvPr>
          <p:cNvSpPr txBox="1"/>
          <p:nvPr/>
        </p:nvSpPr>
        <p:spPr>
          <a:xfrm>
            <a:off x="6530340" y="1508759"/>
            <a:ext cx="687705" cy="89789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21590" marR="15240" lvl="0" indent="-1270" algn="ctr" defTabSz="914400" eaLnBrk="1" fontAlgn="auto" latinLnBrk="0" hangingPunct="1">
              <a:lnSpc>
                <a:spcPts val="1900"/>
              </a:lnSpc>
              <a:spcBef>
                <a:spcPts val="3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Re</a:t>
            </a:r>
            <a:r>
              <a:rPr kumimoji="0" sz="175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 </a:t>
            </a:r>
            <a:r>
              <a:rPr kumimoji="0" sz="175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- </a:t>
            </a:r>
            <a:r>
              <a:rPr kumimoji="0" sz="175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assoc</a:t>
            </a:r>
            <a:endParaRPr kumimoji="0" sz="17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Rounded MT Bold"/>
              <a:cs typeface="Arial Rounded MT Bold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2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(consts)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Rounded MT Bold"/>
              <a:cs typeface="Arial Rounded MT Bold"/>
            </a:endParaRPr>
          </a:p>
        </p:txBody>
      </p:sp>
      <p:sp>
        <p:nvSpPr>
          <p:cNvPr id="113" name="object 18">
            <a:extLst>
              <a:ext uri="{FF2B5EF4-FFF2-40B4-BE49-F238E27FC236}">
                <a16:creationId xmlns:a16="http://schemas.microsoft.com/office/drawing/2014/main" id="{C70077DA-AF0F-1F61-A32B-C8A0336A1B83}"/>
              </a:ext>
            </a:extLst>
          </p:cNvPr>
          <p:cNvSpPr/>
          <p:nvPr/>
        </p:nvSpPr>
        <p:spPr>
          <a:xfrm>
            <a:off x="4856734" y="1340865"/>
            <a:ext cx="2519680" cy="1267460"/>
          </a:xfrm>
          <a:custGeom>
            <a:avLst/>
            <a:gdLst/>
            <a:ahLst/>
            <a:cxnLst/>
            <a:rect l="l" t="t" r="r" b="b"/>
            <a:pathLst>
              <a:path w="2519679" h="1267460">
                <a:moveTo>
                  <a:pt x="680466" y="0"/>
                </a:moveTo>
                <a:lnTo>
                  <a:pt x="670560" y="0"/>
                </a:lnTo>
                <a:lnTo>
                  <a:pt x="670560" y="9906"/>
                </a:lnTo>
                <a:lnTo>
                  <a:pt x="670560" y="1257300"/>
                </a:lnTo>
                <a:lnTo>
                  <a:pt x="9906" y="1257300"/>
                </a:lnTo>
                <a:lnTo>
                  <a:pt x="9906" y="9906"/>
                </a:lnTo>
                <a:lnTo>
                  <a:pt x="670560" y="9906"/>
                </a:lnTo>
                <a:lnTo>
                  <a:pt x="670560" y="0"/>
                </a:lnTo>
                <a:lnTo>
                  <a:pt x="0" y="0"/>
                </a:lnTo>
                <a:lnTo>
                  <a:pt x="0" y="1267206"/>
                </a:lnTo>
                <a:lnTo>
                  <a:pt x="4572" y="1267206"/>
                </a:lnTo>
                <a:lnTo>
                  <a:pt x="9906" y="1267206"/>
                </a:lnTo>
                <a:lnTo>
                  <a:pt x="670560" y="1267206"/>
                </a:lnTo>
                <a:lnTo>
                  <a:pt x="675132" y="1267206"/>
                </a:lnTo>
                <a:lnTo>
                  <a:pt x="680466" y="1267206"/>
                </a:lnTo>
                <a:lnTo>
                  <a:pt x="680466" y="0"/>
                </a:lnTo>
                <a:close/>
              </a:path>
              <a:path w="2519679" h="1267460">
                <a:moveTo>
                  <a:pt x="1680972" y="423672"/>
                </a:moveTo>
                <a:lnTo>
                  <a:pt x="1622298" y="394716"/>
                </a:lnTo>
                <a:lnTo>
                  <a:pt x="1622298" y="419100"/>
                </a:lnTo>
                <a:lnTo>
                  <a:pt x="1513332" y="419100"/>
                </a:lnTo>
                <a:lnTo>
                  <a:pt x="1513332" y="429006"/>
                </a:lnTo>
                <a:lnTo>
                  <a:pt x="1622298" y="429006"/>
                </a:lnTo>
                <a:lnTo>
                  <a:pt x="1622298" y="453390"/>
                </a:lnTo>
                <a:lnTo>
                  <a:pt x="1632204" y="448373"/>
                </a:lnTo>
                <a:lnTo>
                  <a:pt x="1680972" y="423672"/>
                </a:lnTo>
                <a:close/>
              </a:path>
              <a:path w="2519679" h="1267460">
                <a:moveTo>
                  <a:pt x="2519172" y="423672"/>
                </a:moveTo>
                <a:lnTo>
                  <a:pt x="2460498" y="394716"/>
                </a:lnTo>
                <a:lnTo>
                  <a:pt x="2460498" y="419100"/>
                </a:lnTo>
                <a:lnTo>
                  <a:pt x="2351532" y="419100"/>
                </a:lnTo>
                <a:lnTo>
                  <a:pt x="2351532" y="429006"/>
                </a:lnTo>
                <a:lnTo>
                  <a:pt x="2460498" y="429006"/>
                </a:lnTo>
                <a:lnTo>
                  <a:pt x="2460498" y="453390"/>
                </a:lnTo>
                <a:lnTo>
                  <a:pt x="2470404" y="448373"/>
                </a:lnTo>
                <a:lnTo>
                  <a:pt x="2519172" y="4236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14" name="object 19">
            <a:extLst>
              <a:ext uri="{FF2B5EF4-FFF2-40B4-BE49-F238E27FC236}">
                <a16:creationId xmlns:a16="http://schemas.microsoft.com/office/drawing/2014/main" id="{C15623AB-A790-A2FA-9172-F394D7BD183D}"/>
              </a:ext>
            </a:extLst>
          </p:cNvPr>
          <p:cNvSpPr txBox="1"/>
          <p:nvPr/>
        </p:nvSpPr>
        <p:spPr>
          <a:xfrm>
            <a:off x="4905756" y="1689353"/>
            <a:ext cx="1384300" cy="53467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22860" marR="5080" lvl="0" indent="-10795" defTabSz="914400" eaLnBrk="1" fontAlgn="auto" latinLnBrk="0" hangingPunct="1">
              <a:lnSpc>
                <a:spcPts val="1900"/>
              </a:lnSpc>
              <a:spcBef>
                <a:spcPts val="335"/>
              </a:spcBef>
              <a:spcAft>
                <a:spcPts val="0"/>
              </a:spcAft>
              <a:buClrTx/>
              <a:buSzTx/>
              <a:buFontTx/>
              <a:buNone/>
              <a:tabLst>
                <a:tab pos="885825" algn="l"/>
              </a:tabLst>
              <a:defRPr/>
            </a:pPr>
            <a:r>
              <a:rPr kumimoji="0" sz="175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Copy</a:t>
            </a:r>
            <a:r>
              <a:rPr kumimoji="0" sz="17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	</a:t>
            </a:r>
            <a:r>
              <a:rPr kumimoji="0" sz="175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OSR </a:t>
            </a:r>
            <a:r>
              <a:rPr kumimoji="0" sz="175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Elim.</a:t>
            </a:r>
            <a:endParaRPr kumimoji="0" sz="17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Rounded MT Bold"/>
              <a:cs typeface="Arial Rounded MT Bold"/>
            </a:endParaRPr>
          </a:p>
        </p:txBody>
      </p:sp>
      <p:sp>
        <p:nvSpPr>
          <p:cNvPr id="115" name="object 20">
            <a:extLst>
              <a:ext uri="{FF2B5EF4-FFF2-40B4-BE49-F238E27FC236}">
                <a16:creationId xmlns:a16="http://schemas.microsoft.com/office/drawing/2014/main" id="{E1F81B22-DBC1-5682-2056-E1719E7E5048}"/>
              </a:ext>
            </a:extLst>
          </p:cNvPr>
          <p:cNvSpPr/>
          <p:nvPr/>
        </p:nvSpPr>
        <p:spPr>
          <a:xfrm>
            <a:off x="3180334" y="1340865"/>
            <a:ext cx="2519680" cy="1267460"/>
          </a:xfrm>
          <a:custGeom>
            <a:avLst/>
            <a:gdLst/>
            <a:ahLst/>
            <a:cxnLst/>
            <a:rect l="l" t="t" r="r" b="b"/>
            <a:pathLst>
              <a:path w="2519679" h="1267460">
                <a:moveTo>
                  <a:pt x="680466" y="0"/>
                </a:moveTo>
                <a:lnTo>
                  <a:pt x="670560" y="0"/>
                </a:lnTo>
                <a:lnTo>
                  <a:pt x="670560" y="9906"/>
                </a:lnTo>
                <a:lnTo>
                  <a:pt x="670560" y="1257300"/>
                </a:lnTo>
                <a:lnTo>
                  <a:pt x="9906" y="1257300"/>
                </a:lnTo>
                <a:lnTo>
                  <a:pt x="9906" y="9906"/>
                </a:lnTo>
                <a:lnTo>
                  <a:pt x="670560" y="9906"/>
                </a:lnTo>
                <a:lnTo>
                  <a:pt x="670560" y="0"/>
                </a:lnTo>
                <a:lnTo>
                  <a:pt x="0" y="0"/>
                </a:lnTo>
                <a:lnTo>
                  <a:pt x="0" y="1267206"/>
                </a:lnTo>
                <a:lnTo>
                  <a:pt x="4572" y="1267206"/>
                </a:lnTo>
                <a:lnTo>
                  <a:pt x="9906" y="1267206"/>
                </a:lnTo>
                <a:lnTo>
                  <a:pt x="670560" y="1267206"/>
                </a:lnTo>
                <a:lnTo>
                  <a:pt x="675132" y="1267206"/>
                </a:lnTo>
                <a:lnTo>
                  <a:pt x="680466" y="1267206"/>
                </a:lnTo>
                <a:lnTo>
                  <a:pt x="680466" y="0"/>
                </a:lnTo>
                <a:close/>
              </a:path>
              <a:path w="2519679" h="1267460">
                <a:moveTo>
                  <a:pt x="1680972" y="423672"/>
                </a:moveTo>
                <a:lnTo>
                  <a:pt x="1622298" y="394716"/>
                </a:lnTo>
                <a:lnTo>
                  <a:pt x="1622298" y="419100"/>
                </a:lnTo>
                <a:lnTo>
                  <a:pt x="1513332" y="419100"/>
                </a:lnTo>
                <a:lnTo>
                  <a:pt x="1513332" y="429006"/>
                </a:lnTo>
                <a:lnTo>
                  <a:pt x="1622298" y="429006"/>
                </a:lnTo>
                <a:lnTo>
                  <a:pt x="1622298" y="453390"/>
                </a:lnTo>
                <a:lnTo>
                  <a:pt x="1632204" y="448373"/>
                </a:lnTo>
                <a:lnTo>
                  <a:pt x="1680972" y="423672"/>
                </a:lnTo>
                <a:close/>
              </a:path>
              <a:path w="2519679" h="1267460">
                <a:moveTo>
                  <a:pt x="2519172" y="423672"/>
                </a:moveTo>
                <a:lnTo>
                  <a:pt x="2460498" y="394716"/>
                </a:lnTo>
                <a:lnTo>
                  <a:pt x="2460498" y="419100"/>
                </a:lnTo>
                <a:lnTo>
                  <a:pt x="2351532" y="419100"/>
                </a:lnTo>
                <a:lnTo>
                  <a:pt x="2351532" y="429006"/>
                </a:lnTo>
                <a:lnTo>
                  <a:pt x="2460498" y="429006"/>
                </a:lnTo>
                <a:lnTo>
                  <a:pt x="2460498" y="453390"/>
                </a:lnTo>
                <a:lnTo>
                  <a:pt x="2470404" y="448373"/>
                </a:lnTo>
                <a:lnTo>
                  <a:pt x="2519172" y="4236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16" name="object 21">
            <a:extLst>
              <a:ext uri="{FF2B5EF4-FFF2-40B4-BE49-F238E27FC236}">
                <a16:creationId xmlns:a16="http://schemas.microsoft.com/office/drawing/2014/main" id="{5F16E023-C1BC-22A4-FA48-D1424BB9B218}"/>
              </a:ext>
            </a:extLst>
          </p:cNvPr>
          <p:cNvSpPr txBox="1"/>
          <p:nvPr/>
        </p:nvSpPr>
        <p:spPr>
          <a:xfrm>
            <a:off x="3276600" y="1447800"/>
            <a:ext cx="1400175" cy="10172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10260" marR="0" lvl="0" indent="0" defTabSz="914400" eaLnBrk="1" fontAlgn="auto" latinLnBrk="0" hangingPunct="1">
              <a:lnSpc>
                <a:spcPts val="2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5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Loop</a:t>
            </a:r>
            <a:endParaRPr kumimoji="0" sz="17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Rounded MT Bold"/>
              <a:cs typeface="Arial Rounded MT Bold"/>
            </a:endParaRPr>
          </a:p>
          <a:p>
            <a:pPr marL="776605" marR="5080" lvl="0" indent="-764540" defTabSz="914400" eaLnBrk="1" fontAlgn="auto" latinLnBrk="0" hangingPunct="1">
              <a:lnSpc>
                <a:spcPct val="904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>
                <a:tab pos="920115" algn="l"/>
              </a:tabLst>
              <a:defRPr/>
            </a:pPr>
            <a:r>
              <a:rPr kumimoji="0" sz="175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CSE</a:t>
            </a:r>
            <a:r>
              <a:rPr kumimoji="0" sz="17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		</a:t>
            </a:r>
            <a:r>
              <a:rPr kumimoji="0" sz="175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Inv </a:t>
            </a:r>
            <a:r>
              <a:rPr kumimoji="0" sz="175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Code Mot’n</a:t>
            </a:r>
            <a:endParaRPr kumimoji="0" sz="17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Rounded MT Bold"/>
              <a:cs typeface="Arial Rounded MT Bold"/>
            </a:endParaRPr>
          </a:p>
        </p:txBody>
      </p:sp>
      <p:sp>
        <p:nvSpPr>
          <p:cNvPr id="117" name="object 22">
            <a:extLst>
              <a:ext uri="{FF2B5EF4-FFF2-40B4-BE49-F238E27FC236}">
                <a16:creationId xmlns:a16="http://schemas.microsoft.com/office/drawing/2014/main" id="{424DE209-72C0-05D9-2B7A-1D084F20E8B6}"/>
              </a:ext>
            </a:extLst>
          </p:cNvPr>
          <p:cNvSpPr/>
          <p:nvPr/>
        </p:nvSpPr>
        <p:spPr>
          <a:xfrm>
            <a:off x="1503934" y="1340865"/>
            <a:ext cx="2519680" cy="1267460"/>
          </a:xfrm>
          <a:custGeom>
            <a:avLst/>
            <a:gdLst/>
            <a:ahLst/>
            <a:cxnLst/>
            <a:rect l="l" t="t" r="r" b="b"/>
            <a:pathLst>
              <a:path w="2519679" h="1267460">
                <a:moveTo>
                  <a:pt x="680466" y="0"/>
                </a:moveTo>
                <a:lnTo>
                  <a:pt x="670560" y="0"/>
                </a:lnTo>
                <a:lnTo>
                  <a:pt x="670560" y="9906"/>
                </a:lnTo>
                <a:lnTo>
                  <a:pt x="670560" y="1257300"/>
                </a:lnTo>
                <a:lnTo>
                  <a:pt x="9906" y="1257300"/>
                </a:lnTo>
                <a:lnTo>
                  <a:pt x="9906" y="9906"/>
                </a:lnTo>
                <a:lnTo>
                  <a:pt x="670560" y="9906"/>
                </a:lnTo>
                <a:lnTo>
                  <a:pt x="670560" y="0"/>
                </a:lnTo>
                <a:lnTo>
                  <a:pt x="0" y="0"/>
                </a:lnTo>
                <a:lnTo>
                  <a:pt x="0" y="1267206"/>
                </a:lnTo>
                <a:lnTo>
                  <a:pt x="4572" y="1267206"/>
                </a:lnTo>
                <a:lnTo>
                  <a:pt x="9906" y="1267206"/>
                </a:lnTo>
                <a:lnTo>
                  <a:pt x="670560" y="1267206"/>
                </a:lnTo>
                <a:lnTo>
                  <a:pt x="675132" y="1267206"/>
                </a:lnTo>
                <a:lnTo>
                  <a:pt x="680466" y="1267206"/>
                </a:lnTo>
                <a:lnTo>
                  <a:pt x="680466" y="0"/>
                </a:lnTo>
                <a:close/>
              </a:path>
              <a:path w="2519679" h="1267460">
                <a:moveTo>
                  <a:pt x="1680972" y="423672"/>
                </a:moveTo>
                <a:lnTo>
                  <a:pt x="1622298" y="394716"/>
                </a:lnTo>
                <a:lnTo>
                  <a:pt x="1622298" y="419100"/>
                </a:lnTo>
                <a:lnTo>
                  <a:pt x="1513319" y="419100"/>
                </a:lnTo>
                <a:lnTo>
                  <a:pt x="1513319" y="429006"/>
                </a:lnTo>
                <a:lnTo>
                  <a:pt x="1622298" y="429006"/>
                </a:lnTo>
                <a:lnTo>
                  <a:pt x="1622298" y="453390"/>
                </a:lnTo>
                <a:lnTo>
                  <a:pt x="1632204" y="448373"/>
                </a:lnTo>
                <a:lnTo>
                  <a:pt x="1680972" y="423672"/>
                </a:lnTo>
                <a:close/>
              </a:path>
              <a:path w="2519679" h="1267460">
                <a:moveTo>
                  <a:pt x="2519172" y="423672"/>
                </a:moveTo>
                <a:lnTo>
                  <a:pt x="2460498" y="394716"/>
                </a:lnTo>
                <a:lnTo>
                  <a:pt x="2460498" y="419100"/>
                </a:lnTo>
                <a:lnTo>
                  <a:pt x="2351532" y="419100"/>
                </a:lnTo>
                <a:lnTo>
                  <a:pt x="2351532" y="429006"/>
                </a:lnTo>
                <a:lnTo>
                  <a:pt x="2460498" y="429006"/>
                </a:lnTo>
                <a:lnTo>
                  <a:pt x="2460498" y="453390"/>
                </a:lnTo>
                <a:lnTo>
                  <a:pt x="2470404" y="448373"/>
                </a:lnTo>
                <a:lnTo>
                  <a:pt x="2519172" y="4236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18" name="object 23">
            <a:extLst>
              <a:ext uri="{FF2B5EF4-FFF2-40B4-BE49-F238E27FC236}">
                <a16:creationId xmlns:a16="http://schemas.microsoft.com/office/drawing/2014/main" id="{A4BF242D-D842-8D0B-D515-63B7C909C614}"/>
              </a:ext>
            </a:extLst>
          </p:cNvPr>
          <p:cNvSpPr txBox="1"/>
          <p:nvPr/>
        </p:nvSpPr>
        <p:spPr>
          <a:xfrm>
            <a:off x="1553718" y="1447800"/>
            <a:ext cx="581025" cy="1017269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065" marR="5080" lvl="0" indent="0" algn="ctr" defTabSz="914400" eaLnBrk="1" fontAlgn="auto" latinLnBrk="0" hangingPunct="1">
              <a:lnSpc>
                <a:spcPts val="1900"/>
              </a:lnSpc>
              <a:spcBef>
                <a:spcPts val="3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5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Build </a:t>
            </a:r>
            <a:r>
              <a:rPr kumimoji="0" sz="175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CFG</a:t>
            </a:r>
            <a:endParaRPr kumimoji="0" sz="17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Rounded MT Bold"/>
              <a:cs typeface="Arial Rounded MT Bold"/>
            </a:endParaRPr>
          </a:p>
          <a:p>
            <a:pPr marL="0" marR="0" lvl="0" indent="0" algn="ctr" defTabSz="914400" eaLnBrk="1" fontAlgn="auto" latinLnBrk="0" hangingPunct="1">
              <a:lnSpc>
                <a:spcPts val="17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5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&amp;</a:t>
            </a:r>
            <a:endParaRPr kumimoji="0" sz="17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Rounded MT Bold"/>
              <a:cs typeface="Arial Rounded MT Bold"/>
            </a:endParaRPr>
          </a:p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5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D</a:t>
            </a:r>
            <a:r>
              <a:rPr kumimoji="0" sz="155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OM</a:t>
            </a:r>
            <a:endParaRPr kumimoji="0" sz="15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Rounded MT Bold"/>
              <a:cs typeface="Arial Rounded MT Bold"/>
            </a:endParaRPr>
          </a:p>
        </p:txBody>
      </p:sp>
      <p:sp>
        <p:nvSpPr>
          <p:cNvPr id="119" name="object 24">
            <a:extLst>
              <a:ext uri="{FF2B5EF4-FFF2-40B4-BE49-F238E27FC236}">
                <a16:creationId xmlns:a16="http://schemas.microsoft.com/office/drawing/2014/main" id="{40CCC29A-83A7-908F-C188-A21DDE3507B4}"/>
              </a:ext>
            </a:extLst>
          </p:cNvPr>
          <p:cNvSpPr/>
          <p:nvPr/>
        </p:nvSpPr>
        <p:spPr>
          <a:xfrm>
            <a:off x="502666" y="1735581"/>
            <a:ext cx="1844039" cy="59055"/>
          </a:xfrm>
          <a:custGeom>
            <a:avLst/>
            <a:gdLst/>
            <a:ahLst/>
            <a:cxnLst/>
            <a:rect l="l" t="t" r="r" b="b"/>
            <a:pathLst>
              <a:path w="1844039" h="59055">
                <a:moveTo>
                  <a:pt x="167640" y="28956"/>
                </a:moveTo>
                <a:lnTo>
                  <a:pt x="108966" y="0"/>
                </a:lnTo>
                <a:lnTo>
                  <a:pt x="108966" y="24384"/>
                </a:lnTo>
                <a:lnTo>
                  <a:pt x="0" y="24384"/>
                </a:lnTo>
                <a:lnTo>
                  <a:pt x="0" y="34290"/>
                </a:lnTo>
                <a:lnTo>
                  <a:pt x="108966" y="34290"/>
                </a:lnTo>
                <a:lnTo>
                  <a:pt x="108966" y="58674"/>
                </a:lnTo>
                <a:lnTo>
                  <a:pt x="118872" y="53657"/>
                </a:lnTo>
                <a:lnTo>
                  <a:pt x="167640" y="28956"/>
                </a:lnTo>
                <a:close/>
              </a:path>
              <a:path w="1844039" h="59055">
                <a:moveTo>
                  <a:pt x="1005840" y="28956"/>
                </a:moveTo>
                <a:lnTo>
                  <a:pt x="947166" y="0"/>
                </a:lnTo>
                <a:lnTo>
                  <a:pt x="947166" y="24384"/>
                </a:lnTo>
                <a:lnTo>
                  <a:pt x="838200" y="24384"/>
                </a:lnTo>
                <a:lnTo>
                  <a:pt x="838200" y="34290"/>
                </a:lnTo>
                <a:lnTo>
                  <a:pt x="947166" y="34290"/>
                </a:lnTo>
                <a:lnTo>
                  <a:pt x="947166" y="58674"/>
                </a:lnTo>
                <a:lnTo>
                  <a:pt x="957072" y="53657"/>
                </a:lnTo>
                <a:lnTo>
                  <a:pt x="1005840" y="28956"/>
                </a:lnTo>
                <a:close/>
              </a:path>
              <a:path w="1844039" h="59055">
                <a:moveTo>
                  <a:pt x="1844040" y="28956"/>
                </a:moveTo>
                <a:lnTo>
                  <a:pt x="1785366" y="0"/>
                </a:lnTo>
                <a:lnTo>
                  <a:pt x="1785366" y="24384"/>
                </a:lnTo>
                <a:lnTo>
                  <a:pt x="1676400" y="24384"/>
                </a:lnTo>
                <a:lnTo>
                  <a:pt x="1676400" y="34290"/>
                </a:lnTo>
                <a:lnTo>
                  <a:pt x="1785366" y="34290"/>
                </a:lnTo>
                <a:lnTo>
                  <a:pt x="1785366" y="58674"/>
                </a:lnTo>
                <a:lnTo>
                  <a:pt x="1795272" y="53657"/>
                </a:lnTo>
                <a:lnTo>
                  <a:pt x="1844040" y="289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7682797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6C01B-A66C-BEC6-B2B0-4D293BE9F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82464B2-D8C9-375A-6F1E-4A75F04C00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5940" y="159003"/>
            <a:ext cx="540766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pc="-1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经典编译器</a:t>
            </a:r>
            <a:r>
              <a:rPr lang="en-US" altLang="zh-CN" spc="-1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PA-RISC</a:t>
            </a:r>
            <a:endParaRPr spc="-1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object 2">
            <a:extLst>
              <a:ext uri="{FF2B5EF4-FFF2-40B4-BE49-F238E27FC236}">
                <a16:creationId xmlns:a16="http://schemas.microsoft.com/office/drawing/2014/main" id="{AD48B653-C5AE-B38A-4A17-411A1736E8A4}"/>
              </a:ext>
            </a:extLst>
          </p:cNvPr>
          <p:cNvSpPr txBox="1">
            <a:spLocks/>
          </p:cNvSpPr>
          <p:nvPr/>
        </p:nvSpPr>
        <p:spPr>
          <a:xfrm>
            <a:off x="701294" y="674464"/>
            <a:ext cx="8470900" cy="564385"/>
          </a:xfrm>
          <a:prstGeom prst="rect">
            <a:avLst/>
          </a:prstGeom>
        </p:spPr>
        <p:txBody>
          <a:bodyPr vert="horz" wrap="square" lIns="0" tIns="156210" rIns="0" bIns="0" rtlCol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Microsoft YaHei"/>
                <a:ea typeface="+mj-ea"/>
                <a:cs typeface="Microsoft YaHei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ts val="3479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1980: IBM’s</a:t>
            </a:r>
            <a:r>
              <a:rPr kumimoji="0" lang="en-US" altLang="zh-CN" sz="24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PL.8 </a:t>
            </a:r>
            <a:r>
              <a:rPr kumimoji="0" lang="en-US" altLang="zh-CN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Compiler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Arial"/>
            </a:endParaRPr>
          </a:p>
        </p:txBody>
      </p:sp>
      <p:sp>
        <p:nvSpPr>
          <p:cNvPr id="45" name="object 2">
            <a:extLst>
              <a:ext uri="{FF2B5EF4-FFF2-40B4-BE49-F238E27FC236}">
                <a16:creationId xmlns:a16="http://schemas.microsoft.com/office/drawing/2014/main" id="{7EED45CB-B2D2-CF53-77B0-F435EF3D212B}"/>
              </a:ext>
            </a:extLst>
          </p:cNvPr>
          <p:cNvSpPr txBox="1"/>
          <p:nvPr/>
        </p:nvSpPr>
        <p:spPr>
          <a:xfrm>
            <a:off x="119118" y="3819394"/>
            <a:ext cx="860044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9255" marR="0" lvl="0" indent="-376555" defTabSz="914400" eaLnBrk="1" fontAlgn="auto" latinLnBrk="0" hangingPunct="1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89255" algn="l"/>
              </a:tabLst>
              <a:defRPr/>
            </a:pP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Many</a:t>
            </a:r>
            <a:r>
              <a:rPr kumimoji="0" sz="305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passes,</a:t>
            </a:r>
            <a:r>
              <a:rPr kumimoji="0" sz="305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one</a:t>
            </a:r>
            <a:r>
              <a:rPr kumimoji="0" sz="305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front end,</a:t>
            </a:r>
            <a:r>
              <a:rPr kumimoji="0" sz="305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several</a:t>
            </a:r>
            <a:r>
              <a:rPr kumimoji="0" sz="305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back</a:t>
            </a:r>
            <a:r>
              <a:rPr kumimoji="0" sz="305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5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ends</a:t>
            </a:r>
            <a:endParaRPr kumimoji="0" sz="30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6" name="object 3">
            <a:extLst>
              <a:ext uri="{FF2B5EF4-FFF2-40B4-BE49-F238E27FC236}">
                <a16:creationId xmlns:a16="http://schemas.microsoft.com/office/drawing/2014/main" id="{3261EF51-AA94-5859-D8E4-8D993D059966}"/>
              </a:ext>
            </a:extLst>
          </p:cNvPr>
          <p:cNvSpPr txBox="1"/>
          <p:nvPr/>
        </p:nvSpPr>
        <p:spPr>
          <a:xfrm>
            <a:off x="119118" y="4288794"/>
            <a:ext cx="6686550" cy="170370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9255" marR="5080" lvl="0" indent="-377190" defTabSz="914400" eaLnBrk="1" fontAlgn="auto" latinLnBrk="0" hangingPunct="1">
              <a:lnSpc>
                <a:spcPct val="101600"/>
              </a:lnSpc>
              <a:spcBef>
                <a:spcPts val="7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515620" algn="l"/>
              </a:tabLst>
              <a:defRPr/>
            </a:pP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Collection</a:t>
            </a:r>
            <a:r>
              <a:rPr kumimoji="0" sz="305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305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10</a:t>
            </a:r>
            <a:r>
              <a:rPr kumimoji="0" sz="305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or</a:t>
            </a:r>
            <a:r>
              <a:rPr kumimoji="0" sz="305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more</a:t>
            </a:r>
            <a:r>
              <a:rPr kumimoji="0" sz="305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5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passes 	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Repeat</a:t>
            </a:r>
            <a:r>
              <a:rPr kumimoji="0" sz="2600" b="0" i="0" u="none" strike="noStrike" kern="0" cap="none" spc="75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some</a:t>
            </a:r>
            <a:r>
              <a:rPr kumimoji="0" sz="2600" b="0" i="0" u="none" strike="noStrike" kern="0" cap="none" spc="8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passes</a:t>
            </a:r>
            <a:r>
              <a:rPr kumimoji="0" sz="2600" b="0" i="0" u="none" strike="noStrike" kern="0" cap="none" spc="8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2600" b="0" i="0" u="none" strike="noStrike" kern="0" cap="none" spc="75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analyses 	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Represent</a:t>
            </a:r>
            <a:r>
              <a:rPr kumimoji="0" sz="2600" b="0" i="0" u="none" strike="noStrike" kern="0" cap="none" spc="9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complex</a:t>
            </a:r>
            <a:r>
              <a:rPr kumimoji="0" sz="2600" b="0" i="0" u="none" strike="noStrike" kern="0" cap="none" spc="85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operations</a:t>
            </a:r>
            <a:r>
              <a:rPr kumimoji="0" sz="2600" b="0" i="0" u="none" strike="noStrike" kern="0" cap="none" spc="8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at</a:t>
            </a:r>
            <a:r>
              <a:rPr kumimoji="0" sz="2600" b="0" i="0" u="none" strike="noStrike" kern="0" cap="none" spc="95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2</a:t>
            </a:r>
            <a:r>
              <a:rPr kumimoji="0" sz="2600" b="0" i="0" u="none" strike="noStrike" kern="0" cap="none" spc="8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levels 	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Below</a:t>
            </a:r>
            <a:r>
              <a:rPr kumimoji="0" sz="2600" b="0" i="0" u="none" strike="noStrike" kern="0" cap="none" spc="125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machine-level</a:t>
            </a:r>
            <a:r>
              <a:rPr kumimoji="0" sz="2600" b="0" i="0" u="none" strike="noStrike" kern="0" cap="none" spc="125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/>
                <a:cs typeface="Arial"/>
              </a:rPr>
              <a:t>IR</a:t>
            </a:r>
            <a:endParaRPr kumimoji="0" sz="2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66" name="object 5">
            <a:extLst>
              <a:ext uri="{FF2B5EF4-FFF2-40B4-BE49-F238E27FC236}">
                <a16:creationId xmlns:a16="http://schemas.microsoft.com/office/drawing/2014/main" id="{7EEB7C26-182D-740C-8F2C-0E6C0215F87A}"/>
              </a:ext>
            </a:extLst>
          </p:cNvPr>
          <p:cNvGrpSpPr/>
          <p:nvPr/>
        </p:nvGrpSpPr>
        <p:grpSpPr>
          <a:xfrm>
            <a:off x="1066800" y="1524000"/>
            <a:ext cx="7292340" cy="1435100"/>
            <a:chOff x="1424939" y="2289048"/>
            <a:chExt cx="7292340" cy="1435100"/>
          </a:xfrm>
        </p:grpSpPr>
        <p:sp>
          <p:nvSpPr>
            <p:cNvPr id="67" name="object 6">
              <a:extLst>
                <a:ext uri="{FF2B5EF4-FFF2-40B4-BE49-F238E27FC236}">
                  <a16:creationId xmlns:a16="http://schemas.microsoft.com/office/drawing/2014/main" id="{62567A26-BC1F-F57C-F33D-7B3ED6157D8E}"/>
                </a:ext>
              </a:extLst>
            </p:cNvPr>
            <p:cNvSpPr/>
            <p:nvPr/>
          </p:nvSpPr>
          <p:spPr>
            <a:xfrm>
              <a:off x="1424940" y="2289047"/>
              <a:ext cx="7292340" cy="1267460"/>
            </a:xfrm>
            <a:custGeom>
              <a:avLst/>
              <a:gdLst/>
              <a:ahLst/>
              <a:cxnLst/>
              <a:rect l="l" t="t" r="r" b="b"/>
              <a:pathLst>
                <a:path w="7292340" h="1267460">
                  <a:moveTo>
                    <a:pt x="7292340" y="507492"/>
                  </a:moveTo>
                  <a:lnTo>
                    <a:pt x="7233666" y="478536"/>
                  </a:lnTo>
                  <a:lnTo>
                    <a:pt x="7233666" y="502920"/>
                  </a:lnTo>
                  <a:lnTo>
                    <a:pt x="7046214" y="502920"/>
                  </a:lnTo>
                  <a:lnTo>
                    <a:pt x="7046214" y="0"/>
                  </a:lnTo>
                  <a:lnTo>
                    <a:pt x="7036308" y="0"/>
                  </a:lnTo>
                  <a:lnTo>
                    <a:pt x="7036308" y="9906"/>
                  </a:lnTo>
                  <a:lnTo>
                    <a:pt x="7036308" y="1257300"/>
                  </a:lnTo>
                  <a:lnTo>
                    <a:pt x="6710934" y="1257300"/>
                  </a:lnTo>
                  <a:lnTo>
                    <a:pt x="6710934" y="9906"/>
                  </a:lnTo>
                  <a:lnTo>
                    <a:pt x="7036308" y="9906"/>
                  </a:lnTo>
                  <a:lnTo>
                    <a:pt x="7036308" y="0"/>
                  </a:lnTo>
                  <a:lnTo>
                    <a:pt x="6701028" y="0"/>
                  </a:lnTo>
                  <a:lnTo>
                    <a:pt x="6701028" y="505244"/>
                  </a:lnTo>
                  <a:lnTo>
                    <a:pt x="6646926" y="478536"/>
                  </a:lnTo>
                  <a:lnTo>
                    <a:pt x="6646926" y="502920"/>
                  </a:lnTo>
                  <a:lnTo>
                    <a:pt x="6459461" y="502920"/>
                  </a:lnTo>
                  <a:lnTo>
                    <a:pt x="6459461" y="0"/>
                  </a:lnTo>
                  <a:lnTo>
                    <a:pt x="6449568" y="0"/>
                  </a:lnTo>
                  <a:lnTo>
                    <a:pt x="6449568" y="9906"/>
                  </a:lnTo>
                  <a:lnTo>
                    <a:pt x="6449568" y="1257300"/>
                  </a:lnTo>
                  <a:lnTo>
                    <a:pt x="6124194" y="1257300"/>
                  </a:lnTo>
                  <a:lnTo>
                    <a:pt x="6124194" y="9906"/>
                  </a:lnTo>
                  <a:lnTo>
                    <a:pt x="6449568" y="9906"/>
                  </a:lnTo>
                  <a:lnTo>
                    <a:pt x="6449568" y="0"/>
                  </a:lnTo>
                  <a:lnTo>
                    <a:pt x="6114288" y="0"/>
                  </a:lnTo>
                  <a:lnTo>
                    <a:pt x="6114288" y="505244"/>
                  </a:lnTo>
                  <a:lnTo>
                    <a:pt x="6060186" y="478536"/>
                  </a:lnTo>
                  <a:lnTo>
                    <a:pt x="6060186" y="502920"/>
                  </a:lnTo>
                  <a:lnTo>
                    <a:pt x="5872734" y="502920"/>
                  </a:lnTo>
                  <a:lnTo>
                    <a:pt x="5872734" y="0"/>
                  </a:lnTo>
                  <a:lnTo>
                    <a:pt x="5862828" y="0"/>
                  </a:lnTo>
                  <a:lnTo>
                    <a:pt x="5862828" y="9906"/>
                  </a:lnTo>
                  <a:lnTo>
                    <a:pt x="5862828" y="1257300"/>
                  </a:lnTo>
                  <a:lnTo>
                    <a:pt x="5537454" y="1257300"/>
                  </a:lnTo>
                  <a:lnTo>
                    <a:pt x="5537454" y="9906"/>
                  </a:lnTo>
                  <a:lnTo>
                    <a:pt x="5862828" y="9906"/>
                  </a:lnTo>
                  <a:lnTo>
                    <a:pt x="5862828" y="0"/>
                  </a:lnTo>
                  <a:lnTo>
                    <a:pt x="5527548" y="0"/>
                  </a:lnTo>
                  <a:lnTo>
                    <a:pt x="5527548" y="505244"/>
                  </a:lnTo>
                  <a:lnTo>
                    <a:pt x="5473446" y="478536"/>
                  </a:lnTo>
                  <a:lnTo>
                    <a:pt x="5473446" y="502920"/>
                  </a:lnTo>
                  <a:lnTo>
                    <a:pt x="5285994" y="502920"/>
                  </a:lnTo>
                  <a:lnTo>
                    <a:pt x="5285994" y="0"/>
                  </a:lnTo>
                  <a:lnTo>
                    <a:pt x="5276088" y="0"/>
                  </a:lnTo>
                  <a:lnTo>
                    <a:pt x="5276088" y="9906"/>
                  </a:lnTo>
                  <a:lnTo>
                    <a:pt x="5276088" y="1257300"/>
                  </a:lnTo>
                  <a:lnTo>
                    <a:pt x="4950714" y="1257300"/>
                  </a:lnTo>
                  <a:lnTo>
                    <a:pt x="4950714" y="9906"/>
                  </a:lnTo>
                  <a:lnTo>
                    <a:pt x="5276088" y="9906"/>
                  </a:lnTo>
                  <a:lnTo>
                    <a:pt x="5276088" y="0"/>
                  </a:lnTo>
                  <a:lnTo>
                    <a:pt x="4940808" y="0"/>
                  </a:lnTo>
                  <a:lnTo>
                    <a:pt x="4940808" y="505244"/>
                  </a:lnTo>
                  <a:lnTo>
                    <a:pt x="4886706" y="478536"/>
                  </a:lnTo>
                  <a:lnTo>
                    <a:pt x="4886706" y="502920"/>
                  </a:lnTo>
                  <a:lnTo>
                    <a:pt x="4699254" y="502920"/>
                  </a:lnTo>
                  <a:lnTo>
                    <a:pt x="4699254" y="0"/>
                  </a:lnTo>
                  <a:lnTo>
                    <a:pt x="4689348" y="0"/>
                  </a:lnTo>
                  <a:lnTo>
                    <a:pt x="4689348" y="9906"/>
                  </a:lnTo>
                  <a:lnTo>
                    <a:pt x="4689348" y="1257300"/>
                  </a:lnTo>
                  <a:lnTo>
                    <a:pt x="4363974" y="1257300"/>
                  </a:lnTo>
                  <a:lnTo>
                    <a:pt x="4363974" y="9906"/>
                  </a:lnTo>
                  <a:lnTo>
                    <a:pt x="4689348" y="9906"/>
                  </a:lnTo>
                  <a:lnTo>
                    <a:pt x="4689348" y="0"/>
                  </a:lnTo>
                  <a:lnTo>
                    <a:pt x="4354068" y="0"/>
                  </a:lnTo>
                  <a:lnTo>
                    <a:pt x="4354068" y="505244"/>
                  </a:lnTo>
                  <a:lnTo>
                    <a:pt x="4299966" y="478536"/>
                  </a:lnTo>
                  <a:lnTo>
                    <a:pt x="4299966" y="502920"/>
                  </a:lnTo>
                  <a:lnTo>
                    <a:pt x="4112514" y="502920"/>
                  </a:lnTo>
                  <a:lnTo>
                    <a:pt x="4112514" y="0"/>
                  </a:lnTo>
                  <a:lnTo>
                    <a:pt x="4102608" y="0"/>
                  </a:lnTo>
                  <a:lnTo>
                    <a:pt x="4102608" y="9906"/>
                  </a:lnTo>
                  <a:lnTo>
                    <a:pt x="4102608" y="1257300"/>
                  </a:lnTo>
                  <a:lnTo>
                    <a:pt x="3777234" y="1257300"/>
                  </a:lnTo>
                  <a:lnTo>
                    <a:pt x="3777234" y="9906"/>
                  </a:lnTo>
                  <a:lnTo>
                    <a:pt x="4102608" y="9906"/>
                  </a:lnTo>
                  <a:lnTo>
                    <a:pt x="4102608" y="0"/>
                  </a:lnTo>
                  <a:lnTo>
                    <a:pt x="3767328" y="0"/>
                  </a:lnTo>
                  <a:lnTo>
                    <a:pt x="3767328" y="505244"/>
                  </a:lnTo>
                  <a:lnTo>
                    <a:pt x="3713226" y="478536"/>
                  </a:lnTo>
                  <a:lnTo>
                    <a:pt x="3713226" y="502920"/>
                  </a:lnTo>
                  <a:lnTo>
                    <a:pt x="3525774" y="502920"/>
                  </a:lnTo>
                  <a:lnTo>
                    <a:pt x="3525774" y="0"/>
                  </a:lnTo>
                  <a:lnTo>
                    <a:pt x="3515868" y="0"/>
                  </a:lnTo>
                  <a:lnTo>
                    <a:pt x="3515868" y="9906"/>
                  </a:lnTo>
                  <a:lnTo>
                    <a:pt x="3515868" y="1257300"/>
                  </a:lnTo>
                  <a:lnTo>
                    <a:pt x="3190494" y="1257300"/>
                  </a:lnTo>
                  <a:lnTo>
                    <a:pt x="3190494" y="9906"/>
                  </a:lnTo>
                  <a:lnTo>
                    <a:pt x="3515868" y="9906"/>
                  </a:lnTo>
                  <a:lnTo>
                    <a:pt x="3515868" y="0"/>
                  </a:lnTo>
                  <a:lnTo>
                    <a:pt x="3180588" y="0"/>
                  </a:lnTo>
                  <a:lnTo>
                    <a:pt x="3180588" y="505244"/>
                  </a:lnTo>
                  <a:lnTo>
                    <a:pt x="3126486" y="478536"/>
                  </a:lnTo>
                  <a:lnTo>
                    <a:pt x="3126486" y="502920"/>
                  </a:lnTo>
                  <a:lnTo>
                    <a:pt x="2939034" y="502920"/>
                  </a:lnTo>
                  <a:lnTo>
                    <a:pt x="2939034" y="0"/>
                  </a:lnTo>
                  <a:lnTo>
                    <a:pt x="2929128" y="0"/>
                  </a:lnTo>
                  <a:lnTo>
                    <a:pt x="2929128" y="9906"/>
                  </a:lnTo>
                  <a:lnTo>
                    <a:pt x="2929128" y="1257300"/>
                  </a:lnTo>
                  <a:lnTo>
                    <a:pt x="2603754" y="1257300"/>
                  </a:lnTo>
                  <a:lnTo>
                    <a:pt x="2603754" y="9906"/>
                  </a:lnTo>
                  <a:lnTo>
                    <a:pt x="2929128" y="9906"/>
                  </a:lnTo>
                  <a:lnTo>
                    <a:pt x="2929128" y="0"/>
                  </a:lnTo>
                  <a:lnTo>
                    <a:pt x="2593848" y="0"/>
                  </a:lnTo>
                  <a:lnTo>
                    <a:pt x="2593848" y="505244"/>
                  </a:lnTo>
                  <a:lnTo>
                    <a:pt x="2539746" y="478536"/>
                  </a:lnTo>
                  <a:lnTo>
                    <a:pt x="2539746" y="502920"/>
                  </a:lnTo>
                  <a:lnTo>
                    <a:pt x="2352294" y="502920"/>
                  </a:lnTo>
                  <a:lnTo>
                    <a:pt x="2352294" y="0"/>
                  </a:lnTo>
                  <a:lnTo>
                    <a:pt x="2342388" y="0"/>
                  </a:lnTo>
                  <a:lnTo>
                    <a:pt x="2342388" y="9906"/>
                  </a:lnTo>
                  <a:lnTo>
                    <a:pt x="2342388" y="1257300"/>
                  </a:lnTo>
                  <a:lnTo>
                    <a:pt x="2017014" y="1257300"/>
                  </a:lnTo>
                  <a:lnTo>
                    <a:pt x="2017014" y="9906"/>
                  </a:lnTo>
                  <a:lnTo>
                    <a:pt x="2342388" y="9906"/>
                  </a:lnTo>
                  <a:lnTo>
                    <a:pt x="2342388" y="0"/>
                  </a:lnTo>
                  <a:lnTo>
                    <a:pt x="2007108" y="0"/>
                  </a:lnTo>
                  <a:lnTo>
                    <a:pt x="2007108" y="505244"/>
                  </a:lnTo>
                  <a:lnTo>
                    <a:pt x="1953006" y="478536"/>
                  </a:lnTo>
                  <a:lnTo>
                    <a:pt x="1953006" y="502920"/>
                  </a:lnTo>
                  <a:lnTo>
                    <a:pt x="1765554" y="502920"/>
                  </a:lnTo>
                  <a:lnTo>
                    <a:pt x="1765554" y="0"/>
                  </a:lnTo>
                  <a:lnTo>
                    <a:pt x="1755648" y="0"/>
                  </a:lnTo>
                  <a:lnTo>
                    <a:pt x="1755648" y="9906"/>
                  </a:lnTo>
                  <a:lnTo>
                    <a:pt x="1755648" y="1257300"/>
                  </a:lnTo>
                  <a:lnTo>
                    <a:pt x="1430274" y="1257300"/>
                  </a:lnTo>
                  <a:lnTo>
                    <a:pt x="1430274" y="9906"/>
                  </a:lnTo>
                  <a:lnTo>
                    <a:pt x="1755648" y="9906"/>
                  </a:lnTo>
                  <a:lnTo>
                    <a:pt x="1755648" y="0"/>
                  </a:lnTo>
                  <a:lnTo>
                    <a:pt x="1420368" y="0"/>
                  </a:lnTo>
                  <a:lnTo>
                    <a:pt x="1420368" y="505244"/>
                  </a:lnTo>
                  <a:lnTo>
                    <a:pt x="1366266" y="478536"/>
                  </a:lnTo>
                  <a:lnTo>
                    <a:pt x="1366266" y="502920"/>
                  </a:lnTo>
                  <a:lnTo>
                    <a:pt x="1178814" y="502920"/>
                  </a:lnTo>
                  <a:lnTo>
                    <a:pt x="1178814" y="0"/>
                  </a:lnTo>
                  <a:lnTo>
                    <a:pt x="1168908" y="0"/>
                  </a:lnTo>
                  <a:lnTo>
                    <a:pt x="1168908" y="9906"/>
                  </a:lnTo>
                  <a:lnTo>
                    <a:pt x="1168908" y="1257300"/>
                  </a:lnTo>
                  <a:lnTo>
                    <a:pt x="843534" y="1257300"/>
                  </a:lnTo>
                  <a:lnTo>
                    <a:pt x="843534" y="9906"/>
                  </a:lnTo>
                  <a:lnTo>
                    <a:pt x="1168908" y="9906"/>
                  </a:lnTo>
                  <a:lnTo>
                    <a:pt x="1168908" y="0"/>
                  </a:lnTo>
                  <a:lnTo>
                    <a:pt x="833628" y="0"/>
                  </a:lnTo>
                  <a:lnTo>
                    <a:pt x="833628" y="505244"/>
                  </a:lnTo>
                  <a:lnTo>
                    <a:pt x="779526" y="478536"/>
                  </a:lnTo>
                  <a:lnTo>
                    <a:pt x="779526" y="502920"/>
                  </a:lnTo>
                  <a:lnTo>
                    <a:pt x="592074" y="502920"/>
                  </a:lnTo>
                  <a:lnTo>
                    <a:pt x="592074" y="0"/>
                  </a:lnTo>
                  <a:lnTo>
                    <a:pt x="582168" y="0"/>
                  </a:lnTo>
                  <a:lnTo>
                    <a:pt x="582168" y="9906"/>
                  </a:lnTo>
                  <a:lnTo>
                    <a:pt x="582168" y="1257300"/>
                  </a:lnTo>
                  <a:lnTo>
                    <a:pt x="256794" y="1257300"/>
                  </a:lnTo>
                  <a:lnTo>
                    <a:pt x="256794" y="9906"/>
                  </a:lnTo>
                  <a:lnTo>
                    <a:pt x="582168" y="9906"/>
                  </a:lnTo>
                  <a:lnTo>
                    <a:pt x="582168" y="0"/>
                  </a:lnTo>
                  <a:lnTo>
                    <a:pt x="246888" y="0"/>
                  </a:lnTo>
                  <a:lnTo>
                    <a:pt x="246888" y="505244"/>
                  </a:lnTo>
                  <a:lnTo>
                    <a:pt x="192786" y="478536"/>
                  </a:lnTo>
                  <a:lnTo>
                    <a:pt x="192786" y="502920"/>
                  </a:lnTo>
                  <a:lnTo>
                    <a:pt x="0" y="502920"/>
                  </a:lnTo>
                  <a:lnTo>
                    <a:pt x="0" y="512826"/>
                  </a:lnTo>
                  <a:lnTo>
                    <a:pt x="192786" y="512826"/>
                  </a:lnTo>
                  <a:lnTo>
                    <a:pt x="192786" y="537210"/>
                  </a:lnTo>
                  <a:lnTo>
                    <a:pt x="202692" y="532193"/>
                  </a:lnTo>
                  <a:lnTo>
                    <a:pt x="246888" y="509816"/>
                  </a:lnTo>
                  <a:lnTo>
                    <a:pt x="246888" y="1267206"/>
                  </a:lnTo>
                  <a:lnTo>
                    <a:pt x="251460" y="1267206"/>
                  </a:lnTo>
                  <a:lnTo>
                    <a:pt x="256794" y="1267206"/>
                  </a:lnTo>
                  <a:lnTo>
                    <a:pt x="582168" y="1267206"/>
                  </a:lnTo>
                  <a:lnTo>
                    <a:pt x="586740" y="1267206"/>
                  </a:lnTo>
                  <a:lnTo>
                    <a:pt x="592074" y="1267206"/>
                  </a:lnTo>
                  <a:lnTo>
                    <a:pt x="592074" y="512826"/>
                  </a:lnTo>
                  <a:lnTo>
                    <a:pt x="779526" y="512826"/>
                  </a:lnTo>
                  <a:lnTo>
                    <a:pt x="779526" y="537210"/>
                  </a:lnTo>
                  <a:lnTo>
                    <a:pt x="789432" y="532193"/>
                  </a:lnTo>
                  <a:lnTo>
                    <a:pt x="833628" y="509816"/>
                  </a:lnTo>
                  <a:lnTo>
                    <a:pt x="833628" y="1267206"/>
                  </a:lnTo>
                  <a:lnTo>
                    <a:pt x="838200" y="1267206"/>
                  </a:lnTo>
                  <a:lnTo>
                    <a:pt x="843534" y="1267206"/>
                  </a:lnTo>
                  <a:lnTo>
                    <a:pt x="1168908" y="1267206"/>
                  </a:lnTo>
                  <a:lnTo>
                    <a:pt x="1173480" y="1267206"/>
                  </a:lnTo>
                  <a:lnTo>
                    <a:pt x="1178814" y="1267206"/>
                  </a:lnTo>
                  <a:lnTo>
                    <a:pt x="1178814" y="512826"/>
                  </a:lnTo>
                  <a:lnTo>
                    <a:pt x="1366266" y="512826"/>
                  </a:lnTo>
                  <a:lnTo>
                    <a:pt x="1366266" y="537210"/>
                  </a:lnTo>
                  <a:lnTo>
                    <a:pt x="1376172" y="532193"/>
                  </a:lnTo>
                  <a:lnTo>
                    <a:pt x="1420368" y="509816"/>
                  </a:lnTo>
                  <a:lnTo>
                    <a:pt x="1420368" y="1267206"/>
                  </a:lnTo>
                  <a:lnTo>
                    <a:pt x="1424940" y="1267206"/>
                  </a:lnTo>
                  <a:lnTo>
                    <a:pt x="1430274" y="1267206"/>
                  </a:lnTo>
                  <a:lnTo>
                    <a:pt x="1755648" y="1267206"/>
                  </a:lnTo>
                  <a:lnTo>
                    <a:pt x="1760220" y="1267206"/>
                  </a:lnTo>
                  <a:lnTo>
                    <a:pt x="1765554" y="1267206"/>
                  </a:lnTo>
                  <a:lnTo>
                    <a:pt x="1765554" y="512826"/>
                  </a:lnTo>
                  <a:lnTo>
                    <a:pt x="1953006" y="512826"/>
                  </a:lnTo>
                  <a:lnTo>
                    <a:pt x="1953006" y="537210"/>
                  </a:lnTo>
                  <a:lnTo>
                    <a:pt x="1962912" y="532193"/>
                  </a:lnTo>
                  <a:lnTo>
                    <a:pt x="2007108" y="509816"/>
                  </a:lnTo>
                  <a:lnTo>
                    <a:pt x="2007108" y="1267206"/>
                  </a:lnTo>
                  <a:lnTo>
                    <a:pt x="2011680" y="1267206"/>
                  </a:lnTo>
                  <a:lnTo>
                    <a:pt x="2017014" y="1267206"/>
                  </a:lnTo>
                  <a:lnTo>
                    <a:pt x="2342388" y="1267206"/>
                  </a:lnTo>
                  <a:lnTo>
                    <a:pt x="2346960" y="1267206"/>
                  </a:lnTo>
                  <a:lnTo>
                    <a:pt x="2352294" y="1267206"/>
                  </a:lnTo>
                  <a:lnTo>
                    <a:pt x="2352294" y="512826"/>
                  </a:lnTo>
                  <a:lnTo>
                    <a:pt x="2539746" y="512826"/>
                  </a:lnTo>
                  <a:lnTo>
                    <a:pt x="2539746" y="537210"/>
                  </a:lnTo>
                  <a:lnTo>
                    <a:pt x="2549652" y="532193"/>
                  </a:lnTo>
                  <a:lnTo>
                    <a:pt x="2593848" y="509816"/>
                  </a:lnTo>
                  <a:lnTo>
                    <a:pt x="2593848" y="1267206"/>
                  </a:lnTo>
                  <a:lnTo>
                    <a:pt x="2598420" y="1267206"/>
                  </a:lnTo>
                  <a:lnTo>
                    <a:pt x="2603754" y="1267206"/>
                  </a:lnTo>
                  <a:lnTo>
                    <a:pt x="2929128" y="1267206"/>
                  </a:lnTo>
                  <a:lnTo>
                    <a:pt x="2933700" y="1267206"/>
                  </a:lnTo>
                  <a:lnTo>
                    <a:pt x="2939034" y="1267206"/>
                  </a:lnTo>
                  <a:lnTo>
                    <a:pt x="2939034" y="512826"/>
                  </a:lnTo>
                  <a:lnTo>
                    <a:pt x="3126486" y="512826"/>
                  </a:lnTo>
                  <a:lnTo>
                    <a:pt x="3126486" y="537210"/>
                  </a:lnTo>
                  <a:lnTo>
                    <a:pt x="3136379" y="532193"/>
                  </a:lnTo>
                  <a:lnTo>
                    <a:pt x="3180588" y="509816"/>
                  </a:lnTo>
                  <a:lnTo>
                    <a:pt x="3180588" y="1267206"/>
                  </a:lnTo>
                  <a:lnTo>
                    <a:pt x="3185160" y="1267206"/>
                  </a:lnTo>
                  <a:lnTo>
                    <a:pt x="3190494" y="1267206"/>
                  </a:lnTo>
                  <a:lnTo>
                    <a:pt x="3515868" y="1267206"/>
                  </a:lnTo>
                  <a:lnTo>
                    <a:pt x="3520440" y="1267206"/>
                  </a:lnTo>
                  <a:lnTo>
                    <a:pt x="3525774" y="1267206"/>
                  </a:lnTo>
                  <a:lnTo>
                    <a:pt x="3525774" y="512826"/>
                  </a:lnTo>
                  <a:lnTo>
                    <a:pt x="3713226" y="512826"/>
                  </a:lnTo>
                  <a:lnTo>
                    <a:pt x="3713226" y="537210"/>
                  </a:lnTo>
                  <a:lnTo>
                    <a:pt x="3723119" y="532193"/>
                  </a:lnTo>
                  <a:lnTo>
                    <a:pt x="3767328" y="509816"/>
                  </a:lnTo>
                  <a:lnTo>
                    <a:pt x="3767328" y="1267206"/>
                  </a:lnTo>
                  <a:lnTo>
                    <a:pt x="3771900" y="1267206"/>
                  </a:lnTo>
                  <a:lnTo>
                    <a:pt x="3777234" y="1267206"/>
                  </a:lnTo>
                  <a:lnTo>
                    <a:pt x="4102608" y="1267206"/>
                  </a:lnTo>
                  <a:lnTo>
                    <a:pt x="4107180" y="1267206"/>
                  </a:lnTo>
                  <a:lnTo>
                    <a:pt x="4112514" y="1267206"/>
                  </a:lnTo>
                  <a:lnTo>
                    <a:pt x="4112514" y="512826"/>
                  </a:lnTo>
                  <a:lnTo>
                    <a:pt x="4299966" y="512826"/>
                  </a:lnTo>
                  <a:lnTo>
                    <a:pt x="4299966" y="537210"/>
                  </a:lnTo>
                  <a:lnTo>
                    <a:pt x="4309872" y="532193"/>
                  </a:lnTo>
                  <a:lnTo>
                    <a:pt x="4354068" y="509816"/>
                  </a:lnTo>
                  <a:lnTo>
                    <a:pt x="4354068" y="1267206"/>
                  </a:lnTo>
                  <a:lnTo>
                    <a:pt x="4358640" y="1267206"/>
                  </a:lnTo>
                  <a:lnTo>
                    <a:pt x="4363974" y="1267206"/>
                  </a:lnTo>
                  <a:lnTo>
                    <a:pt x="4689348" y="1267206"/>
                  </a:lnTo>
                  <a:lnTo>
                    <a:pt x="4693920" y="1267206"/>
                  </a:lnTo>
                  <a:lnTo>
                    <a:pt x="4699254" y="1267206"/>
                  </a:lnTo>
                  <a:lnTo>
                    <a:pt x="4699254" y="512826"/>
                  </a:lnTo>
                  <a:lnTo>
                    <a:pt x="4886706" y="512826"/>
                  </a:lnTo>
                  <a:lnTo>
                    <a:pt x="4886706" y="537210"/>
                  </a:lnTo>
                  <a:lnTo>
                    <a:pt x="4896612" y="532193"/>
                  </a:lnTo>
                  <a:lnTo>
                    <a:pt x="4940808" y="509816"/>
                  </a:lnTo>
                  <a:lnTo>
                    <a:pt x="4940808" y="1267206"/>
                  </a:lnTo>
                  <a:lnTo>
                    <a:pt x="4945380" y="1267206"/>
                  </a:lnTo>
                  <a:lnTo>
                    <a:pt x="4950714" y="1267206"/>
                  </a:lnTo>
                  <a:lnTo>
                    <a:pt x="5276088" y="1267206"/>
                  </a:lnTo>
                  <a:lnTo>
                    <a:pt x="5280660" y="1267206"/>
                  </a:lnTo>
                  <a:lnTo>
                    <a:pt x="5285994" y="1267206"/>
                  </a:lnTo>
                  <a:lnTo>
                    <a:pt x="5285994" y="512826"/>
                  </a:lnTo>
                  <a:lnTo>
                    <a:pt x="5473446" y="512826"/>
                  </a:lnTo>
                  <a:lnTo>
                    <a:pt x="5473446" y="537210"/>
                  </a:lnTo>
                  <a:lnTo>
                    <a:pt x="5483352" y="532193"/>
                  </a:lnTo>
                  <a:lnTo>
                    <a:pt x="5527548" y="509816"/>
                  </a:lnTo>
                  <a:lnTo>
                    <a:pt x="5527548" y="1267206"/>
                  </a:lnTo>
                  <a:lnTo>
                    <a:pt x="5532120" y="1267206"/>
                  </a:lnTo>
                  <a:lnTo>
                    <a:pt x="5537454" y="1267206"/>
                  </a:lnTo>
                  <a:lnTo>
                    <a:pt x="5862828" y="1267206"/>
                  </a:lnTo>
                  <a:lnTo>
                    <a:pt x="5867400" y="1267206"/>
                  </a:lnTo>
                  <a:lnTo>
                    <a:pt x="5872734" y="1267206"/>
                  </a:lnTo>
                  <a:lnTo>
                    <a:pt x="5872734" y="512826"/>
                  </a:lnTo>
                  <a:lnTo>
                    <a:pt x="6060186" y="512826"/>
                  </a:lnTo>
                  <a:lnTo>
                    <a:pt x="6060186" y="537210"/>
                  </a:lnTo>
                  <a:lnTo>
                    <a:pt x="6070092" y="532193"/>
                  </a:lnTo>
                  <a:lnTo>
                    <a:pt x="6114288" y="509816"/>
                  </a:lnTo>
                  <a:lnTo>
                    <a:pt x="6114288" y="1267206"/>
                  </a:lnTo>
                  <a:lnTo>
                    <a:pt x="6118860" y="1267206"/>
                  </a:lnTo>
                  <a:lnTo>
                    <a:pt x="6124194" y="1267206"/>
                  </a:lnTo>
                  <a:lnTo>
                    <a:pt x="6449568" y="1267206"/>
                  </a:lnTo>
                  <a:lnTo>
                    <a:pt x="6454140" y="1267206"/>
                  </a:lnTo>
                  <a:lnTo>
                    <a:pt x="6459461" y="1267206"/>
                  </a:lnTo>
                  <a:lnTo>
                    <a:pt x="6459461" y="512826"/>
                  </a:lnTo>
                  <a:lnTo>
                    <a:pt x="6646926" y="512826"/>
                  </a:lnTo>
                  <a:lnTo>
                    <a:pt x="6646926" y="537210"/>
                  </a:lnTo>
                  <a:lnTo>
                    <a:pt x="6656832" y="532193"/>
                  </a:lnTo>
                  <a:lnTo>
                    <a:pt x="6701028" y="509816"/>
                  </a:lnTo>
                  <a:lnTo>
                    <a:pt x="6701028" y="1267206"/>
                  </a:lnTo>
                  <a:lnTo>
                    <a:pt x="6705600" y="1267206"/>
                  </a:lnTo>
                  <a:lnTo>
                    <a:pt x="6710934" y="1267206"/>
                  </a:lnTo>
                  <a:lnTo>
                    <a:pt x="7036308" y="1267206"/>
                  </a:lnTo>
                  <a:lnTo>
                    <a:pt x="7040880" y="1267206"/>
                  </a:lnTo>
                  <a:lnTo>
                    <a:pt x="7046214" y="1267206"/>
                  </a:lnTo>
                  <a:lnTo>
                    <a:pt x="7046214" y="512826"/>
                  </a:lnTo>
                  <a:lnTo>
                    <a:pt x="7233666" y="512826"/>
                  </a:lnTo>
                  <a:lnTo>
                    <a:pt x="7233666" y="537210"/>
                  </a:lnTo>
                  <a:lnTo>
                    <a:pt x="7243572" y="532193"/>
                  </a:lnTo>
                  <a:lnTo>
                    <a:pt x="7292340" y="5074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8" name="object 7">
              <a:extLst>
                <a:ext uri="{FF2B5EF4-FFF2-40B4-BE49-F238E27FC236}">
                  <a16:creationId xmlns:a16="http://schemas.microsoft.com/office/drawing/2014/main" id="{B7ACBDAA-735E-746B-EA4E-99C7A7D0B819}"/>
                </a:ext>
              </a:extLst>
            </p:cNvPr>
            <p:cNvSpPr/>
            <p:nvPr/>
          </p:nvSpPr>
          <p:spPr>
            <a:xfrm>
              <a:off x="2849879" y="3718941"/>
              <a:ext cx="3821429" cy="0"/>
            </a:xfrm>
            <a:custGeom>
              <a:avLst/>
              <a:gdLst/>
              <a:ahLst/>
              <a:cxnLst/>
              <a:rect l="l" t="t" r="r" b="b"/>
              <a:pathLst>
                <a:path w="3821429">
                  <a:moveTo>
                    <a:pt x="0" y="0"/>
                  </a:moveTo>
                  <a:lnTo>
                    <a:pt x="3821429" y="0"/>
                  </a:lnTo>
                </a:path>
              </a:pathLst>
            </a:custGeom>
            <a:ln w="9906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9" name="object 8">
              <a:extLst>
                <a:ext uri="{FF2B5EF4-FFF2-40B4-BE49-F238E27FC236}">
                  <a16:creationId xmlns:a16="http://schemas.microsoft.com/office/drawing/2014/main" id="{8850E570-89EF-DBD8-0A29-85668EF3048C}"/>
                </a:ext>
              </a:extLst>
            </p:cNvPr>
            <p:cNvSpPr/>
            <p:nvPr/>
          </p:nvSpPr>
          <p:spPr>
            <a:xfrm>
              <a:off x="6701027" y="3713988"/>
              <a:ext cx="5080" cy="10160"/>
            </a:xfrm>
            <a:custGeom>
              <a:avLst/>
              <a:gdLst/>
              <a:ahLst/>
              <a:cxnLst/>
              <a:rect l="l" t="t" r="r" b="b"/>
              <a:pathLst>
                <a:path w="5079" h="10160">
                  <a:moveTo>
                    <a:pt x="4572" y="9905"/>
                  </a:moveTo>
                  <a:lnTo>
                    <a:pt x="4572" y="0"/>
                  </a:lnTo>
                  <a:lnTo>
                    <a:pt x="0" y="0"/>
                  </a:lnTo>
                  <a:lnTo>
                    <a:pt x="0" y="9905"/>
                  </a:lnTo>
                  <a:lnTo>
                    <a:pt x="4572" y="99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0" name="object 9">
            <a:extLst>
              <a:ext uri="{FF2B5EF4-FFF2-40B4-BE49-F238E27FC236}">
                <a16:creationId xmlns:a16="http://schemas.microsoft.com/office/drawing/2014/main" id="{CA37D610-7166-F6A9-D0DF-9DAC14C18A4B}"/>
              </a:ext>
            </a:extLst>
          </p:cNvPr>
          <p:cNvSpPr/>
          <p:nvPr/>
        </p:nvSpPr>
        <p:spPr>
          <a:xfrm>
            <a:off x="1318261" y="2953892"/>
            <a:ext cx="922019" cy="0"/>
          </a:xfrm>
          <a:custGeom>
            <a:avLst/>
            <a:gdLst/>
            <a:ahLst/>
            <a:cxnLst/>
            <a:rect l="l" t="t" r="r" b="b"/>
            <a:pathLst>
              <a:path w="922019">
                <a:moveTo>
                  <a:pt x="0" y="0"/>
                </a:moveTo>
                <a:lnTo>
                  <a:pt x="922019" y="0"/>
                </a:lnTo>
              </a:path>
            </a:pathLst>
          </a:custGeom>
          <a:ln w="990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1" name="object 10">
            <a:extLst>
              <a:ext uri="{FF2B5EF4-FFF2-40B4-BE49-F238E27FC236}">
                <a16:creationId xmlns:a16="http://schemas.microsoft.com/office/drawing/2014/main" id="{8CB69E83-32E6-6167-4FBE-E94B45869AC0}"/>
              </a:ext>
            </a:extLst>
          </p:cNvPr>
          <p:cNvSpPr/>
          <p:nvPr/>
        </p:nvSpPr>
        <p:spPr>
          <a:xfrm>
            <a:off x="6598920" y="2953892"/>
            <a:ext cx="1483995" cy="0"/>
          </a:xfrm>
          <a:custGeom>
            <a:avLst/>
            <a:gdLst/>
            <a:ahLst/>
            <a:cxnLst/>
            <a:rect l="l" t="t" r="r" b="b"/>
            <a:pathLst>
              <a:path w="1483995">
                <a:moveTo>
                  <a:pt x="0" y="0"/>
                </a:moveTo>
                <a:lnTo>
                  <a:pt x="1483614" y="0"/>
                </a:lnTo>
              </a:path>
            </a:pathLst>
          </a:custGeom>
          <a:ln w="990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2" name="object 11">
            <a:extLst>
              <a:ext uri="{FF2B5EF4-FFF2-40B4-BE49-F238E27FC236}">
                <a16:creationId xmlns:a16="http://schemas.microsoft.com/office/drawing/2014/main" id="{6B4633A6-9460-0BFC-1F88-F39833823516}"/>
              </a:ext>
            </a:extLst>
          </p:cNvPr>
          <p:cNvSpPr txBox="1"/>
          <p:nvPr/>
        </p:nvSpPr>
        <p:spPr>
          <a:xfrm>
            <a:off x="1441959" y="2972054"/>
            <a:ext cx="590550" cy="561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3185" marR="5080" lvl="0" indent="-71120" defTabSz="914400" eaLnBrk="1" fontAlgn="auto" latinLnBrk="0" hangingPunct="1">
              <a:lnSpc>
                <a:spcPct val="1006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5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Front </a:t>
            </a:r>
            <a:r>
              <a:rPr kumimoji="0" sz="175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End</a:t>
            </a:r>
            <a:endParaRPr kumimoji="0" sz="17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Rounded MT Bold"/>
              <a:cs typeface="Arial Rounded MT Bold"/>
            </a:endParaRPr>
          </a:p>
        </p:txBody>
      </p:sp>
      <p:sp>
        <p:nvSpPr>
          <p:cNvPr id="73" name="object 12">
            <a:extLst>
              <a:ext uri="{FF2B5EF4-FFF2-40B4-BE49-F238E27FC236}">
                <a16:creationId xmlns:a16="http://schemas.microsoft.com/office/drawing/2014/main" id="{B510BE83-C82C-DE04-0E0F-A9EEC61CEE33}"/>
              </a:ext>
            </a:extLst>
          </p:cNvPr>
          <p:cNvSpPr txBox="1"/>
          <p:nvPr/>
        </p:nvSpPr>
        <p:spPr>
          <a:xfrm>
            <a:off x="3765287" y="2972054"/>
            <a:ext cx="211454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5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M</a:t>
            </a:r>
            <a:endParaRPr kumimoji="0" sz="17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Rounded MT Bold"/>
              <a:cs typeface="Arial Rounded MT Bold"/>
            </a:endParaRPr>
          </a:p>
        </p:txBody>
      </p:sp>
      <p:sp>
        <p:nvSpPr>
          <p:cNvPr id="74" name="object 13">
            <a:extLst>
              <a:ext uri="{FF2B5EF4-FFF2-40B4-BE49-F238E27FC236}">
                <a16:creationId xmlns:a16="http://schemas.microsoft.com/office/drawing/2014/main" id="{8FBB57A2-0951-D7CB-C5C6-B00F2741E771}"/>
              </a:ext>
            </a:extLst>
          </p:cNvPr>
          <p:cNvSpPr txBox="1"/>
          <p:nvPr/>
        </p:nvSpPr>
        <p:spPr>
          <a:xfrm>
            <a:off x="3963804" y="2996745"/>
            <a:ext cx="1013460" cy="258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201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iddle</a:t>
            </a:r>
            <a:r>
              <a:rPr kumimoji="0" sz="175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 </a:t>
            </a:r>
            <a:r>
              <a:rPr kumimoji="0" sz="175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End</a:t>
            </a:r>
            <a:endParaRPr kumimoji="0" sz="17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Rounded MT Bold"/>
              <a:cs typeface="Arial Rounded MT Bold"/>
            </a:endParaRPr>
          </a:p>
        </p:txBody>
      </p:sp>
      <p:sp>
        <p:nvSpPr>
          <p:cNvPr id="75" name="object 14">
            <a:extLst>
              <a:ext uri="{FF2B5EF4-FFF2-40B4-BE49-F238E27FC236}">
                <a16:creationId xmlns:a16="http://schemas.microsoft.com/office/drawing/2014/main" id="{14220265-D9AA-FE13-8F80-DD7B6239F6FF}"/>
              </a:ext>
            </a:extLst>
          </p:cNvPr>
          <p:cNvSpPr txBox="1"/>
          <p:nvPr/>
        </p:nvSpPr>
        <p:spPr>
          <a:xfrm>
            <a:off x="6702085" y="2972054"/>
            <a:ext cx="1050290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Back</a:t>
            </a:r>
            <a:r>
              <a:rPr kumimoji="0" sz="175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 </a:t>
            </a:r>
            <a:r>
              <a:rPr kumimoji="0" sz="175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End</a:t>
            </a:r>
            <a:endParaRPr kumimoji="0" sz="17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Rounded MT Bold"/>
              <a:cs typeface="Arial Rounded MT Bold"/>
            </a:endParaRPr>
          </a:p>
        </p:txBody>
      </p:sp>
      <p:sp>
        <p:nvSpPr>
          <p:cNvPr id="76" name="object 23">
            <a:extLst>
              <a:ext uri="{FF2B5EF4-FFF2-40B4-BE49-F238E27FC236}">
                <a16:creationId xmlns:a16="http://schemas.microsoft.com/office/drawing/2014/main" id="{E0669276-202F-A117-E60F-FB7340B5338D}"/>
              </a:ext>
            </a:extLst>
          </p:cNvPr>
          <p:cNvSpPr/>
          <p:nvPr/>
        </p:nvSpPr>
        <p:spPr>
          <a:xfrm>
            <a:off x="6471051" y="4783458"/>
            <a:ext cx="691749" cy="460259"/>
          </a:xfrm>
          <a:custGeom>
            <a:avLst/>
            <a:gdLst/>
            <a:ahLst/>
            <a:cxnLst/>
            <a:rect l="l" t="t" r="r" b="b"/>
            <a:pathLst>
              <a:path w="1186815" h="919479">
                <a:moveTo>
                  <a:pt x="23161" y="862451"/>
                </a:moveTo>
                <a:lnTo>
                  <a:pt x="0" y="854202"/>
                </a:lnTo>
                <a:lnTo>
                  <a:pt x="8381" y="918972"/>
                </a:lnTo>
                <a:lnTo>
                  <a:pt x="19811" y="908095"/>
                </a:lnTo>
                <a:lnTo>
                  <a:pt x="19811" y="871728"/>
                </a:lnTo>
                <a:lnTo>
                  <a:pt x="23161" y="862451"/>
                </a:lnTo>
                <a:close/>
              </a:path>
              <a:path w="1186815" h="919479">
                <a:moveTo>
                  <a:pt x="32912" y="865924"/>
                </a:moveTo>
                <a:lnTo>
                  <a:pt x="23161" y="862451"/>
                </a:lnTo>
                <a:lnTo>
                  <a:pt x="19811" y="871728"/>
                </a:lnTo>
                <a:lnTo>
                  <a:pt x="29717" y="874776"/>
                </a:lnTo>
                <a:lnTo>
                  <a:pt x="32912" y="865924"/>
                </a:lnTo>
                <a:close/>
              </a:path>
              <a:path w="1186815" h="919479">
                <a:moveTo>
                  <a:pt x="55625" y="874014"/>
                </a:moveTo>
                <a:lnTo>
                  <a:pt x="32912" y="865924"/>
                </a:lnTo>
                <a:lnTo>
                  <a:pt x="29717" y="874776"/>
                </a:lnTo>
                <a:lnTo>
                  <a:pt x="19811" y="871728"/>
                </a:lnTo>
                <a:lnTo>
                  <a:pt x="19811" y="908095"/>
                </a:lnTo>
                <a:lnTo>
                  <a:pt x="55625" y="874014"/>
                </a:lnTo>
                <a:close/>
              </a:path>
              <a:path w="1186815" h="919479">
                <a:moveTo>
                  <a:pt x="1186433" y="9906"/>
                </a:moveTo>
                <a:lnTo>
                  <a:pt x="1186433" y="0"/>
                </a:lnTo>
                <a:lnTo>
                  <a:pt x="334517" y="0"/>
                </a:lnTo>
                <a:lnTo>
                  <a:pt x="23161" y="862451"/>
                </a:lnTo>
                <a:lnTo>
                  <a:pt x="32912" y="865924"/>
                </a:lnTo>
                <a:lnTo>
                  <a:pt x="338327" y="19528"/>
                </a:lnTo>
                <a:lnTo>
                  <a:pt x="338327" y="9906"/>
                </a:lnTo>
                <a:lnTo>
                  <a:pt x="342899" y="6858"/>
                </a:lnTo>
                <a:lnTo>
                  <a:pt x="342899" y="9906"/>
                </a:lnTo>
                <a:lnTo>
                  <a:pt x="1186433" y="9906"/>
                </a:lnTo>
                <a:close/>
              </a:path>
              <a:path w="1186815" h="919479">
                <a:moveTo>
                  <a:pt x="342899" y="6858"/>
                </a:moveTo>
                <a:lnTo>
                  <a:pt x="338327" y="9906"/>
                </a:lnTo>
                <a:lnTo>
                  <a:pt x="341800" y="9906"/>
                </a:lnTo>
                <a:lnTo>
                  <a:pt x="342899" y="6858"/>
                </a:lnTo>
                <a:close/>
              </a:path>
              <a:path w="1186815" h="919479">
                <a:moveTo>
                  <a:pt x="341800" y="9906"/>
                </a:moveTo>
                <a:lnTo>
                  <a:pt x="338327" y="9906"/>
                </a:lnTo>
                <a:lnTo>
                  <a:pt x="338327" y="19528"/>
                </a:lnTo>
                <a:lnTo>
                  <a:pt x="341800" y="9906"/>
                </a:lnTo>
                <a:close/>
              </a:path>
              <a:path w="1186815" h="919479">
                <a:moveTo>
                  <a:pt x="342899" y="9906"/>
                </a:moveTo>
                <a:lnTo>
                  <a:pt x="342899" y="6858"/>
                </a:lnTo>
                <a:lnTo>
                  <a:pt x="341800" y="9906"/>
                </a:lnTo>
                <a:lnTo>
                  <a:pt x="342899" y="9906"/>
                </a:lnTo>
                <a:close/>
              </a:path>
            </a:pathLst>
          </a:custGeom>
          <a:solidFill>
            <a:srgbClr val="0000CB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7" name="object 24">
            <a:extLst>
              <a:ext uri="{FF2B5EF4-FFF2-40B4-BE49-F238E27FC236}">
                <a16:creationId xmlns:a16="http://schemas.microsoft.com/office/drawing/2014/main" id="{10FA4007-1BE6-622F-AFEB-397A774D75DC}"/>
              </a:ext>
            </a:extLst>
          </p:cNvPr>
          <p:cNvSpPr txBox="1"/>
          <p:nvPr/>
        </p:nvSpPr>
        <p:spPr>
          <a:xfrm>
            <a:off x="7198098" y="4452739"/>
            <a:ext cx="1521460" cy="8305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00699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50" b="0" i="1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cs typeface="Times New Roman"/>
              </a:rPr>
              <a:t>Multi-level</a:t>
            </a:r>
            <a:r>
              <a:rPr kumimoji="0" sz="1750" b="0" i="1" u="none" strike="noStrike" kern="0" cap="none" spc="3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750" b="0" i="1" u="none" strike="noStrike" kern="0" cap="none" spc="-2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cs typeface="Times New Roman"/>
              </a:rPr>
              <a:t>IR </a:t>
            </a:r>
            <a:r>
              <a:rPr kumimoji="0" sz="1750" b="0" i="1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/>
                <a:cs typeface="Times New Roman"/>
              </a:rPr>
              <a:t>has</a:t>
            </a:r>
            <a:r>
              <a:rPr kumimoji="0" sz="1750" b="0" i="1" u="none" strike="noStrike" kern="0" cap="none" spc="5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750" b="0" i="1" u="none" strike="noStrike" kern="0" cap="none" spc="-1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/>
                <a:cs typeface="Times New Roman"/>
              </a:rPr>
              <a:t>become </a:t>
            </a:r>
            <a:r>
              <a:rPr kumimoji="0" sz="1750" b="0" i="1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/>
                <a:cs typeface="Times New Roman"/>
              </a:rPr>
              <a:t>common</a:t>
            </a:r>
            <a:r>
              <a:rPr kumimoji="0" sz="1750" b="0" i="1" u="none" strike="noStrike" kern="0" cap="none" spc="-5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750" b="0" i="1" u="none" strike="noStrike" kern="0" cap="none" spc="-1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/>
                <a:cs typeface="Times New Roman"/>
              </a:rPr>
              <a:t>wisdom</a:t>
            </a:r>
            <a:endParaRPr kumimoji="0" sz="17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628558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D9E1B-3A88-24FD-4FBE-BE1FE4EE1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3E8D007-486C-92AF-CC9E-FB51D2428A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5940" y="159003"/>
            <a:ext cx="540766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pc="-1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经典编译器</a:t>
            </a:r>
            <a:r>
              <a:rPr lang="en-US" altLang="zh-CN" spc="-1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SUIF</a:t>
            </a:r>
            <a:endParaRPr spc="-1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object 2">
            <a:extLst>
              <a:ext uri="{FF2B5EF4-FFF2-40B4-BE49-F238E27FC236}">
                <a16:creationId xmlns:a16="http://schemas.microsoft.com/office/drawing/2014/main" id="{AD3EB1DC-2426-712B-A751-7D04900DA398}"/>
              </a:ext>
            </a:extLst>
          </p:cNvPr>
          <p:cNvSpPr txBox="1">
            <a:spLocks/>
          </p:cNvSpPr>
          <p:nvPr/>
        </p:nvSpPr>
        <p:spPr>
          <a:xfrm>
            <a:off x="701294" y="674464"/>
            <a:ext cx="8470900" cy="527067"/>
          </a:xfrm>
          <a:prstGeom prst="rect">
            <a:avLst/>
          </a:prstGeom>
        </p:spPr>
        <p:txBody>
          <a:bodyPr vert="horz" wrap="square" lIns="0" tIns="156210" rIns="0" bIns="0" rtlCol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Microsoft YaHei"/>
                <a:ea typeface="+mj-ea"/>
                <a:cs typeface="Microsoft YaHei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1999:</a:t>
            </a:r>
            <a:r>
              <a:rPr kumimoji="0" lang="en-US" altLang="zh-CN" sz="2400" b="0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The SUIF Compiler </a:t>
            </a:r>
            <a:r>
              <a:rPr kumimoji="0" lang="en-US" altLang="zh-CN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System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Arial"/>
            </a:endParaRP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2C0B6B59-8BF2-4DF8-68FA-1C83A552A589}"/>
              </a:ext>
            </a:extLst>
          </p:cNvPr>
          <p:cNvSpPr txBox="1"/>
          <p:nvPr/>
        </p:nvSpPr>
        <p:spPr>
          <a:xfrm>
            <a:off x="3570477" y="3485664"/>
            <a:ext cx="1223645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Middle</a:t>
            </a:r>
            <a:r>
              <a:rPr kumimoji="0" sz="175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 </a:t>
            </a:r>
            <a:r>
              <a:rPr kumimoji="0" sz="175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End</a:t>
            </a:r>
            <a:endParaRPr kumimoji="0" sz="17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Rounded MT Bold"/>
              <a:cs typeface="Arial Rounded MT Bold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4F00C493-60A7-D28A-292D-B0FD1DEB212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294" y="1201531"/>
            <a:ext cx="7466837" cy="2017940"/>
          </a:xfrm>
          <a:prstGeom prst="rect">
            <a:avLst/>
          </a:prstGeom>
        </p:spPr>
      </p:pic>
      <p:sp>
        <p:nvSpPr>
          <p:cNvPr id="6" name="object 4">
            <a:extLst>
              <a:ext uri="{FF2B5EF4-FFF2-40B4-BE49-F238E27FC236}">
                <a16:creationId xmlns:a16="http://schemas.microsoft.com/office/drawing/2014/main" id="{9E5AB803-24C4-48DD-B0CF-30F22339E9B6}"/>
              </a:ext>
            </a:extLst>
          </p:cNvPr>
          <p:cNvSpPr txBox="1"/>
          <p:nvPr/>
        </p:nvSpPr>
        <p:spPr>
          <a:xfrm>
            <a:off x="758697" y="1470935"/>
            <a:ext cx="1148715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5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Fortran</a:t>
            </a:r>
            <a:r>
              <a:rPr kumimoji="0" sz="175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 </a:t>
            </a:r>
            <a:r>
              <a:rPr kumimoji="0" sz="175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77</a:t>
            </a:r>
            <a:endParaRPr kumimoji="0" sz="17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Rounded MT Bold"/>
              <a:cs typeface="Arial Rounded MT Bold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40C9A931-FC4A-DE4E-DDCC-354A496B281E}"/>
              </a:ext>
            </a:extLst>
          </p:cNvPr>
          <p:cNvSpPr txBox="1"/>
          <p:nvPr/>
        </p:nvSpPr>
        <p:spPr>
          <a:xfrm>
            <a:off x="882904" y="2141496"/>
            <a:ext cx="899794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C</a:t>
            </a:r>
            <a:r>
              <a:rPr kumimoji="0" sz="175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 </a:t>
            </a:r>
            <a:r>
              <a:rPr kumimoji="0" sz="17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&amp; </a:t>
            </a:r>
            <a:r>
              <a:rPr kumimoji="0" sz="175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C++</a:t>
            </a:r>
            <a:endParaRPr kumimoji="0" sz="17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Rounded MT Bold"/>
              <a:cs typeface="Arial Rounded MT Bold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DF4850CE-42AF-9B2A-595D-FC5FB12D12C0}"/>
              </a:ext>
            </a:extLst>
          </p:cNvPr>
          <p:cNvSpPr txBox="1"/>
          <p:nvPr/>
        </p:nvSpPr>
        <p:spPr>
          <a:xfrm>
            <a:off x="1066546" y="2812056"/>
            <a:ext cx="531495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5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Java</a:t>
            </a:r>
            <a:endParaRPr kumimoji="0" sz="17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Rounded MT Bold"/>
              <a:cs typeface="Arial Rounded MT Bold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61F1CBD5-8D44-5DA2-45E3-1A965FFA7A87}"/>
              </a:ext>
            </a:extLst>
          </p:cNvPr>
          <p:cNvSpPr txBox="1"/>
          <p:nvPr/>
        </p:nvSpPr>
        <p:spPr>
          <a:xfrm>
            <a:off x="7007858" y="1470935"/>
            <a:ext cx="1054100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5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C/Fortran</a:t>
            </a:r>
            <a:endParaRPr kumimoji="0" sz="17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Rounded MT Bold"/>
              <a:cs typeface="Arial Rounded MT Bold"/>
            </a:endParaRPr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051C0BFE-47E3-686E-DBEE-6A153ECCA3E2}"/>
              </a:ext>
            </a:extLst>
          </p:cNvPr>
          <p:cNvSpPr txBox="1"/>
          <p:nvPr/>
        </p:nvSpPr>
        <p:spPr>
          <a:xfrm>
            <a:off x="7208265" y="2141496"/>
            <a:ext cx="653415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5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Alpha</a:t>
            </a:r>
            <a:endParaRPr kumimoji="0" sz="17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Rounded MT Bold"/>
              <a:cs typeface="Arial Rounded MT Bold"/>
            </a:endParaRP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19559E31-C19A-8561-B956-A2FA9456F93C}"/>
              </a:ext>
            </a:extLst>
          </p:cNvPr>
          <p:cNvSpPr txBox="1"/>
          <p:nvPr/>
        </p:nvSpPr>
        <p:spPr>
          <a:xfrm>
            <a:off x="7332472" y="2812056"/>
            <a:ext cx="407670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5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x86</a:t>
            </a:r>
            <a:endParaRPr kumimoji="0" sz="17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Rounded MT Bold"/>
              <a:cs typeface="Arial Rounded MT Bold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22849CAC-BB47-CE1A-D800-B3F538D460E9}"/>
              </a:ext>
            </a:extLst>
          </p:cNvPr>
          <p:cNvSpPr/>
          <p:nvPr/>
        </p:nvSpPr>
        <p:spPr>
          <a:xfrm>
            <a:off x="704341" y="3383682"/>
            <a:ext cx="1257300" cy="0"/>
          </a:xfrm>
          <a:custGeom>
            <a:avLst/>
            <a:gdLst/>
            <a:ahLst/>
            <a:cxnLst/>
            <a:rect l="l" t="t" r="r" b="b"/>
            <a:pathLst>
              <a:path w="1257300">
                <a:moveTo>
                  <a:pt x="0" y="0"/>
                </a:moveTo>
                <a:lnTo>
                  <a:pt x="1257300" y="0"/>
                </a:lnTo>
              </a:path>
            </a:pathLst>
          </a:custGeom>
          <a:ln w="990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AF06EE3F-C86B-A4C9-C56E-24A15560A690}"/>
              </a:ext>
            </a:extLst>
          </p:cNvPr>
          <p:cNvSpPr txBox="1"/>
          <p:nvPr/>
        </p:nvSpPr>
        <p:spPr>
          <a:xfrm>
            <a:off x="756411" y="3401844"/>
            <a:ext cx="1070610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5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Front</a:t>
            </a:r>
            <a:r>
              <a:rPr kumimoji="0" sz="175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 </a:t>
            </a:r>
            <a:r>
              <a:rPr kumimoji="0" sz="175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End</a:t>
            </a:r>
            <a:endParaRPr kumimoji="0" sz="17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Rounded MT Bold"/>
              <a:cs typeface="Arial Rounded MT Bold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D97E147A-BA87-CE96-3807-4AA687ADC335}"/>
              </a:ext>
            </a:extLst>
          </p:cNvPr>
          <p:cNvSpPr/>
          <p:nvPr/>
        </p:nvSpPr>
        <p:spPr>
          <a:xfrm>
            <a:off x="2548382" y="3383682"/>
            <a:ext cx="3268979" cy="0"/>
          </a:xfrm>
          <a:custGeom>
            <a:avLst/>
            <a:gdLst/>
            <a:ahLst/>
            <a:cxnLst/>
            <a:rect l="l" t="t" r="r" b="b"/>
            <a:pathLst>
              <a:path w="3268979">
                <a:moveTo>
                  <a:pt x="0" y="0"/>
                </a:moveTo>
                <a:lnTo>
                  <a:pt x="3268979" y="0"/>
                </a:lnTo>
              </a:path>
            </a:pathLst>
          </a:custGeom>
          <a:ln w="9906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15" name="object 13">
            <a:extLst>
              <a:ext uri="{FF2B5EF4-FFF2-40B4-BE49-F238E27FC236}">
                <a16:creationId xmlns:a16="http://schemas.microsoft.com/office/drawing/2014/main" id="{83C6040E-3717-281D-4051-EA5B989584CB}"/>
              </a:ext>
            </a:extLst>
          </p:cNvPr>
          <p:cNvGrpSpPr/>
          <p:nvPr/>
        </p:nvGrpSpPr>
        <p:grpSpPr>
          <a:xfrm>
            <a:off x="6985762" y="3378602"/>
            <a:ext cx="1178560" cy="10160"/>
            <a:chOff x="7203440" y="4132960"/>
            <a:chExt cx="1178560" cy="10160"/>
          </a:xfrm>
        </p:grpSpPr>
        <p:sp>
          <p:nvSpPr>
            <p:cNvPr id="16" name="object 14">
              <a:extLst>
                <a:ext uri="{FF2B5EF4-FFF2-40B4-BE49-F238E27FC236}">
                  <a16:creationId xmlns:a16="http://schemas.microsoft.com/office/drawing/2014/main" id="{9ADCE76F-5759-51CD-68D7-44A17B3D2532}"/>
                </a:ext>
              </a:extLst>
            </p:cNvPr>
            <p:cNvSpPr/>
            <p:nvPr/>
          </p:nvSpPr>
          <p:spPr>
            <a:xfrm>
              <a:off x="7208520" y="4138040"/>
              <a:ext cx="1140460" cy="0"/>
            </a:xfrm>
            <a:custGeom>
              <a:avLst/>
              <a:gdLst/>
              <a:ahLst/>
              <a:cxnLst/>
              <a:rect l="l" t="t" r="r" b="b"/>
              <a:pathLst>
                <a:path w="1140459">
                  <a:moveTo>
                    <a:pt x="0" y="0"/>
                  </a:moveTo>
                  <a:lnTo>
                    <a:pt x="1139952" y="0"/>
                  </a:lnTo>
                </a:path>
              </a:pathLst>
            </a:custGeom>
            <a:ln w="990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object 15">
              <a:extLst>
                <a:ext uri="{FF2B5EF4-FFF2-40B4-BE49-F238E27FC236}">
                  <a16:creationId xmlns:a16="http://schemas.microsoft.com/office/drawing/2014/main" id="{683A316F-733C-2DE6-273F-1920A2724EE2}"/>
                </a:ext>
              </a:extLst>
            </p:cNvPr>
            <p:cNvSpPr/>
            <p:nvPr/>
          </p:nvSpPr>
          <p:spPr>
            <a:xfrm>
              <a:off x="8377428" y="4133087"/>
              <a:ext cx="5080" cy="5080"/>
            </a:xfrm>
            <a:custGeom>
              <a:avLst/>
              <a:gdLst/>
              <a:ahLst/>
              <a:cxnLst/>
              <a:rect l="l" t="t" r="r" b="b"/>
              <a:pathLst>
                <a:path w="5079" h="5079">
                  <a:moveTo>
                    <a:pt x="0" y="4571"/>
                  </a:moveTo>
                  <a:lnTo>
                    <a:pt x="4571" y="4571"/>
                  </a:lnTo>
                  <a:lnTo>
                    <a:pt x="4571" y="0"/>
                  </a:lnTo>
                  <a:lnTo>
                    <a:pt x="0" y="0"/>
                  </a:lnTo>
                  <a:lnTo>
                    <a:pt x="0" y="45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8" name="object 17">
            <a:extLst>
              <a:ext uri="{FF2B5EF4-FFF2-40B4-BE49-F238E27FC236}">
                <a16:creationId xmlns:a16="http://schemas.microsoft.com/office/drawing/2014/main" id="{E44C0E9A-6AFA-074A-DA8E-A319A1261DEF}"/>
              </a:ext>
            </a:extLst>
          </p:cNvPr>
          <p:cNvSpPr txBox="1"/>
          <p:nvPr/>
        </p:nvSpPr>
        <p:spPr>
          <a:xfrm>
            <a:off x="343408" y="4215664"/>
            <a:ext cx="5699125" cy="14338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Another</a:t>
            </a:r>
            <a:r>
              <a:rPr kumimoji="0" sz="305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classically-built</a:t>
            </a:r>
            <a:r>
              <a:rPr kumimoji="0" sz="305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5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compiler</a:t>
            </a:r>
            <a:endParaRPr kumimoji="0" sz="30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89255" marR="0" lvl="0" indent="-376555" defTabSz="914400" eaLnBrk="1" fontAlgn="auto" latinLnBrk="0" hangingPunct="1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89255" algn="l"/>
              </a:tabLst>
              <a:defRPr/>
            </a:pP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r>
              <a:rPr kumimoji="0" sz="305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front</a:t>
            </a:r>
            <a:r>
              <a:rPr kumimoji="0" sz="305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ends,</a:t>
            </a:r>
            <a:r>
              <a:rPr kumimoji="0" sz="305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r>
              <a:rPr kumimoji="0" sz="305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back</a:t>
            </a:r>
            <a:r>
              <a:rPr kumimoji="0" sz="305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5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ends</a:t>
            </a:r>
            <a:endParaRPr kumimoji="0" sz="30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89255" marR="0" lvl="0" indent="-376555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89255" algn="l"/>
              </a:tabLst>
              <a:defRPr/>
            </a:pP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18</a:t>
            </a:r>
            <a:r>
              <a:rPr kumimoji="0" sz="305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passes,</a:t>
            </a:r>
            <a:r>
              <a:rPr kumimoji="0" sz="305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configurable</a:t>
            </a:r>
            <a:r>
              <a:rPr kumimoji="0" sz="305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5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order</a:t>
            </a:r>
            <a:endParaRPr kumimoji="0" sz="30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9" name="object 18">
            <a:extLst>
              <a:ext uri="{FF2B5EF4-FFF2-40B4-BE49-F238E27FC236}">
                <a16:creationId xmlns:a16="http://schemas.microsoft.com/office/drawing/2014/main" id="{82FDE4E1-76A5-72AE-376B-13A5DF27D1FE}"/>
              </a:ext>
            </a:extLst>
          </p:cNvPr>
          <p:cNvSpPr txBox="1"/>
          <p:nvPr/>
        </p:nvSpPr>
        <p:spPr>
          <a:xfrm>
            <a:off x="343407" y="5623864"/>
            <a:ext cx="6465563" cy="48538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9255" marR="0" lvl="0" indent="-376555" defTabSz="914400" eaLnBrk="1" fontAlgn="auto" latinLnBrk="0" hangingPunct="1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89255" algn="l"/>
              </a:tabLst>
              <a:defRPr/>
            </a:pPr>
            <a:r>
              <a:rPr kumimoji="0" sz="305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Two-</a:t>
            </a: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level</a:t>
            </a:r>
            <a:r>
              <a:rPr kumimoji="0" sz="3050" b="0" i="0" u="none" strike="noStrike" kern="0" cap="none" spc="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IR</a:t>
            </a:r>
            <a:r>
              <a:rPr kumimoji="0" sz="3050" b="0" i="0" u="none" strike="noStrike" kern="0" cap="none" spc="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(High</a:t>
            </a:r>
            <a:r>
              <a:rPr kumimoji="0" lang="en-US" sz="30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/</a:t>
            </a:r>
            <a:r>
              <a:rPr lang="en-US" sz="3050" kern="0" spc="25" dirty="0">
                <a:solidFill>
                  <a:sysClr val="windowText" lastClr="000000"/>
                </a:solidFill>
                <a:latin typeface="Arial"/>
                <a:cs typeface="Arial"/>
              </a:rPr>
              <a:t>Low</a:t>
            </a:r>
            <a:r>
              <a:rPr sz="3050" kern="0" spc="25" dirty="0">
                <a:solidFill>
                  <a:sysClr val="windowText" lastClr="000000"/>
                </a:solidFill>
                <a:latin typeface="Arial"/>
                <a:cs typeface="Arial"/>
              </a:rPr>
              <a:t> SUIF</a:t>
            </a:r>
            <a:r>
              <a:rPr lang="en-US" altLang="zh-CN" sz="3050" kern="0" spc="25" dirty="0">
                <a:solidFill>
                  <a:sysClr val="windowText" lastClr="000000"/>
                </a:solidFill>
                <a:latin typeface="Arial"/>
                <a:cs typeface="Arial"/>
              </a:rPr>
              <a:t>)</a:t>
            </a:r>
            <a:endParaRPr sz="3050" kern="0" spc="25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21" name="object 20">
            <a:extLst>
              <a:ext uri="{FF2B5EF4-FFF2-40B4-BE49-F238E27FC236}">
                <a16:creationId xmlns:a16="http://schemas.microsoft.com/office/drawing/2014/main" id="{171FDFC4-E5ED-9170-A8B3-1417D5FCEA78}"/>
              </a:ext>
            </a:extLst>
          </p:cNvPr>
          <p:cNvSpPr txBox="1"/>
          <p:nvPr/>
        </p:nvSpPr>
        <p:spPr>
          <a:xfrm>
            <a:off x="6684517" y="3426535"/>
            <a:ext cx="1364615" cy="19184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8455" marR="0" lvl="0" indent="0" defTabSz="914400" eaLnBrk="1" fontAlgn="auto" latinLnBrk="0" hangingPunct="1">
              <a:lnSpc>
                <a:spcPts val="201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Back</a:t>
            </a:r>
            <a:r>
              <a:rPr kumimoji="0" sz="175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 </a:t>
            </a:r>
            <a:r>
              <a:rPr kumimoji="0" sz="175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Rounded MT Bold"/>
                <a:cs typeface="Arial Rounded MT Bold"/>
              </a:rPr>
              <a:t>End</a:t>
            </a:r>
            <a:endParaRPr kumimoji="0" sz="17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Rounded MT Bold"/>
              <a:cs typeface="Arial Rounded MT Bold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Rounded MT Bold"/>
              <a:cs typeface="Arial Rounded MT Bold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Rounded MT Bold"/>
              <a:cs typeface="Arial Rounded MT Bold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9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Rounded MT Bold"/>
              <a:cs typeface="Arial Rounded MT Bold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22" name="object 21">
            <a:extLst>
              <a:ext uri="{FF2B5EF4-FFF2-40B4-BE49-F238E27FC236}">
                <a16:creationId xmlns:a16="http://schemas.microsoft.com/office/drawing/2014/main" id="{A1045068-4E17-BE14-9D70-6BB0F9846419}"/>
              </a:ext>
            </a:extLst>
          </p:cNvPr>
          <p:cNvSpPr txBox="1"/>
          <p:nvPr/>
        </p:nvSpPr>
        <p:spPr>
          <a:xfrm>
            <a:off x="343401" y="6093234"/>
            <a:ext cx="646557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9255" marR="0" lvl="0" indent="-376555" defTabSz="914400" eaLnBrk="1" fontAlgn="auto" latinLnBrk="0" hangingPunct="1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89255" algn="l"/>
              </a:tabLst>
              <a:defRPr/>
            </a:pP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Intended</a:t>
            </a:r>
            <a:r>
              <a:rPr kumimoji="0" sz="305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as</a:t>
            </a:r>
            <a:r>
              <a:rPr kumimoji="0" sz="305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research</a:t>
            </a:r>
            <a:r>
              <a:rPr kumimoji="0" sz="305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5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infrastructure</a:t>
            </a:r>
            <a:endParaRPr kumimoji="0" sz="3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27" name="object 33">
            <a:extLst>
              <a:ext uri="{FF2B5EF4-FFF2-40B4-BE49-F238E27FC236}">
                <a16:creationId xmlns:a16="http://schemas.microsoft.com/office/drawing/2014/main" id="{94D956EC-A9EA-8701-7936-C922A099EEB2}"/>
              </a:ext>
            </a:extLst>
          </p:cNvPr>
          <p:cNvSpPr txBox="1"/>
          <p:nvPr/>
        </p:nvSpPr>
        <p:spPr>
          <a:xfrm>
            <a:off x="6825803" y="3807239"/>
            <a:ext cx="1554480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50" b="0" i="1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cs typeface="Times New Roman"/>
              </a:rPr>
              <a:t>SSA</a:t>
            </a:r>
            <a:r>
              <a:rPr kumimoji="0" sz="1750" b="0" i="1" u="none" strike="noStrike" kern="0" cap="none" spc="-3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750" b="0" i="1" u="none" strike="noStrike" kern="0" cap="none" spc="-1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/>
                <a:cs typeface="Times New Roman"/>
              </a:rPr>
              <a:t>construction</a:t>
            </a:r>
            <a:endParaRPr kumimoji="0" sz="17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28" name="object 34">
            <a:extLst>
              <a:ext uri="{FF2B5EF4-FFF2-40B4-BE49-F238E27FC236}">
                <a16:creationId xmlns:a16="http://schemas.microsoft.com/office/drawing/2014/main" id="{931BC244-E536-4776-887F-7CBB2F39B409}"/>
              </a:ext>
            </a:extLst>
          </p:cNvPr>
          <p:cNvSpPr txBox="1"/>
          <p:nvPr/>
        </p:nvSpPr>
        <p:spPr>
          <a:xfrm>
            <a:off x="6373684" y="4048172"/>
            <a:ext cx="3350895" cy="2827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0380" algn="l"/>
              </a:tabLst>
              <a:defRPr/>
            </a:pPr>
            <a:r>
              <a:rPr kumimoji="0" sz="2625" b="0" i="1" u="none" strike="noStrike" kern="0" cap="none" spc="0" normalizeH="0" baseline="25396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1750" b="0" i="1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/>
                <a:cs typeface="Times New Roman"/>
              </a:rPr>
              <a:t>Dead code </a:t>
            </a:r>
            <a:r>
              <a:rPr kumimoji="0" sz="1750" b="0" i="1" u="none" strike="noStrike" kern="0" cap="none" spc="-1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/>
                <a:cs typeface="Times New Roman"/>
              </a:rPr>
              <a:t>elimination</a:t>
            </a:r>
            <a:endParaRPr kumimoji="0" sz="17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29" name="object 35">
            <a:extLst>
              <a:ext uri="{FF2B5EF4-FFF2-40B4-BE49-F238E27FC236}">
                <a16:creationId xmlns:a16="http://schemas.microsoft.com/office/drawing/2014/main" id="{57E778A7-46ED-5872-9757-45BD9695ADD6}"/>
              </a:ext>
            </a:extLst>
          </p:cNvPr>
          <p:cNvSpPr txBox="1"/>
          <p:nvPr/>
        </p:nvSpPr>
        <p:spPr>
          <a:xfrm>
            <a:off x="6349876" y="4276609"/>
            <a:ext cx="2502535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25" b="0" i="1" u="none" strike="noStrike" kern="0" cap="none" spc="697" normalizeH="0" baseline="25396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/>
                <a:cs typeface="Times New Roman"/>
              </a:rPr>
              <a:t>   </a:t>
            </a:r>
            <a:r>
              <a:rPr kumimoji="0" sz="2625" b="0" i="1" u="none" strike="noStrike" kern="0" cap="none" spc="697" normalizeH="0" baseline="25396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750" b="0" i="1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/>
                <a:cs typeface="Times New Roman"/>
              </a:rPr>
              <a:t>Constant</a:t>
            </a:r>
            <a:r>
              <a:rPr kumimoji="0" sz="1750" b="0" i="1" u="none" strike="noStrike" kern="0" cap="none" spc="1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750" b="0" i="1" u="none" strike="noStrike" kern="0" cap="none" spc="-1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/>
                <a:cs typeface="Times New Roman"/>
              </a:rPr>
              <a:t>propagation</a:t>
            </a:r>
            <a:endParaRPr kumimoji="0" sz="17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30" name="object 36">
            <a:extLst>
              <a:ext uri="{FF2B5EF4-FFF2-40B4-BE49-F238E27FC236}">
                <a16:creationId xmlns:a16="http://schemas.microsoft.com/office/drawing/2014/main" id="{CDF9019C-FED6-E567-F120-4A43F6C962CC}"/>
              </a:ext>
            </a:extLst>
          </p:cNvPr>
          <p:cNvSpPr txBox="1"/>
          <p:nvPr/>
        </p:nvSpPr>
        <p:spPr>
          <a:xfrm>
            <a:off x="6833872" y="4519533"/>
            <a:ext cx="2214880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50" b="0" i="1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/>
                <a:cs typeface="Times New Roman"/>
              </a:rPr>
              <a:t>Global</a:t>
            </a:r>
            <a:r>
              <a:rPr kumimoji="0" sz="1750" b="0" i="1" u="none" strike="noStrike" kern="0" cap="none" spc="5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750" b="0" i="1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/>
                <a:cs typeface="Times New Roman"/>
              </a:rPr>
              <a:t>value</a:t>
            </a:r>
            <a:r>
              <a:rPr kumimoji="0" sz="1750" b="0" i="1" u="none" strike="noStrike" kern="0" cap="none" spc="2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750" b="0" i="1" u="none" strike="noStrike" kern="0" cap="none" spc="-1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/>
                <a:cs typeface="Times New Roman"/>
              </a:rPr>
              <a:t>numbering</a:t>
            </a:r>
            <a:endParaRPr kumimoji="0" sz="17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31" name="object 37">
            <a:extLst>
              <a:ext uri="{FF2B5EF4-FFF2-40B4-BE49-F238E27FC236}">
                <a16:creationId xmlns:a16="http://schemas.microsoft.com/office/drawing/2014/main" id="{3142F78F-1D13-6DC9-E62C-CB74C8BD98AE}"/>
              </a:ext>
            </a:extLst>
          </p:cNvPr>
          <p:cNvSpPr txBox="1"/>
          <p:nvPr/>
        </p:nvSpPr>
        <p:spPr>
          <a:xfrm>
            <a:off x="6381753" y="4760466"/>
            <a:ext cx="2194560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0380" algn="l"/>
              </a:tabLst>
              <a:defRPr/>
            </a:pPr>
            <a:r>
              <a:rPr kumimoji="0" lang="en-US" sz="2625" b="0" i="1" u="none" strike="noStrike" kern="0" cap="none" spc="-30" normalizeH="0" baseline="25396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/>
                <a:cs typeface="Times New Roman"/>
              </a:rPr>
              <a:t>        </a:t>
            </a:r>
            <a:r>
              <a:rPr kumimoji="0" lang="en-US" sz="1750" b="0" i="1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/>
                <a:cs typeface="Times New Roman"/>
              </a:rPr>
              <a:t>S</a:t>
            </a:r>
            <a:r>
              <a:rPr kumimoji="0" sz="1750" b="0" i="1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/>
                <a:cs typeface="Times New Roman"/>
              </a:rPr>
              <a:t>trength</a:t>
            </a:r>
            <a:r>
              <a:rPr kumimoji="0" sz="1750" b="0" i="1" u="none" strike="noStrike" kern="0" cap="none" spc="-65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750" b="0" i="1" u="none" strike="noStrike" kern="0" cap="none" spc="-1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/>
                <a:cs typeface="Times New Roman"/>
              </a:rPr>
              <a:t>reduction</a:t>
            </a:r>
            <a:endParaRPr kumimoji="0" sz="17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32" name="object 38">
            <a:extLst>
              <a:ext uri="{FF2B5EF4-FFF2-40B4-BE49-F238E27FC236}">
                <a16:creationId xmlns:a16="http://schemas.microsoft.com/office/drawing/2014/main" id="{4AFCCAD6-3602-4ECF-3D4D-6328795DACDA}"/>
              </a:ext>
            </a:extLst>
          </p:cNvPr>
          <p:cNvSpPr txBox="1"/>
          <p:nvPr/>
        </p:nvSpPr>
        <p:spPr>
          <a:xfrm>
            <a:off x="6833872" y="5055996"/>
            <a:ext cx="1278890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50" b="0" i="1" u="none" strike="noStrike" kern="0" cap="none" spc="-1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/>
                <a:cs typeface="Times New Roman"/>
              </a:rPr>
              <a:t>Reassociation</a:t>
            </a:r>
            <a:endParaRPr kumimoji="0" sz="17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33" name="object 39">
            <a:extLst>
              <a:ext uri="{FF2B5EF4-FFF2-40B4-BE49-F238E27FC236}">
                <a16:creationId xmlns:a16="http://schemas.microsoft.com/office/drawing/2014/main" id="{8B9D8392-755E-09D7-F4EB-F7B402205D39}"/>
              </a:ext>
            </a:extLst>
          </p:cNvPr>
          <p:cNvSpPr txBox="1"/>
          <p:nvPr/>
        </p:nvSpPr>
        <p:spPr>
          <a:xfrm>
            <a:off x="6833872" y="5324228"/>
            <a:ext cx="2033905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50" b="0" i="1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/>
                <a:cs typeface="Times New Roman"/>
              </a:rPr>
              <a:t>Instruction</a:t>
            </a:r>
            <a:r>
              <a:rPr kumimoji="0" sz="1750" b="0" i="1" u="none" strike="noStrike" kern="0" cap="none" spc="3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750" b="0" i="1" u="none" strike="noStrike" kern="0" cap="none" spc="-1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/>
                <a:cs typeface="Times New Roman"/>
              </a:rPr>
              <a:t>scheduling</a:t>
            </a:r>
            <a:endParaRPr kumimoji="0" sz="17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34" name="object 40">
            <a:extLst>
              <a:ext uri="{FF2B5EF4-FFF2-40B4-BE49-F238E27FC236}">
                <a16:creationId xmlns:a16="http://schemas.microsoft.com/office/drawing/2014/main" id="{76A6BFE6-EC6E-8755-B737-B51EA4213A2E}"/>
              </a:ext>
            </a:extLst>
          </p:cNvPr>
          <p:cNvSpPr txBox="1"/>
          <p:nvPr/>
        </p:nvSpPr>
        <p:spPr>
          <a:xfrm>
            <a:off x="6349367" y="5565162"/>
            <a:ext cx="2247900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0380" algn="l"/>
              </a:tabLst>
              <a:defRPr/>
            </a:pPr>
            <a:r>
              <a:rPr kumimoji="0" lang="zh-CN" altLang="en-US" sz="2625" b="0" i="1" u="none" strike="noStrike" kern="0" cap="none" spc="0" normalizeH="0" baseline="25396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lang="en-US" sz="1750" b="0" i="1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/>
                <a:cs typeface="Times New Roman"/>
              </a:rPr>
              <a:t>Re</a:t>
            </a:r>
            <a:r>
              <a:rPr kumimoji="0" sz="1750" b="0" i="1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/>
                <a:cs typeface="Times New Roman"/>
              </a:rPr>
              <a:t>gister</a:t>
            </a:r>
            <a:r>
              <a:rPr kumimoji="0" sz="1750" b="0" i="1" u="none" strike="noStrike" kern="0" cap="none" spc="-5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750" b="0" i="1" u="none" strike="noStrike" kern="0" cap="none" spc="-1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/>
                <a:cs typeface="Times New Roman"/>
              </a:rPr>
              <a:t>allocation</a:t>
            </a:r>
            <a:endParaRPr kumimoji="0" sz="17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646628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标题 35843">
            <a:extLst>
              <a:ext uri="{FF2B5EF4-FFF2-40B4-BE49-F238E27FC236}">
                <a16:creationId xmlns:a16="http://schemas.microsoft.com/office/drawing/2014/main" id="{BC0BCEA3-7C53-8AE9-0E65-360B4D1770E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eaLnBrk="1" hangingPunct="1"/>
            <a:r>
              <a:rPr kumimoji="0" lang="en-US" altLang="zh-CN" sz="4400"/>
              <a:t>The end</a:t>
            </a:r>
          </a:p>
        </p:txBody>
      </p:sp>
      <p:sp>
        <p:nvSpPr>
          <p:cNvPr id="58370" name="副标题 35844">
            <a:extLst>
              <a:ext uri="{FF2B5EF4-FFF2-40B4-BE49-F238E27FC236}">
                <a16:creationId xmlns:a16="http://schemas.microsoft.com/office/drawing/2014/main" id="{E90E88FA-E044-E102-7292-1CD9D808088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/>
            <a:endParaRPr kumimoji="0"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35338104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531" name="表格 16530">
            <a:extLst>
              <a:ext uri="{FF2B5EF4-FFF2-40B4-BE49-F238E27FC236}">
                <a16:creationId xmlns:a16="http://schemas.microsoft.com/office/drawing/2014/main" id="{8EBC5799-CE35-BA4D-1661-D9E2C0187F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845388"/>
              </p:ext>
            </p:extLst>
          </p:nvPr>
        </p:nvGraphicFramePr>
        <p:xfrm>
          <a:off x="380940" y="1831975"/>
          <a:ext cx="8305800" cy="4397376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0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44626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Description of compiler phases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29" marB="4572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33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Chapter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Phase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Description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30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2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Lex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Break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the source file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 into individual words, or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tokens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30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3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Parse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Analyze the phrase structure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 of the program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33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4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Parsing Actions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Build a piece of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abstract syntax tree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 corresponding to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each phrase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759" name="文本框 16515">
            <a:extLst>
              <a:ext uri="{FF2B5EF4-FFF2-40B4-BE49-F238E27FC236}">
                <a16:creationId xmlns:a16="http://schemas.microsoft.com/office/drawing/2014/main" id="{62FF08F3-C516-14E3-B69B-9ECD59B30E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04800"/>
            <a:ext cx="5562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kumimoji="0" lang="en-US" altLang="zh-CN" sz="2000" b="1"/>
              <a:t>1.1 Modules and Interfaces: Phases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4581F33-265D-41C5-6B94-8C7FBA768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396" y="701675"/>
            <a:ext cx="3289300" cy="18542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098" name="表格 45097">
            <a:extLst>
              <a:ext uri="{FF2B5EF4-FFF2-40B4-BE49-F238E27FC236}">
                <a16:creationId xmlns:a16="http://schemas.microsoft.com/office/drawing/2014/main" id="{C59A3317-88BE-495C-B6E9-51A65A3878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1712362"/>
              </p:ext>
            </p:extLst>
          </p:nvPr>
        </p:nvGraphicFramePr>
        <p:xfrm>
          <a:off x="419116" y="1208134"/>
          <a:ext cx="8534400" cy="5364166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7387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Description of compiler phases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13" marB="45713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1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Chapter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13" marB="4571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Phase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13" marB="4571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Description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13" marB="4571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6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5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13" marB="4571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Semantic Analysis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13" marB="4571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Determine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 what each phrase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 means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Relate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 uses of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variables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 to their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definitions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Check types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 of expressions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Request translation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 of each phrase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13" marB="4571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6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13" marB="4571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Frame Layout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13" marB="4571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Place variables, function-parameters, etc. into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activation records (stack frames)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 in a machine-dependent way.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13" marB="4571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5446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7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13" marB="4571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Translate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13" marB="4571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Produce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intermediate representation trees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 (IR trees)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Not tied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 to any particular source language or target-machine architecture.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13" marB="4571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783" name="文本框 45084">
            <a:extLst>
              <a:ext uri="{FF2B5EF4-FFF2-40B4-BE49-F238E27FC236}">
                <a16:creationId xmlns:a16="http://schemas.microsoft.com/office/drawing/2014/main" id="{64100310-8B46-1663-5615-1BCC3FF02E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04800"/>
            <a:ext cx="5562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kumimoji="0" lang="en-US" altLang="zh-CN" sz="2000" b="1"/>
              <a:t>1.1 Modules and Interfaces: Phases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74ADE6C-CB6F-1C66-6A24-34E6FE189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168" y="60"/>
            <a:ext cx="2514534" cy="2284946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84" name="表格 17483">
            <a:extLst>
              <a:ext uri="{FF2B5EF4-FFF2-40B4-BE49-F238E27FC236}">
                <a16:creationId xmlns:a16="http://schemas.microsoft.com/office/drawing/2014/main" id="{27EF4626-64B2-01E9-5F4B-E09C68DF8744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914400"/>
          <a:ext cx="8534400" cy="5303839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9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7482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Description of compiler phases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16" marB="4571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400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Chapter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Phase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Description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9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8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Canonicalize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Hoist side effects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 out of expressions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Clean up conditional branches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for the convenience of the next phases.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9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9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Instruction Selection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Group the IR-tree nodes into clumps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 that correspond to the actions of target-machine instructions.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544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10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Control Flow Analysis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Analyze the sequence of instructions into a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control flow graph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 that shows all the possible flows of control the program might follow when it executes.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807" name="文本框 17464">
            <a:extLst>
              <a:ext uri="{FF2B5EF4-FFF2-40B4-BE49-F238E27FC236}">
                <a16:creationId xmlns:a16="http://schemas.microsoft.com/office/drawing/2014/main" id="{62C1E911-CB37-850E-9855-771575B595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04800"/>
            <a:ext cx="5562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kumimoji="0" lang="en-US" altLang="zh-CN" sz="2000" b="1"/>
              <a:t>1.1 Modules and Interfaces: Phases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19A4569-3BD5-3F8C-1EC1-08CA1FCC1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100" y="701725"/>
            <a:ext cx="2971800" cy="11049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C1B041D-615C-DDDF-3592-A8AC7286B6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800" y="715219"/>
            <a:ext cx="1257300" cy="13462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115" name="表格 46114">
            <a:extLst>
              <a:ext uri="{FF2B5EF4-FFF2-40B4-BE49-F238E27FC236}">
                <a16:creationId xmlns:a16="http://schemas.microsoft.com/office/drawing/2014/main" id="{89CDCDC2-3E25-4723-671E-B4E77638F73E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1066800"/>
          <a:ext cx="8534400" cy="5273676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48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7472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Description of compiler phases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24" marB="4572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8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Chapter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24" marB="4572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Phase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24" marB="4572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Description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24" marB="4572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06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10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24" marB="4572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Dataflow Analysis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24" marB="4572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Gather information about the flow of information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 through variables of the program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For example,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liveness analysis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 calculates the places where each program variable holds a still-needed value (is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live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)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24" marB="4572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544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11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24" marB="4572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Register Allocation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24" marB="4572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Choose a register to hold each of the variables and temporary values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 used by the program; variables not live at the same time can share the same register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24" marB="4572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38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12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24" marB="4572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Code Emission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24" marB="4572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Replace the temporary names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 in each machine instruction with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machine registers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24" marB="4572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831" name="文本框 46108">
            <a:extLst>
              <a:ext uri="{FF2B5EF4-FFF2-40B4-BE49-F238E27FC236}">
                <a16:creationId xmlns:a16="http://schemas.microsoft.com/office/drawing/2014/main" id="{54630BB8-2183-0EFA-0CD0-E1A9A2DA74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04800"/>
            <a:ext cx="5562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kumimoji="0" lang="en-US" altLang="zh-CN" sz="2000" b="1"/>
              <a:t>1.1 Modules and Interfaces: phases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BFEB3B2-CD0F-79C3-881B-489702D2E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7128" y="0"/>
            <a:ext cx="3625872" cy="206697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文本框 13313">
            <a:extLst>
              <a:ext uri="{FF2B5EF4-FFF2-40B4-BE49-F238E27FC236}">
                <a16:creationId xmlns:a16="http://schemas.microsoft.com/office/drawing/2014/main" id="{7B937FC4-84BA-DDF3-9694-A6913C99B8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04800"/>
            <a:ext cx="678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kumimoji="0" lang="en-US" altLang="zh-CN" sz="2000" b="1"/>
              <a:t>1.1 Modules and Interfaces: </a:t>
            </a:r>
            <a:r>
              <a:rPr kumimoji="0" lang="en-US" altLang="zh-CN" sz="2400" b="1"/>
              <a:t>Modularization</a:t>
            </a:r>
          </a:p>
        </p:txBody>
      </p:sp>
      <p:pic>
        <p:nvPicPr>
          <p:cNvPr id="35842" name="图片 13315" descr="1-1-phases-of-compiler">
            <a:extLst>
              <a:ext uri="{FF2B5EF4-FFF2-40B4-BE49-F238E27FC236}">
                <a16:creationId xmlns:a16="http://schemas.microsoft.com/office/drawing/2014/main" id="{658454E2-B9F1-6F9B-2EE4-396AEA4C42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990600"/>
            <a:ext cx="685800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3" name="矩形 13316">
            <a:extLst>
              <a:ext uri="{FF2B5EF4-FFF2-40B4-BE49-F238E27FC236}">
                <a16:creationId xmlns:a16="http://schemas.microsoft.com/office/drawing/2014/main" id="{552C66C5-255A-933E-4A59-C732984053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962400"/>
            <a:ext cx="8001000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4013" indent="-354013"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itchFamily="2" charset="2"/>
              <a:buChar char="l"/>
            </a:pPr>
            <a:r>
              <a:rPr kumimoji="0" lang="en-US" altLang="zh-CN" sz="2400">
                <a:solidFill>
                  <a:srgbClr val="FF0000"/>
                </a:solidFill>
              </a:rPr>
              <a:t>Several modules maybe combined into one phase</a:t>
            </a:r>
            <a:r>
              <a:rPr kumimoji="0" lang="en-US" altLang="zh-CN" sz="2400"/>
              <a:t>: Parse, Semantic Analysis, Translate, Canonicalize</a:t>
            </a:r>
          </a:p>
          <a:p>
            <a:pPr eaLnBrk="1" hangingPunct="1">
              <a:buFont typeface="Wingdings" pitchFamily="2" charset="2"/>
              <a:buChar char="l"/>
            </a:pPr>
            <a:r>
              <a:rPr kumimoji="0" lang="en-US" altLang="zh-CN" sz="2400">
                <a:solidFill>
                  <a:srgbClr val="FF0000"/>
                </a:solidFill>
              </a:rPr>
              <a:t>Instruction Selection</a:t>
            </a:r>
            <a:r>
              <a:rPr kumimoji="0" lang="en-US" altLang="zh-CN" sz="2400"/>
              <a:t> </a:t>
            </a:r>
            <a:r>
              <a:rPr kumimoji="0" lang="en-US" altLang="zh-CN" sz="2400">
                <a:solidFill>
                  <a:srgbClr val="FF0000"/>
                </a:solidFill>
              </a:rPr>
              <a:t>maybe combined with Code Emission</a:t>
            </a:r>
          </a:p>
          <a:p>
            <a:pPr eaLnBrk="1" hangingPunct="1">
              <a:buFont typeface="Wingdings" pitchFamily="2" charset="2"/>
              <a:buChar char="l"/>
            </a:pPr>
            <a:r>
              <a:rPr kumimoji="0" lang="en-US" altLang="zh-CN" sz="2400">
                <a:solidFill>
                  <a:srgbClr val="FF0000"/>
                </a:solidFill>
              </a:rPr>
              <a:t>Simple compilers</a:t>
            </a:r>
            <a:r>
              <a:rPr kumimoji="0" lang="en-US" altLang="zh-CN" sz="2400"/>
              <a:t> may omit the Control Flow Analysis, Data Flow Analysis, and Register Allocation phases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文本框 12289">
            <a:extLst>
              <a:ext uri="{FF2B5EF4-FFF2-40B4-BE49-F238E27FC236}">
                <a16:creationId xmlns:a16="http://schemas.microsoft.com/office/drawing/2014/main" id="{F7E480A6-0555-5DA9-5CF9-1FA6FDBCB8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04800"/>
            <a:ext cx="5562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kumimoji="0" lang="en-US" altLang="zh-CN" sz="2000" b="1"/>
              <a:t>1.1 Modules and Interfaces: </a:t>
            </a:r>
            <a:r>
              <a:rPr kumimoji="0" lang="en-US" altLang="zh-CN" sz="1800" b="1"/>
              <a:t>Interfaces</a:t>
            </a:r>
          </a:p>
        </p:txBody>
      </p:sp>
      <p:sp>
        <p:nvSpPr>
          <p:cNvPr id="37890" name="文本框 12290">
            <a:extLst>
              <a:ext uri="{FF2B5EF4-FFF2-40B4-BE49-F238E27FC236}">
                <a16:creationId xmlns:a16="http://schemas.microsoft.com/office/drawing/2014/main" id="{B7D7B619-BE2D-C1A4-E931-671A5420C4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114425"/>
            <a:ext cx="8153400" cy="15700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Arial" charset="0"/>
              <a:buNone/>
              <a:defRPr/>
            </a:pPr>
            <a:r>
              <a:rPr kumimoji="0" lang="en-US" altLang="zh-CN" dirty="0"/>
              <a:t>The data structures: </a:t>
            </a:r>
            <a:r>
              <a:rPr kumimoji="0" lang="en-US" altLang="zh-CN" sz="2000" i="1" dirty="0"/>
              <a:t>Abstract Syntax, IR Trees </a:t>
            </a:r>
            <a:r>
              <a:rPr kumimoji="0" lang="en-US" altLang="zh-CN" sz="2000" dirty="0"/>
              <a:t>and</a:t>
            </a:r>
            <a:r>
              <a:rPr kumimoji="0" lang="en-US" altLang="zh-CN" sz="2000" i="1" dirty="0"/>
              <a:t> </a:t>
            </a:r>
            <a:r>
              <a:rPr kumimoji="0" lang="en-US" altLang="zh-CN" sz="2000" i="1" dirty="0" err="1"/>
              <a:t>Assem</a:t>
            </a:r>
            <a:r>
              <a:rPr kumimoji="0" lang="en-US" altLang="zh-CN" sz="2000" dirty="0"/>
              <a:t>.</a:t>
            </a:r>
          </a:p>
          <a:p>
            <a:pPr eaLnBrk="1" hangingPunct="1">
              <a:spcBef>
                <a:spcPct val="50000"/>
              </a:spcBef>
              <a:buFont typeface="Arial" charset="0"/>
              <a:buNone/>
              <a:defRPr/>
            </a:pPr>
            <a:r>
              <a:rPr kumimoji="0" lang="en-US" altLang="zh-CN" dirty="0"/>
              <a:t>A set of functions: </a:t>
            </a:r>
            <a:r>
              <a:rPr kumimoji="0" lang="en-US" altLang="zh-CN" sz="2000" dirty="0"/>
              <a:t>The</a:t>
            </a:r>
            <a:r>
              <a:rPr kumimoji="0" lang="en-US" altLang="zh-CN" sz="2000" i="1" dirty="0"/>
              <a:t> translate</a:t>
            </a:r>
            <a:r>
              <a:rPr kumimoji="0" lang="en-US" altLang="zh-CN" sz="2000" dirty="0"/>
              <a:t> interface</a:t>
            </a:r>
            <a:r>
              <a:rPr kumimoji="0" lang="en-US" altLang="zh-CN" dirty="0"/>
              <a:t> </a:t>
            </a:r>
          </a:p>
          <a:p>
            <a:pPr marL="342900" indent="-342900" eaLnBrk="1" hangingPunct="1">
              <a:spcBef>
                <a:spcPct val="50000"/>
              </a:spcBef>
              <a:buFont typeface="Wingdings" charset="2"/>
              <a:buChar char="Ø"/>
              <a:defRPr/>
            </a:pPr>
            <a:r>
              <a:rPr kumimoji="0" lang="en-US" altLang="zh-CN" dirty="0"/>
              <a:t>A function called by parser: </a:t>
            </a:r>
            <a:r>
              <a:rPr kumimoji="0" lang="en-US" altLang="zh-CN" sz="2000" dirty="0"/>
              <a:t>The </a:t>
            </a:r>
            <a:r>
              <a:rPr kumimoji="0" lang="en-US" altLang="zh-CN" sz="2000" i="1" dirty="0"/>
              <a:t>token</a:t>
            </a:r>
            <a:r>
              <a:rPr kumimoji="0" lang="en-US" altLang="zh-CN" sz="2000" dirty="0"/>
              <a:t> interface</a:t>
            </a:r>
            <a:r>
              <a:rPr kumimoji="0" lang="en-US" altLang="zh-CN" dirty="0"/>
              <a:t> </a:t>
            </a:r>
          </a:p>
        </p:txBody>
      </p:sp>
      <p:pic>
        <p:nvPicPr>
          <p:cNvPr id="37891" name="图片 12291" descr="1-1-phases-of-compiler">
            <a:extLst>
              <a:ext uri="{FF2B5EF4-FFF2-40B4-BE49-F238E27FC236}">
                <a16:creationId xmlns:a16="http://schemas.microsoft.com/office/drawing/2014/main" id="{2A3D72AD-9C70-A55E-0465-B8DA5EE388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684463"/>
            <a:ext cx="8381884" cy="409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标题 19457">
            <a:extLst>
              <a:ext uri="{FF2B5EF4-FFF2-40B4-BE49-F238E27FC236}">
                <a16:creationId xmlns:a16="http://schemas.microsoft.com/office/drawing/2014/main" id="{7A21ECF4-7DC8-A9AC-2FA9-1AEB452CAFD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eaLnBrk="1" hangingPunct="1"/>
            <a:r>
              <a:rPr kumimoji="0" lang="en-US" altLang="zh-CN" sz="4400" b="1"/>
              <a:t>1.2 Tools and Software</a:t>
            </a:r>
          </a:p>
        </p:txBody>
      </p:sp>
      <p:sp>
        <p:nvSpPr>
          <p:cNvPr id="38914" name="副标题 19458">
            <a:extLst>
              <a:ext uri="{FF2B5EF4-FFF2-40B4-BE49-F238E27FC236}">
                <a16:creationId xmlns:a16="http://schemas.microsoft.com/office/drawing/2014/main" id="{615F2FFA-24AF-F77C-645E-F1B1C115C97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/>
            <a:endParaRPr kumimoji="0" lang="en-US" altLang="zh-CN" sz="3200" b="1"/>
          </a:p>
          <a:p>
            <a:pPr eaLnBrk="1" hangingPunct="1"/>
            <a:endParaRPr kumimoji="0" lang="en-US" altLang="zh-CN" sz="3200" b="1"/>
          </a:p>
          <a:p>
            <a:pPr eaLnBrk="1" hangingPunct="1"/>
            <a:endParaRPr kumimoji="0" lang="en-US" altLang="zh-CN" sz="3200" b="1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文本框 14337">
            <a:extLst>
              <a:ext uri="{FF2B5EF4-FFF2-40B4-BE49-F238E27FC236}">
                <a16:creationId xmlns:a16="http://schemas.microsoft.com/office/drawing/2014/main" id="{73566D7E-A6FC-D336-10DE-1FF24F217B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04800"/>
            <a:ext cx="5562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kumimoji="0" lang="en-US" altLang="zh-CN" sz="2000" b="1"/>
              <a:t>1.2 Tools and Software</a:t>
            </a:r>
          </a:p>
        </p:txBody>
      </p:sp>
      <p:sp>
        <p:nvSpPr>
          <p:cNvPr id="39938" name="文本框 14338">
            <a:extLst>
              <a:ext uri="{FF2B5EF4-FFF2-40B4-BE49-F238E27FC236}">
                <a16:creationId xmlns:a16="http://schemas.microsoft.com/office/drawing/2014/main" id="{F15AC831-3286-0199-C127-9099F947D2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066800"/>
            <a:ext cx="8153400" cy="492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42913" indent="-442913"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165225" indent="-531813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kumimoji="0" lang="en-US" altLang="zh-CN" sz="2400" b="1" dirty="0"/>
              <a:t>Two of the most useful abstractions:</a:t>
            </a:r>
            <a:r>
              <a:rPr kumimoji="0" lang="en-US" altLang="zh-CN" sz="2400" dirty="0"/>
              <a:t> </a:t>
            </a:r>
          </a:p>
          <a:p>
            <a:pPr lvl="1" eaLnBrk="1" hangingPunct="1">
              <a:spcBef>
                <a:spcPct val="50000"/>
              </a:spcBef>
              <a:buFont typeface="Arial" panose="020B0604020202020204" pitchFamily="34" charset="0"/>
              <a:buAutoNum type="arabicParenBoth"/>
            </a:pPr>
            <a:r>
              <a:rPr kumimoji="0" lang="en-US" altLang="zh-CN" sz="2400" dirty="0"/>
              <a:t> </a:t>
            </a:r>
            <a:r>
              <a:rPr kumimoji="0" lang="en-US" altLang="zh-CN" sz="2400" dirty="0">
                <a:solidFill>
                  <a:srgbClr val="FF0000"/>
                </a:solidFill>
              </a:rPr>
              <a:t>Regular expressions</a:t>
            </a:r>
            <a:r>
              <a:rPr kumimoji="0" lang="en-US" altLang="zh-CN" sz="2400" dirty="0"/>
              <a:t> for lexical analysis.</a:t>
            </a:r>
          </a:p>
          <a:p>
            <a:pPr lvl="1" eaLnBrk="1" hangingPunct="1">
              <a:spcBef>
                <a:spcPct val="50000"/>
              </a:spcBef>
              <a:buFont typeface="Arial" panose="020B0604020202020204" pitchFamily="34" charset="0"/>
              <a:buAutoNum type="arabicParenBoth"/>
            </a:pPr>
            <a:r>
              <a:rPr kumimoji="0" lang="en-US" altLang="zh-CN" sz="2400" dirty="0"/>
              <a:t> </a:t>
            </a:r>
            <a:r>
              <a:rPr kumimoji="0" lang="en-US" altLang="zh-CN" sz="2400" dirty="0">
                <a:solidFill>
                  <a:srgbClr val="FF0000"/>
                </a:solidFill>
              </a:rPr>
              <a:t>Context-free grammars</a:t>
            </a:r>
            <a:r>
              <a:rPr kumimoji="0" lang="en-US" altLang="zh-CN" sz="2400" dirty="0"/>
              <a:t> for parsing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endParaRPr kumimoji="0" lang="en-US" altLang="zh-CN" sz="2400" b="1" dirty="0"/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kumimoji="0" lang="en-US" altLang="zh-CN" sz="2400" b="1" dirty="0"/>
              <a:t>Two tools for compiling: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kumimoji="0" lang="en-US" altLang="zh-CN" sz="2400" b="1" dirty="0"/>
              <a:t>	</a:t>
            </a:r>
            <a:r>
              <a:rPr kumimoji="0" lang="en-US" altLang="zh-CN" sz="2400" dirty="0"/>
              <a:t> (2)  Lex converts a declarative specification into a        	 lexical analysis program</a:t>
            </a:r>
            <a:endParaRPr kumimoji="0" lang="en-US" altLang="zh-CN" sz="2400" b="1" dirty="0"/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kumimoji="0" lang="en-US" altLang="zh-CN" sz="2400" b="1" dirty="0"/>
              <a:t>      </a:t>
            </a:r>
            <a:r>
              <a:rPr kumimoji="0" lang="en-US" altLang="zh-CN" sz="2400" dirty="0"/>
              <a:t>(2) </a:t>
            </a:r>
            <a:r>
              <a:rPr kumimoji="0" lang="en-US" altLang="zh-CN" sz="2400" dirty="0" err="1"/>
              <a:t>Yacc</a:t>
            </a:r>
            <a:r>
              <a:rPr kumimoji="0" lang="en-US" altLang="zh-CN" sz="2400" dirty="0"/>
              <a:t> converts a grammar into a parsing program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kumimoji="0" lang="en-US" altLang="zh-CN" sz="2000" dirty="0"/>
              <a:t>The programming project in the book can be compiled using any ANSI-standard C compiler, along with</a:t>
            </a:r>
            <a:r>
              <a:rPr kumimoji="0" lang="en-US" altLang="zh-CN" sz="2000" i="1" dirty="0"/>
              <a:t> Lex</a:t>
            </a:r>
            <a:r>
              <a:rPr kumimoji="0" lang="en-US" altLang="zh-CN" sz="2000" dirty="0"/>
              <a:t> and </a:t>
            </a:r>
            <a:r>
              <a:rPr kumimoji="0" lang="en-US" altLang="zh-CN" sz="2000" i="1" dirty="0" err="1"/>
              <a:t>Yacc</a:t>
            </a:r>
            <a:r>
              <a:rPr kumimoji="0" lang="en-US" altLang="zh-CN" sz="2000" i="1" dirty="0"/>
              <a:t>.</a:t>
            </a:r>
            <a:endParaRPr kumimoji="0" lang="en-US" altLang="zh-CN" sz="2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标题 20481">
            <a:extLst>
              <a:ext uri="{FF2B5EF4-FFF2-40B4-BE49-F238E27FC236}">
                <a16:creationId xmlns:a16="http://schemas.microsoft.com/office/drawing/2014/main" id="{87AA3B97-DE79-5A27-6890-8FAA35070CE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eaLnBrk="1" hangingPunct="1"/>
            <a:r>
              <a:rPr kumimoji="0" lang="en-US" altLang="zh-CN" sz="4400" b="1"/>
              <a:t>1.3 Data structures for tree languages</a:t>
            </a:r>
          </a:p>
        </p:txBody>
      </p:sp>
      <p:sp>
        <p:nvSpPr>
          <p:cNvPr id="40962" name="副标题 20482">
            <a:extLst>
              <a:ext uri="{FF2B5EF4-FFF2-40B4-BE49-F238E27FC236}">
                <a16:creationId xmlns:a16="http://schemas.microsoft.com/office/drawing/2014/main" id="{47A9133A-156A-DEBC-7169-206B524E9E3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/>
            <a:endParaRPr kumimoji="0" lang="zh-CN" altLang="en-US" sz="32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文本框 21505">
            <a:extLst>
              <a:ext uri="{FF2B5EF4-FFF2-40B4-BE49-F238E27FC236}">
                <a16:creationId xmlns:a16="http://schemas.microsoft.com/office/drawing/2014/main" id="{6198A1BB-213C-8120-6B9E-4B30312D09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04800"/>
            <a:ext cx="6629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kumimoji="0" lang="en-US" altLang="zh-CN" sz="2000" b="1"/>
              <a:t>1.3 Data Structure For Tree Languages: Concepts</a:t>
            </a:r>
          </a:p>
        </p:txBody>
      </p:sp>
      <p:sp>
        <p:nvSpPr>
          <p:cNvPr id="41986" name="文本框 21506">
            <a:extLst>
              <a:ext uri="{FF2B5EF4-FFF2-40B4-BE49-F238E27FC236}">
                <a16:creationId xmlns:a16="http://schemas.microsoft.com/office/drawing/2014/main" id="{E0816CCA-E5DA-B659-A4AE-76E8655BB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066800"/>
            <a:ext cx="8153400" cy="371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  <a:buFont typeface="Arial" panose="020B0604020202020204" pitchFamily="34" charset="0"/>
              <a:buNone/>
            </a:pPr>
            <a:r>
              <a:rPr kumimoji="0" lang="en-US" altLang="zh-CN" sz="2400" b="1" i="1" dirty="0"/>
              <a:t>Intermediate representations</a:t>
            </a:r>
            <a:r>
              <a:rPr kumimoji="0" lang="en-US" altLang="zh-CN" sz="2400" b="1" dirty="0"/>
              <a:t> : </a:t>
            </a:r>
          </a:p>
          <a:p>
            <a:pPr lvl="1" eaLnBrk="1" hangingPunct="1">
              <a:spcBef>
                <a:spcPct val="10000"/>
              </a:spcBef>
              <a:buFont typeface="Wingdings" pitchFamily="2" charset="2"/>
              <a:buChar char="l"/>
            </a:pPr>
            <a:r>
              <a:rPr kumimoji="0" lang="en-US" altLang="zh-CN" sz="2400" b="1" dirty="0"/>
              <a:t> The form of a compiling program</a:t>
            </a:r>
          </a:p>
          <a:p>
            <a:pPr lvl="2" eaLnBrk="1" hangingPunct="1">
              <a:spcBef>
                <a:spcPct val="10000"/>
              </a:spcBef>
              <a:buFont typeface="Wingdings" pitchFamily="2" charset="2"/>
              <a:buChar char="Ø"/>
            </a:pPr>
            <a:r>
              <a:rPr kumimoji="0" lang="en-US" altLang="zh-CN" b="1" dirty="0">
                <a:solidFill>
                  <a:srgbClr val="FF0000"/>
                </a:solidFill>
              </a:rPr>
              <a:t>Often</a:t>
            </a:r>
            <a:r>
              <a:rPr kumimoji="0" lang="zh-CN" altLang="en-US" b="1" dirty="0">
                <a:solidFill>
                  <a:srgbClr val="FF0000"/>
                </a:solidFill>
              </a:rPr>
              <a:t> </a:t>
            </a:r>
            <a:r>
              <a:rPr kumimoji="0" lang="en-US" altLang="zh-CN" b="1" dirty="0">
                <a:solidFill>
                  <a:srgbClr val="FF0000"/>
                </a:solidFill>
              </a:rPr>
              <a:t>takes</a:t>
            </a:r>
            <a:r>
              <a:rPr kumimoji="0" lang="zh-CN" altLang="en-US" b="1" dirty="0">
                <a:solidFill>
                  <a:srgbClr val="FF0000"/>
                </a:solidFill>
              </a:rPr>
              <a:t> </a:t>
            </a:r>
            <a:r>
              <a:rPr kumimoji="0" lang="en-US" altLang="zh-CN" b="1" dirty="0">
                <a:solidFill>
                  <a:srgbClr val="FF0000"/>
                </a:solidFill>
              </a:rPr>
              <a:t>the</a:t>
            </a:r>
            <a:r>
              <a:rPr kumimoji="0" lang="zh-CN" altLang="en-US" b="1" dirty="0">
                <a:solidFill>
                  <a:srgbClr val="FF0000"/>
                </a:solidFill>
              </a:rPr>
              <a:t> </a:t>
            </a:r>
            <a:r>
              <a:rPr kumimoji="0" lang="en-US" altLang="zh-CN" b="1" dirty="0">
                <a:solidFill>
                  <a:srgbClr val="FF0000"/>
                </a:solidFill>
              </a:rPr>
              <a:t>form</a:t>
            </a:r>
            <a:r>
              <a:rPr kumimoji="0" lang="zh-CN" altLang="en-US" b="1" dirty="0">
                <a:solidFill>
                  <a:srgbClr val="FF0000"/>
                </a:solidFill>
              </a:rPr>
              <a:t> </a:t>
            </a:r>
            <a:r>
              <a:rPr kumimoji="0" lang="en-US" altLang="zh-CN" b="1" dirty="0">
                <a:solidFill>
                  <a:srgbClr val="FF0000"/>
                </a:solidFill>
              </a:rPr>
              <a:t>of</a:t>
            </a:r>
            <a:r>
              <a:rPr kumimoji="0" lang="zh-CN" altLang="en-US" b="1" dirty="0">
                <a:solidFill>
                  <a:srgbClr val="FF0000"/>
                </a:solidFill>
              </a:rPr>
              <a:t> </a:t>
            </a:r>
            <a:r>
              <a:rPr kumimoji="0" lang="en-US" altLang="zh-CN" b="1" dirty="0">
                <a:solidFill>
                  <a:srgbClr val="FF0000"/>
                </a:solidFill>
              </a:rPr>
              <a:t>trees</a:t>
            </a:r>
          </a:p>
          <a:p>
            <a:pPr eaLnBrk="1" hangingPunct="1">
              <a:spcBef>
                <a:spcPct val="10000"/>
              </a:spcBef>
              <a:buFont typeface="Arial" panose="020B0604020202020204" pitchFamily="34" charset="0"/>
              <a:buNone/>
            </a:pPr>
            <a:endParaRPr kumimoji="0" lang="en-US" altLang="zh-CN" sz="2400" b="1" dirty="0"/>
          </a:p>
          <a:p>
            <a:pPr eaLnBrk="1" hangingPunct="1">
              <a:spcBef>
                <a:spcPct val="10000"/>
              </a:spcBef>
              <a:buFont typeface="Arial" panose="020B0604020202020204" pitchFamily="34" charset="0"/>
              <a:buNone/>
            </a:pPr>
            <a:r>
              <a:rPr kumimoji="0" lang="en-US" altLang="zh-CN" sz="2400" b="1" dirty="0"/>
              <a:t>Trees representation: </a:t>
            </a:r>
          </a:p>
          <a:p>
            <a:pPr lvl="1" eaLnBrk="1" hangingPunct="1">
              <a:spcBef>
                <a:spcPct val="10000"/>
              </a:spcBef>
              <a:buFont typeface="Wingdings" pitchFamily="2" charset="2"/>
              <a:buChar char="l"/>
            </a:pPr>
            <a:r>
              <a:rPr kumimoji="0" lang="en-US" altLang="zh-CN" sz="2400" b="1" dirty="0"/>
              <a:t> The main representation forms</a:t>
            </a:r>
          </a:p>
          <a:p>
            <a:pPr lvl="1" eaLnBrk="1" hangingPunct="1">
              <a:spcBef>
                <a:spcPct val="10000"/>
              </a:spcBef>
              <a:buFont typeface="Wingdings" pitchFamily="2" charset="2"/>
              <a:buChar char="l"/>
            </a:pPr>
            <a:r>
              <a:rPr kumimoji="0" lang="en-US" altLang="zh-CN" sz="2400" b="1" dirty="0"/>
              <a:t> Several node types with different attributes</a:t>
            </a:r>
          </a:p>
          <a:p>
            <a:pPr lvl="1" eaLnBrk="1" hangingPunct="1">
              <a:spcBef>
                <a:spcPct val="10000"/>
              </a:spcBef>
              <a:buFont typeface="Wingdings" pitchFamily="2" charset="2"/>
              <a:buChar char="l"/>
            </a:pPr>
            <a:r>
              <a:rPr kumimoji="0" lang="en-US" altLang="zh-CN" sz="2400" b="1" dirty="0"/>
              <a:t> Described with grammars like programming </a:t>
            </a:r>
          </a:p>
          <a:p>
            <a:pPr lvl="1" eaLnBrk="1" hangingPunct="1">
              <a:spcBef>
                <a:spcPct val="10000"/>
              </a:spcBef>
              <a:buFont typeface="Wingdings" pitchFamily="2" charset="2"/>
              <a:buNone/>
            </a:pPr>
            <a:r>
              <a:rPr kumimoji="0" lang="en-US" altLang="zh-CN" sz="2400" b="1" dirty="0"/>
              <a:t>    languages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600" name="表格 22599">
            <a:extLst>
              <a:ext uri="{FF2B5EF4-FFF2-40B4-BE49-F238E27FC236}">
                <a16:creationId xmlns:a16="http://schemas.microsoft.com/office/drawing/2014/main" id="{91D07B66-C9E5-322C-FCA3-3AEA8EBBDA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921292"/>
              </p:ext>
            </p:extLst>
          </p:nvPr>
        </p:nvGraphicFramePr>
        <p:xfrm>
          <a:off x="1932781" y="849312"/>
          <a:ext cx="5278438" cy="5159375"/>
        </p:xfrm>
        <a:graphic>
          <a:graphicData uri="http://schemas.openxmlformats.org/drawingml/2006/table">
            <a:tbl>
              <a:tblPr/>
              <a:tblGrid>
                <a:gridCol w="327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1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Stm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→ </a:t>
                      </a: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Stm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; </a:t>
                      </a: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Stm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CompoundStm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Stm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→ id := 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Exp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AssignStm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Stm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→ print (</a:t>
                      </a: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ExpList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PrintStm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Exp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→ id 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IdExp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Exp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→ num 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NumExp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NL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Exp</a:t>
                      </a:r>
                      <a:r>
                        <a:rPr kumimoji="0" lang="nl-NL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→ </a:t>
                      </a:r>
                      <a:r>
                        <a:rPr kumimoji="0" lang="nl-NL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Exp</a:t>
                      </a:r>
                      <a:r>
                        <a:rPr kumimoji="0" lang="nl-NL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nl-NL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Binop</a:t>
                      </a:r>
                      <a:r>
                        <a:rPr kumimoji="0" lang="nl-NL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nl-NL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Exp</a:t>
                      </a:r>
                      <a:r>
                        <a:rPr kumimoji="0" lang="nl-NL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nl-NL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OpExp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Exp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→ (</a:t>
                      </a: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Stm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 Exp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EseqExp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ExpList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→ 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Exp, </a:t>
                      </a: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ExpList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PairExpList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ExpList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→ 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Exp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LastExpList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Binop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→+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(Plus)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Binop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→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−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(Minus)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Binop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→×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(Times)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Binop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→ /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Div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3036" name="文本框 22593">
            <a:extLst>
              <a:ext uri="{FF2B5EF4-FFF2-40B4-BE49-F238E27FC236}">
                <a16:creationId xmlns:a16="http://schemas.microsoft.com/office/drawing/2014/main" id="{A987DF86-4619-A0DD-8268-3125EA3A94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04800"/>
            <a:ext cx="6553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kumimoji="0" lang="en-US" altLang="zh-CN" sz="2000" b="1"/>
              <a:t>1.3 Data Structure For Tree Languages: A grammar</a:t>
            </a:r>
          </a:p>
        </p:txBody>
      </p:sp>
      <p:sp>
        <p:nvSpPr>
          <p:cNvPr id="43037" name="矩形 22594">
            <a:extLst>
              <a:ext uri="{FF2B5EF4-FFF2-40B4-BE49-F238E27FC236}">
                <a16:creationId xmlns:a16="http://schemas.microsoft.com/office/drawing/2014/main" id="{4E2A60D1-444E-B906-40B5-3D8199AC03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6156324"/>
            <a:ext cx="6191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1800" b="1" dirty="0"/>
              <a:t>GRAMMAR 1.3: A straight-line programming language. 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文本框 24577">
            <a:extLst>
              <a:ext uri="{FF2B5EF4-FFF2-40B4-BE49-F238E27FC236}">
                <a16:creationId xmlns:a16="http://schemas.microsoft.com/office/drawing/2014/main" id="{1A480492-0515-83E7-8A06-5498614D02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28600"/>
            <a:ext cx="8610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kumimoji="0" lang="en-US" altLang="zh-CN" sz="1800"/>
              <a:t>1.3 Data Structure For Tree Languages:</a:t>
            </a:r>
            <a:r>
              <a:rPr kumimoji="0" lang="en-US" altLang="zh-CN" sz="2000"/>
              <a:t> </a:t>
            </a:r>
            <a:r>
              <a:rPr kumimoji="0" lang="en-US" altLang="zh-CN" sz="2000" b="1"/>
              <a:t>informal semantics of the language</a:t>
            </a:r>
            <a:endParaRPr kumimoji="0" lang="en-US" altLang="zh-CN" sz="2000"/>
          </a:p>
        </p:txBody>
      </p:sp>
      <p:sp>
        <p:nvSpPr>
          <p:cNvPr id="44034" name="文本框 24578">
            <a:extLst>
              <a:ext uri="{FF2B5EF4-FFF2-40B4-BE49-F238E27FC236}">
                <a16:creationId xmlns:a16="http://schemas.microsoft.com/office/drawing/2014/main" id="{09CA24FB-AC01-4AD6-C3CB-F79ECF8C99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762000"/>
            <a:ext cx="8382000" cy="5139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000" b="1" i="1" dirty="0" err="1"/>
              <a:t>Stm</a:t>
            </a:r>
            <a:r>
              <a:rPr kumimoji="0" lang="en-US" altLang="zh-CN" sz="2000" dirty="0"/>
              <a:t>   	is a statement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000" b="1" i="1" dirty="0"/>
              <a:t>Exp</a:t>
            </a:r>
            <a:r>
              <a:rPr kumimoji="0" lang="en-US" altLang="zh-CN" sz="2000" dirty="0"/>
              <a:t>   	is an expression.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zh-CN" sz="2400" b="1" i="1" dirty="0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1" i="1" dirty="0"/>
              <a:t>s</a:t>
            </a:r>
            <a:r>
              <a:rPr kumimoji="0" lang="en-US" altLang="zh-CN" sz="2400" b="1" dirty="0"/>
              <a:t>1; </a:t>
            </a:r>
            <a:r>
              <a:rPr kumimoji="0" lang="en-US" altLang="zh-CN" sz="2400" b="1" i="1" dirty="0"/>
              <a:t>s</a:t>
            </a:r>
            <a:r>
              <a:rPr kumimoji="0" lang="en-US" altLang="zh-CN" sz="2400" b="1" dirty="0"/>
              <a:t>2</a:t>
            </a:r>
            <a:r>
              <a:rPr kumimoji="0" lang="en-US" altLang="zh-CN" sz="2000" dirty="0"/>
              <a:t>   executes statement </a:t>
            </a:r>
            <a:r>
              <a:rPr kumimoji="0" lang="en-US" altLang="zh-CN" sz="2000" i="1" dirty="0"/>
              <a:t>s</a:t>
            </a:r>
            <a:r>
              <a:rPr kumimoji="0" lang="en-US" altLang="zh-CN" sz="2000" dirty="0"/>
              <a:t>1, then statement </a:t>
            </a:r>
            <a:r>
              <a:rPr kumimoji="0" lang="en-US" altLang="zh-CN" sz="2000" i="1" dirty="0"/>
              <a:t>s</a:t>
            </a:r>
            <a:r>
              <a:rPr kumimoji="0" lang="en-US" altLang="zh-CN" sz="2000" dirty="0"/>
              <a:t>2 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1" i="1" dirty="0" err="1"/>
              <a:t>i</a:t>
            </a:r>
            <a:r>
              <a:rPr kumimoji="0" lang="en-US" altLang="zh-CN" sz="2400" b="1" dirty="0"/>
              <a:t> :=</a:t>
            </a:r>
            <a:r>
              <a:rPr kumimoji="0" lang="en-US" altLang="zh-CN" sz="2400" b="1" i="1" dirty="0"/>
              <a:t>e</a:t>
            </a:r>
            <a:r>
              <a:rPr kumimoji="0" lang="en-US" altLang="zh-CN" sz="2000" dirty="0"/>
              <a:t>      evaluates the expression </a:t>
            </a:r>
            <a:r>
              <a:rPr kumimoji="0" lang="en-US" altLang="zh-CN" sz="2000" i="1" dirty="0"/>
              <a:t>e</a:t>
            </a:r>
            <a:r>
              <a:rPr kumimoji="0" lang="en-US" altLang="zh-CN" sz="2000" dirty="0"/>
              <a:t>, then "stores" the result in variable </a:t>
            </a:r>
            <a:r>
              <a:rPr kumimoji="0" lang="en-US" altLang="zh-CN" sz="2000" i="1" dirty="0" err="1"/>
              <a:t>i</a:t>
            </a:r>
            <a:r>
              <a:rPr kumimoji="0" lang="en-US" altLang="zh-CN" sz="2000" dirty="0"/>
              <a:t>. 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zh-CN" sz="2400" b="1" dirty="0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1" dirty="0"/>
              <a:t>print(</a:t>
            </a:r>
            <a:r>
              <a:rPr kumimoji="0" lang="en-US" altLang="zh-CN" sz="2400" b="1" i="1" dirty="0"/>
              <a:t>e</a:t>
            </a:r>
            <a:r>
              <a:rPr kumimoji="0" lang="en-US" altLang="zh-CN" sz="2400" b="1" dirty="0"/>
              <a:t>1, </a:t>
            </a:r>
            <a:r>
              <a:rPr kumimoji="0" lang="en-US" altLang="zh-CN" sz="2400" b="1" i="1" dirty="0"/>
              <a:t>e</a:t>
            </a:r>
            <a:r>
              <a:rPr kumimoji="0" lang="en-US" altLang="zh-CN" sz="2400" b="1" dirty="0"/>
              <a:t>2,…, </a:t>
            </a:r>
            <a:r>
              <a:rPr kumimoji="0" lang="en-US" altLang="zh-CN" sz="2400" b="1" i="1" dirty="0" err="1"/>
              <a:t>en</a:t>
            </a:r>
            <a:r>
              <a:rPr kumimoji="0" lang="en-US" altLang="zh-CN" sz="2400" b="1" dirty="0"/>
              <a:t>)</a:t>
            </a:r>
            <a:r>
              <a:rPr kumimoji="0" lang="en-US" altLang="zh-CN" sz="2000" dirty="0"/>
              <a:t>  displays the values of all the expressions,    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000" dirty="0"/>
              <a:t>                                       evaluated left to right, separated by spaces, 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000" dirty="0"/>
              <a:t>                                       terminated by a newline.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zh-CN" sz="2400" b="1" i="1" dirty="0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1" i="1" dirty="0"/>
              <a:t>id</a:t>
            </a:r>
            <a:r>
              <a:rPr kumimoji="0" lang="en-US" altLang="zh-CN" sz="2400" b="1" dirty="0"/>
              <a:t> 	</a:t>
            </a:r>
            <a:r>
              <a:rPr kumimoji="0" lang="en-US" altLang="zh-CN" sz="2000" dirty="0"/>
              <a:t>yields the current contents of the variable </a:t>
            </a:r>
            <a:r>
              <a:rPr kumimoji="0" lang="en-US" altLang="zh-CN" sz="2000" i="1" dirty="0"/>
              <a:t>id</a:t>
            </a:r>
            <a:endParaRPr kumimoji="0" lang="en-US" altLang="zh-CN" sz="2000" dirty="0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000" b="1" i="1" dirty="0"/>
              <a:t>number</a:t>
            </a:r>
            <a:r>
              <a:rPr kumimoji="0" lang="en-US" altLang="zh-CN" sz="2000" dirty="0"/>
              <a:t>  evaluates to the named integer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000" b="1" i="1" dirty="0"/>
              <a:t>e</a:t>
            </a:r>
            <a:r>
              <a:rPr kumimoji="0" lang="en-US" altLang="zh-CN" sz="2000" b="1" dirty="0"/>
              <a:t>1 op </a:t>
            </a:r>
            <a:r>
              <a:rPr kumimoji="0" lang="en-US" altLang="zh-CN" sz="2000" b="1" i="1" dirty="0"/>
              <a:t>e</a:t>
            </a:r>
            <a:r>
              <a:rPr kumimoji="0" lang="en-US" altLang="zh-CN" sz="2000" b="1" dirty="0"/>
              <a:t>2</a:t>
            </a:r>
            <a:r>
              <a:rPr kumimoji="0" lang="en-US" altLang="zh-CN" sz="2000" dirty="0"/>
              <a:t>   evaluates </a:t>
            </a:r>
            <a:r>
              <a:rPr kumimoji="0" lang="en-US" altLang="zh-CN" sz="2000" i="1" dirty="0"/>
              <a:t>e</a:t>
            </a:r>
            <a:r>
              <a:rPr kumimoji="0" lang="en-US" altLang="zh-CN" sz="2000" dirty="0"/>
              <a:t>1, then </a:t>
            </a:r>
            <a:r>
              <a:rPr kumimoji="0" lang="en-US" altLang="zh-CN" sz="2000" i="1" dirty="0"/>
              <a:t>e</a:t>
            </a:r>
            <a:r>
              <a:rPr kumimoji="0" lang="en-US" altLang="zh-CN" sz="2000" dirty="0"/>
              <a:t>2, then applies the given binary operator 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000" b="1" dirty="0"/>
              <a:t>(</a:t>
            </a:r>
            <a:r>
              <a:rPr kumimoji="0" lang="en-US" altLang="zh-CN" sz="2000" b="1" i="1" dirty="0"/>
              <a:t>s, e</a:t>
            </a:r>
            <a:r>
              <a:rPr kumimoji="0" lang="en-US" altLang="zh-CN" sz="2000" b="1" dirty="0"/>
              <a:t>)</a:t>
            </a:r>
            <a:r>
              <a:rPr kumimoji="0" lang="en-US" altLang="zh-CN" sz="2000" dirty="0"/>
              <a:t>   like the C-language  “comma” operator, evaluating the statement </a:t>
            </a:r>
            <a:r>
              <a:rPr kumimoji="0" lang="zh-CN" altLang="en-US" sz="2000" dirty="0"/>
              <a:t>           </a:t>
            </a:r>
            <a:endParaRPr kumimoji="0" lang="en-US" altLang="zh-CN" sz="2000" dirty="0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zh-CN" altLang="en-US" sz="2000" i="1" dirty="0"/>
              <a:t>           </a:t>
            </a:r>
            <a:r>
              <a:rPr kumimoji="0" lang="en-US" altLang="zh-CN" sz="2000" i="1" dirty="0"/>
              <a:t>s</a:t>
            </a:r>
            <a:r>
              <a:rPr kumimoji="0" lang="en-US" altLang="zh-CN" sz="2000" dirty="0"/>
              <a:t> for side effects</a:t>
            </a:r>
            <a:r>
              <a:rPr kumimoji="0" lang="zh-CN" altLang="en-US" sz="2000" dirty="0"/>
              <a:t> </a:t>
            </a:r>
            <a:r>
              <a:rPr kumimoji="0" lang="en-US" altLang="zh-CN" sz="2000" dirty="0"/>
              <a:t>before evaluating the expression </a:t>
            </a:r>
            <a:r>
              <a:rPr kumimoji="0" lang="en-US" altLang="zh-CN" sz="2000" i="1" dirty="0"/>
              <a:t>e</a:t>
            </a:r>
            <a:r>
              <a:rPr kumimoji="0" lang="en-US" altLang="zh-CN" sz="2000" dirty="0"/>
              <a:t>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文本框 25601">
            <a:extLst>
              <a:ext uri="{FF2B5EF4-FFF2-40B4-BE49-F238E27FC236}">
                <a16:creationId xmlns:a16="http://schemas.microsoft.com/office/drawing/2014/main" id="{89C68B8A-E20F-5C65-F1D4-4B45179910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04800"/>
            <a:ext cx="7239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kumimoji="0" lang="en-US" altLang="zh-CN" sz="2000"/>
              <a:t>1.3 Data Structure For Tree Languages: </a:t>
            </a:r>
            <a:r>
              <a:rPr kumimoji="0" lang="en-US" altLang="zh-CN" sz="2400"/>
              <a:t>An example</a:t>
            </a:r>
          </a:p>
        </p:txBody>
      </p:sp>
      <p:sp>
        <p:nvSpPr>
          <p:cNvPr id="45058" name="文本框 25602">
            <a:extLst>
              <a:ext uri="{FF2B5EF4-FFF2-40B4-BE49-F238E27FC236}">
                <a16:creationId xmlns:a16="http://schemas.microsoft.com/office/drawing/2014/main" id="{89F984F5-CDD9-1B55-42D0-BFF2A6964E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371654"/>
            <a:ext cx="6934200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1" dirty="0"/>
              <a:t>Executing </a:t>
            </a:r>
            <a:r>
              <a:rPr kumimoji="0" lang="en-US" altLang="zh-CN" sz="2400" dirty="0"/>
              <a:t>the following program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zh-CN" sz="2400" dirty="0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dirty="0"/>
              <a:t>	a := 5+3; b := (print(a, a-1), 10*a); print(b) 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zh-CN" sz="2400" dirty="0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zh-CN" sz="2400" dirty="0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1" dirty="0"/>
              <a:t>prints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zh-CN" sz="2400" dirty="0"/>
          </a:p>
        </p:txBody>
      </p:sp>
      <p:sp>
        <p:nvSpPr>
          <p:cNvPr id="2" name="文本框 25602">
            <a:extLst>
              <a:ext uri="{FF2B5EF4-FFF2-40B4-BE49-F238E27FC236}">
                <a16:creationId xmlns:a16="http://schemas.microsoft.com/office/drawing/2014/main" id="{A5116DD7-7DFD-AC6E-4F8C-F02F43407D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359508"/>
            <a:ext cx="75056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1" dirty="0"/>
              <a:t>How</a:t>
            </a:r>
            <a:r>
              <a:rPr kumimoji="0" lang="zh-CN" altLang="en-US" sz="2400" b="1" dirty="0"/>
              <a:t> </a:t>
            </a:r>
            <a:r>
              <a:rPr kumimoji="0" lang="en-US" altLang="zh-CN" sz="2400" b="1" dirty="0"/>
              <a:t>to</a:t>
            </a:r>
            <a:r>
              <a:rPr kumimoji="0" lang="zh-CN" altLang="en-US" sz="2400" b="1" dirty="0"/>
              <a:t> </a:t>
            </a:r>
            <a:r>
              <a:rPr kumimoji="0" lang="en-US" altLang="zh-CN" sz="2400" b="1" dirty="0"/>
              <a:t>represent</a:t>
            </a:r>
            <a:r>
              <a:rPr kumimoji="0" lang="zh-CN" altLang="en-US" sz="2400" b="1" dirty="0"/>
              <a:t> </a:t>
            </a:r>
            <a:r>
              <a:rPr kumimoji="0" lang="en-US" altLang="zh-CN" sz="2400" b="1" dirty="0"/>
              <a:t>this</a:t>
            </a:r>
            <a:r>
              <a:rPr kumimoji="0" lang="zh-CN" altLang="en-US" sz="2400" b="1" dirty="0"/>
              <a:t> </a:t>
            </a:r>
            <a:r>
              <a:rPr kumimoji="0" lang="en-US" altLang="zh-CN" sz="2400" b="1" dirty="0"/>
              <a:t>program</a:t>
            </a:r>
            <a:r>
              <a:rPr kumimoji="0" lang="zh-CN" altLang="en-US" sz="2400" b="1" dirty="0"/>
              <a:t> </a:t>
            </a:r>
            <a:r>
              <a:rPr kumimoji="0" lang="en-US" altLang="zh-CN" sz="2400" b="1" dirty="0"/>
              <a:t>inside</a:t>
            </a:r>
            <a:r>
              <a:rPr kumimoji="0" lang="zh-CN" altLang="en-US" sz="2400" b="1" dirty="0"/>
              <a:t> </a:t>
            </a:r>
            <a:r>
              <a:rPr kumimoji="0" lang="en-US" altLang="zh-CN" sz="2400" b="1" dirty="0"/>
              <a:t>a</a:t>
            </a:r>
            <a:r>
              <a:rPr kumimoji="0" lang="zh-CN" altLang="en-US" sz="2400" b="1" dirty="0"/>
              <a:t> </a:t>
            </a:r>
            <a:r>
              <a:rPr kumimoji="0" lang="en-US" altLang="zh-CN" sz="2400" b="1" dirty="0"/>
              <a:t>compiler?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0FD5F8F-0E36-5874-0F08-0361DB7646A8}"/>
              </a:ext>
            </a:extLst>
          </p:cNvPr>
          <p:cNvSpPr txBox="1"/>
          <p:nvPr/>
        </p:nvSpPr>
        <p:spPr>
          <a:xfrm>
            <a:off x="609600" y="3819716"/>
            <a:ext cx="4572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dirty="0"/>
              <a:t>	8 7 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dirty="0"/>
              <a:t>	80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1" name="图片 23555" descr="1-2-tree-representation-of-a-program">
            <a:extLst>
              <a:ext uri="{FF2B5EF4-FFF2-40B4-BE49-F238E27FC236}">
                <a16:creationId xmlns:a16="http://schemas.microsoft.com/office/drawing/2014/main" id="{7258B499-711A-DF97-246D-D3FDDCE8C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219202"/>
            <a:ext cx="7965812" cy="5410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2" name="文本框 23556">
            <a:extLst>
              <a:ext uri="{FF2B5EF4-FFF2-40B4-BE49-F238E27FC236}">
                <a16:creationId xmlns:a16="http://schemas.microsoft.com/office/drawing/2014/main" id="{19D14533-348A-A232-2EBE-640B6A8331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04800"/>
            <a:ext cx="830580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kumimoji="0" lang="en-US" altLang="zh-CN" sz="2000"/>
              <a:t>1.3 Data Structure For Tree Languages: </a:t>
            </a:r>
            <a:r>
              <a:rPr kumimoji="0" lang="en-US" altLang="zh-CN" sz="1800" b="1"/>
              <a:t>Tree representation of a 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kumimoji="0" lang="en-US" altLang="zh-CN" sz="1800" b="1"/>
              <a:t>                                                                        straight-line program </a:t>
            </a:r>
            <a:endParaRPr kumimoji="0" lang="en-US" altLang="zh-CN" sz="2000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CEE022A-EE12-6893-5080-6C7ACB0514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1769432"/>
              </p:ext>
            </p:extLst>
          </p:nvPr>
        </p:nvGraphicFramePr>
        <p:xfrm>
          <a:off x="4267318" y="5927649"/>
          <a:ext cx="4495682" cy="396875"/>
        </p:xfrm>
        <a:graphic>
          <a:graphicData uri="http://schemas.openxmlformats.org/drawingml/2006/table">
            <a:tbl>
              <a:tblPr>
                <a:tableStyleId>{17292A2E-F333-43FB-9621-5CBBE7FDCDCB}</a:tableStyleId>
              </a:tblPr>
              <a:tblGrid>
                <a:gridCol w="3047920">
                  <a:extLst>
                    <a:ext uri="{9D8B030D-6E8A-4147-A177-3AD203B41FA5}">
                      <a16:colId xmlns:a16="http://schemas.microsoft.com/office/drawing/2014/main" val="2151438588"/>
                    </a:ext>
                  </a:extLst>
                </a:gridCol>
                <a:gridCol w="1447762">
                  <a:extLst>
                    <a:ext uri="{9D8B030D-6E8A-4147-A177-3AD203B41FA5}">
                      <a16:colId xmlns:a16="http://schemas.microsoft.com/office/drawing/2014/main" val="526934696"/>
                    </a:ext>
                  </a:extLst>
                </a:gridCol>
              </a:tblGrid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NL" altLang="zh-CN" sz="2000" b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Exp</a:t>
                      </a:r>
                      <a:r>
                        <a:rPr kumimoji="0" lang="nl-NL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→ </a:t>
                      </a:r>
                      <a:r>
                        <a:rPr kumimoji="0" lang="nl-NL" altLang="zh-CN" sz="2000" b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Exp</a:t>
                      </a:r>
                      <a:r>
                        <a:rPr kumimoji="0" lang="nl-NL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nl-NL" altLang="zh-CN" sz="2000" b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Binop</a:t>
                      </a:r>
                      <a:r>
                        <a:rPr kumimoji="0" lang="nl-NL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nl-NL" altLang="zh-CN" sz="2000" b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Exp</a:t>
                      </a:r>
                      <a:r>
                        <a:rPr kumimoji="0" lang="nl-NL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kumimoji="0" lang="nl-NL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kumimoji="0" lang="en-US" altLang="zh-CN" sz="2000" b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OpExp</a:t>
                      </a:r>
                      <a:r>
                        <a:rPr kumimoji="0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/>
                </a:tc>
                <a:extLst>
                  <a:ext uri="{0D108BD9-81ED-4DB2-BD59-A6C34878D82A}">
                    <a16:rowId xmlns:a16="http://schemas.microsoft.com/office/drawing/2014/main" val="402833789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文本框 26625">
            <a:extLst>
              <a:ext uri="{FF2B5EF4-FFF2-40B4-BE49-F238E27FC236}">
                <a16:creationId xmlns:a16="http://schemas.microsoft.com/office/drawing/2014/main" id="{34DDFE0D-E3A4-9CC6-6E16-FF0736AC0F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04800"/>
            <a:ext cx="6934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kumimoji="0" lang="en-US" altLang="zh-CN" sz="2000"/>
              <a:t>1.3 Data Structure For Tree Languages: </a:t>
            </a:r>
            <a:r>
              <a:rPr kumimoji="0" lang="en-US" altLang="zh-CN" sz="2400"/>
              <a:t>Type define</a:t>
            </a:r>
          </a:p>
        </p:txBody>
      </p:sp>
      <p:sp>
        <p:nvSpPr>
          <p:cNvPr id="47106" name="文本框 26626">
            <a:extLst>
              <a:ext uri="{FF2B5EF4-FFF2-40B4-BE49-F238E27FC236}">
                <a16:creationId xmlns:a16="http://schemas.microsoft.com/office/drawing/2014/main" id="{6F229588-F48D-4AE8-C441-8EC5A24F2E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030486"/>
            <a:ext cx="800089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1" dirty="0"/>
              <a:t>     Each grammar symbol</a:t>
            </a:r>
            <a:r>
              <a:rPr kumimoji="0" lang="en-US" altLang="zh-CN" sz="2400" dirty="0"/>
              <a:t> can correspond to a</a:t>
            </a:r>
            <a:r>
              <a:rPr kumimoji="0" lang="en-US" altLang="zh-CN" sz="2400" b="1" dirty="0"/>
              <a:t> typedef</a:t>
            </a:r>
            <a:r>
              <a:rPr kumimoji="0" lang="en-US" altLang="zh-CN" sz="2400" dirty="0"/>
              <a:t> in the data structures:</a:t>
            </a:r>
          </a:p>
        </p:txBody>
      </p:sp>
      <p:sp>
        <p:nvSpPr>
          <p:cNvPr id="47107" name="矩形 26629">
            <a:extLst>
              <a:ext uri="{FF2B5EF4-FFF2-40B4-BE49-F238E27FC236}">
                <a16:creationId xmlns:a16="http://schemas.microsoft.com/office/drawing/2014/main" id="{5AC90C02-56B5-4A58-033A-DA344A7815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003601"/>
            <a:ext cx="9144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zh-CN" altLang="en-US" sz="1800"/>
          </a:p>
        </p:txBody>
      </p:sp>
      <p:graphicFrame>
        <p:nvGraphicFramePr>
          <p:cNvPr id="26664" name="表格 26663">
            <a:extLst>
              <a:ext uri="{FF2B5EF4-FFF2-40B4-BE49-F238E27FC236}">
                <a16:creationId xmlns:a16="http://schemas.microsoft.com/office/drawing/2014/main" id="{1A71645B-769F-E577-0B39-44B96C5DA0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1547515"/>
              </p:ext>
            </p:extLst>
          </p:nvPr>
        </p:nvGraphicFramePr>
        <p:xfrm>
          <a:off x="2171700" y="3429000"/>
          <a:ext cx="3505200" cy="2778125"/>
        </p:xfrm>
        <a:graphic>
          <a:graphicData uri="http://schemas.openxmlformats.org/drawingml/2006/table">
            <a:tbl>
              <a:tblPr/>
              <a:tblGrid>
                <a:gridCol w="197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3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Grammar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Typedef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5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Stm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A-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stm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Exp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A-exp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ExpList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A-expList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id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string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num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int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文本框 25602">
            <a:extLst>
              <a:ext uri="{FF2B5EF4-FFF2-40B4-BE49-F238E27FC236}">
                <a16:creationId xmlns:a16="http://schemas.microsoft.com/office/drawing/2014/main" id="{7E896A6F-744E-B75D-31F4-93447D03C3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040" y="1018403"/>
            <a:ext cx="847704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1" dirty="0"/>
              <a:t>How</a:t>
            </a:r>
            <a:r>
              <a:rPr kumimoji="0" lang="zh-CN" altLang="en-US" sz="2400" b="1" dirty="0"/>
              <a:t> </a:t>
            </a:r>
            <a:r>
              <a:rPr kumimoji="0" lang="en-US" altLang="zh-CN" sz="2400" b="1" dirty="0"/>
              <a:t>to</a:t>
            </a:r>
            <a:r>
              <a:rPr kumimoji="0" lang="zh-CN" altLang="en-US" sz="2400" b="1" dirty="0"/>
              <a:t> </a:t>
            </a:r>
            <a:r>
              <a:rPr kumimoji="0" lang="en-US" altLang="zh-CN" sz="2400" b="1" dirty="0"/>
              <a:t>translate</a:t>
            </a:r>
            <a:r>
              <a:rPr kumimoji="0" lang="zh-CN" altLang="en-US" sz="2400" b="1" dirty="0"/>
              <a:t> </a:t>
            </a:r>
            <a:r>
              <a:rPr kumimoji="0" lang="en-US" altLang="zh-CN" sz="2400" b="1" dirty="0"/>
              <a:t>the</a:t>
            </a:r>
            <a:r>
              <a:rPr kumimoji="0" lang="zh-CN" altLang="en-US" sz="2400" b="1" dirty="0"/>
              <a:t> </a:t>
            </a:r>
            <a:r>
              <a:rPr kumimoji="0" lang="en-US" altLang="zh-CN" sz="2400" b="1" dirty="0"/>
              <a:t>grammar</a:t>
            </a:r>
            <a:r>
              <a:rPr kumimoji="0" lang="zh-CN" altLang="en-US" sz="2400" b="1" dirty="0"/>
              <a:t> </a:t>
            </a:r>
            <a:r>
              <a:rPr kumimoji="0" lang="en-US" altLang="zh-CN" sz="2400" b="1" dirty="0"/>
              <a:t>into</a:t>
            </a:r>
            <a:r>
              <a:rPr kumimoji="0" lang="zh-CN" altLang="en-US" sz="2400" b="1" dirty="0"/>
              <a:t> </a:t>
            </a:r>
            <a:r>
              <a:rPr kumimoji="0" lang="en-US" altLang="zh-CN" sz="2400" b="1" dirty="0"/>
              <a:t>data</a:t>
            </a:r>
            <a:r>
              <a:rPr kumimoji="0" lang="zh-CN" altLang="en-US" sz="2400" b="1" dirty="0"/>
              <a:t> </a:t>
            </a:r>
            <a:r>
              <a:rPr kumimoji="0" lang="en-US" altLang="zh-CN" sz="2400" b="1" dirty="0"/>
              <a:t>structure</a:t>
            </a:r>
            <a:r>
              <a:rPr kumimoji="0" lang="zh-CN" altLang="en-US" sz="2400" b="1" dirty="0"/>
              <a:t> </a:t>
            </a:r>
            <a:r>
              <a:rPr kumimoji="0" lang="en-US" altLang="zh-CN" sz="2400" b="1" dirty="0"/>
              <a:t>definitions?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文本框 47107">
            <a:extLst>
              <a:ext uri="{FF2B5EF4-FFF2-40B4-BE49-F238E27FC236}">
                <a16:creationId xmlns:a16="http://schemas.microsoft.com/office/drawing/2014/main" id="{9F43D4C4-6413-1CBA-B0BE-B68AF1F8BD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04800"/>
            <a:ext cx="838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kumimoji="0" lang="en-US" altLang="zh-CN" sz="2000"/>
              <a:t>1.3 Data Structure For Tree Languages: </a:t>
            </a:r>
            <a:r>
              <a:rPr kumimoji="0" lang="en-US" altLang="zh-CN" sz="2000" b="1"/>
              <a:t>Grammar VS 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kumimoji="0" lang="en-US" altLang="zh-CN" sz="2000" b="1"/>
              <a:t>                                                                 Data structure definiton</a:t>
            </a:r>
          </a:p>
        </p:txBody>
      </p:sp>
      <p:pic>
        <p:nvPicPr>
          <p:cNvPr id="48130" name="图片 3">
            <a:extLst>
              <a:ext uri="{FF2B5EF4-FFF2-40B4-BE49-F238E27FC236}">
                <a16:creationId xmlns:a16="http://schemas.microsoft.com/office/drawing/2014/main" id="{0BE39A96-4E2C-F9E0-6EE1-6CEA28B92E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211263"/>
            <a:ext cx="8077200" cy="557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0D18F8C-D568-2D8E-6600-7C27E2BFC9CC}"/>
              </a:ext>
            </a:extLst>
          </p:cNvPr>
          <p:cNvGraphicFramePr>
            <a:graphicFrameLocks noGrp="1"/>
          </p:cNvGraphicFramePr>
          <p:nvPr/>
        </p:nvGraphicFramePr>
        <p:xfrm>
          <a:off x="4724400" y="1046163"/>
          <a:ext cx="4343400" cy="1011237"/>
        </p:xfrm>
        <a:graphic>
          <a:graphicData uri="http://schemas.openxmlformats.org/drawingml/2006/table">
            <a:tbl>
              <a:tblPr/>
              <a:tblGrid>
                <a:gridCol w="2696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72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707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Stm</a:t>
                      </a: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→ </a:t>
                      </a:r>
                      <a:r>
                        <a:rPr kumimoji="0" lang="en-US" altLang="zh-CN" sz="17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Stm</a:t>
                      </a: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; </a:t>
                      </a:r>
                      <a:r>
                        <a:rPr kumimoji="0" lang="en-US" altLang="zh-CN" sz="17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Stm</a:t>
                      </a: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77882" marR="77882" marT="38956" marB="389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en-US" altLang="zh-CN" sz="17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CompoundStm</a:t>
                      </a: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zh-CN" alt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77882" marR="77882" marT="38956" marB="38956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07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Stm</a:t>
                      </a: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→ id := </a:t>
                      </a:r>
                      <a:r>
                        <a:rPr kumimoji="0" lang="en-US" altLang="zh-CN" sz="17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Exp</a:t>
                      </a: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77882" marR="77882" marT="38956" marB="389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en-US" altLang="zh-CN" sz="17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AssignStm</a:t>
                      </a: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zh-CN" alt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77882" marR="77882" marT="38956" marB="38956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07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Stm</a:t>
                      </a: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→ print (</a:t>
                      </a:r>
                      <a:r>
                        <a:rPr kumimoji="0" lang="en-US" altLang="zh-CN" sz="17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ExpList</a:t>
                      </a: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zh-CN" alt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77882" marR="77882" marT="38956" marB="389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en-US" altLang="zh-CN" sz="17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PrintStm</a:t>
                      </a: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zh-CN" alt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77882" marR="77882" marT="38956" marB="38956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BBF13B7F-D9E6-C36A-AA89-05243FF93493}"/>
              </a:ext>
            </a:extLst>
          </p:cNvPr>
          <p:cNvSpPr txBox="1"/>
          <p:nvPr/>
        </p:nvSpPr>
        <p:spPr>
          <a:xfrm>
            <a:off x="7124742" y="6060856"/>
            <a:ext cx="16001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/>
              <a:t>Constructor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function</a:t>
            </a:r>
            <a:endParaRPr kumimoji="1" lang="zh-CN" altLang="en-US" b="1" dirty="0"/>
          </a:p>
        </p:txBody>
      </p:sp>
    </p:spTree>
  </p:cSld>
  <p:clrMapOvr>
    <a:masterClrMapping/>
  </p:clrMapOvr>
  <p:transition spd="slow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文本框 27649">
            <a:extLst>
              <a:ext uri="{FF2B5EF4-FFF2-40B4-BE49-F238E27FC236}">
                <a16:creationId xmlns:a16="http://schemas.microsoft.com/office/drawing/2014/main" id="{DE25F56C-3964-C06B-185E-61F1B71A4E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04800"/>
            <a:ext cx="7391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kumimoji="0" lang="en-US" altLang="zh-CN" sz="2000"/>
              <a:t>1.3 Data Structure For Tree Languages: </a:t>
            </a:r>
            <a:r>
              <a:rPr kumimoji="0" lang="en-US" altLang="zh-CN" sz="2000" b="1">
                <a:solidFill>
                  <a:srgbClr val="FF0000"/>
                </a:solidFill>
              </a:rPr>
              <a:t>Each grammar rule</a:t>
            </a:r>
          </a:p>
        </p:txBody>
      </p:sp>
      <p:sp>
        <p:nvSpPr>
          <p:cNvPr id="49154" name="文本框 27650">
            <a:extLst>
              <a:ext uri="{FF2B5EF4-FFF2-40B4-BE49-F238E27FC236}">
                <a16:creationId xmlns:a16="http://schemas.microsoft.com/office/drawing/2014/main" id="{E7770119-45CE-9136-8E10-22D7AC2279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79488"/>
            <a:ext cx="8305800" cy="5170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1" dirty="0"/>
              <a:t>One </a:t>
            </a:r>
            <a:r>
              <a:rPr kumimoji="0" lang="en-US" altLang="zh-CN" sz="2400" b="1" i="1" dirty="0"/>
              <a:t>constructor</a:t>
            </a:r>
            <a:r>
              <a:rPr kumimoji="0" lang="en-US" altLang="zh-CN" sz="2400" dirty="0"/>
              <a:t> :</a:t>
            </a:r>
          </a:p>
          <a:p>
            <a:pPr lvl="1" eaLnBrk="1" hangingPunct="1">
              <a:spcBef>
                <a:spcPct val="0"/>
              </a:spcBef>
              <a:buFont typeface="Wingdings" pitchFamily="2" charset="2"/>
              <a:buChar char="l"/>
            </a:pPr>
            <a:r>
              <a:rPr kumimoji="0" lang="en-US" altLang="zh-CN" sz="2000" dirty="0"/>
              <a:t> belongs to the union for its left-hand-side symbol</a:t>
            </a:r>
            <a:r>
              <a:rPr kumimoji="0" lang="en-US" altLang="zh-CN" sz="2400" dirty="0"/>
              <a:t> 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1" dirty="0"/>
              <a:t>The constructor names</a:t>
            </a:r>
            <a:r>
              <a:rPr kumimoji="0" lang="en-US" altLang="zh-CN" sz="2400" dirty="0"/>
              <a:t> </a:t>
            </a:r>
          </a:p>
          <a:p>
            <a:pPr lvl="1" eaLnBrk="1" hangingPunct="1">
              <a:spcBef>
                <a:spcPct val="0"/>
              </a:spcBef>
              <a:buFont typeface="Wingdings" pitchFamily="2" charset="2"/>
              <a:buChar char="l"/>
            </a:pPr>
            <a:r>
              <a:rPr kumimoji="0" lang="en-US" altLang="zh-CN" sz="2000" dirty="0"/>
              <a:t> indicated on the right-hand side </a:t>
            </a:r>
            <a:r>
              <a:rPr kumimoji="0" lang="en-US" altLang="zh-CN" sz="2000" dirty="0">
                <a:solidFill>
                  <a:srgbClr val="FF0000"/>
                </a:solidFill>
              </a:rPr>
              <a:t>– inside of parentheses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1" dirty="0"/>
              <a:t>Right-hand-side components</a:t>
            </a:r>
          </a:p>
          <a:p>
            <a:pPr lvl="1" eaLnBrk="1" hangingPunct="1">
              <a:spcBef>
                <a:spcPct val="0"/>
              </a:spcBef>
              <a:buFont typeface="Wingdings" pitchFamily="2" charset="2"/>
              <a:buChar char="l"/>
            </a:pPr>
            <a:r>
              <a:rPr kumimoji="0" lang="en-US" altLang="zh-CN" sz="2000" dirty="0"/>
              <a:t> represented in the data structures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000" b="1" dirty="0"/>
              <a:t> {</a:t>
            </a:r>
          </a:p>
          <a:p>
            <a:pPr lvl="1" eaLnBrk="1" hangingPunct="1">
              <a:spcBef>
                <a:spcPct val="0"/>
              </a:spcBef>
              <a:buFont typeface="Wingdings" pitchFamily="2" charset="2"/>
              <a:buChar char="l"/>
            </a:pPr>
            <a:r>
              <a:rPr kumimoji="0" lang="en-US" altLang="zh-CN" sz="2000" dirty="0"/>
              <a:t>The </a:t>
            </a:r>
            <a:r>
              <a:rPr kumimoji="0" lang="en-US" altLang="zh-CN" sz="2000" dirty="0" err="1"/>
              <a:t>CompoundStm</a:t>
            </a:r>
            <a:r>
              <a:rPr kumimoji="0" lang="en-US" altLang="zh-CN" sz="2000" dirty="0"/>
              <a:t> has two </a:t>
            </a:r>
            <a:r>
              <a:rPr kumimoji="0" lang="en-US" altLang="zh-CN" sz="2000" dirty="0" err="1"/>
              <a:t>Stm's</a:t>
            </a:r>
            <a:r>
              <a:rPr kumimoji="0" lang="en-US" altLang="zh-CN" sz="2000" dirty="0"/>
              <a:t> on the right- hand side; </a:t>
            </a:r>
          </a:p>
          <a:p>
            <a:pPr lvl="2" eaLnBrk="1" hangingPunct="1">
              <a:spcBef>
                <a:spcPct val="0"/>
              </a:spcBef>
              <a:buFont typeface="Wingdings" pitchFamily="2" charset="2"/>
              <a:buChar char="u"/>
            </a:pPr>
            <a:r>
              <a:rPr kumimoji="0" lang="en-US" altLang="zh-CN" sz="2000" dirty="0"/>
              <a:t> </a:t>
            </a:r>
            <a:r>
              <a:rPr kumimoji="0" lang="en-US" altLang="zh-CN" sz="2000" b="1" i="1" dirty="0" err="1"/>
              <a:t>Stm</a:t>
            </a:r>
            <a:r>
              <a:rPr kumimoji="0" lang="en-US" altLang="zh-CN" sz="2000" b="1" dirty="0"/>
              <a:t> → </a:t>
            </a:r>
            <a:r>
              <a:rPr kumimoji="0" lang="en-US" altLang="zh-CN" sz="2000" b="1" i="1" dirty="0" err="1"/>
              <a:t>Stm</a:t>
            </a:r>
            <a:r>
              <a:rPr kumimoji="0" lang="en-US" altLang="zh-CN" sz="2000" b="1" dirty="0"/>
              <a:t>; </a:t>
            </a:r>
            <a:r>
              <a:rPr kumimoji="0" lang="en-US" altLang="zh-CN" sz="2000" b="1" i="1" dirty="0" err="1"/>
              <a:t>Stm</a:t>
            </a:r>
            <a:r>
              <a:rPr kumimoji="0" lang="en-US" altLang="zh-CN" sz="2000" dirty="0"/>
              <a:t> </a:t>
            </a:r>
          </a:p>
          <a:p>
            <a:pPr lvl="1" eaLnBrk="1" hangingPunct="1">
              <a:spcBef>
                <a:spcPct val="0"/>
              </a:spcBef>
              <a:buFont typeface="Wingdings" pitchFamily="2" charset="2"/>
              <a:buChar char="l"/>
            </a:pPr>
            <a:r>
              <a:rPr kumimoji="0" lang="en-US" altLang="zh-CN" sz="2000" dirty="0"/>
              <a:t>The </a:t>
            </a:r>
            <a:r>
              <a:rPr kumimoji="0" lang="en-US" altLang="zh-CN" sz="2000" dirty="0" err="1"/>
              <a:t>AssignStm</a:t>
            </a:r>
            <a:r>
              <a:rPr kumimoji="0" lang="en-US" altLang="zh-CN" sz="2000" dirty="0"/>
              <a:t> has an identifier and an expression; </a:t>
            </a:r>
          </a:p>
          <a:p>
            <a:pPr lvl="2" eaLnBrk="1" hangingPunct="1">
              <a:spcBef>
                <a:spcPct val="0"/>
              </a:spcBef>
              <a:buFont typeface="Wingdings" pitchFamily="2" charset="2"/>
              <a:buChar char="u"/>
            </a:pPr>
            <a:r>
              <a:rPr kumimoji="0" lang="en-US" altLang="zh-CN" sz="1800" b="1" dirty="0"/>
              <a:t>id := </a:t>
            </a:r>
            <a:r>
              <a:rPr kumimoji="0" lang="en-US" altLang="zh-CN" sz="1800" b="1" i="1" dirty="0"/>
              <a:t>Exp</a:t>
            </a:r>
            <a:r>
              <a:rPr kumimoji="0" lang="en-US" altLang="zh-CN" sz="1800" dirty="0"/>
              <a:t> </a:t>
            </a:r>
            <a:endParaRPr kumimoji="0" lang="en-US" altLang="zh-CN" sz="2000" dirty="0"/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kumimoji="0" lang="en-US" altLang="zh-CN" sz="2400" dirty="0"/>
              <a:t>}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1" dirty="0"/>
              <a:t>Struct of </a:t>
            </a:r>
            <a:r>
              <a:rPr kumimoji="0" lang="en-US" altLang="zh-CN" sz="2400" b="1" dirty="0">
                <a:solidFill>
                  <a:srgbClr val="FF0000"/>
                </a:solidFill>
              </a:rPr>
              <a:t>each grammar symbol</a:t>
            </a:r>
            <a:r>
              <a:rPr kumimoji="0" lang="en-US" altLang="zh-CN" sz="2400" b="1" dirty="0"/>
              <a:t>:</a:t>
            </a:r>
          </a:p>
          <a:p>
            <a:pPr lvl="1" eaLnBrk="1" hangingPunct="1">
              <a:spcBef>
                <a:spcPct val="0"/>
              </a:spcBef>
              <a:buFont typeface="Wingdings" pitchFamily="2" charset="2"/>
              <a:buChar char="l"/>
            </a:pPr>
            <a:r>
              <a:rPr kumimoji="0" lang="en-US" altLang="zh-CN" sz="2000" dirty="0"/>
              <a:t> A union to carry these values, and</a:t>
            </a:r>
            <a:r>
              <a:rPr kumimoji="0" lang="en-US" altLang="zh-CN" sz="2400" dirty="0"/>
              <a:t> </a:t>
            </a:r>
          </a:p>
          <a:p>
            <a:pPr lvl="1" eaLnBrk="1" hangingPunct="1">
              <a:spcBef>
                <a:spcPct val="0"/>
              </a:spcBef>
              <a:buFont typeface="Wingdings" pitchFamily="2" charset="2"/>
              <a:buChar char="l"/>
            </a:pPr>
            <a:r>
              <a:rPr kumimoji="0" lang="en-US" altLang="zh-CN" sz="2400" b="1" dirty="0"/>
              <a:t> </a:t>
            </a:r>
            <a:r>
              <a:rPr kumimoji="0" lang="en-US" altLang="zh-CN" sz="2000" b="1" dirty="0"/>
              <a:t>A kind field</a:t>
            </a:r>
            <a:r>
              <a:rPr kumimoji="0" lang="en-US" altLang="zh-CN" sz="2400" dirty="0"/>
              <a:t> </a:t>
            </a:r>
            <a:r>
              <a:rPr kumimoji="0" lang="en-US" altLang="zh-CN" sz="2000" dirty="0"/>
              <a:t>to indicate which variant of the union is valid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文本框 29697">
            <a:extLst>
              <a:ext uri="{FF2B5EF4-FFF2-40B4-BE49-F238E27FC236}">
                <a16:creationId xmlns:a16="http://schemas.microsoft.com/office/drawing/2014/main" id="{69FA2689-A0E1-CB82-98AD-FF95DC9038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04800"/>
            <a:ext cx="5562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kumimoji="0" lang="en-US" altLang="zh-CN" sz="2000"/>
              <a:t>1.3 Data Structure For Tree Languages</a:t>
            </a:r>
          </a:p>
        </p:txBody>
      </p:sp>
      <p:sp>
        <p:nvSpPr>
          <p:cNvPr id="50178" name="文本框 29698">
            <a:extLst>
              <a:ext uri="{FF2B5EF4-FFF2-40B4-BE49-F238E27FC236}">
                <a16:creationId xmlns:a16="http://schemas.microsoft.com/office/drawing/2014/main" id="{1C7CD3BE-8A1F-5674-BECD-5D39C09F9C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143000"/>
            <a:ext cx="74676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kumimoji="0" lang="en-US" altLang="zh-CN" sz="2400" b="1" dirty="0"/>
              <a:t>A constructor function:</a:t>
            </a:r>
            <a:r>
              <a:rPr kumimoji="0" lang="en-US" altLang="zh-CN" sz="2400" dirty="0"/>
              <a:t> </a:t>
            </a:r>
          </a:p>
          <a:p>
            <a:pPr lvl="1" eaLnBrk="1" hangingPunct="1">
              <a:buFont typeface="Wingdings" pitchFamily="2" charset="2"/>
              <a:buChar char="l"/>
            </a:pPr>
            <a:r>
              <a:rPr kumimoji="0" lang="en-US" altLang="zh-CN" sz="2000" dirty="0"/>
              <a:t> Malloc and initialize the data structure</a:t>
            </a:r>
          </a:p>
          <a:p>
            <a:pPr lvl="1" eaLnBrk="1" hangingPunct="1">
              <a:buFont typeface="Wingdings" pitchFamily="2" charset="2"/>
              <a:buChar char="l"/>
            </a:pPr>
            <a:r>
              <a:rPr kumimoji="0" lang="en-US" altLang="zh-CN" sz="2000" dirty="0"/>
              <a:t> Such as </a:t>
            </a:r>
            <a:r>
              <a:rPr kumimoji="0" lang="en-US" altLang="zh-CN" sz="2000" b="1" dirty="0" err="1"/>
              <a:t>CompoundStm</a:t>
            </a:r>
            <a:r>
              <a:rPr kumimoji="0" lang="en-US" altLang="zh-CN" sz="2000" b="1" dirty="0"/>
              <a:t>, </a:t>
            </a:r>
            <a:r>
              <a:rPr kumimoji="0" lang="en-US" altLang="zh-CN" sz="2000" b="1" dirty="0" err="1"/>
              <a:t>AssignStm</a:t>
            </a:r>
            <a:r>
              <a:rPr kumimoji="0" lang="en-US" altLang="zh-CN" sz="2000" dirty="0"/>
              <a:t>, </a:t>
            </a:r>
            <a:r>
              <a:rPr kumimoji="0" lang="en-US" altLang="zh-CN" sz="2000" dirty="0" err="1"/>
              <a:t>etc</a:t>
            </a:r>
            <a:endParaRPr kumimoji="0" lang="en-US" altLang="zh-CN" sz="20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F1F57D4-7183-5038-EDDA-C90E4AA33F8E}"/>
              </a:ext>
            </a:extLst>
          </p:cNvPr>
          <p:cNvSpPr txBox="1"/>
          <p:nvPr/>
        </p:nvSpPr>
        <p:spPr>
          <a:xfrm>
            <a:off x="838298" y="2895614"/>
            <a:ext cx="76198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22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A_stm</a:t>
            </a:r>
            <a:r>
              <a:rPr lang="en" altLang="zh-CN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22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A_CompoundStm</a:t>
            </a:r>
            <a:r>
              <a:rPr lang="en" altLang="zh-CN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22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A_stm</a:t>
            </a:r>
            <a:r>
              <a:rPr lang="en" altLang="zh-CN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2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stm1</a:t>
            </a:r>
            <a:r>
              <a:rPr lang="en" altLang="zh-CN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22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A_stm</a:t>
            </a:r>
            <a:r>
              <a:rPr lang="en" altLang="zh-CN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2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stm2</a:t>
            </a:r>
            <a:r>
              <a:rPr lang="en" altLang="zh-CN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 </a:t>
            </a:r>
          </a:p>
          <a:p>
            <a:r>
              <a:rPr lang="zh-CN" altLang="en-US" sz="220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" altLang="zh-CN" sz="22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A_stm</a:t>
            </a:r>
            <a:r>
              <a:rPr lang="en" altLang="zh-CN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2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</a:t>
            </a:r>
            <a:r>
              <a:rPr lang="en" altLang="zh-CN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" altLang="zh-CN" sz="22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checked_malloc</a:t>
            </a:r>
            <a:r>
              <a:rPr lang="en" altLang="zh-CN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22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" altLang="zh-CN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(*</a:t>
            </a:r>
            <a:r>
              <a:rPr lang="en" altLang="zh-CN" sz="2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</a:t>
            </a:r>
            <a:r>
              <a:rPr lang="en" altLang="zh-CN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));</a:t>
            </a:r>
          </a:p>
          <a:p>
            <a:r>
              <a:rPr lang="zh-CN" altLang="en-US" sz="2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" altLang="zh-CN" sz="2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</a:t>
            </a:r>
            <a:r>
              <a:rPr lang="en" altLang="zh-CN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-&gt;</a:t>
            </a:r>
            <a:r>
              <a:rPr lang="en" altLang="zh-CN" sz="2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kind</a:t>
            </a:r>
            <a:r>
              <a:rPr lang="en" altLang="zh-CN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" altLang="zh-CN" sz="2200" b="0" dirty="0" err="1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A_compoundStm</a:t>
            </a:r>
            <a:r>
              <a:rPr lang="en" altLang="zh-CN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zh-CN" altLang="en-US" sz="2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" altLang="zh-CN" sz="2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</a:t>
            </a:r>
            <a:r>
              <a:rPr lang="en" altLang="zh-CN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-&gt;</a:t>
            </a:r>
            <a:r>
              <a:rPr lang="en" altLang="zh-CN" sz="2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u</a:t>
            </a:r>
            <a:r>
              <a:rPr lang="en" altLang="zh-CN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2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compound</a:t>
            </a:r>
            <a:r>
              <a:rPr lang="en" altLang="zh-CN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2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stm1</a:t>
            </a:r>
            <a:r>
              <a:rPr lang="en" altLang="zh-CN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2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stm1</a:t>
            </a:r>
            <a:r>
              <a:rPr lang="en" altLang="zh-CN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</a:p>
          <a:p>
            <a:r>
              <a:rPr lang="zh-CN" altLang="en-US" sz="2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" altLang="zh-CN" sz="2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</a:t>
            </a:r>
            <a:r>
              <a:rPr lang="en" altLang="zh-CN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-&gt;</a:t>
            </a:r>
            <a:r>
              <a:rPr lang="en" altLang="zh-CN" sz="2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u</a:t>
            </a:r>
            <a:r>
              <a:rPr lang="en" altLang="zh-CN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2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compound</a:t>
            </a:r>
            <a:r>
              <a:rPr lang="en" altLang="zh-CN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2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stm2</a:t>
            </a:r>
            <a:r>
              <a:rPr lang="en" altLang="zh-CN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2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stm2</a:t>
            </a:r>
            <a:r>
              <a:rPr lang="en" altLang="zh-CN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zh-CN" altLang="en-US" sz="22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" altLang="zh-CN" sz="22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" altLang="zh-CN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2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</a:t>
            </a:r>
            <a:r>
              <a:rPr lang="en" altLang="zh-CN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" altLang="zh-CN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文本框 28673">
            <a:extLst>
              <a:ext uri="{FF2B5EF4-FFF2-40B4-BE49-F238E27FC236}">
                <a16:creationId xmlns:a16="http://schemas.microsoft.com/office/drawing/2014/main" id="{97B577C3-4378-886F-248C-336A1D0379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04800"/>
            <a:ext cx="5562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kumimoji="0" lang="en-US" altLang="zh-CN" sz="2000"/>
              <a:t>1.3 Data Structure For Tree Languages</a:t>
            </a:r>
          </a:p>
        </p:txBody>
      </p:sp>
      <p:sp>
        <p:nvSpPr>
          <p:cNvPr id="51202" name="文本框 28674">
            <a:extLst>
              <a:ext uri="{FF2B5EF4-FFF2-40B4-BE49-F238E27FC236}">
                <a16:creationId xmlns:a16="http://schemas.microsoft.com/office/drawing/2014/main" id="{68EE290F-4A7A-EADA-F282-A0D4C41893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066800"/>
            <a:ext cx="7772400" cy="5632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800" b="1" dirty="0" err="1"/>
              <a:t>Binop</a:t>
            </a:r>
            <a:r>
              <a:rPr kumimoji="0" lang="en-US" altLang="zh-CN" sz="2800" b="1" dirty="0"/>
              <a:t> </a:t>
            </a:r>
            <a:r>
              <a:rPr kumimoji="0" lang="en-US" altLang="zh-CN" sz="2800" dirty="0"/>
              <a:t> will be simpler.</a:t>
            </a:r>
          </a:p>
          <a:p>
            <a:pPr lvl="4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b="1" i="1" dirty="0" err="1"/>
              <a:t>Binop</a:t>
            </a:r>
            <a:r>
              <a:rPr kumimoji="0" lang="en-US" altLang="zh-CN" b="1" dirty="0"/>
              <a:t> →+</a:t>
            </a:r>
          </a:p>
          <a:p>
            <a:pPr lvl="4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b="1" i="1" dirty="0" err="1"/>
              <a:t>Binop</a:t>
            </a:r>
            <a:r>
              <a:rPr kumimoji="0" lang="en-US" altLang="zh-CN" b="1" dirty="0"/>
              <a:t> →− </a:t>
            </a:r>
          </a:p>
          <a:p>
            <a:pPr lvl="4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b="1" i="1" dirty="0" err="1"/>
              <a:t>Binop</a:t>
            </a:r>
            <a:r>
              <a:rPr kumimoji="0" lang="en-US" altLang="zh-CN" b="1" dirty="0"/>
              <a:t> →×</a:t>
            </a:r>
          </a:p>
          <a:p>
            <a:pPr lvl="4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b="1" i="1" dirty="0" err="1"/>
              <a:t>Binop</a:t>
            </a:r>
            <a:r>
              <a:rPr kumimoji="0" lang="en-US" altLang="zh-CN" sz="1800" b="1" dirty="0"/>
              <a:t> → /</a:t>
            </a:r>
          </a:p>
          <a:p>
            <a:pPr lvl="4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zh-CN" sz="2800" dirty="0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800" b="1" dirty="0"/>
              <a:t>Making a </a:t>
            </a:r>
            <a:r>
              <a:rPr kumimoji="0" lang="en-US" altLang="zh-CN" sz="2800" b="1" dirty="0" err="1"/>
              <a:t>Binop</a:t>
            </a:r>
            <a:r>
              <a:rPr kumimoji="0" lang="en-US" altLang="zh-CN" sz="2800" b="1" dirty="0"/>
              <a:t> struct</a:t>
            </a:r>
            <a:r>
              <a:rPr kumimoji="0" lang="en-US" altLang="zh-CN" sz="2800" dirty="0"/>
              <a:t>. </a:t>
            </a:r>
          </a:p>
          <a:p>
            <a:pPr>
              <a:buNone/>
            </a:pPr>
            <a:r>
              <a:rPr lang="en" altLang="zh-CN" sz="2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20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A_binop</a:t>
            </a:r>
            <a:r>
              <a:rPr lang="en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pPr>
              <a:buNone/>
            </a:pPr>
            <a:r>
              <a:rPr lang="zh-CN" altLang="en-US" sz="2000" dirty="0">
                <a:solidFill>
                  <a:srgbClr val="0000FF"/>
                </a:solidFill>
                <a:latin typeface="Menlo" panose="020B0609030804020204" pitchFamily="49" charset="0"/>
              </a:rPr>
              <a:t>    </a:t>
            </a:r>
            <a:r>
              <a:rPr lang="en" altLang="zh-CN" sz="20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enum</a:t>
            </a:r>
            <a:r>
              <a:rPr lang="en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  <a:r>
              <a:rPr lang="en" altLang="zh-CN" sz="2000" b="0" dirty="0" err="1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A_plus</a:t>
            </a:r>
            <a:r>
              <a:rPr lang="en" altLang="zh-CN" sz="20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" altLang="zh-CN" sz="2000" b="0" dirty="0" err="1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A_minus</a:t>
            </a:r>
            <a:r>
              <a:rPr lang="en" altLang="zh-CN" sz="20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" altLang="zh-CN" sz="2000" b="0" dirty="0" err="1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A_times</a:t>
            </a:r>
            <a:r>
              <a:rPr lang="en" altLang="zh-CN" sz="20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" altLang="zh-CN" sz="2000" b="0" dirty="0" err="1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A_div</a:t>
            </a:r>
            <a:r>
              <a:rPr lang="en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 </a:t>
            </a:r>
            <a:r>
              <a:rPr lang="en" altLang="zh-CN" sz="2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kind</a:t>
            </a:r>
            <a:r>
              <a:rPr lang="en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buNone/>
            </a:pPr>
            <a:r>
              <a:rPr lang="en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800" dirty="0"/>
              <a:t>Overkill</a:t>
            </a:r>
            <a:r>
              <a:rPr kumimoji="0" lang="zh-CN" altLang="en-US" sz="2800" dirty="0"/>
              <a:t>：</a:t>
            </a:r>
            <a:r>
              <a:rPr kumimoji="0" lang="en-US" altLang="zh-CN" sz="2800" dirty="0"/>
              <a:t>no</a:t>
            </a:r>
            <a:r>
              <a:rPr kumimoji="0" lang="zh-CN" altLang="en-US" sz="2800" dirty="0"/>
              <a:t> </a:t>
            </a:r>
            <a:r>
              <a:rPr kumimoji="0" lang="en-US" altLang="zh-CN" sz="2800" dirty="0"/>
              <a:t>data</a:t>
            </a:r>
            <a:r>
              <a:rPr kumimoji="0" lang="zh-CN" altLang="en-US" sz="2800" dirty="0"/>
              <a:t> </a:t>
            </a:r>
            <a:r>
              <a:rPr kumimoji="0" lang="en-US" altLang="zh-CN" sz="2800" dirty="0"/>
              <a:t>need</a:t>
            </a:r>
            <a:r>
              <a:rPr kumimoji="0" lang="zh-CN" altLang="en-US" sz="2800" dirty="0"/>
              <a:t> </a:t>
            </a:r>
            <a:r>
              <a:rPr kumimoji="0" lang="en-US" altLang="zh-CN" sz="2800" dirty="0"/>
              <a:t>to</a:t>
            </a:r>
            <a:r>
              <a:rPr kumimoji="0" lang="zh-CN" altLang="en-US" sz="2800" dirty="0"/>
              <a:t> </a:t>
            </a:r>
            <a:r>
              <a:rPr kumimoji="0" lang="en-US" altLang="zh-CN" sz="2800" dirty="0"/>
              <a:t>contain.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zh-CN" sz="2800" dirty="0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800" dirty="0"/>
              <a:t>Instead, making an </a:t>
            </a:r>
            <a:r>
              <a:rPr kumimoji="0" lang="en-US" altLang="zh-CN" sz="2800" b="1" dirty="0" err="1"/>
              <a:t>enum</a:t>
            </a:r>
            <a:r>
              <a:rPr kumimoji="0" lang="en-US" altLang="zh-CN" sz="2800" b="1" dirty="0"/>
              <a:t> type</a:t>
            </a:r>
            <a:r>
              <a:rPr kumimoji="0" lang="en-US" altLang="zh-CN" sz="2800" dirty="0"/>
              <a:t>  </a:t>
            </a:r>
            <a:r>
              <a:rPr kumimoji="0" lang="en-US" altLang="zh-CN" sz="2800" dirty="0" err="1"/>
              <a:t>A_binop</a:t>
            </a:r>
            <a:r>
              <a:rPr kumimoji="0" lang="zh-CN" altLang="en-US" sz="2800" dirty="0"/>
              <a:t>：</a:t>
            </a:r>
            <a:endParaRPr kumimoji="0" lang="en-US" altLang="zh-CN" sz="2800" dirty="0"/>
          </a:p>
          <a:p>
            <a:pPr eaLnBrk="1" hangingPunct="1">
              <a:spcBef>
                <a:spcPct val="0"/>
              </a:spcBef>
              <a:buNone/>
            </a:pPr>
            <a:r>
              <a:rPr lang="en" altLang="zh-CN" sz="2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typedef</a:t>
            </a:r>
            <a:r>
              <a:rPr lang="en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20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enum</a:t>
            </a:r>
            <a:r>
              <a:rPr lang="en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  <a:r>
              <a:rPr lang="en" altLang="zh-CN" sz="2000" b="0" dirty="0" err="1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A_plus</a:t>
            </a:r>
            <a:r>
              <a:rPr lang="en" altLang="zh-CN" sz="20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" altLang="zh-CN" sz="2000" b="0" dirty="0" err="1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A_minus</a:t>
            </a:r>
            <a:r>
              <a:rPr lang="en" altLang="zh-CN" sz="20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" altLang="zh-CN" sz="2000" b="0" dirty="0" err="1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A_times</a:t>
            </a:r>
            <a:r>
              <a:rPr lang="en" altLang="zh-CN" sz="20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" altLang="zh-CN" sz="2000" b="0" dirty="0" err="1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A_div</a:t>
            </a:r>
            <a:r>
              <a:rPr lang="en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zh-CN" altLang="en-US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20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A_binop</a:t>
            </a:r>
            <a:r>
              <a:rPr lang="en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文本框 41985">
            <a:extLst>
              <a:ext uri="{FF2B5EF4-FFF2-40B4-BE49-F238E27FC236}">
                <a16:creationId xmlns:a16="http://schemas.microsoft.com/office/drawing/2014/main" id="{F7FC835A-FA09-A095-A896-47B6E0643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04800"/>
            <a:ext cx="815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kumimoji="0" lang="en-US" altLang="zh-CN" sz="2000"/>
              <a:t>1.3 Data Structure For Tree Languages: </a:t>
            </a:r>
            <a:r>
              <a:rPr kumimoji="0" lang="en-US" altLang="zh-CN" sz="1800" b="1"/>
              <a:t>Programming style</a:t>
            </a:r>
            <a:r>
              <a:rPr kumimoji="0" lang="en-US" altLang="zh-CN" sz="1800"/>
              <a:t> : </a:t>
            </a:r>
            <a:endParaRPr kumimoji="0" lang="en-US" altLang="zh-CN" sz="2000"/>
          </a:p>
        </p:txBody>
      </p:sp>
      <p:sp>
        <p:nvSpPr>
          <p:cNvPr id="52226" name="矩形 41986">
            <a:extLst>
              <a:ext uri="{FF2B5EF4-FFF2-40B4-BE49-F238E27FC236}">
                <a16:creationId xmlns:a16="http://schemas.microsoft.com/office/drawing/2014/main" id="{8690EACF-FE42-D690-6B37-44A45EFEC2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489813"/>
            <a:ext cx="7848600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AutoNum type="arabicPeriod"/>
            </a:pPr>
            <a:r>
              <a:rPr kumimoji="0" lang="en-US" altLang="zh-CN" sz="2400" dirty="0"/>
              <a:t>Trees are described by a grammar.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AutoNum type="arabicPeriod"/>
            </a:pPr>
            <a:endParaRPr kumimoji="0" lang="en-US" altLang="zh-CN" sz="2400" dirty="0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AutoNum type="arabicPeriod"/>
            </a:pPr>
            <a:r>
              <a:rPr kumimoji="0" lang="en-US" altLang="zh-CN" sz="2400" dirty="0"/>
              <a:t>A tree is </a:t>
            </a:r>
            <a:r>
              <a:rPr kumimoji="0" lang="en-US" altLang="zh-CN" sz="2400" dirty="0">
                <a:solidFill>
                  <a:srgbClr val="FF0000"/>
                </a:solidFill>
              </a:rPr>
              <a:t>described by one or more typedef</a:t>
            </a:r>
            <a:r>
              <a:rPr kumimoji="0" lang="en-US" altLang="zh-CN" sz="2400" dirty="0"/>
              <a:t>, each corresponding to a symbol in the grammar.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AutoNum type="arabicPeriod"/>
            </a:pPr>
            <a:endParaRPr kumimoji="0" lang="en-US" altLang="zh-CN" sz="2400" dirty="0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AutoNum type="arabicPeriod"/>
            </a:pPr>
            <a:r>
              <a:rPr kumimoji="0" lang="en-US" altLang="zh-CN" sz="2400" dirty="0"/>
              <a:t>Each typedef defines a pointer to a corresponding struct. </a:t>
            </a:r>
          </a:p>
          <a:p>
            <a:pPr lvl="1" eaLnBrk="1" hangingPunct="1">
              <a:spcBef>
                <a:spcPct val="0"/>
              </a:spcBef>
              <a:buFont typeface="Wingdings" pitchFamily="2" charset="2"/>
              <a:buChar char="l"/>
            </a:pPr>
            <a:r>
              <a:rPr kumimoji="0" lang="en-US" altLang="zh-CN" sz="2400" dirty="0"/>
              <a:t>The struct name, which </a:t>
            </a:r>
            <a:r>
              <a:rPr kumimoji="0" lang="en-US" altLang="zh-CN" sz="2400" dirty="0">
                <a:solidFill>
                  <a:srgbClr val="FF0000"/>
                </a:solidFill>
              </a:rPr>
              <a:t>ends in an underscore</a:t>
            </a:r>
            <a:r>
              <a:rPr kumimoji="0" lang="en-US" altLang="zh-CN" sz="2400" dirty="0"/>
              <a:t>, is never used anywhere except in the declaration of the typedef and the </a:t>
            </a:r>
            <a:r>
              <a:rPr kumimoji="0" lang="en-US" altLang="zh-CN" sz="2400" dirty="0" err="1"/>
              <a:t>defination</a:t>
            </a:r>
            <a:r>
              <a:rPr kumimoji="0" lang="en-US" altLang="zh-CN" sz="2400" dirty="0"/>
              <a:t> of the struct itself.</a:t>
            </a:r>
          </a:p>
        </p:txBody>
      </p:sp>
      <p:sp>
        <p:nvSpPr>
          <p:cNvPr id="52227" name="矩形 41987">
            <a:extLst>
              <a:ext uri="{FF2B5EF4-FFF2-40B4-BE49-F238E27FC236}">
                <a16:creationId xmlns:a16="http://schemas.microsoft.com/office/drawing/2014/main" id="{0FCB91C1-BF73-9491-2F83-4919E87A0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488" y="701675"/>
            <a:ext cx="80772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1" dirty="0"/>
              <a:t>Several conventions for representing tree data structures in C</a:t>
            </a:r>
          </a:p>
        </p:txBody>
      </p:sp>
      <p:sp>
        <p:nvSpPr>
          <p:cNvPr id="2" name="矩形 41986">
            <a:extLst>
              <a:ext uri="{FF2B5EF4-FFF2-40B4-BE49-F238E27FC236}">
                <a16:creationId xmlns:a16="http://schemas.microsoft.com/office/drawing/2014/main" id="{DEC662D6-FA3A-7EB9-6E57-54F3C77D32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85" y="5313252"/>
            <a:ext cx="6476830" cy="1508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buNone/>
            </a:pPr>
            <a:r>
              <a:rPr lang="en" altLang="zh-CN" sz="2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typedef</a:t>
            </a:r>
            <a:r>
              <a:rPr lang="en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2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" altLang="zh-CN" sz="200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string</a:t>
            </a:r>
            <a:r>
              <a:rPr lang="en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sz="2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typedef</a:t>
            </a:r>
            <a:r>
              <a:rPr lang="en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2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20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A_stm</a:t>
            </a:r>
            <a:r>
              <a:rPr lang="en" altLang="zh-CN" sz="200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_</a:t>
            </a:r>
            <a:r>
              <a:rPr lang="en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" altLang="zh-CN" sz="20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A_stm</a:t>
            </a:r>
            <a:r>
              <a:rPr lang="en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sz="2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typedef</a:t>
            </a:r>
            <a:r>
              <a:rPr lang="en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2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20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A_exp</a:t>
            </a:r>
            <a:r>
              <a:rPr lang="en" altLang="zh-CN" sz="200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_</a:t>
            </a:r>
            <a:r>
              <a:rPr lang="en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" altLang="zh-CN" sz="20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A_exp</a:t>
            </a:r>
            <a:r>
              <a:rPr lang="en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sz="2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typedef</a:t>
            </a:r>
            <a:r>
              <a:rPr lang="en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2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20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A_expList</a:t>
            </a:r>
            <a:r>
              <a:rPr lang="en" altLang="zh-CN" sz="200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_</a:t>
            </a:r>
            <a:r>
              <a:rPr lang="en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" altLang="zh-CN" sz="20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A_expList</a:t>
            </a:r>
            <a:r>
              <a:rPr lang="en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矩形 30723">
            <a:extLst>
              <a:ext uri="{FF2B5EF4-FFF2-40B4-BE49-F238E27FC236}">
                <a16:creationId xmlns:a16="http://schemas.microsoft.com/office/drawing/2014/main" id="{B155F21B-6759-D194-A267-67E67E7C6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720789"/>
            <a:ext cx="7848600" cy="3724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AutoNum type="arabicPeriod" startAt="4"/>
            </a:pPr>
            <a:r>
              <a:rPr kumimoji="0" lang="en-US" altLang="zh-CN" sz="2400" dirty="0"/>
              <a:t>Each struct contains </a:t>
            </a:r>
            <a:r>
              <a:rPr kumimoji="0" lang="en-US" altLang="zh-CN" sz="2400" dirty="0">
                <a:solidFill>
                  <a:srgbClr val="FF0000"/>
                </a:solidFill>
              </a:rPr>
              <a:t>a kind fields</a:t>
            </a:r>
            <a:r>
              <a:rPr kumimoji="0" lang="en-US" altLang="zh-CN" sz="2400" dirty="0"/>
              <a:t>, </a:t>
            </a:r>
          </a:p>
          <a:p>
            <a:pPr lvl="1" eaLnBrk="1" hangingPunct="1">
              <a:spcBef>
                <a:spcPct val="0"/>
              </a:spcBef>
              <a:buFont typeface="Wingdings" pitchFamily="2" charset="2"/>
              <a:buChar char="l"/>
            </a:pPr>
            <a:r>
              <a:rPr kumimoji="0" lang="en-US" altLang="zh-CN" sz="2000" dirty="0"/>
              <a:t>An </a:t>
            </a:r>
            <a:r>
              <a:rPr kumimoji="0" lang="en-US" altLang="zh-CN" sz="2000" dirty="0" err="1"/>
              <a:t>enum</a:t>
            </a:r>
            <a:r>
              <a:rPr kumimoji="0" lang="en-US" altLang="zh-CN" sz="2000" dirty="0"/>
              <a:t> showing different variants, one of each grammar rule; and a u field, which is a union</a:t>
            </a:r>
            <a:r>
              <a:rPr kumimoji="0" lang="en-US" altLang="zh-CN" sz="2400" dirty="0"/>
              <a:t>.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AutoNum type="arabicPeriod" startAt="4"/>
            </a:pPr>
            <a:r>
              <a:rPr kumimoji="0" lang="en-US" altLang="zh-CN" sz="2400" dirty="0"/>
              <a:t>There is </a:t>
            </a:r>
            <a:r>
              <a:rPr kumimoji="0" lang="en-US" altLang="zh-CN" sz="2400" b="1" dirty="0"/>
              <a:t>more than one nontrivial(value-</a:t>
            </a:r>
            <a:r>
              <a:rPr kumimoji="0" lang="en-US" altLang="zh-CN" sz="2400" b="1" dirty="0" err="1"/>
              <a:t>carraying</a:t>
            </a:r>
            <a:r>
              <a:rPr kumimoji="0" lang="en-US" altLang="zh-CN" sz="2400" b="1" dirty="0"/>
              <a:t>) symbol</a:t>
            </a:r>
            <a:r>
              <a:rPr kumimoji="0" lang="en-US" altLang="zh-CN" sz="2400" dirty="0"/>
              <a:t> in the right-hand side of a rule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dirty="0"/>
              <a:t>     (example: the rule </a:t>
            </a:r>
            <a:r>
              <a:rPr kumimoji="0" lang="en-US" altLang="zh-CN" sz="2400" dirty="0" err="1"/>
              <a:t>CompoundStm</a:t>
            </a:r>
            <a:r>
              <a:rPr kumimoji="0" lang="en-US" altLang="zh-CN" sz="2400" dirty="0"/>
              <a:t>), 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zh-CN" sz="2400" dirty="0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dirty="0"/>
              <a:t>    </a:t>
            </a:r>
            <a:r>
              <a:rPr kumimoji="0" lang="en-US" altLang="zh-CN" sz="2400" dirty="0">
                <a:solidFill>
                  <a:srgbClr val="FF0000"/>
                </a:solidFill>
              </a:rPr>
              <a:t>The union has a </a:t>
            </a:r>
            <a:r>
              <a:rPr kumimoji="0" lang="en-US" altLang="zh-CN" sz="2400" b="1" dirty="0">
                <a:solidFill>
                  <a:srgbClr val="FF0000"/>
                </a:solidFill>
              </a:rPr>
              <a:t>component that is itself a struct</a:t>
            </a:r>
            <a:r>
              <a:rPr kumimoji="0" lang="en-US" altLang="zh-CN" sz="2400" dirty="0"/>
              <a:t> comprising these values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dirty="0"/>
              <a:t>    (example: the compound element of the </a:t>
            </a:r>
            <a:r>
              <a:rPr kumimoji="0" lang="en-US" altLang="zh-CN" sz="2400" dirty="0" err="1"/>
              <a:t>A_stm</a:t>
            </a:r>
            <a:r>
              <a:rPr kumimoji="0" lang="en-US" altLang="zh-CN" sz="2400" dirty="0"/>
              <a:t> union).</a:t>
            </a:r>
          </a:p>
        </p:txBody>
      </p:sp>
      <p:sp>
        <p:nvSpPr>
          <p:cNvPr id="53250" name="文本框 30725">
            <a:extLst>
              <a:ext uri="{FF2B5EF4-FFF2-40B4-BE49-F238E27FC236}">
                <a16:creationId xmlns:a16="http://schemas.microsoft.com/office/drawing/2014/main" id="{27A075FD-3EEC-4E7F-B9F7-D7623146B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04800"/>
            <a:ext cx="815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kumimoji="0" lang="en-US" altLang="zh-CN" sz="2000"/>
              <a:t>1.3 Data Structure For Tree Languages: </a:t>
            </a:r>
            <a:r>
              <a:rPr kumimoji="0" lang="en-US" altLang="zh-CN" sz="1800" b="1"/>
              <a:t>Programming style</a:t>
            </a:r>
            <a:r>
              <a:rPr kumimoji="0" lang="en-US" altLang="zh-CN" sz="1800"/>
              <a:t> : </a:t>
            </a:r>
            <a:endParaRPr kumimoji="0" lang="en-US" altLang="zh-CN" sz="2000"/>
          </a:p>
        </p:txBody>
      </p:sp>
      <p:sp>
        <p:nvSpPr>
          <p:cNvPr id="2" name="矩形 41986">
            <a:extLst>
              <a:ext uri="{FF2B5EF4-FFF2-40B4-BE49-F238E27FC236}">
                <a16:creationId xmlns:a16="http://schemas.microsoft.com/office/drawing/2014/main" id="{239601EC-6F91-29A8-7E64-C5F5468AF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42" y="4432134"/>
            <a:ext cx="7238915" cy="2406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buNone/>
            </a:pPr>
            <a:r>
              <a:rPr lang="en" altLang="zh-CN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A_stm</a:t>
            </a:r>
            <a:r>
              <a:rPr lang="en" altLang="zh-CN" sz="160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_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pPr marL="0" indent="0">
              <a:buNone/>
            </a:pPr>
            <a:r>
              <a:rPr lang="zh-CN" alt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" altLang="zh-CN" sz="16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enum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  <a:r>
              <a:rPr lang="en" altLang="zh-CN" sz="1600" b="0" dirty="0" err="1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A_compoundStm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600" b="0" dirty="0" err="1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A_assignStm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600" b="0" dirty="0" err="1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A_printStm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 </a:t>
            </a:r>
            <a:r>
              <a:rPr lang="en" altLang="zh-CN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kind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</a:p>
          <a:p>
            <a:pPr marL="0" indent="0">
              <a:buNone/>
            </a:pPr>
            <a:r>
              <a:rPr lang="zh-CN" alt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" altLang="zh-CN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union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pPr marL="0" indent="0">
              <a:buNone/>
            </a:pPr>
            <a:r>
              <a:rPr lang="zh-CN" alt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" altLang="zh-CN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  <a:r>
              <a:rPr lang="en" altLang="zh-CN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A_stm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stm1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stm2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;} </a:t>
            </a:r>
            <a:r>
              <a:rPr lang="en" altLang="zh-CN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compound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</a:p>
          <a:p>
            <a:pPr marL="0" indent="0">
              <a:buNone/>
            </a:pPr>
            <a:r>
              <a:rPr lang="zh-CN" alt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" altLang="zh-CN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  <a:r>
              <a:rPr lang="en" altLang="zh-CN" sz="160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string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id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" altLang="zh-CN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A_exp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exp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;} </a:t>
            </a:r>
            <a:r>
              <a:rPr lang="en" altLang="zh-CN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assign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</a:p>
          <a:p>
            <a:pPr marL="0" indent="0">
              <a:buNone/>
            </a:pPr>
            <a:r>
              <a:rPr lang="zh-CN" alt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" altLang="zh-CN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  <a:r>
              <a:rPr lang="en" altLang="zh-CN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A_expList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exps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;} </a:t>
            </a:r>
            <a:r>
              <a:rPr lang="en" altLang="zh-CN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zh-CN" alt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 </a:t>
            </a:r>
            <a:r>
              <a:rPr lang="en" altLang="zh-CN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u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 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矩形 33794">
            <a:extLst>
              <a:ext uri="{FF2B5EF4-FFF2-40B4-BE49-F238E27FC236}">
                <a16:creationId xmlns:a16="http://schemas.microsoft.com/office/drawing/2014/main" id="{67B63BAF-4B1B-4F13-8133-6B6FE06D5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102450"/>
            <a:ext cx="7848600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AutoNum type="arabicPeriod" startAt="6"/>
            </a:pPr>
            <a:r>
              <a:rPr kumimoji="0" lang="en-US" altLang="zh-CN" sz="2400" dirty="0"/>
              <a:t>There is </a:t>
            </a:r>
            <a:r>
              <a:rPr kumimoji="0" lang="en-US" altLang="zh-CN" sz="2400" dirty="0">
                <a:solidFill>
                  <a:srgbClr val="FF0000"/>
                </a:solidFill>
              </a:rPr>
              <a:t>only one nontrivial symbol</a:t>
            </a:r>
            <a:r>
              <a:rPr kumimoji="0" lang="en-US" altLang="zh-CN" sz="2400" dirty="0"/>
              <a:t> in the right-hand side of a rule, 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dirty="0"/>
              <a:t>    The union will have </a:t>
            </a:r>
            <a:r>
              <a:rPr kumimoji="0" lang="en-US" altLang="zh-CN" sz="2400" dirty="0">
                <a:solidFill>
                  <a:srgbClr val="FF0000"/>
                </a:solidFill>
              </a:rPr>
              <a:t>a component that is the value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dirty="0"/>
              <a:t>    (example: the num field of the </a:t>
            </a:r>
            <a:r>
              <a:rPr kumimoji="0" lang="en-US" altLang="zh-CN" sz="2400" dirty="0" err="1"/>
              <a:t>A_exp</a:t>
            </a:r>
            <a:r>
              <a:rPr kumimoji="0" lang="en-US" altLang="zh-CN" sz="2400" dirty="0"/>
              <a:t> union)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zh-CN" sz="2400" dirty="0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dirty="0"/>
              <a:t>7. Every class will have a </a:t>
            </a:r>
            <a:r>
              <a:rPr kumimoji="0" lang="en-US" altLang="zh-CN" sz="2400" dirty="0">
                <a:solidFill>
                  <a:srgbClr val="FF0000"/>
                </a:solidFill>
              </a:rPr>
              <a:t>constructor function</a:t>
            </a:r>
            <a:r>
              <a:rPr kumimoji="0" lang="en-US" altLang="zh-CN" sz="2400" dirty="0"/>
              <a:t> that initializes all the fields. 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dirty="0"/>
              <a:t>    The malloc function shall never be called directly, except in these constructor functions.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zh-CN" sz="2400" dirty="0"/>
          </a:p>
        </p:txBody>
      </p:sp>
      <p:sp>
        <p:nvSpPr>
          <p:cNvPr id="54274" name="文本框 33796">
            <a:extLst>
              <a:ext uri="{FF2B5EF4-FFF2-40B4-BE49-F238E27FC236}">
                <a16:creationId xmlns:a16="http://schemas.microsoft.com/office/drawing/2014/main" id="{A50D3DAF-BCF1-3FCF-7C7B-8D2EB64FAE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04800"/>
            <a:ext cx="815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kumimoji="0" lang="en-US" altLang="zh-CN" sz="2000"/>
              <a:t>1.3 Data Structure For Tree Languages: </a:t>
            </a:r>
            <a:r>
              <a:rPr kumimoji="0" lang="en-US" altLang="zh-CN" sz="1800" b="1"/>
              <a:t>Programming style</a:t>
            </a:r>
            <a:r>
              <a:rPr kumimoji="0" lang="en-US" altLang="zh-CN" sz="1800"/>
              <a:t> : </a:t>
            </a:r>
            <a:endParaRPr kumimoji="0" lang="en-US" altLang="zh-CN" sz="2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C5ADDFB-D3C0-8F6F-5D73-94D7637496C2}"/>
              </a:ext>
            </a:extLst>
          </p:cNvPr>
          <p:cNvSpPr txBox="1"/>
          <p:nvPr/>
        </p:nvSpPr>
        <p:spPr>
          <a:xfrm>
            <a:off x="1143090" y="4521875"/>
            <a:ext cx="64387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A_stm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A_CompoundStm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A_stm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stm1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A_stm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stm2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 </a:t>
            </a:r>
          </a:p>
          <a:p>
            <a:r>
              <a:rPr lang="zh-CN" altLang="en-US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" altLang="zh-CN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A_stm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" altLang="zh-CN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checked_malloc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(*</a:t>
            </a:r>
            <a:r>
              <a:rPr lang="en" altLang="zh-CN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));</a:t>
            </a:r>
          </a:p>
          <a:p>
            <a:r>
              <a:rPr lang="zh-CN" altLang="en-US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" altLang="zh-CN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-&gt;</a:t>
            </a:r>
            <a:r>
              <a:rPr lang="en" altLang="zh-CN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kind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" altLang="zh-CN" b="0" dirty="0" err="1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A_compoundStm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zh-CN" altLang="en-US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" altLang="zh-CN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-&gt;</a:t>
            </a:r>
            <a:r>
              <a:rPr lang="en" altLang="zh-CN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u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compound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stm1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stm1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</a:p>
          <a:p>
            <a:r>
              <a:rPr lang="zh-CN" altLang="en-US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" altLang="zh-CN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-&gt;</a:t>
            </a:r>
            <a:r>
              <a:rPr lang="en" altLang="zh-CN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u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compound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stm2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stm2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zh-CN" altLang="en-US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" altLang="zh-CN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矩形 43010">
            <a:extLst>
              <a:ext uri="{FF2B5EF4-FFF2-40B4-BE49-F238E27FC236}">
                <a16:creationId xmlns:a16="http://schemas.microsoft.com/office/drawing/2014/main" id="{F4F80D57-28EC-7AA4-50CB-7F1DC3DC4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676400"/>
            <a:ext cx="7848600" cy="337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dirty="0"/>
              <a:t>8. Each module (head file) shall have a </a:t>
            </a:r>
            <a:r>
              <a:rPr kumimoji="0" lang="en-US" altLang="zh-CN" sz="2400" b="1" dirty="0">
                <a:solidFill>
                  <a:srgbClr val="FF0000"/>
                </a:solidFill>
              </a:rPr>
              <a:t>prefix unique</a:t>
            </a:r>
            <a:r>
              <a:rPr kumimoji="0" lang="en-US" altLang="zh-CN" sz="2400" dirty="0">
                <a:solidFill>
                  <a:srgbClr val="FF0000"/>
                </a:solidFill>
              </a:rPr>
              <a:t> to that module</a:t>
            </a:r>
            <a:r>
              <a:rPr kumimoji="0" lang="en-US" altLang="zh-CN" sz="2400" dirty="0"/>
              <a:t> (example, </a:t>
            </a:r>
            <a:r>
              <a:rPr kumimoji="0" lang="en-US" altLang="zh-CN" sz="2400" b="1" dirty="0"/>
              <a:t>A_</a:t>
            </a:r>
            <a:r>
              <a:rPr kumimoji="0" lang="en-US" altLang="zh-CN" sz="2400" dirty="0"/>
              <a:t> in </a:t>
            </a:r>
            <a:r>
              <a:rPr kumimoji="0" lang="en-US" altLang="zh-CN" sz="2400" b="1" dirty="0"/>
              <a:t>Program 1.5</a:t>
            </a:r>
            <a:r>
              <a:rPr kumimoji="0" lang="en-US" altLang="zh-CN" sz="2400" dirty="0"/>
              <a:t>)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zh-CN" sz="2400" dirty="0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dirty="0"/>
              <a:t>9. </a:t>
            </a:r>
            <a:r>
              <a:rPr kumimoji="0" lang="en-US" altLang="zh-CN" sz="2400" dirty="0">
                <a:solidFill>
                  <a:srgbClr val="FF0000"/>
                </a:solidFill>
              </a:rPr>
              <a:t>Typedef names(after the prefix) shall start with </a:t>
            </a:r>
            <a:r>
              <a:rPr kumimoji="0" lang="en-US" altLang="zh-CN" sz="2400" b="1" dirty="0">
                <a:solidFill>
                  <a:srgbClr val="FF0000"/>
                </a:solidFill>
              </a:rPr>
              <a:t>lowercase letters</a:t>
            </a:r>
            <a:r>
              <a:rPr kumimoji="0" lang="en-US" altLang="zh-CN" sz="2400" dirty="0"/>
              <a:t>;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dirty="0"/>
              <a:t>    </a:t>
            </a:r>
            <a:r>
              <a:rPr kumimoji="0" lang="en-US" altLang="zh-CN" sz="2400" dirty="0">
                <a:solidFill>
                  <a:srgbClr val="FF0000"/>
                </a:solidFill>
              </a:rPr>
              <a:t>constructor functions(after the prefix ) with </a:t>
            </a:r>
            <a:r>
              <a:rPr kumimoji="0" lang="en-US" altLang="zh-CN" sz="2400" b="1" dirty="0">
                <a:solidFill>
                  <a:srgbClr val="FF0000"/>
                </a:solidFill>
              </a:rPr>
              <a:t>uppercase</a:t>
            </a:r>
            <a:r>
              <a:rPr kumimoji="0" lang="en-US" altLang="zh-CN" sz="2400" dirty="0"/>
              <a:t>; enumeration atoms(after the prefix) with lowercase;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dirty="0"/>
              <a:t>    and union variants(which have no prefix) with </a:t>
            </a:r>
            <a:r>
              <a:rPr kumimoji="0" lang="en-US" altLang="zh-CN" sz="2400" b="1" dirty="0"/>
              <a:t>lowercase</a:t>
            </a:r>
            <a:r>
              <a:rPr kumimoji="0" lang="en-US" altLang="zh-CN" sz="2400" dirty="0"/>
              <a:t>.</a:t>
            </a:r>
          </a:p>
        </p:txBody>
      </p:sp>
      <p:sp>
        <p:nvSpPr>
          <p:cNvPr id="55299" name="文本框 43013">
            <a:extLst>
              <a:ext uri="{FF2B5EF4-FFF2-40B4-BE49-F238E27FC236}">
                <a16:creationId xmlns:a16="http://schemas.microsoft.com/office/drawing/2014/main" id="{D68612B5-EF07-8190-78C2-8BCD6438B2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04800"/>
            <a:ext cx="815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kumimoji="0" lang="en-US" altLang="zh-CN" sz="2000"/>
              <a:t>1.3 Data Structure For Tree Languages: </a:t>
            </a:r>
            <a:r>
              <a:rPr kumimoji="0" lang="en-US" altLang="zh-CN" sz="1800" b="1"/>
              <a:t>Programming style</a:t>
            </a:r>
            <a:r>
              <a:rPr kumimoji="0" lang="en-US" altLang="zh-CN" sz="1800"/>
              <a:t> : </a:t>
            </a:r>
            <a:endParaRPr kumimoji="0" lang="en-US" altLang="zh-CN" sz="200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文本框 34817">
            <a:extLst>
              <a:ext uri="{FF2B5EF4-FFF2-40B4-BE49-F238E27FC236}">
                <a16:creationId xmlns:a16="http://schemas.microsoft.com/office/drawing/2014/main" id="{039176B6-3A60-FC20-9ACA-988C48ED2E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04800"/>
            <a:ext cx="8153400" cy="72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kumimoji="0" lang="en-US" altLang="zh-CN" sz="2000"/>
              <a:t>1.3 Data Structure For Tree Languages: </a:t>
            </a:r>
            <a:r>
              <a:rPr kumimoji="0" lang="en-US" altLang="zh-CN" sz="1800" b="1"/>
              <a:t>Modularity principle 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kumimoji="0" lang="en-US" altLang="zh-CN" sz="1800" b="1"/>
              <a:t>                                                                         for C programs</a:t>
            </a:r>
            <a:r>
              <a:rPr kumimoji="0" lang="en-US" altLang="zh-CN" sz="1800"/>
              <a:t>:</a:t>
            </a:r>
            <a:endParaRPr kumimoji="0" lang="en-US" altLang="zh-CN" sz="2000"/>
          </a:p>
        </p:txBody>
      </p:sp>
      <p:sp>
        <p:nvSpPr>
          <p:cNvPr id="56322" name="矩形 34818">
            <a:extLst>
              <a:ext uri="{FF2B5EF4-FFF2-40B4-BE49-F238E27FC236}">
                <a16:creationId xmlns:a16="http://schemas.microsoft.com/office/drawing/2014/main" id="{FBF4CDA1-E5FB-0EB9-F161-7DD352A31F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057400"/>
            <a:ext cx="7848600" cy="410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AutoNum type="arabicPeriod"/>
            </a:pPr>
            <a:r>
              <a:rPr kumimoji="0" lang="en-US" altLang="zh-CN" sz="2400" dirty="0"/>
              <a:t>Each phase or module of the compiler belongs in its </a:t>
            </a:r>
            <a:r>
              <a:rPr kumimoji="0" lang="en-US" altLang="zh-CN" sz="2400" b="1" dirty="0"/>
              <a:t>own “.c”</a:t>
            </a:r>
            <a:r>
              <a:rPr kumimoji="0" lang="en-US" altLang="zh-CN" sz="2400" dirty="0"/>
              <a:t> file, with a corresponding </a:t>
            </a:r>
            <a:r>
              <a:rPr kumimoji="0" lang="en-US" altLang="zh-CN" sz="2400" b="1" dirty="0"/>
              <a:t>“.h” file</a:t>
            </a:r>
            <a:r>
              <a:rPr kumimoji="0" lang="en-US" altLang="zh-CN" sz="2400" dirty="0"/>
              <a:t>.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AutoNum type="arabicPeriod"/>
            </a:pPr>
            <a:endParaRPr kumimoji="0" lang="en-US" altLang="zh-CN" sz="2400" dirty="0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AutoNum type="arabicPeriod"/>
            </a:pPr>
            <a:r>
              <a:rPr kumimoji="0" lang="en-US" altLang="zh-CN" sz="2400" dirty="0"/>
              <a:t>Each module shall have </a:t>
            </a:r>
            <a:r>
              <a:rPr kumimoji="0" lang="en-US" altLang="zh-CN" sz="2400" b="1" dirty="0"/>
              <a:t>a prefix unique</a:t>
            </a:r>
            <a:r>
              <a:rPr kumimoji="0" lang="en-US" altLang="zh-CN" sz="2400" dirty="0"/>
              <a:t> to that module.</a:t>
            </a:r>
          </a:p>
          <a:p>
            <a:pPr lvl="1" eaLnBrk="1" hangingPunct="1">
              <a:spcBef>
                <a:spcPct val="0"/>
              </a:spcBef>
              <a:buFont typeface="Wingdings" pitchFamily="2" charset="2"/>
              <a:buChar char="l"/>
            </a:pPr>
            <a:r>
              <a:rPr kumimoji="0" lang="en-US" altLang="zh-CN" sz="2400" dirty="0"/>
              <a:t>All global names exported by the module shall start with the prefix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AutoNum type="arabicPeriod"/>
            </a:pPr>
            <a:endParaRPr kumimoji="0" lang="en-US" altLang="zh-CN" sz="2400" dirty="0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AutoNum type="arabicPeriod"/>
            </a:pPr>
            <a:r>
              <a:rPr kumimoji="0" lang="en-US" altLang="zh-CN" sz="2400" b="1" dirty="0"/>
              <a:t>All functions shall have prototype</a:t>
            </a:r>
            <a:endParaRPr kumimoji="0" lang="en-US" altLang="zh-CN" sz="2400" dirty="0"/>
          </a:p>
          <a:p>
            <a:pPr lvl="1" eaLnBrk="1" hangingPunct="1">
              <a:spcBef>
                <a:spcPct val="0"/>
              </a:spcBef>
              <a:buFont typeface="Wingdings" pitchFamily="2" charset="2"/>
              <a:buChar char="l"/>
            </a:pPr>
            <a:r>
              <a:rPr kumimoji="0" lang="en-US" altLang="zh-CN" sz="2400" dirty="0"/>
              <a:t>The C compiler shall be told to warn about uses of functions without prototypes</a:t>
            </a:r>
          </a:p>
        </p:txBody>
      </p:sp>
      <p:sp>
        <p:nvSpPr>
          <p:cNvPr id="56323" name="矩形 34819">
            <a:extLst>
              <a:ext uri="{FF2B5EF4-FFF2-40B4-BE49-F238E27FC236}">
                <a16:creationId xmlns:a16="http://schemas.microsoft.com/office/drawing/2014/main" id="{0614940B-A52B-C125-AD00-244E364EB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066800"/>
            <a:ext cx="74676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dirty="0"/>
              <a:t>Careful attention to modules and interfaces prevents chaos in a compiler program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矩形 44034">
            <a:extLst>
              <a:ext uri="{FF2B5EF4-FFF2-40B4-BE49-F238E27FC236}">
                <a16:creationId xmlns:a16="http://schemas.microsoft.com/office/drawing/2014/main" id="{F0A0E250-9933-8990-464F-96FCDCE0FC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676400"/>
            <a:ext cx="7848600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AutoNum type="arabicPeriod" startAt="4"/>
            </a:pPr>
            <a:r>
              <a:rPr kumimoji="0" lang="en-US" altLang="zh-CN" sz="2400" dirty="0"/>
              <a:t>The inclusion of </a:t>
            </a:r>
            <a:r>
              <a:rPr kumimoji="0" lang="en-US" altLang="zh-CN" sz="2400" b="1" dirty="0" err="1"/>
              <a:t>assert.h</a:t>
            </a:r>
            <a:r>
              <a:rPr kumimoji="0" lang="en-US" altLang="zh-CN" sz="2400" dirty="0"/>
              <a:t> encourages the liberal use of assertion by the C programmer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AutoNum type="arabicPeriod" startAt="4"/>
            </a:pPr>
            <a:endParaRPr kumimoji="0" lang="en-US" altLang="zh-CN" sz="2400" dirty="0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AutoNum type="arabicPeriod" startAt="5"/>
            </a:pPr>
            <a:r>
              <a:rPr kumimoji="0" lang="en-US" altLang="zh-CN" sz="2400" dirty="0"/>
              <a:t>The string type means a </a:t>
            </a:r>
            <a:r>
              <a:rPr kumimoji="0" lang="en-US" altLang="zh-CN" sz="2400" b="1" dirty="0"/>
              <a:t>heap-allocated string</a:t>
            </a:r>
            <a:r>
              <a:rPr kumimoji="0" lang="en-US" altLang="zh-CN" sz="2400" dirty="0"/>
              <a:t> that will not be modified after its initial creation.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AutoNum type="arabicPeriod" startAt="5"/>
            </a:pPr>
            <a:endParaRPr kumimoji="0" lang="en-US" altLang="zh-CN" sz="2400" dirty="0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dirty="0"/>
              <a:t>6.  C’s malloc function returns NULL if there is no memory left.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zh-CN" sz="2400" dirty="0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dirty="0"/>
              <a:t>7.  We will </a:t>
            </a:r>
            <a:r>
              <a:rPr kumimoji="0" lang="en-US" altLang="zh-CN" sz="2400" b="1" dirty="0"/>
              <a:t>never call free</a:t>
            </a:r>
            <a:r>
              <a:rPr kumimoji="0" lang="en-US" altLang="zh-CN" sz="2400" dirty="0"/>
              <a:t>.</a:t>
            </a:r>
          </a:p>
        </p:txBody>
      </p:sp>
      <p:sp>
        <p:nvSpPr>
          <p:cNvPr id="57346" name="文本框 44036">
            <a:extLst>
              <a:ext uri="{FF2B5EF4-FFF2-40B4-BE49-F238E27FC236}">
                <a16:creationId xmlns:a16="http://schemas.microsoft.com/office/drawing/2014/main" id="{077EF003-F49E-8E37-1547-DDA7B4F14A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04800"/>
            <a:ext cx="8153400" cy="72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kumimoji="0" lang="en-US" altLang="zh-CN" sz="2000"/>
              <a:t>1.3 Data Structure For Tree Languages: </a:t>
            </a:r>
            <a:r>
              <a:rPr kumimoji="0" lang="en-US" altLang="zh-CN" sz="1800" b="1"/>
              <a:t>Modularity principle 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kumimoji="0" lang="en-US" altLang="zh-CN" sz="1800" b="1"/>
              <a:t>                                                                         for C programs</a:t>
            </a:r>
            <a:r>
              <a:rPr kumimoji="0" lang="en-US" altLang="zh-CN" sz="1800"/>
              <a:t>:</a:t>
            </a:r>
            <a:endParaRPr kumimoji="0" lang="en-US" altLang="zh-CN" sz="200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标题 35843">
            <a:extLst>
              <a:ext uri="{FF2B5EF4-FFF2-40B4-BE49-F238E27FC236}">
                <a16:creationId xmlns:a16="http://schemas.microsoft.com/office/drawing/2014/main" id="{BC0BCEA3-7C53-8AE9-0E65-360B4D1770E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eaLnBrk="1" hangingPunct="1"/>
            <a:r>
              <a:rPr kumimoji="0" lang="en-US" altLang="zh-CN" sz="4400"/>
              <a:t>The end</a:t>
            </a:r>
          </a:p>
        </p:txBody>
      </p:sp>
      <p:sp>
        <p:nvSpPr>
          <p:cNvPr id="58370" name="副标题 35844">
            <a:extLst>
              <a:ext uri="{FF2B5EF4-FFF2-40B4-BE49-F238E27FC236}">
                <a16:creationId xmlns:a16="http://schemas.microsoft.com/office/drawing/2014/main" id="{E90E88FA-E044-E102-7292-1CD9D808088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/>
            <a:endParaRPr kumimoji="0" lang="zh-CN" altLang="en-US" sz="32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文本框 47107">
            <a:extLst>
              <a:ext uri="{FF2B5EF4-FFF2-40B4-BE49-F238E27FC236}">
                <a16:creationId xmlns:a16="http://schemas.microsoft.com/office/drawing/2014/main" id="{26106155-B269-A0D7-C0D1-7AD37FFCBB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04800"/>
            <a:ext cx="838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kumimoji="0" lang="en-US" altLang="zh-CN" sz="2000"/>
              <a:t>1.3 Data Structure For Tree Languages: </a:t>
            </a:r>
            <a:r>
              <a:rPr kumimoji="0" lang="en-US" altLang="zh-CN" sz="2000" b="1"/>
              <a:t>Grammar VS 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kumimoji="0" lang="en-US" altLang="zh-CN" sz="2000" b="1"/>
              <a:t>                                                                 Data structure definiton</a:t>
            </a:r>
          </a:p>
        </p:txBody>
      </p:sp>
      <p:sp>
        <p:nvSpPr>
          <p:cNvPr id="59394" name="矩形 47108">
            <a:extLst>
              <a:ext uri="{FF2B5EF4-FFF2-40B4-BE49-F238E27FC236}">
                <a16:creationId xmlns:a16="http://schemas.microsoft.com/office/drawing/2014/main" id="{BF6B45C7-5152-00E4-7178-366D89E70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219200"/>
            <a:ext cx="8534400" cy="512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  <a:buFont typeface="Arial" panose="020B0604020202020204" pitchFamily="34" charset="0"/>
              <a:buNone/>
            </a:pPr>
            <a:r>
              <a:rPr kumimoji="0" lang="en-US" altLang="zh-CN" sz="2000" b="1"/>
              <a:t>Typedef char *string;</a:t>
            </a:r>
          </a:p>
          <a:p>
            <a:pPr eaLnBrk="1" hangingPunct="1">
              <a:spcBef>
                <a:spcPct val="10000"/>
              </a:spcBef>
              <a:buFont typeface="Arial" panose="020B0604020202020204" pitchFamily="34" charset="0"/>
              <a:buNone/>
            </a:pPr>
            <a:r>
              <a:rPr kumimoji="0" lang="en-US" altLang="zh-CN" sz="2000" b="1"/>
              <a:t>Typedef struct A_stm_ *A_stm;</a:t>
            </a:r>
          </a:p>
          <a:p>
            <a:pPr eaLnBrk="1" hangingPunct="1">
              <a:spcBef>
                <a:spcPct val="10000"/>
              </a:spcBef>
              <a:buFont typeface="Arial" panose="020B0604020202020204" pitchFamily="34" charset="0"/>
              <a:buNone/>
            </a:pPr>
            <a:r>
              <a:rPr kumimoji="0" lang="en-US" altLang="zh-CN" sz="2000" b="1"/>
              <a:t>Typedef struct A_exp_ *A_exp;</a:t>
            </a:r>
          </a:p>
          <a:p>
            <a:pPr eaLnBrk="1" hangingPunct="1">
              <a:spcBef>
                <a:spcPct val="10000"/>
              </a:spcBef>
              <a:buFont typeface="Arial" panose="020B0604020202020204" pitchFamily="34" charset="0"/>
              <a:buNone/>
            </a:pPr>
            <a:r>
              <a:rPr kumimoji="0" lang="en-US" altLang="zh-CN" sz="2000" b="1"/>
              <a:t>Typedef struct A_expList_ *A_expList</a:t>
            </a:r>
          </a:p>
          <a:p>
            <a:pPr eaLnBrk="1" hangingPunct="1">
              <a:spcBef>
                <a:spcPct val="10000"/>
              </a:spcBef>
              <a:buFont typeface="Arial" panose="020B0604020202020204" pitchFamily="34" charset="0"/>
              <a:buNone/>
            </a:pPr>
            <a:r>
              <a:rPr kumimoji="0" lang="en-US" altLang="zh-CN" sz="2000" b="1"/>
              <a:t>Typedef enum {A_plus, A_Minus, A_times, A_div} A_binop</a:t>
            </a:r>
          </a:p>
          <a:p>
            <a:pPr eaLnBrk="1" hangingPunct="1">
              <a:spcBef>
                <a:spcPct val="10000"/>
              </a:spcBef>
              <a:buFont typeface="Arial" panose="020B0604020202020204" pitchFamily="34" charset="0"/>
              <a:buNone/>
            </a:pPr>
            <a:endParaRPr kumimoji="0" lang="en-US" altLang="zh-CN" sz="2000" b="1"/>
          </a:p>
          <a:p>
            <a:pPr eaLnBrk="1" hangingPunct="1">
              <a:spcBef>
                <a:spcPct val="10000"/>
              </a:spcBef>
              <a:buFont typeface="Arial" panose="020B0604020202020204" pitchFamily="34" charset="0"/>
              <a:buNone/>
            </a:pPr>
            <a:r>
              <a:rPr kumimoji="0" lang="en-US" altLang="zh-CN" sz="2000" b="1"/>
              <a:t>Struct A_stm_ </a:t>
            </a:r>
            <a:r>
              <a:rPr kumimoji="0" lang="en-US" altLang="zh-CN" sz="1800" b="1"/>
              <a:t>{ enum {A_compoundStm, A_assignStm, A_printStm} Kind</a:t>
            </a:r>
          </a:p>
          <a:p>
            <a:pPr eaLnBrk="1" hangingPunct="1">
              <a:spcBef>
                <a:spcPct val="10000"/>
              </a:spcBef>
              <a:buFont typeface="Arial" panose="020B0604020202020204" pitchFamily="34" charset="0"/>
              <a:buNone/>
            </a:pPr>
            <a:r>
              <a:rPr kumimoji="0" lang="en-US" altLang="zh-CN" sz="1800" b="1"/>
              <a:t>                        union { struct {A_stm stm1, stm2;} compound;</a:t>
            </a:r>
          </a:p>
          <a:p>
            <a:pPr eaLnBrk="1" hangingPunct="1">
              <a:spcBef>
                <a:spcPct val="10000"/>
              </a:spcBef>
              <a:buFont typeface="Arial" panose="020B0604020202020204" pitchFamily="34" charset="0"/>
              <a:buNone/>
            </a:pPr>
            <a:r>
              <a:rPr kumimoji="0" lang="en-US" altLang="zh-CN" sz="1800" b="1"/>
              <a:t>			        struct {string id; A_exp exp;} assign;</a:t>
            </a:r>
          </a:p>
          <a:p>
            <a:pPr eaLnBrk="1" hangingPunct="1">
              <a:spcBef>
                <a:spcPct val="10000"/>
              </a:spcBef>
              <a:buFont typeface="Arial" panose="020B0604020202020204" pitchFamily="34" charset="0"/>
              <a:buNone/>
            </a:pPr>
            <a:r>
              <a:rPr kumimoji="0" lang="en-US" altLang="zh-CN" sz="1800" b="1"/>
              <a:t>			        struct {A_expList exps;} print;</a:t>
            </a:r>
          </a:p>
          <a:p>
            <a:pPr eaLnBrk="1" hangingPunct="1">
              <a:spcBef>
                <a:spcPct val="10000"/>
              </a:spcBef>
              <a:buFont typeface="Arial" panose="020B0604020202020204" pitchFamily="34" charset="0"/>
              <a:buNone/>
            </a:pPr>
            <a:r>
              <a:rPr kumimoji="0" lang="en-US" altLang="zh-CN" sz="1800" b="1"/>
              <a:t>			    } u;</a:t>
            </a:r>
          </a:p>
          <a:p>
            <a:pPr eaLnBrk="1" hangingPunct="1">
              <a:spcBef>
                <a:spcPct val="10000"/>
              </a:spcBef>
              <a:buFont typeface="Arial" panose="020B0604020202020204" pitchFamily="34" charset="0"/>
              <a:buNone/>
            </a:pPr>
            <a:r>
              <a:rPr kumimoji="0" lang="en-US" altLang="zh-CN" sz="1800" b="1"/>
              <a:t>			}</a:t>
            </a:r>
          </a:p>
          <a:p>
            <a:pPr eaLnBrk="1" hangingPunct="1">
              <a:spcBef>
                <a:spcPct val="10000"/>
              </a:spcBef>
              <a:buFont typeface="Arial" panose="020B0604020202020204" pitchFamily="34" charset="0"/>
              <a:buNone/>
            </a:pPr>
            <a:endParaRPr kumimoji="0" lang="en-US" altLang="zh-CN" sz="1800" b="1"/>
          </a:p>
          <a:p>
            <a:pPr eaLnBrk="1" hangingPunct="1">
              <a:spcBef>
                <a:spcPct val="10000"/>
              </a:spcBef>
              <a:buFont typeface="Arial" panose="020B0604020202020204" pitchFamily="34" charset="0"/>
              <a:buNone/>
            </a:pPr>
            <a:r>
              <a:rPr kumimoji="0" lang="en-US" altLang="zh-CN" sz="1800" b="1"/>
              <a:t>A_stm A_CompoundStm(A_stm stm1, A_stm stm2);</a:t>
            </a:r>
          </a:p>
          <a:p>
            <a:pPr eaLnBrk="1" hangingPunct="1">
              <a:spcBef>
                <a:spcPct val="10000"/>
              </a:spcBef>
              <a:buFont typeface="Arial" panose="020B0604020202020204" pitchFamily="34" charset="0"/>
              <a:buNone/>
            </a:pPr>
            <a:r>
              <a:rPr kumimoji="0" lang="en-US" altLang="zh-CN" sz="1800" b="1"/>
              <a:t>A_stm A_AssignStm(string id, A_exp exp;}</a:t>
            </a:r>
          </a:p>
          <a:p>
            <a:pPr eaLnBrk="1" hangingPunct="1">
              <a:spcBef>
                <a:spcPct val="10000"/>
              </a:spcBef>
              <a:buFont typeface="Arial" panose="020B0604020202020204" pitchFamily="34" charset="0"/>
              <a:buNone/>
            </a:pPr>
            <a:r>
              <a:rPr kumimoji="0" lang="en-US" altLang="zh-CN" sz="1800" b="1"/>
              <a:t>A_stm A_PrintStm(A_expList exps);</a:t>
            </a:r>
          </a:p>
        </p:txBody>
      </p:sp>
    </p:spTree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ID" val=" 11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ID" val=" 11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ID" val=" 11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ID" val=" 12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ID" val=" 121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5866</TotalTime>
  <Pages>0</Pages>
  <Words>4061</Words>
  <Characters>0</Characters>
  <Application>Microsoft Macintosh PowerPoint</Application>
  <DocSecurity>0</DocSecurity>
  <PresentationFormat>全屏显示(4:3)</PresentationFormat>
  <Lines>0</Lines>
  <Paragraphs>841</Paragraphs>
  <Slides>69</Slides>
  <Notes>36</Notes>
  <HiddenSlides>1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69</vt:i4>
      </vt:variant>
    </vt:vector>
  </HeadingPairs>
  <TitlesOfParts>
    <vt:vector size="83" baseType="lpstr">
      <vt:lpstr>SimSun</vt:lpstr>
      <vt:lpstr>Microsoft YaHei</vt:lpstr>
      <vt:lpstr>Microsoft YaHei</vt:lpstr>
      <vt:lpstr>Arial</vt:lpstr>
      <vt:lpstr>Arial Rounded MT Bold</vt:lpstr>
      <vt:lpstr>Calibri</vt:lpstr>
      <vt:lpstr>Courier New</vt:lpstr>
      <vt:lpstr>Menlo</vt:lpstr>
      <vt:lpstr>Tahoma</vt:lpstr>
      <vt:lpstr>Times New Roman</vt:lpstr>
      <vt:lpstr>Verdana</vt:lpstr>
      <vt:lpstr>Wingdings</vt:lpstr>
      <vt:lpstr>默认设计模板</vt:lpstr>
      <vt:lpstr>Office Theme</vt:lpstr>
      <vt:lpstr>PowerPoint 演示文稿</vt:lpstr>
      <vt:lpstr>课程信息</vt:lpstr>
      <vt:lpstr>参考书籍 (I)</vt:lpstr>
      <vt:lpstr>参考书籍 (II)</vt:lpstr>
      <vt:lpstr>Why the Tiger?</vt:lpstr>
      <vt:lpstr>Why the Tiger?</vt:lpstr>
      <vt:lpstr>Why the Tiger?</vt:lpstr>
      <vt:lpstr>Why the Tiger?</vt:lpstr>
      <vt:lpstr>考核方式</vt:lpstr>
      <vt:lpstr>课程内容</vt:lpstr>
      <vt:lpstr>Outline</vt:lpstr>
      <vt:lpstr>Outline</vt:lpstr>
      <vt:lpstr>What is a compiler?</vt:lpstr>
      <vt:lpstr>Why should we learn compilers?</vt:lpstr>
      <vt:lpstr>PowerPoint 演示文稿</vt:lpstr>
      <vt:lpstr>Outline</vt:lpstr>
      <vt:lpstr>PowerPoint 演示文稿</vt:lpstr>
      <vt:lpstr>PowerPoint 演示文稿</vt:lpstr>
      <vt:lpstr>PowerPoint 演示文稿</vt:lpstr>
      <vt:lpstr>Think As If You Were a Compiler</vt:lpstr>
      <vt:lpstr>词法分析 (Lexing/Scanning/Lexical Analysis)</vt:lpstr>
      <vt:lpstr>语法分析 (Parsing/Syntactic Analysis)</vt:lpstr>
      <vt:lpstr>语义分析 (Semantic Analysis)</vt:lpstr>
      <vt:lpstr>语义分析 (Semantic Analysis)</vt:lpstr>
      <vt:lpstr>中间代码生成</vt:lpstr>
      <vt:lpstr>优化（基于中间表示）</vt:lpstr>
      <vt:lpstr>目标代码生成</vt:lpstr>
      <vt:lpstr>Outline</vt:lpstr>
      <vt:lpstr>Tiger编译器的流程</vt:lpstr>
      <vt:lpstr>Tiger编译器的流程</vt:lpstr>
      <vt:lpstr>Tiger编译器的流程</vt:lpstr>
      <vt:lpstr>Tiger编译器的流程</vt:lpstr>
      <vt:lpstr>Tiger编译器的流程</vt:lpstr>
      <vt:lpstr>Tiger编译器的流程</vt:lpstr>
      <vt:lpstr>Tiger编译器的流程</vt:lpstr>
      <vt:lpstr>PowerPoint 演示文稿</vt:lpstr>
      <vt:lpstr>编译器的发展</vt:lpstr>
      <vt:lpstr>经典编译器: FORTRAN </vt:lpstr>
      <vt:lpstr>经典编译器: FORTRAN </vt:lpstr>
      <vt:lpstr>经典编译器: PA-RISC</vt:lpstr>
      <vt:lpstr>经典编译器: SUIF</vt:lpstr>
      <vt:lpstr>The end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1.2 Tools and Software</vt:lpstr>
      <vt:lpstr>PowerPoint 演示文稿</vt:lpstr>
      <vt:lpstr>1.3 Data structures for tree languages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The end</vt:lpstr>
      <vt:lpstr>PowerPoint 演示文稿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陈明帅</cp:lastModifiedBy>
  <cp:revision>267</cp:revision>
  <dcterms:created xsi:type="dcterms:W3CDTF">2016-09-15T00:52:15Z</dcterms:created>
  <dcterms:modified xsi:type="dcterms:W3CDTF">2026-03-01T13:39:00Z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2052-10.1.0.5866</vt:lpwstr>
  </property>
</Properties>
</file>