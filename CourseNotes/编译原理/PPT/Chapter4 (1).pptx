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2" r:id="rId2"/>
    <p:sldMasterId id="2147483674" r:id="rId3"/>
  </p:sldMasterIdLst>
  <p:notesMasterIdLst>
    <p:notesMasterId r:id="rId30"/>
  </p:notesMasterIdLst>
  <p:handoutMasterIdLst>
    <p:handoutMasterId r:id="rId31"/>
  </p:handoutMasterIdLst>
  <p:sldIdLst>
    <p:sldId id="303" r:id="rId4"/>
    <p:sldId id="1739" r:id="rId5"/>
    <p:sldId id="1741" r:id="rId6"/>
    <p:sldId id="257" r:id="rId7"/>
    <p:sldId id="259" r:id="rId8"/>
    <p:sldId id="258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4" r:id="rId22"/>
    <p:sldId id="275" r:id="rId23"/>
    <p:sldId id="276" r:id="rId24"/>
    <p:sldId id="277" r:id="rId25"/>
    <p:sldId id="278" r:id="rId26"/>
    <p:sldId id="279" r:id="rId27"/>
    <p:sldId id="281" r:id="rId28"/>
    <p:sldId id="280" r:id="rId29"/>
  </p:sldIdLst>
  <p:sldSz cx="9144000" cy="6858000" type="screen4x3"/>
  <p:notesSz cx="6858000" cy="9144000"/>
  <p:custDataLst>
    <p:tags r:id="rId3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495AB54-F904-754D-9C30-6405D8CBA388}">
          <p14:sldIdLst>
            <p14:sldId id="303"/>
            <p14:sldId id="1739"/>
            <p14:sldId id="1741"/>
            <p14:sldId id="257"/>
            <p14:sldId id="259"/>
            <p14:sldId id="258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4"/>
            <p14:sldId id="275"/>
            <p14:sldId id="276"/>
            <p14:sldId id="277"/>
            <p14:sldId id="278"/>
            <p14:sldId id="279"/>
            <p14:sldId id="281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0510" initials="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34"/>
    <p:restoredTop sz="92932"/>
  </p:normalViewPr>
  <p:slideViewPr>
    <p:cSldViewPr snapToGrid="0" snapToObjects="1">
      <p:cViewPr varScale="1">
        <p:scale>
          <a:sx n="159" d="100"/>
          <a:sy n="159" d="100"/>
        </p:scale>
        <p:origin x="192" y="1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68" d="100"/>
          <a:sy n="168" d="100"/>
        </p:scale>
        <p:origin x="543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gs" Target="tags/tag1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5BB83C-32E0-034D-8D84-25F4EB43A5FC}" type="datetimeFigureOut">
              <a:rPr kumimoji="1" lang="zh-CN" altLang="en-US" smtClean="0"/>
              <a:t>2026/4/1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53B3C8-B69D-724D-87A9-BC3C836C5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CF2DE-EA1F-5946-B11E-5BA9EE779404}" type="datetimeFigureOut">
              <a:rPr kumimoji="1" lang="zh-CN" altLang="en-US" smtClean="0"/>
              <a:t>2026/4/1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EF175-1A5C-BB4B-9AB5-E81745A700F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4A32DAA-E91B-4E64-A167-ADD60F34773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0ED605E-627C-7F46-9798-A3AAE67DD01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03FA6-DCB6-5766-CE21-EAFD6782D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B2D69C6-8C47-E89F-5E22-F3E9239DF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9876C8-263D-B3E5-D19C-9B2E1C4C4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2005DB-35A2-36C1-71C6-E35B5041B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FEF175-1A5C-BB4B-9AB5-E81745A700F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3872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EF175-1A5C-BB4B-9AB5-E81745A700FD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EF175-1A5C-BB4B-9AB5-E81745A700FD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EF175-1A5C-BB4B-9AB5-E81745A700FD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此处更改了</a:t>
            </a:r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EF175-1A5C-BB4B-9AB5-E81745A700FD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9064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EF175-1A5C-BB4B-9AB5-E81745A700FD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这里我认为复杂语法带来的主要区别是，由于</a:t>
            </a:r>
            <a:r>
              <a:rPr lang="en-US" altLang="zh-CN" dirty="0" err="1"/>
              <a:t>Tprime</a:t>
            </a:r>
            <a:r>
              <a:rPr lang="zh-CN" altLang="en-US" dirty="0"/>
              <a:t>不知道前一个乘数无法计算</a:t>
            </a:r>
            <a:r>
              <a:rPr lang="en-US" altLang="zh-CN" dirty="0"/>
              <a:t>semantic value</a:t>
            </a:r>
            <a:r>
              <a:rPr lang="zh-CN" altLang="en-US" dirty="0"/>
              <a:t>，因此这里引入了一个参数</a:t>
            </a:r>
            <a:r>
              <a:rPr lang="en-US" altLang="zh-CN" dirty="0"/>
              <a:t>a</a:t>
            </a:r>
            <a:r>
              <a:rPr lang="zh-CN" altLang="en-US" dirty="0"/>
              <a:t>，故这里标记了</a:t>
            </a:r>
            <a:r>
              <a:rPr lang="en-US" altLang="zh-CN" dirty="0"/>
              <a:t>int a</a:t>
            </a:r>
            <a:r>
              <a:rPr lang="zh-CN" altLang="en-US" dirty="0"/>
              <a:t>这块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EF175-1A5C-BB4B-9AB5-E81745A700FD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7870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EF175-1A5C-BB4B-9AB5-E81745A700FD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EF175-1A5C-BB4B-9AB5-E81745A700FD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EF175-1A5C-BB4B-9AB5-E81745A700FD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EF175-1A5C-BB4B-9AB5-E81745A700FD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EF175-1A5C-BB4B-9AB5-E81745A700FD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EF175-1A5C-BB4B-9AB5-E81745A700FD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这几页文字太多了，加了</a:t>
            </a:r>
            <a:r>
              <a:rPr lang="zh-CN" altLang="en-US"/>
              <a:t>一个前文的例子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EF175-1A5C-BB4B-9AB5-E81745A700FD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5889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287382"/>
            <a:ext cx="9144000" cy="598796"/>
          </a:xfrm>
          <a:prstGeom prst="rect">
            <a:avLst/>
          </a:prstGeom>
          <a:solidFill>
            <a:srgbClr val="2E75B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244" y="287382"/>
            <a:ext cx="8449734" cy="598796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243" y="999067"/>
            <a:ext cx="8449733" cy="5177896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61243" y="6356351"/>
            <a:ext cx="2057400" cy="365125"/>
          </a:xfrm>
        </p:spPr>
        <p:txBody>
          <a:bodyPr/>
          <a:lstStyle/>
          <a:p>
            <a:fld id="{8A44B6B4-937D-054D-BEF6-8660ACCA85B8}" type="datetimeFigureOut">
              <a:rPr kumimoji="1" lang="zh-CN" altLang="en-US" smtClean="0"/>
              <a:t>2026/4/1</a:t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53576" y="6356351"/>
            <a:ext cx="2057400" cy="365125"/>
          </a:xfrm>
        </p:spPr>
        <p:txBody>
          <a:bodyPr/>
          <a:lstStyle/>
          <a:p>
            <a:fld id="{62597CCC-4A0B-5244-AD6B-955C19867FF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2026/4/1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2026/4/1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2026/4/1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2026/4/1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2026/4/1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2026/4/1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2026/4/1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2026/4/1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48734-831C-F94B-866B-7951737D3FB9}" type="datetimeFigureOut">
              <a:rPr kumimoji="1" lang="zh-CN" altLang="en-US" smtClean="0"/>
              <a:t>2026/4/1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4621" y="136525"/>
            <a:ext cx="9042850" cy="1279582"/>
          </a:xfrm>
        </p:spPr>
        <p:txBody>
          <a:bodyPr anchor="b">
            <a:normAutofit/>
          </a:bodyPr>
          <a:lstStyle>
            <a:lvl1pPr algn="ctr">
              <a:defRPr sz="33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54621" y="1959356"/>
            <a:ext cx="9042850" cy="365125"/>
          </a:xfrm>
        </p:spPr>
        <p:txBody>
          <a:bodyPr/>
          <a:lstStyle>
            <a:lvl1pPr marL="0" indent="0" algn="ctr">
              <a:buNone/>
              <a:defRPr sz="1800" b="1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287382"/>
            <a:ext cx="9144000" cy="757646"/>
          </a:xfrm>
          <a:prstGeom prst="rect">
            <a:avLst/>
          </a:prstGeom>
          <a:solidFill>
            <a:srgbClr val="2E75B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28650" y="187570"/>
            <a:ext cx="7886700" cy="961293"/>
          </a:xfrm>
        </p:spPr>
        <p:txBody>
          <a:bodyPr>
            <a:normAutofit/>
          </a:bodyPr>
          <a:lstStyle>
            <a:lvl1pPr>
              <a:defRPr sz="27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9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248676"/>
            <a:ext cx="7886700" cy="4952832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kumimoji="1" lang="zh-CN" altLang="en-US" dirty="0"/>
              <a:t>编辑母版文本样式</a:t>
            </a:r>
          </a:p>
          <a:p>
            <a:pPr lvl="1"/>
            <a:r>
              <a:rPr kumimoji="1" lang="zh-CN" altLang="en-US" dirty="0"/>
              <a:t>第二级</a:t>
            </a:r>
          </a:p>
          <a:p>
            <a:pPr lvl="2"/>
            <a:r>
              <a:rPr kumimoji="1" lang="zh-CN" altLang="en-US" dirty="0"/>
              <a:t>第三级</a:t>
            </a:r>
          </a:p>
          <a:p>
            <a:pPr lvl="3"/>
            <a:r>
              <a:rPr kumimoji="1" lang="zh-CN" altLang="en-US" dirty="0"/>
              <a:t>第四级</a:t>
            </a:r>
          </a:p>
          <a:p>
            <a:pPr lvl="4"/>
            <a:r>
              <a:rPr kumimoji="1" lang="zh-CN" altLang="en-US" dirty="0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8A44B6B4-937D-054D-BEF6-8660ACCA85B8}" type="datetimeFigureOut">
              <a:rPr kumimoji="1" lang="zh-CN" altLang="en-US" smtClean="0"/>
              <a:t>2026/4/1</a:t>
            </a:fld>
            <a:endParaRPr kumimoji="1" lang="zh-CN" altLang="en-US" dirty="0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12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62597CCC-4A0B-5244-AD6B-955C19867FF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EBDFB-8B05-D84C-90A8-B4DBE5F99927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6230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4530E4-1CD8-444E-81D5-5F66436C8902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6511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CB608F-E12A-3549-B868-81EE2E7A15C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5895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4628FA-1C9F-CA4C-8834-F725C577D04C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917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9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77AF45-E783-8746-8293-670B25546A8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4481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5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46D8-C88D-FA4D-986C-69AC2F0DF1A7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9132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177E43-71A7-B549-A063-C3D872E30EC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0760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BB83FE-A26A-694A-9EA9-37B5FD9BD542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1512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86CF4-72A5-2A44-B066-CBCAD08B115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7906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6705C-2595-F74D-9428-31CB3AA2B6FA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8624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DABA17-3AE6-CB4F-87E0-327679BA9C7A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092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5303026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7685187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4354086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41776558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5413825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t>4/1/26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4276829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BD345B-6D02-CE4F-BE34-A7D154638067}" type="slidenum">
              <a:rPr altLang="zh-CN"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06620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48734-831C-F94B-866B-7951737D3FB9}" type="datetimeFigureOut">
              <a:rPr kumimoji="1" lang="zh-CN" altLang="en-US" smtClean="0"/>
              <a:t>2026/4/1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93955-CA98-8249-AB97-442BD7DAC38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sz="1400" noProof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>
              <a:defRPr/>
            </a:pPr>
            <a:fld id="{DC899EFB-6059-D44E-8C95-09916307E1F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843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 kern="12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8600" y="688577"/>
            <a:ext cx="8663940" cy="0"/>
          </a:xfrm>
          <a:custGeom>
            <a:avLst/>
            <a:gdLst/>
            <a:ahLst/>
            <a:cxnLst/>
            <a:rect l="l" t="t" r="r" b="b"/>
            <a:pathLst>
              <a:path w="8663940">
                <a:moveTo>
                  <a:pt x="0" y="0"/>
                </a:moveTo>
                <a:lnTo>
                  <a:pt x="8663880" y="1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136056"/>
            <a:ext cx="8379459" cy="4763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60705" y="6433001"/>
            <a:ext cx="282575" cy="2324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058491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26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33400" y="1219200"/>
            <a:ext cx="8077200" cy="4837823"/>
            <a:chOff x="609600" y="1219200"/>
            <a:chExt cx="8077200" cy="4837823"/>
          </a:xfrm>
        </p:grpSpPr>
        <p:sp>
          <p:nvSpPr>
            <p:cNvPr id="14337" name="文本框 4099"/>
            <p:cNvSpPr txBox="1">
              <a:spLocks noChangeArrowheads="1"/>
            </p:cNvSpPr>
            <p:nvPr/>
          </p:nvSpPr>
          <p:spPr bwMode="auto">
            <a:xfrm>
              <a:off x="609600" y="4715630"/>
              <a:ext cx="8077200" cy="134139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陈明帅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6350" marR="0" lvl="0" indent="0" algn="ctr" defTabSz="914400" rtl="0" eaLnBrk="0" fontAlgn="base" latinLnBrk="0" hangingPunct="0">
                <a:lnSpc>
                  <a:spcPct val="100000"/>
                </a:lnSpc>
                <a:spcBef>
                  <a:spcPts val="965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-1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>
                    <a:solidFill>
                      <a:srgbClr val="0000FF"/>
                    </a:solidFill>
                  </a:uFill>
                  <a:latin typeface="Times New Roman" panose="02020603050405020304"/>
                  <a:ea typeface="宋体" panose="02010600030101010101" pitchFamily="2" charset="-122"/>
                  <a:cs typeface="Times New Roman" panose="02020603050405020304"/>
                </a:rPr>
                <a:t>m.chen@zju.edu.cn</a:t>
              </a:r>
              <a:endPara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endParaRPr>
            </a:p>
            <a:p>
              <a:pPr marL="6350" marR="76200" lvl="0" indent="0" algn="ctr" defTabSz="914400" rtl="0" eaLnBrk="0" fontAlgn="base" latinLnBrk="0" hangingPunct="0">
                <a:lnSpc>
                  <a:spcPct val="100000"/>
                </a:lnSpc>
                <a:spcBef>
                  <a:spcPts val="12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1200" cap="none" spc="-25" normalizeH="0" baseline="0" noProof="0" dirty="0">
                  <a:ln>
                    <a:noFill/>
                  </a:ln>
                  <a:solidFill>
                    <a:srgbClr val="25252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浙江大学 </a:t>
              </a:r>
              <a:r>
                <a:rPr kumimoji="1" lang="en-US" altLang="zh-CN" sz="2000" b="1" i="0" u="none" strike="noStrike" kern="1200" cap="none" spc="-25" normalizeH="0" baseline="0" noProof="0" dirty="0">
                  <a:ln>
                    <a:noFill/>
                  </a:ln>
                  <a:solidFill>
                    <a:srgbClr val="25252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kumimoji="1" lang="zh-CN" altLang="en-US" sz="2000" b="1" i="0" u="none" strike="noStrike" kern="1200" cap="none" spc="-25" normalizeH="0" baseline="0" noProof="0" dirty="0">
                  <a:ln>
                    <a:noFill/>
                  </a:ln>
                  <a:solidFill>
                    <a:srgbClr val="25252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kumimoji="1" lang="zh-CN" altLang="en-US" sz="2000" b="1" i="0" u="none" strike="noStrike" kern="1200" cap="none" spc="-15" normalizeH="0" baseline="0" noProof="0" dirty="0">
                  <a:ln>
                    <a:noFill/>
                  </a:ln>
                  <a:solidFill>
                    <a:srgbClr val="252525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计算机科学与技术学院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338" name="文本框 4101"/>
            <p:cNvSpPr txBox="1">
              <a:spLocks noChangeArrowheads="1"/>
            </p:cNvSpPr>
            <p:nvPr/>
          </p:nvSpPr>
          <p:spPr bwMode="auto">
            <a:xfrm>
              <a:off x="609600" y="1219200"/>
              <a:ext cx="8077200" cy="92392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编译原理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1026" name="Picture 2" descr="Algorithmic trading - Energy Risk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1880" y="2641401"/>
              <a:ext cx="2705786" cy="1670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26A5CC71-BB5A-2AB4-C6F4-375618FF29EA}"/>
              </a:ext>
            </a:extLst>
          </p:cNvPr>
          <p:cNvSpPr txBox="1"/>
          <p:nvPr/>
        </p:nvSpPr>
        <p:spPr>
          <a:xfrm>
            <a:off x="4968586" y="6324524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0" lvl="0" indent="0" algn="ctr" defTabSz="457200" rtl="0" eaLnBrk="1" fontAlgn="auto" latinLnBrk="0" hangingPunct="1">
              <a:lnSpc>
                <a:spcPct val="100000"/>
              </a:lnSpc>
              <a:spcBef>
                <a:spcPts val="9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Times New Roman"/>
                <a:ea typeface="宋体"/>
                <a:cs typeface="Times New Roman"/>
              </a:rPr>
              <a:t>Slides partially credited to </a:t>
            </a:r>
            <a:r>
              <a:rPr kumimoji="0" lang="en-US" altLang="zh-CN" sz="1600" b="1" i="0" u="none" strike="noStrike" kern="1200" cap="none" spc="-1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Times New Roman"/>
                <a:ea typeface="宋体"/>
                <a:cs typeface="Times New Roman"/>
              </a:rPr>
              <a:t>Zhongxin</a:t>
            </a:r>
            <a:r>
              <a:rPr kumimoji="0" lang="en-US" altLang="zh-CN" sz="16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FF"/>
                  </a:solidFill>
                </a:uFill>
                <a:latin typeface="Times New Roman"/>
                <a:ea typeface="宋体"/>
                <a:cs typeface="Times New Roman"/>
              </a:rPr>
              <a:t> Liu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268" y="137667"/>
            <a:ext cx="14427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课程内容</a:t>
            </a:r>
          </a:p>
        </p:txBody>
      </p:sp>
      <p:grpSp>
        <p:nvGrpSpPr>
          <p:cNvPr id="148" name="组合 147"/>
          <p:cNvGrpSpPr/>
          <p:nvPr/>
        </p:nvGrpSpPr>
        <p:grpSpPr>
          <a:xfrm>
            <a:off x="3812671" y="1315319"/>
            <a:ext cx="1512000" cy="654393"/>
            <a:chOff x="3831472" y="983123"/>
            <a:chExt cx="1512000" cy="654393"/>
          </a:xfrm>
        </p:grpSpPr>
        <p:sp>
          <p:nvSpPr>
            <p:cNvPr id="96" name="圆角矩形 95"/>
            <p:cNvSpPr/>
            <p:nvPr/>
          </p:nvSpPr>
          <p:spPr>
            <a:xfrm>
              <a:off x="3831472" y="1133460"/>
              <a:ext cx="1512000" cy="504056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marL="0" marR="0" lvl="0" indent="0" algn="ctr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Introduction</a:t>
              </a:r>
            </a:p>
          </p:txBody>
        </p:sp>
        <p:sp>
          <p:nvSpPr>
            <p:cNvPr id="97" name="矩形 96"/>
            <p:cNvSpPr/>
            <p:nvPr/>
          </p:nvSpPr>
          <p:spPr>
            <a:xfrm>
              <a:off x="3940712" y="983123"/>
              <a:ext cx="237478" cy="2848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grpSp>
        <p:nvGrpSpPr>
          <p:cNvPr id="147" name="组合 146"/>
          <p:cNvGrpSpPr/>
          <p:nvPr/>
        </p:nvGrpSpPr>
        <p:grpSpPr>
          <a:xfrm>
            <a:off x="263550" y="2343372"/>
            <a:ext cx="8610242" cy="3828828"/>
            <a:chOff x="263550" y="2362200"/>
            <a:chExt cx="8610242" cy="3828828"/>
          </a:xfrm>
        </p:grpSpPr>
        <p:grpSp>
          <p:nvGrpSpPr>
            <p:cNvPr id="98" name="组合 97"/>
            <p:cNvGrpSpPr/>
            <p:nvPr>
              <p:custDataLst>
                <p:tags r:id="rId1"/>
              </p:custDataLst>
            </p:nvPr>
          </p:nvGrpSpPr>
          <p:grpSpPr>
            <a:xfrm>
              <a:off x="450658" y="2492896"/>
              <a:ext cx="8242684" cy="3548019"/>
              <a:chOff x="566592" y="2324036"/>
              <a:chExt cx="8242684" cy="3548019"/>
            </a:xfrm>
          </p:grpSpPr>
          <p:grpSp>
            <p:nvGrpSpPr>
              <p:cNvPr id="99" name="组合 98"/>
              <p:cNvGrpSpPr/>
              <p:nvPr/>
            </p:nvGrpSpPr>
            <p:grpSpPr>
              <a:xfrm>
                <a:off x="566592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41" name="圆角矩形 140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marL="0" marR="0" lvl="0" indent="0" algn="ctr" defTabSz="914400" rtl="0" eaLnBrk="0" fontAlgn="base" latinLnBrk="0" hangingPunct="0">
                    <a:lnSpc>
                      <a:spcPts val="18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Lexical Analysis</a:t>
                  </a:r>
                </a:p>
              </p:txBody>
            </p:sp>
            <p:sp>
              <p:nvSpPr>
                <p:cNvPr id="142" name="矩形 141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kumimoji="1" lang="en-US" altLang="zh-CN" sz="2000" dirty="0">
                      <a:solidFill>
                        <a:srgbClr val="1F497D"/>
                      </a:solidFill>
                      <a:latin typeface="Calibri"/>
                      <a:ea typeface="宋体" panose="02010600030101010101" pitchFamily="2" charset="-122"/>
                    </a:rPr>
                    <a:t>2</a:t>
                  </a:r>
                </a:p>
              </p:txBody>
            </p:sp>
          </p:grpSp>
          <p:grpSp>
            <p:nvGrpSpPr>
              <p:cNvPr id="100" name="组合 99"/>
              <p:cNvGrpSpPr/>
              <p:nvPr/>
            </p:nvGrpSpPr>
            <p:grpSpPr>
              <a:xfrm>
                <a:off x="2256999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9" name="圆角矩形 138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marL="0" marR="0" lvl="0" indent="0" algn="ctr" defTabSz="914400" rtl="0" eaLnBrk="0" fontAlgn="base" latinLnBrk="0" hangingPunct="0">
                    <a:lnSpc>
                      <a:spcPts val="18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GB" altLang="zh-CN" dirty="0">
                      <a:solidFill>
                        <a:prstClr val="black"/>
                      </a:solidFill>
                      <a:latin typeface="Calibri"/>
                      <a:ea typeface="宋体" panose="02010600030101010101" pitchFamily="2" charset="-122"/>
                    </a:rPr>
                    <a:t>Parsing</a:t>
                  </a:r>
                </a:p>
              </p:txBody>
            </p:sp>
            <p:sp>
              <p:nvSpPr>
                <p:cNvPr id="140" name="矩形 139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dirty="0">
                      <a:solidFill>
                        <a:srgbClr val="1F497D"/>
                      </a:solidFill>
                      <a:latin typeface="Calibri"/>
                      <a:ea typeface="宋体" panose="02010600030101010101" pitchFamily="2" charset="-122"/>
                    </a:rPr>
                    <a:t>3</a:t>
                  </a:r>
                </a:p>
              </p:txBody>
            </p:sp>
          </p:grpSp>
          <p:grpSp>
            <p:nvGrpSpPr>
              <p:cNvPr id="101" name="组合 100"/>
              <p:cNvGrpSpPr/>
              <p:nvPr/>
            </p:nvGrpSpPr>
            <p:grpSpPr>
              <a:xfrm>
                <a:off x="3947406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7" name="圆角矩形 136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marL="0" marR="0" lvl="0" indent="0" algn="ctr" defTabSz="914400" rtl="0" eaLnBrk="0" fontAlgn="base" latinLnBrk="0" hangingPunct="0">
                    <a:lnSpc>
                      <a:spcPts val="18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Abstract Syntax</a:t>
                  </a: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8" name="矩形 137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4</a:t>
                  </a: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02" name="组合 101"/>
              <p:cNvGrpSpPr/>
              <p:nvPr/>
            </p:nvGrpSpPr>
            <p:grpSpPr>
              <a:xfrm>
                <a:off x="5637813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5" name="圆角矩形 134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0" rIns="0" bIns="0" rtlCol="0" anchor="ctr" anchorCtr="1"/>
                <a:lstStyle/>
                <a:p>
                  <a:pPr marL="0" marR="0" lvl="0" indent="0" algn="ctr" defTabSz="914400" rtl="0" eaLnBrk="0" fontAlgn="base" latinLnBrk="0" hangingPunct="0">
                    <a:lnSpc>
                      <a:spcPts val="18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Semantic Analysis</a:t>
                  </a: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6" name="矩形 135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F497D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5</a:t>
                  </a: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7297276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3" name="圆角矩形 132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marL="0" marR="0" lvl="0" indent="0" algn="ctr" defTabSz="914400" rtl="0" eaLnBrk="0" fontAlgn="base" latinLnBrk="0" hangingPunct="0">
                    <a:lnSpc>
                      <a:spcPts val="18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Activation Records</a:t>
                  </a: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" name="矩形 133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F497D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6</a:t>
                  </a: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04" name="组合 103"/>
              <p:cNvGrpSpPr/>
              <p:nvPr/>
            </p:nvGrpSpPr>
            <p:grpSpPr>
              <a:xfrm>
                <a:off x="5637813" y="3218640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1" name="圆角矩形 130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marL="0" marR="0" lvl="0" indent="0" algn="ctr" defTabSz="914400" rtl="0" eaLnBrk="0" fontAlgn="base" latinLnBrk="0" hangingPunct="0">
                    <a:lnSpc>
                      <a:spcPts val="18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8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Interm</a:t>
                  </a:r>
                  <a:r>
                    <a:rPr kumimoji="1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. Code</a:t>
                  </a: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2" name="矩形 131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F497D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7</a:t>
                  </a: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05" name="组合 104"/>
              <p:cNvGrpSpPr/>
              <p:nvPr/>
            </p:nvGrpSpPr>
            <p:grpSpPr>
              <a:xfrm>
                <a:off x="3949602" y="3218640"/>
                <a:ext cx="1512000" cy="654393"/>
                <a:chOff x="566592" y="2270551"/>
                <a:chExt cx="1481056" cy="654393"/>
              </a:xfrm>
            </p:grpSpPr>
            <p:sp>
              <p:nvSpPr>
                <p:cNvPr id="129" name="圆角矩形 128"/>
                <p:cNvSpPr/>
                <p:nvPr/>
              </p:nvSpPr>
              <p:spPr>
                <a:xfrm>
                  <a:off x="566592" y="2420888"/>
                  <a:ext cx="1481056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marL="0" marR="0" lvl="0" indent="0" algn="ctr" defTabSz="914400" rtl="0" eaLnBrk="0" fontAlgn="base" latinLnBrk="0" hangingPunct="0">
                    <a:lnSpc>
                      <a:spcPts val="18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Blocks &amp; Traces</a:t>
                  </a: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0" name="矩形 129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F497D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8</a:t>
                  </a: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06" name="组合 105"/>
              <p:cNvGrpSpPr/>
              <p:nvPr/>
            </p:nvGrpSpPr>
            <p:grpSpPr>
              <a:xfrm>
                <a:off x="2258123" y="3218640"/>
                <a:ext cx="1512000" cy="654393"/>
                <a:chOff x="584046" y="2270551"/>
                <a:chExt cx="1512000" cy="654393"/>
              </a:xfrm>
            </p:grpSpPr>
            <p:sp>
              <p:nvSpPr>
                <p:cNvPr id="127" name="圆角矩形 126"/>
                <p:cNvSpPr/>
                <p:nvPr/>
              </p:nvSpPr>
              <p:spPr>
                <a:xfrm>
                  <a:off x="584046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marL="0" marR="0" lvl="0" indent="0" algn="ctr" defTabSz="914400" rtl="0" eaLnBrk="0" fontAlgn="base" latinLnBrk="0" hangingPunct="0">
                    <a:lnSpc>
                      <a:spcPts val="18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Instruct. Selection</a:t>
                  </a: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8" name="矩形 127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F497D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9</a:t>
                  </a: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07" name="组合 106"/>
              <p:cNvGrpSpPr/>
              <p:nvPr/>
            </p:nvGrpSpPr>
            <p:grpSpPr>
              <a:xfrm>
                <a:off x="3013423" y="4082260"/>
                <a:ext cx="1512000" cy="654393"/>
                <a:chOff x="590792" y="2270551"/>
                <a:chExt cx="1512000" cy="654393"/>
              </a:xfrm>
            </p:grpSpPr>
            <p:sp>
              <p:nvSpPr>
                <p:cNvPr id="125" name="圆角矩形 124"/>
                <p:cNvSpPr/>
                <p:nvPr/>
              </p:nvSpPr>
              <p:spPr>
                <a:xfrm>
                  <a:off x="5907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marL="0" marR="0" lvl="0" indent="0" algn="ctr" defTabSz="914400" rtl="0" eaLnBrk="0" fontAlgn="base" latinLnBrk="0" hangingPunct="0">
                    <a:lnSpc>
                      <a:spcPts val="18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Liveness Analysis</a:t>
                  </a: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6" name="矩形 125"/>
                <p:cNvSpPr/>
                <p:nvPr/>
              </p:nvSpPr>
              <p:spPr>
                <a:xfrm>
                  <a:off x="675831" y="2270551"/>
                  <a:ext cx="310836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F497D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10</a:t>
                  </a: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08" name="组合 107"/>
              <p:cNvGrpSpPr/>
              <p:nvPr/>
            </p:nvGrpSpPr>
            <p:grpSpPr>
              <a:xfrm>
                <a:off x="4912722" y="4082260"/>
                <a:ext cx="1512000" cy="654393"/>
                <a:chOff x="566592" y="2270551"/>
                <a:chExt cx="1512000" cy="654393"/>
              </a:xfrm>
            </p:grpSpPr>
            <p:sp>
              <p:nvSpPr>
                <p:cNvPr id="123" name="圆角矩形 122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marL="0" marR="0" lvl="0" indent="0" algn="ctr" defTabSz="914400" rtl="0" eaLnBrk="0" fontAlgn="base" latinLnBrk="0" hangingPunct="0">
                    <a:lnSpc>
                      <a:spcPts val="18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Register Allocation</a:t>
                  </a: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" name="矩形 123"/>
                <p:cNvSpPr/>
                <p:nvPr/>
              </p:nvSpPr>
              <p:spPr>
                <a:xfrm>
                  <a:off x="675831" y="2270551"/>
                  <a:ext cx="310836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F497D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11</a:t>
                  </a: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09" name="组合 108"/>
              <p:cNvGrpSpPr/>
              <p:nvPr/>
            </p:nvGrpSpPr>
            <p:grpSpPr>
              <a:xfrm>
                <a:off x="3013423" y="5217662"/>
                <a:ext cx="1512000" cy="654393"/>
                <a:chOff x="590792" y="2270551"/>
                <a:chExt cx="1512000" cy="654393"/>
              </a:xfrm>
            </p:grpSpPr>
            <p:sp>
              <p:nvSpPr>
                <p:cNvPr id="121" name="圆角矩形 120"/>
                <p:cNvSpPr/>
                <p:nvPr/>
              </p:nvSpPr>
              <p:spPr>
                <a:xfrm>
                  <a:off x="5907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marL="0" marR="0" lvl="0" indent="0" algn="ctr" defTabSz="914400" rtl="0" eaLnBrk="0" fontAlgn="base" latinLnBrk="0" hangingPunct="0">
                    <a:lnSpc>
                      <a:spcPts val="18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Garbage Collection</a:t>
                  </a: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2" name="矩形 121"/>
                <p:cNvSpPr/>
                <p:nvPr/>
              </p:nvSpPr>
              <p:spPr>
                <a:xfrm>
                  <a:off x="675831" y="2270551"/>
                  <a:ext cx="310836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F497D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13</a:t>
                  </a: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10" name="组合 109"/>
              <p:cNvGrpSpPr/>
              <p:nvPr/>
            </p:nvGrpSpPr>
            <p:grpSpPr>
              <a:xfrm>
                <a:off x="4912722" y="5217662"/>
                <a:ext cx="1512000" cy="654393"/>
                <a:chOff x="566592" y="2270551"/>
                <a:chExt cx="1512000" cy="654393"/>
              </a:xfrm>
            </p:grpSpPr>
            <p:sp>
              <p:nvSpPr>
                <p:cNvPr id="119" name="圆角矩形 118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marL="0" marR="0" lvl="0" indent="0" algn="ctr" defTabSz="914400" rtl="0" eaLnBrk="0" fontAlgn="base" latinLnBrk="0" hangingPunct="0">
                    <a:lnSpc>
                      <a:spcPts val="18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Loop Optimizations</a:t>
                  </a: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0" name="矩形 119"/>
                <p:cNvSpPr/>
                <p:nvPr/>
              </p:nvSpPr>
              <p:spPr>
                <a:xfrm>
                  <a:off x="675831" y="2270551"/>
                  <a:ext cx="310836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F497D"/>
                      </a:solidFill>
                      <a:effectLst/>
                      <a:uLnTx/>
                      <a:uFillTx/>
                      <a:latin typeface="Calibri"/>
                      <a:ea typeface="宋体" panose="02010600030101010101" pitchFamily="2" charset="-122"/>
                      <a:cs typeface="+mn-cs"/>
                    </a:rPr>
                    <a:t>18</a:t>
                  </a:r>
                  <a:endPara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cxnSp>
            <p:nvCxnSpPr>
              <p:cNvPr id="111" name="直线箭头连接符 110"/>
              <p:cNvCxnSpPr>
                <a:stCxn id="141" idx="3"/>
                <a:endCxn id="139" idx="1"/>
              </p:cNvCxnSpPr>
              <p:nvPr/>
            </p:nvCxnSpPr>
            <p:spPr>
              <a:xfrm>
                <a:off x="2078592" y="2726401"/>
                <a:ext cx="178407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线箭头连接符 111"/>
              <p:cNvCxnSpPr>
                <a:stCxn id="139" idx="3"/>
                <a:endCxn id="137" idx="1"/>
              </p:cNvCxnSpPr>
              <p:nvPr/>
            </p:nvCxnSpPr>
            <p:spPr>
              <a:xfrm>
                <a:off x="3768999" y="2726401"/>
                <a:ext cx="178407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线箭头连接符 112"/>
              <p:cNvCxnSpPr>
                <a:stCxn id="137" idx="3"/>
                <a:endCxn id="135" idx="1"/>
              </p:cNvCxnSpPr>
              <p:nvPr/>
            </p:nvCxnSpPr>
            <p:spPr>
              <a:xfrm>
                <a:off x="5459406" y="2726401"/>
                <a:ext cx="178407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线箭头连接符 113"/>
              <p:cNvCxnSpPr>
                <a:stCxn id="135" idx="2"/>
                <a:endCxn id="131" idx="0"/>
              </p:cNvCxnSpPr>
              <p:nvPr/>
            </p:nvCxnSpPr>
            <p:spPr>
              <a:xfrm>
                <a:off x="6393813" y="2978429"/>
                <a:ext cx="0" cy="390548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线箭头连接符 114"/>
              <p:cNvCxnSpPr>
                <a:stCxn id="131" idx="1"/>
                <a:endCxn id="129" idx="3"/>
              </p:cNvCxnSpPr>
              <p:nvPr/>
            </p:nvCxnSpPr>
            <p:spPr>
              <a:xfrm flipH="1">
                <a:off x="5461602" y="3621005"/>
                <a:ext cx="176211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线箭头连接符 115"/>
              <p:cNvCxnSpPr>
                <a:stCxn id="125" idx="3"/>
                <a:endCxn id="123" idx="1"/>
              </p:cNvCxnSpPr>
              <p:nvPr/>
            </p:nvCxnSpPr>
            <p:spPr>
              <a:xfrm>
                <a:off x="4525423" y="4484625"/>
                <a:ext cx="387299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肘形连接符 116"/>
              <p:cNvCxnSpPr>
                <a:stCxn id="133" idx="2"/>
                <a:endCxn id="131" idx="3"/>
              </p:cNvCxnSpPr>
              <p:nvPr/>
            </p:nvCxnSpPr>
            <p:spPr>
              <a:xfrm rot="5400000">
                <a:off x="7280257" y="2847986"/>
                <a:ext cx="642576" cy="903463"/>
              </a:xfrm>
              <a:prstGeom prst="bentConnector2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肘形连接符 117"/>
              <p:cNvCxnSpPr>
                <a:endCxn id="119" idx="1"/>
              </p:cNvCxnSpPr>
              <p:nvPr/>
            </p:nvCxnSpPr>
            <p:spPr>
              <a:xfrm rot="16200000" flipH="1">
                <a:off x="4246668" y="4953972"/>
                <a:ext cx="1135403" cy="196706"/>
              </a:xfrm>
              <a:prstGeom prst="bentConnector2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3" name="矩形 27"/>
            <p:cNvSpPr/>
            <p:nvPr>
              <p:custDataLst>
                <p:tags r:id="rId2"/>
              </p:custDataLst>
            </p:nvPr>
          </p:nvSpPr>
          <p:spPr bwMode="gray">
            <a:xfrm rot="5400000">
              <a:off x="3185852" y="-553447"/>
              <a:ext cx="2772293" cy="8603587"/>
            </a:xfrm>
            <a:prstGeom prst="rect">
              <a:avLst/>
            </a:prstGeom>
            <a:noFill/>
            <a:ln w="19050" algn="ctr">
              <a:solidFill>
                <a:srgbClr val="002060">
                  <a:alpha val="35000"/>
                </a:srgbClr>
              </a:solidFill>
              <a:prstDash val="sysDash"/>
              <a:miter lim="800000"/>
            </a:ln>
            <a:effectLst/>
          </p:spPr>
          <p:txBody>
            <a:bodyPr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4" name="矩形 27"/>
            <p:cNvSpPr/>
            <p:nvPr>
              <p:custDataLst>
                <p:tags r:id="rId3"/>
              </p:custDataLst>
            </p:nvPr>
          </p:nvSpPr>
          <p:spPr bwMode="gray">
            <a:xfrm rot="5400000">
              <a:off x="4103808" y="1409056"/>
              <a:ext cx="936379" cy="8603587"/>
            </a:xfrm>
            <a:prstGeom prst="rect">
              <a:avLst/>
            </a:prstGeom>
            <a:noFill/>
            <a:ln w="19050" algn="ctr">
              <a:solidFill>
                <a:srgbClr val="002060">
                  <a:alpha val="35000"/>
                </a:srgbClr>
              </a:solidFill>
              <a:prstDash val="sysDash"/>
              <a:miter lim="800000"/>
            </a:ln>
            <a:effectLst/>
          </p:spPr>
          <p:txBody>
            <a:bodyPr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3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5" name="文本框 144"/>
            <p:cNvSpPr txBox="1"/>
            <p:nvPr>
              <p:custDataLst>
                <p:tags r:id="rId4"/>
              </p:custDataLst>
            </p:nvPr>
          </p:nvSpPr>
          <p:spPr>
            <a:xfrm>
              <a:off x="263550" y="4769978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Fundamentals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6" name="文本框 145"/>
            <p:cNvSpPr txBox="1"/>
            <p:nvPr>
              <p:custDataLst>
                <p:tags r:id="rId5"/>
              </p:custDataLst>
            </p:nvPr>
          </p:nvSpPr>
          <p:spPr>
            <a:xfrm>
              <a:off x="263550" y="5821696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Advanced Topics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" name="圆角矩形 120">
            <a:extLst>
              <a:ext uri="{FF2B5EF4-FFF2-40B4-BE49-F238E27FC236}">
                <a16:creationId xmlns:a16="http://schemas.microsoft.com/office/drawing/2014/main" id="{A1C02ADC-8C39-27C8-4ADA-91203641DC40}"/>
              </a:ext>
            </a:extLst>
          </p:cNvPr>
          <p:cNvSpPr/>
          <p:nvPr/>
        </p:nvSpPr>
        <p:spPr>
          <a:xfrm>
            <a:off x="6696087" y="5520094"/>
            <a:ext cx="1512000" cy="504056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 anchorCtr="1"/>
          <a:lstStyle/>
          <a:p>
            <a:pPr marL="0" marR="0" lvl="0" indent="0" algn="ctr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/>
                <a:ea typeface="等线" panose="02010600030101010101" pitchFamily="2" charset="-122"/>
              </a:rPr>
              <a:t>Obj.-Ori. Languages</a:t>
            </a:r>
            <a:endParaRPr kumimoji="1" lang="zh-CN" altLang="en-US" dirty="0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BAC2F9-3191-F217-A608-5F7A98138EDC}"/>
              </a:ext>
            </a:extLst>
          </p:cNvPr>
          <p:cNvSpPr/>
          <p:nvPr/>
        </p:nvSpPr>
        <p:spPr>
          <a:xfrm>
            <a:off x="6781126" y="5369757"/>
            <a:ext cx="310836" cy="284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1" lang="en-US" altLang="zh-CN" sz="2000" dirty="0">
                <a:solidFill>
                  <a:schemeClr val="tx2"/>
                </a:solidFill>
              </a:rPr>
              <a:t>14</a:t>
            </a:r>
            <a:endParaRPr kumimoji="1" lang="zh-CN" altLang="en-US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60A3A-0BB9-9886-4468-7DACC0947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6AB71-C72E-7C6A-6C5B-1F87FF9D8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Intuition</a:t>
            </a:r>
            <a:endParaRPr kumimoji="1" lang="zh-CN" altLang="en-US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11250EC-4CA7-6E97-8518-AD1DC599B680}"/>
              </a:ext>
            </a:extLst>
          </p:cNvPr>
          <p:cNvGrpSpPr/>
          <p:nvPr/>
        </p:nvGrpSpPr>
        <p:grpSpPr>
          <a:xfrm>
            <a:off x="938111" y="1530439"/>
            <a:ext cx="2428968" cy="4081776"/>
            <a:chOff x="7221838" y="2779328"/>
            <a:chExt cx="2016382" cy="4070126"/>
          </a:xfrm>
        </p:grpSpPr>
        <p:sp>
          <p:nvSpPr>
            <p:cNvPr id="16" name="圆角矩形 15">
              <a:extLst>
                <a:ext uri="{FF2B5EF4-FFF2-40B4-BE49-F238E27FC236}">
                  <a16:creationId xmlns:a16="http://schemas.microsoft.com/office/drawing/2014/main" id="{EA512F60-9FB4-1D6D-8068-52D033A42F84}"/>
                </a:ext>
              </a:extLst>
            </p:cNvPr>
            <p:cNvSpPr/>
            <p:nvPr/>
          </p:nvSpPr>
          <p:spPr>
            <a:xfrm>
              <a:off x="8676753" y="4369913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)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圆角矩形 16">
              <a:extLst>
                <a:ext uri="{FF2B5EF4-FFF2-40B4-BE49-F238E27FC236}">
                  <a16:creationId xmlns:a16="http://schemas.microsoft.com/office/drawing/2014/main" id="{3E8F1F57-23E3-A340-2AA1-04E6AE5213DE}"/>
                </a:ext>
              </a:extLst>
            </p:cNvPr>
            <p:cNvSpPr/>
            <p:nvPr/>
          </p:nvSpPr>
          <p:spPr>
            <a:xfrm>
              <a:off x="8672304" y="4981832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E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圆角矩形 17">
              <a:extLst>
                <a:ext uri="{FF2B5EF4-FFF2-40B4-BE49-F238E27FC236}">
                  <a16:creationId xmlns:a16="http://schemas.microsoft.com/office/drawing/2014/main" id="{A0D87C68-80DD-098B-815A-3BD71B6BD5E6}"/>
                </a:ext>
              </a:extLst>
            </p:cNvPr>
            <p:cNvSpPr/>
            <p:nvPr/>
          </p:nvSpPr>
          <p:spPr>
            <a:xfrm>
              <a:off x="8672303" y="5509985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T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圆角矩形 18">
              <a:extLst>
                <a:ext uri="{FF2B5EF4-FFF2-40B4-BE49-F238E27FC236}">
                  <a16:creationId xmlns:a16="http://schemas.microsoft.com/office/drawing/2014/main" id="{B442B41C-D72D-6FC2-4782-5606E0B5EE23}"/>
                </a:ext>
              </a:extLst>
            </p:cNvPr>
            <p:cNvSpPr/>
            <p:nvPr/>
          </p:nvSpPr>
          <p:spPr>
            <a:xfrm>
              <a:off x="8681629" y="6026963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F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圆角矩形 19">
              <a:extLst>
                <a:ext uri="{FF2B5EF4-FFF2-40B4-BE49-F238E27FC236}">
                  <a16:creationId xmlns:a16="http://schemas.microsoft.com/office/drawing/2014/main" id="{440E6E95-C2C4-7D70-6119-E81429193C6B}"/>
                </a:ext>
              </a:extLst>
            </p:cNvPr>
            <p:cNvSpPr/>
            <p:nvPr/>
          </p:nvSpPr>
          <p:spPr>
            <a:xfrm>
              <a:off x="8676355" y="6527007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4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圆角矩形 20">
              <a:extLst>
                <a:ext uri="{FF2B5EF4-FFF2-40B4-BE49-F238E27FC236}">
                  <a16:creationId xmlns:a16="http://schemas.microsoft.com/office/drawing/2014/main" id="{9ACC9333-3AD4-412C-C26C-20482C0003EF}"/>
                </a:ext>
              </a:extLst>
            </p:cNvPr>
            <p:cNvSpPr/>
            <p:nvPr/>
          </p:nvSpPr>
          <p:spPr>
            <a:xfrm>
              <a:off x="7664720" y="2779328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E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圆角矩形 21">
              <a:extLst>
                <a:ext uri="{FF2B5EF4-FFF2-40B4-BE49-F238E27FC236}">
                  <a16:creationId xmlns:a16="http://schemas.microsoft.com/office/drawing/2014/main" id="{BD086FBE-E383-79A7-ECA5-386FC714E4AF}"/>
                </a:ext>
              </a:extLst>
            </p:cNvPr>
            <p:cNvSpPr/>
            <p:nvPr/>
          </p:nvSpPr>
          <p:spPr>
            <a:xfrm>
              <a:off x="7228081" y="3379332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E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圆角矩形 22">
              <a:extLst>
                <a:ext uri="{FF2B5EF4-FFF2-40B4-BE49-F238E27FC236}">
                  <a16:creationId xmlns:a16="http://schemas.microsoft.com/office/drawing/2014/main" id="{DC981E06-B105-3D72-BC6A-968B92A6851E}"/>
                </a:ext>
              </a:extLst>
            </p:cNvPr>
            <p:cNvSpPr/>
            <p:nvPr/>
          </p:nvSpPr>
          <p:spPr>
            <a:xfrm>
              <a:off x="8173224" y="3896980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F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圆角矩形 23">
              <a:extLst>
                <a:ext uri="{FF2B5EF4-FFF2-40B4-BE49-F238E27FC236}">
                  <a16:creationId xmlns:a16="http://schemas.microsoft.com/office/drawing/2014/main" id="{C46A12BB-4531-BA60-FE62-28773CBE5DC9}"/>
                </a:ext>
              </a:extLst>
            </p:cNvPr>
            <p:cNvSpPr/>
            <p:nvPr/>
          </p:nvSpPr>
          <p:spPr>
            <a:xfrm>
              <a:off x="7739988" y="4374476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(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圆角矩形 24">
              <a:extLst>
                <a:ext uri="{FF2B5EF4-FFF2-40B4-BE49-F238E27FC236}">
                  <a16:creationId xmlns:a16="http://schemas.microsoft.com/office/drawing/2014/main" id="{5BDEEE5C-169A-0DC6-F0B3-34A7A0349800}"/>
                </a:ext>
              </a:extLst>
            </p:cNvPr>
            <p:cNvSpPr/>
            <p:nvPr/>
          </p:nvSpPr>
          <p:spPr>
            <a:xfrm>
              <a:off x="8175678" y="4374475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E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圆角矩形 25">
              <a:extLst>
                <a:ext uri="{FF2B5EF4-FFF2-40B4-BE49-F238E27FC236}">
                  <a16:creationId xmlns:a16="http://schemas.microsoft.com/office/drawing/2014/main" id="{3770A3CA-414D-C30F-0788-DA076A0ACB14}"/>
                </a:ext>
              </a:extLst>
            </p:cNvPr>
            <p:cNvSpPr/>
            <p:nvPr/>
          </p:nvSpPr>
          <p:spPr>
            <a:xfrm>
              <a:off x="7737892" y="4981833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E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27" name="圆角矩形 26">
              <a:extLst>
                <a:ext uri="{FF2B5EF4-FFF2-40B4-BE49-F238E27FC236}">
                  <a16:creationId xmlns:a16="http://schemas.microsoft.com/office/drawing/2014/main" id="{7CB9EA28-46DE-B38B-D698-5AA044673D1B}"/>
                </a:ext>
              </a:extLst>
            </p:cNvPr>
            <p:cNvSpPr/>
            <p:nvPr/>
          </p:nvSpPr>
          <p:spPr>
            <a:xfrm>
              <a:off x="8179629" y="4989713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*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28" name="圆角矩形 27">
              <a:extLst>
                <a:ext uri="{FF2B5EF4-FFF2-40B4-BE49-F238E27FC236}">
                  <a16:creationId xmlns:a16="http://schemas.microsoft.com/office/drawing/2014/main" id="{75514A6B-234B-70FF-6B0E-6175DE932F15}"/>
                </a:ext>
              </a:extLst>
            </p:cNvPr>
            <p:cNvSpPr/>
            <p:nvPr/>
          </p:nvSpPr>
          <p:spPr>
            <a:xfrm>
              <a:off x="7737891" y="5518474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T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圆角矩形 28">
              <a:extLst>
                <a:ext uri="{FF2B5EF4-FFF2-40B4-BE49-F238E27FC236}">
                  <a16:creationId xmlns:a16="http://schemas.microsoft.com/office/drawing/2014/main" id="{7EF6FE06-5DC3-5F0B-A72C-DF36FA245247}"/>
                </a:ext>
              </a:extLst>
            </p:cNvPr>
            <p:cNvSpPr/>
            <p:nvPr/>
          </p:nvSpPr>
          <p:spPr>
            <a:xfrm>
              <a:off x="7227676" y="3947675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T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圆角矩形 29">
              <a:extLst>
                <a:ext uri="{FF2B5EF4-FFF2-40B4-BE49-F238E27FC236}">
                  <a16:creationId xmlns:a16="http://schemas.microsoft.com/office/drawing/2014/main" id="{3AA13C16-719B-F9CF-D0C7-1E2353DE0380}"/>
                </a:ext>
              </a:extLst>
            </p:cNvPr>
            <p:cNvSpPr/>
            <p:nvPr/>
          </p:nvSpPr>
          <p:spPr>
            <a:xfrm>
              <a:off x="7666957" y="3403587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+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31" name="直线箭头连接符 30">
              <a:extLst>
                <a:ext uri="{FF2B5EF4-FFF2-40B4-BE49-F238E27FC236}">
                  <a16:creationId xmlns:a16="http://schemas.microsoft.com/office/drawing/2014/main" id="{B0F92865-92F7-41AB-605F-F45A61E81836}"/>
                </a:ext>
              </a:extLst>
            </p:cNvPr>
            <p:cNvCxnSpPr>
              <a:stCxn id="21" idx="2"/>
              <a:endCxn id="22" idx="0"/>
            </p:cNvCxnSpPr>
            <p:nvPr/>
          </p:nvCxnSpPr>
          <p:spPr>
            <a:xfrm flipH="1">
              <a:off x="7506377" y="3101775"/>
              <a:ext cx="436639" cy="2775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箭头连接符 31">
              <a:extLst>
                <a:ext uri="{FF2B5EF4-FFF2-40B4-BE49-F238E27FC236}">
                  <a16:creationId xmlns:a16="http://schemas.microsoft.com/office/drawing/2014/main" id="{53E0B7E8-2718-3E14-0BF8-BED2E5EC4AB7}"/>
                </a:ext>
              </a:extLst>
            </p:cNvPr>
            <p:cNvCxnSpPr>
              <a:stCxn id="21" idx="2"/>
              <a:endCxn id="30" idx="0"/>
            </p:cNvCxnSpPr>
            <p:nvPr/>
          </p:nvCxnSpPr>
          <p:spPr>
            <a:xfrm>
              <a:off x="7943016" y="3101775"/>
              <a:ext cx="2237" cy="3018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线箭头连接符 32">
              <a:extLst>
                <a:ext uri="{FF2B5EF4-FFF2-40B4-BE49-F238E27FC236}">
                  <a16:creationId xmlns:a16="http://schemas.microsoft.com/office/drawing/2014/main" id="{EB2A4C1D-5393-B8EE-6D1C-19B9EEB1C36E}"/>
                </a:ext>
              </a:extLst>
            </p:cNvPr>
            <p:cNvCxnSpPr>
              <a:stCxn id="21" idx="2"/>
              <a:endCxn id="43" idx="0"/>
            </p:cNvCxnSpPr>
            <p:nvPr/>
          </p:nvCxnSpPr>
          <p:spPr>
            <a:xfrm>
              <a:off x="7943016" y="3101775"/>
              <a:ext cx="508504" cy="2775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线箭头连接符 33">
              <a:extLst>
                <a:ext uri="{FF2B5EF4-FFF2-40B4-BE49-F238E27FC236}">
                  <a16:creationId xmlns:a16="http://schemas.microsoft.com/office/drawing/2014/main" id="{3DFDB52C-97F5-774F-0EDA-166A87850829}"/>
                </a:ext>
              </a:extLst>
            </p:cNvPr>
            <p:cNvCxnSpPr>
              <a:stCxn id="22" idx="2"/>
              <a:endCxn id="29" idx="0"/>
            </p:cNvCxnSpPr>
            <p:nvPr/>
          </p:nvCxnSpPr>
          <p:spPr>
            <a:xfrm flipH="1">
              <a:off x="7505972" y="3701779"/>
              <a:ext cx="405" cy="2458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线箭头连接符 34">
              <a:extLst>
                <a:ext uri="{FF2B5EF4-FFF2-40B4-BE49-F238E27FC236}">
                  <a16:creationId xmlns:a16="http://schemas.microsoft.com/office/drawing/2014/main" id="{375B19C2-217B-D34E-057C-71ED076A34C3}"/>
                </a:ext>
              </a:extLst>
            </p:cNvPr>
            <p:cNvCxnSpPr>
              <a:stCxn id="23" idx="2"/>
              <a:endCxn id="24" idx="0"/>
            </p:cNvCxnSpPr>
            <p:nvPr/>
          </p:nvCxnSpPr>
          <p:spPr>
            <a:xfrm flipH="1">
              <a:off x="8018284" y="4219427"/>
              <a:ext cx="433236" cy="15504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箭头连接符 35">
              <a:extLst>
                <a:ext uri="{FF2B5EF4-FFF2-40B4-BE49-F238E27FC236}">
                  <a16:creationId xmlns:a16="http://schemas.microsoft.com/office/drawing/2014/main" id="{AE0F11ED-2422-E17D-C154-26C88668D435}"/>
                </a:ext>
              </a:extLst>
            </p:cNvPr>
            <p:cNvCxnSpPr>
              <a:stCxn id="23" idx="2"/>
              <a:endCxn id="25" idx="0"/>
            </p:cNvCxnSpPr>
            <p:nvPr/>
          </p:nvCxnSpPr>
          <p:spPr>
            <a:xfrm>
              <a:off x="8451520" y="4219427"/>
              <a:ext cx="2454" cy="15504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箭头连接符 36">
              <a:extLst>
                <a:ext uri="{FF2B5EF4-FFF2-40B4-BE49-F238E27FC236}">
                  <a16:creationId xmlns:a16="http://schemas.microsoft.com/office/drawing/2014/main" id="{777A17F6-12BB-C36D-C3FD-15482C673C99}"/>
                </a:ext>
              </a:extLst>
            </p:cNvPr>
            <p:cNvCxnSpPr>
              <a:stCxn id="23" idx="2"/>
              <a:endCxn id="16" idx="0"/>
            </p:cNvCxnSpPr>
            <p:nvPr/>
          </p:nvCxnSpPr>
          <p:spPr>
            <a:xfrm>
              <a:off x="8451520" y="4219427"/>
              <a:ext cx="503529" cy="15048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箭头连接符 37">
              <a:extLst>
                <a:ext uri="{FF2B5EF4-FFF2-40B4-BE49-F238E27FC236}">
                  <a16:creationId xmlns:a16="http://schemas.microsoft.com/office/drawing/2014/main" id="{C6C9CF17-A9A6-4551-0792-08DFB819DF60}"/>
                </a:ext>
              </a:extLst>
            </p:cNvPr>
            <p:cNvCxnSpPr>
              <a:stCxn id="25" idx="2"/>
              <a:endCxn id="17" idx="0"/>
            </p:cNvCxnSpPr>
            <p:nvPr/>
          </p:nvCxnSpPr>
          <p:spPr>
            <a:xfrm>
              <a:off x="8453974" y="4696922"/>
              <a:ext cx="496626" cy="28491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箭头连接符 38">
              <a:extLst>
                <a:ext uri="{FF2B5EF4-FFF2-40B4-BE49-F238E27FC236}">
                  <a16:creationId xmlns:a16="http://schemas.microsoft.com/office/drawing/2014/main" id="{39F96C9F-1D35-ED2B-0E4B-70D91C11AFD7}"/>
                </a:ext>
              </a:extLst>
            </p:cNvPr>
            <p:cNvCxnSpPr>
              <a:stCxn id="25" idx="2"/>
              <a:endCxn id="26" idx="0"/>
            </p:cNvCxnSpPr>
            <p:nvPr/>
          </p:nvCxnSpPr>
          <p:spPr>
            <a:xfrm flipH="1">
              <a:off x="8016188" y="4696922"/>
              <a:ext cx="437786" cy="28491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线箭头连接符 39">
              <a:extLst>
                <a:ext uri="{FF2B5EF4-FFF2-40B4-BE49-F238E27FC236}">
                  <a16:creationId xmlns:a16="http://schemas.microsoft.com/office/drawing/2014/main" id="{8725805E-6BF1-6BCF-2AC9-AF3502DDE0BA}"/>
                </a:ext>
              </a:extLst>
            </p:cNvPr>
            <p:cNvCxnSpPr>
              <a:stCxn id="25" idx="2"/>
              <a:endCxn id="27" idx="0"/>
            </p:cNvCxnSpPr>
            <p:nvPr/>
          </p:nvCxnSpPr>
          <p:spPr>
            <a:xfrm>
              <a:off x="8453974" y="4696922"/>
              <a:ext cx="3951" cy="29279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箭头连接符 40">
              <a:extLst>
                <a:ext uri="{FF2B5EF4-FFF2-40B4-BE49-F238E27FC236}">
                  <a16:creationId xmlns:a16="http://schemas.microsoft.com/office/drawing/2014/main" id="{49E04AE9-74AF-42A7-FEE3-A4722A5FFB47}"/>
                </a:ext>
              </a:extLst>
            </p:cNvPr>
            <p:cNvCxnSpPr>
              <a:stCxn id="26" idx="2"/>
              <a:endCxn id="28" idx="0"/>
            </p:cNvCxnSpPr>
            <p:nvPr/>
          </p:nvCxnSpPr>
          <p:spPr>
            <a:xfrm flipH="1">
              <a:off x="8016187" y="5304280"/>
              <a:ext cx="1" cy="2141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线箭头连接符 41">
              <a:extLst>
                <a:ext uri="{FF2B5EF4-FFF2-40B4-BE49-F238E27FC236}">
                  <a16:creationId xmlns:a16="http://schemas.microsoft.com/office/drawing/2014/main" id="{DBDEA4B1-F70E-44BB-4BBF-A9AFA1FDF439}"/>
                </a:ext>
              </a:extLst>
            </p:cNvPr>
            <p:cNvCxnSpPr>
              <a:stCxn id="17" idx="2"/>
              <a:endCxn id="18" idx="0"/>
            </p:cNvCxnSpPr>
            <p:nvPr/>
          </p:nvCxnSpPr>
          <p:spPr>
            <a:xfrm flipH="1">
              <a:off x="8950599" y="5304279"/>
              <a:ext cx="1" cy="2057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圆角矩形 42">
              <a:extLst>
                <a:ext uri="{FF2B5EF4-FFF2-40B4-BE49-F238E27FC236}">
                  <a16:creationId xmlns:a16="http://schemas.microsoft.com/office/drawing/2014/main" id="{49A4E860-2A71-6D3B-E0A7-E8119A13F13F}"/>
                </a:ext>
              </a:extLst>
            </p:cNvPr>
            <p:cNvSpPr/>
            <p:nvPr/>
          </p:nvSpPr>
          <p:spPr>
            <a:xfrm>
              <a:off x="8173224" y="3379331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T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44" name="直线箭头连接符 43">
              <a:extLst>
                <a:ext uri="{FF2B5EF4-FFF2-40B4-BE49-F238E27FC236}">
                  <a16:creationId xmlns:a16="http://schemas.microsoft.com/office/drawing/2014/main" id="{9489A2CD-CF16-403B-4ED1-C6550D71940E}"/>
                </a:ext>
              </a:extLst>
            </p:cNvPr>
            <p:cNvCxnSpPr>
              <a:stCxn id="43" idx="2"/>
              <a:endCxn id="23" idx="0"/>
            </p:cNvCxnSpPr>
            <p:nvPr/>
          </p:nvCxnSpPr>
          <p:spPr>
            <a:xfrm>
              <a:off x="8451520" y="3701778"/>
              <a:ext cx="0" cy="19520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圆角矩形 44">
              <a:extLst>
                <a:ext uri="{FF2B5EF4-FFF2-40B4-BE49-F238E27FC236}">
                  <a16:creationId xmlns:a16="http://schemas.microsoft.com/office/drawing/2014/main" id="{82832F82-EF6C-E001-0891-39BCC6B77B15}"/>
                </a:ext>
              </a:extLst>
            </p:cNvPr>
            <p:cNvSpPr/>
            <p:nvPr/>
          </p:nvSpPr>
          <p:spPr>
            <a:xfrm>
              <a:off x="7227112" y="4498265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F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46" name="圆角矩形 45">
              <a:extLst>
                <a:ext uri="{FF2B5EF4-FFF2-40B4-BE49-F238E27FC236}">
                  <a16:creationId xmlns:a16="http://schemas.microsoft.com/office/drawing/2014/main" id="{638A5A22-C61B-B36B-3338-67DBA5EFD2F2}"/>
                </a:ext>
              </a:extLst>
            </p:cNvPr>
            <p:cNvSpPr/>
            <p:nvPr/>
          </p:nvSpPr>
          <p:spPr>
            <a:xfrm>
              <a:off x="7221838" y="4998309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2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47" name="直线箭头连接符 46">
              <a:extLst>
                <a:ext uri="{FF2B5EF4-FFF2-40B4-BE49-F238E27FC236}">
                  <a16:creationId xmlns:a16="http://schemas.microsoft.com/office/drawing/2014/main" id="{6D39EC3E-B48A-3735-F2CA-9CF270E75033}"/>
                </a:ext>
              </a:extLst>
            </p:cNvPr>
            <p:cNvCxnSpPr>
              <a:stCxn id="29" idx="2"/>
              <a:endCxn id="45" idx="0"/>
            </p:cNvCxnSpPr>
            <p:nvPr/>
          </p:nvCxnSpPr>
          <p:spPr>
            <a:xfrm flipH="1">
              <a:off x="7505408" y="4270122"/>
              <a:ext cx="564" cy="2281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线箭头连接符 47">
              <a:extLst>
                <a:ext uri="{FF2B5EF4-FFF2-40B4-BE49-F238E27FC236}">
                  <a16:creationId xmlns:a16="http://schemas.microsoft.com/office/drawing/2014/main" id="{FE2E6B36-65F9-AC56-D709-77B55810C073}"/>
                </a:ext>
              </a:extLst>
            </p:cNvPr>
            <p:cNvCxnSpPr>
              <a:stCxn id="45" idx="2"/>
              <a:endCxn id="46" idx="0"/>
            </p:cNvCxnSpPr>
            <p:nvPr/>
          </p:nvCxnSpPr>
          <p:spPr>
            <a:xfrm flipH="1">
              <a:off x="7500134" y="4820712"/>
              <a:ext cx="5274" cy="1775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圆角矩形 48">
              <a:extLst>
                <a:ext uri="{FF2B5EF4-FFF2-40B4-BE49-F238E27FC236}">
                  <a16:creationId xmlns:a16="http://schemas.microsoft.com/office/drawing/2014/main" id="{E7A08899-DDF0-553B-6318-FD7F10B4F2DD}"/>
                </a:ext>
              </a:extLst>
            </p:cNvPr>
            <p:cNvSpPr/>
            <p:nvPr/>
          </p:nvSpPr>
          <p:spPr>
            <a:xfrm>
              <a:off x="7737891" y="6020184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F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50" name="圆角矩形 49">
              <a:extLst>
                <a:ext uri="{FF2B5EF4-FFF2-40B4-BE49-F238E27FC236}">
                  <a16:creationId xmlns:a16="http://schemas.microsoft.com/office/drawing/2014/main" id="{7D5BE6D8-C4EA-5B12-8CFA-AA898834CB7E}"/>
                </a:ext>
              </a:extLst>
            </p:cNvPr>
            <p:cNvSpPr/>
            <p:nvPr/>
          </p:nvSpPr>
          <p:spPr>
            <a:xfrm>
              <a:off x="7732617" y="6520228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3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51" name="直线箭头连接符 50">
              <a:extLst>
                <a:ext uri="{FF2B5EF4-FFF2-40B4-BE49-F238E27FC236}">
                  <a16:creationId xmlns:a16="http://schemas.microsoft.com/office/drawing/2014/main" id="{AE6F09C5-8B67-0B2A-C86F-A28916119D75}"/>
                </a:ext>
              </a:extLst>
            </p:cNvPr>
            <p:cNvCxnSpPr>
              <a:stCxn id="49" idx="2"/>
              <a:endCxn id="50" idx="0"/>
            </p:cNvCxnSpPr>
            <p:nvPr/>
          </p:nvCxnSpPr>
          <p:spPr>
            <a:xfrm flipH="1">
              <a:off x="8010913" y="6342631"/>
              <a:ext cx="5274" cy="1775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线箭头连接符 51">
              <a:extLst>
                <a:ext uri="{FF2B5EF4-FFF2-40B4-BE49-F238E27FC236}">
                  <a16:creationId xmlns:a16="http://schemas.microsoft.com/office/drawing/2014/main" id="{0EAE2361-CD4D-0D3C-E3D1-EAB195394DBD}"/>
                </a:ext>
              </a:extLst>
            </p:cNvPr>
            <p:cNvCxnSpPr>
              <a:stCxn id="19" idx="2"/>
              <a:endCxn id="20" idx="0"/>
            </p:cNvCxnSpPr>
            <p:nvPr/>
          </p:nvCxnSpPr>
          <p:spPr>
            <a:xfrm flipH="1">
              <a:off x="8954651" y="6349410"/>
              <a:ext cx="5274" cy="1775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线箭头连接符 52">
              <a:extLst>
                <a:ext uri="{FF2B5EF4-FFF2-40B4-BE49-F238E27FC236}">
                  <a16:creationId xmlns:a16="http://schemas.microsoft.com/office/drawing/2014/main" id="{BF648624-DC2F-9E57-35EE-77B2CFEF5EBC}"/>
                </a:ext>
              </a:extLst>
            </p:cNvPr>
            <p:cNvCxnSpPr>
              <a:stCxn id="28" idx="2"/>
              <a:endCxn id="49" idx="0"/>
            </p:cNvCxnSpPr>
            <p:nvPr/>
          </p:nvCxnSpPr>
          <p:spPr>
            <a:xfrm>
              <a:off x="8016187" y="5840921"/>
              <a:ext cx="0" cy="17926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线箭头连接符 53">
              <a:extLst>
                <a:ext uri="{FF2B5EF4-FFF2-40B4-BE49-F238E27FC236}">
                  <a16:creationId xmlns:a16="http://schemas.microsoft.com/office/drawing/2014/main" id="{8FCE1C87-838A-7A75-6FDA-D216880F8715}"/>
                </a:ext>
              </a:extLst>
            </p:cNvPr>
            <p:cNvCxnSpPr>
              <a:stCxn id="18" idx="2"/>
              <a:endCxn id="19" idx="0"/>
            </p:cNvCxnSpPr>
            <p:nvPr/>
          </p:nvCxnSpPr>
          <p:spPr>
            <a:xfrm>
              <a:off x="8950599" y="5832432"/>
              <a:ext cx="9326" cy="19453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AutoShape 7">
            <a:extLst>
              <a:ext uri="{FF2B5EF4-FFF2-40B4-BE49-F238E27FC236}">
                <a16:creationId xmlns:a16="http://schemas.microsoft.com/office/drawing/2014/main" id="{A6341634-3669-F0DB-38F7-A820FBF9A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2730" y="3387582"/>
            <a:ext cx="1194071" cy="367490"/>
          </a:xfrm>
          <a:prstGeom prst="rightArrow">
            <a:avLst>
              <a:gd name="adj1" fmla="val 50000"/>
              <a:gd name="adj2" fmla="val 1055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2000"/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088BDD75-5870-1084-278C-E8A906CE3AA3}"/>
              </a:ext>
            </a:extLst>
          </p:cNvPr>
          <p:cNvGrpSpPr/>
          <p:nvPr/>
        </p:nvGrpSpPr>
        <p:grpSpPr>
          <a:xfrm>
            <a:off x="6071761" y="2822940"/>
            <a:ext cx="1960714" cy="1496774"/>
            <a:chOff x="6793950" y="4405912"/>
            <a:chExt cx="1960714" cy="1496774"/>
          </a:xfrm>
        </p:grpSpPr>
        <p:sp>
          <p:nvSpPr>
            <p:cNvPr id="57" name="圆角矩形 56">
              <a:extLst>
                <a:ext uri="{FF2B5EF4-FFF2-40B4-BE49-F238E27FC236}">
                  <a16:creationId xmlns:a16="http://schemas.microsoft.com/office/drawing/2014/main" id="{36EF6BB0-9D6F-BFFA-91EA-65FBA0B4C92D}"/>
                </a:ext>
              </a:extLst>
            </p:cNvPr>
            <p:cNvSpPr/>
            <p:nvPr/>
          </p:nvSpPr>
          <p:spPr>
            <a:xfrm>
              <a:off x="7259618" y="4405912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+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58" name="圆角矩形 57">
              <a:extLst>
                <a:ext uri="{FF2B5EF4-FFF2-40B4-BE49-F238E27FC236}">
                  <a16:creationId xmlns:a16="http://schemas.microsoft.com/office/drawing/2014/main" id="{3CA3F4E0-5CCC-662F-263E-902A7E1D5261}"/>
                </a:ext>
              </a:extLst>
            </p:cNvPr>
            <p:cNvSpPr/>
            <p:nvPr/>
          </p:nvSpPr>
          <p:spPr>
            <a:xfrm>
              <a:off x="6793950" y="4976888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2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59" name="圆角矩形 58">
              <a:extLst>
                <a:ext uri="{FF2B5EF4-FFF2-40B4-BE49-F238E27FC236}">
                  <a16:creationId xmlns:a16="http://schemas.microsoft.com/office/drawing/2014/main" id="{E7723EB0-6902-486D-15E9-BBE609663112}"/>
                </a:ext>
              </a:extLst>
            </p:cNvPr>
            <p:cNvSpPr/>
            <p:nvPr/>
          </p:nvSpPr>
          <p:spPr>
            <a:xfrm>
              <a:off x="7825171" y="5001143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200" b="1" dirty="0">
                  <a:solidFill>
                    <a:schemeClr val="tx1"/>
                  </a:solidFill>
                </a:rPr>
                <a:t>*</a:t>
              </a:r>
              <a:endParaRPr kumimoji="1" lang="en-US" altLang="zh-CN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60" name="圆角矩形 59">
              <a:extLst>
                <a:ext uri="{FF2B5EF4-FFF2-40B4-BE49-F238E27FC236}">
                  <a16:creationId xmlns:a16="http://schemas.microsoft.com/office/drawing/2014/main" id="{1B717663-63E0-B279-A010-4A03A25D37A2}"/>
                </a:ext>
              </a:extLst>
            </p:cNvPr>
            <p:cNvSpPr/>
            <p:nvPr/>
          </p:nvSpPr>
          <p:spPr>
            <a:xfrm>
              <a:off x="7391935" y="5580239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3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61" name="圆角矩形 60">
              <a:extLst>
                <a:ext uri="{FF2B5EF4-FFF2-40B4-BE49-F238E27FC236}">
                  <a16:creationId xmlns:a16="http://schemas.microsoft.com/office/drawing/2014/main" id="{AEC60E1B-2462-7961-2B9A-1D0721DBAA12}"/>
                </a:ext>
              </a:extLst>
            </p:cNvPr>
            <p:cNvSpPr/>
            <p:nvPr/>
          </p:nvSpPr>
          <p:spPr>
            <a:xfrm>
              <a:off x="8198073" y="5575676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4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62" name="直线箭头连接符 61">
              <a:extLst>
                <a:ext uri="{FF2B5EF4-FFF2-40B4-BE49-F238E27FC236}">
                  <a16:creationId xmlns:a16="http://schemas.microsoft.com/office/drawing/2014/main" id="{A02A8EA7-E46B-48A6-094D-E1876D651ECA}"/>
                </a:ext>
              </a:extLst>
            </p:cNvPr>
            <p:cNvCxnSpPr>
              <a:stCxn id="57" idx="2"/>
              <a:endCxn id="58" idx="0"/>
            </p:cNvCxnSpPr>
            <p:nvPr/>
          </p:nvCxnSpPr>
          <p:spPr>
            <a:xfrm flipH="1">
              <a:off x="7072246" y="4728359"/>
              <a:ext cx="465668" cy="24852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线箭头连接符 62">
              <a:extLst>
                <a:ext uri="{FF2B5EF4-FFF2-40B4-BE49-F238E27FC236}">
                  <a16:creationId xmlns:a16="http://schemas.microsoft.com/office/drawing/2014/main" id="{9B8D0F9E-3496-F271-C526-7A1E41C63A89}"/>
                </a:ext>
              </a:extLst>
            </p:cNvPr>
            <p:cNvCxnSpPr>
              <a:stCxn id="57" idx="2"/>
              <a:endCxn id="59" idx="0"/>
            </p:cNvCxnSpPr>
            <p:nvPr/>
          </p:nvCxnSpPr>
          <p:spPr>
            <a:xfrm>
              <a:off x="7537914" y="4728359"/>
              <a:ext cx="565553" cy="2727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线箭头连接符 63">
              <a:extLst>
                <a:ext uri="{FF2B5EF4-FFF2-40B4-BE49-F238E27FC236}">
                  <a16:creationId xmlns:a16="http://schemas.microsoft.com/office/drawing/2014/main" id="{045A4954-F672-D057-6CEE-FA7FEF51E218}"/>
                </a:ext>
              </a:extLst>
            </p:cNvPr>
            <p:cNvCxnSpPr>
              <a:stCxn id="59" idx="2"/>
              <a:endCxn id="60" idx="0"/>
            </p:cNvCxnSpPr>
            <p:nvPr/>
          </p:nvCxnSpPr>
          <p:spPr>
            <a:xfrm flipH="1">
              <a:off x="7670231" y="5323590"/>
              <a:ext cx="433236" cy="25664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线箭头连接符 64">
              <a:extLst>
                <a:ext uri="{FF2B5EF4-FFF2-40B4-BE49-F238E27FC236}">
                  <a16:creationId xmlns:a16="http://schemas.microsoft.com/office/drawing/2014/main" id="{F646AF76-945B-A09F-D3F4-7D8FCF515AAB}"/>
                </a:ext>
              </a:extLst>
            </p:cNvPr>
            <p:cNvCxnSpPr>
              <a:stCxn id="59" idx="2"/>
              <a:endCxn id="61" idx="0"/>
            </p:cNvCxnSpPr>
            <p:nvPr/>
          </p:nvCxnSpPr>
          <p:spPr>
            <a:xfrm>
              <a:off x="8103467" y="5323590"/>
              <a:ext cx="372902" cy="25208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3262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4.1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Semantic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Actions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4950" y="1284471"/>
            <a:ext cx="4565366" cy="1399836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parser</a:t>
            </a:r>
            <a:r>
              <a:rPr kumimoji="1" lang="zh-CN" altLang="en-US" dirty="0"/>
              <a:t> </a:t>
            </a:r>
            <a:r>
              <a:rPr kumimoji="1" lang="en-GB" altLang="zh-CN" dirty="0"/>
              <a:t>recognize</a:t>
            </a:r>
            <a:r>
              <a:rPr kumimoji="1" lang="en-US" altLang="zh-CN" dirty="0"/>
              <a:t>s</a:t>
            </a:r>
            <a:r>
              <a:rPr kumimoji="1" lang="en-GB" altLang="zh-CN" dirty="0"/>
              <a:t> whether a sentence belongs to the language of a grammar</a:t>
            </a:r>
            <a:r>
              <a:rPr kumimoji="1" lang="en-US" altLang="zh-CN" dirty="0"/>
              <a:t>.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6283326" y="1883765"/>
            <a:ext cx="1143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dirty="0">
                <a:solidFill>
                  <a:schemeClr val="bg1"/>
                </a:solidFill>
              </a:rPr>
              <a:t>Syntax</a:t>
            </a:r>
            <a:r>
              <a:rPr kumimoji="0" lang="zh-CN" altLang="en-US" sz="2000" dirty="0">
                <a:solidFill>
                  <a:schemeClr val="bg1"/>
                </a:solidFill>
              </a:rPr>
              <a:t> </a:t>
            </a:r>
            <a:endParaRPr kumimoji="0" lang="en-US" altLang="zh-CN" sz="2000" dirty="0">
              <a:solidFill>
                <a:schemeClr val="bg1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5" name="AutoShape 7"/>
          <p:cNvSpPr>
            <a:spLocks noChangeArrowheads="1"/>
          </p:cNvSpPr>
          <p:nvPr/>
        </p:nvSpPr>
        <p:spPr bwMode="auto">
          <a:xfrm>
            <a:off x="4835526" y="2112365"/>
            <a:ext cx="1371600" cy="228600"/>
          </a:xfrm>
          <a:prstGeom prst="rightArrow">
            <a:avLst>
              <a:gd name="adj1" fmla="val 50000"/>
              <a:gd name="adj2" fmla="val 105556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2000"/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4879976" y="1477365"/>
            <a:ext cx="13255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dirty="0"/>
              <a:t>stream of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dirty="0"/>
              <a:t>tokens</a:t>
            </a:r>
          </a:p>
        </p:txBody>
      </p:sp>
      <p:sp>
        <p:nvSpPr>
          <p:cNvPr id="7" name="AutoShape 10"/>
          <p:cNvSpPr>
            <a:spLocks noChangeArrowheads="1"/>
          </p:cNvSpPr>
          <p:nvPr/>
        </p:nvSpPr>
        <p:spPr bwMode="auto">
          <a:xfrm>
            <a:off x="7502526" y="2112365"/>
            <a:ext cx="1371600" cy="228600"/>
          </a:xfrm>
          <a:prstGeom prst="rightArrow">
            <a:avLst>
              <a:gd name="adj1" fmla="val 50000"/>
              <a:gd name="adj2" fmla="val 105556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2000"/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7546976" y="1477365"/>
            <a:ext cx="11715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dirty="0"/>
              <a:t>abstract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dirty="0"/>
              <a:t>syntax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6441892" y="2583832"/>
            <a:ext cx="93968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i="1" dirty="0"/>
              <a:t>Parser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4833071" y="1477365"/>
            <a:ext cx="4038600" cy="1476311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6250333" y="910616"/>
            <a:ext cx="120898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dirty="0"/>
              <a:t>grammar</a:t>
            </a:r>
          </a:p>
        </p:txBody>
      </p:sp>
      <p:sp>
        <p:nvSpPr>
          <p:cNvPr id="12" name="下箭头 11"/>
          <p:cNvSpPr/>
          <p:nvPr/>
        </p:nvSpPr>
        <p:spPr>
          <a:xfrm>
            <a:off x="6781366" y="1286448"/>
            <a:ext cx="155385" cy="5081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内容占位符 2"/>
          <p:cNvSpPr txBox="1"/>
          <p:nvPr/>
        </p:nvSpPr>
        <p:spPr>
          <a:xfrm>
            <a:off x="394825" y="3090708"/>
            <a:ext cx="8382572" cy="3425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A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compiler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must</a:t>
            </a:r>
            <a:r>
              <a:rPr kumimoji="1" lang="zh-CN" altLang="en-US" dirty="0"/>
              <a:t> </a:t>
            </a:r>
            <a:r>
              <a:rPr kumimoji="1" lang="en-US" altLang="zh-CN" dirty="0"/>
              <a:t>do</a:t>
            </a:r>
            <a:r>
              <a:rPr kumimoji="1" lang="zh-CN" altLang="en-US" dirty="0"/>
              <a:t> </a:t>
            </a:r>
            <a:r>
              <a:rPr kumimoji="1" lang="en-US" altLang="zh-CN" dirty="0"/>
              <a:t>more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useful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things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sentence:</a:t>
            </a:r>
          </a:p>
          <a:p>
            <a:pPr lvl="1"/>
            <a:r>
              <a:rPr kumimoji="1" lang="en-US" altLang="zh-CN" dirty="0"/>
              <a:t>constructing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abstract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syntax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</a:p>
          <a:p>
            <a:pPr lvl="1"/>
            <a:r>
              <a:rPr kumimoji="1" lang="en-US" altLang="zh-CN" dirty="0"/>
              <a:t>performing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semantic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analysis</a:t>
            </a:r>
          </a:p>
          <a:p>
            <a:pPr lvl="1"/>
            <a:r>
              <a:rPr kumimoji="1" lang="en-US" altLang="zh-CN" dirty="0"/>
              <a:t>generating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Intermediate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Representation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(IR)</a:t>
            </a:r>
          </a:p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semantic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actions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parser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do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useful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things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phrases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parsed.</a:t>
            </a:r>
          </a:p>
          <a:p>
            <a:r>
              <a:rPr kumimoji="1" lang="en-US" altLang="zh-CN" dirty="0"/>
              <a:t>Semantic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actions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in:</a:t>
            </a:r>
          </a:p>
          <a:p>
            <a:pPr marL="457200" lvl="1" indent="0">
              <a:buNone/>
            </a:pPr>
            <a:r>
              <a:rPr kumimoji="1" lang="en-US" altLang="zh-CN" dirty="0"/>
              <a:t>(1) Recursive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Descent             (2) </a:t>
            </a:r>
            <a:r>
              <a:rPr kumimoji="1" lang="en-US" altLang="zh-CN" dirty="0" err="1"/>
              <a:t>Yacc</a:t>
            </a:r>
            <a:r>
              <a:rPr kumimoji="1" lang="en-US" altLang="zh-CN" dirty="0"/>
              <a:t>-Generated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/>
      <p:bldP spid="9" grpId="0"/>
      <p:bldP spid="10" grpId="0" animBg="1"/>
      <p:bldP spid="11" grpId="0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Recursive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Descent</a:t>
            </a:r>
            <a:endParaRPr kumimoji="1"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836436" y="1620003"/>
            <a:ext cx="1658815" cy="3936023"/>
          </a:xfrm>
          <a:prstGeom prst="rect">
            <a:avLst/>
          </a:prstGeom>
          <a:ln w="38100">
            <a:solidFill>
              <a:srgbClr val="0000FF"/>
            </a:solidFill>
            <a:miter lim="800000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$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 +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→−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→*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 /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id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num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(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2923476" y="1108334"/>
            <a:ext cx="5691444" cy="50928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altLang="zh-CN" sz="1800" b="1" dirty="0" err="1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enum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800" b="1" dirty="0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token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{</a:t>
            </a:r>
            <a:r>
              <a:rPr lang="en-GB" altLang="zh-CN" sz="18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EOF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18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ID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18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NUM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18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PLUS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18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MINUS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...};</a:t>
            </a:r>
          </a:p>
          <a:p>
            <a:pPr marL="0" indent="0">
              <a:buNone/>
            </a:pPr>
            <a:endParaRPr lang="en-GB" altLang="zh-CN" sz="1800" b="1" dirty="0">
              <a:solidFill>
                <a:srgbClr val="0000FF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8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F_follow</a:t>
            </a: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[]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= { </a:t>
            </a:r>
            <a:r>
              <a:rPr lang="en-GB" altLang="zh-CN" sz="18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PLUS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TIMES, RPAREN, </a:t>
            </a:r>
            <a:r>
              <a:rPr lang="en-GB" altLang="zh-CN" sz="18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EOF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-</a:t>
            </a:r>
            <a:r>
              <a:rPr lang="en-GB" altLang="zh-CN" sz="1800" b="1" dirty="0">
                <a:solidFill>
                  <a:srgbClr val="098658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1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};</a:t>
            </a:r>
          </a:p>
          <a:p>
            <a:pPr marL="0" indent="0">
              <a:buNone/>
            </a:pP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8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F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</a:t>
            </a:r>
            <a:r>
              <a:rPr lang="en-GB" altLang="zh-CN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switch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(</a:t>
            </a:r>
            <a:r>
              <a:rPr lang="en-GB" altLang="zh-CN" sz="1800" b="1" dirty="0" err="1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 </a:t>
            </a:r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8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ID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{ </a:t>
            </a:r>
            <a:r>
              <a:rPr lang="en-GB" altLang="zh-CN" sz="18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advance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break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 }</a:t>
            </a:r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8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NUM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{ </a:t>
            </a:r>
            <a:r>
              <a:rPr lang="en-GB" altLang="zh-CN" sz="18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advance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break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 }</a:t>
            </a:r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LPAREN: { </a:t>
            </a:r>
            <a:r>
              <a:rPr lang="en-GB" altLang="zh-CN" sz="18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(LPAREN); </a:t>
            </a:r>
            <a:r>
              <a:rPr lang="en-GB" altLang="zh-CN" sz="18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             </a:t>
            </a:r>
            <a:r>
              <a:rPr lang="en-GB" altLang="zh-CN" sz="18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eatOrSkipTo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(RPAREN, </a:t>
            </a:r>
            <a:r>
              <a:rPr lang="en-GB" altLang="zh-CN" sz="18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F_follow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</a:t>
            </a:r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</a:rPr>
              <a:t>                 </a:t>
            </a:r>
            <a:r>
              <a:rPr lang="en-GB" altLang="zh-CN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break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 }</a:t>
            </a:r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8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EOF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default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  <a:r>
              <a:rPr lang="en-GB" altLang="zh-CN" sz="18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printf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800" b="1" dirty="0">
                <a:solidFill>
                  <a:srgbClr val="A31515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“expected ID, NUM, or left-</a:t>
            </a:r>
            <a:r>
              <a:rPr lang="en-GB" altLang="zh-CN" sz="1800" b="1" dirty="0" err="1">
                <a:solidFill>
                  <a:srgbClr val="A31515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paren</a:t>
            </a:r>
            <a:r>
              <a:rPr lang="en-GB" altLang="zh-CN" sz="1800" b="1" dirty="0">
                <a:solidFill>
                  <a:srgbClr val="A31515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”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</a:t>
            </a:r>
            <a:endParaRPr lang="en-US" altLang="zh-CN" sz="1800" b="1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       </a:t>
            </a:r>
            <a:r>
              <a:rPr lang="en-GB" altLang="zh-CN" sz="18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skipto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8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F_follow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</a:t>
            </a:r>
          </a:p>
          <a:p>
            <a:pPr marL="0" indent="0">
              <a:buNone/>
            </a:pP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}}</a:t>
            </a:r>
            <a:b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</a:br>
            <a:endParaRPr lang="en-GB" altLang="zh-CN" sz="1800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8000" y="6108953"/>
            <a:ext cx="7514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/>
              <a:t>What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if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we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want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to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evaluate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the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input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string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with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parsing?</a:t>
            </a:r>
            <a:endParaRPr kumimoji="1"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Semantic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Actions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Recursive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Descent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71886" y="999066"/>
            <a:ext cx="5636797" cy="57885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altLang="zh-CN" sz="1600" b="1" dirty="0" err="1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enum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token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{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EOF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ID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NUM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PLUS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MINUS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...};</a:t>
            </a:r>
          </a:p>
          <a:p>
            <a:pPr marL="0" indent="0">
              <a:buNone/>
            </a:pP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union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tokenval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{string </a:t>
            </a:r>
            <a:r>
              <a:rPr lang="en-GB" altLang="zh-CN" sz="16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id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 </a:t>
            </a: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num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 ...};</a:t>
            </a:r>
          </a:p>
          <a:p>
            <a:pPr marL="0" indent="0">
              <a:buNone/>
            </a:pPr>
            <a:r>
              <a:rPr lang="en-GB" altLang="zh-CN" sz="1600" b="1" dirty="0" err="1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enum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token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 </a:t>
            </a:r>
          </a:p>
          <a:p>
            <a:pPr marL="0" indent="0">
              <a:buNone/>
            </a:pP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union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tokenval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tokval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//assume</a:t>
            </a:r>
            <a:r>
              <a:rPr lang="zh-CN" altLang="en-US" sz="1600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US" altLang="zh-CN" sz="1600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a</a:t>
            </a:r>
            <a:r>
              <a:rPr lang="zh-CN" altLang="en-US" sz="1600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US" altLang="zh-CN" sz="1600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look</a:t>
            </a:r>
            <a:r>
              <a:rPr lang="en-US" altLang="zh-CN" sz="1600" b="1" dirty="0">
                <a:solidFill>
                  <a:srgbClr val="008000"/>
                </a:solidFill>
                <a:latin typeface="等线" panose="02010600030101010101" charset="-122"/>
                <a:ea typeface="等线" panose="02010600030101010101" charset="-122"/>
              </a:rPr>
              <a:t>up</a:t>
            </a:r>
            <a:r>
              <a:rPr lang="zh-CN" altLang="en-US" sz="1600" b="1" dirty="0">
                <a:solidFill>
                  <a:srgbClr val="008000"/>
                </a:solidFill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US" altLang="zh-CN" sz="1600" b="1" dirty="0">
                <a:solidFill>
                  <a:srgbClr val="008000"/>
                </a:solidFill>
                <a:latin typeface="等线" panose="02010600030101010101" charset="-122"/>
                <a:ea typeface="等线" panose="02010600030101010101" charset="-122"/>
              </a:rPr>
              <a:t>table</a:t>
            </a:r>
            <a:r>
              <a:rPr lang="zh-CN" altLang="en-US" sz="1600" b="1" dirty="0">
                <a:solidFill>
                  <a:srgbClr val="008000"/>
                </a:solidFill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mapping identifiers to</a:t>
            </a:r>
            <a:r>
              <a:rPr lang="zh-CN" altLang="en-US" sz="1600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US" altLang="zh-CN" sz="1600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integers</a:t>
            </a:r>
            <a:endParaRPr lang="en-GB" altLang="zh-CN" sz="1600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lookup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(string </a:t>
            </a:r>
            <a:r>
              <a:rPr lang="en-GB" altLang="zh-CN" sz="16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id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 ... }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en-US" altLang="zh-CN" sz="1600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F_follow</a:t>
            </a: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[]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= {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PLUS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TIMES, RPAREN,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EOF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-</a:t>
            </a:r>
            <a:r>
              <a:rPr lang="en-GB" altLang="zh-CN" sz="1600" b="1" dirty="0">
                <a:solidFill>
                  <a:srgbClr val="098658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1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};</a:t>
            </a:r>
          </a:p>
          <a:p>
            <a:pPr marL="0" indent="0">
              <a:buNone/>
            </a:pPr>
            <a:r>
              <a:rPr lang="en-GB" altLang="zh-CN" sz="1600" b="1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F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{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switch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(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 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ID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{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i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=</a:t>
            </a:r>
            <a:r>
              <a:rPr lang="en-GB" altLang="zh-CN" sz="1600" b="1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lookup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tokval</a:t>
            </a:r>
            <a:r>
              <a:rPr lang="en-GB" altLang="zh-CN" sz="16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.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id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);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advance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</a:t>
            </a:r>
            <a:endParaRPr lang="en-US" altLang="zh-CN" sz="1600" b="1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        </a:t>
            </a:r>
            <a:r>
              <a:rPr lang="en-GB" altLang="zh-CN" sz="1600" b="1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return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i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;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}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NUM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{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i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=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tokval</a:t>
            </a:r>
            <a:r>
              <a:rPr lang="en-GB" altLang="zh-CN" sz="16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.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num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;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advance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return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i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;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}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LPAREN: {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(LPAREN);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i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 = </a:t>
            </a:r>
            <a:r>
              <a:rPr lang="en-GB" altLang="zh-CN" sz="1600" b="1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E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();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</a:rPr>
              <a:t>              </a:t>
            </a:r>
            <a:r>
              <a:rPr lang="en-GB" altLang="zh-CN" sz="16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eatOrSkipTo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(RPAREN, 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F_follow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  <a:r>
              <a:rPr lang="en-GB" altLang="zh-CN" sz="1600" b="1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return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i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;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}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EOF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default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  <a:r>
              <a:rPr lang="en-GB" altLang="zh-CN" sz="16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printf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>
                <a:solidFill>
                  <a:srgbClr val="A31515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"expected ID, NUM, or left-</a:t>
            </a:r>
            <a:r>
              <a:rPr lang="en-GB" altLang="zh-CN" sz="1600" b="1" dirty="0" err="1">
                <a:solidFill>
                  <a:srgbClr val="A31515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paren</a:t>
            </a:r>
            <a:r>
              <a:rPr lang="en-GB" altLang="zh-CN" sz="1600" b="1" dirty="0">
                <a:solidFill>
                  <a:srgbClr val="A31515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"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       </a:t>
            </a:r>
            <a:r>
              <a:rPr lang="en-GB" altLang="zh-CN" sz="16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skipto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F_follow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return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0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</a:t>
            </a:r>
          </a:p>
          <a:p>
            <a:pPr marL="0" indent="0">
              <a:buNone/>
            </a:pP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}}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98479" y="1798282"/>
            <a:ext cx="1658815" cy="3936023"/>
          </a:xfrm>
          <a:prstGeom prst="rect">
            <a:avLst/>
          </a:prstGeom>
          <a:ln w="38100">
            <a:solidFill>
              <a:srgbClr val="0000FF"/>
            </a:solidFill>
            <a:miter lim="800000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$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 +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→−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→*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 /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id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num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(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Semantic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Actions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Recursive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Descent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1243" y="999066"/>
            <a:ext cx="8449733" cy="1715379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In a recursive-descent parser, the </a:t>
            </a:r>
            <a:r>
              <a:rPr kumimoji="1" lang="en-US" altLang="zh-CN" dirty="0">
                <a:solidFill>
                  <a:srgbClr val="0070C0"/>
                </a:solidFill>
              </a:rPr>
              <a:t>semantic actions</a:t>
            </a:r>
            <a:r>
              <a:rPr kumimoji="1" lang="en-US" altLang="zh-CN" dirty="0"/>
              <a:t> are the </a:t>
            </a:r>
            <a:r>
              <a:rPr kumimoji="1" lang="en-US" altLang="zh-CN" dirty="0">
                <a:solidFill>
                  <a:srgbClr val="0070C0"/>
                </a:solidFill>
              </a:rPr>
              <a:t>values</a:t>
            </a:r>
            <a:r>
              <a:rPr kumimoji="1" lang="en-US" altLang="zh-CN" dirty="0"/>
              <a:t> returned by parsing functions, or the </a:t>
            </a:r>
            <a:r>
              <a:rPr kumimoji="1" lang="en-US" altLang="zh-CN" dirty="0">
                <a:solidFill>
                  <a:srgbClr val="0070C0"/>
                </a:solidFill>
              </a:rPr>
              <a:t>side effects </a:t>
            </a:r>
            <a:r>
              <a:rPr kumimoji="1" lang="en-US" altLang="zh-CN" dirty="0"/>
              <a:t>of those functions, or </a:t>
            </a:r>
            <a:r>
              <a:rPr kumimoji="1" lang="en-US" altLang="zh-CN" dirty="0">
                <a:solidFill>
                  <a:srgbClr val="0070C0"/>
                </a:solidFill>
              </a:rPr>
              <a:t>both</a:t>
            </a:r>
            <a:r>
              <a:rPr kumimoji="1" lang="en-US" altLang="zh-CN" dirty="0"/>
              <a:t>.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r>
              <a:rPr kumimoji="1" lang="en-US" altLang="zh-CN" dirty="0"/>
              <a:t>Examples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side</a:t>
            </a:r>
            <a:r>
              <a:rPr kumimoji="1" lang="zh-CN" altLang="en-US" dirty="0"/>
              <a:t> </a:t>
            </a:r>
            <a:r>
              <a:rPr kumimoji="1" lang="en-US" altLang="zh-CN" dirty="0"/>
              <a:t>effects: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EE9C07D-C99C-70DD-6CF4-C9FF3CE9CCF7}"/>
              </a:ext>
            </a:extLst>
          </p:cNvPr>
          <p:cNvSpPr txBox="1"/>
          <p:nvPr/>
        </p:nvSpPr>
        <p:spPr>
          <a:xfrm>
            <a:off x="361242" y="4807701"/>
            <a:ext cx="8270927" cy="1633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For each terminal and nonterminal symbol, we associate a 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type of semantic values 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representing phrases derived from that symbol.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 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The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type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is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from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the implementation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language of the compiler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9F41C40-82DB-84FC-88CE-E9D8B67C538C}"/>
              </a:ext>
            </a:extLst>
          </p:cNvPr>
          <p:cNvSpPr txBox="1"/>
          <p:nvPr/>
        </p:nvSpPr>
        <p:spPr>
          <a:xfrm>
            <a:off x="973434" y="2934503"/>
            <a:ext cx="82709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267F99"/>
                </a:solidFill>
                <a:latin typeface="Menlo" panose="020B0609030804020204" pitchFamily="49" charset="0"/>
              </a:rPr>
              <a:t>S -&gt; id := num   </a:t>
            </a:r>
            <a:r>
              <a:rPr lang="zh-CN" altLang="en-US" sz="2400" b="1" dirty="0">
                <a:solidFill>
                  <a:srgbClr val="267F99"/>
                </a:solidFill>
                <a:latin typeface="Menlo" panose="020B0609030804020204" pitchFamily="49" charset="0"/>
              </a:rPr>
              <a:t> </a:t>
            </a:r>
            <a:r>
              <a:rPr lang="en-US" altLang="zh-CN" sz="2400" b="1" dirty="0">
                <a:solidFill>
                  <a:srgbClr val="267F99"/>
                </a:solidFill>
                <a:latin typeface="Menlo" panose="020B0609030804020204" pitchFamily="49" charset="0"/>
              </a:rPr>
              <a:t>S -&gt; print (id)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话气泡: 圆角矩形 9">
                <a:extLst>
                  <a:ext uri="{FF2B5EF4-FFF2-40B4-BE49-F238E27FC236}">
                    <a16:creationId xmlns:a16="http://schemas.microsoft.com/office/drawing/2014/main" id="{9C2FD087-37CA-8B24-B105-69281F25A762}"/>
                  </a:ext>
                </a:extLst>
              </p:cNvPr>
              <p:cNvSpPr/>
              <p:nvPr/>
            </p:nvSpPr>
            <p:spPr>
              <a:xfrm>
                <a:off x="1509691" y="3789872"/>
                <a:ext cx="2449902" cy="672860"/>
              </a:xfrm>
              <a:prstGeom prst="wedgeRoundRectCallout">
                <a:avLst>
                  <a:gd name="adj1" fmla="val -1834"/>
                  <a:gd name="adj2" fmla="val -111003"/>
                  <a:gd name="adj3" fmla="val 16667"/>
                </a:avLst>
              </a:prstGeom>
              <a:solidFill>
                <a:srgbClr val="2E75B6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record </a:t>
                </a:r>
                <a:r>
                  <a:rPr lang="en-US" altLang="zh-CN" b="1" dirty="0"/>
                  <a:t>id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lang="en-US" altLang="zh-CN" b="1" dirty="0"/>
                  <a:t> num </a:t>
                </a:r>
                <a:r>
                  <a:rPr lang="en-US" altLang="zh-CN" dirty="0"/>
                  <a:t>in </a:t>
                </a:r>
              </a:p>
              <a:p>
                <a:pPr algn="ctr"/>
                <a:r>
                  <a:rPr lang="en-US" altLang="zh-CN" dirty="0"/>
                  <a:t>the lookup table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0" name="对话气泡: 圆角矩形 9">
                <a:extLst>
                  <a:ext uri="{FF2B5EF4-FFF2-40B4-BE49-F238E27FC236}">
                    <a16:creationId xmlns:a16="http://schemas.microsoft.com/office/drawing/2014/main" id="{9C2FD087-37CA-8B24-B105-69281F25A7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691" y="3789872"/>
                <a:ext cx="2449902" cy="672860"/>
              </a:xfrm>
              <a:prstGeom prst="wedgeRoundRectCallout">
                <a:avLst>
                  <a:gd name="adj1" fmla="val -1834"/>
                  <a:gd name="adj2" fmla="val -111003"/>
                  <a:gd name="adj3" fmla="val 16667"/>
                </a:avLst>
              </a:prstGeom>
              <a:blipFill>
                <a:blip r:embed="rId3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2DF54C24-6982-70B1-F464-BEAA2B948BCD}"/>
              </a:ext>
            </a:extLst>
          </p:cNvPr>
          <p:cNvSpPr/>
          <p:nvPr/>
        </p:nvSpPr>
        <p:spPr>
          <a:xfrm>
            <a:off x="4711215" y="3802885"/>
            <a:ext cx="2449902" cy="672860"/>
          </a:xfrm>
          <a:prstGeom prst="wedgeRoundRectCallout">
            <a:avLst>
              <a:gd name="adj1" fmla="val -8545"/>
              <a:gd name="adj2" fmla="val -113567"/>
              <a:gd name="adj3" fmla="val 16667"/>
            </a:avLst>
          </a:prstGeom>
          <a:solidFill>
            <a:srgbClr val="2E75B6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print the value of </a:t>
            </a:r>
            <a:r>
              <a:rPr lang="en-US" altLang="zh-CN" b="1" dirty="0"/>
              <a:t>id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Semantic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Actions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Recursive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Descent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10784" y="999066"/>
            <a:ext cx="5804131" cy="57885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altLang="zh-CN" sz="1600" b="1" dirty="0" err="1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enum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token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{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EOF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ID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NUM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PLUS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MINUS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...};</a:t>
            </a:r>
          </a:p>
          <a:p>
            <a:pPr marL="0" indent="0">
              <a:buNone/>
            </a:pP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union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tokenval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{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string </a:t>
            </a:r>
            <a:r>
              <a:rPr lang="en-GB" altLang="zh-CN" sz="1600" b="1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id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; </a:t>
            </a:r>
            <a:r>
              <a:rPr lang="en-GB" altLang="zh-CN" sz="1600" b="1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num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; ...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};</a:t>
            </a:r>
          </a:p>
          <a:p>
            <a:pPr marL="0" indent="0">
              <a:buNone/>
            </a:pPr>
            <a:r>
              <a:rPr lang="en-GB" altLang="zh-CN" sz="1600" b="1" dirty="0" err="1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enum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token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 </a:t>
            </a:r>
          </a:p>
          <a:p>
            <a:pPr marL="0" indent="0">
              <a:buNone/>
            </a:pP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union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tokenval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tokval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//assume</a:t>
            </a:r>
            <a:r>
              <a:rPr lang="zh-CN" altLang="en-US" sz="1600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US" altLang="zh-CN" sz="1600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a</a:t>
            </a:r>
            <a:r>
              <a:rPr lang="zh-CN" altLang="en-US" sz="1600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US" altLang="zh-CN" sz="1600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look</a:t>
            </a:r>
            <a:r>
              <a:rPr lang="en-US" altLang="zh-CN" sz="1600" b="1" dirty="0">
                <a:solidFill>
                  <a:srgbClr val="008000"/>
                </a:solidFill>
                <a:latin typeface="等线" panose="02010600030101010101" charset="-122"/>
                <a:ea typeface="等线" panose="02010600030101010101" charset="-122"/>
              </a:rPr>
              <a:t>up</a:t>
            </a:r>
            <a:r>
              <a:rPr lang="zh-CN" altLang="en-US" sz="1600" b="1" dirty="0">
                <a:solidFill>
                  <a:srgbClr val="008000"/>
                </a:solidFill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US" altLang="zh-CN" sz="1600" b="1" dirty="0">
                <a:solidFill>
                  <a:srgbClr val="008000"/>
                </a:solidFill>
                <a:latin typeface="等线" panose="02010600030101010101" charset="-122"/>
                <a:ea typeface="等线" panose="02010600030101010101" charset="-122"/>
              </a:rPr>
              <a:t>table</a:t>
            </a:r>
            <a:r>
              <a:rPr lang="zh-CN" altLang="en-US" sz="1600" b="1" dirty="0">
                <a:solidFill>
                  <a:srgbClr val="008000"/>
                </a:solidFill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mapping identifiers to</a:t>
            </a:r>
            <a:r>
              <a:rPr lang="zh-CN" altLang="en-US" sz="1600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US" altLang="zh-CN" sz="1600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integers</a:t>
            </a:r>
            <a:endParaRPr lang="en-GB" altLang="zh-CN" sz="1600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lookup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(string </a:t>
            </a:r>
            <a:r>
              <a:rPr lang="en-GB" altLang="zh-CN" sz="16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id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 ... }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en-US" altLang="zh-CN" sz="1600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F_follow</a:t>
            </a: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[]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= {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PLUS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TIMES, RPAREN,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EOF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-</a:t>
            </a:r>
            <a:r>
              <a:rPr lang="en-GB" altLang="zh-CN" sz="1600" b="1" dirty="0">
                <a:solidFill>
                  <a:srgbClr val="098658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1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};</a:t>
            </a:r>
          </a:p>
          <a:p>
            <a:pPr marL="0" indent="0">
              <a:buNone/>
            </a:pPr>
            <a:r>
              <a:rPr lang="en-GB" altLang="zh-CN" sz="1600" b="1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F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{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switch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(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 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ID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{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=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lookup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tokval</a:t>
            </a:r>
            <a:r>
              <a:rPr lang="en-GB" altLang="zh-CN" sz="16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.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id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advance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</a:t>
            </a:r>
            <a:endParaRPr lang="en-US" altLang="zh-CN" sz="1600" b="1" dirty="0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      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return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;}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NUM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{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=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tokval</a:t>
            </a:r>
            <a:r>
              <a:rPr lang="en-GB" altLang="zh-CN" sz="16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.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num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advance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return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}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LPAREN: {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(LPAREN);</a:t>
            </a:r>
            <a:r>
              <a:rPr lang="zh-CN" altLang="en-US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=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</a:rPr>
              <a:t>              </a:t>
            </a:r>
            <a:r>
              <a:rPr lang="en-GB" altLang="zh-CN" sz="16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eatOrSkipTo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(RPAREN, 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F_follow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return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;}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EOF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default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  <a:r>
              <a:rPr lang="en-GB" altLang="zh-CN" sz="16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printf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>
                <a:solidFill>
                  <a:srgbClr val="A31515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"expected ID, NUM, or left-</a:t>
            </a:r>
            <a:r>
              <a:rPr lang="en-GB" altLang="zh-CN" sz="1600" b="1" dirty="0" err="1">
                <a:solidFill>
                  <a:srgbClr val="A31515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paren</a:t>
            </a:r>
            <a:r>
              <a:rPr lang="en-GB" altLang="zh-CN" sz="1600" b="1" dirty="0">
                <a:solidFill>
                  <a:srgbClr val="A31515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"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       </a:t>
            </a:r>
            <a:r>
              <a:rPr lang="en-GB" altLang="zh-CN" sz="16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skipto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F_follow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return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98658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0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</a:t>
            </a:r>
          </a:p>
          <a:p>
            <a:pPr marL="0" indent="0">
              <a:buNone/>
            </a:pP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}}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98409" y="1666010"/>
            <a:ext cx="1658815" cy="3936023"/>
          </a:xfrm>
          <a:prstGeom prst="rect">
            <a:avLst/>
          </a:prstGeom>
          <a:ln w="38100">
            <a:solidFill>
              <a:srgbClr val="0000FF"/>
            </a:solidFill>
            <a:miter lim="800000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$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 +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→−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→*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 /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id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num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(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Semantic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Actions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Recursive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Descent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96413" y="1338372"/>
            <a:ext cx="7414565" cy="5177896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zh-CN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zh-CN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kumimoji="1"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semantic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action: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r>
              <a:rPr lang="en-GB" altLang="zh-CN" sz="22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      int</a:t>
            </a:r>
            <a:r>
              <a:rPr lang="en-GB" altLang="zh-CN" sz="22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22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a</a:t>
            </a:r>
            <a:r>
              <a:rPr lang="en-GB" altLang="zh-CN" sz="22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= </a:t>
            </a:r>
            <a:r>
              <a:rPr lang="en-GB" altLang="zh-CN" sz="22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</a:t>
            </a:r>
            <a:r>
              <a:rPr lang="en-GB" altLang="zh-CN" sz="22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22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22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22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TIMES</a:t>
            </a:r>
            <a:r>
              <a:rPr lang="en-GB" altLang="zh-CN" sz="22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  <a:r>
              <a:rPr lang="en-GB" altLang="zh-CN" sz="22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22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22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</a:t>
            </a:r>
            <a:r>
              <a:rPr lang="en-GB" altLang="zh-CN" sz="22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=</a:t>
            </a:r>
            <a:r>
              <a:rPr lang="en-GB" altLang="zh-CN" sz="22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F</a:t>
            </a:r>
            <a:r>
              <a:rPr lang="en-GB" altLang="zh-CN" sz="22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22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return</a:t>
            </a:r>
            <a:r>
              <a:rPr lang="en-GB" altLang="zh-CN" sz="22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a*b;</a:t>
            </a:r>
          </a:p>
          <a:p>
            <a:pPr marL="0" indent="0">
              <a:buNone/>
            </a:pPr>
            <a:endParaRPr lang="en-GB" altLang="zh-CN" sz="22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T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→*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T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 /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T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 </a:t>
            </a:r>
          </a:p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semantic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action:</a:t>
            </a:r>
            <a:r>
              <a:rPr kumimoji="1" lang="zh-CN" altLang="en-US" dirty="0"/>
              <a:t> </a:t>
            </a:r>
            <a:r>
              <a:rPr kumimoji="1" lang="en-US" altLang="zh-CN" b="1" dirty="0">
                <a:solidFill>
                  <a:srgbClr val="0070C0"/>
                </a:solidFill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Semantic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Actions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Recursive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Descent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52087" y="999067"/>
            <a:ext cx="5252278" cy="5571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 </a:t>
            </a: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switch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(</a:t>
            </a:r>
            <a:r>
              <a:rPr lang="en-GB" altLang="zh-CN" sz="1600" b="1" dirty="0" err="1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 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ID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NUM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LPAREN: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return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Tprime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F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()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default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print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>
                <a:solidFill>
                  <a:srgbClr val="A31515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"expected ID, NUM, or left-</a:t>
            </a:r>
            <a:r>
              <a:rPr lang="en-GB" altLang="zh-CN" sz="1600" b="1" dirty="0" err="1">
                <a:solidFill>
                  <a:srgbClr val="A31515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paren</a:t>
            </a:r>
            <a:r>
              <a:rPr lang="en-GB" altLang="zh-CN" sz="1600" b="1" dirty="0">
                <a:solidFill>
                  <a:srgbClr val="A31515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"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       </a:t>
            </a:r>
            <a:r>
              <a:rPr lang="en-GB" altLang="zh-CN" sz="16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skipto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 err="1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T_follow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     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return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98658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0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 </a:t>
            </a:r>
          </a:p>
          <a:p>
            <a:pPr marL="0" indent="0">
              <a:buNone/>
            </a:pP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}} </a:t>
            </a:r>
          </a:p>
          <a:p>
            <a:pPr marL="0" indent="0">
              <a:buNone/>
            </a:pPr>
            <a:b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</a:b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Tprime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a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)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{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switch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(</a:t>
            </a:r>
            <a:r>
              <a:rPr lang="en-GB" altLang="zh-CN" sz="1600" b="1" dirty="0" err="1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 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TIMES: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(TIMES);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return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Tprime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a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*</a:t>
            </a:r>
            <a:r>
              <a:rPr lang="en-GB" altLang="zh-CN" sz="1600" b="1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F</a:t>
            </a:r>
            <a:r>
              <a:rPr lang="en-GB" altLang="zh-CN" sz="16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()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PLUS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RPAREN: 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EOF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return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a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 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default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... </a:t>
            </a:r>
          </a:p>
          <a:p>
            <a:pPr marL="0" indent="0">
              <a:buNone/>
            </a:pP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}} </a:t>
            </a:r>
          </a:p>
          <a:p>
            <a:pPr marL="0" indent="0">
              <a:buNone/>
            </a:pPr>
            <a:endParaRPr kumimoji="1" lang="zh-CN" altLang="en-US" sz="1600" b="1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62366" y="1816830"/>
            <a:ext cx="1658815" cy="3936023"/>
          </a:xfrm>
          <a:prstGeom prst="rect">
            <a:avLst/>
          </a:prstGeom>
          <a:ln w="38100">
            <a:solidFill>
              <a:srgbClr val="0000FF"/>
            </a:solidFill>
            <a:miter lim="800000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$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 +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→−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→*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 /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 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id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num</a:t>
            </a:r>
          </a:p>
          <a:p>
            <a:pPr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(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Semantic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Actions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Yacc</a:t>
            </a:r>
            <a:r>
              <a:rPr kumimoji="1" lang="en-US" altLang="zh-CN" dirty="0"/>
              <a:t>-Generated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Parsers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01297" y="999067"/>
            <a:ext cx="4856206" cy="5747722"/>
          </a:xfrm>
          <a:ln w="2540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altLang="zh-CN" sz="1800" b="1" dirty="0">
                <a:solidFill>
                  <a:srgbClr val="098658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%{</a:t>
            </a:r>
            <a:r>
              <a:rPr lang="zh-CN" altLang="en-US" sz="1800" b="1" dirty="0">
                <a:solidFill>
                  <a:srgbClr val="098658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US" altLang="zh-CN" sz="1800" b="1" dirty="0">
                <a:solidFill>
                  <a:srgbClr val="098658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…</a:t>
            </a:r>
            <a:r>
              <a:rPr lang="zh-CN" altLang="en-US" sz="1800" b="1" dirty="0">
                <a:solidFill>
                  <a:srgbClr val="098658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800" b="1" dirty="0">
                <a:solidFill>
                  <a:srgbClr val="098658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%}</a:t>
            </a:r>
            <a:endParaRPr lang="en-GB" altLang="zh-CN" sz="1800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%union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{</a:t>
            </a: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num; string id;}</a:t>
            </a:r>
          </a:p>
          <a:p>
            <a:pPr marL="0" indent="0">
              <a:buNone/>
            </a:pP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%token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&lt;</a:t>
            </a:r>
            <a:r>
              <a:rPr lang="en-GB" altLang="zh-CN" sz="1800" b="1" dirty="0">
                <a:solidFill>
                  <a:srgbClr val="098658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num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&gt; </a:t>
            </a:r>
            <a:r>
              <a:rPr lang="en-GB" altLang="zh-CN" sz="18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</a:t>
            </a:r>
            <a:endParaRPr lang="en-GB" altLang="zh-CN" sz="1800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%token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&lt;</a:t>
            </a:r>
            <a:r>
              <a:rPr lang="en-GB" altLang="zh-CN" sz="1800" b="1" dirty="0">
                <a:solidFill>
                  <a:srgbClr val="098658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id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&gt; </a:t>
            </a:r>
            <a:r>
              <a:rPr lang="en-GB" altLang="zh-CN" sz="18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ID</a:t>
            </a:r>
            <a:endParaRPr lang="en-GB" altLang="zh-CN" sz="1800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%type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&lt;</a:t>
            </a:r>
            <a:r>
              <a:rPr lang="en-GB" altLang="zh-CN" sz="1800" b="1" dirty="0">
                <a:solidFill>
                  <a:srgbClr val="098658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num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&gt; </a:t>
            </a:r>
            <a:r>
              <a:rPr lang="en-GB" altLang="zh-CN" sz="1800" b="1" dirty="0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exp</a:t>
            </a:r>
            <a:endParaRPr lang="en-GB" altLang="zh-CN" sz="1800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</a:rPr>
              <a:t>...</a:t>
            </a:r>
            <a:endParaRPr lang="en-GB" altLang="zh-CN" sz="1800" b="1" dirty="0">
              <a:solidFill>
                <a:srgbClr val="0000FF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%left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8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UMINUS</a:t>
            </a:r>
            <a:endParaRPr lang="en-GB" altLang="zh-CN" sz="1800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en-GB" altLang="zh-CN" sz="1800" b="1" dirty="0">
                <a:solidFill>
                  <a:srgbClr val="000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%%</a:t>
            </a:r>
          </a:p>
          <a:p>
            <a:pPr marL="0" indent="0">
              <a:buNone/>
            </a:pPr>
            <a:endParaRPr lang="en-GB" altLang="zh-CN" sz="1800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en-GB" altLang="zh-CN" sz="1800" b="1" dirty="0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exp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  <a:r>
              <a:rPr lang="en-GB" altLang="zh-CN" sz="18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{</a:t>
            </a: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$$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= </a:t>
            </a: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$1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;}</a:t>
            </a:r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| </a:t>
            </a:r>
            <a:r>
              <a:rPr lang="en-GB" altLang="zh-CN" sz="1800" b="1" dirty="0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exp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8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PLUS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800" b="1" dirty="0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exp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{</a:t>
            </a: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$$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= </a:t>
            </a: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$1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+ </a:t>
            </a: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$3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;}</a:t>
            </a:r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| </a:t>
            </a:r>
            <a:r>
              <a:rPr lang="en-GB" altLang="zh-CN" sz="1800" b="1" dirty="0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exp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8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MINUS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800" b="1" dirty="0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exp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{</a:t>
            </a: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$$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= </a:t>
            </a: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$1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- </a:t>
            </a: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$3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;}</a:t>
            </a:r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| </a:t>
            </a:r>
            <a:r>
              <a:rPr lang="en-GB" altLang="zh-CN" sz="1800" b="1" dirty="0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exp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8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TIMES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800" b="1" dirty="0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exp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{</a:t>
            </a: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$$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= </a:t>
            </a: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$1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* </a:t>
            </a: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$3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;}</a:t>
            </a:r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| </a:t>
            </a:r>
            <a:r>
              <a:rPr lang="en-GB" altLang="zh-CN" sz="18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MINUS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800" b="1" dirty="0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exp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%</a:t>
            </a:r>
            <a:r>
              <a:rPr lang="en-GB" altLang="zh-CN" sz="1800" b="1" dirty="0" err="1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prec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8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UMINUS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{</a:t>
            </a: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$$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= -</a:t>
            </a: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$2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;}</a:t>
            </a:r>
          </a:p>
        </p:txBody>
      </p:sp>
      <p:sp>
        <p:nvSpPr>
          <p:cNvPr id="4" name="内容占位符 2"/>
          <p:cNvSpPr txBox="1"/>
          <p:nvPr/>
        </p:nvSpPr>
        <p:spPr>
          <a:xfrm>
            <a:off x="86497" y="1283271"/>
            <a:ext cx="4114800" cy="49939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b="1" dirty="0">
                <a:solidFill>
                  <a:srgbClr val="0070C0"/>
                </a:solidFill>
              </a:rPr>
              <a:t>{</a:t>
            </a:r>
            <a:r>
              <a:rPr kumimoji="1" lang="zh-CN" altLang="en-US" b="1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</a:rPr>
              <a:t>…</a:t>
            </a:r>
            <a:r>
              <a:rPr kumimoji="1" lang="zh-CN" altLang="en-US" b="1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</a:rPr>
              <a:t>}</a:t>
            </a:r>
            <a:r>
              <a:rPr kumimoji="1" lang="en-US" altLang="zh-CN" dirty="0"/>
              <a:t>: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semantic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actions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r>
              <a:rPr kumimoji="1" lang="en-US" altLang="zh-CN" b="1" dirty="0">
                <a:solidFill>
                  <a:srgbClr val="0070C0"/>
                </a:solidFill>
              </a:rPr>
              <a:t>$</a:t>
            </a:r>
            <a:r>
              <a:rPr kumimoji="1" lang="en-US" altLang="zh-CN" b="1" dirty="0" err="1">
                <a:solidFill>
                  <a:srgbClr val="0070C0"/>
                </a:solidFill>
              </a:rPr>
              <a:t>i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semantic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values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i_th</a:t>
            </a:r>
            <a:r>
              <a:rPr kumimoji="1" lang="zh-CN" altLang="en-US" dirty="0"/>
              <a:t> </a:t>
            </a:r>
            <a:r>
              <a:rPr kumimoji="1" lang="en-US" altLang="zh-CN" dirty="0"/>
              <a:t>RHS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</a:t>
            </a:r>
          </a:p>
          <a:p>
            <a:r>
              <a:rPr kumimoji="1" lang="en-US" altLang="zh-CN" b="1" dirty="0">
                <a:solidFill>
                  <a:srgbClr val="0070C0"/>
                </a:solidFill>
              </a:rPr>
              <a:t>$$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semantic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value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LHS</a:t>
            </a:r>
            <a:r>
              <a:rPr kumimoji="1" lang="zh-CN" altLang="en-US" dirty="0"/>
              <a:t> </a:t>
            </a:r>
            <a:r>
              <a:rPr kumimoji="1" lang="en-US" altLang="zh-CN" dirty="0"/>
              <a:t>nonterminal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</a:t>
            </a:r>
          </a:p>
          <a:p>
            <a:r>
              <a:rPr kumimoji="1" lang="en-US" altLang="zh-CN" b="1" dirty="0">
                <a:solidFill>
                  <a:srgbClr val="0070C0"/>
                </a:solidFill>
              </a:rPr>
              <a:t>%union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/>
              <a:t>different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possible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types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semantic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values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carry</a:t>
            </a:r>
          </a:p>
          <a:p>
            <a:r>
              <a:rPr kumimoji="1" lang="en-US" altLang="zh-CN" b="1" dirty="0">
                <a:solidFill>
                  <a:srgbClr val="0070C0"/>
                </a:solidFill>
              </a:rPr>
              <a:t>&lt;variant&gt;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declares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type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terminal</a:t>
            </a:r>
            <a:r>
              <a:rPr kumimoji="1" lang="zh-CN" altLang="en-US" dirty="0"/>
              <a:t> </a:t>
            </a:r>
            <a:r>
              <a:rPr kumimoji="1" lang="en-US" altLang="zh-CN" dirty="0"/>
              <a:t>or</a:t>
            </a:r>
            <a:r>
              <a:rPr kumimoji="1" lang="zh-CN" altLang="en-US" dirty="0"/>
              <a:t> </a:t>
            </a:r>
            <a:r>
              <a:rPr kumimoji="1" lang="en-US" altLang="zh-CN" dirty="0"/>
              <a:t>nonterminal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Semantic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Actions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Yacc</a:t>
            </a:r>
            <a:r>
              <a:rPr kumimoji="1" lang="en-US" altLang="zh-CN" dirty="0"/>
              <a:t>-Generated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Parsers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7133" y="1206101"/>
            <a:ext cx="8449733" cy="5177896"/>
          </a:xfrm>
        </p:spPr>
        <p:txBody>
          <a:bodyPr/>
          <a:lstStyle/>
          <a:p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implement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semantic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values?</a:t>
            </a:r>
          </a:p>
          <a:p>
            <a:r>
              <a:rPr kumimoji="1" lang="en-US" altLang="zh-CN" dirty="0"/>
              <a:t>A </a:t>
            </a:r>
            <a:r>
              <a:rPr kumimoji="1" lang="en-US" altLang="zh-CN" dirty="0" err="1"/>
              <a:t>Yacc</a:t>
            </a:r>
            <a:r>
              <a:rPr kumimoji="1" lang="en-US" altLang="zh-CN" dirty="0"/>
              <a:t>-generated parser keeps </a:t>
            </a:r>
            <a:r>
              <a:rPr kumimoji="1" lang="en-US" altLang="zh-CN" dirty="0">
                <a:solidFill>
                  <a:srgbClr val="0070C0"/>
                </a:solidFill>
              </a:rPr>
              <a:t>a stack of semantics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values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parallel to the state stack.</a:t>
            </a:r>
          </a:p>
          <a:p>
            <a:r>
              <a:rPr kumimoji="1" lang="en-GB" altLang="zh-CN" dirty="0"/>
              <a:t>When the parser performs </a:t>
            </a:r>
            <a:r>
              <a:rPr kumimoji="1" lang="en-GB" altLang="zh-CN" dirty="0">
                <a:solidFill>
                  <a:srgbClr val="0070C0"/>
                </a:solidFill>
              </a:rPr>
              <a:t>a reduction</a:t>
            </a:r>
            <a:r>
              <a:rPr kumimoji="1" lang="en-GB" altLang="zh-CN" dirty="0"/>
              <a:t>, it must execute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corresponding</a:t>
            </a:r>
            <a:r>
              <a:rPr kumimoji="1" lang="en-GB" altLang="zh-CN" dirty="0"/>
              <a:t> C-language </a:t>
            </a:r>
            <a:r>
              <a:rPr kumimoji="1" lang="en-GB" altLang="zh-CN" dirty="0">
                <a:solidFill>
                  <a:srgbClr val="0070C0"/>
                </a:solidFill>
              </a:rPr>
              <a:t>semantic action</a:t>
            </a:r>
            <a:r>
              <a:rPr kumimoji="1" lang="en-US" altLang="zh-CN" dirty="0"/>
              <a:t>.</a:t>
            </a:r>
          </a:p>
          <a:p>
            <a:r>
              <a:rPr kumimoji="1" lang="en-US" altLang="zh-CN" dirty="0">
                <a:solidFill>
                  <a:srgbClr val="0070C0"/>
                </a:solidFill>
              </a:rPr>
              <a:t>How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to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know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$</a:t>
            </a:r>
            <a:r>
              <a:rPr kumimoji="1" lang="en-US" altLang="zh-CN" dirty="0" err="1">
                <a:solidFill>
                  <a:srgbClr val="0070C0"/>
                </a:solidFill>
              </a:rPr>
              <a:t>i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</a:t>
            </a:r>
            <a:r>
              <a:rPr kumimoji="1" lang="zh-CN" altLang="en-US" dirty="0"/>
              <a:t> </a:t>
            </a:r>
            <a:r>
              <a:rPr kumimoji="1" lang="en-US" altLang="zh-CN" b="1" dirty="0">
                <a:solidFill>
                  <a:srgbClr val="0070C0"/>
                </a:solidFill>
              </a:rPr>
              <a:t>A</a:t>
            </a:r>
            <a:r>
              <a:rPr kumimoji="1" lang="zh-CN" altLang="en-US" b="1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</a:rPr>
              <a:t>-&gt;</a:t>
            </a:r>
            <a:r>
              <a:rPr kumimoji="1" lang="zh-CN" altLang="en-US" b="1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</a:rPr>
              <a:t>Y1</a:t>
            </a:r>
            <a:r>
              <a:rPr kumimoji="1" lang="zh-CN" altLang="en-US" b="1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</a:rPr>
              <a:t>…</a:t>
            </a:r>
            <a:r>
              <a:rPr kumimoji="1" lang="zh-CN" altLang="en-US" b="1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 err="1">
                <a:solidFill>
                  <a:srgbClr val="0070C0"/>
                </a:solidFill>
              </a:rPr>
              <a:t>Yk</a:t>
            </a:r>
            <a:r>
              <a:rPr kumimoji="1" lang="en-US" altLang="zh-CN" dirty="0"/>
              <a:t>?</a:t>
            </a:r>
          </a:p>
          <a:p>
            <a:pPr lvl="1"/>
            <a:r>
              <a:rPr kumimoji="1" lang="en-US" altLang="zh-CN" dirty="0"/>
              <a:t>from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top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k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elements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stack</a:t>
            </a:r>
          </a:p>
          <a:p>
            <a:r>
              <a:rPr kumimoji="1" lang="en-US" altLang="zh-CN" dirty="0"/>
              <a:t>When the</a:t>
            </a:r>
            <a:r>
              <a:rPr kumimoji="1" lang="zh-CN" altLang="en-US" dirty="0"/>
              <a:t> </a:t>
            </a:r>
            <a:r>
              <a:rPr kumimoji="1" lang="en-GB" altLang="zh-CN" dirty="0"/>
              <a:t>parser </a:t>
            </a:r>
            <a:r>
              <a:rPr kumimoji="1" lang="en-GB" altLang="zh-CN" dirty="0">
                <a:solidFill>
                  <a:srgbClr val="0070C0"/>
                </a:solidFill>
              </a:rPr>
              <a:t>pops </a:t>
            </a:r>
            <a:r>
              <a:rPr kumimoji="1" lang="en-US" altLang="zh-CN" b="1" dirty="0" err="1">
                <a:solidFill>
                  <a:srgbClr val="0070C0"/>
                </a:solidFill>
              </a:rPr>
              <a:t>Yk</a:t>
            </a:r>
            <a:r>
              <a:rPr kumimoji="1" lang="zh-CN" altLang="en-US" b="1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</a:rPr>
              <a:t>…</a:t>
            </a:r>
            <a:r>
              <a:rPr kumimoji="1" lang="zh-CN" altLang="en-US" b="1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</a:rPr>
              <a:t>Y1</a:t>
            </a:r>
            <a:r>
              <a:rPr kumimoji="1" lang="zh-CN" altLang="en-US" b="1" dirty="0">
                <a:solidFill>
                  <a:srgbClr val="0070C0"/>
                </a:solidFill>
              </a:rPr>
              <a:t> </a:t>
            </a:r>
            <a:r>
              <a:rPr kumimoji="1" lang="en-GB" altLang="zh-CN" dirty="0"/>
              <a:t>from the symbol stack and </a:t>
            </a:r>
            <a:r>
              <a:rPr kumimoji="1" lang="en-GB" altLang="zh-CN" dirty="0">
                <a:solidFill>
                  <a:srgbClr val="0070C0"/>
                </a:solidFill>
              </a:rPr>
              <a:t>pushes </a:t>
            </a:r>
            <a:r>
              <a:rPr kumimoji="1" lang="en-US" altLang="zh-CN" b="1" dirty="0">
                <a:solidFill>
                  <a:srgbClr val="0070C0"/>
                </a:solidFill>
              </a:rPr>
              <a:t>A</a:t>
            </a:r>
            <a:r>
              <a:rPr kumimoji="1" lang="en-GB" altLang="zh-CN" dirty="0"/>
              <a:t>, it also </a:t>
            </a:r>
            <a:r>
              <a:rPr kumimoji="1" lang="en-GB" altLang="zh-CN" dirty="0">
                <a:solidFill>
                  <a:srgbClr val="0070C0"/>
                </a:solidFill>
              </a:rPr>
              <a:t>pops k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values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GB" altLang="zh-CN" dirty="0"/>
              <a:t>from the semantic value stack and </a:t>
            </a:r>
            <a:r>
              <a:rPr kumimoji="1" lang="en-GB" altLang="zh-CN" dirty="0">
                <a:solidFill>
                  <a:srgbClr val="0070C0"/>
                </a:solidFill>
              </a:rPr>
              <a:t>pushes the value obtained </a:t>
            </a:r>
            <a:r>
              <a:rPr kumimoji="1" lang="en-GB" altLang="zh-CN" dirty="0"/>
              <a:t>by executing the C semantic action code.</a:t>
            </a:r>
            <a:endParaRPr kumimoji="1"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Semantic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Actions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Yacc</a:t>
            </a:r>
            <a:r>
              <a:rPr kumimoji="1" lang="en-US" altLang="zh-CN" dirty="0"/>
              <a:t>-Generated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Parsers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5924" y="2124398"/>
            <a:ext cx="2671271" cy="3521676"/>
          </a:xfrm>
        </p:spPr>
        <p:txBody>
          <a:bodyPr/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$$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=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$1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+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$3</a:t>
            </a:r>
          </a:p>
          <a:p>
            <a:pPr lvl="1"/>
            <a:r>
              <a:rPr kumimoji="1" lang="en-US" altLang="zh-CN" dirty="0" err="1"/>
              <a:t>val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1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</a:t>
            </a:r>
            <a:r>
              <a:rPr kumimoji="1" lang="en-US" altLang="zh-CN" dirty="0"/>
              <a:t>6</a:t>
            </a:r>
          </a:p>
          <a:p>
            <a:r>
              <a:rPr kumimoji="1" lang="en-US" altLang="zh-CN" dirty="0">
                <a:solidFill>
                  <a:srgbClr val="0070C0"/>
                </a:solidFill>
              </a:rPr>
              <a:t>pop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&lt;exp2,</a:t>
            </a:r>
            <a:r>
              <a:rPr kumimoji="1" lang="zh-CN" altLang="en-US" dirty="0"/>
              <a:t> </a:t>
            </a:r>
            <a:r>
              <a:rPr kumimoji="1" lang="en-US" altLang="zh-CN" dirty="0"/>
              <a:t>6&gt;</a:t>
            </a:r>
          </a:p>
          <a:p>
            <a:pPr lvl="1"/>
            <a:r>
              <a:rPr kumimoji="1" lang="en-US" altLang="zh-CN" dirty="0"/>
              <a:t>&lt;+,</a:t>
            </a:r>
            <a:r>
              <a:rPr kumimoji="1" lang="zh-CN" altLang="en-US" dirty="0"/>
              <a:t> </a:t>
            </a:r>
            <a:r>
              <a:rPr kumimoji="1" lang="en-US" altLang="zh-CN" dirty="0"/>
              <a:t>NULL&gt;</a:t>
            </a:r>
          </a:p>
          <a:p>
            <a:pPr lvl="1"/>
            <a:r>
              <a:rPr kumimoji="1" lang="en-US" altLang="zh-CN" dirty="0"/>
              <a:t>&lt;exp1,</a:t>
            </a:r>
            <a:r>
              <a:rPr kumimoji="1" lang="zh-CN" altLang="en-US" dirty="0"/>
              <a:t> </a:t>
            </a:r>
            <a:r>
              <a:rPr kumimoji="1" lang="en-US" altLang="zh-CN" dirty="0"/>
              <a:t>1&gt;</a:t>
            </a:r>
          </a:p>
          <a:p>
            <a:r>
              <a:rPr kumimoji="1" lang="en-US" altLang="zh-CN" dirty="0">
                <a:solidFill>
                  <a:srgbClr val="0070C0"/>
                </a:solidFill>
              </a:rPr>
              <a:t>push</a:t>
            </a:r>
          </a:p>
          <a:p>
            <a:pPr lvl="1"/>
            <a:r>
              <a:rPr kumimoji="1" lang="en-US" altLang="zh-CN" dirty="0"/>
              <a:t>&lt;exp,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val</a:t>
            </a:r>
            <a:r>
              <a:rPr kumimoji="1" lang="en-US" altLang="zh-CN" dirty="0"/>
              <a:t>&gt;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195" y="886179"/>
            <a:ext cx="6336805" cy="5998114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2856623" y="5795319"/>
            <a:ext cx="6237951" cy="518983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Semantic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Actions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1243" y="999067"/>
            <a:ext cx="8449733" cy="3478804"/>
          </a:xfrm>
        </p:spPr>
        <p:txBody>
          <a:bodyPr/>
          <a:lstStyle/>
          <a:p>
            <a:r>
              <a:rPr kumimoji="1" lang="en-GB" altLang="zh-CN" dirty="0"/>
              <a:t>Each terminal and nonterminal may be associated with its own </a:t>
            </a:r>
            <a:r>
              <a:rPr kumimoji="1" lang="en-GB" altLang="zh-CN" dirty="0">
                <a:solidFill>
                  <a:srgbClr val="0070C0"/>
                </a:solidFill>
              </a:rPr>
              <a:t>type of semantic value</a:t>
            </a:r>
            <a:r>
              <a:rPr kumimoji="1" lang="en-GB" altLang="zh-CN" dirty="0"/>
              <a:t>.</a:t>
            </a: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zh-CN" alt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zh-CN" alt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zh-CN" alt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  <a:p>
            <a:r>
              <a:rPr kumimoji="1" lang="en-US" altLang="zh-CN" dirty="0"/>
              <a:t>The semantic action must </a:t>
            </a:r>
            <a:r>
              <a:rPr kumimoji="1" lang="en-US" altLang="zh-CN" dirty="0">
                <a:solidFill>
                  <a:srgbClr val="0070C0"/>
                </a:solidFill>
              </a:rPr>
              <a:t>return a value</a:t>
            </a:r>
            <a:r>
              <a:rPr kumimoji="1" lang="en-US" altLang="zh-CN" dirty="0"/>
              <a:t> whose </a:t>
            </a:r>
            <a:r>
              <a:rPr kumimoji="1" lang="en-US" altLang="zh-CN" dirty="0">
                <a:solidFill>
                  <a:srgbClr val="0070C0"/>
                </a:solidFill>
              </a:rPr>
              <a:t>type</a:t>
            </a:r>
            <a:r>
              <a:rPr kumimoji="1" lang="en-US" altLang="zh-CN" dirty="0"/>
              <a:t> is the one associated with the </a:t>
            </a:r>
            <a:r>
              <a:rPr kumimoji="1" lang="en-US" altLang="zh-CN" dirty="0">
                <a:solidFill>
                  <a:srgbClr val="0070C0"/>
                </a:solidFill>
              </a:rPr>
              <a:t>nonterminal A</a:t>
            </a:r>
            <a:r>
              <a:rPr kumimoji="1" lang="en-US" altLang="zh-CN" dirty="0"/>
              <a:t>. </a:t>
            </a:r>
          </a:p>
          <a:p>
            <a:r>
              <a:rPr kumimoji="1" lang="en-US" altLang="zh-CN" dirty="0"/>
              <a:t>It can build this value from </a:t>
            </a:r>
            <a:r>
              <a:rPr kumimoji="1" lang="en-US" altLang="zh-CN" dirty="0">
                <a:solidFill>
                  <a:srgbClr val="0070C0"/>
                </a:solidFill>
              </a:rPr>
              <a:t>the values</a:t>
            </a:r>
            <a:r>
              <a:rPr kumimoji="1" lang="en-US" altLang="zh-CN" dirty="0"/>
              <a:t> associated with the matched terminals and </a:t>
            </a:r>
            <a:r>
              <a:rPr kumimoji="1" lang="en-US" altLang="zh-CN" dirty="0" err="1"/>
              <a:t>nonterminals</a:t>
            </a:r>
            <a:r>
              <a:rPr kumimoji="1" lang="en-US" altLang="zh-CN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B, C, D</a:t>
            </a:r>
            <a:r>
              <a:rPr kumimoji="1" lang="en-US" altLang="zh-CN" dirty="0"/>
              <a:t>.</a:t>
            </a:r>
          </a:p>
        </p:txBody>
      </p:sp>
      <p:sp>
        <p:nvSpPr>
          <p:cNvPr id="4" name="内容占位符 2"/>
          <p:cNvSpPr txBox="1"/>
          <p:nvPr/>
        </p:nvSpPr>
        <p:spPr>
          <a:xfrm>
            <a:off x="361243" y="4087906"/>
            <a:ext cx="6078978" cy="2770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An LR parser does perform reductions, and associated semantic actions, in </a:t>
            </a:r>
            <a:r>
              <a:rPr kumimoji="1" lang="en-US" altLang="zh-CN" dirty="0">
                <a:solidFill>
                  <a:srgbClr val="0070C0"/>
                </a:solidFill>
              </a:rPr>
              <a:t>a deterministic and predictable order</a:t>
            </a:r>
            <a:r>
              <a:rPr kumimoji="1" lang="en-US" altLang="zh-CN" dirty="0"/>
              <a:t>: a bottom-up, left-to-right traversal of the parse tree.</a:t>
            </a:r>
          </a:p>
          <a:p>
            <a:pPr marL="0" indent="0">
              <a:buNone/>
            </a:pPr>
            <a:r>
              <a:rPr kumimoji="1" lang="en-US" altLang="zh-CN" sz="2400" dirty="0"/>
              <a:t>the (virtual) parse tree is traversed in </a:t>
            </a:r>
            <a:r>
              <a:rPr kumimoji="1" lang="en-US" altLang="zh-CN" sz="2400" dirty="0" err="1">
                <a:solidFill>
                  <a:srgbClr val="0070C0"/>
                </a:solidFill>
              </a:rPr>
              <a:t>postorder</a:t>
            </a:r>
            <a:endParaRPr kumimoji="1" lang="en-US" altLang="zh-CN" sz="2400" dirty="0">
              <a:solidFill>
                <a:srgbClr val="0070C0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7522537" y="3956216"/>
            <a:ext cx="556591" cy="32244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200" dirty="0">
                <a:solidFill>
                  <a:schemeClr val="tx1"/>
                </a:solidFill>
              </a:rPr>
              <a:t>E</a:t>
            </a:r>
            <a:endParaRPr kumimoji="1"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714157" y="4536631"/>
            <a:ext cx="556591" cy="32244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200" dirty="0">
                <a:solidFill>
                  <a:schemeClr val="tx1"/>
                </a:solidFill>
              </a:rPr>
              <a:t>T</a:t>
            </a:r>
            <a:endParaRPr kumimoji="1"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039370" y="4523378"/>
            <a:ext cx="556591" cy="32244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200" dirty="0">
                <a:solidFill>
                  <a:schemeClr val="tx1"/>
                </a:solidFill>
              </a:rPr>
              <a:t>E</a:t>
            </a:r>
            <a:endParaRPr kumimoji="1"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039369" y="5048534"/>
            <a:ext cx="556591" cy="32244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200" dirty="0">
                <a:solidFill>
                  <a:schemeClr val="tx1"/>
                </a:solidFill>
              </a:rPr>
              <a:t>T</a:t>
            </a:r>
            <a:endParaRPr kumimoji="1"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039369" y="5583490"/>
            <a:ext cx="556591" cy="32244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200" dirty="0">
                <a:solidFill>
                  <a:schemeClr val="tx1"/>
                </a:solidFill>
              </a:rPr>
              <a:t>int</a:t>
            </a:r>
            <a:endParaRPr kumimoji="1"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307697" y="5609994"/>
            <a:ext cx="556591" cy="32244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200" dirty="0">
                <a:solidFill>
                  <a:schemeClr val="tx1"/>
                </a:solidFill>
              </a:rPr>
              <a:t>int</a:t>
            </a:r>
            <a:endParaRPr kumimoji="1"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7121480" y="5075700"/>
            <a:ext cx="556591" cy="32244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200" dirty="0">
                <a:solidFill>
                  <a:schemeClr val="tx1"/>
                </a:solidFill>
              </a:rPr>
              <a:t>T</a:t>
            </a:r>
            <a:endParaRPr kumimoji="1"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7113885" y="5584238"/>
            <a:ext cx="556591" cy="32244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200" dirty="0">
                <a:solidFill>
                  <a:schemeClr val="tx1"/>
                </a:solidFill>
              </a:rPr>
              <a:t>int</a:t>
            </a:r>
            <a:endParaRPr kumimoji="1" lang="zh-CN" altLang="en-US" sz="2200" dirty="0">
              <a:solidFill>
                <a:schemeClr val="tx1"/>
              </a:solidFill>
            </a:endParaRPr>
          </a:p>
        </p:txBody>
      </p:sp>
      <p:cxnSp>
        <p:nvCxnSpPr>
          <p:cNvPr id="13" name="直线箭头连接符 12"/>
          <p:cNvCxnSpPr>
            <a:stCxn id="5" idx="2"/>
            <a:endCxn id="6" idx="0"/>
          </p:cNvCxnSpPr>
          <p:nvPr/>
        </p:nvCxnSpPr>
        <p:spPr>
          <a:xfrm flipH="1">
            <a:off x="6992453" y="4278663"/>
            <a:ext cx="808380" cy="257968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/>
          <p:cNvCxnSpPr>
            <a:stCxn id="5" idx="2"/>
            <a:endCxn id="7" idx="0"/>
          </p:cNvCxnSpPr>
          <p:nvPr/>
        </p:nvCxnSpPr>
        <p:spPr>
          <a:xfrm>
            <a:off x="7800833" y="4278663"/>
            <a:ext cx="516833" cy="244715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/>
          <p:cNvCxnSpPr>
            <a:stCxn id="6" idx="2"/>
            <a:endCxn id="10" idx="0"/>
          </p:cNvCxnSpPr>
          <p:nvPr/>
        </p:nvCxnSpPr>
        <p:spPr>
          <a:xfrm flipH="1">
            <a:off x="6585993" y="4859078"/>
            <a:ext cx="406460" cy="750916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/>
          <p:cNvCxnSpPr>
            <a:stCxn id="6" idx="2"/>
          </p:cNvCxnSpPr>
          <p:nvPr/>
        </p:nvCxnSpPr>
        <p:spPr>
          <a:xfrm>
            <a:off x="6992453" y="4859078"/>
            <a:ext cx="399728" cy="216622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/>
          <p:cNvCxnSpPr>
            <a:stCxn id="7" idx="2"/>
            <a:endCxn id="8" idx="0"/>
          </p:cNvCxnSpPr>
          <p:nvPr/>
        </p:nvCxnSpPr>
        <p:spPr>
          <a:xfrm flipH="1">
            <a:off x="8317665" y="4845825"/>
            <a:ext cx="1" cy="202709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/>
          <p:cNvCxnSpPr>
            <a:endCxn id="12" idx="0"/>
          </p:cNvCxnSpPr>
          <p:nvPr/>
        </p:nvCxnSpPr>
        <p:spPr>
          <a:xfrm>
            <a:off x="7392181" y="5371643"/>
            <a:ext cx="0" cy="212595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/>
          <p:cNvCxnSpPr>
            <a:stCxn id="8" idx="2"/>
            <a:endCxn id="9" idx="0"/>
          </p:cNvCxnSpPr>
          <p:nvPr/>
        </p:nvCxnSpPr>
        <p:spPr>
          <a:xfrm>
            <a:off x="8317665" y="5370981"/>
            <a:ext cx="0" cy="212509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6707428" y="5620914"/>
            <a:ext cx="556591" cy="32244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200" dirty="0">
                <a:solidFill>
                  <a:schemeClr val="tx1"/>
                </a:solidFill>
              </a:rPr>
              <a:t>*</a:t>
            </a:r>
          </a:p>
        </p:txBody>
      </p:sp>
      <p:cxnSp>
        <p:nvCxnSpPr>
          <p:cNvPr id="21" name="直线箭头连接符 20"/>
          <p:cNvCxnSpPr>
            <a:stCxn id="6" idx="2"/>
            <a:endCxn id="20" idx="0"/>
          </p:cNvCxnSpPr>
          <p:nvPr/>
        </p:nvCxnSpPr>
        <p:spPr>
          <a:xfrm flipH="1">
            <a:off x="6985724" y="4859078"/>
            <a:ext cx="6729" cy="761836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圆角矩形 21"/>
          <p:cNvSpPr/>
          <p:nvPr/>
        </p:nvSpPr>
        <p:spPr>
          <a:xfrm>
            <a:off x="7540120" y="5561705"/>
            <a:ext cx="556591" cy="32244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200" dirty="0">
                <a:solidFill>
                  <a:schemeClr val="tx1"/>
                </a:solidFill>
              </a:rPr>
              <a:t>+</a:t>
            </a:r>
            <a:endParaRPr kumimoji="1" lang="zh-CN" altLang="en-US" sz="2200" dirty="0">
              <a:solidFill>
                <a:schemeClr val="tx1"/>
              </a:solidFill>
            </a:endParaRPr>
          </a:p>
        </p:txBody>
      </p:sp>
      <p:cxnSp>
        <p:nvCxnSpPr>
          <p:cNvPr id="23" name="直线箭头连接符 22"/>
          <p:cNvCxnSpPr>
            <a:stCxn id="5" idx="2"/>
            <a:endCxn id="22" idx="0"/>
          </p:cNvCxnSpPr>
          <p:nvPr/>
        </p:nvCxnSpPr>
        <p:spPr>
          <a:xfrm>
            <a:off x="7800833" y="4278663"/>
            <a:ext cx="17583" cy="1283042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20" grpId="0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4.2</a:t>
            </a:r>
            <a:r>
              <a:rPr kumimoji="1" lang="zh-CN" altLang="en-US" dirty="0"/>
              <a:t> </a:t>
            </a:r>
            <a:r>
              <a:rPr kumimoji="1" lang="en-US" altLang="zh-CN" dirty="0"/>
              <a:t>Abstract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1243" y="999066"/>
            <a:ext cx="8449733" cy="5571552"/>
          </a:xfrm>
        </p:spPr>
        <p:txBody>
          <a:bodyPr>
            <a:normAutofit/>
          </a:bodyPr>
          <a:lstStyle/>
          <a:p>
            <a:r>
              <a:rPr kumimoji="1" lang="en-GB" altLang="zh-CN" dirty="0"/>
              <a:t>It is possible to write an entire compiler that ﬁts </a:t>
            </a:r>
            <a:r>
              <a:rPr kumimoji="1" lang="en-GB" altLang="zh-CN" dirty="0">
                <a:solidFill>
                  <a:srgbClr val="0070C0"/>
                </a:solidFill>
              </a:rPr>
              <a:t>within the semantic action phrases</a:t>
            </a:r>
            <a:r>
              <a:rPr kumimoji="1" lang="en-GB" altLang="zh-CN" dirty="0"/>
              <a:t> of a </a:t>
            </a:r>
            <a:r>
              <a:rPr kumimoji="1" lang="en-GB" altLang="zh-CN" dirty="0" err="1"/>
              <a:t>Yacc</a:t>
            </a:r>
            <a:r>
              <a:rPr kumimoji="1" lang="en-GB" altLang="zh-CN" dirty="0"/>
              <a:t> parser.</a:t>
            </a:r>
          </a:p>
          <a:p>
            <a:pPr lvl="1"/>
            <a:r>
              <a:rPr kumimoji="1" lang="en-US" altLang="zh-CN" dirty="0"/>
              <a:t>difficult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read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maintain</a:t>
            </a:r>
          </a:p>
          <a:p>
            <a:pPr lvl="1"/>
            <a:r>
              <a:rPr kumimoji="1" lang="en-US" altLang="zh-CN" dirty="0"/>
              <a:t>must</a:t>
            </a:r>
            <a:r>
              <a:rPr kumimoji="1" lang="zh-CN" altLang="en-US" dirty="0"/>
              <a:t> </a:t>
            </a:r>
            <a:r>
              <a:rPr kumimoji="1" lang="en-GB" altLang="zh-CN" dirty="0"/>
              <a:t>analyze the program in exactly the order it is parsed</a:t>
            </a:r>
          </a:p>
          <a:p>
            <a:endParaRPr kumimoji="1" lang="en-GB" altLang="zh-CN" dirty="0"/>
          </a:p>
          <a:p>
            <a:pPr marL="0" indent="0">
              <a:buNone/>
            </a:pPr>
            <a:r>
              <a:rPr lang="en-GB" altLang="zh-CN" sz="1900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      void</a:t>
            </a:r>
            <a:r>
              <a:rPr lang="en-GB" altLang="zh-CN" sz="19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sz="1900" b="1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foo</a:t>
            </a:r>
            <a:r>
              <a:rPr lang="en-GB" altLang="zh-CN" sz="19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 {</a:t>
            </a:r>
            <a:r>
              <a:rPr lang="zh-CN" altLang="en-US" sz="19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sz="1900" b="1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bar</a:t>
            </a:r>
            <a:r>
              <a:rPr lang="en-GB" altLang="zh-CN" sz="19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();</a:t>
            </a:r>
            <a:r>
              <a:rPr lang="zh-CN" altLang="en-US" sz="19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sz="19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en-GB" altLang="zh-CN" sz="1900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      void</a:t>
            </a:r>
            <a:r>
              <a:rPr lang="en-GB" altLang="zh-CN" sz="19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sz="1900" b="1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bar</a:t>
            </a:r>
            <a:r>
              <a:rPr lang="en-GB" altLang="zh-CN" sz="19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 {</a:t>
            </a:r>
            <a:r>
              <a:rPr lang="zh-CN" altLang="en-US" sz="19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sz="19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...</a:t>
            </a:r>
            <a:r>
              <a:rPr lang="zh-CN" altLang="en-US" sz="1900" b="1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GB" altLang="zh-CN" sz="19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>
                <a:solidFill>
                  <a:srgbClr val="0070C0"/>
                </a:solidFill>
              </a:rPr>
              <a:t>Idea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/>
              <a:t>separate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issues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syntax</a:t>
            </a:r>
            <a:r>
              <a:rPr kumimoji="1" lang="zh-CN" altLang="en-US" dirty="0"/>
              <a:t> </a:t>
            </a:r>
            <a:r>
              <a:rPr kumimoji="1" lang="en-US" altLang="zh-CN" dirty="0"/>
              <a:t>(parsing)</a:t>
            </a:r>
            <a:r>
              <a:rPr kumimoji="1" lang="zh-CN" altLang="en-US" dirty="0"/>
              <a:t>  </a:t>
            </a:r>
            <a:r>
              <a:rPr kumimoji="1" lang="en-US" altLang="zh-CN" dirty="0"/>
              <a:t>from</a:t>
            </a:r>
            <a:r>
              <a:rPr kumimoji="1" lang="zh-CN" altLang="en-US" dirty="0"/>
              <a:t> </a:t>
            </a:r>
            <a:r>
              <a:rPr kumimoji="1" lang="en-US" altLang="zh-CN" dirty="0"/>
              <a:t>issues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semantics</a:t>
            </a:r>
            <a:r>
              <a:rPr kumimoji="1" lang="zh-CN" altLang="en-US" dirty="0"/>
              <a:t> </a:t>
            </a:r>
            <a:r>
              <a:rPr kumimoji="1" lang="en-US" altLang="zh-CN" dirty="0"/>
              <a:t>(type-checking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translation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machine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code).</a:t>
            </a:r>
          </a:p>
          <a:p>
            <a:r>
              <a:rPr kumimoji="1" lang="en-US" altLang="zh-CN" dirty="0">
                <a:solidFill>
                  <a:srgbClr val="0070C0"/>
                </a:solidFill>
              </a:rPr>
              <a:t>One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solution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parser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later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phases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traverse.</a:t>
            </a:r>
          </a:p>
          <a:p>
            <a:pPr marL="0" indent="0">
              <a:buNone/>
            </a:pPr>
            <a:endParaRPr kumimoji="1" lang="en-US" altLang="zh-CN" dirty="0"/>
          </a:p>
        </p:txBody>
      </p:sp>
      <p:sp>
        <p:nvSpPr>
          <p:cNvPr id="6" name="对话气泡: 圆角矩形 9">
            <a:extLst>
              <a:ext uri="{FF2B5EF4-FFF2-40B4-BE49-F238E27FC236}">
                <a16:creationId xmlns:a16="http://schemas.microsoft.com/office/drawing/2014/main" id="{C6C09A2C-BCB2-F5DE-A4C3-F9DBDEF36C56}"/>
              </a:ext>
            </a:extLst>
          </p:cNvPr>
          <p:cNvSpPr/>
          <p:nvPr/>
        </p:nvSpPr>
        <p:spPr>
          <a:xfrm>
            <a:off x="4932205" y="3429000"/>
            <a:ext cx="2449902" cy="652346"/>
          </a:xfrm>
          <a:prstGeom prst="wedgeRoundRectCallout">
            <a:avLst>
              <a:gd name="adj1" fmla="val -67833"/>
              <a:gd name="adj2" fmla="val -46428"/>
              <a:gd name="adj3" fmla="val 16667"/>
            </a:avLst>
          </a:prstGeom>
          <a:solidFill>
            <a:srgbClr val="C0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Yacc</a:t>
            </a:r>
            <a:r>
              <a:rPr lang="en-US" altLang="zh-CN" dirty="0"/>
              <a:t> error: unknown function </a:t>
            </a:r>
            <a:r>
              <a:rPr lang="en-US" altLang="zh-CN" b="1" dirty="0"/>
              <a:t>bar()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Parse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endParaRPr kumimoji="1" lang="zh-CN" altLang="en-US" dirty="0"/>
          </a:p>
        </p:txBody>
      </p:sp>
      <p:sp>
        <p:nvSpPr>
          <p:cNvPr id="86" name="内容占位符 85"/>
          <p:cNvSpPr>
            <a:spLocks noGrp="1"/>
          </p:cNvSpPr>
          <p:nvPr>
            <p:ph idx="1"/>
          </p:nvPr>
        </p:nvSpPr>
        <p:spPr>
          <a:xfrm>
            <a:off x="361244" y="1002338"/>
            <a:ext cx="6048823" cy="2764567"/>
          </a:xfrm>
        </p:spPr>
        <p:txBody>
          <a:bodyPr>
            <a:normAutofit/>
          </a:bodyPr>
          <a:lstStyle/>
          <a:p>
            <a:r>
              <a:rPr kumimoji="1" lang="en-GB" altLang="zh-CN" dirty="0"/>
              <a:t>Technically, </a:t>
            </a:r>
            <a:r>
              <a:rPr kumimoji="1" lang="en-GB" altLang="zh-CN" b="1" dirty="0">
                <a:solidFill>
                  <a:srgbClr val="0070C0"/>
                </a:solidFill>
              </a:rPr>
              <a:t>a parse tree </a:t>
            </a:r>
            <a:r>
              <a:rPr kumimoji="1" lang="en-GB" altLang="zh-CN" dirty="0"/>
              <a:t>has exactly </a:t>
            </a:r>
            <a:r>
              <a:rPr kumimoji="1" lang="en-GB" altLang="zh-CN" dirty="0">
                <a:solidFill>
                  <a:srgbClr val="0070C0"/>
                </a:solidFill>
              </a:rPr>
              <a:t>one leaf for each token </a:t>
            </a:r>
            <a:r>
              <a:rPr kumimoji="1" lang="en-GB" altLang="zh-CN" dirty="0"/>
              <a:t>of the input and </a:t>
            </a:r>
            <a:r>
              <a:rPr kumimoji="1" lang="en-GB" altLang="zh-CN" dirty="0">
                <a:solidFill>
                  <a:srgbClr val="0070C0"/>
                </a:solidFill>
              </a:rPr>
              <a:t>one internal node for each grammar rule </a:t>
            </a:r>
            <a:r>
              <a:rPr kumimoji="1" lang="en-GB" altLang="zh-CN" dirty="0"/>
              <a:t>reduced during the parsing procedure.</a:t>
            </a:r>
          </a:p>
          <a:p>
            <a:r>
              <a:rPr kumimoji="1" lang="en-US" altLang="zh-CN" dirty="0"/>
              <a:t>Such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called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GB" altLang="zh-CN" b="1" dirty="0">
                <a:solidFill>
                  <a:srgbClr val="0070C0"/>
                </a:solidFill>
              </a:rPr>
              <a:t>concrete parse tree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GB" altLang="zh-CN" dirty="0"/>
              <a:t>representing the concrete syntax of the source language</a:t>
            </a:r>
            <a:r>
              <a:rPr kumimoji="1" lang="en-US" altLang="zh-CN" dirty="0"/>
              <a:t>.</a:t>
            </a:r>
          </a:p>
        </p:txBody>
      </p:sp>
      <p:sp>
        <p:nvSpPr>
          <p:cNvPr id="87" name="内容占位符 85"/>
          <p:cNvSpPr txBox="1"/>
          <p:nvPr/>
        </p:nvSpPr>
        <p:spPr>
          <a:xfrm>
            <a:off x="362217" y="3761913"/>
            <a:ext cx="5678220" cy="27736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concrete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inconvenient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directly:</a:t>
            </a:r>
          </a:p>
          <a:p>
            <a:pPr>
              <a:buFont typeface="系统字体常规体"/>
              <a:buChar char="-"/>
            </a:pPr>
            <a:r>
              <a:rPr kumimoji="1" lang="en-US" altLang="zh-CN" sz="2400" dirty="0"/>
              <a:t>redundant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and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useless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tokens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for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later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phases</a:t>
            </a:r>
          </a:p>
          <a:p>
            <a:pPr marL="0" indent="0">
              <a:buNone/>
            </a:pPr>
            <a:r>
              <a:rPr kumimoji="1" lang="en-US" altLang="zh-CN" sz="2400" dirty="0"/>
              <a:t>	e.g.,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(,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)</a:t>
            </a:r>
          </a:p>
          <a:p>
            <a:pPr>
              <a:buFont typeface="系统字体常规体"/>
              <a:buChar char="-"/>
            </a:pPr>
            <a:r>
              <a:rPr kumimoji="1" lang="en-US" altLang="zh-CN" sz="2400" dirty="0"/>
              <a:t>memory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usage depends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too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much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the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grammar</a:t>
            </a:r>
          </a:p>
          <a:p>
            <a:pPr marL="914400" lvl="2" indent="0">
              <a:buNone/>
            </a:pP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grammar</a:t>
            </a:r>
            <a:r>
              <a:rPr kumimoji="1" lang="zh-CN" altLang="en-US" dirty="0"/>
              <a:t> </a:t>
            </a:r>
            <a:r>
              <a:rPr kumimoji="1" lang="en-US" altLang="zh-CN" dirty="0"/>
              <a:t>changes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changes</a:t>
            </a:r>
          </a:p>
        </p:txBody>
      </p:sp>
      <p:grpSp>
        <p:nvGrpSpPr>
          <p:cNvPr id="124" name="组合 123"/>
          <p:cNvGrpSpPr/>
          <p:nvPr/>
        </p:nvGrpSpPr>
        <p:grpSpPr>
          <a:xfrm>
            <a:off x="6487885" y="2761710"/>
            <a:ext cx="2428968" cy="4081776"/>
            <a:chOff x="7221838" y="2779328"/>
            <a:chExt cx="2016382" cy="4070126"/>
          </a:xfrm>
        </p:grpSpPr>
        <p:sp>
          <p:nvSpPr>
            <p:cNvPr id="30" name="圆角矩形 29"/>
            <p:cNvSpPr/>
            <p:nvPr/>
          </p:nvSpPr>
          <p:spPr>
            <a:xfrm>
              <a:off x="8676753" y="4369913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)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32" name="圆角矩形 31"/>
            <p:cNvSpPr/>
            <p:nvPr/>
          </p:nvSpPr>
          <p:spPr>
            <a:xfrm>
              <a:off x="8672304" y="4981832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E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35" name="圆角矩形 34"/>
            <p:cNvSpPr/>
            <p:nvPr/>
          </p:nvSpPr>
          <p:spPr>
            <a:xfrm>
              <a:off x="8672303" y="5509985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T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111" name="圆角矩形 110"/>
            <p:cNvSpPr/>
            <p:nvPr/>
          </p:nvSpPr>
          <p:spPr>
            <a:xfrm>
              <a:off x="8681629" y="6026963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F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112" name="圆角矩形 111"/>
            <p:cNvSpPr/>
            <p:nvPr/>
          </p:nvSpPr>
          <p:spPr>
            <a:xfrm>
              <a:off x="8676355" y="6527007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4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圆角矩形 23"/>
            <p:cNvSpPr/>
            <p:nvPr/>
          </p:nvSpPr>
          <p:spPr>
            <a:xfrm>
              <a:off x="7664720" y="2779328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E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7228081" y="3379332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E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8173224" y="3896980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F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7739988" y="4374476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(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8175678" y="4374475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E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7737892" y="4981833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E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33" name="圆角矩形 32"/>
            <p:cNvSpPr/>
            <p:nvPr/>
          </p:nvSpPr>
          <p:spPr>
            <a:xfrm>
              <a:off x="8179629" y="4989713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*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34" name="圆角矩形 33"/>
            <p:cNvSpPr/>
            <p:nvPr/>
          </p:nvSpPr>
          <p:spPr>
            <a:xfrm>
              <a:off x="7737891" y="5518474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T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36" name="圆角矩形 35"/>
            <p:cNvSpPr/>
            <p:nvPr/>
          </p:nvSpPr>
          <p:spPr>
            <a:xfrm>
              <a:off x="7227676" y="3947675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T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37" name="圆角矩形 36"/>
            <p:cNvSpPr/>
            <p:nvPr/>
          </p:nvSpPr>
          <p:spPr>
            <a:xfrm>
              <a:off x="7666957" y="3403587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+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38" name="直线箭头连接符 37"/>
            <p:cNvCxnSpPr>
              <a:stCxn id="24" idx="2"/>
              <a:endCxn id="26" idx="0"/>
            </p:cNvCxnSpPr>
            <p:nvPr/>
          </p:nvCxnSpPr>
          <p:spPr>
            <a:xfrm flipH="1">
              <a:off x="7506377" y="3101775"/>
              <a:ext cx="436639" cy="2775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箭头连接符 40"/>
            <p:cNvCxnSpPr>
              <a:stCxn id="24" idx="2"/>
              <a:endCxn id="37" idx="0"/>
            </p:cNvCxnSpPr>
            <p:nvPr/>
          </p:nvCxnSpPr>
          <p:spPr>
            <a:xfrm>
              <a:off x="7943016" y="3101775"/>
              <a:ext cx="2237" cy="3018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线箭头连接符 44"/>
            <p:cNvCxnSpPr>
              <a:stCxn id="24" idx="2"/>
              <a:endCxn id="90" idx="0"/>
            </p:cNvCxnSpPr>
            <p:nvPr/>
          </p:nvCxnSpPr>
          <p:spPr>
            <a:xfrm>
              <a:off x="7943016" y="3101775"/>
              <a:ext cx="508504" cy="2775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线箭头连接符 47"/>
            <p:cNvCxnSpPr>
              <a:stCxn id="26" idx="2"/>
              <a:endCxn id="36" idx="0"/>
            </p:cNvCxnSpPr>
            <p:nvPr/>
          </p:nvCxnSpPr>
          <p:spPr>
            <a:xfrm flipH="1">
              <a:off x="7505972" y="3701779"/>
              <a:ext cx="405" cy="2458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线箭头连接符 50"/>
            <p:cNvCxnSpPr>
              <a:stCxn id="27" idx="2"/>
              <a:endCxn id="28" idx="0"/>
            </p:cNvCxnSpPr>
            <p:nvPr/>
          </p:nvCxnSpPr>
          <p:spPr>
            <a:xfrm flipH="1">
              <a:off x="8018284" y="4219427"/>
              <a:ext cx="433236" cy="15504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线箭头连接符 53"/>
            <p:cNvCxnSpPr>
              <a:stCxn id="27" idx="2"/>
              <a:endCxn id="29" idx="0"/>
            </p:cNvCxnSpPr>
            <p:nvPr/>
          </p:nvCxnSpPr>
          <p:spPr>
            <a:xfrm>
              <a:off x="8451520" y="4219427"/>
              <a:ext cx="2454" cy="15504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线箭头连接符 57"/>
            <p:cNvCxnSpPr>
              <a:stCxn id="27" idx="2"/>
              <a:endCxn id="30" idx="0"/>
            </p:cNvCxnSpPr>
            <p:nvPr/>
          </p:nvCxnSpPr>
          <p:spPr>
            <a:xfrm>
              <a:off x="8451520" y="4219427"/>
              <a:ext cx="503529" cy="15048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线箭头连接符 60"/>
            <p:cNvCxnSpPr>
              <a:stCxn id="29" idx="2"/>
              <a:endCxn id="32" idx="0"/>
            </p:cNvCxnSpPr>
            <p:nvPr/>
          </p:nvCxnSpPr>
          <p:spPr>
            <a:xfrm>
              <a:off x="8453974" y="4696922"/>
              <a:ext cx="496626" cy="28491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线箭头连接符 63"/>
            <p:cNvCxnSpPr>
              <a:stCxn id="29" idx="2"/>
              <a:endCxn id="31" idx="0"/>
            </p:cNvCxnSpPr>
            <p:nvPr/>
          </p:nvCxnSpPr>
          <p:spPr>
            <a:xfrm flipH="1">
              <a:off x="8016188" y="4696922"/>
              <a:ext cx="437786" cy="28491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线箭头连接符 66"/>
            <p:cNvCxnSpPr>
              <a:stCxn id="29" idx="2"/>
              <a:endCxn id="33" idx="0"/>
            </p:cNvCxnSpPr>
            <p:nvPr/>
          </p:nvCxnSpPr>
          <p:spPr>
            <a:xfrm>
              <a:off x="8453974" y="4696922"/>
              <a:ext cx="3951" cy="29279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箭头连接符 69"/>
            <p:cNvCxnSpPr>
              <a:stCxn id="31" idx="2"/>
              <a:endCxn id="34" idx="0"/>
            </p:cNvCxnSpPr>
            <p:nvPr/>
          </p:nvCxnSpPr>
          <p:spPr>
            <a:xfrm flipH="1">
              <a:off x="8016187" y="5304280"/>
              <a:ext cx="1" cy="21419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线箭头连接符 72"/>
            <p:cNvCxnSpPr>
              <a:stCxn id="32" idx="2"/>
              <a:endCxn id="35" idx="0"/>
            </p:cNvCxnSpPr>
            <p:nvPr/>
          </p:nvCxnSpPr>
          <p:spPr>
            <a:xfrm flipH="1">
              <a:off x="8950599" y="5304279"/>
              <a:ext cx="1" cy="2057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圆角矩形 89"/>
            <p:cNvSpPr/>
            <p:nvPr/>
          </p:nvSpPr>
          <p:spPr>
            <a:xfrm>
              <a:off x="8173224" y="3379331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T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92" name="直线箭头连接符 91"/>
            <p:cNvCxnSpPr>
              <a:stCxn id="90" idx="2"/>
              <a:endCxn id="27" idx="0"/>
            </p:cNvCxnSpPr>
            <p:nvPr/>
          </p:nvCxnSpPr>
          <p:spPr>
            <a:xfrm>
              <a:off x="8451520" y="3701778"/>
              <a:ext cx="0" cy="19520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圆角矩形 97"/>
            <p:cNvSpPr/>
            <p:nvPr/>
          </p:nvSpPr>
          <p:spPr>
            <a:xfrm>
              <a:off x="7227112" y="4498265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F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99" name="圆角矩形 98"/>
            <p:cNvSpPr/>
            <p:nvPr/>
          </p:nvSpPr>
          <p:spPr>
            <a:xfrm>
              <a:off x="7221838" y="4998309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2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00" name="直线箭头连接符 99"/>
            <p:cNvCxnSpPr>
              <a:stCxn id="36" idx="2"/>
              <a:endCxn id="98" idx="0"/>
            </p:cNvCxnSpPr>
            <p:nvPr/>
          </p:nvCxnSpPr>
          <p:spPr>
            <a:xfrm flipH="1">
              <a:off x="7505408" y="4270122"/>
              <a:ext cx="564" cy="2281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线箭头连接符 102"/>
            <p:cNvCxnSpPr>
              <a:stCxn id="98" idx="2"/>
              <a:endCxn id="99" idx="0"/>
            </p:cNvCxnSpPr>
            <p:nvPr/>
          </p:nvCxnSpPr>
          <p:spPr>
            <a:xfrm flipH="1">
              <a:off x="7500134" y="4820712"/>
              <a:ext cx="5274" cy="1775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圆角矩形 106"/>
            <p:cNvSpPr/>
            <p:nvPr/>
          </p:nvSpPr>
          <p:spPr>
            <a:xfrm>
              <a:off x="7737891" y="6020184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F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108" name="圆角矩形 107"/>
            <p:cNvSpPr/>
            <p:nvPr/>
          </p:nvSpPr>
          <p:spPr>
            <a:xfrm>
              <a:off x="7732617" y="6520228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3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10" name="直线箭头连接符 109"/>
            <p:cNvCxnSpPr>
              <a:stCxn id="107" idx="2"/>
              <a:endCxn id="108" idx="0"/>
            </p:cNvCxnSpPr>
            <p:nvPr/>
          </p:nvCxnSpPr>
          <p:spPr>
            <a:xfrm flipH="1">
              <a:off x="8010913" y="6342631"/>
              <a:ext cx="5274" cy="1775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线箭头连接符 112"/>
            <p:cNvCxnSpPr>
              <a:stCxn id="111" idx="2"/>
              <a:endCxn id="112" idx="0"/>
            </p:cNvCxnSpPr>
            <p:nvPr/>
          </p:nvCxnSpPr>
          <p:spPr>
            <a:xfrm flipH="1">
              <a:off x="8954651" y="6349410"/>
              <a:ext cx="5274" cy="1775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线箭头连接符 113"/>
            <p:cNvCxnSpPr>
              <a:stCxn id="34" idx="2"/>
              <a:endCxn id="107" idx="0"/>
            </p:cNvCxnSpPr>
            <p:nvPr/>
          </p:nvCxnSpPr>
          <p:spPr>
            <a:xfrm>
              <a:off x="8016187" y="5840921"/>
              <a:ext cx="0" cy="17926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线箭头连接符 116"/>
            <p:cNvCxnSpPr>
              <a:stCxn id="35" idx="2"/>
              <a:endCxn id="111" idx="0"/>
            </p:cNvCxnSpPr>
            <p:nvPr/>
          </p:nvCxnSpPr>
          <p:spPr>
            <a:xfrm>
              <a:off x="8950599" y="5832432"/>
              <a:ext cx="9326" cy="19453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文本框 120"/>
          <p:cNvSpPr txBox="1"/>
          <p:nvPr/>
        </p:nvSpPr>
        <p:spPr>
          <a:xfrm>
            <a:off x="6931498" y="938649"/>
            <a:ext cx="2019100" cy="1785104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  <a:p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  <a:p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Abstract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Syntax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5755" y="923726"/>
            <a:ext cx="8449733" cy="2205897"/>
          </a:xfrm>
        </p:spPr>
        <p:txBody>
          <a:bodyPr>
            <a:normAutofit/>
          </a:bodyPr>
          <a:lstStyle/>
          <a:p>
            <a:r>
              <a:rPr kumimoji="1" lang="en-GB" altLang="zh-CN" dirty="0"/>
              <a:t>An </a:t>
            </a:r>
            <a:r>
              <a:rPr kumimoji="1" lang="en-GB" altLang="zh-CN" dirty="0">
                <a:solidFill>
                  <a:srgbClr val="0070C0"/>
                </a:solidFill>
              </a:rPr>
              <a:t>abstract syntax </a:t>
            </a:r>
            <a:r>
              <a:rPr kumimoji="1" lang="en-GB" altLang="zh-CN" dirty="0"/>
              <a:t>makes a </a:t>
            </a:r>
            <a:r>
              <a:rPr kumimoji="1" lang="en-GB" altLang="zh-CN" b="1" dirty="0"/>
              <a:t>clean interface </a:t>
            </a:r>
            <a:r>
              <a:rPr kumimoji="1" lang="en-GB" altLang="zh-CN" dirty="0"/>
              <a:t>between the parser and the later phases of a compiler</a:t>
            </a:r>
            <a:r>
              <a:rPr kumimoji="1" lang="en-US" altLang="zh-CN" dirty="0"/>
              <a:t>.</a:t>
            </a:r>
          </a:p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abstract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syntax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is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not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meant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for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parsing</a:t>
            </a:r>
            <a:r>
              <a:rPr kumimoji="1" lang="en-US" altLang="zh-CN" dirty="0"/>
              <a:t>.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r>
              <a:rPr kumimoji="1" lang="en-US" altLang="zh-CN" dirty="0"/>
              <a:t>The parser uses the </a:t>
            </a:r>
            <a:r>
              <a:rPr kumimoji="1" lang="en-US" altLang="zh-CN" dirty="0">
                <a:solidFill>
                  <a:srgbClr val="0070C0"/>
                </a:solidFill>
              </a:rPr>
              <a:t>concrete syntax </a:t>
            </a:r>
            <a:r>
              <a:rPr kumimoji="1" lang="en-US" altLang="zh-CN" dirty="0"/>
              <a:t>to build a parse tree for the abstract syntax</a:t>
            </a:r>
            <a:r>
              <a:rPr kumimoji="1" lang="zh-CN" altLang="en-US" dirty="0"/>
              <a:t> 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abstract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syntax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tree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65966" y="3186855"/>
            <a:ext cx="2019100" cy="1938992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  <a:p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  <a:p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220480" y="3897797"/>
            <a:ext cx="2019100" cy="1200329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61243" y="5098126"/>
            <a:ext cx="2554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/>
              <a:t>Concrete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Syntax</a:t>
            </a:r>
            <a:endParaRPr kumimoji="1"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2787947" y="5086968"/>
            <a:ext cx="2815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/>
              <a:t>Abstract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Syntax</a:t>
            </a:r>
            <a:endParaRPr kumimoji="1" lang="zh-CN" altLang="en-US" sz="2400" dirty="0"/>
          </a:p>
        </p:txBody>
      </p:sp>
      <p:sp>
        <p:nvSpPr>
          <p:cNvPr id="8" name="内容占位符 2"/>
          <p:cNvSpPr txBox="1"/>
          <p:nvPr/>
        </p:nvSpPr>
        <p:spPr>
          <a:xfrm>
            <a:off x="361243" y="5582741"/>
            <a:ext cx="8449733" cy="12890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GB" altLang="zh-CN" dirty="0"/>
              <a:t>The </a:t>
            </a:r>
            <a:r>
              <a:rPr kumimoji="1" lang="en-GB" altLang="zh-CN" dirty="0">
                <a:solidFill>
                  <a:srgbClr val="0070C0"/>
                </a:solidFill>
              </a:rPr>
              <a:t>abstract syntax tree </a:t>
            </a:r>
            <a:r>
              <a:rPr kumimoji="1" lang="en-GB" altLang="zh-CN" dirty="0"/>
              <a:t>conveys the </a:t>
            </a:r>
            <a:r>
              <a:rPr kumimoji="1" lang="en-GB" altLang="zh-CN" dirty="0">
                <a:solidFill>
                  <a:srgbClr val="0070C0"/>
                </a:solidFill>
              </a:rPr>
              <a:t>phrase structure </a:t>
            </a:r>
            <a:r>
              <a:rPr kumimoji="1" lang="en-GB" altLang="zh-CN" dirty="0"/>
              <a:t>of the source program, with all parsing issues resolved but without any semantic interpretation.</a:t>
            </a:r>
            <a:endParaRPr kumimoji="1" lang="zh-CN" altLang="en-US" dirty="0"/>
          </a:p>
        </p:txBody>
      </p:sp>
      <p:grpSp>
        <p:nvGrpSpPr>
          <p:cNvPr id="9" name="组合 8"/>
          <p:cNvGrpSpPr/>
          <p:nvPr/>
        </p:nvGrpSpPr>
        <p:grpSpPr>
          <a:xfrm>
            <a:off x="6462085" y="3562188"/>
            <a:ext cx="1960714" cy="1496774"/>
            <a:chOff x="6793950" y="4405912"/>
            <a:chExt cx="1960714" cy="1496774"/>
          </a:xfrm>
        </p:grpSpPr>
        <p:sp>
          <p:nvSpPr>
            <p:cNvPr id="10" name="圆角矩形 9"/>
            <p:cNvSpPr/>
            <p:nvPr/>
          </p:nvSpPr>
          <p:spPr>
            <a:xfrm>
              <a:off x="7259618" y="4405912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+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6793950" y="4976888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2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7825171" y="5001143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200" b="1" dirty="0">
                  <a:solidFill>
                    <a:schemeClr val="tx1"/>
                  </a:solidFill>
                </a:rPr>
                <a:t>*</a:t>
              </a:r>
              <a:endParaRPr kumimoji="1" lang="en-US" altLang="zh-CN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7391935" y="5580239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3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8198073" y="5575676"/>
              <a:ext cx="556591" cy="3224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200" b="1" dirty="0">
                  <a:solidFill>
                    <a:schemeClr val="tx1"/>
                  </a:solidFill>
                </a:rPr>
                <a:t>4</a:t>
              </a:r>
              <a:endParaRPr kumimoji="1" lang="zh-CN" altLang="en-US" sz="2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3" name="直线箭头连接符 22"/>
            <p:cNvCxnSpPr>
              <a:stCxn id="10" idx="2"/>
              <a:endCxn id="11" idx="0"/>
            </p:cNvCxnSpPr>
            <p:nvPr/>
          </p:nvCxnSpPr>
          <p:spPr>
            <a:xfrm flipH="1">
              <a:off x="7072246" y="4728359"/>
              <a:ext cx="465668" cy="24852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箭头连接符 24"/>
            <p:cNvCxnSpPr>
              <a:stCxn id="10" idx="2"/>
              <a:endCxn id="12" idx="0"/>
            </p:cNvCxnSpPr>
            <p:nvPr/>
          </p:nvCxnSpPr>
          <p:spPr>
            <a:xfrm>
              <a:off x="7537914" y="4728359"/>
              <a:ext cx="565553" cy="2727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箭头连接符 26"/>
            <p:cNvCxnSpPr>
              <a:stCxn id="12" idx="2"/>
              <a:endCxn id="13" idx="0"/>
            </p:cNvCxnSpPr>
            <p:nvPr/>
          </p:nvCxnSpPr>
          <p:spPr>
            <a:xfrm flipH="1">
              <a:off x="7670231" y="5323590"/>
              <a:ext cx="433236" cy="25664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箭头连接符 28"/>
            <p:cNvCxnSpPr>
              <a:stCxn id="12" idx="2"/>
              <a:endCxn id="15" idx="0"/>
            </p:cNvCxnSpPr>
            <p:nvPr/>
          </p:nvCxnSpPr>
          <p:spPr>
            <a:xfrm>
              <a:off x="8103467" y="5323590"/>
              <a:ext cx="372902" cy="25208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右箭头 34"/>
          <p:cNvSpPr/>
          <p:nvPr/>
        </p:nvSpPr>
        <p:spPr>
          <a:xfrm>
            <a:off x="5489207" y="4375013"/>
            <a:ext cx="654760" cy="2458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6011736" y="5086968"/>
            <a:ext cx="2815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/>
              <a:t>Abstract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Syntax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Tree</a:t>
            </a:r>
            <a:endParaRPr kumimoji="1"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35" grpId="0" animBg="1"/>
      <p:bldP spid="3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Abstract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Syntax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1243" y="999067"/>
            <a:ext cx="8449733" cy="2165614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abstract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syntax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later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phases,</a:t>
            </a:r>
            <a:r>
              <a:rPr kumimoji="1" lang="zh-CN" altLang="en-US" dirty="0"/>
              <a:t> </a:t>
            </a:r>
            <a:r>
              <a:rPr kumimoji="1" lang="en-US" altLang="zh-CN" dirty="0"/>
              <a:t>t</a:t>
            </a:r>
            <a:r>
              <a:rPr kumimoji="1" lang="en-GB" altLang="zh-CN" dirty="0"/>
              <a:t>he compiler will need to represent and manipulate abstract syntax trees as </a:t>
            </a:r>
            <a:r>
              <a:rPr kumimoji="1" lang="en-GB" altLang="zh-CN" dirty="0">
                <a:solidFill>
                  <a:srgbClr val="0070C0"/>
                </a:solidFill>
              </a:rPr>
              <a:t>data structures</a:t>
            </a:r>
            <a:r>
              <a:rPr kumimoji="1" lang="en-GB" altLang="zh-CN" dirty="0"/>
              <a:t>.</a:t>
            </a:r>
            <a:r>
              <a:rPr kumimoji="1" lang="zh-CN" altLang="en-US" dirty="0"/>
              <a:t> </a:t>
            </a:r>
            <a:r>
              <a:rPr kumimoji="1" lang="en-US" altLang="zh-CN" b="1" dirty="0"/>
              <a:t>How?</a:t>
            </a:r>
            <a:endParaRPr kumimoji="1" lang="en-GB" altLang="zh-CN" b="1" dirty="0"/>
          </a:p>
          <a:p>
            <a:r>
              <a:rPr kumimoji="1" lang="en-US" altLang="zh-CN" dirty="0"/>
              <a:t>A typedef for each nonterminal, a union-variant for each production.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975480" y="4127938"/>
            <a:ext cx="2019100" cy="1200329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0986" y="2965590"/>
            <a:ext cx="648003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b="1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A_exp</a:t>
            </a:r>
            <a:r>
              <a:rPr lang="en-GB" altLang="zh-CN" b="1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_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GB" altLang="zh-CN" b="1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A_exp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GB" altLang="zh-CN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b="1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A_exp</a:t>
            </a:r>
            <a:r>
              <a:rPr lang="en-GB" altLang="zh-CN" b="1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_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zh-CN" altLang="en-US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GB" altLang="zh-CN" b="1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enum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  <a:r>
              <a:rPr lang="en-GB" altLang="zh-CN" b="1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A_numExp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altLang="zh-CN" b="1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A_plusExp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altLang="zh-CN" b="1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A_timesExp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kind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r>
              <a:rPr lang="zh-CN" altLang="en-US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union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zh-CN" altLang="en-US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r>
              <a:rPr lang="zh-CN" altLang="en-US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  <a:r>
              <a:rPr lang="en-GB" altLang="zh-CN" b="1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A_exp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left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GB" altLang="zh-CN" b="1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A_exp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right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;}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plus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zh-CN" altLang="en-US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  <a:r>
              <a:rPr lang="en-GB" altLang="zh-CN" b="1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A_exp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left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GB" altLang="zh-CN" b="1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A_exp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right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;}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times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r>
              <a:rPr lang="zh-CN" altLang="en-US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u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b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GB" altLang="zh-CN" b="1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A_exp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b="1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A_NumExp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altLang="zh-CN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GB" altLang="zh-CN" b="1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A_exp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b="1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A_PlusExp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altLang="zh-CN" b="1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A_exp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left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altLang="zh-CN" b="1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A_exp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right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GB" altLang="zh-CN" b="1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A_exp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b="1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A_TimesExp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altLang="zh-CN" b="1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A_exp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left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altLang="zh-CN" b="1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A_exp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right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Abstract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Syntax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662695" y="3277570"/>
            <a:ext cx="637733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000" b="1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A_PlusExp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altLang="zh-CN" sz="2000" b="1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left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altLang="zh-CN" sz="2000" b="1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right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zh-CN" altLang="en-US" sz="2000" b="1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GB" altLang="zh-CN" sz="2000" b="1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checked_malloc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altLang="zh-CN" sz="2000" b="1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(*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r>
              <a:rPr lang="zh-CN" altLang="en-US" sz="2000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kind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GB" altLang="zh-CN" sz="2000" b="1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A_plusExp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zh-CN" altLang="en-US" sz="2000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u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plus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left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left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zh-CN" altLang="en-US" sz="2000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u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plus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right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right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zh-CN" altLang="en-US" sz="2000" b="1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06E4EDCA-BC39-A847-0022-8D4EE6D57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243" y="999067"/>
            <a:ext cx="8449733" cy="2165614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abstract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syntax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later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phases,</a:t>
            </a:r>
            <a:r>
              <a:rPr kumimoji="1" lang="zh-CN" altLang="en-US" dirty="0"/>
              <a:t> </a:t>
            </a:r>
            <a:r>
              <a:rPr kumimoji="1" lang="en-US" altLang="zh-CN" dirty="0"/>
              <a:t>t</a:t>
            </a:r>
            <a:r>
              <a:rPr kumimoji="1" lang="en-GB" altLang="zh-CN" dirty="0"/>
              <a:t>he compiler will need to represent and manipulate abstract syntax trees as </a:t>
            </a:r>
            <a:r>
              <a:rPr kumimoji="1" lang="en-GB" altLang="zh-CN" dirty="0">
                <a:solidFill>
                  <a:srgbClr val="0070C0"/>
                </a:solidFill>
              </a:rPr>
              <a:t>data structures</a:t>
            </a:r>
            <a:r>
              <a:rPr kumimoji="1" lang="en-GB" altLang="zh-CN" dirty="0"/>
              <a:t>.</a:t>
            </a:r>
            <a:r>
              <a:rPr kumimoji="1" lang="zh-CN" altLang="en-US" dirty="0"/>
              <a:t> </a:t>
            </a:r>
            <a:r>
              <a:rPr kumimoji="1" lang="en-US" altLang="zh-CN" b="1" dirty="0"/>
              <a:t>How?</a:t>
            </a:r>
            <a:endParaRPr kumimoji="1" lang="en-GB" altLang="zh-CN" b="1" dirty="0"/>
          </a:p>
          <a:p>
            <a:r>
              <a:rPr kumimoji="1" lang="en-US" altLang="zh-CN" dirty="0"/>
              <a:t>A typedef for each nonterminal, a union-variant for each production.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Abstract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Syntax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Construct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abstract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syntax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 </a:t>
            </a:r>
            <a:r>
              <a:rPr kumimoji="1" lang="en-US" altLang="zh-CN" dirty="0">
                <a:solidFill>
                  <a:srgbClr val="0070C0"/>
                </a:solidFill>
              </a:rPr>
              <a:t>2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+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3</a:t>
            </a:r>
            <a:r>
              <a:rPr kumimoji="1" lang="zh-CN" altLang="en-US" dirty="0">
                <a:solidFill>
                  <a:srgbClr val="0070C0"/>
                </a:solidFill>
              </a:rPr>
              <a:t> * </a:t>
            </a:r>
            <a:r>
              <a:rPr kumimoji="1" lang="en-US" altLang="zh-CN" dirty="0">
                <a:solidFill>
                  <a:srgbClr val="0070C0"/>
                </a:solidFill>
              </a:rPr>
              <a:t>4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using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these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structures and the concrete syntax: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46506" y="3336716"/>
            <a:ext cx="371603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000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e1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A_NumExp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altLang="zh-CN" sz="2000" b="1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GB" altLang="zh-CN" sz="2000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e2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A_NumExp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altLang="zh-CN" sz="2000" b="1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GB" altLang="zh-CN" sz="2000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e3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A_NumExp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altLang="zh-CN" sz="2000" b="1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GB" altLang="zh-CN" sz="2000" b="1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e4 =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A_TimesExp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(e2,e3)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GB" altLang="zh-CN" sz="2000" b="1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e5 =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A_PlusExp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(e1,e4)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GB" altLang="zh-CN" sz="2000" b="1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graphicFrame>
        <p:nvGraphicFramePr>
          <p:cNvPr id="6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075382"/>
              </p:ext>
            </p:extLst>
          </p:nvPr>
        </p:nvGraphicFramePr>
        <p:xfrm>
          <a:off x="4212889" y="3673891"/>
          <a:ext cx="1306286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6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err="1"/>
                        <a:t>NumExp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num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=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2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253652"/>
              </p:ext>
            </p:extLst>
          </p:nvPr>
        </p:nvGraphicFramePr>
        <p:xfrm>
          <a:off x="5374033" y="2026542"/>
          <a:ext cx="1306286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6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7268">
                <a:tc>
                  <a:txBody>
                    <a:bodyPr/>
                    <a:lstStyle/>
                    <a:p>
                      <a:r>
                        <a:rPr lang="en-US" altLang="zh-CN" sz="2400" dirty="0" err="1"/>
                        <a:t>PlusExp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68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left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68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right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10581"/>
              </p:ext>
            </p:extLst>
          </p:nvPr>
        </p:nvGraphicFramePr>
        <p:xfrm>
          <a:off x="6744676" y="3673891"/>
          <a:ext cx="1306286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6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err="1"/>
                        <a:t>TimeExp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left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right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426006"/>
              </p:ext>
            </p:extLst>
          </p:nvPr>
        </p:nvGraphicFramePr>
        <p:xfrm>
          <a:off x="5657663" y="5340698"/>
          <a:ext cx="1306286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6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err="1"/>
                        <a:t>NumExp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3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422421"/>
              </p:ext>
            </p:extLst>
          </p:nvPr>
        </p:nvGraphicFramePr>
        <p:xfrm>
          <a:off x="7635943" y="5313234"/>
          <a:ext cx="1306286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6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err="1"/>
                        <a:t>NumExp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4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直线箭头连接符 11"/>
          <p:cNvCxnSpPr>
            <a:stCxn id="7" idx="1"/>
            <a:endCxn id="6" idx="0"/>
          </p:cNvCxnSpPr>
          <p:nvPr/>
        </p:nvCxnSpPr>
        <p:spPr>
          <a:xfrm flipH="1">
            <a:off x="4866032" y="2712342"/>
            <a:ext cx="508001" cy="9615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/>
          <p:cNvCxnSpPr>
            <a:endCxn id="8" idx="0"/>
          </p:cNvCxnSpPr>
          <p:nvPr/>
        </p:nvCxnSpPr>
        <p:spPr>
          <a:xfrm>
            <a:off x="6701132" y="3221697"/>
            <a:ext cx="696687" cy="4521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/>
          <p:cNvCxnSpPr>
            <a:stCxn id="8" idx="1"/>
            <a:endCxn id="9" idx="0"/>
          </p:cNvCxnSpPr>
          <p:nvPr/>
        </p:nvCxnSpPr>
        <p:spPr>
          <a:xfrm flipH="1">
            <a:off x="6310806" y="4359691"/>
            <a:ext cx="433870" cy="98100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/>
          <p:cNvCxnSpPr>
            <a:endCxn id="10" idx="0"/>
          </p:cNvCxnSpPr>
          <p:nvPr/>
        </p:nvCxnSpPr>
        <p:spPr>
          <a:xfrm>
            <a:off x="8050962" y="4850194"/>
            <a:ext cx="238124" cy="46304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3464180" y="-9289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Abstract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Syntax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7133" y="1275112"/>
            <a:ext cx="8449733" cy="5177896"/>
          </a:xfrm>
        </p:spPr>
        <p:txBody>
          <a:bodyPr/>
          <a:lstStyle/>
          <a:p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construct</a:t>
            </a:r>
            <a:r>
              <a:rPr kumimoji="1" lang="zh-CN" altLang="en-US" dirty="0"/>
              <a:t> </a:t>
            </a:r>
            <a:r>
              <a:rPr kumimoji="1" lang="en-US" altLang="zh-CN" dirty="0"/>
              <a:t>abstract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syntax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automatically?</a:t>
            </a:r>
          </a:p>
          <a:p>
            <a:r>
              <a:rPr kumimoji="1" lang="en-GB" altLang="zh-CN" dirty="0"/>
              <a:t>The </a:t>
            </a:r>
            <a:r>
              <a:rPr kumimoji="1" lang="en-GB" altLang="zh-CN" dirty="0" err="1"/>
              <a:t>Yacc</a:t>
            </a:r>
            <a:r>
              <a:rPr kumimoji="1" lang="en-GB" altLang="zh-CN" dirty="0"/>
              <a:t> (or recursive-descent) parser, parsing the concrete syntax, constructs the abstract syntax tree.</a:t>
            </a:r>
          </a:p>
          <a:p>
            <a:r>
              <a:rPr kumimoji="1" lang="en-US" altLang="zh-CN" dirty="0"/>
              <a:t>How?</a:t>
            </a:r>
            <a:r>
              <a:rPr kumimoji="1" lang="zh-CN" altLang="en-US" dirty="0"/>
              <a:t> </a:t>
            </a:r>
            <a:endParaRPr kumimoji="1"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1243437" y="3429000"/>
            <a:ext cx="711997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000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%left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PLUS</a:t>
            </a:r>
          </a:p>
          <a:p>
            <a:r>
              <a:rPr lang="en-GB" altLang="zh-CN" sz="2000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%left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TIMES</a:t>
            </a:r>
          </a:p>
          <a:p>
            <a:endParaRPr lang="en-GB" altLang="zh-CN" sz="2000" b="1" dirty="0">
              <a:solidFill>
                <a:srgbClr val="00108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sz="20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%%</a:t>
            </a:r>
          </a:p>
          <a:p>
            <a:r>
              <a:rPr lang="en-GB" altLang="zh-CN" sz="2000" b="1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: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$$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A_NumExp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$1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);}</a:t>
            </a:r>
          </a:p>
          <a:p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-GB" altLang="zh-CN" sz="2000" b="1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PLUS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sz="2000" b="1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$$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A_PlusExp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$1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$3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);}</a:t>
            </a:r>
          </a:p>
          <a:p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-GB" altLang="zh-CN" sz="2000" b="1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TIMES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sz="2000" b="1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	{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$$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A_TimesExp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$1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$3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);}</a:t>
            </a:r>
            <a:endParaRPr lang="en-US" altLang="zh-CN" sz="2000" b="1" dirty="0">
              <a:solidFill>
                <a:srgbClr val="00108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Positions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201" y="1160093"/>
            <a:ext cx="8781142" cy="5184020"/>
          </a:xfrm>
        </p:spPr>
        <p:txBody>
          <a:bodyPr>
            <a:normAutofit/>
          </a:bodyPr>
          <a:lstStyle/>
          <a:p>
            <a:r>
              <a:rPr kumimoji="1" lang="en-GB" altLang="zh-CN" dirty="0"/>
              <a:t>In a one-pass compiler, lexical analysis, parsing, and semantic analysis are all done simultaneously.</a:t>
            </a:r>
            <a:endParaRPr kumimoji="1" lang="en-US" altLang="zh-CN" dirty="0"/>
          </a:p>
          <a:p>
            <a:r>
              <a:rPr kumimoji="1" lang="en-US" altLang="zh-CN" dirty="0"/>
              <a:t>If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type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error</a:t>
            </a:r>
            <a:r>
              <a:rPr kumimoji="1" lang="zh-CN" altLang="en-US" dirty="0"/>
              <a:t> </a:t>
            </a:r>
            <a:r>
              <a:rPr kumimoji="1" lang="en-GB" altLang="zh-CN" dirty="0"/>
              <a:t>that must be reported to the user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GB" altLang="zh-CN" dirty="0"/>
              <a:t>the </a:t>
            </a:r>
            <a:r>
              <a:rPr kumimoji="1" lang="en-GB" altLang="zh-CN" i="1" dirty="0">
                <a:solidFill>
                  <a:srgbClr val="0070C0"/>
                </a:solidFill>
              </a:rPr>
              <a:t>current position </a:t>
            </a:r>
            <a:r>
              <a:rPr kumimoji="1" lang="en-GB" altLang="zh-CN" dirty="0"/>
              <a:t>of the lexical analyzer is a reasonable approximation of the source position of the error.</a:t>
            </a:r>
          </a:p>
          <a:p>
            <a:r>
              <a:rPr kumimoji="1" lang="en-GB" altLang="zh-CN" dirty="0"/>
              <a:t>In a </a:t>
            </a:r>
            <a:r>
              <a:rPr kumimoji="1" lang="en-GB" altLang="zh-CN" dirty="0">
                <a:solidFill>
                  <a:srgbClr val="0070C0"/>
                </a:solidFill>
              </a:rPr>
              <a:t>one-pass </a:t>
            </a:r>
            <a:r>
              <a:rPr kumimoji="1" lang="en-GB" altLang="zh-CN" dirty="0"/>
              <a:t>compiler, the lexical analyzer keeps a “</a:t>
            </a:r>
            <a:r>
              <a:rPr kumimoji="1" lang="en-GB" altLang="zh-CN" dirty="0">
                <a:solidFill>
                  <a:srgbClr val="0070C0"/>
                </a:solidFill>
              </a:rPr>
              <a:t>current position</a:t>
            </a:r>
            <a:r>
              <a:rPr kumimoji="1" lang="en-GB" altLang="zh-CN" dirty="0"/>
              <a:t>” global variable</a:t>
            </a:r>
            <a:r>
              <a:rPr kumimoji="1" lang="en-US" altLang="zh-CN" dirty="0"/>
              <a:t>.</a:t>
            </a:r>
          </a:p>
          <a:p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en-GB" altLang="zh-CN" dirty="0"/>
              <a:t> compiler that </a:t>
            </a:r>
            <a:r>
              <a:rPr kumimoji="1" lang="en-GB" altLang="zh-CN" dirty="0">
                <a:solidFill>
                  <a:srgbClr val="0070C0"/>
                </a:solidFill>
              </a:rPr>
              <a:t>uses abstract-syntax-tree data structures</a:t>
            </a:r>
            <a:r>
              <a:rPr kumimoji="1" lang="en-US" altLang="zh-CN" dirty="0"/>
              <a:t>:</a:t>
            </a:r>
          </a:p>
          <a:p>
            <a:pPr lvl="1"/>
            <a:r>
              <a:rPr kumimoji="1" lang="en-US" altLang="zh-CN" dirty="0"/>
              <a:t>It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 not do all the parsing and semantic analysis in one pass</a:t>
            </a:r>
          </a:p>
          <a:p>
            <a:pPr lvl="1"/>
            <a:r>
              <a:rPr kumimoji="1" lang="en-GB" altLang="zh-CN" dirty="0"/>
              <a:t>The </a:t>
            </a:r>
            <a:r>
              <a:rPr kumimoji="1" lang="en-GB" altLang="zh-CN" dirty="0" err="1"/>
              <a:t>lexer</a:t>
            </a:r>
            <a:r>
              <a:rPr kumimoji="1" lang="en-GB" altLang="zh-CN" dirty="0"/>
              <a:t> reaches the end of ﬁle before semantic analysis even begins</a:t>
            </a:r>
            <a:r>
              <a:rPr kumimoji="1" lang="en-US" altLang="zh-CN" dirty="0"/>
              <a:t>.</a:t>
            </a:r>
          </a:p>
          <a:p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error</a:t>
            </a:r>
            <a:r>
              <a:rPr kumimoji="1" lang="zh-CN" altLang="en-US" dirty="0"/>
              <a:t> </a:t>
            </a:r>
            <a:r>
              <a:rPr kumimoji="1" lang="en-US" altLang="zh-CN" dirty="0"/>
              <a:t>position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if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type</a:t>
            </a:r>
            <a:r>
              <a:rPr kumimoji="1" lang="zh-CN" altLang="en-US" dirty="0"/>
              <a:t> </a:t>
            </a:r>
            <a:r>
              <a:rPr kumimoji="1" lang="en-US" altLang="zh-CN" dirty="0"/>
              <a:t>error?</a:t>
            </a:r>
            <a:endParaRPr kumimoji="1" lang="en-GB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Positions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1245" y="1292365"/>
            <a:ext cx="8449733" cy="3038096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T</a:t>
            </a:r>
            <a:r>
              <a:rPr kumimoji="1" lang="en-GB" altLang="zh-CN" dirty="0"/>
              <a:t>he source-ﬁle position of each node of the abstract syntax tree must be remembered</a:t>
            </a:r>
            <a:r>
              <a:rPr kumimoji="1" lang="en-US" altLang="zh-CN" dirty="0"/>
              <a:t>.</a:t>
            </a:r>
          </a:p>
          <a:p>
            <a:r>
              <a:rPr kumimoji="1" lang="en-US" altLang="zh-CN" dirty="0"/>
              <a:t>How?</a:t>
            </a:r>
          </a:p>
          <a:p>
            <a:r>
              <a:rPr kumimoji="1" lang="en-US" altLang="zh-CN" dirty="0"/>
              <a:t>T</a:t>
            </a:r>
            <a:r>
              <a:rPr kumimoji="1" lang="en-GB" altLang="zh-CN" dirty="0"/>
              <a:t>he abstract-syntax data structures must be sprinkled with </a:t>
            </a:r>
            <a:r>
              <a:rPr kumimoji="1" lang="en-GB" altLang="zh-CN" dirty="0">
                <a:solidFill>
                  <a:srgbClr val="0070C0"/>
                </a:solidFill>
              </a:rPr>
              <a:t>pos</a:t>
            </a:r>
            <a:r>
              <a:rPr kumimoji="1" lang="en-GB" altLang="zh-CN" dirty="0"/>
              <a:t> ﬁelds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which</a:t>
            </a:r>
            <a:r>
              <a:rPr kumimoji="1" lang="zh-CN" altLang="en-US" dirty="0"/>
              <a:t> </a:t>
            </a:r>
            <a:r>
              <a:rPr kumimoji="1" lang="en-US" altLang="zh-CN" dirty="0"/>
              <a:t>indicate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GB" altLang="zh-CN" dirty="0">
                <a:solidFill>
                  <a:srgbClr val="0070C0"/>
                </a:solidFill>
              </a:rPr>
              <a:t>position</a:t>
            </a:r>
            <a:r>
              <a:rPr kumimoji="1" lang="en-GB" altLang="zh-CN" dirty="0"/>
              <a:t>, within the original source ﬁle, of the characters </a:t>
            </a:r>
            <a:r>
              <a:rPr kumimoji="1" lang="en-GB" altLang="zh-CN" dirty="0">
                <a:solidFill>
                  <a:srgbClr val="0070C0"/>
                </a:solidFill>
              </a:rPr>
              <a:t>from which these abstract syntax structures were derived</a:t>
            </a:r>
            <a:r>
              <a:rPr kumimoji="1" lang="en-GB" altLang="zh-CN" dirty="0"/>
              <a:t>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EADB8EC-846D-9109-7733-C06A842290E5}"/>
              </a:ext>
            </a:extLst>
          </p:cNvPr>
          <p:cNvSpPr txBox="1"/>
          <p:nvPr/>
        </p:nvSpPr>
        <p:spPr>
          <a:xfrm>
            <a:off x="608591" y="4829175"/>
            <a:ext cx="477960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000" b="1" dirty="0">
                <a:effectLst/>
                <a:latin typeface="Menlo" panose="020B0609030804020204" pitchFamily="49" charset="0"/>
              </a:rPr>
              <a:t>e1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A_NumExp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altLang="zh-CN" sz="2000" b="1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altLang="zh-CN" sz="2000" b="1" dirty="0">
                <a:effectLst/>
                <a:latin typeface="Menlo" panose="020B0609030804020204" pitchFamily="49" charset="0"/>
              </a:rPr>
              <a:t>, </a:t>
            </a:r>
            <a:r>
              <a:rPr lang="en-GB" altLang="zh-CN" sz="2000" b="1" dirty="0" err="1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pos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GB" altLang="zh-CN" sz="2000" b="1" dirty="0">
                <a:effectLst/>
                <a:latin typeface="Menlo" panose="020B0609030804020204" pitchFamily="49" charset="0"/>
              </a:rPr>
              <a:t>e2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A_NumExp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altLang="zh-CN" sz="2000" b="1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GB" altLang="zh-CN" sz="2000" b="1" dirty="0">
                <a:latin typeface="Menlo" panose="020B0609030804020204" pitchFamily="49" charset="0"/>
              </a:rPr>
              <a:t>, </a:t>
            </a:r>
            <a:r>
              <a:rPr lang="en-GB" altLang="zh-CN" sz="2000" b="1" dirty="0" err="1">
                <a:solidFill>
                  <a:srgbClr val="C00000"/>
                </a:solidFill>
                <a:latin typeface="Menlo" panose="020B0609030804020204" pitchFamily="49" charset="0"/>
              </a:rPr>
              <a:t>pos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GB" altLang="zh-CN" sz="2000" b="1" dirty="0">
                <a:effectLst/>
                <a:latin typeface="Menlo" panose="020B0609030804020204" pitchFamily="49" charset="0"/>
              </a:rPr>
              <a:t>e3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A_NumExp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altLang="zh-CN" sz="2000" b="1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GB" altLang="zh-CN" sz="2000" b="1" dirty="0">
                <a:latin typeface="Menlo" panose="020B0609030804020204" pitchFamily="49" charset="0"/>
              </a:rPr>
              <a:t>, </a:t>
            </a:r>
            <a:r>
              <a:rPr lang="en-GB" altLang="zh-CN" sz="2000" b="1" dirty="0" err="1">
                <a:solidFill>
                  <a:srgbClr val="C00000"/>
                </a:solidFill>
                <a:latin typeface="Menlo" panose="020B0609030804020204" pitchFamily="49" charset="0"/>
              </a:rPr>
              <a:t>pos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GB" altLang="zh-CN" sz="2000" b="1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e4 =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A_TimesExp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(e2, e3</a:t>
            </a:r>
            <a:r>
              <a:rPr lang="en-GB" altLang="zh-CN" sz="2000" b="1" dirty="0">
                <a:latin typeface="Menlo" panose="020B0609030804020204" pitchFamily="49" charset="0"/>
              </a:rPr>
              <a:t>, </a:t>
            </a:r>
            <a:r>
              <a:rPr lang="en-GB" altLang="zh-CN" sz="2000" b="1" dirty="0" err="1">
                <a:solidFill>
                  <a:srgbClr val="C00000"/>
                </a:solidFill>
                <a:latin typeface="Menlo" panose="020B0609030804020204" pitchFamily="49" charset="0"/>
              </a:rPr>
              <a:t>pos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GB" altLang="zh-CN" sz="2000" b="1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e5 =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A_PlusExp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(e1, e4</a:t>
            </a:r>
            <a:r>
              <a:rPr lang="en-GB" altLang="zh-CN" sz="2000" b="1" dirty="0">
                <a:latin typeface="Menlo" panose="020B0609030804020204" pitchFamily="49" charset="0"/>
              </a:rPr>
              <a:t>, </a:t>
            </a:r>
            <a:r>
              <a:rPr lang="en-GB" altLang="zh-CN" sz="2000" b="1" dirty="0" err="1">
                <a:solidFill>
                  <a:srgbClr val="C00000"/>
                </a:solidFill>
                <a:latin typeface="Menlo" panose="020B0609030804020204" pitchFamily="49" charset="0"/>
              </a:rPr>
              <a:t>pos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GB" altLang="zh-CN" sz="2000" b="1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9219629-2EF3-0EA0-677B-7E66FF75B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833094"/>
              </p:ext>
            </p:extLst>
          </p:nvPr>
        </p:nvGraphicFramePr>
        <p:xfrm>
          <a:off x="6078313" y="5069081"/>
          <a:ext cx="1955755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5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167">
                <a:tc>
                  <a:txBody>
                    <a:bodyPr/>
                    <a:lstStyle/>
                    <a:p>
                      <a:r>
                        <a:rPr lang="en-US" altLang="zh-CN" sz="2400" dirty="0" err="1"/>
                        <a:t>NumExp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68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3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68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(line 1, pos 3)</a:t>
                      </a:r>
                      <a:endParaRPr lang="zh-CN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3C0C8D58-F714-EF33-99BD-9504558CB413}"/>
              </a:ext>
            </a:extLst>
          </p:cNvPr>
          <p:cNvSpPr txBox="1"/>
          <p:nvPr/>
        </p:nvSpPr>
        <p:spPr>
          <a:xfrm>
            <a:off x="3841631" y="4216511"/>
            <a:ext cx="136872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2</a:t>
            </a: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+</a:t>
            </a: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3</a:t>
            </a: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* 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4</a:t>
            </a: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</a:t>
            </a:r>
            <a:endParaRPr lang="zh-CN" altLang="en-US" dirty="0"/>
          </a:p>
        </p:txBody>
      </p:sp>
      <p:cxnSp>
        <p:nvCxnSpPr>
          <p:cNvPr id="14" name="直线箭头连接符 11">
            <a:extLst>
              <a:ext uri="{FF2B5EF4-FFF2-40B4-BE49-F238E27FC236}">
                <a16:creationId xmlns:a16="http://schemas.microsoft.com/office/drawing/2014/main" id="{A2D3651C-E63C-7825-6B84-3E5EA8BD443E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4399472" y="5375514"/>
            <a:ext cx="1678841" cy="3793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B47F9804-360A-9311-F90C-654CB0561BFC}"/>
              </a:ext>
            </a:extLst>
          </p:cNvPr>
          <p:cNvSpPr/>
          <p:nvPr/>
        </p:nvSpPr>
        <p:spPr>
          <a:xfrm>
            <a:off x="4399472" y="4708954"/>
            <a:ext cx="224286" cy="264543"/>
          </a:xfrm>
          <a:prstGeom prst="triangl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Positions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2422" y="1585663"/>
            <a:ext cx="7957763" cy="4234291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pos</a:t>
            </a:r>
            <a:r>
              <a:rPr kumimoji="1" lang="zh-CN" altLang="en-US" dirty="0"/>
              <a:t> </a:t>
            </a:r>
            <a:r>
              <a:rPr kumimoji="1" lang="en-US" altLang="zh-CN" dirty="0"/>
              <a:t>fields?</a:t>
            </a:r>
          </a:p>
          <a:p>
            <a:r>
              <a:rPr kumimoji="1" lang="en-US" altLang="zh-CN" dirty="0"/>
              <a:t>First,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en-US" altLang="zh-CN" dirty="0">
                <a:solidFill>
                  <a:srgbClr val="0070C0"/>
                </a:solidFill>
              </a:rPr>
              <a:t> </a:t>
            </a:r>
            <a:r>
              <a:rPr kumimoji="1" lang="en-US" altLang="zh-CN" dirty="0" err="1">
                <a:solidFill>
                  <a:srgbClr val="0070C0"/>
                </a:solidFill>
              </a:rPr>
              <a:t>lexer</a:t>
            </a:r>
            <a:r>
              <a:rPr kumimoji="1" lang="en-US" altLang="zh-CN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must pass the positions of the beginning and end of each token to the </a:t>
            </a:r>
            <a:r>
              <a:rPr kumimoji="1" lang="en-US" altLang="zh-CN" dirty="0">
                <a:solidFill>
                  <a:srgbClr val="0070C0"/>
                </a:solidFill>
              </a:rPr>
              <a:t>parser</a:t>
            </a:r>
          </a:p>
          <a:p>
            <a:r>
              <a:rPr kumimoji="1" lang="en-US" altLang="zh-CN" dirty="0">
                <a:solidFill>
                  <a:srgbClr val="002060"/>
                </a:solidFill>
              </a:rPr>
              <a:t>Then,</a:t>
            </a:r>
            <a:r>
              <a:rPr kumimoji="1" lang="zh-CN" altLang="en-US" dirty="0">
                <a:solidFill>
                  <a:srgbClr val="002060"/>
                </a:solidFill>
              </a:rPr>
              <a:t> </a:t>
            </a:r>
            <a:r>
              <a:rPr kumimoji="1" lang="en-US" altLang="zh-CN" dirty="0">
                <a:solidFill>
                  <a:srgbClr val="002060"/>
                </a:solidFill>
              </a:rPr>
              <a:t>for</a:t>
            </a:r>
            <a:r>
              <a:rPr kumimoji="1" lang="zh-CN" altLang="en-US" dirty="0">
                <a:solidFill>
                  <a:srgbClr val="002060"/>
                </a:solidFill>
              </a:rPr>
              <a:t> </a:t>
            </a:r>
            <a:r>
              <a:rPr kumimoji="1" lang="en-US" altLang="zh-CN" dirty="0">
                <a:solidFill>
                  <a:srgbClr val="002060"/>
                </a:solidFill>
              </a:rPr>
              <a:t>parsers:</a:t>
            </a:r>
            <a:endParaRPr kumimoji="1" lang="en-US" altLang="zh-CN" dirty="0"/>
          </a:p>
          <a:p>
            <a:r>
              <a:rPr kumimoji="1" lang="en-US" altLang="zh-CN" dirty="0"/>
              <a:t>Ideally,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parser</a:t>
            </a:r>
            <a:r>
              <a:rPr kumimoji="1" lang="zh-CN" altLang="en-US" dirty="0"/>
              <a:t> </a:t>
            </a:r>
            <a:r>
              <a:rPr kumimoji="1" lang="en-US" altLang="zh-CN" dirty="0"/>
              <a:t>should</a:t>
            </a:r>
            <a:r>
              <a:rPr kumimoji="1" lang="zh-CN" altLang="en-US" dirty="0"/>
              <a:t> </a:t>
            </a:r>
            <a:r>
              <a:rPr kumimoji="1" lang="en-GB" altLang="zh-CN" dirty="0"/>
              <a:t>maintain a </a:t>
            </a:r>
            <a:r>
              <a:rPr kumimoji="1" lang="en-GB" altLang="zh-CN" i="1" dirty="0">
                <a:solidFill>
                  <a:srgbClr val="0070C0"/>
                </a:solidFill>
              </a:rPr>
              <a:t>position stack </a:t>
            </a:r>
            <a:r>
              <a:rPr kumimoji="1" lang="en-GB" altLang="zh-CN" dirty="0"/>
              <a:t>along with the </a:t>
            </a:r>
            <a:r>
              <a:rPr kumimoji="1" lang="en-GB" altLang="zh-CN" i="1" dirty="0"/>
              <a:t>semantic value stack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making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position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available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for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the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semantic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actions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to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use.</a:t>
            </a:r>
          </a:p>
          <a:p>
            <a:pPr lvl="1"/>
            <a:r>
              <a:rPr kumimoji="1" lang="en-US" altLang="zh-CN" dirty="0"/>
              <a:t>Bison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do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this,</a:t>
            </a:r>
            <a:r>
              <a:rPr kumimoji="1" lang="zh-CN" altLang="en-US" dirty="0"/>
              <a:t> </a:t>
            </a:r>
            <a:r>
              <a:rPr kumimoji="1" lang="en-US" altLang="zh-CN" b="1" dirty="0" err="1"/>
              <a:t>Yacc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does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not</a:t>
            </a:r>
            <a:endParaRPr kumimoji="1" lang="en-US" altLang="zh-CN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Positions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295" y="1631512"/>
            <a:ext cx="8215378" cy="1807393"/>
          </a:xfrm>
        </p:spPr>
        <p:txBody>
          <a:bodyPr>
            <a:normAutofit/>
          </a:bodyPr>
          <a:lstStyle/>
          <a:p>
            <a:r>
              <a:rPr kumimoji="1" lang="en-US" altLang="zh-CN" dirty="0" err="1">
                <a:solidFill>
                  <a:srgbClr val="0070C0"/>
                </a:solidFill>
              </a:rPr>
              <a:t>Yacc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GB" altLang="zh-CN" dirty="0"/>
              <a:t>one solution is to </a:t>
            </a:r>
            <a:r>
              <a:rPr kumimoji="1" lang="en-GB" altLang="zh-CN" dirty="0">
                <a:solidFill>
                  <a:srgbClr val="0070C0"/>
                </a:solidFill>
              </a:rPr>
              <a:t>deﬁne a nonterminal symbol pos </a:t>
            </a:r>
            <a:r>
              <a:rPr kumimoji="1" lang="en-GB" altLang="zh-CN" dirty="0"/>
              <a:t>whose semantic value is a </a:t>
            </a:r>
            <a:r>
              <a:rPr kumimoji="1" lang="en-GB" altLang="zh-CN" dirty="0">
                <a:solidFill>
                  <a:srgbClr val="0070C0"/>
                </a:solidFill>
              </a:rPr>
              <a:t>source location </a:t>
            </a:r>
            <a:r>
              <a:rPr kumimoji="1" lang="en-GB" altLang="zh-CN" dirty="0"/>
              <a:t>(line number, or line number and position within line).</a:t>
            </a:r>
          </a:p>
          <a:p>
            <a:pPr lvl="1"/>
            <a:r>
              <a:rPr kumimoji="1" lang="en-US" altLang="zh-CN" dirty="0"/>
              <a:t>e.g.,</a:t>
            </a:r>
            <a:r>
              <a:rPr kumimoji="1" lang="zh-CN" altLang="en-US" dirty="0"/>
              <a:t> </a:t>
            </a:r>
            <a:r>
              <a:rPr kumimoji="1" lang="en-US" altLang="zh-CN" dirty="0"/>
              <a:t>access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position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PLUS</a:t>
            </a:r>
            <a:r>
              <a:rPr kumimoji="1" lang="en-US" altLang="zh-CN" dirty="0"/>
              <a:t>:</a:t>
            </a:r>
            <a:endParaRPr kumimoji="1" lang="en-GB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187403" y="3915108"/>
            <a:ext cx="895659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000" b="1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%{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extern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A_OpExp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A_exp,A_binop,A_exp,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position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</a:t>
            </a:r>
            <a:r>
              <a:rPr lang="en-GB" altLang="zh-CN" sz="2000" b="1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%}</a:t>
            </a:r>
            <a:endParaRPr lang="en-GB" altLang="zh-CN" sz="2000" b="1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GB" altLang="zh-CN" sz="2000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%union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 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num; string id; position pos;….};</a:t>
            </a:r>
          </a:p>
          <a:p>
            <a:r>
              <a:rPr lang="en-GB" altLang="zh-CN" sz="2000" b="1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%type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</a:t>
            </a:r>
            <a:r>
              <a:rPr lang="en-GB" altLang="zh-CN" sz="2000" b="1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pos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 </a:t>
            </a:r>
            <a:r>
              <a:rPr lang="en-GB" altLang="zh-CN" sz="2000" b="1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pos</a:t>
            </a:r>
          </a:p>
          <a:p>
            <a:endParaRPr lang="en-GB" altLang="zh-CN" sz="2000" b="1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GB" altLang="zh-CN" sz="2000" b="1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GB" altLang="zh-CN" sz="2000" b="1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sz="2000" b="1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PLUS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sz="2000" b="1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pos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sz="2000" b="1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{$$= </a:t>
            </a:r>
            <a:r>
              <a:rPr lang="en-GB" altLang="zh-CN" sz="2000" b="1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A_OpExp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($1, </a:t>
            </a:r>
            <a:r>
              <a:rPr lang="en-GB" altLang="zh-CN" sz="2000" b="1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A_plus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$4,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altLang="zh-CN" sz="20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$3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}</a:t>
            </a:r>
          </a:p>
          <a:p>
            <a:r>
              <a:rPr lang="en-GB" altLang="zh-CN" sz="2000" b="1" dirty="0" err="1">
                <a:solidFill>
                  <a:srgbClr val="267F99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pos</a:t>
            </a:r>
            <a:r>
              <a:rPr lang="en-GB" altLang="zh-CN" sz="2000" b="1" dirty="0">
                <a:solidFill>
                  <a:srgbClr val="000000"/>
                </a:solidFill>
                <a:latin typeface="Menlo" panose="020B0609030804020204" pitchFamily="49" charset="0"/>
              </a:rPr>
              <a:t>: </a:t>
            </a:r>
            <a:r>
              <a:rPr lang="zh-CN" altLang="en-US" sz="2000" b="1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 </a:t>
            </a:r>
            <a:r>
              <a:rPr lang="en-GB" altLang="zh-CN" sz="2000" b="1" dirty="0">
                <a:solidFill>
                  <a:srgbClr val="000000"/>
                </a:solidFill>
                <a:latin typeface="Menlo" panose="020B0609030804020204" pitchFamily="49" charset="0"/>
              </a:rPr>
              <a:t>{ $$ = </a:t>
            </a:r>
            <a:r>
              <a:rPr lang="en-GB" altLang="zh-CN" sz="2000" b="1" dirty="0" err="1">
                <a:solidFill>
                  <a:srgbClr val="267F99"/>
                </a:solidFill>
                <a:latin typeface="Menlo" panose="020B0609030804020204" pitchFamily="49" charset="0"/>
              </a:rPr>
              <a:t>EM_tokpos</a:t>
            </a:r>
            <a:r>
              <a:rPr lang="en-GB" altLang="zh-CN" sz="2000" b="1" dirty="0">
                <a:solidFill>
                  <a:srgbClr val="000000"/>
                </a:solidFill>
                <a:latin typeface="Menlo" panose="020B0609030804020204" pitchFamily="49" charset="0"/>
              </a:rPr>
              <a:t>; }</a:t>
            </a:r>
          </a:p>
        </p:txBody>
      </p:sp>
      <p:sp>
        <p:nvSpPr>
          <p:cNvPr id="4" name="对话气泡: 圆角矩形 9">
            <a:extLst>
              <a:ext uri="{FF2B5EF4-FFF2-40B4-BE49-F238E27FC236}">
                <a16:creationId xmlns:a16="http://schemas.microsoft.com/office/drawing/2014/main" id="{1C2E9D38-3DF4-EF82-8AEF-A57424E11BBC}"/>
              </a:ext>
            </a:extLst>
          </p:cNvPr>
          <p:cNvSpPr/>
          <p:nvPr/>
        </p:nvSpPr>
        <p:spPr>
          <a:xfrm>
            <a:off x="4018715" y="5897758"/>
            <a:ext cx="2449902" cy="672860"/>
          </a:xfrm>
          <a:prstGeom prst="wedgeRoundRectCallout">
            <a:avLst>
              <a:gd name="adj1" fmla="val -81489"/>
              <a:gd name="adj2" fmla="val -57969"/>
              <a:gd name="adj3" fmla="val 16667"/>
            </a:avLst>
          </a:prstGeom>
          <a:solidFill>
            <a:srgbClr val="2E75B6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global variable in </a:t>
            </a:r>
            <a:r>
              <a:rPr lang="en-US" altLang="zh-CN" dirty="0" err="1"/>
              <a:t>lexer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571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800" b="1" dirty="0"/>
              <a:t>4.2</a:t>
            </a:r>
            <a:endParaRPr kumimoji="1" lang="zh-CN" altLang="en-US" sz="2800" b="1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U3NDkzZjZkYTQ0ZGI2MDM1OWJmMDZmYTJmNWEzZm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1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1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1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21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4143</TotalTime>
  <Words>2866</Words>
  <Application>Microsoft Macintosh PowerPoint</Application>
  <PresentationFormat>全屏显示(4:3)</PresentationFormat>
  <Paragraphs>447</Paragraphs>
  <Slides>26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26</vt:i4>
      </vt:variant>
    </vt:vector>
  </HeadingPairs>
  <TitlesOfParts>
    <vt:vector size="39" baseType="lpstr">
      <vt:lpstr>等线</vt:lpstr>
      <vt:lpstr>微软雅黑</vt:lpstr>
      <vt:lpstr>系统字体常规体</vt:lpstr>
      <vt:lpstr>Arial</vt:lpstr>
      <vt:lpstr>Calibri</vt:lpstr>
      <vt:lpstr>Calibri Light</vt:lpstr>
      <vt:lpstr>Cambria Math</vt:lpstr>
      <vt:lpstr>Menlo</vt:lpstr>
      <vt:lpstr>Times New Roman</vt:lpstr>
      <vt:lpstr>Verdana</vt:lpstr>
      <vt:lpstr>Office 主题​​</vt:lpstr>
      <vt:lpstr>默认设计模板</vt:lpstr>
      <vt:lpstr>Office Theme</vt:lpstr>
      <vt:lpstr>PowerPoint 演示文稿</vt:lpstr>
      <vt:lpstr>课程内容</vt:lpstr>
      <vt:lpstr>Intuition</vt:lpstr>
      <vt:lpstr>4.1 Semantic Actions</vt:lpstr>
      <vt:lpstr>Recursive Descent</vt:lpstr>
      <vt:lpstr>Semantic Actions in Recursive Descent</vt:lpstr>
      <vt:lpstr>Semantic Actions in Recursive Descent</vt:lpstr>
      <vt:lpstr>Semantic Actions in Recursive Descent</vt:lpstr>
      <vt:lpstr>Semantic Actions in Recursive Descent</vt:lpstr>
      <vt:lpstr>Semantic Actions in Recursive Descent</vt:lpstr>
      <vt:lpstr>Semantic Actions in Yacc-Generated Parsers</vt:lpstr>
      <vt:lpstr>Semantic Actions in Yacc-Generated Parsers</vt:lpstr>
      <vt:lpstr>Semantic Actions in Yacc-Generated Parsers</vt:lpstr>
      <vt:lpstr>Semantic Actions</vt:lpstr>
      <vt:lpstr>4.2 Abstract Parse Trees</vt:lpstr>
      <vt:lpstr>Parse Tree</vt:lpstr>
      <vt:lpstr>Abstract Syntax Tree</vt:lpstr>
      <vt:lpstr>Abstract Syntax Tree</vt:lpstr>
      <vt:lpstr>Abstract Syntax Tree</vt:lpstr>
      <vt:lpstr>Abstract Syntax Tree</vt:lpstr>
      <vt:lpstr>Abstract Syntax Tree </vt:lpstr>
      <vt:lpstr>Positions</vt:lpstr>
      <vt:lpstr>Positions</vt:lpstr>
      <vt:lpstr>Positions</vt:lpstr>
      <vt:lpstr>Positions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 忠鑫</dc:creator>
  <cp:lastModifiedBy>陈明帅</cp:lastModifiedBy>
  <cp:revision>1969</cp:revision>
  <dcterms:created xsi:type="dcterms:W3CDTF">2020-08-10T07:34:00Z</dcterms:created>
  <dcterms:modified xsi:type="dcterms:W3CDTF">2026-04-01T15:23:56Z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C62AE0C9C1FE4A0F83513E38611BFD37_13</vt:lpwstr>
  </property>
  <property fmtid="{D5CDD505-2E9C-101B-9397-08002B2CF9AE}" pid="3" name="KSOProductBuildVer">
    <vt:lpwstr>2052-12.1.0.16417</vt:lpwstr>
  </property>
</Properties>
</file>