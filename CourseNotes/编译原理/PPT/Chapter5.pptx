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2" r:id="rId2"/>
  </p:sldMasterIdLst>
  <p:notesMasterIdLst>
    <p:notesMasterId r:id="rId53"/>
  </p:notesMasterIdLst>
  <p:handoutMasterIdLst>
    <p:handoutMasterId r:id="rId54"/>
  </p:handoutMasterIdLst>
  <p:sldIdLst>
    <p:sldId id="303" r:id="rId3"/>
    <p:sldId id="1739" r:id="rId4"/>
    <p:sldId id="1761" r:id="rId5"/>
    <p:sldId id="279" r:id="rId6"/>
    <p:sldId id="258" r:id="rId7"/>
    <p:sldId id="260" r:id="rId8"/>
    <p:sldId id="259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1740" r:id="rId22"/>
    <p:sldId id="273" r:id="rId23"/>
    <p:sldId id="274" r:id="rId24"/>
    <p:sldId id="275" r:id="rId25"/>
    <p:sldId id="276" r:id="rId26"/>
    <p:sldId id="277" r:id="rId27"/>
    <p:sldId id="278" r:id="rId28"/>
    <p:sldId id="257" r:id="rId29"/>
    <p:sldId id="1741" r:id="rId30"/>
    <p:sldId id="1742" r:id="rId31"/>
    <p:sldId id="1743" r:id="rId32"/>
    <p:sldId id="1744" r:id="rId33"/>
    <p:sldId id="1745" r:id="rId34"/>
    <p:sldId id="1746" r:id="rId35"/>
    <p:sldId id="1762" r:id="rId36"/>
    <p:sldId id="280" r:id="rId37"/>
    <p:sldId id="1747" r:id="rId38"/>
    <p:sldId id="1748" r:id="rId39"/>
    <p:sldId id="1749" r:id="rId40"/>
    <p:sldId id="281" r:id="rId41"/>
    <p:sldId id="1750" r:id="rId42"/>
    <p:sldId id="1751" r:id="rId43"/>
    <p:sldId id="1752" r:id="rId44"/>
    <p:sldId id="1753" r:id="rId45"/>
    <p:sldId id="1754" r:id="rId46"/>
    <p:sldId id="1755" r:id="rId47"/>
    <p:sldId id="1756" r:id="rId48"/>
    <p:sldId id="1757" r:id="rId49"/>
    <p:sldId id="1758" r:id="rId50"/>
    <p:sldId id="1759" r:id="rId51"/>
    <p:sldId id="1760" r:id="rId52"/>
  </p:sldIdLst>
  <p:sldSz cx="9144000" cy="6858000" type="screen4x3"/>
  <p:notesSz cx="6858000" cy="9144000"/>
  <p:custDataLst>
    <p:tags r:id="rId5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495AB54-F904-754D-9C30-6405D8CBA388}">
          <p14:sldIdLst>
            <p14:sldId id="303"/>
            <p14:sldId id="1739"/>
            <p14:sldId id="1761"/>
            <p14:sldId id="279"/>
            <p14:sldId id="258"/>
            <p14:sldId id="260"/>
            <p14:sldId id="259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1740"/>
            <p14:sldId id="273"/>
            <p14:sldId id="274"/>
            <p14:sldId id="275"/>
            <p14:sldId id="276"/>
            <p14:sldId id="277"/>
            <p14:sldId id="278"/>
            <p14:sldId id="257"/>
            <p14:sldId id="1741"/>
            <p14:sldId id="1742"/>
            <p14:sldId id="1743"/>
            <p14:sldId id="1744"/>
            <p14:sldId id="1745"/>
            <p14:sldId id="1746"/>
            <p14:sldId id="1762"/>
            <p14:sldId id="280"/>
            <p14:sldId id="1747"/>
            <p14:sldId id="1748"/>
            <p14:sldId id="1749"/>
            <p14:sldId id="281"/>
            <p14:sldId id="1750"/>
            <p14:sldId id="1751"/>
            <p14:sldId id="1752"/>
            <p14:sldId id="1753"/>
            <p14:sldId id="1754"/>
            <p14:sldId id="1755"/>
            <p14:sldId id="1756"/>
            <p14:sldId id="1757"/>
            <p14:sldId id="1758"/>
            <p14:sldId id="1759"/>
            <p14:sldId id="17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38" autoAdjust="0"/>
    <p:restoredTop sz="90924"/>
  </p:normalViewPr>
  <p:slideViewPr>
    <p:cSldViewPr snapToGrid="0" snapToObjects="1">
      <p:cViewPr varScale="1">
        <p:scale>
          <a:sx n="146" d="100"/>
          <a:sy n="146" d="100"/>
        </p:scale>
        <p:origin x="184" y="1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68" d="100"/>
          <a:sy n="168" d="100"/>
        </p:scale>
        <p:origin x="54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gs" Target="tags/tag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BB83C-32E0-034D-8D84-25F4EB43A5FC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3B3C8-B69D-724D-87A9-BC3C836C5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CF2DE-EA1F-5946-B11E-5BA9EE779404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EF175-1A5C-BB4B-9AB5-E81745A700F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4A32DAA-E91B-4E64-A167-ADD60F34773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0ED605E-627C-7F46-9798-A3AAE67DD01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164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2678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9181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82003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FEF175-1A5C-BB4B-9AB5-E81745A700F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320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FEF175-1A5C-BB4B-9AB5-E81745A700F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8975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标记了</a:t>
            </a:r>
            <a:r>
              <a:rPr kumimoji="1" lang="en-US" altLang="zh-CN" dirty="0" err="1"/>
              <a:t>i</a:t>
            </a:r>
            <a:r>
              <a:rPr kumimoji="1" lang="en-US" altLang="zh-CN" dirty="0"/>
              <a:t> :=j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FEF175-1A5C-BB4B-9AB5-E81745A700F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59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FEF175-1A5C-BB4B-9AB5-E81745A700F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76747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FEF175-1A5C-BB4B-9AB5-E81745A700F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48290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5B01D-6198-3298-6E78-54DC17D82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590E1F-0D14-A05A-2EFA-0AC82B3ED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BB0ECE-9702-DFBD-075E-01CF3A60C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11627A-DB25-AD8D-4817-F5E8EA567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36812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Break here.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FEF175-1A5C-BB4B-9AB5-E81745A700F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12580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FEF175-1A5C-BB4B-9AB5-E81745A700F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12618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FEF175-1A5C-BB4B-9AB5-E81745A700F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2893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FEF175-1A5C-BB4B-9AB5-E81745A700F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2680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FEF175-1A5C-BB4B-9AB5-E81745A700F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563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FEF175-1A5C-BB4B-9AB5-E81745A700F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0748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FEF175-1A5C-BB4B-9AB5-E81745A700F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71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287382"/>
            <a:ext cx="9144000" cy="598796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244" y="287382"/>
            <a:ext cx="8449734" cy="598796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243" y="999067"/>
            <a:ext cx="8449733" cy="5177896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1243" y="6356351"/>
            <a:ext cx="2057400" cy="365125"/>
          </a:xfrm>
        </p:spPr>
        <p:txBody>
          <a:bodyPr/>
          <a:lstStyle/>
          <a:p>
            <a:fld id="{8A44B6B4-937D-054D-BEF6-8660ACCA85B8}" type="datetimeFigureOut">
              <a:rPr kumimoji="1" lang="zh-CN" altLang="en-US" smtClean="0"/>
              <a:t>2026/4/8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53576" y="6356351"/>
            <a:ext cx="2057400" cy="365125"/>
          </a:xfrm>
        </p:spPr>
        <p:txBody>
          <a:bodyPr/>
          <a:lstStyle/>
          <a:p>
            <a:fld id="{62597CCC-4A0B-5244-AD6B-955C19867F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4621" y="136525"/>
            <a:ext cx="9042850" cy="1279582"/>
          </a:xfrm>
        </p:spPr>
        <p:txBody>
          <a:bodyPr anchor="b">
            <a:normAutofit/>
          </a:bodyPr>
          <a:lstStyle>
            <a:lvl1pPr algn="ctr">
              <a:defRPr sz="33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54621" y="1959356"/>
            <a:ext cx="9042850" cy="365125"/>
          </a:xfrm>
        </p:spPr>
        <p:txBody>
          <a:bodyPr/>
          <a:lstStyle>
            <a:lvl1pPr marL="0" indent="0" algn="ctr">
              <a:buNone/>
              <a:defRPr sz="1800" b="1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287382"/>
            <a:ext cx="9144000" cy="757646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28650" y="187570"/>
            <a:ext cx="7886700" cy="961293"/>
          </a:xfrm>
        </p:spPr>
        <p:txBody>
          <a:bodyPr>
            <a:normAutofit/>
          </a:bodyPr>
          <a:lstStyle>
            <a:lvl1pPr>
              <a:defRPr sz="27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9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248676"/>
            <a:ext cx="7886700" cy="4952832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zh-CN" altLang="en-US" dirty="0"/>
              <a:t>编辑母版文本样式</a:t>
            </a:r>
          </a:p>
          <a:p>
            <a:pPr lvl="1"/>
            <a:r>
              <a:rPr kumimoji="1" lang="zh-CN" altLang="en-US" dirty="0"/>
              <a:t>第二级</a:t>
            </a:r>
          </a:p>
          <a:p>
            <a:pPr lvl="2"/>
            <a:r>
              <a:rPr kumimoji="1" lang="zh-CN" altLang="en-US" dirty="0"/>
              <a:t>第三级</a:t>
            </a:r>
          </a:p>
          <a:p>
            <a:pPr lvl="3"/>
            <a:r>
              <a:rPr kumimoji="1" lang="zh-CN" altLang="en-US" dirty="0"/>
              <a:t>第四级</a:t>
            </a:r>
          </a:p>
          <a:p>
            <a:pPr lvl="4"/>
            <a:r>
              <a:rPr kumimoji="1" lang="zh-CN" altLang="en-US" dirty="0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8A44B6B4-937D-054D-BEF6-8660ACCA85B8}" type="datetimeFigureOut">
              <a:rPr kumimoji="1" lang="zh-CN" altLang="en-US" smtClean="0"/>
              <a:t>2026/4/8</a:t>
            </a:fld>
            <a:endParaRPr kumimoji="1" lang="zh-CN" altLang="en-US" dirty="0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12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62597CCC-4A0B-5244-AD6B-955C19867F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EBDFB-8B05-D84C-90A8-B4DBE5F9992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530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4530E4-1CD8-444E-81D5-5F66436C890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423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CB608F-E12A-3549-B868-81EE2E7A15C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114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4628FA-1C9F-CA4C-8834-F725C577D04C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8687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9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77AF45-E783-8746-8293-670B25546A8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1395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5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46D8-C88D-FA4D-986C-69AC2F0DF1A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5383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77E43-71A7-B549-A063-C3D872E30EC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5432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B83FE-A26A-694A-9EA9-37B5FD9BD54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0448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86CF4-72A5-2A44-B066-CBCAD08B115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714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6705C-2595-F74D-9428-31CB3AA2B6F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5421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DABA17-3AE6-CB4F-87E0-327679BA9C7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5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48734-831C-F94B-866B-7951737D3FB9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>
              <a:defRPr/>
            </a:pPr>
            <a:fld id="{DC899EFB-6059-D44E-8C95-09916307E1F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284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 kern="12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33400" y="1219200"/>
            <a:ext cx="8077200" cy="4837823"/>
            <a:chOff x="609600" y="1219200"/>
            <a:chExt cx="8077200" cy="4837823"/>
          </a:xfrm>
        </p:grpSpPr>
        <p:sp>
          <p:nvSpPr>
            <p:cNvPr id="14337" name="文本框 4099"/>
            <p:cNvSpPr txBox="1">
              <a:spLocks noChangeArrowheads="1"/>
            </p:cNvSpPr>
            <p:nvPr/>
          </p:nvSpPr>
          <p:spPr bwMode="auto">
            <a:xfrm>
              <a:off x="609600" y="4715630"/>
              <a:ext cx="8077200" cy="134139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陈明帅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6350" marR="0" lvl="0" indent="0" algn="ctr" defTabSz="914400" rtl="0" eaLnBrk="0" fontAlgn="base" latinLnBrk="0" hangingPunct="0">
                <a:lnSpc>
                  <a:spcPct val="100000"/>
                </a:lnSpc>
                <a:spcBef>
                  <a:spcPts val="965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-1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>
                    <a:solidFill>
                      <a:srgbClr val="0000FF"/>
                    </a:solidFill>
                  </a:uFill>
                  <a:latin typeface="Times New Roman" panose="02020603050405020304"/>
                  <a:ea typeface="宋体" panose="02010600030101010101" pitchFamily="2" charset="-122"/>
                  <a:cs typeface="Times New Roman" panose="02020603050405020304"/>
                </a:rPr>
                <a:t>m.chen@zju.edu.cn</a:t>
              </a:r>
              <a:endPara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endParaRPr>
            </a:p>
            <a:p>
              <a:pPr marL="6350" marR="76200" lvl="0" indent="0" algn="ctr" defTabSz="914400" rtl="0" eaLnBrk="0" fontAlgn="base" latinLnBrk="0" hangingPunct="0">
                <a:lnSpc>
                  <a:spcPct val="100000"/>
                </a:lnSpc>
                <a:spcBef>
                  <a:spcPts val="12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-25" normalizeH="0" baseline="0" noProof="0" dirty="0">
                  <a:ln>
                    <a:noFill/>
                  </a:ln>
                  <a:solidFill>
                    <a:srgbClr val="25252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浙江大学 </a:t>
              </a:r>
              <a:r>
                <a:rPr kumimoji="1" lang="en-US" altLang="zh-CN" sz="2000" b="1" i="0" u="none" strike="noStrike" kern="1200" cap="none" spc="-25" normalizeH="0" baseline="0" noProof="0" dirty="0">
                  <a:ln>
                    <a:noFill/>
                  </a:ln>
                  <a:solidFill>
                    <a:srgbClr val="25252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kumimoji="1" lang="zh-CN" altLang="en-US" sz="2000" b="1" i="0" u="none" strike="noStrike" kern="1200" cap="none" spc="-25" normalizeH="0" baseline="0" noProof="0" dirty="0">
                  <a:ln>
                    <a:noFill/>
                  </a:ln>
                  <a:solidFill>
                    <a:srgbClr val="25252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kumimoji="1" lang="zh-CN" altLang="en-US" sz="2000" b="1" i="0" u="none" strike="noStrike" kern="1200" cap="none" spc="-15" normalizeH="0" baseline="0" noProof="0" dirty="0">
                  <a:ln>
                    <a:noFill/>
                  </a:ln>
                  <a:solidFill>
                    <a:srgbClr val="25252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计算机科学与技术学院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338" name="文本框 4101"/>
            <p:cNvSpPr txBox="1">
              <a:spLocks noChangeArrowheads="1"/>
            </p:cNvSpPr>
            <p:nvPr/>
          </p:nvSpPr>
          <p:spPr bwMode="auto">
            <a:xfrm>
              <a:off x="609600" y="1219200"/>
              <a:ext cx="8077200" cy="92392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编译原理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026" name="Picture 2" descr="Algorithmic trading - Energy Risk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1880" y="2641401"/>
              <a:ext cx="2705786" cy="1670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26A5CC71-BB5A-2AB4-C6F4-375618FF29EA}"/>
              </a:ext>
            </a:extLst>
          </p:cNvPr>
          <p:cNvSpPr txBox="1"/>
          <p:nvPr/>
        </p:nvSpPr>
        <p:spPr>
          <a:xfrm>
            <a:off x="4968586" y="6324524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0" lvl="0" indent="0" algn="ctr" defTabSz="457200" rtl="0" eaLnBrk="1" fontAlgn="auto" latinLnBrk="0" hangingPunct="1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Times New Roman"/>
                <a:ea typeface="宋体"/>
                <a:cs typeface="Times New Roman"/>
              </a:rPr>
              <a:t>Slides partially credited to </a:t>
            </a:r>
            <a:r>
              <a:rPr kumimoji="0" lang="en-US" altLang="zh-CN" sz="1600" b="1" i="0" u="none" strike="noStrike" kern="1200" cap="none" spc="-1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Times New Roman"/>
                <a:ea typeface="宋体"/>
                <a:cs typeface="Times New Roman"/>
              </a:rPr>
              <a:t>Zhongxin</a:t>
            </a:r>
            <a:r>
              <a:rPr kumimoji="0" lang="en-US" altLang="zh-CN" sz="16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Times New Roman"/>
                <a:ea typeface="宋体"/>
                <a:cs typeface="Times New Roman"/>
              </a:rPr>
              <a:t> Liu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244" y="303369"/>
            <a:ext cx="844973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25" dirty="0"/>
              <a:t>Outline</a:t>
            </a:r>
            <a:endParaRPr spc="-25" dirty="0"/>
          </a:p>
        </p:txBody>
      </p:sp>
      <p:grpSp>
        <p:nvGrpSpPr>
          <p:cNvPr id="148" name="组合 147"/>
          <p:cNvGrpSpPr/>
          <p:nvPr/>
        </p:nvGrpSpPr>
        <p:grpSpPr>
          <a:xfrm>
            <a:off x="3812671" y="1315319"/>
            <a:ext cx="1512000" cy="654393"/>
            <a:chOff x="3831472" y="983123"/>
            <a:chExt cx="1512000" cy="654393"/>
          </a:xfrm>
        </p:grpSpPr>
        <p:sp>
          <p:nvSpPr>
            <p:cNvPr id="96" name="圆角矩形 95"/>
            <p:cNvSpPr/>
            <p:nvPr/>
          </p:nvSpPr>
          <p:spPr>
            <a:xfrm>
              <a:off x="3831472" y="1133460"/>
              <a:ext cx="1512000" cy="504056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0" marR="0" lvl="0" indent="0" algn="ctr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Introduction</a:t>
              </a:r>
            </a:p>
          </p:txBody>
        </p:sp>
        <p:sp>
          <p:nvSpPr>
            <p:cNvPr id="97" name="矩形 96"/>
            <p:cNvSpPr/>
            <p:nvPr/>
          </p:nvSpPr>
          <p:spPr>
            <a:xfrm>
              <a:off x="3940712" y="983123"/>
              <a:ext cx="237478" cy="2848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263550" y="2343372"/>
            <a:ext cx="8610242" cy="3828828"/>
            <a:chOff x="263550" y="2362200"/>
            <a:chExt cx="8610242" cy="3828828"/>
          </a:xfrm>
        </p:grpSpPr>
        <p:grpSp>
          <p:nvGrpSpPr>
            <p:cNvPr id="98" name="组合 97"/>
            <p:cNvGrpSpPr/>
            <p:nvPr>
              <p:custDataLst>
                <p:tags r:id="rId1"/>
              </p:custDataLst>
            </p:nvPr>
          </p:nvGrpSpPr>
          <p:grpSpPr>
            <a:xfrm>
              <a:off x="450658" y="2492896"/>
              <a:ext cx="8242684" cy="3548019"/>
              <a:chOff x="566592" y="2324036"/>
              <a:chExt cx="8242684" cy="3548019"/>
            </a:xfrm>
          </p:grpSpPr>
          <p:grpSp>
            <p:nvGrpSpPr>
              <p:cNvPr id="99" name="组合 98"/>
              <p:cNvGrpSpPr/>
              <p:nvPr/>
            </p:nvGrpSpPr>
            <p:grpSpPr>
              <a:xfrm>
                <a:off x="566592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41" name="圆角矩形 140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Lexical Analysis</a:t>
                  </a:r>
                </a:p>
              </p:txBody>
            </p:sp>
            <p:sp>
              <p:nvSpPr>
                <p:cNvPr id="142" name="矩形 141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2</a:t>
                  </a:r>
                </a:p>
              </p:txBody>
            </p:sp>
          </p:grpSp>
          <p:grpSp>
            <p:nvGrpSpPr>
              <p:cNvPr id="100" name="组合 99"/>
              <p:cNvGrpSpPr/>
              <p:nvPr/>
            </p:nvGrpSpPr>
            <p:grpSpPr>
              <a:xfrm>
                <a:off x="2256999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9" name="圆角矩形 138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GB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Parsing</a:t>
                  </a:r>
                </a:p>
              </p:txBody>
            </p:sp>
            <p:sp>
              <p:nvSpPr>
                <p:cNvPr id="140" name="矩形 139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3</a:t>
                  </a:r>
                </a:p>
              </p:txBody>
            </p:sp>
          </p:grpSp>
          <p:grpSp>
            <p:nvGrpSpPr>
              <p:cNvPr id="101" name="组合 100"/>
              <p:cNvGrpSpPr/>
              <p:nvPr/>
            </p:nvGrpSpPr>
            <p:grpSpPr>
              <a:xfrm>
                <a:off x="3947406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7" name="圆角矩形 136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Abstract Syntax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8" name="矩形 137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4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02" name="组合 101"/>
              <p:cNvGrpSpPr/>
              <p:nvPr/>
            </p:nvGrpSpPr>
            <p:grpSpPr>
              <a:xfrm>
                <a:off x="5637813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5" name="圆角矩形 134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Semantic Analysis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6" name="矩形 135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5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7297276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3" name="圆角矩形 132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Activation Records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" name="矩形 133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6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04" name="组合 103"/>
              <p:cNvGrpSpPr/>
              <p:nvPr/>
            </p:nvGrpSpPr>
            <p:grpSpPr>
              <a:xfrm>
                <a:off x="5637813" y="3218640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1" name="圆角矩形 130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Interm</a:t>
                  </a:r>
                  <a:r>
                    <a:rPr kumimoji="1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. Code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" name="矩形 131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7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05" name="组合 104"/>
              <p:cNvGrpSpPr/>
              <p:nvPr/>
            </p:nvGrpSpPr>
            <p:grpSpPr>
              <a:xfrm>
                <a:off x="3949602" y="3218640"/>
                <a:ext cx="1512000" cy="654393"/>
                <a:chOff x="566592" y="2270551"/>
                <a:chExt cx="1481056" cy="654393"/>
              </a:xfrm>
            </p:grpSpPr>
            <p:sp>
              <p:nvSpPr>
                <p:cNvPr id="129" name="圆角矩形 128"/>
                <p:cNvSpPr/>
                <p:nvPr/>
              </p:nvSpPr>
              <p:spPr>
                <a:xfrm>
                  <a:off x="566592" y="2420888"/>
                  <a:ext cx="1481056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Blocks &amp; Traces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" name="矩形 129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8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06" name="组合 105"/>
              <p:cNvGrpSpPr/>
              <p:nvPr/>
            </p:nvGrpSpPr>
            <p:grpSpPr>
              <a:xfrm>
                <a:off x="2258123" y="3218640"/>
                <a:ext cx="1512000" cy="654393"/>
                <a:chOff x="584046" y="2270551"/>
                <a:chExt cx="1512000" cy="654393"/>
              </a:xfrm>
            </p:grpSpPr>
            <p:sp>
              <p:nvSpPr>
                <p:cNvPr id="127" name="圆角矩形 126"/>
                <p:cNvSpPr/>
                <p:nvPr/>
              </p:nvSpPr>
              <p:spPr>
                <a:xfrm>
                  <a:off x="584046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Instruct. Selection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" name="矩形 127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9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3013423" y="4082260"/>
                <a:ext cx="1512000" cy="654393"/>
                <a:chOff x="590792" y="2270551"/>
                <a:chExt cx="1512000" cy="654393"/>
              </a:xfrm>
            </p:grpSpPr>
            <p:sp>
              <p:nvSpPr>
                <p:cNvPr id="125" name="圆角矩形 124"/>
                <p:cNvSpPr/>
                <p:nvPr/>
              </p:nvSpPr>
              <p:spPr>
                <a:xfrm>
                  <a:off x="5907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Liveness Analysis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" name="矩形 125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10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08" name="组合 107"/>
              <p:cNvGrpSpPr/>
              <p:nvPr/>
            </p:nvGrpSpPr>
            <p:grpSpPr>
              <a:xfrm>
                <a:off x="4912722" y="4082260"/>
                <a:ext cx="1512000" cy="654393"/>
                <a:chOff x="566592" y="2270551"/>
                <a:chExt cx="1512000" cy="654393"/>
              </a:xfrm>
            </p:grpSpPr>
            <p:sp>
              <p:nvSpPr>
                <p:cNvPr id="123" name="圆角矩形 122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Register Allocation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" name="矩形 123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11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09" name="组合 108"/>
              <p:cNvGrpSpPr/>
              <p:nvPr/>
            </p:nvGrpSpPr>
            <p:grpSpPr>
              <a:xfrm>
                <a:off x="3013423" y="5217662"/>
                <a:ext cx="1512000" cy="654393"/>
                <a:chOff x="590792" y="2270551"/>
                <a:chExt cx="1512000" cy="654393"/>
              </a:xfrm>
            </p:grpSpPr>
            <p:sp>
              <p:nvSpPr>
                <p:cNvPr id="121" name="圆角矩形 120"/>
                <p:cNvSpPr/>
                <p:nvPr/>
              </p:nvSpPr>
              <p:spPr>
                <a:xfrm>
                  <a:off x="5907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Garbage Collection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" name="矩形 121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13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10" name="组合 109"/>
              <p:cNvGrpSpPr/>
              <p:nvPr/>
            </p:nvGrpSpPr>
            <p:grpSpPr>
              <a:xfrm>
                <a:off x="4912722" y="5217662"/>
                <a:ext cx="1512000" cy="654393"/>
                <a:chOff x="566592" y="2270551"/>
                <a:chExt cx="1512000" cy="654393"/>
              </a:xfrm>
            </p:grpSpPr>
            <p:sp>
              <p:nvSpPr>
                <p:cNvPr id="119" name="圆角矩形 118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Loop Optimizations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" name="矩形 119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18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cxnSp>
            <p:nvCxnSpPr>
              <p:cNvPr id="111" name="直线箭头连接符 110"/>
              <p:cNvCxnSpPr>
                <a:stCxn id="141" idx="3"/>
                <a:endCxn id="139" idx="1"/>
              </p:cNvCxnSpPr>
              <p:nvPr/>
            </p:nvCxnSpPr>
            <p:spPr>
              <a:xfrm>
                <a:off x="2078592" y="2726401"/>
                <a:ext cx="178407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线箭头连接符 111"/>
              <p:cNvCxnSpPr>
                <a:stCxn id="139" idx="3"/>
                <a:endCxn id="137" idx="1"/>
              </p:cNvCxnSpPr>
              <p:nvPr/>
            </p:nvCxnSpPr>
            <p:spPr>
              <a:xfrm>
                <a:off x="3768999" y="2726401"/>
                <a:ext cx="178407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线箭头连接符 112"/>
              <p:cNvCxnSpPr>
                <a:stCxn id="137" idx="3"/>
                <a:endCxn id="135" idx="1"/>
              </p:cNvCxnSpPr>
              <p:nvPr/>
            </p:nvCxnSpPr>
            <p:spPr>
              <a:xfrm>
                <a:off x="5459406" y="2726401"/>
                <a:ext cx="178407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线箭头连接符 113"/>
              <p:cNvCxnSpPr>
                <a:stCxn id="135" idx="2"/>
                <a:endCxn id="131" idx="0"/>
              </p:cNvCxnSpPr>
              <p:nvPr/>
            </p:nvCxnSpPr>
            <p:spPr>
              <a:xfrm>
                <a:off x="6393813" y="2978429"/>
                <a:ext cx="0" cy="390548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线箭头连接符 114"/>
              <p:cNvCxnSpPr>
                <a:stCxn id="131" idx="1"/>
                <a:endCxn id="129" idx="3"/>
              </p:cNvCxnSpPr>
              <p:nvPr/>
            </p:nvCxnSpPr>
            <p:spPr>
              <a:xfrm flipH="1">
                <a:off x="5461602" y="3621005"/>
                <a:ext cx="176211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线箭头连接符 115"/>
              <p:cNvCxnSpPr>
                <a:stCxn id="125" idx="3"/>
                <a:endCxn id="123" idx="1"/>
              </p:cNvCxnSpPr>
              <p:nvPr/>
            </p:nvCxnSpPr>
            <p:spPr>
              <a:xfrm>
                <a:off x="4525423" y="4484625"/>
                <a:ext cx="387299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肘形连接符 116"/>
              <p:cNvCxnSpPr>
                <a:stCxn id="133" idx="2"/>
                <a:endCxn id="131" idx="3"/>
              </p:cNvCxnSpPr>
              <p:nvPr/>
            </p:nvCxnSpPr>
            <p:spPr>
              <a:xfrm rot="5400000">
                <a:off x="7280257" y="2847986"/>
                <a:ext cx="642576" cy="903463"/>
              </a:xfrm>
              <a:prstGeom prst="bentConnector2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肘形连接符 117"/>
              <p:cNvCxnSpPr>
                <a:endCxn id="119" idx="1"/>
              </p:cNvCxnSpPr>
              <p:nvPr/>
            </p:nvCxnSpPr>
            <p:spPr>
              <a:xfrm rot="16200000" flipH="1">
                <a:off x="4246668" y="4953972"/>
                <a:ext cx="1135403" cy="196706"/>
              </a:xfrm>
              <a:prstGeom prst="bentConnector2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3" name="矩形 27"/>
            <p:cNvSpPr/>
            <p:nvPr>
              <p:custDataLst>
                <p:tags r:id="rId2"/>
              </p:custDataLst>
            </p:nvPr>
          </p:nvSpPr>
          <p:spPr bwMode="gray">
            <a:xfrm rot="5400000">
              <a:off x="3185852" y="-553447"/>
              <a:ext cx="2772293" cy="8603587"/>
            </a:xfrm>
            <a:prstGeom prst="rect">
              <a:avLst/>
            </a:prstGeom>
            <a:noFill/>
            <a:ln w="19050" algn="ctr">
              <a:solidFill>
                <a:srgbClr val="002060">
                  <a:alpha val="35000"/>
                </a:srgbClr>
              </a:solidFill>
              <a:prstDash val="sysDash"/>
              <a:miter lim="800000"/>
            </a:ln>
            <a:effectLst/>
          </p:spPr>
          <p:txBody>
            <a:bodyPr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4" name="矩形 27"/>
            <p:cNvSpPr/>
            <p:nvPr>
              <p:custDataLst>
                <p:tags r:id="rId3"/>
              </p:custDataLst>
            </p:nvPr>
          </p:nvSpPr>
          <p:spPr bwMode="gray">
            <a:xfrm rot="5400000">
              <a:off x="4103808" y="1409056"/>
              <a:ext cx="936379" cy="8603587"/>
            </a:xfrm>
            <a:prstGeom prst="rect">
              <a:avLst/>
            </a:prstGeom>
            <a:noFill/>
            <a:ln w="19050" algn="ctr">
              <a:solidFill>
                <a:srgbClr val="002060">
                  <a:alpha val="35000"/>
                </a:srgbClr>
              </a:solidFill>
              <a:prstDash val="sysDash"/>
              <a:miter lim="800000"/>
            </a:ln>
            <a:effectLst/>
          </p:spPr>
          <p:txBody>
            <a:bodyPr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5" name="文本框 144"/>
            <p:cNvSpPr txBox="1"/>
            <p:nvPr>
              <p:custDataLst>
                <p:tags r:id="rId4"/>
              </p:custDataLst>
            </p:nvPr>
          </p:nvSpPr>
          <p:spPr>
            <a:xfrm>
              <a:off x="263550" y="4769978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Fundamentals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6" name="文本框 145"/>
            <p:cNvSpPr txBox="1"/>
            <p:nvPr>
              <p:custDataLst>
                <p:tags r:id="rId5"/>
              </p:custDataLst>
            </p:nvPr>
          </p:nvSpPr>
          <p:spPr>
            <a:xfrm>
              <a:off x="263550" y="5821696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Advanced Topics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" name="圆角矩形 120">
            <a:extLst>
              <a:ext uri="{FF2B5EF4-FFF2-40B4-BE49-F238E27FC236}">
                <a16:creationId xmlns:a16="http://schemas.microsoft.com/office/drawing/2014/main" id="{1E607956-5A57-0948-1586-155E59172303}"/>
              </a:ext>
            </a:extLst>
          </p:cNvPr>
          <p:cNvSpPr/>
          <p:nvPr/>
        </p:nvSpPr>
        <p:spPr>
          <a:xfrm>
            <a:off x="6696087" y="5520094"/>
            <a:ext cx="1512000" cy="50405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 anchorCtr="1"/>
          <a:lstStyle/>
          <a:p>
            <a:pPr marL="0" marR="0" lvl="0" indent="0" algn="ctr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/>
                <a:ea typeface="等线" panose="02010600030101010101" pitchFamily="2" charset="-122"/>
              </a:rPr>
              <a:t>Obj.-Ori. Languages</a:t>
            </a:r>
            <a:endParaRPr kumimoji="1" lang="zh-CN" altLang="en-US" dirty="0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5C77DE-BFF5-B53F-0882-4BAD2DB17240}"/>
              </a:ext>
            </a:extLst>
          </p:cNvPr>
          <p:cNvSpPr/>
          <p:nvPr/>
        </p:nvSpPr>
        <p:spPr>
          <a:xfrm>
            <a:off x="6781126" y="5369757"/>
            <a:ext cx="310836" cy="284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1" lang="en-US" altLang="zh-CN" sz="2000" dirty="0">
                <a:solidFill>
                  <a:schemeClr val="tx2"/>
                </a:solidFill>
              </a:rPr>
              <a:t>14</a:t>
            </a:r>
            <a:endParaRPr kumimoji="1" lang="zh-CN" altLang="en-US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4C5E187A-6371-0B83-A217-059A3D6AB0D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0944" y="1698527"/>
            <a:ext cx="431999" cy="1417129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EA08880F-CA7E-F0CD-49CC-19B06050CB4E}"/>
              </a:ext>
            </a:extLst>
          </p:cNvPr>
          <p:cNvSpPr/>
          <p:nvPr/>
        </p:nvSpPr>
        <p:spPr>
          <a:xfrm>
            <a:off x="5434337" y="2347543"/>
            <a:ext cx="2715895" cy="57150"/>
          </a:xfrm>
          <a:custGeom>
            <a:avLst/>
            <a:gdLst/>
            <a:ahLst/>
            <a:cxnLst/>
            <a:rect l="l" t="t" r="r" b="b"/>
            <a:pathLst>
              <a:path w="2715895" h="57150">
                <a:moveTo>
                  <a:pt x="355574" y="28575"/>
                </a:moveTo>
                <a:lnTo>
                  <a:pt x="298424" y="0"/>
                </a:lnTo>
                <a:lnTo>
                  <a:pt x="298424" y="21437"/>
                </a:lnTo>
                <a:lnTo>
                  <a:pt x="0" y="21437"/>
                </a:lnTo>
                <a:lnTo>
                  <a:pt x="0" y="35725"/>
                </a:lnTo>
                <a:lnTo>
                  <a:pt x="298424" y="35725"/>
                </a:lnTo>
                <a:lnTo>
                  <a:pt x="298424" y="57150"/>
                </a:lnTo>
                <a:lnTo>
                  <a:pt x="355574" y="28575"/>
                </a:lnTo>
                <a:close/>
              </a:path>
              <a:path w="2715895" h="57150">
                <a:moveTo>
                  <a:pt x="2715298" y="28575"/>
                </a:moveTo>
                <a:lnTo>
                  <a:pt x="2658148" y="0"/>
                </a:lnTo>
                <a:lnTo>
                  <a:pt x="2658148" y="21437"/>
                </a:lnTo>
                <a:lnTo>
                  <a:pt x="2377440" y="21437"/>
                </a:lnTo>
                <a:lnTo>
                  <a:pt x="2377440" y="35725"/>
                </a:lnTo>
                <a:lnTo>
                  <a:pt x="2658148" y="35725"/>
                </a:lnTo>
                <a:lnTo>
                  <a:pt x="2658148" y="57150"/>
                </a:lnTo>
                <a:lnTo>
                  <a:pt x="2715298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21201CC2-8213-1FAD-415B-B45E78C34D2D}"/>
              </a:ext>
            </a:extLst>
          </p:cNvPr>
          <p:cNvSpPr txBox="1"/>
          <p:nvPr/>
        </p:nvSpPr>
        <p:spPr>
          <a:xfrm>
            <a:off x="240586" y="2011624"/>
            <a:ext cx="562610" cy="6718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just">
              <a:lnSpc>
                <a:spcPct val="101400"/>
              </a:lnSpc>
              <a:spcBef>
                <a:spcPts val="75"/>
              </a:spcBef>
            </a:pPr>
            <a:r>
              <a:rPr sz="1400" b="1" spc="-20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程序员编写的源程序</a:t>
            </a:r>
            <a:endParaRPr sz="14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3CFB3DC2-6597-88B9-F770-E146FC73BAA9}"/>
              </a:ext>
            </a:extLst>
          </p:cNvPr>
          <p:cNvSpPr txBox="1"/>
          <p:nvPr/>
        </p:nvSpPr>
        <p:spPr>
          <a:xfrm>
            <a:off x="8220281" y="2016252"/>
            <a:ext cx="739140" cy="6718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just">
              <a:lnSpc>
                <a:spcPct val="101400"/>
              </a:lnSpc>
              <a:spcBef>
                <a:spcPts val="75"/>
              </a:spcBef>
            </a:pPr>
            <a:r>
              <a:rPr sz="1400" b="1" spc="-1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机器硬件上运行的目标代码</a:t>
            </a:r>
            <a:endParaRPr sz="140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0137EADC-D907-8BEC-402E-85BE9D55DD92}"/>
              </a:ext>
            </a:extLst>
          </p:cNvPr>
          <p:cNvSpPr txBox="1"/>
          <p:nvPr/>
        </p:nvSpPr>
        <p:spPr>
          <a:xfrm>
            <a:off x="1550330" y="1831340"/>
            <a:ext cx="254000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词法分析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8" name="object 9">
            <a:extLst>
              <a:ext uri="{FF2B5EF4-FFF2-40B4-BE49-F238E27FC236}">
                <a16:creationId xmlns:a16="http://schemas.microsoft.com/office/drawing/2014/main" id="{323EA100-85BB-720A-FD29-24030C71A584}"/>
              </a:ext>
            </a:extLst>
          </p:cNvPr>
          <p:cNvGrpSpPr/>
          <p:nvPr/>
        </p:nvGrpSpPr>
        <p:grpSpPr>
          <a:xfrm>
            <a:off x="1322502" y="1543356"/>
            <a:ext cx="3101340" cy="2031364"/>
            <a:chOff x="1269701" y="1543356"/>
            <a:chExt cx="3101340" cy="2031364"/>
          </a:xfrm>
        </p:grpSpPr>
        <p:pic>
          <p:nvPicPr>
            <p:cNvPr id="9" name="object 10">
              <a:extLst>
                <a:ext uri="{FF2B5EF4-FFF2-40B4-BE49-F238E27FC236}">
                  <a16:creationId xmlns:a16="http://schemas.microsoft.com/office/drawing/2014/main" id="{1CBC9C66-91A0-36B8-BA03-C2F9E994140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7999" y="1716656"/>
              <a:ext cx="432000" cy="1400633"/>
            </a:xfrm>
            <a:prstGeom prst="rect">
              <a:avLst/>
            </a:prstGeom>
          </p:spPr>
        </p:pic>
        <p:pic>
          <p:nvPicPr>
            <p:cNvPr id="10" name="object 11">
              <a:extLst>
                <a:ext uri="{FF2B5EF4-FFF2-40B4-BE49-F238E27FC236}">
                  <a16:creationId xmlns:a16="http://schemas.microsoft.com/office/drawing/2014/main" id="{CF48D6C9-3C35-8354-461B-17C878FBF80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1800" y="1700160"/>
              <a:ext cx="431999" cy="1417129"/>
            </a:xfrm>
            <a:prstGeom prst="rect">
              <a:avLst/>
            </a:prstGeom>
          </p:spPr>
        </p:pic>
        <p:sp>
          <p:nvSpPr>
            <p:cNvPr id="11" name="object 12">
              <a:extLst>
                <a:ext uri="{FF2B5EF4-FFF2-40B4-BE49-F238E27FC236}">
                  <a16:creationId xmlns:a16="http://schemas.microsoft.com/office/drawing/2014/main" id="{3B62E608-26B3-B07E-304C-0531E4A95E30}"/>
                </a:ext>
              </a:extLst>
            </p:cNvPr>
            <p:cNvSpPr/>
            <p:nvPr/>
          </p:nvSpPr>
          <p:spPr>
            <a:xfrm>
              <a:off x="1279226" y="1552881"/>
              <a:ext cx="2023110" cy="2012314"/>
            </a:xfrm>
            <a:custGeom>
              <a:avLst/>
              <a:gdLst/>
              <a:ahLst/>
              <a:cxnLst/>
              <a:rect l="l" t="t" r="r" b="b"/>
              <a:pathLst>
                <a:path w="2023110" h="2012314">
                  <a:moveTo>
                    <a:pt x="0" y="0"/>
                  </a:moveTo>
                  <a:lnTo>
                    <a:pt x="2023111" y="0"/>
                  </a:lnTo>
                  <a:lnTo>
                    <a:pt x="2023111" y="2012219"/>
                  </a:lnTo>
                  <a:lnTo>
                    <a:pt x="0" y="2012219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pic>
          <p:nvPicPr>
            <p:cNvPr id="12" name="object 13">
              <a:extLst>
                <a:ext uri="{FF2B5EF4-FFF2-40B4-BE49-F238E27FC236}">
                  <a16:creationId xmlns:a16="http://schemas.microsoft.com/office/drawing/2014/main" id="{A8869CEA-BADC-3A6E-8AC4-AEB5D410A92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94681" y="1706285"/>
              <a:ext cx="575999" cy="1417128"/>
            </a:xfrm>
            <a:prstGeom prst="rect">
              <a:avLst/>
            </a:prstGeom>
          </p:spPr>
        </p:pic>
      </p:grpSp>
      <p:sp>
        <p:nvSpPr>
          <p:cNvPr id="13" name="object 14">
            <a:extLst>
              <a:ext uri="{FF2B5EF4-FFF2-40B4-BE49-F238E27FC236}">
                <a16:creationId xmlns:a16="http://schemas.microsoft.com/office/drawing/2014/main" id="{2FBF0410-AD4C-FDD8-B308-644869811844}"/>
              </a:ext>
            </a:extLst>
          </p:cNvPr>
          <p:cNvSpPr txBox="1"/>
          <p:nvPr/>
        </p:nvSpPr>
        <p:spPr>
          <a:xfrm>
            <a:off x="3885855" y="1953259"/>
            <a:ext cx="491490" cy="85788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sz="1800" b="1" spc="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中间</a:t>
            </a:r>
            <a:r>
              <a:rPr sz="1800" b="1" spc="-2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代码</a:t>
            </a:r>
            <a:r>
              <a:rPr sz="1800" b="1" spc="-3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生成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14" name="object 15">
            <a:extLst>
              <a:ext uri="{FF2B5EF4-FFF2-40B4-BE49-F238E27FC236}">
                <a16:creationId xmlns:a16="http://schemas.microsoft.com/office/drawing/2014/main" id="{81B59C69-B7C6-069E-4FF7-D7FD56751568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76720" y="1706285"/>
            <a:ext cx="575999" cy="1404569"/>
          </a:xfrm>
          <a:prstGeom prst="rect">
            <a:avLst/>
          </a:prstGeom>
        </p:spPr>
      </p:pic>
      <p:sp>
        <p:nvSpPr>
          <p:cNvPr id="18" name="object 19">
            <a:extLst>
              <a:ext uri="{FF2B5EF4-FFF2-40B4-BE49-F238E27FC236}">
                <a16:creationId xmlns:a16="http://schemas.microsoft.com/office/drawing/2014/main" id="{36A54071-F821-FFA5-5B73-4121D8FA7CF8}"/>
              </a:ext>
            </a:extLst>
          </p:cNvPr>
          <p:cNvSpPr/>
          <p:nvPr/>
        </p:nvSpPr>
        <p:spPr>
          <a:xfrm>
            <a:off x="3691179" y="1552826"/>
            <a:ext cx="1735455" cy="2012314"/>
          </a:xfrm>
          <a:custGeom>
            <a:avLst/>
            <a:gdLst/>
            <a:ahLst/>
            <a:cxnLst/>
            <a:rect l="l" t="t" r="r" b="b"/>
            <a:pathLst>
              <a:path w="1735454" h="2012314">
                <a:moveTo>
                  <a:pt x="0" y="0"/>
                </a:moveTo>
                <a:lnTo>
                  <a:pt x="1735073" y="0"/>
                </a:lnTo>
                <a:lnTo>
                  <a:pt x="1735073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object 20">
            <a:extLst>
              <a:ext uri="{FF2B5EF4-FFF2-40B4-BE49-F238E27FC236}">
                <a16:creationId xmlns:a16="http://schemas.microsoft.com/office/drawing/2014/main" id="{14A996B7-BB89-6E58-8A39-CEA7E2330C7E}"/>
              </a:ext>
            </a:extLst>
          </p:cNvPr>
          <p:cNvSpPr txBox="1"/>
          <p:nvPr/>
        </p:nvSpPr>
        <p:spPr>
          <a:xfrm>
            <a:off x="4343502" y="3208761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中端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20" name="object 21">
            <a:extLst>
              <a:ext uri="{FF2B5EF4-FFF2-40B4-BE49-F238E27FC236}">
                <a16:creationId xmlns:a16="http://schemas.microsoft.com/office/drawing/2014/main" id="{E6D39BFB-F473-9F92-61F5-1046D48B0900}"/>
              </a:ext>
            </a:extLst>
          </p:cNvPr>
          <p:cNvGrpSpPr/>
          <p:nvPr/>
        </p:nvGrpSpPr>
        <p:grpSpPr>
          <a:xfrm>
            <a:off x="5913171" y="1698525"/>
            <a:ext cx="1808480" cy="1412875"/>
            <a:chOff x="5860370" y="1698525"/>
            <a:chExt cx="1808480" cy="1412875"/>
          </a:xfrm>
        </p:grpSpPr>
        <p:pic>
          <p:nvPicPr>
            <p:cNvPr id="21" name="object 22">
              <a:extLst>
                <a:ext uri="{FF2B5EF4-FFF2-40B4-BE49-F238E27FC236}">
                  <a16:creationId xmlns:a16="http://schemas.microsoft.com/office/drawing/2014/main" id="{0C36B617-4070-481E-EFFD-C25FEEE7C66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60370" y="1698527"/>
              <a:ext cx="432000" cy="1412326"/>
            </a:xfrm>
            <a:prstGeom prst="rect">
              <a:avLst/>
            </a:prstGeom>
          </p:spPr>
        </p:pic>
        <p:pic>
          <p:nvPicPr>
            <p:cNvPr id="22" name="object 23">
              <a:extLst>
                <a:ext uri="{FF2B5EF4-FFF2-40B4-BE49-F238E27FC236}">
                  <a16:creationId xmlns:a16="http://schemas.microsoft.com/office/drawing/2014/main" id="{6831CF81-5DA3-5E85-9F6F-54A63317930D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36344" y="1698525"/>
              <a:ext cx="431999" cy="1412327"/>
            </a:xfrm>
            <a:prstGeom prst="rect">
              <a:avLst/>
            </a:prstGeom>
          </p:spPr>
        </p:pic>
      </p:grpSp>
      <p:grpSp>
        <p:nvGrpSpPr>
          <p:cNvPr id="24" name="object 25">
            <a:extLst>
              <a:ext uri="{FF2B5EF4-FFF2-40B4-BE49-F238E27FC236}">
                <a16:creationId xmlns:a16="http://schemas.microsoft.com/office/drawing/2014/main" id="{A6183C67-EE3B-DFB3-6CD5-DE5203B4E974}"/>
              </a:ext>
            </a:extLst>
          </p:cNvPr>
          <p:cNvGrpSpPr/>
          <p:nvPr/>
        </p:nvGrpSpPr>
        <p:grpSpPr>
          <a:xfrm>
            <a:off x="5771055" y="1540412"/>
            <a:ext cx="2042160" cy="2031364"/>
            <a:chOff x="5718254" y="1540412"/>
            <a:chExt cx="2042160" cy="2031364"/>
          </a:xfrm>
        </p:grpSpPr>
        <p:pic>
          <p:nvPicPr>
            <p:cNvPr id="25" name="object 26">
              <a:extLst>
                <a:ext uri="{FF2B5EF4-FFF2-40B4-BE49-F238E27FC236}">
                  <a16:creationId xmlns:a16="http://schemas.microsoft.com/office/drawing/2014/main" id="{6E150A54-6634-3A4F-B5C2-AF3E4A89717A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59882" y="1698525"/>
              <a:ext cx="432000" cy="1418763"/>
            </a:xfrm>
            <a:prstGeom prst="rect">
              <a:avLst/>
            </a:prstGeom>
          </p:spPr>
        </p:pic>
        <p:sp>
          <p:nvSpPr>
            <p:cNvPr id="26" name="object 27">
              <a:extLst>
                <a:ext uri="{FF2B5EF4-FFF2-40B4-BE49-F238E27FC236}">
                  <a16:creationId xmlns:a16="http://schemas.microsoft.com/office/drawing/2014/main" id="{EF89B952-291C-C492-77AD-83B07D86E4FF}"/>
                </a:ext>
              </a:extLst>
            </p:cNvPr>
            <p:cNvSpPr/>
            <p:nvPr/>
          </p:nvSpPr>
          <p:spPr>
            <a:xfrm>
              <a:off x="5727779" y="1549937"/>
              <a:ext cx="2023110" cy="2012314"/>
            </a:xfrm>
            <a:custGeom>
              <a:avLst/>
              <a:gdLst/>
              <a:ahLst/>
              <a:cxnLst/>
              <a:rect l="l" t="t" r="r" b="b"/>
              <a:pathLst>
                <a:path w="2023109" h="2012314">
                  <a:moveTo>
                    <a:pt x="0" y="0"/>
                  </a:moveTo>
                  <a:lnTo>
                    <a:pt x="2023110" y="0"/>
                  </a:lnTo>
                  <a:lnTo>
                    <a:pt x="2023110" y="2012219"/>
                  </a:lnTo>
                  <a:lnTo>
                    <a:pt x="0" y="2012219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9" name="object 30">
            <a:extLst>
              <a:ext uri="{FF2B5EF4-FFF2-40B4-BE49-F238E27FC236}">
                <a16:creationId xmlns:a16="http://schemas.microsoft.com/office/drawing/2014/main" id="{B4C3005E-2C9F-1276-7067-7910F1DBD777}"/>
              </a:ext>
            </a:extLst>
          </p:cNvPr>
          <p:cNvGrpSpPr/>
          <p:nvPr/>
        </p:nvGrpSpPr>
        <p:grpSpPr>
          <a:xfrm>
            <a:off x="1025587" y="1401662"/>
            <a:ext cx="6910070" cy="2290445"/>
            <a:chOff x="972786" y="1401662"/>
            <a:chExt cx="6910070" cy="2290445"/>
          </a:xfrm>
        </p:grpSpPr>
        <p:sp>
          <p:nvSpPr>
            <p:cNvPr id="30" name="object 31">
              <a:extLst>
                <a:ext uri="{FF2B5EF4-FFF2-40B4-BE49-F238E27FC236}">
                  <a16:creationId xmlns:a16="http://schemas.microsoft.com/office/drawing/2014/main" id="{71CD6488-508F-6631-24AF-F33D643FBDB8}"/>
                </a:ext>
              </a:extLst>
            </p:cNvPr>
            <p:cNvSpPr/>
            <p:nvPr/>
          </p:nvSpPr>
          <p:spPr>
            <a:xfrm>
              <a:off x="983898" y="1412774"/>
              <a:ext cx="6887845" cy="2268220"/>
            </a:xfrm>
            <a:custGeom>
              <a:avLst/>
              <a:gdLst/>
              <a:ahLst/>
              <a:cxnLst/>
              <a:rect l="l" t="t" r="r" b="b"/>
              <a:pathLst>
                <a:path w="6887845" h="2268220">
                  <a:moveTo>
                    <a:pt x="0" y="0"/>
                  </a:moveTo>
                  <a:lnTo>
                    <a:pt x="6887295" y="0"/>
                  </a:lnTo>
                  <a:lnTo>
                    <a:pt x="6887295" y="2268000"/>
                  </a:lnTo>
                  <a:lnTo>
                    <a:pt x="0" y="2268000"/>
                  </a:lnTo>
                  <a:lnTo>
                    <a:pt x="0" y="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1" name="object 32">
              <a:extLst>
                <a:ext uri="{FF2B5EF4-FFF2-40B4-BE49-F238E27FC236}">
                  <a16:creationId xmlns:a16="http://schemas.microsoft.com/office/drawing/2014/main" id="{4756F2B7-BBB1-C75D-EA4A-DD08D25346AC}"/>
                </a:ext>
              </a:extLst>
            </p:cNvPr>
            <p:cNvSpPr/>
            <p:nvPr/>
          </p:nvSpPr>
          <p:spPr>
            <a:xfrm>
              <a:off x="3312807" y="2361107"/>
              <a:ext cx="335280" cy="57150"/>
            </a:xfrm>
            <a:custGeom>
              <a:avLst/>
              <a:gdLst/>
              <a:ahLst/>
              <a:cxnLst/>
              <a:rect l="l" t="t" r="r" b="b"/>
              <a:pathLst>
                <a:path w="335279" h="57150">
                  <a:moveTo>
                    <a:pt x="335191" y="28575"/>
                  </a:moveTo>
                  <a:lnTo>
                    <a:pt x="320903" y="21424"/>
                  </a:lnTo>
                  <a:lnTo>
                    <a:pt x="278041" y="0"/>
                  </a:lnTo>
                  <a:lnTo>
                    <a:pt x="278041" y="21424"/>
                  </a:lnTo>
                  <a:lnTo>
                    <a:pt x="0" y="21424"/>
                  </a:lnTo>
                  <a:lnTo>
                    <a:pt x="0" y="35712"/>
                  </a:lnTo>
                  <a:lnTo>
                    <a:pt x="278041" y="35712"/>
                  </a:lnTo>
                  <a:lnTo>
                    <a:pt x="278041" y="57150"/>
                  </a:lnTo>
                  <a:lnTo>
                    <a:pt x="320903" y="35712"/>
                  </a:lnTo>
                  <a:lnTo>
                    <a:pt x="335191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32" name="object 33">
            <a:extLst>
              <a:ext uri="{FF2B5EF4-FFF2-40B4-BE49-F238E27FC236}">
                <a16:creationId xmlns:a16="http://schemas.microsoft.com/office/drawing/2014/main" id="{E827154A-7698-B6EA-903A-653A1117AD6A}"/>
              </a:ext>
            </a:extLst>
          </p:cNvPr>
          <p:cNvSpPr txBox="1"/>
          <p:nvPr/>
        </p:nvSpPr>
        <p:spPr>
          <a:xfrm>
            <a:off x="1036698" y="3988565"/>
            <a:ext cx="6887845" cy="226822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0"/>
              </a:spcBef>
            </a:pP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</a:endParaRPr>
          </a:p>
          <a:p>
            <a:pPr marL="1703705" indent="-285750">
              <a:lnSpc>
                <a:spcPct val="100000"/>
              </a:lnSpc>
              <a:buFont typeface="Arial"/>
              <a:buChar char="•"/>
              <a:tabLst>
                <a:tab pos="1703705" algn="l"/>
              </a:tabLst>
            </a:pPr>
            <a:r>
              <a:rPr sz="1600" spc="-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记录程序中变量、函数等对象的各种属性</a:t>
            </a: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703705" indent="-285750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1703705" algn="l"/>
              </a:tabLst>
            </a:pPr>
            <a:r>
              <a:rPr sz="1600" spc="-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符号表可由编译器的各个步骤使用</a:t>
            </a: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2225"/>
              </a:spcBef>
              <a:buFont typeface="Arial"/>
              <a:buChar char="•"/>
            </a:pP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740535" indent="-342900">
              <a:lnSpc>
                <a:spcPct val="100000"/>
              </a:lnSpc>
              <a:buFont typeface="Arial"/>
              <a:buChar char="•"/>
              <a:tabLst>
                <a:tab pos="1740535" algn="l"/>
              </a:tabLst>
            </a:pPr>
            <a:r>
              <a:rPr sz="1600" spc="-1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语法错误: 如算术表达式的括号不配对</a:t>
            </a: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743710" indent="-34607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1743710" algn="l"/>
              </a:tabLst>
            </a:pPr>
            <a:r>
              <a:rPr sz="1600" spc="-1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语义错误: 如算符作用于不相容的运算对象</a:t>
            </a: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3" name="object 34">
            <a:extLst>
              <a:ext uri="{FF2B5EF4-FFF2-40B4-BE49-F238E27FC236}">
                <a16:creationId xmlns:a16="http://schemas.microsoft.com/office/drawing/2014/main" id="{3D5BD51B-486A-914B-D22B-23D0B066AE46}"/>
              </a:ext>
            </a:extLst>
          </p:cNvPr>
          <p:cNvSpPr txBox="1"/>
          <p:nvPr/>
        </p:nvSpPr>
        <p:spPr>
          <a:xfrm>
            <a:off x="1196011" y="4222676"/>
            <a:ext cx="6607809" cy="343043"/>
          </a:xfrm>
          <a:prstGeom prst="rect">
            <a:avLst/>
          </a:prstGeom>
          <a:solidFill>
            <a:srgbClr val="DCE6F2"/>
          </a:solidFill>
        </p:spPr>
        <p:txBody>
          <a:bodyPr vert="horz" wrap="square" lIns="0" tIns="65405" rIns="0" bIns="0" rtlCol="0">
            <a:spAutoFit/>
          </a:bodyPr>
          <a:lstStyle/>
          <a:p>
            <a:pPr marL="180975" algn="ctr">
              <a:lnSpc>
                <a:spcPct val="100000"/>
              </a:lnSpc>
              <a:spcBef>
                <a:spcPts val="515"/>
              </a:spcBef>
            </a:pP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Symbol</a:t>
            </a:r>
            <a:r>
              <a:rPr sz="1800" b="1" spc="-75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sz="1800" b="1" spc="-7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Table</a:t>
            </a:r>
            <a:r>
              <a:rPr sz="1800" b="1" spc="-55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sz="1800" b="1" spc="-2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符号表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4" name="object 35">
            <a:extLst>
              <a:ext uri="{FF2B5EF4-FFF2-40B4-BE49-F238E27FC236}">
                <a16:creationId xmlns:a16="http://schemas.microsoft.com/office/drawing/2014/main" id="{0BCB6368-B093-BC08-541E-E3D2281ECFC1}"/>
              </a:ext>
            </a:extLst>
          </p:cNvPr>
          <p:cNvSpPr txBox="1"/>
          <p:nvPr/>
        </p:nvSpPr>
        <p:spPr>
          <a:xfrm>
            <a:off x="1196011" y="5229199"/>
            <a:ext cx="6607809" cy="345607"/>
          </a:xfrm>
          <a:prstGeom prst="rect">
            <a:avLst/>
          </a:prstGeom>
          <a:solidFill>
            <a:srgbClr val="DCE6F2"/>
          </a:solidFill>
        </p:spPr>
        <p:txBody>
          <a:bodyPr vert="horz" wrap="square" lIns="0" tIns="67945" rIns="0" bIns="0" rtlCol="0">
            <a:spAutoFit/>
          </a:bodyPr>
          <a:lstStyle/>
          <a:p>
            <a:pPr marL="198120" algn="ctr">
              <a:lnSpc>
                <a:spcPct val="100000"/>
              </a:lnSpc>
              <a:spcBef>
                <a:spcPts val="535"/>
              </a:spcBef>
            </a:pPr>
            <a:r>
              <a:rPr sz="1800" b="1" spc="-2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Error</a:t>
            </a:r>
            <a:r>
              <a:rPr sz="1800" b="1" spc="-95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Handler</a:t>
            </a:r>
            <a:r>
              <a:rPr sz="1800" b="1" spc="-9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sz="1800" b="1" spc="-1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错误处理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37" name="object 38">
            <a:extLst>
              <a:ext uri="{FF2B5EF4-FFF2-40B4-BE49-F238E27FC236}">
                <a16:creationId xmlns:a16="http://schemas.microsoft.com/office/drawing/2014/main" id="{4368EC33-8390-8DF4-55E6-EC19CD8DF8ED}"/>
              </a:ext>
            </a:extLst>
          </p:cNvPr>
          <p:cNvGrpSpPr/>
          <p:nvPr/>
        </p:nvGrpSpPr>
        <p:grpSpPr>
          <a:xfrm>
            <a:off x="1880397" y="2347539"/>
            <a:ext cx="963852" cy="70711"/>
            <a:chOff x="1827596" y="2347539"/>
            <a:chExt cx="963852" cy="70711"/>
          </a:xfrm>
        </p:grpSpPr>
        <p:pic>
          <p:nvPicPr>
            <p:cNvPr id="38" name="object 39">
              <a:extLst>
                <a:ext uri="{FF2B5EF4-FFF2-40B4-BE49-F238E27FC236}">
                  <a16:creationId xmlns:a16="http://schemas.microsoft.com/office/drawing/2014/main" id="{89C7EE2D-E9FF-849F-DFE1-B5EB9E812D3D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04413" y="2347539"/>
              <a:ext cx="287035" cy="70711"/>
            </a:xfrm>
            <a:prstGeom prst="rect">
              <a:avLst/>
            </a:prstGeom>
          </p:spPr>
        </p:pic>
        <p:pic>
          <p:nvPicPr>
            <p:cNvPr id="39" name="object 40">
              <a:extLst>
                <a:ext uri="{FF2B5EF4-FFF2-40B4-BE49-F238E27FC236}">
                  <a16:creationId xmlns:a16="http://schemas.microsoft.com/office/drawing/2014/main" id="{766FF507-9AD8-6444-4F33-F9C49248227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27596" y="2347539"/>
              <a:ext cx="287033" cy="70711"/>
            </a:xfrm>
            <a:prstGeom prst="rect">
              <a:avLst/>
            </a:prstGeom>
          </p:spPr>
        </p:pic>
      </p:grpSp>
      <p:sp>
        <p:nvSpPr>
          <p:cNvPr id="41" name="object 42">
            <a:extLst>
              <a:ext uri="{FF2B5EF4-FFF2-40B4-BE49-F238E27FC236}">
                <a16:creationId xmlns:a16="http://schemas.microsoft.com/office/drawing/2014/main" id="{BAA1B592-7EF3-9031-CBD6-611DFEC21D05}"/>
              </a:ext>
            </a:extLst>
          </p:cNvPr>
          <p:cNvSpPr txBox="1"/>
          <p:nvPr/>
        </p:nvSpPr>
        <p:spPr>
          <a:xfrm>
            <a:off x="2100416" y="1830811"/>
            <a:ext cx="1084580" cy="1677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  <a:tabLst>
                <a:tab pos="842644" algn="l"/>
              </a:tabLst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	</a:t>
            </a: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33985">
              <a:lnSpc>
                <a:spcPct val="100000"/>
              </a:lnSpc>
              <a:spcBef>
                <a:spcPts val="20"/>
              </a:spcBef>
              <a:tabLst>
                <a:tab pos="842644" algn="l"/>
              </a:tabLst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法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	</a:t>
            </a: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义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33985">
              <a:lnSpc>
                <a:spcPts val="2125"/>
              </a:lnSpc>
              <a:spcBef>
                <a:spcPts val="50"/>
              </a:spcBef>
              <a:tabLst>
                <a:tab pos="842644" algn="l"/>
              </a:tabLst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	</a:t>
            </a: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33985">
              <a:lnSpc>
                <a:spcPts val="2125"/>
              </a:lnSpc>
              <a:tabLst>
                <a:tab pos="842644" algn="l"/>
              </a:tabLst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析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	</a:t>
            </a: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210"/>
              </a:spcBef>
            </a:pPr>
            <a:r>
              <a:rPr sz="1800" b="1" spc="-2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前端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43" name="object 44">
            <a:extLst>
              <a:ext uri="{FF2B5EF4-FFF2-40B4-BE49-F238E27FC236}">
                <a16:creationId xmlns:a16="http://schemas.microsoft.com/office/drawing/2014/main" id="{2DA6B133-8CA1-2382-91F1-CE49223DB62B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516" y="2712946"/>
            <a:ext cx="783113" cy="656429"/>
          </a:xfrm>
          <a:prstGeom prst="rect">
            <a:avLst/>
          </a:prstGeom>
        </p:spPr>
      </p:pic>
      <p:sp>
        <p:nvSpPr>
          <p:cNvPr id="44" name="object 32">
            <a:extLst>
              <a:ext uri="{FF2B5EF4-FFF2-40B4-BE49-F238E27FC236}">
                <a16:creationId xmlns:a16="http://schemas.microsoft.com/office/drawing/2014/main" id="{03F95158-B45E-082E-57F7-245A3AA2E78B}"/>
              </a:ext>
            </a:extLst>
          </p:cNvPr>
          <p:cNvSpPr/>
          <p:nvPr/>
        </p:nvSpPr>
        <p:spPr>
          <a:xfrm>
            <a:off x="4441723" y="2349941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object 14">
            <a:extLst>
              <a:ext uri="{FF2B5EF4-FFF2-40B4-BE49-F238E27FC236}">
                <a16:creationId xmlns:a16="http://schemas.microsoft.com/office/drawing/2014/main" id="{D437C083-02E8-3A3F-AC8D-59EFCC4EE584}"/>
              </a:ext>
            </a:extLst>
          </p:cNvPr>
          <p:cNvSpPr txBox="1"/>
          <p:nvPr/>
        </p:nvSpPr>
        <p:spPr>
          <a:xfrm>
            <a:off x="4821993" y="1863157"/>
            <a:ext cx="491490" cy="111908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lang="en-US" sz="1800" b="1" spc="5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机器无关代码优化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6" name="object 8">
            <a:extLst>
              <a:ext uri="{FF2B5EF4-FFF2-40B4-BE49-F238E27FC236}">
                <a16:creationId xmlns:a16="http://schemas.microsoft.com/office/drawing/2014/main" id="{9731406F-BBEF-DCE1-EC78-22C1E204CEB2}"/>
              </a:ext>
            </a:extLst>
          </p:cNvPr>
          <p:cNvSpPr txBox="1"/>
          <p:nvPr/>
        </p:nvSpPr>
        <p:spPr>
          <a:xfrm>
            <a:off x="5998949" y="1819966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指令选择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7" name="object 8">
            <a:extLst>
              <a:ext uri="{FF2B5EF4-FFF2-40B4-BE49-F238E27FC236}">
                <a16:creationId xmlns:a16="http://schemas.microsoft.com/office/drawing/2014/main" id="{53F3904C-E8AC-2136-9B61-CDEDA663D873}"/>
              </a:ext>
            </a:extLst>
          </p:cNvPr>
          <p:cNvSpPr txBox="1"/>
          <p:nvPr/>
        </p:nvSpPr>
        <p:spPr>
          <a:xfrm>
            <a:off x="6699117" y="1716656"/>
            <a:ext cx="254000" cy="13965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寄存器分配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8" name="object 8">
            <a:extLst>
              <a:ext uri="{FF2B5EF4-FFF2-40B4-BE49-F238E27FC236}">
                <a16:creationId xmlns:a16="http://schemas.microsoft.com/office/drawing/2014/main" id="{8E7ACCE1-109B-85CD-D575-19AE9B9501AF}"/>
              </a:ext>
            </a:extLst>
          </p:cNvPr>
          <p:cNvSpPr txBox="1"/>
          <p:nvPr/>
        </p:nvSpPr>
        <p:spPr>
          <a:xfrm>
            <a:off x="7375169" y="1828943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指令调度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9" name="object 20">
            <a:extLst>
              <a:ext uri="{FF2B5EF4-FFF2-40B4-BE49-F238E27FC236}">
                <a16:creationId xmlns:a16="http://schemas.microsoft.com/office/drawing/2014/main" id="{D1F81B0D-DA74-3460-EE93-35CFA63D5DE8}"/>
              </a:ext>
            </a:extLst>
          </p:cNvPr>
          <p:cNvSpPr txBox="1"/>
          <p:nvPr/>
        </p:nvSpPr>
        <p:spPr>
          <a:xfrm>
            <a:off x="6584817" y="3218658"/>
            <a:ext cx="4826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b="1" spc="-2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后</a:t>
            </a:r>
            <a:r>
              <a:rPr lang="zh-CN" altLang="en-US" b="1" spc="-2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端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50" name="object 40">
            <a:extLst>
              <a:ext uri="{FF2B5EF4-FFF2-40B4-BE49-F238E27FC236}">
                <a16:creationId xmlns:a16="http://schemas.microsoft.com/office/drawing/2014/main" id="{0CD53625-F46C-B0DE-543B-183D100D112C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52875" y="2360867"/>
            <a:ext cx="276472" cy="45719"/>
          </a:xfrm>
          <a:prstGeom prst="rect">
            <a:avLst/>
          </a:prstGeom>
        </p:spPr>
      </p:pic>
      <p:pic>
        <p:nvPicPr>
          <p:cNvPr id="54" name="object 40">
            <a:extLst>
              <a:ext uri="{FF2B5EF4-FFF2-40B4-BE49-F238E27FC236}">
                <a16:creationId xmlns:a16="http://schemas.microsoft.com/office/drawing/2014/main" id="{F69AABAD-B532-FC9F-FE07-144795442143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39140" y="2360867"/>
            <a:ext cx="271483" cy="45719"/>
          </a:xfrm>
          <a:prstGeom prst="rect">
            <a:avLst/>
          </a:prstGeom>
        </p:spPr>
      </p:pic>
      <p:pic>
        <p:nvPicPr>
          <p:cNvPr id="2050" name="Picture 2" descr="What is a CPU? A beginner's guide to ...">
            <a:extLst>
              <a:ext uri="{FF2B5EF4-FFF2-40B4-BE49-F238E27FC236}">
                <a16:creationId xmlns:a16="http://schemas.microsoft.com/office/drawing/2014/main" id="{9DE4FAE9-2C55-6F3B-9DCF-D0088F5ED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2913" y="2718407"/>
            <a:ext cx="970027" cy="645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右箭头 14">
            <a:extLst>
              <a:ext uri="{FF2B5EF4-FFF2-40B4-BE49-F238E27FC236}">
                <a16:creationId xmlns:a16="http://schemas.microsoft.com/office/drawing/2014/main" id="{FF8EF1C2-B137-C96E-2AD6-0BB68F5BEBC5}"/>
              </a:ext>
            </a:extLst>
          </p:cNvPr>
          <p:cNvSpPr/>
          <p:nvPr/>
        </p:nvSpPr>
        <p:spPr>
          <a:xfrm>
            <a:off x="843525" y="2275861"/>
            <a:ext cx="396398" cy="24328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F1B4B318-A91E-9261-DE58-61C67E224606}"/>
              </a:ext>
            </a:extLst>
          </p:cNvPr>
          <p:cNvSpPr/>
          <p:nvPr/>
        </p:nvSpPr>
        <p:spPr>
          <a:xfrm>
            <a:off x="7775614" y="2275955"/>
            <a:ext cx="396398" cy="24328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右箭头 16">
            <a:extLst>
              <a:ext uri="{FF2B5EF4-FFF2-40B4-BE49-F238E27FC236}">
                <a16:creationId xmlns:a16="http://schemas.microsoft.com/office/drawing/2014/main" id="{62474E5E-1B14-3AC5-AF92-8E6F90594F1B}"/>
              </a:ext>
            </a:extLst>
          </p:cNvPr>
          <p:cNvSpPr/>
          <p:nvPr/>
        </p:nvSpPr>
        <p:spPr>
          <a:xfrm rot="16200000">
            <a:off x="2145383" y="3718743"/>
            <a:ext cx="396398" cy="24328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右箭头 22">
            <a:extLst>
              <a:ext uri="{FF2B5EF4-FFF2-40B4-BE49-F238E27FC236}">
                <a16:creationId xmlns:a16="http://schemas.microsoft.com/office/drawing/2014/main" id="{6F9860EC-0678-E5CA-A84F-944860802EFD}"/>
              </a:ext>
            </a:extLst>
          </p:cNvPr>
          <p:cNvSpPr/>
          <p:nvPr/>
        </p:nvSpPr>
        <p:spPr>
          <a:xfrm rot="16200000">
            <a:off x="4373801" y="3718743"/>
            <a:ext cx="396398" cy="24328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右箭头 26">
            <a:extLst>
              <a:ext uri="{FF2B5EF4-FFF2-40B4-BE49-F238E27FC236}">
                <a16:creationId xmlns:a16="http://schemas.microsoft.com/office/drawing/2014/main" id="{C5FCC63D-6503-7349-4CB8-C1B042BB86EB}"/>
              </a:ext>
            </a:extLst>
          </p:cNvPr>
          <p:cNvSpPr/>
          <p:nvPr/>
        </p:nvSpPr>
        <p:spPr>
          <a:xfrm rot="16200000">
            <a:off x="6622560" y="3718743"/>
            <a:ext cx="396398" cy="24328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64165B6-9EA0-7D12-D2B4-F822F1133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Typical Workflow of a Compiler</a:t>
            </a:r>
          </a:p>
        </p:txBody>
      </p:sp>
    </p:spTree>
    <p:extLst>
      <p:ext uri="{BB962C8B-B14F-4D97-AF65-F5344CB8AC3E}">
        <p14:creationId xmlns:p14="http://schemas.microsoft.com/office/powerpoint/2010/main" val="4153947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Overview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7133" y="3469176"/>
            <a:ext cx="8449733" cy="2429933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800" dirty="0"/>
              <a:t>The</a:t>
            </a:r>
            <a:r>
              <a:rPr kumimoji="1" lang="zh-CN" altLang="en-US" sz="2800" dirty="0"/>
              <a:t> </a:t>
            </a:r>
            <a:r>
              <a:rPr kumimoji="1" lang="en-US" altLang="zh-CN" sz="2800" i="1" dirty="0">
                <a:solidFill>
                  <a:srgbClr val="0070C0"/>
                </a:solidFill>
              </a:rPr>
              <a:t>semantic</a:t>
            </a:r>
            <a:r>
              <a:rPr kumimoji="1" lang="zh-CN" altLang="en-US" sz="2800" i="1" dirty="0">
                <a:solidFill>
                  <a:srgbClr val="0070C0"/>
                </a:solidFill>
              </a:rPr>
              <a:t> </a:t>
            </a:r>
            <a:r>
              <a:rPr kumimoji="1" lang="en-US" altLang="zh-CN" sz="2800" i="1" dirty="0">
                <a:solidFill>
                  <a:srgbClr val="0070C0"/>
                </a:solidFill>
              </a:rPr>
              <a:t>analysis</a:t>
            </a:r>
            <a:r>
              <a:rPr kumimoji="1" lang="zh-CN" altLang="en-US" sz="2800" i="1" dirty="0">
                <a:solidFill>
                  <a:srgbClr val="0070C0"/>
                </a:solidFill>
              </a:rPr>
              <a:t> </a:t>
            </a:r>
            <a:r>
              <a:rPr kumimoji="1" lang="en-US" altLang="zh-CN" sz="2800" dirty="0"/>
              <a:t>phase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a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compiler:</a:t>
            </a:r>
          </a:p>
          <a:p>
            <a:r>
              <a:rPr kumimoji="1" lang="en-US" altLang="zh-CN" dirty="0"/>
              <a:t>connects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definitions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their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uses</a:t>
            </a:r>
          </a:p>
          <a:p>
            <a:r>
              <a:rPr kumimoji="1" lang="en-GB" altLang="zh-CN" dirty="0"/>
              <a:t>checks that each expression has a correct type</a:t>
            </a:r>
          </a:p>
          <a:p>
            <a:r>
              <a:rPr kumimoji="1" lang="en" altLang="zh-CN" dirty="0"/>
              <a:t>translates the abstract syntax into a simpler representation suitable for generating machine code (in Chapter 7)</a:t>
            </a:r>
          </a:p>
        </p:txBody>
      </p:sp>
      <p:sp>
        <p:nvSpPr>
          <p:cNvPr id="4" name="流程图: 可选过程 3">
            <a:extLst>
              <a:ext uri="{FF2B5EF4-FFF2-40B4-BE49-F238E27FC236}">
                <a16:creationId xmlns:a16="http://schemas.microsoft.com/office/drawing/2014/main" id="{24FC66D5-F7B4-EF6C-0A23-DF4F09B0AB85}"/>
              </a:ext>
            </a:extLst>
          </p:cNvPr>
          <p:cNvSpPr/>
          <p:nvPr/>
        </p:nvSpPr>
        <p:spPr>
          <a:xfrm>
            <a:off x="1144437" y="1760733"/>
            <a:ext cx="6855124" cy="83388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se-man-tic</a:t>
            </a:r>
            <a:r>
              <a:rPr lang="en-US" altLang="zh-CN" sz="2400" dirty="0"/>
              <a:t>: of or relating to meaning in language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0942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0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243" y="999067"/>
            <a:ext cx="8449733" cy="2588948"/>
          </a:xfrm>
        </p:spPr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analysis</a:t>
            </a:r>
            <a:r>
              <a:rPr kumimoji="1" lang="zh-CN" altLang="en-US" dirty="0"/>
              <a:t> </a:t>
            </a:r>
            <a:r>
              <a:rPr kumimoji="1" lang="en-US" altLang="zh-CN" dirty="0"/>
              <a:t>phase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characterized</a:t>
            </a:r>
            <a:r>
              <a:rPr kumimoji="1" lang="zh-CN" altLang="en-US" dirty="0"/>
              <a:t> </a:t>
            </a:r>
            <a:r>
              <a:rPr kumimoji="1" lang="en-US" altLang="zh-CN" dirty="0"/>
              <a:t>by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GB" altLang="zh-CN" dirty="0"/>
              <a:t>maintenance of </a:t>
            </a:r>
            <a:r>
              <a:rPr kumimoji="1" lang="en-GB" altLang="zh-CN" b="1" i="1" dirty="0">
                <a:solidFill>
                  <a:srgbClr val="0070C0"/>
                </a:solidFill>
              </a:rPr>
              <a:t>symbol tables </a:t>
            </a:r>
            <a:r>
              <a:rPr kumimoji="1" lang="en-GB" altLang="zh-CN" dirty="0"/>
              <a:t>(also called</a:t>
            </a:r>
            <a:r>
              <a:rPr kumimoji="1" lang="en-GB" altLang="zh-CN" b="1" i="1" dirty="0"/>
              <a:t> </a:t>
            </a:r>
            <a:r>
              <a:rPr kumimoji="1" lang="en-GB" altLang="zh-CN" b="1" i="1" dirty="0">
                <a:solidFill>
                  <a:srgbClr val="0070C0"/>
                </a:solidFill>
              </a:rPr>
              <a:t>environments</a:t>
            </a:r>
            <a:r>
              <a:rPr kumimoji="1" lang="en-GB" altLang="zh-CN" dirty="0"/>
              <a:t>) mapping identiﬁers to their </a:t>
            </a:r>
            <a:r>
              <a:rPr kumimoji="1" lang="en-GB" altLang="zh-CN" b="1" dirty="0"/>
              <a:t>types</a:t>
            </a:r>
            <a:r>
              <a:rPr kumimoji="1" lang="en-GB" altLang="zh-CN" dirty="0"/>
              <a:t> and </a:t>
            </a:r>
            <a:r>
              <a:rPr kumimoji="1" lang="en-GB" altLang="zh-CN" b="1" dirty="0"/>
              <a:t>locations</a:t>
            </a:r>
            <a:r>
              <a:rPr kumimoji="1" lang="en-GB" altLang="zh-CN" dirty="0"/>
              <a:t>.</a:t>
            </a:r>
            <a:endParaRPr kumimoji="1" lang="en-US" altLang="zh-CN" dirty="0"/>
          </a:p>
          <a:p>
            <a:r>
              <a:rPr kumimoji="1" lang="en-US" altLang="zh-CN" dirty="0"/>
              <a:t>Declarations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identifiers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v.s</a:t>
            </a:r>
            <a:r>
              <a:rPr kumimoji="1" lang="en-US" altLang="zh-CN" dirty="0"/>
              <a:t>.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identifiers</a:t>
            </a:r>
          </a:p>
          <a:p>
            <a:r>
              <a:rPr kumimoji="1" lang="en-US" altLang="zh-CN" dirty="0"/>
              <a:t>An </a:t>
            </a:r>
            <a:r>
              <a:rPr kumimoji="1" lang="en-US" altLang="zh-CN" dirty="0">
                <a:solidFill>
                  <a:srgbClr val="0070C0"/>
                </a:solidFill>
              </a:rPr>
              <a:t>environment</a:t>
            </a:r>
            <a:r>
              <a:rPr kumimoji="1" lang="en-US" altLang="zh-CN" dirty="0"/>
              <a:t> is a set of </a:t>
            </a:r>
            <a:r>
              <a:rPr kumimoji="1" lang="en-US" altLang="zh-CN" b="1" dirty="0"/>
              <a:t>bindings</a:t>
            </a:r>
            <a:r>
              <a:rPr kumimoji="1" lang="en-US" altLang="zh-CN" dirty="0"/>
              <a:t> denoted by ‘↦’:</a:t>
            </a:r>
          </a:p>
          <a:p>
            <a:pPr lvl="1"/>
            <a:r>
              <a:rPr kumimoji="1" lang="en-US" altLang="zh-CN" dirty="0"/>
              <a:t>E.g.,</a:t>
            </a:r>
            <a:r>
              <a:rPr kumimoji="1" lang="zh-CN" altLang="en-US" dirty="0"/>
              <a:t> </a:t>
            </a:r>
            <a:r>
              <a:rPr kumimoji="1" lang="en-US" altLang="zh-CN" dirty="0"/>
              <a:t>σ0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{g</a:t>
            </a:r>
            <a:r>
              <a:rPr kumimoji="1" lang="zh-CN" altLang="en-US" dirty="0"/>
              <a:t> </a:t>
            </a:r>
            <a:r>
              <a:rPr kumimoji="1" lang="en-US" altLang="zh-CN" dirty="0"/>
              <a:t>↦</a:t>
            </a:r>
            <a:r>
              <a:rPr kumimoji="1" lang="zh-CN" altLang="en-US" dirty="0"/>
              <a:t> </a:t>
            </a:r>
            <a:r>
              <a:rPr kumimoji="1" lang="en-US" altLang="zh-CN" dirty="0"/>
              <a:t>string,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↦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int}</a:t>
            </a:r>
          </a:p>
          <a:p>
            <a:pPr marL="0" indent="0">
              <a:buNone/>
            </a:pPr>
            <a:endParaRPr kumimoji="1"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148972" y="3948554"/>
            <a:ext cx="4765928" cy="230832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effectLst/>
                <a:latin typeface="等线" panose="02010600030101010101" charset="-122"/>
                <a:ea typeface="等线" panose="02010600030101010101" charset="-122"/>
              </a:rPr>
              <a:t>1</a:t>
            </a:r>
            <a:r>
              <a:rPr lang="zh-CN" altLang="en-US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function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 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</a:t>
            </a:r>
            <a:r>
              <a:rPr lang="en-GB" altLang="zh-CN" b="1" dirty="0" err="1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</a:t>
            </a:r>
            <a:r>
              <a:rPr lang="en-GB" altLang="zh-CN" b="1" dirty="0" err="1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</a:t>
            </a:r>
            <a:r>
              <a:rPr lang="en-GB" altLang="zh-CN" b="1" dirty="0" err="1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</a:t>
            </a:r>
            <a:r>
              <a:rPr lang="en-GB" altLang="zh-CN" b="1" dirty="0" err="1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</a:t>
            </a:r>
            <a:r>
              <a:rPr lang="en-GB" altLang="zh-CN" b="1" dirty="0" err="1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</a:t>
            </a:r>
            <a:r>
              <a:rPr lang="en-GB" altLang="zh-CN" b="1" dirty="0" err="1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=</a:t>
            </a:r>
          </a:p>
          <a:p>
            <a:r>
              <a:rPr lang="en-US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2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	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print_int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(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</a:t>
            </a:r>
            <a:r>
              <a:rPr lang="en-GB" altLang="zh-CN" b="1" dirty="0" err="1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+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</a:t>
            </a:r>
          </a:p>
          <a:p>
            <a:pPr>
              <a:tabLst>
                <a:tab pos="522288" algn="l"/>
              </a:tabLst>
            </a:pPr>
            <a:r>
              <a:rPr lang="en-US" altLang="zh-CN" b="1" dirty="0">
                <a:effectLst/>
                <a:latin typeface="等线" panose="02010600030101010101" charset="-122"/>
                <a:ea typeface="等线" panose="02010600030101010101" charset="-122"/>
              </a:rPr>
              <a:t>3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	let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var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j 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:= 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</a:t>
            </a:r>
            <a:r>
              <a:rPr lang="en-GB" altLang="zh-CN" b="1" dirty="0" err="1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+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</a:t>
            </a:r>
            <a:endParaRPr lang="en-GB" altLang="zh-CN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>
              <a:tabLst>
                <a:tab pos="842963" algn="l"/>
              </a:tabLst>
            </a:pPr>
            <a:r>
              <a:rPr lang="en-US" altLang="zh-CN" b="1" dirty="0">
                <a:effectLst/>
                <a:latin typeface="等线" panose="02010600030101010101" charset="-122"/>
                <a:ea typeface="等线" panose="02010600030101010101" charset="-122"/>
              </a:rPr>
              <a:t>4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	var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 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:= “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hello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”</a:t>
            </a:r>
          </a:p>
          <a:p>
            <a:r>
              <a:rPr lang="en-US" altLang="zh-CN" b="1" dirty="0">
                <a:effectLst/>
                <a:latin typeface="等线" panose="02010600030101010101" charset="-122"/>
                <a:ea typeface="等线" panose="02010600030101010101" charset="-122"/>
              </a:rPr>
              <a:t>5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	</a:t>
            </a:r>
            <a:r>
              <a:rPr lang="zh-CN" altLang="en-US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print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print_int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j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</a:t>
            </a:r>
          </a:p>
          <a:p>
            <a:r>
              <a:rPr lang="en-US" altLang="zh-CN" b="1" dirty="0">
                <a:effectLst/>
                <a:latin typeface="等线" panose="02010600030101010101" charset="-122"/>
                <a:ea typeface="等线" panose="02010600030101010101" charset="-122"/>
              </a:rPr>
              <a:t>6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	end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</a:t>
            </a:r>
          </a:p>
          <a:p>
            <a:r>
              <a:rPr lang="en-US" altLang="zh-CN" b="1" dirty="0">
                <a:effectLst/>
                <a:latin typeface="等线" panose="02010600030101010101" charset="-122"/>
                <a:ea typeface="等线" panose="02010600030101010101" charset="-122"/>
              </a:rPr>
              <a:t>7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	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print_int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</a:rPr>
              <a:t>8	)</a:t>
            </a:r>
            <a:endParaRPr lang="en-GB" altLang="zh-CN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993924" y="3551378"/>
            <a:ext cx="4080128" cy="830997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line 1</a:t>
            </a:r>
            <a:r>
              <a:rPr lang="en-US" altLang="zh-CN" sz="2400" dirty="0">
                <a:latin typeface="+mn-lt"/>
              </a:rPr>
              <a:t>: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altLang="zh-CN" sz="2400" dirty="0">
                <a:latin typeface="+mn-lt"/>
                <a:sym typeface="Symbol" panose="05050102010706020507" pitchFamily="2" charset="2"/>
              </a:rPr>
              <a:t></a:t>
            </a:r>
            <a:r>
              <a:rPr lang="en-US" altLang="zh-CN" sz="2400" dirty="0">
                <a:latin typeface="+mn-lt"/>
              </a:rPr>
              <a:t>1 =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altLang="zh-CN" sz="2400" dirty="0">
                <a:latin typeface="+mn-lt"/>
                <a:sym typeface="Symbol" panose="05050102010706020507" pitchFamily="2" charset="2"/>
              </a:rPr>
              <a:t></a:t>
            </a:r>
            <a:r>
              <a:rPr lang="en-US" altLang="zh-CN" sz="2400" dirty="0">
                <a:latin typeface="+mn-lt"/>
              </a:rPr>
              <a:t>0 + {a ↦ int, b ↦ int, c ↦ int} 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993924" y="5478574"/>
            <a:ext cx="4080128" cy="461665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line 3</a:t>
            </a:r>
            <a:r>
              <a:rPr lang="en-US" altLang="zh-CN" sz="2400" dirty="0">
                <a:latin typeface="+mn-lt"/>
              </a:rPr>
              <a:t>: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altLang="zh-CN" sz="2400" dirty="0">
                <a:sym typeface="Symbol" panose="05050102010706020507" pitchFamily="2" charset="2"/>
              </a:rPr>
              <a:t></a:t>
            </a:r>
            <a:r>
              <a:rPr lang="en-US" altLang="zh-CN" sz="2400" dirty="0"/>
              <a:t>2 = </a:t>
            </a:r>
            <a:r>
              <a:rPr lang="en-US" altLang="zh-CN" sz="2400" dirty="0">
                <a:sym typeface="Symbol" panose="05050102010706020507" pitchFamily="2" charset="2"/>
              </a:rPr>
              <a:t></a:t>
            </a:r>
            <a:r>
              <a:rPr lang="en-US" altLang="zh-CN" sz="2400" dirty="0"/>
              <a:t>1 + {j ↦ int}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993924" y="6107177"/>
            <a:ext cx="4080128" cy="461665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line 4</a:t>
            </a:r>
            <a:r>
              <a:rPr lang="en-US" altLang="zh-CN" sz="2400" dirty="0">
                <a:latin typeface="+mn-lt"/>
              </a:rPr>
              <a:t>: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altLang="zh-CN" sz="2400" dirty="0">
                <a:sym typeface="Symbol" panose="05050102010706020507" pitchFamily="2" charset="2"/>
              </a:rPr>
              <a:t>3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2" charset="2"/>
              </a:rPr>
              <a:t></a:t>
            </a:r>
            <a:r>
              <a:rPr lang="en-US" altLang="zh-CN" sz="2400" dirty="0"/>
              <a:t>2 + {a ↦ string} </a:t>
            </a:r>
            <a:endParaRPr lang="en-US" altLang="zh-CN" sz="2400" dirty="0">
              <a:latin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93924" y="4480639"/>
            <a:ext cx="40801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dirty="0"/>
              <a:t>how</a:t>
            </a:r>
            <a:r>
              <a:rPr lang="zh-CN" altLang="en-US" sz="2400" dirty="0"/>
              <a:t> </a:t>
            </a:r>
            <a:r>
              <a:rPr lang="en-US" altLang="zh-CN" sz="2400" dirty="0"/>
              <a:t>does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compiler</a:t>
            </a:r>
            <a:r>
              <a:rPr lang="zh-CN" altLang="en-US" sz="2400" dirty="0"/>
              <a:t> </a:t>
            </a:r>
            <a:r>
              <a:rPr lang="en-US" altLang="zh-CN" sz="2400" dirty="0"/>
              <a:t>know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type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j?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FA981-5467-1DFB-432B-E4248D375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4" y="3956792"/>
            <a:ext cx="4874548" cy="335123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2400" dirty="0"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DE8B0F-12F4-FC11-824B-90A22D6F0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4" y="4231289"/>
            <a:ext cx="4874548" cy="335123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2400" dirty="0">
              <a:latin typeface="+mn-lt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CFB41E-F287-1C40-33CB-447348D83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4" y="4525924"/>
            <a:ext cx="4874548" cy="335123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2400" dirty="0">
              <a:latin typeface="+mn-lt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727789F4-F171-8067-FB40-F905CDF35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4" y="4795087"/>
            <a:ext cx="4874548" cy="335123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24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4" grpId="0"/>
      <p:bldP spid="4" grpId="0" animBg="1"/>
      <p:bldP spid="4" grpId="1" animBg="1"/>
      <p:bldP spid="7" grpId="0" animBg="1"/>
      <p:bldP spid="7" grpId="1" animBg="1"/>
      <p:bldP spid="8" grpId="0" animBg="1"/>
      <p:bldP spid="8" grpId="1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7133" y="4410835"/>
            <a:ext cx="8449733" cy="2089659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ym typeface="Symbol" panose="05050102010706020507" pitchFamily="2" charset="2"/>
              </a:rPr>
              <a:t></a:t>
            </a:r>
            <a:r>
              <a:rPr lang="en-US" altLang="zh-CN" sz="2800" dirty="0"/>
              <a:t>2</a:t>
            </a:r>
            <a:r>
              <a:rPr lang="zh-CN" altLang="en-US" sz="2800" dirty="0"/>
              <a:t> </a:t>
            </a:r>
            <a:r>
              <a:rPr lang="en-US" altLang="zh-CN" sz="2800" dirty="0"/>
              <a:t>contains</a:t>
            </a:r>
            <a:r>
              <a:rPr lang="zh-CN" altLang="en-US" sz="2800" dirty="0"/>
              <a:t> </a:t>
            </a:r>
            <a:r>
              <a:rPr lang="en-US" altLang="zh-CN" sz="2800" dirty="0"/>
              <a:t>a</a:t>
            </a:r>
            <a:r>
              <a:rPr lang="zh-CN" altLang="en-US" sz="2800" dirty="0"/>
              <a:t> </a:t>
            </a:r>
            <a:r>
              <a:rPr lang="en-US" altLang="zh-CN" sz="2800" dirty="0"/>
              <a:t>↦</a:t>
            </a:r>
            <a:r>
              <a:rPr lang="zh-CN" altLang="en-US" sz="2800" dirty="0"/>
              <a:t> </a:t>
            </a:r>
            <a:r>
              <a:rPr lang="en-US" altLang="zh-CN" sz="2800" dirty="0"/>
              <a:t>int</a:t>
            </a:r>
            <a:endParaRPr kumimoji="1" lang="en-US" altLang="zh-CN" dirty="0"/>
          </a:p>
          <a:p>
            <a:r>
              <a:rPr kumimoji="1" lang="en-US" altLang="zh-CN" dirty="0"/>
              <a:t>What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binding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lang="en-US" altLang="zh-CN" sz="2800" dirty="0">
                <a:sym typeface="Symbol" panose="05050102010706020507" pitchFamily="2" charset="2"/>
              </a:rPr>
              <a:t>3?</a:t>
            </a:r>
            <a:endParaRPr kumimoji="1" lang="en-US" altLang="zh-CN" dirty="0"/>
          </a:p>
          <a:p>
            <a:r>
              <a:rPr kumimoji="1" lang="en-US" altLang="zh-CN" dirty="0"/>
              <a:t>Bindings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right-hand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override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those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left.</a:t>
            </a:r>
          </a:p>
          <a:p>
            <a:r>
              <a:rPr kumimoji="1" lang="en-US" altLang="zh-CN" dirty="0"/>
              <a:t>X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/>
              <a:t>Y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same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Y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/>
              <a:t>X.</a:t>
            </a:r>
            <a:r>
              <a:rPr kumimoji="1" lang="zh-CN" altLang="en-US" dirty="0"/>
              <a:t> </a:t>
            </a:r>
            <a:endParaRPr kumimoji="1"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2503310" y="1658511"/>
            <a:ext cx="5192890" cy="255454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latin typeface="+mn-ea"/>
              </a:rPr>
              <a:t>1</a:t>
            </a:r>
            <a:r>
              <a:rPr lang="zh-CN" altLang="en-US" sz="2000" b="1" dirty="0">
                <a:solidFill>
                  <a:srgbClr val="AF00DB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function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f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a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:</a:t>
            </a:r>
            <a:r>
              <a:rPr lang="en-GB" altLang="zh-CN" sz="2000" b="1" dirty="0" err="1">
                <a:solidFill>
                  <a:srgbClr val="0000FF"/>
                </a:solidFill>
                <a:effectLst/>
                <a:latin typeface="+mn-ea"/>
              </a:rPr>
              <a:t>int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:</a:t>
            </a:r>
            <a:r>
              <a:rPr lang="en-GB" altLang="zh-CN" sz="2000" b="1" dirty="0" err="1">
                <a:solidFill>
                  <a:srgbClr val="0000FF"/>
                </a:solidFill>
                <a:effectLst/>
                <a:latin typeface="+mn-ea"/>
              </a:rPr>
              <a:t>int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c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:</a:t>
            </a:r>
            <a:r>
              <a:rPr lang="en-GB" altLang="zh-CN" sz="2000" b="1" dirty="0" err="1">
                <a:solidFill>
                  <a:srgbClr val="0000FF"/>
                </a:solidFill>
                <a:effectLst/>
                <a:latin typeface="+mn-ea"/>
              </a:rPr>
              <a:t>int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 =</a:t>
            </a:r>
          </a:p>
          <a:p>
            <a:r>
              <a:rPr lang="en-US" altLang="zh-CN" sz="2000" b="1" dirty="0">
                <a:solidFill>
                  <a:srgbClr val="000000"/>
                </a:solidFill>
                <a:effectLst/>
                <a:latin typeface="+mn-ea"/>
              </a:rPr>
              <a:t>2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	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print_int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(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a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+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c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);</a:t>
            </a:r>
          </a:p>
          <a:p>
            <a:pPr>
              <a:tabLst>
                <a:tab pos="522288" algn="l"/>
              </a:tabLst>
            </a:pPr>
            <a:r>
              <a:rPr lang="en-US" altLang="zh-CN" sz="2000" b="1" dirty="0">
                <a:effectLst/>
                <a:latin typeface="+mn-ea"/>
              </a:rPr>
              <a:t>3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	let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var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j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:= 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a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+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b</a:t>
            </a:r>
            <a:endParaRPr lang="en-GB" altLang="zh-CN" sz="2000" b="1" dirty="0">
              <a:solidFill>
                <a:srgbClr val="000000"/>
              </a:solidFill>
              <a:effectLst/>
              <a:latin typeface="+mn-ea"/>
            </a:endParaRPr>
          </a:p>
          <a:p>
            <a:pPr>
              <a:tabLst>
                <a:tab pos="522288" algn="l"/>
              </a:tabLst>
            </a:pPr>
            <a:r>
              <a:rPr lang="en-US" altLang="zh-CN" sz="2000" b="1" dirty="0">
                <a:effectLst/>
                <a:latin typeface="+mn-ea"/>
              </a:rPr>
              <a:t>4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	</a:t>
            </a:r>
            <a:r>
              <a:rPr lang="en-GB" altLang="zh-CN" sz="2000" b="1" dirty="0">
                <a:solidFill>
                  <a:srgbClr val="AF00DB"/>
                </a:solidFill>
                <a:latin typeface="+mn-ea"/>
              </a:rPr>
              <a:t>	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var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a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:= “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hello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”</a:t>
            </a:r>
          </a:p>
          <a:p>
            <a:r>
              <a:rPr lang="en-US" altLang="zh-CN" sz="2000" b="1" dirty="0">
                <a:effectLst/>
                <a:latin typeface="+mn-ea"/>
              </a:rPr>
              <a:t>5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	</a:t>
            </a:r>
            <a:r>
              <a:rPr lang="zh-CN" altLang="en-US" sz="2000" b="1" dirty="0">
                <a:solidFill>
                  <a:srgbClr val="AF00DB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in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print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a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); 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print_int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j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</a:t>
            </a:r>
          </a:p>
          <a:p>
            <a:r>
              <a:rPr lang="en-US" altLang="zh-CN" sz="2000" b="1" dirty="0">
                <a:effectLst/>
                <a:latin typeface="+mn-ea"/>
              </a:rPr>
              <a:t>6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	end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r>
              <a:rPr lang="en-US" altLang="zh-CN" sz="2000" b="1" dirty="0">
                <a:effectLst/>
                <a:latin typeface="+mn-ea"/>
              </a:rPr>
              <a:t>7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	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print_int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</a:t>
            </a:r>
          </a:p>
          <a:p>
            <a:r>
              <a:rPr lang="en-US" altLang="zh-CN" sz="2000" b="1" dirty="0">
                <a:solidFill>
                  <a:srgbClr val="000000"/>
                </a:solidFill>
                <a:latin typeface="+mn-ea"/>
              </a:rPr>
              <a:t>8	)</a:t>
            </a:r>
            <a:endParaRPr lang="en-GB" altLang="zh-CN" sz="2000" b="1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059691" y="1016000"/>
            <a:ext cx="4080128" cy="461665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line 4</a:t>
            </a:r>
            <a:r>
              <a:rPr lang="en-US" altLang="zh-CN" sz="2400" dirty="0">
                <a:latin typeface="+mn-lt"/>
              </a:rPr>
              <a:t>: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altLang="zh-CN" sz="2400" dirty="0">
                <a:sym typeface="Symbol" panose="05050102010706020507" pitchFamily="2" charset="2"/>
              </a:rPr>
              <a:t>3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2" charset="2"/>
              </a:rPr>
              <a:t></a:t>
            </a:r>
            <a:r>
              <a:rPr lang="en-US" altLang="zh-CN" sz="2400" dirty="0"/>
              <a:t>2 + {a ↦ string} </a:t>
            </a:r>
            <a:endParaRPr lang="en-US" altLang="zh-CN" sz="2400" dirty="0">
              <a:latin typeface="+mn-lt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0860ACC-4CB6-BA53-DCDF-911AC4D61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171" y="2608898"/>
            <a:ext cx="5357109" cy="335123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24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243" y="999067"/>
            <a:ext cx="8449733" cy="1749139"/>
          </a:xfrm>
        </p:spPr>
        <p:txBody>
          <a:bodyPr/>
          <a:lstStyle/>
          <a:p>
            <a:r>
              <a:rPr kumimoji="1" lang="en-GB" altLang="zh-CN" dirty="0"/>
              <a:t>Each local variable in a program has a </a:t>
            </a:r>
            <a:r>
              <a:rPr kumimoji="1" lang="en-GB" altLang="zh-CN" i="1" dirty="0">
                <a:solidFill>
                  <a:srgbClr val="0070C0"/>
                </a:solidFill>
              </a:rPr>
              <a:t>scope</a:t>
            </a:r>
            <a:r>
              <a:rPr kumimoji="1" lang="en-GB" altLang="zh-CN" dirty="0"/>
              <a:t> in which it is “visible”. In other words, it is defined in that scope.</a:t>
            </a:r>
          </a:p>
          <a:p>
            <a:r>
              <a:rPr kumimoji="1" lang="en-GB" altLang="zh-CN" dirty="0"/>
              <a:t>As the semantic analysis reaches the end of each scope, the identiﬁer bindings local to that scope are discarded.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64491" y="2878664"/>
            <a:ext cx="4634090" cy="230082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effectLst/>
                <a:latin typeface="+mn-ea"/>
              </a:rPr>
              <a:t>1</a:t>
            </a:r>
            <a:r>
              <a:rPr lang="zh-CN" altLang="en-US" b="1" dirty="0">
                <a:solidFill>
                  <a:srgbClr val="AF00DB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+mn-ea"/>
              </a:rPr>
              <a:t>function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f 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+mn-ea"/>
              </a:rPr>
              <a:t>a</a:t>
            </a:r>
            <a:r>
              <a:rPr lang="en-GB" altLang="zh-CN" b="1" dirty="0" err="1">
                <a:solidFill>
                  <a:srgbClr val="000000"/>
                </a:solidFill>
                <a:effectLst/>
                <a:latin typeface="+mn-ea"/>
              </a:rPr>
              <a:t>:</a:t>
            </a:r>
            <a:r>
              <a:rPr lang="en-GB" altLang="zh-CN" b="1" dirty="0" err="1">
                <a:solidFill>
                  <a:srgbClr val="0000FF"/>
                </a:solidFill>
                <a:effectLst/>
                <a:latin typeface="+mn-ea"/>
              </a:rPr>
              <a:t>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b="1" dirty="0" err="1">
                <a:solidFill>
                  <a:srgbClr val="000000"/>
                </a:solidFill>
                <a:effectLst/>
                <a:latin typeface="+mn-ea"/>
              </a:rPr>
              <a:t>:</a:t>
            </a:r>
            <a:r>
              <a:rPr lang="en-GB" altLang="zh-CN" b="1" dirty="0" err="1">
                <a:solidFill>
                  <a:srgbClr val="0000FF"/>
                </a:solidFill>
                <a:effectLst/>
                <a:latin typeface="+mn-ea"/>
              </a:rPr>
              <a:t>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+mn-ea"/>
              </a:rPr>
              <a:t>c</a:t>
            </a:r>
            <a:r>
              <a:rPr lang="en-GB" altLang="zh-CN" b="1" dirty="0" err="1">
                <a:solidFill>
                  <a:srgbClr val="000000"/>
                </a:solidFill>
                <a:effectLst/>
                <a:latin typeface="+mn-ea"/>
              </a:rPr>
              <a:t>:</a:t>
            </a:r>
            <a:r>
              <a:rPr lang="en-GB" altLang="zh-CN" b="1" dirty="0" err="1">
                <a:solidFill>
                  <a:srgbClr val="0000FF"/>
                </a:solidFill>
                <a:effectLst/>
                <a:latin typeface="+mn-ea"/>
              </a:rPr>
              <a:t>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) =</a:t>
            </a:r>
          </a:p>
          <a:p>
            <a:r>
              <a:rPr lang="en-US" altLang="zh-CN" b="1" dirty="0">
                <a:solidFill>
                  <a:srgbClr val="000000"/>
                </a:solidFill>
                <a:effectLst/>
                <a:latin typeface="+mn-ea"/>
              </a:rPr>
              <a:t>2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	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+mn-ea"/>
              </a:rPr>
              <a:t>print_int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(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+mn-ea"/>
              </a:rPr>
              <a:t>a</a:t>
            </a:r>
            <a:r>
              <a:rPr lang="en-GB" altLang="zh-CN" b="1" dirty="0" err="1">
                <a:solidFill>
                  <a:srgbClr val="000000"/>
                </a:solidFill>
                <a:effectLst/>
                <a:latin typeface="+mn-ea"/>
              </a:rPr>
              <a:t>+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+mn-ea"/>
              </a:rPr>
              <a:t>c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);</a:t>
            </a:r>
          </a:p>
          <a:p>
            <a:pPr>
              <a:tabLst>
                <a:tab pos="522288" algn="l"/>
              </a:tabLst>
            </a:pPr>
            <a:r>
              <a:rPr lang="en-US" altLang="zh-CN" b="1" dirty="0">
                <a:effectLst/>
                <a:latin typeface="+mn-ea"/>
              </a:rPr>
              <a:t>3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+mn-ea"/>
              </a:rPr>
              <a:t>	let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+mn-ea"/>
              </a:rPr>
              <a:t>var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j 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:= 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+mn-ea"/>
              </a:rPr>
              <a:t>a</a:t>
            </a:r>
            <a:r>
              <a:rPr lang="en-GB" altLang="zh-CN" b="1" dirty="0" err="1">
                <a:solidFill>
                  <a:srgbClr val="000000"/>
                </a:solidFill>
                <a:effectLst/>
                <a:latin typeface="+mn-ea"/>
              </a:rPr>
              <a:t>+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+mn-ea"/>
              </a:rPr>
              <a:t>b</a:t>
            </a:r>
            <a:endParaRPr lang="en-GB" altLang="zh-CN" b="1" dirty="0">
              <a:solidFill>
                <a:srgbClr val="000000"/>
              </a:solidFill>
              <a:effectLst/>
              <a:latin typeface="+mn-ea"/>
            </a:endParaRPr>
          </a:p>
          <a:p>
            <a:pPr>
              <a:tabLst>
                <a:tab pos="479425" algn="l"/>
                <a:tab pos="842963" algn="l"/>
              </a:tabLst>
            </a:pPr>
            <a:r>
              <a:rPr lang="en-US" altLang="zh-CN" b="1" dirty="0">
                <a:effectLst/>
                <a:latin typeface="+mn-ea"/>
              </a:rPr>
              <a:t>4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+mn-ea"/>
              </a:rPr>
              <a:t>	</a:t>
            </a:r>
            <a:r>
              <a:rPr lang="en-GB" altLang="zh-CN" b="1" dirty="0">
                <a:solidFill>
                  <a:srgbClr val="AF00DB"/>
                </a:solidFill>
                <a:latin typeface="+mn-ea"/>
              </a:rPr>
              <a:t>	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+mn-ea"/>
              </a:rPr>
              <a:t>var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a 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:= “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hello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”</a:t>
            </a:r>
          </a:p>
          <a:p>
            <a:r>
              <a:rPr lang="en-US" altLang="zh-CN" b="1" dirty="0">
                <a:effectLst/>
                <a:latin typeface="+mn-ea"/>
              </a:rPr>
              <a:t>5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+mn-ea"/>
              </a:rPr>
              <a:t>	</a:t>
            </a:r>
            <a:r>
              <a:rPr lang="zh-CN" altLang="en-US" b="1" dirty="0">
                <a:solidFill>
                  <a:srgbClr val="AF00DB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+mn-ea"/>
              </a:rPr>
              <a:t>in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print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a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); 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+mn-ea"/>
              </a:rPr>
              <a:t>print_int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j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)</a:t>
            </a:r>
          </a:p>
          <a:p>
            <a:r>
              <a:rPr lang="en-US" altLang="zh-CN" b="1" dirty="0">
                <a:effectLst/>
                <a:latin typeface="+mn-ea"/>
              </a:rPr>
              <a:t>6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+mn-ea"/>
              </a:rPr>
              <a:t>	end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r>
              <a:rPr lang="en-US" altLang="zh-CN" b="1" dirty="0">
                <a:effectLst/>
                <a:latin typeface="+mn-ea"/>
              </a:rPr>
              <a:t>7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	</a:t>
            </a:r>
            <a:r>
              <a:rPr lang="en-GB" altLang="zh-CN" b="1" dirty="0" err="1">
                <a:solidFill>
                  <a:srgbClr val="001080"/>
                </a:solidFill>
                <a:effectLst/>
                <a:latin typeface="+mn-ea"/>
              </a:rPr>
              <a:t>print_int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latin typeface="+mn-ea"/>
              </a:rPr>
              <a:t>8	)</a:t>
            </a:r>
            <a:endParaRPr lang="en-GB" altLang="zh-CN" b="1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4899381" y="2861095"/>
            <a:ext cx="4080128" cy="830997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line 6</a:t>
            </a:r>
            <a:r>
              <a:rPr lang="en-US" altLang="zh-CN" sz="2400" dirty="0">
                <a:latin typeface="+mn-lt"/>
              </a:rPr>
              <a:t>: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altLang="zh-CN" sz="2400" dirty="0">
                <a:latin typeface="+mn-lt"/>
              </a:rPr>
              <a:t>discard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altLang="zh-CN" sz="2400" dirty="0">
                <a:sym typeface="Symbol" panose="05050102010706020507" pitchFamily="2" charset="2"/>
              </a:rPr>
              <a:t>3,</a:t>
            </a:r>
            <a:r>
              <a:rPr lang="zh-CN" altLang="en-US" sz="2400" dirty="0">
                <a:sym typeface="Symbol" panose="05050102010706020507" pitchFamily="2" charset="2"/>
              </a:rPr>
              <a:t> </a:t>
            </a:r>
            <a:r>
              <a:rPr lang="en-US" altLang="zh-CN" sz="2400" dirty="0">
                <a:latin typeface="+mn-lt"/>
              </a:rPr>
              <a:t>go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altLang="zh-CN" sz="2400" dirty="0">
                <a:latin typeface="+mn-lt"/>
              </a:rPr>
              <a:t>back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altLang="zh-CN" sz="2400" dirty="0">
                <a:latin typeface="+mn-lt"/>
              </a:rPr>
              <a:t>to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altLang="zh-CN" sz="2400" dirty="0">
                <a:sym typeface="Symbol" panose="05050102010706020507" pitchFamily="2" charset="2"/>
              </a:rPr>
              <a:t>1</a:t>
            </a:r>
            <a:r>
              <a:rPr lang="zh-CN" altLang="en-US" sz="2400" dirty="0">
                <a:sym typeface="Symbol" panose="05050102010706020507" pitchFamily="2" charset="2"/>
              </a:rPr>
              <a:t> </a:t>
            </a:r>
            <a:r>
              <a:rPr lang="en-US" altLang="zh-CN" sz="2400" dirty="0">
                <a:sym typeface="Symbol" panose="05050102010706020507" pitchFamily="2" charset="2"/>
              </a:rPr>
              <a:t>(line</a:t>
            </a:r>
            <a:r>
              <a:rPr lang="zh-CN" altLang="en-US" sz="2400" dirty="0">
                <a:sym typeface="Symbol" panose="05050102010706020507" pitchFamily="2" charset="2"/>
              </a:rPr>
              <a:t> </a:t>
            </a:r>
            <a:r>
              <a:rPr lang="en-US" altLang="zh-CN" sz="2400" dirty="0">
                <a:sym typeface="Symbol" panose="05050102010706020507" pitchFamily="2" charset="2"/>
              </a:rPr>
              <a:t>1)</a:t>
            </a:r>
            <a:endParaRPr lang="en-US" altLang="zh-CN" sz="2400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899381" y="4424214"/>
            <a:ext cx="4080128" cy="830997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line 8</a:t>
            </a:r>
            <a:r>
              <a:rPr lang="en-US" altLang="zh-CN" sz="2400" dirty="0">
                <a:latin typeface="+mn-lt"/>
              </a:rPr>
              <a:t>: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altLang="zh-CN" sz="2400" dirty="0">
                <a:latin typeface="+mn-lt"/>
              </a:rPr>
              <a:t>discard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altLang="zh-CN" sz="2400" dirty="0">
                <a:sym typeface="Symbol" panose="05050102010706020507" pitchFamily="2" charset="2"/>
              </a:rPr>
              <a:t>1,</a:t>
            </a:r>
            <a:r>
              <a:rPr lang="zh-CN" altLang="en-US" sz="2400" dirty="0">
                <a:sym typeface="Symbol" panose="05050102010706020507" pitchFamily="2" charset="2"/>
              </a:rPr>
              <a:t> </a:t>
            </a:r>
            <a:r>
              <a:rPr lang="en-US" altLang="zh-CN" sz="2400" dirty="0">
                <a:sym typeface="Symbol" panose="05050102010706020507" pitchFamily="2" charset="2"/>
              </a:rPr>
              <a:t>go</a:t>
            </a:r>
            <a:r>
              <a:rPr lang="zh-CN" altLang="en-US" sz="2400" dirty="0">
                <a:sym typeface="Symbol" panose="05050102010706020507" pitchFamily="2" charset="2"/>
              </a:rPr>
              <a:t> </a:t>
            </a:r>
            <a:r>
              <a:rPr lang="en-US" altLang="zh-CN" sz="2400" dirty="0">
                <a:sym typeface="Symbol" panose="05050102010706020507" pitchFamily="2" charset="2"/>
              </a:rPr>
              <a:t>back</a:t>
            </a:r>
            <a:r>
              <a:rPr lang="zh-CN" altLang="en-US" sz="2400" dirty="0">
                <a:sym typeface="Symbol" panose="05050102010706020507" pitchFamily="2" charset="2"/>
              </a:rPr>
              <a:t> </a:t>
            </a:r>
            <a:r>
              <a:rPr lang="en-US" altLang="zh-CN" sz="2400" dirty="0">
                <a:sym typeface="Symbol" panose="05050102010706020507" pitchFamily="2" charset="2"/>
              </a:rPr>
              <a:t>to</a:t>
            </a:r>
            <a:r>
              <a:rPr lang="zh-CN" altLang="en-US" sz="2400" dirty="0">
                <a:sym typeface="Symbol" panose="05050102010706020507" pitchFamily="2" charset="2"/>
              </a:rPr>
              <a:t> </a:t>
            </a:r>
            <a:r>
              <a:rPr lang="en-US" altLang="zh-CN" sz="2400" dirty="0">
                <a:sym typeface="Symbol" panose="05050102010706020507" pitchFamily="2" charset="2"/>
              </a:rPr>
              <a:t>0</a:t>
            </a:r>
            <a:endParaRPr lang="en-US" altLang="zh-CN" sz="2400" dirty="0"/>
          </a:p>
        </p:txBody>
      </p:sp>
      <p:sp>
        <p:nvSpPr>
          <p:cNvPr id="8" name="内容占位符 2"/>
          <p:cNvSpPr txBox="1"/>
          <p:nvPr/>
        </p:nvSpPr>
        <p:spPr>
          <a:xfrm>
            <a:off x="361243" y="5612345"/>
            <a:ext cx="8449733" cy="493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1" dirty="0"/>
              <a:t>How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should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symbol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tables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be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implemented?</a:t>
            </a:r>
            <a:endParaRPr kumimoji="1" lang="zh-CN" altLang="en-US" b="1"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899381" y="3834296"/>
            <a:ext cx="4080128" cy="461665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line 7</a:t>
            </a:r>
            <a:r>
              <a:rPr lang="en-US" altLang="zh-CN" sz="2400" dirty="0">
                <a:latin typeface="+mn-lt"/>
              </a:rPr>
              <a:t>: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altLang="zh-CN" sz="2400" dirty="0">
                <a:latin typeface="+mn-lt"/>
              </a:rPr>
              <a:t>look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altLang="zh-CN" sz="2400" dirty="0">
                <a:latin typeface="+mn-lt"/>
              </a:rPr>
              <a:t>up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altLang="zh-CN" sz="2400" dirty="0">
                <a:latin typeface="+mn-lt"/>
              </a:rPr>
              <a:t>b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altLang="zh-CN" sz="2400" dirty="0">
                <a:latin typeface="+mn-lt"/>
              </a:rPr>
              <a:t>in</a:t>
            </a:r>
            <a:r>
              <a:rPr lang="en-US" altLang="zh-CN" sz="2400" dirty="0">
                <a:sym typeface="Symbol" panose="05050102010706020507" pitchFamily="2" charset="2"/>
              </a:rPr>
              <a:t> 1</a:t>
            </a:r>
            <a:endParaRPr lang="en-US" altLang="zh-C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1B361A-C168-AAB2-4568-0C2BDA1C1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90" y="4270603"/>
            <a:ext cx="4754319" cy="335123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2400" dirty="0">
              <a:latin typeface="+mn-lt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7761B3E8-D04E-F3B2-17BB-7280AFADE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90" y="4547587"/>
            <a:ext cx="4754319" cy="335123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2400" dirty="0">
              <a:latin typeface="+mn-lt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5F864C01-B410-8000-D3AB-E3A20C419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90" y="4821347"/>
            <a:ext cx="4754319" cy="335123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24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/>
      <p:bldP spid="9" grpId="0" animBg="1"/>
      <p:bldP spid="7" grpId="0" animBg="1"/>
      <p:bldP spid="7" grpId="1" animBg="1"/>
      <p:bldP spid="10" grpId="0" animBg="1"/>
      <p:bldP spid="10" grpId="1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243" y="999066"/>
            <a:ext cx="8449733" cy="5108436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800" b="1" dirty="0">
                <a:solidFill>
                  <a:srgbClr val="0070C0"/>
                </a:solidFill>
              </a:rPr>
              <a:t>Functional</a:t>
            </a:r>
            <a:r>
              <a:rPr kumimoji="1" lang="zh-CN" altLang="en-US" sz="2800" b="1" dirty="0">
                <a:solidFill>
                  <a:srgbClr val="0070C0"/>
                </a:solidFill>
              </a:rPr>
              <a:t> </a:t>
            </a:r>
            <a:r>
              <a:rPr kumimoji="1" lang="en-US" altLang="zh-CN" sz="2800" b="1" dirty="0">
                <a:solidFill>
                  <a:srgbClr val="0070C0"/>
                </a:solidFill>
              </a:rPr>
              <a:t>Style</a:t>
            </a:r>
          </a:p>
          <a:p>
            <a:r>
              <a:rPr kumimoji="1" lang="en-US" altLang="zh-CN" dirty="0"/>
              <a:t>Keep</a:t>
            </a:r>
            <a:r>
              <a:rPr kumimoji="1" lang="zh-CN" altLang="en-US" dirty="0"/>
              <a:t> </a:t>
            </a:r>
            <a:r>
              <a:rPr lang="en-US" altLang="zh-CN" dirty="0">
                <a:sym typeface="Symbol" panose="05050102010706020507" pitchFamily="2" charset="2"/>
              </a:rPr>
              <a:t>1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as it is while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creating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2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and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3</a:t>
            </a:r>
          </a:p>
          <a:p>
            <a:r>
              <a:rPr lang="en-US" altLang="zh-CN" dirty="0">
                <a:sym typeface="Symbol" panose="05050102010706020507" pitchFamily="2" charset="2"/>
              </a:rPr>
              <a:t>Easy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to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restore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1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endParaRPr lang="en-US" altLang="zh-CN" dirty="0">
              <a:sym typeface="Symbol" panose="05050102010706020507" pitchFamily="2" charset="2"/>
            </a:endParaRP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sz="2800" b="1" dirty="0">
                <a:solidFill>
                  <a:srgbClr val="0070C0"/>
                </a:solidFill>
              </a:rPr>
              <a:t>Imperative</a:t>
            </a:r>
            <a:r>
              <a:rPr kumimoji="1" lang="zh-CN" altLang="en-US" sz="2800" b="1" dirty="0">
                <a:solidFill>
                  <a:srgbClr val="0070C0"/>
                </a:solidFill>
              </a:rPr>
              <a:t> </a:t>
            </a:r>
            <a:r>
              <a:rPr kumimoji="1" lang="en-US" altLang="zh-CN" sz="2800" b="1" dirty="0">
                <a:solidFill>
                  <a:srgbClr val="0070C0"/>
                </a:solidFill>
              </a:rPr>
              <a:t>Style</a:t>
            </a:r>
          </a:p>
          <a:p>
            <a:r>
              <a:rPr kumimoji="1" lang="en-US" altLang="zh-CN" dirty="0"/>
              <a:t>modify</a:t>
            </a:r>
            <a:r>
              <a:rPr kumimoji="1" lang="zh-CN" altLang="en-US" dirty="0"/>
              <a:t> </a:t>
            </a:r>
            <a:r>
              <a:rPr lang="en-US" altLang="zh-CN" dirty="0">
                <a:sym typeface="Symbol" panose="05050102010706020507" pitchFamily="2" charset="2"/>
              </a:rPr>
              <a:t>1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until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it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becomes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2</a:t>
            </a:r>
          </a:p>
          <a:p>
            <a:r>
              <a:rPr kumimoji="1" lang="en-US" altLang="zh-CN" dirty="0">
                <a:sym typeface="Symbol" panose="05050102010706020507" pitchFamily="2" charset="2"/>
              </a:rPr>
              <a:t>while</a:t>
            </a:r>
            <a:r>
              <a:rPr kumimoji="1"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2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exists,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we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cannot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look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things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up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in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1</a:t>
            </a:r>
          </a:p>
          <a:p>
            <a:r>
              <a:rPr kumimoji="1" lang="en-US" altLang="zh-CN" dirty="0">
                <a:sym typeface="Symbol" panose="05050102010706020507" pitchFamily="2" charset="2"/>
              </a:rPr>
              <a:t>when</a:t>
            </a:r>
            <a:r>
              <a:rPr kumimoji="1" lang="zh-CN" altLang="en-US" dirty="0">
                <a:sym typeface="Symbol" panose="05050102010706020507" pitchFamily="2" charset="2"/>
              </a:rPr>
              <a:t> </a:t>
            </a:r>
            <a:r>
              <a:rPr kumimoji="1" lang="en-US" altLang="zh-CN" dirty="0">
                <a:sym typeface="Symbol" panose="05050102010706020507" pitchFamily="2" charset="2"/>
              </a:rPr>
              <a:t>we</a:t>
            </a:r>
            <a:r>
              <a:rPr kumimoji="1" lang="zh-CN" altLang="en-US" dirty="0">
                <a:sym typeface="Symbol" panose="05050102010706020507" pitchFamily="2" charset="2"/>
              </a:rPr>
              <a:t> </a:t>
            </a:r>
            <a:r>
              <a:rPr kumimoji="1" lang="en-US" altLang="zh-CN" dirty="0">
                <a:sym typeface="Symbol" panose="05050102010706020507" pitchFamily="2" charset="2"/>
              </a:rPr>
              <a:t>are</a:t>
            </a:r>
            <a:r>
              <a:rPr kumimoji="1" lang="zh-CN" altLang="en-US" dirty="0">
                <a:sym typeface="Symbol" panose="05050102010706020507" pitchFamily="2" charset="2"/>
              </a:rPr>
              <a:t> </a:t>
            </a:r>
            <a:r>
              <a:rPr kumimoji="1" lang="en-US" altLang="zh-CN" dirty="0">
                <a:sym typeface="Symbol" panose="05050102010706020507" pitchFamily="2" charset="2"/>
              </a:rPr>
              <a:t>done</a:t>
            </a:r>
            <a:r>
              <a:rPr kumimoji="1" lang="zh-CN" altLang="en-US" dirty="0">
                <a:sym typeface="Symbol" panose="05050102010706020507" pitchFamily="2" charset="2"/>
              </a:rPr>
              <a:t> </a:t>
            </a:r>
            <a:r>
              <a:rPr kumimoji="1" lang="en-US" altLang="zh-CN" dirty="0">
                <a:sym typeface="Symbol" panose="05050102010706020507" pitchFamily="2" charset="2"/>
              </a:rPr>
              <a:t>with</a:t>
            </a:r>
            <a:r>
              <a:rPr kumimoji="1"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2,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we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can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undo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the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modification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to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get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1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back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again</a:t>
            </a:r>
          </a:p>
          <a:p>
            <a:pPr lvl="1"/>
            <a:r>
              <a:rPr kumimoji="1" lang="en-US" altLang="zh-CN" dirty="0">
                <a:sym typeface="Symbol" panose="05050102010706020507" pitchFamily="2" charset="2"/>
              </a:rPr>
              <a:t>how?</a:t>
            </a:r>
          </a:p>
          <a:p>
            <a:pPr lvl="1"/>
            <a:r>
              <a:rPr kumimoji="1" lang="en-US" altLang="zh-CN" dirty="0">
                <a:sym typeface="Symbol" panose="05050102010706020507" pitchFamily="2" charset="2"/>
              </a:rPr>
              <a:t>a</a:t>
            </a:r>
            <a:r>
              <a:rPr kumimoji="1" lang="zh-CN" altLang="en-US" dirty="0">
                <a:sym typeface="Symbol" panose="05050102010706020507" pitchFamily="2" charset="2"/>
              </a:rPr>
              <a:t> </a:t>
            </a:r>
            <a:r>
              <a:rPr kumimoji="1" lang="en-US" altLang="zh-CN" dirty="0">
                <a:sym typeface="Symbol" panose="05050102010706020507" pitchFamily="2" charset="2"/>
              </a:rPr>
              <a:t>single</a:t>
            </a:r>
            <a:r>
              <a:rPr kumimoji="1" lang="zh-CN" altLang="en-US" dirty="0">
                <a:sym typeface="Symbol" panose="05050102010706020507" pitchFamily="2" charset="2"/>
              </a:rPr>
              <a:t> </a:t>
            </a:r>
            <a:r>
              <a:rPr kumimoji="1" lang="en-US" altLang="zh-CN" dirty="0">
                <a:sym typeface="Symbol" panose="05050102010706020507" pitchFamily="2" charset="2"/>
              </a:rPr>
              <a:t>global</a:t>
            </a:r>
            <a:r>
              <a:rPr kumimoji="1" lang="zh-CN" altLang="en-US" dirty="0">
                <a:sym typeface="Symbol" panose="05050102010706020507" pitchFamily="2" charset="2"/>
              </a:rPr>
              <a:t> </a:t>
            </a:r>
            <a:r>
              <a:rPr kumimoji="1" lang="en-US" altLang="zh-CN" dirty="0">
                <a:sym typeface="Symbol" panose="05050102010706020507" pitchFamily="2" charset="2"/>
              </a:rPr>
              <a:t>environment</a:t>
            </a:r>
            <a:r>
              <a:rPr kumimoji="1"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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+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kumimoji="1" lang="en-US" altLang="zh-CN" dirty="0">
                <a:sym typeface="Symbol" panose="05050102010706020507" pitchFamily="2" charset="2"/>
              </a:rPr>
              <a:t>an</a:t>
            </a:r>
            <a:r>
              <a:rPr kumimoji="1" lang="zh-CN" altLang="en-US" dirty="0">
                <a:sym typeface="Symbol" panose="05050102010706020507" pitchFamily="2" charset="2"/>
              </a:rPr>
              <a:t> </a:t>
            </a:r>
            <a:r>
              <a:rPr kumimoji="1" lang="en-US" altLang="zh-CN" dirty="0">
                <a:sym typeface="Symbol" panose="05050102010706020507" pitchFamily="2" charset="2"/>
              </a:rPr>
              <a:t>undo</a:t>
            </a:r>
            <a:r>
              <a:rPr kumimoji="1" lang="zh-CN" altLang="en-US" dirty="0">
                <a:sym typeface="Symbol" panose="05050102010706020507" pitchFamily="2" charset="2"/>
              </a:rPr>
              <a:t> </a:t>
            </a:r>
            <a:r>
              <a:rPr kumimoji="1" lang="en-US" altLang="zh-CN" dirty="0">
                <a:sym typeface="Symbol" panose="05050102010706020507" pitchFamily="2" charset="2"/>
              </a:rPr>
              <a:t>stack</a:t>
            </a:r>
          </a:p>
          <a:p>
            <a:pPr marL="0" indent="0">
              <a:buNone/>
            </a:pPr>
            <a:endParaRPr kumimoji="1" lang="en-US" altLang="zh-CN" dirty="0">
              <a:sym typeface="Symbol" panose="05050102010706020507" pitchFamily="2" charset="2"/>
            </a:endParaRPr>
          </a:p>
          <a:p>
            <a:pPr marL="457200" lvl="1" indent="0" algn="ctr">
              <a:buNone/>
            </a:pPr>
            <a:endParaRPr kumimoji="1" lang="en-US" altLang="zh-CN" dirty="0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80621" y="6241862"/>
            <a:ext cx="8782757" cy="4924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00" b="1" dirty="0"/>
              <a:t>Either</a:t>
            </a:r>
            <a:r>
              <a:rPr lang="zh-CN" altLang="en-US" sz="2600" b="1" dirty="0"/>
              <a:t> </a:t>
            </a:r>
            <a:r>
              <a:rPr lang="en-US" altLang="zh-CN" sz="2600" b="1" dirty="0"/>
              <a:t>style</a:t>
            </a:r>
            <a:r>
              <a:rPr lang="zh-CN" altLang="en-US" sz="2600" b="1" dirty="0"/>
              <a:t> </a:t>
            </a:r>
            <a:r>
              <a:rPr lang="en-US" altLang="zh-CN" sz="2600" b="1" dirty="0"/>
              <a:t>can</a:t>
            </a:r>
            <a:r>
              <a:rPr lang="zh-CN" altLang="en-US" sz="2600" b="1" dirty="0"/>
              <a:t> </a:t>
            </a:r>
            <a:r>
              <a:rPr lang="en-US" altLang="zh-CN" sz="2600" b="1" dirty="0"/>
              <a:t>be</a:t>
            </a:r>
            <a:r>
              <a:rPr lang="zh-CN" altLang="en-US" sz="2600" b="1" dirty="0"/>
              <a:t> </a:t>
            </a:r>
            <a:r>
              <a:rPr lang="en-US" altLang="zh-CN" sz="2600" b="1" dirty="0"/>
              <a:t>used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Multiple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245" y="886178"/>
            <a:ext cx="8449733" cy="5177896"/>
          </a:xfrm>
        </p:spPr>
        <p:txBody>
          <a:bodyPr/>
          <a:lstStyle/>
          <a:p>
            <a:r>
              <a:rPr kumimoji="1" lang="en-GB" altLang="zh-CN" dirty="0"/>
              <a:t>In some languages there can be several active environments at once: Each module, or class, or record in the program has a </a:t>
            </a:r>
            <a:r>
              <a:rPr kumimoji="1" lang="en-GB" altLang="zh-CN" dirty="0">
                <a:solidFill>
                  <a:srgbClr val="0070C0"/>
                </a:solidFill>
              </a:rPr>
              <a:t>symbol table </a:t>
            </a:r>
            <a:r>
              <a:rPr lang="en-US" altLang="zh-CN" dirty="0">
                <a:solidFill>
                  <a:srgbClr val="0070C0"/>
                </a:solidFill>
                <a:sym typeface="Symbol" panose="05050102010706020507" pitchFamily="2" charset="2"/>
              </a:rPr>
              <a:t></a:t>
            </a:r>
            <a:r>
              <a:rPr kumimoji="1" lang="en-GB" altLang="zh-CN" dirty="0">
                <a:solidFill>
                  <a:srgbClr val="0070C0"/>
                </a:solidFill>
              </a:rPr>
              <a:t> </a:t>
            </a:r>
            <a:r>
              <a:rPr kumimoji="1" lang="en-GB" altLang="zh-CN" dirty="0"/>
              <a:t>of its own.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89262" y="2063397"/>
            <a:ext cx="4176713" cy="4146550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/>
              <a:t>package M;  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/>
              <a:t>class E {  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/>
              <a:t>     static int a = 5;  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/>
              <a:t>} 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/>
              <a:t>class N {  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/>
              <a:t>     static int b = 10;  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/>
              <a:t>     static int a = </a:t>
            </a:r>
            <a:r>
              <a:rPr kumimoji="0" lang="en-US" altLang="zh-CN" sz="2400" b="1" dirty="0" err="1"/>
              <a:t>E.a</a:t>
            </a:r>
            <a:r>
              <a:rPr kumimoji="0" lang="en-US" altLang="zh-CN" sz="2400" b="1" dirty="0"/>
              <a:t> + b; 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/>
              <a:t> }  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/>
              <a:t>class D {  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/>
              <a:t>     static int d = </a:t>
            </a:r>
            <a:r>
              <a:rPr kumimoji="0" lang="en-US" altLang="zh-CN" sz="2400" b="1" dirty="0" err="1"/>
              <a:t>E.a</a:t>
            </a:r>
            <a:r>
              <a:rPr kumimoji="0" lang="en-US" altLang="zh-CN" sz="2400" b="1" dirty="0"/>
              <a:t> + </a:t>
            </a:r>
            <a:r>
              <a:rPr kumimoji="0" lang="en-US" altLang="zh-CN" sz="2400" b="1" dirty="0" err="1"/>
              <a:t>N.a</a:t>
            </a:r>
            <a:r>
              <a:rPr kumimoji="0" lang="en-US" altLang="zh-CN" sz="2400" b="1" dirty="0"/>
              <a:t>; 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/>
              <a:t> } </a:t>
            </a: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4778027" y="2016461"/>
            <a:ext cx="3505200" cy="2669642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200" b="1" dirty="0">
                <a:sym typeface="Symbol" panose="05050102010706020507" pitchFamily="2" charset="2"/>
              </a:rPr>
              <a:t>1 = { a </a:t>
            </a:r>
            <a:r>
              <a:rPr lang="en-US" altLang="zh-CN" sz="2200" b="1" dirty="0"/>
              <a:t>↦</a:t>
            </a:r>
            <a:r>
              <a:rPr lang="en-US" altLang="zh-CN" sz="2200" b="1" i="1" dirty="0"/>
              <a:t> int</a:t>
            </a:r>
            <a:r>
              <a:rPr lang="en-US" altLang="zh-CN" sz="2200" b="1" dirty="0"/>
              <a:t>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200" b="1" dirty="0">
                <a:sym typeface="Symbol" panose="05050102010706020507" pitchFamily="2" charset="2"/>
              </a:rPr>
              <a:t>2 = { </a:t>
            </a:r>
            <a:r>
              <a:rPr lang="en-US" altLang="zh-CN" sz="2200" b="1" i="1" dirty="0">
                <a:sym typeface="Symbol" panose="05050102010706020507" pitchFamily="2" charset="2"/>
              </a:rPr>
              <a:t>E </a:t>
            </a:r>
            <a:r>
              <a:rPr lang="en-US" altLang="zh-CN" sz="2200" b="1" dirty="0"/>
              <a:t>↦ </a:t>
            </a:r>
            <a:r>
              <a:rPr lang="en-US" altLang="zh-CN" sz="2200" b="1" dirty="0">
                <a:sym typeface="Symbol" panose="05050102010706020507" pitchFamily="2" charset="2"/>
              </a:rPr>
              <a:t>1</a:t>
            </a:r>
            <a:r>
              <a:rPr lang="en-US" altLang="zh-CN" sz="2200" b="1" dirty="0"/>
              <a:t>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200" b="1" dirty="0">
                <a:sym typeface="Symbol" panose="05050102010706020507" pitchFamily="2" charset="2"/>
              </a:rPr>
              <a:t>3= {b </a:t>
            </a:r>
            <a:r>
              <a:rPr lang="en-US" altLang="zh-CN" sz="2200" b="1" dirty="0"/>
              <a:t>↦ </a:t>
            </a:r>
            <a:r>
              <a:rPr lang="en-US" altLang="zh-CN" sz="2200" b="1" i="1" dirty="0"/>
              <a:t>int </a:t>
            </a:r>
            <a:r>
              <a:rPr lang="en-US" altLang="zh-CN" sz="2200" b="1" dirty="0"/>
              <a:t>, </a:t>
            </a:r>
            <a:r>
              <a:rPr lang="en-US" altLang="zh-CN" sz="2200" b="1" dirty="0">
                <a:sym typeface="Symbol" panose="05050102010706020507" pitchFamily="2" charset="2"/>
              </a:rPr>
              <a:t>a </a:t>
            </a:r>
            <a:r>
              <a:rPr lang="en-US" altLang="zh-CN" sz="2200" b="1" dirty="0"/>
              <a:t>↦ </a:t>
            </a:r>
            <a:r>
              <a:rPr lang="en-US" altLang="zh-CN" sz="2200" b="1" i="1" dirty="0"/>
              <a:t>int </a:t>
            </a:r>
            <a:r>
              <a:rPr lang="en-US" altLang="zh-CN" sz="2200" b="1" dirty="0"/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200" b="1" dirty="0">
                <a:sym typeface="Symbol" panose="05050102010706020507" pitchFamily="2" charset="2"/>
              </a:rPr>
              <a:t>4= { </a:t>
            </a:r>
            <a:r>
              <a:rPr lang="en-US" altLang="zh-CN" sz="2200" b="1" i="1" dirty="0">
                <a:sym typeface="Symbol" panose="05050102010706020507" pitchFamily="2" charset="2"/>
              </a:rPr>
              <a:t>N</a:t>
            </a:r>
            <a:r>
              <a:rPr lang="en-US" altLang="zh-CN" sz="2200" b="1" dirty="0">
                <a:sym typeface="Symbol" panose="05050102010706020507" pitchFamily="2" charset="2"/>
              </a:rPr>
              <a:t> </a:t>
            </a:r>
            <a:r>
              <a:rPr lang="en-US" altLang="zh-CN" sz="2200" b="1" dirty="0"/>
              <a:t>↦ </a:t>
            </a:r>
            <a:r>
              <a:rPr lang="en-US" altLang="zh-CN" sz="2200" b="1" dirty="0">
                <a:sym typeface="Symbol" panose="05050102010706020507" pitchFamily="2" charset="2"/>
              </a:rPr>
              <a:t>3</a:t>
            </a:r>
            <a:r>
              <a:rPr lang="en-US" altLang="zh-CN" sz="2200" b="1" dirty="0"/>
              <a:t>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200" b="1" dirty="0">
                <a:sym typeface="Symbol" panose="05050102010706020507" pitchFamily="2" charset="2"/>
              </a:rPr>
              <a:t>5= { d </a:t>
            </a:r>
            <a:r>
              <a:rPr lang="en-US" altLang="zh-CN" sz="2200" b="1" dirty="0"/>
              <a:t>↦</a:t>
            </a:r>
            <a:r>
              <a:rPr lang="en-US" altLang="zh-CN" sz="2200" b="1" i="1" dirty="0"/>
              <a:t> </a:t>
            </a:r>
            <a:r>
              <a:rPr lang="en-US" altLang="zh-CN" sz="2200" b="1" i="1" dirty="0">
                <a:sym typeface="Symbol" panose="05050102010706020507" pitchFamily="2" charset="2"/>
              </a:rPr>
              <a:t>int</a:t>
            </a:r>
            <a:r>
              <a:rPr lang="en-US" altLang="zh-CN" sz="2200" b="1" i="1" dirty="0"/>
              <a:t> </a:t>
            </a:r>
            <a:r>
              <a:rPr lang="en-US" altLang="zh-CN" sz="2200" b="1" dirty="0"/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200" b="1" dirty="0">
                <a:sym typeface="Symbol" panose="05050102010706020507" pitchFamily="2" charset="2"/>
              </a:rPr>
              <a:t>6= { </a:t>
            </a:r>
            <a:r>
              <a:rPr lang="en-US" altLang="zh-CN" sz="2200" b="1" i="1" dirty="0">
                <a:sym typeface="Symbol" panose="05050102010706020507" pitchFamily="2" charset="2"/>
              </a:rPr>
              <a:t>D</a:t>
            </a:r>
            <a:r>
              <a:rPr lang="en-US" altLang="zh-CN" sz="2200" b="1" dirty="0">
                <a:sym typeface="Symbol" panose="05050102010706020507" pitchFamily="2" charset="2"/>
              </a:rPr>
              <a:t> </a:t>
            </a:r>
            <a:r>
              <a:rPr lang="en-US" altLang="zh-CN" sz="2200" b="1" dirty="0"/>
              <a:t>↦ </a:t>
            </a:r>
            <a:r>
              <a:rPr lang="en-US" altLang="zh-CN" sz="2200" b="1" dirty="0">
                <a:sym typeface="Symbol" panose="05050102010706020507" pitchFamily="2" charset="2"/>
              </a:rPr>
              <a:t>5</a:t>
            </a:r>
            <a:r>
              <a:rPr lang="en-US" altLang="zh-CN" sz="2200" b="1" dirty="0"/>
              <a:t>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200" b="1" dirty="0">
                <a:sym typeface="Symbol" panose="05050102010706020507" pitchFamily="2" charset="2"/>
              </a:rPr>
              <a:t>7 = 2 +</a:t>
            </a:r>
            <a:r>
              <a:rPr lang="zh-CN" altLang="en-US" sz="2200" b="1" dirty="0">
                <a:sym typeface="Symbol" panose="05050102010706020507" pitchFamily="2" charset="2"/>
              </a:rPr>
              <a:t> </a:t>
            </a:r>
            <a:r>
              <a:rPr lang="en-US" altLang="zh-CN" sz="2200" b="1" dirty="0">
                <a:sym typeface="Symbol" panose="05050102010706020507" pitchFamily="2" charset="2"/>
              </a:rPr>
              <a:t>4</a:t>
            </a:r>
            <a:r>
              <a:rPr lang="zh-CN" altLang="en-US" sz="2200" b="1" dirty="0">
                <a:sym typeface="Symbol" panose="05050102010706020507" pitchFamily="2" charset="2"/>
              </a:rPr>
              <a:t> </a:t>
            </a:r>
            <a:r>
              <a:rPr lang="en-US" altLang="zh-CN" sz="2200" b="1" dirty="0">
                <a:sym typeface="Symbol" panose="05050102010706020507" pitchFamily="2" charset="2"/>
              </a:rPr>
              <a:t>+ 6</a:t>
            </a:r>
            <a:endParaRPr lang="en-US" altLang="zh-CN" sz="2200" b="1" dirty="0"/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1662149" y="6210975"/>
            <a:ext cx="977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 dirty="0">
                <a:solidFill>
                  <a:srgbClr val="0000CC"/>
                </a:solidFill>
              </a:rPr>
              <a:t>Java</a:t>
            </a:r>
          </a:p>
        </p:txBody>
      </p:sp>
      <p:sp>
        <p:nvSpPr>
          <p:cNvPr id="7" name="内容占位符 2"/>
          <p:cNvSpPr txBox="1"/>
          <p:nvPr/>
        </p:nvSpPr>
        <p:spPr>
          <a:xfrm>
            <a:off x="4503470" y="4847460"/>
            <a:ext cx="4279287" cy="1838240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altLang="zh-CN" dirty="0"/>
              <a:t>In Java, forward reference is allowed.</a:t>
            </a:r>
            <a:r>
              <a:rPr lang="zh-CN" altLang="en-US" dirty="0"/>
              <a:t> </a:t>
            </a:r>
            <a:r>
              <a:rPr lang="en-US" altLang="zh-CN" dirty="0"/>
              <a:t>So </a:t>
            </a:r>
            <a:r>
              <a:rPr lang="en-US" altLang="zh-CN" i="1" dirty="0"/>
              <a:t>E</a:t>
            </a:r>
            <a:r>
              <a:rPr lang="en-US" altLang="zh-CN" dirty="0"/>
              <a:t>, </a:t>
            </a:r>
            <a:r>
              <a:rPr lang="en-US" altLang="zh-CN" i="1" dirty="0"/>
              <a:t>N</a:t>
            </a:r>
            <a:r>
              <a:rPr lang="en-US" altLang="zh-CN" dirty="0"/>
              <a:t>, and </a:t>
            </a:r>
            <a:r>
              <a:rPr lang="en-US" altLang="zh-CN" i="1" dirty="0"/>
              <a:t>D</a:t>
            </a:r>
            <a:r>
              <a:rPr lang="en-US" altLang="zh-CN" dirty="0"/>
              <a:t> are all compiled in the environment </a:t>
            </a:r>
            <a:r>
              <a:rPr lang="en-US" altLang="zh-CN" dirty="0">
                <a:sym typeface="Symbol" panose="05050102010706020507" pitchFamily="2" charset="2"/>
              </a:rPr>
              <a:t></a:t>
            </a:r>
            <a:r>
              <a:rPr kumimoji="1" lang="en-US" altLang="zh-CN" dirty="0">
                <a:sym typeface="Symbol" panose="05050102010706020507" pitchFamily="2" charset="2"/>
              </a:rPr>
              <a:t>7.</a:t>
            </a:r>
            <a:r>
              <a:rPr kumimoji="1"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/>
              <a:t>The result of the analysis is </a:t>
            </a:r>
            <a:r>
              <a:rPr lang="en-US" altLang="zh-CN" b="1" dirty="0"/>
              <a:t>{</a:t>
            </a:r>
            <a:r>
              <a:rPr lang="en-US" altLang="zh-CN" b="1" i="1" dirty="0"/>
              <a:t>M</a:t>
            </a:r>
            <a:r>
              <a:rPr lang="en-US" altLang="zh-CN" b="1" dirty="0"/>
              <a:t> ↦ </a:t>
            </a:r>
            <a:r>
              <a:rPr lang="en-US" altLang="zh-CN" b="1" dirty="0">
                <a:sym typeface="Symbol" panose="05050102010706020507" pitchFamily="2" charset="2"/>
              </a:rPr>
              <a:t></a:t>
            </a:r>
            <a:r>
              <a:rPr lang="en-US" altLang="zh-CN" b="1" dirty="0"/>
              <a:t>7}</a:t>
            </a:r>
            <a:r>
              <a:rPr lang="en-US" altLang="zh-CN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Multiple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endParaRPr kumimoji="1"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28600" y="1314447"/>
            <a:ext cx="3886200" cy="4724400"/>
          </a:xfrm>
          <a:prstGeom prst="rect">
            <a:avLst/>
          </a:prstGeom>
          <a:ln w="38100">
            <a:solidFill>
              <a:srgbClr val="0000CC"/>
            </a:solidFill>
            <a:miter lim="800000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/>
              <a:t>structure M = struct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/>
              <a:t>   structure E = struct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/>
              <a:t>      </a:t>
            </a:r>
            <a:r>
              <a:rPr lang="en-US" altLang="zh-CN" sz="2800" b="1" dirty="0" err="1"/>
              <a:t>val</a:t>
            </a:r>
            <a:r>
              <a:rPr lang="en-US" altLang="zh-CN" sz="2800" b="1" dirty="0"/>
              <a:t> a = 5;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/>
              <a:t>   end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/>
              <a:t>   structure N = struct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/>
              <a:t>      </a:t>
            </a:r>
            <a:r>
              <a:rPr lang="en-US" altLang="zh-CN" sz="2800" b="1" dirty="0" err="1"/>
              <a:t>val</a:t>
            </a:r>
            <a:r>
              <a:rPr lang="en-US" altLang="zh-CN" sz="2800" b="1" dirty="0"/>
              <a:t> b = 10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/>
              <a:t>      </a:t>
            </a:r>
            <a:r>
              <a:rPr lang="en-US" altLang="zh-CN" sz="2800" b="1" dirty="0" err="1"/>
              <a:t>val</a:t>
            </a:r>
            <a:r>
              <a:rPr lang="en-US" altLang="zh-CN" sz="2800" b="1" dirty="0"/>
              <a:t> a = </a:t>
            </a:r>
            <a:r>
              <a:rPr lang="en-US" altLang="zh-CN" sz="2800" b="1" dirty="0" err="1"/>
              <a:t>E.a</a:t>
            </a:r>
            <a:r>
              <a:rPr lang="en-US" altLang="zh-CN" sz="2800" b="1" dirty="0"/>
              <a:t> + b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/>
              <a:t>   end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/>
              <a:t>   structure D = struct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/>
              <a:t>      </a:t>
            </a:r>
            <a:r>
              <a:rPr lang="en-US" altLang="zh-CN" sz="2800" b="1" dirty="0" err="1"/>
              <a:t>val</a:t>
            </a:r>
            <a:r>
              <a:rPr lang="en-US" altLang="zh-CN" sz="2800" b="1" dirty="0"/>
              <a:t> d = </a:t>
            </a:r>
            <a:r>
              <a:rPr lang="en-US" altLang="zh-CN" sz="2800" b="1" dirty="0" err="1"/>
              <a:t>E.a</a:t>
            </a:r>
            <a:r>
              <a:rPr lang="en-US" altLang="zh-CN" sz="2800" b="1" dirty="0"/>
              <a:t> + </a:t>
            </a:r>
            <a:r>
              <a:rPr lang="en-US" altLang="zh-CN" sz="2800" b="1" dirty="0" err="1"/>
              <a:t>N.a</a:t>
            </a:r>
            <a:r>
              <a:rPr lang="en-US" altLang="zh-CN" sz="2800" b="1" dirty="0"/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/>
              <a:t>   end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/>
              <a:t>end 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822450" y="6051505"/>
            <a:ext cx="698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CC"/>
                </a:solidFill>
              </a:rPr>
              <a:t>ML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4292424" y="4230993"/>
            <a:ext cx="4622976" cy="2080068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altLang="zh-CN" i="1" dirty="0"/>
              <a:t>N</a:t>
            </a:r>
            <a:r>
              <a:rPr lang="en-US" altLang="zh-CN" dirty="0"/>
              <a:t> is compiled using environment </a:t>
            </a:r>
            <a:r>
              <a:rPr lang="en-US" altLang="zh-CN" dirty="0">
                <a:sym typeface="Symbol" panose="05050102010706020507" pitchFamily="2" charset="2"/>
              </a:rPr>
              <a:t></a:t>
            </a:r>
            <a:r>
              <a:rPr lang="en-US" altLang="zh-CN" dirty="0"/>
              <a:t>0 + </a:t>
            </a:r>
            <a:r>
              <a:rPr lang="en-US" altLang="zh-CN" dirty="0">
                <a:sym typeface="Symbol" panose="05050102010706020507" pitchFamily="2" charset="2"/>
              </a:rPr>
              <a:t></a:t>
            </a:r>
            <a:r>
              <a:rPr lang="en-US" altLang="zh-CN" dirty="0"/>
              <a:t>2. </a:t>
            </a:r>
            <a:r>
              <a:rPr lang="en-US" altLang="zh-CN" i="1" dirty="0"/>
              <a:t>D</a:t>
            </a:r>
            <a:r>
              <a:rPr lang="en-US" altLang="zh-CN" dirty="0"/>
              <a:t> is compiled using </a:t>
            </a:r>
            <a:r>
              <a:rPr lang="en-US" altLang="zh-CN" dirty="0">
                <a:sym typeface="Symbol" panose="05050102010706020507" pitchFamily="2" charset="2"/>
              </a:rPr>
              <a:t></a:t>
            </a:r>
            <a:r>
              <a:rPr lang="en-US" altLang="zh-CN" dirty="0"/>
              <a:t>0 + </a:t>
            </a:r>
            <a:r>
              <a:rPr lang="en-US" altLang="zh-CN" dirty="0">
                <a:sym typeface="Symbol" panose="05050102010706020507" pitchFamily="2" charset="2"/>
              </a:rPr>
              <a:t></a:t>
            </a:r>
            <a:r>
              <a:rPr lang="en-US" altLang="zh-CN" dirty="0"/>
              <a:t>2 + </a:t>
            </a:r>
            <a:r>
              <a:rPr lang="en-US" altLang="zh-CN" dirty="0">
                <a:sym typeface="Symbol" panose="05050102010706020507" pitchFamily="2" charset="2"/>
              </a:rPr>
              <a:t></a:t>
            </a:r>
            <a:r>
              <a:rPr lang="en-US" altLang="zh-CN" dirty="0"/>
              <a:t>4.  </a:t>
            </a:r>
          </a:p>
          <a:p>
            <a:pPr marL="0" indent="0" eaLnBrk="1" hangingPunct="1">
              <a:buNone/>
            </a:pPr>
            <a:r>
              <a:rPr lang="en-US" altLang="zh-CN" dirty="0"/>
              <a:t>The result of the analysis is</a:t>
            </a:r>
            <a:r>
              <a:rPr lang="zh-CN" altLang="en-US" dirty="0"/>
              <a:t> </a:t>
            </a:r>
            <a:r>
              <a:rPr lang="en-US" altLang="zh-CN" dirty="0"/>
              <a:t>also </a:t>
            </a:r>
            <a:r>
              <a:rPr lang="en-US" altLang="zh-CN" b="1" dirty="0"/>
              <a:t>{</a:t>
            </a:r>
            <a:r>
              <a:rPr lang="en-US" altLang="zh-CN" b="1" i="1" dirty="0"/>
              <a:t>M</a:t>
            </a:r>
            <a:r>
              <a:rPr lang="en-US" altLang="zh-CN" b="1" dirty="0"/>
              <a:t> ↦ </a:t>
            </a:r>
            <a:r>
              <a:rPr lang="en-US" altLang="zh-CN" b="1" dirty="0">
                <a:sym typeface="Symbol" panose="05050102010706020507" pitchFamily="2" charset="2"/>
              </a:rPr>
              <a:t></a:t>
            </a:r>
            <a:r>
              <a:rPr lang="en-US" altLang="zh-CN" b="1" dirty="0"/>
              <a:t>7}</a:t>
            </a:r>
            <a:r>
              <a:rPr lang="en-US" altLang="zh-CN" dirty="0"/>
              <a:t>.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029202" y="1314447"/>
            <a:ext cx="3505200" cy="2669642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200" b="1" dirty="0">
                <a:sym typeface="Symbol" panose="05050102010706020507" pitchFamily="2" charset="2"/>
              </a:rPr>
              <a:t>1 = { a </a:t>
            </a:r>
            <a:r>
              <a:rPr lang="en-US" altLang="zh-CN" sz="2200" b="1" dirty="0"/>
              <a:t>↦</a:t>
            </a:r>
            <a:r>
              <a:rPr lang="en-US" altLang="zh-CN" sz="2200" b="1" i="1" dirty="0"/>
              <a:t> int</a:t>
            </a:r>
            <a:r>
              <a:rPr lang="en-US" altLang="zh-CN" sz="2200" b="1" dirty="0"/>
              <a:t>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200" b="1" dirty="0">
                <a:sym typeface="Symbol" panose="05050102010706020507" pitchFamily="2" charset="2"/>
              </a:rPr>
              <a:t>2 = { </a:t>
            </a:r>
            <a:r>
              <a:rPr lang="en-US" altLang="zh-CN" sz="2200" b="1" i="1" dirty="0">
                <a:sym typeface="Symbol" panose="05050102010706020507" pitchFamily="2" charset="2"/>
              </a:rPr>
              <a:t>E </a:t>
            </a:r>
            <a:r>
              <a:rPr lang="en-US" altLang="zh-CN" sz="2200" b="1" dirty="0"/>
              <a:t>↦ </a:t>
            </a:r>
            <a:r>
              <a:rPr lang="en-US" altLang="zh-CN" sz="2200" b="1" dirty="0">
                <a:sym typeface="Symbol" panose="05050102010706020507" pitchFamily="2" charset="2"/>
              </a:rPr>
              <a:t>1</a:t>
            </a:r>
            <a:r>
              <a:rPr lang="en-US" altLang="zh-CN" sz="2200" b="1" dirty="0"/>
              <a:t>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200" b="1" dirty="0">
                <a:sym typeface="Symbol" panose="05050102010706020507" pitchFamily="2" charset="2"/>
              </a:rPr>
              <a:t>3= {b </a:t>
            </a:r>
            <a:r>
              <a:rPr lang="en-US" altLang="zh-CN" sz="2200" b="1" dirty="0"/>
              <a:t>↦ </a:t>
            </a:r>
            <a:r>
              <a:rPr lang="en-US" altLang="zh-CN" sz="2200" b="1" i="1" dirty="0"/>
              <a:t>int </a:t>
            </a:r>
            <a:r>
              <a:rPr lang="en-US" altLang="zh-CN" sz="2200" b="1" dirty="0"/>
              <a:t>, </a:t>
            </a:r>
            <a:r>
              <a:rPr lang="en-US" altLang="zh-CN" sz="2200" b="1" dirty="0">
                <a:sym typeface="Symbol" panose="05050102010706020507" pitchFamily="2" charset="2"/>
              </a:rPr>
              <a:t>a </a:t>
            </a:r>
            <a:r>
              <a:rPr lang="en-US" altLang="zh-CN" sz="2200" b="1" dirty="0"/>
              <a:t>↦ </a:t>
            </a:r>
            <a:r>
              <a:rPr lang="en-US" altLang="zh-CN" sz="2200" b="1" i="1" dirty="0"/>
              <a:t>int </a:t>
            </a:r>
            <a:r>
              <a:rPr lang="en-US" altLang="zh-CN" sz="2200" b="1" dirty="0"/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200" b="1" dirty="0">
                <a:sym typeface="Symbol" panose="05050102010706020507" pitchFamily="2" charset="2"/>
              </a:rPr>
              <a:t>4= { </a:t>
            </a:r>
            <a:r>
              <a:rPr lang="en-US" altLang="zh-CN" sz="2200" b="1" i="1" dirty="0">
                <a:sym typeface="Symbol" panose="05050102010706020507" pitchFamily="2" charset="2"/>
              </a:rPr>
              <a:t>N</a:t>
            </a:r>
            <a:r>
              <a:rPr lang="en-US" altLang="zh-CN" sz="2200" b="1" dirty="0">
                <a:sym typeface="Symbol" panose="05050102010706020507" pitchFamily="2" charset="2"/>
              </a:rPr>
              <a:t> </a:t>
            </a:r>
            <a:r>
              <a:rPr lang="en-US" altLang="zh-CN" sz="2200" b="1" dirty="0"/>
              <a:t>↦ </a:t>
            </a:r>
            <a:r>
              <a:rPr lang="en-US" altLang="zh-CN" sz="2200" b="1" dirty="0">
                <a:sym typeface="Symbol" panose="05050102010706020507" pitchFamily="2" charset="2"/>
              </a:rPr>
              <a:t>3</a:t>
            </a:r>
            <a:r>
              <a:rPr lang="en-US" altLang="zh-CN" sz="2200" b="1" dirty="0"/>
              <a:t>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200" b="1" dirty="0">
                <a:sym typeface="Symbol" panose="05050102010706020507" pitchFamily="2" charset="2"/>
              </a:rPr>
              <a:t>5= { d </a:t>
            </a:r>
            <a:r>
              <a:rPr lang="en-US" altLang="zh-CN" sz="2200" b="1" dirty="0"/>
              <a:t>↦</a:t>
            </a:r>
            <a:r>
              <a:rPr lang="en-US" altLang="zh-CN" sz="2200" b="1" i="1" dirty="0"/>
              <a:t> </a:t>
            </a:r>
            <a:r>
              <a:rPr lang="en-US" altLang="zh-CN" sz="2200" b="1" i="1" dirty="0">
                <a:sym typeface="Symbol" panose="05050102010706020507" pitchFamily="2" charset="2"/>
              </a:rPr>
              <a:t>int</a:t>
            </a:r>
            <a:r>
              <a:rPr lang="en-US" altLang="zh-CN" sz="2200" b="1" i="1" dirty="0"/>
              <a:t> </a:t>
            </a:r>
            <a:r>
              <a:rPr lang="en-US" altLang="zh-CN" sz="2200" b="1" dirty="0"/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200" b="1" dirty="0">
                <a:sym typeface="Symbol" panose="05050102010706020507" pitchFamily="2" charset="2"/>
              </a:rPr>
              <a:t>6= { </a:t>
            </a:r>
            <a:r>
              <a:rPr lang="en-US" altLang="zh-CN" sz="2200" b="1" i="1" dirty="0">
                <a:sym typeface="Symbol" panose="05050102010706020507" pitchFamily="2" charset="2"/>
              </a:rPr>
              <a:t>D</a:t>
            </a:r>
            <a:r>
              <a:rPr lang="en-US" altLang="zh-CN" sz="2200" b="1" dirty="0">
                <a:sym typeface="Symbol" panose="05050102010706020507" pitchFamily="2" charset="2"/>
              </a:rPr>
              <a:t> </a:t>
            </a:r>
            <a:r>
              <a:rPr lang="en-US" altLang="zh-CN" sz="2200" b="1" dirty="0"/>
              <a:t>↦ </a:t>
            </a:r>
            <a:r>
              <a:rPr lang="en-US" altLang="zh-CN" sz="2200" b="1" dirty="0">
                <a:sym typeface="Symbol" panose="05050102010706020507" pitchFamily="2" charset="2"/>
              </a:rPr>
              <a:t>5</a:t>
            </a:r>
            <a:r>
              <a:rPr lang="en-US" altLang="zh-CN" sz="2200" b="1" dirty="0"/>
              <a:t>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200" b="1" dirty="0">
                <a:sym typeface="Symbol" panose="05050102010706020507" pitchFamily="2" charset="2"/>
              </a:rPr>
              <a:t>7 = 2 +4+ 6</a:t>
            </a:r>
            <a:endParaRPr lang="en-US" altLang="zh-CN" sz="2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Efficient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Imperative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800" b="1" dirty="0"/>
              <a:t>Imperative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Style</a:t>
            </a:r>
            <a:endParaRPr kumimoji="1" lang="en-GB" altLang="zh-CN" sz="2800" b="1" dirty="0"/>
          </a:p>
          <a:p>
            <a:r>
              <a:rPr kumimoji="1" lang="en-GB" altLang="zh-CN" dirty="0"/>
              <a:t>Because a large program may contain thousands of distinct identiﬁers, symbol tables must permit </a:t>
            </a:r>
            <a:r>
              <a:rPr kumimoji="1" lang="en-GB" altLang="zh-CN" dirty="0">
                <a:solidFill>
                  <a:srgbClr val="0070C0"/>
                </a:solidFill>
              </a:rPr>
              <a:t>efﬁcient lookup</a:t>
            </a:r>
            <a:r>
              <a:rPr kumimoji="1" lang="en-GB" altLang="zh-CN" dirty="0"/>
              <a:t>.</a:t>
            </a:r>
          </a:p>
          <a:p>
            <a:r>
              <a:rPr kumimoji="1" lang="en-US" altLang="zh-CN" b="1" dirty="0"/>
              <a:t>How?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Hash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Table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  <a:sym typeface="Symbol" panose="05050102010706020507" pitchFamily="2" charset="2"/>
              </a:rPr>
              <a:t>’</a:t>
            </a:r>
            <a:r>
              <a:rPr lang="zh-CN" altLang="en-US" dirty="0">
                <a:solidFill>
                  <a:srgbClr val="0070C0"/>
                </a:solidFill>
                <a:sym typeface="Symbol" panose="05050102010706020507" pitchFamily="2" charset="2"/>
              </a:rPr>
              <a:t> </a:t>
            </a:r>
            <a:r>
              <a:rPr lang="en-US" altLang="zh-CN" dirty="0">
                <a:solidFill>
                  <a:srgbClr val="0070C0"/>
                </a:solidFill>
                <a:sym typeface="Symbol" panose="05050102010706020507" pitchFamily="2" charset="2"/>
              </a:rPr>
              <a:t>=</a:t>
            </a:r>
            <a:r>
              <a:rPr lang="zh-CN" altLang="en-US" dirty="0">
                <a:solidFill>
                  <a:srgbClr val="0070C0"/>
                </a:solidFill>
                <a:sym typeface="Symbol" panose="05050102010706020507" pitchFamily="2" charset="2"/>
              </a:rPr>
              <a:t> </a:t>
            </a:r>
            <a:r>
              <a:rPr lang="en-US" altLang="zh-CN" dirty="0">
                <a:solidFill>
                  <a:srgbClr val="0070C0"/>
                </a:solidFill>
                <a:sym typeface="Symbol" panose="05050102010706020507" pitchFamily="2" charset="2"/>
              </a:rPr>
              <a:t></a:t>
            </a:r>
            <a:r>
              <a:rPr kumimoji="1" lang="zh-CN" altLang="en-US" dirty="0">
                <a:solidFill>
                  <a:srgbClr val="0070C0"/>
                </a:solidFill>
                <a:sym typeface="Symbol" panose="05050102010706020507" pitchFamily="2" charset="2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sym typeface="Symbol" panose="05050102010706020507" pitchFamily="2" charset="2"/>
              </a:rPr>
              <a:t>+</a:t>
            </a:r>
            <a:r>
              <a:rPr kumimoji="1" lang="zh-CN" altLang="en-US" dirty="0">
                <a:solidFill>
                  <a:srgbClr val="0070C0"/>
                </a:solidFill>
                <a:sym typeface="Symbol" panose="05050102010706020507" pitchFamily="2" charset="2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sym typeface="Symbol" panose="05050102010706020507" pitchFamily="2" charset="2"/>
              </a:rPr>
              <a:t>{</a:t>
            </a:r>
            <a:r>
              <a:rPr lang="en-US" altLang="zh-CN" sz="2400" dirty="0">
                <a:solidFill>
                  <a:srgbClr val="0070C0"/>
                </a:solidFill>
                <a:sym typeface="Symbol" panose="05050102010706020507" pitchFamily="2" charset="2"/>
              </a:rPr>
              <a:t>a </a:t>
            </a:r>
            <a:r>
              <a:rPr lang="en-US" altLang="zh-CN" sz="2400" dirty="0">
                <a:solidFill>
                  <a:srgbClr val="0070C0"/>
                </a:solidFill>
              </a:rPr>
              <a:t>↦ int</a:t>
            </a:r>
            <a:r>
              <a:rPr kumimoji="1" lang="en-US" altLang="zh-CN" dirty="0">
                <a:solidFill>
                  <a:srgbClr val="0070C0"/>
                </a:solidFill>
                <a:sym typeface="Symbol" panose="05050102010706020507" pitchFamily="2" charset="2"/>
              </a:rPr>
              <a:t>}</a:t>
            </a:r>
          </a:p>
          <a:p>
            <a:pPr lvl="1"/>
            <a:r>
              <a:rPr kumimoji="1" lang="en-US" altLang="zh-CN" dirty="0"/>
              <a:t>insert</a:t>
            </a:r>
            <a:r>
              <a:rPr kumimoji="1" lang="zh-CN" altLang="en-US" dirty="0"/>
              <a:t> </a:t>
            </a:r>
            <a:r>
              <a:rPr kumimoji="1" lang="en-US" altLang="zh-CN" dirty="0"/>
              <a:t>&lt;a,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</a:p>
        </p:txBody>
      </p:sp>
      <p:grpSp>
        <p:nvGrpSpPr>
          <p:cNvPr id="4" name="Group 27"/>
          <p:cNvGrpSpPr/>
          <p:nvPr/>
        </p:nvGrpSpPr>
        <p:grpSpPr bwMode="auto">
          <a:xfrm>
            <a:off x="5968826" y="2584733"/>
            <a:ext cx="3019899" cy="2520950"/>
            <a:chOff x="3334" y="1525"/>
            <a:chExt cx="1950" cy="1588"/>
          </a:xfrm>
        </p:grpSpPr>
        <p:grpSp>
          <p:nvGrpSpPr>
            <p:cNvPr id="5" name="Group 22"/>
            <p:cNvGrpSpPr/>
            <p:nvPr/>
          </p:nvGrpSpPr>
          <p:grpSpPr bwMode="auto">
            <a:xfrm>
              <a:off x="3334" y="1525"/>
              <a:ext cx="1950" cy="1588"/>
              <a:chOff x="3334" y="1525"/>
              <a:chExt cx="1950" cy="1588"/>
            </a:xfrm>
          </p:grpSpPr>
          <p:grpSp>
            <p:nvGrpSpPr>
              <p:cNvPr id="7" name="Group 20"/>
              <p:cNvGrpSpPr/>
              <p:nvPr/>
            </p:nvGrpSpPr>
            <p:grpSpPr bwMode="auto">
              <a:xfrm>
                <a:off x="3334" y="1525"/>
                <a:ext cx="1860" cy="1588"/>
                <a:chOff x="3379" y="1434"/>
                <a:chExt cx="1860" cy="1588"/>
              </a:xfrm>
            </p:grpSpPr>
            <p:pic>
              <p:nvPicPr>
                <p:cNvPr id="9" name="Picture 5"/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262" t="8464" r="50000" b="55544"/>
                <a:stretch>
                  <a:fillRect/>
                </a:stretch>
              </p:blipFill>
              <p:spPr bwMode="auto">
                <a:xfrm>
                  <a:off x="3379" y="1434"/>
                  <a:ext cx="1815" cy="15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0" name="Rectangle 10"/>
                <p:cNvSpPr>
                  <a:spLocks noChangeArrowheads="1"/>
                </p:cNvSpPr>
                <p:nvPr/>
              </p:nvSpPr>
              <p:spPr bwMode="auto">
                <a:xfrm>
                  <a:off x="4830" y="1933"/>
                  <a:ext cx="409" cy="18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" name="Rectangle 13"/>
                <p:cNvSpPr>
                  <a:spLocks noChangeArrowheads="1"/>
                </p:cNvSpPr>
                <p:nvPr/>
              </p:nvSpPr>
              <p:spPr bwMode="auto">
                <a:xfrm>
                  <a:off x="3833" y="1979"/>
                  <a:ext cx="861" cy="13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2" name="Rectangle 14"/>
                <p:cNvSpPr>
                  <a:spLocks noChangeArrowheads="1"/>
                </p:cNvSpPr>
                <p:nvPr/>
              </p:nvSpPr>
              <p:spPr bwMode="auto">
                <a:xfrm>
                  <a:off x="3787" y="1979"/>
                  <a:ext cx="91" cy="13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3" name="Rectangle 15"/>
                <p:cNvSpPr>
                  <a:spLocks noChangeArrowheads="1"/>
                </p:cNvSpPr>
                <p:nvPr/>
              </p:nvSpPr>
              <p:spPr bwMode="auto">
                <a:xfrm>
                  <a:off x="3923" y="1842"/>
                  <a:ext cx="590" cy="13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4" name="Rectangle 19"/>
                <p:cNvSpPr>
                  <a:spLocks noChangeArrowheads="1"/>
                </p:cNvSpPr>
                <p:nvPr/>
              </p:nvSpPr>
              <p:spPr bwMode="auto">
                <a:xfrm>
                  <a:off x="4332" y="1752"/>
                  <a:ext cx="498" cy="181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8" name="Rectangle 21"/>
              <p:cNvSpPr>
                <a:spLocks noChangeArrowheads="1"/>
              </p:cNvSpPr>
              <p:nvPr/>
            </p:nvSpPr>
            <p:spPr bwMode="auto">
              <a:xfrm>
                <a:off x="4785" y="1842"/>
                <a:ext cx="499" cy="18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6" name="Line 26"/>
            <p:cNvSpPr>
              <a:spLocks noChangeShapeType="1"/>
            </p:cNvSpPr>
            <p:nvPr/>
          </p:nvSpPr>
          <p:spPr bwMode="auto">
            <a:xfrm>
              <a:off x="4266" y="1797"/>
              <a:ext cx="363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361243" y="4107553"/>
            <a:ext cx="624275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600" dirty="0"/>
              <a:t>Symbol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tables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need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to</a:t>
            </a:r>
            <a:r>
              <a:rPr kumimoji="1" lang="zh-CN" altLang="en-US" sz="2600" dirty="0"/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support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deletion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easily.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61243" y="4994702"/>
            <a:ext cx="842151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600" b="1" dirty="0"/>
              <a:t>How?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600" dirty="0">
                <a:solidFill>
                  <a:srgbClr val="0070C0"/>
                </a:solidFill>
              </a:rPr>
              <a:t>Hash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Table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with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external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chaining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2600" dirty="0"/>
              <a:t>e.g.,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hash(a)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-&gt;</a:t>
            </a:r>
            <a:r>
              <a:rPr kumimoji="1" lang="zh-CN" altLang="en-US" sz="2600" dirty="0"/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&lt;a,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int&gt;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-&gt;</a:t>
            </a:r>
            <a:r>
              <a:rPr kumimoji="1" lang="zh-CN" altLang="en-US" sz="2600" dirty="0"/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&lt;a,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string&gt;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dirty="0"/>
              <a:t>Efficient Imperative Symbol Tables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79886" y="1131854"/>
            <a:ext cx="814078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struct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267F99"/>
                </a:solidFill>
                <a:effectLst/>
                <a:latin typeface="+mn-ea"/>
              </a:rPr>
              <a:t>bucket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{ string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key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binding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struct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267F99"/>
                </a:solidFill>
                <a:effectLst/>
                <a:latin typeface="+mn-ea"/>
              </a:rPr>
              <a:t>bucket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next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 };</a:t>
            </a:r>
          </a:p>
          <a:p>
            <a:b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</a:br>
            <a:r>
              <a:rPr lang="en-GB" altLang="zh-CN" b="1" dirty="0">
                <a:solidFill>
                  <a:srgbClr val="AF00DB"/>
                </a:solidFill>
                <a:effectLst/>
                <a:latin typeface="+mn-ea"/>
              </a:rPr>
              <a:t>#define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 SIZE </a:t>
            </a:r>
            <a:r>
              <a:rPr lang="en-GB" altLang="zh-CN" b="1" dirty="0">
                <a:solidFill>
                  <a:srgbClr val="098658"/>
                </a:solidFill>
                <a:effectLst/>
                <a:latin typeface="+mn-ea"/>
              </a:rPr>
              <a:t>109</a:t>
            </a:r>
            <a:endParaRPr lang="en-GB" altLang="zh-CN" b="1" dirty="0">
              <a:solidFill>
                <a:srgbClr val="000000"/>
              </a:solidFill>
              <a:effectLst/>
              <a:latin typeface="+mn-ea"/>
            </a:endParaRPr>
          </a:p>
          <a:p>
            <a:b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</a:b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struct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267F99"/>
                </a:solidFill>
                <a:effectLst/>
                <a:latin typeface="+mn-ea"/>
              </a:rPr>
              <a:t>bucket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table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[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SIZE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];</a:t>
            </a:r>
          </a:p>
          <a:p>
            <a:b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</a:b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unsigned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795E26"/>
                </a:solidFill>
                <a:effectLst/>
                <a:latin typeface="+mn-ea"/>
              </a:rPr>
              <a:t>hash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char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s0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) {</a:t>
            </a:r>
          </a:p>
          <a:p>
            <a:r>
              <a:rPr lang="en-GB" altLang="zh-CN" b="1" dirty="0">
                <a:solidFill>
                  <a:srgbClr val="0000FF"/>
                </a:solidFill>
                <a:latin typeface="+mn-ea"/>
              </a:rPr>
              <a:t> 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unsigned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h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=</a:t>
            </a:r>
            <a:r>
              <a:rPr lang="en-GB" altLang="zh-CN" b="1" dirty="0">
                <a:solidFill>
                  <a:srgbClr val="098658"/>
                </a:solidFill>
                <a:effectLst/>
                <a:latin typeface="+mn-ea"/>
              </a:rPr>
              <a:t>0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char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s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r>
              <a:rPr lang="zh-CN" altLang="en-US" b="1" dirty="0">
                <a:solidFill>
                  <a:srgbClr val="AF00DB"/>
                </a:solidFill>
                <a:effectLst/>
                <a:latin typeface="+mn-ea"/>
              </a:rPr>
              <a:t>  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+mn-ea"/>
              </a:rPr>
              <a:t>for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s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=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s0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 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s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s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++)</a:t>
            </a:r>
          </a:p>
          <a:p>
            <a:r>
              <a:rPr lang="zh-CN" altLang="en-US" b="1" dirty="0">
                <a:solidFill>
                  <a:srgbClr val="001080"/>
                </a:solidFill>
                <a:effectLst/>
                <a:latin typeface="+mn-ea"/>
              </a:rPr>
              <a:t>   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h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=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h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*</a:t>
            </a:r>
            <a:r>
              <a:rPr lang="en-GB" altLang="zh-CN" b="1" dirty="0">
                <a:solidFill>
                  <a:srgbClr val="098658"/>
                </a:solidFill>
                <a:effectLst/>
                <a:latin typeface="+mn-ea"/>
              </a:rPr>
              <a:t>65599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+ 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s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</a:p>
          <a:p>
            <a:r>
              <a:rPr lang="zh-CN" altLang="en-US" b="1" dirty="0">
                <a:solidFill>
                  <a:srgbClr val="AF00DB"/>
                </a:solidFill>
                <a:effectLst/>
                <a:latin typeface="+mn-ea"/>
              </a:rPr>
              <a:t>  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+mn-ea"/>
              </a:rPr>
              <a:t>return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h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</a:p>
          <a:p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}</a:t>
            </a:r>
          </a:p>
          <a:p>
            <a:endParaRPr lang="en-GB" altLang="zh-CN" b="1" dirty="0">
              <a:solidFill>
                <a:srgbClr val="000000"/>
              </a:solidFill>
              <a:effectLst/>
              <a:latin typeface="+mn-ea"/>
            </a:endParaRPr>
          </a:p>
          <a:p>
            <a:b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</a:b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struct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267F99"/>
                </a:solidFill>
                <a:effectLst/>
                <a:latin typeface="+mn-ea"/>
              </a:rPr>
              <a:t>bucket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b="1" dirty="0">
                <a:solidFill>
                  <a:srgbClr val="795E26"/>
                </a:solidFill>
                <a:effectLst/>
                <a:latin typeface="+mn-ea"/>
              </a:rPr>
              <a:t>Bucket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(string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key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binding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struct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267F99"/>
                </a:solidFill>
                <a:effectLst/>
                <a:latin typeface="+mn-ea"/>
              </a:rPr>
              <a:t>bucket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next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) {</a:t>
            </a:r>
          </a:p>
          <a:p>
            <a:r>
              <a:rPr lang="zh-CN" altLang="en-US" b="1" dirty="0">
                <a:solidFill>
                  <a:srgbClr val="0000FF"/>
                </a:solidFill>
                <a:effectLst/>
                <a:latin typeface="+mn-ea"/>
              </a:rPr>
              <a:t> 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struct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267F99"/>
                </a:solidFill>
                <a:effectLst/>
                <a:latin typeface="+mn-ea"/>
              </a:rPr>
              <a:t>bucket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=</a:t>
            </a:r>
            <a:r>
              <a:rPr lang="en-GB" altLang="zh-CN" b="1" dirty="0" err="1">
                <a:solidFill>
                  <a:srgbClr val="795E26"/>
                </a:solidFill>
                <a:effectLst/>
                <a:latin typeface="+mn-ea"/>
              </a:rPr>
              <a:t>checked_malloc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b="1" dirty="0" err="1">
                <a:solidFill>
                  <a:srgbClr val="0000FF"/>
                </a:solidFill>
                <a:effectLst/>
                <a:latin typeface="+mn-ea"/>
              </a:rPr>
              <a:t>sizeof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(*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));</a:t>
            </a:r>
          </a:p>
          <a:p>
            <a:r>
              <a:rPr lang="zh-CN" altLang="en-US" b="1" dirty="0">
                <a:solidFill>
                  <a:srgbClr val="001080"/>
                </a:solidFill>
                <a:effectLst/>
                <a:latin typeface="+mn-ea"/>
              </a:rPr>
              <a:t> 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key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=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key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binding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=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binding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next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=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next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r>
              <a:rPr lang="zh-CN" altLang="en-US" b="1" dirty="0">
                <a:solidFill>
                  <a:srgbClr val="AF00DB"/>
                </a:solidFill>
                <a:effectLst/>
                <a:latin typeface="+mn-ea"/>
              </a:rPr>
              <a:t>  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+mn-ea"/>
              </a:rPr>
              <a:t>return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</a:p>
          <a:p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}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351683" y="1635310"/>
            <a:ext cx="5105400" cy="4953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>
                <a:solidFill>
                  <a:srgbClr val="0000CC"/>
                </a:solidFill>
              </a:rPr>
              <a:t>h = (</a:t>
            </a:r>
            <a:r>
              <a:rPr kumimoji="0" lang="en-US" altLang="zh-CN" sz="2400" b="1" dirty="0">
                <a:solidFill>
                  <a:srgbClr val="0000CC"/>
                </a:solidFill>
                <a:sym typeface="Symbol" panose="05050102010706020507" pitchFamily="2" charset="2"/>
              </a:rPr>
              <a:t></a:t>
            </a:r>
            <a:r>
              <a:rPr kumimoji="0" lang="en-US" altLang="zh-CN" sz="2400" b="1" baseline="30000" dirty="0">
                <a:solidFill>
                  <a:srgbClr val="0000CC"/>
                </a:solidFill>
              </a:rPr>
              <a:t>n-1</a:t>
            </a:r>
            <a:r>
              <a:rPr kumimoji="0" lang="en-US" altLang="zh-CN" sz="2400" b="1" dirty="0">
                <a:solidFill>
                  <a:srgbClr val="0000CC"/>
                </a:solidFill>
                <a:sym typeface="Symbol" panose="05050102010706020507" pitchFamily="2" charset="2"/>
              </a:rPr>
              <a:t>c</a:t>
            </a:r>
            <a:r>
              <a:rPr kumimoji="0" lang="en-US" altLang="zh-CN" sz="2400" b="1" baseline="-30000" dirty="0">
                <a:solidFill>
                  <a:srgbClr val="0000CC"/>
                </a:solidFill>
                <a:sym typeface="Symbol" panose="05050102010706020507" pitchFamily="2" charset="2"/>
              </a:rPr>
              <a:t>1</a:t>
            </a:r>
            <a:r>
              <a:rPr kumimoji="0" lang="en-US" altLang="zh-CN" sz="2400" b="1" dirty="0">
                <a:solidFill>
                  <a:srgbClr val="0000CC"/>
                </a:solidFill>
                <a:sym typeface="Symbol" panose="05050102010706020507" pitchFamily="2" charset="2"/>
              </a:rPr>
              <a:t>+</a:t>
            </a:r>
            <a:r>
              <a:rPr kumimoji="0" lang="en-US" altLang="zh-CN" sz="2400" b="1" baseline="30000" dirty="0">
                <a:solidFill>
                  <a:srgbClr val="0000CC"/>
                </a:solidFill>
              </a:rPr>
              <a:t>n-2</a:t>
            </a:r>
            <a:r>
              <a:rPr kumimoji="0" lang="en-US" altLang="zh-CN" sz="2400" b="1" dirty="0">
                <a:solidFill>
                  <a:srgbClr val="0000CC"/>
                </a:solidFill>
                <a:sym typeface="Symbol" panose="05050102010706020507" pitchFamily="2" charset="2"/>
              </a:rPr>
              <a:t>c</a:t>
            </a:r>
            <a:r>
              <a:rPr kumimoji="0" lang="en-US" altLang="zh-CN" sz="2400" b="1" baseline="-30000" dirty="0">
                <a:solidFill>
                  <a:srgbClr val="0000CC"/>
                </a:solidFill>
                <a:sym typeface="Symbol" panose="05050102010706020507" pitchFamily="2" charset="2"/>
              </a:rPr>
              <a:t>2</a:t>
            </a:r>
            <a:r>
              <a:rPr kumimoji="0" lang="en-US" altLang="zh-CN" sz="2400" b="1" dirty="0">
                <a:solidFill>
                  <a:srgbClr val="0000CC"/>
                </a:solidFill>
                <a:sym typeface="Symbol" panose="05050102010706020507" pitchFamily="2" charset="2"/>
              </a:rPr>
              <a:t> +…..+ </a:t>
            </a:r>
            <a:r>
              <a:rPr kumimoji="0" lang="en-US" altLang="zh-CN" sz="2400" b="1" dirty="0">
                <a:solidFill>
                  <a:srgbClr val="0000CC"/>
                </a:solidFill>
              </a:rPr>
              <a:t> c</a:t>
            </a:r>
            <a:r>
              <a:rPr kumimoji="0" lang="en-US" altLang="zh-CN" sz="2400" b="1" baseline="-30000" dirty="0">
                <a:solidFill>
                  <a:srgbClr val="0000CC"/>
                </a:solidFill>
                <a:sym typeface="Symbol" panose="05050102010706020507" pitchFamily="2" charset="2"/>
              </a:rPr>
              <a:t>n-1</a:t>
            </a:r>
            <a:r>
              <a:rPr kumimoji="0" lang="en-US" altLang="zh-CN" sz="2400" b="1" dirty="0">
                <a:solidFill>
                  <a:srgbClr val="0000CC"/>
                </a:solidFill>
                <a:sym typeface="Symbol" panose="05050102010706020507" pitchFamily="2" charset="2"/>
              </a:rPr>
              <a:t>+</a:t>
            </a:r>
            <a:r>
              <a:rPr kumimoji="0" lang="en-US" altLang="zh-CN" sz="2400" b="1" baseline="-30000" dirty="0">
                <a:solidFill>
                  <a:srgbClr val="0000CC"/>
                </a:solidFill>
                <a:sym typeface="Symbol" panose="05050102010706020507" pitchFamily="2" charset="2"/>
              </a:rPr>
              <a:t> </a:t>
            </a:r>
            <a:r>
              <a:rPr kumimoji="0" lang="en-US" altLang="zh-CN" sz="2400" b="1" dirty="0" err="1">
                <a:solidFill>
                  <a:srgbClr val="0000CC"/>
                </a:solidFill>
                <a:sym typeface="Symbol" panose="05050102010706020507" pitchFamily="2" charset="2"/>
              </a:rPr>
              <a:t>c</a:t>
            </a:r>
            <a:r>
              <a:rPr kumimoji="0" lang="en-US" altLang="zh-CN" sz="2400" b="1" baseline="-30000" dirty="0" err="1">
                <a:solidFill>
                  <a:srgbClr val="0000CC"/>
                </a:solidFill>
                <a:sym typeface="Symbol" panose="05050102010706020507" pitchFamily="2" charset="2"/>
              </a:rPr>
              <a:t>n</a:t>
            </a:r>
            <a:r>
              <a:rPr kumimoji="0" lang="en-US" altLang="zh-CN" sz="2400" b="1" dirty="0">
                <a:solidFill>
                  <a:srgbClr val="0000CC"/>
                </a:solidFill>
                <a:sym typeface="Symbol" panose="05050102010706020507" pitchFamily="2" charset="2"/>
              </a:rPr>
              <a:t>) </a:t>
            </a:r>
          </a:p>
        </p:txBody>
      </p:sp>
      <p:grpSp>
        <p:nvGrpSpPr>
          <p:cNvPr id="7" name="Group 27"/>
          <p:cNvGrpSpPr/>
          <p:nvPr/>
        </p:nvGrpSpPr>
        <p:grpSpPr bwMode="auto">
          <a:xfrm>
            <a:off x="4714117" y="2346510"/>
            <a:ext cx="3095625" cy="2520950"/>
            <a:chOff x="3334" y="1525"/>
            <a:chExt cx="1950" cy="1588"/>
          </a:xfrm>
        </p:grpSpPr>
        <p:grpSp>
          <p:nvGrpSpPr>
            <p:cNvPr id="8" name="Group 22"/>
            <p:cNvGrpSpPr/>
            <p:nvPr/>
          </p:nvGrpSpPr>
          <p:grpSpPr bwMode="auto">
            <a:xfrm>
              <a:off x="3334" y="1525"/>
              <a:ext cx="1950" cy="1588"/>
              <a:chOff x="3334" y="1525"/>
              <a:chExt cx="1950" cy="1588"/>
            </a:xfrm>
          </p:grpSpPr>
          <p:grpSp>
            <p:nvGrpSpPr>
              <p:cNvPr id="10" name="Group 20"/>
              <p:cNvGrpSpPr/>
              <p:nvPr/>
            </p:nvGrpSpPr>
            <p:grpSpPr bwMode="auto">
              <a:xfrm>
                <a:off x="3334" y="1525"/>
                <a:ext cx="1860" cy="1588"/>
                <a:chOff x="3379" y="1434"/>
                <a:chExt cx="1860" cy="1588"/>
              </a:xfrm>
            </p:grpSpPr>
            <p:pic>
              <p:nvPicPr>
                <p:cNvPr id="12" name="Picture 5"/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262" t="8464" r="50000" b="55544"/>
                <a:stretch>
                  <a:fillRect/>
                </a:stretch>
              </p:blipFill>
              <p:spPr bwMode="auto">
                <a:xfrm>
                  <a:off x="3379" y="1434"/>
                  <a:ext cx="1815" cy="15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" name="Rectangle 10"/>
                <p:cNvSpPr>
                  <a:spLocks noChangeArrowheads="1"/>
                </p:cNvSpPr>
                <p:nvPr/>
              </p:nvSpPr>
              <p:spPr bwMode="auto">
                <a:xfrm>
                  <a:off x="4830" y="1933"/>
                  <a:ext cx="409" cy="18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4" name="Rectangle 13"/>
                <p:cNvSpPr>
                  <a:spLocks noChangeArrowheads="1"/>
                </p:cNvSpPr>
                <p:nvPr/>
              </p:nvSpPr>
              <p:spPr bwMode="auto">
                <a:xfrm>
                  <a:off x="3833" y="1979"/>
                  <a:ext cx="861" cy="13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5" name="Rectangle 14"/>
                <p:cNvSpPr>
                  <a:spLocks noChangeArrowheads="1"/>
                </p:cNvSpPr>
                <p:nvPr/>
              </p:nvSpPr>
              <p:spPr bwMode="auto">
                <a:xfrm>
                  <a:off x="3787" y="1979"/>
                  <a:ext cx="91" cy="13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" name="Rectangle 15"/>
                <p:cNvSpPr>
                  <a:spLocks noChangeArrowheads="1"/>
                </p:cNvSpPr>
                <p:nvPr/>
              </p:nvSpPr>
              <p:spPr bwMode="auto">
                <a:xfrm>
                  <a:off x="3923" y="1842"/>
                  <a:ext cx="590" cy="13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7" name="Rectangle 19"/>
                <p:cNvSpPr>
                  <a:spLocks noChangeArrowheads="1"/>
                </p:cNvSpPr>
                <p:nvPr/>
              </p:nvSpPr>
              <p:spPr bwMode="auto">
                <a:xfrm>
                  <a:off x="4332" y="1752"/>
                  <a:ext cx="498" cy="181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11" name="Rectangle 21"/>
              <p:cNvSpPr>
                <a:spLocks noChangeArrowheads="1"/>
              </p:cNvSpPr>
              <p:nvPr/>
            </p:nvSpPr>
            <p:spPr bwMode="auto">
              <a:xfrm>
                <a:off x="4785" y="1842"/>
                <a:ext cx="499" cy="18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9" name="Line 26"/>
            <p:cNvSpPr>
              <a:spLocks noChangeShapeType="1"/>
            </p:cNvSpPr>
            <p:nvPr/>
          </p:nvSpPr>
          <p:spPr bwMode="auto">
            <a:xfrm>
              <a:off x="4266" y="1797"/>
              <a:ext cx="363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dirty="0"/>
              <a:t>Efficient Imperative Symbol Tables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369735" y="1039905"/>
            <a:ext cx="652055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+mn-ea"/>
              </a:rPr>
              <a:t>insert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(string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key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binding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 {</a:t>
            </a:r>
          </a:p>
          <a:p>
            <a:r>
              <a:rPr lang="zh-CN" altLang="en-US" sz="2000" b="1" dirty="0">
                <a:solidFill>
                  <a:srgbClr val="0000FF"/>
                </a:solidFill>
                <a:effectLst/>
                <a:latin typeface="+mn-ea"/>
              </a:rPr>
              <a:t>  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int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index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=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+mn-ea"/>
              </a:rPr>
              <a:t>hash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key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)%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SIZE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r>
              <a:rPr lang="zh-CN" altLang="en-US" sz="2000" b="1" dirty="0">
                <a:solidFill>
                  <a:srgbClr val="001080"/>
                </a:solidFill>
                <a:effectLst/>
                <a:latin typeface="+mn-ea"/>
              </a:rPr>
              <a:t> 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table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[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index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]=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+mn-ea"/>
              </a:rPr>
              <a:t>Bucket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key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binding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table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[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index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]); </a:t>
            </a: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}</a:t>
            </a:r>
          </a:p>
          <a:p>
            <a:b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</a:b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+mn-ea"/>
              </a:rPr>
              <a:t>lookup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(string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key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 {</a:t>
            </a:r>
          </a:p>
          <a:p>
            <a:r>
              <a:rPr lang="zh-CN" altLang="en-US" sz="2000" b="1" dirty="0">
                <a:solidFill>
                  <a:srgbClr val="0000FF"/>
                </a:solidFill>
                <a:effectLst/>
                <a:latin typeface="+mn-ea"/>
              </a:rPr>
              <a:t>  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int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index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=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+mn-ea"/>
              </a:rPr>
              <a:t>hash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key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)%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SIZE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</a:p>
          <a:p>
            <a:r>
              <a:rPr lang="zh-CN" altLang="en-US" sz="2000" b="1" dirty="0">
                <a:solidFill>
                  <a:srgbClr val="0000FF"/>
                </a:solidFill>
                <a:effectLst/>
                <a:latin typeface="+mn-ea"/>
              </a:rPr>
              <a:t>  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struct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bucket *b;</a:t>
            </a:r>
          </a:p>
          <a:p>
            <a:r>
              <a:rPr lang="zh-CN" altLang="en-US" sz="2000" b="1" dirty="0">
                <a:solidFill>
                  <a:srgbClr val="AF00DB"/>
                </a:solidFill>
                <a:effectLst/>
                <a:latin typeface="+mn-ea"/>
              </a:rPr>
              <a:t>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for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(b =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table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[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index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]; b; b=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next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 </a:t>
            </a:r>
          </a:p>
          <a:p>
            <a:r>
              <a:rPr lang="zh-CN" altLang="en-US" sz="2000" b="1" dirty="0">
                <a:solidFill>
                  <a:srgbClr val="AF00DB"/>
                </a:solidFill>
                <a:effectLst/>
                <a:latin typeface="+mn-ea"/>
              </a:rPr>
              <a:t>  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if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(</a:t>
            </a:r>
            <a:r>
              <a:rPr lang="en-GB" altLang="zh-CN" sz="2000" b="1" dirty="0">
                <a:solidFill>
                  <a:srgbClr val="098658"/>
                </a:solidFill>
                <a:effectLst/>
                <a:latin typeface="+mn-ea"/>
              </a:rPr>
              <a:t>0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==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strcmp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key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,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key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)) </a:t>
            </a:r>
          </a:p>
          <a:p>
            <a:r>
              <a:rPr lang="zh-CN" altLang="en-US" sz="20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return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binding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</a:p>
          <a:p>
            <a:r>
              <a:rPr lang="zh-CN" altLang="en-US" sz="2000" b="1" dirty="0">
                <a:solidFill>
                  <a:srgbClr val="AF00DB"/>
                </a:solidFill>
                <a:effectLst/>
                <a:latin typeface="+mn-ea"/>
              </a:rPr>
              <a:t>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return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NULL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}</a:t>
            </a:r>
          </a:p>
          <a:p>
            <a:b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</a:b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+mn-ea"/>
              </a:rPr>
              <a:t>pop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(string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key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 { </a:t>
            </a:r>
          </a:p>
          <a:p>
            <a:r>
              <a:rPr lang="zh-CN" altLang="en-US" sz="2000" b="1" dirty="0">
                <a:solidFill>
                  <a:srgbClr val="0000FF"/>
                </a:solidFill>
                <a:effectLst/>
                <a:latin typeface="+mn-ea"/>
              </a:rPr>
              <a:t>  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int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index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=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+mn-ea"/>
              </a:rPr>
              <a:t>hash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key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)%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SIZE</a:t>
            </a:r>
            <a:endParaRPr lang="en-GB" altLang="zh-CN" sz="2000" b="1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zh-CN" altLang="en-US" sz="2000" b="1" dirty="0">
                <a:solidFill>
                  <a:srgbClr val="001080"/>
                </a:solidFill>
                <a:effectLst/>
                <a:latin typeface="+mn-ea"/>
              </a:rPr>
              <a:t> 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table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[index]=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table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[index].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next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}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Effective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Imperative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3534" y="1712184"/>
            <a:ext cx="8316931" cy="3538427"/>
          </a:xfrm>
        </p:spPr>
        <p:txBody>
          <a:bodyPr/>
          <a:lstStyle/>
          <a:p>
            <a:r>
              <a:rPr kumimoji="1" lang="en-GB" altLang="zh-CN" sz="2400" dirty="0"/>
              <a:t>Consider </a:t>
            </a:r>
            <a:r>
              <a:rPr kumimoji="0" lang="en-US" altLang="zh-CN" sz="2400" b="1" dirty="0">
                <a:solidFill>
                  <a:schemeClr val="tx2"/>
                </a:solidFill>
                <a:sym typeface="Symbol" panose="05050102010706020507" pitchFamily="2" charset="2"/>
              </a:rPr>
              <a:t></a:t>
            </a:r>
            <a:r>
              <a:rPr kumimoji="1" lang="en-GB" altLang="zh-CN" sz="2400" dirty="0"/>
              <a:t> + {a ↦ </a:t>
            </a:r>
            <a:r>
              <a:rPr kumimoji="1" lang="el-GR" altLang="zh-CN" sz="2400" dirty="0"/>
              <a:t>τ2} </a:t>
            </a:r>
            <a:r>
              <a:rPr kumimoji="1" lang="en-GB" altLang="zh-CN" sz="2400" dirty="0"/>
              <a:t>when </a:t>
            </a:r>
            <a:r>
              <a:rPr kumimoji="0" lang="en-US" altLang="zh-CN" sz="2400" b="1" dirty="0">
                <a:solidFill>
                  <a:schemeClr val="tx2"/>
                </a:solidFill>
                <a:sym typeface="Symbol" panose="05050102010706020507" pitchFamily="2" charset="2"/>
              </a:rPr>
              <a:t></a:t>
            </a:r>
            <a:r>
              <a:rPr kumimoji="1" lang="en-GB" altLang="zh-CN" sz="2400" dirty="0"/>
              <a:t> contains a ↦ </a:t>
            </a:r>
            <a:r>
              <a:rPr kumimoji="1" lang="el-GR" altLang="zh-CN" sz="2400" dirty="0"/>
              <a:t>τ1 </a:t>
            </a:r>
            <a:r>
              <a:rPr kumimoji="1" lang="en-GB" altLang="zh-CN" sz="2400" dirty="0"/>
              <a:t>already</a:t>
            </a:r>
            <a:r>
              <a:rPr kumimoji="1" lang="en-US" altLang="zh-CN" sz="2400" dirty="0"/>
              <a:t>.</a:t>
            </a:r>
            <a:r>
              <a:rPr kumimoji="1" lang="zh-CN" altLang="en-US" sz="2400" dirty="0"/>
              <a:t> </a:t>
            </a:r>
            <a:r>
              <a:rPr kumimoji="1" lang="en-GB" altLang="zh-CN" dirty="0"/>
              <a:t>The insert function leaves a ↦ </a:t>
            </a:r>
            <a:r>
              <a:rPr kumimoji="1" lang="el-GR" altLang="zh-CN" dirty="0"/>
              <a:t>τ1 </a:t>
            </a:r>
            <a:r>
              <a:rPr kumimoji="1" lang="en-GB" altLang="zh-CN" dirty="0"/>
              <a:t>in the bucket and puts a ↦ </a:t>
            </a:r>
            <a:r>
              <a:rPr kumimoji="1" lang="el-GR" altLang="zh-CN" dirty="0"/>
              <a:t>τ2 </a:t>
            </a:r>
            <a:r>
              <a:rPr kumimoji="1" lang="en-GB" altLang="zh-CN" dirty="0"/>
              <a:t>earlier in the list. </a:t>
            </a:r>
          </a:p>
          <a:p>
            <a:pPr lvl="1"/>
            <a:r>
              <a:rPr kumimoji="1" lang="en-US" altLang="zh-CN" dirty="0"/>
              <a:t>hash(a)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&lt;a,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l-GR" altLang="zh-CN" sz="2400" dirty="0">
                <a:solidFill>
                  <a:srgbClr val="C00000"/>
                </a:solidFill>
              </a:rPr>
              <a:t>τ2 </a:t>
            </a:r>
            <a:r>
              <a:rPr kumimoji="1" lang="en-US" altLang="zh-CN" dirty="0">
                <a:solidFill>
                  <a:srgbClr val="C00000"/>
                </a:solidFill>
              </a:rPr>
              <a:t>&gt;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&lt;a,</a:t>
            </a:r>
            <a:r>
              <a:rPr kumimoji="1" lang="zh-CN" altLang="en-US" dirty="0"/>
              <a:t> </a:t>
            </a:r>
            <a:r>
              <a:rPr kumimoji="1" lang="el-GR" altLang="zh-CN" sz="2400" dirty="0"/>
              <a:t>τ</a:t>
            </a:r>
            <a:r>
              <a:rPr kumimoji="1" lang="en-US" altLang="zh-CN" sz="2400" dirty="0"/>
              <a:t>1</a:t>
            </a:r>
            <a:r>
              <a:rPr kumimoji="1" lang="en-US" altLang="zh-CN" dirty="0"/>
              <a:t>&gt;</a:t>
            </a:r>
            <a:endParaRPr kumimoji="1" lang="en-GB" altLang="zh-CN" dirty="0"/>
          </a:p>
          <a:p>
            <a:endParaRPr kumimoji="1" lang="en-GB" altLang="zh-CN" dirty="0"/>
          </a:p>
          <a:p>
            <a:r>
              <a:rPr kumimoji="1" lang="en-GB" altLang="zh-CN" dirty="0"/>
              <a:t>when pop(a) is done at the end of a's scope, </a:t>
            </a:r>
            <a:r>
              <a:rPr kumimoji="0" lang="en-US" altLang="zh-CN" sz="2400" b="1" dirty="0">
                <a:solidFill>
                  <a:schemeClr val="tx2"/>
                </a:solidFill>
                <a:sym typeface="Symbol" panose="05050102010706020507" pitchFamily="2" charset="2"/>
              </a:rPr>
              <a:t></a:t>
            </a:r>
            <a:r>
              <a:rPr kumimoji="1" lang="en-GB" altLang="zh-CN" dirty="0"/>
              <a:t> is restored. (insertion and pop work in a stack</a:t>
            </a:r>
            <a:r>
              <a:rPr kumimoji="1" lang="en-US" altLang="zh-CN" dirty="0"/>
              <a:t>-</a:t>
            </a:r>
            <a:r>
              <a:rPr kumimoji="1" lang="en-GB" altLang="zh-CN" dirty="0"/>
              <a:t>like fashion.)</a:t>
            </a:r>
          </a:p>
          <a:p>
            <a:pPr lvl="1"/>
            <a:r>
              <a:rPr kumimoji="1" lang="en-US" altLang="zh-CN" dirty="0"/>
              <a:t>hash(a)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&lt;a,</a:t>
            </a:r>
            <a:r>
              <a:rPr kumimoji="1" lang="zh-CN" altLang="en-US" dirty="0"/>
              <a:t> </a:t>
            </a:r>
            <a:r>
              <a:rPr kumimoji="1" lang="el-GR" altLang="zh-CN" sz="2400" dirty="0"/>
              <a:t>τ</a:t>
            </a:r>
            <a:r>
              <a:rPr kumimoji="1" lang="en-US" altLang="zh-CN" sz="2400" dirty="0"/>
              <a:t>1</a:t>
            </a:r>
            <a:r>
              <a:rPr kumimoji="1" lang="en-US" altLang="zh-CN" dirty="0"/>
              <a:t>&gt;</a:t>
            </a:r>
            <a:endParaRPr kumimoji="1" lang="en-GB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Efficient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Functional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9590" y="1688540"/>
            <a:ext cx="7844819" cy="34004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800" b="1" dirty="0"/>
              <a:t>Functional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Style</a:t>
            </a:r>
          </a:p>
          <a:p>
            <a:r>
              <a:rPr kumimoji="1" lang="en-GB" altLang="zh-CN" dirty="0"/>
              <a:t>We wish to compute </a:t>
            </a:r>
            <a:r>
              <a:rPr kumimoji="0" lang="en-US" altLang="zh-CN" sz="2400" b="1" dirty="0">
                <a:sym typeface="Symbol" panose="05050102010706020507" pitchFamily="2" charset="2"/>
              </a:rPr>
              <a:t></a:t>
            </a:r>
            <a:r>
              <a:rPr kumimoji="1" lang="en-GB" altLang="zh-CN" dirty="0"/>
              <a:t>′ = </a:t>
            </a:r>
            <a:r>
              <a:rPr kumimoji="0" lang="en-US" altLang="zh-CN" sz="2400" b="1" dirty="0">
                <a:sym typeface="Symbol" panose="05050102010706020507" pitchFamily="2" charset="2"/>
              </a:rPr>
              <a:t></a:t>
            </a:r>
            <a:r>
              <a:rPr kumimoji="1" lang="en-GB" altLang="zh-CN" dirty="0"/>
              <a:t> + {a ↦ </a:t>
            </a:r>
            <a:r>
              <a:rPr kumimoji="1" lang="el-GR" altLang="zh-CN" dirty="0"/>
              <a:t>τ} </a:t>
            </a:r>
            <a:r>
              <a:rPr kumimoji="1" lang="en-GB" altLang="zh-CN" dirty="0"/>
              <a:t>in such a way that we still have </a:t>
            </a:r>
            <a:r>
              <a:rPr kumimoji="0" lang="en-US" altLang="zh-CN" sz="2400" b="1" dirty="0">
                <a:sym typeface="Symbol" panose="05050102010706020507" pitchFamily="2" charset="2"/>
              </a:rPr>
              <a:t></a:t>
            </a:r>
            <a:r>
              <a:rPr kumimoji="1" lang="en-GB" altLang="zh-CN" dirty="0"/>
              <a:t> available to look up identifiers. </a:t>
            </a:r>
          </a:p>
          <a:p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create</a:t>
            </a:r>
            <a:r>
              <a:rPr kumimoji="1" lang="en-GB" altLang="zh-CN" dirty="0"/>
              <a:t> </a:t>
            </a:r>
            <a:r>
              <a:rPr kumimoji="1" lang="en-GB" altLang="zh-CN" dirty="0">
                <a:solidFill>
                  <a:srgbClr val="0070C0"/>
                </a:solidFill>
              </a:rPr>
              <a:t>a new table </a:t>
            </a:r>
            <a:r>
              <a:rPr kumimoji="1" lang="en-GB" altLang="zh-CN" dirty="0"/>
              <a:t>by computing the "sum" of an existing table and a new binding.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achieve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Efficient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Functional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243" y="999066"/>
            <a:ext cx="8449733" cy="2429933"/>
          </a:xfrm>
        </p:spPr>
        <p:txBody>
          <a:bodyPr>
            <a:normAutofit/>
          </a:bodyPr>
          <a:lstStyle/>
          <a:p>
            <a:r>
              <a:rPr lang="en-US" altLang="zh-CN" dirty="0">
                <a:sym typeface="Symbol" panose="05050102010706020507" pitchFamily="2" charset="2"/>
              </a:rPr>
              <a:t>m2</a:t>
            </a:r>
            <a:r>
              <a:rPr kumimoji="1" lang="en-GB" altLang="zh-CN" dirty="0"/>
              <a:t> = </a:t>
            </a:r>
            <a:r>
              <a:rPr lang="en-US" altLang="zh-CN" dirty="0">
                <a:sym typeface="Symbol" panose="05050102010706020507" pitchFamily="2" charset="2"/>
              </a:rPr>
              <a:t>m1</a:t>
            </a:r>
            <a:r>
              <a:rPr kumimoji="1" lang="en-GB" altLang="zh-CN" dirty="0"/>
              <a:t> + {</a:t>
            </a:r>
            <a:r>
              <a:rPr kumimoji="1" lang="en-US" altLang="zh-CN" dirty="0"/>
              <a:t>mouse</a:t>
            </a:r>
            <a:r>
              <a:rPr kumimoji="1" lang="en-GB" altLang="zh-CN" dirty="0"/>
              <a:t> ↦ </a:t>
            </a:r>
            <a:r>
              <a:rPr kumimoji="1" lang="en-US" altLang="zh-CN" dirty="0"/>
              <a:t>4</a:t>
            </a:r>
            <a:r>
              <a:rPr kumimoji="1" lang="el-GR" altLang="zh-CN" dirty="0"/>
              <a:t>}</a:t>
            </a:r>
            <a:endParaRPr kumimoji="1" lang="en-US" altLang="zh-CN" dirty="0"/>
          </a:p>
          <a:p>
            <a:r>
              <a:rPr lang="en-US" altLang="zh-CN" dirty="0">
                <a:sym typeface="Symbol" panose="05050102010706020507" pitchFamily="2" charset="2"/>
              </a:rPr>
              <a:t>m1</a:t>
            </a:r>
            <a:r>
              <a:rPr kumimoji="0" lang="zh-CN" altLang="en-US" dirty="0">
                <a:sym typeface="Symbol" panose="05050102010706020507" pitchFamily="2" charset="2"/>
              </a:rPr>
              <a:t> </a:t>
            </a:r>
            <a:r>
              <a:rPr kumimoji="0" lang="en-US" altLang="zh-CN" dirty="0">
                <a:sym typeface="Symbol" panose="05050102010706020507" pitchFamily="2" charset="2"/>
              </a:rPr>
              <a:t>=</a:t>
            </a:r>
            <a:r>
              <a:rPr kumimoji="0" lang="zh-CN" altLang="en-US" dirty="0">
                <a:sym typeface="Symbol" panose="05050102010706020507" pitchFamily="2" charset="2"/>
              </a:rPr>
              <a:t> </a:t>
            </a:r>
            <a:r>
              <a:rPr kumimoji="0" lang="en-US" altLang="zh-CN" dirty="0">
                <a:sym typeface="Symbol" panose="05050102010706020507" pitchFamily="2" charset="2"/>
              </a:rPr>
              <a:t>{bat ↦ 1,camel ↦ 2,dog ↦</a:t>
            </a:r>
            <a:r>
              <a:rPr kumimoji="0" lang="zh-CN" altLang="en-US" dirty="0">
                <a:sym typeface="Symbol" panose="05050102010706020507" pitchFamily="2" charset="2"/>
              </a:rPr>
              <a:t> </a:t>
            </a:r>
            <a:r>
              <a:rPr kumimoji="0" lang="en-US" altLang="zh-CN" dirty="0">
                <a:sym typeface="Symbol" panose="05050102010706020507" pitchFamily="2" charset="2"/>
              </a:rPr>
              <a:t>3},</a:t>
            </a:r>
            <a:r>
              <a:rPr kumimoji="0" lang="zh-CN" altLang="en-US" dirty="0">
                <a:sym typeface="Symbol" panose="05050102010706020507" pitchFamily="2" charset="2"/>
              </a:rPr>
              <a:t> </a:t>
            </a:r>
            <a:r>
              <a:rPr kumimoji="0" lang="en-US" altLang="zh-CN" dirty="0">
                <a:sym typeface="Symbol" panose="05050102010706020507" pitchFamily="2" charset="2"/>
              </a:rPr>
              <a:t>suppose</a:t>
            </a:r>
            <a:r>
              <a:rPr kumimoji="0"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index(camel)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=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index(mouse)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=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5</a:t>
            </a:r>
            <a:endParaRPr kumimoji="0" lang="en-US" altLang="zh-CN" dirty="0">
              <a:sym typeface="Symbol" panose="05050102010706020507" pitchFamily="2" charset="2"/>
            </a:endParaRPr>
          </a:p>
          <a:p>
            <a:r>
              <a:rPr lang="en-US" altLang="zh-CN" dirty="0">
                <a:sym typeface="Symbol" panose="05050102010706020507" pitchFamily="2" charset="2"/>
              </a:rPr>
              <a:t>H</a:t>
            </a:r>
            <a:r>
              <a:rPr kumimoji="0" lang="en-US" altLang="zh-CN" dirty="0">
                <a:sym typeface="Symbol" panose="05050102010706020507" pitchFamily="2" charset="2"/>
              </a:rPr>
              <a:t>ash(mouse)</a:t>
            </a:r>
            <a:r>
              <a:rPr kumimoji="0" lang="zh-CN" altLang="en-US" dirty="0">
                <a:sym typeface="Symbol" panose="05050102010706020507" pitchFamily="2" charset="2"/>
              </a:rPr>
              <a:t> </a:t>
            </a:r>
            <a:r>
              <a:rPr kumimoji="0" lang="en-US" altLang="zh-CN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-</a:t>
            </a:r>
            <a:r>
              <a:rPr kumimoji="0" lang="en-US" altLang="zh-CN" dirty="0">
                <a:sym typeface="Symbol" panose="05050102010706020507" pitchFamily="2" charset="2"/>
              </a:rPr>
              <a:t>&gt;</a:t>
            </a:r>
            <a:r>
              <a:rPr kumimoji="0" lang="zh-CN" altLang="en-US" dirty="0">
                <a:sym typeface="Symbol" panose="05050102010706020507" pitchFamily="2" charset="2"/>
              </a:rPr>
              <a:t> </a:t>
            </a:r>
            <a:r>
              <a:rPr kumimoji="0" lang="en-US" altLang="zh-CN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&lt;mouse,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4&gt;: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olidFill>
                  <a:srgbClr val="0070C0"/>
                </a:solidFill>
                <a:sym typeface="Symbol" panose="05050102010706020507" pitchFamily="2" charset="2"/>
              </a:rPr>
              <a:t>m1 is destroyed </a:t>
            </a:r>
          </a:p>
        </p:txBody>
      </p:sp>
      <p:grpSp>
        <p:nvGrpSpPr>
          <p:cNvPr id="16" name="Group 27"/>
          <p:cNvGrpSpPr/>
          <p:nvPr/>
        </p:nvGrpSpPr>
        <p:grpSpPr bwMode="auto">
          <a:xfrm>
            <a:off x="556826" y="3761785"/>
            <a:ext cx="3843893" cy="2696433"/>
            <a:chOff x="3334" y="1525"/>
            <a:chExt cx="1950" cy="1588"/>
          </a:xfrm>
        </p:grpSpPr>
        <p:grpSp>
          <p:nvGrpSpPr>
            <p:cNvPr id="17" name="Group 22"/>
            <p:cNvGrpSpPr/>
            <p:nvPr/>
          </p:nvGrpSpPr>
          <p:grpSpPr bwMode="auto">
            <a:xfrm>
              <a:off x="3334" y="1525"/>
              <a:ext cx="1950" cy="1588"/>
              <a:chOff x="3334" y="1525"/>
              <a:chExt cx="1950" cy="1588"/>
            </a:xfrm>
          </p:grpSpPr>
          <p:grpSp>
            <p:nvGrpSpPr>
              <p:cNvPr id="19" name="Group 20"/>
              <p:cNvGrpSpPr/>
              <p:nvPr/>
            </p:nvGrpSpPr>
            <p:grpSpPr bwMode="auto">
              <a:xfrm>
                <a:off x="3334" y="1525"/>
                <a:ext cx="1860" cy="1588"/>
                <a:chOff x="3379" y="1434"/>
                <a:chExt cx="1860" cy="1588"/>
              </a:xfrm>
            </p:grpSpPr>
            <p:pic>
              <p:nvPicPr>
                <p:cNvPr id="21" name="Picture 5"/>
                <p:cNvPicPr>
                  <a:picLocks noChangeAspect="1" noChangeArrowheads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262" t="8464" r="50000" b="55544"/>
                <a:stretch>
                  <a:fillRect/>
                </a:stretch>
              </p:blipFill>
              <p:spPr bwMode="auto">
                <a:xfrm>
                  <a:off x="3379" y="1434"/>
                  <a:ext cx="1815" cy="15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2" name="Rectangle 10"/>
                <p:cNvSpPr>
                  <a:spLocks noChangeArrowheads="1"/>
                </p:cNvSpPr>
                <p:nvPr/>
              </p:nvSpPr>
              <p:spPr bwMode="auto">
                <a:xfrm>
                  <a:off x="4830" y="1933"/>
                  <a:ext cx="409" cy="18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3" name="Rectangle 13"/>
                <p:cNvSpPr>
                  <a:spLocks noChangeArrowheads="1"/>
                </p:cNvSpPr>
                <p:nvPr/>
              </p:nvSpPr>
              <p:spPr bwMode="auto">
                <a:xfrm>
                  <a:off x="3833" y="1979"/>
                  <a:ext cx="861" cy="13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4" name="Rectangle 14"/>
                <p:cNvSpPr>
                  <a:spLocks noChangeArrowheads="1"/>
                </p:cNvSpPr>
                <p:nvPr/>
              </p:nvSpPr>
              <p:spPr bwMode="auto">
                <a:xfrm>
                  <a:off x="3787" y="1979"/>
                  <a:ext cx="91" cy="13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5" name="Rectangle 15"/>
                <p:cNvSpPr>
                  <a:spLocks noChangeArrowheads="1"/>
                </p:cNvSpPr>
                <p:nvPr/>
              </p:nvSpPr>
              <p:spPr bwMode="auto">
                <a:xfrm>
                  <a:off x="3923" y="1842"/>
                  <a:ext cx="590" cy="13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6" name="Rectangle 19"/>
                <p:cNvSpPr>
                  <a:spLocks noChangeArrowheads="1"/>
                </p:cNvSpPr>
                <p:nvPr/>
              </p:nvSpPr>
              <p:spPr bwMode="auto">
                <a:xfrm>
                  <a:off x="4332" y="1752"/>
                  <a:ext cx="498" cy="181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20" name="Rectangle 21"/>
              <p:cNvSpPr>
                <a:spLocks noChangeArrowheads="1"/>
              </p:cNvSpPr>
              <p:nvPr/>
            </p:nvSpPr>
            <p:spPr bwMode="auto">
              <a:xfrm>
                <a:off x="4785" y="1842"/>
                <a:ext cx="499" cy="18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8" name="Line 26"/>
            <p:cNvSpPr>
              <a:spLocks noChangeShapeType="1"/>
            </p:cNvSpPr>
            <p:nvPr/>
          </p:nvSpPr>
          <p:spPr bwMode="auto">
            <a:xfrm>
              <a:off x="4266" y="1797"/>
              <a:ext cx="363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7" name="表格 27"/>
          <p:cNvGraphicFramePr>
            <a:graphicFrameLocks noGrp="1"/>
          </p:cNvGraphicFramePr>
          <p:nvPr/>
        </p:nvGraphicFramePr>
        <p:xfrm>
          <a:off x="4743282" y="4344618"/>
          <a:ext cx="1484729" cy="8534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9720">
                <a:tc>
                  <a:txBody>
                    <a:bodyPr/>
                    <a:lstStyle/>
                    <a:p>
                      <a:r>
                        <a:rPr lang="en-US" altLang="zh-CN" sz="2200" dirty="0"/>
                        <a:t>mouse</a:t>
                      </a:r>
                      <a:endParaRPr lang="zh-CN" altLang="en-US" sz="22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2200" dirty="0"/>
                        <a:t>4</a:t>
                      </a:r>
                      <a:endParaRPr lang="zh-CN" altLang="en-US" sz="2200" dirty="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20">
                <a:tc gridSpan="2">
                  <a:txBody>
                    <a:bodyPr/>
                    <a:lstStyle/>
                    <a:p>
                      <a:endParaRPr lang="zh-CN" altLang="en-US" sz="2200" dirty="0"/>
                    </a:p>
                  </a:txBody>
                  <a:tcPr marT="45719" marB="45719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" name="直线箭头连接符 28"/>
          <p:cNvCxnSpPr>
            <a:endCxn id="27" idx="0"/>
          </p:cNvCxnSpPr>
          <p:nvPr/>
        </p:nvCxnSpPr>
        <p:spPr>
          <a:xfrm>
            <a:off x="2210686" y="4062774"/>
            <a:ext cx="3274960" cy="281844"/>
          </a:xfrm>
          <a:prstGeom prst="curvedConnector2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8"/>
          <p:cNvCxnSpPr/>
          <p:nvPr/>
        </p:nvCxnSpPr>
        <p:spPr>
          <a:xfrm rot="10800000">
            <a:off x="3277730" y="4918127"/>
            <a:ext cx="2207918" cy="56574"/>
          </a:xfrm>
          <a:prstGeom prst="curvedConnector3">
            <a:avLst>
              <a:gd name="adj1" fmla="val 49233"/>
            </a:avLst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2717833" y="4264499"/>
            <a:ext cx="3301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solidFill>
                  <a:srgbClr val="FF0000"/>
                </a:solidFill>
                <a:sym typeface="Symbol" panose="05050102010706020507" pitchFamily="2" charset="2"/>
              </a:rPr>
              <a:t>X</a:t>
            </a:r>
            <a:endParaRPr lang="zh-CN" altLang="en-US" sz="2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Efficient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Functional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243" y="999066"/>
            <a:ext cx="8449733" cy="2946401"/>
          </a:xfrm>
        </p:spPr>
        <p:txBody>
          <a:bodyPr>
            <a:normAutofit/>
          </a:bodyPr>
          <a:lstStyle/>
          <a:p>
            <a:r>
              <a:rPr lang="en-US" altLang="zh-CN" dirty="0">
                <a:sym typeface="Symbol" panose="05050102010706020507" pitchFamily="2" charset="2"/>
              </a:rPr>
              <a:t>m2</a:t>
            </a:r>
            <a:r>
              <a:rPr kumimoji="1" lang="en-GB" altLang="zh-CN" dirty="0"/>
              <a:t> = </a:t>
            </a:r>
            <a:r>
              <a:rPr lang="en-US" altLang="zh-CN" dirty="0">
                <a:sym typeface="Symbol" panose="05050102010706020507" pitchFamily="2" charset="2"/>
              </a:rPr>
              <a:t>m1</a:t>
            </a:r>
            <a:r>
              <a:rPr kumimoji="1" lang="en-GB" altLang="zh-CN" dirty="0"/>
              <a:t> + {</a:t>
            </a:r>
            <a:r>
              <a:rPr kumimoji="1" lang="en-US" altLang="zh-CN" dirty="0"/>
              <a:t>mouse</a:t>
            </a:r>
            <a:r>
              <a:rPr kumimoji="1" lang="en-GB" altLang="zh-CN" dirty="0"/>
              <a:t> ↦ </a:t>
            </a:r>
            <a:r>
              <a:rPr kumimoji="1" lang="en-US" altLang="zh-CN" dirty="0"/>
              <a:t>4</a:t>
            </a:r>
            <a:r>
              <a:rPr kumimoji="1" lang="el-GR" altLang="zh-CN" dirty="0"/>
              <a:t>}</a:t>
            </a:r>
            <a:endParaRPr kumimoji="1" lang="en-US" altLang="zh-CN" dirty="0"/>
          </a:p>
          <a:p>
            <a:r>
              <a:rPr lang="en-US" altLang="zh-CN" dirty="0">
                <a:sym typeface="Symbol" panose="05050102010706020507" pitchFamily="2" charset="2"/>
              </a:rPr>
              <a:t>m1</a:t>
            </a:r>
            <a:r>
              <a:rPr kumimoji="0" lang="zh-CN" altLang="en-US" dirty="0">
                <a:sym typeface="Symbol" panose="05050102010706020507" pitchFamily="2" charset="2"/>
              </a:rPr>
              <a:t> </a:t>
            </a:r>
            <a:r>
              <a:rPr kumimoji="0" lang="en-US" altLang="zh-CN" dirty="0">
                <a:sym typeface="Symbol" panose="05050102010706020507" pitchFamily="2" charset="2"/>
              </a:rPr>
              <a:t>=</a:t>
            </a:r>
            <a:r>
              <a:rPr kumimoji="0" lang="zh-CN" altLang="en-US" dirty="0">
                <a:sym typeface="Symbol" panose="05050102010706020507" pitchFamily="2" charset="2"/>
              </a:rPr>
              <a:t> </a:t>
            </a:r>
            <a:r>
              <a:rPr kumimoji="0" lang="en-US" altLang="zh-CN" dirty="0">
                <a:sym typeface="Symbol" panose="05050102010706020507" pitchFamily="2" charset="2"/>
              </a:rPr>
              <a:t>{bat ↦ 1,camel ↦ 2,dog ↦</a:t>
            </a:r>
            <a:r>
              <a:rPr kumimoji="0" lang="zh-CN" altLang="en-US" dirty="0">
                <a:sym typeface="Symbol" panose="05050102010706020507" pitchFamily="2" charset="2"/>
              </a:rPr>
              <a:t> </a:t>
            </a:r>
            <a:r>
              <a:rPr kumimoji="0" lang="en-US" altLang="zh-CN" dirty="0">
                <a:sym typeface="Symbol" panose="05050102010706020507" pitchFamily="2" charset="2"/>
              </a:rPr>
              <a:t>3},</a:t>
            </a:r>
            <a:r>
              <a:rPr kumimoji="0"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suppose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index(camel)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=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index(mouse)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=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5</a:t>
            </a:r>
            <a:endParaRPr kumimoji="0" lang="en-US" altLang="zh-CN" dirty="0">
              <a:sym typeface="Symbol" panose="05050102010706020507" pitchFamily="2" charset="2"/>
            </a:endParaRPr>
          </a:p>
          <a:p>
            <a:r>
              <a:rPr lang="en-US" altLang="zh-CN" dirty="0">
                <a:sym typeface="Symbol" panose="05050102010706020507" pitchFamily="2" charset="2"/>
              </a:rPr>
              <a:t>H</a:t>
            </a:r>
            <a:r>
              <a:rPr kumimoji="0" lang="en-US" altLang="zh-CN" dirty="0">
                <a:sym typeface="Symbol" panose="05050102010706020507" pitchFamily="2" charset="2"/>
              </a:rPr>
              <a:t>ash(mouse)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 -&gt;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 &lt;mouse,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4&gt;: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olidFill>
                  <a:srgbClr val="0070C0"/>
                </a:solidFill>
                <a:sym typeface="Symbol" panose="05050102010706020507" pitchFamily="2" charset="2"/>
              </a:rPr>
              <a:t>m1 is destroyed </a:t>
            </a:r>
          </a:p>
          <a:p>
            <a:r>
              <a:rPr kumimoji="0" lang="en-US" altLang="zh-CN" dirty="0">
                <a:sym typeface="Symbol" panose="05050102010706020507" pitchFamily="2" charset="2"/>
              </a:rPr>
              <a:t>Copy</a:t>
            </a:r>
            <a:r>
              <a:rPr kumimoji="0" lang="zh-CN" altLang="en-US" dirty="0">
                <a:sym typeface="Symbol" panose="05050102010706020507" pitchFamily="2" charset="2"/>
              </a:rPr>
              <a:t> </a:t>
            </a:r>
            <a:r>
              <a:rPr kumimoji="0" lang="en-US" altLang="zh-CN" dirty="0">
                <a:sym typeface="Symbol" panose="05050102010706020507" pitchFamily="2" charset="2"/>
              </a:rPr>
              <a:t>the</a:t>
            </a:r>
            <a:r>
              <a:rPr kumimoji="0" lang="zh-CN" altLang="en-US" dirty="0">
                <a:sym typeface="Symbol" panose="05050102010706020507" pitchFamily="2" charset="2"/>
              </a:rPr>
              <a:t> </a:t>
            </a:r>
            <a:r>
              <a:rPr kumimoji="0" lang="en-US" altLang="zh-CN" dirty="0">
                <a:sym typeface="Symbol" panose="05050102010706020507" pitchFamily="2" charset="2"/>
              </a:rPr>
              <a:t>array</a:t>
            </a:r>
            <a:r>
              <a:rPr lang="en-US" altLang="zh-CN" dirty="0">
                <a:sym typeface="Symbol" panose="05050102010706020507" pitchFamily="2" charset="2"/>
              </a:rPr>
              <a:t>,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but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share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all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the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old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buckets: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olidFill>
                  <a:srgbClr val="0070C0"/>
                </a:solidFill>
                <a:sym typeface="Symbol" panose="05050102010706020507" pitchFamily="2" charset="2"/>
              </a:rPr>
              <a:t>not</a:t>
            </a:r>
            <a:r>
              <a:rPr lang="zh-CN" altLang="en-US" dirty="0">
                <a:solidFill>
                  <a:srgbClr val="0070C0"/>
                </a:solidFill>
                <a:sym typeface="Symbol" panose="05050102010706020507" pitchFamily="2" charset="2"/>
              </a:rPr>
              <a:t> </a:t>
            </a:r>
            <a:r>
              <a:rPr lang="en-US" altLang="zh-CN" dirty="0">
                <a:solidFill>
                  <a:srgbClr val="0070C0"/>
                </a:solidFill>
                <a:sym typeface="Symbol" panose="05050102010706020507" pitchFamily="2" charset="2"/>
              </a:rPr>
              <a:t>efficient</a:t>
            </a:r>
          </a:p>
          <a:p>
            <a:pPr lvl="1"/>
            <a:r>
              <a:rPr lang="en-US" altLang="zh-CN" dirty="0">
                <a:sym typeface="Symbol" panose="05050102010706020507" pitchFamily="2" charset="2"/>
              </a:rPr>
              <a:t>The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array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in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a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hash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table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should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be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quite</a:t>
            </a:r>
            <a:r>
              <a:rPr lang="zh-CN" altLang="en-US" dirty="0">
                <a:sym typeface="Symbol" panose="05050102010706020507" pitchFamily="2" charset="2"/>
              </a:rPr>
              <a:t> </a:t>
            </a:r>
            <a:r>
              <a:rPr lang="en-US" altLang="zh-CN" dirty="0">
                <a:sym typeface="Symbol" panose="05050102010706020507" pitchFamily="2" charset="2"/>
              </a:rPr>
              <a:t>large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2" t="8101" r="7118" b="50053"/>
          <a:stretch>
            <a:fillRect/>
          </a:stretch>
        </p:blipFill>
        <p:spPr>
          <a:xfrm>
            <a:off x="333024" y="3821565"/>
            <a:ext cx="8619067" cy="30364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Efficient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Functional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</a:t>
            </a:r>
            <a:r>
              <a:rPr kumimoji="1" lang="en-GB" altLang="zh-CN" dirty="0"/>
              <a:t>e can perform such “functional” additions to </a:t>
            </a:r>
            <a:r>
              <a:rPr kumimoji="1" lang="en-GB" altLang="zh-CN" dirty="0">
                <a:solidFill>
                  <a:srgbClr val="0070C0"/>
                </a:solidFill>
              </a:rPr>
              <a:t>Search Trees </a:t>
            </a:r>
            <a:r>
              <a:rPr kumimoji="1" lang="en-GB" altLang="zh-CN" dirty="0"/>
              <a:t>efﬁciently</a:t>
            </a:r>
            <a:r>
              <a:rPr kumimoji="1" lang="zh-CN" altLang="en-US" dirty="0"/>
              <a:t> </a:t>
            </a:r>
            <a:r>
              <a:rPr kumimoji="1" lang="en-US" altLang="zh-CN" dirty="0"/>
              <a:t>via binary</a:t>
            </a:r>
            <a:r>
              <a:rPr kumimoji="1" lang="zh-CN" altLang="en-US" dirty="0"/>
              <a:t> </a:t>
            </a:r>
            <a:r>
              <a:rPr kumimoji="1" lang="en-US" altLang="zh-CN" dirty="0"/>
              <a:t>search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trees (instead of </a:t>
            </a:r>
            <a:r>
              <a:rPr kumimoji="1" lang="en-US" altLang="zh-CN" dirty="0">
                <a:solidFill>
                  <a:srgbClr val="0070C0"/>
                </a:solidFill>
              </a:rPr>
              <a:t>Hash Tables</a:t>
            </a:r>
            <a:r>
              <a:rPr kumimoji="1" lang="en-US" altLang="zh-CN" dirty="0"/>
              <a:t>).</a:t>
            </a:r>
          </a:p>
          <a:p>
            <a:r>
              <a:rPr kumimoji="1" lang="en-GB" altLang="zh-CN" dirty="0"/>
              <a:t>If we add a new node at depth </a:t>
            </a:r>
            <a:r>
              <a:rPr kumimoji="1" lang="en-GB" altLang="zh-CN" i="1" dirty="0"/>
              <a:t>d</a:t>
            </a:r>
            <a:r>
              <a:rPr kumimoji="1" lang="en-GB" altLang="zh-CN" dirty="0"/>
              <a:t> of the tree, we must create </a:t>
            </a:r>
            <a:r>
              <a:rPr kumimoji="1" lang="en-GB" altLang="zh-CN" i="1" dirty="0"/>
              <a:t>d</a:t>
            </a:r>
            <a:r>
              <a:rPr kumimoji="1" lang="en-GB" altLang="zh-CN" dirty="0"/>
              <a:t> new nodes – but we don’t need to copy the whole tree.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475110" y="2850747"/>
            <a:ext cx="330764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/>
              <a:t>Copy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nodes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from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root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parent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of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inserted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/>
              <a:t>m1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keeps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unchanged.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/>
              <a:t>Looking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up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element:</a:t>
            </a:r>
            <a:r>
              <a:rPr kumimoji="1" lang="zh-CN" altLang="en-US" sz="2400" dirty="0"/>
              <a:t> </a:t>
            </a:r>
            <a:r>
              <a:rPr kumimoji="1" lang="en-US" altLang="zh-CN" sz="2400" dirty="0">
                <a:solidFill>
                  <a:srgbClr val="0070C0"/>
                </a:solidFill>
              </a:rPr>
              <a:t>log(</a:t>
            </a:r>
            <a:r>
              <a:rPr kumimoji="1" lang="en-US" altLang="zh-CN" sz="2400" i="1" dirty="0">
                <a:solidFill>
                  <a:srgbClr val="0070C0"/>
                </a:solidFill>
              </a:rPr>
              <a:t>n</a:t>
            </a:r>
            <a:r>
              <a:rPr kumimoji="1" lang="en-US" altLang="zh-CN" sz="2400" dirty="0">
                <a:solidFill>
                  <a:srgbClr val="0070C0"/>
                </a:solidFill>
              </a:rPr>
              <a:t>)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for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balanced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tree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of</a:t>
            </a:r>
            <a:r>
              <a:rPr kumimoji="1" lang="zh-CN" altLang="en-US" sz="2400" dirty="0"/>
              <a:t> </a:t>
            </a:r>
            <a:r>
              <a:rPr kumimoji="1" lang="en-US" altLang="zh-CN" sz="2400" i="1" dirty="0"/>
              <a:t>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nodes.</a:t>
            </a:r>
            <a:endParaRPr kumimoji="1"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40" y="3207399"/>
            <a:ext cx="5039426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Tiger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243" y="5153621"/>
            <a:ext cx="8449734" cy="1574800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kumimoji="1" lang="en-US" altLang="zh-CN" sz="2600" dirty="0"/>
              <a:t>Must examine every character of string s for hashing</a:t>
            </a:r>
          </a:p>
          <a:p>
            <a:pPr marL="228600" lvl="1">
              <a:spcBef>
                <a:spcPts val="1000"/>
              </a:spcBef>
            </a:pPr>
            <a:r>
              <a:rPr kumimoji="1" lang="en-US" altLang="zh-CN" sz="2600" dirty="0"/>
              <a:t>Each time it compares s against a string in the </a:t>
            </a:r>
            <a:r>
              <a:rPr kumimoji="1" lang="en-US" altLang="zh-CN" sz="2600" i="1" dirty="0" err="1"/>
              <a:t>i</a:t>
            </a:r>
            <a:r>
              <a:rPr kumimoji="1" lang="en-US" altLang="zh-CN" sz="2600" dirty="0" err="1"/>
              <a:t>-th</a:t>
            </a:r>
            <a:r>
              <a:rPr kumimoji="1" lang="en-US" altLang="zh-CN" sz="2600" dirty="0"/>
              <a:t> bucket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How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to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improve?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CC6291-FD24-1560-D441-71B13CB943F3}"/>
              </a:ext>
            </a:extLst>
          </p:cNvPr>
          <p:cNvSpPr txBox="1"/>
          <p:nvPr/>
        </p:nvSpPr>
        <p:spPr>
          <a:xfrm>
            <a:off x="479886" y="1037705"/>
            <a:ext cx="8140780" cy="404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unsigned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795E26"/>
                </a:solidFill>
                <a:effectLst/>
                <a:latin typeface="+mn-ea"/>
              </a:rPr>
              <a:t>hash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char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s0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) {</a:t>
            </a:r>
          </a:p>
          <a:p>
            <a:r>
              <a:rPr lang="en-GB" altLang="zh-CN" b="1" dirty="0">
                <a:solidFill>
                  <a:srgbClr val="0000FF"/>
                </a:solidFill>
                <a:latin typeface="+mn-ea"/>
              </a:rPr>
              <a:t> 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unsigned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h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=</a:t>
            </a:r>
            <a:r>
              <a:rPr lang="en-GB" altLang="zh-CN" b="1" dirty="0">
                <a:solidFill>
                  <a:srgbClr val="098658"/>
                </a:solidFill>
                <a:effectLst/>
                <a:latin typeface="+mn-ea"/>
              </a:rPr>
              <a:t>0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char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s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r>
              <a:rPr lang="zh-CN" altLang="en-US" b="1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+mn-ea"/>
              </a:rPr>
              <a:t>  </a:t>
            </a:r>
            <a:r>
              <a:rPr lang="en-GB" altLang="zh-CN" b="1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+mn-ea"/>
              </a:rPr>
              <a:t>for</a:t>
            </a:r>
            <a:r>
              <a:rPr lang="en-GB" altLang="zh-CN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(</a:t>
            </a:r>
            <a:r>
              <a:rPr lang="en-GB" altLang="zh-CN" b="1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+mn-ea"/>
              </a:rPr>
              <a:t>s</a:t>
            </a:r>
            <a:r>
              <a:rPr lang="en-GB" altLang="zh-CN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=</a:t>
            </a:r>
            <a:r>
              <a:rPr lang="en-GB" altLang="zh-CN" b="1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+mn-ea"/>
              </a:rPr>
              <a:t>s0</a:t>
            </a:r>
            <a:r>
              <a:rPr lang="en-GB" altLang="zh-CN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; *</a:t>
            </a:r>
            <a:r>
              <a:rPr lang="en-GB" altLang="zh-CN" b="1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+mn-ea"/>
              </a:rPr>
              <a:t>s</a:t>
            </a:r>
            <a:r>
              <a:rPr lang="en-GB" altLang="zh-CN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; </a:t>
            </a:r>
            <a:r>
              <a:rPr lang="en-GB" altLang="zh-CN" b="1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+mn-ea"/>
              </a:rPr>
              <a:t>s</a:t>
            </a:r>
            <a:r>
              <a:rPr lang="en-GB" altLang="zh-CN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++)</a:t>
            </a:r>
          </a:p>
          <a:p>
            <a:r>
              <a:rPr lang="zh-CN" altLang="en-US" b="1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+mn-ea"/>
              </a:rPr>
              <a:t>    </a:t>
            </a:r>
            <a:r>
              <a:rPr lang="en-GB" altLang="zh-CN" b="1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+mn-ea"/>
              </a:rPr>
              <a:t>h</a:t>
            </a:r>
            <a:r>
              <a:rPr lang="en-GB" altLang="zh-CN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=</a:t>
            </a:r>
            <a:r>
              <a:rPr lang="en-GB" altLang="zh-CN" b="1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+mn-ea"/>
              </a:rPr>
              <a:t>h</a:t>
            </a:r>
            <a:r>
              <a:rPr lang="en-GB" altLang="zh-CN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*</a:t>
            </a:r>
            <a:r>
              <a:rPr lang="en-GB" altLang="zh-CN" b="1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+mn-ea"/>
              </a:rPr>
              <a:t>65599</a:t>
            </a:r>
            <a:r>
              <a:rPr lang="en-GB" altLang="zh-CN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 + *</a:t>
            </a:r>
            <a:r>
              <a:rPr lang="en-GB" altLang="zh-CN" b="1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+mn-ea"/>
              </a:rPr>
              <a:t>s</a:t>
            </a:r>
            <a:r>
              <a:rPr lang="en-GB" altLang="zh-CN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;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</a:p>
          <a:p>
            <a:r>
              <a:rPr lang="zh-CN" altLang="en-US" b="1" dirty="0">
                <a:solidFill>
                  <a:srgbClr val="AF00DB"/>
                </a:solidFill>
                <a:effectLst/>
                <a:latin typeface="+mn-ea"/>
              </a:rPr>
              <a:t>  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+mn-ea"/>
              </a:rPr>
              <a:t>return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h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</a:p>
          <a:p>
            <a:pPr>
              <a:spcAft>
                <a:spcPts val="600"/>
              </a:spcAft>
            </a:pP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}</a:t>
            </a:r>
          </a:p>
          <a:p>
            <a:r>
              <a:rPr lang="en-GB" altLang="zh-CN" b="1" dirty="0">
                <a:solidFill>
                  <a:srgbClr val="0000FF"/>
                </a:solidFill>
                <a:latin typeface="+mn-ea"/>
              </a:rPr>
              <a:t>void</a:t>
            </a:r>
            <a:r>
              <a:rPr lang="en-GB" altLang="zh-CN" b="1" dirty="0">
                <a:solidFill>
                  <a:srgbClr val="000000"/>
                </a:solidFill>
                <a:latin typeface="+mn-ea"/>
              </a:rPr>
              <a:t> *</a:t>
            </a:r>
            <a:r>
              <a:rPr lang="en-GB" altLang="zh-CN" b="1" dirty="0">
                <a:solidFill>
                  <a:srgbClr val="795E26"/>
                </a:solidFill>
                <a:latin typeface="+mn-ea"/>
              </a:rPr>
              <a:t>lookup</a:t>
            </a:r>
            <a:r>
              <a:rPr lang="en-GB" altLang="zh-CN" b="1" dirty="0">
                <a:solidFill>
                  <a:srgbClr val="000000"/>
                </a:solidFill>
                <a:latin typeface="+mn-ea"/>
              </a:rPr>
              <a:t>(string </a:t>
            </a:r>
            <a:r>
              <a:rPr lang="en-GB" altLang="zh-CN" b="1" dirty="0">
                <a:solidFill>
                  <a:srgbClr val="001080"/>
                </a:solidFill>
                <a:latin typeface="+mn-ea"/>
              </a:rPr>
              <a:t>key</a:t>
            </a:r>
            <a:r>
              <a:rPr lang="en-GB" altLang="zh-CN" b="1" dirty="0">
                <a:solidFill>
                  <a:srgbClr val="000000"/>
                </a:solidFill>
                <a:latin typeface="+mn-ea"/>
              </a:rPr>
              <a:t>) {</a:t>
            </a:r>
          </a:p>
          <a:p>
            <a:r>
              <a:rPr lang="zh-CN" altLang="en-US" b="1" dirty="0">
                <a:solidFill>
                  <a:srgbClr val="0000FF"/>
                </a:solidFill>
                <a:latin typeface="+mn-ea"/>
              </a:rPr>
              <a:t>  </a:t>
            </a:r>
            <a:r>
              <a:rPr lang="en-GB" altLang="zh-CN" b="1" dirty="0">
                <a:solidFill>
                  <a:srgbClr val="0000FF"/>
                </a:solidFill>
                <a:latin typeface="+mn-ea"/>
              </a:rPr>
              <a:t>int</a:t>
            </a:r>
            <a:r>
              <a:rPr lang="en-GB" altLang="zh-CN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latin typeface="+mn-ea"/>
              </a:rPr>
              <a:t>index</a:t>
            </a:r>
            <a:r>
              <a:rPr lang="en-GB" altLang="zh-CN" b="1" dirty="0">
                <a:solidFill>
                  <a:srgbClr val="000000"/>
                </a:solidFill>
                <a:latin typeface="+mn-ea"/>
              </a:rPr>
              <a:t>=</a:t>
            </a:r>
            <a:r>
              <a:rPr lang="en-GB" altLang="zh-CN" b="1" dirty="0">
                <a:solidFill>
                  <a:srgbClr val="795E26"/>
                </a:solidFill>
                <a:latin typeface="+mn-ea"/>
              </a:rPr>
              <a:t>hash</a:t>
            </a:r>
            <a:r>
              <a:rPr lang="en-GB" altLang="zh-CN" b="1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GB" altLang="zh-CN" b="1" dirty="0">
                <a:solidFill>
                  <a:srgbClr val="001080"/>
                </a:solidFill>
                <a:latin typeface="+mn-ea"/>
              </a:rPr>
              <a:t>key</a:t>
            </a:r>
            <a:r>
              <a:rPr lang="en-GB" altLang="zh-CN" b="1" dirty="0">
                <a:solidFill>
                  <a:srgbClr val="000000"/>
                </a:solidFill>
                <a:latin typeface="+mn-ea"/>
              </a:rPr>
              <a:t>)%</a:t>
            </a:r>
            <a:r>
              <a:rPr lang="en-GB" altLang="zh-CN" b="1" dirty="0">
                <a:solidFill>
                  <a:srgbClr val="0000FF"/>
                </a:solidFill>
                <a:latin typeface="+mn-ea"/>
              </a:rPr>
              <a:t>SIZE</a:t>
            </a:r>
            <a:r>
              <a:rPr lang="en-GB" altLang="zh-CN" b="1" dirty="0">
                <a:solidFill>
                  <a:srgbClr val="000000"/>
                </a:solidFill>
                <a:latin typeface="+mn-ea"/>
              </a:rPr>
              <a:t> </a:t>
            </a:r>
          </a:p>
          <a:p>
            <a:r>
              <a:rPr lang="zh-CN" altLang="en-US" b="1" dirty="0">
                <a:solidFill>
                  <a:srgbClr val="0000FF"/>
                </a:solidFill>
                <a:latin typeface="+mn-ea"/>
              </a:rPr>
              <a:t>  </a:t>
            </a:r>
            <a:r>
              <a:rPr lang="en-GB" altLang="zh-CN" b="1" dirty="0">
                <a:solidFill>
                  <a:srgbClr val="0000FF"/>
                </a:solidFill>
                <a:latin typeface="+mn-ea"/>
              </a:rPr>
              <a:t>struct</a:t>
            </a:r>
            <a:r>
              <a:rPr lang="en-GB" altLang="zh-CN" b="1" dirty="0">
                <a:solidFill>
                  <a:srgbClr val="000000"/>
                </a:solidFill>
                <a:latin typeface="+mn-ea"/>
              </a:rPr>
              <a:t> bucket *b;</a:t>
            </a:r>
          </a:p>
          <a:p>
            <a:r>
              <a:rPr lang="zh-CN" altLang="en-US" b="1" dirty="0">
                <a:solidFill>
                  <a:srgbClr val="AF00DB"/>
                </a:solidFill>
                <a:highlight>
                  <a:srgbClr val="FFFF00"/>
                </a:highlight>
                <a:latin typeface="+mn-ea"/>
              </a:rPr>
              <a:t>  </a:t>
            </a:r>
            <a:r>
              <a:rPr lang="en-GB" altLang="zh-CN" b="1" dirty="0">
                <a:solidFill>
                  <a:srgbClr val="AF00DB"/>
                </a:solidFill>
                <a:highlight>
                  <a:srgbClr val="FFFF00"/>
                </a:highlight>
                <a:latin typeface="+mn-ea"/>
              </a:rPr>
              <a:t>for</a:t>
            </a:r>
            <a:r>
              <a:rPr lang="en-GB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+mn-ea"/>
              </a:rPr>
              <a:t> (b = </a:t>
            </a:r>
            <a:r>
              <a:rPr lang="en-GB" altLang="zh-CN" b="1" dirty="0">
                <a:solidFill>
                  <a:srgbClr val="001080"/>
                </a:solidFill>
                <a:highlight>
                  <a:srgbClr val="FFFF00"/>
                </a:highlight>
                <a:latin typeface="+mn-ea"/>
              </a:rPr>
              <a:t>table</a:t>
            </a:r>
            <a:r>
              <a:rPr lang="en-GB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+mn-ea"/>
              </a:rPr>
              <a:t>[</a:t>
            </a:r>
            <a:r>
              <a:rPr lang="en-GB" altLang="zh-CN" b="1" dirty="0">
                <a:solidFill>
                  <a:srgbClr val="001080"/>
                </a:solidFill>
                <a:highlight>
                  <a:srgbClr val="FFFF00"/>
                </a:highlight>
                <a:latin typeface="+mn-ea"/>
              </a:rPr>
              <a:t>index</a:t>
            </a:r>
            <a:r>
              <a:rPr lang="en-GB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+mn-ea"/>
              </a:rPr>
              <a:t>]; b; b=</a:t>
            </a:r>
            <a:r>
              <a:rPr lang="en-GB" altLang="zh-CN" b="1" dirty="0">
                <a:solidFill>
                  <a:srgbClr val="001080"/>
                </a:solidFill>
                <a:highlight>
                  <a:srgbClr val="FFFF00"/>
                </a:highlight>
                <a:latin typeface="+mn-ea"/>
              </a:rPr>
              <a:t>b</a:t>
            </a:r>
            <a:r>
              <a:rPr lang="en-GB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+mn-ea"/>
              </a:rPr>
              <a:t>-&gt;</a:t>
            </a:r>
            <a:r>
              <a:rPr lang="en-GB" altLang="zh-CN" b="1" dirty="0">
                <a:solidFill>
                  <a:srgbClr val="001080"/>
                </a:solidFill>
                <a:highlight>
                  <a:srgbClr val="FFFF00"/>
                </a:highlight>
                <a:latin typeface="+mn-ea"/>
              </a:rPr>
              <a:t>next</a:t>
            </a:r>
            <a:r>
              <a:rPr lang="en-GB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+mn-ea"/>
              </a:rPr>
              <a:t>) </a:t>
            </a:r>
          </a:p>
          <a:p>
            <a:r>
              <a:rPr lang="zh-CN" altLang="en-US" b="1" dirty="0">
                <a:solidFill>
                  <a:srgbClr val="AF00DB"/>
                </a:solidFill>
                <a:highlight>
                  <a:srgbClr val="FFFF00"/>
                </a:highlight>
                <a:latin typeface="+mn-ea"/>
              </a:rPr>
              <a:t>    </a:t>
            </a:r>
            <a:r>
              <a:rPr lang="en-GB" altLang="zh-CN" b="1" dirty="0">
                <a:solidFill>
                  <a:srgbClr val="AF00DB"/>
                </a:solidFill>
                <a:highlight>
                  <a:srgbClr val="FFFF00"/>
                </a:highlight>
                <a:latin typeface="+mn-ea"/>
              </a:rPr>
              <a:t>if</a:t>
            </a:r>
            <a:r>
              <a:rPr lang="en-GB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+mn-ea"/>
              </a:rPr>
              <a:t> (</a:t>
            </a:r>
            <a:r>
              <a:rPr lang="en-GB" altLang="zh-CN" b="1" dirty="0">
                <a:solidFill>
                  <a:srgbClr val="098658"/>
                </a:solidFill>
                <a:highlight>
                  <a:srgbClr val="FFFF00"/>
                </a:highlight>
                <a:latin typeface="+mn-ea"/>
              </a:rPr>
              <a:t>0</a:t>
            </a:r>
            <a:r>
              <a:rPr lang="en-GB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+mn-ea"/>
              </a:rPr>
              <a:t>==</a:t>
            </a:r>
            <a:r>
              <a:rPr lang="en-GB" altLang="zh-CN" b="1" dirty="0" err="1">
                <a:solidFill>
                  <a:srgbClr val="795E26"/>
                </a:solidFill>
                <a:highlight>
                  <a:srgbClr val="FFFF00"/>
                </a:highlight>
                <a:latin typeface="+mn-ea"/>
              </a:rPr>
              <a:t>strcmp</a:t>
            </a:r>
            <a:r>
              <a:rPr lang="en-GB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en-GB" altLang="zh-CN" b="1" dirty="0">
                <a:solidFill>
                  <a:srgbClr val="001080"/>
                </a:solidFill>
                <a:highlight>
                  <a:srgbClr val="FFFF00"/>
                </a:highlight>
                <a:latin typeface="+mn-ea"/>
              </a:rPr>
              <a:t>b</a:t>
            </a:r>
            <a:r>
              <a:rPr lang="en-GB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+mn-ea"/>
              </a:rPr>
              <a:t>-&gt;</a:t>
            </a:r>
            <a:r>
              <a:rPr lang="en-GB" altLang="zh-CN" b="1" dirty="0" err="1">
                <a:solidFill>
                  <a:srgbClr val="001080"/>
                </a:solidFill>
                <a:highlight>
                  <a:srgbClr val="FFFF00"/>
                </a:highlight>
                <a:latin typeface="+mn-ea"/>
              </a:rPr>
              <a:t>key</a:t>
            </a:r>
            <a:r>
              <a:rPr lang="en-GB" altLang="zh-CN" b="1" dirty="0" err="1">
                <a:solidFill>
                  <a:srgbClr val="000000"/>
                </a:solidFill>
                <a:highlight>
                  <a:srgbClr val="FFFF00"/>
                </a:highlight>
                <a:latin typeface="+mn-ea"/>
              </a:rPr>
              <a:t>,</a:t>
            </a:r>
            <a:r>
              <a:rPr lang="en-GB" altLang="zh-CN" b="1" dirty="0" err="1">
                <a:solidFill>
                  <a:srgbClr val="001080"/>
                </a:solidFill>
                <a:highlight>
                  <a:srgbClr val="FFFF00"/>
                </a:highlight>
                <a:latin typeface="+mn-ea"/>
              </a:rPr>
              <a:t>key</a:t>
            </a:r>
            <a:r>
              <a:rPr lang="en-GB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+mn-ea"/>
              </a:rPr>
              <a:t>)) </a:t>
            </a:r>
          </a:p>
          <a:p>
            <a:r>
              <a:rPr lang="zh-CN" altLang="en-US" b="1" dirty="0">
                <a:solidFill>
                  <a:srgbClr val="000000"/>
                </a:solidFill>
                <a:highlight>
                  <a:srgbClr val="FFFF00"/>
                </a:highlight>
                <a:latin typeface="+mn-ea"/>
              </a:rPr>
              <a:t>      </a:t>
            </a:r>
            <a:r>
              <a:rPr lang="en-GB" altLang="zh-CN" b="1" dirty="0">
                <a:solidFill>
                  <a:srgbClr val="AF00DB"/>
                </a:solidFill>
                <a:highlight>
                  <a:srgbClr val="FFFF00"/>
                </a:highlight>
                <a:latin typeface="+mn-ea"/>
              </a:rPr>
              <a:t>return</a:t>
            </a:r>
            <a:r>
              <a:rPr lang="en-GB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+mn-ea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highlight>
                  <a:srgbClr val="FFFF00"/>
                </a:highlight>
                <a:latin typeface="+mn-ea"/>
              </a:rPr>
              <a:t>b</a:t>
            </a:r>
            <a:r>
              <a:rPr lang="en-GB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+mn-ea"/>
              </a:rPr>
              <a:t>-&gt;</a:t>
            </a:r>
            <a:r>
              <a:rPr lang="en-GB" altLang="zh-CN" b="1" dirty="0">
                <a:solidFill>
                  <a:srgbClr val="001080"/>
                </a:solidFill>
                <a:highlight>
                  <a:srgbClr val="FFFF00"/>
                </a:highlight>
                <a:latin typeface="+mn-ea"/>
              </a:rPr>
              <a:t>binding</a:t>
            </a:r>
            <a:r>
              <a:rPr lang="en-GB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+mn-ea"/>
              </a:rPr>
              <a:t>; </a:t>
            </a:r>
          </a:p>
          <a:p>
            <a:r>
              <a:rPr lang="zh-CN" altLang="en-US" b="1" dirty="0">
                <a:solidFill>
                  <a:srgbClr val="AF00DB"/>
                </a:solidFill>
                <a:latin typeface="+mn-ea"/>
              </a:rPr>
              <a:t>  </a:t>
            </a:r>
            <a:r>
              <a:rPr lang="en-GB" altLang="zh-CN" b="1" dirty="0">
                <a:solidFill>
                  <a:srgbClr val="AF00DB"/>
                </a:solidFill>
                <a:latin typeface="+mn-ea"/>
              </a:rPr>
              <a:t>return</a:t>
            </a:r>
            <a:r>
              <a:rPr lang="en-GB" altLang="zh-CN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GB" altLang="zh-CN" b="1" dirty="0">
                <a:solidFill>
                  <a:srgbClr val="0000FF"/>
                </a:solidFill>
                <a:latin typeface="+mn-ea"/>
              </a:rPr>
              <a:t>NULL</a:t>
            </a:r>
            <a:r>
              <a:rPr lang="en-GB" altLang="zh-CN" b="1" dirty="0">
                <a:solidFill>
                  <a:srgbClr val="000000"/>
                </a:solidFill>
                <a:latin typeface="+mn-ea"/>
              </a:rPr>
              <a:t>; </a:t>
            </a:r>
          </a:p>
          <a:p>
            <a:r>
              <a:rPr lang="en-GB" altLang="zh-CN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grpSp>
        <p:nvGrpSpPr>
          <p:cNvPr id="6" name="Group 27">
            <a:extLst>
              <a:ext uri="{FF2B5EF4-FFF2-40B4-BE49-F238E27FC236}">
                <a16:creationId xmlns:a16="http://schemas.microsoft.com/office/drawing/2014/main" id="{684E7D02-65B8-63E7-45F7-422C4F1F2878}"/>
              </a:ext>
            </a:extLst>
          </p:cNvPr>
          <p:cNvGrpSpPr/>
          <p:nvPr/>
        </p:nvGrpSpPr>
        <p:grpSpPr bwMode="auto">
          <a:xfrm>
            <a:off x="4962473" y="1759424"/>
            <a:ext cx="3095625" cy="2520950"/>
            <a:chOff x="3334" y="1525"/>
            <a:chExt cx="1950" cy="1588"/>
          </a:xfrm>
        </p:grpSpPr>
        <p:grpSp>
          <p:nvGrpSpPr>
            <p:cNvPr id="7" name="Group 22">
              <a:extLst>
                <a:ext uri="{FF2B5EF4-FFF2-40B4-BE49-F238E27FC236}">
                  <a16:creationId xmlns:a16="http://schemas.microsoft.com/office/drawing/2014/main" id="{CA6AA1BA-4B1D-54A9-6CED-B01D37EE6CF5}"/>
                </a:ext>
              </a:extLst>
            </p:cNvPr>
            <p:cNvGrpSpPr/>
            <p:nvPr/>
          </p:nvGrpSpPr>
          <p:grpSpPr bwMode="auto">
            <a:xfrm>
              <a:off x="3334" y="1525"/>
              <a:ext cx="1950" cy="1588"/>
              <a:chOff x="3334" y="1525"/>
              <a:chExt cx="1950" cy="1588"/>
            </a:xfrm>
          </p:grpSpPr>
          <p:grpSp>
            <p:nvGrpSpPr>
              <p:cNvPr id="9" name="Group 20">
                <a:extLst>
                  <a:ext uri="{FF2B5EF4-FFF2-40B4-BE49-F238E27FC236}">
                    <a16:creationId xmlns:a16="http://schemas.microsoft.com/office/drawing/2014/main" id="{9304B031-FEB0-C5BC-9DCA-835FB5836C3E}"/>
                  </a:ext>
                </a:extLst>
              </p:cNvPr>
              <p:cNvGrpSpPr/>
              <p:nvPr/>
            </p:nvGrpSpPr>
            <p:grpSpPr bwMode="auto">
              <a:xfrm>
                <a:off x="3334" y="1525"/>
                <a:ext cx="1860" cy="1588"/>
                <a:chOff x="3379" y="1434"/>
                <a:chExt cx="1860" cy="1588"/>
              </a:xfrm>
            </p:grpSpPr>
            <p:pic>
              <p:nvPicPr>
                <p:cNvPr id="11" name="Picture 5">
                  <a:extLst>
                    <a:ext uri="{FF2B5EF4-FFF2-40B4-BE49-F238E27FC236}">
                      <a16:creationId xmlns:a16="http://schemas.microsoft.com/office/drawing/2014/main" id="{FB2F3F5F-2684-B537-3071-83A2F1E5581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262" t="8464" r="50000" b="55544"/>
                <a:stretch>
                  <a:fillRect/>
                </a:stretch>
              </p:blipFill>
              <p:spPr bwMode="auto">
                <a:xfrm>
                  <a:off x="3379" y="1434"/>
                  <a:ext cx="1815" cy="15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2" name="Rectangle 10">
                  <a:extLst>
                    <a:ext uri="{FF2B5EF4-FFF2-40B4-BE49-F238E27FC236}">
                      <a16:creationId xmlns:a16="http://schemas.microsoft.com/office/drawing/2014/main" id="{9F8CA25A-2EB2-F72D-8AEA-A77546384A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30" y="1933"/>
                  <a:ext cx="409" cy="18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3" name="Rectangle 13">
                  <a:extLst>
                    <a:ext uri="{FF2B5EF4-FFF2-40B4-BE49-F238E27FC236}">
                      <a16:creationId xmlns:a16="http://schemas.microsoft.com/office/drawing/2014/main" id="{77E3AAE9-BB17-D048-28CE-4521B5A45B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3" y="1979"/>
                  <a:ext cx="861" cy="13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4" name="Rectangle 14">
                  <a:extLst>
                    <a:ext uri="{FF2B5EF4-FFF2-40B4-BE49-F238E27FC236}">
                      <a16:creationId xmlns:a16="http://schemas.microsoft.com/office/drawing/2014/main" id="{968D57D7-7F38-0922-32BB-ED45454788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7" y="1979"/>
                  <a:ext cx="91" cy="13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5" name="Rectangle 15">
                  <a:extLst>
                    <a:ext uri="{FF2B5EF4-FFF2-40B4-BE49-F238E27FC236}">
                      <a16:creationId xmlns:a16="http://schemas.microsoft.com/office/drawing/2014/main" id="{E00A53B1-8356-91AE-D68F-9F9BC6A797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3" y="1842"/>
                  <a:ext cx="590" cy="13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" name="Rectangle 19">
                  <a:extLst>
                    <a:ext uri="{FF2B5EF4-FFF2-40B4-BE49-F238E27FC236}">
                      <a16:creationId xmlns:a16="http://schemas.microsoft.com/office/drawing/2014/main" id="{F28F6BB3-1408-95A4-32C1-E93BFDB481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32" y="1752"/>
                  <a:ext cx="498" cy="181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10" name="Rectangle 21">
                <a:extLst>
                  <a:ext uri="{FF2B5EF4-FFF2-40B4-BE49-F238E27FC236}">
                    <a16:creationId xmlns:a16="http://schemas.microsoft.com/office/drawing/2014/main" id="{FC74A823-CE73-6415-627D-A87E9D4585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1842"/>
                <a:ext cx="499" cy="18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8" name="Line 26">
              <a:extLst>
                <a:ext uri="{FF2B5EF4-FFF2-40B4-BE49-F238E27FC236}">
                  <a16:creationId xmlns:a16="http://schemas.microsoft.com/office/drawing/2014/main" id="{D1440334-F6DA-DAA8-43DE-09D574CBCD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1797"/>
              <a:ext cx="363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Tiger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243" y="2023048"/>
            <a:ext cx="8449733" cy="3564951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kumimoji="1" lang="en-US" altLang="zh-CN" dirty="0"/>
              <a:t>Convert each string to a </a:t>
            </a:r>
            <a:r>
              <a:rPr kumimoji="1" lang="en-US" altLang="zh-CN" i="1" dirty="0">
                <a:solidFill>
                  <a:srgbClr val="0070C0"/>
                </a:solidFill>
              </a:rPr>
              <a:t>symbol</a:t>
            </a:r>
          </a:p>
          <a:p>
            <a:r>
              <a:rPr kumimoji="1" lang="en-GB" altLang="zh-CN" dirty="0"/>
              <a:t>The Symbol module has these important properties:</a:t>
            </a:r>
          </a:p>
          <a:p>
            <a:pPr lvl="1"/>
            <a:r>
              <a:rPr kumimoji="1" lang="en-GB" altLang="zh-CN" dirty="0">
                <a:solidFill>
                  <a:srgbClr val="0070C0"/>
                </a:solidFill>
              </a:rPr>
              <a:t>Extracting an integer hash-key</a:t>
            </a:r>
            <a:r>
              <a:rPr kumimoji="1" lang="en-GB" altLang="zh-CN" dirty="0"/>
              <a:t> is very fast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GB" altLang="zh-CN" dirty="0"/>
              <a:t>use the Symbol-pointer itself as the integer hash-key</a:t>
            </a:r>
            <a:r>
              <a:rPr kumimoji="1" lang="zh-CN" altLang="en-US" dirty="0"/>
              <a:t> </a:t>
            </a:r>
            <a:r>
              <a:rPr kumimoji="1" lang="en-US" altLang="zh-CN" dirty="0"/>
              <a:t>(for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tables)</a:t>
            </a:r>
            <a:endParaRPr kumimoji="1" lang="en-GB" altLang="zh-CN" dirty="0"/>
          </a:p>
          <a:p>
            <a:pPr lvl="1"/>
            <a:r>
              <a:rPr kumimoji="1" lang="en-GB" altLang="zh-CN" dirty="0">
                <a:solidFill>
                  <a:srgbClr val="0070C0"/>
                </a:solidFill>
              </a:rPr>
              <a:t>Comparing symbols for equality</a:t>
            </a:r>
            <a:r>
              <a:rPr kumimoji="1" lang="en-GB" altLang="zh-CN" dirty="0"/>
              <a:t> is fast (just pointer or integer comparison)</a:t>
            </a:r>
          </a:p>
          <a:p>
            <a:pPr lvl="1"/>
            <a:r>
              <a:rPr kumimoji="1" lang="en-GB" altLang="zh-CN" dirty="0">
                <a:solidFill>
                  <a:srgbClr val="0070C0"/>
                </a:solidFill>
              </a:rPr>
              <a:t>Comparing two symbols for “greater-than” </a:t>
            </a:r>
            <a:r>
              <a:rPr kumimoji="1" lang="en-GB" altLang="zh-CN" dirty="0"/>
              <a:t>(in some arbitrary ordering) is very fast </a:t>
            </a:r>
            <a:r>
              <a:rPr kumimoji="1" lang="zh-CN" altLang="en-US" dirty="0"/>
              <a:t> </a:t>
            </a:r>
            <a:r>
              <a:rPr kumimoji="1" lang="en-US" altLang="zh-CN" dirty="0"/>
              <a:t>(for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binary</a:t>
            </a:r>
            <a:r>
              <a:rPr kumimoji="1" lang="zh-CN" altLang="en-US" dirty="0"/>
              <a:t> </a:t>
            </a:r>
            <a:r>
              <a:rPr kumimoji="1" lang="en-US" altLang="zh-CN" dirty="0"/>
              <a:t>search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trees)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877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Tiger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243" y="999066"/>
            <a:ext cx="8449733" cy="20489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800" b="1" dirty="0"/>
              <a:t>The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interface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of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symbols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and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symbol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tables</a:t>
            </a:r>
          </a:p>
          <a:p>
            <a:r>
              <a:rPr kumimoji="1" lang="en-US" altLang="zh-CN" dirty="0"/>
              <a:t>void</a:t>
            </a:r>
            <a:r>
              <a:rPr kumimoji="1" lang="zh-CN" altLang="en-US" dirty="0"/>
              <a:t> *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GB" altLang="zh-CN" dirty="0"/>
              <a:t>We want </a:t>
            </a:r>
            <a:r>
              <a:rPr kumimoji="1" lang="en-GB" altLang="zh-CN" dirty="0">
                <a:solidFill>
                  <a:srgbClr val="0070C0"/>
                </a:solidFill>
              </a:rPr>
              <a:t>different notions of binding </a:t>
            </a:r>
            <a:r>
              <a:rPr kumimoji="1" lang="en-GB" altLang="zh-CN" dirty="0"/>
              <a:t>for different purposes in the compiler – type bindings for types, value bindings for variables and functions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78988" y="3069625"/>
            <a:ext cx="826661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typedef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struct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267F99"/>
                </a:solidFill>
                <a:effectLst/>
                <a:latin typeface="+mn-ea"/>
              </a:rPr>
              <a:t>S_symbol</a:t>
            </a:r>
            <a:r>
              <a:rPr lang="en-GB" altLang="zh-CN" sz="2000" b="1" dirty="0">
                <a:solidFill>
                  <a:srgbClr val="267F99"/>
                </a:solidFill>
                <a:effectLst/>
                <a:latin typeface="+mn-ea"/>
              </a:rPr>
              <a:t>_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sz="2000" b="1" dirty="0" err="1">
                <a:solidFill>
                  <a:srgbClr val="267F99"/>
                </a:solidFill>
                <a:effectLst/>
                <a:latin typeface="+mn-ea"/>
              </a:rPr>
              <a:t>S_symbol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S_symbol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S_symbol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(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string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);     </a:t>
            </a:r>
            <a:r>
              <a:rPr lang="en-GB" altLang="zh-CN" sz="2000" b="1" dirty="0">
                <a:solidFill>
                  <a:srgbClr val="008000"/>
                </a:solidFill>
                <a:latin typeface="+mn-ea"/>
              </a:rPr>
              <a:t>// string -&gt; symbol</a:t>
            </a:r>
            <a:endParaRPr lang="en-GB" altLang="zh-CN" sz="2000" b="1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string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S_name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S_symbol</a:t>
            </a:r>
            <a:r>
              <a:rPr lang="en-GB" altLang="zh-CN" sz="2000" b="1" dirty="0">
                <a:solidFill>
                  <a:srgbClr val="000000"/>
                </a:solidFill>
                <a:latin typeface="+mn-ea"/>
              </a:rPr>
              <a:t>);     </a:t>
            </a:r>
            <a:r>
              <a:rPr lang="en-GB" altLang="zh-CN" sz="2000" b="1" dirty="0">
                <a:solidFill>
                  <a:srgbClr val="008000"/>
                </a:solidFill>
                <a:latin typeface="+mn-ea"/>
              </a:rPr>
              <a:t>// symbol -&gt; string</a:t>
            </a:r>
            <a:endParaRPr lang="en-GB" altLang="zh-CN" sz="2000" b="1" dirty="0">
              <a:solidFill>
                <a:srgbClr val="000000"/>
              </a:solidFill>
              <a:effectLst/>
              <a:latin typeface="+mn-ea"/>
            </a:endParaRPr>
          </a:p>
          <a:p>
            <a:b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</a:b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typedef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struct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267F99"/>
                </a:solidFill>
                <a:effectLst/>
                <a:latin typeface="+mn-ea"/>
              </a:rPr>
              <a:t>TAB_table</a:t>
            </a:r>
            <a:r>
              <a:rPr lang="en-GB" altLang="zh-CN" sz="2000" b="1" dirty="0">
                <a:solidFill>
                  <a:srgbClr val="267F99"/>
                </a:solidFill>
                <a:effectLst/>
                <a:latin typeface="+mn-ea"/>
              </a:rPr>
              <a:t>_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sz="2000" b="1" dirty="0" err="1">
                <a:solidFill>
                  <a:srgbClr val="267F99"/>
                </a:solidFill>
                <a:effectLst/>
                <a:latin typeface="+mn-ea"/>
              </a:rPr>
              <a:t>S_table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r>
              <a:rPr lang="en-GB" altLang="zh-CN" sz="2000" b="1" dirty="0" err="1">
                <a:solidFill>
                  <a:srgbClr val="267F99"/>
                </a:solidFill>
                <a:effectLst/>
                <a:latin typeface="+mn-ea"/>
              </a:rPr>
              <a:t>S_table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S_empty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latin typeface="+mn-ea"/>
              </a:rPr>
              <a:t>);     </a:t>
            </a:r>
            <a:r>
              <a:rPr lang="en-GB" altLang="zh-CN" sz="2000" b="1" dirty="0">
                <a:solidFill>
                  <a:srgbClr val="008000"/>
                </a:solidFill>
                <a:latin typeface="+mn-ea"/>
              </a:rPr>
              <a:t>// create an empty symbol table</a:t>
            </a:r>
            <a:endParaRPr lang="en-GB" altLang="zh-CN" sz="2000" b="1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S_enter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 err="1">
                <a:solidFill>
                  <a:srgbClr val="267F99"/>
                </a:solidFill>
                <a:effectLst/>
                <a:latin typeface="+mn-ea"/>
              </a:rPr>
              <a:t>S_table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S_symbol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value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);  </a:t>
            </a:r>
            <a:r>
              <a:rPr lang="en-GB" altLang="zh-CN" sz="2000" b="1" dirty="0">
                <a:solidFill>
                  <a:srgbClr val="008000"/>
                </a:solidFill>
                <a:latin typeface="+mn-ea"/>
              </a:rPr>
              <a:t>// enter binding</a:t>
            </a:r>
            <a:endParaRPr lang="en-GB" altLang="zh-CN" sz="2000" b="1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S_look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 err="1">
                <a:solidFill>
                  <a:srgbClr val="267F99"/>
                </a:solidFill>
                <a:effectLst/>
                <a:latin typeface="+mn-ea"/>
              </a:rPr>
              <a:t>S_table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S_symbol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);  </a:t>
            </a:r>
            <a:r>
              <a:rPr lang="en-GB" altLang="zh-CN" sz="2000" b="1" dirty="0">
                <a:solidFill>
                  <a:srgbClr val="008000"/>
                </a:solidFill>
                <a:latin typeface="+mn-ea"/>
              </a:rPr>
              <a:t>// look up symbol</a:t>
            </a:r>
            <a:endParaRPr lang="en-GB" altLang="zh-CN" sz="2000" b="1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S_beginScope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 err="1">
                <a:solidFill>
                  <a:srgbClr val="267F99"/>
                </a:solidFill>
                <a:effectLst/>
                <a:latin typeface="+mn-ea"/>
              </a:rPr>
              <a:t>S_table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);  </a:t>
            </a:r>
            <a:r>
              <a:rPr lang="en-GB" altLang="zh-CN" sz="2000" b="1" dirty="0">
                <a:solidFill>
                  <a:srgbClr val="008000"/>
                </a:solidFill>
                <a:latin typeface="+mn-ea"/>
              </a:rPr>
              <a:t>// remember current table state</a:t>
            </a:r>
            <a:endParaRPr lang="en-GB" altLang="zh-CN" sz="2000" b="1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S_endScope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 err="1">
                <a:solidFill>
                  <a:srgbClr val="267F99"/>
                </a:solidFill>
                <a:effectLst/>
                <a:latin typeface="+mn-ea"/>
              </a:rPr>
              <a:t>S_table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);  </a:t>
            </a:r>
            <a:r>
              <a:rPr lang="en-GB" altLang="zh-CN" sz="2000" b="1" dirty="0">
                <a:solidFill>
                  <a:srgbClr val="008000"/>
                </a:solidFill>
                <a:latin typeface="+mn-ea"/>
              </a:rPr>
              <a:t>// restore to most recent </a:t>
            </a:r>
            <a:r>
              <a:rPr lang="en-GB" altLang="zh-CN" sz="2000" b="1" dirty="0" err="1">
                <a:solidFill>
                  <a:srgbClr val="008000"/>
                </a:solidFill>
                <a:latin typeface="+mn-ea"/>
              </a:rPr>
              <a:t>beginScope</a:t>
            </a:r>
            <a:r>
              <a:rPr lang="en-GB" altLang="zh-CN" sz="2000" b="1" dirty="0">
                <a:solidFill>
                  <a:srgbClr val="008000"/>
                </a:solidFill>
                <a:latin typeface="+mn-ea"/>
              </a:rPr>
              <a:t> </a:t>
            </a:r>
          </a:p>
          <a:p>
            <a:r>
              <a:rPr lang="en-GB" altLang="zh-CN" sz="2000" b="1" dirty="0">
                <a:solidFill>
                  <a:srgbClr val="008000"/>
                </a:solidFill>
                <a:latin typeface="+mn-ea"/>
              </a:rPr>
              <a:t>                                                   that is not closed yet</a:t>
            </a:r>
            <a:endParaRPr lang="en-GB" altLang="zh-CN" sz="2000" b="1" dirty="0">
              <a:solidFill>
                <a:srgbClr val="000000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Implementation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Symbols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62645" y="886178"/>
            <a:ext cx="7002411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static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S_symbol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mksymbol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(string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name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,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S_symbol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next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 {</a:t>
            </a:r>
          </a:p>
          <a:p>
            <a:r>
              <a:rPr lang="zh-CN" altLang="en-US" sz="2000" b="1" dirty="0">
                <a:solidFill>
                  <a:srgbClr val="795E26"/>
                </a:solidFill>
                <a:effectLst/>
                <a:latin typeface="+mn-ea"/>
              </a:rPr>
              <a:t> 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S_symbol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s =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checked_malloc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 err="1">
                <a:solidFill>
                  <a:srgbClr val="0000FF"/>
                </a:solidFill>
                <a:effectLst/>
                <a:latin typeface="+mn-ea"/>
              </a:rPr>
              <a:t>sizeof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(*s));</a:t>
            </a:r>
          </a:p>
          <a:p>
            <a:r>
              <a:rPr lang="zh-CN" altLang="en-US" sz="2000" b="1" dirty="0">
                <a:solidFill>
                  <a:srgbClr val="001080"/>
                </a:solidFill>
                <a:effectLst/>
                <a:latin typeface="+mn-ea"/>
              </a:rPr>
              <a:t> 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name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=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name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next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=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next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r>
              <a:rPr lang="zh-CN" altLang="en-US" sz="2000" b="1" dirty="0">
                <a:solidFill>
                  <a:srgbClr val="AF00DB"/>
                </a:solidFill>
                <a:effectLst/>
                <a:latin typeface="+mn-ea"/>
              </a:rPr>
              <a:t>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return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s;</a:t>
            </a: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}</a:t>
            </a:r>
          </a:p>
          <a:p>
            <a:b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</a:b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S_symbol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S_symbol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(string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name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 {</a:t>
            </a:r>
          </a:p>
          <a:p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	int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index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=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+mn-ea"/>
              </a:rPr>
              <a:t>hash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name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)%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SIZE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r>
              <a:rPr lang="en-GB" altLang="zh-CN" sz="2000" b="1" dirty="0">
                <a:solidFill>
                  <a:srgbClr val="795E26"/>
                </a:solidFill>
                <a:effectLst/>
                <a:latin typeface="+mn-ea"/>
              </a:rPr>
              <a:t>	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S_symbol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syms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= 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hashtable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[index]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</a:rPr>
              <a:t>.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	for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(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= 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syms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= 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next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</a:t>
            </a:r>
          </a:p>
          <a:p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	</a:t>
            </a:r>
            <a:r>
              <a:rPr lang="zh-CN" altLang="en-US" sz="2000" b="1" dirty="0">
                <a:solidFill>
                  <a:srgbClr val="AF00DB"/>
                </a:solidFill>
                <a:effectLst/>
                <a:latin typeface="+mn-ea"/>
              </a:rPr>
              <a:t>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if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(</a:t>
            </a:r>
            <a:r>
              <a:rPr lang="en-GB" altLang="zh-CN" sz="2000" b="1" dirty="0">
                <a:solidFill>
                  <a:srgbClr val="098658"/>
                </a:solidFill>
                <a:effectLst/>
                <a:latin typeface="+mn-ea"/>
              </a:rPr>
              <a:t>0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==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strcmp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name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name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))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return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	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=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mksymbol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name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,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syms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);</a:t>
            </a:r>
          </a:p>
          <a:p>
            <a:r>
              <a:rPr lang="en-GB" altLang="zh-CN" sz="2000" b="1" dirty="0">
                <a:solidFill>
                  <a:srgbClr val="000000"/>
                </a:solidFill>
                <a:latin typeface="+mn-ea"/>
              </a:rPr>
              <a:t>	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hashtable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[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index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] = 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r>
              <a:rPr lang="zh-CN" altLang="en-US" sz="20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return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}</a:t>
            </a:r>
          </a:p>
          <a:p>
            <a:b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</a:b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string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S_name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(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S_symbol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 {</a:t>
            </a:r>
          </a:p>
          <a:p>
            <a:r>
              <a:rPr lang="zh-CN" altLang="en-US" sz="2000" b="1" dirty="0">
                <a:solidFill>
                  <a:srgbClr val="AF00DB"/>
                </a:solidFill>
                <a:effectLst/>
                <a:latin typeface="+mn-ea"/>
              </a:rPr>
              <a:t>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return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name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Implementation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243" y="1235110"/>
            <a:ext cx="8449733" cy="1117026"/>
          </a:xfrm>
        </p:spPr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Tiger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compiler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</a:t>
            </a:r>
            <a:r>
              <a:rPr kumimoji="1" lang="zh-CN" altLang="en-US" dirty="0"/>
              <a:t> </a:t>
            </a:r>
            <a:r>
              <a:rPr kumimoji="1" lang="en-GB" altLang="zh-CN" dirty="0"/>
              <a:t>use</a:t>
            </a:r>
            <a:r>
              <a:rPr kumimoji="1" lang="en-US" altLang="zh-CN" dirty="0"/>
              <a:t>s</a:t>
            </a:r>
            <a:r>
              <a:rPr kumimoji="1" lang="en-GB" altLang="zh-CN" dirty="0"/>
              <a:t> destructive-update env</a:t>
            </a:r>
            <a:r>
              <a:rPr kumimoji="1" lang="en-US" altLang="zh-CN" dirty="0"/>
              <a:t>.</a:t>
            </a:r>
            <a:endParaRPr kumimoji="1" lang="en-GB" altLang="zh-CN" dirty="0"/>
          </a:p>
          <a:p>
            <a:r>
              <a:rPr kumimoji="1" lang="en-GB" altLang="zh-CN" dirty="0"/>
              <a:t>An imperative table is implemented using a hash table.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327402" y="2450673"/>
            <a:ext cx="650538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b="1" dirty="0">
                <a:solidFill>
                  <a:srgbClr val="008000"/>
                </a:solidFill>
                <a:effectLst/>
                <a:latin typeface="+mn-ea"/>
              </a:rPr>
              <a:t>// make a new </a:t>
            </a:r>
            <a:r>
              <a:rPr lang="en-GB" altLang="zh-CN" sz="2000" b="1" dirty="0" err="1">
                <a:solidFill>
                  <a:srgbClr val="008000"/>
                </a:solidFill>
                <a:effectLst/>
                <a:latin typeface="+mn-ea"/>
              </a:rPr>
              <a:t>S_Table</a:t>
            </a:r>
            <a:endParaRPr lang="en-GB" altLang="zh-CN" sz="2000" b="1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GB" altLang="zh-CN" sz="2000" b="1" dirty="0" err="1">
                <a:solidFill>
                  <a:srgbClr val="267F99"/>
                </a:solidFill>
                <a:effectLst/>
                <a:latin typeface="+mn-ea"/>
              </a:rPr>
              <a:t>S_table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S_empty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 {</a:t>
            </a:r>
          </a:p>
          <a:p>
            <a:r>
              <a:rPr lang="zh-CN" altLang="en-US" sz="2000" b="1" dirty="0">
                <a:solidFill>
                  <a:srgbClr val="000000"/>
                </a:solidFill>
                <a:latin typeface="+mn-ea"/>
              </a:rPr>
              <a:t>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return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TAB_empty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(); </a:t>
            </a: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}</a:t>
            </a:r>
          </a:p>
          <a:p>
            <a:r>
              <a:rPr lang="en-GB" altLang="zh-CN" sz="2000" b="1" dirty="0">
                <a:solidFill>
                  <a:srgbClr val="008000"/>
                </a:solidFill>
                <a:effectLst/>
                <a:latin typeface="+mn-ea"/>
              </a:rPr>
              <a:t>// insert a binding</a:t>
            </a:r>
            <a:endParaRPr lang="en-GB" altLang="zh-CN" sz="2000" b="1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S_enter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 err="1">
                <a:solidFill>
                  <a:srgbClr val="267F99"/>
                </a:solidFill>
                <a:effectLst/>
                <a:latin typeface="+mn-ea"/>
              </a:rPr>
              <a:t>S_table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S_symbol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*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value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){ </a:t>
            </a:r>
          </a:p>
          <a:p>
            <a:r>
              <a:rPr lang="zh-CN" altLang="en-US" sz="2000" b="1" dirty="0">
                <a:solidFill>
                  <a:srgbClr val="795E26"/>
                </a:solidFill>
                <a:effectLst/>
                <a:latin typeface="+mn-ea"/>
              </a:rPr>
              <a:t> 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TAB_enter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t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,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sym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,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value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);</a:t>
            </a: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} </a:t>
            </a:r>
            <a:endParaRPr lang="en-GB" altLang="zh-CN" sz="2000" b="1" dirty="0">
              <a:solidFill>
                <a:srgbClr val="008000"/>
              </a:solidFill>
              <a:effectLst/>
              <a:latin typeface="+mn-ea"/>
            </a:endParaRPr>
          </a:p>
          <a:p>
            <a:r>
              <a:rPr lang="en-GB" altLang="zh-CN" sz="2000" b="1" dirty="0">
                <a:solidFill>
                  <a:srgbClr val="008000"/>
                </a:solidFill>
                <a:effectLst/>
                <a:latin typeface="+mn-ea"/>
              </a:rPr>
              <a:t>// look up a symbol</a:t>
            </a:r>
            <a:endParaRPr lang="en-GB" altLang="zh-CN" sz="2000" b="1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S_look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 err="1">
                <a:solidFill>
                  <a:srgbClr val="267F99"/>
                </a:solidFill>
                <a:effectLst/>
                <a:latin typeface="+mn-ea"/>
              </a:rPr>
              <a:t>S_table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S_symbol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 { </a:t>
            </a:r>
          </a:p>
          <a:p>
            <a:r>
              <a:rPr lang="zh-CN" altLang="en-US" sz="2000" b="1" dirty="0">
                <a:solidFill>
                  <a:srgbClr val="AF00DB"/>
                </a:solidFill>
                <a:effectLst/>
                <a:latin typeface="+mn-ea"/>
              </a:rPr>
              <a:t>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return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TAB_look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t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+mn-ea"/>
              </a:rPr>
              <a:t>,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); </a:t>
            </a: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Implementation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243" y="999067"/>
            <a:ext cx="8449733" cy="1920463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destructive-update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environments:</a:t>
            </a:r>
          </a:p>
          <a:p>
            <a:r>
              <a:rPr kumimoji="1" lang="en-GB" altLang="zh-CN" b="1" dirty="0" err="1">
                <a:solidFill>
                  <a:srgbClr val="0070C0"/>
                </a:solidFill>
              </a:rPr>
              <a:t>S_beginScope</a:t>
            </a:r>
            <a:r>
              <a:rPr kumimoji="1" lang="en-GB" altLang="zh-CN" dirty="0"/>
              <a:t>:</a:t>
            </a:r>
            <a:r>
              <a:rPr kumimoji="1" lang="zh-CN" altLang="en-US" dirty="0"/>
              <a:t> </a:t>
            </a:r>
            <a:r>
              <a:rPr kumimoji="1" lang="en-GB" altLang="zh-CN" dirty="0"/>
              <a:t>Remembers the current state of the table.</a:t>
            </a:r>
          </a:p>
          <a:p>
            <a:r>
              <a:rPr kumimoji="1" lang="en-GB" altLang="zh-CN" b="1" dirty="0" err="1">
                <a:solidFill>
                  <a:srgbClr val="0070C0"/>
                </a:solidFill>
              </a:rPr>
              <a:t>S_endScope</a:t>
            </a:r>
            <a:r>
              <a:rPr kumimoji="1" lang="en-GB" altLang="zh-CN" dirty="0"/>
              <a:t>:</a:t>
            </a:r>
            <a:r>
              <a:rPr kumimoji="1" lang="zh-CN" altLang="en-US" dirty="0"/>
              <a:t> </a:t>
            </a:r>
            <a:r>
              <a:rPr kumimoji="1" lang="en-GB" altLang="zh-CN" dirty="0"/>
              <a:t>Restores the table to where it was at the most recent </a:t>
            </a:r>
            <a:r>
              <a:rPr kumimoji="1" lang="en-GB" altLang="zh-CN" dirty="0" err="1"/>
              <a:t>beginScope</a:t>
            </a:r>
            <a:r>
              <a:rPr kumimoji="1" lang="en-GB" altLang="zh-CN" dirty="0"/>
              <a:t> that has not already been ended.</a:t>
            </a:r>
          </a:p>
          <a:p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148110" y="2784966"/>
            <a:ext cx="673068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static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struct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267F99"/>
                </a:solidFill>
                <a:effectLst/>
                <a:latin typeface="+mn-ea"/>
              </a:rPr>
              <a:t>S_symbol</a:t>
            </a:r>
            <a:r>
              <a:rPr lang="en-GB" altLang="zh-CN" sz="2000" b="1" dirty="0">
                <a:solidFill>
                  <a:srgbClr val="267F99"/>
                </a:solidFill>
                <a:effectLst/>
                <a:latin typeface="+mn-ea"/>
              </a:rPr>
              <a:t>_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marksym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= { “&lt;mark&gt;”, </a:t>
            </a:r>
            <a:r>
              <a:rPr lang="en-GB" altLang="zh-CN" sz="2000" b="1" dirty="0">
                <a:solidFill>
                  <a:srgbClr val="098658"/>
                </a:solidFill>
                <a:effectLst/>
                <a:latin typeface="+mn-ea"/>
              </a:rPr>
              <a:t>0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};</a:t>
            </a:r>
          </a:p>
          <a:p>
            <a:b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</a:b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S_beginScope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(</a:t>
            </a:r>
            <a:r>
              <a:rPr lang="en-GB" altLang="zh-CN" sz="2000" b="1" dirty="0" err="1">
                <a:solidFill>
                  <a:srgbClr val="267F99"/>
                </a:solidFill>
                <a:effectLst/>
                <a:latin typeface="+mn-ea"/>
              </a:rPr>
              <a:t>S_table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 { </a:t>
            </a:r>
          </a:p>
          <a:p>
            <a:r>
              <a:rPr lang="zh-CN" altLang="en-US" sz="2000" b="1" dirty="0">
                <a:solidFill>
                  <a:srgbClr val="000000"/>
                </a:solidFill>
                <a:latin typeface="+mn-ea"/>
              </a:rPr>
              <a:t> 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S_enter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, &amp;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marksym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,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NULL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); </a:t>
            </a: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}</a:t>
            </a:r>
          </a:p>
          <a:p>
            <a:b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</a:br>
            <a:r>
              <a:rPr lang="en-GB" altLang="zh-CN" sz="2000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S_endScope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 err="1">
                <a:solidFill>
                  <a:srgbClr val="267F99"/>
                </a:solidFill>
                <a:effectLst/>
                <a:latin typeface="+mn-ea"/>
              </a:rPr>
              <a:t>S_table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 {</a:t>
            </a:r>
          </a:p>
          <a:p>
            <a:r>
              <a:rPr lang="zh-CN" altLang="en-US" sz="2000" b="1" dirty="0">
                <a:solidFill>
                  <a:srgbClr val="795E26"/>
                </a:solidFill>
                <a:effectLst/>
                <a:latin typeface="+mn-ea"/>
              </a:rPr>
              <a:t> 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S_symbol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s;</a:t>
            </a:r>
          </a:p>
          <a:p>
            <a:r>
              <a:rPr lang="zh-CN" altLang="en-US" sz="2000" b="1" dirty="0">
                <a:solidFill>
                  <a:srgbClr val="AF00DB"/>
                </a:solidFill>
                <a:effectLst/>
                <a:latin typeface="+mn-ea"/>
              </a:rPr>
              <a:t>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do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</a:p>
          <a:p>
            <a:r>
              <a:rPr lang="zh-CN" altLang="en-US" sz="20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s=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+mn-ea"/>
              </a:rPr>
              <a:t>TAB_pop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+mn-ea"/>
              </a:rPr>
              <a:t>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); </a:t>
            </a:r>
          </a:p>
          <a:p>
            <a:r>
              <a:rPr lang="zh-CN" altLang="en-US" sz="2000" b="1" dirty="0">
                <a:solidFill>
                  <a:srgbClr val="000000"/>
                </a:solidFill>
                <a:latin typeface="+mn-ea"/>
              </a:rPr>
              <a:t>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+mn-ea"/>
              </a:rPr>
              <a:t>while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 (s != &amp;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+mn-ea"/>
              </a:rPr>
              <a:t>marksym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);</a:t>
            </a: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+mn-ea"/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Implementation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7902" y="1592791"/>
            <a:ext cx="8036417" cy="3877733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kumimoji="1" lang="en-GB" altLang="zh-CN" sz="2800" b="1" dirty="0">
                <a:solidFill>
                  <a:srgbClr val="0070C0"/>
                </a:solidFill>
              </a:rPr>
              <a:t>Auxiliary stack:</a:t>
            </a:r>
          </a:p>
          <a:p>
            <a:r>
              <a:rPr kumimoji="1" lang="en-GB" altLang="zh-CN" dirty="0"/>
              <a:t>Showing in what order the symbols were “pushed” into the symbol table. </a:t>
            </a:r>
          </a:p>
          <a:p>
            <a:r>
              <a:rPr kumimoji="1" lang="en-GB" altLang="zh-CN" dirty="0"/>
              <a:t>As each symbol is popped, the head binding in its bucket is removed.</a:t>
            </a:r>
          </a:p>
          <a:p>
            <a:r>
              <a:rPr kumimoji="1" lang="en-US" altLang="zh-CN" b="1" dirty="0" err="1">
                <a:solidFill>
                  <a:srgbClr val="0070C0"/>
                </a:solidFill>
              </a:rPr>
              <a:t>beginScope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pushes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special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marker</a:t>
            </a:r>
            <a:r>
              <a:rPr kumimoji="1" lang="zh-CN" altLang="en-US" dirty="0"/>
              <a:t> </a:t>
            </a:r>
            <a:r>
              <a:rPr kumimoji="1" lang="en-US" altLang="zh-CN" dirty="0"/>
              <a:t>onto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stack</a:t>
            </a:r>
          </a:p>
          <a:p>
            <a:r>
              <a:rPr kumimoji="1" lang="en-US" altLang="zh-CN" b="1" dirty="0" err="1">
                <a:solidFill>
                  <a:srgbClr val="0070C0"/>
                </a:solidFill>
              </a:rPr>
              <a:t>endScope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pops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until</a:t>
            </a:r>
            <a:r>
              <a:rPr kumimoji="1" lang="zh-CN" altLang="en-US" dirty="0"/>
              <a:t> </a:t>
            </a:r>
            <a:r>
              <a:rPr kumimoji="1" lang="en-US" altLang="zh-CN" dirty="0"/>
              <a:t>finds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topmost</a:t>
            </a:r>
            <a:r>
              <a:rPr kumimoji="1" lang="zh-CN" altLang="en-US" dirty="0"/>
              <a:t> </a:t>
            </a:r>
            <a:r>
              <a:rPr kumimoji="1" lang="en-US" altLang="zh-CN" dirty="0"/>
              <a:t>marker.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endParaRPr kumimoji="1" lang="en-GB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Implementation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7133" y="1229223"/>
            <a:ext cx="8449733" cy="1738489"/>
          </a:xfrm>
        </p:spPr>
        <p:txBody>
          <a:bodyPr>
            <a:normAutofit/>
          </a:bodyPr>
          <a:lstStyle/>
          <a:p>
            <a:r>
              <a:rPr kumimoji="1" lang="en-GB" altLang="zh-CN" dirty="0"/>
              <a:t>The auxiliary stack can be integrated into the Binder by having a global variable top showing the </a:t>
            </a:r>
            <a:r>
              <a:rPr kumimoji="1" lang="en-GB" altLang="zh-CN" dirty="0">
                <a:solidFill>
                  <a:srgbClr val="0070C0"/>
                </a:solidFill>
              </a:rPr>
              <a:t>most recent Symbol</a:t>
            </a:r>
            <a:r>
              <a:rPr kumimoji="1" lang="en-GB" altLang="zh-CN" dirty="0"/>
              <a:t> bound in the table. </a:t>
            </a:r>
          </a:p>
          <a:p>
            <a:r>
              <a:rPr kumimoji="1" lang="en-GB" altLang="zh-CN" dirty="0"/>
              <a:t>Pushing: copy top into the </a:t>
            </a:r>
            <a:r>
              <a:rPr kumimoji="1" lang="en-GB" altLang="zh-CN" dirty="0" err="1"/>
              <a:t>prevtop</a:t>
            </a:r>
            <a:r>
              <a:rPr kumimoji="1" lang="en-GB" altLang="zh-CN" dirty="0"/>
              <a:t> field of the Binder.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99512" y="3209157"/>
            <a:ext cx="777319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struct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 err="1">
                <a:solidFill>
                  <a:srgbClr val="267F99"/>
                </a:solidFill>
                <a:effectLst/>
                <a:latin typeface="+mn-ea"/>
              </a:rPr>
              <a:t>TAB_table</a:t>
            </a:r>
            <a:r>
              <a:rPr lang="en-GB" altLang="zh-CN" b="1" dirty="0">
                <a:solidFill>
                  <a:srgbClr val="267F99"/>
                </a:solidFill>
                <a:effectLst/>
                <a:latin typeface="+mn-ea"/>
              </a:rPr>
              <a:t>_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{</a:t>
            </a:r>
          </a:p>
          <a:p>
            <a:r>
              <a:rPr lang="zh-CN" altLang="en-US" b="1" dirty="0">
                <a:solidFill>
                  <a:srgbClr val="267F99"/>
                </a:solidFill>
                <a:effectLst/>
                <a:latin typeface="+mn-ea"/>
              </a:rPr>
              <a:t>  </a:t>
            </a:r>
            <a:r>
              <a:rPr lang="en-GB" altLang="zh-CN" b="1" dirty="0">
                <a:solidFill>
                  <a:srgbClr val="267F99"/>
                </a:solidFill>
                <a:effectLst/>
                <a:latin typeface="+mn-ea"/>
              </a:rPr>
              <a:t>binder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table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[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TABSIZE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];</a:t>
            </a:r>
          </a:p>
          <a:p>
            <a:r>
              <a:rPr lang="zh-CN" altLang="en-US" b="1" dirty="0">
                <a:solidFill>
                  <a:srgbClr val="0000FF"/>
                </a:solidFill>
                <a:effectLst/>
                <a:latin typeface="+mn-ea"/>
              </a:rPr>
              <a:t> 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top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};</a:t>
            </a:r>
          </a:p>
          <a:p>
            <a:b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</a:b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static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267F99"/>
                </a:solidFill>
                <a:effectLst/>
                <a:latin typeface="+mn-ea"/>
              </a:rPr>
              <a:t>binder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795E26"/>
                </a:solidFill>
                <a:effectLst/>
                <a:latin typeface="+mn-ea"/>
              </a:rPr>
              <a:t>Binder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key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value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GB" altLang="zh-CN" b="1" dirty="0">
                <a:solidFill>
                  <a:srgbClr val="267F99"/>
                </a:solidFill>
                <a:effectLst/>
                <a:latin typeface="+mn-ea"/>
              </a:rPr>
              <a:t>binder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next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+mn-ea"/>
              </a:rPr>
              <a:t>void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*</a:t>
            </a:r>
            <a:r>
              <a:rPr lang="en-GB" altLang="zh-CN" b="1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+mn-ea"/>
              </a:rPr>
              <a:t>prevtop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{</a:t>
            </a:r>
          </a:p>
          <a:p>
            <a:r>
              <a:rPr lang="zh-CN" altLang="en-US" b="1" dirty="0">
                <a:solidFill>
                  <a:srgbClr val="000000"/>
                </a:solidFill>
                <a:latin typeface="+mn-ea"/>
              </a:rPr>
              <a:t>  </a:t>
            </a:r>
            <a:r>
              <a:rPr lang="en-GB" altLang="zh-CN" b="1" dirty="0">
                <a:solidFill>
                  <a:srgbClr val="267F99"/>
                </a:solidFill>
                <a:effectLst/>
                <a:latin typeface="+mn-ea"/>
              </a:rPr>
              <a:t>binder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= </a:t>
            </a:r>
            <a:r>
              <a:rPr lang="en-GB" altLang="zh-CN" b="1" dirty="0" err="1">
                <a:solidFill>
                  <a:srgbClr val="795E26"/>
                </a:solidFill>
                <a:effectLst/>
                <a:latin typeface="+mn-ea"/>
              </a:rPr>
              <a:t>checked_malloc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GB" altLang="zh-CN" b="1" dirty="0" err="1">
                <a:solidFill>
                  <a:srgbClr val="0000FF"/>
                </a:solidFill>
                <a:effectLst/>
                <a:latin typeface="+mn-ea"/>
              </a:rPr>
              <a:t>sizeof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(*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));</a:t>
            </a:r>
          </a:p>
          <a:p>
            <a:r>
              <a:rPr lang="zh-CN" altLang="en-US" b="1" dirty="0">
                <a:solidFill>
                  <a:srgbClr val="001080"/>
                </a:solidFill>
                <a:effectLst/>
                <a:latin typeface="+mn-ea"/>
              </a:rPr>
              <a:t> 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key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=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key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value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=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value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next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=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next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 </a:t>
            </a:r>
          </a:p>
          <a:p>
            <a:r>
              <a:rPr lang="zh-CN" altLang="en-US" b="1" dirty="0">
                <a:solidFill>
                  <a:srgbClr val="000000"/>
                </a:solidFill>
                <a:latin typeface="+mn-ea"/>
              </a:rPr>
              <a:t>  </a:t>
            </a:r>
            <a:r>
              <a:rPr lang="en-GB" altLang="zh-CN" b="1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+mn-ea"/>
              </a:rPr>
              <a:t>b</a:t>
            </a:r>
            <a:r>
              <a:rPr lang="en-GB" altLang="zh-CN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-&gt;</a:t>
            </a:r>
            <a:r>
              <a:rPr lang="en-GB" altLang="zh-CN" b="1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+mn-ea"/>
              </a:rPr>
              <a:t>prevtop</a:t>
            </a:r>
            <a:r>
              <a:rPr lang="en-GB" altLang="zh-CN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 = </a:t>
            </a:r>
            <a:r>
              <a:rPr lang="en-GB" altLang="zh-CN" b="1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+mn-ea"/>
              </a:rPr>
              <a:t>prevtop</a:t>
            </a:r>
            <a:r>
              <a:rPr lang="en-GB" altLang="zh-CN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; </a:t>
            </a:r>
          </a:p>
          <a:p>
            <a:r>
              <a:rPr lang="zh-CN" altLang="en-US" b="1" dirty="0">
                <a:solidFill>
                  <a:srgbClr val="AF00DB"/>
                </a:solidFill>
                <a:effectLst/>
                <a:latin typeface="+mn-ea"/>
              </a:rPr>
              <a:t>  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+mn-ea"/>
              </a:rPr>
              <a:t>return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+mn-ea"/>
              </a:rPr>
              <a:t>b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r>
              <a:rPr lang="en-GB" altLang="zh-CN" b="1" dirty="0">
                <a:solidFill>
                  <a:srgbClr val="000000"/>
                </a:solidFill>
                <a:effectLst/>
                <a:latin typeface="+mn-ea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D5B06-FCDA-CB05-ED9A-F0111893C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Bindings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Tiger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48C0AA-7871-FD58-9231-54E741FD9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245" y="1088502"/>
            <a:ext cx="8449733" cy="1370813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Tiger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separate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name</a:t>
            </a:r>
            <a:r>
              <a:rPr kumimoji="1" lang="zh-CN" altLang="en-US" dirty="0"/>
              <a:t> </a:t>
            </a:r>
            <a:r>
              <a:rPr kumimoji="1" lang="en-US" altLang="zh-CN" dirty="0"/>
              <a:t>spaces (symbol tables):</a:t>
            </a:r>
          </a:p>
          <a:p>
            <a:pPr lvl="1"/>
            <a:r>
              <a:rPr kumimoji="1" lang="en-US" altLang="zh-CN" b="1" dirty="0"/>
              <a:t>Type Environment</a:t>
            </a:r>
            <a:r>
              <a:rPr kumimoji="1" lang="en-US" altLang="zh-CN" dirty="0"/>
              <a:t> (for Types)</a:t>
            </a:r>
            <a:endParaRPr kumimoji="1" lang="en-US" altLang="zh-CN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b="1" dirty="0"/>
              <a:t>Value Environment</a:t>
            </a:r>
            <a:r>
              <a:rPr kumimoji="1" lang="en-US" altLang="zh-CN" dirty="0"/>
              <a:t> (for Functions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Variables)</a:t>
            </a:r>
            <a:endParaRPr kumimoji="1" lang="en-US" altLang="zh-CN" dirty="0">
              <a:solidFill>
                <a:srgbClr val="0070C0"/>
              </a:solidFill>
            </a:endParaRPr>
          </a:p>
          <a:p>
            <a:endParaRPr kumimoji="1"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kumimoji="1"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kumimoji="1" lang="en-US" altLang="zh-CN" dirty="0">
              <a:solidFill>
                <a:srgbClr val="0070C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2447AA-8B65-4E5A-D29B-FEF98814EB18}"/>
              </a:ext>
            </a:extLst>
          </p:cNvPr>
          <p:cNvSpPr txBox="1"/>
          <p:nvPr/>
        </p:nvSpPr>
        <p:spPr>
          <a:xfrm>
            <a:off x="748994" y="2881782"/>
            <a:ext cx="4087551" cy="132343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let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type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int</a:t>
            </a:r>
            <a:endParaRPr kumimoji="0" lang="en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var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:=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</a:t>
            </a:r>
            <a:endParaRPr kumimoji="0" lang="en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in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...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end</a:t>
            </a:r>
            <a:endParaRPr kumimoji="0" lang="en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64BB47A-FC13-B607-633E-F6A2446F150A}"/>
              </a:ext>
            </a:extLst>
          </p:cNvPr>
          <p:cNvSpPr txBox="1"/>
          <p:nvPr/>
        </p:nvSpPr>
        <p:spPr>
          <a:xfrm>
            <a:off x="748994" y="4561798"/>
            <a:ext cx="4087551" cy="132343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let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function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(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b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: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 = 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var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:=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</a:t>
            </a:r>
            <a:endParaRPr kumimoji="0" lang="en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in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end</a:t>
            </a:r>
            <a:endParaRPr kumimoji="0" lang="en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AutoShape 7">
            <a:extLst>
              <a:ext uri="{FF2B5EF4-FFF2-40B4-BE49-F238E27FC236}">
                <a16:creationId xmlns:a16="http://schemas.microsoft.com/office/drawing/2014/main" id="{E8F05386-7E96-9162-EF9E-A27E57F8E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5430" y="4728217"/>
            <a:ext cx="2964391" cy="990600"/>
          </a:xfrm>
          <a:prstGeom prst="wedgeRoundRectCallout">
            <a:avLst>
              <a:gd name="adj1" fmla="val -86420"/>
              <a:gd name="adj2" fmla="val 4938"/>
              <a:gd name="adj3" fmla="val 16667"/>
            </a:avLst>
          </a:prstGeom>
          <a:solidFill>
            <a:srgbClr val="C000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var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overwrites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function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AutoShape 9">
            <a:extLst>
              <a:ext uri="{FF2B5EF4-FFF2-40B4-BE49-F238E27FC236}">
                <a16:creationId xmlns:a16="http://schemas.microsoft.com/office/drawing/2014/main" id="{8317754F-7DD5-139A-C534-D64294720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5431" y="3025183"/>
            <a:ext cx="2226718" cy="990600"/>
          </a:xfrm>
          <a:prstGeom prst="wedgeRoundRectCallout">
            <a:avLst>
              <a:gd name="adj1" fmla="val -98671"/>
              <a:gd name="adj2" fmla="val 4084"/>
              <a:gd name="adj3" fmla="val 16667"/>
            </a:avLst>
          </a:prstGeom>
          <a:solidFill>
            <a:srgbClr val="0070C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Both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a’s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can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used</a:t>
            </a:r>
          </a:p>
        </p:txBody>
      </p:sp>
    </p:spTree>
    <p:extLst>
      <p:ext uri="{BB962C8B-B14F-4D97-AF65-F5344CB8AC3E}">
        <p14:creationId xmlns:p14="http://schemas.microsoft.com/office/powerpoint/2010/main" val="2452732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325E1-FBD8-CC6B-B623-1EA81120B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Bindings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Tiger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7095F8-7277-D095-DC85-58A381469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133" y="4331842"/>
            <a:ext cx="8449733" cy="1815919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built-in (primitive)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type: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int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string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constructed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type:</a:t>
            </a:r>
            <a:r>
              <a:rPr kumimoji="1" lang="zh-CN" altLang="en-US" dirty="0"/>
              <a:t> </a:t>
            </a:r>
            <a:r>
              <a:rPr kumimoji="1" lang="en-US" altLang="zh-CN" dirty="0"/>
              <a:t>using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records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arrays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from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other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types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(primitive,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record,</a:t>
            </a:r>
            <a:r>
              <a:rPr kumimoji="1" lang="zh-CN" altLang="en-US" dirty="0"/>
              <a:t> </a:t>
            </a:r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array)</a:t>
            </a:r>
          </a:p>
          <a:p>
            <a:r>
              <a:rPr kumimoji="1" lang="en-US" altLang="zh-CN" dirty="0"/>
              <a:t>What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binding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</a:t>
            </a:r>
            <a:r>
              <a:rPr kumimoji="1" lang="zh-CN" altLang="en-US" dirty="0"/>
              <a:t> </a:t>
            </a:r>
            <a:r>
              <a:rPr kumimoji="1" lang="en-US" altLang="zh-CN" dirty="0"/>
              <a:t>identifier?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31FDE3-5DC2-7473-7E04-8566842ADF72}"/>
              </a:ext>
            </a:extLst>
          </p:cNvPr>
          <p:cNvSpPr txBox="1">
            <a:spLocks noChangeArrowheads="1"/>
          </p:cNvSpPr>
          <p:nvPr/>
        </p:nvSpPr>
        <p:spPr>
          <a:xfrm>
            <a:off x="374748" y="1290194"/>
            <a:ext cx="4645546" cy="2637631"/>
          </a:xfrm>
          <a:prstGeom prst="rect">
            <a:avLst/>
          </a:prstGeom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tydec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type-id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type-id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‘{’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tyfields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‘}’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array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type-id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tyfields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ε</a:t>
            </a:r>
            <a:endParaRPr kumimoji="0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id: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type-id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{,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id:type-id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C1607B-2DB2-5026-99B2-B1BAA12E05E2}"/>
              </a:ext>
            </a:extLst>
          </p:cNvPr>
          <p:cNvSpPr txBox="1"/>
          <p:nvPr/>
        </p:nvSpPr>
        <p:spPr>
          <a:xfrm>
            <a:off x="5317746" y="1947289"/>
            <a:ext cx="3451506" cy="13234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 t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ype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can be: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t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ype x = int;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t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ype y = {a: int, b: string};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t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ype z = array of int;</a:t>
            </a:r>
          </a:p>
        </p:txBody>
      </p:sp>
    </p:spTree>
    <p:extLst>
      <p:ext uri="{BB962C8B-B14F-4D97-AF65-F5344CB8AC3E}">
        <p14:creationId xmlns:p14="http://schemas.microsoft.com/office/powerpoint/2010/main" val="43646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D4599-EAAF-C472-8771-E8CA70FF4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Bindings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Tiger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Compiler</a:t>
            </a:r>
            <a:endParaRPr kumimoji="1"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724B0A-0184-F329-E266-282CB2E683EE}"/>
              </a:ext>
            </a:extLst>
          </p:cNvPr>
          <p:cNvSpPr txBox="1">
            <a:spLocks noChangeArrowheads="1"/>
          </p:cNvSpPr>
          <p:nvPr/>
        </p:nvSpPr>
        <p:spPr>
          <a:xfrm>
            <a:off x="2263338" y="951746"/>
            <a:ext cx="4645546" cy="2637631"/>
          </a:xfrm>
          <a:prstGeom prst="rect">
            <a:avLst/>
          </a:prstGeom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tydec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type-id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type-id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‘{’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tyfields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‘}’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array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type-id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tyfields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ε</a:t>
            </a:r>
            <a:endParaRPr kumimoji="0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id: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type-id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{,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id:type-id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74328D-DDA7-5174-DE7A-9FDEF52ECD30}"/>
              </a:ext>
            </a:extLst>
          </p:cNvPr>
          <p:cNvSpPr txBox="1"/>
          <p:nvPr/>
        </p:nvSpPr>
        <p:spPr>
          <a:xfrm>
            <a:off x="1638486" y="3708296"/>
            <a:ext cx="5867028" cy="28623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typedef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_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*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_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enum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{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Ty_record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Ty_nil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Ty_int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Ty_string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 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Ty_array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Ty_name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Ty_void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kind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union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Ty_fieldList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record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array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{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S_symbol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sym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;}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name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   };</a:t>
            </a:r>
          </a:p>
        </p:txBody>
      </p:sp>
    </p:spTree>
    <p:extLst>
      <p:ext uri="{BB962C8B-B14F-4D97-AF65-F5344CB8AC3E}">
        <p14:creationId xmlns:p14="http://schemas.microsoft.com/office/powerpoint/2010/main" val="812672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B4EFB-D09B-4743-450E-BB2CB9330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Bindings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Tiger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09BC16-BEBC-1612-D28E-C3E933D77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243" y="999067"/>
            <a:ext cx="8449733" cy="2037488"/>
          </a:xfrm>
        </p:spPr>
        <p:txBody>
          <a:bodyPr/>
          <a:lstStyle/>
          <a:p>
            <a:r>
              <a:rPr kumimoji="1" lang="en" altLang="zh-CN" dirty="0"/>
              <a:t>For </a:t>
            </a:r>
            <a:r>
              <a:rPr kumimoji="1" lang="en" altLang="zh-CN" dirty="0">
                <a:solidFill>
                  <a:srgbClr val="0070C0"/>
                </a:solidFill>
              </a:rPr>
              <a:t>array</a:t>
            </a:r>
            <a:r>
              <a:rPr kumimoji="1" lang="en" altLang="zh-CN" dirty="0"/>
              <a:t> and </a:t>
            </a:r>
            <a:r>
              <a:rPr kumimoji="1" lang="en" altLang="zh-CN" dirty="0">
                <a:solidFill>
                  <a:srgbClr val="0070C0"/>
                </a:solidFill>
              </a:rPr>
              <a:t>record types</a:t>
            </a:r>
            <a:r>
              <a:rPr kumimoji="1" lang="en" altLang="zh-CN" dirty="0"/>
              <a:t>, there is another implicit piece of information carried by the </a:t>
            </a:r>
            <a:r>
              <a:rPr kumimoji="1" lang="en" altLang="zh-CN" dirty="0" err="1">
                <a:solidFill>
                  <a:srgbClr val="0070C0"/>
                </a:solidFill>
              </a:rPr>
              <a:t>Ty_array</a:t>
            </a:r>
            <a:r>
              <a:rPr kumimoji="1" lang="en" altLang="zh-CN" dirty="0">
                <a:solidFill>
                  <a:srgbClr val="0070C0"/>
                </a:solidFill>
              </a:rPr>
              <a:t> </a:t>
            </a:r>
            <a:r>
              <a:rPr kumimoji="1" lang="en" altLang="zh-CN" dirty="0"/>
              <a:t>or </a:t>
            </a:r>
            <a:r>
              <a:rPr kumimoji="1" lang="en" altLang="zh-CN" dirty="0" err="1">
                <a:solidFill>
                  <a:srgbClr val="0070C0"/>
                </a:solidFill>
              </a:rPr>
              <a:t>Ty_record</a:t>
            </a:r>
            <a:r>
              <a:rPr kumimoji="1" lang="en" altLang="zh-CN" dirty="0">
                <a:solidFill>
                  <a:srgbClr val="0070C0"/>
                </a:solidFill>
              </a:rPr>
              <a:t> </a:t>
            </a:r>
            <a:r>
              <a:rPr kumimoji="1" lang="en" altLang="zh-CN" dirty="0"/>
              <a:t>object: the address of the object itself.</a:t>
            </a:r>
          </a:p>
          <a:p>
            <a:r>
              <a:rPr kumimoji="1" lang="en-US" altLang="zh-CN" dirty="0"/>
              <a:t>E</a:t>
            </a:r>
            <a:r>
              <a:rPr kumimoji="1" lang="en" altLang="zh-CN" dirty="0"/>
              <a:t>very Tiger-language “</a:t>
            </a:r>
            <a:r>
              <a:rPr kumimoji="1" lang="en" altLang="zh-CN" dirty="0">
                <a:solidFill>
                  <a:srgbClr val="0070C0"/>
                </a:solidFill>
              </a:rPr>
              <a:t>record type expression</a:t>
            </a:r>
            <a:r>
              <a:rPr kumimoji="1" lang="en" altLang="zh-CN" dirty="0"/>
              <a:t>” creates a new (and different) record type</a:t>
            </a:r>
            <a:r>
              <a:rPr kumimoji="1" lang="en-US" altLang="zh-CN" dirty="0"/>
              <a:t>.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036695-43B8-B0F3-DA02-C22CAE359B8A}"/>
              </a:ext>
            </a:extLst>
          </p:cNvPr>
          <p:cNvSpPr txBox="1"/>
          <p:nvPr/>
        </p:nvSpPr>
        <p:spPr>
          <a:xfrm>
            <a:off x="1223893" y="3066201"/>
            <a:ext cx="3291875" cy="175432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let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type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= {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x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: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: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type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b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= {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x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: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: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var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: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:= 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var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j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: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b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:= 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in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:=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j</a:t>
            </a:r>
            <a:endParaRPr kumimoji="0" lang="e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end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3360F0-7C48-75C3-7539-4727B4064F23}"/>
              </a:ext>
            </a:extLst>
          </p:cNvPr>
          <p:cNvSpPr txBox="1"/>
          <p:nvPr/>
        </p:nvSpPr>
        <p:spPr>
          <a:xfrm>
            <a:off x="1223893" y="4924936"/>
            <a:ext cx="3291875" cy="175432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let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type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= {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x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: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: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type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b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endParaRPr kumimoji="0" lang="e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var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: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:= 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var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j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: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b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:= 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in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:=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j</a:t>
            </a:r>
            <a:endParaRPr kumimoji="0" lang="e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end</a:t>
            </a:r>
            <a:endParaRPr kumimoji="0" lang="e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23858974-D2CE-D1E3-5365-27F0139A8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0882" y="3821446"/>
            <a:ext cx="2738717" cy="646289"/>
          </a:xfrm>
          <a:prstGeom prst="wedgeRoundRectCallout">
            <a:avLst>
              <a:gd name="adj1" fmla="val -91684"/>
              <a:gd name="adj2" fmla="val 27825"/>
              <a:gd name="adj3" fmla="val 16667"/>
            </a:avLst>
          </a:prstGeom>
          <a:solidFill>
            <a:srgbClr val="C000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Illegal in Tiger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CDA68E79-E79B-D963-9A85-774D9B05C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0883" y="5663784"/>
            <a:ext cx="2738716" cy="646289"/>
          </a:xfrm>
          <a:prstGeom prst="wedgeRoundRectCallout">
            <a:avLst>
              <a:gd name="adj1" fmla="val -91431"/>
              <a:gd name="adj2" fmla="val 27613"/>
              <a:gd name="adj3" fmla="val 16667"/>
            </a:avLst>
          </a:prstGeom>
          <a:solidFill>
            <a:srgbClr val="BBE0E3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Legal in Tiger</a:t>
            </a:r>
          </a:p>
        </p:txBody>
      </p:sp>
    </p:spTree>
    <p:extLst>
      <p:ext uri="{BB962C8B-B14F-4D97-AF65-F5344CB8AC3E}">
        <p14:creationId xmlns:p14="http://schemas.microsoft.com/office/powerpoint/2010/main" val="400407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D4599-EAAF-C472-8771-E8CA70FF4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Bindings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Tiger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Compiler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74328D-DDA7-5174-DE7A-9FDEF52ECD30}"/>
              </a:ext>
            </a:extLst>
          </p:cNvPr>
          <p:cNvSpPr txBox="1"/>
          <p:nvPr/>
        </p:nvSpPr>
        <p:spPr>
          <a:xfrm>
            <a:off x="1569206" y="3308503"/>
            <a:ext cx="6033806" cy="317009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typedef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_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*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_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enum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{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Ty_record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Ty_nil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Ty_int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Ty_string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 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Ty_array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Ty_name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Ty_void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kind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union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Ty_fieldList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record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array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{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S_symbol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sym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;}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name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};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16AA3D-46DA-7F6D-518E-1D7BDD652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99066"/>
            <a:ext cx="9144000" cy="2246157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nil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 err="1">
                <a:solidFill>
                  <a:srgbClr val="0070C0"/>
                </a:solidFill>
              </a:rPr>
              <a:t>Ty_Nil</a:t>
            </a:r>
            <a:endParaRPr kumimoji="1" lang="en-US" altLang="zh-CN" dirty="0">
              <a:solidFill>
                <a:srgbClr val="0070C0"/>
              </a:solidFill>
            </a:endParaRPr>
          </a:p>
          <a:p>
            <a:r>
              <a:rPr kumimoji="1" lang="en-US" altLang="zh-CN" dirty="0">
                <a:solidFill>
                  <a:srgbClr val="FF0000"/>
                </a:solidFill>
              </a:rPr>
              <a:t>void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 err="1">
                <a:solidFill>
                  <a:srgbClr val="0070C0"/>
                </a:solidFill>
              </a:rPr>
              <a:t>Ty_Void</a:t>
            </a:r>
            <a:endParaRPr kumimoji="1" lang="en" altLang="zh-CN" dirty="0">
              <a:solidFill>
                <a:srgbClr val="0070C0"/>
              </a:solidFill>
            </a:endParaRPr>
          </a:p>
          <a:p>
            <a:r>
              <a:rPr kumimoji="1" lang="en" altLang="zh-CN" dirty="0"/>
              <a:t>When processing mutually recursive types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 err="1">
                <a:solidFill>
                  <a:srgbClr val="0070C0"/>
                </a:solidFill>
              </a:rPr>
              <a:t>Ty_Name</a:t>
            </a:r>
            <a:r>
              <a:rPr kumimoji="1" lang="en-US" altLang="zh-CN" dirty="0">
                <a:solidFill>
                  <a:srgbClr val="0070C0"/>
                </a:solidFill>
              </a:rPr>
              <a:t>(</a:t>
            </a:r>
            <a:r>
              <a:rPr kumimoji="1" lang="en-US" altLang="zh-CN" dirty="0" err="1">
                <a:solidFill>
                  <a:srgbClr val="0070C0"/>
                </a:solidFill>
              </a:rPr>
              <a:t>sym</a:t>
            </a:r>
            <a:r>
              <a:rPr kumimoji="1" lang="en-US" altLang="zh-CN" dirty="0">
                <a:solidFill>
                  <a:srgbClr val="0070C0"/>
                </a:solidFill>
              </a:rPr>
              <a:t>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NULL)</a:t>
            </a:r>
          </a:p>
          <a:p>
            <a:pPr lvl="1"/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place-holder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type-name</a:t>
            </a:r>
            <a:r>
              <a:rPr kumimoji="1" lang="zh-CN" altLang="en-US" dirty="0"/>
              <a:t> </a:t>
            </a:r>
            <a:r>
              <a:rPr kumimoji="1" lang="en-US" altLang="zh-CN" dirty="0" err="1">
                <a:solidFill>
                  <a:srgbClr val="0070C0"/>
                </a:solidFill>
              </a:rPr>
              <a:t>sym</a:t>
            </a:r>
            <a:endParaRPr kumimoji="1" lang="en-US" altLang="zh-CN" dirty="0">
              <a:solidFill>
                <a:srgbClr val="0070C0"/>
              </a:solidFill>
            </a:endParaRPr>
          </a:p>
          <a:p>
            <a:pPr marL="457200" lvl="1" indent="0" algn="ctr">
              <a:buNone/>
            </a:pPr>
            <a:r>
              <a:rPr kumimoji="1" lang="en-US" altLang="zh-CN" b="1" dirty="0">
                <a:solidFill>
                  <a:srgbClr val="7030A0"/>
                </a:solidFill>
              </a:rPr>
              <a:t>type</a:t>
            </a:r>
            <a:r>
              <a:rPr kumimoji="1" lang="en-US" altLang="zh-CN" b="1" dirty="0"/>
              <a:t> </a:t>
            </a:r>
            <a:r>
              <a:rPr kumimoji="1" lang="en-US" altLang="zh-CN" b="1" dirty="0">
                <a:highlight>
                  <a:srgbClr val="FFFF00"/>
                </a:highlight>
              </a:rPr>
              <a:t>list</a:t>
            </a:r>
            <a:r>
              <a:rPr kumimoji="1" lang="en-US" altLang="zh-CN" b="1" dirty="0"/>
              <a:t> = {first: </a:t>
            </a:r>
            <a:r>
              <a:rPr kumimoji="1" lang="en-US" altLang="zh-CN" b="1" dirty="0">
                <a:solidFill>
                  <a:srgbClr val="0000FF"/>
                </a:solidFill>
              </a:rPr>
              <a:t>int</a:t>
            </a:r>
            <a:r>
              <a:rPr kumimoji="1" lang="en-US" altLang="zh-CN" b="1" dirty="0"/>
              <a:t>, rest: </a:t>
            </a:r>
            <a:r>
              <a:rPr kumimoji="1" lang="en-US" altLang="zh-CN" b="1" dirty="0">
                <a:highlight>
                  <a:srgbClr val="FFFF00"/>
                </a:highlight>
              </a:rPr>
              <a:t>list</a:t>
            </a:r>
            <a:r>
              <a:rPr kumimoji="1" lang="en-US" altLang="zh-CN" b="1" dirty="0"/>
              <a:t>}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60955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37F69-C505-94A8-ECC5-8C8301D94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Environments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61CB90-9E6F-19C8-B380-76324494E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244" y="1014884"/>
            <a:ext cx="5063729" cy="3054698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/>
              <a:t>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separate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name</a:t>
            </a:r>
            <a:r>
              <a:rPr kumimoji="1" lang="zh-CN" altLang="en-US" dirty="0"/>
              <a:t> </a:t>
            </a:r>
            <a:r>
              <a:rPr kumimoji="1" lang="en-US" altLang="zh-CN" dirty="0"/>
              <a:t>spaces</a:t>
            </a:r>
          </a:p>
          <a:p>
            <a:r>
              <a:rPr kumimoji="1" lang="en-US" altLang="zh-CN" dirty="0"/>
              <a:t>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environments</a:t>
            </a:r>
            <a:r>
              <a:rPr kumimoji="1" lang="zh-CN" altLang="en-US" dirty="0"/>
              <a:t> </a:t>
            </a:r>
            <a:r>
              <a:rPr kumimoji="1" lang="en-US" altLang="zh-CN" dirty="0"/>
              <a:t>mapping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from symbols to bindings:</a:t>
            </a:r>
            <a:br>
              <a:rPr kumimoji="1" lang="en-US" altLang="zh-CN" dirty="0"/>
            </a:br>
            <a:r>
              <a:rPr kumimoji="1" lang="en-US" altLang="zh-CN" b="1" dirty="0">
                <a:solidFill>
                  <a:srgbClr val="0070C0"/>
                </a:solidFill>
              </a:rPr>
              <a:t>Type environment </a:t>
            </a:r>
            <a:br>
              <a:rPr kumimoji="1" lang="en-US" altLang="zh-CN" dirty="0"/>
            </a:br>
            <a:r>
              <a:rPr kumimoji="1" lang="en-US" altLang="zh-CN" b="1" dirty="0">
                <a:solidFill>
                  <a:srgbClr val="0070C0"/>
                </a:solidFill>
              </a:rPr>
              <a:t>Value environment</a:t>
            </a:r>
          </a:p>
          <a:p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/>
              <a:t>which</a:t>
            </a:r>
            <a:r>
              <a:rPr kumimoji="1" lang="zh-CN" altLang="en-US" dirty="0"/>
              <a:t> </a:t>
            </a:r>
            <a:r>
              <a:rPr kumimoji="1" lang="en-US" altLang="zh-CN" i="1" dirty="0">
                <a:solidFill>
                  <a:srgbClr val="0070C0"/>
                </a:solidFill>
              </a:rPr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which</a:t>
            </a:r>
            <a:r>
              <a:rPr kumimoji="1" lang="zh-CN" altLang="en-US" dirty="0"/>
              <a:t> </a:t>
            </a:r>
            <a:r>
              <a:rPr kumimoji="1" lang="en-US" altLang="zh-CN" i="1" dirty="0">
                <a:solidFill>
                  <a:srgbClr val="0070C0"/>
                </a:solidFill>
              </a:rPr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variable?</a:t>
            </a:r>
            <a:endParaRPr kumimoji="1" lang="en-US" altLang="zh-CN" b="1" dirty="0">
              <a:solidFill>
                <a:srgbClr val="0070C0"/>
              </a:solidFill>
            </a:endParaRPr>
          </a:p>
          <a:p>
            <a:pPr lvl="1"/>
            <a:r>
              <a:rPr kumimoji="1" lang="en-US" altLang="zh-CN" dirty="0"/>
              <a:t>based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syntactic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contexts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A8A0CE-6F75-6749-D145-E9C8C548BCDA}"/>
              </a:ext>
            </a:extLst>
          </p:cNvPr>
          <p:cNvSpPr txBox="1"/>
          <p:nvPr/>
        </p:nvSpPr>
        <p:spPr>
          <a:xfrm>
            <a:off x="5424973" y="1479318"/>
            <a:ext cx="3170851" cy="178510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200" b="1" dirty="0">
                <a:solidFill>
                  <a:srgbClr val="AF00DB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l</a:t>
            </a:r>
            <a:r>
              <a:rPr lang="en" altLang="zh-CN" sz="2200" b="1" dirty="0">
                <a:solidFill>
                  <a:srgbClr val="AF00DB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et 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type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int</a:t>
            </a:r>
            <a:endParaRPr kumimoji="0" lang="en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var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: 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:= 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5</a:t>
            </a:r>
            <a:endParaRPr kumimoji="0" lang="en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var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b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: 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:= 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endParaRPr kumimoji="0" lang="en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in</a:t>
            </a: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b</a:t>
            </a:r>
            <a:r>
              <a:rPr kumimoji="0" lang="en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+</a:t>
            </a:r>
            <a:r>
              <a:rPr kumimoji="0" lang="en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endParaRPr kumimoji="0" lang="en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end</a:t>
            </a:r>
            <a:endParaRPr kumimoji="0" lang="en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1E15B3F7-033F-69E4-A885-FB47A2E24257}"/>
              </a:ext>
            </a:extLst>
          </p:cNvPr>
          <p:cNvSpPr txBox="1">
            <a:spLocks/>
          </p:cNvSpPr>
          <p:nvPr/>
        </p:nvSpPr>
        <p:spPr>
          <a:xfrm>
            <a:off x="361244" y="3857563"/>
            <a:ext cx="8449731" cy="2713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What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are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bindings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in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type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env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and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value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env?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Type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environment: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symbol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-&gt;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Ty_ty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Value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environment: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variable: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symbol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-&gt;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Ty_ty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function: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symbol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-&gt;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struct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{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Ty_tyList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formals,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Ty_ty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result;}</a:t>
            </a:r>
          </a:p>
        </p:txBody>
      </p:sp>
    </p:spTree>
    <p:extLst>
      <p:ext uri="{BB962C8B-B14F-4D97-AF65-F5344CB8AC3E}">
        <p14:creationId xmlns:p14="http://schemas.microsoft.com/office/powerpoint/2010/main" val="343881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250DEA-BEF0-54F1-6DC1-F68C6E19A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Environments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0878D6-C84B-BBBF-66C5-6C11A15A1728}"/>
              </a:ext>
            </a:extLst>
          </p:cNvPr>
          <p:cNvSpPr txBox="1"/>
          <p:nvPr/>
        </p:nvSpPr>
        <p:spPr>
          <a:xfrm>
            <a:off x="1315901" y="1594567"/>
            <a:ext cx="636160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typedef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E_enventry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_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*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E_enventry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E_enventry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_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enum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{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E_varEntry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E_funEntry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kind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union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{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;}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var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{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Ty_tyList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formals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result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;}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fun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b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E_enventry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E_VarEntry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E_enventry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E_FunEntry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Ty_tyList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formals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result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b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E_base_tenv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void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/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/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environment</a:t>
            </a:r>
            <a:endParaRPr kumimoji="0" lang="e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E_base_venv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void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/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/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E_enventry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environment</a:t>
            </a:r>
            <a:endParaRPr kumimoji="0" lang="e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48535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D378D-BBD1-7654-CD77-04786B021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997131-A358-CAE3-26FC-8CE14125E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Overview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E4937A-D14E-4AFD-E04F-4EC2A09A7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133" y="3469176"/>
            <a:ext cx="8449733" cy="24299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800" dirty="0"/>
              <a:t>The</a:t>
            </a:r>
            <a:r>
              <a:rPr kumimoji="1" lang="zh-CN" altLang="en-US" sz="2800" dirty="0"/>
              <a:t> </a:t>
            </a:r>
            <a:r>
              <a:rPr kumimoji="1" lang="en-US" altLang="zh-CN" sz="2800" i="1" dirty="0">
                <a:solidFill>
                  <a:srgbClr val="0070C0"/>
                </a:solidFill>
              </a:rPr>
              <a:t>semantic</a:t>
            </a:r>
            <a:r>
              <a:rPr kumimoji="1" lang="zh-CN" altLang="en-US" sz="2800" i="1" dirty="0">
                <a:solidFill>
                  <a:srgbClr val="0070C0"/>
                </a:solidFill>
              </a:rPr>
              <a:t> </a:t>
            </a:r>
            <a:r>
              <a:rPr kumimoji="1" lang="en-US" altLang="zh-CN" sz="2800" i="1" dirty="0">
                <a:solidFill>
                  <a:srgbClr val="0070C0"/>
                </a:solidFill>
              </a:rPr>
              <a:t>analysis</a:t>
            </a:r>
            <a:r>
              <a:rPr kumimoji="1" lang="zh-CN" altLang="en-US" sz="2800" i="1" dirty="0">
                <a:solidFill>
                  <a:srgbClr val="0070C0"/>
                </a:solidFill>
              </a:rPr>
              <a:t> </a:t>
            </a:r>
            <a:r>
              <a:rPr kumimoji="1" lang="en-US" altLang="zh-CN" sz="2800" dirty="0"/>
              <a:t>phase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a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compiler:</a:t>
            </a:r>
          </a:p>
          <a:p>
            <a:r>
              <a:rPr kumimoji="1" lang="en-US" altLang="zh-CN" dirty="0"/>
              <a:t>connects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definitions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their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uses</a:t>
            </a:r>
          </a:p>
          <a:p>
            <a:r>
              <a:rPr kumimoji="1" lang="en-GB" altLang="zh-CN" b="1" dirty="0">
                <a:solidFill>
                  <a:srgbClr val="C00000"/>
                </a:solidFill>
              </a:rPr>
              <a:t>checks that each expression has a correct type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r>
              <a:rPr kumimoji="1" lang="en" altLang="zh-CN" dirty="0"/>
              <a:t>translates the abstract syntax into a simpler representation suitable for generating machine code (in Chapter 7)</a:t>
            </a:r>
          </a:p>
        </p:txBody>
      </p:sp>
      <p:sp>
        <p:nvSpPr>
          <p:cNvPr id="4" name="流程图: 可选过程 3">
            <a:extLst>
              <a:ext uri="{FF2B5EF4-FFF2-40B4-BE49-F238E27FC236}">
                <a16:creationId xmlns:a16="http://schemas.microsoft.com/office/drawing/2014/main" id="{899D142F-11F5-06BD-8114-71653F129117}"/>
              </a:ext>
            </a:extLst>
          </p:cNvPr>
          <p:cNvSpPr/>
          <p:nvPr/>
        </p:nvSpPr>
        <p:spPr>
          <a:xfrm>
            <a:off x="1144437" y="1760733"/>
            <a:ext cx="6855124" cy="83388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se-man-tic</a:t>
            </a:r>
            <a:r>
              <a:rPr lang="en-US" altLang="zh-CN" sz="2400" dirty="0"/>
              <a:t>: of or relating to meaning in language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644665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98789-133C-24E7-CCBD-60F157A1A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Type-Checking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C4934E-6A17-C302-C324-1641EF43A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801" y="1591412"/>
            <a:ext cx="7954620" cy="33920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400" dirty="0"/>
              <a:t>The </a:t>
            </a:r>
            <a:r>
              <a:rPr kumimoji="1" lang="en-US" altLang="zh-CN" sz="2400" dirty="0" err="1">
                <a:solidFill>
                  <a:srgbClr val="0070C0"/>
                </a:solidFill>
              </a:rPr>
              <a:t>Semant</a:t>
            </a:r>
            <a:r>
              <a:rPr kumimoji="1" lang="en-US" altLang="zh-CN" sz="2400" dirty="0"/>
              <a:t> module (</a:t>
            </a:r>
            <a:r>
              <a:rPr kumimoji="1" lang="en-US" altLang="zh-CN" sz="2400" dirty="0" err="1">
                <a:solidFill>
                  <a:srgbClr val="0070C0"/>
                </a:solidFill>
              </a:rPr>
              <a:t>semant.h</a:t>
            </a:r>
            <a:r>
              <a:rPr kumimoji="1" lang="en-US" altLang="zh-CN" sz="2400" dirty="0">
                <a:solidFill>
                  <a:srgbClr val="0070C0"/>
                </a:solidFill>
              </a:rPr>
              <a:t>, </a:t>
            </a:r>
            <a:r>
              <a:rPr kumimoji="1" lang="en-US" altLang="zh-CN" sz="2400" dirty="0" err="1">
                <a:solidFill>
                  <a:srgbClr val="0070C0"/>
                </a:solidFill>
              </a:rPr>
              <a:t>semant.c</a:t>
            </a:r>
            <a:r>
              <a:rPr kumimoji="1" lang="en-US" altLang="zh-CN" sz="2400" dirty="0"/>
              <a:t>) performs semantic analysis including type-checking – of abstract syntax.</a:t>
            </a:r>
          </a:p>
          <a:p>
            <a:r>
              <a:rPr kumimoji="1" lang="en-US" altLang="zh-CN" b="1" dirty="0"/>
              <a:t>Type-checking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expressions</a:t>
            </a:r>
          </a:p>
          <a:p>
            <a:r>
              <a:rPr kumimoji="1" lang="en-US" altLang="zh-CN" dirty="0"/>
              <a:t>Type-checking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en-US" altLang="zh-CN" dirty="0"/>
              <a:t>Variable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en-US" altLang="zh-CN" dirty="0"/>
              <a:t>Type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en-US" altLang="zh-CN" dirty="0"/>
              <a:t>Function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en-US" altLang="zh-CN" dirty="0"/>
              <a:t>Recursive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  <a:endParaRPr kumimoji="1" lang="zh-CN" altLang="en-US" dirty="0"/>
          </a:p>
          <a:p>
            <a:endParaRPr kumimoji="1" lang="en-US" altLang="zh-CN" sz="2400" dirty="0"/>
          </a:p>
          <a:p>
            <a:pPr lvl="1"/>
            <a:endParaRPr kumimoji="1"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36141943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98789-133C-24E7-CCBD-60F157A1A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Type-Checking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Expressions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C4934E-6A17-C302-C324-1641EF43A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76" y="999065"/>
            <a:ext cx="9036423" cy="5683089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analysis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module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contains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functions</a:t>
            </a:r>
            <a:r>
              <a:rPr kumimoji="1" lang="zh-CN" altLang="en-US" dirty="0"/>
              <a:t> </a:t>
            </a:r>
            <a:r>
              <a:rPr kumimoji="1" lang="en" altLang="zh-CN" dirty="0"/>
              <a:t>that recur over syntax trees:</a:t>
            </a:r>
          </a:p>
          <a:p>
            <a:endParaRPr kumimoji="1" lang="en" altLang="zh-CN" dirty="0"/>
          </a:p>
          <a:p>
            <a:endParaRPr kumimoji="1" lang="en" altLang="zh-CN" dirty="0"/>
          </a:p>
          <a:p>
            <a:endParaRPr kumimoji="1" lang="en" altLang="zh-CN" dirty="0"/>
          </a:p>
          <a:p>
            <a:r>
              <a:rPr kumimoji="1" lang="en" altLang="zh-CN" dirty="0"/>
              <a:t>The type-checker is a </a:t>
            </a:r>
            <a:r>
              <a:rPr kumimoji="1" lang="en" altLang="zh-CN" i="1" dirty="0">
                <a:solidFill>
                  <a:srgbClr val="FF0000"/>
                </a:solidFill>
              </a:rPr>
              <a:t>recursive function</a:t>
            </a:r>
            <a:r>
              <a:rPr kumimoji="1" lang="en" altLang="zh-CN" i="1" dirty="0"/>
              <a:t> </a:t>
            </a:r>
            <a:r>
              <a:rPr kumimoji="1" lang="en" altLang="zh-CN" dirty="0"/>
              <a:t>of the abstract syntax tree.   -- </a:t>
            </a:r>
            <a:r>
              <a:rPr kumimoji="1" lang="en" altLang="zh-CN" b="1" dirty="0" err="1">
                <a:solidFill>
                  <a:srgbClr val="FF0000"/>
                </a:solidFill>
              </a:rPr>
              <a:t>transExp</a:t>
            </a:r>
            <a:endParaRPr kumimoji="1" lang="en" altLang="zh-CN" b="1" dirty="0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/>
              <a:t>	</a:t>
            </a:r>
            <a:r>
              <a:rPr kumimoji="0" lang="en-US" altLang="zh-CN" sz="2400" b="1" dirty="0"/>
              <a:t>arguments</a:t>
            </a:r>
            <a:r>
              <a:rPr kumimoji="0" lang="en-US" altLang="zh-CN" sz="2400" dirty="0"/>
              <a:t>: </a:t>
            </a:r>
            <a:r>
              <a:rPr kumimoji="0" lang="zh-CN" altLang="en-US" sz="2400" dirty="0"/>
              <a:t>   </a:t>
            </a:r>
            <a:r>
              <a:rPr kumimoji="0" lang="en-US" altLang="zh-CN" sz="2400" dirty="0"/>
              <a:t>a value environment   </a:t>
            </a:r>
            <a:r>
              <a:rPr kumimoji="0" lang="en-US" altLang="zh-CN" sz="2400" dirty="0" err="1">
                <a:solidFill>
                  <a:srgbClr val="0000CC"/>
                </a:solidFill>
              </a:rPr>
              <a:t>venv</a:t>
            </a:r>
            <a:endParaRPr kumimoji="0" lang="en-US" altLang="zh-CN" sz="2400" dirty="0">
              <a:solidFill>
                <a:srgbClr val="0000CC"/>
              </a:solidFill>
            </a:endParaRPr>
          </a:p>
          <a:p>
            <a:pPr lvl="4" eaLnBrk="1" hangingPunct="1">
              <a:buFontTx/>
              <a:buNone/>
            </a:pPr>
            <a:r>
              <a:rPr kumimoji="0" lang="en-US" altLang="zh-CN" sz="2400" dirty="0"/>
              <a:t>  a type environment  </a:t>
            </a:r>
            <a:r>
              <a:rPr kumimoji="0" lang="en-US" altLang="zh-CN" sz="2400" dirty="0" err="1">
                <a:solidFill>
                  <a:srgbClr val="0000CC"/>
                </a:solidFill>
              </a:rPr>
              <a:t>tenv</a:t>
            </a:r>
            <a:endParaRPr kumimoji="0" lang="en-US" altLang="zh-CN" sz="2400" dirty="0">
              <a:solidFill>
                <a:srgbClr val="0000CC"/>
              </a:solidFill>
            </a:endParaRPr>
          </a:p>
          <a:p>
            <a:pPr lvl="4" eaLnBrk="1" hangingPunct="1">
              <a:buFontTx/>
              <a:buNone/>
            </a:pPr>
            <a:r>
              <a:rPr kumimoji="0" lang="en-US" altLang="zh-CN" sz="2400" dirty="0"/>
              <a:t>  an expression</a:t>
            </a:r>
            <a:r>
              <a:rPr kumimoji="0" lang="en-US" altLang="zh-CN" sz="2400" dirty="0">
                <a:solidFill>
                  <a:schemeClr val="tx2"/>
                </a:solidFill>
              </a:rPr>
              <a:t> </a:t>
            </a:r>
            <a:r>
              <a:rPr lang="en-US" altLang="zh-CN" sz="2400" dirty="0">
                <a:solidFill>
                  <a:srgbClr val="0000CC"/>
                </a:solidFill>
              </a:rPr>
              <a:t>a</a:t>
            </a:r>
          </a:p>
          <a:p>
            <a:pPr marL="0" lvl="4">
              <a:buNone/>
            </a:pPr>
            <a:r>
              <a:rPr kumimoji="0" lang="zh-CN" altLang="en-US" sz="2400" dirty="0">
                <a:solidFill>
                  <a:schemeClr val="tx2"/>
                </a:solidFill>
              </a:rPr>
              <a:t>   </a:t>
            </a:r>
            <a:r>
              <a:rPr kumimoji="0" lang="en-US" altLang="zh-CN" sz="2400" b="1" dirty="0">
                <a:solidFill>
                  <a:srgbClr val="002060"/>
                </a:solidFill>
              </a:rPr>
              <a:t>result:</a:t>
            </a:r>
            <a:r>
              <a:rPr kumimoji="0" lang="en-US" altLang="zh-CN" sz="2400" dirty="0">
                <a:solidFill>
                  <a:srgbClr val="002060"/>
                </a:solidFill>
              </a:rPr>
              <a:t>  containing a translated expression and its Tiger-language type</a:t>
            </a:r>
            <a:r>
              <a:rPr lang="en-US" altLang="zh-CN" sz="2400" dirty="0">
                <a:solidFill>
                  <a:srgbClr val="002060"/>
                </a:solidFill>
              </a:rPr>
              <a:t>:</a:t>
            </a:r>
            <a:r>
              <a:rPr kumimoji="0" lang="en-US" altLang="zh-CN" sz="2400" dirty="0">
                <a:solidFill>
                  <a:schemeClr val="tx2"/>
                </a:solidFill>
              </a:rPr>
              <a:t> </a:t>
            </a:r>
          </a:p>
          <a:p>
            <a:pPr marL="0" lvl="4" algn="ctr">
              <a:buNone/>
            </a:pPr>
            <a:r>
              <a:rPr lang="en" altLang="zh-CN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expty</a:t>
            </a:r>
            <a:r>
              <a:rPr lang="en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" altLang="zh-CN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Tr_exp</a:t>
            </a:r>
            <a:r>
              <a:rPr lang="en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exp</a:t>
            </a:r>
            <a:r>
              <a:rPr lang="en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" altLang="zh-CN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Ty_ty</a:t>
            </a:r>
            <a:r>
              <a:rPr lang="en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ty</a:t>
            </a:r>
            <a:r>
              <a:rPr lang="en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;};</a:t>
            </a:r>
            <a:endParaRPr kumimoji="1" lang="en" altLang="zh-CN" b="1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57150" lvl="4" indent="-285750"/>
            <a:r>
              <a:rPr kumimoji="1" lang="en-US" altLang="zh-CN" sz="2600" dirty="0"/>
              <a:t>e.g.,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a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b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3CFBE1-D40D-D0BD-ABB1-5EB23F673786}"/>
              </a:ext>
            </a:extLst>
          </p:cNvPr>
          <p:cNvSpPr txBox="1"/>
          <p:nvPr/>
        </p:nvSpPr>
        <p:spPr>
          <a:xfrm>
            <a:off x="361243" y="1920731"/>
            <a:ext cx="84215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expty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transVar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A_var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expty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transExp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A_exp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Void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transDec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A_dec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transTY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</a:t>
            </a:r>
          </a:p>
        </p:txBody>
      </p:sp>
      <p:sp>
        <p:nvSpPr>
          <p:cNvPr id="4" name="对话气泡: 圆角矩形 9">
            <a:extLst>
              <a:ext uri="{FF2B5EF4-FFF2-40B4-BE49-F238E27FC236}">
                <a16:creationId xmlns:a16="http://schemas.microsoft.com/office/drawing/2014/main" id="{603C9324-90CC-557A-9BF9-A5D08245E3A6}"/>
              </a:ext>
            </a:extLst>
          </p:cNvPr>
          <p:cNvSpPr/>
          <p:nvPr/>
        </p:nvSpPr>
        <p:spPr>
          <a:xfrm>
            <a:off x="5025624" y="6122181"/>
            <a:ext cx="2449902" cy="448437"/>
          </a:xfrm>
          <a:prstGeom prst="wedgeRoundRectCallout">
            <a:avLst>
              <a:gd name="adj1" fmla="val -41261"/>
              <a:gd name="adj2" fmla="val -71766"/>
              <a:gd name="adj3" fmla="val 16667"/>
            </a:avLst>
          </a:prstGeom>
          <a:solidFill>
            <a:srgbClr val="2E75B6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translated expression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48938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D7292C-6E25-2F45-CE0D-CCA26425D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Type-Checking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Expressions: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7D982F-7E47-38A6-5D50-1436E5C3B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Tiger’s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non-overloaded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type-checking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’+’</a:t>
            </a:r>
            <a:r>
              <a:rPr kumimoji="1" lang="zh-CN" altLang="en-US" dirty="0"/>
              <a:t> </a:t>
            </a:r>
            <a:r>
              <a:rPr kumimoji="1" lang="en-US" altLang="zh-CN" dirty="0"/>
              <a:t>expression</a:t>
            </a:r>
          </a:p>
          <a:p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38BCBB-8784-8762-B2F4-EECBBB7A9A2D}"/>
              </a:ext>
            </a:extLst>
          </p:cNvPr>
          <p:cNvSpPr txBox="1"/>
          <p:nvPr/>
        </p:nvSpPr>
        <p:spPr>
          <a:xfrm>
            <a:off x="361243" y="1502688"/>
            <a:ext cx="844973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expty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transExp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A_exp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switch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kind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case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A_opExp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: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A_oper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oper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op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oper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expty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left =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transExp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venv,tenv,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op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left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expty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right=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transExp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venv,tenv,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op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right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if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oper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==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A_plusOp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if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left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kind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!=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Ty_int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  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EM_error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op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left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pos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"integer required"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if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right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kind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!=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Ty_int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  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EM_error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op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right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pos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"integer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required"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return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expTy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NULL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Ty_Int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());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assert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0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/* should have returned from some clause of the switch */</a:t>
            </a:r>
            <a:endParaRPr kumimoji="0" lang="e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811339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7A7DB1-38E2-F0F2-9408-5FEE0175D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Type-Checking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Variables,</a:t>
            </a:r>
            <a:r>
              <a:rPr kumimoji="1" lang="zh-CN" altLang="en-US" dirty="0"/>
              <a:t> </a:t>
            </a:r>
            <a:r>
              <a:rPr kumimoji="1" lang="en-US" altLang="zh-CN" dirty="0"/>
              <a:t>Subscripts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Fields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C8939A-EAAF-58C7-EE84-212E6F93DB6C}"/>
              </a:ext>
            </a:extLst>
          </p:cNvPr>
          <p:cNvSpPr txBox="1"/>
          <p:nvPr/>
        </p:nvSpPr>
        <p:spPr>
          <a:xfrm>
            <a:off x="1005644" y="2569386"/>
            <a:ext cx="747154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expty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transVar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A_var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switch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kind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case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A_simpleVar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: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E_enventry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x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S_look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simple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if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(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x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&amp;&amp;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x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kind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==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E_varEntry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/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/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v is a defined var in value env</a:t>
            </a:r>
            <a:endParaRPr kumimoji="0" lang="e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return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expTy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NULL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actual_ty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x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var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));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/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/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skip placeholders</a:t>
            </a:r>
            <a:endParaRPr kumimoji="0" lang="e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else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EM_error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pos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“undefined variable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%s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”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S_name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simple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return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expTy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NULL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Ty_Int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());}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case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A_fieldVar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...</a:t>
            </a:r>
            <a:endParaRPr kumimoji="0" lang="e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75446C-6126-1ACB-4F50-9972AD7DB59A}"/>
              </a:ext>
            </a:extLst>
          </p:cNvPr>
          <p:cNvSpPr txBox="1">
            <a:spLocks noChangeArrowheads="1"/>
          </p:cNvSpPr>
          <p:nvPr/>
        </p:nvSpPr>
        <p:spPr>
          <a:xfrm>
            <a:off x="2263338" y="1156524"/>
            <a:ext cx="4645546" cy="1236627"/>
          </a:xfrm>
          <a:prstGeom prst="rect">
            <a:avLst/>
          </a:prstGeom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lvalue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lvalue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lvalue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9630029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98789-133C-24E7-CCBD-60F157A1A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Type-Checking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C4934E-6A17-C302-C324-1641EF43A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244" y="1631669"/>
            <a:ext cx="8449734" cy="33920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400" dirty="0"/>
              <a:t>The </a:t>
            </a:r>
            <a:r>
              <a:rPr kumimoji="1" lang="en-US" altLang="zh-CN" sz="2400" dirty="0" err="1">
                <a:solidFill>
                  <a:srgbClr val="0070C0"/>
                </a:solidFill>
              </a:rPr>
              <a:t>Semant</a:t>
            </a:r>
            <a:r>
              <a:rPr kumimoji="1" lang="en-US" altLang="zh-CN" sz="2400" dirty="0"/>
              <a:t> module (</a:t>
            </a:r>
            <a:r>
              <a:rPr kumimoji="1" lang="en-US" altLang="zh-CN" sz="2400" dirty="0" err="1">
                <a:solidFill>
                  <a:srgbClr val="0070C0"/>
                </a:solidFill>
              </a:rPr>
              <a:t>semant.h</a:t>
            </a:r>
            <a:r>
              <a:rPr kumimoji="1" lang="en-US" altLang="zh-CN" sz="2400" dirty="0">
                <a:solidFill>
                  <a:srgbClr val="0070C0"/>
                </a:solidFill>
              </a:rPr>
              <a:t>, </a:t>
            </a:r>
            <a:r>
              <a:rPr kumimoji="1" lang="en-US" altLang="zh-CN" sz="2400" dirty="0" err="1">
                <a:solidFill>
                  <a:srgbClr val="0070C0"/>
                </a:solidFill>
              </a:rPr>
              <a:t>semant.c</a:t>
            </a:r>
            <a:r>
              <a:rPr kumimoji="1" lang="en-US" altLang="zh-CN" sz="2400" dirty="0"/>
              <a:t>) performs semantic analysis including type-checking – of abstract syntax.</a:t>
            </a:r>
          </a:p>
          <a:p>
            <a:pPr marL="0" indent="0">
              <a:buNone/>
            </a:pPr>
            <a:endParaRPr kumimoji="1" lang="en-US" altLang="zh-CN" sz="2400" dirty="0"/>
          </a:p>
          <a:p>
            <a:r>
              <a:rPr kumimoji="1" lang="en-US" altLang="zh-CN" dirty="0"/>
              <a:t>Type-Checking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expressions</a:t>
            </a:r>
          </a:p>
          <a:p>
            <a:r>
              <a:rPr kumimoji="1" lang="en-US" altLang="zh-CN" b="1" dirty="0"/>
              <a:t>Type-Checking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declarations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en-US" altLang="zh-CN" dirty="0"/>
              <a:t>Variable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en-US" altLang="zh-CN" dirty="0"/>
              <a:t>Type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en-US" altLang="zh-CN" dirty="0"/>
              <a:t>Function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  <a:endParaRPr kumimoji="1" lang="en-US" altLang="zh-CN" sz="2400" dirty="0"/>
          </a:p>
          <a:p>
            <a:pPr lvl="1"/>
            <a:endParaRPr kumimoji="1" lang="en-US" altLang="zh-CN" sz="2200" dirty="0"/>
          </a:p>
        </p:txBody>
      </p:sp>
      <p:sp>
        <p:nvSpPr>
          <p:cNvPr id="4" name="右大括号 3">
            <a:extLst>
              <a:ext uri="{FF2B5EF4-FFF2-40B4-BE49-F238E27FC236}">
                <a16:creationId xmlns:a16="http://schemas.microsoft.com/office/drawing/2014/main" id="{6701D204-13C7-F6A2-1B17-4B71313571B8}"/>
              </a:ext>
            </a:extLst>
          </p:cNvPr>
          <p:cNvSpPr/>
          <p:nvPr/>
        </p:nvSpPr>
        <p:spPr>
          <a:xfrm>
            <a:off x="4456670" y="4283676"/>
            <a:ext cx="230660" cy="593124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5C6135-17C6-236A-1869-594C1AA842FE}"/>
              </a:ext>
            </a:extLst>
          </p:cNvPr>
          <p:cNvSpPr txBox="1"/>
          <p:nvPr/>
        </p:nvSpPr>
        <p:spPr>
          <a:xfrm>
            <a:off x="4300148" y="4349405"/>
            <a:ext cx="45802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en-US" altLang="zh-CN" sz="2400" dirty="0"/>
              <a:t>Recursive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declarations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6110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8A0238-E032-7B75-60C3-B62188078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Type-Checking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8A4AE9-410E-1A21-3388-A1A6C8048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621" y="1027256"/>
            <a:ext cx="8782757" cy="98715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Environments</a:t>
            </a:r>
            <a:r>
              <a:rPr kumimoji="1" lang="zh-CN" altLang="en-US" dirty="0"/>
              <a:t> </a:t>
            </a:r>
            <a:r>
              <a:rPr kumimoji="1" lang="en" altLang="zh-CN" dirty="0"/>
              <a:t>are constructed and augmented by declarations.</a:t>
            </a:r>
          </a:p>
          <a:p>
            <a:r>
              <a:rPr kumimoji="1" lang="en" altLang="zh-CN" dirty="0"/>
              <a:t>In Tiger, declarations appear only in a </a:t>
            </a:r>
            <a:r>
              <a:rPr kumimoji="1" lang="en" altLang="zh-CN" b="1" dirty="0"/>
              <a:t>let</a:t>
            </a:r>
            <a:r>
              <a:rPr kumimoji="1" lang="en" altLang="zh-CN" dirty="0"/>
              <a:t> expression.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A72C77-292D-5B0D-17D1-ED2DB3392C88}"/>
              </a:ext>
            </a:extLst>
          </p:cNvPr>
          <p:cNvSpPr txBox="1"/>
          <p:nvPr/>
        </p:nvSpPr>
        <p:spPr>
          <a:xfrm>
            <a:off x="691365" y="2169024"/>
            <a:ext cx="7761270" cy="424731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expty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transExp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A_exp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a)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switch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kind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case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A_letExp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: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expty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exp;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A_decList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d;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S_beginScope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S_beginScope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for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(d =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let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decs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 d; d=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tail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 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transDec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venv,tenv,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head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exp =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transExp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venv,tenv,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let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body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S_endScope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S_endScope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return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exp;</a:t>
            </a:r>
            <a:b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b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0C0087-620E-4621-593A-050BAB76E991}"/>
              </a:ext>
            </a:extLst>
          </p:cNvPr>
          <p:cNvSpPr txBox="1"/>
          <p:nvPr/>
        </p:nvSpPr>
        <p:spPr>
          <a:xfrm>
            <a:off x="3632278" y="5498071"/>
            <a:ext cx="4820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How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is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transDec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implemented?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variable,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type,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function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0189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CE62A6-E5BA-C82E-CEDA-7FDEA9141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Variable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385E8E-125F-0A85-4F65-0CAD61D31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243" y="1252111"/>
            <a:ext cx="8449733" cy="1905498"/>
          </a:xfrm>
        </p:spPr>
        <p:txBody>
          <a:bodyPr/>
          <a:lstStyle/>
          <a:p>
            <a:r>
              <a:rPr kumimoji="1" lang="en-US" altLang="zh-CN" dirty="0"/>
              <a:t>Processing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without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type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constraint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such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sz="26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kumimoji="1" lang="zh-CN" altLang="en-US" sz="26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en-US" altLang="zh-CN" sz="26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kumimoji="1" lang="zh-CN" altLang="en-US" sz="26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6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CN" altLang="en-US" sz="26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en-US" altLang="zh-CN" sz="26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CN" altLang="en-US" sz="26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6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endParaRPr kumimoji="1" lang="zh-CN" altLang="en-US" sz="2600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E6F64A-CA82-6A61-B7AF-01D8CA480D98}"/>
              </a:ext>
            </a:extLst>
          </p:cNvPr>
          <p:cNvSpPr txBox="1"/>
          <p:nvPr/>
        </p:nvSpPr>
        <p:spPr>
          <a:xfrm>
            <a:off x="1336561" y="3356387"/>
            <a:ext cx="6470878" cy="286232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void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transDec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tenv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A_dec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d)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switch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d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kind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 {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case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A_varDec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: {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struct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expty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 =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transExp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venv,tenv,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d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var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init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S_enter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d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var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var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E_VarEntry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...</a:t>
            </a:r>
            <a:endParaRPr kumimoji="0" lang="en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对话气泡: 圆角矩形 9">
            <a:extLst>
              <a:ext uri="{FF2B5EF4-FFF2-40B4-BE49-F238E27FC236}">
                <a16:creationId xmlns:a16="http://schemas.microsoft.com/office/drawing/2014/main" id="{CE6E9F16-371B-0FF2-305C-89E58A325D83}"/>
              </a:ext>
            </a:extLst>
          </p:cNvPr>
          <p:cNvSpPr/>
          <p:nvPr/>
        </p:nvSpPr>
        <p:spPr>
          <a:xfrm>
            <a:off x="3400022" y="5157452"/>
            <a:ext cx="3966692" cy="586525"/>
          </a:xfrm>
          <a:prstGeom prst="wedgeRoundRectCallout">
            <a:avLst>
              <a:gd name="adj1" fmla="val -41261"/>
              <a:gd name="adj2" fmla="val -71766"/>
              <a:gd name="adj3" fmla="val 16667"/>
            </a:avLst>
          </a:prstGeom>
          <a:solidFill>
            <a:srgbClr val="2E75B6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the type of x inherits from that of exp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549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D5CA4-1C8B-69E5-E8E4-95D7B38D0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Variable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58F5D3-66FE-C116-5724-5E5618AC2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64" y="1338698"/>
            <a:ext cx="8086893" cy="3112858"/>
          </a:xfrm>
        </p:spPr>
        <p:txBody>
          <a:bodyPr/>
          <a:lstStyle/>
          <a:p>
            <a:r>
              <a:rPr kumimoji="1" lang="en-US" altLang="zh-CN" dirty="0"/>
              <a:t>Processing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with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type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constraint:</a:t>
            </a:r>
          </a:p>
          <a:p>
            <a:pPr marL="0" indent="0">
              <a:buNone/>
            </a:pP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var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zh-CN" altLang="en-US" b="1" i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type-id</a:t>
            </a:r>
            <a:r>
              <a:rPr kumimoji="1" lang="zh-CN" altLang="en-US" b="1" i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</a:p>
          <a:p>
            <a:r>
              <a:rPr kumimoji="1" lang="en" altLang="zh-CN" dirty="0"/>
              <a:t>It will be necessary to check that the constraint and the initializing expression are compatible.</a:t>
            </a:r>
          </a:p>
          <a:p>
            <a:r>
              <a:rPr kumimoji="1" lang="en" altLang="zh-CN" dirty="0"/>
              <a:t>Also, initializing expressions of type </a:t>
            </a:r>
            <a:r>
              <a:rPr kumimoji="1" lang="en" altLang="zh-CN" dirty="0" err="1">
                <a:solidFill>
                  <a:srgbClr val="0070C0"/>
                </a:solidFill>
              </a:rPr>
              <a:t>Ty_Nil</a:t>
            </a:r>
            <a:r>
              <a:rPr kumimoji="1" lang="en" altLang="zh-CN" dirty="0">
                <a:solidFill>
                  <a:srgbClr val="0070C0"/>
                </a:solidFill>
              </a:rPr>
              <a:t> </a:t>
            </a:r>
            <a:r>
              <a:rPr kumimoji="1" lang="en" altLang="zh-CN" dirty="0"/>
              <a:t>must be constrained by a </a:t>
            </a:r>
            <a:r>
              <a:rPr kumimoji="1" lang="en" altLang="zh-CN" dirty="0" err="1">
                <a:solidFill>
                  <a:srgbClr val="0070C0"/>
                </a:solidFill>
              </a:rPr>
              <a:t>Ty_Record</a:t>
            </a:r>
            <a:r>
              <a:rPr kumimoji="1" lang="en" altLang="zh-CN" dirty="0"/>
              <a:t> type.</a:t>
            </a:r>
            <a:endParaRPr kumimoji="1"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ABBBE2-CA32-E119-F8F3-322DB9F484D2}"/>
              </a:ext>
            </a:extLst>
          </p:cNvPr>
          <p:cNvSpPr txBox="1">
            <a:spLocks noChangeArrowheads="1"/>
          </p:cNvSpPr>
          <p:nvPr/>
        </p:nvSpPr>
        <p:spPr>
          <a:xfrm>
            <a:off x="4323958" y="4100414"/>
            <a:ext cx="4645546" cy="2637631"/>
          </a:xfrm>
          <a:prstGeom prst="rect">
            <a:avLst/>
          </a:prstGeom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tydec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type-id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type-id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‘{’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tyfields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‘}’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array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type-id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tyfields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ε</a:t>
            </a:r>
            <a:endParaRPr kumimoji="0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id: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type-id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{,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id:type-id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1816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F0F7E-EF34-1210-44FB-AA56C5C38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Type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AFDD33-D3A0-8C0D-C59B-B1E78462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243" y="999065"/>
            <a:ext cx="8449733" cy="2766111"/>
          </a:xfrm>
        </p:spPr>
        <p:txBody>
          <a:bodyPr>
            <a:normAutofit/>
          </a:bodyPr>
          <a:lstStyle/>
          <a:p>
            <a:r>
              <a:rPr kumimoji="1" lang="en-US" altLang="zh-CN" dirty="0" err="1"/>
              <a:t>Nonrecursive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</a:p>
          <a:p>
            <a:pPr marL="0" indent="0" algn="ctr">
              <a:buNone/>
            </a:pP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type-id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</a:t>
            </a:r>
          </a:p>
          <a:p>
            <a:r>
              <a:rPr kumimoji="1" lang="en-US" altLang="zh-CN" dirty="0" err="1">
                <a:cs typeface="Times New Roman" panose="02020603050405020304" pitchFamily="18" charset="0"/>
              </a:rPr>
              <a:t>transTy</a:t>
            </a:r>
            <a:r>
              <a:rPr kumimoji="1" lang="en-US" altLang="zh-CN" dirty="0">
                <a:cs typeface="Times New Roman" panose="02020603050405020304" pitchFamily="18" charset="0"/>
              </a:rPr>
              <a:t>: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translates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 err="1">
                <a:solidFill>
                  <a:srgbClr val="0070C0"/>
                </a:solidFill>
                <a:cs typeface="Times New Roman" panose="02020603050405020304" pitchFamily="18" charset="0"/>
              </a:rPr>
              <a:t>A_ty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to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 err="1">
                <a:solidFill>
                  <a:srgbClr val="0070C0"/>
                </a:solidFill>
                <a:cs typeface="Times New Roman" panose="02020603050405020304" pitchFamily="18" charset="0"/>
              </a:rPr>
              <a:t>Ty_ty</a:t>
            </a:r>
            <a:endParaRPr kumimoji="1" lang="en-US" altLang="zh-CN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dirty="0">
                <a:cs typeface="Times New Roman" panose="02020603050405020304" pitchFamily="18" charset="0"/>
              </a:rPr>
              <a:t>Recursively</a:t>
            </a:r>
          </a:p>
          <a:p>
            <a:r>
              <a:rPr kumimoji="1" lang="en-US" altLang="zh-CN" dirty="0">
                <a:cs typeface="Times New Roman" panose="02020603050405020304" pitchFamily="18" charset="0"/>
              </a:rPr>
              <a:t>This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program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fragment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only</a:t>
            </a:r>
            <a:r>
              <a:rPr kumimoji="1"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handles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the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type-declaration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list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of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length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1 (i.e., only head)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F59777-9FD4-29D6-7DA9-454F34907E2D}"/>
              </a:ext>
            </a:extLst>
          </p:cNvPr>
          <p:cNvSpPr txBox="1"/>
          <p:nvPr/>
        </p:nvSpPr>
        <p:spPr>
          <a:xfrm>
            <a:off x="427647" y="3799061"/>
            <a:ext cx="8383331" cy="255454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void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transDec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tenv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A_dec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d) {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case 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A_typeDec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: {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S_enter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	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(tenv,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d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type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head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name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transTy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&gt;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type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head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));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185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FF1B8-5329-3661-E388-5E397DBA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683904-96B0-8602-29A7-A9DC5E0B2532}"/>
              </a:ext>
            </a:extLst>
          </p:cNvPr>
          <p:cNvSpPr txBox="1"/>
          <p:nvPr/>
        </p:nvSpPr>
        <p:spPr>
          <a:xfrm>
            <a:off x="1224416" y="1597862"/>
            <a:ext cx="6723385" cy="507831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void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transDec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S_table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A_dec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d) {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switch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kind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case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A_functionDec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: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A_fundec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f =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function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head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resultTy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S_look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f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result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Ty_tyList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formalTys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makeFormalTyList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tenv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f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params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S_enter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f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name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E_FunEntry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formalTys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resultTy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00FFFF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S_beginScope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00FFFF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{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A_fieldList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l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Ty_tyList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for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l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=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f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params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=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formalTys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l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l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=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l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tail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=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tail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  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S_enter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l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head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name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E_VarEntry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head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transExp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,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d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function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-&gt;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body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00FFFF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S_endScope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(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00FFFF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venv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break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}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...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B1C1AE7D-DEF3-12EE-A9B7-24FD86B55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243" y="999065"/>
            <a:ext cx="8449733" cy="59879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tyfields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type-id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</a:p>
          <a:p>
            <a:pPr marL="0" indent="0" algn="ctr">
              <a:buNone/>
            </a:pPr>
            <a:endParaRPr kumimoji="1" lang="en-US" altLang="zh-CN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0504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581A12-0156-7E7C-DBD6-C0C56A1FA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4A5234-CF04-D87A-247C-ADF5BC396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904" y="1407383"/>
            <a:ext cx="8380191" cy="4464330"/>
          </a:xfrm>
        </p:spPr>
        <p:txBody>
          <a:bodyPr/>
          <a:lstStyle/>
          <a:p>
            <a:r>
              <a:rPr kumimoji="1" lang="en" altLang="zh-CN" dirty="0"/>
              <a:t>The above code is very stripped-down implementation: </a:t>
            </a:r>
          </a:p>
          <a:p>
            <a:pPr lvl="1"/>
            <a:r>
              <a:rPr kumimoji="1" lang="en" altLang="zh-CN" dirty="0"/>
              <a:t>it handles only the case of a single function;</a:t>
            </a:r>
          </a:p>
          <a:p>
            <a:pPr lvl="1"/>
            <a:r>
              <a:rPr kumimoji="1" lang="en-US" altLang="zh-CN" dirty="0"/>
              <a:t>it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handles</a:t>
            </a:r>
            <a:r>
              <a:rPr kumimoji="1" lang="zh-CN" altLang="en-US" dirty="0"/>
              <a:t> </a:t>
            </a:r>
            <a:r>
              <a:rPr kumimoji="1" lang="en-US" altLang="zh-CN" dirty="0"/>
              <a:t>only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function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result</a:t>
            </a:r>
            <a:endParaRPr kumimoji="1" lang="en" altLang="zh-CN" dirty="0"/>
          </a:p>
          <a:p>
            <a:pPr lvl="1"/>
            <a:r>
              <a:rPr kumimoji="1" lang="en-US" altLang="zh-CN" dirty="0"/>
              <a:t>it</a:t>
            </a:r>
            <a:r>
              <a:rPr kumimoji="1" lang="zh-CN" altLang="en-US" dirty="0"/>
              <a:t> </a:t>
            </a:r>
            <a:r>
              <a:rPr kumimoji="1" lang="en-US" altLang="zh-CN" dirty="0"/>
              <a:t>doesn’t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errors</a:t>
            </a:r>
          </a:p>
          <a:p>
            <a:pPr lvl="1"/>
            <a:r>
              <a:rPr kumimoji="1" lang="en-US" altLang="zh-CN" dirty="0"/>
              <a:t>it doesn’t check that the type of the body expression matches the declared result type</a:t>
            </a:r>
          </a:p>
          <a:p>
            <a:pPr lvl="1"/>
            <a:r>
              <a:rPr kumimoji="1" lang="en-US" altLang="zh-CN" dirty="0"/>
              <a:t>…</a:t>
            </a:r>
          </a:p>
          <a:p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f(a: ta, b: tb) : rt =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</a:p>
          <a:p>
            <a:r>
              <a:rPr kumimoji="1" lang="en" altLang="zh-CN" b="1" i="1" dirty="0" err="1">
                <a:solidFill>
                  <a:srgbClr val="0070C0"/>
                </a:solidFill>
              </a:rPr>
              <a:t>makeFormalTyList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" altLang="zh-CN" dirty="0"/>
              <a:t>traverses</a:t>
            </a:r>
            <a:r>
              <a:rPr kumimoji="1" lang="zh-CN" altLang="en-US" dirty="0"/>
              <a:t> </a:t>
            </a:r>
            <a:r>
              <a:rPr kumimoji="1" lang="en" altLang="zh-CN" dirty="0"/>
              <a:t>the list of formal parameters and returns a list of their types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127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84AFAC-9AA7-EB5B-54EF-C06475368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Recursive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EF44BF-BC79-331A-37DC-FEA4A0E75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132" y="1620004"/>
            <a:ext cx="8449733" cy="337756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1" lang="en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list = {first: int, rest: list}</a:t>
            </a:r>
          </a:p>
          <a:p>
            <a:r>
              <a:rPr kumimoji="1" lang="en-US" altLang="zh-CN" dirty="0">
                <a:cs typeface="Times New Roman" panose="02020603050405020304" pitchFamily="18" charset="0"/>
              </a:rPr>
              <a:t>Before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adding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i="1" dirty="0">
                <a:solidFill>
                  <a:srgbClr val="0070C0"/>
                </a:solidFill>
                <a:cs typeface="Times New Roman" panose="02020603050405020304" pitchFamily="18" charset="0"/>
              </a:rPr>
              <a:t>list</a:t>
            </a:r>
            <a:r>
              <a:rPr kumimoji="1" lang="zh-CN" altLang="en-US" i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to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the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type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environment,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we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need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to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process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kumimoji="1" lang="en" altLang="zh-CN" i="1" dirty="0">
                <a:solidFill>
                  <a:srgbClr val="0070C0"/>
                </a:solidFill>
                <a:cs typeface="Times New Roman" panose="02020603050405020304" pitchFamily="18" charset="0"/>
              </a:rPr>
              <a:t>{first: int, rest: list}</a:t>
            </a:r>
          </a:p>
          <a:p>
            <a:r>
              <a:rPr kumimoji="1" lang="en-US" altLang="zh-CN" i="1" dirty="0">
                <a:cs typeface="Times New Roman" panose="02020603050405020304" pitchFamily="18" charset="0"/>
              </a:rPr>
              <a:t>Processing</a:t>
            </a:r>
            <a:r>
              <a:rPr kumimoji="1" lang="zh-CN" altLang="en-US" i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kumimoji="1" lang="en" altLang="zh-CN" i="1" dirty="0">
                <a:solidFill>
                  <a:srgbClr val="0070C0"/>
                </a:solidFill>
                <a:cs typeface="Times New Roman" panose="02020603050405020304" pitchFamily="18" charset="0"/>
              </a:rPr>
              <a:t>type list = {first: int, rest: list}</a:t>
            </a:r>
            <a:r>
              <a:rPr kumimoji="1" lang="zh-CN" altLang="en-US" i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requires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to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lookup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i="1" dirty="0">
                <a:solidFill>
                  <a:srgbClr val="0070C0"/>
                </a:solidFill>
                <a:cs typeface="Times New Roman" panose="02020603050405020304" pitchFamily="18" charset="0"/>
              </a:rPr>
              <a:t>list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from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the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type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environment</a:t>
            </a:r>
          </a:p>
          <a:p>
            <a:pPr lvl="1"/>
            <a:r>
              <a:rPr kumimoji="1" lang="en-US" altLang="zh-CN" i="1" dirty="0">
                <a:solidFill>
                  <a:srgbClr val="FF0000"/>
                </a:solidFill>
                <a:cs typeface="Times New Roman" panose="02020603050405020304" pitchFamily="18" charset="0"/>
              </a:rPr>
              <a:t>undefined</a:t>
            </a:r>
            <a:r>
              <a:rPr kumimoji="1" lang="zh-CN" altLang="en-US" i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i="1" dirty="0">
                <a:solidFill>
                  <a:srgbClr val="FF0000"/>
                </a:solidFill>
                <a:cs typeface="Times New Roman" panose="02020603050405020304" pitchFamily="18" charset="0"/>
              </a:rPr>
              <a:t>type!</a:t>
            </a:r>
          </a:p>
          <a:p>
            <a:r>
              <a:rPr kumimoji="1" lang="en-US" altLang="zh-CN" dirty="0">
                <a:cs typeface="Times New Roman" panose="02020603050405020304" pitchFamily="18" charset="0"/>
              </a:rPr>
              <a:t>How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to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handle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this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problem?</a:t>
            </a:r>
          </a:p>
        </p:txBody>
      </p:sp>
    </p:spTree>
    <p:extLst>
      <p:ext uri="{BB962C8B-B14F-4D97-AF65-F5344CB8AC3E}">
        <p14:creationId xmlns:p14="http://schemas.microsoft.com/office/powerpoint/2010/main" val="18381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E9687C-BB30-AF6F-4BF4-1240281D7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Recursive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D4564F-E232-BAC6-22E7-3C4E82914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432" y="999066"/>
            <a:ext cx="8833358" cy="557155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1" lang="en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list = {first: int, rest: list}</a:t>
            </a:r>
            <a:endParaRPr kumimoji="1" lang="en" altLang="zh-CN" dirty="0">
              <a:cs typeface="Times New Roman" panose="02020603050405020304" pitchFamily="18" charset="0"/>
            </a:endParaRPr>
          </a:p>
          <a:p>
            <a:r>
              <a:rPr kumimoji="1" lang="en" altLang="zh-CN" dirty="0">
                <a:cs typeface="Times New Roman" panose="02020603050405020304" pitchFamily="18" charset="0"/>
              </a:rPr>
              <a:t>Solu</a:t>
            </a:r>
            <a:r>
              <a:rPr kumimoji="1" lang="en-US" altLang="zh-CN" dirty="0" err="1">
                <a:cs typeface="Times New Roman" panose="02020603050405020304" pitchFamily="18" charset="0"/>
              </a:rPr>
              <a:t>tion</a:t>
            </a:r>
            <a:r>
              <a:rPr kumimoji="1" lang="en-US" altLang="zh-CN" dirty="0">
                <a:cs typeface="Times New Roman" panose="02020603050405020304" pitchFamily="18" charset="0"/>
              </a:rPr>
              <a:t>: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put all the “headers” in the environment ﬁrst</a:t>
            </a:r>
            <a:r>
              <a:rPr kumimoji="1"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(though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they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do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not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have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bodies)</a:t>
            </a:r>
          </a:p>
          <a:p>
            <a:r>
              <a:rPr kumimoji="1" lang="en-US" altLang="zh-CN" dirty="0">
                <a:cs typeface="Times New Roman" panose="02020603050405020304" pitchFamily="18" charset="0"/>
              </a:rPr>
              <a:t>What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is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a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header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in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this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example?</a:t>
            </a:r>
          </a:p>
          <a:p>
            <a:endParaRPr kumimoji="1" lang="en-US" altLang="zh-CN" dirty="0">
              <a:cs typeface="Times New Roman" panose="02020603050405020304" pitchFamily="18" charset="0"/>
            </a:endParaRPr>
          </a:p>
          <a:p>
            <a:r>
              <a:rPr kumimoji="1" lang="en-US" altLang="zh-CN" dirty="0">
                <a:cs typeface="Times New Roman" panose="02020603050405020304" pitchFamily="18" charset="0"/>
              </a:rPr>
              <a:t>How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to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enter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this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header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into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an</a:t>
            </a:r>
            <a:r>
              <a:rPr kumimoji="1" lang="zh-CN" altLang="en-US" dirty="0"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cs typeface="Times New Roman" panose="02020603050405020304" pitchFamily="18" charset="0"/>
              </a:rPr>
              <a:t>environment?</a:t>
            </a:r>
          </a:p>
          <a:p>
            <a:pPr marL="0" indent="0" algn="ctr">
              <a:buNone/>
            </a:pPr>
            <a:r>
              <a:rPr kumimoji="1" lang="en-US" altLang="zh-CN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S_enter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tenv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name, </a:t>
            </a:r>
            <a:r>
              <a:rPr kumimoji="1" lang="en-US" altLang="zh-CN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Ty_Name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(name,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NULL));</a:t>
            </a:r>
            <a:endParaRPr kumimoji="1" lang="en-US" altLang="zh-CN" dirty="0"/>
          </a:p>
          <a:p>
            <a:r>
              <a:rPr kumimoji="1" lang="en-US" altLang="zh-CN" dirty="0"/>
              <a:t>Now,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r>
              <a:rPr kumimoji="1" lang="zh-CN" altLang="en-US" dirty="0"/>
              <a:t> </a:t>
            </a:r>
            <a:r>
              <a:rPr kumimoji="1" lang="en-US" altLang="zh-CN" i="1" dirty="0" err="1">
                <a:solidFill>
                  <a:srgbClr val="0070C0"/>
                </a:solidFill>
              </a:rPr>
              <a:t>transTy</a:t>
            </a:r>
            <a:r>
              <a:rPr kumimoji="1" lang="zh-CN" altLang="en-US" dirty="0"/>
              <a:t> </a:t>
            </a:r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“body”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i.e.,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record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</a:t>
            </a:r>
            <a:r>
              <a:rPr kumimoji="1" lang="zh-CN" altLang="en-US" dirty="0"/>
              <a:t> </a:t>
            </a:r>
            <a:r>
              <a:rPr kumimoji="1" lang="en-US" altLang="zh-CN" dirty="0"/>
              <a:t>expression</a:t>
            </a:r>
            <a:r>
              <a:rPr kumimoji="1" lang="zh-CN" altLang="en-US" dirty="0"/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{first: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int,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rest: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list}</a:t>
            </a:r>
          </a:p>
          <a:p>
            <a:r>
              <a:rPr kumimoji="1" lang="en" altLang="zh-CN" dirty="0">
                <a:cs typeface="Times New Roman" panose="02020603050405020304" pitchFamily="18" charset="0"/>
              </a:rPr>
              <a:t>The</a:t>
            </a:r>
            <a:r>
              <a:rPr kumimoji="1" lang="en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 type </a:t>
            </a:r>
            <a:r>
              <a:rPr kumimoji="1" lang="en" altLang="zh-CN" dirty="0">
                <a:cs typeface="Times New Roman" panose="02020603050405020304" pitchFamily="18" charset="0"/>
              </a:rPr>
              <a:t>that </a:t>
            </a:r>
            <a:r>
              <a:rPr kumimoji="1" lang="en" altLang="zh-CN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transTy</a:t>
            </a:r>
            <a:r>
              <a:rPr kumimoji="1" lang="en" altLang="zh-CN" dirty="0">
                <a:cs typeface="Times New Roman" panose="02020603050405020304" pitchFamily="18" charset="0"/>
              </a:rPr>
              <a:t> returns can then be assigned into the ty ﬁeld within the </a:t>
            </a:r>
            <a:r>
              <a:rPr kumimoji="1" lang="en" altLang="zh-CN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Ty_Name</a:t>
            </a:r>
            <a:r>
              <a:rPr kumimoji="1" lang="en" altLang="zh-CN" i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kumimoji="1" lang="en" altLang="zh-CN" dirty="0">
                <a:cs typeface="Times New Roman" panose="02020603050405020304" pitchFamily="18" charset="0"/>
              </a:rPr>
              <a:t>struct.</a:t>
            </a:r>
            <a:endParaRPr kumimoji="1"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7EE187-C3C4-2D0F-1019-4A9D7114D4E1}"/>
              </a:ext>
            </a:extLst>
          </p:cNvPr>
          <p:cNvSpPr txBox="1"/>
          <p:nvPr/>
        </p:nvSpPr>
        <p:spPr>
          <a:xfrm>
            <a:off x="5807911" y="2106208"/>
            <a:ext cx="2949389" cy="923330"/>
          </a:xfrm>
          <a:prstGeom prst="rect">
            <a:avLst/>
          </a:prstGeom>
          <a:solidFill>
            <a:srgbClr val="0070C0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struct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	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S_symbol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sym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	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ty;} name;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A459EA-6F37-6013-D80C-E3A2C753DF7B}"/>
              </a:ext>
            </a:extLst>
          </p:cNvPr>
          <p:cNvSpPr txBox="1"/>
          <p:nvPr/>
        </p:nvSpPr>
        <p:spPr>
          <a:xfrm>
            <a:off x="2064589" y="2803322"/>
            <a:ext cx="1794294" cy="4524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" altLang="zh-CN" sz="2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type list =</a:t>
            </a:r>
          </a:p>
        </p:txBody>
      </p: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DE8F0622-33D5-4A91-1495-3C272915B98A}"/>
              </a:ext>
            </a:extLst>
          </p:cNvPr>
          <p:cNvCxnSpPr>
            <a:cxnSpLocks/>
          </p:cNvCxnSpPr>
          <p:nvPr/>
        </p:nvCxnSpPr>
        <p:spPr>
          <a:xfrm flipV="1">
            <a:off x="5165313" y="3071004"/>
            <a:ext cx="2117292" cy="757459"/>
          </a:xfrm>
          <a:prstGeom prst="curvedConnector3">
            <a:avLst>
              <a:gd name="adj1" fmla="val 10901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81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9BB150-6B00-B753-D4F0-582B455D8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Recursive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0B3E8-383B-CC42-7B83-300537088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243" y="999067"/>
            <a:ext cx="8449733" cy="1385545"/>
          </a:xfrm>
        </p:spPr>
        <p:txBody>
          <a:bodyPr/>
          <a:lstStyle/>
          <a:p>
            <a:r>
              <a:rPr kumimoji="1" lang="en" altLang="zh-CN" dirty="0"/>
              <a:t>Every cycle in a set of mutually recursive type declarations must pass through a record or array declaration</a:t>
            </a:r>
            <a:r>
              <a:rPr kumimoji="1" lang="en-US" altLang="zh-CN" dirty="0"/>
              <a:t>.</a:t>
            </a:r>
          </a:p>
          <a:p>
            <a:r>
              <a:rPr kumimoji="1" lang="en-US" altLang="zh-CN" dirty="0"/>
              <a:t>Why?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C004DE-1228-DD62-818A-4E46E48FFFAA}"/>
              </a:ext>
            </a:extLst>
          </p:cNvPr>
          <p:cNvSpPr txBox="1"/>
          <p:nvPr/>
        </p:nvSpPr>
        <p:spPr>
          <a:xfrm>
            <a:off x="5558115" y="2349937"/>
            <a:ext cx="2501802" cy="70788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type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b</a:t>
            </a:r>
            <a:endParaRPr kumimoji="0" lang="e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type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b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= {</a:t>
            </a:r>
            <a:r>
              <a:rPr kumimoji="0" lang="en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i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: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97D293-999F-A4C8-D30C-E622A8EAB0B1}"/>
              </a:ext>
            </a:extLst>
          </p:cNvPr>
          <p:cNvSpPr txBox="1"/>
          <p:nvPr/>
        </p:nvSpPr>
        <p:spPr>
          <a:xfrm>
            <a:off x="522606" y="2362785"/>
            <a:ext cx="1981200" cy="70788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type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b</a:t>
            </a:r>
            <a:endParaRPr kumimoji="0" lang="e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type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b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a</a:t>
            </a:r>
            <a:endParaRPr kumimoji="0" lang="e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A8F7A72-2192-7690-BF63-2147DCF9E0BA}"/>
              </a:ext>
            </a:extLst>
          </p:cNvPr>
          <p:cNvSpPr txBox="1">
            <a:spLocks/>
          </p:cNvSpPr>
          <p:nvPr/>
        </p:nvSpPr>
        <p:spPr>
          <a:xfrm>
            <a:off x="361242" y="6093684"/>
            <a:ext cx="8449733" cy="580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Illegal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cycles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should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be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detected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by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the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type-checker</a:t>
            </a:r>
            <a:endParaRPr kumimoji="1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7B19C8ED-0048-0176-442A-24787E5AE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661" y="2080071"/>
            <a:ext cx="1742236" cy="898918"/>
          </a:xfrm>
          <a:prstGeom prst="wedgeRoundRectCallout">
            <a:avLst>
              <a:gd name="adj1" fmla="val -95560"/>
              <a:gd name="adj2" fmla="val 11775"/>
              <a:gd name="adj3" fmla="val 16667"/>
            </a:avLst>
          </a:prstGeom>
          <a:solidFill>
            <a:srgbClr val="FF66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It is illegal in Tiger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B4DA07-1496-4C70-0F55-55A2EB0DE406}"/>
              </a:ext>
            </a:extLst>
          </p:cNvPr>
          <p:cNvSpPr txBox="1"/>
          <p:nvPr/>
        </p:nvSpPr>
        <p:spPr>
          <a:xfrm>
            <a:off x="522606" y="4603629"/>
            <a:ext cx="1995311" cy="132343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type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a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b</a:t>
            </a:r>
            <a:endParaRPr kumimoji="0" lang="e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type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b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d</a:t>
            </a:r>
            <a:endParaRPr kumimoji="0" lang="e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type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c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a</a:t>
            </a:r>
            <a:endParaRPr kumimoji="0" lang="e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type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d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a</a:t>
            </a:r>
            <a:endParaRPr kumimoji="0" lang="e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D417FF84-E073-742F-30D2-C3B806C49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3784" y="4343361"/>
            <a:ext cx="1763310" cy="907917"/>
          </a:xfrm>
          <a:prstGeom prst="wedgeRoundRectCallout">
            <a:avLst>
              <a:gd name="adj1" fmla="val -95560"/>
              <a:gd name="adj2" fmla="val 11775"/>
              <a:gd name="adj3" fmla="val 16667"/>
            </a:avLst>
          </a:prstGeom>
          <a:solidFill>
            <a:srgbClr val="FF66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It is illegal in Tiger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4162D0-0885-FD63-6A88-F7132F9B1E80}"/>
              </a:ext>
            </a:extLst>
          </p:cNvPr>
          <p:cNvSpPr txBox="1"/>
          <p:nvPr/>
        </p:nvSpPr>
        <p:spPr>
          <a:xfrm>
            <a:off x="2738212" y="5231067"/>
            <a:ext cx="2867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contains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an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illegal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cycle: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-&gt;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-&gt;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-&gt;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A78E147-AB57-7BF8-7D3F-4F22AA95606D}"/>
              </a:ext>
            </a:extLst>
          </p:cNvPr>
          <p:cNvSpPr txBox="1"/>
          <p:nvPr/>
        </p:nvSpPr>
        <p:spPr>
          <a:xfrm>
            <a:off x="5672005" y="4669437"/>
            <a:ext cx="2949389" cy="923330"/>
          </a:xfrm>
          <a:prstGeom prst="rect">
            <a:avLst/>
          </a:prstGeom>
          <a:solidFill>
            <a:srgbClr val="0070C0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struct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	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S_symbol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sym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	</a:t>
            </a:r>
            <a:r>
              <a:rPr kumimoji="0" lang="en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Ty_ty</a:t>
            </a:r>
            <a:r>
              <a:rPr kumimoji="0" lang="e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 ty;} name;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583EFB-682D-0375-D0DF-D2B0ADA5621D}"/>
              </a:ext>
            </a:extLst>
          </p:cNvPr>
          <p:cNvSpPr txBox="1"/>
          <p:nvPr/>
        </p:nvSpPr>
        <p:spPr>
          <a:xfrm>
            <a:off x="0" y="3171004"/>
            <a:ext cx="3808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line1: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-&gt;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Ty_Name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{a,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b’s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Ty_Name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},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       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-&gt;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Ty_Name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{b,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NULL}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line2: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-&gt;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Ty_Name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{b,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a’s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Ty_Name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	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-&gt;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Ty_Name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{a,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b’s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Ty_Name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}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87B240-2B85-73BC-F135-A15CA7C0FCBE}"/>
              </a:ext>
            </a:extLst>
          </p:cNvPr>
          <p:cNvSpPr txBox="1"/>
          <p:nvPr/>
        </p:nvSpPr>
        <p:spPr>
          <a:xfrm>
            <a:off x="5558115" y="3171003"/>
            <a:ext cx="3808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line1: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-&gt;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Ty_Name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{a,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b’s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Ty_Name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},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       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-&gt;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Ty_Name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{b,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NULL}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line2: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-&gt;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Ty_Name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{b,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Ty_Record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	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-&gt;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Ty_Name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{a,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b’s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Ty_Name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}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061749-1739-4E4A-59FA-241FFE3B8F14}"/>
              </a:ext>
            </a:extLst>
          </p:cNvPr>
          <p:cNvSpPr txBox="1"/>
          <p:nvPr/>
        </p:nvSpPr>
        <p:spPr>
          <a:xfrm>
            <a:off x="3690083" y="3712735"/>
            <a:ext cx="1457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actual_ty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will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never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stop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191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 animBg="1"/>
      <p:bldP spid="11" grpId="0" animBg="1"/>
      <p:bldP spid="12" grpId="0" animBg="1"/>
      <p:bldP spid="13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58CFA1-6E2F-5D55-5230-9256BA203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Recursive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30033E-D4EA-2149-1CC7-19BB6E8AD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133" y="1861069"/>
            <a:ext cx="8449733" cy="3135861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800" b="1" dirty="0"/>
              <a:t>Mutually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Recursive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Functions</a:t>
            </a:r>
          </a:p>
          <a:p>
            <a:pPr marL="0" indent="0">
              <a:buNone/>
            </a:pPr>
            <a:r>
              <a:rPr kumimoji="1" lang="en-US" altLang="zh-CN" i="1" dirty="0">
                <a:solidFill>
                  <a:srgbClr val="0070C0"/>
                </a:solidFill>
              </a:rPr>
              <a:t>f</a:t>
            </a:r>
            <a:r>
              <a:rPr kumimoji="1" lang="zh-CN" altLang="en-US" i="1" dirty="0">
                <a:solidFill>
                  <a:srgbClr val="0070C0"/>
                </a:solidFill>
              </a:rPr>
              <a:t> </a:t>
            </a:r>
            <a:r>
              <a:rPr kumimoji="1" lang="en-US" altLang="zh-CN" i="1" dirty="0">
                <a:solidFill>
                  <a:srgbClr val="0070C0"/>
                </a:solidFill>
              </a:rPr>
              <a:t>calls</a:t>
            </a:r>
            <a:r>
              <a:rPr kumimoji="1" lang="zh-CN" altLang="en-US" i="1" dirty="0">
                <a:solidFill>
                  <a:srgbClr val="0070C0"/>
                </a:solidFill>
              </a:rPr>
              <a:t> </a:t>
            </a:r>
            <a:r>
              <a:rPr kumimoji="1" lang="en-US" altLang="zh-CN" i="1" dirty="0">
                <a:solidFill>
                  <a:srgbClr val="0070C0"/>
                </a:solidFill>
              </a:rPr>
              <a:t>g,</a:t>
            </a:r>
            <a:r>
              <a:rPr kumimoji="1" lang="zh-CN" altLang="en-US" i="1" dirty="0">
                <a:solidFill>
                  <a:srgbClr val="0070C0"/>
                </a:solidFill>
              </a:rPr>
              <a:t> </a:t>
            </a:r>
            <a:r>
              <a:rPr kumimoji="1" lang="en-US" altLang="zh-CN" i="1" dirty="0">
                <a:solidFill>
                  <a:srgbClr val="0070C0"/>
                </a:solidFill>
              </a:rPr>
              <a:t>g</a:t>
            </a:r>
            <a:r>
              <a:rPr kumimoji="1" lang="zh-CN" altLang="en-US" i="1" dirty="0">
                <a:solidFill>
                  <a:srgbClr val="0070C0"/>
                </a:solidFill>
              </a:rPr>
              <a:t> </a:t>
            </a:r>
            <a:r>
              <a:rPr kumimoji="1" lang="en-US" altLang="zh-CN" i="1" dirty="0">
                <a:solidFill>
                  <a:srgbClr val="0070C0"/>
                </a:solidFill>
              </a:rPr>
              <a:t>calls</a:t>
            </a:r>
            <a:r>
              <a:rPr kumimoji="1" lang="zh-CN" altLang="en-US" i="1" dirty="0">
                <a:solidFill>
                  <a:srgbClr val="0070C0"/>
                </a:solidFill>
              </a:rPr>
              <a:t> </a:t>
            </a:r>
            <a:r>
              <a:rPr kumimoji="1" lang="en-US" altLang="zh-CN" i="1" dirty="0">
                <a:solidFill>
                  <a:srgbClr val="0070C0"/>
                </a:solidFill>
              </a:rPr>
              <a:t>f</a:t>
            </a:r>
          </a:p>
          <a:p>
            <a:r>
              <a:rPr kumimoji="1" lang="en-US" altLang="zh-CN" dirty="0"/>
              <a:t>First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pass:</a:t>
            </a:r>
            <a:r>
              <a:rPr kumimoji="1" lang="zh-CN" altLang="en-US" dirty="0"/>
              <a:t> </a:t>
            </a:r>
            <a:r>
              <a:rPr kumimoji="1" lang="en" altLang="zh-CN" dirty="0"/>
              <a:t>gathers information about the </a:t>
            </a:r>
            <a:r>
              <a:rPr kumimoji="1" lang="en" altLang="zh-CN" i="1" dirty="0">
                <a:solidFill>
                  <a:srgbClr val="0070C0"/>
                </a:solidFill>
              </a:rPr>
              <a:t>header</a:t>
            </a:r>
            <a:r>
              <a:rPr kumimoji="1" lang="en" altLang="zh-CN" dirty="0"/>
              <a:t> of each function (function name, formal parameter list, return type) but leaves the bodies of the functions untouched.</a:t>
            </a:r>
          </a:p>
          <a:p>
            <a:r>
              <a:rPr kumimoji="1" lang="en-US" altLang="zh-CN" dirty="0"/>
              <a:t>Second</a:t>
            </a:r>
            <a:r>
              <a:rPr kumimoji="1" lang="zh-CN" altLang="en-US" dirty="0"/>
              <a:t> </a:t>
            </a:r>
            <a:r>
              <a:rPr kumimoji="1" lang="en-US" altLang="zh-CN" dirty="0"/>
              <a:t>pass:</a:t>
            </a:r>
            <a:r>
              <a:rPr kumimoji="1" lang="zh-CN" altLang="en-US" dirty="0"/>
              <a:t> </a:t>
            </a:r>
            <a:r>
              <a:rPr kumimoji="1" lang="en" altLang="zh-CN" dirty="0"/>
              <a:t>processes the </a:t>
            </a:r>
            <a:r>
              <a:rPr kumimoji="1" lang="en" altLang="zh-CN" dirty="0">
                <a:solidFill>
                  <a:srgbClr val="0070C0"/>
                </a:solidFill>
              </a:rPr>
              <a:t>bodies</a:t>
            </a:r>
            <a:r>
              <a:rPr kumimoji="1" lang="en" altLang="zh-CN" dirty="0"/>
              <a:t> of all function</a:t>
            </a:r>
            <a:r>
              <a:rPr kumimoji="1" lang="en-US" altLang="zh-CN" dirty="0"/>
              <a:t>s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augmented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environment.</a:t>
            </a:r>
          </a:p>
        </p:txBody>
      </p:sp>
    </p:spTree>
    <p:extLst>
      <p:ext uri="{BB962C8B-B14F-4D97-AF65-F5344CB8AC3E}">
        <p14:creationId xmlns:p14="http://schemas.microsoft.com/office/powerpoint/2010/main" val="6794641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ACC6B-FD8E-5E7E-002B-50924DC5B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BFF9D5-384D-6D91-63AA-C4FA8C2EC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5.1</a:t>
            </a:r>
            <a:r>
              <a:rPr kumimoji="1" lang="zh-CN" altLang="en-US" dirty="0"/>
              <a:t> </a:t>
            </a:r>
            <a:r>
              <a:rPr kumimoji="1" lang="en-US" altLang="zh-CN" dirty="0"/>
              <a:t>(a,</a:t>
            </a:r>
            <a:r>
              <a:rPr kumimoji="1" lang="zh-CN" altLang="en-US" dirty="0"/>
              <a:t> </a:t>
            </a:r>
            <a:r>
              <a:rPr kumimoji="1" lang="en-US" altLang="zh-CN" dirty="0"/>
              <a:t>b)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00915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U3NDkzZjZkYTQ0ZGI2MDM1OWJmMDZmYTJmNWEzZm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1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1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21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3914</TotalTime>
  <Words>5591</Words>
  <Application>Microsoft Macintosh PowerPoint</Application>
  <PresentationFormat>全屏显示(4:3)</PresentationFormat>
  <Paragraphs>702</Paragraphs>
  <Slides>50</Slides>
  <Notes>26</Notes>
  <HiddenSlides>1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61" baseType="lpstr">
      <vt:lpstr>等线</vt:lpstr>
      <vt:lpstr>微软雅黑</vt:lpstr>
      <vt:lpstr>微软雅黑</vt:lpstr>
      <vt:lpstr>Arial</vt:lpstr>
      <vt:lpstr>Calibri</vt:lpstr>
      <vt:lpstr>Calibri Light</vt:lpstr>
      <vt:lpstr>Menlo</vt:lpstr>
      <vt:lpstr>Symbol</vt:lpstr>
      <vt:lpstr>Times New Roman</vt:lpstr>
      <vt:lpstr>Office 主题​​</vt:lpstr>
      <vt:lpstr>默认设计模板</vt:lpstr>
      <vt:lpstr>PowerPoint 演示文稿</vt:lpstr>
      <vt:lpstr>Outline</vt:lpstr>
      <vt:lpstr>Typical Workflow of a Compiler</vt:lpstr>
      <vt:lpstr>Overview</vt:lpstr>
      <vt:lpstr>Symbol Tables</vt:lpstr>
      <vt:lpstr>Symbol Tables</vt:lpstr>
      <vt:lpstr>Symbol Tables</vt:lpstr>
      <vt:lpstr>Symbol Tables</vt:lpstr>
      <vt:lpstr>Multiple Symbol Tables</vt:lpstr>
      <vt:lpstr>Multiple Symbol Tables</vt:lpstr>
      <vt:lpstr>Efficient Imperative Symbol Tables</vt:lpstr>
      <vt:lpstr>Efficient Imperative Symbol Tables</vt:lpstr>
      <vt:lpstr>Efficient Imperative Symbol Tables</vt:lpstr>
      <vt:lpstr>Effective Imperative Symbol Tables</vt:lpstr>
      <vt:lpstr>Efficient Functional Symbol Tables</vt:lpstr>
      <vt:lpstr>Efficient Functional Symbol Tables</vt:lpstr>
      <vt:lpstr>Efficient Functional Symbol Tables</vt:lpstr>
      <vt:lpstr>Efficient Functional Symbol Table</vt:lpstr>
      <vt:lpstr>Symbols in The Tiger Compiler</vt:lpstr>
      <vt:lpstr>Symbols in The Tiger Compiler</vt:lpstr>
      <vt:lpstr>Symbols in The Tiger Compiler</vt:lpstr>
      <vt:lpstr>The Implementation of Symbols</vt:lpstr>
      <vt:lpstr>The Implementation of Symbol Tables</vt:lpstr>
      <vt:lpstr>The Implementation of Symbol Tables</vt:lpstr>
      <vt:lpstr>The Implementation of Symbol Tables</vt:lpstr>
      <vt:lpstr>The Implementation of Symbol Tables</vt:lpstr>
      <vt:lpstr>Bindings for the Tiger Compiler</vt:lpstr>
      <vt:lpstr>Bindings for the Tiger Compiler</vt:lpstr>
      <vt:lpstr>Bindings for the Tiger Compiler</vt:lpstr>
      <vt:lpstr>Bindings for the Tiger Compiler</vt:lpstr>
      <vt:lpstr>Bindings for the Tiger Compiler</vt:lpstr>
      <vt:lpstr>Environments</vt:lpstr>
      <vt:lpstr>Environments</vt:lpstr>
      <vt:lpstr>Overview</vt:lpstr>
      <vt:lpstr>Type-Checking</vt:lpstr>
      <vt:lpstr>Type-Checking Expressions</vt:lpstr>
      <vt:lpstr>Type-Checking Expressions: Example</vt:lpstr>
      <vt:lpstr>Type-Checking Variables, Subscripts and Fields</vt:lpstr>
      <vt:lpstr>Type-Checking</vt:lpstr>
      <vt:lpstr>Type-Checking Declarations</vt:lpstr>
      <vt:lpstr>Variable Declarations</vt:lpstr>
      <vt:lpstr>Variable Declarations</vt:lpstr>
      <vt:lpstr>Type Declarations</vt:lpstr>
      <vt:lpstr>Function Declarations</vt:lpstr>
      <vt:lpstr>Function Declarations</vt:lpstr>
      <vt:lpstr>Recursive Declarations</vt:lpstr>
      <vt:lpstr>Recursive Declarations</vt:lpstr>
      <vt:lpstr>Recursive Declarations</vt:lpstr>
      <vt:lpstr>Recursive Declarations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 忠鑫</dc:creator>
  <cp:lastModifiedBy>陈明帅</cp:lastModifiedBy>
  <cp:revision>2143</cp:revision>
  <dcterms:created xsi:type="dcterms:W3CDTF">2020-08-10T07:34:00Z</dcterms:created>
  <dcterms:modified xsi:type="dcterms:W3CDTF">2026-04-08T14:52:40Z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3185A5C720204CBBA568AEF4A794612B_13</vt:lpwstr>
  </property>
  <property fmtid="{D5CDD505-2E9C-101B-9397-08002B2CF9AE}" pid="3" name="KSOProductBuildVer">
    <vt:lpwstr>2052-12.1.0.16417</vt:lpwstr>
  </property>
</Properties>
</file>