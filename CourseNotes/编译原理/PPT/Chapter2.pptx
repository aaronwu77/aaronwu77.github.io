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6.xml" ContentType="application/vnd.openxmlformats-officedocument.presentationml.notesSlide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4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6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9.xml" ContentType="application/vnd.openxmlformats-officedocument.presentationml.notesSlide+xml"/>
  <Override PartName="/ppt/tags/tag59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2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3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4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5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6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2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3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3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35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36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37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38.xml" ContentType="application/vnd.openxmlformats-officedocument.presentationml.notesSlide+xml"/>
  <Override PartName="/ppt/tags/tag122.xml" ContentType="application/vnd.openxmlformats-officedocument.presentationml.tags+xml"/>
  <Override PartName="/ppt/notesSlides/notesSlide39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40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41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42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43.xml" ContentType="application/vnd.openxmlformats-officedocument.presentationml.notesSlide+xml"/>
  <Override PartName="/ppt/tags/tag143.xml" ContentType="application/vnd.openxmlformats-officedocument.presentationml.tags+xml"/>
  <Override PartName="/ppt/notesSlides/notesSlide44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45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46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49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50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51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52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53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notesSlides/notesSlide54.xml" ContentType="application/vnd.openxmlformats-officedocument.presentationml.notesSlid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55.xml" ContentType="application/vnd.openxmlformats-officedocument.presentationml.notesSlide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56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57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60.xml" ContentType="application/vnd.openxmlformats-officedocument.presentationml.notesSlide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notesSlides/notesSlide61.xml" ContentType="application/vnd.openxmlformats-officedocument.presentationml.notesSlid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tags/tag257.xml" ContentType="application/vnd.openxmlformats-officedocument.presentationml.tags+xml"/>
  <Override PartName="/ppt/notesSlides/notesSlide64.xml" ContentType="application/vnd.openxmlformats-officedocument.presentationml.notesSlid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271.xml" ContentType="application/vnd.openxmlformats-officedocument.presentationml.tags+xml"/>
  <Override PartName="/ppt/notesSlides/notesSlide67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notesSlides/notesSlide68.xml" ContentType="application/vnd.openxmlformats-officedocument.presentationml.notesSlide+xml"/>
  <Override PartName="/ppt/tags/tag274.xml" ContentType="application/vnd.openxmlformats-officedocument.presentationml.tags+xml"/>
  <Override PartName="/ppt/notesSlides/notesSlide69.xml" ContentType="application/vnd.openxmlformats-officedocument.presentationml.notesSlide+xml"/>
  <Override PartName="/ppt/tags/tag275.xml" ContentType="application/vnd.openxmlformats-officedocument.presentationml.tags+xml"/>
  <Override PartName="/ppt/notesSlides/notesSlide70.xml" ContentType="application/vnd.openxmlformats-officedocument.presentationml.notesSlide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tags/tag278.xml" ContentType="application/vnd.openxmlformats-officedocument.presentationml.tags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86"/>
  </p:notesMasterIdLst>
  <p:handoutMasterIdLst>
    <p:handoutMasterId r:id="rId87"/>
  </p:handoutMasterIdLst>
  <p:sldIdLst>
    <p:sldId id="303" r:id="rId3"/>
    <p:sldId id="1739" r:id="rId4"/>
    <p:sldId id="1858" r:id="rId5"/>
    <p:sldId id="1859" r:id="rId6"/>
    <p:sldId id="1864" r:id="rId7"/>
    <p:sldId id="1798" r:id="rId8"/>
    <p:sldId id="1861" r:id="rId9"/>
    <p:sldId id="1862" r:id="rId10"/>
    <p:sldId id="1956" r:id="rId11"/>
    <p:sldId id="1957" r:id="rId12"/>
    <p:sldId id="1863" r:id="rId13"/>
    <p:sldId id="1865" r:id="rId14"/>
    <p:sldId id="1878" r:id="rId15"/>
    <p:sldId id="1866" r:id="rId16"/>
    <p:sldId id="1867" r:id="rId17"/>
    <p:sldId id="1868" r:id="rId18"/>
    <p:sldId id="1869" r:id="rId19"/>
    <p:sldId id="1870" r:id="rId20"/>
    <p:sldId id="1871" r:id="rId21"/>
    <p:sldId id="1872" r:id="rId22"/>
    <p:sldId id="1873" r:id="rId23"/>
    <p:sldId id="1874" r:id="rId24"/>
    <p:sldId id="1875" r:id="rId25"/>
    <p:sldId id="1876" r:id="rId26"/>
    <p:sldId id="1877" r:id="rId27"/>
    <p:sldId id="1879" r:id="rId28"/>
    <p:sldId id="1880" r:id="rId29"/>
    <p:sldId id="1882" r:id="rId30"/>
    <p:sldId id="1883" r:id="rId31"/>
    <p:sldId id="1884" r:id="rId32"/>
    <p:sldId id="1885" r:id="rId33"/>
    <p:sldId id="1886" r:id="rId34"/>
    <p:sldId id="1887" r:id="rId35"/>
    <p:sldId id="1962" r:id="rId36"/>
    <p:sldId id="1888" r:id="rId37"/>
    <p:sldId id="1889" r:id="rId38"/>
    <p:sldId id="1963" r:id="rId39"/>
    <p:sldId id="1891" r:id="rId40"/>
    <p:sldId id="1892" r:id="rId41"/>
    <p:sldId id="1893" r:id="rId42"/>
    <p:sldId id="1894" r:id="rId43"/>
    <p:sldId id="1895" r:id="rId44"/>
    <p:sldId id="1896" r:id="rId45"/>
    <p:sldId id="1897" r:id="rId46"/>
    <p:sldId id="1898" r:id="rId47"/>
    <p:sldId id="1899" r:id="rId48"/>
    <p:sldId id="1901" r:id="rId49"/>
    <p:sldId id="1902" r:id="rId50"/>
    <p:sldId id="1903" r:id="rId51"/>
    <p:sldId id="1904" r:id="rId52"/>
    <p:sldId id="1905" r:id="rId53"/>
    <p:sldId id="1906" r:id="rId54"/>
    <p:sldId id="1907" r:id="rId55"/>
    <p:sldId id="1908" r:id="rId56"/>
    <p:sldId id="1909" r:id="rId57"/>
    <p:sldId id="1910" r:id="rId58"/>
    <p:sldId id="1911" r:id="rId59"/>
    <p:sldId id="1912" r:id="rId60"/>
    <p:sldId id="1913" r:id="rId61"/>
    <p:sldId id="1914" r:id="rId62"/>
    <p:sldId id="1915" r:id="rId63"/>
    <p:sldId id="1916" r:id="rId64"/>
    <p:sldId id="1917" r:id="rId65"/>
    <p:sldId id="1918" r:id="rId66"/>
    <p:sldId id="1958" r:id="rId67"/>
    <p:sldId id="1931" r:id="rId68"/>
    <p:sldId id="1932" r:id="rId69"/>
    <p:sldId id="1933" r:id="rId70"/>
    <p:sldId id="1934" r:id="rId71"/>
    <p:sldId id="2029" r:id="rId72"/>
    <p:sldId id="2030" r:id="rId73"/>
    <p:sldId id="1945" r:id="rId74"/>
    <p:sldId id="1961" r:id="rId75"/>
    <p:sldId id="1935" r:id="rId76"/>
    <p:sldId id="1936" r:id="rId77"/>
    <p:sldId id="1937" r:id="rId78"/>
    <p:sldId id="1938" r:id="rId79"/>
    <p:sldId id="1940" r:id="rId80"/>
    <p:sldId id="1941" r:id="rId81"/>
    <p:sldId id="1942" r:id="rId82"/>
    <p:sldId id="1948" r:id="rId83"/>
    <p:sldId id="1946" r:id="rId84"/>
    <p:sldId id="1947" r:id="rId85"/>
  </p:sldIdLst>
  <p:sldSz cx="9144000" cy="6858000" type="screen4x3"/>
  <p:notesSz cx="6858000" cy="9144000"/>
  <p:custDataLst>
    <p:tags r:id="rId8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10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D0D8E8"/>
    <a:srgbClr val="EDEDED"/>
    <a:srgbClr val="008000"/>
    <a:srgbClr val="AF00E1"/>
    <a:srgbClr val="0000FF"/>
    <a:srgbClr val="7C5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6C76F54-B9F8-4DF9-8941-95C6A058ACCD}" styleName="{f0e8ca8d-8388-4166-a54c-3801b844b3e0}">
    <a:wholeTbl>
      <a:tcTxStyle>
        <a:fontRef idx="none">
          <a:prstClr val="black"/>
        </a:fontRef>
      </a:tcTxStyle>
      <a:tcStyle>
        <a:tcBdr>
          <a:insideH>
            <a:ln w="6350" cmpd="sng">
              <a:solidFill>
                <a:srgbClr val="FFFFFF"/>
              </a:solidFill>
            </a:ln>
          </a:insideH>
          <a:insideV>
            <a:ln w="6350" cmpd="sng">
              <a:solidFill>
                <a:srgbClr val="FFFFFF"/>
              </a:solidFill>
            </a:ln>
          </a:insideV>
        </a:tcBdr>
        <a:fill>
          <a:solidFill>
            <a:srgbClr val="EDEDED"/>
          </a:solidFill>
        </a:fill>
      </a:tcStyle>
    </a:wholeTbl>
    <a:firstCol>
      <a:tcTxStyle>
        <a:fontRef idx="none">
          <a:prstClr val="black"/>
        </a:fontRef>
      </a:tcTxStyle>
      <a:tcStyle>
        <a:tcBdr/>
        <a:fill>
          <a:solidFill>
            <a:srgbClr val="C1E2AB"/>
          </a:solidFill>
        </a:fill>
      </a:tcStyle>
    </a:firstCol>
    <a:firstRow>
      <a:tcTxStyle>
        <a:fontRef idx="none">
          <a:prstClr val="black"/>
        </a:fontRef>
      </a:tcTxStyle>
      <a:tcStyle>
        <a:tcBdr/>
        <a:fill>
          <a:solidFill>
            <a:srgbClr val="C1E2AB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2"/>
    <p:restoredTop sz="90683"/>
  </p:normalViewPr>
  <p:slideViewPr>
    <p:cSldViewPr showGuides="1">
      <p:cViewPr varScale="1">
        <p:scale>
          <a:sx n="140" d="100"/>
          <a:sy n="140" d="100"/>
        </p:scale>
        <p:origin x="192" y="1416"/>
      </p:cViewPr>
      <p:guideLst>
        <p:guide orient="horz" pos="235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38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commentAuthors" Target="commentAuthor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ags" Target="tags/tag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176A8A89-3B7A-5C4C-B581-531BD114E402}" type="datetimeFigureOut">
              <a:rPr lang="zh-CN" altLang="en-US"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C0ED605E-627C-7F46-9798-A3AAE67DD01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32DAA-E91B-4E64-A167-ADD60F34773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Mark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EBDFB-8B05-D84C-90A8-B4DBE5F99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530E4-1CD8-444E-81D5-5F66436C89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B608F-E12A-3549-B868-81EE2E7A15C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628FA-1C9F-CA4C-8834-F725C577D04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7AF45-E783-8746-8293-670B25546A8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46D8-C88D-FA4D-986C-69AC2F0DF1A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7E43-71A7-B549-A063-C3D872E30EC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B83FE-A26A-694A-9EA9-37B5FD9BD54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6CF4-72A5-2A44-B066-CBCAD08B115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6705C-2595-F74D-9428-31CB3AA2B6F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ABA17-3AE6-CB4F-87E0-327679BA9C7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D345B-6D02-CE4F-BE34-A7D154638067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DC899EFB-6059-D44E-8C95-09916307E1F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688577"/>
            <a:ext cx="8663940" cy="0"/>
          </a:xfrm>
          <a:custGeom>
            <a:avLst/>
            <a:gdLst/>
            <a:ahLst/>
            <a:cxnLst/>
            <a:rect l="l" t="t" r="r" b="b"/>
            <a:pathLst>
              <a:path w="8663940">
                <a:moveTo>
                  <a:pt x="0" y="0"/>
                </a:moveTo>
                <a:lnTo>
                  <a:pt x="8663880" y="1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36056"/>
            <a:ext cx="8379459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705" y="6433001"/>
            <a:ext cx="28257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22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21.xml"/><Relationship Id="rId9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31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notesSlide" Target="../notesSlides/notesSlide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notesSlide" Target="../notesSlides/notesSlide19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6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9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80.xml"/><Relationship Id="rId7" Type="http://schemas.openxmlformats.org/officeDocument/2006/relationships/notesSlide" Target="../notesSlides/notesSlide3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2.xml"/><Relationship Id="rId10" Type="http://schemas.openxmlformats.org/officeDocument/2006/relationships/image" Target="../media/image14.png"/><Relationship Id="rId4" Type="http://schemas.openxmlformats.org/officeDocument/2006/relationships/tags" Target="../tags/tag81.xml"/><Relationship Id="rId9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85.xml"/><Relationship Id="rId7" Type="http://schemas.openxmlformats.org/officeDocument/2006/relationships/notesSlide" Target="../notesSlides/notesSlide33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7.xml"/><Relationship Id="rId10" Type="http://schemas.openxmlformats.org/officeDocument/2006/relationships/image" Target="../media/image15.png"/><Relationship Id="rId4" Type="http://schemas.openxmlformats.org/officeDocument/2006/relationships/tags" Target="../tags/tag86.xml"/><Relationship Id="rId9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3" Type="http://schemas.openxmlformats.org/officeDocument/2006/relationships/tags" Target="../tags/tag90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6.png"/><Relationship Id="rId5" Type="http://schemas.openxmlformats.org/officeDocument/2006/relationships/tags" Target="../tags/tag92.xml"/><Relationship Id="rId10" Type="http://schemas.openxmlformats.org/officeDocument/2006/relationships/image" Target="../media/image13.png"/><Relationship Id="rId4" Type="http://schemas.openxmlformats.org/officeDocument/2006/relationships/tags" Target="../tags/tag91.xml"/><Relationship Id="rId9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96.xml"/><Relationship Id="rId7" Type="http://schemas.openxmlformats.org/officeDocument/2006/relationships/notesSlide" Target="../notesSlides/notesSlide35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8.xml"/><Relationship Id="rId10" Type="http://schemas.openxmlformats.org/officeDocument/2006/relationships/image" Target="../media/image17.png"/><Relationship Id="rId4" Type="http://schemas.openxmlformats.org/officeDocument/2006/relationships/tags" Target="../tags/tag97.xml"/><Relationship Id="rId9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36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notesSlide" Target="../notesSlides/notesSlide37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105.xml"/><Relationship Id="rId10" Type="http://schemas.openxmlformats.org/officeDocument/2006/relationships/tags" Target="../tags/tag110.xml"/><Relationship Id="rId4" Type="http://schemas.openxmlformats.org/officeDocument/2006/relationships/tags" Target="../tags/tag104.xml"/><Relationship Id="rId9" Type="http://schemas.openxmlformats.org/officeDocument/2006/relationships/tags" Target="../tags/tag10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notesSlide" Target="../notesSlides/notesSlide3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slideLayout" Target="../slideLayouts/slideLayout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7" Type="http://schemas.openxmlformats.org/officeDocument/2006/relationships/image" Target="../media/image20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4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notesSlide" Target="../notesSlides/notesSlide4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3.xml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4" Type="http://schemas.openxmlformats.org/officeDocument/2006/relationships/notesSlide" Target="../notesSlides/notesSlide4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7" Type="http://schemas.openxmlformats.org/officeDocument/2006/relationships/image" Target="../media/image23.png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notesSlide" Target="../notesSlides/notesSlide49.xml"/><Relationship Id="rId10" Type="http://schemas.openxmlformats.org/officeDocument/2006/relationships/tags" Target="../tags/tag162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13" Type="http://schemas.openxmlformats.org/officeDocument/2006/relationships/tags" Target="../tags/tag178.xml"/><Relationship Id="rId18" Type="http://schemas.openxmlformats.org/officeDocument/2006/relationships/tags" Target="../tags/tag183.xml"/><Relationship Id="rId3" Type="http://schemas.openxmlformats.org/officeDocument/2006/relationships/tags" Target="../tags/tag168.xml"/><Relationship Id="rId21" Type="http://schemas.openxmlformats.org/officeDocument/2006/relationships/notesSlide" Target="../notesSlides/notesSlide50.xml"/><Relationship Id="rId7" Type="http://schemas.openxmlformats.org/officeDocument/2006/relationships/tags" Target="../tags/tag172.xml"/><Relationship Id="rId12" Type="http://schemas.openxmlformats.org/officeDocument/2006/relationships/tags" Target="../tags/tag177.xml"/><Relationship Id="rId17" Type="http://schemas.openxmlformats.org/officeDocument/2006/relationships/tags" Target="../tags/tag182.xml"/><Relationship Id="rId2" Type="http://schemas.openxmlformats.org/officeDocument/2006/relationships/tags" Target="../tags/tag167.xml"/><Relationship Id="rId16" Type="http://schemas.openxmlformats.org/officeDocument/2006/relationships/tags" Target="../tags/tag181.xml"/><Relationship Id="rId20" Type="http://schemas.openxmlformats.org/officeDocument/2006/relationships/slideLayout" Target="../slideLayouts/slideLayout13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11" Type="http://schemas.openxmlformats.org/officeDocument/2006/relationships/tags" Target="../tags/tag176.xml"/><Relationship Id="rId5" Type="http://schemas.openxmlformats.org/officeDocument/2006/relationships/tags" Target="../tags/tag170.xml"/><Relationship Id="rId15" Type="http://schemas.openxmlformats.org/officeDocument/2006/relationships/tags" Target="../tags/tag180.xml"/><Relationship Id="rId10" Type="http://schemas.openxmlformats.org/officeDocument/2006/relationships/tags" Target="../tags/tag175.xml"/><Relationship Id="rId19" Type="http://schemas.openxmlformats.org/officeDocument/2006/relationships/tags" Target="../tags/tag184.xml"/><Relationship Id="rId4" Type="http://schemas.openxmlformats.org/officeDocument/2006/relationships/tags" Target="../tags/tag169.xml"/><Relationship Id="rId9" Type="http://schemas.openxmlformats.org/officeDocument/2006/relationships/tags" Target="../tags/tag174.xml"/><Relationship Id="rId14" Type="http://schemas.openxmlformats.org/officeDocument/2006/relationships/tags" Target="../tags/tag179.xml"/><Relationship Id="rId22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image" Target="../media/image24.png"/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7" Type="http://schemas.openxmlformats.org/officeDocument/2006/relationships/image" Target="../media/image25.png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notesSlide" Target="../notesSlides/notesSlide55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9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00.xml"/><Relationship Id="rId7" Type="http://schemas.openxmlformats.org/officeDocument/2006/relationships/notesSlide" Target="../notesSlides/notesSlide56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9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notesSlide" Target="../notesSlides/notesSlide57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06.xml"/></Relationships>
</file>

<file path=ppt/slides/_rels/slide65.xml.rels><?xml version="1.0" encoding="UTF-8" standalone="yes"?>
<Relationships xmlns="http://schemas.openxmlformats.org/package/2006/relationships"><Relationship Id="rId13" Type="http://schemas.openxmlformats.org/officeDocument/2006/relationships/tags" Target="../tags/tag219.xml"/><Relationship Id="rId18" Type="http://schemas.openxmlformats.org/officeDocument/2006/relationships/tags" Target="../tags/tag224.xml"/><Relationship Id="rId26" Type="http://schemas.openxmlformats.org/officeDocument/2006/relationships/tags" Target="../tags/tag232.xml"/><Relationship Id="rId39" Type="http://schemas.openxmlformats.org/officeDocument/2006/relationships/tags" Target="../tags/tag245.xml"/><Relationship Id="rId21" Type="http://schemas.openxmlformats.org/officeDocument/2006/relationships/tags" Target="../tags/tag227.xml"/><Relationship Id="rId34" Type="http://schemas.openxmlformats.org/officeDocument/2006/relationships/tags" Target="../tags/tag240.xml"/><Relationship Id="rId42" Type="http://schemas.openxmlformats.org/officeDocument/2006/relationships/notesSlide" Target="../notesSlides/notesSlide58.xml"/><Relationship Id="rId7" Type="http://schemas.openxmlformats.org/officeDocument/2006/relationships/tags" Target="../tags/tag213.xml"/><Relationship Id="rId2" Type="http://schemas.openxmlformats.org/officeDocument/2006/relationships/tags" Target="../tags/tag208.xml"/><Relationship Id="rId16" Type="http://schemas.openxmlformats.org/officeDocument/2006/relationships/tags" Target="../tags/tag222.xml"/><Relationship Id="rId20" Type="http://schemas.openxmlformats.org/officeDocument/2006/relationships/tags" Target="../tags/tag226.xml"/><Relationship Id="rId29" Type="http://schemas.openxmlformats.org/officeDocument/2006/relationships/tags" Target="../tags/tag235.xml"/><Relationship Id="rId41" Type="http://schemas.openxmlformats.org/officeDocument/2006/relationships/slideLayout" Target="../slideLayouts/slideLayout13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tags" Target="../tags/tag217.xml"/><Relationship Id="rId24" Type="http://schemas.openxmlformats.org/officeDocument/2006/relationships/tags" Target="../tags/tag230.xml"/><Relationship Id="rId32" Type="http://schemas.openxmlformats.org/officeDocument/2006/relationships/tags" Target="../tags/tag238.xml"/><Relationship Id="rId37" Type="http://schemas.openxmlformats.org/officeDocument/2006/relationships/tags" Target="../tags/tag243.xml"/><Relationship Id="rId40" Type="http://schemas.openxmlformats.org/officeDocument/2006/relationships/tags" Target="../tags/tag246.xml"/><Relationship Id="rId5" Type="http://schemas.openxmlformats.org/officeDocument/2006/relationships/tags" Target="../tags/tag211.xml"/><Relationship Id="rId15" Type="http://schemas.openxmlformats.org/officeDocument/2006/relationships/tags" Target="../tags/tag221.xml"/><Relationship Id="rId23" Type="http://schemas.openxmlformats.org/officeDocument/2006/relationships/tags" Target="../tags/tag229.xml"/><Relationship Id="rId28" Type="http://schemas.openxmlformats.org/officeDocument/2006/relationships/tags" Target="../tags/tag234.xml"/><Relationship Id="rId36" Type="http://schemas.openxmlformats.org/officeDocument/2006/relationships/tags" Target="../tags/tag242.xml"/><Relationship Id="rId10" Type="http://schemas.openxmlformats.org/officeDocument/2006/relationships/tags" Target="../tags/tag216.xml"/><Relationship Id="rId19" Type="http://schemas.openxmlformats.org/officeDocument/2006/relationships/tags" Target="../tags/tag225.xml"/><Relationship Id="rId31" Type="http://schemas.openxmlformats.org/officeDocument/2006/relationships/tags" Target="../tags/tag237.xml"/><Relationship Id="rId4" Type="http://schemas.openxmlformats.org/officeDocument/2006/relationships/tags" Target="../tags/tag210.xml"/><Relationship Id="rId9" Type="http://schemas.openxmlformats.org/officeDocument/2006/relationships/tags" Target="../tags/tag215.xml"/><Relationship Id="rId14" Type="http://schemas.openxmlformats.org/officeDocument/2006/relationships/tags" Target="../tags/tag220.xml"/><Relationship Id="rId22" Type="http://schemas.openxmlformats.org/officeDocument/2006/relationships/tags" Target="../tags/tag228.xml"/><Relationship Id="rId27" Type="http://schemas.openxmlformats.org/officeDocument/2006/relationships/tags" Target="../tags/tag233.xml"/><Relationship Id="rId30" Type="http://schemas.openxmlformats.org/officeDocument/2006/relationships/tags" Target="../tags/tag236.xml"/><Relationship Id="rId35" Type="http://schemas.openxmlformats.org/officeDocument/2006/relationships/tags" Target="../tags/tag241.xml"/><Relationship Id="rId43" Type="http://schemas.openxmlformats.org/officeDocument/2006/relationships/image" Target="../media/image28.png"/><Relationship Id="rId8" Type="http://schemas.openxmlformats.org/officeDocument/2006/relationships/tags" Target="../tags/tag214.xml"/><Relationship Id="rId3" Type="http://schemas.openxmlformats.org/officeDocument/2006/relationships/tags" Target="../tags/tag209.xml"/><Relationship Id="rId12" Type="http://schemas.openxmlformats.org/officeDocument/2006/relationships/tags" Target="../tags/tag218.xml"/><Relationship Id="rId17" Type="http://schemas.openxmlformats.org/officeDocument/2006/relationships/tags" Target="../tags/tag223.xml"/><Relationship Id="rId25" Type="http://schemas.openxmlformats.org/officeDocument/2006/relationships/tags" Target="../tags/tag231.xml"/><Relationship Id="rId33" Type="http://schemas.openxmlformats.org/officeDocument/2006/relationships/tags" Target="../tags/tag239.xml"/><Relationship Id="rId38" Type="http://schemas.openxmlformats.org/officeDocument/2006/relationships/tags" Target="../tags/tag24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7" Type="http://schemas.openxmlformats.org/officeDocument/2006/relationships/image" Target="../media/image30.png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5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5" Type="http://schemas.openxmlformats.org/officeDocument/2006/relationships/notesSlide" Target="../notesSlides/notesSlide61.xml"/><Relationship Id="rId4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image" Target="../media/image31.png"/><Relationship Id="rId5" Type="http://schemas.openxmlformats.org/officeDocument/2006/relationships/notesSlide" Target="../notesSlides/notesSlide62.xml"/><Relationship Id="rId4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7.xml"/><Relationship Id="rId4" Type="http://schemas.openxmlformats.org/officeDocument/2006/relationships/image" Target="../media/image3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tags" Target="../tags/tag270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tags" Target="../tags/tag269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tags" Target="../tags/tag268.xml"/><Relationship Id="rId5" Type="http://schemas.openxmlformats.org/officeDocument/2006/relationships/tags" Target="../tags/tag262.xml"/><Relationship Id="rId15" Type="http://schemas.openxmlformats.org/officeDocument/2006/relationships/notesSlide" Target="../notesSlides/notesSlide65.xml"/><Relationship Id="rId10" Type="http://schemas.openxmlformats.org/officeDocument/2006/relationships/tags" Target="../tags/tag267.xml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4" Type="http://schemas.openxmlformats.org/officeDocument/2006/relationships/notesSlide" Target="../notesSlides/notesSlide6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5" Type="http://schemas.openxmlformats.org/officeDocument/2006/relationships/image" Target="../media/image33.jpeg"/><Relationship Id="rId4" Type="http://schemas.openxmlformats.org/officeDocument/2006/relationships/notesSlide" Target="../notesSlides/notesSlide7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33400" y="1219200"/>
            <a:ext cx="8077200" cy="4837823"/>
            <a:chOff x="609600" y="1219200"/>
            <a:chExt cx="8077200" cy="4837823"/>
          </a:xfrm>
        </p:grpSpPr>
        <p:sp>
          <p:nvSpPr>
            <p:cNvPr id="14337" name="文本框 4099"/>
            <p:cNvSpPr txBox="1">
              <a:spLocks noChangeArrowheads="1"/>
            </p:cNvSpPr>
            <p:nvPr/>
          </p:nvSpPr>
          <p:spPr bwMode="auto">
            <a:xfrm>
              <a:off x="609600" y="4715630"/>
              <a:ext cx="8077200" cy="134139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陈明帅</a:t>
              </a:r>
              <a:endParaRPr kumimoji="0" lang="en-US" altLang="zh-CN" sz="3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350" algn="ctr">
                <a:lnSpc>
                  <a:spcPct val="100000"/>
                </a:lnSpc>
                <a:spcBef>
                  <a:spcPts val="965"/>
                </a:spcBef>
              </a:pPr>
              <a:r>
                <a:rPr lang="en-US" altLang="zh-CN" sz="2000" b="1" spc="-10" dirty="0" err="1">
                  <a:solidFill>
                    <a:schemeClr val="tx1"/>
                  </a:solidFill>
                  <a:uFill>
                    <a:solidFill>
                      <a:srgbClr val="0000FF"/>
                    </a:solidFill>
                  </a:uFill>
                  <a:latin typeface="Times New Roman" panose="02020603050405020304"/>
                  <a:cs typeface="Times New Roman" panose="02020603050405020304"/>
                </a:rPr>
                <a:t>m.chen@zju.edu.cn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endParaRPr>
            </a:p>
            <a:p>
              <a:pPr marL="6350" marR="76200" algn="ctr">
                <a:lnSpc>
                  <a:spcPct val="100000"/>
                </a:lnSpc>
                <a:spcBef>
                  <a:spcPts val="120"/>
                </a:spcBef>
              </a:pPr>
              <a:r>
                <a:rPr lang="zh-CN" altLang="en-US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浙江大学 </a:t>
              </a:r>
              <a:r>
                <a:rPr lang="en-US" altLang="zh-CN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000" b="1" spc="-1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计算机科学与技术学院</a:t>
              </a:r>
              <a:endParaRPr kumimoji="0" lang="en-US" altLang="zh-CN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38" name="文本框 4101"/>
            <p:cNvSpPr txBox="1">
              <a:spLocks noChangeArrowheads="1"/>
            </p:cNvSpPr>
            <p:nvPr/>
          </p:nvSpPr>
          <p:spPr bwMode="auto">
            <a:xfrm>
              <a:off x="609600" y="1219200"/>
              <a:ext cx="8077200" cy="9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5400" b="1" dirty="0">
                  <a:latin typeface="微软雅黑" panose="020B0503020204020204" charset="-122"/>
                  <a:ea typeface="微软雅黑" panose="020B0503020204020204" charset="-122"/>
                </a:rPr>
                <a:t>编译原理</a:t>
              </a:r>
              <a:endParaRPr kumimoji="0" lang="en-US" altLang="zh-CN" sz="5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026" name="Picture 2" descr="Algorithmic trading - Energy Ris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2641401"/>
              <a:ext cx="2705786" cy="167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课程内容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3812671" y="1315319"/>
            <a:ext cx="1512000" cy="654393"/>
            <a:chOff x="3831472" y="983123"/>
            <a:chExt cx="1512000" cy="654393"/>
          </a:xfrm>
        </p:grpSpPr>
        <p:sp>
          <p:nvSpPr>
            <p:cNvPr id="96" name="圆角矩形 95"/>
            <p:cNvSpPr/>
            <p:nvPr/>
          </p:nvSpPr>
          <p:spPr>
            <a:xfrm>
              <a:off x="3831472" y="1133460"/>
              <a:ext cx="1512000" cy="504056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>
                <a:lnSpc>
                  <a:spcPts val="1800"/>
                </a:lnSpc>
              </a:pPr>
              <a:r>
                <a:rPr kumimoji="1" lang="en-US" altLang="zh-CN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97" name="矩形 96"/>
            <p:cNvSpPr/>
            <p:nvPr/>
          </p:nvSpPr>
          <p:spPr>
            <a:xfrm>
              <a:off x="3940712" y="983123"/>
              <a:ext cx="237478" cy="284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263550" y="2343372"/>
            <a:ext cx="8610242" cy="3828828"/>
            <a:chOff x="263550" y="2362200"/>
            <a:chExt cx="8610242" cy="3828828"/>
          </a:xfrm>
        </p:grpSpPr>
        <p:grpSp>
          <p:nvGrpSpPr>
            <p:cNvPr id="98" name="组合 97"/>
            <p:cNvGrpSpPr/>
            <p:nvPr>
              <p:custDataLst>
                <p:tags r:id="rId1"/>
              </p:custDataLst>
            </p:nvPr>
          </p:nvGrpSpPr>
          <p:grpSpPr>
            <a:xfrm>
              <a:off x="450658" y="2492896"/>
              <a:ext cx="8242684" cy="3548019"/>
              <a:chOff x="566592" y="2324036"/>
              <a:chExt cx="8242684" cy="3548019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566592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41" name="圆角矩形 14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rgbClr val="C00000"/>
                      </a:solidFill>
                    </a:rPr>
                    <a:t>Lexical Analysis</a:t>
                  </a: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rgbClr val="C00000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2256999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9" name="圆角矩形 13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Parsing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3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394740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7" name="圆角矩形 136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Abstract Syntax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4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5637813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5" name="圆角矩形 134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Semantic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5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729727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Activation Records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6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5637813" y="321864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1" name="圆角矩形 13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Interm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. Code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7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3949602" y="3218640"/>
                <a:ext cx="1512000" cy="654393"/>
                <a:chOff x="566592" y="2270551"/>
                <a:chExt cx="1481056" cy="654393"/>
              </a:xfrm>
            </p:grpSpPr>
            <p:sp>
              <p:nvSpPr>
                <p:cNvPr id="129" name="圆角矩形 128"/>
                <p:cNvSpPr/>
                <p:nvPr/>
              </p:nvSpPr>
              <p:spPr>
                <a:xfrm>
                  <a:off x="566592" y="2420888"/>
                  <a:ext cx="1481056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Blocks &amp; Traces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2258123" y="3218640"/>
                <a:ext cx="1512000" cy="654393"/>
                <a:chOff x="584046" y="2270551"/>
                <a:chExt cx="1512000" cy="654393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584046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Instruct. Selection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9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013423" y="4082260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5" name="圆角矩形 124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Liveness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10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4912722" y="408226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23" name="圆角矩形 12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Register Allocation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11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3013423" y="5217662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1" name="圆角矩形 120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Garbage Collection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13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4912722" y="5217662"/>
                <a:ext cx="1512000" cy="654393"/>
                <a:chOff x="566592" y="2270551"/>
                <a:chExt cx="1512000" cy="654393"/>
              </a:xfrm>
            </p:grpSpPr>
            <p:sp>
              <p:nvSpPr>
                <p:cNvPr id="119" name="圆角矩形 11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Loop Optimizations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cxnSp>
            <p:nvCxnSpPr>
              <p:cNvPr id="111" name="直线箭头连接符 110"/>
              <p:cNvCxnSpPr>
                <a:stCxn id="141" idx="3"/>
                <a:endCxn id="139" idx="1"/>
              </p:cNvCxnSpPr>
              <p:nvPr/>
            </p:nvCxnSpPr>
            <p:spPr>
              <a:xfrm>
                <a:off x="2078592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线箭头连接符 111"/>
              <p:cNvCxnSpPr>
                <a:stCxn id="139" idx="3"/>
                <a:endCxn id="137" idx="1"/>
              </p:cNvCxnSpPr>
              <p:nvPr/>
            </p:nvCxnSpPr>
            <p:spPr>
              <a:xfrm>
                <a:off x="3768999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箭头连接符 112"/>
              <p:cNvCxnSpPr>
                <a:stCxn id="137" idx="3"/>
                <a:endCxn id="135" idx="1"/>
              </p:cNvCxnSpPr>
              <p:nvPr/>
            </p:nvCxnSpPr>
            <p:spPr>
              <a:xfrm>
                <a:off x="5459406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箭头连接符 113"/>
              <p:cNvCxnSpPr>
                <a:stCxn id="135" idx="2"/>
                <a:endCxn id="131" idx="0"/>
              </p:cNvCxnSpPr>
              <p:nvPr/>
            </p:nvCxnSpPr>
            <p:spPr>
              <a:xfrm>
                <a:off x="6393813" y="2978429"/>
                <a:ext cx="0" cy="39054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线箭头连接符 114"/>
              <p:cNvCxnSpPr>
                <a:stCxn id="131" idx="1"/>
                <a:endCxn id="129" idx="3"/>
              </p:cNvCxnSpPr>
              <p:nvPr/>
            </p:nvCxnSpPr>
            <p:spPr>
              <a:xfrm flipH="1">
                <a:off x="5461602" y="3621005"/>
                <a:ext cx="176211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线箭头连接符 115"/>
              <p:cNvCxnSpPr>
                <a:stCxn id="125" idx="3"/>
                <a:endCxn id="123" idx="1"/>
              </p:cNvCxnSpPr>
              <p:nvPr/>
            </p:nvCxnSpPr>
            <p:spPr>
              <a:xfrm>
                <a:off x="4525423" y="4484625"/>
                <a:ext cx="387299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肘形连接符 116"/>
              <p:cNvCxnSpPr>
                <a:stCxn id="133" idx="2"/>
                <a:endCxn id="131" idx="3"/>
              </p:cNvCxnSpPr>
              <p:nvPr/>
            </p:nvCxnSpPr>
            <p:spPr>
              <a:xfrm rot="5400000">
                <a:off x="7280257" y="2847986"/>
                <a:ext cx="642576" cy="903463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肘形连接符 117"/>
              <p:cNvCxnSpPr>
                <a:endCxn id="119" idx="1"/>
              </p:cNvCxnSpPr>
              <p:nvPr/>
            </p:nvCxnSpPr>
            <p:spPr>
              <a:xfrm rot="16200000" flipH="1">
                <a:off x="4246668" y="4953972"/>
                <a:ext cx="1135403" cy="196706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矩形 27"/>
            <p:cNvSpPr/>
            <p:nvPr>
              <p:custDataLst>
                <p:tags r:id="rId2"/>
              </p:custDataLst>
            </p:nvPr>
          </p:nvSpPr>
          <p:spPr bwMode="gray">
            <a:xfrm rot="5400000">
              <a:off x="3185852" y="-553447"/>
              <a:ext cx="2772293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50" kern="0">
                <a:solidFill>
                  <a:srgbClr val="000000"/>
                </a:solidFill>
              </a:endParaRPr>
            </a:p>
          </p:txBody>
        </p:sp>
        <p:sp>
          <p:nvSpPr>
            <p:cNvPr id="144" name="矩形 27"/>
            <p:cNvSpPr/>
            <p:nvPr>
              <p:custDataLst>
                <p:tags r:id="rId3"/>
              </p:custDataLst>
            </p:nvPr>
          </p:nvSpPr>
          <p:spPr bwMode="gray">
            <a:xfrm rot="5400000">
              <a:off x="4103808" y="1409056"/>
              <a:ext cx="936379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50" kern="0">
                <a:solidFill>
                  <a:srgbClr val="000000"/>
                </a:solidFill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4"/>
              </p:custDataLst>
            </p:nvPr>
          </p:nvSpPr>
          <p:spPr>
            <a:xfrm>
              <a:off x="263550" y="4769978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Fundamentals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5"/>
              </p:custDataLst>
            </p:nvPr>
          </p:nvSpPr>
          <p:spPr>
            <a:xfrm>
              <a:off x="263550" y="582169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Advanced Topics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" name="圆角矩形 120">
            <a:extLst>
              <a:ext uri="{FF2B5EF4-FFF2-40B4-BE49-F238E27FC236}">
                <a16:creationId xmlns:a16="http://schemas.microsoft.com/office/drawing/2014/main" id="{4CB3450B-12FD-1FB1-8017-085CCF72BAB7}"/>
              </a:ext>
            </a:extLst>
          </p:cNvPr>
          <p:cNvSpPr/>
          <p:nvPr/>
        </p:nvSpPr>
        <p:spPr>
          <a:xfrm>
            <a:off x="6696087" y="5520094"/>
            <a:ext cx="1512000" cy="50405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1"/>
          <a:lstStyle/>
          <a:p>
            <a:pPr marL="0" marR="0" lvl="0" indent="0" algn="ctr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Obj.-Ori. Languages</a:t>
            </a:r>
            <a:endParaRPr kumimoji="1" lang="zh-CN" altLang="en-US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60D4B-52B8-8EA9-341E-14AEF863B009}"/>
              </a:ext>
            </a:extLst>
          </p:cNvPr>
          <p:cNvSpPr/>
          <p:nvPr/>
        </p:nvSpPr>
        <p:spPr>
          <a:xfrm>
            <a:off x="6781126" y="5369757"/>
            <a:ext cx="310836" cy="28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1" lang="en-US" altLang="zh-CN" sz="2000" dirty="0">
                <a:solidFill>
                  <a:schemeClr val="tx2"/>
                </a:solidFill>
              </a:rPr>
              <a:t>14</a:t>
            </a:r>
            <a:endParaRPr kumimoji="1" lang="zh-CN" alt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Overview</a:t>
            </a:r>
          </a:p>
        </p:txBody>
      </p:sp>
      <p:sp>
        <p:nvSpPr>
          <p:cNvPr id="45" name="object 3"/>
          <p:cNvSpPr txBox="1"/>
          <p:nvPr/>
        </p:nvSpPr>
        <p:spPr>
          <a:xfrm>
            <a:off x="331939" y="979468"/>
            <a:ext cx="8226163" cy="38658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733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x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:=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a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*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2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+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b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*</a:t>
            </a:r>
            <a:r>
              <a:rPr kumimoji="0" lang="en-US" altLang="zh-CN" sz="35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(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x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*</a:t>
            </a:r>
            <a:r>
              <a:rPr kumimoji="0" lang="en-US" altLang="zh-CN" sz="35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35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3)</a:t>
            </a:r>
            <a:endParaRPr kumimoji="0" lang="en-US" altLang="zh-CN" sz="3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/>
              <a:cs typeface="Courier New" panose="02070309020205020404"/>
            </a:endParaRPr>
          </a:p>
          <a:p>
            <a:pPr marL="148590" marR="1167130" lvl="0" indent="0" defTabSz="914400" eaLnBrk="1" fontAlgn="auto" latinLnBrk="0" hangingPunct="1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id&lt;x&gt;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assign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id&lt;a&gt;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times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int&lt;2&gt;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plus</a:t>
            </a:r>
            <a:r>
              <a:rPr kumimoji="0" lang="en-US" altLang="zh-CN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id&lt;b&gt;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times</a:t>
            </a:r>
            <a:r>
              <a:rPr kumimoji="0" lang="en-US" altLang="zh-CN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lparen</a:t>
            </a:r>
            <a:r>
              <a:rPr kumimoji="0" lang="en-US" altLang="zh-CN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id&lt;x&gt;</a:t>
            </a:r>
            <a:r>
              <a:rPr kumimoji="0" lang="en-US" altLang="zh-CN" sz="2200" b="1" i="0" u="none" strike="noStrike" kern="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times</a:t>
            </a:r>
            <a:r>
              <a:rPr kumimoji="0" lang="en-US" altLang="zh-CN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int&lt;3&gt; </a:t>
            </a:r>
            <a:r>
              <a:rPr kumimoji="0" lang="en-US" altLang="zh-CN" sz="2200" b="1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/>
                <a:cs typeface="Courier New" panose="02070309020205020404"/>
              </a:rPr>
              <a:t>rparen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/>
              <a:cs typeface="Courier New" panose="020703090202050204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/>
              <a:cs typeface="Courier New" panose="02070309020205020404"/>
            </a:endParaRPr>
          </a:p>
          <a:p>
            <a:pPr marL="466725" marR="0" lvl="0" indent="-45720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词法分析</a:t>
            </a:r>
            <a:r>
              <a:rPr kumimoji="0" lang="en-US" altLang="zh-CN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kumimoji="0" lang="zh-CN" altLang="en-US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将程序字符流分解为记号 </a:t>
            </a:r>
            <a:r>
              <a:rPr kumimoji="0" lang="en-US" altLang="zh-CN" sz="280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(</a:t>
            </a:r>
            <a:r>
              <a:rPr kumimoji="0" lang="en-US" altLang="zh-CN" sz="2800" b="1" i="0" u="none" strike="noStrike" kern="0" cap="none" spc="-10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Token) </a:t>
            </a:r>
            <a:r>
              <a:rPr kumimoji="0" lang="zh-CN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265" marR="279400" lvl="0" indent="-457200" defTabSz="914400" eaLnBrk="1" fontAlgn="auto" latinLnBrk="0" hangingPunct="1">
              <a:lnSpc>
                <a:spcPct val="101000"/>
              </a:lnSpc>
              <a:spcBef>
                <a:spcPts val="8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989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删除字符串中不必要的部分（如空格）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  <a:p>
            <a:pPr marL="469265" marR="279400" lvl="0" indent="-457200" defTabSz="914400" eaLnBrk="1" fontAlgn="auto" latinLnBrk="0" hangingPunct="1">
              <a:lnSpc>
                <a:spcPct val="101000"/>
              </a:lnSpc>
              <a:spcBef>
                <a:spcPts val="8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989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通常使用</a:t>
            </a:r>
            <a:r>
              <a:rPr lang="zh-CN" altLang="en-US" sz="2800" kern="0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正则表达式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匹配（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DFA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定义）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272045" y="1145158"/>
            <a:ext cx="1336281" cy="609584"/>
          </a:xfrm>
          <a:prstGeom prst="roundRect">
            <a:avLst/>
          </a:prstGeom>
          <a:solidFill>
            <a:srgbClr val="333399"/>
          </a:solidFill>
          <a:ln w="12700" cap="flat" cmpd="sng" algn="ctr">
            <a:solidFill>
              <a:srgbClr val="333399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string</a:t>
            </a: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72045" y="2136366"/>
            <a:ext cx="1336281" cy="609584"/>
          </a:xfrm>
          <a:prstGeom prst="roundRect">
            <a:avLst/>
          </a:prstGeom>
          <a:solidFill>
            <a:srgbClr val="333399"/>
          </a:solidFill>
          <a:ln w="12700" cap="flat" cmpd="sng" algn="ctr">
            <a:solidFill>
              <a:srgbClr val="333399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token sequence</a:t>
            </a: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" name="直线箭头连接符 45"/>
          <p:cNvCxnSpPr>
            <a:stCxn id="6" idx="2"/>
            <a:endCxn id="7" idx="0"/>
          </p:cNvCxnSpPr>
          <p:nvPr/>
        </p:nvCxnSpPr>
        <p:spPr>
          <a:xfrm>
            <a:off x="7940186" y="1754742"/>
            <a:ext cx="0" cy="381624"/>
          </a:xfrm>
          <a:prstGeom prst="straightConnector1">
            <a:avLst/>
          </a:prstGeom>
          <a:noFill/>
          <a:ln w="28575" cap="flat" cmpd="sng" algn="ctr">
            <a:solidFill>
              <a:srgbClr val="333399"/>
            </a:solidFill>
            <a:prstDash val="solid"/>
            <a:miter lim="800000"/>
            <a:tailEnd type="triangle" w="lg" len="lg"/>
          </a:ln>
          <a:effectLst/>
        </p:spPr>
      </p:cxnSp>
      <p:pic>
        <p:nvPicPr>
          <p:cNvPr id="8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377" y="5055734"/>
            <a:ext cx="431999" cy="1417129"/>
          </a:xfrm>
          <a:prstGeom prst="rect">
            <a:avLst/>
          </a:prstGeom>
        </p:spPr>
      </p:pic>
      <p:sp>
        <p:nvSpPr>
          <p:cNvPr id="87" name="object 8"/>
          <p:cNvSpPr txBox="1"/>
          <p:nvPr/>
        </p:nvSpPr>
        <p:spPr>
          <a:xfrm>
            <a:off x="1495763" y="5188547"/>
            <a:ext cx="25400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1800" b="1" spc="-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词法分析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8" name="object 9"/>
          <p:cNvGrpSpPr/>
          <p:nvPr/>
        </p:nvGrpSpPr>
        <p:grpSpPr>
          <a:xfrm>
            <a:off x="2086233" y="5057367"/>
            <a:ext cx="2282681" cy="1423253"/>
            <a:chOff x="2087999" y="1700160"/>
            <a:chExt cx="2282681" cy="1423253"/>
          </a:xfrm>
        </p:grpSpPr>
        <p:pic>
          <p:nvPicPr>
            <p:cNvPr id="89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7999" y="1716656"/>
              <a:ext cx="432000" cy="1400633"/>
            </a:xfrm>
            <a:prstGeom prst="rect">
              <a:avLst/>
            </a:prstGeom>
          </p:spPr>
        </p:pic>
        <p:pic>
          <p:nvPicPr>
            <p:cNvPr id="90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1800" y="1700160"/>
              <a:ext cx="431999" cy="1417129"/>
            </a:xfrm>
            <a:prstGeom prst="rect">
              <a:avLst/>
            </a:prstGeom>
          </p:spPr>
        </p:pic>
        <p:pic>
          <p:nvPicPr>
            <p:cNvPr id="92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4681" y="1706285"/>
              <a:ext cx="575999" cy="1417128"/>
            </a:xfrm>
            <a:prstGeom prst="rect">
              <a:avLst/>
            </a:prstGeom>
          </p:spPr>
        </p:pic>
      </p:grpSp>
      <p:sp>
        <p:nvSpPr>
          <p:cNvPr id="93" name="object 14"/>
          <p:cNvSpPr txBox="1"/>
          <p:nvPr/>
        </p:nvSpPr>
        <p:spPr>
          <a:xfrm>
            <a:off x="3831288" y="5310466"/>
            <a:ext cx="491490" cy="8578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2000"/>
              </a:lnSpc>
              <a:spcBef>
                <a:spcPts val="60"/>
              </a:spcBef>
            </a:pPr>
            <a:r>
              <a:rPr sz="1800" b="1" spc="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</a:t>
            </a:r>
            <a:r>
              <a:rPr sz="1800" b="1" spc="-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sz="1800" b="1" spc="-3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4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2153" y="5063492"/>
            <a:ext cx="575999" cy="1404569"/>
          </a:xfrm>
          <a:prstGeom prst="rect">
            <a:avLst/>
          </a:prstGeom>
        </p:spPr>
      </p:pic>
      <p:grpSp>
        <p:nvGrpSpPr>
          <p:cNvPr id="96" name="object 21"/>
          <p:cNvGrpSpPr/>
          <p:nvPr/>
        </p:nvGrpSpPr>
        <p:grpSpPr>
          <a:xfrm>
            <a:off x="5858604" y="5055732"/>
            <a:ext cx="1808480" cy="1412875"/>
            <a:chOff x="5860370" y="1698525"/>
            <a:chExt cx="1808480" cy="1412875"/>
          </a:xfrm>
        </p:grpSpPr>
        <p:pic>
          <p:nvPicPr>
            <p:cNvPr id="97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0370" y="1698527"/>
              <a:ext cx="432000" cy="1412326"/>
            </a:xfrm>
            <a:prstGeom prst="rect">
              <a:avLst/>
            </a:prstGeom>
          </p:spPr>
        </p:pic>
        <p:pic>
          <p:nvPicPr>
            <p:cNvPr id="98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6344" y="1698525"/>
              <a:ext cx="431999" cy="1412327"/>
            </a:xfrm>
            <a:prstGeom prst="rect">
              <a:avLst/>
            </a:prstGeom>
          </p:spPr>
        </p:pic>
      </p:grpSp>
      <p:pic>
        <p:nvPicPr>
          <p:cNvPr id="100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8116" y="5055732"/>
            <a:ext cx="432000" cy="1418763"/>
          </a:xfrm>
          <a:prstGeom prst="rect">
            <a:avLst/>
          </a:prstGeom>
        </p:spPr>
      </p:pic>
      <p:grpSp>
        <p:nvGrpSpPr>
          <p:cNvPr id="102" name="object 38"/>
          <p:cNvGrpSpPr/>
          <p:nvPr/>
        </p:nvGrpSpPr>
        <p:grpSpPr>
          <a:xfrm>
            <a:off x="1825830" y="5704746"/>
            <a:ext cx="963852" cy="70711"/>
            <a:chOff x="1827596" y="2347539"/>
            <a:chExt cx="963852" cy="70711"/>
          </a:xfrm>
        </p:grpSpPr>
        <p:pic>
          <p:nvPicPr>
            <p:cNvPr id="103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4413" y="2347539"/>
              <a:ext cx="287035" cy="70711"/>
            </a:xfrm>
            <a:prstGeom prst="rect">
              <a:avLst/>
            </a:prstGeom>
          </p:spPr>
        </p:pic>
        <p:pic>
          <p:nvPicPr>
            <p:cNvPr id="104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7596" y="2347539"/>
              <a:ext cx="287033" cy="70711"/>
            </a:xfrm>
            <a:prstGeom prst="rect">
              <a:avLst/>
            </a:prstGeom>
          </p:spPr>
        </p:pic>
      </p:grpSp>
      <p:sp>
        <p:nvSpPr>
          <p:cNvPr id="105" name="object 32"/>
          <p:cNvSpPr/>
          <p:nvPr/>
        </p:nvSpPr>
        <p:spPr>
          <a:xfrm>
            <a:off x="4387156" y="570714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object 14"/>
          <p:cNvSpPr txBox="1"/>
          <p:nvPr/>
        </p:nvSpPr>
        <p:spPr>
          <a:xfrm>
            <a:off x="4767426" y="5220364"/>
            <a:ext cx="491490" cy="11190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02000"/>
              </a:lnSpc>
              <a:spcBef>
                <a:spcPts val="60"/>
              </a:spcBef>
            </a:pPr>
            <a:r>
              <a:rPr lang="en-US" sz="1800" b="1" spc="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机器无关代码优化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object 8"/>
          <p:cNvSpPr txBox="1"/>
          <p:nvPr/>
        </p:nvSpPr>
        <p:spPr>
          <a:xfrm>
            <a:off x="5944382" y="5177173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指令选择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object 8"/>
          <p:cNvSpPr txBox="1"/>
          <p:nvPr/>
        </p:nvSpPr>
        <p:spPr>
          <a:xfrm>
            <a:off x="6644550" y="5073863"/>
            <a:ext cx="254000" cy="13965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寄存器分配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object 8"/>
          <p:cNvSpPr txBox="1"/>
          <p:nvPr/>
        </p:nvSpPr>
        <p:spPr>
          <a:xfrm>
            <a:off x="7320602" y="5186150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指令调度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object 8"/>
          <p:cNvSpPr txBox="1"/>
          <p:nvPr/>
        </p:nvSpPr>
        <p:spPr>
          <a:xfrm>
            <a:off x="2175326" y="5202126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en-US" sz="1800" b="1" spc="-5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语法分析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object 8"/>
          <p:cNvSpPr txBox="1"/>
          <p:nvPr/>
        </p:nvSpPr>
        <p:spPr>
          <a:xfrm>
            <a:off x="2867428" y="5211814"/>
            <a:ext cx="254000" cy="11195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lang="zh-CN" altLang="en-US" sz="1800" b="1" spc="-5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语义分析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object 12"/>
          <p:cNvSpPr/>
          <p:nvPr/>
        </p:nvSpPr>
        <p:spPr>
          <a:xfrm>
            <a:off x="1307763" y="5007682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object 12"/>
          <p:cNvSpPr/>
          <p:nvPr/>
        </p:nvSpPr>
        <p:spPr>
          <a:xfrm>
            <a:off x="3710187" y="5001799"/>
            <a:ext cx="1667264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object 12"/>
          <p:cNvSpPr/>
          <p:nvPr/>
        </p:nvSpPr>
        <p:spPr>
          <a:xfrm>
            <a:off x="5790013" y="5001799"/>
            <a:ext cx="1963073" cy="1520190"/>
          </a:xfrm>
          <a:custGeom>
            <a:avLst/>
            <a:gdLst/>
            <a:ahLst/>
            <a:cxnLst/>
            <a:rect l="l" t="t" r="r" b="b"/>
            <a:pathLst>
              <a:path w="2023110" h="2012314">
                <a:moveTo>
                  <a:pt x="0" y="0"/>
                </a:moveTo>
                <a:lnTo>
                  <a:pt x="2023111" y="0"/>
                </a:lnTo>
                <a:lnTo>
                  <a:pt x="2023111" y="2012219"/>
                </a:lnTo>
                <a:lnTo>
                  <a:pt x="0" y="2012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object 32"/>
          <p:cNvSpPr/>
          <p:nvPr/>
        </p:nvSpPr>
        <p:spPr>
          <a:xfrm>
            <a:off x="3309209" y="5722758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object 32"/>
          <p:cNvSpPr/>
          <p:nvPr/>
        </p:nvSpPr>
        <p:spPr>
          <a:xfrm>
            <a:off x="5411516" y="5717343"/>
            <a:ext cx="335280" cy="57150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object 32"/>
          <p:cNvSpPr/>
          <p:nvPr/>
        </p:nvSpPr>
        <p:spPr>
          <a:xfrm>
            <a:off x="6313655" y="5707148"/>
            <a:ext cx="239494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object 32"/>
          <p:cNvSpPr/>
          <p:nvPr/>
        </p:nvSpPr>
        <p:spPr>
          <a:xfrm>
            <a:off x="7006495" y="5697095"/>
            <a:ext cx="222132" cy="45719"/>
          </a:xfrm>
          <a:custGeom>
            <a:avLst/>
            <a:gdLst/>
            <a:ahLst/>
            <a:cxnLst/>
            <a:rect l="l" t="t" r="r" b="b"/>
            <a:pathLst>
              <a:path w="335279" h="57150">
                <a:moveTo>
                  <a:pt x="335191" y="28575"/>
                </a:moveTo>
                <a:lnTo>
                  <a:pt x="320903" y="21424"/>
                </a:lnTo>
                <a:lnTo>
                  <a:pt x="278041" y="0"/>
                </a:lnTo>
                <a:lnTo>
                  <a:pt x="278041" y="21424"/>
                </a:lnTo>
                <a:lnTo>
                  <a:pt x="0" y="21424"/>
                </a:lnTo>
                <a:lnTo>
                  <a:pt x="0" y="35712"/>
                </a:lnTo>
                <a:lnTo>
                  <a:pt x="278041" y="35712"/>
                </a:lnTo>
                <a:lnTo>
                  <a:pt x="278041" y="57150"/>
                </a:lnTo>
                <a:lnTo>
                  <a:pt x="320903" y="35712"/>
                </a:lnTo>
                <a:lnTo>
                  <a:pt x="33519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004694" y="4945034"/>
            <a:ext cx="5831544" cy="1636395"/>
          </a:xfrm>
          <a:custGeom>
            <a:avLst/>
            <a:gdLst/>
            <a:ahLst/>
            <a:cxnLst/>
            <a:rect l="l" t="t" r="r" b="b"/>
            <a:pathLst>
              <a:path w="6177915" h="1636395">
                <a:moveTo>
                  <a:pt x="6177316" y="0"/>
                </a:moveTo>
                <a:lnTo>
                  <a:pt x="0" y="0"/>
                </a:lnTo>
                <a:lnTo>
                  <a:pt x="0" y="1636291"/>
                </a:lnTo>
                <a:lnTo>
                  <a:pt x="6177316" y="1636291"/>
                </a:lnTo>
                <a:lnTo>
                  <a:pt x="6177316" y="0"/>
                </a:lnTo>
                <a:close/>
              </a:path>
            </a:pathLst>
          </a:custGeom>
          <a:solidFill>
            <a:srgbClr val="FFFFFF">
              <a:alpha val="748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>
            <a:spLocks noGrp="1"/>
          </p:cNvSpPr>
          <p:nvPr/>
        </p:nvSpPr>
        <p:spPr>
          <a:xfrm>
            <a:off x="390525" y="156210"/>
            <a:ext cx="821626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Overview</a:t>
            </a:r>
          </a:p>
        </p:txBody>
      </p:sp>
      <p:sp>
        <p:nvSpPr>
          <p:cNvPr id="11" name="文本框 5837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502" y="1143052"/>
            <a:ext cx="8448394" cy="500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9580" indent="-363855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kumimoji="0" lang="en-US" altLang="zh-CN" sz="2800" b="1" dirty="0"/>
              <a:t>Why </a:t>
            </a:r>
            <a:r>
              <a:rPr kumimoji="0" lang="en-US" altLang="zh-CN" sz="2800" b="1" dirty="0">
                <a:solidFill>
                  <a:srgbClr val="FF3300"/>
                </a:solidFill>
              </a:rPr>
              <a:t>separating lexical</a:t>
            </a:r>
            <a:r>
              <a:rPr kumimoji="0" lang="en-US" altLang="zh-CN" sz="2800" b="1" dirty="0"/>
              <a:t> analysis from parsing ?</a:t>
            </a:r>
            <a:endParaRPr kumimoji="0" lang="en-US" altLang="zh-CN" sz="2800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b="0" dirty="0"/>
              <a:t> </a:t>
            </a:r>
            <a:r>
              <a:rPr kumimoji="0" lang="en-US" altLang="zh-CN" dirty="0">
                <a:solidFill>
                  <a:srgbClr val="FF3300"/>
                </a:solidFill>
              </a:rPr>
              <a:t>Would unduly complicate the parser</a:t>
            </a:r>
            <a:endParaRPr kumimoji="0" lang="en-US" altLang="zh-CN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dirty="0"/>
              <a:t>      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kumimoji="0" lang="en-US" altLang="zh-CN" sz="2800" b="1" dirty="0"/>
              <a:t>How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do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we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discuss</a:t>
            </a:r>
            <a:r>
              <a:rPr kumimoji="0" lang="zh-CN" altLang="en-US" sz="2800" b="1" dirty="0"/>
              <a:t> </a:t>
            </a:r>
            <a:r>
              <a:rPr kumimoji="0" lang="en-US" altLang="zh-CN" sz="2800" b="1" dirty="0"/>
              <a:t>lexical analysis?</a:t>
            </a:r>
            <a:endParaRPr kumimoji="0" lang="en-US" altLang="zh-CN" sz="28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kumimoji="0" lang="en-US" altLang="zh-CN" sz="2800" b="0" dirty="0"/>
              <a:t>Attacked with high-powered 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formalisms</a:t>
            </a:r>
            <a:r>
              <a:rPr kumimoji="0" lang="en-US" altLang="zh-CN" sz="2800" b="0" dirty="0"/>
              <a:t> and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 tools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kumimoji="0" lang="en-US" altLang="zh-CN" sz="2800" b="0" dirty="0"/>
              <a:t>Similar 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formalisms</a:t>
            </a:r>
            <a:r>
              <a:rPr kumimoji="0" lang="en-US" altLang="zh-CN" sz="2800" b="0" dirty="0"/>
              <a:t> will be 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useful in parsing</a:t>
            </a:r>
            <a:r>
              <a:rPr kumimoji="0" lang="en-US" altLang="zh-CN" sz="2800" b="0" dirty="0"/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800" b="0" dirty="0"/>
              <a:t>Similar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 tools</a:t>
            </a:r>
            <a:r>
              <a:rPr kumimoji="0" lang="en-US" altLang="zh-CN" sz="2800" b="0" dirty="0"/>
              <a:t> have many applications in 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areas other than</a:t>
            </a:r>
            <a:r>
              <a:rPr kumimoji="0" lang="en-US" altLang="zh-CN" sz="2800" b="0" dirty="0"/>
              <a:t> compilation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38374" y="2360509"/>
          <a:ext cx="5278438" cy="396875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id :=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AssignStm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38300" y="2886075"/>
          <a:ext cx="5370195" cy="39687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→ [a-z][a-z0-9]* :=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AssignStm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819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895283"/>
            <a:ext cx="7772400" cy="676910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0"/>
              <a:t>2.1 Lexical Token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Lexical Token</a:t>
            </a:r>
          </a:p>
        </p:txBody>
      </p:sp>
      <p:sp>
        <p:nvSpPr>
          <p:cNvPr id="12291" name="文本框 1126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14400"/>
            <a:ext cx="8153400" cy="119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A lexical token</a:t>
            </a:r>
            <a:r>
              <a:rPr kumimoji="0" lang="en-US" altLang="zh-CN" sz="2000" dirty="0"/>
              <a:t>: </a:t>
            </a:r>
            <a:r>
              <a:rPr kumimoji="0" lang="en-US" altLang="zh-CN" sz="2000" b="1" dirty="0">
                <a:solidFill>
                  <a:srgbClr val="FF3300"/>
                </a:solidFill>
              </a:rPr>
              <a:t>A sequence of characters; A unit in the grammar</a:t>
            </a:r>
            <a:r>
              <a:rPr kumimoji="0" lang="en-US" altLang="zh-CN" sz="2000" b="1" dirty="0"/>
              <a:t> of a programming language (e.g., terminal symbol)</a:t>
            </a:r>
          </a:p>
        </p:txBody>
      </p:sp>
      <p:graphicFrame>
        <p:nvGraphicFramePr>
          <p:cNvPr id="11314" name="表格 1131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048000" y="2743200"/>
          <a:ext cx="5864860" cy="3758244"/>
        </p:xfrm>
        <a:graphic>
          <a:graphicData uri="http://schemas.openxmlformats.org/drawingml/2006/table">
            <a:tbl>
              <a:tblPr/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Type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Examples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ID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foo  n14  last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73  0  00  515  082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REAL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66.1  .5  10.  1e67 5.5e-10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IF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if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COMMA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NOTEQ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!=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LPAREN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RPAREN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</a:t>
                      </a:r>
                      <a:endParaRPr kumimoji="0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8195" marB="481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315" name="文本框 12290"/>
          <p:cNvSpPr txBox="1">
            <a:spLocks noChangeArrowheads="1"/>
          </p:cNvSpPr>
          <p:nvPr/>
        </p:nvSpPr>
        <p:spPr bwMode="auto">
          <a:xfrm>
            <a:off x="381000" y="3200400"/>
            <a:ext cx="2741295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400" b="1" i="1" dirty="0">
                <a:solidFill>
                  <a:srgbClr val="FF3300"/>
                </a:solidFill>
              </a:rPr>
              <a:t>Reserved </a:t>
            </a:r>
            <a:r>
              <a:rPr kumimoji="0" lang="en-US" altLang="zh-CN" sz="2400" b="1" i="1" dirty="0" err="1">
                <a:solidFill>
                  <a:srgbClr val="FF3300"/>
                </a:solidFill>
              </a:rPr>
              <a:t>words</a:t>
            </a:r>
            <a:r>
              <a:rPr kumimoji="0" lang="en-US" altLang="zh-CN" sz="2400" dirty="0" err="1"/>
              <a:t>, in</a:t>
            </a:r>
            <a:r>
              <a:rPr kumimoji="0" lang="en-US" altLang="zh-CN" sz="2400" dirty="0"/>
              <a:t> most languages,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not be used as identifiers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   such as IF, VOID, RETURN</a:t>
            </a:r>
          </a:p>
        </p:txBody>
      </p:sp>
      <p:sp>
        <p:nvSpPr>
          <p:cNvPr id="6" name="椭圆 5"/>
          <p:cNvSpPr/>
          <p:nvPr/>
        </p:nvSpPr>
        <p:spPr>
          <a:xfrm>
            <a:off x="2819400" y="4495800"/>
            <a:ext cx="228600" cy="2286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2187575"/>
            <a:ext cx="8153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 dirty="0"/>
              <a:t>Classification of  lexical tokens: </a:t>
            </a:r>
            <a:r>
              <a:rPr lang="en-US" altLang="zh-CN" sz="2000" b="1" dirty="0">
                <a:solidFill>
                  <a:srgbClr val="FF3300"/>
                </a:solidFill>
              </a:rPr>
              <a:t>A finite set</a:t>
            </a:r>
            <a:r>
              <a:rPr lang="en-US" altLang="zh-CN" sz="2000" b="1" dirty="0"/>
              <a:t> of token types, e.g.,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6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Lexical Token</a:t>
            </a:r>
          </a:p>
        </p:txBody>
      </p:sp>
      <p:sp>
        <p:nvSpPr>
          <p:cNvPr id="13316" name="矩形 1229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2000" y="787400"/>
            <a:ext cx="40843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Examples of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non-tokens</a:t>
            </a:r>
            <a:r>
              <a:rPr kumimoji="0" lang="en-US" altLang="zh-CN" sz="2000" dirty="0"/>
              <a:t>:</a:t>
            </a:r>
          </a:p>
        </p:txBody>
      </p:sp>
      <p:graphicFrame>
        <p:nvGraphicFramePr>
          <p:cNvPr id="12328" name="表格 1232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65885" y="1320800"/>
          <a:ext cx="6643370" cy="2080910"/>
        </p:xfrm>
        <a:graphic>
          <a:graphicData uri="http://schemas.openxmlformats.org/drawingml/2006/table">
            <a:tbl>
              <a:tblPr/>
              <a:tblGrid>
                <a:gridCol w="3653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5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</a:t>
                      </a: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/* I am a comment */</a:t>
                      </a: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preprocessor directive</a:t>
                      </a: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#include&lt;stdio.h&gt;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preprocessor directive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#define NUMS 5, 6</a:t>
                      </a: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macro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NUMS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blanks, tabs, and new-lines</a:t>
                      </a: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7945" marB="4794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28" name="矩形 1232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4372" y="3599241"/>
            <a:ext cx="75272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63855" indent="-363855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Some preprocessor processes the source code first: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8200" y="4191000"/>
            <a:ext cx="3050540" cy="2256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US" altLang="en-GB" b="1" dirty="0">
                <a:solidFill>
                  <a:srgbClr val="AF00E1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#include</a:t>
            </a:r>
            <a:r>
              <a:rPr lang="en-US" altLang="en-GB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&lt;stdio.h&gt;</a:t>
            </a:r>
          </a:p>
          <a:p>
            <a:pPr>
              <a:buNone/>
            </a:pPr>
            <a:r>
              <a:rPr lang="en-US" altLang="en-GB" b="1" dirty="0">
                <a:solidFill>
                  <a:srgbClr val="AF00E1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#define</a:t>
            </a:r>
            <a:r>
              <a:rPr lang="en-US" altLang="en-GB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ZERO </a:t>
            </a:r>
            <a:r>
              <a:rPr lang="en-US" altLang="en-GB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0.</a:t>
            </a:r>
          </a:p>
          <a:p>
            <a:pPr>
              <a:buNone/>
            </a:pPr>
            <a:endParaRPr lang="en-GB" altLang="zh-CN" b="1" dirty="0">
              <a:solidFill>
                <a:srgbClr val="0000FF"/>
              </a:solidFill>
              <a:effectLst/>
              <a:latin typeface="等线" panose="02010600030101010101" charset="-122"/>
              <a:ea typeface="等线" panose="02010600030101010101" charset="-122"/>
              <a:sym typeface="+mn-ea"/>
            </a:endParaRPr>
          </a:p>
          <a:p>
            <a:pPr>
              <a:buNone/>
            </a:pPr>
            <a:r>
              <a:rPr lang="en-GB" altLang="zh-CN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/* find a zero */</a:t>
            </a:r>
            <a:endParaRPr lang="en-GB" altLang="zh-CN" b="1" dirty="0">
              <a:solidFill>
                <a:srgbClr val="0000FF"/>
              </a:solidFill>
              <a:effectLst/>
              <a:latin typeface="等线" panose="02010600030101010101" charset="-122"/>
              <a:ea typeface="等线" panose="02010600030101010101" charset="-122"/>
              <a:sym typeface="+mn-ea"/>
            </a:endParaRPr>
          </a:p>
          <a:p>
            <a:pPr>
              <a:buNone/>
            </a:pPr>
            <a:r>
              <a:rPr lang="en-GB" altLang="zh-CN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float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match0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char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)</a:t>
            </a:r>
            <a:r>
              <a:rPr lang="en-GB" altLang="zh-CN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{</a:t>
            </a:r>
            <a:r>
              <a:rPr lang="en-US" altLang="en-GB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</a:p>
          <a:p>
            <a:pPr>
              <a:buNone/>
            </a:pPr>
            <a:r>
              <a:rPr lang="en-US" altLang="en-GB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if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(!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strncmp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, </a:t>
            </a:r>
            <a:r>
              <a:rPr lang="en-GB" altLang="zh-CN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"0.0"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, </a:t>
            </a:r>
            <a:r>
              <a:rPr lang="en-GB" altLang="zh-CN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3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))</a:t>
            </a:r>
            <a:endParaRPr lang="en-GB" altLang="zh-CN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return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ZERO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; </a:t>
            </a:r>
            <a:endParaRPr lang="en-GB" altLang="zh-CN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>
              <a:buNone/>
            </a:pP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} </a:t>
            </a:r>
            <a:r>
              <a:rPr lang="en-US" altLang="en-GB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endParaRPr lang="zh-CN" altLang="en-US" dirty="0"/>
          </a:p>
          <a:p>
            <a:pPr>
              <a:buNone/>
            </a:pPr>
            <a:endParaRPr kumimoji="0" lang="en-US" altLang="zh-CN" b="1" dirty="0">
              <a:latin typeface="等线" panose="02010600030101010101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3657600" y="4581525"/>
            <a:ext cx="1600835" cy="6858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preprocessor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03850" y="4495800"/>
            <a:ext cx="2947670" cy="900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GB" altLang="zh-CN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float</a:t>
            </a:r>
            <a:r>
              <a:rPr lang="en-US" altLang="en-GB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match0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char</a:t>
            </a:r>
            <a:r>
              <a:rPr lang="en-US" altLang="en-GB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*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)</a:t>
            </a:r>
            <a:r>
              <a:rPr lang="en-US" altLang="en-GB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{</a:t>
            </a:r>
          </a:p>
          <a:p>
            <a:pPr>
              <a:buNone/>
            </a:pPr>
            <a:r>
              <a:rPr lang="en-GB" altLang="en-GB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   </a:t>
            </a:r>
            <a:r>
              <a:rPr lang="en-US" altLang="en-GB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if</a:t>
            </a:r>
            <a:r>
              <a:rPr lang="en-US" altLang="en-GB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(!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strncmp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,</a:t>
            </a:r>
            <a:r>
              <a:rPr lang="en-GB" altLang="zh-CN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"0.0"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,</a:t>
            </a:r>
            <a:r>
              <a:rPr lang="en-GB" altLang="zh-CN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3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))</a:t>
            </a:r>
            <a:r>
              <a:rPr lang="en-US" altLang="en-GB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  </a:t>
            </a:r>
          </a:p>
          <a:p>
            <a:pPr>
              <a:buNone/>
            </a:pPr>
            <a:r>
              <a:rPr lang="en-US" altLang="zh-CN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    </a:t>
            </a:r>
            <a:r>
              <a:rPr lang="en-GB" altLang="zh-CN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return</a:t>
            </a:r>
            <a:r>
              <a:rPr lang="en-US" altLang="en-GB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0.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;} </a:t>
            </a:r>
            <a:endParaRPr kumimoji="0" lang="en-US" altLang="zh-CN" b="1" dirty="0">
              <a:latin typeface="等线" panose="02010600030101010101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>
            <a:off x="5785485" y="5495925"/>
            <a:ext cx="2115820" cy="7162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to lexical analyzer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8" grpId="0"/>
      <p:bldP spid="3" grpId="0"/>
      <p:bldP spid="4" grpId="0" animBg="1"/>
      <p:bldP spid="5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990600" y="2209800"/>
          <a:ext cx="7337425" cy="3023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4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7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FLOAT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ID(</a:t>
                      </a:r>
                      <a:r>
                        <a:rPr lang="en-US" altLang="zh-CN" sz="2000" dirty="0">
                          <a:solidFill>
                            <a:srgbClr val="FF3300"/>
                          </a:solidFill>
                          <a:sym typeface="+mn-ea"/>
                        </a:rPr>
                        <a:t>match0</a:t>
                      </a:r>
                      <a:r>
                        <a:rPr lang="en-US" altLang="zh-CN" sz="2000" dirty="0">
                          <a:sym typeface="+mn-ea"/>
                        </a:rPr>
                        <a:t>)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LPAREN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CHAR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STAR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ID(</a:t>
                      </a:r>
                      <a:r>
                        <a:rPr lang="en-US" altLang="zh-CN" sz="2000" dirty="0">
                          <a:solidFill>
                            <a:srgbClr val="FF3300"/>
                          </a:solidFill>
                          <a:sym typeface="+mn-ea"/>
                        </a:rPr>
                        <a:t>s</a:t>
                      </a:r>
                      <a:r>
                        <a:rPr lang="en-US" altLang="zh-CN" sz="2000" dirty="0">
                          <a:sym typeface="+mn-ea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RPAREN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LBRACE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IF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LPAREN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BANG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ID(</a:t>
                      </a:r>
                      <a:r>
                        <a:rPr lang="en-US" altLang="zh-CN" sz="2000" dirty="0" err="1">
                          <a:solidFill>
                            <a:srgbClr val="FF3300"/>
                          </a:solidFill>
                          <a:sym typeface="+mn-ea"/>
                        </a:rPr>
                        <a:t>strncmp</a:t>
                      </a:r>
                      <a:r>
                        <a:rPr lang="en-US" altLang="zh-CN" sz="2000" dirty="0">
                          <a:sym typeface="+mn-ea"/>
                        </a:rPr>
                        <a:t>) </a:t>
                      </a:r>
                      <a:endParaRPr lang="en-US" altLang="zh-CN" sz="2000"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LPAREN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ID(</a:t>
                      </a:r>
                      <a:r>
                        <a:rPr lang="en-US" altLang="zh-CN" sz="2000" dirty="0">
                          <a:solidFill>
                            <a:srgbClr val="FF3300"/>
                          </a:solidFill>
                          <a:sym typeface="+mn-ea"/>
                        </a:rPr>
                        <a:t>s</a:t>
                      </a:r>
                      <a:r>
                        <a:rPr lang="en-US" altLang="zh-CN" sz="2000" dirty="0">
                          <a:sym typeface="+mn-ea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COMMA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STRING(</a:t>
                      </a:r>
                      <a:r>
                        <a:rPr lang="en-US" altLang="zh-CN" sz="2000" dirty="0">
                          <a:solidFill>
                            <a:srgbClr val="FF3300"/>
                          </a:solidFill>
                          <a:sym typeface="+mn-ea"/>
                        </a:rPr>
                        <a:t>0.0</a:t>
                      </a:r>
                      <a:r>
                        <a:rPr lang="en-US" altLang="zh-CN" sz="2000" dirty="0">
                          <a:sym typeface="+mn-ea"/>
                        </a:rPr>
                        <a:t>)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COMMA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NUM(</a:t>
                      </a:r>
                      <a:r>
                        <a:rPr lang="en-US" altLang="zh-CN" sz="2000" dirty="0">
                          <a:solidFill>
                            <a:srgbClr val="FF3300"/>
                          </a:solidFill>
                          <a:sym typeface="+mn-ea"/>
                        </a:rPr>
                        <a:t>3</a:t>
                      </a:r>
                      <a:r>
                        <a:rPr lang="en-US" altLang="zh-CN" sz="2000" dirty="0">
                          <a:sym typeface="+mn-ea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RPAREN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RPAREN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RETURN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REAL(</a:t>
                      </a:r>
                      <a:r>
                        <a:rPr lang="en-US" altLang="zh-CN" sz="2000" dirty="0">
                          <a:solidFill>
                            <a:srgbClr val="FF3300"/>
                          </a:solidFill>
                          <a:sym typeface="+mn-ea"/>
                        </a:rPr>
                        <a:t>0.0</a:t>
                      </a:r>
                      <a:r>
                        <a:rPr lang="en-US" altLang="zh-CN" sz="2000" dirty="0">
                          <a:sym typeface="+mn-ea"/>
                        </a:rPr>
                        <a:t>)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SEMI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RBRACE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000" dirty="0">
                          <a:sym typeface="+mn-ea"/>
                        </a:rPr>
                        <a:t>EOF </a:t>
                      </a:r>
                      <a:endParaRPr kumimoji="0" lang="en-US" altLang="zh-CN" sz="2000" b="0" dirty="0"/>
                    </a:p>
                    <a:p>
                      <a:pPr>
                        <a:buNone/>
                      </a:pPr>
                      <a:endParaRPr lang="en-US" altLang="zh-C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 dirty="0"/>
              <a:t>Lexical Token</a:t>
            </a:r>
          </a:p>
        </p:txBody>
      </p:sp>
      <p:sp>
        <p:nvSpPr>
          <p:cNvPr id="3" name="矩形 1653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5029158"/>
            <a:ext cx="7411085" cy="138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kumimoji="0" lang="en-US" altLang="zh-CN" sz="2400" b="1" dirty="0"/>
              <a:t>The token-type of each token</a:t>
            </a:r>
            <a:r>
              <a:rPr kumimoji="0" lang="en-US" altLang="zh-CN" sz="2400" b="0" dirty="0"/>
              <a:t> is reported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Some of the tokens</a:t>
            </a:r>
            <a:r>
              <a:rPr kumimoji="0" lang="en-US" altLang="zh-CN" sz="2400" b="0" dirty="0"/>
              <a:t>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attached</a:t>
            </a:r>
            <a:r>
              <a:rPr kumimoji="0" lang="en-US" altLang="zh-CN" sz="2400" b="0" dirty="0"/>
              <a:t> </a:t>
            </a:r>
            <a:r>
              <a:rPr kumimoji="0" lang="en-US" altLang="zh-CN" sz="2400" b="1" i="1" dirty="0">
                <a:solidFill>
                  <a:srgbClr val="FF3300"/>
                </a:solidFill>
              </a:rPr>
              <a:t>semantic values</a:t>
            </a:r>
            <a:endParaRPr kumimoji="0" lang="en-US" altLang="zh-CN" sz="2000" b="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>
                <a:solidFill>
                  <a:srgbClr val="FF3300"/>
                </a:solidFill>
              </a:rPr>
              <a:t>	</a:t>
            </a:r>
            <a:r>
              <a:rPr kumimoji="0" lang="en-US" altLang="zh-CN" sz="2000" b="0" dirty="0"/>
              <a:t>Such as identifiers and literals, with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auxiliary information</a:t>
            </a:r>
            <a:endParaRPr kumimoji="0" lang="en-US" altLang="zh-CN" sz="2000" b="0" dirty="0"/>
          </a:p>
        </p:txBody>
      </p:sp>
      <p:sp>
        <p:nvSpPr>
          <p:cNvPr id="5" name="文本框 4"/>
          <p:cNvSpPr txBox="1"/>
          <p:nvPr/>
        </p:nvSpPr>
        <p:spPr>
          <a:xfrm>
            <a:off x="1316355" y="1066800"/>
            <a:ext cx="6511290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float</a:t>
            </a:r>
            <a:r>
              <a:rPr lang="en-US" altLang="en-GB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match0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char</a:t>
            </a:r>
            <a:r>
              <a:rPr lang="en-US" altLang="en-GB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*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){</a:t>
            </a:r>
            <a:r>
              <a:rPr lang="en-US" altLang="en-GB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if</a:t>
            </a:r>
            <a:r>
              <a:rPr lang="en-US" altLang="en-GB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(!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strncmp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,</a:t>
            </a:r>
            <a:r>
              <a:rPr lang="en-GB" altLang="zh-CN" sz="20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"0.0"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,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))</a:t>
            </a:r>
            <a:r>
              <a:rPr lang="en-US" altLang="en-GB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return</a:t>
            </a:r>
            <a:r>
              <a:rPr lang="en-US" altLang="en-GB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0.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;}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endParaRPr kumimoji="0" lang="en-US" altLang="zh-CN" b="1" dirty="0">
              <a:latin typeface="等线" panose="02010600030101010101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>
            <a:off x="3352800" y="1676400"/>
            <a:ext cx="2115820" cy="71628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ym typeface="+mn-ea"/>
              </a:rPr>
              <a:t>lexical analyzer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Lexical Token</a:t>
            </a:r>
          </a:p>
        </p:txBody>
      </p:sp>
      <p:sp>
        <p:nvSpPr>
          <p:cNvPr id="15363" name="矩形 17465"/>
          <p:cNvSpPr>
            <a:spLocks noChangeArrowheads="1"/>
          </p:cNvSpPr>
          <p:nvPr/>
        </p:nvSpPr>
        <p:spPr bwMode="auto">
          <a:xfrm>
            <a:off x="457200" y="2667506"/>
            <a:ext cx="830569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>
                <a:solidFill>
                  <a:srgbClr val="FF3300"/>
                </a:solidFill>
              </a:rPr>
              <a:t>How should</a:t>
            </a:r>
            <a:r>
              <a:rPr kumimoji="0" lang="en-US" altLang="zh-CN" sz="2800" b="1" dirty="0"/>
              <a:t> the lexical </a:t>
            </a:r>
            <a:r>
              <a:rPr kumimoji="0" lang="en-US" altLang="zh-CN" sz="2800" b="1" dirty="0">
                <a:solidFill>
                  <a:srgbClr val="FF3300"/>
                </a:solidFill>
              </a:rPr>
              <a:t>rules</a:t>
            </a:r>
            <a:r>
              <a:rPr kumimoji="0" lang="en-US" altLang="zh-CN" sz="2800" b="1" dirty="0"/>
              <a:t> of a programming language be </a:t>
            </a:r>
            <a:r>
              <a:rPr kumimoji="0" lang="en-US" altLang="zh-CN" sz="2800" b="1" dirty="0">
                <a:solidFill>
                  <a:srgbClr val="FF3300"/>
                </a:solidFill>
              </a:rPr>
              <a:t>described</a:t>
            </a:r>
            <a:r>
              <a:rPr kumimoji="0" lang="en-US" altLang="zh-CN" sz="2800" b="1" dirty="0"/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Lexical Token</a:t>
            </a:r>
          </a:p>
        </p:txBody>
      </p:sp>
      <p:sp>
        <p:nvSpPr>
          <p:cNvPr id="3" name="文本框 13314"/>
          <p:cNvSpPr txBox="1">
            <a:spLocks noChangeArrowheads="1"/>
          </p:cNvSpPr>
          <p:nvPr/>
        </p:nvSpPr>
        <p:spPr bwMode="auto">
          <a:xfrm>
            <a:off x="596265" y="1219200"/>
            <a:ext cx="7951470" cy="495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Describing the lexical tokens of a language </a:t>
            </a:r>
            <a:r>
              <a:rPr kumimoji="0" lang="en-US" altLang="zh-CN" sz="2400" dirty="0">
                <a:solidFill>
                  <a:srgbClr val="FF3300"/>
                </a:solidFill>
              </a:rPr>
              <a:t>in English</a:t>
            </a:r>
            <a:r>
              <a:rPr kumimoji="0" lang="en-US" altLang="zh-CN" sz="2400" b="0" dirty="0"/>
              <a:t>;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An example</a:t>
            </a:r>
            <a:r>
              <a:rPr kumimoji="0" lang="en-US" altLang="zh-CN" sz="2400" b="0" dirty="0"/>
              <a:t> : </a:t>
            </a:r>
            <a:r>
              <a:rPr kumimoji="0" lang="en-US" altLang="zh-CN" sz="2400" b="0" i="1" dirty="0"/>
              <a:t>identifiers in C or Java</a:t>
            </a: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An identifier is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a sequence of</a:t>
            </a:r>
            <a:r>
              <a:rPr kumimoji="0" lang="en-US" altLang="zh-CN" sz="2000" b="0" dirty="0"/>
              <a:t> letters and digits; the first character must be a letter 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The underscore _ counts as a letter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Upper- and lowercase letters are different 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If the input stream has been parsed into tokens up to a given character, the next token is taken to include the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longest string</a:t>
            </a:r>
            <a:r>
              <a:rPr kumimoji="0" lang="en-US" altLang="zh-CN" sz="2000" b="0" dirty="0"/>
              <a:t> of characters that could possibly constitute a token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Blanks, tabs, newlines, and comments are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ignored except</a:t>
            </a:r>
            <a:r>
              <a:rPr kumimoji="0" lang="en-US" altLang="zh-CN" sz="2000" b="0" dirty="0"/>
              <a:t> as they serve to separate tokens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Some white space is required to separate otherwise adjacent identifiers, keywords, and constants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Lexical Token</a:t>
            </a:r>
          </a:p>
        </p:txBody>
      </p:sp>
      <p:sp>
        <p:nvSpPr>
          <p:cNvPr id="5" name="文本框 38914"/>
          <p:cNvSpPr txBox="1">
            <a:spLocks noChangeArrowheads="1"/>
          </p:cNvSpPr>
          <p:nvPr/>
        </p:nvSpPr>
        <p:spPr bwMode="auto">
          <a:xfrm>
            <a:off x="389890" y="2034502"/>
            <a:ext cx="8396605" cy="446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zh-CN" sz="2400" b="0" dirty="0"/>
              <a:t> An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 ad hoc</a:t>
            </a:r>
            <a:r>
              <a:rPr kumimoji="0" lang="en-US" altLang="zh-CN" sz="2400" b="0" dirty="0"/>
              <a:t> </a:t>
            </a:r>
            <a:r>
              <a:rPr kumimoji="0" lang="en-US" altLang="zh-CN" sz="2400" b="0" dirty="0" err="1"/>
              <a:t>lexer</a:t>
            </a:r>
            <a:endParaRPr kumimoji="0" lang="en-US" altLang="zh-CN" sz="1800" b="0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Any reasonable programming language can be used to implement it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kumimoji="0" lang="en-US" altLang="zh-CN" sz="2400" b="0" dirty="0"/>
              <a:t> 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simple, general purpose, and readable</a:t>
            </a:r>
            <a:r>
              <a:rPr kumimoji="0" lang="en-US" altLang="zh-CN" sz="2400" b="0" dirty="0"/>
              <a:t> lexical analyzer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    (1) 	</a:t>
            </a:r>
            <a:r>
              <a:rPr kumimoji="0" lang="en-US" altLang="zh-CN" sz="2400" b="1" i="1" dirty="0"/>
              <a:t>Regular expressions</a:t>
            </a:r>
            <a:r>
              <a:rPr kumimoji="0" lang="en-US" altLang="zh-CN" sz="2400" b="0" dirty="0"/>
              <a:t>: Specify lexical tokens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	</a:t>
            </a:r>
            <a:r>
              <a:rPr kumimoji="0" lang="zh-CN" altLang="en-US" sz="2400" b="0" dirty="0"/>
              <a:t>     </a:t>
            </a:r>
            <a:r>
              <a:rPr kumimoji="0" lang="en-US" altLang="zh-CN" sz="2400" b="0" dirty="0"/>
              <a:t>	(easy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understand,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but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hard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implement)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    (2) 	</a:t>
            </a:r>
            <a:r>
              <a:rPr kumimoji="0" lang="en-US" altLang="zh-CN" sz="2400" b="1" i="1" dirty="0"/>
              <a:t>Deterministic finite automata</a:t>
            </a:r>
            <a:r>
              <a:rPr kumimoji="0" lang="en-US" altLang="zh-CN" sz="2400" b="0" dirty="0"/>
              <a:t>: Implement </a:t>
            </a:r>
            <a:r>
              <a:rPr kumimoji="0" lang="en-US" altLang="zh-CN" sz="2400" b="0" dirty="0" err="1"/>
              <a:t>lexers</a:t>
            </a: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2400" b="0" dirty="0"/>
              <a:t>    </a:t>
            </a:r>
            <a:r>
              <a:rPr kumimoji="0" lang="en-US" altLang="zh-CN" sz="2400" b="0" dirty="0"/>
              <a:t>		(easy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implement,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yet hard to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manually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construct 	from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specifications)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    (3) 	</a:t>
            </a:r>
            <a:r>
              <a:rPr kumimoji="0" lang="en-US" altLang="zh-CN" sz="2400" b="1" dirty="0"/>
              <a:t>Mathematics</a:t>
            </a:r>
            <a:r>
              <a:rPr kumimoji="0" lang="en-US" altLang="zh-CN" sz="2400" b="0" dirty="0"/>
              <a:t>: Connecting the above two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838200"/>
            <a:ext cx="77622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3300"/>
                </a:solidFill>
                <a:sym typeface="+mn-ea"/>
              </a:rPr>
              <a:t>In what language</a:t>
            </a:r>
            <a:r>
              <a:rPr lang="en-US" altLang="zh-CN" sz="2800" b="1" dirty="0">
                <a:sym typeface="+mn-ea"/>
              </a:rPr>
              <a:t> should a </a:t>
            </a:r>
            <a:r>
              <a:rPr lang="en-US" altLang="zh-CN" sz="2800" b="1" dirty="0">
                <a:solidFill>
                  <a:srgbClr val="FF3300"/>
                </a:solidFill>
                <a:sym typeface="+mn-ea"/>
              </a:rPr>
              <a:t>lexical analyzer</a:t>
            </a:r>
            <a:r>
              <a:rPr lang="zh-CN" altLang="en-US" sz="2800" b="1" dirty="0">
                <a:solidFill>
                  <a:srgbClr val="FF3300"/>
                </a:solidFill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be </a:t>
            </a:r>
            <a:r>
              <a:rPr lang="en-US" altLang="zh-CN" sz="2800" b="1" dirty="0">
                <a:solidFill>
                  <a:srgbClr val="FF3300"/>
                </a:solidFill>
                <a:sym typeface="+mn-ea"/>
              </a:rPr>
              <a:t>written?</a:t>
            </a:r>
            <a:endParaRPr lang="zh-CN" altLang="en-US" sz="2800" b="1" dirty="0">
              <a:solidFill>
                <a:srgbClr val="FF33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887"/>
          </a:xfrm>
        </p:spPr>
        <p:txBody>
          <a:bodyPr/>
          <a:lstStyle/>
          <a:p>
            <a:r>
              <a:rPr lang="en-US" altLang="zh-CN" dirty="0"/>
              <a:t>The Workflow</a:t>
            </a: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1031271"/>
            <a:ext cx="830569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Description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lexical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tokens</a:t>
            </a:r>
            <a:r>
              <a:rPr kumimoji="0" lang="zh-CN" altLang="en-US" sz="2400" b="0" dirty="0"/>
              <a:t> </a:t>
            </a:r>
            <a:endParaRPr kumimoji="0" lang="en-US" altLang="zh-CN" sz="2400" b="0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(in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natural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language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mind)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2660276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Regular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Expression</a:t>
            </a:r>
            <a:endParaRPr kumimoji="0" lang="en-US" altLang="zh-CN" sz="2400" b="0" dirty="0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57200" y="4677805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200" y="5937478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8" name="下箭头 7"/>
          <p:cNvSpPr/>
          <p:nvPr>
            <p:custDataLst>
              <p:tags r:id="rId4"/>
            </p:custDataLst>
          </p:nvPr>
        </p:nvSpPr>
        <p:spPr>
          <a:xfrm>
            <a:off x="4430963" y="201128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下箭头 8"/>
          <p:cNvSpPr/>
          <p:nvPr>
            <p:custDataLst>
              <p:tags r:id="rId5"/>
            </p:custDataLst>
          </p:nvPr>
        </p:nvSpPr>
        <p:spPr>
          <a:xfrm>
            <a:off x="4430963" y="3353393"/>
            <a:ext cx="312553" cy="11758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下箭头 9"/>
          <p:cNvSpPr/>
          <p:nvPr>
            <p:custDataLst>
              <p:tags r:id="rId6"/>
            </p:custDataLst>
          </p:nvPr>
        </p:nvSpPr>
        <p:spPr>
          <a:xfrm>
            <a:off x="4449985" y="525876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4742945" y="5333950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Table-Driven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742945" y="3695131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742945" y="2031988"/>
            <a:ext cx="12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Manually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 dirty="0"/>
              <a:t>The Workflow</a:t>
            </a: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1031271"/>
            <a:ext cx="830569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Description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lexical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tokens</a:t>
            </a:r>
            <a:r>
              <a:rPr kumimoji="0" lang="zh-CN" altLang="en-US" sz="2400" b="0" dirty="0"/>
              <a:t> </a:t>
            </a:r>
            <a:endParaRPr kumimoji="0" lang="en-US" altLang="zh-CN" sz="2400" b="0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(in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natural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language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mind)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2660276"/>
            <a:ext cx="8305690" cy="4603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Regular</a:t>
            </a:r>
            <a:r>
              <a:rPr lang="zh-CN" altLang="en-US" sz="2400" b="1" dirty="0">
                <a:solidFill>
                  <a:schemeClr val="accent2"/>
                </a:solidFill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</a:rPr>
              <a:t>Expression</a:t>
            </a:r>
            <a:endParaRPr kumimoji="0" lang="en-US" altLang="zh-CN" sz="2400" b="1" dirty="0">
              <a:solidFill>
                <a:schemeClr val="accent2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57200" y="4677805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200" y="5937478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8" name="下箭头 7"/>
          <p:cNvSpPr/>
          <p:nvPr>
            <p:custDataLst>
              <p:tags r:id="rId4"/>
            </p:custDataLst>
          </p:nvPr>
        </p:nvSpPr>
        <p:spPr>
          <a:xfrm>
            <a:off x="4430963" y="201128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下箭头 8"/>
          <p:cNvSpPr/>
          <p:nvPr>
            <p:custDataLst>
              <p:tags r:id="rId5"/>
            </p:custDataLst>
          </p:nvPr>
        </p:nvSpPr>
        <p:spPr>
          <a:xfrm>
            <a:off x="4430963" y="3353393"/>
            <a:ext cx="312553" cy="11758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下箭头 9"/>
          <p:cNvSpPr/>
          <p:nvPr>
            <p:custDataLst>
              <p:tags r:id="rId6"/>
            </p:custDataLst>
          </p:nvPr>
        </p:nvSpPr>
        <p:spPr>
          <a:xfrm>
            <a:off x="4449985" y="525876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4742945" y="5333950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Table-Driven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742945" y="3695131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742945" y="2031988"/>
            <a:ext cx="12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Manually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819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895283"/>
            <a:ext cx="7772400" cy="676910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0"/>
              <a:t>2.2 Regular Expression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 dirty="0"/>
              <a:t>Language</a:t>
            </a:r>
          </a:p>
        </p:txBody>
      </p:sp>
      <p:sp>
        <p:nvSpPr>
          <p:cNvPr id="19459" name="文本框 1433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219200"/>
            <a:ext cx="69119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language</a:t>
            </a:r>
            <a:r>
              <a:rPr kumimoji="0" lang="en-US" altLang="zh-CN" sz="2400" b="0" dirty="0"/>
              <a:t> is a set of </a:t>
            </a:r>
            <a:r>
              <a:rPr kumimoji="0" lang="en-US" altLang="zh-CN" sz="2400" b="0" i="1" dirty="0"/>
              <a:t>strings (maybe infinite set)           </a:t>
            </a:r>
            <a:endParaRPr kumimoji="0" lang="en-US" altLang="zh-CN" sz="2400" b="0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string</a:t>
            </a:r>
            <a:r>
              <a:rPr kumimoji="0" lang="en-US" altLang="zh-CN" sz="2400" b="0" dirty="0"/>
              <a:t> is a finite sequence of </a:t>
            </a:r>
            <a:r>
              <a:rPr kumimoji="0" lang="en-US" altLang="zh-CN" sz="2400" b="0" i="1" dirty="0"/>
              <a:t>symbols</a:t>
            </a:r>
            <a:r>
              <a:rPr kumimoji="0" lang="en-US" altLang="zh-CN" sz="2400" b="0" dirty="0"/>
              <a:t>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symbol</a:t>
            </a:r>
            <a:r>
              <a:rPr kumimoji="0" lang="en-US" altLang="zh-CN" sz="2400" b="0" dirty="0"/>
              <a:t> is taken from a finite </a:t>
            </a:r>
            <a:r>
              <a:rPr kumimoji="0" lang="en-US" altLang="zh-CN" sz="2400" b="0" i="1" dirty="0"/>
              <a:t>alphabet</a:t>
            </a:r>
            <a:endParaRPr kumimoji="0" lang="en-US" altLang="zh-CN" sz="2400" b="0" dirty="0"/>
          </a:p>
        </p:txBody>
      </p:sp>
      <p:sp>
        <p:nvSpPr>
          <p:cNvPr id="19460" name="矩形 1434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4606342"/>
            <a:ext cx="8077092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kumimoji="0" lang="en-US" altLang="zh-CN" sz="2400" b="1" dirty="0"/>
              <a:t>Notes: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	Not assign any meaning</a:t>
            </a:r>
            <a:r>
              <a:rPr kumimoji="0" lang="en-US" altLang="zh-CN" sz="2400" b="0" dirty="0"/>
              <a:t> to the strings;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>
                <a:solidFill>
                  <a:srgbClr val="FF0000"/>
                </a:solidFill>
              </a:rPr>
              <a:t>	Only</a:t>
            </a:r>
            <a:r>
              <a:rPr kumimoji="0" lang="en-US" altLang="zh-CN" sz="2400" b="0" dirty="0"/>
              <a:t> classify each string as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in the language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or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not</a:t>
            </a:r>
            <a:r>
              <a:rPr kumimoji="0" lang="en-US" altLang="zh-CN" sz="2400" b="0" dirty="0"/>
              <a:t>.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85800" y="3295015"/>
            <a:ext cx="1945640" cy="78994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/>
              <a:t>A,B,C,D,E,F,G...Z</a:t>
            </a:r>
          </a:p>
          <a:p>
            <a:pPr algn="ctr"/>
            <a:r>
              <a:rPr kumimoji="1" lang="en-US" dirty="0"/>
              <a:t>a,b,c,d,e,f,g...z</a:t>
            </a:r>
          </a:p>
        </p:txBody>
      </p:sp>
      <p:sp>
        <p:nvSpPr>
          <p:cNvPr id="14" name="圆角矩形 13"/>
          <p:cNvSpPr/>
          <p:nvPr>
            <p:custDataLst>
              <p:tags r:id="rId4"/>
            </p:custDataLst>
          </p:nvPr>
        </p:nvSpPr>
        <p:spPr>
          <a:xfrm>
            <a:off x="5791200" y="3227070"/>
            <a:ext cx="2502535" cy="939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all strings which are English words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065530" y="2857500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alphabet</a:t>
            </a:r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3200400" y="3297555"/>
            <a:ext cx="2089150" cy="7874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/>
              <a:t>like, haivabes, QdoW, English...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33800" y="2857500"/>
            <a:ext cx="96202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strings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429375" y="2858770"/>
            <a:ext cx="1419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language</a:t>
            </a:r>
          </a:p>
        </p:txBody>
      </p:sp>
      <p:cxnSp>
        <p:nvCxnSpPr>
          <p:cNvPr id="20" name="直接箭头连接符 19"/>
          <p:cNvCxnSpPr>
            <a:stCxn id="5" idx="3"/>
            <a:endCxn id="17" idx="1"/>
          </p:cNvCxnSpPr>
          <p:nvPr/>
        </p:nvCxnSpPr>
        <p:spPr>
          <a:xfrm>
            <a:off x="2631440" y="3689985"/>
            <a:ext cx="568960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7" idx="3"/>
            <a:endCxn id="14" idx="1"/>
          </p:cNvCxnSpPr>
          <p:nvPr/>
        </p:nvCxnSpPr>
        <p:spPr>
          <a:xfrm>
            <a:off x="5289550" y="3691255"/>
            <a:ext cx="50165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20483" name="文本框 39938"/>
          <p:cNvSpPr txBox="1">
            <a:spLocks noChangeArrowheads="1"/>
          </p:cNvSpPr>
          <p:nvPr/>
        </p:nvSpPr>
        <p:spPr bwMode="auto">
          <a:xfrm>
            <a:off x="457200" y="762000"/>
            <a:ext cx="8686800" cy="576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449580" indent="-44958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800" b="1" i="1" dirty="0"/>
              <a:t>Regular expressions</a:t>
            </a:r>
            <a:r>
              <a:rPr kumimoji="0" lang="zh-CN" altLang="en-US" sz="2000" b="0" i="1" dirty="0"/>
              <a:t>：</a:t>
            </a:r>
            <a:endParaRPr kumimoji="0" lang="en-US" altLang="zh-CN" sz="2000" b="0" i="1" dirty="0"/>
          </a:p>
          <a:p>
            <a:pPr eaLnBrk="1" hangingPunct="1">
              <a:buFont typeface="Arial" panose="020B0604020202020204" pitchFamily="34" charset="0"/>
              <a:buAutoNum type="arabicParenBoth"/>
            </a:pPr>
            <a:r>
              <a:rPr kumimoji="0" lang="en-US" altLang="zh-CN" sz="2400" b="0" dirty="0"/>
              <a:t>To specify some of these (possibly infinite)  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400" b="0" dirty="0"/>
              <a:t>      languages with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finite descriptions</a:t>
            </a:r>
            <a:r>
              <a:rPr kumimoji="0" lang="en-US" altLang="zh-CN" sz="2400" b="0" dirty="0"/>
              <a:t>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400" b="0" dirty="0"/>
              <a:t>(2) Each regular expression stands for a set of strings</a:t>
            </a:r>
            <a:r>
              <a:rPr kumimoji="0" lang="en-US" altLang="zh-CN" sz="2000" b="0" dirty="0"/>
              <a:t> 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kumimoji="0" lang="en-US" altLang="zh-CN" sz="2000" b="0" dirty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A regular expression (RE) is defined inductively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solidFill>
                  <a:srgbClr val="3333CD"/>
                </a:solidFill>
                <a:ea typeface="宋体" panose="02010600030101010101" pitchFamily="2" charset="-122"/>
              </a:rPr>
              <a:t>a			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ordinary character stands for itself</a:t>
            </a:r>
          </a:p>
          <a:p>
            <a:pPr lvl="1" eaLnBrk="1" hangingPunct="1">
              <a:spcBef>
                <a:spcPct val="50000"/>
              </a:spcBef>
              <a:buNone/>
            </a:pPr>
            <a:r>
              <a:rPr kumimoji="0" lang="en-US" altLang="zh-CN" sz="2200" dirty="0">
                <a:solidFill>
                  <a:srgbClr val="3233CD"/>
                </a:solidFill>
              </a:rPr>
              <a:t>∊</a:t>
            </a:r>
            <a:r>
              <a:rPr kumimoji="0" lang="zh-CN" altLang="en-US" sz="2200" b="0" dirty="0"/>
              <a:t> </a:t>
            </a:r>
            <a:r>
              <a:rPr kumimoji="0" lang="en-US" altLang="zh-CN" sz="2200" b="0" dirty="0"/>
              <a:t>			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the empty string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200" dirty="0">
                <a:solidFill>
                  <a:srgbClr val="3333CD"/>
                </a:solidFill>
              </a:rPr>
              <a:t>M </a:t>
            </a:r>
            <a:r>
              <a:rPr lang="en-US" altLang="zh-CN" sz="2200" dirty="0">
                <a:solidFill>
                  <a:srgbClr val="3333CD"/>
                </a:solidFill>
                <a:ea typeface="宋体" panose="02010600030101010101" pitchFamily="2" charset="-122"/>
              </a:rPr>
              <a:t>| N 	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either M or N (alternation), where M, </a:t>
            </a:r>
            <a:r>
              <a:rPr lang="en-US" altLang="zh-CN" sz="2200" b="0" dirty="0">
                <a:solidFill>
                  <a:srgbClr val="000000"/>
                </a:solidFill>
              </a:rPr>
              <a:t>N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 are RE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200" dirty="0">
                <a:solidFill>
                  <a:srgbClr val="3333CD"/>
                </a:solidFill>
              </a:rPr>
              <a:t>M · N</a:t>
            </a:r>
            <a:r>
              <a:rPr lang="en-US" altLang="zh-CN" sz="2200" dirty="0">
                <a:solidFill>
                  <a:srgbClr val="3333CD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2200" b="0" dirty="0">
                <a:solidFill>
                  <a:srgbClr val="000000"/>
                </a:solidFill>
              </a:rPr>
              <a:t>N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 followed by M (concatenation), where M, </a:t>
            </a:r>
            <a:r>
              <a:rPr lang="en-US" altLang="zh-CN" sz="2200" b="0" dirty="0">
                <a:solidFill>
                  <a:srgbClr val="000000"/>
                </a:solidFill>
              </a:rPr>
              <a:t>N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 are RE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200" dirty="0">
                <a:solidFill>
                  <a:srgbClr val="3333CD"/>
                </a:solidFill>
                <a:ea typeface="宋体" panose="02010600030101010101" pitchFamily="2" charset="-122"/>
              </a:rPr>
              <a:t>R* 		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concatenation of a RE R zero or more times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			(R* = </a:t>
            </a:r>
            <a:r>
              <a:rPr lang="en-US" altLang="zh-CN" sz="2200" b="0" dirty="0" err="1">
                <a:solidFill>
                  <a:srgbClr val="000000"/>
                </a:solidFill>
                <a:ea typeface="宋体" panose="02010600030101010101" pitchFamily="2" charset="-122"/>
              </a:rPr>
              <a:t>ε|R|RR|RRR|RRRR</a:t>
            </a:r>
            <a:r>
              <a:rPr lang="en-US" altLang="zh-CN" sz="2200" b="0" dirty="0">
                <a:solidFill>
                  <a:srgbClr val="000000"/>
                </a:solidFill>
                <a:ea typeface="宋体" panose="02010600030101010101" pitchFamily="2" charset="-122"/>
              </a:rPr>
              <a:t>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3" name="矩形 59395"/>
          <p:cNvSpPr>
            <a:spLocks noChangeArrowheads="1"/>
          </p:cNvSpPr>
          <p:nvPr/>
        </p:nvSpPr>
        <p:spPr bwMode="auto">
          <a:xfrm>
            <a:off x="685902" y="914460"/>
            <a:ext cx="8077200" cy="5446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Symbol</a:t>
            </a:r>
            <a:r>
              <a:rPr kumimoji="0" lang="en-US" altLang="zh-CN" sz="2800" dirty="0"/>
              <a:t>:</a:t>
            </a:r>
            <a:r>
              <a:rPr kumimoji="0" lang="en-US" altLang="zh-CN" sz="2800" b="0" dirty="0"/>
              <a:t> </a:t>
            </a:r>
            <a:r>
              <a:rPr kumimoji="0" lang="en-US" altLang="zh-CN" sz="2400" b="0" dirty="0"/>
              <a:t>a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 For each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symbol</a:t>
            </a:r>
            <a:r>
              <a:rPr kumimoji="0" lang="en-US" altLang="zh-CN" sz="2400" b="0" dirty="0"/>
              <a:t> </a:t>
            </a:r>
            <a:r>
              <a:rPr kumimoji="0" lang="en-US" altLang="zh-CN" sz="2400" dirty="0"/>
              <a:t>a</a:t>
            </a:r>
            <a:r>
              <a:rPr kumimoji="0" lang="en-US" altLang="zh-CN" sz="2400" b="0" dirty="0"/>
              <a:t> in the alphabet of the language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 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regular expression </a:t>
            </a:r>
            <a:r>
              <a:rPr kumimoji="0" lang="en-US" altLang="zh-CN" sz="2400" dirty="0"/>
              <a:t>a:</a:t>
            </a:r>
            <a:r>
              <a:rPr kumimoji="0" lang="en-US" altLang="zh-CN" sz="2400" dirty="0">
                <a:solidFill>
                  <a:srgbClr val="FF3300"/>
                </a:solidFill>
              </a:rPr>
              <a:t> </a:t>
            </a:r>
            <a:r>
              <a:rPr kumimoji="0" lang="en-US" altLang="zh-CN" sz="2400" b="0" dirty="0"/>
              <a:t> denotes the language containing just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the string </a:t>
            </a:r>
            <a:r>
              <a:rPr kumimoji="0" lang="en-US" altLang="zh-CN" sz="2400" b="0" dirty="0"/>
              <a:t>a.</a:t>
            </a:r>
          </a:p>
          <a:p>
            <a:pPr eaLnBrk="1" hangingPunct="1">
              <a:spcBef>
                <a:spcPct val="0"/>
              </a:spcBef>
              <a:buNone/>
            </a:pP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Alternation</a:t>
            </a:r>
            <a:r>
              <a:rPr kumimoji="0" lang="en-US" altLang="zh-CN" sz="2800" dirty="0"/>
              <a:t>:</a:t>
            </a:r>
            <a:r>
              <a:rPr kumimoji="0" lang="en-US" altLang="zh-CN" sz="2800" b="0" dirty="0"/>
              <a:t>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A vertical bar |</a:t>
            </a:r>
            <a:r>
              <a:rPr kumimoji="0" lang="en-US" altLang="zh-CN" sz="2400" b="0" dirty="0"/>
              <a:t>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Given two regular expressions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and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, the alternation operator makes 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new regular expression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M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 |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N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string</a:t>
            </a:r>
            <a:r>
              <a:rPr kumimoji="0" lang="en-US" altLang="zh-CN" sz="2400" b="0" dirty="0"/>
              <a:t> is in the language of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|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 if it is in the language of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or in the language of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Example: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The language of </a:t>
            </a:r>
            <a:r>
              <a:rPr kumimoji="0" lang="en-US" altLang="zh-CN" sz="2400" b="1" dirty="0"/>
              <a:t>a | b</a:t>
            </a:r>
            <a:r>
              <a:rPr kumimoji="0" lang="en-US" altLang="zh-CN" sz="2400" b="0" dirty="0"/>
              <a:t> contains the two strings a and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22531" name="矩形 40963"/>
          <p:cNvSpPr>
            <a:spLocks noChangeArrowheads="1"/>
          </p:cNvSpPr>
          <p:nvPr/>
        </p:nvSpPr>
        <p:spPr bwMode="auto">
          <a:xfrm>
            <a:off x="609600" y="1093153"/>
            <a:ext cx="8077200" cy="4646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Concatenation</a:t>
            </a:r>
            <a:r>
              <a:rPr kumimoji="0" lang="en-US" altLang="zh-CN" sz="2800" dirty="0"/>
              <a:t>:</a:t>
            </a:r>
            <a:r>
              <a:rPr kumimoji="0" lang="en-US" altLang="zh-CN" sz="2800" b="0" dirty="0"/>
              <a:t>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operator ·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800" b="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Given two regular expressions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and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, the concatenation makes 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new regular expression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M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 ·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N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string</a:t>
            </a:r>
            <a:r>
              <a:rPr kumimoji="0" lang="en-US" altLang="zh-CN" sz="2400" b="0" dirty="0"/>
              <a:t> is in the language of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·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 if it is 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concatenation of any two strings α and β</a:t>
            </a:r>
            <a:r>
              <a:rPr kumimoji="0" lang="en-US" altLang="zh-CN" sz="2400" b="0" dirty="0"/>
              <a:t> such that α is in the language of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and β is in the language of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Example: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The regular expression (</a:t>
            </a:r>
            <a:r>
              <a:rPr kumimoji="0" lang="en-US" altLang="zh-CN" sz="2400" b="1" dirty="0"/>
              <a:t>a</a:t>
            </a:r>
            <a:r>
              <a:rPr kumimoji="0" lang="en-US" altLang="zh-CN" sz="2400" b="0" dirty="0"/>
              <a:t> | </a:t>
            </a:r>
            <a:r>
              <a:rPr kumimoji="0" lang="en-US" altLang="zh-CN" sz="2400" b="1" dirty="0"/>
              <a:t>b</a:t>
            </a:r>
            <a:r>
              <a:rPr kumimoji="0" lang="en-US" altLang="zh-CN" sz="2400" b="0" dirty="0"/>
              <a:t>) · </a:t>
            </a:r>
            <a:r>
              <a:rPr kumimoji="0" lang="en-US" altLang="zh-CN" sz="2400" b="1" dirty="0"/>
              <a:t>a</a:t>
            </a:r>
            <a:r>
              <a:rPr kumimoji="0" lang="en-US" altLang="zh-CN" sz="2400" b="0" dirty="0"/>
              <a:t> defines the language containing the two strings aa and </a:t>
            </a:r>
            <a:r>
              <a:rPr kumimoji="0" lang="en-US" altLang="zh-CN" sz="2400" b="0" dirty="0" err="1"/>
              <a:t>ba</a:t>
            </a:r>
            <a:r>
              <a:rPr kumimoji="0" lang="en-US" altLang="zh-CN" sz="2400" b="0" dirty="0"/>
              <a:t>.</a:t>
            </a:r>
            <a:endParaRPr kumimoji="0"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23555" name="矩形 60418"/>
          <p:cNvSpPr>
            <a:spLocks noChangeArrowheads="1"/>
          </p:cNvSpPr>
          <p:nvPr/>
        </p:nvSpPr>
        <p:spPr bwMode="auto">
          <a:xfrm>
            <a:off x="609600" y="1014413"/>
            <a:ext cx="8077200" cy="538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Epsilon</a:t>
            </a:r>
            <a:r>
              <a:rPr kumimoji="0" lang="en-US" altLang="zh-CN" sz="2800" dirty="0"/>
              <a:t>:</a:t>
            </a:r>
            <a:r>
              <a:rPr kumimoji="0" lang="en-US" altLang="zh-CN" sz="2000" b="0" dirty="0"/>
              <a:t>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∊</a:t>
            </a:r>
            <a:endParaRPr kumimoji="0" lang="en-US" altLang="zh-CN" sz="2000" b="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The regular expression ∊ represents 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language</a:t>
            </a:r>
            <a:r>
              <a:rPr kumimoji="0" lang="en-US" altLang="zh-CN" sz="2400" b="0" dirty="0"/>
              <a:t> whose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only string is the empty string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Example: (</a:t>
            </a:r>
            <a:r>
              <a:rPr kumimoji="0" lang="en-US" altLang="zh-CN" sz="2400" b="0" i="1" dirty="0"/>
              <a:t>a</a:t>
            </a:r>
            <a:r>
              <a:rPr kumimoji="0" lang="en-US" altLang="zh-CN" sz="2400" b="0" dirty="0"/>
              <a:t> · </a:t>
            </a:r>
            <a:r>
              <a:rPr kumimoji="0" lang="en-US" altLang="zh-CN" sz="2400" b="0" i="1" dirty="0"/>
              <a:t>b</a:t>
            </a:r>
            <a:r>
              <a:rPr kumimoji="0" lang="en-US" altLang="zh-CN" sz="2400" b="0" dirty="0"/>
              <a:t>) | ∊ represents the language {"", "ab"}.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Repetition</a:t>
            </a:r>
            <a:r>
              <a:rPr kumimoji="0" lang="en-US" altLang="zh-CN" sz="2800" dirty="0"/>
              <a:t>:</a:t>
            </a:r>
            <a:r>
              <a:rPr kumimoji="0" lang="en-US" altLang="zh-CN" sz="2000" b="0" dirty="0"/>
              <a:t>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Given a regular expression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, its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Kleene closure is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M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*.</a:t>
            </a:r>
            <a:r>
              <a:rPr kumimoji="0" lang="en-US" altLang="zh-CN" sz="2400" b="0" dirty="0"/>
              <a:t>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string</a:t>
            </a:r>
            <a:r>
              <a:rPr kumimoji="0" lang="en-US" altLang="zh-CN" sz="2400" b="0" dirty="0"/>
              <a:t> is in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* if it is 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concatenation of zero or more</a:t>
            </a:r>
            <a:r>
              <a:rPr kumimoji="0" lang="en-US" altLang="zh-CN" sz="2400" b="0" dirty="0"/>
              <a:t> strings, all of which are in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Example:  ((</a:t>
            </a:r>
            <a:r>
              <a:rPr kumimoji="0" lang="en-US" altLang="zh-CN" sz="2400" dirty="0"/>
              <a:t>a</a:t>
            </a:r>
            <a:r>
              <a:rPr kumimoji="0" lang="en-US" altLang="zh-CN" sz="2400" b="0" dirty="0"/>
              <a:t> | </a:t>
            </a:r>
            <a:r>
              <a:rPr kumimoji="0" lang="en-US" altLang="zh-CN" sz="2400" dirty="0"/>
              <a:t>b</a:t>
            </a:r>
            <a:r>
              <a:rPr kumimoji="0" lang="en-US" altLang="zh-CN" sz="2400" b="0" dirty="0"/>
              <a:t>) · </a:t>
            </a:r>
            <a:r>
              <a:rPr kumimoji="0" lang="en-US" altLang="zh-CN" sz="2400" dirty="0"/>
              <a:t>a</a:t>
            </a:r>
            <a:r>
              <a:rPr kumimoji="0" lang="en-US" altLang="zh-CN" sz="2400" b="0" dirty="0"/>
              <a:t>)* represents the infinite set {"", "aa", "</a:t>
            </a:r>
            <a:r>
              <a:rPr kumimoji="0" lang="en-US" altLang="zh-CN" sz="2400" b="0" dirty="0" err="1"/>
              <a:t>ba</a:t>
            </a:r>
            <a:r>
              <a:rPr kumimoji="0" lang="en-US" altLang="zh-CN" sz="2400" b="0" dirty="0"/>
              <a:t>", "</a:t>
            </a:r>
            <a:r>
              <a:rPr kumimoji="0" lang="en-US" altLang="zh-CN" sz="2400" b="0" dirty="0" err="1"/>
              <a:t>aaaa</a:t>
            </a:r>
            <a:r>
              <a:rPr kumimoji="0" lang="en-US" altLang="zh-CN" sz="2400" b="0" dirty="0"/>
              <a:t>", "</a:t>
            </a:r>
            <a:r>
              <a:rPr kumimoji="0" lang="en-US" altLang="zh-CN" sz="2400" b="0" dirty="0" err="1"/>
              <a:t>baaa</a:t>
            </a:r>
            <a:r>
              <a:rPr kumimoji="0" lang="en-US" altLang="zh-CN" sz="2400" b="0" dirty="0"/>
              <a:t>", "</a:t>
            </a:r>
            <a:r>
              <a:rPr kumimoji="0" lang="en-US" altLang="zh-CN" sz="2400" b="0" dirty="0" err="1"/>
              <a:t>aaba</a:t>
            </a:r>
            <a:r>
              <a:rPr kumimoji="0" lang="en-US" altLang="zh-CN" sz="2400" b="0" dirty="0"/>
              <a:t>", "baba", "</a:t>
            </a:r>
            <a:r>
              <a:rPr kumimoji="0" lang="en-US" altLang="zh-CN" sz="2400" b="0" dirty="0" err="1"/>
              <a:t>aaaaaa</a:t>
            </a:r>
            <a:r>
              <a:rPr kumimoji="0" lang="en-US" altLang="zh-CN" sz="2400" b="0" dirty="0"/>
              <a:t>", …}.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3" name="矩形 4198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524" y="914252"/>
            <a:ext cx="77724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42925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symbols, alternation, concatenation, epsilon, and Kleene closure</a:t>
            </a:r>
            <a:r>
              <a:rPr kumimoji="0" lang="en-US" altLang="zh-CN" sz="2400" b="0" dirty="0"/>
              <a:t>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Specify the set of ASCII characters corresponding to the lexical tokens of a programming language</a:t>
            </a:r>
            <a:endParaRPr kumimoji="0" lang="en-US" altLang="zh-CN" sz="2800" b="0" dirty="0"/>
          </a:p>
        </p:txBody>
      </p:sp>
      <p:sp>
        <p:nvSpPr>
          <p:cNvPr id="25603" name="矩形 43010"/>
          <p:cNvSpPr>
            <a:spLocks noChangeArrowheads="1"/>
          </p:cNvSpPr>
          <p:nvPr/>
        </p:nvSpPr>
        <p:spPr bwMode="auto">
          <a:xfrm>
            <a:off x="685524" y="2722246"/>
            <a:ext cx="77724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In writing regular expressions, sometimes 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concatenation symbol or the epsilon will be omitted</a:t>
            </a:r>
            <a:r>
              <a:rPr kumimoji="0" lang="en-US" altLang="zh-CN" sz="2400" b="0" dirty="0"/>
              <a:t>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Assuming that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Kleene closure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"binds tighter"</a:t>
            </a:r>
            <a:r>
              <a:rPr kumimoji="0" lang="en-US" altLang="zh-CN" sz="2400" b="0" dirty="0"/>
              <a:t> than concatenation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Concatenation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binds tighter</a:t>
            </a:r>
            <a:r>
              <a:rPr kumimoji="0" lang="en-US" altLang="zh-CN" sz="2400" b="0" dirty="0"/>
              <a:t> than alternation;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so that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1" dirty="0"/>
              <a:t>ab</a:t>
            </a:r>
            <a:r>
              <a:rPr kumimoji="0" lang="en-US" altLang="zh-CN" sz="2400" b="0" dirty="0"/>
              <a:t> | </a:t>
            </a:r>
            <a:r>
              <a:rPr kumimoji="0" lang="en-US" altLang="zh-CN" sz="2400" b="1" dirty="0"/>
              <a:t>c</a:t>
            </a:r>
            <a:r>
              <a:rPr kumimoji="0" lang="en-US" altLang="zh-CN" sz="2400" b="0" dirty="0"/>
              <a:t> means (</a:t>
            </a:r>
            <a:r>
              <a:rPr kumimoji="0" lang="en-US" altLang="zh-CN" sz="2400" b="1" dirty="0"/>
              <a:t>a</a:t>
            </a:r>
            <a:r>
              <a:rPr kumimoji="0" lang="en-US" altLang="zh-CN" sz="2400" b="0" dirty="0"/>
              <a:t> · </a:t>
            </a:r>
            <a:r>
              <a:rPr kumimoji="0" lang="en-US" altLang="zh-CN" sz="2400" b="1" dirty="0"/>
              <a:t>b</a:t>
            </a:r>
            <a:r>
              <a:rPr kumimoji="0" lang="en-US" altLang="zh-CN" sz="2400" b="0" dirty="0"/>
              <a:t>) | </a:t>
            </a:r>
            <a:r>
              <a:rPr kumimoji="0" lang="en-US" altLang="zh-CN" sz="2400" b="1" dirty="0"/>
              <a:t>c</a:t>
            </a:r>
            <a:r>
              <a:rPr kumimoji="0" lang="en-US" altLang="zh-CN" sz="2400" b="0" dirty="0"/>
              <a:t>, and (</a:t>
            </a:r>
            <a:r>
              <a:rPr kumimoji="0" lang="en-US" altLang="zh-CN" sz="2400" b="1" dirty="0"/>
              <a:t>a</a:t>
            </a:r>
            <a:r>
              <a:rPr kumimoji="0" lang="en-US" altLang="zh-CN" sz="2400" b="0" dirty="0"/>
              <a:t> |) means (</a:t>
            </a:r>
            <a:r>
              <a:rPr kumimoji="0" lang="en-US" altLang="zh-CN" sz="2400" b="1" dirty="0"/>
              <a:t>a</a:t>
            </a:r>
            <a:r>
              <a:rPr kumimoji="0" lang="en-US" altLang="zh-CN" sz="2400" b="0" dirty="0"/>
              <a:t> | ∊)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26627" name="矩形 61442"/>
          <p:cNvSpPr>
            <a:spLocks noChangeArrowheads="1"/>
          </p:cNvSpPr>
          <p:nvPr/>
        </p:nvSpPr>
        <p:spPr bwMode="auto">
          <a:xfrm>
            <a:off x="762000" y="1333787"/>
            <a:ext cx="777240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0" dirty="0"/>
              <a:t>Introducing some more </a:t>
            </a:r>
            <a:r>
              <a:rPr kumimoji="0" lang="en-US" altLang="zh-CN" sz="2800" b="0" dirty="0">
                <a:solidFill>
                  <a:srgbClr val="FF3300"/>
                </a:solidFill>
              </a:rPr>
              <a:t>abbreviations</a:t>
            </a:r>
            <a:r>
              <a:rPr kumimoji="0" lang="en-US" altLang="zh-CN" sz="2800" b="0" dirty="0"/>
              <a:t>: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[</a:t>
            </a:r>
            <a:r>
              <a:rPr kumimoji="0" lang="en-US" altLang="zh-CN" sz="2400" b="1" dirty="0" err="1"/>
              <a:t>abcd</a:t>
            </a:r>
            <a:r>
              <a:rPr kumimoji="0" lang="en-US" altLang="zh-CN" sz="2400" dirty="0"/>
              <a:t>]</a:t>
            </a:r>
            <a:r>
              <a:rPr kumimoji="0" lang="en-US" altLang="zh-CN" sz="2400" b="0" dirty="0"/>
              <a:t> means </a:t>
            </a:r>
            <a:r>
              <a:rPr kumimoji="0" lang="en-US" altLang="zh-CN" sz="2400" dirty="0"/>
              <a:t>(</a:t>
            </a:r>
            <a:r>
              <a:rPr kumimoji="0" lang="en-US" altLang="zh-CN" sz="2400" b="1" dirty="0"/>
              <a:t>a </a:t>
            </a:r>
            <a:r>
              <a:rPr kumimoji="0" lang="en-US" altLang="zh-CN" sz="2400" dirty="0"/>
              <a:t>|</a:t>
            </a:r>
            <a:r>
              <a:rPr kumimoji="0" lang="en-US" altLang="zh-CN" sz="2400" b="1" dirty="0"/>
              <a:t> b </a:t>
            </a:r>
            <a:r>
              <a:rPr kumimoji="0" lang="en-US" altLang="zh-CN" sz="2400" dirty="0"/>
              <a:t>|</a:t>
            </a:r>
            <a:r>
              <a:rPr kumimoji="0" lang="en-US" altLang="zh-CN" sz="2400" b="1" dirty="0"/>
              <a:t> c </a:t>
            </a:r>
            <a:r>
              <a:rPr kumimoji="0" lang="en-US" altLang="zh-CN" sz="2400" dirty="0"/>
              <a:t>|</a:t>
            </a:r>
            <a:r>
              <a:rPr kumimoji="0" lang="en-US" altLang="zh-CN" sz="2400" b="1" dirty="0"/>
              <a:t> d</a:t>
            </a:r>
            <a:r>
              <a:rPr kumimoji="0" lang="en-US" altLang="zh-CN" sz="2400" dirty="0"/>
              <a:t>)</a:t>
            </a:r>
            <a:r>
              <a:rPr kumimoji="0" lang="en-US" altLang="zh-CN" sz="2400" b="0" dirty="0"/>
              <a:t>,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[</a:t>
            </a:r>
            <a:r>
              <a:rPr kumimoji="0" lang="en-US" altLang="zh-CN" sz="2400" b="1" dirty="0"/>
              <a:t>b</a:t>
            </a:r>
            <a:r>
              <a:rPr kumimoji="0" lang="en-US" altLang="zh-CN" sz="2400" b="0" dirty="0"/>
              <a:t>-</a:t>
            </a:r>
            <a:r>
              <a:rPr kumimoji="0" lang="en-US" altLang="zh-CN" sz="2400" b="1" dirty="0"/>
              <a:t>g</a:t>
            </a:r>
            <a:r>
              <a:rPr kumimoji="0" lang="en-US" altLang="zh-CN" sz="2400" b="0" dirty="0"/>
              <a:t>] means [</a:t>
            </a:r>
            <a:r>
              <a:rPr kumimoji="0" lang="en-US" altLang="zh-CN" sz="2400" b="1" dirty="0" err="1"/>
              <a:t>bcdefg</a:t>
            </a:r>
            <a:r>
              <a:rPr kumimoji="0" lang="en-US" altLang="zh-CN" sz="2400" b="0" dirty="0"/>
              <a:t>],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[</a:t>
            </a:r>
            <a:r>
              <a:rPr kumimoji="0" lang="en-US" altLang="zh-CN" sz="2400" b="1" dirty="0"/>
              <a:t>b</a:t>
            </a:r>
            <a:r>
              <a:rPr kumimoji="0" lang="en-US" altLang="zh-CN" sz="2400" b="0" dirty="0"/>
              <a:t>-</a:t>
            </a:r>
            <a:r>
              <a:rPr kumimoji="0" lang="en-US" altLang="zh-CN" sz="2400" b="1" dirty="0" err="1"/>
              <a:t>gM</a:t>
            </a:r>
            <a:r>
              <a:rPr kumimoji="0" lang="en-US" altLang="zh-CN" sz="2400" b="0" dirty="0"/>
              <a:t>-</a:t>
            </a:r>
            <a:r>
              <a:rPr kumimoji="0" lang="en-US" altLang="zh-CN" sz="2400" b="1" dirty="0" err="1"/>
              <a:t>Qkr</a:t>
            </a:r>
            <a:r>
              <a:rPr kumimoji="0" lang="en-US" altLang="zh-CN" sz="2400" b="0" dirty="0"/>
              <a:t>] means [</a:t>
            </a:r>
            <a:r>
              <a:rPr kumimoji="0" lang="en-US" altLang="zh-CN" sz="2400" b="1" dirty="0" err="1"/>
              <a:t>bcdefgMNOPQkr</a:t>
            </a:r>
            <a:r>
              <a:rPr kumimoji="0" lang="en-US" altLang="zh-CN" sz="2400" b="0" dirty="0"/>
              <a:t>],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? means (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 | ∊), and 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+ means (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·</a:t>
            </a:r>
            <a:r>
              <a:rPr kumimoji="0" lang="en-US" altLang="zh-CN" sz="2400" b="0" i="1" dirty="0"/>
              <a:t>M</a:t>
            </a:r>
            <a:r>
              <a:rPr kumimoji="0" lang="en-US" altLang="zh-CN" sz="2400" b="0" dirty="0"/>
              <a:t>*).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0" dirty="0"/>
              <a:t>These extensions are </a:t>
            </a:r>
            <a:r>
              <a:rPr kumimoji="0" lang="en-US" altLang="zh-CN" sz="2800" b="1" dirty="0"/>
              <a:t>convenient</a:t>
            </a:r>
            <a:endParaRPr kumimoji="0" lang="en-US" altLang="zh-CN" sz="28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1" dirty="0"/>
              <a:t>But do not bring extra</a:t>
            </a:r>
            <a:r>
              <a:rPr kumimoji="0" lang="en-US" altLang="zh-CN" sz="2800" b="0" dirty="0"/>
              <a:t> </a:t>
            </a:r>
            <a:r>
              <a:rPr kumimoji="0" lang="en-US" altLang="zh-CN" sz="2800" b="1" dirty="0"/>
              <a:t>descriptive power</a:t>
            </a:r>
            <a:endParaRPr kumimoji="0" lang="en-US" altLang="zh-CN" sz="2800" b="0" dirty="0"/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Any set of strings that can be described with these abbreviations could also be described by just the basic set of operators.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graphicFrame>
        <p:nvGraphicFramePr>
          <p:cNvPr id="44113" name="表格 441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14400" y="762000"/>
          <a:ext cx="7467600" cy="5280025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 ordinary character stands for itself.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∊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The empty string.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Another way to write the empty string.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| 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Alternation, choosing from 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or 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· 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Concatenation, an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followed by an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Another way to write concatenation.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Repetition (zero or more times).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Repetition, one or more times.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?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Optional, zero or one occurrence of 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[a −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− Z]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Character set alternation.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 period stands for any single character except newline.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"a.+*"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Quotation, a string in quotes stands for itself literally.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674" name="矩形 4410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66800" y="6003608"/>
            <a:ext cx="5031740" cy="53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br>
              <a:rPr kumimoji="0" lang="en-US" altLang="zh-CN" sz="900" b="0"/>
            </a:br>
            <a:r>
              <a:rPr kumimoji="0" lang="en-US" altLang="zh-CN" sz="2000" b="0"/>
              <a:t>Figure 2.1: </a:t>
            </a:r>
            <a:r>
              <a:rPr kumimoji="0" lang="en-US" altLang="zh-CN" sz="2000" b="1">
                <a:solidFill>
                  <a:srgbClr val="FF3300"/>
                </a:solidFill>
              </a:rPr>
              <a:t>Regular expression notation</a:t>
            </a:r>
            <a:r>
              <a:rPr kumimoji="0" lang="en-US" altLang="zh-CN" sz="2000">
                <a:solidFill>
                  <a:srgbClr val="FF3300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28674" name="矩形 4507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809625"/>
            <a:ext cx="7848496" cy="2115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if 						{return IF;}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[a-z][a-z0-9]* 				{return ID;}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[0-9]+ 						{return NUM;}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([0-9]+"."[0-9]*)|([0-9]*"."[0-9]+) 		{return REAL;}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("--"[a-z]*"\n")|(" "|"\n"|"\t")+ 		{/*do nothing*/}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.</a:t>
            </a:r>
            <a:r>
              <a:rPr kumimoji="0" lang="en-US" altLang="zh-CN" sz="2400" b="0" i="1" dirty="0">
                <a:latin typeface="Arial Unicode MS" panose="020B0604020202020204" pitchFamily="34" charset="-128"/>
              </a:rPr>
              <a:t>						</a:t>
            </a:r>
            <a:r>
              <a:rPr kumimoji="0" lang="en-US" altLang="zh-CN" sz="2400" b="0" dirty="0">
                <a:latin typeface="Arial Unicode MS" panose="020B0604020202020204" pitchFamily="34" charset="-128"/>
              </a:rPr>
              <a:t>{error();} </a:t>
            </a:r>
            <a:endParaRPr kumimoji="0" lang="en-US" altLang="zh-CN" sz="2400" b="0" dirty="0"/>
          </a:p>
        </p:txBody>
      </p:sp>
      <p:sp>
        <p:nvSpPr>
          <p:cNvPr id="28675" name="矩形 4508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2983230"/>
            <a:ext cx="77724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900" b="0" dirty="0"/>
              <a:t>	</a:t>
            </a:r>
            <a:r>
              <a:rPr kumimoji="0" lang="en-US" altLang="zh-CN" sz="2000" b="1" dirty="0"/>
              <a:t>Figure 2.2: Regular expressions for some tokens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dirty="0"/>
              <a:t> </a:t>
            </a:r>
            <a:endParaRPr kumimoji="0" lang="en-US" altLang="zh-CN" sz="2400" b="1" dirty="0"/>
          </a:p>
          <a:p>
            <a:pPr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The fifth line</a:t>
            </a:r>
            <a:r>
              <a:rPr kumimoji="0" lang="en-US" altLang="zh-CN" sz="2400" b="0" dirty="0"/>
              <a:t> of the description recognizes comments or white space but does not report back to the parser.   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Instead</a:t>
            </a:r>
            <a:r>
              <a:rPr kumimoji="0" lang="en-US" altLang="zh-CN" sz="2400" b="0" dirty="0"/>
              <a:t>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The white space is discarded and the </a:t>
            </a:r>
            <a:r>
              <a:rPr kumimoji="0" lang="en-US" altLang="zh-CN" sz="2400" b="0" dirty="0" err="1"/>
              <a:t>lexer</a:t>
            </a:r>
            <a:r>
              <a:rPr kumimoji="0" lang="en-US" altLang="zh-CN" sz="2400" b="0" dirty="0"/>
              <a:t> resumed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comments</a:t>
            </a:r>
            <a:r>
              <a:rPr kumimoji="0" lang="en-US" altLang="zh-CN" sz="2400" b="0" dirty="0"/>
              <a:t> begin with two dashes, contain only alphabetic characters, and end with new-line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dirty="0">
                <a:sym typeface="+mn-ea"/>
              </a:rPr>
              <a:t>A lexical specification should be </a:t>
            </a:r>
            <a:r>
              <a:rPr kumimoji="0" lang="en-US" altLang="zh-CN" sz="2400" i="1" dirty="0">
                <a:solidFill>
                  <a:srgbClr val="FF3300"/>
                </a:solidFill>
                <a:sym typeface="+mn-ea"/>
              </a:rPr>
              <a:t>complete</a:t>
            </a:r>
            <a:r>
              <a:rPr kumimoji="0" lang="en-US" altLang="zh-CN" sz="2400" dirty="0">
                <a:solidFill>
                  <a:schemeClr val="tx1"/>
                </a:solidFill>
                <a:sym typeface="+mn-ea"/>
              </a:rPr>
              <a:t>, in this case error occur when any other situation matches</a:t>
            </a:r>
            <a:r>
              <a:rPr kumimoji="0" lang="en-US" altLang="zh-CN" sz="2400" dirty="0">
                <a:sym typeface="+mn-ea"/>
              </a:rPr>
              <a:t>.</a:t>
            </a:r>
            <a:endParaRPr kumimoji="0" lang="en-US" altLang="zh-CN" sz="2400" b="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30722" name="矩形 4608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295402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These rules are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a bit ambiguous</a:t>
            </a:r>
            <a:r>
              <a:rPr kumimoji="0" lang="en-US" altLang="zh-CN" sz="2400" dirty="0"/>
              <a:t>.</a:t>
            </a:r>
            <a:endParaRPr kumimoji="0" lang="en-US" altLang="zh-CN" sz="2400" b="0" dirty="0"/>
          </a:p>
        </p:txBody>
      </p:sp>
      <p:sp>
        <p:nvSpPr>
          <p:cNvPr id="3" name="圆角矩形 2"/>
          <p:cNvSpPr/>
          <p:nvPr/>
        </p:nvSpPr>
        <p:spPr>
          <a:xfrm>
            <a:off x="1143000" y="4318000"/>
            <a:ext cx="1399540" cy="84328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if8</a:t>
            </a:r>
          </a:p>
        </p:txBody>
      </p:sp>
      <p:sp>
        <p:nvSpPr>
          <p:cNvPr id="4" name="上弧形箭头 3"/>
          <p:cNvSpPr/>
          <p:nvPr/>
        </p:nvSpPr>
        <p:spPr>
          <a:xfrm rot="20760000">
            <a:off x="2536190" y="3793490"/>
            <a:ext cx="1907540" cy="432435"/>
          </a:xfrm>
          <a:prstGeom prst="curvedDownArrow">
            <a:avLst>
              <a:gd name="adj1" fmla="val 19907"/>
              <a:gd name="adj2" fmla="val 41512"/>
              <a:gd name="adj3" fmla="val 5659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572000" y="3657600"/>
            <a:ext cx="1399540" cy="84328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ID(</a:t>
            </a:r>
            <a:r>
              <a:rPr lang="en-US" altLang="zh-CN" sz="2800" b="1">
                <a:solidFill>
                  <a:srgbClr val="FF0000"/>
                </a:solidFill>
              </a:rPr>
              <a:t>if8</a:t>
            </a:r>
            <a:r>
              <a:rPr lang="en-US" altLang="zh-CN" sz="2800" b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下弧形箭头 5"/>
          <p:cNvSpPr/>
          <p:nvPr/>
        </p:nvSpPr>
        <p:spPr>
          <a:xfrm rot="720000">
            <a:off x="2545080" y="5257165"/>
            <a:ext cx="1892300" cy="491490"/>
          </a:xfrm>
          <a:prstGeom prst="curvedUpArrow">
            <a:avLst>
              <a:gd name="adj1" fmla="val 21027"/>
              <a:gd name="adj2" fmla="val 41819"/>
              <a:gd name="adj3" fmla="val 4486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572000" y="4899660"/>
            <a:ext cx="1399540" cy="84328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IF</a:t>
            </a:r>
          </a:p>
        </p:txBody>
      </p:sp>
      <p:sp>
        <p:nvSpPr>
          <p:cNvPr id="8" name="十字形 7"/>
          <p:cNvSpPr/>
          <p:nvPr/>
        </p:nvSpPr>
        <p:spPr>
          <a:xfrm>
            <a:off x="6184900" y="5181600"/>
            <a:ext cx="353060" cy="347345"/>
          </a:xfrm>
          <a:prstGeom prst="plus">
            <a:avLst>
              <a:gd name="adj" fmla="val 4078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751320" y="4899660"/>
            <a:ext cx="1456690" cy="84328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NUM(</a:t>
            </a:r>
            <a:r>
              <a:rPr lang="en-US" altLang="zh-CN" sz="2800" b="1">
                <a:solidFill>
                  <a:srgbClr val="FF0000"/>
                </a:solidFill>
              </a:rPr>
              <a:t>8</a:t>
            </a:r>
            <a:r>
              <a:rPr lang="en-US" altLang="zh-CN" sz="2800" b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99460" y="4419600"/>
            <a:ext cx="516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?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5800" y="3581400"/>
            <a:ext cx="2253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tx1"/>
                </a:solidFill>
              </a:rPr>
              <a:t>For example: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2000" y="5930900"/>
            <a:ext cx="3875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what about </a:t>
            </a:r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en-US" altLang="zh-CN" sz="2400" b="1" dirty="0">
                <a:solidFill>
                  <a:schemeClr val="tx1"/>
                </a:solidFill>
              </a:rPr>
              <a:t> in “</a:t>
            </a:r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en-US" altLang="zh-CN" sz="2400" b="1" dirty="0">
                <a:solidFill>
                  <a:schemeClr val="tx1"/>
                </a:solidFill>
              </a:rPr>
              <a:t> 89”  ?</a:t>
            </a:r>
          </a:p>
        </p:txBody>
      </p:sp>
      <p:sp>
        <p:nvSpPr>
          <p:cNvPr id="13" name="矩形 4507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809625"/>
            <a:ext cx="7848496" cy="2115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if 						{return IF;}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[a-z][a-z0-9]* 				{return ID;}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[0-9]+ 						{return NUM;}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([0-9]+"."[0-9]*)|([0-9]*"."[0-9]+) 		{return REAL;}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("--"[a-z]*"\n")|(" "|"\n"|"\t")+ 		{/*do nothing*/}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.</a:t>
            </a:r>
            <a:r>
              <a:rPr kumimoji="0" lang="en-US" altLang="zh-CN" sz="2400" b="0" i="1" dirty="0">
                <a:latin typeface="Arial Unicode MS" panose="020B0604020202020204" pitchFamily="34" charset="-128"/>
              </a:rPr>
              <a:t>						</a:t>
            </a:r>
            <a:r>
              <a:rPr kumimoji="0" lang="en-US" altLang="zh-CN" sz="2400" b="0" dirty="0">
                <a:latin typeface="Arial Unicode MS" panose="020B0604020202020204" pitchFamily="34" charset="-128"/>
              </a:rPr>
              <a:t>{error();} </a:t>
            </a:r>
            <a:endParaRPr kumimoji="0"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Regular Expression</a:t>
            </a:r>
          </a:p>
        </p:txBody>
      </p:sp>
      <p:sp>
        <p:nvSpPr>
          <p:cNvPr id="31746" name="矩形 63489"/>
          <p:cNvSpPr>
            <a:spLocks noChangeArrowheads="1"/>
          </p:cNvSpPr>
          <p:nvPr/>
        </p:nvSpPr>
        <p:spPr bwMode="auto">
          <a:xfrm>
            <a:off x="533504" y="762142"/>
            <a:ext cx="8229600" cy="581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>
                <a:solidFill>
                  <a:srgbClr val="FF3300"/>
                </a:solidFill>
                <a:sym typeface="+mn-ea"/>
              </a:rPr>
              <a:t>Two important disambiguation rules</a:t>
            </a:r>
            <a:r>
              <a:rPr kumimoji="0" lang="en-US" altLang="zh-CN" sz="2400" dirty="0">
                <a:sym typeface="+mn-ea"/>
              </a:rPr>
              <a:t> used by Lex, </a:t>
            </a:r>
            <a:r>
              <a:rPr kumimoji="0" lang="en-US" altLang="zh-CN" sz="2400" dirty="0" err="1">
                <a:sym typeface="+mn-ea"/>
              </a:rPr>
              <a:t>JavaCC</a:t>
            </a:r>
            <a:r>
              <a:rPr kumimoji="0" lang="en-US" altLang="zh-CN" sz="2400" dirty="0">
                <a:sym typeface="+mn-ea"/>
              </a:rPr>
              <a:t>, </a:t>
            </a:r>
            <a:r>
              <a:rPr kumimoji="0" lang="en-US" altLang="zh-CN" sz="2400" dirty="0" err="1">
                <a:sym typeface="+mn-ea"/>
              </a:rPr>
              <a:t>SableCC</a:t>
            </a:r>
            <a:r>
              <a:rPr kumimoji="0" lang="en-US" altLang="zh-CN" sz="2400" dirty="0">
                <a:sym typeface="+mn-ea"/>
              </a:rPr>
              <a:t>, and other similar lexical-analyzer generators:</a:t>
            </a: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Longest match</a:t>
            </a:r>
            <a:r>
              <a:rPr kumimoji="0" lang="en-US" altLang="zh-CN" sz="2400" dirty="0"/>
              <a:t>:</a:t>
            </a:r>
            <a:r>
              <a:rPr kumimoji="0" lang="en-US" altLang="zh-CN" sz="2400" b="0" dirty="0"/>
              <a:t>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The longest initial substring of the input that can match any regular expression is taken as the next token.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Rule priority</a:t>
            </a:r>
            <a:r>
              <a:rPr kumimoji="0" lang="en-US" altLang="zh-CN" sz="2400" dirty="0"/>
              <a:t>: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200" b="0" dirty="0"/>
              <a:t>For a </a:t>
            </a:r>
            <a:r>
              <a:rPr kumimoji="0" lang="en-US" altLang="zh-CN" sz="2200" b="0" i="1" dirty="0"/>
              <a:t>particular</a:t>
            </a:r>
            <a:r>
              <a:rPr kumimoji="0" lang="en-US" altLang="zh-CN" sz="2200" b="0" dirty="0"/>
              <a:t> longest initial substring, </a:t>
            </a:r>
            <a:r>
              <a:rPr kumimoji="0" lang="en-US" altLang="zh-CN" sz="2200" b="0" dirty="0">
                <a:solidFill>
                  <a:srgbClr val="FF3300"/>
                </a:solidFill>
              </a:rPr>
              <a:t>the first regular expression</a:t>
            </a:r>
            <a:r>
              <a:rPr kumimoji="0" lang="en-US" altLang="zh-CN" sz="2200" b="0" dirty="0"/>
              <a:t> that can match determines its token-type.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200" b="0" dirty="0"/>
              <a:t>This means that </a:t>
            </a:r>
            <a:r>
              <a:rPr kumimoji="0" lang="en-US" altLang="zh-CN" sz="2200" b="0" dirty="0">
                <a:solidFill>
                  <a:srgbClr val="FF3300"/>
                </a:solidFill>
              </a:rPr>
              <a:t>the order</a:t>
            </a:r>
            <a:r>
              <a:rPr kumimoji="0" lang="en-US" altLang="zh-CN" sz="2200" b="0" dirty="0"/>
              <a:t> of writing down the regular-expression rules </a:t>
            </a:r>
            <a:r>
              <a:rPr kumimoji="0" lang="en-US" altLang="zh-CN" sz="2200" b="0" dirty="0">
                <a:solidFill>
                  <a:srgbClr val="FF3300"/>
                </a:solidFill>
              </a:rPr>
              <a:t>has significance</a:t>
            </a:r>
            <a:r>
              <a:rPr kumimoji="0" lang="en-US" altLang="zh-CN" sz="2200" b="0" dirty="0"/>
              <a:t>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Thus,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if8</a:t>
            </a:r>
            <a:r>
              <a:rPr kumimoji="0" lang="en-US" altLang="zh-CN" sz="2400" b="0" dirty="0"/>
              <a:t> matches as an identifier by the longest-match rule</a:t>
            </a:r>
            <a:r>
              <a:rPr kumimoji="0" lang="en-US" altLang="zh-CN" sz="2400" dirty="0"/>
              <a:t>;</a:t>
            </a:r>
            <a:endParaRPr kumimoji="0" lang="en-US" altLang="zh-CN" sz="2400" b="0" dirty="0"/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if </a:t>
            </a:r>
            <a:r>
              <a:rPr kumimoji="0" lang="en-US" altLang="zh-CN" sz="2400" b="0" dirty="0"/>
              <a:t>matches as a reserved word by rule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priority.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 dirty="0"/>
              <a:t>The Workflow</a:t>
            </a: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457200" y="1031271"/>
            <a:ext cx="830569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Description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lexical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tokens</a:t>
            </a:r>
            <a:r>
              <a:rPr kumimoji="0" lang="zh-CN" altLang="en-US" sz="2400" b="0" dirty="0"/>
              <a:t> </a:t>
            </a:r>
            <a:endParaRPr kumimoji="0" lang="en-US" altLang="zh-CN" sz="2400" b="0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(in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natural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language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mind)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57200" y="2660276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Regular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Expression</a:t>
            </a:r>
            <a:endParaRPr kumimoji="0" lang="en-US" altLang="zh-CN" sz="2400" b="0" dirty="0"/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457200" y="4677805"/>
            <a:ext cx="8305690" cy="4603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Deterministic</a:t>
            </a:r>
            <a:r>
              <a:rPr lang="zh-CN" altLang="en-US" sz="2400" b="1" dirty="0">
                <a:solidFill>
                  <a:schemeClr val="accent2"/>
                </a:solidFill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</a:rPr>
              <a:t>Finite</a:t>
            </a:r>
            <a:r>
              <a:rPr lang="zh-CN" altLang="en-US" sz="2400" b="1" dirty="0">
                <a:solidFill>
                  <a:schemeClr val="accent2"/>
                </a:solidFill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</a:rPr>
              <a:t>Automata</a:t>
            </a:r>
            <a:endParaRPr kumimoji="0" lang="en-US" altLang="zh-CN" sz="2400" b="1" dirty="0">
              <a:solidFill>
                <a:schemeClr val="accent2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57200" y="5937478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17" name="下箭头 16"/>
          <p:cNvSpPr/>
          <p:nvPr>
            <p:custDataLst>
              <p:tags r:id="rId5"/>
            </p:custDataLst>
          </p:nvPr>
        </p:nvSpPr>
        <p:spPr>
          <a:xfrm>
            <a:off x="4430963" y="201128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下箭头 17"/>
          <p:cNvSpPr/>
          <p:nvPr>
            <p:custDataLst>
              <p:tags r:id="rId6"/>
            </p:custDataLst>
          </p:nvPr>
        </p:nvSpPr>
        <p:spPr>
          <a:xfrm>
            <a:off x="4430963" y="3353393"/>
            <a:ext cx="312553" cy="11758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下箭头 18"/>
          <p:cNvSpPr/>
          <p:nvPr>
            <p:custDataLst>
              <p:tags r:id="rId7"/>
            </p:custDataLst>
          </p:nvPr>
        </p:nvSpPr>
        <p:spPr>
          <a:xfrm>
            <a:off x="4449985" y="525876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4742945" y="5333950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Table-Driven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endParaRPr kumimoji="1" lang="zh-CN" altLang="en-US" dirty="0"/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4742945" y="3695131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4742945" y="2031988"/>
            <a:ext cx="12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Manually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819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895283"/>
            <a:ext cx="7772400" cy="676910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0"/>
              <a:t>2.3 </a:t>
            </a:r>
            <a:r>
              <a:rPr kumimoji="0" lang="en-US" altLang="zh-CN">
                <a:sym typeface="+mn-ea"/>
              </a:rPr>
              <a:t>Finite Automata</a:t>
            </a:r>
            <a:r>
              <a:rPr kumimoji="0" lang="en-US" altLang="zh-CN" sz="4400" b="0"/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33795" name="文本框 21506"/>
          <p:cNvSpPr txBox="1">
            <a:spLocks noChangeArrowheads="1"/>
          </p:cNvSpPr>
          <p:nvPr/>
        </p:nvSpPr>
        <p:spPr bwMode="auto">
          <a:xfrm>
            <a:off x="838200" y="762000"/>
            <a:ext cx="7924690" cy="5084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kumimoji="0" lang="en-US" altLang="zh-CN" sz="2400" b="1" dirty="0"/>
              <a:t>Regular expressions</a:t>
            </a:r>
            <a:r>
              <a:rPr kumimoji="0" lang="en-US" altLang="zh-CN" sz="2400" b="0" dirty="0"/>
              <a:t>: 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Convenient for specifying</a:t>
            </a:r>
            <a:r>
              <a:rPr kumimoji="0" lang="en-US" altLang="zh-CN" sz="2400" b="0" dirty="0"/>
              <a:t> lexical tokens</a:t>
            </a:r>
          </a:p>
          <a:p>
            <a:pPr eaLnBrk="1" hangingPunct="1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Need a formalism</a:t>
            </a:r>
            <a:r>
              <a:rPr kumimoji="0" lang="en-US" altLang="zh-CN" sz="2400" dirty="0"/>
              <a:t>:</a:t>
            </a:r>
            <a:r>
              <a:rPr kumimoji="0" lang="en-US" altLang="zh-CN" sz="2400" b="0" dirty="0"/>
              <a:t>  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Implemented</a:t>
            </a:r>
            <a:r>
              <a:rPr kumimoji="0" lang="en-US" altLang="zh-CN" sz="2400" b="0" dirty="0"/>
              <a:t> as a computer program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using finite automata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A finite automaton</a:t>
            </a:r>
            <a:r>
              <a:rPr kumimoji="0" lang="en-US" altLang="zh-CN" sz="2400" b="0" dirty="0"/>
              <a:t> :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 finite set of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states</a:t>
            </a:r>
            <a:r>
              <a:rPr kumimoji="0" lang="en-US" altLang="zh-CN" sz="2400" b="0" dirty="0"/>
              <a:t>;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edges</a:t>
            </a:r>
            <a:r>
              <a:rPr kumimoji="0" lang="en-US" altLang="zh-CN" sz="2400" b="0" dirty="0"/>
              <a:t> lead from one state to another, and each edge is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labeled with a </a:t>
            </a:r>
            <a:r>
              <a:rPr kumimoji="0" lang="en-US" altLang="zh-CN" sz="2400" b="0" i="1" dirty="0">
                <a:solidFill>
                  <a:srgbClr val="FF3300"/>
                </a:solidFill>
              </a:rPr>
              <a:t>symbol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One state is </a:t>
            </a:r>
            <a:r>
              <a:rPr kumimoji="0" lang="en-US" altLang="zh-CN" sz="2400" dirty="0"/>
              <a:t>the </a:t>
            </a:r>
            <a:r>
              <a:rPr kumimoji="0" lang="en-US" altLang="zh-CN" sz="2400" b="1" i="1" dirty="0"/>
              <a:t>start</a:t>
            </a:r>
            <a:r>
              <a:rPr kumimoji="0" lang="en-US" altLang="zh-CN" sz="2400" b="1" dirty="0"/>
              <a:t> state</a:t>
            </a:r>
            <a:r>
              <a:rPr kumimoji="0" lang="en-US" altLang="zh-CN" sz="2400" b="0" dirty="0"/>
              <a:t>, and certain of the states are distinguished as </a:t>
            </a:r>
            <a:r>
              <a:rPr kumimoji="0" lang="en-US" altLang="zh-CN" sz="2400" b="1" i="1" dirty="0"/>
              <a:t>final</a:t>
            </a:r>
            <a:r>
              <a:rPr kumimoji="0" lang="en-US" altLang="zh-CN" sz="2400" b="1" dirty="0"/>
              <a:t> states</a:t>
            </a:r>
            <a:r>
              <a:rPr kumimoji="0" lang="en-US" altLang="zh-CN" sz="2000" b="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34818" name="图片 47107" descr="2-1-finite-automata-for-lexical-toke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2000"/>
            <a:ext cx="7107555" cy="3435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矩形 4710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4117023"/>
            <a:ext cx="8229600" cy="2522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Figure 2.3: Finite automata for lexical tokens. </a:t>
            </a: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The states are indicated by circles;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final states are indicated by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double circles</a:t>
            </a:r>
            <a:r>
              <a:rPr kumimoji="0" lang="en-US" altLang="zh-CN" sz="24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The start state has an arrow coming in from nowhere.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An edge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labeled with several characters</a:t>
            </a:r>
            <a:r>
              <a:rPr kumimoji="0" lang="en-US" altLang="zh-CN" sz="2400" b="0" dirty="0"/>
              <a:t> is shorthand for many parallel edges.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35842" name="矩形 4813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2816930"/>
            <a:ext cx="8001000" cy="36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A DFA </a:t>
            </a:r>
            <a:r>
              <a:rPr kumimoji="0" lang="en-US" altLang="zh-CN" sz="2400" b="1" i="1" dirty="0"/>
              <a:t>accepts</a:t>
            </a:r>
            <a:r>
              <a:rPr kumimoji="0" lang="en-US" altLang="zh-CN" sz="2400" b="1" dirty="0"/>
              <a:t> or </a:t>
            </a:r>
            <a:r>
              <a:rPr kumimoji="0" lang="en-US" altLang="zh-CN" sz="2400" b="1" i="1" dirty="0"/>
              <a:t>rejects</a:t>
            </a:r>
            <a:r>
              <a:rPr kumimoji="0" lang="en-US" altLang="zh-CN" sz="2400" b="1" dirty="0"/>
              <a:t> a string as follows.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>
                <a:solidFill>
                  <a:srgbClr val="FF3300"/>
                </a:solidFill>
              </a:rPr>
              <a:t>Starting</a:t>
            </a:r>
            <a:r>
              <a:rPr kumimoji="0" lang="en-US" altLang="zh-CN" sz="2000" b="0" dirty="0"/>
              <a:t> in the start state, for each character in the input string the automaton follows exactly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one edge</a:t>
            </a:r>
            <a:r>
              <a:rPr kumimoji="0" lang="en-US" altLang="zh-CN" sz="2000" b="0" dirty="0"/>
              <a:t> to get to the next state.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The edge must be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labeled with the input character</a:t>
            </a:r>
            <a:r>
              <a:rPr kumimoji="0" lang="en-US" altLang="zh-CN" sz="2000" b="0" dirty="0"/>
              <a:t>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After making </a:t>
            </a:r>
            <a:r>
              <a:rPr kumimoji="0" lang="en-US" altLang="zh-CN" sz="2000" b="0" i="1" dirty="0"/>
              <a:t>n</a:t>
            </a:r>
            <a:r>
              <a:rPr kumimoji="0" lang="en-US" altLang="zh-CN" sz="2000" b="0" dirty="0"/>
              <a:t> transitions for an </a:t>
            </a:r>
            <a:r>
              <a:rPr kumimoji="0" lang="en-US" altLang="zh-CN" sz="2000" b="0" i="1" dirty="0"/>
              <a:t>n</a:t>
            </a:r>
            <a:r>
              <a:rPr kumimoji="0" lang="en-US" altLang="zh-CN" sz="2000" b="0" dirty="0"/>
              <a:t>-character string, if the automaton is in a final state, then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it accepts</a:t>
            </a:r>
            <a:r>
              <a:rPr kumimoji="0" lang="en-US" altLang="zh-CN" sz="2000" b="0" dirty="0"/>
              <a:t> the string.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000" b="0" dirty="0"/>
              <a:t>If it is not in a final state, or if at some point there was no appropriately labeled edge to follow,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it rejects</a:t>
            </a:r>
            <a:r>
              <a:rPr kumimoji="0" lang="en-US" altLang="zh-CN" sz="2000" b="0" dirty="0"/>
              <a:t>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dirty="0"/>
              <a:t>    </a:t>
            </a:r>
            <a:r>
              <a:rPr kumimoji="0" lang="en-US" altLang="zh-CN" sz="2400" b="1" dirty="0"/>
              <a:t>The </a:t>
            </a:r>
            <a:r>
              <a:rPr kumimoji="0" lang="en-US" altLang="zh-CN" sz="2400" b="1" i="1" dirty="0"/>
              <a:t>language</a:t>
            </a:r>
            <a:r>
              <a:rPr kumimoji="0" lang="en-US" altLang="zh-CN" sz="2400" b="0" dirty="0"/>
              <a:t> recognized by an automaton is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the set of strings</a:t>
            </a:r>
            <a:r>
              <a:rPr kumimoji="0" lang="en-US" altLang="zh-CN" sz="2400" b="0" dirty="0"/>
              <a:t> that it accepts</a:t>
            </a:r>
            <a:r>
              <a:rPr kumimoji="0" lang="en-US" altLang="zh-CN" sz="2000" b="0" dirty="0"/>
              <a:t>.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04842" y="974189"/>
            <a:ext cx="57149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0" dirty="0"/>
              <a:t>In a </a:t>
            </a:r>
            <a:r>
              <a:rPr kumimoji="0" lang="en-US" altLang="zh-CN" sz="2400" b="0" i="1" dirty="0"/>
              <a:t>deterministic</a:t>
            </a:r>
            <a:r>
              <a:rPr kumimoji="0" lang="en-US" altLang="zh-CN" sz="2400" b="0" dirty="0"/>
              <a:t> finite automaton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(DFA),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no two edges leaving from the same state</a:t>
            </a:r>
            <a:r>
              <a:rPr kumimoji="0" lang="en-US" altLang="zh-CN" sz="2400" b="0" dirty="0"/>
              <a:t> are labeled with the same symbol.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19800" y="821848"/>
            <a:ext cx="2628790" cy="175252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7" name="矩形 5017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1500" y="5330407"/>
            <a:ext cx="8001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In fact,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the machines</a:t>
            </a:r>
            <a:r>
              <a:rPr kumimoji="0" lang="en-US" altLang="zh-CN" sz="2400" b="0" dirty="0"/>
              <a:t> shown in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Figure 2.3</a:t>
            </a:r>
            <a:r>
              <a:rPr kumimoji="0" lang="en-US" altLang="zh-CN" sz="2400" b="0" dirty="0"/>
              <a:t> accept 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same</a:t>
            </a:r>
            <a:r>
              <a:rPr kumimoji="0" lang="en-US" altLang="zh-CN" sz="2400" b="0" dirty="0"/>
              <a:t> languages as the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regular expressions</a:t>
            </a:r>
            <a:r>
              <a:rPr kumimoji="0" lang="en-US" altLang="zh-CN" sz="2400" b="0" dirty="0"/>
              <a:t> of 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Figure 2.2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887192" y="987952"/>
            <a:ext cx="2705134" cy="19786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矩形 5017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5069" y="1219944"/>
            <a:ext cx="563876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For example</a:t>
            </a:r>
            <a:endParaRPr kumimoji="0" lang="en-US" altLang="zh-CN" sz="2400" dirty="0"/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Any string in the language recognized by automaton </a:t>
            </a:r>
            <a:r>
              <a:rPr kumimoji="0" lang="en-US" altLang="zh-CN" sz="2400" b="1" dirty="0"/>
              <a:t>ID must begin with a letter.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1" dirty="0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7200" y="3121660"/>
            <a:ext cx="791337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Any single letter leads to state 2, which is final; so a single-letter string is accepted.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/>
              <a:t>From state 2, any letter or digit leads back to state 2, so a letter followed by any number of letters and digits is also accepted.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3" name="矩形 5120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1000" y="990283"/>
            <a:ext cx="830580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800" b="0" dirty="0"/>
              <a:t>These are six separate automata; how can they be combined into a single machine that can serve as a lexical analyzer?    </a:t>
            </a:r>
            <a:r>
              <a:rPr kumimoji="0" lang="en-US" altLang="zh-CN" sz="2800" b="1" dirty="0"/>
              <a:t>Try ad hoc method first</a:t>
            </a:r>
            <a:endParaRPr kumimoji="0" lang="en-US" altLang="zh-CN" sz="28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800" dirty="0"/>
          </a:p>
        </p:txBody>
      </p:sp>
      <p:pic>
        <p:nvPicPr>
          <p:cNvPr id="4" name="图片 51205" descr="2-1-finite-automata-for-lexical-token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7467600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38915" name="图片 52228" descr="2-2-Combined-finite-automata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68"/>
            <a:ext cx="849630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矩形 5222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13000" y="5638936"/>
            <a:ext cx="442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dirty="0"/>
              <a:t>Figure 2.4: Combined finite automaton</a:t>
            </a:r>
            <a:r>
              <a:rPr kumimoji="0" lang="en-US" altLang="zh-CN" sz="1800" b="0" dirty="0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2100" y="6248326"/>
            <a:ext cx="6781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rgbClr val="FF3300"/>
                </a:solidFill>
              </a:rPr>
              <a:t>Labeling each final state</a:t>
            </a:r>
            <a:r>
              <a:rPr kumimoji="0" lang="en-US" altLang="zh-CN" sz="1800" b="0" dirty="0"/>
              <a:t> with the accepted token-type.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39938" name="矩形 64513"/>
          <p:cNvSpPr>
            <a:spLocks noChangeArrowheads="1"/>
          </p:cNvSpPr>
          <p:nvPr/>
        </p:nvSpPr>
        <p:spPr bwMode="auto">
          <a:xfrm>
            <a:off x="381000" y="1219200"/>
            <a:ext cx="8305800" cy="4669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i="1" dirty="0">
                <a:sym typeface="+mn-ea"/>
              </a:rPr>
              <a:t>How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rule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priority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is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implemented</a:t>
            </a:r>
            <a:r>
              <a:rPr lang="en-US" altLang="zh-CN" sz="2400" b="1" dirty="0">
                <a:sym typeface="+mn-ea"/>
              </a:rPr>
              <a:t>?</a:t>
            </a:r>
          </a:p>
        </p:txBody>
      </p:sp>
      <p:pic>
        <p:nvPicPr>
          <p:cNvPr id="3" name="图片 52228" descr="2-2-Combined-finite-automata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5" y="2514624"/>
            <a:ext cx="7429420" cy="3811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1205" descr="2-1-finite-automata-for-lexical-token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95" r="31633" b="57784"/>
          <a:stretch>
            <a:fillRect/>
          </a:stretch>
        </p:blipFill>
        <p:spPr bwMode="auto">
          <a:xfrm>
            <a:off x="6988139" y="1524050"/>
            <a:ext cx="2133642" cy="1523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1205" descr="2-1-finite-automata-for-lexical-token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08" r="68336" b="57784"/>
          <a:stretch>
            <a:fillRect/>
          </a:stretch>
        </p:blipFill>
        <p:spPr bwMode="auto">
          <a:xfrm>
            <a:off x="5410178" y="751566"/>
            <a:ext cx="2364566" cy="935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39938" name="矩形 64513"/>
          <p:cNvSpPr>
            <a:spLocks noChangeArrowheads="1"/>
          </p:cNvSpPr>
          <p:nvPr/>
        </p:nvSpPr>
        <p:spPr bwMode="auto">
          <a:xfrm>
            <a:off x="381000" y="1219200"/>
            <a:ext cx="8305800" cy="4669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i="1" dirty="0">
                <a:sym typeface="+mn-ea"/>
              </a:rPr>
              <a:t>How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rule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priority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is</a:t>
            </a:r>
            <a:r>
              <a:rPr lang="zh-CN" altLang="en-US" sz="2400" b="1" i="1" dirty="0">
                <a:sym typeface="+mn-ea"/>
              </a:rPr>
              <a:t> </a:t>
            </a:r>
            <a:r>
              <a:rPr lang="en-US" altLang="zh-CN" sz="2400" b="1" i="1" dirty="0">
                <a:sym typeface="+mn-ea"/>
              </a:rPr>
              <a:t>implemented</a:t>
            </a:r>
            <a:r>
              <a:rPr lang="en-US" altLang="zh-CN" sz="2400" b="1" dirty="0">
                <a:sym typeface="+mn-ea"/>
              </a:rPr>
              <a:t>?</a:t>
            </a:r>
            <a:endParaRPr kumimoji="0" lang="en-US" altLang="zh-CN" sz="2400" b="1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>
                <a:solidFill>
                  <a:srgbClr val="FF3300"/>
                </a:solidFill>
              </a:rPr>
              <a:t>State 2</a:t>
            </a:r>
            <a:r>
              <a:rPr kumimoji="0" lang="en-US" altLang="zh-CN" sz="2400" b="0" dirty="0">
                <a:solidFill>
                  <a:srgbClr val="FF3300"/>
                </a:solidFill>
              </a:rPr>
              <a:t> has aspects</a:t>
            </a:r>
            <a:r>
              <a:rPr kumimoji="0" lang="en-US" altLang="zh-CN" sz="2400" b="0" dirty="0"/>
              <a:t> of </a:t>
            </a:r>
            <a:r>
              <a:rPr kumimoji="0" lang="en-US" altLang="zh-CN" sz="2400" b="0" i="1" dirty="0"/>
              <a:t>state 2</a:t>
            </a:r>
            <a:r>
              <a:rPr kumimoji="0" lang="en-US" altLang="zh-CN" sz="2400" b="0" dirty="0"/>
              <a:t> of the IF machine and </a:t>
            </a:r>
            <a:r>
              <a:rPr kumimoji="0" lang="en-US" altLang="zh-CN" sz="2400" b="0" i="1" dirty="0"/>
              <a:t>state 2</a:t>
            </a:r>
            <a:r>
              <a:rPr kumimoji="0" lang="en-US" altLang="zh-CN" sz="2400" b="0" dirty="0"/>
              <a:t> of the ID machine; since the latter is final, then the combined state must be final.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State 3</a:t>
            </a:r>
            <a:r>
              <a:rPr kumimoji="0" lang="en-US" altLang="zh-CN" sz="2400" b="0" dirty="0"/>
              <a:t> is like </a:t>
            </a:r>
            <a:r>
              <a:rPr kumimoji="0" lang="en-US" altLang="zh-CN" sz="2400" b="0" i="1" dirty="0"/>
              <a:t>state 3</a:t>
            </a:r>
            <a:r>
              <a:rPr kumimoji="0" lang="en-US" altLang="zh-CN" sz="2400" b="0" dirty="0"/>
              <a:t> of the IF machine and </a:t>
            </a:r>
            <a:r>
              <a:rPr kumimoji="0" lang="en-US" altLang="zh-CN" sz="2400" b="0" i="1" dirty="0"/>
              <a:t>state 2</a:t>
            </a:r>
            <a:r>
              <a:rPr kumimoji="0" lang="en-US" altLang="zh-CN" sz="2400" b="0" dirty="0"/>
              <a:t> of the ID machine;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4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solidFill>
                  <a:srgbClr val="FF3300"/>
                </a:solidFill>
              </a:rPr>
              <a:t>To disambiguate both final</a:t>
            </a:r>
            <a:r>
              <a:rPr kumimoji="0" lang="en-US" altLang="zh-CN" sz="2400" b="0" dirty="0"/>
              <a:t> using </a:t>
            </a:r>
            <a:r>
              <a:rPr kumimoji="0" lang="en-US" altLang="zh-CN" sz="2400" b="0" i="1" dirty="0"/>
              <a:t>rule priority</a:t>
            </a:r>
            <a:r>
              <a:rPr kumimoji="0" lang="en-US" altLang="zh-CN" sz="2400" b="0" dirty="0"/>
              <a:t> to - labeling state 3 with IF because we want this token to be recognized as a reserved word, not an identifier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2660" y="1295400"/>
            <a:ext cx="7218680" cy="985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/>
            <a:r>
              <a:rPr kumimoji="1" lang="en-US" altLang="zh-CN" sz="2400" b="1" i="1" dirty="0"/>
              <a:t>We say DFA is easy to implement, but how</a:t>
            </a:r>
            <a:r>
              <a:rPr kumimoji="1" lang="zh-CN" altLang="en-US" sz="2400" b="1" i="1" dirty="0"/>
              <a:t>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6895" y="3124200"/>
            <a:ext cx="7994015" cy="4603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6" name="文本框 5"/>
          <p:cNvSpPr txBox="1"/>
          <p:nvPr/>
        </p:nvSpPr>
        <p:spPr>
          <a:xfrm>
            <a:off x="556895" y="4383405"/>
            <a:ext cx="7994015" cy="4603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9" name="下箭头 8"/>
          <p:cNvSpPr/>
          <p:nvPr/>
        </p:nvSpPr>
        <p:spPr>
          <a:xfrm>
            <a:off x="4392295" y="3705225"/>
            <a:ext cx="264795" cy="5302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79975" y="3780155"/>
            <a:ext cx="337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Table-Driven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Implementation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02055" y="5257800"/>
            <a:ext cx="68878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Hint: A DFA is like a graph; A </a:t>
            </a:r>
            <a:r>
              <a:rPr lang="en-US" altLang="zh-CN" sz="2000" dirty="0">
                <a:sym typeface="+mn-ea"/>
              </a:rPr>
              <a:t>matrix</a:t>
            </a:r>
            <a:r>
              <a:rPr lang="en-US" altLang="zh-CN" sz="2000" dirty="0"/>
              <a:t> can be used to describe how states transit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5868670" y="4214495"/>
            <a:ext cx="74930" cy="96710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40962" name="矩形 5325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7610" y="696838"/>
            <a:ext cx="7573645" cy="592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1" dirty="0"/>
              <a:t>Encoding this machine as a 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transition matrix</a:t>
            </a:r>
            <a:r>
              <a:rPr kumimoji="0" lang="en-US" altLang="zh-CN" sz="2000" b="0" dirty="0"/>
              <a:t>: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a two-dimensional array (a vector of vectors), subscripted by state number and input character.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There will be a "dead" state (</a:t>
            </a:r>
            <a:r>
              <a:rPr kumimoji="0" lang="en-US" altLang="zh-CN" sz="2000" b="1" dirty="0"/>
              <a:t>state 0</a:t>
            </a:r>
            <a:r>
              <a:rPr kumimoji="0" lang="en-US" altLang="zh-CN" sz="2000" b="0" dirty="0"/>
              <a:t>) that loops to itself on all characters; we use this to encode the absence of an edge.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int edges[][] = { 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...</a:t>
            </a:r>
            <a:r>
              <a:rPr kumimoji="0" lang="en-US" altLang="zh-CN" sz="9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0,1,2...</a:t>
            </a:r>
            <a:r>
              <a:rPr kumimoji="0" lang="en-US" altLang="zh-CN" sz="8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-...</a:t>
            </a:r>
            <a:r>
              <a:rPr kumimoji="0" lang="en-US" altLang="zh-CN" sz="8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e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kumimoji="0" lang="en-US" altLang="zh-CN" sz="28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 err="1">
                <a:solidFill>
                  <a:schemeClr val="bg1">
                    <a:lumMod val="65000"/>
                  </a:schemeClr>
                </a:solidFill>
              </a:rPr>
              <a:t>g,h</a:t>
            </a:r>
            <a:r>
              <a:rPr kumimoji="0" lang="en-US" altLang="zh-CN" sz="28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j... */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0 */    </a:t>
            </a:r>
            <a:r>
              <a:rPr kumimoji="0" lang="en-US" altLang="zh-CN" sz="1800" b="0" dirty="0"/>
              <a:t>{0,0,...0,0,0...0...0,0,0,0,0,0...},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1 */    </a:t>
            </a:r>
            <a:r>
              <a:rPr kumimoji="0" lang="en-US" altLang="zh-CN" sz="1800" b="0" dirty="0"/>
              <a:t>{0,0,...7,7,7...9...4,4,4,4,2,4...},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2 */    </a:t>
            </a:r>
            <a:r>
              <a:rPr kumimoji="0" lang="en-US" altLang="zh-CN" sz="1800" b="0" dirty="0"/>
              <a:t>{0,0,...4,4,4...0...4,3,4,4,4,4...},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3 */    </a:t>
            </a:r>
            <a:r>
              <a:rPr kumimoji="0" lang="en-US" altLang="zh-CN" sz="1800" b="0" dirty="0"/>
              <a:t>{0,0,...4,4,4...0...4,4,4,4,4,4...},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4 */    </a:t>
            </a:r>
            <a:r>
              <a:rPr kumimoji="0" lang="en-US" altLang="zh-CN" sz="1800" b="0" dirty="0"/>
              <a:t>{0,0,...4,4,4...0...4,4,4,4,4,4...},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5 */    </a:t>
            </a:r>
            <a:r>
              <a:rPr kumimoji="0" lang="en-US" altLang="zh-CN" sz="1800" b="0" dirty="0"/>
              <a:t>{0,0,...6,6,6...0...0,0,0,0,0,0...},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6 */    </a:t>
            </a:r>
            <a:r>
              <a:rPr kumimoji="0" lang="en-US" altLang="zh-CN" sz="1800" b="0" dirty="0"/>
              <a:t>{0,0,...6,6,6...0...0,0,0,0,0,0...},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7 */    </a:t>
            </a:r>
            <a:r>
              <a:rPr kumimoji="0" lang="en-US" altLang="zh-CN" sz="1800" b="0" dirty="0"/>
              <a:t>{0,0,...7,7,7...0...0,0,0,0,0,0...},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>
                <a:solidFill>
                  <a:schemeClr val="bg1">
                    <a:lumMod val="65000"/>
                  </a:schemeClr>
                </a:solidFill>
              </a:rPr>
              <a:t>/* state 8 */    </a:t>
            </a:r>
            <a:r>
              <a:rPr kumimoji="0" lang="en-US" altLang="zh-CN" sz="1800" b="0" dirty="0"/>
              <a:t>{0,0,...8,8,8...0...0,0,0,0,0,0...},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                        </a:t>
            </a:r>
            <a:r>
              <a:rPr kumimoji="0" lang="en-US" altLang="zh-CN" sz="1800" b="0" i="1" dirty="0"/>
              <a:t>et cetera</a:t>
            </a:r>
            <a:r>
              <a:rPr kumimoji="0" lang="en-US" altLang="zh-CN" sz="1800" b="0" dirty="0"/>
              <a:t>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kumimoji="0" lang="en-US" altLang="zh-CN" sz="1800" b="0" dirty="0"/>
              <a:t>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A </a:t>
            </a:r>
            <a:r>
              <a:rPr kumimoji="0" lang="en-US" altLang="zh-CN" sz="2400" b="1" dirty="0"/>
              <a:t>"finality" array</a:t>
            </a:r>
            <a:r>
              <a:rPr kumimoji="0" lang="en-US" altLang="zh-CN" sz="2000" b="0" dirty="0"/>
              <a:t>, mapping state numbers to actions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- final state 2 maps to action ID, and so on.</a:t>
            </a:r>
          </a:p>
        </p:txBody>
      </p:sp>
      <p:pic>
        <p:nvPicPr>
          <p:cNvPr id="3" name="图片 52228" descr="2-2-Combined-finite-automata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0" y="2971812"/>
            <a:ext cx="4020904" cy="2287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sp>
        <p:nvSpPr>
          <p:cNvPr id="4" name="矩形 54275"/>
          <p:cNvSpPr>
            <a:spLocks noChangeArrowheads="1"/>
          </p:cNvSpPr>
          <p:nvPr/>
        </p:nvSpPr>
        <p:spPr bwMode="auto">
          <a:xfrm>
            <a:off x="528955" y="1350635"/>
            <a:ext cx="8252460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dirty="0"/>
              <a:t>RECOGNIZING THE LONGEST MATCH </a:t>
            </a:r>
            <a:endParaRPr kumimoji="0" lang="en-US" altLang="zh-CN" sz="200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How to use this table to recognize whether to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accept or reject</a:t>
            </a:r>
            <a:r>
              <a:rPr kumimoji="0" lang="en-US" altLang="zh-CN" sz="2000" b="0" dirty="0"/>
              <a:t> a string? 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>
                <a:solidFill>
                  <a:srgbClr val="FF3300"/>
                </a:solidFill>
              </a:rPr>
              <a:t>The job of a lexical analyzer</a:t>
            </a:r>
            <a:r>
              <a:rPr kumimoji="0" lang="en-US" altLang="zh-CN" sz="2000" b="0" dirty="0"/>
              <a:t> is to find the longest match, the longest initial substring of the input that is a valid token.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0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0" dirty="0"/>
          </a:p>
          <a:p>
            <a:pPr eaLnBrk="1" hangingPunct="1">
              <a:spcBef>
                <a:spcPct val="0"/>
              </a:spcBef>
              <a:buNone/>
            </a:pPr>
            <a:r>
              <a:rPr kumimoji="0" lang="en-US" altLang="zh-CN" sz="2000" dirty="0"/>
              <a:t>The </a:t>
            </a:r>
            <a:r>
              <a:rPr kumimoji="0" lang="en-US" altLang="zh-CN" sz="2000" dirty="0" err="1"/>
              <a:t>lexer</a:t>
            </a:r>
            <a:r>
              <a:rPr kumimoji="0" lang="en-US" altLang="zh-CN" sz="2000" dirty="0"/>
              <a:t> must </a:t>
            </a:r>
            <a:r>
              <a:rPr kumimoji="0" lang="en-US" altLang="zh-CN" sz="2000" dirty="0">
                <a:solidFill>
                  <a:srgbClr val="FF3300"/>
                </a:solidFill>
              </a:rPr>
              <a:t>keep track </a:t>
            </a:r>
            <a:r>
              <a:rPr kumimoji="0" lang="en-US" altLang="zh-CN" sz="2000" b="0" dirty="0"/>
              <a:t>of the longest match, say with 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two variables: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>
                <a:solidFill>
                  <a:srgbClr val="FF3300"/>
                </a:solidFill>
              </a:rPr>
              <a:t>   </a:t>
            </a:r>
            <a:r>
              <a:rPr kumimoji="0" lang="en-US" altLang="zh-CN" sz="2000" b="1" dirty="0"/>
              <a:t>Last-Final</a:t>
            </a:r>
            <a:r>
              <a:rPr kumimoji="0" lang="en-US" altLang="zh-CN" sz="2000" b="0" dirty="0"/>
              <a:t> (the state number of the most recent final state)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   </a:t>
            </a:r>
            <a:r>
              <a:rPr kumimoji="0" lang="en-US" altLang="zh-CN" sz="2000" b="1" dirty="0"/>
              <a:t>Input-Position-at-Last-Final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1" dirty="0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1" dirty="0"/>
              <a:t>   </a:t>
            </a:r>
            <a:r>
              <a:rPr kumimoji="0" lang="en-US" altLang="zh-CN" sz="2000" b="0" dirty="0"/>
              <a:t>Every time a final state is entered, the </a:t>
            </a:r>
            <a:r>
              <a:rPr kumimoji="0" lang="en-US" altLang="zh-CN" sz="2000" b="0" dirty="0" err="1"/>
              <a:t>lexer</a:t>
            </a:r>
            <a:r>
              <a:rPr kumimoji="0" lang="en-US" altLang="zh-CN" sz="2000" b="0" dirty="0"/>
              <a:t> updates these variables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kumimoji="0" lang="en-US" altLang="zh-CN" sz="2000" b="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>
                <a:solidFill>
                  <a:srgbClr val="FF3300"/>
                </a:solidFill>
              </a:rPr>
              <a:t>A </a:t>
            </a:r>
            <a:r>
              <a:rPr kumimoji="0" lang="en-US" altLang="zh-CN" sz="2000" b="0" i="1" dirty="0">
                <a:solidFill>
                  <a:srgbClr val="FF3300"/>
                </a:solidFill>
              </a:rPr>
              <a:t>dead</a:t>
            </a:r>
            <a:r>
              <a:rPr kumimoji="0" lang="en-US" altLang="zh-CN" sz="2000" b="0" dirty="0">
                <a:solidFill>
                  <a:srgbClr val="FF3300"/>
                </a:solidFill>
              </a:rPr>
              <a:t> state</a:t>
            </a:r>
            <a:r>
              <a:rPr kumimoji="0" lang="en-US" altLang="zh-CN" sz="2000" b="0" dirty="0"/>
              <a:t> (a non-final state with no output transitions) is reached: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000" b="0" dirty="0"/>
              <a:t>the variables tell what token was matched</a:t>
            </a:r>
            <a:r>
              <a:rPr kumimoji="0" lang="zh-CN" altLang="en-US" sz="2000" b="0" dirty="0"/>
              <a:t> </a:t>
            </a:r>
            <a:r>
              <a:rPr kumimoji="0" lang="en-US" altLang="zh-CN" sz="2000" b="0" dirty="0"/>
              <a:t>and where it ended.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3" name="图片 52228" descr="2-2-Combined-finite-automata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1" y="761166"/>
            <a:ext cx="7117906" cy="365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5222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75106" y="2402854"/>
            <a:ext cx="13145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Figure 2.4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42949" y="4671364"/>
            <a:ext cx="7658102" cy="1892300"/>
            <a:chOff x="457200" y="4724366"/>
            <a:chExt cx="7658102" cy="1892300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457200" y="4724366"/>
              <a:ext cx="7658101" cy="6223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57202" y="5346666"/>
              <a:ext cx="7658100" cy="1270000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553148" y="5593239"/>
            <a:ext cx="2438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|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：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input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⊥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: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automaton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T: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last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final</a:t>
            </a:r>
            <a:endParaRPr kumimoji="1" lang="zh-CN" altLang="en-US" b="0" dirty="0">
              <a:solidFill>
                <a:srgbClr val="FF0000"/>
              </a:solidFill>
              <a:latin typeface="+mj-lt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3" name="图片 52228" descr="2-2-Combined-finite-automata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1" y="761166"/>
            <a:ext cx="7117906" cy="365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5222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75106" y="2402854"/>
            <a:ext cx="13145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Figure 2.4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68349" y="4800564"/>
            <a:ext cx="7607301" cy="1562100"/>
            <a:chOff x="685902" y="4724366"/>
            <a:chExt cx="7607301" cy="1562100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85903" y="4724366"/>
              <a:ext cx="7607300" cy="62230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85902" y="5346666"/>
              <a:ext cx="7607300" cy="939800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553148" y="4391602"/>
            <a:ext cx="2438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|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：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input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⊥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: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automaton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T: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last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final</a:t>
            </a:r>
            <a:endParaRPr kumimoji="1" lang="zh-CN" altLang="en-US" b="0" dirty="0">
              <a:solidFill>
                <a:srgbClr val="FF0000"/>
              </a:solidFill>
              <a:latin typeface="+mj-lt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3" name="图片 52228" descr="2-2-Combined-finite-automata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1" y="761166"/>
            <a:ext cx="7117906" cy="365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5222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75106" y="2402854"/>
            <a:ext cx="13145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Figure 2.4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770255" y="4413250"/>
            <a:ext cx="6693535" cy="2149475"/>
            <a:chOff x="914496" y="1735077"/>
            <a:chExt cx="7975156" cy="2792473"/>
          </a:xfrm>
        </p:grpSpPr>
        <p:sp>
          <p:nvSpPr>
            <p:cNvPr id="15" name="矩形 5222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575106" y="2168442"/>
              <a:ext cx="1314546" cy="838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kumimoji="0" lang="en-US" altLang="zh-CN" sz="1800" b="0" dirty="0"/>
                <a:t>Figure 2.4</a:t>
              </a:r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14497" y="1735077"/>
              <a:ext cx="7543800" cy="62230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914496" y="2330450"/>
              <a:ext cx="7543800" cy="2197100"/>
            </a:xfrm>
            <a:prstGeom prst="rect">
              <a:avLst/>
            </a:prstGeom>
          </p:spPr>
        </p:pic>
      </p:grp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5943600" y="5105400"/>
            <a:ext cx="2379345" cy="810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|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：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input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⊥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: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automaton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T: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last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final</a:t>
            </a:r>
            <a:endParaRPr kumimoji="1" lang="zh-CN" altLang="en-US" b="0" dirty="0">
              <a:solidFill>
                <a:srgbClr val="FF0000"/>
              </a:solidFill>
              <a:latin typeface="+mj-lt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3" name="图片 52228" descr="2-2-Combined-finite-automata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51" y="761166"/>
            <a:ext cx="7117906" cy="365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5222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75106" y="2402854"/>
            <a:ext cx="13145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0" dirty="0"/>
              <a:t>Figure 2.4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49280" y="4724366"/>
            <a:ext cx="7645440" cy="1608581"/>
            <a:chOff x="749260" y="4648168"/>
            <a:chExt cx="7645440" cy="1608581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49300" y="4648168"/>
              <a:ext cx="7645400" cy="63068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49260" y="5278849"/>
              <a:ext cx="7645400" cy="977900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248356" y="4472707"/>
            <a:ext cx="2438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|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：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input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⊥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: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automaton</a:t>
            </a:r>
            <a:r>
              <a:rPr kumimoji="1" lang="zh-CN" altLang="en-US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i="0" dirty="0">
                <a:solidFill>
                  <a:srgbClr val="FF0000"/>
                </a:solidFill>
                <a:effectLst/>
                <a:latin typeface="+mj-lt"/>
                <a:ea typeface="微软雅黑" panose="020B0503020204020204" charset="-122"/>
              </a:rPr>
              <a:t>position</a:t>
            </a:r>
          </a:p>
          <a:p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T: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last</a:t>
            </a:r>
            <a:r>
              <a:rPr kumimoji="1" lang="zh-CN" altLang="en-US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 </a:t>
            </a:r>
            <a:r>
              <a:rPr kumimoji="1" lang="en-US" altLang="zh-CN" b="0" dirty="0">
                <a:solidFill>
                  <a:srgbClr val="FF0000"/>
                </a:solidFill>
                <a:latin typeface="+mj-lt"/>
                <a:ea typeface="微软雅黑" panose="020B0503020204020204" charset="-122"/>
              </a:rPr>
              <a:t>final</a:t>
            </a:r>
            <a:endParaRPr kumimoji="1" lang="zh-CN" altLang="en-US" b="0" dirty="0">
              <a:solidFill>
                <a:srgbClr val="FF0000"/>
              </a:solidFill>
              <a:latin typeface="+mj-lt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/>
              <a:t>Finite Automata</a:t>
            </a:r>
          </a:p>
        </p:txBody>
      </p:sp>
      <p:pic>
        <p:nvPicPr>
          <p:cNvPr id="4" name="图片 55300" descr="2-3-recognize-longest-match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836930"/>
            <a:ext cx="6781800" cy="5192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530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6233795"/>
            <a:ext cx="7499350" cy="353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1800" b="1"/>
              <a:t>Figure 2.5: The automaton of Figure 2.4 recognizes several tokens.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 dirty="0"/>
              <a:t>The Workflow</a:t>
            </a: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87592" y="1031271"/>
            <a:ext cx="830569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Description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lexical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tokens</a:t>
            </a:r>
            <a:r>
              <a:rPr kumimoji="0" lang="zh-CN" altLang="en-US" sz="2400" b="0" dirty="0"/>
              <a:t> </a:t>
            </a:r>
            <a:endParaRPr kumimoji="0" lang="en-US" altLang="zh-CN" sz="2400" b="0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(in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natural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language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mind)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87592" y="2660276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Regular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Expression</a:t>
            </a:r>
            <a:endParaRPr kumimoji="0" lang="en-US" altLang="zh-CN" sz="2400" b="0" dirty="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87592" y="4677805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87592" y="5937478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9" name="下箭头 8"/>
          <p:cNvSpPr/>
          <p:nvPr>
            <p:custDataLst>
              <p:tags r:id="rId5"/>
            </p:custDataLst>
          </p:nvPr>
        </p:nvSpPr>
        <p:spPr>
          <a:xfrm>
            <a:off x="4430963" y="201128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下箭头 9"/>
          <p:cNvSpPr/>
          <p:nvPr>
            <p:custDataLst>
              <p:tags r:id="rId6"/>
            </p:custDataLst>
          </p:nvPr>
        </p:nvSpPr>
        <p:spPr>
          <a:xfrm>
            <a:off x="4430963" y="3353393"/>
            <a:ext cx="312553" cy="11758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下箭头 10"/>
          <p:cNvSpPr/>
          <p:nvPr>
            <p:custDataLst>
              <p:tags r:id="rId7"/>
            </p:custDataLst>
          </p:nvPr>
        </p:nvSpPr>
        <p:spPr>
          <a:xfrm>
            <a:off x="4449985" y="525876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4742945" y="5333950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/>
              <a:t>Table-Driven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Implementation</a:t>
            </a:r>
            <a:endParaRPr kumimoji="1" lang="zh-CN" altLang="en-US" b="0" dirty="0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742945" y="3695131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?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4742945" y="2031988"/>
            <a:ext cx="12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Manually</a:t>
            </a:r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65150" y="3474720"/>
            <a:ext cx="3780155" cy="850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C00000"/>
                </a:solidFill>
                <a:sym typeface="+mn-ea"/>
              </a:rPr>
              <a:t>manually</a:t>
            </a: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sym typeface="+mn-ea"/>
              </a:rPr>
              <a:t>construct DFA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from</a:t>
            </a:r>
            <a:r>
              <a:rPr lang="zh-CN" altLang="en-US" sz="2000" dirty="0">
                <a:sym typeface="+mn-ea"/>
              </a:rPr>
              <a:t> </a:t>
            </a:r>
            <a:r>
              <a:rPr lang="en-US" altLang="zh-CN" sz="2000" dirty="0">
                <a:sym typeface="+mn-ea"/>
              </a:rPr>
              <a:t>specifications is </a:t>
            </a:r>
            <a:r>
              <a:rPr lang="en-US" altLang="zh-CN" sz="2000" b="1" dirty="0">
                <a:sym typeface="+mn-ea"/>
              </a:rPr>
              <a:t>HARD</a:t>
            </a:r>
            <a:r>
              <a:rPr lang="en-US" altLang="zh-CN" sz="2000" dirty="0">
                <a:sym typeface="+mn-ea"/>
              </a:rPr>
              <a:t>, so how?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30530"/>
          </a:xfrm>
        </p:spPr>
        <p:txBody>
          <a:bodyPr/>
          <a:lstStyle/>
          <a:p>
            <a:r>
              <a:rPr lang="en-US" altLang="zh-CN" dirty="0"/>
              <a:t>The Workflow</a:t>
            </a:r>
          </a:p>
        </p:txBody>
      </p:sp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487592" y="1031271"/>
            <a:ext cx="830569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Description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lexical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tokens</a:t>
            </a:r>
            <a:r>
              <a:rPr kumimoji="0" lang="zh-CN" altLang="en-US" sz="2400" b="0" dirty="0"/>
              <a:t> </a:t>
            </a:r>
            <a:endParaRPr kumimoji="0" lang="en-US" altLang="zh-CN" sz="2400" b="0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(in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natural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language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mind)</a:t>
            </a:r>
          </a:p>
        </p:txBody>
      </p: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487592" y="2660276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Regular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Expression</a:t>
            </a:r>
            <a:endParaRPr kumimoji="0" lang="en-US" altLang="zh-CN" sz="2400" b="0" dirty="0"/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487592" y="4668280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487592" y="5917793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29" name="下箭头 28"/>
          <p:cNvSpPr/>
          <p:nvPr>
            <p:custDataLst>
              <p:tags r:id="rId5"/>
            </p:custDataLst>
          </p:nvPr>
        </p:nvSpPr>
        <p:spPr>
          <a:xfrm>
            <a:off x="4413805" y="201128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下箭头 29"/>
          <p:cNvSpPr/>
          <p:nvPr>
            <p:custDataLst>
              <p:tags r:id="rId6"/>
            </p:custDataLst>
          </p:nvPr>
        </p:nvSpPr>
        <p:spPr>
          <a:xfrm>
            <a:off x="4413805" y="3172620"/>
            <a:ext cx="312553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下箭头 30"/>
          <p:cNvSpPr/>
          <p:nvPr>
            <p:custDataLst>
              <p:tags r:id="rId7"/>
            </p:custDataLst>
          </p:nvPr>
        </p:nvSpPr>
        <p:spPr>
          <a:xfrm>
            <a:off x="4432827" y="525876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4742945" y="5333950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/>
              <a:t>Table-Driven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Implementation</a:t>
            </a:r>
            <a:endParaRPr kumimoji="1" lang="zh-CN" altLang="en-US" b="0" dirty="0"/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4742945" y="2031988"/>
            <a:ext cx="12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Manually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487592" y="3637242"/>
            <a:ext cx="8305690" cy="4603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Non-Deterministic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Finite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Automata</a:t>
            </a:r>
            <a:endParaRPr kumimoji="0" lang="en-US" altLang="zh-CN" sz="2400" b="1" dirty="0">
              <a:solidFill>
                <a:srgbClr val="C00000"/>
              </a:solidFill>
            </a:endParaRPr>
          </a:p>
        </p:txBody>
      </p:sp>
      <p:sp>
        <p:nvSpPr>
          <p:cNvPr id="35" name="下箭头 34"/>
          <p:cNvSpPr/>
          <p:nvPr>
            <p:custDataLst>
              <p:tags r:id="rId11"/>
            </p:custDataLst>
          </p:nvPr>
        </p:nvSpPr>
        <p:spPr>
          <a:xfrm>
            <a:off x="4413805" y="4152235"/>
            <a:ext cx="312553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819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895283"/>
            <a:ext cx="7772400" cy="676910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0"/>
              <a:t>2.</a:t>
            </a:r>
            <a:r>
              <a:rPr kumimoji="0" lang="en-US" altLang="zh-CN">
                <a:sym typeface="+mn-ea"/>
              </a:rPr>
              <a:t>4 Nondeterministic Finite Automata</a:t>
            </a:r>
            <a:r>
              <a:rPr kumimoji="0" lang="en-US" altLang="zh-CN" sz="4400" b="0"/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3" name="文本框 1126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54051"/>
            <a:ext cx="8153400" cy="190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6280" indent="-26543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A </a:t>
            </a:r>
            <a:r>
              <a:rPr kumimoji="0" lang="en-US" altLang="zh-CN" sz="2800" b="1" dirty="0">
                <a:solidFill>
                  <a:srgbClr val="CC3300"/>
                </a:solidFill>
              </a:rPr>
              <a:t>nondeterministic</a:t>
            </a:r>
            <a:r>
              <a:rPr kumimoji="0" lang="en-US" altLang="zh-CN" sz="2800" b="1" dirty="0"/>
              <a:t> finite automaton (NFA):</a:t>
            </a:r>
            <a:r>
              <a:rPr kumimoji="0" lang="en-US" altLang="zh-CN" sz="2800" dirty="0"/>
              <a:t>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>
                <a:solidFill>
                  <a:srgbClr val="CC3300"/>
                </a:solidFill>
              </a:rPr>
              <a:t>Have to choose</a:t>
            </a:r>
            <a:r>
              <a:rPr kumimoji="0" lang="en-US" altLang="zh-CN" sz="2400" b="0" dirty="0"/>
              <a:t> one from the edges (labeled with the same symbol) to follow out of a state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Have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special edges</a:t>
            </a:r>
            <a:r>
              <a:rPr kumimoji="0" lang="en-US" altLang="zh-CN" sz="2400" b="0" dirty="0"/>
              <a:t> labeled with ∊ </a:t>
            </a:r>
          </a:p>
        </p:txBody>
      </p:sp>
      <p:pic>
        <p:nvPicPr>
          <p:cNvPr id="4" name="图片 11317" descr="2-4-NFA-Example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2" y="3173099"/>
            <a:ext cx="72675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7350" descr="2-5-NFA-Example">
            <a:extLst>
              <a:ext uri="{FF2B5EF4-FFF2-40B4-BE49-F238E27FC236}">
                <a16:creationId xmlns:a16="http://schemas.microsoft.com/office/drawing/2014/main" id="{6EABAA98-FE78-1AA3-2779-B59F3A618467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2" y="4800564"/>
            <a:ext cx="738187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pic>
        <p:nvPicPr>
          <p:cNvPr id="5" name="图片 56325" descr="2-4-NFA-Example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13" y="859402"/>
            <a:ext cx="726757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6324"/>
          <p:cNvSpPr>
            <a:spLocks noChangeArrowheads="1"/>
          </p:cNvSpPr>
          <p:nvPr/>
        </p:nvSpPr>
        <p:spPr bwMode="auto">
          <a:xfrm>
            <a:off x="685776" y="3600961"/>
            <a:ext cx="8001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>
                <a:solidFill>
                  <a:srgbClr val="CC3300"/>
                </a:solidFill>
              </a:rPr>
              <a:t>How the NFA works </a:t>
            </a:r>
            <a:r>
              <a:rPr kumimoji="0" lang="en-US" altLang="zh-CN" sz="2400" b="0" dirty="0"/>
              <a:t>(</a:t>
            </a:r>
            <a:r>
              <a:rPr kumimoji="0" lang="en-US" altLang="zh-CN" sz="2400" dirty="0"/>
              <a:t>in the start state</a:t>
            </a:r>
            <a:r>
              <a:rPr kumimoji="0" lang="en-US" altLang="zh-CN" sz="2400" b="0" dirty="0"/>
              <a:t>)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?</a:t>
            </a:r>
            <a:endParaRPr kumimoji="0" lang="en-US" altLang="zh-CN" sz="2400" b="0" dirty="0"/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On character </a:t>
            </a:r>
            <a:r>
              <a:rPr kumimoji="0" lang="en-US" altLang="zh-CN" sz="2000" b="1" dirty="0"/>
              <a:t>a</a:t>
            </a:r>
            <a:r>
              <a:rPr kumimoji="0" lang="en-US" altLang="zh-CN" sz="2000" b="0" dirty="0"/>
              <a:t>, the automaton can move </a:t>
            </a:r>
            <a:r>
              <a:rPr kumimoji="0" lang="en-US" altLang="zh-CN" sz="2000" b="0" dirty="0">
                <a:solidFill>
                  <a:srgbClr val="CC3300"/>
                </a:solidFill>
              </a:rPr>
              <a:t>either </a:t>
            </a:r>
            <a:r>
              <a:rPr kumimoji="0" lang="en-US" altLang="zh-CN" sz="2000" b="1" dirty="0">
                <a:solidFill>
                  <a:srgbClr val="CC3300"/>
                </a:solidFill>
              </a:rPr>
              <a:t>left</a:t>
            </a:r>
            <a:r>
              <a:rPr kumimoji="0" lang="en-US" altLang="zh-CN" sz="2000" b="0" dirty="0">
                <a:solidFill>
                  <a:srgbClr val="CC3300"/>
                </a:solidFill>
              </a:rPr>
              <a:t> or </a:t>
            </a:r>
            <a:r>
              <a:rPr kumimoji="0" lang="en-US" altLang="zh-CN" sz="2000" b="1" dirty="0">
                <a:solidFill>
                  <a:srgbClr val="CC3300"/>
                </a:solidFill>
              </a:rPr>
              <a:t>right</a:t>
            </a:r>
            <a:r>
              <a:rPr kumimoji="0" lang="en-US" altLang="zh-CN" sz="2000" b="0" dirty="0"/>
              <a:t> 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In case of </a:t>
            </a:r>
            <a:r>
              <a:rPr kumimoji="0" lang="en-US" altLang="zh-CN" sz="2000" b="1" dirty="0">
                <a:solidFill>
                  <a:srgbClr val="CC3300"/>
                </a:solidFill>
              </a:rPr>
              <a:t>left</a:t>
            </a:r>
            <a:r>
              <a:rPr kumimoji="0" lang="en-US" altLang="zh-CN" sz="2000" dirty="0"/>
              <a:t>: </a:t>
            </a:r>
            <a:r>
              <a:rPr kumimoji="0" lang="en-US" altLang="zh-CN" sz="2000" b="0" dirty="0"/>
              <a:t>string length is a multiple of three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In case of </a:t>
            </a:r>
            <a:r>
              <a:rPr kumimoji="0" lang="en-US" altLang="zh-CN" sz="2000" b="1" dirty="0">
                <a:solidFill>
                  <a:srgbClr val="CC3300"/>
                </a:solidFill>
              </a:rPr>
              <a:t>right</a:t>
            </a:r>
            <a:r>
              <a:rPr kumimoji="0" lang="en-US" altLang="zh-CN" sz="2000" b="0" dirty="0"/>
              <a:t>: string length is even</a:t>
            </a:r>
            <a:endParaRPr kumimoji="0" lang="en-US" altLang="zh-CN" sz="2400" b="0" dirty="0"/>
          </a:p>
        </p:txBody>
      </p:sp>
      <p:sp>
        <p:nvSpPr>
          <p:cNvPr id="7" name="矩形 5632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776" y="2443124"/>
            <a:ext cx="7948612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0" dirty="0"/>
              <a:t>The language recognized by this NFA?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All strings containing a multiple of two or three </a:t>
            </a:r>
            <a:r>
              <a:rPr kumimoji="0" lang="en-US" altLang="zh-CN" sz="2400" b="1" dirty="0"/>
              <a:t>a</a:t>
            </a:r>
            <a:r>
              <a:rPr kumimoji="0" lang="en-US" altLang="zh-CN" sz="2400" b="0" dirty="0"/>
              <a:t>'s </a:t>
            </a:r>
          </a:p>
        </p:txBody>
      </p:sp>
      <p:sp>
        <p:nvSpPr>
          <p:cNvPr id="8" name="矩形 56327"/>
          <p:cNvSpPr>
            <a:spLocks noChangeArrowheads="1"/>
          </p:cNvSpPr>
          <p:nvPr/>
        </p:nvSpPr>
        <p:spPr bwMode="auto">
          <a:xfrm>
            <a:off x="838200" y="5168723"/>
            <a:ext cx="7467600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0" dirty="0"/>
              <a:t>On the first transition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This machine must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choose which way to go?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>
                <a:solidFill>
                  <a:srgbClr val="CC3300"/>
                </a:solidFill>
              </a:rPr>
              <a:t>Must “guess”!</a:t>
            </a:r>
            <a:r>
              <a:rPr kumimoji="0" lang="en-US" altLang="zh-CN" sz="2400" b="0" dirty="0"/>
              <a:t> And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always guess correctly!!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47107" name="矩形 5734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02740" y="3079804"/>
            <a:ext cx="487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0" dirty="0"/>
              <a:t>Edges labeled with ∊ may be taken without using up a symbol from the input. </a:t>
            </a:r>
          </a:p>
        </p:txBody>
      </p:sp>
      <p:sp>
        <p:nvSpPr>
          <p:cNvPr id="47108" name="矩形 57349"/>
          <p:cNvSpPr>
            <a:spLocks noChangeArrowheads="1"/>
          </p:cNvSpPr>
          <p:nvPr/>
        </p:nvSpPr>
        <p:spPr bwMode="auto">
          <a:xfrm>
            <a:off x="535940" y="4031615"/>
            <a:ext cx="80772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>
                <a:solidFill>
                  <a:srgbClr val="CC3300"/>
                </a:solidFill>
              </a:rPr>
              <a:t>The machine must choose which ∊-edge to take!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 b="0" dirty="0"/>
              <a:t>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A state with some ∊-edges and edges labeled by symbols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Follow the corresponding symbol-labeled edge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Or to follow an ∊-edge instead </a:t>
            </a:r>
          </a:p>
        </p:txBody>
      </p:sp>
      <p:pic>
        <p:nvPicPr>
          <p:cNvPr id="47109" name="图片 57350" descr="2-5-NFA-Example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54"/>
            <a:ext cx="738187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矩形 5735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5940" y="858203"/>
            <a:ext cx="80398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Here is another NFA that accepts the same language: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19154" y="1031271"/>
            <a:ext cx="8305690" cy="830997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Description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lexical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tokens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kumimoji="0" lang="en-US" altLang="zh-CN" sz="2400" b="0" dirty="0">
              <a:solidFill>
                <a:schemeClr val="bg1">
                  <a:lumMod val="65000"/>
                </a:schemeClr>
              </a:solidFill>
            </a:endParaRPr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(in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natural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language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or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in</a:t>
            </a:r>
            <a:r>
              <a:rPr kumimoji="0"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0" lang="en-US" altLang="zh-CN" sz="2400" b="0" dirty="0">
                <a:solidFill>
                  <a:schemeClr val="bg1">
                    <a:lumMod val="65000"/>
                  </a:schemeClr>
                </a:solidFill>
              </a:rPr>
              <a:t>mind)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19154" y="2660276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Regular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Expression</a:t>
            </a:r>
            <a:r>
              <a:rPr lang="zh-CN" altLang="en-US" sz="2400" b="0" dirty="0"/>
              <a:t> </a:t>
            </a:r>
            <a:r>
              <a:rPr lang="en-US" altLang="zh-CN" sz="2400" b="0" dirty="0">
                <a:solidFill>
                  <a:srgbClr val="CC3300"/>
                </a:solidFill>
              </a:rPr>
              <a:t>(Static,</a:t>
            </a:r>
            <a:r>
              <a:rPr lang="zh-CN" altLang="en-US" sz="2400" b="0" dirty="0">
                <a:solidFill>
                  <a:srgbClr val="CC3300"/>
                </a:solidFill>
              </a:rPr>
              <a:t> </a:t>
            </a:r>
            <a:r>
              <a:rPr lang="en-US" altLang="zh-CN" sz="2400" b="0" dirty="0">
                <a:solidFill>
                  <a:srgbClr val="CC3300"/>
                </a:solidFill>
              </a:rPr>
              <a:t>Declarative)</a:t>
            </a:r>
            <a:endParaRPr kumimoji="0" lang="en-US" altLang="zh-CN" sz="2400" b="0" dirty="0">
              <a:solidFill>
                <a:srgbClr val="CC33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19154" y="4677805"/>
            <a:ext cx="8305690" cy="46166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>
                <a:solidFill>
                  <a:schemeClr val="bg1">
                    <a:lumMod val="65000"/>
                  </a:schemeClr>
                </a:solidFill>
              </a:rPr>
              <a:t>Deterministic</a:t>
            </a:r>
            <a:r>
              <a:rPr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2400" b="0" dirty="0">
                <a:solidFill>
                  <a:schemeClr val="bg1">
                    <a:lumMod val="65000"/>
                  </a:schemeClr>
                </a:solidFill>
              </a:rPr>
              <a:t>Finite</a:t>
            </a:r>
            <a:r>
              <a:rPr lang="zh-CN" altLang="en-US" sz="2400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2400" b="0" dirty="0">
                <a:solidFill>
                  <a:schemeClr val="bg1">
                    <a:lumMod val="65000"/>
                  </a:schemeClr>
                </a:solidFill>
              </a:rPr>
              <a:t>Automata</a:t>
            </a:r>
            <a:endParaRPr kumimoji="0" lang="en-US" altLang="zh-CN" sz="24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19154" y="5937478"/>
            <a:ext cx="8305690" cy="46166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>
                <a:solidFill>
                  <a:schemeClr val="bg1">
                    <a:lumMod val="65000"/>
                  </a:schemeClr>
                </a:solidFill>
              </a:rPr>
              <a:t>Lexer</a:t>
            </a:r>
            <a:endParaRPr kumimoji="0" lang="en-US" altLang="zh-CN" sz="2400" b="0" dirty="0" err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下箭头 6"/>
          <p:cNvSpPr/>
          <p:nvPr>
            <p:custDataLst>
              <p:tags r:id="rId5"/>
            </p:custDataLst>
          </p:nvPr>
        </p:nvSpPr>
        <p:spPr>
          <a:xfrm>
            <a:off x="4413805" y="201128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下箭头 7"/>
          <p:cNvSpPr/>
          <p:nvPr>
            <p:custDataLst>
              <p:tags r:id="rId6"/>
            </p:custDataLst>
          </p:nvPr>
        </p:nvSpPr>
        <p:spPr>
          <a:xfrm>
            <a:off x="4413805" y="3172620"/>
            <a:ext cx="312553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下箭头 8"/>
          <p:cNvSpPr/>
          <p:nvPr>
            <p:custDataLst>
              <p:tags r:id="rId7"/>
            </p:custDataLst>
          </p:nvPr>
        </p:nvSpPr>
        <p:spPr>
          <a:xfrm>
            <a:off x="4432827" y="525876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724438" y="5333950"/>
            <a:ext cx="350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>
                <a:solidFill>
                  <a:schemeClr val="bg1">
                    <a:lumMod val="65000"/>
                  </a:schemeClr>
                </a:solidFill>
              </a:rPr>
              <a:t>Table-Driven</a:t>
            </a:r>
            <a:r>
              <a:rPr kumimoji="1" lang="zh-CN" altLang="en-US" b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1" lang="en-US" altLang="zh-CN" b="0" dirty="0">
                <a:solidFill>
                  <a:schemeClr val="bg1">
                    <a:lumMod val="65000"/>
                  </a:schemeClr>
                </a:solidFill>
              </a:rPr>
              <a:t>Implementation</a:t>
            </a: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724438" y="2031988"/>
            <a:ext cx="127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Manually</a:t>
            </a: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19154" y="3653117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NFA</a:t>
            </a:r>
            <a:r>
              <a:rPr lang="zh-CN" altLang="en-US" sz="2400" b="0" dirty="0"/>
              <a:t>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(</a:t>
            </a:r>
            <a:r>
              <a:rPr kumimoji="0" lang="en-US" altLang="zh-CN" sz="2400" b="0" dirty="0" err="1">
                <a:solidFill>
                  <a:srgbClr val="CC3300"/>
                </a:solidFill>
              </a:rPr>
              <a:t>simulatable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, quasi-executable)</a:t>
            </a:r>
            <a:endParaRPr kumimoji="0" lang="en-US" altLang="zh-CN" sz="2400" b="0" dirty="0"/>
          </a:p>
        </p:txBody>
      </p:sp>
      <p:sp>
        <p:nvSpPr>
          <p:cNvPr id="12" name="下箭头 11"/>
          <p:cNvSpPr/>
          <p:nvPr>
            <p:custDataLst>
              <p:tags r:id="rId11"/>
            </p:custDataLst>
          </p:nvPr>
        </p:nvSpPr>
        <p:spPr>
          <a:xfrm>
            <a:off x="4413805" y="4152235"/>
            <a:ext cx="312553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4800594" y="3210527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sym typeface="+mn-ea"/>
              </a:rPr>
              <a:t>Thompson's Construction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49154" name="矩形 58371"/>
          <p:cNvSpPr>
            <a:spLocks noChangeArrowheads="1"/>
          </p:cNvSpPr>
          <p:nvPr/>
        </p:nvSpPr>
        <p:spPr bwMode="auto">
          <a:xfrm>
            <a:off x="533400" y="2093437"/>
            <a:ext cx="8229600" cy="199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The conversion algorithm: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Turning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each regular expression</a:t>
            </a:r>
            <a:r>
              <a:rPr kumimoji="0" lang="en-US" altLang="zh-CN" sz="2400" b="0" dirty="0"/>
              <a:t> into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an NFA with a 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tail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 (start edge) and a 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head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 (ending state).</a:t>
            </a:r>
            <a:r>
              <a:rPr kumimoji="0" lang="en-US" altLang="zh-CN" sz="2400" b="0" dirty="0"/>
              <a:t>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Similar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regular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expressions,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the NFA will be primitive or made from smaller NFAs.</a:t>
            </a:r>
          </a:p>
        </p:txBody>
      </p:sp>
      <p:sp>
        <p:nvSpPr>
          <p:cNvPr id="49156" name="矩形 58374"/>
          <p:cNvSpPr>
            <a:spLocks noChangeAspect="1" noChangeArrowheads="1"/>
          </p:cNvSpPr>
          <p:nvPr/>
        </p:nvSpPr>
        <p:spPr bwMode="auto">
          <a:xfrm>
            <a:off x="3900488" y="3067050"/>
            <a:ext cx="13430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49157" name="矩形 58376"/>
          <p:cNvSpPr>
            <a:spLocks noChangeAspect="1" noChangeArrowheads="1"/>
          </p:cNvSpPr>
          <p:nvPr/>
        </p:nvSpPr>
        <p:spPr bwMode="auto">
          <a:xfrm>
            <a:off x="3900488" y="3067050"/>
            <a:ext cx="13430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49158" name="矩形 58378"/>
          <p:cNvSpPr>
            <a:spLocks noChangeAspect="1" noChangeArrowheads="1"/>
          </p:cNvSpPr>
          <p:nvPr/>
        </p:nvSpPr>
        <p:spPr bwMode="auto">
          <a:xfrm>
            <a:off x="3900488" y="3067050"/>
            <a:ext cx="13430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49159" name="矩形 58380"/>
          <p:cNvSpPr>
            <a:spLocks noChangeAspect="1" noChangeArrowheads="1"/>
          </p:cNvSpPr>
          <p:nvPr/>
        </p:nvSpPr>
        <p:spPr bwMode="auto">
          <a:xfrm>
            <a:off x="3900488" y="3067050"/>
            <a:ext cx="13430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49161" name="矩形 5838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42596"/>
            <a:ext cx="7924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HOW TO CONVERT A REGULAR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EXPRESSION TO AN NFA?</a:t>
            </a:r>
          </a:p>
        </p:txBody>
      </p:sp>
      <p:sp>
        <p:nvSpPr>
          <p:cNvPr id="15" name="矩形 59398"/>
          <p:cNvSpPr>
            <a:spLocks noChangeArrowheads="1"/>
          </p:cNvSpPr>
          <p:nvPr/>
        </p:nvSpPr>
        <p:spPr bwMode="auto">
          <a:xfrm>
            <a:off x="609600" y="4288463"/>
            <a:ext cx="80010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In general, any regular expression </a:t>
            </a:r>
            <a:r>
              <a:rPr kumimoji="0" lang="en-US" altLang="zh-CN" sz="2800" b="1" i="1" dirty="0"/>
              <a:t>M</a:t>
            </a:r>
            <a:r>
              <a:rPr kumimoji="0" lang="en-US" altLang="zh-CN" sz="2800" dirty="0"/>
              <a:t>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Some NFA with a tail and head:</a:t>
            </a:r>
            <a:r>
              <a:rPr kumimoji="0" lang="en-US" altLang="zh-CN" b="0" dirty="0"/>
              <a:t> </a:t>
            </a:r>
          </a:p>
        </p:txBody>
      </p:sp>
      <p:pic>
        <p:nvPicPr>
          <p:cNvPr id="16" name="图片 59399" descr="2-8-RE-TO-NFA-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5354002"/>
            <a:ext cx="43434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  <p:bldP spid="49156" grpId="0"/>
      <p:bldP spid="49157" grpId="0"/>
      <p:bldP spid="49158" grpId="0"/>
      <p:bldP spid="49159" grpId="0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51203" name="矩形 6042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81405" y="914400"/>
            <a:ext cx="707580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solidFill>
                  <a:srgbClr val="CC3300"/>
                </a:solidFill>
              </a:rPr>
              <a:t>The rules for translating</a:t>
            </a:r>
            <a:r>
              <a:rPr kumimoji="0" lang="en-US" altLang="zh-CN" sz="2400" b="1" dirty="0"/>
              <a:t> regular expressions to nondeterministic automata</a:t>
            </a:r>
          </a:p>
        </p:txBody>
      </p:sp>
      <p:pic>
        <p:nvPicPr>
          <p:cNvPr id="51204" name="图片 60423" descr="2-9-RE-TO-NFA-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5000"/>
            <a:ext cx="7239000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矩形 6042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0" y="6019007"/>
            <a:ext cx="61899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1" dirty="0"/>
              <a:t>Figure 2.6: Translation of regular expressions to NFAs.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828872" y="4343376"/>
            <a:ext cx="57021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/>
              <a:t>Figure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2.2</a:t>
            </a:r>
            <a:endParaRPr kumimoji="1" lang="zh-CN" altLang="en-US" b="1" dirty="0"/>
          </a:p>
        </p:txBody>
      </p:sp>
      <p:sp>
        <p:nvSpPr>
          <p:cNvPr id="3" name="矩形 4507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46324" y="2057436"/>
            <a:ext cx="5867246" cy="2115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if 				{return IF;}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[a-z][a-z0-9]* 		{return ID;}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[0-9]+ 				{return NUM;}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zh-CN" sz="2400" b="0" dirty="0">
                <a:latin typeface="Arial Unicode MS" panose="020B0604020202020204" pitchFamily="34" charset="-128"/>
              </a:rPr>
              <a:t>.</a:t>
            </a:r>
            <a:r>
              <a:rPr kumimoji="0" lang="en-US" altLang="zh-CN" sz="2400" b="0" i="1" dirty="0">
                <a:latin typeface="Arial Unicode MS" panose="020B0604020202020204" pitchFamily="34" charset="-128"/>
              </a:rPr>
              <a:t>				</a:t>
            </a:r>
            <a:r>
              <a:rPr kumimoji="0" lang="en-US" altLang="zh-CN" sz="2400" b="0" dirty="0">
                <a:latin typeface="Arial Unicode MS" panose="020B0604020202020204" pitchFamily="34" charset="-128"/>
              </a:rPr>
              <a:t>{error();} </a:t>
            </a:r>
            <a:endParaRPr kumimoji="0" lang="en-US" altLang="zh-CN" sz="2400" b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52227" name="矩形 6144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802799"/>
            <a:ext cx="8077200" cy="8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The result for the tokens IF, ID, NUM, and error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- </a:t>
            </a:r>
            <a:r>
              <a:rPr kumimoji="0" lang="en-US" altLang="zh-CN" sz="2400" b="0" dirty="0"/>
              <a:t>after some merging of equivalent NFA states </a:t>
            </a:r>
          </a:p>
        </p:txBody>
      </p:sp>
      <p:pic>
        <p:nvPicPr>
          <p:cNvPr id="52228" name="图片 61445" descr="2-10-RE-TO-NFA-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56" y="1828800"/>
            <a:ext cx="7422044" cy="2590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矩形 6144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19200" y="4647407"/>
            <a:ext cx="64858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1"/>
              <a:t>Figure 2.7: Four regular expressions translated to an NFA </a:t>
            </a:r>
          </a:p>
        </p:txBody>
      </p:sp>
      <p:sp>
        <p:nvSpPr>
          <p:cNvPr id="52230" name="矩形 6144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5237073"/>
            <a:ext cx="8229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>
                <a:solidFill>
                  <a:srgbClr val="CC3300"/>
                </a:solidFill>
              </a:rPr>
              <a:t>Each expression</a:t>
            </a:r>
            <a:r>
              <a:rPr kumimoji="0" lang="en-US" altLang="zh-CN" sz="2400" b="0" dirty="0"/>
              <a:t> is translated to an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NFA</a:t>
            </a:r>
            <a:r>
              <a:rPr kumimoji="0" lang="en-US" altLang="zh-CN" sz="2400" b="0" dirty="0"/>
              <a:t>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>
                <a:solidFill>
                  <a:srgbClr val="CC3300"/>
                </a:solidFill>
              </a:rPr>
              <a:t>The "head"</a:t>
            </a:r>
            <a:r>
              <a:rPr kumimoji="0" lang="en-US" altLang="zh-CN" sz="2400" b="0" dirty="0"/>
              <a:t> state marked final with a different token type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>
                <a:solidFill>
                  <a:srgbClr val="CC3300"/>
                </a:solidFill>
              </a:rPr>
              <a:t>The tails</a:t>
            </a:r>
            <a:r>
              <a:rPr kumimoji="0" lang="en-US" altLang="zh-CN" sz="2400" b="0" dirty="0"/>
              <a:t> of all the expressions joined to a new start node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3" name="矩形 62467"/>
          <p:cNvSpPr>
            <a:spLocks noChangeArrowheads="1"/>
          </p:cNvSpPr>
          <p:nvPr/>
        </p:nvSpPr>
        <p:spPr bwMode="auto">
          <a:xfrm>
            <a:off x="533400" y="1371600"/>
            <a:ext cx="8103870" cy="470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solidFill>
                  <a:srgbClr val="CC3300"/>
                </a:solidFill>
              </a:rPr>
              <a:t>  THE REASON FOR CONVERTING AN NFA TO A DFA</a:t>
            </a:r>
          </a:p>
          <a:p>
            <a:pPr algn="ctr">
              <a:spcBef>
                <a:spcPct val="0"/>
              </a:spcBef>
              <a:buFontTx/>
              <a:buNone/>
            </a:pPr>
            <a:endParaRPr kumimoji="0" lang="en-US" altLang="zh-CN" sz="1800" dirty="0"/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NFA is cool for regular expressions, and for you, but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not for your computer.</a:t>
            </a:r>
          </a:p>
          <a:p>
            <a:pPr lvl="1">
              <a:spcBef>
                <a:spcPct val="0"/>
              </a:spcBef>
              <a:buFontTx/>
              <a:buNone/>
            </a:pPr>
            <a:endParaRPr kumimoji="0" lang="en-US" altLang="zh-CN" sz="2400" dirty="0"/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When introducing NFA, we have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dirty="0">
                <a:sym typeface="+mn-ea"/>
              </a:rPr>
              <a:t>This machine must </a:t>
            </a:r>
            <a:r>
              <a:rPr kumimoji="0" lang="en-US" altLang="zh-CN" sz="2400" dirty="0">
                <a:solidFill>
                  <a:srgbClr val="CC3300"/>
                </a:solidFill>
                <a:sym typeface="+mn-ea"/>
              </a:rPr>
              <a:t>choose which way to go?</a:t>
            </a:r>
            <a:endParaRPr kumimoji="0" lang="en-US" altLang="zh-CN" sz="2400" b="0" dirty="0">
              <a:solidFill>
                <a:srgbClr val="CC3300"/>
              </a:solidFill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dirty="0">
                <a:solidFill>
                  <a:srgbClr val="CC3300"/>
                </a:solidFill>
              </a:rPr>
              <a:t>Must “guess”!</a:t>
            </a:r>
            <a:r>
              <a:rPr kumimoji="0" lang="en-US" altLang="zh-CN" sz="2400" dirty="0"/>
              <a:t> And </a:t>
            </a:r>
            <a:r>
              <a:rPr kumimoji="0" lang="en-US" altLang="zh-CN" sz="2400" dirty="0">
                <a:solidFill>
                  <a:srgbClr val="CC3300"/>
                </a:solidFill>
              </a:rPr>
              <a:t>always guess correctly!!</a:t>
            </a:r>
          </a:p>
          <a:p>
            <a:pPr lvl="1" indent="0">
              <a:spcBef>
                <a:spcPct val="0"/>
              </a:spcBef>
              <a:buFont typeface="Wingdings" panose="05000000000000000000" pitchFamily="2" charset="2"/>
              <a:buNone/>
            </a:pPr>
            <a:endParaRPr kumimoji="0" lang="en-US" altLang="zh-CN" sz="2400" b="0" dirty="0">
              <a:solidFill>
                <a:srgbClr val="CC3300"/>
              </a:solidFill>
            </a:endParaRPr>
          </a:p>
          <a:p>
            <a:pPr lvl="1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1" dirty="0">
                <a:solidFill>
                  <a:srgbClr val="CC3300"/>
                </a:solidFill>
              </a:rPr>
              <a:t>but it’s hard for a computer to guess right!</a:t>
            </a:r>
          </a:p>
          <a:p>
            <a:pPr lvl="1" indent="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1" dirty="0">
                <a:solidFill>
                  <a:schemeClr val="tx1"/>
                </a:solidFill>
              </a:rPr>
              <a:t>computer prefers deterministic programs like DFA</a:t>
            </a:r>
          </a:p>
          <a:p>
            <a:pPr lvl="1">
              <a:spcBef>
                <a:spcPct val="0"/>
              </a:spcBef>
              <a:buFontTx/>
              <a:buNone/>
            </a:pPr>
            <a:endParaRPr kumimoji="0" lang="en-US" altLang="zh-CN" sz="2400" dirty="0"/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 dirty="0"/>
              <a:t>The Workflow</a:t>
            </a:r>
          </a:p>
        </p:txBody>
      </p:sp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487592" y="1031271"/>
            <a:ext cx="830569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Description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lexical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tokens</a:t>
            </a:r>
            <a:r>
              <a:rPr kumimoji="0" lang="zh-CN" altLang="en-US" sz="2400" b="0" dirty="0"/>
              <a:t> </a:t>
            </a:r>
            <a:endParaRPr kumimoji="0" lang="en-US" altLang="zh-CN" sz="2400" b="0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kumimoji="0" lang="en-US" altLang="zh-CN" sz="2400" b="0" dirty="0"/>
              <a:t>(in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natural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language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in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mind)</a:t>
            </a: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87592" y="2544071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Regular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Expression</a:t>
            </a:r>
            <a:endParaRPr kumimoji="0" lang="en-US" altLang="zh-CN" sz="2400" b="0" dirty="0"/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487592" y="4740670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87592" y="5937478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 err="1"/>
              <a:t>Lexer</a:t>
            </a:r>
            <a:endParaRPr kumimoji="0" lang="en-US" altLang="zh-CN" sz="2400" b="0" dirty="0"/>
          </a:p>
        </p:txBody>
      </p:sp>
      <p:sp>
        <p:nvSpPr>
          <p:cNvPr id="21" name="下箭头 20"/>
          <p:cNvSpPr/>
          <p:nvPr>
            <p:custDataLst>
              <p:tags r:id="rId5"/>
            </p:custDataLst>
          </p:nvPr>
        </p:nvSpPr>
        <p:spPr>
          <a:xfrm>
            <a:off x="4413805" y="1943970"/>
            <a:ext cx="312553" cy="5329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下箭头 21"/>
          <p:cNvSpPr/>
          <p:nvPr>
            <p:custDataLst>
              <p:tags r:id="rId6"/>
            </p:custDataLst>
          </p:nvPr>
        </p:nvSpPr>
        <p:spPr>
          <a:xfrm>
            <a:off x="4413805" y="3091340"/>
            <a:ext cx="312553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下箭头 22"/>
          <p:cNvSpPr/>
          <p:nvPr>
            <p:custDataLst>
              <p:tags r:id="rId7"/>
            </p:custDataLst>
          </p:nvPr>
        </p:nvSpPr>
        <p:spPr>
          <a:xfrm>
            <a:off x="4432827" y="5333697"/>
            <a:ext cx="274508" cy="5301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4743488" y="5333950"/>
            <a:ext cx="35051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Table-Driven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Implementation</a:t>
            </a:r>
            <a:endParaRPr kumimoji="1" lang="zh-CN" altLang="en-US" b="1" dirty="0"/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4743488" y="1981188"/>
            <a:ext cx="1276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Manually</a:t>
            </a: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487592" y="3656927"/>
            <a:ext cx="830569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400" b="0" dirty="0"/>
              <a:t>Non-Deterministic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Finite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Automata</a:t>
            </a:r>
            <a:endParaRPr kumimoji="0" lang="en-US" altLang="zh-CN" sz="2400" b="0" dirty="0"/>
          </a:p>
        </p:txBody>
      </p:sp>
      <p:sp>
        <p:nvSpPr>
          <p:cNvPr id="27" name="下箭头 26"/>
          <p:cNvSpPr/>
          <p:nvPr>
            <p:custDataLst>
              <p:tags r:id="rId11"/>
            </p:custDataLst>
          </p:nvPr>
        </p:nvSpPr>
        <p:spPr>
          <a:xfrm>
            <a:off x="4413805" y="4190970"/>
            <a:ext cx="312553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4743488" y="31032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ym typeface="+mn-ea"/>
              </a:rPr>
              <a:t>Thompson's Construction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3"/>
            </p:custDataLst>
          </p:nvPr>
        </p:nvSpPr>
        <p:spPr>
          <a:xfrm>
            <a:off x="4726358" y="4237739"/>
            <a:ext cx="449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solidFill>
                  <a:srgbClr val="C00000"/>
                </a:solidFill>
              </a:rPr>
              <a:t>Subset Construction, DFA Minimization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33" name="矩形 6451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871654"/>
            <a:ext cx="781494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Avoid guesses by trying every possibility at once.</a:t>
            </a:r>
          </a:p>
          <a:p>
            <a:pPr>
              <a:spcBef>
                <a:spcPct val="0"/>
              </a:spcBef>
              <a:buNone/>
            </a:pPr>
            <a:r>
              <a:rPr kumimoji="0" lang="en-US" altLang="zh-CN" sz="2400" dirty="0"/>
              <a:t>For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example,</a:t>
            </a:r>
            <a:r>
              <a:rPr kumimoji="0" lang="zh-CN" altLang="en-US" sz="2400" dirty="0"/>
              <a:t> </a:t>
            </a:r>
            <a:r>
              <a:rPr kumimoji="0" lang="en-US" altLang="zh-CN" sz="2400" dirty="0"/>
              <a:t>simulating </a:t>
            </a:r>
            <a:r>
              <a:rPr kumimoji="0" lang="en-US" altLang="zh-CN" sz="2400" b="0" dirty="0"/>
              <a:t>the NFA on input string</a:t>
            </a:r>
            <a:r>
              <a:rPr kumimoji="0" lang="zh-CN" altLang="en-US" sz="2400" b="0" dirty="0"/>
              <a:t> </a:t>
            </a:r>
            <a:r>
              <a:rPr kumimoji="0" lang="en-US" altLang="zh-CN" sz="2400" dirty="0">
                <a:solidFill>
                  <a:srgbClr val="C00000"/>
                </a:solidFill>
              </a:rPr>
              <a:t>in</a:t>
            </a:r>
            <a:endParaRPr kumimoji="0" lang="en-US" altLang="zh-CN" sz="2400" dirty="0"/>
          </a:p>
        </p:txBody>
      </p:sp>
      <p:pic>
        <p:nvPicPr>
          <p:cNvPr id="35" name="图片 64519" descr="2-10-RE-TO-NFA-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04" y="2093922"/>
            <a:ext cx="74676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圆角矩形 35"/>
          <p:cNvSpPr/>
          <p:nvPr>
            <p:custDataLst>
              <p:tags r:id="rId3"/>
            </p:custDataLst>
          </p:nvPr>
        </p:nvSpPr>
        <p:spPr>
          <a:xfrm>
            <a:off x="990692" y="3286296"/>
            <a:ext cx="380990" cy="38099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圆角矩形 36"/>
          <p:cNvSpPr/>
          <p:nvPr>
            <p:custDataLst>
              <p:tags r:id="rId4"/>
            </p:custDataLst>
          </p:nvPr>
        </p:nvSpPr>
        <p:spPr>
          <a:xfrm>
            <a:off x="3733820" y="2524316"/>
            <a:ext cx="380990" cy="38099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圆角矩形 37"/>
          <p:cNvSpPr/>
          <p:nvPr>
            <p:custDataLst>
              <p:tags r:id="rId5"/>
            </p:custDataLst>
          </p:nvPr>
        </p:nvSpPr>
        <p:spPr>
          <a:xfrm>
            <a:off x="3711903" y="3952695"/>
            <a:ext cx="380990" cy="38099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圆角矩形 38"/>
          <p:cNvSpPr/>
          <p:nvPr>
            <p:custDataLst>
              <p:tags r:id="rId6"/>
            </p:custDataLst>
          </p:nvPr>
        </p:nvSpPr>
        <p:spPr>
          <a:xfrm>
            <a:off x="1310732" y="4132070"/>
            <a:ext cx="380990" cy="380990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457310" y="5101718"/>
            <a:ext cx="739120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/>
              <a:t>c</a:t>
            </a:r>
            <a:r>
              <a:rPr kumimoji="0" lang="en-US" altLang="zh-CN" sz="2400" b="0" dirty="0"/>
              <a:t>losure(</a:t>
            </a:r>
            <a:r>
              <a:rPr kumimoji="0" lang="en-US" altLang="zh-CN" sz="2400" b="0" dirty="0">
                <a:solidFill>
                  <a:srgbClr val="0070C0"/>
                </a:solidFill>
              </a:rPr>
              <a:t>{1}</a:t>
            </a:r>
            <a:r>
              <a:rPr kumimoji="0" lang="en-US" altLang="zh-CN" sz="2400" b="0" dirty="0"/>
              <a:t>)</a:t>
            </a:r>
            <a:r>
              <a:rPr kumimoji="0" lang="zh-CN" altLang="en-US" sz="2400" b="0" dirty="0"/>
              <a:t> </a:t>
            </a:r>
            <a:r>
              <a:rPr lang="en-US" altLang="zh-CN" sz="2400" b="0" dirty="0"/>
              <a:t>=</a:t>
            </a:r>
            <a:r>
              <a:rPr lang="zh-CN" altLang="en-US" sz="2400" b="0" dirty="0"/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{1, 4, 9, 14}</a:t>
            </a:r>
            <a:r>
              <a:rPr lang="zh-CN" altLang="en-US" sz="2400" b="0" dirty="0">
                <a:solidFill>
                  <a:srgbClr val="0070C0"/>
                </a:solidFill>
              </a:rPr>
              <a:t>         </a:t>
            </a:r>
            <a:r>
              <a:rPr lang="en-US" altLang="zh-CN" sz="2400" b="0" dirty="0"/>
              <a:t>//</a:t>
            </a:r>
            <a:r>
              <a:rPr kumimoji="0" lang="en-US" altLang="zh-CN" sz="2400" b="0" dirty="0"/>
              <a:t> ∊-</a:t>
            </a:r>
            <a:r>
              <a:rPr kumimoji="0" lang="en-US" altLang="zh-CN" sz="2400" b="0" i="1" dirty="0"/>
              <a:t>closure</a:t>
            </a:r>
            <a:r>
              <a:rPr kumimoji="0" lang="en-US" altLang="zh-CN" sz="2400" b="0" dirty="0"/>
              <a:t> of </a:t>
            </a:r>
            <a:r>
              <a:rPr kumimoji="0" lang="en-US" altLang="zh-CN" sz="2400" b="0" dirty="0">
                <a:solidFill>
                  <a:srgbClr val="0070C0"/>
                </a:solidFill>
              </a:rPr>
              <a:t>{1}</a:t>
            </a:r>
            <a:endParaRPr kumimoji="1" lang="zh-CN" altLang="en-US" sz="2400" dirty="0"/>
          </a:p>
        </p:txBody>
      </p:sp>
      <p:sp>
        <p:nvSpPr>
          <p:cNvPr id="41" name="圆角矩形 40"/>
          <p:cNvSpPr/>
          <p:nvPr>
            <p:custDataLst>
              <p:tags r:id="rId8"/>
            </p:custDataLst>
          </p:nvPr>
        </p:nvSpPr>
        <p:spPr>
          <a:xfrm>
            <a:off x="1531705" y="2281852"/>
            <a:ext cx="380990" cy="380990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圆角矩形 41"/>
          <p:cNvSpPr/>
          <p:nvPr>
            <p:custDataLst>
              <p:tags r:id="rId9"/>
            </p:custDataLst>
          </p:nvPr>
        </p:nvSpPr>
        <p:spPr>
          <a:xfrm>
            <a:off x="4766404" y="2524316"/>
            <a:ext cx="380990" cy="380990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圆角矩形 42"/>
          <p:cNvSpPr/>
          <p:nvPr>
            <p:custDataLst>
              <p:tags r:id="rId10"/>
            </p:custDataLst>
          </p:nvPr>
        </p:nvSpPr>
        <p:spPr>
          <a:xfrm>
            <a:off x="2537423" y="4140070"/>
            <a:ext cx="380990" cy="380990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457310" y="5576359"/>
            <a:ext cx="8457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 err="1"/>
              <a:t>DFAedge</a:t>
            </a:r>
            <a:r>
              <a:rPr lang="en-US" altLang="zh-CN" sz="2400" b="0" dirty="0"/>
              <a:t>(</a:t>
            </a:r>
            <a:r>
              <a:rPr lang="en-US" altLang="zh-CN" sz="2400" b="0" dirty="0">
                <a:solidFill>
                  <a:srgbClr val="0070C0"/>
                </a:solidFill>
              </a:rPr>
              <a:t>{1, 4, 9, 14}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 </a:t>
            </a:r>
            <a:r>
              <a:rPr lang="en-US" altLang="zh-CN" sz="2400" dirty="0" err="1">
                <a:solidFill>
                  <a:srgbClr val="C00000"/>
                </a:solidFill>
              </a:rPr>
              <a:t>i</a:t>
            </a:r>
            <a:r>
              <a:rPr lang="en-US" altLang="zh-CN" sz="2400" b="0" dirty="0"/>
              <a:t>)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=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closure(</a:t>
            </a:r>
            <a:r>
              <a:rPr lang="en-US" altLang="zh-CN" sz="2400" b="0" dirty="0">
                <a:solidFill>
                  <a:srgbClr val="0070C0"/>
                </a:solidFill>
              </a:rPr>
              <a:t>{2, 5, 15}</a:t>
            </a:r>
            <a:r>
              <a:rPr lang="en-US" altLang="zh-CN" sz="2400" b="0" dirty="0"/>
              <a:t>)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=</a:t>
            </a:r>
            <a:r>
              <a:rPr lang="zh-CN" altLang="en-US" sz="2400" b="0" dirty="0"/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{2,</a:t>
            </a:r>
            <a:r>
              <a:rPr lang="zh-CN" altLang="en-US" sz="2400" b="0" dirty="0">
                <a:solidFill>
                  <a:srgbClr val="0070C0"/>
                </a:solidFill>
              </a:rPr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5,</a:t>
            </a:r>
            <a:r>
              <a:rPr lang="zh-CN" altLang="en-US" sz="2400" b="0" dirty="0">
                <a:solidFill>
                  <a:srgbClr val="0070C0"/>
                </a:solidFill>
              </a:rPr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6,</a:t>
            </a:r>
            <a:r>
              <a:rPr lang="zh-CN" altLang="en-US" sz="2400" b="0" dirty="0">
                <a:solidFill>
                  <a:srgbClr val="0070C0"/>
                </a:solidFill>
              </a:rPr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8,</a:t>
            </a:r>
            <a:r>
              <a:rPr lang="zh-CN" altLang="en-US" sz="2400" b="0" dirty="0">
                <a:solidFill>
                  <a:srgbClr val="0070C0"/>
                </a:solidFill>
              </a:rPr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15}</a:t>
            </a:r>
            <a:endParaRPr kumimoji="1"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45" name="圆角矩形 44"/>
          <p:cNvSpPr/>
          <p:nvPr>
            <p:custDataLst>
              <p:tags r:id="rId12"/>
            </p:custDataLst>
          </p:nvPr>
        </p:nvSpPr>
        <p:spPr>
          <a:xfrm>
            <a:off x="7459895" y="2479028"/>
            <a:ext cx="380990" cy="380990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圆角矩形 45"/>
          <p:cNvSpPr/>
          <p:nvPr>
            <p:custDataLst>
              <p:tags r:id="rId13"/>
            </p:custDataLst>
          </p:nvPr>
        </p:nvSpPr>
        <p:spPr>
          <a:xfrm>
            <a:off x="5554945" y="2494695"/>
            <a:ext cx="380990" cy="380990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圆角矩形 46"/>
          <p:cNvSpPr/>
          <p:nvPr>
            <p:custDataLst>
              <p:tags r:id="rId14"/>
            </p:custDataLst>
          </p:nvPr>
        </p:nvSpPr>
        <p:spPr>
          <a:xfrm>
            <a:off x="6633417" y="2483265"/>
            <a:ext cx="380990" cy="380990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8" name="圆角矩形 47"/>
          <p:cNvSpPr/>
          <p:nvPr>
            <p:custDataLst>
              <p:tags r:id="rId15"/>
            </p:custDataLst>
          </p:nvPr>
        </p:nvSpPr>
        <p:spPr>
          <a:xfrm>
            <a:off x="5486374" y="2433841"/>
            <a:ext cx="512334" cy="465508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圆角矩形 48"/>
          <p:cNvSpPr/>
          <p:nvPr>
            <p:custDataLst>
              <p:tags r:id="rId16"/>
            </p:custDataLst>
          </p:nvPr>
        </p:nvSpPr>
        <p:spPr>
          <a:xfrm>
            <a:off x="7405867" y="2436769"/>
            <a:ext cx="512334" cy="465508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文本框 49"/>
          <p:cNvSpPr txBox="1"/>
          <p:nvPr>
            <p:custDataLst>
              <p:tags r:id="rId17"/>
            </p:custDataLst>
          </p:nvPr>
        </p:nvSpPr>
        <p:spPr>
          <a:xfrm>
            <a:off x="457310" y="6038024"/>
            <a:ext cx="76883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 err="1"/>
              <a:t>DFAedge</a:t>
            </a:r>
            <a:r>
              <a:rPr lang="en-US" altLang="zh-CN" sz="2400" b="0" dirty="0"/>
              <a:t>(</a:t>
            </a:r>
            <a:r>
              <a:rPr lang="en-US" altLang="zh-CN" sz="2400" b="0" dirty="0">
                <a:solidFill>
                  <a:srgbClr val="0070C0"/>
                </a:solidFill>
              </a:rPr>
              <a:t>{2, 5, 6, 8, 15}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n</a:t>
            </a:r>
            <a:r>
              <a:rPr lang="en-US" altLang="zh-CN" sz="2400" b="0" dirty="0"/>
              <a:t>)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=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closure(</a:t>
            </a:r>
            <a:r>
              <a:rPr lang="en-US" altLang="zh-CN" sz="2400" b="0" dirty="0">
                <a:solidFill>
                  <a:srgbClr val="0070C0"/>
                </a:solidFill>
              </a:rPr>
              <a:t>{7}</a:t>
            </a:r>
            <a:r>
              <a:rPr lang="en-US" altLang="zh-CN" sz="2400" b="0" dirty="0"/>
              <a:t>)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=</a:t>
            </a:r>
            <a:r>
              <a:rPr lang="zh-CN" altLang="en-US" sz="2400" b="0" dirty="0"/>
              <a:t> </a:t>
            </a:r>
            <a:r>
              <a:rPr lang="en-US" altLang="zh-CN" sz="2400" b="0" dirty="0">
                <a:solidFill>
                  <a:srgbClr val="0070C0"/>
                </a:solidFill>
              </a:rPr>
              <a:t>{6, 7, 8}</a:t>
            </a:r>
            <a:endParaRPr kumimoji="1"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51" name="上箭头 50"/>
          <p:cNvSpPr/>
          <p:nvPr>
            <p:custDataLst>
              <p:tags r:id="rId18"/>
            </p:custDataLst>
          </p:nvPr>
        </p:nvSpPr>
        <p:spPr>
          <a:xfrm rot="7522549" flipH="1">
            <a:off x="7955089" y="2840523"/>
            <a:ext cx="208941" cy="1824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/>
          <p:cNvSpPr txBox="1"/>
          <p:nvPr>
            <p:custDataLst>
              <p:tags r:id="rId19"/>
            </p:custDataLst>
          </p:nvPr>
        </p:nvSpPr>
        <p:spPr>
          <a:xfrm>
            <a:off x="8069676" y="2803751"/>
            <a:ext cx="931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0" dirty="0"/>
              <a:t>accept</a:t>
            </a:r>
            <a:r>
              <a:rPr kumimoji="1" lang="zh-CN" altLang="en-US" b="0" dirty="0"/>
              <a:t> </a:t>
            </a:r>
            <a:r>
              <a:rPr kumimoji="1" lang="en-US" altLang="zh-CN" dirty="0">
                <a:solidFill>
                  <a:srgbClr val="CC3300"/>
                </a:solidFill>
              </a:rPr>
              <a:t>in</a:t>
            </a:r>
            <a:endParaRPr kumimoji="1" lang="zh-CN" altLang="en-US" dirty="0">
              <a:solidFill>
                <a:srgbClr val="CC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37" grpId="0" bldLvl="0" animBg="1"/>
      <p:bldP spid="38" grpId="0" bldLvl="0" animBg="1"/>
      <p:bldP spid="39" grpId="0" bldLvl="0" animBg="1"/>
      <p:bldP spid="40" grpId="0"/>
      <p:bldP spid="41" grpId="0" bldLvl="0" animBg="1"/>
      <p:bldP spid="42" grpId="0" bldLvl="0" animBg="1"/>
      <p:bldP spid="43" grpId="0" bldLvl="0" animBg="1"/>
      <p:bldP spid="44" grpId="0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/>
      <p:bldP spid="51" grpId="0" bldLvl="0" animBg="1"/>
      <p:bldP spid="5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3" name="矩形 6349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704" y="1177791"/>
            <a:ext cx="8534296" cy="2563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Starting in state 1</a:t>
            </a:r>
            <a:endParaRPr kumimoji="0" lang="en-US" altLang="zh-CN" sz="2000" b="0" dirty="0"/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Instead of guessing which ∊-transition to take, the NFA might take any of them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It is in one of the states {1, 4, 9, 14};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0" dirty="0"/>
              <a:t>That is, we compute the ∊-</a:t>
            </a:r>
            <a:r>
              <a:rPr kumimoji="0" lang="en-US" altLang="zh-CN" sz="2000" b="0" i="1" dirty="0"/>
              <a:t>closure</a:t>
            </a:r>
            <a:r>
              <a:rPr kumimoji="0" lang="en-US" altLang="zh-CN" sz="2000" b="0" dirty="0"/>
              <a:t> of {1}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No other states reachable without eating the first </a:t>
            </a:r>
            <a:r>
              <a:rPr kumimoji="0" lang="en-US" altLang="zh-CN" sz="2400" dirty="0"/>
              <a:t>character</a:t>
            </a:r>
          </a:p>
        </p:txBody>
      </p:sp>
      <p:pic>
        <p:nvPicPr>
          <p:cNvPr id="4" name="图片 63493" descr="2-10-RE-TO-NFA-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62400"/>
            <a:ext cx="74676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5" name="矩形 7577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838200"/>
            <a:ext cx="8305800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0" dirty="0"/>
              <a:t>Making the transition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on the character </a:t>
            </a:r>
            <a:r>
              <a:rPr kumimoji="0" lang="en-US" altLang="zh-CN" sz="2400" b="0" dirty="0" err="1">
                <a:solidFill>
                  <a:srgbClr val="CC3300"/>
                </a:solidFill>
              </a:rPr>
              <a:t>i</a:t>
            </a:r>
            <a:endParaRPr kumimoji="0" lang="en-US" altLang="zh-CN" sz="2400" b="0" dirty="0">
              <a:solidFill>
                <a:srgbClr val="CC3300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From state 1 to reach 2; from 4 to 5, from 9 to nowhere, and from 14 to 15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So  the set {2, 5, 15}.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Again compute the ∊-closure: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From 5 there is an ∊-transition to 8 and From 8 to 6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So the NFA in one of the states {2, 5, 6, 8, 15}.</a:t>
            </a:r>
          </a:p>
        </p:txBody>
      </p:sp>
      <p:pic>
        <p:nvPicPr>
          <p:cNvPr id="6" name="图片 75779" descr="2-10-RE-TO-NFA-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267200"/>
            <a:ext cx="7467600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3" name="矩形 7680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914400"/>
            <a:ext cx="83058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On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the character n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Get from state 6 to 7, from 2 to nowhere, from 5 to nowhere, from 8 to nowhere, and from 15 to nowhere. 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So the set {7}; its ∊-closure is {6, 7, 8}.</a:t>
            </a:r>
          </a:p>
        </p:txBody>
      </p:sp>
      <p:pic>
        <p:nvPicPr>
          <p:cNvPr id="4" name="图片 76803" descr="2-10-RE-TO-NFA-5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52800"/>
            <a:ext cx="74676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58371" name="矩形 6554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909411"/>
            <a:ext cx="8153400" cy="2981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dirty="0">
                <a:solidFill>
                  <a:srgbClr val="CC3300"/>
                </a:solidFill>
              </a:rPr>
              <a:t>Formally define ∊-closure</a:t>
            </a:r>
            <a:r>
              <a:rPr kumimoji="0" lang="en-US" altLang="zh-CN" sz="2800" dirty="0"/>
              <a:t> as follows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b="0" dirty="0">
                <a:solidFill>
                  <a:srgbClr val="CC3300"/>
                </a:solidFill>
              </a:rPr>
              <a:t>edge(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s, c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): </a:t>
            </a:r>
            <a:r>
              <a:rPr kumimoji="0" lang="en-US" altLang="zh-CN" sz="2400" b="0" dirty="0"/>
              <a:t>the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set of </a:t>
            </a:r>
            <a:r>
              <a:rPr kumimoji="0" lang="en-US" altLang="zh-CN" sz="2400" dirty="0"/>
              <a:t>all NFA states </a:t>
            </a:r>
            <a:r>
              <a:rPr kumimoji="0" lang="en-US" altLang="zh-CN" sz="2400" b="0" dirty="0"/>
              <a:t>reachable by following a single </a:t>
            </a:r>
            <a:r>
              <a:rPr kumimoji="0" lang="en-US" altLang="zh-CN" sz="2400" dirty="0"/>
              <a:t>edge with label </a:t>
            </a:r>
            <a:r>
              <a:rPr kumimoji="0" lang="en-US" altLang="zh-CN" sz="2400" i="1" dirty="0"/>
              <a:t>c</a:t>
            </a:r>
            <a:r>
              <a:rPr kumimoji="0" lang="en-US" altLang="zh-CN" sz="2400" dirty="0"/>
              <a:t> </a:t>
            </a:r>
            <a:r>
              <a:rPr kumimoji="0" lang="en-US" altLang="zh-CN" sz="2400" b="0" dirty="0"/>
              <a:t>from </a:t>
            </a:r>
            <a:r>
              <a:rPr kumimoji="0" lang="en-US" altLang="zh-CN" sz="2400" dirty="0"/>
              <a:t>state </a:t>
            </a:r>
            <a:r>
              <a:rPr kumimoji="0" lang="en-US" altLang="zh-CN" sz="2400" i="1" dirty="0"/>
              <a:t>s</a:t>
            </a:r>
            <a:r>
              <a:rPr kumimoji="0" lang="en-US" altLang="zh-CN" sz="2400" b="0" dirty="0"/>
              <a:t>.</a:t>
            </a:r>
          </a:p>
          <a:p>
            <a:pPr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endParaRPr kumimoji="0" lang="en-US" altLang="zh-CN" sz="2400" b="0" dirty="0"/>
          </a:p>
          <a:p>
            <a:pPr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zh-CN" sz="2400" b="0" dirty="0"/>
              <a:t>For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a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set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of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states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S,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closure(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S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)</a:t>
            </a:r>
            <a:r>
              <a:rPr kumimoji="0" lang="en-US" altLang="zh-CN" sz="2400" b="0" dirty="0"/>
              <a:t> is the set of states that can be reached from a state in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dirty="0"/>
              <a:t> without consuming any of the input, that is, by going only through ∊-edges. </a:t>
            </a:r>
          </a:p>
        </p:txBody>
      </p:sp>
      <p:sp>
        <p:nvSpPr>
          <p:cNvPr id="58373" name="矩形 6554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4191000"/>
            <a:ext cx="830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dirty="0"/>
              <a:t>Mathematically, </a:t>
            </a:r>
            <a:r>
              <a:rPr kumimoji="0" lang="en-US" altLang="zh-CN" sz="2400" dirty="0">
                <a:solidFill>
                  <a:srgbClr val="CC3300"/>
                </a:solidFill>
              </a:rPr>
              <a:t>closure(</a:t>
            </a:r>
            <a:r>
              <a:rPr kumimoji="0" lang="en-US" altLang="zh-CN" sz="2400" i="1" dirty="0">
                <a:solidFill>
                  <a:srgbClr val="CC3300"/>
                </a:solidFill>
              </a:rPr>
              <a:t>S</a:t>
            </a:r>
            <a:r>
              <a:rPr kumimoji="0" lang="en-US" altLang="zh-CN" sz="2400" dirty="0">
                <a:solidFill>
                  <a:srgbClr val="CC3300"/>
                </a:solidFill>
              </a:rPr>
              <a:t>) is the smallest set </a:t>
            </a:r>
            <a:r>
              <a:rPr kumimoji="0" lang="en-US" altLang="zh-CN" sz="2400" i="1" dirty="0">
                <a:solidFill>
                  <a:srgbClr val="CC3300"/>
                </a:solidFill>
              </a:rPr>
              <a:t>T</a:t>
            </a:r>
            <a:r>
              <a:rPr kumimoji="0" lang="en-US" altLang="zh-CN" sz="2400" dirty="0"/>
              <a:t> such that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38456" y="5021997"/>
            <a:ext cx="3310533" cy="98332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6" name="矩形 7885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1458595"/>
            <a:ext cx="4175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0" dirty="0"/>
              <a:t>Calculating </a:t>
            </a:r>
            <a:r>
              <a:rPr kumimoji="0" lang="en-US" altLang="zh-CN" sz="2800" b="0" i="1" dirty="0"/>
              <a:t>T</a:t>
            </a:r>
            <a:r>
              <a:rPr kumimoji="0" lang="en-US" altLang="zh-CN" sz="2800" b="0" dirty="0"/>
              <a:t> by iteration</a:t>
            </a:r>
            <a:r>
              <a:rPr kumimoji="0" lang="en-US" altLang="zh-CN" sz="2000" b="0" dirty="0"/>
              <a:t> </a:t>
            </a:r>
          </a:p>
        </p:txBody>
      </p:sp>
      <p:sp>
        <p:nvSpPr>
          <p:cNvPr id="7" name="矩形 7885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4033520"/>
            <a:ext cx="807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/>
              <a:t>The algorithm must terminate</a:t>
            </a:r>
            <a:r>
              <a:rPr kumimoji="0" lang="zh-CN" altLang="en-US" sz="2800" dirty="0"/>
              <a:t>：</a:t>
            </a:r>
            <a:endParaRPr kumimoji="0" lang="en-US" altLang="zh-CN" sz="2800" dirty="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76955" y="2208378"/>
            <a:ext cx="5110740" cy="1660529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33400" y="4618295"/>
            <a:ext cx="8077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(1)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 can only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grow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before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termination.</a:t>
            </a:r>
          </a:p>
          <a:p>
            <a:r>
              <a:rPr kumimoji="0" lang="en-US" altLang="zh-CN" sz="2400" b="0" dirty="0"/>
              <a:t>(</a:t>
            </a:r>
            <a:r>
              <a:rPr lang="en-US" altLang="zh-CN" sz="2400" b="0" dirty="0"/>
              <a:t>2) There are only </a:t>
            </a:r>
            <a:r>
              <a:rPr lang="en-US" altLang="zh-CN" sz="2400" b="0" dirty="0">
                <a:solidFill>
                  <a:srgbClr val="CC3300"/>
                </a:solidFill>
              </a:rPr>
              <a:t>a finite number of distinct states</a:t>
            </a:r>
            <a:r>
              <a:rPr lang="en-US" altLang="zh-CN" sz="2400" b="0" dirty="0"/>
              <a:t> in the NFA.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T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can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be</a:t>
            </a:r>
            <a:r>
              <a:rPr lang="zh-CN" altLang="en-US" sz="2400" b="0" dirty="0"/>
              <a:t> </a:t>
            </a: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most</a:t>
            </a:r>
            <a:r>
              <a:rPr lang="zh-CN" altLang="en-US" sz="2400" dirty="0"/>
              <a:t> </a:t>
            </a:r>
            <a:r>
              <a:rPr lang="en-US" altLang="zh-CN" sz="2400" b="0" dirty="0"/>
              <a:t>the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set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of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all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the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NFA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states.</a:t>
            </a:r>
            <a:r>
              <a:rPr lang="zh-CN" altLang="en-US" sz="2400" b="0" dirty="0"/>
              <a:t> </a:t>
            </a:r>
            <a:endParaRPr lang="en-US" altLang="zh-CN" sz="2400" b="0" dirty="0"/>
          </a:p>
          <a:p>
            <a:pPr>
              <a:spcBef>
                <a:spcPct val="0"/>
              </a:spcBef>
              <a:buNone/>
            </a:pPr>
            <a:endParaRPr kumimoji="0"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10" name="矩形 6656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762000"/>
            <a:ext cx="7848600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1200" indent="-2540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dirty="0"/>
              <a:t>Simulating an NFA as described above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Suppose a set </a:t>
            </a:r>
            <a:r>
              <a:rPr kumimoji="0" lang="en-US" altLang="zh-CN" sz="2400" b="0" i="1" dirty="0"/>
              <a:t>d</a:t>
            </a:r>
            <a:r>
              <a:rPr kumimoji="0" lang="en-US" altLang="zh-CN" sz="2400" b="0" dirty="0"/>
              <a:t> = {</a:t>
            </a:r>
            <a:r>
              <a:rPr kumimoji="0" lang="en-US" altLang="zh-CN" sz="2400" b="0" i="1" dirty="0" err="1"/>
              <a:t>s</a:t>
            </a:r>
            <a:r>
              <a:rPr kumimoji="0" lang="en-US" altLang="zh-CN" sz="2400" b="0" i="1" baseline="-30000" dirty="0" err="1"/>
              <a:t>i</a:t>
            </a:r>
            <a:r>
              <a:rPr kumimoji="0" lang="en-US" altLang="zh-CN" sz="2400" b="0" i="1" dirty="0"/>
              <a:t>; </a:t>
            </a:r>
            <a:r>
              <a:rPr kumimoji="0" lang="en-US" altLang="zh-CN" sz="2400" b="0" i="1" dirty="0" err="1"/>
              <a:t>s</a:t>
            </a:r>
            <a:r>
              <a:rPr kumimoji="0" lang="en-US" altLang="zh-CN" sz="2400" b="0" i="1" baseline="-30000" dirty="0" err="1"/>
              <a:t>k</a:t>
            </a:r>
            <a:r>
              <a:rPr kumimoji="0" lang="en-US" altLang="zh-CN" sz="2400" b="0" i="1" dirty="0"/>
              <a:t>; </a:t>
            </a:r>
            <a:r>
              <a:rPr kumimoji="0" lang="en-US" altLang="zh-CN" sz="2400" b="0" i="1" dirty="0" err="1"/>
              <a:t>s</a:t>
            </a:r>
            <a:r>
              <a:rPr kumimoji="0" lang="en-US" altLang="zh-CN" sz="2400" b="0" i="1" baseline="-30000" dirty="0" err="1"/>
              <a:t>l</a:t>
            </a:r>
            <a:r>
              <a:rPr kumimoji="0" lang="en-US" altLang="zh-CN" sz="2400" b="0" dirty="0"/>
              <a:t>} of NFA states </a:t>
            </a:r>
            <a:r>
              <a:rPr kumimoji="0" lang="en-US" altLang="zh-CN" sz="2400" b="0" i="1" dirty="0" err="1"/>
              <a:t>s</a:t>
            </a:r>
            <a:r>
              <a:rPr kumimoji="0" lang="en-US" altLang="zh-CN" sz="2400" b="0" i="1" baseline="-30000" dirty="0" err="1"/>
              <a:t>i</a:t>
            </a:r>
            <a:r>
              <a:rPr kumimoji="0" lang="en-US" altLang="zh-CN" sz="2400" b="0" i="1" dirty="0"/>
              <a:t> ; </a:t>
            </a:r>
            <a:r>
              <a:rPr kumimoji="0" lang="en-US" altLang="zh-CN" sz="2400" b="0" i="1" dirty="0" err="1"/>
              <a:t>s</a:t>
            </a:r>
            <a:r>
              <a:rPr kumimoji="0" lang="en-US" altLang="zh-CN" sz="2400" b="0" i="1" baseline="-30000" dirty="0" err="1"/>
              <a:t>k</a:t>
            </a:r>
            <a:r>
              <a:rPr kumimoji="0" lang="en-US" altLang="zh-CN" sz="2400" b="0" i="1" dirty="0"/>
              <a:t>; s</a:t>
            </a:r>
            <a:r>
              <a:rPr kumimoji="0" lang="en-US" altLang="zh-CN" sz="2400" b="0" i="1" baseline="-30000" dirty="0"/>
              <a:t>l</a:t>
            </a:r>
            <a:r>
              <a:rPr kumimoji="0" lang="en-US" altLang="zh-CN" sz="2400" b="0" dirty="0"/>
              <a:t>.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Starting in </a:t>
            </a:r>
            <a:r>
              <a:rPr kumimoji="0" lang="en-US" altLang="zh-CN" sz="2400" b="0" i="1" dirty="0"/>
              <a:t>d</a:t>
            </a:r>
            <a:r>
              <a:rPr kumimoji="0" lang="en-US" altLang="zh-CN" sz="2400" b="0" dirty="0"/>
              <a:t> and eating the input symbol </a:t>
            </a:r>
            <a:r>
              <a:rPr kumimoji="0" lang="en-US" altLang="zh-CN" sz="2400" b="0" i="1" dirty="0"/>
              <a:t>c</a:t>
            </a:r>
            <a:endParaRPr kumimoji="0" lang="en-US" altLang="zh-CN" sz="2400" b="0" dirty="0"/>
          </a:p>
          <a:p>
            <a:pPr lvl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Reaching a new set of NFA states called 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set </a:t>
            </a:r>
            <a:r>
              <a:rPr kumimoji="0" lang="en-US" altLang="zh-CN" sz="2400" b="0" dirty="0" err="1">
                <a:solidFill>
                  <a:srgbClr val="CC3300"/>
                </a:solidFill>
              </a:rPr>
              <a:t>DFAedge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(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d; c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)</a:t>
            </a:r>
          </a:p>
        </p:txBody>
      </p:sp>
      <p:sp>
        <p:nvSpPr>
          <p:cNvPr id="11" name="矩形 6657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3961360"/>
            <a:ext cx="8305686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Writing the NFA simulation algorithm more formally via </a:t>
            </a:r>
            <a:r>
              <a:rPr kumimoji="0" lang="en-US" altLang="zh-CN" sz="2400" b="0" dirty="0" err="1"/>
              <a:t>DFAedge</a:t>
            </a:r>
            <a:endParaRPr kumimoji="0" lang="en-US" altLang="zh-CN" sz="2400" b="0" dirty="0"/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200" b="0" dirty="0"/>
              <a:t>If</a:t>
            </a:r>
            <a:r>
              <a:rPr kumimoji="0" lang="zh-CN" altLang="en-US" sz="2200" b="0" dirty="0"/>
              <a:t> </a:t>
            </a:r>
            <a:r>
              <a:rPr kumimoji="0" lang="en-US" altLang="zh-CN" sz="2200" b="0" dirty="0"/>
              <a:t>the start state of the NFA is </a:t>
            </a:r>
            <a:r>
              <a:rPr kumimoji="0" lang="en-US" altLang="zh-CN" sz="2200" b="0" i="1" dirty="0"/>
              <a:t>s</a:t>
            </a:r>
            <a:r>
              <a:rPr kumimoji="0" lang="en-US" altLang="zh-CN" sz="2200" b="0" dirty="0"/>
              <a:t>1, the input string is </a:t>
            </a:r>
            <a:r>
              <a:rPr kumimoji="0" lang="en-US" altLang="zh-CN" sz="2200" b="0" i="1" dirty="0"/>
              <a:t>c</a:t>
            </a:r>
            <a:r>
              <a:rPr kumimoji="0" lang="en-US" altLang="zh-CN" sz="2200" b="0" dirty="0"/>
              <a:t>1,…, </a:t>
            </a:r>
            <a:r>
              <a:rPr kumimoji="0" lang="en-US" altLang="zh-CN" sz="2200" b="0" i="1" dirty="0"/>
              <a:t>ck</a:t>
            </a:r>
            <a:endParaRPr kumimoji="0" lang="en-US" altLang="zh-CN" sz="2200" b="0" dirty="0"/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200" b="0" dirty="0"/>
              <a:t>The algorithm is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23225" y="3142299"/>
            <a:ext cx="4882317" cy="71485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66138" y="5555890"/>
            <a:ext cx="2590732" cy="93211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3581418" y="5620962"/>
            <a:ext cx="518146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 dirty="0">
                <a:solidFill>
                  <a:srgbClr val="CC3300"/>
                </a:solidFill>
              </a:rPr>
              <a:t>Manipulating sets of states is expensive</a:t>
            </a:r>
            <a:r>
              <a:rPr kumimoji="0" lang="zh-CN" altLang="en-US" sz="1800" b="0" dirty="0">
                <a:solidFill>
                  <a:srgbClr val="CC3300"/>
                </a:solidFill>
              </a:rPr>
              <a:t>：</a:t>
            </a:r>
            <a:endParaRPr kumimoji="0" lang="en-US" altLang="zh-CN" sz="1800" b="0" dirty="0">
              <a:solidFill>
                <a:srgbClr val="CC3300"/>
              </a:solidFill>
            </a:endParaRPr>
          </a:p>
          <a:p>
            <a:r>
              <a:rPr kumimoji="0" lang="en-US" altLang="zh-CN" sz="1600" b="0" dirty="0"/>
              <a:t>-</a:t>
            </a:r>
            <a:r>
              <a:rPr kumimoji="0" lang="zh-CN" altLang="en-US" sz="1600" b="0" dirty="0"/>
              <a:t> </a:t>
            </a:r>
            <a:r>
              <a:rPr kumimoji="0" lang="en-US" altLang="zh-CN" sz="1600" b="0" dirty="0"/>
              <a:t>Costly to do on every character in the source program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600" b="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61443" name="矩形 6759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929"/>
            <a:ext cx="838188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/>
              <a:t>Do all the sets-of-states calculations in advance.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400" b="0" dirty="0">
              <a:solidFill>
                <a:srgbClr val="CC33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0" dirty="0">
                <a:solidFill>
                  <a:srgbClr val="CC3300"/>
                </a:solidFill>
              </a:rPr>
              <a:t>Making a DFA from the NFA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Each set of NFA states corresponds to one DFA state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The NFA has a finite number </a:t>
            </a:r>
            <a:r>
              <a:rPr kumimoji="0" lang="en-US" altLang="zh-CN" sz="2400" b="0" i="1" dirty="0"/>
              <a:t>n</a:t>
            </a:r>
            <a:r>
              <a:rPr kumimoji="0" lang="en-US" altLang="zh-CN" sz="2400" b="0" dirty="0"/>
              <a:t> of states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The DFA will have a finite number (at most 2</a:t>
            </a:r>
            <a:r>
              <a:rPr kumimoji="0" lang="en-US" altLang="zh-CN" sz="2400" b="0" i="1" baseline="30000" dirty="0"/>
              <a:t>n</a:t>
            </a:r>
            <a:r>
              <a:rPr kumimoji="0" lang="en-US" altLang="zh-CN" sz="2400" b="0" dirty="0"/>
              <a:t>) of states.</a:t>
            </a:r>
          </a:p>
        </p:txBody>
      </p:sp>
      <p:sp>
        <p:nvSpPr>
          <p:cNvPr id="61444" name="矩形 67592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3957638" y="2971165"/>
            <a:ext cx="1381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61445" name="矩形 67594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3957638" y="2971165"/>
            <a:ext cx="1381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61446" name="矩形 6759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4191000"/>
            <a:ext cx="815340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DFA construction with closure and </a:t>
            </a:r>
            <a:r>
              <a:rPr kumimoji="0" lang="en-US" altLang="zh-CN" sz="2400" b="0" dirty="0" err="1"/>
              <a:t>DFAedge</a:t>
            </a:r>
            <a:r>
              <a:rPr kumimoji="0" lang="en-US" altLang="zh-CN" sz="2400" b="0" dirty="0"/>
              <a:t> algorithms. 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The DFA </a:t>
            </a:r>
            <a:r>
              <a:rPr kumimoji="0" lang="en-US" altLang="zh-CN" sz="2400" b="1" dirty="0"/>
              <a:t>start</a:t>
            </a:r>
            <a:r>
              <a:rPr kumimoji="0" lang="en-US" altLang="zh-CN" sz="2400" b="0" dirty="0"/>
              <a:t> state </a:t>
            </a:r>
            <a:r>
              <a:rPr kumimoji="0" lang="en-US" altLang="zh-CN" sz="2400" b="0" i="1" dirty="0"/>
              <a:t>d</a:t>
            </a:r>
            <a:r>
              <a:rPr kumimoji="0" lang="en-US" altLang="zh-CN" sz="2400" b="0" dirty="0"/>
              <a:t>1 is just </a:t>
            </a:r>
            <a:r>
              <a:rPr kumimoji="0" lang="en-US" altLang="zh-CN" sz="2400" b="1" dirty="0"/>
              <a:t>closure(</a:t>
            </a:r>
            <a:r>
              <a:rPr kumimoji="0" lang="en-US" altLang="zh-CN" sz="2400" b="1" i="1" dirty="0"/>
              <a:t>s</a:t>
            </a:r>
            <a:r>
              <a:rPr kumimoji="0" lang="en-US" altLang="zh-CN" sz="2400" b="1" dirty="0"/>
              <a:t>1)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There is an edge from </a:t>
            </a:r>
            <a:r>
              <a:rPr kumimoji="0" lang="en-US" altLang="zh-CN" sz="2400" b="1" i="1" dirty="0"/>
              <a:t>di</a:t>
            </a:r>
            <a:r>
              <a:rPr kumimoji="0" lang="en-US" altLang="zh-CN" sz="2400" b="1" dirty="0"/>
              <a:t> to </a:t>
            </a:r>
            <a:r>
              <a:rPr kumimoji="0" lang="en-US" altLang="zh-CN" sz="2400" b="1" i="1" dirty="0" err="1"/>
              <a:t>dj</a:t>
            </a:r>
            <a:r>
              <a:rPr kumimoji="0" lang="en-US" altLang="zh-CN" sz="2400" b="1" dirty="0"/>
              <a:t> </a:t>
            </a:r>
            <a:r>
              <a:rPr kumimoji="0" lang="en-US" altLang="zh-CN" sz="2400" b="0" dirty="0"/>
              <a:t>labeled with </a:t>
            </a:r>
            <a:r>
              <a:rPr kumimoji="0" lang="en-US" altLang="zh-CN" sz="2400" b="0" i="1" dirty="0"/>
              <a:t>c</a:t>
            </a:r>
            <a:r>
              <a:rPr kumimoji="0" lang="en-US" altLang="zh-CN" sz="2400" b="0" dirty="0"/>
              <a:t> if </a:t>
            </a:r>
            <a:r>
              <a:rPr kumimoji="0" lang="en-US" altLang="zh-CN" sz="2400" b="1" i="1" dirty="0" err="1"/>
              <a:t>dj</a:t>
            </a:r>
            <a:r>
              <a:rPr kumimoji="0" lang="en-US" altLang="zh-CN" sz="2400" b="1" dirty="0"/>
              <a:t> = </a:t>
            </a:r>
            <a:r>
              <a:rPr kumimoji="0" lang="en-US" altLang="zh-CN" sz="2400" b="1" dirty="0" err="1"/>
              <a:t>DFAedge</a:t>
            </a:r>
            <a:r>
              <a:rPr kumimoji="0" lang="en-US" altLang="zh-CN" sz="2400" b="1" dirty="0"/>
              <a:t>(</a:t>
            </a:r>
            <a:r>
              <a:rPr kumimoji="0" lang="en-US" altLang="zh-CN" sz="2400" b="1" i="1" dirty="0"/>
              <a:t>di, c</a:t>
            </a:r>
            <a:r>
              <a:rPr kumimoji="0" lang="en-US" altLang="zh-CN" sz="2400" b="1" dirty="0"/>
              <a:t>)</a:t>
            </a:r>
            <a:r>
              <a:rPr kumimoji="0" lang="en-US" altLang="zh-CN" sz="2400" b="0" dirty="0"/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304800" y="2235200"/>
            <a:ext cx="4410710" cy="332422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80" name="Oval 10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9689" y="5797655"/>
            <a:ext cx="711941" cy="527472"/>
          </a:xfrm>
          <a:prstGeom prst="ellipse">
            <a:avLst/>
          </a:prstGeom>
          <a:noFill/>
          <a:ln w="9525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8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8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070C0"/>
                </a:solidFill>
                <a:ea typeface="宋体" panose="02010600030101010101" pitchFamily="2" charset="-122"/>
              </a:rPr>
              <a:t>{1,2,6}</a:t>
            </a:r>
          </a:p>
        </p:txBody>
      </p:sp>
      <p:grpSp>
        <p:nvGrpSpPr>
          <p:cNvPr id="81" name="Group 102"/>
          <p:cNvGrpSpPr/>
          <p:nvPr/>
        </p:nvGrpSpPr>
        <p:grpSpPr bwMode="auto">
          <a:xfrm>
            <a:off x="2149986" y="5768610"/>
            <a:ext cx="898054" cy="597181"/>
            <a:chOff x="1651" y="2271"/>
            <a:chExt cx="801" cy="514"/>
          </a:xfrm>
        </p:grpSpPr>
        <p:sp>
          <p:nvSpPr>
            <p:cNvPr id="82" name="Oval 103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682" y="2296"/>
              <a:ext cx="744" cy="454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0070C0"/>
                  </a:solidFill>
                  <a:ea typeface="宋体" panose="02010600030101010101" pitchFamily="2" charset="-122"/>
                </a:rPr>
                <a:t>{3,4,7,8}</a:t>
              </a:r>
            </a:p>
          </p:txBody>
        </p:sp>
        <p:sp>
          <p:nvSpPr>
            <p:cNvPr id="83" name="Oval 10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651" y="2271"/>
              <a:ext cx="801" cy="514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 dirty="0">
                <a:solidFill>
                  <a:srgbClr val="0070C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84" name="Group 105"/>
          <p:cNvGrpSpPr/>
          <p:nvPr/>
        </p:nvGrpSpPr>
        <p:grpSpPr bwMode="auto">
          <a:xfrm>
            <a:off x="3765300" y="5703547"/>
            <a:ext cx="779211" cy="597181"/>
            <a:chOff x="3113" y="2215"/>
            <a:chExt cx="695" cy="514"/>
          </a:xfrm>
        </p:grpSpPr>
        <p:sp>
          <p:nvSpPr>
            <p:cNvPr id="85" name="Oval 106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143" y="2251"/>
              <a:ext cx="635" cy="454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rgbClr val="0070C0"/>
                  </a:solidFill>
                  <a:ea typeface="宋体" panose="02010600030101010101" pitchFamily="2" charset="-122"/>
                </a:rPr>
                <a:t>{5,8}</a:t>
              </a:r>
            </a:p>
          </p:txBody>
        </p:sp>
        <p:sp>
          <p:nvSpPr>
            <p:cNvPr id="86" name="Oval 107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113" y="2215"/>
              <a:ext cx="695" cy="514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rgbClr val="0070C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87" name="Line 108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75798" y="6061391"/>
            <a:ext cx="431649" cy="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88" name="Line 10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1621630" y="6050935"/>
            <a:ext cx="528356" cy="10456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89" name="Line 110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046633" y="6061391"/>
            <a:ext cx="711941" cy="0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90" name="Rectangle 1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65356" y="5840643"/>
            <a:ext cx="304957" cy="21029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8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8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070C0"/>
                </a:solidFill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91" name="Rectangle 1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27140" y="5831348"/>
            <a:ext cx="304957" cy="210292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8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8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070C0"/>
                </a:solidFill>
                <a:ea typeface="宋体" panose="02010600030101010101" pitchFamily="2" charset="-122"/>
              </a:rPr>
              <a:t>b</a:t>
            </a:r>
          </a:p>
        </p:txBody>
      </p:sp>
      <p:grpSp>
        <p:nvGrpSpPr>
          <p:cNvPr id="4" name="Group 60"/>
          <p:cNvGrpSpPr/>
          <p:nvPr/>
        </p:nvGrpSpPr>
        <p:grpSpPr bwMode="auto">
          <a:xfrm>
            <a:off x="655772" y="884160"/>
            <a:ext cx="3708767" cy="1206921"/>
            <a:chOff x="476" y="1071"/>
            <a:chExt cx="3876" cy="1407"/>
          </a:xfrm>
        </p:grpSpPr>
        <p:sp>
          <p:nvSpPr>
            <p:cNvPr id="5" name="Oval 6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39" y="1706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" name="Oval 6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292" y="1207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0070C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" name="Oval 6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018" y="1162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" name="Oval 6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44" y="1162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9" name="Oval 6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70" y="1162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0070C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0" name="Oval 6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018" y="2069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1" name="Oval 67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744" y="2069"/>
              <a:ext cx="317" cy="318"/>
            </a:xfrm>
            <a:prstGeom prst="ellips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0070C0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2" name="Line 68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76" y="1842"/>
              <a:ext cx="363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3" name="Line 69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066" y="1480"/>
              <a:ext cx="272" cy="272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4" name="Line 70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610" y="1344"/>
              <a:ext cx="408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5" name="Line 7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2336" y="1344"/>
              <a:ext cx="408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6" name="Line 72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3061" y="1344"/>
              <a:ext cx="409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7" name="Line 73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3742" y="1389"/>
              <a:ext cx="317" cy="317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8" name="Line 74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1111" y="1979"/>
              <a:ext cx="907" cy="226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19" name="Line 75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2336" y="2251"/>
              <a:ext cx="408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sp>
          <p:nvSpPr>
            <p:cNvPr id="20" name="Line 76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V="1">
              <a:off x="3061" y="1933"/>
              <a:ext cx="998" cy="318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70C0"/>
                </a:solidFill>
              </a:endParaRPr>
            </a:p>
          </p:txBody>
        </p:sp>
        <p:grpSp>
          <p:nvGrpSpPr>
            <p:cNvPr id="21" name="Group 77"/>
            <p:cNvGrpSpPr/>
            <p:nvPr/>
          </p:nvGrpSpPr>
          <p:grpSpPr bwMode="auto">
            <a:xfrm>
              <a:off x="3989" y="1641"/>
              <a:ext cx="363" cy="363"/>
              <a:chOff x="3989" y="1641"/>
              <a:chExt cx="363" cy="363"/>
            </a:xfrm>
          </p:grpSpPr>
          <p:sp>
            <p:nvSpPr>
              <p:cNvPr id="22" name="Oval 78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4014" y="1661"/>
                <a:ext cx="317" cy="318"/>
              </a:xfrm>
              <a:prstGeom prst="ellipse">
                <a:avLst/>
              </a:prstGeom>
              <a:noFill/>
              <a:ln w="9525">
                <a:solidFill>
                  <a:srgbClr val="0070C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23" name="Oval 79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989" y="1641"/>
                <a:ext cx="363" cy="363"/>
              </a:xfrm>
              <a:prstGeom prst="ellipse">
                <a:avLst/>
              </a:prstGeom>
              <a:noFill/>
              <a:ln w="9525">
                <a:solidFill>
                  <a:srgbClr val="0070C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8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rgbClr val="0070C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" name="Rectangle 80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75" y="1389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</a:t>
              </a:r>
            </a:p>
          </p:txBody>
        </p:sp>
        <p:sp>
          <p:nvSpPr>
            <p:cNvPr id="25" name="Rectangle 81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474" y="2115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</a:t>
              </a:r>
            </a:p>
          </p:txBody>
        </p:sp>
        <p:sp>
          <p:nvSpPr>
            <p:cNvPr id="26" name="Rectangle 82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426" y="1117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</a:t>
              </a:r>
            </a:p>
          </p:txBody>
        </p:sp>
        <p:sp>
          <p:nvSpPr>
            <p:cNvPr id="27" name="Rectangle 83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923" y="1344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</a:t>
              </a:r>
            </a:p>
          </p:txBody>
        </p:sp>
        <p:sp>
          <p:nvSpPr>
            <p:cNvPr id="28" name="Rectangle 84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515" y="2115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</a:t>
              </a:r>
            </a:p>
          </p:txBody>
        </p:sp>
        <p:sp>
          <p:nvSpPr>
            <p:cNvPr id="29" name="Rectangle 85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701" y="1071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a</a:t>
              </a:r>
            </a:p>
          </p:txBody>
        </p:sp>
        <p:sp>
          <p:nvSpPr>
            <p:cNvPr id="30" name="Rectangle 86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152" y="1071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b</a:t>
              </a:r>
            </a:p>
          </p:txBody>
        </p:sp>
        <p:sp>
          <p:nvSpPr>
            <p:cNvPr id="31" name="Rectangle 87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426" y="2296"/>
              <a:ext cx="182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8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80000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80000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8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  <a:ea typeface="宋体" panose="02010600030101010101" pitchFamily="2" charset="-122"/>
                  <a:sym typeface="Symbol" panose="05050102010706020507" pitchFamily="2" charset="2"/>
                </a:rPr>
                <a:t>a</a:t>
              </a:r>
            </a:p>
          </p:txBody>
        </p:sp>
      </p:grpSp>
      <p:graphicFrame>
        <p:nvGraphicFramePr>
          <p:cNvPr id="32" name="表格 31"/>
          <p:cNvGraphicFramePr/>
          <p:nvPr>
            <p:custDataLst>
              <p:tags r:id="rId8"/>
            </p:custDataLst>
          </p:nvPr>
        </p:nvGraphicFramePr>
        <p:xfrm>
          <a:off x="4953000" y="883920"/>
          <a:ext cx="1585595" cy="1838325"/>
        </p:xfrm>
        <a:graphic>
          <a:graphicData uri="http://schemas.openxmlformats.org/drawingml/2006/table">
            <a:tbl>
              <a:tblPr firstRow="1" firstCol="1">
                <a:tableStyleId>{96C76F54-B9F8-4DF9-8941-95C6A058ACCD}</a:tableStyleId>
              </a:tblPr>
              <a:tblGrid>
                <a:gridCol w="488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accent1"/>
                          </a:solidFill>
                        </a:rPr>
                        <a:t>states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{1,2,6}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{3,4,7,8}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{5,8}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" name="表格 105"/>
          <p:cNvGraphicFramePr/>
          <p:nvPr>
            <p:custDataLst>
              <p:tags r:id="rId9"/>
            </p:custDataLst>
          </p:nvPr>
        </p:nvGraphicFramePr>
        <p:xfrm>
          <a:off x="6798310" y="883920"/>
          <a:ext cx="1765300" cy="1838325"/>
        </p:xfrm>
        <a:graphic>
          <a:graphicData uri="http://schemas.openxmlformats.org/drawingml/2006/table">
            <a:tbl>
              <a:tblPr firstRow="1" firstCol="1">
                <a:tableStyleId>{96C76F54-B9F8-4DF9-8941-95C6A058ACCD}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chemeClr val="accent1"/>
                          </a:solidFill>
                        </a:rPr>
                        <a:t>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accent1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7" name="表格 106"/>
          <p:cNvGraphicFramePr/>
          <p:nvPr>
            <p:custDataLst>
              <p:tags r:id="rId10"/>
            </p:custDataLst>
          </p:nvPr>
        </p:nvGraphicFramePr>
        <p:xfrm>
          <a:off x="5105400" y="2886075"/>
          <a:ext cx="372554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DFAedge(states[j],c)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{3,4,7,8}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{5,8}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\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9" name="矩形 108"/>
          <p:cNvSpPr/>
          <p:nvPr/>
        </p:nvSpPr>
        <p:spPr>
          <a:xfrm>
            <a:off x="5486400" y="1273810"/>
            <a:ext cx="854710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5486400" y="1663065"/>
            <a:ext cx="854710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/>
          <p:cNvSpPr/>
          <p:nvPr/>
        </p:nvSpPr>
        <p:spPr>
          <a:xfrm>
            <a:off x="5486400" y="2012950"/>
            <a:ext cx="854710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>
            <a:off x="5486400" y="2362200"/>
            <a:ext cx="854710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7543800" y="1295400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8054975" y="1295400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7543800" y="1631315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/>
          <p:cNvSpPr/>
          <p:nvPr/>
        </p:nvSpPr>
        <p:spPr>
          <a:xfrm>
            <a:off x="8077200" y="1631315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543800" y="2012950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/>
          <p:cNvSpPr/>
          <p:nvPr/>
        </p:nvSpPr>
        <p:spPr>
          <a:xfrm>
            <a:off x="8077200" y="2012950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/>
          <p:cNvSpPr/>
          <p:nvPr/>
        </p:nvSpPr>
        <p:spPr>
          <a:xfrm>
            <a:off x="7543800" y="2362200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/>
        </p:nvSpPr>
        <p:spPr>
          <a:xfrm>
            <a:off x="8077200" y="2362200"/>
            <a:ext cx="384175" cy="3048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/>
          <p:cNvSpPr/>
          <p:nvPr/>
        </p:nvSpPr>
        <p:spPr>
          <a:xfrm>
            <a:off x="5181600" y="327660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/>
          <p:cNvSpPr/>
          <p:nvPr/>
        </p:nvSpPr>
        <p:spPr>
          <a:xfrm>
            <a:off x="5181600" y="403860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/>
          <p:cNvSpPr/>
          <p:nvPr/>
        </p:nvSpPr>
        <p:spPr>
          <a:xfrm>
            <a:off x="5181600" y="4724400"/>
            <a:ext cx="30480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/>
          <p:cNvSpPr/>
          <p:nvPr/>
        </p:nvSpPr>
        <p:spPr>
          <a:xfrm>
            <a:off x="5181600" y="5463540"/>
            <a:ext cx="30480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/>
          <p:cNvSpPr/>
          <p:nvPr/>
        </p:nvSpPr>
        <p:spPr>
          <a:xfrm>
            <a:off x="5181600" y="6238875"/>
            <a:ext cx="407035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/>
          <p:cNvSpPr/>
          <p:nvPr/>
        </p:nvSpPr>
        <p:spPr>
          <a:xfrm>
            <a:off x="5638800" y="327660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6143625" y="3282950"/>
            <a:ext cx="321310" cy="2743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/>
          <p:cNvSpPr/>
          <p:nvPr/>
        </p:nvSpPr>
        <p:spPr>
          <a:xfrm>
            <a:off x="6119495" y="398399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/>
          <p:cNvSpPr/>
          <p:nvPr/>
        </p:nvSpPr>
        <p:spPr>
          <a:xfrm>
            <a:off x="5641975" y="403542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5617845" y="476694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6122670" y="474281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6143625" y="547433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5621020" y="545020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5672455" y="618172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/>
          <p:cNvSpPr/>
          <p:nvPr/>
        </p:nvSpPr>
        <p:spPr>
          <a:xfrm>
            <a:off x="6158865" y="623316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/>
          <p:cNvSpPr/>
          <p:nvPr/>
        </p:nvSpPr>
        <p:spPr>
          <a:xfrm>
            <a:off x="6606540" y="620903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/>
          <p:cNvSpPr/>
          <p:nvPr/>
        </p:nvSpPr>
        <p:spPr>
          <a:xfrm>
            <a:off x="6606540" y="3276600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/>
          <p:cNvSpPr/>
          <p:nvPr/>
        </p:nvSpPr>
        <p:spPr>
          <a:xfrm>
            <a:off x="6609715" y="474281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/>
          <p:cNvSpPr/>
          <p:nvPr/>
        </p:nvSpPr>
        <p:spPr>
          <a:xfrm>
            <a:off x="6609715" y="5456555"/>
            <a:ext cx="321310" cy="3048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6629400" y="4035425"/>
            <a:ext cx="805815" cy="282575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6629400" y="5105400"/>
            <a:ext cx="805815" cy="28257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6606540" y="5840730"/>
            <a:ext cx="805815" cy="28257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/>
          <p:cNvSpPr/>
          <p:nvPr/>
        </p:nvSpPr>
        <p:spPr>
          <a:xfrm>
            <a:off x="6606540" y="4419600"/>
            <a:ext cx="805815" cy="28257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/>
          <p:cNvSpPr/>
          <p:nvPr/>
        </p:nvSpPr>
        <p:spPr>
          <a:xfrm>
            <a:off x="6629400" y="3657600"/>
            <a:ext cx="805815" cy="28257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/>
          <p:cNvSpPr/>
          <p:nvPr/>
        </p:nvSpPr>
        <p:spPr>
          <a:xfrm>
            <a:off x="6137910" y="3701415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5657215" y="3701415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5180330" y="3701415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/>
          <p:cNvSpPr/>
          <p:nvPr/>
        </p:nvSpPr>
        <p:spPr>
          <a:xfrm>
            <a:off x="5180330" y="441960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/>
          <p:cNvSpPr/>
          <p:nvPr/>
        </p:nvSpPr>
        <p:spPr>
          <a:xfrm>
            <a:off x="5657215" y="441960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/>
          <p:cNvSpPr/>
          <p:nvPr/>
        </p:nvSpPr>
        <p:spPr>
          <a:xfrm>
            <a:off x="6119495" y="441960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/>
          <p:cNvSpPr/>
          <p:nvPr/>
        </p:nvSpPr>
        <p:spPr>
          <a:xfrm>
            <a:off x="5180330" y="515493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/>
          <p:cNvSpPr/>
          <p:nvPr/>
        </p:nvSpPr>
        <p:spPr>
          <a:xfrm>
            <a:off x="5654040" y="515493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/>
          <p:cNvSpPr/>
          <p:nvPr/>
        </p:nvSpPr>
        <p:spPr>
          <a:xfrm>
            <a:off x="6174105" y="515493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/>
          <p:cNvSpPr/>
          <p:nvPr/>
        </p:nvSpPr>
        <p:spPr>
          <a:xfrm>
            <a:off x="5196840" y="586740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/>
          <p:cNvSpPr/>
          <p:nvPr/>
        </p:nvSpPr>
        <p:spPr>
          <a:xfrm>
            <a:off x="5672455" y="586740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/>
          <p:cNvSpPr/>
          <p:nvPr/>
        </p:nvSpPr>
        <p:spPr>
          <a:xfrm>
            <a:off x="6158865" y="5867400"/>
            <a:ext cx="306070" cy="23304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7" grpId="0" animBg="1"/>
      <p:bldP spid="88" grpId="0" animBg="1"/>
      <p:bldP spid="89" grpId="0" animBg="1"/>
      <p:bldP spid="90" grpId="0"/>
      <p:bldP spid="91" grpId="0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09704" y="762070"/>
                <a:ext cx="8229384" cy="5324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Not visit unreachable states of the DFA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In principle the DFA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0" lang="en-US" altLang="zh-CN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US" altLang="zh-CN" sz="2200" b="0" dirty="0"/>
                  <a:t> states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But only about </a:t>
                </a:r>
                <a:r>
                  <a:rPr kumimoji="0" lang="en-US" altLang="zh-CN" sz="2200" b="0" i="1" dirty="0"/>
                  <a:t>n</a:t>
                </a:r>
                <a:r>
                  <a:rPr kumimoji="0" lang="en-US" altLang="zh-CN" sz="2200" b="0" dirty="0"/>
                  <a:t> of them are reachable from the start state. 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To avoid an exponential blowup in the size of the DFA interpreter's transition tables</a:t>
                </a:r>
                <a:endParaRPr lang="en-US" altLang="zh-CN" sz="2200" b="0" dirty="0"/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A state </a:t>
                </a:r>
                <a:r>
                  <a:rPr kumimoji="0" lang="en-US" altLang="zh-CN" sz="2400" b="0" i="1" dirty="0">
                    <a:solidFill>
                      <a:srgbClr val="CC3300"/>
                    </a:solidFill>
                  </a:rPr>
                  <a:t>d</a:t>
                </a: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 is </a:t>
                </a:r>
                <a:r>
                  <a:rPr kumimoji="0" lang="en-US" altLang="zh-CN" sz="2400" b="0" i="1" dirty="0">
                    <a:solidFill>
                      <a:srgbClr val="CC3300"/>
                    </a:solidFill>
                  </a:rPr>
                  <a:t>final</a:t>
                </a: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 in the DFA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 if any NFA state in states[</a:t>
                </a:r>
                <a:r>
                  <a:rPr kumimoji="0" lang="en-US" altLang="zh-CN" sz="2200" b="0" i="1" dirty="0"/>
                  <a:t>d</a:t>
                </a:r>
                <a:r>
                  <a:rPr kumimoji="0" lang="en-US" altLang="zh-CN" sz="2200" b="0" dirty="0"/>
                  <a:t>] is final in the NFA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Labeling a state </a:t>
                </a:r>
                <a:r>
                  <a:rPr kumimoji="0" lang="en-US" altLang="zh-CN" sz="2400" b="0" i="1" dirty="0">
                    <a:solidFill>
                      <a:srgbClr val="CC3300"/>
                    </a:solidFill>
                  </a:rPr>
                  <a:t>final</a:t>
                </a: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 is not enough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we must also say </a:t>
                </a:r>
                <a:r>
                  <a:rPr kumimoji="0" lang="en-US" altLang="zh-CN" sz="2200" b="0" dirty="0">
                    <a:solidFill>
                      <a:srgbClr val="CC3300"/>
                    </a:solidFill>
                  </a:rPr>
                  <a:t>what token is recognized</a:t>
                </a:r>
                <a:r>
                  <a:rPr kumimoji="0" lang="en-US" altLang="zh-CN" sz="2200" b="0" dirty="0"/>
                  <a:t>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Several members of states[</a:t>
                </a:r>
                <a:r>
                  <a:rPr kumimoji="0" lang="en-US" altLang="zh-CN" sz="2400" b="0" i="1" dirty="0">
                    <a:solidFill>
                      <a:srgbClr val="CC3300"/>
                    </a:solidFill>
                  </a:rPr>
                  <a:t>d</a:t>
                </a: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] are final in the NFA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Label </a:t>
                </a:r>
                <a:r>
                  <a:rPr kumimoji="0" lang="en-US" altLang="zh-CN" sz="2200" b="0" i="1" dirty="0"/>
                  <a:t>d</a:t>
                </a:r>
                <a:r>
                  <a:rPr kumimoji="0" lang="en-US" altLang="zh-CN" sz="2200" b="0" dirty="0"/>
                  <a:t> with the token-type that occurred first in the list of regular expressions (how </a:t>
                </a:r>
                <a:r>
                  <a:rPr kumimoji="0" lang="en-US" altLang="zh-CN" sz="2200" b="0" i="1" dirty="0">
                    <a:solidFill>
                      <a:srgbClr val="CC3300"/>
                    </a:solidFill>
                  </a:rPr>
                  <a:t>rule priority</a:t>
                </a:r>
                <a:r>
                  <a:rPr kumimoji="0" lang="en-US" altLang="zh-CN" sz="2200" b="0" dirty="0"/>
                  <a:t> is implemented)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0" dirty="0">
                    <a:solidFill>
                      <a:srgbClr val="CC3300"/>
                    </a:solidFill>
                  </a:rPr>
                  <a:t>After the DFA is constructed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The "states" array may be discarded</a:t>
                </a:r>
              </a:p>
              <a:p>
                <a:pPr lvl="1">
                  <a:spcBef>
                    <a:spcPct val="0"/>
                  </a:spcBef>
                  <a:buFont typeface="Wingdings" panose="05000000000000000000" pitchFamily="2" charset="2"/>
                  <a:buChar char="l"/>
                </a:pPr>
                <a:r>
                  <a:rPr kumimoji="0" lang="en-US" altLang="zh-CN" sz="2200" b="0" dirty="0"/>
                  <a:t>The "trans" array is used for lexical analysis.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04" y="762070"/>
                <a:ext cx="8229384" cy="5324535"/>
              </a:xfrm>
              <a:prstGeom prst="rect">
                <a:avLst/>
              </a:prstGeom>
              <a:blipFill>
                <a:blip r:embed="rId3"/>
                <a:stretch>
                  <a:fillRect l="-1235" t="-952" r="-1080" b="-1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64515" name="矩形 7066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7172" y="900226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Applying the DFA construction algorithm to our NFA:</a:t>
            </a:r>
          </a:p>
        </p:txBody>
      </p:sp>
      <p:pic>
        <p:nvPicPr>
          <p:cNvPr id="64516" name="图片 70661" descr="2-16-NFA-TO-DFA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00" y="1554092"/>
            <a:ext cx="6781624" cy="3485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90525" y="5791138"/>
            <a:ext cx="84569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 dirty="0">
                <a:solidFill>
                  <a:srgbClr val="CC3300"/>
                </a:solidFill>
              </a:rPr>
              <a:t>This automaton is suboptimal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1" dirty="0"/>
              <a:t>not the smallest one recognizing the same language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0525" y="4953624"/>
            <a:ext cx="84569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solidFill>
                  <a:srgbClr val="CC3300"/>
                </a:solidFill>
              </a:rPr>
              <a:t>Rule </a:t>
            </a:r>
            <a:r>
              <a:rPr lang="en-US" altLang="zh-CN" sz="2400" dirty="0">
                <a:solidFill>
                  <a:srgbClr val="CC3300"/>
                </a:solidFill>
              </a:rPr>
              <a:t>priority</a:t>
            </a:r>
            <a:endParaRPr kumimoji="0" lang="en-US" altLang="zh-CN" sz="2400" dirty="0">
              <a:solidFill>
                <a:srgbClr val="CC3300"/>
              </a:solidFill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400" dirty="0"/>
              <a:t> </a:t>
            </a:r>
            <a:r>
              <a:rPr kumimoji="0" lang="en-US" altLang="zh-CN" sz="2400" dirty="0"/>
              <a:t>{</a:t>
            </a:r>
            <a:r>
              <a:rPr kumimoji="0" lang="en-US" altLang="zh-CN" sz="2400" b="1" dirty="0"/>
              <a:t>3</a:t>
            </a:r>
            <a:r>
              <a:rPr kumimoji="0" lang="en-US" altLang="zh-CN" sz="2400" dirty="0"/>
              <a:t>,6,7,</a:t>
            </a:r>
            <a:r>
              <a:rPr kumimoji="0" lang="en-US" altLang="zh-CN" sz="2400" b="1" dirty="0"/>
              <a:t>8</a:t>
            </a:r>
            <a:r>
              <a:rPr kumimoji="0" lang="en-US" altLang="zh-CN" sz="2400" dirty="0"/>
              <a:t>} is marked IF instead of ID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3124238" y="2590822"/>
            <a:ext cx="4419484" cy="761980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圆角矩形 5"/>
          <p:cNvSpPr/>
          <p:nvPr>
            <p:custDataLst>
              <p:tags r:id="rId4"/>
            </p:custDataLst>
          </p:nvPr>
        </p:nvSpPr>
        <p:spPr>
          <a:xfrm>
            <a:off x="2868070" y="3492476"/>
            <a:ext cx="4066068" cy="830997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6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4" name="矩形 7168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0890" y="1295400"/>
            <a:ext cx="7602855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1200" indent="-2540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Two states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baseline="-30000" dirty="0"/>
              <a:t>1</a:t>
            </a:r>
            <a:r>
              <a:rPr kumimoji="0" lang="en-US" altLang="zh-CN" sz="2400" b="0" dirty="0"/>
              <a:t> and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baseline="-30000" dirty="0"/>
              <a:t>2</a:t>
            </a:r>
            <a:r>
              <a:rPr kumimoji="0" lang="en-US" altLang="zh-CN" sz="2400" b="0" dirty="0"/>
              <a:t> are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 equivalent</a:t>
            </a:r>
            <a:r>
              <a:rPr kumimoji="0" lang="en-US" altLang="zh-CN" sz="2400" b="0" dirty="0"/>
              <a:t> 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The machine starting in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baseline="-30000" dirty="0"/>
              <a:t>1</a:t>
            </a:r>
            <a:r>
              <a:rPr kumimoji="0" lang="en-US" altLang="zh-CN" sz="2400" b="0" dirty="0"/>
              <a:t> accepts a string </a:t>
            </a:r>
            <a:r>
              <a:rPr kumimoji="0" lang="en-US" altLang="zh-CN" sz="2400" b="0" dirty="0" err="1"/>
              <a:t>σ</a:t>
            </a:r>
            <a:r>
              <a:rPr kumimoji="0" lang="en-US" altLang="zh-CN" sz="2400" b="0" dirty="0"/>
              <a:t> if and only if starting in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baseline="-30000" dirty="0"/>
              <a:t>2</a:t>
            </a:r>
            <a:r>
              <a:rPr kumimoji="0" lang="en-US" altLang="zh-CN" sz="2400" b="0" dirty="0"/>
              <a:t> it accepts </a:t>
            </a:r>
            <a:r>
              <a:rPr kumimoji="0" lang="en-US" altLang="zh-CN" sz="2400" b="0" dirty="0" err="1"/>
              <a:t>σ</a:t>
            </a:r>
            <a:r>
              <a:rPr kumimoji="0" lang="en-US" altLang="zh-CN" sz="2400" b="0" dirty="0"/>
              <a:t>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400" b="0" dirty="0"/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This is certainly true of the states labeled {5,6,8,15} and {6,7,8}, and of the states labeled {10,11,13,15} and {11,12,13}.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400" b="0" dirty="0"/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In an automaton with two equivalent states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baseline="-30000" dirty="0"/>
              <a:t>1</a:t>
            </a:r>
            <a:r>
              <a:rPr kumimoji="0" lang="en-US" altLang="zh-CN" sz="2400" b="0" dirty="0"/>
              <a:t> and </a:t>
            </a:r>
            <a:r>
              <a:rPr kumimoji="0" lang="en-US" altLang="zh-CN" sz="2400" b="0" i="1" dirty="0"/>
              <a:t>s</a:t>
            </a:r>
            <a:r>
              <a:rPr kumimoji="0" lang="en-US" altLang="zh-CN" sz="2400" b="0" baseline="-30000" dirty="0"/>
              <a:t>2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>
                <a:solidFill>
                  <a:srgbClr val="CC3300"/>
                </a:solidFill>
              </a:rPr>
              <a:t>Make all of 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s</a:t>
            </a:r>
            <a:r>
              <a:rPr kumimoji="0" lang="en-US" altLang="zh-CN" sz="2400" b="0" baseline="-30000" dirty="0">
                <a:solidFill>
                  <a:srgbClr val="CC3300"/>
                </a:solidFill>
              </a:rPr>
              <a:t>2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's incoming edges point to 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s</a:t>
            </a:r>
            <a:r>
              <a:rPr kumimoji="0" lang="en-US" altLang="zh-CN" sz="2400" b="0" baseline="-30000" dirty="0">
                <a:solidFill>
                  <a:srgbClr val="CC3300"/>
                </a:solidFill>
              </a:rPr>
              <a:t>1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 instead and delete </a:t>
            </a:r>
            <a:r>
              <a:rPr kumimoji="0" lang="en-US" altLang="zh-CN" sz="2400" b="0" i="1" dirty="0">
                <a:solidFill>
                  <a:srgbClr val="CC3300"/>
                </a:solidFill>
              </a:rPr>
              <a:t>s</a:t>
            </a:r>
            <a:r>
              <a:rPr kumimoji="0" lang="en-US" altLang="zh-CN" sz="2400" b="0" baseline="-30000" dirty="0">
                <a:solidFill>
                  <a:srgbClr val="CC3300"/>
                </a:solidFill>
              </a:rPr>
              <a:t>2</a:t>
            </a:r>
            <a:r>
              <a:rPr kumimoji="0" lang="en-US" altLang="zh-CN" sz="2400" b="0" dirty="0">
                <a:solidFill>
                  <a:srgbClr val="CC3300"/>
                </a:solidFill>
              </a:rPr>
              <a:t>.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1" dirty="0"/>
              <a:t>E.g.</a:t>
            </a:r>
            <a:r>
              <a:rPr kumimoji="0" lang="en-US" altLang="zh-CN" sz="2400" b="0" dirty="0"/>
              <a:t>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delete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{10,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11,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13,</a:t>
            </a:r>
            <a:r>
              <a:rPr kumimoji="0" lang="zh-CN" altLang="en-US" sz="2400" b="0" dirty="0"/>
              <a:t> </a:t>
            </a:r>
            <a:r>
              <a:rPr kumimoji="0" lang="en-US" altLang="zh-CN" sz="2400" b="0" dirty="0"/>
              <a:t>15}</a:t>
            </a:r>
          </a:p>
        </p:txBody>
      </p:sp>
      <p:sp>
        <p:nvSpPr>
          <p:cNvPr id="5" name="矩形 71685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7151688" y="3017838"/>
            <a:ext cx="5810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  <p:sp>
        <p:nvSpPr>
          <p:cNvPr id="6" name="矩形 71686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8343900" y="3017838"/>
            <a:ext cx="4095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66563" name="矩形 7270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14400"/>
            <a:ext cx="8012430" cy="273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 dirty="0"/>
              <a:t>How can we find equivalent states? </a:t>
            </a:r>
            <a:endParaRPr kumimoji="0" lang="en-US" altLang="zh-CN" sz="2400" dirty="0"/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000" b="0" dirty="0"/>
              <a:t>Certainly, </a:t>
            </a:r>
            <a:r>
              <a:rPr kumimoji="0" lang="en-US" altLang="zh-CN" sz="2000" b="0" i="1" dirty="0"/>
              <a:t>s</a:t>
            </a:r>
            <a:r>
              <a:rPr kumimoji="0" lang="en-US" altLang="zh-CN" sz="2000" b="0" dirty="0"/>
              <a:t>1 and </a:t>
            </a:r>
            <a:r>
              <a:rPr kumimoji="0" lang="en-US" altLang="zh-CN" sz="2000" b="0" i="1" dirty="0"/>
              <a:t>s</a:t>
            </a:r>
            <a:r>
              <a:rPr kumimoji="0" lang="en-US" altLang="zh-CN" sz="2000" b="0" dirty="0"/>
              <a:t>2 are equivalent if they are both final or both non-final and, for any symbol </a:t>
            </a:r>
            <a:r>
              <a:rPr kumimoji="0" lang="en-US" altLang="zh-CN" sz="2000" b="0" i="1" dirty="0"/>
              <a:t>c</a:t>
            </a:r>
            <a:r>
              <a:rPr kumimoji="0" lang="en-US" altLang="zh-CN" sz="2000" b="0" dirty="0"/>
              <a:t>, trans[</a:t>
            </a:r>
            <a:r>
              <a:rPr kumimoji="0" lang="en-US" altLang="zh-CN" sz="2000" b="0" i="1" dirty="0"/>
              <a:t>s</a:t>
            </a:r>
            <a:r>
              <a:rPr kumimoji="0" lang="en-US" altLang="zh-CN" sz="2000" b="0" dirty="0"/>
              <a:t>1, </a:t>
            </a:r>
            <a:r>
              <a:rPr kumimoji="0" lang="en-US" altLang="zh-CN" sz="2000" b="0" i="1" dirty="0"/>
              <a:t>c</a:t>
            </a:r>
            <a:r>
              <a:rPr kumimoji="0" lang="en-US" altLang="zh-CN" sz="2000" b="0" dirty="0"/>
              <a:t>] = trans[</a:t>
            </a:r>
            <a:r>
              <a:rPr kumimoji="0" lang="en-US" altLang="zh-CN" sz="2000" b="0" i="1" dirty="0"/>
              <a:t>s</a:t>
            </a:r>
            <a:r>
              <a:rPr kumimoji="0" lang="en-US" altLang="zh-CN" sz="2000" b="0" dirty="0"/>
              <a:t>2, </a:t>
            </a:r>
            <a:r>
              <a:rPr kumimoji="0" lang="en-US" altLang="zh-CN" sz="2000" b="0" i="1" dirty="0"/>
              <a:t>c</a:t>
            </a:r>
            <a:r>
              <a:rPr kumimoji="0" lang="en-US" altLang="zh-CN" sz="2000" b="0" dirty="0"/>
              <a:t>];</a:t>
            </a:r>
          </a:p>
          <a:p>
            <a:pPr lvl="1">
              <a:spcBef>
                <a:spcPct val="0"/>
              </a:spcBef>
              <a:buFontTx/>
              <a:buNone/>
            </a:pPr>
            <a:endParaRPr kumimoji="0" lang="en-US" altLang="zh-CN" sz="2000" b="0" dirty="0"/>
          </a:p>
          <a:p>
            <a:pPr lvl="1">
              <a:spcBef>
                <a:spcPct val="0"/>
              </a:spcBef>
              <a:buFontTx/>
              <a:buNone/>
            </a:pPr>
            <a:r>
              <a:rPr kumimoji="0" lang="en-US" altLang="zh-CN" sz="2000" b="0" dirty="0"/>
              <a:t> {10,11,13,15} and {11,12,13} satisfy this criterion.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000" dirty="0"/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But this condition is not sufficiently general;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 dirty="0"/>
              <a:t>consider the automaton</a:t>
            </a:r>
          </a:p>
        </p:txBody>
      </p:sp>
      <p:sp>
        <p:nvSpPr>
          <p:cNvPr id="66565" name="矩形 727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5851525"/>
            <a:ext cx="7478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0" dirty="0"/>
              <a:t>Here, states 2 and 4 are equivalent, but trans[2, </a:t>
            </a:r>
            <a:r>
              <a:rPr kumimoji="0" lang="en-US" altLang="zh-CN" sz="2000" b="0" i="1" dirty="0"/>
              <a:t>a</a:t>
            </a:r>
            <a:r>
              <a:rPr kumimoji="0" lang="en-US" altLang="zh-CN" sz="2000" b="0" dirty="0"/>
              <a:t>] ≠ trans[4, </a:t>
            </a:r>
            <a:r>
              <a:rPr kumimoji="0" lang="en-US" altLang="zh-CN" sz="2000" b="0" i="1" dirty="0"/>
              <a:t>a</a:t>
            </a:r>
            <a:r>
              <a:rPr kumimoji="0" lang="en-US" altLang="zh-CN" sz="2000" b="0" dirty="0"/>
              <a:t>]. 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95647" y="3625812"/>
            <a:ext cx="3195127" cy="201293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4710" y="990600"/>
            <a:ext cx="74345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Tx/>
              <a:buNone/>
            </a:pPr>
            <a:r>
              <a:rPr lang="en-US" altLang="zh-CN" sz="2400" b="1" dirty="0">
                <a:sym typeface="+mn-ea"/>
              </a:rPr>
              <a:t>Finding all equivalent states is hard.</a:t>
            </a:r>
          </a:p>
          <a:p>
            <a:pPr algn="l"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But finding states that are not equivalent is easy!</a:t>
            </a:r>
            <a:r>
              <a:rPr lang="en-US" altLang="zh-CN" sz="2400" b="1" dirty="0">
                <a:sym typeface="+mn-ea"/>
              </a:rPr>
              <a:t>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4710" y="1981200"/>
            <a:ext cx="402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DFA Minimizing algorithm: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3890" y="2460625"/>
            <a:ext cx="79470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/>
              <a:t>(1) imagine all </a:t>
            </a:r>
            <a:r>
              <a:rPr lang="en-US" altLang="zh-CN" sz="2000" dirty="0">
                <a:solidFill>
                  <a:srgbClr val="FF0000"/>
                </a:solidFill>
              </a:rPr>
              <a:t>final states</a:t>
            </a:r>
            <a:r>
              <a:rPr lang="en-US" altLang="zh-CN" sz="2000" dirty="0"/>
              <a:t> are equivalent, all </a:t>
            </a:r>
            <a:r>
              <a:rPr lang="en-US" altLang="zh-CN" sz="2000" dirty="0">
                <a:solidFill>
                  <a:srgbClr val="FF0000"/>
                </a:solidFill>
              </a:rPr>
              <a:t>non-final states</a:t>
            </a:r>
            <a:r>
              <a:rPr lang="en-US" altLang="zh-CN" sz="2000" dirty="0"/>
              <a:t> are also equivalent. These are </a:t>
            </a:r>
            <a:r>
              <a:rPr lang="en-US" altLang="zh-CN" sz="2000" dirty="0">
                <a:solidFill>
                  <a:srgbClr val="FF0000"/>
                </a:solidFill>
              </a:rPr>
              <a:t>two original groups.</a:t>
            </a:r>
            <a:endParaRPr lang="en-US" altLang="zh-CN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643890" y="3251611"/>
            <a:ext cx="79470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(2) Kick out non-equivalent states. </a:t>
            </a:r>
            <a:r>
              <a:rPr lang="zh-CN" altLang="en-US" sz="2000" dirty="0"/>
              <a:t>①</a:t>
            </a:r>
            <a:r>
              <a:rPr lang="en-US" altLang="zh-CN" sz="2000" dirty="0"/>
              <a:t>: Split a group, two state </a:t>
            </a:r>
            <a:r>
              <a:rPr lang="en-US" altLang="zh-CN" sz="2000" i="1" dirty="0"/>
              <a:t>s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t</a:t>
            </a:r>
            <a:r>
              <a:rPr lang="en-US" altLang="zh-CN" sz="2000" dirty="0"/>
              <a:t> should be in same group </a:t>
            </a:r>
            <a:r>
              <a:rPr lang="en-US" altLang="zh-CN" sz="2000" dirty="0">
                <a:solidFill>
                  <a:srgbClr val="FF0000"/>
                </a:solidFill>
              </a:rPr>
              <a:t>if and only if </a:t>
            </a:r>
            <a:r>
              <a:rPr lang="en-US" altLang="zh-CN" sz="2000" b="1" dirty="0">
                <a:solidFill>
                  <a:srgbClr val="FF0000"/>
                </a:solidFill>
              </a:rPr>
              <a:t>for all input symbol a, trans[</a:t>
            </a:r>
            <a:r>
              <a:rPr lang="en-US" altLang="zh-CN" sz="2000" b="1" dirty="0" err="1">
                <a:solidFill>
                  <a:srgbClr val="FF0000"/>
                </a:solidFill>
              </a:rPr>
              <a:t>s,a</a:t>
            </a:r>
            <a:r>
              <a:rPr lang="en-US" altLang="zh-CN" sz="2000" b="1" dirty="0">
                <a:solidFill>
                  <a:srgbClr val="FF0000"/>
                </a:solidFill>
              </a:rPr>
              <a:t>]=trans[</a:t>
            </a:r>
            <a:r>
              <a:rPr lang="en-US" altLang="zh-CN" sz="2000" b="1" dirty="0" err="1">
                <a:solidFill>
                  <a:srgbClr val="FF0000"/>
                </a:solidFill>
              </a:rPr>
              <a:t>t,a</a:t>
            </a:r>
            <a:r>
              <a:rPr lang="en-US" altLang="zh-CN" sz="2000" b="1" dirty="0">
                <a:solidFill>
                  <a:srgbClr val="FF0000"/>
                </a:solidFill>
              </a:rPr>
              <a:t>]</a:t>
            </a:r>
            <a:r>
              <a:rPr lang="en-US" altLang="zh-CN" sz="2000" dirty="0"/>
              <a:t>. After that we have some new states. Replace original group with new groups. </a:t>
            </a:r>
            <a:r>
              <a:rPr lang="zh-CN" altLang="en-US" sz="2000" dirty="0"/>
              <a:t>②</a:t>
            </a:r>
            <a:r>
              <a:rPr lang="en-US" altLang="zh-CN" sz="2000" dirty="0"/>
              <a:t>: Consider every group for </a:t>
            </a:r>
            <a:r>
              <a:rPr lang="zh-CN" altLang="en-US" sz="2000" dirty="0"/>
              <a:t>①</a:t>
            </a:r>
            <a:r>
              <a:rPr lang="en-US" altLang="zh-CN" sz="2000" dirty="0"/>
              <a:t> .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643890" y="4657912"/>
            <a:ext cx="7939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(3) Keep doing (2) until no group changes.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643890" y="5140923"/>
            <a:ext cx="79387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(4) Now groups are states in minimal DFA.                                     </a:t>
            </a:r>
          </a:p>
          <a:p>
            <a:pPr marL="457200" lvl="1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Start state is the group containing former start state.</a:t>
            </a:r>
          </a:p>
          <a:p>
            <a:pPr marL="457200" lvl="1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Adding edges will be natural, since states in a group goes to the same group via certain input symbol.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Nondeterministic Finite Automata</a:t>
            </a:r>
          </a:p>
        </p:txBody>
      </p:sp>
      <p:sp>
        <p:nvSpPr>
          <p:cNvPr id="155671" name="Rectangle 1047"/>
          <p:cNvSpPr>
            <a:spLocks noChangeArrowheads="1"/>
          </p:cNvSpPr>
          <p:nvPr/>
        </p:nvSpPr>
        <p:spPr bwMode="auto">
          <a:xfrm>
            <a:off x="5384800" y="501015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" y="1295119"/>
            <a:ext cx="3898900" cy="2210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7731776"/>
              </p:ext>
            </p:extLst>
          </p:nvPr>
        </p:nvGraphicFramePr>
        <p:xfrm>
          <a:off x="4229735" y="1905000"/>
          <a:ext cx="4110990" cy="1121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states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The first process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{1,3,5} , {2,4</a:t>
                      </a:r>
                      <a:r>
                        <a:rPr lang="en-US" altLang="zh-CN" b="1" baseline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The second process 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{</a:t>
                      </a:r>
                      <a:r>
                        <a:rPr lang="en-US" altLang="zh-CN" b="1" baseline="0" dirty="0"/>
                        <a:t>1} , {3,5} , {2,4}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流程图: 可选过程 5"/>
          <p:cNvSpPr/>
          <p:nvPr/>
        </p:nvSpPr>
        <p:spPr>
          <a:xfrm>
            <a:off x="2108200" y="4495800"/>
            <a:ext cx="990600" cy="6858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流程图: 可选过程 11"/>
          <p:cNvSpPr/>
          <p:nvPr/>
        </p:nvSpPr>
        <p:spPr>
          <a:xfrm>
            <a:off x="3810000" y="4495800"/>
            <a:ext cx="990600" cy="685800"/>
          </a:xfrm>
          <a:prstGeom prst="flowChartAlternateProcess">
            <a:avLst/>
          </a:prstGeom>
          <a:noFill/>
          <a:ln w="76200" cmpd="dbl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2, 4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5568950" y="4497070"/>
            <a:ext cx="990600" cy="68580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3, 5</a:t>
            </a:r>
            <a:r>
              <a:rPr lang="en-US" altLang="zh-CN"/>
              <a:t> </a:t>
            </a:r>
          </a:p>
        </p:txBody>
      </p:sp>
      <p:sp>
        <p:nvSpPr>
          <p:cNvPr id="15" name="上弧形箭头 14"/>
          <p:cNvSpPr/>
          <p:nvPr/>
        </p:nvSpPr>
        <p:spPr>
          <a:xfrm>
            <a:off x="2870200" y="4038600"/>
            <a:ext cx="1219200" cy="4572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27400" y="4038600"/>
            <a:ext cx="290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</a:t>
            </a:r>
          </a:p>
        </p:txBody>
      </p:sp>
      <p:sp>
        <p:nvSpPr>
          <p:cNvPr id="17" name="下弧形箭头 16"/>
          <p:cNvSpPr/>
          <p:nvPr/>
        </p:nvSpPr>
        <p:spPr>
          <a:xfrm>
            <a:off x="2870200" y="5181600"/>
            <a:ext cx="1219200" cy="457200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27400" y="5182870"/>
            <a:ext cx="356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</a:t>
            </a:r>
          </a:p>
        </p:txBody>
      </p:sp>
      <p:sp>
        <p:nvSpPr>
          <p:cNvPr id="21" name="上弧形箭头 20"/>
          <p:cNvSpPr/>
          <p:nvPr/>
        </p:nvSpPr>
        <p:spPr>
          <a:xfrm>
            <a:off x="4572000" y="4038600"/>
            <a:ext cx="1219200" cy="4572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29200" y="4038600"/>
            <a:ext cx="290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</a:t>
            </a:r>
          </a:p>
        </p:txBody>
      </p:sp>
      <p:sp>
        <p:nvSpPr>
          <p:cNvPr id="23" name="上弧形箭头 22"/>
          <p:cNvSpPr/>
          <p:nvPr/>
        </p:nvSpPr>
        <p:spPr>
          <a:xfrm rot="10800000">
            <a:off x="4547870" y="5147945"/>
            <a:ext cx="1219200" cy="4572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05070" y="5147945"/>
            <a:ext cx="290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 dirty="0"/>
              <a:t>The Workflow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38942" y="1295456"/>
            <a:ext cx="8605058" cy="4829175"/>
            <a:chOff x="768" y="1624"/>
            <a:chExt cx="14237" cy="8540"/>
          </a:xfrm>
        </p:grpSpPr>
        <p:sp>
          <p:nvSpPr>
            <p:cNvPr id="17" name="文本框 16"/>
            <p:cNvSpPr txBox="1"/>
            <p:nvPr>
              <p:custDataLst>
                <p:tags r:id="rId1"/>
              </p:custDataLst>
            </p:nvPr>
          </p:nvSpPr>
          <p:spPr>
            <a:xfrm>
              <a:off x="768" y="1624"/>
              <a:ext cx="13080" cy="146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None/>
              </a:pPr>
              <a:r>
                <a:rPr kumimoji="0" lang="en-US" altLang="zh-CN" sz="2400" b="0" dirty="0"/>
                <a:t>Description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of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lexical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tokens</a:t>
              </a:r>
              <a:r>
                <a:rPr kumimoji="0" lang="zh-CN" altLang="en-US" sz="2400" b="0" dirty="0"/>
                <a:t> </a:t>
              </a:r>
              <a:endParaRPr kumimoji="0" lang="en-US" altLang="zh-CN" sz="2400" b="0" dirty="0"/>
            </a:p>
            <a:p>
              <a:pPr algn="ctr" eaLnBrk="1" hangingPunct="1">
                <a:spcBef>
                  <a:spcPct val="0"/>
                </a:spcBef>
                <a:buNone/>
              </a:pPr>
              <a:r>
                <a:rPr kumimoji="0" lang="en-US" altLang="zh-CN" sz="2400" b="0" dirty="0"/>
                <a:t>(in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natural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language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or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in</a:t>
              </a:r>
              <a:r>
                <a:rPr kumimoji="0" lang="zh-CN" altLang="en-US" sz="2400" b="0" dirty="0"/>
                <a:t> </a:t>
              </a:r>
              <a:r>
                <a:rPr kumimoji="0" lang="en-US" altLang="zh-CN" sz="2400" b="0" dirty="0"/>
                <a:t>mind)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2"/>
              </p:custDataLst>
            </p:nvPr>
          </p:nvSpPr>
          <p:spPr>
            <a:xfrm>
              <a:off x="768" y="4006"/>
              <a:ext cx="13080" cy="81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None/>
              </a:pPr>
              <a:r>
                <a:rPr lang="en-US" altLang="zh-CN" sz="2400" b="0" dirty="0"/>
                <a:t>Regular</a:t>
              </a:r>
              <a:r>
                <a:rPr lang="zh-CN" altLang="en-US" sz="2400" b="0" dirty="0"/>
                <a:t> </a:t>
              </a:r>
              <a:r>
                <a:rPr lang="en-US" altLang="zh-CN" sz="2400" b="0" dirty="0"/>
                <a:t>Expression</a:t>
              </a:r>
              <a:endParaRPr kumimoji="0" lang="en-US" altLang="zh-CN" sz="2400" b="0" dirty="0"/>
            </a:p>
          </p:txBody>
        </p:sp>
        <p:sp>
          <p:nvSpPr>
            <p:cNvPr id="19" name="文本框 18"/>
            <p:cNvSpPr txBox="1"/>
            <p:nvPr>
              <p:custDataLst>
                <p:tags r:id="rId3"/>
              </p:custDataLst>
            </p:nvPr>
          </p:nvSpPr>
          <p:spPr>
            <a:xfrm>
              <a:off x="768" y="7466"/>
              <a:ext cx="13080" cy="81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None/>
              </a:pPr>
              <a:r>
                <a:rPr lang="en-US" altLang="zh-CN" sz="2400" b="0" dirty="0"/>
                <a:t>Deterministic</a:t>
              </a:r>
              <a:r>
                <a:rPr lang="zh-CN" altLang="en-US" sz="2400" b="0" dirty="0"/>
                <a:t> </a:t>
              </a:r>
              <a:r>
                <a:rPr lang="en-US" altLang="zh-CN" sz="2400" b="0" dirty="0"/>
                <a:t>Finite</a:t>
              </a:r>
              <a:r>
                <a:rPr lang="zh-CN" altLang="en-US" sz="2400" b="0" dirty="0"/>
                <a:t> </a:t>
              </a:r>
              <a:r>
                <a:rPr lang="en-US" altLang="zh-CN" sz="2400" b="0" dirty="0"/>
                <a:t>Automata</a:t>
              </a:r>
              <a:endParaRPr kumimoji="0" lang="en-US" altLang="zh-CN" sz="2400" b="0" dirty="0"/>
            </a:p>
          </p:txBody>
        </p:sp>
        <p:sp>
          <p:nvSpPr>
            <p:cNvPr id="20" name="文本框 19"/>
            <p:cNvSpPr txBox="1"/>
            <p:nvPr>
              <p:custDataLst>
                <p:tags r:id="rId4"/>
              </p:custDataLst>
            </p:nvPr>
          </p:nvSpPr>
          <p:spPr>
            <a:xfrm>
              <a:off x="768" y="9350"/>
              <a:ext cx="13080" cy="81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None/>
              </a:pPr>
              <a:r>
                <a:rPr lang="en-US" altLang="zh-CN" sz="2400" b="0" dirty="0" err="1"/>
                <a:t>Lexer</a:t>
              </a:r>
              <a:endParaRPr kumimoji="0" lang="en-US" altLang="zh-CN" sz="2400" b="0" dirty="0"/>
            </a:p>
          </p:txBody>
        </p:sp>
        <p:sp>
          <p:nvSpPr>
            <p:cNvPr id="21" name="下箭头 20"/>
            <p:cNvSpPr/>
            <p:nvPr>
              <p:custDataLst>
                <p:tags r:id="rId5"/>
              </p:custDataLst>
            </p:nvPr>
          </p:nvSpPr>
          <p:spPr>
            <a:xfrm>
              <a:off x="6944" y="3201"/>
              <a:ext cx="492" cy="73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下箭头 21"/>
            <p:cNvSpPr/>
            <p:nvPr>
              <p:custDataLst>
                <p:tags r:id="rId6"/>
              </p:custDataLst>
            </p:nvPr>
          </p:nvSpPr>
          <p:spPr>
            <a:xfrm>
              <a:off x="6945" y="4929"/>
              <a:ext cx="492" cy="7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下箭头 22"/>
            <p:cNvSpPr/>
            <p:nvPr>
              <p:custDataLst>
                <p:tags r:id="rId7"/>
              </p:custDataLst>
            </p:nvPr>
          </p:nvSpPr>
          <p:spPr>
            <a:xfrm>
              <a:off x="6975" y="8400"/>
              <a:ext cx="432" cy="83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文本框 23"/>
            <p:cNvSpPr txBox="1"/>
            <p:nvPr>
              <p:custDataLst>
                <p:tags r:id="rId8"/>
              </p:custDataLst>
            </p:nvPr>
          </p:nvSpPr>
          <p:spPr>
            <a:xfrm>
              <a:off x="7406" y="8482"/>
              <a:ext cx="5520" cy="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Table-Driven</a:t>
              </a:r>
              <a:r>
                <a:rPr kumimoji="1" lang="zh-CN" altLang="en-US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zh-CN" b="1" dirty="0">
                  <a:solidFill>
                    <a:srgbClr val="C00000"/>
                  </a:solidFill>
                </a:rPr>
                <a:t>Implementation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9"/>
              </p:custDataLst>
            </p:nvPr>
          </p:nvSpPr>
          <p:spPr>
            <a:xfrm>
              <a:off x="7406" y="3192"/>
              <a:ext cx="2011" cy="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Manually</a:t>
              </a:r>
            </a:p>
          </p:txBody>
        </p:sp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768" y="5759"/>
              <a:ext cx="13080" cy="81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0"/>
                </a:spcBef>
                <a:buNone/>
              </a:pPr>
              <a:r>
                <a:rPr lang="en-US" altLang="zh-CN" sz="2400" b="0" dirty="0"/>
                <a:t>Non-Deterministic</a:t>
              </a:r>
              <a:r>
                <a:rPr lang="zh-CN" altLang="en-US" sz="2400" b="0" dirty="0"/>
                <a:t> </a:t>
              </a:r>
              <a:r>
                <a:rPr lang="en-US" altLang="zh-CN" sz="2400" b="0" dirty="0"/>
                <a:t>Finite</a:t>
              </a:r>
              <a:r>
                <a:rPr lang="zh-CN" altLang="en-US" sz="2400" b="0" dirty="0"/>
                <a:t> </a:t>
              </a:r>
              <a:r>
                <a:rPr lang="en-US" altLang="zh-CN" sz="2400" b="0" dirty="0"/>
                <a:t>Automata</a:t>
              </a:r>
              <a:endParaRPr kumimoji="0" lang="en-US" altLang="zh-CN" sz="2400" b="0" dirty="0"/>
            </a:p>
          </p:txBody>
        </p:sp>
        <p:sp>
          <p:nvSpPr>
            <p:cNvPr id="27" name="下箭头 26"/>
            <p:cNvSpPr/>
            <p:nvPr>
              <p:custDataLst>
                <p:tags r:id="rId11"/>
              </p:custDataLst>
            </p:nvPr>
          </p:nvSpPr>
          <p:spPr>
            <a:xfrm>
              <a:off x="6945" y="6665"/>
              <a:ext cx="492" cy="7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7406" y="6704"/>
              <a:ext cx="7599" cy="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</a:rPr>
                <a:t>Subset Construction, DFA Minimization</a:t>
              </a:r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7406" y="4981"/>
              <a:ext cx="5220" cy="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sym typeface="+mn-ea"/>
                </a:rPr>
                <a:t>Thompson's Construction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Quiz One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066800" y="1295400"/>
            <a:ext cx="7134860" cy="1769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3200" b="1" dirty="0"/>
              <a:t>Construct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the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NFA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for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the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following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regular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expression,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then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convert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it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to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a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minimum-state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DFA:</a:t>
            </a:r>
          </a:p>
          <a:p>
            <a:pPr marL="0" indent="0">
              <a:buNone/>
            </a:pPr>
            <a:endParaRPr kumimoji="1" lang="en-US" altLang="zh-CN" sz="3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437516" y="3352635"/>
            <a:ext cx="380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/>
              <a:t>(ab)</a:t>
            </a:r>
            <a:r>
              <a:rPr kumimoji="1" lang="zh-CN" altLang="en-US" sz="3600" b="1" dirty="0"/>
              <a:t>*</a:t>
            </a:r>
            <a:r>
              <a:rPr kumimoji="1" lang="en-US" altLang="zh-CN" sz="3600" b="1" dirty="0" err="1"/>
              <a:t>ba</a:t>
            </a:r>
            <a:r>
              <a:rPr kumimoji="1" lang="en-US" altLang="zh-CN" sz="3600" b="1" dirty="0"/>
              <a:t>(</a:t>
            </a:r>
            <a:r>
              <a:rPr kumimoji="1" lang="en-US" altLang="zh-CN" sz="3600" b="1" dirty="0" err="1"/>
              <a:t>a|b</a:t>
            </a:r>
            <a:r>
              <a:rPr kumimoji="1" lang="en-US" altLang="zh-CN" sz="3600" b="1" dirty="0"/>
              <a:t>)</a:t>
            </a:r>
            <a:r>
              <a:rPr kumimoji="1" lang="zh-CN" altLang="en-US" sz="3600" b="1" dirty="0"/>
              <a:t>*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819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895283"/>
            <a:ext cx="7772400" cy="676910"/>
          </a:xfrm>
        </p:spPr>
        <p:txBody>
          <a:bodyPr anchor="ctr"/>
          <a:lstStyle/>
          <a:p>
            <a:pPr eaLnBrk="1" hangingPunct="1"/>
            <a:r>
              <a:rPr kumimoji="0" lang="en-US" altLang="zh-CN" sz="4400" b="0"/>
              <a:t>2.</a:t>
            </a:r>
            <a:r>
              <a:rPr kumimoji="0" lang="en-US" altLang="zh-CN">
                <a:sym typeface="+mn-ea"/>
              </a:rPr>
              <a:t>5 Lex: A Lexical Analyzer Generator</a:t>
            </a:r>
            <a:r>
              <a:rPr kumimoji="0" lang="en-US" altLang="zh-CN" sz="4400" b="0"/>
              <a:t>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Lex: A Lexical Analyzer Generator</a:t>
            </a:r>
          </a:p>
        </p:txBody>
      </p:sp>
      <p:sp>
        <p:nvSpPr>
          <p:cNvPr id="68611" name="文本框 1433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905635"/>
            <a:ext cx="81534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49580" indent="262255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 dirty="0">
                <a:solidFill>
                  <a:srgbClr val="CC3300"/>
                </a:solidFill>
              </a:rPr>
              <a:t>DFA construction:</a:t>
            </a:r>
            <a:r>
              <a:rPr kumimoji="0" lang="en-US" altLang="zh-CN" sz="2400" b="1" dirty="0"/>
              <a:t> </a:t>
            </a: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1" dirty="0"/>
              <a:t>A mechanical task easily performed by computer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 b="1" i="1" dirty="0">
                <a:solidFill>
                  <a:srgbClr val="CC3300"/>
                </a:solidFill>
              </a:rPr>
              <a:t>lexical-analyzer generator</a:t>
            </a:r>
            <a:r>
              <a:rPr kumimoji="0" lang="en-US" altLang="zh-CN" sz="2400" b="1" dirty="0">
                <a:solidFill>
                  <a:srgbClr val="CC3300"/>
                </a:solidFill>
              </a:rPr>
              <a:t> :</a:t>
            </a:r>
            <a:r>
              <a:rPr kumimoji="0" lang="en-US" altLang="zh-CN" sz="2000" b="1" dirty="0"/>
              <a:t> </a:t>
            </a: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1" dirty="0"/>
              <a:t>An automatic generator to translate regular expressions into a DFA</a:t>
            </a:r>
            <a:r>
              <a:rPr kumimoji="0" lang="en-US" altLang="zh-CN" sz="2000" dirty="0"/>
              <a:t> </a:t>
            </a:r>
          </a:p>
        </p:txBody>
      </p:sp>
      <p:sp>
        <p:nvSpPr>
          <p:cNvPr id="68612" name="矩形 1434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4109403"/>
            <a:ext cx="80772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1200" indent="-2540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Lex:</a:t>
            </a: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000" b="1"/>
              <a:t>A lexical analyzer generator that produces a C program from a lexical specification.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000" b="1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Lex: A Lexical Analyzer Generator</a:t>
            </a:r>
          </a:p>
        </p:txBody>
      </p:sp>
      <p:sp>
        <p:nvSpPr>
          <p:cNvPr id="69635" name="矩形 7987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251268"/>
            <a:ext cx="80772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indent="2540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For each token type in the programming language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  </a:t>
            </a:r>
            <a:r>
              <a:rPr kumimoji="0" lang="en-US" altLang="zh-CN" sz="2000" b="1"/>
              <a:t>The specification contains a regular expression and an action.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000" b="1"/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The action: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  </a:t>
            </a:r>
            <a:r>
              <a:rPr kumimoji="0" lang="en-US" altLang="zh-CN" sz="2000" b="1"/>
              <a:t>Communicates the token type to the next phase of the compiler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000" b="1"/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The output of Lex is a program in C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  </a:t>
            </a:r>
            <a:r>
              <a:rPr kumimoji="0" lang="en-US" altLang="zh-CN" sz="2000" b="1"/>
              <a:t>– a lexical analyzer that interprets a DFA using the algorithm    described in Section 2.3 and executes the action fragments on each match. 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2000" b="1"/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The action fragments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  </a:t>
            </a:r>
            <a:r>
              <a:rPr kumimoji="0" lang="en-US" altLang="zh-CN" sz="2000" b="1"/>
              <a:t>just C statements that return token values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Lex: A Lexical Analyzer Generator</a:t>
            </a:r>
          </a:p>
        </p:txBody>
      </p:sp>
      <p:sp>
        <p:nvSpPr>
          <p:cNvPr id="72706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143000"/>
            <a:ext cx="7583805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zh-CN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Lex is a program:</a:t>
            </a:r>
          </a:p>
          <a:p>
            <a:pPr lvl="1">
              <a:lnSpc>
                <a:spcPct val="96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Input : a text file containing regular expressions, together with the actions to be taken when each expression is matched</a:t>
            </a:r>
          </a:p>
          <a:p>
            <a:pPr lvl="1">
              <a:lnSpc>
                <a:spcPct val="96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kumimoji="0" lang="en-US" altLang="zh-CN" sz="2400" b="0" dirty="0"/>
          </a:p>
          <a:p>
            <a:pPr lvl="1" algn="just">
              <a:lnSpc>
                <a:spcPct val="96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en-US" altLang="zh-CN" sz="2400" b="0" dirty="0"/>
              <a:t>Output : Contains C source code defining a procedure </a:t>
            </a:r>
            <a:r>
              <a:rPr kumimoji="0" lang="en-US" altLang="zh-CN" sz="2400" b="0" i="1" dirty="0" err="1">
                <a:solidFill>
                  <a:srgbClr val="0000FF"/>
                </a:solidFill>
              </a:rPr>
              <a:t>yylex</a:t>
            </a:r>
            <a:r>
              <a:rPr kumimoji="0" lang="en-US" altLang="zh-CN" sz="2400" b="0" dirty="0"/>
              <a:t> that is </a:t>
            </a:r>
            <a:r>
              <a:rPr kumimoji="0" lang="en-US" altLang="zh-CN" sz="2400" b="0" i="1" dirty="0"/>
              <a:t>a </a:t>
            </a:r>
            <a:r>
              <a:rPr kumimoji="0" lang="en-US" altLang="zh-CN" sz="2400" b="0" dirty="0"/>
              <a:t>table-driven implementation of a DFA corresponding to the regular expressions of the input file, and that operates like a </a:t>
            </a:r>
            <a:r>
              <a:rPr kumimoji="0" lang="en-US" altLang="zh-CN" sz="2400" b="0" i="1" dirty="0" err="1">
                <a:solidFill>
                  <a:srgbClr val="FF0000"/>
                </a:solidFill>
              </a:rPr>
              <a:t>getToken</a:t>
            </a:r>
            <a:r>
              <a:rPr kumimoji="0" lang="en-US" altLang="zh-CN" sz="2400" b="0" dirty="0"/>
              <a:t> procedure.</a:t>
            </a:r>
          </a:p>
          <a:p>
            <a:pPr lvl="1">
              <a:lnSpc>
                <a:spcPct val="96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kumimoji="0"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Lex: A Lexical Analyzer Generator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1066800" y="1447800"/>
            <a:ext cx="6879590" cy="430530"/>
          </a:xfrm>
        </p:spPr>
        <p:txBody>
          <a:bodyPr wrap="square"/>
          <a:lstStyle/>
          <a:p>
            <a:pPr algn="ctr">
              <a:buSzPct val="150000"/>
            </a:pPr>
            <a:r>
              <a:rPr kumimoji="0" lang="en-US" altLang="zh-CN" sz="2800" dirty="0"/>
              <a:t>The format of a Lex input file</a:t>
            </a:r>
            <a:r>
              <a:rPr kumimoji="0" lang="en-US" altLang="zh-CN" sz="2800" b="1" dirty="0"/>
              <a:t> (</a:t>
            </a:r>
            <a:r>
              <a:rPr kumimoji="0" lang="en-US" altLang="zh-CN" sz="2800" b="1" i="1" dirty="0" err="1">
                <a:solidFill>
                  <a:srgbClr val="0000FF"/>
                </a:solidFill>
              </a:rPr>
              <a:t>a.l</a:t>
            </a:r>
            <a:r>
              <a:rPr kumimoji="0" lang="en-US" altLang="zh-CN" sz="2800" b="1" dirty="0"/>
              <a:t>)</a:t>
            </a:r>
            <a:endParaRPr kumimoji="0" lang="en-US" altLang="zh-CN" sz="2800" dirty="0"/>
          </a:p>
        </p:txBody>
      </p:sp>
      <p:sp>
        <p:nvSpPr>
          <p:cNvPr id="74755" name="AutoShape 4" descr="再生纸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86635" y="2514600"/>
            <a:ext cx="4451985" cy="3048000"/>
          </a:xfrm>
          <a:prstGeom prst="foldedCorner">
            <a:avLst>
              <a:gd name="adj" fmla="val 12500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00"/>
              <a:t>     </a:t>
            </a:r>
          </a:p>
          <a:p>
            <a:pPr>
              <a:spcBef>
                <a:spcPct val="20000"/>
              </a:spcBef>
            </a:pPr>
            <a:r>
              <a:rPr lang="zh-CN" altLang="zh-CN" sz="2800"/>
              <a:t> </a:t>
            </a:r>
            <a:r>
              <a:rPr lang="zh-CN" altLang="en-US" sz="2800"/>
              <a:t>   </a:t>
            </a:r>
            <a:r>
              <a:rPr lang="en-US" altLang="zh-CN" sz="2800"/>
              <a:t>{ definitions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/>
              <a:t>      %%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/>
              <a:t>      { rules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/>
              <a:t>      %%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/>
              <a:t>      { auxiliary routines} 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Lex: A Lexical Analyzer Generator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5930" y="991235"/>
            <a:ext cx="6698615" cy="400050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800" dirty="0"/>
              <a:t>1.</a:t>
            </a:r>
            <a:r>
              <a:rPr kumimoji="0" lang="en-US" altLang="zh-CN" sz="2800" dirty="0"/>
              <a:t>The first section :</a:t>
            </a:r>
            <a:r>
              <a:rPr kumimoji="0" lang="zh-CN" altLang="en-US" sz="2800" dirty="0"/>
              <a:t> </a:t>
            </a:r>
            <a:r>
              <a:rPr kumimoji="0" lang="en-US" altLang="zh-CN" sz="2800" b="1" i="1" dirty="0"/>
              <a:t>definitions</a:t>
            </a:r>
            <a:endParaRPr kumimoji="0"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836930" y="1697355"/>
            <a:ext cx="75533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1) Any C code that must be inserted external to any function should appear in this section between the delimiters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%{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 </a:t>
            </a:r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and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%}</a:t>
            </a:r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, </a:t>
            </a:r>
            <a:r>
              <a:rPr lang="en-US" altLang="zh-CN" sz="2400" b="1" i="1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(Note the order of these characters!)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5930" y="5297170"/>
            <a:ext cx="6656070" cy="474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zh-CN" sz="28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3</a:t>
            </a:r>
            <a:r>
              <a:rPr lang="en-US" altLang="zh-CN" sz="28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. The third section: </a:t>
            </a:r>
            <a:r>
              <a:rPr lang="en-US" altLang="zh-CN" sz="2800" b="1" i="1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auxiliary routines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6930" y="2896235"/>
            <a:ext cx="755332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0000"/>
              </a:lnSpc>
              <a:buFontTx/>
            </a:pPr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2) Type names of tokens must be defined in this section.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5930" y="3505835"/>
            <a:ext cx="432498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28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2</a:t>
            </a:r>
            <a:r>
              <a:rPr lang="en-US" altLang="en-US" sz="28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. </a:t>
            </a:r>
            <a:r>
              <a:rPr lang="en-US" altLang="zh-CN" sz="28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The second section : </a:t>
            </a:r>
            <a:r>
              <a:rPr lang="en-US" altLang="zh-CN" sz="2800" b="1" i="1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rules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6930" y="3886835"/>
            <a:ext cx="79559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</a:rPr>
              <a:t>These consist of a sequence of regular expressions followed by the C code that is to be executed when the corresponding regular expression is matched</a:t>
            </a:r>
            <a:r>
              <a:rPr lang="zh-CN" altLang="en-US"/>
              <a:t>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36930" y="5773420"/>
            <a:ext cx="748919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Routines are called in the second section and not defined elsewhere. 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6930" y="1372235"/>
            <a:ext cx="7306310" cy="458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1" hangingPunct="1">
              <a:lnSpc>
                <a:spcPct val="90000"/>
              </a:lnSpc>
              <a:buFontTx/>
            </a:pPr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The definition section occurs before the first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%%</a:t>
            </a:r>
            <a:r>
              <a:rPr lang="en-US" altLang="zh-CN" sz="2400" dirty="0">
                <a:latin typeface="Times New Roman" panose="02020603050405020304"/>
                <a:ea typeface="+mn-ea"/>
                <a:cs typeface="Times New Roman" panose="02020603050405020304"/>
                <a:sym typeface="+mn-ea"/>
              </a:rPr>
              <a:t>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6237605" cy="430530"/>
          </a:xfrm>
        </p:spPr>
        <p:txBody>
          <a:bodyPr wrap="square"/>
          <a:lstStyle/>
          <a:p>
            <a:r>
              <a:rPr lang="en-US" altLang="zh-CN"/>
              <a:t>Lex: A Lexical Analyzer Generator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533400" y="990600"/>
            <a:ext cx="8108315" cy="51015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%{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/* a Lex program that changes all numbers from decimal to hexadecimal notation, printing a summary statistic to </a:t>
            </a:r>
            <a:r>
              <a:rPr lang="en-GB" altLang="zh-CN" sz="1800" b="1" dirty="0" err="1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stdeer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*/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#include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&lt;stdlib.h&gt;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#include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&lt;stdio.h&gt;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count = 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%}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digit [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-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9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]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number {digit}+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%%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{ number } {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n =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atoi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8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yytext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 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(“%x”, n);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(n &gt; 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9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count ++; }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%%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main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)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{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yylex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 );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fprintf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8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stdeer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“number of replacements = %d”, count);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38150"/>
            <a:ext cx="7569200" cy="59817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35843"/>
          <p:cNvSpPr>
            <a:spLocks noGrp="1" noChangeArrowheads="1"/>
          </p:cNvSpPr>
          <p:nvPr>
            <p:ph type="ctrTitle"/>
          </p:nvPr>
        </p:nvSpPr>
        <p:spPr>
          <a:xfrm>
            <a:off x="685800" y="2438400"/>
            <a:ext cx="7772400" cy="1470025"/>
          </a:xfrm>
        </p:spPr>
        <p:txBody>
          <a:bodyPr anchor="ctr"/>
          <a:lstStyle/>
          <a:p>
            <a:pPr eaLnBrk="1" hangingPunct="1"/>
            <a:r>
              <a:rPr kumimoji="0" lang="en-US" altLang="zh-CN" sz="4400"/>
              <a:t>The end of Chapter 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819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，</a:t>
            </a:r>
            <a:r>
              <a:rPr lang="en-US" altLang="zh-CN" dirty="0"/>
              <a:t> 2.2</a:t>
            </a:r>
            <a:r>
              <a:rPr lang="zh-CN" altLang="en-US" dirty="0"/>
              <a:t>，</a:t>
            </a:r>
            <a:r>
              <a:rPr lang="en-US" altLang="zh-CN" dirty="0"/>
              <a:t> 2.5(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 ，</a:t>
            </a:r>
            <a:r>
              <a:rPr lang="en-US" altLang="zh-CN" dirty="0"/>
              <a:t> 2.6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U3NDkzZjZkYTQ0ZGI2MDM1OWJmMDZmYTJmNWEzZmUifQ=="/>
  <p:tag name="RESOURCE_RECORD_KEY" val="{&quot;29&quot;:[2073616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422*31"/>
  <p:tag name="TABLE_ENDDRAG_RECT" val="129*227*422*3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1*295"/>
  <p:tag name="TABLE_ENDDRAG_RECT" val="240*216*461*29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77*238"/>
  <p:tag name="TABLE_ENDDRAG_RECT" val="81*187*577*23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3*144"/>
  <p:tag name="TABLE_ENDDRAG_RECT" val="384*69*133*14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9*144"/>
  <p:tag name="TABLE_ENDDRAG_RECT" val="535*69*139*144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69*288"/>
  <p:tag name="TABLE_ENDDRAG_RECT" val="402*227*269*288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3*87"/>
  <p:tag name="TABLE_ENDDRAG_RECT" val="300*350*323*87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5446</Words>
  <Application>Microsoft Macintosh PowerPoint</Application>
  <PresentationFormat>全屏显示(4:3)</PresentationFormat>
  <Paragraphs>837</Paragraphs>
  <Slides>83</Slides>
  <Notes>75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83</vt:i4>
      </vt:variant>
    </vt:vector>
  </HeadingPairs>
  <TitlesOfParts>
    <vt:vector size="96" baseType="lpstr">
      <vt:lpstr>等线</vt:lpstr>
      <vt:lpstr>宋体</vt:lpstr>
      <vt:lpstr>微软雅黑</vt:lpstr>
      <vt:lpstr>Arial Unicode MS</vt:lpstr>
      <vt:lpstr>Arial</vt:lpstr>
      <vt:lpstr>Calibri</vt:lpstr>
      <vt:lpstr>Cambria Math</vt:lpstr>
      <vt:lpstr>Courier New</vt:lpstr>
      <vt:lpstr>Times New Roman</vt:lpstr>
      <vt:lpstr>Verdana</vt:lpstr>
      <vt:lpstr>Wingdings</vt:lpstr>
      <vt:lpstr>默认设计模板</vt:lpstr>
      <vt:lpstr>Office Theme</vt:lpstr>
      <vt:lpstr>PowerPoint 演示文稿</vt:lpstr>
      <vt:lpstr>课程内容</vt:lpstr>
      <vt:lpstr>Overview</vt:lpstr>
      <vt:lpstr>PowerPoint 演示文稿</vt:lpstr>
      <vt:lpstr>2.1 Lexical Token </vt:lpstr>
      <vt:lpstr>Lexical Token</vt:lpstr>
      <vt:lpstr>Lexical Token</vt:lpstr>
      <vt:lpstr>Lexical Token</vt:lpstr>
      <vt:lpstr>Lexical Token</vt:lpstr>
      <vt:lpstr>Lexical Token</vt:lpstr>
      <vt:lpstr>Lexical Token</vt:lpstr>
      <vt:lpstr>The Workflow</vt:lpstr>
      <vt:lpstr>The Workflow</vt:lpstr>
      <vt:lpstr>2.2 Regular Expression </vt:lpstr>
      <vt:lpstr>Language</vt:lpstr>
      <vt:lpstr>Regular Expression</vt:lpstr>
      <vt:lpstr>Regular Expression</vt:lpstr>
      <vt:lpstr>Regular Expression</vt:lpstr>
      <vt:lpstr>Regular Expression</vt:lpstr>
      <vt:lpstr>Regular Expression</vt:lpstr>
      <vt:lpstr>Regular Expression</vt:lpstr>
      <vt:lpstr>Regular Expression</vt:lpstr>
      <vt:lpstr>Regular Expression</vt:lpstr>
      <vt:lpstr>Regular Expression</vt:lpstr>
      <vt:lpstr>Regular Expression</vt:lpstr>
      <vt:lpstr>The Workflow</vt:lpstr>
      <vt:lpstr>2.3 Finite Automata 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Finite Automata</vt:lpstr>
      <vt:lpstr>The Workflow</vt:lpstr>
      <vt:lpstr>The Workflow</vt:lpstr>
      <vt:lpstr>2.4 Nondeterministic Finite Automata 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The Workflow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Nondeterministic Finite Automata</vt:lpstr>
      <vt:lpstr>The Workflow</vt:lpstr>
      <vt:lpstr>Quiz One</vt:lpstr>
      <vt:lpstr>2.5 Lex: A Lexical Analyzer Generator </vt:lpstr>
      <vt:lpstr>Lex: A Lexical Analyzer Generator</vt:lpstr>
      <vt:lpstr>Lex: A Lexical Analyzer Generator</vt:lpstr>
      <vt:lpstr>Lex: A Lexical Analyzer Generator</vt:lpstr>
      <vt:lpstr>Lex: A Lexical Analyzer Generator</vt:lpstr>
      <vt:lpstr>Lex: A Lexical Analyzer Generator</vt:lpstr>
      <vt:lpstr>Lex: A Lexical Analyzer Generator</vt:lpstr>
      <vt:lpstr>PowerPoint 演示文稿</vt:lpstr>
      <vt:lpstr>The end of Chapter 2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陈明帅</cp:lastModifiedBy>
  <cp:revision>535</cp:revision>
  <dcterms:created xsi:type="dcterms:W3CDTF">2016-09-15T00:52:00Z</dcterms:created>
  <dcterms:modified xsi:type="dcterms:W3CDTF">2026-03-01T15:18:58Z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2052-12.1.0.16399</vt:lpwstr>
  </property>
  <property fmtid="{D5CDD505-2E9C-101B-9397-08002B2CF9AE}" pid="4" name="ICV">
    <vt:lpwstr>BAF243DCD5244968A3CA84C9D5B5B3DC_13</vt:lpwstr>
  </property>
</Properties>
</file>